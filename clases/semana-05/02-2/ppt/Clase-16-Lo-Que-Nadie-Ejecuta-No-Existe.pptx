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3.png"/><Relationship Id="rId4" Type="http://schemas.openxmlformats.org/officeDocument/2006/relationships/image" Target="../media/image-2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image" Target="../media/image-30-3.png"/><Relationship Id="rId4" Type="http://schemas.openxmlformats.org/officeDocument/2006/relationships/image" Target="../media/image-3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image" Target="../media/image-32-3.png"/><Relationship Id="rId4" Type="http://schemas.openxmlformats.org/officeDocument/2006/relationships/image" Target="../media/image-3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image" Target="../media/image-34-3.png"/><Relationship Id="rId4" Type="http://schemas.openxmlformats.org/officeDocument/2006/relationships/image" Target="../media/image-3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image" Target="../media/image-40-3.png"/><Relationship Id="rId4" Type="http://schemas.openxmlformats.org/officeDocument/2006/relationships/image" Target="../media/image-40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sv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svg"/><Relationship Id="rId3" Type="http://schemas.openxmlformats.org/officeDocument/2006/relationships/image" Target="../media/image-42-3.png"/><Relationship Id="rId4" Type="http://schemas.openxmlformats.org/officeDocument/2006/relationships/image" Target="../media/image-4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svg"/><Relationship Id="rId3" Type="http://schemas.openxmlformats.org/officeDocument/2006/relationships/image" Target="../media/image-45-3.png"/><Relationship Id="rId4" Type="http://schemas.openxmlformats.org/officeDocument/2006/relationships/image" Target="../media/image-4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svg"/><Relationship Id="rId3" Type="http://schemas.openxmlformats.org/officeDocument/2006/relationships/image" Target="../media/image-48-3.png"/><Relationship Id="rId4" Type="http://schemas.openxmlformats.org/officeDocument/2006/relationships/image" Target="../media/image-48-4.svg"/><Relationship Id="rId5" Type="http://schemas.openxmlformats.org/officeDocument/2006/relationships/image" Target="../media/image-48-5.png"/><Relationship Id="rId6" Type="http://schemas.openxmlformats.org/officeDocument/2006/relationships/image" Target="../media/image-4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svg"/><Relationship Id="rId3" Type="http://schemas.openxmlformats.org/officeDocument/2006/relationships/image" Target="../media/image-54-3.png"/><Relationship Id="rId4" Type="http://schemas.openxmlformats.org/officeDocument/2006/relationships/image" Target="../media/image-5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svg"/><Relationship Id="rId3" Type="http://schemas.openxmlformats.org/officeDocument/2006/relationships/image" Target="../media/image-55-3.png"/><Relationship Id="rId4" Type="http://schemas.openxmlformats.org/officeDocument/2006/relationships/image" Target="../media/image-55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svg"/><Relationship Id="rId3" Type="http://schemas.openxmlformats.org/officeDocument/2006/relationships/image" Target="../media/image-5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svg"/><Relationship Id="rId3" Type="http://schemas.openxmlformats.org/officeDocument/2006/relationships/image" Target="../media/image-60-3.png"/><Relationship Id="rId4" Type="http://schemas.openxmlformats.org/officeDocument/2006/relationships/image" Target="../media/image-60-4.svg"/><Relationship Id="rId5" Type="http://schemas.openxmlformats.org/officeDocument/2006/relationships/image" Target="../media/image-6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svg"/><Relationship Id="rId3" Type="http://schemas.openxmlformats.org/officeDocument/2006/relationships/image" Target="../media/image-61-3.png"/><Relationship Id="rId4" Type="http://schemas.openxmlformats.org/officeDocument/2006/relationships/image" Target="../media/image-61-4.svg"/><Relationship Id="rId5" Type="http://schemas.openxmlformats.org/officeDocument/2006/relationships/image" Target="../media/image-61-5.png"/><Relationship Id="rId6" Type="http://schemas.openxmlformats.org/officeDocument/2006/relationships/image" Target="../media/image-6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sv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29844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CLASE 16 · UNIDAD 2</a:t>
            </a:r>
            <a:endParaRPr lang="en-US" sz="96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682496"/>
            <a:ext cx="1042416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nadie ejecuta no existe</a:t>
            </a:r>
            <a:endParaRPr lang="en-US" sz="4400" dirty="0"/>
          </a:p>
        </p:txBody>
      </p:sp>
      <p:sp>
        <p:nvSpPr>
          <p:cNvPr id="10" name="Shape 7"/>
          <p:cNvSpPr/>
          <p:nvPr/>
        </p:nvSpPr>
        <p:spPr>
          <a:xfrm>
            <a:off x="658368" y="2852928"/>
            <a:ext cx="3840480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 txBox="1"/>
          <p:nvPr/>
        </p:nvSpPr>
        <p:spPr>
          <a:xfrm>
            <a:off x="658368" y="3108960"/>
            <a:ext cx="10424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de regresión, integración continua con GitHub Actions y la prueba inestable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58368" y="3749040"/>
            <a:ext cx="5120640" cy="1133856"/>
          </a:xfrm>
          <a:prstGeom prst="rect">
            <a:avLst/>
          </a:prstGeom>
          <a:solidFill>
            <a:srgbClr val="1D3A5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50392" y="3867912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" y="38770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207008" y="38587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Controles estáticos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850392" y="4197096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9536" y="42062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207008" y="418795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de Python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850392" y="4526280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59536" y="45354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207008" y="451713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de extremo a extremo</a:t>
            </a:r>
            <a:endParaRPr lang="en-US" sz="1040" dirty="0"/>
          </a:p>
        </p:txBody>
      </p:sp>
      <p:sp>
        <p:nvSpPr>
          <p:cNvPr id="22" name="Text 19"/>
          <p:cNvSpPr txBox="1"/>
          <p:nvPr/>
        </p:nvSpPr>
        <p:spPr>
          <a:xfrm>
            <a:off x="6053328" y="3858768"/>
            <a:ext cx="54799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 la suite, ante cada cambio, sin que nadie se acuerde de ejecutarla.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58368" y="4992624"/>
            <a:ext cx="10874959" cy="0"/>
          </a:xfrm>
          <a:prstGeom prst="line">
            <a:avLst/>
          </a:prstGeom>
          <a:noFill/>
          <a:ln w="12700">
            <a:solidFill>
              <a:srgbClr val="2C4A66"/>
            </a:solidFill>
            <a:prstDash val="solid"/>
            <a:headEnd type="none"/>
            <a:tailEnd type="none"/>
          </a:ln>
        </p:spPr>
      </p:sp>
      <p:sp>
        <p:nvSpPr>
          <p:cNvPr id="24" name="Text 21"/>
          <p:cNvSpPr txBox="1"/>
          <p:nvPr/>
        </p:nvSpPr>
        <p:spPr>
          <a:xfrm>
            <a:off x="658368" y="5175504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Martes 29 de septiembre de 2026 · 11:00 – 13:15 · Laboratorio de Redes</a:t>
            </a:r>
            <a:endParaRPr lang="en-US" sz="1260" dirty="0"/>
          </a:p>
        </p:txBody>
      </p:sp>
      <p:sp>
        <p:nvSpPr>
          <p:cNvPr id="25" name="Text 22"/>
          <p:cNvSpPr txBox="1"/>
          <p:nvPr/>
        </p:nvSpPr>
        <p:spPr>
          <a:xfrm>
            <a:off x="7498080" y="51755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6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Diego Obando · AIEP Osorno</a:t>
            </a:r>
            <a:endParaRPr lang="en-US" sz="12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PARTIDA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palabras de GitHub que usa la sesión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700784"/>
            <a:ext cx="351525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00784"/>
            <a:ext cx="64008" cy="15727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1828800"/>
            <a:ext cx="311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Repositorio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249424"/>
            <a:ext cx="31129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carpeta de un proyecto con todo su historial de cambios, guardada en GitHub.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4338218" y="1700784"/>
            <a:ext cx="351525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38218" y="1700784"/>
            <a:ext cx="64008" cy="157276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94250" y="1828800"/>
            <a:ext cx="311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Commit y push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594250" y="2249424"/>
            <a:ext cx="31129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commit es un cambio registrado en el historial; hacer push es subirlo a GitHub.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8018069" y="1700784"/>
            <a:ext cx="351525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18069" y="1700784"/>
            <a:ext cx="64008" cy="157276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74101" y="1828800"/>
            <a:ext cx="311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Rama y main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274101" y="2249424"/>
            <a:ext cx="31129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rama es una línea de trabajo paralela. La principal, main, es la versión que se considera buena.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658368" y="3419856"/>
            <a:ext cx="351525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" y="3419856"/>
            <a:ext cx="64008" cy="157276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4400" y="3547872"/>
            <a:ext cx="311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Pull request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3968496"/>
            <a:ext cx="31129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solicitud de integrar una rama a main. GitHub muestra lo que cambió y el resultado de las pruebas.</a:t>
            </a:r>
            <a:endParaRPr lang="en-US" sz="1140" dirty="0"/>
          </a:p>
        </p:txBody>
      </p:sp>
      <p:sp>
        <p:nvSpPr>
          <p:cNvPr id="26" name="Shape 23"/>
          <p:cNvSpPr/>
          <p:nvPr/>
        </p:nvSpPr>
        <p:spPr>
          <a:xfrm>
            <a:off x="4338218" y="3419856"/>
            <a:ext cx="351525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38218" y="3419856"/>
            <a:ext cx="64008" cy="15727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94250" y="3547872"/>
            <a:ext cx="311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Integración continua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4594250" y="3968496"/>
            <a:ext cx="31129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 las pruebas automáticamente ante cada cambio, en un servidor.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8018069" y="3419856"/>
            <a:ext cx="3515258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018069" y="3419856"/>
            <a:ext cx="64008" cy="157276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74101" y="3547872"/>
            <a:ext cx="31129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7D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8274101" y="3968496"/>
            <a:ext cx="31129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secuencia de pasos de esa ejecución: instalar, revisar, probar. GitHub Actions la ejecuta.</a:t>
            </a:r>
            <a:endParaRPr lang="en-US" sz="1140" dirty="0"/>
          </a:p>
        </p:txBody>
      </p:sp>
      <p:sp>
        <p:nvSpPr>
          <p:cNvPr id="34" name="Shape 31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Hasta hoy, la suite corría cuando alguien se acordaba. Desde hoy, corre sola.</a:t>
            </a:r>
            <a:endParaRPr lang="en-US" sz="13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ABRIR · LO QUE PASÓ EL LUNES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corrección que rompió otra cosa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1792224"/>
            <a:ext cx="2513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92224"/>
            <a:ext cx="2513000" cy="5486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04672" y="1993392"/>
            <a:ext cx="365760" cy="365760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13816" y="2002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261872" y="2011680"/>
            <a:ext cx="178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Lunes, 08:30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59536" y="2487168"/>
            <a:ext cx="211066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doble clic en «Reservar» enviaba dos reservas.</a:t>
            </a:r>
            <a:endParaRPr lang="en-US" sz="1140" dirty="0"/>
          </a:p>
        </p:txBody>
      </p:sp>
      <p:sp>
        <p:nvSpPr>
          <p:cNvPr id="16" name="Shape 13"/>
          <p:cNvSpPr/>
          <p:nvPr/>
        </p:nvSpPr>
        <p:spPr>
          <a:xfrm>
            <a:off x="3207944" y="2743200"/>
            <a:ext cx="201168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445688" y="1792224"/>
            <a:ext cx="2513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45688" y="1792224"/>
            <a:ext cx="2513000" cy="54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591992" y="1993392"/>
            <a:ext cx="365760" cy="365760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01136" y="2002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049192" y="2011680"/>
            <a:ext cx="178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corrección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3646856" y="2487168"/>
            <a:ext cx="211066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Deshabilitar el botón al enviar y habilitarlo al final.</a:t>
            </a:r>
            <a:endParaRPr lang="en-US" sz="1140" dirty="0"/>
          </a:p>
        </p:txBody>
      </p:sp>
      <p:sp>
        <p:nvSpPr>
          <p:cNvPr id="23" name="Shape 20"/>
          <p:cNvSpPr/>
          <p:nvPr/>
        </p:nvSpPr>
        <p:spPr>
          <a:xfrm>
            <a:off x="5995264" y="2743200"/>
            <a:ext cx="201168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233008" y="1792224"/>
            <a:ext cx="25130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33008" y="1792224"/>
            <a:ext cx="2513000" cy="5486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79312" y="1993392"/>
            <a:ext cx="365760" cy="3657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88456" y="2002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836512" y="2011680"/>
            <a:ext cx="178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pruebas del doble clic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434176" y="2487168"/>
            <a:ext cx="211066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Pasan. El defecto está corregido.</a:t>
            </a:r>
            <a:endParaRPr lang="en-US" sz="1140" dirty="0"/>
          </a:p>
        </p:txBody>
      </p:sp>
      <p:sp>
        <p:nvSpPr>
          <p:cNvPr id="30" name="Shape 27"/>
          <p:cNvSpPr/>
          <p:nvPr/>
        </p:nvSpPr>
        <p:spPr>
          <a:xfrm>
            <a:off x="8782583" y="2743200"/>
            <a:ext cx="201168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9020327" y="1792224"/>
            <a:ext cx="2513000" cy="192024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020327" y="1792224"/>
            <a:ext cx="2513000" cy="5486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166631" y="1993392"/>
            <a:ext cx="365760" cy="365760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175775" y="2002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9623831" y="2011680"/>
            <a:ext cx="178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Lunes, 11:00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9221495" y="2487168"/>
            <a:ext cx="211066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red falla, el código se corta antes de habilitar el botón: queda bloqueado para siempre.</a:t>
            </a:r>
            <a:endParaRPr lang="en-US" sz="1140" dirty="0"/>
          </a:p>
        </p:txBody>
      </p:sp>
      <p:sp>
        <p:nvSpPr>
          <p:cNvPr id="37" name="Shape 34"/>
          <p:cNvSpPr/>
          <p:nvPr/>
        </p:nvSpPr>
        <p:spPr>
          <a:xfrm>
            <a:off x="658368" y="3950208"/>
            <a:ext cx="10874959" cy="142646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69264" y="41148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NADIE LO VIO</a:t>
            </a:r>
            <a:endParaRPr lang="en-US" sz="960" dirty="0"/>
          </a:p>
        </p:txBody>
      </p:sp>
      <p:sp>
        <p:nvSpPr>
          <p:cNvPr id="39" name="Text 36"/>
          <p:cNvSpPr txBox="1"/>
          <p:nvPr/>
        </p:nvSpPr>
        <p:spPr>
          <a:xfrm>
            <a:off x="969264" y="4389120"/>
            <a:ext cx="10253167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Ninguna prueba cortaba la red. Las del doble clic comprobaron lo que la corrección quería arreglar, y nadie volvió a mirar el resto.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Corregir un defecto puede crear otro, lejos del lugar donde se corrigió.</a:t>
            </a:r>
            <a:endParaRPr lang="en-US" sz="13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PARTIDA · LA FUENTE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Confirmar la corrección no basta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1719072"/>
            <a:ext cx="10874959" cy="137160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19072"/>
            <a:ext cx="54864" cy="13716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1847088"/>
            <a:ext cx="10362895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i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«La prueba de confirmación confirma que un defecto original fue corregido con éxito. […] La prueba de regresión confirma que un cambio no causó consecuencias adversas, incluso una corrección que ya pasó su prueba de confirmación. Esas consecuencias pueden afectar al mismo componente, a otros componentes del mismo sistema o incluso a otros sistemas conectados.»</a:t>
            </a:r>
            <a:endParaRPr lang="en-US" sz="118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816352"/>
            <a:ext cx="10362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ISTQB CTFL v4.0.1, sección 2.2.3 · traducción del original en inglés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3291840"/>
            <a:ext cx="5254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3291840"/>
            <a:ext cx="5254600" cy="5486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32688" y="3474720"/>
            <a:ext cx="470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CONFIRMACIÓN</a:t>
            </a:r>
            <a:endParaRPr lang="en-US" sz="960" dirty="0"/>
          </a:p>
        </p:txBody>
      </p:sp>
      <p:sp>
        <p:nvSpPr>
          <p:cNvPr id="17" name="Text 14"/>
          <p:cNvSpPr txBox="1"/>
          <p:nvPr/>
        </p:nvSpPr>
        <p:spPr>
          <a:xfrm>
            <a:off x="932688" y="3749040"/>
            <a:ext cx="470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¿Se corrigió el defecto?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932688" y="4443984"/>
            <a:ext cx="470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pruebas del doble clic: sí, ya no envía dos reservas.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6278728" y="3291840"/>
            <a:ext cx="5254600" cy="210312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78728" y="3291840"/>
            <a:ext cx="5254600" cy="5486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53048" y="3474720"/>
            <a:ext cx="470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REGRESIÓN</a:t>
            </a:r>
            <a:endParaRPr lang="en-US" sz="960" dirty="0"/>
          </a:p>
        </p:txBody>
      </p:sp>
      <p:sp>
        <p:nvSpPr>
          <p:cNvPr id="22" name="Text 19"/>
          <p:cNvSpPr txBox="1"/>
          <p:nvPr/>
        </p:nvSpPr>
        <p:spPr>
          <a:xfrm>
            <a:off x="6553048" y="3749040"/>
            <a:ext cx="470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¿El cambio rompió algo más?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6553048" y="4443984"/>
            <a:ext cx="470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Nadie lo preguntó: la red cortada dejaba el botón bloqueado.</a:t>
            </a:r>
            <a:endParaRPr lang="en-US" sz="1220" dirty="0"/>
          </a:p>
        </p:txBody>
      </p:sp>
      <p:sp>
        <p:nvSpPr>
          <p:cNvPr id="24" name="Shape 21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regresión puede aparecer en cualquier parte: se busca ejecutando todas las pruebas, siempre.</a:t>
            </a:r>
            <a:endParaRPr lang="en-US" sz="13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PARTIDA · EL PROBLEMA PRÁCTICO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Nadie ejecuta todo, cada vez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1737360"/>
            <a:ext cx="350306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37360"/>
            <a:ext cx="3503066" cy="54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1865376"/>
            <a:ext cx="30458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3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560320"/>
            <a:ext cx="304586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de Python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4344314" y="1737360"/>
            <a:ext cx="350306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44314" y="1737360"/>
            <a:ext cx="3503066" cy="54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600346" y="1865376"/>
            <a:ext cx="30458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3400" dirty="0"/>
          </a:p>
        </p:txBody>
      </p:sp>
      <p:sp>
        <p:nvSpPr>
          <p:cNvPr id="17" name="Text 14"/>
          <p:cNvSpPr txBox="1"/>
          <p:nvPr/>
        </p:nvSpPr>
        <p:spPr>
          <a:xfrm>
            <a:off x="4600346" y="2560320"/>
            <a:ext cx="304586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ejecuciones de extremo a extremo: 9 pruebas en 3 navegadores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8030261" y="1737360"/>
            <a:ext cx="3503066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30261" y="1737360"/>
            <a:ext cx="3503066" cy="54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86293" y="1865376"/>
            <a:ext cx="304586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 min</a:t>
            </a:r>
            <a:endParaRPr lang="en-US" sz="3400" dirty="0"/>
          </a:p>
        </p:txBody>
      </p:sp>
      <p:sp>
        <p:nvSpPr>
          <p:cNvPr id="21" name="Text 18"/>
          <p:cNvSpPr txBox="1"/>
          <p:nvPr/>
        </p:nvSpPr>
        <p:spPr>
          <a:xfrm>
            <a:off x="8286293" y="2560320"/>
            <a:ext cx="304586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tarda todo junto en un servidor</a:t>
            </a:r>
            <a:endParaRPr lang="en-US" sz="1140" dirty="0"/>
          </a:p>
        </p:txBody>
      </p:sp>
      <p:sp>
        <p:nvSpPr>
          <p:cNvPr id="22" name="Shape 19"/>
          <p:cNvSpPr/>
          <p:nvPr/>
        </p:nvSpPr>
        <p:spPr>
          <a:xfrm>
            <a:off x="658368" y="3346704"/>
            <a:ext cx="10874959" cy="1243584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" y="3346704"/>
            <a:ext cx="54864" cy="12435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4400" y="3474720"/>
            <a:ext cx="1036289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i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«Las suites de regresión se ejecutan muchas veces, y en general crecen con cada iteración, así que la prueba de regresión es una fuerte candidata a la automatización. […] Donde se usa integración continua, es una buena práctica incluir también pruebas de regresión automatizadas.»</a:t>
            </a:r>
            <a:endParaRPr lang="en-US" sz="1180" dirty="0"/>
          </a:p>
        </p:txBody>
      </p:sp>
      <p:sp>
        <p:nvSpPr>
          <p:cNvPr id="25" name="Text 22"/>
          <p:cNvSpPr txBox="1"/>
          <p:nvPr/>
        </p:nvSpPr>
        <p:spPr>
          <a:xfrm>
            <a:off x="914400" y="4315968"/>
            <a:ext cx="10362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ISTQB CTFL v4.0.1, sección 2.2.3 · traducción del original en inglés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" y="4718304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cifras son las del proyecto de reserva de laboratorio al empezar la sesión.</a:t>
            </a:r>
            <a:endParaRPr lang="en-US" sz="980" dirty="0"/>
          </a:p>
        </p:txBody>
      </p:sp>
      <p:sp>
        <p:nvSpPr>
          <p:cNvPr id="27" name="Shape 24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depende de que alguien se acuerde deja de ocurrir justo cuando más importa.</a:t>
            </a:r>
            <a:endParaRPr lang="en-US" sz="13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MAPA DE LA SESIÓN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135 minutos, de 11:00 a 13:15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2103120"/>
            <a:ext cx="768977" cy="310896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" y="24871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Encuadre · 10</a:t>
            </a:r>
            <a:endParaRPr lang="en-US" sz="84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18470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11:00</a:t>
            </a:r>
            <a:endParaRPr lang="en-US" sz="860" dirty="0"/>
          </a:p>
        </p:txBody>
      </p:sp>
      <p:sp>
        <p:nvSpPr>
          <p:cNvPr id="13" name="Shape 10"/>
          <p:cNvSpPr/>
          <p:nvPr/>
        </p:nvSpPr>
        <p:spPr>
          <a:xfrm>
            <a:off x="1463921" y="2103120"/>
            <a:ext cx="2380082" cy="5669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573649" y="2212848"/>
            <a:ext cx="21789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573649" y="2432304"/>
            <a:ext cx="21789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1573649" y="2834640"/>
            <a:ext cx="2160626" cy="0"/>
          </a:xfrm>
          <a:prstGeom prst="line">
            <a:avLst/>
          </a:prstGeom>
          <a:noFill/>
          <a:ln w="12700">
            <a:solidFill>
              <a:srgbClr val="D62027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1573649" y="2926080"/>
            <a:ext cx="21789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pipeline: un flujo de GitHub Actions y cómo se lee</a:t>
            </a:r>
            <a:endParaRPr lang="en-US" sz="1060" dirty="0"/>
          </a:p>
        </p:txBody>
      </p:sp>
      <p:sp>
        <p:nvSpPr>
          <p:cNvPr id="18" name="Text 15"/>
          <p:cNvSpPr txBox="1"/>
          <p:nvPr/>
        </p:nvSpPr>
        <p:spPr>
          <a:xfrm>
            <a:off x="1445633" y="18470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11:10</a:t>
            </a:r>
            <a:endParaRPr lang="en-US" sz="860" dirty="0"/>
          </a:p>
        </p:txBody>
      </p:sp>
      <p:sp>
        <p:nvSpPr>
          <p:cNvPr id="19" name="Shape 16"/>
          <p:cNvSpPr/>
          <p:nvPr/>
        </p:nvSpPr>
        <p:spPr>
          <a:xfrm>
            <a:off x="3880578" y="2103120"/>
            <a:ext cx="2380082" cy="56692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90306" y="2212848"/>
            <a:ext cx="21789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3990306" y="2432304"/>
            <a:ext cx="217891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3990306" y="2834640"/>
            <a:ext cx="2160626" cy="0"/>
          </a:xfrm>
          <a:prstGeom prst="line">
            <a:avLst/>
          </a:prstGeom>
          <a:noFill/>
          <a:ln w="12700">
            <a:solidFill>
              <a:srgbClr val="8A6A12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 txBox="1"/>
          <p:nvPr/>
        </p:nvSpPr>
        <p:spPr>
          <a:xfrm>
            <a:off x="3990306" y="2926080"/>
            <a:ext cx="217891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verde honesto: los rojos conocidos, a la vista</a:t>
            </a:r>
            <a:endParaRPr lang="en-US" sz="1060" dirty="0"/>
          </a:p>
        </p:txBody>
      </p:sp>
      <p:sp>
        <p:nvSpPr>
          <p:cNvPr id="24" name="Text 21"/>
          <p:cNvSpPr txBox="1"/>
          <p:nvPr/>
        </p:nvSpPr>
        <p:spPr>
          <a:xfrm>
            <a:off x="3862290" y="18470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11:40</a:t>
            </a:r>
            <a:endParaRPr lang="en-US" sz="860" dirty="0"/>
          </a:p>
        </p:txBody>
      </p:sp>
      <p:sp>
        <p:nvSpPr>
          <p:cNvPr id="25" name="Shape 22"/>
          <p:cNvSpPr/>
          <p:nvPr/>
        </p:nvSpPr>
        <p:spPr>
          <a:xfrm>
            <a:off x="6297236" y="2103120"/>
            <a:ext cx="768977" cy="310896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97236" y="24871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Pausa · 10</a:t>
            </a:r>
            <a:endParaRPr lang="en-US" sz="840" dirty="0"/>
          </a:p>
        </p:txBody>
      </p:sp>
      <p:sp>
        <p:nvSpPr>
          <p:cNvPr id="27" name="Text 24"/>
          <p:cNvSpPr txBox="1"/>
          <p:nvPr/>
        </p:nvSpPr>
        <p:spPr>
          <a:xfrm>
            <a:off x="6278948" y="18470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12:10</a:t>
            </a:r>
            <a:endParaRPr lang="en-US" sz="860" dirty="0"/>
          </a:p>
        </p:txBody>
      </p:sp>
      <p:sp>
        <p:nvSpPr>
          <p:cNvPr id="28" name="Shape 25"/>
          <p:cNvSpPr/>
          <p:nvPr/>
        </p:nvSpPr>
        <p:spPr>
          <a:xfrm>
            <a:off x="7102788" y="2103120"/>
            <a:ext cx="1574529" cy="5669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212516" y="2212848"/>
            <a:ext cx="13733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ESTABILIZAR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212516" y="2432304"/>
            <a:ext cx="13733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min</a:t>
            </a:r>
            <a:endParaRPr lang="en-US" sz="940" dirty="0"/>
          </a:p>
        </p:txBody>
      </p:sp>
      <p:sp>
        <p:nvSpPr>
          <p:cNvPr id="31" name="Shape 28"/>
          <p:cNvSpPr/>
          <p:nvPr/>
        </p:nvSpPr>
        <p:spPr>
          <a:xfrm>
            <a:off x="7212516" y="2834640"/>
            <a:ext cx="1355073" cy="0"/>
          </a:xfrm>
          <a:prstGeom prst="line">
            <a:avLst/>
          </a:prstGeom>
          <a:noFill/>
          <a:ln w="12700">
            <a:solidFill>
              <a:srgbClr val="102A43"/>
            </a:solidFill>
            <a:prstDash val="solid"/>
            <a:headEnd type="none"/>
            <a:tailEnd type="none"/>
          </a:ln>
        </p:spPr>
      </p:sp>
      <p:sp>
        <p:nvSpPr>
          <p:cNvPr id="32" name="Text 29"/>
          <p:cNvSpPr txBox="1"/>
          <p:nvPr/>
        </p:nvSpPr>
        <p:spPr>
          <a:xfrm>
            <a:off x="7212516" y="2926080"/>
            <a:ext cx="13733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que pasa y falla</a:t>
            </a:r>
            <a:endParaRPr lang="en-US" sz="1060" dirty="0"/>
          </a:p>
        </p:txBody>
      </p:sp>
      <p:sp>
        <p:nvSpPr>
          <p:cNvPr id="33" name="Text 30"/>
          <p:cNvSpPr txBox="1"/>
          <p:nvPr/>
        </p:nvSpPr>
        <p:spPr>
          <a:xfrm>
            <a:off x="7084500" y="18470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12:20</a:t>
            </a:r>
            <a:endParaRPr lang="en-US" sz="860" dirty="0"/>
          </a:p>
        </p:txBody>
      </p:sp>
      <p:sp>
        <p:nvSpPr>
          <p:cNvPr id="34" name="Shape 31"/>
          <p:cNvSpPr/>
          <p:nvPr/>
        </p:nvSpPr>
        <p:spPr>
          <a:xfrm>
            <a:off x="8713893" y="2103120"/>
            <a:ext cx="1574529" cy="56692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823621" y="2212848"/>
            <a:ext cx="13733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PROTEGER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8823621" y="2432304"/>
            <a:ext cx="137336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min</a:t>
            </a:r>
            <a:endParaRPr lang="en-US" sz="940" dirty="0"/>
          </a:p>
        </p:txBody>
      </p:sp>
      <p:sp>
        <p:nvSpPr>
          <p:cNvPr id="37" name="Shape 34"/>
          <p:cNvSpPr/>
          <p:nvPr/>
        </p:nvSpPr>
        <p:spPr>
          <a:xfrm>
            <a:off x="8823621" y="2834640"/>
            <a:ext cx="1355073" cy="0"/>
          </a:xfrm>
          <a:prstGeom prst="line">
            <a:avLst/>
          </a:prstGeom>
          <a:noFill/>
          <a:ln w="12700">
            <a:solidFill>
              <a:srgbClr val="2E7D4F"/>
            </a:solidFill>
            <a:prstDash val="solid"/>
            <a:headEnd type="none"/>
            <a:tailEnd type="none"/>
          </a:ln>
        </p:spPr>
      </p:sp>
      <p:sp>
        <p:nvSpPr>
          <p:cNvPr id="38" name="Text 35"/>
          <p:cNvSpPr txBox="1"/>
          <p:nvPr/>
        </p:nvSpPr>
        <p:spPr>
          <a:xfrm>
            <a:off x="8823621" y="2926080"/>
            <a:ext cx="13733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defecto a propósito, y la rama protegida</a:t>
            </a:r>
            <a:endParaRPr lang="en-US" sz="1060" dirty="0"/>
          </a:p>
        </p:txBody>
      </p:sp>
      <p:sp>
        <p:nvSpPr>
          <p:cNvPr id="39" name="Text 36"/>
          <p:cNvSpPr txBox="1"/>
          <p:nvPr/>
        </p:nvSpPr>
        <p:spPr>
          <a:xfrm>
            <a:off x="8695605" y="18470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12:40</a:t>
            </a:r>
            <a:endParaRPr lang="en-US" sz="860" dirty="0"/>
          </a:p>
        </p:txBody>
      </p:sp>
      <p:sp>
        <p:nvSpPr>
          <p:cNvPr id="40" name="Shape 37"/>
          <p:cNvSpPr/>
          <p:nvPr/>
        </p:nvSpPr>
        <p:spPr>
          <a:xfrm>
            <a:off x="10324998" y="2103120"/>
            <a:ext cx="1171753" cy="310896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0324998" y="2487168"/>
            <a:ext cx="12083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 · 15</a:t>
            </a:r>
            <a:endParaRPr lang="en-US" sz="840" dirty="0"/>
          </a:p>
        </p:txBody>
      </p:sp>
      <p:sp>
        <p:nvSpPr>
          <p:cNvPr id="42" name="Text 39"/>
          <p:cNvSpPr txBox="1"/>
          <p:nvPr/>
        </p:nvSpPr>
        <p:spPr>
          <a:xfrm>
            <a:off x="10306710" y="184708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13:00</a:t>
            </a:r>
            <a:endParaRPr lang="en-US" sz="860" dirty="0"/>
          </a:p>
        </p:txBody>
      </p:sp>
      <p:sp>
        <p:nvSpPr>
          <p:cNvPr id="43" name="Text 40"/>
          <p:cNvSpPr txBox="1"/>
          <p:nvPr/>
        </p:nvSpPr>
        <p:spPr>
          <a:xfrm>
            <a:off x="11112703" y="184708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13:15</a:t>
            </a:r>
            <a:endParaRPr lang="en-US" sz="860" dirty="0"/>
          </a:p>
        </p:txBody>
      </p:sp>
      <p:sp>
        <p:nvSpPr>
          <p:cNvPr id="44" name="Shape 41"/>
          <p:cNvSpPr/>
          <p:nvPr/>
        </p:nvSpPr>
        <p:spPr>
          <a:xfrm>
            <a:off x="658368" y="3931920"/>
            <a:ext cx="10874959" cy="1389888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58368" y="3931920"/>
            <a:ext cx="54864" cy="138988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50976" y="409651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DE LA CLASE ES PÚBLICO; CADA UNO TRABAJA EN EL SUYO</a:t>
            </a:r>
            <a:endParaRPr lang="en-US" sz="960" dirty="0"/>
          </a:p>
        </p:txBody>
      </p:sp>
      <p:sp>
        <p:nvSpPr>
          <p:cNvPr id="47" name="Text 44"/>
          <p:cNvSpPr txBox="1"/>
          <p:nvPr/>
        </p:nvSpPr>
        <p:spPr>
          <a:xfrm>
            <a:off x="950976" y="4352544"/>
            <a:ext cx="10289743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ejecuciones que se muestran son reales y se pueden ver en github.com/Dieg0Code/reserva-laboratorio-pro402. En el bloque 4, un agente introduce un defecto a propósito: siempre en tu propio repositorio, en una rama propia y en un pull request que nadie integra.</a:t>
            </a:r>
            <a:endParaRPr lang="en-US" sz="1220" dirty="0"/>
          </a:p>
        </p:txBody>
      </p:sp>
      <p:sp>
        <p:nvSpPr>
          <p:cNvPr id="48" name="Shape 45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Ejecutar, decidir, estabilizar y proteger.</a:t>
            </a:r>
            <a:endParaRPr lang="en-US" sz="13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371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DE 4 · 30 MINUTOS</a:t>
            </a:r>
            <a:endParaRPr lang="en-US" sz="96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810512"/>
            <a:ext cx="978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pipeline</a:t>
            </a:r>
            <a:endParaRPr lang="en-US" sz="4400" dirty="0"/>
          </a:p>
        </p:txBody>
      </p:sp>
      <p:sp>
        <p:nvSpPr>
          <p:cNvPr id="10" name="Shape 7"/>
          <p:cNvSpPr/>
          <p:nvPr/>
        </p:nvSpPr>
        <p:spPr>
          <a:xfrm>
            <a:off x="658368" y="3346704"/>
            <a:ext cx="3840480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 txBox="1"/>
          <p:nvPr/>
        </p:nvSpPr>
        <p:spPr>
          <a:xfrm>
            <a:off x="658368" y="3602736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flujo de GitHub Actions escrito línea por línea, cuatro ejecuciones reales en rojo, y una pregunta para cada una: ¿quién falló, el sistema, el proyecto o el propio pipeline?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58368" y="4901184"/>
            <a:ext cx="2622728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" y="5001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5184648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</a:t>
            </a:r>
            <a:endParaRPr lang="en-US" sz="116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5422392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la suite corra sola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3409112" y="4901184"/>
            <a:ext cx="2622728" cy="78638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591992" y="5001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3591992" y="5184648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</a:t>
            </a:r>
            <a:endParaRPr lang="en-US" sz="1160" dirty="0"/>
          </a:p>
        </p:txBody>
      </p:sp>
      <p:sp>
        <p:nvSpPr>
          <p:cNvPr id="19" name="Text 16"/>
          <p:cNvSpPr txBox="1"/>
          <p:nvPr/>
        </p:nvSpPr>
        <p:spPr>
          <a:xfrm>
            <a:off x="3591992" y="5422392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hacer con los rojos conocidos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6159856" y="4901184"/>
            <a:ext cx="2622728" cy="78638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42736" y="5001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342736" y="5184648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ESTABILIZAR</a:t>
            </a:r>
            <a:endParaRPr lang="en-US" sz="1160" dirty="0"/>
          </a:p>
        </p:txBody>
      </p:sp>
      <p:sp>
        <p:nvSpPr>
          <p:cNvPr id="23" name="Text 20"/>
          <p:cNvSpPr txBox="1"/>
          <p:nvPr/>
        </p:nvSpPr>
        <p:spPr>
          <a:xfrm>
            <a:off x="6342736" y="5422392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que pasa y falla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8910599" y="4901184"/>
            <a:ext cx="2622728" cy="78638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093479" y="5001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9093479" y="5184648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PROTEGER</a:t>
            </a:r>
            <a:endParaRPr lang="en-US" sz="1160" dirty="0"/>
          </a:p>
        </p:txBody>
      </p:sp>
      <p:sp>
        <p:nvSpPr>
          <p:cNvPr id="27" name="Text 24"/>
          <p:cNvSpPr txBox="1"/>
          <p:nvPr/>
        </p:nvSpPr>
        <p:spPr>
          <a:xfrm>
            <a:off x="9093479" y="5422392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un rojo no se integre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GITHUB ACTIONS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máquina nueva, vacía, en cada ejecución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773936"/>
            <a:ext cx="1999427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73936"/>
            <a:ext cx="1999427" cy="54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1920240"/>
            <a:ext cx="1670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340864"/>
            <a:ext cx="1670243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Alguien sube un cambio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2676083" y="2560320"/>
            <a:ext cx="182880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2877251" y="1773936"/>
            <a:ext cx="1999427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877251" y="1773936"/>
            <a:ext cx="1999427" cy="5486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41843" y="1920240"/>
            <a:ext cx="1670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6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máquina nueva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041843" y="2340864"/>
            <a:ext cx="1670243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crea una máquina virtual vacía para cada trabajo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4894966" y="2560320"/>
            <a:ext cx="182880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096134" y="1773936"/>
            <a:ext cx="1999427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96134" y="1773936"/>
            <a:ext cx="1999427" cy="5486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260726" y="1920240"/>
            <a:ext cx="1670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A6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instala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260726" y="2340864"/>
            <a:ext cx="1670243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lo que el repositorio declara: Python, dependencias, navegadores</a:t>
            </a:r>
            <a:endParaRPr lang="en-US" sz="1060" dirty="0"/>
          </a:p>
        </p:txBody>
      </p:sp>
      <p:sp>
        <p:nvSpPr>
          <p:cNvPr id="24" name="Shape 21"/>
          <p:cNvSpPr/>
          <p:nvPr/>
        </p:nvSpPr>
        <p:spPr>
          <a:xfrm>
            <a:off x="7113849" y="2560320"/>
            <a:ext cx="182880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315017" y="1773936"/>
            <a:ext cx="1999427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315017" y="1773936"/>
            <a:ext cx="1999427" cy="54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479609" y="1920240"/>
            <a:ext cx="1670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ejecuta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479609" y="2340864"/>
            <a:ext cx="1670243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mismos comandos que en la terminal</a:t>
            </a:r>
            <a:endParaRPr lang="en-US" sz="1060" dirty="0"/>
          </a:p>
        </p:txBody>
      </p:sp>
      <p:sp>
        <p:nvSpPr>
          <p:cNvPr id="29" name="Shape 26"/>
          <p:cNvSpPr/>
          <p:nvPr/>
        </p:nvSpPr>
        <p:spPr>
          <a:xfrm>
            <a:off x="9332732" y="2560320"/>
            <a:ext cx="182880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9533900" y="1773936"/>
            <a:ext cx="1999427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533900" y="1773936"/>
            <a:ext cx="1999427" cy="5486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698492" y="1920240"/>
            <a:ext cx="16702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o ✗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9698492" y="2340864"/>
            <a:ext cx="1670243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resultado queda en el repositorio, junto al commit</a:t>
            </a:r>
            <a:endParaRPr lang="en-US" sz="1060" dirty="0"/>
          </a:p>
        </p:txBody>
      </p:sp>
      <p:sp>
        <p:nvSpPr>
          <p:cNvPr id="34" name="Shape 31"/>
          <p:cNvSpPr/>
          <p:nvPr/>
        </p:nvSpPr>
        <p:spPr>
          <a:xfrm>
            <a:off x="658368" y="3566160"/>
            <a:ext cx="6675120" cy="118872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58368" y="3566160"/>
            <a:ext cx="54864" cy="11887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14400" y="3694176"/>
            <a:ext cx="6163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i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«Un flujo de trabajo es un proceso automatizado y configurable, compuesto por uno o más trabajos. Hay que crear un archivo YAML para definir su configuración.»</a:t>
            </a:r>
            <a:endParaRPr lang="en-US" sz="1180" dirty="0"/>
          </a:p>
        </p:txBody>
      </p:sp>
      <p:sp>
        <p:nvSpPr>
          <p:cNvPr id="37" name="Text 34"/>
          <p:cNvSpPr txBox="1"/>
          <p:nvPr/>
        </p:nvSpPr>
        <p:spPr>
          <a:xfrm>
            <a:off x="914400" y="4480560"/>
            <a:ext cx="61630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Docs, Workflow syntax · traducción del original en inglés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607808" y="3566160"/>
            <a:ext cx="3925519" cy="118872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827264" y="3639312"/>
            <a:ext cx="3523183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YAML: texto de configuración donde la sangría —los espacios al inicio de cada línea— indica qué va dentro de qué. El archivo vive en .github/workflows/.</a:t>
            </a:r>
            <a:endParaRPr lang="en-US" sz="1080" dirty="0"/>
          </a:p>
        </p:txBody>
      </p:sp>
      <p:sp>
        <p:nvSpPr>
          <p:cNvPr id="40" name="Text 37"/>
          <p:cNvSpPr txBox="1"/>
          <p:nvPr/>
        </p:nvSpPr>
        <p:spPr>
          <a:xfrm>
            <a:off x="658368" y="488289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Gratis en repositorios públicos; un repositorio privado gratuito incluye 2.000 minutos al mes.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funciona solo porque está instalado en tu máquina, ahí no funciona.</a:t>
            </a:r>
            <a:endParaRPr lang="en-US" sz="13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EL ARCHIVO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Cuándo corre y qué hace el primer trabajo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682496"/>
            <a:ext cx="5852160" cy="3440176"/>
          </a:xfrm>
          <a:prstGeom prst="roundRect">
            <a:avLst>
              <a:gd name="adj" fmla="val 13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039112"/>
            <a:ext cx="5852160" cy="914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177393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.github/workflows/pruebas.yml · primera versión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713232" y="2509012"/>
            <a:ext cx="5340096" cy="165811"/>
          </a:xfrm>
          <a:prstGeom prst="rect">
            <a:avLst/>
          </a:prstGeom>
          <a:solidFill>
            <a:srgbClr val="E0BC5A">
              <a:alpha val="28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372612"/>
            <a:ext cx="5340096" cy="165811"/>
          </a:xfrm>
          <a:prstGeom prst="rect">
            <a:avLst/>
          </a:prstGeom>
          <a:solidFill>
            <a:srgbClr val="E0BC5A">
              <a:alpha val="28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3718052"/>
            <a:ext cx="5340096" cy="165811"/>
          </a:xfrm>
          <a:prstGeom prst="rect">
            <a:avLst/>
          </a:prstGeom>
          <a:solidFill>
            <a:srgbClr val="E0BC5A">
              <a:alpha val="28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3232" y="4063492"/>
            <a:ext cx="5340096" cy="165811"/>
          </a:xfrm>
          <a:prstGeom prst="rect">
            <a:avLst/>
          </a:prstGeom>
          <a:solidFill>
            <a:srgbClr val="E0BC5A">
              <a:alpha val="28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3232" y="4408932"/>
            <a:ext cx="5340096" cy="165811"/>
          </a:xfrm>
          <a:prstGeom prst="rect">
            <a:avLst/>
          </a:prstGeom>
          <a:solidFill>
            <a:srgbClr val="2E7D4F">
              <a:alpha val="28000"/>
            </a:srgbClr>
          </a:solidFill>
          <a:ln w="12700">
            <a:solidFill>
              <a:srgbClr val="2E7D4F">
                <a:alpha val="0"/>
              </a:srgbClr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176272"/>
            <a:ext cx="5120640" cy="281838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202477" y="2505761"/>
            <a:ext cx="158902" cy="15890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211621" y="2514905"/>
            <a:ext cx="140614" cy="1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40" dirty="0"/>
          </a:p>
        </p:txBody>
      </p:sp>
      <p:sp>
        <p:nvSpPr>
          <p:cNvPr id="21" name="Shape 17"/>
          <p:cNvSpPr/>
          <p:nvPr/>
        </p:nvSpPr>
        <p:spPr>
          <a:xfrm>
            <a:off x="6202477" y="3369361"/>
            <a:ext cx="158902" cy="15890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211621" y="3378505"/>
            <a:ext cx="140614" cy="1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40" dirty="0"/>
          </a:p>
        </p:txBody>
      </p:sp>
      <p:sp>
        <p:nvSpPr>
          <p:cNvPr id="23" name="Shape 19"/>
          <p:cNvSpPr/>
          <p:nvPr/>
        </p:nvSpPr>
        <p:spPr>
          <a:xfrm>
            <a:off x="6202477" y="3714801"/>
            <a:ext cx="158902" cy="15890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11621" y="3723945"/>
            <a:ext cx="140614" cy="1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40" dirty="0"/>
          </a:p>
        </p:txBody>
      </p:sp>
      <p:sp>
        <p:nvSpPr>
          <p:cNvPr id="25" name="Shape 21"/>
          <p:cNvSpPr/>
          <p:nvPr/>
        </p:nvSpPr>
        <p:spPr>
          <a:xfrm>
            <a:off x="6202477" y="4060241"/>
            <a:ext cx="158902" cy="15890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11621" y="4069385"/>
            <a:ext cx="140614" cy="1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40" dirty="0"/>
          </a:p>
        </p:txBody>
      </p:sp>
      <p:sp>
        <p:nvSpPr>
          <p:cNvPr id="27" name="Shape 23"/>
          <p:cNvSpPr/>
          <p:nvPr/>
        </p:nvSpPr>
        <p:spPr>
          <a:xfrm>
            <a:off x="6202477" y="4405681"/>
            <a:ext cx="158902" cy="15890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211621" y="4414825"/>
            <a:ext cx="140614" cy="1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40" dirty="0"/>
          </a:p>
        </p:txBody>
      </p:sp>
      <p:sp>
        <p:nvSpPr>
          <p:cNvPr id="29" name="Shape 25"/>
          <p:cNvSpPr/>
          <p:nvPr/>
        </p:nvSpPr>
        <p:spPr>
          <a:xfrm>
            <a:off x="6784848" y="1682496"/>
            <a:ext cx="4748479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931152" y="1901952"/>
            <a:ext cx="256032" cy="25603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940296" y="19110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40" dirty="0"/>
          </a:p>
        </p:txBody>
      </p:sp>
      <p:sp>
        <p:nvSpPr>
          <p:cNvPr id="32" name="Text 28"/>
          <p:cNvSpPr txBox="1"/>
          <p:nvPr/>
        </p:nvSpPr>
        <p:spPr>
          <a:xfrm>
            <a:off x="7296912" y="17556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1060" dirty="0"/>
          </a:p>
        </p:txBody>
      </p:sp>
      <p:sp>
        <p:nvSpPr>
          <p:cNvPr id="33" name="Text 29"/>
          <p:cNvSpPr txBox="1"/>
          <p:nvPr/>
        </p:nvSpPr>
        <p:spPr>
          <a:xfrm>
            <a:off x="7296912" y="1993392"/>
            <a:ext cx="4108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Cuándo corre: ante cada push y cada pull request. Sin esto, nunca corre solo.</a:t>
            </a:r>
            <a:endParaRPr lang="en-US" sz="960" dirty="0"/>
          </a:p>
        </p:txBody>
      </p:sp>
      <p:sp>
        <p:nvSpPr>
          <p:cNvPr id="34" name="Shape 30"/>
          <p:cNvSpPr/>
          <p:nvPr/>
        </p:nvSpPr>
        <p:spPr>
          <a:xfrm>
            <a:off x="6784848" y="2450592"/>
            <a:ext cx="4748479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931152" y="2670048"/>
            <a:ext cx="256032" cy="25603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940296" y="26791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40" dirty="0"/>
          </a:p>
        </p:txBody>
      </p:sp>
      <p:sp>
        <p:nvSpPr>
          <p:cNvPr id="37" name="Text 33"/>
          <p:cNvSpPr txBox="1"/>
          <p:nvPr/>
        </p:nvSpPr>
        <p:spPr>
          <a:xfrm>
            <a:off x="7296912" y="25237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jobs:</a:t>
            </a:r>
            <a:endParaRPr lang="en-US" sz="1060" dirty="0"/>
          </a:p>
        </p:txBody>
      </p:sp>
      <p:sp>
        <p:nvSpPr>
          <p:cNvPr id="38" name="Text 34"/>
          <p:cNvSpPr txBox="1"/>
          <p:nvPr/>
        </p:nvSpPr>
        <p:spPr>
          <a:xfrm>
            <a:off x="7296912" y="2761488"/>
            <a:ext cx="4108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trabajos. estaticos es el nombre interno; name: el que se muestra.</a:t>
            </a:r>
            <a:endParaRPr lang="en-US" sz="960" dirty="0"/>
          </a:p>
        </p:txBody>
      </p:sp>
      <p:sp>
        <p:nvSpPr>
          <p:cNvPr id="39" name="Shape 35"/>
          <p:cNvSpPr/>
          <p:nvPr/>
        </p:nvSpPr>
        <p:spPr>
          <a:xfrm>
            <a:off x="6784848" y="3218688"/>
            <a:ext cx="4748479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931152" y="3438144"/>
            <a:ext cx="256032" cy="25603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940296" y="34472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40" dirty="0"/>
          </a:p>
        </p:txBody>
      </p:sp>
      <p:sp>
        <p:nvSpPr>
          <p:cNvPr id="42" name="Text 38"/>
          <p:cNvSpPr txBox="1"/>
          <p:nvPr/>
        </p:nvSpPr>
        <p:spPr>
          <a:xfrm>
            <a:off x="7296912" y="32918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runs-on:</a:t>
            </a:r>
            <a:endParaRPr lang="en-US" sz="1060" dirty="0"/>
          </a:p>
        </p:txBody>
      </p:sp>
      <p:sp>
        <p:nvSpPr>
          <p:cNvPr id="43" name="Text 39"/>
          <p:cNvSpPr txBox="1"/>
          <p:nvPr/>
        </p:nvSpPr>
        <p:spPr>
          <a:xfrm>
            <a:off x="7296912" y="3529584"/>
            <a:ext cx="4108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máquina: la versión más reciente de Ubuntu, un Linux que ofrece GitHub.</a:t>
            </a:r>
            <a:endParaRPr lang="en-US" sz="960" dirty="0"/>
          </a:p>
        </p:txBody>
      </p:sp>
      <p:sp>
        <p:nvSpPr>
          <p:cNvPr id="44" name="Shape 40"/>
          <p:cNvSpPr/>
          <p:nvPr/>
        </p:nvSpPr>
        <p:spPr>
          <a:xfrm>
            <a:off x="6784848" y="3986784"/>
            <a:ext cx="4748479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6931152" y="4206240"/>
            <a:ext cx="256032" cy="25603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940296" y="42153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40" dirty="0"/>
          </a:p>
        </p:txBody>
      </p:sp>
      <p:sp>
        <p:nvSpPr>
          <p:cNvPr id="47" name="Text 43"/>
          <p:cNvSpPr txBox="1"/>
          <p:nvPr/>
        </p:nvSpPr>
        <p:spPr>
          <a:xfrm>
            <a:off x="7296912" y="40599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uses:</a:t>
            </a:r>
            <a:endParaRPr lang="en-US" sz="1060" dirty="0"/>
          </a:p>
        </p:txBody>
      </p:sp>
      <p:sp>
        <p:nvSpPr>
          <p:cNvPr id="48" name="Text 44"/>
          <p:cNvSpPr txBox="1"/>
          <p:nvPr/>
        </p:nvSpPr>
        <p:spPr>
          <a:xfrm>
            <a:off x="7296912" y="4297680"/>
            <a:ext cx="4108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una acción ya escrita. checkout descarga el repositorio; setup-uv instala uv, la herramienta que instala Python y las dependencias.</a:t>
            </a:r>
            <a:endParaRPr lang="en-US" sz="960" dirty="0"/>
          </a:p>
        </p:txBody>
      </p:sp>
      <p:sp>
        <p:nvSpPr>
          <p:cNvPr id="49" name="Shape 45"/>
          <p:cNvSpPr/>
          <p:nvPr/>
        </p:nvSpPr>
        <p:spPr>
          <a:xfrm>
            <a:off x="6784848" y="4754880"/>
            <a:ext cx="4748479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6931152" y="4974336"/>
            <a:ext cx="256032" cy="25603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6940296" y="498348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40" dirty="0"/>
          </a:p>
        </p:txBody>
      </p:sp>
      <p:sp>
        <p:nvSpPr>
          <p:cNvPr id="52" name="Text 48"/>
          <p:cNvSpPr txBox="1"/>
          <p:nvPr/>
        </p:nvSpPr>
        <p:spPr>
          <a:xfrm>
            <a:off x="7296912" y="48280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run:</a:t>
            </a:r>
            <a:endParaRPr lang="en-US" sz="1060" dirty="0"/>
          </a:p>
        </p:txBody>
      </p:sp>
      <p:sp>
        <p:nvSpPr>
          <p:cNvPr id="53" name="Text 49"/>
          <p:cNvSpPr txBox="1"/>
          <p:nvPr/>
        </p:nvSpPr>
        <p:spPr>
          <a:xfrm>
            <a:off x="7296912" y="5065776"/>
            <a:ext cx="41083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comando, igual que en la terminal. --locked instala las versiones exactas de uv.lock, el archivo que las fija.</a:t>
            </a:r>
            <a:endParaRPr lang="en-US" sz="960" dirty="0"/>
          </a:p>
        </p:txBody>
      </p:sp>
      <p:sp>
        <p:nvSpPr>
          <p:cNvPr id="54" name="Text 50"/>
          <p:cNvSpPr txBox="1"/>
          <p:nvPr/>
        </p:nvSpPr>
        <p:spPr>
          <a:xfrm>
            <a:off x="6784848" y="5559552"/>
            <a:ext cx="474847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controles estáticos revisan el código sin ejecutarlo: ruff busca errores comunes y de estilo; pyrefly comprueba los tipos de datos.</a:t>
            </a:r>
            <a:endParaRPr lang="en-US" sz="9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EL ARCHIVO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otros dos trabajos: las dos suites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682496"/>
            <a:ext cx="5852160" cy="4390136"/>
          </a:xfrm>
          <a:prstGeom prst="roundRect">
            <a:avLst>
              <a:gd name="adj" fmla="val 104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039112"/>
            <a:ext cx="5852160" cy="914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177393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.github/workflows/pruebas.yml · continuación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713232" y="3205124"/>
            <a:ext cx="5340096" cy="142598"/>
          </a:xfrm>
          <a:prstGeom prst="rect">
            <a:avLst/>
          </a:prstGeom>
          <a:solidFill>
            <a:srgbClr val="2E7D4F">
              <a:alpha val="28000"/>
            </a:srgbClr>
          </a:solidFill>
          <a:ln w="12700">
            <a:solidFill>
              <a:srgbClr val="2E7D4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4393438"/>
            <a:ext cx="5340096" cy="142598"/>
          </a:xfrm>
          <a:prstGeom prst="rect">
            <a:avLst/>
          </a:prstGeom>
          <a:solidFill>
            <a:srgbClr val="E0BC5A">
              <a:alpha val="28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4987595"/>
            <a:ext cx="5340096" cy="142598"/>
          </a:xfrm>
          <a:prstGeom prst="rect">
            <a:avLst/>
          </a:prstGeom>
          <a:solidFill>
            <a:srgbClr val="E0BC5A">
              <a:alpha val="28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13232" y="5284673"/>
            <a:ext cx="5340096" cy="142598"/>
          </a:xfrm>
          <a:prstGeom prst="rect">
            <a:avLst/>
          </a:prstGeom>
          <a:solidFill>
            <a:srgbClr val="E0BC5A">
              <a:alpha val="28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176272"/>
            <a:ext cx="5120640" cy="376834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213600" y="3202328"/>
            <a:ext cx="136656" cy="13665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22744" y="3211472"/>
            <a:ext cx="118368" cy="11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40" dirty="0"/>
          </a:p>
        </p:txBody>
      </p:sp>
      <p:sp>
        <p:nvSpPr>
          <p:cNvPr id="20" name="Shape 16"/>
          <p:cNvSpPr/>
          <p:nvPr/>
        </p:nvSpPr>
        <p:spPr>
          <a:xfrm>
            <a:off x="6213600" y="4390642"/>
            <a:ext cx="136656" cy="13665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22744" y="4399786"/>
            <a:ext cx="118368" cy="11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40" dirty="0"/>
          </a:p>
        </p:txBody>
      </p:sp>
      <p:sp>
        <p:nvSpPr>
          <p:cNvPr id="22" name="Shape 18"/>
          <p:cNvSpPr/>
          <p:nvPr/>
        </p:nvSpPr>
        <p:spPr>
          <a:xfrm>
            <a:off x="6213600" y="4984799"/>
            <a:ext cx="136656" cy="13665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222744" y="4993943"/>
            <a:ext cx="118368" cy="11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6213600" y="5281877"/>
            <a:ext cx="136656" cy="13665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222744" y="5291021"/>
            <a:ext cx="118368" cy="11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40" dirty="0"/>
          </a:p>
        </p:txBody>
      </p:sp>
      <p:sp>
        <p:nvSpPr>
          <p:cNvPr id="26" name="Shape 22"/>
          <p:cNvSpPr/>
          <p:nvPr/>
        </p:nvSpPr>
        <p:spPr>
          <a:xfrm>
            <a:off x="6784848" y="1682496"/>
            <a:ext cx="4748479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931152" y="1828800"/>
            <a:ext cx="256032" cy="25603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940296" y="1837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40" dirty="0"/>
          </a:p>
        </p:txBody>
      </p:sp>
      <p:sp>
        <p:nvSpPr>
          <p:cNvPr id="29" name="Text 25"/>
          <p:cNvSpPr txBox="1"/>
          <p:nvPr/>
        </p:nvSpPr>
        <p:spPr>
          <a:xfrm>
            <a:off x="7296912" y="1773936"/>
            <a:ext cx="41083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pytest -q</a:t>
            </a:r>
            <a:endParaRPr lang="en-US" sz="1040" dirty="0"/>
          </a:p>
        </p:txBody>
      </p:sp>
      <p:sp>
        <p:nvSpPr>
          <p:cNvPr id="30" name="Text 26"/>
          <p:cNvSpPr txBox="1"/>
          <p:nvPr/>
        </p:nvSpPr>
        <p:spPr>
          <a:xfrm>
            <a:off x="7296912" y="2048256"/>
            <a:ext cx="41083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 las pruebas de Python; -q pide una salida resumida.</a:t>
            </a:r>
            <a:endParaRPr lang="en-US" sz="960" dirty="0"/>
          </a:p>
        </p:txBody>
      </p:sp>
      <p:sp>
        <p:nvSpPr>
          <p:cNvPr id="31" name="Shape 27"/>
          <p:cNvSpPr/>
          <p:nvPr/>
        </p:nvSpPr>
        <p:spPr>
          <a:xfrm>
            <a:off x="6784848" y="2596896"/>
            <a:ext cx="4748479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931152" y="2743200"/>
            <a:ext cx="256032" cy="25603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940296" y="2752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40" dirty="0"/>
          </a:p>
        </p:txBody>
      </p:sp>
      <p:sp>
        <p:nvSpPr>
          <p:cNvPr id="34" name="Text 30"/>
          <p:cNvSpPr txBox="1"/>
          <p:nvPr/>
        </p:nvSpPr>
        <p:spPr>
          <a:xfrm>
            <a:off x="7296912" y="2688336"/>
            <a:ext cx="41083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setup-node y with:</a:t>
            </a:r>
            <a:endParaRPr lang="en-US" sz="1040" dirty="0"/>
          </a:p>
        </p:txBody>
      </p:sp>
      <p:sp>
        <p:nvSpPr>
          <p:cNvPr id="35" name="Text 31"/>
          <p:cNvSpPr txBox="1"/>
          <p:nvPr/>
        </p:nvSpPr>
        <p:spPr>
          <a:xfrm>
            <a:off x="7296912" y="2962656"/>
            <a:ext cx="41083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 Node.js 22, el entorno que ejecuta JavaScript y que Playwright necesita. with: le entrega parámetros a la acción.</a:t>
            </a:r>
            <a:endParaRPr lang="en-US" sz="960" dirty="0"/>
          </a:p>
        </p:txBody>
      </p:sp>
      <p:sp>
        <p:nvSpPr>
          <p:cNvPr id="36" name="Shape 32"/>
          <p:cNvSpPr/>
          <p:nvPr/>
        </p:nvSpPr>
        <p:spPr>
          <a:xfrm>
            <a:off x="6784848" y="3511296"/>
            <a:ext cx="4748479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931152" y="3657600"/>
            <a:ext cx="256032" cy="25603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940296" y="36667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40" dirty="0"/>
          </a:p>
        </p:txBody>
      </p:sp>
      <p:sp>
        <p:nvSpPr>
          <p:cNvPr id="39" name="Text 35"/>
          <p:cNvSpPr txBox="1"/>
          <p:nvPr/>
        </p:nvSpPr>
        <p:spPr>
          <a:xfrm>
            <a:off x="7296912" y="3602736"/>
            <a:ext cx="41083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ci</a:t>
            </a:r>
            <a:endParaRPr lang="en-US" sz="1040" dirty="0"/>
          </a:p>
        </p:txBody>
      </p:sp>
      <p:sp>
        <p:nvSpPr>
          <p:cNvPr id="40" name="Text 36"/>
          <p:cNvSpPr txBox="1"/>
          <p:nvPr/>
        </p:nvSpPr>
        <p:spPr>
          <a:xfrm>
            <a:off x="7296912" y="3877056"/>
            <a:ext cx="41083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 las dependencias de e2e con las versiones exactas de package-lock.json, el equivalente de uv.lock en JavaScript.</a:t>
            </a:r>
            <a:endParaRPr lang="en-US" sz="960" dirty="0"/>
          </a:p>
        </p:txBody>
      </p:sp>
      <p:sp>
        <p:nvSpPr>
          <p:cNvPr id="41" name="Shape 37"/>
          <p:cNvSpPr/>
          <p:nvPr/>
        </p:nvSpPr>
        <p:spPr>
          <a:xfrm>
            <a:off x="6784848" y="4425696"/>
            <a:ext cx="4748479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6931152" y="4572000"/>
            <a:ext cx="256032" cy="25603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940296" y="45811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40" dirty="0"/>
          </a:p>
        </p:txBody>
      </p:sp>
      <p:sp>
        <p:nvSpPr>
          <p:cNvPr id="44" name="Text 40"/>
          <p:cNvSpPr txBox="1"/>
          <p:nvPr/>
        </p:nvSpPr>
        <p:spPr>
          <a:xfrm>
            <a:off x="7296912" y="4517136"/>
            <a:ext cx="41083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 install --with-deps</a:t>
            </a:r>
            <a:endParaRPr lang="en-US" sz="1040" dirty="0"/>
          </a:p>
        </p:txBody>
      </p:sp>
      <p:sp>
        <p:nvSpPr>
          <p:cNvPr id="45" name="Text 41"/>
          <p:cNvSpPr txBox="1"/>
          <p:nvPr/>
        </p:nvSpPr>
        <p:spPr>
          <a:xfrm>
            <a:off x="7296912" y="4791456"/>
            <a:ext cx="410839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Descarga los tres navegadores y lo que necesitan para funcionar en Linux.</a:t>
            </a:r>
            <a:endParaRPr lang="en-US" sz="960" dirty="0"/>
          </a:p>
        </p:txBody>
      </p:sp>
      <p:sp>
        <p:nvSpPr>
          <p:cNvPr id="46" name="Text 42"/>
          <p:cNvSpPr txBox="1"/>
          <p:nvPr/>
        </p:nvSpPr>
        <p:spPr>
          <a:xfrm>
            <a:off x="6784848" y="5431536"/>
            <a:ext cx="47484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working-directory: e2e ejecuta el comando dentro de la carpeta de las pruebas de Playwright. Cada trabajo repite checkout e instalación porque corre en su propia máquina.</a:t>
            </a:r>
            <a:endParaRPr lang="en-US" sz="9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TRES DECISIONES DEL ARCHIVO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qué está escrito así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1737360"/>
            <a:ext cx="3503066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37360"/>
            <a:ext cx="3503066" cy="54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7824" y="1883664"/>
            <a:ext cx="3100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tres trabajos?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77824" y="2340864"/>
            <a:ext cx="3064154" cy="329184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87552" y="2377440"/>
            <a:ext cx="2862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Controles estáticos</a:t>
            </a:r>
            <a:endParaRPr lang="en-US" sz="1040" dirty="0"/>
          </a:p>
        </p:txBody>
      </p:sp>
      <p:sp>
        <p:nvSpPr>
          <p:cNvPr id="15" name="Shape 12"/>
          <p:cNvSpPr/>
          <p:nvPr/>
        </p:nvSpPr>
        <p:spPr>
          <a:xfrm>
            <a:off x="877824" y="2743200"/>
            <a:ext cx="3064154" cy="329184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87552" y="2779776"/>
            <a:ext cx="2862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de Python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877824" y="3145536"/>
            <a:ext cx="3064154" cy="329184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87552" y="3182112"/>
            <a:ext cx="28629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Extremo a extremo</a:t>
            </a:r>
            <a:endParaRPr lang="en-US" sz="1040" dirty="0"/>
          </a:p>
        </p:txBody>
      </p:sp>
      <p:sp>
        <p:nvSpPr>
          <p:cNvPr id="19" name="Text 16"/>
          <p:cNvSpPr txBox="1"/>
          <p:nvPr/>
        </p:nvSpPr>
        <p:spPr>
          <a:xfrm>
            <a:off x="877824" y="3621024"/>
            <a:ext cx="310073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Corren en paralelo y fallan por separado: si ruff encuentra algo, las pruebas se ejecutan igual. En un solo trabajo, el primer paso que falla detiene todos los demás.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4344314" y="1737360"/>
            <a:ext cx="3503066" cy="36210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44314" y="1737360"/>
            <a:ext cx="3503066" cy="5486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563770" y="1883664"/>
            <a:ext cx="3100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--locked y npm ci?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563770" y="2340864"/>
            <a:ext cx="3064154" cy="676656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673498" y="2395728"/>
            <a:ext cx="28629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tu máquina</a:t>
            </a:r>
            <a:endParaRPr lang="en-US" sz="960" dirty="0"/>
          </a:p>
        </p:txBody>
      </p:sp>
      <p:sp>
        <p:nvSpPr>
          <p:cNvPr id="25" name="Text 22"/>
          <p:cNvSpPr txBox="1"/>
          <p:nvPr/>
        </p:nvSpPr>
        <p:spPr>
          <a:xfrm>
            <a:off x="4673498" y="2596896"/>
            <a:ext cx="28629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 · npm install</a:t>
            </a:r>
            <a:endParaRPr lang="en-US" sz="960" dirty="0"/>
          </a:p>
        </p:txBody>
      </p:sp>
      <p:sp>
        <p:nvSpPr>
          <p:cNvPr id="26" name="Text 23"/>
          <p:cNvSpPr txBox="1"/>
          <p:nvPr/>
        </p:nvSpPr>
        <p:spPr>
          <a:xfrm>
            <a:off x="4673498" y="2798064"/>
            <a:ext cx="28629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actualizan si pueden</a:t>
            </a:r>
            <a:endParaRPr lang="en-US" sz="940" dirty="0"/>
          </a:p>
        </p:txBody>
      </p:sp>
      <p:sp>
        <p:nvSpPr>
          <p:cNvPr id="27" name="Shape 24"/>
          <p:cNvSpPr/>
          <p:nvPr/>
        </p:nvSpPr>
        <p:spPr>
          <a:xfrm>
            <a:off x="4563770" y="3108960"/>
            <a:ext cx="3064154" cy="676656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673498" y="3163824"/>
            <a:ext cx="28629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pipeline</a:t>
            </a:r>
            <a:endParaRPr lang="en-US" sz="960" dirty="0"/>
          </a:p>
        </p:txBody>
      </p:sp>
      <p:sp>
        <p:nvSpPr>
          <p:cNvPr id="29" name="Text 26"/>
          <p:cNvSpPr txBox="1"/>
          <p:nvPr/>
        </p:nvSpPr>
        <p:spPr>
          <a:xfrm>
            <a:off x="4673498" y="3364992"/>
            <a:ext cx="28629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 --locked · npm ci</a:t>
            </a:r>
            <a:endParaRPr lang="en-US" sz="960" dirty="0"/>
          </a:p>
        </p:txBody>
      </p:sp>
      <p:sp>
        <p:nvSpPr>
          <p:cNvPr id="30" name="Text 27"/>
          <p:cNvSpPr txBox="1"/>
          <p:nvPr/>
        </p:nvSpPr>
        <p:spPr>
          <a:xfrm>
            <a:off x="4673498" y="3566160"/>
            <a:ext cx="286298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versiones exactas</a:t>
            </a:r>
            <a:endParaRPr lang="en-US" sz="940" dirty="0"/>
          </a:p>
        </p:txBody>
      </p:sp>
      <p:sp>
        <p:nvSpPr>
          <p:cNvPr id="31" name="Text 28"/>
          <p:cNvSpPr txBox="1"/>
          <p:nvPr/>
        </p:nvSpPr>
        <p:spPr>
          <a:xfrm>
            <a:off x="4563770" y="3968496"/>
            <a:ext cx="310073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prueba que pasa con una versión y falla con otra no informa nada del sistema: informa una diferencia de entornos.</a:t>
            </a:r>
            <a:endParaRPr lang="en-US" sz="1060" dirty="0"/>
          </a:p>
        </p:txBody>
      </p:sp>
      <p:sp>
        <p:nvSpPr>
          <p:cNvPr id="32" name="Shape 29"/>
          <p:cNvSpPr/>
          <p:nvPr/>
        </p:nvSpPr>
        <p:spPr>
          <a:xfrm>
            <a:off x="8030261" y="1737360"/>
            <a:ext cx="3503066" cy="3621024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030261" y="1737360"/>
            <a:ext cx="3503066" cy="5486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249717" y="1883664"/>
            <a:ext cx="3100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v10.2.0 y no v10?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8249717" y="2340864"/>
            <a:ext cx="3064154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359445" y="2395728"/>
            <a:ext cx="284469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actions/checkout@v7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astral-sh/setup-uv@v10.2.0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8249717" y="3236976"/>
            <a:ext cx="310073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otras dos acciones aceptan la versión corta. Esta no. La respuesta la dio la primera ejecución.</a:t>
            </a:r>
            <a:endParaRPr lang="en-US" sz="1060" dirty="0"/>
          </a:p>
        </p:txBody>
      </p:sp>
      <p:sp>
        <p:nvSpPr>
          <p:cNvPr id="38" name="Shape 35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configuración del pipeline es código del proyecto: se versiona, se revisa y puede tener defectos.</a:t>
            </a:r>
            <a:endParaRPr lang="en-US" sz="13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CÓMO SE LEE UN ROJO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corregir: ¿quién falló?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1773936"/>
            <a:ext cx="350306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73936"/>
            <a:ext cx="3503066" cy="7315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1975104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sistema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560320"/>
            <a:ext cx="30458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aplicación no hace lo que debe. Se corrige el código de la aplicación.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730752"/>
            <a:ext cx="30458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RECONOCE</a:t>
            </a:r>
            <a:endParaRPr lang="en-US" sz="960" dirty="0"/>
          </a:p>
        </p:txBody>
      </p:sp>
      <p:sp>
        <p:nvSpPr>
          <p:cNvPr id="15" name="Text 12"/>
          <p:cNvSpPr txBox="1"/>
          <p:nvPr/>
        </p:nvSpPr>
        <p:spPr>
          <a:xfrm>
            <a:off x="914400" y="4005072"/>
            <a:ext cx="30458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prueba de la suite falla.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44314" y="1773936"/>
            <a:ext cx="350306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44314" y="1773936"/>
            <a:ext cx="3503066" cy="73152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00346" y="1975104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proyecto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4600346" y="2560320"/>
            <a:ext cx="30458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 algo que el proyecto debía declarar para que cualquiera pueda ejecutarlo.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600346" y="3730752"/>
            <a:ext cx="30458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RECONOCE</a:t>
            </a:r>
            <a:endParaRPr lang="en-US" sz="960" dirty="0"/>
          </a:p>
        </p:txBody>
      </p:sp>
      <p:sp>
        <p:nvSpPr>
          <p:cNvPr id="21" name="Text 18"/>
          <p:cNvSpPr txBox="1"/>
          <p:nvPr/>
        </p:nvSpPr>
        <p:spPr>
          <a:xfrm>
            <a:off x="4600346" y="4005072"/>
            <a:ext cx="30458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herramienta no está instalada; un archivo no está en el repositorio.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30261" y="1773936"/>
            <a:ext cx="350306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30261" y="1773936"/>
            <a:ext cx="3503066" cy="73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86293" y="1975104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pipeline</a:t>
            </a:r>
            <a:endParaRPr lang="en-US" sz="2200" dirty="0"/>
          </a:p>
        </p:txBody>
      </p:sp>
      <p:sp>
        <p:nvSpPr>
          <p:cNvPr id="25" name="Text 22"/>
          <p:cNvSpPr txBox="1"/>
          <p:nvPr/>
        </p:nvSpPr>
        <p:spPr>
          <a:xfrm>
            <a:off x="8286293" y="2560320"/>
            <a:ext cx="30458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archivo de configuración tiene un error.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286293" y="3730752"/>
            <a:ext cx="304586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RECONOCE</a:t>
            </a:r>
            <a:endParaRPr lang="en-US" sz="960" dirty="0"/>
          </a:p>
        </p:txBody>
      </p:sp>
      <p:sp>
        <p:nvSpPr>
          <p:cNvPr id="27" name="Text 24"/>
          <p:cNvSpPr txBox="1"/>
          <p:nvPr/>
        </p:nvSpPr>
        <p:spPr>
          <a:xfrm>
            <a:off x="8286293" y="4005072"/>
            <a:ext cx="304586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trabajo falla antes de ejecutar un solo comando.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respuesta se corrige en un lugar distinto. Corregir sin clasificar es adivinar.</a:t>
            </a:r>
            <a:endParaRPr lang="en-US" sz="13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EJECUCIÓN 1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segundos, y ningún comando ejecutado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40080" y="1682496"/>
            <a:ext cx="6803136" cy="3444551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11" name="Image 1" descr="C:\Users\Diego Obando\dev\pro402-taller-de-testing-2026\clases\semana-05\02-2\ppt\source\assets\gh-ejecucion-1-version-inexisten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700784"/>
            <a:ext cx="6766560" cy="340797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8368" y="5163623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Captura de la ejecución en GitHub. La anotación de abajo dice por qué falló.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7699248" y="1700784"/>
            <a:ext cx="3834079" cy="1123188"/>
          </a:xfrm>
          <a:prstGeom prst="roundRect">
            <a:avLst>
              <a:gd name="adj" fmla="val 4071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859268" y="1833372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014716" y="1833372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170164" y="1833372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394192" y="1783080"/>
            <a:ext cx="29562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anotación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7900416" y="2176272"/>
            <a:ext cx="3431743" cy="17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Unable to resolve action</a:t>
            </a:r>
            <a:endParaRPr lang="en-US" sz="880" dirty="0"/>
          </a:p>
        </p:txBody>
      </p:sp>
      <p:sp>
        <p:nvSpPr>
          <p:cNvPr id="19" name="Text 15"/>
          <p:cNvSpPr/>
          <p:nvPr/>
        </p:nvSpPr>
        <p:spPr>
          <a:xfrm>
            <a:off x="7900416" y="2349500"/>
            <a:ext cx="3431743" cy="17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`astral-sh/setup-uv@v10`,</a:t>
            </a:r>
            <a:endParaRPr lang="en-US" sz="880" dirty="0"/>
          </a:p>
        </p:txBody>
      </p:sp>
      <p:sp>
        <p:nvSpPr>
          <p:cNvPr id="20" name="Text 16"/>
          <p:cNvSpPr/>
          <p:nvPr/>
        </p:nvSpPr>
        <p:spPr>
          <a:xfrm>
            <a:off x="7900416" y="2522728"/>
            <a:ext cx="3431743" cy="17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unable to find version `v10`</a:t>
            </a:r>
            <a:endParaRPr lang="en-US" sz="880" dirty="0"/>
          </a:p>
        </p:txBody>
      </p:sp>
      <p:sp>
        <p:nvSpPr>
          <p:cNvPr id="21" name="Text 17"/>
          <p:cNvSpPr txBox="1"/>
          <p:nvPr/>
        </p:nvSpPr>
        <p:spPr>
          <a:xfrm>
            <a:off x="7699248" y="2871216"/>
            <a:ext cx="383407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encontró la versión v10. checkout y setup-node publican una etiqueta corta, como v7, que apunta a la última de su serie; setup-uv solo publica versiones completas.</a:t>
            </a:r>
            <a:endParaRPr lang="en-US" sz="1060" dirty="0"/>
          </a:p>
        </p:txBody>
      </p:sp>
      <p:sp>
        <p:nvSpPr>
          <p:cNvPr id="22" name="Shape 18"/>
          <p:cNvSpPr/>
          <p:nvPr/>
        </p:nvSpPr>
        <p:spPr>
          <a:xfrm>
            <a:off x="7699248" y="4078224"/>
            <a:ext cx="3834079" cy="9144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918704" y="4151376"/>
            <a:ext cx="34683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QUIÉN FALLÓ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7918704" y="4370832"/>
            <a:ext cx="3468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pipeline. Corrección: astral-sh/setup-uv@v10.2.0.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58368" y="5669280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50976" y="5705856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rojo no dice nada del sistema de reservas.</a:t>
            </a:r>
            <a:endParaRPr lang="en-US" sz="13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EJECUCIÓN 2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trabajos en rojo, tres motivos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1664208"/>
            <a:ext cx="5157216" cy="3139994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11" name="Image 1" descr="C:\Users\Diego Obando\dev\pro402-taller-de-testing-2026\clases\semana-05\02-2\ppt\source\assets\gh-ejecucion-2-tres-rojos-recor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82496"/>
            <a:ext cx="5120640" cy="31034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8368" y="484077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tres trabajos llegaron a ejecutar sus comandos.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053328" y="1682496"/>
            <a:ext cx="547999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053328" y="1682496"/>
            <a:ext cx="54864" cy="118872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254496" y="1755648"/>
            <a:ext cx="37426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Controles estáticos</a:t>
            </a:r>
            <a:endParaRPr lang="en-US" sz="1140" dirty="0"/>
          </a:p>
        </p:txBody>
      </p:sp>
      <p:sp>
        <p:nvSpPr>
          <p:cNvPr id="16" name="Shape 12"/>
          <p:cNvSpPr/>
          <p:nvPr/>
        </p:nvSpPr>
        <p:spPr>
          <a:xfrm>
            <a:off x="10106863" y="1773936"/>
            <a:ext cx="1298448" cy="23774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106863" y="178308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</a:t>
            </a:r>
            <a:endParaRPr lang="en-US" sz="860" dirty="0"/>
          </a:p>
        </p:txBody>
      </p:sp>
      <p:sp>
        <p:nvSpPr>
          <p:cNvPr id="18" name="Text 14"/>
          <p:cNvSpPr txBox="1"/>
          <p:nvPr/>
        </p:nvSpPr>
        <p:spPr>
          <a:xfrm>
            <a:off x="6254496" y="2048256"/>
            <a:ext cx="51142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Failed to spawn: `ruff`</a:t>
            </a:r>
            <a:endParaRPr lang="en-US" sz="960" dirty="0"/>
          </a:p>
        </p:txBody>
      </p:sp>
      <p:sp>
        <p:nvSpPr>
          <p:cNvPr id="19" name="Text 15"/>
          <p:cNvSpPr txBox="1"/>
          <p:nvPr/>
        </p:nvSpPr>
        <p:spPr>
          <a:xfrm>
            <a:off x="6254496" y="2304288"/>
            <a:ext cx="51142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Nunca declaró ruff ni pyrefly como dependencias.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6053328" y="2962656"/>
            <a:ext cx="547999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053328" y="2962656"/>
            <a:ext cx="54864" cy="118872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254496" y="3035808"/>
            <a:ext cx="37426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de Python</a:t>
            </a:r>
            <a:endParaRPr lang="en-US" sz="1140" dirty="0"/>
          </a:p>
        </p:txBody>
      </p:sp>
      <p:sp>
        <p:nvSpPr>
          <p:cNvPr id="23" name="Shape 19"/>
          <p:cNvSpPr/>
          <p:nvPr/>
        </p:nvSpPr>
        <p:spPr>
          <a:xfrm>
            <a:off x="10106863" y="3054096"/>
            <a:ext cx="1298448" cy="23774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10106863" y="306324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</a:t>
            </a:r>
            <a:endParaRPr lang="en-US" sz="860" dirty="0"/>
          </a:p>
        </p:txBody>
      </p:sp>
      <p:sp>
        <p:nvSpPr>
          <p:cNvPr id="25" name="Text 21"/>
          <p:cNvSpPr txBox="1"/>
          <p:nvPr/>
        </p:nvSpPr>
        <p:spPr>
          <a:xfrm>
            <a:off x="6254496" y="3328416"/>
            <a:ext cx="51142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failed, 24 passed</a:t>
            </a:r>
            <a:endParaRPr lang="en-US" sz="960" dirty="0"/>
          </a:p>
        </p:txBody>
      </p:sp>
      <p:sp>
        <p:nvSpPr>
          <p:cNvPr id="26" name="Text 22"/>
          <p:cNvSpPr txBox="1"/>
          <p:nvPr/>
        </p:nvSpPr>
        <p:spPr>
          <a:xfrm>
            <a:off x="6254496" y="3584448"/>
            <a:ext cx="51142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suplantación: otra persona gasta la cuota de Ana —tres reservas por semana— con el RUT de ella.</a:t>
            </a:r>
            <a:endParaRPr lang="en-US" sz="980" dirty="0"/>
          </a:p>
        </p:txBody>
      </p:sp>
      <p:sp>
        <p:nvSpPr>
          <p:cNvPr id="27" name="Shape 23"/>
          <p:cNvSpPr/>
          <p:nvPr/>
        </p:nvSpPr>
        <p:spPr>
          <a:xfrm>
            <a:off x="6053328" y="4242816"/>
            <a:ext cx="547999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053328" y="4242816"/>
            <a:ext cx="54864" cy="118872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6254496" y="4315968"/>
            <a:ext cx="37426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Extremo a extremo</a:t>
            </a:r>
            <a:endParaRPr lang="en-US" sz="1140" dirty="0"/>
          </a:p>
        </p:txBody>
      </p:sp>
      <p:sp>
        <p:nvSpPr>
          <p:cNvPr id="30" name="Shape 26"/>
          <p:cNvSpPr/>
          <p:nvPr/>
        </p:nvSpPr>
        <p:spPr>
          <a:xfrm>
            <a:off x="10106863" y="4334256"/>
            <a:ext cx="1298448" cy="23774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0106863" y="434340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</a:t>
            </a:r>
            <a:endParaRPr lang="en-US" sz="860" dirty="0"/>
          </a:p>
        </p:txBody>
      </p:sp>
      <p:sp>
        <p:nvSpPr>
          <p:cNvPr id="32" name="Text 28"/>
          <p:cNvSpPr txBox="1"/>
          <p:nvPr/>
        </p:nvSpPr>
        <p:spPr>
          <a:xfrm>
            <a:off x="6254496" y="4608576"/>
            <a:ext cx="51142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failed, 21 passed</a:t>
            </a:r>
            <a:endParaRPr lang="en-US" sz="960" dirty="0"/>
          </a:p>
        </p:txBody>
      </p:sp>
      <p:sp>
        <p:nvSpPr>
          <p:cNvPr id="33" name="Text 29"/>
          <p:cNvSpPr txBox="1"/>
          <p:nvPr/>
        </p:nvSpPr>
        <p:spPr>
          <a:xfrm>
            <a:off x="6254496" y="4864608"/>
            <a:ext cx="511423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falta un dato, la pantalla muestra [object Object] en vez de decir cuál; y la página no cabe en 320 píxeles. En los tres navegadores.</a:t>
            </a:r>
            <a:endParaRPr lang="en-US" sz="980" dirty="0"/>
          </a:p>
        </p:txBody>
      </p:sp>
      <p:sp>
        <p:nvSpPr>
          <p:cNvPr id="34" name="Shape 30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pipeline en rojo no es un problema: son tres, cada uno con su dueño.</a:t>
            </a:r>
            <a:endParaRPr lang="en-US" sz="13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UN ROJO DEL PROYECTO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Funcionaba porque nadie lo había pedido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719072"/>
            <a:ext cx="10874959" cy="1036574"/>
          </a:xfrm>
          <a:prstGeom prst="roundRect">
            <a:avLst>
              <a:gd name="adj" fmla="val 4411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18388" y="1851660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73836" y="1851660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29284" y="1851660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53312" y="1801368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Controles estáticos · paso uv run ruff check .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859536" y="2194560"/>
            <a:ext cx="10472623" cy="216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error: Failed to spawn: `ruff`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59536" y="2411095"/>
            <a:ext cx="10472623" cy="216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cause: No such file or directory (os error 2)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" y="2761488"/>
            <a:ext cx="108749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español: no se pudo lanzar ruff, porque no existe.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8368" y="3163824"/>
            <a:ext cx="52546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3163824"/>
            <a:ext cx="54864" cy="1481328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3291840"/>
            <a:ext cx="479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HASTA AHORA</a:t>
            </a:r>
            <a:endParaRPr lang="en-US" sz="960" dirty="0"/>
          </a:p>
        </p:txBody>
      </p:sp>
      <p:sp>
        <p:nvSpPr>
          <p:cNvPr id="21" name="Text 18"/>
          <p:cNvSpPr txBox="1"/>
          <p:nvPr/>
        </p:nvSpPr>
        <p:spPr>
          <a:xfrm>
            <a:off x="914400" y="3566160"/>
            <a:ext cx="479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--with ruff ruff check .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914400" y="3913632"/>
            <a:ext cx="4797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--with lo instala solo para ese comando. Funcionaba, sin que el proyecto dijera que lo necesitaba.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278728" y="3163824"/>
            <a:ext cx="5254600" cy="1481328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78728" y="3163824"/>
            <a:ext cx="54864" cy="148132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34760" y="3291840"/>
            <a:ext cx="479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SERVIDOR</a:t>
            </a:r>
            <a:endParaRPr lang="en-US" sz="960" dirty="0"/>
          </a:p>
        </p:txBody>
      </p:sp>
      <p:sp>
        <p:nvSpPr>
          <p:cNvPr id="26" name="Text 23"/>
          <p:cNvSpPr txBox="1"/>
          <p:nvPr/>
        </p:nvSpPr>
        <p:spPr>
          <a:xfrm>
            <a:off x="6534760" y="3566160"/>
            <a:ext cx="479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ruff check .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534760" y="3913632"/>
            <a:ext cx="4797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 exactamente lo que el proyecto declara. ruff no estaba.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58368" y="4791456"/>
            <a:ext cx="5120640" cy="808228"/>
          </a:xfrm>
          <a:prstGeom prst="roundRect">
            <a:avLst>
              <a:gd name="adj" fmla="val 5657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18388" y="492404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73836" y="492404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129284" y="492404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353312" y="4873752"/>
            <a:ext cx="4242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corrección: declararlas como dependencias de desarrollo</a:t>
            </a:r>
            <a:endParaRPr lang="en-US" sz="940" dirty="0"/>
          </a:p>
        </p:txBody>
      </p:sp>
      <p:sp>
        <p:nvSpPr>
          <p:cNvPr id="33" name="Text 30"/>
          <p:cNvSpPr/>
          <p:nvPr/>
        </p:nvSpPr>
        <p:spPr>
          <a:xfrm>
            <a:off x="859536" y="5266944"/>
            <a:ext cx="4718304" cy="204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uv add --dev ruff pyrefly</a:t>
            </a:r>
            <a:endParaRPr lang="en-US" sz="1040" dirty="0"/>
          </a:p>
        </p:txBody>
      </p:sp>
      <p:sp>
        <p:nvSpPr>
          <p:cNvPr id="34" name="Text 31"/>
          <p:cNvSpPr txBox="1"/>
          <p:nvPr/>
        </p:nvSpPr>
        <p:spPr>
          <a:xfrm>
            <a:off x="6053328" y="4791456"/>
            <a:ext cx="547999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Cualquiera que clonara el repositorio habría tenido el mismo error. Las de desarrollo se necesitan para trabajar en el proyecto, no para que funcione.</a:t>
            </a:r>
            <a:endParaRPr lang="en-US" sz="10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UN DETALLE DE LA SALIDA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Otro número, el mismo veredicto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0482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Windows · Chromium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58368" y="23408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sesiones anteriores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2852928" y="2084832"/>
            <a:ext cx="7044541" cy="42062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07197" y="2103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514 píxeles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29626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· Linux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325526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tres navegadores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2852928" y="2999232"/>
            <a:ext cx="7674986" cy="42062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637642" y="30175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560 píxeles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238634" y="1828800"/>
            <a:ext cx="0" cy="2103120"/>
          </a:xfrm>
          <a:prstGeom prst="line">
            <a:avLst/>
          </a:prstGeom>
          <a:noFill/>
          <a:ln w="12700">
            <a:solidFill>
              <a:srgbClr val="2E7D4F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5318394" y="395020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umbral: no más de 320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58368" y="4389120"/>
            <a:ext cx="52546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4389120"/>
            <a:ext cx="54864" cy="10241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96112" y="4443984"/>
            <a:ext cx="485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causa más probable son las fuentes tipográficas, distintas en Windows y en Linux: el mismo texto ocupa otro ancho. No se investigó más.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6278728" y="4389120"/>
            <a:ext cx="5254600" cy="1024128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16472" y="4443984"/>
            <a:ext cx="4852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afirma «no más de 320», no «exactamente 514». Por eso sigue siendo válida en otro entorno.</a:t>
            </a:r>
            <a:endParaRPr lang="en-US" sz="1140" dirty="0"/>
          </a:p>
        </p:txBody>
      </p:sp>
      <p:sp>
        <p:nvSpPr>
          <p:cNvPr id="25" name="Shape 22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número vale para el entorno donde se midió. El umbral hace que el veredicto no dependa de él.</a:t>
            </a:r>
            <a:endParaRPr lang="en-US" sz="13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EJECUCIÓN 3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Corregir un rojo revela el siguiente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1125583" y="1664208"/>
            <a:ext cx="4826290" cy="4059936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11" name="Image 1" descr="C:\Users\Diego Obando\dev\pro402-taller-de-testing-2026\clases\semana-05\02-2\ppt\source\assets\gh-ejecucion-3-pasos-ruff-recor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871" y="1682496"/>
            <a:ext cx="4789714" cy="40233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43871" y="5760720"/>
            <a:ext cx="47897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pasos del trabajo de controles estáticos, en GitHub.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693408" y="1682496"/>
            <a:ext cx="4839919" cy="1327912"/>
          </a:xfrm>
          <a:prstGeom prst="roundRect">
            <a:avLst>
              <a:gd name="adj" fmla="val 3443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3428" y="1815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08876" y="1815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64324" y="1815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388352" y="1764792"/>
            <a:ext cx="39620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 run ruff check .</a:t>
            </a:r>
            <a:endParaRPr lang="en-US" sz="940" dirty="0"/>
          </a:p>
        </p:txBody>
      </p:sp>
      <p:sp>
        <p:nvSpPr>
          <p:cNvPr id="18" name="Text 14"/>
          <p:cNvSpPr/>
          <p:nvPr/>
        </p:nvSpPr>
        <p:spPr>
          <a:xfrm>
            <a:off x="6894576" y="2157984"/>
            <a:ext cx="4437583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I001 [*] Import block is un-sorted</a:t>
            </a:r>
            <a:endParaRPr lang="en-US" sz="920" dirty="0"/>
          </a:p>
        </p:txBody>
      </p:sp>
      <p:sp>
        <p:nvSpPr>
          <p:cNvPr id="19" name="Text 15"/>
          <p:cNvSpPr/>
          <p:nvPr/>
        </p:nvSpPr>
        <p:spPr>
          <a:xfrm>
            <a:off x="6894576" y="2339086"/>
            <a:ext cx="4437583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--&gt; test_concurrencia.py:1:1</a:t>
            </a:r>
            <a:endParaRPr lang="en-US" sz="920" dirty="0"/>
          </a:p>
        </p:txBody>
      </p:sp>
      <p:sp>
        <p:nvSpPr>
          <p:cNvPr id="20" name="Text 16"/>
          <p:cNvSpPr/>
          <p:nvPr/>
        </p:nvSpPr>
        <p:spPr>
          <a:xfrm>
            <a:off x="6894576" y="2520188"/>
            <a:ext cx="4437583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 1 error.</a:t>
            </a:r>
            <a:endParaRPr lang="en-US" sz="920" dirty="0"/>
          </a:p>
        </p:txBody>
      </p:sp>
      <p:sp>
        <p:nvSpPr>
          <p:cNvPr id="21" name="Text 17"/>
          <p:cNvSpPr/>
          <p:nvPr/>
        </p:nvSpPr>
        <p:spPr>
          <a:xfrm>
            <a:off x="6894576" y="2701290"/>
            <a:ext cx="4437583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[*] 1 fixable with the `--fix` option.</a:t>
            </a:r>
            <a:endParaRPr lang="en-US" sz="920" dirty="0"/>
          </a:p>
        </p:txBody>
      </p:sp>
      <p:sp>
        <p:nvSpPr>
          <p:cNvPr id="22" name="Text 18"/>
          <p:cNvSpPr txBox="1"/>
          <p:nvPr/>
        </p:nvSpPr>
        <p:spPr>
          <a:xfrm>
            <a:off x="6693408" y="3054096"/>
            <a:ext cx="483991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bloque de importaciones está desordenado; ruff puede corregirlo solo con --fix. El problema existía antes: ruff ni siquiera llegaba a ejecutarse.</a:t>
            </a:r>
            <a:endParaRPr lang="en-US" sz="1040" dirty="0"/>
          </a:p>
        </p:txBody>
      </p:sp>
      <p:sp>
        <p:nvSpPr>
          <p:cNvPr id="23" name="Shape 19"/>
          <p:cNvSpPr/>
          <p:nvPr/>
        </p:nvSpPr>
        <p:spPr>
          <a:xfrm>
            <a:off x="6693408" y="3968496"/>
            <a:ext cx="4839919" cy="100584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693408" y="3968496"/>
            <a:ext cx="54864" cy="100584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912864" y="4023360"/>
            <a:ext cx="4474159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Mira el paso pyrefly en la captura: un círculo tachado. Cuando un paso falla, los siguientes del mismo trabajo se saltan. No se sabe si pyrefly pasa.</a:t>
            </a:r>
            <a:endParaRPr lang="en-US" sz="1040" dirty="0"/>
          </a:p>
        </p:txBody>
      </p:sp>
      <p:sp>
        <p:nvSpPr>
          <p:cNvPr id="26" name="Shape 22"/>
          <p:cNvSpPr/>
          <p:nvPr/>
        </p:nvSpPr>
        <p:spPr>
          <a:xfrm>
            <a:off x="6693408" y="5102352"/>
            <a:ext cx="4839919" cy="792480"/>
          </a:xfrm>
          <a:prstGeom prst="roundRect">
            <a:avLst>
              <a:gd name="adj" fmla="val 5769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853428" y="5234940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008876" y="5234940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7164324" y="5234940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388352" y="5184648"/>
            <a:ext cx="39620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corrección</a:t>
            </a:r>
            <a:endParaRPr lang="en-US" sz="940" dirty="0"/>
          </a:p>
        </p:txBody>
      </p:sp>
      <p:sp>
        <p:nvSpPr>
          <p:cNvPr id="31" name="Text 27"/>
          <p:cNvSpPr/>
          <p:nvPr/>
        </p:nvSpPr>
        <p:spPr>
          <a:xfrm>
            <a:off x="6894576" y="5577840"/>
            <a:ext cx="4437583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uv run ruff check --fix .</a:t>
            </a:r>
            <a:endParaRPr lang="en-US" sz="9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EJECUCIÓN 4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estado desde el que se decide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1664208"/>
            <a:ext cx="5431536" cy="3306249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11" name="Image 1" descr="C:\Users\Diego Obando\dev\pro402-taller-de-testing-2026\clases\semana-05\02-2\ppt\source\assets\gh-ejecucion-4-estaticos-verdes-recor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82496"/>
            <a:ext cx="5394960" cy="326967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8368" y="5007033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Controles estáticos en verde; las dos suites, en rojo.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327648" y="1682496"/>
            <a:ext cx="5205679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510528" y="1773936"/>
            <a:ext cx="48399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8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QUEDA EN ROJO</a:t>
            </a:r>
            <a:endParaRPr lang="en-US" sz="960" dirty="0"/>
          </a:p>
        </p:txBody>
      </p:sp>
      <p:sp>
        <p:nvSpPr>
          <p:cNvPr id="15" name="Shape 11"/>
          <p:cNvSpPr/>
          <p:nvPr/>
        </p:nvSpPr>
        <p:spPr>
          <a:xfrm>
            <a:off x="6519672" y="2231136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28816" y="22402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6876288" y="2157984"/>
            <a:ext cx="44741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Controles estáticos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8930488" y="2157984"/>
            <a:ext cx="241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checks passed! · 0 errors</a:t>
            </a:r>
            <a:endParaRPr lang="en-US" sz="880" dirty="0"/>
          </a:p>
        </p:txBody>
      </p:sp>
      <p:sp>
        <p:nvSpPr>
          <p:cNvPr id="19" name="Shape 15"/>
          <p:cNvSpPr/>
          <p:nvPr/>
        </p:nvSpPr>
        <p:spPr>
          <a:xfrm>
            <a:off x="6519672" y="2688336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28816" y="26974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6876288" y="2615184"/>
            <a:ext cx="44741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de Python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8930488" y="2615184"/>
            <a:ext cx="241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 suplantación</a:t>
            </a:r>
            <a:endParaRPr lang="en-US" sz="880" dirty="0"/>
          </a:p>
        </p:txBody>
      </p:sp>
      <p:sp>
        <p:nvSpPr>
          <p:cNvPr id="23" name="Shape 19"/>
          <p:cNvSpPr/>
          <p:nvPr/>
        </p:nvSpPr>
        <p:spPr>
          <a:xfrm>
            <a:off x="6519672" y="3145536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528816" y="31546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000" dirty="0"/>
          </a:p>
        </p:txBody>
      </p:sp>
      <p:sp>
        <p:nvSpPr>
          <p:cNvPr id="25" name="Text 21"/>
          <p:cNvSpPr txBox="1"/>
          <p:nvPr/>
        </p:nvSpPr>
        <p:spPr>
          <a:xfrm>
            <a:off x="6876288" y="3072384"/>
            <a:ext cx="44741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Extremo a extremo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8930488" y="3072384"/>
            <a:ext cx="2419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[object Object] · 320 px</a:t>
            </a:r>
            <a:endParaRPr lang="en-US" sz="880" dirty="0"/>
          </a:p>
        </p:txBody>
      </p:sp>
      <p:sp>
        <p:nvSpPr>
          <p:cNvPr id="27" name="Shape 23"/>
          <p:cNvSpPr/>
          <p:nvPr/>
        </p:nvSpPr>
        <p:spPr>
          <a:xfrm>
            <a:off x="6327648" y="3712464"/>
            <a:ext cx="5205679" cy="1481328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565392" y="3785616"/>
            <a:ext cx="4803343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quedan rojos del sistema, y todos se conocían. Hay dos formas de llegar al verde: corregir los tres defectos, o dejar de preguntarlos.</a:t>
            </a:r>
            <a:endParaRPr lang="en-US" sz="1240" dirty="0"/>
          </a:p>
        </p:txBody>
      </p:sp>
      <p:sp>
        <p:nvSpPr>
          <p:cNvPr id="29" name="Shape 25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segunda es la tentación de todo equipo con prisa, y es el tema del bloque 2.</a:t>
            </a:r>
            <a:endParaRPr lang="en-US" sz="13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EL HISTORIAL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ejecución queda registrada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40080" y="1664208"/>
            <a:ext cx="4380095" cy="3657600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11" name="Image 1" descr="C:\Users\Diego Obando\dev\pro402-taller-de-testing-2026\clases\semana-05\02-2\ppt\source\assets\gh-historial-m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82496"/>
            <a:ext cx="4343519" cy="36210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8368" y="5358384"/>
            <a:ext cx="43435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ejecuciones de main, de la más reciente a la primera.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961888" y="1682496"/>
            <a:ext cx="5571439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961888" y="1682496"/>
            <a:ext cx="54864" cy="118872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181344" y="1773936"/>
            <a:ext cx="52056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historial también es evidencia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181344" y="2066544"/>
            <a:ext cx="51691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qué se encontró, en qué orden y cómo se corrigió. Un pipeline en verde desde el primer día no puede mostrar eso.</a:t>
            </a:r>
            <a:endParaRPr lang="en-US" sz="1060" dirty="0"/>
          </a:p>
        </p:txBody>
      </p:sp>
      <p:sp>
        <p:nvSpPr>
          <p:cNvPr id="17" name="Text 13"/>
          <p:cNvSpPr txBox="1"/>
          <p:nvPr/>
        </p:nvSpPr>
        <p:spPr>
          <a:xfrm>
            <a:off x="5961888" y="3054096"/>
            <a:ext cx="55714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CAMBIA SIN QUE NADIE TOQUE EL REPOSITORIO</a:t>
            </a:r>
            <a:endParaRPr lang="en-US" sz="960" dirty="0"/>
          </a:p>
        </p:txBody>
      </p:sp>
      <p:sp>
        <p:nvSpPr>
          <p:cNvPr id="18" name="Shape 14"/>
          <p:cNvSpPr/>
          <p:nvPr/>
        </p:nvSpPr>
        <p:spPr>
          <a:xfrm>
            <a:off x="5961888" y="3328416"/>
            <a:ext cx="5571439" cy="942086"/>
          </a:xfrm>
          <a:prstGeom prst="roundRect">
            <a:avLst>
              <a:gd name="adj" fmla="val 4853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21908" y="346100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77356" y="346100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432804" y="346100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656832" y="3410712"/>
            <a:ext cx="46936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advertencia de la propia ejecución</a:t>
            </a:r>
            <a:endParaRPr lang="en-US" sz="940" dirty="0"/>
          </a:p>
        </p:txBody>
      </p:sp>
      <p:sp>
        <p:nvSpPr>
          <p:cNvPr id="23" name="Text 19"/>
          <p:cNvSpPr/>
          <p:nvPr/>
        </p:nvSpPr>
        <p:spPr>
          <a:xfrm>
            <a:off x="6163056" y="3803904"/>
            <a:ext cx="5169103" cy="169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ubuntu-latest label will migrate</a:t>
            </a:r>
            <a:endParaRPr lang="en-US" sz="860" dirty="0"/>
          </a:p>
        </p:txBody>
      </p:sp>
      <p:sp>
        <p:nvSpPr>
          <p:cNvPr id="24" name="Text 20"/>
          <p:cNvSpPr/>
          <p:nvPr/>
        </p:nvSpPr>
        <p:spPr>
          <a:xfrm>
            <a:off x="6163056" y="3973195"/>
            <a:ext cx="5169103" cy="169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Ubuntu 26 beginning October 19, 2026.</a:t>
            </a:r>
            <a:endParaRPr lang="en-US" sz="860" dirty="0"/>
          </a:p>
        </p:txBody>
      </p:sp>
      <p:sp>
        <p:nvSpPr>
          <p:cNvPr id="25" name="Text 21"/>
          <p:cNvSpPr txBox="1"/>
          <p:nvPr/>
        </p:nvSpPr>
        <p:spPr>
          <a:xfrm>
            <a:off x="5961888" y="4334256"/>
            <a:ext cx="55714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latest significa «la más reciente», y la más reciente cambia sola. Lo mismo con Python: .python-version, el archivo que fija la versión del proyecto, dice 3.13, y el servidor instaló la 3.13.15; las sesiones anteriores usaron la 3.13.11.</a:t>
            </a:r>
            <a:endParaRPr lang="en-US" sz="1040" dirty="0"/>
          </a:p>
        </p:txBody>
      </p:sp>
      <p:sp>
        <p:nvSpPr>
          <p:cNvPr id="26" name="Shape 22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Fijar una versión exacta o dejarla abierta: las dos son legítimas si se sabe cuál se eligió.</a:t>
            </a:r>
            <a:endParaRPr lang="en-US" sz="13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CIERRE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antes de decidir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preguntas para comprobar la idea central antes de seguir.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10874959" cy="109728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139696"/>
            <a:ext cx="54864" cy="109728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228600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591056" y="2267712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primera ejecución falló en 8 segundos sin ejecutar ninguna prueba. ¿Dice algo sobre la calidad del sistema de reservas?</a:t>
            </a:r>
            <a:endParaRPr lang="en-US" sz="1340" dirty="0"/>
          </a:p>
        </p:txBody>
      </p:sp>
      <p:sp>
        <p:nvSpPr>
          <p:cNvPr id="15" name="Shape 12"/>
          <p:cNvSpPr/>
          <p:nvPr/>
        </p:nvSpPr>
        <p:spPr>
          <a:xfrm>
            <a:off x="1591056" y="2798064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1591056" y="288950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17" name="Text 14"/>
          <p:cNvSpPr txBox="1"/>
          <p:nvPr/>
        </p:nvSpPr>
        <p:spPr>
          <a:xfrm>
            <a:off x="2286000" y="2862072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en qué paso falló y qué decía el mensaje. ¿Qué archivo había que corregir, y es parte del sistema?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658368" y="3364992"/>
            <a:ext cx="10874959" cy="109728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3364992"/>
            <a:ext cx="54864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3511296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1591056" y="3493008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 funcionaba antes y en el servidor no se pudo ejecutar. Un compañero dice que el problema es del servidor. ¿Tiene razón?</a:t>
            </a:r>
            <a:endParaRPr lang="en-US" sz="1340" dirty="0"/>
          </a:p>
        </p:txBody>
      </p:sp>
      <p:sp>
        <p:nvSpPr>
          <p:cNvPr id="22" name="Shape 19"/>
          <p:cNvSpPr/>
          <p:nvPr/>
        </p:nvSpPr>
        <p:spPr>
          <a:xfrm>
            <a:off x="1591056" y="4023360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 txBox="1"/>
          <p:nvPr/>
        </p:nvSpPr>
        <p:spPr>
          <a:xfrm>
            <a:off x="1591056" y="41148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24" name="Text 21"/>
          <p:cNvSpPr txBox="1"/>
          <p:nvPr/>
        </p:nvSpPr>
        <p:spPr>
          <a:xfrm>
            <a:off x="2286000" y="4087368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 el comando que se usaba antes con el del pipeline. ¿Qué habría pasado si otra persona hubiera clonado el repositorio?</a:t>
            </a:r>
            <a:endParaRPr lang="en-US" sz="1140" dirty="0"/>
          </a:p>
        </p:txBody>
      </p:sp>
      <p:sp>
        <p:nvSpPr>
          <p:cNvPr id="25" name="Shape 22"/>
          <p:cNvSpPr/>
          <p:nvPr/>
        </p:nvSpPr>
        <p:spPr>
          <a:xfrm>
            <a:off x="658368" y="4590288"/>
            <a:ext cx="10874959" cy="109728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8368" y="4590288"/>
            <a:ext cx="54864" cy="10972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736592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1591056" y="4718304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Windows la página medía 514 píxeles y en el servidor 560. ¿Cuál de los dos es el resultado correcto de la prueba?</a:t>
            </a:r>
            <a:endParaRPr lang="en-US" sz="1340" dirty="0"/>
          </a:p>
        </p:txBody>
      </p:sp>
      <p:sp>
        <p:nvSpPr>
          <p:cNvPr id="29" name="Shape 26"/>
          <p:cNvSpPr/>
          <p:nvPr/>
        </p:nvSpPr>
        <p:spPr>
          <a:xfrm>
            <a:off x="1591056" y="5248656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0" name="Text 27"/>
          <p:cNvSpPr txBox="1"/>
          <p:nvPr/>
        </p:nvSpPr>
        <p:spPr>
          <a:xfrm>
            <a:off x="1591056" y="534009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31" name="Text 28"/>
          <p:cNvSpPr txBox="1"/>
          <p:nvPr/>
        </p:nvSpPr>
        <p:spPr>
          <a:xfrm>
            <a:off x="2286000" y="5312664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Mira qué afirma la prueba: un valor exacto o un límite. ¿Cambió el veredicto entre los dos entornos?</a:t>
            </a:r>
            <a:endParaRPr lang="en-US" sz="11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CONTRASTE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tenía que aparecer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respuestas conservan el mismo orden y color que las preguntas.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139696"/>
            <a:ext cx="54864" cy="124358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6112" y="23042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1591056" y="224942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NADA: FALLÓ EL PIPELINE</a:t>
            </a:r>
            <a:endParaRPr lang="en-US" sz="830" dirty="0"/>
          </a:p>
        </p:txBody>
      </p:sp>
      <p:sp>
        <p:nvSpPr>
          <p:cNvPr id="15" name="Text 12"/>
          <p:cNvSpPr txBox="1"/>
          <p:nvPr/>
        </p:nvSpPr>
        <p:spPr>
          <a:xfrm>
            <a:off x="1591056" y="2468880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error estaba en el archivo de configuración, no en el código de la aplicación.</a:t>
            </a:r>
            <a:endParaRPr lang="en-US" sz="1240" dirty="0"/>
          </a:p>
        </p:txBody>
      </p:sp>
      <p:sp>
        <p:nvSpPr>
          <p:cNvPr id="16" name="Shape 13"/>
          <p:cNvSpPr/>
          <p:nvPr/>
        </p:nvSpPr>
        <p:spPr>
          <a:xfrm>
            <a:off x="1591056" y="2871216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1591056" y="2962656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2871216" y="2935224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corregir un rojo hay que saber quién falló.</a:t>
            </a:r>
            <a:endParaRPr lang="en-US" sz="1020" dirty="0"/>
          </a:p>
        </p:txBody>
      </p:sp>
      <p:sp>
        <p:nvSpPr>
          <p:cNvPr id="19" name="Text 16"/>
          <p:cNvSpPr txBox="1"/>
          <p:nvPr/>
        </p:nvSpPr>
        <p:spPr>
          <a:xfrm>
            <a:off x="6784848" y="2962656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138160" y="293522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todo rojo como un defecto del sistema.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658368" y="3493008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" y="3493008"/>
            <a:ext cx="54864" cy="12435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96112" y="36576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700" dirty="0"/>
          </a:p>
        </p:txBody>
      </p:sp>
      <p:sp>
        <p:nvSpPr>
          <p:cNvPr id="24" name="Text 21"/>
          <p:cNvSpPr txBox="1"/>
          <p:nvPr/>
        </p:nvSpPr>
        <p:spPr>
          <a:xfrm>
            <a:off x="1591056" y="360273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NO: EL PROBLEMA ERA DEL PROYECTO</a:t>
            </a:r>
            <a:endParaRPr lang="en-US" sz="830" dirty="0"/>
          </a:p>
        </p:txBody>
      </p:sp>
      <p:sp>
        <p:nvSpPr>
          <p:cNvPr id="25" name="Text 22"/>
          <p:cNvSpPr txBox="1"/>
          <p:nvPr/>
        </p:nvSpPr>
        <p:spPr>
          <a:xfrm>
            <a:off x="1591056" y="3822192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nunca declaró ruff; cualquiera que lo clonara habría tenido el mismo error.</a:t>
            </a:r>
            <a:endParaRPr lang="en-US" sz="1240" dirty="0"/>
          </a:p>
        </p:txBody>
      </p:sp>
      <p:sp>
        <p:nvSpPr>
          <p:cNvPr id="26" name="Shape 23"/>
          <p:cNvSpPr/>
          <p:nvPr/>
        </p:nvSpPr>
        <p:spPr>
          <a:xfrm>
            <a:off x="1591056" y="4224528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 txBox="1"/>
          <p:nvPr/>
        </p:nvSpPr>
        <p:spPr>
          <a:xfrm>
            <a:off x="1591056" y="4315968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2871216" y="4288536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pipeline instala solo lo que el repositorio declara.</a:t>
            </a:r>
            <a:endParaRPr lang="en-US" sz="102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4315968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8138160" y="428853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Culpar al servidor de lo que el proyecto no dice.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658368" y="4846320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368" y="4846320"/>
            <a:ext cx="54864" cy="124358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96112" y="501091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700" dirty="0"/>
          </a:p>
        </p:txBody>
      </p:sp>
      <p:sp>
        <p:nvSpPr>
          <p:cNvPr id="34" name="Text 31"/>
          <p:cNvSpPr txBox="1"/>
          <p:nvPr/>
        </p:nvSpPr>
        <p:spPr>
          <a:xfrm>
            <a:off x="1591056" y="49560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DOS: EL VEREDICTO ES EL MISMO</a:t>
            </a:r>
            <a:endParaRPr lang="en-US" sz="830" dirty="0"/>
          </a:p>
        </p:txBody>
      </p:sp>
      <p:sp>
        <p:nvSpPr>
          <p:cNvPr id="35" name="Text 32"/>
          <p:cNvSpPr txBox="1"/>
          <p:nvPr/>
        </p:nvSpPr>
        <p:spPr>
          <a:xfrm>
            <a:off x="1591056" y="5175504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afirma «no más de 320», y ninguno de los dos cumple.</a:t>
            </a:r>
            <a:endParaRPr lang="en-US" sz="1240" dirty="0"/>
          </a:p>
        </p:txBody>
      </p:sp>
      <p:sp>
        <p:nvSpPr>
          <p:cNvPr id="36" name="Shape 33"/>
          <p:cNvSpPr/>
          <p:nvPr/>
        </p:nvSpPr>
        <p:spPr>
          <a:xfrm>
            <a:off x="1591056" y="5577840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7" name="Text 34"/>
          <p:cNvSpPr txBox="1"/>
          <p:nvPr/>
        </p:nvSpPr>
        <p:spPr>
          <a:xfrm>
            <a:off x="1591056" y="56692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2871216" y="5641848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umbral mantiene la prueba válida en otro entorno.</a:t>
            </a:r>
            <a:endParaRPr lang="en-US" sz="1020" dirty="0"/>
          </a:p>
        </p:txBody>
      </p:sp>
      <p:sp>
        <p:nvSpPr>
          <p:cNvPr id="39" name="Text 36"/>
          <p:cNvSpPr txBox="1"/>
          <p:nvPr/>
        </p:nvSpPr>
        <p:spPr>
          <a:xfrm>
            <a:off x="6784848" y="5669280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8138160" y="564184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Escribir la prueba contra el número exacto de una máquina.</a:t>
            </a:r>
            <a:endParaRPr lang="en-US" sz="10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371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DE 4 · 30 MINUTOS</a:t>
            </a:r>
            <a:endParaRPr lang="en-US" sz="96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810512"/>
            <a:ext cx="978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verde honesto</a:t>
            </a:r>
            <a:endParaRPr lang="en-US" sz="4400" dirty="0"/>
          </a:p>
        </p:txBody>
      </p:sp>
      <p:sp>
        <p:nvSpPr>
          <p:cNvPr id="10" name="Shape 7"/>
          <p:cNvSpPr/>
          <p:nvPr/>
        </p:nvSpPr>
        <p:spPr>
          <a:xfrm>
            <a:off x="658368" y="3346704"/>
            <a:ext cx="3840480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 txBox="1"/>
          <p:nvPr/>
        </p:nvSpPr>
        <p:spPr>
          <a:xfrm>
            <a:off x="658368" y="3602736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Llevar el pipeline a verde sin esconder lo que se sabe: marcar los defectos conocidos, dejarlos por escrito, y programar lo que depende del tiempo y no de los cambios.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58368" y="4901184"/>
            <a:ext cx="2622728" cy="78638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" y="5001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5184648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</a:t>
            </a:r>
            <a:endParaRPr lang="en-US" sz="116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5422392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la suite corra sola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3409112" y="4901184"/>
            <a:ext cx="2622728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591992" y="5001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3591992" y="5184648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</a:t>
            </a:r>
            <a:endParaRPr lang="en-US" sz="1160" dirty="0"/>
          </a:p>
        </p:txBody>
      </p:sp>
      <p:sp>
        <p:nvSpPr>
          <p:cNvPr id="19" name="Text 16"/>
          <p:cNvSpPr txBox="1"/>
          <p:nvPr/>
        </p:nvSpPr>
        <p:spPr>
          <a:xfrm>
            <a:off x="3591992" y="5422392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hacer con los rojos conocidos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6159856" y="4901184"/>
            <a:ext cx="2622728" cy="78638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42736" y="5001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342736" y="5184648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ESTABILIZAR</a:t>
            </a:r>
            <a:endParaRPr lang="en-US" sz="1160" dirty="0"/>
          </a:p>
        </p:txBody>
      </p:sp>
      <p:sp>
        <p:nvSpPr>
          <p:cNvPr id="23" name="Text 20"/>
          <p:cNvSpPr txBox="1"/>
          <p:nvPr/>
        </p:nvSpPr>
        <p:spPr>
          <a:xfrm>
            <a:off x="6342736" y="5422392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que pasa y falla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8910599" y="4901184"/>
            <a:ext cx="2622728" cy="78638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093479" y="5001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9093479" y="5184648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PROTEGER</a:t>
            </a:r>
            <a:endParaRPr lang="en-US" sz="1160" dirty="0"/>
          </a:p>
        </p:txBody>
      </p:sp>
      <p:sp>
        <p:nvSpPr>
          <p:cNvPr id="27" name="Text 24"/>
          <p:cNvSpPr txBox="1"/>
          <p:nvPr/>
        </p:nvSpPr>
        <p:spPr>
          <a:xfrm>
            <a:off x="9093479" y="5422392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un rojo no se integre</a:t>
            </a:r>
            <a:endParaRPr lang="en-US" sz="9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EL PROBLEMA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pipeline siempre en rojo ya no avisa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00784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defectos conocidos, ninguno se corrige hoy: cada uno espera una decisión que no es técnica.</a:t>
            </a:r>
            <a:endParaRPr lang="en-US" sz="1240" dirty="0"/>
          </a:p>
        </p:txBody>
      </p:sp>
      <p:sp>
        <p:nvSpPr>
          <p:cNvPr id="11" name="Shape 8"/>
          <p:cNvSpPr/>
          <p:nvPr/>
        </p:nvSpPr>
        <p:spPr>
          <a:xfrm>
            <a:off x="658368" y="2103120"/>
            <a:ext cx="3503066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103120"/>
            <a:ext cx="54864" cy="102412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7824" y="2176272"/>
            <a:ext cx="3137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suplantación</a:t>
            </a:r>
            <a:endParaRPr lang="en-US" sz="1240" dirty="0"/>
          </a:p>
        </p:txBody>
      </p:sp>
      <p:sp>
        <p:nvSpPr>
          <p:cNvPr id="14" name="Text 11"/>
          <p:cNvSpPr txBox="1"/>
          <p:nvPr/>
        </p:nvSpPr>
        <p:spPr>
          <a:xfrm>
            <a:off x="877824" y="2487168"/>
            <a:ext cx="313730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 decidir: Cómo se identifican las personas.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4344314" y="2103120"/>
            <a:ext cx="3503066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44314" y="2103120"/>
            <a:ext cx="54864" cy="102412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63770" y="2176272"/>
            <a:ext cx="3137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[object Object]</a:t>
            </a:r>
            <a:endParaRPr lang="en-US" sz="1240" dirty="0"/>
          </a:p>
        </p:txBody>
      </p:sp>
      <p:sp>
        <p:nvSpPr>
          <p:cNvPr id="18" name="Text 15"/>
          <p:cNvSpPr txBox="1"/>
          <p:nvPr/>
        </p:nvSpPr>
        <p:spPr>
          <a:xfrm>
            <a:off x="4563770" y="2487168"/>
            <a:ext cx="313730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 decidir: Qué dice el mensaje de cada campo.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8030261" y="2103120"/>
            <a:ext cx="3503066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30261" y="2103120"/>
            <a:ext cx="54864" cy="102412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49717" y="2176272"/>
            <a:ext cx="3137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pantalla de 320 píxeles</a:t>
            </a:r>
            <a:endParaRPr lang="en-US" sz="1240" dirty="0"/>
          </a:p>
        </p:txBody>
      </p:sp>
      <p:sp>
        <p:nvSpPr>
          <p:cNvPr id="22" name="Text 19"/>
          <p:cNvSpPr txBox="1"/>
          <p:nvPr/>
        </p:nvSpPr>
        <p:spPr>
          <a:xfrm>
            <a:off x="8249717" y="2487168"/>
            <a:ext cx="313730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Falta decidir: Cómo se rediseña la grilla, la cuadrícula de los ocho bloques.</a:t>
            </a:r>
            <a:endParaRPr lang="en-US" sz="1020" dirty="0"/>
          </a:p>
        </p:txBody>
      </p:sp>
      <p:sp>
        <p:nvSpPr>
          <p:cNvPr id="23" name="Text 20"/>
          <p:cNvSpPr txBox="1"/>
          <p:nvPr/>
        </p:nvSpPr>
        <p:spPr>
          <a:xfrm>
            <a:off x="658368" y="3383280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CINCO EJECUCIONES SEGUIDAS. ¿EN CUÁL ENTRÓ UN DEFECTO NUEVO?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658368" y="3657600"/>
            <a:ext cx="2057949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50392" y="3767328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9536" y="3776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207008" y="3767328"/>
            <a:ext cx="13264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Estáticos</a:t>
            </a:r>
            <a:endParaRPr lang="en-US" sz="940" dirty="0"/>
          </a:p>
        </p:txBody>
      </p:sp>
      <p:sp>
        <p:nvSpPr>
          <p:cNvPr id="28" name="Shape 25"/>
          <p:cNvSpPr/>
          <p:nvPr/>
        </p:nvSpPr>
        <p:spPr>
          <a:xfrm>
            <a:off x="850392" y="4078224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59536" y="4087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207008" y="4078224"/>
            <a:ext cx="13264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940" dirty="0"/>
          </a:p>
        </p:txBody>
      </p:sp>
      <p:sp>
        <p:nvSpPr>
          <p:cNvPr id="31" name="Shape 28"/>
          <p:cNvSpPr/>
          <p:nvPr/>
        </p:nvSpPr>
        <p:spPr>
          <a:xfrm>
            <a:off x="850392" y="4389120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59536" y="43982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1207008" y="4389120"/>
            <a:ext cx="13264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Navegador</a:t>
            </a:r>
            <a:endParaRPr lang="en-US" sz="940" dirty="0"/>
          </a:p>
        </p:txBody>
      </p:sp>
      <p:sp>
        <p:nvSpPr>
          <p:cNvPr id="34" name="Shape 31"/>
          <p:cNvSpPr/>
          <p:nvPr/>
        </p:nvSpPr>
        <p:spPr>
          <a:xfrm>
            <a:off x="2862621" y="3657600"/>
            <a:ext cx="2057949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054645" y="3767328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063789" y="3776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4"/>
          <p:cNvSpPr txBox="1"/>
          <p:nvPr/>
        </p:nvSpPr>
        <p:spPr>
          <a:xfrm>
            <a:off x="3411261" y="3767328"/>
            <a:ext cx="13264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Estáticos</a:t>
            </a:r>
            <a:endParaRPr lang="en-US" sz="940" dirty="0"/>
          </a:p>
        </p:txBody>
      </p:sp>
      <p:sp>
        <p:nvSpPr>
          <p:cNvPr id="38" name="Shape 35"/>
          <p:cNvSpPr/>
          <p:nvPr/>
        </p:nvSpPr>
        <p:spPr>
          <a:xfrm>
            <a:off x="3054645" y="4078224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063789" y="4087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3411261" y="4078224"/>
            <a:ext cx="13264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940" dirty="0"/>
          </a:p>
        </p:txBody>
      </p:sp>
      <p:sp>
        <p:nvSpPr>
          <p:cNvPr id="41" name="Shape 38"/>
          <p:cNvSpPr/>
          <p:nvPr/>
        </p:nvSpPr>
        <p:spPr>
          <a:xfrm>
            <a:off x="3054645" y="4389120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063789" y="43982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3411261" y="4389120"/>
            <a:ext cx="13264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Navegador</a:t>
            </a:r>
            <a:endParaRPr lang="en-US" sz="940" dirty="0"/>
          </a:p>
        </p:txBody>
      </p:sp>
      <p:sp>
        <p:nvSpPr>
          <p:cNvPr id="44" name="Shape 41"/>
          <p:cNvSpPr/>
          <p:nvPr/>
        </p:nvSpPr>
        <p:spPr>
          <a:xfrm>
            <a:off x="5066873" y="3657600"/>
            <a:ext cx="2057949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258897" y="3767328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268041" y="3776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5615513" y="3767328"/>
            <a:ext cx="13264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Estáticos</a:t>
            </a:r>
            <a:endParaRPr lang="en-US" sz="940" dirty="0"/>
          </a:p>
        </p:txBody>
      </p:sp>
      <p:sp>
        <p:nvSpPr>
          <p:cNvPr id="48" name="Shape 45"/>
          <p:cNvSpPr/>
          <p:nvPr/>
        </p:nvSpPr>
        <p:spPr>
          <a:xfrm>
            <a:off x="5258897" y="4078224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268041" y="4087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5615513" y="4078224"/>
            <a:ext cx="13264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940" dirty="0"/>
          </a:p>
        </p:txBody>
      </p:sp>
      <p:sp>
        <p:nvSpPr>
          <p:cNvPr id="51" name="Shape 48"/>
          <p:cNvSpPr/>
          <p:nvPr/>
        </p:nvSpPr>
        <p:spPr>
          <a:xfrm>
            <a:off x="5258897" y="4389120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268041" y="43982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5615513" y="4389120"/>
            <a:ext cx="13264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Navegador</a:t>
            </a:r>
            <a:endParaRPr lang="en-US" sz="940" dirty="0"/>
          </a:p>
        </p:txBody>
      </p:sp>
      <p:sp>
        <p:nvSpPr>
          <p:cNvPr id="54" name="Shape 51"/>
          <p:cNvSpPr/>
          <p:nvPr/>
        </p:nvSpPr>
        <p:spPr>
          <a:xfrm>
            <a:off x="7271126" y="3657600"/>
            <a:ext cx="2057949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463150" y="3767328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7472294" y="3776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7819766" y="3767328"/>
            <a:ext cx="13264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Estáticos</a:t>
            </a:r>
            <a:endParaRPr lang="en-US" sz="940" dirty="0"/>
          </a:p>
        </p:txBody>
      </p:sp>
      <p:sp>
        <p:nvSpPr>
          <p:cNvPr id="58" name="Shape 55"/>
          <p:cNvSpPr/>
          <p:nvPr/>
        </p:nvSpPr>
        <p:spPr>
          <a:xfrm>
            <a:off x="7463150" y="4078224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472294" y="4087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000" dirty="0"/>
          </a:p>
        </p:txBody>
      </p:sp>
      <p:sp>
        <p:nvSpPr>
          <p:cNvPr id="60" name="Text 57"/>
          <p:cNvSpPr txBox="1"/>
          <p:nvPr/>
        </p:nvSpPr>
        <p:spPr>
          <a:xfrm>
            <a:off x="7819766" y="4078224"/>
            <a:ext cx="13264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940" dirty="0"/>
          </a:p>
        </p:txBody>
      </p:sp>
      <p:sp>
        <p:nvSpPr>
          <p:cNvPr id="61" name="Shape 58"/>
          <p:cNvSpPr/>
          <p:nvPr/>
        </p:nvSpPr>
        <p:spPr>
          <a:xfrm>
            <a:off x="7463150" y="4389120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472294" y="43982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7819766" y="4389120"/>
            <a:ext cx="13264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Navegador</a:t>
            </a:r>
            <a:endParaRPr lang="en-US" sz="940" dirty="0"/>
          </a:p>
        </p:txBody>
      </p:sp>
      <p:sp>
        <p:nvSpPr>
          <p:cNvPr id="64" name="Shape 61"/>
          <p:cNvSpPr/>
          <p:nvPr/>
        </p:nvSpPr>
        <p:spPr>
          <a:xfrm>
            <a:off x="9475379" y="3657600"/>
            <a:ext cx="2057949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9667403" y="3767328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676547" y="37764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10024019" y="3767328"/>
            <a:ext cx="13264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Estáticos</a:t>
            </a:r>
            <a:endParaRPr lang="en-US" sz="940" dirty="0"/>
          </a:p>
        </p:txBody>
      </p:sp>
      <p:sp>
        <p:nvSpPr>
          <p:cNvPr id="68" name="Shape 65"/>
          <p:cNvSpPr/>
          <p:nvPr/>
        </p:nvSpPr>
        <p:spPr>
          <a:xfrm>
            <a:off x="9667403" y="4078224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9676547" y="40873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000" dirty="0"/>
          </a:p>
        </p:txBody>
      </p:sp>
      <p:sp>
        <p:nvSpPr>
          <p:cNvPr id="70" name="Text 67"/>
          <p:cNvSpPr txBox="1"/>
          <p:nvPr/>
        </p:nvSpPr>
        <p:spPr>
          <a:xfrm>
            <a:off x="10024019" y="4078224"/>
            <a:ext cx="13264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940" dirty="0"/>
          </a:p>
        </p:txBody>
      </p:sp>
      <p:sp>
        <p:nvSpPr>
          <p:cNvPr id="71" name="Shape 68"/>
          <p:cNvSpPr/>
          <p:nvPr/>
        </p:nvSpPr>
        <p:spPr>
          <a:xfrm>
            <a:off x="9667403" y="4389120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9676547" y="43982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000" dirty="0"/>
          </a:p>
        </p:txBody>
      </p:sp>
      <p:sp>
        <p:nvSpPr>
          <p:cNvPr id="73" name="Text 70"/>
          <p:cNvSpPr txBox="1"/>
          <p:nvPr/>
        </p:nvSpPr>
        <p:spPr>
          <a:xfrm>
            <a:off x="10024019" y="4389120"/>
            <a:ext cx="13264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Navegador</a:t>
            </a:r>
            <a:endParaRPr lang="en-US" sz="940" dirty="0"/>
          </a:p>
        </p:txBody>
      </p:sp>
      <p:sp>
        <p:nvSpPr>
          <p:cNvPr id="74" name="Text 71"/>
          <p:cNvSpPr txBox="1"/>
          <p:nvPr/>
        </p:nvSpPr>
        <p:spPr>
          <a:xfrm>
            <a:off x="658368" y="4901184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cinco se ven iguales. Si una trae un defecto nuevo, el rojo nuevo se pierde entre los viejos.</a:t>
            </a:r>
            <a:endParaRPr lang="en-US" sz="1140" dirty="0"/>
          </a:p>
        </p:txBody>
      </p:sp>
      <p:sp>
        <p:nvSpPr>
          <p:cNvPr id="75" name="Shape 72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una alarma que suena todo el día: nadie la mira.</a:t>
            </a:r>
            <a:endParaRPr lang="en-US" sz="13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LAS OPCIONES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formas de salir del rojo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3767328" y="17007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PIPELINE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230368" y="17007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SE SABE DEL DEFECTO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58368" y="1975104"/>
            <a:ext cx="1087495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8368" y="1975104"/>
            <a:ext cx="54864" cy="73152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7824" y="206654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Corregir el defecto</a:t>
            </a:r>
            <a:endParaRPr lang="en-US" sz="1260" dirty="0"/>
          </a:p>
        </p:txBody>
      </p:sp>
      <p:sp>
        <p:nvSpPr>
          <p:cNvPr id="15" name="Shape 12"/>
          <p:cNvSpPr/>
          <p:nvPr/>
        </p:nvSpPr>
        <p:spPr>
          <a:xfrm>
            <a:off x="3767328" y="2176272"/>
            <a:ext cx="1097280" cy="32918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67328" y="2194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940" dirty="0"/>
          </a:p>
        </p:txBody>
      </p:sp>
      <p:sp>
        <p:nvSpPr>
          <p:cNvPr id="17" name="Text 14"/>
          <p:cNvSpPr txBox="1"/>
          <p:nvPr/>
        </p:nvSpPr>
        <p:spPr>
          <a:xfrm>
            <a:off x="5230368" y="206654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Desaparece, porque dejó de ser cierto</a:t>
            </a:r>
            <a:endParaRPr lang="en-US" sz="1140" dirty="0"/>
          </a:p>
        </p:txBody>
      </p:sp>
      <p:sp>
        <p:nvSpPr>
          <p:cNvPr id="18" name="Text 15"/>
          <p:cNvSpPr txBox="1"/>
          <p:nvPr/>
        </p:nvSpPr>
        <p:spPr>
          <a:xfrm>
            <a:off x="9345168" y="2066544"/>
            <a:ext cx="20052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respuesta, cuando se puede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658368" y="2798064"/>
            <a:ext cx="1087495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58368" y="2798064"/>
            <a:ext cx="54864" cy="73152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7824" y="288950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Borrar la prueba</a:t>
            </a:r>
            <a:endParaRPr lang="en-US" sz="1260" dirty="0"/>
          </a:p>
        </p:txBody>
      </p:sp>
      <p:sp>
        <p:nvSpPr>
          <p:cNvPr id="22" name="Shape 19"/>
          <p:cNvSpPr/>
          <p:nvPr/>
        </p:nvSpPr>
        <p:spPr>
          <a:xfrm>
            <a:off x="3767328" y="2999232"/>
            <a:ext cx="1097280" cy="32918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767328" y="30175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940" dirty="0"/>
          </a:p>
        </p:txBody>
      </p:sp>
      <p:sp>
        <p:nvSpPr>
          <p:cNvPr id="24" name="Text 21"/>
          <p:cNvSpPr txBox="1"/>
          <p:nvPr/>
        </p:nvSpPr>
        <p:spPr>
          <a:xfrm>
            <a:off x="5230368" y="288950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pierde: nadie sabrá que el defecto existe</a:t>
            </a:r>
            <a:endParaRPr lang="en-US" sz="1140" dirty="0"/>
          </a:p>
        </p:txBody>
      </p:sp>
      <p:sp>
        <p:nvSpPr>
          <p:cNvPr id="25" name="Text 22"/>
          <p:cNvSpPr txBox="1"/>
          <p:nvPr/>
        </p:nvSpPr>
        <p:spPr>
          <a:xfrm>
            <a:off x="9345168" y="2889504"/>
            <a:ext cx="20052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Afirma algo falso</a:t>
            </a:r>
            <a:endParaRPr lang="en-US" sz="1040" dirty="0"/>
          </a:p>
        </p:txBody>
      </p:sp>
      <p:sp>
        <p:nvSpPr>
          <p:cNvPr id="26" name="Shape 23"/>
          <p:cNvSpPr/>
          <p:nvPr/>
        </p:nvSpPr>
        <p:spPr>
          <a:xfrm>
            <a:off x="658368" y="3621024"/>
            <a:ext cx="10874959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58368" y="3621024"/>
            <a:ext cx="54864" cy="73152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7824" y="37124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Omitir la prueba</a:t>
            </a:r>
            <a:endParaRPr lang="en-US" sz="1260" dirty="0"/>
          </a:p>
        </p:txBody>
      </p:sp>
      <p:sp>
        <p:nvSpPr>
          <p:cNvPr id="29" name="Shape 26"/>
          <p:cNvSpPr/>
          <p:nvPr/>
        </p:nvSpPr>
        <p:spPr>
          <a:xfrm>
            <a:off x="3767328" y="3822192"/>
            <a:ext cx="1097280" cy="32918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3767328" y="3840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940" dirty="0"/>
          </a:p>
        </p:txBody>
      </p:sp>
      <p:sp>
        <p:nvSpPr>
          <p:cNvPr id="31" name="Text 28"/>
          <p:cNvSpPr txBox="1"/>
          <p:nvPr/>
        </p:nvSpPr>
        <p:spPr>
          <a:xfrm>
            <a:off x="5230368" y="371246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esconde: la prueba ni siquiera se ejecuta</a:t>
            </a:r>
            <a:endParaRPr lang="en-US" sz="1140" dirty="0"/>
          </a:p>
        </p:txBody>
      </p:sp>
      <p:sp>
        <p:nvSpPr>
          <p:cNvPr id="32" name="Text 29"/>
          <p:cNvSpPr txBox="1"/>
          <p:nvPr/>
        </p:nvSpPr>
        <p:spPr>
          <a:xfrm>
            <a:off x="9345168" y="3712464"/>
            <a:ext cx="20052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Afirma algo falso</a:t>
            </a:r>
            <a:endParaRPr lang="en-US" sz="1040" dirty="0"/>
          </a:p>
        </p:txBody>
      </p:sp>
      <p:sp>
        <p:nvSpPr>
          <p:cNvPr id="33" name="Shape 30"/>
          <p:cNvSpPr/>
          <p:nvPr/>
        </p:nvSpPr>
        <p:spPr>
          <a:xfrm>
            <a:off x="658368" y="4443984"/>
            <a:ext cx="10874959" cy="73152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58368" y="4443984"/>
            <a:ext cx="54864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7824" y="453542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Marcarla como falla esperada</a:t>
            </a:r>
            <a:endParaRPr lang="en-US" sz="1260" dirty="0"/>
          </a:p>
        </p:txBody>
      </p:sp>
      <p:sp>
        <p:nvSpPr>
          <p:cNvPr id="36" name="Shape 33"/>
          <p:cNvSpPr/>
          <p:nvPr/>
        </p:nvSpPr>
        <p:spPr>
          <a:xfrm>
            <a:off x="3767328" y="4645152"/>
            <a:ext cx="1097280" cy="32918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767328" y="46634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VERDE</a:t>
            </a:r>
            <a:endParaRPr lang="en-US" sz="940" dirty="0"/>
          </a:p>
        </p:txBody>
      </p:sp>
      <p:sp>
        <p:nvSpPr>
          <p:cNvPr id="38" name="Text 35"/>
          <p:cNvSpPr txBox="1"/>
          <p:nvPr/>
        </p:nvSpPr>
        <p:spPr>
          <a:xfrm>
            <a:off x="5230368" y="453542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Sigue visible, y la prueba se sigue ejecutando</a:t>
            </a:r>
            <a:endParaRPr lang="en-US" sz="1140" dirty="0"/>
          </a:p>
        </p:txBody>
      </p:sp>
      <p:sp>
        <p:nvSpPr>
          <p:cNvPr id="39" name="Text 36"/>
          <p:cNvSpPr txBox="1"/>
          <p:nvPr/>
        </p:nvSpPr>
        <p:spPr>
          <a:xfrm>
            <a:off x="9345168" y="4535424"/>
            <a:ext cx="200527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enseña este bloque</a:t>
            </a:r>
            <a:endParaRPr lang="en-US" sz="1040" dirty="0"/>
          </a:p>
        </p:txBody>
      </p:sp>
      <p:sp>
        <p:nvSpPr>
          <p:cNvPr id="40" name="Shape 37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cuatro dejan el pipeline en verde. Solo dos dicen la verdad.</a:t>
            </a:r>
            <a:endParaRPr lang="en-US" sz="13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LA FUENTE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Omitir no es lo mismo que esperar la falla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719072"/>
            <a:ext cx="10874959" cy="1225296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19072"/>
            <a:ext cx="54864" cy="12252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1847088"/>
            <a:ext cx="103628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i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«Omitir (skip) significa que se espera que la prueba pase solo si se cumplen ciertas condiciones; si no, pytest no la ejecuta en absoluto. […] Una falla esperada (xfail) significa que se espera que la prueba falle por algún motivo, por ejemplo una funcionalidad todavía no implementada o un defecto todavía no corregido.»</a:t>
            </a:r>
            <a:endParaRPr lang="en-US" sz="118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670048"/>
            <a:ext cx="10362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pytest, How to use skip and xfail · traducción del original en inglés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3127248"/>
            <a:ext cx="5254600" cy="22311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3127248"/>
            <a:ext cx="5254600" cy="54864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32688" y="3310128"/>
            <a:ext cx="470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OMITIR · SKIP</a:t>
            </a:r>
            <a:endParaRPr lang="en-US" sz="960" dirty="0"/>
          </a:p>
        </p:txBody>
      </p:sp>
      <p:sp>
        <p:nvSpPr>
          <p:cNvPr id="17" name="Text 14"/>
          <p:cNvSpPr txBox="1"/>
          <p:nvPr/>
        </p:nvSpPr>
        <p:spPr>
          <a:xfrm>
            <a:off x="932688" y="3584448"/>
            <a:ext cx="470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pruebas que no aplican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932688" y="4169664"/>
            <a:ext cx="4705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prueba de Windows en un servidor Linux. No se ejecuta, y está bien: no hay nada que ver.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78728" y="3127248"/>
            <a:ext cx="5254600" cy="2231136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278728" y="3127248"/>
            <a:ext cx="5254600" cy="54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53048" y="3310128"/>
            <a:ext cx="470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FALLA ESPERADA · XFAIL</a:t>
            </a:r>
            <a:endParaRPr lang="en-US" sz="960" dirty="0"/>
          </a:p>
        </p:txBody>
      </p:sp>
      <p:sp>
        <p:nvSpPr>
          <p:cNvPr id="22" name="Text 19"/>
          <p:cNvSpPr txBox="1"/>
          <p:nvPr/>
        </p:nvSpPr>
        <p:spPr>
          <a:xfrm>
            <a:off x="6553048" y="3584448"/>
            <a:ext cx="470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defectos conocidos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6553048" y="4169664"/>
            <a:ext cx="47059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suplantación. Se ejecuta en cada corrida, y el informe dice que sigue fallando y por qué.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Omitir un defecto conocido es esconderlo.</a:t>
            </a:r>
            <a:endParaRPr lang="en-US" sz="13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PYTEST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marca va en la prueba, con su motivo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682496"/>
            <a:ext cx="6583680" cy="2386584"/>
          </a:xfrm>
          <a:prstGeom prst="roundRect">
            <a:avLst>
              <a:gd name="adj" fmla="val 191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039112"/>
            <a:ext cx="6583680" cy="914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1773936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test_seguridad.py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713232" y="2164842"/>
            <a:ext cx="6071616" cy="149230"/>
          </a:xfrm>
          <a:prstGeom prst="rect">
            <a:avLst/>
          </a:prstGeom>
          <a:solidFill>
            <a:srgbClr val="E0BC5A">
              <a:alpha val="28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2320290"/>
            <a:ext cx="6071616" cy="149230"/>
          </a:xfrm>
          <a:prstGeom prst="rect">
            <a:avLst/>
          </a:prstGeom>
          <a:solidFill>
            <a:srgbClr val="B3181E">
              <a:alpha val="28000"/>
            </a:srgbClr>
          </a:solidFill>
          <a:ln w="12700">
            <a:solidFill>
              <a:srgbClr val="B3181E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2475738"/>
            <a:ext cx="6071616" cy="149230"/>
          </a:xfrm>
          <a:prstGeom prst="rect">
            <a:avLst/>
          </a:prstGeom>
          <a:solidFill>
            <a:srgbClr val="E0BC5A">
              <a:alpha val="28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176272"/>
            <a:ext cx="5852160" cy="176479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941942" y="2161916"/>
            <a:ext cx="143012" cy="14301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951086" y="2171060"/>
            <a:ext cx="12472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40" dirty="0"/>
          </a:p>
        </p:txBody>
      </p:sp>
      <p:sp>
        <p:nvSpPr>
          <p:cNvPr id="19" name="Shape 15"/>
          <p:cNvSpPr/>
          <p:nvPr/>
        </p:nvSpPr>
        <p:spPr>
          <a:xfrm>
            <a:off x="6941942" y="2317364"/>
            <a:ext cx="143012" cy="143012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51086" y="2326508"/>
            <a:ext cx="12472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40" dirty="0"/>
          </a:p>
        </p:txBody>
      </p:sp>
      <p:sp>
        <p:nvSpPr>
          <p:cNvPr id="21" name="Shape 17"/>
          <p:cNvSpPr/>
          <p:nvPr/>
        </p:nvSpPr>
        <p:spPr>
          <a:xfrm>
            <a:off x="6941942" y="2472812"/>
            <a:ext cx="143012" cy="14301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951086" y="2481956"/>
            <a:ext cx="12472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40" dirty="0"/>
          </a:p>
        </p:txBody>
      </p:sp>
      <p:sp>
        <p:nvSpPr>
          <p:cNvPr id="23" name="Text 19"/>
          <p:cNvSpPr txBox="1"/>
          <p:nvPr/>
        </p:nvSpPr>
        <p:spPr>
          <a:xfrm>
            <a:off x="658368" y="4123944"/>
            <a:ext cx="6583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cuerpo de la prueba no cambia: sigue afirmando lo mismo. Los tres puntos indican que aquí se omite, para mostrar solo la marca.</a:t>
            </a:r>
            <a:endParaRPr lang="en-US" sz="980" dirty="0"/>
          </a:p>
        </p:txBody>
      </p:sp>
      <p:sp>
        <p:nvSpPr>
          <p:cNvPr id="24" name="Shape 20"/>
          <p:cNvSpPr/>
          <p:nvPr/>
        </p:nvSpPr>
        <p:spPr>
          <a:xfrm>
            <a:off x="7516368" y="1682496"/>
            <a:ext cx="401695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7662672" y="1810512"/>
            <a:ext cx="256032" cy="256032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671816" y="18196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40" dirty="0"/>
          </a:p>
        </p:txBody>
      </p:sp>
      <p:sp>
        <p:nvSpPr>
          <p:cNvPr id="27" name="Text 23"/>
          <p:cNvSpPr txBox="1"/>
          <p:nvPr/>
        </p:nvSpPr>
        <p:spPr>
          <a:xfrm>
            <a:off x="8028432" y="1755648"/>
            <a:ext cx="3376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strict=True</a:t>
            </a:r>
            <a:endParaRPr lang="en-US" sz="1060" dirty="0"/>
          </a:p>
        </p:txBody>
      </p:sp>
      <p:sp>
        <p:nvSpPr>
          <p:cNvPr id="28" name="Text 24"/>
          <p:cNvSpPr txBox="1"/>
          <p:nvPr/>
        </p:nvSpPr>
        <p:spPr>
          <a:xfrm>
            <a:off x="8028432" y="2011680"/>
            <a:ext cx="33768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prueba pasa, la suite se pone en rojo. La marca no puede sobrevivir a su motivo.</a:t>
            </a:r>
            <a:endParaRPr lang="en-US" sz="960" dirty="0"/>
          </a:p>
        </p:txBody>
      </p:sp>
      <p:sp>
        <p:nvSpPr>
          <p:cNvPr id="29" name="Shape 25"/>
          <p:cNvSpPr/>
          <p:nvPr/>
        </p:nvSpPr>
        <p:spPr>
          <a:xfrm>
            <a:off x="7516368" y="2505456"/>
            <a:ext cx="401695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662672" y="2633472"/>
            <a:ext cx="256032" cy="25603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671816" y="26426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40" dirty="0"/>
          </a:p>
        </p:txBody>
      </p:sp>
      <p:sp>
        <p:nvSpPr>
          <p:cNvPr id="32" name="Text 28"/>
          <p:cNvSpPr txBox="1"/>
          <p:nvPr/>
        </p:nvSpPr>
        <p:spPr>
          <a:xfrm>
            <a:off x="8028432" y="2578608"/>
            <a:ext cx="3376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reason=</a:t>
            </a:r>
            <a:endParaRPr lang="en-US" sz="1060" dirty="0"/>
          </a:p>
        </p:txBody>
      </p:sp>
      <p:sp>
        <p:nvSpPr>
          <p:cNvPr id="33" name="Text 29"/>
          <p:cNvSpPr txBox="1"/>
          <p:nvPr/>
        </p:nvSpPr>
        <p:spPr>
          <a:xfrm>
            <a:off x="8028432" y="2834640"/>
            <a:ext cx="33768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motivo, escrito en la prueba. Aparece en el informe de cada ejecución.</a:t>
            </a:r>
            <a:endParaRPr lang="en-US" sz="960" dirty="0"/>
          </a:p>
        </p:txBody>
      </p:sp>
      <p:sp>
        <p:nvSpPr>
          <p:cNvPr id="34" name="Shape 30"/>
          <p:cNvSpPr/>
          <p:nvPr/>
        </p:nvSpPr>
        <p:spPr>
          <a:xfrm>
            <a:off x="7516368" y="3328416"/>
            <a:ext cx="4016959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662672" y="3456432"/>
            <a:ext cx="256032" cy="25603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671816" y="34655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40" dirty="0"/>
          </a:p>
        </p:txBody>
      </p:sp>
      <p:sp>
        <p:nvSpPr>
          <p:cNvPr id="37" name="Text 33"/>
          <p:cNvSpPr txBox="1"/>
          <p:nvPr/>
        </p:nvSpPr>
        <p:spPr>
          <a:xfrm>
            <a:off x="8028432" y="3401568"/>
            <a:ext cx="3376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xfail</a:t>
            </a:r>
            <a:endParaRPr lang="en-US" sz="1060" dirty="0"/>
          </a:p>
        </p:txBody>
      </p:sp>
      <p:sp>
        <p:nvSpPr>
          <p:cNvPr id="38" name="Text 34"/>
          <p:cNvSpPr txBox="1"/>
          <p:nvPr/>
        </p:nvSpPr>
        <p:spPr>
          <a:xfrm>
            <a:off x="8028432" y="3657600"/>
            <a:ext cx="33768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la ejecuta; si falla, la informa como xfailed, sin poner la suite en rojo.</a:t>
            </a:r>
            <a:endParaRPr lang="en-US" sz="960" dirty="0"/>
          </a:p>
        </p:txBody>
      </p:sp>
      <p:sp>
        <p:nvSpPr>
          <p:cNvPr id="39" name="Shape 35"/>
          <p:cNvSpPr/>
          <p:nvPr/>
        </p:nvSpPr>
        <p:spPr>
          <a:xfrm>
            <a:off x="658368" y="4581144"/>
            <a:ext cx="10874959" cy="1134999"/>
          </a:xfrm>
          <a:prstGeom prst="roundRect">
            <a:avLst>
              <a:gd name="adj" fmla="val 4028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818388" y="4713732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973836" y="4713732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129284" y="4713732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1353312" y="4663440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 run pytest -q -rxX · -r pide un resumen final; x y X, las fallas esperadas y las que pasaron inesperadamente</a:t>
            </a:r>
            <a:endParaRPr lang="en-US" sz="940" dirty="0"/>
          </a:p>
        </p:txBody>
      </p:sp>
      <p:sp>
        <p:nvSpPr>
          <p:cNvPr id="44" name="Text 40"/>
          <p:cNvSpPr/>
          <p:nvPr/>
        </p:nvSpPr>
        <p:spPr>
          <a:xfrm>
            <a:off x="859536" y="5056632"/>
            <a:ext cx="10472623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XFAIL test_seguridad.py::test_otra_persona_no_puede_agotar_la_cuota_de_ana - Suplantación: la API acepta cualquier RUT sin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859536" y="5233797"/>
            <a:ext cx="10472623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comprobar quién lo escribe. Pendiente: decidir cómo se identifican las personas.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859536" y="5410962"/>
            <a:ext cx="10472623" cy="177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passed, 1 xfailed, 1 warning in 0.83s</a:t>
            </a:r>
            <a:endParaRPr lang="en-US" sz="900" dirty="0"/>
          </a:p>
        </p:txBody>
      </p:sp>
      <p:sp>
        <p:nvSpPr>
          <p:cNvPr id="47" name="Text 43"/>
          <p:cNvSpPr txBox="1"/>
          <p:nvPr/>
        </p:nvSpPr>
        <p:spPr>
          <a:xfrm>
            <a:off x="658368" y="5769864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salida de pytest es una sola línea; aquí se partió para que quepa. Ojo: -rxX tiene un defecto que aparece en el bloque 4.</a:t>
            </a:r>
            <a:endParaRPr lang="en-US" sz="9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PLAYWRIGHT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test.fail: estricta sin pedirlo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1682496"/>
            <a:ext cx="10874959" cy="2058416"/>
          </a:xfrm>
          <a:prstGeom prst="roundRect">
            <a:avLst>
              <a:gd name="adj" fmla="val 222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039112"/>
            <a:ext cx="10874959" cy="914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1773936"/>
            <a:ext cx="105091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e2e/pruebas/reserva.spec.ts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713232" y="2163572"/>
            <a:ext cx="10362895" cy="165811"/>
          </a:xfrm>
          <a:prstGeom prst="rect">
            <a:avLst/>
          </a:prstGeom>
          <a:solidFill>
            <a:srgbClr val="E0BC5A">
              <a:alpha val="28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2509012"/>
            <a:ext cx="10362895" cy="165811"/>
          </a:xfrm>
          <a:prstGeom prst="rect">
            <a:avLst/>
          </a:prstGeom>
          <a:solidFill>
            <a:srgbClr val="E0BC5A">
              <a:alpha val="28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176272"/>
            <a:ext cx="10143439" cy="143662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1225276" y="2160321"/>
            <a:ext cx="158902" cy="15890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234420" y="2169465"/>
            <a:ext cx="140614" cy="1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40" dirty="0"/>
          </a:p>
        </p:txBody>
      </p:sp>
      <p:sp>
        <p:nvSpPr>
          <p:cNvPr id="18" name="Shape 14"/>
          <p:cNvSpPr/>
          <p:nvPr/>
        </p:nvSpPr>
        <p:spPr>
          <a:xfrm>
            <a:off x="11225276" y="2505761"/>
            <a:ext cx="158902" cy="15890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1234420" y="2514905"/>
            <a:ext cx="140614" cy="140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40" dirty="0"/>
          </a:p>
        </p:txBody>
      </p:sp>
      <p:sp>
        <p:nvSpPr>
          <p:cNvPr id="20" name="Shape 16"/>
          <p:cNvSpPr/>
          <p:nvPr/>
        </p:nvSpPr>
        <p:spPr>
          <a:xfrm>
            <a:off x="658368" y="3785616"/>
            <a:ext cx="5300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22960" y="3931920"/>
            <a:ext cx="256032" cy="25603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32104" y="3941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40" dirty="0"/>
          </a:p>
        </p:txBody>
      </p:sp>
      <p:sp>
        <p:nvSpPr>
          <p:cNvPr id="23" name="Text 19"/>
          <p:cNvSpPr txBox="1"/>
          <p:nvPr/>
        </p:nvSpPr>
        <p:spPr>
          <a:xfrm>
            <a:off x="1207008" y="3840480"/>
            <a:ext cx="456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test.fail reemplaza a test, y recibe detalles entre el título y el cuerpo.</a:t>
            </a:r>
            <a:endParaRPr lang="en-US" sz="1080" dirty="0"/>
          </a:p>
        </p:txBody>
      </p:sp>
      <p:sp>
        <p:nvSpPr>
          <p:cNvPr id="24" name="Shape 20"/>
          <p:cNvSpPr/>
          <p:nvPr/>
        </p:nvSpPr>
        <p:spPr>
          <a:xfrm>
            <a:off x="6233008" y="3785616"/>
            <a:ext cx="5300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397600" y="3931920"/>
            <a:ext cx="256032" cy="25603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06744" y="39410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40" dirty="0"/>
          </a:p>
        </p:txBody>
      </p:sp>
      <p:sp>
        <p:nvSpPr>
          <p:cNvPr id="27" name="Text 23"/>
          <p:cNvSpPr txBox="1"/>
          <p:nvPr/>
        </p:nvSpPr>
        <p:spPr>
          <a:xfrm>
            <a:off x="6781648" y="3840480"/>
            <a:ext cx="456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anotación: un tipo y una descripción que Playwright guarda junto a la prueba y muestra en sus informes.</a:t>
            </a:r>
            <a:endParaRPr lang="en-US" sz="1080" dirty="0"/>
          </a:p>
        </p:txBody>
      </p:sp>
      <p:sp>
        <p:nvSpPr>
          <p:cNvPr id="28" name="Shape 24"/>
          <p:cNvSpPr/>
          <p:nvPr/>
        </p:nvSpPr>
        <p:spPr>
          <a:xfrm>
            <a:off x="658368" y="4846320"/>
            <a:ext cx="10874959" cy="786384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58368" y="4846320"/>
            <a:ext cx="54864" cy="786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14400" y="4974336"/>
            <a:ext cx="103628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i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«Marca una prueba como «debe fallar». Playwright la ejecuta y se asegura de que efectivamente falle.»</a:t>
            </a:r>
            <a:endParaRPr lang="en-US" sz="1180" dirty="0"/>
          </a:p>
        </p:txBody>
      </p:sp>
      <p:sp>
        <p:nvSpPr>
          <p:cNvPr id="31" name="Text 27"/>
          <p:cNvSpPr txBox="1"/>
          <p:nvPr/>
        </p:nvSpPr>
        <p:spPr>
          <a:xfrm>
            <a:off x="914400" y="5358384"/>
            <a:ext cx="10362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Playwright, test.fail · traducción del original en inglés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658368" y="5760720"/>
            <a:ext cx="10874959" cy="4023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950976" y="5797296"/>
            <a:ext cx="102897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prueba pasa, Playwright la cuenta como falla.</a:t>
            </a:r>
            <a:endParaRPr lang="en-US" sz="13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CÓMO SE LEE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 passed, y seis fallaron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1682496"/>
            <a:ext cx="10874959" cy="1871218"/>
          </a:xfrm>
          <a:prstGeom prst="roundRect">
            <a:avLst>
              <a:gd name="adj" fmla="val 2443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18388" y="1815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73836" y="1815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29284" y="1815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53312" y="1764792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de extremo a extremo · con las dos marcas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859536" y="2157984"/>
            <a:ext cx="10472623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✘   6 [chromium] › pruebas/reserva.spec.ts:20:6 › si falta un dato, la pantalla dice cuál corregir (6.0s)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859536" y="2339086"/>
            <a:ext cx="10472623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✘   9 [chromium] › pruebas/verificacion.spec.ts:22:6 › en una pantalla de 320 píxeles no hay desplazamiento horizontal (938ms)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859536" y="2520188"/>
            <a:ext cx="10472623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✘  15 [firefox] › pruebas/reserva.spec.ts:20:6 › si falta un dato, la pantalla dice cuál corregir (6.1s)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859536" y="2701290"/>
            <a:ext cx="10472623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✘  18 [firefox] › pruebas/verificacion.spec.ts:22:6 › en una pantalla de 320 píxeles no hay desplazamiento horizontal (1.8s)</a:t>
            </a:r>
            <a:endParaRPr lang="en-US" sz="920" dirty="0"/>
          </a:p>
        </p:txBody>
      </p:sp>
      <p:sp>
        <p:nvSpPr>
          <p:cNvPr id="19" name="Text 16"/>
          <p:cNvSpPr/>
          <p:nvPr/>
        </p:nvSpPr>
        <p:spPr>
          <a:xfrm>
            <a:off x="859536" y="2882392"/>
            <a:ext cx="10472623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✘  24 [webkit] › pruebas/reserva.spec.ts:20:6 › si falta un dato, la pantalla dice cuál corregir (6.2s)</a:t>
            </a:r>
            <a:endParaRPr lang="en-US" sz="920" dirty="0"/>
          </a:p>
        </p:txBody>
      </p:sp>
      <p:sp>
        <p:nvSpPr>
          <p:cNvPr id="20" name="Text 17"/>
          <p:cNvSpPr/>
          <p:nvPr/>
        </p:nvSpPr>
        <p:spPr>
          <a:xfrm>
            <a:off x="859536" y="3063494"/>
            <a:ext cx="10472623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✘  27 [webkit] › pruebas/verificacion.spec.ts:22:6 › en una pantalla de 320 píxeles no hay desplazamiento horizontal (1.2s)</a:t>
            </a:r>
            <a:endParaRPr lang="en-US" sz="920" dirty="0"/>
          </a:p>
        </p:txBody>
      </p:sp>
      <p:sp>
        <p:nvSpPr>
          <p:cNvPr id="21" name="Text 18"/>
          <p:cNvSpPr/>
          <p:nvPr/>
        </p:nvSpPr>
        <p:spPr>
          <a:xfrm>
            <a:off x="859536" y="3244596"/>
            <a:ext cx="10472623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27 passed (1.2m)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658368" y="3877056"/>
            <a:ext cx="350306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" y="3877056"/>
            <a:ext cx="3503066" cy="5486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77824" y="4023360"/>
            <a:ext cx="3100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✘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77824" y="4407408"/>
            <a:ext cx="31007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prueba que falló, como se esperaba.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344314" y="3877056"/>
            <a:ext cx="350306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44314" y="3877056"/>
            <a:ext cx="3503066" cy="5486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63770" y="4023360"/>
            <a:ext cx="3100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passed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4563770" y="4407408"/>
            <a:ext cx="31007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 juntas las que pasaron y las que fallaron como se esperaba.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030261" y="3877056"/>
            <a:ext cx="350306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030261" y="3877056"/>
            <a:ext cx="3503066" cy="5486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49717" y="4023360"/>
            <a:ext cx="310073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A6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Quien lee solo el total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8249717" y="4407408"/>
            <a:ext cx="31007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Cree que las 27 pasaron.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marca no basta: hace falta un registro escrito que cualquiera pueda leer.</a:t>
            </a:r>
            <a:endParaRPr lang="en-US" sz="13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PULL REQUEST 1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sistema mejoró, y el pipeline se puso en rojo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658368" y="1773936"/>
            <a:ext cx="25130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73936"/>
            <a:ext cx="2513000" cy="54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13816" y="1965960"/>
            <a:ext cx="347472" cy="347472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243584" y="1975104"/>
            <a:ext cx="178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corrige</a:t>
            </a:r>
            <a:endParaRPr lang="en-US" sz="1240" dirty="0"/>
          </a:p>
        </p:txBody>
      </p:sp>
      <p:sp>
        <p:nvSpPr>
          <p:cNvPr id="15" name="Text 12"/>
          <p:cNvSpPr txBox="1"/>
          <p:nvPr/>
        </p:nvSpPr>
        <p:spPr>
          <a:xfrm>
            <a:off x="859536" y="2432304"/>
            <a:ext cx="2110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una rama, la interfaz pasa a decir «Revisa el campo Personas.» en lugar de [object Object].</a:t>
            </a:r>
            <a:endParaRPr lang="en-US" sz="1060" dirty="0"/>
          </a:p>
        </p:txBody>
      </p:sp>
      <p:sp>
        <p:nvSpPr>
          <p:cNvPr id="16" name="Shape 13"/>
          <p:cNvSpPr/>
          <p:nvPr/>
        </p:nvSpPr>
        <p:spPr>
          <a:xfrm>
            <a:off x="822960" y="3785616"/>
            <a:ext cx="218381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14984" y="3922776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24128" y="39319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3895344"/>
            <a:ext cx="1452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main, antes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3207944" y="2926080"/>
            <a:ext cx="201168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3445688" y="1773936"/>
            <a:ext cx="2513000" cy="301752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45688" y="1773936"/>
            <a:ext cx="2513000" cy="5486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01136" y="1965960"/>
            <a:ext cx="347472" cy="347472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1028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030904" y="1975104"/>
            <a:ext cx="178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en rojo</a:t>
            </a:r>
            <a:endParaRPr lang="en-US" sz="1240" dirty="0"/>
          </a:p>
        </p:txBody>
      </p:sp>
      <p:sp>
        <p:nvSpPr>
          <p:cNvPr id="26" name="Text 23"/>
          <p:cNvSpPr txBox="1"/>
          <p:nvPr/>
        </p:nvSpPr>
        <p:spPr>
          <a:xfrm>
            <a:off x="3646856" y="2432304"/>
            <a:ext cx="2110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marcada ya no falla:</a:t>
            </a:r>
            <a:endParaRPr lang="en-US" sz="1060" dirty="0"/>
          </a:p>
        </p:txBody>
      </p:sp>
      <p:sp>
        <p:nvSpPr>
          <p:cNvPr id="27" name="Text 24"/>
          <p:cNvSpPr txBox="1"/>
          <p:nvPr/>
        </p:nvSpPr>
        <p:spPr>
          <a:xfrm>
            <a:off x="3646856" y="3364992"/>
            <a:ext cx="211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to fail, but passed.</a:t>
            </a:r>
            <a:endParaRPr lang="en-US" sz="960" dirty="0"/>
          </a:p>
        </p:txBody>
      </p:sp>
      <p:sp>
        <p:nvSpPr>
          <p:cNvPr id="28" name="Shape 25"/>
          <p:cNvSpPr/>
          <p:nvPr/>
        </p:nvSpPr>
        <p:spPr>
          <a:xfrm>
            <a:off x="3610280" y="3785616"/>
            <a:ext cx="218381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802304" y="3922776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811448" y="39319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4158920" y="3895344"/>
            <a:ext cx="1452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Extremo a extremo</a:t>
            </a:r>
            <a:endParaRPr lang="en-US" sz="960" dirty="0"/>
          </a:p>
        </p:txBody>
      </p:sp>
      <p:sp>
        <p:nvSpPr>
          <p:cNvPr id="32" name="Shape 29"/>
          <p:cNvSpPr/>
          <p:nvPr/>
        </p:nvSpPr>
        <p:spPr>
          <a:xfrm>
            <a:off x="5995264" y="2926080"/>
            <a:ext cx="201168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6233008" y="1773936"/>
            <a:ext cx="25130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233008" y="1773936"/>
            <a:ext cx="2513000" cy="54864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388456" y="1965960"/>
            <a:ext cx="347472" cy="34747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97600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6818224" y="1975104"/>
            <a:ext cx="178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quita la marca</a:t>
            </a:r>
            <a:endParaRPr lang="en-US" sz="1240" dirty="0"/>
          </a:p>
        </p:txBody>
      </p:sp>
      <p:sp>
        <p:nvSpPr>
          <p:cNvPr id="38" name="Text 35"/>
          <p:cNvSpPr txBox="1"/>
          <p:nvPr/>
        </p:nvSpPr>
        <p:spPr>
          <a:xfrm>
            <a:off x="6434176" y="2432304"/>
            <a:ext cx="2110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la fila del registro de rojos conocidos.</a:t>
            </a:r>
            <a:endParaRPr lang="en-US" sz="1060" dirty="0"/>
          </a:p>
        </p:txBody>
      </p:sp>
      <p:sp>
        <p:nvSpPr>
          <p:cNvPr id="39" name="Shape 36"/>
          <p:cNvSpPr/>
          <p:nvPr/>
        </p:nvSpPr>
        <p:spPr>
          <a:xfrm>
            <a:off x="6397600" y="3785616"/>
            <a:ext cx="218381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589624" y="3922776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598768" y="39319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6946240" y="3895344"/>
            <a:ext cx="1452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Extremo a extremo</a:t>
            </a:r>
            <a:endParaRPr lang="en-US" sz="960" dirty="0"/>
          </a:p>
        </p:txBody>
      </p:sp>
      <p:sp>
        <p:nvSpPr>
          <p:cNvPr id="43" name="Shape 40"/>
          <p:cNvSpPr/>
          <p:nvPr/>
        </p:nvSpPr>
        <p:spPr>
          <a:xfrm>
            <a:off x="8782583" y="2926080"/>
            <a:ext cx="201168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9020327" y="1773936"/>
            <a:ext cx="25130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020327" y="1773936"/>
            <a:ext cx="2513000" cy="54864"/>
          </a:xfrm>
          <a:prstGeom prst="rect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9175775" y="1965960"/>
            <a:ext cx="347472" cy="347472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184919" y="1975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9605543" y="1975104"/>
            <a:ext cx="178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Queda abierto</a:t>
            </a:r>
            <a:endParaRPr lang="en-US" sz="1240" dirty="0"/>
          </a:p>
        </p:txBody>
      </p:sp>
      <p:sp>
        <p:nvSpPr>
          <p:cNvPr id="49" name="Text 46"/>
          <p:cNvSpPr txBox="1"/>
          <p:nvPr/>
        </p:nvSpPr>
        <p:spPr>
          <a:xfrm>
            <a:off x="9221495" y="2432304"/>
            <a:ext cx="2110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Integrarlo es aceptar ese texto como el mensaje oficial: una decisión de requisito.</a:t>
            </a:r>
            <a:endParaRPr lang="en-US" sz="1060" dirty="0"/>
          </a:p>
        </p:txBody>
      </p:sp>
      <p:sp>
        <p:nvSpPr>
          <p:cNvPr id="50" name="Shape 47"/>
          <p:cNvSpPr/>
          <p:nvPr/>
        </p:nvSpPr>
        <p:spPr>
          <a:xfrm>
            <a:off x="9184919" y="3785616"/>
            <a:ext cx="218381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9376943" y="3922776"/>
            <a:ext cx="237744" cy="237744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386087" y="39319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–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9733559" y="3895344"/>
            <a:ext cx="1452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integrar</a:t>
            </a:r>
            <a:endParaRPr lang="en-US" sz="960" dirty="0"/>
          </a:p>
        </p:txBody>
      </p:sp>
      <p:sp>
        <p:nvSpPr>
          <p:cNvPr id="54" name="Shape 51"/>
          <p:cNvSpPr/>
          <p:nvPr/>
        </p:nvSpPr>
        <p:spPr>
          <a:xfrm>
            <a:off x="658368" y="4956048"/>
            <a:ext cx="10874959" cy="54864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32688" y="4992624"/>
            <a:ext cx="1032631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marca decía «esto está roto», y dejó de ser cierto. El pipeline no acepta que el repositorio siga afirmando algo falso.</a:t>
            </a:r>
            <a:endParaRPr lang="en-US" sz="1180" dirty="0"/>
          </a:p>
        </p:txBody>
      </p:sp>
      <p:sp>
        <p:nvSpPr>
          <p:cNvPr id="56" name="Shape 53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pipeline dice que el cambio funciona; no dice que el texto sea el correcto.</a:t>
            </a:r>
            <a:endParaRPr lang="en-US" sz="138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UN DETALLE DEL HISTORIAL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 commit de la rama corrió dos veces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2194560"/>
            <a:ext cx="2377440" cy="91440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" y="2249424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commit en una rama con pull request abierto</a:t>
            </a:r>
            <a:endParaRPr lang="en-US" sz="1140" dirty="0"/>
          </a:p>
        </p:txBody>
      </p:sp>
      <p:sp>
        <p:nvSpPr>
          <p:cNvPr id="12" name="Shape 9"/>
          <p:cNvSpPr/>
          <p:nvPr/>
        </p:nvSpPr>
        <p:spPr>
          <a:xfrm>
            <a:off x="3127248" y="2377440"/>
            <a:ext cx="822960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127248" y="2926080"/>
            <a:ext cx="822960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041648" y="192024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41648" y="1920240"/>
            <a:ext cx="54864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242816" y="197510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el evento push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242816" y="226771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push: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041648" y="2706624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41648" y="2706624"/>
            <a:ext cx="54864" cy="65836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242816" y="2761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el evento pull_request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242816" y="30540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 pull_request: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973568" y="1773936"/>
            <a:ext cx="3559759" cy="173736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973568" y="1773936"/>
            <a:ext cx="54864" cy="173736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193024" y="1828800"/>
            <a:ext cx="3193999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la consecuencia de pedir los dos eventos en la sección on. Parece un desperdicio, y en el bloque 3 va a mostrar algo que ninguna ejecución sola podía mostrar.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58368" y="378561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SE QUIERE EVITAR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658368" y="4059936"/>
            <a:ext cx="4937760" cy="1020064"/>
          </a:xfrm>
          <a:prstGeom prst="roundRect">
            <a:avLst>
              <a:gd name="adj" fmla="val 448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4206240"/>
            <a:ext cx="4608576" cy="74574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5870448" y="4059936"/>
            <a:ext cx="566287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 queda limitado a la rama principal. El costo: un push a otra rama, sin pull request abierto, no ejecuta nada. En el proyecto se dejaron los dos eventos sin límite.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ejecuciones del mismo commit deberían dar el mismo resultado. Si no lo dan, algo no es confiable.</a:t>
            </a:r>
            <a:endParaRPr lang="en-US" sz="13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EL REGISTRO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la marca no dice a quien no abre el código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00784"/>
            <a:ext cx="108749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README del proyecto, bajo «Rojos conocidos»: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8368" y="2048256"/>
            <a:ext cx="3200400" cy="32918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86384" y="20848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4041648" y="2048256"/>
            <a:ext cx="4389120" cy="32918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169664" y="20848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MUESTRA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8613648" y="2048256"/>
            <a:ext cx="2828239" cy="32918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41664" y="2084832"/>
            <a:ext cx="26453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40" b="1" spc="10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DECISIÓN FALTA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658368" y="2432304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86384" y="2468880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Otra persona no puede agotar la cuota de Ana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4041648" y="2432304"/>
            <a:ext cx="4389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169664" y="2468880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API acepta cualquier RUT sin comprobar quién lo escribe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8613648" y="2432304"/>
            <a:ext cx="2828239" cy="54864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741664" y="2468880"/>
            <a:ext cx="260878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identifican las personas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658368" y="3035808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6384" y="3072384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falta un dato, la pantalla dice cuál corregir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4041648" y="3035808"/>
            <a:ext cx="4389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169664" y="3072384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Muestra [object Object] en lugar de decir qué campo falta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8613648" y="3035808"/>
            <a:ext cx="2828239" cy="54864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41664" y="3072384"/>
            <a:ext cx="260878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dice el mensaje de cada campo</a:t>
            </a:r>
            <a:endParaRPr lang="en-US" sz="1020" dirty="0"/>
          </a:p>
        </p:txBody>
      </p:sp>
      <p:sp>
        <p:nvSpPr>
          <p:cNvPr id="29" name="Shape 26"/>
          <p:cNvSpPr/>
          <p:nvPr/>
        </p:nvSpPr>
        <p:spPr>
          <a:xfrm>
            <a:off x="658368" y="3639312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86384" y="3675888"/>
            <a:ext cx="29809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 de 320 píxeles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4041648" y="3639312"/>
            <a:ext cx="4389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169664" y="3675888"/>
            <a:ext cx="41696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página es más ancha y obliga a desplazarse hacia los lados</a:t>
            </a:r>
            <a:endParaRPr lang="en-US" sz="1020" dirty="0"/>
          </a:p>
        </p:txBody>
      </p:sp>
      <p:sp>
        <p:nvSpPr>
          <p:cNvPr id="33" name="Shape 30"/>
          <p:cNvSpPr/>
          <p:nvPr/>
        </p:nvSpPr>
        <p:spPr>
          <a:xfrm>
            <a:off x="8613648" y="3639312"/>
            <a:ext cx="2828239" cy="54864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741664" y="3675888"/>
            <a:ext cx="260878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2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se rediseña la grilla</a:t>
            </a:r>
            <a:endParaRPr lang="en-US" sz="1020" dirty="0"/>
          </a:p>
        </p:txBody>
      </p:sp>
      <p:sp>
        <p:nvSpPr>
          <p:cNvPr id="35" name="Shape 32"/>
          <p:cNvSpPr/>
          <p:nvPr/>
        </p:nvSpPr>
        <p:spPr>
          <a:xfrm>
            <a:off x="658368" y="4389120"/>
            <a:ext cx="10874959" cy="91440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58368" y="4389120"/>
            <a:ext cx="54864" cy="91440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14400" y="4517136"/>
            <a:ext cx="1036289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i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«Una prueba desactivada tiene que estar justificada por escrito. Una prueba borrada sin explicación cuenta como un defecto sin cubrir.»</a:t>
            </a:r>
            <a:endParaRPr lang="en-US" sz="1180" dirty="0"/>
          </a:p>
        </p:txBody>
      </p:sp>
      <p:sp>
        <p:nvSpPr>
          <p:cNvPr id="38" name="Text 35"/>
          <p:cNvSpPr txBox="1"/>
          <p:nvPr/>
        </p:nvSpPr>
        <p:spPr>
          <a:xfrm>
            <a:off x="914400" y="5029200"/>
            <a:ext cx="10362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Instrucciones de la Evaluación Final, sección 3.B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la decisión pendiente, es una prueba abandonada. Con ella, es una tarea que alguien puede tomar.</a:t>
            </a:r>
            <a:endParaRPr lang="en-US" sz="138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LO QUE DEPENDE DEL TIEMPO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vulnerabilidad nueva no espera un push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658368" y="1682496"/>
            <a:ext cx="6400800" cy="3578352"/>
          </a:xfrm>
          <a:prstGeom prst="roundRect">
            <a:avLst>
              <a:gd name="adj" fmla="val 127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039112"/>
            <a:ext cx="6400800" cy="914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1773936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.github/workflows/auditoria.yml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713232" y="3036113"/>
            <a:ext cx="5888736" cy="139281"/>
          </a:xfrm>
          <a:prstGeom prst="rect">
            <a:avLst/>
          </a:prstGeom>
          <a:solidFill>
            <a:srgbClr val="B3181E">
              <a:alpha val="28000"/>
            </a:srgbClr>
          </a:solidFill>
          <a:ln w="12700">
            <a:solidFill>
              <a:srgbClr val="B3181E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326282"/>
            <a:ext cx="5888736" cy="139281"/>
          </a:xfrm>
          <a:prstGeom prst="rect">
            <a:avLst/>
          </a:prstGeom>
          <a:solidFill>
            <a:srgbClr val="E0BC5A">
              <a:alpha val="28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4777130"/>
            <a:ext cx="5888736" cy="139281"/>
          </a:xfrm>
          <a:prstGeom prst="rect">
            <a:avLst/>
          </a:prstGeom>
          <a:solidFill>
            <a:srgbClr val="E0BC5A">
              <a:alpha val="28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176272"/>
            <a:ext cx="5669280" cy="29565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763829" y="3033382"/>
            <a:ext cx="133478" cy="133478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772973" y="3042526"/>
            <a:ext cx="115190" cy="115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40" dirty="0"/>
          </a:p>
        </p:txBody>
      </p:sp>
      <p:sp>
        <p:nvSpPr>
          <p:cNvPr id="19" name="Shape 15"/>
          <p:cNvSpPr/>
          <p:nvPr/>
        </p:nvSpPr>
        <p:spPr>
          <a:xfrm>
            <a:off x="6763829" y="3323551"/>
            <a:ext cx="133478" cy="13347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772973" y="3332695"/>
            <a:ext cx="115190" cy="115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40" dirty="0"/>
          </a:p>
        </p:txBody>
      </p:sp>
      <p:sp>
        <p:nvSpPr>
          <p:cNvPr id="21" name="Shape 17"/>
          <p:cNvSpPr/>
          <p:nvPr/>
        </p:nvSpPr>
        <p:spPr>
          <a:xfrm>
            <a:off x="6763829" y="4774399"/>
            <a:ext cx="133478" cy="13347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772973" y="4783543"/>
            <a:ext cx="115190" cy="115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40" dirty="0"/>
          </a:p>
        </p:txBody>
      </p:sp>
      <p:sp>
        <p:nvSpPr>
          <p:cNvPr id="23" name="Text 19"/>
          <p:cNvSpPr txBox="1"/>
          <p:nvPr/>
        </p:nvSpPr>
        <p:spPr>
          <a:xfrm>
            <a:off x="7333488" y="1682496"/>
            <a:ext cx="4199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vulnerabilidad es una debilidad de seguridad ya descubierta y publicada. pip-audit compara las dependencias con una base pública de ellas. Una nueva se puede publicar sobre una versión ya instalada, sin que nadie toque el repositorio.</a:t>
            </a:r>
            <a:endParaRPr lang="en-US" sz="1060" dirty="0"/>
          </a:p>
        </p:txBody>
      </p:sp>
      <p:sp>
        <p:nvSpPr>
          <p:cNvPr id="24" name="Shape 20"/>
          <p:cNvSpPr/>
          <p:nvPr/>
        </p:nvSpPr>
        <p:spPr>
          <a:xfrm>
            <a:off x="7333488" y="2633472"/>
            <a:ext cx="256032" cy="256032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342632" y="26426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40" dirty="0"/>
          </a:p>
        </p:txBody>
      </p:sp>
      <p:sp>
        <p:nvSpPr>
          <p:cNvPr id="26" name="Text 22"/>
          <p:cNvSpPr txBox="1"/>
          <p:nvPr/>
        </p:nvSpPr>
        <p:spPr>
          <a:xfrm>
            <a:off x="7699248" y="2633472"/>
            <a:ext cx="38340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cron: cinco campos</a:t>
            </a:r>
            <a:endParaRPr lang="en-US" sz="1140" dirty="0"/>
          </a:p>
        </p:txBody>
      </p:sp>
      <p:sp>
        <p:nvSpPr>
          <p:cNvPr id="27" name="Shape 23"/>
          <p:cNvSpPr/>
          <p:nvPr/>
        </p:nvSpPr>
        <p:spPr>
          <a:xfrm>
            <a:off x="7333488" y="2980944"/>
            <a:ext cx="781446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333488" y="3017520"/>
            <a:ext cx="7814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7333488" y="3474720"/>
            <a:ext cx="7814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minuto</a:t>
            </a:r>
            <a:endParaRPr lang="en-US" sz="940" dirty="0"/>
          </a:p>
        </p:txBody>
      </p:sp>
      <p:sp>
        <p:nvSpPr>
          <p:cNvPr id="30" name="Shape 26"/>
          <p:cNvSpPr/>
          <p:nvPr/>
        </p:nvSpPr>
        <p:spPr>
          <a:xfrm>
            <a:off x="8188086" y="2980944"/>
            <a:ext cx="781446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188086" y="3017520"/>
            <a:ext cx="7814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800" dirty="0"/>
          </a:p>
        </p:txBody>
      </p:sp>
      <p:sp>
        <p:nvSpPr>
          <p:cNvPr id="32" name="Text 28"/>
          <p:cNvSpPr txBox="1"/>
          <p:nvPr/>
        </p:nvSpPr>
        <p:spPr>
          <a:xfrm>
            <a:off x="8188086" y="3474720"/>
            <a:ext cx="7814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hora</a:t>
            </a:r>
            <a:endParaRPr lang="en-US" sz="940" dirty="0"/>
          </a:p>
        </p:txBody>
      </p:sp>
      <p:sp>
        <p:nvSpPr>
          <p:cNvPr id="33" name="Shape 29"/>
          <p:cNvSpPr/>
          <p:nvPr/>
        </p:nvSpPr>
        <p:spPr>
          <a:xfrm>
            <a:off x="9042684" y="2980944"/>
            <a:ext cx="781446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9042684" y="3017520"/>
            <a:ext cx="7814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35" name="Text 31"/>
          <p:cNvSpPr txBox="1"/>
          <p:nvPr/>
        </p:nvSpPr>
        <p:spPr>
          <a:xfrm>
            <a:off x="9042684" y="3474720"/>
            <a:ext cx="7814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día</a:t>
            </a:r>
            <a:endParaRPr lang="en-US" sz="940" dirty="0"/>
          </a:p>
        </p:txBody>
      </p:sp>
      <p:sp>
        <p:nvSpPr>
          <p:cNvPr id="36" name="Shape 32"/>
          <p:cNvSpPr/>
          <p:nvPr/>
        </p:nvSpPr>
        <p:spPr>
          <a:xfrm>
            <a:off x="9897283" y="2980944"/>
            <a:ext cx="781446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9897283" y="3017520"/>
            <a:ext cx="7814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38" name="Text 34"/>
          <p:cNvSpPr txBox="1"/>
          <p:nvPr/>
        </p:nvSpPr>
        <p:spPr>
          <a:xfrm>
            <a:off x="9897283" y="3474720"/>
            <a:ext cx="7814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</a:t>
            </a:r>
            <a:endParaRPr lang="en-US" sz="940" dirty="0"/>
          </a:p>
        </p:txBody>
      </p:sp>
      <p:sp>
        <p:nvSpPr>
          <p:cNvPr id="39" name="Shape 35"/>
          <p:cNvSpPr/>
          <p:nvPr/>
        </p:nvSpPr>
        <p:spPr>
          <a:xfrm>
            <a:off x="10751881" y="2980944"/>
            <a:ext cx="781446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0751881" y="3017520"/>
            <a:ext cx="78144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800" dirty="0"/>
          </a:p>
        </p:txBody>
      </p:sp>
      <p:sp>
        <p:nvSpPr>
          <p:cNvPr id="41" name="Text 37"/>
          <p:cNvSpPr txBox="1"/>
          <p:nvPr/>
        </p:nvSpPr>
        <p:spPr>
          <a:xfrm>
            <a:off x="10751881" y="3474720"/>
            <a:ext cx="7814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</a:t>
            </a:r>
            <a:endParaRPr lang="en-US" sz="940" dirty="0"/>
          </a:p>
        </p:txBody>
      </p:sp>
      <p:sp>
        <p:nvSpPr>
          <p:cNvPr id="42" name="Text 38"/>
          <p:cNvSpPr txBox="1"/>
          <p:nvPr/>
        </p:nvSpPr>
        <p:spPr>
          <a:xfrm>
            <a:off x="7333488" y="3749040"/>
            <a:ext cx="4199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Minuto 0, hora 8, cualquier día, mes y día de la semana: todos los días a las 8:00. timezone lo fija en hora de Chile; sin esa línea, cron usa la hora universal (UTC).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7333488" y="4553712"/>
            <a:ext cx="256032" cy="25603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7342632" y="456285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40" dirty="0"/>
          </a:p>
        </p:txBody>
      </p:sp>
      <p:sp>
        <p:nvSpPr>
          <p:cNvPr id="45" name="Text 41"/>
          <p:cNvSpPr txBox="1"/>
          <p:nvPr/>
        </p:nvSpPr>
        <p:spPr>
          <a:xfrm>
            <a:off x="7699248" y="4553712"/>
            <a:ext cx="3834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workflow_dispatch: un botón en Actions para ejecutarlo a mano.</a:t>
            </a:r>
            <a:endParaRPr lang="en-US" sz="1040" dirty="0"/>
          </a:p>
        </p:txBody>
      </p:sp>
      <p:sp>
        <p:nvSpPr>
          <p:cNvPr id="46" name="Shape 42"/>
          <p:cNvSpPr/>
          <p:nvPr/>
        </p:nvSpPr>
        <p:spPr>
          <a:xfrm>
            <a:off x="7333488" y="4956048"/>
            <a:ext cx="256032" cy="25603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7342632" y="49651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40" dirty="0"/>
          </a:p>
        </p:txBody>
      </p:sp>
      <p:sp>
        <p:nvSpPr>
          <p:cNvPr id="48" name="Text 44"/>
          <p:cNvSpPr txBox="1"/>
          <p:nvPr/>
        </p:nvSpPr>
        <p:spPr>
          <a:xfrm>
            <a:off x="7699248" y="4956048"/>
            <a:ext cx="383407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lista exacta de dependencias de producción, sin las de desarrollo, auditada.</a:t>
            </a:r>
            <a:endParaRPr lang="en-US" sz="104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ANTES DE CONFIAR EN SCHEDULE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condiciones del evento programado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737360"/>
            <a:ext cx="51206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37360"/>
            <a:ext cx="54864" cy="9326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96112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ejecuta sobre main</a:t>
            </a:r>
            <a:endParaRPr lang="en-US" sz="1240" dirty="0"/>
          </a:p>
        </p:txBody>
      </p:sp>
      <p:sp>
        <p:nvSpPr>
          <p:cNvPr id="13" name="Text 10"/>
          <p:cNvSpPr txBox="1"/>
          <p:nvPr/>
        </p:nvSpPr>
        <p:spPr>
          <a:xfrm>
            <a:off x="896112" y="2139696"/>
            <a:ext cx="4718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Sobre el último commit de la rama principal, no sobre las otras ramas.</a:t>
            </a:r>
            <a:endParaRPr lang="en-US" sz="1060" dirty="0"/>
          </a:p>
        </p:txBody>
      </p:sp>
      <p:sp>
        <p:nvSpPr>
          <p:cNvPr id="14" name="Shape 11"/>
          <p:cNvSpPr/>
          <p:nvPr/>
        </p:nvSpPr>
        <p:spPr>
          <a:xfrm>
            <a:off x="658368" y="2779776"/>
            <a:ext cx="51206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2779776"/>
            <a:ext cx="54864" cy="9326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96112" y="28712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puede retrasar</a:t>
            </a:r>
            <a:endParaRPr lang="en-US" sz="1240" dirty="0"/>
          </a:p>
        </p:txBody>
      </p:sp>
      <p:sp>
        <p:nvSpPr>
          <p:cNvPr id="17" name="Text 14"/>
          <p:cNvSpPr txBox="1"/>
          <p:nvPr/>
        </p:nvSpPr>
        <p:spPr>
          <a:xfrm>
            <a:off x="896112" y="3182112"/>
            <a:ext cx="4718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los períodos de alta carga de GitHub Actions, la hora no es exacta.</a:t>
            </a:r>
            <a:endParaRPr lang="en-US" sz="1060" dirty="0"/>
          </a:p>
        </p:txBody>
      </p:sp>
      <p:sp>
        <p:nvSpPr>
          <p:cNvPr id="18" name="Shape 15"/>
          <p:cNvSpPr/>
          <p:nvPr/>
        </p:nvSpPr>
        <p:spPr>
          <a:xfrm>
            <a:off x="658368" y="3822192"/>
            <a:ext cx="5120640" cy="932688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3822192"/>
            <a:ext cx="54864" cy="932688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96112" y="39136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apaga solo</a:t>
            </a:r>
            <a:endParaRPr lang="en-US" sz="1240" dirty="0"/>
          </a:p>
        </p:txBody>
      </p:sp>
      <p:sp>
        <p:nvSpPr>
          <p:cNvPr id="21" name="Text 18"/>
          <p:cNvSpPr txBox="1"/>
          <p:nvPr/>
        </p:nvSpPr>
        <p:spPr>
          <a:xfrm>
            <a:off x="896112" y="4224528"/>
            <a:ext cx="4718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un repositorio público, sin actividad durante 60 días, se desactiva sin avisar.</a:t>
            </a:r>
            <a:endParaRPr lang="en-US" sz="1060" dirty="0"/>
          </a:p>
        </p:txBody>
      </p:sp>
      <p:sp>
        <p:nvSpPr>
          <p:cNvPr id="22" name="Shape 19"/>
          <p:cNvSpPr/>
          <p:nvPr/>
        </p:nvSpPr>
        <p:spPr>
          <a:xfrm>
            <a:off x="658368" y="4937760"/>
            <a:ext cx="45720" cy="1828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04672" y="4928616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Docs, Events that trigger workflows · resumen del original en inglés</a:t>
            </a:r>
            <a:endParaRPr lang="en-US" sz="880" dirty="0"/>
          </a:p>
        </p:txBody>
      </p:sp>
      <p:sp>
        <p:nvSpPr>
          <p:cNvPr id="24" name="Shape 21"/>
          <p:cNvSpPr/>
          <p:nvPr/>
        </p:nvSpPr>
        <p:spPr>
          <a:xfrm>
            <a:off x="6126480" y="1719072"/>
            <a:ext cx="5425135" cy="3287744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25" name="Image 1" descr="C:\Users\Diego Obando\dev\pro402-taller-de-testing-2026\clases\semana-05\02-2\ppt\source\assets\gh-historial-auditori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737360"/>
            <a:ext cx="5388559" cy="3251168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144768" y="5043392"/>
            <a:ext cx="53885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Ejecuciones de la auditoría: por push y a mano («Manually run»).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proyecto que se deja de tocar deja también de auditarse.</a:t>
            </a:r>
            <a:endParaRPr lang="en-US" sz="13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LA TRAZABILIDAD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matriz, regenerada en cada ejecución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682496"/>
            <a:ext cx="5852160" cy="1650797"/>
          </a:xfrm>
          <a:prstGeom prst="roundRect">
            <a:avLst>
              <a:gd name="adj" fmla="val 277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039112"/>
            <a:ext cx="5852160" cy="914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1773936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paso más en el trabajo de pytest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713232" y="2326691"/>
            <a:ext cx="5340096" cy="155863"/>
          </a:xfrm>
          <a:prstGeom prst="rect">
            <a:avLst/>
          </a:prstGeom>
          <a:solidFill>
            <a:srgbClr val="B3181E">
              <a:alpha val="28000"/>
            </a:srgbClr>
          </a:solidFill>
          <a:ln w="12700">
            <a:solidFill>
              <a:srgbClr val="B3181E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2813761"/>
            <a:ext cx="5340096" cy="155863"/>
          </a:xfrm>
          <a:prstGeom prst="rect">
            <a:avLst/>
          </a:prstGeom>
          <a:solidFill>
            <a:srgbClr val="E0BC5A">
              <a:alpha val="28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176272"/>
            <a:ext cx="5120640" cy="1029005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07244" y="2323635"/>
            <a:ext cx="149368" cy="149368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216388" y="2332779"/>
            <a:ext cx="131080" cy="131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40" dirty="0"/>
          </a:p>
        </p:txBody>
      </p:sp>
      <p:sp>
        <p:nvSpPr>
          <p:cNvPr id="18" name="Shape 14"/>
          <p:cNvSpPr/>
          <p:nvPr/>
        </p:nvSpPr>
        <p:spPr>
          <a:xfrm>
            <a:off x="6207244" y="2810705"/>
            <a:ext cx="149368" cy="149368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16388" y="2819849"/>
            <a:ext cx="131080" cy="131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40" dirty="0"/>
          </a:p>
        </p:txBody>
      </p:sp>
      <p:sp>
        <p:nvSpPr>
          <p:cNvPr id="20" name="Shape 16"/>
          <p:cNvSpPr/>
          <p:nvPr/>
        </p:nvSpPr>
        <p:spPr>
          <a:xfrm>
            <a:off x="658368" y="3346704"/>
            <a:ext cx="58521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04672" y="3566160"/>
            <a:ext cx="256032" cy="256032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13816" y="35753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40" dirty="0"/>
          </a:p>
        </p:txBody>
      </p:sp>
      <p:sp>
        <p:nvSpPr>
          <p:cNvPr id="23" name="Text 19"/>
          <p:cNvSpPr txBox="1"/>
          <p:nvPr/>
        </p:nvSpPr>
        <p:spPr>
          <a:xfrm>
            <a:off x="1170432" y="340156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if: always()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1170432" y="3657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 el paso aunque pytest haya fallado: es justo cuando más interesa la matriz.</a:t>
            </a:r>
            <a:endParaRPr lang="en-US" sz="960" dirty="0"/>
          </a:p>
        </p:txBody>
      </p:sp>
      <p:sp>
        <p:nvSpPr>
          <p:cNvPr id="25" name="Shape 21"/>
          <p:cNvSpPr/>
          <p:nvPr/>
        </p:nvSpPr>
        <p:spPr>
          <a:xfrm>
            <a:off x="658368" y="4114800"/>
            <a:ext cx="58521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04672" y="4334256"/>
            <a:ext cx="256032" cy="25603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13816" y="4343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40" dirty="0"/>
          </a:p>
        </p:txBody>
      </p:sp>
      <p:sp>
        <p:nvSpPr>
          <p:cNvPr id="28" name="Text 24"/>
          <p:cNvSpPr txBox="1"/>
          <p:nvPr/>
        </p:nvSpPr>
        <p:spPr>
          <a:xfrm>
            <a:off x="1170432" y="41696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$GITHUB_STEP_SUMMARY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1170432" y="442569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archivo especial: lo que se escribe en él aparece en la página de resumen de la ejecución.</a:t>
            </a:r>
            <a:endParaRPr lang="en-US" sz="960" dirty="0"/>
          </a:p>
        </p:txBody>
      </p:sp>
      <p:sp>
        <p:nvSpPr>
          <p:cNvPr id="30" name="Shape 26"/>
          <p:cNvSpPr/>
          <p:nvPr/>
        </p:nvSpPr>
        <p:spPr>
          <a:xfrm>
            <a:off x="658368" y="4882896"/>
            <a:ext cx="585216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1170432" y="4937760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run: |, echo y &gt;&gt;</a:t>
            </a:r>
            <a:endParaRPr lang="en-US" sz="1000" dirty="0"/>
          </a:p>
        </p:txBody>
      </p:sp>
      <p:sp>
        <p:nvSpPr>
          <p:cNvPr id="32" name="Text 28"/>
          <p:cNvSpPr txBox="1"/>
          <p:nvPr/>
        </p:nvSpPr>
        <p:spPr>
          <a:xfrm>
            <a:off x="1170432" y="51937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barra permite varios comandos; echo escribe un texto; &gt;&gt; lo agrega al final del archivo.</a:t>
            </a:r>
            <a:endParaRPr lang="en-US" sz="960" dirty="0"/>
          </a:p>
        </p:txBody>
      </p:sp>
      <p:sp>
        <p:nvSpPr>
          <p:cNvPr id="33" name="Shape 29"/>
          <p:cNvSpPr/>
          <p:nvPr/>
        </p:nvSpPr>
        <p:spPr>
          <a:xfrm>
            <a:off x="6784848" y="1682496"/>
            <a:ext cx="4748479" cy="2634996"/>
          </a:xfrm>
          <a:prstGeom prst="roundRect">
            <a:avLst>
              <a:gd name="adj" fmla="val 1735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6944868" y="1815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100316" y="1815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7255764" y="1815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479792" y="1764792"/>
            <a:ext cx="3870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requisito y cuántas pruebas lo comprueban</a:t>
            </a:r>
            <a:endParaRPr lang="en-US" sz="940" dirty="0"/>
          </a:p>
        </p:txBody>
      </p:sp>
      <p:sp>
        <p:nvSpPr>
          <p:cNvPr id="38" name="Text 34"/>
          <p:cNvSpPr/>
          <p:nvPr/>
        </p:nvSpPr>
        <p:spPr>
          <a:xfrm>
            <a:off x="6986016" y="2157984"/>
            <a:ext cx="4346143" cy="169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requisito    pruebas   estado</a:t>
            </a:r>
            <a:endParaRPr lang="en-US" sz="860" dirty="0"/>
          </a:p>
        </p:txBody>
      </p:sp>
      <p:sp>
        <p:nvSpPr>
          <p:cNvPr id="39" name="Text 35"/>
          <p:cNvSpPr/>
          <p:nvPr/>
        </p:nvSpPr>
        <p:spPr>
          <a:xfrm>
            <a:off x="6986016" y="2327275"/>
            <a:ext cx="4346143" cy="169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RF-01             10   cubierto</a:t>
            </a:r>
            <a:endParaRPr lang="en-US" sz="860" dirty="0"/>
          </a:p>
        </p:txBody>
      </p:sp>
      <p:sp>
        <p:nvSpPr>
          <p:cNvPr id="40" name="Text 36"/>
          <p:cNvSpPr/>
          <p:nvPr/>
        </p:nvSpPr>
        <p:spPr>
          <a:xfrm>
            <a:off x="6986016" y="2496566"/>
            <a:ext cx="4346143" cy="169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RF-02              3   cubierto</a:t>
            </a:r>
            <a:endParaRPr lang="en-US" sz="860" dirty="0"/>
          </a:p>
        </p:txBody>
      </p:sp>
      <p:sp>
        <p:nvSpPr>
          <p:cNvPr id="41" name="Text 37"/>
          <p:cNvSpPr/>
          <p:nvPr/>
        </p:nvSpPr>
        <p:spPr>
          <a:xfrm>
            <a:off x="6986016" y="2665857"/>
            <a:ext cx="4346143" cy="169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RF-03              2   cubierto</a:t>
            </a:r>
            <a:endParaRPr lang="en-US" sz="860" dirty="0"/>
          </a:p>
        </p:txBody>
      </p:sp>
      <p:sp>
        <p:nvSpPr>
          <p:cNvPr id="42" name="Text 38"/>
          <p:cNvSpPr/>
          <p:nvPr/>
        </p:nvSpPr>
        <p:spPr>
          <a:xfrm>
            <a:off x="6986016" y="2835148"/>
            <a:ext cx="4346143" cy="169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RF-04              4   cubierto</a:t>
            </a:r>
            <a:endParaRPr lang="en-US" sz="860" dirty="0"/>
          </a:p>
        </p:txBody>
      </p:sp>
      <p:sp>
        <p:nvSpPr>
          <p:cNvPr id="43" name="Text 39"/>
          <p:cNvSpPr/>
          <p:nvPr/>
        </p:nvSpPr>
        <p:spPr>
          <a:xfrm>
            <a:off x="6986016" y="3004439"/>
            <a:ext cx="4346143" cy="169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RF-05              0   SIN PRUEBA</a:t>
            </a:r>
            <a:endParaRPr lang="en-US" sz="860" dirty="0"/>
          </a:p>
        </p:txBody>
      </p:sp>
      <p:sp>
        <p:nvSpPr>
          <p:cNvPr id="44" name="Text 40"/>
          <p:cNvSpPr/>
          <p:nvPr/>
        </p:nvSpPr>
        <p:spPr>
          <a:xfrm>
            <a:off x="6986016" y="3173730"/>
            <a:ext cx="4346143" cy="169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RF-06              1   cubierto</a:t>
            </a:r>
            <a:endParaRPr lang="en-US" sz="860" dirty="0"/>
          </a:p>
        </p:txBody>
      </p:sp>
      <p:sp>
        <p:nvSpPr>
          <p:cNvPr id="45" name="Text 41"/>
          <p:cNvSpPr/>
          <p:nvPr/>
        </p:nvSpPr>
        <p:spPr>
          <a:xfrm>
            <a:off x="6986016" y="3343021"/>
            <a:ext cx="4346143" cy="169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RF-07              2   cubierto</a:t>
            </a:r>
            <a:endParaRPr lang="en-US" sz="860" dirty="0"/>
          </a:p>
        </p:txBody>
      </p:sp>
      <p:sp>
        <p:nvSpPr>
          <p:cNvPr id="46" name="Text 42"/>
          <p:cNvSpPr/>
          <p:nvPr/>
        </p:nvSpPr>
        <p:spPr>
          <a:xfrm>
            <a:off x="6986016" y="3512312"/>
            <a:ext cx="4346143" cy="169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RF-08              0   SIN PRUEBA</a:t>
            </a:r>
            <a:endParaRPr lang="en-US" sz="860" dirty="0"/>
          </a:p>
        </p:txBody>
      </p:sp>
      <p:sp>
        <p:nvSpPr>
          <p:cNvPr id="47" name="Text 43"/>
          <p:cNvSpPr/>
          <p:nvPr/>
        </p:nvSpPr>
        <p:spPr>
          <a:xfrm>
            <a:off x="6986016" y="3681603"/>
            <a:ext cx="4346143" cy="169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RF-09              0   SIN PRUEBA</a:t>
            </a:r>
            <a:endParaRPr lang="en-US" sz="860" dirty="0"/>
          </a:p>
        </p:txBody>
      </p:sp>
      <p:sp>
        <p:nvSpPr>
          <p:cNvPr id="48" name="Text 44"/>
          <p:cNvSpPr/>
          <p:nvPr/>
        </p:nvSpPr>
        <p:spPr>
          <a:xfrm>
            <a:off x="6986016" y="3850894"/>
            <a:ext cx="4346143" cy="169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RF-10              0   SIN PRUEBA</a:t>
            </a:r>
            <a:endParaRPr lang="en-US" sz="860" dirty="0"/>
          </a:p>
        </p:txBody>
      </p:sp>
      <p:sp>
        <p:nvSpPr>
          <p:cNvPr id="49" name="Text 45"/>
          <p:cNvSpPr/>
          <p:nvPr/>
        </p:nvSpPr>
        <p:spPr>
          <a:xfrm>
            <a:off x="6986016" y="4020185"/>
            <a:ext cx="4346143" cy="169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Pruebas sin requisito: 3</a:t>
            </a:r>
            <a:endParaRPr lang="en-US" sz="860" dirty="0"/>
          </a:p>
        </p:txBody>
      </p:sp>
      <p:sp>
        <p:nvSpPr>
          <p:cNvPr id="50" name="Shape 46"/>
          <p:cNvSpPr/>
          <p:nvPr/>
        </p:nvSpPr>
        <p:spPr>
          <a:xfrm>
            <a:off x="6784848" y="4590288"/>
            <a:ext cx="4748479" cy="82296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7004304" y="4626864"/>
            <a:ext cx="4382719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 y no bloquea. Qué debe bloquear un cambio es un criterio de salida —la condición que el plan de pruebas declara para darla por terminada—, no una decisión del pipeline.</a:t>
            </a:r>
            <a:endParaRPr lang="en-US" sz="108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EL ESTADO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Todo en verde, y nada escondido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1773936"/>
            <a:ext cx="10874959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" y="1865376"/>
            <a:ext cx="105091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8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CUATRO TRABAJOS DE LOS DOS FLUJOS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850392" y="2350008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9536" y="23591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207008" y="2249424"/>
            <a:ext cx="101434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Controles estáticos</a:t>
            </a:r>
            <a:endParaRPr lang="en-US" sz="1240" dirty="0"/>
          </a:p>
        </p:txBody>
      </p:sp>
      <p:sp>
        <p:nvSpPr>
          <p:cNvPr id="15" name="Text 12"/>
          <p:cNvSpPr txBox="1"/>
          <p:nvPr/>
        </p:nvSpPr>
        <p:spPr>
          <a:xfrm>
            <a:off x="6095848" y="2249424"/>
            <a:ext cx="525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40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 problemas</a:t>
            </a:r>
            <a:endParaRPr lang="en-US" sz="1040" dirty="0"/>
          </a:p>
        </p:txBody>
      </p:sp>
      <p:sp>
        <p:nvSpPr>
          <p:cNvPr id="16" name="Shape 13"/>
          <p:cNvSpPr/>
          <p:nvPr/>
        </p:nvSpPr>
        <p:spPr>
          <a:xfrm>
            <a:off x="850392" y="2862072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9536" y="28712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207008" y="2761488"/>
            <a:ext cx="101434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de Python</a:t>
            </a:r>
            <a:endParaRPr lang="en-US" sz="1240" dirty="0"/>
          </a:p>
        </p:txBody>
      </p:sp>
      <p:sp>
        <p:nvSpPr>
          <p:cNvPr id="19" name="Text 16"/>
          <p:cNvSpPr txBox="1"/>
          <p:nvPr/>
        </p:nvSpPr>
        <p:spPr>
          <a:xfrm>
            <a:off x="6095848" y="2761488"/>
            <a:ext cx="525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40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passed, 1 xfailed · la suplantación, con su motivo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850392" y="3374136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9536" y="33832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207008" y="3273552"/>
            <a:ext cx="101434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de extremo a extremo</a:t>
            </a:r>
            <a:endParaRPr lang="en-US" sz="1240" dirty="0"/>
          </a:p>
        </p:txBody>
      </p:sp>
      <p:sp>
        <p:nvSpPr>
          <p:cNvPr id="23" name="Text 20"/>
          <p:cNvSpPr txBox="1"/>
          <p:nvPr/>
        </p:nvSpPr>
        <p:spPr>
          <a:xfrm>
            <a:off x="6095848" y="3273552"/>
            <a:ext cx="525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40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passed · 6 de ellas, fallas esperadas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850392" y="3886200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9536" y="38953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207008" y="3785616"/>
            <a:ext cx="101434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Vulnerabilidades conocidas</a:t>
            </a:r>
            <a:endParaRPr lang="en-US" sz="1240" dirty="0"/>
          </a:p>
        </p:txBody>
      </p:sp>
      <p:sp>
        <p:nvSpPr>
          <p:cNvPr id="27" name="Text 24"/>
          <p:cNvSpPr txBox="1"/>
          <p:nvPr/>
        </p:nvSpPr>
        <p:spPr>
          <a:xfrm>
            <a:off x="6095848" y="3785616"/>
            <a:ext cx="5254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40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known vulnerabilities found</a:t>
            </a:r>
            <a:endParaRPr lang="en-US" sz="1040" dirty="0"/>
          </a:p>
        </p:txBody>
      </p:sp>
      <p:sp>
        <p:nvSpPr>
          <p:cNvPr id="28" name="Shape 25"/>
          <p:cNvSpPr/>
          <p:nvPr/>
        </p:nvSpPr>
        <p:spPr>
          <a:xfrm>
            <a:off x="658368" y="4425696"/>
            <a:ext cx="53460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8368" y="4425696"/>
            <a:ext cx="54864" cy="95097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96112" y="4498848"/>
            <a:ext cx="498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alguien corrige un defecto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896112" y="4791456"/>
            <a:ext cx="4943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marca estricta pone el pipeline en rojo hasta que se actualice el registro.</a:t>
            </a:r>
            <a:endParaRPr lang="en-US" sz="1060" dirty="0"/>
          </a:p>
        </p:txBody>
      </p:sp>
      <p:sp>
        <p:nvSpPr>
          <p:cNvPr id="32" name="Shape 29"/>
          <p:cNvSpPr/>
          <p:nvPr/>
        </p:nvSpPr>
        <p:spPr>
          <a:xfrm>
            <a:off x="6187288" y="4425696"/>
            <a:ext cx="53460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187288" y="4425696"/>
            <a:ext cx="54864" cy="950976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425032" y="4498848"/>
            <a:ext cx="498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se publica una vulnerabilidad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6425032" y="4791456"/>
            <a:ext cx="49437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auditoría programada la encuentra a la mañana siguiente, sin que nadie haga push.</a:t>
            </a:r>
            <a:endParaRPr lang="en-US" sz="1060" dirty="0"/>
          </a:p>
        </p:txBody>
      </p:sp>
      <p:sp>
        <p:nvSpPr>
          <p:cNvPr id="36" name="Shape 33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verde dice lo que mide. Falta una pregunta: ¿y si una prueba pasa y falla sin motivo?</a:t>
            </a:r>
            <a:endParaRPr lang="en-US" sz="13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CIERRE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antes de la pausa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preguntas para comprobar la idea central antes de seguir.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10874959" cy="109728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139696"/>
            <a:ext cx="54864" cy="109728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228600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591056" y="2267712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compañero consiguió el verde agregando @pytest.mark.skip a las dos pruebas que fallaban. Su pipeline está en verde, igual que el de la clase. ¿Qué diferencia hay?</a:t>
            </a:r>
            <a:endParaRPr lang="en-US" sz="1340" dirty="0"/>
          </a:p>
        </p:txBody>
      </p:sp>
      <p:sp>
        <p:nvSpPr>
          <p:cNvPr id="15" name="Shape 12"/>
          <p:cNvSpPr/>
          <p:nvPr/>
        </p:nvSpPr>
        <p:spPr>
          <a:xfrm>
            <a:off x="1591056" y="2798064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1591056" y="288950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17" name="Text 14"/>
          <p:cNvSpPr txBox="1"/>
          <p:nvPr/>
        </p:nvSpPr>
        <p:spPr>
          <a:xfrm>
            <a:off x="2286000" y="2862072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qué hace pytest con una prueba omitida y con una falla esperada. ¿Qué pasa el día que alguien corrija el defecto?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658368" y="3364992"/>
            <a:ext cx="10874959" cy="109728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3364992"/>
            <a:ext cx="54864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3511296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1591056" y="3493008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el pull request número 1, el sistema mejoró y el pipeline se puso en rojo. ¿Tiene sentido que una mejora rompa el pipeline?</a:t>
            </a:r>
            <a:endParaRPr lang="en-US" sz="1340" dirty="0"/>
          </a:p>
        </p:txBody>
      </p:sp>
      <p:sp>
        <p:nvSpPr>
          <p:cNvPr id="22" name="Shape 19"/>
          <p:cNvSpPr/>
          <p:nvPr/>
        </p:nvSpPr>
        <p:spPr>
          <a:xfrm>
            <a:off x="1591056" y="4023360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 txBox="1"/>
          <p:nvPr/>
        </p:nvSpPr>
        <p:spPr>
          <a:xfrm>
            <a:off x="1591056" y="41148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24" name="Text 21"/>
          <p:cNvSpPr txBox="1"/>
          <p:nvPr/>
        </p:nvSpPr>
        <p:spPr>
          <a:xfrm>
            <a:off x="2286000" y="4087368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Relee qué afirmaba la marca antes de la corrección. ¿Qué afirmaría el repositorio si la marca se quedara?</a:t>
            </a:r>
            <a:endParaRPr lang="en-US" sz="1140" dirty="0"/>
          </a:p>
        </p:txBody>
      </p:sp>
      <p:sp>
        <p:nvSpPr>
          <p:cNvPr id="25" name="Shape 22"/>
          <p:cNvSpPr/>
          <p:nvPr/>
        </p:nvSpPr>
        <p:spPr>
          <a:xfrm>
            <a:off x="658368" y="4590288"/>
            <a:ext cx="10874959" cy="109728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8368" y="4590288"/>
            <a:ext cx="54864" cy="10972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736592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1591056" y="4718304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salida de Playwright dice 27 passed. ¿Se puede escribir en un informe que las 27 pruebas de extremo a extremo pasan?</a:t>
            </a:r>
            <a:endParaRPr lang="en-US" sz="1340" dirty="0"/>
          </a:p>
        </p:txBody>
      </p:sp>
      <p:sp>
        <p:nvSpPr>
          <p:cNvPr id="29" name="Shape 26"/>
          <p:cNvSpPr/>
          <p:nvPr/>
        </p:nvSpPr>
        <p:spPr>
          <a:xfrm>
            <a:off x="1591056" y="5248656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0" name="Text 27"/>
          <p:cNvSpPr txBox="1"/>
          <p:nvPr/>
        </p:nvSpPr>
        <p:spPr>
          <a:xfrm>
            <a:off x="1591056" y="534009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31" name="Text 28"/>
          <p:cNvSpPr txBox="1"/>
          <p:nvPr/>
        </p:nvSpPr>
        <p:spPr>
          <a:xfrm>
            <a:off x="2286000" y="5312664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 las líneas marcadas con ✘ en la misma salida. ¿Qué parte hay que leer para saber cuántas pasaron?</a:t>
            </a:r>
            <a:endParaRPr lang="en-US" sz="114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CONTRASTE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tenía que aparecer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respuestas conservan el mismo orden y color que las preguntas.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139696"/>
            <a:ext cx="54864" cy="124358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6112" y="23042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1591056" y="224942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OMITIR ESCONDE EL DEFECTO</a:t>
            </a:r>
            <a:endParaRPr lang="en-US" sz="830" dirty="0"/>
          </a:p>
        </p:txBody>
      </p:sp>
      <p:sp>
        <p:nvSpPr>
          <p:cNvPr id="15" name="Text 12"/>
          <p:cNvSpPr txBox="1"/>
          <p:nvPr/>
        </p:nvSpPr>
        <p:spPr>
          <a:xfrm>
            <a:off x="1591056" y="2468880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omitida no se ejecuta; la falla esperada se ejecuta y muestra su motivo.</a:t>
            </a:r>
            <a:endParaRPr lang="en-US" sz="1240" dirty="0"/>
          </a:p>
        </p:txBody>
      </p:sp>
      <p:sp>
        <p:nvSpPr>
          <p:cNvPr id="16" name="Shape 13"/>
          <p:cNvSpPr/>
          <p:nvPr/>
        </p:nvSpPr>
        <p:spPr>
          <a:xfrm>
            <a:off x="1591056" y="2871216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1591056" y="2962656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2871216" y="2935224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strict, corregir el defecto obliga a quitar la marca.</a:t>
            </a:r>
            <a:endParaRPr lang="en-US" sz="1020" dirty="0"/>
          </a:p>
        </p:txBody>
      </p:sp>
      <p:sp>
        <p:nvSpPr>
          <p:cNvPr id="19" name="Text 16"/>
          <p:cNvSpPr txBox="1"/>
          <p:nvPr/>
        </p:nvSpPr>
        <p:spPr>
          <a:xfrm>
            <a:off x="6784848" y="2962656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138160" y="293522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Llegar al verde apagando lo que falla.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658368" y="3493008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" y="3493008"/>
            <a:ext cx="54864" cy="12435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96112" y="36576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700" dirty="0"/>
          </a:p>
        </p:txBody>
      </p:sp>
      <p:sp>
        <p:nvSpPr>
          <p:cNvPr id="24" name="Text 21"/>
          <p:cNvSpPr txBox="1"/>
          <p:nvPr/>
        </p:nvSpPr>
        <p:spPr>
          <a:xfrm>
            <a:off x="1591056" y="360273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SÍ: LA MARCA DEJÓ DE SER CIERTA</a:t>
            </a:r>
            <a:endParaRPr lang="en-US" sz="830" dirty="0"/>
          </a:p>
        </p:txBody>
      </p:sp>
      <p:sp>
        <p:nvSpPr>
          <p:cNvPr id="25" name="Text 22"/>
          <p:cNvSpPr txBox="1"/>
          <p:nvPr/>
        </p:nvSpPr>
        <p:spPr>
          <a:xfrm>
            <a:off x="1591056" y="3822192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marca decía «esto está roto», y la prueba empezó a pasar.</a:t>
            </a:r>
            <a:endParaRPr lang="en-US" sz="1240" dirty="0"/>
          </a:p>
        </p:txBody>
      </p:sp>
      <p:sp>
        <p:nvSpPr>
          <p:cNvPr id="26" name="Shape 23"/>
          <p:cNvSpPr/>
          <p:nvPr/>
        </p:nvSpPr>
        <p:spPr>
          <a:xfrm>
            <a:off x="1591056" y="4224528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 txBox="1"/>
          <p:nvPr/>
        </p:nvSpPr>
        <p:spPr>
          <a:xfrm>
            <a:off x="1591056" y="4315968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2871216" y="4288536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pipeline no deja que el repositorio afirme algo falso.</a:t>
            </a:r>
            <a:endParaRPr lang="en-US" sz="102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4315968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8138160" y="428853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Quitar strict para que la mejora no moleste.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658368" y="4846320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368" y="4846320"/>
            <a:ext cx="54864" cy="124358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96112" y="501091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700" dirty="0"/>
          </a:p>
        </p:txBody>
      </p:sp>
      <p:sp>
        <p:nvSpPr>
          <p:cNvPr id="34" name="Text 31"/>
          <p:cNvSpPr txBox="1"/>
          <p:nvPr/>
        </p:nvSpPr>
        <p:spPr>
          <a:xfrm>
            <a:off x="1591056" y="49560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NO: SEIS FALLARON COMO SE ESPERABA</a:t>
            </a:r>
            <a:endParaRPr lang="en-US" sz="830" dirty="0"/>
          </a:p>
        </p:txBody>
      </p:sp>
      <p:sp>
        <p:nvSpPr>
          <p:cNvPr id="35" name="Text 32"/>
          <p:cNvSpPr txBox="1"/>
          <p:nvPr/>
        </p:nvSpPr>
        <p:spPr>
          <a:xfrm>
            <a:off x="1591056" y="5175504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total cuenta juntas las que pasaron y las fallas esperadas.</a:t>
            </a:r>
            <a:endParaRPr lang="en-US" sz="1240" dirty="0"/>
          </a:p>
        </p:txBody>
      </p:sp>
      <p:sp>
        <p:nvSpPr>
          <p:cNvPr id="36" name="Shape 33"/>
          <p:cNvSpPr/>
          <p:nvPr/>
        </p:nvSpPr>
        <p:spPr>
          <a:xfrm>
            <a:off x="1591056" y="5577840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7" name="Text 34"/>
          <p:cNvSpPr txBox="1"/>
          <p:nvPr/>
        </p:nvSpPr>
        <p:spPr>
          <a:xfrm>
            <a:off x="1591056" y="56692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2871216" y="5641848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Hay que leer las líneas, y tener un registro escrito.</a:t>
            </a:r>
            <a:endParaRPr lang="en-US" sz="1020" dirty="0"/>
          </a:p>
        </p:txBody>
      </p:sp>
      <p:sp>
        <p:nvSpPr>
          <p:cNvPr id="39" name="Text 36"/>
          <p:cNvSpPr txBox="1"/>
          <p:nvPr/>
        </p:nvSpPr>
        <p:spPr>
          <a:xfrm>
            <a:off x="6784848" y="5669280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8138160" y="564184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Informar el total sin mirar las ✘.</a:t>
            </a:r>
            <a:endParaRPr lang="en-US" sz="102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371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DE 4 · 20 MINUTOS</a:t>
            </a:r>
            <a:endParaRPr lang="en-US" sz="96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810512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prueba que pasa y falla</a:t>
            </a:r>
            <a:endParaRPr lang="en-US" sz="4400" dirty="0"/>
          </a:p>
        </p:txBody>
      </p:sp>
      <p:sp>
        <p:nvSpPr>
          <p:cNvPr id="10" name="Shape 7"/>
          <p:cNvSpPr/>
          <p:nvPr/>
        </p:nvSpPr>
        <p:spPr>
          <a:xfrm>
            <a:off x="658368" y="3346704"/>
            <a:ext cx="3840480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 txBox="1"/>
          <p:nvPr/>
        </p:nvSpPr>
        <p:spPr>
          <a:xfrm>
            <a:off x="658368" y="3602736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prueba inestable llega al pipeline: el mismo commit en rojo y en verde, reintentos que informan y reintentos que esconden, y la única forma de saber si una prueba es confiable.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58368" y="4901184"/>
            <a:ext cx="2622728" cy="78638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" y="5001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5184648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</a:t>
            </a:r>
            <a:endParaRPr lang="en-US" sz="116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5422392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la suite corra sola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3409112" y="4901184"/>
            <a:ext cx="2622728" cy="78638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591992" y="5001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3591992" y="5184648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</a:t>
            </a:r>
            <a:endParaRPr lang="en-US" sz="1160" dirty="0"/>
          </a:p>
        </p:txBody>
      </p:sp>
      <p:sp>
        <p:nvSpPr>
          <p:cNvPr id="19" name="Text 16"/>
          <p:cNvSpPr txBox="1"/>
          <p:nvPr/>
        </p:nvSpPr>
        <p:spPr>
          <a:xfrm>
            <a:off x="3591992" y="5422392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hacer con los rojos conocidos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6159856" y="4901184"/>
            <a:ext cx="2622728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42736" y="5001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342736" y="5184648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ESTABILIZAR</a:t>
            </a:r>
            <a:endParaRPr lang="en-US" sz="1160" dirty="0"/>
          </a:p>
        </p:txBody>
      </p:sp>
      <p:sp>
        <p:nvSpPr>
          <p:cNvPr id="23" name="Text 20"/>
          <p:cNvSpPr txBox="1"/>
          <p:nvPr/>
        </p:nvSpPr>
        <p:spPr>
          <a:xfrm>
            <a:off x="6342736" y="5422392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que pasa y falla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8910599" y="4901184"/>
            <a:ext cx="2622728" cy="78638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093479" y="5001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9093479" y="5184648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PROTEGER</a:t>
            </a:r>
            <a:endParaRPr lang="en-US" sz="1160" dirty="0"/>
          </a:p>
        </p:txBody>
      </p:sp>
      <p:sp>
        <p:nvSpPr>
          <p:cNvPr id="27" name="Text 24"/>
          <p:cNvSpPr txBox="1"/>
          <p:nvPr/>
        </p:nvSpPr>
        <p:spPr>
          <a:xfrm>
            <a:off x="9093479" y="5422392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un rojo no se integre</a:t>
            </a:r>
            <a:endParaRPr lang="en-US" sz="92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EL COSTO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mide Google en su integración continua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82496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 inestable: la que pasa y falla sin que el código cambie. En una suite que corre sola decenas de veces al día, deja de ser una molestia.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58368" y="2267712"/>
            <a:ext cx="3503066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267712"/>
            <a:ext cx="3503066" cy="73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2432304"/>
            <a:ext cx="304586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1,5 %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255264"/>
            <a:ext cx="30458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todas las ejecuciones de pruebas dan un resultado inestable</a:t>
            </a:r>
            <a:endParaRPr lang="en-US" sz="1140" dirty="0"/>
          </a:p>
        </p:txBody>
      </p:sp>
      <p:sp>
        <p:nvSpPr>
          <p:cNvPr id="15" name="Shape 12"/>
          <p:cNvSpPr/>
          <p:nvPr/>
        </p:nvSpPr>
        <p:spPr>
          <a:xfrm>
            <a:off x="4344314" y="2267712"/>
            <a:ext cx="3503066" cy="17922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44314" y="2267712"/>
            <a:ext cx="3503066" cy="73152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00346" y="2432304"/>
            <a:ext cx="304586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16 %</a:t>
            </a:r>
            <a:endParaRPr lang="en-US" sz="4400" dirty="0"/>
          </a:p>
        </p:txBody>
      </p:sp>
      <p:sp>
        <p:nvSpPr>
          <p:cNvPr id="18" name="Text 15"/>
          <p:cNvSpPr txBox="1"/>
          <p:nvPr/>
        </p:nvSpPr>
        <p:spPr>
          <a:xfrm>
            <a:off x="4600346" y="3255264"/>
            <a:ext cx="30458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las pruebas tienen algún grado de inestabilidad: más de 1 de cada 7</a:t>
            </a:r>
            <a:endParaRPr lang="en-US" sz="1140" dirty="0"/>
          </a:p>
        </p:txBody>
      </p:sp>
      <p:sp>
        <p:nvSpPr>
          <p:cNvPr id="19" name="Shape 16"/>
          <p:cNvSpPr/>
          <p:nvPr/>
        </p:nvSpPr>
        <p:spPr>
          <a:xfrm>
            <a:off x="8030261" y="2267712"/>
            <a:ext cx="3503066" cy="1792224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30261" y="2267712"/>
            <a:ext cx="3503066" cy="7315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86293" y="2432304"/>
            <a:ext cx="304586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84 %</a:t>
            </a:r>
            <a:endParaRPr lang="en-US" sz="4400" dirty="0"/>
          </a:p>
        </p:txBody>
      </p:sp>
      <p:sp>
        <p:nvSpPr>
          <p:cNvPr id="22" name="Text 19"/>
          <p:cNvSpPr txBox="1"/>
          <p:nvPr/>
        </p:nvSpPr>
        <p:spPr>
          <a:xfrm>
            <a:off x="8286293" y="3255264"/>
            <a:ext cx="30458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los cambios de verde a rojo involucran una prueba inestable</a:t>
            </a:r>
            <a:endParaRPr lang="en-US" sz="1140" dirty="0"/>
          </a:p>
        </p:txBody>
      </p:sp>
      <p:sp>
        <p:nvSpPr>
          <p:cNvPr id="23" name="Shape 20"/>
          <p:cNvSpPr/>
          <p:nvPr/>
        </p:nvSpPr>
        <p:spPr>
          <a:xfrm>
            <a:off x="658368" y="4224528"/>
            <a:ext cx="10874959" cy="950976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8368" y="4224528"/>
            <a:ext cx="54864" cy="950976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4400" y="4352544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i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«Es bastante común ignorar fallas legítimas en pruebas inestables por la gran cantidad de falsos positivos.»</a:t>
            </a:r>
            <a:endParaRPr lang="en-US" sz="1180" dirty="0"/>
          </a:p>
        </p:txBody>
      </p:sp>
      <p:sp>
        <p:nvSpPr>
          <p:cNvPr id="26" name="Text 23"/>
          <p:cNvSpPr txBox="1"/>
          <p:nvPr/>
        </p:nvSpPr>
        <p:spPr>
          <a:xfrm>
            <a:off x="914400" y="4901184"/>
            <a:ext cx="10362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John Micco, Flaky Tests at Google and How We Mitigate Them, Google Testing Blog, 2016 · traducción del original en inglés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58368" y="524865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Falso positivo: un rojo que no indica ningún defecto.</a:t>
            </a:r>
            <a:endParaRPr lang="en-US" sz="980" dirty="0"/>
          </a:p>
        </p:txBody>
      </p:sp>
      <p:sp>
        <p:nvSpPr>
          <p:cNvPr id="28" name="Shape 25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prueba inestable enseña a no creerle al rojo. Y el día que el rojo es real, nadie lo mira.</a:t>
            </a:r>
            <a:endParaRPr lang="en-US" sz="13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PULL REQUEST 2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prueba útil, con el error de siempre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682496"/>
            <a:ext cx="6583680" cy="1837334"/>
          </a:xfrm>
          <a:prstGeom prst="roundRect">
            <a:avLst>
              <a:gd name="adj" fmla="val 248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039112"/>
            <a:ext cx="6583680" cy="914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1773936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e2e/pruebas/espera.spec.ts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713232" y="2661514"/>
            <a:ext cx="6071616" cy="159179"/>
          </a:xfrm>
          <a:prstGeom prst="rect">
            <a:avLst/>
          </a:prstGeom>
          <a:solidFill>
            <a:srgbClr val="B3181E">
              <a:alpha val="28000"/>
            </a:srgbClr>
          </a:solidFill>
          <a:ln w="12700">
            <a:solidFill>
              <a:srgbClr val="B3181E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2827325"/>
            <a:ext cx="6071616" cy="159179"/>
          </a:xfrm>
          <a:prstGeom prst="rect">
            <a:avLst/>
          </a:prstGeom>
          <a:solidFill>
            <a:srgbClr val="E0BC5A">
              <a:alpha val="28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176272"/>
            <a:ext cx="5852160" cy="121554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937175" y="2658392"/>
            <a:ext cx="152546" cy="152546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946319" y="2667536"/>
            <a:ext cx="134258" cy="1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40" dirty="0"/>
          </a:p>
        </p:txBody>
      </p:sp>
      <p:sp>
        <p:nvSpPr>
          <p:cNvPr id="18" name="Shape 14"/>
          <p:cNvSpPr/>
          <p:nvPr/>
        </p:nvSpPr>
        <p:spPr>
          <a:xfrm>
            <a:off x="6937175" y="2824204"/>
            <a:ext cx="152546" cy="152546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946319" y="2833348"/>
            <a:ext cx="134258" cy="1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40" dirty="0"/>
          </a:p>
        </p:txBody>
      </p:sp>
      <p:sp>
        <p:nvSpPr>
          <p:cNvPr id="20" name="Text 16"/>
          <p:cNvSpPr txBox="1"/>
          <p:nvPr/>
        </p:nvSpPr>
        <p:spPr>
          <a:xfrm>
            <a:off x="658368" y="361127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reservarBloque4 llena el formulario y aprieta «Reservar». Después de una reserva confirmada, el formulario tiene que quedar vacío para la siguiente.</a:t>
            </a:r>
            <a:endParaRPr lang="en-US" sz="1040" dirty="0"/>
          </a:p>
        </p:txBody>
      </p:sp>
      <p:sp>
        <p:nvSpPr>
          <p:cNvPr id="21" name="Shape 17"/>
          <p:cNvSpPr/>
          <p:nvPr/>
        </p:nvSpPr>
        <p:spPr>
          <a:xfrm>
            <a:off x="7516368" y="1682496"/>
            <a:ext cx="4016959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662672" y="1828800"/>
            <a:ext cx="256032" cy="256032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671816" y="1837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40" dirty="0"/>
          </a:p>
        </p:txBody>
      </p:sp>
      <p:sp>
        <p:nvSpPr>
          <p:cNvPr id="24" name="Text 20"/>
          <p:cNvSpPr txBox="1"/>
          <p:nvPr/>
        </p:nvSpPr>
        <p:spPr>
          <a:xfrm>
            <a:off x="8028432" y="1773936"/>
            <a:ext cx="3376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waitForTimeout(300)</a:t>
            </a:r>
            <a:endParaRPr lang="en-US" sz="1040" dirty="0"/>
          </a:p>
        </p:txBody>
      </p:sp>
      <p:sp>
        <p:nvSpPr>
          <p:cNvPr id="25" name="Text 21"/>
          <p:cNvSpPr txBox="1"/>
          <p:nvPr/>
        </p:nvSpPr>
        <p:spPr>
          <a:xfrm>
            <a:off x="8028432" y="2048256"/>
            <a:ext cx="33768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Espera 300 milisegundos, pase lo que pase.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7516368" y="2560320"/>
            <a:ext cx="4016959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662672" y="2706624"/>
            <a:ext cx="256032" cy="25603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671816" y="2715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40" dirty="0"/>
          </a:p>
        </p:txBody>
      </p:sp>
      <p:sp>
        <p:nvSpPr>
          <p:cNvPr id="29" name="Text 25"/>
          <p:cNvSpPr txBox="1"/>
          <p:nvPr/>
        </p:nvSpPr>
        <p:spPr>
          <a:xfrm>
            <a:off x="8028432" y="2651760"/>
            <a:ext cx="337687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inputValue()</a:t>
            </a:r>
            <a:endParaRPr lang="en-US" sz="1040" dirty="0"/>
          </a:p>
        </p:txBody>
      </p:sp>
      <p:sp>
        <p:nvSpPr>
          <p:cNvPr id="30" name="Text 26"/>
          <p:cNvSpPr txBox="1"/>
          <p:nvPr/>
        </p:nvSpPr>
        <p:spPr>
          <a:xfrm>
            <a:off x="8028432" y="2926080"/>
            <a:ext cx="33768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 lo que tiene el campo en ese instante, una sola vez.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658368" y="4169664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RED SIMULADA: CADA RESPUESTA TARDA ENTRE 0 Y 400 MILISEGUNDOS</a:t>
            </a:r>
            <a:endParaRPr lang="en-US" sz="960" dirty="0"/>
          </a:p>
        </p:txBody>
      </p:sp>
      <p:sp>
        <p:nvSpPr>
          <p:cNvPr id="32" name="Shape 28"/>
          <p:cNvSpPr/>
          <p:nvPr/>
        </p:nvSpPr>
        <p:spPr>
          <a:xfrm>
            <a:off x="658368" y="4480560"/>
            <a:ext cx="8699967" cy="36576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786384" y="4517136"/>
            <a:ext cx="842564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llega en algún momento de esta franja, y recién ahí se vacía el formulario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7183344" y="4352544"/>
            <a:ext cx="0" cy="731520"/>
          </a:xfrm>
          <a:prstGeom prst="line">
            <a:avLst/>
          </a:prstGeom>
          <a:noFill/>
          <a:ln w="12700">
            <a:solidFill>
              <a:srgbClr val="B3181E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5903184" y="50840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 ms: la prueba lee</a:t>
            </a:r>
            <a:endParaRPr lang="en-US" sz="1040" dirty="0"/>
          </a:p>
        </p:txBody>
      </p:sp>
      <p:sp>
        <p:nvSpPr>
          <p:cNvPr id="36" name="Text 32"/>
          <p:cNvSpPr txBox="1"/>
          <p:nvPr/>
        </p:nvSpPr>
        <p:spPr>
          <a:xfrm>
            <a:off x="658368" y="488289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60" dirty="0"/>
          </a:p>
        </p:txBody>
      </p:sp>
      <p:sp>
        <p:nvSpPr>
          <p:cNvPr id="37" name="Text 33"/>
          <p:cNvSpPr txBox="1"/>
          <p:nvPr/>
        </p:nvSpPr>
        <p:spPr>
          <a:xfrm>
            <a:off x="8809695" y="48828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0" dirty="0">
                <a:solidFill>
                  <a:srgbClr val="5260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ms</a:t>
            </a:r>
            <a:endParaRPr lang="en-US" sz="860" dirty="0"/>
          </a:p>
        </p:txBody>
      </p:sp>
      <p:sp>
        <p:nvSpPr>
          <p:cNvPr id="38" name="Shape 34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la respuesta llega antes de 300 ms, pasa. Si llega después, falla. Nada del código cambió.</a:t>
            </a:r>
            <a:endParaRPr lang="en-US" sz="138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LA FIRMA DE LA INESTABLE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mismo commit, un rojo y un verde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40080" y="1664208"/>
            <a:ext cx="5360687" cy="3657600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11" name="Image 1" descr="C:\Users\Diego Obando\dev\pro402-taller-de-testing-2026\clases\semana-05\02-2\ppt\source\assets\gh-historial-inestab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82496"/>
            <a:ext cx="5324111" cy="36210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8368" y="5358384"/>
            <a:ext cx="53241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 de la rama del pull request 2. Las dos filas de abajo son el mismo commit.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876288" y="1682496"/>
            <a:ext cx="2237080" cy="155448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76288" y="1682496"/>
            <a:ext cx="2237080" cy="7315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11364" y="1929384"/>
            <a:ext cx="566928" cy="566928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720508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2000" dirty="0"/>
          </a:p>
        </p:txBody>
      </p:sp>
      <p:sp>
        <p:nvSpPr>
          <p:cNvPr id="17" name="Text 13"/>
          <p:cNvSpPr txBox="1"/>
          <p:nvPr/>
        </p:nvSpPr>
        <p:spPr>
          <a:xfrm>
            <a:off x="6967728" y="2596896"/>
            <a:ext cx="205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push</a:t>
            </a:r>
            <a:endParaRPr lang="en-US" sz="1040" dirty="0"/>
          </a:p>
        </p:txBody>
      </p:sp>
      <p:sp>
        <p:nvSpPr>
          <p:cNvPr id="18" name="Text 14"/>
          <p:cNvSpPr txBox="1"/>
          <p:nvPr/>
        </p:nvSpPr>
        <p:spPr>
          <a:xfrm>
            <a:off x="6967728" y="2852928"/>
            <a:ext cx="205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falló en Chromium</a:t>
            </a:r>
            <a:endParaRPr lang="en-US" sz="980" dirty="0"/>
          </a:p>
        </p:txBody>
      </p:sp>
      <p:sp>
        <p:nvSpPr>
          <p:cNvPr id="19" name="Shape 15"/>
          <p:cNvSpPr/>
          <p:nvPr/>
        </p:nvSpPr>
        <p:spPr>
          <a:xfrm>
            <a:off x="9296248" y="1682496"/>
            <a:ext cx="2237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296248" y="1682496"/>
            <a:ext cx="2237080" cy="73152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131323" y="1929384"/>
            <a:ext cx="566928" cy="56692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140467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9387688" y="2596896"/>
            <a:ext cx="2054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43B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pull_request</a:t>
            </a:r>
            <a:endParaRPr lang="en-US" sz="1040" dirty="0"/>
          </a:p>
        </p:txBody>
      </p:sp>
      <p:sp>
        <p:nvSpPr>
          <p:cNvPr id="24" name="Text 20"/>
          <p:cNvSpPr txBox="1"/>
          <p:nvPr/>
        </p:nvSpPr>
        <p:spPr>
          <a:xfrm>
            <a:off x="9387688" y="2852928"/>
            <a:ext cx="2054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pasó</a:t>
            </a:r>
            <a:endParaRPr lang="en-US" sz="980" dirty="0"/>
          </a:p>
        </p:txBody>
      </p:sp>
      <p:sp>
        <p:nvSpPr>
          <p:cNvPr id="25" name="Shape 21"/>
          <p:cNvSpPr/>
          <p:nvPr/>
        </p:nvSpPr>
        <p:spPr>
          <a:xfrm>
            <a:off x="6876288" y="3419856"/>
            <a:ext cx="4657039" cy="173736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114032" y="3493008"/>
            <a:ext cx="4254703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Mismo código, mismo servidor, mismos comandos. Quien viera solo el rojo creería que la prueba encontró un defecto; quien viera solo el verde creería que todo está bien.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ejecución doble del bloque anterior, que parecía un desperdicio, dejó a la vista la inestable.</a:t>
            </a:r>
            <a:endParaRPr lang="en-US" sz="13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REINTENTAR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distingue tres resultados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700784"/>
            <a:ext cx="3503066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00784"/>
            <a:ext cx="3503066" cy="73152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96112" y="1847088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passed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896112" y="2340864"/>
            <a:ext cx="30458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Pasó en el primer intento.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41248" y="2907792"/>
            <a:ext cx="313730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33272" y="3026664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42416" y="3035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389888" y="3017520"/>
            <a:ext cx="2405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intento 1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4344314" y="1700784"/>
            <a:ext cx="3503066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44314" y="1700784"/>
            <a:ext cx="3503066" cy="73152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82058" y="1847088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8A6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flaky</a:t>
            </a:r>
            <a:endParaRPr lang="en-US" sz="2200" dirty="0"/>
          </a:p>
        </p:txBody>
      </p:sp>
      <p:sp>
        <p:nvSpPr>
          <p:cNvPr id="21" name="Text 18"/>
          <p:cNvSpPr txBox="1"/>
          <p:nvPr/>
        </p:nvSpPr>
        <p:spPr>
          <a:xfrm>
            <a:off x="4582058" y="2340864"/>
            <a:ext cx="30458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Falló en el primer intento y pasó al reintentarla.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4527194" y="2907792"/>
            <a:ext cx="313730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19218" y="3026664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28362" y="3035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075834" y="3017520"/>
            <a:ext cx="2405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intento 1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4719218" y="3355848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28362" y="33649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5075834" y="3346704"/>
            <a:ext cx="2405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reintento 1</a:t>
            </a:r>
            <a:endParaRPr lang="en-US" sz="960" dirty="0"/>
          </a:p>
        </p:txBody>
      </p:sp>
      <p:sp>
        <p:nvSpPr>
          <p:cNvPr id="29" name="Shape 26"/>
          <p:cNvSpPr/>
          <p:nvPr/>
        </p:nvSpPr>
        <p:spPr>
          <a:xfrm>
            <a:off x="8030261" y="1700784"/>
            <a:ext cx="3503066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030261" y="1700784"/>
            <a:ext cx="3503066" cy="7315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68005" y="1847088"/>
            <a:ext cx="304586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</a:t>
            </a:r>
            <a:endParaRPr lang="en-US" sz="2200" dirty="0"/>
          </a:p>
        </p:txBody>
      </p:sp>
      <p:sp>
        <p:nvSpPr>
          <p:cNvPr id="32" name="Text 29"/>
          <p:cNvSpPr txBox="1"/>
          <p:nvPr/>
        </p:nvSpPr>
        <p:spPr>
          <a:xfrm>
            <a:off x="8268005" y="2340864"/>
            <a:ext cx="304586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Falló en el primer intento y en todos los reintentos.</a:t>
            </a:r>
            <a:endParaRPr lang="en-US" sz="1080" dirty="0"/>
          </a:p>
        </p:txBody>
      </p:sp>
      <p:sp>
        <p:nvSpPr>
          <p:cNvPr id="33" name="Shape 30"/>
          <p:cNvSpPr/>
          <p:nvPr/>
        </p:nvSpPr>
        <p:spPr>
          <a:xfrm>
            <a:off x="8213141" y="2907792"/>
            <a:ext cx="3137306" cy="1133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405165" y="3026664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14309" y="3035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761781" y="3017520"/>
            <a:ext cx="2405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intento 1</a:t>
            </a:r>
            <a:endParaRPr lang="en-US" sz="960" dirty="0"/>
          </a:p>
        </p:txBody>
      </p:sp>
      <p:sp>
        <p:nvSpPr>
          <p:cNvPr id="37" name="Shape 34"/>
          <p:cNvSpPr/>
          <p:nvPr/>
        </p:nvSpPr>
        <p:spPr>
          <a:xfrm>
            <a:off x="8405165" y="3355848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414309" y="33649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8761781" y="3346704"/>
            <a:ext cx="2405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reintento 1</a:t>
            </a:r>
            <a:endParaRPr lang="en-US" sz="960" dirty="0"/>
          </a:p>
        </p:txBody>
      </p:sp>
      <p:sp>
        <p:nvSpPr>
          <p:cNvPr id="40" name="Shape 37"/>
          <p:cNvSpPr/>
          <p:nvPr/>
        </p:nvSpPr>
        <p:spPr>
          <a:xfrm>
            <a:off x="8405165" y="3685032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414309" y="36941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8761781" y="3675888"/>
            <a:ext cx="2405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reintento 2</a:t>
            </a:r>
            <a:endParaRPr lang="en-US" sz="960" dirty="0"/>
          </a:p>
        </p:txBody>
      </p:sp>
      <p:sp>
        <p:nvSpPr>
          <p:cNvPr id="43" name="Shape 40"/>
          <p:cNvSpPr/>
          <p:nvPr/>
        </p:nvSpPr>
        <p:spPr>
          <a:xfrm>
            <a:off x="658368" y="4315968"/>
            <a:ext cx="45720" cy="1828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04672" y="430682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Playwright, Retries · las tres categorías, traducidas del original en inglés</a:t>
            </a:r>
            <a:endParaRPr lang="en-US" sz="880" dirty="0"/>
          </a:p>
        </p:txBody>
      </p:sp>
      <p:sp>
        <p:nvSpPr>
          <p:cNvPr id="45" name="Shape 42"/>
          <p:cNvSpPr/>
          <p:nvPr/>
        </p:nvSpPr>
        <p:spPr>
          <a:xfrm>
            <a:off x="658368" y="4608576"/>
            <a:ext cx="5120640" cy="926592"/>
          </a:xfrm>
          <a:prstGeom prst="roundRect">
            <a:avLst>
              <a:gd name="adj" fmla="val 493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58368" y="4965192"/>
            <a:ext cx="5120640" cy="914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41248" y="470001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e2e/playwright.config.ts</a:t>
            </a:r>
            <a:endParaRPr lang="en-US" sz="960" dirty="0"/>
          </a:p>
        </p:txBody>
      </p:sp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5102352"/>
            <a:ext cx="4791456" cy="304800"/>
          </a:xfrm>
          <a:prstGeom prst="rect">
            <a:avLst/>
          </a:prstGeom>
        </p:spPr>
      </p:pic>
      <p:sp>
        <p:nvSpPr>
          <p:cNvPr id="49" name="Text 45"/>
          <p:cNvSpPr txBox="1"/>
          <p:nvPr/>
        </p:nvSpPr>
        <p:spPr>
          <a:xfrm>
            <a:off x="6053328" y="4608576"/>
            <a:ext cx="547999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omisión no reintenta nada. CI es una variable de entorno que GitHub Actions define en sus servidores: con ella, hasta dos reintentos; en tu máquina, ninguno. condición ? sí : no elige entre dos valores.</a:t>
            </a:r>
            <a:endParaRPr lang="en-US" sz="104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LO QUE PASÓ CON REINTENTOS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 flaky, y el pipeline en verde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1682496"/>
            <a:ext cx="10874959" cy="2115312"/>
          </a:xfrm>
          <a:prstGeom prst="roundRect">
            <a:avLst>
              <a:gd name="adj" fmla="val 2161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18388" y="1815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73836" y="1815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29284" y="1815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53312" y="1764792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de extremo a extremo · ejecución por push, con retries: 2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859536" y="2157984"/>
            <a:ext cx="10472623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✘   5 [chromium] › pruebas/espera.spec.ts:26:5 › tras una reserva confirmada, el formulario queda vacío (888ms)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859536" y="2346960"/>
            <a:ext cx="10472623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  6 [chromium] › pruebas/espera.spec.ts:26:5 › tras una reserva confirmada, el formulario queda vacío (retry #1) (1.2s)</a:t>
            </a:r>
            <a:endParaRPr lang="en-US" sz="960" dirty="0"/>
          </a:p>
        </p:txBody>
      </p:sp>
      <p:sp>
        <p:nvSpPr>
          <p:cNvPr id="17" name="Text 14"/>
          <p:cNvSpPr/>
          <p:nvPr/>
        </p:nvSpPr>
        <p:spPr>
          <a:xfrm>
            <a:off x="859536" y="2535936"/>
            <a:ext cx="10472623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✘  16 [firefox] › pruebas/espera.spec.ts:26:5 › tras una reserva confirmada, el formulario queda vacío (1.7s)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859536" y="2724912"/>
            <a:ext cx="10472623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 17 [firefox] › pruebas/espera.spec.ts:26:5 › tras una reserva confirmada, el formulario queda vacío (retry #1) (2.9s)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859536" y="2913888"/>
            <a:ext cx="10472623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✘  27 [webkit] › pruebas/espera.spec.ts:26:5 › tras una reserva confirmada, el formulario queda vacío (1.9s)</a:t>
            </a:r>
            <a:endParaRPr lang="en-US" sz="960" dirty="0"/>
          </a:p>
        </p:txBody>
      </p:sp>
      <p:sp>
        <p:nvSpPr>
          <p:cNvPr id="20" name="Text 17"/>
          <p:cNvSpPr/>
          <p:nvPr/>
        </p:nvSpPr>
        <p:spPr>
          <a:xfrm>
            <a:off x="859536" y="3102864"/>
            <a:ext cx="10472623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✓  28 [webkit] › pruebas/espera.spec.ts:26:5 › tras una reserva confirmada, el formulario queda vacío (retry #1) (1.6s)</a:t>
            </a:r>
            <a:endParaRPr lang="en-US" sz="960" dirty="0"/>
          </a:p>
        </p:txBody>
      </p:sp>
      <p:sp>
        <p:nvSpPr>
          <p:cNvPr id="21" name="Text 18"/>
          <p:cNvSpPr/>
          <p:nvPr/>
        </p:nvSpPr>
        <p:spPr>
          <a:xfrm>
            <a:off x="859536" y="3291840"/>
            <a:ext cx="10472623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 flaky</a:t>
            </a:r>
            <a:endParaRPr lang="en-US" sz="960" dirty="0"/>
          </a:p>
        </p:txBody>
      </p:sp>
      <p:sp>
        <p:nvSpPr>
          <p:cNvPr id="22" name="Text 19"/>
          <p:cNvSpPr/>
          <p:nvPr/>
        </p:nvSpPr>
        <p:spPr>
          <a:xfrm>
            <a:off x="859536" y="3480816"/>
            <a:ext cx="10472623" cy="18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27 passed (1.3m)</a:t>
            </a:r>
            <a:endParaRPr lang="en-US" sz="960" dirty="0"/>
          </a:p>
        </p:txBody>
      </p:sp>
      <p:sp>
        <p:nvSpPr>
          <p:cNvPr id="23" name="Shape 20"/>
          <p:cNvSpPr/>
          <p:nvPr/>
        </p:nvSpPr>
        <p:spPr>
          <a:xfrm>
            <a:off x="658368" y="3913632"/>
            <a:ext cx="53460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8368" y="3913632"/>
            <a:ext cx="54864" cy="146304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96112" y="4005072"/>
            <a:ext cx="498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bueno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896112" y="4297680"/>
            <a:ext cx="494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salida ya no confunde la inestable con un defecto ni con un verde limpio: la llama por su nombre, flaky.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187288" y="3913632"/>
            <a:ext cx="5346040" cy="146304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87288" y="3913632"/>
            <a:ext cx="54864" cy="146304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425032" y="4005072"/>
            <a:ext cx="498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425032" y="4297680"/>
            <a:ext cx="494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pipeline terminó en verde. Los reintentos avisaron y dejaron pasar. Y la ejecución por pull request del mismo commit ni la mostró.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equipo apurado no lee la línea 3 flaky: lee el verde.</a:t>
            </a:r>
            <a:endParaRPr lang="en-US" sz="138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LA HERRAMIENTA QUE ESCONDE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Reintentar para «eliminar» la falla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700784"/>
            <a:ext cx="10874959" cy="1020826"/>
          </a:xfrm>
          <a:prstGeom prst="roundRect">
            <a:avLst>
              <a:gd name="adj" fmla="val 4479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18388" y="1833372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73836" y="1833372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29284" y="1833372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53312" y="1783080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--help · con el complemento pytest-rerunfailures 16.7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859536" y="2176272"/>
            <a:ext cx="10472623" cy="208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re-run failing tests to eliminate flaky failures:</a:t>
            </a:r>
            <a:endParaRPr lang="en-US" sz="1060" dirty="0"/>
          </a:p>
        </p:txBody>
      </p:sp>
      <p:sp>
        <p:nvSpPr>
          <p:cNvPr id="16" name="Text 13"/>
          <p:cNvSpPr/>
          <p:nvPr/>
        </p:nvSpPr>
        <p:spPr>
          <a:xfrm>
            <a:off x="859536" y="2384933"/>
            <a:ext cx="10472623" cy="208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--reruns=RERUNS       number of times to re-run failed tests. defaults to 0.</a:t>
            </a:r>
            <a:endParaRPr lang="en-US" sz="1060" dirty="0"/>
          </a:p>
        </p:txBody>
      </p:sp>
      <p:sp>
        <p:nvSpPr>
          <p:cNvPr id="17" name="Text 14"/>
          <p:cNvSpPr txBox="1"/>
          <p:nvPr/>
        </p:nvSpPr>
        <p:spPr>
          <a:xfrm>
            <a:off x="658368" y="2798064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español: volver a ejecutar las pruebas que fallan para eliminar las fallas inestables. pytest no reintenta por sí mismo; este complemento es el más usado.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58368" y="3383280"/>
            <a:ext cx="10874959" cy="60350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32688" y="3419856"/>
            <a:ext cx="1032631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Eliminar la falla no elimina la inestabilidad: la esconde.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58368" y="4151376"/>
            <a:ext cx="10874959" cy="1225296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4151376"/>
            <a:ext cx="54864" cy="1225296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14400" y="4279392"/>
            <a:ext cx="1036289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i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«Tenemos una forma de marcar una prueba como inestable, con la que solo informa una falla si falla tres veces seguidas. Eso reduce los falsos positivos, pero anima a ignorar la inestabilidad de las propias pruebas mientras no fallen tres veces seguidas, lo que dista de ser una solución perfecta.»</a:t>
            </a:r>
            <a:endParaRPr lang="en-US" sz="1180" dirty="0"/>
          </a:p>
        </p:txBody>
      </p:sp>
      <p:sp>
        <p:nvSpPr>
          <p:cNvPr id="23" name="Text 20"/>
          <p:cNvSpPr txBox="1"/>
          <p:nvPr/>
        </p:nvSpPr>
        <p:spPr>
          <a:xfrm>
            <a:off x="914400" y="5102352"/>
            <a:ext cx="10362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John Micco, Flaky Tests at Google, 2016 · traducción del original en inglés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reintento que no informa convierte la suite en un sorteo.</a:t>
            </a:r>
            <a:endParaRPr lang="en-US" sz="138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QUE BLOQUEE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prueba inestable no entra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1682496"/>
            <a:ext cx="5120640" cy="1035914"/>
          </a:xfrm>
          <a:prstGeom prst="roundRect">
            <a:avLst>
              <a:gd name="adj" fmla="val 441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039112"/>
            <a:ext cx="5120640" cy="914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177393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e2e/playwright.config.ts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713232" y="2342693"/>
            <a:ext cx="4608576" cy="172444"/>
          </a:xfrm>
          <a:prstGeom prst="rect">
            <a:avLst/>
          </a:prstGeom>
          <a:solidFill>
            <a:srgbClr val="2E7D4F">
              <a:alpha val="28000"/>
            </a:srgbClr>
          </a:solidFill>
          <a:ln w="12700">
            <a:solidFill>
              <a:srgbClr val="2E7D4F">
                <a:alpha val="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176272"/>
            <a:ext cx="4389120" cy="41412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67779" y="2339312"/>
            <a:ext cx="165258" cy="16525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76923" y="2348456"/>
            <a:ext cx="146970" cy="146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40" dirty="0"/>
          </a:p>
        </p:txBody>
      </p:sp>
      <p:sp>
        <p:nvSpPr>
          <p:cNvPr id="17" name="Text 13"/>
          <p:cNvSpPr txBox="1"/>
          <p:nvPr/>
        </p:nvSpPr>
        <p:spPr>
          <a:xfrm>
            <a:off x="658368" y="27432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failOnFlakyTests hace fallar la ejecución si alguna prueba resultó inestable. !! convierte la variable en verdadero si existe y en falso si no.</a:t>
            </a:r>
            <a:endParaRPr lang="en-US" sz="1060" dirty="0"/>
          </a:p>
        </p:txBody>
      </p:sp>
      <p:sp>
        <p:nvSpPr>
          <p:cNvPr id="18" name="Shape 14"/>
          <p:cNvSpPr/>
          <p:nvPr/>
        </p:nvSpPr>
        <p:spPr>
          <a:xfrm>
            <a:off x="658368" y="3621024"/>
            <a:ext cx="5120640" cy="109728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77824" y="3675888"/>
            <a:ext cx="4718304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reintentos siguen distinguiendo una inestable de una que falla siempre. El mensaje pasa a ser: «esta prueba no es confiable, y así no entra».</a:t>
            </a:r>
            <a:endParaRPr lang="en-US" sz="1140" dirty="0"/>
          </a:p>
        </p:txBody>
      </p:sp>
      <p:sp>
        <p:nvSpPr>
          <p:cNvPr id="20" name="Shape 16"/>
          <p:cNvSpPr/>
          <p:nvPr/>
        </p:nvSpPr>
        <p:spPr>
          <a:xfrm>
            <a:off x="6053328" y="1682496"/>
            <a:ext cx="5479999" cy="1989328"/>
          </a:xfrm>
          <a:prstGeom prst="roundRect">
            <a:avLst>
              <a:gd name="adj" fmla="val 2298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13348" y="1815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368796" y="1815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524244" y="1815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48272" y="1764792"/>
            <a:ext cx="46021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Ejecución por pull_request, con failOnFlakyTests</a:t>
            </a:r>
            <a:endParaRPr lang="en-US" sz="940" dirty="0"/>
          </a:p>
        </p:txBody>
      </p:sp>
      <p:sp>
        <p:nvSpPr>
          <p:cNvPr id="25" name="Text 21"/>
          <p:cNvSpPr/>
          <p:nvPr/>
        </p:nvSpPr>
        <p:spPr>
          <a:xfrm>
            <a:off x="6254496" y="2157984"/>
            <a:ext cx="5077663" cy="17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✘ 15 [firefox] › … formulario queda vacío (1.9s)</a:t>
            </a:r>
            <a:endParaRPr lang="en-US" sz="880" dirty="0"/>
          </a:p>
        </p:txBody>
      </p:sp>
      <p:sp>
        <p:nvSpPr>
          <p:cNvPr id="26" name="Text 22"/>
          <p:cNvSpPr/>
          <p:nvPr/>
        </p:nvSpPr>
        <p:spPr>
          <a:xfrm>
            <a:off x="6254496" y="2331212"/>
            <a:ext cx="5077663" cy="17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✘ 16 [firefox] › … formulario queda vacío (retry #1)</a:t>
            </a:r>
            <a:endParaRPr lang="en-US" sz="880" dirty="0"/>
          </a:p>
        </p:txBody>
      </p:sp>
      <p:sp>
        <p:nvSpPr>
          <p:cNvPr id="27" name="Text 23"/>
          <p:cNvSpPr/>
          <p:nvPr/>
        </p:nvSpPr>
        <p:spPr>
          <a:xfrm>
            <a:off x="6254496" y="2504440"/>
            <a:ext cx="5077663" cy="17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17 [firefox] › … formulario queda vacío (retry #2)</a:t>
            </a:r>
            <a:endParaRPr lang="en-US" sz="880" dirty="0"/>
          </a:p>
        </p:txBody>
      </p:sp>
      <p:sp>
        <p:nvSpPr>
          <p:cNvPr id="28" name="Text 24"/>
          <p:cNvSpPr/>
          <p:nvPr/>
        </p:nvSpPr>
        <p:spPr>
          <a:xfrm>
            <a:off x="6254496" y="2677668"/>
            <a:ext cx="5077663" cy="17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✘ 27 [webkit] › … formulario queda vacío (2.1s)</a:t>
            </a:r>
            <a:endParaRPr lang="en-US" sz="880" dirty="0"/>
          </a:p>
        </p:txBody>
      </p:sp>
      <p:sp>
        <p:nvSpPr>
          <p:cNvPr id="29" name="Text 25"/>
          <p:cNvSpPr/>
          <p:nvPr/>
        </p:nvSpPr>
        <p:spPr>
          <a:xfrm>
            <a:off x="6254496" y="2850896"/>
            <a:ext cx="5077663" cy="17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✘ 28 [webkit] › … formulario queda vacío (retry #1)</a:t>
            </a:r>
            <a:endParaRPr lang="en-US" sz="880" dirty="0"/>
          </a:p>
        </p:txBody>
      </p:sp>
      <p:sp>
        <p:nvSpPr>
          <p:cNvPr id="30" name="Text 26"/>
          <p:cNvSpPr/>
          <p:nvPr/>
        </p:nvSpPr>
        <p:spPr>
          <a:xfrm>
            <a:off x="6254496" y="3024124"/>
            <a:ext cx="5077663" cy="17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29 [webkit] › … formulario queda vacío (retry #2)</a:t>
            </a:r>
            <a:endParaRPr lang="en-US" sz="880" dirty="0"/>
          </a:p>
        </p:txBody>
      </p:sp>
      <p:sp>
        <p:nvSpPr>
          <p:cNvPr id="31" name="Text 27"/>
          <p:cNvSpPr/>
          <p:nvPr/>
        </p:nvSpPr>
        <p:spPr>
          <a:xfrm>
            <a:off x="6254496" y="3197352"/>
            <a:ext cx="5077663" cy="17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flaky</a:t>
            </a:r>
            <a:endParaRPr lang="en-US" sz="880" dirty="0"/>
          </a:p>
        </p:txBody>
      </p:sp>
      <p:sp>
        <p:nvSpPr>
          <p:cNvPr id="32" name="Text 28"/>
          <p:cNvSpPr/>
          <p:nvPr/>
        </p:nvSpPr>
        <p:spPr>
          <a:xfrm>
            <a:off x="6254496" y="3370580"/>
            <a:ext cx="5077663" cy="17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passed (1.5m)</a:t>
            </a:r>
            <a:endParaRPr lang="en-US" sz="880" dirty="0"/>
          </a:p>
        </p:txBody>
      </p:sp>
      <p:sp>
        <p:nvSpPr>
          <p:cNvPr id="33" name="Text 29"/>
          <p:cNvSpPr txBox="1"/>
          <p:nvPr/>
        </p:nvSpPr>
        <p:spPr>
          <a:xfrm>
            <a:off x="6053328" y="3913632"/>
            <a:ext cx="547999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abreviaron la ruta y el título de la prueba, marcados con …, para que quepan.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6053328" y="4206240"/>
            <a:ext cx="5479999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245352" y="4370832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254496" y="4379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6601968" y="4315968"/>
            <a:ext cx="47484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de extremo a extremo</a:t>
            </a:r>
            <a:endParaRPr lang="en-US" sz="1060" dirty="0"/>
          </a:p>
        </p:txBody>
      </p:sp>
      <p:sp>
        <p:nvSpPr>
          <p:cNvPr id="38" name="Text 34"/>
          <p:cNvSpPr txBox="1"/>
          <p:nvPr/>
        </p:nvSpPr>
        <p:spPr>
          <a:xfrm>
            <a:off x="8793328" y="4315968"/>
            <a:ext cx="2557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40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flaky → rojo</a:t>
            </a:r>
            <a:endParaRPr lang="en-US" sz="940" dirty="0"/>
          </a:p>
        </p:txBody>
      </p:sp>
      <p:sp>
        <p:nvSpPr>
          <p:cNvPr id="39" name="Shape 35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 vez, rojo. En Firefox y WebKit falló dos veces y pasó recién al tercer intento.</a:t>
            </a:r>
            <a:endParaRPr lang="en-US" sz="138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EL LÍMITE DE LA CONFIGURACIÓN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Cuando por azar pasa, entra igual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773936"/>
            <a:ext cx="5254600" cy="219456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14400" y="1920240"/>
            <a:ext cx="479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MISMO COMMIT · POR PULL_REQUEST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914400" y="2231136"/>
            <a:ext cx="474253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06424" y="2414016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2340864"/>
            <a:ext cx="401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Extremo a extremo</a:t>
            </a:r>
            <a:endParaRPr lang="en-US" sz="1140" dirty="0"/>
          </a:p>
        </p:txBody>
      </p:sp>
      <p:sp>
        <p:nvSpPr>
          <p:cNvPr id="16" name="Text 13"/>
          <p:cNvSpPr txBox="1"/>
          <p:nvPr/>
        </p:nvSpPr>
        <p:spPr>
          <a:xfrm>
            <a:off x="3285668" y="2340864"/>
            <a:ext cx="2188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flaky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2926080"/>
            <a:ext cx="4742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reintentos la vieron fallar, y el bloqueo la detuvo.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6278728" y="1773936"/>
            <a:ext cx="5254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34760" y="1920240"/>
            <a:ext cx="479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MISMO COMMIT · POR PUSH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6534760" y="2231136"/>
            <a:ext cx="474253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6784" y="2414016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35928" y="24231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083400" y="2340864"/>
            <a:ext cx="401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Extremo a extremo</a:t>
            </a:r>
            <a:endParaRPr lang="en-US" sz="1140" dirty="0"/>
          </a:p>
        </p:txBody>
      </p:sp>
      <p:sp>
        <p:nvSpPr>
          <p:cNvPr id="24" name="Text 21"/>
          <p:cNvSpPr txBox="1"/>
          <p:nvPr/>
        </p:nvSpPr>
        <p:spPr>
          <a:xfrm>
            <a:off x="8906027" y="2340864"/>
            <a:ext cx="21883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passed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534760" y="2926080"/>
            <a:ext cx="4742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Pasó al primer intento en los tres navegadores. Nada que ver, nada que bloquear.</a:t>
            </a:r>
            <a:endParaRPr lang="en-US" sz="1140" dirty="0"/>
          </a:p>
        </p:txBody>
      </p:sp>
      <p:sp>
        <p:nvSpPr>
          <p:cNvPr id="26" name="Shape 23"/>
          <p:cNvSpPr/>
          <p:nvPr/>
        </p:nvSpPr>
        <p:spPr>
          <a:xfrm>
            <a:off x="658368" y="4169664"/>
            <a:ext cx="10874959" cy="1207008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69264" y="4242816"/>
            <a:ext cx="10253167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reintentos y el bloqueo atrapan una inestable cuando falla. Detectarla en el pipeline es una cuestión de probabilidad: la configuración no demuestra que una prueba sea confiable.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saber si una prueba es inestable hay que medirla.</a:t>
            </a:r>
            <a:endParaRPr lang="en-US" sz="138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MEDIR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 de 20: falla un 35 % de las veces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682496"/>
            <a:ext cx="10874959" cy="804291"/>
          </a:xfrm>
          <a:prstGeom prst="roundRect">
            <a:avLst>
              <a:gd name="adj" fmla="val 5685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18388" y="1815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73836" y="1815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29284" y="1815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53312" y="1764792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misma prueba, 20 veces seguidas, sin reintentos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859536" y="2157984"/>
            <a:ext cx="10472623" cy="200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E0BC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npx playwright test pruebas/espera.spec.ts -g "formulario" --project chromium --repeat-each 20 --retries 0</a:t>
            </a:r>
            <a:endParaRPr lang="en-US" sz="102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2523744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--repeat-each 20 la repite 20 veces · --retries 0 cuenta cada falla tal como ocurre · -g elige por título · --project, un navegador</a:t>
            </a:r>
            <a:endParaRPr lang="en-US" sz="980" dirty="0"/>
          </a:p>
        </p:txBody>
      </p:sp>
      <p:sp>
        <p:nvSpPr>
          <p:cNvPr id="17" name="Text 14"/>
          <p:cNvSpPr txBox="1"/>
          <p:nvPr/>
        </p:nvSpPr>
        <p:spPr>
          <a:xfrm>
            <a:off x="658368" y="294436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TANDA DE 20, EN UNA MÁQUINA LOCAL · LAS DOS TANDAS DIERON 7 FALLAS</a:t>
            </a:r>
            <a:endParaRPr lang="en-US" sz="960" dirty="0"/>
          </a:p>
        </p:txBody>
      </p:sp>
      <p:sp>
        <p:nvSpPr>
          <p:cNvPr id="18" name="Text 15"/>
          <p:cNvSpPr/>
          <p:nvPr/>
        </p:nvSpPr>
        <p:spPr>
          <a:xfrm>
            <a:off x="658368" y="3236976"/>
            <a:ext cx="456880" cy="456880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206688" y="3236976"/>
            <a:ext cx="456880" cy="456880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755008" y="3236976"/>
            <a:ext cx="456880" cy="456880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303328" y="3236976"/>
            <a:ext cx="456880" cy="456880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851648" y="3236976"/>
            <a:ext cx="456880" cy="456880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399968" y="3236976"/>
            <a:ext cx="456880" cy="456880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948288" y="3236976"/>
            <a:ext cx="456880" cy="456880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496608" y="3236976"/>
            <a:ext cx="456880" cy="456880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044928" y="3236976"/>
            <a:ext cx="456880" cy="456880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593248" y="3236976"/>
            <a:ext cx="456880" cy="456880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141568" y="3236976"/>
            <a:ext cx="456880" cy="456880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689888" y="3236976"/>
            <a:ext cx="456880" cy="456880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238208" y="3236976"/>
            <a:ext cx="456880" cy="456880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786527" y="3236976"/>
            <a:ext cx="456880" cy="456880"/>
          </a:xfrm>
          <a:prstGeom prst="rect">
            <a:avLst/>
          </a:prstGeom>
          <a:solidFill>
            <a:srgbClr val="B3181E"/>
          </a:solidFill>
          <a:ln>
            <a:solidFill>
              <a:srgbClr val="B318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334847" y="3236976"/>
            <a:ext cx="456880" cy="456880"/>
          </a:xfrm>
          <a:prstGeom prst="rect">
            <a:avLst/>
          </a:prstGeom>
          <a:solidFill>
            <a:srgbClr val="B3181E"/>
          </a:solidFill>
          <a:ln>
            <a:solidFill>
              <a:srgbClr val="B318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8883167" y="3236976"/>
            <a:ext cx="456880" cy="456880"/>
          </a:xfrm>
          <a:prstGeom prst="rect">
            <a:avLst/>
          </a:prstGeom>
          <a:solidFill>
            <a:srgbClr val="B3181E"/>
          </a:solidFill>
          <a:ln>
            <a:solidFill>
              <a:srgbClr val="B318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9431487" y="3236976"/>
            <a:ext cx="456880" cy="456880"/>
          </a:xfrm>
          <a:prstGeom prst="rect">
            <a:avLst/>
          </a:prstGeom>
          <a:solidFill>
            <a:srgbClr val="B3181E"/>
          </a:solidFill>
          <a:ln>
            <a:solidFill>
              <a:srgbClr val="B318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9979807" y="3236976"/>
            <a:ext cx="456880" cy="456880"/>
          </a:xfrm>
          <a:prstGeom prst="rect">
            <a:avLst/>
          </a:prstGeom>
          <a:solidFill>
            <a:srgbClr val="B3181E"/>
          </a:solidFill>
          <a:ln>
            <a:solidFill>
              <a:srgbClr val="B318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0528127" y="3236976"/>
            <a:ext cx="456880" cy="456880"/>
          </a:xfrm>
          <a:prstGeom prst="rect">
            <a:avLst/>
          </a:prstGeom>
          <a:solidFill>
            <a:srgbClr val="B3181E"/>
          </a:solidFill>
          <a:ln>
            <a:solidFill>
              <a:srgbClr val="B318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076447" y="3236976"/>
            <a:ext cx="456880" cy="456880"/>
          </a:xfrm>
          <a:prstGeom prst="rect">
            <a:avLst/>
          </a:prstGeom>
          <a:solidFill>
            <a:srgbClr val="B3181E"/>
          </a:solidFill>
          <a:ln>
            <a:solidFill>
              <a:srgbClr val="B318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58368" y="3767008"/>
            <a:ext cx="108749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pasaron y 7 fallaron, agrupados. La salida solo da el conteo, no el orden.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58368" y="4261104"/>
            <a:ext cx="5300320" cy="1012952"/>
          </a:xfrm>
          <a:prstGeom prst="roundRect">
            <a:avLst>
              <a:gd name="adj" fmla="val 4514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18388" y="4393692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73836" y="4393692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129284" y="4393692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353312" y="4343400"/>
            <a:ext cx="442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resumen</a:t>
            </a:r>
            <a:endParaRPr lang="en-US" sz="940" dirty="0"/>
          </a:p>
        </p:txBody>
      </p:sp>
      <p:sp>
        <p:nvSpPr>
          <p:cNvPr id="44" name="Text 41"/>
          <p:cNvSpPr/>
          <p:nvPr/>
        </p:nvSpPr>
        <p:spPr>
          <a:xfrm>
            <a:off x="859536" y="4736592"/>
            <a:ext cx="4897984" cy="204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7 failed</a:t>
            </a:r>
            <a:endParaRPr lang="en-US" sz="1040" dirty="0"/>
          </a:p>
        </p:txBody>
      </p:sp>
      <p:sp>
        <p:nvSpPr>
          <p:cNvPr id="45" name="Text 42"/>
          <p:cNvSpPr/>
          <p:nvPr/>
        </p:nvSpPr>
        <p:spPr>
          <a:xfrm>
            <a:off x="859536" y="4941316"/>
            <a:ext cx="4897984" cy="204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FAE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13 passed (54.3s)</a:t>
            </a:r>
            <a:endParaRPr lang="en-US" sz="1040" dirty="0"/>
          </a:p>
        </p:txBody>
      </p:sp>
      <p:sp>
        <p:nvSpPr>
          <p:cNvPr id="46" name="Shape 43"/>
          <p:cNvSpPr/>
          <p:nvPr/>
        </p:nvSpPr>
        <p:spPr>
          <a:xfrm>
            <a:off x="6233008" y="4261104"/>
            <a:ext cx="5300320" cy="1012952"/>
          </a:xfrm>
          <a:prstGeom prst="roundRect">
            <a:avLst>
              <a:gd name="adj" fmla="val 4514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393028" y="4393692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548476" y="4393692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703924" y="4393692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927952" y="4343400"/>
            <a:ext cx="442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falla dice lo mismo</a:t>
            </a:r>
            <a:endParaRPr lang="en-US" sz="940" dirty="0"/>
          </a:p>
        </p:txBody>
      </p:sp>
      <p:sp>
        <p:nvSpPr>
          <p:cNvPr id="51" name="Text 48"/>
          <p:cNvSpPr/>
          <p:nvPr/>
        </p:nvSpPr>
        <p:spPr>
          <a:xfrm>
            <a:off x="6434176" y="4736592"/>
            <a:ext cx="4897984" cy="204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Expected: ""</a:t>
            </a:r>
            <a:endParaRPr lang="en-US" sz="1040" dirty="0"/>
          </a:p>
        </p:txBody>
      </p:sp>
      <p:sp>
        <p:nvSpPr>
          <p:cNvPr id="52" name="Text 49"/>
          <p:cNvSpPr/>
          <p:nvPr/>
        </p:nvSpPr>
        <p:spPr>
          <a:xfrm>
            <a:off x="6434176" y="4941316"/>
            <a:ext cx="4897984" cy="204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Received: "Ana Rivas"</a:t>
            </a:r>
            <a:endParaRPr lang="en-US" sz="1040" dirty="0"/>
          </a:p>
        </p:txBody>
      </p:sp>
      <p:sp>
        <p:nvSpPr>
          <p:cNvPr id="53" name="Shape 50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leyó el campo antes de que llegara la respuesta del servidor.</a:t>
            </a:r>
            <a:endParaRPr lang="en-US" sz="138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CORREGIR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Esperar la condición, no un tiempo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1682496"/>
            <a:ext cx="5254600" cy="1174090"/>
          </a:xfrm>
          <a:prstGeom prst="roundRect">
            <a:avLst>
              <a:gd name="adj" fmla="val 389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039112"/>
            <a:ext cx="5254600" cy="914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1773936"/>
            <a:ext cx="488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Antes: espera un tiempo y lee una vez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713232" y="2164080"/>
            <a:ext cx="4742536" cy="159179"/>
          </a:xfrm>
          <a:prstGeom prst="rect">
            <a:avLst/>
          </a:prstGeom>
          <a:solidFill>
            <a:srgbClr val="B3181E">
              <a:alpha val="28000"/>
            </a:srgbClr>
          </a:solidFill>
          <a:ln w="12700">
            <a:solidFill>
              <a:srgbClr val="B3181E">
                <a:alpha val="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176272"/>
            <a:ext cx="4523080" cy="55229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608094" y="2160959"/>
            <a:ext cx="152546" cy="152546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17238" y="2170103"/>
            <a:ext cx="134258" cy="1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40" dirty="0"/>
          </a:p>
        </p:txBody>
      </p:sp>
      <p:sp>
        <p:nvSpPr>
          <p:cNvPr id="17" name="Shape 13"/>
          <p:cNvSpPr/>
          <p:nvPr/>
        </p:nvSpPr>
        <p:spPr>
          <a:xfrm>
            <a:off x="6278728" y="1682496"/>
            <a:ext cx="5254600" cy="926592"/>
          </a:xfrm>
          <a:prstGeom prst="roundRect">
            <a:avLst>
              <a:gd name="adj" fmla="val 493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78728" y="2039112"/>
            <a:ext cx="5254600" cy="914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61608" y="1773936"/>
            <a:ext cx="488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Después: espera hasta que el campo esté vacío</a:t>
            </a:r>
            <a:endParaRPr lang="en-US" sz="960" dirty="0"/>
          </a:p>
        </p:txBody>
      </p:sp>
      <p:sp>
        <p:nvSpPr>
          <p:cNvPr id="20" name="Shape 16"/>
          <p:cNvSpPr/>
          <p:nvPr/>
        </p:nvSpPr>
        <p:spPr>
          <a:xfrm>
            <a:off x="6333592" y="2206142"/>
            <a:ext cx="4742536" cy="159179"/>
          </a:xfrm>
          <a:prstGeom prst="rect">
            <a:avLst/>
          </a:prstGeom>
          <a:solidFill>
            <a:srgbClr val="2E7D4F">
              <a:alpha val="28000"/>
            </a:srgbClr>
          </a:solidFill>
          <a:ln w="12700">
            <a:solidFill>
              <a:srgbClr val="2E7D4F">
                <a:alpha val="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43320" y="2176272"/>
            <a:ext cx="4523080" cy="3048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1228454" y="2203021"/>
            <a:ext cx="152546" cy="152546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1237598" y="2212165"/>
            <a:ext cx="134258" cy="1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40" dirty="0"/>
          </a:p>
        </p:txBody>
      </p:sp>
      <p:sp>
        <p:nvSpPr>
          <p:cNvPr id="24" name="Shape 19"/>
          <p:cNvSpPr/>
          <p:nvPr/>
        </p:nvSpPr>
        <p:spPr>
          <a:xfrm>
            <a:off x="5967832" y="2377440"/>
            <a:ext cx="274320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25" name="Text 20"/>
          <p:cNvSpPr txBox="1"/>
          <p:nvPr/>
        </p:nvSpPr>
        <p:spPr>
          <a:xfrm>
            <a:off x="658368" y="2962656"/>
            <a:ext cx="108749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toHaveValue vuelve a mirar el campo hasta que esté vacío o hasta que se acabe el plazo de Playwright, cinco segundos por omisión. Solo falla en el segundo caso.</a:t>
            </a:r>
            <a:endParaRPr lang="en-US" sz="1140" dirty="0"/>
          </a:p>
        </p:txBody>
      </p:sp>
      <p:sp>
        <p:nvSpPr>
          <p:cNvPr id="26" name="Text 21"/>
          <p:cNvSpPr txBox="1"/>
          <p:nvPr/>
        </p:nvSpPr>
        <p:spPr>
          <a:xfrm>
            <a:off x="658368" y="362102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EJECUCIONES EN CADA NAVEGADOR, SIN REINTENTOS</a:t>
            </a:r>
            <a:endParaRPr lang="en-US" sz="960" dirty="0"/>
          </a:p>
        </p:txBody>
      </p:sp>
      <p:sp>
        <p:nvSpPr>
          <p:cNvPr id="27" name="Shape 22"/>
          <p:cNvSpPr/>
          <p:nvPr/>
        </p:nvSpPr>
        <p:spPr>
          <a:xfrm>
            <a:off x="658368" y="3913632"/>
            <a:ext cx="350306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58368" y="3913632"/>
            <a:ext cx="54864" cy="91440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77824" y="3986784"/>
            <a:ext cx="3137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Chromium</a:t>
            </a:r>
            <a:endParaRPr lang="en-US" sz="1240" dirty="0"/>
          </a:p>
        </p:txBody>
      </p:sp>
      <p:sp>
        <p:nvSpPr>
          <p:cNvPr id="30" name="Text 25"/>
          <p:cNvSpPr txBox="1"/>
          <p:nvPr/>
        </p:nvSpPr>
        <p:spPr>
          <a:xfrm>
            <a:off x="877824" y="4315968"/>
            <a:ext cx="3137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passed (55.1s)</a:t>
            </a:r>
            <a:endParaRPr lang="en-US" sz="1140" dirty="0"/>
          </a:p>
        </p:txBody>
      </p:sp>
      <p:sp>
        <p:nvSpPr>
          <p:cNvPr id="31" name="Shape 26"/>
          <p:cNvSpPr/>
          <p:nvPr/>
        </p:nvSpPr>
        <p:spPr>
          <a:xfrm>
            <a:off x="4344314" y="3913632"/>
            <a:ext cx="350306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344314" y="3913632"/>
            <a:ext cx="54864" cy="91440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4563770" y="3986784"/>
            <a:ext cx="3137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Firefox</a:t>
            </a:r>
            <a:endParaRPr lang="en-US" sz="1240" dirty="0"/>
          </a:p>
        </p:txBody>
      </p:sp>
      <p:sp>
        <p:nvSpPr>
          <p:cNvPr id="34" name="Text 29"/>
          <p:cNvSpPr txBox="1"/>
          <p:nvPr/>
        </p:nvSpPr>
        <p:spPr>
          <a:xfrm>
            <a:off x="4563770" y="4315968"/>
            <a:ext cx="3137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passed (2.0m)</a:t>
            </a:r>
            <a:endParaRPr lang="en-US" sz="1140" dirty="0"/>
          </a:p>
        </p:txBody>
      </p:sp>
      <p:sp>
        <p:nvSpPr>
          <p:cNvPr id="35" name="Shape 30"/>
          <p:cNvSpPr/>
          <p:nvPr/>
        </p:nvSpPr>
        <p:spPr>
          <a:xfrm>
            <a:off x="8030261" y="3913632"/>
            <a:ext cx="350306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8030261" y="3913632"/>
            <a:ext cx="54864" cy="91440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8249717" y="3986784"/>
            <a:ext cx="3137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WebKit</a:t>
            </a:r>
            <a:endParaRPr lang="en-US" sz="1240" dirty="0"/>
          </a:p>
        </p:txBody>
      </p:sp>
      <p:sp>
        <p:nvSpPr>
          <p:cNvPr id="38" name="Text 33"/>
          <p:cNvSpPr txBox="1"/>
          <p:nvPr/>
        </p:nvSpPr>
        <p:spPr>
          <a:xfrm>
            <a:off x="8249717" y="4315968"/>
            <a:ext cx="3137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passed (57.4s)</a:t>
            </a:r>
            <a:endParaRPr lang="en-US" sz="1140" dirty="0"/>
          </a:p>
        </p:txBody>
      </p:sp>
      <p:sp>
        <p:nvSpPr>
          <p:cNvPr id="39" name="Shape 34"/>
          <p:cNvSpPr/>
          <p:nvPr/>
        </p:nvSpPr>
        <p:spPr>
          <a:xfrm>
            <a:off x="658368" y="4974336"/>
            <a:ext cx="10874959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850392" y="5120640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59536" y="51297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42" name="Text 37"/>
          <p:cNvSpPr txBox="1"/>
          <p:nvPr/>
        </p:nvSpPr>
        <p:spPr>
          <a:xfrm>
            <a:off x="1207008" y="5084064"/>
            <a:ext cx="101434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 request 2, con la corrección: sus dos ejecuciones</a:t>
            </a:r>
            <a:endParaRPr lang="en-US" sz="1100" dirty="0"/>
          </a:p>
        </p:txBody>
      </p:sp>
      <p:sp>
        <p:nvSpPr>
          <p:cNvPr id="43" name="Text 38"/>
          <p:cNvSpPr txBox="1"/>
          <p:nvPr/>
        </p:nvSpPr>
        <p:spPr>
          <a:xfrm>
            <a:off x="6095848" y="5084064"/>
            <a:ext cx="525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passed · ninguna inestable · integrado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658368" y="5669280"/>
            <a:ext cx="10874959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950976" y="5705856"/>
            <a:ext cx="102897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ganó una prueba de regresión y una regla: una prueba inestable no entra.</a:t>
            </a:r>
            <a:endParaRPr lang="en-US" sz="138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EL CASO DIFÍCIL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inestable que no se puede corregir hoy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682496"/>
            <a:ext cx="10874959" cy="118872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682496"/>
            <a:ext cx="54864" cy="118872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1810512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i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«La cuarentena saca la prueba del camino crítico y registra un error para que se reduzca su inestabilidad. Eso evita que se convierta en un problema para el equipo, pero podría esconder fácilmente una condición de carrera real u otro defecto del código que se prueba.»</a:t>
            </a:r>
            <a:endParaRPr lang="en-US" sz="118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596896"/>
            <a:ext cx="10362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John Micco, Flaky Tests at Google, 2016 · traducción del original en inglés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658368" y="2944368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Condición de carrera: el defecto de la doble reserva del lunes, donde el resultado depende de qué operación llega primero. Una prueba que pasa y falla puede estar señalando justo eso. El camino crítico son las revisiones que bloquean los cambios.</a:t>
            </a:r>
            <a:endParaRPr lang="en-US" sz="104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3566160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SE DEJA PENDIENTE, SE REGISTRA · INSTRUCCIONES DE LA EVALUACIÓN FINAL, SECCIÓN 3.B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658368" y="3840480"/>
            <a:ext cx="2650160" cy="32918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8096" y="3877056"/>
            <a:ext cx="243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CUÁL ES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658368" y="4206240"/>
            <a:ext cx="26501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8096" y="4261104"/>
            <a:ext cx="24307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«tras una reserva confirmada, el formulario queda vacío»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3399968" y="3840480"/>
            <a:ext cx="2650160" cy="32918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509696" y="3877056"/>
            <a:ext cx="243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QUÉ FRECUENCIA FALLA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3399968" y="4206240"/>
            <a:ext cx="26501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509696" y="4261104"/>
            <a:ext cx="24307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de 20 en Chromium, dos tandas</a:t>
            </a:r>
            <a:endParaRPr lang="en-US" sz="1040" dirty="0"/>
          </a:p>
        </p:txBody>
      </p:sp>
      <p:sp>
        <p:nvSpPr>
          <p:cNvPr id="24" name="Shape 21"/>
          <p:cNvSpPr/>
          <p:nvPr/>
        </p:nvSpPr>
        <p:spPr>
          <a:xfrm>
            <a:off x="6141568" y="3840480"/>
            <a:ext cx="2650160" cy="32918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51296" y="3877056"/>
            <a:ext cx="243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INVESTIGÓ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6141568" y="4206240"/>
            <a:ext cx="26501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251296" y="4261104"/>
            <a:ext cx="24307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Espera fija de 300 ms contra una respuesta de hasta 400 ms</a:t>
            </a:r>
            <a:endParaRPr lang="en-US" sz="1040" dirty="0"/>
          </a:p>
        </p:txBody>
      </p:sp>
      <p:sp>
        <p:nvSpPr>
          <p:cNvPr id="28" name="Shape 25"/>
          <p:cNvSpPr/>
          <p:nvPr/>
        </p:nvSpPr>
        <p:spPr>
          <a:xfrm>
            <a:off x="8883167" y="3840480"/>
            <a:ext cx="2650160" cy="32918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992895" y="3877056"/>
            <a:ext cx="243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spc="6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DECIDIÓ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8883167" y="4206240"/>
            <a:ext cx="2650160" cy="100584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992895" y="4261104"/>
            <a:ext cx="243070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Corregida con toHaveValue; 20 de 20 en los tres navegadores</a:t>
            </a:r>
            <a:endParaRPr lang="en-US" sz="1040" dirty="0"/>
          </a:p>
        </p:txBody>
      </p:sp>
      <p:sp>
        <p:nvSpPr>
          <p:cNvPr id="32" name="Shape 29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inestable pendiente, igual que un rojo conocido, no se esconde: se registra.</a:t>
            </a:r>
            <a:endParaRPr lang="en-US" sz="138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CIERRE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antes de proteger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preguntas para comprobar la idea central antes de seguir.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10874959" cy="109728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139696"/>
            <a:ext cx="54864" cy="109728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228600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591056" y="2267712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pull request número 2 tuvo, sobre el mismo commit, un pipeline en rojo y uno en verde. ¿Cuál de los dos decía la verdad sobre la prueba?</a:t>
            </a:r>
            <a:endParaRPr lang="en-US" sz="1340" dirty="0"/>
          </a:p>
        </p:txBody>
      </p:sp>
      <p:sp>
        <p:nvSpPr>
          <p:cNvPr id="15" name="Shape 12"/>
          <p:cNvSpPr/>
          <p:nvPr/>
        </p:nvSpPr>
        <p:spPr>
          <a:xfrm>
            <a:off x="1591056" y="2798064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1591056" y="288950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17" name="Text 14"/>
          <p:cNvSpPr txBox="1"/>
          <p:nvPr/>
        </p:nvSpPr>
        <p:spPr>
          <a:xfrm>
            <a:off x="2286000" y="2862072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Piensa qué afirma cada ejecución por separado y qué afirman las dos juntas. ¿Qué concluiría alguien que vio solo una?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658368" y="3364992"/>
            <a:ext cx="10874959" cy="109728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3364992"/>
            <a:ext cx="54864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3511296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1591056" y="3493008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retries: 2, el pipeline quedó en verde y la salida decía 3 flaky. Un compañero propone dejarlo así, porque «igual pasa». ¿Qué le falta a esa decisión?</a:t>
            </a:r>
            <a:endParaRPr lang="en-US" sz="1340" dirty="0"/>
          </a:p>
        </p:txBody>
      </p:sp>
      <p:sp>
        <p:nvSpPr>
          <p:cNvPr id="22" name="Shape 19"/>
          <p:cNvSpPr/>
          <p:nvPr/>
        </p:nvSpPr>
        <p:spPr>
          <a:xfrm>
            <a:off x="1591056" y="4023360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 txBox="1"/>
          <p:nvPr/>
        </p:nvSpPr>
        <p:spPr>
          <a:xfrm>
            <a:off x="1591056" y="41148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24" name="Text 21"/>
          <p:cNvSpPr txBox="1"/>
          <p:nvPr/>
        </p:nvSpPr>
        <p:spPr>
          <a:xfrm>
            <a:off x="2286000" y="4087368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Relee lo que cuenta Google sobre las pruebas que solo fallan tres veces seguidas. ¿Qué pasa el día que falle por un defecto real?</a:t>
            </a:r>
            <a:endParaRPr lang="en-US" sz="1140" dirty="0"/>
          </a:p>
        </p:txBody>
      </p:sp>
      <p:sp>
        <p:nvSpPr>
          <p:cNvPr id="25" name="Shape 22"/>
          <p:cNvSpPr/>
          <p:nvPr/>
        </p:nvSpPr>
        <p:spPr>
          <a:xfrm>
            <a:off x="658368" y="4590288"/>
            <a:ext cx="10874959" cy="109728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8368" y="4590288"/>
            <a:ext cx="54864" cy="10972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736592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1591056" y="4718304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failOnFlakyTests, una ejecución bloqueó la prueba y otra, sobre el mismo commit, la dejó pasar. ¿Sirve de algo la opción, si no la atrapa siempre?</a:t>
            </a:r>
            <a:endParaRPr lang="en-US" sz="1340" dirty="0"/>
          </a:p>
        </p:txBody>
      </p:sp>
      <p:sp>
        <p:nvSpPr>
          <p:cNvPr id="29" name="Shape 26"/>
          <p:cNvSpPr/>
          <p:nvPr/>
        </p:nvSpPr>
        <p:spPr>
          <a:xfrm>
            <a:off x="1591056" y="5248656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0" name="Text 27"/>
          <p:cNvSpPr txBox="1"/>
          <p:nvPr/>
        </p:nvSpPr>
        <p:spPr>
          <a:xfrm>
            <a:off x="1591056" y="534009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31" name="Text 28"/>
          <p:cNvSpPr txBox="1"/>
          <p:nvPr/>
        </p:nvSpPr>
        <p:spPr>
          <a:xfrm>
            <a:off x="2286000" y="5312664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 lo que hace la configuración con lo que hizo --repeat-each. ¿Cuál permite afirmar que una prueba no es inestable?</a:t>
            </a:r>
            <a:endParaRPr lang="en-US" sz="114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CONTRASTE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tenía que aparecer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respuestas conservan el mismo orden y color que las preguntas.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139696"/>
            <a:ext cx="54864" cy="124358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6112" y="23042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1591056" y="224942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DOS JUNTAS</a:t>
            </a:r>
            <a:endParaRPr lang="en-US" sz="830" dirty="0"/>
          </a:p>
        </p:txBody>
      </p:sp>
      <p:sp>
        <p:nvSpPr>
          <p:cNvPr id="15" name="Text 12"/>
          <p:cNvSpPr txBox="1"/>
          <p:nvPr/>
        </p:nvSpPr>
        <p:spPr>
          <a:xfrm>
            <a:off x="1591056" y="2468880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separado, cada una decía algo falso: un defecto o un verde limpio.</a:t>
            </a:r>
            <a:endParaRPr lang="en-US" sz="1240" dirty="0"/>
          </a:p>
        </p:txBody>
      </p:sp>
      <p:sp>
        <p:nvSpPr>
          <p:cNvPr id="16" name="Shape 13"/>
          <p:cNvSpPr/>
          <p:nvPr/>
        </p:nvSpPr>
        <p:spPr>
          <a:xfrm>
            <a:off x="1591056" y="2871216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1591056" y="2962656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2871216" y="2935224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resultados del mismo código son la firma de una inestable.</a:t>
            </a:r>
            <a:endParaRPr lang="en-US" sz="1020" dirty="0"/>
          </a:p>
        </p:txBody>
      </p:sp>
      <p:sp>
        <p:nvSpPr>
          <p:cNvPr id="19" name="Text 16"/>
          <p:cNvSpPr txBox="1"/>
          <p:nvPr/>
        </p:nvSpPr>
        <p:spPr>
          <a:xfrm>
            <a:off x="6784848" y="2962656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138160" y="293522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Mirar una sola ejecución y sacar conclusiones.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658368" y="3493008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" y="3493008"/>
            <a:ext cx="54864" cy="12435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96112" y="36576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700" dirty="0"/>
          </a:p>
        </p:txBody>
      </p:sp>
      <p:sp>
        <p:nvSpPr>
          <p:cNvPr id="24" name="Text 21"/>
          <p:cNvSpPr txBox="1"/>
          <p:nvPr/>
        </p:nvSpPr>
        <p:spPr>
          <a:xfrm>
            <a:off x="1591056" y="360273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FALTA CORREGIRLA</a:t>
            </a:r>
            <a:endParaRPr lang="en-US" sz="830" dirty="0"/>
          </a:p>
        </p:txBody>
      </p:sp>
      <p:sp>
        <p:nvSpPr>
          <p:cNvPr id="25" name="Text 22"/>
          <p:cNvSpPr txBox="1"/>
          <p:nvPr/>
        </p:nvSpPr>
        <p:spPr>
          <a:xfrm>
            <a:off x="1591056" y="3822192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verde con 3 flaky enseña a ignorar la inestabilidad.</a:t>
            </a:r>
            <a:endParaRPr lang="en-US" sz="1240" dirty="0"/>
          </a:p>
        </p:txBody>
      </p:sp>
      <p:sp>
        <p:nvSpPr>
          <p:cNvPr id="26" name="Shape 23"/>
          <p:cNvSpPr/>
          <p:nvPr/>
        </p:nvSpPr>
        <p:spPr>
          <a:xfrm>
            <a:off x="1591056" y="4224528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 txBox="1"/>
          <p:nvPr/>
        </p:nvSpPr>
        <p:spPr>
          <a:xfrm>
            <a:off x="1591056" y="4315968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2871216" y="4288536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día que falle por un defecto real, nadie le va a creer.</a:t>
            </a:r>
            <a:endParaRPr lang="en-US" sz="102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4315968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8138160" y="428853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Aceptar el reintento como solución.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658368" y="4846320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368" y="4846320"/>
            <a:ext cx="54864" cy="124358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96112" y="501091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700" dirty="0"/>
          </a:p>
        </p:txBody>
      </p:sp>
      <p:sp>
        <p:nvSpPr>
          <p:cNvPr id="34" name="Text 31"/>
          <p:cNvSpPr txBox="1"/>
          <p:nvPr/>
        </p:nvSpPr>
        <p:spPr>
          <a:xfrm>
            <a:off x="1591056" y="49560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SIRVE, PERO NO DEMUESTRA</a:t>
            </a:r>
            <a:endParaRPr lang="en-US" sz="830" dirty="0"/>
          </a:p>
        </p:txBody>
      </p:sp>
      <p:sp>
        <p:nvSpPr>
          <p:cNvPr id="35" name="Text 32"/>
          <p:cNvSpPr txBox="1"/>
          <p:nvPr/>
        </p:nvSpPr>
        <p:spPr>
          <a:xfrm>
            <a:off x="1591056" y="5175504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Bloquea cuando la ve; cuando pasa por azar, entra igual.</a:t>
            </a:r>
            <a:endParaRPr lang="en-US" sz="1240" dirty="0"/>
          </a:p>
        </p:txBody>
      </p:sp>
      <p:sp>
        <p:nvSpPr>
          <p:cNvPr id="36" name="Shape 33"/>
          <p:cNvSpPr/>
          <p:nvPr/>
        </p:nvSpPr>
        <p:spPr>
          <a:xfrm>
            <a:off x="1591056" y="5577840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7" name="Text 34"/>
          <p:cNvSpPr txBox="1"/>
          <p:nvPr/>
        </p:nvSpPr>
        <p:spPr>
          <a:xfrm>
            <a:off x="1591056" y="56692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2871216" y="5641848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medir repitiendo dice si una prueba es confiable.</a:t>
            </a:r>
            <a:endParaRPr lang="en-US" sz="1020" dirty="0"/>
          </a:p>
        </p:txBody>
      </p:sp>
      <p:sp>
        <p:nvSpPr>
          <p:cNvPr id="39" name="Text 36"/>
          <p:cNvSpPr txBox="1"/>
          <p:nvPr/>
        </p:nvSpPr>
        <p:spPr>
          <a:xfrm>
            <a:off x="6784848" y="5669280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8138160" y="564184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Creer que un pipeline en verde prueba que no hay inestables.</a:t>
            </a:r>
            <a:endParaRPr lang="en-US" sz="102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371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DE 4 · 20 MINUTOS</a:t>
            </a:r>
            <a:endParaRPr lang="en-US" sz="96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1810512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protege el pipeline</a:t>
            </a:r>
            <a:endParaRPr lang="en-US" sz="4400" dirty="0"/>
          </a:p>
        </p:txBody>
      </p:sp>
      <p:sp>
        <p:nvSpPr>
          <p:cNvPr id="10" name="Shape 7"/>
          <p:cNvSpPr/>
          <p:nvPr/>
        </p:nvSpPr>
        <p:spPr>
          <a:xfrm>
            <a:off x="658368" y="3346704"/>
            <a:ext cx="3840480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 txBox="1"/>
          <p:nvPr/>
        </p:nvSpPr>
        <p:spPr>
          <a:xfrm>
            <a:off x="658368" y="3602736"/>
            <a:ext cx="9326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agente introduce defectos a propósito, como describe la sección 6 de las instrucciones de la Evaluación Final. Uno lo atrapa la suite; el otro pasa en verde.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58368" y="4901184"/>
            <a:ext cx="2622728" cy="78638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" y="5001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5184648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EJECUTAR</a:t>
            </a:r>
            <a:endParaRPr lang="en-US" sz="116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5422392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la suite corra sola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3409112" y="4901184"/>
            <a:ext cx="2622728" cy="78638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591992" y="5001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3591992" y="5184648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</a:t>
            </a:r>
            <a:endParaRPr lang="en-US" sz="1160" dirty="0"/>
          </a:p>
        </p:txBody>
      </p:sp>
      <p:sp>
        <p:nvSpPr>
          <p:cNvPr id="19" name="Text 16"/>
          <p:cNvSpPr txBox="1"/>
          <p:nvPr/>
        </p:nvSpPr>
        <p:spPr>
          <a:xfrm>
            <a:off x="3591992" y="5422392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hacer con los rojos conocidos</a:t>
            </a:r>
            <a:endParaRPr lang="en-US" sz="920" dirty="0"/>
          </a:p>
        </p:txBody>
      </p:sp>
      <p:sp>
        <p:nvSpPr>
          <p:cNvPr id="20" name="Shape 17"/>
          <p:cNvSpPr/>
          <p:nvPr/>
        </p:nvSpPr>
        <p:spPr>
          <a:xfrm>
            <a:off x="6159856" y="4901184"/>
            <a:ext cx="2622728" cy="78638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342736" y="5001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6342736" y="5184648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ESTABILIZAR</a:t>
            </a:r>
            <a:endParaRPr lang="en-US" sz="1160" dirty="0"/>
          </a:p>
        </p:txBody>
      </p:sp>
      <p:sp>
        <p:nvSpPr>
          <p:cNvPr id="23" name="Text 20"/>
          <p:cNvSpPr txBox="1"/>
          <p:nvPr/>
        </p:nvSpPr>
        <p:spPr>
          <a:xfrm>
            <a:off x="6342736" y="5422392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que pasa y falla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8910599" y="4901184"/>
            <a:ext cx="2622728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093479" y="500176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9093479" y="5184648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spc="9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PROTEGER</a:t>
            </a:r>
            <a:endParaRPr lang="en-US" sz="1160" dirty="0"/>
          </a:p>
        </p:txBody>
      </p:sp>
      <p:sp>
        <p:nvSpPr>
          <p:cNvPr id="27" name="Text 24"/>
          <p:cNvSpPr txBox="1"/>
          <p:nvPr/>
        </p:nvSpPr>
        <p:spPr>
          <a:xfrm>
            <a:off x="9093479" y="5422392"/>
            <a:ext cx="2256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2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un rojo no se integre</a:t>
            </a:r>
            <a:endParaRPr lang="en-US" sz="92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EL ENSAYO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defecto a propósito, por un pull request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682496"/>
            <a:ext cx="10874959" cy="969264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682496"/>
            <a:ext cx="54864" cy="96926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1810512"/>
            <a:ext cx="1036289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180" i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«Durante la defensa se abre un pull request con un defecto introducido en tu sistema. Se observa qué hace tu pipeline: si lo bloquea, en qué etapa, y si el resultado permite entender qué se rompió sin abrir el código.»</a:t>
            </a:r>
            <a:endParaRPr lang="en-US" sz="118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377440"/>
            <a:ext cx="103628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Instrucciones de la Evaluación Final, sección 6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58368" y="2798064"/>
            <a:ext cx="3503066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" y="2798064"/>
            <a:ext cx="3503066" cy="54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7824" y="2926080"/>
            <a:ext cx="31007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¿Lo bloquea?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77824" y="3310128"/>
            <a:ext cx="31007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¿El pipeline se pone en rojo?</a:t>
            </a:r>
            <a:endParaRPr lang="en-US" sz="1060" dirty="0"/>
          </a:p>
        </p:txBody>
      </p:sp>
      <p:sp>
        <p:nvSpPr>
          <p:cNvPr id="18" name="Shape 15"/>
          <p:cNvSpPr/>
          <p:nvPr/>
        </p:nvSpPr>
        <p:spPr>
          <a:xfrm>
            <a:off x="4344314" y="2798064"/>
            <a:ext cx="3503066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44314" y="2798064"/>
            <a:ext cx="3503066" cy="54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63770" y="2926080"/>
            <a:ext cx="31007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¿En qué etapa?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563770" y="3310128"/>
            <a:ext cx="31007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trabajo lo atrapa?</a:t>
            </a:r>
            <a:endParaRPr lang="en-US" sz="1060" dirty="0"/>
          </a:p>
        </p:txBody>
      </p:sp>
      <p:sp>
        <p:nvSpPr>
          <p:cNvPr id="22" name="Shape 19"/>
          <p:cNvSpPr/>
          <p:nvPr/>
        </p:nvSpPr>
        <p:spPr>
          <a:xfrm>
            <a:off x="8030261" y="2798064"/>
            <a:ext cx="3503066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30261" y="2798064"/>
            <a:ext cx="3503066" cy="5486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49717" y="2926080"/>
            <a:ext cx="31007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¿Se entiende?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8249717" y="3310128"/>
            <a:ext cx="31007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¿La salida dice qué se rompió sin abrir el código?</a:t>
            </a:r>
            <a:endParaRPr lang="en-US" sz="1060" dirty="0"/>
          </a:p>
        </p:txBody>
      </p:sp>
      <p:sp>
        <p:nvSpPr>
          <p:cNvPr id="26" name="Text 23"/>
          <p:cNvSpPr txBox="1"/>
          <p:nvPr/>
        </p:nvSpPr>
        <p:spPr>
          <a:xfrm>
            <a:off x="658368" y="39684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REGLAS DEL DEFECTO, SEGÚN LAS MISMAS INSTRUCCIONES</a:t>
            </a:r>
            <a:endParaRPr lang="en-US" sz="960" dirty="0"/>
          </a:p>
        </p:txBody>
      </p:sp>
      <p:sp>
        <p:nvSpPr>
          <p:cNvPr id="27" name="Shape 24"/>
          <p:cNvSpPr/>
          <p:nvPr/>
        </p:nvSpPr>
        <p:spPr>
          <a:xfrm>
            <a:off x="658368" y="4242816"/>
            <a:ext cx="2072579" cy="676656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86384" y="4279392"/>
            <a:ext cx="181654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genera un agente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2858963" y="4242816"/>
            <a:ext cx="2072579" cy="676656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986979" y="4279392"/>
            <a:ext cx="181654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 de un catálogo fijo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059558" y="4242816"/>
            <a:ext cx="2072579" cy="676656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187574" y="4279392"/>
            <a:ext cx="181654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 solo cambio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260153" y="4242816"/>
            <a:ext cx="2072579" cy="676656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388169" y="4279392"/>
            <a:ext cx="181654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Toca algo que declaraste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9460748" y="4242816"/>
            <a:ext cx="2072579" cy="676656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588764" y="4279392"/>
            <a:ext cx="1816547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Altera algo observable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ensaya aquí, en el proyecto de la clase. Y esta noche, en el tuyo.</a:t>
            </a:r>
            <a:endParaRPr lang="en-US" sz="138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EL PEDIDO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catálogo fijo y un solo cambio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1682496"/>
            <a:ext cx="10874959" cy="3163824"/>
          </a:xfrm>
          <a:prstGeom prst="roundRect">
            <a:avLst>
              <a:gd name="adj" fmla="val 144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039112"/>
            <a:ext cx="10874959" cy="914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1773936"/>
            <a:ext cx="105091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· con permiso para leer y editar, sin permiso para ejecutar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713232" y="2786634"/>
            <a:ext cx="10362895" cy="149230"/>
          </a:xfrm>
          <a:prstGeom prst="rect">
            <a:avLst/>
          </a:prstGeom>
          <a:solidFill>
            <a:srgbClr val="E0BC5A">
              <a:alpha val="28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563874"/>
            <a:ext cx="10362895" cy="149230"/>
          </a:xfrm>
          <a:prstGeom prst="rect">
            <a:avLst/>
          </a:prstGeom>
          <a:solidFill>
            <a:srgbClr val="E0BC5A">
              <a:alpha val="28000"/>
            </a:srgbClr>
          </a:solidFill>
          <a:ln w="12700">
            <a:solidFill>
              <a:srgbClr val="E0BC5A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4496562"/>
            <a:ext cx="10362895" cy="149230"/>
          </a:xfrm>
          <a:prstGeom prst="rect">
            <a:avLst/>
          </a:prstGeom>
          <a:solidFill>
            <a:srgbClr val="2E7D4F">
              <a:alpha val="28000"/>
            </a:srgbClr>
          </a:solidFill>
          <a:ln w="12700">
            <a:solidFill>
              <a:srgbClr val="2E7D4F">
                <a:alpha val="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176272"/>
            <a:ext cx="10143439" cy="254203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1233221" y="2783708"/>
            <a:ext cx="143012" cy="14301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1242365" y="2792852"/>
            <a:ext cx="12472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40" dirty="0"/>
          </a:p>
        </p:txBody>
      </p:sp>
      <p:sp>
        <p:nvSpPr>
          <p:cNvPr id="19" name="Shape 15"/>
          <p:cNvSpPr/>
          <p:nvPr/>
        </p:nvSpPr>
        <p:spPr>
          <a:xfrm>
            <a:off x="11233221" y="3560948"/>
            <a:ext cx="143012" cy="143012"/>
          </a:xfrm>
          <a:prstGeom prst="ellipse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242365" y="3570092"/>
            <a:ext cx="12472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40" dirty="0"/>
          </a:p>
        </p:txBody>
      </p:sp>
      <p:sp>
        <p:nvSpPr>
          <p:cNvPr id="21" name="Shape 17"/>
          <p:cNvSpPr/>
          <p:nvPr/>
        </p:nvSpPr>
        <p:spPr>
          <a:xfrm>
            <a:off x="11233221" y="4493636"/>
            <a:ext cx="143012" cy="143012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1242365" y="4502780"/>
            <a:ext cx="124724" cy="124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40" dirty="0"/>
          </a:p>
        </p:txBody>
      </p:sp>
      <p:sp>
        <p:nvSpPr>
          <p:cNvPr id="23" name="Text 19"/>
          <p:cNvSpPr txBox="1"/>
          <p:nvPr/>
        </p:nvSpPr>
        <p:spPr>
          <a:xfrm>
            <a:off x="658368" y="4937760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tipos b y c, y d y e, van de a dos por línea para que quepan; en el pedido original van uno por línea. claude -p le entrega el pedido al agente; --allowed-tools solo le permite leer, buscar y editar. El pedido va sin tildes porque se escribió así en la terminal.</a:t>
            </a:r>
            <a:endParaRPr lang="en-US" sz="98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DEFECTO 1 · PULL REQUEST 3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carácter, y el bloque 8 desaparece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658368" y="1682496"/>
            <a:ext cx="3840480" cy="820039"/>
          </a:xfrm>
          <a:prstGeom prst="roundRect">
            <a:avLst>
              <a:gd name="adj" fmla="val 5575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18388" y="1815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73836" y="1815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29284" y="1815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53312" y="1764792"/>
            <a:ext cx="2962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respuesta del agente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859536" y="2157984"/>
            <a:ext cx="3438144" cy="216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reservas.py — 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681728" y="1682496"/>
            <a:ext cx="6851599" cy="1225906"/>
          </a:xfrm>
          <a:prstGeom prst="roundRect">
            <a:avLst>
              <a:gd name="adj" fmla="val 37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81728" y="2039112"/>
            <a:ext cx="6851599" cy="914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64608" y="1773936"/>
            <a:ext cx="6485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cambio, en reservas.py</a:t>
            </a:r>
            <a:endParaRPr lang="en-US" sz="96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6320" y="2176272"/>
            <a:ext cx="6522415" cy="60411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58368" y="30540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OCHO BLOQUES QUE DECLARA RF-01, CON EL CAMBIO</a:t>
            </a:r>
            <a:endParaRPr lang="en-US" sz="960" dirty="0"/>
          </a:p>
        </p:txBody>
      </p:sp>
      <p:sp>
        <p:nvSpPr>
          <p:cNvPr id="21" name="Text 17"/>
          <p:cNvSpPr/>
          <p:nvPr/>
        </p:nvSpPr>
        <p:spPr>
          <a:xfrm>
            <a:off x="1344168" y="3346704"/>
            <a:ext cx="1107910" cy="640080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2543518" y="3346704"/>
            <a:ext cx="1107910" cy="640080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742868" y="3346704"/>
            <a:ext cx="1107910" cy="640080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942218" y="3346704"/>
            <a:ext cx="1107910" cy="640080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141568" y="3346704"/>
            <a:ext cx="1107910" cy="640080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5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7340918" y="3346704"/>
            <a:ext cx="1107910" cy="640080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6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8540267" y="3346704"/>
            <a:ext cx="1107910" cy="640080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7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9739617" y="3346704"/>
            <a:ext cx="1107910" cy="640080"/>
          </a:xfrm>
          <a:prstGeom prst="rect">
            <a:avLst/>
          </a:prstGeom>
          <a:solidFill>
            <a:srgbClr val="B3181E"/>
          </a:solidFill>
          <a:ln>
            <a:solidFill>
              <a:srgbClr val="B3181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8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8230857" y="4059936"/>
            <a:ext cx="26623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bloque_valido(8) ahora devuelve False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58368" y="4517136"/>
            <a:ext cx="10874959" cy="87782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932688" y="4572000"/>
            <a:ext cx="10326319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defecto de valor límite: el sistema sigue funcionando para casi todo, y falla exactamente en el borde. La jornada pasa a tener siete bloques.</a:t>
            </a:r>
            <a:endParaRPr lang="en-US" sz="1260" dirty="0"/>
          </a:p>
        </p:txBody>
      </p:sp>
      <p:sp>
        <p:nvSpPr>
          <p:cNvPr id="32" name="Shape 28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Catálogo a: desplazar una comparación. Toca RF-01, que el proyecto declara.</a:t>
            </a:r>
            <a:endParaRPr lang="en-US" sz="138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DEFECTO 1 · CÓMO SE LEE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Las tres preguntas, con lo que mostró el pipeline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640080" y="1664208"/>
            <a:ext cx="4882896" cy="2973740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11" name="Image 1" descr="C:\Users\Diego Obando\dev\pro402-taller-de-testing-2026\clases\semana-05\02-2\ppt\source\assets\gh-pr3-defecto-limite-recor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82496"/>
            <a:ext cx="4846320" cy="29371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8368" y="467452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ejecución del pull request 3, en GitHub.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5779008" y="1682496"/>
            <a:ext cx="575431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79008" y="1682496"/>
            <a:ext cx="54864" cy="877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998464" y="1737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¿Lo bloquea?</a:t>
            </a:r>
            <a:endParaRPr lang="en-US" sz="1140" dirty="0"/>
          </a:p>
        </p:txBody>
      </p:sp>
      <p:sp>
        <p:nvSpPr>
          <p:cNvPr id="16" name="Text 12"/>
          <p:cNvSpPr txBox="1"/>
          <p:nvPr/>
        </p:nvSpPr>
        <p:spPr>
          <a:xfrm>
            <a:off x="7699248" y="1737360"/>
            <a:ext cx="3651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detecta: un trabajo en rojo.</a:t>
            </a:r>
            <a:endParaRPr lang="en-US" sz="1140" dirty="0"/>
          </a:p>
        </p:txBody>
      </p:sp>
      <p:sp>
        <p:nvSpPr>
          <p:cNvPr id="17" name="Text 13"/>
          <p:cNvSpPr txBox="1"/>
          <p:nvPr/>
        </p:nvSpPr>
        <p:spPr>
          <a:xfrm>
            <a:off x="5998464" y="2066544"/>
            <a:ext cx="5351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además impide integrar, es otra cosa.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5779008" y="2651760"/>
            <a:ext cx="5754319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779008" y="2651760"/>
            <a:ext cx="54864" cy="877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998464" y="27066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¿En qué etapa?</a:t>
            </a:r>
            <a:endParaRPr lang="en-US" sz="1140" dirty="0"/>
          </a:p>
        </p:txBody>
      </p:sp>
      <p:sp>
        <p:nvSpPr>
          <p:cNvPr id="21" name="Text 17"/>
          <p:cNvSpPr txBox="1"/>
          <p:nvPr/>
        </p:nvSpPr>
        <p:spPr>
          <a:xfrm>
            <a:off x="7699248" y="2706624"/>
            <a:ext cx="36511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de Python.</a:t>
            </a:r>
            <a:endParaRPr lang="en-US" sz="1140" dirty="0"/>
          </a:p>
        </p:txBody>
      </p:sp>
      <p:sp>
        <p:nvSpPr>
          <p:cNvPr id="22" name="Text 18"/>
          <p:cNvSpPr txBox="1"/>
          <p:nvPr/>
        </p:nvSpPr>
        <p:spPr>
          <a:xfrm>
            <a:off x="5998464" y="3035808"/>
            <a:ext cx="53519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estáticos no podían verlo; ninguna de extremo a extremo reserva el bloque 8.</a:t>
            </a:r>
            <a:endParaRPr lang="en-US" sz="980" dirty="0"/>
          </a:p>
        </p:txBody>
      </p:sp>
      <p:sp>
        <p:nvSpPr>
          <p:cNvPr id="23" name="Text 19"/>
          <p:cNvSpPr txBox="1"/>
          <p:nvPr/>
        </p:nvSpPr>
        <p:spPr>
          <a:xfrm>
            <a:off x="5779008" y="3675888"/>
            <a:ext cx="57543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¿Se entiende sin abrir el código?</a:t>
            </a:r>
            <a:endParaRPr lang="en-US" sz="1140" dirty="0"/>
          </a:p>
        </p:txBody>
      </p:sp>
      <p:sp>
        <p:nvSpPr>
          <p:cNvPr id="24" name="Shape 20"/>
          <p:cNvSpPr/>
          <p:nvPr/>
        </p:nvSpPr>
        <p:spPr>
          <a:xfrm>
            <a:off x="5779008" y="3968496"/>
            <a:ext cx="5754319" cy="1296416"/>
          </a:xfrm>
          <a:prstGeom prst="roundRect">
            <a:avLst>
              <a:gd name="adj" fmla="val 3527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939028" y="4101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094476" y="4101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249924" y="4101084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473952" y="4050792"/>
            <a:ext cx="487649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de Python</a:t>
            </a:r>
            <a:endParaRPr lang="en-US" sz="940" dirty="0"/>
          </a:p>
        </p:txBody>
      </p:sp>
      <p:sp>
        <p:nvSpPr>
          <p:cNvPr id="29" name="Text 25"/>
          <p:cNvSpPr/>
          <p:nvPr/>
        </p:nvSpPr>
        <p:spPr>
          <a:xfrm>
            <a:off x="5980176" y="4443984"/>
            <a:ext cx="5351983" cy="17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 test_limites_del_requisito[ultimo] ___</a:t>
            </a:r>
            <a:endParaRPr lang="en-US" sz="880" dirty="0"/>
          </a:p>
        </p:txBody>
      </p:sp>
      <p:sp>
        <p:nvSpPr>
          <p:cNvPr id="30" name="Text 26"/>
          <p:cNvSpPr/>
          <p:nvPr/>
        </p:nvSpPr>
        <p:spPr>
          <a:xfrm>
            <a:off x="5980176" y="4617212"/>
            <a:ext cx="5351983" cy="17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     assert False is True</a:t>
            </a:r>
            <a:endParaRPr lang="en-US" sz="880" dirty="0"/>
          </a:p>
        </p:txBody>
      </p:sp>
      <p:sp>
        <p:nvSpPr>
          <p:cNvPr id="31" name="Text 27"/>
          <p:cNvSpPr/>
          <p:nvPr/>
        </p:nvSpPr>
        <p:spPr>
          <a:xfrm>
            <a:off x="5980176" y="4790440"/>
            <a:ext cx="5351983" cy="17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      +  where False = bloque_valido(8)</a:t>
            </a:r>
            <a:endParaRPr lang="en-US" sz="880" dirty="0"/>
          </a:p>
        </p:txBody>
      </p:sp>
      <p:sp>
        <p:nvSpPr>
          <p:cNvPr id="32" name="Text 28"/>
          <p:cNvSpPr/>
          <p:nvPr/>
        </p:nvSpPr>
        <p:spPr>
          <a:xfrm>
            <a:off x="5980176" y="4963668"/>
            <a:ext cx="5351983" cy="173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failed, 22 passed, 1 xfailed, 1 warning</a:t>
            </a:r>
            <a:endParaRPr lang="en-US" sz="880" dirty="0"/>
          </a:p>
        </p:txBody>
      </p:sp>
      <p:sp>
        <p:nvSpPr>
          <p:cNvPr id="33" name="Shape 29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Sí: lo dicen el nombre de la prueba de valores límite y el valor 8. El pipeline muestra lo que la suite sabe decir.</a:t>
            </a:r>
            <a:endParaRPr lang="en-US" sz="124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UN ROJO DEL PIPELINE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opción del bloque 2 escondía las fallas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658368" y="1700784"/>
            <a:ext cx="5254600" cy="1327912"/>
          </a:xfrm>
          <a:prstGeom prst="roundRect">
            <a:avLst>
              <a:gd name="adj" fmla="val 3443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18388" y="1833372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73836" y="1833372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29284" y="1833372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53312" y="1783080"/>
            <a:ext cx="437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-rxX · el resumen final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859536" y="2176272"/>
            <a:ext cx="4852264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short test summary info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859536" y="2357374"/>
            <a:ext cx="4852264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XFAIL test_seguridad.py::test_otra_persona_...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859536" y="2538476"/>
            <a:ext cx="4852264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859536" y="2719578"/>
            <a:ext cx="4852264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(las dos que fallaron no aparecen)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6278728" y="1700784"/>
            <a:ext cx="5254600" cy="1146810"/>
          </a:xfrm>
          <a:prstGeom prst="roundRect">
            <a:avLst>
              <a:gd name="adj" fmla="val 3987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38748" y="1833372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94196" y="1833372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749644" y="1833372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73672" y="1783080"/>
            <a:ext cx="43767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-rfExX · el resumen final</a:t>
            </a:r>
            <a:endParaRPr lang="en-US" sz="940" dirty="0"/>
          </a:p>
        </p:txBody>
      </p:sp>
      <p:sp>
        <p:nvSpPr>
          <p:cNvPr id="24" name="Text 21"/>
          <p:cNvSpPr/>
          <p:nvPr/>
        </p:nvSpPr>
        <p:spPr>
          <a:xfrm>
            <a:off x="6479896" y="2176272"/>
            <a:ext cx="4852264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test_reservas.py::test_limites_del_requisito[ultimo]</a:t>
            </a:r>
            <a:endParaRPr lang="en-US" sz="920" dirty="0"/>
          </a:p>
        </p:txBody>
      </p:sp>
      <p:sp>
        <p:nvSpPr>
          <p:cNvPr id="25" name="Text 22"/>
          <p:cNvSpPr/>
          <p:nvPr/>
        </p:nvSpPr>
        <p:spPr>
          <a:xfrm>
            <a:off x="6479896" y="2357374"/>
            <a:ext cx="4852264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FAILED test_reservas.py::test_regla_permitida_incluye_el_bloque_8</a:t>
            </a:r>
            <a:endParaRPr lang="en-US" sz="920" dirty="0"/>
          </a:p>
        </p:txBody>
      </p:sp>
      <p:sp>
        <p:nvSpPr>
          <p:cNvPr id="26" name="Text 23"/>
          <p:cNvSpPr/>
          <p:nvPr/>
        </p:nvSpPr>
        <p:spPr>
          <a:xfrm>
            <a:off x="6479896" y="2538476"/>
            <a:ext cx="4852264" cy="181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XFAIL test_seguridad.py::test_otra_persona_...</a:t>
            </a:r>
            <a:endParaRPr lang="en-US" sz="920" dirty="0"/>
          </a:p>
        </p:txBody>
      </p:sp>
      <p:sp>
        <p:nvSpPr>
          <p:cNvPr id="27" name="Text 24"/>
          <p:cNvSpPr txBox="1"/>
          <p:nvPr/>
        </p:nvSpPr>
        <p:spPr>
          <a:xfrm>
            <a:off x="658368" y="305409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línea XFAIL se abrevió con … para que quepa. La línea entre paréntesis es una nota, no parte de la salida.</a:t>
            </a:r>
            <a:endParaRPr lang="en-US" sz="940" dirty="0"/>
          </a:p>
        </p:txBody>
      </p:sp>
      <p:sp>
        <p:nvSpPr>
          <p:cNvPr id="28" name="Shape 25"/>
          <p:cNvSpPr/>
          <p:nvPr/>
        </p:nvSpPr>
        <p:spPr>
          <a:xfrm>
            <a:off x="658368" y="3438144"/>
            <a:ext cx="2636444" cy="109728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41248" y="3511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2800" dirty="0"/>
          </a:p>
        </p:txBody>
      </p:sp>
      <p:sp>
        <p:nvSpPr>
          <p:cNvPr id="30" name="Text 27"/>
          <p:cNvSpPr txBox="1"/>
          <p:nvPr/>
        </p:nvSpPr>
        <p:spPr>
          <a:xfrm>
            <a:off x="1444752" y="356616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fallas</a:t>
            </a:r>
            <a:endParaRPr lang="en-US" sz="1140" dirty="0"/>
          </a:p>
        </p:txBody>
      </p:sp>
      <p:sp>
        <p:nvSpPr>
          <p:cNvPr id="31" name="Text 28"/>
          <p:cNvSpPr txBox="1"/>
          <p:nvPr/>
        </p:nvSpPr>
        <p:spPr>
          <a:xfrm>
            <a:off x="1444752" y="4041648"/>
            <a:ext cx="17220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resumen por omisión</a:t>
            </a:r>
            <a:endParaRPr lang="en-US" sz="960" dirty="0"/>
          </a:p>
        </p:txBody>
      </p:sp>
      <p:sp>
        <p:nvSpPr>
          <p:cNvPr id="32" name="Shape 29"/>
          <p:cNvSpPr/>
          <p:nvPr/>
        </p:nvSpPr>
        <p:spPr>
          <a:xfrm>
            <a:off x="3404540" y="3438144"/>
            <a:ext cx="2636444" cy="109728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587420" y="3511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2800" dirty="0"/>
          </a:p>
        </p:txBody>
      </p:sp>
      <p:sp>
        <p:nvSpPr>
          <p:cNvPr id="34" name="Text 31"/>
          <p:cNvSpPr txBox="1"/>
          <p:nvPr/>
        </p:nvSpPr>
        <p:spPr>
          <a:xfrm>
            <a:off x="4190924" y="356616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</a:t>
            </a:r>
            <a:endParaRPr lang="en-US" sz="1140" dirty="0"/>
          </a:p>
        </p:txBody>
      </p:sp>
      <p:sp>
        <p:nvSpPr>
          <p:cNvPr id="35" name="Text 32"/>
          <p:cNvSpPr txBox="1"/>
          <p:nvPr/>
        </p:nvSpPr>
        <p:spPr>
          <a:xfrm>
            <a:off x="4190924" y="4041648"/>
            <a:ext cx="17220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resumen por omisión</a:t>
            </a:r>
            <a:endParaRPr lang="en-US" sz="960" dirty="0"/>
          </a:p>
        </p:txBody>
      </p:sp>
      <p:sp>
        <p:nvSpPr>
          <p:cNvPr id="36" name="Shape 33"/>
          <p:cNvSpPr/>
          <p:nvPr/>
        </p:nvSpPr>
        <p:spPr>
          <a:xfrm>
            <a:off x="6150712" y="3438144"/>
            <a:ext cx="263644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333592" y="3511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37096" y="356616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fallas esperadas</a:t>
            </a:r>
            <a:endParaRPr lang="en-US" sz="1140" dirty="0"/>
          </a:p>
        </p:txBody>
      </p:sp>
      <p:sp>
        <p:nvSpPr>
          <p:cNvPr id="39" name="Text 36"/>
          <p:cNvSpPr txBox="1"/>
          <p:nvPr/>
        </p:nvSpPr>
        <p:spPr>
          <a:xfrm>
            <a:off x="6937096" y="4041648"/>
            <a:ext cx="17220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se quería agregar</a:t>
            </a:r>
            <a:endParaRPr lang="en-US" sz="960" dirty="0"/>
          </a:p>
        </p:txBody>
      </p:sp>
      <p:sp>
        <p:nvSpPr>
          <p:cNvPr id="40" name="Shape 37"/>
          <p:cNvSpPr/>
          <p:nvPr/>
        </p:nvSpPr>
        <p:spPr>
          <a:xfrm>
            <a:off x="8896883" y="3438144"/>
            <a:ext cx="2636444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079763" y="3511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800" dirty="0"/>
          </a:p>
        </p:txBody>
      </p:sp>
      <p:sp>
        <p:nvSpPr>
          <p:cNvPr id="42" name="Text 39"/>
          <p:cNvSpPr txBox="1"/>
          <p:nvPr/>
        </p:nvSpPr>
        <p:spPr>
          <a:xfrm>
            <a:off x="9683267" y="3566160"/>
            <a:ext cx="17220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pasaron inesperadamente</a:t>
            </a:r>
            <a:endParaRPr lang="en-US" sz="1140" dirty="0"/>
          </a:p>
        </p:txBody>
      </p:sp>
      <p:sp>
        <p:nvSpPr>
          <p:cNvPr id="43" name="Text 40"/>
          <p:cNvSpPr txBox="1"/>
          <p:nvPr/>
        </p:nvSpPr>
        <p:spPr>
          <a:xfrm>
            <a:off x="9683267" y="4041648"/>
            <a:ext cx="17220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se quería agregar</a:t>
            </a:r>
            <a:endParaRPr lang="en-US" sz="960" dirty="0"/>
          </a:p>
        </p:txBody>
      </p:sp>
      <p:sp>
        <p:nvSpPr>
          <p:cNvPr id="44" name="Text 41"/>
          <p:cNvSpPr txBox="1"/>
          <p:nvPr/>
        </p:nvSpPr>
        <p:spPr>
          <a:xfrm>
            <a:off x="658368" y="4681728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-r no suma letras al resumen por omisión: lo reemplaza. -rxX había sacado f y E; -rfExX las devuelve.</a:t>
            </a:r>
            <a:endParaRPr lang="en-US" sz="1140" dirty="0"/>
          </a:p>
        </p:txBody>
      </p:sp>
      <p:sp>
        <p:nvSpPr>
          <p:cNvPr id="45" name="Shape 42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configuración del pipeline es código, y sus defectos aparecen usándola.</a:t>
            </a:r>
            <a:endParaRPr lang="en-US" sz="138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LA RAMA PRINCIPAL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rojo avisa; no impide nada por sí solo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658368" y="1737360"/>
            <a:ext cx="49802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37360"/>
            <a:ext cx="4980280" cy="73152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1901952"/>
            <a:ext cx="452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 REQUEST 3 · SIN PROTEGER LA RAMA</a:t>
            </a:r>
            <a:endParaRPr lang="en-US" sz="96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176272"/>
            <a:ext cx="4523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A6A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UNSTABLE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834640"/>
            <a:ext cx="452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Hay revisiones en rojo, y el botón para integrar sigue disponible. Quien tenga apuro, integra.</a:t>
            </a:r>
            <a:endParaRPr lang="en-US" sz="1140" dirty="0"/>
          </a:p>
        </p:txBody>
      </p:sp>
      <p:sp>
        <p:nvSpPr>
          <p:cNvPr id="15" name="Shape 12"/>
          <p:cNvSpPr/>
          <p:nvPr/>
        </p:nvSpPr>
        <p:spPr>
          <a:xfrm>
            <a:off x="6553048" y="1737360"/>
            <a:ext cx="4980280" cy="192024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553048" y="1737360"/>
            <a:ext cx="4980280" cy="7315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09080" y="1901952"/>
            <a:ext cx="452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 REQUEST 3 · CON LA RAMA PROTEGIDA</a:t>
            </a:r>
            <a:endParaRPr lang="en-US" sz="960" dirty="0"/>
          </a:p>
        </p:txBody>
      </p:sp>
      <p:sp>
        <p:nvSpPr>
          <p:cNvPr id="18" name="Text 15"/>
          <p:cNvSpPr txBox="1"/>
          <p:nvPr/>
        </p:nvSpPr>
        <p:spPr>
          <a:xfrm>
            <a:off x="6809080" y="2176272"/>
            <a:ext cx="4523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6809080" y="2834640"/>
            <a:ext cx="452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puede integrar mientras las revisiones obligatorias estén en rojo.</a:t>
            </a:r>
            <a:endParaRPr lang="en-US" sz="1140" dirty="0"/>
          </a:p>
        </p:txBody>
      </p:sp>
      <p:sp>
        <p:nvSpPr>
          <p:cNvPr id="20" name="Shape 17"/>
          <p:cNvSpPr/>
          <p:nvPr/>
        </p:nvSpPr>
        <p:spPr>
          <a:xfrm>
            <a:off x="5821528" y="2697480"/>
            <a:ext cx="548640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658368" y="38587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SETTINGS → BRANCHES · UNA REGLA DE PROTECCIÓN PARA MAIN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658368" y="4133088"/>
            <a:ext cx="53460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58368" y="4133088"/>
            <a:ext cx="54864" cy="12435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96112" y="4206240"/>
            <a:ext cx="498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Revisiones obligatorias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96112" y="4517136"/>
            <a:ext cx="4943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cuatro trabajos: estáticos, Python, extremo a extremo y vulnerabilidades. Aparecen para elegir después de la primera ejecución.</a:t>
            </a:r>
            <a:endParaRPr lang="en-US" sz="1060" dirty="0"/>
          </a:p>
        </p:txBody>
      </p:sp>
      <p:sp>
        <p:nvSpPr>
          <p:cNvPr id="26" name="Shape 23"/>
          <p:cNvSpPr/>
          <p:nvPr/>
        </p:nvSpPr>
        <p:spPr>
          <a:xfrm>
            <a:off x="6187288" y="4133088"/>
            <a:ext cx="5346040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187288" y="4133088"/>
            <a:ext cx="54864" cy="12435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25032" y="4206240"/>
            <a:ext cx="498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También para quien administra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425032" y="4517136"/>
            <a:ext cx="494370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regla que el dueño se puede saltar no protege del dueño apurado.</a:t>
            </a:r>
            <a:endParaRPr lang="en-US" sz="1060" dirty="0"/>
          </a:p>
        </p:txBody>
      </p:sp>
      <p:sp>
        <p:nvSpPr>
          <p:cNvPr id="30" name="Shape 27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que un rojo impida integrar, la rama principal se protege.</a:t>
            </a:r>
            <a:endParaRPr lang="en-US" sz="138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LA CONSECUENCIA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Nadie sube cambios directamente a main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737360"/>
            <a:ext cx="10874959" cy="1469644"/>
          </a:xfrm>
          <a:prstGeom prst="roundRect">
            <a:avLst>
              <a:gd name="adj" fmla="val 3111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18388" y="1869948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73836" y="1869948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29284" y="1869948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353312" y="1819656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push, directo a main, desde la cuenta dueña del repositorio</a:t>
            </a:r>
            <a:endParaRPr lang="en-US" sz="940" dirty="0"/>
          </a:p>
        </p:txBody>
      </p:sp>
      <p:sp>
        <p:nvSpPr>
          <p:cNvPr id="15" name="Text 12"/>
          <p:cNvSpPr/>
          <p:nvPr/>
        </p:nvSpPr>
        <p:spPr>
          <a:xfrm>
            <a:off x="859536" y="2212848"/>
            <a:ext cx="10472623" cy="216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remote: error: GH006: Protected branch update failed for refs/heads/main.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59536" y="2429383"/>
            <a:ext cx="10472623" cy="216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59536" y="2645918"/>
            <a:ext cx="10472623" cy="216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remote: - 4 of 4 required status checks are expected.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59536" y="2862453"/>
            <a:ext cx="10472623" cy="216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! [remote rejected] main -&gt; main (protected branch hook declined)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58368" y="3310128"/>
            <a:ext cx="108749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español: falló la actualización de la rama protegida; se esperan las cuatro revisiones obligatorias.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8368" y="3840480"/>
            <a:ext cx="2513000" cy="822960"/>
          </a:xfrm>
          <a:prstGeom prst="rect">
            <a:avLst/>
          </a:prstGeom>
          <a:solidFill>
            <a:srgbClr val="1D3A57"/>
          </a:solidFill>
          <a:ln>
            <a:solidFill>
              <a:srgbClr val="1D3A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Rama propia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207944" y="4251960"/>
            <a:ext cx="201168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3445688" y="3840480"/>
            <a:ext cx="2513000" cy="822960"/>
          </a:xfrm>
          <a:prstGeom prst="rect">
            <a:avLst/>
          </a:prstGeom>
          <a:solidFill>
            <a:srgbClr val="1D3A57"/>
          </a:solidFill>
          <a:ln>
            <a:solidFill>
              <a:srgbClr val="1D3A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Pull request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995264" y="4251960"/>
            <a:ext cx="201168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24" name="Text 21"/>
          <p:cNvSpPr/>
          <p:nvPr/>
        </p:nvSpPr>
        <p:spPr>
          <a:xfrm>
            <a:off x="6233008" y="3840480"/>
            <a:ext cx="2513000" cy="822960"/>
          </a:xfrm>
          <a:prstGeom prst="rect">
            <a:avLst/>
          </a:prstGeom>
          <a:solidFill>
            <a:srgbClr val="1D3A57"/>
          </a:solidFill>
          <a:ln>
            <a:solidFill>
              <a:srgbClr val="1D3A5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8782583" y="4251960"/>
            <a:ext cx="201168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26" name="Text 23"/>
          <p:cNvSpPr/>
          <p:nvPr/>
        </p:nvSpPr>
        <p:spPr>
          <a:xfrm>
            <a:off x="9020327" y="3840480"/>
            <a:ext cx="2513000" cy="822960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Integrar solo en verde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cambio entra por un pull request, y todo pull request pasa por el pipeline.</a:t>
            </a:r>
            <a:endParaRPr lang="en-US" sz="138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DEFECTO 2 · PULL REQUEST 4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defecto real, y todo en verde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682496"/>
            <a:ext cx="10874959" cy="1225906"/>
          </a:xfrm>
          <a:prstGeom prst="roundRect">
            <a:avLst>
              <a:gd name="adj" fmla="val 372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2039112"/>
            <a:ext cx="10874959" cy="914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1773936"/>
            <a:ext cx="105091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pedido pedía tocar RF-06: el comprobante trae nombre, RUT, correo y bloque. El agente respondió «reservas.py — d»</a:t>
            </a:r>
            <a:endParaRPr lang="en-US" sz="96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176272"/>
            <a:ext cx="10545775" cy="60411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40080" y="2907792"/>
            <a:ext cx="3959352" cy="2414016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15" name="Image 2" descr="C:\Users\Diego Obando\dev\pro402-taller-de-testing-2026\clases\semana-05\02-2\ppt\source\assets\gh-pr4-verde-con-defecto-recor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926080"/>
            <a:ext cx="3922776" cy="23774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8368" y="5358384"/>
            <a:ext cx="3922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ejecución del pull request 4, en GitHub.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870448" y="2926080"/>
            <a:ext cx="5662879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053328" y="3017520"/>
            <a:ext cx="529711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8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LA RAMA PROTEGIDA</a:t>
            </a:r>
            <a:endParaRPr lang="en-US" sz="960" dirty="0"/>
          </a:p>
        </p:txBody>
      </p:sp>
      <p:sp>
        <p:nvSpPr>
          <p:cNvPr id="19" name="Shape 14"/>
          <p:cNvSpPr/>
          <p:nvPr/>
        </p:nvSpPr>
        <p:spPr>
          <a:xfrm>
            <a:off x="6062472" y="3429000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071616" y="34381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419088" y="3401568"/>
            <a:ext cx="49313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Controles estáticos</a:t>
            </a:r>
            <a:endParaRPr lang="en-US" sz="1060" dirty="0"/>
          </a:p>
        </p:txBody>
      </p:sp>
      <p:sp>
        <p:nvSpPr>
          <p:cNvPr id="22" name="Shape 17"/>
          <p:cNvSpPr/>
          <p:nvPr/>
        </p:nvSpPr>
        <p:spPr>
          <a:xfrm>
            <a:off x="6062472" y="3794760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071616" y="380390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19"/>
          <p:cNvSpPr txBox="1"/>
          <p:nvPr/>
        </p:nvSpPr>
        <p:spPr>
          <a:xfrm>
            <a:off x="6419088" y="3767328"/>
            <a:ext cx="49313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de Python</a:t>
            </a:r>
            <a:endParaRPr lang="en-US" sz="1060" dirty="0"/>
          </a:p>
        </p:txBody>
      </p:sp>
      <p:sp>
        <p:nvSpPr>
          <p:cNvPr id="25" name="Text 20"/>
          <p:cNvSpPr txBox="1"/>
          <p:nvPr/>
        </p:nvSpPr>
        <p:spPr>
          <a:xfrm>
            <a:off x="8701888" y="3767328"/>
            <a:ext cx="264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40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passed, 1 xfailed</a:t>
            </a:r>
            <a:endParaRPr lang="en-US" sz="940" dirty="0"/>
          </a:p>
        </p:txBody>
      </p:sp>
      <p:sp>
        <p:nvSpPr>
          <p:cNvPr id="26" name="Shape 21"/>
          <p:cNvSpPr/>
          <p:nvPr/>
        </p:nvSpPr>
        <p:spPr>
          <a:xfrm>
            <a:off x="6062472" y="4160520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071616" y="41696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6419088" y="4133088"/>
            <a:ext cx="49313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Extremo a extremo</a:t>
            </a:r>
            <a:endParaRPr lang="en-US" sz="1060" dirty="0"/>
          </a:p>
        </p:txBody>
      </p:sp>
      <p:sp>
        <p:nvSpPr>
          <p:cNvPr id="29" name="Text 24"/>
          <p:cNvSpPr txBox="1"/>
          <p:nvPr/>
        </p:nvSpPr>
        <p:spPr>
          <a:xfrm>
            <a:off x="8701888" y="4133088"/>
            <a:ext cx="264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40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passed</a:t>
            </a:r>
            <a:endParaRPr lang="en-US" sz="940" dirty="0"/>
          </a:p>
        </p:txBody>
      </p:sp>
      <p:sp>
        <p:nvSpPr>
          <p:cNvPr id="30" name="Shape 25"/>
          <p:cNvSpPr/>
          <p:nvPr/>
        </p:nvSpPr>
        <p:spPr>
          <a:xfrm>
            <a:off x="6062472" y="4526280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071616" y="45354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6419088" y="4498848"/>
            <a:ext cx="493135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Vulnerabilidades</a:t>
            </a:r>
            <a:endParaRPr lang="en-US" sz="1060" dirty="0"/>
          </a:p>
        </p:txBody>
      </p:sp>
      <p:sp>
        <p:nvSpPr>
          <p:cNvPr id="33" name="Shape 28"/>
          <p:cNvSpPr/>
          <p:nvPr/>
        </p:nvSpPr>
        <p:spPr>
          <a:xfrm>
            <a:off x="5870448" y="4901184"/>
            <a:ext cx="5662879" cy="45720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053328" y="4937760"/>
            <a:ext cx="52971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Estado: CLEAN · listo para integrarse, con el defecto adentro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protección de la rama no lo detiene: solo exige que las pruebas pasen, y pasan.</a:t>
            </a:r>
            <a:endParaRPr lang="en-US" sz="138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DÓNDE ESTABA EL HUECO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Marcada RF-06, pero no mira el comprobante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00784"/>
            <a:ext cx="525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QUE EXISTÍA</a:t>
            </a:r>
            <a:endParaRPr lang="en-US" sz="960" dirty="0"/>
          </a:p>
        </p:txBody>
      </p:sp>
      <p:sp>
        <p:nvSpPr>
          <p:cNvPr id="11" name="Shape 8"/>
          <p:cNvSpPr/>
          <p:nvPr/>
        </p:nvSpPr>
        <p:spPr>
          <a:xfrm>
            <a:off x="658368" y="1975104"/>
            <a:ext cx="5254600" cy="1199693"/>
          </a:xfrm>
          <a:prstGeom prst="roundRect">
            <a:avLst>
              <a:gd name="adj" fmla="val 381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" y="2836164"/>
            <a:ext cx="4742536" cy="139281"/>
          </a:xfrm>
          <a:prstGeom prst="rect">
            <a:avLst/>
          </a:prstGeom>
          <a:solidFill>
            <a:srgbClr val="B3181E">
              <a:alpha val="28000"/>
            </a:srgbClr>
          </a:solidFill>
          <a:ln w="12700">
            <a:solidFill>
              <a:srgbClr val="B3181E">
                <a:alpha val="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121408"/>
            <a:ext cx="4523080" cy="925373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17629" y="2833433"/>
            <a:ext cx="133478" cy="133478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626773" y="2842577"/>
            <a:ext cx="115190" cy="115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40" dirty="0"/>
          </a:p>
        </p:txBody>
      </p:sp>
      <p:sp>
        <p:nvSpPr>
          <p:cNvPr id="16" name="Text 12"/>
          <p:cNvSpPr txBox="1"/>
          <p:nvPr/>
        </p:nvSpPr>
        <p:spPr>
          <a:xfrm>
            <a:off x="658368" y="3266237"/>
            <a:ext cx="525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comprueba que la reserva se acepte. La matriz la cuenta como cobertura de RF-06.</a:t>
            </a:r>
            <a:endParaRPr lang="en-US" sz="1040" dirty="0"/>
          </a:p>
        </p:txBody>
      </p:sp>
      <p:sp>
        <p:nvSpPr>
          <p:cNvPr id="17" name="Text 13"/>
          <p:cNvSpPr txBox="1"/>
          <p:nvPr/>
        </p:nvSpPr>
        <p:spPr>
          <a:xfrm>
            <a:off x="6278728" y="1700784"/>
            <a:ext cx="525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QUE FALTABA · PULL REQUEST 5</a:t>
            </a:r>
            <a:endParaRPr lang="en-US" sz="960" dirty="0"/>
          </a:p>
        </p:txBody>
      </p:sp>
      <p:sp>
        <p:nvSpPr>
          <p:cNvPr id="18" name="Shape 14"/>
          <p:cNvSpPr/>
          <p:nvPr/>
        </p:nvSpPr>
        <p:spPr>
          <a:xfrm>
            <a:off x="6278728" y="1975104"/>
            <a:ext cx="5254600" cy="1607312"/>
          </a:xfrm>
          <a:prstGeom prst="roundRect">
            <a:avLst>
              <a:gd name="adj" fmla="val 284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33592" y="3134512"/>
            <a:ext cx="4742536" cy="122700"/>
          </a:xfrm>
          <a:prstGeom prst="rect">
            <a:avLst/>
          </a:prstGeom>
          <a:solidFill>
            <a:srgbClr val="2E7D4F">
              <a:alpha val="28000"/>
            </a:srgbClr>
          </a:solidFill>
          <a:ln w="12700">
            <a:solidFill>
              <a:srgbClr val="2E7D4F">
                <a:alpha val="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43320" y="2121408"/>
            <a:ext cx="4523080" cy="133299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1245933" y="3132107"/>
            <a:ext cx="117588" cy="11758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1255077" y="3141251"/>
            <a:ext cx="99300" cy="99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40" dirty="0"/>
          </a:p>
        </p:txBody>
      </p:sp>
      <p:sp>
        <p:nvSpPr>
          <p:cNvPr id="23" name="Text 18"/>
          <p:cNvSpPr txBox="1"/>
          <p:nvPr/>
        </p:nvSpPr>
        <p:spPr>
          <a:xfrm>
            <a:off x="6278728" y="3749040"/>
            <a:ext cx="5254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 es el cliente de pruebas de la API; SOLICITUD, los datos de una reserva de ejemplo. .json()["comprobante"] toma ese campo de la respuesta, y cada assert exige uno de los cuatro datos. En las dos pruebas, la firma se partió en líneas para que quepa.</a:t>
            </a:r>
            <a:endParaRPr lang="en-US" sz="880" dirty="0"/>
          </a:p>
        </p:txBody>
      </p:sp>
      <p:sp>
        <p:nvSpPr>
          <p:cNvPr id="24" name="Shape 19"/>
          <p:cNvSpPr/>
          <p:nvPr/>
        </p:nvSpPr>
        <p:spPr>
          <a:xfrm>
            <a:off x="658368" y="4553712"/>
            <a:ext cx="10874959" cy="788543"/>
          </a:xfrm>
          <a:prstGeom prst="roundRect">
            <a:avLst>
              <a:gd name="adj" fmla="val 5798"/>
            </a:avLst>
          </a:prstGeom>
          <a:solidFill>
            <a:srgbClr val="0F1720"/>
          </a:solidFill>
          <a:ln w="12700">
            <a:solidFill>
              <a:srgbClr val="0F172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18388" y="4686300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73836" y="4686300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1129284" y="4686300"/>
            <a:ext cx="82296" cy="82296"/>
          </a:xfrm>
          <a:prstGeom prst="ellipse">
            <a:avLst/>
          </a:prstGeom>
          <a:solidFill>
            <a:srgbClr val="52606D"/>
          </a:solidFill>
          <a:ln w="12700">
            <a:solidFill>
              <a:srgbClr val="52606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353312" y="4636008"/>
            <a:ext cx="99971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8AA0B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nueva, contra el código del agente</a:t>
            </a:r>
            <a:endParaRPr lang="en-US" sz="940" dirty="0"/>
          </a:p>
        </p:txBody>
      </p:sp>
      <p:sp>
        <p:nvSpPr>
          <p:cNvPr id="29" name="Text 24"/>
          <p:cNvSpPr/>
          <p:nvPr/>
        </p:nvSpPr>
        <p:spPr>
          <a:xfrm>
            <a:off x="859536" y="5029200"/>
            <a:ext cx="10472623" cy="185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D620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     AssertionError: assert 'ana.rivas@ejemplo.cl' in 'Ana Rivas | 11.111.111-1 | bloque 4'</a:t>
            </a:r>
            <a:endParaRPr lang="en-US" sz="94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EL MISMO DEFECTO, OTRA SUITE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Cambió lo que la suite mira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1700784"/>
            <a:ext cx="5071720" cy="36758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" y="1810512"/>
            <a:ext cx="470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· PULL REQUEST 4 CONTRA MAIN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822960" y="2231136"/>
            <a:ext cx="2903220" cy="1773936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13" name="Image 1" descr="C:\Users\Diego Obando\dev\pro402-taller-de-testing-2026\clases\semana-05\02-2\ppt\source\assets\gh-pr4-verde-con-defecto-recor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49424"/>
            <a:ext cx="2866644" cy="17373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41248" y="4133088"/>
            <a:ext cx="4705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33272" y="4288536"/>
            <a:ext cx="237744" cy="237744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42416" y="42976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1389888" y="4242816"/>
            <a:ext cx="397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de Python</a:t>
            </a:r>
            <a:endParaRPr lang="en-US" sz="1060" dirty="0"/>
          </a:p>
        </p:txBody>
      </p:sp>
      <p:sp>
        <p:nvSpPr>
          <p:cNvPr id="18" name="Text 14"/>
          <p:cNvSpPr txBox="1"/>
          <p:nvPr/>
        </p:nvSpPr>
        <p:spPr>
          <a:xfrm>
            <a:off x="3194228" y="4242816"/>
            <a:ext cx="2170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dirty="0">
                <a:solidFill>
                  <a:srgbClr val="2E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passed, 1 xfailed</a:t>
            </a:r>
            <a:endParaRPr lang="en-US" sz="960" dirty="0"/>
          </a:p>
        </p:txBody>
      </p:sp>
      <p:sp>
        <p:nvSpPr>
          <p:cNvPr id="19" name="Shape 15"/>
          <p:cNvSpPr/>
          <p:nvPr/>
        </p:nvSpPr>
        <p:spPr>
          <a:xfrm>
            <a:off x="841248" y="4754880"/>
            <a:ext cx="4705960" cy="45720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41248" y="4791456"/>
            <a:ext cx="470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6461608" y="1700784"/>
            <a:ext cx="5071720" cy="3675888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644488" y="1810512"/>
            <a:ext cx="470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 · EL MISMO PULL REQUEST, REABIERTO CONTRA MAIN CON LA PRUEBA NUEVA</a:t>
            </a:r>
            <a:endParaRPr lang="en-US" sz="960" dirty="0"/>
          </a:p>
        </p:txBody>
      </p:sp>
      <p:sp>
        <p:nvSpPr>
          <p:cNvPr id="23" name="Shape 19"/>
          <p:cNvSpPr/>
          <p:nvPr/>
        </p:nvSpPr>
        <p:spPr>
          <a:xfrm>
            <a:off x="6626200" y="2231136"/>
            <a:ext cx="2903220" cy="1773936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pic>
        <p:nvPicPr>
          <p:cNvPr id="24" name="Image 2" descr="C:\Users\Diego Obando\dev\pro402-taller-de-testing-2026\clases\semana-05\02-2\ppt\source\assets\gh-pr4-reabierto-rojo-recor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488" y="2249424"/>
            <a:ext cx="2866644" cy="173736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6644488" y="4133088"/>
            <a:ext cx="4705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836512" y="4288536"/>
            <a:ext cx="237744" cy="237744"/>
          </a:xfrm>
          <a:prstGeom prst="ellipse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845656" y="42976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✗</a:t>
            </a:r>
            <a:endParaRPr lang="en-US" sz="1000" dirty="0"/>
          </a:p>
        </p:txBody>
      </p:sp>
      <p:sp>
        <p:nvSpPr>
          <p:cNvPr id="28" name="Text 23"/>
          <p:cNvSpPr txBox="1"/>
          <p:nvPr/>
        </p:nvSpPr>
        <p:spPr>
          <a:xfrm>
            <a:off x="7193128" y="4242816"/>
            <a:ext cx="397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de Python</a:t>
            </a:r>
            <a:endParaRPr lang="en-US" sz="1060" dirty="0"/>
          </a:p>
        </p:txBody>
      </p:sp>
      <p:sp>
        <p:nvSpPr>
          <p:cNvPr id="29" name="Text 24"/>
          <p:cNvSpPr txBox="1"/>
          <p:nvPr/>
        </p:nvSpPr>
        <p:spPr>
          <a:xfrm>
            <a:off x="8997467" y="4242816"/>
            <a:ext cx="21701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" dirty="0">
                <a:solidFill>
                  <a:srgbClr val="B318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failed, 24 passed, 1 xfailed</a:t>
            </a:r>
            <a:endParaRPr lang="en-US" sz="960" dirty="0"/>
          </a:p>
        </p:txBody>
      </p:sp>
      <p:sp>
        <p:nvSpPr>
          <p:cNvPr id="30" name="Shape 25"/>
          <p:cNvSpPr/>
          <p:nvPr/>
        </p:nvSpPr>
        <p:spPr>
          <a:xfrm>
            <a:off x="6644488" y="4754880"/>
            <a:ext cx="4705960" cy="45720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6644488" y="4791456"/>
            <a:ext cx="470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BLOCKED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5839816" y="3474720"/>
            <a:ext cx="512064" cy="0"/>
          </a:xfrm>
          <a:prstGeom prst="line">
            <a:avLst/>
          </a:prstGeom>
          <a:noFill/>
          <a:ln w="12700">
            <a:solidFill>
              <a:srgbClr val="52606D"/>
            </a:solidFill>
            <a:prstDash val="solid"/>
            <a:headEnd type="none"/>
            <a:tailEnd type="triangle"/>
          </a:ln>
        </p:spPr>
      </p:sp>
      <p:sp>
        <p:nvSpPr>
          <p:cNvPr id="33" name="Shape 28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defecto no cambió. Se cerró y se reabrió para que se probara contra la main actual.</a:t>
            </a:r>
            <a:endParaRPr lang="en-US" sz="138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LO QUE ENSEÑA EL ENSAYO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Mismo tamaño, destinos opuestos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658368" y="1737360"/>
            <a:ext cx="5254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8368" y="1737360"/>
            <a:ext cx="5254600" cy="73152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1901952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Defecto 1 · un carácter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2249424"/>
            <a:ext cx="479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Cayó en un borde que la técnica de valores límite había mandado probar.</a:t>
            </a:r>
            <a:endParaRPr lang="en-US" sz="112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3017520"/>
            <a:ext cx="479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Atrapado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78728" y="1737360"/>
            <a:ext cx="5254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78728" y="1737360"/>
            <a:ext cx="5254600" cy="73152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34760" y="1901952"/>
            <a:ext cx="479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Defecto 2 · un dato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534760" y="2249424"/>
            <a:ext cx="479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Cayó en un requisito que la matriz declaraba cubierto con una prueba que no miraba lo que el requisito dice.</a:t>
            </a:r>
            <a:endParaRPr lang="en-US" sz="1120" dirty="0"/>
          </a:p>
        </p:txBody>
      </p:sp>
      <p:sp>
        <p:nvSpPr>
          <p:cNvPr id="19" name="Text 16"/>
          <p:cNvSpPr txBox="1"/>
          <p:nvPr/>
        </p:nvSpPr>
        <p:spPr>
          <a:xfrm>
            <a:off x="6534760" y="3017520"/>
            <a:ext cx="4797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Pasó en verde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58368" y="3712464"/>
            <a:ext cx="10874959" cy="164592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69264" y="3785616"/>
            <a:ext cx="102531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pipeline en verde afirma una sola cosa: que ninguna de las pruebas que existen falló.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969264" y="4572000"/>
            <a:ext cx="1025316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4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vale ese verde está antes del pipeline: qué pruebas se escribieron, con qué técnica se eligieron sus casos y qué afirma cada una. El pipeline solo asegura que todo eso se ejecute siempre y que nadie integre un rojo.</a:t>
            </a:r>
            <a:endParaRPr lang="en-US" sz="1140" dirty="0"/>
          </a:p>
        </p:txBody>
      </p:sp>
      <p:sp>
        <p:nvSpPr>
          <p:cNvPr id="23" name="Shape 20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ensayo sirve más antes que durante: es mejor que el defecto que pasa lo descubras tú.</a:t>
            </a:r>
            <a:endParaRPr lang="en-US" sz="138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CIERRE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preguntas antes de cerrar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preguntas para comprobar la idea central antes de seguir.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10874959" cy="109728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139696"/>
            <a:ext cx="54864" cy="109728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14400" y="2286000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591056" y="2267712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defecto del bloque 8 lo atrapó pytest, y las pruebas de extremo a extremo quedaron en verde. ¿Faltaba una prueba de extremo a extremo que reservara el bloque 8?</a:t>
            </a:r>
            <a:endParaRPr lang="en-US" sz="1340" dirty="0"/>
          </a:p>
        </p:txBody>
      </p:sp>
      <p:sp>
        <p:nvSpPr>
          <p:cNvPr id="15" name="Shape 12"/>
          <p:cNvSpPr/>
          <p:nvPr/>
        </p:nvSpPr>
        <p:spPr>
          <a:xfrm>
            <a:off x="1591056" y="2798064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1591056" y="288950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17" name="Text 14"/>
          <p:cNvSpPr txBox="1"/>
          <p:nvPr/>
        </p:nvSpPr>
        <p:spPr>
          <a:xfrm>
            <a:off x="2286000" y="2862072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Piensa qué nivel es el más barato para probar el borde de una regla. ¿Qué agregaría el navegador a lo que ya dice test_limites_del_requisito[ultimo]?</a:t>
            </a:r>
            <a:endParaRPr lang="en-US" sz="1140" dirty="0"/>
          </a:p>
        </p:txBody>
      </p:sp>
      <p:sp>
        <p:nvSpPr>
          <p:cNvPr id="18" name="Shape 15"/>
          <p:cNvSpPr/>
          <p:nvPr/>
        </p:nvSpPr>
        <p:spPr>
          <a:xfrm>
            <a:off x="658368" y="3364992"/>
            <a:ext cx="10874959" cy="109728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58368" y="3364992"/>
            <a:ext cx="54864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14400" y="3511296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21" name="Text 18"/>
          <p:cNvSpPr txBox="1"/>
          <p:nvPr/>
        </p:nvSpPr>
        <p:spPr>
          <a:xfrm>
            <a:off x="1591056" y="3493008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pull request número 4 estaba en verde y en estado CLEAN. ¿Falló la protección de la rama?</a:t>
            </a:r>
            <a:endParaRPr lang="en-US" sz="1340" dirty="0"/>
          </a:p>
        </p:txBody>
      </p:sp>
      <p:sp>
        <p:nvSpPr>
          <p:cNvPr id="22" name="Shape 19"/>
          <p:cNvSpPr/>
          <p:nvPr/>
        </p:nvSpPr>
        <p:spPr>
          <a:xfrm>
            <a:off x="1591056" y="4023360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 txBox="1"/>
          <p:nvPr/>
        </p:nvSpPr>
        <p:spPr>
          <a:xfrm>
            <a:off x="1591056" y="411480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24" name="Text 21"/>
          <p:cNvSpPr txBox="1"/>
          <p:nvPr/>
        </p:nvSpPr>
        <p:spPr>
          <a:xfrm>
            <a:off x="2286000" y="4087368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Relee qué exige exactamente la regla de protección. ¿En qué parte del proyecto estaba el hueco?</a:t>
            </a:r>
            <a:endParaRPr lang="en-US" sz="1140" dirty="0"/>
          </a:p>
        </p:txBody>
      </p:sp>
      <p:sp>
        <p:nvSpPr>
          <p:cNvPr id="25" name="Shape 22"/>
          <p:cNvSpPr/>
          <p:nvPr/>
        </p:nvSpPr>
        <p:spPr>
          <a:xfrm>
            <a:off x="658368" y="4590288"/>
            <a:ext cx="10874959" cy="1097280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8368" y="4590288"/>
            <a:ext cx="54864" cy="10972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14400" y="4736592"/>
            <a:ext cx="493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1591056" y="4718304"/>
            <a:ext cx="9649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3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matriz de trazabilidad decía que RF-06 estaba cubierto. ¿Mentía?</a:t>
            </a:r>
            <a:endParaRPr lang="en-US" sz="1340" dirty="0"/>
          </a:p>
        </p:txBody>
      </p:sp>
      <p:sp>
        <p:nvSpPr>
          <p:cNvPr id="29" name="Shape 26"/>
          <p:cNvSpPr/>
          <p:nvPr/>
        </p:nvSpPr>
        <p:spPr>
          <a:xfrm>
            <a:off x="1591056" y="5248656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0" name="Text 27"/>
          <p:cNvSpPr txBox="1"/>
          <p:nvPr/>
        </p:nvSpPr>
        <p:spPr>
          <a:xfrm>
            <a:off x="1591056" y="534009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spc="11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PISTA</a:t>
            </a:r>
            <a:endParaRPr lang="en-US" sz="840" dirty="0"/>
          </a:p>
        </p:txBody>
      </p:sp>
      <p:sp>
        <p:nvSpPr>
          <p:cNvPr id="31" name="Text 28"/>
          <p:cNvSpPr txBox="1"/>
          <p:nvPr/>
        </p:nvSpPr>
        <p:spPr>
          <a:xfrm>
            <a:off x="2286000" y="5312664"/>
            <a:ext cx="89547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qué cuenta la matriz y qué afirma la prueba que cuenta. ¿Qué hay que leer, además de la matriz, para saber si un requisito está bien cubierto?</a:t>
            </a:r>
            <a:endParaRPr lang="en-US" sz="114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CONTRASTE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tenía que aparecer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66420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4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respuestas conservan el mismo orden y color que las preguntas.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658368" y="2139696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8368" y="2139696"/>
            <a:ext cx="54864" cy="1243584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96112" y="23042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B318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700" dirty="0"/>
          </a:p>
        </p:txBody>
      </p:sp>
      <p:sp>
        <p:nvSpPr>
          <p:cNvPr id="14" name="Text 11"/>
          <p:cNvSpPr txBox="1"/>
          <p:nvPr/>
        </p:nvSpPr>
        <p:spPr>
          <a:xfrm>
            <a:off x="1591056" y="224942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NO: EL BORDE YA ESTABA PROBADO</a:t>
            </a:r>
            <a:endParaRPr lang="en-US" sz="830" dirty="0"/>
          </a:p>
        </p:txBody>
      </p:sp>
      <p:sp>
        <p:nvSpPr>
          <p:cNvPr id="15" name="Text 12"/>
          <p:cNvSpPr txBox="1"/>
          <p:nvPr/>
        </p:nvSpPr>
        <p:spPr>
          <a:xfrm>
            <a:off x="1591056" y="2468880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prueba unitaria de valores límite lo atrapó, rápido y con un mensaje claro.</a:t>
            </a:r>
            <a:endParaRPr lang="en-US" sz="1240" dirty="0"/>
          </a:p>
        </p:txBody>
      </p:sp>
      <p:sp>
        <p:nvSpPr>
          <p:cNvPr id="16" name="Shape 13"/>
          <p:cNvSpPr/>
          <p:nvPr/>
        </p:nvSpPr>
        <p:spPr>
          <a:xfrm>
            <a:off x="1591056" y="2871216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 txBox="1"/>
          <p:nvPr/>
        </p:nvSpPr>
        <p:spPr>
          <a:xfrm>
            <a:off x="1591056" y="2962656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18" name="Text 15"/>
          <p:cNvSpPr txBox="1"/>
          <p:nvPr/>
        </p:nvSpPr>
        <p:spPr>
          <a:xfrm>
            <a:off x="2871216" y="2935224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borde se prueba en el nivel más barato que lo alcanza.</a:t>
            </a:r>
            <a:endParaRPr lang="en-US" sz="1020" dirty="0"/>
          </a:p>
        </p:txBody>
      </p:sp>
      <p:sp>
        <p:nvSpPr>
          <p:cNvPr id="19" name="Text 16"/>
          <p:cNvSpPr txBox="1"/>
          <p:nvPr/>
        </p:nvSpPr>
        <p:spPr>
          <a:xfrm>
            <a:off x="6784848" y="2962656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138160" y="293522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Repetir en el navegador lo que ya cubre una prueba unitaria.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658368" y="3493008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8368" y="3493008"/>
            <a:ext cx="54864" cy="12435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96112" y="365760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700" dirty="0"/>
          </a:p>
        </p:txBody>
      </p:sp>
      <p:sp>
        <p:nvSpPr>
          <p:cNvPr id="24" name="Text 21"/>
          <p:cNvSpPr txBox="1"/>
          <p:nvPr/>
        </p:nvSpPr>
        <p:spPr>
          <a:xfrm>
            <a:off x="1591056" y="360273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NO: HIZO EXACTAMENTE LO QUE DICE</a:t>
            </a:r>
            <a:endParaRPr lang="en-US" sz="830" dirty="0"/>
          </a:p>
        </p:txBody>
      </p:sp>
      <p:sp>
        <p:nvSpPr>
          <p:cNvPr id="25" name="Text 22"/>
          <p:cNvSpPr txBox="1"/>
          <p:nvPr/>
        </p:nvSpPr>
        <p:spPr>
          <a:xfrm>
            <a:off x="1591056" y="3822192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Exige que las pruebas pasen. El hueco estaba en la suite.</a:t>
            </a:r>
            <a:endParaRPr lang="en-US" sz="1240" dirty="0"/>
          </a:p>
        </p:txBody>
      </p:sp>
      <p:sp>
        <p:nvSpPr>
          <p:cNvPr id="26" name="Shape 23"/>
          <p:cNvSpPr/>
          <p:nvPr/>
        </p:nvSpPr>
        <p:spPr>
          <a:xfrm>
            <a:off x="1591056" y="4224528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27" name="Text 24"/>
          <p:cNvSpPr txBox="1"/>
          <p:nvPr/>
        </p:nvSpPr>
        <p:spPr>
          <a:xfrm>
            <a:off x="1591056" y="4315968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28" name="Text 25"/>
          <p:cNvSpPr txBox="1"/>
          <p:nvPr/>
        </p:nvSpPr>
        <p:spPr>
          <a:xfrm>
            <a:off x="2871216" y="4288536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protección vale lo que valen las pruebas que exige.</a:t>
            </a:r>
            <a:endParaRPr lang="en-US" sz="1020" dirty="0"/>
          </a:p>
        </p:txBody>
      </p:sp>
      <p:sp>
        <p:nvSpPr>
          <p:cNvPr id="29" name="Text 26"/>
          <p:cNvSpPr txBox="1"/>
          <p:nvPr/>
        </p:nvSpPr>
        <p:spPr>
          <a:xfrm>
            <a:off x="6784848" y="4315968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8138160" y="428853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Pedirle al pipeline lo que solo puede dar una buena prueba.</a:t>
            </a:r>
            <a:endParaRPr lang="en-US" sz="1020" dirty="0"/>
          </a:p>
        </p:txBody>
      </p:sp>
      <p:sp>
        <p:nvSpPr>
          <p:cNvPr id="31" name="Shape 28"/>
          <p:cNvSpPr/>
          <p:nvPr/>
        </p:nvSpPr>
        <p:spPr>
          <a:xfrm>
            <a:off x="658368" y="4846320"/>
            <a:ext cx="10874959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58368" y="4846320"/>
            <a:ext cx="54864" cy="1243584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896112" y="501091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A6A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700" dirty="0"/>
          </a:p>
        </p:txBody>
      </p:sp>
      <p:sp>
        <p:nvSpPr>
          <p:cNvPr id="34" name="Text 31"/>
          <p:cNvSpPr txBox="1"/>
          <p:nvPr/>
        </p:nvSpPr>
        <p:spPr>
          <a:xfrm>
            <a:off x="1591056" y="49560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spc="100" kern="0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MENTÍA: CONTABA OTRA COSA</a:t>
            </a:r>
            <a:endParaRPr lang="en-US" sz="830" dirty="0"/>
          </a:p>
        </p:txBody>
      </p:sp>
      <p:sp>
        <p:nvSpPr>
          <p:cNvPr id="35" name="Text 32"/>
          <p:cNvSpPr txBox="1"/>
          <p:nvPr/>
        </p:nvSpPr>
        <p:spPr>
          <a:xfrm>
            <a:off x="1591056" y="5175504"/>
            <a:ext cx="964966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4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 pruebas marcadas, no lo que cada una afirma.</a:t>
            </a:r>
            <a:endParaRPr lang="en-US" sz="1240" dirty="0"/>
          </a:p>
        </p:txBody>
      </p:sp>
      <p:sp>
        <p:nvSpPr>
          <p:cNvPr id="36" name="Shape 33"/>
          <p:cNvSpPr/>
          <p:nvPr/>
        </p:nvSpPr>
        <p:spPr>
          <a:xfrm>
            <a:off x="1591056" y="5577840"/>
            <a:ext cx="9649663" cy="0"/>
          </a:xfrm>
          <a:prstGeom prst="line">
            <a:avLst/>
          </a:prstGeom>
          <a:noFill/>
          <a:ln w="12700">
            <a:solidFill>
              <a:srgbClr val="D8CFC4"/>
            </a:solidFill>
            <a:prstDash val="solid"/>
            <a:headEnd type="none"/>
            <a:tailEnd type="none"/>
          </a:ln>
        </p:spPr>
      </p:sp>
      <p:sp>
        <p:nvSpPr>
          <p:cNvPr id="37" name="Text 34"/>
          <p:cNvSpPr txBox="1"/>
          <p:nvPr/>
        </p:nvSpPr>
        <p:spPr>
          <a:xfrm>
            <a:off x="1591056" y="56692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REVELA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2871216" y="5641848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Hay que leer la prueba y compararla con el requisito.</a:t>
            </a:r>
            <a:endParaRPr lang="en-US" sz="1020" dirty="0"/>
          </a:p>
        </p:txBody>
      </p:sp>
      <p:sp>
        <p:nvSpPr>
          <p:cNvPr id="39" name="Text 36"/>
          <p:cNvSpPr txBox="1"/>
          <p:nvPr/>
        </p:nvSpPr>
        <p:spPr>
          <a:xfrm>
            <a:off x="6784848" y="5669280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9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FRECUENTE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8138160" y="564184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«cubierto» como «bien probado».</a:t>
            </a:r>
            <a:endParaRPr lang="en-US" sz="102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cada pieza del pipeline puede afirmar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3438144" y="1664208"/>
            <a:ext cx="398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PUEDE AFIRMAR</a:t>
            </a:r>
            <a:endParaRPr lang="en-US" sz="960" dirty="0"/>
          </a:p>
        </p:txBody>
      </p:sp>
      <p:sp>
        <p:nvSpPr>
          <p:cNvPr id="11" name="Text 8"/>
          <p:cNvSpPr txBox="1"/>
          <p:nvPr/>
        </p:nvSpPr>
        <p:spPr>
          <a:xfrm>
            <a:off x="7549744" y="1664208"/>
            <a:ext cx="398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B318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NO PUEDE AFIRMAR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658368" y="1938528"/>
            <a:ext cx="2651760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" y="1975104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Controles estáticos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38144" y="1938528"/>
            <a:ext cx="398358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66160" y="1965960"/>
            <a:ext cx="374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el código cumple las reglas de ruff y los tipos de pyrefly.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7549744" y="1938528"/>
            <a:ext cx="398358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77760" y="1965960"/>
            <a:ext cx="374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haga lo correcto.</a:t>
            </a:r>
            <a:endParaRPr lang="en-US" sz="980" dirty="0"/>
          </a:p>
        </p:txBody>
      </p:sp>
      <p:sp>
        <p:nvSpPr>
          <p:cNvPr id="18" name="Shape 15"/>
          <p:cNvSpPr/>
          <p:nvPr/>
        </p:nvSpPr>
        <p:spPr>
          <a:xfrm>
            <a:off x="658368" y="2450592"/>
            <a:ext cx="2651760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4672" y="2487168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Suites en el pipeline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438144" y="2450592"/>
            <a:ext cx="398358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566160" y="2478024"/>
            <a:ext cx="374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ninguna prueba existente falló sobre este cambio, en un entorno limpio.</a:t>
            </a:r>
            <a:endParaRPr lang="en-US" sz="980" dirty="0"/>
          </a:p>
        </p:txBody>
      </p:sp>
      <p:sp>
        <p:nvSpPr>
          <p:cNvPr id="22" name="Shape 19"/>
          <p:cNvSpPr/>
          <p:nvPr/>
        </p:nvSpPr>
        <p:spPr>
          <a:xfrm>
            <a:off x="7549744" y="2450592"/>
            <a:ext cx="398358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677760" y="2478024"/>
            <a:ext cx="374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no haya defectos que ninguna prueba mira.</a:t>
            </a:r>
            <a:endParaRPr lang="en-US" sz="980" dirty="0"/>
          </a:p>
        </p:txBody>
      </p:sp>
      <p:sp>
        <p:nvSpPr>
          <p:cNvPr id="24" name="Shape 21"/>
          <p:cNvSpPr/>
          <p:nvPr/>
        </p:nvSpPr>
        <p:spPr>
          <a:xfrm>
            <a:off x="658368" y="2962656"/>
            <a:ext cx="2651760" cy="45720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4672" y="2999232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Falla esperada estricta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438144" y="2962656"/>
            <a:ext cx="398358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566160" y="2990088"/>
            <a:ext cx="374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un defecto conocido sigue ahí, con su motivo.</a:t>
            </a:r>
            <a:endParaRPr lang="en-US" sz="980" dirty="0"/>
          </a:p>
        </p:txBody>
      </p:sp>
      <p:sp>
        <p:nvSpPr>
          <p:cNvPr id="28" name="Shape 25"/>
          <p:cNvSpPr/>
          <p:nvPr/>
        </p:nvSpPr>
        <p:spPr>
          <a:xfrm>
            <a:off x="7549744" y="2962656"/>
            <a:ext cx="398358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677760" y="2990088"/>
            <a:ext cx="374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Nada sobre los defectos que no se conocen.</a:t>
            </a:r>
            <a:endParaRPr lang="en-US" sz="980" dirty="0"/>
          </a:p>
        </p:txBody>
      </p:sp>
      <p:sp>
        <p:nvSpPr>
          <p:cNvPr id="30" name="Shape 27"/>
          <p:cNvSpPr/>
          <p:nvPr/>
        </p:nvSpPr>
        <p:spPr>
          <a:xfrm>
            <a:off x="658368" y="3474720"/>
            <a:ext cx="2651760" cy="45720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04672" y="3511296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Reintentos con bloqueo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438144" y="3474720"/>
            <a:ext cx="398358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566160" y="3502152"/>
            <a:ext cx="374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una prueba resultó inestable en esta ejecución.</a:t>
            </a:r>
            <a:endParaRPr lang="en-US" sz="980" dirty="0"/>
          </a:p>
        </p:txBody>
      </p:sp>
      <p:sp>
        <p:nvSpPr>
          <p:cNvPr id="34" name="Shape 31"/>
          <p:cNvSpPr/>
          <p:nvPr/>
        </p:nvSpPr>
        <p:spPr>
          <a:xfrm>
            <a:off x="7549744" y="3474720"/>
            <a:ext cx="398358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677760" y="3502152"/>
            <a:ext cx="374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una prueba no es inestable: eso lo dice medirla.</a:t>
            </a:r>
            <a:endParaRPr lang="en-US" sz="980" dirty="0"/>
          </a:p>
        </p:txBody>
      </p:sp>
      <p:sp>
        <p:nvSpPr>
          <p:cNvPr id="36" name="Shape 33"/>
          <p:cNvSpPr/>
          <p:nvPr/>
        </p:nvSpPr>
        <p:spPr>
          <a:xfrm>
            <a:off x="658368" y="3986784"/>
            <a:ext cx="2651760" cy="45720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04672" y="4023360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Auditoría programada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3438144" y="3986784"/>
            <a:ext cx="398358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566160" y="4014216"/>
            <a:ext cx="374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hoy no hay vulnerabilidades conocidas.</a:t>
            </a:r>
            <a:endParaRPr lang="en-US" sz="980" dirty="0"/>
          </a:p>
        </p:txBody>
      </p:sp>
      <p:sp>
        <p:nvSpPr>
          <p:cNvPr id="40" name="Shape 37"/>
          <p:cNvSpPr/>
          <p:nvPr/>
        </p:nvSpPr>
        <p:spPr>
          <a:xfrm>
            <a:off x="7549744" y="3986784"/>
            <a:ext cx="398358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677760" y="4014216"/>
            <a:ext cx="374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se va a publicar mañana.</a:t>
            </a:r>
            <a:endParaRPr lang="en-US" sz="980" dirty="0"/>
          </a:p>
        </p:txBody>
      </p:sp>
      <p:sp>
        <p:nvSpPr>
          <p:cNvPr id="42" name="Shape 39"/>
          <p:cNvSpPr/>
          <p:nvPr/>
        </p:nvSpPr>
        <p:spPr>
          <a:xfrm>
            <a:off x="658368" y="4498848"/>
            <a:ext cx="2651760" cy="457200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04672" y="4535424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Matriz en cada ejecución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3438144" y="4498848"/>
            <a:ext cx="398358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566160" y="4526280"/>
            <a:ext cx="374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requisitos tienen pruebas marcadas.</a:t>
            </a:r>
            <a:endParaRPr lang="en-US" sz="980" dirty="0"/>
          </a:p>
        </p:txBody>
      </p:sp>
      <p:sp>
        <p:nvSpPr>
          <p:cNvPr id="46" name="Shape 43"/>
          <p:cNvSpPr/>
          <p:nvPr/>
        </p:nvSpPr>
        <p:spPr>
          <a:xfrm>
            <a:off x="7549744" y="4498848"/>
            <a:ext cx="398358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7677760" y="4526280"/>
            <a:ext cx="374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esas pruebas afirmen lo que el requisito dice.</a:t>
            </a:r>
            <a:endParaRPr lang="en-US" sz="980" dirty="0"/>
          </a:p>
        </p:txBody>
      </p:sp>
      <p:sp>
        <p:nvSpPr>
          <p:cNvPr id="48" name="Shape 45"/>
          <p:cNvSpPr/>
          <p:nvPr/>
        </p:nvSpPr>
        <p:spPr>
          <a:xfrm>
            <a:off x="658368" y="5010912"/>
            <a:ext cx="2651760" cy="457200"/>
          </a:xfrm>
          <a:prstGeom prst="rect">
            <a:avLst/>
          </a:prstGeom>
          <a:solidFill>
            <a:srgbClr val="B3181E"/>
          </a:solidFill>
          <a:ln w="12700">
            <a:solidFill>
              <a:srgbClr val="B318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04672" y="5047488"/>
            <a:ext cx="2414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Protección de la rama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3438144" y="5010912"/>
            <a:ext cx="398358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566160" y="5038344"/>
            <a:ext cx="374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nada entra a main con una revisión en rojo.</a:t>
            </a:r>
            <a:endParaRPr lang="en-US" sz="980" dirty="0"/>
          </a:p>
        </p:txBody>
      </p:sp>
      <p:sp>
        <p:nvSpPr>
          <p:cNvPr id="52" name="Shape 49"/>
          <p:cNvSpPr/>
          <p:nvPr/>
        </p:nvSpPr>
        <p:spPr>
          <a:xfrm>
            <a:off x="7549744" y="5010912"/>
            <a:ext cx="398358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7677760" y="5038344"/>
            <a:ext cx="374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lo que entra en verde esté bien.</a:t>
            </a:r>
            <a:endParaRPr lang="en-US" sz="980" dirty="0"/>
          </a:p>
        </p:txBody>
      </p:sp>
      <p:sp>
        <p:nvSpPr>
          <p:cNvPr id="54" name="Shape 51"/>
          <p:cNvSpPr/>
          <p:nvPr/>
        </p:nvSpPr>
        <p:spPr>
          <a:xfrm>
            <a:off x="658368" y="5614416"/>
            <a:ext cx="10874959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50976" y="5650992"/>
            <a:ext cx="102897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columna de la derecha es el trabajo que sigue siendo de una persona.</a:t>
            </a:r>
            <a:endParaRPr lang="en-US" sz="138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67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recorrido del módulo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658368" y="3602736"/>
            <a:ext cx="1459513" cy="1426464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86384" y="369417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86384" y="4023360"/>
            <a:ext cx="12217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criterio</a:t>
            </a:r>
            <a:endParaRPr lang="en-US" sz="1120" dirty="0"/>
          </a:p>
        </p:txBody>
      </p:sp>
      <p:sp>
        <p:nvSpPr>
          <p:cNvPr id="13" name="Text 10"/>
          <p:cNvSpPr txBox="1"/>
          <p:nvPr/>
        </p:nvSpPr>
        <p:spPr>
          <a:xfrm>
            <a:off x="786384" y="4480560"/>
            <a:ext cx="1221769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ISO/IEC 25010 para decir qué es calidad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2227609" y="3291840"/>
            <a:ext cx="1459513" cy="173736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355625" y="338328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2355625" y="3712464"/>
            <a:ext cx="12217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línea base</a:t>
            </a:r>
            <a:endParaRPr lang="en-US" sz="1120" dirty="0"/>
          </a:p>
        </p:txBody>
      </p:sp>
      <p:sp>
        <p:nvSpPr>
          <p:cNvPr id="17" name="Text 14"/>
          <p:cNvSpPr txBox="1"/>
          <p:nvPr/>
        </p:nvSpPr>
        <p:spPr>
          <a:xfrm>
            <a:off x="2355625" y="4169664"/>
            <a:ext cx="122176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Entorno reproducible, controles estáticos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3796850" y="2980944"/>
            <a:ext cx="1459513" cy="2048256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924866" y="3072384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3924866" y="3401568"/>
            <a:ext cx="12217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con método</a:t>
            </a:r>
            <a:endParaRPr lang="en-US" sz="1120" dirty="0"/>
          </a:p>
        </p:txBody>
      </p:sp>
      <p:sp>
        <p:nvSpPr>
          <p:cNvPr id="21" name="Text 18"/>
          <p:cNvSpPr txBox="1"/>
          <p:nvPr/>
        </p:nvSpPr>
        <p:spPr>
          <a:xfrm>
            <a:off x="3924866" y="3858768"/>
            <a:ext cx="122176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Particiones, valores límite, tablas de decisión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5366091" y="2670048"/>
            <a:ext cx="1459513" cy="23591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94107" y="276148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5494107" y="3090672"/>
            <a:ext cx="12217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niveles</a:t>
            </a:r>
            <a:endParaRPr lang="en-US" sz="1120" dirty="0"/>
          </a:p>
        </p:txBody>
      </p:sp>
      <p:sp>
        <p:nvSpPr>
          <p:cNvPr id="25" name="Text 22"/>
          <p:cNvSpPr txBox="1"/>
          <p:nvPr/>
        </p:nvSpPr>
        <p:spPr>
          <a:xfrm>
            <a:off x="5494107" y="3547872"/>
            <a:ext cx="1221769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Unitarias, integración, extremo a extremo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6935332" y="2359152"/>
            <a:ext cx="1459513" cy="2670048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063348" y="245059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063348" y="2779776"/>
            <a:ext cx="12217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que funcionar</a:t>
            </a:r>
            <a:endParaRPr lang="en-US" sz="1120" dirty="0"/>
          </a:p>
        </p:txBody>
      </p:sp>
      <p:sp>
        <p:nvSpPr>
          <p:cNvPr id="29" name="Text 26"/>
          <p:cNvSpPr txBox="1"/>
          <p:nvPr/>
        </p:nvSpPr>
        <p:spPr>
          <a:xfrm>
            <a:off x="7063348" y="3236976"/>
            <a:ext cx="1221769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Rendimiento, seguridad, accesibilidad</a:t>
            </a:r>
            <a:endParaRPr lang="en-US" sz="920" dirty="0"/>
          </a:p>
        </p:txBody>
      </p:sp>
      <p:sp>
        <p:nvSpPr>
          <p:cNvPr id="30" name="Shape 27"/>
          <p:cNvSpPr/>
          <p:nvPr/>
        </p:nvSpPr>
        <p:spPr>
          <a:xfrm>
            <a:off x="8504573" y="2048256"/>
            <a:ext cx="1459513" cy="298094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32589" y="213969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8632589" y="2468880"/>
            <a:ext cx="12217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plan</a:t>
            </a:r>
            <a:endParaRPr lang="en-US" sz="1120" dirty="0"/>
          </a:p>
        </p:txBody>
      </p:sp>
      <p:sp>
        <p:nvSpPr>
          <p:cNvPr id="33" name="Text 30"/>
          <p:cNvSpPr txBox="1"/>
          <p:nvPr/>
        </p:nvSpPr>
        <p:spPr>
          <a:xfrm>
            <a:off x="8632589" y="2926080"/>
            <a:ext cx="1221769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Riesgo y trazabilidad que se ejecuta</a:t>
            </a:r>
            <a:endParaRPr lang="en-US" sz="920" dirty="0"/>
          </a:p>
        </p:txBody>
      </p:sp>
      <p:sp>
        <p:nvSpPr>
          <p:cNvPr id="34" name="Shape 31"/>
          <p:cNvSpPr/>
          <p:nvPr/>
        </p:nvSpPr>
        <p:spPr>
          <a:xfrm>
            <a:off x="10073814" y="1737360"/>
            <a:ext cx="1459513" cy="32918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201830" y="182880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3"/>
          <p:cNvSpPr txBox="1"/>
          <p:nvPr/>
        </p:nvSpPr>
        <p:spPr>
          <a:xfrm>
            <a:off x="10201830" y="2157984"/>
            <a:ext cx="12217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</a:t>
            </a:r>
            <a:endParaRPr lang="en-US" sz="1120" dirty="0"/>
          </a:p>
        </p:txBody>
      </p:sp>
      <p:sp>
        <p:nvSpPr>
          <p:cNvPr id="37" name="Text 34"/>
          <p:cNvSpPr txBox="1"/>
          <p:nvPr/>
        </p:nvSpPr>
        <p:spPr>
          <a:xfrm>
            <a:off x="10201830" y="2615184"/>
            <a:ext cx="1221769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2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todo corra solo, y un rojo no entre</a:t>
            </a:r>
            <a:endParaRPr lang="en-US" sz="920" dirty="0"/>
          </a:p>
        </p:txBody>
      </p:sp>
      <p:sp>
        <p:nvSpPr>
          <p:cNvPr id="38" name="Text 35"/>
          <p:cNvSpPr txBox="1"/>
          <p:nvPr/>
        </p:nvSpPr>
        <p:spPr>
          <a:xfrm>
            <a:off x="658368" y="5138928"/>
            <a:ext cx="1087495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i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cada capa apareció un agente: propuso rápido y bien, y algunas de sus afirmaciones resultaron falsas hasta que alguien las ejecutó.</a:t>
            </a:r>
            <a:endParaRPr lang="en-US" sz="1140" dirty="0"/>
          </a:p>
        </p:txBody>
      </p:sp>
      <p:sp>
        <p:nvSpPr>
          <p:cNvPr id="39" name="Shape 36"/>
          <p:cNvSpPr/>
          <p:nvPr/>
        </p:nvSpPr>
        <p:spPr>
          <a:xfrm>
            <a:off x="658368" y="5669280"/>
            <a:ext cx="10874959" cy="4572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50976" y="5705856"/>
            <a:ext cx="102897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criterio para decidir qué creer nunca fue del agente.</a:t>
            </a:r>
            <a:endParaRPr lang="en-US" sz="138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MAÑANA · EL CORTE DE LA EVALUACIÓN FINAL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28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se revisa esta noche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658368" y="1682496"/>
            <a:ext cx="53460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1901952"/>
            <a:ext cx="402336" cy="402336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353312" y="1755648"/>
            <a:ext cx="452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</a:t>
            </a:r>
            <a:endParaRPr lang="en-US" sz="1160" dirty="0"/>
          </a:p>
        </p:txBody>
      </p:sp>
      <p:sp>
        <p:nvSpPr>
          <p:cNvPr id="13" name="Text 10"/>
          <p:cNvSpPr txBox="1"/>
          <p:nvPr/>
        </p:nvSpPr>
        <p:spPr>
          <a:xfrm>
            <a:off x="1353312" y="2029968"/>
            <a:ext cx="452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dispara ante cada push y pull request, ejecuta estáticos y los tres niveles, y la última ejecución en main está en verde.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6187288" y="1682496"/>
            <a:ext cx="53460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33592" y="1901952"/>
            <a:ext cx="402336" cy="402336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882232" y="1755648"/>
            <a:ext cx="452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</a:t>
            </a:r>
            <a:endParaRPr lang="en-US" sz="1160" dirty="0"/>
          </a:p>
        </p:txBody>
      </p:sp>
      <p:sp>
        <p:nvSpPr>
          <p:cNvPr id="17" name="Text 14"/>
          <p:cNvSpPr txBox="1"/>
          <p:nvPr/>
        </p:nvSpPr>
        <p:spPr>
          <a:xfrm>
            <a:off x="6882232" y="2029968"/>
            <a:ext cx="452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de una ejecución que muestre el trabajo.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658368" y="2633472"/>
            <a:ext cx="53460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" y="2852928"/>
            <a:ext cx="402336" cy="402336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353312" y="2706624"/>
            <a:ext cx="452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Rojos conocidos</a:t>
            </a:r>
            <a:endParaRPr lang="en-US" sz="1160" dirty="0"/>
          </a:p>
        </p:txBody>
      </p:sp>
      <p:sp>
        <p:nvSpPr>
          <p:cNvPr id="21" name="Text 18"/>
          <p:cNvSpPr txBox="1"/>
          <p:nvPr/>
        </p:nvSpPr>
        <p:spPr>
          <a:xfrm>
            <a:off x="1353312" y="2980944"/>
            <a:ext cx="452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Marcados como falla esperada, con motivo y registro escrito. Nada borrado ni omitido.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6187288" y="2633472"/>
            <a:ext cx="53460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33592" y="2852928"/>
            <a:ext cx="402336" cy="402336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6882232" y="2706624"/>
            <a:ext cx="452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Inestables</a:t>
            </a:r>
            <a:endParaRPr lang="en-US" sz="1160" dirty="0"/>
          </a:p>
        </p:txBody>
      </p:sp>
      <p:sp>
        <p:nvSpPr>
          <p:cNvPr id="25" name="Text 22"/>
          <p:cNvSpPr txBox="1"/>
          <p:nvPr/>
        </p:nvSpPr>
        <p:spPr>
          <a:xfrm>
            <a:off x="6882232" y="2980944"/>
            <a:ext cx="452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Corregidas, o registradas: cuál, cuánto falla, qué se investigó, qué se decidió.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658368" y="3584448"/>
            <a:ext cx="53460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4672" y="3803904"/>
            <a:ext cx="402336" cy="402336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353312" y="3657600"/>
            <a:ext cx="452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funcionales</a:t>
            </a:r>
            <a:endParaRPr lang="en-US" sz="1160" dirty="0"/>
          </a:p>
        </p:txBody>
      </p:sp>
      <p:sp>
        <p:nvSpPr>
          <p:cNvPr id="29" name="Text 26"/>
          <p:cNvSpPr txBox="1"/>
          <p:nvPr/>
        </p:nvSpPr>
        <p:spPr>
          <a:xfrm>
            <a:off x="1353312" y="3931920"/>
            <a:ext cx="452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menos tres categorías, con el umbral escrito antes de medir.</a:t>
            </a:r>
            <a:endParaRPr lang="en-US" sz="960" dirty="0"/>
          </a:p>
        </p:txBody>
      </p:sp>
      <p:sp>
        <p:nvSpPr>
          <p:cNvPr id="30" name="Shape 27"/>
          <p:cNvSpPr/>
          <p:nvPr/>
        </p:nvSpPr>
        <p:spPr>
          <a:xfrm>
            <a:off x="6187288" y="3584448"/>
            <a:ext cx="53460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33592" y="3803904"/>
            <a:ext cx="402336" cy="402336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6882232" y="3657600"/>
            <a:ext cx="452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y trazabilidad</a:t>
            </a:r>
            <a:endParaRPr lang="en-US" sz="1160" dirty="0"/>
          </a:p>
        </p:txBody>
      </p:sp>
      <p:sp>
        <p:nvSpPr>
          <p:cNvPr id="33" name="Text 30"/>
          <p:cNvSpPr txBox="1"/>
          <p:nvPr/>
        </p:nvSpPr>
        <p:spPr>
          <a:xfrm>
            <a:off x="6882232" y="3931920"/>
            <a:ext cx="452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Cerrado, hasta el resultado en el pipeline.</a:t>
            </a:r>
            <a:endParaRPr lang="en-US" sz="960" dirty="0"/>
          </a:p>
        </p:txBody>
      </p:sp>
      <p:sp>
        <p:nvSpPr>
          <p:cNvPr id="34" name="Shape 31"/>
          <p:cNvSpPr/>
          <p:nvPr/>
        </p:nvSpPr>
        <p:spPr>
          <a:xfrm>
            <a:off x="658368" y="4535424"/>
            <a:ext cx="53460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04672" y="4754880"/>
            <a:ext cx="402336" cy="402336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3"/>
          <p:cNvSpPr txBox="1"/>
          <p:nvPr/>
        </p:nvSpPr>
        <p:spPr>
          <a:xfrm>
            <a:off x="1353312" y="4608576"/>
            <a:ext cx="452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de agentes</a:t>
            </a:r>
            <a:endParaRPr lang="en-US" sz="1160" dirty="0"/>
          </a:p>
        </p:txBody>
      </p:sp>
      <p:sp>
        <p:nvSpPr>
          <p:cNvPr id="37" name="Text 34"/>
          <p:cNvSpPr txBox="1"/>
          <p:nvPr/>
        </p:nvSpPr>
        <p:spPr>
          <a:xfrm>
            <a:off x="1353312" y="4882896"/>
            <a:ext cx="452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delegaste, qué auditaste, qué propuso mal y qué decisiones son tuyas.</a:t>
            </a:r>
            <a:endParaRPr lang="en-US" sz="960" dirty="0"/>
          </a:p>
        </p:txBody>
      </p:sp>
      <p:sp>
        <p:nvSpPr>
          <p:cNvPr id="38" name="Shape 35"/>
          <p:cNvSpPr/>
          <p:nvPr/>
        </p:nvSpPr>
        <p:spPr>
          <a:xfrm>
            <a:off x="6187288" y="4535424"/>
            <a:ext cx="53460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333592" y="4754880"/>
            <a:ext cx="402336" cy="402336"/>
          </a:xfrm>
          <a:prstGeom prst="rect">
            <a:avLst/>
          </a:prstGeom>
          <a:solidFill>
            <a:srgbClr val="2E7D4F"/>
          </a:solidFill>
          <a:ln>
            <a:solidFill>
              <a:srgbClr val="2E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6882232" y="4608576"/>
            <a:ext cx="452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y README</a:t>
            </a:r>
            <a:endParaRPr lang="en-US" sz="1160" dirty="0"/>
          </a:p>
        </p:txBody>
      </p:sp>
      <p:sp>
        <p:nvSpPr>
          <p:cNvPr id="41" name="Text 38"/>
          <p:cNvSpPr txBox="1"/>
          <p:nvPr/>
        </p:nvSpPr>
        <p:spPr>
          <a:xfrm>
            <a:off x="6882232" y="4882896"/>
            <a:ext cx="452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9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Ningún dato personal real; un README con el que otra persona instala, ejecuta y prueba.</a:t>
            </a:r>
            <a:endParaRPr lang="en-US" sz="960" dirty="0"/>
          </a:p>
        </p:txBody>
      </p:sp>
      <p:sp>
        <p:nvSpPr>
          <p:cNvPr id="42" name="Shape 39"/>
          <p:cNvSpPr/>
          <p:nvPr/>
        </p:nvSpPr>
        <p:spPr>
          <a:xfrm>
            <a:off x="658368" y="5577840"/>
            <a:ext cx="45720" cy="1828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04672" y="5568696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Tomado de los requisitos y de «Qué baja la evaluación» en las instrucciones de la Evaluación Final.</a:t>
            </a:r>
            <a:endParaRPr lang="en-US" sz="88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2992" y="306941"/>
            <a:ext cx="1335024" cy="46511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69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0233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0" b="1" spc="170" kern="0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MAÑANA · SI NO ALCANZAS A TODO</a:t>
            </a:r>
            <a:endParaRPr lang="en-US" sz="103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749808"/>
            <a:ext cx="9509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243B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Ordena el trabajo por lo que pesa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179222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Integración continua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035808" y="1810512"/>
            <a:ext cx="2651760" cy="3108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79008" y="179222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25 %</a:t>
            </a:r>
            <a:endParaRPr lang="en-US" sz="1140" dirty="0"/>
          </a:p>
        </p:txBody>
      </p:sp>
      <p:sp>
        <p:nvSpPr>
          <p:cNvPr id="13" name="Text 10"/>
          <p:cNvSpPr txBox="1"/>
          <p:nvPr/>
        </p:nvSpPr>
        <p:spPr>
          <a:xfrm>
            <a:off x="658368" y="234086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funcionales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035808" y="2359152"/>
            <a:ext cx="2121408" cy="3108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248656" y="234086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20 %</a:t>
            </a:r>
            <a:endParaRPr lang="en-US" sz="1140" dirty="0"/>
          </a:p>
        </p:txBody>
      </p:sp>
      <p:sp>
        <p:nvSpPr>
          <p:cNvPr id="16" name="Text 13"/>
          <p:cNvSpPr txBox="1"/>
          <p:nvPr/>
        </p:nvSpPr>
        <p:spPr>
          <a:xfrm>
            <a:off x="658368" y="28895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Defensa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035808" y="2907792"/>
            <a:ext cx="2121408" cy="310896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248656" y="288950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8A6A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20 %</a:t>
            </a:r>
            <a:endParaRPr lang="en-US" sz="1140" dirty="0"/>
          </a:p>
        </p:txBody>
      </p:sp>
      <p:sp>
        <p:nvSpPr>
          <p:cNvPr id="19" name="Text 16"/>
          <p:cNvSpPr txBox="1"/>
          <p:nvPr/>
        </p:nvSpPr>
        <p:spPr>
          <a:xfrm>
            <a:off x="658368" y="343814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Regresión e inestables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035808" y="3456432"/>
            <a:ext cx="1591056" cy="3108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18304" y="343814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15 %</a:t>
            </a:r>
            <a:endParaRPr lang="en-US" sz="1140" dirty="0"/>
          </a:p>
        </p:txBody>
      </p:sp>
      <p:sp>
        <p:nvSpPr>
          <p:cNvPr id="22" name="Text 19"/>
          <p:cNvSpPr txBox="1"/>
          <p:nvPr/>
        </p:nvSpPr>
        <p:spPr>
          <a:xfrm>
            <a:off x="658368" y="398678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y trazabilidad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035808" y="4005072"/>
            <a:ext cx="1060704" cy="3108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187952" y="39867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10 %</a:t>
            </a:r>
            <a:endParaRPr lang="en-US" sz="1140" dirty="0"/>
          </a:p>
        </p:txBody>
      </p:sp>
      <p:sp>
        <p:nvSpPr>
          <p:cNvPr id="25" name="Text 22"/>
          <p:cNvSpPr txBox="1"/>
          <p:nvPr/>
        </p:nvSpPr>
        <p:spPr>
          <a:xfrm>
            <a:off x="658368" y="453542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frente al agente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035808" y="4553712"/>
            <a:ext cx="1060704" cy="3108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187952" y="453542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10 %</a:t>
            </a:r>
            <a:endParaRPr lang="en-US" sz="1140" dirty="0"/>
          </a:p>
        </p:txBody>
      </p:sp>
      <p:sp>
        <p:nvSpPr>
          <p:cNvPr id="28" name="Shape 25"/>
          <p:cNvSpPr/>
          <p:nvPr/>
        </p:nvSpPr>
        <p:spPr>
          <a:xfrm>
            <a:off x="658368" y="5120640"/>
            <a:ext cx="45720" cy="182880"/>
          </a:xfrm>
          <a:prstGeom prst="rect">
            <a:avLst/>
          </a:prstGeom>
          <a:solidFill>
            <a:srgbClr val="8A6A12"/>
          </a:solidFill>
          <a:ln w="12700">
            <a:solidFill>
              <a:srgbClr val="8A6A1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04672" y="511149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Instrucciones de la Evaluación Final, sección 5</a:t>
            </a:r>
            <a:endParaRPr lang="en-US" sz="880" dirty="0"/>
          </a:p>
        </p:txBody>
      </p:sp>
      <p:sp>
        <p:nvSpPr>
          <p:cNvPr id="30" name="Shape 27"/>
          <p:cNvSpPr/>
          <p:nvPr/>
        </p:nvSpPr>
        <p:spPr>
          <a:xfrm>
            <a:off x="6601968" y="1700784"/>
            <a:ext cx="4931359" cy="374904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858000" y="1847088"/>
            <a:ext cx="44741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DEFENSA SE PREPARA ENTENDIENDO LO QUE YA ESTÁ ESCRITO</a:t>
            </a:r>
            <a:endParaRPr lang="en-US" sz="960" dirty="0"/>
          </a:p>
        </p:txBody>
      </p:sp>
      <p:sp>
        <p:nvSpPr>
          <p:cNvPr id="32" name="Text 29"/>
          <p:cNvSpPr txBox="1"/>
          <p:nvPr/>
        </p:nvSpPr>
        <p:spPr>
          <a:xfrm>
            <a:off x="6858000" y="2231136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7059168" y="2231136"/>
            <a:ext cx="4236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prueba te costó más escribir, y por qué?</a:t>
            </a:r>
            <a:endParaRPr lang="en-US" sz="1120" dirty="0"/>
          </a:p>
        </p:txBody>
      </p:sp>
      <p:sp>
        <p:nvSpPr>
          <p:cNvPr id="34" name="Text 31"/>
          <p:cNvSpPr txBox="1"/>
          <p:nvPr/>
        </p:nvSpPr>
        <p:spPr>
          <a:xfrm>
            <a:off x="6858000" y="2798064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7059168" y="2798064"/>
            <a:ext cx="4236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parte sigue sin cubrir, y qué riesgo aceptaste?</a:t>
            </a:r>
            <a:endParaRPr lang="en-US" sz="1120" dirty="0"/>
          </a:p>
        </p:txBody>
      </p:sp>
      <p:sp>
        <p:nvSpPr>
          <p:cNvPr id="36" name="Text 33"/>
          <p:cNvSpPr txBox="1"/>
          <p:nvPr/>
        </p:nvSpPr>
        <p:spPr>
          <a:xfrm>
            <a:off x="6858000" y="336499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7059168" y="3364992"/>
            <a:ext cx="4236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umbral de rendimiento, ¿de dónde salió?</a:t>
            </a:r>
            <a:endParaRPr lang="en-US" sz="1120" dirty="0"/>
          </a:p>
        </p:txBody>
      </p:sp>
      <p:sp>
        <p:nvSpPr>
          <p:cNvPr id="38" name="Text 35"/>
          <p:cNvSpPr txBox="1"/>
          <p:nvPr/>
        </p:nvSpPr>
        <p:spPr>
          <a:xfrm>
            <a:off x="6858000" y="39319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7059168" y="3931920"/>
            <a:ext cx="4236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alguien cambia esta función, ¿qué se pone rojo?</a:t>
            </a:r>
            <a:endParaRPr lang="en-US" sz="1120" dirty="0"/>
          </a:p>
        </p:txBody>
      </p:sp>
      <p:sp>
        <p:nvSpPr>
          <p:cNvPr id="40" name="Text 37"/>
          <p:cNvSpPr txBox="1"/>
          <p:nvPr/>
        </p:nvSpPr>
        <p:spPr>
          <a:xfrm>
            <a:off x="6858000" y="449884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·</a:t>
            </a:r>
            <a:endParaRPr lang="en-US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7059168" y="4498848"/>
            <a:ext cx="4236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te dijo un agente que resultó equivocado?</a:t>
            </a:r>
            <a:endParaRPr lang="en-US" sz="1120" dirty="0"/>
          </a:p>
        </p:txBody>
      </p:sp>
      <p:sp>
        <p:nvSpPr>
          <p:cNvPr id="42" name="Text 39"/>
          <p:cNvSpPr txBox="1"/>
          <p:nvPr/>
        </p:nvSpPr>
        <p:spPr>
          <a:xfrm>
            <a:off x="6858000" y="5047488"/>
            <a:ext cx="44741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i="1" dirty="0">
                <a:solidFill>
                  <a:srgbClr val="E6EE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Ejemplos del tipo de pregunta, según la sección 6. Todas se responden mirando el propio proyecto.</a:t>
            </a:r>
            <a:endParaRPr lang="en-US" sz="940" dirty="0"/>
          </a:p>
        </p:txBody>
      </p:sp>
      <p:sp>
        <p:nvSpPr>
          <p:cNvPr id="43" name="Shape 40"/>
          <p:cNvSpPr/>
          <p:nvPr/>
        </p:nvSpPr>
        <p:spPr>
          <a:xfrm>
            <a:off x="658368" y="5650992"/>
            <a:ext cx="10874959" cy="5486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50976" y="5687568"/>
            <a:ext cx="1028974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pipeline que se ejecuta y dice la verdad es lo primero.</a:t>
            </a:r>
            <a:endParaRPr lang="en-US" sz="138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58368" cy="10972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" y="0"/>
            <a:ext cx="402336" cy="10972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43584" y="0"/>
            <a:ext cx="256032" cy="1097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C:\Users\Diego Obando\dev\pro402-taller-de-testing-2026\clases\semana-05\02-2\ppt\source\assets\logo-aiep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307150"/>
            <a:ext cx="1335024" cy="46469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649224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55" kern="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PRO402 · Taller de Testing y Calidad de Software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10716768" y="64190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8229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spc="130" kern="0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 FINAL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658368" y="1188720"/>
            <a:ext cx="2622728" cy="82296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1188720"/>
            <a:ext cx="2622728" cy="4572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1280160"/>
            <a:ext cx="233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suite se ejecuta sola, ante cada cambio.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09112" y="1188720"/>
            <a:ext cx="2622728" cy="82296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09112" y="1188720"/>
            <a:ext cx="2622728" cy="4572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73704" y="1280160"/>
            <a:ext cx="233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defectos conocidos quedan a la vista, con su motivo.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59856" y="1188720"/>
            <a:ext cx="2622728" cy="82296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59856" y="1188720"/>
            <a:ext cx="2622728" cy="4572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24448" y="1280160"/>
            <a:ext cx="233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prueba inestable no entra.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910599" y="1188720"/>
            <a:ext cx="2622728" cy="822960"/>
          </a:xfrm>
          <a:prstGeom prst="rect">
            <a:avLst/>
          </a:prstGeom>
          <a:solidFill>
            <a:srgbClr val="1D3A57"/>
          </a:solidFill>
          <a:ln w="12700">
            <a:solidFill>
              <a:srgbClr val="1D3A5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910599" y="1188720"/>
            <a:ext cx="2622728" cy="45720"/>
          </a:xfrm>
          <a:prstGeom prst="rect">
            <a:avLst/>
          </a:prstGeom>
          <a:solidFill>
            <a:srgbClr val="3FAE6A"/>
          </a:solidFill>
          <a:ln w="12700">
            <a:solidFill>
              <a:srgbClr val="3FAE6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5191" y="1280160"/>
            <a:ext cx="2330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rojo no se puede integrar.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58368" y="2194560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lo del módulo dependía de que alguien se acordara. Hoy dejó de depender.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58368" y="2834640"/>
            <a:ext cx="3840480" cy="0"/>
          </a:xfrm>
          <a:prstGeom prst="line">
            <a:avLst/>
          </a:prstGeom>
          <a:noFill/>
          <a:ln w="12700">
            <a:solidFill>
              <a:srgbClr val="E0BC5A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 txBox="1"/>
          <p:nvPr/>
        </p:nvSpPr>
        <p:spPr>
          <a:xfrm>
            <a:off x="658368" y="3017520"/>
            <a:ext cx="1087495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pipeline en verde no dice que el sistema funcione: dice que ninguna de las pruebas que existen falló. Lo que vale ese verde lo deciden las pruebas que se escribieron, los casos que se eligieron y lo que cada una afirma.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658368" y="4846320"/>
            <a:ext cx="108749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ADF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infraestructura hace que todo eso se ejecute siempre. Decidir qué hay que ejecutar sigue siendo trabajo de quien firma.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AIEP Osorno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 que nadie ejecuta no existe</dc:title>
  <dc:subject>PRO402 · Clase 16</dc:subject>
  <dc:creator>Diego Obando</dc:creator>
  <cp:lastModifiedBy>Diego Obando</cp:lastModifiedBy>
  <cp:revision>1</cp:revision>
  <dcterms:created xsi:type="dcterms:W3CDTF">2026-09-26T16:51:30Z</dcterms:created>
  <dcterms:modified xsi:type="dcterms:W3CDTF">2026-09-26T16:51:30Z</dcterms:modified>
</cp:coreProperties>
</file>