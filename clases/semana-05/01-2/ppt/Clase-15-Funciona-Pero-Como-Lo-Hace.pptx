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3.png"/><Relationship Id="rId4" Type="http://schemas.openxmlformats.org/officeDocument/2006/relationships/image" Target="../media/image-39-4.sv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image" Target="../media/image-43-3.png"/><Relationship Id="rId4" Type="http://schemas.openxmlformats.org/officeDocument/2006/relationships/image" Target="../media/image-43-4.sv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image" Target="../media/image-44-3.png"/><Relationship Id="rId4" Type="http://schemas.openxmlformats.org/officeDocument/2006/relationships/image" Target="../media/image-44-4.sv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image" Target="../media/image-49-3.png"/><Relationship Id="rId4" Type="http://schemas.openxmlformats.org/officeDocument/2006/relationships/image" Target="../media/image-49-4.sv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sv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sv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svg"/><Relationship Id="rId3" Type="http://schemas.openxmlformats.org/officeDocument/2006/relationships/image" Target="../media/image-56-3.png"/><Relationship Id="rId4" Type="http://schemas.openxmlformats.org/officeDocument/2006/relationships/image" Target="../media/image-56-4.sv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svg"/><Relationship Id="rId3" Type="http://schemas.openxmlformats.org/officeDocument/2006/relationships/image" Target="../media/image-57-3.png"/><Relationship Id="rId4" Type="http://schemas.openxmlformats.org/officeDocument/2006/relationships/image" Target="../media/image-57-4.sv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sv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sv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sv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sv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sv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298448"/>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PRO402 · CLASE 15 · UNIDAD 2</a:t>
            </a:r>
            <a:endParaRPr lang="en-US" sz="960" dirty="0"/>
          </a:p>
        </p:txBody>
      </p:sp>
      <p:sp>
        <p:nvSpPr>
          <p:cNvPr id="9" name="Text 6"/>
          <p:cNvSpPr txBox="1"/>
          <p:nvPr/>
        </p:nvSpPr>
        <p:spPr>
          <a:xfrm>
            <a:off x="658368" y="1682496"/>
            <a:ext cx="10241280" cy="969264"/>
          </a:xfrm>
          <a:prstGeom prst="rect">
            <a:avLst/>
          </a:prstGeom>
          <a:noFill/>
          <a:ln/>
        </p:spPr>
        <p:txBody>
          <a:bodyPr wrap="square" lIns="0" tIns="0" rIns="0" bIns="0" rtlCol="0" anchor="t"/>
          <a:lstStyle/>
          <a:p>
            <a:pPr algn="l" indent="0" marL="0">
              <a:buNone/>
            </a:pPr>
            <a:r>
              <a:rPr lang="en-US" sz="4400" b="1" dirty="0">
                <a:solidFill>
                  <a:srgbClr val="FFFFFF"/>
                </a:solidFill>
                <a:latin typeface="Aptos Display" pitchFamily="34" charset="0"/>
                <a:ea typeface="Aptos Display" pitchFamily="34" charset="-122"/>
                <a:cs typeface="Aptos Display" pitchFamily="34" charset="-120"/>
              </a:rPr>
              <a:t>Funciona, pero ¿cómo lo hace?</a:t>
            </a:r>
            <a:endParaRPr lang="en-US" sz="4400" dirty="0"/>
          </a:p>
        </p:txBody>
      </p:sp>
      <p:sp>
        <p:nvSpPr>
          <p:cNvPr id="10" name="Shape 7"/>
          <p:cNvSpPr/>
          <p:nvPr/>
        </p:nvSpPr>
        <p:spPr>
          <a:xfrm>
            <a:off x="658368" y="2852928"/>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108960"/>
            <a:ext cx="10241280" cy="420624"/>
          </a:xfrm>
          <a:prstGeom prst="rect">
            <a:avLst/>
          </a:prstGeom>
          <a:noFill/>
          <a:ln/>
        </p:spPr>
        <p:txBody>
          <a:bodyPr wrap="square" lIns="0" tIns="0" rIns="0" bIns="0" rtlCol="0" anchor="t"/>
          <a:lstStyle/>
          <a:p>
            <a:pPr algn="l" indent="0" marL="0">
              <a:buNone/>
            </a:pPr>
            <a:r>
              <a:rPr lang="en-US" sz="1800" dirty="0">
                <a:solidFill>
                  <a:srgbClr val="E6EEF7"/>
                </a:solidFill>
                <a:latin typeface="Aptos" pitchFamily="34" charset="0"/>
                <a:ea typeface="Aptos" pitchFamily="34" charset="-122"/>
                <a:cs typeface="Aptos" pitchFamily="34" charset="-120"/>
              </a:rPr>
              <a:t>Pruebas no funcionales: rendimiento, seguridad, accesibilidad y portabilidad</a:t>
            </a:r>
            <a:endParaRPr lang="en-US" sz="1800" dirty="0"/>
          </a:p>
        </p:txBody>
      </p:sp>
      <p:sp>
        <p:nvSpPr>
          <p:cNvPr id="12" name="Text 9"/>
          <p:cNvSpPr txBox="1"/>
          <p:nvPr/>
        </p:nvSpPr>
        <p:spPr>
          <a:xfrm>
            <a:off x="658368" y="3749040"/>
            <a:ext cx="9326880" cy="786384"/>
          </a:xfrm>
          <a:prstGeom prst="rect">
            <a:avLst/>
          </a:prstGeom>
          <a:noFill/>
          <a:ln/>
        </p:spPr>
        <p:txBody>
          <a:bodyPr wrap="square" lIns="0" tIns="0" rIns="0" bIns="0" rtlCol="0" anchor="t"/>
          <a:lstStyle/>
          <a:p>
            <a:pPr algn="l" indent="0" marL="0">
              <a:lnSpc>
                <a:spcPct val="120000"/>
              </a:lnSpc>
              <a:buNone/>
            </a:pPr>
            <a:r>
              <a:rPr lang="en-US" sz="1440" dirty="0">
                <a:solidFill>
                  <a:srgbClr val="EADFD0"/>
                </a:solidFill>
                <a:latin typeface="Aptos" pitchFamily="34" charset="0"/>
                <a:ea typeface="Aptos" pitchFamily="34" charset="-122"/>
                <a:cs typeface="Aptos" pitchFamily="34" charset="-120"/>
              </a:rPr>
              <a:t>Un sistema puede aprobar todas sus pruebas funcionales y fallar igual: tardar demasiado, dejar entrar a quien no debe, dejar afuera a quien lo necesita. Cada una de esas preguntas se mide, y cada medición necesita un umbral.</a:t>
            </a:r>
            <a:endParaRPr lang="en-US" sz="1440" dirty="0"/>
          </a:p>
        </p:txBody>
      </p:sp>
      <p:sp>
        <p:nvSpPr>
          <p:cNvPr id="13" name="Shape 10"/>
          <p:cNvSpPr/>
          <p:nvPr/>
        </p:nvSpPr>
        <p:spPr>
          <a:xfrm>
            <a:off x="658368" y="4992624"/>
            <a:ext cx="10874959" cy="0"/>
          </a:xfrm>
          <a:prstGeom prst="line">
            <a:avLst/>
          </a:prstGeom>
          <a:noFill/>
          <a:ln w="12700">
            <a:solidFill>
              <a:srgbClr val="2C4A66"/>
            </a:solidFill>
            <a:prstDash val="solid"/>
            <a:headEnd type="none"/>
            <a:tailEnd type="none"/>
          </a:ln>
        </p:spPr>
      </p:sp>
      <p:sp>
        <p:nvSpPr>
          <p:cNvPr id="14" name="Text 11"/>
          <p:cNvSpPr txBox="1"/>
          <p:nvPr/>
        </p:nvSpPr>
        <p:spPr>
          <a:xfrm>
            <a:off x="658368" y="5175504"/>
            <a:ext cx="6583680" cy="274320"/>
          </a:xfrm>
          <a:prstGeom prst="rect">
            <a:avLst/>
          </a:prstGeom>
          <a:noFill/>
          <a:ln/>
        </p:spPr>
        <p:txBody>
          <a:bodyPr wrap="square" lIns="0" tIns="0" rIns="0" bIns="0" rtlCol="0" anchor="t"/>
          <a:lstStyle/>
          <a:p>
            <a:pPr algn="l" indent="0" marL="0">
              <a:buNone/>
            </a:pPr>
            <a:r>
              <a:rPr lang="en-US" sz="1260" dirty="0">
                <a:solidFill>
                  <a:srgbClr val="EADFD0"/>
                </a:solidFill>
                <a:latin typeface="Aptos" pitchFamily="34" charset="0"/>
                <a:ea typeface="Aptos" pitchFamily="34" charset="-122"/>
                <a:cs typeface="Aptos" pitchFamily="34" charset="-120"/>
              </a:rPr>
              <a:t>Lunes 28 de septiembre de 2026 · 11:00 – 13:15 · Laboratorio de Redes</a:t>
            </a:r>
            <a:endParaRPr lang="en-US" sz="1260" dirty="0"/>
          </a:p>
        </p:txBody>
      </p:sp>
      <p:sp>
        <p:nvSpPr>
          <p:cNvPr id="15" name="Text 12"/>
          <p:cNvSpPr txBox="1"/>
          <p:nvPr/>
        </p:nvSpPr>
        <p:spPr>
          <a:xfrm>
            <a:off x="7498080" y="5175504"/>
            <a:ext cx="4023360" cy="274320"/>
          </a:xfrm>
          <a:prstGeom prst="rect">
            <a:avLst/>
          </a:prstGeom>
          <a:noFill/>
          <a:ln/>
        </p:spPr>
        <p:txBody>
          <a:bodyPr wrap="square" lIns="0" tIns="0" rIns="0" bIns="0" rtlCol="0" anchor="t"/>
          <a:lstStyle/>
          <a:p>
            <a:pPr algn="r" indent="0" marL="0">
              <a:buNone/>
            </a:pPr>
            <a:r>
              <a:rPr lang="en-US" sz="1260" dirty="0">
                <a:solidFill>
                  <a:srgbClr val="EADFD0"/>
                </a:solidFill>
                <a:latin typeface="Aptos" pitchFamily="34" charset="0"/>
                <a:ea typeface="Aptos" pitchFamily="34" charset="-122"/>
                <a:cs typeface="Aptos" pitchFamily="34" charset="-120"/>
              </a:rPr>
              <a:t>Diego Obando · AIEP Osorno</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Seis palabras para toda la sesión</a:t>
            </a:r>
            <a:endParaRPr lang="en-US" sz="3000" dirty="0"/>
          </a:p>
        </p:txBody>
      </p:sp>
      <p:sp>
        <p:nvSpPr>
          <p:cNvPr id="10" name="Shape 7"/>
          <p:cNvSpPr/>
          <p:nvPr/>
        </p:nvSpPr>
        <p:spPr>
          <a:xfrm>
            <a:off x="658368" y="1682496"/>
            <a:ext cx="3503066" cy="1463040"/>
          </a:xfrm>
          <a:prstGeom prst="rect">
            <a:avLst/>
          </a:prstGeom>
          <a:solidFill>
            <a:srgbClr val="FFFFFF"/>
          </a:solidFill>
          <a:ln w="12700">
            <a:solidFill>
              <a:srgbClr val="FFFFFF"/>
            </a:solidFill>
            <a:prstDash val="solid"/>
          </a:ln>
        </p:spPr>
      </p:sp>
      <p:sp>
        <p:nvSpPr>
          <p:cNvPr id="11" name="Shape 8"/>
          <p:cNvSpPr/>
          <p:nvPr/>
        </p:nvSpPr>
        <p:spPr>
          <a:xfrm>
            <a:off x="658368" y="1682496"/>
            <a:ext cx="64008" cy="1463040"/>
          </a:xfrm>
          <a:prstGeom prst="rect">
            <a:avLst/>
          </a:prstGeom>
          <a:solidFill>
            <a:srgbClr val="102A43"/>
          </a:solidFill>
          <a:ln w="12700">
            <a:solidFill>
              <a:srgbClr val="102A43"/>
            </a:solidFill>
            <a:prstDash val="solid"/>
          </a:ln>
        </p:spPr>
      </p:sp>
      <p:sp>
        <p:nvSpPr>
          <p:cNvPr id="12" name="Text 9"/>
          <p:cNvSpPr txBox="1"/>
          <p:nvPr/>
        </p:nvSpPr>
        <p:spPr>
          <a:xfrm>
            <a:off x="914400" y="1792224"/>
            <a:ext cx="3100730" cy="347472"/>
          </a:xfrm>
          <a:prstGeom prst="rect">
            <a:avLst/>
          </a:prstGeom>
          <a:noFill/>
          <a:ln/>
        </p:spPr>
        <p:txBody>
          <a:bodyPr wrap="square" lIns="0" tIns="0" rIns="0" bIns="0" rtlCol="0" anchor="t"/>
          <a:lstStyle/>
          <a:p>
            <a:pPr algn="l" indent="0" marL="0">
              <a:buNone/>
            </a:pPr>
            <a:r>
              <a:rPr lang="en-US" sz="1900" b="1" dirty="0">
                <a:solidFill>
                  <a:srgbClr val="102A43"/>
                </a:solidFill>
                <a:latin typeface="Aptos Display" pitchFamily="34" charset="0"/>
                <a:ea typeface="Aptos Display" pitchFamily="34" charset="-122"/>
                <a:cs typeface="Aptos Display" pitchFamily="34" charset="-120"/>
              </a:rPr>
              <a:t>API</a:t>
            </a:r>
            <a:endParaRPr lang="en-US" sz="1900" dirty="0"/>
          </a:p>
        </p:txBody>
      </p:sp>
      <p:sp>
        <p:nvSpPr>
          <p:cNvPr id="13" name="Text 10"/>
          <p:cNvSpPr txBox="1"/>
          <p:nvPr/>
        </p:nvSpPr>
        <p:spPr>
          <a:xfrm>
            <a:off x="914400" y="2157984"/>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 puerta por la que otros programas usan el sistema.</a:t>
            </a:r>
            <a:endParaRPr lang="en-US" sz="1100" dirty="0"/>
          </a:p>
        </p:txBody>
      </p:sp>
      <p:sp>
        <p:nvSpPr>
          <p:cNvPr id="14" name="Text 11"/>
          <p:cNvSpPr txBox="1"/>
          <p:nvPr/>
        </p:nvSpPr>
        <p:spPr>
          <a:xfrm>
            <a:off x="914400" y="2724912"/>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Recibe las reservas y responde el estado de los bloques.</a:t>
            </a:r>
            <a:endParaRPr lang="en-US" sz="1000" dirty="0"/>
          </a:p>
        </p:txBody>
      </p:sp>
      <p:sp>
        <p:nvSpPr>
          <p:cNvPr id="15" name="Shape 12"/>
          <p:cNvSpPr/>
          <p:nvPr/>
        </p:nvSpPr>
        <p:spPr>
          <a:xfrm>
            <a:off x="4344314" y="1682496"/>
            <a:ext cx="3503066" cy="1463040"/>
          </a:xfrm>
          <a:prstGeom prst="rect">
            <a:avLst/>
          </a:prstGeom>
          <a:solidFill>
            <a:srgbClr val="FFFFFF"/>
          </a:solidFill>
          <a:ln w="12700">
            <a:solidFill>
              <a:srgbClr val="FFFFFF"/>
            </a:solidFill>
            <a:prstDash val="solid"/>
          </a:ln>
        </p:spPr>
      </p:sp>
      <p:sp>
        <p:nvSpPr>
          <p:cNvPr id="16" name="Shape 13"/>
          <p:cNvSpPr/>
          <p:nvPr/>
        </p:nvSpPr>
        <p:spPr>
          <a:xfrm>
            <a:off x="4344314" y="1682496"/>
            <a:ext cx="64008" cy="1463040"/>
          </a:xfrm>
          <a:prstGeom prst="rect">
            <a:avLst/>
          </a:prstGeom>
          <a:solidFill>
            <a:srgbClr val="2E7D4F"/>
          </a:solidFill>
          <a:ln w="12700">
            <a:solidFill>
              <a:srgbClr val="2E7D4F"/>
            </a:solidFill>
            <a:prstDash val="solid"/>
          </a:ln>
        </p:spPr>
      </p:sp>
      <p:sp>
        <p:nvSpPr>
          <p:cNvPr id="17" name="Text 14"/>
          <p:cNvSpPr txBox="1"/>
          <p:nvPr/>
        </p:nvSpPr>
        <p:spPr>
          <a:xfrm>
            <a:off x="4600346" y="1792224"/>
            <a:ext cx="3100730" cy="347472"/>
          </a:xfrm>
          <a:prstGeom prst="rect">
            <a:avLst/>
          </a:prstGeom>
          <a:noFill/>
          <a:ln/>
        </p:spPr>
        <p:txBody>
          <a:bodyPr wrap="square" lIns="0" tIns="0" rIns="0" bIns="0" rtlCol="0" anchor="t"/>
          <a:lstStyle/>
          <a:p>
            <a:pPr algn="l" indent="0" marL="0">
              <a:buNone/>
            </a:pPr>
            <a:r>
              <a:rPr lang="en-US" sz="1900" b="1" dirty="0">
                <a:solidFill>
                  <a:srgbClr val="2E7D4F"/>
                </a:solidFill>
                <a:latin typeface="Aptos Display" pitchFamily="34" charset="0"/>
                <a:ea typeface="Aptos Display" pitchFamily="34" charset="-122"/>
                <a:cs typeface="Aptos Display" pitchFamily="34" charset="-120"/>
              </a:rPr>
              <a:t>Suite</a:t>
            </a:r>
            <a:endParaRPr lang="en-US" sz="1900" dirty="0"/>
          </a:p>
        </p:txBody>
      </p:sp>
      <p:sp>
        <p:nvSpPr>
          <p:cNvPr id="18" name="Text 15"/>
          <p:cNvSpPr txBox="1"/>
          <p:nvPr/>
        </p:nvSpPr>
        <p:spPr>
          <a:xfrm>
            <a:off x="4600346" y="2157984"/>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Las pruebas que se ejecutan juntas con un solo comando.</a:t>
            </a:r>
            <a:endParaRPr lang="en-US" sz="1100" dirty="0"/>
          </a:p>
        </p:txBody>
      </p:sp>
      <p:sp>
        <p:nvSpPr>
          <p:cNvPr id="19" name="Text 16"/>
          <p:cNvSpPr txBox="1"/>
          <p:nvPr/>
        </p:nvSpPr>
        <p:spPr>
          <a:xfrm>
            <a:off x="4600346" y="2724912"/>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Hoy hay dos: la de pytest y la de Playwright.</a:t>
            </a:r>
            <a:endParaRPr lang="en-US" sz="1000" dirty="0"/>
          </a:p>
        </p:txBody>
      </p:sp>
      <p:sp>
        <p:nvSpPr>
          <p:cNvPr id="20" name="Shape 17"/>
          <p:cNvSpPr/>
          <p:nvPr/>
        </p:nvSpPr>
        <p:spPr>
          <a:xfrm>
            <a:off x="8030261" y="1682496"/>
            <a:ext cx="3503066" cy="1463040"/>
          </a:xfrm>
          <a:prstGeom prst="rect">
            <a:avLst/>
          </a:prstGeom>
          <a:solidFill>
            <a:srgbClr val="FFFFFF"/>
          </a:solidFill>
          <a:ln w="12700">
            <a:solidFill>
              <a:srgbClr val="FFFFFF"/>
            </a:solidFill>
            <a:prstDash val="solid"/>
          </a:ln>
        </p:spPr>
      </p:sp>
      <p:sp>
        <p:nvSpPr>
          <p:cNvPr id="21" name="Shape 18"/>
          <p:cNvSpPr/>
          <p:nvPr/>
        </p:nvSpPr>
        <p:spPr>
          <a:xfrm>
            <a:off x="8030261" y="1682496"/>
            <a:ext cx="64008" cy="1463040"/>
          </a:xfrm>
          <a:prstGeom prst="rect">
            <a:avLst/>
          </a:prstGeom>
          <a:solidFill>
            <a:srgbClr val="8A6A12"/>
          </a:solidFill>
          <a:ln w="12700">
            <a:solidFill>
              <a:srgbClr val="8A6A12"/>
            </a:solidFill>
            <a:prstDash val="solid"/>
          </a:ln>
        </p:spPr>
      </p:sp>
      <p:sp>
        <p:nvSpPr>
          <p:cNvPr id="22" name="Text 19"/>
          <p:cNvSpPr txBox="1"/>
          <p:nvPr/>
        </p:nvSpPr>
        <p:spPr>
          <a:xfrm>
            <a:off x="8286293" y="1792224"/>
            <a:ext cx="3100730" cy="347472"/>
          </a:xfrm>
          <a:prstGeom prst="rect">
            <a:avLst/>
          </a:prstGeom>
          <a:noFill/>
          <a:ln/>
        </p:spPr>
        <p:txBody>
          <a:bodyPr wrap="square" lIns="0" tIns="0" rIns="0" bIns="0" rtlCol="0" anchor="t"/>
          <a:lstStyle/>
          <a:p>
            <a:pPr algn="l" indent="0" marL="0">
              <a:buNone/>
            </a:pPr>
            <a:r>
              <a:rPr lang="en-US" sz="1900" b="1" dirty="0">
                <a:solidFill>
                  <a:srgbClr val="8A6A12"/>
                </a:solidFill>
                <a:latin typeface="Aptos Display" pitchFamily="34" charset="0"/>
                <a:ea typeface="Aptos Display" pitchFamily="34" charset="-122"/>
                <a:cs typeface="Aptos Display" pitchFamily="34" charset="-120"/>
              </a:rPr>
              <a:t>Extremo a extremo</a:t>
            </a:r>
            <a:endParaRPr lang="en-US" sz="1900" dirty="0"/>
          </a:p>
        </p:txBody>
      </p:sp>
      <p:sp>
        <p:nvSpPr>
          <p:cNvPr id="23" name="Text 20"/>
          <p:cNvSpPr txBox="1"/>
          <p:nvPr/>
        </p:nvSpPr>
        <p:spPr>
          <a:xfrm>
            <a:off x="8286293" y="2157984"/>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Una prueba que recorre el sistema por la pantalla, como una persona.</a:t>
            </a:r>
            <a:endParaRPr lang="en-US" sz="1100" dirty="0"/>
          </a:p>
        </p:txBody>
      </p:sp>
      <p:sp>
        <p:nvSpPr>
          <p:cNvPr id="24" name="Text 21"/>
          <p:cNvSpPr txBox="1"/>
          <p:nvPr/>
        </p:nvSpPr>
        <p:spPr>
          <a:xfrm>
            <a:off x="8286293" y="2724912"/>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Playwright maneja un navegador real para hacerlo.</a:t>
            </a:r>
            <a:endParaRPr lang="en-US" sz="1000" dirty="0"/>
          </a:p>
        </p:txBody>
      </p:sp>
      <p:sp>
        <p:nvSpPr>
          <p:cNvPr id="25" name="Shape 22"/>
          <p:cNvSpPr/>
          <p:nvPr/>
        </p:nvSpPr>
        <p:spPr>
          <a:xfrm>
            <a:off x="658368" y="3273552"/>
            <a:ext cx="3503066" cy="1463040"/>
          </a:xfrm>
          <a:prstGeom prst="rect">
            <a:avLst/>
          </a:prstGeom>
          <a:solidFill>
            <a:srgbClr val="FFFFFF"/>
          </a:solidFill>
          <a:ln w="12700">
            <a:solidFill>
              <a:srgbClr val="FFFFFF"/>
            </a:solidFill>
            <a:prstDash val="solid"/>
          </a:ln>
        </p:spPr>
      </p:sp>
      <p:sp>
        <p:nvSpPr>
          <p:cNvPr id="26" name="Shape 23"/>
          <p:cNvSpPr/>
          <p:nvPr/>
        </p:nvSpPr>
        <p:spPr>
          <a:xfrm>
            <a:off x="658368" y="3273552"/>
            <a:ext cx="64008" cy="1463040"/>
          </a:xfrm>
          <a:prstGeom prst="rect">
            <a:avLst/>
          </a:prstGeom>
          <a:solidFill>
            <a:srgbClr val="B3181E"/>
          </a:solidFill>
          <a:ln w="12700">
            <a:solidFill>
              <a:srgbClr val="B3181E"/>
            </a:solidFill>
            <a:prstDash val="solid"/>
          </a:ln>
        </p:spPr>
      </p:sp>
      <p:sp>
        <p:nvSpPr>
          <p:cNvPr id="27" name="Text 24"/>
          <p:cNvSpPr txBox="1"/>
          <p:nvPr/>
        </p:nvSpPr>
        <p:spPr>
          <a:xfrm>
            <a:off x="914400" y="3383280"/>
            <a:ext cx="3100730" cy="347472"/>
          </a:xfrm>
          <a:prstGeom prst="rect">
            <a:avLst/>
          </a:prstGeom>
          <a:noFill/>
          <a:ln/>
        </p:spPr>
        <p:txBody>
          <a:bodyPr wrap="square" lIns="0" tIns="0" rIns="0" bIns="0" rtlCol="0" anchor="t"/>
          <a:lstStyle/>
          <a:p>
            <a:pPr algn="l" indent="0" marL="0">
              <a:buNone/>
            </a:pPr>
            <a:r>
              <a:rPr lang="en-US" sz="1900" b="1" dirty="0">
                <a:solidFill>
                  <a:srgbClr val="B3181E"/>
                </a:solidFill>
                <a:latin typeface="Aptos Display" pitchFamily="34" charset="0"/>
                <a:ea typeface="Aptos Display" pitchFamily="34" charset="-122"/>
                <a:cs typeface="Aptos Display" pitchFamily="34" charset="-120"/>
              </a:rPr>
              <a:t>SQL y SQLite</a:t>
            </a:r>
            <a:endParaRPr lang="en-US" sz="1900" dirty="0"/>
          </a:p>
        </p:txBody>
      </p:sp>
      <p:sp>
        <p:nvSpPr>
          <p:cNvPr id="28" name="Text 25"/>
          <p:cNvSpPr txBox="1"/>
          <p:nvPr/>
        </p:nvSpPr>
        <p:spPr>
          <a:xfrm>
            <a:off x="914400" y="3749040"/>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SQL es el lenguaje con que se consulta y modifica una base de datos.</a:t>
            </a:r>
            <a:endParaRPr lang="en-US" sz="1100" dirty="0"/>
          </a:p>
        </p:txBody>
      </p:sp>
      <p:sp>
        <p:nvSpPr>
          <p:cNvPr id="29" name="Text 26"/>
          <p:cNvSpPr txBox="1"/>
          <p:nvPr/>
        </p:nvSpPr>
        <p:spPr>
          <a:xfrm>
            <a:off x="914400" y="4315968"/>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SQLite es la base del proyecto: vive en un solo archivo.</a:t>
            </a:r>
            <a:endParaRPr lang="en-US" sz="1000" dirty="0"/>
          </a:p>
        </p:txBody>
      </p:sp>
      <p:sp>
        <p:nvSpPr>
          <p:cNvPr id="30" name="Shape 27"/>
          <p:cNvSpPr/>
          <p:nvPr/>
        </p:nvSpPr>
        <p:spPr>
          <a:xfrm>
            <a:off x="4344314" y="3273552"/>
            <a:ext cx="3503066" cy="1463040"/>
          </a:xfrm>
          <a:prstGeom prst="rect">
            <a:avLst/>
          </a:prstGeom>
          <a:solidFill>
            <a:srgbClr val="FFFFFF"/>
          </a:solidFill>
          <a:ln w="12700">
            <a:solidFill>
              <a:srgbClr val="FFFFFF"/>
            </a:solidFill>
            <a:prstDash val="solid"/>
          </a:ln>
        </p:spPr>
      </p:sp>
      <p:sp>
        <p:nvSpPr>
          <p:cNvPr id="31" name="Shape 28"/>
          <p:cNvSpPr/>
          <p:nvPr/>
        </p:nvSpPr>
        <p:spPr>
          <a:xfrm>
            <a:off x="4344314" y="3273552"/>
            <a:ext cx="64008" cy="1463040"/>
          </a:xfrm>
          <a:prstGeom prst="rect">
            <a:avLst/>
          </a:prstGeom>
          <a:solidFill>
            <a:srgbClr val="102A43"/>
          </a:solidFill>
          <a:ln w="12700">
            <a:solidFill>
              <a:srgbClr val="102A43"/>
            </a:solidFill>
            <a:prstDash val="solid"/>
          </a:ln>
        </p:spPr>
      </p:sp>
      <p:sp>
        <p:nvSpPr>
          <p:cNvPr id="32" name="Text 29"/>
          <p:cNvSpPr txBox="1"/>
          <p:nvPr/>
        </p:nvSpPr>
        <p:spPr>
          <a:xfrm>
            <a:off x="4600346" y="3383280"/>
            <a:ext cx="3100730" cy="347472"/>
          </a:xfrm>
          <a:prstGeom prst="rect">
            <a:avLst/>
          </a:prstGeom>
          <a:noFill/>
          <a:ln/>
        </p:spPr>
        <p:txBody>
          <a:bodyPr wrap="square" lIns="0" tIns="0" rIns="0" bIns="0" rtlCol="0" anchor="t"/>
          <a:lstStyle/>
          <a:p>
            <a:pPr algn="l" indent="0" marL="0">
              <a:buNone/>
            </a:pPr>
            <a:r>
              <a:rPr lang="en-US" sz="1900" b="1" dirty="0">
                <a:solidFill>
                  <a:srgbClr val="102A43"/>
                </a:solidFill>
                <a:latin typeface="Aptos Display" pitchFamily="34" charset="0"/>
                <a:ea typeface="Aptos Display" pitchFamily="34" charset="-122"/>
                <a:cs typeface="Aptos Display" pitchFamily="34" charset="-120"/>
              </a:rPr>
              <a:t>Agente</a:t>
            </a:r>
            <a:endParaRPr lang="en-US" sz="1900" dirty="0"/>
          </a:p>
        </p:txBody>
      </p:sp>
      <p:sp>
        <p:nvSpPr>
          <p:cNvPr id="33" name="Text 30"/>
          <p:cNvSpPr txBox="1"/>
          <p:nvPr/>
        </p:nvSpPr>
        <p:spPr>
          <a:xfrm>
            <a:off x="4600346" y="3749040"/>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Un modelo de lenguaje que lee archivos y hace tareas a partir de un pedido escrito.</a:t>
            </a:r>
            <a:endParaRPr lang="en-US" sz="1100" dirty="0"/>
          </a:p>
        </p:txBody>
      </p:sp>
      <p:sp>
        <p:nvSpPr>
          <p:cNvPr id="34" name="Text 31"/>
          <p:cNvSpPr txBox="1"/>
          <p:nvPr/>
        </p:nvSpPr>
        <p:spPr>
          <a:xfrm>
            <a:off x="4600346" y="4315968"/>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Hoy audita el proyecto con permiso solo para leer.</a:t>
            </a:r>
            <a:endParaRPr lang="en-US" sz="1000" dirty="0"/>
          </a:p>
        </p:txBody>
      </p:sp>
      <p:sp>
        <p:nvSpPr>
          <p:cNvPr id="35" name="Shape 32"/>
          <p:cNvSpPr/>
          <p:nvPr/>
        </p:nvSpPr>
        <p:spPr>
          <a:xfrm>
            <a:off x="8030261" y="3273552"/>
            <a:ext cx="3503066" cy="1463040"/>
          </a:xfrm>
          <a:prstGeom prst="rect">
            <a:avLst/>
          </a:prstGeom>
          <a:solidFill>
            <a:srgbClr val="FFFFFF"/>
          </a:solidFill>
          <a:ln w="12700">
            <a:solidFill>
              <a:srgbClr val="FFFFFF"/>
            </a:solidFill>
            <a:prstDash val="solid"/>
          </a:ln>
        </p:spPr>
      </p:sp>
      <p:sp>
        <p:nvSpPr>
          <p:cNvPr id="36" name="Shape 33"/>
          <p:cNvSpPr/>
          <p:nvPr/>
        </p:nvSpPr>
        <p:spPr>
          <a:xfrm>
            <a:off x="8030261" y="3273552"/>
            <a:ext cx="64008" cy="1463040"/>
          </a:xfrm>
          <a:prstGeom prst="rect">
            <a:avLst/>
          </a:prstGeom>
          <a:solidFill>
            <a:srgbClr val="2E7D4F"/>
          </a:solidFill>
          <a:ln w="12700">
            <a:solidFill>
              <a:srgbClr val="2E7D4F"/>
            </a:solidFill>
            <a:prstDash val="solid"/>
          </a:ln>
        </p:spPr>
      </p:sp>
      <p:sp>
        <p:nvSpPr>
          <p:cNvPr id="37" name="Text 34"/>
          <p:cNvSpPr txBox="1"/>
          <p:nvPr/>
        </p:nvSpPr>
        <p:spPr>
          <a:xfrm>
            <a:off x="8286293" y="3383280"/>
            <a:ext cx="3100730" cy="347472"/>
          </a:xfrm>
          <a:prstGeom prst="rect">
            <a:avLst/>
          </a:prstGeom>
          <a:noFill/>
          <a:ln/>
        </p:spPr>
        <p:txBody>
          <a:bodyPr wrap="square" lIns="0" tIns="0" rIns="0" bIns="0" rtlCol="0" anchor="t"/>
          <a:lstStyle/>
          <a:p>
            <a:pPr algn="l" indent="0" marL="0">
              <a:buNone/>
            </a:pPr>
            <a:r>
              <a:rPr lang="en-US" sz="1900" b="1" dirty="0">
                <a:solidFill>
                  <a:srgbClr val="2E7D4F"/>
                </a:solidFill>
                <a:latin typeface="Aptos Display" pitchFamily="34" charset="0"/>
                <a:ea typeface="Aptos Display" pitchFamily="34" charset="-122"/>
                <a:cs typeface="Aptos Display" pitchFamily="34" charset="-120"/>
              </a:rPr>
              <a:t>ISTQB</a:t>
            </a:r>
            <a:endParaRPr lang="en-US" sz="1900" dirty="0"/>
          </a:p>
        </p:txBody>
      </p:sp>
      <p:sp>
        <p:nvSpPr>
          <p:cNvPr id="38" name="Text 35"/>
          <p:cNvSpPr txBox="1"/>
          <p:nvPr/>
        </p:nvSpPr>
        <p:spPr>
          <a:xfrm>
            <a:off x="8286293" y="3749040"/>
            <a:ext cx="3100730" cy="566928"/>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 organización internacional que certifica a quienes prueban software.</a:t>
            </a:r>
            <a:endParaRPr lang="en-US" sz="1100" dirty="0"/>
          </a:p>
        </p:txBody>
      </p:sp>
      <p:sp>
        <p:nvSpPr>
          <p:cNvPr id="39" name="Text 36"/>
          <p:cNvSpPr txBox="1"/>
          <p:nvPr/>
        </p:nvSpPr>
        <p:spPr>
          <a:xfrm>
            <a:off x="8286293" y="4315968"/>
            <a:ext cx="3100730" cy="384048"/>
          </a:xfrm>
          <a:prstGeom prst="rect">
            <a:avLst/>
          </a:prstGeom>
          <a:noFill/>
          <a:ln/>
        </p:spPr>
        <p:txBody>
          <a:bodyPr wrap="square" lIns="0" tIns="0" rIns="0" bIns="0" rtlCol="0" anchor="t"/>
          <a:lstStyle/>
          <a:p>
            <a:pPr algn="l" indent="0" marL="0">
              <a:lnSpc>
                <a:spcPct val="105000"/>
              </a:lnSpc>
              <a:buNone/>
            </a:pPr>
            <a:r>
              <a:rPr lang="en-US" sz="1000" i="1" dirty="0">
                <a:solidFill>
                  <a:srgbClr val="52606D"/>
                </a:solidFill>
                <a:latin typeface="Aptos" pitchFamily="34" charset="0"/>
                <a:ea typeface="Aptos" pitchFamily="34" charset="-122"/>
                <a:cs typeface="Aptos" pitchFamily="34" charset="-120"/>
              </a:rPr>
              <a:t>Su programa es una de las dos fuentes del módulo; la otra, las normas ISO.</a:t>
            </a:r>
            <a:endParaRPr lang="en-US" sz="1000" dirty="0"/>
          </a:p>
        </p:txBody>
      </p:sp>
      <p:sp>
        <p:nvSpPr>
          <p:cNvPr id="40" name="Text 37"/>
          <p:cNvSpPr txBox="1"/>
          <p:nvPr/>
        </p:nvSpPr>
        <p:spPr>
          <a:xfrm>
            <a:off x="658368" y="4828032"/>
            <a:ext cx="3657600" cy="182880"/>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CÓDIGOS DE RESPUESTA DE LA API</a:t>
            </a:r>
            <a:endParaRPr lang="en-US" sz="900" dirty="0"/>
          </a:p>
        </p:txBody>
      </p:sp>
      <p:sp>
        <p:nvSpPr>
          <p:cNvPr id="41" name="Shape 38"/>
          <p:cNvSpPr/>
          <p:nvPr/>
        </p:nvSpPr>
        <p:spPr>
          <a:xfrm>
            <a:off x="658368" y="5047488"/>
            <a:ext cx="2636444" cy="457200"/>
          </a:xfrm>
          <a:prstGeom prst="rect">
            <a:avLst/>
          </a:prstGeom>
          <a:solidFill>
            <a:srgbClr val="FFFFFF"/>
          </a:solidFill>
          <a:ln w="12700">
            <a:solidFill>
              <a:srgbClr val="FFFFFF"/>
            </a:solidFill>
            <a:prstDash val="solid"/>
          </a:ln>
        </p:spPr>
      </p:sp>
      <p:sp>
        <p:nvSpPr>
          <p:cNvPr id="42" name="Text 39"/>
          <p:cNvSpPr txBox="1"/>
          <p:nvPr/>
        </p:nvSpPr>
        <p:spPr>
          <a:xfrm>
            <a:off x="786384" y="5102352"/>
            <a:ext cx="548640" cy="347472"/>
          </a:xfrm>
          <a:prstGeom prst="rect">
            <a:avLst/>
          </a:prstGeom>
          <a:noFill/>
          <a:ln/>
        </p:spPr>
        <p:txBody>
          <a:bodyPr wrap="square" lIns="0" tIns="0" rIns="0" bIns="0" rtlCol="0" anchor="ctr"/>
          <a:lstStyle/>
          <a:p>
            <a:pPr algn="l" indent="0" marL="0">
              <a:buNone/>
            </a:pPr>
            <a:r>
              <a:rPr lang="en-US" sz="1300" b="1" dirty="0">
                <a:solidFill>
                  <a:srgbClr val="102A43"/>
                </a:solidFill>
                <a:latin typeface="Consolas" pitchFamily="34" charset="0"/>
                <a:ea typeface="Consolas" pitchFamily="34" charset="-122"/>
                <a:cs typeface="Consolas" pitchFamily="34" charset="-120"/>
              </a:rPr>
              <a:t>201</a:t>
            </a:r>
            <a:endParaRPr lang="en-US" sz="1300" dirty="0"/>
          </a:p>
        </p:txBody>
      </p:sp>
      <p:sp>
        <p:nvSpPr>
          <p:cNvPr id="43" name="Text 40"/>
          <p:cNvSpPr txBox="1"/>
          <p:nvPr/>
        </p:nvSpPr>
        <p:spPr>
          <a:xfrm>
            <a:off x="1353312" y="5084064"/>
            <a:ext cx="1831772" cy="384048"/>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reserva aceptada</a:t>
            </a:r>
            <a:endParaRPr lang="en-US" sz="960" dirty="0"/>
          </a:p>
        </p:txBody>
      </p:sp>
      <p:sp>
        <p:nvSpPr>
          <p:cNvPr id="44" name="Shape 41"/>
          <p:cNvSpPr/>
          <p:nvPr/>
        </p:nvSpPr>
        <p:spPr>
          <a:xfrm>
            <a:off x="3404540" y="5047488"/>
            <a:ext cx="2636444" cy="457200"/>
          </a:xfrm>
          <a:prstGeom prst="rect">
            <a:avLst/>
          </a:prstGeom>
          <a:solidFill>
            <a:srgbClr val="FFFFFF"/>
          </a:solidFill>
          <a:ln w="12700">
            <a:solidFill>
              <a:srgbClr val="FFFFFF"/>
            </a:solidFill>
            <a:prstDash val="solid"/>
          </a:ln>
        </p:spPr>
      </p:sp>
      <p:sp>
        <p:nvSpPr>
          <p:cNvPr id="45" name="Text 42"/>
          <p:cNvSpPr txBox="1"/>
          <p:nvPr/>
        </p:nvSpPr>
        <p:spPr>
          <a:xfrm>
            <a:off x="3532556" y="5102352"/>
            <a:ext cx="548640" cy="347472"/>
          </a:xfrm>
          <a:prstGeom prst="rect">
            <a:avLst/>
          </a:prstGeom>
          <a:noFill/>
          <a:ln/>
        </p:spPr>
        <p:txBody>
          <a:bodyPr wrap="square" lIns="0" tIns="0" rIns="0" bIns="0" rtlCol="0" anchor="ctr"/>
          <a:lstStyle/>
          <a:p>
            <a:pPr algn="l" indent="0" marL="0">
              <a:buNone/>
            </a:pPr>
            <a:r>
              <a:rPr lang="en-US" sz="1300" b="1" dirty="0">
                <a:solidFill>
                  <a:srgbClr val="102A43"/>
                </a:solidFill>
                <a:latin typeface="Consolas" pitchFamily="34" charset="0"/>
                <a:ea typeface="Consolas" pitchFamily="34" charset="-122"/>
                <a:cs typeface="Consolas" pitchFamily="34" charset="-120"/>
              </a:rPr>
              <a:t>409</a:t>
            </a:r>
            <a:endParaRPr lang="en-US" sz="1300" dirty="0"/>
          </a:p>
        </p:txBody>
      </p:sp>
      <p:sp>
        <p:nvSpPr>
          <p:cNvPr id="46" name="Text 43"/>
          <p:cNvSpPr txBox="1"/>
          <p:nvPr/>
        </p:nvSpPr>
        <p:spPr>
          <a:xfrm>
            <a:off x="4099484" y="5084064"/>
            <a:ext cx="1831772" cy="384048"/>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rechazada por las reglas del sistema</a:t>
            </a:r>
            <a:endParaRPr lang="en-US" sz="960" dirty="0"/>
          </a:p>
        </p:txBody>
      </p:sp>
      <p:sp>
        <p:nvSpPr>
          <p:cNvPr id="47" name="Shape 44"/>
          <p:cNvSpPr/>
          <p:nvPr/>
        </p:nvSpPr>
        <p:spPr>
          <a:xfrm>
            <a:off x="6150712" y="5047488"/>
            <a:ext cx="2636444" cy="457200"/>
          </a:xfrm>
          <a:prstGeom prst="rect">
            <a:avLst/>
          </a:prstGeom>
          <a:solidFill>
            <a:srgbClr val="FFFFFF"/>
          </a:solidFill>
          <a:ln w="12700">
            <a:solidFill>
              <a:srgbClr val="FFFFFF"/>
            </a:solidFill>
            <a:prstDash val="solid"/>
          </a:ln>
        </p:spPr>
      </p:sp>
      <p:sp>
        <p:nvSpPr>
          <p:cNvPr id="48" name="Text 45"/>
          <p:cNvSpPr txBox="1"/>
          <p:nvPr/>
        </p:nvSpPr>
        <p:spPr>
          <a:xfrm>
            <a:off x="6278728" y="5102352"/>
            <a:ext cx="548640" cy="347472"/>
          </a:xfrm>
          <a:prstGeom prst="rect">
            <a:avLst/>
          </a:prstGeom>
          <a:noFill/>
          <a:ln/>
        </p:spPr>
        <p:txBody>
          <a:bodyPr wrap="square" lIns="0" tIns="0" rIns="0" bIns="0" rtlCol="0" anchor="ctr"/>
          <a:lstStyle/>
          <a:p>
            <a:pPr algn="l" indent="0" marL="0">
              <a:buNone/>
            </a:pPr>
            <a:r>
              <a:rPr lang="en-US" sz="1300" b="1" dirty="0">
                <a:solidFill>
                  <a:srgbClr val="102A43"/>
                </a:solidFill>
                <a:latin typeface="Consolas" pitchFamily="34" charset="0"/>
                <a:ea typeface="Consolas" pitchFamily="34" charset="-122"/>
                <a:cs typeface="Consolas" pitchFamily="34" charset="-120"/>
              </a:rPr>
              <a:t>422</a:t>
            </a:r>
            <a:endParaRPr lang="en-US" sz="1300" dirty="0"/>
          </a:p>
        </p:txBody>
      </p:sp>
      <p:sp>
        <p:nvSpPr>
          <p:cNvPr id="49" name="Text 46"/>
          <p:cNvSpPr txBox="1"/>
          <p:nvPr/>
        </p:nvSpPr>
        <p:spPr>
          <a:xfrm>
            <a:off x="6845656" y="5084064"/>
            <a:ext cx="1831772" cy="384048"/>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datos que faltan o no tienen el formato pedido</a:t>
            </a:r>
            <a:endParaRPr lang="en-US" sz="960" dirty="0"/>
          </a:p>
        </p:txBody>
      </p:sp>
      <p:sp>
        <p:nvSpPr>
          <p:cNvPr id="50" name="Shape 47"/>
          <p:cNvSpPr/>
          <p:nvPr/>
        </p:nvSpPr>
        <p:spPr>
          <a:xfrm>
            <a:off x="8896883" y="5047488"/>
            <a:ext cx="2636444" cy="457200"/>
          </a:xfrm>
          <a:prstGeom prst="rect">
            <a:avLst/>
          </a:prstGeom>
          <a:solidFill>
            <a:srgbClr val="FFFFFF"/>
          </a:solidFill>
          <a:ln w="12700">
            <a:solidFill>
              <a:srgbClr val="FFFFFF"/>
            </a:solidFill>
            <a:prstDash val="solid"/>
          </a:ln>
        </p:spPr>
      </p:sp>
      <p:sp>
        <p:nvSpPr>
          <p:cNvPr id="51" name="Text 48"/>
          <p:cNvSpPr txBox="1"/>
          <p:nvPr/>
        </p:nvSpPr>
        <p:spPr>
          <a:xfrm>
            <a:off x="9024899" y="5102352"/>
            <a:ext cx="548640" cy="347472"/>
          </a:xfrm>
          <a:prstGeom prst="rect">
            <a:avLst/>
          </a:prstGeom>
          <a:noFill/>
          <a:ln/>
        </p:spPr>
        <p:txBody>
          <a:bodyPr wrap="square" lIns="0" tIns="0" rIns="0" bIns="0" rtlCol="0" anchor="ctr"/>
          <a:lstStyle/>
          <a:p>
            <a:pPr algn="l" indent="0" marL="0">
              <a:buNone/>
            </a:pPr>
            <a:r>
              <a:rPr lang="en-US" sz="1300" b="1" dirty="0">
                <a:solidFill>
                  <a:srgbClr val="102A43"/>
                </a:solidFill>
                <a:latin typeface="Consolas" pitchFamily="34" charset="0"/>
                <a:ea typeface="Consolas" pitchFamily="34" charset="-122"/>
                <a:cs typeface="Consolas" pitchFamily="34" charset="-120"/>
              </a:rPr>
              <a:t>500</a:t>
            </a:r>
            <a:endParaRPr lang="en-US" sz="1300" dirty="0"/>
          </a:p>
        </p:txBody>
      </p:sp>
      <p:sp>
        <p:nvSpPr>
          <p:cNvPr id="52" name="Text 49"/>
          <p:cNvSpPr txBox="1"/>
          <p:nvPr/>
        </p:nvSpPr>
        <p:spPr>
          <a:xfrm>
            <a:off x="9591827" y="5084064"/>
            <a:ext cx="1831772" cy="384048"/>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error interno del servidor</a:t>
            </a:r>
            <a:endParaRPr lang="en-US" sz="960" dirty="0"/>
          </a:p>
        </p:txBody>
      </p:sp>
      <p:sp>
        <p:nvSpPr>
          <p:cNvPr id="53" name="Shape 50"/>
          <p:cNvSpPr/>
          <p:nvPr/>
        </p:nvSpPr>
        <p:spPr>
          <a:xfrm>
            <a:off x="658368" y="5650992"/>
            <a:ext cx="10874959" cy="548640"/>
          </a:xfrm>
          <a:prstGeom prst="rect">
            <a:avLst/>
          </a:prstGeom>
          <a:solidFill>
            <a:srgbClr val="102A43"/>
          </a:solidFill>
          <a:ln w="12700">
            <a:solidFill>
              <a:srgbClr val="102A43"/>
            </a:solidFill>
            <a:prstDash val="solid"/>
          </a:ln>
        </p:spPr>
      </p:sp>
      <p:sp>
        <p:nvSpPr>
          <p:cNvPr id="54" name="Text 5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Hasta ahora se probó qué hace el sistema. Hoy, cómo lo hace.</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ABRIR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Todo lo probado hasta aquí dice qué hace</a:t>
            </a:r>
            <a:endParaRPr lang="en-US" sz="3000" dirty="0"/>
          </a:p>
        </p:txBody>
      </p:sp>
      <p:sp>
        <p:nvSpPr>
          <p:cNvPr id="10" name="Text 7"/>
          <p:cNvSpPr txBox="1"/>
          <p:nvPr/>
        </p:nvSpPr>
        <p:spPr>
          <a:xfrm>
            <a:off x="658368" y="1773936"/>
            <a:ext cx="52546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LO QUE LAS SUITES YA COMPRUEBAN</a:t>
            </a:r>
            <a:endParaRPr lang="en-US" sz="960" dirty="0"/>
          </a:p>
        </p:txBody>
      </p:sp>
      <p:sp>
        <p:nvSpPr>
          <p:cNvPr id="11" name="Shape 8"/>
          <p:cNvSpPr/>
          <p:nvPr/>
        </p:nvSpPr>
        <p:spPr>
          <a:xfrm>
            <a:off x="658368" y="2084832"/>
            <a:ext cx="5254600" cy="676656"/>
          </a:xfrm>
          <a:prstGeom prst="rect">
            <a:avLst/>
          </a:prstGeom>
          <a:solidFill>
            <a:srgbClr val="FFFFFF"/>
          </a:solidFill>
          <a:ln w="12700">
            <a:solidFill>
              <a:srgbClr val="FFFFFF"/>
            </a:solidFill>
            <a:prstDash val="solid"/>
          </a:ln>
        </p:spPr>
      </p:sp>
      <p:sp>
        <p:nvSpPr>
          <p:cNvPr id="12" name="Shape 9"/>
          <p:cNvSpPr/>
          <p:nvPr/>
        </p:nvSpPr>
        <p:spPr>
          <a:xfrm>
            <a:off x="877824" y="2331720"/>
            <a:ext cx="182880" cy="182880"/>
          </a:xfrm>
          <a:prstGeom prst="rect">
            <a:avLst/>
          </a:prstGeom>
          <a:solidFill>
            <a:srgbClr val="2E7D4F"/>
          </a:solidFill>
          <a:ln w="12700">
            <a:solidFill>
              <a:srgbClr val="2E7D4F"/>
            </a:solidFill>
            <a:prstDash val="solid"/>
          </a:ln>
        </p:spPr>
      </p:sp>
      <p:sp>
        <p:nvSpPr>
          <p:cNvPr id="13" name="Text 10"/>
          <p:cNvSpPr txBox="1"/>
          <p:nvPr/>
        </p:nvSpPr>
        <p:spPr>
          <a:xfrm>
            <a:off x="1225296" y="2194560"/>
            <a:ext cx="4523080" cy="457200"/>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Una reserva válida se acepta.</a:t>
            </a:r>
            <a:endParaRPr lang="en-US" sz="1300" dirty="0"/>
          </a:p>
        </p:txBody>
      </p:sp>
      <p:sp>
        <p:nvSpPr>
          <p:cNvPr id="14" name="Shape 11"/>
          <p:cNvSpPr/>
          <p:nvPr/>
        </p:nvSpPr>
        <p:spPr>
          <a:xfrm>
            <a:off x="658368" y="2871216"/>
            <a:ext cx="5254600" cy="676656"/>
          </a:xfrm>
          <a:prstGeom prst="rect">
            <a:avLst/>
          </a:prstGeom>
          <a:solidFill>
            <a:srgbClr val="FFFFFF"/>
          </a:solidFill>
          <a:ln w="12700">
            <a:solidFill>
              <a:srgbClr val="FFFFFF"/>
            </a:solidFill>
            <a:prstDash val="solid"/>
          </a:ln>
        </p:spPr>
      </p:sp>
      <p:sp>
        <p:nvSpPr>
          <p:cNvPr id="15" name="Shape 12"/>
          <p:cNvSpPr/>
          <p:nvPr/>
        </p:nvSpPr>
        <p:spPr>
          <a:xfrm>
            <a:off x="877824" y="3118104"/>
            <a:ext cx="182880" cy="182880"/>
          </a:xfrm>
          <a:prstGeom prst="rect">
            <a:avLst/>
          </a:prstGeom>
          <a:solidFill>
            <a:srgbClr val="2E7D4F"/>
          </a:solidFill>
          <a:ln w="12700">
            <a:solidFill>
              <a:srgbClr val="2E7D4F"/>
            </a:solidFill>
            <a:prstDash val="solid"/>
          </a:ln>
        </p:spPr>
      </p:sp>
      <p:sp>
        <p:nvSpPr>
          <p:cNvPr id="16" name="Text 13"/>
          <p:cNvSpPr txBox="1"/>
          <p:nvPr/>
        </p:nvSpPr>
        <p:spPr>
          <a:xfrm>
            <a:off x="1225296" y="2980944"/>
            <a:ext cx="4523080" cy="457200"/>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Una inválida se rechaza con 409.</a:t>
            </a:r>
            <a:endParaRPr lang="en-US" sz="1300" dirty="0"/>
          </a:p>
        </p:txBody>
      </p:sp>
      <p:sp>
        <p:nvSpPr>
          <p:cNvPr id="17" name="Shape 14"/>
          <p:cNvSpPr/>
          <p:nvPr/>
        </p:nvSpPr>
        <p:spPr>
          <a:xfrm>
            <a:off x="658368" y="3657600"/>
            <a:ext cx="5254600" cy="676656"/>
          </a:xfrm>
          <a:prstGeom prst="rect">
            <a:avLst/>
          </a:prstGeom>
          <a:solidFill>
            <a:srgbClr val="FFFFFF"/>
          </a:solidFill>
          <a:ln w="12700">
            <a:solidFill>
              <a:srgbClr val="FFFFFF"/>
            </a:solidFill>
            <a:prstDash val="solid"/>
          </a:ln>
        </p:spPr>
      </p:sp>
      <p:sp>
        <p:nvSpPr>
          <p:cNvPr id="18" name="Shape 15"/>
          <p:cNvSpPr/>
          <p:nvPr/>
        </p:nvSpPr>
        <p:spPr>
          <a:xfrm>
            <a:off x="877824" y="3904488"/>
            <a:ext cx="182880" cy="182880"/>
          </a:xfrm>
          <a:prstGeom prst="rect">
            <a:avLst/>
          </a:prstGeom>
          <a:solidFill>
            <a:srgbClr val="2E7D4F"/>
          </a:solidFill>
          <a:ln w="12700">
            <a:solidFill>
              <a:srgbClr val="2E7D4F"/>
            </a:solidFill>
            <a:prstDash val="solid"/>
          </a:ln>
        </p:spPr>
      </p:sp>
      <p:sp>
        <p:nvSpPr>
          <p:cNvPr id="19" name="Text 16"/>
          <p:cNvSpPr txBox="1"/>
          <p:nvPr/>
        </p:nvSpPr>
        <p:spPr>
          <a:xfrm>
            <a:off x="1225296" y="3767328"/>
            <a:ext cx="4523080" cy="457200"/>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Un bloque tomado no se vuelve a reservar.</a:t>
            </a:r>
            <a:endParaRPr lang="en-US" sz="1300" dirty="0"/>
          </a:p>
        </p:txBody>
      </p:sp>
      <p:sp>
        <p:nvSpPr>
          <p:cNvPr id="20" name="Shape 17"/>
          <p:cNvSpPr/>
          <p:nvPr/>
        </p:nvSpPr>
        <p:spPr>
          <a:xfrm>
            <a:off x="658368" y="4443984"/>
            <a:ext cx="5254600" cy="676656"/>
          </a:xfrm>
          <a:prstGeom prst="rect">
            <a:avLst/>
          </a:prstGeom>
          <a:solidFill>
            <a:srgbClr val="FFFFFF"/>
          </a:solidFill>
          <a:ln w="12700">
            <a:solidFill>
              <a:srgbClr val="FFFFFF"/>
            </a:solidFill>
            <a:prstDash val="solid"/>
          </a:ln>
        </p:spPr>
      </p:sp>
      <p:sp>
        <p:nvSpPr>
          <p:cNvPr id="21" name="Shape 18"/>
          <p:cNvSpPr/>
          <p:nvPr/>
        </p:nvSpPr>
        <p:spPr>
          <a:xfrm>
            <a:off x="877824" y="4690872"/>
            <a:ext cx="182880" cy="182880"/>
          </a:xfrm>
          <a:prstGeom prst="rect">
            <a:avLst/>
          </a:prstGeom>
          <a:solidFill>
            <a:srgbClr val="2E7D4F"/>
          </a:solidFill>
          <a:ln w="12700">
            <a:solidFill>
              <a:srgbClr val="2E7D4F"/>
            </a:solidFill>
            <a:prstDash val="solid"/>
          </a:ln>
        </p:spPr>
      </p:sp>
      <p:sp>
        <p:nvSpPr>
          <p:cNvPr id="22" name="Text 19"/>
          <p:cNvSpPr txBox="1"/>
          <p:nvPr/>
        </p:nvSpPr>
        <p:spPr>
          <a:xfrm>
            <a:off x="1225296" y="4553712"/>
            <a:ext cx="4523080" cy="457200"/>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La pantalla dice lo que pasó.</a:t>
            </a:r>
            <a:endParaRPr lang="en-US" sz="1300" dirty="0"/>
          </a:p>
        </p:txBody>
      </p:sp>
      <p:sp>
        <p:nvSpPr>
          <p:cNvPr id="23" name="Text 20"/>
          <p:cNvSpPr txBox="1"/>
          <p:nvPr/>
        </p:nvSpPr>
        <p:spPr>
          <a:xfrm>
            <a:off x="6278728" y="1773936"/>
            <a:ext cx="52546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NINGUNA PRUEBA PREGUNTA TODAVÍA</a:t>
            </a:r>
            <a:endParaRPr lang="en-US" sz="960" dirty="0"/>
          </a:p>
        </p:txBody>
      </p:sp>
      <p:sp>
        <p:nvSpPr>
          <p:cNvPr id="24" name="Shape 21"/>
          <p:cNvSpPr/>
          <p:nvPr/>
        </p:nvSpPr>
        <p:spPr>
          <a:xfrm>
            <a:off x="6278728" y="2084832"/>
            <a:ext cx="5254600" cy="676656"/>
          </a:xfrm>
          <a:prstGeom prst="rect">
            <a:avLst/>
          </a:prstGeom>
          <a:solidFill>
            <a:srgbClr val="F2E7D9"/>
          </a:solidFill>
          <a:ln w="12700">
            <a:solidFill>
              <a:srgbClr val="F2E7D9"/>
            </a:solidFill>
            <a:prstDash val="solid"/>
          </a:ln>
        </p:spPr>
      </p:sp>
      <p:sp>
        <p:nvSpPr>
          <p:cNvPr id="25" name="Shape 22"/>
          <p:cNvSpPr/>
          <p:nvPr/>
        </p:nvSpPr>
        <p:spPr>
          <a:xfrm>
            <a:off x="6452464" y="2267712"/>
            <a:ext cx="310896" cy="310896"/>
          </a:xfrm>
          <a:prstGeom prst="ellipse">
            <a:avLst/>
          </a:prstGeom>
          <a:solidFill>
            <a:srgbClr val="B3181E"/>
          </a:solidFill>
          <a:ln w="12700">
            <a:solidFill>
              <a:srgbClr val="B3181E"/>
            </a:solidFill>
            <a:prstDash val="solid"/>
          </a:ln>
        </p:spPr>
      </p:sp>
      <p:sp>
        <p:nvSpPr>
          <p:cNvPr id="26" name="Text 23"/>
          <p:cNvSpPr/>
          <p:nvPr/>
        </p:nvSpPr>
        <p:spPr>
          <a:xfrm>
            <a:off x="6461608" y="22768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27" name="Text 24"/>
          <p:cNvSpPr txBox="1"/>
          <p:nvPr/>
        </p:nvSpPr>
        <p:spPr>
          <a:xfrm>
            <a:off x="6918808" y="2157984"/>
            <a:ext cx="4468216" cy="530352"/>
          </a:xfrm>
          <a:prstGeom prst="rect">
            <a:avLst/>
          </a:prstGeom>
          <a:noFill/>
          <a:ln/>
        </p:spPr>
        <p:txBody>
          <a:bodyPr wrap="square" lIns="0" tIns="0" rIns="0" bIns="0" rtlCol="0" anchor="ctr"/>
          <a:lstStyle/>
          <a:p>
            <a:pPr algn="l" indent="0" marL="0">
              <a:lnSpc>
                <a:spcPct val="106000"/>
              </a:lnSpc>
              <a:buNone/>
            </a:pPr>
            <a:r>
              <a:rPr lang="en-US" sz="1240" b="1" dirty="0">
                <a:solidFill>
                  <a:srgbClr val="243B53"/>
                </a:solidFill>
                <a:latin typeface="Aptos" pitchFamily="34" charset="0"/>
                <a:ea typeface="Aptos" pitchFamily="34" charset="-122"/>
                <a:cs typeface="Aptos" pitchFamily="34" charset="-120"/>
              </a:rPr>
              <a:t>¿Responde a tiempo con cien personas reservando a la vez?</a:t>
            </a:r>
            <a:endParaRPr lang="en-US" sz="1240" dirty="0"/>
          </a:p>
        </p:txBody>
      </p:sp>
      <p:sp>
        <p:nvSpPr>
          <p:cNvPr id="28" name="Shape 25"/>
          <p:cNvSpPr/>
          <p:nvPr/>
        </p:nvSpPr>
        <p:spPr>
          <a:xfrm>
            <a:off x="6278728" y="2871216"/>
            <a:ext cx="5254600" cy="676656"/>
          </a:xfrm>
          <a:prstGeom prst="rect">
            <a:avLst/>
          </a:prstGeom>
          <a:solidFill>
            <a:srgbClr val="F2E7D9"/>
          </a:solidFill>
          <a:ln w="12700">
            <a:solidFill>
              <a:srgbClr val="F2E7D9"/>
            </a:solidFill>
            <a:prstDash val="solid"/>
          </a:ln>
        </p:spPr>
      </p:sp>
      <p:sp>
        <p:nvSpPr>
          <p:cNvPr id="29" name="Shape 26"/>
          <p:cNvSpPr/>
          <p:nvPr/>
        </p:nvSpPr>
        <p:spPr>
          <a:xfrm>
            <a:off x="6452464" y="3054096"/>
            <a:ext cx="310896" cy="310896"/>
          </a:xfrm>
          <a:prstGeom prst="ellipse">
            <a:avLst/>
          </a:prstGeom>
          <a:solidFill>
            <a:srgbClr val="B3181E"/>
          </a:solidFill>
          <a:ln w="12700">
            <a:solidFill>
              <a:srgbClr val="B3181E"/>
            </a:solidFill>
            <a:prstDash val="solid"/>
          </a:ln>
        </p:spPr>
      </p:sp>
      <p:sp>
        <p:nvSpPr>
          <p:cNvPr id="30" name="Text 27"/>
          <p:cNvSpPr/>
          <p:nvPr/>
        </p:nvSpPr>
        <p:spPr>
          <a:xfrm>
            <a:off x="6461608" y="30632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31" name="Text 28"/>
          <p:cNvSpPr txBox="1"/>
          <p:nvPr/>
        </p:nvSpPr>
        <p:spPr>
          <a:xfrm>
            <a:off x="6918808" y="2944368"/>
            <a:ext cx="4468216" cy="530352"/>
          </a:xfrm>
          <a:prstGeom prst="rect">
            <a:avLst/>
          </a:prstGeom>
          <a:noFill/>
          <a:ln/>
        </p:spPr>
        <p:txBody>
          <a:bodyPr wrap="square" lIns="0" tIns="0" rIns="0" bIns="0" rtlCol="0" anchor="ctr"/>
          <a:lstStyle/>
          <a:p>
            <a:pPr algn="l" indent="0" marL="0">
              <a:lnSpc>
                <a:spcPct val="106000"/>
              </a:lnSpc>
              <a:buNone/>
            </a:pPr>
            <a:r>
              <a:rPr lang="en-US" sz="1240" b="1" dirty="0">
                <a:solidFill>
                  <a:srgbClr val="243B53"/>
                </a:solidFill>
                <a:latin typeface="Aptos" pitchFamily="34" charset="0"/>
                <a:ea typeface="Aptos" pitchFamily="34" charset="-122"/>
                <a:cs typeface="Aptos" pitchFamily="34" charset="-120"/>
              </a:rPr>
              <a:t>¿Deja que alguien actúe en nombre de otra persona?</a:t>
            </a:r>
            <a:endParaRPr lang="en-US" sz="1240" dirty="0"/>
          </a:p>
        </p:txBody>
      </p:sp>
      <p:sp>
        <p:nvSpPr>
          <p:cNvPr id="32" name="Shape 29"/>
          <p:cNvSpPr/>
          <p:nvPr/>
        </p:nvSpPr>
        <p:spPr>
          <a:xfrm>
            <a:off x="6278728" y="3657600"/>
            <a:ext cx="5254600" cy="676656"/>
          </a:xfrm>
          <a:prstGeom prst="rect">
            <a:avLst/>
          </a:prstGeom>
          <a:solidFill>
            <a:srgbClr val="F2E7D9"/>
          </a:solidFill>
          <a:ln w="12700">
            <a:solidFill>
              <a:srgbClr val="F2E7D9"/>
            </a:solidFill>
            <a:prstDash val="solid"/>
          </a:ln>
        </p:spPr>
      </p:sp>
      <p:sp>
        <p:nvSpPr>
          <p:cNvPr id="33" name="Shape 30"/>
          <p:cNvSpPr/>
          <p:nvPr/>
        </p:nvSpPr>
        <p:spPr>
          <a:xfrm>
            <a:off x="6452464" y="3840480"/>
            <a:ext cx="310896" cy="310896"/>
          </a:xfrm>
          <a:prstGeom prst="ellipse">
            <a:avLst/>
          </a:prstGeom>
          <a:solidFill>
            <a:srgbClr val="B3181E"/>
          </a:solidFill>
          <a:ln w="12700">
            <a:solidFill>
              <a:srgbClr val="B3181E"/>
            </a:solidFill>
            <a:prstDash val="solid"/>
          </a:ln>
        </p:spPr>
      </p:sp>
      <p:sp>
        <p:nvSpPr>
          <p:cNvPr id="34" name="Text 31"/>
          <p:cNvSpPr/>
          <p:nvPr/>
        </p:nvSpPr>
        <p:spPr>
          <a:xfrm>
            <a:off x="6461608" y="38496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35" name="Text 32"/>
          <p:cNvSpPr txBox="1"/>
          <p:nvPr/>
        </p:nvSpPr>
        <p:spPr>
          <a:xfrm>
            <a:off x="6918808" y="3730752"/>
            <a:ext cx="4468216" cy="530352"/>
          </a:xfrm>
          <a:prstGeom prst="rect">
            <a:avLst/>
          </a:prstGeom>
          <a:noFill/>
          <a:ln/>
        </p:spPr>
        <p:txBody>
          <a:bodyPr wrap="square" lIns="0" tIns="0" rIns="0" bIns="0" rtlCol="0" anchor="ctr"/>
          <a:lstStyle/>
          <a:p>
            <a:pPr algn="l" indent="0" marL="0">
              <a:lnSpc>
                <a:spcPct val="106000"/>
              </a:lnSpc>
              <a:buNone/>
            </a:pPr>
            <a:r>
              <a:rPr lang="en-US" sz="1240" b="1" dirty="0">
                <a:solidFill>
                  <a:srgbClr val="243B53"/>
                </a:solidFill>
                <a:latin typeface="Aptos" pitchFamily="34" charset="0"/>
                <a:ea typeface="Aptos" pitchFamily="34" charset="-122"/>
                <a:cs typeface="Aptos" pitchFamily="34" charset="-120"/>
              </a:rPr>
              <a:t>¿La puede usar alguien sin mouse, o que ve poco?</a:t>
            </a:r>
            <a:endParaRPr lang="en-US" sz="1240" dirty="0"/>
          </a:p>
        </p:txBody>
      </p:sp>
      <p:sp>
        <p:nvSpPr>
          <p:cNvPr id="36" name="Shape 33"/>
          <p:cNvSpPr/>
          <p:nvPr/>
        </p:nvSpPr>
        <p:spPr>
          <a:xfrm>
            <a:off x="6278728" y="4443984"/>
            <a:ext cx="5254600" cy="676656"/>
          </a:xfrm>
          <a:prstGeom prst="rect">
            <a:avLst/>
          </a:prstGeom>
          <a:solidFill>
            <a:srgbClr val="F2E7D9"/>
          </a:solidFill>
          <a:ln w="12700">
            <a:solidFill>
              <a:srgbClr val="F2E7D9"/>
            </a:solidFill>
            <a:prstDash val="solid"/>
          </a:ln>
        </p:spPr>
      </p:sp>
      <p:sp>
        <p:nvSpPr>
          <p:cNvPr id="37" name="Shape 34"/>
          <p:cNvSpPr/>
          <p:nvPr/>
        </p:nvSpPr>
        <p:spPr>
          <a:xfrm>
            <a:off x="6452464" y="4626864"/>
            <a:ext cx="310896" cy="310896"/>
          </a:xfrm>
          <a:prstGeom prst="ellipse">
            <a:avLst/>
          </a:prstGeom>
          <a:solidFill>
            <a:srgbClr val="B3181E"/>
          </a:solidFill>
          <a:ln w="12700">
            <a:solidFill>
              <a:srgbClr val="B3181E"/>
            </a:solidFill>
            <a:prstDash val="solid"/>
          </a:ln>
        </p:spPr>
      </p:sp>
      <p:sp>
        <p:nvSpPr>
          <p:cNvPr id="38" name="Text 35"/>
          <p:cNvSpPr/>
          <p:nvPr/>
        </p:nvSpPr>
        <p:spPr>
          <a:xfrm>
            <a:off x="6461608" y="46360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39" name="Text 36"/>
          <p:cNvSpPr txBox="1"/>
          <p:nvPr/>
        </p:nvSpPr>
        <p:spPr>
          <a:xfrm>
            <a:off x="6918808" y="4517136"/>
            <a:ext cx="4468216" cy="530352"/>
          </a:xfrm>
          <a:prstGeom prst="rect">
            <a:avLst/>
          </a:prstGeom>
          <a:noFill/>
          <a:ln/>
        </p:spPr>
        <p:txBody>
          <a:bodyPr wrap="square" lIns="0" tIns="0" rIns="0" bIns="0" rtlCol="0" anchor="ctr"/>
          <a:lstStyle/>
          <a:p>
            <a:pPr algn="l" indent="0" marL="0">
              <a:lnSpc>
                <a:spcPct val="106000"/>
              </a:lnSpc>
              <a:buNone/>
            </a:pPr>
            <a:r>
              <a:rPr lang="en-US" sz="1240" b="1" dirty="0">
                <a:solidFill>
                  <a:srgbClr val="243B53"/>
                </a:solidFill>
                <a:latin typeface="Aptos" pitchFamily="34" charset="0"/>
                <a:ea typeface="Aptos" pitchFamily="34" charset="-122"/>
                <a:cs typeface="Aptos" pitchFamily="34" charset="-120"/>
              </a:rPr>
              <a:t>¿Funciona en otro navegador, con otra versión de Python?</a:t>
            </a:r>
            <a:endParaRPr lang="en-US" sz="124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sistema puede aprobar todas sus pruebas funcionales y fallar en cualquiera de estas preguntas.</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 · LA FUENTE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Qué hace, y qué tan bien lo hace</a:t>
            </a:r>
            <a:endParaRPr lang="en-US" sz="3000" dirty="0"/>
          </a:p>
        </p:txBody>
      </p:sp>
      <p:sp>
        <p:nvSpPr>
          <p:cNvPr id="10" name="Shape 7"/>
          <p:cNvSpPr/>
          <p:nvPr/>
        </p:nvSpPr>
        <p:spPr>
          <a:xfrm>
            <a:off x="658368" y="1737360"/>
            <a:ext cx="10874959" cy="1152144"/>
          </a:xfrm>
          <a:prstGeom prst="rect">
            <a:avLst/>
          </a:prstGeom>
          <a:solidFill>
            <a:srgbClr val="EDE6DA"/>
          </a:solidFill>
          <a:ln w="12700">
            <a:solidFill>
              <a:srgbClr val="EDE6DA"/>
            </a:solidFill>
            <a:prstDash val="solid"/>
          </a:ln>
        </p:spPr>
      </p:sp>
      <p:sp>
        <p:nvSpPr>
          <p:cNvPr id="11" name="Shape 8"/>
          <p:cNvSpPr/>
          <p:nvPr/>
        </p:nvSpPr>
        <p:spPr>
          <a:xfrm>
            <a:off x="658368" y="1737360"/>
            <a:ext cx="54864" cy="1152144"/>
          </a:xfrm>
          <a:prstGeom prst="rect">
            <a:avLst/>
          </a:prstGeom>
          <a:solidFill>
            <a:srgbClr val="102A43"/>
          </a:solidFill>
          <a:ln w="12700">
            <a:solidFill>
              <a:srgbClr val="102A43"/>
            </a:solidFill>
            <a:prstDash val="solid"/>
          </a:ln>
        </p:spPr>
      </p:sp>
      <p:sp>
        <p:nvSpPr>
          <p:cNvPr id="12" name="Text 9"/>
          <p:cNvSpPr txBox="1"/>
          <p:nvPr/>
        </p:nvSpPr>
        <p:spPr>
          <a:xfrm>
            <a:off x="914400" y="1865376"/>
            <a:ext cx="10362895" cy="713232"/>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«La prueba funcional evalúa las funciones que un componente o sistema debe cumplir: «qué» debe hacer el objeto de prueba. La prueba no funcional evalúa atributos distintos de las funciones: es la prueba de «qué tan bien se comporta el sistema».»</a:t>
            </a:r>
            <a:endParaRPr lang="en-US" sz="1180" dirty="0"/>
          </a:p>
        </p:txBody>
      </p:sp>
      <p:sp>
        <p:nvSpPr>
          <p:cNvPr id="13" name="Text 10"/>
          <p:cNvSpPr txBox="1"/>
          <p:nvPr/>
        </p:nvSpPr>
        <p:spPr>
          <a:xfrm>
            <a:off x="914400" y="2615184"/>
            <a:ext cx="103628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ISTQB CTFL v4.0.1, sección 2.2.2 · traducción del original en inglés</a:t>
            </a:r>
            <a:endParaRPr lang="en-US" sz="900" dirty="0"/>
          </a:p>
        </p:txBody>
      </p:sp>
      <p:sp>
        <p:nvSpPr>
          <p:cNvPr id="14" name="Text 11"/>
          <p:cNvSpPr txBox="1"/>
          <p:nvPr/>
        </p:nvSpPr>
        <p:spPr>
          <a:xfrm>
            <a:off x="658368" y="2944368"/>
            <a:ext cx="10874959" cy="219456"/>
          </a:xfrm>
          <a:prstGeom prst="rect">
            <a:avLst/>
          </a:prstGeom>
          <a:noFill/>
          <a:ln/>
        </p:spPr>
        <p:txBody>
          <a:bodyPr wrap="square" lIns="0" tIns="0" rIns="0" bIns="0" rtlCol="0" anchor="t"/>
          <a:lstStyle/>
          <a:p>
            <a:pPr algn="l" indent="0" marL="0">
              <a:buNone/>
            </a:pPr>
            <a:r>
              <a:rPr lang="en-US" sz="1000" i="1" dirty="0">
                <a:solidFill>
                  <a:srgbClr val="52606D"/>
                </a:solidFill>
                <a:latin typeface="Aptos" pitchFamily="34" charset="0"/>
                <a:ea typeface="Aptos" pitchFamily="34" charset="-122"/>
                <a:cs typeface="Aptos" pitchFamily="34" charset="-120"/>
              </a:rPr>
              <a:t>Objeto de prueba: lo que se está probando; aquí, el sistema de reservas.</a:t>
            </a:r>
            <a:endParaRPr lang="en-US" sz="1000" dirty="0"/>
          </a:p>
        </p:txBody>
      </p:sp>
      <p:sp>
        <p:nvSpPr>
          <p:cNvPr id="15" name="Shape 12"/>
          <p:cNvSpPr/>
          <p:nvPr/>
        </p:nvSpPr>
        <p:spPr>
          <a:xfrm>
            <a:off x="658368" y="3291840"/>
            <a:ext cx="5254600" cy="2157984"/>
          </a:xfrm>
          <a:prstGeom prst="rect">
            <a:avLst/>
          </a:prstGeom>
          <a:solidFill>
            <a:srgbClr val="FFFFFF"/>
          </a:solidFill>
          <a:ln w="12700">
            <a:solidFill>
              <a:srgbClr val="FFFFFF"/>
            </a:solidFill>
            <a:prstDash val="solid"/>
          </a:ln>
        </p:spPr>
      </p:sp>
      <p:sp>
        <p:nvSpPr>
          <p:cNvPr id="16" name="Shape 13"/>
          <p:cNvSpPr/>
          <p:nvPr/>
        </p:nvSpPr>
        <p:spPr>
          <a:xfrm>
            <a:off x="658368" y="3291840"/>
            <a:ext cx="5254600" cy="54864"/>
          </a:xfrm>
          <a:prstGeom prst="rect">
            <a:avLst/>
          </a:prstGeom>
          <a:solidFill>
            <a:srgbClr val="2E7D4F"/>
          </a:solidFill>
          <a:ln w="12700">
            <a:solidFill>
              <a:srgbClr val="2E7D4F"/>
            </a:solidFill>
            <a:prstDash val="solid"/>
          </a:ln>
        </p:spPr>
      </p:sp>
      <p:sp>
        <p:nvSpPr>
          <p:cNvPr id="17" name="Text 14"/>
          <p:cNvSpPr txBox="1"/>
          <p:nvPr/>
        </p:nvSpPr>
        <p:spPr>
          <a:xfrm>
            <a:off x="932688" y="3474720"/>
            <a:ext cx="470596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FUNCIONAL</a:t>
            </a:r>
            <a:endParaRPr lang="en-US" sz="960" dirty="0"/>
          </a:p>
        </p:txBody>
      </p:sp>
      <p:sp>
        <p:nvSpPr>
          <p:cNvPr id="18" name="Text 15"/>
          <p:cNvSpPr txBox="1"/>
          <p:nvPr/>
        </p:nvSpPr>
        <p:spPr>
          <a:xfrm>
            <a:off x="932688" y="3767328"/>
            <a:ext cx="4705960" cy="640080"/>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«qué hace»</a:t>
            </a:r>
            <a:endParaRPr lang="en-US" sz="2800" dirty="0"/>
          </a:p>
        </p:txBody>
      </p:sp>
      <p:sp>
        <p:nvSpPr>
          <p:cNvPr id="19" name="Text 16"/>
          <p:cNvSpPr txBox="1"/>
          <p:nvPr/>
        </p:nvSpPr>
        <p:spPr>
          <a:xfrm>
            <a:off x="932688" y="4535424"/>
            <a:ext cx="1828800" cy="182880"/>
          </a:xfrm>
          <a:prstGeom prst="rect">
            <a:avLst/>
          </a:prstGeom>
          <a:noFill/>
          <a:ln/>
        </p:spPr>
        <p:txBody>
          <a:bodyPr wrap="square" lIns="0" tIns="0" rIns="0" bIns="0" rtlCol="0" anchor="t"/>
          <a:lstStyle/>
          <a:p>
            <a:pPr algn="l" indent="0" marL="0">
              <a:buNone/>
            </a:pPr>
            <a:r>
              <a:rPr lang="en-US" sz="940" b="1" dirty="0">
                <a:solidFill>
                  <a:srgbClr val="52606D"/>
                </a:solidFill>
                <a:latin typeface="Aptos" pitchFamily="34" charset="0"/>
                <a:ea typeface="Aptos" pitchFamily="34" charset="-122"/>
                <a:cs typeface="Aptos" pitchFamily="34" charset="-120"/>
              </a:rPr>
              <a:t>Ejemplo</a:t>
            </a:r>
            <a:endParaRPr lang="en-US" sz="940" dirty="0"/>
          </a:p>
        </p:txBody>
      </p:sp>
      <p:sp>
        <p:nvSpPr>
          <p:cNvPr id="20" name="Text 17"/>
          <p:cNvSpPr txBox="1"/>
          <p:nvPr/>
        </p:nvSpPr>
        <p:spPr>
          <a:xfrm>
            <a:off x="932688" y="4754880"/>
            <a:ext cx="4705960" cy="585216"/>
          </a:xfrm>
          <a:prstGeom prst="rect">
            <a:avLst/>
          </a:prstGeom>
          <a:noFill/>
          <a:ln/>
        </p:spPr>
        <p:txBody>
          <a:bodyPr wrap="square" lIns="0" tIns="0" rIns="0" bIns="0" rtlCol="0" anchor="t"/>
          <a:lstStyle/>
          <a:p>
            <a:pPr algn="l" indent="0" marL="0">
              <a:lnSpc>
                <a:spcPct val="110000"/>
              </a:lnSpc>
              <a:buNone/>
            </a:pPr>
            <a:r>
              <a:rPr lang="en-US" sz="1200" dirty="0">
                <a:solidFill>
                  <a:srgbClr val="243B53"/>
                </a:solidFill>
                <a:latin typeface="Aptos" pitchFamily="34" charset="0"/>
                <a:ea typeface="Aptos" pitchFamily="34" charset="-122"/>
                <a:cs typeface="Aptos" pitchFamily="34" charset="-120"/>
              </a:rPr>
              <a:t>Una reserva de 31 personas se rechaza con el código 409.</a:t>
            </a:r>
            <a:endParaRPr lang="en-US" sz="1200" dirty="0"/>
          </a:p>
        </p:txBody>
      </p:sp>
      <p:sp>
        <p:nvSpPr>
          <p:cNvPr id="21" name="Shape 18"/>
          <p:cNvSpPr/>
          <p:nvPr/>
        </p:nvSpPr>
        <p:spPr>
          <a:xfrm>
            <a:off x="6278728" y="3291840"/>
            <a:ext cx="5254600" cy="2157984"/>
          </a:xfrm>
          <a:prstGeom prst="rect">
            <a:avLst/>
          </a:prstGeom>
          <a:solidFill>
            <a:srgbClr val="F2E7D9"/>
          </a:solidFill>
          <a:ln w="12700">
            <a:solidFill>
              <a:srgbClr val="F2E7D9"/>
            </a:solidFill>
            <a:prstDash val="solid"/>
          </a:ln>
        </p:spPr>
      </p:sp>
      <p:sp>
        <p:nvSpPr>
          <p:cNvPr id="22" name="Shape 19"/>
          <p:cNvSpPr/>
          <p:nvPr/>
        </p:nvSpPr>
        <p:spPr>
          <a:xfrm>
            <a:off x="6278728" y="3291840"/>
            <a:ext cx="5254600" cy="54864"/>
          </a:xfrm>
          <a:prstGeom prst="rect">
            <a:avLst/>
          </a:prstGeom>
          <a:solidFill>
            <a:srgbClr val="B3181E"/>
          </a:solidFill>
          <a:ln w="12700">
            <a:solidFill>
              <a:srgbClr val="B3181E"/>
            </a:solidFill>
            <a:prstDash val="solid"/>
          </a:ln>
        </p:spPr>
      </p:sp>
      <p:sp>
        <p:nvSpPr>
          <p:cNvPr id="23" name="Text 20"/>
          <p:cNvSpPr txBox="1"/>
          <p:nvPr/>
        </p:nvSpPr>
        <p:spPr>
          <a:xfrm>
            <a:off x="6553048" y="3474720"/>
            <a:ext cx="47059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FUNCIONAL</a:t>
            </a:r>
            <a:endParaRPr lang="en-US" sz="960" dirty="0"/>
          </a:p>
        </p:txBody>
      </p:sp>
      <p:sp>
        <p:nvSpPr>
          <p:cNvPr id="24" name="Text 21"/>
          <p:cNvSpPr txBox="1"/>
          <p:nvPr/>
        </p:nvSpPr>
        <p:spPr>
          <a:xfrm>
            <a:off x="6553048" y="3767328"/>
            <a:ext cx="4705960" cy="640080"/>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«qué tan bien lo hace»</a:t>
            </a:r>
            <a:endParaRPr lang="en-US" sz="2800" dirty="0"/>
          </a:p>
        </p:txBody>
      </p:sp>
      <p:sp>
        <p:nvSpPr>
          <p:cNvPr id="25" name="Text 22"/>
          <p:cNvSpPr txBox="1"/>
          <p:nvPr/>
        </p:nvSpPr>
        <p:spPr>
          <a:xfrm>
            <a:off x="6553048" y="4535424"/>
            <a:ext cx="1828800" cy="182880"/>
          </a:xfrm>
          <a:prstGeom prst="rect">
            <a:avLst/>
          </a:prstGeom>
          <a:noFill/>
          <a:ln/>
        </p:spPr>
        <p:txBody>
          <a:bodyPr wrap="square" lIns="0" tIns="0" rIns="0" bIns="0" rtlCol="0" anchor="t"/>
          <a:lstStyle/>
          <a:p>
            <a:pPr algn="l" indent="0" marL="0">
              <a:buNone/>
            </a:pPr>
            <a:r>
              <a:rPr lang="en-US" sz="940" b="1" dirty="0">
                <a:solidFill>
                  <a:srgbClr val="52606D"/>
                </a:solidFill>
                <a:latin typeface="Aptos" pitchFamily="34" charset="0"/>
                <a:ea typeface="Aptos" pitchFamily="34" charset="-122"/>
                <a:cs typeface="Aptos" pitchFamily="34" charset="-120"/>
              </a:rPr>
              <a:t>Ejemplo</a:t>
            </a:r>
            <a:endParaRPr lang="en-US" sz="940" dirty="0"/>
          </a:p>
        </p:txBody>
      </p:sp>
      <p:sp>
        <p:nvSpPr>
          <p:cNvPr id="26" name="Text 23"/>
          <p:cNvSpPr txBox="1"/>
          <p:nvPr/>
        </p:nvSpPr>
        <p:spPr>
          <a:xfrm>
            <a:off x="6553048" y="4754880"/>
            <a:ext cx="4705960" cy="585216"/>
          </a:xfrm>
          <a:prstGeom prst="rect">
            <a:avLst/>
          </a:prstGeom>
          <a:noFill/>
          <a:ln/>
        </p:spPr>
        <p:txBody>
          <a:bodyPr wrap="square" lIns="0" tIns="0" rIns="0" bIns="0" rtlCol="0" anchor="t"/>
          <a:lstStyle/>
          <a:p>
            <a:pPr algn="l" indent="0" marL="0">
              <a:lnSpc>
                <a:spcPct val="110000"/>
              </a:lnSpc>
              <a:buNone/>
            </a:pPr>
            <a:r>
              <a:rPr lang="en-US" sz="1200" dirty="0">
                <a:solidFill>
                  <a:srgbClr val="243B53"/>
                </a:solidFill>
                <a:latin typeface="Aptos" pitchFamily="34" charset="0"/>
                <a:ea typeface="Aptos" pitchFamily="34" charset="-122"/>
                <a:cs typeface="Aptos" pitchFamily="34" charset="-120"/>
              </a:rPr>
              <a:t>Con cien personas reservando a la vez, el 95 % de las respuestas llega en menos de 300 milisegundos.</a:t>
            </a:r>
            <a:endParaRPr lang="en-US" sz="1200" dirty="0"/>
          </a:p>
        </p:txBody>
      </p:sp>
      <p:sp>
        <p:nvSpPr>
          <p:cNvPr id="27" name="Shape 24"/>
          <p:cNvSpPr/>
          <p:nvPr/>
        </p:nvSpPr>
        <p:spPr>
          <a:xfrm>
            <a:off x="658368" y="5650992"/>
            <a:ext cx="10874959" cy="548640"/>
          </a:xfrm>
          <a:prstGeom prst="rect">
            <a:avLst/>
          </a:prstGeom>
          <a:solidFill>
            <a:srgbClr val="102A43"/>
          </a:solidFill>
          <a:ln w="12700">
            <a:solidFill>
              <a:srgbClr val="102A43"/>
            </a:solidFill>
            <a:prstDash val="solid"/>
          </a:ln>
        </p:spPr>
      </p:sp>
      <p:sp>
        <p:nvSpPr>
          <p:cNvPr id="28" name="Text 2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Las dos miran el mismo sistema. Preguntan cosas distintas.</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 · ISO/IEC 25010:2023</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Nueve características, y hoy se miden cuatro</a:t>
            </a:r>
            <a:endParaRPr lang="en-US" sz="2800" dirty="0"/>
          </a:p>
        </p:txBody>
      </p:sp>
      <p:sp>
        <p:nvSpPr>
          <p:cNvPr id="10" name="Shape 7"/>
          <p:cNvSpPr/>
          <p:nvPr/>
        </p:nvSpPr>
        <p:spPr>
          <a:xfrm>
            <a:off x="658368" y="1755648"/>
            <a:ext cx="3539642" cy="731520"/>
          </a:xfrm>
          <a:prstGeom prst="rect">
            <a:avLst/>
          </a:prstGeom>
          <a:solidFill>
            <a:srgbClr val="FFFFFF"/>
          </a:solidFill>
          <a:ln w="12700">
            <a:solidFill>
              <a:srgbClr val="FFFFFF"/>
            </a:solidFill>
            <a:prstDash val="solid"/>
          </a:ln>
        </p:spPr>
      </p:sp>
      <p:sp>
        <p:nvSpPr>
          <p:cNvPr id="11" name="Shape 8"/>
          <p:cNvSpPr/>
          <p:nvPr/>
        </p:nvSpPr>
        <p:spPr>
          <a:xfrm>
            <a:off x="658368" y="1755648"/>
            <a:ext cx="64008" cy="731520"/>
          </a:xfrm>
          <a:prstGeom prst="rect">
            <a:avLst/>
          </a:prstGeom>
          <a:solidFill>
            <a:srgbClr val="52606D"/>
          </a:solidFill>
          <a:ln w="12700">
            <a:solidFill>
              <a:srgbClr val="52606D"/>
            </a:solidFill>
            <a:prstDash val="solid"/>
          </a:ln>
        </p:spPr>
      </p:sp>
      <p:sp>
        <p:nvSpPr>
          <p:cNvPr id="12" name="Text 9"/>
          <p:cNvSpPr txBox="1"/>
          <p:nvPr/>
        </p:nvSpPr>
        <p:spPr>
          <a:xfrm>
            <a:off x="896112" y="1847088"/>
            <a:ext cx="2222906" cy="256032"/>
          </a:xfrm>
          <a:prstGeom prst="rect">
            <a:avLst/>
          </a:prstGeom>
          <a:noFill/>
          <a:ln/>
        </p:spPr>
        <p:txBody>
          <a:bodyPr wrap="square" lIns="0" tIns="0" rIns="0" bIns="0" rtlCol="0" anchor="t"/>
          <a:lstStyle/>
          <a:p>
            <a:pPr algn="l" indent="0" marL="0">
              <a:buNone/>
            </a:pPr>
            <a:r>
              <a:rPr lang="en-US" sz="1220" b="1" dirty="0">
                <a:solidFill>
                  <a:srgbClr val="52606D"/>
                </a:solidFill>
                <a:latin typeface="Aptos" pitchFamily="34" charset="0"/>
                <a:ea typeface="Aptos" pitchFamily="34" charset="-122"/>
                <a:cs typeface="Aptos" pitchFamily="34" charset="-120"/>
              </a:rPr>
              <a:t>Adecuación funcional</a:t>
            </a:r>
            <a:endParaRPr lang="en-US" sz="1220" dirty="0"/>
          </a:p>
        </p:txBody>
      </p:sp>
      <p:sp>
        <p:nvSpPr>
          <p:cNvPr id="13" name="Text 10"/>
          <p:cNvSpPr txBox="1"/>
          <p:nvPr/>
        </p:nvSpPr>
        <p:spPr>
          <a:xfrm>
            <a:off x="896112" y="213969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Lo que ya se probó: qué hace</a:t>
            </a:r>
            <a:endParaRPr lang="en-US" sz="980" dirty="0"/>
          </a:p>
        </p:txBody>
      </p:sp>
      <p:sp>
        <p:nvSpPr>
          <p:cNvPr id="14" name="Shape 11"/>
          <p:cNvSpPr/>
          <p:nvPr/>
        </p:nvSpPr>
        <p:spPr>
          <a:xfrm>
            <a:off x="3155594" y="1865376"/>
            <a:ext cx="877824" cy="237744"/>
          </a:xfrm>
          <a:prstGeom prst="rect">
            <a:avLst/>
          </a:prstGeom>
          <a:solidFill>
            <a:srgbClr val="52606D"/>
          </a:solidFill>
          <a:ln w="12700">
            <a:solidFill>
              <a:srgbClr val="52606D"/>
            </a:solidFill>
            <a:prstDash val="solid"/>
          </a:ln>
        </p:spPr>
      </p:sp>
      <p:sp>
        <p:nvSpPr>
          <p:cNvPr id="15" name="Text 12"/>
          <p:cNvSpPr txBox="1"/>
          <p:nvPr/>
        </p:nvSpPr>
        <p:spPr>
          <a:xfrm>
            <a:off x="3173882" y="1883664"/>
            <a:ext cx="84124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YA PROBADA</a:t>
            </a:r>
            <a:endParaRPr lang="en-US" sz="900" dirty="0"/>
          </a:p>
        </p:txBody>
      </p:sp>
      <p:sp>
        <p:nvSpPr>
          <p:cNvPr id="16" name="Shape 13"/>
          <p:cNvSpPr/>
          <p:nvPr/>
        </p:nvSpPr>
        <p:spPr>
          <a:xfrm>
            <a:off x="4326026" y="1755648"/>
            <a:ext cx="3539642" cy="731520"/>
          </a:xfrm>
          <a:prstGeom prst="rect">
            <a:avLst/>
          </a:prstGeom>
          <a:solidFill>
            <a:srgbClr val="F2E7D9"/>
          </a:solidFill>
          <a:ln w="12700">
            <a:solidFill>
              <a:srgbClr val="F2E7D9"/>
            </a:solidFill>
            <a:prstDash val="solid"/>
          </a:ln>
        </p:spPr>
      </p:sp>
      <p:sp>
        <p:nvSpPr>
          <p:cNvPr id="17" name="Shape 14"/>
          <p:cNvSpPr/>
          <p:nvPr/>
        </p:nvSpPr>
        <p:spPr>
          <a:xfrm>
            <a:off x="4326026" y="1755648"/>
            <a:ext cx="64008" cy="731520"/>
          </a:xfrm>
          <a:prstGeom prst="rect">
            <a:avLst/>
          </a:prstGeom>
          <a:solidFill>
            <a:srgbClr val="B3181E"/>
          </a:solidFill>
          <a:ln w="12700">
            <a:solidFill>
              <a:srgbClr val="B3181E"/>
            </a:solidFill>
            <a:prstDash val="solid"/>
          </a:ln>
        </p:spPr>
      </p:sp>
      <p:sp>
        <p:nvSpPr>
          <p:cNvPr id="18" name="Text 15"/>
          <p:cNvSpPr txBox="1"/>
          <p:nvPr/>
        </p:nvSpPr>
        <p:spPr>
          <a:xfrm>
            <a:off x="4563770" y="1847088"/>
            <a:ext cx="2222906"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Eficiencia de desempeño</a:t>
            </a:r>
            <a:endParaRPr lang="en-US" sz="1220" dirty="0"/>
          </a:p>
        </p:txBody>
      </p:sp>
      <p:sp>
        <p:nvSpPr>
          <p:cNvPr id="19" name="Text 16"/>
          <p:cNvSpPr txBox="1"/>
          <p:nvPr/>
        </p:nvSpPr>
        <p:spPr>
          <a:xfrm>
            <a:off x="4563770" y="213969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Tiempo de respuesta, recursos, capacidad</a:t>
            </a:r>
            <a:endParaRPr lang="en-US" sz="980" dirty="0"/>
          </a:p>
        </p:txBody>
      </p:sp>
      <p:sp>
        <p:nvSpPr>
          <p:cNvPr id="20" name="Shape 17"/>
          <p:cNvSpPr/>
          <p:nvPr/>
        </p:nvSpPr>
        <p:spPr>
          <a:xfrm>
            <a:off x="6823253" y="1865376"/>
            <a:ext cx="877824" cy="237744"/>
          </a:xfrm>
          <a:prstGeom prst="rect">
            <a:avLst/>
          </a:prstGeom>
          <a:solidFill>
            <a:srgbClr val="B3181E"/>
          </a:solidFill>
          <a:ln w="12700">
            <a:solidFill>
              <a:srgbClr val="B3181E"/>
            </a:solidFill>
            <a:prstDash val="solid"/>
          </a:ln>
        </p:spPr>
      </p:sp>
      <p:sp>
        <p:nvSpPr>
          <p:cNvPr id="21" name="Text 18"/>
          <p:cNvSpPr txBox="1"/>
          <p:nvPr/>
        </p:nvSpPr>
        <p:spPr>
          <a:xfrm>
            <a:off x="6841541" y="1883664"/>
            <a:ext cx="84124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BLOQUE 1</a:t>
            </a:r>
            <a:endParaRPr lang="en-US" sz="900" dirty="0"/>
          </a:p>
        </p:txBody>
      </p:sp>
      <p:sp>
        <p:nvSpPr>
          <p:cNvPr id="22" name="Shape 19"/>
          <p:cNvSpPr/>
          <p:nvPr/>
        </p:nvSpPr>
        <p:spPr>
          <a:xfrm>
            <a:off x="7993685" y="1755648"/>
            <a:ext cx="3539642" cy="731520"/>
          </a:xfrm>
          <a:prstGeom prst="rect">
            <a:avLst/>
          </a:prstGeom>
          <a:solidFill>
            <a:srgbClr val="F2E7D9"/>
          </a:solidFill>
          <a:ln w="12700">
            <a:solidFill>
              <a:srgbClr val="F2E7D9"/>
            </a:solidFill>
            <a:prstDash val="solid"/>
          </a:ln>
        </p:spPr>
      </p:sp>
      <p:sp>
        <p:nvSpPr>
          <p:cNvPr id="23" name="Shape 20"/>
          <p:cNvSpPr/>
          <p:nvPr/>
        </p:nvSpPr>
        <p:spPr>
          <a:xfrm>
            <a:off x="7993685" y="1755648"/>
            <a:ext cx="64008" cy="731520"/>
          </a:xfrm>
          <a:prstGeom prst="rect">
            <a:avLst/>
          </a:prstGeom>
          <a:solidFill>
            <a:srgbClr val="B3181E"/>
          </a:solidFill>
          <a:ln w="12700">
            <a:solidFill>
              <a:srgbClr val="B3181E"/>
            </a:solidFill>
            <a:prstDash val="solid"/>
          </a:ln>
        </p:spPr>
      </p:sp>
      <p:sp>
        <p:nvSpPr>
          <p:cNvPr id="24" name="Text 21"/>
          <p:cNvSpPr txBox="1"/>
          <p:nvPr/>
        </p:nvSpPr>
        <p:spPr>
          <a:xfrm>
            <a:off x="8231429" y="1847088"/>
            <a:ext cx="2222906"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Seguridad</a:t>
            </a:r>
            <a:endParaRPr lang="en-US" sz="1220" dirty="0"/>
          </a:p>
        </p:txBody>
      </p:sp>
      <p:sp>
        <p:nvSpPr>
          <p:cNvPr id="25" name="Text 22"/>
          <p:cNvSpPr txBox="1"/>
          <p:nvPr/>
        </p:nvSpPr>
        <p:spPr>
          <a:xfrm>
            <a:off x="8231429" y="213969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Confidencialidad, autenticidad, resistencia</a:t>
            </a:r>
            <a:endParaRPr lang="en-US" sz="980" dirty="0"/>
          </a:p>
        </p:txBody>
      </p:sp>
      <p:sp>
        <p:nvSpPr>
          <p:cNvPr id="26" name="Shape 23"/>
          <p:cNvSpPr/>
          <p:nvPr/>
        </p:nvSpPr>
        <p:spPr>
          <a:xfrm>
            <a:off x="10490911" y="1865376"/>
            <a:ext cx="877824" cy="237744"/>
          </a:xfrm>
          <a:prstGeom prst="rect">
            <a:avLst/>
          </a:prstGeom>
          <a:solidFill>
            <a:srgbClr val="B3181E"/>
          </a:solidFill>
          <a:ln w="12700">
            <a:solidFill>
              <a:srgbClr val="B3181E"/>
            </a:solidFill>
            <a:prstDash val="solid"/>
          </a:ln>
        </p:spPr>
      </p:sp>
      <p:sp>
        <p:nvSpPr>
          <p:cNvPr id="27" name="Text 24"/>
          <p:cNvSpPr txBox="1"/>
          <p:nvPr/>
        </p:nvSpPr>
        <p:spPr>
          <a:xfrm>
            <a:off x="10509199" y="1883664"/>
            <a:ext cx="84124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BLOQUE 2</a:t>
            </a:r>
            <a:endParaRPr lang="en-US" sz="900" dirty="0"/>
          </a:p>
        </p:txBody>
      </p:sp>
      <p:sp>
        <p:nvSpPr>
          <p:cNvPr id="28" name="Shape 25"/>
          <p:cNvSpPr/>
          <p:nvPr/>
        </p:nvSpPr>
        <p:spPr>
          <a:xfrm>
            <a:off x="658368" y="2578608"/>
            <a:ext cx="3539642" cy="731520"/>
          </a:xfrm>
          <a:prstGeom prst="rect">
            <a:avLst/>
          </a:prstGeom>
          <a:solidFill>
            <a:srgbClr val="F2E7D9"/>
          </a:solidFill>
          <a:ln w="12700">
            <a:solidFill>
              <a:srgbClr val="F2E7D9"/>
            </a:solidFill>
            <a:prstDash val="solid"/>
          </a:ln>
        </p:spPr>
      </p:sp>
      <p:sp>
        <p:nvSpPr>
          <p:cNvPr id="29" name="Shape 26"/>
          <p:cNvSpPr/>
          <p:nvPr/>
        </p:nvSpPr>
        <p:spPr>
          <a:xfrm>
            <a:off x="658368" y="2578608"/>
            <a:ext cx="64008" cy="731520"/>
          </a:xfrm>
          <a:prstGeom prst="rect">
            <a:avLst/>
          </a:prstGeom>
          <a:solidFill>
            <a:srgbClr val="B3181E"/>
          </a:solidFill>
          <a:ln w="12700">
            <a:solidFill>
              <a:srgbClr val="B3181E"/>
            </a:solidFill>
            <a:prstDash val="solid"/>
          </a:ln>
        </p:spPr>
      </p:sp>
      <p:sp>
        <p:nvSpPr>
          <p:cNvPr id="30" name="Text 27"/>
          <p:cNvSpPr txBox="1"/>
          <p:nvPr/>
        </p:nvSpPr>
        <p:spPr>
          <a:xfrm>
            <a:off x="896112" y="2670048"/>
            <a:ext cx="2222906"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Capacidad de interacción</a:t>
            </a:r>
            <a:endParaRPr lang="en-US" sz="1220" dirty="0"/>
          </a:p>
        </p:txBody>
      </p:sp>
      <p:sp>
        <p:nvSpPr>
          <p:cNvPr id="31" name="Text 28"/>
          <p:cNvSpPr txBox="1"/>
          <p:nvPr/>
        </p:nvSpPr>
        <p:spPr>
          <a:xfrm>
            <a:off x="896112" y="296265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Incluye la accesibilidad, ahora dividida</a:t>
            </a:r>
            <a:endParaRPr lang="en-US" sz="980" dirty="0"/>
          </a:p>
        </p:txBody>
      </p:sp>
      <p:sp>
        <p:nvSpPr>
          <p:cNvPr id="32" name="Shape 29"/>
          <p:cNvSpPr/>
          <p:nvPr/>
        </p:nvSpPr>
        <p:spPr>
          <a:xfrm>
            <a:off x="3155594" y="2688336"/>
            <a:ext cx="877824" cy="237744"/>
          </a:xfrm>
          <a:prstGeom prst="rect">
            <a:avLst/>
          </a:prstGeom>
          <a:solidFill>
            <a:srgbClr val="B3181E"/>
          </a:solidFill>
          <a:ln w="12700">
            <a:solidFill>
              <a:srgbClr val="B3181E"/>
            </a:solidFill>
            <a:prstDash val="solid"/>
          </a:ln>
        </p:spPr>
      </p:sp>
      <p:sp>
        <p:nvSpPr>
          <p:cNvPr id="33" name="Text 30"/>
          <p:cNvSpPr txBox="1"/>
          <p:nvPr/>
        </p:nvSpPr>
        <p:spPr>
          <a:xfrm>
            <a:off x="3173882" y="2706624"/>
            <a:ext cx="84124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BLOQUE 3</a:t>
            </a:r>
            <a:endParaRPr lang="en-US" sz="900" dirty="0"/>
          </a:p>
        </p:txBody>
      </p:sp>
      <p:sp>
        <p:nvSpPr>
          <p:cNvPr id="34" name="Shape 31"/>
          <p:cNvSpPr/>
          <p:nvPr/>
        </p:nvSpPr>
        <p:spPr>
          <a:xfrm>
            <a:off x="4326026" y="2578608"/>
            <a:ext cx="3539642" cy="731520"/>
          </a:xfrm>
          <a:prstGeom prst="rect">
            <a:avLst/>
          </a:prstGeom>
          <a:solidFill>
            <a:srgbClr val="F2E7D9"/>
          </a:solidFill>
          <a:ln w="12700">
            <a:solidFill>
              <a:srgbClr val="F2E7D9"/>
            </a:solidFill>
            <a:prstDash val="solid"/>
          </a:ln>
        </p:spPr>
      </p:sp>
      <p:sp>
        <p:nvSpPr>
          <p:cNvPr id="35" name="Shape 32"/>
          <p:cNvSpPr/>
          <p:nvPr/>
        </p:nvSpPr>
        <p:spPr>
          <a:xfrm>
            <a:off x="4326026" y="2578608"/>
            <a:ext cx="64008" cy="731520"/>
          </a:xfrm>
          <a:prstGeom prst="rect">
            <a:avLst/>
          </a:prstGeom>
          <a:solidFill>
            <a:srgbClr val="B3181E"/>
          </a:solidFill>
          <a:ln w="12700">
            <a:solidFill>
              <a:srgbClr val="B3181E"/>
            </a:solidFill>
            <a:prstDash val="solid"/>
          </a:ln>
        </p:spPr>
      </p:sp>
      <p:sp>
        <p:nvSpPr>
          <p:cNvPr id="36" name="Text 33"/>
          <p:cNvSpPr txBox="1"/>
          <p:nvPr/>
        </p:nvSpPr>
        <p:spPr>
          <a:xfrm>
            <a:off x="4563770" y="2670048"/>
            <a:ext cx="2222906"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Flexibilidad</a:t>
            </a:r>
            <a:endParaRPr lang="en-US" sz="1220" dirty="0"/>
          </a:p>
        </p:txBody>
      </p:sp>
      <p:sp>
        <p:nvSpPr>
          <p:cNvPr id="37" name="Text 34"/>
          <p:cNvSpPr txBox="1"/>
          <p:nvPr/>
        </p:nvSpPr>
        <p:spPr>
          <a:xfrm>
            <a:off x="4563770" y="296265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Antes portabilidad; ahora incluye la escalabilidad</a:t>
            </a:r>
            <a:endParaRPr lang="en-US" sz="980" dirty="0"/>
          </a:p>
        </p:txBody>
      </p:sp>
      <p:sp>
        <p:nvSpPr>
          <p:cNvPr id="38" name="Shape 35"/>
          <p:cNvSpPr/>
          <p:nvPr/>
        </p:nvSpPr>
        <p:spPr>
          <a:xfrm>
            <a:off x="6823253" y="2688336"/>
            <a:ext cx="877824" cy="237744"/>
          </a:xfrm>
          <a:prstGeom prst="rect">
            <a:avLst/>
          </a:prstGeom>
          <a:solidFill>
            <a:srgbClr val="B3181E"/>
          </a:solidFill>
          <a:ln w="12700">
            <a:solidFill>
              <a:srgbClr val="B3181E"/>
            </a:solidFill>
            <a:prstDash val="solid"/>
          </a:ln>
        </p:spPr>
      </p:sp>
      <p:sp>
        <p:nvSpPr>
          <p:cNvPr id="39" name="Text 36"/>
          <p:cNvSpPr txBox="1"/>
          <p:nvPr/>
        </p:nvSpPr>
        <p:spPr>
          <a:xfrm>
            <a:off x="6841541" y="2706624"/>
            <a:ext cx="84124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BLOQUE 3</a:t>
            </a:r>
            <a:endParaRPr lang="en-US" sz="900" dirty="0"/>
          </a:p>
        </p:txBody>
      </p:sp>
      <p:sp>
        <p:nvSpPr>
          <p:cNvPr id="40" name="Shape 37"/>
          <p:cNvSpPr/>
          <p:nvPr/>
        </p:nvSpPr>
        <p:spPr>
          <a:xfrm>
            <a:off x="7993685" y="2578608"/>
            <a:ext cx="3539642" cy="731520"/>
          </a:xfrm>
          <a:prstGeom prst="rect">
            <a:avLst/>
          </a:prstGeom>
          <a:solidFill>
            <a:srgbClr val="FFFFFF"/>
          </a:solidFill>
          <a:ln w="12700">
            <a:solidFill>
              <a:srgbClr val="FFFFFF"/>
            </a:solidFill>
            <a:prstDash val="solid"/>
          </a:ln>
        </p:spPr>
      </p:sp>
      <p:sp>
        <p:nvSpPr>
          <p:cNvPr id="41" name="Shape 38"/>
          <p:cNvSpPr/>
          <p:nvPr/>
        </p:nvSpPr>
        <p:spPr>
          <a:xfrm>
            <a:off x="7993685" y="2578608"/>
            <a:ext cx="64008" cy="731520"/>
          </a:xfrm>
          <a:prstGeom prst="rect">
            <a:avLst/>
          </a:prstGeom>
          <a:solidFill>
            <a:srgbClr val="D8CFC4"/>
          </a:solidFill>
          <a:ln w="12700">
            <a:solidFill>
              <a:srgbClr val="D8CFC4"/>
            </a:solidFill>
            <a:prstDash val="solid"/>
          </a:ln>
        </p:spPr>
      </p:sp>
      <p:sp>
        <p:nvSpPr>
          <p:cNvPr id="42" name="Text 39"/>
          <p:cNvSpPr txBox="1"/>
          <p:nvPr/>
        </p:nvSpPr>
        <p:spPr>
          <a:xfrm>
            <a:off x="8231429" y="2670048"/>
            <a:ext cx="2222906" cy="256032"/>
          </a:xfrm>
          <a:prstGeom prst="rect">
            <a:avLst/>
          </a:prstGeom>
          <a:noFill/>
          <a:ln/>
        </p:spPr>
        <p:txBody>
          <a:bodyPr wrap="square" lIns="0" tIns="0" rIns="0" bIns="0" rtlCol="0" anchor="t"/>
          <a:lstStyle/>
          <a:p>
            <a:pPr algn="l" indent="0" marL="0">
              <a:buNone/>
            </a:pPr>
            <a:r>
              <a:rPr lang="en-US" sz="1220" b="1" dirty="0">
                <a:solidFill>
                  <a:srgbClr val="52606D"/>
                </a:solidFill>
                <a:latin typeface="Aptos" pitchFamily="34" charset="0"/>
                <a:ea typeface="Aptos" pitchFamily="34" charset="-122"/>
                <a:cs typeface="Aptos" pitchFamily="34" charset="-120"/>
              </a:rPr>
              <a:t>Compatibilidad</a:t>
            </a:r>
            <a:endParaRPr lang="en-US" sz="1220" dirty="0"/>
          </a:p>
        </p:txBody>
      </p:sp>
      <p:sp>
        <p:nvSpPr>
          <p:cNvPr id="43" name="Text 40"/>
          <p:cNvSpPr txBox="1"/>
          <p:nvPr/>
        </p:nvSpPr>
        <p:spPr>
          <a:xfrm>
            <a:off x="8231429" y="296265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Convivir e intercambiar datos con otros productos</a:t>
            </a:r>
            <a:endParaRPr lang="en-US" sz="980" dirty="0"/>
          </a:p>
        </p:txBody>
      </p:sp>
      <p:sp>
        <p:nvSpPr>
          <p:cNvPr id="44" name="Shape 41"/>
          <p:cNvSpPr/>
          <p:nvPr/>
        </p:nvSpPr>
        <p:spPr>
          <a:xfrm>
            <a:off x="658368" y="3401568"/>
            <a:ext cx="3539642" cy="731520"/>
          </a:xfrm>
          <a:prstGeom prst="rect">
            <a:avLst/>
          </a:prstGeom>
          <a:solidFill>
            <a:srgbClr val="FFFFFF"/>
          </a:solidFill>
          <a:ln w="12700">
            <a:solidFill>
              <a:srgbClr val="FFFFFF"/>
            </a:solidFill>
            <a:prstDash val="solid"/>
          </a:ln>
        </p:spPr>
      </p:sp>
      <p:sp>
        <p:nvSpPr>
          <p:cNvPr id="45" name="Shape 42"/>
          <p:cNvSpPr/>
          <p:nvPr/>
        </p:nvSpPr>
        <p:spPr>
          <a:xfrm>
            <a:off x="658368" y="3401568"/>
            <a:ext cx="64008" cy="731520"/>
          </a:xfrm>
          <a:prstGeom prst="rect">
            <a:avLst/>
          </a:prstGeom>
          <a:solidFill>
            <a:srgbClr val="D8CFC4"/>
          </a:solidFill>
          <a:ln w="12700">
            <a:solidFill>
              <a:srgbClr val="D8CFC4"/>
            </a:solidFill>
            <a:prstDash val="solid"/>
          </a:ln>
        </p:spPr>
      </p:sp>
      <p:sp>
        <p:nvSpPr>
          <p:cNvPr id="46" name="Text 43"/>
          <p:cNvSpPr txBox="1"/>
          <p:nvPr/>
        </p:nvSpPr>
        <p:spPr>
          <a:xfrm>
            <a:off x="896112" y="3493008"/>
            <a:ext cx="2222906" cy="256032"/>
          </a:xfrm>
          <a:prstGeom prst="rect">
            <a:avLst/>
          </a:prstGeom>
          <a:noFill/>
          <a:ln/>
        </p:spPr>
        <p:txBody>
          <a:bodyPr wrap="square" lIns="0" tIns="0" rIns="0" bIns="0" rtlCol="0" anchor="t"/>
          <a:lstStyle/>
          <a:p>
            <a:pPr algn="l" indent="0" marL="0">
              <a:buNone/>
            </a:pPr>
            <a:r>
              <a:rPr lang="en-US" sz="1220" b="1" dirty="0">
                <a:solidFill>
                  <a:srgbClr val="52606D"/>
                </a:solidFill>
                <a:latin typeface="Aptos" pitchFamily="34" charset="0"/>
                <a:ea typeface="Aptos" pitchFamily="34" charset="-122"/>
                <a:cs typeface="Aptos" pitchFamily="34" charset="-120"/>
              </a:rPr>
              <a:t>Fiabilidad</a:t>
            </a:r>
            <a:endParaRPr lang="en-US" sz="1220" dirty="0"/>
          </a:p>
        </p:txBody>
      </p:sp>
      <p:sp>
        <p:nvSpPr>
          <p:cNvPr id="47" name="Text 44"/>
          <p:cNvSpPr txBox="1"/>
          <p:nvPr/>
        </p:nvSpPr>
        <p:spPr>
          <a:xfrm>
            <a:off x="896112" y="378561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Funcionar sin fallar en las condiciones previstas</a:t>
            </a:r>
            <a:endParaRPr lang="en-US" sz="980" dirty="0"/>
          </a:p>
        </p:txBody>
      </p:sp>
      <p:sp>
        <p:nvSpPr>
          <p:cNvPr id="48" name="Shape 45"/>
          <p:cNvSpPr/>
          <p:nvPr/>
        </p:nvSpPr>
        <p:spPr>
          <a:xfrm>
            <a:off x="4326026" y="3401568"/>
            <a:ext cx="3539642" cy="731520"/>
          </a:xfrm>
          <a:prstGeom prst="rect">
            <a:avLst/>
          </a:prstGeom>
          <a:solidFill>
            <a:srgbClr val="FFFFFF"/>
          </a:solidFill>
          <a:ln w="12700">
            <a:solidFill>
              <a:srgbClr val="FFFFFF"/>
            </a:solidFill>
            <a:prstDash val="solid"/>
          </a:ln>
        </p:spPr>
      </p:sp>
      <p:sp>
        <p:nvSpPr>
          <p:cNvPr id="49" name="Shape 46"/>
          <p:cNvSpPr/>
          <p:nvPr/>
        </p:nvSpPr>
        <p:spPr>
          <a:xfrm>
            <a:off x="4326026" y="3401568"/>
            <a:ext cx="64008" cy="731520"/>
          </a:xfrm>
          <a:prstGeom prst="rect">
            <a:avLst/>
          </a:prstGeom>
          <a:solidFill>
            <a:srgbClr val="D8CFC4"/>
          </a:solidFill>
          <a:ln w="12700">
            <a:solidFill>
              <a:srgbClr val="D8CFC4"/>
            </a:solidFill>
            <a:prstDash val="solid"/>
          </a:ln>
        </p:spPr>
      </p:sp>
      <p:sp>
        <p:nvSpPr>
          <p:cNvPr id="50" name="Text 47"/>
          <p:cNvSpPr txBox="1"/>
          <p:nvPr/>
        </p:nvSpPr>
        <p:spPr>
          <a:xfrm>
            <a:off x="4563770" y="3493008"/>
            <a:ext cx="2222906" cy="256032"/>
          </a:xfrm>
          <a:prstGeom prst="rect">
            <a:avLst/>
          </a:prstGeom>
          <a:noFill/>
          <a:ln/>
        </p:spPr>
        <p:txBody>
          <a:bodyPr wrap="square" lIns="0" tIns="0" rIns="0" bIns="0" rtlCol="0" anchor="t"/>
          <a:lstStyle/>
          <a:p>
            <a:pPr algn="l" indent="0" marL="0">
              <a:buNone/>
            </a:pPr>
            <a:r>
              <a:rPr lang="en-US" sz="1220" b="1" dirty="0">
                <a:solidFill>
                  <a:srgbClr val="52606D"/>
                </a:solidFill>
                <a:latin typeface="Aptos" pitchFamily="34" charset="0"/>
                <a:ea typeface="Aptos" pitchFamily="34" charset="-122"/>
                <a:cs typeface="Aptos" pitchFamily="34" charset="-120"/>
              </a:rPr>
              <a:t>Mantenibilidad</a:t>
            </a:r>
            <a:endParaRPr lang="en-US" sz="1220" dirty="0"/>
          </a:p>
        </p:txBody>
      </p:sp>
      <p:sp>
        <p:nvSpPr>
          <p:cNvPr id="51" name="Text 48"/>
          <p:cNvSpPr txBox="1"/>
          <p:nvPr/>
        </p:nvSpPr>
        <p:spPr>
          <a:xfrm>
            <a:off x="4563770" y="378561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Qué tan fácil es modificarlo</a:t>
            </a:r>
            <a:endParaRPr lang="en-US" sz="980" dirty="0"/>
          </a:p>
        </p:txBody>
      </p:sp>
      <p:sp>
        <p:nvSpPr>
          <p:cNvPr id="52" name="Shape 49"/>
          <p:cNvSpPr/>
          <p:nvPr/>
        </p:nvSpPr>
        <p:spPr>
          <a:xfrm>
            <a:off x="7993685" y="3401568"/>
            <a:ext cx="3539642" cy="731520"/>
          </a:xfrm>
          <a:prstGeom prst="rect">
            <a:avLst/>
          </a:prstGeom>
          <a:solidFill>
            <a:srgbClr val="FFFFFF"/>
          </a:solidFill>
          <a:ln w="12700">
            <a:solidFill>
              <a:srgbClr val="FFFFFF"/>
            </a:solidFill>
            <a:prstDash val="solid"/>
          </a:ln>
        </p:spPr>
      </p:sp>
      <p:sp>
        <p:nvSpPr>
          <p:cNvPr id="53" name="Shape 50"/>
          <p:cNvSpPr/>
          <p:nvPr/>
        </p:nvSpPr>
        <p:spPr>
          <a:xfrm>
            <a:off x="7993685" y="3401568"/>
            <a:ext cx="64008" cy="731520"/>
          </a:xfrm>
          <a:prstGeom prst="rect">
            <a:avLst/>
          </a:prstGeom>
          <a:solidFill>
            <a:srgbClr val="D8CFC4"/>
          </a:solidFill>
          <a:ln w="12700">
            <a:solidFill>
              <a:srgbClr val="D8CFC4"/>
            </a:solidFill>
            <a:prstDash val="solid"/>
          </a:ln>
        </p:spPr>
      </p:sp>
      <p:sp>
        <p:nvSpPr>
          <p:cNvPr id="54" name="Text 51"/>
          <p:cNvSpPr txBox="1"/>
          <p:nvPr/>
        </p:nvSpPr>
        <p:spPr>
          <a:xfrm>
            <a:off x="8231429" y="3493008"/>
            <a:ext cx="2222906" cy="256032"/>
          </a:xfrm>
          <a:prstGeom prst="rect">
            <a:avLst/>
          </a:prstGeom>
          <a:noFill/>
          <a:ln/>
        </p:spPr>
        <p:txBody>
          <a:bodyPr wrap="square" lIns="0" tIns="0" rIns="0" bIns="0" rtlCol="0" anchor="t"/>
          <a:lstStyle/>
          <a:p>
            <a:pPr algn="l" indent="0" marL="0">
              <a:buNone/>
            </a:pPr>
            <a:r>
              <a:rPr lang="en-US" sz="1220" b="1" dirty="0">
                <a:solidFill>
                  <a:srgbClr val="52606D"/>
                </a:solidFill>
                <a:latin typeface="Aptos" pitchFamily="34" charset="0"/>
                <a:ea typeface="Aptos" pitchFamily="34" charset="-122"/>
                <a:cs typeface="Aptos" pitchFamily="34" charset="-120"/>
              </a:rPr>
              <a:t>Protección</a:t>
            </a:r>
            <a:endParaRPr lang="en-US" sz="1220" dirty="0"/>
          </a:p>
        </p:txBody>
      </p:sp>
      <p:sp>
        <p:nvSpPr>
          <p:cNvPr id="55" name="Text 52"/>
          <p:cNvSpPr txBox="1"/>
          <p:nvPr/>
        </p:nvSpPr>
        <p:spPr>
          <a:xfrm>
            <a:off x="8231429" y="3785616"/>
            <a:ext cx="3173882" cy="274320"/>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No causar daño a personas ni al entorno</a:t>
            </a:r>
            <a:endParaRPr lang="en-US" sz="980" dirty="0"/>
          </a:p>
        </p:txBody>
      </p:sp>
      <p:sp>
        <p:nvSpPr>
          <p:cNvPr id="56" name="Shape 53"/>
          <p:cNvSpPr/>
          <p:nvPr/>
        </p:nvSpPr>
        <p:spPr>
          <a:xfrm>
            <a:off x="658368" y="4279392"/>
            <a:ext cx="10874959" cy="1170432"/>
          </a:xfrm>
          <a:prstGeom prst="rect">
            <a:avLst/>
          </a:prstGeom>
          <a:solidFill>
            <a:srgbClr val="EDE6DA"/>
          </a:solidFill>
          <a:ln w="12700">
            <a:solidFill>
              <a:srgbClr val="EDE6DA"/>
            </a:solidFill>
            <a:prstDash val="solid"/>
          </a:ln>
        </p:spPr>
      </p:sp>
      <p:sp>
        <p:nvSpPr>
          <p:cNvPr id="57" name="Shape 54"/>
          <p:cNvSpPr/>
          <p:nvPr/>
        </p:nvSpPr>
        <p:spPr>
          <a:xfrm>
            <a:off x="658368" y="4279392"/>
            <a:ext cx="54864" cy="1170432"/>
          </a:xfrm>
          <a:prstGeom prst="rect">
            <a:avLst/>
          </a:prstGeom>
          <a:solidFill>
            <a:srgbClr val="102A43"/>
          </a:solidFill>
          <a:ln w="12700">
            <a:solidFill>
              <a:srgbClr val="102A43"/>
            </a:solidFill>
            <a:prstDash val="solid"/>
          </a:ln>
        </p:spPr>
      </p:sp>
      <p:sp>
        <p:nvSpPr>
          <p:cNvPr id="58" name="Text 55"/>
          <p:cNvSpPr txBox="1"/>
          <p:nvPr/>
        </p:nvSpPr>
        <p:spPr>
          <a:xfrm>
            <a:off x="914400" y="4407408"/>
            <a:ext cx="10362895" cy="731520"/>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«La usabilidad y la portabilidad fueron reemplazadas por la capacidad de interacción y la flexibilidad. La inclusividad y la autodescriptividad, la resistencia y la escalabilidad se agregaron como subcaracterísticas de la capacidad de interacción, la seguridad y la flexibilidad.»</a:t>
            </a:r>
            <a:endParaRPr lang="en-US" sz="1180" dirty="0"/>
          </a:p>
        </p:txBody>
      </p:sp>
      <p:sp>
        <p:nvSpPr>
          <p:cNvPr id="59" name="Text 56"/>
          <p:cNvSpPr txBox="1"/>
          <p:nvPr/>
        </p:nvSpPr>
        <p:spPr>
          <a:xfrm>
            <a:off x="914400" y="5175504"/>
            <a:ext cx="103628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ISO/IEC 25010:2023, prólogo · traducción del original en inglés</a:t>
            </a:r>
            <a:endParaRPr lang="en-US" sz="900" dirty="0"/>
          </a:p>
        </p:txBody>
      </p:sp>
      <p:sp>
        <p:nvSpPr>
          <p:cNvPr id="60" name="Shape 57"/>
          <p:cNvSpPr/>
          <p:nvPr/>
        </p:nvSpPr>
        <p:spPr>
          <a:xfrm>
            <a:off x="658368" y="5650992"/>
            <a:ext cx="10874959" cy="548640"/>
          </a:xfrm>
          <a:prstGeom prst="rect">
            <a:avLst/>
          </a:prstGeom>
          <a:solidFill>
            <a:srgbClr val="102A43"/>
          </a:solidFill>
          <a:ln w="12700">
            <a:solidFill>
              <a:srgbClr val="102A43"/>
            </a:solidFill>
            <a:prstDash val="solid"/>
          </a:ln>
        </p:spPr>
      </p:sp>
      <p:sp>
        <p:nvSpPr>
          <p:cNvPr id="61" name="Text 5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Quien escribe un requisito no funcional necesita saber en qué característica cae.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MAPA DE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135 minutos, de 11:00 a 13:15</a:t>
            </a:r>
            <a:endParaRPr lang="en-US" sz="3000" dirty="0"/>
          </a:p>
        </p:txBody>
      </p:sp>
      <p:sp>
        <p:nvSpPr>
          <p:cNvPr id="10" name="Shape 7"/>
          <p:cNvSpPr/>
          <p:nvPr/>
        </p:nvSpPr>
        <p:spPr>
          <a:xfrm>
            <a:off x="658368" y="2103120"/>
            <a:ext cx="768977" cy="310896"/>
          </a:xfrm>
          <a:prstGeom prst="rect">
            <a:avLst/>
          </a:prstGeom>
          <a:solidFill>
            <a:srgbClr val="52606D"/>
          </a:solidFill>
          <a:ln w="12700">
            <a:solidFill>
              <a:srgbClr val="52606D"/>
            </a:solidFill>
            <a:prstDash val="solid"/>
          </a:ln>
        </p:spPr>
      </p:sp>
      <p:sp>
        <p:nvSpPr>
          <p:cNvPr id="11" name="Text 8"/>
          <p:cNvSpPr txBox="1"/>
          <p:nvPr/>
        </p:nvSpPr>
        <p:spPr>
          <a:xfrm>
            <a:off x="658368"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Encuadre · 10</a:t>
            </a:r>
            <a:endParaRPr lang="en-US" sz="840" dirty="0"/>
          </a:p>
        </p:txBody>
      </p:sp>
      <p:sp>
        <p:nvSpPr>
          <p:cNvPr id="12" name="Text 9"/>
          <p:cNvSpPr txBox="1"/>
          <p:nvPr/>
        </p:nvSpPr>
        <p:spPr>
          <a:xfrm>
            <a:off x="640080"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11:00</a:t>
            </a:r>
            <a:endParaRPr lang="en-US" sz="860" dirty="0"/>
          </a:p>
        </p:txBody>
      </p:sp>
      <p:sp>
        <p:nvSpPr>
          <p:cNvPr id="13" name="Shape 10"/>
          <p:cNvSpPr/>
          <p:nvPr/>
        </p:nvSpPr>
        <p:spPr>
          <a:xfrm>
            <a:off x="1463921" y="2103120"/>
            <a:ext cx="2380082" cy="566928"/>
          </a:xfrm>
          <a:prstGeom prst="rect">
            <a:avLst/>
          </a:prstGeom>
          <a:solidFill>
            <a:srgbClr val="D62027"/>
          </a:solidFill>
          <a:ln w="12700">
            <a:solidFill>
              <a:srgbClr val="D62027"/>
            </a:solidFill>
            <a:prstDash val="solid"/>
          </a:ln>
        </p:spPr>
      </p:sp>
      <p:sp>
        <p:nvSpPr>
          <p:cNvPr id="14" name="Text 11"/>
          <p:cNvSpPr txBox="1"/>
          <p:nvPr/>
        </p:nvSpPr>
        <p:spPr>
          <a:xfrm>
            <a:off x="1591937" y="2212848"/>
            <a:ext cx="2142338"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MEDIR</a:t>
            </a:r>
            <a:endParaRPr lang="en-US" sz="1200" dirty="0"/>
          </a:p>
        </p:txBody>
      </p:sp>
      <p:sp>
        <p:nvSpPr>
          <p:cNvPr id="15" name="Text 12"/>
          <p:cNvSpPr txBox="1"/>
          <p:nvPr/>
        </p:nvSpPr>
        <p:spPr>
          <a:xfrm>
            <a:off x="1591937" y="2432304"/>
            <a:ext cx="2142338"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30 min</a:t>
            </a:r>
            <a:endParaRPr lang="en-US" sz="940" dirty="0"/>
          </a:p>
        </p:txBody>
      </p:sp>
      <p:sp>
        <p:nvSpPr>
          <p:cNvPr id="16" name="Shape 13"/>
          <p:cNvSpPr/>
          <p:nvPr/>
        </p:nvSpPr>
        <p:spPr>
          <a:xfrm>
            <a:off x="1591937" y="2834640"/>
            <a:ext cx="2124050" cy="0"/>
          </a:xfrm>
          <a:prstGeom prst="line">
            <a:avLst/>
          </a:prstGeom>
          <a:noFill/>
          <a:ln w="12700">
            <a:solidFill>
              <a:srgbClr val="D62027"/>
            </a:solidFill>
            <a:prstDash val="solid"/>
            <a:headEnd type="none"/>
            <a:tailEnd type="none"/>
          </a:ln>
        </p:spPr>
      </p:sp>
      <p:sp>
        <p:nvSpPr>
          <p:cNvPr id="17" name="Text 14"/>
          <p:cNvSpPr txBox="1"/>
          <p:nvPr/>
        </p:nvSpPr>
        <p:spPr>
          <a:xfrm>
            <a:off x="1591937" y="2926080"/>
            <a:ext cx="2142338"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Cuánto aguanta: carga, estrés y la doble reserva</a:t>
            </a:r>
            <a:endParaRPr lang="en-US" sz="1100" dirty="0"/>
          </a:p>
        </p:txBody>
      </p:sp>
      <p:sp>
        <p:nvSpPr>
          <p:cNvPr id="18" name="Text 15"/>
          <p:cNvSpPr txBox="1"/>
          <p:nvPr/>
        </p:nvSpPr>
        <p:spPr>
          <a:xfrm>
            <a:off x="1445633"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11:10</a:t>
            </a:r>
            <a:endParaRPr lang="en-US" sz="860" dirty="0"/>
          </a:p>
        </p:txBody>
      </p:sp>
      <p:sp>
        <p:nvSpPr>
          <p:cNvPr id="19" name="Shape 16"/>
          <p:cNvSpPr/>
          <p:nvPr/>
        </p:nvSpPr>
        <p:spPr>
          <a:xfrm>
            <a:off x="3880578" y="2103120"/>
            <a:ext cx="2380082" cy="566928"/>
          </a:xfrm>
          <a:prstGeom prst="rect">
            <a:avLst/>
          </a:prstGeom>
          <a:solidFill>
            <a:srgbClr val="8A6A12"/>
          </a:solidFill>
          <a:ln w="12700">
            <a:solidFill>
              <a:srgbClr val="8A6A12"/>
            </a:solidFill>
            <a:prstDash val="solid"/>
          </a:ln>
        </p:spPr>
      </p:sp>
      <p:sp>
        <p:nvSpPr>
          <p:cNvPr id="20" name="Text 17"/>
          <p:cNvSpPr txBox="1"/>
          <p:nvPr/>
        </p:nvSpPr>
        <p:spPr>
          <a:xfrm>
            <a:off x="4008594" y="2212848"/>
            <a:ext cx="2142338"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ATACAR</a:t>
            </a:r>
            <a:endParaRPr lang="en-US" sz="1200" dirty="0"/>
          </a:p>
        </p:txBody>
      </p:sp>
      <p:sp>
        <p:nvSpPr>
          <p:cNvPr id="21" name="Text 18"/>
          <p:cNvSpPr txBox="1"/>
          <p:nvPr/>
        </p:nvSpPr>
        <p:spPr>
          <a:xfrm>
            <a:off x="4008594" y="2432304"/>
            <a:ext cx="2142338"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30 min</a:t>
            </a:r>
            <a:endParaRPr lang="en-US" sz="940" dirty="0"/>
          </a:p>
        </p:txBody>
      </p:sp>
      <p:sp>
        <p:nvSpPr>
          <p:cNvPr id="22" name="Shape 19"/>
          <p:cNvSpPr/>
          <p:nvPr/>
        </p:nvSpPr>
        <p:spPr>
          <a:xfrm>
            <a:off x="4008594" y="2834640"/>
            <a:ext cx="2124050" cy="0"/>
          </a:xfrm>
          <a:prstGeom prst="line">
            <a:avLst/>
          </a:prstGeom>
          <a:noFill/>
          <a:ln w="12700">
            <a:solidFill>
              <a:srgbClr val="8A6A12"/>
            </a:solidFill>
            <a:prstDash val="solid"/>
            <a:headEnd type="none"/>
            <a:tailEnd type="none"/>
          </a:ln>
        </p:spPr>
      </p:sp>
      <p:sp>
        <p:nvSpPr>
          <p:cNvPr id="23" name="Text 20"/>
          <p:cNvSpPr txBox="1"/>
          <p:nvPr/>
        </p:nvSpPr>
        <p:spPr>
          <a:xfrm>
            <a:off x="4008594" y="2926080"/>
            <a:ext cx="2142338"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A quién deja entrar: inyección, suplantación y la ley</a:t>
            </a:r>
            <a:endParaRPr lang="en-US" sz="1100" dirty="0"/>
          </a:p>
        </p:txBody>
      </p:sp>
      <p:sp>
        <p:nvSpPr>
          <p:cNvPr id="24" name="Text 21"/>
          <p:cNvSpPr txBox="1"/>
          <p:nvPr/>
        </p:nvSpPr>
        <p:spPr>
          <a:xfrm>
            <a:off x="3862290"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11:40</a:t>
            </a:r>
            <a:endParaRPr lang="en-US" sz="860" dirty="0"/>
          </a:p>
        </p:txBody>
      </p:sp>
      <p:sp>
        <p:nvSpPr>
          <p:cNvPr id="25" name="Shape 22"/>
          <p:cNvSpPr/>
          <p:nvPr/>
        </p:nvSpPr>
        <p:spPr>
          <a:xfrm>
            <a:off x="6297236" y="2103120"/>
            <a:ext cx="768977" cy="310896"/>
          </a:xfrm>
          <a:prstGeom prst="rect">
            <a:avLst/>
          </a:prstGeom>
          <a:solidFill>
            <a:srgbClr val="D8CFC4"/>
          </a:solidFill>
          <a:ln w="12700">
            <a:solidFill>
              <a:srgbClr val="D8CFC4"/>
            </a:solidFill>
            <a:prstDash val="solid"/>
          </a:ln>
        </p:spPr>
      </p:sp>
      <p:sp>
        <p:nvSpPr>
          <p:cNvPr id="26" name="Text 23"/>
          <p:cNvSpPr txBox="1"/>
          <p:nvPr/>
        </p:nvSpPr>
        <p:spPr>
          <a:xfrm>
            <a:off x="6297236"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Pausa · 10</a:t>
            </a:r>
            <a:endParaRPr lang="en-US" sz="840" dirty="0"/>
          </a:p>
        </p:txBody>
      </p:sp>
      <p:sp>
        <p:nvSpPr>
          <p:cNvPr id="27" name="Text 24"/>
          <p:cNvSpPr txBox="1"/>
          <p:nvPr/>
        </p:nvSpPr>
        <p:spPr>
          <a:xfrm>
            <a:off x="6278948"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12:10</a:t>
            </a:r>
            <a:endParaRPr lang="en-US" sz="860" dirty="0"/>
          </a:p>
        </p:txBody>
      </p:sp>
      <p:sp>
        <p:nvSpPr>
          <p:cNvPr id="28" name="Shape 25"/>
          <p:cNvSpPr/>
          <p:nvPr/>
        </p:nvSpPr>
        <p:spPr>
          <a:xfrm>
            <a:off x="7102788" y="2103120"/>
            <a:ext cx="1977305" cy="566928"/>
          </a:xfrm>
          <a:prstGeom prst="rect">
            <a:avLst/>
          </a:prstGeom>
          <a:solidFill>
            <a:srgbClr val="102A43"/>
          </a:solidFill>
          <a:ln w="12700">
            <a:solidFill>
              <a:srgbClr val="102A43"/>
            </a:solidFill>
            <a:prstDash val="solid"/>
          </a:ln>
        </p:spPr>
      </p:sp>
      <p:sp>
        <p:nvSpPr>
          <p:cNvPr id="29" name="Text 26"/>
          <p:cNvSpPr txBox="1"/>
          <p:nvPr/>
        </p:nvSpPr>
        <p:spPr>
          <a:xfrm>
            <a:off x="7230804" y="2212848"/>
            <a:ext cx="1739561"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INCLUIR</a:t>
            </a:r>
            <a:endParaRPr lang="en-US" sz="1200" dirty="0"/>
          </a:p>
        </p:txBody>
      </p:sp>
      <p:sp>
        <p:nvSpPr>
          <p:cNvPr id="30" name="Text 27"/>
          <p:cNvSpPr txBox="1"/>
          <p:nvPr/>
        </p:nvSpPr>
        <p:spPr>
          <a:xfrm>
            <a:off x="7230804" y="2432304"/>
            <a:ext cx="1739561"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25 min</a:t>
            </a:r>
            <a:endParaRPr lang="en-US" sz="940" dirty="0"/>
          </a:p>
        </p:txBody>
      </p:sp>
      <p:sp>
        <p:nvSpPr>
          <p:cNvPr id="31" name="Shape 28"/>
          <p:cNvSpPr/>
          <p:nvPr/>
        </p:nvSpPr>
        <p:spPr>
          <a:xfrm>
            <a:off x="7230804" y="2834640"/>
            <a:ext cx="1721273" cy="0"/>
          </a:xfrm>
          <a:prstGeom prst="line">
            <a:avLst/>
          </a:prstGeom>
          <a:noFill/>
          <a:ln w="12700">
            <a:solidFill>
              <a:srgbClr val="102A43"/>
            </a:solidFill>
            <a:prstDash val="solid"/>
            <a:headEnd type="none"/>
            <a:tailEnd type="none"/>
          </a:ln>
        </p:spPr>
      </p:sp>
      <p:sp>
        <p:nvSpPr>
          <p:cNvPr id="32" name="Text 29"/>
          <p:cNvSpPr txBox="1"/>
          <p:nvPr/>
        </p:nvSpPr>
        <p:spPr>
          <a:xfrm>
            <a:off x="7230804" y="2926080"/>
            <a:ext cx="1739561"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Para quién sirve y dónde corre</a:t>
            </a:r>
            <a:endParaRPr lang="en-US" sz="1100" dirty="0"/>
          </a:p>
        </p:txBody>
      </p:sp>
      <p:sp>
        <p:nvSpPr>
          <p:cNvPr id="33" name="Text 30"/>
          <p:cNvSpPr txBox="1"/>
          <p:nvPr/>
        </p:nvSpPr>
        <p:spPr>
          <a:xfrm>
            <a:off x="7084500"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12:20</a:t>
            </a:r>
            <a:endParaRPr lang="en-US" sz="860" dirty="0"/>
          </a:p>
        </p:txBody>
      </p:sp>
      <p:sp>
        <p:nvSpPr>
          <p:cNvPr id="34" name="Shape 31"/>
          <p:cNvSpPr/>
          <p:nvPr/>
        </p:nvSpPr>
        <p:spPr>
          <a:xfrm>
            <a:off x="9116670" y="2103120"/>
            <a:ext cx="1574529" cy="566928"/>
          </a:xfrm>
          <a:prstGeom prst="rect">
            <a:avLst/>
          </a:prstGeom>
          <a:solidFill>
            <a:srgbClr val="2E7D4F"/>
          </a:solidFill>
          <a:ln w="12700">
            <a:solidFill>
              <a:srgbClr val="2E7D4F"/>
            </a:solidFill>
            <a:prstDash val="solid"/>
          </a:ln>
        </p:spPr>
      </p:sp>
      <p:sp>
        <p:nvSpPr>
          <p:cNvPr id="35" name="Text 32"/>
          <p:cNvSpPr txBox="1"/>
          <p:nvPr/>
        </p:nvSpPr>
        <p:spPr>
          <a:xfrm>
            <a:off x="9244686" y="2212848"/>
            <a:ext cx="1336785"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EXIGIR</a:t>
            </a:r>
            <a:endParaRPr lang="en-US" sz="1200" dirty="0"/>
          </a:p>
        </p:txBody>
      </p:sp>
      <p:sp>
        <p:nvSpPr>
          <p:cNvPr id="36" name="Text 33"/>
          <p:cNvSpPr txBox="1"/>
          <p:nvPr/>
        </p:nvSpPr>
        <p:spPr>
          <a:xfrm>
            <a:off x="9244686" y="2432304"/>
            <a:ext cx="1336785"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20 min</a:t>
            </a:r>
            <a:endParaRPr lang="en-US" sz="940" dirty="0"/>
          </a:p>
        </p:txBody>
      </p:sp>
      <p:sp>
        <p:nvSpPr>
          <p:cNvPr id="37" name="Shape 34"/>
          <p:cNvSpPr/>
          <p:nvPr/>
        </p:nvSpPr>
        <p:spPr>
          <a:xfrm>
            <a:off x="9244686" y="2834640"/>
            <a:ext cx="1318497" cy="0"/>
          </a:xfrm>
          <a:prstGeom prst="line">
            <a:avLst/>
          </a:prstGeom>
          <a:noFill/>
          <a:ln w="12700">
            <a:solidFill>
              <a:srgbClr val="2E7D4F"/>
            </a:solidFill>
            <a:prstDash val="solid"/>
            <a:headEnd type="none"/>
            <a:tailEnd type="none"/>
          </a:ln>
        </p:spPr>
      </p:sp>
      <p:sp>
        <p:nvSpPr>
          <p:cNvPr id="38" name="Text 35"/>
          <p:cNvSpPr txBox="1"/>
          <p:nvPr/>
        </p:nvSpPr>
        <p:spPr>
          <a:xfrm>
            <a:off x="9244686" y="2926080"/>
            <a:ext cx="1336785"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La auditoría de un agente, verificada</a:t>
            </a:r>
            <a:endParaRPr lang="en-US" sz="1100" dirty="0"/>
          </a:p>
        </p:txBody>
      </p:sp>
      <p:sp>
        <p:nvSpPr>
          <p:cNvPr id="39" name="Text 36"/>
          <p:cNvSpPr txBox="1"/>
          <p:nvPr/>
        </p:nvSpPr>
        <p:spPr>
          <a:xfrm>
            <a:off x="9098382"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12:45</a:t>
            </a:r>
            <a:endParaRPr lang="en-US" sz="860" dirty="0"/>
          </a:p>
        </p:txBody>
      </p:sp>
      <p:sp>
        <p:nvSpPr>
          <p:cNvPr id="40" name="Shape 37"/>
          <p:cNvSpPr/>
          <p:nvPr/>
        </p:nvSpPr>
        <p:spPr>
          <a:xfrm>
            <a:off x="10727775" y="2103120"/>
            <a:ext cx="768977" cy="310896"/>
          </a:xfrm>
          <a:prstGeom prst="rect">
            <a:avLst/>
          </a:prstGeom>
          <a:solidFill>
            <a:srgbClr val="52606D"/>
          </a:solidFill>
          <a:ln w="12700">
            <a:solidFill>
              <a:srgbClr val="52606D"/>
            </a:solidFill>
            <a:prstDash val="solid"/>
          </a:ln>
        </p:spPr>
      </p:sp>
      <p:sp>
        <p:nvSpPr>
          <p:cNvPr id="41" name="Text 38"/>
          <p:cNvSpPr txBox="1"/>
          <p:nvPr/>
        </p:nvSpPr>
        <p:spPr>
          <a:xfrm>
            <a:off x="10727775"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Cierre · 10</a:t>
            </a:r>
            <a:endParaRPr lang="en-US" sz="840" dirty="0"/>
          </a:p>
        </p:txBody>
      </p:sp>
      <p:sp>
        <p:nvSpPr>
          <p:cNvPr id="42" name="Text 39"/>
          <p:cNvSpPr txBox="1"/>
          <p:nvPr/>
        </p:nvSpPr>
        <p:spPr>
          <a:xfrm>
            <a:off x="10709487"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13:05</a:t>
            </a:r>
            <a:endParaRPr lang="en-US" sz="860" dirty="0"/>
          </a:p>
        </p:txBody>
      </p:sp>
      <p:sp>
        <p:nvSpPr>
          <p:cNvPr id="43" name="Text 40"/>
          <p:cNvSpPr txBox="1"/>
          <p:nvPr/>
        </p:nvSpPr>
        <p:spPr>
          <a:xfrm>
            <a:off x="11112703" y="1847088"/>
            <a:ext cx="457200" cy="182880"/>
          </a:xfrm>
          <a:prstGeom prst="rect">
            <a:avLst/>
          </a:prstGeom>
          <a:noFill/>
          <a:ln/>
        </p:spPr>
        <p:txBody>
          <a:bodyPr wrap="square" lIns="0" tIns="0" rIns="0" bIns="0" rtlCol="0" anchor="t"/>
          <a:lstStyle/>
          <a:p>
            <a:pPr algn="r" indent="0" marL="0">
              <a:buNone/>
            </a:pPr>
            <a:r>
              <a:rPr lang="en-US" sz="860" dirty="0">
                <a:solidFill>
                  <a:srgbClr val="52606D"/>
                </a:solidFill>
                <a:latin typeface="Consolas" pitchFamily="34" charset="0"/>
                <a:ea typeface="Consolas" pitchFamily="34" charset="-122"/>
                <a:cs typeface="Consolas" pitchFamily="34" charset="-120"/>
              </a:rPr>
              <a:t>13:15</a:t>
            </a:r>
            <a:endParaRPr lang="en-US" sz="860" dirty="0"/>
          </a:p>
        </p:txBody>
      </p:sp>
      <p:sp>
        <p:nvSpPr>
          <p:cNvPr id="44" name="Shape 41"/>
          <p:cNvSpPr/>
          <p:nvPr/>
        </p:nvSpPr>
        <p:spPr>
          <a:xfrm>
            <a:off x="658368" y="3931920"/>
            <a:ext cx="10874959" cy="1389888"/>
          </a:xfrm>
          <a:prstGeom prst="rect">
            <a:avLst/>
          </a:prstGeom>
          <a:solidFill>
            <a:srgbClr val="F2E7D9"/>
          </a:solidFill>
          <a:ln w="12700">
            <a:solidFill>
              <a:srgbClr val="F2E7D9"/>
            </a:solidFill>
            <a:prstDash val="solid"/>
          </a:ln>
        </p:spPr>
      </p:sp>
      <p:sp>
        <p:nvSpPr>
          <p:cNvPr id="45" name="Shape 42"/>
          <p:cNvSpPr/>
          <p:nvPr/>
        </p:nvSpPr>
        <p:spPr>
          <a:xfrm>
            <a:off x="658368" y="3931920"/>
            <a:ext cx="54864" cy="1389888"/>
          </a:xfrm>
          <a:prstGeom prst="rect">
            <a:avLst/>
          </a:prstGeom>
          <a:solidFill>
            <a:srgbClr val="B3181E"/>
          </a:solidFill>
          <a:ln w="12700">
            <a:solidFill>
              <a:srgbClr val="B3181E"/>
            </a:solidFill>
            <a:prstDash val="solid"/>
          </a:ln>
        </p:spPr>
      </p:sp>
      <p:sp>
        <p:nvSpPr>
          <p:cNvPr id="46" name="Text 43"/>
          <p:cNvSpPr txBox="1"/>
          <p:nvPr/>
        </p:nvSpPr>
        <p:spPr>
          <a:xfrm>
            <a:off x="950976" y="4096512"/>
            <a:ext cx="82296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TODO CONTRA EL PROPIO PROYECTO, EN LA PROPIA MÁQUINA</a:t>
            </a:r>
            <a:endParaRPr lang="en-US" sz="960" dirty="0"/>
          </a:p>
        </p:txBody>
      </p:sp>
      <p:sp>
        <p:nvSpPr>
          <p:cNvPr id="47" name="Text 44"/>
          <p:cNvSpPr txBox="1"/>
          <p:nvPr/>
        </p:nvSpPr>
        <p:spPr>
          <a:xfrm>
            <a:off x="950976" y="4352544"/>
            <a:ext cx="10289743" cy="87782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El Laboratorio de Redes comparte una red con otros equipos. Una prueba de carga o un análisis de seguridad contra un sistema ajeno —aunque sea el de un compañero— no es una prueba: es un ataque. Hoy nada sale de tu computador.</a:t>
            </a:r>
            <a:endParaRPr lang="en-US" sz="1260" dirty="0"/>
          </a:p>
        </p:txBody>
      </p:sp>
      <p:sp>
        <p:nvSpPr>
          <p:cNvPr id="48" name="Shape 45"/>
          <p:cNvSpPr/>
          <p:nvPr/>
        </p:nvSpPr>
        <p:spPr>
          <a:xfrm>
            <a:off x="658368" y="5650992"/>
            <a:ext cx="10874959" cy="548640"/>
          </a:xfrm>
          <a:prstGeom prst="rect">
            <a:avLst/>
          </a:prstGeom>
          <a:solidFill>
            <a:srgbClr val="102A43"/>
          </a:solidFill>
          <a:ln w="12700">
            <a:solidFill>
              <a:srgbClr val="102A43"/>
            </a:solidFill>
            <a:prstDash val="solid"/>
          </a:ln>
        </p:spPr>
      </p:sp>
      <p:sp>
        <p:nvSpPr>
          <p:cNvPr id="49" name="Text 4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Se mide, se ataca, se incluye, y se exige un umbral para cada afirmación.</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buNone/>
            </a:pPr>
            <a:r>
              <a:rPr lang="en-US" sz="4400" b="1" dirty="0">
                <a:solidFill>
                  <a:srgbClr val="FFFFFF"/>
                </a:solidFill>
                <a:latin typeface="Aptos Display" pitchFamily="34" charset="0"/>
                <a:ea typeface="Aptos Display" pitchFamily="34" charset="-122"/>
                <a:cs typeface="Aptos Display" pitchFamily="34" charset="-120"/>
              </a:rPr>
              <a:t>Cuánto aguanta</a:t>
            </a:r>
            <a:endParaRPr lang="en-US" sz="44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Una prueba de carga con el umbral fijado antes de medir, el punto donde el sistema deja de cumplir, y un defecto que ninguna medición de tiempo podía ver.</a:t>
            </a:r>
            <a:endParaRPr lang="en-US" sz="1500" dirty="0"/>
          </a:p>
        </p:txBody>
      </p:sp>
      <p:sp>
        <p:nvSpPr>
          <p:cNvPr id="12" name="Shape 9"/>
          <p:cNvSpPr/>
          <p:nvPr/>
        </p:nvSpPr>
        <p:spPr>
          <a:xfrm>
            <a:off x="658368" y="4901184"/>
            <a:ext cx="2622728" cy="786384"/>
          </a:xfrm>
          <a:prstGeom prst="rect">
            <a:avLst/>
          </a:prstGeom>
          <a:solidFill>
            <a:srgbClr val="D62027"/>
          </a:solidFill>
          <a:ln w="12700">
            <a:solidFill>
              <a:srgbClr val="D6202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MEDIR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Cuánto aguanta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ATACAR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A quién deja entrar</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INCLUIR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Para quién sirve y dónde corre</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EXIGIR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 umbral para cada afirmación</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NORMA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umbral se fija antes de medir</a:t>
            </a:r>
            <a:endParaRPr lang="en-US" sz="3000" dirty="0"/>
          </a:p>
        </p:txBody>
      </p:sp>
      <p:sp>
        <p:nvSpPr>
          <p:cNvPr id="10" name="Shape 7"/>
          <p:cNvSpPr/>
          <p:nvPr/>
        </p:nvSpPr>
        <p:spPr>
          <a:xfrm>
            <a:off x="658368" y="1737360"/>
            <a:ext cx="10874959" cy="914400"/>
          </a:xfrm>
          <a:prstGeom prst="rect">
            <a:avLst/>
          </a:prstGeom>
          <a:solidFill>
            <a:srgbClr val="EDE6DA"/>
          </a:solidFill>
          <a:ln w="12700">
            <a:solidFill>
              <a:srgbClr val="EDE6DA"/>
            </a:solidFill>
            <a:prstDash val="solid"/>
          </a:ln>
        </p:spPr>
      </p:sp>
      <p:sp>
        <p:nvSpPr>
          <p:cNvPr id="11" name="Shape 8"/>
          <p:cNvSpPr/>
          <p:nvPr/>
        </p:nvSpPr>
        <p:spPr>
          <a:xfrm>
            <a:off x="658368" y="1737360"/>
            <a:ext cx="54864" cy="914400"/>
          </a:xfrm>
          <a:prstGeom prst="rect">
            <a:avLst/>
          </a:prstGeom>
          <a:solidFill>
            <a:srgbClr val="102A43"/>
          </a:solidFill>
          <a:ln w="12700">
            <a:solidFill>
              <a:srgbClr val="102A43"/>
            </a:solidFill>
            <a:prstDash val="solid"/>
          </a:ln>
        </p:spPr>
      </p:sp>
      <p:sp>
        <p:nvSpPr>
          <p:cNvPr id="12" name="Text 9"/>
          <p:cNvSpPr txBox="1"/>
          <p:nvPr/>
        </p:nvSpPr>
        <p:spPr>
          <a:xfrm>
            <a:off x="914400" y="1865376"/>
            <a:ext cx="10362895" cy="475488"/>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«Eficiencia de desempeño: capacidad de un producto de cumplir sus funciones dentro de parámetros especificados de tiempo y de rendimiento, y de usar los recursos de forma eficiente, en condiciones especificadas.»</a:t>
            </a:r>
            <a:endParaRPr lang="en-US" sz="1180" dirty="0"/>
          </a:p>
        </p:txBody>
      </p:sp>
      <p:sp>
        <p:nvSpPr>
          <p:cNvPr id="13" name="Text 10"/>
          <p:cNvSpPr txBox="1"/>
          <p:nvPr/>
        </p:nvSpPr>
        <p:spPr>
          <a:xfrm>
            <a:off x="914400" y="2377440"/>
            <a:ext cx="103628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ISO/IEC 25010:2023, cláusula 3.2 · traducción del original en inglés</a:t>
            </a:r>
            <a:endParaRPr lang="en-US" sz="900" dirty="0"/>
          </a:p>
        </p:txBody>
      </p:sp>
      <p:sp>
        <p:nvSpPr>
          <p:cNvPr id="14" name="Shape 11"/>
          <p:cNvSpPr/>
          <p:nvPr/>
        </p:nvSpPr>
        <p:spPr>
          <a:xfrm>
            <a:off x="658368" y="2779776"/>
            <a:ext cx="5300320" cy="786384"/>
          </a:xfrm>
          <a:prstGeom prst="rect">
            <a:avLst/>
          </a:prstGeom>
          <a:solidFill>
            <a:srgbClr val="FFFFFF"/>
          </a:solidFill>
          <a:ln w="12700">
            <a:solidFill>
              <a:srgbClr val="FFFFFF"/>
            </a:solidFill>
            <a:prstDash val="solid"/>
          </a:ln>
        </p:spPr>
      </p:sp>
      <p:sp>
        <p:nvSpPr>
          <p:cNvPr id="15" name="Shape 12"/>
          <p:cNvSpPr/>
          <p:nvPr/>
        </p:nvSpPr>
        <p:spPr>
          <a:xfrm>
            <a:off x="658368" y="2779776"/>
            <a:ext cx="54864" cy="786384"/>
          </a:xfrm>
          <a:prstGeom prst="rect">
            <a:avLst/>
          </a:prstGeom>
          <a:solidFill>
            <a:srgbClr val="102A43"/>
          </a:solidFill>
          <a:ln w="12700">
            <a:solidFill>
              <a:srgbClr val="102A43"/>
            </a:solidFill>
            <a:prstDash val="solid"/>
          </a:ln>
        </p:spPr>
      </p:sp>
      <p:sp>
        <p:nvSpPr>
          <p:cNvPr id="16" name="Text 13"/>
          <p:cNvSpPr txBox="1"/>
          <p:nvPr/>
        </p:nvSpPr>
        <p:spPr>
          <a:xfrm>
            <a:off x="877824" y="2862072"/>
            <a:ext cx="493456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COMPORTAMIENTO TEMPORAL · 3.2.1</a:t>
            </a:r>
            <a:endParaRPr lang="en-US" sz="960" dirty="0"/>
          </a:p>
        </p:txBody>
      </p:sp>
      <p:sp>
        <p:nvSpPr>
          <p:cNvPr id="17" name="Text 14"/>
          <p:cNvSpPr txBox="1"/>
          <p:nvPr/>
        </p:nvSpPr>
        <p:spPr>
          <a:xfrm>
            <a:off x="877824" y="3090672"/>
            <a:ext cx="4897984" cy="438912"/>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Que el tiempo de respuesta y el rendimiento cumplan los requisitos.</a:t>
            </a:r>
            <a:endParaRPr lang="en-US" sz="1060" dirty="0"/>
          </a:p>
        </p:txBody>
      </p:sp>
      <p:sp>
        <p:nvSpPr>
          <p:cNvPr id="18" name="Shape 15"/>
          <p:cNvSpPr/>
          <p:nvPr/>
        </p:nvSpPr>
        <p:spPr>
          <a:xfrm>
            <a:off x="6233008" y="2779776"/>
            <a:ext cx="5300320" cy="786384"/>
          </a:xfrm>
          <a:prstGeom prst="rect">
            <a:avLst/>
          </a:prstGeom>
          <a:solidFill>
            <a:srgbClr val="FFFFFF"/>
          </a:solidFill>
          <a:ln w="12700">
            <a:solidFill>
              <a:srgbClr val="FFFFFF"/>
            </a:solidFill>
            <a:prstDash val="solid"/>
          </a:ln>
        </p:spPr>
      </p:sp>
      <p:sp>
        <p:nvSpPr>
          <p:cNvPr id="19" name="Shape 16"/>
          <p:cNvSpPr/>
          <p:nvPr/>
        </p:nvSpPr>
        <p:spPr>
          <a:xfrm>
            <a:off x="6233008" y="2779776"/>
            <a:ext cx="54864" cy="786384"/>
          </a:xfrm>
          <a:prstGeom prst="rect">
            <a:avLst/>
          </a:prstGeom>
          <a:solidFill>
            <a:srgbClr val="102A43"/>
          </a:solidFill>
          <a:ln w="12700">
            <a:solidFill>
              <a:srgbClr val="102A43"/>
            </a:solidFill>
            <a:prstDash val="solid"/>
          </a:ln>
        </p:spPr>
      </p:sp>
      <p:sp>
        <p:nvSpPr>
          <p:cNvPr id="20" name="Text 17"/>
          <p:cNvSpPr txBox="1"/>
          <p:nvPr/>
        </p:nvSpPr>
        <p:spPr>
          <a:xfrm>
            <a:off x="6452464" y="2862072"/>
            <a:ext cx="493456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CAPACIDAD · 3.2.3</a:t>
            </a:r>
            <a:endParaRPr lang="en-US" sz="960" dirty="0"/>
          </a:p>
        </p:txBody>
      </p:sp>
      <p:sp>
        <p:nvSpPr>
          <p:cNvPr id="21" name="Text 18"/>
          <p:cNvSpPr txBox="1"/>
          <p:nvPr/>
        </p:nvSpPr>
        <p:spPr>
          <a:xfrm>
            <a:off x="6452464" y="3090672"/>
            <a:ext cx="4897984" cy="438912"/>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Cumplir los límites máximos de un parámetro. Su nota pone de ejemplo los usuarios concurrentes: los que lo usan al mismo tiempo.</a:t>
            </a:r>
            <a:endParaRPr lang="en-US" sz="1060" dirty="0"/>
          </a:p>
        </p:txBody>
      </p:sp>
      <p:sp>
        <p:nvSpPr>
          <p:cNvPr id="22" name="Text 19"/>
          <p:cNvSpPr txBox="1"/>
          <p:nvPr/>
        </p:nvSpPr>
        <p:spPr>
          <a:xfrm>
            <a:off x="658368" y="3712464"/>
            <a:ext cx="9144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LAS DOS DICEN «ESPECIFICADOS». ALGUIEN TIENE QUE HABERLOS ESCRITO:</a:t>
            </a:r>
            <a:endParaRPr lang="en-US" sz="960" dirty="0"/>
          </a:p>
        </p:txBody>
      </p:sp>
      <p:sp>
        <p:nvSpPr>
          <p:cNvPr id="23" name="Shape 20"/>
          <p:cNvSpPr/>
          <p:nvPr/>
        </p:nvSpPr>
        <p:spPr>
          <a:xfrm>
            <a:off x="658368" y="3986784"/>
            <a:ext cx="1828800" cy="457200"/>
          </a:xfrm>
          <a:prstGeom prst="rect">
            <a:avLst/>
          </a:prstGeom>
          <a:solidFill>
            <a:srgbClr val="1D3A57"/>
          </a:solidFill>
          <a:ln w="12700">
            <a:solidFill>
              <a:srgbClr val="1D3A57"/>
            </a:solidFill>
            <a:prstDash val="solid"/>
          </a:ln>
        </p:spPr>
      </p:sp>
      <p:sp>
        <p:nvSpPr>
          <p:cNvPr id="24" name="Text 21"/>
          <p:cNvSpPr txBox="1"/>
          <p:nvPr/>
        </p:nvSpPr>
        <p:spPr>
          <a:xfrm>
            <a:off x="841248" y="4096512"/>
            <a:ext cx="1554480" cy="237744"/>
          </a:xfrm>
          <a:prstGeom prst="rect">
            <a:avLst/>
          </a:prstGeom>
          <a:noFill/>
          <a:ln/>
        </p:spPr>
        <p:txBody>
          <a:bodyPr wrap="square" lIns="0" tIns="0" rIns="0" bIns="0" rtlCol="0" anchor="t"/>
          <a:lstStyle/>
          <a:p>
            <a:pPr algn="l" indent="0" marL="0">
              <a:buNone/>
            </a:pPr>
            <a:r>
              <a:rPr lang="en-US" sz="1040" b="1" spc="100" kern="0" dirty="0">
                <a:solidFill>
                  <a:srgbClr val="FFFFFF"/>
                </a:solidFill>
                <a:latin typeface="Aptos" pitchFamily="34" charset="0"/>
                <a:ea typeface="Aptos" pitchFamily="34" charset="-122"/>
                <a:cs typeface="Aptos" pitchFamily="34" charset="-120"/>
              </a:rPr>
              <a:t>MAGNITUD</a:t>
            </a:r>
            <a:endParaRPr lang="en-US" sz="1040" dirty="0"/>
          </a:p>
        </p:txBody>
      </p:sp>
      <p:sp>
        <p:nvSpPr>
          <p:cNvPr id="25" name="Shape 22"/>
          <p:cNvSpPr/>
          <p:nvPr/>
        </p:nvSpPr>
        <p:spPr>
          <a:xfrm>
            <a:off x="2542032" y="3986784"/>
            <a:ext cx="8991295" cy="457200"/>
          </a:xfrm>
          <a:prstGeom prst="rect">
            <a:avLst/>
          </a:prstGeom>
          <a:solidFill>
            <a:srgbClr val="FFFFFF"/>
          </a:solidFill>
          <a:ln w="12700">
            <a:solidFill>
              <a:srgbClr val="FFFFFF"/>
            </a:solidFill>
            <a:prstDash val="solid"/>
          </a:ln>
        </p:spPr>
      </p:sp>
      <p:sp>
        <p:nvSpPr>
          <p:cNvPr id="26" name="Text 23"/>
          <p:cNvSpPr txBox="1"/>
          <p:nvPr/>
        </p:nvSpPr>
        <p:spPr>
          <a:xfrm>
            <a:off x="2761488" y="4078224"/>
            <a:ext cx="8588959" cy="274320"/>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Tiempo de respuesta de la API y proporción de solicitudes fallidas</a:t>
            </a:r>
            <a:endParaRPr lang="en-US" sz="1240" dirty="0"/>
          </a:p>
        </p:txBody>
      </p:sp>
      <p:sp>
        <p:nvSpPr>
          <p:cNvPr id="27" name="Shape 24"/>
          <p:cNvSpPr/>
          <p:nvPr/>
        </p:nvSpPr>
        <p:spPr>
          <a:xfrm>
            <a:off x="658368" y="4498848"/>
            <a:ext cx="1828800" cy="457200"/>
          </a:xfrm>
          <a:prstGeom prst="rect">
            <a:avLst/>
          </a:prstGeom>
          <a:solidFill>
            <a:srgbClr val="1D3A57"/>
          </a:solidFill>
          <a:ln w="12700">
            <a:solidFill>
              <a:srgbClr val="1D3A57"/>
            </a:solidFill>
            <a:prstDash val="solid"/>
          </a:ln>
        </p:spPr>
      </p:sp>
      <p:sp>
        <p:nvSpPr>
          <p:cNvPr id="28" name="Text 25"/>
          <p:cNvSpPr txBox="1"/>
          <p:nvPr/>
        </p:nvSpPr>
        <p:spPr>
          <a:xfrm>
            <a:off x="841248" y="4608576"/>
            <a:ext cx="1554480" cy="237744"/>
          </a:xfrm>
          <a:prstGeom prst="rect">
            <a:avLst/>
          </a:prstGeom>
          <a:noFill/>
          <a:ln/>
        </p:spPr>
        <p:txBody>
          <a:bodyPr wrap="square" lIns="0" tIns="0" rIns="0" bIns="0" rtlCol="0" anchor="t"/>
          <a:lstStyle/>
          <a:p>
            <a:pPr algn="l" indent="0" marL="0">
              <a:buNone/>
            </a:pPr>
            <a:r>
              <a:rPr lang="en-US" sz="1040" b="1" spc="100" kern="0" dirty="0">
                <a:solidFill>
                  <a:srgbClr val="FFFFFF"/>
                </a:solidFill>
                <a:latin typeface="Aptos" pitchFamily="34" charset="0"/>
                <a:ea typeface="Aptos" pitchFamily="34" charset="-122"/>
                <a:cs typeface="Aptos" pitchFamily="34" charset="-120"/>
              </a:rPr>
              <a:t>MÉTODO</a:t>
            </a:r>
            <a:endParaRPr lang="en-US" sz="1040" dirty="0"/>
          </a:p>
        </p:txBody>
      </p:sp>
      <p:sp>
        <p:nvSpPr>
          <p:cNvPr id="29" name="Shape 26"/>
          <p:cNvSpPr/>
          <p:nvPr/>
        </p:nvSpPr>
        <p:spPr>
          <a:xfrm>
            <a:off x="2542032" y="4498848"/>
            <a:ext cx="8991295" cy="457200"/>
          </a:xfrm>
          <a:prstGeom prst="rect">
            <a:avLst/>
          </a:prstGeom>
          <a:solidFill>
            <a:srgbClr val="FFFFFF"/>
          </a:solidFill>
          <a:ln w="12700">
            <a:solidFill>
              <a:srgbClr val="FFFFFF"/>
            </a:solidFill>
            <a:prstDash val="solid"/>
          </a:ln>
        </p:spPr>
      </p:sp>
      <p:sp>
        <p:nvSpPr>
          <p:cNvPr id="30" name="Text 27"/>
          <p:cNvSpPr txBox="1"/>
          <p:nvPr/>
        </p:nvSpPr>
        <p:spPr>
          <a:xfrm>
            <a:off x="2761488" y="4590288"/>
            <a:ext cx="8588959" cy="274320"/>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Prueba de carga con 100 usuarios simulados durante 40 segundos, en la propia máquina</a:t>
            </a:r>
            <a:endParaRPr lang="en-US" sz="1240" dirty="0"/>
          </a:p>
        </p:txBody>
      </p:sp>
      <p:sp>
        <p:nvSpPr>
          <p:cNvPr id="31" name="Shape 28"/>
          <p:cNvSpPr/>
          <p:nvPr/>
        </p:nvSpPr>
        <p:spPr>
          <a:xfrm>
            <a:off x="658368" y="5010912"/>
            <a:ext cx="1828800" cy="457200"/>
          </a:xfrm>
          <a:prstGeom prst="rect">
            <a:avLst/>
          </a:prstGeom>
          <a:solidFill>
            <a:srgbClr val="B3181E"/>
          </a:solidFill>
          <a:ln w="12700">
            <a:solidFill>
              <a:srgbClr val="B3181E"/>
            </a:solidFill>
            <a:prstDash val="solid"/>
          </a:ln>
        </p:spPr>
      </p:sp>
      <p:sp>
        <p:nvSpPr>
          <p:cNvPr id="32" name="Text 29"/>
          <p:cNvSpPr txBox="1"/>
          <p:nvPr/>
        </p:nvSpPr>
        <p:spPr>
          <a:xfrm>
            <a:off x="841248" y="5120640"/>
            <a:ext cx="1554480" cy="237744"/>
          </a:xfrm>
          <a:prstGeom prst="rect">
            <a:avLst/>
          </a:prstGeom>
          <a:noFill/>
          <a:ln/>
        </p:spPr>
        <p:txBody>
          <a:bodyPr wrap="square" lIns="0" tIns="0" rIns="0" bIns="0" rtlCol="0" anchor="t"/>
          <a:lstStyle/>
          <a:p>
            <a:pPr algn="l" indent="0" marL="0">
              <a:buNone/>
            </a:pPr>
            <a:r>
              <a:rPr lang="en-US" sz="1040" b="1" spc="100" kern="0" dirty="0">
                <a:solidFill>
                  <a:srgbClr val="FFFFFF"/>
                </a:solidFill>
                <a:latin typeface="Aptos" pitchFamily="34" charset="0"/>
                <a:ea typeface="Aptos" pitchFamily="34" charset="-122"/>
                <a:cs typeface="Aptos" pitchFamily="34" charset="-120"/>
              </a:rPr>
              <a:t>UMBRAL</a:t>
            </a:r>
            <a:endParaRPr lang="en-US" sz="1040" dirty="0"/>
          </a:p>
        </p:txBody>
      </p:sp>
      <p:sp>
        <p:nvSpPr>
          <p:cNvPr id="33" name="Shape 30"/>
          <p:cNvSpPr/>
          <p:nvPr/>
        </p:nvSpPr>
        <p:spPr>
          <a:xfrm>
            <a:off x="2542032" y="5010912"/>
            <a:ext cx="8991295" cy="457200"/>
          </a:xfrm>
          <a:prstGeom prst="rect">
            <a:avLst/>
          </a:prstGeom>
          <a:solidFill>
            <a:srgbClr val="F2E7D9"/>
          </a:solidFill>
          <a:ln w="12700">
            <a:solidFill>
              <a:srgbClr val="F2E7D9"/>
            </a:solidFill>
            <a:prstDash val="solid"/>
          </a:ln>
        </p:spPr>
      </p:sp>
      <p:sp>
        <p:nvSpPr>
          <p:cNvPr id="34" name="Text 31"/>
          <p:cNvSpPr txBox="1"/>
          <p:nvPr/>
        </p:nvSpPr>
        <p:spPr>
          <a:xfrm>
            <a:off x="2761488" y="5102352"/>
            <a:ext cx="8588959"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El percentil 95 no supera 300 milisegundos, y ninguna solicitud falla</a:t>
            </a:r>
            <a:endParaRPr lang="en-US" sz="1240" dirty="0"/>
          </a:p>
        </p:txBody>
      </p:sp>
      <p:sp>
        <p:nvSpPr>
          <p:cNvPr id="35" name="Shape 32"/>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norma no dice cuánto es rápido: exige que alguien lo haya dicho antes de medir.</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CÓMO SE LEE UN TIEMPO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promedio esconde a quien esperó</a:t>
            </a:r>
            <a:endParaRPr lang="en-US" sz="3000" dirty="0"/>
          </a:p>
        </p:txBody>
      </p:sp>
      <p:sp>
        <p:nvSpPr>
          <p:cNvPr id="10" name="Text 7"/>
          <p:cNvSpPr txBox="1"/>
          <p:nvPr/>
        </p:nvSpPr>
        <p:spPr>
          <a:xfrm>
            <a:off x="658368" y="1773936"/>
            <a:ext cx="64008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ONCE RESPUESTAS: DIEZ DE 5 MILISEGUNDOS (MS) Y UNA DE 2 SEGUNDOS</a:t>
            </a:r>
            <a:endParaRPr lang="en-US" sz="960" dirty="0"/>
          </a:p>
        </p:txBody>
      </p:sp>
      <p:sp>
        <p:nvSpPr>
          <p:cNvPr id="11" name="Shape 8"/>
          <p:cNvSpPr/>
          <p:nvPr/>
        </p:nvSpPr>
        <p:spPr>
          <a:xfrm>
            <a:off x="1115568" y="4800600"/>
            <a:ext cx="384048" cy="45720"/>
          </a:xfrm>
          <a:prstGeom prst="rect">
            <a:avLst/>
          </a:prstGeom>
          <a:solidFill>
            <a:srgbClr val="102A43"/>
          </a:solidFill>
          <a:ln w="12700">
            <a:solidFill>
              <a:srgbClr val="102A43"/>
            </a:solidFill>
            <a:prstDash val="solid"/>
          </a:ln>
        </p:spPr>
      </p:sp>
      <p:sp>
        <p:nvSpPr>
          <p:cNvPr id="12" name="Shape 9"/>
          <p:cNvSpPr/>
          <p:nvPr/>
        </p:nvSpPr>
        <p:spPr>
          <a:xfrm>
            <a:off x="1609344" y="4800600"/>
            <a:ext cx="384048" cy="45720"/>
          </a:xfrm>
          <a:prstGeom prst="rect">
            <a:avLst/>
          </a:prstGeom>
          <a:solidFill>
            <a:srgbClr val="102A43"/>
          </a:solidFill>
          <a:ln w="12700">
            <a:solidFill>
              <a:srgbClr val="102A43"/>
            </a:solidFill>
            <a:prstDash val="solid"/>
          </a:ln>
        </p:spPr>
      </p:sp>
      <p:sp>
        <p:nvSpPr>
          <p:cNvPr id="13" name="Shape 10"/>
          <p:cNvSpPr/>
          <p:nvPr/>
        </p:nvSpPr>
        <p:spPr>
          <a:xfrm>
            <a:off x="2103120" y="4800600"/>
            <a:ext cx="384048" cy="45720"/>
          </a:xfrm>
          <a:prstGeom prst="rect">
            <a:avLst/>
          </a:prstGeom>
          <a:solidFill>
            <a:srgbClr val="102A43"/>
          </a:solidFill>
          <a:ln w="12700">
            <a:solidFill>
              <a:srgbClr val="102A43"/>
            </a:solidFill>
            <a:prstDash val="solid"/>
          </a:ln>
        </p:spPr>
      </p:sp>
      <p:sp>
        <p:nvSpPr>
          <p:cNvPr id="14" name="Shape 11"/>
          <p:cNvSpPr/>
          <p:nvPr/>
        </p:nvSpPr>
        <p:spPr>
          <a:xfrm>
            <a:off x="2596896" y="4800600"/>
            <a:ext cx="384048" cy="45720"/>
          </a:xfrm>
          <a:prstGeom prst="rect">
            <a:avLst/>
          </a:prstGeom>
          <a:solidFill>
            <a:srgbClr val="102A43"/>
          </a:solidFill>
          <a:ln w="12700">
            <a:solidFill>
              <a:srgbClr val="102A43"/>
            </a:solidFill>
            <a:prstDash val="solid"/>
          </a:ln>
        </p:spPr>
      </p:sp>
      <p:sp>
        <p:nvSpPr>
          <p:cNvPr id="15" name="Shape 12"/>
          <p:cNvSpPr/>
          <p:nvPr/>
        </p:nvSpPr>
        <p:spPr>
          <a:xfrm>
            <a:off x="3090672" y="4800600"/>
            <a:ext cx="384048" cy="45720"/>
          </a:xfrm>
          <a:prstGeom prst="rect">
            <a:avLst/>
          </a:prstGeom>
          <a:solidFill>
            <a:srgbClr val="102A43"/>
          </a:solidFill>
          <a:ln w="12700">
            <a:solidFill>
              <a:srgbClr val="102A43"/>
            </a:solidFill>
            <a:prstDash val="solid"/>
          </a:ln>
        </p:spPr>
      </p:sp>
      <p:sp>
        <p:nvSpPr>
          <p:cNvPr id="16" name="Shape 13"/>
          <p:cNvSpPr/>
          <p:nvPr/>
        </p:nvSpPr>
        <p:spPr>
          <a:xfrm>
            <a:off x="3584448" y="4800600"/>
            <a:ext cx="384048" cy="45720"/>
          </a:xfrm>
          <a:prstGeom prst="rect">
            <a:avLst/>
          </a:prstGeom>
          <a:solidFill>
            <a:srgbClr val="102A43"/>
          </a:solidFill>
          <a:ln w="12700">
            <a:solidFill>
              <a:srgbClr val="102A43"/>
            </a:solidFill>
            <a:prstDash val="solid"/>
          </a:ln>
        </p:spPr>
      </p:sp>
      <p:sp>
        <p:nvSpPr>
          <p:cNvPr id="17" name="Shape 14"/>
          <p:cNvSpPr/>
          <p:nvPr/>
        </p:nvSpPr>
        <p:spPr>
          <a:xfrm>
            <a:off x="4078224" y="4800600"/>
            <a:ext cx="384048" cy="45720"/>
          </a:xfrm>
          <a:prstGeom prst="rect">
            <a:avLst/>
          </a:prstGeom>
          <a:solidFill>
            <a:srgbClr val="102A43"/>
          </a:solidFill>
          <a:ln w="12700">
            <a:solidFill>
              <a:srgbClr val="102A43"/>
            </a:solidFill>
            <a:prstDash val="solid"/>
          </a:ln>
        </p:spPr>
      </p:sp>
      <p:sp>
        <p:nvSpPr>
          <p:cNvPr id="18" name="Shape 15"/>
          <p:cNvSpPr/>
          <p:nvPr/>
        </p:nvSpPr>
        <p:spPr>
          <a:xfrm>
            <a:off x="4572000" y="4800600"/>
            <a:ext cx="384048" cy="45720"/>
          </a:xfrm>
          <a:prstGeom prst="rect">
            <a:avLst/>
          </a:prstGeom>
          <a:solidFill>
            <a:srgbClr val="102A43"/>
          </a:solidFill>
          <a:ln w="12700">
            <a:solidFill>
              <a:srgbClr val="102A43"/>
            </a:solidFill>
            <a:prstDash val="solid"/>
          </a:ln>
        </p:spPr>
      </p:sp>
      <p:sp>
        <p:nvSpPr>
          <p:cNvPr id="19" name="Shape 16"/>
          <p:cNvSpPr/>
          <p:nvPr/>
        </p:nvSpPr>
        <p:spPr>
          <a:xfrm>
            <a:off x="5065776" y="4800600"/>
            <a:ext cx="384048" cy="45720"/>
          </a:xfrm>
          <a:prstGeom prst="rect">
            <a:avLst/>
          </a:prstGeom>
          <a:solidFill>
            <a:srgbClr val="102A43"/>
          </a:solidFill>
          <a:ln w="12700">
            <a:solidFill>
              <a:srgbClr val="102A43"/>
            </a:solidFill>
            <a:prstDash val="solid"/>
          </a:ln>
        </p:spPr>
      </p:sp>
      <p:sp>
        <p:nvSpPr>
          <p:cNvPr id="20" name="Shape 17"/>
          <p:cNvSpPr/>
          <p:nvPr/>
        </p:nvSpPr>
        <p:spPr>
          <a:xfrm>
            <a:off x="5559552" y="4800600"/>
            <a:ext cx="384048" cy="45720"/>
          </a:xfrm>
          <a:prstGeom prst="rect">
            <a:avLst/>
          </a:prstGeom>
          <a:solidFill>
            <a:srgbClr val="102A43"/>
          </a:solidFill>
          <a:ln w="12700">
            <a:solidFill>
              <a:srgbClr val="102A43"/>
            </a:solidFill>
            <a:prstDash val="solid"/>
          </a:ln>
        </p:spPr>
      </p:sp>
      <p:sp>
        <p:nvSpPr>
          <p:cNvPr id="21" name="Shape 18"/>
          <p:cNvSpPr/>
          <p:nvPr/>
        </p:nvSpPr>
        <p:spPr>
          <a:xfrm>
            <a:off x="6053328" y="2194560"/>
            <a:ext cx="384048" cy="2651760"/>
          </a:xfrm>
          <a:prstGeom prst="rect">
            <a:avLst/>
          </a:prstGeom>
          <a:solidFill>
            <a:srgbClr val="B3181E"/>
          </a:solidFill>
          <a:ln w="12700">
            <a:solidFill>
              <a:srgbClr val="B3181E"/>
            </a:solidFill>
            <a:prstDash val="solid"/>
          </a:ln>
        </p:spPr>
      </p:sp>
      <p:sp>
        <p:nvSpPr>
          <p:cNvPr id="22" name="Shape 19"/>
          <p:cNvSpPr/>
          <p:nvPr/>
        </p:nvSpPr>
        <p:spPr>
          <a:xfrm>
            <a:off x="1024128" y="4846320"/>
            <a:ext cx="5522976" cy="0"/>
          </a:xfrm>
          <a:prstGeom prst="line">
            <a:avLst/>
          </a:prstGeom>
          <a:noFill/>
          <a:ln w="12700">
            <a:solidFill>
              <a:srgbClr val="243B53"/>
            </a:solidFill>
            <a:prstDash val="solid"/>
            <a:headEnd type="none"/>
            <a:tailEnd type="none"/>
          </a:ln>
        </p:spPr>
      </p:sp>
      <p:sp>
        <p:nvSpPr>
          <p:cNvPr id="23" name="Shape 20"/>
          <p:cNvSpPr/>
          <p:nvPr/>
        </p:nvSpPr>
        <p:spPr>
          <a:xfrm>
            <a:off x="1024128" y="4599706"/>
            <a:ext cx="5522976" cy="0"/>
          </a:xfrm>
          <a:prstGeom prst="line">
            <a:avLst/>
          </a:prstGeom>
          <a:noFill/>
          <a:ln w="12700">
            <a:solidFill>
              <a:srgbClr val="8A6A12"/>
            </a:solidFill>
            <a:prstDash val="dash"/>
          </a:ln>
        </p:spPr>
      </p:sp>
      <p:sp>
        <p:nvSpPr>
          <p:cNvPr id="24" name="Text 21"/>
          <p:cNvSpPr txBox="1"/>
          <p:nvPr/>
        </p:nvSpPr>
        <p:spPr>
          <a:xfrm>
            <a:off x="1115568" y="4270522"/>
            <a:ext cx="4937760" cy="256032"/>
          </a:xfrm>
          <a:prstGeom prst="rect">
            <a:avLst/>
          </a:prstGeom>
          <a:noFill/>
          <a:ln/>
        </p:spPr>
        <p:txBody>
          <a:bodyPr wrap="square" lIns="0" tIns="0" rIns="0" bIns="0" rtlCol="0" anchor="t"/>
          <a:lstStyle/>
          <a:p>
            <a:pPr algn="l" indent="0" marL="0">
              <a:buNone/>
            </a:pPr>
            <a:r>
              <a:rPr lang="en-US" sz="1140" b="1" dirty="0">
                <a:solidFill>
                  <a:srgbClr val="8A6A12"/>
                </a:solidFill>
                <a:latin typeface="Aptos" pitchFamily="34" charset="0"/>
                <a:ea typeface="Aptos" pitchFamily="34" charset="-122"/>
                <a:cs typeface="Aptos" pitchFamily="34" charset="-120"/>
              </a:rPr>
              <a:t>Promedio: 186 ms. Un número que no le pasó a nadie.</a:t>
            </a:r>
            <a:endParaRPr lang="en-US" sz="1140" dirty="0"/>
          </a:p>
        </p:txBody>
      </p:sp>
      <p:sp>
        <p:nvSpPr>
          <p:cNvPr id="25" name="Text 22"/>
          <p:cNvSpPr txBox="1"/>
          <p:nvPr/>
        </p:nvSpPr>
        <p:spPr>
          <a:xfrm>
            <a:off x="1024128" y="4919472"/>
            <a:ext cx="5852160" cy="201168"/>
          </a:xfrm>
          <a:prstGeom prst="rect">
            <a:avLst/>
          </a:prstGeom>
          <a:noFill/>
          <a:ln/>
        </p:spPr>
        <p:txBody>
          <a:bodyPr wrap="square" lIns="0" tIns="0" rIns="0" bIns="0" rtlCol="0" anchor="t"/>
          <a:lstStyle/>
          <a:p>
            <a:pPr algn="l" indent="0" marL="0">
              <a:buNone/>
            </a:pPr>
            <a:r>
              <a:rPr lang="en-US" sz="940" i="1" dirty="0">
                <a:solidFill>
                  <a:srgbClr val="52606D"/>
                </a:solidFill>
                <a:latin typeface="Aptos" pitchFamily="34" charset="0"/>
                <a:ea typeface="Aptos" pitchFamily="34" charset="-122"/>
                <a:cs typeface="Aptos" pitchFamily="34" charset="-120"/>
              </a:rPr>
              <a:t>Las respuestas, ordenadas de la más rápida a la más lenta</a:t>
            </a:r>
            <a:endParaRPr lang="en-US" sz="940" dirty="0"/>
          </a:p>
        </p:txBody>
      </p:sp>
      <p:sp>
        <p:nvSpPr>
          <p:cNvPr id="26" name="Shape 23"/>
          <p:cNvSpPr/>
          <p:nvPr/>
        </p:nvSpPr>
        <p:spPr>
          <a:xfrm>
            <a:off x="7150608" y="1773936"/>
            <a:ext cx="4382719" cy="932688"/>
          </a:xfrm>
          <a:prstGeom prst="rect">
            <a:avLst/>
          </a:prstGeom>
          <a:solidFill>
            <a:srgbClr val="FFFFFF"/>
          </a:solidFill>
          <a:ln w="12700">
            <a:solidFill>
              <a:srgbClr val="FFFFFF"/>
            </a:solidFill>
            <a:prstDash val="solid"/>
          </a:ln>
        </p:spPr>
      </p:sp>
      <p:sp>
        <p:nvSpPr>
          <p:cNvPr id="27" name="Shape 24"/>
          <p:cNvSpPr/>
          <p:nvPr/>
        </p:nvSpPr>
        <p:spPr>
          <a:xfrm>
            <a:off x="7150608" y="1773936"/>
            <a:ext cx="54864" cy="932688"/>
          </a:xfrm>
          <a:prstGeom prst="rect">
            <a:avLst/>
          </a:prstGeom>
          <a:solidFill>
            <a:srgbClr val="102A43"/>
          </a:solidFill>
          <a:ln w="12700">
            <a:solidFill>
              <a:srgbClr val="102A43"/>
            </a:solidFill>
            <a:prstDash val="solid"/>
          </a:ln>
        </p:spPr>
      </p:sp>
      <p:sp>
        <p:nvSpPr>
          <p:cNvPr id="28" name="Text 25"/>
          <p:cNvSpPr txBox="1"/>
          <p:nvPr/>
        </p:nvSpPr>
        <p:spPr>
          <a:xfrm>
            <a:off x="7370064" y="1920240"/>
            <a:ext cx="914400" cy="548640"/>
          </a:xfrm>
          <a:prstGeom prst="rect">
            <a:avLst/>
          </a:prstGeom>
          <a:noFill/>
          <a:ln/>
        </p:spPr>
        <p:txBody>
          <a:bodyPr wrap="square" lIns="0" tIns="0" rIns="0" bIns="0" rtlCol="0" anchor="ctr"/>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p50</a:t>
            </a:r>
            <a:endParaRPr lang="en-US" sz="2600" dirty="0"/>
          </a:p>
        </p:txBody>
      </p:sp>
      <p:sp>
        <p:nvSpPr>
          <p:cNvPr id="29" name="Text 26"/>
          <p:cNvSpPr txBox="1"/>
          <p:nvPr/>
        </p:nvSpPr>
        <p:spPr>
          <a:xfrm>
            <a:off x="8339328" y="1883664"/>
            <a:ext cx="3047695"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La mediana</a:t>
            </a:r>
            <a:endParaRPr lang="en-US" sz="1200" dirty="0"/>
          </a:p>
        </p:txBody>
      </p:sp>
      <p:sp>
        <p:nvSpPr>
          <p:cNvPr id="30" name="Text 27"/>
          <p:cNvSpPr txBox="1"/>
          <p:nvPr/>
        </p:nvSpPr>
        <p:spPr>
          <a:xfrm>
            <a:off x="8339328" y="2157984"/>
            <a:ext cx="3047695" cy="512064"/>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El tiempo que no supera la mitad de las respuestas.</a:t>
            </a:r>
            <a:endParaRPr lang="en-US" sz="1040" dirty="0"/>
          </a:p>
        </p:txBody>
      </p:sp>
      <p:sp>
        <p:nvSpPr>
          <p:cNvPr id="31" name="Shape 28"/>
          <p:cNvSpPr/>
          <p:nvPr/>
        </p:nvSpPr>
        <p:spPr>
          <a:xfrm>
            <a:off x="7150608" y="2816352"/>
            <a:ext cx="4382719" cy="932688"/>
          </a:xfrm>
          <a:prstGeom prst="rect">
            <a:avLst/>
          </a:prstGeom>
          <a:solidFill>
            <a:srgbClr val="F2E7D9"/>
          </a:solidFill>
          <a:ln w="12700">
            <a:solidFill>
              <a:srgbClr val="F2E7D9"/>
            </a:solidFill>
            <a:prstDash val="solid"/>
          </a:ln>
        </p:spPr>
      </p:sp>
      <p:sp>
        <p:nvSpPr>
          <p:cNvPr id="32" name="Shape 29"/>
          <p:cNvSpPr/>
          <p:nvPr/>
        </p:nvSpPr>
        <p:spPr>
          <a:xfrm>
            <a:off x="7150608" y="2816352"/>
            <a:ext cx="54864" cy="932688"/>
          </a:xfrm>
          <a:prstGeom prst="rect">
            <a:avLst/>
          </a:prstGeom>
          <a:solidFill>
            <a:srgbClr val="B3181E"/>
          </a:solidFill>
          <a:ln w="12700">
            <a:solidFill>
              <a:srgbClr val="B3181E"/>
            </a:solidFill>
            <a:prstDash val="solid"/>
          </a:ln>
        </p:spPr>
      </p:sp>
      <p:sp>
        <p:nvSpPr>
          <p:cNvPr id="33" name="Text 30"/>
          <p:cNvSpPr txBox="1"/>
          <p:nvPr/>
        </p:nvSpPr>
        <p:spPr>
          <a:xfrm>
            <a:off x="7370064" y="2962656"/>
            <a:ext cx="914400" cy="548640"/>
          </a:xfrm>
          <a:prstGeom prst="rect">
            <a:avLst/>
          </a:prstGeom>
          <a:noFill/>
          <a:ln/>
        </p:spPr>
        <p:txBody>
          <a:bodyPr wrap="square" lIns="0" tIns="0" rIns="0" bIns="0" rtlCol="0" anchor="ctr"/>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p95</a:t>
            </a:r>
            <a:endParaRPr lang="en-US" sz="2600" dirty="0"/>
          </a:p>
        </p:txBody>
      </p:sp>
      <p:sp>
        <p:nvSpPr>
          <p:cNvPr id="34" name="Text 31"/>
          <p:cNvSpPr txBox="1"/>
          <p:nvPr/>
        </p:nvSpPr>
        <p:spPr>
          <a:xfrm>
            <a:off x="8339328" y="2926080"/>
            <a:ext cx="3047695"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El del umbral de hoy</a:t>
            </a:r>
            <a:endParaRPr lang="en-US" sz="1200" dirty="0"/>
          </a:p>
        </p:txBody>
      </p:sp>
      <p:sp>
        <p:nvSpPr>
          <p:cNvPr id="35" name="Text 32"/>
          <p:cNvSpPr txBox="1"/>
          <p:nvPr/>
        </p:nvSpPr>
        <p:spPr>
          <a:xfrm>
            <a:off x="8339328" y="3200400"/>
            <a:ext cx="3047695" cy="512064"/>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El que no supera el 95 %: de cada 100 respuestas, 95 llegan en ese tiempo o menos.</a:t>
            </a:r>
            <a:endParaRPr lang="en-US" sz="1040" dirty="0"/>
          </a:p>
        </p:txBody>
      </p:sp>
      <p:sp>
        <p:nvSpPr>
          <p:cNvPr id="36" name="Shape 33"/>
          <p:cNvSpPr/>
          <p:nvPr/>
        </p:nvSpPr>
        <p:spPr>
          <a:xfrm>
            <a:off x="7150608" y="3858768"/>
            <a:ext cx="4382719" cy="932688"/>
          </a:xfrm>
          <a:prstGeom prst="rect">
            <a:avLst/>
          </a:prstGeom>
          <a:solidFill>
            <a:srgbClr val="FFFFFF"/>
          </a:solidFill>
          <a:ln w="12700">
            <a:solidFill>
              <a:srgbClr val="FFFFFF"/>
            </a:solidFill>
            <a:prstDash val="solid"/>
          </a:ln>
        </p:spPr>
      </p:sp>
      <p:sp>
        <p:nvSpPr>
          <p:cNvPr id="37" name="Shape 34"/>
          <p:cNvSpPr/>
          <p:nvPr/>
        </p:nvSpPr>
        <p:spPr>
          <a:xfrm>
            <a:off x="7150608" y="3858768"/>
            <a:ext cx="54864" cy="932688"/>
          </a:xfrm>
          <a:prstGeom prst="rect">
            <a:avLst/>
          </a:prstGeom>
          <a:solidFill>
            <a:srgbClr val="8A6A12"/>
          </a:solidFill>
          <a:ln w="12700">
            <a:solidFill>
              <a:srgbClr val="8A6A12"/>
            </a:solidFill>
            <a:prstDash val="solid"/>
          </a:ln>
        </p:spPr>
      </p:sp>
      <p:sp>
        <p:nvSpPr>
          <p:cNvPr id="38" name="Text 35"/>
          <p:cNvSpPr txBox="1"/>
          <p:nvPr/>
        </p:nvSpPr>
        <p:spPr>
          <a:xfrm>
            <a:off x="7370064" y="4005072"/>
            <a:ext cx="914400" cy="548640"/>
          </a:xfrm>
          <a:prstGeom prst="rect">
            <a:avLst/>
          </a:prstGeom>
          <a:noFill/>
          <a:ln/>
        </p:spPr>
        <p:txBody>
          <a:bodyPr wrap="square" lIns="0" tIns="0" rIns="0" bIns="0" rtlCol="0" anchor="ctr"/>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p99</a:t>
            </a:r>
            <a:endParaRPr lang="en-US" sz="2600" dirty="0"/>
          </a:p>
        </p:txBody>
      </p:sp>
      <p:sp>
        <p:nvSpPr>
          <p:cNvPr id="39" name="Text 36"/>
          <p:cNvSpPr txBox="1"/>
          <p:nvPr/>
        </p:nvSpPr>
        <p:spPr>
          <a:xfrm>
            <a:off x="8339328" y="3968496"/>
            <a:ext cx="3047695"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Los casos más lentos</a:t>
            </a:r>
            <a:endParaRPr lang="en-US" sz="1200" dirty="0"/>
          </a:p>
        </p:txBody>
      </p:sp>
      <p:sp>
        <p:nvSpPr>
          <p:cNvPr id="40" name="Text 37"/>
          <p:cNvSpPr txBox="1"/>
          <p:nvPr/>
        </p:nvSpPr>
        <p:spPr>
          <a:xfrm>
            <a:off x="8339328" y="4242816"/>
            <a:ext cx="3047695" cy="512064"/>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El que no supera el 99 %.</a:t>
            </a:r>
            <a:endParaRPr lang="en-US" sz="1040" dirty="0"/>
          </a:p>
        </p:txBody>
      </p:sp>
      <p:sp>
        <p:nvSpPr>
          <p:cNvPr id="41" name="Shape 38"/>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Un percentil dice cuánto esperó la gente. Un promedio mezcla a todos en un número que no le pasó a nadie.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LOCUST</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prueba de carga son personas simuladas</a:t>
            </a:r>
            <a:endParaRPr lang="en-US" sz="2800" dirty="0"/>
          </a:p>
        </p:txBody>
      </p:sp>
      <p:sp>
        <p:nvSpPr>
          <p:cNvPr id="10" name="Shape 7"/>
          <p:cNvSpPr/>
          <p:nvPr/>
        </p:nvSpPr>
        <p:spPr>
          <a:xfrm>
            <a:off x="658368" y="1700784"/>
            <a:ext cx="6858000" cy="4324502"/>
          </a:xfrm>
          <a:prstGeom prst="roundRect">
            <a:avLst>
              <a:gd name="adj" fmla="val 1057"/>
            </a:avLst>
          </a:prstGeom>
          <a:solidFill>
            <a:srgbClr val="102A43"/>
          </a:solidFill>
          <a:ln w="12700">
            <a:solidFill>
              <a:srgbClr val="102A43"/>
            </a:solidFill>
            <a:prstDash val="solid"/>
          </a:ln>
        </p:spPr>
      </p:sp>
      <p:sp>
        <p:nvSpPr>
          <p:cNvPr id="11" name="Shape 8"/>
          <p:cNvSpPr/>
          <p:nvPr/>
        </p:nvSpPr>
        <p:spPr>
          <a:xfrm>
            <a:off x="658368" y="2057400"/>
            <a:ext cx="6858000" cy="9144"/>
          </a:xfrm>
          <a:prstGeom prst="rect">
            <a:avLst/>
          </a:prstGeom>
          <a:solidFill>
            <a:srgbClr val="284B75"/>
          </a:solidFill>
          <a:ln w="12700">
            <a:solidFill>
              <a:srgbClr val="284B75"/>
            </a:solidFill>
            <a:prstDash val="solid"/>
          </a:ln>
        </p:spPr>
      </p:sp>
      <p:sp>
        <p:nvSpPr>
          <p:cNvPr id="12" name="Text 9"/>
          <p:cNvSpPr/>
          <p:nvPr/>
        </p:nvSpPr>
        <p:spPr>
          <a:xfrm>
            <a:off x="841248" y="1792224"/>
            <a:ext cx="649224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locustfile.py</a:t>
            </a:r>
            <a:endParaRPr lang="en-US" sz="960" dirty="0"/>
          </a:p>
        </p:txBody>
      </p:sp>
      <p:sp>
        <p:nvSpPr>
          <p:cNvPr id="13" name="Shape 10"/>
          <p:cNvSpPr/>
          <p:nvPr/>
        </p:nvSpPr>
        <p:spPr>
          <a:xfrm>
            <a:off x="713232" y="2943352"/>
            <a:ext cx="6345936" cy="145914"/>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247339"/>
            <a:ext cx="6345936" cy="145914"/>
          </a:xfrm>
          <a:prstGeom prst="rect">
            <a:avLst/>
          </a:prstGeom>
          <a:solidFill>
            <a:srgbClr val="E0BC5A">
              <a:alpha val="28000"/>
            </a:srgbClr>
          </a:solidFill>
          <a:ln w="12700">
            <a:solidFill>
              <a:srgbClr val="E0BC5A">
                <a:alpha val="0"/>
              </a:srgbClr>
            </a:solidFill>
            <a:prstDash val="solid"/>
          </a:ln>
        </p:spPr>
      </p:sp>
      <p:sp>
        <p:nvSpPr>
          <p:cNvPr id="15" name="Shape 12"/>
          <p:cNvSpPr/>
          <p:nvPr/>
        </p:nvSpPr>
        <p:spPr>
          <a:xfrm>
            <a:off x="713232" y="5375250"/>
            <a:ext cx="6345936" cy="145914"/>
          </a:xfrm>
          <a:prstGeom prst="rect">
            <a:avLst/>
          </a:prstGeom>
          <a:solidFill>
            <a:srgbClr val="B3181E">
              <a:alpha val="28000"/>
            </a:srgbClr>
          </a:solidFill>
          <a:ln w="12700">
            <a:solidFill>
              <a:srgbClr val="B3181E">
                <a:alpha val="0"/>
              </a:srgbClr>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94560"/>
            <a:ext cx="6126480" cy="3702710"/>
          </a:xfrm>
          <a:prstGeom prst="rect">
            <a:avLst/>
          </a:prstGeom>
        </p:spPr>
      </p:pic>
      <p:sp>
        <p:nvSpPr>
          <p:cNvPr id="17" name="Shape 13"/>
          <p:cNvSpPr/>
          <p:nvPr/>
        </p:nvSpPr>
        <p:spPr>
          <a:xfrm>
            <a:off x="7217851" y="2940491"/>
            <a:ext cx="139834" cy="139834"/>
          </a:xfrm>
          <a:prstGeom prst="ellipse">
            <a:avLst/>
          </a:prstGeom>
          <a:solidFill>
            <a:srgbClr val="E0BC5A"/>
          </a:solidFill>
          <a:ln w="12700">
            <a:solidFill>
              <a:srgbClr val="E0BC5A"/>
            </a:solidFill>
            <a:prstDash val="solid"/>
          </a:ln>
        </p:spPr>
      </p:sp>
      <p:sp>
        <p:nvSpPr>
          <p:cNvPr id="18" name="Text 14"/>
          <p:cNvSpPr/>
          <p:nvPr/>
        </p:nvSpPr>
        <p:spPr>
          <a:xfrm>
            <a:off x="7226995" y="2949635"/>
            <a:ext cx="121546" cy="12154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9" name="Shape 15"/>
          <p:cNvSpPr/>
          <p:nvPr/>
        </p:nvSpPr>
        <p:spPr>
          <a:xfrm>
            <a:off x="7217851" y="3244478"/>
            <a:ext cx="139834" cy="139834"/>
          </a:xfrm>
          <a:prstGeom prst="ellipse">
            <a:avLst/>
          </a:prstGeom>
          <a:solidFill>
            <a:srgbClr val="E0BC5A"/>
          </a:solidFill>
          <a:ln w="12700">
            <a:solidFill>
              <a:srgbClr val="E0BC5A"/>
            </a:solidFill>
            <a:prstDash val="solid"/>
          </a:ln>
        </p:spPr>
      </p:sp>
      <p:sp>
        <p:nvSpPr>
          <p:cNvPr id="20" name="Text 16"/>
          <p:cNvSpPr/>
          <p:nvPr/>
        </p:nvSpPr>
        <p:spPr>
          <a:xfrm>
            <a:off x="7226995" y="3253622"/>
            <a:ext cx="121546" cy="12154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1" name="Shape 17"/>
          <p:cNvSpPr/>
          <p:nvPr/>
        </p:nvSpPr>
        <p:spPr>
          <a:xfrm>
            <a:off x="7217851" y="5372389"/>
            <a:ext cx="139834" cy="139834"/>
          </a:xfrm>
          <a:prstGeom prst="ellipse">
            <a:avLst/>
          </a:prstGeom>
          <a:solidFill>
            <a:srgbClr val="B3181E"/>
          </a:solidFill>
          <a:ln w="12700">
            <a:solidFill>
              <a:srgbClr val="B3181E"/>
            </a:solidFill>
            <a:prstDash val="solid"/>
          </a:ln>
        </p:spPr>
      </p:sp>
      <p:sp>
        <p:nvSpPr>
          <p:cNvPr id="22" name="Text 18"/>
          <p:cNvSpPr/>
          <p:nvPr/>
        </p:nvSpPr>
        <p:spPr>
          <a:xfrm>
            <a:off x="7226995" y="5381533"/>
            <a:ext cx="121546" cy="12154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3" name="Shape 19"/>
          <p:cNvSpPr/>
          <p:nvPr/>
        </p:nvSpPr>
        <p:spPr>
          <a:xfrm>
            <a:off x="7790688" y="1700784"/>
            <a:ext cx="3742639" cy="950976"/>
          </a:xfrm>
          <a:prstGeom prst="rect">
            <a:avLst/>
          </a:prstGeom>
          <a:solidFill>
            <a:srgbClr val="FFFFFF"/>
          </a:solidFill>
          <a:ln w="12700">
            <a:solidFill>
              <a:srgbClr val="FFFFFF"/>
            </a:solidFill>
            <a:prstDash val="solid"/>
          </a:ln>
        </p:spPr>
      </p:sp>
      <p:sp>
        <p:nvSpPr>
          <p:cNvPr id="24" name="Shape 20"/>
          <p:cNvSpPr/>
          <p:nvPr/>
        </p:nvSpPr>
        <p:spPr>
          <a:xfrm>
            <a:off x="7790688" y="1700784"/>
            <a:ext cx="54864" cy="950976"/>
          </a:xfrm>
          <a:prstGeom prst="rect">
            <a:avLst/>
          </a:prstGeom>
          <a:solidFill>
            <a:srgbClr val="102A43"/>
          </a:solidFill>
          <a:ln w="12700">
            <a:solidFill>
              <a:srgbClr val="102A43"/>
            </a:solidFill>
            <a:prstDash val="solid"/>
          </a:ln>
        </p:spPr>
      </p:sp>
      <p:sp>
        <p:nvSpPr>
          <p:cNvPr id="25" name="Text 21"/>
          <p:cNvSpPr txBox="1"/>
          <p:nvPr/>
        </p:nvSpPr>
        <p:spPr>
          <a:xfrm>
            <a:off x="8010144" y="1828800"/>
            <a:ext cx="301111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Un usuario simulado</a:t>
            </a:r>
            <a:endParaRPr lang="en-US" sz="1160" dirty="0"/>
          </a:p>
        </p:txBody>
      </p:sp>
      <p:sp>
        <p:nvSpPr>
          <p:cNvPr id="26" name="Text 22"/>
          <p:cNvSpPr txBox="1"/>
          <p:nvPr/>
        </p:nvSpPr>
        <p:spPr>
          <a:xfrm>
            <a:off x="8010144" y="2103120"/>
            <a:ext cx="3376879" cy="512064"/>
          </a:xfrm>
          <a:prstGeom prst="rect">
            <a:avLst/>
          </a:prstGeom>
          <a:noFill/>
          <a:ln/>
        </p:spPr>
        <p:txBody>
          <a:bodyPr wrap="square" lIns="0" tIns="0" rIns="0" bIns="0" rtlCol="0" anchor="t"/>
          <a:lstStyle/>
          <a:p>
            <a:pPr algn="l" indent="0" marL="0">
              <a:lnSpc>
                <a:spcPct val="106000"/>
              </a:lnSpc>
              <a:buNone/>
            </a:pPr>
            <a:r>
              <a:rPr lang="en-US" sz="960" dirty="0">
                <a:solidFill>
                  <a:srgbClr val="52606D"/>
                </a:solidFill>
                <a:latin typeface="Aptos" pitchFamily="34" charset="0"/>
                <a:ea typeface="Aptos" pitchFamily="34" charset="-122"/>
                <a:cs typeface="Aptos" pitchFamily="34" charset="-120"/>
              </a:rPr>
              <a:t>HttpUser habla con la API por HTTP, el protocolo de las solicitudes web. self.client envía cada solicitud y mide cuánto tardó.</a:t>
            </a:r>
            <a:endParaRPr lang="en-US" sz="960" dirty="0"/>
          </a:p>
        </p:txBody>
      </p:sp>
      <p:sp>
        <p:nvSpPr>
          <p:cNvPr id="27" name="Shape 23"/>
          <p:cNvSpPr/>
          <p:nvPr/>
        </p:nvSpPr>
        <p:spPr>
          <a:xfrm>
            <a:off x="7790688" y="2743200"/>
            <a:ext cx="3742639" cy="950976"/>
          </a:xfrm>
          <a:prstGeom prst="rect">
            <a:avLst/>
          </a:prstGeom>
          <a:solidFill>
            <a:srgbClr val="FFFFFF"/>
          </a:solidFill>
          <a:ln w="12700">
            <a:solidFill>
              <a:srgbClr val="FFFFFF"/>
            </a:solidFill>
            <a:prstDash val="solid"/>
          </a:ln>
        </p:spPr>
      </p:sp>
      <p:sp>
        <p:nvSpPr>
          <p:cNvPr id="28" name="Shape 24"/>
          <p:cNvSpPr/>
          <p:nvPr/>
        </p:nvSpPr>
        <p:spPr>
          <a:xfrm>
            <a:off x="7790688" y="2743200"/>
            <a:ext cx="54864" cy="950976"/>
          </a:xfrm>
          <a:prstGeom prst="rect">
            <a:avLst/>
          </a:prstGeom>
          <a:solidFill>
            <a:srgbClr val="8A6A12"/>
          </a:solidFill>
          <a:ln w="12700">
            <a:solidFill>
              <a:srgbClr val="8A6A12"/>
            </a:solidFill>
            <a:prstDash val="solid"/>
          </a:ln>
        </p:spPr>
      </p:sp>
      <p:sp>
        <p:nvSpPr>
          <p:cNvPr id="29" name="Shape 25"/>
          <p:cNvSpPr/>
          <p:nvPr/>
        </p:nvSpPr>
        <p:spPr>
          <a:xfrm>
            <a:off x="7973568" y="2871216"/>
            <a:ext cx="256032" cy="256032"/>
          </a:xfrm>
          <a:prstGeom prst="ellipse">
            <a:avLst/>
          </a:prstGeom>
          <a:solidFill>
            <a:srgbClr val="E0BC5A"/>
          </a:solidFill>
          <a:ln w="12700">
            <a:solidFill>
              <a:srgbClr val="E0BC5A"/>
            </a:solidFill>
            <a:prstDash val="solid"/>
          </a:ln>
        </p:spPr>
      </p:sp>
      <p:sp>
        <p:nvSpPr>
          <p:cNvPr id="30" name="Text 26"/>
          <p:cNvSpPr/>
          <p:nvPr/>
        </p:nvSpPr>
        <p:spPr>
          <a:xfrm>
            <a:off x="7982712" y="2880360"/>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1" name="Text 27"/>
          <p:cNvSpPr txBox="1"/>
          <p:nvPr/>
        </p:nvSpPr>
        <p:spPr>
          <a:xfrm>
            <a:off x="8339328" y="2871216"/>
            <a:ext cx="301111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Espera como una persona</a:t>
            </a:r>
            <a:endParaRPr lang="en-US" sz="1160" dirty="0"/>
          </a:p>
        </p:txBody>
      </p:sp>
      <p:sp>
        <p:nvSpPr>
          <p:cNvPr id="32" name="Text 28"/>
          <p:cNvSpPr txBox="1"/>
          <p:nvPr/>
        </p:nvSpPr>
        <p:spPr>
          <a:xfrm>
            <a:off x="8010144" y="3145536"/>
            <a:ext cx="3376879" cy="512064"/>
          </a:xfrm>
          <a:prstGeom prst="rect">
            <a:avLst/>
          </a:prstGeom>
          <a:noFill/>
          <a:ln/>
        </p:spPr>
        <p:txBody>
          <a:bodyPr wrap="square" lIns="0" tIns="0" rIns="0" bIns="0" rtlCol="0" anchor="t"/>
          <a:lstStyle/>
          <a:p>
            <a:pPr algn="l" indent="0" marL="0">
              <a:lnSpc>
                <a:spcPct val="106000"/>
              </a:lnSpc>
              <a:buNone/>
            </a:pPr>
            <a:r>
              <a:rPr lang="en-US" sz="960" dirty="0">
                <a:solidFill>
                  <a:srgbClr val="52606D"/>
                </a:solidFill>
                <a:latin typeface="Aptos" pitchFamily="34" charset="0"/>
                <a:ea typeface="Aptos" pitchFamily="34" charset="-122"/>
                <a:cs typeface="Aptos" pitchFamily="34" charset="-120"/>
              </a:rPr>
              <a:t>Entre una tarea y la siguiente, entre 1 y 3 segundos al azar.</a:t>
            </a:r>
            <a:endParaRPr lang="en-US" sz="960" dirty="0"/>
          </a:p>
        </p:txBody>
      </p:sp>
      <p:sp>
        <p:nvSpPr>
          <p:cNvPr id="33" name="Shape 29"/>
          <p:cNvSpPr/>
          <p:nvPr/>
        </p:nvSpPr>
        <p:spPr>
          <a:xfrm>
            <a:off x="7790688" y="3785616"/>
            <a:ext cx="3742639" cy="950976"/>
          </a:xfrm>
          <a:prstGeom prst="rect">
            <a:avLst/>
          </a:prstGeom>
          <a:solidFill>
            <a:srgbClr val="FFFFFF"/>
          </a:solidFill>
          <a:ln w="12700">
            <a:solidFill>
              <a:srgbClr val="FFFFFF"/>
            </a:solidFill>
            <a:prstDash val="solid"/>
          </a:ln>
        </p:spPr>
      </p:sp>
      <p:sp>
        <p:nvSpPr>
          <p:cNvPr id="34" name="Shape 30"/>
          <p:cNvSpPr/>
          <p:nvPr/>
        </p:nvSpPr>
        <p:spPr>
          <a:xfrm>
            <a:off x="7790688" y="3785616"/>
            <a:ext cx="54864" cy="950976"/>
          </a:xfrm>
          <a:prstGeom prst="rect">
            <a:avLst/>
          </a:prstGeom>
          <a:solidFill>
            <a:srgbClr val="8A6A12"/>
          </a:solidFill>
          <a:ln w="12700">
            <a:solidFill>
              <a:srgbClr val="8A6A12"/>
            </a:solidFill>
            <a:prstDash val="solid"/>
          </a:ln>
        </p:spPr>
      </p:sp>
      <p:sp>
        <p:nvSpPr>
          <p:cNvPr id="35" name="Shape 31"/>
          <p:cNvSpPr/>
          <p:nvPr/>
        </p:nvSpPr>
        <p:spPr>
          <a:xfrm>
            <a:off x="7973568" y="3913632"/>
            <a:ext cx="256032" cy="256032"/>
          </a:xfrm>
          <a:prstGeom prst="ellipse">
            <a:avLst/>
          </a:prstGeom>
          <a:solidFill>
            <a:srgbClr val="E0BC5A"/>
          </a:solidFill>
          <a:ln w="12700">
            <a:solidFill>
              <a:srgbClr val="E0BC5A"/>
            </a:solidFill>
            <a:prstDash val="solid"/>
          </a:ln>
        </p:spPr>
      </p:sp>
      <p:sp>
        <p:nvSpPr>
          <p:cNvPr id="36" name="Text 32"/>
          <p:cNvSpPr/>
          <p:nvPr/>
        </p:nvSpPr>
        <p:spPr>
          <a:xfrm>
            <a:off x="7982712" y="3922776"/>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37" name="Text 33"/>
          <p:cNvSpPr txBox="1"/>
          <p:nvPr/>
        </p:nvSpPr>
        <p:spPr>
          <a:xfrm>
            <a:off x="8339328" y="3913632"/>
            <a:ext cx="301111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Tareas con peso</a:t>
            </a:r>
            <a:endParaRPr lang="en-US" sz="1160" dirty="0"/>
          </a:p>
        </p:txBody>
      </p:sp>
      <p:sp>
        <p:nvSpPr>
          <p:cNvPr id="38" name="Text 34"/>
          <p:cNvSpPr txBox="1"/>
          <p:nvPr/>
        </p:nvSpPr>
        <p:spPr>
          <a:xfrm>
            <a:off x="8010144" y="4187952"/>
            <a:ext cx="3376879" cy="512064"/>
          </a:xfrm>
          <a:prstGeom prst="rect">
            <a:avLst/>
          </a:prstGeom>
          <a:noFill/>
          <a:ln/>
        </p:spPr>
        <p:txBody>
          <a:bodyPr wrap="square" lIns="0" tIns="0" rIns="0" bIns="0" rtlCol="0" anchor="t"/>
          <a:lstStyle/>
          <a:p>
            <a:pPr algn="l" indent="0" marL="0">
              <a:lnSpc>
                <a:spcPct val="106000"/>
              </a:lnSpc>
              <a:buNone/>
            </a:pPr>
            <a:r>
              <a:rPr lang="en-US" sz="960" dirty="0">
                <a:solidFill>
                  <a:srgbClr val="52606D"/>
                </a:solidFill>
                <a:latin typeface="Aptos" pitchFamily="34" charset="0"/>
                <a:ea typeface="Aptos" pitchFamily="34" charset="-122"/>
                <a:cs typeface="Aptos" pitchFamily="34" charset="-120"/>
              </a:rPr>
              <a:t>Mira los bloques cuatro veces por cada intento de reserva, como alguien que revisa antes de reservar.</a:t>
            </a:r>
            <a:endParaRPr lang="en-US" sz="960" dirty="0"/>
          </a:p>
        </p:txBody>
      </p:sp>
      <p:sp>
        <p:nvSpPr>
          <p:cNvPr id="39" name="Shape 35"/>
          <p:cNvSpPr/>
          <p:nvPr/>
        </p:nvSpPr>
        <p:spPr>
          <a:xfrm>
            <a:off x="7790688" y="4828032"/>
            <a:ext cx="3742639" cy="950976"/>
          </a:xfrm>
          <a:prstGeom prst="rect">
            <a:avLst/>
          </a:prstGeom>
          <a:solidFill>
            <a:srgbClr val="FFFFFF"/>
          </a:solidFill>
          <a:ln w="12700">
            <a:solidFill>
              <a:srgbClr val="FFFFFF"/>
            </a:solidFill>
            <a:prstDash val="solid"/>
          </a:ln>
        </p:spPr>
      </p:sp>
      <p:sp>
        <p:nvSpPr>
          <p:cNvPr id="40" name="Shape 36"/>
          <p:cNvSpPr/>
          <p:nvPr/>
        </p:nvSpPr>
        <p:spPr>
          <a:xfrm>
            <a:off x="7790688" y="4828032"/>
            <a:ext cx="54864" cy="950976"/>
          </a:xfrm>
          <a:prstGeom prst="rect">
            <a:avLst/>
          </a:prstGeom>
          <a:solidFill>
            <a:srgbClr val="B3181E"/>
          </a:solidFill>
          <a:ln w="12700">
            <a:solidFill>
              <a:srgbClr val="B3181E"/>
            </a:solidFill>
            <a:prstDash val="solid"/>
          </a:ln>
        </p:spPr>
      </p:sp>
      <p:sp>
        <p:nvSpPr>
          <p:cNvPr id="41" name="Shape 37"/>
          <p:cNvSpPr/>
          <p:nvPr/>
        </p:nvSpPr>
        <p:spPr>
          <a:xfrm>
            <a:off x="7973568" y="4956048"/>
            <a:ext cx="256032" cy="256032"/>
          </a:xfrm>
          <a:prstGeom prst="ellipse">
            <a:avLst/>
          </a:prstGeom>
          <a:solidFill>
            <a:srgbClr val="B3181E"/>
          </a:solidFill>
          <a:ln w="12700">
            <a:solidFill>
              <a:srgbClr val="B3181E"/>
            </a:solidFill>
            <a:prstDash val="solid"/>
          </a:ln>
        </p:spPr>
      </p:sp>
      <p:sp>
        <p:nvSpPr>
          <p:cNvPr id="42" name="Text 38"/>
          <p:cNvSpPr/>
          <p:nvPr/>
        </p:nvSpPr>
        <p:spPr>
          <a:xfrm>
            <a:off x="7982712" y="4965192"/>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43" name="Text 39"/>
          <p:cNvSpPr txBox="1"/>
          <p:nvPr/>
        </p:nvSpPr>
        <p:spPr>
          <a:xfrm>
            <a:off x="8339328" y="4956048"/>
            <a:ext cx="301111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Qué cuenta como falla</a:t>
            </a:r>
            <a:endParaRPr lang="en-US" sz="1160" dirty="0"/>
          </a:p>
        </p:txBody>
      </p:sp>
      <p:sp>
        <p:nvSpPr>
          <p:cNvPr id="44" name="Text 40"/>
          <p:cNvSpPr txBox="1"/>
          <p:nvPr/>
        </p:nvSpPr>
        <p:spPr>
          <a:xfrm>
            <a:off x="8010144" y="5230368"/>
            <a:ext cx="3376879" cy="512064"/>
          </a:xfrm>
          <a:prstGeom prst="rect">
            <a:avLst/>
          </a:prstGeom>
          <a:noFill/>
          <a:ln/>
        </p:spPr>
        <p:txBody>
          <a:bodyPr wrap="square" lIns="0" tIns="0" rIns="0" bIns="0" rtlCol="0" anchor="t"/>
          <a:lstStyle/>
          <a:p>
            <a:pPr algn="l" indent="0" marL="0">
              <a:lnSpc>
                <a:spcPct val="106000"/>
              </a:lnSpc>
              <a:buNone/>
            </a:pPr>
            <a:r>
              <a:rPr lang="en-US" sz="960" dirty="0">
                <a:solidFill>
                  <a:srgbClr val="52606D"/>
                </a:solidFill>
                <a:latin typeface="Aptos" pitchFamily="34" charset="0"/>
                <a:ea typeface="Aptos" pitchFamily="34" charset="-122"/>
                <a:cs typeface="Aptos" pitchFamily="34" charset="-120"/>
              </a:rPr>
              <a:t>Con ocho bloques, casi todos los intentos terminan en 409. Un rechazo por bloque tomado es la respuesta correcta, no una falla.</a:t>
            </a:r>
            <a:endParaRPr lang="en-US" sz="960" dirty="0"/>
          </a:p>
        </p:txBody>
      </p:sp>
      <p:sp>
        <p:nvSpPr>
          <p:cNvPr id="45" name="Text 41"/>
          <p:cNvSpPr txBox="1"/>
          <p:nvPr/>
        </p:nvSpPr>
        <p:spPr>
          <a:xfrm>
            <a:off x="7790688" y="5888736"/>
            <a:ext cx="3742639" cy="457200"/>
          </a:xfrm>
          <a:prstGeom prst="rect">
            <a:avLst/>
          </a:prstGeom>
          <a:noFill/>
          <a:ln/>
        </p:spPr>
        <p:txBody>
          <a:bodyPr wrap="square" lIns="0" tIns="0" rIns="0" bIns="0" rtlCol="0" anchor="t"/>
          <a:lstStyle/>
          <a:p>
            <a:pPr algn="l" indent="0" marL="0">
              <a:lnSpc>
                <a:spcPct val="106000"/>
              </a:lnSpc>
              <a:buNone/>
            </a:pPr>
            <a:r>
              <a:rPr lang="en-US" sz="940" i="1" dirty="0">
                <a:solidFill>
                  <a:srgbClr val="52606D"/>
                </a:solidFill>
                <a:latin typeface="Aptos" pitchFamily="34" charset="0"/>
                <a:ea typeface="Aptos" pitchFamily="34" charset="-122"/>
                <a:cs typeface="Aptos" pitchFamily="34" charset="-120"/>
              </a:rPr>
              <a:t>Nombre, RUT y correo salen de un número al azar: cada intento es de una persona distinta, y los datos no son de nadie.</a:t>
            </a:r>
            <a:endParaRPr lang="en-US" sz="9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MEDICIÓN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Con cien usuarios, el criterio se cumple</a:t>
            </a:r>
            <a:endParaRPr lang="en-US" sz="3000" dirty="0"/>
          </a:p>
        </p:txBody>
      </p:sp>
      <p:sp>
        <p:nvSpPr>
          <p:cNvPr id="10" name="Shape 7"/>
          <p:cNvSpPr/>
          <p:nvPr/>
        </p:nvSpPr>
        <p:spPr>
          <a:xfrm>
            <a:off x="658368" y="1700784"/>
            <a:ext cx="10874959" cy="1005078"/>
          </a:xfrm>
          <a:prstGeom prst="roundRect">
            <a:avLst>
              <a:gd name="adj" fmla="val 4549"/>
            </a:avLst>
          </a:prstGeom>
          <a:solidFill>
            <a:srgbClr val="0F1720"/>
          </a:solidFill>
          <a:ln w="12700">
            <a:solidFill>
              <a:srgbClr val="0F1720"/>
            </a:solidFill>
            <a:prstDash val="solid"/>
          </a:ln>
        </p:spPr>
      </p:sp>
      <p:sp>
        <p:nvSpPr>
          <p:cNvPr id="11" name="Shape 8"/>
          <p:cNvSpPr/>
          <p:nvPr/>
        </p:nvSpPr>
        <p:spPr>
          <a:xfrm>
            <a:off x="818388" y="1833372"/>
            <a:ext cx="82296" cy="82296"/>
          </a:xfrm>
          <a:prstGeom prst="ellipse">
            <a:avLst/>
          </a:prstGeom>
          <a:solidFill>
            <a:srgbClr val="52606D"/>
          </a:solidFill>
          <a:ln w="12700">
            <a:solidFill>
              <a:srgbClr val="52606D"/>
            </a:solidFill>
            <a:prstDash val="solid"/>
          </a:ln>
        </p:spPr>
      </p:sp>
      <p:sp>
        <p:nvSpPr>
          <p:cNvPr id="12" name="Shape 9"/>
          <p:cNvSpPr/>
          <p:nvPr/>
        </p:nvSpPr>
        <p:spPr>
          <a:xfrm>
            <a:off x="973836" y="1833372"/>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833372"/>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783080"/>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Dos terminales: la API en una, Locust en la otra</a:t>
            </a:r>
            <a:endParaRPr lang="en-US" sz="940" dirty="0"/>
          </a:p>
        </p:txBody>
      </p:sp>
      <p:sp>
        <p:nvSpPr>
          <p:cNvPr id="15" name="Text 12"/>
          <p:cNvSpPr/>
          <p:nvPr/>
        </p:nvSpPr>
        <p:spPr>
          <a:xfrm>
            <a:off x="859536" y="2176272"/>
            <a:ext cx="10472623" cy="200787"/>
          </a:xfrm>
          <a:prstGeom prst="rect">
            <a:avLst/>
          </a:prstGeom>
          <a:noFill/>
          <a:ln/>
        </p:spPr>
        <p:txBody>
          <a:bodyPr wrap="square" lIns="0" tIns="0" rIns="0" bIns="0" rtlCol="0" anchor="ctr"/>
          <a:lstStyle/>
          <a:p>
            <a:pPr indent="0" marL="0">
              <a:buNone/>
            </a:pPr>
            <a:r>
              <a:rPr lang="en-US" sz="1020" dirty="0">
                <a:solidFill>
                  <a:srgbClr val="E0BC5A"/>
                </a:solidFill>
                <a:latin typeface="Consolas" pitchFamily="34" charset="0"/>
                <a:ea typeface="Consolas" pitchFamily="34" charset="-122"/>
                <a:cs typeface="Consolas" pitchFamily="34" charset="-120"/>
              </a:rPr>
              <a:t>&gt; uv run uvicorn api:app --host 127.0.0.1 --port 8000</a:t>
            </a:r>
            <a:endParaRPr lang="en-US" sz="1020" dirty="0"/>
          </a:p>
        </p:txBody>
      </p:sp>
      <p:sp>
        <p:nvSpPr>
          <p:cNvPr id="16" name="Text 13"/>
          <p:cNvSpPr/>
          <p:nvPr/>
        </p:nvSpPr>
        <p:spPr>
          <a:xfrm>
            <a:off x="859536" y="2377059"/>
            <a:ext cx="10472623" cy="200787"/>
          </a:xfrm>
          <a:prstGeom prst="rect">
            <a:avLst/>
          </a:prstGeom>
          <a:noFill/>
          <a:ln/>
        </p:spPr>
        <p:txBody>
          <a:bodyPr wrap="square" lIns="0" tIns="0" rIns="0" bIns="0" rtlCol="0" anchor="ctr"/>
          <a:lstStyle/>
          <a:p>
            <a:pPr indent="0" marL="0">
              <a:buNone/>
            </a:pPr>
            <a:r>
              <a:rPr lang="en-US" sz="1020" dirty="0">
                <a:solidFill>
                  <a:srgbClr val="E0BC5A"/>
                </a:solidFill>
                <a:latin typeface="Consolas" pitchFamily="34" charset="0"/>
                <a:ea typeface="Consolas" pitchFamily="34" charset="-122"/>
                <a:cs typeface="Consolas" pitchFamily="34" charset="-120"/>
              </a:rPr>
              <a:t>&gt; uv run locust --headless -u 100 -r 20 -t 40s --host http://127.0.0.1:8000</a:t>
            </a:r>
            <a:endParaRPr lang="en-US" sz="1020" dirty="0"/>
          </a:p>
        </p:txBody>
      </p:sp>
      <p:sp>
        <p:nvSpPr>
          <p:cNvPr id="17" name="Text 14"/>
          <p:cNvSpPr txBox="1"/>
          <p:nvPr/>
        </p:nvSpPr>
        <p:spPr>
          <a:xfrm>
            <a:off x="658368" y="2706624"/>
            <a:ext cx="10874959" cy="219456"/>
          </a:xfrm>
          <a:prstGeom prst="rect">
            <a:avLst/>
          </a:prstGeom>
          <a:noFill/>
          <a:ln/>
        </p:spPr>
        <p:txBody>
          <a:bodyPr wrap="square" lIns="0" tIns="0" rIns="0" bIns="0" rtlCol="0" anchor="t"/>
          <a:lstStyle/>
          <a:p>
            <a:pPr algn="l" indent="0" marL="0">
              <a:buNone/>
            </a:pPr>
            <a:r>
              <a:rPr lang="en-US" sz="1000" i="1" dirty="0">
                <a:solidFill>
                  <a:srgbClr val="52606D"/>
                </a:solidFill>
                <a:latin typeface="Aptos" pitchFamily="34" charset="0"/>
                <a:ea typeface="Aptos" pitchFamily="34" charset="-122"/>
                <a:cs typeface="Aptos" pitchFamily="34" charset="-120"/>
              </a:rPr>
              <a:t>-u usuarios simulados · -r cuántos se agregan por segundo · -t duración · --headless sin ventana. Cada ejecución con una cantidad de usuarios es una tanda.</a:t>
            </a:r>
            <a:endParaRPr lang="en-US" sz="1000" dirty="0"/>
          </a:p>
        </p:txBody>
      </p:sp>
      <p:sp>
        <p:nvSpPr>
          <p:cNvPr id="18" name="Text 15"/>
          <p:cNvSpPr txBox="1"/>
          <p:nvPr/>
        </p:nvSpPr>
        <p:spPr>
          <a:xfrm>
            <a:off x="658368" y="3054096"/>
            <a:ext cx="1371600" cy="182880"/>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USUARIOS</a:t>
            </a:r>
            <a:endParaRPr lang="en-US" sz="900" dirty="0"/>
          </a:p>
        </p:txBody>
      </p:sp>
      <p:sp>
        <p:nvSpPr>
          <p:cNvPr id="19" name="Text 16"/>
          <p:cNvSpPr txBox="1"/>
          <p:nvPr/>
        </p:nvSpPr>
        <p:spPr>
          <a:xfrm>
            <a:off x="2212848" y="3054096"/>
            <a:ext cx="2743200" cy="182880"/>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p95 DE CADA TANDA</a:t>
            </a:r>
            <a:endParaRPr lang="en-US" sz="900" dirty="0"/>
          </a:p>
        </p:txBody>
      </p:sp>
      <p:sp>
        <p:nvSpPr>
          <p:cNvPr id="20" name="Text 17"/>
          <p:cNvSpPr txBox="1"/>
          <p:nvPr/>
        </p:nvSpPr>
        <p:spPr>
          <a:xfrm>
            <a:off x="8156448" y="3054096"/>
            <a:ext cx="3474720" cy="182880"/>
          </a:xfrm>
          <a:prstGeom prst="rect">
            <a:avLst/>
          </a:prstGeom>
          <a:noFill/>
          <a:ln/>
        </p:spPr>
        <p:txBody>
          <a:bodyPr wrap="square" lIns="0" tIns="0" rIns="0" bIns="0" rtlCol="0" anchor="t"/>
          <a:lstStyle/>
          <a:p>
            <a:pPr algn="l" indent="0" marL="0">
              <a:buNone/>
            </a:pPr>
            <a:r>
              <a:rPr lang="en-US" sz="800" b="1" spc="50" kern="0" dirty="0">
                <a:solidFill>
                  <a:srgbClr val="52606D"/>
                </a:solidFill>
                <a:latin typeface="Aptos" pitchFamily="34" charset="0"/>
                <a:ea typeface="Aptos" pitchFamily="34" charset="-122"/>
                <a:cs typeface="Aptos" pitchFamily="34" charset="-120"/>
              </a:rPr>
              <a:t>p50 · p99 · FALLAS · SOLICITUDES POR SEGUNDO</a:t>
            </a:r>
            <a:endParaRPr lang="en-US" sz="800" dirty="0"/>
          </a:p>
        </p:txBody>
      </p:sp>
      <p:sp>
        <p:nvSpPr>
          <p:cNvPr id="21" name="Text 18"/>
          <p:cNvSpPr txBox="1"/>
          <p:nvPr/>
        </p:nvSpPr>
        <p:spPr>
          <a:xfrm>
            <a:off x="658368" y="3383280"/>
            <a:ext cx="1280160" cy="310896"/>
          </a:xfrm>
          <a:prstGeom prst="rect">
            <a:avLst/>
          </a:prstGeom>
          <a:noFill/>
          <a:ln/>
        </p:spPr>
        <p:txBody>
          <a:bodyPr wrap="square" lIns="0" tIns="0" rIns="0" bIns="0" rtlCol="0" anchor="ctr"/>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10</a:t>
            </a:r>
            <a:endParaRPr lang="en-US" sz="1700" dirty="0"/>
          </a:p>
        </p:txBody>
      </p:sp>
      <p:sp>
        <p:nvSpPr>
          <p:cNvPr id="22" name="Shape 19"/>
          <p:cNvSpPr/>
          <p:nvPr/>
        </p:nvSpPr>
        <p:spPr>
          <a:xfrm>
            <a:off x="2212848" y="3419856"/>
            <a:ext cx="518334" cy="256032"/>
          </a:xfrm>
          <a:prstGeom prst="rect">
            <a:avLst/>
          </a:prstGeom>
          <a:solidFill>
            <a:srgbClr val="102A43"/>
          </a:solidFill>
          <a:ln w="12700">
            <a:solidFill>
              <a:srgbClr val="102A43"/>
            </a:solidFill>
            <a:prstDash val="solid"/>
          </a:ln>
        </p:spPr>
      </p:sp>
      <p:sp>
        <p:nvSpPr>
          <p:cNvPr id="23" name="Text 20"/>
          <p:cNvSpPr txBox="1"/>
          <p:nvPr/>
        </p:nvSpPr>
        <p:spPr>
          <a:xfrm>
            <a:off x="2822622" y="3419856"/>
            <a:ext cx="822960" cy="256032"/>
          </a:xfrm>
          <a:prstGeom prst="rect">
            <a:avLst/>
          </a:prstGeom>
          <a:noFill/>
          <a:ln/>
        </p:spPr>
        <p:txBody>
          <a:bodyPr wrap="square" lIns="0" tIns="0" rIns="0" bIns="0" rtlCol="0" anchor="ctr"/>
          <a:lstStyle/>
          <a:p>
            <a:pPr algn="l" indent="0" marL="0">
              <a:buNone/>
            </a:pPr>
            <a:r>
              <a:rPr lang="en-US" sz="1100" b="1" dirty="0">
                <a:solidFill>
                  <a:srgbClr val="243B53"/>
                </a:solidFill>
                <a:latin typeface="Aptos" pitchFamily="34" charset="0"/>
                <a:ea typeface="Aptos" pitchFamily="34" charset="-122"/>
                <a:cs typeface="Aptos" pitchFamily="34" charset="-120"/>
              </a:rPr>
              <a:t>32 ms</a:t>
            </a:r>
            <a:endParaRPr lang="en-US" sz="1100" dirty="0"/>
          </a:p>
        </p:txBody>
      </p:sp>
      <p:sp>
        <p:nvSpPr>
          <p:cNvPr id="24" name="Text 21"/>
          <p:cNvSpPr txBox="1"/>
          <p:nvPr/>
        </p:nvSpPr>
        <p:spPr>
          <a:xfrm>
            <a:off x="8156448" y="3419856"/>
            <a:ext cx="3200400" cy="256032"/>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5 ms · 64 ms · 0 · 5,0</a:t>
            </a:r>
            <a:endParaRPr lang="en-US" sz="1040" dirty="0"/>
          </a:p>
        </p:txBody>
      </p:sp>
      <p:sp>
        <p:nvSpPr>
          <p:cNvPr id="25" name="Text 22"/>
          <p:cNvSpPr txBox="1"/>
          <p:nvPr/>
        </p:nvSpPr>
        <p:spPr>
          <a:xfrm>
            <a:off x="658368" y="3895344"/>
            <a:ext cx="1280160" cy="310896"/>
          </a:xfrm>
          <a:prstGeom prst="rect">
            <a:avLst/>
          </a:prstGeom>
          <a:noFill/>
          <a:ln/>
        </p:spPr>
        <p:txBody>
          <a:bodyPr wrap="square" lIns="0" tIns="0" rIns="0" bIns="0" rtlCol="0" anchor="ctr"/>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50</a:t>
            </a:r>
            <a:endParaRPr lang="en-US" sz="1700" dirty="0"/>
          </a:p>
        </p:txBody>
      </p:sp>
      <p:sp>
        <p:nvSpPr>
          <p:cNvPr id="26" name="Shape 23"/>
          <p:cNvSpPr/>
          <p:nvPr/>
        </p:nvSpPr>
        <p:spPr>
          <a:xfrm>
            <a:off x="2212848" y="3931920"/>
            <a:ext cx="421147" cy="256032"/>
          </a:xfrm>
          <a:prstGeom prst="rect">
            <a:avLst/>
          </a:prstGeom>
          <a:solidFill>
            <a:srgbClr val="102A43"/>
          </a:solidFill>
          <a:ln w="12700">
            <a:solidFill>
              <a:srgbClr val="102A43"/>
            </a:solidFill>
            <a:prstDash val="solid"/>
          </a:ln>
        </p:spPr>
      </p:sp>
      <p:sp>
        <p:nvSpPr>
          <p:cNvPr id="27" name="Text 24"/>
          <p:cNvSpPr txBox="1"/>
          <p:nvPr/>
        </p:nvSpPr>
        <p:spPr>
          <a:xfrm>
            <a:off x="2725435" y="3931920"/>
            <a:ext cx="822960" cy="256032"/>
          </a:xfrm>
          <a:prstGeom prst="rect">
            <a:avLst/>
          </a:prstGeom>
          <a:noFill/>
          <a:ln/>
        </p:spPr>
        <p:txBody>
          <a:bodyPr wrap="square" lIns="0" tIns="0" rIns="0" bIns="0" rtlCol="0" anchor="ctr"/>
          <a:lstStyle/>
          <a:p>
            <a:pPr algn="l" indent="0" marL="0">
              <a:buNone/>
            </a:pPr>
            <a:r>
              <a:rPr lang="en-US" sz="1100" b="1" dirty="0">
                <a:solidFill>
                  <a:srgbClr val="243B53"/>
                </a:solidFill>
                <a:latin typeface="Aptos" pitchFamily="34" charset="0"/>
                <a:ea typeface="Aptos" pitchFamily="34" charset="-122"/>
                <a:cs typeface="Aptos" pitchFamily="34" charset="-120"/>
              </a:rPr>
              <a:t>26 ms</a:t>
            </a:r>
            <a:endParaRPr lang="en-US" sz="1100" dirty="0"/>
          </a:p>
        </p:txBody>
      </p:sp>
      <p:sp>
        <p:nvSpPr>
          <p:cNvPr id="28" name="Text 25"/>
          <p:cNvSpPr txBox="1"/>
          <p:nvPr/>
        </p:nvSpPr>
        <p:spPr>
          <a:xfrm>
            <a:off x="8156448" y="3931920"/>
            <a:ext cx="3200400" cy="256032"/>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5 ms · 100 ms · 0 · 24,5</a:t>
            </a:r>
            <a:endParaRPr lang="en-US" sz="1040" dirty="0"/>
          </a:p>
        </p:txBody>
      </p:sp>
      <p:sp>
        <p:nvSpPr>
          <p:cNvPr id="29" name="Shape 26"/>
          <p:cNvSpPr/>
          <p:nvPr/>
        </p:nvSpPr>
        <p:spPr>
          <a:xfrm>
            <a:off x="603504" y="4315968"/>
            <a:ext cx="10984687" cy="493776"/>
          </a:xfrm>
          <a:prstGeom prst="rect">
            <a:avLst/>
          </a:prstGeom>
          <a:solidFill>
            <a:srgbClr val="F2E7D9"/>
          </a:solidFill>
          <a:ln w="12700">
            <a:solidFill>
              <a:srgbClr val="F2E7D9"/>
            </a:solidFill>
            <a:prstDash val="solid"/>
          </a:ln>
        </p:spPr>
      </p:sp>
      <p:sp>
        <p:nvSpPr>
          <p:cNvPr id="30" name="Text 27"/>
          <p:cNvSpPr txBox="1"/>
          <p:nvPr/>
        </p:nvSpPr>
        <p:spPr>
          <a:xfrm>
            <a:off x="658368" y="4407408"/>
            <a:ext cx="1280160" cy="310896"/>
          </a:xfrm>
          <a:prstGeom prst="rect">
            <a:avLst/>
          </a:prstGeom>
          <a:noFill/>
          <a:ln/>
        </p:spPr>
        <p:txBody>
          <a:bodyPr wrap="square" lIns="0" tIns="0" rIns="0" bIns="0" rtlCol="0" anchor="ctr"/>
          <a:lstStyle/>
          <a:p>
            <a:pPr algn="l" indent="0" marL="0">
              <a:buNone/>
            </a:pPr>
            <a:r>
              <a:rPr lang="en-US" sz="1700" b="1" dirty="0">
                <a:solidFill>
                  <a:srgbClr val="B3181E"/>
                </a:solidFill>
                <a:latin typeface="Aptos Display" pitchFamily="34" charset="0"/>
                <a:ea typeface="Aptos Display" pitchFamily="34" charset="-122"/>
                <a:cs typeface="Aptos Display" pitchFamily="34" charset="-120"/>
              </a:rPr>
              <a:t>100</a:t>
            </a:r>
            <a:endParaRPr lang="en-US" sz="1700" dirty="0"/>
          </a:p>
        </p:txBody>
      </p:sp>
      <p:sp>
        <p:nvSpPr>
          <p:cNvPr id="31" name="Shape 28"/>
          <p:cNvSpPr/>
          <p:nvPr/>
        </p:nvSpPr>
        <p:spPr>
          <a:xfrm>
            <a:off x="2212848" y="4443984"/>
            <a:ext cx="777501" cy="256032"/>
          </a:xfrm>
          <a:prstGeom prst="rect">
            <a:avLst/>
          </a:prstGeom>
          <a:solidFill>
            <a:srgbClr val="B3181E"/>
          </a:solidFill>
          <a:ln w="12700">
            <a:solidFill>
              <a:srgbClr val="B3181E"/>
            </a:solidFill>
            <a:prstDash val="solid"/>
          </a:ln>
        </p:spPr>
      </p:sp>
      <p:sp>
        <p:nvSpPr>
          <p:cNvPr id="32" name="Text 29"/>
          <p:cNvSpPr txBox="1"/>
          <p:nvPr/>
        </p:nvSpPr>
        <p:spPr>
          <a:xfrm>
            <a:off x="3081789" y="4443984"/>
            <a:ext cx="822960" cy="256032"/>
          </a:xfrm>
          <a:prstGeom prst="rect">
            <a:avLst/>
          </a:prstGeom>
          <a:noFill/>
          <a:ln/>
        </p:spPr>
        <p:txBody>
          <a:bodyPr wrap="square" lIns="0" tIns="0" rIns="0" bIns="0" rtlCol="0" anchor="ctr"/>
          <a:lstStyle/>
          <a:p>
            <a:pPr algn="l" indent="0" marL="0">
              <a:buNone/>
            </a:pPr>
            <a:r>
              <a:rPr lang="en-US" sz="1100" b="1" dirty="0">
                <a:solidFill>
                  <a:srgbClr val="B3181E"/>
                </a:solidFill>
                <a:latin typeface="Aptos" pitchFamily="34" charset="0"/>
                <a:ea typeface="Aptos" pitchFamily="34" charset="-122"/>
                <a:cs typeface="Aptos" pitchFamily="34" charset="-120"/>
              </a:rPr>
              <a:t>48 ms</a:t>
            </a:r>
            <a:endParaRPr lang="en-US" sz="1100" dirty="0"/>
          </a:p>
        </p:txBody>
      </p:sp>
      <p:sp>
        <p:nvSpPr>
          <p:cNvPr id="33" name="Text 30"/>
          <p:cNvSpPr txBox="1"/>
          <p:nvPr/>
        </p:nvSpPr>
        <p:spPr>
          <a:xfrm>
            <a:off x="8156448" y="4443984"/>
            <a:ext cx="3200400" cy="256032"/>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5 ms · 76 ms · 0 · 48,4</a:t>
            </a:r>
            <a:endParaRPr lang="en-US" sz="1040" dirty="0"/>
          </a:p>
        </p:txBody>
      </p:sp>
      <p:sp>
        <p:nvSpPr>
          <p:cNvPr id="34" name="Text 31"/>
          <p:cNvSpPr txBox="1"/>
          <p:nvPr/>
        </p:nvSpPr>
        <p:spPr>
          <a:xfrm>
            <a:off x="658368" y="4919472"/>
            <a:ext cx="1280160" cy="310896"/>
          </a:xfrm>
          <a:prstGeom prst="rect">
            <a:avLst/>
          </a:prstGeom>
          <a:noFill/>
          <a:ln/>
        </p:spPr>
        <p:txBody>
          <a:bodyPr wrap="square" lIns="0" tIns="0" rIns="0" bIns="0" rtlCol="0" anchor="ctr"/>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200</a:t>
            </a:r>
            <a:endParaRPr lang="en-US" sz="1700" dirty="0"/>
          </a:p>
        </p:txBody>
      </p:sp>
      <p:sp>
        <p:nvSpPr>
          <p:cNvPr id="35" name="Shape 32"/>
          <p:cNvSpPr/>
          <p:nvPr/>
        </p:nvSpPr>
        <p:spPr>
          <a:xfrm>
            <a:off x="2212848" y="4956048"/>
            <a:ext cx="761303" cy="256032"/>
          </a:xfrm>
          <a:prstGeom prst="rect">
            <a:avLst/>
          </a:prstGeom>
          <a:solidFill>
            <a:srgbClr val="102A43"/>
          </a:solidFill>
          <a:ln w="12700">
            <a:solidFill>
              <a:srgbClr val="102A43"/>
            </a:solidFill>
            <a:prstDash val="solid"/>
          </a:ln>
        </p:spPr>
      </p:sp>
      <p:sp>
        <p:nvSpPr>
          <p:cNvPr id="36" name="Text 33"/>
          <p:cNvSpPr txBox="1"/>
          <p:nvPr/>
        </p:nvSpPr>
        <p:spPr>
          <a:xfrm>
            <a:off x="3065591" y="4956048"/>
            <a:ext cx="822960" cy="256032"/>
          </a:xfrm>
          <a:prstGeom prst="rect">
            <a:avLst/>
          </a:prstGeom>
          <a:noFill/>
          <a:ln/>
        </p:spPr>
        <p:txBody>
          <a:bodyPr wrap="square" lIns="0" tIns="0" rIns="0" bIns="0" rtlCol="0" anchor="ctr"/>
          <a:lstStyle/>
          <a:p>
            <a:pPr algn="l" indent="0" marL="0">
              <a:buNone/>
            </a:pPr>
            <a:r>
              <a:rPr lang="en-US" sz="1100" b="1" dirty="0">
                <a:solidFill>
                  <a:srgbClr val="243B53"/>
                </a:solidFill>
                <a:latin typeface="Aptos" pitchFamily="34" charset="0"/>
                <a:ea typeface="Aptos" pitchFamily="34" charset="-122"/>
                <a:cs typeface="Aptos" pitchFamily="34" charset="-120"/>
              </a:rPr>
              <a:t>47 ms</a:t>
            </a:r>
            <a:endParaRPr lang="en-US" sz="1100" dirty="0"/>
          </a:p>
        </p:txBody>
      </p:sp>
      <p:sp>
        <p:nvSpPr>
          <p:cNvPr id="37" name="Text 34"/>
          <p:cNvSpPr txBox="1"/>
          <p:nvPr/>
        </p:nvSpPr>
        <p:spPr>
          <a:xfrm>
            <a:off x="8156448" y="4956048"/>
            <a:ext cx="3200400" cy="256032"/>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6 ms · 81 ms · 0 · 89,9</a:t>
            </a:r>
            <a:endParaRPr lang="en-US" sz="1040" dirty="0"/>
          </a:p>
        </p:txBody>
      </p:sp>
      <p:sp>
        <p:nvSpPr>
          <p:cNvPr id="38" name="Shape 35"/>
          <p:cNvSpPr/>
          <p:nvPr/>
        </p:nvSpPr>
        <p:spPr>
          <a:xfrm>
            <a:off x="7072231" y="3255264"/>
            <a:ext cx="0" cy="2103120"/>
          </a:xfrm>
          <a:prstGeom prst="line">
            <a:avLst/>
          </a:prstGeom>
          <a:noFill/>
          <a:ln w="12700">
            <a:solidFill>
              <a:srgbClr val="D62027"/>
            </a:solidFill>
            <a:prstDash val="dash"/>
          </a:ln>
        </p:spPr>
      </p:sp>
      <p:sp>
        <p:nvSpPr>
          <p:cNvPr id="39" name="Text 36"/>
          <p:cNvSpPr txBox="1"/>
          <p:nvPr/>
        </p:nvSpPr>
        <p:spPr>
          <a:xfrm>
            <a:off x="5792071" y="5358384"/>
            <a:ext cx="1243584" cy="201168"/>
          </a:xfrm>
          <a:prstGeom prst="rect">
            <a:avLst/>
          </a:prstGeom>
          <a:noFill/>
          <a:ln/>
        </p:spPr>
        <p:txBody>
          <a:bodyPr wrap="square" lIns="0" tIns="0" rIns="0" bIns="0" rtlCol="0" anchor="t"/>
          <a:lstStyle/>
          <a:p>
            <a:pPr algn="r" indent="0" marL="0">
              <a:buNone/>
            </a:pPr>
            <a:r>
              <a:rPr lang="en-US" sz="940" b="1" dirty="0">
                <a:solidFill>
                  <a:srgbClr val="D62027"/>
                </a:solidFill>
                <a:latin typeface="Aptos" pitchFamily="34" charset="0"/>
                <a:ea typeface="Aptos" pitchFamily="34" charset="-122"/>
                <a:cs typeface="Aptos" pitchFamily="34" charset="-120"/>
              </a:rPr>
              <a:t>umbral: 300 ms</a:t>
            </a:r>
            <a:endParaRPr lang="en-US" sz="94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Cien usuarios producen unas 50 solicitudes por segundo: cada uno espera entre 1 y 3 segundos.</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MÁS ALLÁ DE LO PREVISTO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Carga, estrés y escalabilidad</a:t>
            </a:r>
            <a:endParaRPr lang="en-US" sz="3000" dirty="0"/>
          </a:p>
        </p:txBody>
      </p:sp>
      <p:sp>
        <p:nvSpPr>
          <p:cNvPr id="10" name="Shape 7"/>
          <p:cNvSpPr/>
          <p:nvPr/>
        </p:nvSpPr>
        <p:spPr>
          <a:xfrm>
            <a:off x="658368" y="1719072"/>
            <a:ext cx="3539642" cy="932688"/>
          </a:xfrm>
          <a:prstGeom prst="rect">
            <a:avLst/>
          </a:prstGeom>
          <a:solidFill>
            <a:srgbClr val="FFFFFF"/>
          </a:solidFill>
          <a:ln w="12700">
            <a:solidFill>
              <a:srgbClr val="FFFFFF"/>
            </a:solidFill>
            <a:prstDash val="solid"/>
          </a:ln>
        </p:spPr>
      </p:sp>
      <p:sp>
        <p:nvSpPr>
          <p:cNvPr id="11" name="Shape 8"/>
          <p:cNvSpPr/>
          <p:nvPr/>
        </p:nvSpPr>
        <p:spPr>
          <a:xfrm>
            <a:off x="658368" y="1719072"/>
            <a:ext cx="3539642" cy="54864"/>
          </a:xfrm>
          <a:prstGeom prst="rect">
            <a:avLst/>
          </a:prstGeom>
          <a:solidFill>
            <a:srgbClr val="102A43"/>
          </a:solidFill>
          <a:ln w="12700">
            <a:solidFill>
              <a:srgbClr val="102A43"/>
            </a:solidFill>
            <a:prstDash val="solid"/>
          </a:ln>
        </p:spPr>
      </p:sp>
      <p:sp>
        <p:nvSpPr>
          <p:cNvPr id="12" name="Text 9"/>
          <p:cNvSpPr txBox="1"/>
          <p:nvPr/>
        </p:nvSpPr>
        <p:spPr>
          <a:xfrm>
            <a:off x="859536" y="1847088"/>
            <a:ext cx="3173882" cy="256032"/>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Carga</a:t>
            </a:r>
            <a:endParaRPr lang="en-US" sz="1300" dirty="0"/>
          </a:p>
        </p:txBody>
      </p:sp>
      <p:sp>
        <p:nvSpPr>
          <p:cNvPr id="13" name="Text 10"/>
          <p:cNvSpPr txBox="1"/>
          <p:nvPr/>
        </p:nvSpPr>
        <p:spPr>
          <a:xfrm>
            <a:off x="859536" y="2121408"/>
            <a:ext cx="3173882" cy="493776"/>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Evalúa el comportamiento entre las cargas previstas: uso bajo, típico y máximo.</a:t>
            </a:r>
            <a:endParaRPr lang="en-US" sz="1020" dirty="0"/>
          </a:p>
        </p:txBody>
      </p:sp>
      <p:sp>
        <p:nvSpPr>
          <p:cNvPr id="14" name="Shape 11"/>
          <p:cNvSpPr/>
          <p:nvPr/>
        </p:nvSpPr>
        <p:spPr>
          <a:xfrm>
            <a:off x="4326026" y="1719072"/>
            <a:ext cx="3539642" cy="932688"/>
          </a:xfrm>
          <a:prstGeom prst="rect">
            <a:avLst/>
          </a:prstGeom>
          <a:solidFill>
            <a:srgbClr val="FFFFFF"/>
          </a:solidFill>
          <a:ln w="12700">
            <a:solidFill>
              <a:srgbClr val="FFFFFF"/>
            </a:solidFill>
            <a:prstDash val="solid"/>
          </a:ln>
        </p:spPr>
      </p:sp>
      <p:sp>
        <p:nvSpPr>
          <p:cNvPr id="15" name="Shape 12"/>
          <p:cNvSpPr/>
          <p:nvPr/>
        </p:nvSpPr>
        <p:spPr>
          <a:xfrm>
            <a:off x="4326026" y="1719072"/>
            <a:ext cx="3539642" cy="54864"/>
          </a:xfrm>
          <a:prstGeom prst="rect">
            <a:avLst/>
          </a:prstGeom>
          <a:solidFill>
            <a:srgbClr val="B3181E"/>
          </a:solidFill>
          <a:ln w="12700">
            <a:solidFill>
              <a:srgbClr val="B3181E"/>
            </a:solidFill>
            <a:prstDash val="solid"/>
          </a:ln>
        </p:spPr>
      </p:sp>
      <p:sp>
        <p:nvSpPr>
          <p:cNvPr id="16" name="Text 13"/>
          <p:cNvSpPr txBox="1"/>
          <p:nvPr/>
        </p:nvSpPr>
        <p:spPr>
          <a:xfrm>
            <a:off x="4527194" y="1847088"/>
            <a:ext cx="3173882" cy="256032"/>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Estrés</a:t>
            </a:r>
            <a:endParaRPr lang="en-US" sz="1300" dirty="0"/>
          </a:p>
        </p:txBody>
      </p:sp>
      <p:sp>
        <p:nvSpPr>
          <p:cNvPr id="17" name="Text 14"/>
          <p:cNvSpPr txBox="1"/>
          <p:nvPr/>
        </p:nvSpPr>
        <p:spPr>
          <a:xfrm>
            <a:off x="4527194" y="2121408"/>
            <a:ext cx="3173882" cy="493776"/>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Evalúa el sistema en el límite de la carga prevista o más allá, o con menos recursos.</a:t>
            </a:r>
            <a:endParaRPr lang="en-US" sz="1020" dirty="0"/>
          </a:p>
        </p:txBody>
      </p:sp>
      <p:sp>
        <p:nvSpPr>
          <p:cNvPr id="18" name="Shape 15"/>
          <p:cNvSpPr/>
          <p:nvPr/>
        </p:nvSpPr>
        <p:spPr>
          <a:xfrm>
            <a:off x="7993685" y="1719072"/>
            <a:ext cx="3539642" cy="932688"/>
          </a:xfrm>
          <a:prstGeom prst="rect">
            <a:avLst/>
          </a:prstGeom>
          <a:solidFill>
            <a:srgbClr val="FFFFFF"/>
          </a:solidFill>
          <a:ln w="12700">
            <a:solidFill>
              <a:srgbClr val="FFFFFF"/>
            </a:solidFill>
            <a:prstDash val="solid"/>
          </a:ln>
        </p:spPr>
      </p:sp>
      <p:sp>
        <p:nvSpPr>
          <p:cNvPr id="19" name="Shape 16"/>
          <p:cNvSpPr/>
          <p:nvPr/>
        </p:nvSpPr>
        <p:spPr>
          <a:xfrm>
            <a:off x="7993685" y="1719072"/>
            <a:ext cx="3539642" cy="54864"/>
          </a:xfrm>
          <a:prstGeom prst="rect">
            <a:avLst/>
          </a:prstGeom>
          <a:solidFill>
            <a:srgbClr val="2E7D4F"/>
          </a:solidFill>
          <a:ln w="12700">
            <a:solidFill>
              <a:srgbClr val="2E7D4F"/>
            </a:solidFill>
            <a:prstDash val="solid"/>
          </a:ln>
        </p:spPr>
      </p:sp>
      <p:sp>
        <p:nvSpPr>
          <p:cNvPr id="20" name="Text 17"/>
          <p:cNvSpPr txBox="1"/>
          <p:nvPr/>
        </p:nvSpPr>
        <p:spPr>
          <a:xfrm>
            <a:off x="8194853" y="1847088"/>
            <a:ext cx="3173882" cy="256032"/>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Escalabilidad</a:t>
            </a:r>
            <a:endParaRPr lang="en-US" sz="1300" dirty="0"/>
          </a:p>
        </p:txBody>
      </p:sp>
      <p:sp>
        <p:nvSpPr>
          <p:cNvPr id="21" name="Text 18"/>
          <p:cNvSpPr txBox="1"/>
          <p:nvPr/>
        </p:nvSpPr>
        <p:spPr>
          <a:xfrm>
            <a:off x="8194853" y="2121408"/>
            <a:ext cx="3173882" cy="493776"/>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Pregunta si, con más recursos, el sistema aguanta proporcionalmente más.</a:t>
            </a:r>
            <a:endParaRPr lang="en-US" sz="1020" dirty="0"/>
          </a:p>
        </p:txBody>
      </p:sp>
      <p:sp>
        <p:nvSpPr>
          <p:cNvPr id="22" name="Shape 19"/>
          <p:cNvSpPr/>
          <p:nvPr/>
        </p:nvSpPr>
        <p:spPr>
          <a:xfrm>
            <a:off x="658368" y="2743200"/>
            <a:ext cx="45720" cy="182880"/>
          </a:xfrm>
          <a:prstGeom prst="rect">
            <a:avLst/>
          </a:prstGeom>
          <a:solidFill>
            <a:srgbClr val="8A6A12"/>
          </a:solidFill>
          <a:ln w="12700">
            <a:solidFill>
              <a:srgbClr val="8A6A12"/>
            </a:solidFill>
            <a:prstDash val="solid"/>
          </a:ln>
        </p:spPr>
      </p:sp>
      <p:sp>
        <p:nvSpPr>
          <p:cNvPr id="23" name="Text 20"/>
          <p:cNvSpPr txBox="1"/>
          <p:nvPr/>
        </p:nvSpPr>
        <p:spPr>
          <a:xfrm>
            <a:off x="804672" y="2734056"/>
            <a:ext cx="731520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Glosario de ISTQB, versión 3.7 · definiciones traducidas del original en inglés</a:t>
            </a:r>
            <a:endParaRPr lang="en-US" sz="880" dirty="0"/>
          </a:p>
        </p:txBody>
      </p:sp>
      <p:sp>
        <p:nvSpPr>
          <p:cNvPr id="24" name="Text 21"/>
          <p:cNvSpPr txBox="1"/>
          <p:nvPr/>
        </p:nvSpPr>
        <p:spPr>
          <a:xfrm>
            <a:off x="658368" y="3072384"/>
            <a:ext cx="520888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P95 · CON EL UMBRAL DE 300 MS</a:t>
            </a:r>
            <a:endParaRPr lang="en-US" sz="960" dirty="0"/>
          </a:p>
        </p:txBody>
      </p:sp>
      <p:sp>
        <p:nvSpPr>
          <p:cNvPr id="25" name="Text 22"/>
          <p:cNvSpPr txBox="1"/>
          <p:nvPr/>
        </p:nvSpPr>
        <p:spPr>
          <a:xfrm>
            <a:off x="6324448" y="3072384"/>
            <a:ext cx="520888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SOLICITUDES POR SEGUNDO</a:t>
            </a:r>
            <a:endParaRPr lang="en-US" sz="960" dirty="0"/>
          </a:p>
        </p:txBody>
      </p:sp>
      <p:sp>
        <p:nvSpPr>
          <p:cNvPr id="26" name="Text 23"/>
          <p:cNvSpPr txBox="1"/>
          <p:nvPr/>
        </p:nvSpPr>
        <p:spPr>
          <a:xfrm>
            <a:off x="658368" y="3438144"/>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500</a:t>
            </a:r>
            <a:endParaRPr lang="en-US" sz="1240" dirty="0"/>
          </a:p>
        </p:txBody>
      </p:sp>
      <p:sp>
        <p:nvSpPr>
          <p:cNvPr id="27" name="Shape 24"/>
          <p:cNvSpPr/>
          <p:nvPr/>
        </p:nvSpPr>
        <p:spPr>
          <a:xfrm>
            <a:off x="1527048" y="3456432"/>
            <a:ext cx="155016" cy="256032"/>
          </a:xfrm>
          <a:prstGeom prst="rect">
            <a:avLst/>
          </a:prstGeom>
          <a:solidFill>
            <a:srgbClr val="102A43"/>
          </a:solidFill>
          <a:ln w="12700">
            <a:solidFill>
              <a:srgbClr val="102A43"/>
            </a:solidFill>
            <a:prstDash val="solid"/>
          </a:ln>
        </p:spPr>
      </p:sp>
      <p:sp>
        <p:nvSpPr>
          <p:cNvPr id="28" name="Text 25"/>
          <p:cNvSpPr txBox="1"/>
          <p:nvPr/>
        </p:nvSpPr>
        <p:spPr>
          <a:xfrm>
            <a:off x="1863423" y="3456432"/>
            <a:ext cx="1097280" cy="256032"/>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160 ms</a:t>
            </a:r>
            <a:endParaRPr lang="en-US" sz="1060" dirty="0"/>
          </a:p>
        </p:txBody>
      </p:sp>
      <p:sp>
        <p:nvSpPr>
          <p:cNvPr id="29" name="Text 26"/>
          <p:cNvSpPr txBox="1"/>
          <p:nvPr/>
        </p:nvSpPr>
        <p:spPr>
          <a:xfrm>
            <a:off x="6324448" y="3438144"/>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500</a:t>
            </a:r>
            <a:endParaRPr lang="en-US" sz="1240" dirty="0"/>
          </a:p>
        </p:txBody>
      </p:sp>
      <p:sp>
        <p:nvSpPr>
          <p:cNvPr id="30" name="Shape 27"/>
          <p:cNvSpPr/>
          <p:nvPr/>
        </p:nvSpPr>
        <p:spPr>
          <a:xfrm>
            <a:off x="7193128" y="3456432"/>
            <a:ext cx="2181404" cy="256032"/>
          </a:xfrm>
          <a:prstGeom prst="rect">
            <a:avLst/>
          </a:prstGeom>
          <a:solidFill>
            <a:srgbClr val="102A43"/>
          </a:solidFill>
          <a:ln w="12700">
            <a:solidFill>
              <a:srgbClr val="102A43"/>
            </a:solidFill>
            <a:prstDash val="solid"/>
          </a:ln>
        </p:spPr>
      </p:sp>
      <p:sp>
        <p:nvSpPr>
          <p:cNvPr id="31" name="Text 28"/>
          <p:cNvSpPr txBox="1"/>
          <p:nvPr/>
        </p:nvSpPr>
        <p:spPr>
          <a:xfrm>
            <a:off x="9420251" y="3456432"/>
            <a:ext cx="1371600" cy="256032"/>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238,8</a:t>
            </a:r>
            <a:endParaRPr lang="en-US" sz="1060" dirty="0"/>
          </a:p>
        </p:txBody>
      </p:sp>
      <p:sp>
        <p:nvSpPr>
          <p:cNvPr id="32" name="Text 29"/>
          <p:cNvSpPr txBox="1"/>
          <p:nvPr/>
        </p:nvSpPr>
        <p:spPr>
          <a:xfrm>
            <a:off x="658368" y="4005072"/>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1.000</a:t>
            </a:r>
            <a:endParaRPr lang="en-US" sz="1240" dirty="0"/>
          </a:p>
        </p:txBody>
      </p:sp>
      <p:sp>
        <p:nvSpPr>
          <p:cNvPr id="33" name="Shape 30"/>
          <p:cNvSpPr/>
          <p:nvPr/>
        </p:nvSpPr>
        <p:spPr>
          <a:xfrm>
            <a:off x="1527048" y="4023360"/>
            <a:ext cx="1550157" cy="256032"/>
          </a:xfrm>
          <a:prstGeom prst="rect">
            <a:avLst/>
          </a:prstGeom>
          <a:solidFill>
            <a:srgbClr val="B3181E"/>
          </a:solidFill>
          <a:ln w="12700">
            <a:solidFill>
              <a:srgbClr val="B3181E"/>
            </a:solidFill>
            <a:prstDash val="solid"/>
          </a:ln>
        </p:spPr>
      </p:sp>
      <p:sp>
        <p:nvSpPr>
          <p:cNvPr id="34" name="Text 31"/>
          <p:cNvSpPr txBox="1"/>
          <p:nvPr/>
        </p:nvSpPr>
        <p:spPr>
          <a:xfrm>
            <a:off x="3122925" y="4023360"/>
            <a:ext cx="109728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Aptos" pitchFamily="34" charset="0"/>
                <a:ea typeface="Aptos" pitchFamily="34" charset="-122"/>
                <a:cs typeface="Aptos" pitchFamily="34" charset="-120"/>
              </a:rPr>
              <a:t>1.600 ms</a:t>
            </a:r>
            <a:endParaRPr lang="en-US" sz="1060" dirty="0"/>
          </a:p>
        </p:txBody>
      </p:sp>
      <p:sp>
        <p:nvSpPr>
          <p:cNvPr id="35" name="Text 32"/>
          <p:cNvSpPr txBox="1"/>
          <p:nvPr/>
        </p:nvSpPr>
        <p:spPr>
          <a:xfrm>
            <a:off x="6324448" y="4005072"/>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1.000</a:t>
            </a:r>
            <a:endParaRPr lang="en-US" sz="1240" dirty="0"/>
          </a:p>
        </p:txBody>
      </p:sp>
      <p:sp>
        <p:nvSpPr>
          <p:cNvPr id="36" name="Shape 33"/>
          <p:cNvSpPr/>
          <p:nvPr/>
        </p:nvSpPr>
        <p:spPr>
          <a:xfrm>
            <a:off x="7193128" y="4023360"/>
            <a:ext cx="2915846" cy="256032"/>
          </a:xfrm>
          <a:prstGeom prst="rect">
            <a:avLst/>
          </a:prstGeom>
          <a:solidFill>
            <a:srgbClr val="102A43"/>
          </a:solidFill>
          <a:ln w="12700">
            <a:solidFill>
              <a:srgbClr val="102A43"/>
            </a:solidFill>
            <a:prstDash val="solid"/>
          </a:ln>
        </p:spPr>
      </p:sp>
      <p:sp>
        <p:nvSpPr>
          <p:cNvPr id="37" name="Text 34"/>
          <p:cNvSpPr txBox="1"/>
          <p:nvPr/>
        </p:nvSpPr>
        <p:spPr>
          <a:xfrm>
            <a:off x="10154694" y="4023360"/>
            <a:ext cx="1371600" cy="256032"/>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319,2</a:t>
            </a:r>
            <a:endParaRPr lang="en-US" sz="1060" dirty="0"/>
          </a:p>
        </p:txBody>
      </p:sp>
      <p:sp>
        <p:nvSpPr>
          <p:cNvPr id="38" name="Text 35"/>
          <p:cNvSpPr txBox="1"/>
          <p:nvPr/>
        </p:nvSpPr>
        <p:spPr>
          <a:xfrm>
            <a:off x="658368" y="4572000"/>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2.000</a:t>
            </a:r>
            <a:endParaRPr lang="en-US" sz="1240" dirty="0"/>
          </a:p>
        </p:txBody>
      </p:sp>
      <p:sp>
        <p:nvSpPr>
          <p:cNvPr id="39" name="Shape 36"/>
          <p:cNvSpPr/>
          <p:nvPr/>
        </p:nvSpPr>
        <p:spPr>
          <a:xfrm>
            <a:off x="1527048" y="4590288"/>
            <a:ext cx="3197200" cy="256032"/>
          </a:xfrm>
          <a:prstGeom prst="rect">
            <a:avLst/>
          </a:prstGeom>
          <a:solidFill>
            <a:srgbClr val="B3181E"/>
          </a:solidFill>
          <a:ln w="12700">
            <a:solidFill>
              <a:srgbClr val="B3181E"/>
            </a:solidFill>
            <a:prstDash val="solid"/>
          </a:ln>
        </p:spPr>
      </p:sp>
      <p:sp>
        <p:nvSpPr>
          <p:cNvPr id="40" name="Text 37"/>
          <p:cNvSpPr txBox="1"/>
          <p:nvPr/>
        </p:nvSpPr>
        <p:spPr>
          <a:xfrm>
            <a:off x="4769968" y="4590288"/>
            <a:ext cx="109728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Aptos" pitchFamily="34" charset="0"/>
                <a:ea typeface="Aptos" pitchFamily="34" charset="-122"/>
                <a:cs typeface="Aptos" pitchFamily="34" charset="-120"/>
              </a:rPr>
              <a:t>3.300 ms</a:t>
            </a:r>
            <a:endParaRPr lang="en-US" sz="1060" dirty="0"/>
          </a:p>
        </p:txBody>
      </p:sp>
      <p:sp>
        <p:nvSpPr>
          <p:cNvPr id="41" name="Text 38"/>
          <p:cNvSpPr txBox="1"/>
          <p:nvPr/>
        </p:nvSpPr>
        <p:spPr>
          <a:xfrm>
            <a:off x="6324448" y="4572000"/>
            <a:ext cx="822960" cy="274320"/>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2.000</a:t>
            </a:r>
            <a:endParaRPr lang="en-US" sz="1240" dirty="0"/>
          </a:p>
        </p:txBody>
      </p:sp>
      <p:sp>
        <p:nvSpPr>
          <p:cNvPr id="42" name="Shape 39"/>
          <p:cNvSpPr/>
          <p:nvPr/>
        </p:nvSpPr>
        <p:spPr>
          <a:xfrm>
            <a:off x="7193128" y="4590288"/>
            <a:ext cx="2762380" cy="256032"/>
          </a:xfrm>
          <a:prstGeom prst="rect">
            <a:avLst/>
          </a:prstGeom>
          <a:solidFill>
            <a:srgbClr val="102A43"/>
          </a:solidFill>
          <a:ln w="12700">
            <a:solidFill>
              <a:srgbClr val="102A43"/>
            </a:solidFill>
            <a:prstDash val="solid"/>
          </a:ln>
        </p:spPr>
      </p:sp>
      <p:sp>
        <p:nvSpPr>
          <p:cNvPr id="43" name="Text 40"/>
          <p:cNvSpPr txBox="1"/>
          <p:nvPr/>
        </p:nvSpPr>
        <p:spPr>
          <a:xfrm>
            <a:off x="10001228" y="4590288"/>
            <a:ext cx="137160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Aptos" pitchFamily="34" charset="0"/>
                <a:ea typeface="Aptos" pitchFamily="34" charset="-122"/>
                <a:cs typeface="Aptos" pitchFamily="34" charset="-120"/>
              </a:rPr>
              <a:t>302,4 · 252 fallas</a:t>
            </a:r>
            <a:endParaRPr lang="en-US" sz="1060" dirty="0"/>
          </a:p>
        </p:txBody>
      </p:sp>
      <p:sp>
        <p:nvSpPr>
          <p:cNvPr id="44" name="Shape 41"/>
          <p:cNvSpPr/>
          <p:nvPr/>
        </p:nvSpPr>
        <p:spPr>
          <a:xfrm>
            <a:off x="1817703" y="3310128"/>
            <a:ext cx="0" cy="1737360"/>
          </a:xfrm>
          <a:prstGeom prst="line">
            <a:avLst/>
          </a:prstGeom>
          <a:noFill/>
          <a:ln w="12700">
            <a:solidFill>
              <a:srgbClr val="D62027"/>
            </a:solidFill>
            <a:prstDash val="dash"/>
          </a:ln>
        </p:spPr>
      </p:sp>
      <p:sp>
        <p:nvSpPr>
          <p:cNvPr id="45" name="Text 42"/>
          <p:cNvSpPr txBox="1"/>
          <p:nvPr/>
        </p:nvSpPr>
        <p:spPr>
          <a:xfrm>
            <a:off x="658368" y="5138928"/>
            <a:ext cx="10874959" cy="256032"/>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Locust y la API corrieron en el mismo computador, con un procesador de cuatro núcleos: el punto de quiebre vale para esas condiciones.</a:t>
            </a:r>
            <a:endParaRPr lang="en-US" sz="1060" dirty="0"/>
          </a:p>
        </p:txBody>
      </p:sp>
      <p:sp>
        <p:nvSpPr>
          <p:cNvPr id="46" name="Shape 43"/>
          <p:cNvSpPr/>
          <p:nvPr/>
        </p:nvSpPr>
        <p:spPr>
          <a:xfrm>
            <a:off x="658368" y="5650992"/>
            <a:ext cx="10874959" cy="548640"/>
          </a:xfrm>
          <a:prstGeom prst="rect">
            <a:avLst/>
          </a:prstGeom>
          <a:solidFill>
            <a:srgbClr val="102A43"/>
          </a:solidFill>
          <a:ln w="12700">
            <a:solidFill>
              <a:srgbClr val="102A43"/>
            </a:solidFill>
            <a:prstDash val="solid"/>
          </a:ln>
        </p:spPr>
      </p:sp>
      <p:sp>
        <p:nvSpPr>
          <p:cNvPr id="47" name="Text 4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capacidad aparece cuando las solicitudes por segundo dejan de crecer y lo que sobra se vuelve espera.</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LA CARGA NO MIRÓ</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Cero fallas, y dos personas con el mismo bloque</a:t>
            </a:r>
            <a:endParaRPr lang="en-US" sz="2700" dirty="0"/>
          </a:p>
        </p:txBody>
      </p:sp>
      <p:sp>
        <p:nvSpPr>
          <p:cNvPr id="10" name="Text 7"/>
          <p:cNvSpPr txBox="1"/>
          <p:nvPr/>
        </p:nvSpPr>
        <p:spPr>
          <a:xfrm>
            <a:off x="658368" y="1773936"/>
            <a:ext cx="52546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LO QUE INFORMÓ LOCUST</a:t>
            </a:r>
            <a:endParaRPr lang="en-US" sz="960" dirty="0"/>
          </a:p>
        </p:txBody>
      </p:sp>
      <p:sp>
        <p:nvSpPr>
          <p:cNvPr id="11" name="Shape 8"/>
          <p:cNvSpPr/>
          <p:nvPr/>
        </p:nvSpPr>
        <p:spPr>
          <a:xfrm>
            <a:off x="658368" y="2066544"/>
            <a:ext cx="5254600" cy="859536"/>
          </a:xfrm>
          <a:prstGeom prst="rect">
            <a:avLst/>
          </a:prstGeom>
          <a:solidFill>
            <a:srgbClr val="FFFFFF"/>
          </a:solidFill>
          <a:ln w="12700">
            <a:solidFill>
              <a:srgbClr val="FFFFFF"/>
            </a:solidFill>
            <a:prstDash val="solid"/>
          </a:ln>
        </p:spPr>
      </p:sp>
      <p:sp>
        <p:nvSpPr>
          <p:cNvPr id="12" name="Shape 9"/>
          <p:cNvSpPr/>
          <p:nvPr/>
        </p:nvSpPr>
        <p:spPr>
          <a:xfrm>
            <a:off x="658368" y="2066544"/>
            <a:ext cx="54864" cy="859536"/>
          </a:xfrm>
          <a:prstGeom prst="rect">
            <a:avLst/>
          </a:prstGeom>
          <a:solidFill>
            <a:srgbClr val="2E7D4F"/>
          </a:solidFill>
          <a:ln w="12700">
            <a:solidFill>
              <a:srgbClr val="2E7D4F"/>
            </a:solidFill>
            <a:prstDash val="solid"/>
          </a:ln>
        </p:spPr>
      </p:sp>
      <p:sp>
        <p:nvSpPr>
          <p:cNvPr id="13" name="Text 10"/>
          <p:cNvSpPr txBox="1"/>
          <p:nvPr/>
        </p:nvSpPr>
        <p:spPr>
          <a:xfrm>
            <a:off x="896112" y="2176272"/>
            <a:ext cx="4888840" cy="237744"/>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Tanda de 50 usuarios</a:t>
            </a:r>
            <a:endParaRPr lang="en-US" sz="1140" dirty="0"/>
          </a:p>
        </p:txBody>
      </p:sp>
      <p:sp>
        <p:nvSpPr>
          <p:cNvPr id="14" name="Text 11"/>
          <p:cNvSpPr txBox="1"/>
          <p:nvPr/>
        </p:nvSpPr>
        <p:spPr>
          <a:xfrm>
            <a:off x="896112" y="2487168"/>
            <a:ext cx="4888840" cy="292608"/>
          </a:xfrm>
          <a:prstGeom prst="rect">
            <a:avLst/>
          </a:prstGeom>
          <a:noFill/>
          <a:ln/>
        </p:spPr>
        <p:txBody>
          <a:bodyPr wrap="square" lIns="0" tIns="0" rIns="0" bIns="0" rtlCol="0" anchor="t"/>
          <a:lstStyle/>
          <a:p>
            <a:pPr algn="l" indent="0" marL="0">
              <a:buNone/>
            </a:pPr>
            <a:r>
              <a:rPr lang="en-US" sz="1160" b="1" dirty="0">
                <a:solidFill>
                  <a:srgbClr val="2E7D4F"/>
                </a:solidFill>
                <a:latin typeface="Consolas" pitchFamily="34" charset="0"/>
                <a:ea typeface="Consolas" pitchFamily="34" charset="-122"/>
                <a:cs typeface="Consolas" pitchFamily="34" charset="-120"/>
              </a:rPr>
              <a:t>971 solicitudes · 0 fallas · p95 26 ms</a:t>
            </a:r>
            <a:endParaRPr lang="en-US" sz="1160" dirty="0"/>
          </a:p>
        </p:txBody>
      </p:sp>
      <p:sp>
        <p:nvSpPr>
          <p:cNvPr id="15" name="Shape 12"/>
          <p:cNvSpPr/>
          <p:nvPr/>
        </p:nvSpPr>
        <p:spPr>
          <a:xfrm>
            <a:off x="658368" y="3054096"/>
            <a:ext cx="5254600" cy="859536"/>
          </a:xfrm>
          <a:prstGeom prst="rect">
            <a:avLst/>
          </a:prstGeom>
          <a:solidFill>
            <a:srgbClr val="FFFFFF"/>
          </a:solidFill>
          <a:ln w="12700">
            <a:solidFill>
              <a:srgbClr val="FFFFFF"/>
            </a:solidFill>
            <a:prstDash val="solid"/>
          </a:ln>
        </p:spPr>
      </p:sp>
      <p:sp>
        <p:nvSpPr>
          <p:cNvPr id="16" name="Shape 13"/>
          <p:cNvSpPr/>
          <p:nvPr/>
        </p:nvSpPr>
        <p:spPr>
          <a:xfrm>
            <a:off x="658368" y="3054096"/>
            <a:ext cx="54864" cy="859536"/>
          </a:xfrm>
          <a:prstGeom prst="rect">
            <a:avLst/>
          </a:prstGeom>
          <a:solidFill>
            <a:srgbClr val="2E7D4F"/>
          </a:solidFill>
          <a:ln w="12700">
            <a:solidFill>
              <a:srgbClr val="2E7D4F"/>
            </a:solidFill>
            <a:prstDash val="solid"/>
          </a:ln>
        </p:spPr>
      </p:sp>
      <p:sp>
        <p:nvSpPr>
          <p:cNvPr id="17" name="Text 14"/>
          <p:cNvSpPr txBox="1"/>
          <p:nvPr/>
        </p:nvSpPr>
        <p:spPr>
          <a:xfrm>
            <a:off x="896112" y="3163824"/>
            <a:ext cx="4888840" cy="237744"/>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Tanda de 100 usuarios</a:t>
            </a:r>
            <a:endParaRPr lang="en-US" sz="1140" dirty="0"/>
          </a:p>
        </p:txBody>
      </p:sp>
      <p:sp>
        <p:nvSpPr>
          <p:cNvPr id="18" name="Text 15"/>
          <p:cNvSpPr txBox="1"/>
          <p:nvPr/>
        </p:nvSpPr>
        <p:spPr>
          <a:xfrm>
            <a:off x="896112" y="3474720"/>
            <a:ext cx="4888840" cy="292608"/>
          </a:xfrm>
          <a:prstGeom prst="rect">
            <a:avLst/>
          </a:prstGeom>
          <a:noFill/>
          <a:ln/>
        </p:spPr>
        <p:txBody>
          <a:bodyPr wrap="square" lIns="0" tIns="0" rIns="0" bIns="0" rtlCol="0" anchor="t"/>
          <a:lstStyle/>
          <a:p>
            <a:pPr algn="l" indent="0" marL="0">
              <a:buNone/>
            </a:pPr>
            <a:r>
              <a:rPr lang="en-US" sz="1160" b="1" dirty="0">
                <a:solidFill>
                  <a:srgbClr val="2E7D4F"/>
                </a:solidFill>
                <a:latin typeface="Consolas" pitchFamily="34" charset="0"/>
                <a:ea typeface="Consolas" pitchFamily="34" charset="-122"/>
                <a:cs typeface="Consolas" pitchFamily="34" charset="-120"/>
              </a:rPr>
              <a:t>1.912 solicitudes · 0 fallas · p95 48 ms</a:t>
            </a:r>
            <a:endParaRPr lang="en-US" sz="1160" dirty="0"/>
          </a:p>
        </p:txBody>
      </p:sp>
      <p:sp>
        <p:nvSpPr>
          <p:cNvPr id="19" name="Text 16"/>
          <p:cNvSpPr txBox="1"/>
          <p:nvPr/>
        </p:nvSpPr>
        <p:spPr>
          <a:xfrm>
            <a:off x="6278728" y="1773936"/>
            <a:ext cx="52546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QUEDÓ EN LA BASE DESPUÉS DE CADA TANDA</a:t>
            </a:r>
            <a:endParaRPr lang="en-US" sz="960" dirty="0"/>
          </a:p>
        </p:txBody>
      </p:sp>
      <p:sp>
        <p:nvSpPr>
          <p:cNvPr id="20" name="Shape 17"/>
          <p:cNvSpPr/>
          <p:nvPr/>
        </p:nvSpPr>
        <p:spPr>
          <a:xfrm>
            <a:off x="6278728" y="2066544"/>
            <a:ext cx="5254600" cy="859536"/>
          </a:xfrm>
          <a:prstGeom prst="rect">
            <a:avLst/>
          </a:prstGeom>
          <a:solidFill>
            <a:srgbClr val="F2E7D9"/>
          </a:solidFill>
          <a:ln w="12700">
            <a:solidFill>
              <a:srgbClr val="F2E7D9"/>
            </a:solidFill>
            <a:prstDash val="solid"/>
          </a:ln>
        </p:spPr>
      </p:sp>
      <p:sp>
        <p:nvSpPr>
          <p:cNvPr id="21" name="Text 18"/>
          <p:cNvSpPr txBox="1"/>
          <p:nvPr/>
        </p:nvSpPr>
        <p:spPr>
          <a:xfrm>
            <a:off x="6461608" y="2139696"/>
            <a:ext cx="488884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Después de la de 50</a:t>
            </a:r>
            <a:endParaRPr lang="en-US" sz="1000" dirty="0"/>
          </a:p>
        </p:txBody>
      </p:sp>
      <p:sp>
        <p:nvSpPr>
          <p:cNvPr id="22" name="Shape 19"/>
          <p:cNvSpPr/>
          <p:nvPr/>
        </p:nvSpPr>
        <p:spPr>
          <a:xfrm>
            <a:off x="6461608" y="2395728"/>
            <a:ext cx="555098" cy="420624"/>
          </a:xfrm>
          <a:prstGeom prst="rect">
            <a:avLst/>
          </a:prstGeom>
          <a:solidFill>
            <a:srgbClr val="52606D"/>
          </a:solidFill>
          <a:ln w="12700">
            <a:solidFill>
              <a:srgbClr val="52606D"/>
            </a:solidFill>
            <a:prstDash val="solid"/>
          </a:ln>
        </p:spPr>
      </p:sp>
      <p:sp>
        <p:nvSpPr>
          <p:cNvPr id="23" name="Text 20"/>
          <p:cNvSpPr txBox="1"/>
          <p:nvPr/>
        </p:nvSpPr>
        <p:spPr>
          <a:xfrm>
            <a:off x="6479896"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1</a:t>
            </a:r>
            <a:endParaRPr lang="en-US" sz="1040" dirty="0"/>
          </a:p>
        </p:txBody>
      </p:sp>
      <p:sp>
        <p:nvSpPr>
          <p:cNvPr id="24" name="Shape 21"/>
          <p:cNvSpPr/>
          <p:nvPr/>
        </p:nvSpPr>
        <p:spPr>
          <a:xfrm>
            <a:off x="7080714" y="2395728"/>
            <a:ext cx="555098" cy="420624"/>
          </a:xfrm>
          <a:prstGeom prst="rect">
            <a:avLst/>
          </a:prstGeom>
          <a:solidFill>
            <a:srgbClr val="52606D"/>
          </a:solidFill>
          <a:ln w="12700">
            <a:solidFill>
              <a:srgbClr val="52606D"/>
            </a:solidFill>
            <a:prstDash val="solid"/>
          </a:ln>
        </p:spPr>
      </p:sp>
      <p:sp>
        <p:nvSpPr>
          <p:cNvPr id="25" name="Text 22"/>
          <p:cNvSpPr txBox="1"/>
          <p:nvPr/>
        </p:nvSpPr>
        <p:spPr>
          <a:xfrm>
            <a:off x="7099002"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2</a:t>
            </a:r>
            <a:endParaRPr lang="en-US" sz="1040" dirty="0"/>
          </a:p>
        </p:txBody>
      </p:sp>
      <p:sp>
        <p:nvSpPr>
          <p:cNvPr id="26" name="Shape 23"/>
          <p:cNvSpPr/>
          <p:nvPr/>
        </p:nvSpPr>
        <p:spPr>
          <a:xfrm>
            <a:off x="7699820" y="2395728"/>
            <a:ext cx="555098" cy="420624"/>
          </a:xfrm>
          <a:prstGeom prst="rect">
            <a:avLst/>
          </a:prstGeom>
          <a:solidFill>
            <a:srgbClr val="52606D"/>
          </a:solidFill>
          <a:ln w="12700">
            <a:solidFill>
              <a:srgbClr val="52606D"/>
            </a:solidFill>
            <a:prstDash val="solid"/>
          </a:ln>
        </p:spPr>
      </p:sp>
      <p:sp>
        <p:nvSpPr>
          <p:cNvPr id="27" name="Text 24"/>
          <p:cNvSpPr txBox="1"/>
          <p:nvPr/>
        </p:nvSpPr>
        <p:spPr>
          <a:xfrm>
            <a:off x="7718108"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3</a:t>
            </a:r>
            <a:endParaRPr lang="en-US" sz="1040" dirty="0"/>
          </a:p>
        </p:txBody>
      </p:sp>
      <p:sp>
        <p:nvSpPr>
          <p:cNvPr id="28" name="Shape 25"/>
          <p:cNvSpPr/>
          <p:nvPr/>
        </p:nvSpPr>
        <p:spPr>
          <a:xfrm>
            <a:off x="8318925" y="2395728"/>
            <a:ext cx="555098" cy="420624"/>
          </a:xfrm>
          <a:prstGeom prst="rect">
            <a:avLst/>
          </a:prstGeom>
          <a:solidFill>
            <a:srgbClr val="B3181E"/>
          </a:solidFill>
          <a:ln w="12700">
            <a:solidFill>
              <a:srgbClr val="B3181E"/>
            </a:solidFill>
            <a:prstDash val="solid"/>
          </a:ln>
        </p:spPr>
      </p:sp>
      <p:sp>
        <p:nvSpPr>
          <p:cNvPr id="29" name="Text 26"/>
          <p:cNvSpPr txBox="1"/>
          <p:nvPr/>
        </p:nvSpPr>
        <p:spPr>
          <a:xfrm>
            <a:off x="8337213"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4</a:t>
            </a:r>
            <a:endParaRPr lang="en-US" sz="1040" dirty="0"/>
          </a:p>
        </p:txBody>
      </p:sp>
      <p:sp>
        <p:nvSpPr>
          <p:cNvPr id="30" name="Shape 27"/>
          <p:cNvSpPr/>
          <p:nvPr/>
        </p:nvSpPr>
        <p:spPr>
          <a:xfrm>
            <a:off x="8938031" y="2395728"/>
            <a:ext cx="555098" cy="420624"/>
          </a:xfrm>
          <a:prstGeom prst="rect">
            <a:avLst/>
          </a:prstGeom>
          <a:solidFill>
            <a:srgbClr val="52606D"/>
          </a:solidFill>
          <a:ln w="12700">
            <a:solidFill>
              <a:srgbClr val="52606D"/>
            </a:solidFill>
            <a:prstDash val="solid"/>
          </a:ln>
        </p:spPr>
      </p:sp>
      <p:sp>
        <p:nvSpPr>
          <p:cNvPr id="31" name="Text 28"/>
          <p:cNvSpPr txBox="1"/>
          <p:nvPr/>
        </p:nvSpPr>
        <p:spPr>
          <a:xfrm>
            <a:off x="8956319"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5</a:t>
            </a:r>
            <a:endParaRPr lang="en-US" sz="1040" dirty="0"/>
          </a:p>
        </p:txBody>
      </p:sp>
      <p:sp>
        <p:nvSpPr>
          <p:cNvPr id="32" name="Shape 29"/>
          <p:cNvSpPr/>
          <p:nvPr/>
        </p:nvSpPr>
        <p:spPr>
          <a:xfrm>
            <a:off x="9557137" y="2395728"/>
            <a:ext cx="555098" cy="420624"/>
          </a:xfrm>
          <a:prstGeom prst="rect">
            <a:avLst/>
          </a:prstGeom>
          <a:solidFill>
            <a:srgbClr val="52606D"/>
          </a:solidFill>
          <a:ln w="12700">
            <a:solidFill>
              <a:srgbClr val="52606D"/>
            </a:solidFill>
            <a:prstDash val="solid"/>
          </a:ln>
        </p:spPr>
      </p:sp>
      <p:sp>
        <p:nvSpPr>
          <p:cNvPr id="33" name="Text 30"/>
          <p:cNvSpPr txBox="1"/>
          <p:nvPr/>
        </p:nvSpPr>
        <p:spPr>
          <a:xfrm>
            <a:off x="9575425"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6</a:t>
            </a:r>
            <a:endParaRPr lang="en-US" sz="1040" dirty="0"/>
          </a:p>
        </p:txBody>
      </p:sp>
      <p:sp>
        <p:nvSpPr>
          <p:cNvPr id="34" name="Shape 31"/>
          <p:cNvSpPr/>
          <p:nvPr/>
        </p:nvSpPr>
        <p:spPr>
          <a:xfrm>
            <a:off x="10176243" y="2395728"/>
            <a:ext cx="555098" cy="420624"/>
          </a:xfrm>
          <a:prstGeom prst="rect">
            <a:avLst/>
          </a:prstGeom>
          <a:solidFill>
            <a:srgbClr val="52606D"/>
          </a:solidFill>
          <a:ln w="12700">
            <a:solidFill>
              <a:srgbClr val="52606D"/>
            </a:solidFill>
            <a:prstDash val="solid"/>
          </a:ln>
        </p:spPr>
      </p:sp>
      <p:sp>
        <p:nvSpPr>
          <p:cNvPr id="35" name="Text 32"/>
          <p:cNvSpPr txBox="1"/>
          <p:nvPr/>
        </p:nvSpPr>
        <p:spPr>
          <a:xfrm>
            <a:off x="10194531"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7</a:t>
            </a:r>
            <a:endParaRPr lang="en-US" sz="1040" dirty="0"/>
          </a:p>
        </p:txBody>
      </p:sp>
      <p:sp>
        <p:nvSpPr>
          <p:cNvPr id="36" name="Shape 33"/>
          <p:cNvSpPr/>
          <p:nvPr/>
        </p:nvSpPr>
        <p:spPr>
          <a:xfrm>
            <a:off x="10795349" y="2395728"/>
            <a:ext cx="555098" cy="420624"/>
          </a:xfrm>
          <a:prstGeom prst="rect">
            <a:avLst/>
          </a:prstGeom>
          <a:solidFill>
            <a:srgbClr val="52606D"/>
          </a:solidFill>
          <a:ln w="12700">
            <a:solidFill>
              <a:srgbClr val="52606D"/>
            </a:solidFill>
            <a:prstDash val="solid"/>
          </a:ln>
        </p:spPr>
      </p:sp>
      <p:sp>
        <p:nvSpPr>
          <p:cNvPr id="37" name="Text 34"/>
          <p:cNvSpPr txBox="1"/>
          <p:nvPr/>
        </p:nvSpPr>
        <p:spPr>
          <a:xfrm>
            <a:off x="10813637" y="2432304"/>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8</a:t>
            </a:r>
            <a:endParaRPr lang="en-US" sz="1040" dirty="0"/>
          </a:p>
        </p:txBody>
      </p:sp>
      <p:sp>
        <p:nvSpPr>
          <p:cNvPr id="38" name="Shape 35"/>
          <p:cNvSpPr/>
          <p:nvPr/>
        </p:nvSpPr>
        <p:spPr>
          <a:xfrm>
            <a:off x="6278728" y="3054096"/>
            <a:ext cx="5254600" cy="859536"/>
          </a:xfrm>
          <a:prstGeom prst="rect">
            <a:avLst/>
          </a:prstGeom>
          <a:solidFill>
            <a:srgbClr val="F2E7D9"/>
          </a:solidFill>
          <a:ln w="12700">
            <a:solidFill>
              <a:srgbClr val="F2E7D9"/>
            </a:solidFill>
            <a:prstDash val="solid"/>
          </a:ln>
        </p:spPr>
      </p:sp>
      <p:sp>
        <p:nvSpPr>
          <p:cNvPr id="39" name="Text 36"/>
          <p:cNvSpPr txBox="1"/>
          <p:nvPr/>
        </p:nvSpPr>
        <p:spPr>
          <a:xfrm>
            <a:off x="6461608" y="3127248"/>
            <a:ext cx="488884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Después de la de 100</a:t>
            </a:r>
            <a:endParaRPr lang="en-US" sz="1000" dirty="0"/>
          </a:p>
        </p:txBody>
      </p:sp>
      <p:sp>
        <p:nvSpPr>
          <p:cNvPr id="40" name="Shape 37"/>
          <p:cNvSpPr/>
          <p:nvPr/>
        </p:nvSpPr>
        <p:spPr>
          <a:xfrm>
            <a:off x="6461608" y="3383280"/>
            <a:ext cx="555098" cy="420624"/>
          </a:xfrm>
          <a:prstGeom prst="rect">
            <a:avLst/>
          </a:prstGeom>
          <a:solidFill>
            <a:srgbClr val="B3181E"/>
          </a:solidFill>
          <a:ln w="12700">
            <a:solidFill>
              <a:srgbClr val="B3181E"/>
            </a:solidFill>
            <a:prstDash val="solid"/>
          </a:ln>
        </p:spPr>
      </p:sp>
      <p:sp>
        <p:nvSpPr>
          <p:cNvPr id="41" name="Text 38"/>
          <p:cNvSpPr txBox="1"/>
          <p:nvPr/>
        </p:nvSpPr>
        <p:spPr>
          <a:xfrm>
            <a:off x="6479896"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1</a:t>
            </a:r>
            <a:endParaRPr lang="en-US" sz="1040" dirty="0"/>
          </a:p>
        </p:txBody>
      </p:sp>
      <p:sp>
        <p:nvSpPr>
          <p:cNvPr id="42" name="Shape 39"/>
          <p:cNvSpPr/>
          <p:nvPr/>
        </p:nvSpPr>
        <p:spPr>
          <a:xfrm>
            <a:off x="7080714" y="3383280"/>
            <a:ext cx="555098" cy="420624"/>
          </a:xfrm>
          <a:prstGeom prst="rect">
            <a:avLst/>
          </a:prstGeom>
          <a:solidFill>
            <a:srgbClr val="52606D"/>
          </a:solidFill>
          <a:ln w="12700">
            <a:solidFill>
              <a:srgbClr val="52606D"/>
            </a:solidFill>
            <a:prstDash val="solid"/>
          </a:ln>
        </p:spPr>
      </p:sp>
      <p:sp>
        <p:nvSpPr>
          <p:cNvPr id="43" name="Text 40"/>
          <p:cNvSpPr txBox="1"/>
          <p:nvPr/>
        </p:nvSpPr>
        <p:spPr>
          <a:xfrm>
            <a:off x="7099002"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2</a:t>
            </a:r>
            <a:endParaRPr lang="en-US" sz="1040" dirty="0"/>
          </a:p>
        </p:txBody>
      </p:sp>
      <p:sp>
        <p:nvSpPr>
          <p:cNvPr id="44" name="Shape 41"/>
          <p:cNvSpPr/>
          <p:nvPr/>
        </p:nvSpPr>
        <p:spPr>
          <a:xfrm>
            <a:off x="7699820" y="3383280"/>
            <a:ext cx="555098" cy="420624"/>
          </a:xfrm>
          <a:prstGeom prst="rect">
            <a:avLst/>
          </a:prstGeom>
          <a:solidFill>
            <a:srgbClr val="52606D"/>
          </a:solidFill>
          <a:ln w="12700">
            <a:solidFill>
              <a:srgbClr val="52606D"/>
            </a:solidFill>
            <a:prstDash val="solid"/>
          </a:ln>
        </p:spPr>
      </p:sp>
      <p:sp>
        <p:nvSpPr>
          <p:cNvPr id="45" name="Text 42"/>
          <p:cNvSpPr txBox="1"/>
          <p:nvPr/>
        </p:nvSpPr>
        <p:spPr>
          <a:xfrm>
            <a:off x="7718108"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3</a:t>
            </a:r>
            <a:endParaRPr lang="en-US" sz="1040" dirty="0"/>
          </a:p>
        </p:txBody>
      </p:sp>
      <p:sp>
        <p:nvSpPr>
          <p:cNvPr id="46" name="Shape 43"/>
          <p:cNvSpPr/>
          <p:nvPr/>
        </p:nvSpPr>
        <p:spPr>
          <a:xfrm>
            <a:off x="8318925" y="3383280"/>
            <a:ext cx="555098" cy="420624"/>
          </a:xfrm>
          <a:prstGeom prst="rect">
            <a:avLst/>
          </a:prstGeom>
          <a:solidFill>
            <a:srgbClr val="52606D"/>
          </a:solidFill>
          <a:ln w="12700">
            <a:solidFill>
              <a:srgbClr val="52606D"/>
            </a:solidFill>
            <a:prstDash val="solid"/>
          </a:ln>
        </p:spPr>
      </p:sp>
      <p:sp>
        <p:nvSpPr>
          <p:cNvPr id="47" name="Text 44"/>
          <p:cNvSpPr txBox="1"/>
          <p:nvPr/>
        </p:nvSpPr>
        <p:spPr>
          <a:xfrm>
            <a:off x="8337213"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4</a:t>
            </a:r>
            <a:endParaRPr lang="en-US" sz="1040" dirty="0"/>
          </a:p>
        </p:txBody>
      </p:sp>
      <p:sp>
        <p:nvSpPr>
          <p:cNvPr id="48" name="Shape 45"/>
          <p:cNvSpPr/>
          <p:nvPr/>
        </p:nvSpPr>
        <p:spPr>
          <a:xfrm>
            <a:off x="8938031" y="3383280"/>
            <a:ext cx="555098" cy="420624"/>
          </a:xfrm>
          <a:prstGeom prst="rect">
            <a:avLst/>
          </a:prstGeom>
          <a:solidFill>
            <a:srgbClr val="52606D"/>
          </a:solidFill>
          <a:ln w="12700">
            <a:solidFill>
              <a:srgbClr val="52606D"/>
            </a:solidFill>
            <a:prstDash val="solid"/>
          </a:ln>
        </p:spPr>
      </p:sp>
      <p:sp>
        <p:nvSpPr>
          <p:cNvPr id="49" name="Text 46"/>
          <p:cNvSpPr txBox="1"/>
          <p:nvPr/>
        </p:nvSpPr>
        <p:spPr>
          <a:xfrm>
            <a:off x="8956319"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5</a:t>
            </a:r>
            <a:endParaRPr lang="en-US" sz="1040" dirty="0"/>
          </a:p>
        </p:txBody>
      </p:sp>
      <p:sp>
        <p:nvSpPr>
          <p:cNvPr id="50" name="Shape 47"/>
          <p:cNvSpPr/>
          <p:nvPr/>
        </p:nvSpPr>
        <p:spPr>
          <a:xfrm>
            <a:off x="9557137" y="3383280"/>
            <a:ext cx="555098" cy="420624"/>
          </a:xfrm>
          <a:prstGeom prst="rect">
            <a:avLst/>
          </a:prstGeom>
          <a:solidFill>
            <a:srgbClr val="52606D"/>
          </a:solidFill>
          <a:ln w="12700">
            <a:solidFill>
              <a:srgbClr val="52606D"/>
            </a:solidFill>
            <a:prstDash val="solid"/>
          </a:ln>
        </p:spPr>
      </p:sp>
      <p:sp>
        <p:nvSpPr>
          <p:cNvPr id="51" name="Text 48"/>
          <p:cNvSpPr txBox="1"/>
          <p:nvPr/>
        </p:nvSpPr>
        <p:spPr>
          <a:xfrm>
            <a:off x="9575425"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6</a:t>
            </a:r>
            <a:endParaRPr lang="en-US" sz="1040" dirty="0"/>
          </a:p>
        </p:txBody>
      </p:sp>
      <p:sp>
        <p:nvSpPr>
          <p:cNvPr id="52" name="Shape 49"/>
          <p:cNvSpPr/>
          <p:nvPr/>
        </p:nvSpPr>
        <p:spPr>
          <a:xfrm>
            <a:off x="10176243" y="3383280"/>
            <a:ext cx="555098" cy="420624"/>
          </a:xfrm>
          <a:prstGeom prst="rect">
            <a:avLst/>
          </a:prstGeom>
          <a:solidFill>
            <a:srgbClr val="52606D"/>
          </a:solidFill>
          <a:ln w="12700">
            <a:solidFill>
              <a:srgbClr val="52606D"/>
            </a:solidFill>
            <a:prstDash val="solid"/>
          </a:ln>
        </p:spPr>
      </p:sp>
      <p:sp>
        <p:nvSpPr>
          <p:cNvPr id="53" name="Text 50"/>
          <p:cNvSpPr txBox="1"/>
          <p:nvPr/>
        </p:nvSpPr>
        <p:spPr>
          <a:xfrm>
            <a:off x="10194531"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7</a:t>
            </a:r>
            <a:endParaRPr lang="en-US" sz="1040" dirty="0"/>
          </a:p>
        </p:txBody>
      </p:sp>
      <p:sp>
        <p:nvSpPr>
          <p:cNvPr id="54" name="Shape 51"/>
          <p:cNvSpPr/>
          <p:nvPr/>
        </p:nvSpPr>
        <p:spPr>
          <a:xfrm>
            <a:off x="10795349" y="3383280"/>
            <a:ext cx="555098" cy="420624"/>
          </a:xfrm>
          <a:prstGeom prst="rect">
            <a:avLst/>
          </a:prstGeom>
          <a:solidFill>
            <a:srgbClr val="52606D"/>
          </a:solidFill>
          <a:ln w="12700">
            <a:solidFill>
              <a:srgbClr val="52606D"/>
            </a:solidFill>
            <a:prstDash val="solid"/>
          </a:ln>
        </p:spPr>
      </p:sp>
      <p:sp>
        <p:nvSpPr>
          <p:cNvPr id="55" name="Text 52"/>
          <p:cNvSpPr txBox="1"/>
          <p:nvPr/>
        </p:nvSpPr>
        <p:spPr>
          <a:xfrm>
            <a:off x="10813637" y="3419856"/>
            <a:ext cx="518522" cy="347472"/>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8</a:t>
            </a:r>
            <a:endParaRPr lang="en-US" sz="1040" dirty="0"/>
          </a:p>
        </p:txBody>
      </p:sp>
      <p:sp>
        <p:nvSpPr>
          <p:cNvPr id="56" name="Text 53"/>
          <p:cNvSpPr txBox="1"/>
          <p:nvPr/>
        </p:nvSpPr>
        <p:spPr>
          <a:xfrm>
            <a:off x="6278728" y="4059936"/>
            <a:ext cx="525460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Cada ficha es un bloque. En rojo, el que quedó con dos reservas.</a:t>
            </a:r>
            <a:endParaRPr lang="en-US" sz="980" dirty="0"/>
          </a:p>
        </p:txBody>
      </p:sp>
      <p:sp>
        <p:nvSpPr>
          <p:cNvPr id="57" name="Shape 54"/>
          <p:cNvSpPr/>
          <p:nvPr/>
        </p:nvSpPr>
        <p:spPr>
          <a:xfrm>
            <a:off x="658368" y="4425696"/>
            <a:ext cx="10874959" cy="1005840"/>
          </a:xfrm>
          <a:prstGeom prst="rect">
            <a:avLst/>
          </a:prstGeom>
          <a:solidFill>
            <a:srgbClr val="1D3A57"/>
          </a:solidFill>
          <a:ln w="12700">
            <a:solidFill>
              <a:srgbClr val="1D3A57"/>
            </a:solidFill>
            <a:prstDash val="solid"/>
          </a:ln>
        </p:spPr>
      </p:sp>
      <p:sp>
        <p:nvSpPr>
          <p:cNvPr id="58" name="Text 55"/>
          <p:cNvSpPr txBox="1"/>
          <p:nvPr/>
        </p:nvSpPr>
        <p:spPr>
          <a:xfrm>
            <a:off x="969264" y="4498848"/>
            <a:ext cx="10253167" cy="859536"/>
          </a:xfrm>
          <a:prstGeom prst="rect">
            <a:avLst/>
          </a:prstGeom>
          <a:noFill/>
          <a:ln/>
        </p:spPr>
        <p:txBody>
          <a:bodyPr wrap="square" lIns="0" tIns="0" rIns="0" bIns="0" rtlCol="0" anchor="ctr"/>
          <a:lstStyle/>
          <a:p>
            <a:pPr algn="l" indent="0" marL="0">
              <a:lnSpc>
                <a:spcPct val="114000"/>
              </a:lnSpc>
              <a:buNone/>
            </a:pPr>
            <a:r>
              <a:rPr lang="en-US" sz="1260" dirty="0">
                <a:solidFill>
                  <a:srgbClr val="FFFFFF"/>
                </a:solidFill>
                <a:latin typeface="Aptos" pitchFamily="34" charset="0"/>
                <a:ea typeface="Aptos" pitchFamily="34" charset="-122"/>
                <a:cs typeface="Aptos" pitchFamily="34" charset="-120"/>
              </a:rPr>
              <a:t>No es un error de la herramienta. Una prueba de carga mide cuánto tarda una respuesta y si llegó, no si lo que el sistema hizo fue correcto. Las dos respuestas fueron 201, rápidas y bien formadas.</a:t>
            </a:r>
            <a:endParaRPr lang="en-US" sz="1260" dirty="0"/>
          </a:p>
        </p:txBody>
      </p:sp>
      <p:sp>
        <p:nvSpPr>
          <p:cNvPr id="59" name="Shape 56"/>
          <p:cNvSpPr/>
          <p:nvPr/>
        </p:nvSpPr>
        <p:spPr>
          <a:xfrm>
            <a:off x="658368" y="5650992"/>
            <a:ext cx="10874959" cy="548640"/>
          </a:xfrm>
          <a:prstGeom prst="rect">
            <a:avLst/>
          </a:prstGeom>
          <a:solidFill>
            <a:srgbClr val="102A43"/>
          </a:solidFill>
          <a:ln w="12700">
            <a:solidFill>
              <a:srgbClr val="102A43"/>
            </a:solidFill>
            <a:prstDash val="solid"/>
          </a:ln>
        </p:spPr>
      </p:sp>
      <p:sp>
        <p:nvSpPr>
          <p:cNvPr id="60" name="Text 5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Que no debieran haber sido las dos 201 es algo que ninguna medición de tiempo puede ver.</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REPRODUCIRLO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Veinte reservas del mismo bloque a la vez</a:t>
            </a:r>
            <a:endParaRPr lang="en-US" sz="2700" dirty="0"/>
          </a:p>
        </p:txBody>
      </p:sp>
      <p:sp>
        <p:nvSpPr>
          <p:cNvPr id="10" name="Text 7"/>
          <p:cNvSpPr txBox="1"/>
          <p:nvPr/>
        </p:nvSpPr>
        <p:spPr>
          <a:xfrm>
            <a:off x="658368" y="1773936"/>
            <a:ext cx="566928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RESERVAS GUARDADAS DEL MISMO BLOQUE, EN DIEZ EJECUCIONES</a:t>
            </a:r>
            <a:endParaRPr lang="en-US" sz="960" dirty="0"/>
          </a:p>
        </p:txBody>
      </p:sp>
      <p:sp>
        <p:nvSpPr>
          <p:cNvPr id="11" name="Shape 8"/>
          <p:cNvSpPr/>
          <p:nvPr/>
        </p:nvSpPr>
        <p:spPr>
          <a:xfrm>
            <a:off x="932688" y="4318000"/>
            <a:ext cx="384048" cy="254000"/>
          </a:xfrm>
          <a:prstGeom prst="rect">
            <a:avLst/>
          </a:prstGeom>
          <a:solidFill>
            <a:srgbClr val="2E7D4F"/>
          </a:solidFill>
          <a:ln w="12700">
            <a:solidFill>
              <a:srgbClr val="2E7D4F"/>
            </a:solidFill>
            <a:prstDash val="solid"/>
          </a:ln>
        </p:spPr>
      </p:sp>
      <p:sp>
        <p:nvSpPr>
          <p:cNvPr id="12" name="Text 9"/>
          <p:cNvSpPr txBox="1"/>
          <p:nvPr/>
        </p:nvSpPr>
        <p:spPr>
          <a:xfrm>
            <a:off x="896112" y="4061968"/>
            <a:ext cx="457200" cy="219456"/>
          </a:xfrm>
          <a:prstGeom prst="rect">
            <a:avLst/>
          </a:prstGeom>
          <a:noFill/>
          <a:ln/>
        </p:spPr>
        <p:txBody>
          <a:bodyPr wrap="square" lIns="0" tIns="0" rIns="0" bIns="0" rtlCol="0" anchor="t"/>
          <a:lstStyle/>
          <a:p>
            <a:pPr algn="ctr" indent="0" marL="0">
              <a:buNone/>
            </a:pPr>
            <a:r>
              <a:rPr lang="en-US" sz="1100" b="1" dirty="0">
                <a:solidFill>
                  <a:srgbClr val="2E7D4F"/>
                </a:solidFill>
                <a:latin typeface="Aptos" pitchFamily="34" charset="0"/>
                <a:ea typeface="Aptos" pitchFamily="34" charset="-122"/>
                <a:cs typeface="Aptos" pitchFamily="34" charset="-120"/>
              </a:rPr>
              <a:t>1</a:t>
            </a:r>
            <a:endParaRPr lang="en-US" sz="1100" dirty="0"/>
          </a:p>
        </p:txBody>
      </p:sp>
      <p:sp>
        <p:nvSpPr>
          <p:cNvPr id="13" name="Shape 10"/>
          <p:cNvSpPr/>
          <p:nvPr/>
        </p:nvSpPr>
        <p:spPr>
          <a:xfrm>
            <a:off x="1444752" y="3810000"/>
            <a:ext cx="384048" cy="762000"/>
          </a:xfrm>
          <a:prstGeom prst="rect">
            <a:avLst/>
          </a:prstGeom>
          <a:solidFill>
            <a:srgbClr val="B3181E"/>
          </a:solidFill>
          <a:ln w="12700">
            <a:solidFill>
              <a:srgbClr val="B3181E"/>
            </a:solidFill>
            <a:prstDash val="solid"/>
          </a:ln>
        </p:spPr>
      </p:sp>
      <p:sp>
        <p:nvSpPr>
          <p:cNvPr id="14" name="Text 11"/>
          <p:cNvSpPr txBox="1"/>
          <p:nvPr/>
        </p:nvSpPr>
        <p:spPr>
          <a:xfrm>
            <a:off x="1408176" y="3553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3</a:t>
            </a:r>
            <a:endParaRPr lang="en-US" sz="1100" dirty="0"/>
          </a:p>
        </p:txBody>
      </p:sp>
      <p:sp>
        <p:nvSpPr>
          <p:cNvPr id="15" name="Shape 12"/>
          <p:cNvSpPr/>
          <p:nvPr/>
        </p:nvSpPr>
        <p:spPr>
          <a:xfrm>
            <a:off x="1956816" y="4064000"/>
            <a:ext cx="384048" cy="508000"/>
          </a:xfrm>
          <a:prstGeom prst="rect">
            <a:avLst/>
          </a:prstGeom>
          <a:solidFill>
            <a:srgbClr val="B3181E"/>
          </a:solidFill>
          <a:ln w="12700">
            <a:solidFill>
              <a:srgbClr val="B3181E"/>
            </a:solidFill>
            <a:prstDash val="solid"/>
          </a:ln>
        </p:spPr>
      </p:sp>
      <p:sp>
        <p:nvSpPr>
          <p:cNvPr id="16" name="Text 13"/>
          <p:cNvSpPr txBox="1"/>
          <p:nvPr/>
        </p:nvSpPr>
        <p:spPr>
          <a:xfrm>
            <a:off x="1920240" y="3807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2</a:t>
            </a:r>
            <a:endParaRPr lang="en-US" sz="1100" dirty="0"/>
          </a:p>
        </p:txBody>
      </p:sp>
      <p:sp>
        <p:nvSpPr>
          <p:cNvPr id="17" name="Shape 14"/>
          <p:cNvSpPr/>
          <p:nvPr/>
        </p:nvSpPr>
        <p:spPr>
          <a:xfrm>
            <a:off x="2468880" y="4064000"/>
            <a:ext cx="384048" cy="508000"/>
          </a:xfrm>
          <a:prstGeom prst="rect">
            <a:avLst/>
          </a:prstGeom>
          <a:solidFill>
            <a:srgbClr val="B3181E"/>
          </a:solidFill>
          <a:ln w="12700">
            <a:solidFill>
              <a:srgbClr val="B3181E"/>
            </a:solidFill>
            <a:prstDash val="solid"/>
          </a:ln>
        </p:spPr>
      </p:sp>
      <p:sp>
        <p:nvSpPr>
          <p:cNvPr id="18" name="Text 15"/>
          <p:cNvSpPr txBox="1"/>
          <p:nvPr/>
        </p:nvSpPr>
        <p:spPr>
          <a:xfrm>
            <a:off x="2432304" y="3807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2</a:t>
            </a:r>
            <a:endParaRPr lang="en-US" sz="1100" dirty="0"/>
          </a:p>
        </p:txBody>
      </p:sp>
      <p:sp>
        <p:nvSpPr>
          <p:cNvPr id="19" name="Shape 16"/>
          <p:cNvSpPr/>
          <p:nvPr/>
        </p:nvSpPr>
        <p:spPr>
          <a:xfrm>
            <a:off x="2980944" y="3302000"/>
            <a:ext cx="384048" cy="1270000"/>
          </a:xfrm>
          <a:prstGeom prst="rect">
            <a:avLst/>
          </a:prstGeom>
          <a:solidFill>
            <a:srgbClr val="B3181E"/>
          </a:solidFill>
          <a:ln w="12700">
            <a:solidFill>
              <a:srgbClr val="B3181E"/>
            </a:solidFill>
            <a:prstDash val="solid"/>
          </a:ln>
        </p:spPr>
      </p:sp>
      <p:sp>
        <p:nvSpPr>
          <p:cNvPr id="20" name="Text 17"/>
          <p:cNvSpPr txBox="1"/>
          <p:nvPr/>
        </p:nvSpPr>
        <p:spPr>
          <a:xfrm>
            <a:off x="2944368" y="3045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5</a:t>
            </a:r>
            <a:endParaRPr lang="en-US" sz="1100" dirty="0"/>
          </a:p>
        </p:txBody>
      </p:sp>
      <p:sp>
        <p:nvSpPr>
          <p:cNvPr id="21" name="Shape 18"/>
          <p:cNvSpPr/>
          <p:nvPr/>
        </p:nvSpPr>
        <p:spPr>
          <a:xfrm>
            <a:off x="3493008" y="3810000"/>
            <a:ext cx="384048" cy="762000"/>
          </a:xfrm>
          <a:prstGeom prst="rect">
            <a:avLst/>
          </a:prstGeom>
          <a:solidFill>
            <a:srgbClr val="B3181E"/>
          </a:solidFill>
          <a:ln w="12700">
            <a:solidFill>
              <a:srgbClr val="B3181E"/>
            </a:solidFill>
            <a:prstDash val="solid"/>
          </a:ln>
        </p:spPr>
      </p:sp>
      <p:sp>
        <p:nvSpPr>
          <p:cNvPr id="22" name="Text 19"/>
          <p:cNvSpPr txBox="1"/>
          <p:nvPr/>
        </p:nvSpPr>
        <p:spPr>
          <a:xfrm>
            <a:off x="3456432" y="3553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3</a:t>
            </a:r>
            <a:endParaRPr lang="en-US" sz="1100" dirty="0"/>
          </a:p>
        </p:txBody>
      </p:sp>
      <p:sp>
        <p:nvSpPr>
          <p:cNvPr id="23" name="Shape 20"/>
          <p:cNvSpPr/>
          <p:nvPr/>
        </p:nvSpPr>
        <p:spPr>
          <a:xfrm>
            <a:off x="4005072" y="2286000"/>
            <a:ext cx="384048" cy="2286000"/>
          </a:xfrm>
          <a:prstGeom prst="rect">
            <a:avLst/>
          </a:prstGeom>
          <a:solidFill>
            <a:srgbClr val="B3181E"/>
          </a:solidFill>
          <a:ln w="12700">
            <a:solidFill>
              <a:srgbClr val="B3181E"/>
            </a:solidFill>
            <a:prstDash val="solid"/>
          </a:ln>
        </p:spPr>
      </p:sp>
      <p:sp>
        <p:nvSpPr>
          <p:cNvPr id="24" name="Text 21"/>
          <p:cNvSpPr txBox="1"/>
          <p:nvPr/>
        </p:nvSpPr>
        <p:spPr>
          <a:xfrm>
            <a:off x="3968496" y="2029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9</a:t>
            </a:r>
            <a:endParaRPr lang="en-US" sz="1100" dirty="0"/>
          </a:p>
        </p:txBody>
      </p:sp>
      <p:sp>
        <p:nvSpPr>
          <p:cNvPr id="25" name="Shape 22"/>
          <p:cNvSpPr/>
          <p:nvPr/>
        </p:nvSpPr>
        <p:spPr>
          <a:xfrm>
            <a:off x="4517136" y="4318000"/>
            <a:ext cx="384048" cy="254000"/>
          </a:xfrm>
          <a:prstGeom prst="rect">
            <a:avLst/>
          </a:prstGeom>
          <a:solidFill>
            <a:srgbClr val="2E7D4F"/>
          </a:solidFill>
          <a:ln w="12700">
            <a:solidFill>
              <a:srgbClr val="2E7D4F"/>
            </a:solidFill>
            <a:prstDash val="solid"/>
          </a:ln>
        </p:spPr>
      </p:sp>
      <p:sp>
        <p:nvSpPr>
          <p:cNvPr id="26" name="Text 23"/>
          <p:cNvSpPr txBox="1"/>
          <p:nvPr/>
        </p:nvSpPr>
        <p:spPr>
          <a:xfrm>
            <a:off x="4480560" y="4061968"/>
            <a:ext cx="457200" cy="219456"/>
          </a:xfrm>
          <a:prstGeom prst="rect">
            <a:avLst/>
          </a:prstGeom>
          <a:noFill/>
          <a:ln/>
        </p:spPr>
        <p:txBody>
          <a:bodyPr wrap="square" lIns="0" tIns="0" rIns="0" bIns="0" rtlCol="0" anchor="t"/>
          <a:lstStyle/>
          <a:p>
            <a:pPr algn="ctr" indent="0" marL="0">
              <a:buNone/>
            </a:pPr>
            <a:r>
              <a:rPr lang="en-US" sz="1100" b="1" dirty="0">
                <a:solidFill>
                  <a:srgbClr val="2E7D4F"/>
                </a:solidFill>
                <a:latin typeface="Aptos" pitchFamily="34" charset="0"/>
                <a:ea typeface="Aptos" pitchFamily="34" charset="-122"/>
                <a:cs typeface="Aptos" pitchFamily="34" charset="-120"/>
              </a:rPr>
              <a:t>1</a:t>
            </a:r>
            <a:endParaRPr lang="en-US" sz="1100" dirty="0"/>
          </a:p>
        </p:txBody>
      </p:sp>
      <p:sp>
        <p:nvSpPr>
          <p:cNvPr id="27" name="Shape 24"/>
          <p:cNvSpPr/>
          <p:nvPr/>
        </p:nvSpPr>
        <p:spPr>
          <a:xfrm>
            <a:off x="5029200" y="4064000"/>
            <a:ext cx="384048" cy="508000"/>
          </a:xfrm>
          <a:prstGeom prst="rect">
            <a:avLst/>
          </a:prstGeom>
          <a:solidFill>
            <a:srgbClr val="B3181E"/>
          </a:solidFill>
          <a:ln w="12700">
            <a:solidFill>
              <a:srgbClr val="B3181E"/>
            </a:solidFill>
            <a:prstDash val="solid"/>
          </a:ln>
        </p:spPr>
      </p:sp>
      <p:sp>
        <p:nvSpPr>
          <p:cNvPr id="28" name="Text 25"/>
          <p:cNvSpPr txBox="1"/>
          <p:nvPr/>
        </p:nvSpPr>
        <p:spPr>
          <a:xfrm>
            <a:off x="4992624" y="3807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2</a:t>
            </a:r>
            <a:endParaRPr lang="en-US" sz="1100" dirty="0"/>
          </a:p>
        </p:txBody>
      </p:sp>
      <p:sp>
        <p:nvSpPr>
          <p:cNvPr id="29" name="Shape 26"/>
          <p:cNvSpPr/>
          <p:nvPr/>
        </p:nvSpPr>
        <p:spPr>
          <a:xfrm>
            <a:off x="5541264" y="2794000"/>
            <a:ext cx="384048" cy="1778000"/>
          </a:xfrm>
          <a:prstGeom prst="rect">
            <a:avLst/>
          </a:prstGeom>
          <a:solidFill>
            <a:srgbClr val="B3181E"/>
          </a:solidFill>
          <a:ln w="12700">
            <a:solidFill>
              <a:srgbClr val="B3181E"/>
            </a:solidFill>
            <a:prstDash val="solid"/>
          </a:ln>
        </p:spPr>
      </p:sp>
      <p:sp>
        <p:nvSpPr>
          <p:cNvPr id="30" name="Text 27"/>
          <p:cNvSpPr txBox="1"/>
          <p:nvPr/>
        </p:nvSpPr>
        <p:spPr>
          <a:xfrm>
            <a:off x="5504688" y="2537968"/>
            <a:ext cx="457200" cy="219456"/>
          </a:xfrm>
          <a:prstGeom prst="rect">
            <a:avLst/>
          </a:prstGeom>
          <a:noFill/>
          <a:ln/>
        </p:spPr>
        <p:txBody>
          <a:bodyPr wrap="square" lIns="0" tIns="0" rIns="0" bIns="0" rtlCol="0" anchor="t"/>
          <a:lstStyle/>
          <a:p>
            <a:pPr algn="ctr" indent="0" marL="0">
              <a:buNone/>
            </a:pPr>
            <a:r>
              <a:rPr lang="en-US" sz="1100" b="1" dirty="0">
                <a:solidFill>
                  <a:srgbClr val="B3181E"/>
                </a:solidFill>
                <a:latin typeface="Aptos" pitchFamily="34" charset="0"/>
                <a:ea typeface="Aptos" pitchFamily="34" charset="-122"/>
                <a:cs typeface="Aptos" pitchFamily="34" charset="-120"/>
              </a:rPr>
              <a:t>7</a:t>
            </a:r>
            <a:endParaRPr lang="en-US" sz="1100" dirty="0"/>
          </a:p>
        </p:txBody>
      </p:sp>
      <p:sp>
        <p:nvSpPr>
          <p:cNvPr id="31" name="Shape 28"/>
          <p:cNvSpPr/>
          <p:nvPr/>
        </p:nvSpPr>
        <p:spPr>
          <a:xfrm>
            <a:off x="841248" y="4572000"/>
            <a:ext cx="5120640" cy="0"/>
          </a:xfrm>
          <a:prstGeom prst="line">
            <a:avLst/>
          </a:prstGeom>
          <a:noFill/>
          <a:ln w="12700">
            <a:solidFill>
              <a:srgbClr val="243B53"/>
            </a:solidFill>
            <a:prstDash val="solid"/>
            <a:headEnd type="none"/>
            <a:tailEnd type="none"/>
          </a:ln>
        </p:spPr>
      </p:sp>
      <p:sp>
        <p:nvSpPr>
          <p:cNvPr id="32" name="Shape 29"/>
          <p:cNvSpPr/>
          <p:nvPr/>
        </p:nvSpPr>
        <p:spPr>
          <a:xfrm>
            <a:off x="841248" y="4318000"/>
            <a:ext cx="5120640" cy="0"/>
          </a:xfrm>
          <a:prstGeom prst="line">
            <a:avLst/>
          </a:prstGeom>
          <a:noFill/>
          <a:ln w="12700">
            <a:solidFill>
              <a:srgbClr val="2E7D4F"/>
            </a:solidFill>
            <a:prstDash val="dash"/>
          </a:ln>
        </p:spPr>
      </p:sp>
      <p:sp>
        <p:nvSpPr>
          <p:cNvPr id="33" name="Text 30"/>
          <p:cNvSpPr txBox="1"/>
          <p:nvPr/>
        </p:nvSpPr>
        <p:spPr>
          <a:xfrm>
            <a:off x="6053328" y="4217416"/>
            <a:ext cx="822960" cy="201168"/>
          </a:xfrm>
          <a:prstGeom prst="rect">
            <a:avLst/>
          </a:prstGeom>
          <a:noFill/>
          <a:ln/>
        </p:spPr>
        <p:txBody>
          <a:bodyPr wrap="square" lIns="0" tIns="0" rIns="0" bIns="0" rtlCol="0" anchor="t"/>
          <a:lstStyle/>
          <a:p>
            <a:pPr algn="l" indent="0" marL="0">
              <a:buNone/>
            </a:pPr>
            <a:r>
              <a:rPr lang="en-US" sz="860" b="1" dirty="0">
                <a:solidFill>
                  <a:srgbClr val="2E7D4F"/>
                </a:solidFill>
                <a:latin typeface="Aptos" pitchFamily="34" charset="0"/>
                <a:ea typeface="Aptos" pitchFamily="34" charset="-122"/>
                <a:cs typeface="Aptos" pitchFamily="34" charset="-120"/>
              </a:rPr>
              <a:t>correcto: 1</a:t>
            </a:r>
            <a:endParaRPr lang="en-US" sz="860" dirty="0"/>
          </a:p>
        </p:txBody>
      </p:sp>
      <p:sp>
        <p:nvSpPr>
          <p:cNvPr id="34" name="Text 31"/>
          <p:cNvSpPr txBox="1"/>
          <p:nvPr/>
        </p:nvSpPr>
        <p:spPr>
          <a:xfrm>
            <a:off x="658368" y="4700016"/>
            <a:ext cx="5852160" cy="457200"/>
          </a:xfrm>
          <a:prstGeom prst="rect">
            <a:avLst/>
          </a:prstGeom>
          <a:noFill/>
          <a:ln/>
        </p:spPr>
        <p:txBody>
          <a:bodyPr wrap="square" lIns="0" tIns="0" rIns="0" bIns="0" rtlCol="0" anchor="t"/>
          <a:lstStyle/>
          <a:p>
            <a:pPr algn="l" indent="0" marL="0">
              <a:lnSpc>
                <a:spcPct val="108000"/>
              </a:lnSpc>
              <a:buNone/>
            </a:pPr>
            <a:r>
              <a:rPr lang="en-US" sz="1140" b="1" dirty="0">
                <a:solidFill>
                  <a:srgbClr val="243B53"/>
                </a:solidFill>
                <a:latin typeface="Aptos" pitchFamily="34" charset="0"/>
                <a:ea typeface="Aptos" pitchFamily="34" charset="-122"/>
                <a:cs typeface="Aptos" pitchFamily="34" charset="-120"/>
              </a:rPr>
              <a:t>Más de una en 8 de 10. Con solo dos simultáneas: 1 de 10.</a:t>
            </a:r>
            <a:endParaRPr lang="en-US" sz="1140" dirty="0"/>
          </a:p>
        </p:txBody>
      </p:sp>
      <p:sp>
        <p:nvSpPr>
          <p:cNvPr id="35" name="Text 32"/>
          <p:cNvSpPr txBox="1"/>
          <p:nvPr/>
        </p:nvSpPr>
        <p:spPr>
          <a:xfrm>
            <a:off x="6967728" y="1773936"/>
            <a:ext cx="4565599"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POR QUÉ PASA · DOS SOLICITUDES, A Y B</a:t>
            </a:r>
            <a:endParaRPr lang="en-US" sz="960" dirty="0"/>
          </a:p>
        </p:txBody>
      </p:sp>
      <p:sp>
        <p:nvSpPr>
          <p:cNvPr id="36" name="Shape 33"/>
          <p:cNvSpPr/>
          <p:nvPr/>
        </p:nvSpPr>
        <p:spPr>
          <a:xfrm>
            <a:off x="7013448" y="2093976"/>
            <a:ext cx="310896" cy="310896"/>
          </a:xfrm>
          <a:prstGeom prst="ellipse">
            <a:avLst/>
          </a:prstGeom>
          <a:solidFill>
            <a:srgbClr val="102A43"/>
          </a:solidFill>
          <a:ln w="12700">
            <a:solidFill>
              <a:srgbClr val="102A43"/>
            </a:solidFill>
            <a:prstDash val="solid"/>
          </a:ln>
        </p:spPr>
      </p:sp>
      <p:sp>
        <p:nvSpPr>
          <p:cNvPr id="37" name="Text 34"/>
          <p:cNvSpPr/>
          <p:nvPr/>
        </p:nvSpPr>
        <p:spPr>
          <a:xfrm>
            <a:off x="7022592" y="2103120"/>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A</a:t>
            </a:r>
            <a:endParaRPr lang="en-US" sz="1040" dirty="0"/>
          </a:p>
        </p:txBody>
      </p:sp>
      <p:sp>
        <p:nvSpPr>
          <p:cNvPr id="38" name="Shape 35"/>
          <p:cNvSpPr/>
          <p:nvPr/>
        </p:nvSpPr>
        <p:spPr>
          <a:xfrm>
            <a:off x="7424928" y="2066544"/>
            <a:ext cx="4108399" cy="365760"/>
          </a:xfrm>
          <a:prstGeom prst="rect">
            <a:avLst/>
          </a:prstGeom>
          <a:solidFill>
            <a:srgbClr val="FFFFFF"/>
          </a:solidFill>
          <a:ln w="12700">
            <a:solidFill>
              <a:srgbClr val="FFFFFF"/>
            </a:solidFill>
            <a:prstDash val="solid"/>
          </a:ln>
        </p:spPr>
      </p:sp>
      <p:sp>
        <p:nvSpPr>
          <p:cNvPr id="39" name="Text 36"/>
          <p:cNvSpPr txBox="1"/>
          <p:nvPr/>
        </p:nvSpPr>
        <p:spPr>
          <a:xfrm>
            <a:off x="7571232" y="2121408"/>
            <a:ext cx="2919679" cy="256032"/>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¿Está tomado el bloque 4?</a:t>
            </a:r>
            <a:endParaRPr lang="en-US" sz="1100" dirty="0"/>
          </a:p>
        </p:txBody>
      </p:sp>
      <p:sp>
        <p:nvSpPr>
          <p:cNvPr id="40" name="Text 37"/>
          <p:cNvSpPr txBox="1"/>
          <p:nvPr/>
        </p:nvSpPr>
        <p:spPr>
          <a:xfrm>
            <a:off x="10618927" y="2121408"/>
            <a:ext cx="786384" cy="256032"/>
          </a:xfrm>
          <a:prstGeom prst="rect">
            <a:avLst/>
          </a:prstGeom>
          <a:noFill/>
          <a:ln/>
        </p:spPr>
        <p:txBody>
          <a:bodyPr wrap="square" lIns="0" tIns="0" rIns="0" bIns="0" rtlCol="0" anchor="ctr"/>
          <a:lstStyle/>
          <a:p>
            <a:pPr algn="r" indent="0" marL="0">
              <a:buNone/>
            </a:pPr>
            <a:r>
              <a:rPr lang="en-US" sz="1100" b="1" dirty="0">
                <a:solidFill>
                  <a:srgbClr val="2E7D4F"/>
                </a:solidFill>
                <a:latin typeface="Consolas" pitchFamily="34" charset="0"/>
                <a:ea typeface="Consolas" pitchFamily="34" charset="-122"/>
                <a:cs typeface="Consolas" pitchFamily="34" charset="-120"/>
              </a:rPr>
              <a:t>libre</a:t>
            </a:r>
            <a:endParaRPr lang="en-US" sz="1100" dirty="0"/>
          </a:p>
        </p:txBody>
      </p:sp>
      <p:sp>
        <p:nvSpPr>
          <p:cNvPr id="41" name="Shape 38"/>
          <p:cNvSpPr/>
          <p:nvPr/>
        </p:nvSpPr>
        <p:spPr>
          <a:xfrm>
            <a:off x="7013448" y="2551176"/>
            <a:ext cx="310896" cy="310896"/>
          </a:xfrm>
          <a:prstGeom prst="ellipse">
            <a:avLst/>
          </a:prstGeom>
          <a:solidFill>
            <a:srgbClr val="8A6A12"/>
          </a:solidFill>
          <a:ln w="12700">
            <a:solidFill>
              <a:srgbClr val="8A6A12"/>
            </a:solidFill>
            <a:prstDash val="solid"/>
          </a:ln>
        </p:spPr>
      </p:sp>
      <p:sp>
        <p:nvSpPr>
          <p:cNvPr id="42" name="Text 39"/>
          <p:cNvSpPr/>
          <p:nvPr/>
        </p:nvSpPr>
        <p:spPr>
          <a:xfrm>
            <a:off x="7022592" y="2560320"/>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B</a:t>
            </a:r>
            <a:endParaRPr lang="en-US" sz="1040" dirty="0"/>
          </a:p>
        </p:txBody>
      </p:sp>
      <p:sp>
        <p:nvSpPr>
          <p:cNvPr id="43" name="Shape 40"/>
          <p:cNvSpPr/>
          <p:nvPr/>
        </p:nvSpPr>
        <p:spPr>
          <a:xfrm>
            <a:off x="7424928" y="2523744"/>
            <a:ext cx="4108399" cy="365760"/>
          </a:xfrm>
          <a:prstGeom prst="rect">
            <a:avLst/>
          </a:prstGeom>
          <a:solidFill>
            <a:srgbClr val="FFFFFF"/>
          </a:solidFill>
          <a:ln w="12700">
            <a:solidFill>
              <a:srgbClr val="FFFFFF"/>
            </a:solidFill>
            <a:prstDash val="solid"/>
          </a:ln>
        </p:spPr>
      </p:sp>
      <p:sp>
        <p:nvSpPr>
          <p:cNvPr id="44" name="Text 41"/>
          <p:cNvSpPr txBox="1"/>
          <p:nvPr/>
        </p:nvSpPr>
        <p:spPr>
          <a:xfrm>
            <a:off x="7571232" y="2578608"/>
            <a:ext cx="2919679" cy="256032"/>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¿Está tomado el bloque 4?</a:t>
            </a:r>
            <a:endParaRPr lang="en-US" sz="1100" dirty="0"/>
          </a:p>
        </p:txBody>
      </p:sp>
      <p:sp>
        <p:nvSpPr>
          <p:cNvPr id="45" name="Text 42"/>
          <p:cNvSpPr txBox="1"/>
          <p:nvPr/>
        </p:nvSpPr>
        <p:spPr>
          <a:xfrm>
            <a:off x="10618927" y="2578608"/>
            <a:ext cx="786384" cy="256032"/>
          </a:xfrm>
          <a:prstGeom prst="rect">
            <a:avLst/>
          </a:prstGeom>
          <a:noFill/>
          <a:ln/>
        </p:spPr>
        <p:txBody>
          <a:bodyPr wrap="square" lIns="0" tIns="0" rIns="0" bIns="0" rtlCol="0" anchor="ctr"/>
          <a:lstStyle/>
          <a:p>
            <a:pPr algn="r" indent="0" marL="0">
              <a:buNone/>
            </a:pPr>
            <a:r>
              <a:rPr lang="en-US" sz="1100" b="1" dirty="0">
                <a:solidFill>
                  <a:srgbClr val="2E7D4F"/>
                </a:solidFill>
                <a:latin typeface="Consolas" pitchFamily="34" charset="0"/>
                <a:ea typeface="Consolas" pitchFamily="34" charset="-122"/>
                <a:cs typeface="Consolas" pitchFamily="34" charset="-120"/>
              </a:rPr>
              <a:t>libre</a:t>
            </a:r>
            <a:endParaRPr lang="en-US" sz="1100" dirty="0"/>
          </a:p>
        </p:txBody>
      </p:sp>
      <p:sp>
        <p:nvSpPr>
          <p:cNvPr id="46" name="Shape 43"/>
          <p:cNvSpPr/>
          <p:nvPr/>
        </p:nvSpPr>
        <p:spPr>
          <a:xfrm>
            <a:off x="7013448" y="3008376"/>
            <a:ext cx="310896" cy="310896"/>
          </a:xfrm>
          <a:prstGeom prst="ellipse">
            <a:avLst/>
          </a:prstGeom>
          <a:solidFill>
            <a:srgbClr val="102A43"/>
          </a:solidFill>
          <a:ln w="12700">
            <a:solidFill>
              <a:srgbClr val="102A43"/>
            </a:solidFill>
            <a:prstDash val="solid"/>
          </a:ln>
        </p:spPr>
      </p:sp>
      <p:sp>
        <p:nvSpPr>
          <p:cNvPr id="47" name="Text 44"/>
          <p:cNvSpPr/>
          <p:nvPr/>
        </p:nvSpPr>
        <p:spPr>
          <a:xfrm>
            <a:off x="7022592" y="3017520"/>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A</a:t>
            </a:r>
            <a:endParaRPr lang="en-US" sz="1040" dirty="0"/>
          </a:p>
        </p:txBody>
      </p:sp>
      <p:sp>
        <p:nvSpPr>
          <p:cNvPr id="48" name="Shape 45"/>
          <p:cNvSpPr/>
          <p:nvPr/>
        </p:nvSpPr>
        <p:spPr>
          <a:xfrm>
            <a:off x="7424928" y="2980944"/>
            <a:ext cx="4108399" cy="365760"/>
          </a:xfrm>
          <a:prstGeom prst="rect">
            <a:avLst/>
          </a:prstGeom>
          <a:solidFill>
            <a:srgbClr val="F2E7D9"/>
          </a:solidFill>
          <a:ln w="12700">
            <a:solidFill>
              <a:srgbClr val="F2E7D9"/>
            </a:solidFill>
            <a:prstDash val="solid"/>
          </a:ln>
        </p:spPr>
      </p:sp>
      <p:sp>
        <p:nvSpPr>
          <p:cNvPr id="49" name="Text 46"/>
          <p:cNvSpPr txBox="1"/>
          <p:nvPr/>
        </p:nvSpPr>
        <p:spPr>
          <a:xfrm>
            <a:off x="7571232" y="3035808"/>
            <a:ext cx="2919679" cy="256032"/>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Guarda la reserva</a:t>
            </a:r>
            <a:endParaRPr lang="en-US" sz="1100" dirty="0"/>
          </a:p>
        </p:txBody>
      </p:sp>
      <p:sp>
        <p:nvSpPr>
          <p:cNvPr id="50" name="Text 47"/>
          <p:cNvSpPr txBox="1"/>
          <p:nvPr/>
        </p:nvSpPr>
        <p:spPr>
          <a:xfrm>
            <a:off x="10618927" y="3035808"/>
            <a:ext cx="786384" cy="256032"/>
          </a:xfrm>
          <a:prstGeom prst="rect">
            <a:avLst/>
          </a:prstGeom>
          <a:noFill/>
          <a:ln/>
        </p:spPr>
        <p:txBody>
          <a:bodyPr wrap="square" lIns="0" tIns="0" rIns="0" bIns="0" rtlCol="0" anchor="ctr"/>
          <a:lstStyle/>
          <a:p>
            <a:pPr algn="r" indent="0" marL="0">
              <a:buNone/>
            </a:pPr>
            <a:r>
              <a:rPr lang="en-US" sz="1100" b="1" dirty="0">
                <a:solidFill>
                  <a:srgbClr val="B3181E"/>
                </a:solidFill>
                <a:latin typeface="Consolas" pitchFamily="34" charset="0"/>
                <a:ea typeface="Consolas" pitchFamily="34" charset="-122"/>
                <a:cs typeface="Consolas" pitchFamily="34" charset="-120"/>
              </a:rPr>
              <a:t>201</a:t>
            </a:r>
            <a:endParaRPr lang="en-US" sz="1100" dirty="0"/>
          </a:p>
        </p:txBody>
      </p:sp>
      <p:sp>
        <p:nvSpPr>
          <p:cNvPr id="51" name="Shape 48"/>
          <p:cNvSpPr/>
          <p:nvPr/>
        </p:nvSpPr>
        <p:spPr>
          <a:xfrm>
            <a:off x="7013448" y="3465576"/>
            <a:ext cx="310896" cy="310896"/>
          </a:xfrm>
          <a:prstGeom prst="ellipse">
            <a:avLst/>
          </a:prstGeom>
          <a:solidFill>
            <a:srgbClr val="8A6A12"/>
          </a:solidFill>
          <a:ln w="12700">
            <a:solidFill>
              <a:srgbClr val="8A6A12"/>
            </a:solidFill>
            <a:prstDash val="solid"/>
          </a:ln>
        </p:spPr>
      </p:sp>
      <p:sp>
        <p:nvSpPr>
          <p:cNvPr id="52" name="Text 49"/>
          <p:cNvSpPr/>
          <p:nvPr/>
        </p:nvSpPr>
        <p:spPr>
          <a:xfrm>
            <a:off x="7022592" y="3474720"/>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B</a:t>
            </a:r>
            <a:endParaRPr lang="en-US" sz="1040" dirty="0"/>
          </a:p>
        </p:txBody>
      </p:sp>
      <p:sp>
        <p:nvSpPr>
          <p:cNvPr id="53" name="Shape 50"/>
          <p:cNvSpPr/>
          <p:nvPr/>
        </p:nvSpPr>
        <p:spPr>
          <a:xfrm>
            <a:off x="7424928" y="3438144"/>
            <a:ext cx="4108399" cy="365760"/>
          </a:xfrm>
          <a:prstGeom prst="rect">
            <a:avLst/>
          </a:prstGeom>
          <a:solidFill>
            <a:srgbClr val="F2E7D9"/>
          </a:solidFill>
          <a:ln w="12700">
            <a:solidFill>
              <a:srgbClr val="F2E7D9"/>
            </a:solidFill>
            <a:prstDash val="solid"/>
          </a:ln>
        </p:spPr>
      </p:sp>
      <p:sp>
        <p:nvSpPr>
          <p:cNvPr id="54" name="Text 51"/>
          <p:cNvSpPr txBox="1"/>
          <p:nvPr/>
        </p:nvSpPr>
        <p:spPr>
          <a:xfrm>
            <a:off x="7571232" y="3493008"/>
            <a:ext cx="2919679" cy="256032"/>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Guarda la reserva</a:t>
            </a:r>
            <a:endParaRPr lang="en-US" sz="1100" dirty="0"/>
          </a:p>
        </p:txBody>
      </p:sp>
      <p:sp>
        <p:nvSpPr>
          <p:cNvPr id="55" name="Text 52"/>
          <p:cNvSpPr txBox="1"/>
          <p:nvPr/>
        </p:nvSpPr>
        <p:spPr>
          <a:xfrm>
            <a:off x="10618927" y="3493008"/>
            <a:ext cx="786384" cy="256032"/>
          </a:xfrm>
          <a:prstGeom prst="rect">
            <a:avLst/>
          </a:prstGeom>
          <a:noFill/>
          <a:ln/>
        </p:spPr>
        <p:txBody>
          <a:bodyPr wrap="square" lIns="0" tIns="0" rIns="0" bIns="0" rtlCol="0" anchor="ctr"/>
          <a:lstStyle/>
          <a:p>
            <a:pPr algn="r" indent="0" marL="0">
              <a:buNone/>
            </a:pPr>
            <a:r>
              <a:rPr lang="en-US" sz="1100" b="1" dirty="0">
                <a:solidFill>
                  <a:srgbClr val="B3181E"/>
                </a:solidFill>
                <a:latin typeface="Consolas" pitchFamily="34" charset="0"/>
                <a:ea typeface="Consolas" pitchFamily="34" charset="-122"/>
                <a:cs typeface="Consolas" pitchFamily="34" charset="-120"/>
              </a:rPr>
              <a:t>201</a:t>
            </a:r>
            <a:endParaRPr lang="en-US" sz="1100" dirty="0"/>
          </a:p>
        </p:txBody>
      </p:sp>
      <p:sp>
        <p:nvSpPr>
          <p:cNvPr id="56" name="Shape 53"/>
          <p:cNvSpPr/>
          <p:nvPr/>
        </p:nvSpPr>
        <p:spPr>
          <a:xfrm>
            <a:off x="6967728" y="3986784"/>
            <a:ext cx="4565599" cy="1170432"/>
          </a:xfrm>
          <a:prstGeom prst="rect">
            <a:avLst/>
          </a:prstGeom>
          <a:solidFill>
            <a:srgbClr val="1D3A57"/>
          </a:solidFill>
          <a:ln w="12700">
            <a:solidFill>
              <a:srgbClr val="1D3A57"/>
            </a:solidFill>
            <a:prstDash val="solid"/>
          </a:ln>
        </p:spPr>
      </p:sp>
      <p:sp>
        <p:nvSpPr>
          <p:cNvPr id="57" name="Text 54"/>
          <p:cNvSpPr txBox="1"/>
          <p:nvPr/>
        </p:nvSpPr>
        <p:spPr>
          <a:xfrm>
            <a:off x="7187184" y="4096512"/>
            <a:ext cx="4199839" cy="201168"/>
          </a:xfrm>
          <a:prstGeom prst="rect">
            <a:avLst/>
          </a:prstGeom>
          <a:noFill/>
          <a:ln/>
        </p:spPr>
        <p:txBody>
          <a:bodyPr wrap="square" lIns="0" tIns="0" rIns="0" bIns="0" rtlCol="0" anchor="t"/>
          <a:lstStyle/>
          <a:p>
            <a:pPr algn="l" indent="0" marL="0">
              <a:buNone/>
            </a:pPr>
            <a:r>
              <a:rPr lang="en-US" sz="960" b="1" spc="120" kern="0" dirty="0">
                <a:solidFill>
                  <a:srgbClr val="E0BC5A"/>
                </a:solidFill>
                <a:latin typeface="Aptos" pitchFamily="34" charset="0"/>
                <a:ea typeface="Aptos" pitchFamily="34" charset="-122"/>
                <a:cs typeface="Aptos" pitchFamily="34" charset="-120"/>
              </a:rPr>
              <a:t>CONDICIÓN DE CARRERA</a:t>
            </a:r>
            <a:endParaRPr lang="en-US" sz="960" dirty="0"/>
          </a:p>
        </p:txBody>
      </p:sp>
      <p:sp>
        <p:nvSpPr>
          <p:cNvPr id="58" name="Text 55"/>
          <p:cNvSpPr txBox="1"/>
          <p:nvPr/>
        </p:nvSpPr>
        <p:spPr>
          <a:xfrm>
            <a:off x="7187184" y="4334256"/>
            <a:ext cx="4163263" cy="786384"/>
          </a:xfrm>
          <a:prstGeom prst="rect">
            <a:avLst/>
          </a:prstGeom>
          <a:noFill/>
          <a:ln/>
        </p:spPr>
        <p:txBody>
          <a:bodyPr wrap="square" lIns="0" tIns="0" rIns="0" bIns="0" rtlCol="0" anchor="t"/>
          <a:lstStyle/>
          <a:p>
            <a:pPr algn="l" indent="0" marL="0">
              <a:lnSpc>
                <a:spcPct val="108000"/>
              </a:lnSpc>
              <a:buNone/>
            </a:pPr>
            <a:r>
              <a:rPr lang="en-US" sz="1040" dirty="0">
                <a:solidFill>
                  <a:srgbClr val="FFFFFF"/>
                </a:solidFill>
                <a:latin typeface="Aptos" pitchFamily="34" charset="0"/>
                <a:ea typeface="Aptos" pitchFamily="34" charset="-122"/>
                <a:cs typeface="Aptos" pitchFamily="34" charset="-120"/>
              </a:rPr>
              <a:t>El código primero pregunta y después escribe. Si dos solicitudes llegan juntas, las dos preguntan antes de que cualquiera escriba. El resultado depende de cuál llega primero a cada paso.</a:t>
            </a:r>
            <a:endParaRPr lang="en-US" sz="1040" dirty="0"/>
          </a:p>
        </p:txBody>
      </p:sp>
      <p:sp>
        <p:nvSpPr>
          <p:cNvPr id="59" name="Shape 56"/>
          <p:cNvSpPr/>
          <p:nvPr/>
        </p:nvSpPr>
        <p:spPr>
          <a:xfrm>
            <a:off x="658368" y="5650992"/>
            <a:ext cx="10874959" cy="548640"/>
          </a:xfrm>
          <a:prstGeom prst="rect">
            <a:avLst/>
          </a:prstGeom>
          <a:solidFill>
            <a:srgbClr val="102A43"/>
          </a:solidFill>
          <a:ln w="12700">
            <a:solidFill>
              <a:srgbClr val="102A43"/>
            </a:solidFill>
            <a:prstDash val="solid"/>
          </a:ln>
        </p:spPr>
      </p:sp>
      <p:sp>
        <p:nvSpPr>
          <p:cNvPr id="60" name="Text 5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defecto funcional que solo aparece bajo una condición no funcional: varias personas al mismo tiempo.</a:t>
            </a:r>
            <a:endParaRPr lang="en-US" sz="13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PRUEBA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Veinte hilos, y una sola reserva aceptada</a:t>
            </a:r>
            <a:endParaRPr lang="en-US" sz="3000" dirty="0"/>
          </a:p>
        </p:txBody>
      </p:sp>
      <p:sp>
        <p:nvSpPr>
          <p:cNvPr id="10" name="Shape 7"/>
          <p:cNvSpPr/>
          <p:nvPr/>
        </p:nvSpPr>
        <p:spPr>
          <a:xfrm>
            <a:off x="658368" y="1700784"/>
            <a:ext cx="5074920" cy="2013509"/>
          </a:xfrm>
          <a:prstGeom prst="roundRect">
            <a:avLst>
              <a:gd name="adj" fmla="val 2271"/>
            </a:avLst>
          </a:prstGeom>
          <a:solidFill>
            <a:srgbClr val="102A43"/>
          </a:solidFill>
          <a:ln w="12700">
            <a:solidFill>
              <a:srgbClr val="102A43"/>
            </a:solidFill>
            <a:prstDash val="solid"/>
          </a:ln>
        </p:spPr>
      </p:sp>
      <p:sp>
        <p:nvSpPr>
          <p:cNvPr id="11" name="Shape 8"/>
          <p:cNvSpPr/>
          <p:nvPr/>
        </p:nvSpPr>
        <p:spPr>
          <a:xfrm>
            <a:off x="658368" y="2057400"/>
            <a:ext cx="5074920" cy="9144"/>
          </a:xfrm>
          <a:prstGeom prst="rect">
            <a:avLst/>
          </a:prstGeom>
          <a:solidFill>
            <a:srgbClr val="284B75"/>
          </a:solidFill>
          <a:ln w="12700">
            <a:solidFill>
              <a:srgbClr val="284B75"/>
            </a:solidFill>
            <a:prstDash val="solid"/>
          </a:ln>
        </p:spPr>
      </p:sp>
      <p:sp>
        <p:nvSpPr>
          <p:cNvPr id="12" name="Text 9"/>
          <p:cNvSpPr/>
          <p:nvPr/>
        </p:nvSpPr>
        <p:spPr>
          <a:xfrm>
            <a:off x="841248" y="1792224"/>
            <a:ext cx="470916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Cada hilo envía una reserva</a:t>
            </a:r>
            <a:endParaRPr lang="en-US" sz="96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94560"/>
            <a:ext cx="4745736" cy="1391717"/>
          </a:xfrm>
          <a:prstGeom prst="rect">
            <a:avLst/>
          </a:prstGeom>
        </p:spPr>
      </p:pic>
      <p:sp>
        <p:nvSpPr>
          <p:cNvPr id="14" name="Shape 10"/>
          <p:cNvSpPr/>
          <p:nvPr/>
        </p:nvSpPr>
        <p:spPr>
          <a:xfrm>
            <a:off x="5916168" y="1700784"/>
            <a:ext cx="5617159" cy="2607666"/>
          </a:xfrm>
          <a:prstGeom prst="roundRect">
            <a:avLst>
              <a:gd name="adj" fmla="val 1753"/>
            </a:avLst>
          </a:prstGeom>
          <a:solidFill>
            <a:srgbClr val="102A43"/>
          </a:solidFill>
          <a:ln w="12700">
            <a:solidFill>
              <a:srgbClr val="102A43"/>
            </a:solidFill>
            <a:prstDash val="solid"/>
          </a:ln>
        </p:spPr>
      </p:sp>
      <p:sp>
        <p:nvSpPr>
          <p:cNvPr id="15" name="Shape 11"/>
          <p:cNvSpPr/>
          <p:nvPr/>
        </p:nvSpPr>
        <p:spPr>
          <a:xfrm>
            <a:off x="5916168" y="2057400"/>
            <a:ext cx="5617159" cy="9144"/>
          </a:xfrm>
          <a:prstGeom prst="rect">
            <a:avLst/>
          </a:prstGeom>
          <a:solidFill>
            <a:srgbClr val="284B75"/>
          </a:solidFill>
          <a:ln w="12700">
            <a:solidFill>
              <a:srgbClr val="284B75"/>
            </a:solidFill>
            <a:prstDash val="solid"/>
          </a:ln>
        </p:spPr>
      </p:sp>
      <p:sp>
        <p:nvSpPr>
          <p:cNvPr id="16" name="Text 12"/>
          <p:cNvSpPr/>
          <p:nvPr/>
        </p:nvSpPr>
        <p:spPr>
          <a:xfrm>
            <a:off x="6099048" y="1792224"/>
            <a:ext cx="52513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La prueba</a:t>
            </a:r>
            <a:endParaRPr lang="en-US" sz="960" dirty="0"/>
          </a:p>
        </p:txBody>
      </p:sp>
      <p:sp>
        <p:nvSpPr>
          <p:cNvPr id="17" name="Shape 13"/>
          <p:cNvSpPr/>
          <p:nvPr/>
        </p:nvSpPr>
        <p:spPr>
          <a:xfrm>
            <a:off x="5971032" y="2629256"/>
            <a:ext cx="5105095" cy="142598"/>
          </a:xfrm>
          <a:prstGeom prst="rect">
            <a:avLst/>
          </a:prstGeom>
          <a:solidFill>
            <a:srgbClr val="E0BC5A">
              <a:alpha val="28000"/>
            </a:srgbClr>
          </a:solidFill>
          <a:ln w="12700">
            <a:solidFill>
              <a:srgbClr val="E0BC5A">
                <a:alpha val="0"/>
              </a:srgbClr>
            </a:solidFill>
            <a:prstDash val="solid"/>
          </a:ln>
        </p:spPr>
      </p:sp>
      <p:sp>
        <p:nvSpPr>
          <p:cNvPr id="18" name="Shape 14"/>
          <p:cNvSpPr/>
          <p:nvPr/>
        </p:nvSpPr>
        <p:spPr>
          <a:xfrm>
            <a:off x="5971032" y="3817569"/>
            <a:ext cx="5105095" cy="142598"/>
          </a:xfrm>
          <a:prstGeom prst="rect">
            <a:avLst/>
          </a:prstGeom>
          <a:solidFill>
            <a:srgbClr val="2E7D4F">
              <a:alpha val="28000"/>
            </a:srgbClr>
          </a:solidFill>
          <a:ln w="12700">
            <a:solidFill>
              <a:srgbClr val="2E7D4F">
                <a:alpha val="0"/>
              </a:srgbClr>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80760" y="2194560"/>
            <a:ext cx="4885639" cy="1985874"/>
          </a:xfrm>
          <a:prstGeom prst="rect">
            <a:avLst/>
          </a:prstGeom>
        </p:spPr>
      </p:pic>
      <p:sp>
        <p:nvSpPr>
          <p:cNvPr id="20" name="Shape 15"/>
          <p:cNvSpPr/>
          <p:nvPr/>
        </p:nvSpPr>
        <p:spPr>
          <a:xfrm>
            <a:off x="11236399" y="2626460"/>
            <a:ext cx="136656" cy="136656"/>
          </a:xfrm>
          <a:prstGeom prst="ellipse">
            <a:avLst/>
          </a:prstGeom>
          <a:solidFill>
            <a:srgbClr val="E0BC5A"/>
          </a:solidFill>
          <a:ln w="12700">
            <a:solidFill>
              <a:srgbClr val="E0BC5A"/>
            </a:solidFill>
            <a:prstDash val="solid"/>
          </a:ln>
        </p:spPr>
      </p:sp>
      <p:sp>
        <p:nvSpPr>
          <p:cNvPr id="21" name="Text 16"/>
          <p:cNvSpPr/>
          <p:nvPr/>
        </p:nvSpPr>
        <p:spPr>
          <a:xfrm>
            <a:off x="11245543" y="2635604"/>
            <a:ext cx="118368" cy="118368"/>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2" name="Shape 17"/>
          <p:cNvSpPr/>
          <p:nvPr/>
        </p:nvSpPr>
        <p:spPr>
          <a:xfrm>
            <a:off x="11236399" y="3814773"/>
            <a:ext cx="136656" cy="136656"/>
          </a:xfrm>
          <a:prstGeom prst="ellipse">
            <a:avLst/>
          </a:prstGeom>
          <a:solidFill>
            <a:srgbClr val="2E7D4F"/>
          </a:solidFill>
          <a:ln w="12700">
            <a:solidFill>
              <a:srgbClr val="2E7D4F"/>
            </a:solidFill>
            <a:prstDash val="solid"/>
          </a:ln>
        </p:spPr>
      </p:sp>
      <p:sp>
        <p:nvSpPr>
          <p:cNvPr id="23" name="Text 18"/>
          <p:cNvSpPr/>
          <p:nvPr/>
        </p:nvSpPr>
        <p:spPr>
          <a:xfrm>
            <a:off x="11245543" y="3823917"/>
            <a:ext cx="118368" cy="118368"/>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4" name="Text 19"/>
          <p:cNvSpPr txBox="1"/>
          <p:nvPr/>
        </p:nvSpPr>
        <p:spPr>
          <a:xfrm>
            <a:off x="658368" y="3842309"/>
            <a:ext cx="1700784" cy="201168"/>
          </a:xfrm>
          <a:prstGeom prst="rect">
            <a:avLst/>
          </a:prstGeom>
          <a:noFill/>
          <a:ln/>
        </p:spPr>
        <p:txBody>
          <a:bodyPr wrap="square" lIns="0" tIns="0" rIns="0" bIns="0" rtlCol="0" anchor="t"/>
          <a:lstStyle/>
          <a:p>
            <a:pPr algn="l" indent="0" marL="0">
              <a:buNone/>
            </a:pPr>
            <a:r>
              <a:rPr lang="en-US" sz="840" b="1" dirty="0">
                <a:solidFill>
                  <a:srgbClr val="102A43"/>
                </a:solidFill>
                <a:latin typeface="Consolas" pitchFamily="34" charset="0"/>
                <a:ea typeface="Consolas" pitchFamily="34" charset="-122"/>
                <a:cs typeface="Consolas" pitchFamily="34" charset="-120"/>
              </a:rPr>
              <a:t>TestClient(app)</a:t>
            </a:r>
            <a:endParaRPr lang="en-US" sz="840" dirty="0"/>
          </a:p>
        </p:txBody>
      </p:sp>
      <p:sp>
        <p:nvSpPr>
          <p:cNvPr id="25" name="Text 20"/>
          <p:cNvSpPr txBox="1"/>
          <p:nvPr/>
        </p:nvSpPr>
        <p:spPr>
          <a:xfrm>
            <a:off x="2414016" y="3842309"/>
            <a:ext cx="3319272" cy="329184"/>
          </a:xfrm>
          <a:prstGeom prst="rect">
            <a:avLst/>
          </a:prstGeom>
          <a:noFill/>
          <a:ln/>
        </p:spPr>
        <p:txBody>
          <a:bodyPr wrap="square" lIns="0" tIns="0" rIns="0" bIns="0" rtlCol="0" anchor="t"/>
          <a:lstStyle/>
          <a:p>
            <a:pPr algn="l" indent="0" marL="0">
              <a:lnSpc>
                <a:spcPct val="102000"/>
              </a:lnSpc>
              <a:buNone/>
            </a:pPr>
            <a:r>
              <a:rPr lang="en-US" sz="880" dirty="0">
                <a:solidFill>
                  <a:srgbClr val="243B53"/>
                </a:solidFill>
                <a:latin typeface="Aptos" pitchFamily="34" charset="0"/>
                <a:ea typeface="Aptos" pitchFamily="34" charset="-122"/>
                <a:cs typeface="Aptos" pitchFamily="34" charset="-120"/>
              </a:rPr>
              <a:t>Envía solicitudes a la API sin levantar un servidor.</a:t>
            </a:r>
            <a:endParaRPr lang="en-US" sz="880" dirty="0"/>
          </a:p>
        </p:txBody>
      </p:sp>
      <p:sp>
        <p:nvSpPr>
          <p:cNvPr id="26" name="Text 21"/>
          <p:cNvSpPr txBox="1"/>
          <p:nvPr/>
        </p:nvSpPr>
        <p:spPr>
          <a:xfrm>
            <a:off x="658368" y="4189781"/>
            <a:ext cx="1700784" cy="201168"/>
          </a:xfrm>
          <a:prstGeom prst="rect">
            <a:avLst/>
          </a:prstGeom>
          <a:noFill/>
          <a:ln/>
        </p:spPr>
        <p:txBody>
          <a:bodyPr wrap="square" lIns="0" tIns="0" rIns="0" bIns="0" rtlCol="0" anchor="t"/>
          <a:lstStyle/>
          <a:p>
            <a:pPr algn="l" indent="0" marL="0">
              <a:buNone/>
            </a:pPr>
            <a:r>
              <a:rPr lang="en-US" sz="840" b="1" dirty="0">
                <a:solidFill>
                  <a:srgbClr val="102A43"/>
                </a:solidFill>
                <a:latin typeface="Consolas" pitchFamily="34" charset="0"/>
                <a:ea typeface="Consolas" pitchFamily="34" charset="-122"/>
                <a:cs typeface="Consolas" pitchFamily="34" charset="-120"/>
              </a:rPr>
              <a:t>ThreadPoolExecutor</a:t>
            </a:r>
            <a:endParaRPr lang="en-US" sz="840" dirty="0"/>
          </a:p>
        </p:txBody>
      </p:sp>
      <p:sp>
        <p:nvSpPr>
          <p:cNvPr id="27" name="Text 22"/>
          <p:cNvSpPr txBox="1"/>
          <p:nvPr/>
        </p:nvSpPr>
        <p:spPr>
          <a:xfrm>
            <a:off x="2414016" y="4189781"/>
            <a:ext cx="3319272" cy="329184"/>
          </a:xfrm>
          <a:prstGeom prst="rect">
            <a:avLst/>
          </a:prstGeom>
          <a:noFill/>
          <a:ln/>
        </p:spPr>
        <p:txBody>
          <a:bodyPr wrap="square" lIns="0" tIns="0" rIns="0" bIns="0" rtlCol="0" anchor="t"/>
          <a:lstStyle/>
          <a:p>
            <a:pPr algn="l" indent="0" marL="0">
              <a:lnSpc>
                <a:spcPct val="102000"/>
              </a:lnSpc>
              <a:buNone/>
            </a:pPr>
            <a:r>
              <a:rPr lang="en-US" sz="880" dirty="0">
                <a:solidFill>
                  <a:srgbClr val="243B53"/>
                </a:solidFill>
                <a:latin typeface="Aptos" pitchFamily="34" charset="0"/>
                <a:ea typeface="Aptos" pitchFamily="34" charset="-122"/>
                <a:cs typeface="Aptos" pitchFamily="34" charset="-120"/>
              </a:rPr>
              <a:t>Crea hilos, partes del programa que corren a la vez. PERSONAS vale 20.</a:t>
            </a:r>
            <a:endParaRPr lang="en-US" sz="880" dirty="0"/>
          </a:p>
        </p:txBody>
      </p:sp>
      <p:sp>
        <p:nvSpPr>
          <p:cNvPr id="28" name="Text 23"/>
          <p:cNvSpPr txBox="1"/>
          <p:nvPr/>
        </p:nvSpPr>
        <p:spPr>
          <a:xfrm>
            <a:off x="658368" y="4537253"/>
            <a:ext cx="1700784" cy="201168"/>
          </a:xfrm>
          <a:prstGeom prst="rect">
            <a:avLst/>
          </a:prstGeom>
          <a:noFill/>
          <a:ln/>
        </p:spPr>
        <p:txBody>
          <a:bodyPr wrap="square" lIns="0" tIns="0" rIns="0" bIns="0" rtlCol="0" anchor="t"/>
          <a:lstStyle/>
          <a:p>
            <a:pPr algn="l" indent="0" marL="0">
              <a:buNone/>
            </a:pPr>
            <a:r>
              <a:rPr lang="en-US" sz="840" b="1" dirty="0">
                <a:solidFill>
                  <a:srgbClr val="102A43"/>
                </a:solidFill>
                <a:latin typeface="Consolas" pitchFamily="34" charset="0"/>
                <a:ea typeface="Consolas" pitchFamily="34" charset="-122"/>
                <a:cs typeface="Consolas" pitchFamily="34" charset="-120"/>
              </a:rPr>
              <a:t>grupo.map</a:t>
            </a:r>
            <a:endParaRPr lang="en-US" sz="840" dirty="0"/>
          </a:p>
        </p:txBody>
      </p:sp>
      <p:sp>
        <p:nvSpPr>
          <p:cNvPr id="29" name="Text 24"/>
          <p:cNvSpPr txBox="1"/>
          <p:nvPr/>
        </p:nvSpPr>
        <p:spPr>
          <a:xfrm>
            <a:off x="2414016" y="4537253"/>
            <a:ext cx="3319272" cy="329184"/>
          </a:xfrm>
          <a:prstGeom prst="rect">
            <a:avLst/>
          </a:prstGeom>
          <a:noFill/>
          <a:ln/>
        </p:spPr>
        <p:txBody>
          <a:bodyPr wrap="square" lIns="0" tIns="0" rIns="0" bIns="0" rtlCol="0" anchor="t"/>
          <a:lstStyle/>
          <a:p>
            <a:pPr algn="l" indent="0" marL="0">
              <a:lnSpc>
                <a:spcPct val="102000"/>
              </a:lnSpc>
              <a:buNone/>
            </a:pPr>
            <a:r>
              <a:rPr lang="en-US" sz="880" dirty="0">
                <a:solidFill>
                  <a:srgbClr val="243B53"/>
                </a:solidFill>
                <a:latin typeface="Aptos" pitchFamily="34" charset="0"/>
                <a:ea typeface="Aptos" pitchFamily="34" charset="-122"/>
                <a:cs typeface="Aptos" pitchFamily="34" charset="-120"/>
              </a:rPr>
              <a:t>Llama a reservar_bloque_4 con 0, 1… hasta 19, repartido entre los hilos.</a:t>
            </a:r>
            <a:endParaRPr lang="en-US" sz="880" dirty="0"/>
          </a:p>
        </p:txBody>
      </p:sp>
      <p:sp>
        <p:nvSpPr>
          <p:cNvPr id="30" name="Text 25"/>
          <p:cNvSpPr txBox="1"/>
          <p:nvPr/>
        </p:nvSpPr>
        <p:spPr>
          <a:xfrm>
            <a:off x="658368" y="4884725"/>
            <a:ext cx="1700784" cy="201168"/>
          </a:xfrm>
          <a:prstGeom prst="rect">
            <a:avLst/>
          </a:prstGeom>
          <a:noFill/>
          <a:ln/>
        </p:spPr>
        <p:txBody>
          <a:bodyPr wrap="square" lIns="0" tIns="0" rIns="0" bIns="0" rtlCol="0" anchor="t"/>
          <a:lstStyle/>
          <a:p>
            <a:pPr algn="l" indent="0" marL="0">
              <a:buNone/>
            </a:pPr>
            <a:r>
              <a:rPr lang="en-US" sz="840" b="1" dirty="0">
                <a:solidFill>
                  <a:srgbClr val="102A43"/>
                </a:solidFill>
                <a:latin typeface="Consolas" pitchFamily="34" charset="0"/>
                <a:ea typeface="Consolas" pitchFamily="34" charset="-122"/>
                <a:cs typeface="Consolas" pitchFamily="34" charset="-120"/>
              </a:rPr>
              <a:t>base_de_datos_de_prueba</a:t>
            </a:r>
            <a:endParaRPr lang="en-US" sz="840" dirty="0"/>
          </a:p>
        </p:txBody>
      </p:sp>
      <p:sp>
        <p:nvSpPr>
          <p:cNvPr id="31" name="Text 26"/>
          <p:cNvSpPr txBox="1"/>
          <p:nvPr/>
        </p:nvSpPr>
        <p:spPr>
          <a:xfrm>
            <a:off x="2414016" y="4884725"/>
            <a:ext cx="3319272" cy="329184"/>
          </a:xfrm>
          <a:prstGeom prst="rect">
            <a:avLst/>
          </a:prstGeom>
          <a:noFill/>
          <a:ln/>
        </p:spPr>
        <p:txBody>
          <a:bodyPr wrap="square" lIns="0" tIns="0" rIns="0" bIns="0" rtlCol="0" anchor="t"/>
          <a:lstStyle/>
          <a:p>
            <a:pPr algn="l" indent="0" marL="0">
              <a:lnSpc>
                <a:spcPct val="102000"/>
              </a:lnSpc>
              <a:buNone/>
            </a:pPr>
            <a:r>
              <a:rPr lang="en-US" sz="880" dirty="0">
                <a:solidFill>
                  <a:srgbClr val="243B53"/>
                </a:solidFill>
                <a:latin typeface="Aptos" pitchFamily="34" charset="0"/>
                <a:ea typeface="Aptos" pitchFamily="34" charset="-122"/>
                <a:cs typeface="Aptos" pitchFamily="34" charset="-120"/>
              </a:rPr>
              <a:t>Una fixture: pytest la ejecuta antes de la prueba; da una base vacía y la borra al final.</a:t>
            </a:r>
            <a:endParaRPr lang="en-US" sz="880" dirty="0"/>
          </a:p>
        </p:txBody>
      </p:sp>
      <p:sp>
        <p:nvSpPr>
          <p:cNvPr id="32" name="Text 27"/>
          <p:cNvSpPr txBox="1"/>
          <p:nvPr/>
        </p:nvSpPr>
        <p:spPr>
          <a:xfrm>
            <a:off x="658368" y="5232197"/>
            <a:ext cx="1700784" cy="201168"/>
          </a:xfrm>
          <a:prstGeom prst="rect">
            <a:avLst/>
          </a:prstGeom>
          <a:noFill/>
          <a:ln/>
        </p:spPr>
        <p:txBody>
          <a:bodyPr wrap="square" lIns="0" tIns="0" rIns="0" bIns="0" rtlCol="0" anchor="t"/>
          <a:lstStyle/>
          <a:p>
            <a:pPr algn="l" indent="0" marL="0">
              <a:buNone/>
            </a:pPr>
            <a:r>
              <a:rPr lang="en-US" sz="840" b="1" dirty="0">
                <a:solidFill>
                  <a:srgbClr val="102A43"/>
                </a:solidFill>
                <a:latin typeface="Consolas" pitchFamily="34" charset="0"/>
                <a:ea typeface="Consolas" pitchFamily="34" charset="-122"/>
                <a:cs typeface="Consolas" pitchFamily="34" charset="-120"/>
              </a:rPr>
              <a:t>closing(...)</a:t>
            </a:r>
            <a:endParaRPr lang="en-US" sz="840" dirty="0"/>
          </a:p>
        </p:txBody>
      </p:sp>
      <p:sp>
        <p:nvSpPr>
          <p:cNvPr id="33" name="Text 28"/>
          <p:cNvSpPr txBox="1"/>
          <p:nvPr/>
        </p:nvSpPr>
        <p:spPr>
          <a:xfrm>
            <a:off x="2414016" y="5232197"/>
            <a:ext cx="3319272" cy="329184"/>
          </a:xfrm>
          <a:prstGeom prst="rect">
            <a:avLst/>
          </a:prstGeom>
          <a:noFill/>
          <a:ln/>
        </p:spPr>
        <p:txBody>
          <a:bodyPr wrap="square" lIns="0" tIns="0" rIns="0" bIns="0" rtlCol="0" anchor="t"/>
          <a:lstStyle/>
          <a:p>
            <a:pPr algn="l" indent="0" marL="0">
              <a:lnSpc>
                <a:spcPct val="102000"/>
              </a:lnSpc>
              <a:buNone/>
            </a:pPr>
            <a:r>
              <a:rPr lang="en-US" sz="880" dirty="0">
                <a:solidFill>
                  <a:srgbClr val="243B53"/>
                </a:solidFill>
                <a:latin typeface="Aptos" pitchFamily="34" charset="0"/>
                <a:ea typeface="Aptos" pitchFamily="34" charset="-122"/>
                <a:cs typeface="Aptos" pitchFamily="34" charset="-120"/>
              </a:rPr>
              <a:t>Abre la base para contar y la cierra al terminar.</a:t>
            </a:r>
            <a:endParaRPr lang="en-US" sz="880" dirty="0"/>
          </a:p>
        </p:txBody>
      </p:sp>
      <p:sp>
        <p:nvSpPr>
          <p:cNvPr id="34" name="Shape 29"/>
          <p:cNvSpPr/>
          <p:nvPr/>
        </p:nvSpPr>
        <p:spPr>
          <a:xfrm>
            <a:off x="5916168" y="4480560"/>
            <a:ext cx="5617159" cy="997204"/>
          </a:xfrm>
          <a:prstGeom prst="roundRect">
            <a:avLst>
              <a:gd name="adj" fmla="val 4585"/>
            </a:avLst>
          </a:prstGeom>
          <a:solidFill>
            <a:srgbClr val="0F1720"/>
          </a:solidFill>
          <a:ln w="12700">
            <a:solidFill>
              <a:srgbClr val="0F1720"/>
            </a:solidFill>
            <a:prstDash val="solid"/>
          </a:ln>
        </p:spPr>
      </p:sp>
      <p:sp>
        <p:nvSpPr>
          <p:cNvPr id="35" name="Shape 30"/>
          <p:cNvSpPr/>
          <p:nvPr/>
        </p:nvSpPr>
        <p:spPr>
          <a:xfrm>
            <a:off x="6076188" y="4613148"/>
            <a:ext cx="82296" cy="82296"/>
          </a:xfrm>
          <a:prstGeom prst="ellipse">
            <a:avLst/>
          </a:prstGeom>
          <a:solidFill>
            <a:srgbClr val="52606D"/>
          </a:solidFill>
          <a:ln w="12700">
            <a:solidFill>
              <a:srgbClr val="52606D"/>
            </a:solidFill>
            <a:prstDash val="solid"/>
          </a:ln>
        </p:spPr>
      </p:sp>
      <p:sp>
        <p:nvSpPr>
          <p:cNvPr id="36" name="Shape 31"/>
          <p:cNvSpPr/>
          <p:nvPr/>
        </p:nvSpPr>
        <p:spPr>
          <a:xfrm>
            <a:off x="6231636" y="4613148"/>
            <a:ext cx="82296" cy="82296"/>
          </a:xfrm>
          <a:prstGeom prst="ellipse">
            <a:avLst/>
          </a:prstGeom>
          <a:solidFill>
            <a:srgbClr val="52606D"/>
          </a:solidFill>
          <a:ln w="12700">
            <a:solidFill>
              <a:srgbClr val="52606D"/>
            </a:solidFill>
            <a:prstDash val="solid"/>
          </a:ln>
        </p:spPr>
      </p:sp>
      <p:sp>
        <p:nvSpPr>
          <p:cNvPr id="37" name="Shape 32"/>
          <p:cNvSpPr/>
          <p:nvPr/>
        </p:nvSpPr>
        <p:spPr>
          <a:xfrm>
            <a:off x="6387084" y="4613148"/>
            <a:ext cx="82296" cy="82296"/>
          </a:xfrm>
          <a:prstGeom prst="ellipse">
            <a:avLst/>
          </a:prstGeom>
          <a:solidFill>
            <a:srgbClr val="52606D"/>
          </a:solidFill>
          <a:ln w="12700">
            <a:solidFill>
              <a:srgbClr val="52606D"/>
            </a:solidFill>
            <a:prstDash val="solid"/>
          </a:ln>
        </p:spPr>
      </p:sp>
      <p:sp>
        <p:nvSpPr>
          <p:cNvPr id="38" name="Text 33"/>
          <p:cNvSpPr/>
          <p:nvPr/>
        </p:nvSpPr>
        <p:spPr>
          <a:xfrm>
            <a:off x="6611112" y="4562856"/>
            <a:ext cx="47393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Contra el sistema tal como está</a:t>
            </a:r>
            <a:endParaRPr lang="en-US" sz="940" dirty="0"/>
          </a:p>
        </p:txBody>
      </p:sp>
      <p:sp>
        <p:nvSpPr>
          <p:cNvPr id="39" name="Text 34"/>
          <p:cNvSpPr/>
          <p:nvPr/>
        </p:nvSpPr>
        <p:spPr>
          <a:xfrm>
            <a:off x="6117336" y="4956048"/>
            <a:ext cx="5214823" cy="196850"/>
          </a:xfrm>
          <a:prstGeom prst="rect">
            <a:avLst/>
          </a:prstGeom>
          <a:noFill/>
          <a:ln/>
        </p:spPr>
        <p:txBody>
          <a:bodyPr wrap="square" lIns="0" tIns="0" rIns="0" bIns="0" rtlCol="0" anchor="ctr"/>
          <a:lstStyle/>
          <a:p>
            <a:pPr indent="0" marL="0">
              <a:buNone/>
            </a:pPr>
            <a:r>
              <a:rPr lang="en-US" sz="1000" b="1" dirty="0">
                <a:solidFill>
                  <a:srgbClr val="D62027"/>
                </a:solidFill>
                <a:latin typeface="Consolas" pitchFamily="34" charset="0"/>
                <a:ea typeface="Consolas" pitchFamily="34" charset="-122"/>
                <a:cs typeface="Consolas" pitchFamily="34" charset="-120"/>
              </a:rPr>
              <a:t>E       assert 4 == 1</a:t>
            </a:r>
            <a:endParaRPr lang="en-US" sz="1000" dirty="0"/>
          </a:p>
        </p:txBody>
      </p:sp>
      <p:sp>
        <p:nvSpPr>
          <p:cNvPr id="40" name="Text 35"/>
          <p:cNvSpPr/>
          <p:nvPr/>
        </p:nvSpPr>
        <p:spPr>
          <a:xfrm>
            <a:off x="6117336" y="5152898"/>
            <a:ext cx="5214823" cy="196850"/>
          </a:xfrm>
          <a:prstGeom prst="rect">
            <a:avLst/>
          </a:prstGeom>
          <a:noFill/>
          <a:ln/>
        </p:spPr>
        <p:txBody>
          <a:bodyPr wrap="square" lIns="0" tIns="0" rIns="0" bIns="0" rtlCol="0" anchor="ctr"/>
          <a:lstStyle/>
          <a:p>
            <a:pPr indent="0" marL="0">
              <a:buNone/>
            </a:pPr>
            <a:r>
              <a:rPr lang="en-US" sz="1000" b="1" dirty="0">
                <a:solidFill>
                  <a:srgbClr val="D62027"/>
                </a:solidFill>
                <a:latin typeface="Consolas" pitchFamily="34" charset="0"/>
                <a:ea typeface="Consolas" pitchFamily="34" charset="-122"/>
                <a:cs typeface="Consolas" pitchFamily="34" charset="-120"/>
              </a:rPr>
              <a:t>1 failed, 1 warning in 0.86s</a:t>
            </a:r>
            <a:endParaRPr lang="en-US" sz="1000" dirty="0"/>
          </a:p>
        </p:txBody>
      </p:sp>
      <p:sp>
        <p:nvSpPr>
          <p:cNvPr id="41" name="Shape 36"/>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Repetida diez veces, falló las diez: el sistema aceptó entre 3 y 9 reservas del mismo bloque.</a:t>
            </a:r>
            <a:endParaRPr lang="en-US" sz="13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Preguntar y escribir como una sola operación</a:t>
            </a:r>
            <a:endParaRPr lang="en-US" sz="2800" dirty="0"/>
          </a:p>
        </p:txBody>
      </p:sp>
      <p:sp>
        <p:nvSpPr>
          <p:cNvPr id="10" name="Shape 7"/>
          <p:cNvSpPr/>
          <p:nvPr/>
        </p:nvSpPr>
        <p:spPr>
          <a:xfrm>
            <a:off x="658368" y="1737360"/>
            <a:ext cx="5669280" cy="1395171"/>
          </a:xfrm>
          <a:prstGeom prst="roundRect">
            <a:avLst>
              <a:gd name="adj" fmla="val 3277"/>
            </a:avLst>
          </a:prstGeom>
          <a:solidFill>
            <a:srgbClr val="102A43"/>
          </a:solidFill>
          <a:ln w="12700">
            <a:solidFill>
              <a:srgbClr val="102A43"/>
            </a:solidFill>
            <a:prstDash val="solid"/>
          </a:ln>
        </p:spPr>
      </p:sp>
      <p:sp>
        <p:nvSpPr>
          <p:cNvPr id="11" name="Shape 8"/>
          <p:cNvSpPr/>
          <p:nvPr/>
        </p:nvSpPr>
        <p:spPr>
          <a:xfrm>
            <a:off x="658368" y="2093976"/>
            <a:ext cx="5669280" cy="9144"/>
          </a:xfrm>
          <a:prstGeom prst="rect">
            <a:avLst/>
          </a:prstGeom>
          <a:solidFill>
            <a:srgbClr val="284B75"/>
          </a:solidFill>
          <a:ln w="12700">
            <a:solidFill>
              <a:srgbClr val="284B75"/>
            </a:solidFill>
            <a:prstDash val="solid"/>
          </a:ln>
        </p:spPr>
      </p:sp>
      <p:sp>
        <p:nvSpPr>
          <p:cNvPr id="12" name="Text 9"/>
          <p:cNvSpPr/>
          <p:nvPr/>
        </p:nvSpPr>
        <p:spPr>
          <a:xfrm>
            <a:off x="841248" y="1828800"/>
            <a:ext cx="530352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api.py · al comienzo de crear_reserva, la función que recibe cada reserva</a:t>
            </a:r>
            <a:endParaRPr lang="en-US" sz="960" dirty="0"/>
          </a:p>
        </p:txBody>
      </p:sp>
      <p:sp>
        <p:nvSpPr>
          <p:cNvPr id="13" name="Shape 10"/>
          <p:cNvSpPr/>
          <p:nvPr/>
        </p:nvSpPr>
        <p:spPr>
          <a:xfrm>
            <a:off x="713232" y="2577186"/>
            <a:ext cx="5157216" cy="172444"/>
          </a:xfrm>
          <a:prstGeom prst="rect">
            <a:avLst/>
          </a:prstGeom>
          <a:solidFill>
            <a:srgbClr val="2E7D4F">
              <a:alpha val="28000"/>
            </a:srgbClr>
          </a:solidFill>
          <a:ln w="12700">
            <a:solidFill>
              <a:srgbClr val="2E7D4F">
                <a:alpha val="0"/>
              </a:srgbClr>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4937760" cy="773379"/>
          </a:xfrm>
          <a:prstGeom prst="rect">
            <a:avLst/>
          </a:prstGeom>
        </p:spPr>
      </p:pic>
      <p:sp>
        <p:nvSpPr>
          <p:cNvPr id="15" name="Shape 11"/>
          <p:cNvSpPr/>
          <p:nvPr/>
        </p:nvSpPr>
        <p:spPr>
          <a:xfrm>
            <a:off x="6016419" y="2573804"/>
            <a:ext cx="165258" cy="165258"/>
          </a:xfrm>
          <a:prstGeom prst="ellipse">
            <a:avLst/>
          </a:prstGeom>
          <a:solidFill>
            <a:srgbClr val="2E7D4F"/>
          </a:solidFill>
          <a:ln w="12700">
            <a:solidFill>
              <a:srgbClr val="2E7D4F"/>
            </a:solidFill>
            <a:prstDash val="solid"/>
          </a:ln>
        </p:spPr>
      </p:sp>
      <p:sp>
        <p:nvSpPr>
          <p:cNvPr id="16" name="Text 12"/>
          <p:cNvSpPr/>
          <p:nvPr/>
        </p:nvSpPr>
        <p:spPr>
          <a:xfrm>
            <a:off x="6025563" y="2582948"/>
            <a:ext cx="146970" cy="14697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17" name="Text 13"/>
          <p:cNvSpPr txBox="1"/>
          <p:nvPr/>
        </p:nvSpPr>
        <p:spPr>
          <a:xfrm>
            <a:off x="658368" y="3200400"/>
            <a:ext cx="5669280" cy="548640"/>
          </a:xfrm>
          <a:prstGeom prst="rect">
            <a:avLst/>
          </a:prstGeom>
          <a:noFill/>
          <a:ln/>
        </p:spPr>
        <p:txBody>
          <a:bodyPr wrap="square" lIns="0" tIns="0" rIns="0" bIns="0" rtlCol="0" anchor="t"/>
          <a:lstStyle/>
          <a:p>
            <a:pPr algn="l" indent="0" marL="0">
              <a:lnSpc>
                <a:spcPct val="110000"/>
              </a:lnSpc>
              <a:buNone/>
            </a:pPr>
            <a:r>
              <a:rPr lang="en-US" sz="1120" dirty="0">
                <a:solidFill>
                  <a:srgbClr val="243B53"/>
                </a:solidFill>
                <a:latin typeface="Aptos" pitchFamily="34" charset="0"/>
                <a:ea typeface="Aptos" pitchFamily="34" charset="-122"/>
                <a:cs typeface="Aptos" pitchFamily="34" charset="-120"/>
              </a:rPr>
              <a:t>Una transacción agrupa varias operaciones de la base para que ocurran como una sola, sin que otra conexión se meta entre ellas.</a:t>
            </a:r>
            <a:endParaRPr lang="en-US" sz="1120" dirty="0"/>
          </a:p>
        </p:txBody>
      </p:sp>
      <p:sp>
        <p:nvSpPr>
          <p:cNvPr id="18" name="Shape 14"/>
          <p:cNvSpPr/>
          <p:nvPr/>
        </p:nvSpPr>
        <p:spPr>
          <a:xfrm>
            <a:off x="6601968" y="1737360"/>
            <a:ext cx="4931359" cy="2029968"/>
          </a:xfrm>
          <a:prstGeom prst="rect">
            <a:avLst/>
          </a:prstGeom>
          <a:solidFill>
            <a:srgbClr val="EDE6DA"/>
          </a:solidFill>
          <a:ln w="12700">
            <a:solidFill>
              <a:srgbClr val="EDE6DA"/>
            </a:solidFill>
            <a:prstDash val="solid"/>
          </a:ln>
        </p:spPr>
      </p:sp>
      <p:sp>
        <p:nvSpPr>
          <p:cNvPr id="19" name="Shape 15"/>
          <p:cNvSpPr/>
          <p:nvPr/>
        </p:nvSpPr>
        <p:spPr>
          <a:xfrm>
            <a:off x="6601968" y="1737360"/>
            <a:ext cx="54864" cy="2029968"/>
          </a:xfrm>
          <a:prstGeom prst="rect">
            <a:avLst/>
          </a:prstGeom>
          <a:solidFill>
            <a:srgbClr val="102A43"/>
          </a:solidFill>
          <a:ln w="12700">
            <a:solidFill>
              <a:srgbClr val="102A43"/>
            </a:solidFill>
            <a:prstDash val="solid"/>
          </a:ln>
        </p:spPr>
      </p:sp>
      <p:sp>
        <p:nvSpPr>
          <p:cNvPr id="20" name="Text 16"/>
          <p:cNvSpPr txBox="1"/>
          <p:nvPr/>
        </p:nvSpPr>
        <p:spPr>
          <a:xfrm>
            <a:off x="6858000" y="1865376"/>
            <a:ext cx="4419295" cy="1591056"/>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«IMMEDIATE hace que la conexión empiece una escritura de inmediato, sin esperar a que aparezca una instrucción de escritura. Puede fallar con SQLITE_BUSY si otra conexión ya tiene una escritura en curso.»</a:t>
            </a:r>
            <a:endParaRPr lang="en-US" sz="1180" dirty="0"/>
          </a:p>
        </p:txBody>
      </p:sp>
      <p:sp>
        <p:nvSpPr>
          <p:cNvPr id="21" name="Text 17"/>
          <p:cNvSpPr txBox="1"/>
          <p:nvPr/>
        </p:nvSpPr>
        <p:spPr>
          <a:xfrm>
            <a:off x="6858000" y="3493008"/>
            <a:ext cx="44192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SQLite, BEGIN TRANSACTION · traducción del original en inglés</a:t>
            </a:r>
            <a:endParaRPr lang="en-US" sz="900" dirty="0"/>
          </a:p>
        </p:txBody>
      </p:sp>
      <p:sp>
        <p:nvSpPr>
          <p:cNvPr id="22" name="Shape 18"/>
          <p:cNvSpPr/>
          <p:nvPr/>
        </p:nvSpPr>
        <p:spPr>
          <a:xfrm>
            <a:off x="658368" y="3931920"/>
            <a:ext cx="10874959" cy="731520"/>
          </a:xfrm>
          <a:prstGeom prst="rect">
            <a:avLst/>
          </a:prstGeom>
          <a:solidFill>
            <a:srgbClr val="F2E7D9"/>
          </a:solidFill>
          <a:ln w="12700">
            <a:solidFill>
              <a:srgbClr val="F2E7D9"/>
            </a:solidFill>
            <a:prstDash val="solid"/>
          </a:ln>
        </p:spPr>
      </p:sp>
      <p:sp>
        <p:nvSpPr>
          <p:cNvPr id="23" name="Shape 19"/>
          <p:cNvSpPr/>
          <p:nvPr/>
        </p:nvSpPr>
        <p:spPr>
          <a:xfrm>
            <a:off x="658368" y="3931920"/>
            <a:ext cx="54864" cy="731520"/>
          </a:xfrm>
          <a:prstGeom prst="rect">
            <a:avLst/>
          </a:prstGeom>
          <a:solidFill>
            <a:srgbClr val="8A6A12"/>
          </a:solidFill>
          <a:ln w="12700">
            <a:solidFill>
              <a:srgbClr val="8A6A12"/>
            </a:solidFill>
            <a:prstDash val="solid"/>
          </a:ln>
        </p:spPr>
      </p:sp>
      <p:sp>
        <p:nvSpPr>
          <p:cNvPr id="24" name="Text 20"/>
          <p:cNvSpPr txBox="1"/>
          <p:nvPr/>
        </p:nvSpPr>
        <p:spPr>
          <a:xfrm>
            <a:off x="932688" y="3986784"/>
            <a:ext cx="10326319" cy="621792"/>
          </a:xfrm>
          <a:prstGeom prst="rect">
            <a:avLst/>
          </a:prstGeom>
          <a:noFill/>
          <a:ln/>
        </p:spPr>
        <p:txBody>
          <a:bodyPr wrap="square" lIns="0" tIns="0" rIns="0" bIns="0" rtlCol="0" anchor="ctr"/>
          <a:lstStyle/>
          <a:p>
            <a:pPr algn="l" indent="0" marL="0">
              <a:lnSpc>
                <a:spcPct val="110000"/>
              </a:lnSpc>
              <a:buNone/>
            </a:pPr>
            <a:r>
              <a:rPr lang="en-US" sz="1080" dirty="0">
                <a:solidFill>
                  <a:srgbClr val="243B53"/>
                </a:solidFill>
                <a:latin typeface="Aptos" pitchFamily="34" charset="0"/>
                <a:ea typeface="Aptos" pitchFamily="34" charset="-122"/>
                <a:cs typeface="Aptos" pitchFamily="34" charset="-120"/>
              </a:rPr>
              <a:t>SQLITE_BUSY es el aviso de que la base está ocupada. En la práctica, la segunda solicitud espera su turno: la conexión de Python a SQLite reintenta durante 5 segundos. Cuando le toca, la primera ya escribió, y «¿está tomado?» recibe la respuesta verdadera.</a:t>
            </a:r>
            <a:endParaRPr lang="en-US" sz="1080" dirty="0"/>
          </a:p>
        </p:txBody>
      </p:sp>
      <p:sp>
        <p:nvSpPr>
          <p:cNvPr id="25" name="Shape 21"/>
          <p:cNvSpPr/>
          <p:nvPr/>
        </p:nvSpPr>
        <p:spPr>
          <a:xfrm>
            <a:off x="658368" y="4791456"/>
            <a:ext cx="3539642" cy="731520"/>
          </a:xfrm>
          <a:prstGeom prst="rect">
            <a:avLst/>
          </a:prstGeom>
          <a:solidFill>
            <a:srgbClr val="FFFFFF"/>
          </a:solidFill>
          <a:ln w="12700">
            <a:solidFill>
              <a:srgbClr val="FFFFFF"/>
            </a:solidFill>
            <a:prstDash val="solid"/>
          </a:ln>
        </p:spPr>
      </p:sp>
      <p:sp>
        <p:nvSpPr>
          <p:cNvPr id="26" name="Shape 22"/>
          <p:cNvSpPr/>
          <p:nvPr/>
        </p:nvSpPr>
        <p:spPr>
          <a:xfrm>
            <a:off x="658368" y="4791456"/>
            <a:ext cx="3539642" cy="54864"/>
          </a:xfrm>
          <a:prstGeom prst="rect">
            <a:avLst/>
          </a:prstGeom>
          <a:solidFill>
            <a:srgbClr val="2E7D4F"/>
          </a:solidFill>
          <a:ln w="12700">
            <a:solidFill>
              <a:srgbClr val="2E7D4F"/>
            </a:solidFill>
            <a:prstDash val="solid"/>
          </a:ln>
        </p:spPr>
      </p:sp>
      <p:sp>
        <p:nvSpPr>
          <p:cNvPr id="27" name="Text 23"/>
          <p:cNvSpPr txBox="1"/>
          <p:nvPr/>
        </p:nvSpPr>
        <p:spPr>
          <a:xfrm>
            <a:off x="859536" y="4901184"/>
            <a:ext cx="3173882"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La prueba, diez veces</a:t>
            </a:r>
            <a:endParaRPr lang="en-US" sz="1000" dirty="0"/>
          </a:p>
        </p:txBody>
      </p:sp>
      <p:sp>
        <p:nvSpPr>
          <p:cNvPr id="28" name="Text 24"/>
          <p:cNvSpPr txBox="1"/>
          <p:nvPr/>
        </p:nvSpPr>
        <p:spPr>
          <a:xfrm>
            <a:off x="859536" y="5120640"/>
            <a:ext cx="3173882" cy="274320"/>
          </a:xfrm>
          <a:prstGeom prst="rect">
            <a:avLst/>
          </a:prstGeom>
          <a:noFill/>
          <a:ln/>
        </p:spPr>
        <p:txBody>
          <a:bodyPr wrap="square" lIns="0" tIns="0" rIns="0" bIns="0" rtlCol="0" anchor="t"/>
          <a:lstStyle/>
          <a:p>
            <a:pPr algn="l" indent="0" marL="0">
              <a:buNone/>
            </a:pPr>
            <a:r>
              <a:rPr lang="en-US" sz="1200" b="1" dirty="0">
                <a:solidFill>
                  <a:srgbClr val="2E7D4F"/>
                </a:solidFill>
                <a:latin typeface="Consolas" pitchFamily="34" charset="0"/>
                <a:ea typeface="Consolas" pitchFamily="34" charset="-122"/>
                <a:cs typeface="Consolas" pitchFamily="34" charset="-120"/>
              </a:rPr>
              <a:t>10 de 10 en verde</a:t>
            </a:r>
            <a:endParaRPr lang="en-US" sz="1200" dirty="0"/>
          </a:p>
        </p:txBody>
      </p:sp>
      <p:sp>
        <p:nvSpPr>
          <p:cNvPr id="29" name="Shape 25"/>
          <p:cNvSpPr/>
          <p:nvPr/>
        </p:nvSpPr>
        <p:spPr>
          <a:xfrm>
            <a:off x="4326026" y="4791456"/>
            <a:ext cx="3539642" cy="731520"/>
          </a:xfrm>
          <a:prstGeom prst="rect">
            <a:avLst/>
          </a:prstGeom>
          <a:solidFill>
            <a:srgbClr val="FFFFFF"/>
          </a:solidFill>
          <a:ln w="12700">
            <a:solidFill>
              <a:srgbClr val="FFFFFF"/>
            </a:solidFill>
            <a:prstDash val="solid"/>
          </a:ln>
        </p:spPr>
      </p:sp>
      <p:sp>
        <p:nvSpPr>
          <p:cNvPr id="30" name="Shape 26"/>
          <p:cNvSpPr/>
          <p:nvPr/>
        </p:nvSpPr>
        <p:spPr>
          <a:xfrm>
            <a:off x="4326026" y="4791456"/>
            <a:ext cx="3539642" cy="54864"/>
          </a:xfrm>
          <a:prstGeom prst="rect">
            <a:avLst/>
          </a:prstGeom>
          <a:solidFill>
            <a:srgbClr val="2E7D4F"/>
          </a:solidFill>
          <a:ln w="12700">
            <a:solidFill>
              <a:srgbClr val="2E7D4F"/>
            </a:solidFill>
            <a:prstDash val="solid"/>
          </a:ln>
        </p:spPr>
      </p:sp>
      <p:sp>
        <p:nvSpPr>
          <p:cNvPr id="31" name="Text 27"/>
          <p:cNvSpPr txBox="1"/>
          <p:nvPr/>
        </p:nvSpPr>
        <p:spPr>
          <a:xfrm>
            <a:off x="4527194" y="4901184"/>
            <a:ext cx="3173882"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La suite completa</a:t>
            </a:r>
            <a:endParaRPr lang="en-US" sz="1000" dirty="0"/>
          </a:p>
        </p:txBody>
      </p:sp>
      <p:sp>
        <p:nvSpPr>
          <p:cNvPr id="32" name="Text 28"/>
          <p:cNvSpPr txBox="1"/>
          <p:nvPr/>
        </p:nvSpPr>
        <p:spPr>
          <a:xfrm>
            <a:off x="4527194" y="5120640"/>
            <a:ext cx="3173882" cy="274320"/>
          </a:xfrm>
          <a:prstGeom prst="rect">
            <a:avLst/>
          </a:prstGeom>
          <a:noFill/>
          <a:ln/>
        </p:spPr>
        <p:txBody>
          <a:bodyPr wrap="square" lIns="0" tIns="0" rIns="0" bIns="0" rtlCol="0" anchor="t"/>
          <a:lstStyle/>
          <a:p>
            <a:pPr algn="l" indent="0" marL="0">
              <a:buNone/>
            </a:pPr>
            <a:r>
              <a:rPr lang="en-US" sz="1200" b="1" dirty="0">
                <a:solidFill>
                  <a:srgbClr val="2E7D4F"/>
                </a:solidFill>
                <a:latin typeface="Consolas" pitchFamily="34" charset="0"/>
                <a:ea typeface="Consolas" pitchFamily="34" charset="-122"/>
                <a:cs typeface="Consolas" pitchFamily="34" charset="-120"/>
              </a:rPr>
              <a:t>21 passed, 1 warning</a:t>
            </a:r>
            <a:endParaRPr lang="en-US" sz="1200" dirty="0"/>
          </a:p>
        </p:txBody>
      </p:sp>
      <p:sp>
        <p:nvSpPr>
          <p:cNvPr id="33" name="Shape 29"/>
          <p:cNvSpPr/>
          <p:nvPr/>
        </p:nvSpPr>
        <p:spPr>
          <a:xfrm>
            <a:off x="7993685" y="4791456"/>
            <a:ext cx="3539642" cy="731520"/>
          </a:xfrm>
          <a:prstGeom prst="rect">
            <a:avLst/>
          </a:prstGeom>
          <a:solidFill>
            <a:srgbClr val="FFFFFF"/>
          </a:solidFill>
          <a:ln w="12700">
            <a:solidFill>
              <a:srgbClr val="FFFFFF"/>
            </a:solidFill>
            <a:prstDash val="solid"/>
          </a:ln>
        </p:spPr>
      </p:sp>
      <p:sp>
        <p:nvSpPr>
          <p:cNvPr id="34" name="Shape 30"/>
          <p:cNvSpPr/>
          <p:nvPr/>
        </p:nvSpPr>
        <p:spPr>
          <a:xfrm>
            <a:off x="7993685" y="4791456"/>
            <a:ext cx="3539642" cy="54864"/>
          </a:xfrm>
          <a:prstGeom prst="rect">
            <a:avLst/>
          </a:prstGeom>
          <a:solidFill>
            <a:srgbClr val="2E7D4F"/>
          </a:solidFill>
          <a:ln w="12700">
            <a:solidFill>
              <a:srgbClr val="2E7D4F"/>
            </a:solidFill>
            <a:prstDash val="solid"/>
          </a:ln>
        </p:spPr>
      </p:sp>
      <p:sp>
        <p:nvSpPr>
          <p:cNvPr id="35" name="Text 31"/>
          <p:cNvSpPr txBox="1"/>
          <p:nvPr/>
        </p:nvSpPr>
        <p:spPr>
          <a:xfrm>
            <a:off x="8194853" y="4901184"/>
            <a:ext cx="3173882"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Veinte simultáneas</a:t>
            </a:r>
            <a:endParaRPr lang="en-US" sz="1000" dirty="0"/>
          </a:p>
        </p:txBody>
      </p:sp>
      <p:sp>
        <p:nvSpPr>
          <p:cNvPr id="36" name="Text 32"/>
          <p:cNvSpPr txBox="1"/>
          <p:nvPr/>
        </p:nvSpPr>
        <p:spPr>
          <a:xfrm>
            <a:off x="8194853" y="5120640"/>
            <a:ext cx="3173882" cy="274320"/>
          </a:xfrm>
          <a:prstGeom prst="rect">
            <a:avLst/>
          </a:prstGeom>
          <a:noFill/>
          <a:ln/>
        </p:spPr>
        <p:txBody>
          <a:bodyPr wrap="square" lIns="0" tIns="0" rIns="0" bIns="0" rtlCol="0" anchor="t"/>
          <a:lstStyle/>
          <a:p>
            <a:pPr algn="l" indent="0" marL="0">
              <a:buNone/>
            </a:pPr>
            <a:r>
              <a:rPr lang="en-US" sz="1200" b="1" dirty="0">
                <a:solidFill>
                  <a:srgbClr val="2E7D4F"/>
                </a:solidFill>
                <a:latin typeface="Consolas" pitchFamily="34" charset="0"/>
                <a:ea typeface="Consolas" pitchFamily="34" charset="-122"/>
                <a:cs typeface="Consolas" pitchFamily="34" charset="-120"/>
              </a:rPr>
              <a:t>1 reserva, diez de diez</a:t>
            </a:r>
            <a:endParaRPr lang="en-US" sz="1200" dirty="0"/>
          </a:p>
        </p:txBody>
      </p:sp>
      <p:sp>
        <p:nvSpPr>
          <p:cNvPr id="37" name="Shape 33"/>
          <p:cNvSpPr/>
          <p:nvPr/>
        </p:nvSpPr>
        <p:spPr>
          <a:xfrm>
            <a:off x="658368" y="5669280"/>
            <a:ext cx="10874959" cy="457200"/>
          </a:xfrm>
          <a:prstGeom prst="rect">
            <a:avLst/>
          </a:prstGeom>
          <a:solidFill>
            <a:srgbClr val="102A43"/>
          </a:solidFill>
          <a:ln w="12700">
            <a:solidFill>
              <a:srgbClr val="102A43"/>
            </a:solidFill>
            <a:prstDash val="solid"/>
          </a:ln>
        </p:spPr>
      </p:sp>
      <p:sp>
        <p:nvSpPr>
          <p:cNvPr id="38" name="Text 34"/>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línea corrige el defecto. Y la prueba que falló diez de diez queda en la suite para siempre.</a:t>
            </a:r>
            <a:endParaRPr lang="en-US" sz="13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PREGUNTA HONESTA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¿Cuesta tiempo que las escrituras esperen?</a:t>
            </a:r>
            <a:endParaRPr lang="en-US" sz="2800" dirty="0"/>
          </a:p>
        </p:txBody>
      </p:sp>
      <p:sp>
        <p:nvSpPr>
          <p:cNvPr id="10" name="Text 7"/>
          <p:cNvSpPr txBox="1"/>
          <p:nvPr/>
        </p:nvSpPr>
        <p:spPr>
          <a:xfrm>
            <a:off x="658368" y="1737360"/>
            <a:ext cx="10874959" cy="548640"/>
          </a:xfrm>
          <a:prstGeom prst="rect">
            <a:avLst/>
          </a:prstGeom>
          <a:noFill/>
          <a:ln/>
        </p:spPr>
        <p:txBody>
          <a:bodyPr wrap="square" lIns="0" tIns="0" rIns="0" bIns="0" rtlCol="0" anchor="t"/>
          <a:lstStyle/>
          <a:p>
            <a:pPr algn="l" indent="0" marL="0">
              <a:lnSpc>
                <a:spcPct val="112000"/>
              </a:lnSpc>
              <a:buNone/>
            </a:pPr>
            <a:r>
              <a:rPr lang="en-US" sz="1220" dirty="0">
                <a:solidFill>
                  <a:srgbClr val="243B53"/>
                </a:solidFill>
                <a:latin typeface="Aptos" pitchFamily="34" charset="0"/>
                <a:ea typeface="Aptos" pitchFamily="34" charset="-122"/>
                <a:cs typeface="Aptos" pitchFamily="34" charset="-120"/>
              </a:rPr>
              <a:t>La primera tanda con la corrección dio un p95 de 200 ms para las reservas, contra 11 ms sin ella. Parecía un costo claro. Se repitió cada versión tres veces, con 100 usuarios:</a:t>
            </a:r>
            <a:endParaRPr lang="en-US" sz="1220" dirty="0"/>
          </a:p>
        </p:txBody>
      </p:sp>
      <p:sp>
        <p:nvSpPr>
          <p:cNvPr id="11" name="Text 8"/>
          <p:cNvSpPr txBox="1"/>
          <p:nvPr/>
        </p:nvSpPr>
        <p:spPr>
          <a:xfrm>
            <a:off x="658368" y="2542032"/>
            <a:ext cx="2743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SIN LA CORRECCIÓN</a:t>
            </a:r>
            <a:endParaRPr lang="en-US" sz="960" dirty="0"/>
          </a:p>
        </p:txBody>
      </p:sp>
      <p:sp>
        <p:nvSpPr>
          <p:cNvPr id="12" name="Text 9"/>
          <p:cNvSpPr txBox="1"/>
          <p:nvPr/>
        </p:nvSpPr>
        <p:spPr>
          <a:xfrm>
            <a:off x="658368" y="2816352"/>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1</a:t>
            </a:r>
            <a:endParaRPr lang="en-US" sz="1000" dirty="0"/>
          </a:p>
        </p:txBody>
      </p:sp>
      <p:sp>
        <p:nvSpPr>
          <p:cNvPr id="13" name="Shape 10"/>
          <p:cNvSpPr/>
          <p:nvPr/>
        </p:nvSpPr>
        <p:spPr>
          <a:xfrm>
            <a:off x="2029968" y="2852928"/>
            <a:ext cx="243230" cy="201168"/>
          </a:xfrm>
          <a:prstGeom prst="rect">
            <a:avLst/>
          </a:prstGeom>
          <a:solidFill>
            <a:srgbClr val="102A43"/>
          </a:solidFill>
          <a:ln w="12700">
            <a:solidFill>
              <a:srgbClr val="102A43"/>
            </a:solidFill>
            <a:prstDash val="solid"/>
          </a:ln>
        </p:spPr>
      </p:sp>
      <p:sp>
        <p:nvSpPr>
          <p:cNvPr id="14" name="Text 11"/>
          <p:cNvSpPr txBox="1"/>
          <p:nvPr/>
        </p:nvSpPr>
        <p:spPr>
          <a:xfrm>
            <a:off x="2364638" y="2816352"/>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14 ms</a:t>
            </a:r>
            <a:endParaRPr lang="en-US" sz="1040" dirty="0"/>
          </a:p>
        </p:txBody>
      </p:sp>
      <p:sp>
        <p:nvSpPr>
          <p:cNvPr id="15" name="Text 12"/>
          <p:cNvSpPr txBox="1"/>
          <p:nvPr/>
        </p:nvSpPr>
        <p:spPr>
          <a:xfrm>
            <a:off x="658368" y="3145536"/>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2</a:t>
            </a:r>
            <a:endParaRPr lang="en-US" sz="1000" dirty="0"/>
          </a:p>
        </p:txBody>
      </p:sp>
      <p:sp>
        <p:nvSpPr>
          <p:cNvPr id="16" name="Shape 13"/>
          <p:cNvSpPr/>
          <p:nvPr/>
        </p:nvSpPr>
        <p:spPr>
          <a:xfrm>
            <a:off x="2029968" y="3182112"/>
            <a:ext cx="156362" cy="201168"/>
          </a:xfrm>
          <a:prstGeom prst="rect">
            <a:avLst/>
          </a:prstGeom>
          <a:solidFill>
            <a:srgbClr val="102A43"/>
          </a:solidFill>
          <a:ln w="12700">
            <a:solidFill>
              <a:srgbClr val="102A43"/>
            </a:solidFill>
            <a:prstDash val="solid"/>
          </a:ln>
        </p:spPr>
      </p:sp>
      <p:sp>
        <p:nvSpPr>
          <p:cNvPr id="17" name="Text 14"/>
          <p:cNvSpPr txBox="1"/>
          <p:nvPr/>
        </p:nvSpPr>
        <p:spPr>
          <a:xfrm>
            <a:off x="2277770" y="3145536"/>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9 ms</a:t>
            </a:r>
            <a:endParaRPr lang="en-US" sz="1040" dirty="0"/>
          </a:p>
        </p:txBody>
      </p:sp>
      <p:sp>
        <p:nvSpPr>
          <p:cNvPr id="18" name="Text 15"/>
          <p:cNvSpPr txBox="1"/>
          <p:nvPr/>
        </p:nvSpPr>
        <p:spPr>
          <a:xfrm>
            <a:off x="658368" y="3474720"/>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3</a:t>
            </a:r>
            <a:endParaRPr lang="en-US" sz="1000" dirty="0"/>
          </a:p>
        </p:txBody>
      </p:sp>
      <p:sp>
        <p:nvSpPr>
          <p:cNvPr id="19" name="Shape 16"/>
          <p:cNvSpPr/>
          <p:nvPr/>
        </p:nvSpPr>
        <p:spPr>
          <a:xfrm>
            <a:off x="2029968" y="3511296"/>
            <a:ext cx="121615" cy="201168"/>
          </a:xfrm>
          <a:prstGeom prst="rect">
            <a:avLst/>
          </a:prstGeom>
          <a:solidFill>
            <a:srgbClr val="102A43"/>
          </a:solidFill>
          <a:ln w="12700">
            <a:solidFill>
              <a:srgbClr val="102A43"/>
            </a:solidFill>
            <a:prstDash val="solid"/>
          </a:ln>
        </p:spPr>
      </p:sp>
      <p:sp>
        <p:nvSpPr>
          <p:cNvPr id="20" name="Text 17"/>
          <p:cNvSpPr txBox="1"/>
          <p:nvPr/>
        </p:nvSpPr>
        <p:spPr>
          <a:xfrm>
            <a:off x="2243023" y="3474720"/>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7 ms</a:t>
            </a:r>
            <a:endParaRPr lang="en-US" sz="1040" dirty="0"/>
          </a:p>
        </p:txBody>
      </p:sp>
      <p:sp>
        <p:nvSpPr>
          <p:cNvPr id="21" name="Text 18"/>
          <p:cNvSpPr txBox="1"/>
          <p:nvPr/>
        </p:nvSpPr>
        <p:spPr>
          <a:xfrm>
            <a:off x="658368" y="3913632"/>
            <a:ext cx="27432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CON LA CORRECCIÓN</a:t>
            </a:r>
            <a:endParaRPr lang="en-US" sz="960" dirty="0"/>
          </a:p>
        </p:txBody>
      </p:sp>
      <p:sp>
        <p:nvSpPr>
          <p:cNvPr id="22" name="Text 19"/>
          <p:cNvSpPr txBox="1"/>
          <p:nvPr/>
        </p:nvSpPr>
        <p:spPr>
          <a:xfrm>
            <a:off x="658368" y="4187952"/>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1</a:t>
            </a:r>
            <a:endParaRPr lang="en-US" sz="1000" dirty="0"/>
          </a:p>
        </p:txBody>
      </p:sp>
      <p:sp>
        <p:nvSpPr>
          <p:cNvPr id="23" name="Shape 20"/>
          <p:cNvSpPr/>
          <p:nvPr/>
        </p:nvSpPr>
        <p:spPr>
          <a:xfrm>
            <a:off x="2029968" y="4224528"/>
            <a:ext cx="2779776" cy="201168"/>
          </a:xfrm>
          <a:prstGeom prst="rect">
            <a:avLst/>
          </a:prstGeom>
          <a:solidFill>
            <a:srgbClr val="2E7D4F"/>
          </a:solidFill>
          <a:ln w="12700">
            <a:solidFill>
              <a:srgbClr val="2E7D4F"/>
            </a:solidFill>
            <a:prstDash val="solid"/>
          </a:ln>
        </p:spPr>
      </p:sp>
      <p:sp>
        <p:nvSpPr>
          <p:cNvPr id="24" name="Text 21"/>
          <p:cNvSpPr txBox="1"/>
          <p:nvPr/>
        </p:nvSpPr>
        <p:spPr>
          <a:xfrm>
            <a:off x="4901184" y="4187952"/>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160 ms</a:t>
            </a:r>
            <a:endParaRPr lang="en-US" sz="1040" dirty="0"/>
          </a:p>
        </p:txBody>
      </p:sp>
      <p:sp>
        <p:nvSpPr>
          <p:cNvPr id="25" name="Text 22"/>
          <p:cNvSpPr txBox="1"/>
          <p:nvPr/>
        </p:nvSpPr>
        <p:spPr>
          <a:xfrm>
            <a:off x="658368" y="4517136"/>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2</a:t>
            </a:r>
            <a:endParaRPr lang="en-US" sz="1000" dirty="0"/>
          </a:p>
        </p:txBody>
      </p:sp>
      <p:sp>
        <p:nvSpPr>
          <p:cNvPr id="26" name="Shape 23"/>
          <p:cNvSpPr/>
          <p:nvPr/>
        </p:nvSpPr>
        <p:spPr>
          <a:xfrm>
            <a:off x="2029968" y="4553712"/>
            <a:ext cx="330098" cy="201168"/>
          </a:xfrm>
          <a:prstGeom prst="rect">
            <a:avLst/>
          </a:prstGeom>
          <a:solidFill>
            <a:srgbClr val="2E7D4F"/>
          </a:solidFill>
          <a:ln w="12700">
            <a:solidFill>
              <a:srgbClr val="2E7D4F"/>
            </a:solidFill>
            <a:prstDash val="solid"/>
          </a:ln>
        </p:spPr>
      </p:sp>
      <p:sp>
        <p:nvSpPr>
          <p:cNvPr id="27" name="Text 24"/>
          <p:cNvSpPr txBox="1"/>
          <p:nvPr/>
        </p:nvSpPr>
        <p:spPr>
          <a:xfrm>
            <a:off x="2451506" y="4517136"/>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19 ms</a:t>
            </a:r>
            <a:endParaRPr lang="en-US" sz="1040" dirty="0"/>
          </a:p>
        </p:txBody>
      </p:sp>
      <p:sp>
        <p:nvSpPr>
          <p:cNvPr id="28" name="Text 25"/>
          <p:cNvSpPr txBox="1"/>
          <p:nvPr/>
        </p:nvSpPr>
        <p:spPr>
          <a:xfrm>
            <a:off x="658368" y="4846320"/>
            <a:ext cx="1280160" cy="256032"/>
          </a:xfrm>
          <a:prstGeom prst="rect">
            <a:avLst/>
          </a:prstGeom>
          <a:noFill/>
          <a:ln/>
        </p:spPr>
        <p:txBody>
          <a:bodyPr wrap="square" lIns="0" tIns="0" rIns="0" bIns="0" rtlCol="0" anchor="ctr"/>
          <a:lstStyle/>
          <a:p>
            <a:pPr algn="l" indent="0" marL="0">
              <a:buNone/>
            </a:pPr>
            <a:r>
              <a:rPr lang="en-US" sz="1000" dirty="0">
                <a:solidFill>
                  <a:srgbClr val="52606D"/>
                </a:solidFill>
                <a:latin typeface="Aptos" pitchFamily="34" charset="0"/>
                <a:ea typeface="Aptos" pitchFamily="34" charset="-122"/>
                <a:cs typeface="Aptos" pitchFamily="34" charset="-120"/>
              </a:rPr>
              <a:t>Ejecución 3</a:t>
            </a:r>
            <a:endParaRPr lang="en-US" sz="1000" dirty="0"/>
          </a:p>
        </p:txBody>
      </p:sp>
      <p:sp>
        <p:nvSpPr>
          <p:cNvPr id="29" name="Shape 26"/>
          <p:cNvSpPr/>
          <p:nvPr/>
        </p:nvSpPr>
        <p:spPr>
          <a:xfrm>
            <a:off x="2029968" y="4882896"/>
            <a:ext cx="295351" cy="201168"/>
          </a:xfrm>
          <a:prstGeom prst="rect">
            <a:avLst/>
          </a:prstGeom>
          <a:solidFill>
            <a:srgbClr val="2E7D4F"/>
          </a:solidFill>
          <a:ln w="12700">
            <a:solidFill>
              <a:srgbClr val="2E7D4F"/>
            </a:solidFill>
            <a:prstDash val="solid"/>
          </a:ln>
        </p:spPr>
      </p:sp>
      <p:sp>
        <p:nvSpPr>
          <p:cNvPr id="30" name="Text 27"/>
          <p:cNvSpPr txBox="1"/>
          <p:nvPr/>
        </p:nvSpPr>
        <p:spPr>
          <a:xfrm>
            <a:off x="2416759" y="4846320"/>
            <a:ext cx="822960" cy="256032"/>
          </a:xfrm>
          <a:prstGeom prst="rect">
            <a:avLst/>
          </a:prstGeom>
          <a:noFill/>
          <a:ln/>
        </p:spPr>
        <p:txBody>
          <a:bodyPr wrap="square" lIns="0" tIns="0" rIns="0" bIns="0" rtlCol="0" anchor="ctr"/>
          <a:lstStyle/>
          <a:p>
            <a:pPr algn="l" indent="0" marL="0">
              <a:buNone/>
            </a:pPr>
            <a:r>
              <a:rPr lang="en-US" sz="1040" b="1" dirty="0">
                <a:solidFill>
                  <a:srgbClr val="243B53"/>
                </a:solidFill>
                <a:latin typeface="Aptos" pitchFamily="34" charset="0"/>
                <a:ea typeface="Aptos" pitchFamily="34" charset="-122"/>
                <a:cs typeface="Aptos" pitchFamily="34" charset="-120"/>
              </a:rPr>
              <a:t>17 ms</a:t>
            </a:r>
            <a:endParaRPr lang="en-US" sz="1040" dirty="0"/>
          </a:p>
        </p:txBody>
      </p:sp>
      <p:sp>
        <p:nvSpPr>
          <p:cNvPr id="31" name="Shape 28"/>
          <p:cNvSpPr/>
          <p:nvPr/>
        </p:nvSpPr>
        <p:spPr>
          <a:xfrm>
            <a:off x="7059168" y="2542032"/>
            <a:ext cx="4474159" cy="1097280"/>
          </a:xfrm>
          <a:prstGeom prst="rect">
            <a:avLst/>
          </a:prstGeom>
          <a:solidFill>
            <a:srgbClr val="FFFFFF"/>
          </a:solidFill>
          <a:ln w="12700">
            <a:solidFill>
              <a:srgbClr val="FFFFFF"/>
            </a:solidFill>
            <a:prstDash val="solid"/>
          </a:ln>
        </p:spPr>
      </p:sp>
      <p:sp>
        <p:nvSpPr>
          <p:cNvPr id="32" name="Shape 29"/>
          <p:cNvSpPr/>
          <p:nvPr/>
        </p:nvSpPr>
        <p:spPr>
          <a:xfrm>
            <a:off x="7059168" y="2542032"/>
            <a:ext cx="54864" cy="1097280"/>
          </a:xfrm>
          <a:prstGeom prst="rect">
            <a:avLst/>
          </a:prstGeom>
          <a:solidFill>
            <a:srgbClr val="102A43"/>
          </a:solidFill>
          <a:ln w="12700">
            <a:solidFill>
              <a:srgbClr val="102A43"/>
            </a:solidFill>
            <a:prstDash val="solid"/>
          </a:ln>
        </p:spPr>
      </p:sp>
      <p:sp>
        <p:nvSpPr>
          <p:cNvPr id="33" name="Text 30"/>
          <p:cNvSpPr txBox="1"/>
          <p:nvPr/>
        </p:nvSpPr>
        <p:spPr>
          <a:xfrm>
            <a:off x="7296912" y="2651760"/>
            <a:ext cx="4108399" cy="237744"/>
          </a:xfrm>
          <a:prstGeom prst="rect">
            <a:avLst/>
          </a:prstGeom>
          <a:noFill/>
          <a:ln/>
        </p:spPr>
        <p:txBody>
          <a:bodyPr wrap="square" lIns="0" tIns="0" rIns="0" bIns="0" rtlCol="0" anchor="t"/>
          <a:lstStyle/>
          <a:p>
            <a:pPr algn="l" indent="0" marL="0">
              <a:buNone/>
            </a:pPr>
            <a:r>
              <a:rPr lang="en-US" sz="1200" b="1" dirty="0">
                <a:solidFill>
                  <a:srgbClr val="102A43"/>
                </a:solidFill>
                <a:latin typeface="Aptos" pitchFamily="34" charset="0"/>
                <a:ea typeface="Aptos" pitchFamily="34" charset="-122"/>
                <a:cs typeface="Aptos" pitchFamily="34" charset="-120"/>
              </a:rPr>
              <a:t>La mediana, igual en las seis</a:t>
            </a:r>
            <a:endParaRPr lang="en-US" sz="1200" dirty="0"/>
          </a:p>
        </p:txBody>
      </p:sp>
      <p:sp>
        <p:nvSpPr>
          <p:cNvPr id="34" name="Text 31"/>
          <p:cNvSpPr txBox="1"/>
          <p:nvPr/>
        </p:nvSpPr>
        <p:spPr>
          <a:xfrm>
            <a:off x="7296912" y="2926080"/>
            <a:ext cx="4071823" cy="658368"/>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3 o 4 ms en todas. El p95 varía entre ejecuciones, y una sola corrida de 160 ms no alcanza para hablar de un costo.</a:t>
            </a:r>
            <a:endParaRPr lang="en-US" sz="1080" dirty="0"/>
          </a:p>
        </p:txBody>
      </p:sp>
      <p:sp>
        <p:nvSpPr>
          <p:cNvPr id="35" name="Shape 32"/>
          <p:cNvSpPr/>
          <p:nvPr/>
        </p:nvSpPr>
        <p:spPr>
          <a:xfrm>
            <a:off x="7059168" y="3785616"/>
            <a:ext cx="4474159" cy="1463040"/>
          </a:xfrm>
          <a:prstGeom prst="rect">
            <a:avLst/>
          </a:prstGeom>
          <a:solidFill>
            <a:srgbClr val="1D3A57"/>
          </a:solidFill>
          <a:ln w="12700">
            <a:solidFill>
              <a:srgbClr val="1D3A57"/>
            </a:solidFill>
            <a:prstDash val="solid"/>
          </a:ln>
        </p:spPr>
      </p:sp>
      <p:sp>
        <p:nvSpPr>
          <p:cNvPr id="36" name="Text 33"/>
          <p:cNvSpPr txBox="1"/>
          <p:nvPr/>
        </p:nvSpPr>
        <p:spPr>
          <a:xfrm>
            <a:off x="7296912" y="3895344"/>
            <a:ext cx="4108399" cy="274320"/>
          </a:xfrm>
          <a:prstGeom prst="rect">
            <a:avLst/>
          </a:prstGeom>
          <a:noFill/>
          <a:ln/>
        </p:spPr>
        <p:txBody>
          <a:bodyPr wrap="square" lIns="0" tIns="0" rIns="0" bIns="0" rtlCol="0" anchor="t"/>
          <a:lstStyle/>
          <a:p>
            <a:pPr algn="l" indent="0" marL="0">
              <a:buNone/>
            </a:pPr>
            <a:r>
              <a:rPr lang="en-US" sz="1240" b="1" dirty="0">
                <a:solidFill>
                  <a:srgbClr val="E0BC5A"/>
                </a:solidFill>
                <a:latin typeface="Aptos" pitchFamily="34" charset="0"/>
                <a:ea typeface="Aptos" pitchFamily="34" charset="-122"/>
                <a:cs typeface="Aptos" pitchFamily="34" charset="-120"/>
              </a:rPr>
              <a:t>Con estos datos no se puede afirmar un costo.</a:t>
            </a:r>
            <a:endParaRPr lang="en-US" sz="1240" dirty="0"/>
          </a:p>
        </p:txBody>
      </p:sp>
      <p:sp>
        <p:nvSpPr>
          <p:cNvPr id="37" name="Text 34"/>
          <p:cNvSpPr txBox="1"/>
          <p:nvPr/>
        </p:nvSpPr>
        <p:spPr>
          <a:xfrm>
            <a:off x="7296912" y="4224528"/>
            <a:ext cx="4071823" cy="950976"/>
          </a:xfrm>
          <a:prstGeom prst="rect">
            <a:avLst/>
          </a:prstGeom>
          <a:noFill/>
          <a:ln/>
        </p:spPr>
        <p:txBody>
          <a:bodyPr wrap="square" lIns="0" tIns="0" rIns="0" bIns="0" rtlCol="0" anchor="t"/>
          <a:lstStyle/>
          <a:p>
            <a:pPr algn="l" indent="0" marL="0">
              <a:lnSpc>
                <a:spcPct val="110000"/>
              </a:lnSpc>
              <a:buNone/>
            </a:pPr>
            <a:r>
              <a:rPr lang="en-US" sz="1080" dirty="0">
                <a:solidFill>
                  <a:srgbClr val="FFFFFF"/>
                </a:solidFill>
                <a:latin typeface="Aptos" pitchFamily="34" charset="0"/>
                <a:ea typeface="Aptos" pitchFamily="34" charset="-122"/>
                <a:cs typeface="Aptos" pitchFamily="34" charset="-120"/>
              </a:rPr>
              <a:t>Es la lección de las pruebas inestables —las que pasan y fallan sin que el sistema cambie—, ahora aplicada a una medición: una ejecución aislada no distingue un efecto de la variación normal.</a:t>
            </a:r>
            <a:endParaRPr lang="en-US" sz="1080" dirty="0"/>
          </a:p>
        </p:txBody>
      </p:sp>
      <p:sp>
        <p:nvSpPr>
          <p:cNvPr id="38" name="Shape 35"/>
          <p:cNvSpPr/>
          <p:nvPr/>
        </p:nvSpPr>
        <p:spPr>
          <a:xfrm>
            <a:off x="658368" y="5650992"/>
            <a:ext cx="10874959" cy="548640"/>
          </a:xfrm>
          <a:prstGeom prst="rect">
            <a:avLst/>
          </a:prstGeom>
          <a:solidFill>
            <a:srgbClr val="102A43"/>
          </a:solidFill>
          <a:ln w="12700">
            <a:solidFill>
              <a:srgbClr val="102A43"/>
            </a:solidFill>
            <a:prstDash val="solid"/>
          </a:ln>
        </p:spPr>
      </p:sp>
      <p:sp>
        <p:nvSpPr>
          <p:cNvPr id="39" name="Text 3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resultado se cree cuando se repite.</a:t>
            </a:r>
            <a:endParaRPr lang="en-US" sz="13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atacar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prueba de carga con 100 usuarios dio cero fallas y un p95 de 48 ms, y en esa misma tanda dos personas quedaron con el mismo bloque. ¿La prueba de carga estaba mal hecha?</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mide Locust de cada respuesta. ¿Qué tendría que haberle dicho alguien para que la doble reserva contara como falla?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Con 1.000 usuarios, el p95 fue 1.600 ms en esta máquina. Un compañero escribe en el informe que «el sistema soporta hasta 500 usuarios». ¿Qué le falta a esa frase?</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dónde corrieron Locust y la API. ¿Sería el mismo número en el servidor donde va a funcionar el sistema?</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primera medición con la corrección mostró que las reservas tardaban más, y las siguientes no. ¿Qué habría pasado si se hubiera informado solo la primera?</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las seis ejecuciones. ¿Qué habría decidido alguien que leyó un solo número?</a:t>
            </a:r>
            <a:endParaRPr lang="en-US" sz="11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NO ESTABA MAL HECHA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Mide cuánto tarda y si llegó la respuesta; no sabe que dos 201 para el mismo bloque son un error.</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Para que la doble reserva cuente como falla, alguien tiene que escribir esa regla.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Leer cero fallas de carga como cero defectos.</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LE FALTAN LAS CONDICIONES</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número vale para esa máquina, con Locust corriendo en el mismo computador.</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límite sin condiciones declaradas no se puede comparar con nada.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Informar un número de otro entorno como si fuera el del servidor real.</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UN COSTO QUE NO EXISTE</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Primero 200 ms; al repetir, 160, 19 y 17, con la mediana inmóvil en 3 o 4 ms.</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ejecución aislada no distingue un efecto de la variación normal.</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Decidir con un solo número.</a:t>
            </a:r>
            <a:endParaRPr lang="en-US" sz="10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buNone/>
            </a:pPr>
            <a:r>
              <a:rPr lang="en-US" sz="4400" b="1" dirty="0">
                <a:solidFill>
                  <a:srgbClr val="FFFFFF"/>
                </a:solidFill>
                <a:latin typeface="Aptos Display" pitchFamily="34" charset="0"/>
                <a:ea typeface="Aptos Display" pitchFamily="34" charset="-122"/>
                <a:cs typeface="Aptos Display" pitchFamily="34" charset="-120"/>
              </a:rPr>
              <a:t>A quién deja entrar</a:t>
            </a:r>
            <a:endParaRPr lang="en-US" sz="44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Pruebas donde actúa alguien que intenta lo que no debería, herramientas que revisan el código y sus dependencias, y lo que exige la ley a quien guarda datos de personas.</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MEDIR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Cuánto aguanta</a:t>
            </a:r>
            <a:endParaRPr lang="en-US" sz="920" dirty="0"/>
          </a:p>
        </p:txBody>
      </p:sp>
      <p:sp>
        <p:nvSpPr>
          <p:cNvPr id="16" name="Shape 13"/>
          <p:cNvSpPr/>
          <p:nvPr/>
        </p:nvSpPr>
        <p:spPr>
          <a:xfrm>
            <a:off x="3409112" y="4901184"/>
            <a:ext cx="2622728" cy="786384"/>
          </a:xfrm>
          <a:prstGeom prst="rect">
            <a:avLst/>
          </a:prstGeom>
          <a:solidFill>
            <a:srgbClr val="D62027"/>
          </a:solidFill>
          <a:ln w="12700">
            <a:solidFill>
              <a:srgbClr val="D6202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ATACAR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A quién deja entrar</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INCLUIR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Para quién sirve y dónde corre</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EXIGIR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 umbral para cada afirmación</a:t>
            </a:r>
            <a:endParaRPr lang="en-US" sz="9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NORMA Y LA INDUSTRIA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Lo que la norma nombra, y lo que más falla</a:t>
            </a:r>
            <a:endParaRPr lang="en-US" sz="2800" dirty="0"/>
          </a:p>
        </p:txBody>
      </p:sp>
      <p:sp>
        <p:nvSpPr>
          <p:cNvPr id="10" name="Text 7"/>
          <p:cNvSpPr txBox="1"/>
          <p:nvPr/>
        </p:nvSpPr>
        <p:spPr>
          <a:xfrm>
            <a:off x="658368" y="1737360"/>
            <a:ext cx="41148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SEGURIDAD · ISO/IEC 25010:2023</a:t>
            </a:r>
            <a:endParaRPr lang="en-US" sz="960" dirty="0"/>
          </a:p>
        </p:txBody>
      </p:sp>
      <p:sp>
        <p:nvSpPr>
          <p:cNvPr id="11" name="Shape 8"/>
          <p:cNvSpPr/>
          <p:nvPr/>
        </p:nvSpPr>
        <p:spPr>
          <a:xfrm>
            <a:off x="658368" y="2029968"/>
            <a:ext cx="4114800" cy="621792"/>
          </a:xfrm>
          <a:prstGeom prst="rect">
            <a:avLst/>
          </a:prstGeom>
          <a:solidFill>
            <a:srgbClr val="F2E7D9"/>
          </a:solidFill>
          <a:ln w="12700">
            <a:solidFill>
              <a:srgbClr val="F2E7D9"/>
            </a:solidFill>
            <a:prstDash val="solid"/>
          </a:ln>
        </p:spPr>
      </p:sp>
      <p:sp>
        <p:nvSpPr>
          <p:cNvPr id="12" name="Shape 9"/>
          <p:cNvSpPr/>
          <p:nvPr/>
        </p:nvSpPr>
        <p:spPr>
          <a:xfrm>
            <a:off x="658368" y="2029968"/>
            <a:ext cx="54864" cy="621792"/>
          </a:xfrm>
          <a:prstGeom prst="rect">
            <a:avLst/>
          </a:prstGeom>
          <a:solidFill>
            <a:srgbClr val="B3181E"/>
          </a:solidFill>
          <a:ln w="12700">
            <a:solidFill>
              <a:srgbClr val="B3181E"/>
            </a:solidFill>
            <a:prstDash val="solid"/>
          </a:ln>
        </p:spPr>
      </p:sp>
      <p:sp>
        <p:nvSpPr>
          <p:cNvPr id="13" name="Text 10"/>
          <p:cNvSpPr txBox="1"/>
          <p:nvPr/>
        </p:nvSpPr>
        <p:spPr>
          <a:xfrm>
            <a:off x="877824" y="2084832"/>
            <a:ext cx="374904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Confidencialidad</a:t>
            </a:r>
            <a:endParaRPr lang="en-US" sz="1160" dirty="0"/>
          </a:p>
        </p:txBody>
      </p:sp>
      <p:sp>
        <p:nvSpPr>
          <p:cNvPr id="14" name="Text 11"/>
          <p:cNvSpPr txBox="1"/>
          <p:nvPr/>
        </p:nvSpPr>
        <p:spPr>
          <a:xfrm>
            <a:off x="877824" y="2340864"/>
            <a:ext cx="3749040" cy="219456"/>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que los datos solo los vea quien está autorizado</a:t>
            </a:r>
            <a:endParaRPr lang="en-US" sz="980" dirty="0"/>
          </a:p>
        </p:txBody>
      </p:sp>
      <p:sp>
        <p:nvSpPr>
          <p:cNvPr id="15" name="Shape 12"/>
          <p:cNvSpPr/>
          <p:nvPr/>
        </p:nvSpPr>
        <p:spPr>
          <a:xfrm>
            <a:off x="658368" y="2706624"/>
            <a:ext cx="4114800" cy="310896"/>
          </a:xfrm>
          <a:prstGeom prst="rect">
            <a:avLst/>
          </a:prstGeom>
          <a:solidFill>
            <a:srgbClr val="FFFFFF"/>
          </a:solidFill>
          <a:ln w="12700">
            <a:solidFill>
              <a:srgbClr val="FFFFFF"/>
            </a:solidFill>
            <a:prstDash val="solid"/>
          </a:ln>
        </p:spPr>
      </p:sp>
      <p:sp>
        <p:nvSpPr>
          <p:cNvPr id="16" name="Shape 13"/>
          <p:cNvSpPr/>
          <p:nvPr/>
        </p:nvSpPr>
        <p:spPr>
          <a:xfrm>
            <a:off x="658368" y="2706624"/>
            <a:ext cx="54864" cy="310896"/>
          </a:xfrm>
          <a:prstGeom prst="rect">
            <a:avLst/>
          </a:prstGeom>
          <a:solidFill>
            <a:srgbClr val="D8CFC4"/>
          </a:solidFill>
          <a:ln w="12700">
            <a:solidFill>
              <a:srgbClr val="D8CFC4"/>
            </a:solidFill>
            <a:prstDash val="solid"/>
          </a:ln>
        </p:spPr>
      </p:sp>
      <p:sp>
        <p:nvSpPr>
          <p:cNvPr id="17" name="Text 14"/>
          <p:cNvSpPr txBox="1"/>
          <p:nvPr/>
        </p:nvSpPr>
        <p:spPr>
          <a:xfrm>
            <a:off x="877824" y="2761488"/>
            <a:ext cx="1554480" cy="219456"/>
          </a:xfrm>
          <a:prstGeom prst="rect">
            <a:avLst/>
          </a:prstGeom>
          <a:noFill/>
          <a:ln/>
        </p:spPr>
        <p:txBody>
          <a:bodyPr wrap="square" lIns="0" tIns="0" rIns="0" bIns="0" rtlCol="0" anchor="t"/>
          <a:lstStyle/>
          <a:p>
            <a:pPr algn="l" indent="0" marL="0">
              <a:buNone/>
            </a:pPr>
            <a:r>
              <a:rPr lang="en-US" sz="1160" b="1" dirty="0">
                <a:solidFill>
                  <a:srgbClr val="52606D"/>
                </a:solidFill>
                <a:latin typeface="Aptos" pitchFamily="34" charset="0"/>
                <a:ea typeface="Aptos" pitchFamily="34" charset="-122"/>
                <a:cs typeface="Aptos" pitchFamily="34" charset="-120"/>
              </a:rPr>
              <a:t>Integridad</a:t>
            </a:r>
            <a:endParaRPr lang="en-US" sz="1160" dirty="0"/>
          </a:p>
        </p:txBody>
      </p:sp>
      <p:sp>
        <p:nvSpPr>
          <p:cNvPr id="18" name="Text 15"/>
          <p:cNvSpPr txBox="1"/>
          <p:nvPr/>
        </p:nvSpPr>
        <p:spPr>
          <a:xfrm>
            <a:off x="2487168" y="2770632"/>
            <a:ext cx="210312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datos sin alteraciones</a:t>
            </a:r>
            <a:endParaRPr lang="en-US" sz="980" dirty="0"/>
          </a:p>
        </p:txBody>
      </p:sp>
      <p:sp>
        <p:nvSpPr>
          <p:cNvPr id="19" name="Shape 16"/>
          <p:cNvSpPr/>
          <p:nvPr/>
        </p:nvSpPr>
        <p:spPr>
          <a:xfrm>
            <a:off x="658368" y="3072384"/>
            <a:ext cx="4114800" cy="310896"/>
          </a:xfrm>
          <a:prstGeom prst="rect">
            <a:avLst/>
          </a:prstGeom>
          <a:solidFill>
            <a:srgbClr val="FFFFFF"/>
          </a:solidFill>
          <a:ln w="12700">
            <a:solidFill>
              <a:srgbClr val="FFFFFF"/>
            </a:solidFill>
            <a:prstDash val="solid"/>
          </a:ln>
        </p:spPr>
      </p:sp>
      <p:sp>
        <p:nvSpPr>
          <p:cNvPr id="20" name="Shape 17"/>
          <p:cNvSpPr/>
          <p:nvPr/>
        </p:nvSpPr>
        <p:spPr>
          <a:xfrm>
            <a:off x="658368" y="3072384"/>
            <a:ext cx="54864" cy="310896"/>
          </a:xfrm>
          <a:prstGeom prst="rect">
            <a:avLst/>
          </a:prstGeom>
          <a:solidFill>
            <a:srgbClr val="D8CFC4"/>
          </a:solidFill>
          <a:ln w="12700">
            <a:solidFill>
              <a:srgbClr val="D8CFC4"/>
            </a:solidFill>
            <a:prstDash val="solid"/>
          </a:ln>
        </p:spPr>
      </p:sp>
      <p:sp>
        <p:nvSpPr>
          <p:cNvPr id="21" name="Text 18"/>
          <p:cNvSpPr txBox="1"/>
          <p:nvPr/>
        </p:nvSpPr>
        <p:spPr>
          <a:xfrm>
            <a:off x="877824" y="3127248"/>
            <a:ext cx="1554480" cy="219456"/>
          </a:xfrm>
          <a:prstGeom prst="rect">
            <a:avLst/>
          </a:prstGeom>
          <a:noFill/>
          <a:ln/>
        </p:spPr>
        <p:txBody>
          <a:bodyPr wrap="square" lIns="0" tIns="0" rIns="0" bIns="0" rtlCol="0" anchor="t"/>
          <a:lstStyle/>
          <a:p>
            <a:pPr algn="l" indent="0" marL="0">
              <a:buNone/>
            </a:pPr>
            <a:r>
              <a:rPr lang="en-US" sz="1160" b="1" dirty="0">
                <a:solidFill>
                  <a:srgbClr val="52606D"/>
                </a:solidFill>
                <a:latin typeface="Aptos" pitchFamily="34" charset="0"/>
                <a:ea typeface="Aptos" pitchFamily="34" charset="-122"/>
                <a:cs typeface="Aptos" pitchFamily="34" charset="-120"/>
              </a:rPr>
              <a:t>No repudio</a:t>
            </a:r>
            <a:endParaRPr lang="en-US" sz="1160" dirty="0"/>
          </a:p>
        </p:txBody>
      </p:sp>
      <p:sp>
        <p:nvSpPr>
          <p:cNvPr id="22" name="Text 19"/>
          <p:cNvSpPr txBox="1"/>
          <p:nvPr/>
        </p:nvSpPr>
        <p:spPr>
          <a:xfrm>
            <a:off x="2487168" y="3136392"/>
            <a:ext cx="210312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nadie niega lo que hizo</a:t>
            </a:r>
            <a:endParaRPr lang="en-US" sz="980" dirty="0"/>
          </a:p>
        </p:txBody>
      </p:sp>
      <p:sp>
        <p:nvSpPr>
          <p:cNvPr id="23" name="Shape 20"/>
          <p:cNvSpPr/>
          <p:nvPr/>
        </p:nvSpPr>
        <p:spPr>
          <a:xfrm>
            <a:off x="658368" y="3438144"/>
            <a:ext cx="4114800" cy="310896"/>
          </a:xfrm>
          <a:prstGeom prst="rect">
            <a:avLst/>
          </a:prstGeom>
          <a:solidFill>
            <a:srgbClr val="FFFFFF"/>
          </a:solidFill>
          <a:ln w="12700">
            <a:solidFill>
              <a:srgbClr val="FFFFFF"/>
            </a:solidFill>
            <a:prstDash val="solid"/>
          </a:ln>
        </p:spPr>
      </p:sp>
      <p:sp>
        <p:nvSpPr>
          <p:cNvPr id="24" name="Shape 21"/>
          <p:cNvSpPr/>
          <p:nvPr/>
        </p:nvSpPr>
        <p:spPr>
          <a:xfrm>
            <a:off x="658368" y="3438144"/>
            <a:ext cx="54864" cy="310896"/>
          </a:xfrm>
          <a:prstGeom prst="rect">
            <a:avLst/>
          </a:prstGeom>
          <a:solidFill>
            <a:srgbClr val="D8CFC4"/>
          </a:solidFill>
          <a:ln w="12700">
            <a:solidFill>
              <a:srgbClr val="D8CFC4"/>
            </a:solidFill>
            <a:prstDash val="solid"/>
          </a:ln>
        </p:spPr>
      </p:sp>
      <p:sp>
        <p:nvSpPr>
          <p:cNvPr id="25" name="Text 22"/>
          <p:cNvSpPr txBox="1"/>
          <p:nvPr/>
        </p:nvSpPr>
        <p:spPr>
          <a:xfrm>
            <a:off x="877824" y="3493008"/>
            <a:ext cx="1554480" cy="219456"/>
          </a:xfrm>
          <a:prstGeom prst="rect">
            <a:avLst/>
          </a:prstGeom>
          <a:noFill/>
          <a:ln/>
        </p:spPr>
        <p:txBody>
          <a:bodyPr wrap="square" lIns="0" tIns="0" rIns="0" bIns="0" rtlCol="0" anchor="t"/>
          <a:lstStyle/>
          <a:p>
            <a:pPr algn="l" indent="0" marL="0">
              <a:buNone/>
            </a:pPr>
            <a:r>
              <a:rPr lang="en-US" sz="1160" b="1" dirty="0">
                <a:solidFill>
                  <a:srgbClr val="52606D"/>
                </a:solidFill>
                <a:latin typeface="Aptos" pitchFamily="34" charset="0"/>
                <a:ea typeface="Aptos" pitchFamily="34" charset="-122"/>
                <a:cs typeface="Aptos" pitchFamily="34" charset="-120"/>
              </a:rPr>
              <a:t>Responsabilidad</a:t>
            </a:r>
            <a:endParaRPr lang="en-US" sz="1160" dirty="0"/>
          </a:p>
        </p:txBody>
      </p:sp>
      <p:sp>
        <p:nvSpPr>
          <p:cNvPr id="26" name="Text 23"/>
          <p:cNvSpPr txBox="1"/>
          <p:nvPr/>
        </p:nvSpPr>
        <p:spPr>
          <a:xfrm>
            <a:off x="2487168" y="3502152"/>
            <a:ext cx="210312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cada acción tiene autor</a:t>
            </a:r>
            <a:endParaRPr lang="en-US" sz="980" dirty="0"/>
          </a:p>
        </p:txBody>
      </p:sp>
      <p:sp>
        <p:nvSpPr>
          <p:cNvPr id="27" name="Shape 24"/>
          <p:cNvSpPr/>
          <p:nvPr/>
        </p:nvSpPr>
        <p:spPr>
          <a:xfrm>
            <a:off x="658368" y="3803904"/>
            <a:ext cx="4114800" cy="621792"/>
          </a:xfrm>
          <a:prstGeom prst="rect">
            <a:avLst/>
          </a:prstGeom>
          <a:solidFill>
            <a:srgbClr val="F2E7D9"/>
          </a:solidFill>
          <a:ln w="12700">
            <a:solidFill>
              <a:srgbClr val="F2E7D9"/>
            </a:solidFill>
            <a:prstDash val="solid"/>
          </a:ln>
        </p:spPr>
      </p:sp>
      <p:sp>
        <p:nvSpPr>
          <p:cNvPr id="28" name="Shape 25"/>
          <p:cNvSpPr/>
          <p:nvPr/>
        </p:nvSpPr>
        <p:spPr>
          <a:xfrm>
            <a:off x="658368" y="3803904"/>
            <a:ext cx="54864" cy="621792"/>
          </a:xfrm>
          <a:prstGeom prst="rect">
            <a:avLst/>
          </a:prstGeom>
          <a:solidFill>
            <a:srgbClr val="B3181E"/>
          </a:solidFill>
          <a:ln w="12700">
            <a:solidFill>
              <a:srgbClr val="B3181E"/>
            </a:solidFill>
            <a:prstDash val="solid"/>
          </a:ln>
        </p:spPr>
      </p:sp>
      <p:sp>
        <p:nvSpPr>
          <p:cNvPr id="29" name="Text 26"/>
          <p:cNvSpPr txBox="1"/>
          <p:nvPr/>
        </p:nvSpPr>
        <p:spPr>
          <a:xfrm>
            <a:off x="877824" y="3858768"/>
            <a:ext cx="374904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Autenticidad</a:t>
            </a:r>
            <a:endParaRPr lang="en-US" sz="1160" dirty="0"/>
          </a:p>
        </p:txBody>
      </p:sp>
      <p:sp>
        <p:nvSpPr>
          <p:cNvPr id="30" name="Text 27"/>
          <p:cNvSpPr txBox="1"/>
          <p:nvPr/>
        </p:nvSpPr>
        <p:spPr>
          <a:xfrm>
            <a:off x="877824" y="4114800"/>
            <a:ext cx="3749040" cy="219456"/>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que el sistema compruebe que alguien es quien dice ser</a:t>
            </a:r>
            <a:endParaRPr lang="en-US" sz="980" dirty="0"/>
          </a:p>
        </p:txBody>
      </p:sp>
      <p:sp>
        <p:nvSpPr>
          <p:cNvPr id="31" name="Shape 28"/>
          <p:cNvSpPr/>
          <p:nvPr/>
        </p:nvSpPr>
        <p:spPr>
          <a:xfrm>
            <a:off x="658368" y="4480560"/>
            <a:ext cx="4114800" cy="310896"/>
          </a:xfrm>
          <a:prstGeom prst="rect">
            <a:avLst/>
          </a:prstGeom>
          <a:solidFill>
            <a:srgbClr val="FFFFFF"/>
          </a:solidFill>
          <a:ln w="12700">
            <a:solidFill>
              <a:srgbClr val="FFFFFF"/>
            </a:solidFill>
            <a:prstDash val="solid"/>
          </a:ln>
        </p:spPr>
      </p:sp>
      <p:sp>
        <p:nvSpPr>
          <p:cNvPr id="32" name="Shape 29"/>
          <p:cNvSpPr/>
          <p:nvPr/>
        </p:nvSpPr>
        <p:spPr>
          <a:xfrm>
            <a:off x="658368" y="4480560"/>
            <a:ext cx="54864" cy="310896"/>
          </a:xfrm>
          <a:prstGeom prst="rect">
            <a:avLst/>
          </a:prstGeom>
          <a:solidFill>
            <a:srgbClr val="D8CFC4"/>
          </a:solidFill>
          <a:ln w="12700">
            <a:solidFill>
              <a:srgbClr val="D8CFC4"/>
            </a:solidFill>
            <a:prstDash val="solid"/>
          </a:ln>
        </p:spPr>
      </p:sp>
      <p:sp>
        <p:nvSpPr>
          <p:cNvPr id="33" name="Text 30"/>
          <p:cNvSpPr txBox="1"/>
          <p:nvPr/>
        </p:nvSpPr>
        <p:spPr>
          <a:xfrm>
            <a:off x="877824" y="4535424"/>
            <a:ext cx="1554480" cy="219456"/>
          </a:xfrm>
          <a:prstGeom prst="rect">
            <a:avLst/>
          </a:prstGeom>
          <a:noFill/>
          <a:ln/>
        </p:spPr>
        <p:txBody>
          <a:bodyPr wrap="square" lIns="0" tIns="0" rIns="0" bIns="0" rtlCol="0" anchor="t"/>
          <a:lstStyle/>
          <a:p>
            <a:pPr algn="l" indent="0" marL="0">
              <a:buNone/>
            </a:pPr>
            <a:r>
              <a:rPr lang="en-US" sz="1160" b="1" dirty="0">
                <a:solidFill>
                  <a:srgbClr val="52606D"/>
                </a:solidFill>
                <a:latin typeface="Aptos" pitchFamily="34" charset="0"/>
                <a:ea typeface="Aptos" pitchFamily="34" charset="-122"/>
                <a:cs typeface="Aptos" pitchFamily="34" charset="-120"/>
              </a:rPr>
              <a:t>Resistencia</a:t>
            </a:r>
            <a:endParaRPr lang="en-US" sz="1160" dirty="0"/>
          </a:p>
        </p:txBody>
      </p:sp>
      <p:sp>
        <p:nvSpPr>
          <p:cNvPr id="34" name="Text 31"/>
          <p:cNvSpPr txBox="1"/>
          <p:nvPr/>
        </p:nvSpPr>
        <p:spPr>
          <a:xfrm>
            <a:off x="2487168" y="4544568"/>
            <a:ext cx="210312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agregada en 2023</a:t>
            </a:r>
            <a:endParaRPr lang="en-US" sz="980" dirty="0"/>
          </a:p>
        </p:txBody>
      </p:sp>
      <p:sp>
        <p:nvSpPr>
          <p:cNvPr id="35" name="Text 32"/>
          <p:cNvSpPr txBox="1"/>
          <p:nvPr/>
        </p:nvSpPr>
        <p:spPr>
          <a:xfrm>
            <a:off x="5138928" y="1737360"/>
            <a:ext cx="6394399"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OWASP TOP 10:2025 · LOS RIESGOS MÁS FRECUENTES EN LA WEB</a:t>
            </a:r>
            <a:endParaRPr lang="en-US" sz="960" dirty="0"/>
          </a:p>
        </p:txBody>
      </p:sp>
      <p:sp>
        <p:nvSpPr>
          <p:cNvPr id="36" name="Shape 33"/>
          <p:cNvSpPr/>
          <p:nvPr/>
        </p:nvSpPr>
        <p:spPr>
          <a:xfrm>
            <a:off x="5138928" y="2029968"/>
            <a:ext cx="6394399" cy="301752"/>
          </a:xfrm>
          <a:prstGeom prst="rect">
            <a:avLst/>
          </a:prstGeom>
          <a:solidFill>
            <a:srgbClr val="FFFFFF"/>
          </a:solidFill>
          <a:ln w="12700">
            <a:solidFill>
              <a:srgbClr val="FFFFFF"/>
            </a:solidFill>
            <a:prstDash val="solid"/>
          </a:ln>
        </p:spPr>
      </p:sp>
      <p:sp>
        <p:nvSpPr>
          <p:cNvPr id="37" name="Shape 34"/>
          <p:cNvSpPr/>
          <p:nvPr/>
        </p:nvSpPr>
        <p:spPr>
          <a:xfrm>
            <a:off x="5138928" y="2029968"/>
            <a:ext cx="566928" cy="301752"/>
          </a:xfrm>
          <a:prstGeom prst="rect">
            <a:avLst/>
          </a:prstGeom>
          <a:solidFill>
            <a:srgbClr val="1D3A57"/>
          </a:solidFill>
          <a:ln w="12700">
            <a:solidFill>
              <a:srgbClr val="1D3A57"/>
            </a:solidFill>
            <a:prstDash val="solid"/>
          </a:ln>
        </p:spPr>
      </p:sp>
      <p:sp>
        <p:nvSpPr>
          <p:cNvPr id="38" name="Text 35"/>
          <p:cNvSpPr txBox="1"/>
          <p:nvPr/>
        </p:nvSpPr>
        <p:spPr>
          <a:xfrm>
            <a:off x="5138928" y="2066544"/>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A01</a:t>
            </a:r>
            <a:endParaRPr lang="en-US" sz="1000" dirty="0"/>
          </a:p>
        </p:txBody>
      </p:sp>
      <p:sp>
        <p:nvSpPr>
          <p:cNvPr id="39" name="Text 36"/>
          <p:cNvSpPr txBox="1"/>
          <p:nvPr/>
        </p:nvSpPr>
        <p:spPr>
          <a:xfrm>
            <a:off x="5852160" y="2066544"/>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Control de acceso defectuoso</a:t>
            </a:r>
            <a:endParaRPr lang="en-US" sz="1060" dirty="0"/>
          </a:p>
        </p:txBody>
      </p:sp>
      <p:sp>
        <p:nvSpPr>
          <p:cNvPr id="40" name="Shape 37"/>
          <p:cNvSpPr/>
          <p:nvPr/>
        </p:nvSpPr>
        <p:spPr>
          <a:xfrm>
            <a:off x="5138928" y="2377440"/>
            <a:ext cx="6394399" cy="301752"/>
          </a:xfrm>
          <a:prstGeom prst="rect">
            <a:avLst/>
          </a:prstGeom>
          <a:solidFill>
            <a:srgbClr val="FFFFFF"/>
          </a:solidFill>
          <a:ln w="12700">
            <a:solidFill>
              <a:srgbClr val="FFFFFF"/>
            </a:solidFill>
            <a:prstDash val="solid"/>
          </a:ln>
        </p:spPr>
      </p:sp>
      <p:sp>
        <p:nvSpPr>
          <p:cNvPr id="41" name="Shape 38"/>
          <p:cNvSpPr/>
          <p:nvPr/>
        </p:nvSpPr>
        <p:spPr>
          <a:xfrm>
            <a:off x="5138928" y="2377440"/>
            <a:ext cx="566928" cy="301752"/>
          </a:xfrm>
          <a:prstGeom prst="rect">
            <a:avLst/>
          </a:prstGeom>
          <a:solidFill>
            <a:srgbClr val="1D3A57"/>
          </a:solidFill>
          <a:ln w="12700">
            <a:solidFill>
              <a:srgbClr val="1D3A57"/>
            </a:solidFill>
            <a:prstDash val="solid"/>
          </a:ln>
        </p:spPr>
      </p:sp>
      <p:sp>
        <p:nvSpPr>
          <p:cNvPr id="42" name="Text 39"/>
          <p:cNvSpPr txBox="1"/>
          <p:nvPr/>
        </p:nvSpPr>
        <p:spPr>
          <a:xfrm>
            <a:off x="5138928" y="2414016"/>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A02</a:t>
            </a:r>
            <a:endParaRPr lang="en-US" sz="1000" dirty="0"/>
          </a:p>
        </p:txBody>
      </p:sp>
      <p:sp>
        <p:nvSpPr>
          <p:cNvPr id="43" name="Text 40"/>
          <p:cNvSpPr txBox="1"/>
          <p:nvPr/>
        </p:nvSpPr>
        <p:spPr>
          <a:xfrm>
            <a:off x="5852160" y="2414016"/>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Configuración de seguridad incorrecta</a:t>
            </a:r>
            <a:endParaRPr lang="en-US" sz="1060" dirty="0"/>
          </a:p>
        </p:txBody>
      </p:sp>
      <p:sp>
        <p:nvSpPr>
          <p:cNvPr id="44" name="Shape 41"/>
          <p:cNvSpPr/>
          <p:nvPr/>
        </p:nvSpPr>
        <p:spPr>
          <a:xfrm>
            <a:off x="5138928" y="2724912"/>
            <a:ext cx="6394399" cy="301752"/>
          </a:xfrm>
          <a:prstGeom prst="rect">
            <a:avLst/>
          </a:prstGeom>
          <a:solidFill>
            <a:srgbClr val="F2E7D9"/>
          </a:solidFill>
          <a:ln w="12700">
            <a:solidFill>
              <a:srgbClr val="F2E7D9"/>
            </a:solidFill>
            <a:prstDash val="solid"/>
          </a:ln>
        </p:spPr>
      </p:sp>
      <p:sp>
        <p:nvSpPr>
          <p:cNvPr id="45" name="Shape 42"/>
          <p:cNvSpPr/>
          <p:nvPr/>
        </p:nvSpPr>
        <p:spPr>
          <a:xfrm>
            <a:off x="5138928" y="2724912"/>
            <a:ext cx="566928" cy="301752"/>
          </a:xfrm>
          <a:prstGeom prst="rect">
            <a:avLst/>
          </a:prstGeom>
          <a:solidFill>
            <a:srgbClr val="B3181E"/>
          </a:solidFill>
          <a:ln w="12700">
            <a:solidFill>
              <a:srgbClr val="B3181E"/>
            </a:solidFill>
            <a:prstDash val="solid"/>
          </a:ln>
        </p:spPr>
      </p:sp>
      <p:sp>
        <p:nvSpPr>
          <p:cNvPr id="46" name="Text 43"/>
          <p:cNvSpPr txBox="1"/>
          <p:nvPr/>
        </p:nvSpPr>
        <p:spPr>
          <a:xfrm>
            <a:off x="5138928" y="2761488"/>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A03</a:t>
            </a:r>
            <a:endParaRPr lang="en-US" sz="1000" dirty="0"/>
          </a:p>
        </p:txBody>
      </p:sp>
      <p:sp>
        <p:nvSpPr>
          <p:cNvPr id="47" name="Text 44"/>
          <p:cNvSpPr txBox="1"/>
          <p:nvPr/>
        </p:nvSpPr>
        <p:spPr>
          <a:xfrm>
            <a:off x="5852160" y="2761488"/>
            <a:ext cx="4016959" cy="228600"/>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Fallas en la cadena de suministro de software</a:t>
            </a:r>
            <a:endParaRPr lang="en-US" sz="1060" dirty="0"/>
          </a:p>
        </p:txBody>
      </p:sp>
      <p:sp>
        <p:nvSpPr>
          <p:cNvPr id="48" name="Text 45"/>
          <p:cNvSpPr txBox="1"/>
          <p:nvPr/>
        </p:nvSpPr>
        <p:spPr>
          <a:xfrm>
            <a:off x="9887407" y="2761488"/>
            <a:ext cx="1517904" cy="228600"/>
          </a:xfrm>
          <a:prstGeom prst="rect">
            <a:avLst/>
          </a:prstGeom>
          <a:noFill/>
          <a:ln/>
        </p:spPr>
        <p:txBody>
          <a:bodyPr wrap="square" lIns="0" tIns="0" rIns="0" bIns="0" rtlCol="0" anchor="ctr"/>
          <a:lstStyle/>
          <a:p>
            <a:pPr algn="r" indent="0" marL="0">
              <a:buNone/>
            </a:pPr>
            <a:r>
              <a:rPr lang="en-US" sz="940" b="1" dirty="0">
                <a:solidFill>
                  <a:srgbClr val="B3181E"/>
                </a:solidFill>
                <a:latin typeface="Aptos" pitchFamily="34" charset="0"/>
                <a:ea typeface="Aptos" pitchFamily="34" charset="-122"/>
                <a:cs typeface="Aptos" pitchFamily="34" charset="-120"/>
              </a:rPr>
              <a:t>hoy: pip-audit</a:t>
            </a:r>
            <a:endParaRPr lang="en-US" sz="940" dirty="0"/>
          </a:p>
        </p:txBody>
      </p:sp>
      <p:sp>
        <p:nvSpPr>
          <p:cNvPr id="49" name="Shape 46"/>
          <p:cNvSpPr/>
          <p:nvPr/>
        </p:nvSpPr>
        <p:spPr>
          <a:xfrm>
            <a:off x="5138928" y="3072384"/>
            <a:ext cx="6394399" cy="301752"/>
          </a:xfrm>
          <a:prstGeom prst="rect">
            <a:avLst/>
          </a:prstGeom>
          <a:solidFill>
            <a:srgbClr val="FFFFFF"/>
          </a:solidFill>
          <a:ln w="12700">
            <a:solidFill>
              <a:srgbClr val="FFFFFF"/>
            </a:solidFill>
            <a:prstDash val="solid"/>
          </a:ln>
        </p:spPr>
      </p:sp>
      <p:sp>
        <p:nvSpPr>
          <p:cNvPr id="50" name="Shape 47"/>
          <p:cNvSpPr/>
          <p:nvPr/>
        </p:nvSpPr>
        <p:spPr>
          <a:xfrm>
            <a:off x="5138928" y="3072384"/>
            <a:ext cx="566928" cy="301752"/>
          </a:xfrm>
          <a:prstGeom prst="rect">
            <a:avLst/>
          </a:prstGeom>
          <a:solidFill>
            <a:srgbClr val="1D3A57"/>
          </a:solidFill>
          <a:ln w="12700">
            <a:solidFill>
              <a:srgbClr val="1D3A57"/>
            </a:solidFill>
            <a:prstDash val="solid"/>
          </a:ln>
        </p:spPr>
      </p:sp>
      <p:sp>
        <p:nvSpPr>
          <p:cNvPr id="51" name="Text 48"/>
          <p:cNvSpPr txBox="1"/>
          <p:nvPr/>
        </p:nvSpPr>
        <p:spPr>
          <a:xfrm>
            <a:off x="5138928" y="3108960"/>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A04</a:t>
            </a:r>
            <a:endParaRPr lang="en-US" sz="1000" dirty="0"/>
          </a:p>
        </p:txBody>
      </p:sp>
      <p:sp>
        <p:nvSpPr>
          <p:cNvPr id="52" name="Text 49"/>
          <p:cNvSpPr txBox="1"/>
          <p:nvPr/>
        </p:nvSpPr>
        <p:spPr>
          <a:xfrm>
            <a:off x="5852160" y="3108960"/>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Fallas criptográficas</a:t>
            </a:r>
            <a:endParaRPr lang="en-US" sz="1060" dirty="0"/>
          </a:p>
        </p:txBody>
      </p:sp>
      <p:sp>
        <p:nvSpPr>
          <p:cNvPr id="53" name="Shape 50"/>
          <p:cNvSpPr/>
          <p:nvPr/>
        </p:nvSpPr>
        <p:spPr>
          <a:xfrm>
            <a:off x="5138928" y="3419856"/>
            <a:ext cx="6394399" cy="301752"/>
          </a:xfrm>
          <a:prstGeom prst="rect">
            <a:avLst/>
          </a:prstGeom>
          <a:solidFill>
            <a:srgbClr val="F2E7D9"/>
          </a:solidFill>
          <a:ln w="12700">
            <a:solidFill>
              <a:srgbClr val="F2E7D9"/>
            </a:solidFill>
            <a:prstDash val="solid"/>
          </a:ln>
        </p:spPr>
      </p:sp>
      <p:sp>
        <p:nvSpPr>
          <p:cNvPr id="54" name="Shape 51"/>
          <p:cNvSpPr/>
          <p:nvPr/>
        </p:nvSpPr>
        <p:spPr>
          <a:xfrm>
            <a:off x="5138928" y="3419856"/>
            <a:ext cx="566928" cy="301752"/>
          </a:xfrm>
          <a:prstGeom prst="rect">
            <a:avLst/>
          </a:prstGeom>
          <a:solidFill>
            <a:srgbClr val="B3181E"/>
          </a:solidFill>
          <a:ln w="12700">
            <a:solidFill>
              <a:srgbClr val="B3181E"/>
            </a:solidFill>
            <a:prstDash val="solid"/>
          </a:ln>
        </p:spPr>
      </p:sp>
      <p:sp>
        <p:nvSpPr>
          <p:cNvPr id="55" name="Text 52"/>
          <p:cNvSpPr txBox="1"/>
          <p:nvPr/>
        </p:nvSpPr>
        <p:spPr>
          <a:xfrm>
            <a:off x="5138928" y="3456432"/>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A05</a:t>
            </a:r>
            <a:endParaRPr lang="en-US" sz="1000" dirty="0"/>
          </a:p>
        </p:txBody>
      </p:sp>
      <p:sp>
        <p:nvSpPr>
          <p:cNvPr id="56" name="Text 53"/>
          <p:cNvSpPr txBox="1"/>
          <p:nvPr/>
        </p:nvSpPr>
        <p:spPr>
          <a:xfrm>
            <a:off x="5852160" y="3456432"/>
            <a:ext cx="4016959" cy="228600"/>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Inyección</a:t>
            </a:r>
            <a:endParaRPr lang="en-US" sz="1060" dirty="0"/>
          </a:p>
        </p:txBody>
      </p:sp>
      <p:sp>
        <p:nvSpPr>
          <p:cNvPr id="57" name="Text 54"/>
          <p:cNvSpPr txBox="1"/>
          <p:nvPr/>
        </p:nvSpPr>
        <p:spPr>
          <a:xfrm>
            <a:off x="9887407" y="3456432"/>
            <a:ext cx="1517904" cy="228600"/>
          </a:xfrm>
          <a:prstGeom prst="rect">
            <a:avLst/>
          </a:prstGeom>
          <a:noFill/>
          <a:ln/>
        </p:spPr>
        <p:txBody>
          <a:bodyPr wrap="square" lIns="0" tIns="0" rIns="0" bIns="0" rtlCol="0" anchor="ctr"/>
          <a:lstStyle/>
          <a:p>
            <a:pPr algn="r" indent="0" marL="0">
              <a:buNone/>
            </a:pPr>
            <a:r>
              <a:rPr lang="en-US" sz="940" b="1" dirty="0">
                <a:solidFill>
                  <a:srgbClr val="B3181E"/>
                </a:solidFill>
                <a:latin typeface="Aptos" pitchFamily="34" charset="0"/>
                <a:ea typeface="Aptos" pitchFamily="34" charset="-122"/>
                <a:cs typeface="Aptos" pitchFamily="34" charset="-120"/>
              </a:rPr>
              <a:t>hoy: prueba y bandit</a:t>
            </a:r>
            <a:endParaRPr lang="en-US" sz="940" dirty="0"/>
          </a:p>
        </p:txBody>
      </p:sp>
      <p:sp>
        <p:nvSpPr>
          <p:cNvPr id="58" name="Shape 55"/>
          <p:cNvSpPr/>
          <p:nvPr/>
        </p:nvSpPr>
        <p:spPr>
          <a:xfrm>
            <a:off x="5138928" y="3767328"/>
            <a:ext cx="6394399" cy="301752"/>
          </a:xfrm>
          <a:prstGeom prst="rect">
            <a:avLst/>
          </a:prstGeom>
          <a:solidFill>
            <a:srgbClr val="FFFFFF"/>
          </a:solidFill>
          <a:ln w="12700">
            <a:solidFill>
              <a:srgbClr val="FFFFFF"/>
            </a:solidFill>
            <a:prstDash val="solid"/>
          </a:ln>
        </p:spPr>
      </p:sp>
      <p:sp>
        <p:nvSpPr>
          <p:cNvPr id="59" name="Shape 56"/>
          <p:cNvSpPr/>
          <p:nvPr/>
        </p:nvSpPr>
        <p:spPr>
          <a:xfrm>
            <a:off x="5138928" y="3767328"/>
            <a:ext cx="566928" cy="301752"/>
          </a:xfrm>
          <a:prstGeom prst="rect">
            <a:avLst/>
          </a:prstGeom>
          <a:solidFill>
            <a:srgbClr val="1D3A57"/>
          </a:solidFill>
          <a:ln w="12700">
            <a:solidFill>
              <a:srgbClr val="1D3A57"/>
            </a:solidFill>
            <a:prstDash val="solid"/>
          </a:ln>
        </p:spPr>
      </p:sp>
      <p:sp>
        <p:nvSpPr>
          <p:cNvPr id="60" name="Text 57"/>
          <p:cNvSpPr txBox="1"/>
          <p:nvPr/>
        </p:nvSpPr>
        <p:spPr>
          <a:xfrm>
            <a:off x="5138928" y="3803904"/>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A06</a:t>
            </a:r>
            <a:endParaRPr lang="en-US" sz="1000" dirty="0"/>
          </a:p>
        </p:txBody>
      </p:sp>
      <p:sp>
        <p:nvSpPr>
          <p:cNvPr id="61" name="Text 58"/>
          <p:cNvSpPr txBox="1"/>
          <p:nvPr/>
        </p:nvSpPr>
        <p:spPr>
          <a:xfrm>
            <a:off x="5852160" y="3803904"/>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Diseño inseguro</a:t>
            </a:r>
            <a:endParaRPr lang="en-US" sz="1060" dirty="0"/>
          </a:p>
        </p:txBody>
      </p:sp>
      <p:sp>
        <p:nvSpPr>
          <p:cNvPr id="62" name="Shape 59"/>
          <p:cNvSpPr/>
          <p:nvPr/>
        </p:nvSpPr>
        <p:spPr>
          <a:xfrm>
            <a:off x="5138928" y="4114800"/>
            <a:ext cx="6394399" cy="301752"/>
          </a:xfrm>
          <a:prstGeom prst="rect">
            <a:avLst/>
          </a:prstGeom>
          <a:solidFill>
            <a:srgbClr val="F2E7D9"/>
          </a:solidFill>
          <a:ln w="12700">
            <a:solidFill>
              <a:srgbClr val="F2E7D9"/>
            </a:solidFill>
            <a:prstDash val="solid"/>
          </a:ln>
        </p:spPr>
      </p:sp>
      <p:sp>
        <p:nvSpPr>
          <p:cNvPr id="63" name="Shape 60"/>
          <p:cNvSpPr/>
          <p:nvPr/>
        </p:nvSpPr>
        <p:spPr>
          <a:xfrm>
            <a:off x="5138928" y="4114800"/>
            <a:ext cx="566928" cy="301752"/>
          </a:xfrm>
          <a:prstGeom prst="rect">
            <a:avLst/>
          </a:prstGeom>
          <a:solidFill>
            <a:srgbClr val="B3181E"/>
          </a:solidFill>
          <a:ln w="12700">
            <a:solidFill>
              <a:srgbClr val="B3181E"/>
            </a:solidFill>
            <a:prstDash val="solid"/>
          </a:ln>
        </p:spPr>
      </p:sp>
      <p:sp>
        <p:nvSpPr>
          <p:cNvPr id="64" name="Text 61"/>
          <p:cNvSpPr txBox="1"/>
          <p:nvPr/>
        </p:nvSpPr>
        <p:spPr>
          <a:xfrm>
            <a:off x="5138928" y="4151376"/>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A07</a:t>
            </a:r>
            <a:endParaRPr lang="en-US" sz="1000" dirty="0"/>
          </a:p>
        </p:txBody>
      </p:sp>
      <p:sp>
        <p:nvSpPr>
          <p:cNvPr id="65" name="Text 62"/>
          <p:cNvSpPr txBox="1"/>
          <p:nvPr/>
        </p:nvSpPr>
        <p:spPr>
          <a:xfrm>
            <a:off x="5852160" y="4151376"/>
            <a:ext cx="4016959" cy="228600"/>
          </a:xfrm>
          <a:prstGeom prst="rect">
            <a:avLst/>
          </a:prstGeom>
          <a:noFill/>
          <a:ln/>
        </p:spPr>
        <p:txBody>
          <a:bodyPr wrap="square" lIns="0" tIns="0" rIns="0" bIns="0" rtlCol="0" anchor="ctr"/>
          <a:lstStyle/>
          <a:p>
            <a:pPr algn="l" indent="0" marL="0">
              <a:buNone/>
            </a:pPr>
            <a:r>
              <a:rPr lang="en-US" sz="1060" b="1" dirty="0">
                <a:solidFill>
                  <a:srgbClr val="243B53"/>
                </a:solidFill>
                <a:latin typeface="Aptos" pitchFamily="34" charset="0"/>
                <a:ea typeface="Aptos" pitchFamily="34" charset="-122"/>
                <a:cs typeface="Aptos" pitchFamily="34" charset="-120"/>
              </a:rPr>
              <a:t>Fallas de autenticación</a:t>
            </a:r>
            <a:endParaRPr lang="en-US" sz="1060" dirty="0"/>
          </a:p>
        </p:txBody>
      </p:sp>
      <p:sp>
        <p:nvSpPr>
          <p:cNvPr id="66" name="Text 63"/>
          <p:cNvSpPr txBox="1"/>
          <p:nvPr/>
        </p:nvSpPr>
        <p:spPr>
          <a:xfrm>
            <a:off x="9887407" y="4151376"/>
            <a:ext cx="1517904" cy="228600"/>
          </a:xfrm>
          <a:prstGeom prst="rect">
            <a:avLst/>
          </a:prstGeom>
          <a:noFill/>
          <a:ln/>
        </p:spPr>
        <p:txBody>
          <a:bodyPr wrap="square" lIns="0" tIns="0" rIns="0" bIns="0" rtlCol="0" anchor="ctr"/>
          <a:lstStyle/>
          <a:p>
            <a:pPr algn="r" indent="0" marL="0">
              <a:buNone/>
            </a:pPr>
            <a:r>
              <a:rPr lang="en-US" sz="940" b="1" dirty="0">
                <a:solidFill>
                  <a:srgbClr val="B3181E"/>
                </a:solidFill>
                <a:latin typeface="Aptos" pitchFamily="34" charset="0"/>
                <a:ea typeface="Aptos" pitchFamily="34" charset="-122"/>
                <a:cs typeface="Aptos" pitchFamily="34" charset="-120"/>
              </a:rPr>
              <a:t>hoy: suplantación</a:t>
            </a:r>
            <a:endParaRPr lang="en-US" sz="940" dirty="0"/>
          </a:p>
        </p:txBody>
      </p:sp>
      <p:sp>
        <p:nvSpPr>
          <p:cNvPr id="67" name="Shape 64"/>
          <p:cNvSpPr/>
          <p:nvPr/>
        </p:nvSpPr>
        <p:spPr>
          <a:xfrm>
            <a:off x="5138928" y="4462272"/>
            <a:ext cx="6394399" cy="301752"/>
          </a:xfrm>
          <a:prstGeom prst="rect">
            <a:avLst/>
          </a:prstGeom>
          <a:solidFill>
            <a:srgbClr val="FFFFFF"/>
          </a:solidFill>
          <a:ln w="12700">
            <a:solidFill>
              <a:srgbClr val="FFFFFF"/>
            </a:solidFill>
            <a:prstDash val="solid"/>
          </a:ln>
        </p:spPr>
      </p:sp>
      <p:sp>
        <p:nvSpPr>
          <p:cNvPr id="68" name="Shape 65"/>
          <p:cNvSpPr/>
          <p:nvPr/>
        </p:nvSpPr>
        <p:spPr>
          <a:xfrm>
            <a:off x="5138928" y="4462272"/>
            <a:ext cx="566928" cy="301752"/>
          </a:xfrm>
          <a:prstGeom prst="rect">
            <a:avLst/>
          </a:prstGeom>
          <a:solidFill>
            <a:srgbClr val="1D3A57"/>
          </a:solidFill>
          <a:ln w="12700">
            <a:solidFill>
              <a:srgbClr val="1D3A57"/>
            </a:solidFill>
            <a:prstDash val="solid"/>
          </a:ln>
        </p:spPr>
      </p:sp>
      <p:sp>
        <p:nvSpPr>
          <p:cNvPr id="69" name="Text 66"/>
          <p:cNvSpPr txBox="1"/>
          <p:nvPr/>
        </p:nvSpPr>
        <p:spPr>
          <a:xfrm>
            <a:off x="5138928" y="4498848"/>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A08</a:t>
            </a:r>
            <a:endParaRPr lang="en-US" sz="1000" dirty="0"/>
          </a:p>
        </p:txBody>
      </p:sp>
      <p:sp>
        <p:nvSpPr>
          <p:cNvPr id="70" name="Text 67"/>
          <p:cNvSpPr txBox="1"/>
          <p:nvPr/>
        </p:nvSpPr>
        <p:spPr>
          <a:xfrm>
            <a:off x="5852160" y="4498848"/>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Fallas de integridad del software o de los datos</a:t>
            </a:r>
            <a:endParaRPr lang="en-US" sz="1060" dirty="0"/>
          </a:p>
        </p:txBody>
      </p:sp>
      <p:sp>
        <p:nvSpPr>
          <p:cNvPr id="71" name="Shape 68"/>
          <p:cNvSpPr/>
          <p:nvPr/>
        </p:nvSpPr>
        <p:spPr>
          <a:xfrm>
            <a:off x="5138928" y="4809744"/>
            <a:ext cx="6394399" cy="301752"/>
          </a:xfrm>
          <a:prstGeom prst="rect">
            <a:avLst/>
          </a:prstGeom>
          <a:solidFill>
            <a:srgbClr val="FFFFFF"/>
          </a:solidFill>
          <a:ln w="12700">
            <a:solidFill>
              <a:srgbClr val="FFFFFF"/>
            </a:solidFill>
            <a:prstDash val="solid"/>
          </a:ln>
        </p:spPr>
      </p:sp>
      <p:sp>
        <p:nvSpPr>
          <p:cNvPr id="72" name="Shape 69"/>
          <p:cNvSpPr/>
          <p:nvPr/>
        </p:nvSpPr>
        <p:spPr>
          <a:xfrm>
            <a:off x="5138928" y="4809744"/>
            <a:ext cx="566928" cy="301752"/>
          </a:xfrm>
          <a:prstGeom prst="rect">
            <a:avLst/>
          </a:prstGeom>
          <a:solidFill>
            <a:srgbClr val="1D3A57"/>
          </a:solidFill>
          <a:ln w="12700">
            <a:solidFill>
              <a:srgbClr val="1D3A57"/>
            </a:solidFill>
            <a:prstDash val="solid"/>
          </a:ln>
        </p:spPr>
      </p:sp>
      <p:sp>
        <p:nvSpPr>
          <p:cNvPr id="73" name="Text 70"/>
          <p:cNvSpPr txBox="1"/>
          <p:nvPr/>
        </p:nvSpPr>
        <p:spPr>
          <a:xfrm>
            <a:off x="5138928" y="4846320"/>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A09</a:t>
            </a:r>
            <a:endParaRPr lang="en-US" sz="1000" dirty="0"/>
          </a:p>
        </p:txBody>
      </p:sp>
      <p:sp>
        <p:nvSpPr>
          <p:cNvPr id="74" name="Text 71"/>
          <p:cNvSpPr txBox="1"/>
          <p:nvPr/>
        </p:nvSpPr>
        <p:spPr>
          <a:xfrm>
            <a:off x="5852160" y="4846320"/>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Fallas de registro y alerta de seguridad</a:t>
            </a:r>
            <a:endParaRPr lang="en-US" sz="1060" dirty="0"/>
          </a:p>
        </p:txBody>
      </p:sp>
      <p:sp>
        <p:nvSpPr>
          <p:cNvPr id="75" name="Shape 72"/>
          <p:cNvSpPr/>
          <p:nvPr/>
        </p:nvSpPr>
        <p:spPr>
          <a:xfrm>
            <a:off x="5138928" y="5157216"/>
            <a:ext cx="6394399" cy="301752"/>
          </a:xfrm>
          <a:prstGeom prst="rect">
            <a:avLst/>
          </a:prstGeom>
          <a:solidFill>
            <a:srgbClr val="FFFFFF"/>
          </a:solidFill>
          <a:ln w="12700">
            <a:solidFill>
              <a:srgbClr val="FFFFFF"/>
            </a:solidFill>
            <a:prstDash val="solid"/>
          </a:ln>
        </p:spPr>
      </p:sp>
      <p:sp>
        <p:nvSpPr>
          <p:cNvPr id="76" name="Shape 73"/>
          <p:cNvSpPr/>
          <p:nvPr/>
        </p:nvSpPr>
        <p:spPr>
          <a:xfrm>
            <a:off x="5138928" y="5157216"/>
            <a:ext cx="566928" cy="301752"/>
          </a:xfrm>
          <a:prstGeom prst="rect">
            <a:avLst/>
          </a:prstGeom>
          <a:solidFill>
            <a:srgbClr val="1D3A57"/>
          </a:solidFill>
          <a:ln w="12700">
            <a:solidFill>
              <a:srgbClr val="1D3A57"/>
            </a:solidFill>
            <a:prstDash val="solid"/>
          </a:ln>
        </p:spPr>
      </p:sp>
      <p:sp>
        <p:nvSpPr>
          <p:cNvPr id="77" name="Text 74"/>
          <p:cNvSpPr txBox="1"/>
          <p:nvPr/>
        </p:nvSpPr>
        <p:spPr>
          <a:xfrm>
            <a:off x="5138928" y="5193792"/>
            <a:ext cx="5669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A10</a:t>
            </a:r>
            <a:endParaRPr lang="en-US" sz="1000" dirty="0"/>
          </a:p>
        </p:txBody>
      </p:sp>
      <p:sp>
        <p:nvSpPr>
          <p:cNvPr id="78" name="Text 75"/>
          <p:cNvSpPr txBox="1"/>
          <p:nvPr/>
        </p:nvSpPr>
        <p:spPr>
          <a:xfrm>
            <a:off x="5852160" y="5193792"/>
            <a:ext cx="4016959" cy="228600"/>
          </a:xfrm>
          <a:prstGeom prst="rect">
            <a:avLst/>
          </a:prstGeom>
          <a:noFill/>
          <a:ln/>
        </p:spPr>
        <p:txBody>
          <a:bodyPr wrap="square" lIns="0" tIns="0" rIns="0" bIns="0" rtlCol="0" anchor="ctr"/>
          <a:lstStyle/>
          <a:p>
            <a:pPr algn="l" indent="0" marL="0">
              <a:buNone/>
            </a:pPr>
            <a:r>
              <a:rPr lang="en-US" sz="1060" dirty="0">
                <a:solidFill>
                  <a:srgbClr val="52606D"/>
                </a:solidFill>
                <a:latin typeface="Aptos" pitchFamily="34" charset="0"/>
                <a:ea typeface="Aptos" pitchFamily="34" charset="-122"/>
                <a:cs typeface="Aptos" pitchFamily="34" charset="-120"/>
              </a:rPr>
              <a:t>Manejo incorrecto de condiciones excepcionales</a:t>
            </a:r>
            <a:endParaRPr lang="en-US" sz="1060" dirty="0"/>
          </a:p>
        </p:txBody>
      </p:sp>
      <p:sp>
        <p:nvSpPr>
          <p:cNvPr id="79" name="Text 76"/>
          <p:cNvSpPr txBox="1"/>
          <p:nvPr/>
        </p:nvSpPr>
        <p:spPr>
          <a:xfrm>
            <a:off x="5138928" y="5522976"/>
            <a:ext cx="6394399" cy="219456"/>
          </a:xfrm>
          <a:prstGeom prst="rect">
            <a:avLst/>
          </a:prstGeom>
          <a:noFill/>
          <a:ln/>
        </p:spPr>
        <p:txBody>
          <a:bodyPr wrap="square" lIns="0" tIns="0" rIns="0" bIns="0" rtlCol="0" anchor="t"/>
          <a:lstStyle/>
          <a:p>
            <a:pPr algn="l" indent="0" marL="0">
              <a:buNone/>
            </a:pPr>
            <a:r>
              <a:rPr lang="en-US" sz="940" i="1" dirty="0">
                <a:solidFill>
                  <a:srgbClr val="52606D"/>
                </a:solidFill>
                <a:latin typeface="Aptos" pitchFamily="34" charset="0"/>
                <a:ea typeface="Aptos" pitchFamily="34" charset="-122"/>
                <a:cs typeface="Aptos" pitchFamily="34" charset="-120"/>
              </a:rPr>
              <a:t>OWASP es una fundación abierta; su lista se construye con datos de aplicaciones reales.</a:t>
            </a:r>
            <a:endParaRPr lang="en-US" sz="940" dirty="0"/>
          </a:p>
        </p:txBody>
      </p:sp>
      <p:sp>
        <p:nvSpPr>
          <p:cNvPr id="80" name="Shape 77"/>
          <p:cNvSpPr/>
          <p:nvPr/>
        </p:nvSpPr>
        <p:spPr>
          <a:xfrm>
            <a:off x="658368" y="5870448"/>
            <a:ext cx="10874959" cy="420624"/>
          </a:xfrm>
          <a:prstGeom prst="rect">
            <a:avLst/>
          </a:prstGeom>
          <a:solidFill>
            <a:srgbClr val="102A43"/>
          </a:solidFill>
          <a:ln w="12700">
            <a:solidFill>
              <a:srgbClr val="102A43"/>
            </a:solidFill>
            <a:prstDash val="solid"/>
          </a:ln>
        </p:spPr>
      </p:sp>
      <p:sp>
        <p:nvSpPr>
          <p:cNvPr id="81" name="Text 78"/>
          <p:cNvSpPr txBox="1"/>
          <p:nvPr/>
        </p:nvSpPr>
        <p:spPr>
          <a:xfrm>
            <a:off x="950976" y="5907024"/>
            <a:ext cx="10289743" cy="347472"/>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norma dice qué cuidar. OWASP dice dónde falla más seguido.</a:t>
            </a:r>
            <a:endParaRPr lang="en-US" sz="13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LEY</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Guardar un RUT es tratar datos personales</a:t>
            </a:r>
            <a:endParaRPr lang="en-US" sz="2800" dirty="0"/>
          </a:p>
        </p:txBody>
      </p:sp>
      <p:sp>
        <p:nvSpPr>
          <p:cNvPr id="10" name="Text 7"/>
          <p:cNvSpPr txBox="1"/>
          <p:nvPr/>
        </p:nvSpPr>
        <p:spPr>
          <a:xfrm>
            <a:off x="658368" y="1773936"/>
            <a:ext cx="39319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UNA FILA DE LA TABLA RESERVAS</a:t>
            </a:r>
            <a:endParaRPr lang="en-US" sz="960" dirty="0"/>
          </a:p>
        </p:txBody>
      </p:sp>
      <p:sp>
        <p:nvSpPr>
          <p:cNvPr id="11" name="Shape 8"/>
          <p:cNvSpPr/>
          <p:nvPr/>
        </p:nvSpPr>
        <p:spPr>
          <a:xfrm>
            <a:off x="658368" y="2084832"/>
            <a:ext cx="1737360" cy="402336"/>
          </a:xfrm>
          <a:prstGeom prst="rect">
            <a:avLst/>
          </a:prstGeom>
          <a:solidFill>
            <a:srgbClr val="1D3A57"/>
          </a:solidFill>
          <a:ln w="12700">
            <a:solidFill>
              <a:srgbClr val="1D3A57"/>
            </a:solidFill>
            <a:prstDash val="solid"/>
          </a:ln>
        </p:spPr>
      </p:sp>
      <p:sp>
        <p:nvSpPr>
          <p:cNvPr id="12" name="Text 9"/>
          <p:cNvSpPr txBox="1"/>
          <p:nvPr/>
        </p:nvSpPr>
        <p:spPr>
          <a:xfrm>
            <a:off x="786384" y="2157984"/>
            <a:ext cx="1554480" cy="256032"/>
          </a:xfrm>
          <a:prstGeom prst="rect">
            <a:avLst/>
          </a:prstGeom>
          <a:noFill/>
          <a:ln/>
        </p:spPr>
        <p:txBody>
          <a:bodyPr wrap="square" lIns="0" tIns="0" rIns="0" bIns="0" rtlCol="0" anchor="ctr"/>
          <a:lstStyle/>
          <a:p>
            <a:pPr algn="l" indent="0" marL="0">
              <a:buNone/>
            </a:pPr>
            <a:r>
              <a:rPr lang="en-US" sz="1000" dirty="0">
                <a:solidFill>
                  <a:srgbClr val="FFFFFF"/>
                </a:solidFill>
                <a:latin typeface="Consolas" pitchFamily="34" charset="0"/>
                <a:ea typeface="Consolas" pitchFamily="34" charset="-122"/>
                <a:cs typeface="Consolas" pitchFamily="34" charset="-120"/>
              </a:rPr>
              <a:t>nombre</a:t>
            </a:r>
            <a:endParaRPr lang="en-US" sz="1000" dirty="0"/>
          </a:p>
        </p:txBody>
      </p:sp>
      <p:sp>
        <p:nvSpPr>
          <p:cNvPr id="13" name="Shape 10"/>
          <p:cNvSpPr/>
          <p:nvPr/>
        </p:nvSpPr>
        <p:spPr>
          <a:xfrm>
            <a:off x="2432304" y="2084832"/>
            <a:ext cx="2157984" cy="402336"/>
          </a:xfrm>
          <a:prstGeom prst="rect">
            <a:avLst/>
          </a:prstGeom>
          <a:solidFill>
            <a:srgbClr val="F2E7D9"/>
          </a:solidFill>
          <a:ln w="12700">
            <a:solidFill>
              <a:srgbClr val="F2E7D9"/>
            </a:solidFill>
            <a:prstDash val="solid"/>
          </a:ln>
        </p:spPr>
      </p:sp>
      <p:sp>
        <p:nvSpPr>
          <p:cNvPr id="14" name="Text 11"/>
          <p:cNvSpPr txBox="1"/>
          <p:nvPr/>
        </p:nvSpPr>
        <p:spPr>
          <a:xfrm>
            <a:off x="2578608" y="2157984"/>
            <a:ext cx="182880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Consolas" pitchFamily="34" charset="0"/>
                <a:ea typeface="Consolas" pitchFamily="34" charset="-122"/>
                <a:cs typeface="Consolas" pitchFamily="34" charset="-120"/>
              </a:rPr>
              <a:t>Ana Pérez</a:t>
            </a:r>
            <a:endParaRPr lang="en-US" sz="1060" dirty="0"/>
          </a:p>
        </p:txBody>
      </p:sp>
      <p:sp>
        <p:nvSpPr>
          <p:cNvPr id="15" name="Shape 12"/>
          <p:cNvSpPr/>
          <p:nvPr/>
        </p:nvSpPr>
        <p:spPr>
          <a:xfrm>
            <a:off x="658368" y="2560320"/>
            <a:ext cx="1737360" cy="402336"/>
          </a:xfrm>
          <a:prstGeom prst="rect">
            <a:avLst/>
          </a:prstGeom>
          <a:solidFill>
            <a:srgbClr val="1D3A57"/>
          </a:solidFill>
          <a:ln w="12700">
            <a:solidFill>
              <a:srgbClr val="1D3A57"/>
            </a:solidFill>
            <a:prstDash val="solid"/>
          </a:ln>
        </p:spPr>
      </p:sp>
      <p:sp>
        <p:nvSpPr>
          <p:cNvPr id="16" name="Text 13"/>
          <p:cNvSpPr txBox="1"/>
          <p:nvPr/>
        </p:nvSpPr>
        <p:spPr>
          <a:xfrm>
            <a:off x="786384" y="2633472"/>
            <a:ext cx="1554480" cy="256032"/>
          </a:xfrm>
          <a:prstGeom prst="rect">
            <a:avLst/>
          </a:prstGeom>
          <a:noFill/>
          <a:ln/>
        </p:spPr>
        <p:txBody>
          <a:bodyPr wrap="square" lIns="0" tIns="0" rIns="0" bIns="0" rtlCol="0" anchor="ctr"/>
          <a:lstStyle/>
          <a:p>
            <a:pPr algn="l" indent="0" marL="0">
              <a:buNone/>
            </a:pPr>
            <a:r>
              <a:rPr lang="en-US" sz="1000" dirty="0">
                <a:solidFill>
                  <a:srgbClr val="FFFFFF"/>
                </a:solidFill>
                <a:latin typeface="Consolas" pitchFamily="34" charset="0"/>
                <a:ea typeface="Consolas" pitchFamily="34" charset="-122"/>
                <a:cs typeface="Consolas" pitchFamily="34" charset="-120"/>
              </a:rPr>
              <a:t>rut</a:t>
            </a:r>
            <a:endParaRPr lang="en-US" sz="1000" dirty="0"/>
          </a:p>
        </p:txBody>
      </p:sp>
      <p:sp>
        <p:nvSpPr>
          <p:cNvPr id="17" name="Shape 14"/>
          <p:cNvSpPr/>
          <p:nvPr/>
        </p:nvSpPr>
        <p:spPr>
          <a:xfrm>
            <a:off x="2432304" y="2560320"/>
            <a:ext cx="2157984" cy="402336"/>
          </a:xfrm>
          <a:prstGeom prst="rect">
            <a:avLst/>
          </a:prstGeom>
          <a:solidFill>
            <a:srgbClr val="F2E7D9"/>
          </a:solidFill>
          <a:ln w="12700">
            <a:solidFill>
              <a:srgbClr val="F2E7D9"/>
            </a:solidFill>
            <a:prstDash val="solid"/>
          </a:ln>
        </p:spPr>
      </p:sp>
      <p:sp>
        <p:nvSpPr>
          <p:cNvPr id="18" name="Text 15"/>
          <p:cNvSpPr txBox="1"/>
          <p:nvPr/>
        </p:nvSpPr>
        <p:spPr>
          <a:xfrm>
            <a:off x="2578608" y="2633472"/>
            <a:ext cx="182880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Consolas" pitchFamily="34" charset="0"/>
                <a:ea typeface="Consolas" pitchFamily="34" charset="-122"/>
                <a:cs typeface="Consolas" pitchFamily="34" charset="-120"/>
              </a:rPr>
              <a:t>11.111.111-1</a:t>
            </a:r>
            <a:endParaRPr lang="en-US" sz="1060" dirty="0"/>
          </a:p>
        </p:txBody>
      </p:sp>
      <p:sp>
        <p:nvSpPr>
          <p:cNvPr id="19" name="Shape 16"/>
          <p:cNvSpPr/>
          <p:nvPr/>
        </p:nvSpPr>
        <p:spPr>
          <a:xfrm>
            <a:off x="658368" y="3035808"/>
            <a:ext cx="1737360" cy="402336"/>
          </a:xfrm>
          <a:prstGeom prst="rect">
            <a:avLst/>
          </a:prstGeom>
          <a:solidFill>
            <a:srgbClr val="1D3A57"/>
          </a:solidFill>
          <a:ln w="12700">
            <a:solidFill>
              <a:srgbClr val="1D3A57"/>
            </a:solidFill>
            <a:prstDash val="solid"/>
          </a:ln>
        </p:spPr>
      </p:sp>
      <p:sp>
        <p:nvSpPr>
          <p:cNvPr id="20" name="Text 17"/>
          <p:cNvSpPr txBox="1"/>
          <p:nvPr/>
        </p:nvSpPr>
        <p:spPr>
          <a:xfrm>
            <a:off x="786384" y="3108960"/>
            <a:ext cx="1554480" cy="256032"/>
          </a:xfrm>
          <a:prstGeom prst="rect">
            <a:avLst/>
          </a:prstGeom>
          <a:noFill/>
          <a:ln/>
        </p:spPr>
        <p:txBody>
          <a:bodyPr wrap="square" lIns="0" tIns="0" rIns="0" bIns="0" rtlCol="0" anchor="ctr"/>
          <a:lstStyle/>
          <a:p>
            <a:pPr algn="l" indent="0" marL="0">
              <a:buNone/>
            </a:pPr>
            <a:r>
              <a:rPr lang="en-US" sz="1000" dirty="0">
                <a:solidFill>
                  <a:srgbClr val="FFFFFF"/>
                </a:solidFill>
                <a:latin typeface="Consolas" pitchFamily="34" charset="0"/>
                <a:ea typeface="Consolas" pitchFamily="34" charset="-122"/>
                <a:cs typeface="Consolas" pitchFamily="34" charset="-120"/>
              </a:rPr>
              <a:t>correo_electronico</a:t>
            </a:r>
            <a:endParaRPr lang="en-US" sz="1000" dirty="0"/>
          </a:p>
        </p:txBody>
      </p:sp>
      <p:sp>
        <p:nvSpPr>
          <p:cNvPr id="21" name="Shape 18"/>
          <p:cNvSpPr/>
          <p:nvPr/>
        </p:nvSpPr>
        <p:spPr>
          <a:xfrm>
            <a:off x="2432304" y="3035808"/>
            <a:ext cx="2157984" cy="402336"/>
          </a:xfrm>
          <a:prstGeom prst="rect">
            <a:avLst/>
          </a:prstGeom>
          <a:solidFill>
            <a:srgbClr val="F2E7D9"/>
          </a:solidFill>
          <a:ln w="12700">
            <a:solidFill>
              <a:srgbClr val="F2E7D9"/>
            </a:solidFill>
            <a:prstDash val="solid"/>
          </a:ln>
        </p:spPr>
      </p:sp>
      <p:sp>
        <p:nvSpPr>
          <p:cNvPr id="22" name="Text 19"/>
          <p:cNvSpPr txBox="1"/>
          <p:nvPr/>
        </p:nvSpPr>
        <p:spPr>
          <a:xfrm>
            <a:off x="2578608" y="3108960"/>
            <a:ext cx="1828800"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Consolas" pitchFamily="34" charset="0"/>
                <a:ea typeface="Consolas" pitchFamily="34" charset="-122"/>
                <a:cs typeface="Consolas" pitchFamily="34" charset="-120"/>
              </a:rPr>
              <a:t>ana@ejemplo.cl</a:t>
            </a:r>
            <a:endParaRPr lang="en-US" sz="1060" dirty="0"/>
          </a:p>
        </p:txBody>
      </p:sp>
      <p:sp>
        <p:nvSpPr>
          <p:cNvPr id="23" name="Shape 20"/>
          <p:cNvSpPr/>
          <p:nvPr/>
        </p:nvSpPr>
        <p:spPr>
          <a:xfrm>
            <a:off x="658368" y="3511296"/>
            <a:ext cx="1737360" cy="402336"/>
          </a:xfrm>
          <a:prstGeom prst="rect">
            <a:avLst/>
          </a:prstGeom>
          <a:solidFill>
            <a:srgbClr val="1D3A57"/>
          </a:solidFill>
          <a:ln w="12700">
            <a:solidFill>
              <a:srgbClr val="1D3A57"/>
            </a:solidFill>
            <a:prstDash val="solid"/>
          </a:ln>
        </p:spPr>
      </p:sp>
      <p:sp>
        <p:nvSpPr>
          <p:cNvPr id="24" name="Text 21"/>
          <p:cNvSpPr txBox="1"/>
          <p:nvPr/>
        </p:nvSpPr>
        <p:spPr>
          <a:xfrm>
            <a:off x="786384" y="3584448"/>
            <a:ext cx="1554480" cy="256032"/>
          </a:xfrm>
          <a:prstGeom prst="rect">
            <a:avLst/>
          </a:prstGeom>
          <a:noFill/>
          <a:ln/>
        </p:spPr>
        <p:txBody>
          <a:bodyPr wrap="square" lIns="0" tIns="0" rIns="0" bIns="0" rtlCol="0" anchor="ctr"/>
          <a:lstStyle/>
          <a:p>
            <a:pPr algn="l" indent="0" marL="0">
              <a:buNone/>
            </a:pPr>
            <a:r>
              <a:rPr lang="en-US" sz="1000" dirty="0">
                <a:solidFill>
                  <a:srgbClr val="FFFFFF"/>
                </a:solidFill>
                <a:latin typeface="Consolas" pitchFamily="34" charset="0"/>
                <a:ea typeface="Consolas" pitchFamily="34" charset="-122"/>
                <a:cs typeface="Consolas" pitchFamily="34" charset="-120"/>
              </a:rPr>
              <a:t>bloque</a:t>
            </a:r>
            <a:endParaRPr lang="en-US" sz="1000" dirty="0"/>
          </a:p>
        </p:txBody>
      </p:sp>
      <p:sp>
        <p:nvSpPr>
          <p:cNvPr id="25" name="Shape 22"/>
          <p:cNvSpPr/>
          <p:nvPr/>
        </p:nvSpPr>
        <p:spPr>
          <a:xfrm>
            <a:off x="2432304" y="3511296"/>
            <a:ext cx="2157984" cy="402336"/>
          </a:xfrm>
          <a:prstGeom prst="rect">
            <a:avLst/>
          </a:prstGeom>
          <a:solidFill>
            <a:srgbClr val="FFFFFF"/>
          </a:solidFill>
          <a:ln w="12700">
            <a:solidFill>
              <a:srgbClr val="FFFFFF"/>
            </a:solidFill>
            <a:prstDash val="solid"/>
          </a:ln>
        </p:spPr>
      </p:sp>
      <p:sp>
        <p:nvSpPr>
          <p:cNvPr id="26" name="Text 23"/>
          <p:cNvSpPr txBox="1"/>
          <p:nvPr/>
        </p:nvSpPr>
        <p:spPr>
          <a:xfrm>
            <a:off x="2578608" y="3584448"/>
            <a:ext cx="1828800" cy="256032"/>
          </a:xfrm>
          <a:prstGeom prst="rect">
            <a:avLst/>
          </a:prstGeom>
          <a:noFill/>
          <a:ln/>
        </p:spPr>
        <p:txBody>
          <a:bodyPr wrap="square" lIns="0" tIns="0" rIns="0" bIns="0" rtlCol="0" anchor="ctr"/>
          <a:lstStyle/>
          <a:p>
            <a:pPr algn="l" indent="0" marL="0">
              <a:buNone/>
            </a:pPr>
            <a:r>
              <a:rPr lang="en-US" sz="1060" dirty="0">
                <a:solidFill>
                  <a:srgbClr val="52606D"/>
                </a:solidFill>
                <a:latin typeface="Consolas" pitchFamily="34" charset="0"/>
                <a:ea typeface="Consolas" pitchFamily="34" charset="-122"/>
                <a:cs typeface="Consolas" pitchFamily="34" charset="-120"/>
              </a:rPr>
              <a:t>4</a:t>
            </a:r>
            <a:endParaRPr lang="en-US" sz="1060" dirty="0"/>
          </a:p>
        </p:txBody>
      </p:sp>
      <p:sp>
        <p:nvSpPr>
          <p:cNvPr id="27" name="Text 24"/>
          <p:cNvSpPr txBox="1"/>
          <p:nvPr/>
        </p:nvSpPr>
        <p:spPr>
          <a:xfrm>
            <a:off x="658368" y="4023360"/>
            <a:ext cx="3931920"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En rojo, los datos que identifican a una persona.</a:t>
            </a:r>
            <a:endParaRPr lang="en-US" sz="980" dirty="0"/>
          </a:p>
        </p:txBody>
      </p:sp>
      <p:sp>
        <p:nvSpPr>
          <p:cNvPr id="28" name="Shape 25"/>
          <p:cNvSpPr/>
          <p:nvPr/>
        </p:nvSpPr>
        <p:spPr>
          <a:xfrm>
            <a:off x="4956048" y="1773936"/>
            <a:ext cx="6577279" cy="1737360"/>
          </a:xfrm>
          <a:prstGeom prst="rect">
            <a:avLst/>
          </a:prstGeom>
          <a:solidFill>
            <a:srgbClr val="EDE6DA"/>
          </a:solidFill>
          <a:ln w="12700">
            <a:solidFill>
              <a:srgbClr val="EDE6DA"/>
            </a:solidFill>
            <a:prstDash val="solid"/>
          </a:ln>
        </p:spPr>
      </p:sp>
      <p:sp>
        <p:nvSpPr>
          <p:cNvPr id="29" name="Shape 26"/>
          <p:cNvSpPr/>
          <p:nvPr/>
        </p:nvSpPr>
        <p:spPr>
          <a:xfrm>
            <a:off x="4956048" y="1773936"/>
            <a:ext cx="54864" cy="1737360"/>
          </a:xfrm>
          <a:prstGeom prst="rect">
            <a:avLst/>
          </a:prstGeom>
          <a:solidFill>
            <a:srgbClr val="B3181E"/>
          </a:solidFill>
          <a:ln w="12700">
            <a:solidFill>
              <a:srgbClr val="B3181E"/>
            </a:solidFill>
            <a:prstDash val="solid"/>
          </a:ln>
        </p:spPr>
      </p:sp>
      <p:sp>
        <p:nvSpPr>
          <p:cNvPr id="30" name="Text 27"/>
          <p:cNvSpPr txBox="1"/>
          <p:nvPr/>
        </p:nvSpPr>
        <p:spPr>
          <a:xfrm>
            <a:off x="5212080" y="1901952"/>
            <a:ext cx="6065215" cy="1298448"/>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«f) Principio de seguridad. En el tratamiento de los datos personales, el responsable debe garantizar estándares adecuados de seguridad, protegiéndolos contra el tratamiento no autorizado o ilícito, y contra su pérdida, filtración, daño accidental o destrucción.»</a:t>
            </a:r>
            <a:endParaRPr lang="en-US" sz="1180" dirty="0"/>
          </a:p>
        </p:txBody>
      </p:sp>
      <p:sp>
        <p:nvSpPr>
          <p:cNvPr id="31" name="Text 28"/>
          <p:cNvSpPr txBox="1"/>
          <p:nvPr/>
        </p:nvSpPr>
        <p:spPr>
          <a:xfrm>
            <a:off x="5212080" y="3236976"/>
            <a:ext cx="606521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Ley 21.719, artículo 3°, letra f</a:t>
            </a:r>
            <a:endParaRPr lang="en-US" sz="900" dirty="0"/>
          </a:p>
        </p:txBody>
      </p:sp>
      <p:sp>
        <p:nvSpPr>
          <p:cNvPr id="32" name="Shape 29"/>
          <p:cNvSpPr/>
          <p:nvPr/>
        </p:nvSpPr>
        <p:spPr>
          <a:xfrm>
            <a:off x="4956048" y="3657600"/>
            <a:ext cx="6577279" cy="603504"/>
          </a:xfrm>
          <a:prstGeom prst="rect">
            <a:avLst/>
          </a:prstGeom>
          <a:solidFill>
            <a:srgbClr val="FFFFFF"/>
          </a:solidFill>
          <a:ln w="12700">
            <a:solidFill>
              <a:srgbClr val="FFFFFF"/>
            </a:solidFill>
            <a:prstDash val="solid"/>
          </a:ln>
        </p:spPr>
      </p:sp>
      <p:sp>
        <p:nvSpPr>
          <p:cNvPr id="33" name="Shape 30"/>
          <p:cNvSpPr/>
          <p:nvPr/>
        </p:nvSpPr>
        <p:spPr>
          <a:xfrm>
            <a:off x="4956048" y="3657600"/>
            <a:ext cx="54864" cy="603504"/>
          </a:xfrm>
          <a:prstGeom prst="rect">
            <a:avLst/>
          </a:prstGeom>
          <a:solidFill>
            <a:srgbClr val="102A43"/>
          </a:solidFill>
          <a:ln w="12700">
            <a:solidFill>
              <a:srgbClr val="102A43"/>
            </a:solidFill>
            <a:prstDash val="solid"/>
          </a:ln>
        </p:spPr>
      </p:sp>
      <p:sp>
        <p:nvSpPr>
          <p:cNvPr id="34" name="Text 31"/>
          <p:cNvSpPr txBox="1"/>
          <p:nvPr/>
        </p:nvSpPr>
        <p:spPr>
          <a:xfrm>
            <a:off x="5175504" y="3712464"/>
            <a:ext cx="6211519" cy="493776"/>
          </a:xfrm>
          <a:prstGeom prst="rect">
            <a:avLst/>
          </a:prstGeom>
          <a:noFill/>
          <a:ln/>
        </p:spPr>
        <p:txBody>
          <a:bodyPr wrap="square" lIns="0" tIns="0" rIns="0" bIns="0" rtlCol="0" anchor="ctr"/>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Responsable: quien decide para qué y cómo se tratan los datos. Aquí, la institución que opera el sistema de reservas.</a:t>
            </a:r>
            <a:endParaRPr lang="en-US" sz="1080" dirty="0"/>
          </a:p>
        </p:txBody>
      </p:sp>
      <p:sp>
        <p:nvSpPr>
          <p:cNvPr id="35" name="Shape 32"/>
          <p:cNvSpPr/>
          <p:nvPr/>
        </p:nvSpPr>
        <p:spPr>
          <a:xfrm>
            <a:off x="658368" y="4480560"/>
            <a:ext cx="10874959" cy="914400"/>
          </a:xfrm>
          <a:prstGeom prst="rect">
            <a:avLst/>
          </a:prstGeom>
          <a:solidFill>
            <a:srgbClr val="1D3A57"/>
          </a:solidFill>
          <a:ln w="12700">
            <a:solidFill>
              <a:srgbClr val="1D3A57"/>
            </a:solidFill>
            <a:prstDash val="solid"/>
          </a:ln>
        </p:spPr>
      </p:sp>
      <p:sp>
        <p:nvSpPr>
          <p:cNvPr id="36" name="Text 33"/>
          <p:cNvSpPr txBox="1"/>
          <p:nvPr/>
        </p:nvSpPr>
        <p:spPr>
          <a:xfrm>
            <a:off x="969264" y="4553712"/>
            <a:ext cx="10253167" cy="768096"/>
          </a:xfrm>
          <a:prstGeom prst="rect">
            <a:avLst/>
          </a:prstGeom>
          <a:noFill/>
          <a:ln/>
        </p:spPr>
        <p:txBody>
          <a:bodyPr wrap="square" lIns="0" tIns="0" rIns="0" bIns="0" rtlCol="0" anchor="ctr"/>
          <a:lstStyle/>
          <a:p>
            <a:pPr algn="l" indent="0" marL="0">
              <a:lnSpc>
                <a:spcPct val="112000"/>
              </a:lnSpc>
              <a:buNone/>
            </a:pPr>
            <a:r>
              <a:rPr lang="en-US" sz="1220" dirty="0">
                <a:solidFill>
                  <a:srgbClr val="FFFFFF"/>
                </a:solidFill>
                <a:latin typeface="Aptos" pitchFamily="34" charset="0"/>
                <a:ea typeface="Aptos" pitchFamily="34" charset="-122"/>
                <a:cs typeface="Aptos" pitchFamily="34" charset="-120"/>
              </a:rPr>
              <a:t>Tres fuentes, una misma pregunta: ¿puede alguien ver, cambiar o usar lo que no le corresponde? Hoy se contesta con pruebas, con herramientas y, al final, con lo que la ley pide cuando la respuesta es sí.</a:t>
            </a:r>
            <a:endParaRPr lang="en-US" sz="1220" dirty="0"/>
          </a:p>
        </p:txBody>
      </p:sp>
      <p:sp>
        <p:nvSpPr>
          <p:cNvPr id="37" name="Shape 34"/>
          <p:cNvSpPr/>
          <p:nvPr/>
        </p:nvSpPr>
        <p:spPr>
          <a:xfrm>
            <a:off x="658368" y="5650992"/>
            <a:ext cx="10874959" cy="548640"/>
          </a:xfrm>
          <a:prstGeom prst="rect">
            <a:avLst/>
          </a:prstGeom>
          <a:solidFill>
            <a:srgbClr val="102A43"/>
          </a:solidFill>
          <a:ln w="12700">
            <a:solidFill>
              <a:srgbClr val="102A43"/>
            </a:solidFill>
            <a:prstDash val="solid"/>
          </a:ln>
        </p:spPr>
      </p:sp>
      <p:sp>
        <p:nvSpPr>
          <p:cNvPr id="38" name="Text 3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seguridad no es solo una característica de calidad: es una obligación legal.</a:t>
            </a:r>
            <a:endParaRPr lang="en-US" sz="13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PRUEBA DE SEGURIDAD</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Cambia quién actúa</a:t>
            </a:r>
            <a:endParaRPr lang="en-US" sz="3000" dirty="0"/>
          </a:p>
        </p:txBody>
      </p:sp>
      <p:sp>
        <p:nvSpPr>
          <p:cNvPr id="10" name="Text 7"/>
          <p:cNvSpPr txBox="1"/>
          <p:nvPr/>
        </p:nvSpPr>
        <p:spPr>
          <a:xfrm>
            <a:off x="2761488" y="1773936"/>
            <a:ext cx="2802026"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PREPARA</a:t>
            </a:r>
            <a:endParaRPr lang="en-US" sz="960" dirty="0"/>
          </a:p>
        </p:txBody>
      </p:sp>
      <p:sp>
        <p:nvSpPr>
          <p:cNvPr id="11" name="Text 8"/>
          <p:cNvSpPr txBox="1"/>
          <p:nvPr/>
        </p:nvSpPr>
        <p:spPr>
          <a:xfrm>
            <a:off x="5746394" y="1773936"/>
            <a:ext cx="2802026"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ACTÚA</a:t>
            </a:r>
            <a:endParaRPr lang="en-US" sz="960" dirty="0"/>
          </a:p>
        </p:txBody>
      </p:sp>
      <p:sp>
        <p:nvSpPr>
          <p:cNvPr id="12" name="Text 9"/>
          <p:cNvSpPr txBox="1"/>
          <p:nvPr/>
        </p:nvSpPr>
        <p:spPr>
          <a:xfrm>
            <a:off x="8731301" y="1773936"/>
            <a:ext cx="2802026"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AFIRMA</a:t>
            </a:r>
            <a:endParaRPr lang="en-US" sz="960" dirty="0"/>
          </a:p>
        </p:txBody>
      </p:sp>
      <p:sp>
        <p:nvSpPr>
          <p:cNvPr id="13" name="Shape 10"/>
          <p:cNvSpPr/>
          <p:nvPr/>
        </p:nvSpPr>
        <p:spPr>
          <a:xfrm>
            <a:off x="658368" y="2103120"/>
            <a:ext cx="1956816" cy="1005840"/>
          </a:xfrm>
          <a:prstGeom prst="rect">
            <a:avLst/>
          </a:prstGeom>
          <a:solidFill>
            <a:srgbClr val="2E7D4F"/>
          </a:solidFill>
          <a:ln w="12700">
            <a:solidFill>
              <a:srgbClr val="2E7D4F"/>
            </a:solidFill>
            <a:prstDash val="solid"/>
          </a:ln>
        </p:spPr>
      </p:sp>
      <p:sp>
        <p:nvSpPr>
          <p:cNvPr id="14" name="Text 11"/>
          <p:cNvSpPr txBox="1"/>
          <p:nvPr/>
        </p:nvSpPr>
        <p:spPr>
          <a:xfrm>
            <a:off x="822960" y="2194560"/>
            <a:ext cx="1645920" cy="822960"/>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Prueba funcional</a:t>
            </a:r>
            <a:endParaRPr lang="en-US" sz="1300" dirty="0"/>
          </a:p>
        </p:txBody>
      </p:sp>
      <p:sp>
        <p:nvSpPr>
          <p:cNvPr id="15" name="Shape 12"/>
          <p:cNvSpPr/>
          <p:nvPr/>
        </p:nvSpPr>
        <p:spPr>
          <a:xfrm>
            <a:off x="2761488" y="2103120"/>
            <a:ext cx="2802026" cy="1005840"/>
          </a:xfrm>
          <a:prstGeom prst="rect">
            <a:avLst/>
          </a:prstGeom>
          <a:solidFill>
            <a:srgbClr val="FFFFFF"/>
          </a:solidFill>
          <a:ln w="12700">
            <a:solidFill>
              <a:srgbClr val="FFFFFF"/>
            </a:solidFill>
            <a:prstDash val="solid"/>
          </a:ln>
        </p:spPr>
      </p:sp>
      <p:sp>
        <p:nvSpPr>
          <p:cNvPr id="16" name="Text 13"/>
          <p:cNvSpPr txBox="1"/>
          <p:nvPr/>
        </p:nvSpPr>
        <p:spPr>
          <a:xfrm>
            <a:off x="2944368" y="2212848"/>
            <a:ext cx="2436266" cy="786384"/>
          </a:xfrm>
          <a:prstGeom prst="rect">
            <a:avLst/>
          </a:prstGeom>
          <a:noFill/>
          <a:ln/>
        </p:spPr>
        <p:txBody>
          <a:bodyPr wrap="square" lIns="0" tIns="0" rIns="0" bIns="0" rtlCol="0" anchor="ctr"/>
          <a:lstStyle/>
          <a:p>
            <a:pPr algn="l" indent="0" marL="0">
              <a:lnSpc>
                <a:spcPct val="108000"/>
              </a:lnSpc>
              <a:buNone/>
            </a:pPr>
            <a:r>
              <a:rPr lang="en-US" sz="1220" dirty="0">
                <a:solidFill>
                  <a:srgbClr val="243B53"/>
                </a:solidFill>
                <a:latin typeface="Aptos" pitchFamily="34" charset="0"/>
                <a:ea typeface="Aptos" pitchFamily="34" charset="-122"/>
                <a:cs typeface="Aptos" pitchFamily="34" charset="-120"/>
              </a:rPr>
              <a:t>Una base vacía</a:t>
            </a:r>
            <a:endParaRPr lang="en-US" sz="1220" dirty="0"/>
          </a:p>
        </p:txBody>
      </p:sp>
      <p:sp>
        <p:nvSpPr>
          <p:cNvPr id="17" name="Shape 14"/>
          <p:cNvSpPr/>
          <p:nvPr/>
        </p:nvSpPr>
        <p:spPr>
          <a:xfrm>
            <a:off x="5581802" y="2606040"/>
            <a:ext cx="146304" cy="0"/>
          </a:xfrm>
          <a:prstGeom prst="line">
            <a:avLst/>
          </a:prstGeom>
          <a:noFill/>
          <a:ln w="12700">
            <a:solidFill>
              <a:srgbClr val="52606D"/>
            </a:solidFill>
            <a:prstDash val="solid"/>
            <a:headEnd type="none"/>
            <a:tailEnd type="triangle"/>
          </a:ln>
        </p:spPr>
      </p:sp>
      <p:sp>
        <p:nvSpPr>
          <p:cNvPr id="18" name="Shape 15"/>
          <p:cNvSpPr/>
          <p:nvPr/>
        </p:nvSpPr>
        <p:spPr>
          <a:xfrm>
            <a:off x="5746394" y="2103120"/>
            <a:ext cx="2802026" cy="1005840"/>
          </a:xfrm>
          <a:prstGeom prst="rect">
            <a:avLst/>
          </a:prstGeom>
          <a:solidFill>
            <a:srgbClr val="FFFFFF"/>
          </a:solidFill>
          <a:ln w="12700">
            <a:solidFill>
              <a:srgbClr val="FFFFFF"/>
            </a:solidFill>
            <a:prstDash val="solid"/>
          </a:ln>
        </p:spPr>
      </p:sp>
      <p:sp>
        <p:nvSpPr>
          <p:cNvPr id="19" name="Text 16"/>
          <p:cNvSpPr txBox="1"/>
          <p:nvPr/>
        </p:nvSpPr>
        <p:spPr>
          <a:xfrm>
            <a:off x="5929274" y="2212848"/>
            <a:ext cx="2436266" cy="786384"/>
          </a:xfrm>
          <a:prstGeom prst="rect">
            <a:avLst/>
          </a:prstGeom>
          <a:noFill/>
          <a:ln/>
        </p:spPr>
        <p:txBody>
          <a:bodyPr wrap="square" lIns="0" tIns="0" rIns="0" bIns="0" rtlCol="0" anchor="ctr"/>
          <a:lstStyle/>
          <a:p>
            <a:pPr algn="l" indent="0" marL="0">
              <a:lnSpc>
                <a:spcPct val="108000"/>
              </a:lnSpc>
              <a:buNone/>
            </a:pPr>
            <a:r>
              <a:rPr lang="en-US" sz="1220" dirty="0">
                <a:solidFill>
                  <a:srgbClr val="243B53"/>
                </a:solidFill>
                <a:latin typeface="Aptos" pitchFamily="34" charset="0"/>
                <a:ea typeface="Aptos" pitchFamily="34" charset="-122"/>
                <a:cs typeface="Aptos" pitchFamily="34" charset="-120"/>
              </a:rPr>
              <a:t>Ana reserva el bloque 4, como corresponde</a:t>
            </a:r>
            <a:endParaRPr lang="en-US" sz="1220" dirty="0"/>
          </a:p>
        </p:txBody>
      </p:sp>
      <p:sp>
        <p:nvSpPr>
          <p:cNvPr id="20" name="Shape 17"/>
          <p:cNvSpPr/>
          <p:nvPr/>
        </p:nvSpPr>
        <p:spPr>
          <a:xfrm>
            <a:off x="8566709" y="2606040"/>
            <a:ext cx="146304" cy="0"/>
          </a:xfrm>
          <a:prstGeom prst="line">
            <a:avLst/>
          </a:prstGeom>
          <a:noFill/>
          <a:ln w="12700">
            <a:solidFill>
              <a:srgbClr val="52606D"/>
            </a:solidFill>
            <a:prstDash val="solid"/>
            <a:headEnd type="none"/>
            <a:tailEnd type="triangle"/>
          </a:ln>
        </p:spPr>
      </p:sp>
      <p:sp>
        <p:nvSpPr>
          <p:cNvPr id="21" name="Shape 18"/>
          <p:cNvSpPr/>
          <p:nvPr/>
        </p:nvSpPr>
        <p:spPr>
          <a:xfrm>
            <a:off x="8731301" y="2103120"/>
            <a:ext cx="2802026" cy="1005840"/>
          </a:xfrm>
          <a:prstGeom prst="rect">
            <a:avLst/>
          </a:prstGeom>
          <a:solidFill>
            <a:srgbClr val="FFFFFF"/>
          </a:solidFill>
          <a:ln w="12700">
            <a:solidFill>
              <a:srgbClr val="FFFFFF"/>
            </a:solidFill>
            <a:prstDash val="solid"/>
          </a:ln>
        </p:spPr>
      </p:sp>
      <p:sp>
        <p:nvSpPr>
          <p:cNvPr id="22" name="Text 19"/>
          <p:cNvSpPr txBox="1"/>
          <p:nvPr/>
        </p:nvSpPr>
        <p:spPr>
          <a:xfrm>
            <a:off x="8914181" y="2212848"/>
            <a:ext cx="2436266" cy="786384"/>
          </a:xfrm>
          <a:prstGeom prst="rect">
            <a:avLst/>
          </a:prstGeom>
          <a:noFill/>
          <a:ln/>
        </p:spPr>
        <p:txBody>
          <a:bodyPr wrap="square" lIns="0" tIns="0" rIns="0" bIns="0" rtlCol="0" anchor="ctr"/>
          <a:lstStyle/>
          <a:p>
            <a:pPr algn="l" indent="0" marL="0">
              <a:lnSpc>
                <a:spcPct val="108000"/>
              </a:lnSpc>
              <a:buNone/>
            </a:pPr>
            <a:r>
              <a:rPr lang="en-US" sz="1220" dirty="0">
                <a:solidFill>
                  <a:srgbClr val="243B53"/>
                </a:solidFill>
                <a:latin typeface="Aptos" pitchFamily="34" charset="0"/>
                <a:ea typeface="Aptos" pitchFamily="34" charset="-122"/>
                <a:cs typeface="Aptos" pitchFamily="34" charset="-120"/>
              </a:rPr>
              <a:t>El sistema acepta: 201</a:t>
            </a:r>
            <a:endParaRPr lang="en-US" sz="1220" dirty="0"/>
          </a:p>
        </p:txBody>
      </p:sp>
      <p:sp>
        <p:nvSpPr>
          <p:cNvPr id="23" name="Shape 20"/>
          <p:cNvSpPr/>
          <p:nvPr/>
        </p:nvSpPr>
        <p:spPr>
          <a:xfrm>
            <a:off x="658368" y="3291840"/>
            <a:ext cx="1956816" cy="1005840"/>
          </a:xfrm>
          <a:prstGeom prst="rect">
            <a:avLst/>
          </a:prstGeom>
          <a:solidFill>
            <a:srgbClr val="B3181E"/>
          </a:solidFill>
          <a:ln w="12700">
            <a:solidFill>
              <a:srgbClr val="B3181E"/>
            </a:solidFill>
            <a:prstDash val="solid"/>
          </a:ln>
        </p:spPr>
      </p:sp>
      <p:sp>
        <p:nvSpPr>
          <p:cNvPr id="24" name="Text 21"/>
          <p:cNvSpPr txBox="1"/>
          <p:nvPr/>
        </p:nvSpPr>
        <p:spPr>
          <a:xfrm>
            <a:off x="822960" y="3383280"/>
            <a:ext cx="1645920" cy="822960"/>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Prueba de seguridad</a:t>
            </a:r>
            <a:endParaRPr lang="en-US" sz="1300" dirty="0"/>
          </a:p>
        </p:txBody>
      </p:sp>
      <p:sp>
        <p:nvSpPr>
          <p:cNvPr id="25" name="Shape 22"/>
          <p:cNvSpPr/>
          <p:nvPr/>
        </p:nvSpPr>
        <p:spPr>
          <a:xfrm>
            <a:off x="2761488" y="3291840"/>
            <a:ext cx="2802026" cy="1005840"/>
          </a:xfrm>
          <a:prstGeom prst="rect">
            <a:avLst/>
          </a:prstGeom>
          <a:solidFill>
            <a:srgbClr val="FFFFFF"/>
          </a:solidFill>
          <a:ln w="12700">
            <a:solidFill>
              <a:srgbClr val="FFFFFF"/>
            </a:solidFill>
            <a:prstDash val="solid"/>
          </a:ln>
        </p:spPr>
      </p:sp>
      <p:sp>
        <p:nvSpPr>
          <p:cNvPr id="26" name="Text 23"/>
          <p:cNvSpPr txBox="1"/>
          <p:nvPr/>
        </p:nvSpPr>
        <p:spPr>
          <a:xfrm>
            <a:off x="2944368" y="3401568"/>
            <a:ext cx="2436266" cy="786384"/>
          </a:xfrm>
          <a:prstGeom prst="rect">
            <a:avLst/>
          </a:prstGeom>
          <a:noFill/>
          <a:ln/>
        </p:spPr>
        <p:txBody>
          <a:bodyPr wrap="square" lIns="0" tIns="0" rIns="0" bIns="0" rtlCol="0" anchor="ctr"/>
          <a:lstStyle/>
          <a:p>
            <a:pPr algn="l" indent="0" marL="0">
              <a:lnSpc>
                <a:spcPct val="108000"/>
              </a:lnSpc>
              <a:buNone/>
            </a:pPr>
            <a:r>
              <a:rPr lang="en-US" sz="1220" dirty="0">
                <a:solidFill>
                  <a:srgbClr val="243B53"/>
                </a:solidFill>
                <a:latin typeface="Aptos" pitchFamily="34" charset="0"/>
                <a:ea typeface="Aptos" pitchFamily="34" charset="-122"/>
                <a:cs typeface="Aptos" pitchFamily="34" charset="-120"/>
              </a:rPr>
              <a:t>Una base vacía</a:t>
            </a:r>
            <a:endParaRPr lang="en-US" sz="1220" dirty="0"/>
          </a:p>
        </p:txBody>
      </p:sp>
      <p:sp>
        <p:nvSpPr>
          <p:cNvPr id="27" name="Shape 24"/>
          <p:cNvSpPr/>
          <p:nvPr/>
        </p:nvSpPr>
        <p:spPr>
          <a:xfrm>
            <a:off x="5581802" y="3794760"/>
            <a:ext cx="146304" cy="0"/>
          </a:xfrm>
          <a:prstGeom prst="line">
            <a:avLst/>
          </a:prstGeom>
          <a:noFill/>
          <a:ln w="12700">
            <a:solidFill>
              <a:srgbClr val="52606D"/>
            </a:solidFill>
            <a:prstDash val="solid"/>
            <a:headEnd type="none"/>
            <a:tailEnd type="triangle"/>
          </a:ln>
        </p:spPr>
      </p:sp>
      <p:sp>
        <p:nvSpPr>
          <p:cNvPr id="28" name="Shape 25"/>
          <p:cNvSpPr/>
          <p:nvPr/>
        </p:nvSpPr>
        <p:spPr>
          <a:xfrm>
            <a:off x="5746394" y="3291840"/>
            <a:ext cx="2802026" cy="1005840"/>
          </a:xfrm>
          <a:prstGeom prst="rect">
            <a:avLst/>
          </a:prstGeom>
          <a:solidFill>
            <a:srgbClr val="F2E7D9"/>
          </a:solidFill>
          <a:ln w="12700">
            <a:solidFill>
              <a:srgbClr val="F2E7D9"/>
            </a:solidFill>
            <a:prstDash val="solid"/>
          </a:ln>
        </p:spPr>
      </p:sp>
      <p:sp>
        <p:nvSpPr>
          <p:cNvPr id="29" name="Shape 26"/>
          <p:cNvSpPr/>
          <p:nvPr/>
        </p:nvSpPr>
        <p:spPr>
          <a:xfrm>
            <a:off x="5746394" y="3291840"/>
            <a:ext cx="2802026" cy="54864"/>
          </a:xfrm>
          <a:prstGeom prst="rect">
            <a:avLst/>
          </a:prstGeom>
          <a:solidFill>
            <a:srgbClr val="B3181E"/>
          </a:solidFill>
          <a:ln w="12700">
            <a:solidFill>
              <a:srgbClr val="B3181E"/>
            </a:solidFill>
            <a:prstDash val="solid"/>
          </a:ln>
        </p:spPr>
      </p:sp>
      <p:sp>
        <p:nvSpPr>
          <p:cNvPr id="30" name="Text 27"/>
          <p:cNvSpPr txBox="1"/>
          <p:nvPr/>
        </p:nvSpPr>
        <p:spPr>
          <a:xfrm>
            <a:off x="5929274" y="3401568"/>
            <a:ext cx="2436266" cy="786384"/>
          </a:xfrm>
          <a:prstGeom prst="rect">
            <a:avLst/>
          </a:prstGeom>
          <a:noFill/>
          <a:ln/>
        </p:spPr>
        <p:txBody>
          <a:bodyPr wrap="square" lIns="0" tIns="0" rIns="0" bIns="0" rtlCol="0" anchor="ctr"/>
          <a:lstStyle/>
          <a:p>
            <a:pPr algn="l" indent="0" marL="0">
              <a:lnSpc>
                <a:spcPct val="108000"/>
              </a:lnSpc>
              <a:buNone/>
            </a:pPr>
            <a:r>
              <a:rPr lang="en-US" sz="1220" b="1" dirty="0">
                <a:solidFill>
                  <a:srgbClr val="243B53"/>
                </a:solidFill>
                <a:latin typeface="Aptos" pitchFamily="34" charset="0"/>
                <a:ea typeface="Aptos" pitchFamily="34" charset="-122"/>
                <a:cs typeface="Aptos" pitchFamily="34" charset="-120"/>
              </a:rPr>
              <a:t>Alguien intenta lo que no debería poder hacer</a:t>
            </a:r>
            <a:endParaRPr lang="en-US" sz="1220" dirty="0"/>
          </a:p>
        </p:txBody>
      </p:sp>
      <p:sp>
        <p:nvSpPr>
          <p:cNvPr id="31" name="Shape 28"/>
          <p:cNvSpPr/>
          <p:nvPr/>
        </p:nvSpPr>
        <p:spPr>
          <a:xfrm>
            <a:off x="8566709" y="3794760"/>
            <a:ext cx="146304" cy="0"/>
          </a:xfrm>
          <a:prstGeom prst="line">
            <a:avLst/>
          </a:prstGeom>
          <a:noFill/>
          <a:ln w="12700">
            <a:solidFill>
              <a:srgbClr val="52606D"/>
            </a:solidFill>
            <a:prstDash val="solid"/>
            <a:headEnd type="none"/>
            <a:tailEnd type="triangle"/>
          </a:ln>
        </p:spPr>
      </p:sp>
      <p:sp>
        <p:nvSpPr>
          <p:cNvPr id="32" name="Shape 29"/>
          <p:cNvSpPr/>
          <p:nvPr/>
        </p:nvSpPr>
        <p:spPr>
          <a:xfrm>
            <a:off x="8731301" y="3291840"/>
            <a:ext cx="2802026" cy="1005840"/>
          </a:xfrm>
          <a:prstGeom prst="rect">
            <a:avLst/>
          </a:prstGeom>
          <a:solidFill>
            <a:srgbClr val="FFFFFF"/>
          </a:solidFill>
          <a:ln w="12700">
            <a:solidFill>
              <a:srgbClr val="FFFFFF"/>
            </a:solidFill>
            <a:prstDash val="solid"/>
          </a:ln>
        </p:spPr>
      </p:sp>
      <p:sp>
        <p:nvSpPr>
          <p:cNvPr id="33" name="Text 30"/>
          <p:cNvSpPr txBox="1"/>
          <p:nvPr/>
        </p:nvSpPr>
        <p:spPr>
          <a:xfrm>
            <a:off x="8914181" y="3401568"/>
            <a:ext cx="2436266" cy="786384"/>
          </a:xfrm>
          <a:prstGeom prst="rect">
            <a:avLst/>
          </a:prstGeom>
          <a:noFill/>
          <a:ln/>
        </p:spPr>
        <p:txBody>
          <a:bodyPr wrap="square" lIns="0" tIns="0" rIns="0" bIns="0" rtlCol="0" anchor="ctr"/>
          <a:lstStyle/>
          <a:p>
            <a:pPr algn="l" indent="0" marL="0">
              <a:lnSpc>
                <a:spcPct val="108000"/>
              </a:lnSpc>
              <a:buNone/>
            </a:pPr>
            <a:r>
              <a:rPr lang="en-US" sz="1220" dirty="0">
                <a:solidFill>
                  <a:srgbClr val="243B53"/>
                </a:solidFill>
                <a:latin typeface="Aptos" pitchFamily="34" charset="0"/>
                <a:ea typeface="Aptos" pitchFamily="34" charset="-122"/>
                <a:cs typeface="Aptos" pitchFamily="34" charset="-120"/>
              </a:rPr>
              <a:t>El sistema no lo permite</a:t>
            </a:r>
            <a:endParaRPr lang="en-US" sz="1220" dirty="0"/>
          </a:p>
        </p:txBody>
      </p:sp>
      <p:sp>
        <p:nvSpPr>
          <p:cNvPr id="34" name="Text 31"/>
          <p:cNvSpPr txBox="1"/>
          <p:nvPr/>
        </p:nvSpPr>
        <p:spPr>
          <a:xfrm>
            <a:off x="658368" y="4590288"/>
            <a:ext cx="365760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Hoy se prueban dos intentos:</a:t>
            </a:r>
            <a:endParaRPr lang="en-US" sz="1200" dirty="0"/>
          </a:p>
        </p:txBody>
      </p:sp>
      <p:sp>
        <p:nvSpPr>
          <p:cNvPr id="35" name="Shape 32"/>
          <p:cNvSpPr/>
          <p:nvPr/>
        </p:nvSpPr>
        <p:spPr>
          <a:xfrm>
            <a:off x="658368" y="4901184"/>
            <a:ext cx="5346040" cy="512064"/>
          </a:xfrm>
          <a:prstGeom prst="rect">
            <a:avLst/>
          </a:prstGeom>
          <a:solidFill>
            <a:srgbClr val="F2E7D9"/>
          </a:solidFill>
          <a:ln w="12700">
            <a:solidFill>
              <a:srgbClr val="F2E7D9"/>
            </a:solidFill>
            <a:prstDash val="solid"/>
          </a:ln>
        </p:spPr>
      </p:sp>
      <p:sp>
        <p:nvSpPr>
          <p:cNvPr id="36" name="Shape 33"/>
          <p:cNvSpPr/>
          <p:nvPr/>
        </p:nvSpPr>
        <p:spPr>
          <a:xfrm>
            <a:off x="658368" y="4901184"/>
            <a:ext cx="54864" cy="512064"/>
          </a:xfrm>
          <a:prstGeom prst="rect">
            <a:avLst/>
          </a:prstGeom>
          <a:solidFill>
            <a:srgbClr val="B3181E"/>
          </a:solidFill>
          <a:ln w="12700">
            <a:solidFill>
              <a:srgbClr val="B3181E"/>
            </a:solidFill>
            <a:prstDash val="solid"/>
          </a:ln>
        </p:spPr>
      </p:sp>
      <p:sp>
        <p:nvSpPr>
          <p:cNvPr id="37" name="Text 34"/>
          <p:cNvSpPr txBox="1"/>
          <p:nvPr/>
        </p:nvSpPr>
        <p:spPr>
          <a:xfrm>
            <a:off x="877824" y="4974336"/>
            <a:ext cx="1645920" cy="365760"/>
          </a:xfrm>
          <a:prstGeom prst="rect">
            <a:avLst/>
          </a:prstGeom>
          <a:noFill/>
          <a:ln/>
        </p:spPr>
        <p:txBody>
          <a:bodyPr wrap="square" lIns="0" tIns="0" rIns="0" bIns="0" rtlCol="0" anchor="ctr"/>
          <a:lstStyle/>
          <a:p>
            <a:pPr algn="l" indent="0" marL="0">
              <a:buNone/>
            </a:pPr>
            <a:r>
              <a:rPr lang="en-US" sz="1260" b="1" dirty="0">
                <a:solidFill>
                  <a:srgbClr val="B3181E"/>
                </a:solidFill>
                <a:latin typeface="Aptos" pitchFamily="34" charset="0"/>
                <a:ea typeface="Aptos" pitchFamily="34" charset="-122"/>
                <a:cs typeface="Aptos" pitchFamily="34" charset="-120"/>
              </a:rPr>
              <a:t>Inyección</a:t>
            </a:r>
            <a:endParaRPr lang="en-US" sz="1260" dirty="0"/>
          </a:p>
        </p:txBody>
      </p:sp>
      <p:sp>
        <p:nvSpPr>
          <p:cNvPr id="38" name="Text 35"/>
          <p:cNvSpPr txBox="1"/>
          <p:nvPr/>
        </p:nvSpPr>
        <p:spPr>
          <a:xfrm>
            <a:off x="2487168" y="4974336"/>
            <a:ext cx="3334360" cy="365760"/>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escribir código SQL donde va un nombre</a:t>
            </a:r>
            <a:endParaRPr lang="en-US" sz="1160" dirty="0"/>
          </a:p>
        </p:txBody>
      </p:sp>
      <p:sp>
        <p:nvSpPr>
          <p:cNvPr id="39" name="Shape 36"/>
          <p:cNvSpPr/>
          <p:nvPr/>
        </p:nvSpPr>
        <p:spPr>
          <a:xfrm>
            <a:off x="6187288" y="4901184"/>
            <a:ext cx="5346040" cy="512064"/>
          </a:xfrm>
          <a:prstGeom prst="rect">
            <a:avLst/>
          </a:prstGeom>
          <a:solidFill>
            <a:srgbClr val="F2E7D9"/>
          </a:solidFill>
          <a:ln w="12700">
            <a:solidFill>
              <a:srgbClr val="F2E7D9"/>
            </a:solidFill>
            <a:prstDash val="solid"/>
          </a:ln>
        </p:spPr>
      </p:sp>
      <p:sp>
        <p:nvSpPr>
          <p:cNvPr id="40" name="Shape 37"/>
          <p:cNvSpPr/>
          <p:nvPr/>
        </p:nvSpPr>
        <p:spPr>
          <a:xfrm>
            <a:off x="6187288" y="4901184"/>
            <a:ext cx="54864" cy="512064"/>
          </a:xfrm>
          <a:prstGeom prst="rect">
            <a:avLst/>
          </a:prstGeom>
          <a:solidFill>
            <a:srgbClr val="B3181E"/>
          </a:solidFill>
          <a:ln w="12700">
            <a:solidFill>
              <a:srgbClr val="B3181E"/>
            </a:solidFill>
            <a:prstDash val="solid"/>
          </a:ln>
        </p:spPr>
      </p:sp>
      <p:sp>
        <p:nvSpPr>
          <p:cNvPr id="41" name="Text 38"/>
          <p:cNvSpPr txBox="1"/>
          <p:nvPr/>
        </p:nvSpPr>
        <p:spPr>
          <a:xfrm>
            <a:off x="6406744" y="4974336"/>
            <a:ext cx="1645920" cy="365760"/>
          </a:xfrm>
          <a:prstGeom prst="rect">
            <a:avLst/>
          </a:prstGeom>
          <a:noFill/>
          <a:ln/>
        </p:spPr>
        <p:txBody>
          <a:bodyPr wrap="square" lIns="0" tIns="0" rIns="0" bIns="0" rtlCol="0" anchor="ctr"/>
          <a:lstStyle/>
          <a:p>
            <a:pPr algn="l" indent="0" marL="0">
              <a:buNone/>
            </a:pPr>
            <a:r>
              <a:rPr lang="en-US" sz="1260" b="1" dirty="0">
                <a:solidFill>
                  <a:srgbClr val="B3181E"/>
                </a:solidFill>
                <a:latin typeface="Aptos" pitchFamily="34" charset="0"/>
                <a:ea typeface="Aptos" pitchFamily="34" charset="-122"/>
                <a:cs typeface="Aptos" pitchFamily="34" charset="-120"/>
              </a:rPr>
              <a:t>Suplantación</a:t>
            </a:r>
            <a:endParaRPr lang="en-US" sz="1260" dirty="0"/>
          </a:p>
        </p:txBody>
      </p:sp>
      <p:sp>
        <p:nvSpPr>
          <p:cNvPr id="42" name="Text 39"/>
          <p:cNvSpPr txBox="1"/>
          <p:nvPr/>
        </p:nvSpPr>
        <p:spPr>
          <a:xfrm>
            <a:off x="8016088" y="4974336"/>
            <a:ext cx="3334360" cy="365760"/>
          </a:xfrm>
          <a:prstGeom prst="rect">
            <a:avLst/>
          </a:prstGeom>
          <a:noFill/>
          <a:ln/>
        </p:spPr>
        <p:txBody>
          <a:bodyPr wrap="square" lIns="0" tIns="0" rIns="0" bIns="0" rtlCol="0" anchor="ctr"/>
          <a:lstStyle/>
          <a:p>
            <a:pPr algn="l" indent="0" marL="0">
              <a:buNone/>
            </a:pPr>
            <a:r>
              <a:rPr lang="en-US" sz="1160" dirty="0">
                <a:solidFill>
                  <a:srgbClr val="243B53"/>
                </a:solidFill>
                <a:latin typeface="Aptos" pitchFamily="34" charset="0"/>
                <a:ea typeface="Aptos" pitchFamily="34" charset="-122"/>
                <a:cs typeface="Aptos" pitchFamily="34" charset="-120"/>
              </a:rPr>
              <a:t>reservar con el RUT de otra persona</a:t>
            </a:r>
            <a:endParaRPr lang="en-US" sz="1160" dirty="0"/>
          </a:p>
        </p:txBody>
      </p:sp>
      <p:sp>
        <p:nvSpPr>
          <p:cNvPr id="43" name="Shape 40"/>
          <p:cNvSpPr/>
          <p:nvPr/>
        </p:nvSpPr>
        <p:spPr>
          <a:xfrm>
            <a:off x="658368" y="5650992"/>
            <a:ext cx="10874959" cy="548640"/>
          </a:xfrm>
          <a:prstGeom prst="rect">
            <a:avLst/>
          </a:prstGeom>
          <a:solidFill>
            <a:srgbClr val="102A43"/>
          </a:solidFill>
          <a:ln w="12700">
            <a:solidFill>
              <a:srgbClr val="102A43"/>
            </a:solidFill>
            <a:prstDash val="solid"/>
          </a:ln>
        </p:spPr>
      </p:sp>
      <p:sp>
        <p:nvSpPr>
          <p:cNvPr id="44" name="Text 4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Se escribe igual que cualquier prueba. Lo que cambia es la intención de quien actúa.</a:t>
            </a:r>
            <a:endParaRPr lang="en-US" sz="13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PRIMER INTENTO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nombre que es código SQL</a:t>
            </a:r>
            <a:endParaRPr lang="en-US" sz="3000" dirty="0"/>
          </a:p>
        </p:txBody>
      </p:sp>
      <p:sp>
        <p:nvSpPr>
          <p:cNvPr id="10" name="Shape 7"/>
          <p:cNvSpPr/>
          <p:nvPr/>
        </p:nvSpPr>
        <p:spPr>
          <a:xfrm>
            <a:off x="658368" y="1700784"/>
            <a:ext cx="10874959" cy="2200046"/>
          </a:xfrm>
          <a:prstGeom prst="roundRect">
            <a:avLst>
              <a:gd name="adj" fmla="val 2078"/>
            </a:avLst>
          </a:prstGeom>
          <a:solidFill>
            <a:srgbClr val="102A43"/>
          </a:solidFill>
          <a:ln w="12700">
            <a:solidFill>
              <a:srgbClr val="102A43"/>
            </a:solidFill>
            <a:prstDash val="solid"/>
          </a:ln>
        </p:spPr>
      </p:sp>
      <p:sp>
        <p:nvSpPr>
          <p:cNvPr id="11" name="Shape 8"/>
          <p:cNvSpPr/>
          <p:nvPr/>
        </p:nvSpPr>
        <p:spPr>
          <a:xfrm>
            <a:off x="658368" y="2057400"/>
            <a:ext cx="10874959" cy="9144"/>
          </a:xfrm>
          <a:prstGeom prst="rect">
            <a:avLst/>
          </a:prstGeom>
          <a:solidFill>
            <a:srgbClr val="284B75"/>
          </a:solidFill>
          <a:ln w="12700">
            <a:solidFill>
              <a:srgbClr val="284B75"/>
            </a:solidFill>
            <a:prstDash val="solid"/>
          </a:ln>
        </p:spPr>
      </p:sp>
      <p:sp>
        <p:nvSpPr>
          <p:cNvPr id="12" name="Text 9"/>
          <p:cNvSpPr/>
          <p:nvPr/>
        </p:nvSpPr>
        <p:spPr>
          <a:xfrm>
            <a:off x="841248" y="1792224"/>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test_seguridad.py</a:t>
            </a:r>
            <a:endParaRPr lang="en-US" sz="960" dirty="0"/>
          </a:p>
        </p:txBody>
      </p:sp>
      <p:sp>
        <p:nvSpPr>
          <p:cNvPr id="13" name="Shape 10"/>
          <p:cNvSpPr/>
          <p:nvPr/>
        </p:nvSpPr>
        <p:spPr>
          <a:xfrm>
            <a:off x="713232" y="2351380"/>
            <a:ext cx="10362895" cy="162495"/>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366973"/>
            <a:ext cx="10362895" cy="162495"/>
          </a:xfrm>
          <a:prstGeom prst="rect">
            <a:avLst/>
          </a:prstGeom>
          <a:solidFill>
            <a:srgbClr val="2E7D4F">
              <a:alpha val="28000"/>
            </a:srgbClr>
          </a:solidFill>
          <a:ln w="12700">
            <a:solidFill>
              <a:srgbClr val="2E7D4F">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94560"/>
            <a:ext cx="10143439" cy="1578254"/>
          </a:xfrm>
          <a:prstGeom prst="rect">
            <a:avLst/>
          </a:prstGeom>
        </p:spPr>
      </p:pic>
      <p:sp>
        <p:nvSpPr>
          <p:cNvPr id="16" name="Shape 12"/>
          <p:cNvSpPr/>
          <p:nvPr/>
        </p:nvSpPr>
        <p:spPr>
          <a:xfrm>
            <a:off x="11226865" y="2348193"/>
            <a:ext cx="155724" cy="155724"/>
          </a:xfrm>
          <a:prstGeom prst="ellipse">
            <a:avLst/>
          </a:prstGeom>
          <a:solidFill>
            <a:srgbClr val="E0BC5A"/>
          </a:solidFill>
          <a:ln w="12700">
            <a:solidFill>
              <a:srgbClr val="E0BC5A"/>
            </a:solidFill>
            <a:prstDash val="solid"/>
          </a:ln>
        </p:spPr>
      </p:sp>
      <p:sp>
        <p:nvSpPr>
          <p:cNvPr id="17" name="Text 13"/>
          <p:cNvSpPr/>
          <p:nvPr/>
        </p:nvSpPr>
        <p:spPr>
          <a:xfrm>
            <a:off x="11236009" y="2357337"/>
            <a:ext cx="137436" cy="13743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8" name="Shape 14"/>
          <p:cNvSpPr/>
          <p:nvPr/>
        </p:nvSpPr>
        <p:spPr>
          <a:xfrm>
            <a:off x="11226865" y="3363787"/>
            <a:ext cx="155724" cy="155724"/>
          </a:xfrm>
          <a:prstGeom prst="ellipse">
            <a:avLst/>
          </a:prstGeom>
          <a:solidFill>
            <a:srgbClr val="2E7D4F"/>
          </a:solidFill>
          <a:ln w="12700">
            <a:solidFill>
              <a:srgbClr val="2E7D4F"/>
            </a:solidFill>
            <a:prstDash val="solid"/>
          </a:ln>
        </p:spPr>
      </p:sp>
      <p:sp>
        <p:nvSpPr>
          <p:cNvPr id="19" name="Text 15"/>
          <p:cNvSpPr/>
          <p:nvPr/>
        </p:nvSpPr>
        <p:spPr>
          <a:xfrm>
            <a:off x="11236009" y="3372931"/>
            <a:ext cx="137436" cy="13743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0" name="Text 16"/>
          <p:cNvSpPr txBox="1"/>
          <p:nvPr/>
        </p:nvSpPr>
        <p:spPr>
          <a:xfrm>
            <a:off x="658368" y="4083710"/>
            <a:ext cx="53003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1 · SI EL NOMBRE SE PEGARA EN LA INSTRUCCIÓN</a:t>
            </a:r>
            <a:endParaRPr lang="en-US" sz="960" dirty="0"/>
          </a:p>
        </p:txBody>
      </p:sp>
      <p:sp>
        <p:nvSpPr>
          <p:cNvPr id="21" name="Shape 17"/>
          <p:cNvSpPr/>
          <p:nvPr/>
        </p:nvSpPr>
        <p:spPr>
          <a:xfrm>
            <a:off x="658368" y="4358030"/>
            <a:ext cx="5300320" cy="932688"/>
          </a:xfrm>
          <a:prstGeom prst="rect">
            <a:avLst/>
          </a:prstGeom>
          <a:solidFill>
            <a:srgbClr val="0F1720"/>
          </a:solidFill>
          <a:ln w="12700">
            <a:solidFill>
              <a:srgbClr val="0F1720"/>
            </a:solidFill>
            <a:prstDash val="solid"/>
          </a:ln>
        </p:spPr>
      </p:sp>
      <p:sp>
        <p:nvSpPr>
          <p:cNvPr id="22" name="Text 18"/>
          <p:cNvSpPr txBox="1"/>
          <p:nvPr/>
        </p:nvSpPr>
        <p:spPr>
          <a:xfrm>
            <a:off x="841248" y="4431182"/>
            <a:ext cx="2724912" cy="365760"/>
          </a:xfrm>
          <a:prstGeom prst="rect">
            <a:avLst/>
          </a:prstGeom>
          <a:noFill/>
          <a:ln/>
        </p:spPr>
        <p:txBody>
          <a:bodyPr wrap="square" lIns="0" tIns="0" rIns="0" bIns="0" rtlCol="0" anchor="ctr"/>
          <a:lstStyle/>
          <a:p>
            <a:pPr algn="l" indent="0" marL="0">
              <a:buNone/>
            </a:pPr>
            <a:r>
              <a:rPr lang="en-US" sz="1000" dirty="0">
                <a:solidFill>
                  <a:srgbClr val="E6EEF7"/>
                </a:solidFill>
                <a:latin typeface="Consolas" pitchFamily="34" charset="0"/>
                <a:ea typeface="Consolas" pitchFamily="34" charset="-122"/>
                <a:cs typeface="Consolas" pitchFamily="34" charset="-120"/>
              </a:rPr>
              <a:t>INSERT INTO reservas (nombre) VALUES ('</a:t>
            </a:r>
            <a:endParaRPr lang="en-US" sz="1000" dirty="0"/>
          </a:p>
        </p:txBody>
      </p:sp>
      <p:sp>
        <p:nvSpPr>
          <p:cNvPr id="23" name="Text 19"/>
          <p:cNvSpPr txBox="1"/>
          <p:nvPr/>
        </p:nvSpPr>
        <p:spPr>
          <a:xfrm>
            <a:off x="3566160" y="4431182"/>
            <a:ext cx="2099920" cy="365760"/>
          </a:xfrm>
          <a:prstGeom prst="rect">
            <a:avLst/>
          </a:prstGeom>
          <a:noFill/>
          <a:ln/>
        </p:spPr>
        <p:txBody>
          <a:bodyPr wrap="square" lIns="0" tIns="0" rIns="0" bIns="0" rtlCol="0" anchor="ctr"/>
          <a:lstStyle/>
          <a:p>
            <a:pPr algn="l" indent="0" marL="0">
              <a:buNone/>
            </a:pPr>
            <a:r>
              <a:rPr lang="en-US" sz="1000" b="1" dirty="0">
                <a:solidFill>
                  <a:srgbClr val="E0BC5A"/>
                </a:solidFill>
                <a:latin typeface="Consolas" pitchFamily="34" charset="0"/>
                <a:ea typeface="Consolas" pitchFamily="34" charset="-122"/>
                <a:cs typeface="Consolas" pitchFamily="34" charset="-120"/>
              </a:rPr>
              <a:t>x'); DROP TABLE reservas; --')</a:t>
            </a:r>
            <a:endParaRPr lang="en-US" sz="1000" dirty="0"/>
          </a:p>
        </p:txBody>
      </p:sp>
      <p:sp>
        <p:nvSpPr>
          <p:cNvPr id="24" name="Text 20"/>
          <p:cNvSpPr txBox="1"/>
          <p:nvPr/>
        </p:nvSpPr>
        <p:spPr>
          <a:xfrm>
            <a:off x="841248" y="4815230"/>
            <a:ext cx="4934560" cy="420624"/>
          </a:xfrm>
          <a:prstGeom prst="rect">
            <a:avLst/>
          </a:prstGeom>
          <a:noFill/>
          <a:ln/>
        </p:spPr>
        <p:txBody>
          <a:bodyPr wrap="square" lIns="0" tIns="0" rIns="0" bIns="0" rtlCol="0" anchor="t"/>
          <a:lstStyle/>
          <a:p>
            <a:pPr algn="l" indent="0" marL="0">
              <a:lnSpc>
                <a:spcPct val="105000"/>
              </a:lnSpc>
              <a:buNone/>
            </a:pPr>
            <a:r>
              <a:rPr lang="en-US" sz="960" dirty="0">
                <a:solidFill>
                  <a:srgbClr val="EADFD0"/>
                </a:solidFill>
                <a:latin typeface="Aptos" pitchFamily="34" charset="0"/>
                <a:ea typeface="Aptos" pitchFamily="34" charset="-122"/>
                <a:cs typeface="Aptos" pitchFamily="34" charset="-120"/>
              </a:rPr>
              <a:t>El apóstrofo cierra el nombre, DROP TABLE borra la tabla, y -- convierte el resto en comentario.</a:t>
            </a:r>
            <a:endParaRPr lang="en-US" sz="960" dirty="0"/>
          </a:p>
        </p:txBody>
      </p:sp>
      <p:sp>
        <p:nvSpPr>
          <p:cNvPr id="25" name="Text 21"/>
          <p:cNvSpPr txBox="1"/>
          <p:nvPr/>
        </p:nvSpPr>
        <p:spPr>
          <a:xfrm>
            <a:off x="6233008" y="4083710"/>
            <a:ext cx="530032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2 · LO QUE LA PRUEBA AFIRMA</a:t>
            </a:r>
            <a:endParaRPr lang="en-US" sz="960" dirty="0"/>
          </a:p>
        </p:txBody>
      </p:sp>
      <p:sp>
        <p:nvSpPr>
          <p:cNvPr id="26" name="Shape 22"/>
          <p:cNvSpPr/>
          <p:nvPr/>
        </p:nvSpPr>
        <p:spPr>
          <a:xfrm>
            <a:off x="6233008" y="4358030"/>
            <a:ext cx="5300320" cy="932688"/>
          </a:xfrm>
          <a:prstGeom prst="rect">
            <a:avLst/>
          </a:prstGeom>
          <a:solidFill>
            <a:srgbClr val="FFFFFF"/>
          </a:solidFill>
          <a:ln w="12700">
            <a:solidFill>
              <a:srgbClr val="FFFFFF"/>
            </a:solidFill>
            <a:prstDash val="solid"/>
          </a:ln>
        </p:spPr>
      </p:sp>
      <p:sp>
        <p:nvSpPr>
          <p:cNvPr id="27" name="Shape 23"/>
          <p:cNvSpPr/>
          <p:nvPr/>
        </p:nvSpPr>
        <p:spPr>
          <a:xfrm>
            <a:off x="6233008" y="4358030"/>
            <a:ext cx="54864" cy="932688"/>
          </a:xfrm>
          <a:prstGeom prst="rect">
            <a:avLst/>
          </a:prstGeom>
          <a:solidFill>
            <a:srgbClr val="2E7D4F"/>
          </a:solidFill>
          <a:ln w="12700">
            <a:solidFill>
              <a:srgbClr val="2E7D4F"/>
            </a:solidFill>
            <a:prstDash val="solid"/>
          </a:ln>
        </p:spPr>
      </p:sp>
      <p:sp>
        <p:nvSpPr>
          <p:cNvPr id="28" name="Text 24"/>
          <p:cNvSpPr txBox="1"/>
          <p:nvPr/>
        </p:nvSpPr>
        <p:spPr>
          <a:xfrm>
            <a:off x="6470752" y="4431182"/>
            <a:ext cx="4897984" cy="786384"/>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Que el sistema lo trate como lo que es: un nombre raro. Se acepta, y queda guardado tal cual, letra por letra.</a:t>
            </a:r>
            <a:endParaRPr lang="en-US" sz="1180" dirty="0"/>
          </a:p>
        </p:txBody>
      </p:sp>
      <p:sp>
        <p:nvSpPr>
          <p:cNvPr id="29" name="Text 25"/>
          <p:cNvSpPr txBox="1"/>
          <p:nvPr/>
        </p:nvSpPr>
        <p:spPr>
          <a:xfrm>
            <a:off x="658368" y="5400446"/>
            <a:ext cx="10874959"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cliente es el cliente de pruebas de la API. ANA es un diccionario con los datos de Ana; ANA | {...} crea una copia con algunos campos reemplazados.</a:t>
            </a:r>
            <a:endParaRPr lang="en-US" sz="9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SEGUNDO INTENTO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reservas con el RUT de Ana</a:t>
            </a:r>
            <a:endParaRPr lang="en-US" sz="3000" dirty="0"/>
          </a:p>
        </p:txBody>
      </p:sp>
      <p:sp>
        <p:nvSpPr>
          <p:cNvPr id="10" name="Shape 7"/>
          <p:cNvSpPr/>
          <p:nvPr/>
        </p:nvSpPr>
        <p:spPr>
          <a:xfrm>
            <a:off x="658368" y="1700784"/>
            <a:ext cx="10874959" cy="2030781"/>
          </a:xfrm>
          <a:prstGeom prst="roundRect">
            <a:avLst>
              <a:gd name="adj" fmla="val 2251"/>
            </a:avLst>
          </a:prstGeom>
          <a:solidFill>
            <a:srgbClr val="102A43"/>
          </a:solidFill>
          <a:ln w="12700">
            <a:solidFill>
              <a:srgbClr val="102A43"/>
            </a:solidFill>
            <a:prstDash val="solid"/>
          </a:ln>
        </p:spPr>
      </p:sp>
      <p:sp>
        <p:nvSpPr>
          <p:cNvPr id="11" name="Shape 8"/>
          <p:cNvSpPr/>
          <p:nvPr/>
        </p:nvSpPr>
        <p:spPr>
          <a:xfrm>
            <a:off x="658368" y="2057400"/>
            <a:ext cx="10874959" cy="9144"/>
          </a:xfrm>
          <a:prstGeom prst="rect">
            <a:avLst/>
          </a:prstGeom>
          <a:solidFill>
            <a:srgbClr val="284B75"/>
          </a:solidFill>
          <a:ln w="12700">
            <a:solidFill>
              <a:srgbClr val="284B75"/>
            </a:solidFill>
            <a:prstDash val="solid"/>
          </a:ln>
        </p:spPr>
      </p:sp>
      <p:sp>
        <p:nvSpPr>
          <p:cNvPr id="12" name="Text 9"/>
          <p:cNvSpPr/>
          <p:nvPr/>
        </p:nvSpPr>
        <p:spPr>
          <a:xfrm>
            <a:off x="841248" y="1792224"/>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test_seguridad.py</a:t>
            </a:r>
            <a:endParaRPr lang="en-US" sz="960" dirty="0"/>
          </a:p>
        </p:txBody>
      </p:sp>
      <p:sp>
        <p:nvSpPr>
          <p:cNvPr id="13" name="Shape 10"/>
          <p:cNvSpPr/>
          <p:nvPr/>
        </p:nvSpPr>
        <p:spPr>
          <a:xfrm>
            <a:off x="713232" y="2351380"/>
            <a:ext cx="10362895" cy="162495"/>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366973"/>
            <a:ext cx="10362895" cy="162495"/>
          </a:xfrm>
          <a:prstGeom prst="rect">
            <a:avLst/>
          </a:prstGeom>
          <a:solidFill>
            <a:srgbClr val="2E7D4F">
              <a:alpha val="28000"/>
            </a:srgbClr>
          </a:solidFill>
          <a:ln w="12700">
            <a:solidFill>
              <a:srgbClr val="2E7D4F">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94560"/>
            <a:ext cx="10143439" cy="1408989"/>
          </a:xfrm>
          <a:prstGeom prst="rect">
            <a:avLst/>
          </a:prstGeom>
        </p:spPr>
      </p:pic>
      <p:sp>
        <p:nvSpPr>
          <p:cNvPr id="16" name="Shape 12"/>
          <p:cNvSpPr/>
          <p:nvPr/>
        </p:nvSpPr>
        <p:spPr>
          <a:xfrm>
            <a:off x="11226865" y="2348193"/>
            <a:ext cx="155724" cy="155724"/>
          </a:xfrm>
          <a:prstGeom prst="ellipse">
            <a:avLst/>
          </a:prstGeom>
          <a:solidFill>
            <a:srgbClr val="E0BC5A"/>
          </a:solidFill>
          <a:ln w="12700">
            <a:solidFill>
              <a:srgbClr val="E0BC5A"/>
            </a:solidFill>
            <a:prstDash val="solid"/>
          </a:ln>
        </p:spPr>
      </p:sp>
      <p:sp>
        <p:nvSpPr>
          <p:cNvPr id="17" name="Text 13"/>
          <p:cNvSpPr/>
          <p:nvPr/>
        </p:nvSpPr>
        <p:spPr>
          <a:xfrm>
            <a:off x="11236009" y="2357337"/>
            <a:ext cx="137436" cy="13743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8" name="Shape 14"/>
          <p:cNvSpPr/>
          <p:nvPr/>
        </p:nvSpPr>
        <p:spPr>
          <a:xfrm>
            <a:off x="11226865" y="3363787"/>
            <a:ext cx="155724" cy="155724"/>
          </a:xfrm>
          <a:prstGeom prst="ellipse">
            <a:avLst/>
          </a:prstGeom>
          <a:solidFill>
            <a:srgbClr val="2E7D4F"/>
          </a:solidFill>
          <a:ln w="12700">
            <a:solidFill>
              <a:srgbClr val="2E7D4F"/>
            </a:solidFill>
            <a:prstDash val="solid"/>
          </a:ln>
        </p:spPr>
      </p:sp>
      <p:sp>
        <p:nvSpPr>
          <p:cNvPr id="19" name="Text 15"/>
          <p:cNvSpPr/>
          <p:nvPr/>
        </p:nvSpPr>
        <p:spPr>
          <a:xfrm>
            <a:off x="11236009" y="3372931"/>
            <a:ext cx="137436" cy="13743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0" name="Text 16"/>
          <p:cNvSpPr txBox="1"/>
          <p:nvPr/>
        </p:nvSpPr>
        <p:spPr>
          <a:xfrm>
            <a:off x="658368" y="3969309"/>
            <a:ext cx="82296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1 · OTRA PERSONA, CON SU PROPIO NOMBRE Y CORREO, PERO EL RUT DE ANA</a:t>
            </a:r>
            <a:endParaRPr lang="en-US" sz="960" dirty="0"/>
          </a:p>
        </p:txBody>
      </p:sp>
      <p:sp>
        <p:nvSpPr>
          <p:cNvPr id="21" name="Shape 17"/>
          <p:cNvSpPr/>
          <p:nvPr/>
        </p:nvSpPr>
        <p:spPr>
          <a:xfrm>
            <a:off x="658368" y="4261917"/>
            <a:ext cx="2513000" cy="914400"/>
          </a:xfrm>
          <a:prstGeom prst="rect">
            <a:avLst/>
          </a:prstGeom>
          <a:solidFill>
            <a:srgbClr val="FFFFFF"/>
          </a:solidFill>
          <a:ln w="12700">
            <a:solidFill>
              <a:srgbClr val="FFFFFF"/>
            </a:solidFill>
            <a:prstDash val="solid"/>
          </a:ln>
        </p:spPr>
      </p:sp>
      <p:sp>
        <p:nvSpPr>
          <p:cNvPr id="22" name="Shape 18"/>
          <p:cNvSpPr/>
          <p:nvPr/>
        </p:nvSpPr>
        <p:spPr>
          <a:xfrm>
            <a:off x="658368" y="4261917"/>
            <a:ext cx="2513000" cy="54864"/>
          </a:xfrm>
          <a:prstGeom prst="rect">
            <a:avLst/>
          </a:prstGeom>
          <a:solidFill>
            <a:srgbClr val="8A6A12"/>
          </a:solidFill>
          <a:ln w="12700">
            <a:solidFill>
              <a:srgbClr val="8A6A12"/>
            </a:solidFill>
            <a:prstDash val="solid"/>
          </a:ln>
        </p:spPr>
      </p:sp>
      <p:sp>
        <p:nvSpPr>
          <p:cNvPr id="23" name="Text 19"/>
          <p:cNvSpPr txBox="1"/>
          <p:nvPr/>
        </p:nvSpPr>
        <p:spPr>
          <a:xfrm>
            <a:off x="841248" y="4371645"/>
            <a:ext cx="2147240" cy="237744"/>
          </a:xfrm>
          <a:prstGeom prst="rect">
            <a:avLst/>
          </a:prstGeom>
          <a:noFill/>
          <a:ln/>
        </p:spPr>
        <p:txBody>
          <a:bodyPr wrap="square" lIns="0" tIns="0" rIns="0" bIns="0" rtlCol="0" anchor="t"/>
          <a:lstStyle/>
          <a:p>
            <a:pPr algn="l" indent="0" marL="0">
              <a:buNone/>
            </a:pPr>
            <a:r>
              <a:rPr lang="en-US" sz="1200" b="1" dirty="0">
                <a:solidFill>
                  <a:srgbClr val="8A6A12"/>
                </a:solidFill>
                <a:latin typeface="Aptos" pitchFamily="34" charset="0"/>
                <a:ea typeface="Aptos" pitchFamily="34" charset="-122"/>
                <a:cs typeface="Aptos" pitchFamily="34" charset="-120"/>
              </a:rPr>
              <a:t>Otra persona</a:t>
            </a:r>
            <a:endParaRPr lang="en-US" sz="1200" dirty="0"/>
          </a:p>
        </p:txBody>
      </p:sp>
      <p:sp>
        <p:nvSpPr>
          <p:cNvPr id="24" name="Text 20"/>
          <p:cNvSpPr txBox="1"/>
          <p:nvPr/>
        </p:nvSpPr>
        <p:spPr>
          <a:xfrm>
            <a:off x="841248" y="4645965"/>
            <a:ext cx="2147240" cy="201168"/>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Bloque 1 · RUT 11.111.111-1</a:t>
            </a:r>
            <a:endParaRPr lang="en-US" sz="940" dirty="0"/>
          </a:p>
        </p:txBody>
      </p:sp>
      <p:sp>
        <p:nvSpPr>
          <p:cNvPr id="25" name="Text 21"/>
          <p:cNvSpPr txBox="1"/>
          <p:nvPr/>
        </p:nvSpPr>
        <p:spPr>
          <a:xfrm>
            <a:off x="841248" y="4883709"/>
            <a:ext cx="2147240" cy="219456"/>
          </a:xfrm>
          <a:prstGeom prst="rect">
            <a:avLst/>
          </a:prstGeom>
          <a:noFill/>
          <a:ln/>
        </p:spPr>
        <p:txBody>
          <a:bodyPr wrap="square" lIns="0" tIns="0" rIns="0" bIns="0" rtlCol="0" anchor="t"/>
          <a:lstStyle/>
          <a:p>
            <a:pPr algn="l" indent="0" marL="0">
              <a:buNone/>
            </a:pPr>
            <a:r>
              <a:rPr lang="en-US" sz="1020" b="1" dirty="0">
                <a:solidFill>
                  <a:srgbClr val="52606D"/>
                </a:solidFill>
                <a:latin typeface="Aptos" pitchFamily="34" charset="0"/>
                <a:ea typeface="Aptos" pitchFamily="34" charset="-122"/>
                <a:cs typeface="Aptos" pitchFamily="34" charset="-120"/>
              </a:rPr>
              <a:t>201: aceptada</a:t>
            </a:r>
            <a:endParaRPr lang="en-US" sz="1020" dirty="0"/>
          </a:p>
        </p:txBody>
      </p:sp>
      <p:sp>
        <p:nvSpPr>
          <p:cNvPr id="26" name="Shape 22"/>
          <p:cNvSpPr/>
          <p:nvPr/>
        </p:nvSpPr>
        <p:spPr>
          <a:xfrm>
            <a:off x="3207944" y="4719117"/>
            <a:ext cx="201168" cy="0"/>
          </a:xfrm>
          <a:prstGeom prst="line">
            <a:avLst/>
          </a:prstGeom>
          <a:noFill/>
          <a:ln w="12700">
            <a:solidFill>
              <a:srgbClr val="52606D"/>
            </a:solidFill>
            <a:prstDash val="solid"/>
            <a:headEnd type="none"/>
            <a:tailEnd type="triangle"/>
          </a:ln>
        </p:spPr>
      </p:sp>
      <p:sp>
        <p:nvSpPr>
          <p:cNvPr id="27" name="Shape 23"/>
          <p:cNvSpPr/>
          <p:nvPr/>
        </p:nvSpPr>
        <p:spPr>
          <a:xfrm>
            <a:off x="3445688" y="4261917"/>
            <a:ext cx="2513000" cy="914400"/>
          </a:xfrm>
          <a:prstGeom prst="rect">
            <a:avLst/>
          </a:prstGeom>
          <a:solidFill>
            <a:srgbClr val="FFFFFF"/>
          </a:solidFill>
          <a:ln w="12700">
            <a:solidFill>
              <a:srgbClr val="FFFFFF"/>
            </a:solidFill>
            <a:prstDash val="solid"/>
          </a:ln>
        </p:spPr>
      </p:sp>
      <p:sp>
        <p:nvSpPr>
          <p:cNvPr id="28" name="Shape 24"/>
          <p:cNvSpPr/>
          <p:nvPr/>
        </p:nvSpPr>
        <p:spPr>
          <a:xfrm>
            <a:off x="3445688" y="4261917"/>
            <a:ext cx="2513000" cy="54864"/>
          </a:xfrm>
          <a:prstGeom prst="rect">
            <a:avLst/>
          </a:prstGeom>
          <a:solidFill>
            <a:srgbClr val="8A6A12"/>
          </a:solidFill>
          <a:ln w="12700">
            <a:solidFill>
              <a:srgbClr val="8A6A12"/>
            </a:solidFill>
            <a:prstDash val="solid"/>
          </a:ln>
        </p:spPr>
      </p:sp>
      <p:sp>
        <p:nvSpPr>
          <p:cNvPr id="29" name="Text 25"/>
          <p:cNvSpPr txBox="1"/>
          <p:nvPr/>
        </p:nvSpPr>
        <p:spPr>
          <a:xfrm>
            <a:off x="3628568" y="4371645"/>
            <a:ext cx="2147240" cy="237744"/>
          </a:xfrm>
          <a:prstGeom prst="rect">
            <a:avLst/>
          </a:prstGeom>
          <a:noFill/>
          <a:ln/>
        </p:spPr>
        <p:txBody>
          <a:bodyPr wrap="square" lIns="0" tIns="0" rIns="0" bIns="0" rtlCol="0" anchor="t"/>
          <a:lstStyle/>
          <a:p>
            <a:pPr algn="l" indent="0" marL="0">
              <a:buNone/>
            </a:pPr>
            <a:r>
              <a:rPr lang="en-US" sz="1200" b="1" dirty="0">
                <a:solidFill>
                  <a:srgbClr val="8A6A12"/>
                </a:solidFill>
                <a:latin typeface="Aptos" pitchFamily="34" charset="0"/>
                <a:ea typeface="Aptos" pitchFamily="34" charset="-122"/>
                <a:cs typeface="Aptos" pitchFamily="34" charset="-120"/>
              </a:rPr>
              <a:t>Otra persona</a:t>
            </a:r>
            <a:endParaRPr lang="en-US" sz="1200" dirty="0"/>
          </a:p>
        </p:txBody>
      </p:sp>
      <p:sp>
        <p:nvSpPr>
          <p:cNvPr id="30" name="Text 26"/>
          <p:cNvSpPr txBox="1"/>
          <p:nvPr/>
        </p:nvSpPr>
        <p:spPr>
          <a:xfrm>
            <a:off x="3628568" y="4645965"/>
            <a:ext cx="2147240" cy="201168"/>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Bloque 3 · RUT 11.111.111-1</a:t>
            </a:r>
            <a:endParaRPr lang="en-US" sz="940" dirty="0"/>
          </a:p>
        </p:txBody>
      </p:sp>
      <p:sp>
        <p:nvSpPr>
          <p:cNvPr id="31" name="Text 27"/>
          <p:cNvSpPr txBox="1"/>
          <p:nvPr/>
        </p:nvSpPr>
        <p:spPr>
          <a:xfrm>
            <a:off x="3628568" y="4883709"/>
            <a:ext cx="2147240" cy="219456"/>
          </a:xfrm>
          <a:prstGeom prst="rect">
            <a:avLst/>
          </a:prstGeom>
          <a:noFill/>
          <a:ln/>
        </p:spPr>
        <p:txBody>
          <a:bodyPr wrap="square" lIns="0" tIns="0" rIns="0" bIns="0" rtlCol="0" anchor="t"/>
          <a:lstStyle/>
          <a:p>
            <a:pPr algn="l" indent="0" marL="0">
              <a:buNone/>
            </a:pPr>
            <a:r>
              <a:rPr lang="en-US" sz="1020" b="1" dirty="0">
                <a:solidFill>
                  <a:srgbClr val="52606D"/>
                </a:solidFill>
                <a:latin typeface="Aptos" pitchFamily="34" charset="0"/>
                <a:ea typeface="Aptos" pitchFamily="34" charset="-122"/>
                <a:cs typeface="Aptos" pitchFamily="34" charset="-120"/>
              </a:rPr>
              <a:t>201: aceptada</a:t>
            </a:r>
            <a:endParaRPr lang="en-US" sz="1020" dirty="0"/>
          </a:p>
        </p:txBody>
      </p:sp>
      <p:sp>
        <p:nvSpPr>
          <p:cNvPr id="32" name="Shape 28"/>
          <p:cNvSpPr/>
          <p:nvPr/>
        </p:nvSpPr>
        <p:spPr>
          <a:xfrm>
            <a:off x="5995264" y="4719117"/>
            <a:ext cx="201168" cy="0"/>
          </a:xfrm>
          <a:prstGeom prst="line">
            <a:avLst/>
          </a:prstGeom>
          <a:noFill/>
          <a:ln w="12700">
            <a:solidFill>
              <a:srgbClr val="52606D"/>
            </a:solidFill>
            <a:prstDash val="solid"/>
            <a:headEnd type="none"/>
            <a:tailEnd type="triangle"/>
          </a:ln>
        </p:spPr>
      </p:sp>
      <p:sp>
        <p:nvSpPr>
          <p:cNvPr id="33" name="Shape 29"/>
          <p:cNvSpPr/>
          <p:nvPr/>
        </p:nvSpPr>
        <p:spPr>
          <a:xfrm>
            <a:off x="6233008" y="4261917"/>
            <a:ext cx="2513000" cy="914400"/>
          </a:xfrm>
          <a:prstGeom prst="rect">
            <a:avLst/>
          </a:prstGeom>
          <a:solidFill>
            <a:srgbClr val="FFFFFF"/>
          </a:solidFill>
          <a:ln w="12700">
            <a:solidFill>
              <a:srgbClr val="FFFFFF"/>
            </a:solidFill>
            <a:prstDash val="solid"/>
          </a:ln>
        </p:spPr>
      </p:sp>
      <p:sp>
        <p:nvSpPr>
          <p:cNvPr id="34" name="Shape 30"/>
          <p:cNvSpPr/>
          <p:nvPr/>
        </p:nvSpPr>
        <p:spPr>
          <a:xfrm>
            <a:off x="6233008" y="4261917"/>
            <a:ext cx="2513000" cy="54864"/>
          </a:xfrm>
          <a:prstGeom prst="rect">
            <a:avLst/>
          </a:prstGeom>
          <a:solidFill>
            <a:srgbClr val="8A6A12"/>
          </a:solidFill>
          <a:ln w="12700">
            <a:solidFill>
              <a:srgbClr val="8A6A12"/>
            </a:solidFill>
            <a:prstDash val="solid"/>
          </a:ln>
        </p:spPr>
      </p:sp>
      <p:sp>
        <p:nvSpPr>
          <p:cNvPr id="35" name="Text 31"/>
          <p:cNvSpPr txBox="1"/>
          <p:nvPr/>
        </p:nvSpPr>
        <p:spPr>
          <a:xfrm>
            <a:off x="6415888" y="4371645"/>
            <a:ext cx="2147240" cy="237744"/>
          </a:xfrm>
          <a:prstGeom prst="rect">
            <a:avLst/>
          </a:prstGeom>
          <a:noFill/>
          <a:ln/>
        </p:spPr>
        <p:txBody>
          <a:bodyPr wrap="square" lIns="0" tIns="0" rIns="0" bIns="0" rtlCol="0" anchor="t"/>
          <a:lstStyle/>
          <a:p>
            <a:pPr algn="l" indent="0" marL="0">
              <a:buNone/>
            </a:pPr>
            <a:r>
              <a:rPr lang="en-US" sz="1200" b="1" dirty="0">
                <a:solidFill>
                  <a:srgbClr val="8A6A12"/>
                </a:solidFill>
                <a:latin typeface="Aptos" pitchFamily="34" charset="0"/>
                <a:ea typeface="Aptos" pitchFamily="34" charset="-122"/>
                <a:cs typeface="Aptos" pitchFamily="34" charset="-120"/>
              </a:rPr>
              <a:t>Otra persona</a:t>
            </a:r>
            <a:endParaRPr lang="en-US" sz="1200" dirty="0"/>
          </a:p>
        </p:txBody>
      </p:sp>
      <p:sp>
        <p:nvSpPr>
          <p:cNvPr id="36" name="Text 32"/>
          <p:cNvSpPr txBox="1"/>
          <p:nvPr/>
        </p:nvSpPr>
        <p:spPr>
          <a:xfrm>
            <a:off x="6415888" y="4645965"/>
            <a:ext cx="2147240" cy="201168"/>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Bloque 5 · RUT 11.111.111-1</a:t>
            </a:r>
            <a:endParaRPr lang="en-US" sz="940" dirty="0"/>
          </a:p>
        </p:txBody>
      </p:sp>
      <p:sp>
        <p:nvSpPr>
          <p:cNvPr id="37" name="Text 33"/>
          <p:cNvSpPr txBox="1"/>
          <p:nvPr/>
        </p:nvSpPr>
        <p:spPr>
          <a:xfrm>
            <a:off x="6415888" y="4883709"/>
            <a:ext cx="2147240" cy="219456"/>
          </a:xfrm>
          <a:prstGeom prst="rect">
            <a:avLst/>
          </a:prstGeom>
          <a:noFill/>
          <a:ln/>
        </p:spPr>
        <p:txBody>
          <a:bodyPr wrap="square" lIns="0" tIns="0" rIns="0" bIns="0" rtlCol="0" anchor="t"/>
          <a:lstStyle/>
          <a:p>
            <a:pPr algn="l" indent="0" marL="0">
              <a:buNone/>
            </a:pPr>
            <a:r>
              <a:rPr lang="en-US" sz="1020" b="1" dirty="0">
                <a:solidFill>
                  <a:srgbClr val="52606D"/>
                </a:solidFill>
                <a:latin typeface="Aptos" pitchFamily="34" charset="0"/>
                <a:ea typeface="Aptos" pitchFamily="34" charset="-122"/>
                <a:cs typeface="Aptos" pitchFamily="34" charset="-120"/>
              </a:rPr>
              <a:t>201: aceptada</a:t>
            </a:r>
            <a:endParaRPr lang="en-US" sz="1020" dirty="0"/>
          </a:p>
        </p:txBody>
      </p:sp>
      <p:sp>
        <p:nvSpPr>
          <p:cNvPr id="38" name="Shape 34"/>
          <p:cNvSpPr/>
          <p:nvPr/>
        </p:nvSpPr>
        <p:spPr>
          <a:xfrm>
            <a:off x="8782583" y="4719117"/>
            <a:ext cx="201168" cy="0"/>
          </a:xfrm>
          <a:prstGeom prst="line">
            <a:avLst/>
          </a:prstGeom>
          <a:noFill/>
          <a:ln w="12700">
            <a:solidFill>
              <a:srgbClr val="52606D"/>
            </a:solidFill>
            <a:prstDash val="solid"/>
            <a:headEnd type="none"/>
            <a:tailEnd type="triangle"/>
          </a:ln>
        </p:spPr>
      </p:sp>
      <p:sp>
        <p:nvSpPr>
          <p:cNvPr id="39" name="Shape 35"/>
          <p:cNvSpPr/>
          <p:nvPr/>
        </p:nvSpPr>
        <p:spPr>
          <a:xfrm>
            <a:off x="9020327" y="4261917"/>
            <a:ext cx="2513000" cy="914400"/>
          </a:xfrm>
          <a:prstGeom prst="rect">
            <a:avLst/>
          </a:prstGeom>
          <a:solidFill>
            <a:srgbClr val="F2E7D9"/>
          </a:solidFill>
          <a:ln w="12700">
            <a:solidFill>
              <a:srgbClr val="F2E7D9"/>
            </a:solidFill>
            <a:prstDash val="solid"/>
          </a:ln>
        </p:spPr>
      </p:sp>
      <p:sp>
        <p:nvSpPr>
          <p:cNvPr id="40" name="Shape 36"/>
          <p:cNvSpPr/>
          <p:nvPr/>
        </p:nvSpPr>
        <p:spPr>
          <a:xfrm>
            <a:off x="9020327" y="4261917"/>
            <a:ext cx="2513000" cy="54864"/>
          </a:xfrm>
          <a:prstGeom prst="rect">
            <a:avLst/>
          </a:prstGeom>
          <a:solidFill>
            <a:srgbClr val="102A43"/>
          </a:solidFill>
          <a:ln w="12700">
            <a:solidFill>
              <a:srgbClr val="102A43"/>
            </a:solidFill>
            <a:prstDash val="solid"/>
          </a:ln>
        </p:spPr>
      </p:sp>
      <p:sp>
        <p:nvSpPr>
          <p:cNvPr id="41" name="Text 37"/>
          <p:cNvSpPr txBox="1"/>
          <p:nvPr/>
        </p:nvSpPr>
        <p:spPr>
          <a:xfrm>
            <a:off x="9203207" y="4371645"/>
            <a:ext cx="2147240" cy="237744"/>
          </a:xfrm>
          <a:prstGeom prst="rect">
            <a:avLst/>
          </a:prstGeom>
          <a:noFill/>
          <a:ln/>
        </p:spPr>
        <p:txBody>
          <a:bodyPr wrap="square" lIns="0" tIns="0" rIns="0" bIns="0" rtlCol="0" anchor="t"/>
          <a:lstStyle/>
          <a:p>
            <a:pPr algn="l" indent="0" marL="0">
              <a:buNone/>
            </a:pPr>
            <a:r>
              <a:rPr lang="en-US" sz="1200" b="1" dirty="0">
                <a:solidFill>
                  <a:srgbClr val="102A43"/>
                </a:solidFill>
                <a:latin typeface="Aptos" pitchFamily="34" charset="0"/>
                <a:ea typeface="Aptos" pitchFamily="34" charset="-122"/>
                <a:cs typeface="Aptos" pitchFamily="34" charset="-120"/>
              </a:rPr>
              <a:t>Ana</a:t>
            </a:r>
            <a:endParaRPr lang="en-US" sz="1200" dirty="0"/>
          </a:p>
        </p:txBody>
      </p:sp>
      <p:sp>
        <p:nvSpPr>
          <p:cNvPr id="42" name="Text 38"/>
          <p:cNvSpPr txBox="1"/>
          <p:nvPr/>
        </p:nvSpPr>
        <p:spPr>
          <a:xfrm>
            <a:off x="9203207" y="4645965"/>
            <a:ext cx="2147240" cy="201168"/>
          </a:xfrm>
          <a:prstGeom prst="rect">
            <a:avLst/>
          </a:prstGeom>
          <a:noFill/>
          <a:ln/>
        </p:spPr>
        <p:txBody>
          <a:bodyPr wrap="square" lIns="0" tIns="0" rIns="0" bIns="0" rtlCol="0" anchor="t"/>
          <a:lstStyle/>
          <a:p>
            <a:pPr algn="l" indent="0" marL="0">
              <a:buNone/>
            </a:pPr>
            <a:r>
              <a:rPr lang="en-US" sz="940" dirty="0">
                <a:solidFill>
                  <a:srgbClr val="243B53"/>
                </a:solidFill>
                <a:latin typeface="Consolas" pitchFamily="34" charset="0"/>
                <a:ea typeface="Consolas" pitchFamily="34" charset="-122"/>
                <a:cs typeface="Consolas" pitchFamily="34" charset="-120"/>
              </a:rPr>
              <a:t>Bloque 7 · RUT 11.111.111-1</a:t>
            </a:r>
            <a:endParaRPr lang="en-US" sz="940" dirty="0"/>
          </a:p>
        </p:txBody>
      </p:sp>
      <p:sp>
        <p:nvSpPr>
          <p:cNvPr id="43" name="Text 39"/>
          <p:cNvSpPr txBox="1"/>
          <p:nvPr/>
        </p:nvSpPr>
        <p:spPr>
          <a:xfrm>
            <a:off x="9203207" y="4883709"/>
            <a:ext cx="2147240" cy="219456"/>
          </a:xfrm>
          <a:prstGeom prst="rect">
            <a:avLst/>
          </a:prstGeom>
          <a:noFill/>
          <a:ln/>
        </p:spPr>
        <p:txBody>
          <a:bodyPr wrap="square" lIns="0" tIns="0" rIns="0" bIns="0" rtlCol="0" anchor="t"/>
          <a:lstStyle/>
          <a:p>
            <a:pPr algn="l" indent="0" marL="0">
              <a:buNone/>
            </a:pPr>
            <a:r>
              <a:rPr lang="en-US" sz="1020" b="1" dirty="0">
                <a:solidFill>
                  <a:srgbClr val="2E7D4F"/>
                </a:solidFill>
                <a:latin typeface="Aptos" pitchFamily="34" charset="0"/>
                <a:ea typeface="Aptos" pitchFamily="34" charset="-122"/>
                <a:cs typeface="Aptos" pitchFamily="34" charset="-120"/>
              </a:rPr>
              <a:t>2 · La prueba espera 201</a:t>
            </a:r>
            <a:endParaRPr lang="en-US" sz="1020" dirty="0"/>
          </a:p>
        </p:txBody>
      </p:sp>
      <p:sp>
        <p:nvSpPr>
          <p:cNvPr id="44" name="Shape 40"/>
          <p:cNvSpPr/>
          <p:nvPr/>
        </p:nvSpPr>
        <p:spPr>
          <a:xfrm>
            <a:off x="658368" y="5650992"/>
            <a:ext cx="10874959" cy="548640"/>
          </a:xfrm>
          <a:prstGeom prst="rect">
            <a:avLst/>
          </a:prstGeom>
          <a:solidFill>
            <a:srgbClr val="102A43"/>
          </a:solidFill>
          <a:ln w="12700">
            <a:solidFill>
              <a:srgbClr val="102A43"/>
            </a:solidFill>
            <a:prstDash val="solid"/>
          </a:ln>
        </p:spPr>
      </p:sp>
      <p:sp>
        <p:nvSpPr>
          <p:cNvPr id="45" name="Text 4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sistema permite tres reservas por semana a cada RUT. Si otra persona las gasta, ¿puede Ana reservar?</a:t>
            </a:r>
            <a:endParaRPr lang="en-US" sz="13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RESULTADO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resiste, la otra no</a:t>
            </a:r>
            <a:endParaRPr lang="en-US" sz="3000" dirty="0"/>
          </a:p>
        </p:txBody>
      </p:sp>
      <p:sp>
        <p:nvSpPr>
          <p:cNvPr id="10" name="Shape 7"/>
          <p:cNvSpPr/>
          <p:nvPr/>
        </p:nvSpPr>
        <p:spPr>
          <a:xfrm>
            <a:off x="658368" y="1700784"/>
            <a:ext cx="10874959" cy="1217676"/>
          </a:xfrm>
          <a:prstGeom prst="roundRect">
            <a:avLst>
              <a:gd name="adj" fmla="val 3755"/>
            </a:avLst>
          </a:prstGeom>
          <a:solidFill>
            <a:srgbClr val="0F1720"/>
          </a:solidFill>
          <a:ln w="12700">
            <a:solidFill>
              <a:srgbClr val="0F1720"/>
            </a:solidFill>
            <a:prstDash val="solid"/>
          </a:ln>
        </p:spPr>
      </p:sp>
      <p:sp>
        <p:nvSpPr>
          <p:cNvPr id="11" name="Shape 8"/>
          <p:cNvSpPr/>
          <p:nvPr/>
        </p:nvSpPr>
        <p:spPr>
          <a:xfrm>
            <a:off x="818388" y="1833372"/>
            <a:ext cx="82296" cy="82296"/>
          </a:xfrm>
          <a:prstGeom prst="ellipse">
            <a:avLst/>
          </a:prstGeom>
          <a:solidFill>
            <a:srgbClr val="52606D"/>
          </a:solidFill>
          <a:ln w="12700">
            <a:solidFill>
              <a:srgbClr val="52606D"/>
            </a:solidFill>
            <a:prstDash val="solid"/>
          </a:ln>
        </p:spPr>
      </p:sp>
      <p:sp>
        <p:nvSpPr>
          <p:cNvPr id="12" name="Shape 9"/>
          <p:cNvSpPr/>
          <p:nvPr/>
        </p:nvSpPr>
        <p:spPr>
          <a:xfrm>
            <a:off x="973836" y="1833372"/>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833372"/>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783080"/>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uv run --with pytest pytest -q test_seguridad.py</a:t>
            </a:r>
            <a:endParaRPr lang="en-US" sz="940" dirty="0"/>
          </a:p>
        </p:txBody>
      </p:sp>
      <p:sp>
        <p:nvSpPr>
          <p:cNvPr id="15" name="Text 12"/>
          <p:cNvSpPr/>
          <p:nvPr/>
        </p:nvSpPr>
        <p:spPr>
          <a:xfrm>
            <a:off x="859536" y="2176272"/>
            <a:ext cx="10472623" cy="204724"/>
          </a:xfrm>
          <a:prstGeom prst="rect">
            <a:avLst/>
          </a:prstGeom>
          <a:noFill/>
          <a:ln/>
        </p:spPr>
        <p:txBody>
          <a:bodyPr wrap="square" lIns="0" tIns="0" rIns="0" bIns="0" rtlCol="0" anchor="ctr"/>
          <a:lstStyle/>
          <a:p>
            <a:pPr indent="0" marL="0">
              <a:buNone/>
            </a:pPr>
            <a:r>
              <a:rPr lang="en-US" sz="1040" b="1" dirty="0">
                <a:solidFill>
                  <a:srgbClr val="D62027"/>
                </a:solidFill>
                <a:latin typeface="Consolas" pitchFamily="34" charset="0"/>
                <a:ea typeface="Consolas" pitchFamily="34" charset="-122"/>
                <a:cs typeface="Consolas" pitchFamily="34" charset="-120"/>
              </a:rPr>
              <a:t>E       assert 409 == 201</a:t>
            </a:r>
            <a:endParaRPr lang="en-US" sz="1040" dirty="0"/>
          </a:p>
        </p:txBody>
      </p:sp>
      <p:sp>
        <p:nvSpPr>
          <p:cNvPr id="16" name="Text 13"/>
          <p:cNvSpPr/>
          <p:nvPr/>
        </p:nvSpPr>
        <p:spPr>
          <a:xfrm>
            <a:off x="859536" y="2380996"/>
            <a:ext cx="10472623" cy="204724"/>
          </a:xfrm>
          <a:prstGeom prst="rect">
            <a:avLst/>
          </a:prstGeom>
          <a:noFill/>
          <a:ln/>
        </p:spPr>
        <p:txBody>
          <a:bodyPr wrap="square" lIns="0" tIns="0" rIns="0" bIns="0" rtlCol="0" anchor="ctr"/>
          <a:lstStyle/>
          <a:p>
            <a:pPr indent="0" marL="0">
              <a:buNone/>
            </a:pPr>
            <a:r>
              <a:rPr lang="en-US" sz="1040" b="1" dirty="0">
                <a:solidFill>
                  <a:srgbClr val="D62027"/>
                </a:solidFill>
                <a:latin typeface="Consolas" pitchFamily="34" charset="0"/>
                <a:ea typeface="Consolas" pitchFamily="34" charset="-122"/>
                <a:cs typeface="Consolas" pitchFamily="34" charset="-120"/>
              </a:rPr>
              <a:t>FAILED test_seguridad.py::test_otra_persona_no_puede_agotar_la_cuota_de_ana - assert 409 == 201</a:t>
            </a:r>
            <a:endParaRPr lang="en-US" sz="1040" dirty="0"/>
          </a:p>
        </p:txBody>
      </p:sp>
      <p:sp>
        <p:nvSpPr>
          <p:cNvPr id="17" name="Text 14"/>
          <p:cNvSpPr/>
          <p:nvPr/>
        </p:nvSpPr>
        <p:spPr>
          <a:xfrm>
            <a:off x="859536" y="2585720"/>
            <a:ext cx="10472623" cy="204724"/>
          </a:xfrm>
          <a:prstGeom prst="rect">
            <a:avLst/>
          </a:prstGeom>
          <a:noFill/>
          <a:ln/>
        </p:spPr>
        <p:txBody>
          <a:bodyPr wrap="square" lIns="0" tIns="0" rIns="0" bIns="0" rtlCol="0" anchor="ctr"/>
          <a:lstStyle/>
          <a:p>
            <a:pPr indent="0" marL="0">
              <a:buNone/>
            </a:pPr>
            <a:r>
              <a:rPr lang="en-US" sz="1040" b="1" dirty="0">
                <a:solidFill>
                  <a:srgbClr val="D62027"/>
                </a:solidFill>
                <a:latin typeface="Consolas" pitchFamily="34" charset="0"/>
                <a:ea typeface="Consolas" pitchFamily="34" charset="-122"/>
                <a:cs typeface="Consolas" pitchFamily="34" charset="-120"/>
              </a:rPr>
              <a:t>1 failed, 1 passed, 1 warning in 1.06s</a:t>
            </a:r>
            <a:endParaRPr lang="en-US" sz="1040" dirty="0"/>
          </a:p>
        </p:txBody>
      </p:sp>
      <p:sp>
        <p:nvSpPr>
          <p:cNvPr id="18" name="Shape 15"/>
          <p:cNvSpPr/>
          <p:nvPr/>
        </p:nvSpPr>
        <p:spPr>
          <a:xfrm>
            <a:off x="658368" y="3072384"/>
            <a:ext cx="5254600" cy="2359152"/>
          </a:xfrm>
          <a:prstGeom prst="rect">
            <a:avLst/>
          </a:prstGeom>
          <a:solidFill>
            <a:srgbClr val="FFFFFF"/>
          </a:solidFill>
          <a:ln w="12700">
            <a:solidFill>
              <a:srgbClr val="FFFFFF"/>
            </a:solidFill>
            <a:prstDash val="solid"/>
          </a:ln>
        </p:spPr>
      </p:sp>
      <p:sp>
        <p:nvSpPr>
          <p:cNvPr id="19" name="Shape 16"/>
          <p:cNvSpPr/>
          <p:nvPr/>
        </p:nvSpPr>
        <p:spPr>
          <a:xfrm>
            <a:off x="658368" y="3072384"/>
            <a:ext cx="5254600" cy="54864"/>
          </a:xfrm>
          <a:prstGeom prst="rect">
            <a:avLst/>
          </a:prstGeom>
          <a:solidFill>
            <a:srgbClr val="2E7D4F"/>
          </a:solidFill>
          <a:ln w="12700">
            <a:solidFill>
              <a:srgbClr val="2E7D4F"/>
            </a:solidFill>
            <a:prstDash val="solid"/>
          </a:ln>
        </p:spPr>
      </p:sp>
      <p:sp>
        <p:nvSpPr>
          <p:cNvPr id="20" name="Text 17"/>
          <p:cNvSpPr txBox="1"/>
          <p:nvPr/>
        </p:nvSpPr>
        <p:spPr>
          <a:xfrm>
            <a:off x="932688" y="3273552"/>
            <a:ext cx="470596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INYECCIÓN</a:t>
            </a:r>
            <a:endParaRPr lang="en-US" sz="960" dirty="0"/>
          </a:p>
        </p:txBody>
      </p:sp>
      <p:sp>
        <p:nvSpPr>
          <p:cNvPr id="21" name="Text 18"/>
          <p:cNvSpPr txBox="1"/>
          <p:nvPr/>
        </p:nvSpPr>
        <p:spPr>
          <a:xfrm>
            <a:off x="932688" y="3529584"/>
            <a:ext cx="4705960" cy="548640"/>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No prospera</a:t>
            </a:r>
            <a:endParaRPr lang="en-US" sz="2600" dirty="0"/>
          </a:p>
        </p:txBody>
      </p:sp>
      <p:sp>
        <p:nvSpPr>
          <p:cNvPr id="22" name="Text 19"/>
          <p:cNvSpPr txBox="1"/>
          <p:nvPr/>
        </p:nvSpPr>
        <p:spPr>
          <a:xfrm>
            <a:off x="932688" y="4133088"/>
            <a:ext cx="4705960" cy="786384"/>
          </a:xfrm>
          <a:prstGeom prst="rect">
            <a:avLst/>
          </a:prstGeom>
          <a:noFill/>
          <a:ln/>
        </p:spPr>
        <p:txBody>
          <a:bodyPr wrap="square" lIns="0" tIns="0" rIns="0" bIns="0" rtlCol="0" anchor="t"/>
          <a:lstStyle/>
          <a:p>
            <a:pPr algn="l" indent="0" marL="0">
              <a:lnSpc>
                <a:spcPct val="110000"/>
              </a:lnSpc>
              <a:buNone/>
            </a:pPr>
            <a:r>
              <a:rPr lang="en-US" sz="1200" dirty="0">
                <a:solidFill>
                  <a:srgbClr val="243B53"/>
                </a:solidFill>
                <a:latin typeface="Aptos" pitchFamily="34" charset="0"/>
                <a:ea typeface="Aptos" pitchFamily="34" charset="-122"/>
                <a:cs typeface="Aptos" pitchFamily="34" charset="-120"/>
              </a:rPr>
              <a:t>El nombre quedó guardado como texto, y la tabla sigue ahí.</a:t>
            </a:r>
            <a:endParaRPr lang="en-US" sz="1200" dirty="0"/>
          </a:p>
        </p:txBody>
      </p:sp>
      <p:sp>
        <p:nvSpPr>
          <p:cNvPr id="23" name="Shape 20"/>
          <p:cNvSpPr/>
          <p:nvPr/>
        </p:nvSpPr>
        <p:spPr>
          <a:xfrm>
            <a:off x="6278728" y="3072384"/>
            <a:ext cx="5254600" cy="2359152"/>
          </a:xfrm>
          <a:prstGeom prst="rect">
            <a:avLst/>
          </a:prstGeom>
          <a:solidFill>
            <a:srgbClr val="F2E7D9"/>
          </a:solidFill>
          <a:ln w="12700">
            <a:solidFill>
              <a:srgbClr val="F2E7D9"/>
            </a:solidFill>
            <a:prstDash val="solid"/>
          </a:ln>
        </p:spPr>
      </p:sp>
      <p:sp>
        <p:nvSpPr>
          <p:cNvPr id="24" name="Shape 21"/>
          <p:cNvSpPr/>
          <p:nvPr/>
        </p:nvSpPr>
        <p:spPr>
          <a:xfrm>
            <a:off x="6278728" y="3072384"/>
            <a:ext cx="5254600" cy="54864"/>
          </a:xfrm>
          <a:prstGeom prst="rect">
            <a:avLst/>
          </a:prstGeom>
          <a:solidFill>
            <a:srgbClr val="B3181E"/>
          </a:solidFill>
          <a:ln w="12700">
            <a:solidFill>
              <a:srgbClr val="B3181E"/>
            </a:solidFill>
            <a:prstDash val="solid"/>
          </a:ln>
        </p:spPr>
      </p:sp>
      <p:sp>
        <p:nvSpPr>
          <p:cNvPr id="25" name="Text 22"/>
          <p:cNvSpPr txBox="1"/>
          <p:nvPr/>
        </p:nvSpPr>
        <p:spPr>
          <a:xfrm>
            <a:off x="6553048" y="3273552"/>
            <a:ext cx="470596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SUPLANTACIÓN</a:t>
            </a:r>
            <a:endParaRPr lang="en-US" sz="960" dirty="0"/>
          </a:p>
        </p:txBody>
      </p:sp>
      <p:sp>
        <p:nvSpPr>
          <p:cNvPr id="26" name="Text 23"/>
          <p:cNvSpPr txBox="1"/>
          <p:nvPr/>
        </p:nvSpPr>
        <p:spPr>
          <a:xfrm>
            <a:off x="6553048" y="3529584"/>
            <a:ext cx="4705960" cy="548640"/>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Prospera</a:t>
            </a:r>
            <a:endParaRPr lang="en-US" sz="2600" dirty="0"/>
          </a:p>
        </p:txBody>
      </p:sp>
      <p:sp>
        <p:nvSpPr>
          <p:cNvPr id="27" name="Text 24"/>
          <p:cNvSpPr txBox="1"/>
          <p:nvPr/>
        </p:nvSpPr>
        <p:spPr>
          <a:xfrm>
            <a:off x="6553048" y="4133088"/>
            <a:ext cx="4705960" cy="786384"/>
          </a:xfrm>
          <a:prstGeom prst="rect">
            <a:avLst/>
          </a:prstGeom>
          <a:noFill/>
          <a:ln/>
        </p:spPr>
        <p:txBody>
          <a:bodyPr wrap="square" lIns="0" tIns="0" rIns="0" bIns="0" rtlCol="0" anchor="t"/>
          <a:lstStyle/>
          <a:p>
            <a:pPr algn="l" indent="0" marL="0">
              <a:lnSpc>
                <a:spcPct val="110000"/>
              </a:lnSpc>
              <a:buNone/>
            </a:pPr>
            <a:r>
              <a:rPr lang="en-US" sz="1200" dirty="0">
                <a:solidFill>
                  <a:srgbClr val="243B53"/>
                </a:solidFill>
                <a:latin typeface="Aptos" pitchFamily="34" charset="0"/>
                <a:ea typeface="Aptos" pitchFamily="34" charset="-122"/>
                <a:cs typeface="Aptos" pitchFamily="34" charset="-120"/>
              </a:rPr>
              <a:t>Ana no puede reservar: alguien gastó su cuota con su RUT. La API acepta cualquier RUT sin comprobar que quien lo escribe sea su dueño.</a:t>
            </a:r>
            <a:endParaRPr lang="en-US" sz="1200" dirty="0"/>
          </a:p>
        </p:txBody>
      </p:sp>
      <p:sp>
        <p:nvSpPr>
          <p:cNvPr id="28" name="Shape 25"/>
          <p:cNvSpPr/>
          <p:nvPr/>
        </p:nvSpPr>
        <p:spPr>
          <a:xfrm>
            <a:off x="6553048" y="4956048"/>
            <a:ext cx="4705960" cy="329184"/>
          </a:xfrm>
          <a:prstGeom prst="rect">
            <a:avLst/>
          </a:prstGeom>
          <a:solidFill>
            <a:srgbClr val="B3181E"/>
          </a:solidFill>
          <a:ln w="12700">
            <a:solidFill>
              <a:srgbClr val="B3181E"/>
            </a:solidFill>
            <a:prstDash val="solid"/>
          </a:ln>
        </p:spPr>
      </p:sp>
      <p:sp>
        <p:nvSpPr>
          <p:cNvPr id="29" name="Text 26"/>
          <p:cNvSpPr txBox="1"/>
          <p:nvPr/>
        </p:nvSpPr>
        <p:spPr>
          <a:xfrm>
            <a:off x="6644488" y="4992624"/>
            <a:ext cx="4523080" cy="256032"/>
          </a:xfrm>
          <a:prstGeom prst="rect">
            <a:avLst/>
          </a:prstGeom>
          <a:noFill/>
          <a:ln/>
        </p:spPr>
        <p:txBody>
          <a:bodyPr wrap="square" lIns="0" tIns="0" rIns="0" bIns="0" rtlCol="0" anchor="ctr"/>
          <a:lstStyle/>
          <a:p>
            <a:pPr algn="l" indent="0" marL="0">
              <a:buNone/>
            </a:pPr>
            <a:r>
              <a:rPr lang="en-US" sz="1020" b="1" dirty="0">
                <a:solidFill>
                  <a:srgbClr val="FFFFFF"/>
                </a:solidFill>
                <a:latin typeface="Aptos" pitchFamily="34" charset="0"/>
                <a:ea typeface="Aptos" pitchFamily="34" charset="-122"/>
                <a:cs typeface="Aptos" pitchFamily="34" charset="-120"/>
              </a:rPr>
              <a:t>Autenticidad (ISO/IEC 25010) · A07:2025</a:t>
            </a:r>
            <a:endParaRPr lang="en-US" sz="1020" dirty="0"/>
          </a:p>
        </p:txBody>
      </p:sp>
      <p:sp>
        <p:nvSpPr>
          <p:cNvPr id="30"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sistema reconoce como legítimo a alguien que no lo es.</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Esta no se arregla con una línea</a:t>
            </a:r>
            <a:endParaRPr lang="en-US" sz="3000" dirty="0"/>
          </a:p>
        </p:txBody>
      </p:sp>
      <p:sp>
        <p:nvSpPr>
          <p:cNvPr id="10" name="Shape 7"/>
          <p:cNvSpPr/>
          <p:nvPr/>
        </p:nvSpPr>
        <p:spPr>
          <a:xfrm>
            <a:off x="658368" y="1773936"/>
            <a:ext cx="5254600" cy="1554480"/>
          </a:xfrm>
          <a:prstGeom prst="rect">
            <a:avLst/>
          </a:prstGeom>
          <a:solidFill>
            <a:srgbClr val="FFFFFF"/>
          </a:solidFill>
          <a:ln w="12700">
            <a:solidFill>
              <a:srgbClr val="FFFFFF"/>
            </a:solidFill>
            <a:prstDash val="solid"/>
          </a:ln>
        </p:spPr>
      </p:sp>
      <p:sp>
        <p:nvSpPr>
          <p:cNvPr id="11" name="Shape 8"/>
          <p:cNvSpPr/>
          <p:nvPr/>
        </p:nvSpPr>
        <p:spPr>
          <a:xfrm>
            <a:off x="658368" y="1773936"/>
            <a:ext cx="54864" cy="1554480"/>
          </a:xfrm>
          <a:prstGeom prst="rect">
            <a:avLst/>
          </a:prstGeom>
          <a:solidFill>
            <a:srgbClr val="2E7D4F"/>
          </a:solidFill>
          <a:ln w="12700">
            <a:solidFill>
              <a:srgbClr val="2E7D4F"/>
            </a:solidFill>
            <a:prstDash val="solid"/>
          </a:ln>
        </p:spPr>
      </p:sp>
      <p:sp>
        <p:nvSpPr>
          <p:cNvPr id="12" name="Text 9"/>
          <p:cNvSpPr txBox="1"/>
          <p:nvPr/>
        </p:nvSpPr>
        <p:spPr>
          <a:xfrm>
            <a:off x="914400" y="1920240"/>
            <a:ext cx="47974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LA DOBLE RESERVA · BLOQUE 1</a:t>
            </a:r>
            <a:endParaRPr lang="en-US" sz="960" dirty="0"/>
          </a:p>
        </p:txBody>
      </p:sp>
      <p:sp>
        <p:nvSpPr>
          <p:cNvPr id="13" name="Text 10"/>
          <p:cNvSpPr txBox="1"/>
          <p:nvPr/>
        </p:nvSpPr>
        <p:spPr>
          <a:xfrm>
            <a:off x="914400" y="2194560"/>
            <a:ext cx="4797400" cy="402336"/>
          </a:xfrm>
          <a:prstGeom prst="rect">
            <a:avLst/>
          </a:prstGeom>
          <a:noFill/>
          <a:ln/>
        </p:spPr>
        <p:txBody>
          <a:bodyPr wrap="square" lIns="0" tIns="0" rIns="0" bIns="0" rtlCol="0" anchor="t"/>
          <a:lstStyle/>
          <a:p>
            <a:pPr algn="l" indent="0" marL="0">
              <a:buNone/>
            </a:pPr>
            <a:r>
              <a:rPr lang="en-US" sz="1800" b="1" dirty="0">
                <a:solidFill>
                  <a:srgbClr val="243B53"/>
                </a:solidFill>
                <a:latin typeface="Aptos" pitchFamily="34" charset="0"/>
                <a:ea typeface="Aptos" pitchFamily="34" charset="-122"/>
                <a:cs typeface="Aptos" pitchFamily="34" charset="-120"/>
              </a:rPr>
              <a:t>Una decisión de código</a:t>
            </a:r>
            <a:endParaRPr lang="en-US" sz="1800" dirty="0"/>
          </a:p>
        </p:txBody>
      </p:sp>
      <p:sp>
        <p:nvSpPr>
          <p:cNvPr id="14" name="Text 11"/>
          <p:cNvSpPr txBox="1"/>
          <p:nvPr/>
        </p:nvSpPr>
        <p:spPr>
          <a:xfrm>
            <a:off x="914400" y="2651760"/>
            <a:ext cx="4797400" cy="603504"/>
          </a:xfrm>
          <a:prstGeom prst="rect">
            <a:avLst/>
          </a:prstGeom>
          <a:noFill/>
          <a:ln/>
        </p:spPr>
        <p:txBody>
          <a:bodyPr wrap="square" lIns="0" tIns="0" rIns="0" bIns="0" rtlCol="0" anchor="t"/>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Cómo ordenar las operaciones de la base. Se resolvió con BEGIN IMMEDIATE, y la prueba pasó a verde.</a:t>
            </a:r>
            <a:endParaRPr lang="en-US" sz="1160" dirty="0"/>
          </a:p>
        </p:txBody>
      </p:sp>
      <p:sp>
        <p:nvSpPr>
          <p:cNvPr id="15" name="Shape 12"/>
          <p:cNvSpPr/>
          <p:nvPr/>
        </p:nvSpPr>
        <p:spPr>
          <a:xfrm>
            <a:off x="6278728" y="1773936"/>
            <a:ext cx="5254600" cy="1554480"/>
          </a:xfrm>
          <a:prstGeom prst="rect">
            <a:avLst/>
          </a:prstGeom>
          <a:solidFill>
            <a:srgbClr val="FFFFFF"/>
          </a:solidFill>
          <a:ln w="12700">
            <a:solidFill>
              <a:srgbClr val="FFFFFF"/>
            </a:solidFill>
            <a:prstDash val="solid"/>
          </a:ln>
        </p:spPr>
      </p:sp>
      <p:sp>
        <p:nvSpPr>
          <p:cNvPr id="16" name="Shape 13"/>
          <p:cNvSpPr/>
          <p:nvPr/>
        </p:nvSpPr>
        <p:spPr>
          <a:xfrm>
            <a:off x="6278728" y="1773936"/>
            <a:ext cx="54864" cy="1554480"/>
          </a:xfrm>
          <a:prstGeom prst="rect">
            <a:avLst/>
          </a:prstGeom>
          <a:solidFill>
            <a:srgbClr val="B3181E"/>
          </a:solidFill>
          <a:ln w="12700">
            <a:solidFill>
              <a:srgbClr val="B3181E"/>
            </a:solidFill>
            <a:prstDash val="solid"/>
          </a:ln>
        </p:spPr>
      </p:sp>
      <p:sp>
        <p:nvSpPr>
          <p:cNvPr id="17" name="Text 14"/>
          <p:cNvSpPr txBox="1"/>
          <p:nvPr/>
        </p:nvSpPr>
        <p:spPr>
          <a:xfrm>
            <a:off x="6534760" y="1920240"/>
            <a:ext cx="4797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 SUPLANTACIÓN · BLOQUE 2</a:t>
            </a:r>
            <a:endParaRPr lang="en-US" sz="960" dirty="0"/>
          </a:p>
        </p:txBody>
      </p:sp>
      <p:sp>
        <p:nvSpPr>
          <p:cNvPr id="18" name="Text 15"/>
          <p:cNvSpPr txBox="1"/>
          <p:nvPr/>
        </p:nvSpPr>
        <p:spPr>
          <a:xfrm>
            <a:off x="6534760" y="2194560"/>
            <a:ext cx="4797400" cy="402336"/>
          </a:xfrm>
          <a:prstGeom prst="rect">
            <a:avLst/>
          </a:prstGeom>
          <a:noFill/>
          <a:ln/>
        </p:spPr>
        <p:txBody>
          <a:bodyPr wrap="square" lIns="0" tIns="0" rIns="0" bIns="0" rtlCol="0" anchor="t"/>
          <a:lstStyle/>
          <a:p>
            <a:pPr algn="l" indent="0" marL="0">
              <a:buNone/>
            </a:pPr>
            <a:r>
              <a:rPr lang="en-US" sz="1800" b="1" dirty="0">
                <a:solidFill>
                  <a:srgbClr val="243B53"/>
                </a:solidFill>
                <a:latin typeface="Aptos" pitchFamily="34" charset="0"/>
                <a:ea typeface="Aptos" pitchFamily="34" charset="-122"/>
                <a:cs typeface="Aptos" pitchFamily="34" charset="-120"/>
              </a:rPr>
              <a:t>Una decisión de requisito</a:t>
            </a:r>
            <a:endParaRPr lang="en-US" sz="1800" dirty="0"/>
          </a:p>
        </p:txBody>
      </p:sp>
      <p:sp>
        <p:nvSpPr>
          <p:cNvPr id="19" name="Text 16"/>
          <p:cNvSpPr txBox="1"/>
          <p:nvPr/>
        </p:nvSpPr>
        <p:spPr>
          <a:xfrm>
            <a:off x="6534760" y="2651760"/>
            <a:ext cx="4797400" cy="603504"/>
          </a:xfrm>
          <a:prstGeom prst="rect">
            <a:avLst/>
          </a:prstGeom>
          <a:noFill/>
          <a:ln/>
        </p:spPr>
        <p:txBody>
          <a:bodyPr wrap="square" lIns="0" tIns="0" rIns="0" bIns="0" rtlCol="0" anchor="t"/>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Cómo se identifican las personas. Mientras nadie lo decida, no hay código correcto que escribir.</a:t>
            </a:r>
            <a:endParaRPr lang="en-US" sz="1160" dirty="0"/>
          </a:p>
        </p:txBody>
      </p:sp>
      <p:sp>
        <p:nvSpPr>
          <p:cNvPr id="20" name="Text 17"/>
          <p:cNvSpPr txBox="1"/>
          <p:nvPr/>
        </p:nvSpPr>
        <p:spPr>
          <a:xfrm>
            <a:off x="658368" y="3566160"/>
            <a:ext cx="82296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ALGUIEN TIENE QUE DECIDIR CÓMO SE COMPRUEBA QUIÉN ES QUIÉN</a:t>
            </a:r>
            <a:endParaRPr lang="en-US" sz="960" dirty="0"/>
          </a:p>
        </p:txBody>
      </p:sp>
      <p:sp>
        <p:nvSpPr>
          <p:cNvPr id="21" name="Shape 18"/>
          <p:cNvSpPr/>
          <p:nvPr/>
        </p:nvSpPr>
        <p:spPr>
          <a:xfrm>
            <a:off x="658368" y="3858768"/>
            <a:ext cx="3503066" cy="548640"/>
          </a:xfrm>
          <a:prstGeom prst="rect">
            <a:avLst/>
          </a:prstGeom>
          <a:solidFill>
            <a:srgbClr val="F2E7D9"/>
          </a:solidFill>
          <a:ln w="12700">
            <a:solidFill>
              <a:srgbClr val="F2E7D9"/>
            </a:solidFill>
            <a:prstDash val="solid"/>
          </a:ln>
        </p:spPr>
      </p:sp>
      <p:sp>
        <p:nvSpPr>
          <p:cNvPr id="22" name="Text 19"/>
          <p:cNvSpPr txBox="1"/>
          <p:nvPr/>
        </p:nvSpPr>
        <p:spPr>
          <a:xfrm>
            <a:off x="841248" y="3913632"/>
            <a:ext cx="3137306" cy="438912"/>
          </a:xfrm>
          <a:prstGeom prst="rect">
            <a:avLst/>
          </a:prstGeom>
          <a:noFill/>
          <a:ln/>
        </p:spPr>
        <p:txBody>
          <a:bodyPr wrap="square" lIns="0" tIns="0" rIns="0" bIns="0" rtlCol="0" anchor="ctr"/>
          <a:lstStyle/>
          <a:p>
            <a:pPr algn="ctr" indent="0" marL="0">
              <a:buNone/>
            </a:pPr>
            <a:r>
              <a:rPr lang="en-US" sz="1220" b="1" dirty="0">
                <a:solidFill>
                  <a:srgbClr val="243B53"/>
                </a:solidFill>
                <a:latin typeface="Aptos" pitchFamily="34" charset="0"/>
                <a:ea typeface="Aptos" pitchFamily="34" charset="-122"/>
                <a:cs typeface="Aptos" pitchFamily="34" charset="-120"/>
              </a:rPr>
              <a:t>Con la cuenta institucional</a:t>
            </a:r>
            <a:endParaRPr lang="en-US" sz="1220" dirty="0"/>
          </a:p>
        </p:txBody>
      </p:sp>
      <p:sp>
        <p:nvSpPr>
          <p:cNvPr id="23" name="Shape 20"/>
          <p:cNvSpPr/>
          <p:nvPr/>
        </p:nvSpPr>
        <p:spPr>
          <a:xfrm>
            <a:off x="4344314" y="3858768"/>
            <a:ext cx="3503066" cy="548640"/>
          </a:xfrm>
          <a:prstGeom prst="rect">
            <a:avLst/>
          </a:prstGeom>
          <a:solidFill>
            <a:srgbClr val="F2E7D9"/>
          </a:solidFill>
          <a:ln w="12700">
            <a:solidFill>
              <a:srgbClr val="F2E7D9"/>
            </a:solidFill>
            <a:prstDash val="solid"/>
          </a:ln>
        </p:spPr>
      </p:sp>
      <p:sp>
        <p:nvSpPr>
          <p:cNvPr id="24" name="Text 21"/>
          <p:cNvSpPr txBox="1"/>
          <p:nvPr/>
        </p:nvSpPr>
        <p:spPr>
          <a:xfrm>
            <a:off x="4527194" y="3913632"/>
            <a:ext cx="3137306" cy="438912"/>
          </a:xfrm>
          <a:prstGeom prst="rect">
            <a:avLst/>
          </a:prstGeom>
          <a:noFill/>
          <a:ln/>
        </p:spPr>
        <p:txBody>
          <a:bodyPr wrap="square" lIns="0" tIns="0" rIns="0" bIns="0" rtlCol="0" anchor="ctr"/>
          <a:lstStyle/>
          <a:p>
            <a:pPr algn="ctr" indent="0" marL="0">
              <a:buNone/>
            </a:pPr>
            <a:r>
              <a:rPr lang="en-US" sz="1220" b="1" dirty="0">
                <a:solidFill>
                  <a:srgbClr val="243B53"/>
                </a:solidFill>
                <a:latin typeface="Aptos" pitchFamily="34" charset="0"/>
                <a:ea typeface="Aptos" pitchFamily="34" charset="-122"/>
                <a:cs typeface="Aptos" pitchFamily="34" charset="-120"/>
              </a:rPr>
              <a:t>Con un código enviado al correo</a:t>
            </a:r>
            <a:endParaRPr lang="en-US" sz="1220" dirty="0"/>
          </a:p>
        </p:txBody>
      </p:sp>
      <p:sp>
        <p:nvSpPr>
          <p:cNvPr id="25" name="Shape 22"/>
          <p:cNvSpPr/>
          <p:nvPr/>
        </p:nvSpPr>
        <p:spPr>
          <a:xfrm>
            <a:off x="8030261" y="3858768"/>
            <a:ext cx="3503066" cy="548640"/>
          </a:xfrm>
          <a:prstGeom prst="rect">
            <a:avLst/>
          </a:prstGeom>
          <a:solidFill>
            <a:srgbClr val="F2E7D9"/>
          </a:solidFill>
          <a:ln w="12700">
            <a:solidFill>
              <a:srgbClr val="F2E7D9"/>
            </a:solidFill>
            <a:prstDash val="solid"/>
          </a:ln>
        </p:spPr>
      </p:sp>
      <p:sp>
        <p:nvSpPr>
          <p:cNvPr id="26" name="Text 23"/>
          <p:cNvSpPr txBox="1"/>
          <p:nvPr/>
        </p:nvSpPr>
        <p:spPr>
          <a:xfrm>
            <a:off x="8213141" y="3913632"/>
            <a:ext cx="3137306" cy="438912"/>
          </a:xfrm>
          <a:prstGeom prst="rect">
            <a:avLst/>
          </a:prstGeom>
          <a:noFill/>
          <a:ln/>
        </p:spPr>
        <p:txBody>
          <a:bodyPr wrap="square" lIns="0" tIns="0" rIns="0" bIns="0" rtlCol="0" anchor="ctr"/>
          <a:lstStyle/>
          <a:p>
            <a:pPr algn="ctr" indent="0" marL="0">
              <a:buNone/>
            </a:pPr>
            <a:r>
              <a:rPr lang="en-US" sz="1220" b="1" dirty="0">
                <a:solidFill>
                  <a:srgbClr val="243B53"/>
                </a:solidFill>
                <a:latin typeface="Aptos" pitchFamily="34" charset="0"/>
                <a:ea typeface="Aptos" pitchFamily="34" charset="-122"/>
                <a:cs typeface="Aptos" pitchFamily="34" charset="-120"/>
              </a:rPr>
              <a:t>Con otro mecanismo</a:t>
            </a:r>
            <a:endParaRPr lang="en-US" sz="1220" dirty="0"/>
          </a:p>
        </p:txBody>
      </p:sp>
      <p:sp>
        <p:nvSpPr>
          <p:cNvPr id="27" name="Shape 24"/>
          <p:cNvSpPr/>
          <p:nvPr/>
        </p:nvSpPr>
        <p:spPr>
          <a:xfrm>
            <a:off x="658368" y="4608576"/>
            <a:ext cx="10874959" cy="822960"/>
          </a:xfrm>
          <a:prstGeom prst="rect">
            <a:avLst/>
          </a:prstGeom>
          <a:solidFill>
            <a:srgbClr val="1D3A57"/>
          </a:solidFill>
          <a:ln w="12700">
            <a:solidFill>
              <a:srgbClr val="1D3A57"/>
            </a:solidFill>
            <a:prstDash val="solid"/>
          </a:ln>
        </p:spPr>
      </p:sp>
      <p:sp>
        <p:nvSpPr>
          <p:cNvPr id="28" name="Text 25"/>
          <p:cNvSpPr txBox="1"/>
          <p:nvPr/>
        </p:nvSpPr>
        <p:spPr>
          <a:xfrm>
            <a:off x="969264" y="4663440"/>
            <a:ext cx="10253167" cy="713232"/>
          </a:xfrm>
          <a:prstGeom prst="rect">
            <a:avLst/>
          </a:prstGeom>
          <a:noFill/>
          <a:ln/>
        </p:spPr>
        <p:txBody>
          <a:bodyPr wrap="square" lIns="0" tIns="0" rIns="0" bIns="0" rtlCol="0" anchor="ctr"/>
          <a:lstStyle/>
          <a:p>
            <a:pPr algn="l" indent="0" marL="0">
              <a:lnSpc>
                <a:spcPct val="112000"/>
              </a:lnSpc>
              <a:buNone/>
            </a:pPr>
            <a:r>
              <a:rPr lang="en-US" sz="1260" dirty="0">
                <a:solidFill>
                  <a:srgbClr val="FFFFFF"/>
                </a:solidFill>
                <a:latin typeface="Aptos" pitchFamily="34" charset="0"/>
                <a:ea typeface="Aptos" pitchFamily="34" charset="-122"/>
                <a:cs typeface="Aptos" pitchFamily="34" charset="-120"/>
              </a:rPr>
              <a:t>Mientras se decide, la prueba queda en rojo. Y ese rojo informa: dice exactamente qué puede hacer hoy cualquiera con el RUT de otra persona.</a:t>
            </a:r>
            <a:endParaRPr lang="en-US" sz="1260" dirty="0"/>
          </a:p>
        </p:txBody>
      </p:sp>
      <p:sp>
        <p:nvSpPr>
          <p:cNvPr id="29" name="Shape 26"/>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rojo que se conoce y se explica es información. Uno que se borra es un riesgo escondido.</a:t>
            </a:r>
            <a:endParaRPr lang="en-US" sz="13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REVISAR EL CÓDIGO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bandit lee el código sin ejecutarlo</a:t>
            </a:r>
            <a:endParaRPr lang="en-US" sz="3000" dirty="0"/>
          </a:p>
        </p:txBody>
      </p:sp>
      <p:sp>
        <p:nvSpPr>
          <p:cNvPr id="10" name="Text 7"/>
          <p:cNvSpPr txBox="1"/>
          <p:nvPr/>
        </p:nvSpPr>
        <p:spPr>
          <a:xfrm>
            <a:off x="658368" y="1682496"/>
            <a:ext cx="10874959" cy="274320"/>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Un analizador estático de seguridad: busca en el código patrones que suelen ser inseguros.</a:t>
            </a:r>
            <a:endParaRPr lang="en-US" sz="1240" dirty="0"/>
          </a:p>
        </p:txBody>
      </p:sp>
      <p:sp>
        <p:nvSpPr>
          <p:cNvPr id="11" name="Shape 8"/>
          <p:cNvSpPr/>
          <p:nvPr/>
        </p:nvSpPr>
        <p:spPr>
          <a:xfrm>
            <a:off x="658368" y="2066544"/>
            <a:ext cx="10874959" cy="2339721"/>
          </a:xfrm>
          <a:prstGeom prst="roundRect">
            <a:avLst>
              <a:gd name="adj" fmla="val 1954"/>
            </a:avLst>
          </a:prstGeom>
          <a:solidFill>
            <a:srgbClr val="0F1720"/>
          </a:solidFill>
          <a:ln w="12700">
            <a:solidFill>
              <a:srgbClr val="0F1720"/>
            </a:solidFill>
            <a:prstDash val="solid"/>
          </a:ln>
        </p:spPr>
      </p:sp>
      <p:sp>
        <p:nvSpPr>
          <p:cNvPr id="12" name="Shape 9"/>
          <p:cNvSpPr/>
          <p:nvPr/>
        </p:nvSpPr>
        <p:spPr>
          <a:xfrm>
            <a:off x="818388" y="2199132"/>
            <a:ext cx="82296" cy="82296"/>
          </a:xfrm>
          <a:prstGeom prst="ellipse">
            <a:avLst/>
          </a:prstGeom>
          <a:solidFill>
            <a:srgbClr val="52606D"/>
          </a:solidFill>
          <a:ln w="12700">
            <a:solidFill>
              <a:srgbClr val="52606D"/>
            </a:solidFill>
            <a:prstDash val="solid"/>
          </a:ln>
        </p:spPr>
      </p:sp>
      <p:sp>
        <p:nvSpPr>
          <p:cNvPr id="13" name="Shape 10"/>
          <p:cNvSpPr/>
          <p:nvPr/>
        </p:nvSpPr>
        <p:spPr>
          <a:xfrm>
            <a:off x="973836" y="2199132"/>
            <a:ext cx="82296" cy="82296"/>
          </a:xfrm>
          <a:prstGeom prst="ellipse">
            <a:avLst/>
          </a:prstGeom>
          <a:solidFill>
            <a:srgbClr val="52606D"/>
          </a:solidFill>
          <a:ln w="12700">
            <a:solidFill>
              <a:srgbClr val="52606D"/>
            </a:solidFill>
            <a:prstDash val="solid"/>
          </a:ln>
        </p:spPr>
      </p:sp>
      <p:sp>
        <p:nvSpPr>
          <p:cNvPr id="14" name="Shape 11"/>
          <p:cNvSpPr/>
          <p:nvPr/>
        </p:nvSpPr>
        <p:spPr>
          <a:xfrm>
            <a:off x="1129284" y="2199132"/>
            <a:ext cx="82296" cy="82296"/>
          </a:xfrm>
          <a:prstGeom prst="ellipse">
            <a:avLst/>
          </a:prstGeom>
          <a:solidFill>
            <a:srgbClr val="52606D"/>
          </a:solidFill>
          <a:ln w="12700">
            <a:solidFill>
              <a:srgbClr val="52606D"/>
            </a:solidFill>
            <a:prstDash val="solid"/>
          </a:ln>
        </p:spPr>
      </p:sp>
      <p:sp>
        <p:nvSpPr>
          <p:cNvPr id="15" name="Text 12"/>
          <p:cNvSpPr/>
          <p:nvPr/>
        </p:nvSpPr>
        <p:spPr>
          <a:xfrm>
            <a:off x="1353312" y="2148840"/>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Sobre los cuatro archivos de la aplicación</a:t>
            </a:r>
            <a:endParaRPr lang="en-US" sz="940" dirty="0"/>
          </a:p>
        </p:txBody>
      </p:sp>
      <p:sp>
        <p:nvSpPr>
          <p:cNvPr id="16" name="Text 13"/>
          <p:cNvSpPr/>
          <p:nvPr/>
        </p:nvSpPr>
        <p:spPr>
          <a:xfrm>
            <a:off x="859536" y="2542032"/>
            <a:ext cx="10472623" cy="192913"/>
          </a:xfrm>
          <a:prstGeom prst="rect">
            <a:avLst/>
          </a:prstGeom>
          <a:noFill/>
          <a:ln/>
        </p:spPr>
        <p:txBody>
          <a:bodyPr wrap="square" lIns="0" tIns="0" rIns="0" bIns="0" rtlCol="0" anchor="ctr"/>
          <a:lstStyle/>
          <a:p>
            <a:pPr indent="0" marL="0">
              <a:buNone/>
            </a:pPr>
            <a:r>
              <a:rPr lang="en-US" sz="980" dirty="0">
                <a:solidFill>
                  <a:srgbClr val="E0BC5A"/>
                </a:solidFill>
                <a:latin typeface="Consolas" pitchFamily="34" charset="0"/>
                <a:ea typeface="Consolas" pitchFamily="34" charset="-122"/>
                <a:cs typeface="Consolas" pitchFamily="34" charset="-120"/>
              </a:rPr>
              <a:t>&gt; uv run --with bandit bandit api.py almacen.py reservas.py sala.py</a:t>
            </a:r>
            <a:endParaRPr lang="en-US" sz="980" dirty="0"/>
          </a:p>
        </p:txBody>
      </p:sp>
      <p:sp>
        <p:nvSpPr>
          <p:cNvPr id="17" name="Text 14"/>
          <p:cNvSpPr/>
          <p:nvPr/>
        </p:nvSpPr>
        <p:spPr>
          <a:xfrm>
            <a:off x="859536" y="2734945"/>
            <a:ext cx="10472623" cy="192913"/>
          </a:xfrm>
          <a:prstGeom prst="rect">
            <a:avLst/>
          </a:prstGeom>
          <a:noFill/>
          <a:ln/>
        </p:spPr>
        <p:txBody>
          <a:bodyPr wrap="square" lIns="0" tIns="0" rIns="0" bIns="0" rtlCol="0" anchor="ctr"/>
          <a:lstStyle/>
          <a:p>
            <a:pPr indent="0" marL="0">
              <a:buNone/>
            </a:pPr>
            <a:endParaRPr lang="en-US" sz="980" dirty="0"/>
          </a:p>
        </p:txBody>
      </p:sp>
      <p:sp>
        <p:nvSpPr>
          <p:cNvPr id="18" name="Text 15"/>
          <p:cNvSpPr/>
          <p:nvPr/>
        </p:nvSpPr>
        <p:spPr>
          <a:xfrm>
            <a:off x="859536" y="2927858"/>
            <a:ext cx="10472623" cy="192913"/>
          </a:xfrm>
          <a:prstGeom prst="rect">
            <a:avLst/>
          </a:prstGeom>
          <a:noFill/>
          <a:ln/>
        </p:spPr>
        <p:txBody>
          <a:bodyPr wrap="square" lIns="0" tIns="0" rIns="0" bIns="0" rtlCol="0" anchor="ctr"/>
          <a:lstStyle/>
          <a:p>
            <a:pPr indent="0" marL="0">
              <a:buNone/>
            </a:pPr>
            <a:r>
              <a:rPr lang="en-US" sz="980" b="1" dirty="0">
                <a:solidFill>
                  <a:srgbClr val="D62027"/>
                </a:solidFill>
                <a:latin typeface="Consolas" pitchFamily="34" charset="0"/>
                <a:ea typeface="Consolas" pitchFamily="34" charset="-122"/>
                <a:cs typeface="Consolas" pitchFamily="34" charset="-120"/>
              </a:rPr>
              <a:t>&gt;&gt; Issue: [B608:hardcoded_sql_expressions] Possible SQL injection vector through string-based query construction.</a:t>
            </a:r>
            <a:endParaRPr lang="en-US" sz="980" dirty="0"/>
          </a:p>
        </p:txBody>
      </p:sp>
      <p:sp>
        <p:nvSpPr>
          <p:cNvPr id="19" name="Text 16"/>
          <p:cNvSpPr/>
          <p:nvPr/>
        </p:nvSpPr>
        <p:spPr>
          <a:xfrm>
            <a:off x="859536" y="3120771"/>
            <a:ext cx="10472623" cy="192913"/>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   Severity: Medium   Confidence: Medium</a:t>
            </a:r>
            <a:endParaRPr lang="en-US" sz="980" dirty="0"/>
          </a:p>
        </p:txBody>
      </p:sp>
      <p:sp>
        <p:nvSpPr>
          <p:cNvPr id="20" name="Text 17"/>
          <p:cNvSpPr/>
          <p:nvPr/>
        </p:nvSpPr>
        <p:spPr>
          <a:xfrm>
            <a:off x="859536" y="3313684"/>
            <a:ext cx="10472623" cy="192913"/>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   CWE: CWE-89 (https://cwe.mitre.org/data/definitions/89.html)</a:t>
            </a:r>
            <a:endParaRPr lang="en-US" sz="980" dirty="0"/>
          </a:p>
        </p:txBody>
      </p:sp>
      <p:sp>
        <p:nvSpPr>
          <p:cNvPr id="21" name="Text 18"/>
          <p:cNvSpPr/>
          <p:nvPr/>
        </p:nvSpPr>
        <p:spPr>
          <a:xfrm>
            <a:off x="859536" y="3506597"/>
            <a:ext cx="10472623" cy="192913"/>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   Location: .\almacen.py:26:10</a:t>
            </a:r>
            <a:endParaRPr lang="en-US" sz="980" dirty="0"/>
          </a:p>
        </p:txBody>
      </p:sp>
      <p:sp>
        <p:nvSpPr>
          <p:cNvPr id="22" name="Text 19"/>
          <p:cNvSpPr/>
          <p:nvPr/>
        </p:nvSpPr>
        <p:spPr>
          <a:xfrm>
            <a:off x="859536" y="3699510"/>
            <a:ext cx="10472623" cy="192913"/>
          </a:xfrm>
          <a:prstGeom prst="rect">
            <a:avLst/>
          </a:prstGeom>
          <a:noFill/>
          <a:ln/>
        </p:spPr>
        <p:txBody>
          <a:bodyPr wrap="square" lIns="0" tIns="0" rIns="0" bIns="0" rtlCol="0" anchor="ctr"/>
          <a:lstStyle/>
          <a:p>
            <a:pPr indent="0" marL="0">
              <a:buNone/>
            </a:pPr>
            <a:r>
              <a:rPr lang="en-US" sz="980" dirty="0">
                <a:solidFill>
                  <a:srgbClr val="8AA0B6"/>
                </a:solidFill>
                <a:latin typeface="Consolas" pitchFamily="34" charset="0"/>
                <a:ea typeface="Consolas" pitchFamily="34" charset="-122"/>
                <a:cs typeface="Consolas" pitchFamily="34" charset="-120"/>
              </a:rPr>
              <a:t>25	    conexion.execute(</a:t>
            </a:r>
            <a:endParaRPr lang="en-US" sz="980" dirty="0"/>
          </a:p>
        </p:txBody>
      </p:sp>
      <p:sp>
        <p:nvSpPr>
          <p:cNvPr id="23" name="Text 20"/>
          <p:cNvSpPr/>
          <p:nvPr/>
        </p:nvSpPr>
        <p:spPr>
          <a:xfrm>
            <a:off x="859536" y="3892423"/>
            <a:ext cx="10472623" cy="192913"/>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26	        f"INSERT INTO reservas ({columnas}) VALUES ({marcas})", tuple(campos.values())</a:t>
            </a:r>
            <a:endParaRPr lang="en-US" sz="980" dirty="0"/>
          </a:p>
        </p:txBody>
      </p:sp>
      <p:sp>
        <p:nvSpPr>
          <p:cNvPr id="24" name="Text 21"/>
          <p:cNvSpPr/>
          <p:nvPr/>
        </p:nvSpPr>
        <p:spPr>
          <a:xfrm>
            <a:off x="859536" y="4085336"/>
            <a:ext cx="10472623" cy="192913"/>
          </a:xfrm>
          <a:prstGeom prst="rect">
            <a:avLst/>
          </a:prstGeom>
          <a:noFill/>
          <a:ln/>
        </p:spPr>
        <p:txBody>
          <a:bodyPr wrap="square" lIns="0" tIns="0" rIns="0" bIns="0" rtlCol="0" anchor="ctr"/>
          <a:lstStyle/>
          <a:p>
            <a:pPr indent="0" marL="0">
              <a:buNone/>
            </a:pPr>
            <a:r>
              <a:rPr lang="en-US" sz="980" dirty="0">
                <a:solidFill>
                  <a:srgbClr val="8AA0B6"/>
                </a:solidFill>
                <a:latin typeface="Consolas" pitchFamily="34" charset="0"/>
                <a:ea typeface="Consolas" pitchFamily="34" charset="-122"/>
                <a:cs typeface="Consolas" pitchFamily="34" charset="-120"/>
              </a:rPr>
              <a:t>27	    )</a:t>
            </a:r>
            <a:endParaRPr lang="en-US" sz="980" dirty="0"/>
          </a:p>
        </p:txBody>
      </p:sp>
      <p:sp>
        <p:nvSpPr>
          <p:cNvPr id="25" name="Shape 22"/>
          <p:cNvSpPr/>
          <p:nvPr/>
        </p:nvSpPr>
        <p:spPr>
          <a:xfrm>
            <a:off x="658368" y="4645152"/>
            <a:ext cx="3503066" cy="841248"/>
          </a:xfrm>
          <a:prstGeom prst="rect">
            <a:avLst/>
          </a:prstGeom>
          <a:solidFill>
            <a:srgbClr val="FFFFFF"/>
          </a:solidFill>
          <a:ln w="12700">
            <a:solidFill>
              <a:srgbClr val="FFFFFF"/>
            </a:solidFill>
            <a:prstDash val="solid"/>
          </a:ln>
        </p:spPr>
      </p:sp>
      <p:sp>
        <p:nvSpPr>
          <p:cNvPr id="26" name="Shape 23"/>
          <p:cNvSpPr/>
          <p:nvPr/>
        </p:nvSpPr>
        <p:spPr>
          <a:xfrm>
            <a:off x="658368" y="4645152"/>
            <a:ext cx="54864" cy="841248"/>
          </a:xfrm>
          <a:prstGeom prst="rect">
            <a:avLst/>
          </a:prstGeom>
          <a:solidFill>
            <a:srgbClr val="102A43"/>
          </a:solidFill>
          <a:ln w="12700">
            <a:solidFill>
              <a:srgbClr val="102A43"/>
            </a:solidFill>
            <a:prstDash val="solid"/>
          </a:ln>
        </p:spPr>
      </p:sp>
      <p:sp>
        <p:nvSpPr>
          <p:cNvPr id="27" name="Text 24"/>
          <p:cNvSpPr txBox="1"/>
          <p:nvPr/>
        </p:nvSpPr>
        <p:spPr>
          <a:xfrm>
            <a:off x="877824" y="4700016"/>
            <a:ext cx="3137306" cy="237744"/>
          </a:xfrm>
          <a:prstGeom prst="rect">
            <a:avLst/>
          </a:prstGeom>
          <a:noFill/>
          <a:ln/>
        </p:spPr>
        <p:txBody>
          <a:bodyPr wrap="square" lIns="0" tIns="0" rIns="0" bIns="0" rtlCol="0" anchor="t"/>
          <a:lstStyle/>
          <a:p>
            <a:pPr algn="l" indent="0" marL="0">
              <a:buNone/>
            </a:pPr>
            <a:r>
              <a:rPr lang="en-US" sz="1140" b="1" dirty="0">
                <a:solidFill>
                  <a:srgbClr val="102A43"/>
                </a:solidFill>
                <a:latin typeface="Aptos" pitchFamily="34" charset="0"/>
                <a:ea typeface="Aptos" pitchFamily="34" charset="-122"/>
                <a:cs typeface="Aptos" pitchFamily="34" charset="-120"/>
              </a:rPr>
              <a:t>En español</a:t>
            </a:r>
            <a:endParaRPr lang="en-US" sz="1140" dirty="0"/>
          </a:p>
        </p:txBody>
      </p:sp>
      <p:sp>
        <p:nvSpPr>
          <p:cNvPr id="28" name="Text 25"/>
          <p:cNvSpPr txBox="1"/>
          <p:nvPr/>
        </p:nvSpPr>
        <p:spPr>
          <a:xfrm>
            <a:off x="877824" y="4956048"/>
            <a:ext cx="3137306" cy="493776"/>
          </a:xfrm>
          <a:prstGeom prst="rect">
            <a:avLst/>
          </a:prstGeom>
          <a:noFill/>
          <a:ln/>
        </p:spPr>
        <p:txBody>
          <a:bodyPr wrap="square" lIns="0" tIns="0" rIns="0" bIns="0" rtlCol="0" anchor="t"/>
          <a:lstStyle/>
          <a:p>
            <a:pPr algn="l" indent="0" marL="0">
              <a:lnSpc>
                <a:spcPct val="105000"/>
              </a:lnSpc>
              <a:buNone/>
            </a:pPr>
            <a:r>
              <a:rPr lang="en-US" sz="1000" dirty="0">
                <a:solidFill>
                  <a:srgbClr val="243B53"/>
                </a:solidFill>
                <a:latin typeface="Aptos" pitchFamily="34" charset="0"/>
                <a:ea typeface="Aptos" pitchFamily="34" charset="-122"/>
                <a:cs typeface="Aptos" pitchFamily="34" charset="-120"/>
              </a:rPr>
              <a:t>B608, la regla que lo detectó: posible vía de inyección SQL por armar la consulta con texto.</a:t>
            </a:r>
            <a:endParaRPr lang="en-US" sz="1000" dirty="0"/>
          </a:p>
        </p:txBody>
      </p:sp>
      <p:sp>
        <p:nvSpPr>
          <p:cNvPr id="29" name="Shape 26"/>
          <p:cNvSpPr/>
          <p:nvPr/>
        </p:nvSpPr>
        <p:spPr>
          <a:xfrm>
            <a:off x="4344314" y="4645152"/>
            <a:ext cx="3503066" cy="841248"/>
          </a:xfrm>
          <a:prstGeom prst="rect">
            <a:avLst/>
          </a:prstGeom>
          <a:solidFill>
            <a:srgbClr val="FFFFFF"/>
          </a:solidFill>
          <a:ln w="12700">
            <a:solidFill>
              <a:srgbClr val="FFFFFF"/>
            </a:solidFill>
            <a:prstDash val="solid"/>
          </a:ln>
        </p:spPr>
      </p:sp>
      <p:sp>
        <p:nvSpPr>
          <p:cNvPr id="30" name="Shape 27"/>
          <p:cNvSpPr/>
          <p:nvPr/>
        </p:nvSpPr>
        <p:spPr>
          <a:xfrm>
            <a:off x="4344314" y="4645152"/>
            <a:ext cx="54864" cy="841248"/>
          </a:xfrm>
          <a:prstGeom prst="rect">
            <a:avLst/>
          </a:prstGeom>
          <a:solidFill>
            <a:srgbClr val="102A43"/>
          </a:solidFill>
          <a:ln w="12700">
            <a:solidFill>
              <a:srgbClr val="102A43"/>
            </a:solidFill>
            <a:prstDash val="solid"/>
          </a:ln>
        </p:spPr>
      </p:sp>
      <p:sp>
        <p:nvSpPr>
          <p:cNvPr id="31" name="Text 28"/>
          <p:cNvSpPr txBox="1"/>
          <p:nvPr/>
        </p:nvSpPr>
        <p:spPr>
          <a:xfrm>
            <a:off x="4563770" y="4700016"/>
            <a:ext cx="3137306" cy="237744"/>
          </a:xfrm>
          <a:prstGeom prst="rect">
            <a:avLst/>
          </a:prstGeom>
          <a:noFill/>
          <a:ln/>
        </p:spPr>
        <p:txBody>
          <a:bodyPr wrap="square" lIns="0" tIns="0" rIns="0" bIns="0" rtlCol="0" anchor="t"/>
          <a:lstStyle/>
          <a:p>
            <a:pPr algn="l" indent="0" marL="0">
              <a:buNone/>
            </a:pPr>
            <a:r>
              <a:rPr lang="en-US" sz="1140" b="1" dirty="0">
                <a:solidFill>
                  <a:srgbClr val="102A43"/>
                </a:solidFill>
                <a:latin typeface="Aptos" pitchFamily="34" charset="0"/>
                <a:ea typeface="Aptos" pitchFamily="34" charset="-122"/>
                <a:cs typeface="Aptos" pitchFamily="34" charset="-120"/>
              </a:rPr>
              <a:t>Severidad y confianza</a:t>
            </a:r>
            <a:endParaRPr lang="en-US" sz="1140" dirty="0"/>
          </a:p>
        </p:txBody>
      </p:sp>
      <p:sp>
        <p:nvSpPr>
          <p:cNvPr id="32" name="Text 29"/>
          <p:cNvSpPr txBox="1"/>
          <p:nvPr/>
        </p:nvSpPr>
        <p:spPr>
          <a:xfrm>
            <a:off x="4563770" y="4956048"/>
            <a:ext cx="3137306" cy="493776"/>
          </a:xfrm>
          <a:prstGeom prst="rect">
            <a:avLst/>
          </a:prstGeom>
          <a:noFill/>
          <a:ln/>
        </p:spPr>
        <p:txBody>
          <a:bodyPr wrap="square" lIns="0" tIns="0" rIns="0" bIns="0" rtlCol="0" anchor="t"/>
          <a:lstStyle/>
          <a:p>
            <a:pPr algn="l" indent="0" marL="0">
              <a:lnSpc>
                <a:spcPct val="105000"/>
              </a:lnSpc>
              <a:buNone/>
            </a:pPr>
            <a:r>
              <a:rPr lang="en-US" sz="1000" dirty="0">
                <a:solidFill>
                  <a:srgbClr val="243B53"/>
                </a:solidFill>
                <a:latin typeface="Aptos" pitchFamily="34" charset="0"/>
                <a:ea typeface="Aptos" pitchFamily="34" charset="-122"/>
                <a:cs typeface="Aptos" pitchFamily="34" charset="-120"/>
              </a:rPr>
              <a:t>Media y media: qué tan grave sería, y qué tan segura está la herramienta.</a:t>
            </a:r>
            <a:endParaRPr lang="en-US" sz="1000" dirty="0"/>
          </a:p>
        </p:txBody>
      </p:sp>
      <p:sp>
        <p:nvSpPr>
          <p:cNvPr id="33" name="Shape 30"/>
          <p:cNvSpPr/>
          <p:nvPr/>
        </p:nvSpPr>
        <p:spPr>
          <a:xfrm>
            <a:off x="8030261" y="4645152"/>
            <a:ext cx="3503066" cy="841248"/>
          </a:xfrm>
          <a:prstGeom prst="rect">
            <a:avLst/>
          </a:prstGeom>
          <a:solidFill>
            <a:srgbClr val="FFFFFF"/>
          </a:solidFill>
          <a:ln w="12700">
            <a:solidFill>
              <a:srgbClr val="FFFFFF"/>
            </a:solidFill>
            <a:prstDash val="solid"/>
          </a:ln>
        </p:spPr>
      </p:sp>
      <p:sp>
        <p:nvSpPr>
          <p:cNvPr id="34" name="Shape 31"/>
          <p:cNvSpPr/>
          <p:nvPr/>
        </p:nvSpPr>
        <p:spPr>
          <a:xfrm>
            <a:off x="8030261" y="4645152"/>
            <a:ext cx="54864" cy="841248"/>
          </a:xfrm>
          <a:prstGeom prst="rect">
            <a:avLst/>
          </a:prstGeom>
          <a:solidFill>
            <a:srgbClr val="102A43"/>
          </a:solidFill>
          <a:ln w="12700">
            <a:solidFill>
              <a:srgbClr val="102A43"/>
            </a:solidFill>
            <a:prstDash val="solid"/>
          </a:ln>
        </p:spPr>
      </p:sp>
      <p:sp>
        <p:nvSpPr>
          <p:cNvPr id="35" name="Text 32"/>
          <p:cNvSpPr txBox="1"/>
          <p:nvPr/>
        </p:nvSpPr>
        <p:spPr>
          <a:xfrm>
            <a:off x="8249717" y="4700016"/>
            <a:ext cx="3137306" cy="237744"/>
          </a:xfrm>
          <a:prstGeom prst="rect">
            <a:avLst/>
          </a:prstGeom>
          <a:noFill/>
          <a:ln/>
        </p:spPr>
        <p:txBody>
          <a:bodyPr wrap="square" lIns="0" tIns="0" rIns="0" bIns="0" rtlCol="0" anchor="t"/>
          <a:lstStyle/>
          <a:p>
            <a:pPr algn="l" indent="0" marL="0">
              <a:buNone/>
            </a:pPr>
            <a:r>
              <a:rPr lang="en-US" sz="1140" b="1" dirty="0">
                <a:solidFill>
                  <a:srgbClr val="102A43"/>
                </a:solidFill>
                <a:latin typeface="Aptos" pitchFamily="34" charset="0"/>
                <a:ea typeface="Aptos" pitchFamily="34" charset="-122"/>
                <a:cs typeface="Aptos" pitchFamily="34" charset="-120"/>
              </a:rPr>
              <a:t>CWE-89</a:t>
            </a:r>
            <a:endParaRPr lang="en-US" sz="1140" dirty="0"/>
          </a:p>
        </p:txBody>
      </p:sp>
      <p:sp>
        <p:nvSpPr>
          <p:cNvPr id="36" name="Text 33"/>
          <p:cNvSpPr txBox="1"/>
          <p:nvPr/>
        </p:nvSpPr>
        <p:spPr>
          <a:xfrm>
            <a:off x="8249717" y="4956048"/>
            <a:ext cx="3137306" cy="493776"/>
          </a:xfrm>
          <a:prstGeom prst="rect">
            <a:avLst/>
          </a:prstGeom>
          <a:noFill/>
          <a:ln/>
        </p:spPr>
        <p:txBody>
          <a:bodyPr wrap="square" lIns="0" tIns="0" rIns="0" bIns="0" rtlCol="0" anchor="t"/>
          <a:lstStyle/>
          <a:p>
            <a:pPr algn="l" indent="0" marL="0">
              <a:lnSpc>
                <a:spcPct val="105000"/>
              </a:lnSpc>
              <a:buNone/>
            </a:pPr>
            <a:r>
              <a:rPr lang="en-US" sz="1000" dirty="0">
                <a:solidFill>
                  <a:srgbClr val="243B53"/>
                </a:solidFill>
                <a:latin typeface="Aptos" pitchFamily="34" charset="0"/>
                <a:ea typeface="Aptos" pitchFamily="34" charset="-122"/>
                <a:cs typeface="Aptos" pitchFamily="34" charset="-120"/>
              </a:rPr>
              <a:t>El identificador de la inyección SQL en el catálogo común de debilidades de software.</a:t>
            </a:r>
            <a:endParaRPr lang="en-US" sz="1000" dirty="0"/>
          </a:p>
        </p:txBody>
      </p:sp>
      <p:sp>
        <p:nvSpPr>
          <p:cNvPr id="37" name="Shape 34"/>
          <p:cNvSpPr/>
          <p:nvPr/>
        </p:nvSpPr>
        <p:spPr>
          <a:xfrm>
            <a:off x="658368" y="5669280"/>
            <a:ext cx="10874959" cy="457200"/>
          </a:xfrm>
          <a:prstGeom prst="rect">
            <a:avLst/>
          </a:prstGeom>
          <a:solidFill>
            <a:srgbClr val="102A43"/>
          </a:solidFill>
          <a:ln w="12700">
            <a:solidFill>
              <a:srgbClr val="102A43"/>
            </a:solidFill>
            <a:prstDash val="solid"/>
          </a:ln>
        </p:spPr>
      </p:sp>
      <p:sp>
        <p:nvSpPr>
          <p:cNvPr id="38" name="Text 35"/>
          <p:cNvSpPr txBox="1"/>
          <p:nvPr/>
        </p:nvSpPr>
        <p:spPr>
          <a:xfrm>
            <a:off x="950976" y="5705856"/>
            <a:ext cx="10289743" cy="38404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línea es real: la función guardar arma el INSERT pegando texto. ¿Es explotable?</a:t>
            </a:r>
            <a:endParaRPr lang="en-US" sz="13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VERIFICAR EL HALLAZGO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Seguir el dato hasta su origen</a:t>
            </a:r>
            <a:endParaRPr lang="en-US" sz="3000" dirty="0"/>
          </a:p>
        </p:txBody>
      </p:sp>
      <p:sp>
        <p:nvSpPr>
          <p:cNvPr id="10" name="Shape 7"/>
          <p:cNvSpPr/>
          <p:nvPr/>
        </p:nvSpPr>
        <p:spPr>
          <a:xfrm>
            <a:off x="658368" y="1700784"/>
            <a:ext cx="6675120" cy="1740611"/>
          </a:xfrm>
          <a:prstGeom prst="roundRect">
            <a:avLst>
              <a:gd name="adj" fmla="val 2627"/>
            </a:avLst>
          </a:prstGeom>
          <a:solidFill>
            <a:srgbClr val="102A43"/>
          </a:solidFill>
          <a:ln w="12700">
            <a:solidFill>
              <a:srgbClr val="102A43"/>
            </a:solidFill>
            <a:prstDash val="solid"/>
          </a:ln>
        </p:spPr>
      </p:sp>
      <p:sp>
        <p:nvSpPr>
          <p:cNvPr id="11" name="Shape 8"/>
          <p:cNvSpPr/>
          <p:nvPr/>
        </p:nvSpPr>
        <p:spPr>
          <a:xfrm>
            <a:off x="658368" y="2057400"/>
            <a:ext cx="6675120" cy="9144"/>
          </a:xfrm>
          <a:prstGeom prst="rect">
            <a:avLst/>
          </a:prstGeom>
          <a:solidFill>
            <a:srgbClr val="284B75"/>
          </a:solidFill>
          <a:ln w="12700">
            <a:solidFill>
              <a:srgbClr val="284B75"/>
            </a:solidFill>
            <a:prstDash val="solid"/>
          </a:ln>
        </p:spPr>
      </p:sp>
      <p:sp>
        <p:nvSpPr>
          <p:cNvPr id="12" name="Text 9"/>
          <p:cNvSpPr/>
          <p:nvPr/>
        </p:nvSpPr>
        <p:spPr>
          <a:xfrm>
            <a:off x="841248" y="1792224"/>
            <a:ext cx="630936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almacen.py</a:t>
            </a:r>
            <a:endParaRPr lang="en-US" sz="960" dirty="0"/>
          </a:p>
        </p:txBody>
      </p:sp>
      <p:sp>
        <p:nvSpPr>
          <p:cNvPr id="13" name="Shape 10"/>
          <p:cNvSpPr/>
          <p:nvPr/>
        </p:nvSpPr>
        <p:spPr>
          <a:xfrm>
            <a:off x="713232" y="2335378"/>
            <a:ext cx="6163056" cy="145914"/>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2791358"/>
            <a:ext cx="6163056" cy="145914"/>
          </a:xfrm>
          <a:prstGeom prst="rect">
            <a:avLst/>
          </a:prstGeom>
          <a:solidFill>
            <a:srgbClr val="2E7D4F">
              <a:alpha val="28000"/>
            </a:srgbClr>
          </a:solidFill>
          <a:ln w="12700">
            <a:solidFill>
              <a:srgbClr val="2E7D4F">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94560"/>
            <a:ext cx="5943600" cy="1118819"/>
          </a:xfrm>
          <a:prstGeom prst="rect">
            <a:avLst/>
          </a:prstGeom>
        </p:spPr>
      </p:pic>
      <p:sp>
        <p:nvSpPr>
          <p:cNvPr id="16" name="Shape 12"/>
          <p:cNvSpPr/>
          <p:nvPr/>
        </p:nvSpPr>
        <p:spPr>
          <a:xfrm>
            <a:off x="7034971" y="2332517"/>
            <a:ext cx="139834" cy="139834"/>
          </a:xfrm>
          <a:prstGeom prst="ellipse">
            <a:avLst/>
          </a:prstGeom>
          <a:solidFill>
            <a:srgbClr val="E0BC5A"/>
          </a:solidFill>
          <a:ln w="12700">
            <a:solidFill>
              <a:srgbClr val="E0BC5A"/>
            </a:solidFill>
            <a:prstDash val="solid"/>
          </a:ln>
        </p:spPr>
      </p:sp>
      <p:sp>
        <p:nvSpPr>
          <p:cNvPr id="17" name="Text 13"/>
          <p:cNvSpPr/>
          <p:nvPr/>
        </p:nvSpPr>
        <p:spPr>
          <a:xfrm>
            <a:off x="7044115" y="2341661"/>
            <a:ext cx="121546" cy="12154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8" name="Shape 14"/>
          <p:cNvSpPr/>
          <p:nvPr/>
        </p:nvSpPr>
        <p:spPr>
          <a:xfrm>
            <a:off x="7034971" y="2788497"/>
            <a:ext cx="139834" cy="139834"/>
          </a:xfrm>
          <a:prstGeom prst="ellipse">
            <a:avLst/>
          </a:prstGeom>
          <a:solidFill>
            <a:srgbClr val="2E7D4F"/>
          </a:solidFill>
          <a:ln w="12700">
            <a:solidFill>
              <a:srgbClr val="2E7D4F"/>
            </a:solidFill>
            <a:prstDash val="solid"/>
          </a:ln>
        </p:spPr>
      </p:sp>
      <p:sp>
        <p:nvSpPr>
          <p:cNvPr id="19" name="Text 15"/>
          <p:cNvSpPr/>
          <p:nvPr/>
        </p:nvSpPr>
        <p:spPr>
          <a:xfrm>
            <a:off x="7044115" y="2797641"/>
            <a:ext cx="121546" cy="12154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0" name="Shape 16"/>
          <p:cNvSpPr/>
          <p:nvPr/>
        </p:nvSpPr>
        <p:spPr>
          <a:xfrm>
            <a:off x="658368" y="3587699"/>
            <a:ext cx="6675120" cy="1740611"/>
          </a:xfrm>
          <a:prstGeom prst="roundRect">
            <a:avLst>
              <a:gd name="adj" fmla="val 2627"/>
            </a:avLst>
          </a:prstGeom>
          <a:solidFill>
            <a:srgbClr val="102A43"/>
          </a:solidFill>
          <a:ln w="12700">
            <a:solidFill>
              <a:srgbClr val="102A43"/>
            </a:solidFill>
            <a:prstDash val="solid"/>
          </a:ln>
        </p:spPr>
      </p:sp>
      <p:sp>
        <p:nvSpPr>
          <p:cNvPr id="21" name="Shape 17"/>
          <p:cNvSpPr/>
          <p:nvPr/>
        </p:nvSpPr>
        <p:spPr>
          <a:xfrm>
            <a:off x="658368" y="3944315"/>
            <a:ext cx="6675120" cy="9144"/>
          </a:xfrm>
          <a:prstGeom prst="rect">
            <a:avLst/>
          </a:prstGeom>
          <a:solidFill>
            <a:srgbClr val="284B75"/>
          </a:solidFill>
          <a:ln w="12700">
            <a:solidFill>
              <a:srgbClr val="284B75"/>
            </a:solidFill>
            <a:prstDash val="solid"/>
          </a:ln>
        </p:spPr>
      </p:sp>
      <p:sp>
        <p:nvSpPr>
          <p:cNvPr id="22" name="Text 18"/>
          <p:cNvSpPr/>
          <p:nvPr/>
        </p:nvSpPr>
        <p:spPr>
          <a:xfrm>
            <a:off x="841248" y="3679139"/>
            <a:ext cx="630936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api.py · la única llamada a guardar</a:t>
            </a:r>
            <a:endParaRPr lang="en-US" sz="960" dirty="0"/>
          </a:p>
        </p:txBody>
      </p:sp>
      <p:sp>
        <p:nvSpPr>
          <p:cNvPr id="23" name="Shape 19"/>
          <p:cNvSpPr/>
          <p:nvPr/>
        </p:nvSpPr>
        <p:spPr>
          <a:xfrm>
            <a:off x="713232" y="4374286"/>
            <a:ext cx="6163056" cy="145914"/>
          </a:xfrm>
          <a:prstGeom prst="rect">
            <a:avLst/>
          </a:prstGeom>
          <a:solidFill>
            <a:srgbClr val="E0BC5A">
              <a:alpha val="28000"/>
            </a:srgbClr>
          </a:solidFill>
          <a:ln w="12700">
            <a:solidFill>
              <a:srgbClr val="E0BC5A">
                <a:alpha val="0"/>
              </a:srgbClr>
            </a:solidFill>
            <a:prstDash val="solid"/>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960" y="4081475"/>
            <a:ext cx="5943600" cy="1118819"/>
          </a:xfrm>
          <a:prstGeom prst="rect">
            <a:avLst/>
          </a:prstGeom>
        </p:spPr>
      </p:pic>
      <p:sp>
        <p:nvSpPr>
          <p:cNvPr id="25" name="Shape 20"/>
          <p:cNvSpPr/>
          <p:nvPr/>
        </p:nvSpPr>
        <p:spPr>
          <a:xfrm>
            <a:off x="7034971" y="4371425"/>
            <a:ext cx="139834" cy="139834"/>
          </a:xfrm>
          <a:prstGeom prst="ellipse">
            <a:avLst/>
          </a:prstGeom>
          <a:solidFill>
            <a:srgbClr val="E0BC5A"/>
          </a:solidFill>
          <a:ln w="12700">
            <a:solidFill>
              <a:srgbClr val="E0BC5A"/>
            </a:solidFill>
            <a:prstDash val="solid"/>
          </a:ln>
        </p:spPr>
      </p:sp>
      <p:sp>
        <p:nvSpPr>
          <p:cNvPr id="26" name="Text 21"/>
          <p:cNvSpPr/>
          <p:nvPr/>
        </p:nvSpPr>
        <p:spPr>
          <a:xfrm>
            <a:off x="7044115" y="4380569"/>
            <a:ext cx="121546" cy="121546"/>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7" name="Shape 22"/>
          <p:cNvSpPr/>
          <p:nvPr/>
        </p:nvSpPr>
        <p:spPr>
          <a:xfrm>
            <a:off x="7607808" y="1700784"/>
            <a:ext cx="3925519" cy="987552"/>
          </a:xfrm>
          <a:prstGeom prst="rect">
            <a:avLst/>
          </a:prstGeom>
          <a:solidFill>
            <a:srgbClr val="FFFFFF"/>
          </a:solidFill>
          <a:ln w="12700">
            <a:solidFill>
              <a:srgbClr val="FFFFFF"/>
            </a:solidFill>
            <a:prstDash val="solid"/>
          </a:ln>
        </p:spPr>
      </p:sp>
      <p:sp>
        <p:nvSpPr>
          <p:cNvPr id="28" name="Shape 23"/>
          <p:cNvSpPr/>
          <p:nvPr/>
        </p:nvSpPr>
        <p:spPr>
          <a:xfrm>
            <a:off x="7607808" y="1700784"/>
            <a:ext cx="54864" cy="987552"/>
          </a:xfrm>
          <a:prstGeom prst="rect">
            <a:avLst/>
          </a:prstGeom>
          <a:solidFill>
            <a:srgbClr val="2E7D4F"/>
          </a:solidFill>
          <a:ln w="12700">
            <a:solidFill>
              <a:srgbClr val="2E7D4F"/>
            </a:solidFill>
            <a:prstDash val="solid"/>
          </a:ln>
        </p:spPr>
      </p:sp>
      <p:sp>
        <p:nvSpPr>
          <p:cNvPr id="29" name="Shape 24"/>
          <p:cNvSpPr/>
          <p:nvPr/>
        </p:nvSpPr>
        <p:spPr>
          <a:xfrm>
            <a:off x="7808976" y="1810512"/>
            <a:ext cx="256032" cy="256032"/>
          </a:xfrm>
          <a:prstGeom prst="ellipse">
            <a:avLst/>
          </a:prstGeom>
          <a:solidFill>
            <a:srgbClr val="2E7D4F"/>
          </a:solidFill>
          <a:ln w="12700">
            <a:solidFill>
              <a:srgbClr val="2E7D4F"/>
            </a:solidFill>
            <a:prstDash val="solid"/>
          </a:ln>
        </p:spPr>
      </p:sp>
      <p:sp>
        <p:nvSpPr>
          <p:cNvPr id="30" name="Text 25"/>
          <p:cNvSpPr/>
          <p:nvPr/>
        </p:nvSpPr>
        <p:spPr>
          <a:xfrm>
            <a:off x="7818120" y="1819656"/>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31" name="Text 26"/>
          <p:cNvSpPr txBox="1"/>
          <p:nvPr/>
        </p:nvSpPr>
        <p:spPr>
          <a:xfrm>
            <a:off x="8174736" y="1810512"/>
            <a:ext cx="3193999" cy="237744"/>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Los valores no se pegan</a:t>
            </a:r>
            <a:endParaRPr lang="en-US" sz="1180" dirty="0"/>
          </a:p>
        </p:txBody>
      </p:sp>
      <p:sp>
        <p:nvSpPr>
          <p:cNvPr id="32" name="Text 27"/>
          <p:cNvSpPr txBox="1"/>
          <p:nvPr/>
        </p:nvSpPr>
        <p:spPr>
          <a:xfrm>
            <a:off x="7845552" y="2103120"/>
            <a:ext cx="3523183" cy="54864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Viajan aparte, y en la instrucción solo hay un ? por cada uno. La prueba de inyección lo confirmó.</a:t>
            </a:r>
            <a:endParaRPr lang="en-US" sz="980" dirty="0"/>
          </a:p>
        </p:txBody>
      </p:sp>
      <p:sp>
        <p:nvSpPr>
          <p:cNvPr id="33" name="Shape 28"/>
          <p:cNvSpPr/>
          <p:nvPr/>
        </p:nvSpPr>
        <p:spPr>
          <a:xfrm>
            <a:off x="7607808" y="2779776"/>
            <a:ext cx="3925519" cy="987552"/>
          </a:xfrm>
          <a:prstGeom prst="rect">
            <a:avLst/>
          </a:prstGeom>
          <a:solidFill>
            <a:srgbClr val="FFFFFF"/>
          </a:solidFill>
          <a:ln w="12700">
            <a:solidFill>
              <a:srgbClr val="FFFFFF"/>
            </a:solidFill>
            <a:prstDash val="solid"/>
          </a:ln>
        </p:spPr>
      </p:sp>
      <p:sp>
        <p:nvSpPr>
          <p:cNvPr id="34" name="Shape 29"/>
          <p:cNvSpPr/>
          <p:nvPr/>
        </p:nvSpPr>
        <p:spPr>
          <a:xfrm>
            <a:off x="7607808" y="2779776"/>
            <a:ext cx="54864" cy="987552"/>
          </a:xfrm>
          <a:prstGeom prst="rect">
            <a:avLst/>
          </a:prstGeom>
          <a:solidFill>
            <a:srgbClr val="8A6A12"/>
          </a:solidFill>
          <a:ln w="12700">
            <a:solidFill>
              <a:srgbClr val="8A6A12"/>
            </a:solidFill>
            <a:prstDash val="solid"/>
          </a:ln>
        </p:spPr>
      </p:sp>
      <p:sp>
        <p:nvSpPr>
          <p:cNvPr id="35" name="Shape 30"/>
          <p:cNvSpPr/>
          <p:nvPr/>
        </p:nvSpPr>
        <p:spPr>
          <a:xfrm>
            <a:off x="7808976" y="2889504"/>
            <a:ext cx="256032" cy="256032"/>
          </a:xfrm>
          <a:prstGeom prst="ellipse">
            <a:avLst/>
          </a:prstGeom>
          <a:solidFill>
            <a:srgbClr val="E0BC5A"/>
          </a:solidFill>
          <a:ln w="12700">
            <a:solidFill>
              <a:srgbClr val="E0BC5A"/>
            </a:solidFill>
            <a:prstDash val="solid"/>
          </a:ln>
        </p:spPr>
      </p:sp>
      <p:sp>
        <p:nvSpPr>
          <p:cNvPr id="36" name="Text 31"/>
          <p:cNvSpPr/>
          <p:nvPr/>
        </p:nvSpPr>
        <p:spPr>
          <a:xfrm>
            <a:off x="7818120" y="2898648"/>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7" name="Text 32"/>
          <p:cNvSpPr txBox="1"/>
          <p:nvPr/>
        </p:nvSpPr>
        <p:spPr>
          <a:xfrm>
            <a:off x="8174736" y="2889504"/>
            <a:ext cx="3193999" cy="237744"/>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Los nombres de columna sí</a:t>
            </a:r>
            <a:endParaRPr lang="en-US" sz="1180" dirty="0"/>
          </a:p>
        </p:txBody>
      </p:sp>
      <p:sp>
        <p:nvSpPr>
          <p:cNvPr id="38" name="Text 33"/>
          <p:cNvSpPr txBox="1"/>
          <p:nvPr/>
        </p:nvSpPr>
        <p:spPr>
          <a:xfrm>
            <a:off x="7845552" y="3182112"/>
            <a:ext cx="3523183" cy="54864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**campos reúne los argumentos con nombre, y esos nombres son las columnas: bloque=, rut=, nombre=, correo_electronico=. Los escribe el código, no una persona.</a:t>
            </a:r>
            <a:endParaRPr lang="en-US" sz="980" dirty="0"/>
          </a:p>
        </p:txBody>
      </p:sp>
      <p:sp>
        <p:nvSpPr>
          <p:cNvPr id="39" name="Shape 34"/>
          <p:cNvSpPr/>
          <p:nvPr/>
        </p:nvSpPr>
        <p:spPr>
          <a:xfrm>
            <a:off x="7607808" y="3858768"/>
            <a:ext cx="3925519" cy="987552"/>
          </a:xfrm>
          <a:prstGeom prst="rect">
            <a:avLst/>
          </a:prstGeom>
          <a:solidFill>
            <a:srgbClr val="FFFFFF"/>
          </a:solidFill>
          <a:ln w="12700">
            <a:solidFill>
              <a:srgbClr val="FFFFFF"/>
            </a:solidFill>
            <a:prstDash val="solid"/>
          </a:ln>
        </p:spPr>
      </p:sp>
      <p:sp>
        <p:nvSpPr>
          <p:cNvPr id="40" name="Shape 35"/>
          <p:cNvSpPr/>
          <p:nvPr/>
        </p:nvSpPr>
        <p:spPr>
          <a:xfrm>
            <a:off x="7607808" y="3858768"/>
            <a:ext cx="54864" cy="987552"/>
          </a:xfrm>
          <a:prstGeom prst="rect">
            <a:avLst/>
          </a:prstGeom>
          <a:solidFill>
            <a:srgbClr val="102A43"/>
          </a:solidFill>
          <a:ln w="12700">
            <a:solidFill>
              <a:srgbClr val="102A43"/>
            </a:solidFill>
            <a:prstDash val="solid"/>
          </a:ln>
        </p:spPr>
      </p:sp>
      <p:sp>
        <p:nvSpPr>
          <p:cNvPr id="41" name="Text 36"/>
          <p:cNvSpPr txBox="1"/>
          <p:nvPr/>
        </p:nvSpPr>
        <p:spPr>
          <a:xfrm>
            <a:off x="7845552" y="3968496"/>
            <a:ext cx="3193999" cy="237744"/>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Se intentó igual</a:t>
            </a:r>
            <a:endParaRPr lang="en-US" sz="1180" dirty="0"/>
          </a:p>
        </p:txBody>
      </p:sp>
      <p:sp>
        <p:nvSpPr>
          <p:cNvPr id="42" name="Text 37"/>
          <p:cNvSpPr txBox="1"/>
          <p:nvPr/>
        </p:nvSpPr>
        <p:spPr>
          <a:xfrm>
            <a:off x="7845552" y="4261104"/>
            <a:ext cx="3523183" cy="54864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Un campo extra llamado «bloque) VALUES (1); --» respondió 201: la validación descarta todo campo que no sea uno de los cinco declarados.</a:t>
            </a:r>
            <a:endParaRPr lang="en-US" sz="980" dirty="0"/>
          </a:p>
        </p:txBody>
      </p:sp>
      <p:sp>
        <p:nvSpPr>
          <p:cNvPr id="43" name="Shape 38"/>
          <p:cNvSpPr/>
          <p:nvPr/>
        </p:nvSpPr>
        <p:spPr>
          <a:xfrm>
            <a:off x="7607808" y="4992624"/>
            <a:ext cx="3925519" cy="548640"/>
          </a:xfrm>
          <a:prstGeom prst="rect">
            <a:avLst/>
          </a:prstGeom>
          <a:solidFill>
            <a:srgbClr val="2E7D4F"/>
          </a:solidFill>
          <a:ln w="12700">
            <a:solidFill>
              <a:srgbClr val="2E7D4F"/>
            </a:solidFill>
            <a:prstDash val="solid"/>
          </a:ln>
        </p:spPr>
      </p:sp>
      <p:sp>
        <p:nvSpPr>
          <p:cNvPr id="44" name="Text 39"/>
          <p:cNvSpPr txBox="1"/>
          <p:nvPr/>
        </p:nvSpPr>
        <p:spPr>
          <a:xfrm>
            <a:off x="7845552" y="5029200"/>
            <a:ext cx="3559759" cy="475488"/>
          </a:xfrm>
          <a:prstGeom prst="rect">
            <a:avLst/>
          </a:prstGeom>
          <a:noFill/>
          <a:ln/>
        </p:spPr>
        <p:txBody>
          <a:bodyPr wrap="square" lIns="0" tIns="0" rIns="0" bIns="0" rtlCol="0" anchor="ctr"/>
          <a:lstStyle/>
          <a:p>
            <a:pPr algn="l" indent="0" marL="0">
              <a:buNone/>
            </a:pPr>
            <a:r>
              <a:rPr lang="en-US" sz="1340" b="1" dirty="0">
                <a:solidFill>
                  <a:srgbClr val="FFFFFF"/>
                </a:solidFill>
                <a:latin typeface="Aptos" pitchFamily="34" charset="0"/>
                <a:ea typeface="Aptos" pitchFamily="34" charset="-122"/>
                <a:cs typeface="Aptos" pitchFamily="34" charset="-120"/>
              </a:rPr>
              <a:t>Veredicto: no es explotable hoy.</a:t>
            </a:r>
            <a:endParaRPr lang="en-US" sz="1340" dirty="0"/>
          </a:p>
        </p:txBody>
      </p:sp>
      <p:sp>
        <p:nvSpPr>
          <p:cNvPr id="45" name="Shape 40"/>
          <p:cNvSpPr/>
          <p:nvPr/>
        </p:nvSpPr>
        <p:spPr>
          <a:xfrm>
            <a:off x="658368" y="5705856"/>
            <a:ext cx="10874959" cy="420624"/>
          </a:xfrm>
          <a:prstGeom prst="rect">
            <a:avLst/>
          </a:prstGeom>
          <a:solidFill>
            <a:srgbClr val="102A43"/>
          </a:solidFill>
          <a:ln w="12700">
            <a:solidFill>
              <a:srgbClr val="102A43"/>
            </a:solidFill>
            <a:prstDash val="solid"/>
          </a:ln>
        </p:spPr>
      </p:sp>
      <p:sp>
        <p:nvSpPr>
          <p:cNvPr id="46" name="Text 41"/>
          <p:cNvSpPr txBox="1"/>
          <p:nvPr/>
        </p:nvSpPr>
        <p:spPr>
          <a:xfrm>
            <a:off x="950976" y="5742432"/>
            <a:ext cx="10289743" cy="347472"/>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hallazgo de una herramienta es una hipótesis, igual que el de un agente.</a:t>
            </a:r>
            <a:endParaRPr lang="en-US" sz="13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DECISIÓN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No explotable hoy, frágil mañana</a:t>
            </a:r>
            <a:endParaRPr lang="en-US" sz="3000" dirty="0"/>
          </a:p>
        </p:txBody>
      </p:sp>
      <p:sp>
        <p:nvSpPr>
          <p:cNvPr id="10" name="Text 7"/>
          <p:cNvSpPr txBox="1"/>
          <p:nvPr/>
        </p:nvSpPr>
        <p:spPr>
          <a:xfrm>
            <a:off x="658368" y="1737360"/>
            <a:ext cx="10874959" cy="512064"/>
          </a:xfrm>
          <a:prstGeom prst="rect">
            <a:avLst/>
          </a:prstGeom>
          <a:noFill/>
          <a:ln/>
        </p:spPr>
        <p:txBody>
          <a:bodyPr wrap="square" lIns="0" tIns="0" rIns="0" bIns="0" rtlCol="0" anchor="t"/>
          <a:lstStyle/>
          <a:p>
            <a:pPr algn="l" indent="0" marL="0">
              <a:lnSpc>
                <a:spcPct val="112000"/>
              </a:lnSpc>
              <a:buNone/>
            </a:pPr>
            <a:r>
              <a:rPr lang="en-US" sz="1260" dirty="0">
                <a:solidFill>
                  <a:srgbClr val="243B53"/>
                </a:solidFill>
                <a:latin typeface="Aptos" pitchFamily="34" charset="0"/>
                <a:ea typeface="Aptos" pitchFamily="34" charset="-122"/>
                <a:cs typeface="Aptos" pitchFamily="34" charset="-120"/>
              </a:rPr>
              <a:t>Si alguien llamara mañana a guardar con nombres de campo que vienen de una solicitud, la inyección pasaría a ser real. Tres salidas; # nosec es un comentario que le pide a bandit no avisar en esa línea:</a:t>
            </a:r>
            <a:endParaRPr lang="en-US" sz="1260" dirty="0"/>
          </a:p>
        </p:txBody>
      </p:sp>
      <p:sp>
        <p:nvSpPr>
          <p:cNvPr id="11" name="Shape 8"/>
          <p:cNvSpPr/>
          <p:nvPr/>
        </p:nvSpPr>
        <p:spPr>
          <a:xfrm>
            <a:off x="658368" y="2414016"/>
            <a:ext cx="3503066" cy="2980944"/>
          </a:xfrm>
          <a:prstGeom prst="rect">
            <a:avLst/>
          </a:prstGeom>
          <a:solidFill>
            <a:srgbClr val="FFFFFF"/>
          </a:solidFill>
          <a:ln w="12700">
            <a:solidFill>
              <a:srgbClr val="FFFFFF"/>
            </a:solidFill>
            <a:prstDash val="solid"/>
          </a:ln>
        </p:spPr>
      </p:sp>
      <p:sp>
        <p:nvSpPr>
          <p:cNvPr id="12" name="Shape 9"/>
          <p:cNvSpPr/>
          <p:nvPr/>
        </p:nvSpPr>
        <p:spPr>
          <a:xfrm>
            <a:off x="658368" y="2414016"/>
            <a:ext cx="3503066" cy="54864"/>
          </a:xfrm>
          <a:prstGeom prst="rect">
            <a:avLst/>
          </a:prstGeom>
          <a:solidFill>
            <a:srgbClr val="2E7D4F"/>
          </a:solidFill>
          <a:ln w="12700">
            <a:solidFill>
              <a:srgbClr val="2E7D4F"/>
            </a:solidFill>
            <a:prstDash val="solid"/>
          </a:ln>
        </p:spPr>
      </p:sp>
      <p:sp>
        <p:nvSpPr>
          <p:cNvPr id="13" name="Text 10"/>
          <p:cNvSpPr txBox="1"/>
          <p:nvPr/>
        </p:nvSpPr>
        <p:spPr>
          <a:xfrm>
            <a:off x="877824" y="2578608"/>
            <a:ext cx="3137306"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HONESTA</a:t>
            </a:r>
            <a:endParaRPr lang="en-US" sz="960" dirty="0"/>
          </a:p>
        </p:txBody>
      </p:sp>
      <p:sp>
        <p:nvSpPr>
          <p:cNvPr id="14" name="Text 11"/>
          <p:cNvSpPr txBox="1"/>
          <p:nvPr/>
        </p:nvSpPr>
        <p:spPr>
          <a:xfrm>
            <a:off x="877824" y="2834640"/>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pitchFamily="34" charset="0"/>
                <a:ea typeface="Aptos" pitchFamily="34" charset="-122"/>
                <a:cs typeface="Aptos" pitchFamily="34" charset="-120"/>
              </a:rPr>
              <a:t>Reescribir</a:t>
            </a:r>
            <a:endParaRPr lang="en-US" sz="1700" dirty="0"/>
          </a:p>
        </p:txBody>
      </p:sp>
      <p:sp>
        <p:nvSpPr>
          <p:cNvPr id="15" name="Shape 12"/>
          <p:cNvSpPr/>
          <p:nvPr/>
        </p:nvSpPr>
        <p:spPr>
          <a:xfrm>
            <a:off x="877824" y="3310128"/>
            <a:ext cx="3064154" cy="1024128"/>
          </a:xfrm>
          <a:prstGeom prst="rect">
            <a:avLst/>
          </a:prstGeom>
          <a:solidFill>
            <a:srgbClr val="102A43"/>
          </a:solidFill>
          <a:ln w="12700">
            <a:solidFill>
              <a:srgbClr val="102A43"/>
            </a:solidFill>
            <a:prstDash val="solid"/>
          </a:ln>
        </p:spPr>
      </p:sp>
      <p:sp>
        <p:nvSpPr>
          <p:cNvPr id="16" name="Text 13"/>
          <p:cNvSpPr txBox="1"/>
          <p:nvPr/>
        </p:nvSpPr>
        <p:spPr>
          <a:xfrm>
            <a:off x="987552" y="3364992"/>
            <a:ext cx="2844698" cy="914400"/>
          </a:xfrm>
          <a:prstGeom prst="rect">
            <a:avLst/>
          </a:prstGeom>
          <a:noFill/>
          <a:ln/>
        </p:spPr>
        <p:txBody>
          <a:bodyPr wrap="square" lIns="0" tIns="0" rIns="0" bIns="0" rtlCol="0" anchor="ctr"/>
          <a:lstStyle/>
          <a:p>
            <a:pPr algn="l" indent="0" marL="0">
              <a:lnSpc>
                <a:spcPct val="106000"/>
              </a:lnSpc>
              <a:buNone/>
            </a:pPr>
            <a:r>
              <a:rPr lang="en-US" sz="940" dirty="0">
                <a:solidFill>
                  <a:srgbClr val="E0BC5A"/>
                </a:solidFill>
                <a:latin typeface="Consolas" pitchFamily="34" charset="0"/>
                <a:ea typeface="Consolas" pitchFamily="34" charset="-122"/>
                <a:cs typeface="Consolas" pitchFamily="34" charset="-120"/>
              </a:rPr>
              <a:t>INSERT INTO reservas (bloque, rut, nombre, correo_electronico) VALUES (?, ?, ?, ?)</a:t>
            </a:r>
            <a:endParaRPr lang="en-US" sz="940" dirty="0"/>
          </a:p>
        </p:txBody>
      </p:sp>
      <p:sp>
        <p:nvSpPr>
          <p:cNvPr id="17" name="Text 14"/>
          <p:cNvSpPr txBox="1"/>
          <p:nvPr/>
        </p:nvSpPr>
        <p:spPr>
          <a:xfrm>
            <a:off x="877824" y="4480560"/>
            <a:ext cx="3100730" cy="822960"/>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Las columnas quedan fijas en el código, y el patrón desaparece.</a:t>
            </a:r>
            <a:endParaRPr lang="en-US" sz="1100" dirty="0"/>
          </a:p>
        </p:txBody>
      </p:sp>
      <p:sp>
        <p:nvSpPr>
          <p:cNvPr id="18" name="Shape 15"/>
          <p:cNvSpPr/>
          <p:nvPr/>
        </p:nvSpPr>
        <p:spPr>
          <a:xfrm>
            <a:off x="4344314" y="2414016"/>
            <a:ext cx="3503066" cy="2980944"/>
          </a:xfrm>
          <a:prstGeom prst="rect">
            <a:avLst/>
          </a:prstGeom>
          <a:solidFill>
            <a:srgbClr val="FFFFFF"/>
          </a:solidFill>
          <a:ln w="12700">
            <a:solidFill>
              <a:srgbClr val="FFFFFF"/>
            </a:solidFill>
            <a:prstDash val="solid"/>
          </a:ln>
        </p:spPr>
      </p:sp>
      <p:sp>
        <p:nvSpPr>
          <p:cNvPr id="19" name="Shape 16"/>
          <p:cNvSpPr/>
          <p:nvPr/>
        </p:nvSpPr>
        <p:spPr>
          <a:xfrm>
            <a:off x="4344314" y="2414016"/>
            <a:ext cx="3503066" cy="54864"/>
          </a:xfrm>
          <a:prstGeom prst="rect">
            <a:avLst/>
          </a:prstGeom>
          <a:solidFill>
            <a:srgbClr val="2E7D4F"/>
          </a:solidFill>
          <a:ln w="12700">
            <a:solidFill>
              <a:srgbClr val="2E7D4F"/>
            </a:solidFill>
            <a:prstDash val="solid"/>
          </a:ln>
        </p:spPr>
      </p:sp>
      <p:sp>
        <p:nvSpPr>
          <p:cNvPr id="20" name="Text 17"/>
          <p:cNvSpPr txBox="1"/>
          <p:nvPr/>
        </p:nvSpPr>
        <p:spPr>
          <a:xfrm>
            <a:off x="4563770" y="2578608"/>
            <a:ext cx="3137306"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HONESTA</a:t>
            </a:r>
            <a:endParaRPr lang="en-US" sz="960" dirty="0"/>
          </a:p>
        </p:txBody>
      </p:sp>
      <p:sp>
        <p:nvSpPr>
          <p:cNvPr id="21" name="Text 18"/>
          <p:cNvSpPr txBox="1"/>
          <p:nvPr/>
        </p:nvSpPr>
        <p:spPr>
          <a:xfrm>
            <a:off x="4563770" y="2834640"/>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pitchFamily="34" charset="0"/>
                <a:ea typeface="Aptos" pitchFamily="34" charset="-122"/>
                <a:cs typeface="Aptos" pitchFamily="34" charset="-120"/>
              </a:rPr>
              <a:t>Marcar como revisada</a:t>
            </a:r>
            <a:endParaRPr lang="en-US" sz="1700" dirty="0"/>
          </a:p>
        </p:txBody>
      </p:sp>
      <p:sp>
        <p:nvSpPr>
          <p:cNvPr id="22" name="Shape 19"/>
          <p:cNvSpPr/>
          <p:nvPr/>
        </p:nvSpPr>
        <p:spPr>
          <a:xfrm>
            <a:off x="4563770" y="3310128"/>
            <a:ext cx="3064154" cy="1024128"/>
          </a:xfrm>
          <a:prstGeom prst="rect">
            <a:avLst/>
          </a:prstGeom>
          <a:solidFill>
            <a:srgbClr val="102A43"/>
          </a:solidFill>
          <a:ln w="12700">
            <a:solidFill>
              <a:srgbClr val="102A43"/>
            </a:solidFill>
            <a:prstDash val="solid"/>
          </a:ln>
        </p:spPr>
      </p:sp>
      <p:sp>
        <p:nvSpPr>
          <p:cNvPr id="23" name="Text 20"/>
          <p:cNvSpPr txBox="1"/>
          <p:nvPr/>
        </p:nvSpPr>
        <p:spPr>
          <a:xfrm>
            <a:off x="4673498" y="3364992"/>
            <a:ext cx="2844698" cy="914400"/>
          </a:xfrm>
          <a:prstGeom prst="rect">
            <a:avLst/>
          </a:prstGeom>
          <a:noFill/>
          <a:ln/>
        </p:spPr>
        <p:txBody>
          <a:bodyPr wrap="square" lIns="0" tIns="0" rIns="0" bIns="0" rtlCol="0" anchor="ctr"/>
          <a:lstStyle/>
          <a:p>
            <a:pPr algn="l" indent="0" marL="0">
              <a:lnSpc>
                <a:spcPct val="106000"/>
              </a:lnSpc>
              <a:buNone/>
            </a:pPr>
            <a:r>
              <a:rPr lang="en-US" sz="940" dirty="0">
                <a:solidFill>
                  <a:srgbClr val="E0BC5A"/>
                </a:solidFill>
                <a:latin typeface="Consolas" pitchFamily="34" charset="0"/>
                <a:ea typeface="Consolas" pitchFamily="34" charset="-122"/>
                <a:cs typeface="Consolas" pitchFamily="34" charset="-120"/>
              </a:rPr>
              <a:t># nosec B608: las columnas salen de los argumentos de api.py; los valores van con ?</a:t>
            </a:r>
            <a:endParaRPr lang="en-US" sz="940" dirty="0"/>
          </a:p>
        </p:txBody>
      </p:sp>
      <p:sp>
        <p:nvSpPr>
          <p:cNvPr id="24" name="Text 21"/>
          <p:cNvSpPr txBox="1"/>
          <p:nvPr/>
        </p:nvSpPr>
        <p:spPr>
          <a:xfrm>
            <a:off x="4563770" y="4480560"/>
            <a:ext cx="3100730" cy="822960"/>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La próxima persona sabe que alguien la revisó, y por qué.</a:t>
            </a:r>
            <a:endParaRPr lang="en-US" sz="1100" dirty="0"/>
          </a:p>
        </p:txBody>
      </p:sp>
      <p:sp>
        <p:nvSpPr>
          <p:cNvPr id="25" name="Shape 22"/>
          <p:cNvSpPr/>
          <p:nvPr/>
        </p:nvSpPr>
        <p:spPr>
          <a:xfrm>
            <a:off x="8030261" y="2414016"/>
            <a:ext cx="3503066" cy="2980944"/>
          </a:xfrm>
          <a:prstGeom prst="rect">
            <a:avLst/>
          </a:prstGeom>
          <a:solidFill>
            <a:srgbClr val="F2E7D9"/>
          </a:solidFill>
          <a:ln w="12700">
            <a:solidFill>
              <a:srgbClr val="F2E7D9"/>
            </a:solidFill>
            <a:prstDash val="solid"/>
          </a:ln>
        </p:spPr>
      </p:sp>
      <p:sp>
        <p:nvSpPr>
          <p:cNvPr id="26" name="Shape 23"/>
          <p:cNvSpPr/>
          <p:nvPr/>
        </p:nvSpPr>
        <p:spPr>
          <a:xfrm>
            <a:off x="8030261" y="2414016"/>
            <a:ext cx="3503066" cy="54864"/>
          </a:xfrm>
          <a:prstGeom prst="rect">
            <a:avLst/>
          </a:prstGeom>
          <a:solidFill>
            <a:srgbClr val="B3181E"/>
          </a:solidFill>
          <a:ln w="12700">
            <a:solidFill>
              <a:srgbClr val="B3181E"/>
            </a:solidFill>
            <a:prstDash val="solid"/>
          </a:ln>
        </p:spPr>
      </p:sp>
      <p:sp>
        <p:nvSpPr>
          <p:cNvPr id="27" name="Text 24"/>
          <p:cNvSpPr txBox="1"/>
          <p:nvPr/>
        </p:nvSpPr>
        <p:spPr>
          <a:xfrm>
            <a:off x="8249717" y="2578608"/>
            <a:ext cx="3137306"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HONESTA</a:t>
            </a:r>
            <a:endParaRPr lang="en-US" sz="960" dirty="0"/>
          </a:p>
        </p:txBody>
      </p:sp>
      <p:sp>
        <p:nvSpPr>
          <p:cNvPr id="28" name="Text 25"/>
          <p:cNvSpPr txBox="1"/>
          <p:nvPr/>
        </p:nvSpPr>
        <p:spPr>
          <a:xfrm>
            <a:off x="8249717" y="2834640"/>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pitchFamily="34" charset="0"/>
                <a:ea typeface="Aptos" pitchFamily="34" charset="-122"/>
                <a:cs typeface="Aptos" pitchFamily="34" charset="-120"/>
              </a:rPr>
              <a:t>Silenciar</a:t>
            </a:r>
            <a:endParaRPr lang="en-US" sz="1700" dirty="0"/>
          </a:p>
        </p:txBody>
      </p:sp>
      <p:sp>
        <p:nvSpPr>
          <p:cNvPr id="29" name="Shape 26"/>
          <p:cNvSpPr/>
          <p:nvPr/>
        </p:nvSpPr>
        <p:spPr>
          <a:xfrm>
            <a:off x="8249717" y="3310128"/>
            <a:ext cx="3064154" cy="1024128"/>
          </a:xfrm>
          <a:prstGeom prst="rect">
            <a:avLst/>
          </a:prstGeom>
          <a:solidFill>
            <a:srgbClr val="102A43"/>
          </a:solidFill>
          <a:ln w="12700">
            <a:solidFill>
              <a:srgbClr val="102A43"/>
            </a:solidFill>
            <a:prstDash val="solid"/>
          </a:ln>
        </p:spPr>
      </p:sp>
      <p:sp>
        <p:nvSpPr>
          <p:cNvPr id="30" name="Text 27"/>
          <p:cNvSpPr txBox="1"/>
          <p:nvPr/>
        </p:nvSpPr>
        <p:spPr>
          <a:xfrm>
            <a:off x="8359445" y="3364992"/>
            <a:ext cx="2844698" cy="914400"/>
          </a:xfrm>
          <a:prstGeom prst="rect">
            <a:avLst/>
          </a:prstGeom>
          <a:noFill/>
          <a:ln/>
        </p:spPr>
        <p:txBody>
          <a:bodyPr wrap="square" lIns="0" tIns="0" rIns="0" bIns="0" rtlCol="0" anchor="ctr"/>
          <a:lstStyle/>
          <a:p>
            <a:pPr algn="l" indent="0" marL="0">
              <a:lnSpc>
                <a:spcPct val="106000"/>
              </a:lnSpc>
              <a:buNone/>
            </a:pPr>
            <a:r>
              <a:rPr lang="en-US" sz="940" dirty="0">
                <a:solidFill>
                  <a:srgbClr val="8AA0B6"/>
                </a:solidFill>
                <a:latin typeface="Consolas" pitchFamily="34" charset="0"/>
                <a:ea typeface="Consolas" pitchFamily="34" charset="-122"/>
                <a:cs typeface="Consolas" pitchFamily="34" charset="-120"/>
              </a:rPr>
              <a:t># nosec</a:t>
            </a:r>
            <a:endParaRPr lang="en-US" sz="940" dirty="0"/>
          </a:p>
        </p:txBody>
      </p:sp>
      <p:sp>
        <p:nvSpPr>
          <p:cNvPr id="31" name="Text 28"/>
          <p:cNvSpPr txBox="1"/>
          <p:nvPr/>
        </p:nvSpPr>
        <p:spPr>
          <a:xfrm>
            <a:off x="8249717" y="4480560"/>
            <a:ext cx="3100730" cy="822960"/>
          </a:xfrm>
          <a:prstGeom prst="rect">
            <a:avLst/>
          </a:prstGeom>
          <a:noFill/>
          <a:ln/>
        </p:spPr>
        <p:txBody>
          <a:bodyPr wrap="square" lIns="0" tIns="0" rIns="0" bIns="0" rtlCol="0" anchor="t"/>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Nadie sabrá si alguien la revisó, ni qué se miró.</a:t>
            </a:r>
            <a:endParaRPr lang="en-US" sz="110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bandit no encontró una inyección: encontró un diseño que la haría posible.</a:t>
            </a:r>
            <a:endParaRPr lang="en-US" sz="13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REVISAR LAS DEPENDENCIAS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El código que el proyecto no escribió</a:t>
            </a:r>
            <a:endParaRPr lang="en-US" sz="2800" dirty="0"/>
          </a:p>
        </p:txBody>
      </p:sp>
      <p:sp>
        <p:nvSpPr>
          <p:cNvPr id="10" name="Shape 7"/>
          <p:cNvSpPr/>
          <p:nvPr/>
        </p:nvSpPr>
        <p:spPr>
          <a:xfrm>
            <a:off x="658368" y="1700784"/>
            <a:ext cx="5943600" cy="1158621"/>
          </a:xfrm>
          <a:prstGeom prst="roundRect">
            <a:avLst>
              <a:gd name="adj" fmla="val 3946"/>
            </a:avLst>
          </a:prstGeom>
          <a:solidFill>
            <a:srgbClr val="0F1720"/>
          </a:solidFill>
          <a:ln w="12700">
            <a:solidFill>
              <a:srgbClr val="0F1720"/>
            </a:solidFill>
            <a:prstDash val="solid"/>
          </a:ln>
        </p:spPr>
      </p:sp>
      <p:sp>
        <p:nvSpPr>
          <p:cNvPr id="11" name="Shape 8"/>
          <p:cNvSpPr/>
          <p:nvPr/>
        </p:nvSpPr>
        <p:spPr>
          <a:xfrm>
            <a:off x="818388" y="1833372"/>
            <a:ext cx="82296" cy="82296"/>
          </a:xfrm>
          <a:prstGeom prst="ellipse">
            <a:avLst/>
          </a:prstGeom>
          <a:solidFill>
            <a:srgbClr val="52606D"/>
          </a:solidFill>
          <a:ln w="12700">
            <a:solidFill>
              <a:srgbClr val="52606D"/>
            </a:solidFill>
            <a:prstDash val="solid"/>
          </a:ln>
        </p:spPr>
      </p:sp>
      <p:sp>
        <p:nvSpPr>
          <p:cNvPr id="12" name="Shape 9"/>
          <p:cNvSpPr/>
          <p:nvPr/>
        </p:nvSpPr>
        <p:spPr>
          <a:xfrm>
            <a:off x="973836" y="1833372"/>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833372"/>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783080"/>
            <a:ext cx="506577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Las dependencias de producción del proyecto</a:t>
            </a:r>
            <a:endParaRPr lang="en-US" sz="940" dirty="0"/>
          </a:p>
        </p:txBody>
      </p:sp>
      <p:sp>
        <p:nvSpPr>
          <p:cNvPr id="15" name="Text 12"/>
          <p:cNvSpPr/>
          <p:nvPr/>
        </p:nvSpPr>
        <p:spPr>
          <a:xfrm>
            <a:off x="859536" y="2176272"/>
            <a:ext cx="5541264" cy="185039"/>
          </a:xfrm>
          <a:prstGeom prst="rect">
            <a:avLst/>
          </a:prstGeom>
          <a:noFill/>
          <a:ln/>
        </p:spPr>
        <p:txBody>
          <a:bodyPr wrap="square" lIns="0" tIns="0" rIns="0" bIns="0" rtlCol="0" anchor="ctr"/>
          <a:lstStyle/>
          <a:p>
            <a:pPr indent="0" marL="0">
              <a:buNone/>
            </a:pPr>
            <a:r>
              <a:rPr lang="en-US" sz="940" dirty="0">
                <a:solidFill>
                  <a:srgbClr val="E0BC5A"/>
                </a:solidFill>
                <a:latin typeface="Consolas" pitchFamily="34" charset="0"/>
                <a:ea typeface="Consolas" pitchFamily="34" charset="-122"/>
                <a:cs typeface="Consolas" pitchFamily="34" charset="-120"/>
              </a:rPr>
              <a:t>&gt; uv export --no-dev --format requirements-txt --no-hashes -o req-prod.txt</a:t>
            </a:r>
            <a:endParaRPr lang="en-US" sz="940" dirty="0"/>
          </a:p>
        </p:txBody>
      </p:sp>
      <p:sp>
        <p:nvSpPr>
          <p:cNvPr id="16" name="Text 13"/>
          <p:cNvSpPr/>
          <p:nvPr/>
        </p:nvSpPr>
        <p:spPr>
          <a:xfrm>
            <a:off x="859536" y="2361311"/>
            <a:ext cx="5541264" cy="185039"/>
          </a:xfrm>
          <a:prstGeom prst="rect">
            <a:avLst/>
          </a:prstGeom>
          <a:noFill/>
          <a:ln/>
        </p:spPr>
        <p:txBody>
          <a:bodyPr wrap="square" lIns="0" tIns="0" rIns="0" bIns="0" rtlCol="0" anchor="ctr"/>
          <a:lstStyle/>
          <a:p>
            <a:pPr indent="0" marL="0">
              <a:buNone/>
            </a:pPr>
            <a:r>
              <a:rPr lang="en-US" sz="940" dirty="0">
                <a:solidFill>
                  <a:srgbClr val="E0BC5A"/>
                </a:solidFill>
                <a:latin typeface="Consolas" pitchFamily="34" charset="0"/>
                <a:ea typeface="Consolas" pitchFamily="34" charset="-122"/>
                <a:cs typeface="Consolas" pitchFamily="34" charset="-120"/>
              </a:rPr>
              <a:t>&gt; uv run --with pip-audit pip-audit -r req-prod.txt</a:t>
            </a:r>
            <a:endParaRPr lang="en-US" sz="940" dirty="0"/>
          </a:p>
        </p:txBody>
      </p:sp>
      <p:sp>
        <p:nvSpPr>
          <p:cNvPr id="17" name="Text 14"/>
          <p:cNvSpPr/>
          <p:nvPr/>
        </p:nvSpPr>
        <p:spPr>
          <a:xfrm>
            <a:off x="859536" y="2546350"/>
            <a:ext cx="5541264" cy="185039"/>
          </a:xfrm>
          <a:prstGeom prst="rect">
            <a:avLst/>
          </a:prstGeom>
          <a:noFill/>
          <a:ln/>
        </p:spPr>
        <p:txBody>
          <a:bodyPr wrap="square" lIns="0" tIns="0" rIns="0" bIns="0" rtlCol="0" anchor="ctr"/>
          <a:lstStyle/>
          <a:p>
            <a:pPr indent="0" marL="0">
              <a:buNone/>
            </a:pPr>
            <a:r>
              <a:rPr lang="en-US" sz="940" b="1" dirty="0">
                <a:solidFill>
                  <a:srgbClr val="3FAE6A"/>
                </a:solidFill>
                <a:latin typeface="Consolas" pitchFamily="34" charset="0"/>
                <a:ea typeface="Consolas" pitchFamily="34" charset="-122"/>
                <a:cs typeface="Consolas" pitchFamily="34" charset="-120"/>
              </a:rPr>
              <a:t>No known vulnerabilities found</a:t>
            </a:r>
            <a:endParaRPr lang="en-US" sz="940" dirty="0"/>
          </a:p>
        </p:txBody>
      </p:sp>
      <p:sp>
        <p:nvSpPr>
          <p:cNvPr id="18" name="Text 15"/>
          <p:cNvSpPr txBox="1"/>
          <p:nvPr/>
        </p:nvSpPr>
        <p:spPr>
          <a:xfrm>
            <a:off x="658368" y="2944368"/>
            <a:ext cx="5943600" cy="603504"/>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El primero escribe la lista exacta de dependencias con sus versiones; el segundo la compara con una base pública de vulnerabilidades conocidas. Resultado: no se encontraron vulnerabilidades conocidas.</a:t>
            </a:r>
            <a:endParaRPr lang="en-US" sz="1060" dirty="0"/>
          </a:p>
        </p:txBody>
      </p:sp>
      <p:sp>
        <p:nvSpPr>
          <p:cNvPr id="19" name="Shape 16"/>
          <p:cNvSpPr/>
          <p:nvPr/>
        </p:nvSpPr>
        <p:spPr>
          <a:xfrm>
            <a:off x="658368" y="3657600"/>
            <a:ext cx="5943600" cy="1713738"/>
          </a:xfrm>
          <a:prstGeom prst="roundRect">
            <a:avLst>
              <a:gd name="adj" fmla="val 2668"/>
            </a:avLst>
          </a:prstGeom>
          <a:solidFill>
            <a:srgbClr val="0F1720"/>
          </a:solidFill>
          <a:ln w="12700">
            <a:solidFill>
              <a:srgbClr val="0F1720"/>
            </a:solidFill>
            <a:prstDash val="solid"/>
          </a:ln>
        </p:spPr>
      </p:sp>
      <p:sp>
        <p:nvSpPr>
          <p:cNvPr id="20" name="Shape 17"/>
          <p:cNvSpPr/>
          <p:nvPr/>
        </p:nvSpPr>
        <p:spPr>
          <a:xfrm>
            <a:off x="818388" y="3790188"/>
            <a:ext cx="82296" cy="82296"/>
          </a:xfrm>
          <a:prstGeom prst="ellipse">
            <a:avLst/>
          </a:prstGeom>
          <a:solidFill>
            <a:srgbClr val="52606D"/>
          </a:solidFill>
          <a:ln w="12700">
            <a:solidFill>
              <a:srgbClr val="52606D"/>
            </a:solidFill>
            <a:prstDash val="solid"/>
          </a:ln>
        </p:spPr>
      </p:sp>
      <p:sp>
        <p:nvSpPr>
          <p:cNvPr id="21" name="Shape 18"/>
          <p:cNvSpPr/>
          <p:nvPr/>
        </p:nvSpPr>
        <p:spPr>
          <a:xfrm>
            <a:off x="973836" y="3790188"/>
            <a:ext cx="82296" cy="82296"/>
          </a:xfrm>
          <a:prstGeom prst="ellipse">
            <a:avLst/>
          </a:prstGeom>
          <a:solidFill>
            <a:srgbClr val="52606D"/>
          </a:solidFill>
          <a:ln w="12700">
            <a:solidFill>
              <a:srgbClr val="52606D"/>
            </a:solidFill>
            <a:prstDash val="solid"/>
          </a:ln>
        </p:spPr>
      </p:sp>
      <p:sp>
        <p:nvSpPr>
          <p:cNvPr id="22" name="Shape 19"/>
          <p:cNvSpPr/>
          <p:nvPr/>
        </p:nvSpPr>
        <p:spPr>
          <a:xfrm>
            <a:off x="1129284" y="3790188"/>
            <a:ext cx="82296" cy="82296"/>
          </a:xfrm>
          <a:prstGeom prst="ellipse">
            <a:avLst/>
          </a:prstGeom>
          <a:solidFill>
            <a:srgbClr val="52606D"/>
          </a:solidFill>
          <a:ln w="12700">
            <a:solidFill>
              <a:srgbClr val="52606D"/>
            </a:solidFill>
            <a:prstDash val="solid"/>
          </a:ln>
        </p:spPr>
      </p:sp>
      <p:sp>
        <p:nvSpPr>
          <p:cNvPr id="23" name="Text 20"/>
          <p:cNvSpPr/>
          <p:nvPr/>
        </p:nvSpPr>
        <p:spPr>
          <a:xfrm>
            <a:off x="1353312" y="3739896"/>
            <a:ext cx="506577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misma auditoría sobre FastAPI 0.65.1, una versión antigua</a:t>
            </a:r>
            <a:endParaRPr lang="en-US" sz="940" dirty="0"/>
          </a:p>
        </p:txBody>
      </p:sp>
      <p:sp>
        <p:nvSpPr>
          <p:cNvPr id="24" name="Text 21"/>
          <p:cNvSpPr/>
          <p:nvPr/>
        </p:nvSpPr>
        <p:spPr>
          <a:xfrm>
            <a:off x="859536" y="4133088"/>
            <a:ext cx="5541264" cy="185039"/>
          </a:xfrm>
          <a:prstGeom prst="rect">
            <a:avLst/>
          </a:prstGeom>
          <a:noFill/>
          <a:ln/>
        </p:spPr>
        <p:txBody>
          <a:bodyPr wrap="square" lIns="0" tIns="0" rIns="0" bIns="0" rtlCol="0" anchor="ctr"/>
          <a:lstStyle/>
          <a:p>
            <a:pPr indent="0" marL="0">
              <a:buNone/>
            </a:pPr>
            <a:r>
              <a:rPr lang="en-US" sz="940" b="1" dirty="0">
                <a:solidFill>
                  <a:srgbClr val="D62027"/>
                </a:solidFill>
                <a:latin typeface="Consolas" pitchFamily="34" charset="0"/>
                <a:ea typeface="Consolas" pitchFamily="34" charset="-122"/>
                <a:cs typeface="Consolas" pitchFamily="34" charset="-120"/>
              </a:rPr>
              <a:t>Found 21 known vulnerabilities in 2 packages</a:t>
            </a:r>
            <a:endParaRPr lang="en-US" sz="940" dirty="0"/>
          </a:p>
        </p:txBody>
      </p:sp>
      <p:sp>
        <p:nvSpPr>
          <p:cNvPr id="25" name="Text 22"/>
          <p:cNvSpPr/>
          <p:nvPr/>
        </p:nvSpPr>
        <p:spPr>
          <a:xfrm>
            <a:off x="859536" y="4318127"/>
            <a:ext cx="5541264" cy="185039"/>
          </a:xfrm>
          <a:prstGeom prst="rect">
            <a:avLst/>
          </a:prstGeom>
          <a:noFill/>
          <a:ln/>
        </p:spPr>
        <p:txBody>
          <a:bodyPr wrap="square" lIns="0" tIns="0" rIns="0" bIns="0" rtlCol="0" anchor="ctr"/>
          <a:lstStyle/>
          <a:p>
            <a:pPr indent="0" marL="0">
              <a:buNone/>
            </a:pPr>
            <a:r>
              <a:rPr lang="en-US" sz="940" dirty="0">
                <a:solidFill>
                  <a:srgbClr val="8AA0B6"/>
                </a:solidFill>
                <a:latin typeface="Consolas" pitchFamily="34" charset="0"/>
                <a:ea typeface="Consolas" pitchFamily="34" charset="-122"/>
                <a:cs typeface="Consolas" pitchFamily="34" charset="-120"/>
              </a:rPr>
              <a:t>Name      Version ID              Fix Versions</a:t>
            </a:r>
            <a:endParaRPr lang="en-US" sz="940" dirty="0"/>
          </a:p>
        </p:txBody>
      </p:sp>
      <p:sp>
        <p:nvSpPr>
          <p:cNvPr id="26" name="Text 23"/>
          <p:cNvSpPr/>
          <p:nvPr/>
        </p:nvSpPr>
        <p:spPr>
          <a:xfrm>
            <a:off x="859536" y="4503166"/>
            <a:ext cx="5541264" cy="185039"/>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fastapi   0.65.1  PYSEC-2021-100  0.65.2</a:t>
            </a:r>
            <a:endParaRPr lang="en-US" sz="940" dirty="0"/>
          </a:p>
        </p:txBody>
      </p:sp>
      <p:sp>
        <p:nvSpPr>
          <p:cNvPr id="27" name="Text 24"/>
          <p:cNvSpPr/>
          <p:nvPr/>
        </p:nvSpPr>
        <p:spPr>
          <a:xfrm>
            <a:off x="859536" y="4688205"/>
            <a:ext cx="5541264" cy="185039"/>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fastapi   0.65.1  PYSEC-2024-38   0.109.1</a:t>
            </a:r>
            <a:endParaRPr lang="en-US" sz="940" dirty="0"/>
          </a:p>
        </p:txBody>
      </p:sp>
      <p:sp>
        <p:nvSpPr>
          <p:cNvPr id="28" name="Text 25"/>
          <p:cNvSpPr/>
          <p:nvPr/>
        </p:nvSpPr>
        <p:spPr>
          <a:xfrm>
            <a:off x="859536" y="4873244"/>
            <a:ext cx="5541264" cy="185039"/>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starlette 0.14.2  PYSEC-2023-48   0.25.0</a:t>
            </a:r>
            <a:endParaRPr lang="en-US" sz="940" dirty="0"/>
          </a:p>
        </p:txBody>
      </p:sp>
      <p:sp>
        <p:nvSpPr>
          <p:cNvPr id="29" name="Text 26"/>
          <p:cNvSpPr/>
          <p:nvPr/>
        </p:nvSpPr>
        <p:spPr>
          <a:xfrm>
            <a:off x="859536" y="5058283"/>
            <a:ext cx="5541264" cy="185039"/>
          </a:xfrm>
          <a:prstGeom prst="rect">
            <a:avLst/>
          </a:prstGeom>
          <a:noFill/>
          <a:ln/>
        </p:spPr>
        <p:txBody>
          <a:bodyPr wrap="square" lIns="0" tIns="0" rIns="0" bIns="0" rtlCol="0" anchor="ctr"/>
          <a:lstStyle/>
          <a:p>
            <a:pPr indent="0" marL="0">
              <a:buNone/>
            </a:pPr>
            <a:r>
              <a:rPr lang="en-US" sz="940" dirty="0">
                <a:solidFill>
                  <a:srgbClr val="8AA0B6"/>
                </a:solidFill>
                <a:latin typeface="Consolas" pitchFamily="34" charset="0"/>
                <a:ea typeface="Consolas" pitchFamily="34" charset="-122"/>
                <a:cs typeface="Consolas" pitchFamily="34" charset="-120"/>
              </a:rPr>
              <a:t>...</a:t>
            </a:r>
            <a:endParaRPr lang="en-US" sz="940" dirty="0"/>
          </a:p>
        </p:txBody>
      </p:sp>
      <p:sp>
        <p:nvSpPr>
          <p:cNvPr id="30" name="Text 27"/>
          <p:cNvSpPr txBox="1"/>
          <p:nvPr/>
        </p:nvSpPr>
        <p:spPr>
          <a:xfrm>
            <a:off x="6967728" y="1737360"/>
            <a:ext cx="4565599"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DÓNDE ESTÁN LAS 21</a:t>
            </a:r>
            <a:endParaRPr lang="en-US" sz="960" dirty="0"/>
          </a:p>
        </p:txBody>
      </p:sp>
      <p:sp>
        <p:nvSpPr>
          <p:cNvPr id="31" name="Shape 28"/>
          <p:cNvSpPr/>
          <p:nvPr/>
        </p:nvSpPr>
        <p:spPr>
          <a:xfrm>
            <a:off x="6967728" y="2029968"/>
            <a:ext cx="605202" cy="375225"/>
          </a:xfrm>
          <a:prstGeom prst="rect">
            <a:avLst/>
          </a:prstGeom>
          <a:solidFill>
            <a:srgbClr val="102A43"/>
          </a:solidFill>
          <a:ln w="12700">
            <a:solidFill>
              <a:srgbClr val="102A43"/>
            </a:solidFill>
            <a:prstDash val="solid"/>
          </a:ln>
        </p:spPr>
      </p:sp>
      <p:sp>
        <p:nvSpPr>
          <p:cNvPr id="32" name="Shape 29"/>
          <p:cNvSpPr/>
          <p:nvPr/>
        </p:nvSpPr>
        <p:spPr>
          <a:xfrm>
            <a:off x="7627794" y="2029968"/>
            <a:ext cx="605202" cy="375225"/>
          </a:xfrm>
          <a:prstGeom prst="rect">
            <a:avLst/>
          </a:prstGeom>
          <a:solidFill>
            <a:srgbClr val="102A43"/>
          </a:solidFill>
          <a:ln w="12700">
            <a:solidFill>
              <a:srgbClr val="102A43"/>
            </a:solidFill>
            <a:prstDash val="solid"/>
          </a:ln>
        </p:spPr>
      </p:sp>
      <p:sp>
        <p:nvSpPr>
          <p:cNvPr id="33" name="Shape 30"/>
          <p:cNvSpPr/>
          <p:nvPr/>
        </p:nvSpPr>
        <p:spPr>
          <a:xfrm>
            <a:off x="8287860" y="2029968"/>
            <a:ext cx="605202" cy="375225"/>
          </a:xfrm>
          <a:prstGeom prst="rect">
            <a:avLst/>
          </a:prstGeom>
          <a:solidFill>
            <a:srgbClr val="102A43"/>
          </a:solidFill>
          <a:ln w="12700">
            <a:solidFill>
              <a:srgbClr val="102A43"/>
            </a:solidFill>
            <a:prstDash val="solid"/>
          </a:ln>
        </p:spPr>
      </p:sp>
      <p:sp>
        <p:nvSpPr>
          <p:cNvPr id="34" name="Shape 31"/>
          <p:cNvSpPr/>
          <p:nvPr/>
        </p:nvSpPr>
        <p:spPr>
          <a:xfrm>
            <a:off x="8947927" y="2029968"/>
            <a:ext cx="605202" cy="375225"/>
          </a:xfrm>
          <a:prstGeom prst="rect">
            <a:avLst/>
          </a:prstGeom>
          <a:solidFill>
            <a:srgbClr val="B3181E"/>
          </a:solidFill>
          <a:ln w="12700">
            <a:solidFill>
              <a:srgbClr val="B3181E"/>
            </a:solidFill>
            <a:prstDash val="solid"/>
          </a:ln>
        </p:spPr>
      </p:sp>
      <p:sp>
        <p:nvSpPr>
          <p:cNvPr id="35" name="Shape 32"/>
          <p:cNvSpPr/>
          <p:nvPr/>
        </p:nvSpPr>
        <p:spPr>
          <a:xfrm>
            <a:off x="9607993" y="2029968"/>
            <a:ext cx="605202" cy="375225"/>
          </a:xfrm>
          <a:prstGeom prst="rect">
            <a:avLst/>
          </a:prstGeom>
          <a:solidFill>
            <a:srgbClr val="B3181E"/>
          </a:solidFill>
          <a:ln w="12700">
            <a:solidFill>
              <a:srgbClr val="B3181E"/>
            </a:solidFill>
            <a:prstDash val="solid"/>
          </a:ln>
        </p:spPr>
      </p:sp>
      <p:sp>
        <p:nvSpPr>
          <p:cNvPr id="36" name="Shape 33"/>
          <p:cNvSpPr/>
          <p:nvPr/>
        </p:nvSpPr>
        <p:spPr>
          <a:xfrm>
            <a:off x="10268059" y="2029968"/>
            <a:ext cx="605202" cy="375225"/>
          </a:xfrm>
          <a:prstGeom prst="rect">
            <a:avLst/>
          </a:prstGeom>
          <a:solidFill>
            <a:srgbClr val="B3181E"/>
          </a:solidFill>
          <a:ln w="12700">
            <a:solidFill>
              <a:srgbClr val="B3181E"/>
            </a:solidFill>
            <a:prstDash val="solid"/>
          </a:ln>
        </p:spPr>
      </p:sp>
      <p:sp>
        <p:nvSpPr>
          <p:cNvPr id="37" name="Shape 34"/>
          <p:cNvSpPr/>
          <p:nvPr/>
        </p:nvSpPr>
        <p:spPr>
          <a:xfrm>
            <a:off x="10928125" y="2029968"/>
            <a:ext cx="605202" cy="375225"/>
          </a:xfrm>
          <a:prstGeom prst="rect">
            <a:avLst/>
          </a:prstGeom>
          <a:solidFill>
            <a:srgbClr val="B3181E"/>
          </a:solidFill>
          <a:ln w="12700">
            <a:solidFill>
              <a:srgbClr val="B3181E"/>
            </a:solidFill>
            <a:prstDash val="solid"/>
          </a:ln>
        </p:spPr>
      </p:sp>
      <p:sp>
        <p:nvSpPr>
          <p:cNvPr id="38" name="Shape 35"/>
          <p:cNvSpPr/>
          <p:nvPr/>
        </p:nvSpPr>
        <p:spPr>
          <a:xfrm>
            <a:off x="6967728" y="2460057"/>
            <a:ext cx="605202" cy="375225"/>
          </a:xfrm>
          <a:prstGeom prst="rect">
            <a:avLst/>
          </a:prstGeom>
          <a:solidFill>
            <a:srgbClr val="B3181E"/>
          </a:solidFill>
          <a:ln w="12700">
            <a:solidFill>
              <a:srgbClr val="B3181E"/>
            </a:solidFill>
            <a:prstDash val="solid"/>
          </a:ln>
        </p:spPr>
      </p:sp>
      <p:sp>
        <p:nvSpPr>
          <p:cNvPr id="39" name="Shape 36"/>
          <p:cNvSpPr/>
          <p:nvPr/>
        </p:nvSpPr>
        <p:spPr>
          <a:xfrm>
            <a:off x="7627794" y="2460057"/>
            <a:ext cx="605202" cy="375225"/>
          </a:xfrm>
          <a:prstGeom prst="rect">
            <a:avLst/>
          </a:prstGeom>
          <a:solidFill>
            <a:srgbClr val="B3181E"/>
          </a:solidFill>
          <a:ln w="12700">
            <a:solidFill>
              <a:srgbClr val="B3181E"/>
            </a:solidFill>
            <a:prstDash val="solid"/>
          </a:ln>
        </p:spPr>
      </p:sp>
      <p:sp>
        <p:nvSpPr>
          <p:cNvPr id="40" name="Shape 37"/>
          <p:cNvSpPr/>
          <p:nvPr/>
        </p:nvSpPr>
        <p:spPr>
          <a:xfrm>
            <a:off x="8287860" y="2460057"/>
            <a:ext cx="605202" cy="375225"/>
          </a:xfrm>
          <a:prstGeom prst="rect">
            <a:avLst/>
          </a:prstGeom>
          <a:solidFill>
            <a:srgbClr val="B3181E"/>
          </a:solidFill>
          <a:ln w="12700">
            <a:solidFill>
              <a:srgbClr val="B3181E"/>
            </a:solidFill>
            <a:prstDash val="solid"/>
          </a:ln>
        </p:spPr>
      </p:sp>
      <p:sp>
        <p:nvSpPr>
          <p:cNvPr id="41" name="Shape 38"/>
          <p:cNvSpPr/>
          <p:nvPr/>
        </p:nvSpPr>
        <p:spPr>
          <a:xfrm>
            <a:off x="8947927" y="2460057"/>
            <a:ext cx="605202" cy="375225"/>
          </a:xfrm>
          <a:prstGeom prst="rect">
            <a:avLst/>
          </a:prstGeom>
          <a:solidFill>
            <a:srgbClr val="B3181E"/>
          </a:solidFill>
          <a:ln w="12700">
            <a:solidFill>
              <a:srgbClr val="B3181E"/>
            </a:solidFill>
            <a:prstDash val="solid"/>
          </a:ln>
        </p:spPr>
      </p:sp>
      <p:sp>
        <p:nvSpPr>
          <p:cNvPr id="42" name="Shape 39"/>
          <p:cNvSpPr/>
          <p:nvPr/>
        </p:nvSpPr>
        <p:spPr>
          <a:xfrm>
            <a:off x="9607993" y="2460057"/>
            <a:ext cx="605202" cy="375225"/>
          </a:xfrm>
          <a:prstGeom prst="rect">
            <a:avLst/>
          </a:prstGeom>
          <a:solidFill>
            <a:srgbClr val="B3181E"/>
          </a:solidFill>
          <a:ln w="12700">
            <a:solidFill>
              <a:srgbClr val="B3181E"/>
            </a:solidFill>
            <a:prstDash val="solid"/>
          </a:ln>
        </p:spPr>
      </p:sp>
      <p:sp>
        <p:nvSpPr>
          <p:cNvPr id="43" name="Shape 40"/>
          <p:cNvSpPr/>
          <p:nvPr/>
        </p:nvSpPr>
        <p:spPr>
          <a:xfrm>
            <a:off x="10268059" y="2460057"/>
            <a:ext cx="605202" cy="375225"/>
          </a:xfrm>
          <a:prstGeom prst="rect">
            <a:avLst/>
          </a:prstGeom>
          <a:solidFill>
            <a:srgbClr val="B3181E"/>
          </a:solidFill>
          <a:ln w="12700">
            <a:solidFill>
              <a:srgbClr val="B3181E"/>
            </a:solidFill>
            <a:prstDash val="solid"/>
          </a:ln>
        </p:spPr>
      </p:sp>
      <p:sp>
        <p:nvSpPr>
          <p:cNvPr id="44" name="Shape 41"/>
          <p:cNvSpPr/>
          <p:nvPr/>
        </p:nvSpPr>
        <p:spPr>
          <a:xfrm>
            <a:off x="10928125" y="2460057"/>
            <a:ext cx="605202" cy="375225"/>
          </a:xfrm>
          <a:prstGeom prst="rect">
            <a:avLst/>
          </a:prstGeom>
          <a:solidFill>
            <a:srgbClr val="B3181E"/>
          </a:solidFill>
          <a:ln w="12700">
            <a:solidFill>
              <a:srgbClr val="B3181E"/>
            </a:solidFill>
            <a:prstDash val="solid"/>
          </a:ln>
        </p:spPr>
      </p:sp>
      <p:sp>
        <p:nvSpPr>
          <p:cNvPr id="45" name="Shape 42"/>
          <p:cNvSpPr/>
          <p:nvPr/>
        </p:nvSpPr>
        <p:spPr>
          <a:xfrm>
            <a:off x="6967728" y="2890147"/>
            <a:ext cx="605202" cy="375225"/>
          </a:xfrm>
          <a:prstGeom prst="rect">
            <a:avLst/>
          </a:prstGeom>
          <a:solidFill>
            <a:srgbClr val="B3181E"/>
          </a:solidFill>
          <a:ln w="12700">
            <a:solidFill>
              <a:srgbClr val="B3181E"/>
            </a:solidFill>
            <a:prstDash val="solid"/>
          </a:ln>
        </p:spPr>
      </p:sp>
      <p:sp>
        <p:nvSpPr>
          <p:cNvPr id="46" name="Shape 43"/>
          <p:cNvSpPr/>
          <p:nvPr/>
        </p:nvSpPr>
        <p:spPr>
          <a:xfrm>
            <a:off x="7627794" y="2890147"/>
            <a:ext cx="605202" cy="375225"/>
          </a:xfrm>
          <a:prstGeom prst="rect">
            <a:avLst/>
          </a:prstGeom>
          <a:solidFill>
            <a:srgbClr val="B3181E"/>
          </a:solidFill>
          <a:ln w="12700">
            <a:solidFill>
              <a:srgbClr val="B3181E"/>
            </a:solidFill>
            <a:prstDash val="solid"/>
          </a:ln>
        </p:spPr>
      </p:sp>
      <p:sp>
        <p:nvSpPr>
          <p:cNvPr id="47" name="Shape 44"/>
          <p:cNvSpPr/>
          <p:nvPr/>
        </p:nvSpPr>
        <p:spPr>
          <a:xfrm>
            <a:off x="8287860" y="2890147"/>
            <a:ext cx="605202" cy="375225"/>
          </a:xfrm>
          <a:prstGeom prst="rect">
            <a:avLst/>
          </a:prstGeom>
          <a:solidFill>
            <a:srgbClr val="B3181E"/>
          </a:solidFill>
          <a:ln w="12700">
            <a:solidFill>
              <a:srgbClr val="B3181E"/>
            </a:solidFill>
            <a:prstDash val="solid"/>
          </a:ln>
        </p:spPr>
      </p:sp>
      <p:sp>
        <p:nvSpPr>
          <p:cNvPr id="48" name="Shape 45"/>
          <p:cNvSpPr/>
          <p:nvPr/>
        </p:nvSpPr>
        <p:spPr>
          <a:xfrm>
            <a:off x="8947927" y="2890147"/>
            <a:ext cx="605202" cy="375225"/>
          </a:xfrm>
          <a:prstGeom prst="rect">
            <a:avLst/>
          </a:prstGeom>
          <a:solidFill>
            <a:srgbClr val="B3181E"/>
          </a:solidFill>
          <a:ln w="12700">
            <a:solidFill>
              <a:srgbClr val="B3181E"/>
            </a:solidFill>
            <a:prstDash val="solid"/>
          </a:ln>
        </p:spPr>
      </p:sp>
      <p:sp>
        <p:nvSpPr>
          <p:cNvPr id="49" name="Shape 46"/>
          <p:cNvSpPr/>
          <p:nvPr/>
        </p:nvSpPr>
        <p:spPr>
          <a:xfrm>
            <a:off x="9607993" y="2890147"/>
            <a:ext cx="605202" cy="375225"/>
          </a:xfrm>
          <a:prstGeom prst="rect">
            <a:avLst/>
          </a:prstGeom>
          <a:solidFill>
            <a:srgbClr val="B3181E"/>
          </a:solidFill>
          <a:ln w="12700">
            <a:solidFill>
              <a:srgbClr val="B3181E"/>
            </a:solidFill>
            <a:prstDash val="solid"/>
          </a:ln>
        </p:spPr>
      </p:sp>
      <p:sp>
        <p:nvSpPr>
          <p:cNvPr id="50" name="Shape 47"/>
          <p:cNvSpPr/>
          <p:nvPr/>
        </p:nvSpPr>
        <p:spPr>
          <a:xfrm>
            <a:off x="10268059" y="2890147"/>
            <a:ext cx="605202" cy="375225"/>
          </a:xfrm>
          <a:prstGeom prst="rect">
            <a:avLst/>
          </a:prstGeom>
          <a:solidFill>
            <a:srgbClr val="B3181E"/>
          </a:solidFill>
          <a:ln w="12700">
            <a:solidFill>
              <a:srgbClr val="B3181E"/>
            </a:solidFill>
            <a:prstDash val="solid"/>
          </a:ln>
        </p:spPr>
      </p:sp>
      <p:sp>
        <p:nvSpPr>
          <p:cNvPr id="51" name="Shape 48"/>
          <p:cNvSpPr/>
          <p:nvPr/>
        </p:nvSpPr>
        <p:spPr>
          <a:xfrm>
            <a:off x="10928125" y="2890147"/>
            <a:ext cx="605202" cy="375225"/>
          </a:xfrm>
          <a:prstGeom prst="rect">
            <a:avLst/>
          </a:prstGeom>
          <a:solidFill>
            <a:srgbClr val="B3181E"/>
          </a:solidFill>
          <a:ln w="12700">
            <a:solidFill>
              <a:srgbClr val="B3181E"/>
            </a:solidFill>
            <a:prstDash val="solid"/>
          </a:ln>
        </p:spPr>
      </p:sp>
      <p:sp>
        <p:nvSpPr>
          <p:cNvPr id="52" name="Shape 49"/>
          <p:cNvSpPr/>
          <p:nvPr/>
        </p:nvSpPr>
        <p:spPr>
          <a:xfrm>
            <a:off x="6967728" y="3439108"/>
            <a:ext cx="164592" cy="164592"/>
          </a:xfrm>
          <a:prstGeom prst="rect">
            <a:avLst/>
          </a:prstGeom>
          <a:solidFill>
            <a:srgbClr val="102A43"/>
          </a:solidFill>
          <a:ln w="12700">
            <a:solidFill>
              <a:srgbClr val="102A43"/>
            </a:solidFill>
            <a:prstDash val="solid"/>
          </a:ln>
        </p:spPr>
      </p:sp>
      <p:sp>
        <p:nvSpPr>
          <p:cNvPr id="53" name="Text 50"/>
          <p:cNvSpPr txBox="1"/>
          <p:nvPr/>
        </p:nvSpPr>
        <p:spPr>
          <a:xfrm>
            <a:off x="7223760" y="3393388"/>
            <a:ext cx="4291279" cy="256032"/>
          </a:xfrm>
          <a:prstGeom prst="rect">
            <a:avLst/>
          </a:prstGeom>
          <a:noFill/>
          <a:ln/>
        </p:spPr>
        <p:txBody>
          <a:bodyPr wrap="square" lIns="0" tIns="0" rIns="0" bIns="0" rtlCol="0" anchor="ctr"/>
          <a:lstStyle/>
          <a:p>
            <a:pPr algn="l" indent="0" marL="0">
              <a:buNone/>
            </a:pPr>
            <a:r>
              <a:rPr lang="en-US" sz="1060" dirty="0">
                <a:solidFill>
                  <a:srgbClr val="243B53"/>
                </a:solidFill>
                <a:latin typeface="Aptos" pitchFamily="34" charset="0"/>
                <a:ea typeface="Aptos" pitchFamily="34" charset="-122"/>
                <a:cs typeface="Aptos" pitchFamily="34" charset="-120"/>
              </a:rPr>
              <a:t>3 en FastAPI, la que el proyecto pidió</a:t>
            </a:r>
            <a:endParaRPr lang="en-US" sz="1060" dirty="0"/>
          </a:p>
        </p:txBody>
      </p:sp>
      <p:sp>
        <p:nvSpPr>
          <p:cNvPr id="54" name="Shape 51"/>
          <p:cNvSpPr/>
          <p:nvPr/>
        </p:nvSpPr>
        <p:spPr>
          <a:xfrm>
            <a:off x="6967728" y="3768292"/>
            <a:ext cx="164592" cy="164592"/>
          </a:xfrm>
          <a:prstGeom prst="rect">
            <a:avLst/>
          </a:prstGeom>
          <a:solidFill>
            <a:srgbClr val="B3181E"/>
          </a:solidFill>
          <a:ln w="12700">
            <a:solidFill>
              <a:srgbClr val="B3181E"/>
            </a:solidFill>
            <a:prstDash val="solid"/>
          </a:ln>
        </p:spPr>
      </p:sp>
      <p:sp>
        <p:nvSpPr>
          <p:cNvPr id="55" name="Text 52"/>
          <p:cNvSpPr txBox="1"/>
          <p:nvPr/>
        </p:nvSpPr>
        <p:spPr>
          <a:xfrm>
            <a:off x="7223760" y="3722572"/>
            <a:ext cx="4291279" cy="256032"/>
          </a:xfrm>
          <a:prstGeom prst="rect">
            <a:avLst/>
          </a:prstGeom>
          <a:noFill/>
          <a:ln/>
        </p:spPr>
        <p:txBody>
          <a:bodyPr wrap="square" lIns="0" tIns="0" rIns="0" bIns="0" rtlCol="0" anchor="ctr"/>
          <a:lstStyle/>
          <a:p>
            <a:pPr algn="l" indent="0" marL="0">
              <a:buNone/>
            </a:pPr>
            <a:r>
              <a:rPr lang="en-US" sz="1060" b="1" dirty="0">
                <a:solidFill>
                  <a:srgbClr val="B3181E"/>
                </a:solidFill>
                <a:latin typeface="Aptos" pitchFamily="34" charset="0"/>
                <a:ea typeface="Aptos" pitchFamily="34" charset="-122"/>
                <a:cs typeface="Aptos" pitchFamily="34" charset="-120"/>
              </a:rPr>
              <a:t>18 en Starlette, que FastAPI trae consigo</a:t>
            </a:r>
            <a:endParaRPr lang="en-US" sz="1060" dirty="0"/>
          </a:p>
        </p:txBody>
      </p:sp>
      <p:sp>
        <p:nvSpPr>
          <p:cNvPr id="56" name="Shape 53"/>
          <p:cNvSpPr/>
          <p:nvPr/>
        </p:nvSpPr>
        <p:spPr>
          <a:xfrm>
            <a:off x="6967728" y="4114800"/>
            <a:ext cx="4565599" cy="1408176"/>
          </a:xfrm>
          <a:prstGeom prst="rect">
            <a:avLst/>
          </a:prstGeom>
          <a:solidFill>
            <a:srgbClr val="F2E7D9"/>
          </a:solidFill>
          <a:ln w="12700">
            <a:solidFill>
              <a:srgbClr val="F2E7D9"/>
            </a:solidFill>
            <a:prstDash val="solid"/>
          </a:ln>
        </p:spPr>
      </p:sp>
      <p:sp>
        <p:nvSpPr>
          <p:cNvPr id="57" name="Shape 54"/>
          <p:cNvSpPr/>
          <p:nvPr/>
        </p:nvSpPr>
        <p:spPr>
          <a:xfrm>
            <a:off x="6967728" y="4114800"/>
            <a:ext cx="54864" cy="1408176"/>
          </a:xfrm>
          <a:prstGeom prst="rect">
            <a:avLst/>
          </a:prstGeom>
          <a:solidFill>
            <a:srgbClr val="B3181E"/>
          </a:solidFill>
          <a:ln w="12700">
            <a:solidFill>
              <a:srgbClr val="B3181E"/>
            </a:solidFill>
            <a:prstDash val="solid"/>
          </a:ln>
        </p:spPr>
      </p:sp>
      <p:sp>
        <p:nvSpPr>
          <p:cNvPr id="58" name="Text 55"/>
          <p:cNvSpPr txBox="1"/>
          <p:nvPr/>
        </p:nvSpPr>
        <p:spPr>
          <a:xfrm>
            <a:off x="7205472" y="4187952"/>
            <a:ext cx="4199839" cy="237744"/>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A03:2025 · cadena de suministro</a:t>
            </a:r>
            <a:endParaRPr lang="en-US" sz="1140" dirty="0"/>
          </a:p>
        </p:txBody>
      </p:sp>
      <p:sp>
        <p:nvSpPr>
          <p:cNvPr id="59" name="Text 56"/>
          <p:cNvSpPr txBox="1"/>
          <p:nvPr/>
        </p:nvSpPr>
        <p:spPr>
          <a:xfrm>
            <a:off x="7205472" y="4462272"/>
            <a:ext cx="4163263" cy="1005840"/>
          </a:xfrm>
          <a:prstGeom prst="rect">
            <a:avLst/>
          </a:prstGeom>
          <a:noFill/>
          <a:ln/>
        </p:spPr>
        <p:txBody>
          <a:bodyPr wrap="square" lIns="0" tIns="0" rIns="0" bIns="0" rtlCol="0" anchor="t"/>
          <a:lstStyle/>
          <a:p>
            <a:pPr algn="l" indent="0" marL="0">
              <a:lnSpc>
                <a:spcPct val="108000"/>
              </a:lnSpc>
              <a:buNone/>
            </a:pPr>
            <a:r>
              <a:rPr lang="en-US" sz="1020" dirty="0">
                <a:solidFill>
                  <a:srgbClr val="243B53"/>
                </a:solidFill>
                <a:latin typeface="Aptos" pitchFamily="34" charset="0"/>
                <a:ea typeface="Aptos" pitchFamily="34" charset="-122"/>
                <a:cs typeface="Aptos" pitchFamily="34" charset="-120"/>
              </a:rPr>
              <a:t>Cada fila: el paquete, la versión instalada, el identificador de la vulnerabilidad y la primera versión que la corrige. Algunas se repiten porque la base las registra con más de un identificador.</a:t>
            </a:r>
            <a:endParaRPr lang="en-US" sz="1020" dirty="0"/>
          </a:p>
        </p:txBody>
      </p:sp>
      <p:sp>
        <p:nvSpPr>
          <p:cNvPr id="60" name="Shape 57"/>
          <p:cNvSpPr/>
          <p:nvPr/>
        </p:nvSpPr>
        <p:spPr>
          <a:xfrm>
            <a:off x="658368" y="5705856"/>
            <a:ext cx="10874959" cy="420624"/>
          </a:xfrm>
          <a:prstGeom prst="rect">
            <a:avLst/>
          </a:prstGeom>
          <a:solidFill>
            <a:srgbClr val="102A43"/>
          </a:solidFill>
          <a:ln w="12700">
            <a:solidFill>
              <a:srgbClr val="102A43"/>
            </a:solidFill>
            <a:prstDash val="solid"/>
          </a:ln>
        </p:spPr>
      </p:sp>
      <p:sp>
        <p:nvSpPr>
          <p:cNvPr id="61" name="Text 58"/>
          <p:cNvSpPr txBox="1"/>
          <p:nvPr/>
        </p:nvSpPr>
        <p:spPr>
          <a:xfrm>
            <a:off x="950976" y="5742432"/>
            <a:ext cx="10289743" cy="347472"/>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proyecto nunca pidió Starlette, y hereda igual sus vulnerabilidades.</a:t>
            </a:r>
            <a:endParaRPr lang="en-US" sz="13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LEER EL VERDE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«No se encontraron» no significa «no hay»</a:t>
            </a:r>
            <a:endParaRPr lang="en-US" sz="2800" dirty="0"/>
          </a:p>
        </p:txBody>
      </p:sp>
      <p:sp>
        <p:nvSpPr>
          <p:cNvPr id="10" name="Shape 7"/>
          <p:cNvSpPr/>
          <p:nvPr/>
        </p:nvSpPr>
        <p:spPr>
          <a:xfrm>
            <a:off x="932688" y="2834640"/>
            <a:ext cx="10326319" cy="0"/>
          </a:xfrm>
          <a:prstGeom prst="line">
            <a:avLst/>
          </a:prstGeom>
          <a:noFill/>
          <a:ln w="12700">
            <a:solidFill>
              <a:srgbClr val="52606D"/>
            </a:solidFill>
            <a:prstDash val="solid"/>
            <a:headEnd type="none"/>
            <a:tailEnd type="none"/>
          </a:ln>
        </p:spPr>
      </p:sp>
      <p:sp>
        <p:nvSpPr>
          <p:cNvPr id="11" name="Shape 8"/>
          <p:cNvSpPr/>
          <p:nvPr/>
        </p:nvSpPr>
        <p:spPr>
          <a:xfrm>
            <a:off x="2034686" y="2697480"/>
            <a:ext cx="274320" cy="274320"/>
          </a:xfrm>
          <a:prstGeom prst="ellipse">
            <a:avLst/>
          </a:prstGeom>
          <a:solidFill>
            <a:srgbClr val="2E7D4F"/>
          </a:solidFill>
          <a:ln w="12700">
            <a:solidFill>
              <a:srgbClr val="2E7D4F"/>
            </a:solidFill>
            <a:prstDash val="solid"/>
          </a:ln>
        </p:spPr>
      </p:sp>
      <p:sp>
        <p:nvSpPr>
          <p:cNvPr id="12" name="Text 9"/>
          <p:cNvSpPr/>
          <p:nvPr/>
        </p:nvSpPr>
        <p:spPr>
          <a:xfrm>
            <a:off x="2043830" y="2706624"/>
            <a:ext cx="256032" cy="256032"/>
          </a:xfrm>
          <a:prstGeom prst="rect">
            <a:avLst/>
          </a:prstGeom>
          <a:noFill/>
          <a:ln/>
        </p:spPr>
        <p:txBody>
          <a:bodyPr wrap="square" lIns="0" tIns="0" rIns="0" bIns="0" rtlCol="0" anchor="ctr"/>
          <a:lstStyle/>
          <a:p>
            <a:pPr algn="ctr" indent="0" marL="0">
              <a:buNone/>
            </a:pPr>
            <a:endParaRPr lang="en-US" sz="800" dirty="0"/>
          </a:p>
        </p:txBody>
      </p:sp>
      <p:sp>
        <p:nvSpPr>
          <p:cNvPr id="13" name="Text 10"/>
          <p:cNvSpPr txBox="1"/>
          <p:nvPr/>
        </p:nvSpPr>
        <p:spPr>
          <a:xfrm>
            <a:off x="708806" y="2011680"/>
            <a:ext cx="2926080" cy="219456"/>
          </a:xfrm>
          <a:prstGeom prst="rect">
            <a:avLst/>
          </a:prstGeom>
          <a:noFill/>
          <a:ln/>
        </p:spPr>
        <p:txBody>
          <a:bodyPr wrap="square" lIns="0" tIns="0" rIns="0" bIns="0" rtlCol="0" anchor="t"/>
          <a:lstStyle/>
          <a:p>
            <a:pPr algn="ctr" indent="0" marL="0">
              <a:buNone/>
            </a:pPr>
            <a:r>
              <a:rPr lang="en-US" sz="1040" b="1" spc="100" kern="0" dirty="0">
                <a:solidFill>
                  <a:srgbClr val="2E7D4F"/>
                </a:solidFill>
                <a:latin typeface="Aptos" pitchFamily="34" charset="0"/>
                <a:ea typeface="Aptos" pitchFamily="34" charset="-122"/>
                <a:cs typeface="Aptos" pitchFamily="34" charset="-120"/>
              </a:rPr>
              <a:t>HOY</a:t>
            </a:r>
            <a:endParaRPr lang="en-US" sz="1040" dirty="0"/>
          </a:p>
        </p:txBody>
      </p:sp>
      <p:sp>
        <p:nvSpPr>
          <p:cNvPr id="14" name="Text 11"/>
          <p:cNvSpPr txBox="1"/>
          <p:nvPr/>
        </p:nvSpPr>
        <p:spPr>
          <a:xfrm>
            <a:off x="708806" y="3072384"/>
            <a:ext cx="2926080" cy="731520"/>
          </a:xfrm>
          <a:prstGeom prst="rect">
            <a:avLst/>
          </a:prstGeom>
          <a:noFill/>
          <a:ln/>
        </p:spPr>
        <p:txBody>
          <a:bodyPr wrap="square" lIns="0" tIns="0" rIns="0" bIns="0" rtlCol="0" anchor="t"/>
          <a:lstStyle/>
          <a:p>
            <a:pPr algn="ctr" indent="0" marL="0">
              <a:lnSpc>
                <a:spcPct val="108000"/>
              </a:lnSpc>
              <a:buNone/>
            </a:pPr>
            <a:r>
              <a:rPr lang="en-US" sz="1140" dirty="0">
                <a:solidFill>
                  <a:srgbClr val="243B53"/>
                </a:solidFill>
                <a:latin typeface="Aptos" pitchFamily="34" charset="0"/>
                <a:ea typeface="Aptos" pitchFamily="34" charset="-122"/>
                <a:cs typeface="Aptos" pitchFamily="34" charset="-120"/>
              </a:rPr>
              <a:t>pip-audit: sin vulnerabilidades conocidas</a:t>
            </a:r>
            <a:endParaRPr lang="en-US" sz="1140" dirty="0"/>
          </a:p>
        </p:txBody>
      </p:sp>
      <p:sp>
        <p:nvSpPr>
          <p:cNvPr id="15" name="Shape 12"/>
          <p:cNvSpPr/>
          <p:nvPr/>
        </p:nvSpPr>
        <p:spPr>
          <a:xfrm>
            <a:off x="6475004" y="2697480"/>
            <a:ext cx="274320" cy="274320"/>
          </a:xfrm>
          <a:prstGeom prst="ellipse">
            <a:avLst/>
          </a:prstGeom>
          <a:solidFill>
            <a:srgbClr val="B3181E"/>
          </a:solidFill>
          <a:ln w="12700">
            <a:solidFill>
              <a:srgbClr val="B3181E"/>
            </a:solidFill>
            <a:prstDash val="solid"/>
          </a:ln>
        </p:spPr>
      </p:sp>
      <p:sp>
        <p:nvSpPr>
          <p:cNvPr id="16" name="Text 13"/>
          <p:cNvSpPr/>
          <p:nvPr/>
        </p:nvSpPr>
        <p:spPr>
          <a:xfrm>
            <a:off x="6484148" y="2706624"/>
            <a:ext cx="256032" cy="256032"/>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5149124" y="2011680"/>
            <a:ext cx="2926080" cy="219456"/>
          </a:xfrm>
          <a:prstGeom prst="rect">
            <a:avLst/>
          </a:prstGeom>
          <a:noFill/>
          <a:ln/>
        </p:spPr>
        <p:txBody>
          <a:bodyPr wrap="square" lIns="0" tIns="0" rIns="0" bIns="0" rtlCol="0" anchor="t"/>
          <a:lstStyle/>
          <a:p>
            <a:pPr algn="ctr" indent="0" marL="0">
              <a:buNone/>
            </a:pPr>
            <a:r>
              <a:rPr lang="en-US" sz="1040" b="1" spc="100" kern="0" dirty="0">
                <a:solidFill>
                  <a:srgbClr val="B3181E"/>
                </a:solidFill>
                <a:latin typeface="Aptos" pitchFamily="34" charset="0"/>
                <a:ea typeface="Aptos" pitchFamily="34" charset="-122"/>
                <a:cs typeface="Aptos" pitchFamily="34" charset="-120"/>
              </a:rPr>
              <a:t>UN DÍA CUALQUIERA</a:t>
            </a:r>
            <a:endParaRPr lang="en-US" sz="1040" dirty="0"/>
          </a:p>
        </p:txBody>
      </p:sp>
      <p:sp>
        <p:nvSpPr>
          <p:cNvPr id="18" name="Text 15"/>
          <p:cNvSpPr txBox="1"/>
          <p:nvPr/>
        </p:nvSpPr>
        <p:spPr>
          <a:xfrm>
            <a:off x="5149124" y="3072384"/>
            <a:ext cx="2926080" cy="731520"/>
          </a:xfrm>
          <a:prstGeom prst="rect">
            <a:avLst/>
          </a:prstGeom>
          <a:noFill/>
          <a:ln/>
        </p:spPr>
        <p:txBody>
          <a:bodyPr wrap="square" lIns="0" tIns="0" rIns="0" bIns="0" rtlCol="0" anchor="t"/>
          <a:lstStyle/>
          <a:p>
            <a:pPr algn="ctr" indent="0" marL="0">
              <a:lnSpc>
                <a:spcPct val="108000"/>
              </a:lnSpc>
              <a:buNone/>
            </a:pPr>
            <a:r>
              <a:rPr lang="en-US" sz="1140" dirty="0">
                <a:solidFill>
                  <a:srgbClr val="243B53"/>
                </a:solidFill>
                <a:latin typeface="Aptos" pitchFamily="34" charset="0"/>
                <a:ea typeface="Aptos" pitchFamily="34" charset="-122"/>
                <a:cs typeface="Aptos" pitchFamily="34" charset="-120"/>
              </a:rPr>
              <a:t>Se publica una vulnerabilidad sobre una versión ya instalada</a:t>
            </a:r>
            <a:endParaRPr lang="en-US" sz="1140" dirty="0"/>
          </a:p>
        </p:txBody>
      </p:sp>
      <p:sp>
        <p:nvSpPr>
          <p:cNvPr id="19" name="Shape 16"/>
          <p:cNvSpPr/>
          <p:nvPr/>
        </p:nvSpPr>
        <p:spPr>
          <a:xfrm>
            <a:off x="9882689" y="2697480"/>
            <a:ext cx="274320" cy="274320"/>
          </a:xfrm>
          <a:prstGeom prst="ellipse">
            <a:avLst/>
          </a:prstGeom>
          <a:solidFill>
            <a:srgbClr val="B3181E"/>
          </a:solidFill>
          <a:ln w="12700">
            <a:solidFill>
              <a:srgbClr val="B3181E"/>
            </a:solidFill>
            <a:prstDash val="solid"/>
          </a:ln>
        </p:spPr>
      </p:sp>
      <p:sp>
        <p:nvSpPr>
          <p:cNvPr id="20" name="Text 17"/>
          <p:cNvSpPr/>
          <p:nvPr/>
        </p:nvSpPr>
        <p:spPr>
          <a:xfrm>
            <a:off x="9891833" y="2706624"/>
            <a:ext cx="256032" cy="256032"/>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8556809" y="2011680"/>
            <a:ext cx="2926080" cy="219456"/>
          </a:xfrm>
          <a:prstGeom prst="rect">
            <a:avLst/>
          </a:prstGeom>
          <a:noFill/>
          <a:ln/>
        </p:spPr>
        <p:txBody>
          <a:bodyPr wrap="square" lIns="0" tIns="0" rIns="0" bIns="0" rtlCol="0" anchor="t"/>
          <a:lstStyle/>
          <a:p>
            <a:pPr algn="ctr" indent="0" marL="0">
              <a:buNone/>
            </a:pPr>
            <a:r>
              <a:rPr lang="en-US" sz="1040" b="1" spc="100" kern="0" dirty="0">
                <a:solidFill>
                  <a:srgbClr val="B3181E"/>
                </a:solidFill>
                <a:latin typeface="Aptos" pitchFamily="34" charset="0"/>
                <a:ea typeface="Aptos" pitchFamily="34" charset="-122"/>
                <a:cs typeface="Aptos" pitchFamily="34" charset="-120"/>
              </a:rPr>
              <a:t>AL DÍA SIGUIENTE</a:t>
            </a:r>
            <a:endParaRPr lang="en-US" sz="1040" dirty="0"/>
          </a:p>
        </p:txBody>
      </p:sp>
      <p:sp>
        <p:nvSpPr>
          <p:cNvPr id="22" name="Text 19"/>
          <p:cNvSpPr txBox="1"/>
          <p:nvPr/>
        </p:nvSpPr>
        <p:spPr>
          <a:xfrm>
            <a:off x="8556809" y="3072384"/>
            <a:ext cx="2926080" cy="731520"/>
          </a:xfrm>
          <a:prstGeom prst="rect">
            <a:avLst/>
          </a:prstGeom>
          <a:noFill/>
          <a:ln/>
        </p:spPr>
        <p:txBody>
          <a:bodyPr wrap="square" lIns="0" tIns="0" rIns="0" bIns="0" rtlCol="0" anchor="t"/>
          <a:lstStyle/>
          <a:p>
            <a:pPr algn="ctr" indent="0" marL="0">
              <a:lnSpc>
                <a:spcPct val="108000"/>
              </a:lnSpc>
              <a:buNone/>
            </a:pPr>
            <a:r>
              <a:rPr lang="en-US" sz="1140" dirty="0">
                <a:solidFill>
                  <a:srgbClr val="243B53"/>
                </a:solidFill>
                <a:latin typeface="Aptos" pitchFamily="34" charset="0"/>
                <a:ea typeface="Aptos" pitchFamily="34" charset="-122"/>
                <a:cs typeface="Aptos" pitchFamily="34" charset="-120"/>
              </a:rPr>
              <a:t>La misma auditoría, sin cambiar nada, ya no está en verde</a:t>
            </a:r>
            <a:endParaRPr lang="en-US" sz="1140" dirty="0"/>
          </a:p>
        </p:txBody>
      </p:sp>
      <p:sp>
        <p:nvSpPr>
          <p:cNvPr id="23" name="Text 20"/>
          <p:cNvSpPr txBox="1"/>
          <p:nvPr/>
        </p:nvSpPr>
        <p:spPr>
          <a:xfrm>
            <a:off x="932688" y="2432304"/>
            <a:ext cx="10326319" cy="219456"/>
          </a:xfrm>
          <a:prstGeom prst="rect">
            <a:avLst/>
          </a:prstGeom>
          <a:noFill/>
          <a:ln/>
        </p:spPr>
        <p:txBody>
          <a:bodyPr wrap="square" lIns="0" tIns="0" rIns="0" bIns="0" rtlCol="0" anchor="t"/>
          <a:lstStyle/>
          <a:p>
            <a:pPr algn="ctr" indent="0" marL="0">
              <a:buNone/>
            </a:pPr>
            <a:r>
              <a:rPr lang="en-US" sz="1000" i="1" dirty="0">
                <a:solidFill>
                  <a:srgbClr val="52606D"/>
                </a:solidFill>
                <a:latin typeface="Aptos" pitchFamily="34" charset="0"/>
                <a:ea typeface="Aptos" pitchFamily="34" charset="-122"/>
                <a:cs typeface="Aptos" pitchFamily="34" charset="-120"/>
              </a:rPr>
              <a:t>El proyecto no cambió en ningún momento.</a:t>
            </a:r>
            <a:endParaRPr lang="en-US" sz="1000" dirty="0"/>
          </a:p>
        </p:txBody>
      </p:sp>
      <p:sp>
        <p:nvSpPr>
          <p:cNvPr id="24" name="Shape 21"/>
          <p:cNvSpPr/>
          <p:nvPr/>
        </p:nvSpPr>
        <p:spPr>
          <a:xfrm>
            <a:off x="658368" y="4114800"/>
            <a:ext cx="10874959" cy="1097280"/>
          </a:xfrm>
          <a:prstGeom prst="rect">
            <a:avLst/>
          </a:prstGeom>
          <a:solidFill>
            <a:srgbClr val="1D3A57"/>
          </a:solidFill>
          <a:ln w="12700">
            <a:solidFill>
              <a:srgbClr val="1D3A57"/>
            </a:solidFill>
            <a:prstDash val="solid"/>
          </a:ln>
        </p:spPr>
      </p:sp>
      <p:sp>
        <p:nvSpPr>
          <p:cNvPr id="25" name="Text 22"/>
          <p:cNvSpPr txBox="1"/>
          <p:nvPr/>
        </p:nvSpPr>
        <p:spPr>
          <a:xfrm>
            <a:off x="969264" y="4242816"/>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MAÑANA · 11:00 · CLASE 16</a:t>
            </a:r>
            <a:endParaRPr lang="en-US" sz="960" dirty="0"/>
          </a:p>
        </p:txBody>
      </p:sp>
      <p:sp>
        <p:nvSpPr>
          <p:cNvPr id="26" name="Text 23"/>
          <p:cNvSpPr txBox="1"/>
          <p:nvPr/>
        </p:nvSpPr>
        <p:spPr>
          <a:xfrm>
            <a:off x="969264" y="4498848"/>
            <a:ext cx="10253167" cy="658368"/>
          </a:xfrm>
          <a:prstGeom prst="rect">
            <a:avLst/>
          </a:prstGeom>
          <a:noFill/>
          <a:ln/>
        </p:spPr>
        <p:txBody>
          <a:bodyPr wrap="square" lIns="0" tIns="0" rIns="0" bIns="0" rtlCol="0" anchor="t"/>
          <a:lstStyle/>
          <a:p>
            <a:pPr algn="l" indent="0" marL="0">
              <a:lnSpc>
                <a:spcPct val="112000"/>
              </a:lnSpc>
              <a:buNone/>
            </a:pPr>
            <a:r>
              <a:rPr lang="en-US" sz="1200" dirty="0">
                <a:solidFill>
                  <a:srgbClr val="FFFFFF"/>
                </a:solidFill>
                <a:latin typeface="Aptos" pitchFamily="34" charset="0"/>
                <a:ea typeface="Aptos" pitchFamily="34" charset="-122"/>
                <a:cs typeface="Aptos" pitchFamily="34" charset="-120"/>
              </a:rPr>
              <a:t>Por eso esta revisión no se ejecuta una vez: se ejecuta cada vez que cambia algo, y también cuando no cambia nada. Es una de las razones por las que existe la integración continua: ejecutar las pruebas automáticamente con cada cambio.</a:t>
            </a:r>
            <a:endParaRPr lang="en-US" sz="1200" dirty="0"/>
          </a:p>
        </p:txBody>
      </p:sp>
      <p:sp>
        <p:nvSpPr>
          <p:cNvPr id="27" name="Shape 24"/>
          <p:cNvSpPr/>
          <p:nvPr/>
        </p:nvSpPr>
        <p:spPr>
          <a:xfrm>
            <a:off x="658368" y="5650992"/>
            <a:ext cx="10874959" cy="548640"/>
          </a:xfrm>
          <a:prstGeom prst="rect">
            <a:avLst/>
          </a:prstGeom>
          <a:solidFill>
            <a:srgbClr val="102A43"/>
          </a:solidFill>
          <a:ln w="12700">
            <a:solidFill>
              <a:srgbClr val="102A43"/>
            </a:solidFill>
            <a:prstDash val="solid"/>
          </a:ln>
        </p:spPr>
      </p:sp>
      <p:sp>
        <p:nvSpPr>
          <p:cNvPr id="28" name="Text 2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resultado de seguridad tiene fecha.</a:t>
            </a:r>
            <a:endParaRPr lang="en-US" sz="13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SI EL ROJO LLEGA AL SISTEMA REAL</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Lo que la ley pide antes y después</a:t>
            </a:r>
            <a:endParaRPr lang="en-US" sz="2800" dirty="0"/>
          </a:p>
        </p:txBody>
      </p:sp>
      <p:sp>
        <p:nvSpPr>
          <p:cNvPr id="10" name="Text 7"/>
          <p:cNvSpPr txBox="1"/>
          <p:nvPr/>
        </p:nvSpPr>
        <p:spPr>
          <a:xfrm>
            <a:off x="658368" y="1682496"/>
            <a:ext cx="10874959" cy="457200"/>
          </a:xfrm>
          <a:prstGeom prst="rect">
            <a:avLst/>
          </a:prstGeom>
          <a:noFill/>
          <a:ln/>
        </p:spPr>
        <p:txBody>
          <a:bodyPr wrap="square" lIns="0" tIns="0" rIns="0" bIns="0" rtlCol="0" anchor="t"/>
          <a:lstStyle/>
          <a:p>
            <a:pPr algn="l" indent="0" marL="0">
              <a:lnSpc>
                <a:spcPct val="110000"/>
              </a:lnSpc>
              <a:buNone/>
            </a:pPr>
            <a:r>
              <a:rPr lang="en-US" sz="1220" dirty="0">
                <a:solidFill>
                  <a:srgbClr val="243B53"/>
                </a:solidFill>
                <a:latin typeface="Aptos" pitchFamily="34" charset="0"/>
                <a:ea typeface="Aptos" pitchFamily="34" charset="-122"/>
                <a:cs typeface="Aptos" pitchFamily="34" charset="-120"/>
              </a:rPr>
              <a:t>Hoy la suplantación está en rojo en tu máquina, con datos inventados: nadie fue afectado. Es el mejor momento para encontrarla.</a:t>
            </a:r>
            <a:endParaRPr lang="en-US" sz="1220" dirty="0"/>
          </a:p>
        </p:txBody>
      </p:sp>
      <p:sp>
        <p:nvSpPr>
          <p:cNvPr id="11" name="Shape 8"/>
          <p:cNvSpPr/>
          <p:nvPr/>
        </p:nvSpPr>
        <p:spPr>
          <a:xfrm>
            <a:off x="658368" y="2286000"/>
            <a:ext cx="3503066" cy="2048256"/>
          </a:xfrm>
          <a:prstGeom prst="rect">
            <a:avLst/>
          </a:prstGeom>
          <a:solidFill>
            <a:srgbClr val="FFFFFF"/>
          </a:solidFill>
          <a:ln w="12700">
            <a:solidFill>
              <a:srgbClr val="FFFFFF"/>
            </a:solidFill>
            <a:prstDash val="solid"/>
          </a:ln>
        </p:spPr>
      </p:sp>
      <p:sp>
        <p:nvSpPr>
          <p:cNvPr id="12" name="Shape 9"/>
          <p:cNvSpPr/>
          <p:nvPr/>
        </p:nvSpPr>
        <p:spPr>
          <a:xfrm>
            <a:off x="658368" y="2286000"/>
            <a:ext cx="3503066" cy="54864"/>
          </a:xfrm>
          <a:prstGeom prst="rect">
            <a:avLst/>
          </a:prstGeom>
          <a:solidFill>
            <a:srgbClr val="102A43"/>
          </a:solidFill>
          <a:ln w="12700">
            <a:solidFill>
              <a:srgbClr val="102A43"/>
            </a:solidFill>
            <a:prstDash val="solid"/>
          </a:ln>
        </p:spPr>
      </p:sp>
      <p:sp>
        <p:nvSpPr>
          <p:cNvPr id="13" name="Text 10"/>
          <p:cNvSpPr txBox="1"/>
          <p:nvPr/>
        </p:nvSpPr>
        <p:spPr>
          <a:xfrm>
            <a:off x="877824" y="2432304"/>
            <a:ext cx="3137306" cy="36576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Prevenir</a:t>
            </a:r>
            <a:endParaRPr lang="en-US" sz="1700" dirty="0"/>
          </a:p>
        </p:txBody>
      </p:sp>
      <p:sp>
        <p:nvSpPr>
          <p:cNvPr id="14" name="Text 11"/>
          <p:cNvSpPr txBox="1"/>
          <p:nvPr/>
        </p:nvSpPr>
        <p:spPr>
          <a:xfrm>
            <a:off x="877824" y="2798064"/>
            <a:ext cx="3137306" cy="219456"/>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Artículo 14 quinquies</a:t>
            </a:r>
            <a:endParaRPr lang="en-US" sz="1000" dirty="0"/>
          </a:p>
        </p:txBody>
      </p:sp>
      <p:sp>
        <p:nvSpPr>
          <p:cNvPr id="15" name="Text 12"/>
          <p:cNvSpPr txBox="1"/>
          <p:nvPr/>
        </p:nvSpPr>
        <p:spPr>
          <a:xfrm>
            <a:off x="877824" y="3072384"/>
            <a:ext cx="3100730" cy="1188720"/>
          </a:xfrm>
          <a:prstGeom prst="rect">
            <a:avLst/>
          </a:prstGeom>
          <a:noFill/>
          <a:ln/>
        </p:spPr>
        <p:txBody>
          <a:bodyPr wrap="square" lIns="0" tIns="0" rIns="0" bIns="0" rtlCol="0" anchor="t"/>
          <a:lstStyle/>
          <a:p>
            <a:pPr algn="l" indent="0" marL="0">
              <a:lnSpc>
                <a:spcPct val="110000"/>
              </a:lnSpc>
              <a:buNone/>
            </a:pPr>
            <a:r>
              <a:rPr lang="en-US" sz="1060" i="1" dirty="0">
                <a:solidFill>
                  <a:srgbClr val="243B53"/>
                </a:solidFill>
                <a:latin typeface="Aptos" pitchFamily="34" charset="0"/>
                <a:ea typeface="Aptos" pitchFamily="34" charset="-122"/>
                <a:cs typeface="Aptos" pitchFamily="34" charset="-120"/>
              </a:rPr>
              <a:t>«El responsable de datos debe adoptar las medidas necesarias para resguardar el cumplimiento del principio de seguridad […], considerando el estado actual de la técnica y los costos de aplicación […]»</a:t>
            </a:r>
            <a:endParaRPr lang="en-US" sz="1060" dirty="0"/>
          </a:p>
        </p:txBody>
      </p:sp>
      <p:sp>
        <p:nvSpPr>
          <p:cNvPr id="16" name="Shape 13"/>
          <p:cNvSpPr/>
          <p:nvPr/>
        </p:nvSpPr>
        <p:spPr>
          <a:xfrm>
            <a:off x="4179722" y="3621024"/>
            <a:ext cx="146304" cy="0"/>
          </a:xfrm>
          <a:prstGeom prst="line">
            <a:avLst/>
          </a:prstGeom>
          <a:noFill/>
          <a:ln w="12700">
            <a:solidFill>
              <a:srgbClr val="52606D"/>
            </a:solidFill>
            <a:prstDash val="solid"/>
            <a:headEnd type="none"/>
            <a:tailEnd type="triangle"/>
          </a:ln>
        </p:spPr>
      </p:sp>
      <p:sp>
        <p:nvSpPr>
          <p:cNvPr id="17" name="Shape 14"/>
          <p:cNvSpPr/>
          <p:nvPr/>
        </p:nvSpPr>
        <p:spPr>
          <a:xfrm>
            <a:off x="4344314" y="2286000"/>
            <a:ext cx="3503066" cy="2048256"/>
          </a:xfrm>
          <a:prstGeom prst="rect">
            <a:avLst/>
          </a:prstGeom>
          <a:solidFill>
            <a:srgbClr val="FFFFFF"/>
          </a:solidFill>
          <a:ln w="12700">
            <a:solidFill>
              <a:srgbClr val="FFFFFF"/>
            </a:solidFill>
            <a:prstDash val="solid"/>
          </a:ln>
        </p:spPr>
      </p:sp>
      <p:sp>
        <p:nvSpPr>
          <p:cNvPr id="18" name="Shape 15"/>
          <p:cNvSpPr/>
          <p:nvPr/>
        </p:nvSpPr>
        <p:spPr>
          <a:xfrm>
            <a:off x="4344314" y="2286000"/>
            <a:ext cx="3503066" cy="54864"/>
          </a:xfrm>
          <a:prstGeom prst="rect">
            <a:avLst/>
          </a:prstGeom>
          <a:solidFill>
            <a:srgbClr val="8A6A12"/>
          </a:solidFill>
          <a:ln w="12700">
            <a:solidFill>
              <a:srgbClr val="8A6A12"/>
            </a:solidFill>
            <a:prstDash val="solid"/>
          </a:ln>
        </p:spPr>
      </p:sp>
      <p:sp>
        <p:nvSpPr>
          <p:cNvPr id="19" name="Text 16"/>
          <p:cNvSpPr txBox="1"/>
          <p:nvPr/>
        </p:nvSpPr>
        <p:spPr>
          <a:xfrm>
            <a:off x="4563770" y="2432304"/>
            <a:ext cx="3137306" cy="365760"/>
          </a:xfrm>
          <a:prstGeom prst="rect">
            <a:avLst/>
          </a:prstGeom>
          <a:noFill/>
          <a:ln/>
        </p:spPr>
        <p:txBody>
          <a:bodyPr wrap="square" lIns="0" tIns="0" rIns="0" bIns="0" rtlCol="0" anchor="t"/>
          <a:lstStyle/>
          <a:p>
            <a:pPr algn="l" indent="0" marL="0">
              <a:buNone/>
            </a:pPr>
            <a:r>
              <a:rPr lang="en-US" sz="1700" b="1" dirty="0">
                <a:solidFill>
                  <a:srgbClr val="8A6A12"/>
                </a:solidFill>
                <a:latin typeface="Aptos" pitchFamily="34" charset="0"/>
                <a:ea typeface="Aptos" pitchFamily="34" charset="-122"/>
                <a:cs typeface="Aptos" pitchFamily="34" charset="-120"/>
              </a:rPr>
              <a:t>Reportar</a:t>
            </a:r>
            <a:endParaRPr lang="en-US" sz="1700" dirty="0"/>
          </a:p>
        </p:txBody>
      </p:sp>
      <p:sp>
        <p:nvSpPr>
          <p:cNvPr id="20" name="Text 17"/>
          <p:cNvSpPr txBox="1"/>
          <p:nvPr/>
        </p:nvSpPr>
        <p:spPr>
          <a:xfrm>
            <a:off x="4563770" y="2798064"/>
            <a:ext cx="3137306" cy="219456"/>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Artículo 14 sexies</a:t>
            </a:r>
            <a:endParaRPr lang="en-US" sz="1000" dirty="0"/>
          </a:p>
        </p:txBody>
      </p:sp>
      <p:sp>
        <p:nvSpPr>
          <p:cNvPr id="21" name="Text 18"/>
          <p:cNvSpPr txBox="1"/>
          <p:nvPr/>
        </p:nvSpPr>
        <p:spPr>
          <a:xfrm>
            <a:off x="4563770" y="3072384"/>
            <a:ext cx="3100730" cy="1188720"/>
          </a:xfrm>
          <a:prstGeom prst="rect">
            <a:avLst/>
          </a:prstGeom>
          <a:noFill/>
          <a:ln/>
        </p:spPr>
        <p:txBody>
          <a:bodyPr wrap="square" lIns="0" tIns="0" rIns="0" bIns="0" rtlCol="0" anchor="t"/>
          <a:lstStyle/>
          <a:p>
            <a:pPr algn="l" indent="0" marL="0">
              <a:lnSpc>
                <a:spcPct val="110000"/>
              </a:lnSpc>
              <a:buNone/>
            </a:pPr>
            <a:r>
              <a:rPr lang="en-US" sz="1060" i="1" dirty="0">
                <a:solidFill>
                  <a:srgbClr val="243B53"/>
                </a:solidFill>
                <a:latin typeface="Aptos" pitchFamily="34" charset="0"/>
                <a:ea typeface="Aptos" pitchFamily="34" charset="-122"/>
                <a:cs typeface="Aptos" pitchFamily="34" charset="-120"/>
              </a:rPr>
              <a:t>«El responsable deberá reportar a la Agencia, por los medios más expeditos posibles y sin dilaciones indebidas, las vulneraciones a las medidas de seguridad […]»</a:t>
            </a:r>
            <a:endParaRPr lang="en-US" sz="1060" dirty="0"/>
          </a:p>
        </p:txBody>
      </p:sp>
      <p:sp>
        <p:nvSpPr>
          <p:cNvPr id="22" name="Shape 19"/>
          <p:cNvSpPr/>
          <p:nvPr/>
        </p:nvSpPr>
        <p:spPr>
          <a:xfrm>
            <a:off x="7865669" y="3621024"/>
            <a:ext cx="146304" cy="0"/>
          </a:xfrm>
          <a:prstGeom prst="line">
            <a:avLst/>
          </a:prstGeom>
          <a:noFill/>
          <a:ln w="12700">
            <a:solidFill>
              <a:srgbClr val="52606D"/>
            </a:solidFill>
            <a:prstDash val="solid"/>
            <a:headEnd type="none"/>
            <a:tailEnd type="triangle"/>
          </a:ln>
        </p:spPr>
      </p:sp>
      <p:sp>
        <p:nvSpPr>
          <p:cNvPr id="23" name="Shape 20"/>
          <p:cNvSpPr/>
          <p:nvPr/>
        </p:nvSpPr>
        <p:spPr>
          <a:xfrm>
            <a:off x="8030261" y="2286000"/>
            <a:ext cx="3503066" cy="2048256"/>
          </a:xfrm>
          <a:prstGeom prst="rect">
            <a:avLst/>
          </a:prstGeom>
          <a:solidFill>
            <a:srgbClr val="FFFFFF"/>
          </a:solidFill>
          <a:ln w="12700">
            <a:solidFill>
              <a:srgbClr val="FFFFFF"/>
            </a:solidFill>
            <a:prstDash val="solid"/>
          </a:ln>
        </p:spPr>
      </p:sp>
      <p:sp>
        <p:nvSpPr>
          <p:cNvPr id="24" name="Shape 21"/>
          <p:cNvSpPr/>
          <p:nvPr/>
        </p:nvSpPr>
        <p:spPr>
          <a:xfrm>
            <a:off x="8030261" y="2286000"/>
            <a:ext cx="3503066" cy="54864"/>
          </a:xfrm>
          <a:prstGeom prst="rect">
            <a:avLst/>
          </a:prstGeom>
          <a:solidFill>
            <a:srgbClr val="B3181E"/>
          </a:solidFill>
          <a:ln w="12700">
            <a:solidFill>
              <a:srgbClr val="B3181E"/>
            </a:solidFill>
            <a:prstDash val="solid"/>
          </a:ln>
        </p:spPr>
      </p:sp>
      <p:sp>
        <p:nvSpPr>
          <p:cNvPr id="25" name="Text 22"/>
          <p:cNvSpPr txBox="1"/>
          <p:nvPr/>
        </p:nvSpPr>
        <p:spPr>
          <a:xfrm>
            <a:off x="8249717" y="2432304"/>
            <a:ext cx="3137306" cy="365760"/>
          </a:xfrm>
          <a:prstGeom prst="rect">
            <a:avLst/>
          </a:prstGeom>
          <a:noFill/>
          <a:ln/>
        </p:spPr>
        <p:txBody>
          <a:bodyPr wrap="square" lIns="0" tIns="0" rIns="0" bIns="0" rtlCol="0" anchor="t"/>
          <a:lstStyle/>
          <a:p>
            <a:pPr algn="l" indent="0" marL="0">
              <a:buNone/>
            </a:pPr>
            <a:r>
              <a:rPr lang="en-US" sz="1700" b="1" dirty="0">
                <a:solidFill>
                  <a:srgbClr val="B3181E"/>
                </a:solidFill>
                <a:latin typeface="Aptos" pitchFamily="34" charset="0"/>
                <a:ea typeface="Aptos" pitchFamily="34" charset="-122"/>
                <a:cs typeface="Aptos" pitchFamily="34" charset="-120"/>
              </a:rPr>
              <a:t>Infracción grave</a:t>
            </a:r>
            <a:endParaRPr lang="en-US" sz="1700" dirty="0"/>
          </a:p>
        </p:txBody>
      </p:sp>
      <p:sp>
        <p:nvSpPr>
          <p:cNvPr id="26" name="Text 23"/>
          <p:cNvSpPr txBox="1"/>
          <p:nvPr/>
        </p:nvSpPr>
        <p:spPr>
          <a:xfrm>
            <a:off x="8249717" y="2798064"/>
            <a:ext cx="3137306" cy="219456"/>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Artículo 34 ter, letra j</a:t>
            </a:r>
            <a:endParaRPr lang="en-US" sz="1000" dirty="0"/>
          </a:p>
        </p:txBody>
      </p:sp>
      <p:sp>
        <p:nvSpPr>
          <p:cNvPr id="27" name="Text 24"/>
          <p:cNvSpPr txBox="1"/>
          <p:nvPr/>
        </p:nvSpPr>
        <p:spPr>
          <a:xfrm>
            <a:off x="8249717" y="3072384"/>
            <a:ext cx="3100730" cy="1188720"/>
          </a:xfrm>
          <a:prstGeom prst="rect">
            <a:avLst/>
          </a:prstGeom>
          <a:noFill/>
          <a:ln/>
        </p:spPr>
        <p:txBody>
          <a:bodyPr wrap="square" lIns="0" tIns="0" rIns="0" bIns="0" rtlCol="0" anchor="t"/>
          <a:lstStyle/>
          <a:p>
            <a:pPr algn="l" indent="0" marL="0">
              <a:lnSpc>
                <a:spcPct val="110000"/>
              </a:lnSpc>
              <a:buNone/>
            </a:pPr>
            <a:r>
              <a:rPr lang="en-US" sz="1060" i="1" dirty="0">
                <a:solidFill>
                  <a:srgbClr val="243B53"/>
                </a:solidFill>
                <a:latin typeface="Aptos" pitchFamily="34" charset="0"/>
                <a:ea typeface="Aptos" pitchFamily="34" charset="-122"/>
                <a:cs typeface="Aptos" pitchFamily="34" charset="-120"/>
              </a:rPr>
              <a:t>«Vulnerar o infringir las obligaciones de seguridad en el tratamiento de los datos personales establecidas en el artículo 14 quinquies.»</a:t>
            </a:r>
            <a:endParaRPr lang="en-US" sz="1060" dirty="0"/>
          </a:p>
        </p:txBody>
      </p:sp>
      <p:sp>
        <p:nvSpPr>
          <p:cNvPr id="28" name="Text 25"/>
          <p:cNvSpPr txBox="1"/>
          <p:nvPr/>
        </p:nvSpPr>
        <p:spPr>
          <a:xfrm>
            <a:off x="658368" y="4389120"/>
            <a:ext cx="10874959" cy="219456"/>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Agencia: la Agencia de Protección de Datos Personales que crea la ley. Todas las citas: Ley 21.719.</a:t>
            </a:r>
            <a:endParaRPr lang="en-US" sz="980" dirty="0"/>
          </a:p>
        </p:txBody>
      </p:sp>
      <p:sp>
        <p:nvSpPr>
          <p:cNvPr id="29" name="Shape 26"/>
          <p:cNvSpPr/>
          <p:nvPr/>
        </p:nvSpPr>
        <p:spPr>
          <a:xfrm>
            <a:off x="658368" y="4754880"/>
            <a:ext cx="10874959" cy="731520"/>
          </a:xfrm>
          <a:prstGeom prst="rect">
            <a:avLst/>
          </a:prstGeom>
          <a:solidFill>
            <a:srgbClr val="1D3A57"/>
          </a:solidFill>
          <a:ln w="12700">
            <a:solidFill>
              <a:srgbClr val="1D3A57"/>
            </a:solidFill>
            <a:prstDash val="solid"/>
          </a:ln>
        </p:spPr>
      </p:sp>
      <p:sp>
        <p:nvSpPr>
          <p:cNvPr id="30" name="Text 27"/>
          <p:cNvSpPr txBox="1"/>
          <p:nvPr/>
        </p:nvSpPr>
        <p:spPr>
          <a:xfrm>
            <a:off x="969264" y="4809744"/>
            <a:ext cx="10253167" cy="621792"/>
          </a:xfrm>
          <a:prstGeom prst="rect">
            <a:avLst/>
          </a:prstGeom>
          <a:noFill/>
          <a:ln/>
        </p:spPr>
        <p:txBody>
          <a:bodyPr wrap="square" lIns="0" tIns="0" rIns="0" bIns="0" rtlCol="0" anchor="ctr"/>
          <a:lstStyle/>
          <a:p>
            <a:pPr algn="l" indent="0" marL="0">
              <a:buNone/>
            </a:pPr>
            <a:r>
              <a:rPr lang="en-US" sz="1260" dirty="0">
                <a:solidFill>
                  <a:srgbClr val="FFFFFF"/>
                </a:solidFill>
                <a:latin typeface="Aptos" pitchFamily="34" charset="0"/>
                <a:ea typeface="Aptos" pitchFamily="34" charset="-122"/>
                <a:cs typeface="Aptos" pitchFamily="34" charset="-120"/>
              </a:rPr>
              <a:t>Y una prueba en rojo que se conoce y se deja así, sin decisión y sin registro, es evidencia de lo contrario.</a:t>
            </a:r>
            <a:endParaRPr lang="en-US" sz="126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prueba que existe, se ejecuta y queda registrada es evidencia de que las medidas se buscaron.</a:t>
            </a:r>
            <a:endParaRPr lang="en-US" sz="13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la pausa</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bandit señaló una posible inyección SQL y la prueba de inyección pasó. Un compañero propone agregar # nosec a la línea y seguir. ¿Qué le falta a esa decisión?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parte de la instrucción sí se arma pegando texto. ¿Qué necesitaría saber la próxima persona que lea esa línea?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pip-audit informó que no hay vulnerabilidades conocidas. ¿Se puede escribir en el informe que las dependencias del proyecto son seguras?</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Relee la frase exacta de la herramienta. ¿Qué pasa con ella el día que se publique una vulnerabilidad sobre una versión ya instalada?</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prueba de suplantación está en rojo, y corregirla exige decidir cómo se identifican las personas. ¿Qué debería pasar con esa prueba mientras nadie decide?</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Compárala con una prueba inestable, que falla sin que el sistema cambie: ¿cuál de los dos rojos informa algo? ¿Qué dice el artículo 14 quinquies?</a:t>
            </a:r>
            <a:endParaRPr lang="en-US" sz="11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LE FALTA EL PORQUÉ</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Los nombres de columna sí se pegan; hoy salen del código, y mañana podrían no hacerlo.</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 nosec B608 con la razón escrita deja constancia de que alguien lo revisó.</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Silenciar una advertencia sin dejar el motivo.</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NO: SOLO QUE HOY NO HAY CONOCIDAS</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frase dice que ninguna versión tiene hoy una vulnerabilidad registrada.</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resultado de seguridad tiene fecha, y por eso se repite siempre.</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Convertir «no se encontraron» en «no hay».</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QUEDARSE EN ROJO, VISIBLE</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Este rojo informa qué puede hacer cualquiera con el RUT de otra persona.</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riesgo conocido, con su decisión pendiente registrada, es parte de las medidas.</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Borrar la prueba o cambiarla para que pase.</a:t>
            </a:r>
            <a:endParaRPr lang="en-US" sz="10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 · 25 MINUTOS</a:t>
            </a:r>
            <a:endParaRPr lang="en-US" sz="960" dirty="0"/>
          </a:p>
        </p:txBody>
      </p:sp>
      <p:sp>
        <p:nvSpPr>
          <p:cNvPr id="9" name="Text 6"/>
          <p:cNvSpPr txBox="1"/>
          <p:nvPr/>
        </p:nvSpPr>
        <p:spPr>
          <a:xfrm>
            <a:off x="658368" y="1810512"/>
            <a:ext cx="10241280" cy="1371600"/>
          </a:xfrm>
          <a:prstGeom prst="rect">
            <a:avLst/>
          </a:prstGeom>
          <a:noFill/>
          <a:ln/>
        </p:spPr>
        <p:txBody>
          <a:bodyPr wrap="square" lIns="0" tIns="0" rIns="0" bIns="0" rtlCol="0" anchor="t"/>
          <a:lstStyle/>
          <a:p>
            <a:pPr algn="l" indent="0" marL="0">
              <a:buNone/>
            </a:pPr>
            <a:r>
              <a:rPr lang="en-US" sz="4400" b="1" dirty="0">
                <a:solidFill>
                  <a:srgbClr val="FFFFFF"/>
                </a:solidFill>
                <a:latin typeface="Aptos Display" pitchFamily="34" charset="0"/>
                <a:ea typeface="Aptos Display" pitchFamily="34" charset="-122"/>
                <a:cs typeface="Aptos Display" pitchFamily="34" charset="-120"/>
              </a:rPr>
              <a:t>Para quién sirve y dónde corre</a:t>
            </a:r>
            <a:endParaRPr lang="en-US" sz="44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Una revisión automática de accesibilidad que pasa o falla según lo que tenga la pantalla, lo que ninguna herramienta puede ver, y la misma suite en tres navegadores y dos versiones de Python.</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MEDIR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Cuánto aguanta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ATACAR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A quién deja entrar</a:t>
            </a:r>
            <a:endParaRPr lang="en-US" sz="920" dirty="0"/>
          </a:p>
        </p:txBody>
      </p:sp>
      <p:sp>
        <p:nvSpPr>
          <p:cNvPr id="20" name="Shape 17"/>
          <p:cNvSpPr/>
          <p:nvPr/>
        </p:nvSpPr>
        <p:spPr>
          <a:xfrm>
            <a:off x="6159856" y="4901184"/>
            <a:ext cx="2622728" cy="786384"/>
          </a:xfrm>
          <a:prstGeom prst="rect">
            <a:avLst/>
          </a:prstGeom>
          <a:solidFill>
            <a:srgbClr val="D62027"/>
          </a:solidFill>
          <a:ln w="12700">
            <a:solidFill>
              <a:srgbClr val="D6202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INCLUIR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Para quién sirve y dónde corre</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EXIGIR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 umbral para cada afirmación</a:t>
            </a:r>
            <a:endParaRPr lang="en-US" sz="9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ACCESIBILIDAD</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interfaz que pueda usar cualquiera</a:t>
            </a:r>
            <a:endParaRPr lang="en-US" sz="2800" dirty="0"/>
          </a:p>
        </p:txBody>
      </p:sp>
      <p:sp>
        <p:nvSpPr>
          <p:cNvPr id="10" name="Shape 7"/>
          <p:cNvSpPr/>
          <p:nvPr/>
        </p:nvSpPr>
        <p:spPr>
          <a:xfrm>
            <a:off x="658368" y="1773936"/>
            <a:ext cx="2581580" cy="1426464"/>
          </a:xfrm>
          <a:prstGeom prst="rect">
            <a:avLst/>
          </a:prstGeom>
          <a:solidFill>
            <a:srgbClr val="FFFFFF"/>
          </a:solidFill>
          <a:ln w="12700">
            <a:solidFill>
              <a:srgbClr val="FFFFFF"/>
            </a:solidFill>
            <a:prstDash val="solid"/>
          </a:ln>
        </p:spPr>
      </p:sp>
      <p:sp>
        <p:nvSpPr>
          <p:cNvPr id="11" name="Shape 8"/>
          <p:cNvSpPr/>
          <p:nvPr/>
        </p:nvSpPr>
        <p:spPr>
          <a:xfrm>
            <a:off x="658368" y="1773936"/>
            <a:ext cx="2581580" cy="54864"/>
          </a:xfrm>
          <a:prstGeom prst="rect">
            <a:avLst/>
          </a:prstGeom>
          <a:solidFill>
            <a:srgbClr val="102A43"/>
          </a:solidFill>
          <a:ln w="12700">
            <a:solidFill>
              <a:srgbClr val="102A43"/>
            </a:solidFill>
            <a:prstDash val="solid"/>
          </a:ln>
        </p:spPr>
      </p:sp>
      <p:sp>
        <p:nvSpPr>
          <p:cNvPr id="12" name="Text 9"/>
          <p:cNvSpPr txBox="1"/>
          <p:nvPr/>
        </p:nvSpPr>
        <p:spPr>
          <a:xfrm>
            <a:off x="841248" y="1920240"/>
            <a:ext cx="2215820" cy="457200"/>
          </a:xfrm>
          <a:prstGeom prst="rect">
            <a:avLst/>
          </a:prstGeom>
          <a:noFill/>
          <a:ln/>
        </p:spPr>
        <p:txBody>
          <a:bodyPr wrap="square" lIns="0" tIns="0" rIns="0" bIns="0" rtlCol="0" anchor="t"/>
          <a:lstStyle/>
          <a:p>
            <a:pPr algn="l" indent="0" marL="0">
              <a:lnSpc>
                <a:spcPct val="105000"/>
              </a:lnSpc>
              <a:buNone/>
            </a:pPr>
            <a:r>
              <a:rPr lang="en-US" sz="1300" b="1" dirty="0">
                <a:solidFill>
                  <a:srgbClr val="243B53"/>
                </a:solidFill>
                <a:latin typeface="Aptos" pitchFamily="34" charset="0"/>
                <a:ea typeface="Aptos" pitchFamily="34" charset="-122"/>
                <a:cs typeface="Aptos" pitchFamily="34" charset="-120"/>
              </a:rPr>
              <a:t>No ve la pantalla</a:t>
            </a:r>
            <a:endParaRPr lang="en-US" sz="1300" dirty="0"/>
          </a:p>
        </p:txBody>
      </p:sp>
      <p:sp>
        <p:nvSpPr>
          <p:cNvPr id="13" name="Text 10"/>
          <p:cNvSpPr txBox="1"/>
          <p:nvPr/>
        </p:nvSpPr>
        <p:spPr>
          <a:xfrm>
            <a:off x="841248" y="2395728"/>
            <a:ext cx="2215820" cy="749808"/>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y la recorre con un lector de pantalla, el programa que lee en voz alta lo que aparece</a:t>
            </a:r>
            <a:endParaRPr lang="en-US" sz="1040" dirty="0"/>
          </a:p>
        </p:txBody>
      </p:sp>
      <p:sp>
        <p:nvSpPr>
          <p:cNvPr id="14" name="Shape 11"/>
          <p:cNvSpPr/>
          <p:nvPr/>
        </p:nvSpPr>
        <p:spPr>
          <a:xfrm>
            <a:off x="3422828" y="1773936"/>
            <a:ext cx="2581580" cy="1426464"/>
          </a:xfrm>
          <a:prstGeom prst="rect">
            <a:avLst/>
          </a:prstGeom>
          <a:solidFill>
            <a:srgbClr val="FFFFFF"/>
          </a:solidFill>
          <a:ln w="12700">
            <a:solidFill>
              <a:srgbClr val="FFFFFF"/>
            </a:solidFill>
            <a:prstDash val="solid"/>
          </a:ln>
        </p:spPr>
      </p:sp>
      <p:sp>
        <p:nvSpPr>
          <p:cNvPr id="15" name="Shape 12"/>
          <p:cNvSpPr/>
          <p:nvPr/>
        </p:nvSpPr>
        <p:spPr>
          <a:xfrm>
            <a:off x="3422828" y="1773936"/>
            <a:ext cx="2581580" cy="54864"/>
          </a:xfrm>
          <a:prstGeom prst="rect">
            <a:avLst/>
          </a:prstGeom>
          <a:solidFill>
            <a:srgbClr val="102A43"/>
          </a:solidFill>
          <a:ln w="12700">
            <a:solidFill>
              <a:srgbClr val="102A43"/>
            </a:solidFill>
            <a:prstDash val="solid"/>
          </a:ln>
        </p:spPr>
      </p:sp>
      <p:sp>
        <p:nvSpPr>
          <p:cNvPr id="16" name="Text 13"/>
          <p:cNvSpPr txBox="1"/>
          <p:nvPr/>
        </p:nvSpPr>
        <p:spPr>
          <a:xfrm>
            <a:off x="3605708" y="1920240"/>
            <a:ext cx="2215820" cy="457200"/>
          </a:xfrm>
          <a:prstGeom prst="rect">
            <a:avLst/>
          </a:prstGeom>
          <a:noFill/>
          <a:ln/>
        </p:spPr>
        <p:txBody>
          <a:bodyPr wrap="square" lIns="0" tIns="0" rIns="0" bIns="0" rtlCol="0" anchor="t"/>
          <a:lstStyle/>
          <a:p>
            <a:pPr algn="l" indent="0" marL="0">
              <a:lnSpc>
                <a:spcPct val="105000"/>
              </a:lnSpc>
              <a:buNone/>
            </a:pPr>
            <a:r>
              <a:rPr lang="en-US" sz="1300" b="1" dirty="0">
                <a:solidFill>
                  <a:srgbClr val="243B53"/>
                </a:solidFill>
                <a:latin typeface="Aptos" pitchFamily="34" charset="0"/>
                <a:ea typeface="Aptos" pitchFamily="34" charset="-122"/>
                <a:cs typeface="Aptos" pitchFamily="34" charset="-120"/>
              </a:rPr>
              <a:t>Ve con poco contraste</a:t>
            </a:r>
            <a:endParaRPr lang="en-US" sz="1300" dirty="0"/>
          </a:p>
        </p:txBody>
      </p:sp>
      <p:sp>
        <p:nvSpPr>
          <p:cNvPr id="17" name="Text 14"/>
          <p:cNvSpPr txBox="1"/>
          <p:nvPr/>
        </p:nvSpPr>
        <p:spPr>
          <a:xfrm>
            <a:off x="3605708" y="2395728"/>
            <a:ext cx="2215820" cy="749808"/>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o necesita ampliar la página para leerla</a:t>
            </a:r>
            <a:endParaRPr lang="en-US" sz="1040" dirty="0"/>
          </a:p>
        </p:txBody>
      </p:sp>
      <p:sp>
        <p:nvSpPr>
          <p:cNvPr id="18" name="Shape 15"/>
          <p:cNvSpPr/>
          <p:nvPr/>
        </p:nvSpPr>
        <p:spPr>
          <a:xfrm>
            <a:off x="6187288" y="1773936"/>
            <a:ext cx="2581580" cy="1426464"/>
          </a:xfrm>
          <a:prstGeom prst="rect">
            <a:avLst/>
          </a:prstGeom>
          <a:solidFill>
            <a:srgbClr val="FFFFFF"/>
          </a:solidFill>
          <a:ln w="12700">
            <a:solidFill>
              <a:srgbClr val="FFFFFF"/>
            </a:solidFill>
            <a:prstDash val="solid"/>
          </a:ln>
        </p:spPr>
      </p:sp>
      <p:sp>
        <p:nvSpPr>
          <p:cNvPr id="19" name="Shape 16"/>
          <p:cNvSpPr/>
          <p:nvPr/>
        </p:nvSpPr>
        <p:spPr>
          <a:xfrm>
            <a:off x="6187288" y="1773936"/>
            <a:ext cx="2581580" cy="54864"/>
          </a:xfrm>
          <a:prstGeom prst="rect">
            <a:avLst/>
          </a:prstGeom>
          <a:solidFill>
            <a:srgbClr val="102A43"/>
          </a:solidFill>
          <a:ln w="12700">
            <a:solidFill>
              <a:srgbClr val="102A43"/>
            </a:solidFill>
            <a:prstDash val="solid"/>
          </a:ln>
        </p:spPr>
      </p:sp>
      <p:sp>
        <p:nvSpPr>
          <p:cNvPr id="20" name="Text 17"/>
          <p:cNvSpPr txBox="1"/>
          <p:nvPr/>
        </p:nvSpPr>
        <p:spPr>
          <a:xfrm>
            <a:off x="6370168" y="1920240"/>
            <a:ext cx="2215820" cy="457200"/>
          </a:xfrm>
          <a:prstGeom prst="rect">
            <a:avLst/>
          </a:prstGeom>
          <a:noFill/>
          <a:ln/>
        </p:spPr>
        <p:txBody>
          <a:bodyPr wrap="square" lIns="0" tIns="0" rIns="0" bIns="0" rtlCol="0" anchor="t"/>
          <a:lstStyle/>
          <a:p>
            <a:pPr algn="l" indent="0" marL="0">
              <a:lnSpc>
                <a:spcPct val="105000"/>
              </a:lnSpc>
              <a:buNone/>
            </a:pPr>
            <a:r>
              <a:rPr lang="en-US" sz="1300" b="1" dirty="0">
                <a:solidFill>
                  <a:srgbClr val="243B53"/>
                </a:solidFill>
                <a:latin typeface="Aptos" pitchFamily="34" charset="0"/>
                <a:ea typeface="Aptos" pitchFamily="34" charset="-122"/>
                <a:cs typeface="Aptos" pitchFamily="34" charset="-120"/>
              </a:rPr>
              <a:t>No usa un mouse</a:t>
            </a:r>
            <a:endParaRPr lang="en-US" sz="1300" dirty="0"/>
          </a:p>
        </p:txBody>
      </p:sp>
      <p:sp>
        <p:nvSpPr>
          <p:cNvPr id="21" name="Text 18"/>
          <p:cNvSpPr txBox="1"/>
          <p:nvPr/>
        </p:nvSpPr>
        <p:spPr>
          <a:xfrm>
            <a:off x="6370168" y="2395728"/>
            <a:ext cx="2215820" cy="749808"/>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y se mueve por la página solo con el teclado</a:t>
            </a:r>
            <a:endParaRPr lang="en-US" sz="1040" dirty="0"/>
          </a:p>
        </p:txBody>
      </p:sp>
      <p:sp>
        <p:nvSpPr>
          <p:cNvPr id="22" name="Shape 19"/>
          <p:cNvSpPr/>
          <p:nvPr/>
        </p:nvSpPr>
        <p:spPr>
          <a:xfrm>
            <a:off x="8951747" y="1773936"/>
            <a:ext cx="2581580" cy="1426464"/>
          </a:xfrm>
          <a:prstGeom prst="rect">
            <a:avLst/>
          </a:prstGeom>
          <a:solidFill>
            <a:srgbClr val="FFFFFF"/>
          </a:solidFill>
          <a:ln w="12700">
            <a:solidFill>
              <a:srgbClr val="FFFFFF"/>
            </a:solidFill>
            <a:prstDash val="solid"/>
          </a:ln>
        </p:spPr>
      </p:sp>
      <p:sp>
        <p:nvSpPr>
          <p:cNvPr id="23" name="Shape 20"/>
          <p:cNvSpPr/>
          <p:nvPr/>
        </p:nvSpPr>
        <p:spPr>
          <a:xfrm>
            <a:off x="8951747" y="1773936"/>
            <a:ext cx="2581580" cy="54864"/>
          </a:xfrm>
          <a:prstGeom prst="rect">
            <a:avLst/>
          </a:prstGeom>
          <a:solidFill>
            <a:srgbClr val="102A43"/>
          </a:solidFill>
          <a:ln w="12700">
            <a:solidFill>
              <a:srgbClr val="102A43"/>
            </a:solidFill>
            <a:prstDash val="solid"/>
          </a:ln>
        </p:spPr>
      </p:sp>
      <p:sp>
        <p:nvSpPr>
          <p:cNvPr id="24" name="Text 21"/>
          <p:cNvSpPr txBox="1"/>
          <p:nvPr/>
        </p:nvSpPr>
        <p:spPr>
          <a:xfrm>
            <a:off x="9134627" y="1920240"/>
            <a:ext cx="2215820" cy="457200"/>
          </a:xfrm>
          <a:prstGeom prst="rect">
            <a:avLst/>
          </a:prstGeom>
          <a:noFill/>
          <a:ln/>
        </p:spPr>
        <p:txBody>
          <a:bodyPr wrap="square" lIns="0" tIns="0" rIns="0" bIns="0" rtlCol="0" anchor="t"/>
          <a:lstStyle/>
          <a:p>
            <a:pPr algn="l" indent="0" marL="0">
              <a:lnSpc>
                <a:spcPct val="105000"/>
              </a:lnSpc>
              <a:buNone/>
            </a:pPr>
            <a:r>
              <a:rPr lang="en-US" sz="1300" b="1" dirty="0">
                <a:solidFill>
                  <a:srgbClr val="243B53"/>
                </a:solidFill>
                <a:latin typeface="Aptos" pitchFamily="34" charset="0"/>
                <a:ea typeface="Aptos" pitchFamily="34" charset="-122"/>
                <a:cs typeface="Aptos" pitchFamily="34" charset="-120"/>
              </a:rPr>
              <a:t>Mira una pantalla con reflejo</a:t>
            </a:r>
            <a:endParaRPr lang="en-US" sz="1300" dirty="0"/>
          </a:p>
        </p:txBody>
      </p:sp>
      <p:sp>
        <p:nvSpPr>
          <p:cNvPr id="25" name="Text 22"/>
          <p:cNvSpPr txBox="1"/>
          <p:nvPr/>
        </p:nvSpPr>
        <p:spPr>
          <a:xfrm>
            <a:off x="9134627" y="2395728"/>
            <a:ext cx="2215820" cy="749808"/>
          </a:xfrm>
          <a:prstGeom prst="rect">
            <a:avLst/>
          </a:prstGeom>
          <a:noFill/>
          <a:ln/>
        </p:spPr>
        <p:txBody>
          <a:bodyPr wrap="square" lIns="0" tIns="0" rIns="0" bIns="0" rtlCol="0" anchor="t"/>
          <a:lstStyle/>
          <a:p>
            <a:pPr algn="l" indent="0" marL="0">
              <a:lnSpc>
                <a:spcPct val="108000"/>
              </a:lnSpc>
              <a:buNone/>
            </a:pPr>
            <a:r>
              <a:rPr lang="en-US" sz="1040" dirty="0">
                <a:solidFill>
                  <a:srgbClr val="52606D"/>
                </a:solidFill>
                <a:latin typeface="Aptos" pitchFamily="34" charset="0"/>
                <a:ea typeface="Aptos" pitchFamily="34" charset="-122"/>
                <a:cs typeface="Aptos" pitchFamily="34" charset="-120"/>
              </a:rPr>
              <a:t>a pleno sol o en una sala con mucha luz</a:t>
            </a:r>
            <a:endParaRPr lang="en-US" sz="1040" dirty="0"/>
          </a:p>
        </p:txBody>
      </p:sp>
      <p:sp>
        <p:nvSpPr>
          <p:cNvPr id="26" name="Text 23"/>
          <p:cNvSpPr txBox="1"/>
          <p:nvPr/>
        </p:nvSpPr>
        <p:spPr>
          <a:xfrm>
            <a:off x="658368" y="3438144"/>
            <a:ext cx="475488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ISO/IEC 25010:2023 · CAPACIDAD DE INTERACCIÓN</a:t>
            </a:r>
            <a:endParaRPr lang="en-US" sz="960" dirty="0"/>
          </a:p>
        </p:txBody>
      </p:sp>
      <p:sp>
        <p:nvSpPr>
          <p:cNvPr id="27" name="Text 24"/>
          <p:cNvSpPr txBox="1"/>
          <p:nvPr/>
        </p:nvSpPr>
        <p:spPr>
          <a:xfrm>
            <a:off x="658368" y="3712464"/>
            <a:ext cx="4754880" cy="237744"/>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La antigua accesibilidad quedó dividida en dos subcaracterísticas:</a:t>
            </a:r>
            <a:endParaRPr lang="en-US" sz="1080" dirty="0"/>
          </a:p>
        </p:txBody>
      </p:sp>
      <p:sp>
        <p:nvSpPr>
          <p:cNvPr id="28" name="Shape 25"/>
          <p:cNvSpPr/>
          <p:nvPr/>
        </p:nvSpPr>
        <p:spPr>
          <a:xfrm>
            <a:off x="658368" y="4041648"/>
            <a:ext cx="4754880" cy="493776"/>
          </a:xfrm>
          <a:prstGeom prst="rect">
            <a:avLst/>
          </a:prstGeom>
          <a:solidFill>
            <a:srgbClr val="F2E7D9"/>
          </a:solidFill>
          <a:ln w="12700">
            <a:solidFill>
              <a:srgbClr val="F2E7D9"/>
            </a:solidFill>
            <a:prstDash val="solid"/>
          </a:ln>
        </p:spPr>
      </p:sp>
      <p:sp>
        <p:nvSpPr>
          <p:cNvPr id="29" name="Text 26"/>
          <p:cNvSpPr txBox="1"/>
          <p:nvPr/>
        </p:nvSpPr>
        <p:spPr>
          <a:xfrm>
            <a:off x="841248" y="4151376"/>
            <a:ext cx="2011680" cy="274320"/>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Inclusividad</a:t>
            </a:r>
            <a:endParaRPr lang="en-US" sz="1200" dirty="0"/>
          </a:p>
        </p:txBody>
      </p:sp>
      <p:sp>
        <p:nvSpPr>
          <p:cNvPr id="30" name="Text 27"/>
          <p:cNvSpPr txBox="1"/>
          <p:nvPr/>
        </p:nvSpPr>
        <p:spPr>
          <a:xfrm>
            <a:off x="2852928" y="4151376"/>
            <a:ext cx="2414016" cy="274320"/>
          </a:xfrm>
          <a:prstGeom prst="rect">
            <a:avLst/>
          </a:prstGeom>
          <a:noFill/>
          <a:ln/>
        </p:spPr>
        <p:txBody>
          <a:bodyPr wrap="square" lIns="0" tIns="0" rIns="0" bIns="0" rtlCol="0" anchor="ctr"/>
          <a:lstStyle/>
          <a:p>
            <a:pPr algn="l" indent="0" marL="0">
              <a:buNone/>
            </a:pPr>
            <a:r>
              <a:rPr lang="en-US" sz="1060" dirty="0">
                <a:solidFill>
                  <a:srgbClr val="243B53"/>
                </a:solidFill>
                <a:latin typeface="Aptos" pitchFamily="34" charset="0"/>
                <a:ea typeface="Aptos" pitchFamily="34" charset="-122"/>
                <a:cs typeface="Aptos" pitchFamily="34" charset="-120"/>
              </a:rPr>
              <a:t>que la puedan usar personas diversas</a:t>
            </a:r>
            <a:endParaRPr lang="en-US" sz="1060" dirty="0"/>
          </a:p>
        </p:txBody>
      </p:sp>
      <p:sp>
        <p:nvSpPr>
          <p:cNvPr id="31" name="Shape 28"/>
          <p:cNvSpPr/>
          <p:nvPr/>
        </p:nvSpPr>
        <p:spPr>
          <a:xfrm>
            <a:off x="658368" y="4608576"/>
            <a:ext cx="4754880" cy="493776"/>
          </a:xfrm>
          <a:prstGeom prst="rect">
            <a:avLst/>
          </a:prstGeom>
          <a:solidFill>
            <a:srgbClr val="F2E7D9"/>
          </a:solidFill>
          <a:ln w="12700">
            <a:solidFill>
              <a:srgbClr val="F2E7D9"/>
            </a:solidFill>
            <a:prstDash val="solid"/>
          </a:ln>
        </p:spPr>
      </p:sp>
      <p:sp>
        <p:nvSpPr>
          <p:cNvPr id="32" name="Text 29"/>
          <p:cNvSpPr txBox="1"/>
          <p:nvPr/>
        </p:nvSpPr>
        <p:spPr>
          <a:xfrm>
            <a:off x="841248" y="4718304"/>
            <a:ext cx="2011680" cy="274320"/>
          </a:xfrm>
          <a:prstGeom prst="rect">
            <a:avLst/>
          </a:prstGeom>
          <a:noFill/>
          <a:ln/>
        </p:spPr>
        <p:txBody>
          <a:bodyPr wrap="square" lIns="0" tIns="0" rIns="0" bIns="0" rtlCol="0" anchor="ctr"/>
          <a:lstStyle/>
          <a:p>
            <a:pPr algn="l" indent="0" marL="0">
              <a:buNone/>
            </a:pPr>
            <a:r>
              <a:rPr lang="en-US" sz="1200" b="1" dirty="0">
                <a:solidFill>
                  <a:srgbClr val="102A43"/>
                </a:solidFill>
                <a:latin typeface="Aptos" pitchFamily="34" charset="0"/>
                <a:ea typeface="Aptos" pitchFamily="34" charset="-122"/>
                <a:cs typeface="Aptos" pitchFamily="34" charset="-120"/>
              </a:rPr>
              <a:t>Asistencia al usuario</a:t>
            </a:r>
            <a:endParaRPr lang="en-US" sz="1200" dirty="0"/>
          </a:p>
        </p:txBody>
      </p:sp>
      <p:sp>
        <p:nvSpPr>
          <p:cNvPr id="33" name="Text 30"/>
          <p:cNvSpPr txBox="1"/>
          <p:nvPr/>
        </p:nvSpPr>
        <p:spPr>
          <a:xfrm>
            <a:off x="2852928" y="4718304"/>
            <a:ext cx="2414016" cy="274320"/>
          </a:xfrm>
          <a:prstGeom prst="rect">
            <a:avLst/>
          </a:prstGeom>
          <a:noFill/>
          <a:ln/>
        </p:spPr>
        <p:txBody>
          <a:bodyPr wrap="square" lIns="0" tIns="0" rIns="0" bIns="0" rtlCol="0" anchor="ctr"/>
          <a:lstStyle/>
          <a:p>
            <a:pPr algn="l" indent="0" marL="0">
              <a:buNone/>
            </a:pPr>
            <a:r>
              <a:rPr lang="en-US" sz="1060" dirty="0">
                <a:solidFill>
                  <a:srgbClr val="243B53"/>
                </a:solidFill>
                <a:latin typeface="Aptos" pitchFamily="34" charset="0"/>
                <a:ea typeface="Aptos" pitchFamily="34" charset="-122"/>
                <a:cs typeface="Aptos" pitchFamily="34" charset="-120"/>
              </a:rPr>
              <a:t>que la persona reciba ayuda para usarla</a:t>
            </a:r>
            <a:endParaRPr lang="en-US" sz="1060" dirty="0"/>
          </a:p>
        </p:txBody>
      </p:sp>
      <p:sp>
        <p:nvSpPr>
          <p:cNvPr id="34" name="Text 31"/>
          <p:cNvSpPr txBox="1"/>
          <p:nvPr/>
        </p:nvSpPr>
        <p:spPr>
          <a:xfrm>
            <a:off x="5779008" y="3438144"/>
            <a:ext cx="5754319"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WCAG 2.2 · CÓMO SE COMPRUEBA</a:t>
            </a:r>
            <a:endParaRPr lang="en-US" sz="960" dirty="0"/>
          </a:p>
        </p:txBody>
      </p:sp>
      <p:sp>
        <p:nvSpPr>
          <p:cNvPr id="35" name="Text 32"/>
          <p:cNvSpPr txBox="1"/>
          <p:nvPr/>
        </p:nvSpPr>
        <p:spPr>
          <a:xfrm>
            <a:off x="5779008" y="3712464"/>
            <a:ext cx="5754319" cy="420624"/>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Las pautas de accesibilidad del W3C, el consorcio que define los estándares de la web: criterios comprobables, cada uno con un nivel.</a:t>
            </a:r>
            <a:endParaRPr lang="en-US" sz="1080" dirty="0"/>
          </a:p>
        </p:txBody>
      </p:sp>
      <p:sp>
        <p:nvSpPr>
          <p:cNvPr id="36" name="Shape 33"/>
          <p:cNvSpPr/>
          <p:nvPr/>
        </p:nvSpPr>
        <p:spPr>
          <a:xfrm>
            <a:off x="5779008" y="4224528"/>
            <a:ext cx="1844954" cy="877824"/>
          </a:xfrm>
          <a:prstGeom prst="rect">
            <a:avLst/>
          </a:prstGeom>
          <a:solidFill>
            <a:srgbClr val="FFFFFF"/>
          </a:solidFill>
          <a:ln w="12700">
            <a:solidFill>
              <a:srgbClr val="FFFFFF"/>
            </a:solidFill>
            <a:prstDash val="solid"/>
          </a:ln>
        </p:spPr>
      </p:sp>
      <p:sp>
        <p:nvSpPr>
          <p:cNvPr id="37" name="Text 34"/>
          <p:cNvSpPr txBox="1"/>
          <p:nvPr/>
        </p:nvSpPr>
        <p:spPr>
          <a:xfrm>
            <a:off x="5925312" y="4261104"/>
            <a:ext cx="1570634" cy="402336"/>
          </a:xfrm>
          <a:prstGeom prst="rect">
            <a:avLst/>
          </a:prstGeom>
          <a:noFill/>
          <a:ln/>
        </p:spPr>
        <p:txBody>
          <a:bodyPr wrap="square" lIns="0" tIns="0" rIns="0" bIns="0" rtlCol="0" anchor="t"/>
          <a:lstStyle/>
          <a:p>
            <a:pPr algn="l" indent="0" marL="0">
              <a:buNone/>
            </a:pPr>
            <a:r>
              <a:rPr lang="en-US" sz="2200" b="1" dirty="0">
                <a:solidFill>
                  <a:srgbClr val="52606D"/>
                </a:solidFill>
                <a:latin typeface="Aptos Display" pitchFamily="34" charset="0"/>
                <a:ea typeface="Aptos Display" pitchFamily="34" charset="-122"/>
                <a:cs typeface="Aptos Display" pitchFamily="34" charset="-120"/>
              </a:rPr>
              <a:t>A</a:t>
            </a:r>
            <a:endParaRPr lang="en-US" sz="2200" dirty="0"/>
          </a:p>
        </p:txBody>
      </p:sp>
      <p:sp>
        <p:nvSpPr>
          <p:cNvPr id="38" name="Text 35"/>
          <p:cNvSpPr txBox="1"/>
          <p:nvPr/>
        </p:nvSpPr>
        <p:spPr>
          <a:xfrm>
            <a:off x="5925312" y="4663440"/>
            <a:ext cx="1570634" cy="402336"/>
          </a:xfrm>
          <a:prstGeom prst="rect">
            <a:avLst/>
          </a:prstGeom>
          <a:noFill/>
          <a:ln/>
        </p:spPr>
        <p:txBody>
          <a:bodyPr wrap="square" lIns="0" tIns="0" rIns="0" bIns="0" rtlCol="0" anchor="t"/>
          <a:lstStyle/>
          <a:p>
            <a:pPr algn="l" indent="0" marL="0">
              <a:lnSpc>
                <a:spcPct val="104000"/>
              </a:lnSpc>
              <a:buNone/>
            </a:pPr>
            <a:r>
              <a:rPr lang="en-US" sz="960" dirty="0">
                <a:solidFill>
                  <a:srgbClr val="243B53"/>
                </a:solidFill>
                <a:latin typeface="Aptos" pitchFamily="34" charset="0"/>
                <a:ea typeface="Aptos" pitchFamily="34" charset="-122"/>
                <a:cs typeface="Aptos" pitchFamily="34" charset="-120"/>
              </a:rPr>
              <a:t>lo mínimo</a:t>
            </a:r>
            <a:endParaRPr lang="en-US" sz="960" dirty="0"/>
          </a:p>
        </p:txBody>
      </p:sp>
      <p:sp>
        <p:nvSpPr>
          <p:cNvPr id="39" name="Shape 36"/>
          <p:cNvSpPr/>
          <p:nvPr/>
        </p:nvSpPr>
        <p:spPr>
          <a:xfrm>
            <a:off x="7733690" y="4224528"/>
            <a:ext cx="1844954" cy="877824"/>
          </a:xfrm>
          <a:prstGeom prst="rect">
            <a:avLst/>
          </a:prstGeom>
          <a:solidFill>
            <a:srgbClr val="F2E7D9"/>
          </a:solidFill>
          <a:ln w="12700">
            <a:solidFill>
              <a:srgbClr val="F2E7D9"/>
            </a:solidFill>
            <a:prstDash val="solid"/>
          </a:ln>
        </p:spPr>
      </p:sp>
      <p:sp>
        <p:nvSpPr>
          <p:cNvPr id="40" name="Text 37"/>
          <p:cNvSpPr txBox="1"/>
          <p:nvPr/>
        </p:nvSpPr>
        <p:spPr>
          <a:xfrm>
            <a:off x="7879994" y="4261104"/>
            <a:ext cx="1570634" cy="402336"/>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AA</a:t>
            </a:r>
            <a:endParaRPr lang="en-US" sz="2200" dirty="0"/>
          </a:p>
        </p:txBody>
      </p:sp>
      <p:sp>
        <p:nvSpPr>
          <p:cNvPr id="41" name="Text 38"/>
          <p:cNvSpPr txBox="1"/>
          <p:nvPr/>
        </p:nvSpPr>
        <p:spPr>
          <a:xfrm>
            <a:off x="7879994" y="4663440"/>
            <a:ext cx="1570634" cy="402336"/>
          </a:xfrm>
          <a:prstGeom prst="rect">
            <a:avLst/>
          </a:prstGeom>
          <a:noFill/>
          <a:ln/>
        </p:spPr>
        <p:txBody>
          <a:bodyPr wrap="square" lIns="0" tIns="0" rIns="0" bIns="0" rtlCol="0" anchor="t"/>
          <a:lstStyle/>
          <a:p>
            <a:pPr algn="l" indent="0" marL="0">
              <a:lnSpc>
                <a:spcPct val="104000"/>
              </a:lnSpc>
              <a:buNone/>
            </a:pPr>
            <a:r>
              <a:rPr lang="en-US" sz="960" dirty="0">
                <a:solidFill>
                  <a:srgbClr val="243B53"/>
                </a:solidFill>
                <a:latin typeface="Aptos" pitchFamily="34" charset="0"/>
                <a:ea typeface="Aptos" pitchFamily="34" charset="-122"/>
                <a:cs typeface="Aptos" pitchFamily="34" charset="-120"/>
              </a:rPr>
              <a:t>lo que exige la mayoría de las normativas</a:t>
            </a:r>
            <a:endParaRPr lang="en-US" sz="960" dirty="0"/>
          </a:p>
        </p:txBody>
      </p:sp>
      <p:sp>
        <p:nvSpPr>
          <p:cNvPr id="42" name="Shape 39"/>
          <p:cNvSpPr/>
          <p:nvPr/>
        </p:nvSpPr>
        <p:spPr>
          <a:xfrm>
            <a:off x="9688373" y="4224528"/>
            <a:ext cx="1844954" cy="877824"/>
          </a:xfrm>
          <a:prstGeom prst="rect">
            <a:avLst/>
          </a:prstGeom>
          <a:solidFill>
            <a:srgbClr val="FFFFFF"/>
          </a:solidFill>
          <a:ln w="12700">
            <a:solidFill>
              <a:srgbClr val="FFFFFF"/>
            </a:solidFill>
            <a:prstDash val="solid"/>
          </a:ln>
        </p:spPr>
      </p:sp>
      <p:sp>
        <p:nvSpPr>
          <p:cNvPr id="43" name="Text 40"/>
          <p:cNvSpPr txBox="1"/>
          <p:nvPr/>
        </p:nvSpPr>
        <p:spPr>
          <a:xfrm>
            <a:off x="9834677" y="4261104"/>
            <a:ext cx="1570634" cy="402336"/>
          </a:xfrm>
          <a:prstGeom prst="rect">
            <a:avLst/>
          </a:prstGeom>
          <a:noFill/>
          <a:ln/>
        </p:spPr>
        <p:txBody>
          <a:bodyPr wrap="square" lIns="0" tIns="0" rIns="0" bIns="0" rtlCol="0" anchor="t"/>
          <a:lstStyle/>
          <a:p>
            <a:pPr algn="l" indent="0" marL="0">
              <a:buNone/>
            </a:pPr>
            <a:r>
              <a:rPr lang="en-US" sz="2200" b="1" dirty="0">
                <a:solidFill>
                  <a:srgbClr val="52606D"/>
                </a:solidFill>
                <a:latin typeface="Aptos Display" pitchFamily="34" charset="0"/>
                <a:ea typeface="Aptos Display" pitchFamily="34" charset="-122"/>
                <a:cs typeface="Aptos Display" pitchFamily="34" charset="-120"/>
              </a:rPr>
              <a:t>AAA</a:t>
            </a:r>
            <a:endParaRPr lang="en-US" sz="2200" dirty="0"/>
          </a:p>
        </p:txBody>
      </p:sp>
      <p:sp>
        <p:nvSpPr>
          <p:cNvPr id="44" name="Text 41"/>
          <p:cNvSpPr txBox="1"/>
          <p:nvPr/>
        </p:nvSpPr>
        <p:spPr>
          <a:xfrm>
            <a:off x="9834677" y="4663440"/>
            <a:ext cx="1570634" cy="402336"/>
          </a:xfrm>
          <a:prstGeom prst="rect">
            <a:avLst/>
          </a:prstGeom>
          <a:noFill/>
          <a:ln/>
        </p:spPr>
        <p:txBody>
          <a:bodyPr wrap="square" lIns="0" tIns="0" rIns="0" bIns="0" rtlCol="0" anchor="t"/>
          <a:lstStyle/>
          <a:p>
            <a:pPr algn="l" indent="0" marL="0">
              <a:lnSpc>
                <a:spcPct val="104000"/>
              </a:lnSpc>
              <a:buNone/>
            </a:pPr>
            <a:r>
              <a:rPr lang="en-US" sz="960" dirty="0">
                <a:solidFill>
                  <a:srgbClr val="243B53"/>
                </a:solidFill>
                <a:latin typeface="Aptos" pitchFamily="34" charset="0"/>
                <a:ea typeface="Aptos" pitchFamily="34" charset="-122"/>
                <a:cs typeface="Aptos" pitchFamily="34" charset="-120"/>
              </a:rPr>
              <a:t>lo más estricto</a:t>
            </a:r>
            <a:endParaRPr lang="en-US" sz="960" dirty="0"/>
          </a:p>
        </p:txBody>
      </p:sp>
      <p:sp>
        <p:nvSpPr>
          <p:cNvPr id="45" name="Shape 42"/>
          <p:cNvSpPr/>
          <p:nvPr/>
        </p:nvSpPr>
        <p:spPr>
          <a:xfrm>
            <a:off x="658368" y="5650992"/>
            <a:ext cx="10874959" cy="548640"/>
          </a:xfrm>
          <a:prstGeom prst="rect">
            <a:avLst/>
          </a:prstGeom>
          <a:solidFill>
            <a:srgbClr val="102A43"/>
          </a:solidFill>
          <a:ln w="12700">
            <a:solidFill>
              <a:srgbClr val="102A43"/>
            </a:solidFill>
            <a:prstDash val="solid"/>
          </a:ln>
        </p:spPr>
      </p:sp>
      <p:sp>
        <p:nvSpPr>
          <p:cNvPr id="46" name="Text 4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norma dice qué característica está en juego. Las WCAG dicen cómo se comprueba.</a:t>
            </a:r>
            <a:endParaRPr lang="en-US" sz="13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UN CRITERIO CON UMBRAL</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contraste se mide</a:t>
            </a:r>
            <a:endParaRPr lang="en-US" sz="3000" dirty="0"/>
          </a:p>
        </p:txBody>
      </p:sp>
      <p:sp>
        <p:nvSpPr>
          <p:cNvPr id="10" name="Shape 7"/>
          <p:cNvSpPr/>
          <p:nvPr/>
        </p:nvSpPr>
        <p:spPr>
          <a:xfrm>
            <a:off x="658368" y="1737360"/>
            <a:ext cx="10874959" cy="969264"/>
          </a:xfrm>
          <a:prstGeom prst="rect">
            <a:avLst/>
          </a:prstGeom>
          <a:solidFill>
            <a:srgbClr val="EDE6DA"/>
          </a:solidFill>
          <a:ln w="12700">
            <a:solidFill>
              <a:srgbClr val="EDE6DA"/>
            </a:solidFill>
            <a:prstDash val="solid"/>
          </a:ln>
        </p:spPr>
      </p:sp>
      <p:sp>
        <p:nvSpPr>
          <p:cNvPr id="11" name="Shape 8"/>
          <p:cNvSpPr/>
          <p:nvPr/>
        </p:nvSpPr>
        <p:spPr>
          <a:xfrm>
            <a:off x="658368" y="1737360"/>
            <a:ext cx="54864" cy="969264"/>
          </a:xfrm>
          <a:prstGeom prst="rect">
            <a:avLst/>
          </a:prstGeom>
          <a:solidFill>
            <a:srgbClr val="B3181E"/>
          </a:solidFill>
          <a:ln w="12700">
            <a:solidFill>
              <a:srgbClr val="B3181E"/>
            </a:solidFill>
            <a:prstDash val="solid"/>
          </a:ln>
        </p:spPr>
      </p:sp>
      <p:sp>
        <p:nvSpPr>
          <p:cNvPr id="12" name="Text 9"/>
          <p:cNvSpPr txBox="1"/>
          <p:nvPr/>
        </p:nvSpPr>
        <p:spPr>
          <a:xfrm>
            <a:off x="914400" y="1865376"/>
            <a:ext cx="10362895" cy="530352"/>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«La presentación visual del texto y de las imágenes de texto tiene una relación de contraste de al menos 4,5 a 1, excepto en los siguientes casos…»</a:t>
            </a:r>
            <a:endParaRPr lang="en-US" sz="1180" dirty="0"/>
          </a:p>
        </p:txBody>
      </p:sp>
      <p:sp>
        <p:nvSpPr>
          <p:cNvPr id="13" name="Text 10"/>
          <p:cNvSpPr txBox="1"/>
          <p:nvPr/>
        </p:nvSpPr>
        <p:spPr>
          <a:xfrm>
            <a:off x="914400" y="2432304"/>
            <a:ext cx="1036289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WCAG 2.2, criterio 1.4.3, Contraste (mínimo), nivel AA · traducción del original en inglés</a:t>
            </a:r>
            <a:endParaRPr lang="en-US" sz="900" dirty="0"/>
          </a:p>
        </p:txBody>
      </p:sp>
      <p:sp>
        <p:nvSpPr>
          <p:cNvPr id="14" name="Text 11"/>
          <p:cNvSpPr txBox="1"/>
          <p:nvPr/>
        </p:nvSpPr>
        <p:spPr>
          <a:xfrm>
            <a:off x="658368" y="2798064"/>
            <a:ext cx="10874959" cy="237744"/>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Relación de contraste: compara lo claro del texto con lo claro del fondo. Una de las excepciones es el texto grande, que exige 3 a 1.</a:t>
            </a:r>
            <a:endParaRPr lang="en-US" sz="1080" dirty="0"/>
          </a:p>
        </p:txBody>
      </p:sp>
      <p:sp>
        <p:nvSpPr>
          <p:cNvPr id="15" name="Shape 12"/>
          <p:cNvSpPr/>
          <p:nvPr/>
        </p:nvSpPr>
        <p:spPr>
          <a:xfrm>
            <a:off x="1024128" y="4032504"/>
            <a:ext cx="10143439" cy="164592"/>
          </a:xfrm>
          <a:prstGeom prst="rect">
            <a:avLst/>
          </a:prstGeom>
          <a:solidFill>
            <a:srgbClr val="D8CFC4"/>
          </a:solidFill>
          <a:ln w="12700">
            <a:solidFill>
              <a:srgbClr val="D8CFC4"/>
            </a:solidFill>
            <a:prstDash val="solid"/>
          </a:ln>
        </p:spPr>
      </p:sp>
      <p:sp>
        <p:nvSpPr>
          <p:cNvPr id="16" name="Shape 13"/>
          <p:cNvSpPr/>
          <p:nvPr/>
        </p:nvSpPr>
        <p:spPr>
          <a:xfrm>
            <a:off x="6035265" y="4032504"/>
            <a:ext cx="5132303" cy="164592"/>
          </a:xfrm>
          <a:prstGeom prst="rect">
            <a:avLst/>
          </a:prstGeom>
          <a:solidFill>
            <a:srgbClr val="2E7D4F"/>
          </a:solidFill>
          <a:ln w="12700">
            <a:solidFill>
              <a:srgbClr val="2E7D4F"/>
            </a:solidFill>
            <a:prstDash val="solid"/>
          </a:ln>
        </p:spPr>
      </p:sp>
      <p:sp>
        <p:nvSpPr>
          <p:cNvPr id="17" name="Shape 14"/>
          <p:cNvSpPr/>
          <p:nvPr/>
        </p:nvSpPr>
        <p:spPr>
          <a:xfrm>
            <a:off x="905256" y="3995928"/>
            <a:ext cx="237744" cy="237744"/>
          </a:xfrm>
          <a:prstGeom prst="ellipse">
            <a:avLst/>
          </a:prstGeom>
          <a:solidFill>
            <a:srgbClr val="52606D"/>
          </a:solidFill>
          <a:ln w="12700">
            <a:solidFill>
              <a:srgbClr val="FFFFFF"/>
            </a:solidFill>
            <a:prstDash val="solid"/>
          </a:ln>
        </p:spPr>
      </p:sp>
      <p:sp>
        <p:nvSpPr>
          <p:cNvPr id="18" name="Text 15"/>
          <p:cNvSpPr txBox="1"/>
          <p:nvPr/>
        </p:nvSpPr>
        <p:spPr>
          <a:xfrm>
            <a:off x="905256" y="4334256"/>
            <a:ext cx="1828800" cy="274320"/>
          </a:xfrm>
          <a:prstGeom prst="rect">
            <a:avLst/>
          </a:prstGeom>
          <a:noFill/>
          <a:ln/>
        </p:spPr>
        <p:txBody>
          <a:bodyPr wrap="square" lIns="0" tIns="0" rIns="0" bIns="0" rtlCol="0" anchor="t"/>
          <a:lstStyle/>
          <a:p>
            <a:pPr algn="l" indent="0" marL="0">
              <a:buNone/>
            </a:pPr>
            <a:r>
              <a:rPr lang="en-US" sz="1300" b="1" dirty="0">
                <a:solidFill>
                  <a:srgbClr val="52606D"/>
                </a:solidFill>
                <a:latin typeface="Aptos" pitchFamily="34" charset="0"/>
                <a:ea typeface="Aptos" pitchFamily="34" charset="-122"/>
                <a:cs typeface="Aptos" pitchFamily="34" charset="-120"/>
              </a:rPr>
              <a:t>1 a 1</a:t>
            </a:r>
            <a:endParaRPr lang="en-US" sz="1300" dirty="0"/>
          </a:p>
        </p:txBody>
      </p:sp>
      <p:sp>
        <p:nvSpPr>
          <p:cNvPr id="19" name="Text 16"/>
          <p:cNvSpPr txBox="1"/>
          <p:nvPr/>
        </p:nvSpPr>
        <p:spPr>
          <a:xfrm>
            <a:off x="905256" y="4608576"/>
            <a:ext cx="1828800" cy="219456"/>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texto invisible</a:t>
            </a:r>
            <a:endParaRPr lang="en-US" sz="980" dirty="0"/>
          </a:p>
        </p:txBody>
      </p:sp>
      <p:sp>
        <p:nvSpPr>
          <p:cNvPr id="20" name="Shape 17"/>
          <p:cNvSpPr/>
          <p:nvPr/>
        </p:nvSpPr>
        <p:spPr>
          <a:xfrm>
            <a:off x="4024039" y="3995928"/>
            <a:ext cx="237744" cy="237744"/>
          </a:xfrm>
          <a:prstGeom prst="ellipse">
            <a:avLst/>
          </a:prstGeom>
          <a:solidFill>
            <a:srgbClr val="B3181E"/>
          </a:solidFill>
          <a:ln w="12700">
            <a:solidFill>
              <a:srgbClr val="FFFFFF"/>
            </a:solidFill>
            <a:prstDash val="solid"/>
          </a:ln>
        </p:spPr>
      </p:sp>
      <p:sp>
        <p:nvSpPr>
          <p:cNvPr id="21" name="Text 18"/>
          <p:cNvSpPr txBox="1"/>
          <p:nvPr/>
        </p:nvSpPr>
        <p:spPr>
          <a:xfrm>
            <a:off x="3228511" y="3328416"/>
            <a:ext cx="1828800" cy="274320"/>
          </a:xfrm>
          <a:prstGeom prst="rect">
            <a:avLst/>
          </a:prstGeom>
          <a:noFill/>
          <a:ln/>
        </p:spPr>
        <p:txBody>
          <a:bodyPr wrap="square" lIns="0" tIns="0" rIns="0" bIns="0" rtlCol="0" anchor="t"/>
          <a:lstStyle/>
          <a:p>
            <a:pPr algn="ctr" indent="0" marL="0">
              <a:buNone/>
            </a:pPr>
            <a:r>
              <a:rPr lang="en-US" sz="1300" b="1" dirty="0">
                <a:solidFill>
                  <a:srgbClr val="B3181E"/>
                </a:solidFill>
                <a:latin typeface="Aptos" pitchFamily="34" charset="0"/>
                <a:ea typeface="Aptos" pitchFamily="34" charset="-122"/>
                <a:cs typeface="Aptos" pitchFamily="34" charset="-120"/>
              </a:rPr>
              <a:t>2,55 a 1</a:t>
            </a:r>
            <a:endParaRPr lang="en-US" sz="1300" dirty="0"/>
          </a:p>
        </p:txBody>
      </p:sp>
      <p:sp>
        <p:nvSpPr>
          <p:cNvPr id="22" name="Text 19"/>
          <p:cNvSpPr txBox="1"/>
          <p:nvPr/>
        </p:nvSpPr>
        <p:spPr>
          <a:xfrm>
            <a:off x="3228511" y="3602736"/>
            <a:ext cx="1828800" cy="219456"/>
          </a:xfrm>
          <a:prstGeom prst="rect">
            <a:avLst/>
          </a:prstGeom>
          <a:noFill/>
          <a:ln/>
        </p:spPr>
        <p:txBody>
          <a:bodyPr wrap="square" lIns="0" tIns="0" rIns="0" bIns="0" rtlCol="0" anchor="t"/>
          <a:lstStyle/>
          <a:p>
            <a:pPr algn="ctr" indent="0" marL="0">
              <a:buNone/>
            </a:pPr>
            <a:r>
              <a:rPr lang="en-US" sz="980" dirty="0">
                <a:solidFill>
                  <a:srgbClr val="52606D"/>
                </a:solidFill>
                <a:latin typeface="Aptos" pitchFamily="34" charset="0"/>
                <a:ea typeface="Aptos" pitchFamily="34" charset="-122"/>
                <a:cs typeface="Aptos" pitchFamily="34" charset="-120"/>
              </a:rPr>
              <a:t>la ficha «Tomado»</a:t>
            </a:r>
            <a:endParaRPr lang="en-US" sz="980" dirty="0"/>
          </a:p>
        </p:txBody>
      </p:sp>
      <p:sp>
        <p:nvSpPr>
          <p:cNvPr id="23" name="Shape 20"/>
          <p:cNvSpPr/>
          <p:nvPr/>
        </p:nvSpPr>
        <p:spPr>
          <a:xfrm>
            <a:off x="4565504" y="3995928"/>
            <a:ext cx="237744" cy="237744"/>
          </a:xfrm>
          <a:prstGeom prst="ellipse">
            <a:avLst/>
          </a:prstGeom>
          <a:solidFill>
            <a:srgbClr val="52606D"/>
          </a:solidFill>
          <a:ln w="12700">
            <a:solidFill>
              <a:srgbClr val="FFFFFF"/>
            </a:solidFill>
            <a:prstDash val="solid"/>
          </a:ln>
        </p:spPr>
      </p:sp>
      <p:sp>
        <p:nvSpPr>
          <p:cNvPr id="24" name="Text 21"/>
          <p:cNvSpPr txBox="1"/>
          <p:nvPr/>
        </p:nvSpPr>
        <p:spPr>
          <a:xfrm>
            <a:off x="3769976" y="4334256"/>
            <a:ext cx="1828800" cy="274320"/>
          </a:xfrm>
          <a:prstGeom prst="rect">
            <a:avLst/>
          </a:prstGeom>
          <a:noFill/>
          <a:ln/>
        </p:spPr>
        <p:txBody>
          <a:bodyPr wrap="square" lIns="0" tIns="0" rIns="0" bIns="0" rtlCol="0" anchor="t"/>
          <a:lstStyle/>
          <a:p>
            <a:pPr algn="ctr" indent="0" marL="0">
              <a:buNone/>
            </a:pPr>
            <a:r>
              <a:rPr lang="en-US" sz="1300" b="1" dirty="0">
                <a:solidFill>
                  <a:srgbClr val="52606D"/>
                </a:solidFill>
                <a:latin typeface="Aptos" pitchFamily="34" charset="0"/>
                <a:ea typeface="Aptos" pitchFamily="34" charset="-122"/>
                <a:cs typeface="Aptos" pitchFamily="34" charset="-120"/>
              </a:rPr>
              <a:t>3 a 1</a:t>
            </a:r>
            <a:endParaRPr lang="en-US" sz="1300" dirty="0"/>
          </a:p>
        </p:txBody>
      </p:sp>
      <p:sp>
        <p:nvSpPr>
          <p:cNvPr id="25" name="Text 22"/>
          <p:cNvSpPr txBox="1"/>
          <p:nvPr/>
        </p:nvSpPr>
        <p:spPr>
          <a:xfrm>
            <a:off x="3769976" y="4608576"/>
            <a:ext cx="1828800" cy="219456"/>
          </a:xfrm>
          <a:prstGeom prst="rect">
            <a:avLst/>
          </a:prstGeom>
          <a:noFill/>
          <a:ln/>
        </p:spPr>
        <p:txBody>
          <a:bodyPr wrap="square" lIns="0" tIns="0" rIns="0" bIns="0" rtlCol="0" anchor="t"/>
          <a:lstStyle/>
          <a:p>
            <a:pPr algn="ctr" indent="0" marL="0">
              <a:buNone/>
            </a:pPr>
            <a:r>
              <a:rPr lang="en-US" sz="980" dirty="0">
                <a:solidFill>
                  <a:srgbClr val="52606D"/>
                </a:solidFill>
                <a:latin typeface="Aptos" pitchFamily="34" charset="0"/>
                <a:ea typeface="Aptos" pitchFamily="34" charset="-122"/>
                <a:cs typeface="Aptos" pitchFamily="34" charset="-120"/>
              </a:rPr>
              <a:t>texto grande</a:t>
            </a:r>
            <a:endParaRPr lang="en-US" sz="980" dirty="0"/>
          </a:p>
        </p:txBody>
      </p:sp>
      <p:sp>
        <p:nvSpPr>
          <p:cNvPr id="26" name="Shape 23"/>
          <p:cNvSpPr/>
          <p:nvPr/>
        </p:nvSpPr>
        <p:spPr>
          <a:xfrm>
            <a:off x="5916393" y="3995928"/>
            <a:ext cx="237744" cy="237744"/>
          </a:xfrm>
          <a:prstGeom prst="ellipse">
            <a:avLst/>
          </a:prstGeom>
          <a:solidFill>
            <a:srgbClr val="2E7D4F"/>
          </a:solidFill>
          <a:ln w="12700">
            <a:solidFill>
              <a:srgbClr val="FFFFFF"/>
            </a:solidFill>
            <a:prstDash val="solid"/>
          </a:ln>
        </p:spPr>
      </p:sp>
      <p:sp>
        <p:nvSpPr>
          <p:cNvPr id="27" name="Text 24"/>
          <p:cNvSpPr txBox="1"/>
          <p:nvPr/>
        </p:nvSpPr>
        <p:spPr>
          <a:xfrm>
            <a:off x="5120865" y="3328416"/>
            <a:ext cx="1828800" cy="274320"/>
          </a:xfrm>
          <a:prstGeom prst="rect">
            <a:avLst/>
          </a:prstGeom>
          <a:noFill/>
          <a:ln/>
        </p:spPr>
        <p:txBody>
          <a:bodyPr wrap="square" lIns="0" tIns="0" rIns="0" bIns="0" rtlCol="0" anchor="t"/>
          <a:lstStyle/>
          <a:p>
            <a:pPr algn="ctr" indent="0" marL="0">
              <a:buNone/>
            </a:pPr>
            <a:r>
              <a:rPr lang="en-US" sz="1300" b="1" dirty="0">
                <a:solidFill>
                  <a:srgbClr val="2E7D4F"/>
                </a:solidFill>
                <a:latin typeface="Aptos" pitchFamily="34" charset="0"/>
                <a:ea typeface="Aptos" pitchFamily="34" charset="-122"/>
                <a:cs typeface="Aptos" pitchFamily="34" charset="-120"/>
              </a:rPr>
              <a:t>4,5 a 1</a:t>
            </a:r>
            <a:endParaRPr lang="en-US" sz="1300" dirty="0"/>
          </a:p>
        </p:txBody>
      </p:sp>
      <p:sp>
        <p:nvSpPr>
          <p:cNvPr id="28" name="Text 25"/>
          <p:cNvSpPr txBox="1"/>
          <p:nvPr/>
        </p:nvSpPr>
        <p:spPr>
          <a:xfrm>
            <a:off x="5120865" y="3602736"/>
            <a:ext cx="1828800" cy="219456"/>
          </a:xfrm>
          <a:prstGeom prst="rect">
            <a:avLst/>
          </a:prstGeom>
          <a:noFill/>
          <a:ln/>
        </p:spPr>
        <p:txBody>
          <a:bodyPr wrap="square" lIns="0" tIns="0" rIns="0" bIns="0" rtlCol="0" anchor="t"/>
          <a:lstStyle/>
          <a:p>
            <a:pPr algn="ctr" indent="0" marL="0">
              <a:buNone/>
            </a:pPr>
            <a:r>
              <a:rPr lang="en-US" sz="980" dirty="0">
                <a:solidFill>
                  <a:srgbClr val="52606D"/>
                </a:solidFill>
                <a:latin typeface="Aptos" pitchFamily="34" charset="0"/>
                <a:ea typeface="Aptos" pitchFamily="34" charset="-122"/>
                <a:cs typeface="Aptos" pitchFamily="34" charset="-120"/>
              </a:rPr>
              <a:t>el umbral AA</a:t>
            </a:r>
            <a:endParaRPr lang="en-US" sz="980" dirty="0"/>
          </a:p>
        </p:txBody>
      </p:sp>
      <p:sp>
        <p:nvSpPr>
          <p:cNvPr id="29" name="Shape 26"/>
          <p:cNvSpPr/>
          <p:nvPr/>
        </p:nvSpPr>
        <p:spPr>
          <a:xfrm>
            <a:off x="11048695" y="3995928"/>
            <a:ext cx="237744" cy="237744"/>
          </a:xfrm>
          <a:prstGeom prst="ellipse">
            <a:avLst/>
          </a:prstGeom>
          <a:solidFill>
            <a:srgbClr val="52606D"/>
          </a:solidFill>
          <a:ln w="12700">
            <a:solidFill>
              <a:srgbClr val="FFFFFF"/>
            </a:solidFill>
            <a:prstDash val="solid"/>
          </a:ln>
        </p:spPr>
      </p:sp>
      <p:sp>
        <p:nvSpPr>
          <p:cNvPr id="30" name="Text 27"/>
          <p:cNvSpPr txBox="1"/>
          <p:nvPr/>
        </p:nvSpPr>
        <p:spPr>
          <a:xfrm>
            <a:off x="9457639" y="4334256"/>
            <a:ext cx="1828800" cy="274320"/>
          </a:xfrm>
          <a:prstGeom prst="rect">
            <a:avLst/>
          </a:prstGeom>
          <a:noFill/>
          <a:ln/>
        </p:spPr>
        <p:txBody>
          <a:bodyPr wrap="square" lIns="0" tIns="0" rIns="0" bIns="0" rtlCol="0" anchor="t"/>
          <a:lstStyle/>
          <a:p>
            <a:pPr algn="r" indent="0" marL="0">
              <a:buNone/>
            </a:pPr>
            <a:r>
              <a:rPr lang="en-US" sz="1300" b="1" dirty="0">
                <a:solidFill>
                  <a:srgbClr val="52606D"/>
                </a:solidFill>
                <a:latin typeface="Aptos" pitchFamily="34" charset="0"/>
                <a:ea typeface="Aptos" pitchFamily="34" charset="-122"/>
                <a:cs typeface="Aptos" pitchFamily="34" charset="-120"/>
              </a:rPr>
              <a:t>21 a 1</a:t>
            </a:r>
            <a:endParaRPr lang="en-US" sz="1300" dirty="0"/>
          </a:p>
        </p:txBody>
      </p:sp>
      <p:sp>
        <p:nvSpPr>
          <p:cNvPr id="31" name="Text 28"/>
          <p:cNvSpPr txBox="1"/>
          <p:nvPr/>
        </p:nvSpPr>
        <p:spPr>
          <a:xfrm>
            <a:off x="9457639" y="4608576"/>
            <a:ext cx="1828800" cy="219456"/>
          </a:xfrm>
          <a:prstGeom prst="rect">
            <a:avLst/>
          </a:prstGeom>
          <a:noFill/>
          <a:ln/>
        </p:spPr>
        <p:txBody>
          <a:bodyPr wrap="square" lIns="0" tIns="0" rIns="0" bIns="0" rtlCol="0" anchor="t"/>
          <a:lstStyle/>
          <a:p>
            <a:pPr algn="r" indent="0" marL="0">
              <a:buNone/>
            </a:pPr>
            <a:r>
              <a:rPr lang="en-US" sz="980" dirty="0">
                <a:solidFill>
                  <a:srgbClr val="52606D"/>
                </a:solidFill>
                <a:latin typeface="Aptos" pitchFamily="34" charset="0"/>
                <a:ea typeface="Aptos" pitchFamily="34" charset="-122"/>
                <a:cs typeface="Aptos" pitchFamily="34" charset="-120"/>
              </a:rPr>
              <a:t>negro sobre blanco</a:t>
            </a:r>
            <a:endParaRPr lang="en-US" sz="980" dirty="0"/>
          </a:p>
        </p:txBody>
      </p:sp>
      <p:sp>
        <p:nvSpPr>
          <p:cNvPr id="32" name="Text 29"/>
          <p:cNvSpPr txBox="1"/>
          <p:nvPr/>
        </p:nvSpPr>
        <p:spPr>
          <a:xfrm>
            <a:off x="658368" y="4992624"/>
            <a:ext cx="10874959" cy="219456"/>
          </a:xfrm>
          <a:prstGeom prst="rect">
            <a:avLst/>
          </a:prstGeom>
          <a:noFill/>
          <a:ln/>
        </p:spPr>
        <p:txBody>
          <a:bodyPr wrap="square" lIns="0" tIns="0" rIns="0" bIns="0" rtlCol="0" anchor="t"/>
          <a:lstStyle/>
          <a:p>
            <a:pPr algn="l" indent="0" marL="0">
              <a:buNone/>
            </a:pPr>
            <a:r>
              <a:rPr lang="en-US" sz="960" i="1" dirty="0">
                <a:solidFill>
                  <a:srgbClr val="52606D"/>
                </a:solidFill>
                <a:latin typeface="Aptos" pitchFamily="34" charset="0"/>
                <a:ea typeface="Aptos" pitchFamily="34" charset="-122"/>
                <a:cs typeface="Aptos" pitchFamily="34" charset="-120"/>
              </a:rPr>
              <a:t>En verde, lo que cumple el criterio para texto normal. La escala se comprime hacia la derecha para que quepan los valores bajos.</a:t>
            </a:r>
            <a:endParaRPr lang="en-US" sz="96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Magnitud, método y umbral ya escritos: por eso una herramienta lo puede comprobar sola.</a:t>
            </a:r>
            <a:endParaRPr lang="en-US" sz="13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AXE-CORE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La revisión de accesibilidad es una prueba más</a:t>
            </a:r>
            <a:endParaRPr lang="en-US" sz="2700" dirty="0"/>
          </a:p>
        </p:txBody>
      </p:sp>
      <p:sp>
        <p:nvSpPr>
          <p:cNvPr id="10" name="Shape 7"/>
          <p:cNvSpPr/>
          <p:nvPr/>
        </p:nvSpPr>
        <p:spPr>
          <a:xfrm>
            <a:off x="658368" y="1682496"/>
            <a:ext cx="7955280" cy="4269232"/>
          </a:xfrm>
          <a:prstGeom prst="roundRect">
            <a:avLst>
              <a:gd name="adj" fmla="val 1071"/>
            </a:avLst>
          </a:prstGeom>
          <a:solidFill>
            <a:srgbClr val="102A43"/>
          </a:solidFill>
          <a:ln w="12700">
            <a:solidFill>
              <a:srgbClr val="102A43"/>
            </a:solidFill>
            <a:prstDash val="solid"/>
          </a:ln>
        </p:spPr>
      </p:sp>
      <p:sp>
        <p:nvSpPr>
          <p:cNvPr id="11" name="Shape 8"/>
          <p:cNvSpPr/>
          <p:nvPr/>
        </p:nvSpPr>
        <p:spPr>
          <a:xfrm>
            <a:off x="658368" y="2039112"/>
            <a:ext cx="7955280" cy="9144"/>
          </a:xfrm>
          <a:prstGeom prst="rect">
            <a:avLst/>
          </a:prstGeom>
          <a:solidFill>
            <a:srgbClr val="284B75"/>
          </a:solidFill>
          <a:ln w="12700">
            <a:solidFill>
              <a:srgbClr val="284B75"/>
            </a:solidFill>
            <a:prstDash val="solid"/>
          </a:ln>
        </p:spPr>
      </p:sp>
      <p:sp>
        <p:nvSpPr>
          <p:cNvPr id="12" name="Text 9"/>
          <p:cNvSpPr/>
          <p:nvPr/>
        </p:nvSpPr>
        <p:spPr>
          <a:xfrm>
            <a:off x="841248" y="1773936"/>
            <a:ext cx="758952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pruebas/accesibilidad.spec.ts</a:t>
            </a:r>
            <a:endParaRPr lang="en-US" sz="960" dirty="0"/>
          </a:p>
        </p:txBody>
      </p:sp>
      <p:sp>
        <p:nvSpPr>
          <p:cNvPr id="13" name="Shape 10"/>
          <p:cNvSpPr/>
          <p:nvPr/>
        </p:nvSpPr>
        <p:spPr>
          <a:xfrm>
            <a:off x="713232" y="2580640"/>
            <a:ext cx="7443216" cy="132649"/>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547872"/>
            <a:ext cx="7443216" cy="132649"/>
          </a:xfrm>
          <a:prstGeom prst="rect">
            <a:avLst/>
          </a:prstGeom>
          <a:solidFill>
            <a:srgbClr val="E0BC5A">
              <a:alpha val="28000"/>
            </a:srgbClr>
          </a:solidFill>
          <a:ln w="12700">
            <a:solidFill>
              <a:srgbClr val="E0BC5A">
                <a:alpha val="0"/>
              </a:srgbClr>
            </a:solidFill>
            <a:prstDash val="solid"/>
          </a:ln>
        </p:spPr>
      </p:sp>
      <p:sp>
        <p:nvSpPr>
          <p:cNvPr id="15" name="Shape 12"/>
          <p:cNvSpPr/>
          <p:nvPr/>
        </p:nvSpPr>
        <p:spPr>
          <a:xfrm>
            <a:off x="713232" y="5205984"/>
            <a:ext cx="7443216" cy="132649"/>
          </a:xfrm>
          <a:prstGeom prst="rect">
            <a:avLst/>
          </a:prstGeom>
          <a:solidFill>
            <a:srgbClr val="E0BC5A">
              <a:alpha val="28000"/>
            </a:srgbClr>
          </a:solidFill>
          <a:ln w="12700">
            <a:solidFill>
              <a:srgbClr val="E0BC5A">
                <a:alpha val="0"/>
              </a:srgbClr>
            </a:solidFill>
            <a:prstDash val="solid"/>
          </a:ln>
        </p:spPr>
      </p:sp>
      <p:sp>
        <p:nvSpPr>
          <p:cNvPr id="16" name="Shape 13"/>
          <p:cNvSpPr/>
          <p:nvPr/>
        </p:nvSpPr>
        <p:spPr>
          <a:xfrm>
            <a:off x="713232" y="5482336"/>
            <a:ext cx="7443216" cy="132649"/>
          </a:xfrm>
          <a:prstGeom prst="rect">
            <a:avLst/>
          </a:prstGeom>
          <a:solidFill>
            <a:srgbClr val="2E7D4F">
              <a:alpha val="28000"/>
            </a:srgbClr>
          </a:solidFill>
          <a:ln w="12700">
            <a:solidFill>
              <a:srgbClr val="2E7D4F">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76272"/>
            <a:ext cx="7223760" cy="3647440"/>
          </a:xfrm>
          <a:prstGeom prst="rect">
            <a:avLst/>
          </a:prstGeom>
        </p:spPr>
      </p:pic>
      <p:sp>
        <p:nvSpPr>
          <p:cNvPr id="18" name="Shape 14"/>
          <p:cNvSpPr/>
          <p:nvPr/>
        </p:nvSpPr>
        <p:spPr>
          <a:xfrm>
            <a:off x="8321487" y="2578039"/>
            <a:ext cx="127122" cy="127122"/>
          </a:xfrm>
          <a:prstGeom prst="ellipse">
            <a:avLst/>
          </a:prstGeom>
          <a:solidFill>
            <a:srgbClr val="E0BC5A"/>
          </a:solidFill>
          <a:ln w="12700">
            <a:solidFill>
              <a:srgbClr val="E0BC5A"/>
            </a:solidFill>
            <a:prstDash val="solid"/>
          </a:ln>
        </p:spPr>
      </p:sp>
      <p:sp>
        <p:nvSpPr>
          <p:cNvPr id="19" name="Text 15"/>
          <p:cNvSpPr/>
          <p:nvPr/>
        </p:nvSpPr>
        <p:spPr>
          <a:xfrm>
            <a:off x="8330631" y="2587183"/>
            <a:ext cx="108834" cy="10883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0" name="Shape 16"/>
          <p:cNvSpPr/>
          <p:nvPr/>
        </p:nvSpPr>
        <p:spPr>
          <a:xfrm>
            <a:off x="8321487" y="3545271"/>
            <a:ext cx="127122" cy="127122"/>
          </a:xfrm>
          <a:prstGeom prst="ellipse">
            <a:avLst/>
          </a:prstGeom>
          <a:solidFill>
            <a:srgbClr val="E0BC5A"/>
          </a:solidFill>
          <a:ln w="12700">
            <a:solidFill>
              <a:srgbClr val="E0BC5A"/>
            </a:solidFill>
            <a:prstDash val="solid"/>
          </a:ln>
        </p:spPr>
      </p:sp>
      <p:sp>
        <p:nvSpPr>
          <p:cNvPr id="21" name="Text 17"/>
          <p:cNvSpPr/>
          <p:nvPr/>
        </p:nvSpPr>
        <p:spPr>
          <a:xfrm>
            <a:off x="8330631" y="3554415"/>
            <a:ext cx="108834" cy="10883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2" name="Shape 18"/>
          <p:cNvSpPr/>
          <p:nvPr/>
        </p:nvSpPr>
        <p:spPr>
          <a:xfrm>
            <a:off x="8321487" y="5203383"/>
            <a:ext cx="127122" cy="127122"/>
          </a:xfrm>
          <a:prstGeom prst="ellipse">
            <a:avLst/>
          </a:prstGeom>
          <a:solidFill>
            <a:srgbClr val="E0BC5A"/>
          </a:solidFill>
          <a:ln w="12700">
            <a:solidFill>
              <a:srgbClr val="E0BC5A"/>
            </a:solidFill>
            <a:prstDash val="solid"/>
          </a:ln>
        </p:spPr>
      </p:sp>
      <p:sp>
        <p:nvSpPr>
          <p:cNvPr id="23" name="Text 19"/>
          <p:cNvSpPr/>
          <p:nvPr/>
        </p:nvSpPr>
        <p:spPr>
          <a:xfrm>
            <a:off x="8330631" y="5212527"/>
            <a:ext cx="108834" cy="10883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3</a:t>
            </a:r>
            <a:endParaRPr lang="en-US" sz="940" dirty="0"/>
          </a:p>
        </p:txBody>
      </p:sp>
      <p:sp>
        <p:nvSpPr>
          <p:cNvPr id="24" name="Shape 20"/>
          <p:cNvSpPr/>
          <p:nvPr/>
        </p:nvSpPr>
        <p:spPr>
          <a:xfrm>
            <a:off x="8321487" y="5479735"/>
            <a:ext cx="127122" cy="127122"/>
          </a:xfrm>
          <a:prstGeom prst="ellipse">
            <a:avLst/>
          </a:prstGeom>
          <a:solidFill>
            <a:srgbClr val="2E7D4F"/>
          </a:solidFill>
          <a:ln w="12700">
            <a:solidFill>
              <a:srgbClr val="2E7D4F"/>
            </a:solidFill>
            <a:prstDash val="solid"/>
          </a:ln>
        </p:spPr>
      </p:sp>
      <p:sp>
        <p:nvSpPr>
          <p:cNvPr id="25" name="Text 21"/>
          <p:cNvSpPr/>
          <p:nvPr/>
        </p:nvSpPr>
        <p:spPr>
          <a:xfrm>
            <a:off x="8330631" y="5488879"/>
            <a:ext cx="108834" cy="10883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26" name="Shape 22"/>
          <p:cNvSpPr/>
          <p:nvPr/>
        </p:nvSpPr>
        <p:spPr>
          <a:xfrm>
            <a:off x="8833104" y="1682496"/>
            <a:ext cx="2700223" cy="987552"/>
          </a:xfrm>
          <a:prstGeom prst="rect">
            <a:avLst/>
          </a:prstGeom>
          <a:solidFill>
            <a:srgbClr val="FFFFFF"/>
          </a:solidFill>
          <a:ln w="12700">
            <a:solidFill>
              <a:srgbClr val="FFFFFF"/>
            </a:solidFill>
            <a:prstDash val="solid"/>
          </a:ln>
        </p:spPr>
      </p:sp>
      <p:sp>
        <p:nvSpPr>
          <p:cNvPr id="27" name="Shape 23"/>
          <p:cNvSpPr/>
          <p:nvPr/>
        </p:nvSpPr>
        <p:spPr>
          <a:xfrm>
            <a:off x="8833104" y="1682496"/>
            <a:ext cx="54864" cy="987552"/>
          </a:xfrm>
          <a:prstGeom prst="rect">
            <a:avLst/>
          </a:prstGeom>
          <a:solidFill>
            <a:srgbClr val="8A6A12"/>
          </a:solidFill>
          <a:ln w="12700">
            <a:solidFill>
              <a:srgbClr val="8A6A12"/>
            </a:solidFill>
            <a:prstDash val="solid"/>
          </a:ln>
        </p:spPr>
      </p:sp>
      <p:sp>
        <p:nvSpPr>
          <p:cNvPr id="28" name="Shape 24"/>
          <p:cNvSpPr/>
          <p:nvPr/>
        </p:nvSpPr>
        <p:spPr>
          <a:xfrm>
            <a:off x="9015984" y="1792224"/>
            <a:ext cx="256032" cy="256032"/>
          </a:xfrm>
          <a:prstGeom prst="ellipse">
            <a:avLst/>
          </a:prstGeom>
          <a:solidFill>
            <a:srgbClr val="E0BC5A"/>
          </a:solidFill>
          <a:ln w="12700">
            <a:solidFill>
              <a:srgbClr val="E0BC5A"/>
            </a:solidFill>
            <a:prstDash val="solid"/>
          </a:ln>
        </p:spPr>
      </p:sp>
      <p:sp>
        <p:nvSpPr>
          <p:cNvPr id="29" name="Text 25"/>
          <p:cNvSpPr/>
          <p:nvPr/>
        </p:nvSpPr>
        <p:spPr>
          <a:xfrm>
            <a:off x="9025128" y="1801368"/>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0" name="Text 26"/>
          <p:cNvSpPr txBox="1"/>
          <p:nvPr/>
        </p:nvSpPr>
        <p:spPr>
          <a:xfrm>
            <a:off x="9381744" y="1792224"/>
            <a:ext cx="200527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Qué se revisa</a:t>
            </a:r>
            <a:endParaRPr lang="en-US" sz="1160" dirty="0"/>
          </a:p>
        </p:txBody>
      </p:sp>
      <p:sp>
        <p:nvSpPr>
          <p:cNvPr id="31" name="Text 27"/>
          <p:cNvSpPr txBox="1"/>
          <p:nvPr/>
        </p:nvSpPr>
        <p:spPr>
          <a:xfrm>
            <a:off x="9052560" y="2084832"/>
            <a:ext cx="2334463" cy="54864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Las reglas de nivel A y AA de las WCAG 2.0, 2.1 y 2.2.</a:t>
            </a:r>
            <a:endParaRPr lang="en-US" sz="960" dirty="0"/>
          </a:p>
        </p:txBody>
      </p:sp>
      <p:sp>
        <p:nvSpPr>
          <p:cNvPr id="32" name="Shape 28"/>
          <p:cNvSpPr/>
          <p:nvPr/>
        </p:nvSpPr>
        <p:spPr>
          <a:xfrm>
            <a:off x="8833104" y="2761488"/>
            <a:ext cx="2700223" cy="987552"/>
          </a:xfrm>
          <a:prstGeom prst="rect">
            <a:avLst/>
          </a:prstGeom>
          <a:solidFill>
            <a:srgbClr val="FFFFFF"/>
          </a:solidFill>
          <a:ln w="12700">
            <a:solidFill>
              <a:srgbClr val="FFFFFF"/>
            </a:solidFill>
            <a:prstDash val="solid"/>
          </a:ln>
        </p:spPr>
      </p:sp>
      <p:sp>
        <p:nvSpPr>
          <p:cNvPr id="33" name="Shape 29"/>
          <p:cNvSpPr/>
          <p:nvPr/>
        </p:nvSpPr>
        <p:spPr>
          <a:xfrm>
            <a:off x="8833104" y="2761488"/>
            <a:ext cx="54864" cy="987552"/>
          </a:xfrm>
          <a:prstGeom prst="rect">
            <a:avLst/>
          </a:prstGeom>
          <a:solidFill>
            <a:srgbClr val="8A6A12"/>
          </a:solidFill>
          <a:ln w="12700">
            <a:solidFill>
              <a:srgbClr val="8A6A12"/>
            </a:solidFill>
            <a:prstDash val="solid"/>
          </a:ln>
        </p:spPr>
      </p:sp>
      <p:sp>
        <p:nvSpPr>
          <p:cNvPr id="34" name="Shape 30"/>
          <p:cNvSpPr/>
          <p:nvPr/>
        </p:nvSpPr>
        <p:spPr>
          <a:xfrm>
            <a:off x="9015984" y="2871216"/>
            <a:ext cx="256032" cy="256032"/>
          </a:xfrm>
          <a:prstGeom prst="ellipse">
            <a:avLst/>
          </a:prstGeom>
          <a:solidFill>
            <a:srgbClr val="E0BC5A"/>
          </a:solidFill>
          <a:ln w="12700">
            <a:solidFill>
              <a:srgbClr val="E0BC5A"/>
            </a:solidFill>
            <a:prstDash val="solid"/>
          </a:ln>
        </p:spPr>
      </p:sp>
      <p:sp>
        <p:nvSpPr>
          <p:cNvPr id="35" name="Text 31"/>
          <p:cNvSpPr/>
          <p:nvPr/>
        </p:nvSpPr>
        <p:spPr>
          <a:xfrm>
            <a:off x="9025128" y="2880360"/>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36" name="Text 32"/>
          <p:cNvSpPr txBox="1"/>
          <p:nvPr/>
        </p:nvSpPr>
        <p:spPr>
          <a:xfrm>
            <a:off x="9381744" y="2871216"/>
            <a:ext cx="200527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Preparar el estado</a:t>
            </a:r>
            <a:endParaRPr lang="en-US" sz="1160" dirty="0"/>
          </a:p>
        </p:txBody>
      </p:sp>
      <p:sp>
        <p:nvSpPr>
          <p:cNvPr id="37" name="Text 33"/>
          <p:cNvSpPr txBox="1"/>
          <p:nvPr/>
        </p:nvSpPr>
        <p:spPr>
          <a:xfrm>
            <a:off x="9052560" y="3163824"/>
            <a:ext cx="2334463" cy="54864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beforeEach deja la base vacía antes de cada prueba. Después se reserva el bloque 4 por la API, para que la página tenga una ficha «Tomado».</a:t>
            </a:r>
            <a:endParaRPr lang="en-US" sz="960" dirty="0"/>
          </a:p>
        </p:txBody>
      </p:sp>
      <p:sp>
        <p:nvSpPr>
          <p:cNvPr id="38" name="Shape 34"/>
          <p:cNvSpPr/>
          <p:nvPr/>
        </p:nvSpPr>
        <p:spPr>
          <a:xfrm>
            <a:off x="8833104" y="3840480"/>
            <a:ext cx="2700223" cy="987552"/>
          </a:xfrm>
          <a:prstGeom prst="rect">
            <a:avLst/>
          </a:prstGeom>
          <a:solidFill>
            <a:srgbClr val="FFFFFF"/>
          </a:solidFill>
          <a:ln w="12700">
            <a:solidFill>
              <a:srgbClr val="FFFFFF"/>
            </a:solidFill>
            <a:prstDash val="solid"/>
          </a:ln>
        </p:spPr>
      </p:sp>
      <p:sp>
        <p:nvSpPr>
          <p:cNvPr id="39" name="Shape 35"/>
          <p:cNvSpPr/>
          <p:nvPr/>
        </p:nvSpPr>
        <p:spPr>
          <a:xfrm>
            <a:off x="8833104" y="3840480"/>
            <a:ext cx="54864" cy="987552"/>
          </a:xfrm>
          <a:prstGeom prst="rect">
            <a:avLst/>
          </a:prstGeom>
          <a:solidFill>
            <a:srgbClr val="8A6A12"/>
          </a:solidFill>
          <a:ln w="12700">
            <a:solidFill>
              <a:srgbClr val="8A6A12"/>
            </a:solidFill>
            <a:prstDash val="solid"/>
          </a:ln>
        </p:spPr>
      </p:sp>
      <p:sp>
        <p:nvSpPr>
          <p:cNvPr id="40" name="Shape 36"/>
          <p:cNvSpPr/>
          <p:nvPr/>
        </p:nvSpPr>
        <p:spPr>
          <a:xfrm>
            <a:off x="9015984" y="3950208"/>
            <a:ext cx="256032" cy="256032"/>
          </a:xfrm>
          <a:prstGeom prst="ellipse">
            <a:avLst/>
          </a:prstGeom>
          <a:solidFill>
            <a:srgbClr val="E0BC5A"/>
          </a:solidFill>
          <a:ln w="12700">
            <a:solidFill>
              <a:srgbClr val="E0BC5A"/>
            </a:solidFill>
            <a:prstDash val="solid"/>
          </a:ln>
        </p:spPr>
      </p:sp>
      <p:sp>
        <p:nvSpPr>
          <p:cNvPr id="41" name="Text 37"/>
          <p:cNvSpPr/>
          <p:nvPr/>
        </p:nvSpPr>
        <p:spPr>
          <a:xfrm>
            <a:off x="9025128" y="3959352"/>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3</a:t>
            </a:r>
            <a:endParaRPr lang="en-US" sz="940" dirty="0"/>
          </a:p>
        </p:txBody>
      </p:sp>
      <p:sp>
        <p:nvSpPr>
          <p:cNvPr id="42" name="Text 38"/>
          <p:cNvSpPr txBox="1"/>
          <p:nvPr/>
        </p:nvSpPr>
        <p:spPr>
          <a:xfrm>
            <a:off x="9381744" y="3950208"/>
            <a:ext cx="200527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Revisar</a:t>
            </a:r>
            <a:endParaRPr lang="en-US" sz="1160" dirty="0"/>
          </a:p>
        </p:txBody>
      </p:sp>
      <p:sp>
        <p:nvSpPr>
          <p:cNvPr id="43" name="Text 39"/>
          <p:cNvSpPr txBox="1"/>
          <p:nvPr/>
        </p:nvSpPr>
        <p:spPr>
          <a:xfrm>
            <a:off x="9052560" y="4242816"/>
            <a:ext cx="2334463" cy="54864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axe-core recorre la página tal como está en ese momento y devuelve lo que encontró.</a:t>
            </a:r>
            <a:endParaRPr lang="en-US" sz="960" dirty="0"/>
          </a:p>
        </p:txBody>
      </p:sp>
      <p:sp>
        <p:nvSpPr>
          <p:cNvPr id="44" name="Shape 40"/>
          <p:cNvSpPr/>
          <p:nvPr/>
        </p:nvSpPr>
        <p:spPr>
          <a:xfrm>
            <a:off x="8833104" y="4919472"/>
            <a:ext cx="2700223" cy="987552"/>
          </a:xfrm>
          <a:prstGeom prst="rect">
            <a:avLst/>
          </a:prstGeom>
          <a:solidFill>
            <a:srgbClr val="FFFFFF"/>
          </a:solidFill>
          <a:ln w="12700">
            <a:solidFill>
              <a:srgbClr val="FFFFFF"/>
            </a:solidFill>
            <a:prstDash val="solid"/>
          </a:ln>
        </p:spPr>
      </p:sp>
      <p:sp>
        <p:nvSpPr>
          <p:cNvPr id="45" name="Shape 41"/>
          <p:cNvSpPr/>
          <p:nvPr/>
        </p:nvSpPr>
        <p:spPr>
          <a:xfrm>
            <a:off x="8833104" y="4919472"/>
            <a:ext cx="54864" cy="987552"/>
          </a:xfrm>
          <a:prstGeom prst="rect">
            <a:avLst/>
          </a:prstGeom>
          <a:solidFill>
            <a:srgbClr val="2E7D4F"/>
          </a:solidFill>
          <a:ln w="12700">
            <a:solidFill>
              <a:srgbClr val="2E7D4F"/>
            </a:solidFill>
            <a:prstDash val="solid"/>
          </a:ln>
        </p:spPr>
      </p:sp>
      <p:sp>
        <p:nvSpPr>
          <p:cNvPr id="46" name="Shape 42"/>
          <p:cNvSpPr/>
          <p:nvPr/>
        </p:nvSpPr>
        <p:spPr>
          <a:xfrm>
            <a:off x="9015984" y="5029200"/>
            <a:ext cx="256032" cy="256032"/>
          </a:xfrm>
          <a:prstGeom prst="ellipse">
            <a:avLst/>
          </a:prstGeom>
          <a:solidFill>
            <a:srgbClr val="2E7D4F"/>
          </a:solidFill>
          <a:ln w="12700">
            <a:solidFill>
              <a:srgbClr val="2E7D4F"/>
            </a:solidFill>
            <a:prstDash val="solid"/>
          </a:ln>
        </p:spPr>
      </p:sp>
      <p:sp>
        <p:nvSpPr>
          <p:cNvPr id="47" name="Text 43"/>
          <p:cNvSpPr/>
          <p:nvPr/>
        </p:nvSpPr>
        <p:spPr>
          <a:xfrm>
            <a:off x="9025128" y="5038344"/>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48" name="Text 44"/>
          <p:cNvSpPr txBox="1"/>
          <p:nvPr/>
        </p:nvSpPr>
        <p:spPr>
          <a:xfrm>
            <a:off x="9381744" y="5029200"/>
            <a:ext cx="2005279" cy="237744"/>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Afirmar</a:t>
            </a:r>
            <a:endParaRPr lang="en-US" sz="1160" dirty="0"/>
          </a:p>
        </p:txBody>
      </p:sp>
      <p:sp>
        <p:nvSpPr>
          <p:cNvPr id="49" name="Text 45"/>
          <p:cNvSpPr txBox="1"/>
          <p:nvPr/>
        </p:nvSpPr>
        <p:spPr>
          <a:xfrm>
            <a:off x="9052560" y="5321808"/>
            <a:ext cx="2334463" cy="54864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La lista de reglas que no se cumplen, por su identificador, tiene que estar vacía.</a:t>
            </a:r>
            <a:endParaRPr lang="en-US" sz="960" dirty="0"/>
          </a:p>
        </p:txBody>
      </p:sp>
      <p:sp>
        <p:nvSpPr>
          <p:cNvPr id="50" name="Text 46"/>
          <p:cNvSpPr txBox="1"/>
          <p:nvPr/>
        </p:nvSpPr>
        <p:spPr>
          <a:xfrm>
            <a:off x="8833104" y="5998464"/>
            <a:ext cx="2700223" cy="219456"/>
          </a:xfrm>
          <a:prstGeom prst="rect">
            <a:avLst/>
          </a:prstGeom>
          <a:noFill/>
          <a:ln/>
        </p:spPr>
        <p:txBody>
          <a:bodyPr wrap="square" lIns="0" tIns="0" rIns="0" bIns="0" rtlCol="0" anchor="t"/>
          <a:lstStyle/>
          <a:p>
            <a:pPr algn="l" indent="0" marL="0">
              <a:lnSpc>
                <a:spcPct val="104000"/>
              </a:lnSpc>
              <a:buNone/>
            </a:pPr>
            <a:r>
              <a:rPr lang="en-US" sz="900" i="1" dirty="0">
                <a:solidFill>
                  <a:srgbClr val="52606D"/>
                </a:solidFill>
                <a:latin typeface="Aptos" pitchFamily="34" charset="0"/>
                <a:ea typeface="Aptos" pitchFamily="34" charset="-122"/>
                <a:cs typeface="Aptos" pitchFamily="34" charset="-120"/>
              </a:rPr>
              <a:t>@axe-core/playwright conecta axe-core con Playwright.</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HALLAZGO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Pasó con la página vacía</a:t>
            </a:r>
            <a:endParaRPr lang="en-US" sz="3000" dirty="0"/>
          </a:p>
        </p:txBody>
      </p:sp>
      <p:sp>
        <p:nvSpPr>
          <p:cNvPr id="10" name="Shape 7"/>
          <p:cNvSpPr/>
          <p:nvPr/>
        </p:nvSpPr>
        <p:spPr>
          <a:xfrm>
            <a:off x="658368" y="1737360"/>
            <a:ext cx="3200400" cy="2103120"/>
          </a:xfrm>
          <a:prstGeom prst="rect">
            <a:avLst/>
          </a:prstGeom>
          <a:solidFill>
            <a:srgbClr val="FFFFFF"/>
          </a:solidFill>
          <a:ln w="12700">
            <a:solidFill>
              <a:srgbClr val="FFFFFF"/>
            </a:solidFill>
            <a:prstDash val="solid"/>
          </a:ln>
        </p:spPr>
      </p:sp>
      <p:sp>
        <p:nvSpPr>
          <p:cNvPr id="11" name="Shape 8"/>
          <p:cNvSpPr/>
          <p:nvPr/>
        </p:nvSpPr>
        <p:spPr>
          <a:xfrm>
            <a:off x="658368" y="1737360"/>
            <a:ext cx="3200400" cy="54864"/>
          </a:xfrm>
          <a:prstGeom prst="rect">
            <a:avLst/>
          </a:prstGeom>
          <a:solidFill>
            <a:srgbClr val="2E7D4F"/>
          </a:solidFill>
          <a:ln w="12700">
            <a:solidFill>
              <a:srgbClr val="2E7D4F"/>
            </a:solidFill>
            <a:prstDash val="solid"/>
          </a:ln>
        </p:spPr>
      </p:sp>
      <p:sp>
        <p:nvSpPr>
          <p:cNvPr id="12" name="Text 9"/>
          <p:cNvSpPr txBox="1"/>
          <p:nvPr/>
        </p:nvSpPr>
        <p:spPr>
          <a:xfrm>
            <a:off x="877824" y="1901952"/>
            <a:ext cx="28346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PÁGINA RECIÉN ABIERTA</a:t>
            </a:r>
            <a:endParaRPr lang="en-US" sz="960" dirty="0"/>
          </a:p>
        </p:txBody>
      </p:sp>
      <p:sp>
        <p:nvSpPr>
          <p:cNvPr id="13" name="Text 10"/>
          <p:cNvSpPr txBox="1"/>
          <p:nvPr/>
        </p:nvSpPr>
        <p:spPr>
          <a:xfrm>
            <a:off x="877824" y="2194560"/>
            <a:ext cx="2834640" cy="914400"/>
          </a:xfrm>
          <a:prstGeom prst="rect">
            <a:avLst/>
          </a:prstGeom>
          <a:noFill/>
          <a:ln/>
        </p:spPr>
        <p:txBody>
          <a:bodyPr wrap="square" lIns="0" tIns="0" rIns="0" bIns="0" rtlCol="0" anchor="t"/>
          <a:lstStyle/>
          <a:p>
            <a:pPr algn="l" indent="0" marL="0">
              <a:lnSpc>
                <a:spcPct val="100000"/>
              </a:lnSpc>
              <a:buNone/>
            </a:pPr>
            <a:r>
              <a:rPr lang="en-US" sz="2400" b="1" dirty="0">
                <a:solidFill>
                  <a:srgbClr val="243B53"/>
                </a:solidFill>
                <a:latin typeface="Aptos Display" pitchFamily="34" charset="0"/>
                <a:ea typeface="Aptos Display" pitchFamily="34" charset="-122"/>
                <a:cs typeface="Aptos Display" pitchFamily="34" charset="-120"/>
              </a:rPr>
              <a:t>24 reglas</a:t>
            </a:r>
            <a:endParaRPr lang="en-US" sz="2400" dirty="0"/>
          </a:p>
          <a:p>
            <a:pPr algn="l" indent="0" marL="0">
              <a:lnSpc>
                <a:spcPct val="100000"/>
              </a:lnSpc>
              <a:buNone/>
            </a:pPr>
            <a:r>
              <a:rPr lang="en-US" sz="2400" b="1" dirty="0">
                <a:solidFill>
                  <a:srgbClr val="243B53"/>
                </a:solidFill>
                <a:latin typeface="Aptos Display" pitchFamily="34" charset="0"/>
                <a:ea typeface="Aptos Display" pitchFamily="34" charset="-122"/>
                <a:cs typeface="Aptos Display" pitchFamily="34" charset="-120"/>
              </a:rPr>
              <a:t>0 fallas</a:t>
            </a:r>
            <a:endParaRPr lang="en-US" sz="2400" dirty="0"/>
          </a:p>
        </p:txBody>
      </p:sp>
      <p:sp>
        <p:nvSpPr>
          <p:cNvPr id="14" name="Text 11"/>
          <p:cNvSpPr txBox="1"/>
          <p:nvPr/>
        </p:nvSpPr>
        <p:spPr>
          <a:xfrm>
            <a:off x="877824" y="3163824"/>
            <a:ext cx="2798064" cy="603504"/>
          </a:xfrm>
          <a:prstGeom prst="rect">
            <a:avLst/>
          </a:prstGeom>
          <a:noFill/>
          <a:ln/>
        </p:spPr>
        <p:txBody>
          <a:bodyPr wrap="square" lIns="0" tIns="0" rIns="0" bIns="0" rtlCol="0" anchor="t"/>
          <a:lstStyle/>
          <a:p>
            <a:pPr algn="l" indent="0" marL="0">
              <a:lnSpc>
                <a:spcPct val="106000"/>
              </a:lnSpc>
              <a:buNone/>
            </a:pPr>
            <a:r>
              <a:rPr lang="en-US" sz="1060" dirty="0">
                <a:solidFill>
                  <a:srgbClr val="52606D"/>
                </a:solidFill>
                <a:latin typeface="Aptos" pitchFamily="34" charset="0"/>
                <a:ea typeface="Aptos" pitchFamily="34" charset="-122"/>
                <a:cs typeface="Aptos" pitchFamily="34" charset="-120"/>
              </a:rPr>
              <a:t>Pero con todos los bloques libres: la página que casi nadie ve a media mañana.</a:t>
            </a:r>
            <a:endParaRPr lang="en-US" sz="1060" dirty="0"/>
          </a:p>
        </p:txBody>
      </p:sp>
      <p:sp>
        <p:nvSpPr>
          <p:cNvPr id="15" name="Text 12"/>
          <p:cNvSpPr txBox="1"/>
          <p:nvPr/>
        </p:nvSpPr>
        <p:spPr>
          <a:xfrm>
            <a:off x="4133088" y="1737360"/>
            <a:ext cx="329184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CON EL BLOQUE 4 TOMADO</a:t>
            </a:r>
            <a:endParaRPr lang="en-US" sz="960" dirty="0"/>
          </a:p>
        </p:txBody>
      </p:sp>
      <p:pic>
        <p:nvPicPr>
          <p:cNvPr id="16" name="Image 1" descr="C:\Users\Diego Obando\dev\pro402-taller-de-testing-2026\clases\semana-05\01-2\ppt\source\assets\bloques-contraste-insuficiente.png">    </p:cNvPr>
          <p:cNvPicPr>
            <a:picLocks noChangeAspect="1"/>
          </p:cNvPicPr>
          <p:nvPr/>
        </p:nvPicPr>
        <p:blipFill>
          <a:blip r:embed="rId3"/>
          <a:stretch>
            <a:fillRect/>
          </a:stretch>
        </p:blipFill>
        <p:spPr>
          <a:xfrm>
            <a:off x="4133088" y="2011680"/>
            <a:ext cx="3291840" cy="1869236"/>
          </a:xfrm>
          <a:prstGeom prst="rect">
            <a:avLst/>
          </a:prstGeom>
        </p:spPr>
      </p:pic>
      <p:sp>
        <p:nvSpPr>
          <p:cNvPr id="17" name="Text 13"/>
          <p:cNvSpPr txBox="1"/>
          <p:nvPr/>
        </p:nvSpPr>
        <p:spPr>
          <a:xfrm>
            <a:off x="4133088" y="3935780"/>
            <a:ext cx="3291840" cy="201168"/>
          </a:xfrm>
          <a:prstGeom prst="rect">
            <a:avLst/>
          </a:prstGeom>
          <a:noFill/>
          <a:ln/>
        </p:spPr>
        <p:txBody>
          <a:bodyPr wrap="square" lIns="0" tIns="0" rIns="0" bIns="0" rtlCol="0" anchor="t"/>
          <a:lstStyle/>
          <a:p>
            <a:pPr algn="l" indent="0" marL="0">
              <a:buNone/>
            </a:pPr>
            <a:r>
              <a:rPr lang="en-US" sz="900" i="1" dirty="0">
                <a:solidFill>
                  <a:srgbClr val="52606D"/>
                </a:solidFill>
                <a:latin typeface="Aptos" pitchFamily="34" charset="0"/>
                <a:ea typeface="Aptos" pitchFamily="34" charset="-122"/>
                <a:cs typeface="Aptos" pitchFamily="34" charset="-120"/>
              </a:rPr>
              <a:t>Captura de la interfaz del proyecto.</a:t>
            </a:r>
            <a:endParaRPr lang="en-US" sz="900" dirty="0"/>
          </a:p>
        </p:txBody>
      </p:sp>
      <p:sp>
        <p:nvSpPr>
          <p:cNvPr id="18" name="Shape 14"/>
          <p:cNvSpPr/>
          <p:nvPr/>
        </p:nvSpPr>
        <p:spPr>
          <a:xfrm>
            <a:off x="7699248" y="1737360"/>
            <a:ext cx="3834079" cy="1737360"/>
          </a:xfrm>
          <a:prstGeom prst="roundRect">
            <a:avLst>
              <a:gd name="adj" fmla="val 2632"/>
            </a:avLst>
          </a:prstGeom>
          <a:solidFill>
            <a:srgbClr val="0F1720"/>
          </a:solidFill>
          <a:ln w="12700">
            <a:solidFill>
              <a:srgbClr val="0F1720"/>
            </a:solidFill>
            <a:prstDash val="solid"/>
          </a:ln>
        </p:spPr>
      </p:sp>
      <p:sp>
        <p:nvSpPr>
          <p:cNvPr id="19" name="Shape 15"/>
          <p:cNvSpPr/>
          <p:nvPr/>
        </p:nvSpPr>
        <p:spPr>
          <a:xfrm>
            <a:off x="7859268" y="1869948"/>
            <a:ext cx="82296" cy="82296"/>
          </a:xfrm>
          <a:prstGeom prst="ellipse">
            <a:avLst/>
          </a:prstGeom>
          <a:solidFill>
            <a:srgbClr val="52606D"/>
          </a:solidFill>
          <a:ln w="12700">
            <a:solidFill>
              <a:srgbClr val="52606D"/>
            </a:solidFill>
            <a:prstDash val="solid"/>
          </a:ln>
        </p:spPr>
      </p:sp>
      <p:sp>
        <p:nvSpPr>
          <p:cNvPr id="20" name="Shape 16"/>
          <p:cNvSpPr/>
          <p:nvPr/>
        </p:nvSpPr>
        <p:spPr>
          <a:xfrm>
            <a:off x="8014716" y="1869948"/>
            <a:ext cx="82296" cy="82296"/>
          </a:xfrm>
          <a:prstGeom prst="ellipse">
            <a:avLst/>
          </a:prstGeom>
          <a:solidFill>
            <a:srgbClr val="52606D"/>
          </a:solidFill>
          <a:ln w="12700">
            <a:solidFill>
              <a:srgbClr val="52606D"/>
            </a:solidFill>
            <a:prstDash val="solid"/>
          </a:ln>
        </p:spPr>
      </p:sp>
      <p:sp>
        <p:nvSpPr>
          <p:cNvPr id="21" name="Shape 17"/>
          <p:cNvSpPr/>
          <p:nvPr/>
        </p:nvSpPr>
        <p:spPr>
          <a:xfrm>
            <a:off x="8170164" y="1869948"/>
            <a:ext cx="82296" cy="82296"/>
          </a:xfrm>
          <a:prstGeom prst="ellipse">
            <a:avLst/>
          </a:prstGeom>
          <a:solidFill>
            <a:srgbClr val="52606D"/>
          </a:solidFill>
          <a:ln w="12700">
            <a:solidFill>
              <a:srgbClr val="52606D"/>
            </a:solidFill>
            <a:prstDash val="solid"/>
          </a:ln>
        </p:spPr>
      </p:sp>
      <p:sp>
        <p:nvSpPr>
          <p:cNvPr id="22" name="Text 18"/>
          <p:cNvSpPr/>
          <p:nvPr/>
        </p:nvSpPr>
        <p:spPr>
          <a:xfrm>
            <a:off x="8394192" y="1819656"/>
            <a:ext cx="295625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npx playwright test</a:t>
            </a:r>
            <a:endParaRPr lang="en-US" sz="940" dirty="0"/>
          </a:p>
        </p:txBody>
      </p:sp>
      <p:sp>
        <p:nvSpPr>
          <p:cNvPr id="23" name="Text 19"/>
          <p:cNvSpPr/>
          <p:nvPr/>
        </p:nvSpPr>
        <p:spPr>
          <a:xfrm>
            <a:off x="7900416" y="2212848"/>
            <a:ext cx="3431743" cy="188976"/>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 Expected  - 1</a:t>
            </a:r>
            <a:endParaRPr lang="en-US" sz="960" dirty="0"/>
          </a:p>
        </p:txBody>
      </p:sp>
      <p:sp>
        <p:nvSpPr>
          <p:cNvPr id="24" name="Text 20"/>
          <p:cNvSpPr/>
          <p:nvPr/>
        </p:nvSpPr>
        <p:spPr>
          <a:xfrm>
            <a:off x="7900416" y="2401824"/>
            <a:ext cx="3431743" cy="188976"/>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 Received  + 3</a:t>
            </a:r>
            <a:endParaRPr lang="en-US" sz="960" dirty="0"/>
          </a:p>
        </p:txBody>
      </p:sp>
      <p:sp>
        <p:nvSpPr>
          <p:cNvPr id="25" name="Text 21"/>
          <p:cNvSpPr/>
          <p:nvPr/>
        </p:nvSpPr>
        <p:spPr>
          <a:xfrm>
            <a:off x="7900416" y="2590800"/>
            <a:ext cx="3431743" cy="188976"/>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 Array []</a:t>
            </a:r>
            <a:endParaRPr lang="en-US" sz="960" dirty="0"/>
          </a:p>
        </p:txBody>
      </p:sp>
      <p:sp>
        <p:nvSpPr>
          <p:cNvPr id="26" name="Text 22"/>
          <p:cNvSpPr/>
          <p:nvPr/>
        </p:nvSpPr>
        <p:spPr>
          <a:xfrm>
            <a:off x="7900416" y="2779776"/>
            <a:ext cx="3431743" cy="188976"/>
          </a:xfrm>
          <a:prstGeom prst="rect">
            <a:avLst/>
          </a:prstGeom>
          <a:noFill/>
          <a:ln/>
        </p:spPr>
        <p:txBody>
          <a:bodyPr wrap="square" lIns="0" tIns="0" rIns="0" bIns="0" rtlCol="0" anchor="ctr"/>
          <a:lstStyle/>
          <a:p>
            <a:pPr indent="0" marL="0">
              <a:buNone/>
            </a:pPr>
            <a:r>
              <a:rPr lang="en-US" sz="960" b="1" dirty="0">
                <a:solidFill>
                  <a:srgbClr val="D62027"/>
                </a:solidFill>
                <a:latin typeface="Consolas" pitchFamily="34" charset="0"/>
                <a:ea typeface="Consolas" pitchFamily="34" charset="-122"/>
                <a:cs typeface="Consolas" pitchFamily="34" charset="-120"/>
              </a:rPr>
              <a:t>+ Array [</a:t>
            </a:r>
            <a:endParaRPr lang="en-US" sz="960" dirty="0"/>
          </a:p>
        </p:txBody>
      </p:sp>
      <p:sp>
        <p:nvSpPr>
          <p:cNvPr id="27" name="Text 23"/>
          <p:cNvSpPr/>
          <p:nvPr/>
        </p:nvSpPr>
        <p:spPr>
          <a:xfrm>
            <a:off x="7900416" y="2968752"/>
            <a:ext cx="3431743" cy="188976"/>
          </a:xfrm>
          <a:prstGeom prst="rect">
            <a:avLst/>
          </a:prstGeom>
          <a:noFill/>
          <a:ln/>
        </p:spPr>
        <p:txBody>
          <a:bodyPr wrap="square" lIns="0" tIns="0" rIns="0" bIns="0" rtlCol="0" anchor="ctr"/>
          <a:lstStyle/>
          <a:p>
            <a:pPr indent="0" marL="0">
              <a:buNone/>
            </a:pPr>
            <a:r>
              <a:rPr lang="en-US" sz="960" b="1" dirty="0">
                <a:solidFill>
                  <a:srgbClr val="D62027"/>
                </a:solidFill>
                <a:latin typeface="Consolas" pitchFamily="34" charset="0"/>
                <a:ea typeface="Consolas" pitchFamily="34" charset="-122"/>
                <a:cs typeface="Consolas" pitchFamily="34" charset="-120"/>
              </a:rPr>
              <a:t>+   "color-contrast",</a:t>
            </a:r>
            <a:endParaRPr lang="en-US" sz="960" dirty="0"/>
          </a:p>
        </p:txBody>
      </p:sp>
      <p:sp>
        <p:nvSpPr>
          <p:cNvPr id="28" name="Text 24"/>
          <p:cNvSpPr/>
          <p:nvPr/>
        </p:nvSpPr>
        <p:spPr>
          <a:xfrm>
            <a:off x="7900416" y="3157728"/>
            <a:ext cx="3431743" cy="188976"/>
          </a:xfrm>
          <a:prstGeom prst="rect">
            <a:avLst/>
          </a:prstGeom>
          <a:noFill/>
          <a:ln/>
        </p:spPr>
        <p:txBody>
          <a:bodyPr wrap="square" lIns="0" tIns="0" rIns="0" bIns="0" rtlCol="0" anchor="ctr"/>
          <a:lstStyle/>
          <a:p>
            <a:pPr indent="0" marL="0">
              <a:buNone/>
            </a:pPr>
            <a:r>
              <a:rPr lang="en-US" sz="960" b="1" dirty="0">
                <a:solidFill>
                  <a:srgbClr val="D62027"/>
                </a:solidFill>
                <a:latin typeface="Consolas" pitchFamily="34" charset="0"/>
                <a:ea typeface="Consolas" pitchFamily="34" charset="-122"/>
                <a:cs typeface="Consolas" pitchFamily="34" charset="-120"/>
              </a:rPr>
              <a:t>+ ]</a:t>
            </a:r>
            <a:endParaRPr lang="en-US" sz="960" dirty="0"/>
          </a:p>
        </p:txBody>
      </p:sp>
      <p:sp>
        <p:nvSpPr>
          <p:cNvPr id="29" name="Text 25"/>
          <p:cNvSpPr txBox="1"/>
          <p:nvPr/>
        </p:nvSpPr>
        <p:spPr>
          <a:xfrm>
            <a:off x="7699248" y="3529584"/>
            <a:ext cx="3834079" cy="457200"/>
          </a:xfrm>
          <a:prstGeom prst="rect">
            <a:avLst/>
          </a:prstGeom>
          <a:noFill/>
          <a:ln/>
        </p:spPr>
        <p:txBody>
          <a:bodyPr wrap="square" lIns="0" tIns="0" rIns="0" bIns="0" rtlCol="0" anchor="t"/>
          <a:lstStyle/>
          <a:p>
            <a:pPr algn="l" indent="0" marL="0">
              <a:lnSpc>
                <a:spcPct val="105000"/>
              </a:lnSpc>
              <a:buNone/>
            </a:pPr>
            <a:r>
              <a:rPr lang="en-US" sz="1020" dirty="0">
                <a:solidFill>
                  <a:srgbClr val="243B53"/>
                </a:solidFill>
                <a:latin typeface="Aptos" pitchFamily="34" charset="0"/>
                <a:ea typeface="Aptos" pitchFamily="34" charset="-122"/>
                <a:cs typeface="Aptos" pitchFamily="34" charset="-120"/>
              </a:rPr>
              <a:t>Se esperaba una lista vacía, sin reglas incumplidas, y llegó una con color-contrast.</a:t>
            </a:r>
            <a:endParaRPr lang="en-US" sz="1020" dirty="0"/>
          </a:p>
        </p:txBody>
      </p:sp>
      <p:sp>
        <p:nvSpPr>
          <p:cNvPr id="30" name="Shape 26"/>
          <p:cNvSpPr/>
          <p:nvPr/>
        </p:nvSpPr>
        <p:spPr>
          <a:xfrm>
            <a:off x="658368" y="4206240"/>
            <a:ext cx="10874959" cy="973582"/>
          </a:xfrm>
          <a:prstGeom prst="roundRect">
            <a:avLst>
              <a:gd name="adj" fmla="val 4696"/>
            </a:avLst>
          </a:prstGeom>
          <a:solidFill>
            <a:srgbClr val="0F1720"/>
          </a:solidFill>
          <a:ln w="12700">
            <a:solidFill>
              <a:srgbClr val="0F1720"/>
            </a:solidFill>
            <a:prstDash val="solid"/>
          </a:ln>
        </p:spPr>
      </p:sp>
      <p:sp>
        <p:nvSpPr>
          <p:cNvPr id="31" name="Shape 27"/>
          <p:cNvSpPr/>
          <p:nvPr/>
        </p:nvSpPr>
        <p:spPr>
          <a:xfrm>
            <a:off x="818388" y="4338828"/>
            <a:ext cx="82296" cy="82296"/>
          </a:xfrm>
          <a:prstGeom prst="ellipse">
            <a:avLst/>
          </a:prstGeom>
          <a:solidFill>
            <a:srgbClr val="52606D"/>
          </a:solidFill>
          <a:ln w="12700">
            <a:solidFill>
              <a:srgbClr val="52606D"/>
            </a:solidFill>
            <a:prstDash val="solid"/>
          </a:ln>
        </p:spPr>
      </p:sp>
      <p:sp>
        <p:nvSpPr>
          <p:cNvPr id="32" name="Shape 28"/>
          <p:cNvSpPr/>
          <p:nvPr/>
        </p:nvSpPr>
        <p:spPr>
          <a:xfrm>
            <a:off x="973836" y="4338828"/>
            <a:ext cx="82296" cy="82296"/>
          </a:xfrm>
          <a:prstGeom prst="ellipse">
            <a:avLst/>
          </a:prstGeom>
          <a:solidFill>
            <a:srgbClr val="52606D"/>
          </a:solidFill>
          <a:ln w="12700">
            <a:solidFill>
              <a:srgbClr val="52606D"/>
            </a:solidFill>
            <a:prstDash val="solid"/>
          </a:ln>
        </p:spPr>
      </p:sp>
      <p:sp>
        <p:nvSpPr>
          <p:cNvPr id="33" name="Shape 29"/>
          <p:cNvSpPr/>
          <p:nvPr/>
        </p:nvSpPr>
        <p:spPr>
          <a:xfrm>
            <a:off x="1129284" y="4338828"/>
            <a:ext cx="82296" cy="82296"/>
          </a:xfrm>
          <a:prstGeom prst="ellipse">
            <a:avLst/>
          </a:prstGeom>
          <a:solidFill>
            <a:srgbClr val="52606D"/>
          </a:solidFill>
          <a:ln w="12700">
            <a:solidFill>
              <a:srgbClr val="52606D"/>
            </a:solidFill>
            <a:prstDash val="solid"/>
          </a:ln>
        </p:spPr>
      </p:sp>
      <p:sp>
        <p:nvSpPr>
          <p:cNvPr id="34" name="Text 30"/>
          <p:cNvSpPr/>
          <p:nvPr/>
        </p:nvSpPr>
        <p:spPr>
          <a:xfrm>
            <a:off x="1353312" y="4288536"/>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El detalle de la regla color-contrast</a:t>
            </a:r>
            <a:endParaRPr lang="en-US" sz="940" dirty="0"/>
          </a:p>
        </p:txBody>
      </p:sp>
      <p:sp>
        <p:nvSpPr>
          <p:cNvPr id="35" name="Text 31"/>
          <p:cNvSpPr/>
          <p:nvPr/>
        </p:nvSpPr>
        <p:spPr>
          <a:xfrm>
            <a:off x="859536" y="4681728"/>
            <a:ext cx="10472623" cy="185039"/>
          </a:xfrm>
          <a:prstGeom prst="rect">
            <a:avLst/>
          </a:prstGeom>
          <a:noFill/>
          <a:ln/>
        </p:spPr>
        <p:txBody>
          <a:bodyPr wrap="square" lIns="0" tIns="0" rIns="0" bIns="0" rtlCol="0" anchor="ctr"/>
          <a:lstStyle/>
          <a:p>
            <a:pPr indent="0" marL="0">
              <a:buNone/>
            </a:pPr>
            <a:r>
              <a:rPr lang="en-US" sz="940" b="1" dirty="0">
                <a:solidFill>
                  <a:srgbClr val="D62027"/>
                </a:solidFill>
                <a:latin typeface="Consolas" pitchFamily="34" charset="0"/>
                <a:ea typeface="Consolas" pitchFamily="34" charset="-122"/>
                <a:cs typeface="Consolas" pitchFamily="34" charset="-120"/>
              </a:rPr>
              <a:t>Element has insufficient color contrast of 2.55 (foreground color: #ffffff, background color: #9aa3ad,</a:t>
            </a:r>
            <a:endParaRPr lang="en-US" sz="940" dirty="0"/>
          </a:p>
        </p:txBody>
      </p:sp>
      <p:sp>
        <p:nvSpPr>
          <p:cNvPr id="36" name="Text 32"/>
          <p:cNvSpPr/>
          <p:nvPr/>
        </p:nvSpPr>
        <p:spPr>
          <a:xfrm>
            <a:off x="859536" y="4866767"/>
            <a:ext cx="10472623" cy="185039"/>
          </a:xfrm>
          <a:prstGeom prst="rect">
            <a:avLst/>
          </a:prstGeom>
          <a:noFill/>
          <a:ln/>
        </p:spPr>
        <p:txBody>
          <a:bodyPr wrap="square" lIns="0" tIns="0" rIns="0" bIns="0" rtlCol="0" anchor="ctr"/>
          <a:lstStyle/>
          <a:p>
            <a:pPr indent="0" marL="0">
              <a:buNone/>
            </a:pPr>
            <a:r>
              <a:rPr lang="en-US" sz="940" b="1" dirty="0">
                <a:solidFill>
                  <a:srgbClr val="D62027"/>
                </a:solidFill>
                <a:latin typeface="Consolas" pitchFamily="34" charset="0"/>
                <a:ea typeface="Consolas" pitchFamily="34" charset="-122"/>
                <a:cs typeface="Consolas" pitchFamily="34" charset="-120"/>
              </a:rPr>
              <a:t>font size: 12.0pt (16px), font weight: normal). Expected contrast ratio of 4.5:1</a:t>
            </a:r>
            <a:endParaRPr lang="en-US" sz="940" dirty="0"/>
          </a:p>
        </p:txBody>
      </p:sp>
      <p:sp>
        <p:nvSpPr>
          <p:cNvPr id="37" name="Text 33"/>
          <p:cNvSpPr txBox="1"/>
          <p:nvPr/>
        </p:nvSpPr>
        <p:spPr>
          <a:xfrm>
            <a:off x="658368" y="5230368"/>
            <a:ext cx="10874959" cy="420624"/>
          </a:xfrm>
          <a:prstGeom prst="rect">
            <a:avLst/>
          </a:prstGeom>
          <a:noFill/>
          <a:ln/>
        </p:spPr>
        <p:txBody>
          <a:bodyPr wrap="square" lIns="0" tIns="0" rIns="0" bIns="0" rtlCol="0" anchor="t"/>
          <a:lstStyle/>
          <a:p>
            <a:pPr algn="l" indent="0" marL="0">
              <a:lnSpc>
                <a:spcPct val="106000"/>
              </a:lnSpc>
              <a:buNone/>
            </a:pPr>
            <a:r>
              <a:rPr lang="en-US" sz="1060" dirty="0">
                <a:solidFill>
                  <a:srgbClr val="243B53"/>
                </a:solidFill>
                <a:latin typeface="Aptos" pitchFamily="34" charset="0"/>
                <a:ea typeface="Aptos" pitchFamily="34" charset="-122"/>
                <a:cs typeface="Aptos" pitchFamily="34" charset="-120"/>
              </a:rPr>
              <a:t>El elemento tiene un contraste insuficiente de 2,55 a 1: texto blanco sobre gris claro; se esperaba 4,5 a 1. Es justo la ficha que dice que el bloque no está disponible.</a:t>
            </a:r>
            <a:endParaRPr lang="en-US" sz="1060" dirty="0"/>
          </a:p>
        </p:txBody>
      </p:sp>
      <p:sp>
        <p:nvSpPr>
          <p:cNvPr id="38" name="Shape 34"/>
          <p:cNvSpPr/>
          <p:nvPr/>
        </p:nvSpPr>
        <p:spPr>
          <a:xfrm>
            <a:off x="658368" y="5705856"/>
            <a:ext cx="10874959" cy="420624"/>
          </a:xfrm>
          <a:prstGeom prst="rect">
            <a:avLst/>
          </a:prstGeom>
          <a:solidFill>
            <a:srgbClr val="102A43"/>
          </a:solidFill>
          <a:ln w="12700">
            <a:solidFill>
              <a:srgbClr val="102A43"/>
            </a:solidFill>
            <a:prstDash val="solid"/>
          </a:ln>
        </p:spPr>
      </p:sp>
      <p:sp>
        <p:nvSpPr>
          <p:cNvPr id="39" name="Text 35"/>
          <p:cNvSpPr txBox="1"/>
          <p:nvPr/>
        </p:nvSpPr>
        <p:spPr>
          <a:xfrm>
            <a:off x="950976" y="5742432"/>
            <a:ext cx="10289743" cy="347472"/>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revisión automática revisa el estado que se le muestra.</a:t>
            </a:r>
            <a:endParaRPr lang="en-US" sz="13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línea en la hoja de estilos</a:t>
            </a:r>
            <a:endParaRPr lang="en-US" sz="3000" dirty="0"/>
          </a:p>
        </p:txBody>
      </p:sp>
      <p:sp>
        <p:nvSpPr>
          <p:cNvPr id="10" name="Text 7"/>
          <p:cNvSpPr txBox="1"/>
          <p:nvPr/>
        </p:nvSpPr>
        <p:spPr>
          <a:xfrm>
            <a:off x="658368" y="1737360"/>
            <a:ext cx="18288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ANTES</a:t>
            </a:r>
            <a:endParaRPr lang="en-US" sz="960" dirty="0"/>
          </a:p>
        </p:txBody>
      </p:sp>
      <p:sp>
        <p:nvSpPr>
          <p:cNvPr id="11" name="Shape 8"/>
          <p:cNvSpPr/>
          <p:nvPr/>
        </p:nvSpPr>
        <p:spPr>
          <a:xfrm>
            <a:off x="3718408" y="1682496"/>
            <a:ext cx="2103120" cy="365760"/>
          </a:xfrm>
          <a:prstGeom prst="rect">
            <a:avLst/>
          </a:prstGeom>
          <a:solidFill>
            <a:srgbClr val="9AA3AD"/>
          </a:solidFill>
          <a:ln w="12700">
            <a:solidFill>
              <a:srgbClr val="9AA3AD"/>
            </a:solidFill>
            <a:prstDash val="solid"/>
          </a:ln>
        </p:spPr>
      </p:sp>
      <p:sp>
        <p:nvSpPr>
          <p:cNvPr id="12" name="Text 9"/>
          <p:cNvSpPr txBox="1"/>
          <p:nvPr/>
        </p:nvSpPr>
        <p:spPr>
          <a:xfrm>
            <a:off x="3773272" y="1719072"/>
            <a:ext cx="2011680" cy="292608"/>
          </a:xfrm>
          <a:prstGeom prst="rect">
            <a:avLst/>
          </a:prstGeom>
          <a:noFill/>
          <a:ln/>
        </p:spPr>
        <p:txBody>
          <a:bodyPr wrap="square" lIns="0" tIns="0" rIns="0" bIns="0" rtlCol="0" anchor="ctr"/>
          <a:lstStyle/>
          <a:p>
            <a:pPr algn="l" indent="0" marL="0">
              <a:buNone/>
            </a:pPr>
            <a:r>
              <a:rPr lang="en-US" sz="1040" b="1" dirty="0">
                <a:solidFill>
                  <a:srgbClr val="FFFFFF"/>
                </a:solidFill>
                <a:latin typeface="Consolas" pitchFamily="34" charset="0"/>
                <a:ea typeface="Consolas" pitchFamily="34" charset="-122"/>
                <a:cs typeface="Consolas" pitchFamily="34" charset="-120"/>
              </a:rPr>
              <a:t>--tomado: #9aa3ad;</a:t>
            </a:r>
            <a:endParaRPr lang="en-US" sz="1040" dirty="0"/>
          </a:p>
        </p:txBody>
      </p:sp>
      <p:pic>
        <p:nvPicPr>
          <p:cNvPr id="13" name="Image 1" descr="C:\Users\Diego Obando\dev\pro402-taller-de-testing-2026\clases\semana-05\01-2\ppt\source\assets\bloques-contraste-insuficiente.png">    </p:cNvPr>
          <p:cNvPicPr>
            <a:picLocks noChangeAspect="1"/>
          </p:cNvPicPr>
          <p:nvPr/>
        </p:nvPicPr>
        <p:blipFill>
          <a:blip r:embed="rId3"/>
          <a:stretch>
            <a:fillRect/>
          </a:stretch>
        </p:blipFill>
        <p:spPr>
          <a:xfrm>
            <a:off x="1228268" y="2139696"/>
            <a:ext cx="4023360" cy="2284622"/>
          </a:xfrm>
          <a:prstGeom prst="rect">
            <a:avLst/>
          </a:prstGeom>
        </p:spPr>
      </p:pic>
      <p:sp>
        <p:nvSpPr>
          <p:cNvPr id="14" name="Shape 10"/>
          <p:cNvSpPr/>
          <p:nvPr/>
        </p:nvSpPr>
        <p:spPr>
          <a:xfrm>
            <a:off x="658368" y="4552334"/>
            <a:ext cx="5163160" cy="585216"/>
          </a:xfrm>
          <a:prstGeom prst="rect">
            <a:avLst/>
          </a:prstGeom>
          <a:solidFill>
            <a:srgbClr val="FFFFFF"/>
          </a:solidFill>
          <a:ln w="12700">
            <a:solidFill>
              <a:srgbClr val="FFFFFF"/>
            </a:solidFill>
            <a:prstDash val="solid"/>
          </a:ln>
        </p:spPr>
      </p:sp>
      <p:sp>
        <p:nvSpPr>
          <p:cNvPr id="15" name="Shape 11"/>
          <p:cNvSpPr/>
          <p:nvPr/>
        </p:nvSpPr>
        <p:spPr>
          <a:xfrm>
            <a:off x="658368" y="4552334"/>
            <a:ext cx="54864" cy="585216"/>
          </a:xfrm>
          <a:prstGeom prst="rect">
            <a:avLst/>
          </a:prstGeom>
          <a:solidFill>
            <a:srgbClr val="B3181E"/>
          </a:solidFill>
          <a:ln w="12700">
            <a:solidFill>
              <a:srgbClr val="B3181E"/>
            </a:solidFill>
            <a:prstDash val="solid"/>
          </a:ln>
        </p:spPr>
      </p:sp>
      <p:sp>
        <p:nvSpPr>
          <p:cNvPr id="16" name="Text 12"/>
          <p:cNvSpPr txBox="1"/>
          <p:nvPr/>
        </p:nvSpPr>
        <p:spPr>
          <a:xfrm>
            <a:off x="877824" y="4607198"/>
            <a:ext cx="1645920" cy="457200"/>
          </a:xfrm>
          <a:prstGeom prst="rect">
            <a:avLst/>
          </a:prstGeom>
          <a:noFill/>
          <a:ln/>
        </p:spPr>
        <p:txBody>
          <a:bodyPr wrap="square" lIns="0" tIns="0" rIns="0" bIns="0" rtlCol="0" anchor="ctr"/>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2,55 a 1</a:t>
            </a:r>
            <a:endParaRPr lang="en-US" sz="2000" dirty="0"/>
          </a:p>
        </p:txBody>
      </p:sp>
      <p:sp>
        <p:nvSpPr>
          <p:cNvPr id="17" name="Text 13"/>
          <p:cNvSpPr txBox="1"/>
          <p:nvPr/>
        </p:nvSpPr>
        <p:spPr>
          <a:xfrm>
            <a:off x="2578608" y="4607198"/>
            <a:ext cx="3060040" cy="45720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No cumple el 4,5 a 1</a:t>
            </a:r>
            <a:endParaRPr lang="en-US" sz="1140" dirty="0"/>
          </a:p>
        </p:txBody>
      </p:sp>
      <p:sp>
        <p:nvSpPr>
          <p:cNvPr id="18" name="Text 14"/>
          <p:cNvSpPr txBox="1"/>
          <p:nvPr/>
        </p:nvSpPr>
        <p:spPr>
          <a:xfrm>
            <a:off x="6370168" y="1737360"/>
            <a:ext cx="18288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DESPUÉS</a:t>
            </a:r>
            <a:endParaRPr lang="en-US" sz="960" dirty="0"/>
          </a:p>
        </p:txBody>
      </p:sp>
      <p:sp>
        <p:nvSpPr>
          <p:cNvPr id="19" name="Shape 15"/>
          <p:cNvSpPr/>
          <p:nvPr/>
        </p:nvSpPr>
        <p:spPr>
          <a:xfrm>
            <a:off x="9430207" y="1682496"/>
            <a:ext cx="2103120" cy="365760"/>
          </a:xfrm>
          <a:prstGeom prst="rect">
            <a:avLst/>
          </a:prstGeom>
          <a:solidFill>
            <a:srgbClr val="5B6878"/>
          </a:solidFill>
          <a:ln w="12700">
            <a:solidFill>
              <a:srgbClr val="5B6878"/>
            </a:solidFill>
            <a:prstDash val="solid"/>
          </a:ln>
        </p:spPr>
      </p:sp>
      <p:sp>
        <p:nvSpPr>
          <p:cNvPr id="20" name="Text 16"/>
          <p:cNvSpPr txBox="1"/>
          <p:nvPr/>
        </p:nvSpPr>
        <p:spPr>
          <a:xfrm>
            <a:off x="9485071" y="1719072"/>
            <a:ext cx="2011680" cy="292608"/>
          </a:xfrm>
          <a:prstGeom prst="rect">
            <a:avLst/>
          </a:prstGeom>
          <a:noFill/>
          <a:ln/>
        </p:spPr>
        <p:txBody>
          <a:bodyPr wrap="square" lIns="0" tIns="0" rIns="0" bIns="0" rtlCol="0" anchor="ctr"/>
          <a:lstStyle/>
          <a:p>
            <a:pPr algn="l" indent="0" marL="0">
              <a:buNone/>
            </a:pPr>
            <a:r>
              <a:rPr lang="en-US" sz="1040" b="1" dirty="0">
                <a:solidFill>
                  <a:srgbClr val="FFFFFF"/>
                </a:solidFill>
                <a:latin typeface="Consolas" pitchFamily="34" charset="0"/>
                <a:ea typeface="Consolas" pitchFamily="34" charset="-122"/>
                <a:cs typeface="Consolas" pitchFamily="34" charset="-120"/>
              </a:rPr>
              <a:t>--tomado: #5b6878;</a:t>
            </a:r>
            <a:endParaRPr lang="en-US" sz="1040" dirty="0"/>
          </a:p>
        </p:txBody>
      </p:sp>
      <p:pic>
        <p:nvPicPr>
          <p:cNvPr id="21" name="Image 2" descr="C:\Users\Diego Obando\dev\pro402-taller-de-testing-2026\clases\semana-05\01-2\ppt\source\assets\bloques-contraste-corregido.png">    </p:cNvPr>
          <p:cNvPicPr>
            <a:picLocks noChangeAspect="1"/>
          </p:cNvPicPr>
          <p:nvPr/>
        </p:nvPicPr>
        <p:blipFill>
          <a:blip r:embed="rId4"/>
          <a:stretch>
            <a:fillRect/>
          </a:stretch>
        </p:blipFill>
        <p:spPr>
          <a:xfrm>
            <a:off x="6940067" y="2139696"/>
            <a:ext cx="4023360" cy="2284622"/>
          </a:xfrm>
          <a:prstGeom prst="rect">
            <a:avLst/>
          </a:prstGeom>
        </p:spPr>
      </p:pic>
      <p:sp>
        <p:nvSpPr>
          <p:cNvPr id="22" name="Shape 17"/>
          <p:cNvSpPr/>
          <p:nvPr/>
        </p:nvSpPr>
        <p:spPr>
          <a:xfrm>
            <a:off x="6370168" y="4552334"/>
            <a:ext cx="5163160" cy="585216"/>
          </a:xfrm>
          <a:prstGeom prst="rect">
            <a:avLst/>
          </a:prstGeom>
          <a:solidFill>
            <a:srgbClr val="FFFFFF"/>
          </a:solidFill>
          <a:ln w="12700">
            <a:solidFill>
              <a:srgbClr val="FFFFFF"/>
            </a:solidFill>
            <a:prstDash val="solid"/>
          </a:ln>
        </p:spPr>
      </p:sp>
      <p:sp>
        <p:nvSpPr>
          <p:cNvPr id="23" name="Shape 18"/>
          <p:cNvSpPr/>
          <p:nvPr/>
        </p:nvSpPr>
        <p:spPr>
          <a:xfrm>
            <a:off x="6370168" y="4552334"/>
            <a:ext cx="54864" cy="585216"/>
          </a:xfrm>
          <a:prstGeom prst="rect">
            <a:avLst/>
          </a:prstGeom>
          <a:solidFill>
            <a:srgbClr val="2E7D4F"/>
          </a:solidFill>
          <a:ln w="12700">
            <a:solidFill>
              <a:srgbClr val="2E7D4F"/>
            </a:solidFill>
            <a:prstDash val="solid"/>
          </a:ln>
        </p:spPr>
      </p:sp>
      <p:sp>
        <p:nvSpPr>
          <p:cNvPr id="24" name="Text 19"/>
          <p:cNvSpPr txBox="1"/>
          <p:nvPr/>
        </p:nvSpPr>
        <p:spPr>
          <a:xfrm>
            <a:off x="6589624" y="4607198"/>
            <a:ext cx="1645920" cy="457200"/>
          </a:xfrm>
          <a:prstGeom prst="rect">
            <a:avLst/>
          </a:prstGeom>
          <a:noFill/>
          <a:ln/>
        </p:spPr>
        <p:txBody>
          <a:bodyPr wrap="square" lIns="0" tIns="0" rIns="0" bIns="0" rtlCol="0" anchor="ctr"/>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5,68 a 1</a:t>
            </a:r>
            <a:endParaRPr lang="en-US" sz="2000" dirty="0"/>
          </a:p>
        </p:txBody>
      </p:sp>
      <p:sp>
        <p:nvSpPr>
          <p:cNvPr id="25" name="Text 20"/>
          <p:cNvSpPr txBox="1"/>
          <p:nvPr/>
        </p:nvSpPr>
        <p:spPr>
          <a:xfrm>
            <a:off x="8290408" y="4607198"/>
            <a:ext cx="3060040" cy="457200"/>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Cumple, en los tres navegadores</a:t>
            </a:r>
            <a:endParaRPr lang="en-US" sz="1140" dirty="0"/>
          </a:p>
        </p:txBody>
      </p:sp>
      <p:sp>
        <p:nvSpPr>
          <p:cNvPr id="26" name="Shape 21"/>
          <p:cNvSpPr/>
          <p:nvPr/>
        </p:nvSpPr>
        <p:spPr>
          <a:xfrm>
            <a:off x="5931256" y="3282007"/>
            <a:ext cx="329184" cy="0"/>
          </a:xfrm>
          <a:prstGeom prst="line">
            <a:avLst/>
          </a:prstGeom>
          <a:noFill/>
          <a:ln w="12700">
            <a:solidFill>
              <a:srgbClr val="52606D"/>
            </a:solidFill>
            <a:prstDash val="solid"/>
            <a:headEnd type="none"/>
            <a:tailEnd type="triangle"/>
          </a:ln>
        </p:spPr>
      </p:sp>
      <p:sp>
        <p:nvSpPr>
          <p:cNvPr id="27" name="Text 22"/>
          <p:cNvSpPr txBox="1"/>
          <p:nvPr/>
        </p:nvSpPr>
        <p:spPr>
          <a:xfrm>
            <a:off x="658368" y="5247278"/>
            <a:ext cx="10874959" cy="237744"/>
          </a:xfrm>
          <a:prstGeom prst="rect">
            <a:avLst/>
          </a:prstGeom>
          <a:noFill/>
          <a:ln/>
        </p:spPr>
        <p:txBody>
          <a:bodyPr wrap="square" lIns="0" tIns="0" rIns="0" bIns="0" rtlCol="0" anchor="t"/>
          <a:lstStyle/>
          <a:p>
            <a:pPr algn="l" indent="0" marL="0">
              <a:buNone/>
            </a:pPr>
            <a:r>
              <a:rPr lang="en-US" sz="1000" i="1" dirty="0">
                <a:solidFill>
                  <a:srgbClr val="52606D"/>
                </a:solidFill>
                <a:latin typeface="Aptos" pitchFamily="34" charset="0"/>
                <a:ea typeface="Aptos" pitchFamily="34" charset="-122"/>
                <a:cs typeface="Aptos" pitchFamily="34" charset="-120"/>
              </a:rPr>
              <a:t>El nuevo gris ya lo usaba la interfaz para los textos secundarios. El 5,68 a 1 sale de la fórmula de las WCAG.</a:t>
            </a:r>
            <a:endParaRPr lang="en-US" sz="1000" dirty="0"/>
          </a:p>
        </p:txBody>
      </p:sp>
      <p:sp>
        <p:nvSpPr>
          <p:cNvPr id="28" name="Shape 23"/>
          <p:cNvSpPr/>
          <p:nvPr/>
        </p:nvSpPr>
        <p:spPr>
          <a:xfrm>
            <a:off x="658368" y="5650992"/>
            <a:ext cx="10874959" cy="548640"/>
          </a:xfrm>
          <a:prstGeom prst="rect">
            <a:avLst/>
          </a:prstGeom>
          <a:solidFill>
            <a:srgbClr val="102A43"/>
          </a:solidFill>
          <a:ln w="12700">
            <a:solidFill>
              <a:srgbClr val="102A43"/>
            </a:solidFill>
            <a:prstDash val="solid"/>
          </a:ln>
        </p:spPr>
      </p:sp>
      <p:sp>
        <p:nvSpPr>
          <p:cNvPr id="29" name="Text 2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prueba que solo abre la página vacía comprueba la versión que casi nadie ve.</a:t>
            </a:r>
            <a:endParaRPr lang="en-US" sz="13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LÍMITE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Cero violaciones, y un mensaje que no sirve</a:t>
            </a:r>
            <a:endParaRPr lang="en-US" sz="2800" dirty="0"/>
          </a:p>
        </p:txBody>
      </p:sp>
      <p:pic>
        <p:nvPicPr>
          <p:cNvPr id="10" name="Image 1" descr="C:\Users\Diego Obando\dev\pro402-taller-de-testing-2026\clases\semana-05\01-2\ppt\source\assets\mensaje-object-object.png">    </p:cNvPr>
          <p:cNvPicPr>
            <a:picLocks noChangeAspect="1"/>
          </p:cNvPicPr>
          <p:nvPr/>
        </p:nvPicPr>
        <p:blipFill>
          <a:blip r:embed="rId3"/>
          <a:stretch>
            <a:fillRect/>
          </a:stretch>
        </p:blipFill>
        <p:spPr>
          <a:xfrm>
            <a:off x="658368" y="1682496"/>
            <a:ext cx="3108960" cy="3273310"/>
          </a:xfrm>
          <a:prstGeom prst="rect">
            <a:avLst/>
          </a:prstGeom>
        </p:spPr>
      </p:pic>
      <p:sp>
        <p:nvSpPr>
          <p:cNvPr id="11" name="Text 7"/>
          <p:cNvSpPr txBox="1"/>
          <p:nvPr/>
        </p:nvSpPr>
        <p:spPr>
          <a:xfrm>
            <a:off x="658368" y="4992382"/>
            <a:ext cx="3108960" cy="603504"/>
          </a:xfrm>
          <a:prstGeom prst="rect">
            <a:avLst/>
          </a:prstGeom>
          <a:noFill/>
          <a:ln/>
        </p:spPr>
        <p:txBody>
          <a:bodyPr wrap="square" lIns="0" tIns="0" rIns="0" bIns="0" rtlCol="0" anchor="t"/>
          <a:lstStyle/>
          <a:p>
            <a:pPr algn="l" indent="0" marL="0">
              <a:lnSpc>
                <a:spcPct val="102000"/>
              </a:lnSpc>
              <a:buNone/>
            </a:pPr>
            <a:r>
              <a:rPr lang="en-US" sz="900" i="1" dirty="0">
                <a:solidFill>
                  <a:srgbClr val="52606D"/>
                </a:solidFill>
                <a:latin typeface="Aptos" pitchFamily="34" charset="0"/>
                <a:ea typeface="Aptos" pitchFamily="34" charset="-122"/>
                <a:cs typeface="Aptos" pitchFamily="34" charset="-120"/>
              </a:rPr>
              <a:t>La persona dejó vacío el campo Personas. [object Object] es lo que JavaScript muestra al convertir en texto un dato que no es texto: el mensaje real nunca llega a la pantalla.</a:t>
            </a:r>
            <a:endParaRPr lang="en-US" sz="900" dirty="0"/>
          </a:p>
        </p:txBody>
      </p:sp>
      <p:sp>
        <p:nvSpPr>
          <p:cNvPr id="12" name="Shape 8"/>
          <p:cNvSpPr/>
          <p:nvPr/>
        </p:nvSpPr>
        <p:spPr>
          <a:xfrm>
            <a:off x="4133088" y="1682496"/>
            <a:ext cx="7400239" cy="914400"/>
          </a:xfrm>
          <a:prstGeom prst="rect">
            <a:avLst/>
          </a:prstGeom>
          <a:solidFill>
            <a:srgbClr val="EDE6DA"/>
          </a:solidFill>
          <a:ln w="12700">
            <a:solidFill>
              <a:srgbClr val="EDE6DA"/>
            </a:solidFill>
            <a:prstDash val="solid"/>
          </a:ln>
        </p:spPr>
      </p:sp>
      <p:sp>
        <p:nvSpPr>
          <p:cNvPr id="13" name="Shape 9"/>
          <p:cNvSpPr/>
          <p:nvPr/>
        </p:nvSpPr>
        <p:spPr>
          <a:xfrm>
            <a:off x="4133088" y="1682496"/>
            <a:ext cx="54864" cy="914400"/>
          </a:xfrm>
          <a:prstGeom prst="rect">
            <a:avLst/>
          </a:prstGeom>
          <a:solidFill>
            <a:srgbClr val="102A43"/>
          </a:solidFill>
          <a:ln w="12700">
            <a:solidFill>
              <a:srgbClr val="102A43"/>
            </a:solidFill>
            <a:prstDash val="solid"/>
          </a:ln>
        </p:spPr>
      </p:sp>
      <p:sp>
        <p:nvSpPr>
          <p:cNvPr id="14" name="Text 10"/>
          <p:cNvSpPr txBox="1"/>
          <p:nvPr/>
        </p:nvSpPr>
        <p:spPr>
          <a:xfrm>
            <a:off x="4389120" y="1810512"/>
            <a:ext cx="6888175" cy="475488"/>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«Con axe-core se puede encontrar, en promedio, el 57 % de los problemas de las WCAG de forma automática.»</a:t>
            </a:r>
            <a:endParaRPr lang="en-US" sz="1180" dirty="0"/>
          </a:p>
        </p:txBody>
      </p:sp>
      <p:sp>
        <p:nvSpPr>
          <p:cNvPr id="15" name="Text 11"/>
          <p:cNvSpPr txBox="1"/>
          <p:nvPr/>
        </p:nvSpPr>
        <p:spPr>
          <a:xfrm>
            <a:off x="4389120" y="2322576"/>
            <a:ext cx="688817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axe-core, documentación del proyecto · traducción del original en inglés</a:t>
            </a:r>
            <a:endParaRPr lang="en-US" sz="900" dirty="0"/>
          </a:p>
        </p:txBody>
      </p:sp>
      <p:sp>
        <p:nvSpPr>
          <p:cNvPr id="16" name="Text 12"/>
          <p:cNvSpPr txBox="1"/>
          <p:nvPr/>
        </p:nvSpPr>
        <p:spPr>
          <a:xfrm>
            <a:off x="4133088" y="2761488"/>
            <a:ext cx="360868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LO QUE AXE-CORE REVISÓ</a:t>
            </a:r>
            <a:endParaRPr lang="en-US" sz="960" dirty="0"/>
          </a:p>
        </p:txBody>
      </p:sp>
      <p:sp>
        <p:nvSpPr>
          <p:cNvPr id="17" name="Shape 13"/>
          <p:cNvSpPr/>
          <p:nvPr/>
        </p:nvSpPr>
        <p:spPr>
          <a:xfrm>
            <a:off x="4133088" y="3035808"/>
            <a:ext cx="3608680" cy="493776"/>
          </a:xfrm>
          <a:prstGeom prst="rect">
            <a:avLst/>
          </a:prstGeom>
          <a:solidFill>
            <a:srgbClr val="FFFFFF"/>
          </a:solidFill>
          <a:ln w="12700">
            <a:solidFill>
              <a:srgbClr val="FFFFFF"/>
            </a:solidFill>
            <a:prstDash val="solid"/>
          </a:ln>
        </p:spPr>
      </p:sp>
      <p:sp>
        <p:nvSpPr>
          <p:cNvPr id="18" name="Shape 14"/>
          <p:cNvSpPr/>
          <p:nvPr/>
        </p:nvSpPr>
        <p:spPr>
          <a:xfrm>
            <a:off x="4297680" y="3209544"/>
            <a:ext cx="146304" cy="146304"/>
          </a:xfrm>
          <a:prstGeom prst="rect">
            <a:avLst/>
          </a:prstGeom>
          <a:solidFill>
            <a:srgbClr val="2E7D4F"/>
          </a:solidFill>
          <a:ln w="12700">
            <a:solidFill>
              <a:srgbClr val="2E7D4F"/>
            </a:solidFill>
            <a:prstDash val="solid"/>
          </a:ln>
        </p:spPr>
      </p:sp>
      <p:sp>
        <p:nvSpPr>
          <p:cNvPr id="19" name="Text 15"/>
          <p:cNvSpPr txBox="1"/>
          <p:nvPr/>
        </p:nvSpPr>
        <p:spPr>
          <a:xfrm>
            <a:off x="4553712" y="3072384"/>
            <a:ext cx="3096616" cy="42062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El contraste del texto rojo: cumple.</a:t>
            </a:r>
            <a:endParaRPr lang="en-US" sz="960" dirty="0"/>
          </a:p>
        </p:txBody>
      </p:sp>
      <p:sp>
        <p:nvSpPr>
          <p:cNvPr id="20" name="Shape 16"/>
          <p:cNvSpPr/>
          <p:nvPr/>
        </p:nvSpPr>
        <p:spPr>
          <a:xfrm>
            <a:off x="4133088" y="3602736"/>
            <a:ext cx="3608680" cy="493776"/>
          </a:xfrm>
          <a:prstGeom prst="rect">
            <a:avLst/>
          </a:prstGeom>
          <a:solidFill>
            <a:srgbClr val="FFFFFF"/>
          </a:solidFill>
          <a:ln w="12700">
            <a:solidFill>
              <a:srgbClr val="FFFFFF"/>
            </a:solidFill>
            <a:prstDash val="solid"/>
          </a:ln>
        </p:spPr>
      </p:sp>
      <p:sp>
        <p:nvSpPr>
          <p:cNvPr id="21" name="Shape 17"/>
          <p:cNvSpPr/>
          <p:nvPr/>
        </p:nvSpPr>
        <p:spPr>
          <a:xfrm>
            <a:off x="4297680" y="3776472"/>
            <a:ext cx="146304" cy="146304"/>
          </a:xfrm>
          <a:prstGeom prst="rect">
            <a:avLst/>
          </a:prstGeom>
          <a:solidFill>
            <a:srgbClr val="2E7D4F"/>
          </a:solidFill>
          <a:ln w="12700">
            <a:solidFill>
              <a:srgbClr val="2E7D4F"/>
            </a:solidFill>
            <a:prstDash val="solid"/>
          </a:ln>
        </p:spPr>
      </p:sp>
      <p:sp>
        <p:nvSpPr>
          <p:cNvPr id="22" name="Text 18"/>
          <p:cNvSpPr txBox="1"/>
          <p:nvPr/>
        </p:nvSpPr>
        <p:spPr>
          <a:xfrm>
            <a:off x="4553712" y="3639312"/>
            <a:ext cx="3096616" cy="42062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La estructura de la página: correcta.</a:t>
            </a:r>
            <a:endParaRPr lang="en-US" sz="960" dirty="0"/>
          </a:p>
        </p:txBody>
      </p:sp>
      <p:sp>
        <p:nvSpPr>
          <p:cNvPr id="23" name="Shape 19"/>
          <p:cNvSpPr/>
          <p:nvPr/>
        </p:nvSpPr>
        <p:spPr>
          <a:xfrm>
            <a:off x="4133088" y="4169664"/>
            <a:ext cx="3608680" cy="493776"/>
          </a:xfrm>
          <a:prstGeom prst="rect">
            <a:avLst/>
          </a:prstGeom>
          <a:solidFill>
            <a:srgbClr val="FFFFFF"/>
          </a:solidFill>
          <a:ln w="12700">
            <a:solidFill>
              <a:srgbClr val="FFFFFF"/>
            </a:solidFill>
            <a:prstDash val="solid"/>
          </a:ln>
        </p:spPr>
      </p:sp>
      <p:sp>
        <p:nvSpPr>
          <p:cNvPr id="24" name="Shape 20"/>
          <p:cNvSpPr/>
          <p:nvPr/>
        </p:nvSpPr>
        <p:spPr>
          <a:xfrm>
            <a:off x="4297680" y="4343400"/>
            <a:ext cx="146304" cy="146304"/>
          </a:xfrm>
          <a:prstGeom prst="rect">
            <a:avLst/>
          </a:prstGeom>
          <a:solidFill>
            <a:srgbClr val="2E7D4F"/>
          </a:solidFill>
          <a:ln w="12700">
            <a:solidFill>
              <a:srgbClr val="2E7D4F"/>
            </a:solidFill>
            <a:prstDash val="solid"/>
          </a:ln>
        </p:spPr>
      </p:sp>
      <p:sp>
        <p:nvSpPr>
          <p:cNvPr id="25" name="Text 21"/>
          <p:cNvSpPr txBox="1"/>
          <p:nvPr/>
        </p:nvSpPr>
        <p:spPr>
          <a:xfrm>
            <a:off x="4553712" y="4206240"/>
            <a:ext cx="3096616" cy="42062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El mensaje tiene role="status" y aria-live="polite": un lector de pantalla lo lee en voz alta cuando cambia.</a:t>
            </a:r>
            <a:endParaRPr lang="en-US" sz="960" dirty="0"/>
          </a:p>
        </p:txBody>
      </p:sp>
      <p:sp>
        <p:nvSpPr>
          <p:cNvPr id="26" name="Text 22"/>
          <p:cNvSpPr txBox="1"/>
          <p:nvPr/>
        </p:nvSpPr>
        <p:spPr>
          <a:xfrm>
            <a:off x="7924648" y="2761488"/>
            <a:ext cx="360868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SE LEE EN VOZ ALTA</a:t>
            </a:r>
            <a:endParaRPr lang="en-US" sz="960" dirty="0"/>
          </a:p>
        </p:txBody>
      </p:sp>
      <p:sp>
        <p:nvSpPr>
          <p:cNvPr id="27" name="Shape 23"/>
          <p:cNvSpPr/>
          <p:nvPr/>
        </p:nvSpPr>
        <p:spPr>
          <a:xfrm>
            <a:off x="7924648" y="3035808"/>
            <a:ext cx="3608680" cy="1627632"/>
          </a:xfrm>
          <a:prstGeom prst="rect">
            <a:avLst/>
          </a:prstGeom>
          <a:solidFill>
            <a:srgbClr val="F2E7D9"/>
          </a:solidFill>
          <a:ln w="12700">
            <a:solidFill>
              <a:srgbClr val="F2E7D9"/>
            </a:solidFill>
            <a:prstDash val="solid"/>
          </a:ln>
        </p:spPr>
      </p:sp>
      <p:sp>
        <p:nvSpPr>
          <p:cNvPr id="28" name="Shape 24"/>
          <p:cNvSpPr/>
          <p:nvPr/>
        </p:nvSpPr>
        <p:spPr>
          <a:xfrm>
            <a:off x="7924648" y="3035808"/>
            <a:ext cx="54864" cy="1627632"/>
          </a:xfrm>
          <a:prstGeom prst="rect">
            <a:avLst/>
          </a:prstGeom>
          <a:solidFill>
            <a:srgbClr val="B3181E"/>
          </a:solidFill>
          <a:ln w="12700">
            <a:solidFill>
              <a:srgbClr val="B3181E"/>
            </a:solidFill>
            <a:prstDash val="solid"/>
          </a:ln>
        </p:spPr>
      </p:sp>
      <p:sp>
        <p:nvSpPr>
          <p:cNvPr id="29" name="Text 25"/>
          <p:cNvSpPr txBox="1"/>
          <p:nvPr/>
        </p:nvSpPr>
        <p:spPr>
          <a:xfrm>
            <a:off x="8162392" y="3200400"/>
            <a:ext cx="3242920" cy="457200"/>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[object Object]</a:t>
            </a:r>
            <a:endParaRPr lang="en-US" sz="2000" dirty="0"/>
          </a:p>
        </p:txBody>
      </p:sp>
      <p:sp>
        <p:nvSpPr>
          <p:cNvPr id="30" name="Text 26"/>
          <p:cNvSpPr txBox="1"/>
          <p:nvPr/>
        </p:nvSpPr>
        <p:spPr>
          <a:xfrm>
            <a:off x="8162392" y="3749040"/>
            <a:ext cx="3206344" cy="822960"/>
          </a:xfrm>
          <a:prstGeom prst="rect">
            <a:avLst/>
          </a:prstGeom>
          <a:noFill/>
          <a:ln/>
        </p:spPr>
        <p:txBody>
          <a:bodyPr wrap="square" lIns="0" tIns="0" rIns="0" bIns="0" rtlCol="0" anchor="t"/>
          <a:lstStyle/>
          <a:p>
            <a:pPr algn="l" indent="0" marL="0">
              <a:lnSpc>
                <a:spcPct val="108000"/>
              </a:lnSpc>
              <a:buNone/>
            </a:pPr>
            <a:r>
              <a:rPr lang="en-US" sz="1100" dirty="0">
                <a:solidFill>
                  <a:srgbClr val="243B53"/>
                </a:solidFill>
                <a:latin typeface="Aptos" pitchFamily="34" charset="0"/>
                <a:ea typeface="Aptos" pitchFamily="34" charset="-122"/>
                <a:cs typeface="Aptos" pitchFamily="34" charset="-120"/>
              </a:rPr>
              <a:t>Ninguna regla automática puede saber que eso no le sirve a nadie.</a:t>
            </a:r>
            <a:endParaRPr lang="en-US" sz="1100" dirty="0"/>
          </a:p>
        </p:txBody>
      </p:sp>
      <p:sp>
        <p:nvSpPr>
          <p:cNvPr id="31" name="Shape 27"/>
          <p:cNvSpPr/>
          <p:nvPr/>
        </p:nvSpPr>
        <p:spPr>
          <a:xfrm>
            <a:off x="4133088" y="4828032"/>
            <a:ext cx="7400239" cy="621792"/>
          </a:xfrm>
          <a:prstGeom prst="rect">
            <a:avLst/>
          </a:prstGeom>
          <a:solidFill>
            <a:srgbClr val="1D3A57"/>
          </a:solidFill>
          <a:ln w="12700">
            <a:solidFill>
              <a:srgbClr val="1D3A57"/>
            </a:solidFill>
            <a:prstDash val="solid"/>
          </a:ln>
        </p:spPr>
      </p:sp>
      <p:sp>
        <p:nvSpPr>
          <p:cNvPr id="32" name="Text 28"/>
          <p:cNvSpPr txBox="1"/>
          <p:nvPr/>
        </p:nvSpPr>
        <p:spPr>
          <a:xfrm>
            <a:off x="4370832" y="4864608"/>
            <a:ext cx="7034479" cy="548640"/>
          </a:xfrm>
          <a:prstGeom prst="rect">
            <a:avLst/>
          </a:prstGeom>
          <a:noFill/>
          <a:ln/>
        </p:spPr>
        <p:txBody>
          <a:bodyPr wrap="square" lIns="0" tIns="0" rIns="0" bIns="0" rtlCol="0" anchor="ctr"/>
          <a:lstStyle/>
          <a:p>
            <a:pPr algn="l" indent="0" marL="0">
              <a:buNone/>
            </a:pPr>
            <a:r>
              <a:rPr lang="en-US" sz="1240" b="1" dirty="0">
                <a:solidFill>
                  <a:srgbClr val="FFFFFF"/>
                </a:solidFill>
                <a:latin typeface="Aptos" pitchFamily="34" charset="0"/>
                <a:ea typeface="Aptos" pitchFamily="34" charset="-122"/>
                <a:cs typeface="Aptos" pitchFamily="34" charset="-120"/>
              </a:rPr>
              <a:t>Resultado de axe-core con este mensaje en pantalla: cero violaciones.</a:t>
            </a:r>
            <a:endParaRPr lang="en-US" sz="1240" dirty="0"/>
          </a:p>
        </p:txBody>
      </p:sp>
      <p:sp>
        <p:nvSpPr>
          <p:cNvPr id="33"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 que el mensaje dice, y si le sirve a quien lo escucha, es un asunto de requisito.</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LO QUE SE RECORRE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reserva completa, sin tocar el mouse</a:t>
            </a:r>
            <a:endParaRPr lang="en-US" sz="2800" dirty="0"/>
          </a:p>
        </p:txBody>
      </p:sp>
      <p:sp>
        <p:nvSpPr>
          <p:cNvPr id="10" name="Shape 7"/>
          <p:cNvSpPr/>
          <p:nvPr/>
        </p:nvSpPr>
        <p:spPr>
          <a:xfrm>
            <a:off x="658368" y="1682496"/>
            <a:ext cx="7040880" cy="3650894"/>
          </a:xfrm>
          <a:prstGeom prst="roundRect">
            <a:avLst>
              <a:gd name="adj" fmla="val 1252"/>
            </a:avLst>
          </a:prstGeom>
          <a:solidFill>
            <a:srgbClr val="102A43"/>
          </a:solidFill>
          <a:ln w="12700">
            <a:solidFill>
              <a:srgbClr val="102A43"/>
            </a:solidFill>
            <a:prstDash val="solid"/>
          </a:ln>
        </p:spPr>
      </p:sp>
      <p:sp>
        <p:nvSpPr>
          <p:cNvPr id="11" name="Shape 8"/>
          <p:cNvSpPr/>
          <p:nvPr/>
        </p:nvSpPr>
        <p:spPr>
          <a:xfrm>
            <a:off x="658368" y="2039112"/>
            <a:ext cx="7040880" cy="9144"/>
          </a:xfrm>
          <a:prstGeom prst="rect">
            <a:avLst/>
          </a:prstGeom>
          <a:solidFill>
            <a:srgbClr val="284B75"/>
          </a:solidFill>
          <a:ln w="12700">
            <a:solidFill>
              <a:srgbClr val="284B75"/>
            </a:solidFill>
            <a:prstDash val="solid"/>
          </a:ln>
        </p:spPr>
      </p:sp>
      <p:sp>
        <p:nvSpPr>
          <p:cNvPr id="12" name="Text 9"/>
          <p:cNvSpPr/>
          <p:nvPr/>
        </p:nvSpPr>
        <p:spPr>
          <a:xfrm>
            <a:off x="841248" y="1773936"/>
            <a:ext cx="667512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pruebas/teclado.spec.ts</a:t>
            </a:r>
            <a:endParaRPr lang="en-US" sz="960" dirty="0"/>
          </a:p>
        </p:txBody>
      </p:sp>
      <p:sp>
        <p:nvSpPr>
          <p:cNvPr id="13" name="Shape 10"/>
          <p:cNvSpPr/>
          <p:nvPr/>
        </p:nvSpPr>
        <p:spPr>
          <a:xfrm>
            <a:off x="713232" y="2732380"/>
            <a:ext cx="6528816" cy="135965"/>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582162"/>
            <a:ext cx="6528816" cy="135965"/>
          </a:xfrm>
          <a:prstGeom prst="rect">
            <a:avLst/>
          </a:prstGeom>
          <a:solidFill>
            <a:srgbClr val="E0BC5A">
              <a:alpha val="28000"/>
            </a:srgbClr>
          </a:solidFill>
          <a:ln w="12700">
            <a:solidFill>
              <a:srgbClr val="E0BC5A">
                <a:alpha val="0"/>
              </a:srgbClr>
            </a:solidFill>
            <a:prstDash val="solid"/>
          </a:ln>
        </p:spPr>
      </p:sp>
      <p:sp>
        <p:nvSpPr>
          <p:cNvPr id="15" name="Shape 12"/>
          <p:cNvSpPr/>
          <p:nvPr/>
        </p:nvSpPr>
        <p:spPr>
          <a:xfrm>
            <a:off x="713232" y="4290314"/>
            <a:ext cx="6528816" cy="135965"/>
          </a:xfrm>
          <a:prstGeom prst="rect">
            <a:avLst/>
          </a:prstGeom>
          <a:solidFill>
            <a:srgbClr val="E0BC5A">
              <a:alpha val="28000"/>
            </a:srgbClr>
          </a:solidFill>
          <a:ln w="12700">
            <a:solidFill>
              <a:srgbClr val="E0BC5A">
                <a:alpha val="0"/>
              </a:srgbClr>
            </a:solidFill>
            <a:prstDash val="solid"/>
          </a:ln>
        </p:spPr>
      </p:sp>
      <p:sp>
        <p:nvSpPr>
          <p:cNvPr id="16" name="Shape 13"/>
          <p:cNvSpPr/>
          <p:nvPr/>
        </p:nvSpPr>
        <p:spPr>
          <a:xfrm>
            <a:off x="713232" y="4715205"/>
            <a:ext cx="6528816" cy="135965"/>
          </a:xfrm>
          <a:prstGeom prst="rect">
            <a:avLst/>
          </a:prstGeom>
          <a:solidFill>
            <a:srgbClr val="2E7D4F">
              <a:alpha val="28000"/>
            </a:srgbClr>
          </a:solidFill>
          <a:ln w="12700">
            <a:solidFill>
              <a:srgbClr val="2E7D4F">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76272"/>
            <a:ext cx="6309360" cy="3029102"/>
          </a:xfrm>
          <a:prstGeom prst="rect">
            <a:avLst/>
          </a:prstGeom>
        </p:spPr>
      </p:pic>
      <p:sp>
        <p:nvSpPr>
          <p:cNvPr id="18" name="Shape 14"/>
          <p:cNvSpPr/>
          <p:nvPr/>
        </p:nvSpPr>
        <p:spPr>
          <a:xfrm>
            <a:off x="7405498" y="2729714"/>
            <a:ext cx="130300" cy="130300"/>
          </a:xfrm>
          <a:prstGeom prst="ellipse">
            <a:avLst/>
          </a:prstGeom>
          <a:solidFill>
            <a:srgbClr val="E0BC5A"/>
          </a:solidFill>
          <a:ln w="12700">
            <a:solidFill>
              <a:srgbClr val="E0BC5A"/>
            </a:solidFill>
            <a:prstDash val="solid"/>
          </a:ln>
        </p:spPr>
      </p:sp>
      <p:sp>
        <p:nvSpPr>
          <p:cNvPr id="19" name="Text 15"/>
          <p:cNvSpPr/>
          <p:nvPr/>
        </p:nvSpPr>
        <p:spPr>
          <a:xfrm>
            <a:off x="7414642" y="2738858"/>
            <a:ext cx="112012" cy="112012"/>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0" name="Shape 16"/>
          <p:cNvSpPr/>
          <p:nvPr/>
        </p:nvSpPr>
        <p:spPr>
          <a:xfrm>
            <a:off x="7405498" y="3579496"/>
            <a:ext cx="130300" cy="130300"/>
          </a:xfrm>
          <a:prstGeom prst="ellipse">
            <a:avLst/>
          </a:prstGeom>
          <a:solidFill>
            <a:srgbClr val="E0BC5A"/>
          </a:solidFill>
          <a:ln w="12700">
            <a:solidFill>
              <a:srgbClr val="E0BC5A"/>
            </a:solidFill>
            <a:prstDash val="solid"/>
          </a:ln>
        </p:spPr>
      </p:sp>
      <p:sp>
        <p:nvSpPr>
          <p:cNvPr id="21" name="Text 17"/>
          <p:cNvSpPr/>
          <p:nvPr/>
        </p:nvSpPr>
        <p:spPr>
          <a:xfrm>
            <a:off x="7414642" y="3588640"/>
            <a:ext cx="112012" cy="112012"/>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2" name="Shape 18"/>
          <p:cNvSpPr/>
          <p:nvPr/>
        </p:nvSpPr>
        <p:spPr>
          <a:xfrm>
            <a:off x="7405498" y="4287648"/>
            <a:ext cx="130300" cy="130300"/>
          </a:xfrm>
          <a:prstGeom prst="ellipse">
            <a:avLst/>
          </a:prstGeom>
          <a:solidFill>
            <a:srgbClr val="E0BC5A"/>
          </a:solidFill>
          <a:ln w="12700">
            <a:solidFill>
              <a:srgbClr val="E0BC5A"/>
            </a:solidFill>
            <a:prstDash val="solid"/>
          </a:ln>
        </p:spPr>
      </p:sp>
      <p:sp>
        <p:nvSpPr>
          <p:cNvPr id="23" name="Text 19"/>
          <p:cNvSpPr/>
          <p:nvPr/>
        </p:nvSpPr>
        <p:spPr>
          <a:xfrm>
            <a:off x="7414642" y="4296792"/>
            <a:ext cx="112012" cy="112012"/>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3</a:t>
            </a:r>
            <a:endParaRPr lang="en-US" sz="940" dirty="0"/>
          </a:p>
        </p:txBody>
      </p:sp>
      <p:sp>
        <p:nvSpPr>
          <p:cNvPr id="24" name="Shape 20"/>
          <p:cNvSpPr/>
          <p:nvPr/>
        </p:nvSpPr>
        <p:spPr>
          <a:xfrm>
            <a:off x="7405498" y="4712539"/>
            <a:ext cx="130300" cy="130300"/>
          </a:xfrm>
          <a:prstGeom prst="ellipse">
            <a:avLst/>
          </a:prstGeom>
          <a:solidFill>
            <a:srgbClr val="2E7D4F"/>
          </a:solidFill>
          <a:ln w="12700">
            <a:solidFill>
              <a:srgbClr val="2E7D4F"/>
            </a:solidFill>
            <a:prstDash val="solid"/>
          </a:ln>
        </p:spPr>
      </p:sp>
      <p:sp>
        <p:nvSpPr>
          <p:cNvPr id="25" name="Text 21"/>
          <p:cNvSpPr/>
          <p:nvPr/>
        </p:nvSpPr>
        <p:spPr>
          <a:xfrm>
            <a:off x="7414642" y="4721683"/>
            <a:ext cx="112012" cy="112012"/>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26" name="Shape 22"/>
          <p:cNvSpPr/>
          <p:nvPr/>
        </p:nvSpPr>
        <p:spPr>
          <a:xfrm>
            <a:off x="7991856" y="1865376"/>
            <a:ext cx="256032" cy="256032"/>
          </a:xfrm>
          <a:prstGeom prst="ellipse">
            <a:avLst/>
          </a:prstGeom>
          <a:solidFill>
            <a:srgbClr val="E0BC5A"/>
          </a:solidFill>
          <a:ln w="12700">
            <a:solidFill>
              <a:srgbClr val="E0BC5A"/>
            </a:solidFill>
            <a:prstDash val="solid"/>
          </a:ln>
        </p:spPr>
      </p:sp>
      <p:sp>
        <p:nvSpPr>
          <p:cNvPr id="27" name="Text 23"/>
          <p:cNvSpPr/>
          <p:nvPr/>
        </p:nvSpPr>
        <p:spPr>
          <a:xfrm>
            <a:off x="8001000" y="1874520"/>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8" name="Shape 24"/>
          <p:cNvSpPr/>
          <p:nvPr/>
        </p:nvSpPr>
        <p:spPr>
          <a:xfrm>
            <a:off x="8357616" y="1773936"/>
            <a:ext cx="1097280" cy="438912"/>
          </a:xfrm>
          <a:prstGeom prst="rect">
            <a:avLst/>
          </a:prstGeom>
          <a:solidFill>
            <a:srgbClr val="FFFFFF"/>
          </a:solidFill>
          <a:ln w="12700">
            <a:solidFill>
              <a:srgbClr val="D8CFC4"/>
            </a:solidFill>
            <a:prstDash val="solid"/>
          </a:ln>
        </p:spPr>
      </p:sp>
      <p:sp>
        <p:nvSpPr>
          <p:cNvPr id="29" name="Text 25"/>
          <p:cNvSpPr txBox="1"/>
          <p:nvPr/>
        </p:nvSpPr>
        <p:spPr>
          <a:xfrm>
            <a:off x="8357616" y="1810512"/>
            <a:ext cx="1097280" cy="365760"/>
          </a:xfrm>
          <a:prstGeom prst="rect">
            <a:avLst/>
          </a:prstGeom>
          <a:noFill/>
          <a:ln/>
        </p:spPr>
        <p:txBody>
          <a:bodyPr wrap="square" lIns="0" tIns="0" rIns="0" bIns="0" rtlCol="0" anchor="ctr"/>
          <a:lstStyle/>
          <a:p>
            <a:pPr algn="ctr" indent="0" marL="0">
              <a:buNone/>
            </a:pPr>
            <a:r>
              <a:rPr lang="en-US" sz="1060" b="1" dirty="0">
                <a:solidFill>
                  <a:srgbClr val="243B53"/>
                </a:solidFill>
                <a:latin typeface="Consolas" pitchFamily="34" charset="0"/>
                <a:ea typeface="Consolas" pitchFamily="34" charset="-122"/>
                <a:cs typeface="Consolas" pitchFamily="34" charset="-120"/>
              </a:rPr>
              <a:t>Tab</a:t>
            </a:r>
            <a:endParaRPr lang="en-US" sz="1060" dirty="0"/>
          </a:p>
        </p:txBody>
      </p:sp>
      <p:sp>
        <p:nvSpPr>
          <p:cNvPr id="30" name="Text 26"/>
          <p:cNvSpPr txBox="1"/>
          <p:nvPr/>
        </p:nvSpPr>
        <p:spPr>
          <a:xfrm>
            <a:off x="9564624" y="1700784"/>
            <a:ext cx="1968703" cy="60350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Mueve el foco —el campo activo— al siguiente campo.</a:t>
            </a:r>
            <a:endParaRPr lang="en-US" sz="960" dirty="0"/>
          </a:p>
        </p:txBody>
      </p:sp>
      <p:sp>
        <p:nvSpPr>
          <p:cNvPr id="31" name="Shape 27"/>
          <p:cNvSpPr/>
          <p:nvPr/>
        </p:nvSpPr>
        <p:spPr>
          <a:xfrm>
            <a:off x="7991856" y="2633472"/>
            <a:ext cx="256032" cy="256032"/>
          </a:xfrm>
          <a:prstGeom prst="ellipse">
            <a:avLst/>
          </a:prstGeom>
          <a:solidFill>
            <a:srgbClr val="E0BC5A"/>
          </a:solidFill>
          <a:ln w="12700">
            <a:solidFill>
              <a:srgbClr val="E0BC5A"/>
            </a:solidFill>
            <a:prstDash val="solid"/>
          </a:ln>
        </p:spPr>
      </p:sp>
      <p:sp>
        <p:nvSpPr>
          <p:cNvPr id="32" name="Text 28"/>
          <p:cNvSpPr/>
          <p:nvPr/>
        </p:nvSpPr>
        <p:spPr>
          <a:xfrm>
            <a:off x="8001000" y="2642616"/>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33" name="Shape 29"/>
          <p:cNvSpPr/>
          <p:nvPr/>
        </p:nvSpPr>
        <p:spPr>
          <a:xfrm>
            <a:off x="8357616" y="2542032"/>
            <a:ext cx="1097280" cy="438912"/>
          </a:xfrm>
          <a:prstGeom prst="rect">
            <a:avLst/>
          </a:prstGeom>
          <a:solidFill>
            <a:srgbClr val="FFFFFF"/>
          </a:solidFill>
          <a:ln w="12700">
            <a:solidFill>
              <a:srgbClr val="D8CFC4"/>
            </a:solidFill>
            <a:prstDash val="solid"/>
          </a:ln>
        </p:spPr>
      </p:sp>
      <p:sp>
        <p:nvSpPr>
          <p:cNvPr id="34" name="Text 30"/>
          <p:cNvSpPr txBox="1"/>
          <p:nvPr/>
        </p:nvSpPr>
        <p:spPr>
          <a:xfrm>
            <a:off x="8357616" y="2578608"/>
            <a:ext cx="1097280" cy="365760"/>
          </a:xfrm>
          <a:prstGeom prst="rect">
            <a:avLst/>
          </a:prstGeom>
          <a:noFill/>
          <a:ln/>
        </p:spPr>
        <p:txBody>
          <a:bodyPr wrap="square" lIns="0" tIns="0" rIns="0" bIns="0" rtlCol="0" anchor="ctr"/>
          <a:lstStyle/>
          <a:p>
            <a:pPr algn="ctr" indent="0" marL="0">
              <a:buNone/>
            </a:pPr>
            <a:r>
              <a:rPr lang="en-US" sz="1060" b="1" dirty="0">
                <a:solidFill>
                  <a:srgbClr val="243B53"/>
                </a:solidFill>
                <a:latin typeface="Consolas" pitchFamily="34" charset="0"/>
                <a:ea typeface="Consolas" pitchFamily="34" charset="-122"/>
                <a:cs typeface="Consolas" pitchFamily="34" charset="-120"/>
              </a:rPr>
              <a:t>ArrowDown</a:t>
            </a:r>
            <a:endParaRPr lang="en-US" sz="1060" dirty="0"/>
          </a:p>
        </p:txBody>
      </p:sp>
      <p:sp>
        <p:nvSpPr>
          <p:cNvPr id="35" name="Text 31"/>
          <p:cNvSpPr txBox="1"/>
          <p:nvPr/>
        </p:nvSpPr>
        <p:spPr>
          <a:xfrm>
            <a:off x="9564624" y="2468880"/>
            <a:ext cx="1968703" cy="60350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Baja una opción en el selector de bloque: de 1 a 4 con tres pulsaciones.</a:t>
            </a:r>
            <a:endParaRPr lang="en-US" sz="960" dirty="0"/>
          </a:p>
        </p:txBody>
      </p:sp>
      <p:sp>
        <p:nvSpPr>
          <p:cNvPr id="36" name="Shape 32"/>
          <p:cNvSpPr/>
          <p:nvPr/>
        </p:nvSpPr>
        <p:spPr>
          <a:xfrm>
            <a:off x="7991856" y="3401568"/>
            <a:ext cx="256032" cy="256032"/>
          </a:xfrm>
          <a:prstGeom prst="ellipse">
            <a:avLst/>
          </a:prstGeom>
          <a:solidFill>
            <a:srgbClr val="E0BC5A"/>
          </a:solidFill>
          <a:ln w="12700">
            <a:solidFill>
              <a:srgbClr val="E0BC5A"/>
            </a:solidFill>
            <a:prstDash val="solid"/>
          </a:ln>
        </p:spPr>
      </p:sp>
      <p:sp>
        <p:nvSpPr>
          <p:cNvPr id="37" name="Text 33"/>
          <p:cNvSpPr/>
          <p:nvPr/>
        </p:nvSpPr>
        <p:spPr>
          <a:xfrm>
            <a:off x="8001000" y="3410712"/>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3</a:t>
            </a:r>
            <a:endParaRPr lang="en-US" sz="940" dirty="0"/>
          </a:p>
        </p:txBody>
      </p:sp>
      <p:sp>
        <p:nvSpPr>
          <p:cNvPr id="38" name="Shape 34"/>
          <p:cNvSpPr/>
          <p:nvPr/>
        </p:nvSpPr>
        <p:spPr>
          <a:xfrm>
            <a:off x="8357616" y="3310128"/>
            <a:ext cx="1097280" cy="438912"/>
          </a:xfrm>
          <a:prstGeom prst="rect">
            <a:avLst/>
          </a:prstGeom>
          <a:solidFill>
            <a:srgbClr val="FFFFFF"/>
          </a:solidFill>
          <a:ln w="12700">
            <a:solidFill>
              <a:srgbClr val="D8CFC4"/>
            </a:solidFill>
            <a:prstDash val="solid"/>
          </a:ln>
        </p:spPr>
      </p:sp>
      <p:sp>
        <p:nvSpPr>
          <p:cNvPr id="39" name="Text 35"/>
          <p:cNvSpPr txBox="1"/>
          <p:nvPr/>
        </p:nvSpPr>
        <p:spPr>
          <a:xfrm>
            <a:off x="8357616" y="3346704"/>
            <a:ext cx="1097280" cy="365760"/>
          </a:xfrm>
          <a:prstGeom prst="rect">
            <a:avLst/>
          </a:prstGeom>
          <a:noFill/>
          <a:ln/>
        </p:spPr>
        <p:txBody>
          <a:bodyPr wrap="square" lIns="0" tIns="0" rIns="0" bIns="0" rtlCol="0" anchor="ctr"/>
          <a:lstStyle/>
          <a:p>
            <a:pPr algn="ctr" indent="0" marL="0">
              <a:buNone/>
            </a:pPr>
            <a:r>
              <a:rPr lang="en-US" sz="1060" b="1" dirty="0">
                <a:solidFill>
                  <a:srgbClr val="243B53"/>
                </a:solidFill>
                <a:latin typeface="Consolas" pitchFamily="34" charset="0"/>
                <a:ea typeface="Consolas" pitchFamily="34" charset="-122"/>
                <a:cs typeface="Consolas" pitchFamily="34" charset="-120"/>
              </a:rPr>
              <a:t>Enter</a:t>
            </a:r>
            <a:endParaRPr lang="en-US" sz="1060" dirty="0"/>
          </a:p>
        </p:txBody>
      </p:sp>
      <p:sp>
        <p:nvSpPr>
          <p:cNvPr id="40" name="Text 36"/>
          <p:cNvSpPr txBox="1"/>
          <p:nvPr/>
        </p:nvSpPr>
        <p:spPr>
          <a:xfrm>
            <a:off x="9564624" y="3236976"/>
            <a:ext cx="1968703" cy="603504"/>
          </a:xfrm>
          <a:prstGeom prst="rect">
            <a:avLst/>
          </a:prstGeom>
          <a:noFill/>
          <a:ln/>
        </p:spPr>
        <p:txBody>
          <a:bodyPr wrap="square" lIns="0" tIns="0" rIns="0" bIns="0" rtlCol="0" anchor="ctr"/>
          <a:lstStyle/>
          <a:p>
            <a:pPr algn="l" indent="0" marL="0">
              <a:lnSpc>
                <a:spcPct val="102000"/>
              </a:lnSpc>
              <a:buNone/>
            </a:pPr>
            <a:r>
              <a:rPr lang="en-US" sz="960" dirty="0">
                <a:solidFill>
                  <a:srgbClr val="243B53"/>
                </a:solidFill>
                <a:latin typeface="Aptos" pitchFamily="34" charset="0"/>
                <a:ea typeface="Aptos" pitchFamily="34" charset="-122"/>
                <a:cs typeface="Aptos" pitchFamily="34" charset="-120"/>
              </a:rPr>
              <a:t>Envía el formulario.</a:t>
            </a:r>
            <a:endParaRPr lang="en-US" sz="960" dirty="0"/>
          </a:p>
        </p:txBody>
      </p:sp>
      <p:sp>
        <p:nvSpPr>
          <p:cNvPr id="41" name="Shape 37"/>
          <p:cNvSpPr/>
          <p:nvPr/>
        </p:nvSpPr>
        <p:spPr>
          <a:xfrm>
            <a:off x="7973568" y="4078224"/>
            <a:ext cx="3559759" cy="585216"/>
          </a:xfrm>
          <a:prstGeom prst="rect">
            <a:avLst/>
          </a:prstGeom>
          <a:solidFill>
            <a:srgbClr val="2E7D4F"/>
          </a:solidFill>
          <a:ln w="12700">
            <a:solidFill>
              <a:srgbClr val="2E7D4F"/>
            </a:solidFill>
            <a:prstDash val="solid"/>
          </a:ln>
        </p:spPr>
      </p:sp>
      <p:sp>
        <p:nvSpPr>
          <p:cNvPr id="42" name="Shape 38"/>
          <p:cNvSpPr/>
          <p:nvPr/>
        </p:nvSpPr>
        <p:spPr>
          <a:xfrm>
            <a:off x="8156448" y="4242816"/>
            <a:ext cx="256032" cy="256032"/>
          </a:xfrm>
          <a:prstGeom prst="ellipse">
            <a:avLst/>
          </a:prstGeom>
          <a:solidFill>
            <a:srgbClr val="FFFFFF"/>
          </a:solidFill>
          <a:ln w="12700">
            <a:solidFill>
              <a:srgbClr val="FFFFFF"/>
            </a:solidFill>
            <a:prstDash val="solid"/>
          </a:ln>
        </p:spPr>
      </p:sp>
      <p:sp>
        <p:nvSpPr>
          <p:cNvPr id="43" name="Text 39"/>
          <p:cNvSpPr/>
          <p:nvPr/>
        </p:nvSpPr>
        <p:spPr>
          <a:xfrm>
            <a:off x="8165592" y="4251960"/>
            <a:ext cx="237744" cy="237744"/>
          </a:xfrm>
          <a:prstGeom prst="rect">
            <a:avLst/>
          </a:prstGeom>
          <a:noFill/>
          <a:ln/>
        </p:spPr>
        <p:txBody>
          <a:bodyPr wrap="square" lIns="0" tIns="0" rIns="0" bIns="0" rtlCol="0" anchor="ctr"/>
          <a:lstStyle/>
          <a:p>
            <a:pPr algn="ctr" indent="0" marL="0">
              <a:buNone/>
            </a:pPr>
            <a:r>
              <a:rPr lang="en-US" sz="940" b="1" dirty="0">
                <a:solidFill>
                  <a:srgbClr val="2E7D4F"/>
                </a:solidFill>
                <a:latin typeface="Aptos" pitchFamily="34" charset="0"/>
                <a:ea typeface="Aptos" pitchFamily="34" charset="-122"/>
                <a:cs typeface="Aptos" pitchFamily="34" charset="-120"/>
              </a:rPr>
              <a:t>4</a:t>
            </a:r>
            <a:endParaRPr lang="en-US" sz="940" dirty="0"/>
          </a:p>
        </p:txBody>
      </p:sp>
      <p:sp>
        <p:nvSpPr>
          <p:cNvPr id="44" name="Text 40"/>
          <p:cNvSpPr txBox="1"/>
          <p:nvPr/>
        </p:nvSpPr>
        <p:spPr>
          <a:xfrm>
            <a:off x="8540496" y="4133088"/>
            <a:ext cx="2864815" cy="475488"/>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Pasa en los tres navegadores.</a:t>
            </a:r>
            <a:endParaRPr lang="en-US" sz="1300" dirty="0"/>
          </a:p>
        </p:txBody>
      </p:sp>
      <p:sp>
        <p:nvSpPr>
          <p:cNvPr id="45" name="Shape 41"/>
          <p:cNvSpPr/>
          <p:nvPr/>
        </p:nvSpPr>
        <p:spPr>
          <a:xfrm>
            <a:off x="7973568" y="4809744"/>
            <a:ext cx="3559759" cy="621792"/>
          </a:xfrm>
          <a:prstGeom prst="rect">
            <a:avLst/>
          </a:prstGeom>
          <a:solidFill>
            <a:srgbClr val="FFFFFF"/>
          </a:solidFill>
          <a:ln w="12700">
            <a:solidFill>
              <a:srgbClr val="FFFFFF"/>
            </a:solidFill>
            <a:prstDash val="solid"/>
          </a:ln>
        </p:spPr>
      </p:sp>
      <p:sp>
        <p:nvSpPr>
          <p:cNvPr id="46" name="Shape 42"/>
          <p:cNvSpPr/>
          <p:nvPr/>
        </p:nvSpPr>
        <p:spPr>
          <a:xfrm>
            <a:off x="7973568" y="4809744"/>
            <a:ext cx="54864" cy="621792"/>
          </a:xfrm>
          <a:prstGeom prst="rect">
            <a:avLst/>
          </a:prstGeom>
          <a:solidFill>
            <a:srgbClr val="102A43"/>
          </a:solidFill>
          <a:ln w="12700">
            <a:solidFill>
              <a:srgbClr val="102A43"/>
            </a:solidFill>
            <a:prstDash val="solid"/>
          </a:ln>
        </p:spPr>
      </p:sp>
      <p:sp>
        <p:nvSpPr>
          <p:cNvPr id="47" name="Text 43"/>
          <p:cNvSpPr txBox="1"/>
          <p:nvPr/>
        </p:nvSpPr>
        <p:spPr>
          <a:xfrm>
            <a:off x="8174736" y="4864608"/>
            <a:ext cx="3230575" cy="201168"/>
          </a:xfrm>
          <a:prstGeom prst="rect">
            <a:avLst/>
          </a:prstGeom>
          <a:noFill/>
          <a:ln/>
        </p:spPr>
        <p:txBody>
          <a:bodyPr wrap="square" lIns="0" tIns="0" rIns="0" bIns="0" rtlCol="0" anchor="t"/>
          <a:lstStyle/>
          <a:p>
            <a:pPr algn="l" indent="0" marL="0">
              <a:buNone/>
            </a:pPr>
            <a:r>
              <a:rPr lang="en-US" sz="1000" b="1" dirty="0">
                <a:solidFill>
                  <a:srgbClr val="102A43"/>
                </a:solidFill>
                <a:latin typeface="Aptos" pitchFamily="34" charset="0"/>
                <a:ea typeface="Aptos" pitchFamily="34" charset="-122"/>
                <a:cs typeface="Aptos" pitchFamily="34" charset="-120"/>
              </a:rPr>
              <a:t>WCAG 2.1.1 · nivel A</a:t>
            </a:r>
            <a:endParaRPr lang="en-US" sz="1000" dirty="0"/>
          </a:p>
        </p:txBody>
      </p:sp>
      <p:sp>
        <p:nvSpPr>
          <p:cNvPr id="48" name="Text 44"/>
          <p:cNvSpPr txBox="1"/>
          <p:nvPr/>
        </p:nvSpPr>
        <p:spPr>
          <a:xfrm>
            <a:off x="8174736" y="5065776"/>
            <a:ext cx="3230575" cy="347472"/>
          </a:xfrm>
          <a:prstGeom prst="rect">
            <a:avLst/>
          </a:prstGeom>
          <a:noFill/>
          <a:ln/>
        </p:spPr>
        <p:txBody>
          <a:bodyPr wrap="square" lIns="0" tIns="0" rIns="0" bIns="0" rtlCol="0" anchor="t"/>
          <a:lstStyle/>
          <a:p>
            <a:pPr algn="l" indent="0" marL="0">
              <a:lnSpc>
                <a:spcPct val="102000"/>
              </a:lnSpc>
              <a:buNone/>
            </a:pPr>
            <a:r>
              <a:rPr lang="en-US" sz="900" dirty="0">
                <a:solidFill>
                  <a:srgbClr val="243B53"/>
                </a:solidFill>
                <a:latin typeface="Aptos" pitchFamily="34" charset="0"/>
                <a:ea typeface="Aptos" pitchFamily="34" charset="-122"/>
                <a:cs typeface="Aptos" pitchFamily="34" charset="-120"/>
              </a:rPr>
              <a:t>Toda la funcionalidad se puede operar con el teclado. axe-core no lo intenta: lo hace esta prueba.</a:t>
            </a:r>
            <a:endParaRPr lang="en-US" sz="900" dirty="0"/>
          </a:p>
        </p:txBody>
      </p:sp>
      <p:sp>
        <p:nvSpPr>
          <p:cNvPr id="49" name="Shape 45"/>
          <p:cNvSpPr/>
          <p:nvPr/>
        </p:nvSpPr>
        <p:spPr>
          <a:xfrm>
            <a:off x="7973568" y="5504688"/>
            <a:ext cx="3559759" cy="621792"/>
          </a:xfrm>
          <a:prstGeom prst="rect">
            <a:avLst/>
          </a:prstGeom>
          <a:solidFill>
            <a:srgbClr val="FFFFFF"/>
          </a:solidFill>
          <a:ln w="12700">
            <a:solidFill>
              <a:srgbClr val="FFFFFF"/>
            </a:solidFill>
            <a:prstDash val="solid"/>
          </a:ln>
        </p:spPr>
      </p:sp>
      <p:sp>
        <p:nvSpPr>
          <p:cNvPr id="50" name="Shape 46"/>
          <p:cNvSpPr/>
          <p:nvPr/>
        </p:nvSpPr>
        <p:spPr>
          <a:xfrm>
            <a:off x="7973568" y="5504688"/>
            <a:ext cx="54864" cy="621792"/>
          </a:xfrm>
          <a:prstGeom prst="rect">
            <a:avLst/>
          </a:prstGeom>
          <a:solidFill>
            <a:srgbClr val="102A43"/>
          </a:solidFill>
          <a:ln w="12700">
            <a:solidFill>
              <a:srgbClr val="102A43"/>
            </a:solidFill>
            <a:prstDash val="solid"/>
          </a:ln>
        </p:spPr>
      </p:sp>
      <p:sp>
        <p:nvSpPr>
          <p:cNvPr id="51" name="Text 47"/>
          <p:cNvSpPr txBox="1"/>
          <p:nvPr/>
        </p:nvSpPr>
        <p:spPr>
          <a:xfrm>
            <a:off x="8174736" y="5559552"/>
            <a:ext cx="3230575" cy="201168"/>
          </a:xfrm>
          <a:prstGeom prst="rect">
            <a:avLst/>
          </a:prstGeom>
          <a:noFill/>
          <a:ln/>
        </p:spPr>
        <p:txBody>
          <a:bodyPr wrap="square" lIns="0" tIns="0" rIns="0" bIns="0" rtlCol="0" anchor="t"/>
          <a:lstStyle/>
          <a:p>
            <a:pPr algn="l" indent="0" marL="0">
              <a:buNone/>
            </a:pPr>
            <a:r>
              <a:rPr lang="en-US" sz="1000" b="1" dirty="0">
                <a:solidFill>
                  <a:srgbClr val="102A43"/>
                </a:solidFill>
                <a:latin typeface="Aptos" pitchFamily="34" charset="0"/>
                <a:ea typeface="Aptos" pitchFamily="34" charset="-122"/>
                <a:cs typeface="Aptos" pitchFamily="34" charset="-120"/>
              </a:rPr>
              <a:t>WCAG 4.1.3 · nivel AA</a:t>
            </a:r>
            <a:endParaRPr lang="en-US" sz="1000" dirty="0"/>
          </a:p>
        </p:txBody>
      </p:sp>
      <p:sp>
        <p:nvSpPr>
          <p:cNvPr id="52" name="Text 48"/>
          <p:cNvSpPr txBox="1"/>
          <p:nvPr/>
        </p:nvSpPr>
        <p:spPr>
          <a:xfrm>
            <a:off x="8174736" y="5760720"/>
            <a:ext cx="3230575" cy="347472"/>
          </a:xfrm>
          <a:prstGeom prst="rect">
            <a:avLst/>
          </a:prstGeom>
          <a:noFill/>
          <a:ln/>
        </p:spPr>
        <p:txBody>
          <a:bodyPr wrap="square" lIns="0" tIns="0" rIns="0" bIns="0" rtlCol="0" anchor="t"/>
          <a:lstStyle/>
          <a:p>
            <a:pPr algn="l" indent="0" marL="0">
              <a:lnSpc>
                <a:spcPct val="102000"/>
              </a:lnSpc>
              <a:buNone/>
            </a:pPr>
            <a:r>
              <a:rPr lang="en-US" sz="900" dirty="0">
                <a:solidFill>
                  <a:srgbClr val="243B53"/>
                </a:solidFill>
                <a:latin typeface="Aptos" pitchFamily="34" charset="0"/>
                <a:ea typeface="Aptos" pitchFamily="34" charset="-122"/>
                <a:cs typeface="Aptos" pitchFamily="34" charset="-120"/>
              </a:rPr>
              <a:t>Mensajes de estado: role="status" hace que el lector anuncie el mensaje sin que la persona lo busque.</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DÓNDE CORRE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misma suite, tres motores</a:t>
            </a:r>
            <a:endParaRPr lang="en-US" sz="3000" dirty="0"/>
          </a:p>
        </p:txBody>
      </p:sp>
      <p:sp>
        <p:nvSpPr>
          <p:cNvPr id="10" name="Text 7"/>
          <p:cNvSpPr txBox="1"/>
          <p:nvPr/>
        </p:nvSpPr>
        <p:spPr>
          <a:xfrm>
            <a:off x="658368" y="1737360"/>
            <a:ext cx="512064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ISO/IEC 25010:2023 · FLEXIBILIDAD</a:t>
            </a:r>
            <a:endParaRPr lang="en-US" sz="960" dirty="0"/>
          </a:p>
        </p:txBody>
      </p:sp>
      <p:sp>
        <p:nvSpPr>
          <p:cNvPr id="11" name="Text 8"/>
          <p:cNvSpPr txBox="1"/>
          <p:nvPr/>
        </p:nvSpPr>
        <p:spPr>
          <a:xfrm>
            <a:off x="658368" y="1993392"/>
            <a:ext cx="5120640" cy="566928"/>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Reemplazó a la antigua portabilidad: adaptarse a otros entornos, instalarse, reemplazar a otro producto y, desde 2023, escalar.</a:t>
            </a:r>
            <a:endParaRPr lang="en-US" sz="1080" dirty="0"/>
          </a:p>
        </p:txBody>
      </p:sp>
      <p:sp>
        <p:nvSpPr>
          <p:cNvPr id="12" name="Shape 9"/>
          <p:cNvSpPr/>
          <p:nvPr/>
        </p:nvSpPr>
        <p:spPr>
          <a:xfrm>
            <a:off x="658368" y="2596896"/>
            <a:ext cx="5120640" cy="1436624"/>
          </a:xfrm>
          <a:prstGeom prst="roundRect">
            <a:avLst>
              <a:gd name="adj" fmla="val 3182"/>
            </a:avLst>
          </a:prstGeom>
          <a:solidFill>
            <a:srgbClr val="102A43"/>
          </a:solidFill>
          <a:ln w="12700">
            <a:solidFill>
              <a:srgbClr val="102A43"/>
            </a:solidFill>
            <a:prstDash val="solid"/>
          </a:ln>
        </p:spPr>
      </p:sp>
      <p:sp>
        <p:nvSpPr>
          <p:cNvPr id="13" name="Shape 10"/>
          <p:cNvSpPr/>
          <p:nvPr/>
        </p:nvSpPr>
        <p:spPr>
          <a:xfrm>
            <a:off x="658368" y="2953512"/>
            <a:ext cx="5120640" cy="9144"/>
          </a:xfrm>
          <a:prstGeom prst="rect">
            <a:avLst/>
          </a:prstGeom>
          <a:solidFill>
            <a:srgbClr val="284B75"/>
          </a:solidFill>
          <a:ln w="12700">
            <a:solidFill>
              <a:srgbClr val="284B75"/>
            </a:solidFill>
            <a:prstDash val="solid"/>
          </a:ln>
        </p:spPr>
      </p:sp>
      <p:sp>
        <p:nvSpPr>
          <p:cNvPr id="14" name="Text 11"/>
          <p:cNvSpPr/>
          <p:nvPr/>
        </p:nvSpPr>
        <p:spPr>
          <a:xfrm>
            <a:off x="841248" y="2688336"/>
            <a:ext cx="475488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playwright.config.ts</a:t>
            </a:r>
            <a:endParaRPr lang="en-US" sz="96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3090672"/>
            <a:ext cx="4791456" cy="814832"/>
          </a:xfrm>
          <a:prstGeom prst="rect">
            <a:avLst/>
          </a:prstGeom>
        </p:spPr>
      </p:pic>
      <p:sp>
        <p:nvSpPr>
          <p:cNvPr id="16" name="Shape 12"/>
          <p:cNvSpPr/>
          <p:nvPr/>
        </p:nvSpPr>
        <p:spPr>
          <a:xfrm>
            <a:off x="6053328" y="1737360"/>
            <a:ext cx="1753514" cy="932688"/>
          </a:xfrm>
          <a:prstGeom prst="rect">
            <a:avLst/>
          </a:prstGeom>
          <a:solidFill>
            <a:srgbClr val="FFFFFF"/>
          </a:solidFill>
          <a:ln w="12700">
            <a:solidFill>
              <a:srgbClr val="FFFFFF"/>
            </a:solidFill>
            <a:prstDash val="solid"/>
          </a:ln>
        </p:spPr>
      </p:sp>
      <p:sp>
        <p:nvSpPr>
          <p:cNvPr id="17" name="Shape 13"/>
          <p:cNvSpPr/>
          <p:nvPr/>
        </p:nvSpPr>
        <p:spPr>
          <a:xfrm>
            <a:off x="6053328" y="1737360"/>
            <a:ext cx="1753514" cy="54864"/>
          </a:xfrm>
          <a:prstGeom prst="rect">
            <a:avLst/>
          </a:prstGeom>
          <a:solidFill>
            <a:srgbClr val="102A43"/>
          </a:solidFill>
          <a:ln w="12700">
            <a:solidFill>
              <a:srgbClr val="102A43"/>
            </a:solidFill>
            <a:prstDash val="solid"/>
          </a:ln>
        </p:spPr>
      </p:sp>
      <p:sp>
        <p:nvSpPr>
          <p:cNvPr id="18" name="Text 14"/>
          <p:cNvSpPr txBox="1"/>
          <p:nvPr/>
        </p:nvSpPr>
        <p:spPr>
          <a:xfrm>
            <a:off x="6181344" y="1847088"/>
            <a:ext cx="1497482"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Chromium</a:t>
            </a:r>
            <a:endParaRPr lang="en-US" sz="1300" dirty="0"/>
          </a:p>
        </p:txBody>
      </p:sp>
      <p:sp>
        <p:nvSpPr>
          <p:cNvPr id="19" name="Text 15"/>
          <p:cNvSpPr txBox="1"/>
          <p:nvPr/>
        </p:nvSpPr>
        <p:spPr>
          <a:xfrm>
            <a:off x="6181344" y="2139696"/>
            <a:ext cx="1497482" cy="219456"/>
          </a:xfrm>
          <a:prstGeom prst="rect">
            <a:avLst/>
          </a:prstGeom>
          <a:noFill/>
          <a:ln/>
        </p:spPr>
        <p:txBody>
          <a:bodyPr wrap="square" lIns="0" tIns="0" rIns="0" bIns="0" rtlCol="0" anchor="t"/>
          <a:lstStyle/>
          <a:p>
            <a:pPr algn="l" indent="0" marL="0">
              <a:buNone/>
            </a:pPr>
            <a:r>
              <a:rPr lang="en-US" sz="1040" b="1" dirty="0">
                <a:solidFill>
                  <a:srgbClr val="2E7D4F"/>
                </a:solidFill>
                <a:latin typeface="Aptos" pitchFamily="34" charset="0"/>
                <a:ea typeface="Aptos" pitchFamily="34" charset="-122"/>
                <a:cs typeface="Aptos" pitchFamily="34" charset="-120"/>
              </a:rPr>
              <a:t>6 de 7 pasan</a:t>
            </a:r>
            <a:endParaRPr lang="en-US" sz="1040" dirty="0"/>
          </a:p>
        </p:txBody>
      </p:sp>
      <p:sp>
        <p:nvSpPr>
          <p:cNvPr id="20" name="Text 16"/>
          <p:cNvSpPr txBox="1"/>
          <p:nvPr/>
        </p:nvSpPr>
        <p:spPr>
          <a:xfrm>
            <a:off x="6181344" y="2377440"/>
            <a:ext cx="1497482" cy="219456"/>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el de Chrome y Edge</a:t>
            </a:r>
            <a:endParaRPr lang="en-US" sz="900" dirty="0"/>
          </a:p>
        </p:txBody>
      </p:sp>
      <p:sp>
        <p:nvSpPr>
          <p:cNvPr id="21" name="Shape 17"/>
          <p:cNvSpPr/>
          <p:nvPr/>
        </p:nvSpPr>
        <p:spPr>
          <a:xfrm>
            <a:off x="7916570" y="1737360"/>
            <a:ext cx="1753514" cy="932688"/>
          </a:xfrm>
          <a:prstGeom prst="rect">
            <a:avLst/>
          </a:prstGeom>
          <a:solidFill>
            <a:srgbClr val="FFFFFF"/>
          </a:solidFill>
          <a:ln w="12700">
            <a:solidFill>
              <a:srgbClr val="FFFFFF"/>
            </a:solidFill>
            <a:prstDash val="solid"/>
          </a:ln>
        </p:spPr>
      </p:sp>
      <p:sp>
        <p:nvSpPr>
          <p:cNvPr id="22" name="Shape 18"/>
          <p:cNvSpPr/>
          <p:nvPr/>
        </p:nvSpPr>
        <p:spPr>
          <a:xfrm>
            <a:off x="7916570" y="1737360"/>
            <a:ext cx="1753514" cy="54864"/>
          </a:xfrm>
          <a:prstGeom prst="rect">
            <a:avLst/>
          </a:prstGeom>
          <a:solidFill>
            <a:srgbClr val="102A43"/>
          </a:solidFill>
          <a:ln w="12700">
            <a:solidFill>
              <a:srgbClr val="102A43"/>
            </a:solidFill>
            <a:prstDash val="solid"/>
          </a:ln>
        </p:spPr>
      </p:sp>
      <p:sp>
        <p:nvSpPr>
          <p:cNvPr id="23" name="Text 19"/>
          <p:cNvSpPr txBox="1"/>
          <p:nvPr/>
        </p:nvSpPr>
        <p:spPr>
          <a:xfrm>
            <a:off x="8044586" y="1847088"/>
            <a:ext cx="1497482"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Firefox</a:t>
            </a:r>
            <a:endParaRPr lang="en-US" sz="1300" dirty="0"/>
          </a:p>
        </p:txBody>
      </p:sp>
      <p:sp>
        <p:nvSpPr>
          <p:cNvPr id="24" name="Text 20"/>
          <p:cNvSpPr txBox="1"/>
          <p:nvPr/>
        </p:nvSpPr>
        <p:spPr>
          <a:xfrm>
            <a:off x="8044586" y="2139696"/>
            <a:ext cx="1497482" cy="219456"/>
          </a:xfrm>
          <a:prstGeom prst="rect">
            <a:avLst/>
          </a:prstGeom>
          <a:noFill/>
          <a:ln/>
        </p:spPr>
        <p:txBody>
          <a:bodyPr wrap="square" lIns="0" tIns="0" rIns="0" bIns="0" rtlCol="0" anchor="t"/>
          <a:lstStyle/>
          <a:p>
            <a:pPr algn="l" indent="0" marL="0">
              <a:buNone/>
            </a:pPr>
            <a:r>
              <a:rPr lang="en-US" sz="1040" b="1" dirty="0">
                <a:solidFill>
                  <a:srgbClr val="2E7D4F"/>
                </a:solidFill>
                <a:latin typeface="Aptos" pitchFamily="34" charset="0"/>
                <a:ea typeface="Aptos" pitchFamily="34" charset="-122"/>
                <a:cs typeface="Aptos" pitchFamily="34" charset="-120"/>
              </a:rPr>
              <a:t>6 de 7 pasan</a:t>
            </a:r>
            <a:endParaRPr lang="en-US" sz="1040" dirty="0"/>
          </a:p>
        </p:txBody>
      </p:sp>
      <p:sp>
        <p:nvSpPr>
          <p:cNvPr id="25" name="Shape 21"/>
          <p:cNvSpPr/>
          <p:nvPr/>
        </p:nvSpPr>
        <p:spPr>
          <a:xfrm>
            <a:off x="9779813" y="1737360"/>
            <a:ext cx="1753514" cy="932688"/>
          </a:xfrm>
          <a:prstGeom prst="rect">
            <a:avLst/>
          </a:prstGeom>
          <a:solidFill>
            <a:srgbClr val="FFFFFF"/>
          </a:solidFill>
          <a:ln w="12700">
            <a:solidFill>
              <a:srgbClr val="FFFFFF"/>
            </a:solidFill>
            <a:prstDash val="solid"/>
          </a:ln>
        </p:spPr>
      </p:sp>
      <p:sp>
        <p:nvSpPr>
          <p:cNvPr id="26" name="Shape 22"/>
          <p:cNvSpPr/>
          <p:nvPr/>
        </p:nvSpPr>
        <p:spPr>
          <a:xfrm>
            <a:off x="9779813" y="1737360"/>
            <a:ext cx="1753514" cy="54864"/>
          </a:xfrm>
          <a:prstGeom prst="rect">
            <a:avLst/>
          </a:prstGeom>
          <a:solidFill>
            <a:srgbClr val="102A43"/>
          </a:solidFill>
          <a:ln w="12700">
            <a:solidFill>
              <a:srgbClr val="102A43"/>
            </a:solidFill>
            <a:prstDash val="solid"/>
          </a:ln>
        </p:spPr>
      </p:sp>
      <p:sp>
        <p:nvSpPr>
          <p:cNvPr id="27" name="Text 23"/>
          <p:cNvSpPr txBox="1"/>
          <p:nvPr/>
        </p:nvSpPr>
        <p:spPr>
          <a:xfrm>
            <a:off x="9907829" y="1847088"/>
            <a:ext cx="1497482"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WebKit</a:t>
            </a:r>
            <a:endParaRPr lang="en-US" sz="1300" dirty="0"/>
          </a:p>
        </p:txBody>
      </p:sp>
      <p:sp>
        <p:nvSpPr>
          <p:cNvPr id="28" name="Text 24"/>
          <p:cNvSpPr txBox="1"/>
          <p:nvPr/>
        </p:nvSpPr>
        <p:spPr>
          <a:xfrm>
            <a:off x="9907829" y="2139696"/>
            <a:ext cx="1497482" cy="219456"/>
          </a:xfrm>
          <a:prstGeom prst="rect">
            <a:avLst/>
          </a:prstGeom>
          <a:noFill/>
          <a:ln/>
        </p:spPr>
        <p:txBody>
          <a:bodyPr wrap="square" lIns="0" tIns="0" rIns="0" bIns="0" rtlCol="0" anchor="t"/>
          <a:lstStyle/>
          <a:p>
            <a:pPr algn="l" indent="0" marL="0">
              <a:buNone/>
            </a:pPr>
            <a:r>
              <a:rPr lang="en-US" sz="1040" b="1" dirty="0">
                <a:solidFill>
                  <a:srgbClr val="2E7D4F"/>
                </a:solidFill>
                <a:latin typeface="Aptos" pitchFamily="34" charset="0"/>
                <a:ea typeface="Aptos" pitchFamily="34" charset="-122"/>
                <a:cs typeface="Aptos" pitchFamily="34" charset="-120"/>
              </a:rPr>
              <a:t>6 de 7 pasan</a:t>
            </a:r>
            <a:endParaRPr lang="en-US" sz="1040" dirty="0"/>
          </a:p>
        </p:txBody>
      </p:sp>
      <p:sp>
        <p:nvSpPr>
          <p:cNvPr id="29" name="Text 25"/>
          <p:cNvSpPr txBox="1"/>
          <p:nvPr/>
        </p:nvSpPr>
        <p:spPr>
          <a:xfrm>
            <a:off x="9907829" y="2377440"/>
            <a:ext cx="1497482" cy="219456"/>
          </a:xfrm>
          <a:prstGeom prst="rect">
            <a:avLst/>
          </a:prstGeom>
          <a:noFill/>
          <a:ln/>
        </p:spPr>
        <p:txBody>
          <a:bodyPr wrap="square" lIns="0" tIns="0" rIns="0" bIns="0" rtlCol="0" anchor="t"/>
          <a:lstStyle/>
          <a:p>
            <a:pPr algn="l" indent="0" marL="0">
              <a:buNone/>
            </a:pPr>
            <a:r>
              <a:rPr lang="en-US" sz="900" dirty="0">
                <a:solidFill>
                  <a:srgbClr val="52606D"/>
                </a:solidFill>
                <a:latin typeface="Aptos" pitchFamily="34" charset="0"/>
                <a:ea typeface="Aptos" pitchFamily="34" charset="-122"/>
                <a:cs typeface="Aptos" pitchFamily="34" charset="-120"/>
              </a:rPr>
              <a:t>el motor de Safari</a:t>
            </a:r>
            <a:endParaRPr lang="en-US" sz="900" dirty="0"/>
          </a:p>
        </p:txBody>
      </p:sp>
      <p:sp>
        <p:nvSpPr>
          <p:cNvPr id="30" name="Text 26"/>
          <p:cNvSpPr txBox="1"/>
          <p:nvPr/>
        </p:nvSpPr>
        <p:spPr>
          <a:xfrm>
            <a:off x="6053328" y="2834640"/>
            <a:ext cx="5479999" cy="822960"/>
          </a:xfrm>
          <a:prstGeom prst="rect">
            <a:avLst/>
          </a:prstGeom>
          <a:noFill/>
          <a:ln/>
        </p:spPr>
        <p:txBody>
          <a:bodyPr wrap="square" lIns="0" tIns="0" rIns="0" bIns="0" rtlCol="0" anchor="t"/>
          <a:lstStyle/>
          <a:p>
            <a:pPr algn="l" indent="0" marL="0">
              <a:lnSpc>
                <a:spcPct val="108000"/>
              </a:lnSpc>
              <a:buNone/>
            </a:pPr>
            <a:r>
              <a:rPr lang="en-US" sz="1020" dirty="0">
                <a:solidFill>
                  <a:srgbClr val="52606D"/>
                </a:solidFill>
                <a:latin typeface="Aptos" pitchFamily="34" charset="0"/>
                <a:ea typeface="Aptos" pitchFamily="34" charset="-122"/>
                <a:cs typeface="Aptos" pitchFamily="34" charset="-120"/>
              </a:rPr>
              <a:t>El motor es la parte del navegador que dibuja la página. Cada prueba corre una vez por proyecto. devices trae la configuración de cada navegador, como el tamaño de la ventana. Firefox y WebKit se instalan una vez con npx playwright install firefox webkit.</a:t>
            </a:r>
            <a:endParaRPr lang="en-US" sz="1020" dirty="0"/>
          </a:p>
        </p:txBody>
      </p:sp>
      <p:sp>
        <p:nvSpPr>
          <p:cNvPr id="31" name="Shape 27"/>
          <p:cNvSpPr/>
          <p:nvPr/>
        </p:nvSpPr>
        <p:spPr>
          <a:xfrm>
            <a:off x="658368" y="4114800"/>
            <a:ext cx="10874959" cy="1390904"/>
          </a:xfrm>
          <a:prstGeom prst="roundRect">
            <a:avLst>
              <a:gd name="adj" fmla="val 3287"/>
            </a:avLst>
          </a:prstGeom>
          <a:solidFill>
            <a:srgbClr val="0F1720"/>
          </a:solidFill>
          <a:ln w="12700">
            <a:solidFill>
              <a:srgbClr val="0F1720"/>
            </a:solidFill>
            <a:prstDash val="solid"/>
          </a:ln>
        </p:spPr>
      </p:sp>
      <p:sp>
        <p:nvSpPr>
          <p:cNvPr id="32" name="Shape 28"/>
          <p:cNvSpPr/>
          <p:nvPr/>
        </p:nvSpPr>
        <p:spPr>
          <a:xfrm>
            <a:off x="818388" y="4247388"/>
            <a:ext cx="82296" cy="82296"/>
          </a:xfrm>
          <a:prstGeom prst="ellipse">
            <a:avLst/>
          </a:prstGeom>
          <a:solidFill>
            <a:srgbClr val="52606D"/>
          </a:solidFill>
          <a:ln w="12700">
            <a:solidFill>
              <a:srgbClr val="52606D"/>
            </a:solidFill>
            <a:prstDash val="solid"/>
          </a:ln>
        </p:spPr>
      </p:sp>
      <p:sp>
        <p:nvSpPr>
          <p:cNvPr id="33" name="Shape 29"/>
          <p:cNvSpPr/>
          <p:nvPr/>
        </p:nvSpPr>
        <p:spPr>
          <a:xfrm>
            <a:off x="973836" y="4247388"/>
            <a:ext cx="82296" cy="82296"/>
          </a:xfrm>
          <a:prstGeom prst="ellipse">
            <a:avLst/>
          </a:prstGeom>
          <a:solidFill>
            <a:srgbClr val="52606D"/>
          </a:solidFill>
          <a:ln w="12700">
            <a:solidFill>
              <a:srgbClr val="52606D"/>
            </a:solidFill>
            <a:prstDash val="solid"/>
          </a:ln>
        </p:spPr>
      </p:sp>
      <p:sp>
        <p:nvSpPr>
          <p:cNvPr id="34" name="Shape 30"/>
          <p:cNvSpPr/>
          <p:nvPr/>
        </p:nvSpPr>
        <p:spPr>
          <a:xfrm>
            <a:off x="1129284" y="4247388"/>
            <a:ext cx="82296" cy="82296"/>
          </a:xfrm>
          <a:prstGeom prst="ellipse">
            <a:avLst/>
          </a:prstGeom>
          <a:solidFill>
            <a:srgbClr val="52606D"/>
          </a:solidFill>
          <a:ln w="12700">
            <a:solidFill>
              <a:srgbClr val="52606D"/>
            </a:solidFill>
            <a:prstDash val="solid"/>
          </a:ln>
        </p:spPr>
      </p:sp>
      <p:sp>
        <p:nvSpPr>
          <p:cNvPr id="35" name="Text 31"/>
          <p:cNvSpPr/>
          <p:nvPr/>
        </p:nvSpPr>
        <p:spPr>
          <a:xfrm>
            <a:off x="1353312" y="4197096"/>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npx playwright test · las pruebas de la mañana y las dos de este bloque</a:t>
            </a:r>
            <a:endParaRPr lang="en-US" sz="940" dirty="0"/>
          </a:p>
        </p:txBody>
      </p:sp>
      <p:sp>
        <p:nvSpPr>
          <p:cNvPr id="36" name="Text 32"/>
          <p:cNvSpPr/>
          <p:nvPr/>
        </p:nvSpPr>
        <p:spPr>
          <a:xfrm>
            <a:off x="859536" y="4590288"/>
            <a:ext cx="10472623" cy="157480"/>
          </a:xfrm>
          <a:prstGeom prst="rect">
            <a:avLst/>
          </a:prstGeom>
          <a:noFill/>
          <a:ln/>
        </p:spPr>
        <p:txBody>
          <a:bodyPr wrap="square" lIns="0" tIns="0" rIns="0" bIns="0" rtlCol="0" anchor="ctr"/>
          <a:lstStyle/>
          <a:p>
            <a:pPr indent="0" marL="0">
              <a:buNone/>
            </a:pPr>
            <a:r>
              <a:rPr lang="en-US" sz="800" b="1" dirty="0">
                <a:solidFill>
                  <a:srgbClr val="D62027"/>
                </a:solidFill>
                <a:latin typeface="Consolas" pitchFamily="34" charset="0"/>
                <a:ea typeface="Consolas" pitchFamily="34" charset="-122"/>
                <a:cs typeface="Consolas" pitchFamily="34" charset="-120"/>
              </a:rPr>
              <a:t>  x   6 [chromium] › pruebas\reserva.spec.ts:20:5 › si falta un dato, la pantalla dice cuál corregir (6.0s)</a:t>
            </a:r>
            <a:endParaRPr lang="en-US" sz="800" dirty="0"/>
          </a:p>
        </p:txBody>
      </p:sp>
      <p:sp>
        <p:nvSpPr>
          <p:cNvPr id="37" name="Text 33"/>
          <p:cNvSpPr/>
          <p:nvPr/>
        </p:nvSpPr>
        <p:spPr>
          <a:xfrm>
            <a:off x="859536" y="4747768"/>
            <a:ext cx="10472623" cy="157480"/>
          </a:xfrm>
          <a:prstGeom prst="rect">
            <a:avLst/>
          </a:prstGeom>
          <a:noFill/>
          <a:ln/>
        </p:spPr>
        <p:txBody>
          <a:bodyPr wrap="square" lIns="0" tIns="0" rIns="0" bIns="0" rtlCol="0" anchor="ctr"/>
          <a:lstStyle/>
          <a:p>
            <a:pPr indent="0" marL="0">
              <a:buNone/>
            </a:pPr>
            <a:r>
              <a:rPr lang="en-US" sz="800" b="1" dirty="0">
                <a:solidFill>
                  <a:srgbClr val="D62027"/>
                </a:solidFill>
                <a:latin typeface="Consolas" pitchFamily="34" charset="0"/>
                <a:ea typeface="Consolas" pitchFamily="34" charset="-122"/>
                <a:cs typeface="Consolas" pitchFamily="34" charset="-120"/>
              </a:rPr>
              <a:t>  x  13 [firefox] › pruebas\reserva.spec.ts:20:5 › si falta un dato, la pantalla dice cuál corregir (6.4s)</a:t>
            </a:r>
            <a:endParaRPr lang="en-US" sz="800" dirty="0"/>
          </a:p>
        </p:txBody>
      </p:sp>
      <p:sp>
        <p:nvSpPr>
          <p:cNvPr id="38" name="Text 34"/>
          <p:cNvSpPr/>
          <p:nvPr/>
        </p:nvSpPr>
        <p:spPr>
          <a:xfrm>
            <a:off x="859536" y="4905248"/>
            <a:ext cx="10472623" cy="157480"/>
          </a:xfrm>
          <a:prstGeom prst="rect">
            <a:avLst/>
          </a:prstGeom>
          <a:noFill/>
          <a:ln/>
        </p:spPr>
        <p:txBody>
          <a:bodyPr wrap="square" lIns="0" tIns="0" rIns="0" bIns="0" rtlCol="0" anchor="ctr"/>
          <a:lstStyle/>
          <a:p>
            <a:pPr indent="0" marL="0">
              <a:buNone/>
            </a:pPr>
            <a:r>
              <a:rPr lang="en-US" sz="800" b="1" dirty="0">
                <a:solidFill>
                  <a:srgbClr val="D62027"/>
                </a:solidFill>
                <a:latin typeface="Consolas" pitchFamily="34" charset="0"/>
                <a:ea typeface="Consolas" pitchFamily="34" charset="-122"/>
                <a:cs typeface="Consolas" pitchFamily="34" charset="-120"/>
              </a:rPr>
              <a:t>  x  20 [webkit] › pruebas\reserva.spec.ts:20:5 › si falta un dato, la pantalla dice cuál corregir (6.0s)</a:t>
            </a:r>
            <a:endParaRPr lang="en-US" sz="800" dirty="0"/>
          </a:p>
        </p:txBody>
      </p:sp>
      <p:sp>
        <p:nvSpPr>
          <p:cNvPr id="39" name="Text 35"/>
          <p:cNvSpPr/>
          <p:nvPr/>
        </p:nvSpPr>
        <p:spPr>
          <a:xfrm>
            <a:off x="859536" y="5062728"/>
            <a:ext cx="10472623" cy="157480"/>
          </a:xfrm>
          <a:prstGeom prst="rect">
            <a:avLst/>
          </a:prstGeom>
          <a:noFill/>
          <a:ln/>
        </p:spPr>
        <p:txBody>
          <a:bodyPr wrap="square" lIns="0" tIns="0" rIns="0" bIns="0" rtlCol="0" anchor="ctr"/>
          <a:lstStyle/>
          <a:p>
            <a:pPr indent="0" marL="0">
              <a:buNone/>
            </a:pPr>
            <a:r>
              <a:rPr lang="en-US" sz="800" b="1" dirty="0">
                <a:solidFill>
                  <a:srgbClr val="D62027"/>
                </a:solidFill>
                <a:latin typeface="Consolas" pitchFamily="34" charset="0"/>
                <a:ea typeface="Consolas" pitchFamily="34" charset="-122"/>
                <a:cs typeface="Consolas" pitchFamily="34" charset="-120"/>
              </a:rPr>
              <a:t>  3 failed</a:t>
            </a:r>
            <a:endParaRPr lang="en-US" sz="800" dirty="0"/>
          </a:p>
        </p:txBody>
      </p:sp>
      <p:sp>
        <p:nvSpPr>
          <p:cNvPr id="40" name="Text 36"/>
          <p:cNvSpPr/>
          <p:nvPr/>
        </p:nvSpPr>
        <p:spPr>
          <a:xfrm>
            <a:off x="859536" y="5220208"/>
            <a:ext cx="10472623" cy="157480"/>
          </a:xfrm>
          <a:prstGeom prst="rect">
            <a:avLst/>
          </a:prstGeom>
          <a:noFill/>
          <a:ln/>
        </p:spPr>
        <p:txBody>
          <a:bodyPr wrap="square" lIns="0" tIns="0" rIns="0" bIns="0" rtlCol="0" anchor="ctr"/>
          <a:lstStyle/>
          <a:p>
            <a:pPr indent="0" marL="0">
              <a:buNone/>
            </a:pPr>
            <a:r>
              <a:rPr lang="en-US" sz="800" b="1" dirty="0">
                <a:solidFill>
                  <a:srgbClr val="3FAE6A"/>
                </a:solidFill>
                <a:latin typeface="Consolas" pitchFamily="34" charset="0"/>
                <a:ea typeface="Consolas" pitchFamily="34" charset="-122"/>
                <a:cs typeface="Consolas" pitchFamily="34" charset="-120"/>
              </a:rPr>
              <a:t>  18 passed (1.1m)</a:t>
            </a:r>
            <a:endParaRPr lang="en-US" sz="800" dirty="0"/>
          </a:p>
        </p:txBody>
      </p:sp>
      <p:sp>
        <p:nvSpPr>
          <p:cNvPr id="41"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única que falla es la del [object Object], y en los tres recibe el mismo texto.</a:t>
            </a:r>
            <a:endParaRPr lang="en-US" sz="13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DEL LADO DEL SERVIDOR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Dos versiones de Python, un resultado</a:t>
            </a:r>
            <a:endParaRPr lang="en-US" sz="2800" dirty="0"/>
          </a:p>
        </p:txBody>
      </p:sp>
      <p:sp>
        <p:nvSpPr>
          <p:cNvPr id="10" name="Shape 7"/>
          <p:cNvSpPr/>
          <p:nvPr/>
        </p:nvSpPr>
        <p:spPr>
          <a:xfrm>
            <a:off x="658368" y="1700784"/>
            <a:ext cx="5669280" cy="1568069"/>
          </a:xfrm>
          <a:prstGeom prst="roundRect">
            <a:avLst>
              <a:gd name="adj" fmla="val 2916"/>
            </a:avLst>
          </a:prstGeom>
          <a:solidFill>
            <a:srgbClr val="0F1720"/>
          </a:solidFill>
          <a:ln w="12700">
            <a:solidFill>
              <a:srgbClr val="0F1720"/>
            </a:solidFill>
            <a:prstDash val="solid"/>
          </a:ln>
        </p:spPr>
      </p:sp>
      <p:sp>
        <p:nvSpPr>
          <p:cNvPr id="11" name="Shape 8"/>
          <p:cNvSpPr/>
          <p:nvPr/>
        </p:nvSpPr>
        <p:spPr>
          <a:xfrm>
            <a:off x="818388" y="1833372"/>
            <a:ext cx="82296" cy="82296"/>
          </a:xfrm>
          <a:prstGeom prst="ellipse">
            <a:avLst/>
          </a:prstGeom>
          <a:solidFill>
            <a:srgbClr val="52606D"/>
          </a:solidFill>
          <a:ln w="12700">
            <a:solidFill>
              <a:srgbClr val="52606D"/>
            </a:solidFill>
            <a:prstDash val="solid"/>
          </a:ln>
        </p:spPr>
      </p:sp>
      <p:sp>
        <p:nvSpPr>
          <p:cNvPr id="12" name="Shape 9"/>
          <p:cNvSpPr/>
          <p:nvPr/>
        </p:nvSpPr>
        <p:spPr>
          <a:xfrm>
            <a:off x="973836" y="1833372"/>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833372"/>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783080"/>
            <a:ext cx="479145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suite de pytest: 20 pruebas previas, 1 de concurrencia y 2 de seguridad</a:t>
            </a:r>
            <a:endParaRPr lang="en-US" sz="940" dirty="0"/>
          </a:p>
        </p:txBody>
      </p:sp>
      <p:sp>
        <p:nvSpPr>
          <p:cNvPr id="15" name="Text 12"/>
          <p:cNvSpPr/>
          <p:nvPr/>
        </p:nvSpPr>
        <p:spPr>
          <a:xfrm>
            <a:off x="859536" y="2176272"/>
            <a:ext cx="5266944" cy="192913"/>
          </a:xfrm>
          <a:prstGeom prst="rect">
            <a:avLst/>
          </a:prstGeom>
          <a:noFill/>
          <a:ln/>
        </p:spPr>
        <p:txBody>
          <a:bodyPr wrap="square" lIns="0" tIns="0" rIns="0" bIns="0" rtlCol="0" anchor="ctr"/>
          <a:lstStyle/>
          <a:p>
            <a:pPr indent="0" marL="0">
              <a:buNone/>
            </a:pPr>
            <a:r>
              <a:rPr lang="en-US" sz="980" dirty="0">
                <a:solidFill>
                  <a:srgbClr val="E0BC5A"/>
                </a:solidFill>
                <a:latin typeface="Consolas" pitchFamily="34" charset="0"/>
                <a:ea typeface="Consolas" pitchFamily="34" charset="-122"/>
                <a:cs typeface="Consolas" pitchFamily="34" charset="-120"/>
              </a:rPr>
              <a:t>&gt; uv run pytest -q</a:t>
            </a:r>
            <a:endParaRPr lang="en-US" sz="980" dirty="0"/>
          </a:p>
        </p:txBody>
      </p:sp>
      <p:sp>
        <p:nvSpPr>
          <p:cNvPr id="16" name="Text 13"/>
          <p:cNvSpPr/>
          <p:nvPr/>
        </p:nvSpPr>
        <p:spPr>
          <a:xfrm>
            <a:off x="859536" y="2369185"/>
            <a:ext cx="5266944" cy="192913"/>
          </a:xfrm>
          <a:prstGeom prst="rect">
            <a:avLst/>
          </a:prstGeom>
          <a:noFill/>
          <a:ln/>
        </p:spPr>
        <p:txBody>
          <a:bodyPr wrap="square" lIns="0" tIns="0" rIns="0" bIns="0" rtlCol="0" anchor="ctr"/>
          <a:lstStyle/>
          <a:p>
            <a:pPr indent="0" marL="0">
              <a:buNone/>
            </a:pPr>
            <a:r>
              <a:rPr lang="en-US" sz="980" b="1" dirty="0">
                <a:solidFill>
                  <a:srgbClr val="D62027"/>
                </a:solidFill>
                <a:latin typeface="Consolas" pitchFamily="34" charset="0"/>
                <a:ea typeface="Consolas" pitchFamily="34" charset="-122"/>
                <a:cs typeface="Consolas" pitchFamily="34" charset="-120"/>
              </a:rPr>
              <a:t>1 failed, 22 passed, 1 warning</a:t>
            </a:r>
            <a:endParaRPr lang="en-US" sz="980" dirty="0"/>
          </a:p>
        </p:txBody>
      </p:sp>
      <p:sp>
        <p:nvSpPr>
          <p:cNvPr id="17" name="Text 14"/>
          <p:cNvSpPr/>
          <p:nvPr/>
        </p:nvSpPr>
        <p:spPr>
          <a:xfrm>
            <a:off x="859536" y="2562098"/>
            <a:ext cx="5266944" cy="192913"/>
          </a:xfrm>
          <a:prstGeom prst="rect">
            <a:avLst/>
          </a:prstGeom>
          <a:noFill/>
          <a:ln/>
        </p:spPr>
        <p:txBody>
          <a:bodyPr wrap="square" lIns="0" tIns="0" rIns="0" bIns="0" rtlCol="0" anchor="ctr"/>
          <a:lstStyle/>
          <a:p>
            <a:pPr indent="0" marL="0">
              <a:buNone/>
            </a:pPr>
            <a:endParaRPr lang="en-US" sz="980" dirty="0"/>
          </a:p>
        </p:txBody>
      </p:sp>
      <p:sp>
        <p:nvSpPr>
          <p:cNvPr id="18" name="Text 15"/>
          <p:cNvSpPr/>
          <p:nvPr/>
        </p:nvSpPr>
        <p:spPr>
          <a:xfrm>
            <a:off x="859536" y="2755011"/>
            <a:ext cx="5266944" cy="192913"/>
          </a:xfrm>
          <a:prstGeom prst="rect">
            <a:avLst/>
          </a:prstGeom>
          <a:noFill/>
          <a:ln/>
        </p:spPr>
        <p:txBody>
          <a:bodyPr wrap="square" lIns="0" tIns="0" rIns="0" bIns="0" rtlCol="0" anchor="ctr"/>
          <a:lstStyle/>
          <a:p>
            <a:pPr indent="0" marL="0">
              <a:buNone/>
            </a:pPr>
            <a:r>
              <a:rPr lang="en-US" sz="980" dirty="0">
                <a:solidFill>
                  <a:srgbClr val="E0BC5A"/>
                </a:solidFill>
                <a:latin typeface="Consolas" pitchFamily="34" charset="0"/>
                <a:ea typeface="Consolas" pitchFamily="34" charset="-122"/>
                <a:cs typeface="Consolas" pitchFamily="34" charset="-120"/>
              </a:rPr>
              <a:t>&gt; uv run --python 3.12 --isolated pytest -q</a:t>
            </a:r>
            <a:endParaRPr lang="en-US" sz="980" dirty="0"/>
          </a:p>
        </p:txBody>
      </p:sp>
      <p:sp>
        <p:nvSpPr>
          <p:cNvPr id="19" name="Text 16"/>
          <p:cNvSpPr/>
          <p:nvPr/>
        </p:nvSpPr>
        <p:spPr>
          <a:xfrm>
            <a:off x="859536" y="2947924"/>
            <a:ext cx="5266944" cy="192913"/>
          </a:xfrm>
          <a:prstGeom prst="rect">
            <a:avLst/>
          </a:prstGeom>
          <a:noFill/>
          <a:ln/>
        </p:spPr>
        <p:txBody>
          <a:bodyPr wrap="square" lIns="0" tIns="0" rIns="0" bIns="0" rtlCol="0" anchor="ctr"/>
          <a:lstStyle/>
          <a:p>
            <a:pPr indent="0" marL="0">
              <a:buNone/>
            </a:pPr>
            <a:r>
              <a:rPr lang="en-US" sz="980" b="1" dirty="0">
                <a:solidFill>
                  <a:srgbClr val="D62027"/>
                </a:solidFill>
                <a:latin typeface="Consolas" pitchFamily="34" charset="0"/>
                <a:ea typeface="Consolas" pitchFamily="34" charset="-122"/>
                <a:cs typeface="Consolas" pitchFamily="34" charset="-120"/>
              </a:rPr>
              <a:t>1 failed, 22 passed, 1 warning</a:t>
            </a:r>
            <a:endParaRPr lang="en-US" sz="980" dirty="0"/>
          </a:p>
        </p:txBody>
      </p:sp>
      <p:sp>
        <p:nvSpPr>
          <p:cNvPr id="20" name="Text 17"/>
          <p:cNvSpPr txBox="1"/>
          <p:nvPr/>
        </p:nvSpPr>
        <p:spPr>
          <a:xfrm>
            <a:off x="658368" y="3364992"/>
            <a:ext cx="5669280" cy="603504"/>
          </a:xfrm>
          <a:prstGeom prst="rect">
            <a:avLst/>
          </a:prstGeom>
          <a:noFill/>
          <a:ln/>
        </p:spPr>
        <p:txBody>
          <a:bodyPr wrap="square" lIns="0" tIns="0" rIns="0" bIns="0" rtlCol="0" anchor="t"/>
          <a:lstStyle/>
          <a:p>
            <a:pPr algn="l" indent="0" marL="0">
              <a:lnSpc>
                <a:spcPct val="106000"/>
              </a:lnSpc>
              <a:buNone/>
            </a:pPr>
            <a:r>
              <a:rPr lang="en-US" sz="1040" dirty="0">
                <a:solidFill>
                  <a:srgbClr val="52606D"/>
                </a:solidFill>
                <a:latin typeface="Aptos" pitchFamily="34" charset="0"/>
                <a:ea typeface="Aptos" pitchFamily="34" charset="-122"/>
                <a:cs typeface="Aptos" pitchFamily="34" charset="-120"/>
              </a:rPr>
              <a:t>--python 3.12 pide esa versión; --isolated arma un entorno aparte. Python 3.13.11 y 3.12.12. La que falla en las dos es la de suplantación.</a:t>
            </a:r>
            <a:endParaRPr lang="en-US" sz="1040" dirty="0"/>
          </a:p>
        </p:txBody>
      </p:sp>
      <p:sp>
        <p:nvSpPr>
          <p:cNvPr id="21" name="Text 18"/>
          <p:cNvSpPr txBox="1"/>
          <p:nvPr/>
        </p:nvSpPr>
        <p:spPr>
          <a:xfrm>
            <a:off x="6601968" y="1737360"/>
            <a:ext cx="4931359"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NO ENCONTRAR NADA NUEVO ES UN RESULTADO</a:t>
            </a:r>
            <a:endParaRPr lang="en-US" sz="960" dirty="0"/>
          </a:p>
        </p:txBody>
      </p:sp>
      <p:sp>
        <p:nvSpPr>
          <p:cNvPr id="22" name="Shape 19"/>
          <p:cNvSpPr/>
          <p:nvPr/>
        </p:nvSpPr>
        <p:spPr>
          <a:xfrm>
            <a:off x="6601968" y="2029968"/>
            <a:ext cx="4931359" cy="1005840"/>
          </a:xfrm>
          <a:prstGeom prst="rect">
            <a:avLst/>
          </a:prstGeom>
          <a:solidFill>
            <a:srgbClr val="FFFFFF"/>
          </a:solidFill>
          <a:ln w="12700">
            <a:solidFill>
              <a:srgbClr val="FFFFFF"/>
            </a:solidFill>
            <a:prstDash val="solid"/>
          </a:ln>
        </p:spPr>
      </p:sp>
      <p:sp>
        <p:nvSpPr>
          <p:cNvPr id="23" name="Shape 20"/>
          <p:cNvSpPr/>
          <p:nvPr/>
        </p:nvSpPr>
        <p:spPr>
          <a:xfrm>
            <a:off x="6601968" y="2029968"/>
            <a:ext cx="54864" cy="1005840"/>
          </a:xfrm>
          <a:prstGeom prst="rect">
            <a:avLst/>
          </a:prstGeom>
          <a:solidFill>
            <a:srgbClr val="102A43"/>
          </a:solidFill>
          <a:ln w="12700">
            <a:solidFill>
              <a:srgbClr val="102A43"/>
            </a:solidFill>
            <a:prstDash val="solid"/>
          </a:ln>
        </p:spPr>
      </p:sp>
      <p:sp>
        <p:nvSpPr>
          <p:cNvPr id="24" name="Text 21"/>
          <p:cNvSpPr txBox="1"/>
          <p:nvPr/>
        </p:nvSpPr>
        <p:spPr>
          <a:xfrm>
            <a:off x="6821424" y="2121408"/>
            <a:ext cx="4565599"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Antes era una suposición</a:t>
            </a:r>
            <a:endParaRPr lang="en-US" sz="1200" dirty="0"/>
          </a:p>
        </p:txBody>
      </p:sp>
      <p:sp>
        <p:nvSpPr>
          <p:cNvPr id="25" name="Text 22"/>
          <p:cNvSpPr txBox="1"/>
          <p:nvPr/>
        </p:nvSpPr>
        <p:spPr>
          <a:xfrm>
            <a:off x="6821424" y="2395728"/>
            <a:ext cx="4529023" cy="603504"/>
          </a:xfrm>
          <a:prstGeom prst="rect">
            <a:avLst/>
          </a:prstGeom>
          <a:noFill/>
          <a:ln/>
        </p:spPr>
        <p:txBody>
          <a:bodyPr wrap="square" lIns="0" tIns="0" rIns="0" bIns="0" rtlCol="0" anchor="t"/>
          <a:lstStyle/>
          <a:p>
            <a:pPr algn="l" indent="0" marL="0">
              <a:lnSpc>
                <a:spcPct val="105000"/>
              </a:lnSpc>
              <a:buNone/>
            </a:pPr>
            <a:r>
              <a:rPr lang="en-US" sz="1020" dirty="0">
                <a:solidFill>
                  <a:srgbClr val="52606D"/>
                </a:solidFill>
                <a:latin typeface="Aptos" pitchFamily="34" charset="0"/>
                <a:ea typeface="Aptos" pitchFamily="34" charset="-122"/>
                <a:cs typeface="Aptos" pitchFamily="34" charset="-120"/>
              </a:rPr>
              <a:t>Que funciona en Firefox, en WebKit y en Python 3.12 ahora está comprobado.</a:t>
            </a:r>
            <a:endParaRPr lang="en-US" sz="1020" dirty="0"/>
          </a:p>
        </p:txBody>
      </p:sp>
      <p:sp>
        <p:nvSpPr>
          <p:cNvPr id="26" name="Shape 23"/>
          <p:cNvSpPr/>
          <p:nvPr/>
        </p:nvSpPr>
        <p:spPr>
          <a:xfrm>
            <a:off x="6601968" y="3127248"/>
            <a:ext cx="4931359" cy="1005840"/>
          </a:xfrm>
          <a:prstGeom prst="rect">
            <a:avLst/>
          </a:prstGeom>
          <a:solidFill>
            <a:srgbClr val="FFFFFF"/>
          </a:solidFill>
          <a:ln w="12700">
            <a:solidFill>
              <a:srgbClr val="FFFFFF"/>
            </a:solidFill>
            <a:prstDash val="solid"/>
          </a:ln>
        </p:spPr>
      </p:sp>
      <p:sp>
        <p:nvSpPr>
          <p:cNvPr id="27" name="Shape 24"/>
          <p:cNvSpPr/>
          <p:nvPr/>
        </p:nvSpPr>
        <p:spPr>
          <a:xfrm>
            <a:off x="6601968" y="3127248"/>
            <a:ext cx="54864" cy="1005840"/>
          </a:xfrm>
          <a:prstGeom prst="rect">
            <a:avLst/>
          </a:prstGeom>
          <a:solidFill>
            <a:srgbClr val="102A43"/>
          </a:solidFill>
          <a:ln w="12700">
            <a:solidFill>
              <a:srgbClr val="102A43"/>
            </a:solidFill>
            <a:prstDash val="solid"/>
          </a:ln>
        </p:spPr>
      </p:sp>
      <p:sp>
        <p:nvSpPr>
          <p:cNvPr id="28" name="Text 25"/>
          <p:cNvSpPr txBox="1"/>
          <p:nvPr/>
        </p:nvSpPr>
        <p:spPr>
          <a:xfrm>
            <a:off x="6821424" y="3218688"/>
            <a:ext cx="4565599"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Falla igual en todos</a:t>
            </a:r>
            <a:endParaRPr lang="en-US" sz="1200" dirty="0"/>
          </a:p>
        </p:txBody>
      </p:sp>
      <p:sp>
        <p:nvSpPr>
          <p:cNvPr id="29" name="Text 26"/>
          <p:cNvSpPr txBox="1"/>
          <p:nvPr/>
        </p:nvSpPr>
        <p:spPr>
          <a:xfrm>
            <a:off x="6821424" y="3493008"/>
            <a:ext cx="4529023" cy="603504"/>
          </a:xfrm>
          <a:prstGeom prst="rect">
            <a:avLst/>
          </a:prstGeom>
          <a:noFill/>
          <a:ln/>
        </p:spPr>
        <p:txBody>
          <a:bodyPr wrap="square" lIns="0" tIns="0" rIns="0" bIns="0" rtlCol="0" anchor="t"/>
          <a:lstStyle/>
          <a:p>
            <a:pPr algn="l" indent="0" marL="0">
              <a:lnSpc>
                <a:spcPct val="105000"/>
              </a:lnSpc>
              <a:buNone/>
            </a:pPr>
            <a:r>
              <a:rPr lang="en-US" sz="1020" dirty="0">
                <a:solidFill>
                  <a:srgbClr val="52606D"/>
                </a:solidFill>
                <a:latin typeface="Aptos" pitchFamily="34" charset="0"/>
                <a:ea typeface="Aptos" pitchFamily="34" charset="-122"/>
                <a:cs typeface="Aptos" pitchFamily="34" charset="-120"/>
              </a:rPr>
              <a:t>Cuando una prueba falla en todos los entornos, el defecto es del sistema, no del entorno. Si hubiera fallado solo en WebKit, la pregunta sería otra.</a:t>
            </a:r>
            <a:endParaRPr lang="en-US" sz="1020" dirty="0"/>
          </a:p>
        </p:txBody>
      </p:sp>
      <p:sp>
        <p:nvSpPr>
          <p:cNvPr id="30" name="Shape 27"/>
          <p:cNvSpPr/>
          <p:nvPr/>
        </p:nvSpPr>
        <p:spPr>
          <a:xfrm>
            <a:off x="658368" y="4315968"/>
            <a:ext cx="10874959" cy="1097280"/>
          </a:xfrm>
          <a:prstGeom prst="rect">
            <a:avLst/>
          </a:prstGeom>
          <a:solidFill>
            <a:srgbClr val="F2E7D9"/>
          </a:solidFill>
          <a:ln w="12700">
            <a:solidFill>
              <a:srgbClr val="F2E7D9"/>
            </a:solidFill>
            <a:prstDash val="solid"/>
          </a:ln>
        </p:spPr>
      </p:sp>
      <p:sp>
        <p:nvSpPr>
          <p:cNvPr id="31" name="Shape 28"/>
          <p:cNvSpPr/>
          <p:nvPr/>
        </p:nvSpPr>
        <p:spPr>
          <a:xfrm>
            <a:off x="658368" y="4315968"/>
            <a:ext cx="54864" cy="1097280"/>
          </a:xfrm>
          <a:prstGeom prst="rect">
            <a:avLst/>
          </a:prstGeom>
          <a:solidFill>
            <a:srgbClr val="8A6A12"/>
          </a:solidFill>
          <a:ln w="12700">
            <a:solidFill>
              <a:srgbClr val="8A6A12"/>
            </a:solidFill>
            <a:prstDash val="solid"/>
          </a:ln>
        </p:spPr>
      </p:sp>
      <p:sp>
        <p:nvSpPr>
          <p:cNvPr id="32" name="Text 29"/>
          <p:cNvSpPr txBox="1"/>
          <p:nvPr/>
        </p:nvSpPr>
        <p:spPr>
          <a:xfrm>
            <a:off x="932688" y="4443984"/>
            <a:ext cx="73152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UN LÍMITE QUE CONVIENE DECLARAR</a:t>
            </a:r>
            <a:endParaRPr lang="en-US" sz="960" dirty="0"/>
          </a:p>
        </p:txBody>
      </p:sp>
      <p:sp>
        <p:nvSpPr>
          <p:cNvPr id="33" name="Text 30"/>
          <p:cNvSpPr txBox="1"/>
          <p:nvPr/>
        </p:nvSpPr>
        <p:spPr>
          <a:xfrm>
            <a:off x="932688" y="4700016"/>
            <a:ext cx="10326319" cy="658368"/>
          </a:xfrm>
          <a:prstGeom prst="rect">
            <a:avLst/>
          </a:prstGeom>
          <a:noFill/>
          <a:ln/>
        </p:spPr>
        <p:txBody>
          <a:bodyPr wrap="square" lIns="0" tIns="0" rIns="0" bIns="0" rtlCol="0" anchor="t"/>
          <a:lstStyle/>
          <a:p>
            <a:pPr algn="l" indent="0" marL="0">
              <a:lnSpc>
                <a:spcPct val="110000"/>
              </a:lnSpc>
              <a:buNone/>
            </a:pPr>
            <a:r>
              <a:rPr lang="en-US" sz="1140" dirty="0">
                <a:solidFill>
                  <a:srgbClr val="243B53"/>
                </a:solidFill>
                <a:latin typeface="Aptos" pitchFamily="34" charset="0"/>
                <a:ea typeface="Aptos" pitchFamily="34" charset="-122"/>
                <a:cs typeface="Aptos" pitchFamily="34" charset="-120"/>
              </a:rPr>
              <a:t>El WebKit que instala Playwright es el motor de Safari, no Safari en un Mac ni en un iPhone. Pasar en él reduce mucho el riesgo, pero no lo elimina. Como en el bloque 1: un resultado vale para las condiciones en que se obtuvo.</a:t>
            </a:r>
            <a:endParaRPr lang="en-US" sz="114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Ejecutar en otro entorno y no encontrar nada convierte una suposición en un hecho.</a:t>
            </a:r>
            <a:endParaRPr lang="en-US" sz="13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exigir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revisión de accesibilidad pasó con la página recién abierta y falló con un bloque tomado. Un compañero dice que la primera versión estaba bien, porque encontró lo que había. ¿Tiene razón?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fichas había en la página cuando pasó. ¿Qué parte de la interfaz no estaba en pantalla para que la herramienta la revisara?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Con [object Object] en pantalla, axe-core encontró cero violaciones. ¿Significa que ese mensaje es accesible?</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Separa lo que la herramienta revisó de lo que el lector de pantalla le va a leer a la persona. ¿Cuál decide si logra reservar?</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suite dio el mismo resultado en tres navegadores y dos versiones de Python. ¿Valió la pena ejecutarla cinco veces si no encontró nada nuevo?</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«funciona en Firefox» antes y después de ejecutarla en Firefox. ¿Qué dice que una prueba falle igual en todos?</a:t>
            </a:r>
            <a:endParaRPr lang="en-US" sz="114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SOLO REVISÓ LO QUE HABÍA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Con todos los bloques libres, la ficha «Tomado» no estaba en pantalla para revisarla.</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revisión automática revisa solo el estado que se le muestra.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Probar solo la página recién abierta.</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NO, SOLO LO REVISABLE</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Contraste, estructura y atributos cumplen; lo que se lee en voz alta es [object Object].</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herramienta encuentra en promedio el 57 %; el resto necesita a una persona.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Leer cero violaciones como «accesible».</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SÍ: AHORA ES UN HECHO</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Y la falla idéntica en todos los entornos dice que el defecto es del sistema.</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resultado sin hallazgos también es evidencia.</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una prueba que no encuentra nada no aportó.</a:t>
            </a:r>
            <a:endParaRPr lang="en-US" sz="10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 · 20 MINUTOS</a:t>
            </a:r>
            <a:endParaRPr lang="en-US" sz="960" dirty="0"/>
          </a:p>
        </p:txBody>
      </p:sp>
      <p:sp>
        <p:nvSpPr>
          <p:cNvPr id="9" name="Text 6"/>
          <p:cNvSpPr txBox="1"/>
          <p:nvPr/>
        </p:nvSpPr>
        <p:spPr>
          <a:xfrm>
            <a:off x="658368" y="1810512"/>
            <a:ext cx="1042416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Un requisito sin umbral no se prueba</a:t>
            </a:r>
            <a:endParaRPr lang="en-US" sz="38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La auditoría no funcional de un agente, verificada afirmación por afirmación, y una corrección de la mañana que dejó un defecto nuevo, convertido en prueba con magnitud, método y umbral.</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MEDIR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Cuánto aguanta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ATACAR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A quién deja entrar</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INCLUIR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Para quién sirve y dónde corre</a:t>
            </a:r>
            <a:endParaRPr lang="en-US" sz="920" dirty="0"/>
          </a:p>
        </p:txBody>
      </p:sp>
      <p:sp>
        <p:nvSpPr>
          <p:cNvPr id="24" name="Shape 21"/>
          <p:cNvSpPr/>
          <p:nvPr/>
        </p:nvSpPr>
        <p:spPr>
          <a:xfrm>
            <a:off x="8910599" y="4901184"/>
            <a:ext cx="2622728" cy="786384"/>
          </a:xfrm>
          <a:prstGeom prst="rect">
            <a:avLst/>
          </a:prstGeom>
          <a:solidFill>
            <a:srgbClr val="D62027"/>
          </a:solidFill>
          <a:ln w="12700">
            <a:solidFill>
              <a:srgbClr val="D6202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EXIGIR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Un umbral para cada afirmación</a:t>
            </a:r>
            <a:endParaRPr lang="en-US" sz="9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PEDIDO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auditoría, con permiso solo para leer</a:t>
            </a:r>
            <a:endParaRPr lang="en-US" sz="2800" dirty="0"/>
          </a:p>
        </p:txBody>
      </p:sp>
      <p:sp>
        <p:nvSpPr>
          <p:cNvPr id="10" name="Shape 7"/>
          <p:cNvSpPr/>
          <p:nvPr/>
        </p:nvSpPr>
        <p:spPr>
          <a:xfrm>
            <a:off x="658368" y="1682496"/>
            <a:ext cx="10874959" cy="2424582"/>
          </a:xfrm>
          <a:prstGeom prst="roundRect">
            <a:avLst>
              <a:gd name="adj" fmla="val 1886"/>
            </a:avLst>
          </a:prstGeom>
          <a:solidFill>
            <a:srgbClr val="102A43"/>
          </a:solidFill>
          <a:ln w="12700">
            <a:solidFill>
              <a:srgbClr val="102A43"/>
            </a:solidFill>
            <a:prstDash val="solid"/>
          </a:ln>
        </p:spPr>
      </p:sp>
      <p:sp>
        <p:nvSpPr>
          <p:cNvPr id="11" name="Shape 8"/>
          <p:cNvSpPr/>
          <p:nvPr/>
        </p:nvSpPr>
        <p:spPr>
          <a:xfrm>
            <a:off x="658368" y="2039112"/>
            <a:ext cx="10874959" cy="9144"/>
          </a:xfrm>
          <a:prstGeom prst="rect">
            <a:avLst/>
          </a:prstGeom>
          <a:solidFill>
            <a:srgbClr val="284B75"/>
          </a:solidFill>
          <a:ln w="12700">
            <a:solidFill>
              <a:srgbClr val="284B75"/>
            </a:solidFill>
            <a:prstDash val="solid"/>
          </a:ln>
        </p:spPr>
      </p:sp>
      <p:sp>
        <p:nvSpPr>
          <p:cNvPr id="12" name="Text 9"/>
          <p:cNvSpPr/>
          <p:nvPr/>
        </p:nvSpPr>
        <p:spPr>
          <a:xfrm>
            <a:off x="841248" y="1773936"/>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Terminal · sobre el proyecto tal como estaba al comenzar la sesión</a:t>
            </a:r>
            <a:endParaRPr lang="en-US" sz="960" dirty="0"/>
          </a:p>
        </p:txBody>
      </p:sp>
      <p:sp>
        <p:nvSpPr>
          <p:cNvPr id="13" name="Shape 10"/>
          <p:cNvSpPr/>
          <p:nvPr/>
        </p:nvSpPr>
        <p:spPr>
          <a:xfrm>
            <a:off x="713232" y="2482393"/>
            <a:ext cx="10362895" cy="152546"/>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2959100"/>
            <a:ext cx="10362895" cy="152546"/>
          </a:xfrm>
          <a:prstGeom prst="rect">
            <a:avLst/>
          </a:prstGeom>
          <a:solidFill>
            <a:srgbClr val="E0BC5A">
              <a:alpha val="28000"/>
            </a:srgbClr>
          </a:solidFill>
          <a:ln w="12700">
            <a:solidFill>
              <a:srgbClr val="E0BC5A">
                <a:alpha val="0"/>
              </a:srgbClr>
            </a:solidFill>
            <a:prstDash val="solid"/>
          </a:ln>
        </p:spPr>
      </p:sp>
      <p:sp>
        <p:nvSpPr>
          <p:cNvPr id="15" name="Shape 12"/>
          <p:cNvSpPr/>
          <p:nvPr/>
        </p:nvSpPr>
        <p:spPr>
          <a:xfrm>
            <a:off x="713232" y="3753612"/>
            <a:ext cx="10362895" cy="152546"/>
          </a:xfrm>
          <a:prstGeom prst="rect">
            <a:avLst/>
          </a:prstGeom>
          <a:solidFill>
            <a:srgbClr val="2E7D4F">
              <a:alpha val="28000"/>
            </a:srgbClr>
          </a:solidFill>
          <a:ln w="12700">
            <a:solidFill>
              <a:srgbClr val="2E7D4F">
                <a:alpha val="0"/>
              </a:srgbClr>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76272"/>
            <a:ext cx="10143439" cy="1802790"/>
          </a:xfrm>
          <a:prstGeom prst="rect">
            <a:avLst/>
          </a:prstGeom>
        </p:spPr>
      </p:pic>
      <p:sp>
        <p:nvSpPr>
          <p:cNvPr id="17" name="Shape 13"/>
          <p:cNvSpPr/>
          <p:nvPr/>
        </p:nvSpPr>
        <p:spPr>
          <a:xfrm>
            <a:off x="11231632" y="2479402"/>
            <a:ext cx="146190" cy="146190"/>
          </a:xfrm>
          <a:prstGeom prst="ellipse">
            <a:avLst/>
          </a:prstGeom>
          <a:solidFill>
            <a:srgbClr val="E0BC5A"/>
          </a:solidFill>
          <a:ln w="12700">
            <a:solidFill>
              <a:srgbClr val="E0BC5A"/>
            </a:solidFill>
            <a:prstDash val="solid"/>
          </a:ln>
        </p:spPr>
      </p:sp>
      <p:sp>
        <p:nvSpPr>
          <p:cNvPr id="18" name="Text 14"/>
          <p:cNvSpPr/>
          <p:nvPr/>
        </p:nvSpPr>
        <p:spPr>
          <a:xfrm>
            <a:off x="11240776" y="2488546"/>
            <a:ext cx="127902" cy="127902"/>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9" name="Shape 15"/>
          <p:cNvSpPr/>
          <p:nvPr/>
        </p:nvSpPr>
        <p:spPr>
          <a:xfrm>
            <a:off x="11231632" y="2956109"/>
            <a:ext cx="146190" cy="146190"/>
          </a:xfrm>
          <a:prstGeom prst="ellipse">
            <a:avLst/>
          </a:prstGeom>
          <a:solidFill>
            <a:srgbClr val="E0BC5A"/>
          </a:solidFill>
          <a:ln w="12700">
            <a:solidFill>
              <a:srgbClr val="E0BC5A"/>
            </a:solidFill>
            <a:prstDash val="solid"/>
          </a:ln>
        </p:spPr>
      </p:sp>
      <p:sp>
        <p:nvSpPr>
          <p:cNvPr id="20" name="Text 16"/>
          <p:cNvSpPr/>
          <p:nvPr/>
        </p:nvSpPr>
        <p:spPr>
          <a:xfrm>
            <a:off x="11240776" y="2965253"/>
            <a:ext cx="127902" cy="127902"/>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1" name="Shape 17"/>
          <p:cNvSpPr/>
          <p:nvPr/>
        </p:nvSpPr>
        <p:spPr>
          <a:xfrm>
            <a:off x="11231632" y="3750621"/>
            <a:ext cx="146190" cy="146190"/>
          </a:xfrm>
          <a:prstGeom prst="ellipse">
            <a:avLst/>
          </a:prstGeom>
          <a:solidFill>
            <a:srgbClr val="2E7D4F"/>
          </a:solidFill>
          <a:ln w="12700">
            <a:solidFill>
              <a:srgbClr val="2E7D4F"/>
            </a:solidFill>
            <a:prstDash val="solid"/>
          </a:ln>
        </p:spPr>
      </p:sp>
      <p:sp>
        <p:nvSpPr>
          <p:cNvPr id="22" name="Text 18"/>
          <p:cNvSpPr/>
          <p:nvPr/>
        </p:nvSpPr>
        <p:spPr>
          <a:xfrm>
            <a:off x="11240776" y="3759765"/>
            <a:ext cx="127902" cy="127902"/>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3" name="Shape 19"/>
          <p:cNvSpPr/>
          <p:nvPr/>
        </p:nvSpPr>
        <p:spPr>
          <a:xfrm>
            <a:off x="658368" y="4242816"/>
            <a:ext cx="3503066" cy="1170432"/>
          </a:xfrm>
          <a:prstGeom prst="rect">
            <a:avLst/>
          </a:prstGeom>
          <a:solidFill>
            <a:srgbClr val="FFFFFF"/>
          </a:solidFill>
          <a:ln w="12700">
            <a:solidFill>
              <a:srgbClr val="FFFFFF"/>
            </a:solidFill>
            <a:prstDash val="solid"/>
          </a:ln>
        </p:spPr>
      </p:sp>
      <p:sp>
        <p:nvSpPr>
          <p:cNvPr id="24" name="Shape 20"/>
          <p:cNvSpPr/>
          <p:nvPr/>
        </p:nvSpPr>
        <p:spPr>
          <a:xfrm>
            <a:off x="658368" y="4242816"/>
            <a:ext cx="3503066" cy="54864"/>
          </a:xfrm>
          <a:prstGeom prst="rect">
            <a:avLst/>
          </a:prstGeom>
          <a:solidFill>
            <a:srgbClr val="8A6A12"/>
          </a:solidFill>
          <a:ln w="12700">
            <a:solidFill>
              <a:srgbClr val="8A6A12"/>
            </a:solidFill>
            <a:prstDash val="solid"/>
          </a:ln>
        </p:spPr>
      </p:sp>
      <p:sp>
        <p:nvSpPr>
          <p:cNvPr id="25" name="Shape 21"/>
          <p:cNvSpPr/>
          <p:nvPr/>
        </p:nvSpPr>
        <p:spPr>
          <a:xfrm>
            <a:off x="841248" y="4425696"/>
            <a:ext cx="256032" cy="256032"/>
          </a:xfrm>
          <a:prstGeom prst="ellipse">
            <a:avLst/>
          </a:prstGeom>
          <a:solidFill>
            <a:srgbClr val="E0BC5A"/>
          </a:solidFill>
          <a:ln w="12700">
            <a:solidFill>
              <a:srgbClr val="E0BC5A"/>
            </a:solidFill>
            <a:prstDash val="solid"/>
          </a:ln>
        </p:spPr>
      </p:sp>
      <p:sp>
        <p:nvSpPr>
          <p:cNvPr id="26" name="Text 22"/>
          <p:cNvSpPr/>
          <p:nvPr/>
        </p:nvSpPr>
        <p:spPr>
          <a:xfrm>
            <a:off x="850392" y="4434840"/>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7" name="Text 23"/>
          <p:cNvSpPr txBox="1"/>
          <p:nvPr/>
        </p:nvSpPr>
        <p:spPr>
          <a:xfrm>
            <a:off x="1207008" y="4425696"/>
            <a:ext cx="2771546" cy="256032"/>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Qué revisar</a:t>
            </a:r>
            <a:endParaRPr lang="en-US" sz="1200" dirty="0"/>
          </a:p>
        </p:txBody>
      </p:sp>
      <p:sp>
        <p:nvSpPr>
          <p:cNvPr id="28" name="Text 24"/>
          <p:cNvSpPr txBox="1"/>
          <p:nvPr/>
        </p:nvSpPr>
        <p:spPr>
          <a:xfrm>
            <a:off x="877824" y="4736592"/>
            <a:ext cx="3100730" cy="64008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Las cuatro características de hoy, y la mantenibilidad.</a:t>
            </a:r>
            <a:endParaRPr lang="en-US" sz="960" dirty="0"/>
          </a:p>
        </p:txBody>
      </p:sp>
      <p:sp>
        <p:nvSpPr>
          <p:cNvPr id="29" name="Shape 25"/>
          <p:cNvSpPr/>
          <p:nvPr/>
        </p:nvSpPr>
        <p:spPr>
          <a:xfrm>
            <a:off x="4344314" y="4242816"/>
            <a:ext cx="3503066" cy="1170432"/>
          </a:xfrm>
          <a:prstGeom prst="rect">
            <a:avLst/>
          </a:prstGeom>
          <a:solidFill>
            <a:srgbClr val="FFFFFF"/>
          </a:solidFill>
          <a:ln w="12700">
            <a:solidFill>
              <a:srgbClr val="FFFFFF"/>
            </a:solidFill>
            <a:prstDash val="solid"/>
          </a:ln>
        </p:spPr>
      </p:sp>
      <p:sp>
        <p:nvSpPr>
          <p:cNvPr id="30" name="Shape 26"/>
          <p:cNvSpPr/>
          <p:nvPr/>
        </p:nvSpPr>
        <p:spPr>
          <a:xfrm>
            <a:off x="4344314" y="4242816"/>
            <a:ext cx="3503066" cy="54864"/>
          </a:xfrm>
          <a:prstGeom prst="rect">
            <a:avLst/>
          </a:prstGeom>
          <a:solidFill>
            <a:srgbClr val="8A6A12"/>
          </a:solidFill>
          <a:ln w="12700">
            <a:solidFill>
              <a:srgbClr val="8A6A12"/>
            </a:solidFill>
            <a:prstDash val="solid"/>
          </a:ln>
        </p:spPr>
      </p:sp>
      <p:sp>
        <p:nvSpPr>
          <p:cNvPr id="31" name="Shape 27"/>
          <p:cNvSpPr/>
          <p:nvPr/>
        </p:nvSpPr>
        <p:spPr>
          <a:xfrm>
            <a:off x="4527194" y="4425696"/>
            <a:ext cx="256032" cy="256032"/>
          </a:xfrm>
          <a:prstGeom prst="ellipse">
            <a:avLst/>
          </a:prstGeom>
          <a:solidFill>
            <a:srgbClr val="E0BC5A"/>
          </a:solidFill>
          <a:ln w="12700">
            <a:solidFill>
              <a:srgbClr val="E0BC5A"/>
            </a:solidFill>
            <a:prstDash val="solid"/>
          </a:ln>
        </p:spPr>
      </p:sp>
      <p:sp>
        <p:nvSpPr>
          <p:cNvPr id="32" name="Text 28"/>
          <p:cNvSpPr/>
          <p:nvPr/>
        </p:nvSpPr>
        <p:spPr>
          <a:xfrm>
            <a:off x="4536338" y="4434840"/>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33" name="Text 29"/>
          <p:cNvSpPr txBox="1"/>
          <p:nvPr/>
        </p:nvSpPr>
        <p:spPr>
          <a:xfrm>
            <a:off x="4892954" y="4425696"/>
            <a:ext cx="2771546" cy="256032"/>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Qué entregar</a:t>
            </a:r>
            <a:endParaRPr lang="en-US" sz="1200" dirty="0"/>
          </a:p>
        </p:txBody>
      </p:sp>
      <p:sp>
        <p:nvSpPr>
          <p:cNvPr id="34" name="Text 30"/>
          <p:cNvSpPr txBox="1"/>
          <p:nvPr/>
        </p:nvSpPr>
        <p:spPr>
          <a:xfrm>
            <a:off x="4563770" y="4736592"/>
            <a:ext cx="3100730" cy="64008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Por cada hallazgo: característica, evidencia, severidad y un requisito con magnitud, método y umbral.</a:t>
            </a:r>
            <a:endParaRPr lang="en-US" sz="960" dirty="0"/>
          </a:p>
        </p:txBody>
      </p:sp>
      <p:sp>
        <p:nvSpPr>
          <p:cNvPr id="35" name="Shape 31"/>
          <p:cNvSpPr/>
          <p:nvPr/>
        </p:nvSpPr>
        <p:spPr>
          <a:xfrm>
            <a:off x="8030261" y="4242816"/>
            <a:ext cx="3503066" cy="1170432"/>
          </a:xfrm>
          <a:prstGeom prst="rect">
            <a:avLst/>
          </a:prstGeom>
          <a:solidFill>
            <a:srgbClr val="FFFFFF"/>
          </a:solidFill>
          <a:ln w="12700">
            <a:solidFill>
              <a:srgbClr val="FFFFFF"/>
            </a:solidFill>
            <a:prstDash val="solid"/>
          </a:ln>
        </p:spPr>
      </p:sp>
      <p:sp>
        <p:nvSpPr>
          <p:cNvPr id="36" name="Shape 32"/>
          <p:cNvSpPr/>
          <p:nvPr/>
        </p:nvSpPr>
        <p:spPr>
          <a:xfrm>
            <a:off x="8030261" y="4242816"/>
            <a:ext cx="3503066" cy="54864"/>
          </a:xfrm>
          <a:prstGeom prst="rect">
            <a:avLst/>
          </a:prstGeom>
          <a:solidFill>
            <a:srgbClr val="2E7D4F"/>
          </a:solidFill>
          <a:ln w="12700">
            <a:solidFill>
              <a:srgbClr val="2E7D4F"/>
            </a:solidFill>
            <a:prstDash val="solid"/>
          </a:ln>
        </p:spPr>
      </p:sp>
      <p:sp>
        <p:nvSpPr>
          <p:cNvPr id="37" name="Shape 33"/>
          <p:cNvSpPr/>
          <p:nvPr/>
        </p:nvSpPr>
        <p:spPr>
          <a:xfrm>
            <a:off x="8213141" y="4425696"/>
            <a:ext cx="256032" cy="256032"/>
          </a:xfrm>
          <a:prstGeom prst="ellipse">
            <a:avLst/>
          </a:prstGeom>
          <a:solidFill>
            <a:srgbClr val="2E7D4F"/>
          </a:solidFill>
          <a:ln w="12700">
            <a:solidFill>
              <a:srgbClr val="2E7D4F"/>
            </a:solidFill>
            <a:prstDash val="solid"/>
          </a:ln>
        </p:spPr>
      </p:sp>
      <p:sp>
        <p:nvSpPr>
          <p:cNvPr id="38" name="Text 34"/>
          <p:cNvSpPr/>
          <p:nvPr/>
        </p:nvSpPr>
        <p:spPr>
          <a:xfrm>
            <a:off x="8222285" y="4434840"/>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39" name="Text 35"/>
          <p:cNvSpPr txBox="1"/>
          <p:nvPr/>
        </p:nvSpPr>
        <p:spPr>
          <a:xfrm>
            <a:off x="8578901" y="4425696"/>
            <a:ext cx="2771546" cy="256032"/>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Qué puede hacer</a:t>
            </a:r>
            <a:endParaRPr lang="en-US" sz="1200" dirty="0"/>
          </a:p>
        </p:txBody>
      </p:sp>
      <p:sp>
        <p:nvSpPr>
          <p:cNvPr id="40" name="Text 36"/>
          <p:cNvSpPr txBox="1"/>
          <p:nvPr/>
        </p:nvSpPr>
        <p:spPr>
          <a:xfrm>
            <a:off x="8249717" y="4736592"/>
            <a:ext cx="3100730" cy="640080"/>
          </a:xfrm>
          <a:prstGeom prst="rect">
            <a:avLst/>
          </a:prstGeom>
          <a:noFill/>
          <a:ln/>
        </p:spPr>
        <p:txBody>
          <a:bodyPr wrap="square" lIns="0" tIns="0" rIns="0" bIns="0" rtlCol="0" anchor="t"/>
          <a:lstStyle/>
          <a:p>
            <a:pPr algn="l" indent="0" marL="0">
              <a:lnSpc>
                <a:spcPct val="105000"/>
              </a:lnSpc>
              <a:buNone/>
            </a:pPr>
            <a:r>
              <a:rPr lang="en-US" sz="960" dirty="0">
                <a:solidFill>
                  <a:srgbClr val="52606D"/>
                </a:solidFill>
                <a:latin typeface="Aptos" pitchFamily="34" charset="0"/>
                <a:ea typeface="Aptos" pitchFamily="34" charset="-122"/>
                <a:cs typeface="Aptos" pitchFamily="34" charset="-120"/>
              </a:rPr>
              <a:t>claude -p le entrega el pedido al agente; --allowed-tools solo le deja leer y buscar. Y tiene que declarar lo que no comprobó.</a:t>
            </a:r>
            <a:endParaRPr lang="en-US" sz="960" dirty="0"/>
          </a:p>
        </p:txBody>
      </p:sp>
      <p:sp>
        <p:nvSpPr>
          <p:cNvPr id="41"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El pedido va sin tildes porque se escribió así en la terminal; el agente respondió en español correcto.</a:t>
            </a:r>
            <a:endParaRPr lang="en-US" sz="126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LO QUE DEVOLVIÓ</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Leyendo, encontró lo mismo que ejecutando</a:t>
            </a:r>
            <a:endParaRPr lang="en-US" sz="2800" dirty="0"/>
          </a:p>
        </p:txBody>
      </p:sp>
      <p:sp>
        <p:nvSpPr>
          <p:cNvPr id="10" name="Shape 7"/>
          <p:cNvSpPr/>
          <p:nvPr/>
        </p:nvSpPr>
        <p:spPr>
          <a:xfrm>
            <a:off x="658368" y="1737360"/>
            <a:ext cx="3017520" cy="877824"/>
          </a:xfrm>
          <a:prstGeom prst="rect">
            <a:avLst/>
          </a:prstGeom>
          <a:solidFill>
            <a:srgbClr val="FFFFFF"/>
          </a:solidFill>
          <a:ln w="12700">
            <a:solidFill>
              <a:srgbClr val="FFFFFF"/>
            </a:solidFill>
            <a:prstDash val="solid"/>
          </a:ln>
        </p:spPr>
      </p:sp>
      <p:sp>
        <p:nvSpPr>
          <p:cNvPr id="11" name="Shape 8"/>
          <p:cNvSpPr/>
          <p:nvPr/>
        </p:nvSpPr>
        <p:spPr>
          <a:xfrm>
            <a:off x="658368" y="1737360"/>
            <a:ext cx="54864" cy="877824"/>
          </a:xfrm>
          <a:prstGeom prst="rect">
            <a:avLst/>
          </a:prstGeom>
          <a:solidFill>
            <a:srgbClr val="102A43"/>
          </a:solidFill>
          <a:ln w="12700">
            <a:solidFill>
              <a:srgbClr val="102A43"/>
            </a:solidFill>
            <a:prstDash val="solid"/>
          </a:ln>
        </p:spPr>
      </p:sp>
      <p:sp>
        <p:nvSpPr>
          <p:cNvPr id="12" name="Text 9"/>
          <p:cNvSpPr txBox="1"/>
          <p:nvPr/>
        </p:nvSpPr>
        <p:spPr>
          <a:xfrm>
            <a:off x="877824" y="1828800"/>
            <a:ext cx="914400" cy="694944"/>
          </a:xfrm>
          <a:prstGeom prst="rect">
            <a:avLst/>
          </a:prstGeom>
          <a:noFill/>
          <a:ln/>
        </p:spPr>
        <p:txBody>
          <a:bodyPr wrap="square" lIns="0" tIns="0" rIns="0" bIns="0" rtlCol="0" anchor="ctr"/>
          <a:lstStyle/>
          <a:p>
            <a:pPr algn="l" indent="0" marL="0">
              <a:buNone/>
            </a:pPr>
            <a:r>
              <a:rPr lang="en-US" sz="3200" b="1" dirty="0">
                <a:solidFill>
                  <a:srgbClr val="102A43"/>
                </a:solidFill>
                <a:latin typeface="Aptos Display" pitchFamily="34" charset="0"/>
                <a:ea typeface="Aptos Display" pitchFamily="34" charset="-122"/>
                <a:cs typeface="Aptos Display" pitchFamily="34" charset="-120"/>
              </a:rPr>
              <a:t>28</a:t>
            </a:r>
            <a:endParaRPr lang="en-US" sz="3200" dirty="0"/>
          </a:p>
        </p:txBody>
      </p:sp>
      <p:sp>
        <p:nvSpPr>
          <p:cNvPr id="13" name="Text 10"/>
          <p:cNvSpPr txBox="1"/>
          <p:nvPr/>
        </p:nvSpPr>
        <p:spPr>
          <a:xfrm>
            <a:off x="1755648" y="1828800"/>
            <a:ext cx="1773936" cy="694944"/>
          </a:xfrm>
          <a:prstGeom prst="rect">
            <a:avLst/>
          </a:prstGeom>
          <a:noFill/>
          <a:ln/>
        </p:spPr>
        <p:txBody>
          <a:bodyPr wrap="square" lIns="0" tIns="0" rIns="0" bIns="0" rtlCol="0" anchor="ctr"/>
          <a:lstStyle/>
          <a:p>
            <a:pPr algn="l" indent="0" marL="0">
              <a:lnSpc>
                <a:spcPct val="105000"/>
              </a:lnSpc>
              <a:buNone/>
            </a:pPr>
            <a:r>
              <a:rPr lang="en-US" sz="1120" dirty="0">
                <a:solidFill>
                  <a:srgbClr val="243B53"/>
                </a:solidFill>
                <a:latin typeface="Aptos" pitchFamily="34" charset="0"/>
                <a:ea typeface="Aptos" pitchFamily="34" charset="-122"/>
                <a:cs typeface="Aptos" pitchFamily="34" charset="-120"/>
              </a:rPr>
              <a:t>hallazgos, en cinco áreas</a:t>
            </a:r>
            <a:endParaRPr lang="en-US" sz="1120" dirty="0"/>
          </a:p>
        </p:txBody>
      </p:sp>
      <p:sp>
        <p:nvSpPr>
          <p:cNvPr id="14" name="Shape 11"/>
          <p:cNvSpPr/>
          <p:nvPr/>
        </p:nvSpPr>
        <p:spPr>
          <a:xfrm>
            <a:off x="658368" y="2724912"/>
            <a:ext cx="3017520" cy="877824"/>
          </a:xfrm>
          <a:prstGeom prst="rect">
            <a:avLst/>
          </a:prstGeom>
          <a:solidFill>
            <a:srgbClr val="FFFFFF"/>
          </a:solidFill>
          <a:ln w="12700">
            <a:solidFill>
              <a:srgbClr val="FFFFFF"/>
            </a:solidFill>
            <a:prstDash val="solid"/>
          </a:ln>
        </p:spPr>
      </p:sp>
      <p:sp>
        <p:nvSpPr>
          <p:cNvPr id="15" name="Shape 12"/>
          <p:cNvSpPr/>
          <p:nvPr/>
        </p:nvSpPr>
        <p:spPr>
          <a:xfrm>
            <a:off x="658368" y="2724912"/>
            <a:ext cx="54864" cy="877824"/>
          </a:xfrm>
          <a:prstGeom prst="rect">
            <a:avLst/>
          </a:prstGeom>
          <a:solidFill>
            <a:srgbClr val="B3181E"/>
          </a:solidFill>
          <a:ln w="12700">
            <a:solidFill>
              <a:srgbClr val="B3181E"/>
            </a:solidFill>
            <a:prstDash val="solid"/>
          </a:ln>
        </p:spPr>
      </p:sp>
      <p:sp>
        <p:nvSpPr>
          <p:cNvPr id="16" name="Text 13"/>
          <p:cNvSpPr txBox="1"/>
          <p:nvPr/>
        </p:nvSpPr>
        <p:spPr>
          <a:xfrm>
            <a:off x="877824" y="2816352"/>
            <a:ext cx="914400" cy="694944"/>
          </a:xfrm>
          <a:prstGeom prst="rect">
            <a:avLst/>
          </a:prstGeom>
          <a:noFill/>
          <a:ln/>
        </p:spPr>
        <p:txBody>
          <a:bodyPr wrap="square" lIns="0" tIns="0" rIns="0" bIns="0" rtlCol="0" anchor="ctr"/>
          <a:lstStyle/>
          <a:p>
            <a:pPr algn="l" indent="0" marL="0">
              <a:buNone/>
            </a:pPr>
            <a:r>
              <a:rPr lang="en-US" sz="3200" b="1" dirty="0">
                <a:solidFill>
                  <a:srgbClr val="B3181E"/>
                </a:solidFill>
                <a:latin typeface="Aptos Display" pitchFamily="34" charset="0"/>
                <a:ea typeface="Aptos Display" pitchFamily="34" charset="-122"/>
                <a:cs typeface="Aptos Display" pitchFamily="34" charset="-120"/>
              </a:rPr>
              <a:t>6</a:t>
            </a:r>
            <a:endParaRPr lang="en-US" sz="3200" dirty="0"/>
          </a:p>
        </p:txBody>
      </p:sp>
      <p:sp>
        <p:nvSpPr>
          <p:cNvPr id="17" name="Text 14"/>
          <p:cNvSpPr txBox="1"/>
          <p:nvPr/>
        </p:nvSpPr>
        <p:spPr>
          <a:xfrm>
            <a:off x="1755648" y="2816352"/>
            <a:ext cx="1773936" cy="694944"/>
          </a:xfrm>
          <a:prstGeom prst="rect">
            <a:avLst/>
          </a:prstGeom>
          <a:noFill/>
          <a:ln/>
        </p:spPr>
        <p:txBody>
          <a:bodyPr wrap="square" lIns="0" tIns="0" rIns="0" bIns="0" rtlCol="0" anchor="ctr"/>
          <a:lstStyle/>
          <a:p>
            <a:pPr algn="l" indent="0" marL="0">
              <a:lnSpc>
                <a:spcPct val="105000"/>
              </a:lnSpc>
              <a:buNone/>
            </a:pPr>
            <a:r>
              <a:rPr lang="en-US" sz="1120" dirty="0">
                <a:solidFill>
                  <a:srgbClr val="243B53"/>
                </a:solidFill>
                <a:latin typeface="Aptos" pitchFamily="34" charset="0"/>
                <a:ea typeface="Aptos" pitchFamily="34" charset="-122"/>
                <a:cs typeface="Aptos" pitchFamily="34" charset="-120"/>
              </a:rPr>
              <a:t>de severidad alta</a:t>
            </a:r>
            <a:endParaRPr lang="en-US" sz="1120" dirty="0"/>
          </a:p>
        </p:txBody>
      </p:sp>
      <p:sp>
        <p:nvSpPr>
          <p:cNvPr id="18" name="Shape 15"/>
          <p:cNvSpPr/>
          <p:nvPr/>
        </p:nvSpPr>
        <p:spPr>
          <a:xfrm>
            <a:off x="658368" y="3712464"/>
            <a:ext cx="3017520" cy="877824"/>
          </a:xfrm>
          <a:prstGeom prst="rect">
            <a:avLst/>
          </a:prstGeom>
          <a:solidFill>
            <a:srgbClr val="FFFFFF"/>
          </a:solidFill>
          <a:ln w="12700">
            <a:solidFill>
              <a:srgbClr val="FFFFFF"/>
            </a:solidFill>
            <a:prstDash val="solid"/>
          </a:ln>
        </p:spPr>
      </p:sp>
      <p:sp>
        <p:nvSpPr>
          <p:cNvPr id="19" name="Shape 16"/>
          <p:cNvSpPr/>
          <p:nvPr/>
        </p:nvSpPr>
        <p:spPr>
          <a:xfrm>
            <a:off x="658368" y="3712464"/>
            <a:ext cx="54864" cy="877824"/>
          </a:xfrm>
          <a:prstGeom prst="rect">
            <a:avLst/>
          </a:prstGeom>
          <a:solidFill>
            <a:srgbClr val="8A6A12"/>
          </a:solidFill>
          <a:ln w="12700">
            <a:solidFill>
              <a:srgbClr val="8A6A12"/>
            </a:solidFill>
            <a:prstDash val="solid"/>
          </a:ln>
        </p:spPr>
      </p:sp>
      <p:sp>
        <p:nvSpPr>
          <p:cNvPr id="20" name="Text 17"/>
          <p:cNvSpPr txBox="1"/>
          <p:nvPr/>
        </p:nvSpPr>
        <p:spPr>
          <a:xfrm>
            <a:off x="877824" y="3803904"/>
            <a:ext cx="914400" cy="694944"/>
          </a:xfrm>
          <a:prstGeom prst="rect">
            <a:avLst/>
          </a:prstGeom>
          <a:noFill/>
          <a:ln/>
        </p:spPr>
        <p:txBody>
          <a:bodyPr wrap="square" lIns="0" tIns="0" rIns="0" bIns="0" rtlCol="0" anchor="ctr"/>
          <a:lstStyle/>
          <a:p>
            <a:pPr algn="l" indent="0" marL="0">
              <a:buNone/>
            </a:pPr>
            <a:r>
              <a:rPr lang="en-US" sz="3200" b="1" dirty="0">
                <a:solidFill>
                  <a:srgbClr val="8A6A12"/>
                </a:solidFill>
                <a:latin typeface="Aptos Display" pitchFamily="34" charset="0"/>
                <a:ea typeface="Aptos Display" pitchFamily="34" charset="-122"/>
                <a:cs typeface="Aptos Display" pitchFamily="34" charset="-120"/>
              </a:rPr>
              <a:t>10</a:t>
            </a:r>
            <a:endParaRPr lang="en-US" sz="3200" dirty="0"/>
          </a:p>
        </p:txBody>
      </p:sp>
      <p:sp>
        <p:nvSpPr>
          <p:cNvPr id="21" name="Text 18"/>
          <p:cNvSpPr txBox="1"/>
          <p:nvPr/>
        </p:nvSpPr>
        <p:spPr>
          <a:xfrm>
            <a:off x="1755648" y="3803904"/>
            <a:ext cx="1773936" cy="694944"/>
          </a:xfrm>
          <a:prstGeom prst="rect">
            <a:avLst/>
          </a:prstGeom>
          <a:noFill/>
          <a:ln/>
        </p:spPr>
        <p:txBody>
          <a:bodyPr wrap="square" lIns="0" tIns="0" rIns="0" bIns="0" rtlCol="0" anchor="ctr"/>
          <a:lstStyle/>
          <a:p>
            <a:pPr algn="l" indent="0" marL="0">
              <a:lnSpc>
                <a:spcPct val="105000"/>
              </a:lnSpc>
              <a:buNone/>
            </a:pPr>
            <a:r>
              <a:rPr lang="en-US" sz="1120" dirty="0">
                <a:solidFill>
                  <a:srgbClr val="243B53"/>
                </a:solidFill>
                <a:latin typeface="Aptos" pitchFamily="34" charset="0"/>
                <a:ea typeface="Aptos" pitchFamily="34" charset="-122"/>
                <a:cs typeface="Aptos" pitchFamily="34" charset="-120"/>
              </a:rPr>
              <a:t>afirmaciones que declaró no haber podido comprobar</a:t>
            </a:r>
            <a:endParaRPr lang="en-US" sz="1120" dirty="0"/>
          </a:p>
        </p:txBody>
      </p:sp>
      <p:sp>
        <p:nvSpPr>
          <p:cNvPr id="22" name="Text 19"/>
          <p:cNvSpPr txBox="1"/>
          <p:nvPr/>
        </p:nvSpPr>
        <p:spPr>
          <a:xfrm>
            <a:off x="4041648" y="1737360"/>
            <a:ext cx="7491679"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LAS CUATRO COSAS QUE ESTA SESIÓN Y LA DE LA MAÑANA ENCONTRARON EJECUTANDO</a:t>
            </a:r>
            <a:endParaRPr lang="en-US" sz="960" dirty="0"/>
          </a:p>
        </p:txBody>
      </p:sp>
      <p:sp>
        <p:nvSpPr>
          <p:cNvPr id="23" name="Shape 20"/>
          <p:cNvSpPr/>
          <p:nvPr/>
        </p:nvSpPr>
        <p:spPr>
          <a:xfrm>
            <a:off x="4041648" y="2029968"/>
            <a:ext cx="3654400" cy="859536"/>
          </a:xfrm>
          <a:prstGeom prst="rect">
            <a:avLst/>
          </a:prstGeom>
          <a:solidFill>
            <a:srgbClr val="FFFFFF"/>
          </a:solidFill>
          <a:ln w="12700">
            <a:solidFill>
              <a:srgbClr val="FFFFFF"/>
            </a:solidFill>
            <a:prstDash val="solid"/>
          </a:ln>
        </p:spPr>
      </p:sp>
      <p:sp>
        <p:nvSpPr>
          <p:cNvPr id="24" name="Shape 21"/>
          <p:cNvSpPr/>
          <p:nvPr/>
        </p:nvSpPr>
        <p:spPr>
          <a:xfrm>
            <a:off x="4041648" y="2029968"/>
            <a:ext cx="54864" cy="859536"/>
          </a:xfrm>
          <a:prstGeom prst="rect">
            <a:avLst/>
          </a:prstGeom>
          <a:solidFill>
            <a:srgbClr val="2E7D4F"/>
          </a:solidFill>
          <a:ln w="12700">
            <a:solidFill>
              <a:srgbClr val="2E7D4F"/>
            </a:solidFill>
            <a:prstDash val="solid"/>
          </a:ln>
        </p:spPr>
      </p:sp>
      <p:sp>
        <p:nvSpPr>
          <p:cNvPr id="25" name="Text 22"/>
          <p:cNvSpPr txBox="1"/>
          <p:nvPr/>
        </p:nvSpPr>
        <p:spPr>
          <a:xfrm>
            <a:off x="4242816" y="2103120"/>
            <a:ext cx="2374240" cy="256032"/>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La doble reserva</a:t>
            </a:r>
            <a:endParaRPr lang="en-US" sz="1180" dirty="0"/>
          </a:p>
        </p:txBody>
      </p:sp>
      <p:sp>
        <p:nvSpPr>
          <p:cNvPr id="26" name="Text 23"/>
          <p:cNvSpPr txBox="1"/>
          <p:nvPr/>
        </p:nvSpPr>
        <p:spPr>
          <a:xfrm>
            <a:off x="6598768" y="2121408"/>
            <a:ext cx="950976" cy="219456"/>
          </a:xfrm>
          <a:prstGeom prst="rect">
            <a:avLst/>
          </a:prstGeom>
          <a:noFill/>
          <a:ln/>
        </p:spPr>
        <p:txBody>
          <a:bodyPr wrap="square" lIns="0" tIns="0" rIns="0" bIns="0" rtlCol="0" anchor="t"/>
          <a:lstStyle/>
          <a:p>
            <a:pPr algn="r" indent="0" marL="0">
              <a:buNone/>
            </a:pPr>
            <a:r>
              <a:rPr lang="en-US" sz="940" b="1" dirty="0">
                <a:solidFill>
                  <a:srgbClr val="2E7D4F"/>
                </a:solidFill>
                <a:latin typeface="Aptos" pitchFamily="34" charset="0"/>
                <a:ea typeface="Aptos" pitchFamily="34" charset="-122"/>
                <a:cs typeface="Aptos" pitchFamily="34" charset="-120"/>
              </a:rPr>
              <a:t>Bloque 1</a:t>
            </a:r>
            <a:endParaRPr lang="en-US" sz="940" dirty="0"/>
          </a:p>
        </p:txBody>
      </p:sp>
      <p:sp>
        <p:nvSpPr>
          <p:cNvPr id="27" name="Text 24"/>
          <p:cNvSpPr txBox="1"/>
          <p:nvPr/>
        </p:nvSpPr>
        <p:spPr>
          <a:xfrm>
            <a:off x="4242816" y="2414016"/>
            <a:ext cx="3288640" cy="43891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La infirió del código.</a:t>
            </a:r>
            <a:endParaRPr lang="en-US" sz="980" dirty="0"/>
          </a:p>
        </p:txBody>
      </p:sp>
      <p:sp>
        <p:nvSpPr>
          <p:cNvPr id="28" name="Shape 25"/>
          <p:cNvSpPr/>
          <p:nvPr/>
        </p:nvSpPr>
        <p:spPr>
          <a:xfrm>
            <a:off x="7878928" y="2029968"/>
            <a:ext cx="3654400" cy="859536"/>
          </a:xfrm>
          <a:prstGeom prst="rect">
            <a:avLst/>
          </a:prstGeom>
          <a:solidFill>
            <a:srgbClr val="FFFFFF"/>
          </a:solidFill>
          <a:ln w="12700">
            <a:solidFill>
              <a:srgbClr val="FFFFFF"/>
            </a:solidFill>
            <a:prstDash val="solid"/>
          </a:ln>
        </p:spPr>
      </p:sp>
      <p:sp>
        <p:nvSpPr>
          <p:cNvPr id="29" name="Shape 26"/>
          <p:cNvSpPr/>
          <p:nvPr/>
        </p:nvSpPr>
        <p:spPr>
          <a:xfrm>
            <a:off x="7878928" y="2029968"/>
            <a:ext cx="54864" cy="859536"/>
          </a:xfrm>
          <a:prstGeom prst="rect">
            <a:avLst/>
          </a:prstGeom>
          <a:solidFill>
            <a:srgbClr val="2E7D4F"/>
          </a:solidFill>
          <a:ln w="12700">
            <a:solidFill>
              <a:srgbClr val="2E7D4F"/>
            </a:solidFill>
            <a:prstDash val="solid"/>
          </a:ln>
        </p:spPr>
      </p:sp>
      <p:sp>
        <p:nvSpPr>
          <p:cNvPr id="30" name="Text 27"/>
          <p:cNvSpPr txBox="1"/>
          <p:nvPr/>
        </p:nvSpPr>
        <p:spPr>
          <a:xfrm>
            <a:off x="8080096" y="2103120"/>
            <a:ext cx="2374240" cy="256032"/>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La suplantación</a:t>
            </a:r>
            <a:endParaRPr lang="en-US" sz="1180" dirty="0"/>
          </a:p>
        </p:txBody>
      </p:sp>
      <p:sp>
        <p:nvSpPr>
          <p:cNvPr id="31" name="Text 28"/>
          <p:cNvSpPr txBox="1"/>
          <p:nvPr/>
        </p:nvSpPr>
        <p:spPr>
          <a:xfrm>
            <a:off x="10436047" y="2121408"/>
            <a:ext cx="950976" cy="219456"/>
          </a:xfrm>
          <a:prstGeom prst="rect">
            <a:avLst/>
          </a:prstGeom>
          <a:noFill/>
          <a:ln/>
        </p:spPr>
        <p:txBody>
          <a:bodyPr wrap="square" lIns="0" tIns="0" rIns="0" bIns="0" rtlCol="0" anchor="t"/>
          <a:lstStyle/>
          <a:p>
            <a:pPr algn="r" indent="0" marL="0">
              <a:buNone/>
            </a:pPr>
            <a:r>
              <a:rPr lang="en-US" sz="940" b="1" dirty="0">
                <a:solidFill>
                  <a:srgbClr val="2E7D4F"/>
                </a:solidFill>
                <a:latin typeface="Aptos" pitchFamily="34" charset="0"/>
                <a:ea typeface="Aptos" pitchFamily="34" charset="-122"/>
                <a:cs typeface="Aptos" pitchFamily="34" charset="-120"/>
              </a:rPr>
              <a:t>Bloque 2</a:t>
            </a:r>
            <a:endParaRPr lang="en-US" sz="940" dirty="0"/>
          </a:p>
        </p:txBody>
      </p:sp>
      <p:sp>
        <p:nvSpPr>
          <p:cNvPr id="32" name="Text 29"/>
          <p:cNvSpPr txBox="1"/>
          <p:nvPr/>
        </p:nvSpPr>
        <p:spPr>
          <a:xfrm>
            <a:off x="8080096" y="2414016"/>
            <a:ext cx="3288640" cy="43891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Sin autenticación: se reserva con cualquier RUT.</a:t>
            </a:r>
            <a:endParaRPr lang="en-US" sz="980" dirty="0"/>
          </a:p>
        </p:txBody>
      </p:sp>
      <p:sp>
        <p:nvSpPr>
          <p:cNvPr id="33" name="Shape 30"/>
          <p:cNvSpPr/>
          <p:nvPr/>
        </p:nvSpPr>
        <p:spPr>
          <a:xfrm>
            <a:off x="4041648" y="2999232"/>
            <a:ext cx="3654400" cy="859536"/>
          </a:xfrm>
          <a:prstGeom prst="rect">
            <a:avLst/>
          </a:prstGeom>
          <a:solidFill>
            <a:srgbClr val="FFFFFF"/>
          </a:solidFill>
          <a:ln w="12700">
            <a:solidFill>
              <a:srgbClr val="FFFFFF"/>
            </a:solidFill>
            <a:prstDash val="solid"/>
          </a:ln>
        </p:spPr>
      </p:sp>
      <p:sp>
        <p:nvSpPr>
          <p:cNvPr id="34" name="Shape 31"/>
          <p:cNvSpPr/>
          <p:nvPr/>
        </p:nvSpPr>
        <p:spPr>
          <a:xfrm>
            <a:off x="4041648" y="2999232"/>
            <a:ext cx="54864" cy="859536"/>
          </a:xfrm>
          <a:prstGeom prst="rect">
            <a:avLst/>
          </a:prstGeom>
          <a:solidFill>
            <a:srgbClr val="2E7D4F"/>
          </a:solidFill>
          <a:ln w="12700">
            <a:solidFill>
              <a:srgbClr val="2E7D4F"/>
            </a:solidFill>
            <a:prstDash val="solid"/>
          </a:ln>
        </p:spPr>
      </p:sp>
      <p:sp>
        <p:nvSpPr>
          <p:cNvPr id="35" name="Text 32"/>
          <p:cNvSpPr txBox="1"/>
          <p:nvPr/>
        </p:nvSpPr>
        <p:spPr>
          <a:xfrm>
            <a:off x="4242816" y="3072384"/>
            <a:ext cx="2374240" cy="256032"/>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El contraste de «Tomado»</a:t>
            </a:r>
            <a:endParaRPr lang="en-US" sz="1180" dirty="0"/>
          </a:p>
        </p:txBody>
      </p:sp>
      <p:sp>
        <p:nvSpPr>
          <p:cNvPr id="36" name="Text 33"/>
          <p:cNvSpPr txBox="1"/>
          <p:nvPr/>
        </p:nvSpPr>
        <p:spPr>
          <a:xfrm>
            <a:off x="6598768" y="3090672"/>
            <a:ext cx="950976" cy="219456"/>
          </a:xfrm>
          <a:prstGeom prst="rect">
            <a:avLst/>
          </a:prstGeom>
          <a:noFill/>
          <a:ln/>
        </p:spPr>
        <p:txBody>
          <a:bodyPr wrap="square" lIns="0" tIns="0" rIns="0" bIns="0" rtlCol="0" anchor="t"/>
          <a:lstStyle/>
          <a:p>
            <a:pPr algn="r" indent="0" marL="0">
              <a:buNone/>
            </a:pPr>
            <a:r>
              <a:rPr lang="en-US" sz="940" b="1" dirty="0">
                <a:solidFill>
                  <a:srgbClr val="2E7D4F"/>
                </a:solidFill>
                <a:latin typeface="Aptos" pitchFamily="34" charset="0"/>
                <a:ea typeface="Aptos" pitchFamily="34" charset="-122"/>
                <a:cs typeface="Aptos" pitchFamily="34" charset="-120"/>
              </a:rPr>
              <a:t>Bloque 3</a:t>
            </a:r>
            <a:endParaRPr lang="en-US" sz="940" dirty="0"/>
          </a:p>
        </p:txBody>
      </p:sp>
      <p:sp>
        <p:nvSpPr>
          <p:cNvPr id="37" name="Text 34"/>
          <p:cNvSpPr txBox="1"/>
          <p:nvPr/>
        </p:nvSpPr>
        <p:spPr>
          <a:xfrm>
            <a:off x="4242816" y="3383280"/>
            <a:ext cx="3288640" cy="43891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Lo estimó en 2,6 a 1; medido, fue 2,55.</a:t>
            </a:r>
            <a:endParaRPr lang="en-US" sz="980" dirty="0"/>
          </a:p>
        </p:txBody>
      </p:sp>
      <p:sp>
        <p:nvSpPr>
          <p:cNvPr id="38" name="Shape 35"/>
          <p:cNvSpPr/>
          <p:nvPr/>
        </p:nvSpPr>
        <p:spPr>
          <a:xfrm>
            <a:off x="7878928" y="2999232"/>
            <a:ext cx="3654400" cy="859536"/>
          </a:xfrm>
          <a:prstGeom prst="rect">
            <a:avLst/>
          </a:prstGeom>
          <a:solidFill>
            <a:srgbClr val="FFFFFF"/>
          </a:solidFill>
          <a:ln w="12700">
            <a:solidFill>
              <a:srgbClr val="FFFFFF"/>
            </a:solidFill>
            <a:prstDash val="solid"/>
          </a:ln>
        </p:spPr>
      </p:sp>
      <p:sp>
        <p:nvSpPr>
          <p:cNvPr id="39" name="Shape 36"/>
          <p:cNvSpPr/>
          <p:nvPr/>
        </p:nvSpPr>
        <p:spPr>
          <a:xfrm>
            <a:off x="7878928" y="2999232"/>
            <a:ext cx="54864" cy="859536"/>
          </a:xfrm>
          <a:prstGeom prst="rect">
            <a:avLst/>
          </a:prstGeom>
          <a:solidFill>
            <a:srgbClr val="2E7D4F"/>
          </a:solidFill>
          <a:ln w="12700">
            <a:solidFill>
              <a:srgbClr val="2E7D4F"/>
            </a:solidFill>
            <a:prstDash val="solid"/>
          </a:ln>
        </p:spPr>
      </p:sp>
      <p:sp>
        <p:nvSpPr>
          <p:cNvPr id="40" name="Text 37"/>
          <p:cNvSpPr txBox="1"/>
          <p:nvPr/>
        </p:nvSpPr>
        <p:spPr>
          <a:xfrm>
            <a:off x="8080096" y="3072384"/>
            <a:ext cx="2374240" cy="256032"/>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El [object Object]</a:t>
            </a:r>
            <a:endParaRPr lang="en-US" sz="1180" dirty="0"/>
          </a:p>
        </p:txBody>
      </p:sp>
      <p:sp>
        <p:nvSpPr>
          <p:cNvPr id="41" name="Text 38"/>
          <p:cNvSpPr txBox="1"/>
          <p:nvPr/>
        </p:nvSpPr>
        <p:spPr>
          <a:xfrm>
            <a:off x="10436047" y="3090672"/>
            <a:ext cx="950976" cy="219456"/>
          </a:xfrm>
          <a:prstGeom prst="rect">
            <a:avLst/>
          </a:prstGeom>
          <a:noFill/>
          <a:ln/>
        </p:spPr>
        <p:txBody>
          <a:bodyPr wrap="square" lIns="0" tIns="0" rIns="0" bIns="0" rtlCol="0" anchor="t"/>
          <a:lstStyle/>
          <a:p>
            <a:pPr algn="r" indent="0" marL="0">
              <a:buNone/>
            </a:pPr>
            <a:r>
              <a:rPr lang="en-US" sz="940" b="1" dirty="0">
                <a:solidFill>
                  <a:srgbClr val="2E7D4F"/>
                </a:solidFill>
                <a:latin typeface="Aptos" pitchFamily="34" charset="0"/>
                <a:ea typeface="Aptos" pitchFamily="34" charset="-122"/>
                <a:cs typeface="Aptos" pitchFamily="34" charset="-120"/>
              </a:rPr>
              <a:t>La mañana</a:t>
            </a:r>
            <a:endParaRPr lang="en-US" sz="940" dirty="0"/>
          </a:p>
        </p:txBody>
      </p:sp>
      <p:sp>
        <p:nvSpPr>
          <p:cNvPr id="42" name="Text 39"/>
          <p:cNvSpPr txBox="1"/>
          <p:nvPr/>
        </p:nvSpPr>
        <p:spPr>
          <a:xfrm>
            <a:off x="8080096" y="3383280"/>
            <a:ext cx="3288640" cy="43891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Lo dedujo de cómo FastAPI forma los errores, sin verlo en pantalla.</a:t>
            </a:r>
            <a:endParaRPr lang="en-US" sz="980" dirty="0"/>
          </a:p>
        </p:txBody>
      </p:sp>
      <p:sp>
        <p:nvSpPr>
          <p:cNvPr id="43" name="Shape 40"/>
          <p:cNvSpPr/>
          <p:nvPr/>
        </p:nvSpPr>
        <p:spPr>
          <a:xfrm>
            <a:off x="4041648" y="4078224"/>
            <a:ext cx="7491679" cy="585216"/>
          </a:xfrm>
          <a:prstGeom prst="rect">
            <a:avLst/>
          </a:prstGeom>
          <a:solidFill>
            <a:srgbClr val="1D3A57"/>
          </a:solidFill>
          <a:ln w="12700">
            <a:solidFill>
              <a:srgbClr val="1D3A57"/>
            </a:solidFill>
            <a:prstDash val="solid"/>
          </a:ln>
        </p:spPr>
      </p:sp>
      <p:sp>
        <p:nvSpPr>
          <p:cNvPr id="44" name="Text 41"/>
          <p:cNvSpPr txBox="1"/>
          <p:nvPr/>
        </p:nvSpPr>
        <p:spPr>
          <a:xfrm>
            <a:off x="4261104" y="4114800"/>
            <a:ext cx="7125919" cy="512064"/>
          </a:xfrm>
          <a:prstGeom prst="rect">
            <a:avLst/>
          </a:prstGeom>
          <a:noFill/>
          <a:ln/>
        </p:spPr>
        <p:txBody>
          <a:bodyPr wrap="square" lIns="0" tIns="0" rIns="0" bIns="0" rtlCol="0" anchor="ctr"/>
          <a:lstStyle/>
          <a:p>
            <a:pPr algn="l" indent="0" marL="0">
              <a:lnSpc>
                <a:spcPct val="106000"/>
              </a:lnSpc>
              <a:buNone/>
            </a:pPr>
            <a:r>
              <a:rPr lang="en-US" sz="1100" dirty="0">
                <a:solidFill>
                  <a:srgbClr val="FFFFFF"/>
                </a:solidFill>
                <a:latin typeface="Aptos" pitchFamily="34" charset="0"/>
                <a:ea typeface="Aptos" pitchFamily="34" charset="-122"/>
                <a:cs typeface="Aptos" pitchFamily="34" charset="-120"/>
              </a:rPr>
              <a:t>Y trajo hallazgos que nadie había hecho. Es una buena auditoría, y hay que decirlo con la misma claridad que sus errores.</a:t>
            </a:r>
            <a:endParaRPr lang="en-US" sz="1100" dirty="0"/>
          </a:p>
        </p:txBody>
      </p:sp>
      <p:sp>
        <p:nvSpPr>
          <p:cNvPr id="45" name="Shape 42"/>
          <p:cNvSpPr/>
          <p:nvPr/>
        </p:nvSpPr>
        <p:spPr>
          <a:xfrm>
            <a:off x="658368" y="5650992"/>
            <a:ext cx="10874959" cy="548640"/>
          </a:xfrm>
          <a:prstGeom prst="rect">
            <a:avLst/>
          </a:prstGeom>
          <a:solidFill>
            <a:srgbClr val="102A43"/>
          </a:solidFill>
          <a:ln w="12700">
            <a:solidFill>
              <a:srgbClr val="102A43"/>
            </a:solidFill>
            <a:prstDash val="solid"/>
          </a:ln>
        </p:spPr>
      </p:sp>
      <p:sp>
        <p:nvSpPr>
          <p:cNvPr id="46" name="Text 4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Aun así, una auditoría es una lista de hipótesis.</a:t>
            </a:r>
            <a:endParaRPr lang="en-US" sz="13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VERIFICAR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Diez afirmaciones, diez verificaciones</a:t>
            </a:r>
            <a:endParaRPr lang="en-US" sz="3000" dirty="0"/>
          </a:p>
        </p:txBody>
      </p:sp>
      <p:sp>
        <p:nvSpPr>
          <p:cNvPr id="10" name="Text 7"/>
          <p:cNvSpPr txBox="1"/>
          <p:nvPr/>
        </p:nvSpPr>
        <p:spPr>
          <a:xfrm>
            <a:off x="658368" y="1682496"/>
            <a:ext cx="4846320" cy="201168"/>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HALLAZGO DEL AGENTE</a:t>
            </a:r>
            <a:endParaRPr lang="en-US" sz="900" dirty="0"/>
          </a:p>
        </p:txBody>
      </p:sp>
      <p:sp>
        <p:nvSpPr>
          <p:cNvPr id="11" name="Text 8"/>
          <p:cNvSpPr txBox="1"/>
          <p:nvPr/>
        </p:nvSpPr>
        <p:spPr>
          <a:xfrm>
            <a:off x="5596128" y="1682496"/>
            <a:ext cx="3931920" cy="201168"/>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CÓMO SE VERIFICÓ</a:t>
            </a:r>
            <a:endParaRPr lang="en-US" sz="900" dirty="0"/>
          </a:p>
        </p:txBody>
      </p:sp>
      <p:sp>
        <p:nvSpPr>
          <p:cNvPr id="12" name="Text 9"/>
          <p:cNvSpPr txBox="1"/>
          <p:nvPr/>
        </p:nvSpPr>
        <p:spPr>
          <a:xfrm>
            <a:off x="9619488" y="1682496"/>
            <a:ext cx="1913839" cy="201168"/>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VEREDICTO</a:t>
            </a:r>
            <a:endParaRPr lang="en-US" sz="900" dirty="0"/>
          </a:p>
        </p:txBody>
      </p:sp>
      <p:sp>
        <p:nvSpPr>
          <p:cNvPr id="13" name="Shape 10"/>
          <p:cNvSpPr/>
          <p:nvPr/>
        </p:nvSpPr>
        <p:spPr>
          <a:xfrm>
            <a:off x="658368" y="1938528"/>
            <a:ext cx="10874959" cy="320040"/>
          </a:xfrm>
          <a:prstGeom prst="rect">
            <a:avLst/>
          </a:prstGeom>
          <a:solidFill>
            <a:srgbClr val="FFFFFF"/>
          </a:solidFill>
          <a:ln w="12700">
            <a:solidFill>
              <a:srgbClr val="FFFFFF"/>
            </a:solidFill>
            <a:prstDash val="solid"/>
          </a:ln>
        </p:spPr>
      </p:sp>
      <p:sp>
        <p:nvSpPr>
          <p:cNvPr id="14" name="Text 11"/>
          <p:cNvSpPr txBox="1"/>
          <p:nvPr/>
        </p:nvSpPr>
        <p:spPr>
          <a:xfrm>
            <a:off x="786384" y="198424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Carrera entre consultar e insertar: doble reserva</a:t>
            </a:r>
            <a:endParaRPr lang="en-US" sz="1020" dirty="0"/>
          </a:p>
        </p:txBody>
      </p:sp>
      <p:sp>
        <p:nvSpPr>
          <p:cNvPr id="15" name="Text 12"/>
          <p:cNvSpPr txBox="1"/>
          <p:nvPr/>
        </p:nvSpPr>
        <p:spPr>
          <a:xfrm>
            <a:off x="5596128" y="198424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Veinte reservas simultáneas, bloque 1</a:t>
            </a:r>
            <a:endParaRPr lang="en-US" sz="960" dirty="0"/>
          </a:p>
        </p:txBody>
      </p:sp>
      <p:sp>
        <p:nvSpPr>
          <p:cNvPr id="16" name="Shape 13"/>
          <p:cNvSpPr/>
          <p:nvPr/>
        </p:nvSpPr>
        <p:spPr>
          <a:xfrm>
            <a:off x="9619488" y="1975104"/>
            <a:ext cx="1858975" cy="246888"/>
          </a:xfrm>
          <a:prstGeom prst="rect">
            <a:avLst/>
          </a:prstGeom>
          <a:solidFill>
            <a:srgbClr val="2E7D4F"/>
          </a:solidFill>
          <a:ln w="12700">
            <a:solidFill>
              <a:srgbClr val="2E7D4F"/>
            </a:solidFill>
            <a:prstDash val="solid"/>
          </a:ln>
        </p:spPr>
      </p:sp>
      <p:sp>
        <p:nvSpPr>
          <p:cNvPr id="17" name="Text 14"/>
          <p:cNvSpPr txBox="1"/>
          <p:nvPr/>
        </p:nvSpPr>
        <p:spPr>
          <a:xfrm>
            <a:off x="9692640" y="198424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a:t>
            </a:r>
            <a:endParaRPr lang="en-US" sz="960" dirty="0"/>
          </a:p>
        </p:txBody>
      </p:sp>
      <p:sp>
        <p:nvSpPr>
          <p:cNvPr id="18" name="Shape 15"/>
          <p:cNvSpPr/>
          <p:nvPr/>
        </p:nvSpPr>
        <p:spPr>
          <a:xfrm>
            <a:off x="658368" y="2304288"/>
            <a:ext cx="10874959" cy="320040"/>
          </a:xfrm>
          <a:prstGeom prst="rect">
            <a:avLst/>
          </a:prstGeom>
          <a:solidFill>
            <a:srgbClr val="F2E7D9"/>
          </a:solidFill>
          <a:ln w="12700">
            <a:solidFill>
              <a:srgbClr val="F2E7D9"/>
            </a:solidFill>
            <a:prstDash val="solid"/>
          </a:ln>
        </p:spPr>
      </p:sp>
      <p:sp>
        <p:nvSpPr>
          <p:cNvPr id="19" name="Text 16"/>
          <p:cNvSpPr txBox="1"/>
          <p:nvPr/>
        </p:nvSpPr>
        <p:spPr>
          <a:xfrm>
            <a:off x="786384" y="235000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Sin autenticación: se reserva con cualquier RUT</a:t>
            </a:r>
            <a:endParaRPr lang="en-US" sz="1020" dirty="0"/>
          </a:p>
        </p:txBody>
      </p:sp>
      <p:sp>
        <p:nvSpPr>
          <p:cNvPr id="20" name="Text 17"/>
          <p:cNvSpPr txBox="1"/>
          <p:nvPr/>
        </p:nvSpPr>
        <p:spPr>
          <a:xfrm>
            <a:off x="5596128" y="235000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Prueba de suplantación, bloque 2</a:t>
            </a:r>
            <a:endParaRPr lang="en-US" sz="960" dirty="0"/>
          </a:p>
        </p:txBody>
      </p:sp>
      <p:sp>
        <p:nvSpPr>
          <p:cNvPr id="21" name="Shape 18"/>
          <p:cNvSpPr/>
          <p:nvPr/>
        </p:nvSpPr>
        <p:spPr>
          <a:xfrm>
            <a:off x="9619488" y="2340864"/>
            <a:ext cx="1858975" cy="246888"/>
          </a:xfrm>
          <a:prstGeom prst="rect">
            <a:avLst/>
          </a:prstGeom>
          <a:solidFill>
            <a:srgbClr val="2E7D4F"/>
          </a:solidFill>
          <a:ln w="12700">
            <a:solidFill>
              <a:srgbClr val="2E7D4F"/>
            </a:solidFill>
            <a:prstDash val="solid"/>
          </a:ln>
        </p:spPr>
      </p:sp>
      <p:sp>
        <p:nvSpPr>
          <p:cNvPr id="22" name="Text 19"/>
          <p:cNvSpPr txBox="1"/>
          <p:nvPr/>
        </p:nvSpPr>
        <p:spPr>
          <a:xfrm>
            <a:off x="9692640" y="235000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a:t>
            </a:r>
            <a:endParaRPr lang="en-US" sz="960" dirty="0"/>
          </a:p>
        </p:txBody>
      </p:sp>
      <p:sp>
        <p:nvSpPr>
          <p:cNvPr id="23" name="Shape 20"/>
          <p:cNvSpPr/>
          <p:nvPr/>
        </p:nvSpPr>
        <p:spPr>
          <a:xfrm>
            <a:off x="658368" y="2670048"/>
            <a:ext cx="10874959" cy="320040"/>
          </a:xfrm>
          <a:prstGeom prst="rect">
            <a:avLst/>
          </a:prstGeom>
          <a:solidFill>
            <a:srgbClr val="FFFFFF"/>
          </a:solidFill>
          <a:ln w="12700">
            <a:solidFill>
              <a:srgbClr val="FFFFFF"/>
            </a:solidFill>
            <a:prstDash val="solid"/>
          </a:ln>
        </p:spPr>
      </p:sp>
      <p:sp>
        <p:nvSpPr>
          <p:cNvPr id="24" name="Text 21"/>
          <p:cNvSpPr txBox="1"/>
          <p:nvPr/>
        </p:nvSpPr>
        <p:spPr>
          <a:xfrm>
            <a:off x="786384" y="271576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Contraste de la ficha «Tomado»</a:t>
            </a:r>
            <a:endParaRPr lang="en-US" sz="1020" dirty="0"/>
          </a:p>
        </p:txBody>
      </p:sp>
      <p:sp>
        <p:nvSpPr>
          <p:cNvPr id="25" name="Text 22"/>
          <p:cNvSpPr txBox="1"/>
          <p:nvPr/>
        </p:nvSpPr>
        <p:spPr>
          <a:xfrm>
            <a:off x="5596128" y="271576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axe-core, bloque 3: 2,55 a 1</a:t>
            </a:r>
            <a:endParaRPr lang="en-US" sz="960" dirty="0"/>
          </a:p>
        </p:txBody>
      </p:sp>
      <p:sp>
        <p:nvSpPr>
          <p:cNvPr id="26" name="Shape 23"/>
          <p:cNvSpPr/>
          <p:nvPr/>
        </p:nvSpPr>
        <p:spPr>
          <a:xfrm>
            <a:off x="9619488" y="2706624"/>
            <a:ext cx="1858975" cy="246888"/>
          </a:xfrm>
          <a:prstGeom prst="rect">
            <a:avLst/>
          </a:prstGeom>
          <a:solidFill>
            <a:srgbClr val="2E7D4F"/>
          </a:solidFill>
          <a:ln w="12700">
            <a:solidFill>
              <a:srgbClr val="2E7D4F"/>
            </a:solidFill>
            <a:prstDash val="solid"/>
          </a:ln>
        </p:spPr>
      </p:sp>
      <p:sp>
        <p:nvSpPr>
          <p:cNvPr id="27" name="Text 24"/>
          <p:cNvSpPr txBox="1"/>
          <p:nvPr/>
        </p:nvSpPr>
        <p:spPr>
          <a:xfrm>
            <a:off x="9692640" y="271576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a:t>
            </a:r>
            <a:endParaRPr lang="en-US" sz="960" dirty="0"/>
          </a:p>
        </p:txBody>
      </p:sp>
      <p:sp>
        <p:nvSpPr>
          <p:cNvPr id="28" name="Shape 25"/>
          <p:cNvSpPr/>
          <p:nvPr/>
        </p:nvSpPr>
        <p:spPr>
          <a:xfrm>
            <a:off x="658368" y="3035808"/>
            <a:ext cx="10874959" cy="320040"/>
          </a:xfrm>
          <a:prstGeom prst="rect">
            <a:avLst/>
          </a:prstGeom>
          <a:solidFill>
            <a:srgbClr val="F2E7D9"/>
          </a:solidFill>
          <a:ln w="12700">
            <a:solidFill>
              <a:srgbClr val="F2E7D9"/>
            </a:solidFill>
            <a:prstDash val="solid"/>
          </a:ln>
        </p:spPr>
      </p:sp>
      <p:sp>
        <p:nvSpPr>
          <p:cNvPr id="29" name="Text 26"/>
          <p:cNvSpPr txBox="1"/>
          <p:nvPr/>
        </p:nvSpPr>
        <p:spPr>
          <a:xfrm>
            <a:off x="786384" y="308152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Errores 422 como [object Object]</a:t>
            </a:r>
            <a:endParaRPr lang="en-US" sz="1020" dirty="0"/>
          </a:p>
        </p:txBody>
      </p:sp>
      <p:sp>
        <p:nvSpPr>
          <p:cNvPr id="30" name="Text 27"/>
          <p:cNvSpPr txBox="1"/>
          <p:nvPr/>
        </p:nvSpPr>
        <p:spPr>
          <a:xfrm>
            <a:off x="5596128" y="308152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Prueba de la mañana</a:t>
            </a:r>
            <a:endParaRPr lang="en-US" sz="960" dirty="0"/>
          </a:p>
        </p:txBody>
      </p:sp>
      <p:sp>
        <p:nvSpPr>
          <p:cNvPr id="31" name="Shape 28"/>
          <p:cNvSpPr/>
          <p:nvPr/>
        </p:nvSpPr>
        <p:spPr>
          <a:xfrm>
            <a:off x="9619488" y="3072384"/>
            <a:ext cx="1858975" cy="246888"/>
          </a:xfrm>
          <a:prstGeom prst="rect">
            <a:avLst/>
          </a:prstGeom>
          <a:solidFill>
            <a:srgbClr val="2E7D4F"/>
          </a:solidFill>
          <a:ln w="12700">
            <a:solidFill>
              <a:srgbClr val="2E7D4F"/>
            </a:solidFill>
            <a:prstDash val="solid"/>
          </a:ln>
        </p:spPr>
      </p:sp>
      <p:sp>
        <p:nvSpPr>
          <p:cNvPr id="32" name="Text 29"/>
          <p:cNvSpPr txBox="1"/>
          <p:nvPr/>
        </p:nvSpPr>
        <p:spPr>
          <a:xfrm>
            <a:off x="9692640" y="308152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a:t>
            </a:r>
            <a:endParaRPr lang="en-US" sz="960" dirty="0"/>
          </a:p>
        </p:txBody>
      </p:sp>
      <p:sp>
        <p:nvSpPr>
          <p:cNvPr id="33" name="Shape 30"/>
          <p:cNvSpPr/>
          <p:nvPr/>
        </p:nvSpPr>
        <p:spPr>
          <a:xfrm>
            <a:off x="658368" y="3401568"/>
            <a:ext cx="10874959" cy="320040"/>
          </a:xfrm>
          <a:prstGeom prst="rect">
            <a:avLst/>
          </a:prstGeom>
          <a:solidFill>
            <a:srgbClr val="FFFFFF"/>
          </a:solidFill>
          <a:ln w="12700">
            <a:solidFill>
              <a:srgbClr val="FFFFFF"/>
            </a:solidFill>
            <a:prstDash val="solid"/>
          </a:ln>
        </p:spPr>
      </p:sp>
      <p:sp>
        <p:nvSpPr>
          <p:cNvPr id="34" name="Text 31"/>
          <p:cNvSpPr txBox="1"/>
          <p:nvPr/>
        </p:nvSpPr>
        <p:spPr>
          <a:xfrm>
            <a:off x="786384" y="344728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El RUT no se normaliza: se salta el límite de 3</a:t>
            </a:r>
            <a:endParaRPr lang="en-US" sz="1020" dirty="0"/>
          </a:p>
        </p:txBody>
      </p:sp>
      <p:sp>
        <p:nvSpPr>
          <p:cNvPr id="35" name="Text 32"/>
          <p:cNvSpPr txBox="1"/>
          <p:nvPr/>
        </p:nvSpPr>
        <p:spPr>
          <a:xfrm>
            <a:off x="5596128" y="344728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Cuatro reservas con el mismo RUT escrito distinto</a:t>
            </a:r>
            <a:endParaRPr lang="en-US" sz="960" dirty="0"/>
          </a:p>
        </p:txBody>
      </p:sp>
      <p:sp>
        <p:nvSpPr>
          <p:cNvPr id="36" name="Shape 33"/>
          <p:cNvSpPr/>
          <p:nvPr/>
        </p:nvSpPr>
        <p:spPr>
          <a:xfrm>
            <a:off x="9619488" y="3438144"/>
            <a:ext cx="1858975" cy="246888"/>
          </a:xfrm>
          <a:prstGeom prst="rect">
            <a:avLst/>
          </a:prstGeom>
          <a:solidFill>
            <a:srgbClr val="102A43"/>
          </a:solidFill>
          <a:ln w="12700">
            <a:solidFill>
              <a:srgbClr val="102A43"/>
            </a:solidFill>
            <a:prstDash val="solid"/>
          </a:ln>
        </p:spPr>
      </p:sp>
      <p:sp>
        <p:nvSpPr>
          <p:cNvPr id="37" name="Text 34"/>
          <p:cNvSpPr txBox="1"/>
          <p:nvPr/>
        </p:nvSpPr>
        <p:spPr>
          <a:xfrm>
            <a:off x="9692640" y="344728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 nuevo</a:t>
            </a:r>
            <a:endParaRPr lang="en-US" sz="960" dirty="0"/>
          </a:p>
        </p:txBody>
      </p:sp>
      <p:sp>
        <p:nvSpPr>
          <p:cNvPr id="38" name="Shape 35"/>
          <p:cNvSpPr/>
          <p:nvPr/>
        </p:nvSpPr>
        <p:spPr>
          <a:xfrm>
            <a:off x="658368" y="3767328"/>
            <a:ext cx="10874959" cy="320040"/>
          </a:xfrm>
          <a:prstGeom prst="rect">
            <a:avLst/>
          </a:prstGeom>
          <a:solidFill>
            <a:srgbClr val="F2E7D9"/>
          </a:solidFill>
          <a:ln w="12700">
            <a:solidFill>
              <a:srgbClr val="F2E7D9"/>
            </a:solidFill>
            <a:prstDash val="solid"/>
          </a:ln>
        </p:spPr>
      </p:sp>
      <p:sp>
        <p:nvSpPr>
          <p:cNvPr id="39" name="Text 36"/>
          <p:cNvSpPr txBox="1"/>
          <p:nvPr/>
        </p:nvSpPr>
        <p:spPr>
          <a:xfrm>
            <a:off x="786384" y="381304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El botón queda deshabilitado ante una falla de red</a:t>
            </a:r>
            <a:endParaRPr lang="en-US" sz="1020" dirty="0"/>
          </a:p>
        </p:txBody>
      </p:sp>
      <p:sp>
        <p:nvSpPr>
          <p:cNvPr id="40" name="Text 37"/>
          <p:cNvSpPr txBox="1"/>
          <p:nvPr/>
        </p:nvSpPr>
        <p:spPr>
          <a:xfrm>
            <a:off x="5596128" y="381304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Prueba con la red cortada</a:t>
            </a:r>
            <a:endParaRPr lang="en-US" sz="960" dirty="0"/>
          </a:p>
        </p:txBody>
      </p:sp>
      <p:sp>
        <p:nvSpPr>
          <p:cNvPr id="41" name="Shape 38"/>
          <p:cNvSpPr/>
          <p:nvPr/>
        </p:nvSpPr>
        <p:spPr>
          <a:xfrm>
            <a:off x="9619488" y="3803904"/>
            <a:ext cx="1858975" cy="246888"/>
          </a:xfrm>
          <a:prstGeom prst="rect">
            <a:avLst/>
          </a:prstGeom>
          <a:solidFill>
            <a:srgbClr val="102A43"/>
          </a:solidFill>
          <a:ln w="12700">
            <a:solidFill>
              <a:srgbClr val="102A43"/>
            </a:solidFill>
            <a:prstDash val="solid"/>
          </a:ln>
        </p:spPr>
      </p:sp>
      <p:sp>
        <p:nvSpPr>
          <p:cNvPr id="42" name="Text 39"/>
          <p:cNvSpPr txBox="1"/>
          <p:nvPr/>
        </p:nvSpPr>
        <p:spPr>
          <a:xfrm>
            <a:off x="9692640" y="381304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 nuevo</a:t>
            </a:r>
            <a:endParaRPr lang="en-US" sz="960" dirty="0"/>
          </a:p>
        </p:txBody>
      </p:sp>
      <p:sp>
        <p:nvSpPr>
          <p:cNvPr id="43" name="Shape 40"/>
          <p:cNvSpPr/>
          <p:nvPr/>
        </p:nvSpPr>
        <p:spPr>
          <a:xfrm>
            <a:off x="658368" y="4133088"/>
            <a:ext cx="10874959" cy="320040"/>
          </a:xfrm>
          <a:prstGeom prst="rect">
            <a:avLst/>
          </a:prstGeom>
          <a:solidFill>
            <a:srgbClr val="FFFFFF"/>
          </a:solidFill>
          <a:ln w="12700">
            <a:solidFill>
              <a:srgbClr val="FFFFFF"/>
            </a:solidFill>
            <a:prstDash val="solid"/>
          </a:ln>
        </p:spPr>
      </p:sp>
      <p:sp>
        <p:nvSpPr>
          <p:cNvPr id="44" name="Text 41"/>
          <p:cNvSpPr txBox="1"/>
          <p:nvPr/>
        </p:nvSpPr>
        <p:spPr>
          <a:xfrm>
            <a:off x="786384" y="417880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El diseño no se adapta a 320 píxeles</a:t>
            </a:r>
            <a:endParaRPr lang="en-US" sz="1020" dirty="0"/>
          </a:p>
        </p:txBody>
      </p:sp>
      <p:sp>
        <p:nvSpPr>
          <p:cNvPr id="45" name="Text 42"/>
          <p:cNvSpPr txBox="1"/>
          <p:nvPr/>
        </p:nvSpPr>
        <p:spPr>
          <a:xfrm>
            <a:off x="5596128" y="417880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Prueba con una ventana de 320 píxeles</a:t>
            </a:r>
            <a:endParaRPr lang="en-US" sz="960" dirty="0"/>
          </a:p>
        </p:txBody>
      </p:sp>
      <p:sp>
        <p:nvSpPr>
          <p:cNvPr id="46" name="Shape 43"/>
          <p:cNvSpPr/>
          <p:nvPr/>
        </p:nvSpPr>
        <p:spPr>
          <a:xfrm>
            <a:off x="9619488" y="4169664"/>
            <a:ext cx="1858975" cy="246888"/>
          </a:xfrm>
          <a:prstGeom prst="rect">
            <a:avLst/>
          </a:prstGeom>
          <a:solidFill>
            <a:srgbClr val="102A43"/>
          </a:solidFill>
          <a:ln w="12700">
            <a:solidFill>
              <a:srgbClr val="102A43"/>
            </a:solidFill>
            <a:prstDash val="solid"/>
          </a:ln>
        </p:spPr>
      </p:sp>
      <p:sp>
        <p:nvSpPr>
          <p:cNvPr id="47" name="Text 44"/>
          <p:cNvSpPr txBox="1"/>
          <p:nvPr/>
        </p:nvSpPr>
        <p:spPr>
          <a:xfrm>
            <a:off x="9692640" y="417880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 nuevo</a:t>
            </a:r>
            <a:endParaRPr lang="en-US" sz="960" dirty="0"/>
          </a:p>
        </p:txBody>
      </p:sp>
      <p:sp>
        <p:nvSpPr>
          <p:cNvPr id="48" name="Shape 45"/>
          <p:cNvSpPr/>
          <p:nvPr/>
        </p:nvSpPr>
        <p:spPr>
          <a:xfrm>
            <a:off x="658368" y="4498848"/>
            <a:ext cx="10874959" cy="320040"/>
          </a:xfrm>
          <a:prstGeom prst="rect">
            <a:avLst/>
          </a:prstGeom>
          <a:solidFill>
            <a:srgbClr val="F2E7D9"/>
          </a:solidFill>
          <a:ln w="12700">
            <a:solidFill>
              <a:srgbClr val="F2E7D9"/>
            </a:solidFill>
            <a:prstDash val="solid"/>
          </a:ln>
        </p:spPr>
      </p:sp>
      <p:sp>
        <p:nvSpPr>
          <p:cNvPr id="49" name="Text 46"/>
          <p:cNvSpPr txBox="1"/>
          <p:nvPr/>
        </p:nvSpPr>
        <p:spPr>
          <a:xfrm>
            <a:off x="786384" y="454456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El borde de los campos tiene contraste 1,4 a 1</a:t>
            </a:r>
            <a:endParaRPr lang="en-US" sz="1020" dirty="0"/>
          </a:p>
        </p:txBody>
      </p:sp>
      <p:sp>
        <p:nvSpPr>
          <p:cNvPr id="50" name="Text 47"/>
          <p:cNvSpPr txBox="1"/>
          <p:nvPr/>
        </p:nvSpPr>
        <p:spPr>
          <a:xfrm>
            <a:off x="5596128" y="454456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Fórmula de las WCAG: 1,42 a 1</a:t>
            </a:r>
            <a:endParaRPr lang="en-US" sz="960" dirty="0"/>
          </a:p>
        </p:txBody>
      </p:sp>
      <p:sp>
        <p:nvSpPr>
          <p:cNvPr id="51" name="Shape 48"/>
          <p:cNvSpPr/>
          <p:nvPr/>
        </p:nvSpPr>
        <p:spPr>
          <a:xfrm>
            <a:off x="9619488" y="4535424"/>
            <a:ext cx="1858975" cy="246888"/>
          </a:xfrm>
          <a:prstGeom prst="rect">
            <a:avLst/>
          </a:prstGeom>
          <a:solidFill>
            <a:srgbClr val="102A43"/>
          </a:solidFill>
          <a:ln w="12700">
            <a:solidFill>
              <a:srgbClr val="102A43"/>
            </a:solidFill>
            <a:prstDash val="solid"/>
          </a:ln>
        </p:spPr>
      </p:sp>
      <p:sp>
        <p:nvSpPr>
          <p:cNvPr id="52" name="Text 49"/>
          <p:cNvSpPr txBox="1"/>
          <p:nvPr/>
        </p:nvSpPr>
        <p:spPr>
          <a:xfrm>
            <a:off x="9692640" y="454456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Confirmado, nuevo</a:t>
            </a:r>
            <a:endParaRPr lang="en-US" sz="960" dirty="0"/>
          </a:p>
        </p:txBody>
      </p:sp>
      <p:sp>
        <p:nvSpPr>
          <p:cNvPr id="53" name="Shape 50"/>
          <p:cNvSpPr/>
          <p:nvPr/>
        </p:nvSpPr>
        <p:spPr>
          <a:xfrm>
            <a:off x="658368" y="4864608"/>
            <a:ext cx="10874959" cy="320040"/>
          </a:xfrm>
          <a:prstGeom prst="rect">
            <a:avLst/>
          </a:prstGeom>
          <a:solidFill>
            <a:srgbClr val="FFFFFF"/>
          </a:solidFill>
          <a:ln w="12700">
            <a:solidFill>
              <a:srgbClr val="FFFFFF"/>
            </a:solidFill>
            <a:prstDash val="solid"/>
          </a:ln>
        </p:spPr>
      </p:sp>
      <p:sp>
        <p:nvSpPr>
          <p:cNvPr id="54" name="Text 51"/>
          <p:cNvSpPr txBox="1"/>
          <p:nvPr/>
        </p:nvSpPr>
        <p:spPr>
          <a:xfrm>
            <a:off x="786384" y="491032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httpx2 es un error de tipeo o un paquete malicioso</a:t>
            </a:r>
            <a:endParaRPr lang="en-US" sz="1020" dirty="0"/>
          </a:p>
        </p:txBody>
      </p:sp>
      <p:sp>
        <p:nvSpPr>
          <p:cNvPr id="55" name="Text 52"/>
          <p:cNvSpPr txBox="1"/>
          <p:nvPr/>
        </p:nvSpPr>
        <p:spPr>
          <a:xfrm>
            <a:off x="5596128" y="491032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Consulta a PyPI y a las dependencias de Starlette</a:t>
            </a:r>
            <a:endParaRPr lang="en-US" sz="960" dirty="0"/>
          </a:p>
        </p:txBody>
      </p:sp>
      <p:sp>
        <p:nvSpPr>
          <p:cNvPr id="56" name="Shape 53"/>
          <p:cNvSpPr/>
          <p:nvPr/>
        </p:nvSpPr>
        <p:spPr>
          <a:xfrm>
            <a:off x="9619488" y="4901184"/>
            <a:ext cx="1858975" cy="246888"/>
          </a:xfrm>
          <a:prstGeom prst="rect">
            <a:avLst/>
          </a:prstGeom>
          <a:solidFill>
            <a:srgbClr val="B3181E"/>
          </a:solidFill>
          <a:ln w="12700">
            <a:solidFill>
              <a:srgbClr val="B3181E"/>
            </a:solidFill>
            <a:prstDash val="solid"/>
          </a:ln>
        </p:spPr>
      </p:sp>
      <p:sp>
        <p:nvSpPr>
          <p:cNvPr id="57" name="Text 54"/>
          <p:cNvSpPr txBox="1"/>
          <p:nvPr/>
        </p:nvSpPr>
        <p:spPr>
          <a:xfrm>
            <a:off x="9692640" y="491032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Refutado</a:t>
            </a:r>
            <a:endParaRPr lang="en-US" sz="960" dirty="0"/>
          </a:p>
        </p:txBody>
      </p:sp>
      <p:sp>
        <p:nvSpPr>
          <p:cNvPr id="58" name="Shape 55"/>
          <p:cNvSpPr/>
          <p:nvPr/>
        </p:nvSpPr>
        <p:spPr>
          <a:xfrm>
            <a:off x="658368" y="5230368"/>
            <a:ext cx="10874959" cy="320040"/>
          </a:xfrm>
          <a:prstGeom prst="rect">
            <a:avLst/>
          </a:prstGeom>
          <a:solidFill>
            <a:srgbClr val="F2E7D9"/>
          </a:solidFill>
          <a:ln w="12700">
            <a:solidFill>
              <a:srgbClr val="F2E7D9"/>
            </a:solidFill>
            <a:prstDash val="solid"/>
          </a:ln>
        </p:spPr>
      </p:sp>
      <p:sp>
        <p:nvSpPr>
          <p:cNvPr id="59" name="Text 56"/>
          <p:cNvSpPr txBox="1"/>
          <p:nvPr/>
        </p:nvSpPr>
        <p:spPr>
          <a:xfrm>
            <a:off x="786384" y="5276088"/>
            <a:ext cx="4663440" cy="228600"/>
          </a:xfrm>
          <a:prstGeom prst="rect">
            <a:avLst/>
          </a:prstGeom>
          <a:noFill/>
          <a:ln/>
        </p:spPr>
        <p:txBody>
          <a:bodyPr wrap="square" lIns="0" tIns="0" rIns="0" bIns="0" rtlCol="0" anchor="ctr"/>
          <a:lstStyle/>
          <a:p>
            <a:pPr algn="l" indent="0" marL="0">
              <a:buNone/>
            </a:pPr>
            <a:r>
              <a:rPr lang="en-US" sz="1020" dirty="0">
                <a:solidFill>
                  <a:srgbClr val="243B53"/>
                </a:solidFill>
                <a:latin typeface="Aptos" pitchFamily="34" charset="0"/>
                <a:ea typeface="Aptos" pitchFamily="34" charset="-122"/>
                <a:cs typeface="Aptos" pitchFamily="34" charset="-120"/>
              </a:rPr>
              <a:t>Escrituras simultáneas producen errores 500</a:t>
            </a:r>
            <a:endParaRPr lang="en-US" sz="1020" dirty="0"/>
          </a:p>
        </p:txBody>
      </p:sp>
      <p:sp>
        <p:nvSpPr>
          <p:cNvPr id="60" name="Text 57"/>
          <p:cNvSpPr txBox="1"/>
          <p:nvPr/>
        </p:nvSpPr>
        <p:spPr>
          <a:xfrm>
            <a:off x="5596128" y="5276088"/>
            <a:ext cx="3931920" cy="228600"/>
          </a:xfrm>
          <a:prstGeom prst="rect">
            <a:avLst/>
          </a:prstGeom>
          <a:noFill/>
          <a:ln/>
        </p:spPr>
        <p:txBody>
          <a:bodyPr wrap="square" lIns="0" tIns="0" rIns="0" bIns="0" rtlCol="0" anchor="ctr"/>
          <a:lstStyle/>
          <a:p>
            <a:pPr algn="l" indent="0" marL="0">
              <a:buNone/>
            </a:pPr>
            <a:r>
              <a:rPr lang="en-US" sz="960" dirty="0">
                <a:solidFill>
                  <a:srgbClr val="52606D"/>
                </a:solidFill>
                <a:latin typeface="Aptos" pitchFamily="34" charset="0"/>
                <a:ea typeface="Aptos" pitchFamily="34" charset="-122"/>
                <a:cs typeface="Aptos" pitchFamily="34" charset="-120"/>
              </a:rPr>
              <a:t>Todas las tandas de carga y estrés del bloque 1</a:t>
            </a:r>
            <a:endParaRPr lang="en-US" sz="960" dirty="0"/>
          </a:p>
        </p:txBody>
      </p:sp>
      <p:sp>
        <p:nvSpPr>
          <p:cNvPr id="61" name="Shape 58"/>
          <p:cNvSpPr/>
          <p:nvPr/>
        </p:nvSpPr>
        <p:spPr>
          <a:xfrm>
            <a:off x="9619488" y="5266944"/>
            <a:ext cx="1858975" cy="246888"/>
          </a:xfrm>
          <a:prstGeom prst="rect">
            <a:avLst/>
          </a:prstGeom>
          <a:solidFill>
            <a:srgbClr val="8A6A12"/>
          </a:solidFill>
          <a:ln w="12700">
            <a:solidFill>
              <a:srgbClr val="8A6A12"/>
            </a:solidFill>
            <a:prstDash val="solid"/>
          </a:ln>
        </p:spPr>
      </p:sp>
      <p:sp>
        <p:nvSpPr>
          <p:cNvPr id="62" name="Text 59"/>
          <p:cNvSpPr txBox="1"/>
          <p:nvPr/>
        </p:nvSpPr>
        <p:spPr>
          <a:xfrm>
            <a:off x="9692640" y="5276088"/>
            <a:ext cx="1730959" cy="228600"/>
          </a:xfrm>
          <a:prstGeom prst="rect">
            <a:avLst/>
          </a:prstGeom>
          <a:noFill/>
          <a:ln/>
        </p:spPr>
        <p:txBody>
          <a:bodyPr wrap="square" lIns="0" tIns="0" rIns="0" bIns="0" rtlCol="0" anchor="ctr"/>
          <a:lstStyle/>
          <a:p>
            <a:pPr algn="l" indent="0" marL="0">
              <a:buNone/>
            </a:pPr>
            <a:r>
              <a:rPr lang="en-US" sz="960" b="1" dirty="0">
                <a:solidFill>
                  <a:srgbClr val="FFFFFF"/>
                </a:solidFill>
                <a:latin typeface="Aptos" pitchFamily="34" charset="0"/>
                <a:ea typeface="Aptos" pitchFamily="34" charset="-122"/>
                <a:cs typeface="Aptos" pitchFamily="34" charset="-120"/>
              </a:rPr>
              <a:t>No reproducido</a:t>
            </a:r>
            <a:endParaRPr lang="en-US" sz="960" dirty="0"/>
          </a:p>
        </p:txBody>
      </p:sp>
      <p:sp>
        <p:nvSpPr>
          <p:cNvPr id="63" name="Shape 60"/>
          <p:cNvSpPr/>
          <p:nvPr/>
        </p:nvSpPr>
        <p:spPr>
          <a:xfrm>
            <a:off x="658368" y="5650992"/>
            <a:ext cx="10874959" cy="548640"/>
          </a:xfrm>
          <a:prstGeom prst="rect">
            <a:avLst/>
          </a:prstGeom>
          <a:solidFill>
            <a:srgbClr val="102A43"/>
          </a:solidFill>
          <a:ln w="12700">
            <a:solidFill>
              <a:srgbClr val="102A43"/>
            </a:solidFill>
            <a:prstDash val="solid"/>
          </a:ln>
        </p:spPr>
      </p:sp>
      <p:sp>
        <p:nvSpPr>
          <p:cNvPr id="64" name="Text 6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Ocho confirmadas, cuatro de ellas nuevas. Una refutada, una no reproducida.</a:t>
            </a:r>
            <a:endParaRPr lang="en-US" sz="13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CONFIRMADOS, NUEVOS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Confirmados, y nadie los había buscado</a:t>
            </a:r>
            <a:endParaRPr lang="en-US" sz="2800" dirty="0"/>
          </a:p>
        </p:txBody>
      </p:sp>
      <p:sp>
        <p:nvSpPr>
          <p:cNvPr id="10" name="Shape 7"/>
          <p:cNvSpPr/>
          <p:nvPr/>
        </p:nvSpPr>
        <p:spPr>
          <a:xfrm>
            <a:off x="658368" y="1737360"/>
            <a:ext cx="3503066" cy="3566160"/>
          </a:xfrm>
          <a:prstGeom prst="rect">
            <a:avLst/>
          </a:prstGeom>
          <a:solidFill>
            <a:srgbClr val="FFFFFF"/>
          </a:solidFill>
          <a:ln w="12700">
            <a:solidFill>
              <a:srgbClr val="FFFFFF"/>
            </a:solidFill>
            <a:prstDash val="solid"/>
          </a:ln>
        </p:spPr>
      </p:sp>
      <p:sp>
        <p:nvSpPr>
          <p:cNvPr id="11" name="Shape 8"/>
          <p:cNvSpPr/>
          <p:nvPr/>
        </p:nvSpPr>
        <p:spPr>
          <a:xfrm>
            <a:off x="658368" y="1737360"/>
            <a:ext cx="3503066" cy="54864"/>
          </a:xfrm>
          <a:prstGeom prst="rect">
            <a:avLst/>
          </a:prstGeom>
          <a:solidFill>
            <a:srgbClr val="102A43"/>
          </a:solidFill>
          <a:ln w="12700">
            <a:solidFill>
              <a:srgbClr val="102A43"/>
            </a:solidFill>
            <a:prstDash val="solid"/>
          </a:ln>
        </p:spPr>
      </p:sp>
      <p:sp>
        <p:nvSpPr>
          <p:cNvPr id="12" name="Text 9"/>
          <p:cNvSpPr txBox="1"/>
          <p:nvPr/>
        </p:nvSpPr>
        <p:spPr>
          <a:xfrm>
            <a:off x="859536" y="1901952"/>
            <a:ext cx="3137306"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EL RUT SE COMPARA COMO TEXTO</a:t>
            </a:r>
            <a:endParaRPr lang="en-US" sz="960" dirty="0"/>
          </a:p>
        </p:txBody>
      </p:sp>
      <p:sp>
        <p:nvSpPr>
          <p:cNvPr id="13" name="Text 10"/>
          <p:cNvSpPr txBox="1"/>
          <p:nvPr/>
        </p:nvSpPr>
        <p:spPr>
          <a:xfrm>
            <a:off x="859536" y="2157984"/>
            <a:ext cx="3100730" cy="658368"/>
          </a:xfrm>
          <a:prstGeom prst="rect">
            <a:avLst/>
          </a:prstGeom>
          <a:noFill/>
          <a:ln/>
        </p:spPr>
        <p:txBody>
          <a:bodyPr wrap="square" lIns="0" tIns="0" rIns="0" bIns="0" rtlCol="0" anchor="t"/>
          <a:lstStyle/>
          <a:p>
            <a:pPr algn="l" indent="0" marL="0">
              <a:lnSpc>
                <a:spcPct val="104000"/>
              </a:lnSpc>
              <a:buNone/>
            </a:pPr>
            <a:r>
              <a:rPr lang="en-US" sz="960" dirty="0">
                <a:solidFill>
                  <a:srgbClr val="243B53"/>
                </a:solidFill>
                <a:latin typeface="Aptos" pitchFamily="34" charset="0"/>
                <a:ea typeface="Aptos" pitchFamily="34" charset="-122"/>
                <a:cs typeface="Aptos" pitchFamily="34" charset="-120"/>
              </a:rPr>
              <a:t>El mismo RUT escrito de cuatro formas. El sistema no lo normaliza —no lo lleva a una sola forma antes de comparar— y acepta las cuatro, sobre un límite de tres:</a:t>
            </a:r>
            <a:endParaRPr lang="en-US" sz="960" dirty="0"/>
          </a:p>
        </p:txBody>
      </p:sp>
      <p:sp>
        <p:nvSpPr>
          <p:cNvPr id="14" name="Shape 11"/>
          <p:cNvSpPr/>
          <p:nvPr/>
        </p:nvSpPr>
        <p:spPr>
          <a:xfrm>
            <a:off x="859536" y="2871216"/>
            <a:ext cx="3100730" cy="347472"/>
          </a:xfrm>
          <a:prstGeom prst="rect">
            <a:avLst/>
          </a:prstGeom>
          <a:solidFill>
            <a:srgbClr val="102A43"/>
          </a:solidFill>
          <a:ln w="12700">
            <a:solidFill>
              <a:srgbClr val="102A43"/>
            </a:solidFill>
            <a:prstDash val="solid"/>
          </a:ln>
        </p:spPr>
      </p:sp>
      <p:sp>
        <p:nvSpPr>
          <p:cNvPr id="15" name="Text 12"/>
          <p:cNvSpPr txBox="1"/>
          <p:nvPr/>
        </p:nvSpPr>
        <p:spPr>
          <a:xfrm>
            <a:off x="987552" y="2926080"/>
            <a:ext cx="2011680" cy="274320"/>
          </a:xfrm>
          <a:prstGeom prst="rect">
            <a:avLst/>
          </a:prstGeom>
          <a:noFill/>
          <a:ln/>
        </p:spPr>
        <p:txBody>
          <a:bodyPr wrap="square" lIns="0" tIns="0" rIns="0" bIns="0" rtlCol="0" anchor="ctr"/>
          <a:lstStyle/>
          <a:p>
            <a:pPr algn="l" indent="0" marL="0">
              <a:buNone/>
            </a:pPr>
            <a:r>
              <a:rPr lang="en-US" sz="1060" dirty="0">
                <a:solidFill>
                  <a:srgbClr val="FFFFFF"/>
                </a:solidFill>
                <a:latin typeface="Consolas" pitchFamily="34" charset="0"/>
                <a:ea typeface="Consolas" pitchFamily="34" charset="-122"/>
                <a:cs typeface="Consolas" pitchFamily="34" charset="-120"/>
              </a:rPr>
              <a:t>11.111.111-1</a:t>
            </a:r>
            <a:endParaRPr lang="en-US" sz="1060" dirty="0"/>
          </a:p>
        </p:txBody>
      </p:sp>
      <p:sp>
        <p:nvSpPr>
          <p:cNvPr id="16" name="Text 13"/>
          <p:cNvSpPr txBox="1"/>
          <p:nvPr/>
        </p:nvSpPr>
        <p:spPr>
          <a:xfrm>
            <a:off x="3247034" y="2926080"/>
            <a:ext cx="585216" cy="274320"/>
          </a:xfrm>
          <a:prstGeom prst="rect">
            <a:avLst/>
          </a:prstGeom>
          <a:noFill/>
          <a:ln/>
        </p:spPr>
        <p:txBody>
          <a:bodyPr wrap="square" lIns="0" tIns="0" rIns="0" bIns="0" rtlCol="0" anchor="ctr"/>
          <a:lstStyle/>
          <a:p>
            <a:pPr algn="r" indent="0" marL="0">
              <a:buNone/>
            </a:pPr>
            <a:r>
              <a:rPr lang="en-US" sz="1060" b="1" dirty="0">
                <a:solidFill>
                  <a:srgbClr val="3FAE6A"/>
                </a:solidFill>
                <a:latin typeface="Consolas" pitchFamily="34" charset="0"/>
                <a:ea typeface="Consolas" pitchFamily="34" charset="-122"/>
                <a:cs typeface="Consolas" pitchFamily="34" charset="-120"/>
              </a:rPr>
              <a:t>201</a:t>
            </a:r>
            <a:endParaRPr lang="en-US" sz="1060" dirty="0"/>
          </a:p>
        </p:txBody>
      </p:sp>
      <p:sp>
        <p:nvSpPr>
          <p:cNvPr id="17" name="Shape 14"/>
          <p:cNvSpPr/>
          <p:nvPr/>
        </p:nvSpPr>
        <p:spPr>
          <a:xfrm>
            <a:off x="859536" y="3291840"/>
            <a:ext cx="3100730" cy="347472"/>
          </a:xfrm>
          <a:prstGeom prst="rect">
            <a:avLst/>
          </a:prstGeom>
          <a:solidFill>
            <a:srgbClr val="102A43"/>
          </a:solidFill>
          <a:ln w="12700">
            <a:solidFill>
              <a:srgbClr val="102A43"/>
            </a:solidFill>
            <a:prstDash val="solid"/>
          </a:ln>
        </p:spPr>
      </p:sp>
      <p:sp>
        <p:nvSpPr>
          <p:cNvPr id="18" name="Text 15"/>
          <p:cNvSpPr txBox="1"/>
          <p:nvPr/>
        </p:nvSpPr>
        <p:spPr>
          <a:xfrm>
            <a:off x="987552" y="3346704"/>
            <a:ext cx="2011680" cy="274320"/>
          </a:xfrm>
          <a:prstGeom prst="rect">
            <a:avLst/>
          </a:prstGeom>
          <a:noFill/>
          <a:ln/>
        </p:spPr>
        <p:txBody>
          <a:bodyPr wrap="square" lIns="0" tIns="0" rIns="0" bIns="0" rtlCol="0" anchor="ctr"/>
          <a:lstStyle/>
          <a:p>
            <a:pPr algn="l" indent="0" marL="0">
              <a:buNone/>
            </a:pPr>
            <a:r>
              <a:rPr lang="en-US" sz="1060" dirty="0">
                <a:solidFill>
                  <a:srgbClr val="FFFFFF"/>
                </a:solidFill>
                <a:latin typeface="Consolas" pitchFamily="34" charset="0"/>
                <a:ea typeface="Consolas" pitchFamily="34" charset="-122"/>
                <a:cs typeface="Consolas" pitchFamily="34" charset="-120"/>
              </a:rPr>
              <a:t>11111111-1</a:t>
            </a:r>
            <a:endParaRPr lang="en-US" sz="1060" dirty="0"/>
          </a:p>
        </p:txBody>
      </p:sp>
      <p:sp>
        <p:nvSpPr>
          <p:cNvPr id="19" name="Text 16"/>
          <p:cNvSpPr txBox="1"/>
          <p:nvPr/>
        </p:nvSpPr>
        <p:spPr>
          <a:xfrm>
            <a:off x="3247034" y="3346704"/>
            <a:ext cx="585216" cy="274320"/>
          </a:xfrm>
          <a:prstGeom prst="rect">
            <a:avLst/>
          </a:prstGeom>
          <a:noFill/>
          <a:ln/>
        </p:spPr>
        <p:txBody>
          <a:bodyPr wrap="square" lIns="0" tIns="0" rIns="0" bIns="0" rtlCol="0" anchor="ctr"/>
          <a:lstStyle/>
          <a:p>
            <a:pPr algn="r" indent="0" marL="0">
              <a:buNone/>
            </a:pPr>
            <a:r>
              <a:rPr lang="en-US" sz="1060" b="1" dirty="0">
                <a:solidFill>
                  <a:srgbClr val="3FAE6A"/>
                </a:solidFill>
                <a:latin typeface="Consolas" pitchFamily="34" charset="0"/>
                <a:ea typeface="Consolas" pitchFamily="34" charset="-122"/>
                <a:cs typeface="Consolas" pitchFamily="34" charset="-120"/>
              </a:rPr>
              <a:t>201</a:t>
            </a:r>
            <a:endParaRPr lang="en-US" sz="1060" dirty="0"/>
          </a:p>
        </p:txBody>
      </p:sp>
      <p:sp>
        <p:nvSpPr>
          <p:cNvPr id="20" name="Shape 17"/>
          <p:cNvSpPr/>
          <p:nvPr/>
        </p:nvSpPr>
        <p:spPr>
          <a:xfrm>
            <a:off x="859536" y="3712464"/>
            <a:ext cx="3100730" cy="347472"/>
          </a:xfrm>
          <a:prstGeom prst="rect">
            <a:avLst/>
          </a:prstGeom>
          <a:solidFill>
            <a:srgbClr val="102A43"/>
          </a:solidFill>
          <a:ln w="12700">
            <a:solidFill>
              <a:srgbClr val="102A43"/>
            </a:solidFill>
            <a:prstDash val="solid"/>
          </a:ln>
        </p:spPr>
      </p:sp>
      <p:sp>
        <p:nvSpPr>
          <p:cNvPr id="21" name="Text 18"/>
          <p:cNvSpPr txBox="1"/>
          <p:nvPr/>
        </p:nvSpPr>
        <p:spPr>
          <a:xfrm>
            <a:off x="987552" y="3767328"/>
            <a:ext cx="2011680" cy="274320"/>
          </a:xfrm>
          <a:prstGeom prst="rect">
            <a:avLst/>
          </a:prstGeom>
          <a:noFill/>
          <a:ln/>
        </p:spPr>
        <p:txBody>
          <a:bodyPr wrap="square" lIns="0" tIns="0" rIns="0" bIns="0" rtlCol="0" anchor="ctr"/>
          <a:lstStyle/>
          <a:p>
            <a:pPr algn="l" indent="0" marL="0">
              <a:buNone/>
            </a:pPr>
            <a:r>
              <a:rPr lang="en-US" sz="1060" dirty="0">
                <a:solidFill>
                  <a:srgbClr val="FFFFFF"/>
                </a:solidFill>
                <a:latin typeface="Consolas" pitchFamily="34" charset="0"/>
                <a:ea typeface="Consolas" pitchFamily="34" charset="-122"/>
                <a:cs typeface="Consolas" pitchFamily="34" charset="-120"/>
              </a:rPr>
              <a:t>11111111-1·</a:t>
            </a:r>
            <a:endParaRPr lang="en-US" sz="1060" dirty="0"/>
          </a:p>
        </p:txBody>
      </p:sp>
      <p:sp>
        <p:nvSpPr>
          <p:cNvPr id="22" name="Text 19"/>
          <p:cNvSpPr txBox="1"/>
          <p:nvPr/>
        </p:nvSpPr>
        <p:spPr>
          <a:xfrm>
            <a:off x="3247034" y="3767328"/>
            <a:ext cx="585216" cy="274320"/>
          </a:xfrm>
          <a:prstGeom prst="rect">
            <a:avLst/>
          </a:prstGeom>
          <a:noFill/>
          <a:ln/>
        </p:spPr>
        <p:txBody>
          <a:bodyPr wrap="square" lIns="0" tIns="0" rIns="0" bIns="0" rtlCol="0" anchor="ctr"/>
          <a:lstStyle/>
          <a:p>
            <a:pPr algn="r" indent="0" marL="0">
              <a:buNone/>
            </a:pPr>
            <a:r>
              <a:rPr lang="en-US" sz="1060" b="1" dirty="0">
                <a:solidFill>
                  <a:srgbClr val="3FAE6A"/>
                </a:solidFill>
                <a:latin typeface="Consolas" pitchFamily="34" charset="0"/>
                <a:ea typeface="Consolas" pitchFamily="34" charset="-122"/>
                <a:cs typeface="Consolas" pitchFamily="34" charset="-120"/>
              </a:rPr>
              <a:t>201</a:t>
            </a:r>
            <a:endParaRPr lang="en-US" sz="1060" dirty="0"/>
          </a:p>
        </p:txBody>
      </p:sp>
      <p:sp>
        <p:nvSpPr>
          <p:cNvPr id="23" name="Shape 20"/>
          <p:cNvSpPr/>
          <p:nvPr/>
        </p:nvSpPr>
        <p:spPr>
          <a:xfrm>
            <a:off x="859536" y="4133088"/>
            <a:ext cx="3100730" cy="347472"/>
          </a:xfrm>
          <a:prstGeom prst="rect">
            <a:avLst/>
          </a:prstGeom>
          <a:solidFill>
            <a:srgbClr val="102A43"/>
          </a:solidFill>
          <a:ln w="12700">
            <a:solidFill>
              <a:srgbClr val="102A43"/>
            </a:solidFill>
            <a:prstDash val="solid"/>
          </a:ln>
        </p:spPr>
      </p:sp>
      <p:sp>
        <p:nvSpPr>
          <p:cNvPr id="24" name="Text 21"/>
          <p:cNvSpPr txBox="1"/>
          <p:nvPr/>
        </p:nvSpPr>
        <p:spPr>
          <a:xfrm>
            <a:off x="987552" y="4187952"/>
            <a:ext cx="2011680" cy="274320"/>
          </a:xfrm>
          <a:prstGeom prst="rect">
            <a:avLst/>
          </a:prstGeom>
          <a:noFill/>
          <a:ln/>
        </p:spPr>
        <p:txBody>
          <a:bodyPr wrap="square" lIns="0" tIns="0" rIns="0" bIns="0" rtlCol="0" anchor="ctr"/>
          <a:lstStyle/>
          <a:p>
            <a:pPr algn="l" indent="0" marL="0">
              <a:buNone/>
            </a:pPr>
            <a:r>
              <a:rPr lang="en-US" sz="1060" dirty="0">
                <a:solidFill>
                  <a:srgbClr val="FFFFFF"/>
                </a:solidFill>
                <a:latin typeface="Consolas" pitchFamily="34" charset="0"/>
                <a:ea typeface="Consolas" pitchFamily="34" charset="-122"/>
                <a:cs typeface="Consolas" pitchFamily="34" charset="-120"/>
              </a:rPr>
              <a:t>11.111.111-1·</a:t>
            </a:r>
            <a:endParaRPr lang="en-US" sz="1060" dirty="0"/>
          </a:p>
        </p:txBody>
      </p:sp>
      <p:sp>
        <p:nvSpPr>
          <p:cNvPr id="25" name="Text 22"/>
          <p:cNvSpPr txBox="1"/>
          <p:nvPr/>
        </p:nvSpPr>
        <p:spPr>
          <a:xfrm>
            <a:off x="3247034" y="4187952"/>
            <a:ext cx="585216" cy="274320"/>
          </a:xfrm>
          <a:prstGeom prst="rect">
            <a:avLst/>
          </a:prstGeom>
          <a:noFill/>
          <a:ln/>
        </p:spPr>
        <p:txBody>
          <a:bodyPr wrap="square" lIns="0" tIns="0" rIns="0" bIns="0" rtlCol="0" anchor="ctr"/>
          <a:lstStyle/>
          <a:p>
            <a:pPr algn="r" indent="0" marL="0">
              <a:buNone/>
            </a:pPr>
            <a:r>
              <a:rPr lang="en-US" sz="1060" b="1" dirty="0">
                <a:solidFill>
                  <a:srgbClr val="D62027"/>
                </a:solidFill>
                <a:latin typeface="Consolas" pitchFamily="34" charset="0"/>
                <a:ea typeface="Consolas" pitchFamily="34" charset="-122"/>
                <a:cs typeface="Consolas" pitchFamily="34" charset="-120"/>
              </a:rPr>
              <a:t>201</a:t>
            </a:r>
            <a:endParaRPr lang="en-US" sz="1060" dirty="0"/>
          </a:p>
        </p:txBody>
      </p:sp>
      <p:sp>
        <p:nvSpPr>
          <p:cNvPr id="26" name="Text 23"/>
          <p:cNvSpPr txBox="1"/>
          <p:nvPr/>
        </p:nvSpPr>
        <p:spPr>
          <a:xfrm>
            <a:off x="859536" y="4590288"/>
            <a:ext cx="3100730" cy="402336"/>
          </a:xfrm>
          <a:prstGeom prst="rect">
            <a:avLst/>
          </a:prstGeom>
          <a:noFill/>
          <a:ln/>
        </p:spPr>
        <p:txBody>
          <a:bodyPr wrap="square" lIns="0" tIns="0" rIns="0" bIns="0" rtlCol="0" anchor="t"/>
          <a:lstStyle/>
          <a:p>
            <a:pPr algn="l" indent="0" marL="0">
              <a:lnSpc>
                <a:spcPct val="104000"/>
              </a:lnSpc>
              <a:buNone/>
            </a:pPr>
            <a:r>
              <a:rPr lang="en-US" sz="940" i="1" dirty="0">
                <a:solidFill>
                  <a:srgbClr val="52606D"/>
                </a:solidFill>
                <a:latin typeface="Aptos" pitchFamily="34" charset="0"/>
                <a:ea typeface="Aptos" pitchFamily="34" charset="-122"/>
                <a:cs typeface="Aptos" pitchFamily="34" charset="-120"/>
              </a:rPr>
              <a:t>· marca un espacio al final. La cuarta debió rechazarse.</a:t>
            </a:r>
            <a:endParaRPr lang="en-US" sz="940" dirty="0"/>
          </a:p>
        </p:txBody>
      </p:sp>
      <p:sp>
        <p:nvSpPr>
          <p:cNvPr id="27" name="Shape 24"/>
          <p:cNvSpPr/>
          <p:nvPr/>
        </p:nvSpPr>
        <p:spPr>
          <a:xfrm>
            <a:off x="4344314" y="1737360"/>
            <a:ext cx="3503066" cy="3566160"/>
          </a:xfrm>
          <a:prstGeom prst="rect">
            <a:avLst/>
          </a:prstGeom>
          <a:solidFill>
            <a:srgbClr val="FFFFFF"/>
          </a:solidFill>
          <a:ln w="12700">
            <a:solidFill>
              <a:srgbClr val="FFFFFF"/>
            </a:solidFill>
            <a:prstDash val="solid"/>
          </a:ln>
        </p:spPr>
      </p:sp>
      <p:sp>
        <p:nvSpPr>
          <p:cNvPr id="28" name="Shape 25"/>
          <p:cNvSpPr/>
          <p:nvPr/>
        </p:nvSpPr>
        <p:spPr>
          <a:xfrm>
            <a:off x="4344314" y="1737360"/>
            <a:ext cx="3503066" cy="54864"/>
          </a:xfrm>
          <a:prstGeom prst="rect">
            <a:avLst/>
          </a:prstGeom>
          <a:solidFill>
            <a:srgbClr val="B3181E"/>
          </a:solidFill>
          <a:ln w="12700">
            <a:solidFill>
              <a:srgbClr val="B3181E"/>
            </a:solidFill>
            <a:prstDash val="solid"/>
          </a:ln>
        </p:spPr>
      </p:sp>
      <p:sp>
        <p:nvSpPr>
          <p:cNvPr id="29" name="Text 26"/>
          <p:cNvSpPr txBox="1"/>
          <p:nvPr/>
        </p:nvSpPr>
        <p:spPr>
          <a:xfrm>
            <a:off x="4545482" y="1901952"/>
            <a:ext cx="3137306"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NO SE ADAPTA A 320 PÍXELES</a:t>
            </a:r>
            <a:endParaRPr lang="en-US" sz="960" dirty="0"/>
          </a:p>
        </p:txBody>
      </p:sp>
      <p:sp>
        <p:nvSpPr>
          <p:cNvPr id="30" name="Text 27"/>
          <p:cNvSpPr txBox="1"/>
          <p:nvPr/>
        </p:nvSpPr>
        <p:spPr>
          <a:xfrm>
            <a:off x="4545482" y="2176272"/>
            <a:ext cx="3100730" cy="402336"/>
          </a:xfrm>
          <a:prstGeom prst="rect">
            <a:avLst/>
          </a:prstGeom>
          <a:noFill/>
          <a:ln/>
        </p:spPr>
        <p:txBody>
          <a:bodyPr wrap="square" lIns="0" tIns="0" rIns="0" bIns="0" rtlCol="0" anchor="t"/>
          <a:lstStyle/>
          <a:p>
            <a:pPr algn="l" indent="0" marL="0">
              <a:lnSpc>
                <a:spcPct val="104000"/>
              </a:lnSpc>
              <a:buNone/>
            </a:pPr>
            <a:r>
              <a:rPr lang="en-US" sz="1040" dirty="0">
                <a:solidFill>
                  <a:srgbClr val="243B53"/>
                </a:solidFill>
                <a:latin typeface="Aptos" pitchFamily="34" charset="0"/>
                <a:ea typeface="Aptos" pitchFamily="34" charset="-122"/>
                <a:cs typeface="Aptos" pitchFamily="34" charset="-120"/>
              </a:rPr>
              <a:t>Con una ventana de 320 píxeles, la página midió:</a:t>
            </a:r>
            <a:endParaRPr lang="en-US" sz="1040" dirty="0"/>
          </a:p>
        </p:txBody>
      </p:sp>
      <p:sp>
        <p:nvSpPr>
          <p:cNvPr id="31" name="Shape 28"/>
          <p:cNvSpPr/>
          <p:nvPr/>
        </p:nvSpPr>
        <p:spPr>
          <a:xfrm>
            <a:off x="4545482" y="2743200"/>
            <a:ext cx="3100730" cy="457200"/>
          </a:xfrm>
          <a:prstGeom prst="rect">
            <a:avLst/>
          </a:prstGeom>
          <a:solidFill>
            <a:srgbClr val="F2E7D9"/>
          </a:solidFill>
          <a:ln w="12700">
            <a:solidFill>
              <a:srgbClr val="B3181E"/>
            </a:solidFill>
            <a:prstDash val="solid"/>
          </a:ln>
        </p:spPr>
      </p:sp>
      <p:sp>
        <p:nvSpPr>
          <p:cNvPr id="32" name="Shape 29"/>
          <p:cNvSpPr/>
          <p:nvPr/>
        </p:nvSpPr>
        <p:spPr>
          <a:xfrm>
            <a:off x="4545482" y="2743200"/>
            <a:ext cx="1930416" cy="457200"/>
          </a:xfrm>
          <a:prstGeom prst="rect">
            <a:avLst/>
          </a:prstGeom>
          <a:solidFill>
            <a:srgbClr val="102A43"/>
          </a:solidFill>
          <a:ln w="12700">
            <a:solidFill>
              <a:srgbClr val="102A43"/>
            </a:solidFill>
            <a:prstDash val="solid"/>
          </a:ln>
        </p:spPr>
      </p:sp>
      <p:sp>
        <p:nvSpPr>
          <p:cNvPr id="33" name="Text 30"/>
          <p:cNvSpPr txBox="1"/>
          <p:nvPr/>
        </p:nvSpPr>
        <p:spPr>
          <a:xfrm>
            <a:off x="4618634" y="2816352"/>
            <a:ext cx="1838976"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320 visibles</a:t>
            </a:r>
            <a:endParaRPr lang="en-US" sz="1000" dirty="0"/>
          </a:p>
        </p:txBody>
      </p:sp>
      <p:sp>
        <p:nvSpPr>
          <p:cNvPr id="34" name="Text 31"/>
          <p:cNvSpPr txBox="1"/>
          <p:nvPr/>
        </p:nvSpPr>
        <p:spPr>
          <a:xfrm>
            <a:off x="6475898" y="2816352"/>
            <a:ext cx="1097163" cy="310896"/>
          </a:xfrm>
          <a:prstGeom prst="rect">
            <a:avLst/>
          </a:prstGeom>
          <a:noFill/>
          <a:ln/>
        </p:spPr>
        <p:txBody>
          <a:bodyPr wrap="square" lIns="0" tIns="0" rIns="0" bIns="0" rtlCol="0" anchor="ctr"/>
          <a:lstStyle/>
          <a:p>
            <a:pPr algn="r" indent="0" marL="0">
              <a:buNone/>
            </a:pPr>
            <a:r>
              <a:rPr lang="en-US" sz="1200" b="1" dirty="0">
                <a:solidFill>
                  <a:srgbClr val="B3181E"/>
                </a:solidFill>
                <a:latin typeface="Aptos" pitchFamily="34" charset="0"/>
                <a:ea typeface="Aptos" pitchFamily="34" charset="-122"/>
                <a:cs typeface="Aptos" pitchFamily="34" charset="-120"/>
              </a:rPr>
              <a:t>514</a:t>
            </a:r>
            <a:endParaRPr lang="en-US" sz="1200" dirty="0"/>
          </a:p>
        </p:txBody>
      </p:sp>
      <p:sp>
        <p:nvSpPr>
          <p:cNvPr id="35" name="Text 32"/>
          <p:cNvSpPr txBox="1"/>
          <p:nvPr/>
        </p:nvSpPr>
        <p:spPr>
          <a:xfrm>
            <a:off x="4545482" y="3346704"/>
            <a:ext cx="3100730" cy="457200"/>
          </a:xfrm>
          <a:prstGeom prst="rect">
            <a:avLst/>
          </a:prstGeom>
          <a:noFill/>
          <a:ln/>
        </p:spPr>
        <p:txBody>
          <a:bodyPr wrap="square" lIns="0" tIns="0" rIns="0" bIns="0" rtlCol="0" anchor="t"/>
          <a:lstStyle/>
          <a:p>
            <a:pPr algn="l" indent="0" marL="0">
              <a:lnSpc>
                <a:spcPct val="104000"/>
              </a:lnSpc>
              <a:buNone/>
            </a:pPr>
            <a:r>
              <a:rPr lang="en-US" sz="1040" dirty="0">
                <a:solidFill>
                  <a:srgbClr val="243B53"/>
                </a:solidFill>
                <a:latin typeface="Aptos" pitchFamily="34" charset="0"/>
                <a:ea typeface="Aptos" pitchFamily="34" charset="-122"/>
                <a:cs typeface="Aptos" pitchFamily="34" charset="-120"/>
              </a:rPr>
              <a:t>Para ver el formulario completo hay que desplazarse hacia los lados.</a:t>
            </a:r>
            <a:endParaRPr lang="en-US" sz="1040" dirty="0"/>
          </a:p>
        </p:txBody>
      </p:sp>
      <p:sp>
        <p:nvSpPr>
          <p:cNvPr id="36" name="Text 33"/>
          <p:cNvSpPr txBox="1"/>
          <p:nvPr/>
        </p:nvSpPr>
        <p:spPr>
          <a:xfrm>
            <a:off x="4545482" y="3931920"/>
            <a:ext cx="3100730" cy="603504"/>
          </a:xfrm>
          <a:prstGeom prst="rect">
            <a:avLst/>
          </a:prstGeom>
          <a:noFill/>
          <a:ln/>
        </p:spPr>
        <p:txBody>
          <a:bodyPr wrap="square" lIns="0" tIns="0" rIns="0" bIns="0" rtlCol="0" anchor="t"/>
          <a:lstStyle/>
          <a:p>
            <a:pPr algn="l" indent="0" marL="0">
              <a:lnSpc>
                <a:spcPct val="104000"/>
              </a:lnSpc>
              <a:buNone/>
            </a:pPr>
            <a:r>
              <a:rPr lang="en-US" sz="960" dirty="0">
                <a:solidFill>
                  <a:srgbClr val="52606D"/>
                </a:solidFill>
                <a:latin typeface="Aptos" pitchFamily="34" charset="0"/>
                <a:ea typeface="Aptos" pitchFamily="34" charset="-122"/>
                <a:cs typeface="Aptos" pitchFamily="34" charset="-120"/>
              </a:rPr>
              <a:t>WCAG 2.2 · 1.4.10 Reflow · AA: sin desplazamiento en dos direcciones a un ancho de 320 píxeles.</a:t>
            </a:r>
            <a:endParaRPr lang="en-US" sz="960" dirty="0"/>
          </a:p>
        </p:txBody>
      </p:sp>
      <p:sp>
        <p:nvSpPr>
          <p:cNvPr id="37" name="Shape 34"/>
          <p:cNvSpPr/>
          <p:nvPr/>
        </p:nvSpPr>
        <p:spPr>
          <a:xfrm>
            <a:off x="8030261" y="1737360"/>
            <a:ext cx="3503066" cy="3566160"/>
          </a:xfrm>
          <a:prstGeom prst="rect">
            <a:avLst/>
          </a:prstGeom>
          <a:solidFill>
            <a:srgbClr val="FFFFFF"/>
          </a:solidFill>
          <a:ln w="12700">
            <a:solidFill>
              <a:srgbClr val="FFFFFF"/>
            </a:solidFill>
            <a:prstDash val="solid"/>
          </a:ln>
        </p:spPr>
      </p:sp>
      <p:sp>
        <p:nvSpPr>
          <p:cNvPr id="38" name="Shape 35"/>
          <p:cNvSpPr/>
          <p:nvPr/>
        </p:nvSpPr>
        <p:spPr>
          <a:xfrm>
            <a:off x="8030261" y="1737360"/>
            <a:ext cx="3503066" cy="54864"/>
          </a:xfrm>
          <a:prstGeom prst="rect">
            <a:avLst/>
          </a:prstGeom>
          <a:solidFill>
            <a:srgbClr val="8A6A12"/>
          </a:solidFill>
          <a:ln w="12700">
            <a:solidFill>
              <a:srgbClr val="8A6A12"/>
            </a:solidFill>
            <a:prstDash val="solid"/>
          </a:ln>
        </p:spPr>
      </p:sp>
      <p:sp>
        <p:nvSpPr>
          <p:cNvPr id="39" name="Text 36"/>
          <p:cNvSpPr txBox="1"/>
          <p:nvPr/>
        </p:nvSpPr>
        <p:spPr>
          <a:xfrm>
            <a:off x="8231429" y="1901952"/>
            <a:ext cx="3137306"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BORDES QUE CASI NO SE VEN</a:t>
            </a:r>
            <a:endParaRPr lang="en-US" sz="960" dirty="0"/>
          </a:p>
        </p:txBody>
      </p:sp>
      <p:sp>
        <p:nvSpPr>
          <p:cNvPr id="40" name="Text 37"/>
          <p:cNvSpPr txBox="1"/>
          <p:nvPr/>
        </p:nvSpPr>
        <p:spPr>
          <a:xfrm>
            <a:off x="8231429" y="2176272"/>
            <a:ext cx="3100730" cy="274320"/>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Gris #d4d9df sobre blanco:</a:t>
            </a:r>
            <a:endParaRPr lang="en-US" sz="1040" dirty="0"/>
          </a:p>
        </p:txBody>
      </p:sp>
      <p:sp>
        <p:nvSpPr>
          <p:cNvPr id="41" name="Text 38"/>
          <p:cNvSpPr txBox="1"/>
          <p:nvPr/>
        </p:nvSpPr>
        <p:spPr>
          <a:xfrm>
            <a:off x="8231429" y="2542032"/>
            <a:ext cx="3100730" cy="457200"/>
          </a:xfrm>
          <a:prstGeom prst="rect">
            <a:avLst/>
          </a:prstGeom>
          <a:noFill/>
          <a:ln/>
        </p:spPr>
        <p:txBody>
          <a:bodyPr wrap="square" lIns="0" tIns="0" rIns="0" bIns="0" rtlCol="0" anchor="t"/>
          <a:lstStyle/>
          <a:p>
            <a:pPr algn="l" indent="0" marL="0">
              <a:buNone/>
            </a:pPr>
            <a:r>
              <a:rPr lang="en-US" sz="2400" b="1" dirty="0">
                <a:solidFill>
                  <a:srgbClr val="B3181E"/>
                </a:solidFill>
                <a:latin typeface="Aptos Display" pitchFamily="34" charset="0"/>
                <a:ea typeface="Aptos Display" pitchFamily="34" charset="-122"/>
                <a:cs typeface="Aptos Display" pitchFamily="34" charset="-120"/>
              </a:rPr>
              <a:t>1,42 a 1</a:t>
            </a:r>
            <a:endParaRPr lang="en-US" sz="2400" dirty="0"/>
          </a:p>
        </p:txBody>
      </p:sp>
      <p:sp>
        <p:nvSpPr>
          <p:cNvPr id="42" name="Text 39"/>
          <p:cNvSpPr txBox="1"/>
          <p:nvPr/>
        </p:nvSpPr>
        <p:spPr>
          <a:xfrm>
            <a:off x="8231429" y="3108960"/>
            <a:ext cx="3100730" cy="603504"/>
          </a:xfrm>
          <a:prstGeom prst="rect">
            <a:avLst/>
          </a:prstGeom>
          <a:noFill/>
          <a:ln/>
        </p:spPr>
        <p:txBody>
          <a:bodyPr wrap="square" lIns="0" tIns="0" rIns="0" bIns="0" rtlCol="0" anchor="t"/>
          <a:lstStyle/>
          <a:p>
            <a:pPr algn="l" indent="0" marL="0">
              <a:lnSpc>
                <a:spcPct val="104000"/>
              </a:lnSpc>
              <a:buNone/>
            </a:pPr>
            <a:r>
              <a:rPr lang="en-US" sz="1040" dirty="0">
                <a:solidFill>
                  <a:srgbClr val="243B53"/>
                </a:solidFill>
                <a:latin typeface="Aptos" pitchFamily="34" charset="0"/>
                <a:ea typeface="Aptos" pitchFamily="34" charset="-122"/>
                <a:cs typeface="Aptos" pitchFamily="34" charset="-120"/>
              </a:rPr>
              <a:t>El criterio 1.4.11 pide 3 a 1 para lo que identifica a un componente de la interfaz.</a:t>
            </a:r>
            <a:endParaRPr lang="en-US" sz="1040" dirty="0"/>
          </a:p>
        </p:txBody>
      </p:sp>
      <p:sp>
        <p:nvSpPr>
          <p:cNvPr id="43" name="Text 40"/>
          <p:cNvSpPr txBox="1"/>
          <p:nvPr/>
        </p:nvSpPr>
        <p:spPr>
          <a:xfrm>
            <a:off x="8231429" y="3931920"/>
            <a:ext cx="3100730" cy="731520"/>
          </a:xfrm>
          <a:prstGeom prst="rect">
            <a:avLst/>
          </a:prstGeom>
          <a:noFill/>
          <a:ln/>
        </p:spPr>
        <p:txBody>
          <a:bodyPr wrap="square" lIns="0" tIns="0" rIns="0" bIns="0" rtlCol="0" anchor="t"/>
          <a:lstStyle/>
          <a:p>
            <a:pPr algn="l" indent="0" marL="0">
              <a:lnSpc>
                <a:spcPct val="104000"/>
              </a:lnSpc>
              <a:buNone/>
            </a:pPr>
            <a:r>
              <a:rPr lang="en-US" sz="960" dirty="0">
                <a:solidFill>
                  <a:srgbClr val="52606D"/>
                </a:solidFill>
                <a:latin typeface="Aptos" pitchFamily="34" charset="0"/>
                <a:ea typeface="Aptos" pitchFamily="34" charset="-122"/>
                <a:cs typeface="Aptos" pitchFamily="34" charset="-120"/>
              </a:rPr>
              <a:t>axe-core no lo detectó: no revisa el contraste de los bordes. Otro ejemplo de lo que la herramienta no ve.</a:t>
            </a:r>
            <a:endParaRPr lang="en-US" sz="960" dirty="0"/>
          </a:p>
        </p:txBody>
      </p:sp>
      <p:sp>
        <p:nvSpPr>
          <p:cNvPr id="44" name="Shape 41"/>
          <p:cNvSpPr/>
          <p:nvPr/>
        </p:nvSpPr>
        <p:spPr>
          <a:xfrm>
            <a:off x="658368" y="5650992"/>
            <a:ext cx="10874959" cy="548640"/>
          </a:xfrm>
          <a:prstGeom prst="rect">
            <a:avLst/>
          </a:prstGeom>
          <a:solidFill>
            <a:srgbClr val="102A43"/>
          </a:solidFill>
          <a:ln w="12700">
            <a:solidFill>
              <a:srgbClr val="102A43"/>
            </a:solidFill>
            <a:prstDash val="solid"/>
          </a:ln>
        </p:spPr>
      </p:sp>
      <p:sp>
        <p:nvSpPr>
          <p:cNvPr id="45" name="Text 4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agente que lee todo el código encuentra lo que nadie buscó.</a:t>
            </a:r>
            <a:endParaRPr lang="en-US" sz="13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LOS QUE NO SE SOSTIENEN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sospecha razonable no es un hallazgo</a:t>
            </a:r>
            <a:endParaRPr lang="en-US" sz="2800" dirty="0"/>
          </a:p>
        </p:txBody>
      </p:sp>
      <p:sp>
        <p:nvSpPr>
          <p:cNvPr id="10" name="Shape 7"/>
          <p:cNvSpPr/>
          <p:nvPr/>
        </p:nvSpPr>
        <p:spPr>
          <a:xfrm>
            <a:off x="658368" y="1737360"/>
            <a:ext cx="5254600" cy="3712464"/>
          </a:xfrm>
          <a:prstGeom prst="rect">
            <a:avLst/>
          </a:prstGeom>
          <a:solidFill>
            <a:srgbClr val="FFFFFF"/>
          </a:solidFill>
          <a:ln w="12700">
            <a:solidFill>
              <a:srgbClr val="FFFFFF"/>
            </a:solidFill>
            <a:prstDash val="solid"/>
          </a:ln>
        </p:spPr>
      </p:sp>
      <p:sp>
        <p:nvSpPr>
          <p:cNvPr id="11" name="Shape 8"/>
          <p:cNvSpPr/>
          <p:nvPr/>
        </p:nvSpPr>
        <p:spPr>
          <a:xfrm>
            <a:off x="658368" y="1737360"/>
            <a:ext cx="5254600" cy="54864"/>
          </a:xfrm>
          <a:prstGeom prst="rect">
            <a:avLst/>
          </a:prstGeom>
          <a:solidFill>
            <a:srgbClr val="B3181E"/>
          </a:solidFill>
          <a:ln w="12700">
            <a:solidFill>
              <a:srgbClr val="B3181E"/>
            </a:solidFill>
            <a:prstDash val="solid"/>
          </a:ln>
        </p:spPr>
      </p:sp>
      <p:sp>
        <p:nvSpPr>
          <p:cNvPr id="12" name="Shape 9"/>
          <p:cNvSpPr/>
          <p:nvPr/>
        </p:nvSpPr>
        <p:spPr>
          <a:xfrm>
            <a:off x="877824" y="1920240"/>
            <a:ext cx="1737360" cy="292608"/>
          </a:xfrm>
          <a:prstGeom prst="rect">
            <a:avLst/>
          </a:prstGeom>
          <a:solidFill>
            <a:srgbClr val="B3181E"/>
          </a:solidFill>
          <a:ln w="12700">
            <a:solidFill>
              <a:srgbClr val="B3181E"/>
            </a:solidFill>
            <a:prstDash val="solid"/>
          </a:ln>
        </p:spPr>
      </p:sp>
      <p:sp>
        <p:nvSpPr>
          <p:cNvPr id="13" name="Text 10"/>
          <p:cNvSpPr txBox="1"/>
          <p:nvPr/>
        </p:nvSpPr>
        <p:spPr>
          <a:xfrm>
            <a:off x="877824" y="1938528"/>
            <a:ext cx="1737360" cy="256032"/>
          </a:xfrm>
          <a:prstGeom prst="rect">
            <a:avLst/>
          </a:prstGeom>
          <a:noFill/>
          <a:ln/>
        </p:spPr>
        <p:txBody>
          <a:bodyPr wrap="square" lIns="0" tIns="0" rIns="0" bIns="0" rtlCol="0" anchor="ctr"/>
          <a:lstStyle/>
          <a:p>
            <a:pPr algn="ctr" indent="0" marL="0">
              <a:buNone/>
            </a:pPr>
            <a:r>
              <a:rPr lang="en-US" sz="960" b="1" spc="100" kern="0" dirty="0">
                <a:solidFill>
                  <a:srgbClr val="FFFFFF"/>
                </a:solidFill>
                <a:latin typeface="Aptos" pitchFamily="34" charset="0"/>
                <a:ea typeface="Aptos" pitchFamily="34" charset="-122"/>
                <a:cs typeface="Aptos" pitchFamily="34" charset="-120"/>
              </a:rPr>
              <a:t>REFUTADO</a:t>
            </a:r>
            <a:endParaRPr lang="en-US" sz="960" dirty="0"/>
          </a:p>
        </p:txBody>
      </p:sp>
      <p:sp>
        <p:nvSpPr>
          <p:cNvPr id="14" name="Text 11"/>
          <p:cNvSpPr txBox="1"/>
          <p:nvPr/>
        </p:nvSpPr>
        <p:spPr>
          <a:xfrm>
            <a:off x="877824" y="2340864"/>
            <a:ext cx="4815688" cy="310896"/>
          </a:xfrm>
          <a:prstGeom prst="rect">
            <a:avLst/>
          </a:prstGeom>
          <a:noFill/>
          <a:ln/>
        </p:spPr>
        <p:txBody>
          <a:bodyPr wrap="square" lIns="0" tIns="0" rIns="0" bIns="0" rtlCol="0" anchor="t"/>
          <a:lstStyle/>
          <a:p>
            <a:pPr algn="l" indent="0" marL="0">
              <a:buNone/>
            </a:pPr>
            <a:r>
              <a:rPr lang="en-US" sz="1240" b="1" i="1" dirty="0">
                <a:solidFill>
                  <a:srgbClr val="243B53"/>
                </a:solidFill>
                <a:latin typeface="Aptos" pitchFamily="34" charset="0"/>
                <a:ea typeface="Aptos" pitchFamily="34" charset="-122"/>
                <a:cs typeface="Aptos" pitchFamily="34" charset="-120"/>
              </a:rPr>
              <a:t>«httpx2: probable error o typosquatting»</a:t>
            </a:r>
            <a:endParaRPr lang="en-US" sz="1240" dirty="0"/>
          </a:p>
        </p:txBody>
      </p:sp>
      <p:sp>
        <p:nvSpPr>
          <p:cNvPr id="15" name="Text 12"/>
          <p:cNvSpPr txBox="1"/>
          <p:nvPr/>
        </p:nvSpPr>
        <p:spPr>
          <a:xfrm>
            <a:off x="877824" y="2688336"/>
            <a:ext cx="4815688" cy="603504"/>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Typosquatting: publicar un paquete malicioso con un nombre parecido al de uno legítimo. El conocido se llama httpx, y el agente declaró que no lo verificó en PyPI, el repositorio público de paquetes de Python.</a:t>
            </a:r>
            <a:endParaRPr lang="en-US" sz="980" dirty="0"/>
          </a:p>
        </p:txBody>
      </p:sp>
      <p:sp>
        <p:nvSpPr>
          <p:cNvPr id="16" name="Shape 13"/>
          <p:cNvSpPr/>
          <p:nvPr/>
        </p:nvSpPr>
        <p:spPr>
          <a:xfrm>
            <a:off x="877824" y="3493008"/>
            <a:ext cx="128016" cy="128016"/>
          </a:xfrm>
          <a:prstGeom prst="rect">
            <a:avLst/>
          </a:prstGeom>
          <a:solidFill>
            <a:srgbClr val="B3181E"/>
          </a:solidFill>
          <a:ln w="12700">
            <a:solidFill>
              <a:srgbClr val="B3181E"/>
            </a:solidFill>
            <a:prstDash val="solid"/>
          </a:ln>
        </p:spPr>
      </p:sp>
      <p:sp>
        <p:nvSpPr>
          <p:cNvPr id="17" name="Text 14"/>
          <p:cNvSpPr txBox="1"/>
          <p:nvPr/>
        </p:nvSpPr>
        <p:spPr>
          <a:xfrm>
            <a:off x="1115568" y="3383280"/>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httpx2 lo publica Tom Christie, el autor de httpx.</a:t>
            </a:r>
            <a:endParaRPr lang="en-US" sz="1020" dirty="0"/>
          </a:p>
        </p:txBody>
      </p:sp>
      <p:sp>
        <p:nvSpPr>
          <p:cNvPr id="18" name="Shape 15"/>
          <p:cNvSpPr/>
          <p:nvPr/>
        </p:nvSpPr>
        <p:spPr>
          <a:xfrm>
            <a:off x="877824" y="3895344"/>
            <a:ext cx="128016" cy="128016"/>
          </a:xfrm>
          <a:prstGeom prst="rect">
            <a:avLst/>
          </a:prstGeom>
          <a:solidFill>
            <a:srgbClr val="B3181E"/>
          </a:solidFill>
          <a:ln w="12700">
            <a:solidFill>
              <a:srgbClr val="B3181E"/>
            </a:solidFill>
            <a:prstDash val="solid"/>
          </a:ln>
        </p:spPr>
      </p:sp>
      <p:sp>
        <p:nvSpPr>
          <p:cNvPr id="19" name="Text 16"/>
          <p:cNvSpPr txBox="1"/>
          <p:nvPr/>
        </p:nvSpPr>
        <p:spPr>
          <a:xfrm>
            <a:off x="1115568" y="3785616"/>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Su código está en el repositorio de la organización Pydantic.</a:t>
            </a:r>
            <a:endParaRPr lang="en-US" sz="1020" dirty="0"/>
          </a:p>
        </p:txBody>
      </p:sp>
      <p:sp>
        <p:nvSpPr>
          <p:cNvPr id="20" name="Shape 17"/>
          <p:cNvSpPr/>
          <p:nvPr/>
        </p:nvSpPr>
        <p:spPr>
          <a:xfrm>
            <a:off x="877824" y="4297680"/>
            <a:ext cx="128016" cy="128016"/>
          </a:xfrm>
          <a:prstGeom prst="rect">
            <a:avLst/>
          </a:prstGeom>
          <a:solidFill>
            <a:srgbClr val="B3181E"/>
          </a:solidFill>
          <a:ln w="12700">
            <a:solidFill>
              <a:srgbClr val="B3181E"/>
            </a:solidFill>
            <a:prstDash val="solid"/>
          </a:ln>
        </p:spPr>
      </p:sp>
      <p:sp>
        <p:nvSpPr>
          <p:cNvPr id="21" name="Text 18"/>
          <p:cNvSpPr txBox="1"/>
          <p:nvPr/>
        </p:nvSpPr>
        <p:spPr>
          <a:xfrm>
            <a:off x="1115568" y="4187952"/>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Starlette, que FastAPI usa por debajo, lo declara entre sus dependencias.</a:t>
            </a:r>
            <a:endParaRPr lang="en-US" sz="1020" dirty="0"/>
          </a:p>
        </p:txBody>
      </p:sp>
      <p:sp>
        <p:nvSpPr>
          <p:cNvPr id="22" name="Shape 19"/>
          <p:cNvSpPr/>
          <p:nvPr/>
        </p:nvSpPr>
        <p:spPr>
          <a:xfrm>
            <a:off x="877824" y="4681728"/>
            <a:ext cx="4815688" cy="603504"/>
          </a:xfrm>
          <a:prstGeom prst="rect">
            <a:avLst/>
          </a:prstGeom>
          <a:solidFill>
            <a:srgbClr val="F2E7D9"/>
          </a:solidFill>
          <a:ln w="12700">
            <a:solidFill>
              <a:srgbClr val="F2E7D9"/>
            </a:solidFill>
            <a:prstDash val="solid"/>
          </a:ln>
        </p:spPr>
      </p:sp>
      <p:sp>
        <p:nvSpPr>
          <p:cNvPr id="23" name="Text 20"/>
          <p:cNvSpPr txBox="1"/>
          <p:nvPr/>
        </p:nvSpPr>
        <p:spPr>
          <a:xfrm>
            <a:off x="1005840" y="4718304"/>
            <a:ext cx="4559656" cy="530352"/>
          </a:xfrm>
          <a:prstGeom prst="rect">
            <a:avLst/>
          </a:prstGeom>
          <a:noFill/>
          <a:ln/>
        </p:spPr>
        <p:txBody>
          <a:bodyPr wrap="square" lIns="0" tIns="0" rIns="0" bIns="0" rtlCol="0" anchor="ctr"/>
          <a:lstStyle/>
          <a:p>
            <a:pPr algn="l" indent="0" marL="0">
              <a:lnSpc>
                <a:spcPct val="104000"/>
              </a:lnSpc>
              <a:buNone/>
            </a:pPr>
            <a:r>
              <a:rPr lang="en-US" sz="1080" b="1" dirty="0">
                <a:solidFill>
                  <a:srgbClr val="243B53"/>
                </a:solidFill>
                <a:latin typeface="Aptos" pitchFamily="34" charset="0"/>
                <a:ea typeface="Aptos" pitchFamily="34" charset="-122"/>
                <a:cs typeface="Aptos" pitchFamily="34" charset="-120"/>
              </a:rPr>
              <a:t>Una afirmación sobre una dependencia se resuelve mirando la fuente, no el nombre.</a:t>
            </a:r>
            <a:endParaRPr lang="en-US" sz="1080" dirty="0"/>
          </a:p>
        </p:txBody>
      </p:sp>
      <p:sp>
        <p:nvSpPr>
          <p:cNvPr id="24" name="Shape 21"/>
          <p:cNvSpPr/>
          <p:nvPr/>
        </p:nvSpPr>
        <p:spPr>
          <a:xfrm>
            <a:off x="6278728" y="1737360"/>
            <a:ext cx="5254600" cy="3712464"/>
          </a:xfrm>
          <a:prstGeom prst="rect">
            <a:avLst/>
          </a:prstGeom>
          <a:solidFill>
            <a:srgbClr val="FFFFFF"/>
          </a:solidFill>
          <a:ln w="12700">
            <a:solidFill>
              <a:srgbClr val="FFFFFF"/>
            </a:solidFill>
            <a:prstDash val="solid"/>
          </a:ln>
        </p:spPr>
      </p:sp>
      <p:sp>
        <p:nvSpPr>
          <p:cNvPr id="25" name="Shape 22"/>
          <p:cNvSpPr/>
          <p:nvPr/>
        </p:nvSpPr>
        <p:spPr>
          <a:xfrm>
            <a:off x="6278728" y="1737360"/>
            <a:ext cx="5254600" cy="54864"/>
          </a:xfrm>
          <a:prstGeom prst="rect">
            <a:avLst/>
          </a:prstGeom>
          <a:solidFill>
            <a:srgbClr val="8A6A12"/>
          </a:solidFill>
          <a:ln w="12700">
            <a:solidFill>
              <a:srgbClr val="8A6A12"/>
            </a:solidFill>
            <a:prstDash val="solid"/>
          </a:ln>
        </p:spPr>
      </p:sp>
      <p:sp>
        <p:nvSpPr>
          <p:cNvPr id="26" name="Shape 23"/>
          <p:cNvSpPr/>
          <p:nvPr/>
        </p:nvSpPr>
        <p:spPr>
          <a:xfrm>
            <a:off x="6498184" y="1920240"/>
            <a:ext cx="1737360" cy="292608"/>
          </a:xfrm>
          <a:prstGeom prst="rect">
            <a:avLst/>
          </a:prstGeom>
          <a:solidFill>
            <a:srgbClr val="8A6A12"/>
          </a:solidFill>
          <a:ln w="12700">
            <a:solidFill>
              <a:srgbClr val="8A6A12"/>
            </a:solidFill>
            <a:prstDash val="solid"/>
          </a:ln>
        </p:spPr>
      </p:sp>
      <p:sp>
        <p:nvSpPr>
          <p:cNvPr id="27" name="Text 24"/>
          <p:cNvSpPr txBox="1"/>
          <p:nvPr/>
        </p:nvSpPr>
        <p:spPr>
          <a:xfrm>
            <a:off x="6498184" y="1938528"/>
            <a:ext cx="1737360" cy="256032"/>
          </a:xfrm>
          <a:prstGeom prst="rect">
            <a:avLst/>
          </a:prstGeom>
          <a:noFill/>
          <a:ln/>
        </p:spPr>
        <p:txBody>
          <a:bodyPr wrap="square" lIns="0" tIns="0" rIns="0" bIns="0" rtlCol="0" anchor="ctr"/>
          <a:lstStyle/>
          <a:p>
            <a:pPr algn="ctr" indent="0" marL="0">
              <a:buNone/>
            </a:pPr>
            <a:r>
              <a:rPr lang="en-US" sz="960" b="1" spc="100" kern="0" dirty="0">
                <a:solidFill>
                  <a:srgbClr val="FFFFFF"/>
                </a:solidFill>
                <a:latin typeface="Aptos" pitchFamily="34" charset="0"/>
                <a:ea typeface="Aptos" pitchFamily="34" charset="-122"/>
                <a:cs typeface="Aptos" pitchFamily="34" charset="-120"/>
              </a:rPr>
              <a:t>NO REPRODUCIDO</a:t>
            </a:r>
            <a:endParaRPr lang="en-US" sz="960" dirty="0"/>
          </a:p>
        </p:txBody>
      </p:sp>
      <p:sp>
        <p:nvSpPr>
          <p:cNvPr id="28" name="Text 25"/>
          <p:cNvSpPr txBox="1"/>
          <p:nvPr/>
        </p:nvSpPr>
        <p:spPr>
          <a:xfrm>
            <a:off x="6498184" y="2340864"/>
            <a:ext cx="4815688" cy="310896"/>
          </a:xfrm>
          <a:prstGeom prst="rect">
            <a:avLst/>
          </a:prstGeom>
          <a:noFill/>
          <a:ln/>
        </p:spPr>
        <p:txBody>
          <a:bodyPr wrap="square" lIns="0" tIns="0" rIns="0" bIns="0" rtlCol="0" anchor="t"/>
          <a:lstStyle/>
          <a:p>
            <a:pPr algn="l" indent="0" marL="0">
              <a:buNone/>
            </a:pPr>
            <a:r>
              <a:rPr lang="en-US" sz="1240" b="1" i="1" dirty="0">
                <a:solidFill>
                  <a:srgbClr val="243B53"/>
                </a:solidFill>
                <a:latin typeface="Aptos" pitchFamily="34" charset="0"/>
                <a:ea typeface="Aptos" pitchFamily="34" charset="-122"/>
                <a:cs typeface="Aptos" pitchFamily="34" charset="-120"/>
              </a:rPr>
              <a:t>«Las escrituras simultáneas producen errores 500»</a:t>
            </a:r>
            <a:endParaRPr lang="en-US" sz="1240" dirty="0"/>
          </a:p>
        </p:txBody>
      </p:sp>
      <p:sp>
        <p:nvSpPr>
          <p:cNvPr id="29" name="Text 26"/>
          <p:cNvSpPr txBox="1"/>
          <p:nvPr/>
        </p:nvSpPr>
        <p:spPr>
          <a:xfrm>
            <a:off x="6498184" y="2688336"/>
            <a:ext cx="4815688" cy="603504"/>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Lo dedujo porque la conexión «no configura timeout», es decir, un plazo de espera.</a:t>
            </a:r>
            <a:endParaRPr lang="en-US" sz="980" dirty="0"/>
          </a:p>
        </p:txBody>
      </p:sp>
      <p:sp>
        <p:nvSpPr>
          <p:cNvPr id="30" name="Shape 27"/>
          <p:cNvSpPr/>
          <p:nvPr/>
        </p:nvSpPr>
        <p:spPr>
          <a:xfrm>
            <a:off x="6498184" y="3493008"/>
            <a:ext cx="128016" cy="128016"/>
          </a:xfrm>
          <a:prstGeom prst="rect">
            <a:avLst/>
          </a:prstGeom>
          <a:solidFill>
            <a:srgbClr val="8A6A12"/>
          </a:solidFill>
          <a:ln w="12700">
            <a:solidFill>
              <a:srgbClr val="8A6A12"/>
            </a:solidFill>
            <a:prstDash val="solid"/>
          </a:ln>
        </p:spPr>
      </p:sp>
      <p:sp>
        <p:nvSpPr>
          <p:cNvPr id="31" name="Text 28"/>
          <p:cNvSpPr txBox="1"/>
          <p:nvPr/>
        </p:nvSpPr>
        <p:spPr>
          <a:xfrm>
            <a:off x="6735928" y="3383280"/>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En ninguna de las diez tandas del bloque 1, con hasta 2.000 usuarios, hubo un error 500.</a:t>
            </a:r>
            <a:endParaRPr lang="en-US" sz="1020" dirty="0"/>
          </a:p>
        </p:txBody>
      </p:sp>
      <p:sp>
        <p:nvSpPr>
          <p:cNvPr id="32" name="Shape 29"/>
          <p:cNvSpPr/>
          <p:nvPr/>
        </p:nvSpPr>
        <p:spPr>
          <a:xfrm>
            <a:off x="6498184" y="3895344"/>
            <a:ext cx="128016" cy="128016"/>
          </a:xfrm>
          <a:prstGeom prst="rect">
            <a:avLst/>
          </a:prstGeom>
          <a:solidFill>
            <a:srgbClr val="8A6A12"/>
          </a:solidFill>
          <a:ln w="12700">
            <a:solidFill>
              <a:srgbClr val="8A6A12"/>
            </a:solidFill>
            <a:prstDash val="solid"/>
          </a:ln>
        </p:spPr>
      </p:sp>
      <p:sp>
        <p:nvSpPr>
          <p:cNvPr id="33" name="Text 30"/>
          <p:cNvSpPr txBox="1"/>
          <p:nvPr/>
        </p:nvSpPr>
        <p:spPr>
          <a:xfrm>
            <a:off x="6735928" y="3785616"/>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Las fallas con 2.000 fueron conexiones cortadas.</a:t>
            </a:r>
            <a:endParaRPr lang="en-US" sz="1020" dirty="0"/>
          </a:p>
        </p:txBody>
      </p:sp>
      <p:sp>
        <p:nvSpPr>
          <p:cNvPr id="34" name="Shape 31"/>
          <p:cNvSpPr/>
          <p:nvPr/>
        </p:nvSpPr>
        <p:spPr>
          <a:xfrm>
            <a:off x="6498184" y="4297680"/>
            <a:ext cx="128016" cy="128016"/>
          </a:xfrm>
          <a:prstGeom prst="rect">
            <a:avLst/>
          </a:prstGeom>
          <a:solidFill>
            <a:srgbClr val="8A6A12"/>
          </a:solidFill>
          <a:ln w="12700">
            <a:solidFill>
              <a:srgbClr val="8A6A12"/>
            </a:solidFill>
            <a:prstDash val="solid"/>
          </a:ln>
        </p:spPr>
      </p:sp>
      <p:sp>
        <p:nvSpPr>
          <p:cNvPr id="35" name="Text 32"/>
          <p:cNvSpPr txBox="1"/>
          <p:nvPr/>
        </p:nvSpPr>
        <p:spPr>
          <a:xfrm>
            <a:off x="6735928" y="4187952"/>
            <a:ext cx="4577944" cy="365760"/>
          </a:xfrm>
          <a:prstGeom prst="rect">
            <a:avLst/>
          </a:prstGeom>
          <a:noFill/>
          <a:ln/>
        </p:spPr>
        <p:txBody>
          <a:bodyPr wrap="square" lIns="0" tIns="0" rIns="0" bIns="0" rtlCol="0" anchor="ctr"/>
          <a:lstStyle/>
          <a:p>
            <a:pPr algn="l" indent="0" marL="0">
              <a:lnSpc>
                <a:spcPct val="102000"/>
              </a:lnSpc>
              <a:buNone/>
            </a:pPr>
            <a:r>
              <a:rPr lang="en-US" sz="1020" dirty="0">
                <a:solidFill>
                  <a:srgbClr val="243B53"/>
                </a:solidFill>
                <a:latin typeface="Aptos" pitchFamily="34" charset="0"/>
                <a:ea typeface="Aptos" pitchFamily="34" charset="-122"/>
                <a:cs typeface="Aptos" pitchFamily="34" charset="-120"/>
              </a:rPr>
              <a:t>La premisa era inexacta: la conexión espera 5 segundos por omisión.</a:t>
            </a:r>
            <a:endParaRPr lang="en-US" sz="1020" dirty="0"/>
          </a:p>
        </p:txBody>
      </p:sp>
      <p:sp>
        <p:nvSpPr>
          <p:cNvPr id="36" name="Shape 33"/>
          <p:cNvSpPr/>
          <p:nvPr/>
        </p:nvSpPr>
        <p:spPr>
          <a:xfrm>
            <a:off x="6498184" y="4681728"/>
            <a:ext cx="4815688" cy="603504"/>
          </a:xfrm>
          <a:prstGeom prst="rect">
            <a:avLst/>
          </a:prstGeom>
          <a:solidFill>
            <a:srgbClr val="F2E7D9"/>
          </a:solidFill>
          <a:ln w="12700">
            <a:solidFill>
              <a:srgbClr val="F2E7D9"/>
            </a:solidFill>
            <a:prstDash val="solid"/>
          </a:ln>
        </p:spPr>
      </p:sp>
      <p:sp>
        <p:nvSpPr>
          <p:cNvPr id="37" name="Text 34"/>
          <p:cNvSpPr txBox="1"/>
          <p:nvPr/>
        </p:nvSpPr>
        <p:spPr>
          <a:xfrm>
            <a:off x="6626200" y="4718304"/>
            <a:ext cx="4559656" cy="530352"/>
          </a:xfrm>
          <a:prstGeom prst="rect">
            <a:avLst/>
          </a:prstGeom>
          <a:noFill/>
          <a:ln/>
        </p:spPr>
        <p:txBody>
          <a:bodyPr wrap="square" lIns="0" tIns="0" rIns="0" bIns="0" rtlCol="0" anchor="ctr"/>
          <a:lstStyle/>
          <a:p>
            <a:pPr algn="l" indent="0" marL="0">
              <a:lnSpc>
                <a:spcPct val="104000"/>
              </a:lnSpc>
              <a:buNone/>
            </a:pPr>
            <a:r>
              <a:rPr lang="en-US" sz="1080" b="1" dirty="0">
                <a:solidFill>
                  <a:srgbClr val="243B53"/>
                </a:solidFill>
                <a:latin typeface="Aptos" pitchFamily="34" charset="0"/>
                <a:ea typeface="Aptos" pitchFamily="34" charset="-122"/>
                <a:cs typeface="Aptos" pitchFamily="34" charset="-120"/>
              </a:rPr>
              <a:t>La deducción era plausible, y la ejecución no la confirmó.</a:t>
            </a:r>
            <a:endParaRPr lang="en-US" sz="1080" dirty="0"/>
          </a:p>
        </p:txBody>
      </p:sp>
      <p:sp>
        <p:nvSpPr>
          <p:cNvPr id="38" name="Shape 35"/>
          <p:cNvSpPr/>
          <p:nvPr/>
        </p:nvSpPr>
        <p:spPr>
          <a:xfrm>
            <a:off x="658368" y="5650992"/>
            <a:ext cx="10874959" cy="548640"/>
          </a:xfrm>
          <a:prstGeom prst="rect">
            <a:avLst/>
          </a:prstGeom>
          <a:solidFill>
            <a:srgbClr val="102A43"/>
          </a:solidFill>
          <a:ln w="12700">
            <a:solidFill>
              <a:srgbClr val="102A43"/>
            </a:solidFill>
            <a:prstDash val="solid"/>
          </a:ln>
        </p:spPr>
      </p:sp>
      <p:sp>
        <p:nvSpPr>
          <p:cNvPr id="39" name="Text 3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240" b="1" dirty="0">
                <a:solidFill>
                  <a:srgbClr val="FFFFFF"/>
                </a:solidFill>
                <a:latin typeface="Aptos" pitchFamily="34" charset="0"/>
                <a:ea typeface="Aptos" pitchFamily="34" charset="-122"/>
                <a:cs typeface="Aptos" pitchFamily="34" charset="-120"/>
              </a:rPr>
              <a:t>Si se hubieran aceptado sin ejecutar, el informe tendría un paquete malicioso que no lo es y un error que no ocurre.</a:t>
            </a:r>
            <a:endParaRPr lang="en-US" sz="124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LO QUE NINGUNA EJECUCIÓN RESUELVE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Reales, y dependen del requisito</a:t>
            </a:r>
            <a:endParaRPr lang="en-US" sz="2800" dirty="0"/>
          </a:p>
        </p:txBody>
      </p:sp>
      <p:sp>
        <p:nvSpPr>
          <p:cNvPr id="10" name="Shape 7"/>
          <p:cNvSpPr/>
          <p:nvPr/>
        </p:nvSpPr>
        <p:spPr>
          <a:xfrm>
            <a:off x="658368" y="1737360"/>
            <a:ext cx="3503066" cy="2468880"/>
          </a:xfrm>
          <a:prstGeom prst="rect">
            <a:avLst/>
          </a:prstGeom>
          <a:solidFill>
            <a:srgbClr val="FFFFFF"/>
          </a:solidFill>
          <a:ln w="12700">
            <a:solidFill>
              <a:srgbClr val="FFFFFF"/>
            </a:solidFill>
            <a:prstDash val="solid"/>
          </a:ln>
        </p:spPr>
      </p:sp>
      <p:sp>
        <p:nvSpPr>
          <p:cNvPr id="11" name="Shape 8"/>
          <p:cNvSpPr/>
          <p:nvPr/>
        </p:nvSpPr>
        <p:spPr>
          <a:xfrm>
            <a:off x="658368" y="1737360"/>
            <a:ext cx="3503066" cy="54864"/>
          </a:xfrm>
          <a:prstGeom prst="rect">
            <a:avLst/>
          </a:prstGeom>
          <a:solidFill>
            <a:srgbClr val="102A43"/>
          </a:solidFill>
          <a:ln w="12700">
            <a:solidFill>
              <a:srgbClr val="102A43"/>
            </a:solidFill>
            <a:prstDash val="solid"/>
          </a:ln>
        </p:spPr>
      </p:sp>
      <p:sp>
        <p:nvSpPr>
          <p:cNvPr id="12" name="Text 9"/>
          <p:cNvSpPr txBox="1"/>
          <p:nvPr/>
        </p:nvSpPr>
        <p:spPr>
          <a:xfrm>
            <a:off x="877824" y="1901952"/>
            <a:ext cx="3064154" cy="585216"/>
          </a:xfrm>
          <a:prstGeom prst="rect">
            <a:avLst/>
          </a:prstGeom>
          <a:noFill/>
          <a:ln/>
        </p:spPr>
        <p:txBody>
          <a:bodyPr wrap="square" lIns="0" tIns="0" rIns="0" bIns="0" rtlCol="0" anchor="t"/>
          <a:lstStyle/>
          <a:p>
            <a:pPr algn="l" indent="0" marL="0">
              <a:lnSpc>
                <a:spcPct val="104000"/>
              </a:lnSpc>
              <a:buNone/>
            </a:pPr>
            <a:r>
              <a:rPr lang="en-US" sz="1300" b="1" dirty="0">
                <a:solidFill>
                  <a:srgbClr val="243B53"/>
                </a:solidFill>
                <a:latin typeface="Aptos" pitchFamily="34" charset="0"/>
                <a:ea typeface="Aptos" pitchFamily="34" charset="-122"/>
                <a:cs typeface="Aptos" pitchFamily="34" charset="-120"/>
              </a:rPr>
              <a:t>No guarda la fecha de las reservas</a:t>
            </a:r>
            <a:endParaRPr lang="en-US" sz="1300" dirty="0"/>
          </a:p>
        </p:txBody>
      </p:sp>
      <p:sp>
        <p:nvSpPr>
          <p:cNvPr id="13" name="Text 10"/>
          <p:cNvSpPr txBox="1"/>
          <p:nvPr/>
        </p:nvSpPr>
        <p:spPr>
          <a:xfrm>
            <a:off x="877824" y="2542032"/>
            <a:ext cx="3064154" cy="731520"/>
          </a:xfrm>
          <a:prstGeom prst="rect">
            <a:avLst/>
          </a:prstGeom>
          <a:noFill/>
          <a:ln/>
        </p:spPr>
        <p:txBody>
          <a:bodyPr wrap="square" lIns="0" tIns="0" rIns="0" bIns="0" rtlCol="0" anchor="t"/>
          <a:lstStyle/>
          <a:p>
            <a:pPr algn="l" indent="0" marL="0">
              <a:lnSpc>
                <a:spcPct val="105000"/>
              </a:lnSpc>
              <a:buNone/>
            </a:pPr>
            <a:r>
              <a:rPr lang="en-US" sz="1020" dirty="0">
                <a:solidFill>
                  <a:srgbClr val="52606D"/>
                </a:solidFill>
                <a:latin typeface="Aptos" pitchFamily="34" charset="0"/>
                <a:ea typeface="Aptos" pitchFamily="34" charset="-122"/>
                <a:cs typeface="Aptos" pitchFamily="34" charset="-120"/>
              </a:rPr>
              <a:t>Solo admite ocho reservas en toda su vida.</a:t>
            </a:r>
            <a:endParaRPr lang="en-US" sz="1020" dirty="0"/>
          </a:p>
        </p:txBody>
      </p:sp>
      <p:sp>
        <p:nvSpPr>
          <p:cNvPr id="14" name="Shape 11"/>
          <p:cNvSpPr/>
          <p:nvPr/>
        </p:nvSpPr>
        <p:spPr>
          <a:xfrm>
            <a:off x="877824" y="3383280"/>
            <a:ext cx="3064154" cy="658368"/>
          </a:xfrm>
          <a:prstGeom prst="rect">
            <a:avLst/>
          </a:prstGeom>
          <a:solidFill>
            <a:srgbClr val="1D3A57"/>
          </a:solidFill>
          <a:ln w="12700">
            <a:solidFill>
              <a:srgbClr val="1D3A57"/>
            </a:solidFill>
            <a:prstDash val="solid"/>
          </a:ln>
        </p:spPr>
      </p:sp>
      <p:sp>
        <p:nvSpPr>
          <p:cNvPr id="15" name="Text 12"/>
          <p:cNvSpPr txBox="1"/>
          <p:nvPr/>
        </p:nvSpPr>
        <p:spPr>
          <a:xfrm>
            <a:off x="987552" y="3419856"/>
            <a:ext cx="2844698" cy="585216"/>
          </a:xfrm>
          <a:prstGeom prst="rect">
            <a:avLst/>
          </a:prstGeom>
          <a:noFill/>
          <a:ln/>
        </p:spPr>
        <p:txBody>
          <a:bodyPr wrap="square" lIns="0" tIns="0" rIns="0" bIns="0" rtlCol="0" anchor="ctr"/>
          <a:lstStyle/>
          <a:p>
            <a:pPr algn="l" indent="0" marL="0">
              <a:lnSpc>
                <a:spcPct val="104000"/>
              </a:lnSpc>
              <a:buNone/>
            </a:pPr>
            <a:r>
              <a:rPr lang="en-US" sz="1120" b="1" dirty="0">
                <a:solidFill>
                  <a:srgbClr val="FFFFFF"/>
                </a:solidFill>
                <a:latin typeface="Aptos" pitchFamily="34" charset="0"/>
                <a:ea typeface="Aptos" pitchFamily="34" charset="-122"/>
                <a:cs typeface="Aptos" pitchFamily="34" charset="-120"/>
              </a:rPr>
              <a:t>¿Cuántos días se reservan?</a:t>
            </a:r>
            <a:endParaRPr lang="en-US" sz="1120" dirty="0"/>
          </a:p>
        </p:txBody>
      </p:sp>
      <p:sp>
        <p:nvSpPr>
          <p:cNvPr id="16" name="Shape 13"/>
          <p:cNvSpPr/>
          <p:nvPr/>
        </p:nvSpPr>
        <p:spPr>
          <a:xfrm>
            <a:off x="4344314" y="1737360"/>
            <a:ext cx="3503066" cy="2468880"/>
          </a:xfrm>
          <a:prstGeom prst="rect">
            <a:avLst/>
          </a:prstGeom>
          <a:solidFill>
            <a:srgbClr val="FFFFFF"/>
          </a:solidFill>
          <a:ln w="12700">
            <a:solidFill>
              <a:srgbClr val="FFFFFF"/>
            </a:solidFill>
            <a:prstDash val="solid"/>
          </a:ln>
        </p:spPr>
      </p:sp>
      <p:sp>
        <p:nvSpPr>
          <p:cNvPr id="17" name="Shape 14"/>
          <p:cNvSpPr/>
          <p:nvPr/>
        </p:nvSpPr>
        <p:spPr>
          <a:xfrm>
            <a:off x="4344314" y="1737360"/>
            <a:ext cx="3503066" cy="54864"/>
          </a:xfrm>
          <a:prstGeom prst="rect">
            <a:avLst/>
          </a:prstGeom>
          <a:solidFill>
            <a:srgbClr val="102A43"/>
          </a:solidFill>
          <a:ln w="12700">
            <a:solidFill>
              <a:srgbClr val="102A43"/>
            </a:solidFill>
            <a:prstDash val="solid"/>
          </a:ln>
        </p:spPr>
      </p:sp>
      <p:sp>
        <p:nvSpPr>
          <p:cNvPr id="18" name="Text 15"/>
          <p:cNvSpPr txBox="1"/>
          <p:nvPr/>
        </p:nvSpPr>
        <p:spPr>
          <a:xfrm>
            <a:off x="4563770" y="1901952"/>
            <a:ext cx="3064154" cy="585216"/>
          </a:xfrm>
          <a:prstGeom prst="rect">
            <a:avLst/>
          </a:prstGeom>
          <a:noFill/>
          <a:ln/>
        </p:spPr>
        <p:txBody>
          <a:bodyPr wrap="square" lIns="0" tIns="0" rIns="0" bIns="0" rtlCol="0" anchor="t"/>
          <a:lstStyle/>
          <a:p>
            <a:pPr algn="l" indent="0" marL="0">
              <a:lnSpc>
                <a:spcPct val="104000"/>
              </a:lnSpc>
              <a:buNone/>
            </a:pPr>
            <a:r>
              <a:rPr lang="en-US" sz="1300" b="1" dirty="0">
                <a:solidFill>
                  <a:srgbClr val="243B53"/>
                </a:solidFill>
                <a:latin typeface="Aptos" pitchFamily="34" charset="0"/>
                <a:ea typeface="Aptos" pitchFamily="34" charset="-122"/>
                <a:cs typeface="Aptos" pitchFamily="34" charset="-120"/>
              </a:rPr>
              <a:t>El comprobante devuelve el RUT y el correo completos</a:t>
            </a:r>
            <a:endParaRPr lang="en-US" sz="1300" dirty="0"/>
          </a:p>
        </p:txBody>
      </p:sp>
      <p:sp>
        <p:nvSpPr>
          <p:cNvPr id="19" name="Text 16"/>
          <p:cNvSpPr txBox="1"/>
          <p:nvPr/>
        </p:nvSpPr>
        <p:spPr>
          <a:xfrm>
            <a:off x="4563770" y="2542032"/>
            <a:ext cx="3064154" cy="731520"/>
          </a:xfrm>
          <a:prstGeom prst="rect">
            <a:avLst/>
          </a:prstGeom>
          <a:noFill/>
          <a:ln/>
        </p:spPr>
        <p:txBody>
          <a:bodyPr wrap="square" lIns="0" tIns="0" rIns="0" bIns="0" rtlCol="0" anchor="t"/>
          <a:lstStyle/>
          <a:p>
            <a:pPr algn="l" indent="0" marL="0">
              <a:lnSpc>
                <a:spcPct val="105000"/>
              </a:lnSpc>
              <a:buNone/>
            </a:pPr>
            <a:r>
              <a:rPr lang="en-US" sz="1020" dirty="0">
                <a:solidFill>
                  <a:srgbClr val="52606D"/>
                </a:solidFill>
                <a:latin typeface="Aptos" pitchFamily="34" charset="0"/>
                <a:ea typeface="Aptos" pitchFamily="34" charset="-122"/>
                <a:cs typeface="Aptos" pitchFamily="34" charset="-120"/>
              </a:rPr>
              <a:t>El comprobante es el texto de confirmación que la API devuelve al aceptar una reserva.</a:t>
            </a:r>
            <a:endParaRPr lang="en-US" sz="1020" dirty="0"/>
          </a:p>
        </p:txBody>
      </p:sp>
      <p:sp>
        <p:nvSpPr>
          <p:cNvPr id="20" name="Shape 17"/>
          <p:cNvSpPr/>
          <p:nvPr/>
        </p:nvSpPr>
        <p:spPr>
          <a:xfrm>
            <a:off x="4563770" y="3383280"/>
            <a:ext cx="3064154" cy="658368"/>
          </a:xfrm>
          <a:prstGeom prst="rect">
            <a:avLst/>
          </a:prstGeom>
          <a:solidFill>
            <a:srgbClr val="1D3A57"/>
          </a:solidFill>
          <a:ln w="12700">
            <a:solidFill>
              <a:srgbClr val="1D3A57"/>
            </a:solidFill>
            <a:prstDash val="solid"/>
          </a:ln>
        </p:spPr>
      </p:sp>
      <p:sp>
        <p:nvSpPr>
          <p:cNvPr id="21" name="Text 18"/>
          <p:cNvSpPr txBox="1"/>
          <p:nvPr/>
        </p:nvSpPr>
        <p:spPr>
          <a:xfrm>
            <a:off x="4673498" y="3419856"/>
            <a:ext cx="2844698" cy="585216"/>
          </a:xfrm>
          <a:prstGeom prst="rect">
            <a:avLst/>
          </a:prstGeom>
          <a:noFill/>
          <a:ln/>
        </p:spPr>
        <p:txBody>
          <a:bodyPr wrap="square" lIns="0" tIns="0" rIns="0" bIns="0" rtlCol="0" anchor="ctr"/>
          <a:lstStyle/>
          <a:p>
            <a:pPr algn="l" indent="0" marL="0">
              <a:lnSpc>
                <a:spcPct val="104000"/>
              </a:lnSpc>
              <a:buNone/>
            </a:pPr>
            <a:r>
              <a:rPr lang="en-US" sz="1120" b="1" dirty="0">
                <a:solidFill>
                  <a:srgbClr val="FFFFFF"/>
                </a:solidFill>
                <a:latin typeface="Aptos" pitchFamily="34" charset="0"/>
                <a:ea typeface="Aptos" pitchFamily="34" charset="-122"/>
                <a:cs typeface="Aptos" pitchFamily="34" charset="-120"/>
              </a:rPr>
              <a:t>¿Qué datos necesita ver la persona?</a:t>
            </a:r>
            <a:endParaRPr lang="en-US" sz="1120" dirty="0"/>
          </a:p>
        </p:txBody>
      </p:sp>
      <p:sp>
        <p:nvSpPr>
          <p:cNvPr id="22" name="Shape 19"/>
          <p:cNvSpPr/>
          <p:nvPr/>
        </p:nvSpPr>
        <p:spPr>
          <a:xfrm>
            <a:off x="8030261" y="1737360"/>
            <a:ext cx="3503066" cy="2468880"/>
          </a:xfrm>
          <a:prstGeom prst="rect">
            <a:avLst/>
          </a:prstGeom>
          <a:solidFill>
            <a:srgbClr val="FFFFFF"/>
          </a:solidFill>
          <a:ln w="12700">
            <a:solidFill>
              <a:srgbClr val="FFFFFF"/>
            </a:solidFill>
            <a:prstDash val="solid"/>
          </a:ln>
        </p:spPr>
      </p:sp>
      <p:sp>
        <p:nvSpPr>
          <p:cNvPr id="23" name="Shape 20"/>
          <p:cNvSpPr/>
          <p:nvPr/>
        </p:nvSpPr>
        <p:spPr>
          <a:xfrm>
            <a:off x="8030261" y="1737360"/>
            <a:ext cx="3503066" cy="54864"/>
          </a:xfrm>
          <a:prstGeom prst="rect">
            <a:avLst/>
          </a:prstGeom>
          <a:solidFill>
            <a:srgbClr val="102A43"/>
          </a:solidFill>
          <a:ln w="12700">
            <a:solidFill>
              <a:srgbClr val="102A43"/>
            </a:solidFill>
            <a:prstDash val="solid"/>
          </a:ln>
        </p:spPr>
      </p:sp>
      <p:sp>
        <p:nvSpPr>
          <p:cNvPr id="24" name="Text 21"/>
          <p:cNvSpPr txBox="1"/>
          <p:nvPr/>
        </p:nvSpPr>
        <p:spPr>
          <a:xfrm>
            <a:off x="8249717" y="1901952"/>
            <a:ext cx="3064154" cy="585216"/>
          </a:xfrm>
          <a:prstGeom prst="rect">
            <a:avLst/>
          </a:prstGeom>
          <a:noFill/>
          <a:ln/>
        </p:spPr>
        <p:txBody>
          <a:bodyPr wrap="square" lIns="0" tIns="0" rIns="0" bIns="0" rtlCol="0" anchor="t"/>
          <a:lstStyle/>
          <a:p>
            <a:pPr algn="l" indent="0" marL="0">
              <a:lnSpc>
                <a:spcPct val="104000"/>
              </a:lnSpc>
              <a:buNone/>
            </a:pPr>
            <a:r>
              <a:rPr lang="en-US" sz="1300" b="1" dirty="0">
                <a:solidFill>
                  <a:srgbClr val="243B53"/>
                </a:solidFill>
                <a:latin typeface="Aptos" pitchFamily="34" charset="0"/>
                <a:ea typeface="Aptos" pitchFamily="34" charset="-122"/>
                <a:cs typeface="Aptos" pitchFamily="34" charset="-120"/>
              </a:rPr>
              <a:t>Límite de 10 reservas por minuto por dirección</a:t>
            </a:r>
            <a:endParaRPr lang="en-US" sz="1300" dirty="0"/>
          </a:p>
        </p:txBody>
      </p:sp>
      <p:sp>
        <p:nvSpPr>
          <p:cNvPr id="25" name="Text 22"/>
          <p:cNvSpPr txBox="1"/>
          <p:nvPr/>
        </p:nvSpPr>
        <p:spPr>
          <a:xfrm>
            <a:off x="8249717" y="2542032"/>
            <a:ext cx="3064154" cy="731520"/>
          </a:xfrm>
          <a:prstGeom prst="rect">
            <a:avLst/>
          </a:prstGeom>
          <a:noFill/>
          <a:ln/>
        </p:spPr>
        <p:txBody>
          <a:bodyPr wrap="square" lIns="0" tIns="0" rIns="0" bIns="0" rtlCol="0" anchor="t"/>
          <a:lstStyle/>
          <a:p>
            <a:pPr algn="l" indent="0" marL="0">
              <a:lnSpc>
                <a:spcPct val="105000"/>
              </a:lnSpc>
              <a:buNone/>
            </a:pPr>
            <a:r>
              <a:rPr lang="en-US" sz="1020" dirty="0">
                <a:solidFill>
                  <a:srgbClr val="52606D"/>
                </a:solidFill>
                <a:latin typeface="Aptos" pitchFamily="34" charset="0"/>
                <a:ea typeface="Aptos" pitchFamily="34" charset="-122"/>
                <a:cs typeface="Aptos" pitchFamily="34" charset="-120"/>
              </a:rPr>
              <a:t>Una propuesta del agente contra el abuso.</a:t>
            </a:r>
            <a:endParaRPr lang="en-US" sz="1020" dirty="0"/>
          </a:p>
        </p:txBody>
      </p:sp>
      <p:sp>
        <p:nvSpPr>
          <p:cNvPr id="26" name="Shape 23"/>
          <p:cNvSpPr/>
          <p:nvPr/>
        </p:nvSpPr>
        <p:spPr>
          <a:xfrm>
            <a:off x="8249717" y="3383280"/>
            <a:ext cx="3064154" cy="658368"/>
          </a:xfrm>
          <a:prstGeom prst="rect">
            <a:avLst/>
          </a:prstGeom>
          <a:solidFill>
            <a:srgbClr val="1D3A57"/>
          </a:solidFill>
          <a:ln w="12700">
            <a:solidFill>
              <a:srgbClr val="1D3A57"/>
            </a:solidFill>
            <a:prstDash val="solid"/>
          </a:ln>
        </p:spPr>
      </p:sp>
      <p:sp>
        <p:nvSpPr>
          <p:cNvPr id="27" name="Text 24"/>
          <p:cNvSpPr txBox="1"/>
          <p:nvPr/>
        </p:nvSpPr>
        <p:spPr>
          <a:xfrm>
            <a:off x="8359445" y="3419856"/>
            <a:ext cx="2844698" cy="585216"/>
          </a:xfrm>
          <a:prstGeom prst="rect">
            <a:avLst/>
          </a:prstGeom>
          <a:noFill/>
          <a:ln/>
        </p:spPr>
        <p:txBody>
          <a:bodyPr wrap="square" lIns="0" tIns="0" rIns="0" bIns="0" rtlCol="0" anchor="ctr"/>
          <a:lstStyle/>
          <a:p>
            <a:pPr algn="l" indent="0" marL="0">
              <a:lnSpc>
                <a:spcPct val="104000"/>
              </a:lnSpc>
              <a:buNone/>
            </a:pPr>
            <a:r>
              <a:rPr lang="en-US" sz="1120" b="1" dirty="0">
                <a:solidFill>
                  <a:srgbClr val="FFFFFF"/>
                </a:solidFill>
                <a:latin typeface="Aptos" pitchFamily="34" charset="0"/>
                <a:ea typeface="Aptos" pitchFamily="34" charset="-122"/>
                <a:cs typeface="Aptos" pitchFamily="34" charset="-120"/>
              </a:rPr>
              <a:t>¿Cuántos intentos por minuto son un uso normal?</a:t>
            </a:r>
            <a:endParaRPr lang="en-US" sz="1120" dirty="0"/>
          </a:p>
        </p:txBody>
      </p:sp>
      <p:sp>
        <p:nvSpPr>
          <p:cNvPr id="28" name="Shape 25"/>
          <p:cNvSpPr/>
          <p:nvPr/>
        </p:nvSpPr>
        <p:spPr>
          <a:xfrm>
            <a:off x="658368" y="4425696"/>
            <a:ext cx="10874959" cy="987552"/>
          </a:xfrm>
          <a:prstGeom prst="rect">
            <a:avLst/>
          </a:prstGeom>
          <a:solidFill>
            <a:srgbClr val="F2E7D9"/>
          </a:solidFill>
          <a:ln w="12700">
            <a:solidFill>
              <a:srgbClr val="F2E7D9"/>
            </a:solidFill>
            <a:prstDash val="solid"/>
          </a:ln>
        </p:spPr>
      </p:sp>
      <p:sp>
        <p:nvSpPr>
          <p:cNvPr id="29" name="Shape 26"/>
          <p:cNvSpPr/>
          <p:nvPr/>
        </p:nvSpPr>
        <p:spPr>
          <a:xfrm>
            <a:off x="658368" y="4425696"/>
            <a:ext cx="54864" cy="987552"/>
          </a:xfrm>
          <a:prstGeom prst="rect">
            <a:avLst/>
          </a:prstGeom>
          <a:solidFill>
            <a:srgbClr val="B3181E"/>
          </a:solidFill>
          <a:ln w="12700">
            <a:solidFill>
              <a:srgbClr val="B3181E"/>
            </a:solidFill>
            <a:prstDash val="solid"/>
          </a:ln>
        </p:spPr>
      </p:sp>
      <p:sp>
        <p:nvSpPr>
          <p:cNvPr id="30" name="Text 27"/>
          <p:cNvSpPr txBox="1"/>
          <p:nvPr/>
        </p:nvSpPr>
        <p:spPr>
          <a:xfrm>
            <a:off x="932688" y="4553712"/>
            <a:ext cx="73152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LEY 21.719 · PRINCIPIO DE PROPORCIONALIDAD</a:t>
            </a:r>
            <a:endParaRPr lang="en-US" sz="960" dirty="0"/>
          </a:p>
        </p:txBody>
      </p:sp>
      <p:sp>
        <p:nvSpPr>
          <p:cNvPr id="31" name="Text 28"/>
          <p:cNvSpPr txBox="1"/>
          <p:nvPr/>
        </p:nvSpPr>
        <p:spPr>
          <a:xfrm>
            <a:off x="932688" y="4809744"/>
            <a:ext cx="10326319" cy="566928"/>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Pide tratar solo los datos necesarios para el fin. Si la persona no necesita ver su RUT y su correo completos en el comprobante, devolverlos no es proporcional; pero eso lo decide quien sabe para qué sirve el comprobante.</a:t>
            </a:r>
            <a:endParaRPr lang="en-US" sz="108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Si no puedes decidir el umbral sin preguntarle a nadie, el hallazgo es real pero su umbral no es tuyo.</a:t>
            </a:r>
            <a:endParaRPr lang="en-US" sz="126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CORRECCIÓN QUE DEJÓ UN DEFECTO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El doble clic, resuelto; la red, no</a:t>
            </a:r>
            <a:endParaRPr lang="en-US" sz="2800" dirty="0"/>
          </a:p>
        </p:txBody>
      </p:sp>
      <p:sp>
        <p:nvSpPr>
          <p:cNvPr id="10" name="Shape 7"/>
          <p:cNvSpPr/>
          <p:nvPr/>
        </p:nvSpPr>
        <p:spPr>
          <a:xfrm>
            <a:off x="658368" y="1773936"/>
            <a:ext cx="2513000" cy="1737360"/>
          </a:xfrm>
          <a:prstGeom prst="rect">
            <a:avLst/>
          </a:prstGeom>
          <a:solidFill>
            <a:srgbClr val="FFFFFF"/>
          </a:solidFill>
          <a:ln w="12700">
            <a:solidFill>
              <a:srgbClr val="FFFFFF"/>
            </a:solidFill>
            <a:prstDash val="solid"/>
          </a:ln>
        </p:spPr>
      </p:sp>
      <p:sp>
        <p:nvSpPr>
          <p:cNvPr id="11" name="Shape 8"/>
          <p:cNvSpPr/>
          <p:nvPr/>
        </p:nvSpPr>
        <p:spPr>
          <a:xfrm>
            <a:off x="658368" y="1773936"/>
            <a:ext cx="2513000" cy="54864"/>
          </a:xfrm>
          <a:prstGeom prst="rect">
            <a:avLst/>
          </a:prstGeom>
          <a:solidFill>
            <a:srgbClr val="102A43"/>
          </a:solidFill>
          <a:ln w="12700">
            <a:solidFill>
              <a:srgbClr val="102A43"/>
            </a:solidFill>
            <a:prstDash val="solid"/>
          </a:ln>
        </p:spPr>
      </p:sp>
      <p:sp>
        <p:nvSpPr>
          <p:cNvPr id="12" name="Shape 9"/>
          <p:cNvSpPr/>
          <p:nvPr/>
        </p:nvSpPr>
        <p:spPr>
          <a:xfrm>
            <a:off x="813816" y="1965960"/>
            <a:ext cx="347472" cy="347472"/>
          </a:xfrm>
          <a:prstGeom prst="ellipse">
            <a:avLst/>
          </a:prstGeom>
          <a:solidFill>
            <a:srgbClr val="102A43"/>
          </a:solidFill>
          <a:ln w="12700">
            <a:solidFill>
              <a:srgbClr val="102A43"/>
            </a:solidFill>
            <a:prstDash val="solid"/>
          </a:ln>
        </p:spPr>
      </p:sp>
      <p:sp>
        <p:nvSpPr>
          <p:cNvPr id="13" name="Text 10"/>
          <p:cNvSpPr/>
          <p:nvPr/>
        </p:nvSpPr>
        <p:spPr>
          <a:xfrm>
            <a:off x="822960"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4" name="Text 11"/>
          <p:cNvSpPr txBox="1"/>
          <p:nvPr/>
        </p:nvSpPr>
        <p:spPr>
          <a:xfrm>
            <a:off x="1243584" y="1993392"/>
            <a:ext cx="1781480" cy="310896"/>
          </a:xfrm>
          <a:prstGeom prst="rect">
            <a:avLst/>
          </a:prstGeom>
          <a:noFill/>
          <a:ln/>
        </p:spPr>
        <p:txBody>
          <a:bodyPr wrap="square" lIns="0" tIns="0" rIns="0" bIns="0" rtlCol="0" anchor="ctr"/>
          <a:lstStyle/>
          <a:p>
            <a:pPr algn="l" indent="0" marL="0">
              <a:buNone/>
            </a:pPr>
            <a:r>
              <a:rPr lang="en-US" sz="1220" b="1" dirty="0">
                <a:solidFill>
                  <a:srgbClr val="243B53"/>
                </a:solidFill>
                <a:latin typeface="Aptos" pitchFamily="34" charset="0"/>
                <a:ea typeface="Aptos" pitchFamily="34" charset="-122"/>
                <a:cs typeface="Aptos" pitchFamily="34" charset="-120"/>
              </a:rPr>
              <a:t>Esta mañana</a:t>
            </a:r>
            <a:endParaRPr lang="en-US" sz="1220" dirty="0"/>
          </a:p>
        </p:txBody>
      </p:sp>
      <p:sp>
        <p:nvSpPr>
          <p:cNvPr id="15" name="Text 12"/>
          <p:cNvSpPr txBox="1"/>
          <p:nvPr/>
        </p:nvSpPr>
        <p:spPr>
          <a:xfrm>
            <a:off x="859536" y="2432304"/>
            <a:ext cx="2110664" cy="1005840"/>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La corrección del doble clic deshabilita el botón al enviar el formulario.</a:t>
            </a:r>
            <a:endParaRPr lang="en-US" sz="1060" dirty="0"/>
          </a:p>
        </p:txBody>
      </p:sp>
      <p:sp>
        <p:nvSpPr>
          <p:cNvPr id="16" name="Shape 13"/>
          <p:cNvSpPr/>
          <p:nvPr/>
        </p:nvSpPr>
        <p:spPr>
          <a:xfrm>
            <a:off x="3207944" y="2651760"/>
            <a:ext cx="201168" cy="0"/>
          </a:xfrm>
          <a:prstGeom prst="line">
            <a:avLst/>
          </a:prstGeom>
          <a:noFill/>
          <a:ln w="12700">
            <a:solidFill>
              <a:srgbClr val="52606D"/>
            </a:solidFill>
            <a:prstDash val="solid"/>
            <a:headEnd type="none"/>
            <a:tailEnd type="triangle"/>
          </a:ln>
        </p:spPr>
      </p:sp>
      <p:sp>
        <p:nvSpPr>
          <p:cNvPr id="17" name="Shape 14"/>
          <p:cNvSpPr/>
          <p:nvPr/>
        </p:nvSpPr>
        <p:spPr>
          <a:xfrm>
            <a:off x="3445688" y="1773936"/>
            <a:ext cx="2513000" cy="1737360"/>
          </a:xfrm>
          <a:prstGeom prst="rect">
            <a:avLst/>
          </a:prstGeom>
          <a:solidFill>
            <a:srgbClr val="FFFFFF"/>
          </a:solidFill>
          <a:ln w="12700">
            <a:solidFill>
              <a:srgbClr val="FFFFFF"/>
            </a:solidFill>
            <a:prstDash val="solid"/>
          </a:ln>
        </p:spPr>
      </p:sp>
      <p:sp>
        <p:nvSpPr>
          <p:cNvPr id="18" name="Shape 15"/>
          <p:cNvSpPr/>
          <p:nvPr/>
        </p:nvSpPr>
        <p:spPr>
          <a:xfrm>
            <a:off x="3445688" y="1773936"/>
            <a:ext cx="2513000" cy="54864"/>
          </a:xfrm>
          <a:prstGeom prst="rect">
            <a:avLst/>
          </a:prstGeom>
          <a:solidFill>
            <a:srgbClr val="2E7D4F"/>
          </a:solidFill>
          <a:ln w="12700">
            <a:solidFill>
              <a:srgbClr val="2E7D4F"/>
            </a:solidFill>
            <a:prstDash val="solid"/>
          </a:ln>
        </p:spPr>
      </p:sp>
      <p:sp>
        <p:nvSpPr>
          <p:cNvPr id="19" name="Shape 16"/>
          <p:cNvSpPr/>
          <p:nvPr/>
        </p:nvSpPr>
        <p:spPr>
          <a:xfrm>
            <a:off x="3601136" y="1965960"/>
            <a:ext cx="347472" cy="347472"/>
          </a:xfrm>
          <a:prstGeom prst="ellipse">
            <a:avLst/>
          </a:prstGeom>
          <a:solidFill>
            <a:srgbClr val="2E7D4F"/>
          </a:solidFill>
          <a:ln w="12700">
            <a:solidFill>
              <a:srgbClr val="2E7D4F"/>
            </a:solidFill>
            <a:prstDash val="solid"/>
          </a:ln>
        </p:spPr>
      </p:sp>
      <p:sp>
        <p:nvSpPr>
          <p:cNvPr id="20" name="Text 17"/>
          <p:cNvSpPr/>
          <p:nvPr/>
        </p:nvSpPr>
        <p:spPr>
          <a:xfrm>
            <a:off x="3610280"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21" name="Text 18"/>
          <p:cNvSpPr txBox="1"/>
          <p:nvPr/>
        </p:nvSpPr>
        <p:spPr>
          <a:xfrm>
            <a:off x="4030904" y="1993392"/>
            <a:ext cx="1781480" cy="310896"/>
          </a:xfrm>
          <a:prstGeom prst="rect">
            <a:avLst/>
          </a:prstGeom>
          <a:noFill/>
          <a:ln/>
        </p:spPr>
        <p:txBody>
          <a:bodyPr wrap="square" lIns="0" tIns="0" rIns="0" bIns="0" rtlCol="0" anchor="ctr"/>
          <a:lstStyle/>
          <a:p>
            <a:pPr algn="l" indent="0" marL="0">
              <a:buNone/>
            </a:pPr>
            <a:r>
              <a:rPr lang="en-US" sz="1220" b="1" dirty="0">
                <a:solidFill>
                  <a:srgbClr val="243B53"/>
                </a:solidFill>
                <a:latin typeface="Aptos" pitchFamily="34" charset="0"/>
                <a:ea typeface="Aptos" pitchFamily="34" charset="-122"/>
                <a:cs typeface="Aptos" pitchFamily="34" charset="-120"/>
              </a:rPr>
              <a:t>Al terminar</a:t>
            </a:r>
            <a:endParaRPr lang="en-US" sz="1220" dirty="0"/>
          </a:p>
        </p:txBody>
      </p:sp>
      <p:sp>
        <p:nvSpPr>
          <p:cNvPr id="22" name="Text 19"/>
          <p:cNvSpPr txBox="1"/>
          <p:nvPr/>
        </p:nvSpPr>
        <p:spPr>
          <a:xfrm>
            <a:off x="3646856" y="2432304"/>
            <a:ext cx="2110664" cy="1005840"/>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El manejador —la función que se ejecuta al enviar— vuelve a habilitar el botón en su última línea.</a:t>
            </a:r>
            <a:endParaRPr lang="en-US" sz="1060" dirty="0"/>
          </a:p>
        </p:txBody>
      </p:sp>
      <p:sp>
        <p:nvSpPr>
          <p:cNvPr id="23" name="Shape 20"/>
          <p:cNvSpPr/>
          <p:nvPr/>
        </p:nvSpPr>
        <p:spPr>
          <a:xfrm>
            <a:off x="5995264" y="2651760"/>
            <a:ext cx="201168" cy="0"/>
          </a:xfrm>
          <a:prstGeom prst="line">
            <a:avLst/>
          </a:prstGeom>
          <a:noFill/>
          <a:ln w="12700">
            <a:solidFill>
              <a:srgbClr val="52606D"/>
            </a:solidFill>
            <a:prstDash val="solid"/>
            <a:headEnd type="none"/>
            <a:tailEnd type="triangle"/>
          </a:ln>
        </p:spPr>
      </p:sp>
      <p:sp>
        <p:nvSpPr>
          <p:cNvPr id="24" name="Shape 21"/>
          <p:cNvSpPr/>
          <p:nvPr/>
        </p:nvSpPr>
        <p:spPr>
          <a:xfrm>
            <a:off x="6233008" y="1773936"/>
            <a:ext cx="2513000" cy="1737360"/>
          </a:xfrm>
          <a:prstGeom prst="rect">
            <a:avLst/>
          </a:prstGeom>
          <a:solidFill>
            <a:srgbClr val="FFFFFF"/>
          </a:solidFill>
          <a:ln w="12700">
            <a:solidFill>
              <a:srgbClr val="FFFFFF"/>
            </a:solidFill>
            <a:prstDash val="solid"/>
          </a:ln>
        </p:spPr>
      </p:sp>
      <p:sp>
        <p:nvSpPr>
          <p:cNvPr id="25" name="Shape 22"/>
          <p:cNvSpPr/>
          <p:nvPr/>
        </p:nvSpPr>
        <p:spPr>
          <a:xfrm>
            <a:off x="6233008" y="1773936"/>
            <a:ext cx="2513000" cy="54864"/>
          </a:xfrm>
          <a:prstGeom prst="rect">
            <a:avLst/>
          </a:prstGeom>
          <a:solidFill>
            <a:srgbClr val="B3181E"/>
          </a:solidFill>
          <a:ln w="12700">
            <a:solidFill>
              <a:srgbClr val="B3181E"/>
            </a:solidFill>
            <a:prstDash val="solid"/>
          </a:ln>
        </p:spPr>
      </p:sp>
      <p:sp>
        <p:nvSpPr>
          <p:cNvPr id="26" name="Shape 23"/>
          <p:cNvSpPr/>
          <p:nvPr/>
        </p:nvSpPr>
        <p:spPr>
          <a:xfrm>
            <a:off x="6388456" y="1965960"/>
            <a:ext cx="347472" cy="347472"/>
          </a:xfrm>
          <a:prstGeom prst="ellipse">
            <a:avLst/>
          </a:prstGeom>
          <a:solidFill>
            <a:srgbClr val="B3181E"/>
          </a:solidFill>
          <a:ln w="12700">
            <a:solidFill>
              <a:srgbClr val="B3181E"/>
            </a:solidFill>
            <a:prstDash val="solid"/>
          </a:ln>
        </p:spPr>
      </p:sp>
      <p:sp>
        <p:nvSpPr>
          <p:cNvPr id="27" name="Text 24"/>
          <p:cNvSpPr/>
          <p:nvPr/>
        </p:nvSpPr>
        <p:spPr>
          <a:xfrm>
            <a:off x="6397600"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8" name="Text 25"/>
          <p:cNvSpPr txBox="1"/>
          <p:nvPr/>
        </p:nvSpPr>
        <p:spPr>
          <a:xfrm>
            <a:off x="6818224" y="1993392"/>
            <a:ext cx="1781480" cy="310896"/>
          </a:xfrm>
          <a:prstGeom prst="rect">
            <a:avLst/>
          </a:prstGeom>
          <a:noFill/>
          <a:ln/>
        </p:spPr>
        <p:txBody>
          <a:bodyPr wrap="square" lIns="0" tIns="0" rIns="0" bIns="0" rtlCol="0" anchor="ctr"/>
          <a:lstStyle/>
          <a:p>
            <a:pPr algn="l" indent="0" marL="0">
              <a:buNone/>
            </a:pPr>
            <a:r>
              <a:rPr lang="en-US" sz="1220" b="1" dirty="0">
                <a:solidFill>
                  <a:srgbClr val="243B53"/>
                </a:solidFill>
                <a:latin typeface="Aptos" pitchFamily="34" charset="0"/>
                <a:ea typeface="Aptos" pitchFamily="34" charset="-122"/>
                <a:cs typeface="Aptos" pitchFamily="34" charset="-120"/>
              </a:rPr>
              <a:t>Si la red falla</a:t>
            </a:r>
            <a:endParaRPr lang="en-US" sz="1220" dirty="0"/>
          </a:p>
        </p:txBody>
      </p:sp>
      <p:sp>
        <p:nvSpPr>
          <p:cNvPr id="29" name="Text 26"/>
          <p:cNvSpPr txBox="1"/>
          <p:nvPr/>
        </p:nvSpPr>
        <p:spPr>
          <a:xfrm>
            <a:off x="6434176" y="2432304"/>
            <a:ext cx="2110664" cy="1005840"/>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fetch, la función que envía la solicitud, lanza un error, y el manejador se interrumpe antes de su última línea.</a:t>
            </a:r>
            <a:endParaRPr lang="en-US" sz="1060" dirty="0"/>
          </a:p>
        </p:txBody>
      </p:sp>
      <p:sp>
        <p:nvSpPr>
          <p:cNvPr id="30" name="Shape 27"/>
          <p:cNvSpPr/>
          <p:nvPr/>
        </p:nvSpPr>
        <p:spPr>
          <a:xfrm>
            <a:off x="8782583" y="2651760"/>
            <a:ext cx="201168" cy="0"/>
          </a:xfrm>
          <a:prstGeom prst="line">
            <a:avLst/>
          </a:prstGeom>
          <a:noFill/>
          <a:ln w="12700">
            <a:solidFill>
              <a:srgbClr val="52606D"/>
            </a:solidFill>
            <a:prstDash val="solid"/>
            <a:headEnd type="none"/>
            <a:tailEnd type="triangle"/>
          </a:ln>
        </p:spPr>
      </p:sp>
      <p:sp>
        <p:nvSpPr>
          <p:cNvPr id="31" name="Shape 28"/>
          <p:cNvSpPr/>
          <p:nvPr/>
        </p:nvSpPr>
        <p:spPr>
          <a:xfrm>
            <a:off x="9020327" y="1773936"/>
            <a:ext cx="2513000" cy="1737360"/>
          </a:xfrm>
          <a:prstGeom prst="rect">
            <a:avLst/>
          </a:prstGeom>
          <a:solidFill>
            <a:srgbClr val="F2E7D9"/>
          </a:solidFill>
          <a:ln w="12700">
            <a:solidFill>
              <a:srgbClr val="F2E7D9"/>
            </a:solidFill>
            <a:prstDash val="solid"/>
          </a:ln>
        </p:spPr>
      </p:sp>
      <p:sp>
        <p:nvSpPr>
          <p:cNvPr id="32" name="Shape 29"/>
          <p:cNvSpPr/>
          <p:nvPr/>
        </p:nvSpPr>
        <p:spPr>
          <a:xfrm>
            <a:off x="9020327" y="1773936"/>
            <a:ext cx="2513000" cy="54864"/>
          </a:xfrm>
          <a:prstGeom prst="rect">
            <a:avLst/>
          </a:prstGeom>
          <a:solidFill>
            <a:srgbClr val="B3181E"/>
          </a:solidFill>
          <a:ln w="12700">
            <a:solidFill>
              <a:srgbClr val="B3181E"/>
            </a:solidFill>
            <a:prstDash val="solid"/>
          </a:ln>
        </p:spPr>
      </p:sp>
      <p:sp>
        <p:nvSpPr>
          <p:cNvPr id="33" name="Shape 30"/>
          <p:cNvSpPr/>
          <p:nvPr/>
        </p:nvSpPr>
        <p:spPr>
          <a:xfrm>
            <a:off x="9175775" y="1965960"/>
            <a:ext cx="347472" cy="347472"/>
          </a:xfrm>
          <a:prstGeom prst="ellipse">
            <a:avLst/>
          </a:prstGeom>
          <a:solidFill>
            <a:srgbClr val="B3181E"/>
          </a:solidFill>
          <a:ln w="12700">
            <a:solidFill>
              <a:srgbClr val="B3181E"/>
            </a:solidFill>
            <a:prstDash val="solid"/>
          </a:ln>
        </p:spPr>
      </p:sp>
      <p:sp>
        <p:nvSpPr>
          <p:cNvPr id="34" name="Text 31"/>
          <p:cNvSpPr/>
          <p:nvPr/>
        </p:nvSpPr>
        <p:spPr>
          <a:xfrm>
            <a:off x="9184919"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5" name="Text 32"/>
          <p:cNvSpPr txBox="1"/>
          <p:nvPr/>
        </p:nvSpPr>
        <p:spPr>
          <a:xfrm>
            <a:off x="9605543" y="1993392"/>
            <a:ext cx="1781480" cy="310896"/>
          </a:xfrm>
          <a:prstGeom prst="rect">
            <a:avLst/>
          </a:prstGeom>
          <a:noFill/>
          <a:ln/>
        </p:spPr>
        <p:txBody>
          <a:bodyPr wrap="square" lIns="0" tIns="0" rIns="0" bIns="0" rtlCol="0" anchor="ctr"/>
          <a:lstStyle/>
          <a:p>
            <a:pPr algn="l" indent="0" marL="0">
              <a:buNone/>
            </a:pPr>
            <a:r>
              <a:rPr lang="en-US" sz="1220" b="1" dirty="0">
                <a:solidFill>
                  <a:srgbClr val="243B53"/>
                </a:solidFill>
                <a:latin typeface="Aptos" pitchFamily="34" charset="0"/>
                <a:ea typeface="Aptos" pitchFamily="34" charset="-122"/>
                <a:cs typeface="Aptos" pitchFamily="34" charset="-120"/>
              </a:rPr>
              <a:t>Resultado</a:t>
            </a:r>
            <a:endParaRPr lang="en-US" sz="1220" dirty="0"/>
          </a:p>
        </p:txBody>
      </p:sp>
      <p:sp>
        <p:nvSpPr>
          <p:cNvPr id="36" name="Text 33"/>
          <p:cNvSpPr txBox="1"/>
          <p:nvPr/>
        </p:nvSpPr>
        <p:spPr>
          <a:xfrm>
            <a:off x="9221495" y="2432304"/>
            <a:ext cx="2110664" cy="1005840"/>
          </a:xfrm>
          <a:prstGeom prst="rect">
            <a:avLst/>
          </a:prstGeom>
          <a:noFill/>
          <a:ln/>
        </p:spPr>
        <p:txBody>
          <a:bodyPr wrap="square" lIns="0" tIns="0" rIns="0" bIns="0" rtlCol="0" anchor="t"/>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El botón queda deshabilitado para siempre: no se puede reintentar sin recargar la página.</a:t>
            </a:r>
            <a:endParaRPr lang="en-US" sz="1060" dirty="0"/>
          </a:p>
        </p:txBody>
      </p:sp>
      <p:sp>
        <p:nvSpPr>
          <p:cNvPr id="37" name="Shape 34"/>
          <p:cNvSpPr/>
          <p:nvPr/>
        </p:nvSpPr>
        <p:spPr>
          <a:xfrm>
            <a:off x="658368" y="3749040"/>
            <a:ext cx="10874959" cy="822960"/>
          </a:xfrm>
          <a:prstGeom prst="rect">
            <a:avLst/>
          </a:prstGeom>
          <a:solidFill>
            <a:srgbClr val="FFFFFF"/>
          </a:solidFill>
          <a:ln w="12700">
            <a:solidFill>
              <a:srgbClr val="FFFFFF"/>
            </a:solidFill>
            <a:prstDash val="solid"/>
          </a:ln>
        </p:spPr>
      </p:sp>
      <p:sp>
        <p:nvSpPr>
          <p:cNvPr id="38" name="Shape 35"/>
          <p:cNvSpPr/>
          <p:nvPr/>
        </p:nvSpPr>
        <p:spPr>
          <a:xfrm>
            <a:off x="658368" y="3749040"/>
            <a:ext cx="54864" cy="822960"/>
          </a:xfrm>
          <a:prstGeom prst="rect">
            <a:avLst/>
          </a:prstGeom>
          <a:solidFill>
            <a:srgbClr val="8A6A12"/>
          </a:solidFill>
          <a:ln w="12700">
            <a:solidFill>
              <a:srgbClr val="8A6A12"/>
            </a:solidFill>
            <a:prstDash val="solid"/>
          </a:ln>
        </p:spPr>
      </p:sp>
      <p:sp>
        <p:nvSpPr>
          <p:cNvPr id="39" name="Text 36"/>
          <p:cNvSpPr txBox="1"/>
          <p:nvPr/>
        </p:nvSpPr>
        <p:spPr>
          <a:xfrm>
            <a:off x="932688" y="3803904"/>
            <a:ext cx="10326319" cy="713232"/>
          </a:xfrm>
          <a:prstGeom prst="rect">
            <a:avLst/>
          </a:prstGeom>
          <a:noFill/>
          <a:ln/>
        </p:spPr>
        <p:txBody>
          <a:bodyPr wrap="square" lIns="0" tIns="0" rIns="0" bIns="0" rtlCol="0" anchor="ctr"/>
          <a:lstStyle/>
          <a:p>
            <a:pPr algn="l" indent="0" marL="0">
              <a:lnSpc>
                <a:spcPct val="110000"/>
              </a:lnSpc>
              <a:buNone/>
            </a:pPr>
            <a:r>
              <a:rPr lang="en-US" sz="1200" dirty="0">
                <a:solidFill>
                  <a:srgbClr val="243B53"/>
                </a:solidFill>
                <a:latin typeface="Aptos" pitchFamily="34" charset="0"/>
                <a:ea typeface="Aptos" pitchFamily="34" charset="-122"/>
                <a:cs typeface="Aptos" pitchFamily="34" charset="-120"/>
              </a:rPr>
              <a:t>El sistema original no tenía este defecto, porque tampoco deshabilitaba el botón. Las pruebas del doble clic no lo vieron porque ninguna corta la red.</a:t>
            </a:r>
            <a:endParaRPr lang="en-US" sz="1200" dirty="0"/>
          </a:p>
        </p:txBody>
      </p:sp>
      <p:sp>
        <p:nvSpPr>
          <p:cNvPr id="40" name="Shape 37"/>
          <p:cNvSpPr/>
          <p:nvPr/>
        </p:nvSpPr>
        <p:spPr>
          <a:xfrm>
            <a:off x="658368" y="4736592"/>
            <a:ext cx="10874959" cy="713232"/>
          </a:xfrm>
          <a:prstGeom prst="rect">
            <a:avLst/>
          </a:prstGeom>
          <a:solidFill>
            <a:srgbClr val="1D3A57"/>
          </a:solidFill>
          <a:ln w="12700">
            <a:solidFill>
              <a:srgbClr val="1D3A57"/>
            </a:solidFill>
            <a:prstDash val="solid"/>
          </a:ln>
        </p:spPr>
      </p:sp>
      <p:sp>
        <p:nvSpPr>
          <p:cNvPr id="41" name="Text 38"/>
          <p:cNvSpPr txBox="1"/>
          <p:nvPr/>
        </p:nvSpPr>
        <p:spPr>
          <a:xfrm>
            <a:off x="932688" y="4791456"/>
            <a:ext cx="10326319" cy="603504"/>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Regresión: un defecto que una corrección introduce en algo que antes funcionaba.</a:t>
            </a:r>
            <a:endParaRPr lang="en-US" sz="1300" dirty="0"/>
          </a:p>
        </p:txBody>
      </p:sp>
      <p:sp>
        <p:nvSpPr>
          <p:cNvPr id="42" name="Shape 39"/>
          <p:cNvSpPr/>
          <p:nvPr/>
        </p:nvSpPr>
        <p:spPr>
          <a:xfrm>
            <a:off x="658368" y="5650992"/>
            <a:ext cx="10874959" cy="548640"/>
          </a:xfrm>
          <a:prstGeom prst="rect">
            <a:avLst/>
          </a:prstGeom>
          <a:solidFill>
            <a:srgbClr val="102A43"/>
          </a:solidFill>
          <a:ln w="12700">
            <a:solidFill>
              <a:srgbClr val="102A43"/>
            </a:solidFill>
            <a:prstDash val="solid"/>
          </a:ln>
        </p:spPr>
      </p:sp>
      <p:sp>
        <p:nvSpPr>
          <p:cNvPr id="43" name="Text 4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corrección arregló el doble clic y abrió un camino nuevo que nadie probó.</a:t>
            </a:r>
            <a:endParaRPr lang="en-US" sz="13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HALLAZGO, EN PRUEBA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Magnitud, método y umbral</a:t>
            </a:r>
            <a:endParaRPr lang="en-US" sz="3000" dirty="0"/>
          </a:p>
        </p:txBody>
      </p:sp>
      <p:sp>
        <p:nvSpPr>
          <p:cNvPr id="10" name="Shape 7"/>
          <p:cNvSpPr/>
          <p:nvPr/>
        </p:nvSpPr>
        <p:spPr>
          <a:xfrm>
            <a:off x="658368" y="1700784"/>
            <a:ext cx="1554480" cy="365760"/>
          </a:xfrm>
          <a:prstGeom prst="rect">
            <a:avLst/>
          </a:prstGeom>
          <a:solidFill>
            <a:srgbClr val="1D3A57"/>
          </a:solidFill>
          <a:ln w="12700">
            <a:solidFill>
              <a:srgbClr val="1D3A57"/>
            </a:solidFill>
            <a:prstDash val="solid"/>
          </a:ln>
        </p:spPr>
      </p:sp>
      <p:sp>
        <p:nvSpPr>
          <p:cNvPr id="11" name="Text 8"/>
          <p:cNvSpPr txBox="1"/>
          <p:nvPr/>
        </p:nvSpPr>
        <p:spPr>
          <a:xfrm>
            <a:off x="804672" y="1773936"/>
            <a:ext cx="1371600" cy="219456"/>
          </a:xfrm>
          <a:prstGeom prst="rect">
            <a:avLst/>
          </a:prstGeom>
          <a:noFill/>
          <a:ln/>
        </p:spPr>
        <p:txBody>
          <a:bodyPr wrap="square" lIns="0" tIns="0" rIns="0" bIns="0" rtlCol="0" anchor="t"/>
          <a:lstStyle/>
          <a:p>
            <a:pPr algn="l" indent="0" marL="0">
              <a:buNone/>
            </a:pPr>
            <a:r>
              <a:rPr lang="en-US" sz="980" b="1" spc="100" kern="0" dirty="0">
                <a:solidFill>
                  <a:srgbClr val="FFFFFF"/>
                </a:solidFill>
                <a:latin typeface="Aptos" pitchFamily="34" charset="0"/>
                <a:ea typeface="Aptos" pitchFamily="34" charset="-122"/>
                <a:cs typeface="Aptos" pitchFamily="34" charset="-120"/>
              </a:rPr>
              <a:t>MAGNITUD</a:t>
            </a:r>
            <a:endParaRPr lang="en-US" sz="980" dirty="0"/>
          </a:p>
        </p:txBody>
      </p:sp>
      <p:sp>
        <p:nvSpPr>
          <p:cNvPr id="12" name="Shape 9"/>
          <p:cNvSpPr/>
          <p:nvPr/>
        </p:nvSpPr>
        <p:spPr>
          <a:xfrm>
            <a:off x="2249424" y="1700784"/>
            <a:ext cx="9283903" cy="365760"/>
          </a:xfrm>
          <a:prstGeom prst="rect">
            <a:avLst/>
          </a:prstGeom>
          <a:solidFill>
            <a:srgbClr val="FFFFFF"/>
          </a:solidFill>
          <a:ln w="12700">
            <a:solidFill>
              <a:srgbClr val="FFFFFF"/>
            </a:solidFill>
            <a:prstDash val="solid"/>
          </a:ln>
        </p:spPr>
      </p:sp>
      <p:sp>
        <p:nvSpPr>
          <p:cNvPr id="13" name="Text 10"/>
          <p:cNvSpPr txBox="1"/>
          <p:nvPr/>
        </p:nvSpPr>
        <p:spPr>
          <a:xfrm>
            <a:off x="2414016" y="1755648"/>
            <a:ext cx="8954719" cy="256032"/>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El estado del botón «Reservar» después de una solicitud fallida</a:t>
            </a:r>
            <a:endParaRPr lang="en-US" sz="1140" dirty="0"/>
          </a:p>
        </p:txBody>
      </p:sp>
      <p:sp>
        <p:nvSpPr>
          <p:cNvPr id="14" name="Shape 11"/>
          <p:cNvSpPr/>
          <p:nvPr/>
        </p:nvSpPr>
        <p:spPr>
          <a:xfrm>
            <a:off x="658368" y="2121408"/>
            <a:ext cx="1554480" cy="365760"/>
          </a:xfrm>
          <a:prstGeom prst="rect">
            <a:avLst/>
          </a:prstGeom>
          <a:solidFill>
            <a:srgbClr val="1D3A57"/>
          </a:solidFill>
          <a:ln w="12700">
            <a:solidFill>
              <a:srgbClr val="1D3A57"/>
            </a:solidFill>
            <a:prstDash val="solid"/>
          </a:ln>
        </p:spPr>
      </p:sp>
      <p:sp>
        <p:nvSpPr>
          <p:cNvPr id="15" name="Text 12"/>
          <p:cNvSpPr txBox="1"/>
          <p:nvPr/>
        </p:nvSpPr>
        <p:spPr>
          <a:xfrm>
            <a:off x="804672" y="2194560"/>
            <a:ext cx="1371600" cy="219456"/>
          </a:xfrm>
          <a:prstGeom prst="rect">
            <a:avLst/>
          </a:prstGeom>
          <a:noFill/>
          <a:ln/>
        </p:spPr>
        <p:txBody>
          <a:bodyPr wrap="square" lIns="0" tIns="0" rIns="0" bIns="0" rtlCol="0" anchor="t"/>
          <a:lstStyle/>
          <a:p>
            <a:pPr algn="l" indent="0" marL="0">
              <a:buNone/>
            </a:pPr>
            <a:r>
              <a:rPr lang="en-US" sz="980" b="1" spc="100" kern="0" dirty="0">
                <a:solidFill>
                  <a:srgbClr val="FFFFFF"/>
                </a:solidFill>
                <a:latin typeface="Aptos" pitchFamily="34" charset="0"/>
                <a:ea typeface="Aptos" pitchFamily="34" charset="-122"/>
                <a:cs typeface="Aptos" pitchFamily="34" charset="-120"/>
              </a:rPr>
              <a:t>MÉTODO</a:t>
            </a:r>
            <a:endParaRPr lang="en-US" sz="980" dirty="0"/>
          </a:p>
        </p:txBody>
      </p:sp>
      <p:sp>
        <p:nvSpPr>
          <p:cNvPr id="16" name="Shape 13"/>
          <p:cNvSpPr/>
          <p:nvPr/>
        </p:nvSpPr>
        <p:spPr>
          <a:xfrm>
            <a:off x="2249424" y="2121408"/>
            <a:ext cx="9283903" cy="365760"/>
          </a:xfrm>
          <a:prstGeom prst="rect">
            <a:avLst/>
          </a:prstGeom>
          <a:solidFill>
            <a:srgbClr val="FFFFFF"/>
          </a:solidFill>
          <a:ln w="12700">
            <a:solidFill>
              <a:srgbClr val="FFFFFF"/>
            </a:solidFill>
            <a:prstDash val="solid"/>
          </a:ln>
        </p:spPr>
      </p:sp>
      <p:sp>
        <p:nvSpPr>
          <p:cNvPr id="17" name="Text 14"/>
          <p:cNvSpPr txBox="1"/>
          <p:nvPr/>
        </p:nvSpPr>
        <p:spPr>
          <a:xfrm>
            <a:off x="2414016" y="2176272"/>
            <a:ext cx="8954719" cy="256032"/>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Cortar la red de la página con Playwright antes de enviar, y leer el estado del botón</a:t>
            </a:r>
            <a:endParaRPr lang="en-US" sz="1140" dirty="0"/>
          </a:p>
        </p:txBody>
      </p:sp>
      <p:sp>
        <p:nvSpPr>
          <p:cNvPr id="18" name="Shape 15"/>
          <p:cNvSpPr/>
          <p:nvPr/>
        </p:nvSpPr>
        <p:spPr>
          <a:xfrm>
            <a:off x="658368" y="2542032"/>
            <a:ext cx="1554480" cy="365760"/>
          </a:xfrm>
          <a:prstGeom prst="rect">
            <a:avLst/>
          </a:prstGeom>
          <a:solidFill>
            <a:srgbClr val="B3181E"/>
          </a:solidFill>
          <a:ln w="12700">
            <a:solidFill>
              <a:srgbClr val="B3181E"/>
            </a:solidFill>
            <a:prstDash val="solid"/>
          </a:ln>
        </p:spPr>
      </p:sp>
      <p:sp>
        <p:nvSpPr>
          <p:cNvPr id="19" name="Text 16"/>
          <p:cNvSpPr txBox="1"/>
          <p:nvPr/>
        </p:nvSpPr>
        <p:spPr>
          <a:xfrm>
            <a:off x="804672" y="2615184"/>
            <a:ext cx="1371600" cy="219456"/>
          </a:xfrm>
          <a:prstGeom prst="rect">
            <a:avLst/>
          </a:prstGeom>
          <a:noFill/>
          <a:ln/>
        </p:spPr>
        <p:txBody>
          <a:bodyPr wrap="square" lIns="0" tIns="0" rIns="0" bIns="0" rtlCol="0" anchor="t"/>
          <a:lstStyle/>
          <a:p>
            <a:pPr algn="l" indent="0" marL="0">
              <a:buNone/>
            </a:pPr>
            <a:r>
              <a:rPr lang="en-US" sz="980" b="1" spc="100" kern="0" dirty="0">
                <a:solidFill>
                  <a:srgbClr val="FFFFFF"/>
                </a:solidFill>
                <a:latin typeface="Aptos" pitchFamily="34" charset="0"/>
                <a:ea typeface="Aptos" pitchFamily="34" charset="-122"/>
                <a:cs typeface="Aptos" pitchFamily="34" charset="-120"/>
              </a:rPr>
              <a:t>UMBRAL</a:t>
            </a:r>
            <a:endParaRPr lang="en-US" sz="980" dirty="0"/>
          </a:p>
        </p:txBody>
      </p:sp>
      <p:sp>
        <p:nvSpPr>
          <p:cNvPr id="20" name="Shape 17"/>
          <p:cNvSpPr/>
          <p:nvPr/>
        </p:nvSpPr>
        <p:spPr>
          <a:xfrm>
            <a:off x="2249424" y="2542032"/>
            <a:ext cx="9283903" cy="365760"/>
          </a:xfrm>
          <a:prstGeom prst="rect">
            <a:avLst/>
          </a:prstGeom>
          <a:solidFill>
            <a:srgbClr val="F2E7D9"/>
          </a:solidFill>
          <a:ln w="12700">
            <a:solidFill>
              <a:srgbClr val="F2E7D9"/>
            </a:solidFill>
            <a:prstDash val="solid"/>
          </a:ln>
        </p:spPr>
      </p:sp>
      <p:sp>
        <p:nvSpPr>
          <p:cNvPr id="21" name="Text 18"/>
          <p:cNvSpPr txBox="1"/>
          <p:nvPr/>
        </p:nvSpPr>
        <p:spPr>
          <a:xfrm>
            <a:off x="2414016" y="2596896"/>
            <a:ext cx="8954719" cy="256032"/>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El botón vuelve a estar habilitado</a:t>
            </a:r>
            <a:endParaRPr lang="en-US" sz="1140" dirty="0"/>
          </a:p>
        </p:txBody>
      </p:sp>
      <p:sp>
        <p:nvSpPr>
          <p:cNvPr id="22" name="Shape 19"/>
          <p:cNvSpPr/>
          <p:nvPr/>
        </p:nvSpPr>
        <p:spPr>
          <a:xfrm>
            <a:off x="658368" y="3054096"/>
            <a:ext cx="7498080" cy="2562758"/>
          </a:xfrm>
          <a:prstGeom prst="roundRect">
            <a:avLst>
              <a:gd name="adj" fmla="val 1784"/>
            </a:avLst>
          </a:prstGeom>
          <a:solidFill>
            <a:srgbClr val="102A43"/>
          </a:solidFill>
          <a:ln w="12700">
            <a:solidFill>
              <a:srgbClr val="102A43"/>
            </a:solidFill>
            <a:prstDash val="solid"/>
          </a:ln>
        </p:spPr>
      </p:sp>
      <p:sp>
        <p:nvSpPr>
          <p:cNvPr id="23" name="Shape 20"/>
          <p:cNvSpPr/>
          <p:nvPr/>
        </p:nvSpPr>
        <p:spPr>
          <a:xfrm>
            <a:off x="658368" y="3410712"/>
            <a:ext cx="7498080" cy="9144"/>
          </a:xfrm>
          <a:prstGeom prst="rect">
            <a:avLst/>
          </a:prstGeom>
          <a:solidFill>
            <a:srgbClr val="284B75"/>
          </a:solidFill>
          <a:ln w="12700">
            <a:solidFill>
              <a:srgbClr val="284B75"/>
            </a:solidFill>
            <a:prstDash val="solid"/>
          </a:ln>
        </p:spPr>
      </p:sp>
      <p:sp>
        <p:nvSpPr>
          <p:cNvPr id="24" name="Text 21"/>
          <p:cNvSpPr/>
          <p:nvPr/>
        </p:nvSpPr>
        <p:spPr>
          <a:xfrm>
            <a:off x="841248" y="3145536"/>
            <a:ext cx="713232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pruebas/verificacion.spec.ts</a:t>
            </a:r>
            <a:endParaRPr lang="en-US" sz="960" dirty="0"/>
          </a:p>
        </p:txBody>
      </p:sp>
      <p:sp>
        <p:nvSpPr>
          <p:cNvPr id="25" name="Shape 22"/>
          <p:cNvSpPr/>
          <p:nvPr/>
        </p:nvSpPr>
        <p:spPr>
          <a:xfrm>
            <a:off x="713232" y="3972458"/>
            <a:ext cx="6986016" cy="139281"/>
          </a:xfrm>
          <a:prstGeom prst="rect">
            <a:avLst/>
          </a:prstGeom>
          <a:solidFill>
            <a:srgbClr val="E0BC5A">
              <a:alpha val="28000"/>
            </a:srgbClr>
          </a:solidFill>
          <a:ln w="12700">
            <a:solidFill>
              <a:srgbClr val="E0BC5A">
                <a:alpha val="0"/>
              </a:srgbClr>
            </a:solidFill>
            <a:prstDash val="solid"/>
          </a:ln>
        </p:spPr>
      </p:sp>
      <p:sp>
        <p:nvSpPr>
          <p:cNvPr id="26" name="Shape 23"/>
          <p:cNvSpPr/>
          <p:nvPr/>
        </p:nvSpPr>
        <p:spPr>
          <a:xfrm>
            <a:off x="713232" y="5133137"/>
            <a:ext cx="6986016" cy="139281"/>
          </a:xfrm>
          <a:prstGeom prst="rect">
            <a:avLst/>
          </a:prstGeom>
          <a:solidFill>
            <a:srgbClr val="2E7D4F">
              <a:alpha val="28000"/>
            </a:srgbClr>
          </a:solidFill>
          <a:ln w="12700">
            <a:solidFill>
              <a:srgbClr val="2E7D4F">
                <a:alpha val="0"/>
              </a:srgbClr>
            </a:solidFill>
            <a:prstDash val="solid"/>
          </a:ln>
        </p:spPr>
      </p:sp>
      <p:pic>
        <p:nvPicPr>
          <p:cNvPr id="2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3547872"/>
            <a:ext cx="6766560" cy="1940966"/>
          </a:xfrm>
          <a:prstGeom prst="rect">
            <a:avLst/>
          </a:prstGeom>
        </p:spPr>
      </p:pic>
      <p:sp>
        <p:nvSpPr>
          <p:cNvPr id="28" name="Shape 24"/>
          <p:cNvSpPr/>
          <p:nvPr/>
        </p:nvSpPr>
        <p:spPr>
          <a:xfrm>
            <a:off x="7861109" y="3969727"/>
            <a:ext cx="133478" cy="133478"/>
          </a:xfrm>
          <a:prstGeom prst="ellipse">
            <a:avLst/>
          </a:prstGeom>
          <a:solidFill>
            <a:srgbClr val="E0BC5A"/>
          </a:solidFill>
          <a:ln w="12700">
            <a:solidFill>
              <a:srgbClr val="E0BC5A"/>
            </a:solidFill>
            <a:prstDash val="solid"/>
          </a:ln>
        </p:spPr>
      </p:sp>
      <p:sp>
        <p:nvSpPr>
          <p:cNvPr id="29" name="Text 25"/>
          <p:cNvSpPr/>
          <p:nvPr/>
        </p:nvSpPr>
        <p:spPr>
          <a:xfrm>
            <a:off x="7870253" y="3978871"/>
            <a:ext cx="115190" cy="11519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0" name="Shape 26"/>
          <p:cNvSpPr/>
          <p:nvPr/>
        </p:nvSpPr>
        <p:spPr>
          <a:xfrm>
            <a:off x="7861109" y="5130406"/>
            <a:ext cx="133478" cy="133478"/>
          </a:xfrm>
          <a:prstGeom prst="ellipse">
            <a:avLst/>
          </a:prstGeom>
          <a:solidFill>
            <a:srgbClr val="2E7D4F"/>
          </a:solidFill>
          <a:ln w="12700">
            <a:solidFill>
              <a:srgbClr val="2E7D4F"/>
            </a:solidFill>
            <a:prstDash val="solid"/>
          </a:ln>
        </p:spPr>
      </p:sp>
      <p:sp>
        <p:nvSpPr>
          <p:cNvPr id="31" name="Text 27"/>
          <p:cNvSpPr/>
          <p:nvPr/>
        </p:nvSpPr>
        <p:spPr>
          <a:xfrm>
            <a:off x="7870253" y="5139550"/>
            <a:ext cx="115190" cy="11519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32" name="Shape 28"/>
          <p:cNvSpPr/>
          <p:nvPr/>
        </p:nvSpPr>
        <p:spPr>
          <a:xfrm>
            <a:off x="8375904" y="3054096"/>
            <a:ext cx="3157423" cy="1188720"/>
          </a:xfrm>
          <a:prstGeom prst="rect">
            <a:avLst/>
          </a:prstGeom>
          <a:solidFill>
            <a:srgbClr val="FFFFFF"/>
          </a:solidFill>
          <a:ln w="12700">
            <a:solidFill>
              <a:srgbClr val="FFFFFF"/>
            </a:solidFill>
            <a:prstDash val="solid"/>
          </a:ln>
        </p:spPr>
      </p:sp>
      <p:sp>
        <p:nvSpPr>
          <p:cNvPr id="33" name="Shape 29"/>
          <p:cNvSpPr/>
          <p:nvPr/>
        </p:nvSpPr>
        <p:spPr>
          <a:xfrm>
            <a:off x="8375904" y="3054096"/>
            <a:ext cx="54864" cy="1188720"/>
          </a:xfrm>
          <a:prstGeom prst="rect">
            <a:avLst/>
          </a:prstGeom>
          <a:solidFill>
            <a:srgbClr val="8A6A12"/>
          </a:solidFill>
          <a:ln w="12700">
            <a:solidFill>
              <a:srgbClr val="8A6A12"/>
            </a:solidFill>
            <a:prstDash val="solid"/>
          </a:ln>
        </p:spPr>
      </p:sp>
      <p:sp>
        <p:nvSpPr>
          <p:cNvPr id="34" name="Shape 30"/>
          <p:cNvSpPr/>
          <p:nvPr/>
        </p:nvSpPr>
        <p:spPr>
          <a:xfrm>
            <a:off x="8558784" y="3182112"/>
            <a:ext cx="256032" cy="256032"/>
          </a:xfrm>
          <a:prstGeom prst="ellipse">
            <a:avLst/>
          </a:prstGeom>
          <a:solidFill>
            <a:srgbClr val="E0BC5A"/>
          </a:solidFill>
          <a:ln w="12700">
            <a:solidFill>
              <a:srgbClr val="E0BC5A"/>
            </a:solidFill>
            <a:prstDash val="solid"/>
          </a:ln>
        </p:spPr>
      </p:sp>
      <p:sp>
        <p:nvSpPr>
          <p:cNvPr id="35" name="Text 31"/>
          <p:cNvSpPr/>
          <p:nvPr/>
        </p:nvSpPr>
        <p:spPr>
          <a:xfrm>
            <a:off x="8567928" y="3191256"/>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6" name="Text 32"/>
          <p:cNvSpPr txBox="1"/>
          <p:nvPr/>
        </p:nvSpPr>
        <p:spPr>
          <a:xfrm>
            <a:off x="8924544" y="3182112"/>
            <a:ext cx="2462479" cy="256032"/>
          </a:xfrm>
          <a:prstGeom prst="rect">
            <a:avLst/>
          </a:prstGeom>
          <a:noFill/>
          <a:ln/>
        </p:spPr>
        <p:txBody>
          <a:bodyPr wrap="square" lIns="0" tIns="0" rIns="0" bIns="0" rtlCol="0" anchor="t"/>
          <a:lstStyle/>
          <a:p>
            <a:pPr algn="l" indent="0" marL="0">
              <a:buNone/>
            </a:pPr>
            <a:r>
              <a:rPr lang="en-US" sz="1040" b="1" dirty="0">
                <a:solidFill>
                  <a:srgbClr val="243B53"/>
                </a:solidFill>
                <a:latin typeface="Consolas" pitchFamily="34" charset="0"/>
                <a:ea typeface="Consolas" pitchFamily="34" charset="-122"/>
                <a:cs typeface="Consolas" pitchFamily="34" charset="-120"/>
              </a:rPr>
              <a:t>page.route</a:t>
            </a:r>
            <a:endParaRPr lang="en-US" sz="1040" dirty="0"/>
          </a:p>
        </p:txBody>
      </p:sp>
      <p:sp>
        <p:nvSpPr>
          <p:cNvPr id="37" name="Text 33"/>
          <p:cNvSpPr txBox="1"/>
          <p:nvPr/>
        </p:nvSpPr>
        <p:spPr>
          <a:xfrm>
            <a:off x="8595360" y="3529584"/>
            <a:ext cx="2791663" cy="676656"/>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Intercepta toda solicitud a /reservas y la corta, como si la red se hubiera caído.</a:t>
            </a:r>
            <a:endParaRPr lang="en-US" sz="980" dirty="0"/>
          </a:p>
        </p:txBody>
      </p:sp>
      <p:sp>
        <p:nvSpPr>
          <p:cNvPr id="38" name="Shape 34"/>
          <p:cNvSpPr/>
          <p:nvPr/>
        </p:nvSpPr>
        <p:spPr>
          <a:xfrm>
            <a:off x="8375904" y="4407408"/>
            <a:ext cx="3157423" cy="1134999"/>
          </a:xfrm>
          <a:prstGeom prst="roundRect">
            <a:avLst>
              <a:gd name="adj" fmla="val 4028"/>
            </a:avLst>
          </a:prstGeom>
          <a:solidFill>
            <a:srgbClr val="0F1720"/>
          </a:solidFill>
          <a:ln w="12700">
            <a:solidFill>
              <a:srgbClr val="0F1720"/>
            </a:solidFill>
            <a:prstDash val="solid"/>
          </a:ln>
        </p:spPr>
      </p:sp>
      <p:sp>
        <p:nvSpPr>
          <p:cNvPr id="39" name="Shape 35"/>
          <p:cNvSpPr/>
          <p:nvPr/>
        </p:nvSpPr>
        <p:spPr>
          <a:xfrm>
            <a:off x="8535924" y="4539996"/>
            <a:ext cx="82296" cy="82296"/>
          </a:xfrm>
          <a:prstGeom prst="ellipse">
            <a:avLst/>
          </a:prstGeom>
          <a:solidFill>
            <a:srgbClr val="52606D"/>
          </a:solidFill>
          <a:ln w="12700">
            <a:solidFill>
              <a:srgbClr val="52606D"/>
            </a:solidFill>
            <a:prstDash val="solid"/>
          </a:ln>
        </p:spPr>
      </p:sp>
      <p:sp>
        <p:nvSpPr>
          <p:cNvPr id="40" name="Shape 36"/>
          <p:cNvSpPr/>
          <p:nvPr/>
        </p:nvSpPr>
        <p:spPr>
          <a:xfrm>
            <a:off x="8691372" y="4539996"/>
            <a:ext cx="82296" cy="82296"/>
          </a:xfrm>
          <a:prstGeom prst="ellipse">
            <a:avLst/>
          </a:prstGeom>
          <a:solidFill>
            <a:srgbClr val="52606D"/>
          </a:solidFill>
          <a:ln w="12700">
            <a:solidFill>
              <a:srgbClr val="52606D"/>
            </a:solidFill>
            <a:prstDash val="solid"/>
          </a:ln>
        </p:spPr>
      </p:sp>
      <p:sp>
        <p:nvSpPr>
          <p:cNvPr id="41" name="Shape 37"/>
          <p:cNvSpPr/>
          <p:nvPr/>
        </p:nvSpPr>
        <p:spPr>
          <a:xfrm>
            <a:off x="8846820" y="4539996"/>
            <a:ext cx="82296" cy="82296"/>
          </a:xfrm>
          <a:prstGeom prst="ellipse">
            <a:avLst/>
          </a:prstGeom>
          <a:solidFill>
            <a:srgbClr val="52606D"/>
          </a:solidFill>
          <a:ln w="12700">
            <a:solidFill>
              <a:srgbClr val="52606D"/>
            </a:solidFill>
            <a:prstDash val="solid"/>
          </a:ln>
        </p:spPr>
      </p:sp>
      <p:sp>
        <p:nvSpPr>
          <p:cNvPr id="42" name="Text 38"/>
          <p:cNvSpPr/>
          <p:nvPr/>
        </p:nvSpPr>
        <p:spPr>
          <a:xfrm>
            <a:off x="9070848" y="4489704"/>
            <a:ext cx="2279599"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Contra la interfaz de la mañana</a:t>
            </a:r>
            <a:endParaRPr lang="en-US" sz="940" dirty="0"/>
          </a:p>
        </p:txBody>
      </p:sp>
      <p:sp>
        <p:nvSpPr>
          <p:cNvPr id="43" name="Text 39"/>
          <p:cNvSpPr/>
          <p:nvPr/>
        </p:nvSpPr>
        <p:spPr>
          <a:xfrm>
            <a:off x="8577072" y="4882896"/>
            <a:ext cx="2755087" cy="177165"/>
          </a:xfrm>
          <a:prstGeom prst="rect">
            <a:avLst/>
          </a:prstGeom>
          <a:noFill/>
          <a:ln/>
        </p:spPr>
        <p:txBody>
          <a:bodyPr wrap="square" lIns="0" tIns="0" rIns="0" bIns="0" rtlCol="0" anchor="ctr"/>
          <a:lstStyle/>
          <a:p>
            <a:pPr indent="0" marL="0">
              <a:buNone/>
            </a:pPr>
            <a:r>
              <a:rPr lang="en-US" sz="900" b="1" dirty="0">
                <a:solidFill>
                  <a:srgbClr val="D62027"/>
                </a:solidFill>
                <a:latin typeface="Consolas" pitchFamily="34" charset="0"/>
                <a:ea typeface="Consolas" pitchFamily="34" charset="-122"/>
                <a:cs typeface="Consolas" pitchFamily="34" charset="-120"/>
              </a:rPr>
              <a:t>Error: expect(locator).toBeEnabled() failed</a:t>
            </a:r>
            <a:endParaRPr lang="en-US" sz="900" dirty="0"/>
          </a:p>
        </p:txBody>
      </p:sp>
      <p:sp>
        <p:nvSpPr>
          <p:cNvPr id="44" name="Text 40"/>
          <p:cNvSpPr/>
          <p:nvPr/>
        </p:nvSpPr>
        <p:spPr>
          <a:xfrm>
            <a:off x="8577072" y="5060061"/>
            <a:ext cx="2755087" cy="177165"/>
          </a:xfrm>
          <a:prstGeom prst="rect">
            <a:avLst/>
          </a:prstGeom>
          <a:noFill/>
          <a:ln/>
        </p:spPr>
        <p:txBody>
          <a:bodyPr wrap="square" lIns="0" tIns="0" rIns="0" bIns="0" rtlCol="0" anchor="ctr"/>
          <a:lstStyle/>
          <a:p>
            <a:pPr indent="0" marL="0">
              <a:buNone/>
            </a:pPr>
            <a:r>
              <a:rPr lang="en-US" sz="900" dirty="0">
                <a:solidFill>
                  <a:srgbClr val="8AA0B6"/>
                </a:solidFill>
                <a:latin typeface="Consolas" pitchFamily="34" charset="0"/>
                <a:ea typeface="Consolas" pitchFamily="34" charset="-122"/>
                <a:cs typeface="Consolas" pitchFamily="34" charset="-120"/>
              </a:rPr>
              <a:t>Expected: enabled</a:t>
            </a:r>
            <a:endParaRPr lang="en-US" sz="900" dirty="0"/>
          </a:p>
        </p:txBody>
      </p:sp>
      <p:sp>
        <p:nvSpPr>
          <p:cNvPr id="45" name="Text 41"/>
          <p:cNvSpPr/>
          <p:nvPr/>
        </p:nvSpPr>
        <p:spPr>
          <a:xfrm>
            <a:off x="8577072" y="5237226"/>
            <a:ext cx="2755087" cy="177165"/>
          </a:xfrm>
          <a:prstGeom prst="rect">
            <a:avLst/>
          </a:prstGeom>
          <a:noFill/>
          <a:ln/>
        </p:spPr>
        <p:txBody>
          <a:bodyPr wrap="square" lIns="0" tIns="0" rIns="0" bIns="0" rtlCol="0" anchor="ctr"/>
          <a:lstStyle/>
          <a:p>
            <a:pPr indent="0" marL="0">
              <a:buNone/>
            </a:pPr>
            <a:r>
              <a:rPr lang="en-US" sz="900" b="1" dirty="0">
                <a:solidFill>
                  <a:srgbClr val="D62027"/>
                </a:solidFill>
                <a:latin typeface="Consolas" pitchFamily="34" charset="0"/>
                <a:ea typeface="Consolas" pitchFamily="34" charset="-122"/>
                <a:cs typeface="Consolas" pitchFamily="34" charset="-120"/>
              </a:rPr>
              <a:t>Received: disabled</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Rehabilitar el botón pase lo que pase</a:t>
            </a:r>
            <a:endParaRPr lang="en-US" sz="2800" dirty="0"/>
          </a:p>
        </p:txBody>
      </p:sp>
      <p:sp>
        <p:nvSpPr>
          <p:cNvPr id="10" name="Shape 7"/>
          <p:cNvSpPr/>
          <p:nvPr/>
        </p:nvSpPr>
        <p:spPr>
          <a:xfrm>
            <a:off x="658368" y="1554480"/>
            <a:ext cx="6949440" cy="4638853"/>
          </a:xfrm>
          <a:prstGeom prst="roundRect">
            <a:avLst>
              <a:gd name="adj" fmla="val 986"/>
            </a:avLst>
          </a:prstGeom>
          <a:solidFill>
            <a:srgbClr val="102A43"/>
          </a:solidFill>
          <a:ln w="12700">
            <a:solidFill>
              <a:srgbClr val="102A43"/>
            </a:solidFill>
            <a:prstDash val="solid"/>
          </a:ln>
        </p:spPr>
      </p:sp>
      <p:sp>
        <p:nvSpPr>
          <p:cNvPr id="11" name="Shape 8"/>
          <p:cNvSpPr/>
          <p:nvPr/>
        </p:nvSpPr>
        <p:spPr>
          <a:xfrm>
            <a:off x="658368" y="1911096"/>
            <a:ext cx="6949440" cy="9144"/>
          </a:xfrm>
          <a:prstGeom prst="rect">
            <a:avLst/>
          </a:prstGeom>
          <a:solidFill>
            <a:srgbClr val="284B75"/>
          </a:solidFill>
          <a:ln w="12700">
            <a:solidFill>
              <a:srgbClr val="284B75"/>
            </a:solidFill>
            <a:prstDash val="solid"/>
          </a:ln>
        </p:spPr>
      </p:sp>
      <p:sp>
        <p:nvSpPr>
          <p:cNvPr id="12" name="Text 9"/>
          <p:cNvSpPr/>
          <p:nvPr/>
        </p:nvSpPr>
        <p:spPr>
          <a:xfrm>
            <a:off x="841248" y="1645920"/>
            <a:ext cx="658368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interfaz/app.js</a:t>
            </a:r>
            <a:endParaRPr lang="en-US" sz="960" dirty="0"/>
          </a:p>
        </p:txBody>
      </p:sp>
      <p:sp>
        <p:nvSpPr>
          <p:cNvPr id="13" name="Shape 10"/>
          <p:cNvSpPr/>
          <p:nvPr/>
        </p:nvSpPr>
        <p:spPr>
          <a:xfrm>
            <a:off x="713232" y="2933548"/>
            <a:ext cx="6437376" cy="122700"/>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5106365"/>
            <a:ext cx="6437376" cy="122700"/>
          </a:xfrm>
          <a:prstGeom prst="rect">
            <a:avLst/>
          </a:prstGeom>
          <a:solidFill>
            <a:srgbClr val="B3181E">
              <a:alpha val="28000"/>
            </a:srgbClr>
          </a:solidFill>
          <a:ln w="12700">
            <a:solidFill>
              <a:srgbClr val="B3181E">
                <a:alpha val="0"/>
              </a:srgbClr>
            </a:solidFill>
            <a:prstDash val="solid"/>
          </a:ln>
        </p:spPr>
      </p:sp>
      <p:sp>
        <p:nvSpPr>
          <p:cNvPr id="15" name="Shape 12"/>
          <p:cNvSpPr/>
          <p:nvPr/>
        </p:nvSpPr>
        <p:spPr>
          <a:xfrm>
            <a:off x="713232" y="5489804"/>
            <a:ext cx="6437376" cy="122700"/>
          </a:xfrm>
          <a:prstGeom prst="rect">
            <a:avLst/>
          </a:prstGeom>
          <a:solidFill>
            <a:srgbClr val="2E7D4F">
              <a:alpha val="28000"/>
            </a:srgbClr>
          </a:solidFill>
          <a:ln w="12700">
            <a:solidFill>
              <a:srgbClr val="2E7D4F">
                <a:alpha val="0"/>
              </a:srgbClr>
            </a:solidFill>
            <a:prstDash val="solid"/>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048256"/>
            <a:ext cx="6217920" cy="4017061"/>
          </a:xfrm>
          <a:prstGeom prst="rect">
            <a:avLst/>
          </a:prstGeom>
        </p:spPr>
      </p:pic>
      <p:sp>
        <p:nvSpPr>
          <p:cNvPr id="17" name="Shape 13"/>
          <p:cNvSpPr/>
          <p:nvPr/>
        </p:nvSpPr>
        <p:spPr>
          <a:xfrm>
            <a:off x="7320414" y="2931142"/>
            <a:ext cx="117588" cy="117588"/>
          </a:xfrm>
          <a:prstGeom prst="ellipse">
            <a:avLst/>
          </a:prstGeom>
          <a:solidFill>
            <a:srgbClr val="E0BC5A"/>
          </a:solidFill>
          <a:ln w="12700">
            <a:solidFill>
              <a:srgbClr val="E0BC5A"/>
            </a:solidFill>
            <a:prstDash val="solid"/>
          </a:ln>
        </p:spPr>
      </p:sp>
      <p:sp>
        <p:nvSpPr>
          <p:cNvPr id="18" name="Text 14"/>
          <p:cNvSpPr/>
          <p:nvPr/>
        </p:nvSpPr>
        <p:spPr>
          <a:xfrm>
            <a:off x="7329558" y="2940286"/>
            <a:ext cx="99300" cy="9930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9" name="Shape 15"/>
          <p:cNvSpPr/>
          <p:nvPr/>
        </p:nvSpPr>
        <p:spPr>
          <a:xfrm>
            <a:off x="7320414" y="5103959"/>
            <a:ext cx="117588" cy="117588"/>
          </a:xfrm>
          <a:prstGeom prst="ellipse">
            <a:avLst/>
          </a:prstGeom>
          <a:solidFill>
            <a:srgbClr val="B3181E"/>
          </a:solidFill>
          <a:ln w="12700">
            <a:solidFill>
              <a:srgbClr val="B3181E"/>
            </a:solidFill>
            <a:prstDash val="solid"/>
          </a:ln>
        </p:spPr>
      </p:sp>
      <p:sp>
        <p:nvSpPr>
          <p:cNvPr id="20" name="Text 16"/>
          <p:cNvSpPr/>
          <p:nvPr/>
        </p:nvSpPr>
        <p:spPr>
          <a:xfrm>
            <a:off x="7329558" y="5113103"/>
            <a:ext cx="99300" cy="9930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1" name="Shape 17"/>
          <p:cNvSpPr/>
          <p:nvPr/>
        </p:nvSpPr>
        <p:spPr>
          <a:xfrm>
            <a:off x="7320414" y="5487398"/>
            <a:ext cx="117588" cy="117588"/>
          </a:xfrm>
          <a:prstGeom prst="ellipse">
            <a:avLst/>
          </a:prstGeom>
          <a:solidFill>
            <a:srgbClr val="2E7D4F"/>
          </a:solidFill>
          <a:ln w="12700">
            <a:solidFill>
              <a:srgbClr val="2E7D4F"/>
            </a:solidFill>
            <a:prstDash val="solid"/>
          </a:ln>
        </p:spPr>
      </p:sp>
      <p:sp>
        <p:nvSpPr>
          <p:cNvPr id="22" name="Text 18"/>
          <p:cNvSpPr/>
          <p:nvPr/>
        </p:nvSpPr>
        <p:spPr>
          <a:xfrm>
            <a:off x="7329558" y="5496542"/>
            <a:ext cx="99300" cy="9930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3" name="Shape 19"/>
          <p:cNvSpPr/>
          <p:nvPr/>
        </p:nvSpPr>
        <p:spPr>
          <a:xfrm>
            <a:off x="7882128" y="1682496"/>
            <a:ext cx="3651199" cy="987552"/>
          </a:xfrm>
          <a:prstGeom prst="rect">
            <a:avLst/>
          </a:prstGeom>
          <a:solidFill>
            <a:srgbClr val="FFFFFF"/>
          </a:solidFill>
          <a:ln w="12700">
            <a:solidFill>
              <a:srgbClr val="FFFFFF"/>
            </a:solidFill>
            <a:prstDash val="solid"/>
          </a:ln>
        </p:spPr>
      </p:sp>
      <p:sp>
        <p:nvSpPr>
          <p:cNvPr id="24" name="Shape 20"/>
          <p:cNvSpPr/>
          <p:nvPr/>
        </p:nvSpPr>
        <p:spPr>
          <a:xfrm>
            <a:off x="7882128" y="1682496"/>
            <a:ext cx="54864" cy="987552"/>
          </a:xfrm>
          <a:prstGeom prst="rect">
            <a:avLst/>
          </a:prstGeom>
          <a:solidFill>
            <a:srgbClr val="8A6A12"/>
          </a:solidFill>
          <a:ln w="12700">
            <a:solidFill>
              <a:srgbClr val="8A6A12"/>
            </a:solidFill>
            <a:prstDash val="solid"/>
          </a:ln>
        </p:spPr>
      </p:sp>
      <p:sp>
        <p:nvSpPr>
          <p:cNvPr id="25" name="Shape 21"/>
          <p:cNvSpPr/>
          <p:nvPr/>
        </p:nvSpPr>
        <p:spPr>
          <a:xfrm>
            <a:off x="8065008" y="1810512"/>
            <a:ext cx="256032" cy="256032"/>
          </a:xfrm>
          <a:prstGeom prst="ellipse">
            <a:avLst/>
          </a:prstGeom>
          <a:solidFill>
            <a:srgbClr val="E0BC5A"/>
          </a:solidFill>
          <a:ln w="12700">
            <a:solidFill>
              <a:srgbClr val="E0BC5A"/>
            </a:solidFill>
            <a:prstDash val="solid"/>
          </a:ln>
        </p:spPr>
      </p:sp>
      <p:sp>
        <p:nvSpPr>
          <p:cNvPr id="26" name="Text 22"/>
          <p:cNvSpPr/>
          <p:nvPr/>
        </p:nvSpPr>
        <p:spPr>
          <a:xfrm>
            <a:off x="8074152" y="1819656"/>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7" name="Text 23"/>
          <p:cNvSpPr txBox="1"/>
          <p:nvPr/>
        </p:nvSpPr>
        <p:spPr>
          <a:xfrm>
            <a:off x="8430768" y="1792224"/>
            <a:ext cx="2956255" cy="274320"/>
          </a:xfrm>
          <a:prstGeom prst="rect">
            <a:avLst/>
          </a:prstGeom>
          <a:noFill/>
          <a:ln/>
        </p:spPr>
        <p:txBody>
          <a:bodyPr wrap="square" lIns="0" tIns="0" rIns="0" bIns="0" rtlCol="0" anchor="t"/>
          <a:lstStyle/>
          <a:p>
            <a:pPr algn="l" indent="0" marL="0">
              <a:buNone/>
            </a:pPr>
            <a:r>
              <a:rPr lang="en-US" sz="1200" b="1" dirty="0">
                <a:solidFill>
                  <a:srgbClr val="243B53"/>
                </a:solidFill>
                <a:latin typeface="Consolas" pitchFamily="34" charset="0"/>
                <a:ea typeface="Consolas" pitchFamily="34" charset="-122"/>
                <a:cs typeface="Consolas" pitchFamily="34" charset="-120"/>
              </a:rPr>
              <a:t>try</a:t>
            </a:r>
            <a:endParaRPr lang="en-US" sz="1200" dirty="0"/>
          </a:p>
        </p:txBody>
      </p:sp>
      <p:sp>
        <p:nvSpPr>
          <p:cNvPr id="28" name="Text 24"/>
          <p:cNvSpPr txBox="1"/>
          <p:nvPr/>
        </p:nvSpPr>
        <p:spPr>
          <a:xfrm>
            <a:off x="8101584" y="2103120"/>
            <a:ext cx="3285439" cy="53035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Agrupa lo que puede fallar.</a:t>
            </a:r>
            <a:endParaRPr lang="en-US" sz="980" dirty="0"/>
          </a:p>
        </p:txBody>
      </p:sp>
      <p:sp>
        <p:nvSpPr>
          <p:cNvPr id="29" name="Shape 25"/>
          <p:cNvSpPr/>
          <p:nvPr/>
        </p:nvSpPr>
        <p:spPr>
          <a:xfrm>
            <a:off x="7882128" y="2779776"/>
            <a:ext cx="3651199" cy="987552"/>
          </a:xfrm>
          <a:prstGeom prst="rect">
            <a:avLst/>
          </a:prstGeom>
          <a:solidFill>
            <a:srgbClr val="FFFFFF"/>
          </a:solidFill>
          <a:ln w="12700">
            <a:solidFill>
              <a:srgbClr val="FFFFFF"/>
            </a:solidFill>
            <a:prstDash val="solid"/>
          </a:ln>
        </p:spPr>
      </p:sp>
      <p:sp>
        <p:nvSpPr>
          <p:cNvPr id="30" name="Shape 26"/>
          <p:cNvSpPr/>
          <p:nvPr/>
        </p:nvSpPr>
        <p:spPr>
          <a:xfrm>
            <a:off x="7882128" y="2779776"/>
            <a:ext cx="54864" cy="987552"/>
          </a:xfrm>
          <a:prstGeom prst="rect">
            <a:avLst/>
          </a:prstGeom>
          <a:solidFill>
            <a:srgbClr val="B3181E"/>
          </a:solidFill>
          <a:ln w="12700">
            <a:solidFill>
              <a:srgbClr val="B3181E"/>
            </a:solidFill>
            <a:prstDash val="solid"/>
          </a:ln>
        </p:spPr>
      </p:sp>
      <p:sp>
        <p:nvSpPr>
          <p:cNvPr id="31" name="Shape 27"/>
          <p:cNvSpPr/>
          <p:nvPr/>
        </p:nvSpPr>
        <p:spPr>
          <a:xfrm>
            <a:off x="8065008" y="2907792"/>
            <a:ext cx="256032" cy="256032"/>
          </a:xfrm>
          <a:prstGeom prst="ellipse">
            <a:avLst/>
          </a:prstGeom>
          <a:solidFill>
            <a:srgbClr val="B3181E"/>
          </a:solidFill>
          <a:ln w="12700">
            <a:solidFill>
              <a:srgbClr val="B3181E"/>
            </a:solidFill>
            <a:prstDash val="solid"/>
          </a:ln>
        </p:spPr>
      </p:sp>
      <p:sp>
        <p:nvSpPr>
          <p:cNvPr id="32" name="Text 28"/>
          <p:cNvSpPr/>
          <p:nvPr/>
        </p:nvSpPr>
        <p:spPr>
          <a:xfrm>
            <a:off x="8074152" y="2916936"/>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33" name="Text 29"/>
          <p:cNvSpPr txBox="1"/>
          <p:nvPr/>
        </p:nvSpPr>
        <p:spPr>
          <a:xfrm>
            <a:off x="8430768" y="2889504"/>
            <a:ext cx="2956255" cy="274320"/>
          </a:xfrm>
          <a:prstGeom prst="rect">
            <a:avLst/>
          </a:prstGeom>
          <a:noFill/>
          <a:ln/>
        </p:spPr>
        <p:txBody>
          <a:bodyPr wrap="square" lIns="0" tIns="0" rIns="0" bIns="0" rtlCol="0" anchor="t"/>
          <a:lstStyle/>
          <a:p>
            <a:pPr algn="l" indent="0" marL="0">
              <a:buNone/>
            </a:pPr>
            <a:r>
              <a:rPr lang="en-US" sz="1200" b="1" dirty="0">
                <a:solidFill>
                  <a:srgbClr val="243B53"/>
                </a:solidFill>
                <a:latin typeface="Consolas" pitchFamily="34" charset="0"/>
                <a:ea typeface="Consolas" pitchFamily="34" charset="-122"/>
                <a:cs typeface="Consolas" pitchFamily="34" charset="-120"/>
              </a:rPr>
              <a:t>catch</a:t>
            </a:r>
            <a:endParaRPr lang="en-US" sz="1200" dirty="0"/>
          </a:p>
        </p:txBody>
      </p:sp>
      <p:sp>
        <p:nvSpPr>
          <p:cNvPr id="34" name="Text 30"/>
          <p:cNvSpPr txBox="1"/>
          <p:nvPr/>
        </p:nvSpPr>
        <p:spPr>
          <a:xfrm>
            <a:off x="8101584" y="3200400"/>
            <a:ext cx="3285439" cy="53035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Se ejecuta si algo dentro de try lanza un error, como el fetch sin red. Le dice a la persona qué ocurrió.</a:t>
            </a:r>
            <a:endParaRPr lang="en-US" sz="980" dirty="0"/>
          </a:p>
        </p:txBody>
      </p:sp>
      <p:sp>
        <p:nvSpPr>
          <p:cNvPr id="35" name="Shape 31"/>
          <p:cNvSpPr/>
          <p:nvPr/>
        </p:nvSpPr>
        <p:spPr>
          <a:xfrm>
            <a:off x="7882128" y="3877056"/>
            <a:ext cx="3651199" cy="987552"/>
          </a:xfrm>
          <a:prstGeom prst="rect">
            <a:avLst/>
          </a:prstGeom>
          <a:solidFill>
            <a:srgbClr val="FFFFFF"/>
          </a:solidFill>
          <a:ln w="12700">
            <a:solidFill>
              <a:srgbClr val="FFFFFF"/>
            </a:solidFill>
            <a:prstDash val="solid"/>
          </a:ln>
        </p:spPr>
      </p:sp>
      <p:sp>
        <p:nvSpPr>
          <p:cNvPr id="36" name="Shape 32"/>
          <p:cNvSpPr/>
          <p:nvPr/>
        </p:nvSpPr>
        <p:spPr>
          <a:xfrm>
            <a:off x="7882128" y="3877056"/>
            <a:ext cx="54864" cy="987552"/>
          </a:xfrm>
          <a:prstGeom prst="rect">
            <a:avLst/>
          </a:prstGeom>
          <a:solidFill>
            <a:srgbClr val="2E7D4F"/>
          </a:solidFill>
          <a:ln w="12700">
            <a:solidFill>
              <a:srgbClr val="2E7D4F"/>
            </a:solidFill>
            <a:prstDash val="solid"/>
          </a:ln>
        </p:spPr>
      </p:sp>
      <p:sp>
        <p:nvSpPr>
          <p:cNvPr id="37" name="Shape 33"/>
          <p:cNvSpPr/>
          <p:nvPr/>
        </p:nvSpPr>
        <p:spPr>
          <a:xfrm>
            <a:off x="8065008" y="4005072"/>
            <a:ext cx="256032" cy="256032"/>
          </a:xfrm>
          <a:prstGeom prst="ellipse">
            <a:avLst/>
          </a:prstGeom>
          <a:solidFill>
            <a:srgbClr val="2E7D4F"/>
          </a:solidFill>
          <a:ln w="12700">
            <a:solidFill>
              <a:srgbClr val="2E7D4F"/>
            </a:solidFill>
            <a:prstDash val="solid"/>
          </a:ln>
        </p:spPr>
      </p:sp>
      <p:sp>
        <p:nvSpPr>
          <p:cNvPr id="38" name="Text 34"/>
          <p:cNvSpPr/>
          <p:nvPr/>
        </p:nvSpPr>
        <p:spPr>
          <a:xfrm>
            <a:off x="8074152" y="4014216"/>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39" name="Text 35"/>
          <p:cNvSpPr txBox="1"/>
          <p:nvPr/>
        </p:nvSpPr>
        <p:spPr>
          <a:xfrm>
            <a:off x="8430768" y="3986784"/>
            <a:ext cx="2956255" cy="274320"/>
          </a:xfrm>
          <a:prstGeom prst="rect">
            <a:avLst/>
          </a:prstGeom>
          <a:noFill/>
          <a:ln/>
        </p:spPr>
        <p:txBody>
          <a:bodyPr wrap="square" lIns="0" tIns="0" rIns="0" bIns="0" rtlCol="0" anchor="t"/>
          <a:lstStyle/>
          <a:p>
            <a:pPr algn="l" indent="0" marL="0">
              <a:buNone/>
            </a:pPr>
            <a:r>
              <a:rPr lang="en-US" sz="1200" b="1" dirty="0">
                <a:solidFill>
                  <a:srgbClr val="243B53"/>
                </a:solidFill>
                <a:latin typeface="Consolas" pitchFamily="34" charset="0"/>
                <a:ea typeface="Consolas" pitchFamily="34" charset="-122"/>
                <a:cs typeface="Consolas" pitchFamily="34" charset="-120"/>
              </a:rPr>
              <a:t>finally</a:t>
            </a:r>
            <a:endParaRPr lang="en-US" sz="1200" dirty="0"/>
          </a:p>
        </p:txBody>
      </p:sp>
      <p:sp>
        <p:nvSpPr>
          <p:cNvPr id="40" name="Text 36"/>
          <p:cNvSpPr txBox="1"/>
          <p:nvPr/>
        </p:nvSpPr>
        <p:spPr>
          <a:xfrm>
            <a:off x="8101584" y="4297680"/>
            <a:ext cx="3285439" cy="530352"/>
          </a:xfrm>
          <a:prstGeom prst="rect">
            <a:avLst/>
          </a:prstGeom>
          <a:noFill/>
          <a:ln/>
        </p:spPr>
        <p:txBody>
          <a:bodyPr wrap="square" lIns="0" tIns="0" rIns="0" bIns="0" rtlCol="0" anchor="t"/>
          <a:lstStyle/>
          <a:p>
            <a:pPr algn="l" indent="0" marL="0">
              <a:lnSpc>
                <a:spcPct val="104000"/>
              </a:lnSpc>
              <a:buNone/>
            </a:pPr>
            <a:r>
              <a:rPr lang="en-US" sz="980" dirty="0">
                <a:solidFill>
                  <a:srgbClr val="52606D"/>
                </a:solidFill>
                <a:latin typeface="Aptos" pitchFamily="34" charset="0"/>
                <a:ea typeface="Aptos" pitchFamily="34" charset="-122"/>
                <a:cs typeface="Aptos" pitchFamily="34" charset="-120"/>
              </a:rPr>
              <a:t>Se ejecuta siempre, haya fallado o no. Ahí tiene que estar la línea que rehabilita el botón.</a:t>
            </a:r>
            <a:endParaRPr lang="en-US" sz="980" dirty="0"/>
          </a:p>
        </p:txBody>
      </p:sp>
      <p:sp>
        <p:nvSpPr>
          <p:cNvPr id="41" name="Shape 37"/>
          <p:cNvSpPr/>
          <p:nvPr/>
        </p:nvSpPr>
        <p:spPr>
          <a:xfrm>
            <a:off x="7882128" y="5047488"/>
            <a:ext cx="3651199" cy="800354"/>
          </a:xfrm>
          <a:prstGeom prst="roundRect">
            <a:avLst>
              <a:gd name="adj" fmla="val 5712"/>
            </a:avLst>
          </a:prstGeom>
          <a:solidFill>
            <a:srgbClr val="0F1720"/>
          </a:solidFill>
          <a:ln w="12700">
            <a:solidFill>
              <a:srgbClr val="0F1720"/>
            </a:solidFill>
            <a:prstDash val="solid"/>
          </a:ln>
        </p:spPr>
      </p:sp>
      <p:sp>
        <p:nvSpPr>
          <p:cNvPr id="42" name="Shape 38"/>
          <p:cNvSpPr/>
          <p:nvPr/>
        </p:nvSpPr>
        <p:spPr>
          <a:xfrm>
            <a:off x="8042148" y="5180076"/>
            <a:ext cx="82296" cy="82296"/>
          </a:xfrm>
          <a:prstGeom prst="ellipse">
            <a:avLst/>
          </a:prstGeom>
          <a:solidFill>
            <a:srgbClr val="52606D"/>
          </a:solidFill>
          <a:ln w="12700">
            <a:solidFill>
              <a:srgbClr val="52606D"/>
            </a:solidFill>
            <a:prstDash val="solid"/>
          </a:ln>
        </p:spPr>
      </p:sp>
      <p:sp>
        <p:nvSpPr>
          <p:cNvPr id="43" name="Shape 39"/>
          <p:cNvSpPr/>
          <p:nvPr/>
        </p:nvSpPr>
        <p:spPr>
          <a:xfrm>
            <a:off x="8197596" y="5180076"/>
            <a:ext cx="82296" cy="82296"/>
          </a:xfrm>
          <a:prstGeom prst="ellipse">
            <a:avLst/>
          </a:prstGeom>
          <a:solidFill>
            <a:srgbClr val="52606D"/>
          </a:solidFill>
          <a:ln w="12700">
            <a:solidFill>
              <a:srgbClr val="52606D"/>
            </a:solidFill>
            <a:prstDash val="solid"/>
          </a:ln>
        </p:spPr>
      </p:sp>
      <p:sp>
        <p:nvSpPr>
          <p:cNvPr id="44" name="Shape 40"/>
          <p:cNvSpPr/>
          <p:nvPr/>
        </p:nvSpPr>
        <p:spPr>
          <a:xfrm>
            <a:off x="8353044" y="5180076"/>
            <a:ext cx="82296" cy="82296"/>
          </a:xfrm>
          <a:prstGeom prst="ellipse">
            <a:avLst/>
          </a:prstGeom>
          <a:solidFill>
            <a:srgbClr val="52606D"/>
          </a:solidFill>
          <a:ln w="12700">
            <a:solidFill>
              <a:srgbClr val="52606D"/>
            </a:solidFill>
            <a:prstDash val="solid"/>
          </a:ln>
        </p:spPr>
      </p:sp>
      <p:sp>
        <p:nvSpPr>
          <p:cNvPr id="45" name="Text 41"/>
          <p:cNvSpPr/>
          <p:nvPr/>
        </p:nvSpPr>
        <p:spPr>
          <a:xfrm>
            <a:off x="8577072" y="5129784"/>
            <a:ext cx="277337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nueva y las dos del doble clic, en tres navegadores</a:t>
            </a:r>
            <a:endParaRPr lang="en-US" sz="940" dirty="0"/>
          </a:p>
        </p:txBody>
      </p:sp>
      <p:sp>
        <p:nvSpPr>
          <p:cNvPr id="46" name="Text 42"/>
          <p:cNvSpPr/>
          <p:nvPr/>
        </p:nvSpPr>
        <p:spPr>
          <a:xfrm>
            <a:off x="8083296" y="5522976"/>
            <a:ext cx="3248863" cy="196850"/>
          </a:xfrm>
          <a:prstGeom prst="rect">
            <a:avLst/>
          </a:prstGeom>
          <a:noFill/>
          <a:ln/>
        </p:spPr>
        <p:txBody>
          <a:bodyPr wrap="square" lIns="0" tIns="0" rIns="0" bIns="0" rtlCol="0" anchor="ctr"/>
          <a:lstStyle/>
          <a:p>
            <a:pPr indent="0" marL="0">
              <a:buNone/>
            </a:pPr>
            <a:r>
              <a:rPr lang="en-US" sz="1000" b="1" dirty="0">
                <a:solidFill>
                  <a:srgbClr val="3FAE6A"/>
                </a:solidFill>
                <a:latin typeface="Consolas" pitchFamily="34" charset="0"/>
                <a:ea typeface="Consolas" pitchFamily="34" charset="-122"/>
                <a:cs typeface="Consolas" pitchFamily="34" charset="-120"/>
              </a:rPr>
              <a:t>  9 passed (25.7s)</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LOS UMBRALES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El agente propone; el umbral se decide</a:t>
            </a:r>
            <a:endParaRPr lang="en-US" sz="2800" dirty="0"/>
          </a:p>
        </p:txBody>
      </p:sp>
      <p:sp>
        <p:nvSpPr>
          <p:cNvPr id="10" name="Text 7"/>
          <p:cNvSpPr txBox="1"/>
          <p:nvPr/>
        </p:nvSpPr>
        <p:spPr>
          <a:xfrm>
            <a:off x="658368" y="1700784"/>
            <a:ext cx="10874959" cy="512064"/>
          </a:xfrm>
          <a:prstGeom prst="rect">
            <a:avLst/>
          </a:prstGeom>
          <a:noFill/>
          <a:ln/>
        </p:spPr>
        <p:txBody>
          <a:bodyPr wrap="square" lIns="0" tIns="0" rIns="0" bIns="0" rtlCol="0" anchor="t"/>
          <a:lstStyle/>
          <a:p>
            <a:pPr algn="l" indent="0" marL="0">
              <a:lnSpc>
                <a:spcPct val="110000"/>
              </a:lnSpc>
              <a:buNone/>
            </a:pPr>
            <a:r>
              <a:rPr lang="en-US" sz="1220" dirty="0">
                <a:solidFill>
                  <a:srgbClr val="243B53"/>
                </a:solidFill>
                <a:latin typeface="Aptos" pitchFamily="34" charset="0"/>
                <a:ea typeface="Aptos" pitchFamily="34" charset="-122"/>
                <a:cs typeface="Aptos" pitchFamily="34" charset="-120"/>
              </a:rPr>
              <a:t>Cada hallazgo de la auditoría traía un umbral, y el agente los declaró como «valores de referencia propuestos». Esa es exactamente su condición:</a:t>
            </a:r>
            <a:endParaRPr lang="en-US" sz="1220" dirty="0"/>
          </a:p>
        </p:txBody>
      </p:sp>
      <p:sp>
        <p:nvSpPr>
          <p:cNvPr id="11" name="Shape 8"/>
          <p:cNvSpPr/>
          <p:nvPr/>
        </p:nvSpPr>
        <p:spPr>
          <a:xfrm>
            <a:off x="658368" y="2377440"/>
            <a:ext cx="3503066" cy="1042416"/>
          </a:xfrm>
          <a:prstGeom prst="rect">
            <a:avLst/>
          </a:prstGeom>
          <a:solidFill>
            <a:srgbClr val="FFFFFF"/>
          </a:solidFill>
          <a:ln w="12700">
            <a:solidFill>
              <a:srgbClr val="D8CFC4"/>
            </a:solidFill>
            <a:prstDash val="solid"/>
          </a:ln>
        </p:spPr>
      </p:sp>
      <p:sp>
        <p:nvSpPr>
          <p:cNvPr id="12" name="Text 9"/>
          <p:cNvSpPr txBox="1"/>
          <p:nvPr/>
        </p:nvSpPr>
        <p:spPr>
          <a:xfrm>
            <a:off x="877824" y="2487168"/>
            <a:ext cx="3137306" cy="201168"/>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PROPUESTO</a:t>
            </a:r>
            <a:endParaRPr lang="en-US" sz="900" dirty="0"/>
          </a:p>
        </p:txBody>
      </p:sp>
      <p:sp>
        <p:nvSpPr>
          <p:cNvPr id="13" name="Text 10"/>
          <p:cNvSpPr txBox="1"/>
          <p:nvPr/>
        </p:nvSpPr>
        <p:spPr>
          <a:xfrm>
            <a:off x="877824" y="2706624"/>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p95 de 200 ms</a:t>
            </a:r>
            <a:endParaRPr lang="en-US" sz="1700" dirty="0"/>
          </a:p>
        </p:txBody>
      </p:sp>
      <p:sp>
        <p:nvSpPr>
          <p:cNvPr id="14" name="Text 11"/>
          <p:cNvSpPr txBox="1"/>
          <p:nvPr/>
        </p:nvSpPr>
        <p:spPr>
          <a:xfrm>
            <a:off x="877824" y="3090672"/>
            <a:ext cx="3137306" cy="256032"/>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para las solicitudes a la API</a:t>
            </a:r>
            <a:endParaRPr lang="en-US" sz="1020" dirty="0"/>
          </a:p>
        </p:txBody>
      </p:sp>
      <p:sp>
        <p:nvSpPr>
          <p:cNvPr id="15" name="Shape 12"/>
          <p:cNvSpPr/>
          <p:nvPr/>
        </p:nvSpPr>
        <p:spPr>
          <a:xfrm>
            <a:off x="4344314" y="2377440"/>
            <a:ext cx="3503066" cy="1042416"/>
          </a:xfrm>
          <a:prstGeom prst="rect">
            <a:avLst/>
          </a:prstGeom>
          <a:solidFill>
            <a:srgbClr val="FFFFFF"/>
          </a:solidFill>
          <a:ln w="12700">
            <a:solidFill>
              <a:srgbClr val="D8CFC4"/>
            </a:solidFill>
            <a:prstDash val="solid"/>
          </a:ln>
        </p:spPr>
      </p:sp>
      <p:sp>
        <p:nvSpPr>
          <p:cNvPr id="16" name="Text 13"/>
          <p:cNvSpPr txBox="1"/>
          <p:nvPr/>
        </p:nvSpPr>
        <p:spPr>
          <a:xfrm>
            <a:off x="4563770" y="2487168"/>
            <a:ext cx="3137306" cy="201168"/>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PROPUESTO</a:t>
            </a:r>
            <a:endParaRPr lang="en-US" sz="900" dirty="0"/>
          </a:p>
        </p:txBody>
      </p:sp>
      <p:sp>
        <p:nvSpPr>
          <p:cNvPr id="17" name="Text 14"/>
          <p:cNvSpPr txBox="1"/>
          <p:nvPr/>
        </p:nvSpPr>
        <p:spPr>
          <a:xfrm>
            <a:off x="4563770" y="2706624"/>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10 reservas por minuto</a:t>
            </a:r>
            <a:endParaRPr lang="en-US" sz="1700" dirty="0"/>
          </a:p>
        </p:txBody>
      </p:sp>
      <p:sp>
        <p:nvSpPr>
          <p:cNvPr id="18" name="Text 15"/>
          <p:cNvSpPr txBox="1"/>
          <p:nvPr/>
        </p:nvSpPr>
        <p:spPr>
          <a:xfrm>
            <a:off x="4563770" y="3090672"/>
            <a:ext cx="3137306" cy="256032"/>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por dirección</a:t>
            </a:r>
            <a:endParaRPr lang="en-US" sz="1020" dirty="0"/>
          </a:p>
        </p:txBody>
      </p:sp>
      <p:sp>
        <p:nvSpPr>
          <p:cNvPr id="19" name="Shape 16"/>
          <p:cNvSpPr/>
          <p:nvPr/>
        </p:nvSpPr>
        <p:spPr>
          <a:xfrm>
            <a:off x="8030261" y="2377440"/>
            <a:ext cx="3503066" cy="1042416"/>
          </a:xfrm>
          <a:prstGeom prst="rect">
            <a:avLst/>
          </a:prstGeom>
          <a:solidFill>
            <a:srgbClr val="FFFFFF"/>
          </a:solidFill>
          <a:ln w="12700">
            <a:solidFill>
              <a:srgbClr val="D8CFC4"/>
            </a:solidFill>
            <a:prstDash val="solid"/>
          </a:ln>
        </p:spPr>
      </p:sp>
      <p:sp>
        <p:nvSpPr>
          <p:cNvPr id="20" name="Text 17"/>
          <p:cNvSpPr txBox="1"/>
          <p:nvPr/>
        </p:nvSpPr>
        <p:spPr>
          <a:xfrm>
            <a:off x="8249717" y="2487168"/>
            <a:ext cx="3137306" cy="201168"/>
          </a:xfrm>
          <a:prstGeom prst="rect">
            <a:avLst/>
          </a:prstGeom>
          <a:noFill/>
          <a:ln/>
        </p:spPr>
        <p:txBody>
          <a:bodyPr wrap="square" lIns="0" tIns="0" rIns="0" bIns="0" rtlCol="0" anchor="t"/>
          <a:lstStyle/>
          <a:p>
            <a:pPr algn="l" indent="0" marL="0">
              <a:buNone/>
            </a:pPr>
            <a:r>
              <a:rPr lang="en-US" sz="900" b="1" spc="120" kern="0" dirty="0">
                <a:solidFill>
                  <a:srgbClr val="8A6A12"/>
                </a:solidFill>
                <a:latin typeface="Aptos" pitchFamily="34" charset="0"/>
                <a:ea typeface="Aptos" pitchFamily="34" charset="-122"/>
                <a:cs typeface="Aptos" pitchFamily="34" charset="-120"/>
              </a:rPr>
              <a:t>PROPUESTO</a:t>
            </a:r>
            <a:endParaRPr lang="en-US" sz="900" dirty="0"/>
          </a:p>
        </p:txBody>
      </p:sp>
      <p:sp>
        <p:nvSpPr>
          <p:cNvPr id="21" name="Text 18"/>
          <p:cNvSpPr txBox="1"/>
          <p:nvPr/>
        </p:nvSpPr>
        <p:spPr>
          <a:xfrm>
            <a:off x="8249717" y="2706624"/>
            <a:ext cx="3137306" cy="365760"/>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90 % de las ramas</a:t>
            </a:r>
            <a:endParaRPr lang="en-US" sz="1700" dirty="0"/>
          </a:p>
        </p:txBody>
      </p:sp>
      <p:sp>
        <p:nvSpPr>
          <p:cNvPr id="22" name="Text 19"/>
          <p:cNvSpPr txBox="1"/>
          <p:nvPr/>
        </p:nvSpPr>
        <p:spPr>
          <a:xfrm>
            <a:off x="8249717" y="3090672"/>
            <a:ext cx="3137306" cy="256032"/>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caminos de cada if recorridos por pruebas</a:t>
            </a:r>
            <a:endParaRPr lang="en-US" sz="1020" dirty="0"/>
          </a:p>
        </p:txBody>
      </p:sp>
      <p:sp>
        <p:nvSpPr>
          <p:cNvPr id="23" name="Text 20"/>
          <p:cNvSpPr txBox="1"/>
          <p:nvPr/>
        </p:nvSpPr>
        <p:spPr>
          <a:xfrm>
            <a:off x="658368" y="3657600"/>
            <a:ext cx="100584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RAZONABLES Y BIEN FORMULADOS. NINGUNO SALIÓ DE UN REQUISITO: EL AGENTE NO SABE…</a:t>
            </a:r>
            <a:endParaRPr lang="en-US" sz="960" dirty="0"/>
          </a:p>
        </p:txBody>
      </p:sp>
      <p:sp>
        <p:nvSpPr>
          <p:cNvPr id="24" name="Shape 21"/>
          <p:cNvSpPr/>
          <p:nvPr/>
        </p:nvSpPr>
        <p:spPr>
          <a:xfrm>
            <a:off x="658368" y="3950208"/>
            <a:ext cx="3503066" cy="640080"/>
          </a:xfrm>
          <a:prstGeom prst="rect">
            <a:avLst/>
          </a:prstGeom>
          <a:solidFill>
            <a:srgbClr val="F2E7D9"/>
          </a:solidFill>
          <a:ln w="12700">
            <a:solidFill>
              <a:srgbClr val="F2E7D9"/>
            </a:solidFill>
            <a:prstDash val="solid"/>
          </a:ln>
        </p:spPr>
      </p:sp>
      <p:sp>
        <p:nvSpPr>
          <p:cNvPr id="25" name="Text 22"/>
          <p:cNvSpPr txBox="1"/>
          <p:nvPr/>
        </p:nvSpPr>
        <p:spPr>
          <a:xfrm>
            <a:off x="841248" y="3986784"/>
            <a:ext cx="3137306" cy="566928"/>
          </a:xfrm>
          <a:prstGeom prst="rect">
            <a:avLst/>
          </a:prstGeom>
          <a:noFill/>
          <a:ln/>
        </p:spPr>
        <p:txBody>
          <a:bodyPr wrap="square" lIns="0" tIns="0" rIns="0" bIns="0" rtlCol="0" anchor="ctr"/>
          <a:lstStyle/>
          <a:p>
            <a:pPr algn="l" indent="0" marL="0">
              <a:lnSpc>
                <a:spcPct val="104000"/>
              </a:lnSpc>
              <a:buNone/>
            </a:pPr>
            <a:r>
              <a:rPr lang="en-US" sz="1100" dirty="0">
                <a:solidFill>
                  <a:srgbClr val="243B53"/>
                </a:solidFill>
                <a:latin typeface="Aptos" pitchFamily="34" charset="0"/>
                <a:ea typeface="Aptos" pitchFamily="34" charset="-122"/>
                <a:cs typeface="Aptos" pitchFamily="34" charset="-120"/>
              </a:rPr>
              <a:t>cuántas personas usan el laboratorio</a:t>
            </a:r>
            <a:endParaRPr lang="en-US" sz="1100" dirty="0"/>
          </a:p>
        </p:txBody>
      </p:sp>
      <p:sp>
        <p:nvSpPr>
          <p:cNvPr id="26" name="Shape 23"/>
          <p:cNvSpPr/>
          <p:nvPr/>
        </p:nvSpPr>
        <p:spPr>
          <a:xfrm>
            <a:off x="4344314" y="3950208"/>
            <a:ext cx="3503066" cy="640080"/>
          </a:xfrm>
          <a:prstGeom prst="rect">
            <a:avLst/>
          </a:prstGeom>
          <a:solidFill>
            <a:srgbClr val="F2E7D9"/>
          </a:solidFill>
          <a:ln w="12700">
            <a:solidFill>
              <a:srgbClr val="F2E7D9"/>
            </a:solidFill>
            <a:prstDash val="solid"/>
          </a:ln>
        </p:spPr>
      </p:sp>
      <p:sp>
        <p:nvSpPr>
          <p:cNvPr id="27" name="Text 24"/>
          <p:cNvSpPr txBox="1"/>
          <p:nvPr/>
        </p:nvSpPr>
        <p:spPr>
          <a:xfrm>
            <a:off x="4527194" y="3986784"/>
            <a:ext cx="3137306" cy="566928"/>
          </a:xfrm>
          <a:prstGeom prst="rect">
            <a:avLst/>
          </a:prstGeom>
          <a:noFill/>
          <a:ln/>
        </p:spPr>
        <p:txBody>
          <a:bodyPr wrap="square" lIns="0" tIns="0" rIns="0" bIns="0" rtlCol="0" anchor="ctr"/>
          <a:lstStyle/>
          <a:p>
            <a:pPr algn="l" indent="0" marL="0">
              <a:lnSpc>
                <a:spcPct val="104000"/>
              </a:lnSpc>
              <a:buNone/>
            </a:pPr>
            <a:r>
              <a:rPr lang="en-US" sz="1100" dirty="0">
                <a:solidFill>
                  <a:srgbClr val="243B53"/>
                </a:solidFill>
                <a:latin typeface="Aptos" pitchFamily="34" charset="0"/>
                <a:ea typeface="Aptos" pitchFamily="34" charset="-122"/>
                <a:cs typeface="Aptos" pitchFamily="34" charset="-120"/>
              </a:rPr>
              <a:t>cuánto está dispuesta a esperar una de ellas</a:t>
            </a:r>
            <a:endParaRPr lang="en-US" sz="1100" dirty="0"/>
          </a:p>
        </p:txBody>
      </p:sp>
      <p:sp>
        <p:nvSpPr>
          <p:cNvPr id="28" name="Shape 25"/>
          <p:cNvSpPr/>
          <p:nvPr/>
        </p:nvSpPr>
        <p:spPr>
          <a:xfrm>
            <a:off x="8030261" y="3950208"/>
            <a:ext cx="3503066" cy="640080"/>
          </a:xfrm>
          <a:prstGeom prst="rect">
            <a:avLst/>
          </a:prstGeom>
          <a:solidFill>
            <a:srgbClr val="F2E7D9"/>
          </a:solidFill>
          <a:ln w="12700">
            <a:solidFill>
              <a:srgbClr val="F2E7D9"/>
            </a:solidFill>
            <a:prstDash val="solid"/>
          </a:ln>
        </p:spPr>
      </p:sp>
      <p:sp>
        <p:nvSpPr>
          <p:cNvPr id="29" name="Text 26"/>
          <p:cNvSpPr txBox="1"/>
          <p:nvPr/>
        </p:nvSpPr>
        <p:spPr>
          <a:xfrm>
            <a:off x="8213141" y="3986784"/>
            <a:ext cx="3137306" cy="566928"/>
          </a:xfrm>
          <a:prstGeom prst="rect">
            <a:avLst/>
          </a:prstGeom>
          <a:noFill/>
          <a:ln/>
        </p:spPr>
        <p:txBody>
          <a:bodyPr wrap="square" lIns="0" tIns="0" rIns="0" bIns="0" rtlCol="0" anchor="ctr"/>
          <a:lstStyle/>
          <a:p>
            <a:pPr algn="l" indent="0" marL="0">
              <a:lnSpc>
                <a:spcPct val="104000"/>
              </a:lnSpc>
              <a:buNone/>
            </a:pPr>
            <a:r>
              <a:rPr lang="en-US" sz="1100" dirty="0">
                <a:solidFill>
                  <a:srgbClr val="243B53"/>
                </a:solidFill>
                <a:latin typeface="Aptos" pitchFamily="34" charset="0"/>
                <a:ea typeface="Aptos" pitchFamily="34" charset="-122"/>
                <a:cs typeface="Aptos" pitchFamily="34" charset="-120"/>
              </a:rPr>
              <a:t>cuánto intento de reserva es normal en una semana de evaluaciones</a:t>
            </a:r>
            <a:endParaRPr lang="en-US" sz="1100" dirty="0"/>
          </a:p>
        </p:txBody>
      </p:sp>
      <p:sp>
        <p:nvSpPr>
          <p:cNvPr id="30" name="Shape 27"/>
          <p:cNvSpPr/>
          <p:nvPr/>
        </p:nvSpPr>
        <p:spPr>
          <a:xfrm>
            <a:off x="658368" y="4754880"/>
            <a:ext cx="5346040" cy="694944"/>
          </a:xfrm>
          <a:prstGeom prst="rect">
            <a:avLst/>
          </a:prstGeom>
          <a:solidFill>
            <a:srgbClr val="2E7D4F"/>
          </a:solidFill>
          <a:ln w="12700">
            <a:solidFill>
              <a:srgbClr val="2E7D4F"/>
            </a:solidFill>
            <a:prstDash val="solid"/>
          </a:ln>
        </p:spPr>
      </p:sp>
      <p:sp>
        <p:nvSpPr>
          <p:cNvPr id="31" name="Text 28"/>
          <p:cNvSpPr txBox="1"/>
          <p:nvPr/>
        </p:nvSpPr>
        <p:spPr>
          <a:xfrm>
            <a:off x="877824" y="4791456"/>
            <a:ext cx="4943704" cy="621792"/>
          </a:xfrm>
          <a:prstGeom prst="rect">
            <a:avLst/>
          </a:prstGeom>
          <a:noFill/>
          <a:ln/>
        </p:spPr>
        <p:txBody>
          <a:bodyPr wrap="square" lIns="0" tIns="0" rIns="0" bIns="0" rtlCol="0" anchor="ctr"/>
          <a:lstStyle/>
          <a:p>
            <a:pPr algn="l" indent="0" marL="0">
              <a:lnSpc>
                <a:spcPct val="104000"/>
              </a:lnSpc>
              <a:buNone/>
            </a:pPr>
            <a:r>
              <a:rPr lang="en-US" sz="1140" b="1" dirty="0">
                <a:solidFill>
                  <a:srgbClr val="FFFFFF"/>
                </a:solidFill>
                <a:latin typeface="Aptos" pitchFamily="34" charset="0"/>
                <a:ea typeface="Aptos" pitchFamily="34" charset="-122"/>
                <a:cs typeface="Aptos" pitchFamily="34" charset="-120"/>
              </a:rPr>
              <a:t>El agente puede proponer la magnitud y el método, y los propone bien.</a:t>
            </a:r>
            <a:endParaRPr lang="en-US" sz="1140" dirty="0"/>
          </a:p>
        </p:txBody>
      </p:sp>
      <p:sp>
        <p:nvSpPr>
          <p:cNvPr id="32" name="Shape 29"/>
          <p:cNvSpPr/>
          <p:nvPr/>
        </p:nvSpPr>
        <p:spPr>
          <a:xfrm>
            <a:off x="6187288" y="4754880"/>
            <a:ext cx="5346040" cy="694944"/>
          </a:xfrm>
          <a:prstGeom prst="rect">
            <a:avLst/>
          </a:prstGeom>
          <a:solidFill>
            <a:srgbClr val="1D3A57"/>
          </a:solidFill>
          <a:ln w="12700">
            <a:solidFill>
              <a:srgbClr val="1D3A57"/>
            </a:solidFill>
            <a:prstDash val="solid"/>
          </a:ln>
        </p:spPr>
      </p:sp>
      <p:sp>
        <p:nvSpPr>
          <p:cNvPr id="33" name="Text 30"/>
          <p:cNvSpPr txBox="1"/>
          <p:nvPr/>
        </p:nvSpPr>
        <p:spPr>
          <a:xfrm>
            <a:off x="6406744" y="4791456"/>
            <a:ext cx="4943704" cy="621792"/>
          </a:xfrm>
          <a:prstGeom prst="rect">
            <a:avLst/>
          </a:prstGeom>
          <a:noFill/>
          <a:ln/>
        </p:spPr>
        <p:txBody>
          <a:bodyPr wrap="square" lIns="0" tIns="0" rIns="0" bIns="0" rtlCol="0" anchor="ctr"/>
          <a:lstStyle/>
          <a:p>
            <a:pPr algn="l" indent="0" marL="0">
              <a:lnSpc>
                <a:spcPct val="104000"/>
              </a:lnSpc>
              <a:buNone/>
            </a:pPr>
            <a:r>
              <a:rPr lang="en-US" sz="1140" b="1" dirty="0">
                <a:solidFill>
                  <a:srgbClr val="FFFFFF"/>
                </a:solidFill>
                <a:latin typeface="Aptos" pitchFamily="34" charset="0"/>
                <a:ea typeface="Aptos" pitchFamily="34" charset="-122"/>
                <a:cs typeface="Aptos" pitchFamily="34" charset="-120"/>
              </a:rPr>
              <a:t>El umbral es una decisión sobre lo que el sistema le debe a quien lo usa.</a:t>
            </a:r>
            <a:endParaRPr lang="en-US" sz="114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umbral lo toma quien conoce el requisito.</a:t>
            </a:r>
            <a:endParaRPr lang="en-US" sz="13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cerrar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encontró leyendo lo mismo que la sesión encontró ejecutando, y más. ¿Para qué ejecutar entonces?</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qué pasó con httpx2 y con los errores 500. ¿Qué habría quedado en el informe si se hubieran aceptado todas sin ejecutarlas?</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corrección del doble clic pasó todas sus pruebas y dejó un defecto nuevo. ¿Fue una mala corrección?</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Separa lo que la corrección arregló de lo que ninguna prueba recorría. ¿Qué prueba habría hecho falta esa misma mañana?</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propuso un límite de diez reservas por minuto por dirección. ¿Se puede escribir ya la prueba de ese requisito?</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La prueba se puede escribir. ¿El número diez es un requisito o una propuesta, y quién tendría que confirmarlo?</a:t>
            </a:r>
            <a:endParaRPr lang="en-US" sz="114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PARA SEPARAR HIPÓTESIS DE HECHOS</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Sin ejecutar, el informe diría que httpx2 es malicioso y que la base da errores 500.</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Leer produce hipótesis; ejecutar decide cuáles se sostienen.</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Copiar la auditoría al informe tal como llegó.</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NO: ARREGLÓ LO QUE PROMETÍA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Faltaba una prueba que cortara la red, y por eso nadie vio el camino nuevo.</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Después de cada cambio se ejecuta todo, no solo la prueba que lo motivó.</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Probar solo lo que la corrección quería arreglar.</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LA PRUEBA SÍ; EL NÚMERO TODAVÍA NO</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Diez es una propuesta razonable, no un requisito.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umbral lo confirma quien conoce el uso normal del sistema.</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Convertir una propuesta en requisito por escribirla en una prueba.</a:t>
            </a:r>
            <a:endParaRPr lang="en-US" sz="102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Lo que cada prueba no funcional puede afirmar</a:t>
            </a:r>
            <a:endParaRPr lang="en-US" sz="2700" dirty="0"/>
          </a:p>
        </p:txBody>
      </p:sp>
      <p:sp>
        <p:nvSpPr>
          <p:cNvPr id="10" name="Text 7"/>
          <p:cNvSpPr txBox="1"/>
          <p:nvPr/>
        </p:nvSpPr>
        <p:spPr>
          <a:xfrm>
            <a:off x="3255264" y="1719072"/>
            <a:ext cx="4075024"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QUÉ PUEDE AFIRMAR</a:t>
            </a:r>
            <a:endParaRPr lang="en-US" sz="960" dirty="0"/>
          </a:p>
        </p:txBody>
      </p:sp>
      <p:sp>
        <p:nvSpPr>
          <p:cNvPr id="11" name="Text 8"/>
          <p:cNvSpPr txBox="1"/>
          <p:nvPr/>
        </p:nvSpPr>
        <p:spPr>
          <a:xfrm>
            <a:off x="7458304" y="1719072"/>
            <a:ext cx="4075024"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QUÉ NO PUEDE AFIRMAR</a:t>
            </a:r>
            <a:endParaRPr lang="en-US" sz="960" dirty="0"/>
          </a:p>
        </p:txBody>
      </p:sp>
      <p:sp>
        <p:nvSpPr>
          <p:cNvPr id="12" name="Shape 9"/>
          <p:cNvSpPr/>
          <p:nvPr/>
        </p:nvSpPr>
        <p:spPr>
          <a:xfrm>
            <a:off x="658368" y="1993392"/>
            <a:ext cx="2468880" cy="512064"/>
          </a:xfrm>
          <a:prstGeom prst="rect">
            <a:avLst/>
          </a:prstGeom>
          <a:solidFill>
            <a:srgbClr val="B3181E"/>
          </a:solidFill>
          <a:ln w="12700">
            <a:solidFill>
              <a:srgbClr val="B3181E"/>
            </a:solidFill>
            <a:prstDash val="solid"/>
          </a:ln>
        </p:spPr>
      </p:sp>
      <p:sp>
        <p:nvSpPr>
          <p:cNvPr id="13" name="Text 10"/>
          <p:cNvSpPr txBox="1"/>
          <p:nvPr/>
        </p:nvSpPr>
        <p:spPr>
          <a:xfrm>
            <a:off x="822960" y="2048256"/>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Carga</a:t>
            </a:r>
            <a:endParaRPr lang="en-US" sz="1200" dirty="0"/>
          </a:p>
        </p:txBody>
      </p:sp>
      <p:sp>
        <p:nvSpPr>
          <p:cNvPr id="14" name="Shape 11"/>
          <p:cNvSpPr/>
          <p:nvPr/>
        </p:nvSpPr>
        <p:spPr>
          <a:xfrm>
            <a:off x="3255264" y="1993392"/>
            <a:ext cx="4075024" cy="512064"/>
          </a:xfrm>
          <a:prstGeom prst="rect">
            <a:avLst/>
          </a:prstGeom>
          <a:solidFill>
            <a:srgbClr val="FFFFFF"/>
          </a:solidFill>
          <a:ln w="12700">
            <a:solidFill>
              <a:srgbClr val="FFFFFF"/>
            </a:solidFill>
            <a:prstDash val="solid"/>
          </a:ln>
        </p:spPr>
      </p:sp>
      <p:sp>
        <p:nvSpPr>
          <p:cNvPr id="15" name="Text 12"/>
          <p:cNvSpPr txBox="1"/>
          <p:nvPr/>
        </p:nvSpPr>
        <p:spPr>
          <a:xfrm>
            <a:off x="3419856" y="2029968"/>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Que responde dentro del umbral con la cantidad de personas prevista, en esas condiciones.</a:t>
            </a:r>
            <a:endParaRPr lang="en-US" sz="1020" dirty="0"/>
          </a:p>
        </p:txBody>
      </p:sp>
      <p:sp>
        <p:nvSpPr>
          <p:cNvPr id="16" name="Shape 13"/>
          <p:cNvSpPr/>
          <p:nvPr/>
        </p:nvSpPr>
        <p:spPr>
          <a:xfrm>
            <a:off x="7458304" y="1993392"/>
            <a:ext cx="4075024" cy="512064"/>
          </a:xfrm>
          <a:prstGeom prst="rect">
            <a:avLst/>
          </a:prstGeom>
          <a:solidFill>
            <a:srgbClr val="FFFFFF"/>
          </a:solidFill>
          <a:ln w="12700">
            <a:solidFill>
              <a:srgbClr val="FFFFFF"/>
            </a:solidFill>
            <a:prstDash val="solid"/>
          </a:ln>
        </p:spPr>
      </p:sp>
      <p:sp>
        <p:nvSpPr>
          <p:cNvPr id="17" name="Text 14"/>
          <p:cNvSpPr txBox="1"/>
          <p:nvPr/>
        </p:nvSpPr>
        <p:spPr>
          <a:xfrm>
            <a:off x="7622896" y="2029968"/>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Que lo que respondió sea correcto.</a:t>
            </a:r>
            <a:endParaRPr lang="en-US" sz="1020" dirty="0"/>
          </a:p>
        </p:txBody>
      </p:sp>
      <p:sp>
        <p:nvSpPr>
          <p:cNvPr id="18" name="Shape 15"/>
          <p:cNvSpPr/>
          <p:nvPr/>
        </p:nvSpPr>
        <p:spPr>
          <a:xfrm>
            <a:off x="658368" y="2578608"/>
            <a:ext cx="2468880" cy="512064"/>
          </a:xfrm>
          <a:prstGeom prst="rect">
            <a:avLst/>
          </a:prstGeom>
          <a:solidFill>
            <a:srgbClr val="B3181E"/>
          </a:solidFill>
          <a:ln w="12700">
            <a:solidFill>
              <a:srgbClr val="B3181E"/>
            </a:solidFill>
            <a:prstDash val="solid"/>
          </a:ln>
        </p:spPr>
      </p:sp>
      <p:sp>
        <p:nvSpPr>
          <p:cNvPr id="19" name="Text 16"/>
          <p:cNvSpPr txBox="1"/>
          <p:nvPr/>
        </p:nvSpPr>
        <p:spPr>
          <a:xfrm>
            <a:off x="822960" y="2633472"/>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Estrés</a:t>
            </a:r>
            <a:endParaRPr lang="en-US" sz="1200" dirty="0"/>
          </a:p>
        </p:txBody>
      </p:sp>
      <p:sp>
        <p:nvSpPr>
          <p:cNvPr id="20" name="Shape 17"/>
          <p:cNvSpPr/>
          <p:nvPr/>
        </p:nvSpPr>
        <p:spPr>
          <a:xfrm>
            <a:off x="3255264" y="2578608"/>
            <a:ext cx="4075024" cy="512064"/>
          </a:xfrm>
          <a:prstGeom prst="rect">
            <a:avLst/>
          </a:prstGeom>
          <a:solidFill>
            <a:srgbClr val="FFFFFF"/>
          </a:solidFill>
          <a:ln w="12700">
            <a:solidFill>
              <a:srgbClr val="FFFFFF"/>
            </a:solidFill>
            <a:prstDash val="solid"/>
          </a:ln>
        </p:spPr>
      </p:sp>
      <p:sp>
        <p:nvSpPr>
          <p:cNvPr id="21" name="Text 18"/>
          <p:cNvSpPr txBox="1"/>
          <p:nvPr/>
        </p:nvSpPr>
        <p:spPr>
          <a:xfrm>
            <a:off x="3419856" y="2615184"/>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Dónde deja de cumplir y cómo falla, en esa máquina.</a:t>
            </a:r>
            <a:endParaRPr lang="en-US" sz="1020" dirty="0"/>
          </a:p>
        </p:txBody>
      </p:sp>
      <p:sp>
        <p:nvSpPr>
          <p:cNvPr id="22" name="Shape 19"/>
          <p:cNvSpPr/>
          <p:nvPr/>
        </p:nvSpPr>
        <p:spPr>
          <a:xfrm>
            <a:off x="7458304" y="2578608"/>
            <a:ext cx="4075024" cy="512064"/>
          </a:xfrm>
          <a:prstGeom prst="rect">
            <a:avLst/>
          </a:prstGeom>
          <a:solidFill>
            <a:srgbClr val="FFFFFF"/>
          </a:solidFill>
          <a:ln w="12700">
            <a:solidFill>
              <a:srgbClr val="FFFFFF"/>
            </a:solidFill>
            <a:prstDash val="solid"/>
          </a:ln>
        </p:spPr>
      </p:sp>
      <p:sp>
        <p:nvSpPr>
          <p:cNvPr id="23" name="Text 20"/>
          <p:cNvSpPr txBox="1"/>
          <p:nvPr/>
        </p:nvSpPr>
        <p:spPr>
          <a:xfrm>
            <a:off x="7622896" y="2615184"/>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El límite en otra máquina.</a:t>
            </a:r>
            <a:endParaRPr lang="en-US" sz="1020" dirty="0"/>
          </a:p>
        </p:txBody>
      </p:sp>
      <p:sp>
        <p:nvSpPr>
          <p:cNvPr id="24" name="Shape 21"/>
          <p:cNvSpPr/>
          <p:nvPr/>
        </p:nvSpPr>
        <p:spPr>
          <a:xfrm>
            <a:off x="658368" y="3163824"/>
            <a:ext cx="2468880" cy="512064"/>
          </a:xfrm>
          <a:prstGeom prst="rect">
            <a:avLst/>
          </a:prstGeom>
          <a:solidFill>
            <a:srgbClr val="8A6A12"/>
          </a:solidFill>
          <a:ln w="12700">
            <a:solidFill>
              <a:srgbClr val="8A6A12"/>
            </a:solidFill>
            <a:prstDash val="solid"/>
          </a:ln>
        </p:spPr>
      </p:sp>
      <p:sp>
        <p:nvSpPr>
          <p:cNvPr id="25" name="Text 22"/>
          <p:cNvSpPr txBox="1"/>
          <p:nvPr/>
        </p:nvSpPr>
        <p:spPr>
          <a:xfrm>
            <a:off x="822960" y="3218688"/>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Seguridad escrita</a:t>
            </a:r>
            <a:endParaRPr lang="en-US" sz="1200" dirty="0"/>
          </a:p>
        </p:txBody>
      </p:sp>
      <p:sp>
        <p:nvSpPr>
          <p:cNvPr id="26" name="Shape 23"/>
          <p:cNvSpPr/>
          <p:nvPr/>
        </p:nvSpPr>
        <p:spPr>
          <a:xfrm>
            <a:off x="3255264" y="3163824"/>
            <a:ext cx="4075024" cy="512064"/>
          </a:xfrm>
          <a:prstGeom prst="rect">
            <a:avLst/>
          </a:prstGeom>
          <a:solidFill>
            <a:srgbClr val="FFFFFF"/>
          </a:solidFill>
          <a:ln w="12700">
            <a:solidFill>
              <a:srgbClr val="FFFFFF"/>
            </a:solidFill>
            <a:prstDash val="solid"/>
          </a:ln>
        </p:spPr>
      </p:sp>
      <p:sp>
        <p:nvSpPr>
          <p:cNvPr id="27" name="Text 24"/>
          <p:cNvSpPr txBox="1"/>
          <p:nvPr/>
        </p:nvSpPr>
        <p:spPr>
          <a:xfrm>
            <a:off x="3419856" y="3200400"/>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Que un ataque concreto no prospera, o que sí.</a:t>
            </a:r>
            <a:endParaRPr lang="en-US" sz="1020" dirty="0"/>
          </a:p>
        </p:txBody>
      </p:sp>
      <p:sp>
        <p:nvSpPr>
          <p:cNvPr id="28" name="Shape 25"/>
          <p:cNvSpPr/>
          <p:nvPr/>
        </p:nvSpPr>
        <p:spPr>
          <a:xfrm>
            <a:off x="7458304" y="3163824"/>
            <a:ext cx="4075024" cy="512064"/>
          </a:xfrm>
          <a:prstGeom prst="rect">
            <a:avLst/>
          </a:prstGeom>
          <a:solidFill>
            <a:srgbClr val="FFFFFF"/>
          </a:solidFill>
          <a:ln w="12700">
            <a:solidFill>
              <a:srgbClr val="FFFFFF"/>
            </a:solidFill>
            <a:prstDash val="solid"/>
          </a:ln>
        </p:spPr>
      </p:sp>
      <p:sp>
        <p:nvSpPr>
          <p:cNvPr id="29" name="Text 26"/>
          <p:cNvSpPr txBox="1"/>
          <p:nvPr/>
        </p:nvSpPr>
        <p:spPr>
          <a:xfrm>
            <a:off x="7622896" y="3200400"/>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Que no existan otros ataques.</a:t>
            </a:r>
            <a:endParaRPr lang="en-US" sz="1020" dirty="0"/>
          </a:p>
        </p:txBody>
      </p:sp>
      <p:sp>
        <p:nvSpPr>
          <p:cNvPr id="30" name="Shape 27"/>
          <p:cNvSpPr/>
          <p:nvPr/>
        </p:nvSpPr>
        <p:spPr>
          <a:xfrm>
            <a:off x="658368" y="3749040"/>
            <a:ext cx="2468880" cy="512064"/>
          </a:xfrm>
          <a:prstGeom prst="rect">
            <a:avLst/>
          </a:prstGeom>
          <a:solidFill>
            <a:srgbClr val="8A6A12"/>
          </a:solidFill>
          <a:ln w="12700">
            <a:solidFill>
              <a:srgbClr val="8A6A12"/>
            </a:solidFill>
            <a:prstDash val="solid"/>
          </a:ln>
        </p:spPr>
      </p:sp>
      <p:sp>
        <p:nvSpPr>
          <p:cNvPr id="31" name="Text 28"/>
          <p:cNvSpPr txBox="1"/>
          <p:nvPr/>
        </p:nvSpPr>
        <p:spPr>
          <a:xfrm>
            <a:off x="822960" y="3803904"/>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bandit y pip-audit</a:t>
            </a:r>
            <a:endParaRPr lang="en-US" sz="1200" dirty="0"/>
          </a:p>
        </p:txBody>
      </p:sp>
      <p:sp>
        <p:nvSpPr>
          <p:cNvPr id="32" name="Shape 29"/>
          <p:cNvSpPr/>
          <p:nvPr/>
        </p:nvSpPr>
        <p:spPr>
          <a:xfrm>
            <a:off x="3255264" y="3749040"/>
            <a:ext cx="4075024" cy="512064"/>
          </a:xfrm>
          <a:prstGeom prst="rect">
            <a:avLst/>
          </a:prstGeom>
          <a:solidFill>
            <a:srgbClr val="FFFFFF"/>
          </a:solidFill>
          <a:ln w="12700">
            <a:solidFill>
              <a:srgbClr val="FFFFFF"/>
            </a:solidFill>
            <a:prstDash val="solid"/>
          </a:ln>
        </p:spPr>
      </p:sp>
      <p:sp>
        <p:nvSpPr>
          <p:cNvPr id="33" name="Text 30"/>
          <p:cNvSpPr txBox="1"/>
          <p:nvPr/>
        </p:nvSpPr>
        <p:spPr>
          <a:xfrm>
            <a:off x="3419856" y="3785616"/>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Qué patrones inseguros y qué vulnerabilidades conocidas hay hoy.</a:t>
            </a:r>
            <a:endParaRPr lang="en-US" sz="1020" dirty="0"/>
          </a:p>
        </p:txBody>
      </p:sp>
      <p:sp>
        <p:nvSpPr>
          <p:cNvPr id="34" name="Shape 31"/>
          <p:cNvSpPr/>
          <p:nvPr/>
        </p:nvSpPr>
        <p:spPr>
          <a:xfrm>
            <a:off x="7458304" y="3749040"/>
            <a:ext cx="4075024" cy="512064"/>
          </a:xfrm>
          <a:prstGeom prst="rect">
            <a:avLst/>
          </a:prstGeom>
          <a:solidFill>
            <a:srgbClr val="FFFFFF"/>
          </a:solidFill>
          <a:ln w="12700">
            <a:solidFill>
              <a:srgbClr val="FFFFFF"/>
            </a:solidFill>
            <a:prstDash val="solid"/>
          </a:ln>
        </p:spPr>
      </p:sp>
      <p:sp>
        <p:nvSpPr>
          <p:cNvPr id="35" name="Text 32"/>
          <p:cNvSpPr txBox="1"/>
          <p:nvPr/>
        </p:nvSpPr>
        <p:spPr>
          <a:xfrm>
            <a:off x="7622896" y="3785616"/>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Si un hallazgo es explotable, ni qué se publicará mañana.</a:t>
            </a:r>
            <a:endParaRPr lang="en-US" sz="1020" dirty="0"/>
          </a:p>
        </p:txBody>
      </p:sp>
      <p:sp>
        <p:nvSpPr>
          <p:cNvPr id="36" name="Shape 33"/>
          <p:cNvSpPr/>
          <p:nvPr/>
        </p:nvSpPr>
        <p:spPr>
          <a:xfrm>
            <a:off x="658368" y="4334256"/>
            <a:ext cx="2468880" cy="512064"/>
          </a:xfrm>
          <a:prstGeom prst="rect">
            <a:avLst/>
          </a:prstGeom>
          <a:solidFill>
            <a:srgbClr val="102A43"/>
          </a:solidFill>
          <a:ln w="12700">
            <a:solidFill>
              <a:srgbClr val="102A43"/>
            </a:solidFill>
            <a:prstDash val="solid"/>
          </a:ln>
        </p:spPr>
      </p:sp>
      <p:sp>
        <p:nvSpPr>
          <p:cNvPr id="37" name="Text 34"/>
          <p:cNvSpPr txBox="1"/>
          <p:nvPr/>
        </p:nvSpPr>
        <p:spPr>
          <a:xfrm>
            <a:off x="822960" y="4389120"/>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axe-core</a:t>
            </a:r>
            <a:endParaRPr lang="en-US" sz="1200" dirty="0"/>
          </a:p>
        </p:txBody>
      </p:sp>
      <p:sp>
        <p:nvSpPr>
          <p:cNvPr id="38" name="Shape 35"/>
          <p:cNvSpPr/>
          <p:nvPr/>
        </p:nvSpPr>
        <p:spPr>
          <a:xfrm>
            <a:off x="3255264" y="4334256"/>
            <a:ext cx="4075024" cy="512064"/>
          </a:xfrm>
          <a:prstGeom prst="rect">
            <a:avLst/>
          </a:prstGeom>
          <a:solidFill>
            <a:srgbClr val="FFFFFF"/>
          </a:solidFill>
          <a:ln w="12700">
            <a:solidFill>
              <a:srgbClr val="FFFFFF"/>
            </a:solidFill>
            <a:prstDash val="solid"/>
          </a:ln>
        </p:spPr>
      </p:sp>
      <p:sp>
        <p:nvSpPr>
          <p:cNvPr id="39" name="Text 36"/>
          <p:cNvSpPr txBox="1"/>
          <p:nvPr/>
        </p:nvSpPr>
        <p:spPr>
          <a:xfrm>
            <a:off x="3419856" y="4370832"/>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Qué reglas automáticas no se cumplen en el estado revisado.</a:t>
            </a:r>
            <a:endParaRPr lang="en-US" sz="1020" dirty="0"/>
          </a:p>
        </p:txBody>
      </p:sp>
      <p:sp>
        <p:nvSpPr>
          <p:cNvPr id="40" name="Shape 37"/>
          <p:cNvSpPr/>
          <p:nvPr/>
        </p:nvSpPr>
        <p:spPr>
          <a:xfrm>
            <a:off x="7458304" y="4334256"/>
            <a:ext cx="4075024" cy="512064"/>
          </a:xfrm>
          <a:prstGeom prst="rect">
            <a:avLst/>
          </a:prstGeom>
          <a:solidFill>
            <a:srgbClr val="FFFFFF"/>
          </a:solidFill>
          <a:ln w="12700">
            <a:solidFill>
              <a:srgbClr val="FFFFFF"/>
            </a:solidFill>
            <a:prstDash val="solid"/>
          </a:ln>
        </p:spPr>
      </p:sp>
      <p:sp>
        <p:nvSpPr>
          <p:cNvPr id="41" name="Text 38"/>
          <p:cNvSpPr txBox="1"/>
          <p:nvPr/>
        </p:nvSpPr>
        <p:spPr>
          <a:xfrm>
            <a:off x="7622896" y="4370832"/>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Si los textos significan algo, ni lo que no revisa.</a:t>
            </a:r>
            <a:endParaRPr lang="en-US" sz="1020" dirty="0"/>
          </a:p>
        </p:txBody>
      </p:sp>
      <p:sp>
        <p:nvSpPr>
          <p:cNvPr id="42" name="Shape 39"/>
          <p:cNvSpPr/>
          <p:nvPr/>
        </p:nvSpPr>
        <p:spPr>
          <a:xfrm>
            <a:off x="658368" y="4919472"/>
            <a:ext cx="2468880" cy="512064"/>
          </a:xfrm>
          <a:prstGeom prst="rect">
            <a:avLst/>
          </a:prstGeom>
          <a:solidFill>
            <a:srgbClr val="102A43"/>
          </a:solidFill>
          <a:ln w="12700">
            <a:solidFill>
              <a:srgbClr val="102A43"/>
            </a:solidFill>
            <a:prstDash val="solid"/>
          </a:ln>
        </p:spPr>
      </p:sp>
      <p:sp>
        <p:nvSpPr>
          <p:cNvPr id="43" name="Text 40"/>
          <p:cNvSpPr txBox="1"/>
          <p:nvPr/>
        </p:nvSpPr>
        <p:spPr>
          <a:xfrm>
            <a:off x="822960" y="4974336"/>
            <a:ext cx="219456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ptos" pitchFamily="34" charset="0"/>
                <a:ea typeface="Aptos" pitchFamily="34" charset="-122"/>
                <a:cs typeface="Aptos" pitchFamily="34" charset="-120"/>
              </a:rPr>
              <a:t>Portabilidad</a:t>
            </a:r>
            <a:endParaRPr lang="en-US" sz="1200" dirty="0"/>
          </a:p>
        </p:txBody>
      </p:sp>
      <p:sp>
        <p:nvSpPr>
          <p:cNvPr id="44" name="Shape 41"/>
          <p:cNvSpPr/>
          <p:nvPr/>
        </p:nvSpPr>
        <p:spPr>
          <a:xfrm>
            <a:off x="3255264" y="4919472"/>
            <a:ext cx="4075024" cy="512064"/>
          </a:xfrm>
          <a:prstGeom prst="rect">
            <a:avLst/>
          </a:prstGeom>
          <a:solidFill>
            <a:srgbClr val="FFFFFF"/>
          </a:solidFill>
          <a:ln w="12700">
            <a:solidFill>
              <a:srgbClr val="FFFFFF"/>
            </a:solidFill>
            <a:prstDash val="solid"/>
          </a:ln>
        </p:spPr>
      </p:sp>
      <p:sp>
        <p:nvSpPr>
          <p:cNvPr id="45" name="Text 42"/>
          <p:cNvSpPr txBox="1"/>
          <p:nvPr/>
        </p:nvSpPr>
        <p:spPr>
          <a:xfrm>
            <a:off x="3419856" y="4956048"/>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243B53"/>
                </a:solidFill>
                <a:latin typeface="Aptos" pitchFamily="34" charset="0"/>
                <a:ea typeface="Aptos" pitchFamily="34" charset="-122"/>
                <a:cs typeface="Aptos" pitchFamily="34" charset="-120"/>
              </a:rPr>
              <a:t>Que la suite da lo mismo en cada entorno probado.</a:t>
            </a:r>
            <a:endParaRPr lang="en-US" sz="1020" dirty="0"/>
          </a:p>
        </p:txBody>
      </p:sp>
      <p:sp>
        <p:nvSpPr>
          <p:cNvPr id="46" name="Shape 43"/>
          <p:cNvSpPr/>
          <p:nvPr/>
        </p:nvSpPr>
        <p:spPr>
          <a:xfrm>
            <a:off x="7458304" y="4919472"/>
            <a:ext cx="4075024" cy="512064"/>
          </a:xfrm>
          <a:prstGeom prst="rect">
            <a:avLst/>
          </a:prstGeom>
          <a:solidFill>
            <a:srgbClr val="FFFFFF"/>
          </a:solidFill>
          <a:ln w="12700">
            <a:solidFill>
              <a:srgbClr val="FFFFFF"/>
            </a:solidFill>
            <a:prstDash val="solid"/>
          </a:ln>
        </p:spPr>
      </p:sp>
      <p:sp>
        <p:nvSpPr>
          <p:cNvPr id="47" name="Text 44"/>
          <p:cNvSpPr txBox="1"/>
          <p:nvPr/>
        </p:nvSpPr>
        <p:spPr>
          <a:xfrm>
            <a:off x="7622896" y="4956048"/>
            <a:ext cx="3764128" cy="438912"/>
          </a:xfrm>
          <a:prstGeom prst="rect">
            <a:avLst/>
          </a:prstGeom>
          <a:noFill/>
          <a:ln/>
        </p:spPr>
        <p:txBody>
          <a:bodyPr wrap="square" lIns="0" tIns="0" rIns="0" bIns="0" rtlCol="0" anchor="ctr"/>
          <a:lstStyle/>
          <a:p>
            <a:pPr algn="l" indent="0" marL="0">
              <a:lnSpc>
                <a:spcPct val="104000"/>
              </a:lnSpc>
              <a:buNone/>
            </a:pPr>
            <a:r>
              <a:rPr lang="en-US" sz="1020" dirty="0">
                <a:solidFill>
                  <a:srgbClr val="52606D"/>
                </a:solidFill>
                <a:latin typeface="Aptos" pitchFamily="34" charset="0"/>
                <a:ea typeface="Aptos" pitchFamily="34" charset="-122"/>
                <a:cs typeface="Aptos" pitchFamily="34" charset="-120"/>
              </a:rPr>
              <a:t>Nada sobre los entornos no probados.</a:t>
            </a:r>
            <a:endParaRPr lang="en-US" sz="1020" dirty="0"/>
          </a:p>
        </p:txBody>
      </p:sp>
      <p:sp>
        <p:nvSpPr>
          <p:cNvPr id="48" name="Shape 45"/>
          <p:cNvSpPr/>
          <p:nvPr/>
        </p:nvSpPr>
        <p:spPr>
          <a:xfrm>
            <a:off x="658368" y="5650992"/>
            <a:ext cx="10874959" cy="548640"/>
          </a:xfrm>
          <a:prstGeom prst="rect">
            <a:avLst/>
          </a:prstGeom>
          <a:solidFill>
            <a:srgbClr val="102A43"/>
          </a:solidFill>
          <a:ln w="12700">
            <a:solidFill>
              <a:srgbClr val="102A43"/>
            </a:solidFill>
            <a:prstDash val="solid"/>
          </a:ln>
        </p:spPr>
      </p:sp>
      <p:sp>
        <p:nvSpPr>
          <p:cNvPr id="49" name="Text 4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240" b="1" dirty="0">
                <a:solidFill>
                  <a:srgbClr val="FFFFFF"/>
                </a:solidFill>
                <a:latin typeface="Aptos" pitchFamily="34" charset="0"/>
                <a:ea typeface="Aptos" pitchFamily="34" charset="-122"/>
                <a:cs typeface="Aptos" pitchFamily="34" charset="-120"/>
              </a:rPr>
              <a:t>La columna derecha no son defectos: es lo que una persona tiene que completar.</a:t>
            </a:r>
            <a:endParaRPr lang="en-US" sz="124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hoy se puede sostener</a:t>
            </a:r>
            <a:endParaRPr lang="en-US" sz="3000" dirty="0"/>
          </a:p>
        </p:txBody>
      </p:sp>
      <p:sp>
        <p:nvSpPr>
          <p:cNvPr id="10" name="Shape 7"/>
          <p:cNvSpPr/>
          <p:nvPr/>
        </p:nvSpPr>
        <p:spPr>
          <a:xfrm>
            <a:off x="658368" y="1737360"/>
            <a:ext cx="6766560" cy="822960"/>
          </a:xfrm>
          <a:prstGeom prst="rect">
            <a:avLst/>
          </a:prstGeom>
          <a:solidFill>
            <a:srgbClr val="FFFFFF"/>
          </a:solidFill>
          <a:ln w="12700">
            <a:solidFill>
              <a:srgbClr val="FFFFFF"/>
            </a:solidFill>
            <a:prstDash val="solid"/>
          </a:ln>
        </p:spPr>
      </p:sp>
      <p:sp>
        <p:nvSpPr>
          <p:cNvPr id="11" name="Shape 8"/>
          <p:cNvSpPr/>
          <p:nvPr/>
        </p:nvSpPr>
        <p:spPr>
          <a:xfrm>
            <a:off x="658368" y="1737360"/>
            <a:ext cx="54864" cy="822960"/>
          </a:xfrm>
          <a:prstGeom prst="rect">
            <a:avLst/>
          </a:prstGeom>
          <a:solidFill>
            <a:srgbClr val="2E7D4F"/>
          </a:solidFill>
          <a:ln w="12700">
            <a:solidFill>
              <a:srgbClr val="2E7D4F"/>
            </a:solidFill>
            <a:prstDash val="solid"/>
          </a:ln>
        </p:spPr>
      </p:sp>
      <p:sp>
        <p:nvSpPr>
          <p:cNvPr id="12" name="Text 9"/>
          <p:cNvSpPr txBox="1"/>
          <p:nvPr/>
        </p:nvSpPr>
        <p:spPr>
          <a:xfrm>
            <a:off x="859536" y="1865376"/>
            <a:ext cx="365760" cy="548640"/>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1</a:t>
            </a:r>
            <a:endParaRPr lang="en-US" sz="2200" dirty="0"/>
          </a:p>
        </p:txBody>
      </p:sp>
      <p:sp>
        <p:nvSpPr>
          <p:cNvPr id="13" name="Text 10"/>
          <p:cNvSpPr txBox="1"/>
          <p:nvPr/>
        </p:nvSpPr>
        <p:spPr>
          <a:xfrm>
            <a:off x="1335024" y="1792224"/>
            <a:ext cx="5888736" cy="713232"/>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Con cien personas a la vez responde dentro del umbral fijado antes de medir, y se sabe dónde deja de hacerlo en esta máquina.</a:t>
            </a:r>
            <a:endParaRPr lang="en-US" sz="1120" dirty="0"/>
          </a:p>
        </p:txBody>
      </p:sp>
      <p:sp>
        <p:nvSpPr>
          <p:cNvPr id="14" name="Shape 11"/>
          <p:cNvSpPr/>
          <p:nvPr/>
        </p:nvSpPr>
        <p:spPr>
          <a:xfrm>
            <a:off x="658368" y="2651760"/>
            <a:ext cx="6766560" cy="822960"/>
          </a:xfrm>
          <a:prstGeom prst="rect">
            <a:avLst/>
          </a:prstGeom>
          <a:solidFill>
            <a:srgbClr val="FFFFFF"/>
          </a:solidFill>
          <a:ln w="12700">
            <a:solidFill>
              <a:srgbClr val="FFFFFF"/>
            </a:solidFill>
            <a:prstDash val="solid"/>
          </a:ln>
        </p:spPr>
      </p:sp>
      <p:sp>
        <p:nvSpPr>
          <p:cNvPr id="15" name="Shape 12"/>
          <p:cNvSpPr/>
          <p:nvPr/>
        </p:nvSpPr>
        <p:spPr>
          <a:xfrm>
            <a:off x="658368" y="2651760"/>
            <a:ext cx="54864" cy="822960"/>
          </a:xfrm>
          <a:prstGeom prst="rect">
            <a:avLst/>
          </a:prstGeom>
          <a:solidFill>
            <a:srgbClr val="2E7D4F"/>
          </a:solidFill>
          <a:ln w="12700">
            <a:solidFill>
              <a:srgbClr val="2E7D4F"/>
            </a:solidFill>
            <a:prstDash val="solid"/>
          </a:ln>
        </p:spPr>
      </p:sp>
      <p:sp>
        <p:nvSpPr>
          <p:cNvPr id="16" name="Text 13"/>
          <p:cNvSpPr txBox="1"/>
          <p:nvPr/>
        </p:nvSpPr>
        <p:spPr>
          <a:xfrm>
            <a:off x="859536" y="2779776"/>
            <a:ext cx="365760" cy="548640"/>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2</a:t>
            </a:r>
            <a:endParaRPr lang="en-US" sz="2200" dirty="0"/>
          </a:p>
        </p:txBody>
      </p:sp>
      <p:sp>
        <p:nvSpPr>
          <p:cNvPr id="17" name="Text 14"/>
          <p:cNvSpPr txBox="1"/>
          <p:nvPr/>
        </p:nvSpPr>
        <p:spPr>
          <a:xfrm>
            <a:off x="1335024" y="2706624"/>
            <a:ext cx="5888736" cy="713232"/>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Dos reservas simultáneas del mismo bloque ya no se aceptan las dos: una prueba falló diez de diez antes de la corrección.</a:t>
            </a:r>
            <a:endParaRPr lang="en-US" sz="1120" dirty="0"/>
          </a:p>
        </p:txBody>
      </p:sp>
      <p:sp>
        <p:nvSpPr>
          <p:cNvPr id="18" name="Shape 15"/>
          <p:cNvSpPr/>
          <p:nvPr/>
        </p:nvSpPr>
        <p:spPr>
          <a:xfrm>
            <a:off x="658368" y="3566160"/>
            <a:ext cx="6766560" cy="822960"/>
          </a:xfrm>
          <a:prstGeom prst="rect">
            <a:avLst/>
          </a:prstGeom>
          <a:solidFill>
            <a:srgbClr val="FFFFFF"/>
          </a:solidFill>
          <a:ln w="12700">
            <a:solidFill>
              <a:srgbClr val="FFFFFF"/>
            </a:solidFill>
            <a:prstDash val="solid"/>
          </a:ln>
        </p:spPr>
      </p:sp>
      <p:sp>
        <p:nvSpPr>
          <p:cNvPr id="19" name="Shape 16"/>
          <p:cNvSpPr/>
          <p:nvPr/>
        </p:nvSpPr>
        <p:spPr>
          <a:xfrm>
            <a:off x="658368" y="3566160"/>
            <a:ext cx="54864" cy="822960"/>
          </a:xfrm>
          <a:prstGeom prst="rect">
            <a:avLst/>
          </a:prstGeom>
          <a:solidFill>
            <a:srgbClr val="2E7D4F"/>
          </a:solidFill>
          <a:ln w="12700">
            <a:solidFill>
              <a:srgbClr val="2E7D4F"/>
            </a:solidFill>
            <a:prstDash val="solid"/>
          </a:ln>
        </p:spPr>
      </p:sp>
      <p:sp>
        <p:nvSpPr>
          <p:cNvPr id="20" name="Text 17"/>
          <p:cNvSpPr txBox="1"/>
          <p:nvPr/>
        </p:nvSpPr>
        <p:spPr>
          <a:xfrm>
            <a:off x="859536" y="3694176"/>
            <a:ext cx="365760" cy="548640"/>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3</a:t>
            </a:r>
            <a:endParaRPr lang="en-US" sz="2200" dirty="0"/>
          </a:p>
        </p:txBody>
      </p:sp>
      <p:sp>
        <p:nvSpPr>
          <p:cNvPr id="21" name="Text 18"/>
          <p:cNvSpPr txBox="1"/>
          <p:nvPr/>
        </p:nvSpPr>
        <p:spPr>
          <a:xfrm>
            <a:off x="1335024" y="3621024"/>
            <a:ext cx="5888736" cy="713232"/>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Se sabe qué ataque prospera hoy, y hay una prueba que lo muestra.</a:t>
            </a:r>
            <a:endParaRPr lang="en-US" sz="1120" dirty="0"/>
          </a:p>
        </p:txBody>
      </p:sp>
      <p:sp>
        <p:nvSpPr>
          <p:cNvPr id="22" name="Shape 19"/>
          <p:cNvSpPr/>
          <p:nvPr/>
        </p:nvSpPr>
        <p:spPr>
          <a:xfrm>
            <a:off x="658368" y="4480560"/>
            <a:ext cx="6766560" cy="822960"/>
          </a:xfrm>
          <a:prstGeom prst="rect">
            <a:avLst/>
          </a:prstGeom>
          <a:solidFill>
            <a:srgbClr val="FFFFFF"/>
          </a:solidFill>
          <a:ln w="12700">
            <a:solidFill>
              <a:srgbClr val="FFFFFF"/>
            </a:solidFill>
            <a:prstDash val="solid"/>
          </a:ln>
        </p:spPr>
      </p:sp>
      <p:sp>
        <p:nvSpPr>
          <p:cNvPr id="23" name="Shape 20"/>
          <p:cNvSpPr/>
          <p:nvPr/>
        </p:nvSpPr>
        <p:spPr>
          <a:xfrm>
            <a:off x="658368" y="4480560"/>
            <a:ext cx="54864" cy="822960"/>
          </a:xfrm>
          <a:prstGeom prst="rect">
            <a:avLst/>
          </a:prstGeom>
          <a:solidFill>
            <a:srgbClr val="2E7D4F"/>
          </a:solidFill>
          <a:ln w="12700">
            <a:solidFill>
              <a:srgbClr val="2E7D4F"/>
            </a:solidFill>
            <a:prstDash val="solid"/>
          </a:ln>
        </p:spPr>
      </p:sp>
      <p:sp>
        <p:nvSpPr>
          <p:cNvPr id="24" name="Text 21"/>
          <p:cNvSpPr txBox="1"/>
          <p:nvPr/>
        </p:nvSpPr>
        <p:spPr>
          <a:xfrm>
            <a:off x="859536" y="4608576"/>
            <a:ext cx="365760" cy="548640"/>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4</a:t>
            </a:r>
            <a:endParaRPr lang="en-US" sz="2200" dirty="0"/>
          </a:p>
        </p:txBody>
      </p:sp>
      <p:sp>
        <p:nvSpPr>
          <p:cNvPr id="25" name="Text 22"/>
          <p:cNvSpPr txBox="1"/>
          <p:nvPr/>
        </p:nvSpPr>
        <p:spPr>
          <a:xfrm>
            <a:off x="1335024" y="4535424"/>
            <a:ext cx="5888736" cy="713232"/>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La interfaz cumple las reglas automáticas en el estado que se ve a media mañana, se usa solo con teclado, y funciona igual en tres navegadores y dos versiones de Python.</a:t>
            </a:r>
            <a:endParaRPr lang="en-US" sz="1120" dirty="0"/>
          </a:p>
        </p:txBody>
      </p:sp>
      <p:sp>
        <p:nvSpPr>
          <p:cNvPr id="26" name="Shape 23"/>
          <p:cNvSpPr/>
          <p:nvPr/>
        </p:nvSpPr>
        <p:spPr>
          <a:xfrm>
            <a:off x="7699248" y="1737360"/>
            <a:ext cx="3834079" cy="3566160"/>
          </a:xfrm>
          <a:prstGeom prst="rect">
            <a:avLst/>
          </a:prstGeom>
          <a:solidFill>
            <a:srgbClr val="1D3A57"/>
          </a:solidFill>
          <a:ln w="12700">
            <a:solidFill>
              <a:srgbClr val="1D3A57"/>
            </a:solidFill>
            <a:prstDash val="solid"/>
          </a:ln>
        </p:spPr>
      </p:sp>
      <p:sp>
        <p:nvSpPr>
          <p:cNvPr id="27" name="Text 24"/>
          <p:cNvSpPr txBox="1"/>
          <p:nvPr/>
        </p:nvSpPr>
        <p:spPr>
          <a:xfrm>
            <a:off x="7973568" y="1901952"/>
            <a:ext cx="3285439"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LO QUE SIGUE SIN PODER AFIRMARSE</a:t>
            </a:r>
            <a:endParaRPr lang="en-US" sz="960" dirty="0"/>
          </a:p>
        </p:txBody>
      </p:sp>
      <p:sp>
        <p:nvSpPr>
          <p:cNvPr id="28" name="Text 25"/>
          <p:cNvSpPr txBox="1"/>
          <p:nvPr/>
        </p:nvSpPr>
        <p:spPr>
          <a:xfrm>
            <a:off x="7973568" y="2176272"/>
            <a:ext cx="3285439" cy="731520"/>
          </a:xfrm>
          <a:prstGeom prst="rect">
            <a:avLst/>
          </a:prstGeom>
          <a:noFill/>
          <a:ln/>
        </p:spPr>
        <p:txBody>
          <a:bodyPr wrap="square" lIns="0" tIns="0" rIns="0" bIns="0" rtlCol="0" anchor="t"/>
          <a:lstStyle/>
          <a:p>
            <a:pPr algn="l" indent="0" marL="0">
              <a:lnSpc>
                <a:spcPct val="106000"/>
              </a:lnSpc>
              <a:buNone/>
            </a:pPr>
            <a:r>
              <a:rPr lang="en-US" sz="1700" b="1" dirty="0">
                <a:solidFill>
                  <a:srgbClr val="FFFFFF"/>
                </a:solidFill>
                <a:latin typeface="Aptos Display" pitchFamily="34" charset="0"/>
                <a:ea typeface="Aptos Display" pitchFamily="34" charset="-122"/>
                <a:cs typeface="Aptos Display" pitchFamily="34" charset="-120"/>
              </a:rPr>
              <a:t>Cuál de todo esto había que atender primero.</a:t>
            </a:r>
            <a:endParaRPr lang="en-US" sz="1700" dirty="0"/>
          </a:p>
        </p:txBody>
      </p:sp>
      <p:sp>
        <p:nvSpPr>
          <p:cNvPr id="29" name="Text 26"/>
          <p:cNvSpPr txBox="1"/>
          <p:nvPr/>
        </p:nvSpPr>
        <p:spPr>
          <a:xfrm>
            <a:off x="7973568" y="3017520"/>
            <a:ext cx="3285439" cy="201168"/>
          </a:xfrm>
          <a:prstGeom prst="rect">
            <a:avLst/>
          </a:prstGeom>
          <a:noFill/>
          <a:ln/>
        </p:spPr>
        <p:txBody>
          <a:bodyPr wrap="square" lIns="0" tIns="0" rIns="0" bIns="0" rtlCol="0" anchor="t"/>
          <a:lstStyle/>
          <a:p>
            <a:pPr algn="l" indent="0" marL="0">
              <a:buNone/>
            </a:pPr>
            <a:r>
              <a:rPr lang="en-US" sz="900" b="1" spc="100" kern="0" dirty="0">
                <a:solidFill>
                  <a:srgbClr val="E0BC5A"/>
                </a:solidFill>
                <a:latin typeface="Aptos" pitchFamily="34" charset="0"/>
                <a:ea typeface="Aptos" pitchFamily="34" charset="-122"/>
                <a:cs typeface="Aptos" pitchFamily="34" charset="-120"/>
              </a:rPr>
              <a:t>EN ROJO</a:t>
            </a:r>
            <a:endParaRPr lang="en-US" sz="900" dirty="0"/>
          </a:p>
        </p:txBody>
      </p:sp>
      <p:sp>
        <p:nvSpPr>
          <p:cNvPr id="30" name="Text 27"/>
          <p:cNvSpPr txBox="1"/>
          <p:nvPr/>
        </p:nvSpPr>
        <p:spPr>
          <a:xfrm>
            <a:off x="7973568" y="3236976"/>
            <a:ext cx="3285439" cy="457200"/>
          </a:xfrm>
          <a:prstGeom prst="rect">
            <a:avLst/>
          </a:prstGeom>
          <a:noFill/>
          <a:ln/>
        </p:spPr>
        <p:txBody>
          <a:bodyPr wrap="square" lIns="0" tIns="0" rIns="0" bIns="0" rtlCol="0" anchor="t"/>
          <a:lstStyle/>
          <a:p>
            <a:pPr algn="l" indent="0" marL="0">
              <a:lnSpc>
                <a:spcPct val="106000"/>
              </a:lnSpc>
              <a:buNone/>
            </a:pPr>
            <a:r>
              <a:rPr lang="en-US" sz="1120" dirty="0">
                <a:solidFill>
                  <a:srgbClr val="EADFD0"/>
                </a:solidFill>
                <a:latin typeface="Aptos" pitchFamily="34" charset="0"/>
                <a:ea typeface="Aptos" pitchFamily="34" charset="-122"/>
                <a:cs typeface="Aptos" pitchFamily="34" charset="-120"/>
              </a:rPr>
              <a:t>La suplantación, el [object Object] y la pantalla angosta.</a:t>
            </a:r>
            <a:endParaRPr lang="en-US" sz="1120" dirty="0"/>
          </a:p>
        </p:txBody>
      </p:sp>
      <p:sp>
        <p:nvSpPr>
          <p:cNvPr id="31" name="Text 28"/>
          <p:cNvSpPr txBox="1"/>
          <p:nvPr/>
        </p:nvSpPr>
        <p:spPr>
          <a:xfrm>
            <a:off x="7973568" y="3803904"/>
            <a:ext cx="3285439" cy="201168"/>
          </a:xfrm>
          <a:prstGeom prst="rect">
            <a:avLst/>
          </a:prstGeom>
          <a:noFill/>
          <a:ln/>
        </p:spPr>
        <p:txBody>
          <a:bodyPr wrap="square" lIns="0" tIns="0" rIns="0" bIns="0" rtlCol="0" anchor="t"/>
          <a:lstStyle/>
          <a:p>
            <a:pPr algn="l" indent="0" marL="0">
              <a:buNone/>
            </a:pPr>
            <a:r>
              <a:rPr lang="en-US" sz="900" b="1" spc="100" kern="0" dirty="0">
                <a:solidFill>
                  <a:srgbClr val="E0BC5A"/>
                </a:solidFill>
                <a:latin typeface="Aptos" pitchFamily="34" charset="0"/>
                <a:ea typeface="Aptos" pitchFamily="34" charset="-122"/>
                <a:cs typeface="Aptos" pitchFamily="34" charset="-120"/>
              </a:rPr>
              <a:t>ESPERANDO UN REQUISITO</a:t>
            </a:r>
            <a:endParaRPr lang="en-US" sz="900" dirty="0"/>
          </a:p>
        </p:txBody>
      </p:sp>
      <p:sp>
        <p:nvSpPr>
          <p:cNvPr id="32" name="Text 29"/>
          <p:cNvSpPr txBox="1"/>
          <p:nvPr/>
        </p:nvSpPr>
        <p:spPr>
          <a:xfrm>
            <a:off x="7973568" y="4023360"/>
            <a:ext cx="3285439" cy="640080"/>
          </a:xfrm>
          <a:prstGeom prst="rect">
            <a:avLst/>
          </a:prstGeom>
          <a:noFill/>
          <a:ln/>
        </p:spPr>
        <p:txBody>
          <a:bodyPr wrap="square" lIns="0" tIns="0" rIns="0" bIns="0" rtlCol="0" anchor="t"/>
          <a:lstStyle/>
          <a:p>
            <a:pPr algn="l" indent="0" marL="0">
              <a:lnSpc>
                <a:spcPct val="106000"/>
              </a:lnSpc>
              <a:buNone/>
            </a:pPr>
            <a:r>
              <a:rPr lang="en-US" sz="1120" dirty="0">
                <a:solidFill>
                  <a:srgbClr val="EADFD0"/>
                </a:solidFill>
                <a:latin typeface="Aptos" pitchFamily="34" charset="0"/>
                <a:ea typeface="Aptos" pitchFamily="34" charset="-122"/>
                <a:cs typeface="Aptos" pitchFamily="34" charset="-120"/>
              </a:rPr>
              <a:t>La fecha de las reservas, el comprobante con datos completos y el límite de intentos.</a:t>
            </a:r>
            <a:endParaRPr lang="en-US" sz="1120" dirty="0"/>
          </a:p>
        </p:txBody>
      </p:sp>
      <p:sp>
        <p:nvSpPr>
          <p:cNvPr id="33" name="Text 30"/>
          <p:cNvSpPr txBox="1"/>
          <p:nvPr/>
        </p:nvSpPr>
        <p:spPr>
          <a:xfrm>
            <a:off x="7973568" y="4736592"/>
            <a:ext cx="3285439" cy="365760"/>
          </a:xfrm>
          <a:prstGeom prst="rect">
            <a:avLst/>
          </a:prstGeom>
          <a:noFill/>
          <a:ln/>
        </p:spPr>
        <p:txBody>
          <a:bodyPr wrap="square" lIns="0" tIns="0" rIns="0" bIns="0" rtlCol="0" anchor="t"/>
          <a:lstStyle/>
          <a:p>
            <a:pPr algn="l" indent="0" marL="0">
              <a:buNone/>
            </a:pPr>
            <a:r>
              <a:rPr lang="en-US" sz="1200" b="1" dirty="0">
                <a:solidFill>
                  <a:srgbClr val="FFFFFF"/>
                </a:solidFill>
                <a:latin typeface="Aptos" pitchFamily="34" charset="0"/>
                <a:ea typeface="Aptos" pitchFamily="34" charset="-122"/>
                <a:cs typeface="Aptos" pitchFamily="34" charset="-120"/>
              </a:rPr>
              <a:t>Nadie ha decidido en qué orden.</a:t>
            </a:r>
            <a:endParaRPr lang="en-US" sz="120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 lo que la mañana dejó defendible sobre la persona, hoy se agrega cómo se comporta el sistema.</a:t>
            </a:r>
            <a:endParaRPr lang="en-US" sz="13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2\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MAÑANA · 08:30 · CLASE 14</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Cuánto de todo esto vale la pena probar</a:t>
            </a:r>
            <a:endParaRPr lang="en-US" sz="2800" dirty="0"/>
          </a:p>
        </p:txBody>
      </p:sp>
      <p:sp>
        <p:nvSpPr>
          <p:cNvPr id="10" name="Text 7"/>
          <p:cNvSpPr txBox="1"/>
          <p:nvPr/>
        </p:nvSpPr>
        <p:spPr>
          <a:xfrm>
            <a:off x="658368" y="1737360"/>
            <a:ext cx="10874959" cy="512064"/>
          </a:xfrm>
          <a:prstGeom prst="rect">
            <a:avLst/>
          </a:prstGeom>
          <a:noFill/>
          <a:ln/>
        </p:spPr>
        <p:txBody>
          <a:bodyPr wrap="square" lIns="0" tIns="0" rIns="0" bIns="0" rtlCol="0" anchor="t"/>
          <a:lstStyle/>
          <a:p>
            <a:pPr algn="l" indent="0" marL="0">
              <a:lnSpc>
                <a:spcPct val="112000"/>
              </a:lnSpc>
              <a:buNone/>
            </a:pPr>
            <a:r>
              <a:rPr lang="en-US" sz="1260" dirty="0">
                <a:solidFill>
                  <a:srgbClr val="52606D"/>
                </a:solidFill>
                <a:latin typeface="Aptos" pitchFamily="34" charset="0"/>
                <a:ea typeface="Aptos" pitchFamily="34" charset="-122"/>
                <a:cs typeface="Aptos" pitchFamily="34" charset="-120"/>
              </a:rPr>
              <a:t>La próxima sesión se ocupa del plan de pruebas: el documento donde se declara qué se prueba, qué queda fuera y con qué criterio se reparte el esfuerzo.</a:t>
            </a:r>
            <a:endParaRPr lang="en-US" sz="1260" dirty="0"/>
          </a:p>
        </p:txBody>
      </p:sp>
      <p:sp>
        <p:nvSpPr>
          <p:cNvPr id="11" name="Shape 8"/>
          <p:cNvSpPr/>
          <p:nvPr/>
        </p:nvSpPr>
        <p:spPr>
          <a:xfrm>
            <a:off x="658368" y="2432304"/>
            <a:ext cx="3503066" cy="548640"/>
          </a:xfrm>
          <a:prstGeom prst="rect">
            <a:avLst/>
          </a:prstGeom>
          <a:solidFill>
            <a:srgbClr val="FFFFFF"/>
          </a:solidFill>
          <a:ln w="12700">
            <a:solidFill>
              <a:srgbClr val="FFFFFF"/>
            </a:solidFill>
            <a:prstDash val="solid"/>
          </a:ln>
        </p:spPr>
      </p:sp>
      <p:sp>
        <p:nvSpPr>
          <p:cNvPr id="12" name="Shape 9"/>
          <p:cNvSpPr/>
          <p:nvPr/>
        </p:nvSpPr>
        <p:spPr>
          <a:xfrm>
            <a:off x="658368" y="2432304"/>
            <a:ext cx="54864" cy="548640"/>
          </a:xfrm>
          <a:prstGeom prst="rect">
            <a:avLst/>
          </a:prstGeom>
          <a:solidFill>
            <a:srgbClr val="B3181E"/>
          </a:solidFill>
          <a:ln w="12700">
            <a:solidFill>
              <a:srgbClr val="B3181E"/>
            </a:solidFill>
            <a:prstDash val="solid"/>
          </a:ln>
        </p:spPr>
      </p:sp>
      <p:sp>
        <p:nvSpPr>
          <p:cNvPr id="13" name="Text 10"/>
          <p:cNvSpPr txBox="1"/>
          <p:nvPr/>
        </p:nvSpPr>
        <p:spPr>
          <a:xfrm>
            <a:off x="877824" y="2505456"/>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La suplantación</a:t>
            </a:r>
            <a:endParaRPr lang="en-US" sz="1200" dirty="0"/>
          </a:p>
        </p:txBody>
      </p:sp>
      <p:sp>
        <p:nvSpPr>
          <p:cNvPr id="14" name="Shape 11"/>
          <p:cNvSpPr/>
          <p:nvPr/>
        </p:nvSpPr>
        <p:spPr>
          <a:xfrm>
            <a:off x="4344314" y="2432304"/>
            <a:ext cx="3503066" cy="548640"/>
          </a:xfrm>
          <a:prstGeom prst="rect">
            <a:avLst/>
          </a:prstGeom>
          <a:solidFill>
            <a:srgbClr val="FFFFFF"/>
          </a:solidFill>
          <a:ln w="12700">
            <a:solidFill>
              <a:srgbClr val="FFFFFF"/>
            </a:solidFill>
            <a:prstDash val="solid"/>
          </a:ln>
        </p:spPr>
      </p:sp>
      <p:sp>
        <p:nvSpPr>
          <p:cNvPr id="15" name="Shape 12"/>
          <p:cNvSpPr/>
          <p:nvPr/>
        </p:nvSpPr>
        <p:spPr>
          <a:xfrm>
            <a:off x="4344314" y="2432304"/>
            <a:ext cx="54864" cy="548640"/>
          </a:xfrm>
          <a:prstGeom prst="rect">
            <a:avLst/>
          </a:prstGeom>
          <a:solidFill>
            <a:srgbClr val="2E7D4F"/>
          </a:solidFill>
          <a:ln w="12700">
            <a:solidFill>
              <a:srgbClr val="2E7D4F"/>
            </a:solidFill>
            <a:prstDash val="solid"/>
          </a:ln>
        </p:spPr>
      </p:sp>
      <p:sp>
        <p:nvSpPr>
          <p:cNvPr id="16" name="Text 13"/>
          <p:cNvSpPr txBox="1"/>
          <p:nvPr/>
        </p:nvSpPr>
        <p:spPr>
          <a:xfrm>
            <a:off x="4563770" y="2505456"/>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La condición de carrera, ya corregida</a:t>
            </a:r>
            <a:endParaRPr lang="en-US" sz="1200" dirty="0"/>
          </a:p>
        </p:txBody>
      </p:sp>
      <p:sp>
        <p:nvSpPr>
          <p:cNvPr id="17" name="Shape 14"/>
          <p:cNvSpPr/>
          <p:nvPr/>
        </p:nvSpPr>
        <p:spPr>
          <a:xfrm>
            <a:off x="8030261" y="2432304"/>
            <a:ext cx="3503066" cy="548640"/>
          </a:xfrm>
          <a:prstGeom prst="rect">
            <a:avLst/>
          </a:prstGeom>
          <a:solidFill>
            <a:srgbClr val="FFFFFF"/>
          </a:solidFill>
          <a:ln w="12700">
            <a:solidFill>
              <a:srgbClr val="FFFFFF"/>
            </a:solidFill>
            <a:prstDash val="solid"/>
          </a:ln>
        </p:spPr>
      </p:sp>
      <p:sp>
        <p:nvSpPr>
          <p:cNvPr id="18" name="Shape 15"/>
          <p:cNvSpPr/>
          <p:nvPr/>
        </p:nvSpPr>
        <p:spPr>
          <a:xfrm>
            <a:off x="8030261" y="2432304"/>
            <a:ext cx="54864" cy="548640"/>
          </a:xfrm>
          <a:prstGeom prst="rect">
            <a:avLst/>
          </a:prstGeom>
          <a:solidFill>
            <a:srgbClr val="B3181E"/>
          </a:solidFill>
          <a:ln w="12700">
            <a:solidFill>
              <a:srgbClr val="B3181E"/>
            </a:solidFill>
            <a:prstDash val="solid"/>
          </a:ln>
        </p:spPr>
      </p:sp>
      <p:sp>
        <p:nvSpPr>
          <p:cNvPr id="19" name="Text 16"/>
          <p:cNvSpPr txBox="1"/>
          <p:nvPr/>
        </p:nvSpPr>
        <p:spPr>
          <a:xfrm>
            <a:off x="8249717" y="2505456"/>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El RUT sin normalizar</a:t>
            </a:r>
            <a:endParaRPr lang="en-US" sz="1200" dirty="0"/>
          </a:p>
        </p:txBody>
      </p:sp>
      <p:sp>
        <p:nvSpPr>
          <p:cNvPr id="20" name="Shape 17"/>
          <p:cNvSpPr/>
          <p:nvPr/>
        </p:nvSpPr>
        <p:spPr>
          <a:xfrm>
            <a:off x="658368" y="3090672"/>
            <a:ext cx="3503066" cy="548640"/>
          </a:xfrm>
          <a:prstGeom prst="rect">
            <a:avLst/>
          </a:prstGeom>
          <a:solidFill>
            <a:srgbClr val="FFFFFF"/>
          </a:solidFill>
          <a:ln w="12700">
            <a:solidFill>
              <a:srgbClr val="FFFFFF"/>
            </a:solidFill>
            <a:prstDash val="solid"/>
          </a:ln>
        </p:spPr>
      </p:sp>
      <p:sp>
        <p:nvSpPr>
          <p:cNvPr id="21" name="Shape 18"/>
          <p:cNvSpPr/>
          <p:nvPr/>
        </p:nvSpPr>
        <p:spPr>
          <a:xfrm>
            <a:off x="658368" y="3090672"/>
            <a:ext cx="54864" cy="548640"/>
          </a:xfrm>
          <a:prstGeom prst="rect">
            <a:avLst/>
          </a:prstGeom>
          <a:solidFill>
            <a:srgbClr val="2E7D4F"/>
          </a:solidFill>
          <a:ln w="12700">
            <a:solidFill>
              <a:srgbClr val="2E7D4F"/>
            </a:solidFill>
            <a:prstDash val="solid"/>
          </a:ln>
        </p:spPr>
      </p:sp>
      <p:sp>
        <p:nvSpPr>
          <p:cNvPr id="22" name="Text 19"/>
          <p:cNvSpPr txBox="1"/>
          <p:nvPr/>
        </p:nvSpPr>
        <p:spPr>
          <a:xfrm>
            <a:off x="877824" y="3163824"/>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El botón bloqueado, ya corregido</a:t>
            </a:r>
            <a:endParaRPr lang="en-US" sz="1200" dirty="0"/>
          </a:p>
        </p:txBody>
      </p:sp>
      <p:sp>
        <p:nvSpPr>
          <p:cNvPr id="23" name="Shape 20"/>
          <p:cNvSpPr/>
          <p:nvPr/>
        </p:nvSpPr>
        <p:spPr>
          <a:xfrm>
            <a:off x="4344314" y="3090672"/>
            <a:ext cx="3503066" cy="548640"/>
          </a:xfrm>
          <a:prstGeom prst="rect">
            <a:avLst/>
          </a:prstGeom>
          <a:solidFill>
            <a:srgbClr val="FFFFFF"/>
          </a:solidFill>
          <a:ln w="12700">
            <a:solidFill>
              <a:srgbClr val="FFFFFF"/>
            </a:solidFill>
            <a:prstDash val="solid"/>
          </a:ln>
        </p:spPr>
      </p:sp>
      <p:sp>
        <p:nvSpPr>
          <p:cNvPr id="24" name="Shape 21"/>
          <p:cNvSpPr/>
          <p:nvPr/>
        </p:nvSpPr>
        <p:spPr>
          <a:xfrm>
            <a:off x="4344314" y="3090672"/>
            <a:ext cx="54864" cy="548640"/>
          </a:xfrm>
          <a:prstGeom prst="rect">
            <a:avLst/>
          </a:prstGeom>
          <a:solidFill>
            <a:srgbClr val="B3181E"/>
          </a:solidFill>
          <a:ln w="12700">
            <a:solidFill>
              <a:srgbClr val="B3181E"/>
            </a:solidFill>
            <a:prstDash val="solid"/>
          </a:ln>
        </p:spPr>
      </p:sp>
      <p:sp>
        <p:nvSpPr>
          <p:cNvPr id="25" name="Text 22"/>
          <p:cNvSpPr txBox="1"/>
          <p:nvPr/>
        </p:nvSpPr>
        <p:spPr>
          <a:xfrm>
            <a:off x="4563770" y="3163824"/>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La pantalla angosta</a:t>
            </a:r>
            <a:endParaRPr lang="en-US" sz="1200" dirty="0"/>
          </a:p>
        </p:txBody>
      </p:sp>
      <p:sp>
        <p:nvSpPr>
          <p:cNvPr id="26" name="Shape 23"/>
          <p:cNvSpPr/>
          <p:nvPr/>
        </p:nvSpPr>
        <p:spPr>
          <a:xfrm>
            <a:off x="8030261" y="3090672"/>
            <a:ext cx="3503066" cy="548640"/>
          </a:xfrm>
          <a:prstGeom prst="rect">
            <a:avLst/>
          </a:prstGeom>
          <a:solidFill>
            <a:srgbClr val="FFFFFF"/>
          </a:solidFill>
          <a:ln w="12700">
            <a:solidFill>
              <a:srgbClr val="FFFFFF"/>
            </a:solidFill>
            <a:prstDash val="solid"/>
          </a:ln>
        </p:spPr>
      </p:sp>
      <p:sp>
        <p:nvSpPr>
          <p:cNvPr id="27" name="Shape 24"/>
          <p:cNvSpPr/>
          <p:nvPr/>
        </p:nvSpPr>
        <p:spPr>
          <a:xfrm>
            <a:off x="8030261" y="3090672"/>
            <a:ext cx="54864" cy="548640"/>
          </a:xfrm>
          <a:prstGeom prst="rect">
            <a:avLst/>
          </a:prstGeom>
          <a:solidFill>
            <a:srgbClr val="8A6A12"/>
          </a:solidFill>
          <a:ln w="12700">
            <a:solidFill>
              <a:srgbClr val="8A6A12"/>
            </a:solidFill>
            <a:prstDash val="solid"/>
          </a:ln>
        </p:spPr>
      </p:sp>
      <p:sp>
        <p:nvSpPr>
          <p:cNvPr id="28" name="Text 25"/>
          <p:cNvSpPr txBox="1"/>
          <p:nvPr/>
        </p:nvSpPr>
        <p:spPr>
          <a:xfrm>
            <a:off x="8249717" y="3163824"/>
            <a:ext cx="3137306" cy="402336"/>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Los 28 hallazgos del agente</a:t>
            </a:r>
            <a:endParaRPr lang="en-US" sz="1200" dirty="0"/>
          </a:p>
        </p:txBody>
      </p:sp>
      <p:sp>
        <p:nvSpPr>
          <p:cNvPr id="29" name="Shape 26"/>
          <p:cNvSpPr/>
          <p:nvPr/>
        </p:nvSpPr>
        <p:spPr>
          <a:xfrm>
            <a:off x="658368" y="3913632"/>
            <a:ext cx="10874959" cy="1499616"/>
          </a:xfrm>
          <a:prstGeom prst="rect">
            <a:avLst/>
          </a:prstGeom>
          <a:solidFill>
            <a:srgbClr val="1D3A57"/>
          </a:solidFill>
          <a:ln w="12700">
            <a:solidFill>
              <a:srgbClr val="1D3A57"/>
            </a:solidFill>
            <a:prstDash val="solid"/>
          </a:ln>
        </p:spPr>
      </p:sp>
      <p:sp>
        <p:nvSpPr>
          <p:cNvPr id="30" name="Text 27"/>
          <p:cNvSpPr txBox="1"/>
          <p:nvPr/>
        </p:nvSpPr>
        <p:spPr>
          <a:xfrm>
            <a:off x="969264" y="4078224"/>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LLEGA CON ESTA PREGUNTA</a:t>
            </a:r>
            <a:endParaRPr lang="en-US" sz="960" dirty="0"/>
          </a:p>
        </p:txBody>
      </p:sp>
      <p:sp>
        <p:nvSpPr>
          <p:cNvPr id="31" name="Text 28"/>
          <p:cNvSpPr txBox="1"/>
          <p:nvPr/>
        </p:nvSpPr>
        <p:spPr>
          <a:xfrm>
            <a:off x="969264" y="4370832"/>
            <a:ext cx="10253167" cy="914400"/>
          </a:xfrm>
          <a:prstGeom prst="rect">
            <a:avLst/>
          </a:prstGeom>
          <a:noFill/>
          <a:ln/>
        </p:spPr>
        <p:txBody>
          <a:bodyPr wrap="square" lIns="0" tIns="0" rIns="0" bIns="0" rtlCol="0" anchor="t"/>
          <a:lstStyle/>
          <a:p>
            <a:pPr algn="l" indent="0" marL="0">
              <a:lnSpc>
                <a:spcPct val="116000"/>
              </a:lnSpc>
              <a:buNone/>
            </a:pPr>
            <a:r>
              <a:rPr lang="en-US" sz="1600" b="1" dirty="0">
                <a:solidFill>
                  <a:srgbClr val="FFFFFF"/>
                </a:solidFill>
                <a:latin typeface="Aptos" pitchFamily="34" charset="0"/>
                <a:ea typeface="Aptos" pitchFamily="34" charset="-122"/>
                <a:cs typeface="Aptos" pitchFamily="34" charset="-120"/>
              </a:rPr>
              <a:t>Si no hay tiempo para probarlo todo, ¿con qué criterio se decide cuál probar primero?</a:t>
            </a:r>
            <a:endParaRPr lang="en-US" sz="160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Hoy se probó cómo se comporta el sistema. Mañana, qué vale la pena probar primero.</a:t>
            </a:r>
            <a:endParaRPr lang="en-US" sz="13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2\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64</a:t>
            </a:r>
            <a:endParaRPr lang="en-US" sz="1400" dirty="0"/>
          </a:p>
        </p:txBody>
      </p:sp>
      <p:sp>
        <p:nvSpPr>
          <p:cNvPr id="8" name="Text 5"/>
          <p:cNvSpPr txBox="1"/>
          <p:nvPr/>
        </p:nvSpPr>
        <p:spPr>
          <a:xfrm>
            <a:off x="658368" y="82296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MENSAJE FINAL</a:t>
            </a:r>
            <a:endParaRPr lang="en-US" sz="960" dirty="0"/>
          </a:p>
        </p:txBody>
      </p:sp>
      <p:sp>
        <p:nvSpPr>
          <p:cNvPr id="9" name="Shape 6"/>
          <p:cNvSpPr/>
          <p:nvPr/>
        </p:nvSpPr>
        <p:spPr>
          <a:xfrm>
            <a:off x="658368" y="1188720"/>
            <a:ext cx="2622728" cy="877824"/>
          </a:xfrm>
          <a:prstGeom prst="rect">
            <a:avLst/>
          </a:prstGeom>
          <a:solidFill>
            <a:srgbClr val="1D3A57"/>
          </a:solidFill>
          <a:ln w="12700">
            <a:solidFill>
              <a:srgbClr val="1D3A57"/>
            </a:solidFill>
            <a:prstDash val="solid"/>
          </a:ln>
        </p:spPr>
      </p:sp>
      <p:sp>
        <p:nvSpPr>
          <p:cNvPr id="10" name="Shape 7"/>
          <p:cNvSpPr/>
          <p:nvPr/>
        </p:nvSpPr>
        <p:spPr>
          <a:xfrm>
            <a:off x="658368" y="1188720"/>
            <a:ext cx="2622728" cy="45720"/>
          </a:xfrm>
          <a:prstGeom prst="rect">
            <a:avLst/>
          </a:prstGeom>
          <a:solidFill>
            <a:srgbClr val="3FAE6A"/>
          </a:solidFill>
          <a:ln w="12700">
            <a:solidFill>
              <a:srgbClr val="3FAE6A"/>
            </a:solidFill>
            <a:prstDash val="solid"/>
          </a:ln>
        </p:spPr>
      </p:sp>
      <p:sp>
        <p:nvSpPr>
          <p:cNvPr id="11" name="Text 8"/>
          <p:cNvSpPr txBox="1"/>
          <p:nvPr/>
        </p:nvSpPr>
        <p:spPr>
          <a:xfrm>
            <a:off x="822960" y="1280160"/>
            <a:ext cx="2330120" cy="731520"/>
          </a:xfrm>
          <a:prstGeom prst="rect">
            <a:avLst/>
          </a:prstGeom>
          <a:noFill/>
          <a:ln/>
        </p:spPr>
        <p:txBody>
          <a:bodyPr wrap="square" lIns="0" tIns="0" rIns="0" bIns="0" rtlCol="0" anchor="t"/>
          <a:lstStyle/>
          <a:p>
            <a:pPr algn="l" indent="0" marL="0">
              <a:lnSpc>
                <a:spcPct val="108000"/>
              </a:lnSpc>
              <a:buNone/>
            </a:pPr>
            <a:r>
              <a:rPr lang="en-US" sz="1040" dirty="0">
                <a:solidFill>
                  <a:srgbClr val="EADFD0"/>
                </a:solidFill>
                <a:latin typeface="Aptos" pitchFamily="34" charset="0"/>
                <a:ea typeface="Aptos" pitchFamily="34" charset="-122"/>
                <a:cs typeface="Aptos" pitchFamily="34" charset="-120"/>
              </a:rPr>
              <a:t>La prueba de carga no tuvo fallas mientras dos personas quedaban con el mismo bloque.</a:t>
            </a:r>
            <a:endParaRPr lang="en-US" sz="1040" dirty="0"/>
          </a:p>
        </p:txBody>
      </p:sp>
      <p:sp>
        <p:nvSpPr>
          <p:cNvPr id="12" name="Shape 9"/>
          <p:cNvSpPr/>
          <p:nvPr/>
        </p:nvSpPr>
        <p:spPr>
          <a:xfrm>
            <a:off x="3409112" y="1188720"/>
            <a:ext cx="2622728" cy="877824"/>
          </a:xfrm>
          <a:prstGeom prst="rect">
            <a:avLst/>
          </a:prstGeom>
          <a:solidFill>
            <a:srgbClr val="1D3A57"/>
          </a:solidFill>
          <a:ln w="12700">
            <a:solidFill>
              <a:srgbClr val="1D3A57"/>
            </a:solidFill>
            <a:prstDash val="solid"/>
          </a:ln>
        </p:spPr>
      </p:sp>
      <p:sp>
        <p:nvSpPr>
          <p:cNvPr id="13" name="Shape 10"/>
          <p:cNvSpPr/>
          <p:nvPr/>
        </p:nvSpPr>
        <p:spPr>
          <a:xfrm>
            <a:off x="3409112" y="1188720"/>
            <a:ext cx="2622728" cy="45720"/>
          </a:xfrm>
          <a:prstGeom prst="rect">
            <a:avLst/>
          </a:prstGeom>
          <a:solidFill>
            <a:srgbClr val="3FAE6A"/>
          </a:solidFill>
          <a:ln w="12700">
            <a:solidFill>
              <a:srgbClr val="3FAE6A"/>
            </a:solidFill>
            <a:prstDash val="solid"/>
          </a:ln>
        </p:spPr>
      </p:sp>
      <p:sp>
        <p:nvSpPr>
          <p:cNvPr id="14" name="Text 11"/>
          <p:cNvSpPr txBox="1"/>
          <p:nvPr/>
        </p:nvSpPr>
        <p:spPr>
          <a:xfrm>
            <a:off x="3573704" y="1280160"/>
            <a:ext cx="2330120" cy="731520"/>
          </a:xfrm>
          <a:prstGeom prst="rect">
            <a:avLst/>
          </a:prstGeom>
          <a:noFill/>
          <a:ln/>
        </p:spPr>
        <p:txBody>
          <a:bodyPr wrap="square" lIns="0" tIns="0" rIns="0" bIns="0" rtlCol="0" anchor="t"/>
          <a:lstStyle/>
          <a:p>
            <a:pPr algn="l" indent="0" marL="0">
              <a:lnSpc>
                <a:spcPct val="108000"/>
              </a:lnSpc>
              <a:buNone/>
            </a:pPr>
            <a:r>
              <a:rPr lang="en-US" sz="1040" dirty="0">
                <a:solidFill>
                  <a:srgbClr val="EADFD0"/>
                </a:solidFill>
                <a:latin typeface="Aptos" pitchFamily="34" charset="0"/>
                <a:ea typeface="Aptos" pitchFamily="34" charset="-122"/>
                <a:cs typeface="Aptos" pitchFamily="34" charset="-120"/>
              </a:rPr>
              <a:t>La revisión de accesibilidad pasó con la página vacía.</a:t>
            </a:r>
            <a:endParaRPr lang="en-US" sz="1040" dirty="0"/>
          </a:p>
        </p:txBody>
      </p:sp>
      <p:sp>
        <p:nvSpPr>
          <p:cNvPr id="15" name="Shape 12"/>
          <p:cNvSpPr/>
          <p:nvPr/>
        </p:nvSpPr>
        <p:spPr>
          <a:xfrm>
            <a:off x="6159856" y="1188720"/>
            <a:ext cx="2622728" cy="877824"/>
          </a:xfrm>
          <a:prstGeom prst="rect">
            <a:avLst/>
          </a:prstGeom>
          <a:solidFill>
            <a:srgbClr val="1D3A57"/>
          </a:solidFill>
          <a:ln w="12700">
            <a:solidFill>
              <a:srgbClr val="1D3A57"/>
            </a:solidFill>
            <a:prstDash val="solid"/>
          </a:ln>
        </p:spPr>
      </p:sp>
      <p:sp>
        <p:nvSpPr>
          <p:cNvPr id="16" name="Shape 13"/>
          <p:cNvSpPr/>
          <p:nvPr/>
        </p:nvSpPr>
        <p:spPr>
          <a:xfrm>
            <a:off x="6159856" y="1188720"/>
            <a:ext cx="2622728" cy="45720"/>
          </a:xfrm>
          <a:prstGeom prst="rect">
            <a:avLst/>
          </a:prstGeom>
          <a:solidFill>
            <a:srgbClr val="3FAE6A"/>
          </a:solidFill>
          <a:ln w="12700">
            <a:solidFill>
              <a:srgbClr val="3FAE6A"/>
            </a:solidFill>
            <a:prstDash val="solid"/>
          </a:ln>
        </p:spPr>
      </p:sp>
      <p:sp>
        <p:nvSpPr>
          <p:cNvPr id="17" name="Text 14"/>
          <p:cNvSpPr txBox="1"/>
          <p:nvPr/>
        </p:nvSpPr>
        <p:spPr>
          <a:xfrm>
            <a:off x="6324448" y="1280160"/>
            <a:ext cx="2330120" cy="731520"/>
          </a:xfrm>
          <a:prstGeom prst="rect">
            <a:avLst/>
          </a:prstGeom>
          <a:noFill/>
          <a:ln/>
        </p:spPr>
        <p:txBody>
          <a:bodyPr wrap="square" lIns="0" tIns="0" rIns="0" bIns="0" rtlCol="0" anchor="t"/>
          <a:lstStyle/>
          <a:p>
            <a:pPr algn="l" indent="0" marL="0">
              <a:lnSpc>
                <a:spcPct val="108000"/>
              </a:lnSpc>
              <a:buNone/>
            </a:pPr>
            <a:r>
              <a:rPr lang="en-US" sz="1040" dirty="0">
                <a:solidFill>
                  <a:srgbClr val="EADFD0"/>
                </a:solidFill>
                <a:latin typeface="Aptos" pitchFamily="34" charset="0"/>
                <a:ea typeface="Aptos" pitchFamily="34" charset="-122"/>
                <a:cs typeface="Aptos" pitchFamily="34" charset="-120"/>
              </a:rPr>
              <a:t>pip-audit no encontró nada que alguien conozca hoy.</a:t>
            </a:r>
            <a:endParaRPr lang="en-US" sz="1040" dirty="0"/>
          </a:p>
        </p:txBody>
      </p:sp>
      <p:sp>
        <p:nvSpPr>
          <p:cNvPr id="18" name="Shape 15"/>
          <p:cNvSpPr/>
          <p:nvPr/>
        </p:nvSpPr>
        <p:spPr>
          <a:xfrm>
            <a:off x="8910599" y="1188720"/>
            <a:ext cx="2622728" cy="877824"/>
          </a:xfrm>
          <a:prstGeom prst="rect">
            <a:avLst/>
          </a:prstGeom>
          <a:solidFill>
            <a:srgbClr val="1D3A57"/>
          </a:solidFill>
          <a:ln w="12700">
            <a:solidFill>
              <a:srgbClr val="1D3A57"/>
            </a:solidFill>
            <a:prstDash val="solid"/>
          </a:ln>
        </p:spPr>
      </p:sp>
      <p:sp>
        <p:nvSpPr>
          <p:cNvPr id="19" name="Shape 16"/>
          <p:cNvSpPr/>
          <p:nvPr/>
        </p:nvSpPr>
        <p:spPr>
          <a:xfrm>
            <a:off x="8910599" y="1188720"/>
            <a:ext cx="2622728" cy="45720"/>
          </a:xfrm>
          <a:prstGeom prst="rect">
            <a:avLst/>
          </a:prstGeom>
          <a:solidFill>
            <a:srgbClr val="3FAE6A"/>
          </a:solidFill>
          <a:ln w="12700">
            <a:solidFill>
              <a:srgbClr val="3FAE6A"/>
            </a:solidFill>
            <a:prstDash val="solid"/>
          </a:ln>
        </p:spPr>
      </p:sp>
      <p:sp>
        <p:nvSpPr>
          <p:cNvPr id="20" name="Text 17"/>
          <p:cNvSpPr txBox="1"/>
          <p:nvPr/>
        </p:nvSpPr>
        <p:spPr>
          <a:xfrm>
            <a:off x="9075191" y="1280160"/>
            <a:ext cx="2330120" cy="731520"/>
          </a:xfrm>
          <a:prstGeom prst="rect">
            <a:avLst/>
          </a:prstGeom>
          <a:noFill/>
          <a:ln/>
        </p:spPr>
        <p:txBody>
          <a:bodyPr wrap="square" lIns="0" tIns="0" rIns="0" bIns="0" rtlCol="0" anchor="t"/>
          <a:lstStyle/>
          <a:p>
            <a:pPr algn="l" indent="0" marL="0">
              <a:lnSpc>
                <a:spcPct val="108000"/>
              </a:lnSpc>
              <a:buNone/>
            </a:pPr>
            <a:r>
              <a:rPr lang="en-US" sz="1040" dirty="0">
                <a:solidFill>
                  <a:srgbClr val="EADFD0"/>
                </a:solidFill>
                <a:latin typeface="Aptos" pitchFamily="34" charset="0"/>
                <a:ea typeface="Aptos" pitchFamily="34" charset="-122"/>
                <a:cs typeface="Aptos" pitchFamily="34" charset="-120"/>
              </a:rPr>
              <a:t>La corrección del doble clic pasó sus pruebas y dejó un botón bloqueado para siempre.</a:t>
            </a:r>
            <a:endParaRPr lang="en-US" sz="1040" dirty="0"/>
          </a:p>
        </p:txBody>
      </p:sp>
      <p:sp>
        <p:nvSpPr>
          <p:cNvPr id="21" name="Text 18"/>
          <p:cNvSpPr txBox="1"/>
          <p:nvPr/>
        </p:nvSpPr>
        <p:spPr>
          <a:xfrm>
            <a:off x="658368" y="2231136"/>
            <a:ext cx="10874959" cy="274320"/>
          </a:xfrm>
          <a:prstGeom prst="rect">
            <a:avLst/>
          </a:prstGeom>
          <a:noFill/>
          <a:ln/>
        </p:spPr>
        <p:txBody>
          <a:bodyPr wrap="square" lIns="0" tIns="0" rIns="0" bIns="0" rtlCol="0" anchor="t"/>
          <a:lstStyle/>
          <a:p>
            <a:pPr algn="l" indent="0" marL="0">
              <a:buNone/>
            </a:pPr>
            <a:r>
              <a:rPr lang="en-US" sz="1300" b="1" dirty="0">
                <a:solidFill>
                  <a:srgbClr val="E0BC5A"/>
                </a:solidFill>
                <a:latin typeface="Aptos" pitchFamily="34" charset="0"/>
                <a:ea typeface="Aptos" pitchFamily="34" charset="-122"/>
                <a:cs typeface="Aptos" pitchFamily="34" charset="-120"/>
              </a:rPr>
              <a:t>Todo lo que esta sesión encontró estaba detrás de un resultado en verde.</a:t>
            </a:r>
            <a:endParaRPr lang="en-US" sz="1300" dirty="0"/>
          </a:p>
        </p:txBody>
      </p:sp>
      <p:sp>
        <p:nvSpPr>
          <p:cNvPr id="22" name="Shape 19"/>
          <p:cNvSpPr/>
          <p:nvPr/>
        </p:nvSpPr>
        <p:spPr>
          <a:xfrm>
            <a:off x="658368" y="2834640"/>
            <a:ext cx="3840480" cy="0"/>
          </a:xfrm>
          <a:prstGeom prst="line">
            <a:avLst/>
          </a:prstGeom>
          <a:noFill/>
          <a:ln w="12700">
            <a:solidFill>
              <a:srgbClr val="E0BC5A"/>
            </a:solidFill>
            <a:prstDash val="solid"/>
            <a:headEnd type="none"/>
            <a:tailEnd type="none"/>
          </a:ln>
        </p:spPr>
      </p:sp>
      <p:sp>
        <p:nvSpPr>
          <p:cNvPr id="23" name="Text 20"/>
          <p:cNvSpPr txBox="1"/>
          <p:nvPr/>
        </p:nvSpPr>
        <p:spPr>
          <a:xfrm>
            <a:off x="658368" y="3017520"/>
            <a:ext cx="10874959" cy="1645920"/>
          </a:xfrm>
          <a:prstGeom prst="rect">
            <a:avLst/>
          </a:prstGeom>
          <a:noFill/>
          <a:ln/>
        </p:spPr>
        <p:txBody>
          <a:bodyPr wrap="square" lIns="0" tIns="0" rIns="0" bIns="0" rtlCol="0" anchor="t"/>
          <a:lstStyle/>
          <a:p>
            <a:pPr algn="l" indent="0" marL="0">
              <a:lnSpc>
                <a:spcPct val="118000"/>
              </a:lnSpc>
              <a:buNone/>
            </a:pPr>
            <a:r>
              <a:rPr lang="en-US" sz="1900" b="1" dirty="0">
                <a:solidFill>
                  <a:srgbClr val="FFFFFF"/>
                </a:solidFill>
                <a:latin typeface="Aptos Display" pitchFamily="34" charset="0"/>
                <a:ea typeface="Aptos Display" pitchFamily="34" charset="-122"/>
                <a:cs typeface="Aptos Display" pitchFamily="34" charset="-120"/>
              </a:rPr>
              <a:t>Un sistema no es rápido, seguro ni accesible: lo es con cierta carga, frente a cierto ataque, en cierto estado de la pantalla, para cierta persona. Probar cómo se comporta exige decir primero cuánto es suficiente, y después desconfiar de todo verde que no se sabe qué midió.</a:t>
            </a:r>
            <a:endParaRPr lang="en-US" sz="1900" dirty="0"/>
          </a:p>
        </p:txBody>
      </p:sp>
      <p:sp>
        <p:nvSpPr>
          <p:cNvPr id="24" name="Text 21"/>
          <p:cNvSpPr txBox="1"/>
          <p:nvPr/>
        </p:nvSpPr>
        <p:spPr>
          <a:xfrm>
            <a:off x="658368" y="4846320"/>
            <a:ext cx="10874959" cy="731520"/>
          </a:xfrm>
          <a:prstGeom prst="rect">
            <a:avLst/>
          </a:prstGeom>
          <a:noFill/>
          <a:ln/>
        </p:spPr>
        <p:txBody>
          <a:bodyPr wrap="square" lIns="0" tIns="0" rIns="0" bIns="0" rtlCol="0" anchor="t"/>
          <a:lstStyle/>
          <a:p>
            <a:pPr algn="l" indent="0" marL="0">
              <a:lnSpc>
                <a:spcPct val="118000"/>
              </a:lnSpc>
              <a:buNone/>
            </a:pPr>
            <a:r>
              <a:rPr lang="en-US" sz="1500" dirty="0">
                <a:solidFill>
                  <a:srgbClr val="EADFD0"/>
                </a:solidFill>
                <a:latin typeface="Aptos" pitchFamily="34" charset="0"/>
                <a:ea typeface="Aptos" pitchFamily="34" charset="-122"/>
                <a:cs typeface="Aptos" pitchFamily="34" charset="-120"/>
              </a:rPr>
              <a:t>Un agente lee el código más rápido que cualquiera y propone umbrales razonables. Decidir cuáles son los del sistema sigue siendo trabajo de quien firma.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Funciona, pero ¿cómo lo hace?</dc:title>
  <dc:subject>PRO402 · Clase 15</dc:subject>
  <dc:creator>Diego Obando</dc:creator>
  <cp:lastModifiedBy>Diego Obando</cp:lastModifiedBy>
  <cp:revision>1</cp:revision>
  <dcterms:created xsi:type="dcterms:W3CDTF">2026-09-26T01:52:50Z</dcterms:created>
  <dcterms:modified xsi:type="dcterms:W3CDTF">2026-09-26T01:52:50Z</dcterms:modified>
</cp:coreProperties>
</file>