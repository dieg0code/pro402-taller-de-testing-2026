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sv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sv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sv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sv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sv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svg"/><Relationship Id="rId3" Type="http://schemas.openxmlformats.org/officeDocument/2006/relationships/image" Target="../media/image-7-3.png"/><Relationship Id="rId4" Type="http://schemas.openxmlformats.org/officeDocument/2006/relationships/image" Target="../media/image-7-4.sv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sv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sv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sv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sv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sv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svg"/><Relationship Id="rId3" Type="http://schemas.openxmlformats.org/officeDocument/2006/relationships/image" Target="../media/image-14-3.png"/><Relationship Id="rId4" Type="http://schemas.openxmlformats.org/officeDocument/2006/relationships/image" Target="../media/image-14-4.sv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sv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sv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sv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sv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sv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sv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sv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sv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sv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sv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sv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sv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sv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sv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svg"/><Relationship Id="rId3" Type="http://schemas.openxmlformats.org/officeDocument/2006/relationships/image" Target="../media/image-31-3.png"/><Relationship Id="rId4" Type="http://schemas.openxmlformats.org/officeDocument/2006/relationships/image" Target="../media/image-31-4.svg"/><Relationship Id="rId5" Type="http://schemas.openxmlformats.org/officeDocument/2006/relationships/image" Target="../media/image-31-5.png"/><Relationship Id="rId6" Type="http://schemas.openxmlformats.org/officeDocument/2006/relationships/image" Target="../media/image-31-6.svg"/><Relationship Id="rId7" Type="http://schemas.openxmlformats.org/officeDocument/2006/relationships/slideLayout" Target="../slideLayouts/slideLayout1.xml"/><Relationship Id="rId8"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svg"/><Relationship Id="rId3" Type="http://schemas.openxmlformats.org/officeDocument/2006/relationships/image" Target="../media/image-32-3.png"/><Relationship Id="rId4" Type="http://schemas.openxmlformats.org/officeDocument/2006/relationships/image" Target="../media/image-32-4.svg"/><Relationship Id="rId5" Type="http://schemas.openxmlformats.org/officeDocument/2006/relationships/slideLayout" Target="../slideLayouts/slideLayout1.xm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sv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svg"/><Relationship Id="rId3" Type="http://schemas.openxmlformats.org/officeDocument/2006/relationships/image" Target="../media/image-34-3.png"/><Relationship Id="rId4" Type="http://schemas.openxmlformats.org/officeDocument/2006/relationships/image" Target="../media/image-34-4.svg"/><Relationship Id="rId5" Type="http://schemas.openxmlformats.org/officeDocument/2006/relationships/slideLayout" Target="../slideLayouts/slideLayout1.xml"/><Relationship Id="rId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svg"/><Relationship Id="rId3" Type="http://schemas.openxmlformats.org/officeDocument/2006/relationships/image" Target="../media/image-35-3.png"/><Relationship Id="rId4" Type="http://schemas.openxmlformats.org/officeDocument/2006/relationships/image" Target="../media/image-35-4.svg"/><Relationship Id="rId5" Type="http://schemas.openxmlformats.org/officeDocument/2006/relationships/image" Target="../media/image-35-5.png"/><Relationship Id="rId6" Type="http://schemas.openxmlformats.org/officeDocument/2006/relationships/image" Target="../media/image-35-6.svg"/><Relationship Id="rId7" Type="http://schemas.openxmlformats.org/officeDocument/2006/relationships/slideLayout" Target="../slideLayouts/slideLayout1.xml"/><Relationship Id="rId8"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sv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sv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sv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svg"/><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svg"/><Relationship Id="rId3" Type="http://schemas.openxmlformats.org/officeDocument/2006/relationships/slideLayout" Target="../slideLayouts/slideLayout1.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svg"/><Relationship Id="rId3" Type="http://schemas.openxmlformats.org/officeDocument/2006/relationships/slideLayout" Target="../slideLayouts/slideLayout1.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svg"/><Relationship Id="rId3" Type="http://schemas.openxmlformats.org/officeDocument/2006/relationships/image" Target="../media/image-43-3.png"/><Relationship Id="rId4" Type="http://schemas.openxmlformats.org/officeDocument/2006/relationships/image" Target="../media/image-43-4.svg"/><Relationship Id="rId5" Type="http://schemas.openxmlformats.org/officeDocument/2006/relationships/image" Target="../media/image-43-5.png"/><Relationship Id="rId6" Type="http://schemas.openxmlformats.org/officeDocument/2006/relationships/image" Target="../media/image-43-6.svg"/><Relationship Id="rId7" Type="http://schemas.openxmlformats.org/officeDocument/2006/relationships/slideLayout" Target="../slideLayouts/slideLayout1.xml"/><Relationship Id="rId8"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svg"/><Relationship Id="rId3" Type="http://schemas.openxmlformats.org/officeDocument/2006/relationships/slideLayout" Target="../slideLayouts/slideLayout1.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svg"/><Relationship Id="rId3" Type="http://schemas.openxmlformats.org/officeDocument/2006/relationships/slideLayout" Target="../slideLayouts/slideLayout1.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svg"/><Relationship Id="rId3" Type="http://schemas.openxmlformats.org/officeDocument/2006/relationships/image" Target="../media/image-46-3.png"/><Relationship Id="rId4" Type="http://schemas.openxmlformats.org/officeDocument/2006/relationships/image" Target="../media/image-46-4.svg"/><Relationship Id="rId5" Type="http://schemas.openxmlformats.org/officeDocument/2006/relationships/slideLayout" Target="../slideLayouts/slideLayout1.xml"/><Relationship Id="rId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svg"/><Relationship Id="rId3" Type="http://schemas.openxmlformats.org/officeDocument/2006/relationships/slideLayout" Target="../slideLayouts/slideLayout1.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svg"/><Relationship Id="rId3" Type="http://schemas.openxmlformats.org/officeDocument/2006/relationships/slideLayout" Target="../slideLayouts/slideLayout1.xm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svg"/><Relationship Id="rId3" Type="http://schemas.openxmlformats.org/officeDocument/2006/relationships/slideLayout" Target="../slideLayouts/slideLayout1.xml"/><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A43"/>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E0BC5A"/>
          </a:solidFill>
          <a:ln w="12700">
            <a:solidFill>
              <a:srgbClr val="E0BC5A"/>
            </a:solidFill>
            <a:prstDash val="solid"/>
          </a:ln>
        </p:spPr>
      </p:sp>
      <p:sp>
        <p:nvSpPr>
          <p:cNvPr id="4" name="Shape 2"/>
          <p:cNvSpPr/>
          <p:nvPr/>
        </p:nvSpPr>
        <p:spPr>
          <a:xfrm>
            <a:off x="1243584" y="0"/>
            <a:ext cx="256032" cy="109728"/>
          </a:xfrm>
          <a:prstGeom prst="rect">
            <a:avLst/>
          </a:prstGeom>
          <a:solidFill>
            <a:srgbClr val="FFFFFF"/>
          </a:solidFill>
          <a:ln w="12700">
            <a:solidFill>
              <a:srgbClr val="FFFFFF"/>
            </a:solidFill>
            <a:prstDash val="solid"/>
          </a:ln>
        </p:spPr>
      </p:sp>
      <p:pic>
        <p:nvPicPr>
          <p:cNvPr id="5" name="Image 0" descr="C:\Users\Diego Obando\dev\pro402-taller-de-testing-2026\clases\semana-05\02\ppt\source\assets\logo-aiep-dark.png">    </p:cNvPr>
          <p:cNvPicPr>
            <a:picLocks noChangeAspect="1"/>
          </p:cNvPicPr>
          <p:nvPr/>
        </p:nvPicPr>
        <p:blipFill>
          <a:blip r:embed="rId1"/>
          <a:stretch>
            <a:fillRect/>
          </a:stretch>
        </p:blipFill>
        <p:spPr>
          <a:xfrm>
            <a:off x="10222992" y="307150"/>
            <a:ext cx="1335024" cy="464691"/>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EADFD0"/>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EADFD0"/>
                </a:solidFill>
                <a:latin typeface="Aptos Display" pitchFamily="34" charset="0"/>
                <a:ea typeface="Aptos Display" pitchFamily="34" charset="-122"/>
                <a:cs typeface="Aptos Display" pitchFamily="34" charset="-120"/>
              </a:rPr>
              <a:t>01</a:t>
            </a:r>
            <a:endParaRPr lang="en-US" sz="1400" dirty="0"/>
          </a:p>
        </p:txBody>
      </p:sp>
      <p:sp>
        <p:nvSpPr>
          <p:cNvPr id="8" name="Text 5"/>
          <p:cNvSpPr txBox="1"/>
          <p:nvPr/>
        </p:nvSpPr>
        <p:spPr>
          <a:xfrm>
            <a:off x="658368" y="1298448"/>
            <a:ext cx="5486400" cy="201168"/>
          </a:xfrm>
          <a:prstGeom prst="rect">
            <a:avLst/>
          </a:prstGeom>
          <a:noFill/>
          <a:ln/>
        </p:spPr>
        <p:txBody>
          <a:bodyPr wrap="square" lIns="0" tIns="0" rIns="0" bIns="0" rtlCol="0" anchor="t"/>
          <a:lstStyle/>
          <a:p>
            <a:pPr algn="l" indent="0" marL="0">
              <a:buNone/>
            </a:pPr>
            <a:r>
              <a:rPr lang="en-US" sz="960" b="1" spc="130" kern="0" dirty="0">
                <a:solidFill>
                  <a:srgbClr val="E0BC5A"/>
                </a:solidFill>
                <a:latin typeface="Aptos" pitchFamily="34" charset="0"/>
                <a:ea typeface="Aptos" pitchFamily="34" charset="-122"/>
                <a:cs typeface="Aptos" pitchFamily="34" charset="-120"/>
              </a:rPr>
              <a:t>PRO402 · CLASE 14 · UNIDAD 2</a:t>
            </a:r>
            <a:endParaRPr lang="en-US" sz="960" dirty="0"/>
          </a:p>
        </p:txBody>
      </p:sp>
      <p:sp>
        <p:nvSpPr>
          <p:cNvPr id="9" name="Text 6"/>
          <p:cNvSpPr txBox="1"/>
          <p:nvPr/>
        </p:nvSpPr>
        <p:spPr>
          <a:xfrm>
            <a:off x="658368" y="1682496"/>
            <a:ext cx="10241280" cy="969264"/>
          </a:xfrm>
          <a:prstGeom prst="rect">
            <a:avLst/>
          </a:prstGeom>
          <a:noFill/>
          <a:ln/>
        </p:spPr>
        <p:txBody>
          <a:bodyPr wrap="square" lIns="0" tIns="0" rIns="0" bIns="0" rtlCol="0" anchor="t"/>
          <a:lstStyle/>
          <a:p>
            <a:pPr algn="l" indent="0" marL="0">
              <a:buNone/>
            </a:pPr>
            <a:r>
              <a:rPr lang="en-US" sz="5000" b="1" dirty="0">
                <a:solidFill>
                  <a:srgbClr val="FFFFFF"/>
                </a:solidFill>
                <a:latin typeface="Aptos Display" pitchFamily="34" charset="0"/>
                <a:ea typeface="Aptos Display" pitchFamily="34" charset="-122"/>
                <a:cs typeface="Aptos Display" pitchFamily="34" charset="-120"/>
              </a:rPr>
              <a:t>Qué se decidió probar</a:t>
            </a:r>
            <a:endParaRPr lang="en-US" sz="5000" dirty="0"/>
          </a:p>
        </p:txBody>
      </p:sp>
      <p:sp>
        <p:nvSpPr>
          <p:cNvPr id="10" name="Shape 7"/>
          <p:cNvSpPr/>
          <p:nvPr/>
        </p:nvSpPr>
        <p:spPr>
          <a:xfrm>
            <a:off x="658368" y="2852928"/>
            <a:ext cx="3840480" cy="0"/>
          </a:xfrm>
          <a:prstGeom prst="line">
            <a:avLst/>
          </a:prstGeom>
          <a:noFill/>
          <a:ln w="12700">
            <a:solidFill>
              <a:srgbClr val="D62027"/>
            </a:solidFill>
            <a:prstDash val="solid"/>
            <a:headEnd type="none"/>
            <a:tailEnd type="none"/>
          </a:ln>
        </p:spPr>
      </p:sp>
      <p:sp>
        <p:nvSpPr>
          <p:cNvPr id="11" name="Text 8"/>
          <p:cNvSpPr txBox="1"/>
          <p:nvPr/>
        </p:nvSpPr>
        <p:spPr>
          <a:xfrm>
            <a:off x="658368" y="3108960"/>
            <a:ext cx="10241280" cy="420624"/>
          </a:xfrm>
          <a:prstGeom prst="rect">
            <a:avLst/>
          </a:prstGeom>
          <a:noFill/>
          <a:ln/>
        </p:spPr>
        <p:txBody>
          <a:bodyPr wrap="square" lIns="0" tIns="0" rIns="0" bIns="0" rtlCol="0" anchor="t"/>
          <a:lstStyle/>
          <a:p>
            <a:pPr algn="l" indent="0" marL="0">
              <a:buNone/>
            </a:pPr>
            <a:r>
              <a:rPr lang="en-US" sz="1800" dirty="0">
                <a:solidFill>
                  <a:srgbClr val="E6EEF7"/>
                </a:solidFill>
                <a:latin typeface="Aptos" pitchFamily="34" charset="0"/>
                <a:ea typeface="Aptos" pitchFamily="34" charset="-122"/>
                <a:cs typeface="Aptos" pitchFamily="34" charset="-120"/>
              </a:rPr>
              <a:t>El plan de pruebas, el riesgo que reparte el esfuerzo y una trazabilidad que se ejecuta</a:t>
            </a:r>
            <a:endParaRPr lang="en-US" sz="1800" dirty="0"/>
          </a:p>
        </p:txBody>
      </p:sp>
      <p:sp>
        <p:nvSpPr>
          <p:cNvPr id="12" name="Text 9"/>
          <p:cNvSpPr txBox="1"/>
          <p:nvPr/>
        </p:nvSpPr>
        <p:spPr>
          <a:xfrm>
            <a:off x="658368" y="3749040"/>
            <a:ext cx="9326880" cy="786384"/>
          </a:xfrm>
          <a:prstGeom prst="rect">
            <a:avLst/>
          </a:prstGeom>
          <a:noFill/>
          <a:ln/>
        </p:spPr>
        <p:txBody>
          <a:bodyPr wrap="square" lIns="0" tIns="0" rIns="0" bIns="0" rtlCol="0" anchor="t"/>
          <a:lstStyle/>
          <a:p>
            <a:pPr algn="l" indent="0" marL="0">
              <a:lnSpc>
                <a:spcPct val="120000"/>
              </a:lnSpc>
              <a:buNone/>
            </a:pPr>
            <a:r>
              <a:rPr lang="en-US" sz="1440" dirty="0">
                <a:solidFill>
                  <a:srgbClr val="EADFD0"/>
                </a:solidFill>
                <a:latin typeface="Aptos" pitchFamily="34" charset="0"/>
                <a:ea typeface="Aptos" pitchFamily="34" charset="-122"/>
                <a:cs typeface="Aptos" pitchFamily="34" charset="-120"/>
              </a:rPr>
              <a:t>Una suite en verde informa sobre las pruebas que existen. Sobre las que no existen no dice nada, y no puede decirlo: ningún programa informa sobre algo que nadie escribió. Lo que falta se decide, se escribe y se comprueba en otra parte.</a:t>
            </a:r>
            <a:endParaRPr lang="en-US" sz="1440" dirty="0"/>
          </a:p>
        </p:txBody>
      </p:sp>
      <p:sp>
        <p:nvSpPr>
          <p:cNvPr id="13" name="Shape 10"/>
          <p:cNvSpPr/>
          <p:nvPr/>
        </p:nvSpPr>
        <p:spPr>
          <a:xfrm>
            <a:off x="658368" y="4992624"/>
            <a:ext cx="10874959" cy="0"/>
          </a:xfrm>
          <a:prstGeom prst="line">
            <a:avLst/>
          </a:prstGeom>
          <a:noFill/>
          <a:ln w="12700">
            <a:solidFill>
              <a:srgbClr val="2C4A66"/>
            </a:solidFill>
            <a:prstDash val="solid"/>
            <a:headEnd type="none"/>
            <a:tailEnd type="none"/>
          </a:ln>
        </p:spPr>
      </p:sp>
      <p:sp>
        <p:nvSpPr>
          <p:cNvPr id="14" name="Text 11"/>
          <p:cNvSpPr txBox="1"/>
          <p:nvPr/>
        </p:nvSpPr>
        <p:spPr>
          <a:xfrm>
            <a:off x="658368" y="5175504"/>
            <a:ext cx="6766560" cy="274320"/>
          </a:xfrm>
          <a:prstGeom prst="rect">
            <a:avLst/>
          </a:prstGeom>
          <a:noFill/>
          <a:ln/>
        </p:spPr>
        <p:txBody>
          <a:bodyPr wrap="square" lIns="0" tIns="0" rIns="0" bIns="0" rtlCol="0" anchor="t"/>
          <a:lstStyle/>
          <a:p>
            <a:pPr algn="l" indent="0" marL="0">
              <a:buNone/>
            </a:pPr>
            <a:r>
              <a:rPr lang="en-US" sz="1260" dirty="0">
                <a:solidFill>
                  <a:srgbClr val="EADFD0"/>
                </a:solidFill>
                <a:latin typeface="Aptos" pitchFamily="34" charset="0"/>
                <a:ea typeface="Aptos" pitchFamily="34" charset="-122"/>
                <a:cs typeface="Aptos" pitchFamily="34" charset="-120"/>
              </a:rPr>
              <a:t>Martes 29 de septiembre de 2026 · 08:30 – 10:50 · Laboratorio PC</a:t>
            </a:r>
            <a:endParaRPr lang="en-US" sz="1260" dirty="0"/>
          </a:p>
        </p:txBody>
      </p:sp>
      <p:sp>
        <p:nvSpPr>
          <p:cNvPr id="15" name="Text 12"/>
          <p:cNvSpPr txBox="1"/>
          <p:nvPr/>
        </p:nvSpPr>
        <p:spPr>
          <a:xfrm>
            <a:off x="7498080" y="5175504"/>
            <a:ext cx="4023360" cy="274320"/>
          </a:xfrm>
          <a:prstGeom prst="rect">
            <a:avLst/>
          </a:prstGeom>
          <a:noFill/>
          <a:ln/>
        </p:spPr>
        <p:txBody>
          <a:bodyPr wrap="square" lIns="0" tIns="0" rIns="0" bIns="0" rtlCol="0" anchor="t"/>
          <a:lstStyle/>
          <a:p>
            <a:pPr algn="r" indent="0" marL="0">
              <a:buNone/>
            </a:pPr>
            <a:r>
              <a:rPr lang="en-US" sz="1260" dirty="0">
                <a:solidFill>
                  <a:srgbClr val="EADFD0"/>
                </a:solidFill>
                <a:latin typeface="Aptos" pitchFamily="34" charset="0"/>
                <a:ea typeface="Aptos" pitchFamily="34" charset="-122"/>
                <a:cs typeface="Aptos" pitchFamily="34" charset="-120"/>
              </a:rPr>
              <a:t>Diego Obando · AIEP Osorno</a:t>
            </a:r>
            <a:endParaRPr lang="en-US" sz="126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02</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PARA ABRIR</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2700" b="1" dirty="0">
                <a:solidFill>
                  <a:srgbClr val="243B53"/>
                </a:solidFill>
                <a:latin typeface="Aptos Display" pitchFamily="34" charset="0"/>
                <a:ea typeface="Aptos Display" pitchFamily="34" charset="-122"/>
                <a:cs typeface="Aptos Display" pitchFamily="34" charset="-120"/>
              </a:rPr>
              <a:t>Veintitrés pruebas. ¿Qué quedó sin probar?</a:t>
            </a:r>
            <a:endParaRPr lang="en-US" sz="2700" dirty="0"/>
          </a:p>
        </p:txBody>
      </p:sp>
      <p:sp>
        <p:nvSpPr>
          <p:cNvPr id="10" name="Text 7"/>
          <p:cNvSpPr txBox="1"/>
          <p:nvPr/>
        </p:nvSpPr>
        <p:spPr>
          <a:xfrm>
            <a:off x="658368" y="1664208"/>
            <a:ext cx="10424160" cy="347472"/>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La única roja es la prueba de suplantación del lunes, que quedó así a propósito.</a:t>
            </a:r>
            <a:endParaRPr lang="en-US" sz="1420" dirty="0"/>
          </a:p>
        </p:txBody>
      </p:sp>
      <p:sp>
        <p:nvSpPr>
          <p:cNvPr id="11" name="Shape 8"/>
          <p:cNvSpPr/>
          <p:nvPr/>
        </p:nvSpPr>
        <p:spPr>
          <a:xfrm>
            <a:off x="658368" y="2231136"/>
            <a:ext cx="5760720" cy="1609344"/>
          </a:xfrm>
          <a:prstGeom prst="roundRect">
            <a:avLst>
              <a:gd name="adj" fmla="val 2273"/>
            </a:avLst>
          </a:prstGeom>
          <a:solidFill>
            <a:srgbClr val="0F1720"/>
          </a:solidFill>
          <a:ln w="12700">
            <a:solidFill>
              <a:srgbClr val="0F1720"/>
            </a:solidFill>
            <a:prstDash val="solid"/>
          </a:ln>
        </p:spPr>
      </p:sp>
      <p:sp>
        <p:nvSpPr>
          <p:cNvPr id="12" name="Shape 9"/>
          <p:cNvSpPr/>
          <p:nvPr/>
        </p:nvSpPr>
        <p:spPr>
          <a:xfrm>
            <a:off x="786384" y="2340864"/>
            <a:ext cx="5504688" cy="310896"/>
          </a:xfrm>
          <a:prstGeom prst="roundRect">
            <a:avLst>
              <a:gd name="adj" fmla="val 8824"/>
            </a:avLst>
          </a:prstGeom>
          <a:solidFill>
            <a:srgbClr val="1E2937"/>
          </a:solidFill>
          <a:ln w="12700">
            <a:solidFill>
              <a:srgbClr val="1E2937"/>
            </a:solidFill>
            <a:prstDash val="solid"/>
          </a:ln>
        </p:spPr>
      </p:sp>
      <p:sp>
        <p:nvSpPr>
          <p:cNvPr id="13" name="Text 10"/>
          <p:cNvSpPr/>
          <p:nvPr/>
        </p:nvSpPr>
        <p:spPr>
          <a:xfrm>
            <a:off x="914400" y="2414016"/>
            <a:ext cx="5248656" cy="128016"/>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Suite de pytest del proyecto</a:t>
            </a:r>
            <a:endParaRPr lang="en-US" sz="1000" dirty="0"/>
          </a:p>
        </p:txBody>
      </p:sp>
      <p:sp>
        <p:nvSpPr>
          <p:cNvPr id="14" name="Text 11"/>
          <p:cNvSpPr/>
          <p:nvPr/>
        </p:nvSpPr>
        <p:spPr>
          <a:xfrm>
            <a:off x="877824" y="2798064"/>
            <a:ext cx="5010912" cy="164592"/>
          </a:xfrm>
          <a:prstGeom prst="rect">
            <a:avLst/>
          </a:prstGeom>
          <a:noFill/>
          <a:ln/>
        </p:spPr>
        <p:txBody>
          <a:bodyPr wrap="square" lIns="0" tIns="0" rIns="0" bIns="0" rtlCol="0" anchor="ctr"/>
          <a:lstStyle/>
          <a:p>
            <a:pPr indent="0" marL="0">
              <a:buNone/>
            </a:pPr>
            <a:r>
              <a:rPr lang="en-US" sz="1040" dirty="0">
                <a:solidFill>
                  <a:srgbClr val="E6EEF7"/>
                </a:solidFill>
                <a:latin typeface="Consolas" pitchFamily="34" charset="0"/>
                <a:ea typeface="Consolas" pitchFamily="34" charset="-122"/>
                <a:cs typeface="Consolas" pitchFamily="34" charset="-120"/>
              </a:rPr>
              <a:t>&gt; uv run pytest -q</a:t>
            </a:r>
            <a:endParaRPr lang="en-US" sz="1040" dirty="0"/>
          </a:p>
        </p:txBody>
      </p:sp>
      <p:sp>
        <p:nvSpPr>
          <p:cNvPr id="15" name="Text 12"/>
          <p:cNvSpPr/>
          <p:nvPr/>
        </p:nvSpPr>
        <p:spPr>
          <a:xfrm>
            <a:off x="877824" y="3054096"/>
            <a:ext cx="5010912" cy="164592"/>
          </a:xfrm>
          <a:prstGeom prst="rect">
            <a:avLst/>
          </a:prstGeom>
          <a:noFill/>
          <a:ln/>
        </p:spPr>
        <p:txBody>
          <a:bodyPr wrap="square" lIns="0" tIns="0" rIns="0" bIns="0" rtlCol="0" anchor="ctr"/>
          <a:lstStyle/>
          <a:p>
            <a:pPr indent="0" marL="0">
              <a:buNone/>
            </a:pPr>
            <a:r>
              <a:rPr lang="en-US" sz="1040" dirty="0">
                <a:solidFill>
                  <a:srgbClr val="8AA0B6"/>
                </a:solidFill>
                <a:latin typeface="Consolas" pitchFamily="34" charset="0"/>
                <a:ea typeface="Consolas" pitchFamily="34" charset="-122"/>
                <a:cs typeface="Consolas" pitchFamily="34" charset="-120"/>
              </a:rPr>
              <a:t>......................F         [100%]</a:t>
            </a:r>
            <a:endParaRPr lang="en-US" sz="1040" dirty="0"/>
          </a:p>
        </p:txBody>
      </p:sp>
      <p:sp>
        <p:nvSpPr>
          <p:cNvPr id="16" name="Text 13"/>
          <p:cNvSpPr/>
          <p:nvPr/>
        </p:nvSpPr>
        <p:spPr>
          <a:xfrm>
            <a:off x="877824" y="3310128"/>
            <a:ext cx="5010912" cy="164592"/>
          </a:xfrm>
          <a:prstGeom prst="rect">
            <a:avLst/>
          </a:prstGeom>
          <a:noFill/>
          <a:ln/>
        </p:spPr>
        <p:txBody>
          <a:bodyPr wrap="square" lIns="0" tIns="0" rIns="0" bIns="0" rtlCol="0" anchor="ctr"/>
          <a:lstStyle/>
          <a:p>
            <a:pPr indent="0" marL="0">
              <a:buNone/>
            </a:pPr>
            <a:r>
              <a:rPr lang="en-US" sz="1040" dirty="0">
                <a:solidFill>
                  <a:srgbClr val="E6EEF7"/>
                </a:solidFill>
                <a:latin typeface="Consolas" pitchFamily="34" charset="0"/>
                <a:ea typeface="Consolas" pitchFamily="34" charset="-122"/>
                <a:cs typeface="Consolas" pitchFamily="34" charset="-120"/>
              </a:rPr>
              <a:t>1 failed, 22 passed, 1 warning in 1.94s</a:t>
            </a:r>
            <a:endParaRPr lang="en-US" sz="1040" dirty="0"/>
          </a:p>
        </p:txBody>
      </p:sp>
      <p:sp>
        <p:nvSpPr>
          <p:cNvPr id="17" name="Shape 14"/>
          <p:cNvSpPr/>
          <p:nvPr/>
        </p:nvSpPr>
        <p:spPr>
          <a:xfrm>
            <a:off x="658368" y="3986784"/>
            <a:ext cx="5760720" cy="1078992"/>
          </a:xfrm>
          <a:prstGeom prst="rect">
            <a:avLst/>
          </a:prstGeom>
          <a:solidFill>
            <a:srgbClr val="FFFFFF"/>
          </a:solidFill>
          <a:ln w="12700">
            <a:solidFill>
              <a:srgbClr val="FFFFFF"/>
            </a:solidFill>
            <a:prstDash val="solid"/>
          </a:ln>
        </p:spPr>
      </p:sp>
      <p:sp>
        <p:nvSpPr>
          <p:cNvPr id="18" name="Shape 15"/>
          <p:cNvSpPr/>
          <p:nvPr/>
        </p:nvSpPr>
        <p:spPr>
          <a:xfrm>
            <a:off x="658368" y="3986784"/>
            <a:ext cx="54864" cy="1078992"/>
          </a:xfrm>
          <a:prstGeom prst="rect">
            <a:avLst/>
          </a:prstGeom>
          <a:solidFill>
            <a:srgbClr val="102A43"/>
          </a:solidFill>
          <a:ln w="12700">
            <a:solidFill>
              <a:srgbClr val="102A43"/>
            </a:solidFill>
            <a:prstDash val="solid"/>
          </a:ln>
        </p:spPr>
      </p:sp>
      <p:sp>
        <p:nvSpPr>
          <p:cNvPr id="19" name="Text 16"/>
          <p:cNvSpPr txBox="1"/>
          <p:nvPr/>
        </p:nvSpPr>
        <p:spPr>
          <a:xfrm>
            <a:off x="896112" y="4114800"/>
            <a:ext cx="5303520" cy="182880"/>
          </a:xfrm>
          <a:prstGeom prst="rect">
            <a:avLst/>
          </a:prstGeom>
          <a:noFill/>
          <a:ln/>
        </p:spPr>
        <p:txBody>
          <a:bodyPr wrap="square" lIns="0" tIns="0" rIns="0" bIns="0" rtlCol="0" anchor="t"/>
          <a:lstStyle/>
          <a:p>
            <a:pPr algn="l" indent="0" marL="0">
              <a:buNone/>
            </a:pPr>
            <a:r>
              <a:rPr lang="en-US" sz="920" b="1" spc="110" kern="0" dirty="0">
                <a:solidFill>
                  <a:srgbClr val="102A43"/>
                </a:solidFill>
                <a:latin typeface="Aptos" pitchFamily="34" charset="0"/>
                <a:ea typeface="Aptos" pitchFamily="34" charset="-122"/>
                <a:cs typeface="Aptos" pitchFamily="34" charset="-120"/>
              </a:rPr>
              <a:t>SUITE</a:t>
            </a:r>
            <a:endParaRPr lang="en-US" sz="920" dirty="0"/>
          </a:p>
        </p:txBody>
      </p:sp>
      <p:sp>
        <p:nvSpPr>
          <p:cNvPr id="20" name="Text 17"/>
          <p:cNvSpPr txBox="1"/>
          <p:nvPr/>
        </p:nvSpPr>
        <p:spPr>
          <a:xfrm>
            <a:off x="896112" y="4370832"/>
            <a:ext cx="5303520" cy="585216"/>
          </a:xfrm>
          <a:prstGeom prst="rect">
            <a:avLst/>
          </a:prstGeom>
          <a:noFill/>
          <a:ln/>
        </p:spPr>
        <p:txBody>
          <a:bodyPr wrap="square" lIns="0" tIns="0" rIns="0" bIns="0" rtlCol="0" anchor="t"/>
          <a:lstStyle/>
          <a:p>
            <a:pPr algn="l" indent="0" marL="0">
              <a:lnSpc>
                <a:spcPct val="114000"/>
              </a:lnSpc>
              <a:buNone/>
            </a:pPr>
            <a:r>
              <a:rPr lang="en-US" sz="1210" dirty="0">
                <a:solidFill>
                  <a:srgbClr val="243B53"/>
                </a:solidFill>
                <a:latin typeface="Aptos" pitchFamily="34" charset="0"/>
                <a:ea typeface="Aptos" pitchFamily="34" charset="-122"/>
                <a:cs typeface="Aptos" pitchFamily="34" charset="-120"/>
              </a:rPr>
              <a:t>Las pruebas automatizadas que se ejecutan juntas, con un solo comando. El proyecto tiene dos: la de pytest, con veintitrés, y la de la interfaz, que corre con otro ejecutor.</a:t>
            </a:r>
            <a:endParaRPr lang="en-US" sz="1210" dirty="0"/>
          </a:p>
        </p:txBody>
      </p:sp>
      <p:sp>
        <p:nvSpPr>
          <p:cNvPr id="21" name="Text 18"/>
          <p:cNvSpPr txBox="1"/>
          <p:nvPr/>
        </p:nvSpPr>
        <p:spPr>
          <a:xfrm>
            <a:off x="6565392" y="2231136"/>
            <a:ext cx="4974336" cy="201168"/>
          </a:xfrm>
          <a:prstGeom prst="rect">
            <a:avLst/>
          </a:prstGeom>
          <a:noFill/>
          <a:ln/>
        </p:spPr>
        <p:txBody>
          <a:bodyPr wrap="square" lIns="0" tIns="0" rIns="0" bIns="0" rtlCol="0" anchor="t"/>
          <a:lstStyle/>
          <a:p>
            <a:pPr algn="l" indent="0" marL="0">
              <a:buNone/>
            </a:pPr>
            <a:r>
              <a:rPr lang="en-US" sz="960" b="1" spc="130" kern="0" dirty="0">
                <a:solidFill>
                  <a:srgbClr val="D62027"/>
                </a:solidFill>
                <a:latin typeface="Aptos" pitchFamily="34" charset="0"/>
                <a:ea typeface="Aptos" pitchFamily="34" charset="-122"/>
                <a:cs typeface="Aptos" pitchFamily="34" charset="-120"/>
              </a:rPr>
              <a:t>DOS SUITES DISTINTAS, LA MISMA LÍNEA FINAL</a:t>
            </a:r>
            <a:endParaRPr lang="en-US" sz="960" dirty="0"/>
          </a:p>
        </p:txBody>
      </p:sp>
      <p:sp>
        <p:nvSpPr>
          <p:cNvPr id="22" name="Shape 19"/>
          <p:cNvSpPr/>
          <p:nvPr/>
        </p:nvSpPr>
        <p:spPr>
          <a:xfrm>
            <a:off x="6565392" y="2487168"/>
            <a:ext cx="4974336" cy="1078992"/>
          </a:xfrm>
          <a:prstGeom prst="rect">
            <a:avLst/>
          </a:prstGeom>
          <a:solidFill>
            <a:srgbClr val="FFFFFF"/>
          </a:solidFill>
          <a:ln w="12700">
            <a:solidFill>
              <a:srgbClr val="FFFFFF"/>
            </a:solidFill>
            <a:prstDash val="solid"/>
          </a:ln>
        </p:spPr>
      </p:sp>
      <p:sp>
        <p:nvSpPr>
          <p:cNvPr id="23" name="Shape 20"/>
          <p:cNvSpPr/>
          <p:nvPr/>
        </p:nvSpPr>
        <p:spPr>
          <a:xfrm>
            <a:off x="6565392" y="2487168"/>
            <a:ext cx="4974336" cy="54864"/>
          </a:xfrm>
          <a:prstGeom prst="rect">
            <a:avLst/>
          </a:prstGeom>
          <a:solidFill>
            <a:srgbClr val="2E7D4F"/>
          </a:solidFill>
          <a:ln w="12700">
            <a:solidFill>
              <a:srgbClr val="2E7D4F"/>
            </a:solidFill>
            <a:prstDash val="solid"/>
          </a:ln>
        </p:spPr>
      </p:sp>
      <p:sp>
        <p:nvSpPr>
          <p:cNvPr id="24" name="Text 21"/>
          <p:cNvSpPr txBox="1"/>
          <p:nvPr/>
        </p:nvSpPr>
        <p:spPr>
          <a:xfrm>
            <a:off x="6766560" y="2670048"/>
            <a:ext cx="4572000" cy="182880"/>
          </a:xfrm>
          <a:prstGeom prst="rect">
            <a:avLst/>
          </a:prstGeom>
          <a:noFill/>
          <a:ln/>
        </p:spPr>
        <p:txBody>
          <a:bodyPr wrap="square" lIns="0" tIns="0" rIns="0" bIns="0" rtlCol="0" anchor="t"/>
          <a:lstStyle/>
          <a:p>
            <a:pPr algn="l" indent="0" marL="0">
              <a:buNone/>
            </a:pPr>
            <a:r>
              <a:rPr lang="en-US" sz="960" b="1" spc="100" kern="0" dirty="0">
                <a:solidFill>
                  <a:srgbClr val="2E7D4F"/>
                </a:solidFill>
                <a:latin typeface="Aptos" pitchFamily="34" charset="0"/>
                <a:ea typeface="Aptos" pitchFamily="34" charset="-122"/>
                <a:cs typeface="Aptos" pitchFamily="34" charset="-120"/>
              </a:rPr>
              <a:t>UNA SUITE COMPLETA</a:t>
            </a:r>
            <a:endParaRPr lang="en-US" sz="960" dirty="0"/>
          </a:p>
        </p:txBody>
      </p:sp>
      <p:sp>
        <p:nvSpPr>
          <p:cNvPr id="25" name="Text 22"/>
          <p:cNvSpPr txBox="1"/>
          <p:nvPr/>
        </p:nvSpPr>
        <p:spPr>
          <a:xfrm>
            <a:off x="6766560" y="2907792"/>
            <a:ext cx="4572000" cy="530352"/>
          </a:xfrm>
          <a:prstGeom prst="rect">
            <a:avLst/>
          </a:prstGeom>
          <a:noFill/>
          <a:ln/>
        </p:spPr>
        <p:txBody>
          <a:bodyPr wrap="square" lIns="0" tIns="0" rIns="0" bIns="0" rtlCol="0" anchor="t"/>
          <a:lstStyle/>
          <a:p>
            <a:pPr algn="l" indent="0" marL="0">
              <a:lnSpc>
                <a:spcPct val="114000"/>
              </a:lnSpc>
              <a:buNone/>
            </a:pPr>
            <a:r>
              <a:rPr lang="en-US" sz="1140" dirty="0">
                <a:solidFill>
                  <a:srgbClr val="243B53"/>
                </a:solidFill>
                <a:latin typeface="Aptos" pitchFamily="34" charset="0"/>
                <a:ea typeface="Aptos" pitchFamily="34" charset="-122"/>
                <a:cs typeface="Aptos" pitchFamily="34" charset="-120"/>
              </a:rPr>
              <a:t>Cubre todas las reglas del sistema y todos sus bordes. Termina con veintidós en verde y el rojo que ya se conoce.</a:t>
            </a:r>
            <a:endParaRPr lang="en-US" sz="1140" dirty="0"/>
          </a:p>
        </p:txBody>
      </p:sp>
      <p:sp>
        <p:nvSpPr>
          <p:cNvPr id="26" name="Shape 23"/>
          <p:cNvSpPr/>
          <p:nvPr/>
        </p:nvSpPr>
        <p:spPr>
          <a:xfrm>
            <a:off x="6565392" y="3675888"/>
            <a:ext cx="4974336" cy="1078992"/>
          </a:xfrm>
          <a:prstGeom prst="rect">
            <a:avLst/>
          </a:prstGeom>
          <a:solidFill>
            <a:srgbClr val="FFFFFF"/>
          </a:solidFill>
          <a:ln w="12700">
            <a:solidFill>
              <a:srgbClr val="FFFFFF"/>
            </a:solidFill>
            <a:prstDash val="solid"/>
          </a:ln>
        </p:spPr>
      </p:sp>
      <p:sp>
        <p:nvSpPr>
          <p:cNvPr id="27" name="Shape 24"/>
          <p:cNvSpPr/>
          <p:nvPr/>
        </p:nvSpPr>
        <p:spPr>
          <a:xfrm>
            <a:off x="6565392" y="3675888"/>
            <a:ext cx="4974336" cy="54864"/>
          </a:xfrm>
          <a:prstGeom prst="rect">
            <a:avLst/>
          </a:prstGeom>
          <a:solidFill>
            <a:srgbClr val="B3181E"/>
          </a:solidFill>
          <a:ln w="12700">
            <a:solidFill>
              <a:srgbClr val="B3181E"/>
            </a:solidFill>
            <a:prstDash val="solid"/>
          </a:ln>
        </p:spPr>
      </p:sp>
      <p:sp>
        <p:nvSpPr>
          <p:cNvPr id="28" name="Text 25"/>
          <p:cNvSpPr txBox="1"/>
          <p:nvPr/>
        </p:nvSpPr>
        <p:spPr>
          <a:xfrm>
            <a:off x="6766560" y="3858768"/>
            <a:ext cx="4572000" cy="182880"/>
          </a:xfrm>
          <a:prstGeom prst="rect">
            <a:avLst/>
          </a:prstGeom>
          <a:noFill/>
          <a:ln/>
        </p:spPr>
        <p:txBody>
          <a:bodyPr wrap="square" lIns="0" tIns="0" rIns="0" bIns="0" rtlCol="0" anchor="t"/>
          <a:lstStyle/>
          <a:p>
            <a:pPr algn="l" indent="0" marL="0">
              <a:buNone/>
            </a:pPr>
            <a:r>
              <a:rPr lang="en-US" sz="960" b="1" spc="100" kern="0" dirty="0">
                <a:solidFill>
                  <a:srgbClr val="B3181E"/>
                </a:solidFill>
                <a:latin typeface="Aptos" pitchFamily="34" charset="0"/>
                <a:ea typeface="Aptos" pitchFamily="34" charset="-122"/>
                <a:cs typeface="Aptos" pitchFamily="34" charset="-120"/>
              </a:rPr>
              <a:t>UNA SUITE A LA QUE LE FALTA LA MITAD</a:t>
            </a:r>
            <a:endParaRPr lang="en-US" sz="960" dirty="0"/>
          </a:p>
        </p:txBody>
      </p:sp>
      <p:sp>
        <p:nvSpPr>
          <p:cNvPr id="29" name="Text 26"/>
          <p:cNvSpPr txBox="1"/>
          <p:nvPr/>
        </p:nvSpPr>
        <p:spPr>
          <a:xfrm>
            <a:off x="6766560" y="4096512"/>
            <a:ext cx="4572000" cy="530352"/>
          </a:xfrm>
          <a:prstGeom prst="rect">
            <a:avLst/>
          </a:prstGeom>
          <a:noFill/>
          <a:ln/>
        </p:spPr>
        <p:txBody>
          <a:bodyPr wrap="square" lIns="0" tIns="0" rIns="0" bIns="0" rtlCol="0" anchor="t"/>
          <a:lstStyle/>
          <a:p>
            <a:pPr algn="l" indent="0" marL="0">
              <a:lnSpc>
                <a:spcPct val="114000"/>
              </a:lnSpc>
              <a:buNone/>
            </a:pPr>
            <a:r>
              <a:rPr lang="en-US" sz="1140" dirty="0">
                <a:solidFill>
                  <a:srgbClr val="243B53"/>
                </a:solidFill>
                <a:latin typeface="Aptos" pitchFamily="34" charset="0"/>
                <a:ea typeface="Aptos" pitchFamily="34" charset="-122"/>
                <a:cs typeface="Aptos" pitchFamily="34" charset="-120"/>
              </a:rPr>
              <a:t>Si alguien borrara ocho de las veintidós que pasan, informaría catorce en verde y el mismo rojo.</a:t>
            </a:r>
            <a:endParaRPr lang="en-US" sz="1140" dirty="0"/>
          </a:p>
        </p:txBody>
      </p:sp>
      <p:sp>
        <p:nvSpPr>
          <p:cNvPr id="30" name="Text 27"/>
          <p:cNvSpPr txBox="1"/>
          <p:nvPr/>
        </p:nvSpPr>
        <p:spPr>
          <a:xfrm>
            <a:off x="6565392" y="4882896"/>
            <a:ext cx="4974336" cy="548640"/>
          </a:xfrm>
          <a:prstGeom prst="rect">
            <a:avLst/>
          </a:prstGeom>
          <a:noFill/>
          <a:ln/>
        </p:spPr>
        <p:txBody>
          <a:bodyPr wrap="square" lIns="0" tIns="0" rIns="0" bIns="0" rtlCol="0" anchor="t"/>
          <a:lstStyle/>
          <a:p>
            <a:pPr algn="l" indent="0" marL="0">
              <a:lnSpc>
                <a:spcPct val="114000"/>
              </a:lnSpc>
              <a:buNone/>
            </a:pPr>
            <a:r>
              <a:rPr lang="en-US" sz="1220" b="1" dirty="0">
                <a:solidFill>
                  <a:srgbClr val="243B53"/>
                </a:solidFill>
                <a:latin typeface="Aptos" pitchFamily="34" charset="0"/>
                <a:ea typeface="Aptos" pitchFamily="34" charset="-122"/>
                <a:cs typeface="Aptos" pitchFamily="34" charset="-120"/>
              </a:rPr>
              <a:t>El resultado no cambia cuando faltan pruebas. Solo cambia cuando las que hay fallan.</a:t>
            </a:r>
            <a:endParaRPr lang="en-US" sz="1220" dirty="0"/>
          </a:p>
        </p:txBody>
      </p:sp>
      <p:sp>
        <p:nvSpPr>
          <p:cNvPr id="31" name="Shape 28"/>
          <p:cNvSpPr/>
          <p:nvPr/>
        </p:nvSpPr>
        <p:spPr>
          <a:xfrm>
            <a:off x="658368" y="5650992"/>
            <a:ext cx="10874959" cy="548640"/>
          </a:xfrm>
          <a:prstGeom prst="rect">
            <a:avLst/>
          </a:prstGeom>
          <a:solidFill>
            <a:srgbClr val="102A43"/>
          </a:solidFill>
          <a:ln w="12700">
            <a:solidFill>
              <a:srgbClr val="102A43"/>
            </a:solidFill>
            <a:prstDash val="solid"/>
          </a:ln>
        </p:spPr>
      </p:sp>
      <p:sp>
        <p:nvSpPr>
          <p:cNvPr id="32" name="Text 29"/>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Informa sobre las pruebas que existen. Sobre las que no existen no puede decir nada.</a:t>
            </a:r>
            <a:endParaRPr lang="en-US" sz="13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03</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EL ALCANCE DE UN VERDE</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El mismo límite, un escalón más arriba</a:t>
            </a:r>
            <a:endParaRPr lang="en-US" sz="3000" dirty="0"/>
          </a:p>
        </p:txBody>
      </p:sp>
      <p:sp>
        <p:nvSpPr>
          <p:cNvPr id="10" name="Text 7"/>
          <p:cNvSpPr txBox="1"/>
          <p:nvPr/>
        </p:nvSpPr>
        <p:spPr>
          <a:xfrm>
            <a:off x="658368" y="1664208"/>
            <a:ext cx="10424160" cy="347472"/>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Subir de una prueba a una suite no cambia la naturaleza del límite. Solo lo vuelve más difícil de notar.</a:t>
            </a:r>
            <a:endParaRPr lang="en-US" sz="1420" dirty="0"/>
          </a:p>
        </p:txBody>
      </p:sp>
      <p:sp>
        <p:nvSpPr>
          <p:cNvPr id="11" name="Shape 8"/>
          <p:cNvSpPr/>
          <p:nvPr/>
        </p:nvSpPr>
        <p:spPr>
          <a:xfrm>
            <a:off x="658368" y="2798064"/>
            <a:ext cx="6986016" cy="457200"/>
          </a:xfrm>
          <a:prstGeom prst="rect">
            <a:avLst/>
          </a:prstGeom>
          <a:solidFill>
            <a:srgbClr val="EDE6DA"/>
          </a:solidFill>
          <a:ln w="12700">
            <a:solidFill>
              <a:srgbClr val="EDE6DA"/>
            </a:solidFill>
            <a:prstDash val="solid"/>
          </a:ln>
        </p:spPr>
      </p:sp>
      <p:sp>
        <p:nvSpPr>
          <p:cNvPr id="12" name="Shape 9"/>
          <p:cNvSpPr/>
          <p:nvPr/>
        </p:nvSpPr>
        <p:spPr>
          <a:xfrm>
            <a:off x="658368" y="2798064"/>
            <a:ext cx="54864" cy="457200"/>
          </a:xfrm>
          <a:prstGeom prst="rect">
            <a:avLst/>
          </a:prstGeom>
          <a:solidFill>
            <a:srgbClr val="52606D"/>
          </a:solidFill>
          <a:ln w="12700">
            <a:solidFill>
              <a:srgbClr val="52606D"/>
            </a:solidFill>
            <a:prstDash val="solid"/>
          </a:ln>
        </p:spPr>
      </p:sp>
      <p:sp>
        <p:nvSpPr>
          <p:cNvPr id="13" name="Text 10"/>
          <p:cNvSpPr txBox="1"/>
          <p:nvPr/>
        </p:nvSpPr>
        <p:spPr>
          <a:xfrm>
            <a:off x="896112" y="2907792"/>
            <a:ext cx="6492240" cy="256032"/>
          </a:xfrm>
          <a:prstGeom prst="rect">
            <a:avLst/>
          </a:prstGeom>
          <a:noFill/>
          <a:ln/>
        </p:spPr>
        <p:txBody>
          <a:bodyPr wrap="square" lIns="0" tIns="0" rIns="0" bIns="0" rtlCol="0" anchor="t"/>
          <a:lstStyle/>
          <a:p>
            <a:pPr algn="l" indent="0" marL="0">
              <a:buNone/>
            </a:pPr>
            <a:r>
              <a:rPr lang="en-US" sz="1180" dirty="0">
                <a:solidFill>
                  <a:srgbClr val="243B53"/>
                </a:solidFill>
                <a:latin typeface="Aptos" pitchFamily="34" charset="0"/>
                <a:ea typeface="Aptos" pitchFamily="34" charset="-122"/>
                <a:cs typeface="Aptos" pitchFamily="34" charset="-120"/>
              </a:rPr>
              <a:t>Cada escalón afirma sobre lo que existe, nunca sobre lo que falta.</a:t>
            </a:r>
            <a:endParaRPr lang="en-US" sz="1180" dirty="0"/>
          </a:p>
        </p:txBody>
      </p:sp>
      <p:sp>
        <p:nvSpPr>
          <p:cNvPr id="14" name="Shape 11"/>
          <p:cNvSpPr/>
          <p:nvPr/>
        </p:nvSpPr>
        <p:spPr>
          <a:xfrm>
            <a:off x="658368" y="4206240"/>
            <a:ext cx="3419856" cy="1188720"/>
          </a:xfrm>
          <a:prstGeom prst="rect">
            <a:avLst/>
          </a:prstGeom>
          <a:solidFill>
            <a:srgbClr val="FFFFFF"/>
          </a:solidFill>
          <a:ln w="12700">
            <a:solidFill>
              <a:srgbClr val="FFFFFF"/>
            </a:solidFill>
            <a:prstDash val="solid"/>
          </a:ln>
        </p:spPr>
      </p:sp>
      <p:sp>
        <p:nvSpPr>
          <p:cNvPr id="15" name="Shape 12"/>
          <p:cNvSpPr/>
          <p:nvPr/>
        </p:nvSpPr>
        <p:spPr>
          <a:xfrm>
            <a:off x="658368" y="4206240"/>
            <a:ext cx="3419856" cy="54864"/>
          </a:xfrm>
          <a:prstGeom prst="rect">
            <a:avLst/>
          </a:prstGeom>
          <a:solidFill>
            <a:srgbClr val="102A43"/>
          </a:solidFill>
          <a:ln w="12700">
            <a:solidFill>
              <a:srgbClr val="102A43"/>
            </a:solidFill>
            <a:prstDash val="solid"/>
          </a:ln>
        </p:spPr>
      </p:sp>
      <p:sp>
        <p:nvSpPr>
          <p:cNvPr id="16" name="Text 13"/>
          <p:cNvSpPr txBox="1"/>
          <p:nvPr/>
        </p:nvSpPr>
        <p:spPr>
          <a:xfrm>
            <a:off x="896112" y="4407408"/>
            <a:ext cx="2944368" cy="274320"/>
          </a:xfrm>
          <a:prstGeom prst="rect">
            <a:avLst/>
          </a:prstGeom>
          <a:noFill/>
          <a:ln/>
        </p:spPr>
        <p:txBody>
          <a:bodyPr wrap="square" lIns="0" tIns="0" rIns="0" bIns="0" rtlCol="0" anchor="t"/>
          <a:lstStyle/>
          <a:p>
            <a:pPr algn="l" indent="0" marL="0">
              <a:buNone/>
            </a:pPr>
            <a:r>
              <a:rPr lang="en-US" sz="1460" b="1" dirty="0">
                <a:solidFill>
                  <a:srgbClr val="243B53"/>
                </a:solidFill>
                <a:latin typeface="Aptos" pitchFamily="34" charset="0"/>
                <a:ea typeface="Aptos" pitchFamily="34" charset="-122"/>
                <a:cs typeface="Aptos" pitchFamily="34" charset="-120"/>
              </a:rPr>
              <a:t>Una prueba en verde</a:t>
            </a:r>
            <a:endParaRPr lang="en-US" sz="1460" dirty="0"/>
          </a:p>
        </p:txBody>
      </p:sp>
      <p:sp>
        <p:nvSpPr>
          <p:cNvPr id="17" name="Text 14"/>
          <p:cNvSpPr txBox="1"/>
          <p:nvPr/>
        </p:nvSpPr>
        <p:spPr>
          <a:xfrm>
            <a:off x="896112" y="4718304"/>
            <a:ext cx="2944368" cy="402336"/>
          </a:xfrm>
          <a:prstGeom prst="rect">
            <a:avLst/>
          </a:prstGeom>
          <a:noFill/>
          <a:ln/>
        </p:spPr>
        <p:txBody>
          <a:bodyPr wrap="square" lIns="0" tIns="0" rIns="0" bIns="0" rtlCol="0" anchor="t"/>
          <a:lstStyle/>
          <a:p>
            <a:pPr algn="l" indent="0" marL="0">
              <a:lnSpc>
                <a:spcPct val="110000"/>
              </a:lnSpc>
              <a:buNone/>
            </a:pPr>
            <a:r>
              <a:rPr lang="en-US" sz="1120" dirty="0">
                <a:solidFill>
                  <a:srgbClr val="52606D"/>
                </a:solidFill>
                <a:latin typeface="Aptos" pitchFamily="34" charset="0"/>
                <a:ea typeface="Aptos" pitchFamily="34" charset="-122"/>
                <a:cs typeface="Aptos" pitchFamily="34" charset="-120"/>
              </a:rPr>
              <a:t>Ese caso se comportó como se esperaba.</a:t>
            </a:r>
            <a:endParaRPr lang="en-US" sz="1120" dirty="0"/>
          </a:p>
        </p:txBody>
      </p:sp>
      <p:sp>
        <p:nvSpPr>
          <p:cNvPr id="18" name="Shape 15"/>
          <p:cNvSpPr/>
          <p:nvPr/>
        </p:nvSpPr>
        <p:spPr>
          <a:xfrm>
            <a:off x="4224528" y="3474720"/>
            <a:ext cx="3419856" cy="1920240"/>
          </a:xfrm>
          <a:prstGeom prst="rect">
            <a:avLst/>
          </a:prstGeom>
          <a:solidFill>
            <a:srgbClr val="FFFFFF"/>
          </a:solidFill>
          <a:ln w="12700">
            <a:solidFill>
              <a:srgbClr val="FFFFFF"/>
            </a:solidFill>
            <a:prstDash val="solid"/>
          </a:ln>
        </p:spPr>
      </p:sp>
      <p:sp>
        <p:nvSpPr>
          <p:cNvPr id="19" name="Shape 16"/>
          <p:cNvSpPr/>
          <p:nvPr/>
        </p:nvSpPr>
        <p:spPr>
          <a:xfrm>
            <a:off x="4224528" y="3474720"/>
            <a:ext cx="3419856" cy="54864"/>
          </a:xfrm>
          <a:prstGeom prst="rect">
            <a:avLst/>
          </a:prstGeom>
          <a:solidFill>
            <a:srgbClr val="8A6A12"/>
          </a:solidFill>
          <a:ln w="12700">
            <a:solidFill>
              <a:srgbClr val="8A6A12"/>
            </a:solidFill>
            <a:prstDash val="solid"/>
          </a:ln>
        </p:spPr>
      </p:sp>
      <p:sp>
        <p:nvSpPr>
          <p:cNvPr id="20" name="Text 17"/>
          <p:cNvSpPr txBox="1"/>
          <p:nvPr/>
        </p:nvSpPr>
        <p:spPr>
          <a:xfrm>
            <a:off x="4462272" y="3675888"/>
            <a:ext cx="2944368" cy="274320"/>
          </a:xfrm>
          <a:prstGeom prst="rect">
            <a:avLst/>
          </a:prstGeom>
          <a:noFill/>
          <a:ln/>
        </p:spPr>
        <p:txBody>
          <a:bodyPr wrap="square" lIns="0" tIns="0" rIns="0" bIns="0" rtlCol="0" anchor="t"/>
          <a:lstStyle/>
          <a:p>
            <a:pPr algn="l" indent="0" marL="0">
              <a:buNone/>
            </a:pPr>
            <a:r>
              <a:rPr lang="en-US" sz="1460" b="1" dirty="0">
                <a:solidFill>
                  <a:srgbClr val="243B53"/>
                </a:solidFill>
                <a:latin typeface="Aptos" pitchFamily="34" charset="0"/>
                <a:ea typeface="Aptos" pitchFamily="34" charset="-122"/>
                <a:cs typeface="Aptos" pitchFamily="34" charset="-120"/>
              </a:rPr>
              <a:t>Una suite en verde</a:t>
            </a:r>
            <a:endParaRPr lang="en-US" sz="1460" dirty="0"/>
          </a:p>
        </p:txBody>
      </p:sp>
      <p:sp>
        <p:nvSpPr>
          <p:cNvPr id="21" name="Text 18"/>
          <p:cNvSpPr txBox="1"/>
          <p:nvPr/>
        </p:nvSpPr>
        <p:spPr>
          <a:xfrm>
            <a:off x="4462272" y="3986784"/>
            <a:ext cx="2944368" cy="402336"/>
          </a:xfrm>
          <a:prstGeom prst="rect">
            <a:avLst/>
          </a:prstGeom>
          <a:noFill/>
          <a:ln/>
        </p:spPr>
        <p:txBody>
          <a:bodyPr wrap="square" lIns="0" tIns="0" rIns="0" bIns="0" rtlCol="0" anchor="t"/>
          <a:lstStyle/>
          <a:p>
            <a:pPr algn="l" indent="0" marL="0">
              <a:lnSpc>
                <a:spcPct val="110000"/>
              </a:lnSpc>
              <a:buNone/>
            </a:pPr>
            <a:r>
              <a:rPr lang="en-US" sz="1120" dirty="0">
                <a:solidFill>
                  <a:srgbClr val="52606D"/>
                </a:solidFill>
                <a:latin typeface="Aptos" pitchFamily="34" charset="0"/>
                <a:ea typeface="Aptos" pitchFamily="34" charset="-122"/>
                <a:cs typeface="Aptos" pitchFamily="34" charset="-120"/>
              </a:rPr>
              <a:t>Los casos que existen se comportaron así.</a:t>
            </a:r>
            <a:endParaRPr lang="en-US" sz="1120" dirty="0"/>
          </a:p>
        </p:txBody>
      </p:sp>
      <p:sp>
        <p:nvSpPr>
          <p:cNvPr id="22" name="Text 19"/>
          <p:cNvSpPr txBox="1"/>
          <p:nvPr/>
        </p:nvSpPr>
        <p:spPr>
          <a:xfrm>
            <a:off x="7790688" y="2487168"/>
            <a:ext cx="3739896" cy="201168"/>
          </a:xfrm>
          <a:prstGeom prst="rect">
            <a:avLst/>
          </a:prstGeom>
          <a:noFill/>
          <a:ln/>
        </p:spPr>
        <p:txBody>
          <a:bodyPr wrap="square" lIns="0" tIns="0" rIns="0" bIns="0" rtlCol="0" anchor="t"/>
          <a:lstStyle/>
          <a:p>
            <a:pPr algn="l" indent="0" marL="0">
              <a:buNone/>
            </a:pPr>
            <a:r>
              <a:rPr lang="en-US" sz="960" b="1" spc="130" kern="0" dirty="0">
                <a:solidFill>
                  <a:srgbClr val="B3181E"/>
                </a:solidFill>
                <a:latin typeface="Aptos" pitchFamily="34" charset="0"/>
                <a:ea typeface="Aptos" pitchFamily="34" charset="-122"/>
                <a:cs typeface="Aptos" pitchFamily="34" charset="-120"/>
              </a:rPr>
              <a:t>EL ESCALÓN QUE NADIE SUBIÓ</a:t>
            </a:r>
            <a:endParaRPr lang="en-US" sz="960" dirty="0"/>
          </a:p>
        </p:txBody>
      </p:sp>
      <p:sp>
        <p:nvSpPr>
          <p:cNvPr id="23" name="Shape 20"/>
          <p:cNvSpPr/>
          <p:nvPr/>
        </p:nvSpPr>
        <p:spPr>
          <a:xfrm>
            <a:off x="7223760" y="3035808"/>
            <a:ext cx="457200" cy="0"/>
          </a:xfrm>
          <a:prstGeom prst="line">
            <a:avLst/>
          </a:prstGeom>
          <a:noFill/>
          <a:ln w="12700">
            <a:solidFill>
              <a:srgbClr val="B3181E"/>
            </a:solidFill>
            <a:prstDash val="solid"/>
            <a:headEnd type="none"/>
            <a:tailEnd type="triangle"/>
          </a:ln>
        </p:spPr>
      </p:sp>
      <p:sp>
        <p:nvSpPr>
          <p:cNvPr id="24" name="Shape 21"/>
          <p:cNvSpPr/>
          <p:nvPr/>
        </p:nvSpPr>
        <p:spPr>
          <a:xfrm>
            <a:off x="7790688" y="2743200"/>
            <a:ext cx="3742639" cy="2651760"/>
          </a:xfrm>
          <a:prstGeom prst="rect">
            <a:avLst/>
          </a:prstGeom>
          <a:solidFill>
            <a:srgbClr val="F2E7D9"/>
          </a:solidFill>
          <a:ln w="12700">
            <a:solidFill>
              <a:srgbClr val="B3181E"/>
            </a:solidFill>
            <a:prstDash val="solid"/>
          </a:ln>
        </p:spPr>
      </p:sp>
      <p:sp>
        <p:nvSpPr>
          <p:cNvPr id="25" name="Text 22"/>
          <p:cNvSpPr txBox="1"/>
          <p:nvPr/>
        </p:nvSpPr>
        <p:spPr>
          <a:xfrm>
            <a:off x="8028432" y="2926080"/>
            <a:ext cx="3264408" cy="274320"/>
          </a:xfrm>
          <a:prstGeom prst="rect">
            <a:avLst/>
          </a:prstGeom>
          <a:noFill/>
          <a:ln/>
        </p:spPr>
        <p:txBody>
          <a:bodyPr wrap="square" lIns="0" tIns="0" rIns="0" bIns="0" rtlCol="0" anchor="t"/>
          <a:lstStyle/>
          <a:p>
            <a:pPr algn="l" indent="0" marL="0">
              <a:buNone/>
            </a:pPr>
            <a:r>
              <a:rPr lang="en-US" sz="1460" b="1" dirty="0">
                <a:solidFill>
                  <a:srgbClr val="B3181E"/>
                </a:solidFill>
                <a:latin typeface="Aptos" pitchFamily="34" charset="0"/>
                <a:ea typeface="Aptos" pitchFamily="34" charset="-122"/>
                <a:cs typeface="Aptos" pitchFamily="34" charset="-120"/>
              </a:rPr>
              <a:t>El sistema probado</a:t>
            </a:r>
            <a:endParaRPr lang="en-US" sz="1460" dirty="0"/>
          </a:p>
        </p:txBody>
      </p:sp>
      <p:sp>
        <p:nvSpPr>
          <p:cNvPr id="26" name="Text 23"/>
          <p:cNvSpPr txBox="1"/>
          <p:nvPr/>
        </p:nvSpPr>
        <p:spPr>
          <a:xfrm>
            <a:off x="8028432" y="3236976"/>
            <a:ext cx="3264408" cy="274320"/>
          </a:xfrm>
          <a:prstGeom prst="rect">
            <a:avLst/>
          </a:prstGeom>
          <a:noFill/>
          <a:ln/>
        </p:spPr>
        <p:txBody>
          <a:bodyPr wrap="square" lIns="0" tIns="0" rIns="0" bIns="0" rtlCol="0" anchor="t"/>
          <a:lstStyle/>
          <a:p>
            <a:pPr algn="l" indent="0" marL="0">
              <a:buNone/>
            </a:pPr>
            <a:r>
              <a:rPr lang="en-US" sz="1120" dirty="0">
                <a:solidFill>
                  <a:srgbClr val="B3181E"/>
                </a:solidFill>
                <a:latin typeface="Aptos" pitchFamily="34" charset="0"/>
                <a:ea typeface="Aptos" pitchFamily="34" charset="-122"/>
                <a:cs typeface="Aptos" pitchFamily="34" charset="-120"/>
              </a:rPr>
              <a:t>Nadie afirmó esto, y nada lo advierte.</a:t>
            </a:r>
            <a:endParaRPr lang="en-US" sz="1120" dirty="0"/>
          </a:p>
        </p:txBody>
      </p:sp>
      <p:sp>
        <p:nvSpPr>
          <p:cNvPr id="27" name="Shape 24"/>
          <p:cNvSpPr/>
          <p:nvPr/>
        </p:nvSpPr>
        <p:spPr>
          <a:xfrm>
            <a:off x="8028432" y="3584448"/>
            <a:ext cx="3264408" cy="0"/>
          </a:xfrm>
          <a:prstGeom prst="line">
            <a:avLst/>
          </a:prstGeom>
          <a:noFill/>
          <a:ln w="12700">
            <a:solidFill>
              <a:srgbClr val="B3181E"/>
            </a:solidFill>
            <a:prstDash val="solid"/>
            <a:headEnd type="none"/>
            <a:tailEnd type="none"/>
          </a:ln>
        </p:spPr>
      </p:sp>
      <p:sp>
        <p:nvSpPr>
          <p:cNvPr id="28" name="Text 25"/>
          <p:cNvSpPr txBox="1"/>
          <p:nvPr/>
        </p:nvSpPr>
        <p:spPr>
          <a:xfrm>
            <a:off x="8028432" y="3675888"/>
            <a:ext cx="3264408" cy="182880"/>
          </a:xfrm>
          <a:prstGeom prst="rect">
            <a:avLst/>
          </a:prstGeom>
          <a:noFill/>
          <a:ln/>
        </p:spPr>
        <p:txBody>
          <a:bodyPr wrap="square" lIns="0" tIns="0" rIns="0" bIns="0" rtlCol="0" anchor="t"/>
          <a:lstStyle/>
          <a:p>
            <a:pPr algn="l" indent="0" marL="0">
              <a:buNone/>
            </a:pPr>
            <a:r>
              <a:rPr lang="en-US" sz="860" b="1" spc="90" kern="0" dirty="0">
                <a:solidFill>
                  <a:srgbClr val="B3181E"/>
                </a:solidFill>
                <a:latin typeface="Aptos" pitchFamily="34" charset="0"/>
                <a:ea typeface="Aptos" pitchFamily="34" charset="-122"/>
                <a:cs typeface="Aptos" pitchFamily="34" charset="-120"/>
              </a:rPr>
              <a:t>LO QUE FALTA PARA PODER AFIRMARLO</a:t>
            </a:r>
            <a:endParaRPr lang="en-US" sz="860" dirty="0"/>
          </a:p>
        </p:txBody>
      </p:sp>
      <p:sp>
        <p:nvSpPr>
          <p:cNvPr id="29" name="Shape 26"/>
          <p:cNvSpPr/>
          <p:nvPr/>
        </p:nvSpPr>
        <p:spPr>
          <a:xfrm>
            <a:off x="8028432" y="4032504"/>
            <a:ext cx="128016" cy="128016"/>
          </a:xfrm>
          <a:prstGeom prst="rect">
            <a:avLst/>
          </a:prstGeom>
          <a:solidFill>
            <a:srgbClr val="B3181E"/>
          </a:solidFill>
          <a:ln w="12700">
            <a:solidFill>
              <a:srgbClr val="B3181E"/>
            </a:solidFill>
            <a:prstDash val="solid"/>
          </a:ln>
        </p:spPr>
      </p:sp>
      <p:sp>
        <p:nvSpPr>
          <p:cNvPr id="30" name="Text 27"/>
          <p:cNvSpPr txBox="1"/>
          <p:nvPr/>
        </p:nvSpPr>
        <p:spPr>
          <a:xfrm>
            <a:off x="8284464" y="3968496"/>
            <a:ext cx="3008376" cy="256032"/>
          </a:xfrm>
          <a:prstGeom prst="rect">
            <a:avLst/>
          </a:prstGeom>
          <a:noFill/>
          <a:ln/>
        </p:spPr>
        <p:txBody>
          <a:bodyPr wrap="square" lIns="0" tIns="0" rIns="0" bIns="0" rtlCol="0" anchor="t"/>
          <a:lstStyle/>
          <a:p>
            <a:pPr algn="l" indent="0" marL="0">
              <a:buNone/>
            </a:pPr>
            <a:r>
              <a:rPr lang="en-US" sz="1140" dirty="0">
                <a:solidFill>
                  <a:srgbClr val="243B53"/>
                </a:solidFill>
                <a:latin typeface="Aptos" pitchFamily="34" charset="0"/>
                <a:ea typeface="Aptos" pitchFamily="34" charset="-122"/>
                <a:cs typeface="Aptos" pitchFamily="34" charset="-120"/>
              </a:rPr>
              <a:t>Quién decidió qué se probaba</a:t>
            </a:r>
            <a:endParaRPr lang="en-US" sz="1140" dirty="0"/>
          </a:p>
        </p:txBody>
      </p:sp>
      <p:sp>
        <p:nvSpPr>
          <p:cNvPr id="31" name="Shape 28"/>
          <p:cNvSpPr/>
          <p:nvPr/>
        </p:nvSpPr>
        <p:spPr>
          <a:xfrm>
            <a:off x="8028432" y="4361688"/>
            <a:ext cx="128016" cy="128016"/>
          </a:xfrm>
          <a:prstGeom prst="rect">
            <a:avLst/>
          </a:prstGeom>
          <a:solidFill>
            <a:srgbClr val="B3181E"/>
          </a:solidFill>
          <a:ln w="12700">
            <a:solidFill>
              <a:srgbClr val="B3181E"/>
            </a:solidFill>
            <a:prstDash val="solid"/>
          </a:ln>
        </p:spPr>
      </p:sp>
      <p:sp>
        <p:nvSpPr>
          <p:cNvPr id="32" name="Text 29"/>
          <p:cNvSpPr txBox="1"/>
          <p:nvPr/>
        </p:nvSpPr>
        <p:spPr>
          <a:xfrm>
            <a:off x="8284464" y="4297680"/>
            <a:ext cx="3008376" cy="256032"/>
          </a:xfrm>
          <a:prstGeom prst="rect">
            <a:avLst/>
          </a:prstGeom>
          <a:noFill/>
          <a:ln/>
        </p:spPr>
        <p:txBody>
          <a:bodyPr wrap="square" lIns="0" tIns="0" rIns="0" bIns="0" rtlCol="0" anchor="t"/>
          <a:lstStyle/>
          <a:p>
            <a:pPr algn="l" indent="0" marL="0">
              <a:buNone/>
            </a:pPr>
            <a:r>
              <a:rPr lang="en-US" sz="1140" dirty="0">
                <a:solidFill>
                  <a:srgbClr val="243B53"/>
                </a:solidFill>
                <a:latin typeface="Aptos" pitchFamily="34" charset="0"/>
                <a:ea typeface="Aptos" pitchFamily="34" charset="-122"/>
                <a:cs typeface="Aptos" pitchFamily="34" charset="-120"/>
              </a:rPr>
              <a:t>Qué incluyó en esa decisión</a:t>
            </a:r>
            <a:endParaRPr lang="en-US" sz="1140" dirty="0"/>
          </a:p>
        </p:txBody>
      </p:sp>
      <p:sp>
        <p:nvSpPr>
          <p:cNvPr id="33" name="Shape 30"/>
          <p:cNvSpPr/>
          <p:nvPr/>
        </p:nvSpPr>
        <p:spPr>
          <a:xfrm>
            <a:off x="8028432" y="4690872"/>
            <a:ext cx="128016" cy="128016"/>
          </a:xfrm>
          <a:prstGeom prst="rect">
            <a:avLst/>
          </a:prstGeom>
          <a:solidFill>
            <a:srgbClr val="B3181E"/>
          </a:solidFill>
          <a:ln w="12700">
            <a:solidFill>
              <a:srgbClr val="B3181E"/>
            </a:solidFill>
            <a:prstDash val="solid"/>
          </a:ln>
        </p:spPr>
      </p:sp>
      <p:sp>
        <p:nvSpPr>
          <p:cNvPr id="34" name="Text 31"/>
          <p:cNvSpPr txBox="1"/>
          <p:nvPr/>
        </p:nvSpPr>
        <p:spPr>
          <a:xfrm>
            <a:off x="8284464" y="4626864"/>
            <a:ext cx="3008376" cy="256032"/>
          </a:xfrm>
          <a:prstGeom prst="rect">
            <a:avLst/>
          </a:prstGeom>
          <a:noFill/>
          <a:ln/>
        </p:spPr>
        <p:txBody>
          <a:bodyPr wrap="square" lIns="0" tIns="0" rIns="0" bIns="0" rtlCol="0" anchor="t"/>
          <a:lstStyle/>
          <a:p>
            <a:pPr algn="l" indent="0" marL="0">
              <a:buNone/>
            </a:pPr>
            <a:r>
              <a:rPr lang="en-US" sz="1140" dirty="0">
                <a:solidFill>
                  <a:srgbClr val="243B53"/>
                </a:solidFill>
                <a:latin typeface="Aptos" pitchFamily="34" charset="0"/>
                <a:ea typeface="Aptos" pitchFamily="34" charset="-122"/>
                <a:cs typeface="Aptos" pitchFamily="34" charset="-120"/>
              </a:rPr>
              <a:t>Qué descartó</a:t>
            </a:r>
            <a:endParaRPr lang="en-US" sz="1140" dirty="0"/>
          </a:p>
        </p:txBody>
      </p:sp>
      <p:sp>
        <p:nvSpPr>
          <p:cNvPr id="35" name="Shape 32"/>
          <p:cNvSpPr/>
          <p:nvPr/>
        </p:nvSpPr>
        <p:spPr>
          <a:xfrm>
            <a:off x="8028432" y="5020056"/>
            <a:ext cx="128016" cy="128016"/>
          </a:xfrm>
          <a:prstGeom prst="rect">
            <a:avLst/>
          </a:prstGeom>
          <a:solidFill>
            <a:srgbClr val="B3181E"/>
          </a:solidFill>
          <a:ln w="12700">
            <a:solidFill>
              <a:srgbClr val="B3181E"/>
            </a:solidFill>
            <a:prstDash val="solid"/>
          </a:ln>
        </p:spPr>
      </p:sp>
      <p:sp>
        <p:nvSpPr>
          <p:cNvPr id="36" name="Text 33"/>
          <p:cNvSpPr txBox="1"/>
          <p:nvPr/>
        </p:nvSpPr>
        <p:spPr>
          <a:xfrm>
            <a:off x="8284464" y="4956048"/>
            <a:ext cx="3008376" cy="256032"/>
          </a:xfrm>
          <a:prstGeom prst="rect">
            <a:avLst/>
          </a:prstGeom>
          <a:noFill/>
          <a:ln/>
        </p:spPr>
        <p:txBody>
          <a:bodyPr wrap="square" lIns="0" tIns="0" rIns="0" bIns="0" rtlCol="0" anchor="t"/>
          <a:lstStyle/>
          <a:p>
            <a:pPr algn="l" indent="0" marL="0">
              <a:buNone/>
            </a:pPr>
            <a:r>
              <a:rPr lang="en-US" sz="1140" dirty="0">
                <a:solidFill>
                  <a:srgbClr val="243B53"/>
                </a:solidFill>
                <a:latin typeface="Aptos" pitchFamily="34" charset="0"/>
                <a:ea typeface="Aptos" pitchFamily="34" charset="-122"/>
                <a:cs typeface="Aptos" pitchFamily="34" charset="-120"/>
              </a:rPr>
              <a:t>Con qué argumento</a:t>
            </a:r>
            <a:endParaRPr lang="en-US" sz="1140" dirty="0"/>
          </a:p>
        </p:txBody>
      </p:sp>
      <p:sp>
        <p:nvSpPr>
          <p:cNvPr id="37" name="Shape 34"/>
          <p:cNvSpPr/>
          <p:nvPr/>
        </p:nvSpPr>
        <p:spPr>
          <a:xfrm>
            <a:off x="658368" y="5650992"/>
            <a:ext cx="10874959" cy="548640"/>
          </a:xfrm>
          <a:prstGeom prst="rect">
            <a:avLst/>
          </a:prstGeom>
          <a:solidFill>
            <a:srgbClr val="102A43"/>
          </a:solidFill>
          <a:ln w="12700">
            <a:solidFill>
              <a:srgbClr val="102A43"/>
            </a:solidFill>
            <a:prstDash val="solid"/>
          </a:ln>
        </p:spPr>
      </p:sp>
      <p:sp>
        <p:nvSpPr>
          <p:cNvPr id="38" name="Text 35"/>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Ninguno de esos cuatro datos está en el repositorio.</a:t>
            </a:r>
            <a:endParaRPr lang="en-US" sz="13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04</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DE QUÉ SE TRATA LA SESIÓN</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Tres preguntas que el código no responde</a:t>
            </a:r>
            <a:endParaRPr lang="en-US" sz="3000" dirty="0"/>
          </a:p>
        </p:txBody>
      </p:sp>
      <p:sp>
        <p:nvSpPr>
          <p:cNvPr id="10" name="Text 7"/>
          <p:cNvSpPr txBox="1"/>
          <p:nvPr/>
        </p:nvSpPr>
        <p:spPr>
          <a:xfrm>
            <a:off x="658368" y="1664208"/>
            <a:ext cx="10424160" cy="347472"/>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Cada una tiene su artefacto, y los tres se construyen hoy sobre el proyecto propio.</a:t>
            </a:r>
            <a:endParaRPr lang="en-US" sz="1420" dirty="0"/>
          </a:p>
        </p:txBody>
      </p:sp>
      <p:sp>
        <p:nvSpPr>
          <p:cNvPr id="11" name="Text 8"/>
          <p:cNvSpPr txBox="1"/>
          <p:nvPr/>
        </p:nvSpPr>
        <p:spPr>
          <a:xfrm>
            <a:off x="658368" y="2414016"/>
            <a:ext cx="603504" cy="548640"/>
          </a:xfrm>
          <a:prstGeom prst="rect">
            <a:avLst/>
          </a:prstGeom>
          <a:noFill/>
          <a:ln/>
        </p:spPr>
        <p:txBody>
          <a:bodyPr wrap="square" lIns="0" tIns="0" rIns="0" bIns="0" rtlCol="0" anchor="ctr"/>
          <a:lstStyle/>
          <a:p>
            <a:pPr algn="ctr" indent="0" marL="0">
              <a:buNone/>
            </a:pPr>
            <a:r>
              <a:rPr lang="en-US" sz="3400" b="1" dirty="0">
                <a:solidFill>
                  <a:srgbClr val="102A43"/>
                </a:solidFill>
                <a:latin typeface="Aptos Display" pitchFamily="34" charset="0"/>
                <a:ea typeface="Aptos Display" pitchFamily="34" charset="-122"/>
                <a:cs typeface="Aptos Display" pitchFamily="34" charset="-120"/>
              </a:rPr>
              <a:t>1</a:t>
            </a:r>
            <a:endParaRPr lang="en-US" sz="3400" dirty="0"/>
          </a:p>
        </p:txBody>
      </p:sp>
      <p:sp>
        <p:nvSpPr>
          <p:cNvPr id="12" name="Text 9"/>
          <p:cNvSpPr txBox="1"/>
          <p:nvPr/>
        </p:nvSpPr>
        <p:spPr>
          <a:xfrm>
            <a:off x="1389888" y="2468880"/>
            <a:ext cx="3931920" cy="438912"/>
          </a:xfrm>
          <a:prstGeom prst="rect">
            <a:avLst/>
          </a:prstGeom>
          <a:noFill/>
          <a:ln/>
        </p:spPr>
        <p:txBody>
          <a:bodyPr wrap="square" lIns="0" tIns="0" rIns="0" bIns="0" rtlCol="0" anchor="ctr"/>
          <a:lstStyle/>
          <a:p>
            <a:pPr algn="l" indent="0" marL="0">
              <a:lnSpc>
                <a:spcPct val="108000"/>
              </a:lnSpc>
              <a:buNone/>
            </a:pPr>
            <a:r>
              <a:rPr lang="en-US" sz="1460" b="1" dirty="0">
                <a:solidFill>
                  <a:srgbClr val="243B53"/>
                </a:solidFill>
                <a:latin typeface="Aptos" pitchFamily="34" charset="0"/>
                <a:ea typeface="Aptos" pitchFamily="34" charset="-122"/>
                <a:cs typeface="Aptos" pitchFamily="34" charset="-120"/>
              </a:rPr>
              <a:t>¿Qué se decidió probar, y qué quedó fuera?</a:t>
            </a:r>
            <a:endParaRPr lang="en-US" sz="1460" dirty="0"/>
          </a:p>
        </p:txBody>
      </p:sp>
      <p:sp>
        <p:nvSpPr>
          <p:cNvPr id="13" name="Shape 10"/>
          <p:cNvSpPr/>
          <p:nvPr/>
        </p:nvSpPr>
        <p:spPr>
          <a:xfrm>
            <a:off x="5486400" y="2688336"/>
            <a:ext cx="640080" cy="0"/>
          </a:xfrm>
          <a:prstGeom prst="line">
            <a:avLst/>
          </a:prstGeom>
          <a:noFill/>
          <a:ln w="12700">
            <a:solidFill>
              <a:srgbClr val="102A43"/>
            </a:solidFill>
            <a:prstDash val="solid"/>
            <a:headEnd type="none"/>
            <a:tailEnd type="triangle"/>
          </a:ln>
        </p:spPr>
      </p:sp>
      <p:sp>
        <p:nvSpPr>
          <p:cNvPr id="14" name="Shape 11"/>
          <p:cNvSpPr/>
          <p:nvPr/>
        </p:nvSpPr>
        <p:spPr>
          <a:xfrm>
            <a:off x="6327648" y="2286000"/>
            <a:ext cx="5202936" cy="804672"/>
          </a:xfrm>
          <a:prstGeom prst="rect">
            <a:avLst/>
          </a:prstGeom>
          <a:solidFill>
            <a:srgbClr val="FFFFFF"/>
          </a:solidFill>
          <a:ln w="12700">
            <a:solidFill>
              <a:srgbClr val="FFFFFF"/>
            </a:solidFill>
            <a:prstDash val="solid"/>
          </a:ln>
        </p:spPr>
      </p:sp>
      <p:sp>
        <p:nvSpPr>
          <p:cNvPr id="15" name="Shape 12"/>
          <p:cNvSpPr/>
          <p:nvPr/>
        </p:nvSpPr>
        <p:spPr>
          <a:xfrm>
            <a:off x="6327648" y="2286000"/>
            <a:ext cx="54864" cy="804672"/>
          </a:xfrm>
          <a:prstGeom prst="rect">
            <a:avLst/>
          </a:prstGeom>
          <a:solidFill>
            <a:srgbClr val="102A43"/>
          </a:solidFill>
          <a:ln w="12700">
            <a:solidFill>
              <a:srgbClr val="102A43"/>
            </a:solidFill>
            <a:prstDash val="solid"/>
          </a:ln>
        </p:spPr>
      </p:sp>
      <p:sp>
        <p:nvSpPr>
          <p:cNvPr id="16" name="Text 13"/>
          <p:cNvSpPr txBox="1"/>
          <p:nvPr/>
        </p:nvSpPr>
        <p:spPr>
          <a:xfrm>
            <a:off x="6583680" y="2414016"/>
            <a:ext cx="4846320" cy="274320"/>
          </a:xfrm>
          <a:prstGeom prst="rect">
            <a:avLst/>
          </a:prstGeom>
          <a:noFill/>
          <a:ln/>
        </p:spPr>
        <p:txBody>
          <a:bodyPr wrap="square" lIns="0" tIns="0" rIns="0" bIns="0" rtlCol="0" anchor="t"/>
          <a:lstStyle/>
          <a:p>
            <a:pPr algn="l" indent="0" marL="0">
              <a:buNone/>
            </a:pPr>
            <a:r>
              <a:rPr lang="en-US" sz="1500" b="1" dirty="0">
                <a:solidFill>
                  <a:srgbClr val="102A43"/>
                </a:solidFill>
                <a:latin typeface="Aptos" pitchFamily="34" charset="0"/>
                <a:ea typeface="Aptos" pitchFamily="34" charset="-122"/>
                <a:cs typeface="Aptos" pitchFamily="34" charset="-120"/>
              </a:rPr>
              <a:t>El plan de pruebas</a:t>
            </a:r>
            <a:endParaRPr lang="en-US" sz="1500" dirty="0"/>
          </a:p>
        </p:txBody>
      </p:sp>
      <p:sp>
        <p:nvSpPr>
          <p:cNvPr id="17" name="Text 14"/>
          <p:cNvSpPr txBox="1"/>
          <p:nvPr/>
        </p:nvSpPr>
        <p:spPr>
          <a:xfrm>
            <a:off x="6583680" y="2724912"/>
            <a:ext cx="4846320" cy="237744"/>
          </a:xfrm>
          <a:prstGeom prst="rect">
            <a:avLst/>
          </a:prstGeom>
          <a:noFill/>
          <a:ln/>
        </p:spPr>
        <p:txBody>
          <a:bodyPr wrap="square" lIns="0" tIns="0" rIns="0" bIns="0" rtlCol="0" anchor="t"/>
          <a:lstStyle/>
          <a:p>
            <a:pPr algn="l" indent="0" marL="0">
              <a:buNone/>
            </a:pPr>
            <a:r>
              <a:rPr lang="en-US" sz="1060" dirty="0">
                <a:solidFill>
                  <a:srgbClr val="52606D"/>
                </a:solidFill>
                <a:latin typeface="Aptos" pitchFamily="34" charset="0"/>
                <a:ea typeface="Aptos" pitchFamily="34" charset="-122"/>
                <a:cs typeface="Aptos" pitchFamily="34" charset="-120"/>
              </a:rPr>
              <a:t>Norma 29119-3, cláusula 7.2</a:t>
            </a:r>
            <a:endParaRPr lang="en-US" sz="1060" dirty="0"/>
          </a:p>
        </p:txBody>
      </p:sp>
      <p:sp>
        <p:nvSpPr>
          <p:cNvPr id="18" name="Text 15"/>
          <p:cNvSpPr txBox="1"/>
          <p:nvPr/>
        </p:nvSpPr>
        <p:spPr>
          <a:xfrm>
            <a:off x="658368" y="3346704"/>
            <a:ext cx="603504" cy="548640"/>
          </a:xfrm>
          <a:prstGeom prst="rect">
            <a:avLst/>
          </a:prstGeom>
          <a:noFill/>
          <a:ln/>
        </p:spPr>
        <p:txBody>
          <a:bodyPr wrap="square" lIns="0" tIns="0" rIns="0" bIns="0" rtlCol="0" anchor="ctr"/>
          <a:lstStyle/>
          <a:p>
            <a:pPr algn="ctr" indent="0" marL="0">
              <a:buNone/>
            </a:pPr>
            <a:r>
              <a:rPr lang="en-US" sz="3400" b="1" dirty="0">
                <a:solidFill>
                  <a:srgbClr val="8A6A12"/>
                </a:solidFill>
                <a:latin typeface="Aptos Display" pitchFamily="34" charset="0"/>
                <a:ea typeface="Aptos Display" pitchFamily="34" charset="-122"/>
                <a:cs typeface="Aptos Display" pitchFamily="34" charset="-120"/>
              </a:rPr>
              <a:t>2</a:t>
            </a:r>
            <a:endParaRPr lang="en-US" sz="3400" dirty="0"/>
          </a:p>
        </p:txBody>
      </p:sp>
      <p:sp>
        <p:nvSpPr>
          <p:cNvPr id="19" name="Text 16"/>
          <p:cNvSpPr txBox="1"/>
          <p:nvPr/>
        </p:nvSpPr>
        <p:spPr>
          <a:xfrm>
            <a:off x="1389888" y="3401568"/>
            <a:ext cx="3931920" cy="438912"/>
          </a:xfrm>
          <a:prstGeom prst="rect">
            <a:avLst/>
          </a:prstGeom>
          <a:noFill/>
          <a:ln/>
        </p:spPr>
        <p:txBody>
          <a:bodyPr wrap="square" lIns="0" tIns="0" rIns="0" bIns="0" rtlCol="0" anchor="ctr"/>
          <a:lstStyle/>
          <a:p>
            <a:pPr algn="l" indent="0" marL="0">
              <a:lnSpc>
                <a:spcPct val="108000"/>
              </a:lnSpc>
              <a:buNone/>
            </a:pPr>
            <a:r>
              <a:rPr lang="en-US" sz="1460" b="1" dirty="0">
                <a:solidFill>
                  <a:srgbClr val="243B53"/>
                </a:solidFill>
                <a:latin typeface="Aptos" pitchFamily="34" charset="0"/>
                <a:ea typeface="Aptos" pitchFamily="34" charset="-122"/>
                <a:cs typeface="Aptos" pitchFamily="34" charset="-120"/>
              </a:rPr>
              <a:t>¿Por qué el esfuerzo está ahí y no en otra parte?</a:t>
            </a:r>
            <a:endParaRPr lang="en-US" sz="1460" dirty="0"/>
          </a:p>
        </p:txBody>
      </p:sp>
      <p:sp>
        <p:nvSpPr>
          <p:cNvPr id="20" name="Shape 17"/>
          <p:cNvSpPr/>
          <p:nvPr/>
        </p:nvSpPr>
        <p:spPr>
          <a:xfrm>
            <a:off x="5486400" y="3621024"/>
            <a:ext cx="640080" cy="0"/>
          </a:xfrm>
          <a:prstGeom prst="line">
            <a:avLst/>
          </a:prstGeom>
          <a:noFill/>
          <a:ln w="12700">
            <a:solidFill>
              <a:srgbClr val="8A6A12"/>
            </a:solidFill>
            <a:prstDash val="solid"/>
            <a:headEnd type="none"/>
            <a:tailEnd type="triangle"/>
          </a:ln>
        </p:spPr>
      </p:sp>
      <p:sp>
        <p:nvSpPr>
          <p:cNvPr id="21" name="Shape 18"/>
          <p:cNvSpPr/>
          <p:nvPr/>
        </p:nvSpPr>
        <p:spPr>
          <a:xfrm>
            <a:off x="6327648" y="3218688"/>
            <a:ext cx="5202936" cy="804672"/>
          </a:xfrm>
          <a:prstGeom prst="rect">
            <a:avLst/>
          </a:prstGeom>
          <a:solidFill>
            <a:srgbClr val="FFFFFF"/>
          </a:solidFill>
          <a:ln w="12700">
            <a:solidFill>
              <a:srgbClr val="FFFFFF"/>
            </a:solidFill>
            <a:prstDash val="solid"/>
          </a:ln>
        </p:spPr>
      </p:sp>
      <p:sp>
        <p:nvSpPr>
          <p:cNvPr id="22" name="Shape 19"/>
          <p:cNvSpPr/>
          <p:nvPr/>
        </p:nvSpPr>
        <p:spPr>
          <a:xfrm>
            <a:off x="6327648" y="3218688"/>
            <a:ext cx="54864" cy="804672"/>
          </a:xfrm>
          <a:prstGeom prst="rect">
            <a:avLst/>
          </a:prstGeom>
          <a:solidFill>
            <a:srgbClr val="8A6A12"/>
          </a:solidFill>
          <a:ln w="12700">
            <a:solidFill>
              <a:srgbClr val="8A6A12"/>
            </a:solidFill>
            <a:prstDash val="solid"/>
          </a:ln>
        </p:spPr>
      </p:sp>
      <p:sp>
        <p:nvSpPr>
          <p:cNvPr id="23" name="Text 20"/>
          <p:cNvSpPr txBox="1"/>
          <p:nvPr/>
        </p:nvSpPr>
        <p:spPr>
          <a:xfrm>
            <a:off x="6583680" y="3346704"/>
            <a:ext cx="4846320" cy="274320"/>
          </a:xfrm>
          <a:prstGeom prst="rect">
            <a:avLst/>
          </a:prstGeom>
          <a:noFill/>
          <a:ln/>
        </p:spPr>
        <p:txBody>
          <a:bodyPr wrap="square" lIns="0" tIns="0" rIns="0" bIns="0" rtlCol="0" anchor="t"/>
          <a:lstStyle/>
          <a:p>
            <a:pPr algn="l" indent="0" marL="0">
              <a:buNone/>
            </a:pPr>
            <a:r>
              <a:rPr lang="en-US" sz="1500" b="1" dirty="0">
                <a:solidFill>
                  <a:srgbClr val="8A6A12"/>
                </a:solidFill>
                <a:latin typeface="Aptos" pitchFamily="34" charset="0"/>
                <a:ea typeface="Aptos" pitchFamily="34" charset="-122"/>
                <a:cs typeface="Aptos" pitchFamily="34" charset="-120"/>
              </a:rPr>
              <a:t>El riesgo</a:t>
            </a:r>
            <a:endParaRPr lang="en-US" sz="1500" dirty="0"/>
          </a:p>
        </p:txBody>
      </p:sp>
      <p:sp>
        <p:nvSpPr>
          <p:cNvPr id="24" name="Text 21"/>
          <p:cNvSpPr txBox="1"/>
          <p:nvPr/>
        </p:nvSpPr>
        <p:spPr>
          <a:xfrm>
            <a:off x="6583680" y="3657600"/>
            <a:ext cx="4846320" cy="237744"/>
          </a:xfrm>
          <a:prstGeom prst="rect">
            <a:avLst/>
          </a:prstGeom>
          <a:noFill/>
          <a:ln/>
        </p:spPr>
        <p:txBody>
          <a:bodyPr wrap="square" lIns="0" tIns="0" rIns="0" bIns="0" rtlCol="0" anchor="t"/>
          <a:lstStyle/>
          <a:p>
            <a:pPr algn="l" indent="0" marL="0">
              <a:buNone/>
            </a:pPr>
            <a:r>
              <a:rPr lang="en-US" sz="1060" dirty="0">
                <a:solidFill>
                  <a:srgbClr val="52606D"/>
                </a:solidFill>
                <a:latin typeface="Aptos" pitchFamily="34" charset="0"/>
                <a:ea typeface="Aptos" pitchFamily="34" charset="-122"/>
                <a:cs typeface="Aptos" pitchFamily="34" charset="-120"/>
              </a:rPr>
              <a:t>Probabilidad por impacto</a:t>
            </a:r>
            <a:endParaRPr lang="en-US" sz="1060" dirty="0"/>
          </a:p>
        </p:txBody>
      </p:sp>
      <p:sp>
        <p:nvSpPr>
          <p:cNvPr id="25" name="Text 22"/>
          <p:cNvSpPr txBox="1"/>
          <p:nvPr/>
        </p:nvSpPr>
        <p:spPr>
          <a:xfrm>
            <a:off x="658368" y="4279392"/>
            <a:ext cx="603504" cy="548640"/>
          </a:xfrm>
          <a:prstGeom prst="rect">
            <a:avLst/>
          </a:prstGeom>
          <a:noFill/>
          <a:ln/>
        </p:spPr>
        <p:txBody>
          <a:bodyPr wrap="square" lIns="0" tIns="0" rIns="0" bIns="0" rtlCol="0" anchor="ctr"/>
          <a:lstStyle/>
          <a:p>
            <a:pPr algn="ctr" indent="0" marL="0">
              <a:buNone/>
            </a:pPr>
            <a:r>
              <a:rPr lang="en-US" sz="3400" b="1" dirty="0">
                <a:solidFill>
                  <a:srgbClr val="2E7D4F"/>
                </a:solidFill>
                <a:latin typeface="Aptos Display" pitchFamily="34" charset="0"/>
                <a:ea typeface="Aptos Display" pitchFamily="34" charset="-122"/>
                <a:cs typeface="Aptos Display" pitchFamily="34" charset="-120"/>
              </a:rPr>
              <a:t>3</a:t>
            </a:r>
            <a:endParaRPr lang="en-US" sz="3400" dirty="0"/>
          </a:p>
        </p:txBody>
      </p:sp>
      <p:sp>
        <p:nvSpPr>
          <p:cNvPr id="26" name="Text 23"/>
          <p:cNvSpPr txBox="1"/>
          <p:nvPr/>
        </p:nvSpPr>
        <p:spPr>
          <a:xfrm>
            <a:off x="1389888" y="4334256"/>
            <a:ext cx="3931920" cy="438912"/>
          </a:xfrm>
          <a:prstGeom prst="rect">
            <a:avLst/>
          </a:prstGeom>
          <a:noFill/>
          <a:ln/>
        </p:spPr>
        <p:txBody>
          <a:bodyPr wrap="square" lIns="0" tIns="0" rIns="0" bIns="0" rtlCol="0" anchor="ctr"/>
          <a:lstStyle/>
          <a:p>
            <a:pPr algn="l" indent="0" marL="0">
              <a:lnSpc>
                <a:spcPct val="108000"/>
              </a:lnSpc>
              <a:buNone/>
            </a:pPr>
            <a:r>
              <a:rPr lang="en-US" sz="1460" b="1" dirty="0">
                <a:solidFill>
                  <a:srgbClr val="243B53"/>
                </a:solidFill>
                <a:latin typeface="Aptos" pitchFamily="34" charset="0"/>
                <a:ea typeface="Aptos" pitchFamily="34" charset="-122"/>
                <a:cs typeface="Aptos" pitchFamily="34" charset="-120"/>
              </a:rPr>
              <a:t>¿Coincide lo decidido con lo escrito?</a:t>
            </a:r>
            <a:endParaRPr lang="en-US" sz="1460" dirty="0"/>
          </a:p>
        </p:txBody>
      </p:sp>
      <p:sp>
        <p:nvSpPr>
          <p:cNvPr id="27" name="Shape 24"/>
          <p:cNvSpPr/>
          <p:nvPr/>
        </p:nvSpPr>
        <p:spPr>
          <a:xfrm>
            <a:off x="5486400" y="4553712"/>
            <a:ext cx="640080" cy="0"/>
          </a:xfrm>
          <a:prstGeom prst="line">
            <a:avLst/>
          </a:prstGeom>
          <a:noFill/>
          <a:ln w="12700">
            <a:solidFill>
              <a:srgbClr val="2E7D4F"/>
            </a:solidFill>
            <a:prstDash val="solid"/>
            <a:headEnd type="none"/>
            <a:tailEnd type="triangle"/>
          </a:ln>
        </p:spPr>
      </p:sp>
      <p:sp>
        <p:nvSpPr>
          <p:cNvPr id="28" name="Shape 25"/>
          <p:cNvSpPr/>
          <p:nvPr/>
        </p:nvSpPr>
        <p:spPr>
          <a:xfrm>
            <a:off x="6327648" y="4151376"/>
            <a:ext cx="5202936" cy="804672"/>
          </a:xfrm>
          <a:prstGeom prst="rect">
            <a:avLst/>
          </a:prstGeom>
          <a:solidFill>
            <a:srgbClr val="FFFFFF"/>
          </a:solidFill>
          <a:ln w="12700">
            <a:solidFill>
              <a:srgbClr val="FFFFFF"/>
            </a:solidFill>
            <a:prstDash val="solid"/>
          </a:ln>
        </p:spPr>
      </p:sp>
      <p:sp>
        <p:nvSpPr>
          <p:cNvPr id="29" name="Shape 26"/>
          <p:cNvSpPr/>
          <p:nvPr/>
        </p:nvSpPr>
        <p:spPr>
          <a:xfrm>
            <a:off x="6327648" y="4151376"/>
            <a:ext cx="54864" cy="804672"/>
          </a:xfrm>
          <a:prstGeom prst="rect">
            <a:avLst/>
          </a:prstGeom>
          <a:solidFill>
            <a:srgbClr val="2E7D4F"/>
          </a:solidFill>
          <a:ln w="12700">
            <a:solidFill>
              <a:srgbClr val="2E7D4F"/>
            </a:solidFill>
            <a:prstDash val="solid"/>
          </a:ln>
        </p:spPr>
      </p:sp>
      <p:sp>
        <p:nvSpPr>
          <p:cNvPr id="30" name="Text 27"/>
          <p:cNvSpPr txBox="1"/>
          <p:nvPr/>
        </p:nvSpPr>
        <p:spPr>
          <a:xfrm>
            <a:off x="6583680" y="4279392"/>
            <a:ext cx="4846320" cy="274320"/>
          </a:xfrm>
          <a:prstGeom prst="rect">
            <a:avLst/>
          </a:prstGeom>
          <a:noFill/>
          <a:ln/>
        </p:spPr>
        <p:txBody>
          <a:bodyPr wrap="square" lIns="0" tIns="0" rIns="0" bIns="0" rtlCol="0" anchor="t"/>
          <a:lstStyle/>
          <a:p>
            <a:pPr algn="l" indent="0" marL="0">
              <a:buNone/>
            </a:pPr>
            <a:r>
              <a:rPr lang="en-US" sz="1500" b="1" dirty="0">
                <a:solidFill>
                  <a:srgbClr val="2E7D4F"/>
                </a:solidFill>
                <a:latin typeface="Aptos" pitchFamily="34" charset="0"/>
                <a:ea typeface="Aptos" pitchFamily="34" charset="-122"/>
                <a:cs typeface="Aptos" pitchFamily="34" charset="-120"/>
              </a:rPr>
              <a:t>La matriz de trazabilidad</a:t>
            </a:r>
            <a:endParaRPr lang="en-US" sz="1500" dirty="0"/>
          </a:p>
        </p:txBody>
      </p:sp>
      <p:sp>
        <p:nvSpPr>
          <p:cNvPr id="31" name="Text 28"/>
          <p:cNvSpPr txBox="1"/>
          <p:nvPr/>
        </p:nvSpPr>
        <p:spPr>
          <a:xfrm>
            <a:off x="6583680" y="4590288"/>
            <a:ext cx="4846320" cy="237744"/>
          </a:xfrm>
          <a:prstGeom prst="rect">
            <a:avLst/>
          </a:prstGeom>
          <a:noFill/>
          <a:ln/>
        </p:spPr>
        <p:txBody>
          <a:bodyPr wrap="square" lIns="0" tIns="0" rIns="0" bIns="0" rtlCol="0" anchor="t"/>
          <a:lstStyle/>
          <a:p>
            <a:pPr algn="l" indent="0" marL="0">
              <a:buNone/>
            </a:pPr>
            <a:r>
              <a:rPr lang="en-US" sz="1060" dirty="0">
                <a:solidFill>
                  <a:srgbClr val="52606D"/>
                </a:solidFill>
                <a:latin typeface="Aptos" pitchFamily="34" charset="0"/>
                <a:ea typeface="Aptos" pitchFamily="34" charset="-122"/>
                <a:cs typeface="Aptos" pitchFamily="34" charset="-120"/>
              </a:rPr>
              <a:t>Generada desde la suite</a:t>
            </a:r>
            <a:endParaRPr lang="en-US" sz="1060" dirty="0"/>
          </a:p>
        </p:txBody>
      </p:sp>
      <p:sp>
        <p:nvSpPr>
          <p:cNvPr id="32" name="Shape 29"/>
          <p:cNvSpPr/>
          <p:nvPr/>
        </p:nvSpPr>
        <p:spPr>
          <a:xfrm>
            <a:off x="658368" y="5138928"/>
            <a:ext cx="10874959" cy="457200"/>
          </a:xfrm>
          <a:prstGeom prst="rect">
            <a:avLst/>
          </a:prstGeom>
          <a:solidFill>
            <a:srgbClr val="D62027"/>
          </a:solidFill>
          <a:ln w="12700">
            <a:solidFill>
              <a:srgbClr val="D62027"/>
            </a:solidFill>
            <a:prstDash val="solid"/>
          </a:ln>
        </p:spPr>
      </p:sp>
      <p:sp>
        <p:nvSpPr>
          <p:cNvPr id="33" name="Text 30"/>
          <p:cNvSpPr txBox="1"/>
          <p:nvPr/>
        </p:nvSpPr>
        <p:spPr>
          <a:xfrm>
            <a:off x="932688" y="5230368"/>
            <a:ext cx="10326319" cy="274320"/>
          </a:xfrm>
          <a:prstGeom prst="rect">
            <a:avLst/>
          </a:prstGeom>
          <a:noFill/>
          <a:ln/>
        </p:spPr>
        <p:txBody>
          <a:bodyPr wrap="square" lIns="0" tIns="0" rIns="0" bIns="0" rtlCol="0" anchor="t"/>
          <a:lstStyle/>
          <a:p>
            <a:pPr algn="l" indent="0" marL="0">
              <a:buNone/>
            </a:pPr>
            <a:r>
              <a:rPr lang="en-US" sz="1260" b="1" dirty="0">
                <a:solidFill>
                  <a:srgbClr val="FFFFFF"/>
                </a:solidFill>
                <a:latin typeface="Aptos" pitchFamily="34" charset="0"/>
                <a:ea typeface="Aptos" pitchFamily="34" charset="-122"/>
                <a:cs typeface="Aptos" pitchFamily="34" charset="-120"/>
              </a:rPr>
              <a:t>Cuando los tres se contradicen, arbitra un cuarto: alterar el código y exigir el rojo.</a:t>
            </a:r>
            <a:endParaRPr lang="en-US" sz="1260" dirty="0"/>
          </a:p>
        </p:txBody>
      </p:sp>
      <p:sp>
        <p:nvSpPr>
          <p:cNvPr id="34" name="Shape 31"/>
          <p:cNvSpPr/>
          <p:nvPr/>
        </p:nvSpPr>
        <p:spPr>
          <a:xfrm>
            <a:off x="658368" y="5650992"/>
            <a:ext cx="10874959" cy="548640"/>
          </a:xfrm>
          <a:prstGeom prst="rect">
            <a:avLst/>
          </a:prstGeom>
          <a:solidFill>
            <a:srgbClr val="102A43"/>
          </a:solidFill>
          <a:ln w="12700">
            <a:solidFill>
              <a:srgbClr val="102A43"/>
            </a:solidFill>
            <a:prstDash val="solid"/>
          </a:ln>
        </p:spPr>
      </p:sp>
      <p:sp>
        <p:nvSpPr>
          <p:cNvPr id="35" name="Text 32"/>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Ninguna de las tres se responde leyendo el repositorio.</a:t>
            </a:r>
            <a:endParaRPr lang="en-US" sz="13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05</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MAPA DE LA SESIÓN</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140 minutos, cuatro bloques y un recorrido</a:t>
            </a:r>
            <a:endParaRPr lang="en-US" sz="3000" dirty="0"/>
          </a:p>
        </p:txBody>
      </p:sp>
      <p:sp>
        <p:nvSpPr>
          <p:cNvPr id="10" name="Text 7"/>
          <p:cNvSpPr txBox="1"/>
          <p:nvPr/>
        </p:nvSpPr>
        <p:spPr>
          <a:xfrm>
            <a:off x="658368" y="1664208"/>
            <a:ext cx="10424160" cy="347472"/>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El encuadre toma 10 minutos, hay una pausa de 10 a mitad de camino y el cierre toma los últimos 10.</a:t>
            </a:r>
            <a:endParaRPr lang="en-US" sz="1420" dirty="0"/>
          </a:p>
        </p:txBody>
      </p:sp>
      <p:sp>
        <p:nvSpPr>
          <p:cNvPr id="11" name="Shape 8"/>
          <p:cNvSpPr/>
          <p:nvPr/>
        </p:nvSpPr>
        <p:spPr>
          <a:xfrm>
            <a:off x="658368" y="2249424"/>
            <a:ext cx="2636444" cy="1298448"/>
          </a:xfrm>
          <a:prstGeom prst="rect">
            <a:avLst/>
          </a:prstGeom>
          <a:solidFill>
            <a:srgbClr val="FFFFFF"/>
          </a:solidFill>
          <a:ln w="12700">
            <a:solidFill>
              <a:srgbClr val="FFFFFF"/>
            </a:solidFill>
            <a:prstDash val="solid"/>
          </a:ln>
        </p:spPr>
      </p:sp>
      <p:sp>
        <p:nvSpPr>
          <p:cNvPr id="12" name="Shape 9"/>
          <p:cNvSpPr/>
          <p:nvPr/>
        </p:nvSpPr>
        <p:spPr>
          <a:xfrm>
            <a:off x="658368" y="2249424"/>
            <a:ext cx="2636444" cy="54864"/>
          </a:xfrm>
          <a:prstGeom prst="rect">
            <a:avLst/>
          </a:prstGeom>
          <a:solidFill>
            <a:srgbClr val="102A43"/>
          </a:solidFill>
          <a:ln w="12700">
            <a:solidFill>
              <a:srgbClr val="102A43"/>
            </a:solidFill>
            <a:prstDash val="solid"/>
          </a:ln>
        </p:spPr>
      </p:sp>
      <p:sp>
        <p:nvSpPr>
          <p:cNvPr id="13" name="Text 10"/>
          <p:cNvSpPr txBox="1"/>
          <p:nvPr/>
        </p:nvSpPr>
        <p:spPr>
          <a:xfrm>
            <a:off x="841248" y="2414016"/>
            <a:ext cx="2270684" cy="182880"/>
          </a:xfrm>
          <a:prstGeom prst="rect">
            <a:avLst/>
          </a:prstGeom>
          <a:noFill/>
          <a:ln/>
        </p:spPr>
        <p:txBody>
          <a:bodyPr wrap="square" lIns="0" tIns="0" rIns="0" bIns="0" rtlCol="0" anchor="t"/>
          <a:lstStyle/>
          <a:p>
            <a:pPr algn="l" indent="0" marL="0">
              <a:buNone/>
            </a:pPr>
            <a:r>
              <a:rPr lang="en-US" sz="880" b="1" spc="90" kern="0" dirty="0">
                <a:solidFill>
                  <a:srgbClr val="102A43"/>
                </a:solidFill>
                <a:latin typeface="Aptos" pitchFamily="34" charset="0"/>
                <a:ea typeface="Aptos" pitchFamily="34" charset="-122"/>
                <a:cs typeface="Aptos" pitchFamily="34" charset="-120"/>
              </a:rPr>
              <a:t>BLOQUE 1 · 25 MIN</a:t>
            </a:r>
            <a:endParaRPr lang="en-US" sz="880" dirty="0"/>
          </a:p>
        </p:txBody>
      </p:sp>
      <p:sp>
        <p:nvSpPr>
          <p:cNvPr id="14" name="Text 11"/>
          <p:cNvSpPr txBox="1"/>
          <p:nvPr/>
        </p:nvSpPr>
        <p:spPr>
          <a:xfrm>
            <a:off x="841248" y="2633472"/>
            <a:ext cx="2270684" cy="292608"/>
          </a:xfrm>
          <a:prstGeom prst="rect">
            <a:avLst/>
          </a:prstGeom>
          <a:noFill/>
          <a:ln/>
        </p:spPr>
        <p:txBody>
          <a:bodyPr wrap="square" lIns="0" tIns="0" rIns="0" bIns="0" rtlCol="0" anchor="t"/>
          <a:lstStyle/>
          <a:p>
            <a:pPr algn="l" indent="0" marL="0">
              <a:buNone/>
            </a:pPr>
            <a:r>
              <a:rPr lang="en-US" sz="1600" b="1" dirty="0">
                <a:solidFill>
                  <a:srgbClr val="243B53"/>
                </a:solidFill>
                <a:latin typeface="Aptos" pitchFamily="34" charset="0"/>
                <a:ea typeface="Aptos" pitchFamily="34" charset="-122"/>
                <a:cs typeface="Aptos" pitchFamily="34" charset="-120"/>
              </a:rPr>
              <a:t>El plan</a:t>
            </a:r>
            <a:endParaRPr lang="en-US" sz="1600" dirty="0"/>
          </a:p>
        </p:txBody>
      </p:sp>
      <p:sp>
        <p:nvSpPr>
          <p:cNvPr id="15" name="Text 12"/>
          <p:cNvSpPr txBox="1"/>
          <p:nvPr/>
        </p:nvSpPr>
        <p:spPr>
          <a:xfrm>
            <a:off x="841248" y="2980944"/>
            <a:ext cx="2270684" cy="493776"/>
          </a:xfrm>
          <a:prstGeom prst="rect">
            <a:avLst/>
          </a:prstGeom>
          <a:noFill/>
          <a:ln/>
        </p:spPr>
        <p:txBody>
          <a:bodyPr wrap="square" lIns="0" tIns="0" rIns="0" bIns="0" rtlCol="0" anchor="t"/>
          <a:lstStyle/>
          <a:p>
            <a:pPr algn="l" indent="0" marL="0">
              <a:lnSpc>
                <a:spcPct val="110000"/>
              </a:lnSpc>
              <a:buNone/>
            </a:pPr>
            <a:r>
              <a:rPr lang="en-US" sz="1020" dirty="0">
                <a:solidFill>
                  <a:srgbClr val="52606D"/>
                </a:solidFill>
                <a:latin typeface="Aptos" pitchFamily="34" charset="0"/>
                <a:ea typeface="Aptos" pitchFamily="34" charset="-122"/>
                <a:cs typeface="Aptos" pitchFamily="34" charset="-120"/>
              </a:rPr>
              <a:t>Qué contiene un plan de pruebas que no puede estar en el código.</a:t>
            </a:r>
            <a:endParaRPr lang="en-US" sz="1020" dirty="0"/>
          </a:p>
        </p:txBody>
      </p:sp>
      <p:sp>
        <p:nvSpPr>
          <p:cNvPr id="16" name="Shape 13"/>
          <p:cNvSpPr/>
          <p:nvPr/>
        </p:nvSpPr>
        <p:spPr>
          <a:xfrm>
            <a:off x="3404540" y="2249424"/>
            <a:ext cx="2636444" cy="1298448"/>
          </a:xfrm>
          <a:prstGeom prst="rect">
            <a:avLst/>
          </a:prstGeom>
          <a:solidFill>
            <a:srgbClr val="FFFFFF"/>
          </a:solidFill>
          <a:ln w="12700">
            <a:solidFill>
              <a:srgbClr val="FFFFFF"/>
            </a:solidFill>
            <a:prstDash val="solid"/>
          </a:ln>
        </p:spPr>
      </p:sp>
      <p:sp>
        <p:nvSpPr>
          <p:cNvPr id="17" name="Shape 14"/>
          <p:cNvSpPr/>
          <p:nvPr/>
        </p:nvSpPr>
        <p:spPr>
          <a:xfrm>
            <a:off x="3404540" y="2249424"/>
            <a:ext cx="2636444" cy="54864"/>
          </a:xfrm>
          <a:prstGeom prst="rect">
            <a:avLst/>
          </a:prstGeom>
          <a:solidFill>
            <a:srgbClr val="8A6A12"/>
          </a:solidFill>
          <a:ln w="12700">
            <a:solidFill>
              <a:srgbClr val="8A6A12"/>
            </a:solidFill>
            <a:prstDash val="solid"/>
          </a:ln>
        </p:spPr>
      </p:sp>
      <p:sp>
        <p:nvSpPr>
          <p:cNvPr id="18" name="Text 15"/>
          <p:cNvSpPr txBox="1"/>
          <p:nvPr/>
        </p:nvSpPr>
        <p:spPr>
          <a:xfrm>
            <a:off x="3587420" y="2414016"/>
            <a:ext cx="2270684" cy="182880"/>
          </a:xfrm>
          <a:prstGeom prst="rect">
            <a:avLst/>
          </a:prstGeom>
          <a:noFill/>
          <a:ln/>
        </p:spPr>
        <p:txBody>
          <a:bodyPr wrap="square" lIns="0" tIns="0" rIns="0" bIns="0" rtlCol="0" anchor="t"/>
          <a:lstStyle/>
          <a:p>
            <a:pPr algn="l" indent="0" marL="0">
              <a:buNone/>
            </a:pPr>
            <a:r>
              <a:rPr lang="en-US" sz="880" b="1" spc="90" kern="0" dirty="0">
                <a:solidFill>
                  <a:srgbClr val="8A6A12"/>
                </a:solidFill>
                <a:latin typeface="Aptos" pitchFamily="34" charset="0"/>
                <a:ea typeface="Aptos" pitchFamily="34" charset="-122"/>
                <a:cs typeface="Aptos" pitchFamily="34" charset="-120"/>
              </a:rPr>
              <a:t>BLOQUE 2 · 25 MIN</a:t>
            </a:r>
            <a:endParaRPr lang="en-US" sz="880" dirty="0"/>
          </a:p>
        </p:txBody>
      </p:sp>
      <p:sp>
        <p:nvSpPr>
          <p:cNvPr id="19" name="Text 16"/>
          <p:cNvSpPr txBox="1"/>
          <p:nvPr/>
        </p:nvSpPr>
        <p:spPr>
          <a:xfrm>
            <a:off x="3587420" y="2633472"/>
            <a:ext cx="2270684" cy="292608"/>
          </a:xfrm>
          <a:prstGeom prst="rect">
            <a:avLst/>
          </a:prstGeom>
          <a:noFill/>
          <a:ln/>
        </p:spPr>
        <p:txBody>
          <a:bodyPr wrap="square" lIns="0" tIns="0" rIns="0" bIns="0" rtlCol="0" anchor="t"/>
          <a:lstStyle/>
          <a:p>
            <a:pPr algn="l" indent="0" marL="0">
              <a:buNone/>
            </a:pPr>
            <a:r>
              <a:rPr lang="en-US" sz="1600" b="1" dirty="0">
                <a:solidFill>
                  <a:srgbClr val="243B53"/>
                </a:solidFill>
                <a:latin typeface="Aptos" pitchFamily="34" charset="0"/>
                <a:ea typeface="Aptos" pitchFamily="34" charset="-122"/>
                <a:cs typeface="Aptos" pitchFamily="34" charset="-120"/>
              </a:rPr>
              <a:t>El riesgo</a:t>
            </a:r>
            <a:endParaRPr lang="en-US" sz="1600" dirty="0"/>
          </a:p>
        </p:txBody>
      </p:sp>
      <p:sp>
        <p:nvSpPr>
          <p:cNvPr id="20" name="Text 17"/>
          <p:cNvSpPr txBox="1"/>
          <p:nvPr/>
        </p:nvSpPr>
        <p:spPr>
          <a:xfrm>
            <a:off x="3587420" y="2980944"/>
            <a:ext cx="2270684" cy="493776"/>
          </a:xfrm>
          <a:prstGeom prst="rect">
            <a:avLst/>
          </a:prstGeom>
          <a:noFill/>
          <a:ln/>
        </p:spPr>
        <p:txBody>
          <a:bodyPr wrap="square" lIns="0" tIns="0" rIns="0" bIns="0" rtlCol="0" anchor="t"/>
          <a:lstStyle/>
          <a:p>
            <a:pPr algn="l" indent="0" marL="0">
              <a:lnSpc>
                <a:spcPct val="110000"/>
              </a:lnSpc>
              <a:buNone/>
            </a:pPr>
            <a:r>
              <a:rPr lang="en-US" sz="1020" dirty="0">
                <a:solidFill>
                  <a:srgbClr val="52606D"/>
                </a:solidFill>
                <a:latin typeface="Aptos" pitchFamily="34" charset="0"/>
                <a:ea typeface="Aptos" pitchFamily="34" charset="-122"/>
                <a:cs typeface="Aptos" pitchFamily="34" charset="-120"/>
              </a:rPr>
              <a:t>Cómo se reparte el esfuerzo, y por qué hoy no está repartido así.</a:t>
            </a:r>
            <a:endParaRPr lang="en-US" sz="1020" dirty="0"/>
          </a:p>
        </p:txBody>
      </p:sp>
      <p:sp>
        <p:nvSpPr>
          <p:cNvPr id="21" name="Shape 18"/>
          <p:cNvSpPr/>
          <p:nvPr/>
        </p:nvSpPr>
        <p:spPr>
          <a:xfrm>
            <a:off x="6150712" y="2249424"/>
            <a:ext cx="2636444" cy="1298448"/>
          </a:xfrm>
          <a:prstGeom prst="rect">
            <a:avLst/>
          </a:prstGeom>
          <a:solidFill>
            <a:srgbClr val="FFFFFF"/>
          </a:solidFill>
          <a:ln w="12700">
            <a:solidFill>
              <a:srgbClr val="FFFFFF"/>
            </a:solidFill>
            <a:prstDash val="solid"/>
          </a:ln>
        </p:spPr>
      </p:sp>
      <p:sp>
        <p:nvSpPr>
          <p:cNvPr id="22" name="Shape 19"/>
          <p:cNvSpPr/>
          <p:nvPr/>
        </p:nvSpPr>
        <p:spPr>
          <a:xfrm>
            <a:off x="6150712" y="2249424"/>
            <a:ext cx="2636444" cy="54864"/>
          </a:xfrm>
          <a:prstGeom prst="rect">
            <a:avLst/>
          </a:prstGeom>
          <a:solidFill>
            <a:srgbClr val="2E7D4F"/>
          </a:solidFill>
          <a:ln w="12700">
            <a:solidFill>
              <a:srgbClr val="2E7D4F"/>
            </a:solidFill>
            <a:prstDash val="solid"/>
          </a:ln>
        </p:spPr>
      </p:sp>
      <p:sp>
        <p:nvSpPr>
          <p:cNvPr id="23" name="Text 20"/>
          <p:cNvSpPr txBox="1"/>
          <p:nvPr/>
        </p:nvSpPr>
        <p:spPr>
          <a:xfrm>
            <a:off x="6333592" y="2414016"/>
            <a:ext cx="2270684" cy="182880"/>
          </a:xfrm>
          <a:prstGeom prst="rect">
            <a:avLst/>
          </a:prstGeom>
          <a:noFill/>
          <a:ln/>
        </p:spPr>
        <p:txBody>
          <a:bodyPr wrap="square" lIns="0" tIns="0" rIns="0" bIns="0" rtlCol="0" anchor="t"/>
          <a:lstStyle/>
          <a:p>
            <a:pPr algn="l" indent="0" marL="0">
              <a:buNone/>
            </a:pPr>
            <a:r>
              <a:rPr lang="en-US" sz="880" b="1" spc="90" kern="0" dirty="0">
                <a:solidFill>
                  <a:srgbClr val="2E7D4F"/>
                </a:solidFill>
                <a:latin typeface="Aptos" pitchFamily="34" charset="0"/>
                <a:ea typeface="Aptos" pitchFamily="34" charset="-122"/>
                <a:cs typeface="Aptos" pitchFamily="34" charset="-120"/>
              </a:rPr>
              <a:t>BLOQUE 3 · 30 MIN</a:t>
            </a:r>
            <a:endParaRPr lang="en-US" sz="880" dirty="0"/>
          </a:p>
        </p:txBody>
      </p:sp>
      <p:sp>
        <p:nvSpPr>
          <p:cNvPr id="24" name="Text 21"/>
          <p:cNvSpPr txBox="1"/>
          <p:nvPr/>
        </p:nvSpPr>
        <p:spPr>
          <a:xfrm>
            <a:off x="6333592" y="2633472"/>
            <a:ext cx="2270684" cy="292608"/>
          </a:xfrm>
          <a:prstGeom prst="rect">
            <a:avLst/>
          </a:prstGeom>
          <a:noFill/>
          <a:ln/>
        </p:spPr>
        <p:txBody>
          <a:bodyPr wrap="square" lIns="0" tIns="0" rIns="0" bIns="0" rtlCol="0" anchor="t"/>
          <a:lstStyle/>
          <a:p>
            <a:pPr algn="l" indent="0" marL="0">
              <a:buNone/>
            </a:pPr>
            <a:r>
              <a:rPr lang="en-US" sz="1600" b="1" dirty="0">
                <a:solidFill>
                  <a:srgbClr val="243B53"/>
                </a:solidFill>
                <a:latin typeface="Aptos" pitchFamily="34" charset="0"/>
                <a:ea typeface="Aptos" pitchFamily="34" charset="-122"/>
                <a:cs typeface="Aptos" pitchFamily="34" charset="-120"/>
              </a:rPr>
              <a:t>La matriz</a:t>
            </a:r>
            <a:endParaRPr lang="en-US" sz="1600" dirty="0"/>
          </a:p>
        </p:txBody>
      </p:sp>
      <p:sp>
        <p:nvSpPr>
          <p:cNvPr id="25" name="Text 22"/>
          <p:cNvSpPr txBox="1"/>
          <p:nvPr/>
        </p:nvSpPr>
        <p:spPr>
          <a:xfrm>
            <a:off x="6333592" y="2980944"/>
            <a:ext cx="2270684" cy="493776"/>
          </a:xfrm>
          <a:prstGeom prst="rect">
            <a:avLst/>
          </a:prstGeom>
          <a:noFill/>
          <a:ln/>
        </p:spPr>
        <p:txBody>
          <a:bodyPr wrap="square" lIns="0" tIns="0" rIns="0" bIns="0" rtlCol="0" anchor="t"/>
          <a:lstStyle/>
          <a:p>
            <a:pPr algn="l" indent="0" marL="0">
              <a:lnSpc>
                <a:spcPct val="110000"/>
              </a:lnSpc>
              <a:buNone/>
            </a:pPr>
            <a:r>
              <a:rPr lang="en-US" sz="1020" dirty="0">
                <a:solidFill>
                  <a:srgbClr val="52606D"/>
                </a:solidFill>
                <a:latin typeface="Aptos" pitchFamily="34" charset="0"/>
                <a:ea typeface="Aptos" pitchFamily="34" charset="-122"/>
                <a:cs typeface="Aptos" pitchFamily="34" charset="-120"/>
              </a:rPr>
              <a:t>La trazabilidad generada desde la suite, y lo que no alcanza a ver.</a:t>
            </a:r>
            <a:endParaRPr lang="en-US" sz="1020" dirty="0"/>
          </a:p>
        </p:txBody>
      </p:sp>
      <p:sp>
        <p:nvSpPr>
          <p:cNvPr id="26" name="Shape 23"/>
          <p:cNvSpPr/>
          <p:nvPr/>
        </p:nvSpPr>
        <p:spPr>
          <a:xfrm>
            <a:off x="8896883" y="2249424"/>
            <a:ext cx="2636444" cy="1298448"/>
          </a:xfrm>
          <a:prstGeom prst="rect">
            <a:avLst/>
          </a:prstGeom>
          <a:solidFill>
            <a:srgbClr val="FFFFFF"/>
          </a:solidFill>
          <a:ln w="12700">
            <a:solidFill>
              <a:srgbClr val="FFFFFF"/>
            </a:solidFill>
            <a:prstDash val="solid"/>
          </a:ln>
        </p:spPr>
      </p:sp>
      <p:sp>
        <p:nvSpPr>
          <p:cNvPr id="27" name="Shape 24"/>
          <p:cNvSpPr/>
          <p:nvPr/>
        </p:nvSpPr>
        <p:spPr>
          <a:xfrm>
            <a:off x="8896883" y="2249424"/>
            <a:ext cx="2636444" cy="54864"/>
          </a:xfrm>
          <a:prstGeom prst="rect">
            <a:avLst/>
          </a:prstGeom>
          <a:solidFill>
            <a:srgbClr val="B3181E"/>
          </a:solidFill>
          <a:ln w="12700">
            <a:solidFill>
              <a:srgbClr val="B3181E"/>
            </a:solidFill>
            <a:prstDash val="solid"/>
          </a:ln>
        </p:spPr>
      </p:sp>
      <p:sp>
        <p:nvSpPr>
          <p:cNvPr id="28" name="Text 25"/>
          <p:cNvSpPr txBox="1"/>
          <p:nvPr/>
        </p:nvSpPr>
        <p:spPr>
          <a:xfrm>
            <a:off x="9079763" y="2414016"/>
            <a:ext cx="2270684" cy="182880"/>
          </a:xfrm>
          <a:prstGeom prst="rect">
            <a:avLst/>
          </a:prstGeom>
          <a:noFill/>
          <a:ln/>
        </p:spPr>
        <p:txBody>
          <a:bodyPr wrap="square" lIns="0" tIns="0" rIns="0" bIns="0" rtlCol="0" anchor="t"/>
          <a:lstStyle/>
          <a:p>
            <a:pPr algn="l" indent="0" marL="0">
              <a:buNone/>
            </a:pPr>
            <a:r>
              <a:rPr lang="en-US" sz="880" b="1" spc="90" kern="0" dirty="0">
                <a:solidFill>
                  <a:srgbClr val="B3181E"/>
                </a:solidFill>
                <a:latin typeface="Aptos" pitchFamily="34" charset="0"/>
                <a:ea typeface="Aptos" pitchFamily="34" charset="-122"/>
                <a:cs typeface="Aptos" pitchFamily="34" charset="-120"/>
              </a:rPr>
              <a:t>BLOQUE 4 · 30 MIN</a:t>
            </a:r>
            <a:endParaRPr lang="en-US" sz="880" dirty="0"/>
          </a:p>
        </p:txBody>
      </p:sp>
      <p:sp>
        <p:nvSpPr>
          <p:cNvPr id="29" name="Text 26"/>
          <p:cNvSpPr txBox="1"/>
          <p:nvPr/>
        </p:nvSpPr>
        <p:spPr>
          <a:xfrm>
            <a:off x="9079763" y="2633472"/>
            <a:ext cx="2270684" cy="292608"/>
          </a:xfrm>
          <a:prstGeom prst="rect">
            <a:avLst/>
          </a:prstGeom>
          <a:noFill/>
          <a:ln/>
        </p:spPr>
        <p:txBody>
          <a:bodyPr wrap="square" lIns="0" tIns="0" rIns="0" bIns="0" rtlCol="0" anchor="t"/>
          <a:lstStyle/>
          <a:p>
            <a:pPr algn="l" indent="0" marL="0">
              <a:buNone/>
            </a:pPr>
            <a:r>
              <a:rPr lang="en-US" sz="1600" b="1" dirty="0">
                <a:solidFill>
                  <a:srgbClr val="243B53"/>
                </a:solidFill>
                <a:latin typeface="Aptos" pitchFamily="34" charset="0"/>
                <a:ea typeface="Aptos" pitchFamily="34" charset="-122"/>
                <a:cs typeface="Aptos" pitchFamily="34" charset="-120"/>
              </a:rPr>
              <a:t>Los derechos</a:t>
            </a:r>
            <a:endParaRPr lang="en-US" sz="1600" dirty="0"/>
          </a:p>
        </p:txBody>
      </p:sp>
      <p:sp>
        <p:nvSpPr>
          <p:cNvPr id="30" name="Text 27"/>
          <p:cNvSpPr txBox="1"/>
          <p:nvPr/>
        </p:nvSpPr>
        <p:spPr>
          <a:xfrm>
            <a:off x="9079763" y="2980944"/>
            <a:ext cx="2270684" cy="493776"/>
          </a:xfrm>
          <a:prstGeom prst="rect">
            <a:avLst/>
          </a:prstGeom>
          <a:noFill/>
          <a:ln/>
        </p:spPr>
        <p:txBody>
          <a:bodyPr wrap="square" lIns="0" tIns="0" rIns="0" bIns="0" rtlCol="0" anchor="t"/>
          <a:lstStyle/>
          <a:p>
            <a:pPr algn="l" indent="0" marL="0">
              <a:lnSpc>
                <a:spcPct val="110000"/>
              </a:lnSpc>
              <a:buNone/>
            </a:pPr>
            <a:r>
              <a:rPr lang="en-US" sz="1020" dirty="0">
                <a:solidFill>
                  <a:srgbClr val="52606D"/>
                </a:solidFill>
                <a:latin typeface="Aptos" pitchFamily="34" charset="0"/>
                <a:ea typeface="Aptos" pitchFamily="34" charset="-122"/>
                <a:cs typeface="Aptos" pitchFamily="34" charset="-120"/>
              </a:rPr>
              <a:t>La Ley 21.719 convertida en filas de esa misma matriz.</a:t>
            </a:r>
            <a:endParaRPr lang="en-US" sz="1020" dirty="0"/>
          </a:p>
        </p:txBody>
      </p:sp>
      <p:sp>
        <p:nvSpPr>
          <p:cNvPr id="31" name="Shape 28"/>
          <p:cNvSpPr/>
          <p:nvPr/>
        </p:nvSpPr>
        <p:spPr>
          <a:xfrm>
            <a:off x="658368" y="3694176"/>
            <a:ext cx="10874959" cy="457200"/>
          </a:xfrm>
          <a:prstGeom prst="rect">
            <a:avLst/>
          </a:prstGeom>
          <a:solidFill>
            <a:srgbClr val="EDE6DA"/>
          </a:solidFill>
          <a:ln w="12700">
            <a:solidFill>
              <a:srgbClr val="EDE6DA"/>
            </a:solidFill>
            <a:prstDash val="solid"/>
          </a:ln>
        </p:spPr>
      </p:sp>
      <p:sp>
        <p:nvSpPr>
          <p:cNvPr id="32" name="Text 29"/>
          <p:cNvSpPr txBox="1"/>
          <p:nvPr/>
        </p:nvSpPr>
        <p:spPr>
          <a:xfrm>
            <a:off x="914400" y="3785616"/>
            <a:ext cx="10362895" cy="292608"/>
          </a:xfrm>
          <a:prstGeom prst="rect">
            <a:avLst/>
          </a:prstGeom>
          <a:noFill/>
          <a:ln/>
        </p:spPr>
        <p:txBody>
          <a:bodyPr wrap="square" lIns="0" tIns="0" rIns="0" bIns="0" rtlCol="0" anchor="t"/>
          <a:lstStyle/>
          <a:p>
            <a:pPr algn="l" indent="0" marL="0">
              <a:buNone/>
            </a:pPr>
            <a:r>
              <a:rPr lang="en-US" sz="1120" dirty="0">
                <a:solidFill>
                  <a:srgbClr val="243B53"/>
                </a:solidFill>
                <a:latin typeface="Aptos" pitchFamily="34" charset="0"/>
                <a:ea typeface="Aptos" pitchFamily="34" charset="-122"/>
                <a:cs typeface="Aptos" pitchFamily="34" charset="-120"/>
              </a:rPr>
              <a:t>Se trabaja sobre el mismo proyecto de reserva de laboratorio, con dos piezas nuevas: un archivo de requisitos con identificadores estables, y un registro de eventos donde el sistema guarda lo que fue ocurriendo.</a:t>
            </a:r>
            <a:endParaRPr lang="en-US" sz="1120" dirty="0"/>
          </a:p>
        </p:txBody>
      </p:sp>
      <p:sp>
        <p:nvSpPr>
          <p:cNvPr id="33" name="Text 30"/>
          <p:cNvSpPr txBox="1"/>
          <p:nvPr/>
        </p:nvSpPr>
        <p:spPr>
          <a:xfrm>
            <a:off x="658368" y="4315968"/>
            <a:ext cx="5486400" cy="201168"/>
          </a:xfrm>
          <a:prstGeom prst="rect">
            <a:avLst/>
          </a:prstGeom>
          <a:noFill/>
          <a:ln/>
        </p:spPr>
        <p:txBody>
          <a:bodyPr wrap="square" lIns="0" tIns="0" rIns="0" bIns="0" rtlCol="0" anchor="t"/>
          <a:lstStyle/>
          <a:p>
            <a:pPr algn="l" indent="0" marL="0">
              <a:buNone/>
            </a:pPr>
            <a:r>
              <a:rPr lang="en-US" sz="960" b="1" spc="130" kern="0" dirty="0">
                <a:solidFill>
                  <a:srgbClr val="D62027"/>
                </a:solidFill>
                <a:latin typeface="Aptos" pitchFamily="34" charset="0"/>
                <a:ea typeface="Aptos" pitchFamily="34" charset="-122"/>
                <a:cs typeface="Aptos" pitchFamily="34" charset="-120"/>
              </a:rPr>
              <a:t>EL RECORRIDO DE TRABAJO DE LA SESIÓN</a:t>
            </a:r>
            <a:endParaRPr lang="en-US" sz="960" dirty="0"/>
          </a:p>
        </p:txBody>
      </p:sp>
      <p:sp>
        <p:nvSpPr>
          <p:cNvPr id="34" name="Shape 31"/>
          <p:cNvSpPr/>
          <p:nvPr/>
        </p:nvSpPr>
        <p:spPr>
          <a:xfrm>
            <a:off x="658368" y="4553712"/>
            <a:ext cx="2622728" cy="786384"/>
          </a:xfrm>
          <a:prstGeom prst="rect">
            <a:avLst/>
          </a:prstGeom>
          <a:solidFill>
            <a:srgbClr val="EDE6DA"/>
          </a:solidFill>
          <a:ln w="12700">
            <a:solidFill>
              <a:srgbClr val="EDE6DA"/>
            </a:solidFill>
            <a:prstDash val="solid"/>
          </a:ln>
        </p:spPr>
      </p:sp>
      <p:sp>
        <p:nvSpPr>
          <p:cNvPr id="35" name="Text 32"/>
          <p:cNvSpPr txBox="1"/>
          <p:nvPr/>
        </p:nvSpPr>
        <p:spPr>
          <a:xfrm>
            <a:off x="841248" y="4654296"/>
            <a:ext cx="457200" cy="182880"/>
          </a:xfrm>
          <a:prstGeom prst="rect">
            <a:avLst/>
          </a:prstGeom>
          <a:noFill/>
          <a:ln/>
        </p:spPr>
        <p:txBody>
          <a:bodyPr wrap="square" lIns="0" tIns="0" rIns="0" bIns="0" rtlCol="0" anchor="t"/>
          <a:lstStyle/>
          <a:p>
            <a:pPr algn="l" indent="0" marL="0">
              <a:buNone/>
            </a:pPr>
            <a:r>
              <a:rPr lang="en-US" sz="900" b="1" spc="80" kern="0" dirty="0">
                <a:solidFill>
                  <a:srgbClr val="52606D"/>
                </a:solidFill>
                <a:latin typeface="Aptos" pitchFamily="34" charset="0"/>
                <a:ea typeface="Aptos" pitchFamily="34" charset="-122"/>
                <a:cs typeface="Aptos" pitchFamily="34" charset="-120"/>
              </a:rPr>
              <a:t>01</a:t>
            </a:r>
            <a:endParaRPr lang="en-US" sz="900" dirty="0"/>
          </a:p>
        </p:txBody>
      </p:sp>
      <p:sp>
        <p:nvSpPr>
          <p:cNvPr id="36" name="Text 33"/>
          <p:cNvSpPr txBox="1"/>
          <p:nvPr/>
        </p:nvSpPr>
        <p:spPr>
          <a:xfrm>
            <a:off x="841248" y="4837176"/>
            <a:ext cx="2256968" cy="219456"/>
          </a:xfrm>
          <a:prstGeom prst="rect">
            <a:avLst/>
          </a:prstGeom>
          <a:noFill/>
          <a:ln/>
        </p:spPr>
        <p:txBody>
          <a:bodyPr wrap="square" lIns="0" tIns="0" rIns="0" bIns="0" rtlCol="0" anchor="t"/>
          <a:lstStyle/>
          <a:p>
            <a:pPr algn="l" indent="0" marL="0">
              <a:buNone/>
            </a:pPr>
            <a:r>
              <a:rPr lang="en-US" sz="1160" b="1" spc="90" kern="0" dirty="0">
                <a:solidFill>
                  <a:srgbClr val="243B53"/>
                </a:solidFill>
                <a:latin typeface="Aptos" pitchFamily="34" charset="0"/>
                <a:ea typeface="Aptos" pitchFamily="34" charset="-122"/>
                <a:cs typeface="Aptos" pitchFamily="34" charset="-120"/>
              </a:rPr>
              <a:t>DECLARAR</a:t>
            </a:r>
            <a:endParaRPr lang="en-US" sz="1160" dirty="0"/>
          </a:p>
        </p:txBody>
      </p:sp>
      <p:sp>
        <p:nvSpPr>
          <p:cNvPr id="37" name="Text 34"/>
          <p:cNvSpPr txBox="1"/>
          <p:nvPr/>
        </p:nvSpPr>
        <p:spPr>
          <a:xfrm>
            <a:off x="841248" y="5074920"/>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52606D"/>
                </a:solidFill>
                <a:latin typeface="Aptos" pitchFamily="34" charset="0"/>
                <a:ea typeface="Aptos" pitchFamily="34" charset="-122"/>
                <a:cs typeface="Aptos" pitchFamily="34" charset="-120"/>
              </a:rPr>
              <a:t>Qué se prueba y qué queda fuera</a:t>
            </a:r>
            <a:endParaRPr lang="en-US" sz="920" dirty="0"/>
          </a:p>
        </p:txBody>
      </p:sp>
      <p:sp>
        <p:nvSpPr>
          <p:cNvPr id="38" name="Shape 35"/>
          <p:cNvSpPr/>
          <p:nvPr/>
        </p:nvSpPr>
        <p:spPr>
          <a:xfrm>
            <a:off x="3409112" y="4553712"/>
            <a:ext cx="2622728" cy="786384"/>
          </a:xfrm>
          <a:prstGeom prst="rect">
            <a:avLst/>
          </a:prstGeom>
          <a:solidFill>
            <a:srgbClr val="EDE6DA"/>
          </a:solidFill>
          <a:ln w="12700">
            <a:solidFill>
              <a:srgbClr val="EDE6DA"/>
            </a:solidFill>
            <a:prstDash val="solid"/>
          </a:ln>
        </p:spPr>
      </p:sp>
      <p:sp>
        <p:nvSpPr>
          <p:cNvPr id="39" name="Text 36"/>
          <p:cNvSpPr txBox="1"/>
          <p:nvPr/>
        </p:nvSpPr>
        <p:spPr>
          <a:xfrm>
            <a:off x="3591992" y="4654296"/>
            <a:ext cx="457200" cy="182880"/>
          </a:xfrm>
          <a:prstGeom prst="rect">
            <a:avLst/>
          </a:prstGeom>
          <a:noFill/>
          <a:ln/>
        </p:spPr>
        <p:txBody>
          <a:bodyPr wrap="square" lIns="0" tIns="0" rIns="0" bIns="0" rtlCol="0" anchor="t"/>
          <a:lstStyle/>
          <a:p>
            <a:pPr algn="l" indent="0" marL="0">
              <a:buNone/>
            </a:pPr>
            <a:r>
              <a:rPr lang="en-US" sz="900" b="1" spc="80" kern="0" dirty="0">
                <a:solidFill>
                  <a:srgbClr val="52606D"/>
                </a:solidFill>
                <a:latin typeface="Aptos" pitchFamily="34" charset="0"/>
                <a:ea typeface="Aptos" pitchFamily="34" charset="-122"/>
                <a:cs typeface="Aptos" pitchFamily="34" charset="-120"/>
              </a:rPr>
              <a:t>02</a:t>
            </a:r>
            <a:endParaRPr lang="en-US" sz="900" dirty="0"/>
          </a:p>
        </p:txBody>
      </p:sp>
      <p:sp>
        <p:nvSpPr>
          <p:cNvPr id="40" name="Text 37"/>
          <p:cNvSpPr txBox="1"/>
          <p:nvPr/>
        </p:nvSpPr>
        <p:spPr>
          <a:xfrm>
            <a:off x="3591992" y="4837176"/>
            <a:ext cx="2256968" cy="219456"/>
          </a:xfrm>
          <a:prstGeom prst="rect">
            <a:avLst/>
          </a:prstGeom>
          <a:noFill/>
          <a:ln/>
        </p:spPr>
        <p:txBody>
          <a:bodyPr wrap="square" lIns="0" tIns="0" rIns="0" bIns="0" rtlCol="0" anchor="t"/>
          <a:lstStyle/>
          <a:p>
            <a:pPr algn="l" indent="0" marL="0">
              <a:buNone/>
            </a:pPr>
            <a:r>
              <a:rPr lang="en-US" sz="1160" b="1" spc="90" kern="0" dirty="0">
                <a:solidFill>
                  <a:srgbClr val="243B53"/>
                </a:solidFill>
                <a:latin typeface="Aptos" pitchFamily="34" charset="0"/>
                <a:ea typeface="Aptos" pitchFamily="34" charset="-122"/>
                <a:cs typeface="Aptos" pitchFamily="34" charset="-120"/>
              </a:rPr>
              <a:t>PRIORIZAR</a:t>
            </a:r>
            <a:endParaRPr lang="en-US" sz="1160" dirty="0"/>
          </a:p>
        </p:txBody>
      </p:sp>
      <p:sp>
        <p:nvSpPr>
          <p:cNvPr id="41" name="Text 38"/>
          <p:cNvSpPr txBox="1"/>
          <p:nvPr/>
        </p:nvSpPr>
        <p:spPr>
          <a:xfrm>
            <a:off x="3591992" y="5074920"/>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52606D"/>
                </a:solidFill>
                <a:latin typeface="Aptos" pitchFamily="34" charset="0"/>
                <a:ea typeface="Aptos" pitchFamily="34" charset="-122"/>
                <a:cs typeface="Aptos" pitchFamily="34" charset="-120"/>
              </a:rPr>
              <a:t>Dónde duele más un fallo</a:t>
            </a:r>
            <a:endParaRPr lang="en-US" sz="920" dirty="0"/>
          </a:p>
        </p:txBody>
      </p:sp>
      <p:sp>
        <p:nvSpPr>
          <p:cNvPr id="42" name="Shape 39"/>
          <p:cNvSpPr/>
          <p:nvPr/>
        </p:nvSpPr>
        <p:spPr>
          <a:xfrm>
            <a:off x="6159856" y="4553712"/>
            <a:ext cx="2622728" cy="786384"/>
          </a:xfrm>
          <a:prstGeom prst="rect">
            <a:avLst/>
          </a:prstGeom>
          <a:solidFill>
            <a:srgbClr val="EDE6DA"/>
          </a:solidFill>
          <a:ln w="12700">
            <a:solidFill>
              <a:srgbClr val="EDE6DA"/>
            </a:solidFill>
            <a:prstDash val="solid"/>
          </a:ln>
        </p:spPr>
      </p:sp>
      <p:sp>
        <p:nvSpPr>
          <p:cNvPr id="43" name="Text 40"/>
          <p:cNvSpPr txBox="1"/>
          <p:nvPr/>
        </p:nvSpPr>
        <p:spPr>
          <a:xfrm>
            <a:off x="6342736" y="4654296"/>
            <a:ext cx="457200" cy="182880"/>
          </a:xfrm>
          <a:prstGeom prst="rect">
            <a:avLst/>
          </a:prstGeom>
          <a:noFill/>
          <a:ln/>
        </p:spPr>
        <p:txBody>
          <a:bodyPr wrap="square" lIns="0" tIns="0" rIns="0" bIns="0" rtlCol="0" anchor="t"/>
          <a:lstStyle/>
          <a:p>
            <a:pPr algn="l" indent="0" marL="0">
              <a:buNone/>
            </a:pPr>
            <a:r>
              <a:rPr lang="en-US" sz="900" b="1" spc="80" kern="0" dirty="0">
                <a:solidFill>
                  <a:srgbClr val="52606D"/>
                </a:solidFill>
                <a:latin typeface="Aptos" pitchFamily="34" charset="0"/>
                <a:ea typeface="Aptos" pitchFamily="34" charset="-122"/>
                <a:cs typeface="Aptos" pitchFamily="34" charset="-120"/>
              </a:rPr>
              <a:t>03</a:t>
            </a:r>
            <a:endParaRPr lang="en-US" sz="900" dirty="0"/>
          </a:p>
        </p:txBody>
      </p:sp>
      <p:sp>
        <p:nvSpPr>
          <p:cNvPr id="44" name="Text 41"/>
          <p:cNvSpPr txBox="1"/>
          <p:nvPr/>
        </p:nvSpPr>
        <p:spPr>
          <a:xfrm>
            <a:off x="6342736" y="4837176"/>
            <a:ext cx="2256968" cy="219456"/>
          </a:xfrm>
          <a:prstGeom prst="rect">
            <a:avLst/>
          </a:prstGeom>
          <a:noFill/>
          <a:ln/>
        </p:spPr>
        <p:txBody>
          <a:bodyPr wrap="square" lIns="0" tIns="0" rIns="0" bIns="0" rtlCol="0" anchor="t"/>
          <a:lstStyle/>
          <a:p>
            <a:pPr algn="l" indent="0" marL="0">
              <a:buNone/>
            </a:pPr>
            <a:r>
              <a:rPr lang="en-US" sz="1160" b="1" spc="90" kern="0" dirty="0">
                <a:solidFill>
                  <a:srgbClr val="243B53"/>
                </a:solidFill>
                <a:latin typeface="Aptos" pitchFamily="34" charset="0"/>
                <a:ea typeface="Aptos" pitchFamily="34" charset="-122"/>
                <a:cs typeface="Aptos" pitchFamily="34" charset="-120"/>
              </a:rPr>
              <a:t>TRAZAR</a:t>
            </a:r>
            <a:endParaRPr lang="en-US" sz="1160" dirty="0"/>
          </a:p>
        </p:txBody>
      </p:sp>
      <p:sp>
        <p:nvSpPr>
          <p:cNvPr id="45" name="Text 42"/>
          <p:cNvSpPr txBox="1"/>
          <p:nvPr/>
        </p:nvSpPr>
        <p:spPr>
          <a:xfrm>
            <a:off x="6342736" y="5074920"/>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52606D"/>
                </a:solidFill>
                <a:latin typeface="Aptos" pitchFamily="34" charset="0"/>
                <a:ea typeface="Aptos" pitchFamily="34" charset="-122"/>
                <a:cs typeface="Aptos" pitchFamily="34" charset="-120"/>
              </a:rPr>
              <a:t>Qué prueba responde a qué requisito</a:t>
            </a:r>
            <a:endParaRPr lang="en-US" sz="920" dirty="0"/>
          </a:p>
        </p:txBody>
      </p:sp>
      <p:sp>
        <p:nvSpPr>
          <p:cNvPr id="46" name="Shape 43"/>
          <p:cNvSpPr/>
          <p:nvPr/>
        </p:nvSpPr>
        <p:spPr>
          <a:xfrm>
            <a:off x="8910599" y="4553712"/>
            <a:ext cx="2622728" cy="786384"/>
          </a:xfrm>
          <a:prstGeom prst="rect">
            <a:avLst/>
          </a:prstGeom>
          <a:solidFill>
            <a:srgbClr val="EDE6DA"/>
          </a:solidFill>
          <a:ln w="12700">
            <a:solidFill>
              <a:srgbClr val="EDE6DA"/>
            </a:solidFill>
            <a:prstDash val="solid"/>
          </a:ln>
        </p:spPr>
      </p:sp>
      <p:sp>
        <p:nvSpPr>
          <p:cNvPr id="47" name="Text 44"/>
          <p:cNvSpPr txBox="1"/>
          <p:nvPr/>
        </p:nvSpPr>
        <p:spPr>
          <a:xfrm>
            <a:off x="9093479" y="4654296"/>
            <a:ext cx="457200" cy="182880"/>
          </a:xfrm>
          <a:prstGeom prst="rect">
            <a:avLst/>
          </a:prstGeom>
          <a:noFill/>
          <a:ln/>
        </p:spPr>
        <p:txBody>
          <a:bodyPr wrap="square" lIns="0" tIns="0" rIns="0" bIns="0" rtlCol="0" anchor="t"/>
          <a:lstStyle/>
          <a:p>
            <a:pPr algn="l" indent="0" marL="0">
              <a:buNone/>
            </a:pPr>
            <a:r>
              <a:rPr lang="en-US" sz="900" b="1" spc="80" kern="0" dirty="0">
                <a:solidFill>
                  <a:srgbClr val="52606D"/>
                </a:solidFill>
                <a:latin typeface="Aptos" pitchFamily="34" charset="0"/>
                <a:ea typeface="Aptos" pitchFamily="34" charset="-122"/>
                <a:cs typeface="Aptos" pitchFamily="34" charset="-120"/>
              </a:rPr>
              <a:t>04</a:t>
            </a:r>
            <a:endParaRPr lang="en-US" sz="900" dirty="0"/>
          </a:p>
        </p:txBody>
      </p:sp>
      <p:sp>
        <p:nvSpPr>
          <p:cNvPr id="48" name="Text 45"/>
          <p:cNvSpPr txBox="1"/>
          <p:nvPr/>
        </p:nvSpPr>
        <p:spPr>
          <a:xfrm>
            <a:off x="9093479" y="4837176"/>
            <a:ext cx="2256968" cy="219456"/>
          </a:xfrm>
          <a:prstGeom prst="rect">
            <a:avLst/>
          </a:prstGeom>
          <a:noFill/>
          <a:ln/>
        </p:spPr>
        <p:txBody>
          <a:bodyPr wrap="square" lIns="0" tIns="0" rIns="0" bIns="0" rtlCol="0" anchor="t"/>
          <a:lstStyle/>
          <a:p>
            <a:pPr algn="l" indent="0" marL="0">
              <a:buNone/>
            </a:pPr>
            <a:r>
              <a:rPr lang="en-US" sz="1160" b="1" spc="90" kern="0" dirty="0">
                <a:solidFill>
                  <a:srgbClr val="243B53"/>
                </a:solidFill>
                <a:latin typeface="Aptos" pitchFamily="34" charset="0"/>
                <a:ea typeface="Aptos" pitchFamily="34" charset="-122"/>
                <a:cs typeface="Aptos" pitchFamily="34" charset="-120"/>
              </a:rPr>
              <a:t>COMPROBAR</a:t>
            </a:r>
            <a:endParaRPr lang="en-US" sz="1160" dirty="0"/>
          </a:p>
        </p:txBody>
      </p:sp>
      <p:sp>
        <p:nvSpPr>
          <p:cNvPr id="49" name="Text 46"/>
          <p:cNvSpPr txBox="1"/>
          <p:nvPr/>
        </p:nvSpPr>
        <p:spPr>
          <a:xfrm>
            <a:off x="9093479" y="5074920"/>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52606D"/>
                </a:solidFill>
                <a:latin typeface="Aptos" pitchFamily="34" charset="0"/>
                <a:ea typeface="Aptos" pitchFamily="34" charset="-122"/>
                <a:cs typeface="Aptos" pitchFamily="34" charset="-120"/>
              </a:rPr>
              <a:t>Que la traza sea verdadera</a:t>
            </a:r>
            <a:endParaRPr lang="en-US" sz="920" dirty="0"/>
          </a:p>
        </p:txBody>
      </p:sp>
      <p:sp>
        <p:nvSpPr>
          <p:cNvPr id="50" name="Shape 47"/>
          <p:cNvSpPr/>
          <p:nvPr/>
        </p:nvSpPr>
        <p:spPr>
          <a:xfrm>
            <a:off x="658368" y="5650992"/>
            <a:ext cx="10874959" cy="548640"/>
          </a:xfrm>
          <a:prstGeom prst="rect">
            <a:avLst/>
          </a:prstGeom>
          <a:solidFill>
            <a:srgbClr val="102A43"/>
          </a:solidFill>
          <a:ln w="12700">
            <a:solidFill>
              <a:srgbClr val="102A43"/>
            </a:solidFill>
            <a:prstDash val="solid"/>
          </a:ln>
        </p:spPr>
      </p:sp>
      <p:sp>
        <p:nvSpPr>
          <p:cNvPr id="51" name="Text 48"/>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Se declara, se prioriza, se traza y se comprueba que la traza sea verdadera.</a:t>
            </a:r>
            <a:endParaRPr lang="en-US" sz="13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06</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PUNTO DE PARTIDA</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El sistema sobre el que se trabaja</a:t>
            </a:r>
            <a:endParaRPr lang="en-US" sz="3000" dirty="0"/>
          </a:p>
        </p:txBody>
      </p:sp>
      <p:sp>
        <p:nvSpPr>
          <p:cNvPr id="10" name="Text 7"/>
          <p:cNvSpPr txBox="1"/>
          <p:nvPr/>
        </p:nvSpPr>
        <p:spPr>
          <a:xfrm>
            <a:off x="658368" y="1664208"/>
            <a:ext cx="10424160" cy="365760"/>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Es el mismo proyecto de reserva de laboratorio de las cinco sesiones anteriores. Sus piezas van a aparecer toda la sesión, así que conviene tenerlas a la vista.</a:t>
            </a:r>
            <a:endParaRPr lang="en-US" sz="1420" dirty="0"/>
          </a:p>
        </p:txBody>
      </p:sp>
      <p:sp>
        <p:nvSpPr>
          <p:cNvPr id="11" name="Shape 8"/>
          <p:cNvSpPr/>
          <p:nvPr/>
        </p:nvSpPr>
        <p:spPr>
          <a:xfrm>
            <a:off x="658368" y="2340864"/>
            <a:ext cx="2432304" cy="1316736"/>
          </a:xfrm>
          <a:prstGeom prst="rect">
            <a:avLst/>
          </a:prstGeom>
          <a:solidFill>
            <a:srgbClr val="FFFFFF"/>
          </a:solidFill>
          <a:ln w="12700">
            <a:solidFill>
              <a:srgbClr val="FFFFFF"/>
            </a:solidFill>
            <a:prstDash val="solid"/>
          </a:ln>
        </p:spPr>
      </p:sp>
      <p:sp>
        <p:nvSpPr>
          <p:cNvPr id="12" name="Shape 9"/>
          <p:cNvSpPr/>
          <p:nvPr/>
        </p:nvSpPr>
        <p:spPr>
          <a:xfrm>
            <a:off x="658368" y="2340864"/>
            <a:ext cx="2432304" cy="54864"/>
          </a:xfrm>
          <a:prstGeom prst="rect">
            <a:avLst/>
          </a:prstGeom>
          <a:solidFill>
            <a:srgbClr val="52606D"/>
          </a:solidFill>
          <a:ln w="12700">
            <a:solidFill>
              <a:srgbClr val="52606D"/>
            </a:solidFill>
            <a:prstDash val="solid"/>
          </a:ln>
        </p:spPr>
      </p:sp>
      <p:sp>
        <p:nvSpPr>
          <p:cNvPr id="13" name="Text 10"/>
          <p:cNvSpPr txBox="1"/>
          <p:nvPr/>
        </p:nvSpPr>
        <p:spPr>
          <a:xfrm>
            <a:off x="859536" y="2523744"/>
            <a:ext cx="2029968" cy="274320"/>
          </a:xfrm>
          <a:prstGeom prst="rect">
            <a:avLst/>
          </a:prstGeom>
          <a:noFill/>
          <a:ln/>
        </p:spPr>
        <p:txBody>
          <a:bodyPr wrap="square" lIns="0" tIns="0" rIns="0" bIns="0" rtlCol="0" anchor="t"/>
          <a:lstStyle/>
          <a:p>
            <a:pPr algn="l" indent="0" marL="0">
              <a:buNone/>
            </a:pPr>
            <a:r>
              <a:rPr lang="en-US" sz="1360" b="1" dirty="0">
                <a:solidFill>
                  <a:srgbClr val="52606D"/>
                </a:solidFill>
                <a:latin typeface="Aptos" pitchFamily="34" charset="0"/>
                <a:ea typeface="Aptos" pitchFamily="34" charset="-122"/>
                <a:cs typeface="Aptos" pitchFamily="34" charset="-120"/>
              </a:rPr>
              <a:t>La interfaz</a:t>
            </a:r>
            <a:endParaRPr lang="en-US" sz="1360" dirty="0"/>
          </a:p>
        </p:txBody>
      </p:sp>
      <p:sp>
        <p:nvSpPr>
          <p:cNvPr id="14" name="Text 11"/>
          <p:cNvSpPr txBox="1"/>
          <p:nvPr/>
        </p:nvSpPr>
        <p:spPr>
          <a:xfrm>
            <a:off x="859536" y="2852928"/>
            <a:ext cx="2029968" cy="694944"/>
          </a:xfrm>
          <a:prstGeom prst="rect">
            <a:avLst/>
          </a:prstGeom>
          <a:noFill/>
          <a:ln/>
        </p:spPr>
        <p:txBody>
          <a:bodyPr wrap="square" lIns="0" tIns="0" rIns="0" bIns="0" rtlCol="0" anchor="t"/>
          <a:lstStyle/>
          <a:p>
            <a:pPr algn="l" indent="0" marL="0">
              <a:lnSpc>
                <a:spcPct val="114000"/>
              </a:lnSpc>
              <a:buNone/>
            </a:pPr>
            <a:r>
              <a:rPr lang="en-US" sz="1020" dirty="0">
                <a:solidFill>
                  <a:srgbClr val="243B53"/>
                </a:solidFill>
                <a:latin typeface="Aptos" pitchFamily="34" charset="0"/>
                <a:ea typeface="Aptos" pitchFamily="34" charset="-122"/>
                <a:cs typeface="Aptos" pitchFamily="34" charset="-120"/>
              </a:rPr>
              <a:t>La página que usa la persona: el formulario y el estado de los bloques. Envía la solicitud.</a:t>
            </a:r>
            <a:endParaRPr lang="en-US" sz="1020" dirty="0"/>
          </a:p>
        </p:txBody>
      </p:sp>
      <p:sp>
        <p:nvSpPr>
          <p:cNvPr id="15" name="Shape 12"/>
          <p:cNvSpPr/>
          <p:nvPr/>
        </p:nvSpPr>
        <p:spPr>
          <a:xfrm>
            <a:off x="3163824" y="2999232"/>
            <a:ext cx="292608" cy="0"/>
          </a:xfrm>
          <a:prstGeom prst="line">
            <a:avLst/>
          </a:prstGeom>
          <a:noFill/>
          <a:ln w="12700">
            <a:solidFill>
              <a:srgbClr val="D8CFC4"/>
            </a:solidFill>
            <a:prstDash val="solid"/>
            <a:headEnd type="none"/>
            <a:tailEnd type="triangle"/>
          </a:ln>
        </p:spPr>
      </p:sp>
      <p:sp>
        <p:nvSpPr>
          <p:cNvPr id="16" name="Shape 13"/>
          <p:cNvSpPr/>
          <p:nvPr/>
        </p:nvSpPr>
        <p:spPr>
          <a:xfrm>
            <a:off x="3474720" y="2340864"/>
            <a:ext cx="2432304" cy="1316736"/>
          </a:xfrm>
          <a:prstGeom prst="rect">
            <a:avLst/>
          </a:prstGeom>
          <a:solidFill>
            <a:srgbClr val="FFFFFF"/>
          </a:solidFill>
          <a:ln w="12700">
            <a:solidFill>
              <a:srgbClr val="FFFFFF"/>
            </a:solidFill>
            <a:prstDash val="solid"/>
          </a:ln>
        </p:spPr>
      </p:sp>
      <p:sp>
        <p:nvSpPr>
          <p:cNvPr id="17" name="Shape 14"/>
          <p:cNvSpPr/>
          <p:nvPr/>
        </p:nvSpPr>
        <p:spPr>
          <a:xfrm>
            <a:off x="3474720" y="2340864"/>
            <a:ext cx="2432304" cy="54864"/>
          </a:xfrm>
          <a:prstGeom prst="rect">
            <a:avLst/>
          </a:prstGeom>
          <a:solidFill>
            <a:srgbClr val="102A43"/>
          </a:solidFill>
          <a:ln w="12700">
            <a:solidFill>
              <a:srgbClr val="102A43"/>
            </a:solidFill>
            <a:prstDash val="solid"/>
          </a:ln>
        </p:spPr>
      </p:sp>
      <p:sp>
        <p:nvSpPr>
          <p:cNvPr id="18" name="Text 15"/>
          <p:cNvSpPr txBox="1"/>
          <p:nvPr/>
        </p:nvSpPr>
        <p:spPr>
          <a:xfrm>
            <a:off x="3675888" y="2523744"/>
            <a:ext cx="2029968" cy="274320"/>
          </a:xfrm>
          <a:prstGeom prst="rect">
            <a:avLst/>
          </a:prstGeom>
          <a:noFill/>
          <a:ln/>
        </p:spPr>
        <p:txBody>
          <a:bodyPr wrap="square" lIns="0" tIns="0" rIns="0" bIns="0" rtlCol="0" anchor="t"/>
          <a:lstStyle/>
          <a:p>
            <a:pPr algn="l" indent="0" marL="0">
              <a:buNone/>
            </a:pPr>
            <a:r>
              <a:rPr lang="en-US" sz="1360" b="1" dirty="0">
                <a:solidFill>
                  <a:srgbClr val="102A43"/>
                </a:solidFill>
                <a:latin typeface="Aptos" pitchFamily="34" charset="0"/>
                <a:ea typeface="Aptos" pitchFamily="34" charset="-122"/>
                <a:cs typeface="Aptos" pitchFamily="34" charset="-120"/>
              </a:rPr>
              <a:t>La ruta de la API</a:t>
            </a:r>
            <a:endParaRPr lang="en-US" sz="1360" dirty="0"/>
          </a:p>
        </p:txBody>
      </p:sp>
      <p:sp>
        <p:nvSpPr>
          <p:cNvPr id="19" name="Text 16"/>
          <p:cNvSpPr txBox="1"/>
          <p:nvPr/>
        </p:nvSpPr>
        <p:spPr>
          <a:xfrm>
            <a:off x="3675888" y="2852928"/>
            <a:ext cx="2029968" cy="694944"/>
          </a:xfrm>
          <a:prstGeom prst="rect">
            <a:avLst/>
          </a:prstGeom>
          <a:noFill/>
          <a:ln/>
        </p:spPr>
        <p:txBody>
          <a:bodyPr wrap="square" lIns="0" tIns="0" rIns="0" bIns="0" rtlCol="0" anchor="t"/>
          <a:lstStyle/>
          <a:p>
            <a:pPr algn="l" indent="0" marL="0">
              <a:lnSpc>
                <a:spcPct val="114000"/>
              </a:lnSpc>
              <a:buNone/>
            </a:pPr>
            <a:r>
              <a:rPr lang="en-US" sz="1020" dirty="0">
                <a:solidFill>
                  <a:srgbClr val="243B53"/>
                </a:solidFill>
                <a:latin typeface="Aptos" pitchFamily="34" charset="0"/>
                <a:ea typeface="Aptos" pitchFamily="34" charset="-122"/>
                <a:cs typeface="Aptos" pitchFamily="34" charset="-120"/>
              </a:rPr>
              <a:t>crear_reserva la recibe, consulta, decide y arma la respuesta.</a:t>
            </a:r>
            <a:endParaRPr lang="en-US" sz="1020" dirty="0"/>
          </a:p>
        </p:txBody>
      </p:sp>
      <p:sp>
        <p:nvSpPr>
          <p:cNvPr id="20" name="Shape 17"/>
          <p:cNvSpPr/>
          <p:nvPr/>
        </p:nvSpPr>
        <p:spPr>
          <a:xfrm>
            <a:off x="5980176" y="2999232"/>
            <a:ext cx="292608" cy="0"/>
          </a:xfrm>
          <a:prstGeom prst="line">
            <a:avLst/>
          </a:prstGeom>
          <a:noFill/>
          <a:ln w="12700">
            <a:solidFill>
              <a:srgbClr val="D8CFC4"/>
            </a:solidFill>
            <a:prstDash val="solid"/>
            <a:headEnd type="none"/>
            <a:tailEnd type="triangle"/>
          </a:ln>
        </p:spPr>
      </p:sp>
      <p:sp>
        <p:nvSpPr>
          <p:cNvPr id="21" name="Shape 18"/>
          <p:cNvSpPr/>
          <p:nvPr/>
        </p:nvSpPr>
        <p:spPr>
          <a:xfrm>
            <a:off x="6291072" y="2340864"/>
            <a:ext cx="2432304" cy="1316736"/>
          </a:xfrm>
          <a:prstGeom prst="rect">
            <a:avLst/>
          </a:prstGeom>
          <a:solidFill>
            <a:srgbClr val="FFFFFF"/>
          </a:solidFill>
          <a:ln w="12700">
            <a:solidFill>
              <a:srgbClr val="FFFFFF"/>
            </a:solidFill>
            <a:prstDash val="solid"/>
          </a:ln>
        </p:spPr>
      </p:sp>
      <p:sp>
        <p:nvSpPr>
          <p:cNvPr id="22" name="Shape 19"/>
          <p:cNvSpPr/>
          <p:nvPr/>
        </p:nvSpPr>
        <p:spPr>
          <a:xfrm>
            <a:off x="6291072" y="2340864"/>
            <a:ext cx="2432304" cy="54864"/>
          </a:xfrm>
          <a:prstGeom prst="rect">
            <a:avLst/>
          </a:prstGeom>
          <a:solidFill>
            <a:srgbClr val="8A6A12"/>
          </a:solidFill>
          <a:ln w="12700">
            <a:solidFill>
              <a:srgbClr val="8A6A12"/>
            </a:solidFill>
            <a:prstDash val="solid"/>
          </a:ln>
        </p:spPr>
      </p:sp>
      <p:sp>
        <p:nvSpPr>
          <p:cNvPr id="23" name="Text 20"/>
          <p:cNvSpPr txBox="1"/>
          <p:nvPr/>
        </p:nvSpPr>
        <p:spPr>
          <a:xfrm>
            <a:off x="6492240" y="2523744"/>
            <a:ext cx="2029968" cy="274320"/>
          </a:xfrm>
          <a:prstGeom prst="rect">
            <a:avLst/>
          </a:prstGeom>
          <a:noFill/>
          <a:ln/>
        </p:spPr>
        <p:txBody>
          <a:bodyPr wrap="square" lIns="0" tIns="0" rIns="0" bIns="0" rtlCol="0" anchor="t"/>
          <a:lstStyle/>
          <a:p>
            <a:pPr algn="l" indent="0" marL="0">
              <a:buNone/>
            </a:pPr>
            <a:r>
              <a:rPr lang="en-US" sz="1360" b="1" dirty="0">
                <a:solidFill>
                  <a:srgbClr val="8A6A12"/>
                </a:solidFill>
                <a:latin typeface="Aptos" pitchFamily="34" charset="0"/>
                <a:ea typeface="Aptos" pitchFamily="34" charset="-122"/>
                <a:cs typeface="Aptos" pitchFamily="34" charset="-120"/>
              </a:rPr>
              <a:t>Las reglas</a:t>
            </a:r>
            <a:endParaRPr lang="en-US" sz="1360" dirty="0"/>
          </a:p>
        </p:txBody>
      </p:sp>
      <p:sp>
        <p:nvSpPr>
          <p:cNvPr id="24" name="Text 21"/>
          <p:cNvSpPr txBox="1"/>
          <p:nvPr/>
        </p:nvSpPr>
        <p:spPr>
          <a:xfrm>
            <a:off x="6492240" y="2852928"/>
            <a:ext cx="2029968" cy="694944"/>
          </a:xfrm>
          <a:prstGeom prst="rect">
            <a:avLst/>
          </a:prstGeom>
          <a:noFill/>
          <a:ln/>
        </p:spPr>
        <p:txBody>
          <a:bodyPr wrap="square" lIns="0" tIns="0" rIns="0" bIns="0" rtlCol="0" anchor="t"/>
          <a:lstStyle/>
          <a:p>
            <a:pPr algn="l" indent="0" marL="0">
              <a:lnSpc>
                <a:spcPct val="114000"/>
              </a:lnSpc>
              <a:buNone/>
            </a:pPr>
            <a:r>
              <a:rPr lang="en-US" sz="1020" dirty="0">
                <a:solidFill>
                  <a:srgbClr val="243B53"/>
                </a:solidFill>
                <a:latin typeface="Aptos" pitchFamily="34" charset="0"/>
                <a:ea typeface="Aptos" pitchFamily="34" charset="-122"/>
                <a:cs typeface="Aptos" pitchFamily="34" charset="-120"/>
              </a:rPr>
              <a:t>puede_reservar y cabe_en_sala deciden si la reserva se acepta.</a:t>
            </a:r>
            <a:endParaRPr lang="en-US" sz="1020" dirty="0"/>
          </a:p>
        </p:txBody>
      </p:sp>
      <p:sp>
        <p:nvSpPr>
          <p:cNvPr id="25" name="Shape 22"/>
          <p:cNvSpPr/>
          <p:nvPr/>
        </p:nvSpPr>
        <p:spPr>
          <a:xfrm>
            <a:off x="8796528" y="2999232"/>
            <a:ext cx="292608" cy="0"/>
          </a:xfrm>
          <a:prstGeom prst="line">
            <a:avLst/>
          </a:prstGeom>
          <a:noFill/>
          <a:ln w="12700">
            <a:solidFill>
              <a:srgbClr val="D8CFC4"/>
            </a:solidFill>
            <a:prstDash val="solid"/>
            <a:headEnd type="none"/>
            <a:tailEnd type="triangle"/>
          </a:ln>
        </p:spPr>
      </p:sp>
      <p:sp>
        <p:nvSpPr>
          <p:cNvPr id="26" name="Shape 23"/>
          <p:cNvSpPr/>
          <p:nvPr/>
        </p:nvSpPr>
        <p:spPr>
          <a:xfrm>
            <a:off x="9107424" y="2340864"/>
            <a:ext cx="2432304" cy="1316736"/>
          </a:xfrm>
          <a:prstGeom prst="rect">
            <a:avLst/>
          </a:prstGeom>
          <a:solidFill>
            <a:srgbClr val="FFFFFF"/>
          </a:solidFill>
          <a:ln w="12700">
            <a:solidFill>
              <a:srgbClr val="FFFFFF"/>
            </a:solidFill>
            <a:prstDash val="solid"/>
          </a:ln>
        </p:spPr>
      </p:sp>
      <p:sp>
        <p:nvSpPr>
          <p:cNvPr id="27" name="Shape 24"/>
          <p:cNvSpPr/>
          <p:nvPr/>
        </p:nvSpPr>
        <p:spPr>
          <a:xfrm>
            <a:off x="9107424" y="2340864"/>
            <a:ext cx="2432304" cy="54864"/>
          </a:xfrm>
          <a:prstGeom prst="rect">
            <a:avLst/>
          </a:prstGeom>
          <a:solidFill>
            <a:srgbClr val="2E7D4F"/>
          </a:solidFill>
          <a:ln w="12700">
            <a:solidFill>
              <a:srgbClr val="2E7D4F"/>
            </a:solidFill>
            <a:prstDash val="solid"/>
          </a:ln>
        </p:spPr>
      </p:sp>
      <p:sp>
        <p:nvSpPr>
          <p:cNvPr id="28" name="Text 25"/>
          <p:cNvSpPr txBox="1"/>
          <p:nvPr/>
        </p:nvSpPr>
        <p:spPr>
          <a:xfrm>
            <a:off x="9308592" y="2523744"/>
            <a:ext cx="2029968" cy="274320"/>
          </a:xfrm>
          <a:prstGeom prst="rect">
            <a:avLst/>
          </a:prstGeom>
          <a:noFill/>
          <a:ln/>
        </p:spPr>
        <p:txBody>
          <a:bodyPr wrap="square" lIns="0" tIns="0" rIns="0" bIns="0" rtlCol="0" anchor="t"/>
          <a:lstStyle/>
          <a:p>
            <a:pPr algn="l" indent="0" marL="0">
              <a:buNone/>
            </a:pPr>
            <a:r>
              <a:rPr lang="en-US" sz="1360" b="1" dirty="0">
                <a:solidFill>
                  <a:srgbClr val="2E7D4F"/>
                </a:solidFill>
                <a:latin typeface="Aptos" pitchFamily="34" charset="0"/>
                <a:ea typeface="Aptos" pitchFamily="34" charset="-122"/>
                <a:cs typeface="Aptos" pitchFamily="34" charset="-120"/>
              </a:rPr>
              <a:t>El almacén</a:t>
            </a:r>
            <a:endParaRPr lang="en-US" sz="1360" dirty="0"/>
          </a:p>
        </p:txBody>
      </p:sp>
      <p:sp>
        <p:nvSpPr>
          <p:cNvPr id="29" name="Text 26"/>
          <p:cNvSpPr txBox="1"/>
          <p:nvPr/>
        </p:nvSpPr>
        <p:spPr>
          <a:xfrm>
            <a:off x="9308592" y="2852928"/>
            <a:ext cx="2029968" cy="694944"/>
          </a:xfrm>
          <a:prstGeom prst="rect">
            <a:avLst/>
          </a:prstGeom>
          <a:noFill/>
          <a:ln/>
        </p:spPr>
        <p:txBody>
          <a:bodyPr wrap="square" lIns="0" tIns="0" rIns="0" bIns="0" rtlCol="0" anchor="t"/>
          <a:lstStyle/>
          <a:p>
            <a:pPr algn="l" indent="0" marL="0">
              <a:lnSpc>
                <a:spcPct val="114000"/>
              </a:lnSpc>
              <a:buNone/>
            </a:pPr>
            <a:r>
              <a:rPr lang="en-US" sz="1020" dirty="0">
                <a:solidFill>
                  <a:srgbClr val="243B53"/>
                </a:solidFill>
                <a:latin typeface="Aptos" pitchFamily="34" charset="0"/>
                <a:ea typeface="Aptos" pitchFamily="34" charset="-122"/>
                <a:cs typeface="Aptos" pitchFamily="34" charset="-120"/>
              </a:rPr>
              <a:t>almacen guarda las reservas y los eventos en un archivo de base de datos.</a:t>
            </a:r>
            <a:endParaRPr lang="en-US" sz="1020" dirty="0"/>
          </a:p>
        </p:txBody>
      </p:sp>
      <p:sp>
        <p:nvSpPr>
          <p:cNvPr id="30" name="Shape 27"/>
          <p:cNvSpPr/>
          <p:nvPr/>
        </p:nvSpPr>
        <p:spPr>
          <a:xfrm>
            <a:off x="658368" y="3840480"/>
            <a:ext cx="5346040" cy="914400"/>
          </a:xfrm>
          <a:prstGeom prst="rect">
            <a:avLst/>
          </a:prstGeom>
          <a:solidFill>
            <a:srgbClr val="FFFFFF"/>
          </a:solidFill>
          <a:ln w="12700">
            <a:solidFill>
              <a:srgbClr val="FFFFFF"/>
            </a:solidFill>
            <a:prstDash val="solid"/>
          </a:ln>
        </p:spPr>
      </p:sp>
      <p:sp>
        <p:nvSpPr>
          <p:cNvPr id="31" name="Shape 28"/>
          <p:cNvSpPr/>
          <p:nvPr/>
        </p:nvSpPr>
        <p:spPr>
          <a:xfrm>
            <a:off x="658368" y="3840480"/>
            <a:ext cx="54864" cy="914400"/>
          </a:xfrm>
          <a:prstGeom prst="rect">
            <a:avLst/>
          </a:prstGeom>
          <a:solidFill>
            <a:srgbClr val="102A43"/>
          </a:solidFill>
          <a:ln w="12700">
            <a:solidFill>
              <a:srgbClr val="102A43"/>
            </a:solidFill>
            <a:prstDash val="solid"/>
          </a:ln>
        </p:spPr>
      </p:sp>
      <p:sp>
        <p:nvSpPr>
          <p:cNvPr id="32" name="Text 29"/>
          <p:cNvSpPr txBox="1"/>
          <p:nvPr/>
        </p:nvSpPr>
        <p:spPr>
          <a:xfrm>
            <a:off x="896112" y="3968496"/>
            <a:ext cx="4888840" cy="182880"/>
          </a:xfrm>
          <a:prstGeom prst="rect">
            <a:avLst/>
          </a:prstGeom>
          <a:noFill/>
          <a:ln/>
        </p:spPr>
        <p:txBody>
          <a:bodyPr wrap="square" lIns="0" tIns="0" rIns="0" bIns="0" rtlCol="0" anchor="t"/>
          <a:lstStyle/>
          <a:p>
            <a:pPr algn="l" indent="0" marL="0">
              <a:buNone/>
            </a:pPr>
            <a:r>
              <a:rPr lang="en-US" sz="920" b="1" spc="110" kern="0" dirty="0">
                <a:solidFill>
                  <a:srgbClr val="102A43"/>
                </a:solidFill>
                <a:latin typeface="Aptos" pitchFamily="34" charset="0"/>
                <a:ea typeface="Aptos" pitchFamily="34" charset="-122"/>
                <a:cs typeface="Aptos" pitchFamily="34" charset="-120"/>
              </a:rPr>
              <a:t>API</a:t>
            </a:r>
            <a:endParaRPr lang="en-US" sz="920" dirty="0"/>
          </a:p>
        </p:txBody>
      </p:sp>
      <p:sp>
        <p:nvSpPr>
          <p:cNvPr id="33" name="Text 30"/>
          <p:cNvSpPr txBox="1"/>
          <p:nvPr/>
        </p:nvSpPr>
        <p:spPr>
          <a:xfrm>
            <a:off x="896112" y="4224528"/>
            <a:ext cx="4888840" cy="420624"/>
          </a:xfrm>
          <a:prstGeom prst="rect">
            <a:avLst/>
          </a:prstGeom>
          <a:noFill/>
          <a:ln/>
        </p:spPr>
        <p:txBody>
          <a:bodyPr wrap="square" lIns="0" tIns="0" rIns="0" bIns="0" rtlCol="0" anchor="t"/>
          <a:lstStyle/>
          <a:p>
            <a:pPr algn="l" indent="0" marL="0">
              <a:lnSpc>
                <a:spcPct val="114000"/>
              </a:lnSpc>
              <a:buNone/>
            </a:pPr>
            <a:r>
              <a:rPr lang="en-US" sz="1210" dirty="0">
                <a:solidFill>
                  <a:srgbClr val="243B53"/>
                </a:solidFill>
                <a:latin typeface="Aptos" pitchFamily="34" charset="0"/>
                <a:ea typeface="Aptos" pitchFamily="34" charset="-122"/>
                <a:cs typeface="Aptos" pitchFamily="34" charset="-120"/>
              </a:rPr>
              <a:t>La puerta por la que otros programas usan el sistema. Cada dirección por la que recibe solicitudes es una ruta.</a:t>
            </a:r>
            <a:endParaRPr lang="en-US" sz="1210" dirty="0"/>
          </a:p>
        </p:txBody>
      </p:sp>
      <p:sp>
        <p:nvSpPr>
          <p:cNvPr id="34" name="Shape 31"/>
          <p:cNvSpPr/>
          <p:nvPr/>
        </p:nvSpPr>
        <p:spPr>
          <a:xfrm>
            <a:off x="6187288" y="3840480"/>
            <a:ext cx="5346040" cy="914400"/>
          </a:xfrm>
          <a:prstGeom prst="rect">
            <a:avLst/>
          </a:prstGeom>
          <a:solidFill>
            <a:srgbClr val="FFFFFF"/>
          </a:solidFill>
          <a:ln w="12700">
            <a:solidFill>
              <a:srgbClr val="FFFFFF"/>
            </a:solidFill>
            <a:prstDash val="solid"/>
          </a:ln>
        </p:spPr>
      </p:sp>
      <p:sp>
        <p:nvSpPr>
          <p:cNvPr id="35" name="Shape 32"/>
          <p:cNvSpPr/>
          <p:nvPr/>
        </p:nvSpPr>
        <p:spPr>
          <a:xfrm>
            <a:off x="6187288" y="3840480"/>
            <a:ext cx="54864" cy="914400"/>
          </a:xfrm>
          <a:prstGeom prst="rect">
            <a:avLst/>
          </a:prstGeom>
          <a:solidFill>
            <a:srgbClr val="2E7D4F"/>
          </a:solidFill>
          <a:ln w="12700">
            <a:solidFill>
              <a:srgbClr val="2E7D4F"/>
            </a:solidFill>
            <a:prstDash val="solid"/>
          </a:ln>
        </p:spPr>
      </p:sp>
      <p:sp>
        <p:nvSpPr>
          <p:cNvPr id="36" name="Text 33"/>
          <p:cNvSpPr txBox="1"/>
          <p:nvPr/>
        </p:nvSpPr>
        <p:spPr>
          <a:xfrm>
            <a:off x="6425032" y="3968496"/>
            <a:ext cx="4888840" cy="182880"/>
          </a:xfrm>
          <a:prstGeom prst="rect">
            <a:avLst/>
          </a:prstGeom>
          <a:noFill/>
          <a:ln/>
        </p:spPr>
        <p:txBody>
          <a:bodyPr wrap="square" lIns="0" tIns="0" rIns="0" bIns="0" rtlCol="0" anchor="t"/>
          <a:lstStyle/>
          <a:p>
            <a:pPr algn="l" indent="0" marL="0">
              <a:buNone/>
            </a:pPr>
            <a:r>
              <a:rPr lang="en-US" sz="920" b="1" spc="110" kern="0" dirty="0">
                <a:solidFill>
                  <a:srgbClr val="2E7D4F"/>
                </a:solidFill>
                <a:latin typeface="Aptos" pitchFamily="34" charset="0"/>
                <a:ea typeface="Aptos" pitchFamily="34" charset="-122"/>
                <a:cs typeface="Aptos" pitchFamily="34" charset="-120"/>
              </a:rPr>
              <a:t>LA RESPUESTA</a:t>
            </a:r>
            <a:endParaRPr lang="en-US" sz="920" dirty="0"/>
          </a:p>
        </p:txBody>
      </p:sp>
      <p:sp>
        <p:nvSpPr>
          <p:cNvPr id="37" name="Text 34"/>
          <p:cNvSpPr txBox="1"/>
          <p:nvPr/>
        </p:nvSpPr>
        <p:spPr>
          <a:xfrm>
            <a:off x="6425032" y="4224528"/>
            <a:ext cx="4888840" cy="420624"/>
          </a:xfrm>
          <a:prstGeom prst="rect">
            <a:avLst/>
          </a:prstGeom>
          <a:noFill/>
          <a:ln/>
        </p:spPr>
        <p:txBody>
          <a:bodyPr wrap="square" lIns="0" tIns="0" rIns="0" bIns="0" rtlCol="0" anchor="t"/>
          <a:lstStyle/>
          <a:p>
            <a:pPr algn="l" indent="0" marL="0">
              <a:lnSpc>
                <a:spcPct val="114000"/>
              </a:lnSpc>
              <a:buNone/>
            </a:pPr>
            <a:r>
              <a:rPr lang="en-US" sz="1210" dirty="0">
                <a:solidFill>
                  <a:srgbClr val="243B53"/>
                </a:solidFill>
                <a:latin typeface="Aptos" pitchFamily="34" charset="0"/>
                <a:ea typeface="Aptos" pitchFamily="34" charset="-122"/>
                <a:cs typeface="Aptos" pitchFamily="34" charset="-120"/>
              </a:rPr>
              <a:t>Un código de estado que dice qué ocurrió, y un cuerpo con el resultado. El comprobante viaja en ese cuerpo.</a:t>
            </a:r>
            <a:endParaRPr lang="en-US" sz="1210" dirty="0"/>
          </a:p>
        </p:txBody>
      </p:sp>
      <p:sp>
        <p:nvSpPr>
          <p:cNvPr id="38" name="Shape 35"/>
          <p:cNvSpPr/>
          <p:nvPr/>
        </p:nvSpPr>
        <p:spPr>
          <a:xfrm>
            <a:off x="658368" y="4919472"/>
            <a:ext cx="10874959" cy="566928"/>
          </a:xfrm>
          <a:prstGeom prst="rect">
            <a:avLst/>
          </a:prstGeom>
          <a:solidFill>
            <a:srgbClr val="EDE6DA"/>
          </a:solidFill>
          <a:ln w="12700">
            <a:solidFill>
              <a:srgbClr val="EDE6DA"/>
            </a:solidFill>
            <a:prstDash val="solid"/>
          </a:ln>
        </p:spPr>
      </p:sp>
      <p:sp>
        <p:nvSpPr>
          <p:cNvPr id="39" name="Shape 36"/>
          <p:cNvSpPr/>
          <p:nvPr/>
        </p:nvSpPr>
        <p:spPr>
          <a:xfrm>
            <a:off x="658368" y="4919472"/>
            <a:ext cx="54864" cy="566928"/>
          </a:xfrm>
          <a:prstGeom prst="rect">
            <a:avLst/>
          </a:prstGeom>
          <a:solidFill>
            <a:srgbClr val="B3181E"/>
          </a:solidFill>
          <a:ln w="12700">
            <a:solidFill>
              <a:srgbClr val="B3181E"/>
            </a:solidFill>
            <a:prstDash val="solid"/>
          </a:ln>
        </p:spPr>
      </p:sp>
      <p:sp>
        <p:nvSpPr>
          <p:cNvPr id="40" name="Text 37"/>
          <p:cNvSpPr txBox="1"/>
          <p:nvPr/>
        </p:nvSpPr>
        <p:spPr>
          <a:xfrm>
            <a:off x="914400" y="5010912"/>
            <a:ext cx="1645920" cy="219456"/>
          </a:xfrm>
          <a:prstGeom prst="rect">
            <a:avLst/>
          </a:prstGeom>
          <a:noFill/>
          <a:ln/>
        </p:spPr>
        <p:txBody>
          <a:bodyPr wrap="square" lIns="0" tIns="0" rIns="0" bIns="0" rtlCol="0" anchor="t"/>
          <a:lstStyle/>
          <a:p>
            <a:pPr algn="l" indent="0" marL="0">
              <a:buNone/>
            </a:pPr>
            <a:r>
              <a:rPr lang="en-US" sz="1040" b="1" dirty="0">
                <a:solidFill>
                  <a:srgbClr val="B3181E"/>
                </a:solidFill>
                <a:latin typeface="Aptos" pitchFamily="34" charset="0"/>
                <a:ea typeface="Aptos" pitchFamily="34" charset="-122"/>
                <a:cs typeface="Aptos" pitchFamily="34" charset="-120"/>
              </a:rPr>
              <a:t>Lo nuevo de hoy</a:t>
            </a:r>
            <a:endParaRPr lang="en-US" sz="1040" dirty="0"/>
          </a:p>
        </p:txBody>
      </p:sp>
      <p:sp>
        <p:nvSpPr>
          <p:cNvPr id="41" name="Text 38"/>
          <p:cNvSpPr txBox="1"/>
          <p:nvPr/>
        </p:nvSpPr>
        <p:spPr>
          <a:xfrm>
            <a:off x="2670048" y="5010912"/>
            <a:ext cx="8503920" cy="256032"/>
          </a:xfrm>
          <a:prstGeom prst="rect">
            <a:avLst/>
          </a:prstGeom>
          <a:noFill/>
          <a:ln/>
        </p:spPr>
        <p:txBody>
          <a:bodyPr wrap="square" lIns="0" tIns="0" rIns="0" bIns="0" rtlCol="0" anchor="t"/>
          <a:lstStyle/>
          <a:p>
            <a:pPr algn="l" indent="0" marL="0">
              <a:buNone/>
            </a:pPr>
            <a:r>
              <a:rPr lang="en-US" sz="1160" dirty="0">
                <a:solidFill>
                  <a:srgbClr val="243B53"/>
                </a:solidFill>
                <a:latin typeface="Aptos" pitchFamily="34" charset="0"/>
                <a:ea typeface="Aptos" pitchFamily="34" charset="-122"/>
                <a:cs typeface="Aptos" pitchFamily="34" charset="-120"/>
              </a:rPr>
              <a:t>Un archivo de requisitos con identificadores estables, y un registro de eventos donde el sistema anota lo que va ocurriendo.</a:t>
            </a:r>
            <a:endParaRPr lang="en-US" sz="1160" dirty="0"/>
          </a:p>
        </p:txBody>
      </p:sp>
      <p:sp>
        <p:nvSpPr>
          <p:cNvPr id="42" name="Shape 39"/>
          <p:cNvSpPr/>
          <p:nvPr/>
        </p:nvSpPr>
        <p:spPr>
          <a:xfrm>
            <a:off x="658368" y="5650992"/>
            <a:ext cx="10874959" cy="548640"/>
          </a:xfrm>
          <a:prstGeom prst="rect">
            <a:avLst/>
          </a:prstGeom>
          <a:solidFill>
            <a:srgbClr val="102A43"/>
          </a:solidFill>
          <a:ln w="12700">
            <a:solidFill>
              <a:srgbClr val="102A43"/>
            </a:solidFill>
            <a:prstDash val="solid"/>
          </a:ln>
        </p:spPr>
      </p:sp>
      <p:sp>
        <p:nvSpPr>
          <p:cNvPr id="43" name="Text 40"/>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Cuatro piezas, y el dato personal vive en más de una de ellas.</a:t>
            </a:r>
            <a:endParaRPr lang="en-US" sz="13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07</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PUNTO DE PARTIDA</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Cómo se lee una prueba</a:t>
            </a:r>
            <a:endParaRPr lang="en-US" sz="3000" dirty="0"/>
          </a:p>
        </p:txBody>
      </p:sp>
      <p:sp>
        <p:nvSpPr>
          <p:cNvPr id="10" name="Text 7"/>
          <p:cNvSpPr txBox="1"/>
          <p:nvPr/>
        </p:nvSpPr>
        <p:spPr>
          <a:xfrm>
            <a:off x="658368" y="1664208"/>
            <a:ext cx="10424160" cy="347472"/>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Todas las pruebas de la sesión tienen esta forma. Vale la pena nombrar cada pieza una vez.</a:t>
            </a:r>
            <a:endParaRPr lang="en-US" sz="1420" dirty="0"/>
          </a:p>
        </p:txBody>
      </p:sp>
      <p:sp>
        <p:nvSpPr>
          <p:cNvPr id="11" name="Shape 8"/>
          <p:cNvSpPr/>
          <p:nvPr/>
        </p:nvSpPr>
        <p:spPr>
          <a:xfrm>
            <a:off x="658368" y="2231136"/>
            <a:ext cx="10874959" cy="1371600"/>
          </a:xfrm>
          <a:prstGeom prst="roundRect">
            <a:avLst>
              <a:gd name="adj" fmla="val 2667"/>
            </a:avLst>
          </a:prstGeom>
          <a:solidFill>
            <a:srgbClr val="102A43"/>
          </a:solidFill>
          <a:ln w="12700">
            <a:solidFill>
              <a:srgbClr val="102A43"/>
            </a:solidFill>
            <a:prstDash val="solid"/>
          </a:ln>
        </p:spPr>
      </p:sp>
      <p:sp>
        <p:nvSpPr>
          <p:cNvPr id="12" name="Shape 9"/>
          <p:cNvSpPr/>
          <p:nvPr/>
        </p:nvSpPr>
        <p:spPr>
          <a:xfrm>
            <a:off x="786384" y="2340864"/>
            <a:ext cx="10618927" cy="310896"/>
          </a:xfrm>
          <a:prstGeom prst="roundRect">
            <a:avLst>
              <a:gd name="adj" fmla="val 8824"/>
            </a:avLst>
          </a:prstGeom>
          <a:solidFill>
            <a:srgbClr val="284B75"/>
          </a:solidFill>
          <a:ln w="12700">
            <a:solidFill>
              <a:srgbClr val="284B75"/>
            </a:solidFill>
            <a:prstDash val="solid"/>
          </a:ln>
        </p:spPr>
      </p:sp>
      <p:sp>
        <p:nvSpPr>
          <p:cNvPr id="13" name="Text 10"/>
          <p:cNvSpPr/>
          <p:nvPr/>
        </p:nvSpPr>
        <p:spPr>
          <a:xfrm>
            <a:off x="896112" y="2414016"/>
            <a:ext cx="10399471" cy="146304"/>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Una prueba completa, de principio a fin</a:t>
            </a:r>
            <a:endParaRPr lang="en-US" sz="1000" dirty="0"/>
          </a:p>
        </p:txBody>
      </p:sp>
      <p:pic>
        <p:nvPicPr>
          <p:cNvPr id="14"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77824" y="2798064"/>
            <a:ext cx="10454335" cy="621792"/>
          </a:xfrm>
          <a:prstGeom prst="rect">
            <a:avLst/>
          </a:prstGeom>
        </p:spPr>
      </p:pic>
      <p:sp>
        <p:nvSpPr>
          <p:cNvPr id="15" name="Shape 11"/>
          <p:cNvSpPr/>
          <p:nvPr/>
        </p:nvSpPr>
        <p:spPr>
          <a:xfrm>
            <a:off x="658368" y="3621024"/>
            <a:ext cx="2087209" cy="1463040"/>
          </a:xfrm>
          <a:prstGeom prst="rect">
            <a:avLst/>
          </a:prstGeom>
          <a:solidFill>
            <a:srgbClr val="FFFFFF"/>
          </a:solidFill>
          <a:ln w="12700">
            <a:solidFill>
              <a:srgbClr val="FFFFFF"/>
            </a:solidFill>
            <a:prstDash val="solid"/>
          </a:ln>
        </p:spPr>
      </p:sp>
      <p:sp>
        <p:nvSpPr>
          <p:cNvPr id="16" name="Shape 12"/>
          <p:cNvSpPr/>
          <p:nvPr/>
        </p:nvSpPr>
        <p:spPr>
          <a:xfrm>
            <a:off x="658368" y="3621024"/>
            <a:ext cx="2087209" cy="54864"/>
          </a:xfrm>
          <a:prstGeom prst="rect">
            <a:avLst/>
          </a:prstGeom>
          <a:solidFill>
            <a:srgbClr val="102A43"/>
          </a:solidFill>
          <a:ln w="12700">
            <a:solidFill>
              <a:srgbClr val="102A43"/>
            </a:solidFill>
            <a:prstDash val="solid"/>
          </a:ln>
        </p:spPr>
      </p:sp>
      <p:sp>
        <p:nvSpPr>
          <p:cNvPr id="17" name="Text 13"/>
          <p:cNvSpPr txBox="1"/>
          <p:nvPr/>
        </p:nvSpPr>
        <p:spPr>
          <a:xfrm>
            <a:off x="804672" y="3767328"/>
            <a:ext cx="1794601" cy="347472"/>
          </a:xfrm>
          <a:prstGeom prst="rect">
            <a:avLst/>
          </a:prstGeom>
          <a:noFill/>
          <a:ln/>
        </p:spPr>
        <p:txBody>
          <a:bodyPr wrap="square" lIns="0" tIns="0" rIns="0" bIns="0" rtlCol="0" anchor="t"/>
          <a:lstStyle/>
          <a:p>
            <a:pPr algn="l" indent="0" marL="0">
              <a:lnSpc>
                <a:spcPct val="108000"/>
              </a:lnSpc>
              <a:buNone/>
            </a:pPr>
            <a:r>
              <a:rPr lang="en-US" sz="960" b="1" dirty="0">
                <a:solidFill>
                  <a:srgbClr val="102A43"/>
                </a:solidFill>
                <a:latin typeface="Consolas" pitchFamily="34" charset="0"/>
                <a:ea typeface="Consolas" pitchFamily="34" charset="-122"/>
                <a:cs typeface="Consolas" pitchFamily="34" charset="-120"/>
              </a:rPr>
              <a:t>def test_...</a:t>
            </a:r>
            <a:endParaRPr lang="en-US" sz="960" dirty="0"/>
          </a:p>
        </p:txBody>
      </p:sp>
      <p:sp>
        <p:nvSpPr>
          <p:cNvPr id="18" name="Text 14"/>
          <p:cNvSpPr txBox="1"/>
          <p:nvPr/>
        </p:nvSpPr>
        <p:spPr>
          <a:xfrm>
            <a:off x="804672" y="4151376"/>
            <a:ext cx="1794601" cy="841248"/>
          </a:xfrm>
          <a:prstGeom prst="rect">
            <a:avLst/>
          </a:prstGeom>
          <a:noFill/>
          <a:ln/>
        </p:spPr>
        <p:txBody>
          <a:bodyPr wrap="square" lIns="0" tIns="0" rIns="0" bIns="0" rtlCol="0" anchor="t"/>
          <a:lstStyle/>
          <a:p>
            <a:pPr algn="l" indent="0" marL="0">
              <a:lnSpc>
                <a:spcPct val="114000"/>
              </a:lnSpc>
              <a:buNone/>
            </a:pPr>
            <a:r>
              <a:rPr lang="en-US" sz="920" dirty="0">
                <a:solidFill>
                  <a:srgbClr val="243B53"/>
                </a:solidFill>
                <a:latin typeface="Aptos" pitchFamily="34" charset="0"/>
                <a:ea typeface="Aptos" pitchFamily="34" charset="-122"/>
                <a:cs typeface="Aptos" pitchFamily="34" charset="-120"/>
              </a:rPr>
              <a:t>Una prueba es una función cuyo nombre empieza con test. La herramienta las encuentra por ese nombre.</a:t>
            </a:r>
            <a:endParaRPr lang="en-US" sz="920" dirty="0"/>
          </a:p>
        </p:txBody>
      </p:sp>
      <p:sp>
        <p:nvSpPr>
          <p:cNvPr id="19" name="Shape 15"/>
          <p:cNvSpPr/>
          <p:nvPr/>
        </p:nvSpPr>
        <p:spPr>
          <a:xfrm>
            <a:off x="2855305" y="3621024"/>
            <a:ext cx="2087209" cy="1463040"/>
          </a:xfrm>
          <a:prstGeom prst="rect">
            <a:avLst/>
          </a:prstGeom>
          <a:solidFill>
            <a:srgbClr val="FFFFFF"/>
          </a:solidFill>
          <a:ln w="12700">
            <a:solidFill>
              <a:srgbClr val="FFFFFF"/>
            </a:solidFill>
            <a:prstDash val="solid"/>
          </a:ln>
        </p:spPr>
      </p:sp>
      <p:sp>
        <p:nvSpPr>
          <p:cNvPr id="20" name="Shape 16"/>
          <p:cNvSpPr/>
          <p:nvPr/>
        </p:nvSpPr>
        <p:spPr>
          <a:xfrm>
            <a:off x="2855305" y="3621024"/>
            <a:ext cx="2087209" cy="54864"/>
          </a:xfrm>
          <a:prstGeom prst="rect">
            <a:avLst/>
          </a:prstGeom>
          <a:solidFill>
            <a:srgbClr val="8A6A12"/>
          </a:solidFill>
          <a:ln w="12700">
            <a:solidFill>
              <a:srgbClr val="8A6A12"/>
            </a:solidFill>
            <a:prstDash val="solid"/>
          </a:ln>
        </p:spPr>
      </p:sp>
      <p:sp>
        <p:nvSpPr>
          <p:cNvPr id="21" name="Text 17"/>
          <p:cNvSpPr txBox="1"/>
          <p:nvPr/>
        </p:nvSpPr>
        <p:spPr>
          <a:xfrm>
            <a:off x="3001609" y="3767328"/>
            <a:ext cx="1794601" cy="347472"/>
          </a:xfrm>
          <a:prstGeom prst="rect">
            <a:avLst/>
          </a:prstGeom>
          <a:noFill/>
          <a:ln/>
        </p:spPr>
        <p:txBody>
          <a:bodyPr wrap="square" lIns="0" tIns="0" rIns="0" bIns="0" rtlCol="0" anchor="t"/>
          <a:lstStyle/>
          <a:p>
            <a:pPr algn="l" indent="0" marL="0">
              <a:lnSpc>
                <a:spcPct val="108000"/>
              </a:lnSpc>
              <a:buNone/>
            </a:pPr>
            <a:r>
              <a:rPr lang="en-US" sz="960" b="1" dirty="0">
                <a:solidFill>
                  <a:srgbClr val="8A6A12"/>
                </a:solidFill>
                <a:latin typeface="Consolas" pitchFamily="34" charset="0"/>
                <a:ea typeface="Consolas" pitchFamily="34" charset="-122"/>
                <a:cs typeface="Consolas" pitchFamily="34" charset="-120"/>
              </a:rPr>
              <a:t>base_de_datos_de_prueba</a:t>
            </a:r>
            <a:endParaRPr lang="en-US" sz="960" dirty="0"/>
          </a:p>
        </p:txBody>
      </p:sp>
      <p:sp>
        <p:nvSpPr>
          <p:cNvPr id="22" name="Text 18"/>
          <p:cNvSpPr txBox="1"/>
          <p:nvPr/>
        </p:nvSpPr>
        <p:spPr>
          <a:xfrm>
            <a:off x="3001609" y="4151376"/>
            <a:ext cx="1794601" cy="841248"/>
          </a:xfrm>
          <a:prstGeom prst="rect">
            <a:avLst/>
          </a:prstGeom>
          <a:noFill/>
          <a:ln/>
        </p:spPr>
        <p:txBody>
          <a:bodyPr wrap="square" lIns="0" tIns="0" rIns="0" bIns="0" rtlCol="0" anchor="t"/>
          <a:lstStyle/>
          <a:p>
            <a:pPr algn="l" indent="0" marL="0">
              <a:lnSpc>
                <a:spcPct val="114000"/>
              </a:lnSpc>
              <a:buNone/>
            </a:pPr>
            <a:r>
              <a:rPr lang="en-US" sz="920" dirty="0">
                <a:solidFill>
                  <a:srgbClr val="243B53"/>
                </a:solidFill>
                <a:latin typeface="Aptos" pitchFamily="34" charset="0"/>
                <a:ea typeface="Aptos" pitchFamily="34" charset="-122"/>
                <a:cs typeface="Aptos" pitchFamily="34" charset="-120"/>
              </a:rPr>
              <a:t>Una fixture: prepara lo que la prueba necesita antes de que corra, y lo deshace al terminar.</a:t>
            </a:r>
            <a:endParaRPr lang="en-US" sz="920" dirty="0"/>
          </a:p>
        </p:txBody>
      </p:sp>
      <p:sp>
        <p:nvSpPr>
          <p:cNvPr id="23" name="Shape 19"/>
          <p:cNvSpPr/>
          <p:nvPr/>
        </p:nvSpPr>
        <p:spPr>
          <a:xfrm>
            <a:off x="5052243" y="3621024"/>
            <a:ext cx="2087209" cy="1463040"/>
          </a:xfrm>
          <a:prstGeom prst="rect">
            <a:avLst/>
          </a:prstGeom>
          <a:solidFill>
            <a:srgbClr val="FFFFFF"/>
          </a:solidFill>
          <a:ln w="12700">
            <a:solidFill>
              <a:srgbClr val="FFFFFF"/>
            </a:solidFill>
            <a:prstDash val="solid"/>
          </a:ln>
        </p:spPr>
      </p:sp>
      <p:sp>
        <p:nvSpPr>
          <p:cNvPr id="24" name="Shape 20"/>
          <p:cNvSpPr/>
          <p:nvPr/>
        </p:nvSpPr>
        <p:spPr>
          <a:xfrm>
            <a:off x="5052243" y="3621024"/>
            <a:ext cx="2087209" cy="54864"/>
          </a:xfrm>
          <a:prstGeom prst="rect">
            <a:avLst/>
          </a:prstGeom>
          <a:solidFill>
            <a:srgbClr val="102A43"/>
          </a:solidFill>
          <a:ln w="12700">
            <a:solidFill>
              <a:srgbClr val="102A43"/>
            </a:solidFill>
            <a:prstDash val="solid"/>
          </a:ln>
        </p:spPr>
      </p:sp>
      <p:sp>
        <p:nvSpPr>
          <p:cNvPr id="25" name="Text 21"/>
          <p:cNvSpPr txBox="1"/>
          <p:nvPr/>
        </p:nvSpPr>
        <p:spPr>
          <a:xfrm>
            <a:off x="5198547" y="3767328"/>
            <a:ext cx="1794601" cy="347472"/>
          </a:xfrm>
          <a:prstGeom prst="rect">
            <a:avLst/>
          </a:prstGeom>
          <a:noFill/>
          <a:ln/>
        </p:spPr>
        <p:txBody>
          <a:bodyPr wrap="square" lIns="0" tIns="0" rIns="0" bIns="0" rtlCol="0" anchor="t"/>
          <a:lstStyle/>
          <a:p>
            <a:pPr algn="l" indent="0" marL="0">
              <a:lnSpc>
                <a:spcPct val="108000"/>
              </a:lnSpc>
              <a:buNone/>
            </a:pPr>
            <a:r>
              <a:rPr lang="en-US" sz="960" b="1" dirty="0">
                <a:solidFill>
                  <a:srgbClr val="102A43"/>
                </a:solidFill>
                <a:latin typeface="Consolas" pitchFamily="34" charset="0"/>
                <a:ea typeface="Consolas" pitchFamily="34" charset="-122"/>
                <a:cs typeface="Consolas" pitchFamily="34" charset="-120"/>
              </a:rPr>
              <a:t>cliente</a:t>
            </a:r>
            <a:endParaRPr lang="en-US" sz="960" dirty="0"/>
          </a:p>
        </p:txBody>
      </p:sp>
      <p:sp>
        <p:nvSpPr>
          <p:cNvPr id="26" name="Text 22"/>
          <p:cNvSpPr txBox="1"/>
          <p:nvPr/>
        </p:nvSpPr>
        <p:spPr>
          <a:xfrm>
            <a:off x="5198547" y="4151376"/>
            <a:ext cx="1794601" cy="841248"/>
          </a:xfrm>
          <a:prstGeom prst="rect">
            <a:avLst/>
          </a:prstGeom>
          <a:noFill/>
          <a:ln/>
        </p:spPr>
        <p:txBody>
          <a:bodyPr wrap="square" lIns="0" tIns="0" rIns="0" bIns="0" rtlCol="0" anchor="t"/>
          <a:lstStyle/>
          <a:p>
            <a:pPr algn="l" indent="0" marL="0">
              <a:lnSpc>
                <a:spcPct val="114000"/>
              </a:lnSpc>
              <a:buNone/>
            </a:pPr>
            <a:r>
              <a:rPr lang="en-US" sz="920" dirty="0">
                <a:solidFill>
                  <a:srgbClr val="243B53"/>
                </a:solidFill>
                <a:latin typeface="Aptos" pitchFamily="34" charset="0"/>
                <a:ea typeface="Aptos" pitchFamily="34" charset="-122"/>
                <a:cs typeface="Aptos" pitchFamily="34" charset="-120"/>
              </a:rPr>
              <a:t>El cliente de pruebas. Envía solicitudes a la aplicación dentro del mismo proceso, sin levantar un servidor.</a:t>
            </a:r>
            <a:endParaRPr lang="en-US" sz="920" dirty="0"/>
          </a:p>
        </p:txBody>
      </p:sp>
      <p:sp>
        <p:nvSpPr>
          <p:cNvPr id="27" name="Shape 23"/>
          <p:cNvSpPr/>
          <p:nvPr/>
        </p:nvSpPr>
        <p:spPr>
          <a:xfrm>
            <a:off x="7249180" y="3621024"/>
            <a:ext cx="2087209" cy="1463040"/>
          </a:xfrm>
          <a:prstGeom prst="rect">
            <a:avLst/>
          </a:prstGeom>
          <a:solidFill>
            <a:srgbClr val="FFFFFF"/>
          </a:solidFill>
          <a:ln w="12700">
            <a:solidFill>
              <a:srgbClr val="FFFFFF"/>
            </a:solidFill>
            <a:prstDash val="solid"/>
          </a:ln>
        </p:spPr>
      </p:sp>
      <p:sp>
        <p:nvSpPr>
          <p:cNvPr id="28" name="Shape 24"/>
          <p:cNvSpPr/>
          <p:nvPr/>
        </p:nvSpPr>
        <p:spPr>
          <a:xfrm>
            <a:off x="7249180" y="3621024"/>
            <a:ext cx="2087209" cy="54864"/>
          </a:xfrm>
          <a:prstGeom prst="rect">
            <a:avLst/>
          </a:prstGeom>
          <a:solidFill>
            <a:srgbClr val="52606D"/>
          </a:solidFill>
          <a:ln w="12700">
            <a:solidFill>
              <a:srgbClr val="52606D"/>
            </a:solidFill>
            <a:prstDash val="solid"/>
          </a:ln>
        </p:spPr>
      </p:sp>
      <p:sp>
        <p:nvSpPr>
          <p:cNvPr id="29" name="Text 25"/>
          <p:cNvSpPr txBox="1"/>
          <p:nvPr/>
        </p:nvSpPr>
        <p:spPr>
          <a:xfrm>
            <a:off x="7395484" y="3767328"/>
            <a:ext cx="1794601" cy="347472"/>
          </a:xfrm>
          <a:prstGeom prst="rect">
            <a:avLst/>
          </a:prstGeom>
          <a:noFill/>
          <a:ln/>
        </p:spPr>
        <p:txBody>
          <a:bodyPr wrap="square" lIns="0" tIns="0" rIns="0" bIns="0" rtlCol="0" anchor="t"/>
          <a:lstStyle/>
          <a:p>
            <a:pPr algn="l" indent="0" marL="0">
              <a:lnSpc>
                <a:spcPct val="108000"/>
              </a:lnSpc>
              <a:buNone/>
            </a:pPr>
            <a:r>
              <a:rPr lang="en-US" sz="960" b="1" dirty="0">
                <a:solidFill>
                  <a:srgbClr val="52606D"/>
                </a:solidFill>
                <a:latin typeface="Consolas" pitchFamily="34" charset="0"/>
                <a:ea typeface="Consolas" pitchFamily="34" charset="-122"/>
                <a:cs typeface="Consolas" pitchFamily="34" charset="-120"/>
              </a:rPr>
              <a:t>SOLICITUD</a:t>
            </a:r>
            <a:endParaRPr lang="en-US" sz="960" dirty="0"/>
          </a:p>
        </p:txBody>
      </p:sp>
      <p:sp>
        <p:nvSpPr>
          <p:cNvPr id="30" name="Text 26"/>
          <p:cNvSpPr txBox="1"/>
          <p:nvPr/>
        </p:nvSpPr>
        <p:spPr>
          <a:xfrm>
            <a:off x="7395484" y="4151376"/>
            <a:ext cx="1794601" cy="841248"/>
          </a:xfrm>
          <a:prstGeom prst="rect">
            <a:avLst/>
          </a:prstGeom>
          <a:noFill/>
          <a:ln/>
        </p:spPr>
        <p:txBody>
          <a:bodyPr wrap="square" lIns="0" tIns="0" rIns="0" bIns="0" rtlCol="0" anchor="t"/>
          <a:lstStyle/>
          <a:p>
            <a:pPr algn="l" indent="0" marL="0">
              <a:lnSpc>
                <a:spcPct val="114000"/>
              </a:lnSpc>
              <a:buNone/>
            </a:pPr>
            <a:r>
              <a:rPr lang="en-US" sz="920" dirty="0">
                <a:solidFill>
                  <a:srgbClr val="243B53"/>
                </a:solidFill>
                <a:latin typeface="Aptos" pitchFamily="34" charset="0"/>
                <a:ea typeface="Aptos" pitchFamily="34" charset="-122"/>
                <a:cs typeface="Aptos" pitchFamily="34" charset="-120"/>
              </a:rPr>
              <a:t>El diccionario con los cinco campos de una reserva válida, escrito una sola vez arriba del archivo.</a:t>
            </a:r>
            <a:endParaRPr lang="en-US" sz="920" dirty="0"/>
          </a:p>
        </p:txBody>
      </p:sp>
      <p:sp>
        <p:nvSpPr>
          <p:cNvPr id="31" name="Shape 27"/>
          <p:cNvSpPr/>
          <p:nvPr/>
        </p:nvSpPr>
        <p:spPr>
          <a:xfrm>
            <a:off x="9446118" y="3621024"/>
            <a:ext cx="2087209" cy="1463040"/>
          </a:xfrm>
          <a:prstGeom prst="rect">
            <a:avLst/>
          </a:prstGeom>
          <a:solidFill>
            <a:srgbClr val="F2E7D9"/>
          </a:solidFill>
          <a:ln w="12700">
            <a:solidFill>
              <a:srgbClr val="F2E7D9"/>
            </a:solidFill>
            <a:prstDash val="solid"/>
          </a:ln>
        </p:spPr>
      </p:sp>
      <p:sp>
        <p:nvSpPr>
          <p:cNvPr id="32" name="Shape 28"/>
          <p:cNvSpPr/>
          <p:nvPr/>
        </p:nvSpPr>
        <p:spPr>
          <a:xfrm>
            <a:off x="9446118" y="3621024"/>
            <a:ext cx="2087209" cy="54864"/>
          </a:xfrm>
          <a:prstGeom prst="rect">
            <a:avLst/>
          </a:prstGeom>
          <a:solidFill>
            <a:srgbClr val="B3181E"/>
          </a:solidFill>
          <a:ln w="12700">
            <a:solidFill>
              <a:srgbClr val="B3181E"/>
            </a:solidFill>
            <a:prstDash val="solid"/>
          </a:ln>
        </p:spPr>
      </p:sp>
      <p:sp>
        <p:nvSpPr>
          <p:cNvPr id="33" name="Text 29"/>
          <p:cNvSpPr txBox="1"/>
          <p:nvPr/>
        </p:nvSpPr>
        <p:spPr>
          <a:xfrm>
            <a:off x="9592422" y="3767328"/>
            <a:ext cx="1794601" cy="347472"/>
          </a:xfrm>
          <a:prstGeom prst="rect">
            <a:avLst/>
          </a:prstGeom>
          <a:noFill/>
          <a:ln/>
        </p:spPr>
        <p:txBody>
          <a:bodyPr wrap="square" lIns="0" tIns="0" rIns="0" bIns="0" rtlCol="0" anchor="t"/>
          <a:lstStyle/>
          <a:p>
            <a:pPr algn="l" indent="0" marL="0">
              <a:lnSpc>
                <a:spcPct val="108000"/>
              </a:lnSpc>
              <a:buNone/>
            </a:pPr>
            <a:r>
              <a:rPr lang="en-US" sz="960" b="1" dirty="0">
                <a:solidFill>
                  <a:srgbClr val="B3181E"/>
                </a:solidFill>
                <a:latin typeface="Consolas" pitchFamily="34" charset="0"/>
                <a:ea typeface="Consolas" pitchFamily="34" charset="-122"/>
                <a:cs typeface="Consolas" pitchFamily="34" charset="-120"/>
              </a:rPr>
              <a:t>assert</a:t>
            </a:r>
            <a:endParaRPr lang="en-US" sz="960" dirty="0"/>
          </a:p>
        </p:txBody>
      </p:sp>
      <p:sp>
        <p:nvSpPr>
          <p:cNvPr id="34" name="Text 30"/>
          <p:cNvSpPr txBox="1"/>
          <p:nvPr/>
        </p:nvSpPr>
        <p:spPr>
          <a:xfrm>
            <a:off x="9592422" y="4151376"/>
            <a:ext cx="1794601" cy="841248"/>
          </a:xfrm>
          <a:prstGeom prst="rect">
            <a:avLst/>
          </a:prstGeom>
          <a:noFill/>
          <a:ln/>
        </p:spPr>
        <p:txBody>
          <a:bodyPr wrap="square" lIns="0" tIns="0" rIns="0" bIns="0" rtlCol="0" anchor="t"/>
          <a:lstStyle/>
          <a:p>
            <a:pPr algn="l" indent="0" marL="0">
              <a:lnSpc>
                <a:spcPct val="114000"/>
              </a:lnSpc>
              <a:buNone/>
            </a:pPr>
            <a:r>
              <a:rPr lang="en-US" sz="920" dirty="0">
                <a:solidFill>
                  <a:srgbClr val="243B53"/>
                </a:solidFill>
                <a:latin typeface="Aptos" pitchFamily="34" charset="0"/>
                <a:ea typeface="Aptos" pitchFamily="34" charset="-122"/>
                <a:cs typeface="Aptos" pitchFamily="34" charset="-120"/>
              </a:rPr>
              <a:t>La aserción. Si lo que sigue no es cierto, la prueba falla. Es lo único que convierte una ejecución en una comprobación.</a:t>
            </a:r>
            <a:endParaRPr lang="en-US" sz="920" dirty="0"/>
          </a:p>
        </p:txBody>
      </p:sp>
      <p:sp>
        <p:nvSpPr>
          <p:cNvPr id="35" name="Shape 31"/>
          <p:cNvSpPr/>
          <p:nvPr/>
        </p:nvSpPr>
        <p:spPr>
          <a:xfrm>
            <a:off x="658368" y="5212080"/>
            <a:ext cx="5346040" cy="384048"/>
          </a:xfrm>
          <a:prstGeom prst="rect">
            <a:avLst/>
          </a:prstGeom>
          <a:solidFill>
            <a:srgbClr val="EDE6DA"/>
          </a:solidFill>
          <a:ln w="12700">
            <a:solidFill>
              <a:srgbClr val="EDE6DA"/>
            </a:solidFill>
            <a:prstDash val="solid"/>
          </a:ln>
        </p:spPr>
      </p:sp>
      <p:sp>
        <p:nvSpPr>
          <p:cNvPr id="36" name="Text 32"/>
          <p:cNvSpPr txBox="1"/>
          <p:nvPr/>
        </p:nvSpPr>
        <p:spPr>
          <a:xfrm>
            <a:off x="859536" y="5294376"/>
            <a:ext cx="1188720" cy="219456"/>
          </a:xfrm>
          <a:prstGeom prst="rect">
            <a:avLst/>
          </a:prstGeom>
          <a:noFill/>
          <a:ln/>
        </p:spPr>
        <p:txBody>
          <a:bodyPr wrap="square" lIns="0" tIns="0" rIns="0" bIns="0" rtlCol="0" anchor="t"/>
          <a:lstStyle/>
          <a:p>
            <a:pPr algn="l" indent="0" marL="0">
              <a:buNone/>
            </a:pPr>
            <a:r>
              <a:rPr lang="en-US" sz="1040" b="1" dirty="0">
                <a:solidFill>
                  <a:srgbClr val="102A43"/>
                </a:solidFill>
                <a:latin typeface="Consolas" pitchFamily="34" charset="0"/>
                <a:ea typeface="Consolas" pitchFamily="34" charset="-122"/>
                <a:cs typeface="Consolas" pitchFamily="34" charset="-120"/>
              </a:rPr>
              <a:t>pytest</a:t>
            </a:r>
            <a:endParaRPr lang="en-US" sz="1040" dirty="0"/>
          </a:p>
        </p:txBody>
      </p:sp>
      <p:sp>
        <p:nvSpPr>
          <p:cNvPr id="37" name="Text 33"/>
          <p:cNvSpPr txBox="1"/>
          <p:nvPr/>
        </p:nvSpPr>
        <p:spPr>
          <a:xfrm>
            <a:off x="2157984" y="5294376"/>
            <a:ext cx="3645256" cy="219456"/>
          </a:xfrm>
          <a:prstGeom prst="rect">
            <a:avLst/>
          </a:prstGeom>
          <a:noFill/>
          <a:ln/>
        </p:spPr>
        <p:txBody>
          <a:bodyPr wrap="square" lIns="0" tIns="0" rIns="0" bIns="0" rtlCol="0" anchor="t"/>
          <a:lstStyle/>
          <a:p>
            <a:pPr algn="l" indent="0" marL="0">
              <a:buNone/>
            </a:pPr>
            <a:r>
              <a:rPr lang="en-US" sz="1020" dirty="0">
                <a:solidFill>
                  <a:srgbClr val="243B53"/>
                </a:solidFill>
                <a:latin typeface="Aptos" pitchFamily="34" charset="0"/>
                <a:ea typeface="Aptos" pitchFamily="34" charset="-122"/>
                <a:cs typeface="Aptos" pitchFamily="34" charset="-120"/>
              </a:rPr>
              <a:t>La herramienta que ejecuta las pruebas y resume el resultado.</a:t>
            </a:r>
            <a:endParaRPr lang="en-US" sz="1020" dirty="0"/>
          </a:p>
        </p:txBody>
      </p:sp>
      <p:sp>
        <p:nvSpPr>
          <p:cNvPr id="38" name="Shape 34"/>
          <p:cNvSpPr/>
          <p:nvPr/>
        </p:nvSpPr>
        <p:spPr>
          <a:xfrm>
            <a:off x="6187288" y="5212080"/>
            <a:ext cx="5346040" cy="384048"/>
          </a:xfrm>
          <a:prstGeom prst="rect">
            <a:avLst/>
          </a:prstGeom>
          <a:solidFill>
            <a:srgbClr val="EDE6DA"/>
          </a:solidFill>
          <a:ln w="12700">
            <a:solidFill>
              <a:srgbClr val="EDE6DA"/>
            </a:solidFill>
            <a:prstDash val="solid"/>
          </a:ln>
        </p:spPr>
      </p:sp>
      <p:sp>
        <p:nvSpPr>
          <p:cNvPr id="39" name="Text 35"/>
          <p:cNvSpPr txBox="1"/>
          <p:nvPr/>
        </p:nvSpPr>
        <p:spPr>
          <a:xfrm>
            <a:off x="6388456" y="5294376"/>
            <a:ext cx="1188720" cy="219456"/>
          </a:xfrm>
          <a:prstGeom prst="rect">
            <a:avLst/>
          </a:prstGeom>
          <a:noFill/>
          <a:ln/>
        </p:spPr>
        <p:txBody>
          <a:bodyPr wrap="square" lIns="0" tIns="0" rIns="0" bIns="0" rtlCol="0" anchor="t"/>
          <a:lstStyle/>
          <a:p>
            <a:pPr algn="l" indent="0" marL="0">
              <a:buNone/>
            </a:pPr>
            <a:r>
              <a:rPr lang="en-US" sz="1040" b="1" dirty="0">
                <a:solidFill>
                  <a:srgbClr val="102A43"/>
                </a:solidFill>
                <a:latin typeface="Consolas" pitchFamily="34" charset="0"/>
                <a:ea typeface="Consolas" pitchFamily="34" charset="-122"/>
                <a:cs typeface="Consolas" pitchFamily="34" charset="-120"/>
              </a:rPr>
              <a:t>uv run</a:t>
            </a:r>
            <a:endParaRPr lang="en-US" sz="1040" dirty="0"/>
          </a:p>
        </p:txBody>
      </p:sp>
      <p:sp>
        <p:nvSpPr>
          <p:cNvPr id="40" name="Text 36"/>
          <p:cNvSpPr txBox="1"/>
          <p:nvPr/>
        </p:nvSpPr>
        <p:spPr>
          <a:xfrm>
            <a:off x="7686904" y="5294376"/>
            <a:ext cx="3645256" cy="219456"/>
          </a:xfrm>
          <a:prstGeom prst="rect">
            <a:avLst/>
          </a:prstGeom>
          <a:noFill/>
          <a:ln/>
        </p:spPr>
        <p:txBody>
          <a:bodyPr wrap="square" lIns="0" tIns="0" rIns="0" bIns="0" rtlCol="0" anchor="t"/>
          <a:lstStyle/>
          <a:p>
            <a:pPr algn="l" indent="0" marL="0">
              <a:buNone/>
            </a:pPr>
            <a:r>
              <a:rPr lang="en-US" sz="1020" dirty="0">
                <a:solidFill>
                  <a:srgbClr val="243B53"/>
                </a:solidFill>
                <a:latin typeface="Aptos" pitchFamily="34" charset="0"/>
                <a:ea typeface="Aptos" pitchFamily="34" charset="-122"/>
                <a:cs typeface="Aptos" pitchFamily="34" charset="-120"/>
              </a:rPr>
              <a:t>Ejecuta un comando dentro del entorno del proyecto.</a:t>
            </a:r>
            <a:endParaRPr lang="en-US" sz="1020" dirty="0"/>
          </a:p>
        </p:txBody>
      </p:sp>
      <p:sp>
        <p:nvSpPr>
          <p:cNvPr id="41" name="Shape 37"/>
          <p:cNvSpPr/>
          <p:nvPr/>
        </p:nvSpPr>
        <p:spPr>
          <a:xfrm>
            <a:off x="658368" y="5705856"/>
            <a:ext cx="10874959" cy="438912"/>
          </a:xfrm>
          <a:prstGeom prst="rect">
            <a:avLst/>
          </a:prstGeom>
          <a:solidFill>
            <a:srgbClr val="102A43"/>
          </a:solidFill>
          <a:ln w="12700">
            <a:solidFill>
              <a:srgbClr val="102A43"/>
            </a:solidFill>
            <a:prstDash val="solid"/>
          </a:ln>
        </p:spPr>
      </p:sp>
      <p:sp>
        <p:nvSpPr>
          <p:cNvPr id="42" name="Text 38"/>
          <p:cNvSpPr txBox="1"/>
          <p:nvPr/>
        </p:nvSpPr>
        <p:spPr>
          <a:xfrm>
            <a:off x="950976" y="5742432"/>
            <a:ext cx="10289743" cy="365760"/>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Sin aserción no hay comprobación: el código se ejecuta y nadie compara nada.</a:t>
            </a:r>
            <a:endParaRPr lang="en-US" sz="13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02A43"/>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E0BC5A"/>
          </a:solidFill>
          <a:ln w="12700">
            <a:solidFill>
              <a:srgbClr val="E0BC5A"/>
            </a:solidFill>
            <a:prstDash val="solid"/>
          </a:ln>
        </p:spPr>
      </p:sp>
      <p:sp>
        <p:nvSpPr>
          <p:cNvPr id="4" name="Shape 2"/>
          <p:cNvSpPr/>
          <p:nvPr/>
        </p:nvSpPr>
        <p:spPr>
          <a:xfrm>
            <a:off x="1243584" y="0"/>
            <a:ext cx="256032" cy="109728"/>
          </a:xfrm>
          <a:prstGeom prst="rect">
            <a:avLst/>
          </a:prstGeom>
          <a:solidFill>
            <a:srgbClr val="FFFFFF"/>
          </a:solidFill>
          <a:ln w="12700">
            <a:solidFill>
              <a:srgbClr val="FFFFFF"/>
            </a:solidFill>
            <a:prstDash val="solid"/>
          </a:ln>
        </p:spPr>
      </p:sp>
      <p:pic>
        <p:nvPicPr>
          <p:cNvPr id="5" name="Image 0" descr="C:\Users\Diego Obando\dev\pro402-taller-de-testing-2026\clases\semana-05\02\ppt\source\assets\logo-aiep-dark.png">    </p:cNvPr>
          <p:cNvPicPr>
            <a:picLocks noChangeAspect="1"/>
          </p:cNvPicPr>
          <p:nvPr/>
        </p:nvPicPr>
        <p:blipFill>
          <a:blip r:embed="rId1"/>
          <a:stretch>
            <a:fillRect/>
          </a:stretch>
        </p:blipFill>
        <p:spPr>
          <a:xfrm>
            <a:off x="10222992" y="307150"/>
            <a:ext cx="1335024" cy="464691"/>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EADFD0"/>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EADFD0"/>
                </a:solidFill>
                <a:latin typeface="Aptos Display" pitchFamily="34" charset="0"/>
                <a:ea typeface="Aptos Display" pitchFamily="34" charset="-122"/>
                <a:cs typeface="Aptos Display" pitchFamily="34" charset="-120"/>
              </a:rPr>
              <a:t>08</a:t>
            </a:r>
            <a:endParaRPr lang="en-US" sz="1400" dirty="0"/>
          </a:p>
        </p:txBody>
      </p:sp>
      <p:sp>
        <p:nvSpPr>
          <p:cNvPr id="8" name="Text 5"/>
          <p:cNvSpPr txBox="1"/>
          <p:nvPr/>
        </p:nvSpPr>
        <p:spPr>
          <a:xfrm>
            <a:off x="658368" y="1371600"/>
            <a:ext cx="4572000" cy="201168"/>
          </a:xfrm>
          <a:prstGeom prst="rect">
            <a:avLst/>
          </a:prstGeom>
          <a:noFill/>
          <a:ln/>
        </p:spPr>
        <p:txBody>
          <a:bodyPr wrap="square" lIns="0" tIns="0" rIns="0" bIns="0" rtlCol="0" anchor="t"/>
          <a:lstStyle/>
          <a:p>
            <a:pPr algn="l" indent="0" marL="0">
              <a:buNone/>
            </a:pPr>
            <a:r>
              <a:rPr lang="en-US" sz="960" b="1" spc="130" kern="0" dirty="0">
                <a:solidFill>
                  <a:srgbClr val="E0BC5A"/>
                </a:solidFill>
                <a:latin typeface="Aptos" pitchFamily="34" charset="0"/>
                <a:ea typeface="Aptos" pitchFamily="34" charset="-122"/>
                <a:cs typeface="Aptos" pitchFamily="34" charset="-120"/>
              </a:rPr>
              <a:t>BLOQUE 1 DE 4 · 25 MINUTOS</a:t>
            </a:r>
            <a:endParaRPr lang="en-US" sz="960" dirty="0"/>
          </a:p>
        </p:txBody>
      </p:sp>
      <p:sp>
        <p:nvSpPr>
          <p:cNvPr id="9" name="Text 6"/>
          <p:cNvSpPr txBox="1"/>
          <p:nvPr/>
        </p:nvSpPr>
        <p:spPr>
          <a:xfrm>
            <a:off x="658368" y="1810512"/>
            <a:ext cx="9784080" cy="1371600"/>
          </a:xfrm>
          <a:prstGeom prst="rect">
            <a:avLst/>
          </a:prstGeom>
          <a:noFill/>
          <a:ln/>
        </p:spPr>
        <p:txBody>
          <a:bodyPr wrap="square" lIns="0" tIns="0" rIns="0" bIns="0" rtlCol="0" anchor="t"/>
          <a:lstStyle/>
          <a:p>
            <a:pPr algn="l" indent="0" marL="0">
              <a:lnSpc>
                <a:spcPct val="102000"/>
              </a:lnSpc>
              <a:buNone/>
            </a:pPr>
            <a:r>
              <a:rPr lang="en-US" sz="4000" b="1" dirty="0">
                <a:solidFill>
                  <a:srgbClr val="FFFFFF"/>
                </a:solidFill>
                <a:latin typeface="Aptos Display" pitchFamily="34" charset="0"/>
                <a:ea typeface="Aptos Display" pitchFamily="34" charset="-122"/>
                <a:cs typeface="Aptos Display" pitchFamily="34" charset="-120"/>
              </a:rPr>
              <a:t>El plan responde lo que la suite no puede</a:t>
            </a:r>
            <a:endParaRPr lang="en-US" sz="4000" dirty="0"/>
          </a:p>
        </p:txBody>
      </p:sp>
      <p:sp>
        <p:nvSpPr>
          <p:cNvPr id="10" name="Shape 7"/>
          <p:cNvSpPr/>
          <p:nvPr/>
        </p:nvSpPr>
        <p:spPr>
          <a:xfrm>
            <a:off x="658368" y="3346704"/>
            <a:ext cx="3840480" cy="0"/>
          </a:xfrm>
          <a:prstGeom prst="line">
            <a:avLst/>
          </a:prstGeom>
          <a:noFill/>
          <a:ln w="12700">
            <a:solidFill>
              <a:srgbClr val="E0BC5A"/>
            </a:solidFill>
            <a:prstDash val="solid"/>
            <a:headEnd type="none"/>
            <a:tailEnd type="none"/>
          </a:ln>
        </p:spPr>
      </p:sp>
      <p:sp>
        <p:nvSpPr>
          <p:cNvPr id="11" name="Text 8"/>
          <p:cNvSpPr txBox="1"/>
          <p:nvPr/>
        </p:nvSpPr>
        <p:spPr>
          <a:xfrm>
            <a:off x="658368" y="3602736"/>
            <a:ext cx="9326880" cy="786384"/>
          </a:xfrm>
          <a:prstGeom prst="rect">
            <a:avLst/>
          </a:prstGeom>
          <a:noFill/>
          <a:ln/>
        </p:spPr>
        <p:txBody>
          <a:bodyPr wrap="square" lIns="0" tIns="0" rIns="0" bIns="0" rtlCol="0" anchor="t"/>
          <a:lstStyle/>
          <a:p>
            <a:pPr algn="l" indent="0" marL="0">
              <a:lnSpc>
                <a:spcPct val="120000"/>
              </a:lnSpc>
              <a:buNone/>
            </a:pPr>
            <a:r>
              <a:rPr lang="en-US" sz="1500" dirty="0">
                <a:solidFill>
                  <a:srgbClr val="EADFD0"/>
                </a:solidFill>
                <a:latin typeface="Aptos" pitchFamily="34" charset="0"/>
                <a:ea typeface="Aptos" pitchFamily="34" charset="-122"/>
                <a:cs typeface="Aptos" pitchFamily="34" charset="-120"/>
              </a:rPr>
              <a:t>Qué información contiene un plan de pruebas que no puede deducirse de ningún archivo del repositorio, leída en la norma que la define. Y la comprobación de que un proyecto puede tener toda su suite en verde mientras arrastra un defecto que contradice su requisito.</a:t>
            </a:r>
            <a:endParaRPr lang="en-US" sz="1500" dirty="0"/>
          </a:p>
        </p:txBody>
      </p:sp>
      <p:sp>
        <p:nvSpPr>
          <p:cNvPr id="12" name="Shape 9"/>
          <p:cNvSpPr/>
          <p:nvPr/>
        </p:nvSpPr>
        <p:spPr>
          <a:xfrm>
            <a:off x="658368" y="4901184"/>
            <a:ext cx="2622728" cy="786384"/>
          </a:xfrm>
          <a:prstGeom prst="rect">
            <a:avLst/>
          </a:prstGeom>
          <a:solidFill>
            <a:srgbClr val="D62027"/>
          </a:solidFill>
          <a:ln w="12700">
            <a:solidFill>
              <a:srgbClr val="D62027"/>
            </a:solidFill>
            <a:prstDash val="solid"/>
          </a:ln>
        </p:spPr>
      </p:sp>
      <p:sp>
        <p:nvSpPr>
          <p:cNvPr id="13" name="Text 10"/>
          <p:cNvSpPr txBox="1"/>
          <p:nvPr/>
        </p:nvSpPr>
        <p:spPr>
          <a:xfrm>
            <a:off x="841248" y="5001768"/>
            <a:ext cx="457200" cy="182880"/>
          </a:xfrm>
          <a:prstGeom prst="rect">
            <a:avLst/>
          </a:prstGeom>
          <a:noFill/>
          <a:ln/>
        </p:spPr>
        <p:txBody>
          <a:bodyPr wrap="square" lIns="0" tIns="0" rIns="0" bIns="0" rtlCol="0" anchor="t"/>
          <a:lstStyle/>
          <a:p>
            <a:pPr algn="l" indent="0" marL="0">
              <a:buNone/>
            </a:pPr>
            <a:r>
              <a:rPr lang="en-US" sz="900" b="1" spc="80" kern="0" dirty="0">
                <a:solidFill>
                  <a:srgbClr val="FFFFFF"/>
                </a:solidFill>
                <a:latin typeface="Aptos" pitchFamily="34" charset="0"/>
                <a:ea typeface="Aptos" pitchFamily="34" charset="-122"/>
                <a:cs typeface="Aptos" pitchFamily="34" charset="-120"/>
              </a:rPr>
              <a:t>01</a:t>
            </a:r>
            <a:endParaRPr lang="en-US" sz="900" dirty="0"/>
          </a:p>
        </p:txBody>
      </p:sp>
      <p:sp>
        <p:nvSpPr>
          <p:cNvPr id="14" name="Text 11"/>
          <p:cNvSpPr txBox="1"/>
          <p:nvPr/>
        </p:nvSpPr>
        <p:spPr>
          <a:xfrm>
            <a:off x="841248" y="5184648"/>
            <a:ext cx="2256968" cy="219456"/>
          </a:xfrm>
          <a:prstGeom prst="rect">
            <a:avLst/>
          </a:prstGeom>
          <a:noFill/>
          <a:ln/>
        </p:spPr>
        <p:txBody>
          <a:bodyPr wrap="square" lIns="0" tIns="0" rIns="0" bIns="0" rtlCol="0" anchor="t"/>
          <a:lstStyle/>
          <a:p>
            <a:pPr algn="l" indent="0" marL="0">
              <a:buNone/>
            </a:pPr>
            <a:r>
              <a:rPr lang="en-US" sz="1160" b="1" spc="90" kern="0" dirty="0">
                <a:solidFill>
                  <a:srgbClr val="FFFFFF"/>
                </a:solidFill>
                <a:latin typeface="Aptos" pitchFamily="34" charset="0"/>
                <a:ea typeface="Aptos" pitchFamily="34" charset="-122"/>
                <a:cs typeface="Aptos" pitchFamily="34" charset="-120"/>
              </a:rPr>
              <a:t>DECLARAR</a:t>
            </a:r>
            <a:endParaRPr lang="en-US" sz="1160" dirty="0"/>
          </a:p>
        </p:txBody>
      </p:sp>
      <p:sp>
        <p:nvSpPr>
          <p:cNvPr id="15" name="Text 12"/>
          <p:cNvSpPr txBox="1"/>
          <p:nvPr/>
        </p:nvSpPr>
        <p:spPr>
          <a:xfrm>
            <a:off x="841248" y="5422392"/>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EADFD0"/>
                </a:solidFill>
                <a:latin typeface="Aptos" pitchFamily="34" charset="0"/>
                <a:ea typeface="Aptos" pitchFamily="34" charset="-122"/>
                <a:cs typeface="Aptos" pitchFamily="34" charset="-120"/>
              </a:rPr>
              <a:t>Qué se prueba y qué queda fuera</a:t>
            </a:r>
            <a:endParaRPr lang="en-US" sz="920" dirty="0"/>
          </a:p>
        </p:txBody>
      </p:sp>
      <p:sp>
        <p:nvSpPr>
          <p:cNvPr id="16" name="Shape 13"/>
          <p:cNvSpPr/>
          <p:nvPr/>
        </p:nvSpPr>
        <p:spPr>
          <a:xfrm>
            <a:off x="3409112" y="4901184"/>
            <a:ext cx="2622728" cy="786384"/>
          </a:xfrm>
          <a:prstGeom prst="rect">
            <a:avLst/>
          </a:prstGeom>
          <a:solidFill>
            <a:srgbClr val="1D3A57"/>
          </a:solidFill>
          <a:ln w="12700">
            <a:solidFill>
              <a:srgbClr val="1D3A57"/>
            </a:solidFill>
            <a:prstDash val="solid"/>
          </a:ln>
        </p:spPr>
      </p:sp>
      <p:sp>
        <p:nvSpPr>
          <p:cNvPr id="17" name="Text 14"/>
          <p:cNvSpPr txBox="1"/>
          <p:nvPr/>
        </p:nvSpPr>
        <p:spPr>
          <a:xfrm>
            <a:off x="3591992" y="5001768"/>
            <a:ext cx="457200" cy="182880"/>
          </a:xfrm>
          <a:prstGeom prst="rect">
            <a:avLst/>
          </a:prstGeom>
          <a:noFill/>
          <a:ln/>
        </p:spPr>
        <p:txBody>
          <a:bodyPr wrap="square" lIns="0" tIns="0" rIns="0" bIns="0" rtlCol="0" anchor="t"/>
          <a:lstStyle/>
          <a:p>
            <a:pPr algn="l" indent="0" marL="0">
              <a:buNone/>
            </a:pPr>
            <a:r>
              <a:rPr lang="en-US" sz="900" b="1" spc="80" kern="0" dirty="0">
                <a:solidFill>
                  <a:srgbClr val="E0BC5A"/>
                </a:solidFill>
                <a:latin typeface="Aptos" pitchFamily="34" charset="0"/>
                <a:ea typeface="Aptos" pitchFamily="34" charset="-122"/>
                <a:cs typeface="Aptos" pitchFamily="34" charset="-120"/>
              </a:rPr>
              <a:t>02</a:t>
            </a:r>
            <a:endParaRPr lang="en-US" sz="900" dirty="0"/>
          </a:p>
        </p:txBody>
      </p:sp>
      <p:sp>
        <p:nvSpPr>
          <p:cNvPr id="18" name="Text 15"/>
          <p:cNvSpPr txBox="1"/>
          <p:nvPr/>
        </p:nvSpPr>
        <p:spPr>
          <a:xfrm>
            <a:off x="3591992" y="5184648"/>
            <a:ext cx="2256968" cy="219456"/>
          </a:xfrm>
          <a:prstGeom prst="rect">
            <a:avLst/>
          </a:prstGeom>
          <a:noFill/>
          <a:ln/>
        </p:spPr>
        <p:txBody>
          <a:bodyPr wrap="square" lIns="0" tIns="0" rIns="0" bIns="0" rtlCol="0" anchor="t"/>
          <a:lstStyle/>
          <a:p>
            <a:pPr algn="l" indent="0" marL="0">
              <a:buNone/>
            </a:pPr>
            <a:r>
              <a:rPr lang="en-US" sz="1160" b="1" spc="90" kern="0" dirty="0">
                <a:solidFill>
                  <a:srgbClr val="FFFFFF"/>
                </a:solidFill>
                <a:latin typeface="Aptos" pitchFamily="34" charset="0"/>
                <a:ea typeface="Aptos" pitchFamily="34" charset="-122"/>
                <a:cs typeface="Aptos" pitchFamily="34" charset="-120"/>
              </a:rPr>
              <a:t>PRIORIZAR</a:t>
            </a:r>
            <a:endParaRPr lang="en-US" sz="1160" dirty="0"/>
          </a:p>
        </p:txBody>
      </p:sp>
      <p:sp>
        <p:nvSpPr>
          <p:cNvPr id="19" name="Text 16"/>
          <p:cNvSpPr txBox="1"/>
          <p:nvPr/>
        </p:nvSpPr>
        <p:spPr>
          <a:xfrm>
            <a:off x="3591992" y="5422392"/>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E6EEF7"/>
                </a:solidFill>
                <a:latin typeface="Aptos" pitchFamily="34" charset="0"/>
                <a:ea typeface="Aptos" pitchFamily="34" charset="-122"/>
                <a:cs typeface="Aptos" pitchFamily="34" charset="-120"/>
              </a:rPr>
              <a:t>Dónde duele más un fallo</a:t>
            </a:r>
            <a:endParaRPr lang="en-US" sz="920" dirty="0"/>
          </a:p>
        </p:txBody>
      </p:sp>
      <p:sp>
        <p:nvSpPr>
          <p:cNvPr id="20" name="Shape 17"/>
          <p:cNvSpPr/>
          <p:nvPr/>
        </p:nvSpPr>
        <p:spPr>
          <a:xfrm>
            <a:off x="6159856" y="4901184"/>
            <a:ext cx="2622728" cy="786384"/>
          </a:xfrm>
          <a:prstGeom prst="rect">
            <a:avLst/>
          </a:prstGeom>
          <a:solidFill>
            <a:srgbClr val="1D3A57"/>
          </a:solidFill>
          <a:ln w="12700">
            <a:solidFill>
              <a:srgbClr val="1D3A57"/>
            </a:solidFill>
            <a:prstDash val="solid"/>
          </a:ln>
        </p:spPr>
      </p:sp>
      <p:sp>
        <p:nvSpPr>
          <p:cNvPr id="21" name="Text 18"/>
          <p:cNvSpPr txBox="1"/>
          <p:nvPr/>
        </p:nvSpPr>
        <p:spPr>
          <a:xfrm>
            <a:off x="6342736" y="5001768"/>
            <a:ext cx="457200" cy="182880"/>
          </a:xfrm>
          <a:prstGeom prst="rect">
            <a:avLst/>
          </a:prstGeom>
          <a:noFill/>
          <a:ln/>
        </p:spPr>
        <p:txBody>
          <a:bodyPr wrap="square" lIns="0" tIns="0" rIns="0" bIns="0" rtlCol="0" anchor="t"/>
          <a:lstStyle/>
          <a:p>
            <a:pPr algn="l" indent="0" marL="0">
              <a:buNone/>
            </a:pPr>
            <a:r>
              <a:rPr lang="en-US" sz="900" b="1" spc="80" kern="0" dirty="0">
                <a:solidFill>
                  <a:srgbClr val="E0BC5A"/>
                </a:solidFill>
                <a:latin typeface="Aptos" pitchFamily="34" charset="0"/>
                <a:ea typeface="Aptos" pitchFamily="34" charset="-122"/>
                <a:cs typeface="Aptos" pitchFamily="34" charset="-120"/>
              </a:rPr>
              <a:t>03</a:t>
            </a:r>
            <a:endParaRPr lang="en-US" sz="900" dirty="0"/>
          </a:p>
        </p:txBody>
      </p:sp>
      <p:sp>
        <p:nvSpPr>
          <p:cNvPr id="22" name="Text 19"/>
          <p:cNvSpPr txBox="1"/>
          <p:nvPr/>
        </p:nvSpPr>
        <p:spPr>
          <a:xfrm>
            <a:off x="6342736" y="5184648"/>
            <a:ext cx="2256968" cy="219456"/>
          </a:xfrm>
          <a:prstGeom prst="rect">
            <a:avLst/>
          </a:prstGeom>
          <a:noFill/>
          <a:ln/>
        </p:spPr>
        <p:txBody>
          <a:bodyPr wrap="square" lIns="0" tIns="0" rIns="0" bIns="0" rtlCol="0" anchor="t"/>
          <a:lstStyle/>
          <a:p>
            <a:pPr algn="l" indent="0" marL="0">
              <a:buNone/>
            </a:pPr>
            <a:r>
              <a:rPr lang="en-US" sz="1160" b="1" spc="90" kern="0" dirty="0">
                <a:solidFill>
                  <a:srgbClr val="FFFFFF"/>
                </a:solidFill>
                <a:latin typeface="Aptos" pitchFamily="34" charset="0"/>
                <a:ea typeface="Aptos" pitchFamily="34" charset="-122"/>
                <a:cs typeface="Aptos" pitchFamily="34" charset="-120"/>
              </a:rPr>
              <a:t>TRAZAR</a:t>
            </a:r>
            <a:endParaRPr lang="en-US" sz="1160" dirty="0"/>
          </a:p>
        </p:txBody>
      </p:sp>
      <p:sp>
        <p:nvSpPr>
          <p:cNvPr id="23" name="Text 20"/>
          <p:cNvSpPr txBox="1"/>
          <p:nvPr/>
        </p:nvSpPr>
        <p:spPr>
          <a:xfrm>
            <a:off x="6342736" y="5422392"/>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E6EEF7"/>
                </a:solidFill>
                <a:latin typeface="Aptos" pitchFamily="34" charset="0"/>
                <a:ea typeface="Aptos" pitchFamily="34" charset="-122"/>
                <a:cs typeface="Aptos" pitchFamily="34" charset="-120"/>
              </a:rPr>
              <a:t>Qué prueba responde a qué requisito</a:t>
            </a:r>
            <a:endParaRPr lang="en-US" sz="920" dirty="0"/>
          </a:p>
        </p:txBody>
      </p:sp>
      <p:sp>
        <p:nvSpPr>
          <p:cNvPr id="24" name="Shape 21"/>
          <p:cNvSpPr/>
          <p:nvPr/>
        </p:nvSpPr>
        <p:spPr>
          <a:xfrm>
            <a:off x="8910599" y="4901184"/>
            <a:ext cx="2622728" cy="786384"/>
          </a:xfrm>
          <a:prstGeom prst="rect">
            <a:avLst/>
          </a:prstGeom>
          <a:solidFill>
            <a:srgbClr val="1D3A57"/>
          </a:solidFill>
          <a:ln w="12700">
            <a:solidFill>
              <a:srgbClr val="1D3A57"/>
            </a:solidFill>
            <a:prstDash val="solid"/>
          </a:ln>
        </p:spPr>
      </p:sp>
      <p:sp>
        <p:nvSpPr>
          <p:cNvPr id="25" name="Text 22"/>
          <p:cNvSpPr txBox="1"/>
          <p:nvPr/>
        </p:nvSpPr>
        <p:spPr>
          <a:xfrm>
            <a:off x="9093479" y="5001768"/>
            <a:ext cx="457200" cy="182880"/>
          </a:xfrm>
          <a:prstGeom prst="rect">
            <a:avLst/>
          </a:prstGeom>
          <a:noFill/>
          <a:ln/>
        </p:spPr>
        <p:txBody>
          <a:bodyPr wrap="square" lIns="0" tIns="0" rIns="0" bIns="0" rtlCol="0" anchor="t"/>
          <a:lstStyle/>
          <a:p>
            <a:pPr algn="l" indent="0" marL="0">
              <a:buNone/>
            </a:pPr>
            <a:r>
              <a:rPr lang="en-US" sz="900" b="1" spc="80" kern="0" dirty="0">
                <a:solidFill>
                  <a:srgbClr val="E0BC5A"/>
                </a:solidFill>
                <a:latin typeface="Aptos" pitchFamily="34" charset="0"/>
                <a:ea typeface="Aptos" pitchFamily="34" charset="-122"/>
                <a:cs typeface="Aptos" pitchFamily="34" charset="-120"/>
              </a:rPr>
              <a:t>04</a:t>
            </a:r>
            <a:endParaRPr lang="en-US" sz="900" dirty="0"/>
          </a:p>
        </p:txBody>
      </p:sp>
      <p:sp>
        <p:nvSpPr>
          <p:cNvPr id="26" name="Text 23"/>
          <p:cNvSpPr txBox="1"/>
          <p:nvPr/>
        </p:nvSpPr>
        <p:spPr>
          <a:xfrm>
            <a:off x="9093479" y="5184648"/>
            <a:ext cx="2256968" cy="219456"/>
          </a:xfrm>
          <a:prstGeom prst="rect">
            <a:avLst/>
          </a:prstGeom>
          <a:noFill/>
          <a:ln/>
        </p:spPr>
        <p:txBody>
          <a:bodyPr wrap="square" lIns="0" tIns="0" rIns="0" bIns="0" rtlCol="0" anchor="t"/>
          <a:lstStyle/>
          <a:p>
            <a:pPr algn="l" indent="0" marL="0">
              <a:buNone/>
            </a:pPr>
            <a:r>
              <a:rPr lang="en-US" sz="1160" b="1" spc="90" kern="0" dirty="0">
                <a:solidFill>
                  <a:srgbClr val="FFFFFF"/>
                </a:solidFill>
                <a:latin typeface="Aptos" pitchFamily="34" charset="0"/>
                <a:ea typeface="Aptos" pitchFamily="34" charset="-122"/>
                <a:cs typeface="Aptos" pitchFamily="34" charset="-120"/>
              </a:rPr>
              <a:t>COMPROBAR</a:t>
            </a:r>
            <a:endParaRPr lang="en-US" sz="1160" dirty="0"/>
          </a:p>
        </p:txBody>
      </p:sp>
      <p:sp>
        <p:nvSpPr>
          <p:cNvPr id="27" name="Text 24"/>
          <p:cNvSpPr txBox="1"/>
          <p:nvPr/>
        </p:nvSpPr>
        <p:spPr>
          <a:xfrm>
            <a:off x="9093479" y="5422392"/>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E6EEF7"/>
                </a:solidFill>
                <a:latin typeface="Aptos" pitchFamily="34" charset="0"/>
                <a:ea typeface="Aptos" pitchFamily="34" charset="-122"/>
                <a:cs typeface="Aptos" pitchFamily="34" charset="-120"/>
              </a:rPr>
              <a:t>Que la traza sea verdadera</a:t>
            </a:r>
            <a:endParaRPr lang="en-US" sz="9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09</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1 · LA NORMA</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El documento donde viven las decisiones</a:t>
            </a:r>
            <a:endParaRPr lang="en-US" sz="3000" dirty="0"/>
          </a:p>
        </p:txBody>
      </p:sp>
      <p:sp>
        <p:nvSpPr>
          <p:cNvPr id="10" name="Text 7"/>
          <p:cNvSpPr txBox="1"/>
          <p:nvPr/>
        </p:nvSpPr>
        <p:spPr>
          <a:xfrm>
            <a:off x="658368" y="1664208"/>
            <a:ext cx="10424160" cy="384048"/>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Cláusula 3.19, en traducción del original en inglés: descripción detallada de los objetivos de prueba, y de los medios y el calendario para alcanzarlos.</a:t>
            </a:r>
            <a:endParaRPr lang="en-US" sz="1420" dirty="0"/>
          </a:p>
        </p:txBody>
      </p:sp>
      <p:sp>
        <p:nvSpPr>
          <p:cNvPr id="11" name="Shape 8"/>
          <p:cNvSpPr/>
          <p:nvPr/>
        </p:nvSpPr>
        <p:spPr>
          <a:xfrm>
            <a:off x="658368" y="2286000"/>
            <a:ext cx="5346040" cy="2615184"/>
          </a:xfrm>
          <a:prstGeom prst="rect">
            <a:avLst/>
          </a:prstGeom>
          <a:solidFill>
            <a:srgbClr val="FFFFFF"/>
          </a:solidFill>
          <a:ln w="12700">
            <a:solidFill>
              <a:srgbClr val="FFFFFF"/>
            </a:solidFill>
            <a:prstDash val="solid"/>
          </a:ln>
        </p:spPr>
      </p:sp>
      <p:sp>
        <p:nvSpPr>
          <p:cNvPr id="12" name="Shape 9"/>
          <p:cNvSpPr/>
          <p:nvPr/>
        </p:nvSpPr>
        <p:spPr>
          <a:xfrm>
            <a:off x="658368" y="2286000"/>
            <a:ext cx="5346040" cy="54864"/>
          </a:xfrm>
          <a:prstGeom prst="rect">
            <a:avLst/>
          </a:prstGeom>
          <a:solidFill>
            <a:srgbClr val="102A43"/>
          </a:solidFill>
          <a:ln w="12700">
            <a:solidFill>
              <a:srgbClr val="102A43"/>
            </a:solidFill>
            <a:prstDash val="solid"/>
          </a:ln>
        </p:spPr>
      </p:sp>
      <p:sp>
        <p:nvSpPr>
          <p:cNvPr id="13" name="Text 10"/>
          <p:cNvSpPr txBox="1"/>
          <p:nvPr/>
        </p:nvSpPr>
        <p:spPr>
          <a:xfrm>
            <a:off x="914400" y="2468880"/>
            <a:ext cx="4833976" cy="219456"/>
          </a:xfrm>
          <a:prstGeom prst="rect">
            <a:avLst/>
          </a:prstGeom>
          <a:noFill/>
          <a:ln/>
        </p:spPr>
        <p:txBody>
          <a:bodyPr wrap="square" lIns="0" tIns="0" rIns="0" bIns="0" rtlCol="0" anchor="t"/>
          <a:lstStyle/>
          <a:p>
            <a:pPr algn="l" indent="0" marL="0">
              <a:buNone/>
            </a:pPr>
            <a:r>
              <a:rPr lang="en-US" sz="1040" b="1" spc="110" kern="0" dirty="0">
                <a:solidFill>
                  <a:srgbClr val="102A43"/>
                </a:solidFill>
                <a:latin typeface="Aptos" pitchFamily="34" charset="0"/>
                <a:ea typeface="Aptos" pitchFamily="34" charset="-122"/>
                <a:cs typeface="Aptos" pitchFamily="34" charset="-120"/>
              </a:rPr>
              <a:t>EL REPOSITORIO REGISTRA</a:t>
            </a:r>
            <a:endParaRPr lang="en-US" sz="1040" dirty="0"/>
          </a:p>
        </p:txBody>
      </p:sp>
      <p:sp>
        <p:nvSpPr>
          <p:cNvPr id="14" name="Shape 11"/>
          <p:cNvSpPr/>
          <p:nvPr/>
        </p:nvSpPr>
        <p:spPr>
          <a:xfrm>
            <a:off x="914400" y="2907792"/>
            <a:ext cx="128016" cy="128016"/>
          </a:xfrm>
          <a:prstGeom prst="rect">
            <a:avLst/>
          </a:prstGeom>
          <a:solidFill>
            <a:srgbClr val="102A43"/>
          </a:solidFill>
          <a:ln w="12700">
            <a:solidFill>
              <a:srgbClr val="102A43"/>
            </a:solidFill>
            <a:prstDash val="solid"/>
          </a:ln>
        </p:spPr>
      </p:sp>
      <p:sp>
        <p:nvSpPr>
          <p:cNvPr id="15" name="Text 12"/>
          <p:cNvSpPr txBox="1"/>
          <p:nvPr/>
        </p:nvSpPr>
        <p:spPr>
          <a:xfrm>
            <a:off x="1170432" y="2834640"/>
            <a:ext cx="4577944" cy="274320"/>
          </a:xfrm>
          <a:prstGeom prst="rect">
            <a:avLst/>
          </a:prstGeom>
          <a:noFill/>
          <a:ln/>
        </p:spPr>
        <p:txBody>
          <a:bodyPr wrap="square" lIns="0" tIns="0" rIns="0" bIns="0" rtlCol="0" anchor="t"/>
          <a:lstStyle/>
          <a:p>
            <a:pPr algn="l" indent="0" marL="0">
              <a:buNone/>
            </a:pPr>
            <a:r>
              <a:rPr lang="en-US" sz="1240" dirty="0">
                <a:solidFill>
                  <a:srgbClr val="243B53"/>
                </a:solidFill>
                <a:latin typeface="Aptos" pitchFamily="34" charset="0"/>
                <a:ea typeface="Aptos" pitchFamily="34" charset="-122"/>
                <a:cs typeface="Aptos" pitchFamily="34" charset="-120"/>
              </a:rPr>
              <a:t>Los casos de prueba</a:t>
            </a:r>
            <a:endParaRPr lang="en-US" sz="1240" dirty="0"/>
          </a:p>
        </p:txBody>
      </p:sp>
      <p:sp>
        <p:nvSpPr>
          <p:cNvPr id="16" name="Shape 13"/>
          <p:cNvSpPr/>
          <p:nvPr/>
        </p:nvSpPr>
        <p:spPr>
          <a:xfrm>
            <a:off x="914400" y="3291840"/>
            <a:ext cx="128016" cy="128016"/>
          </a:xfrm>
          <a:prstGeom prst="rect">
            <a:avLst/>
          </a:prstGeom>
          <a:solidFill>
            <a:srgbClr val="102A43"/>
          </a:solidFill>
          <a:ln w="12700">
            <a:solidFill>
              <a:srgbClr val="102A43"/>
            </a:solidFill>
            <a:prstDash val="solid"/>
          </a:ln>
        </p:spPr>
      </p:sp>
      <p:sp>
        <p:nvSpPr>
          <p:cNvPr id="17" name="Text 14"/>
          <p:cNvSpPr txBox="1"/>
          <p:nvPr/>
        </p:nvSpPr>
        <p:spPr>
          <a:xfrm>
            <a:off x="1170432" y="3218688"/>
            <a:ext cx="4577944" cy="274320"/>
          </a:xfrm>
          <a:prstGeom prst="rect">
            <a:avLst/>
          </a:prstGeom>
          <a:noFill/>
          <a:ln/>
        </p:spPr>
        <p:txBody>
          <a:bodyPr wrap="square" lIns="0" tIns="0" rIns="0" bIns="0" rtlCol="0" anchor="t"/>
          <a:lstStyle/>
          <a:p>
            <a:pPr algn="l" indent="0" marL="0">
              <a:buNone/>
            </a:pPr>
            <a:r>
              <a:rPr lang="en-US" sz="1240" dirty="0">
                <a:solidFill>
                  <a:srgbClr val="243B53"/>
                </a:solidFill>
                <a:latin typeface="Aptos" pitchFamily="34" charset="0"/>
                <a:ea typeface="Aptos" pitchFamily="34" charset="-122"/>
                <a:cs typeface="Aptos" pitchFamily="34" charset="-120"/>
              </a:rPr>
              <a:t>El comando que los ejecuta</a:t>
            </a:r>
            <a:endParaRPr lang="en-US" sz="1240" dirty="0"/>
          </a:p>
        </p:txBody>
      </p:sp>
      <p:sp>
        <p:nvSpPr>
          <p:cNvPr id="18" name="Shape 15"/>
          <p:cNvSpPr/>
          <p:nvPr/>
        </p:nvSpPr>
        <p:spPr>
          <a:xfrm>
            <a:off x="914400" y="3675888"/>
            <a:ext cx="128016" cy="128016"/>
          </a:xfrm>
          <a:prstGeom prst="rect">
            <a:avLst/>
          </a:prstGeom>
          <a:solidFill>
            <a:srgbClr val="102A43"/>
          </a:solidFill>
          <a:ln w="12700">
            <a:solidFill>
              <a:srgbClr val="102A43"/>
            </a:solidFill>
            <a:prstDash val="solid"/>
          </a:ln>
        </p:spPr>
      </p:sp>
      <p:sp>
        <p:nvSpPr>
          <p:cNvPr id="19" name="Text 16"/>
          <p:cNvSpPr txBox="1"/>
          <p:nvPr/>
        </p:nvSpPr>
        <p:spPr>
          <a:xfrm>
            <a:off x="1170432" y="3602736"/>
            <a:ext cx="4577944" cy="274320"/>
          </a:xfrm>
          <a:prstGeom prst="rect">
            <a:avLst/>
          </a:prstGeom>
          <a:noFill/>
          <a:ln/>
        </p:spPr>
        <p:txBody>
          <a:bodyPr wrap="square" lIns="0" tIns="0" rIns="0" bIns="0" rtlCol="0" anchor="t"/>
          <a:lstStyle/>
          <a:p>
            <a:pPr algn="l" indent="0" marL="0">
              <a:buNone/>
            </a:pPr>
            <a:r>
              <a:rPr lang="en-US" sz="1240" dirty="0">
                <a:solidFill>
                  <a:srgbClr val="243B53"/>
                </a:solidFill>
                <a:latin typeface="Aptos" pitchFamily="34" charset="0"/>
                <a:ea typeface="Aptos" pitchFamily="34" charset="-122"/>
                <a:cs typeface="Aptos" pitchFamily="34" charset="-120"/>
              </a:rPr>
              <a:t>Las dependencias y su versión</a:t>
            </a:r>
            <a:endParaRPr lang="en-US" sz="1240" dirty="0"/>
          </a:p>
        </p:txBody>
      </p:sp>
      <p:sp>
        <p:nvSpPr>
          <p:cNvPr id="20" name="Shape 17"/>
          <p:cNvSpPr/>
          <p:nvPr/>
        </p:nvSpPr>
        <p:spPr>
          <a:xfrm>
            <a:off x="914400" y="4059936"/>
            <a:ext cx="128016" cy="128016"/>
          </a:xfrm>
          <a:prstGeom prst="rect">
            <a:avLst/>
          </a:prstGeom>
          <a:solidFill>
            <a:srgbClr val="102A43"/>
          </a:solidFill>
          <a:ln w="12700">
            <a:solidFill>
              <a:srgbClr val="102A43"/>
            </a:solidFill>
            <a:prstDash val="solid"/>
          </a:ln>
        </p:spPr>
      </p:sp>
      <p:sp>
        <p:nvSpPr>
          <p:cNvPr id="21" name="Text 18"/>
          <p:cNvSpPr txBox="1"/>
          <p:nvPr/>
        </p:nvSpPr>
        <p:spPr>
          <a:xfrm>
            <a:off x="1170432" y="3986784"/>
            <a:ext cx="4577944" cy="274320"/>
          </a:xfrm>
          <a:prstGeom prst="rect">
            <a:avLst/>
          </a:prstGeom>
          <a:noFill/>
          <a:ln/>
        </p:spPr>
        <p:txBody>
          <a:bodyPr wrap="square" lIns="0" tIns="0" rIns="0" bIns="0" rtlCol="0" anchor="t"/>
          <a:lstStyle/>
          <a:p>
            <a:pPr algn="l" indent="0" marL="0">
              <a:buNone/>
            </a:pPr>
            <a:r>
              <a:rPr lang="en-US" sz="1240" dirty="0">
                <a:solidFill>
                  <a:srgbClr val="243B53"/>
                </a:solidFill>
                <a:latin typeface="Aptos" pitchFamily="34" charset="0"/>
                <a:ea typeface="Aptos" pitchFamily="34" charset="-122"/>
                <a:cs typeface="Aptos" pitchFamily="34" charset="-120"/>
              </a:rPr>
              <a:t>La salida de cada ejecución</a:t>
            </a:r>
            <a:endParaRPr lang="en-US" sz="1240" dirty="0"/>
          </a:p>
        </p:txBody>
      </p:sp>
      <p:sp>
        <p:nvSpPr>
          <p:cNvPr id="22" name="Shape 19"/>
          <p:cNvSpPr/>
          <p:nvPr/>
        </p:nvSpPr>
        <p:spPr>
          <a:xfrm>
            <a:off x="914400" y="4443984"/>
            <a:ext cx="128016" cy="128016"/>
          </a:xfrm>
          <a:prstGeom prst="rect">
            <a:avLst/>
          </a:prstGeom>
          <a:solidFill>
            <a:srgbClr val="102A43"/>
          </a:solidFill>
          <a:ln w="12700">
            <a:solidFill>
              <a:srgbClr val="102A43"/>
            </a:solidFill>
            <a:prstDash val="solid"/>
          </a:ln>
        </p:spPr>
      </p:sp>
      <p:sp>
        <p:nvSpPr>
          <p:cNvPr id="23" name="Text 20"/>
          <p:cNvSpPr txBox="1"/>
          <p:nvPr/>
        </p:nvSpPr>
        <p:spPr>
          <a:xfrm>
            <a:off x="1170432" y="4370832"/>
            <a:ext cx="4577944" cy="274320"/>
          </a:xfrm>
          <a:prstGeom prst="rect">
            <a:avLst/>
          </a:prstGeom>
          <a:noFill/>
          <a:ln/>
        </p:spPr>
        <p:txBody>
          <a:bodyPr wrap="square" lIns="0" tIns="0" rIns="0" bIns="0" rtlCol="0" anchor="t"/>
          <a:lstStyle/>
          <a:p>
            <a:pPr algn="l" indent="0" marL="0">
              <a:buNone/>
            </a:pPr>
            <a:r>
              <a:rPr lang="en-US" sz="1240" dirty="0">
                <a:solidFill>
                  <a:srgbClr val="243B53"/>
                </a:solidFill>
                <a:latin typeface="Aptos" pitchFamily="34" charset="0"/>
                <a:ea typeface="Aptos" pitchFamily="34" charset="-122"/>
                <a:cs typeface="Aptos" pitchFamily="34" charset="-120"/>
              </a:rPr>
              <a:t>El historial de cambios</a:t>
            </a:r>
            <a:endParaRPr lang="en-US" sz="1240" dirty="0"/>
          </a:p>
        </p:txBody>
      </p:sp>
      <p:sp>
        <p:nvSpPr>
          <p:cNvPr id="24" name="Shape 21"/>
          <p:cNvSpPr/>
          <p:nvPr/>
        </p:nvSpPr>
        <p:spPr>
          <a:xfrm>
            <a:off x="6187288" y="2286000"/>
            <a:ext cx="5346040" cy="2615184"/>
          </a:xfrm>
          <a:prstGeom prst="rect">
            <a:avLst/>
          </a:prstGeom>
          <a:solidFill>
            <a:srgbClr val="F2E7D9"/>
          </a:solidFill>
          <a:ln w="12700">
            <a:solidFill>
              <a:srgbClr val="F2E7D9"/>
            </a:solidFill>
            <a:prstDash val="solid"/>
          </a:ln>
        </p:spPr>
      </p:sp>
      <p:sp>
        <p:nvSpPr>
          <p:cNvPr id="25" name="Shape 22"/>
          <p:cNvSpPr/>
          <p:nvPr/>
        </p:nvSpPr>
        <p:spPr>
          <a:xfrm>
            <a:off x="6187288" y="2286000"/>
            <a:ext cx="5346040" cy="54864"/>
          </a:xfrm>
          <a:prstGeom prst="rect">
            <a:avLst/>
          </a:prstGeom>
          <a:solidFill>
            <a:srgbClr val="B3181E"/>
          </a:solidFill>
          <a:ln w="12700">
            <a:solidFill>
              <a:srgbClr val="B3181E"/>
            </a:solidFill>
            <a:prstDash val="solid"/>
          </a:ln>
        </p:spPr>
      </p:sp>
      <p:sp>
        <p:nvSpPr>
          <p:cNvPr id="26" name="Text 23"/>
          <p:cNvSpPr txBox="1"/>
          <p:nvPr/>
        </p:nvSpPr>
        <p:spPr>
          <a:xfrm>
            <a:off x="6443320" y="2468880"/>
            <a:ext cx="4833976" cy="219456"/>
          </a:xfrm>
          <a:prstGeom prst="rect">
            <a:avLst/>
          </a:prstGeom>
          <a:noFill/>
          <a:ln/>
        </p:spPr>
        <p:txBody>
          <a:bodyPr wrap="square" lIns="0" tIns="0" rIns="0" bIns="0" rtlCol="0" anchor="t"/>
          <a:lstStyle/>
          <a:p>
            <a:pPr algn="l" indent="0" marL="0">
              <a:buNone/>
            </a:pPr>
            <a:r>
              <a:rPr lang="en-US" sz="1040" b="1" spc="110" kern="0" dirty="0">
                <a:solidFill>
                  <a:srgbClr val="B3181E"/>
                </a:solidFill>
                <a:latin typeface="Aptos" pitchFamily="34" charset="0"/>
                <a:ea typeface="Aptos" pitchFamily="34" charset="-122"/>
                <a:cs typeface="Aptos" pitchFamily="34" charset="-120"/>
              </a:rPr>
              <a:t>SOLO EL PLAN REGISTRA</a:t>
            </a:r>
            <a:endParaRPr lang="en-US" sz="1040" dirty="0"/>
          </a:p>
        </p:txBody>
      </p:sp>
      <p:sp>
        <p:nvSpPr>
          <p:cNvPr id="27" name="Shape 24"/>
          <p:cNvSpPr/>
          <p:nvPr/>
        </p:nvSpPr>
        <p:spPr>
          <a:xfrm>
            <a:off x="6443320" y="2907792"/>
            <a:ext cx="128016" cy="128016"/>
          </a:xfrm>
          <a:prstGeom prst="rect">
            <a:avLst/>
          </a:prstGeom>
          <a:solidFill>
            <a:srgbClr val="B3181E"/>
          </a:solidFill>
          <a:ln w="12700">
            <a:solidFill>
              <a:srgbClr val="B3181E"/>
            </a:solidFill>
            <a:prstDash val="solid"/>
          </a:ln>
        </p:spPr>
      </p:sp>
      <p:sp>
        <p:nvSpPr>
          <p:cNvPr id="28" name="Text 25"/>
          <p:cNvSpPr txBox="1"/>
          <p:nvPr/>
        </p:nvSpPr>
        <p:spPr>
          <a:xfrm>
            <a:off x="6699352" y="2834640"/>
            <a:ext cx="4577944" cy="274320"/>
          </a:xfrm>
          <a:prstGeom prst="rect">
            <a:avLst/>
          </a:prstGeom>
          <a:noFill/>
          <a:ln/>
        </p:spPr>
        <p:txBody>
          <a:bodyPr wrap="square" lIns="0" tIns="0" rIns="0" bIns="0" rtlCol="0" anchor="t"/>
          <a:lstStyle/>
          <a:p>
            <a:pPr algn="l" indent="0" marL="0">
              <a:buNone/>
            </a:pPr>
            <a:r>
              <a:rPr lang="en-US" sz="1240" dirty="0">
                <a:solidFill>
                  <a:srgbClr val="243B53"/>
                </a:solidFill>
                <a:latin typeface="Aptos" pitchFamily="34" charset="0"/>
                <a:ea typeface="Aptos" pitchFamily="34" charset="-122"/>
                <a:cs typeface="Aptos" pitchFamily="34" charset="-120"/>
              </a:rPr>
              <a:t>Qué quedó deliberadamente fuera</a:t>
            </a:r>
            <a:endParaRPr lang="en-US" sz="1240" dirty="0"/>
          </a:p>
        </p:txBody>
      </p:sp>
      <p:sp>
        <p:nvSpPr>
          <p:cNvPr id="29" name="Shape 26"/>
          <p:cNvSpPr/>
          <p:nvPr/>
        </p:nvSpPr>
        <p:spPr>
          <a:xfrm>
            <a:off x="6443320" y="3291840"/>
            <a:ext cx="128016" cy="128016"/>
          </a:xfrm>
          <a:prstGeom prst="rect">
            <a:avLst/>
          </a:prstGeom>
          <a:solidFill>
            <a:srgbClr val="B3181E"/>
          </a:solidFill>
          <a:ln w="12700">
            <a:solidFill>
              <a:srgbClr val="B3181E"/>
            </a:solidFill>
            <a:prstDash val="solid"/>
          </a:ln>
        </p:spPr>
      </p:sp>
      <p:sp>
        <p:nvSpPr>
          <p:cNvPr id="30" name="Text 27"/>
          <p:cNvSpPr txBox="1"/>
          <p:nvPr/>
        </p:nvSpPr>
        <p:spPr>
          <a:xfrm>
            <a:off x="6699352" y="3218688"/>
            <a:ext cx="4577944" cy="274320"/>
          </a:xfrm>
          <a:prstGeom prst="rect">
            <a:avLst/>
          </a:prstGeom>
          <a:noFill/>
          <a:ln/>
        </p:spPr>
        <p:txBody>
          <a:bodyPr wrap="square" lIns="0" tIns="0" rIns="0" bIns="0" rtlCol="0" anchor="t"/>
          <a:lstStyle/>
          <a:p>
            <a:pPr algn="l" indent="0" marL="0">
              <a:buNone/>
            </a:pPr>
            <a:r>
              <a:rPr lang="en-US" sz="1240" dirty="0">
                <a:solidFill>
                  <a:srgbClr val="243B53"/>
                </a:solidFill>
                <a:latin typeface="Aptos" pitchFamily="34" charset="0"/>
                <a:ea typeface="Aptos" pitchFamily="34" charset="-122"/>
                <a:cs typeface="Aptos" pitchFamily="34" charset="-120"/>
              </a:rPr>
              <a:t>Qué riesgo se acepta, y por qué</a:t>
            </a:r>
            <a:endParaRPr lang="en-US" sz="1240" dirty="0"/>
          </a:p>
        </p:txBody>
      </p:sp>
      <p:sp>
        <p:nvSpPr>
          <p:cNvPr id="31" name="Shape 28"/>
          <p:cNvSpPr/>
          <p:nvPr/>
        </p:nvSpPr>
        <p:spPr>
          <a:xfrm>
            <a:off x="6443320" y="3675888"/>
            <a:ext cx="128016" cy="128016"/>
          </a:xfrm>
          <a:prstGeom prst="rect">
            <a:avLst/>
          </a:prstGeom>
          <a:solidFill>
            <a:srgbClr val="B3181E"/>
          </a:solidFill>
          <a:ln w="12700">
            <a:solidFill>
              <a:srgbClr val="B3181E"/>
            </a:solidFill>
            <a:prstDash val="solid"/>
          </a:ln>
        </p:spPr>
      </p:sp>
      <p:sp>
        <p:nvSpPr>
          <p:cNvPr id="32" name="Text 29"/>
          <p:cNvSpPr txBox="1"/>
          <p:nvPr/>
        </p:nvSpPr>
        <p:spPr>
          <a:xfrm>
            <a:off x="6699352" y="3602736"/>
            <a:ext cx="4577944" cy="274320"/>
          </a:xfrm>
          <a:prstGeom prst="rect">
            <a:avLst/>
          </a:prstGeom>
          <a:noFill/>
          <a:ln/>
        </p:spPr>
        <p:txBody>
          <a:bodyPr wrap="square" lIns="0" tIns="0" rIns="0" bIns="0" rtlCol="0" anchor="t"/>
          <a:lstStyle/>
          <a:p>
            <a:pPr algn="l" indent="0" marL="0">
              <a:buNone/>
            </a:pPr>
            <a:r>
              <a:rPr lang="en-US" sz="1240" dirty="0">
                <a:solidFill>
                  <a:srgbClr val="243B53"/>
                </a:solidFill>
                <a:latin typeface="Aptos" pitchFamily="34" charset="0"/>
                <a:ea typeface="Aptos" pitchFamily="34" charset="-122"/>
                <a:cs typeface="Aptos" pitchFamily="34" charset="-120"/>
              </a:rPr>
              <a:t>Sobre qué supuestos se trabaja</a:t>
            </a:r>
            <a:endParaRPr lang="en-US" sz="1240" dirty="0"/>
          </a:p>
        </p:txBody>
      </p:sp>
      <p:sp>
        <p:nvSpPr>
          <p:cNvPr id="33" name="Shape 30"/>
          <p:cNvSpPr/>
          <p:nvPr/>
        </p:nvSpPr>
        <p:spPr>
          <a:xfrm>
            <a:off x="6443320" y="4059936"/>
            <a:ext cx="128016" cy="128016"/>
          </a:xfrm>
          <a:prstGeom prst="rect">
            <a:avLst/>
          </a:prstGeom>
          <a:solidFill>
            <a:srgbClr val="B3181E"/>
          </a:solidFill>
          <a:ln w="12700">
            <a:solidFill>
              <a:srgbClr val="B3181E"/>
            </a:solidFill>
            <a:prstDash val="solid"/>
          </a:ln>
        </p:spPr>
      </p:sp>
      <p:sp>
        <p:nvSpPr>
          <p:cNvPr id="34" name="Text 31"/>
          <p:cNvSpPr txBox="1"/>
          <p:nvPr/>
        </p:nvSpPr>
        <p:spPr>
          <a:xfrm>
            <a:off x="6699352" y="3986784"/>
            <a:ext cx="4577944" cy="274320"/>
          </a:xfrm>
          <a:prstGeom prst="rect">
            <a:avLst/>
          </a:prstGeom>
          <a:noFill/>
          <a:ln/>
        </p:spPr>
        <p:txBody>
          <a:bodyPr wrap="square" lIns="0" tIns="0" rIns="0" bIns="0" rtlCol="0" anchor="t"/>
          <a:lstStyle/>
          <a:p>
            <a:pPr algn="l" indent="0" marL="0">
              <a:buNone/>
            </a:pPr>
            <a:r>
              <a:rPr lang="en-US" sz="1240" dirty="0">
                <a:solidFill>
                  <a:srgbClr val="243B53"/>
                </a:solidFill>
                <a:latin typeface="Aptos" pitchFamily="34" charset="0"/>
                <a:ea typeface="Aptos" pitchFamily="34" charset="-122"/>
                <a:cs typeface="Aptos" pitchFamily="34" charset="-120"/>
              </a:rPr>
              <a:t>Cuándo probar es suficiente</a:t>
            </a:r>
            <a:endParaRPr lang="en-US" sz="1240" dirty="0"/>
          </a:p>
        </p:txBody>
      </p:sp>
      <p:sp>
        <p:nvSpPr>
          <p:cNvPr id="35" name="Shape 32"/>
          <p:cNvSpPr/>
          <p:nvPr/>
        </p:nvSpPr>
        <p:spPr>
          <a:xfrm>
            <a:off x="6443320" y="4443984"/>
            <a:ext cx="128016" cy="128016"/>
          </a:xfrm>
          <a:prstGeom prst="rect">
            <a:avLst/>
          </a:prstGeom>
          <a:solidFill>
            <a:srgbClr val="B3181E"/>
          </a:solidFill>
          <a:ln w="12700">
            <a:solidFill>
              <a:srgbClr val="B3181E"/>
            </a:solidFill>
            <a:prstDash val="solid"/>
          </a:ln>
        </p:spPr>
      </p:sp>
      <p:sp>
        <p:nvSpPr>
          <p:cNvPr id="36" name="Text 33"/>
          <p:cNvSpPr txBox="1"/>
          <p:nvPr/>
        </p:nvSpPr>
        <p:spPr>
          <a:xfrm>
            <a:off x="6699352" y="4370832"/>
            <a:ext cx="4577944" cy="274320"/>
          </a:xfrm>
          <a:prstGeom prst="rect">
            <a:avLst/>
          </a:prstGeom>
          <a:noFill/>
          <a:ln/>
        </p:spPr>
        <p:txBody>
          <a:bodyPr wrap="square" lIns="0" tIns="0" rIns="0" bIns="0" rtlCol="0" anchor="t"/>
          <a:lstStyle/>
          <a:p>
            <a:pPr algn="l" indent="0" marL="0">
              <a:buNone/>
            </a:pPr>
            <a:r>
              <a:rPr lang="en-US" sz="1240" dirty="0">
                <a:solidFill>
                  <a:srgbClr val="243B53"/>
                </a:solidFill>
                <a:latin typeface="Aptos" pitchFamily="34" charset="0"/>
                <a:ea typeface="Aptos" pitchFamily="34" charset="-122"/>
                <a:cs typeface="Aptos" pitchFamily="34" charset="-120"/>
              </a:rPr>
              <a:t>Quién responde por cada cosa</a:t>
            </a:r>
            <a:endParaRPr lang="en-US" sz="1240" dirty="0"/>
          </a:p>
        </p:txBody>
      </p:sp>
      <p:sp>
        <p:nvSpPr>
          <p:cNvPr id="37" name="Shape 34"/>
          <p:cNvSpPr/>
          <p:nvPr/>
        </p:nvSpPr>
        <p:spPr>
          <a:xfrm>
            <a:off x="658368" y="5029200"/>
            <a:ext cx="5346040" cy="475488"/>
          </a:xfrm>
          <a:prstGeom prst="rect">
            <a:avLst/>
          </a:prstGeom>
          <a:solidFill>
            <a:srgbClr val="EDE6DA"/>
          </a:solidFill>
          <a:ln w="12700">
            <a:solidFill>
              <a:srgbClr val="EDE6DA"/>
            </a:solidFill>
            <a:prstDash val="solid"/>
          </a:ln>
        </p:spPr>
      </p:sp>
      <p:sp>
        <p:nvSpPr>
          <p:cNvPr id="38" name="Shape 35"/>
          <p:cNvSpPr/>
          <p:nvPr/>
        </p:nvSpPr>
        <p:spPr>
          <a:xfrm>
            <a:off x="658368" y="5029200"/>
            <a:ext cx="54864" cy="475488"/>
          </a:xfrm>
          <a:prstGeom prst="rect">
            <a:avLst/>
          </a:prstGeom>
          <a:solidFill>
            <a:srgbClr val="102A43"/>
          </a:solidFill>
          <a:ln w="12700">
            <a:solidFill>
              <a:srgbClr val="102A43"/>
            </a:solidFill>
            <a:prstDash val="solid"/>
          </a:ln>
        </p:spPr>
      </p:sp>
      <p:sp>
        <p:nvSpPr>
          <p:cNvPr id="39" name="Text 36"/>
          <p:cNvSpPr txBox="1"/>
          <p:nvPr/>
        </p:nvSpPr>
        <p:spPr>
          <a:xfrm>
            <a:off x="877824" y="5120640"/>
            <a:ext cx="1737360" cy="182880"/>
          </a:xfrm>
          <a:prstGeom prst="rect">
            <a:avLst/>
          </a:prstGeom>
          <a:noFill/>
          <a:ln/>
        </p:spPr>
        <p:txBody>
          <a:bodyPr wrap="square" lIns="0" tIns="0" rIns="0" bIns="0" rtlCol="0" anchor="t"/>
          <a:lstStyle/>
          <a:p>
            <a:pPr algn="l" indent="0" marL="0">
              <a:buNone/>
            </a:pPr>
            <a:r>
              <a:rPr lang="en-US" sz="900" b="1" spc="90" kern="0" dirty="0">
                <a:solidFill>
                  <a:srgbClr val="102A43"/>
                </a:solidFill>
                <a:latin typeface="Aptos" pitchFamily="34" charset="0"/>
                <a:ea typeface="Aptos" pitchFamily="34" charset="-122"/>
                <a:cs typeface="Aptos" pitchFamily="34" charset="-120"/>
              </a:rPr>
              <a:t>ELEMENTO DE PRUEBA</a:t>
            </a:r>
            <a:endParaRPr lang="en-US" sz="900" dirty="0"/>
          </a:p>
        </p:txBody>
      </p:sp>
      <p:sp>
        <p:nvSpPr>
          <p:cNvPr id="40" name="Text 37"/>
          <p:cNvSpPr txBox="1"/>
          <p:nvPr/>
        </p:nvSpPr>
        <p:spPr>
          <a:xfrm>
            <a:off x="2688336" y="5111496"/>
            <a:ext cx="3096616" cy="292608"/>
          </a:xfrm>
          <a:prstGeom prst="rect">
            <a:avLst/>
          </a:prstGeom>
          <a:noFill/>
          <a:ln/>
        </p:spPr>
        <p:txBody>
          <a:bodyPr wrap="square" lIns="0" tIns="0" rIns="0" bIns="0" rtlCol="0" anchor="t"/>
          <a:lstStyle/>
          <a:p>
            <a:pPr algn="l" indent="0" marL="0">
              <a:buNone/>
            </a:pPr>
            <a:r>
              <a:rPr lang="en-US" sz="1040" dirty="0">
                <a:solidFill>
                  <a:srgbClr val="243B53"/>
                </a:solidFill>
                <a:latin typeface="Aptos" pitchFamily="34" charset="0"/>
                <a:ea typeface="Aptos" pitchFamily="34" charset="-122"/>
                <a:cs typeface="Aptos" pitchFamily="34" charset="-120"/>
              </a:rPr>
              <a:t>La cosa concreta que se prueba: una función, una ruta, un módulo.</a:t>
            </a:r>
            <a:endParaRPr lang="en-US" sz="1040" dirty="0"/>
          </a:p>
        </p:txBody>
      </p:sp>
      <p:sp>
        <p:nvSpPr>
          <p:cNvPr id="41" name="Shape 38"/>
          <p:cNvSpPr/>
          <p:nvPr/>
        </p:nvSpPr>
        <p:spPr>
          <a:xfrm>
            <a:off x="6187288" y="5029200"/>
            <a:ext cx="5346040" cy="475488"/>
          </a:xfrm>
          <a:prstGeom prst="rect">
            <a:avLst/>
          </a:prstGeom>
          <a:solidFill>
            <a:srgbClr val="EDE6DA"/>
          </a:solidFill>
          <a:ln w="12700">
            <a:solidFill>
              <a:srgbClr val="EDE6DA"/>
            </a:solidFill>
            <a:prstDash val="solid"/>
          </a:ln>
        </p:spPr>
      </p:sp>
      <p:sp>
        <p:nvSpPr>
          <p:cNvPr id="42" name="Shape 39"/>
          <p:cNvSpPr/>
          <p:nvPr/>
        </p:nvSpPr>
        <p:spPr>
          <a:xfrm>
            <a:off x="6187288" y="5029200"/>
            <a:ext cx="54864" cy="475488"/>
          </a:xfrm>
          <a:prstGeom prst="rect">
            <a:avLst/>
          </a:prstGeom>
          <a:solidFill>
            <a:srgbClr val="8A6A12"/>
          </a:solidFill>
          <a:ln w="12700">
            <a:solidFill>
              <a:srgbClr val="8A6A12"/>
            </a:solidFill>
            <a:prstDash val="solid"/>
          </a:ln>
        </p:spPr>
      </p:sp>
      <p:sp>
        <p:nvSpPr>
          <p:cNvPr id="43" name="Text 40"/>
          <p:cNvSpPr txBox="1"/>
          <p:nvPr/>
        </p:nvSpPr>
        <p:spPr>
          <a:xfrm>
            <a:off x="6406744" y="5120640"/>
            <a:ext cx="1737360" cy="182880"/>
          </a:xfrm>
          <a:prstGeom prst="rect">
            <a:avLst/>
          </a:prstGeom>
          <a:noFill/>
          <a:ln/>
        </p:spPr>
        <p:txBody>
          <a:bodyPr wrap="square" lIns="0" tIns="0" rIns="0" bIns="0" rtlCol="0" anchor="t"/>
          <a:lstStyle/>
          <a:p>
            <a:pPr algn="l" indent="0" marL="0">
              <a:buNone/>
            </a:pPr>
            <a:r>
              <a:rPr lang="en-US" sz="900" b="1" spc="90" kern="0" dirty="0">
                <a:solidFill>
                  <a:srgbClr val="8A6A12"/>
                </a:solidFill>
                <a:latin typeface="Aptos" pitchFamily="34" charset="0"/>
                <a:ea typeface="Aptos" pitchFamily="34" charset="-122"/>
                <a:cs typeface="Aptos" pitchFamily="34" charset="-120"/>
              </a:rPr>
              <a:t>OBJETIVO DE PRUEBA</a:t>
            </a:r>
            <a:endParaRPr lang="en-US" sz="900" dirty="0"/>
          </a:p>
        </p:txBody>
      </p:sp>
      <p:sp>
        <p:nvSpPr>
          <p:cNvPr id="44" name="Text 41"/>
          <p:cNvSpPr txBox="1"/>
          <p:nvPr/>
        </p:nvSpPr>
        <p:spPr>
          <a:xfrm>
            <a:off x="8217256" y="5111496"/>
            <a:ext cx="3096616" cy="292608"/>
          </a:xfrm>
          <a:prstGeom prst="rect">
            <a:avLst/>
          </a:prstGeom>
          <a:noFill/>
          <a:ln/>
        </p:spPr>
        <p:txBody>
          <a:bodyPr wrap="square" lIns="0" tIns="0" rIns="0" bIns="0" rtlCol="0" anchor="t"/>
          <a:lstStyle/>
          <a:p>
            <a:pPr algn="l" indent="0" marL="0">
              <a:buNone/>
            </a:pPr>
            <a:r>
              <a:rPr lang="en-US" sz="1040" dirty="0">
                <a:solidFill>
                  <a:srgbClr val="243B53"/>
                </a:solidFill>
                <a:latin typeface="Aptos" pitchFamily="34" charset="0"/>
                <a:ea typeface="Aptos" pitchFamily="34" charset="-122"/>
                <a:cs typeface="Aptos" pitchFamily="34" charset="-120"/>
              </a:rPr>
              <a:t>Qué se quiere averiguar sobre ella. Nunca «que funcione».</a:t>
            </a:r>
            <a:endParaRPr lang="en-US" sz="1040" dirty="0"/>
          </a:p>
        </p:txBody>
      </p:sp>
      <p:sp>
        <p:nvSpPr>
          <p:cNvPr id="45" name="Shape 42"/>
          <p:cNvSpPr/>
          <p:nvPr/>
        </p:nvSpPr>
        <p:spPr>
          <a:xfrm>
            <a:off x="658368" y="5650992"/>
            <a:ext cx="10874959" cy="548640"/>
          </a:xfrm>
          <a:prstGeom prst="rect">
            <a:avLst/>
          </a:prstGeom>
          <a:solidFill>
            <a:srgbClr val="102A43"/>
          </a:solidFill>
          <a:ln w="12700">
            <a:solidFill>
              <a:srgbClr val="102A43"/>
            </a:solidFill>
            <a:prstDash val="solid"/>
          </a:ln>
        </p:spPr>
      </p:sp>
      <p:sp>
        <p:nvSpPr>
          <p:cNvPr id="46" name="Text 43"/>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Un repositorio dice qué se probó. No puede decir qué se decidió probar.</a:t>
            </a:r>
            <a:endParaRPr lang="en-US" sz="13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10</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1 · LA NORMA</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Las diez partes que la norma pide</a:t>
            </a:r>
            <a:endParaRPr lang="en-US" sz="3000" dirty="0"/>
          </a:p>
        </p:txBody>
      </p:sp>
      <p:sp>
        <p:nvSpPr>
          <p:cNvPr id="10" name="Text 7"/>
          <p:cNvSpPr txBox="1"/>
          <p:nvPr/>
        </p:nvSpPr>
        <p:spPr>
          <a:xfrm>
            <a:off x="658368" y="1664208"/>
            <a:ext cx="10424160" cy="347472"/>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Cláusula 7.2, traducida. El número es el identificador: con él se encuentra cada parte en la norma.</a:t>
            </a:r>
            <a:endParaRPr lang="en-US" sz="1420" dirty="0"/>
          </a:p>
        </p:txBody>
      </p:sp>
      <p:sp>
        <p:nvSpPr>
          <p:cNvPr id="11" name="Shape 8"/>
          <p:cNvSpPr/>
          <p:nvPr/>
        </p:nvSpPr>
        <p:spPr>
          <a:xfrm>
            <a:off x="658368" y="2249424"/>
            <a:ext cx="5355184" cy="566928"/>
          </a:xfrm>
          <a:prstGeom prst="rect">
            <a:avLst/>
          </a:prstGeom>
          <a:solidFill>
            <a:srgbClr val="FFFFFF"/>
          </a:solidFill>
          <a:ln w="12700">
            <a:solidFill>
              <a:srgbClr val="FFFFFF"/>
            </a:solidFill>
            <a:prstDash val="solid"/>
          </a:ln>
        </p:spPr>
      </p:sp>
      <p:sp>
        <p:nvSpPr>
          <p:cNvPr id="12" name="Shape 9"/>
          <p:cNvSpPr/>
          <p:nvPr/>
        </p:nvSpPr>
        <p:spPr>
          <a:xfrm>
            <a:off x="658368" y="2249424"/>
            <a:ext cx="54864" cy="566928"/>
          </a:xfrm>
          <a:prstGeom prst="rect">
            <a:avLst/>
          </a:prstGeom>
          <a:solidFill>
            <a:srgbClr val="102A43"/>
          </a:solidFill>
          <a:ln w="12700">
            <a:solidFill>
              <a:srgbClr val="102A43"/>
            </a:solidFill>
            <a:prstDash val="solid"/>
          </a:ln>
        </p:spPr>
      </p:sp>
      <p:sp>
        <p:nvSpPr>
          <p:cNvPr id="13" name="Text 10"/>
          <p:cNvSpPr txBox="1"/>
          <p:nvPr/>
        </p:nvSpPr>
        <p:spPr>
          <a:xfrm>
            <a:off x="877824" y="2340864"/>
            <a:ext cx="4916272" cy="182880"/>
          </a:xfrm>
          <a:prstGeom prst="rect">
            <a:avLst/>
          </a:prstGeom>
          <a:noFill/>
          <a:ln/>
        </p:spPr>
        <p:txBody>
          <a:bodyPr wrap="square" lIns="0" tIns="0" rIns="0" bIns="0" rtlCol="0" anchor="t"/>
          <a:lstStyle/>
          <a:p>
            <a:pPr algn="l" indent="0" marL="0">
              <a:buNone/>
            </a:pPr>
            <a:r>
              <a:rPr lang="en-US" sz="1060" b="1" dirty="0">
                <a:solidFill>
                  <a:srgbClr val="243B53"/>
                </a:solidFill>
                <a:latin typeface="Aptos" pitchFamily="34" charset="0"/>
                <a:ea typeface="Aptos" pitchFamily="34" charset="-122"/>
                <a:cs typeface="Aptos" pitchFamily="34" charset="-120"/>
              </a:rPr>
              <a:t>7.2.1 · Panorama general</a:t>
            </a:r>
            <a:endParaRPr lang="en-US" sz="1060" dirty="0"/>
          </a:p>
        </p:txBody>
      </p:sp>
      <p:sp>
        <p:nvSpPr>
          <p:cNvPr id="14" name="Text 11"/>
          <p:cNvSpPr txBox="1"/>
          <p:nvPr/>
        </p:nvSpPr>
        <p:spPr>
          <a:xfrm>
            <a:off x="877824" y="2542032"/>
            <a:ext cx="4916272" cy="219456"/>
          </a:xfrm>
          <a:prstGeom prst="rect">
            <a:avLst/>
          </a:prstGeom>
          <a:noFill/>
          <a:ln/>
        </p:spPr>
        <p:txBody>
          <a:bodyPr wrap="square" lIns="0" tIns="0" rIns="0" bIns="0" rtlCol="0" anchor="t"/>
          <a:lstStyle/>
          <a:p>
            <a:pPr algn="l" indent="0" marL="0">
              <a:lnSpc>
                <a:spcPct val="105000"/>
              </a:lnSpc>
              <a:buNone/>
            </a:pPr>
            <a:r>
              <a:rPr lang="en-US" sz="960" dirty="0">
                <a:solidFill>
                  <a:srgbClr val="52606D"/>
                </a:solidFill>
                <a:latin typeface="Aptos" pitchFamily="34" charset="0"/>
                <a:ea typeface="Aptos" pitchFamily="34" charset="-122"/>
                <a:cs typeface="Aptos" pitchFamily="34" charset="-120"/>
              </a:rPr>
              <a:t>Identificación del documento, su alcance y a qué se aplica.</a:t>
            </a:r>
            <a:endParaRPr lang="en-US" sz="960" dirty="0"/>
          </a:p>
        </p:txBody>
      </p:sp>
      <p:sp>
        <p:nvSpPr>
          <p:cNvPr id="15" name="Shape 12"/>
          <p:cNvSpPr/>
          <p:nvPr/>
        </p:nvSpPr>
        <p:spPr>
          <a:xfrm>
            <a:off x="658368" y="2871216"/>
            <a:ext cx="5355184" cy="566928"/>
          </a:xfrm>
          <a:prstGeom prst="rect">
            <a:avLst/>
          </a:prstGeom>
          <a:solidFill>
            <a:srgbClr val="FFFFFF"/>
          </a:solidFill>
          <a:ln w="12700">
            <a:solidFill>
              <a:srgbClr val="FFFFFF"/>
            </a:solidFill>
            <a:prstDash val="solid"/>
          </a:ln>
        </p:spPr>
      </p:sp>
      <p:sp>
        <p:nvSpPr>
          <p:cNvPr id="16" name="Shape 13"/>
          <p:cNvSpPr/>
          <p:nvPr/>
        </p:nvSpPr>
        <p:spPr>
          <a:xfrm>
            <a:off x="658368" y="2871216"/>
            <a:ext cx="54864" cy="566928"/>
          </a:xfrm>
          <a:prstGeom prst="rect">
            <a:avLst/>
          </a:prstGeom>
          <a:solidFill>
            <a:srgbClr val="102A43"/>
          </a:solidFill>
          <a:ln w="12700">
            <a:solidFill>
              <a:srgbClr val="102A43"/>
            </a:solidFill>
            <a:prstDash val="solid"/>
          </a:ln>
        </p:spPr>
      </p:sp>
      <p:sp>
        <p:nvSpPr>
          <p:cNvPr id="17" name="Text 14"/>
          <p:cNvSpPr txBox="1"/>
          <p:nvPr/>
        </p:nvSpPr>
        <p:spPr>
          <a:xfrm>
            <a:off x="877824" y="2962656"/>
            <a:ext cx="4916272" cy="182880"/>
          </a:xfrm>
          <a:prstGeom prst="rect">
            <a:avLst/>
          </a:prstGeom>
          <a:noFill/>
          <a:ln/>
        </p:spPr>
        <p:txBody>
          <a:bodyPr wrap="square" lIns="0" tIns="0" rIns="0" bIns="0" rtlCol="0" anchor="t"/>
          <a:lstStyle/>
          <a:p>
            <a:pPr algn="l" indent="0" marL="0">
              <a:buNone/>
            </a:pPr>
            <a:r>
              <a:rPr lang="en-US" sz="1060" b="1" dirty="0">
                <a:solidFill>
                  <a:srgbClr val="243B53"/>
                </a:solidFill>
                <a:latin typeface="Aptos" pitchFamily="34" charset="0"/>
                <a:ea typeface="Aptos" pitchFamily="34" charset="-122"/>
                <a:cs typeface="Aptos" pitchFamily="34" charset="-120"/>
              </a:rPr>
              <a:t>7.2.2 · Contexto de las pruebas</a:t>
            </a:r>
            <a:endParaRPr lang="en-US" sz="1060" dirty="0"/>
          </a:p>
        </p:txBody>
      </p:sp>
      <p:sp>
        <p:nvSpPr>
          <p:cNvPr id="18" name="Text 15"/>
          <p:cNvSpPr txBox="1"/>
          <p:nvPr/>
        </p:nvSpPr>
        <p:spPr>
          <a:xfrm>
            <a:off x="877824" y="3163824"/>
            <a:ext cx="4916272" cy="219456"/>
          </a:xfrm>
          <a:prstGeom prst="rect">
            <a:avLst/>
          </a:prstGeom>
          <a:noFill/>
          <a:ln/>
        </p:spPr>
        <p:txBody>
          <a:bodyPr wrap="square" lIns="0" tIns="0" rIns="0" bIns="0" rtlCol="0" anchor="t"/>
          <a:lstStyle/>
          <a:p>
            <a:pPr algn="l" indent="0" marL="0">
              <a:lnSpc>
                <a:spcPct val="105000"/>
              </a:lnSpc>
              <a:buNone/>
            </a:pPr>
            <a:r>
              <a:rPr lang="en-US" sz="960" dirty="0">
                <a:solidFill>
                  <a:srgbClr val="52606D"/>
                </a:solidFill>
                <a:latin typeface="Aptos" pitchFamily="34" charset="0"/>
                <a:ea typeface="Aptos" pitchFamily="34" charset="-122"/>
                <a:cs typeface="Aptos" pitchFamily="34" charset="-120"/>
              </a:rPr>
              <a:t>Qué se va a probar, en qué proyecto se inserta y qué queda fuera.</a:t>
            </a:r>
            <a:endParaRPr lang="en-US" sz="960" dirty="0"/>
          </a:p>
        </p:txBody>
      </p:sp>
      <p:sp>
        <p:nvSpPr>
          <p:cNvPr id="19" name="Shape 16"/>
          <p:cNvSpPr/>
          <p:nvPr/>
        </p:nvSpPr>
        <p:spPr>
          <a:xfrm>
            <a:off x="658368" y="3493008"/>
            <a:ext cx="5355184" cy="566928"/>
          </a:xfrm>
          <a:prstGeom prst="rect">
            <a:avLst/>
          </a:prstGeom>
          <a:solidFill>
            <a:srgbClr val="FFFFFF"/>
          </a:solidFill>
          <a:ln w="12700">
            <a:solidFill>
              <a:srgbClr val="FFFFFF"/>
            </a:solidFill>
            <a:prstDash val="solid"/>
          </a:ln>
        </p:spPr>
      </p:sp>
      <p:sp>
        <p:nvSpPr>
          <p:cNvPr id="20" name="Shape 17"/>
          <p:cNvSpPr/>
          <p:nvPr/>
        </p:nvSpPr>
        <p:spPr>
          <a:xfrm>
            <a:off x="658368" y="3493008"/>
            <a:ext cx="54864" cy="566928"/>
          </a:xfrm>
          <a:prstGeom prst="rect">
            <a:avLst/>
          </a:prstGeom>
          <a:solidFill>
            <a:srgbClr val="102A43"/>
          </a:solidFill>
          <a:ln w="12700">
            <a:solidFill>
              <a:srgbClr val="102A43"/>
            </a:solidFill>
            <a:prstDash val="solid"/>
          </a:ln>
        </p:spPr>
      </p:sp>
      <p:sp>
        <p:nvSpPr>
          <p:cNvPr id="21" name="Text 18"/>
          <p:cNvSpPr txBox="1"/>
          <p:nvPr/>
        </p:nvSpPr>
        <p:spPr>
          <a:xfrm>
            <a:off x="877824" y="3584448"/>
            <a:ext cx="4916272" cy="182880"/>
          </a:xfrm>
          <a:prstGeom prst="rect">
            <a:avLst/>
          </a:prstGeom>
          <a:noFill/>
          <a:ln/>
        </p:spPr>
        <p:txBody>
          <a:bodyPr wrap="square" lIns="0" tIns="0" rIns="0" bIns="0" rtlCol="0" anchor="t"/>
          <a:lstStyle/>
          <a:p>
            <a:pPr algn="l" indent="0" marL="0">
              <a:buNone/>
            </a:pPr>
            <a:r>
              <a:rPr lang="en-US" sz="1060" b="1" dirty="0">
                <a:solidFill>
                  <a:srgbClr val="243B53"/>
                </a:solidFill>
                <a:latin typeface="Aptos" pitchFamily="34" charset="0"/>
                <a:ea typeface="Aptos" pitchFamily="34" charset="-122"/>
                <a:cs typeface="Aptos" pitchFamily="34" charset="-120"/>
              </a:rPr>
              <a:t>7.2.3 · Supuestos y restricciones</a:t>
            </a:r>
            <a:endParaRPr lang="en-US" sz="1060" dirty="0"/>
          </a:p>
        </p:txBody>
      </p:sp>
      <p:sp>
        <p:nvSpPr>
          <p:cNvPr id="22" name="Text 19"/>
          <p:cNvSpPr txBox="1"/>
          <p:nvPr/>
        </p:nvSpPr>
        <p:spPr>
          <a:xfrm>
            <a:off x="877824" y="3785616"/>
            <a:ext cx="4916272" cy="219456"/>
          </a:xfrm>
          <a:prstGeom prst="rect">
            <a:avLst/>
          </a:prstGeom>
          <a:noFill/>
          <a:ln/>
        </p:spPr>
        <p:txBody>
          <a:bodyPr wrap="square" lIns="0" tIns="0" rIns="0" bIns="0" rtlCol="0" anchor="t"/>
          <a:lstStyle/>
          <a:p>
            <a:pPr algn="l" indent="0" marL="0">
              <a:lnSpc>
                <a:spcPct val="105000"/>
              </a:lnSpc>
              <a:buNone/>
            </a:pPr>
            <a:r>
              <a:rPr lang="en-US" sz="960" dirty="0">
                <a:solidFill>
                  <a:srgbClr val="52606D"/>
                </a:solidFill>
                <a:latin typeface="Aptos" pitchFamily="34" charset="0"/>
                <a:ea typeface="Aptos" pitchFamily="34" charset="-122"/>
                <a:cs typeface="Aptos" pitchFamily="34" charset="-120"/>
              </a:rPr>
              <a:t>Lo que se da por cierto sin haberlo verificado, y lo que limita el trabajo.</a:t>
            </a:r>
            <a:endParaRPr lang="en-US" sz="960" dirty="0"/>
          </a:p>
        </p:txBody>
      </p:sp>
      <p:sp>
        <p:nvSpPr>
          <p:cNvPr id="23" name="Shape 20"/>
          <p:cNvSpPr/>
          <p:nvPr/>
        </p:nvSpPr>
        <p:spPr>
          <a:xfrm>
            <a:off x="658368" y="4114800"/>
            <a:ext cx="5355184" cy="566928"/>
          </a:xfrm>
          <a:prstGeom prst="rect">
            <a:avLst/>
          </a:prstGeom>
          <a:solidFill>
            <a:srgbClr val="FFFFFF"/>
          </a:solidFill>
          <a:ln w="12700">
            <a:solidFill>
              <a:srgbClr val="FFFFFF"/>
            </a:solidFill>
            <a:prstDash val="solid"/>
          </a:ln>
        </p:spPr>
      </p:sp>
      <p:sp>
        <p:nvSpPr>
          <p:cNvPr id="24" name="Shape 21"/>
          <p:cNvSpPr/>
          <p:nvPr/>
        </p:nvSpPr>
        <p:spPr>
          <a:xfrm>
            <a:off x="658368" y="4114800"/>
            <a:ext cx="54864" cy="566928"/>
          </a:xfrm>
          <a:prstGeom prst="rect">
            <a:avLst/>
          </a:prstGeom>
          <a:solidFill>
            <a:srgbClr val="102A43"/>
          </a:solidFill>
          <a:ln w="12700">
            <a:solidFill>
              <a:srgbClr val="102A43"/>
            </a:solidFill>
            <a:prstDash val="solid"/>
          </a:ln>
        </p:spPr>
      </p:sp>
      <p:sp>
        <p:nvSpPr>
          <p:cNvPr id="25" name="Text 22"/>
          <p:cNvSpPr txBox="1"/>
          <p:nvPr/>
        </p:nvSpPr>
        <p:spPr>
          <a:xfrm>
            <a:off x="877824" y="4206240"/>
            <a:ext cx="4916272" cy="182880"/>
          </a:xfrm>
          <a:prstGeom prst="rect">
            <a:avLst/>
          </a:prstGeom>
          <a:noFill/>
          <a:ln/>
        </p:spPr>
        <p:txBody>
          <a:bodyPr wrap="square" lIns="0" tIns="0" rIns="0" bIns="0" rtlCol="0" anchor="t"/>
          <a:lstStyle/>
          <a:p>
            <a:pPr algn="l" indent="0" marL="0">
              <a:buNone/>
            </a:pPr>
            <a:r>
              <a:rPr lang="en-US" sz="1060" b="1" dirty="0">
                <a:solidFill>
                  <a:srgbClr val="243B53"/>
                </a:solidFill>
                <a:latin typeface="Aptos" pitchFamily="34" charset="0"/>
                <a:ea typeface="Aptos" pitchFamily="34" charset="-122"/>
                <a:cs typeface="Aptos" pitchFamily="34" charset="-120"/>
              </a:rPr>
              <a:t>7.2.4 · Partes interesadas</a:t>
            </a:r>
            <a:endParaRPr lang="en-US" sz="1060" dirty="0"/>
          </a:p>
        </p:txBody>
      </p:sp>
      <p:sp>
        <p:nvSpPr>
          <p:cNvPr id="26" name="Text 23"/>
          <p:cNvSpPr txBox="1"/>
          <p:nvPr/>
        </p:nvSpPr>
        <p:spPr>
          <a:xfrm>
            <a:off x="877824" y="4407408"/>
            <a:ext cx="4916272" cy="219456"/>
          </a:xfrm>
          <a:prstGeom prst="rect">
            <a:avLst/>
          </a:prstGeom>
          <a:noFill/>
          <a:ln/>
        </p:spPr>
        <p:txBody>
          <a:bodyPr wrap="square" lIns="0" tIns="0" rIns="0" bIns="0" rtlCol="0" anchor="t"/>
          <a:lstStyle/>
          <a:p>
            <a:pPr algn="l" indent="0" marL="0">
              <a:lnSpc>
                <a:spcPct val="105000"/>
              </a:lnSpc>
              <a:buNone/>
            </a:pPr>
            <a:r>
              <a:rPr lang="en-US" sz="960" dirty="0">
                <a:solidFill>
                  <a:srgbClr val="52606D"/>
                </a:solidFill>
                <a:latin typeface="Aptos" pitchFamily="34" charset="0"/>
                <a:ea typeface="Aptos" pitchFamily="34" charset="-122"/>
                <a:cs typeface="Aptos" pitchFamily="34" charset="-120"/>
              </a:rPr>
              <a:t>Quién tiene interés en el resultado de estas pruebas.</a:t>
            </a:r>
            <a:endParaRPr lang="en-US" sz="960" dirty="0"/>
          </a:p>
        </p:txBody>
      </p:sp>
      <p:sp>
        <p:nvSpPr>
          <p:cNvPr id="27" name="Shape 24"/>
          <p:cNvSpPr/>
          <p:nvPr/>
        </p:nvSpPr>
        <p:spPr>
          <a:xfrm>
            <a:off x="658368" y="4736592"/>
            <a:ext cx="5355184" cy="566928"/>
          </a:xfrm>
          <a:prstGeom prst="rect">
            <a:avLst/>
          </a:prstGeom>
          <a:solidFill>
            <a:srgbClr val="FFFFFF"/>
          </a:solidFill>
          <a:ln w="12700">
            <a:solidFill>
              <a:srgbClr val="FFFFFF"/>
            </a:solidFill>
            <a:prstDash val="solid"/>
          </a:ln>
        </p:spPr>
      </p:sp>
      <p:sp>
        <p:nvSpPr>
          <p:cNvPr id="28" name="Shape 25"/>
          <p:cNvSpPr/>
          <p:nvPr/>
        </p:nvSpPr>
        <p:spPr>
          <a:xfrm>
            <a:off x="658368" y="4736592"/>
            <a:ext cx="54864" cy="566928"/>
          </a:xfrm>
          <a:prstGeom prst="rect">
            <a:avLst/>
          </a:prstGeom>
          <a:solidFill>
            <a:srgbClr val="102A43"/>
          </a:solidFill>
          <a:ln w="12700">
            <a:solidFill>
              <a:srgbClr val="102A43"/>
            </a:solidFill>
            <a:prstDash val="solid"/>
          </a:ln>
        </p:spPr>
      </p:sp>
      <p:sp>
        <p:nvSpPr>
          <p:cNvPr id="29" name="Text 26"/>
          <p:cNvSpPr txBox="1"/>
          <p:nvPr/>
        </p:nvSpPr>
        <p:spPr>
          <a:xfrm>
            <a:off x="877824" y="4828032"/>
            <a:ext cx="4916272" cy="182880"/>
          </a:xfrm>
          <a:prstGeom prst="rect">
            <a:avLst/>
          </a:prstGeom>
          <a:noFill/>
          <a:ln/>
        </p:spPr>
        <p:txBody>
          <a:bodyPr wrap="square" lIns="0" tIns="0" rIns="0" bIns="0" rtlCol="0" anchor="t"/>
          <a:lstStyle/>
          <a:p>
            <a:pPr algn="l" indent="0" marL="0">
              <a:buNone/>
            </a:pPr>
            <a:r>
              <a:rPr lang="en-US" sz="1060" b="1" dirty="0">
                <a:solidFill>
                  <a:srgbClr val="243B53"/>
                </a:solidFill>
                <a:latin typeface="Aptos" pitchFamily="34" charset="0"/>
                <a:ea typeface="Aptos" pitchFamily="34" charset="-122"/>
                <a:cs typeface="Aptos" pitchFamily="34" charset="-120"/>
              </a:rPr>
              <a:t>7.2.5 · Comunicación de las pruebas</a:t>
            </a:r>
            <a:endParaRPr lang="en-US" sz="1060" dirty="0"/>
          </a:p>
        </p:txBody>
      </p:sp>
      <p:sp>
        <p:nvSpPr>
          <p:cNvPr id="30" name="Text 27"/>
          <p:cNvSpPr txBox="1"/>
          <p:nvPr/>
        </p:nvSpPr>
        <p:spPr>
          <a:xfrm>
            <a:off x="877824" y="5029200"/>
            <a:ext cx="4916272" cy="219456"/>
          </a:xfrm>
          <a:prstGeom prst="rect">
            <a:avLst/>
          </a:prstGeom>
          <a:noFill/>
          <a:ln/>
        </p:spPr>
        <p:txBody>
          <a:bodyPr wrap="square" lIns="0" tIns="0" rIns="0" bIns="0" rtlCol="0" anchor="t"/>
          <a:lstStyle/>
          <a:p>
            <a:pPr algn="l" indent="0" marL="0">
              <a:lnSpc>
                <a:spcPct val="105000"/>
              </a:lnSpc>
              <a:buNone/>
            </a:pPr>
            <a:r>
              <a:rPr lang="en-US" sz="960" dirty="0">
                <a:solidFill>
                  <a:srgbClr val="52606D"/>
                </a:solidFill>
                <a:latin typeface="Aptos" pitchFamily="34" charset="0"/>
                <a:ea typeface="Aptos" pitchFamily="34" charset="-122"/>
                <a:cs typeface="Aptos" pitchFamily="34" charset="-120"/>
              </a:rPr>
              <a:t>Quién informa qué, a quién y cada cuánto.</a:t>
            </a:r>
            <a:endParaRPr lang="en-US" sz="960" dirty="0"/>
          </a:p>
        </p:txBody>
      </p:sp>
      <p:sp>
        <p:nvSpPr>
          <p:cNvPr id="31" name="Shape 28"/>
          <p:cNvSpPr/>
          <p:nvPr/>
        </p:nvSpPr>
        <p:spPr>
          <a:xfrm>
            <a:off x="6178144" y="2249424"/>
            <a:ext cx="5355184" cy="566928"/>
          </a:xfrm>
          <a:prstGeom prst="rect">
            <a:avLst/>
          </a:prstGeom>
          <a:solidFill>
            <a:srgbClr val="F2E7D9"/>
          </a:solidFill>
          <a:ln w="12700">
            <a:solidFill>
              <a:srgbClr val="F2E7D9"/>
            </a:solidFill>
            <a:prstDash val="solid"/>
          </a:ln>
        </p:spPr>
      </p:sp>
      <p:sp>
        <p:nvSpPr>
          <p:cNvPr id="32" name="Shape 29"/>
          <p:cNvSpPr/>
          <p:nvPr/>
        </p:nvSpPr>
        <p:spPr>
          <a:xfrm>
            <a:off x="6178144" y="2249424"/>
            <a:ext cx="54864" cy="566928"/>
          </a:xfrm>
          <a:prstGeom prst="rect">
            <a:avLst/>
          </a:prstGeom>
          <a:solidFill>
            <a:srgbClr val="B3181E"/>
          </a:solidFill>
          <a:ln w="12700">
            <a:solidFill>
              <a:srgbClr val="B3181E"/>
            </a:solidFill>
            <a:prstDash val="solid"/>
          </a:ln>
        </p:spPr>
      </p:sp>
      <p:sp>
        <p:nvSpPr>
          <p:cNvPr id="33" name="Text 30"/>
          <p:cNvSpPr txBox="1"/>
          <p:nvPr/>
        </p:nvSpPr>
        <p:spPr>
          <a:xfrm>
            <a:off x="6397600" y="2340864"/>
            <a:ext cx="4916272" cy="182880"/>
          </a:xfrm>
          <a:prstGeom prst="rect">
            <a:avLst/>
          </a:prstGeom>
          <a:noFill/>
          <a:ln/>
        </p:spPr>
        <p:txBody>
          <a:bodyPr wrap="square" lIns="0" tIns="0" rIns="0" bIns="0" rtlCol="0" anchor="t"/>
          <a:lstStyle/>
          <a:p>
            <a:pPr algn="l" indent="0" marL="0">
              <a:buNone/>
            </a:pPr>
            <a:r>
              <a:rPr lang="en-US" sz="1060" b="1" dirty="0">
                <a:solidFill>
                  <a:srgbClr val="B3181E"/>
                </a:solidFill>
                <a:latin typeface="Aptos" pitchFamily="34" charset="0"/>
                <a:ea typeface="Aptos" pitchFamily="34" charset="-122"/>
                <a:cs typeface="Aptos" pitchFamily="34" charset="-120"/>
              </a:rPr>
              <a:t>7.2.6 · Registro de riesgos</a:t>
            </a:r>
            <a:endParaRPr lang="en-US" sz="1060" dirty="0"/>
          </a:p>
        </p:txBody>
      </p:sp>
      <p:sp>
        <p:nvSpPr>
          <p:cNvPr id="34" name="Text 31"/>
          <p:cNvSpPr txBox="1"/>
          <p:nvPr/>
        </p:nvSpPr>
        <p:spPr>
          <a:xfrm>
            <a:off x="6397600" y="2542032"/>
            <a:ext cx="4916272" cy="219456"/>
          </a:xfrm>
          <a:prstGeom prst="rect">
            <a:avLst/>
          </a:prstGeom>
          <a:noFill/>
          <a:ln/>
        </p:spPr>
        <p:txBody>
          <a:bodyPr wrap="square" lIns="0" tIns="0" rIns="0" bIns="0" rtlCol="0" anchor="t"/>
          <a:lstStyle/>
          <a:p>
            <a:pPr algn="l" indent="0" marL="0">
              <a:lnSpc>
                <a:spcPct val="105000"/>
              </a:lnSpc>
              <a:buNone/>
            </a:pPr>
            <a:r>
              <a:rPr lang="en-US" sz="960" dirty="0">
                <a:solidFill>
                  <a:srgbClr val="B3181E"/>
                </a:solidFill>
                <a:latin typeface="Aptos" pitchFamily="34" charset="0"/>
                <a:ea typeface="Aptos" pitchFamily="34" charset="-122"/>
                <a:cs typeface="Aptos" pitchFamily="34" charset="-120"/>
              </a:rPr>
              <a:t>Los riesgos identificados, con su valoración y su tratamiento.</a:t>
            </a:r>
            <a:endParaRPr lang="en-US" sz="960" dirty="0"/>
          </a:p>
        </p:txBody>
      </p:sp>
      <p:sp>
        <p:nvSpPr>
          <p:cNvPr id="35" name="Shape 32"/>
          <p:cNvSpPr/>
          <p:nvPr/>
        </p:nvSpPr>
        <p:spPr>
          <a:xfrm>
            <a:off x="6178144" y="2871216"/>
            <a:ext cx="5355184" cy="566928"/>
          </a:xfrm>
          <a:prstGeom prst="rect">
            <a:avLst/>
          </a:prstGeom>
          <a:solidFill>
            <a:srgbClr val="F2E7D9"/>
          </a:solidFill>
          <a:ln w="12700">
            <a:solidFill>
              <a:srgbClr val="F2E7D9"/>
            </a:solidFill>
            <a:prstDash val="solid"/>
          </a:ln>
        </p:spPr>
      </p:sp>
      <p:sp>
        <p:nvSpPr>
          <p:cNvPr id="36" name="Shape 33"/>
          <p:cNvSpPr/>
          <p:nvPr/>
        </p:nvSpPr>
        <p:spPr>
          <a:xfrm>
            <a:off x="6178144" y="2871216"/>
            <a:ext cx="54864" cy="566928"/>
          </a:xfrm>
          <a:prstGeom prst="rect">
            <a:avLst/>
          </a:prstGeom>
          <a:solidFill>
            <a:srgbClr val="B3181E"/>
          </a:solidFill>
          <a:ln w="12700">
            <a:solidFill>
              <a:srgbClr val="B3181E"/>
            </a:solidFill>
            <a:prstDash val="solid"/>
          </a:ln>
        </p:spPr>
      </p:sp>
      <p:sp>
        <p:nvSpPr>
          <p:cNvPr id="37" name="Text 34"/>
          <p:cNvSpPr txBox="1"/>
          <p:nvPr/>
        </p:nvSpPr>
        <p:spPr>
          <a:xfrm>
            <a:off x="6397600" y="2962656"/>
            <a:ext cx="4916272" cy="182880"/>
          </a:xfrm>
          <a:prstGeom prst="rect">
            <a:avLst/>
          </a:prstGeom>
          <a:noFill/>
          <a:ln/>
        </p:spPr>
        <p:txBody>
          <a:bodyPr wrap="square" lIns="0" tIns="0" rIns="0" bIns="0" rtlCol="0" anchor="t"/>
          <a:lstStyle/>
          <a:p>
            <a:pPr algn="l" indent="0" marL="0">
              <a:buNone/>
            </a:pPr>
            <a:r>
              <a:rPr lang="en-US" sz="1060" b="1" dirty="0">
                <a:solidFill>
                  <a:srgbClr val="B3181E"/>
                </a:solidFill>
                <a:latin typeface="Aptos" pitchFamily="34" charset="0"/>
                <a:ea typeface="Aptos" pitchFamily="34" charset="-122"/>
                <a:cs typeface="Aptos" pitchFamily="34" charset="-120"/>
              </a:rPr>
              <a:t>7.2.7 · Estrategia de pruebas</a:t>
            </a:r>
            <a:endParaRPr lang="en-US" sz="1060" dirty="0"/>
          </a:p>
        </p:txBody>
      </p:sp>
      <p:sp>
        <p:nvSpPr>
          <p:cNvPr id="38" name="Text 35"/>
          <p:cNvSpPr txBox="1"/>
          <p:nvPr/>
        </p:nvSpPr>
        <p:spPr>
          <a:xfrm>
            <a:off x="6397600" y="3163824"/>
            <a:ext cx="4916272" cy="219456"/>
          </a:xfrm>
          <a:prstGeom prst="rect">
            <a:avLst/>
          </a:prstGeom>
          <a:noFill/>
          <a:ln/>
        </p:spPr>
        <p:txBody>
          <a:bodyPr wrap="square" lIns="0" tIns="0" rIns="0" bIns="0" rtlCol="0" anchor="t"/>
          <a:lstStyle/>
          <a:p>
            <a:pPr algn="l" indent="0" marL="0">
              <a:lnSpc>
                <a:spcPct val="105000"/>
              </a:lnSpc>
              <a:buNone/>
            </a:pPr>
            <a:r>
              <a:rPr lang="en-US" sz="960" dirty="0">
                <a:solidFill>
                  <a:srgbClr val="B3181E"/>
                </a:solidFill>
                <a:latin typeface="Aptos" pitchFamily="34" charset="0"/>
                <a:ea typeface="Aptos" pitchFamily="34" charset="-122"/>
                <a:cs typeface="Aptos" pitchFamily="34" charset="-120"/>
              </a:rPr>
              <a:t>El enfoque: qué niveles, qué técnicas, qué datos, qué ambiente y cuándo se para.</a:t>
            </a:r>
            <a:endParaRPr lang="en-US" sz="960" dirty="0"/>
          </a:p>
        </p:txBody>
      </p:sp>
      <p:sp>
        <p:nvSpPr>
          <p:cNvPr id="39" name="Shape 36"/>
          <p:cNvSpPr/>
          <p:nvPr/>
        </p:nvSpPr>
        <p:spPr>
          <a:xfrm>
            <a:off x="6178144" y="3493008"/>
            <a:ext cx="5355184" cy="566928"/>
          </a:xfrm>
          <a:prstGeom prst="rect">
            <a:avLst/>
          </a:prstGeom>
          <a:solidFill>
            <a:srgbClr val="FFFFFF"/>
          </a:solidFill>
          <a:ln w="12700">
            <a:solidFill>
              <a:srgbClr val="FFFFFF"/>
            </a:solidFill>
            <a:prstDash val="solid"/>
          </a:ln>
        </p:spPr>
      </p:sp>
      <p:sp>
        <p:nvSpPr>
          <p:cNvPr id="40" name="Shape 37"/>
          <p:cNvSpPr/>
          <p:nvPr/>
        </p:nvSpPr>
        <p:spPr>
          <a:xfrm>
            <a:off x="6178144" y="3493008"/>
            <a:ext cx="54864" cy="566928"/>
          </a:xfrm>
          <a:prstGeom prst="rect">
            <a:avLst/>
          </a:prstGeom>
          <a:solidFill>
            <a:srgbClr val="102A43"/>
          </a:solidFill>
          <a:ln w="12700">
            <a:solidFill>
              <a:srgbClr val="102A43"/>
            </a:solidFill>
            <a:prstDash val="solid"/>
          </a:ln>
        </p:spPr>
      </p:sp>
      <p:sp>
        <p:nvSpPr>
          <p:cNvPr id="41" name="Text 38"/>
          <p:cNvSpPr txBox="1"/>
          <p:nvPr/>
        </p:nvSpPr>
        <p:spPr>
          <a:xfrm>
            <a:off x="6397600" y="3584448"/>
            <a:ext cx="4916272" cy="182880"/>
          </a:xfrm>
          <a:prstGeom prst="rect">
            <a:avLst/>
          </a:prstGeom>
          <a:noFill/>
          <a:ln/>
        </p:spPr>
        <p:txBody>
          <a:bodyPr wrap="square" lIns="0" tIns="0" rIns="0" bIns="0" rtlCol="0" anchor="t"/>
          <a:lstStyle/>
          <a:p>
            <a:pPr algn="l" indent="0" marL="0">
              <a:buNone/>
            </a:pPr>
            <a:r>
              <a:rPr lang="en-US" sz="1060" b="1" dirty="0">
                <a:solidFill>
                  <a:srgbClr val="243B53"/>
                </a:solidFill>
                <a:latin typeface="Aptos" pitchFamily="34" charset="0"/>
                <a:ea typeface="Aptos" pitchFamily="34" charset="-122"/>
                <a:cs typeface="Aptos" pitchFamily="34" charset="-120"/>
              </a:rPr>
              <a:t>7.2.8 · Actividades y estimaciones</a:t>
            </a:r>
            <a:endParaRPr lang="en-US" sz="1060" dirty="0"/>
          </a:p>
        </p:txBody>
      </p:sp>
      <p:sp>
        <p:nvSpPr>
          <p:cNvPr id="42" name="Text 39"/>
          <p:cNvSpPr txBox="1"/>
          <p:nvPr/>
        </p:nvSpPr>
        <p:spPr>
          <a:xfrm>
            <a:off x="6397600" y="3785616"/>
            <a:ext cx="4916272" cy="219456"/>
          </a:xfrm>
          <a:prstGeom prst="rect">
            <a:avLst/>
          </a:prstGeom>
          <a:noFill/>
          <a:ln/>
        </p:spPr>
        <p:txBody>
          <a:bodyPr wrap="square" lIns="0" tIns="0" rIns="0" bIns="0" rtlCol="0" anchor="t"/>
          <a:lstStyle/>
          <a:p>
            <a:pPr algn="l" indent="0" marL="0">
              <a:lnSpc>
                <a:spcPct val="105000"/>
              </a:lnSpc>
              <a:buNone/>
            </a:pPr>
            <a:r>
              <a:rPr lang="en-US" sz="960" dirty="0">
                <a:solidFill>
                  <a:srgbClr val="52606D"/>
                </a:solidFill>
                <a:latin typeface="Aptos" pitchFamily="34" charset="0"/>
                <a:ea typeface="Aptos" pitchFamily="34" charset="-122"/>
                <a:cs typeface="Aptos" pitchFamily="34" charset="-120"/>
              </a:rPr>
              <a:t>Qué actividades hay que hacer y cuánto esfuerzo cuestan.</a:t>
            </a:r>
            <a:endParaRPr lang="en-US" sz="960" dirty="0"/>
          </a:p>
        </p:txBody>
      </p:sp>
      <p:sp>
        <p:nvSpPr>
          <p:cNvPr id="43" name="Shape 40"/>
          <p:cNvSpPr/>
          <p:nvPr/>
        </p:nvSpPr>
        <p:spPr>
          <a:xfrm>
            <a:off x="6178144" y="4114800"/>
            <a:ext cx="5355184" cy="566928"/>
          </a:xfrm>
          <a:prstGeom prst="rect">
            <a:avLst/>
          </a:prstGeom>
          <a:solidFill>
            <a:srgbClr val="FFFFFF"/>
          </a:solidFill>
          <a:ln w="12700">
            <a:solidFill>
              <a:srgbClr val="FFFFFF"/>
            </a:solidFill>
            <a:prstDash val="solid"/>
          </a:ln>
        </p:spPr>
      </p:sp>
      <p:sp>
        <p:nvSpPr>
          <p:cNvPr id="44" name="Shape 41"/>
          <p:cNvSpPr/>
          <p:nvPr/>
        </p:nvSpPr>
        <p:spPr>
          <a:xfrm>
            <a:off x="6178144" y="4114800"/>
            <a:ext cx="54864" cy="566928"/>
          </a:xfrm>
          <a:prstGeom prst="rect">
            <a:avLst/>
          </a:prstGeom>
          <a:solidFill>
            <a:srgbClr val="102A43"/>
          </a:solidFill>
          <a:ln w="12700">
            <a:solidFill>
              <a:srgbClr val="102A43"/>
            </a:solidFill>
            <a:prstDash val="solid"/>
          </a:ln>
        </p:spPr>
      </p:sp>
      <p:sp>
        <p:nvSpPr>
          <p:cNvPr id="45" name="Text 42"/>
          <p:cNvSpPr txBox="1"/>
          <p:nvPr/>
        </p:nvSpPr>
        <p:spPr>
          <a:xfrm>
            <a:off x="6397600" y="4206240"/>
            <a:ext cx="4916272" cy="182880"/>
          </a:xfrm>
          <a:prstGeom prst="rect">
            <a:avLst/>
          </a:prstGeom>
          <a:noFill/>
          <a:ln/>
        </p:spPr>
        <p:txBody>
          <a:bodyPr wrap="square" lIns="0" tIns="0" rIns="0" bIns="0" rtlCol="0" anchor="t"/>
          <a:lstStyle/>
          <a:p>
            <a:pPr algn="l" indent="0" marL="0">
              <a:buNone/>
            </a:pPr>
            <a:r>
              <a:rPr lang="en-US" sz="1060" b="1" dirty="0">
                <a:solidFill>
                  <a:srgbClr val="243B53"/>
                </a:solidFill>
                <a:latin typeface="Aptos" pitchFamily="34" charset="0"/>
                <a:ea typeface="Aptos" pitchFamily="34" charset="-122"/>
                <a:cs typeface="Aptos" pitchFamily="34" charset="-120"/>
              </a:rPr>
              <a:t>7.2.9 · Personal y roles</a:t>
            </a:r>
            <a:endParaRPr lang="en-US" sz="1060" dirty="0"/>
          </a:p>
        </p:txBody>
      </p:sp>
      <p:sp>
        <p:nvSpPr>
          <p:cNvPr id="46" name="Text 43"/>
          <p:cNvSpPr txBox="1"/>
          <p:nvPr/>
        </p:nvSpPr>
        <p:spPr>
          <a:xfrm>
            <a:off x="6397600" y="4407408"/>
            <a:ext cx="4916272" cy="219456"/>
          </a:xfrm>
          <a:prstGeom prst="rect">
            <a:avLst/>
          </a:prstGeom>
          <a:noFill/>
          <a:ln/>
        </p:spPr>
        <p:txBody>
          <a:bodyPr wrap="square" lIns="0" tIns="0" rIns="0" bIns="0" rtlCol="0" anchor="t"/>
          <a:lstStyle/>
          <a:p>
            <a:pPr algn="l" indent="0" marL="0">
              <a:lnSpc>
                <a:spcPct val="105000"/>
              </a:lnSpc>
              <a:buNone/>
            </a:pPr>
            <a:r>
              <a:rPr lang="en-US" sz="960" dirty="0">
                <a:solidFill>
                  <a:srgbClr val="52606D"/>
                </a:solidFill>
                <a:latin typeface="Aptos" pitchFamily="34" charset="0"/>
                <a:ea typeface="Aptos" pitchFamily="34" charset="-122"/>
                <a:cs typeface="Aptos" pitchFamily="34" charset="-120"/>
              </a:rPr>
              <a:t>Quién hace cada cosa y qué necesita saber para hacerla.</a:t>
            </a:r>
            <a:endParaRPr lang="en-US" sz="960" dirty="0"/>
          </a:p>
        </p:txBody>
      </p:sp>
      <p:sp>
        <p:nvSpPr>
          <p:cNvPr id="47" name="Shape 44"/>
          <p:cNvSpPr/>
          <p:nvPr/>
        </p:nvSpPr>
        <p:spPr>
          <a:xfrm>
            <a:off x="6178144" y="4736592"/>
            <a:ext cx="5355184" cy="566928"/>
          </a:xfrm>
          <a:prstGeom prst="rect">
            <a:avLst/>
          </a:prstGeom>
          <a:solidFill>
            <a:srgbClr val="FFFFFF"/>
          </a:solidFill>
          <a:ln w="12700">
            <a:solidFill>
              <a:srgbClr val="FFFFFF"/>
            </a:solidFill>
            <a:prstDash val="solid"/>
          </a:ln>
        </p:spPr>
      </p:sp>
      <p:sp>
        <p:nvSpPr>
          <p:cNvPr id="48" name="Shape 45"/>
          <p:cNvSpPr/>
          <p:nvPr/>
        </p:nvSpPr>
        <p:spPr>
          <a:xfrm>
            <a:off x="6178144" y="4736592"/>
            <a:ext cx="54864" cy="566928"/>
          </a:xfrm>
          <a:prstGeom prst="rect">
            <a:avLst/>
          </a:prstGeom>
          <a:solidFill>
            <a:srgbClr val="102A43"/>
          </a:solidFill>
          <a:ln w="12700">
            <a:solidFill>
              <a:srgbClr val="102A43"/>
            </a:solidFill>
            <a:prstDash val="solid"/>
          </a:ln>
        </p:spPr>
      </p:sp>
      <p:sp>
        <p:nvSpPr>
          <p:cNvPr id="49" name="Text 46"/>
          <p:cNvSpPr txBox="1"/>
          <p:nvPr/>
        </p:nvSpPr>
        <p:spPr>
          <a:xfrm>
            <a:off x="6397600" y="4828032"/>
            <a:ext cx="4916272" cy="182880"/>
          </a:xfrm>
          <a:prstGeom prst="rect">
            <a:avLst/>
          </a:prstGeom>
          <a:noFill/>
          <a:ln/>
        </p:spPr>
        <p:txBody>
          <a:bodyPr wrap="square" lIns="0" tIns="0" rIns="0" bIns="0" rtlCol="0" anchor="t"/>
          <a:lstStyle/>
          <a:p>
            <a:pPr algn="l" indent="0" marL="0">
              <a:buNone/>
            </a:pPr>
            <a:r>
              <a:rPr lang="en-US" sz="1060" b="1" dirty="0">
                <a:solidFill>
                  <a:srgbClr val="243B53"/>
                </a:solidFill>
                <a:latin typeface="Aptos" pitchFamily="34" charset="0"/>
                <a:ea typeface="Aptos" pitchFamily="34" charset="-122"/>
                <a:cs typeface="Aptos" pitchFamily="34" charset="-120"/>
              </a:rPr>
              <a:t>7.2.10 · Calendario</a:t>
            </a:r>
            <a:endParaRPr lang="en-US" sz="1060" dirty="0"/>
          </a:p>
        </p:txBody>
      </p:sp>
      <p:sp>
        <p:nvSpPr>
          <p:cNvPr id="50" name="Text 47"/>
          <p:cNvSpPr txBox="1"/>
          <p:nvPr/>
        </p:nvSpPr>
        <p:spPr>
          <a:xfrm>
            <a:off x="6397600" y="5029200"/>
            <a:ext cx="4916272" cy="219456"/>
          </a:xfrm>
          <a:prstGeom prst="rect">
            <a:avLst/>
          </a:prstGeom>
          <a:noFill/>
          <a:ln/>
        </p:spPr>
        <p:txBody>
          <a:bodyPr wrap="square" lIns="0" tIns="0" rIns="0" bIns="0" rtlCol="0" anchor="t"/>
          <a:lstStyle/>
          <a:p>
            <a:pPr algn="l" indent="0" marL="0">
              <a:lnSpc>
                <a:spcPct val="105000"/>
              </a:lnSpc>
              <a:buNone/>
            </a:pPr>
            <a:r>
              <a:rPr lang="en-US" sz="960" dirty="0">
                <a:solidFill>
                  <a:srgbClr val="52606D"/>
                </a:solidFill>
                <a:latin typeface="Aptos" pitchFamily="34" charset="0"/>
                <a:ea typeface="Aptos" pitchFamily="34" charset="-122"/>
                <a:cs typeface="Aptos" pitchFamily="34" charset="-120"/>
              </a:rPr>
              <a:t>Cuándo ocurre cada actividad.</a:t>
            </a:r>
            <a:endParaRPr lang="en-US" sz="960" dirty="0"/>
          </a:p>
        </p:txBody>
      </p:sp>
      <p:sp>
        <p:nvSpPr>
          <p:cNvPr id="51" name="Shape 48"/>
          <p:cNvSpPr/>
          <p:nvPr/>
        </p:nvSpPr>
        <p:spPr>
          <a:xfrm>
            <a:off x="658368" y="5449824"/>
            <a:ext cx="45720" cy="182880"/>
          </a:xfrm>
          <a:prstGeom prst="rect">
            <a:avLst/>
          </a:prstGeom>
          <a:solidFill>
            <a:srgbClr val="B3181E"/>
          </a:solidFill>
          <a:ln w="12700">
            <a:solidFill>
              <a:srgbClr val="B3181E"/>
            </a:solidFill>
            <a:prstDash val="solid"/>
          </a:ln>
        </p:spPr>
      </p:sp>
      <p:sp>
        <p:nvSpPr>
          <p:cNvPr id="52" name="Text 49"/>
          <p:cNvSpPr txBox="1"/>
          <p:nvPr/>
        </p:nvSpPr>
        <p:spPr>
          <a:xfrm>
            <a:off x="804672" y="5440680"/>
            <a:ext cx="10241280" cy="201168"/>
          </a:xfrm>
          <a:prstGeom prst="rect">
            <a:avLst/>
          </a:prstGeom>
          <a:noFill/>
          <a:ln/>
        </p:spPr>
        <p:txBody>
          <a:bodyPr wrap="square" lIns="0" tIns="0" rIns="0" bIns="0" rtlCol="0" anchor="t"/>
          <a:lstStyle/>
          <a:p>
            <a:pPr algn="l" indent="0" marL="0">
              <a:buNone/>
            </a:pPr>
            <a:r>
              <a:rPr lang="en-US" sz="880" i="1" dirty="0">
                <a:solidFill>
                  <a:srgbClr val="52606D"/>
                </a:solidFill>
                <a:latin typeface="Aptos" pitchFamily="34" charset="0"/>
                <a:ea typeface="Aptos" pitchFamily="34" charset="-122"/>
                <a:cs typeface="Aptos" pitchFamily="34" charset="-120"/>
              </a:rPr>
              <a:t>Las dos partes en rojo son las que esta sesión construye: el registro de riesgos en el bloque 2 y la estrategia en los bloques 2 y 3.</a:t>
            </a:r>
            <a:endParaRPr lang="en-US" sz="880" dirty="0"/>
          </a:p>
        </p:txBody>
      </p:sp>
      <p:sp>
        <p:nvSpPr>
          <p:cNvPr id="53" name="Shape 50"/>
          <p:cNvSpPr/>
          <p:nvPr/>
        </p:nvSpPr>
        <p:spPr>
          <a:xfrm>
            <a:off x="658368" y="5650992"/>
            <a:ext cx="10874959" cy="548640"/>
          </a:xfrm>
          <a:prstGeom prst="rect">
            <a:avLst/>
          </a:prstGeom>
          <a:solidFill>
            <a:srgbClr val="102A43"/>
          </a:solidFill>
          <a:ln w="12700">
            <a:solidFill>
              <a:srgbClr val="102A43"/>
            </a:solidFill>
            <a:prstDash val="solid"/>
          </a:ln>
        </p:spPr>
      </p:sp>
      <p:sp>
        <p:nvSpPr>
          <p:cNvPr id="54" name="Text 51"/>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Ninguna de las diez se obtiene leyendo el repositorio.</a:t>
            </a:r>
            <a:endParaRPr lang="en-US" sz="13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11</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1 · CÓMO SE ANIDAN</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2600" b="1" dirty="0">
                <a:solidFill>
                  <a:srgbClr val="243B53"/>
                </a:solidFill>
                <a:latin typeface="Aptos Display" pitchFamily="34" charset="0"/>
                <a:ea typeface="Aptos Display" pitchFamily="34" charset="-122"/>
                <a:cs typeface="Aptos Display" pitchFamily="34" charset="-120"/>
              </a:rPr>
              <a:t>No son tres documentos: es uno dentro de otro</a:t>
            </a:r>
            <a:endParaRPr lang="en-US" sz="2600" dirty="0"/>
          </a:p>
        </p:txBody>
      </p:sp>
      <p:sp>
        <p:nvSpPr>
          <p:cNvPr id="10" name="Text 7"/>
          <p:cNvSpPr txBox="1"/>
          <p:nvPr/>
        </p:nvSpPr>
        <p:spPr>
          <a:xfrm>
            <a:off x="658368" y="1664208"/>
            <a:ext cx="10424160" cy="347472"/>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La estrategia es una parte del plan, y el criterio de salida vive dentro de la estrategia sin tener subcláusula propia.</a:t>
            </a:r>
            <a:endParaRPr lang="en-US" sz="1420" dirty="0"/>
          </a:p>
        </p:txBody>
      </p:sp>
      <p:sp>
        <p:nvSpPr>
          <p:cNvPr id="11" name="Shape 8"/>
          <p:cNvSpPr/>
          <p:nvPr/>
        </p:nvSpPr>
        <p:spPr>
          <a:xfrm>
            <a:off x="658368" y="2286000"/>
            <a:ext cx="5577840" cy="2743200"/>
          </a:xfrm>
          <a:prstGeom prst="rect">
            <a:avLst/>
          </a:prstGeom>
          <a:solidFill>
            <a:srgbClr val="EDE6DA"/>
          </a:solidFill>
          <a:ln w="12700">
            <a:solidFill>
              <a:srgbClr val="EDE6DA"/>
            </a:solidFill>
            <a:prstDash val="solid"/>
          </a:ln>
        </p:spPr>
      </p:sp>
      <p:sp>
        <p:nvSpPr>
          <p:cNvPr id="12" name="Text 9"/>
          <p:cNvSpPr txBox="1"/>
          <p:nvPr/>
        </p:nvSpPr>
        <p:spPr>
          <a:xfrm>
            <a:off x="896112" y="2432304"/>
            <a:ext cx="5120640" cy="219456"/>
          </a:xfrm>
          <a:prstGeom prst="rect">
            <a:avLst/>
          </a:prstGeom>
          <a:noFill/>
          <a:ln/>
        </p:spPr>
        <p:txBody>
          <a:bodyPr wrap="square" lIns="0" tIns="0" rIns="0" bIns="0" rtlCol="0" anchor="t"/>
          <a:lstStyle/>
          <a:p>
            <a:pPr algn="l" indent="0" marL="0">
              <a:buNone/>
            </a:pPr>
            <a:r>
              <a:rPr lang="en-US" sz="1020" b="1" spc="90" kern="0" dirty="0">
                <a:solidFill>
                  <a:srgbClr val="52606D"/>
                </a:solidFill>
                <a:latin typeface="Aptos" pitchFamily="34" charset="0"/>
                <a:ea typeface="Aptos" pitchFamily="34" charset="-122"/>
                <a:cs typeface="Aptos" pitchFamily="34" charset="-120"/>
              </a:rPr>
              <a:t>PLAN DE PRUEBAS · cláusula 7.2</a:t>
            </a:r>
            <a:endParaRPr lang="en-US" sz="1020" dirty="0"/>
          </a:p>
        </p:txBody>
      </p:sp>
      <p:sp>
        <p:nvSpPr>
          <p:cNvPr id="13" name="Shape 10"/>
          <p:cNvSpPr/>
          <p:nvPr/>
        </p:nvSpPr>
        <p:spPr>
          <a:xfrm>
            <a:off x="969264" y="2816352"/>
            <a:ext cx="4956048" cy="2048256"/>
          </a:xfrm>
          <a:prstGeom prst="rect">
            <a:avLst/>
          </a:prstGeom>
          <a:solidFill>
            <a:srgbClr val="FFFFFF"/>
          </a:solidFill>
          <a:ln w="12700">
            <a:solidFill>
              <a:srgbClr val="FFFFFF"/>
            </a:solidFill>
            <a:prstDash val="solid"/>
          </a:ln>
        </p:spPr>
      </p:sp>
      <p:sp>
        <p:nvSpPr>
          <p:cNvPr id="14" name="Text 11"/>
          <p:cNvSpPr txBox="1"/>
          <p:nvPr/>
        </p:nvSpPr>
        <p:spPr>
          <a:xfrm>
            <a:off x="1207008" y="2962656"/>
            <a:ext cx="4572000" cy="219456"/>
          </a:xfrm>
          <a:prstGeom prst="rect">
            <a:avLst/>
          </a:prstGeom>
          <a:noFill/>
          <a:ln/>
        </p:spPr>
        <p:txBody>
          <a:bodyPr wrap="square" lIns="0" tIns="0" rIns="0" bIns="0" rtlCol="0" anchor="t"/>
          <a:lstStyle/>
          <a:p>
            <a:pPr algn="l" indent="0" marL="0">
              <a:buNone/>
            </a:pPr>
            <a:r>
              <a:rPr lang="en-US" sz="1020" b="1" spc="90" kern="0" dirty="0">
                <a:solidFill>
                  <a:srgbClr val="102A43"/>
                </a:solidFill>
                <a:latin typeface="Aptos" pitchFamily="34" charset="0"/>
                <a:ea typeface="Aptos" pitchFamily="34" charset="-122"/>
                <a:cs typeface="Aptos" pitchFamily="34" charset="-120"/>
              </a:rPr>
              <a:t>ESTRATEGIA · cláusula 3.25</a:t>
            </a:r>
            <a:endParaRPr lang="en-US" sz="1020" dirty="0"/>
          </a:p>
        </p:txBody>
      </p:sp>
      <p:sp>
        <p:nvSpPr>
          <p:cNvPr id="15" name="Shape 12"/>
          <p:cNvSpPr/>
          <p:nvPr/>
        </p:nvSpPr>
        <p:spPr>
          <a:xfrm>
            <a:off x="1280160" y="3346704"/>
            <a:ext cx="4334256" cy="1371600"/>
          </a:xfrm>
          <a:prstGeom prst="rect">
            <a:avLst/>
          </a:prstGeom>
          <a:solidFill>
            <a:srgbClr val="F2E7D9"/>
          </a:solidFill>
          <a:ln w="12700">
            <a:solidFill>
              <a:srgbClr val="B3181E"/>
            </a:solidFill>
            <a:prstDash val="solid"/>
          </a:ln>
        </p:spPr>
      </p:sp>
      <p:sp>
        <p:nvSpPr>
          <p:cNvPr id="16" name="Text 13"/>
          <p:cNvSpPr txBox="1"/>
          <p:nvPr/>
        </p:nvSpPr>
        <p:spPr>
          <a:xfrm>
            <a:off x="1536192" y="3511296"/>
            <a:ext cx="3840480" cy="219456"/>
          </a:xfrm>
          <a:prstGeom prst="rect">
            <a:avLst/>
          </a:prstGeom>
          <a:noFill/>
          <a:ln/>
        </p:spPr>
        <p:txBody>
          <a:bodyPr wrap="square" lIns="0" tIns="0" rIns="0" bIns="0" rtlCol="0" anchor="t"/>
          <a:lstStyle/>
          <a:p>
            <a:pPr algn="l" indent="0" marL="0">
              <a:buNone/>
            </a:pPr>
            <a:r>
              <a:rPr lang="en-US" sz="1020" b="1" spc="90" kern="0" dirty="0">
                <a:solidFill>
                  <a:srgbClr val="B3181E"/>
                </a:solidFill>
                <a:latin typeface="Aptos" pitchFamily="34" charset="0"/>
                <a:ea typeface="Aptos" pitchFamily="34" charset="-122"/>
                <a:cs typeface="Aptos" pitchFamily="34" charset="-120"/>
              </a:rPr>
              <a:t>CRITERIO DE SALIDA</a:t>
            </a:r>
            <a:endParaRPr lang="en-US" sz="1020" dirty="0"/>
          </a:p>
        </p:txBody>
      </p:sp>
      <p:sp>
        <p:nvSpPr>
          <p:cNvPr id="17" name="Text 14"/>
          <p:cNvSpPr txBox="1"/>
          <p:nvPr/>
        </p:nvSpPr>
        <p:spPr>
          <a:xfrm>
            <a:off x="1536192" y="3785616"/>
            <a:ext cx="3840480" cy="329184"/>
          </a:xfrm>
          <a:prstGeom prst="rect">
            <a:avLst/>
          </a:prstGeom>
          <a:noFill/>
          <a:ln/>
        </p:spPr>
        <p:txBody>
          <a:bodyPr wrap="square" lIns="0" tIns="0" rIns="0" bIns="0" rtlCol="0" anchor="t"/>
          <a:lstStyle/>
          <a:p>
            <a:pPr algn="l" indent="0" marL="0">
              <a:buNone/>
            </a:pPr>
            <a:r>
              <a:rPr lang="en-US" sz="1600" b="1" dirty="0">
                <a:solidFill>
                  <a:srgbClr val="243B53"/>
                </a:solidFill>
                <a:latin typeface="Aptos" pitchFamily="34" charset="0"/>
                <a:ea typeface="Aptos" pitchFamily="34" charset="-122"/>
                <a:cs typeface="Aptos" pitchFamily="34" charset="-120"/>
              </a:rPr>
              <a:t>¿Cuándo dejamos de probar?</a:t>
            </a:r>
            <a:endParaRPr lang="en-US" sz="1600" dirty="0"/>
          </a:p>
        </p:txBody>
      </p:sp>
      <p:sp>
        <p:nvSpPr>
          <p:cNvPr id="18" name="Text 15"/>
          <p:cNvSpPr txBox="1"/>
          <p:nvPr/>
        </p:nvSpPr>
        <p:spPr>
          <a:xfrm>
            <a:off x="1536192" y="4206240"/>
            <a:ext cx="3840480" cy="256032"/>
          </a:xfrm>
          <a:prstGeom prst="rect">
            <a:avLst/>
          </a:prstGeom>
          <a:noFill/>
          <a:ln/>
        </p:spPr>
        <p:txBody>
          <a:bodyPr wrap="square" lIns="0" tIns="0" rIns="0" bIns="0" rtlCol="0" anchor="t"/>
          <a:lstStyle/>
          <a:p>
            <a:pPr algn="l" indent="0" marL="0">
              <a:buNone/>
            </a:pPr>
            <a:r>
              <a:rPr lang="en-US" sz="1060" i="1" dirty="0">
                <a:solidFill>
                  <a:srgbClr val="52606D"/>
                </a:solidFill>
                <a:latin typeface="Aptos" pitchFamily="34" charset="0"/>
                <a:ea typeface="Aptos" pitchFamily="34" charset="-122"/>
                <a:cs typeface="Aptos" pitchFamily="34" charset="-120"/>
              </a:rPr>
              <a:t>La norma lo llama test completion criteria.</a:t>
            </a:r>
            <a:endParaRPr lang="en-US" sz="1060" dirty="0"/>
          </a:p>
        </p:txBody>
      </p:sp>
      <p:sp>
        <p:nvSpPr>
          <p:cNvPr id="19" name="Text 16"/>
          <p:cNvSpPr txBox="1"/>
          <p:nvPr/>
        </p:nvSpPr>
        <p:spPr>
          <a:xfrm>
            <a:off x="6547104" y="2286000"/>
            <a:ext cx="4992624" cy="201168"/>
          </a:xfrm>
          <a:prstGeom prst="rect">
            <a:avLst/>
          </a:prstGeom>
          <a:noFill/>
          <a:ln/>
        </p:spPr>
        <p:txBody>
          <a:bodyPr wrap="square" lIns="0" tIns="0" rIns="0" bIns="0" rtlCol="0" anchor="t"/>
          <a:lstStyle/>
          <a:p>
            <a:pPr algn="l" indent="0" marL="0">
              <a:buNone/>
            </a:pPr>
            <a:r>
              <a:rPr lang="en-US" sz="960" b="1" spc="130" kern="0" dirty="0">
                <a:solidFill>
                  <a:srgbClr val="D62027"/>
                </a:solidFill>
                <a:latin typeface="Aptos" pitchFamily="34" charset="0"/>
                <a:ea typeface="Aptos" pitchFamily="34" charset="-122"/>
                <a:cs typeface="Aptos" pitchFamily="34" charset="-120"/>
              </a:rPr>
              <a:t>EL MISMO CRITERIO, EN DOS VERSIONES</a:t>
            </a:r>
            <a:endParaRPr lang="en-US" sz="960" dirty="0"/>
          </a:p>
        </p:txBody>
      </p:sp>
      <p:sp>
        <p:nvSpPr>
          <p:cNvPr id="20" name="Shape 17"/>
          <p:cNvSpPr/>
          <p:nvPr/>
        </p:nvSpPr>
        <p:spPr>
          <a:xfrm>
            <a:off x="6547104" y="2596896"/>
            <a:ext cx="4992624" cy="1133856"/>
          </a:xfrm>
          <a:prstGeom prst="rect">
            <a:avLst/>
          </a:prstGeom>
          <a:solidFill>
            <a:srgbClr val="F2E7D9"/>
          </a:solidFill>
          <a:ln w="12700">
            <a:solidFill>
              <a:srgbClr val="F2E7D9"/>
            </a:solidFill>
            <a:prstDash val="solid"/>
          </a:ln>
        </p:spPr>
      </p:sp>
      <p:sp>
        <p:nvSpPr>
          <p:cNvPr id="21" name="Shape 18"/>
          <p:cNvSpPr/>
          <p:nvPr/>
        </p:nvSpPr>
        <p:spPr>
          <a:xfrm>
            <a:off x="6547104" y="2596896"/>
            <a:ext cx="54864" cy="1133856"/>
          </a:xfrm>
          <a:prstGeom prst="rect">
            <a:avLst/>
          </a:prstGeom>
          <a:solidFill>
            <a:srgbClr val="B3181E"/>
          </a:solidFill>
          <a:ln w="12700">
            <a:solidFill>
              <a:srgbClr val="B3181E"/>
            </a:solidFill>
            <a:prstDash val="solid"/>
          </a:ln>
        </p:spPr>
      </p:sp>
      <p:sp>
        <p:nvSpPr>
          <p:cNvPr id="22" name="Text 19"/>
          <p:cNvSpPr txBox="1"/>
          <p:nvPr/>
        </p:nvSpPr>
        <p:spPr>
          <a:xfrm>
            <a:off x="6803136" y="2724912"/>
            <a:ext cx="1828800" cy="182880"/>
          </a:xfrm>
          <a:prstGeom prst="rect">
            <a:avLst/>
          </a:prstGeom>
          <a:noFill/>
          <a:ln/>
        </p:spPr>
        <p:txBody>
          <a:bodyPr wrap="square" lIns="0" tIns="0" rIns="0" bIns="0" rtlCol="0" anchor="t"/>
          <a:lstStyle/>
          <a:p>
            <a:pPr algn="l" indent="0" marL="0">
              <a:buNone/>
            </a:pPr>
            <a:r>
              <a:rPr lang="en-US" sz="900" b="1" spc="100" kern="0" dirty="0">
                <a:solidFill>
                  <a:srgbClr val="B3181E"/>
                </a:solidFill>
                <a:latin typeface="Aptos" pitchFamily="34" charset="0"/>
                <a:ea typeface="Aptos" pitchFamily="34" charset="-122"/>
                <a:cs typeface="Aptos" pitchFamily="34" charset="-120"/>
              </a:rPr>
              <a:t>NO SIRVE</a:t>
            </a:r>
            <a:endParaRPr lang="en-US" sz="900" dirty="0"/>
          </a:p>
        </p:txBody>
      </p:sp>
      <p:sp>
        <p:nvSpPr>
          <p:cNvPr id="23" name="Text 20"/>
          <p:cNvSpPr txBox="1"/>
          <p:nvPr/>
        </p:nvSpPr>
        <p:spPr>
          <a:xfrm>
            <a:off x="6803136" y="2944368"/>
            <a:ext cx="4480560" cy="384048"/>
          </a:xfrm>
          <a:prstGeom prst="rect">
            <a:avLst/>
          </a:prstGeom>
          <a:noFill/>
          <a:ln/>
        </p:spPr>
        <p:txBody>
          <a:bodyPr wrap="square" lIns="0" tIns="0" rIns="0" bIns="0" rtlCol="0" anchor="t"/>
          <a:lstStyle/>
          <a:p>
            <a:pPr algn="l" indent="0" marL="0">
              <a:lnSpc>
                <a:spcPct val="108000"/>
              </a:lnSpc>
              <a:buNone/>
            </a:pPr>
            <a:r>
              <a:rPr lang="en-US" sz="1260" b="1" dirty="0">
                <a:solidFill>
                  <a:srgbClr val="243B53"/>
                </a:solidFill>
                <a:latin typeface="Aptos" pitchFamily="34" charset="0"/>
                <a:ea typeface="Aptos" pitchFamily="34" charset="-122"/>
                <a:cs typeface="Aptos" pitchFamily="34" charset="-120"/>
              </a:rPr>
              <a:t>«Cuando esté bien probado»</a:t>
            </a:r>
            <a:endParaRPr lang="en-US" sz="1260" dirty="0"/>
          </a:p>
        </p:txBody>
      </p:sp>
      <p:sp>
        <p:nvSpPr>
          <p:cNvPr id="24" name="Text 21"/>
          <p:cNvSpPr txBox="1"/>
          <p:nvPr/>
        </p:nvSpPr>
        <p:spPr>
          <a:xfrm>
            <a:off x="6803136" y="3419856"/>
            <a:ext cx="4480560" cy="237744"/>
          </a:xfrm>
          <a:prstGeom prst="rect">
            <a:avLst/>
          </a:prstGeom>
          <a:noFill/>
          <a:ln/>
        </p:spPr>
        <p:txBody>
          <a:bodyPr wrap="square" lIns="0" tIns="0" rIns="0" bIns="0" rtlCol="0" anchor="t"/>
          <a:lstStyle/>
          <a:p>
            <a:pPr algn="l" indent="0" marL="0">
              <a:buNone/>
            </a:pPr>
            <a:r>
              <a:rPr lang="en-US" sz="1020" dirty="0">
                <a:solidFill>
                  <a:srgbClr val="52606D"/>
                </a:solidFill>
                <a:latin typeface="Aptos" pitchFamily="34" charset="0"/>
                <a:ea typeface="Aptos" pitchFamily="34" charset="-122"/>
                <a:cs typeface="Aptos" pitchFamily="34" charset="-120"/>
              </a:rPr>
              <a:t>No se contesta con un número, así que nadie puede discrepar.</a:t>
            </a:r>
            <a:endParaRPr lang="en-US" sz="1020" dirty="0"/>
          </a:p>
        </p:txBody>
      </p:sp>
      <p:sp>
        <p:nvSpPr>
          <p:cNvPr id="25" name="Shape 22"/>
          <p:cNvSpPr/>
          <p:nvPr/>
        </p:nvSpPr>
        <p:spPr>
          <a:xfrm>
            <a:off x="6547104" y="3785616"/>
            <a:ext cx="4992624" cy="1133856"/>
          </a:xfrm>
          <a:prstGeom prst="rect">
            <a:avLst/>
          </a:prstGeom>
          <a:solidFill>
            <a:srgbClr val="FFFFFF"/>
          </a:solidFill>
          <a:ln w="12700">
            <a:solidFill>
              <a:srgbClr val="FFFFFF"/>
            </a:solidFill>
            <a:prstDash val="solid"/>
          </a:ln>
        </p:spPr>
      </p:sp>
      <p:sp>
        <p:nvSpPr>
          <p:cNvPr id="26" name="Shape 23"/>
          <p:cNvSpPr/>
          <p:nvPr/>
        </p:nvSpPr>
        <p:spPr>
          <a:xfrm>
            <a:off x="6547104" y="3785616"/>
            <a:ext cx="54864" cy="1133856"/>
          </a:xfrm>
          <a:prstGeom prst="rect">
            <a:avLst/>
          </a:prstGeom>
          <a:solidFill>
            <a:srgbClr val="2E7D4F"/>
          </a:solidFill>
          <a:ln w="12700">
            <a:solidFill>
              <a:srgbClr val="2E7D4F"/>
            </a:solidFill>
            <a:prstDash val="solid"/>
          </a:ln>
        </p:spPr>
      </p:sp>
      <p:sp>
        <p:nvSpPr>
          <p:cNvPr id="27" name="Text 24"/>
          <p:cNvSpPr txBox="1"/>
          <p:nvPr/>
        </p:nvSpPr>
        <p:spPr>
          <a:xfrm>
            <a:off x="6803136" y="3913632"/>
            <a:ext cx="1828800" cy="182880"/>
          </a:xfrm>
          <a:prstGeom prst="rect">
            <a:avLst/>
          </a:prstGeom>
          <a:noFill/>
          <a:ln/>
        </p:spPr>
        <p:txBody>
          <a:bodyPr wrap="square" lIns="0" tIns="0" rIns="0" bIns="0" rtlCol="0" anchor="t"/>
          <a:lstStyle/>
          <a:p>
            <a:pPr algn="l" indent="0" marL="0">
              <a:buNone/>
            </a:pPr>
            <a:r>
              <a:rPr lang="en-US" sz="900" b="1" spc="100" kern="0" dirty="0">
                <a:solidFill>
                  <a:srgbClr val="2E7D4F"/>
                </a:solidFill>
                <a:latin typeface="Aptos" pitchFamily="34" charset="0"/>
                <a:ea typeface="Aptos" pitchFamily="34" charset="-122"/>
                <a:cs typeface="Aptos" pitchFamily="34" charset="-120"/>
              </a:rPr>
              <a:t>SÍ SIRVE</a:t>
            </a:r>
            <a:endParaRPr lang="en-US" sz="900" dirty="0"/>
          </a:p>
        </p:txBody>
      </p:sp>
      <p:sp>
        <p:nvSpPr>
          <p:cNvPr id="28" name="Text 25"/>
          <p:cNvSpPr txBox="1"/>
          <p:nvPr/>
        </p:nvSpPr>
        <p:spPr>
          <a:xfrm>
            <a:off x="6803136" y="4133088"/>
            <a:ext cx="4480560" cy="384048"/>
          </a:xfrm>
          <a:prstGeom prst="rect">
            <a:avLst/>
          </a:prstGeom>
          <a:noFill/>
          <a:ln/>
        </p:spPr>
        <p:txBody>
          <a:bodyPr wrap="square" lIns="0" tIns="0" rIns="0" bIns="0" rtlCol="0" anchor="t"/>
          <a:lstStyle/>
          <a:p>
            <a:pPr algn="l" indent="0" marL="0">
              <a:lnSpc>
                <a:spcPct val="108000"/>
              </a:lnSpc>
              <a:buNone/>
            </a:pPr>
            <a:r>
              <a:rPr lang="en-US" sz="1260" b="1" dirty="0">
                <a:solidFill>
                  <a:srgbClr val="243B53"/>
                </a:solidFill>
                <a:latin typeface="Aptos" pitchFamily="34" charset="0"/>
                <a:ea typeface="Aptos" pitchFamily="34" charset="-122"/>
                <a:cs typeface="Aptos" pitchFamily="34" charset="-120"/>
              </a:rPr>
              <a:t>«Cuando todo riesgo de nivel 6 o más tenga un caso ejecutado»</a:t>
            </a:r>
            <a:endParaRPr lang="en-US" sz="1260" dirty="0"/>
          </a:p>
        </p:txBody>
      </p:sp>
      <p:sp>
        <p:nvSpPr>
          <p:cNvPr id="29" name="Text 26"/>
          <p:cNvSpPr txBox="1"/>
          <p:nvPr/>
        </p:nvSpPr>
        <p:spPr>
          <a:xfrm>
            <a:off x="6803136" y="4608576"/>
            <a:ext cx="4480560" cy="237744"/>
          </a:xfrm>
          <a:prstGeom prst="rect">
            <a:avLst/>
          </a:prstGeom>
          <a:noFill/>
          <a:ln/>
        </p:spPr>
        <p:txBody>
          <a:bodyPr wrap="square" lIns="0" tIns="0" rIns="0" bIns="0" rtlCol="0" anchor="t"/>
          <a:lstStyle/>
          <a:p>
            <a:pPr algn="l" indent="0" marL="0">
              <a:buNone/>
            </a:pPr>
            <a:r>
              <a:rPr lang="en-US" sz="1020" dirty="0">
                <a:solidFill>
                  <a:srgbClr val="52606D"/>
                </a:solidFill>
                <a:latin typeface="Aptos" pitchFamily="34" charset="0"/>
                <a:ea typeface="Aptos" pitchFamily="34" charset="-122"/>
                <a:cs typeface="Aptos" pitchFamily="34" charset="-120"/>
              </a:rPr>
              <a:t>Tiene magnitud, método y umbral.</a:t>
            </a:r>
            <a:endParaRPr lang="en-US" sz="1020" dirty="0"/>
          </a:p>
        </p:txBody>
      </p:sp>
      <p:sp>
        <p:nvSpPr>
          <p:cNvPr id="30" name="Shape 27"/>
          <p:cNvSpPr/>
          <p:nvPr/>
        </p:nvSpPr>
        <p:spPr>
          <a:xfrm>
            <a:off x="658368" y="5650992"/>
            <a:ext cx="10874959" cy="548640"/>
          </a:xfrm>
          <a:prstGeom prst="rect">
            <a:avLst/>
          </a:prstGeom>
          <a:solidFill>
            <a:srgbClr val="102A43"/>
          </a:solidFill>
          <a:ln w="12700">
            <a:solidFill>
              <a:srgbClr val="102A43"/>
            </a:solidFill>
            <a:prstDash val="solid"/>
          </a:ln>
        </p:spPr>
      </p:sp>
      <p:sp>
        <p:nvSpPr>
          <p:cNvPr id="31" name="Text 28"/>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Sin criterio de salida, probar termina cuando se acaba el tiempo.</a:t>
            </a:r>
            <a:endParaRPr lang="en-US" sz="13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12</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1 · CUÁNTO HAY QUE APLICAR</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Recortar es legítimo. Recortar en silencio, no</a:t>
            </a:r>
            <a:endParaRPr lang="en-US" sz="3000" dirty="0"/>
          </a:p>
        </p:txBody>
      </p:sp>
      <p:sp>
        <p:nvSpPr>
          <p:cNvPr id="10" name="Text 7"/>
          <p:cNvSpPr txBox="1"/>
          <p:nvPr/>
        </p:nvSpPr>
        <p:spPr>
          <a:xfrm>
            <a:off x="658368" y="1664208"/>
            <a:ext cx="10424160" cy="347472"/>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Diez subcláusulas para un proyecto de cinco archivos son desproporcionadas. La norma lo anticipa con dos caminos.</a:t>
            </a:r>
            <a:endParaRPr lang="en-US" sz="1420" dirty="0"/>
          </a:p>
        </p:txBody>
      </p:sp>
      <p:sp>
        <p:nvSpPr>
          <p:cNvPr id="11" name="Shape 8"/>
          <p:cNvSpPr/>
          <p:nvPr/>
        </p:nvSpPr>
        <p:spPr>
          <a:xfrm>
            <a:off x="658368" y="2231136"/>
            <a:ext cx="3539642" cy="512064"/>
          </a:xfrm>
          <a:prstGeom prst="rect">
            <a:avLst/>
          </a:prstGeom>
          <a:solidFill>
            <a:srgbClr val="EDE6DA"/>
          </a:solidFill>
          <a:ln w="12700">
            <a:solidFill>
              <a:srgbClr val="EDE6DA"/>
            </a:solidFill>
            <a:prstDash val="solid"/>
          </a:ln>
        </p:spPr>
      </p:sp>
      <p:sp>
        <p:nvSpPr>
          <p:cNvPr id="12" name="Shape 9"/>
          <p:cNvSpPr/>
          <p:nvPr/>
        </p:nvSpPr>
        <p:spPr>
          <a:xfrm>
            <a:off x="658368" y="2231136"/>
            <a:ext cx="54864" cy="512064"/>
          </a:xfrm>
          <a:prstGeom prst="rect">
            <a:avLst/>
          </a:prstGeom>
          <a:solidFill>
            <a:srgbClr val="B3181E"/>
          </a:solidFill>
          <a:ln w="12700">
            <a:solidFill>
              <a:srgbClr val="B3181E"/>
            </a:solidFill>
            <a:prstDash val="solid"/>
          </a:ln>
        </p:spPr>
      </p:sp>
      <p:sp>
        <p:nvSpPr>
          <p:cNvPr id="13" name="Text 10"/>
          <p:cNvSpPr txBox="1"/>
          <p:nvPr/>
        </p:nvSpPr>
        <p:spPr>
          <a:xfrm>
            <a:off x="896112" y="2340864"/>
            <a:ext cx="1371600" cy="274320"/>
          </a:xfrm>
          <a:prstGeom prst="rect">
            <a:avLst/>
          </a:prstGeom>
          <a:noFill/>
          <a:ln/>
        </p:spPr>
        <p:txBody>
          <a:bodyPr wrap="square" lIns="0" tIns="0" rIns="0" bIns="0" rtlCol="0" anchor="t"/>
          <a:lstStyle/>
          <a:p>
            <a:pPr algn="l" indent="0" marL="0">
              <a:buNone/>
            </a:pPr>
            <a:r>
              <a:rPr lang="en-US" sz="1500" b="1" dirty="0">
                <a:solidFill>
                  <a:srgbClr val="B3181E"/>
                </a:solidFill>
                <a:latin typeface="Consolas" pitchFamily="34" charset="0"/>
                <a:ea typeface="Consolas" pitchFamily="34" charset="-122"/>
                <a:cs typeface="Consolas" pitchFamily="34" charset="-120"/>
              </a:rPr>
              <a:t>shall</a:t>
            </a:r>
            <a:endParaRPr lang="en-US" sz="1500" dirty="0"/>
          </a:p>
        </p:txBody>
      </p:sp>
      <p:sp>
        <p:nvSpPr>
          <p:cNvPr id="14" name="Text 11"/>
          <p:cNvSpPr txBox="1"/>
          <p:nvPr/>
        </p:nvSpPr>
        <p:spPr>
          <a:xfrm>
            <a:off x="2359152" y="2359152"/>
            <a:ext cx="1619402" cy="237744"/>
          </a:xfrm>
          <a:prstGeom prst="rect">
            <a:avLst/>
          </a:prstGeom>
          <a:noFill/>
          <a:ln/>
        </p:spPr>
        <p:txBody>
          <a:bodyPr wrap="square" lIns="0" tIns="0" rIns="0" bIns="0" rtlCol="0" anchor="t"/>
          <a:lstStyle/>
          <a:p>
            <a:pPr algn="l" indent="0" marL="0">
              <a:buNone/>
            </a:pPr>
            <a:r>
              <a:rPr lang="en-US" sz="1180" dirty="0">
                <a:solidFill>
                  <a:srgbClr val="243B53"/>
                </a:solidFill>
                <a:latin typeface="Aptos" pitchFamily="34" charset="0"/>
                <a:ea typeface="Aptos" pitchFamily="34" charset="-122"/>
                <a:cs typeface="Aptos" pitchFamily="34" charset="-120"/>
              </a:rPr>
              <a:t>Exigencia</a:t>
            </a:r>
            <a:endParaRPr lang="en-US" sz="1180" dirty="0"/>
          </a:p>
        </p:txBody>
      </p:sp>
      <p:sp>
        <p:nvSpPr>
          <p:cNvPr id="15" name="Shape 12"/>
          <p:cNvSpPr/>
          <p:nvPr/>
        </p:nvSpPr>
        <p:spPr>
          <a:xfrm>
            <a:off x="4326026" y="2231136"/>
            <a:ext cx="3539642" cy="512064"/>
          </a:xfrm>
          <a:prstGeom prst="rect">
            <a:avLst/>
          </a:prstGeom>
          <a:solidFill>
            <a:srgbClr val="EDE6DA"/>
          </a:solidFill>
          <a:ln w="12700">
            <a:solidFill>
              <a:srgbClr val="EDE6DA"/>
            </a:solidFill>
            <a:prstDash val="solid"/>
          </a:ln>
        </p:spPr>
      </p:sp>
      <p:sp>
        <p:nvSpPr>
          <p:cNvPr id="16" name="Shape 13"/>
          <p:cNvSpPr/>
          <p:nvPr/>
        </p:nvSpPr>
        <p:spPr>
          <a:xfrm>
            <a:off x="4326026" y="2231136"/>
            <a:ext cx="54864" cy="512064"/>
          </a:xfrm>
          <a:prstGeom prst="rect">
            <a:avLst/>
          </a:prstGeom>
          <a:solidFill>
            <a:srgbClr val="8A6A12"/>
          </a:solidFill>
          <a:ln w="12700">
            <a:solidFill>
              <a:srgbClr val="8A6A12"/>
            </a:solidFill>
            <a:prstDash val="solid"/>
          </a:ln>
        </p:spPr>
      </p:sp>
      <p:sp>
        <p:nvSpPr>
          <p:cNvPr id="17" name="Text 14"/>
          <p:cNvSpPr txBox="1"/>
          <p:nvPr/>
        </p:nvSpPr>
        <p:spPr>
          <a:xfrm>
            <a:off x="4563770" y="2340864"/>
            <a:ext cx="1371600" cy="274320"/>
          </a:xfrm>
          <a:prstGeom prst="rect">
            <a:avLst/>
          </a:prstGeom>
          <a:noFill/>
          <a:ln/>
        </p:spPr>
        <p:txBody>
          <a:bodyPr wrap="square" lIns="0" tIns="0" rIns="0" bIns="0" rtlCol="0" anchor="t"/>
          <a:lstStyle/>
          <a:p>
            <a:pPr algn="l" indent="0" marL="0">
              <a:buNone/>
            </a:pPr>
            <a:r>
              <a:rPr lang="en-US" sz="1500" b="1" dirty="0">
                <a:solidFill>
                  <a:srgbClr val="8A6A12"/>
                </a:solidFill>
                <a:latin typeface="Consolas" pitchFamily="34" charset="0"/>
                <a:ea typeface="Consolas" pitchFamily="34" charset="-122"/>
                <a:cs typeface="Consolas" pitchFamily="34" charset="-120"/>
              </a:rPr>
              <a:t>should</a:t>
            </a:r>
            <a:endParaRPr lang="en-US" sz="1500" dirty="0"/>
          </a:p>
        </p:txBody>
      </p:sp>
      <p:sp>
        <p:nvSpPr>
          <p:cNvPr id="18" name="Text 15"/>
          <p:cNvSpPr txBox="1"/>
          <p:nvPr/>
        </p:nvSpPr>
        <p:spPr>
          <a:xfrm>
            <a:off x="6026810" y="2359152"/>
            <a:ext cx="1619402" cy="237744"/>
          </a:xfrm>
          <a:prstGeom prst="rect">
            <a:avLst/>
          </a:prstGeom>
          <a:noFill/>
          <a:ln/>
        </p:spPr>
        <p:txBody>
          <a:bodyPr wrap="square" lIns="0" tIns="0" rIns="0" bIns="0" rtlCol="0" anchor="t"/>
          <a:lstStyle/>
          <a:p>
            <a:pPr algn="l" indent="0" marL="0">
              <a:buNone/>
            </a:pPr>
            <a:r>
              <a:rPr lang="en-US" sz="1180" dirty="0">
                <a:solidFill>
                  <a:srgbClr val="243B53"/>
                </a:solidFill>
                <a:latin typeface="Aptos" pitchFamily="34" charset="0"/>
                <a:ea typeface="Aptos" pitchFamily="34" charset="-122"/>
                <a:cs typeface="Aptos" pitchFamily="34" charset="-120"/>
              </a:rPr>
              <a:t>Recomendación</a:t>
            </a:r>
            <a:endParaRPr lang="en-US" sz="1180" dirty="0"/>
          </a:p>
        </p:txBody>
      </p:sp>
      <p:sp>
        <p:nvSpPr>
          <p:cNvPr id="19" name="Shape 16"/>
          <p:cNvSpPr/>
          <p:nvPr/>
        </p:nvSpPr>
        <p:spPr>
          <a:xfrm>
            <a:off x="7993685" y="2231136"/>
            <a:ext cx="3539642" cy="512064"/>
          </a:xfrm>
          <a:prstGeom prst="rect">
            <a:avLst/>
          </a:prstGeom>
          <a:solidFill>
            <a:srgbClr val="EDE6DA"/>
          </a:solidFill>
          <a:ln w="12700">
            <a:solidFill>
              <a:srgbClr val="EDE6DA"/>
            </a:solidFill>
            <a:prstDash val="solid"/>
          </a:ln>
        </p:spPr>
      </p:sp>
      <p:sp>
        <p:nvSpPr>
          <p:cNvPr id="20" name="Shape 17"/>
          <p:cNvSpPr/>
          <p:nvPr/>
        </p:nvSpPr>
        <p:spPr>
          <a:xfrm>
            <a:off x="7993685" y="2231136"/>
            <a:ext cx="54864" cy="512064"/>
          </a:xfrm>
          <a:prstGeom prst="rect">
            <a:avLst/>
          </a:prstGeom>
          <a:solidFill>
            <a:srgbClr val="2E7D4F"/>
          </a:solidFill>
          <a:ln w="12700">
            <a:solidFill>
              <a:srgbClr val="2E7D4F"/>
            </a:solidFill>
            <a:prstDash val="solid"/>
          </a:ln>
        </p:spPr>
      </p:sp>
      <p:sp>
        <p:nvSpPr>
          <p:cNvPr id="21" name="Text 18"/>
          <p:cNvSpPr txBox="1"/>
          <p:nvPr/>
        </p:nvSpPr>
        <p:spPr>
          <a:xfrm>
            <a:off x="8231429" y="2340864"/>
            <a:ext cx="1371600" cy="274320"/>
          </a:xfrm>
          <a:prstGeom prst="rect">
            <a:avLst/>
          </a:prstGeom>
          <a:noFill/>
          <a:ln/>
        </p:spPr>
        <p:txBody>
          <a:bodyPr wrap="square" lIns="0" tIns="0" rIns="0" bIns="0" rtlCol="0" anchor="t"/>
          <a:lstStyle/>
          <a:p>
            <a:pPr algn="l" indent="0" marL="0">
              <a:buNone/>
            </a:pPr>
            <a:r>
              <a:rPr lang="en-US" sz="1500" b="1" dirty="0">
                <a:solidFill>
                  <a:srgbClr val="2E7D4F"/>
                </a:solidFill>
                <a:latin typeface="Consolas" pitchFamily="34" charset="0"/>
                <a:ea typeface="Consolas" pitchFamily="34" charset="-122"/>
                <a:cs typeface="Consolas" pitchFamily="34" charset="-120"/>
              </a:rPr>
              <a:t>may</a:t>
            </a:r>
            <a:endParaRPr lang="en-US" sz="1500" dirty="0"/>
          </a:p>
        </p:txBody>
      </p:sp>
      <p:sp>
        <p:nvSpPr>
          <p:cNvPr id="22" name="Text 19"/>
          <p:cNvSpPr txBox="1"/>
          <p:nvPr/>
        </p:nvSpPr>
        <p:spPr>
          <a:xfrm>
            <a:off x="9694469" y="2359152"/>
            <a:ext cx="1619402" cy="237744"/>
          </a:xfrm>
          <a:prstGeom prst="rect">
            <a:avLst/>
          </a:prstGeom>
          <a:noFill/>
          <a:ln/>
        </p:spPr>
        <p:txBody>
          <a:bodyPr wrap="square" lIns="0" tIns="0" rIns="0" bIns="0" rtlCol="0" anchor="t"/>
          <a:lstStyle/>
          <a:p>
            <a:pPr algn="l" indent="0" marL="0">
              <a:buNone/>
            </a:pPr>
            <a:r>
              <a:rPr lang="en-US" sz="1180" dirty="0">
                <a:solidFill>
                  <a:srgbClr val="243B53"/>
                </a:solidFill>
                <a:latin typeface="Aptos" pitchFamily="34" charset="0"/>
                <a:ea typeface="Aptos" pitchFamily="34" charset="-122"/>
                <a:cs typeface="Aptos" pitchFamily="34" charset="-120"/>
              </a:rPr>
              <a:t>Permiso</a:t>
            </a:r>
            <a:endParaRPr lang="en-US" sz="1180" dirty="0"/>
          </a:p>
        </p:txBody>
      </p:sp>
      <p:sp>
        <p:nvSpPr>
          <p:cNvPr id="23" name="Shape 20"/>
          <p:cNvSpPr/>
          <p:nvPr/>
        </p:nvSpPr>
        <p:spPr>
          <a:xfrm>
            <a:off x="658368" y="2834640"/>
            <a:ext cx="45720" cy="182880"/>
          </a:xfrm>
          <a:prstGeom prst="rect">
            <a:avLst/>
          </a:prstGeom>
          <a:solidFill>
            <a:srgbClr val="8A6A12"/>
          </a:solidFill>
          <a:ln w="12700">
            <a:solidFill>
              <a:srgbClr val="8A6A12"/>
            </a:solidFill>
            <a:prstDash val="solid"/>
          </a:ln>
        </p:spPr>
      </p:sp>
      <p:sp>
        <p:nvSpPr>
          <p:cNvPr id="24" name="Text 21"/>
          <p:cNvSpPr txBox="1"/>
          <p:nvPr/>
        </p:nvSpPr>
        <p:spPr>
          <a:xfrm>
            <a:off x="804672" y="2825496"/>
            <a:ext cx="10241280" cy="201168"/>
          </a:xfrm>
          <a:prstGeom prst="rect">
            <a:avLst/>
          </a:prstGeom>
          <a:noFill/>
          <a:ln/>
        </p:spPr>
        <p:txBody>
          <a:bodyPr wrap="square" lIns="0" tIns="0" rIns="0" bIns="0" rtlCol="0" anchor="t"/>
          <a:lstStyle/>
          <a:p>
            <a:pPr algn="l" indent="0" marL="0">
              <a:buNone/>
            </a:pPr>
            <a:r>
              <a:rPr lang="en-US" sz="880" i="1" dirty="0">
                <a:solidFill>
                  <a:srgbClr val="52606D"/>
                </a:solidFill>
                <a:latin typeface="Aptos" pitchFamily="34" charset="0"/>
                <a:ea typeface="Aptos" pitchFamily="34" charset="-122"/>
                <a:cs typeface="Aptos" pitchFamily="34" charset="-120"/>
              </a:rPr>
              <a:t>Los tres verbos con que la norma marca qué es obligatorio, qué se recomienda y qué se permite.</a:t>
            </a:r>
            <a:endParaRPr lang="en-US" sz="880" dirty="0"/>
          </a:p>
        </p:txBody>
      </p:sp>
      <p:sp>
        <p:nvSpPr>
          <p:cNvPr id="25" name="Shape 22"/>
          <p:cNvSpPr/>
          <p:nvPr/>
        </p:nvSpPr>
        <p:spPr>
          <a:xfrm>
            <a:off x="658368" y="3145536"/>
            <a:ext cx="5349240" cy="1371600"/>
          </a:xfrm>
          <a:prstGeom prst="rect">
            <a:avLst/>
          </a:prstGeom>
          <a:solidFill>
            <a:srgbClr val="FFFFFF"/>
          </a:solidFill>
          <a:ln w="12700">
            <a:solidFill>
              <a:srgbClr val="FFFFFF"/>
            </a:solidFill>
            <a:prstDash val="solid"/>
          </a:ln>
        </p:spPr>
      </p:sp>
      <p:sp>
        <p:nvSpPr>
          <p:cNvPr id="26" name="Shape 23"/>
          <p:cNvSpPr/>
          <p:nvPr/>
        </p:nvSpPr>
        <p:spPr>
          <a:xfrm>
            <a:off x="658368" y="3145536"/>
            <a:ext cx="5349240" cy="54864"/>
          </a:xfrm>
          <a:prstGeom prst="rect">
            <a:avLst/>
          </a:prstGeom>
          <a:solidFill>
            <a:srgbClr val="102A43"/>
          </a:solidFill>
          <a:ln w="12700">
            <a:solidFill>
              <a:srgbClr val="102A43"/>
            </a:solidFill>
            <a:prstDash val="solid"/>
          </a:ln>
        </p:spPr>
      </p:sp>
      <p:sp>
        <p:nvSpPr>
          <p:cNvPr id="27" name="Text 24"/>
          <p:cNvSpPr txBox="1"/>
          <p:nvPr/>
        </p:nvSpPr>
        <p:spPr>
          <a:xfrm>
            <a:off x="914400" y="3310128"/>
            <a:ext cx="4846320" cy="292608"/>
          </a:xfrm>
          <a:prstGeom prst="rect">
            <a:avLst/>
          </a:prstGeom>
          <a:noFill/>
          <a:ln/>
        </p:spPr>
        <p:txBody>
          <a:bodyPr wrap="square" lIns="0" tIns="0" rIns="0" bIns="0" rtlCol="0" anchor="t"/>
          <a:lstStyle/>
          <a:p>
            <a:pPr algn="l" indent="0" marL="0">
              <a:buNone/>
            </a:pPr>
            <a:r>
              <a:rPr lang="en-US" sz="1650" b="1" dirty="0">
                <a:solidFill>
                  <a:srgbClr val="102A43"/>
                </a:solidFill>
                <a:latin typeface="Aptos" pitchFamily="34" charset="0"/>
                <a:ea typeface="Aptos" pitchFamily="34" charset="-122"/>
                <a:cs typeface="Aptos" pitchFamily="34" charset="-120"/>
              </a:rPr>
              <a:t>Conformidad completa</a:t>
            </a:r>
            <a:endParaRPr lang="en-US" sz="1650" dirty="0"/>
          </a:p>
        </p:txBody>
      </p:sp>
      <p:sp>
        <p:nvSpPr>
          <p:cNvPr id="28" name="Text 25"/>
          <p:cNvSpPr txBox="1"/>
          <p:nvPr/>
        </p:nvSpPr>
        <p:spPr>
          <a:xfrm>
            <a:off x="914400" y="3657600"/>
            <a:ext cx="4846320" cy="237744"/>
          </a:xfrm>
          <a:prstGeom prst="rect">
            <a:avLst/>
          </a:prstGeom>
          <a:noFill/>
          <a:ln/>
        </p:spPr>
        <p:txBody>
          <a:bodyPr wrap="square" lIns="0" tIns="0" rIns="0" bIns="0" rtlCol="0" anchor="t"/>
          <a:lstStyle/>
          <a:p>
            <a:pPr algn="l" indent="0" marL="0">
              <a:buNone/>
            </a:pPr>
            <a:r>
              <a:rPr lang="en-US" sz="1140" dirty="0">
                <a:solidFill>
                  <a:srgbClr val="243B53"/>
                </a:solidFill>
                <a:latin typeface="Aptos" pitchFamily="34" charset="0"/>
                <a:ea typeface="Aptos" pitchFamily="34" charset="-122"/>
                <a:cs typeface="Aptos" pitchFamily="34" charset="-120"/>
              </a:rPr>
              <a:t>Se cumplen todos los requisitos de las cláusulas 5 a 8.</a:t>
            </a:r>
            <a:endParaRPr lang="en-US" sz="1140" dirty="0"/>
          </a:p>
        </p:txBody>
      </p:sp>
      <p:sp>
        <p:nvSpPr>
          <p:cNvPr id="29" name="Shape 26"/>
          <p:cNvSpPr/>
          <p:nvPr/>
        </p:nvSpPr>
        <p:spPr>
          <a:xfrm>
            <a:off x="6181344" y="3145536"/>
            <a:ext cx="5349240" cy="1371600"/>
          </a:xfrm>
          <a:prstGeom prst="rect">
            <a:avLst/>
          </a:prstGeom>
          <a:solidFill>
            <a:srgbClr val="F2E7D9"/>
          </a:solidFill>
          <a:ln w="12700">
            <a:solidFill>
              <a:srgbClr val="F2E7D9"/>
            </a:solidFill>
            <a:prstDash val="solid"/>
          </a:ln>
        </p:spPr>
      </p:sp>
      <p:sp>
        <p:nvSpPr>
          <p:cNvPr id="30" name="Shape 27"/>
          <p:cNvSpPr/>
          <p:nvPr/>
        </p:nvSpPr>
        <p:spPr>
          <a:xfrm>
            <a:off x="6181344" y="3145536"/>
            <a:ext cx="5349240" cy="54864"/>
          </a:xfrm>
          <a:prstGeom prst="rect">
            <a:avLst/>
          </a:prstGeom>
          <a:solidFill>
            <a:srgbClr val="B3181E"/>
          </a:solidFill>
          <a:ln w="12700">
            <a:solidFill>
              <a:srgbClr val="B3181E"/>
            </a:solidFill>
            <a:prstDash val="solid"/>
          </a:ln>
        </p:spPr>
      </p:sp>
      <p:sp>
        <p:nvSpPr>
          <p:cNvPr id="31" name="Text 28"/>
          <p:cNvSpPr txBox="1"/>
          <p:nvPr/>
        </p:nvSpPr>
        <p:spPr>
          <a:xfrm>
            <a:off x="6437376" y="3310128"/>
            <a:ext cx="4846320" cy="292608"/>
          </a:xfrm>
          <a:prstGeom prst="rect">
            <a:avLst/>
          </a:prstGeom>
          <a:noFill/>
          <a:ln/>
        </p:spPr>
        <p:txBody>
          <a:bodyPr wrap="square" lIns="0" tIns="0" rIns="0" bIns="0" rtlCol="0" anchor="t"/>
          <a:lstStyle/>
          <a:p>
            <a:pPr algn="l" indent="0" marL="0">
              <a:buNone/>
            </a:pPr>
            <a:r>
              <a:rPr lang="en-US" sz="1650" b="1" dirty="0">
                <a:solidFill>
                  <a:srgbClr val="B3181E"/>
                </a:solidFill>
                <a:latin typeface="Aptos" pitchFamily="34" charset="0"/>
                <a:ea typeface="Aptos" pitchFamily="34" charset="-122"/>
                <a:cs typeface="Aptos" pitchFamily="34" charset="-120"/>
              </a:rPr>
              <a:t>Conformidad adaptada</a:t>
            </a:r>
            <a:endParaRPr lang="en-US" sz="1650" dirty="0"/>
          </a:p>
        </p:txBody>
      </p:sp>
      <p:sp>
        <p:nvSpPr>
          <p:cNvPr id="32" name="Text 29"/>
          <p:cNvSpPr txBox="1"/>
          <p:nvPr/>
        </p:nvSpPr>
        <p:spPr>
          <a:xfrm>
            <a:off x="6437376" y="3657600"/>
            <a:ext cx="4846320" cy="237744"/>
          </a:xfrm>
          <a:prstGeom prst="rect">
            <a:avLst/>
          </a:prstGeom>
          <a:noFill/>
          <a:ln/>
        </p:spPr>
        <p:txBody>
          <a:bodyPr wrap="square" lIns="0" tIns="0" rIns="0" bIns="0" rtlCol="0" anchor="t"/>
          <a:lstStyle/>
          <a:p>
            <a:pPr algn="l" indent="0" marL="0">
              <a:buNone/>
            </a:pPr>
            <a:r>
              <a:rPr lang="en-US" sz="1140" dirty="0">
                <a:solidFill>
                  <a:srgbClr val="243B53"/>
                </a:solidFill>
                <a:latin typeface="Aptos" pitchFamily="34" charset="0"/>
                <a:ea typeface="Aptos" pitchFamily="34" charset="-122"/>
                <a:cs typeface="Aptos" pitchFamily="34" charset="-120"/>
              </a:rPr>
              <a:t>Permitida. Y viene con dos exigencias, las dos escritas con shall.</a:t>
            </a:r>
            <a:endParaRPr lang="en-US" sz="1140" dirty="0"/>
          </a:p>
        </p:txBody>
      </p:sp>
      <p:sp>
        <p:nvSpPr>
          <p:cNvPr id="33" name="Text 30"/>
          <p:cNvSpPr txBox="1"/>
          <p:nvPr/>
        </p:nvSpPr>
        <p:spPr>
          <a:xfrm>
            <a:off x="6437376" y="3968496"/>
            <a:ext cx="4846320" cy="237744"/>
          </a:xfrm>
          <a:prstGeom prst="rect">
            <a:avLst/>
          </a:prstGeom>
          <a:noFill/>
          <a:ln/>
        </p:spPr>
        <p:txBody>
          <a:bodyPr wrap="square" lIns="0" tIns="0" rIns="0" bIns="0" rtlCol="0" anchor="t"/>
          <a:lstStyle/>
          <a:p>
            <a:pPr algn="l" indent="0" marL="0">
              <a:buNone/>
            </a:pPr>
            <a:r>
              <a:rPr lang="en-US" sz="1100" b="1" dirty="0">
                <a:solidFill>
                  <a:srgbClr val="243B53"/>
                </a:solidFill>
                <a:latin typeface="Aptos" pitchFamily="34" charset="0"/>
                <a:ea typeface="Aptos" pitchFamily="34" charset="-122"/>
                <a:cs typeface="Aptos" pitchFamily="34" charset="-120"/>
              </a:rPr>
              <a:t>1 · Registrar qué subconjunto sí se aplica</a:t>
            </a:r>
            <a:endParaRPr lang="en-US" sz="1100" dirty="0"/>
          </a:p>
        </p:txBody>
      </p:sp>
      <p:sp>
        <p:nvSpPr>
          <p:cNvPr id="34" name="Text 31"/>
          <p:cNvSpPr txBox="1"/>
          <p:nvPr/>
        </p:nvSpPr>
        <p:spPr>
          <a:xfrm>
            <a:off x="6437376" y="4242816"/>
            <a:ext cx="4846320" cy="237744"/>
          </a:xfrm>
          <a:prstGeom prst="rect">
            <a:avLst/>
          </a:prstGeom>
          <a:noFill/>
          <a:ln/>
        </p:spPr>
        <p:txBody>
          <a:bodyPr wrap="square" lIns="0" tIns="0" rIns="0" bIns="0" rtlCol="0" anchor="t"/>
          <a:lstStyle/>
          <a:p>
            <a:pPr algn="l" indent="0" marL="0">
              <a:buNone/>
            </a:pPr>
            <a:r>
              <a:rPr lang="en-US" sz="1100" b="1" dirty="0">
                <a:solidFill>
                  <a:srgbClr val="243B53"/>
                </a:solidFill>
                <a:latin typeface="Aptos" pitchFamily="34" charset="0"/>
                <a:ea typeface="Aptos" pitchFamily="34" charset="-122"/>
                <a:cs typeface="Aptos" pitchFamily="34" charset="-120"/>
              </a:rPr>
              <a:t>2 · Justificar cada recorte</a:t>
            </a:r>
            <a:endParaRPr lang="en-US" sz="1100" dirty="0"/>
          </a:p>
        </p:txBody>
      </p:sp>
      <p:sp>
        <p:nvSpPr>
          <p:cNvPr id="35" name="Shape 32"/>
          <p:cNvSpPr/>
          <p:nvPr/>
        </p:nvSpPr>
        <p:spPr>
          <a:xfrm>
            <a:off x="658368" y="4608576"/>
            <a:ext cx="10874959" cy="950976"/>
          </a:xfrm>
          <a:prstGeom prst="rect">
            <a:avLst/>
          </a:prstGeom>
          <a:solidFill>
            <a:srgbClr val="EDE6DA"/>
          </a:solidFill>
          <a:ln w="12700">
            <a:solidFill>
              <a:srgbClr val="EDE6DA"/>
            </a:solidFill>
            <a:prstDash val="solid"/>
          </a:ln>
        </p:spPr>
      </p:sp>
      <p:sp>
        <p:nvSpPr>
          <p:cNvPr id="36" name="Shape 33"/>
          <p:cNvSpPr/>
          <p:nvPr/>
        </p:nvSpPr>
        <p:spPr>
          <a:xfrm>
            <a:off x="658368" y="4608576"/>
            <a:ext cx="54864" cy="950976"/>
          </a:xfrm>
          <a:prstGeom prst="rect">
            <a:avLst/>
          </a:prstGeom>
          <a:solidFill>
            <a:srgbClr val="B3181E"/>
          </a:solidFill>
          <a:ln w="12700">
            <a:solidFill>
              <a:srgbClr val="B3181E"/>
            </a:solidFill>
            <a:prstDash val="solid"/>
          </a:ln>
        </p:spPr>
      </p:sp>
      <p:sp>
        <p:nvSpPr>
          <p:cNvPr id="37" name="Text 34"/>
          <p:cNvSpPr txBox="1"/>
          <p:nvPr/>
        </p:nvSpPr>
        <p:spPr>
          <a:xfrm>
            <a:off x="914400" y="4736592"/>
            <a:ext cx="10362895" cy="512064"/>
          </a:xfrm>
          <a:prstGeom prst="rect">
            <a:avLst/>
          </a:prstGeom>
          <a:noFill/>
          <a:ln/>
        </p:spPr>
        <p:txBody>
          <a:bodyPr wrap="square" lIns="0" tIns="0" rIns="0" bIns="0" rtlCol="0" anchor="t"/>
          <a:lstStyle/>
          <a:p>
            <a:pPr algn="l" indent="0" marL="0">
              <a:lnSpc>
                <a:spcPct val="116000"/>
              </a:lnSpc>
              <a:buNone/>
            </a:pPr>
            <a:r>
              <a:rPr lang="en-US" sz="1180" i="1" dirty="0">
                <a:solidFill>
                  <a:srgbClr val="243B53"/>
                </a:solidFill>
                <a:latin typeface="Aptos" pitchFamily="34" charset="0"/>
                <a:ea typeface="Aptos" pitchFamily="34" charset="-122"/>
                <a:cs typeface="Aptos" pitchFamily="34" charset="-120"/>
              </a:rPr>
              <a:t>«Cuando este documento se use como base para una documentación de pruebas que no alcanza la conformidad completa, deberá registrarse el subconjunto para el que se declara conformidad adaptada. Donde haya recorte, deberá entregarse una justificación.»</a:t>
            </a:r>
            <a:endParaRPr lang="en-US" sz="1180" dirty="0"/>
          </a:p>
        </p:txBody>
      </p:sp>
      <p:sp>
        <p:nvSpPr>
          <p:cNvPr id="38" name="Text 35"/>
          <p:cNvSpPr txBox="1"/>
          <p:nvPr/>
        </p:nvSpPr>
        <p:spPr>
          <a:xfrm>
            <a:off x="914400" y="5285232"/>
            <a:ext cx="10362895" cy="182880"/>
          </a:xfrm>
          <a:prstGeom prst="rect">
            <a:avLst/>
          </a:prstGeom>
          <a:noFill/>
          <a:ln/>
        </p:spPr>
        <p:txBody>
          <a:bodyPr wrap="square" lIns="0" tIns="0" rIns="0" bIns="0" rtlCol="0" anchor="t"/>
          <a:lstStyle/>
          <a:p>
            <a:pPr algn="l" indent="0" marL="0">
              <a:buNone/>
            </a:pPr>
            <a:r>
              <a:rPr lang="en-US" sz="900" b="1" dirty="0">
                <a:solidFill>
                  <a:srgbClr val="B3181E"/>
                </a:solidFill>
                <a:latin typeface="Aptos" pitchFamily="34" charset="0"/>
                <a:ea typeface="Aptos" pitchFamily="34" charset="-122"/>
                <a:cs typeface="Aptos" pitchFamily="34" charset="-120"/>
              </a:rPr>
              <a:t>ISO/IEC/IEEE 29119-3:2021, cláusula 4.1.3 · traducción del original en inglés</a:t>
            </a:r>
            <a:endParaRPr lang="en-US" sz="900" dirty="0"/>
          </a:p>
        </p:txBody>
      </p:sp>
      <p:sp>
        <p:nvSpPr>
          <p:cNvPr id="39" name="Shape 36"/>
          <p:cNvSpPr/>
          <p:nvPr/>
        </p:nvSpPr>
        <p:spPr>
          <a:xfrm>
            <a:off x="658368" y="5669280"/>
            <a:ext cx="10874959" cy="457200"/>
          </a:xfrm>
          <a:prstGeom prst="rect">
            <a:avLst/>
          </a:prstGeom>
          <a:solidFill>
            <a:srgbClr val="102A43"/>
          </a:solidFill>
          <a:ln w="12700">
            <a:solidFill>
              <a:srgbClr val="102A43"/>
            </a:solidFill>
            <a:prstDash val="solid"/>
          </a:ln>
        </p:spPr>
      </p:sp>
      <p:sp>
        <p:nvSpPr>
          <p:cNvPr id="40" name="Text 37"/>
          <p:cNvSpPr txBox="1"/>
          <p:nvPr/>
        </p:nvSpPr>
        <p:spPr>
          <a:xfrm>
            <a:off x="950976" y="5705856"/>
            <a:ext cx="10289743" cy="38404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Omitir con criterio declarado es conformidad; omitir en silencio, no.</a:t>
            </a:r>
            <a:endParaRPr lang="en-US" sz="138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13</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1 · EL EXPERIMENTO</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Un plan escrito por un agente en un minuto</a:t>
            </a:r>
            <a:endParaRPr lang="en-US" sz="3000" dirty="0"/>
          </a:p>
        </p:txBody>
      </p:sp>
      <p:sp>
        <p:nvSpPr>
          <p:cNvPr id="10" name="Text 7"/>
          <p:cNvSpPr txBox="1"/>
          <p:nvPr/>
        </p:nvSpPr>
        <p:spPr>
          <a:xfrm>
            <a:off x="658368" y="1664208"/>
            <a:ext cx="10424160" cy="347472"/>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Mismo montaje que la Unidad 1: acceso solo de lectura. No puede escribir, ni ejecutar, ni correr la suite.</a:t>
            </a:r>
            <a:endParaRPr lang="en-US" sz="1420" dirty="0"/>
          </a:p>
        </p:txBody>
      </p:sp>
      <p:sp>
        <p:nvSpPr>
          <p:cNvPr id="11" name="Shape 8"/>
          <p:cNvSpPr/>
          <p:nvPr/>
        </p:nvSpPr>
        <p:spPr>
          <a:xfrm>
            <a:off x="658368" y="2231136"/>
            <a:ext cx="5760720" cy="1645920"/>
          </a:xfrm>
          <a:prstGeom prst="roundRect">
            <a:avLst>
              <a:gd name="adj" fmla="val 2222"/>
            </a:avLst>
          </a:prstGeom>
          <a:solidFill>
            <a:srgbClr val="0F1720"/>
          </a:solidFill>
          <a:ln w="12700">
            <a:solidFill>
              <a:srgbClr val="0F1720"/>
            </a:solidFill>
            <a:prstDash val="solid"/>
          </a:ln>
        </p:spPr>
      </p:sp>
      <p:sp>
        <p:nvSpPr>
          <p:cNvPr id="12" name="Shape 9"/>
          <p:cNvSpPr/>
          <p:nvPr/>
        </p:nvSpPr>
        <p:spPr>
          <a:xfrm>
            <a:off x="786384" y="2340864"/>
            <a:ext cx="5504688" cy="310896"/>
          </a:xfrm>
          <a:prstGeom prst="roundRect">
            <a:avLst>
              <a:gd name="adj" fmla="val 8824"/>
            </a:avLst>
          </a:prstGeom>
          <a:solidFill>
            <a:srgbClr val="1E2937"/>
          </a:solidFill>
          <a:ln w="12700">
            <a:solidFill>
              <a:srgbClr val="1E2937"/>
            </a:solidFill>
            <a:prstDash val="solid"/>
          </a:ln>
        </p:spPr>
      </p:sp>
      <p:sp>
        <p:nvSpPr>
          <p:cNvPr id="13" name="Text 10"/>
          <p:cNvSpPr/>
          <p:nvPr/>
        </p:nvSpPr>
        <p:spPr>
          <a:xfrm>
            <a:off x="914400" y="2414016"/>
            <a:ext cx="5248656" cy="128016"/>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La instrucción, tal como se escribió</a:t>
            </a:r>
            <a:endParaRPr lang="en-US" sz="1000" dirty="0"/>
          </a:p>
        </p:txBody>
      </p:sp>
      <p:sp>
        <p:nvSpPr>
          <p:cNvPr id="14" name="Text 11"/>
          <p:cNvSpPr/>
          <p:nvPr/>
        </p:nvSpPr>
        <p:spPr>
          <a:xfrm>
            <a:off x="877824" y="2798064"/>
            <a:ext cx="5010912" cy="164592"/>
          </a:xfrm>
          <a:prstGeom prst="rect">
            <a:avLst/>
          </a:prstGeom>
          <a:noFill/>
          <a:ln/>
        </p:spPr>
        <p:txBody>
          <a:bodyPr wrap="square" lIns="0" tIns="0" rIns="0" bIns="0" rtlCol="0" anchor="ctr"/>
          <a:lstStyle/>
          <a:p>
            <a:pPr indent="0" marL="0">
              <a:buNone/>
            </a:pPr>
            <a:r>
              <a:rPr lang="en-US" sz="960" dirty="0">
                <a:solidFill>
                  <a:srgbClr val="E6EEF7"/>
                </a:solidFill>
                <a:latin typeface="Consolas" pitchFamily="34" charset="0"/>
                <a:ea typeface="Consolas" pitchFamily="34" charset="-122"/>
                <a:cs typeface="Consolas" pitchFamily="34" charset="-120"/>
              </a:rPr>
              <a:t>&gt; claude -p "Escribe el plan de pruebas de este</a:t>
            </a:r>
            <a:endParaRPr lang="en-US" sz="960" dirty="0"/>
          </a:p>
        </p:txBody>
      </p:sp>
      <p:sp>
        <p:nvSpPr>
          <p:cNvPr id="15" name="Text 12"/>
          <p:cNvSpPr/>
          <p:nvPr/>
        </p:nvSpPr>
        <p:spPr>
          <a:xfrm>
            <a:off x="877824" y="3054096"/>
            <a:ext cx="5010912" cy="164592"/>
          </a:xfrm>
          <a:prstGeom prst="rect">
            <a:avLst/>
          </a:prstGeom>
          <a:noFill/>
          <a:ln/>
        </p:spPr>
        <p:txBody>
          <a:bodyPr wrap="square" lIns="0" tIns="0" rIns="0" bIns="0" rtlCol="0" anchor="ctr"/>
          <a:lstStyle/>
          <a:p>
            <a:pPr indent="0" marL="0">
              <a:buNone/>
            </a:pPr>
            <a:r>
              <a:rPr lang="en-US" sz="960" dirty="0">
                <a:solidFill>
                  <a:srgbClr val="E6EEF7"/>
                </a:solidFill>
                <a:latin typeface="Consolas" pitchFamily="34" charset="0"/>
                <a:ea typeface="Consolas" pitchFamily="34" charset="-122"/>
                <a:cs typeface="Consolas" pitchFamily="34" charset="-120"/>
              </a:rPr>
              <a:t>  proyecto segun ISO/IEC/IEEE 29119-3."</a:t>
            </a:r>
            <a:endParaRPr lang="en-US" sz="960" dirty="0"/>
          </a:p>
        </p:txBody>
      </p:sp>
      <p:sp>
        <p:nvSpPr>
          <p:cNvPr id="16" name="Text 13"/>
          <p:cNvSpPr/>
          <p:nvPr/>
        </p:nvSpPr>
        <p:spPr>
          <a:xfrm>
            <a:off x="877824" y="3310128"/>
            <a:ext cx="5010912" cy="164592"/>
          </a:xfrm>
          <a:prstGeom prst="rect">
            <a:avLst/>
          </a:prstGeom>
          <a:noFill/>
          <a:ln/>
        </p:spPr>
        <p:txBody>
          <a:bodyPr wrap="square" lIns="0" tIns="0" rIns="0" bIns="0" rtlCol="0" anchor="ctr"/>
          <a:lstStyle/>
          <a:p>
            <a:pPr indent="0" marL="0">
              <a:buNone/>
            </a:pPr>
            <a:r>
              <a:rPr lang="en-US" sz="960" dirty="0">
                <a:solidFill>
                  <a:srgbClr val="E6EEF7"/>
                </a:solidFill>
                <a:latin typeface="Consolas" pitchFamily="34" charset="0"/>
                <a:ea typeface="Consolas" pitchFamily="34" charset="-122"/>
                <a:cs typeface="Consolas" pitchFamily="34" charset="-120"/>
              </a:rPr>
              <a:t>  --allowed-tools "Read,Glob,Grep"</a:t>
            </a:r>
            <a:endParaRPr lang="en-US" sz="960" dirty="0"/>
          </a:p>
        </p:txBody>
      </p:sp>
      <p:sp>
        <p:nvSpPr>
          <p:cNvPr id="17" name="Shape 14"/>
          <p:cNvSpPr/>
          <p:nvPr/>
        </p:nvSpPr>
        <p:spPr>
          <a:xfrm>
            <a:off x="6565392" y="2231136"/>
            <a:ext cx="2432304" cy="768096"/>
          </a:xfrm>
          <a:prstGeom prst="rect">
            <a:avLst/>
          </a:prstGeom>
          <a:solidFill>
            <a:srgbClr val="FFFFFF"/>
          </a:solidFill>
          <a:ln w="12700">
            <a:solidFill>
              <a:srgbClr val="FFFFFF"/>
            </a:solidFill>
            <a:prstDash val="solid"/>
          </a:ln>
        </p:spPr>
      </p:sp>
      <p:sp>
        <p:nvSpPr>
          <p:cNvPr id="18" name="Shape 15"/>
          <p:cNvSpPr/>
          <p:nvPr/>
        </p:nvSpPr>
        <p:spPr>
          <a:xfrm>
            <a:off x="6565392" y="2231136"/>
            <a:ext cx="2432304" cy="54864"/>
          </a:xfrm>
          <a:prstGeom prst="rect">
            <a:avLst/>
          </a:prstGeom>
          <a:solidFill>
            <a:srgbClr val="102A43"/>
          </a:solidFill>
          <a:ln w="12700">
            <a:solidFill>
              <a:srgbClr val="102A43"/>
            </a:solidFill>
            <a:prstDash val="solid"/>
          </a:ln>
        </p:spPr>
      </p:sp>
      <p:sp>
        <p:nvSpPr>
          <p:cNvPr id="19" name="Text 16"/>
          <p:cNvSpPr txBox="1"/>
          <p:nvPr/>
        </p:nvSpPr>
        <p:spPr>
          <a:xfrm>
            <a:off x="6748272" y="2359152"/>
            <a:ext cx="2066544" cy="384048"/>
          </a:xfrm>
          <a:prstGeom prst="rect">
            <a:avLst/>
          </a:prstGeom>
          <a:noFill/>
          <a:ln/>
        </p:spPr>
        <p:txBody>
          <a:bodyPr wrap="square" lIns="0" tIns="0" rIns="0" bIns="0" rtlCol="0" anchor="t"/>
          <a:lstStyle/>
          <a:p>
            <a:pPr algn="l" indent="0" marL="0">
              <a:buNone/>
            </a:pPr>
            <a:r>
              <a:rPr lang="en-US" sz="2700" b="1" dirty="0">
                <a:solidFill>
                  <a:srgbClr val="102A43"/>
                </a:solidFill>
                <a:latin typeface="Aptos Display" pitchFamily="34" charset="0"/>
                <a:ea typeface="Aptos Display" pitchFamily="34" charset="-122"/>
                <a:cs typeface="Aptos Display" pitchFamily="34" charset="-120"/>
              </a:rPr>
              <a:t>365</a:t>
            </a:r>
            <a:endParaRPr lang="en-US" sz="2700" dirty="0"/>
          </a:p>
        </p:txBody>
      </p:sp>
      <p:sp>
        <p:nvSpPr>
          <p:cNvPr id="20" name="Text 17"/>
          <p:cNvSpPr txBox="1"/>
          <p:nvPr/>
        </p:nvSpPr>
        <p:spPr>
          <a:xfrm>
            <a:off x="6748272" y="2761488"/>
            <a:ext cx="2066544" cy="201168"/>
          </a:xfrm>
          <a:prstGeom prst="rect">
            <a:avLst/>
          </a:prstGeom>
          <a:noFill/>
          <a:ln/>
        </p:spPr>
        <p:txBody>
          <a:bodyPr wrap="square" lIns="0" tIns="0" rIns="0" bIns="0" rtlCol="0" anchor="t"/>
          <a:lstStyle/>
          <a:p>
            <a:pPr algn="l" indent="0" marL="0">
              <a:buNone/>
            </a:pPr>
            <a:r>
              <a:rPr lang="en-US" sz="1000" dirty="0">
                <a:solidFill>
                  <a:srgbClr val="52606D"/>
                </a:solidFill>
                <a:latin typeface="Aptos" pitchFamily="34" charset="0"/>
                <a:ea typeface="Aptos" pitchFamily="34" charset="-122"/>
                <a:cs typeface="Aptos" pitchFamily="34" charset="-120"/>
              </a:rPr>
              <a:t>líneas de documento</a:t>
            </a:r>
            <a:endParaRPr lang="en-US" sz="1000" dirty="0"/>
          </a:p>
        </p:txBody>
      </p:sp>
      <p:sp>
        <p:nvSpPr>
          <p:cNvPr id="21" name="Shape 18"/>
          <p:cNvSpPr/>
          <p:nvPr/>
        </p:nvSpPr>
        <p:spPr>
          <a:xfrm>
            <a:off x="9107424" y="2231136"/>
            <a:ext cx="2432304" cy="768096"/>
          </a:xfrm>
          <a:prstGeom prst="rect">
            <a:avLst/>
          </a:prstGeom>
          <a:solidFill>
            <a:srgbClr val="FFFFFF"/>
          </a:solidFill>
          <a:ln w="12700">
            <a:solidFill>
              <a:srgbClr val="FFFFFF"/>
            </a:solidFill>
            <a:prstDash val="solid"/>
          </a:ln>
        </p:spPr>
      </p:sp>
      <p:sp>
        <p:nvSpPr>
          <p:cNvPr id="22" name="Shape 19"/>
          <p:cNvSpPr/>
          <p:nvPr/>
        </p:nvSpPr>
        <p:spPr>
          <a:xfrm>
            <a:off x="9107424" y="2231136"/>
            <a:ext cx="2432304" cy="54864"/>
          </a:xfrm>
          <a:prstGeom prst="rect">
            <a:avLst/>
          </a:prstGeom>
          <a:solidFill>
            <a:srgbClr val="102A43"/>
          </a:solidFill>
          <a:ln w="12700">
            <a:solidFill>
              <a:srgbClr val="102A43"/>
            </a:solidFill>
            <a:prstDash val="solid"/>
          </a:ln>
        </p:spPr>
      </p:sp>
      <p:sp>
        <p:nvSpPr>
          <p:cNvPr id="23" name="Text 20"/>
          <p:cNvSpPr txBox="1"/>
          <p:nvPr/>
        </p:nvSpPr>
        <p:spPr>
          <a:xfrm>
            <a:off x="9290304" y="2359152"/>
            <a:ext cx="2066544" cy="384048"/>
          </a:xfrm>
          <a:prstGeom prst="rect">
            <a:avLst/>
          </a:prstGeom>
          <a:noFill/>
          <a:ln/>
        </p:spPr>
        <p:txBody>
          <a:bodyPr wrap="square" lIns="0" tIns="0" rIns="0" bIns="0" rtlCol="0" anchor="t"/>
          <a:lstStyle/>
          <a:p>
            <a:pPr algn="l" indent="0" marL="0">
              <a:buNone/>
            </a:pPr>
            <a:r>
              <a:rPr lang="en-US" sz="2700" b="1" dirty="0">
                <a:solidFill>
                  <a:srgbClr val="102A43"/>
                </a:solidFill>
                <a:latin typeface="Aptos Display" pitchFamily="34" charset="0"/>
                <a:ea typeface="Aptos Display" pitchFamily="34" charset="-122"/>
                <a:cs typeface="Aptos Display" pitchFamily="34" charset="-120"/>
              </a:rPr>
              <a:t>10</a:t>
            </a:r>
            <a:endParaRPr lang="en-US" sz="2700" dirty="0"/>
          </a:p>
        </p:txBody>
      </p:sp>
      <p:sp>
        <p:nvSpPr>
          <p:cNvPr id="24" name="Text 21"/>
          <p:cNvSpPr txBox="1"/>
          <p:nvPr/>
        </p:nvSpPr>
        <p:spPr>
          <a:xfrm>
            <a:off x="9290304" y="2761488"/>
            <a:ext cx="2066544" cy="201168"/>
          </a:xfrm>
          <a:prstGeom prst="rect">
            <a:avLst/>
          </a:prstGeom>
          <a:noFill/>
          <a:ln/>
        </p:spPr>
        <p:txBody>
          <a:bodyPr wrap="square" lIns="0" tIns="0" rIns="0" bIns="0" rtlCol="0" anchor="t"/>
          <a:lstStyle/>
          <a:p>
            <a:pPr algn="l" indent="0" marL="0">
              <a:buNone/>
            </a:pPr>
            <a:r>
              <a:rPr lang="en-US" sz="1000" dirty="0">
                <a:solidFill>
                  <a:srgbClr val="52606D"/>
                </a:solidFill>
                <a:latin typeface="Aptos" pitchFamily="34" charset="0"/>
                <a:ea typeface="Aptos" pitchFamily="34" charset="-122"/>
                <a:cs typeface="Aptos" pitchFamily="34" charset="-120"/>
              </a:rPr>
              <a:t>subcláusulas cubiertas</a:t>
            </a:r>
            <a:endParaRPr lang="en-US" sz="1000" dirty="0"/>
          </a:p>
        </p:txBody>
      </p:sp>
      <p:sp>
        <p:nvSpPr>
          <p:cNvPr id="25" name="Shape 22"/>
          <p:cNvSpPr/>
          <p:nvPr/>
        </p:nvSpPr>
        <p:spPr>
          <a:xfrm>
            <a:off x="6565392" y="3090672"/>
            <a:ext cx="2432304" cy="768096"/>
          </a:xfrm>
          <a:prstGeom prst="rect">
            <a:avLst/>
          </a:prstGeom>
          <a:solidFill>
            <a:srgbClr val="FFFFFF"/>
          </a:solidFill>
          <a:ln w="12700">
            <a:solidFill>
              <a:srgbClr val="FFFFFF"/>
            </a:solidFill>
            <a:prstDash val="solid"/>
          </a:ln>
        </p:spPr>
      </p:sp>
      <p:sp>
        <p:nvSpPr>
          <p:cNvPr id="26" name="Shape 23"/>
          <p:cNvSpPr/>
          <p:nvPr/>
        </p:nvSpPr>
        <p:spPr>
          <a:xfrm>
            <a:off x="6565392" y="3090672"/>
            <a:ext cx="2432304" cy="54864"/>
          </a:xfrm>
          <a:prstGeom prst="rect">
            <a:avLst/>
          </a:prstGeom>
          <a:solidFill>
            <a:srgbClr val="2E7D4F"/>
          </a:solidFill>
          <a:ln w="12700">
            <a:solidFill>
              <a:srgbClr val="2E7D4F"/>
            </a:solidFill>
            <a:prstDash val="solid"/>
          </a:ln>
        </p:spPr>
      </p:sp>
      <p:sp>
        <p:nvSpPr>
          <p:cNvPr id="27" name="Text 24"/>
          <p:cNvSpPr txBox="1"/>
          <p:nvPr/>
        </p:nvSpPr>
        <p:spPr>
          <a:xfrm>
            <a:off x="6748272" y="3218688"/>
            <a:ext cx="2066544" cy="384048"/>
          </a:xfrm>
          <a:prstGeom prst="rect">
            <a:avLst/>
          </a:prstGeom>
          <a:noFill/>
          <a:ln/>
        </p:spPr>
        <p:txBody>
          <a:bodyPr wrap="square" lIns="0" tIns="0" rIns="0" bIns="0" rtlCol="0" anchor="t"/>
          <a:lstStyle/>
          <a:p>
            <a:pPr algn="l" indent="0" marL="0">
              <a:buNone/>
            </a:pPr>
            <a:r>
              <a:rPr lang="en-US" sz="2700" b="1" dirty="0">
                <a:solidFill>
                  <a:srgbClr val="2E7D4F"/>
                </a:solidFill>
                <a:latin typeface="Aptos Display" pitchFamily="34" charset="0"/>
                <a:ea typeface="Aptos Display" pitchFamily="34" charset="-122"/>
                <a:cs typeface="Aptos Display" pitchFamily="34" charset="-120"/>
              </a:rPr>
              <a:t>6</a:t>
            </a:r>
            <a:endParaRPr lang="en-US" sz="2700" dirty="0"/>
          </a:p>
        </p:txBody>
      </p:sp>
      <p:sp>
        <p:nvSpPr>
          <p:cNvPr id="28" name="Text 25"/>
          <p:cNvSpPr txBox="1"/>
          <p:nvPr/>
        </p:nvSpPr>
        <p:spPr>
          <a:xfrm>
            <a:off x="6748272" y="3621024"/>
            <a:ext cx="2066544" cy="201168"/>
          </a:xfrm>
          <a:prstGeom prst="rect">
            <a:avLst/>
          </a:prstGeom>
          <a:noFill/>
          <a:ln/>
        </p:spPr>
        <p:txBody>
          <a:bodyPr wrap="square" lIns="0" tIns="0" rIns="0" bIns="0" rtlCol="0" anchor="t"/>
          <a:lstStyle/>
          <a:p>
            <a:pPr algn="l" indent="0" marL="0">
              <a:buNone/>
            </a:pPr>
            <a:r>
              <a:rPr lang="en-US" sz="1000" dirty="0">
                <a:solidFill>
                  <a:srgbClr val="52606D"/>
                </a:solidFill>
                <a:latin typeface="Aptos" pitchFamily="34" charset="0"/>
                <a:ea typeface="Aptos" pitchFamily="34" charset="-122"/>
                <a:cs typeface="Aptos" pitchFamily="34" charset="-120"/>
              </a:rPr>
              <a:t>elementos de prueba</a:t>
            </a:r>
            <a:endParaRPr lang="en-US" sz="1000" dirty="0"/>
          </a:p>
        </p:txBody>
      </p:sp>
      <p:sp>
        <p:nvSpPr>
          <p:cNvPr id="29" name="Shape 26"/>
          <p:cNvSpPr/>
          <p:nvPr/>
        </p:nvSpPr>
        <p:spPr>
          <a:xfrm>
            <a:off x="9107424" y="3090672"/>
            <a:ext cx="2432304" cy="768096"/>
          </a:xfrm>
          <a:prstGeom prst="rect">
            <a:avLst/>
          </a:prstGeom>
          <a:solidFill>
            <a:srgbClr val="FFFFFF"/>
          </a:solidFill>
          <a:ln w="12700">
            <a:solidFill>
              <a:srgbClr val="FFFFFF"/>
            </a:solidFill>
            <a:prstDash val="solid"/>
          </a:ln>
        </p:spPr>
      </p:sp>
      <p:sp>
        <p:nvSpPr>
          <p:cNvPr id="30" name="Shape 27"/>
          <p:cNvSpPr/>
          <p:nvPr/>
        </p:nvSpPr>
        <p:spPr>
          <a:xfrm>
            <a:off x="9107424" y="3090672"/>
            <a:ext cx="2432304" cy="54864"/>
          </a:xfrm>
          <a:prstGeom prst="rect">
            <a:avLst/>
          </a:prstGeom>
          <a:solidFill>
            <a:srgbClr val="B3181E"/>
          </a:solidFill>
          <a:ln w="12700">
            <a:solidFill>
              <a:srgbClr val="B3181E"/>
            </a:solidFill>
            <a:prstDash val="solid"/>
          </a:ln>
        </p:spPr>
      </p:sp>
      <p:sp>
        <p:nvSpPr>
          <p:cNvPr id="31" name="Text 28"/>
          <p:cNvSpPr txBox="1"/>
          <p:nvPr/>
        </p:nvSpPr>
        <p:spPr>
          <a:xfrm>
            <a:off x="9290304" y="3218688"/>
            <a:ext cx="2066544" cy="384048"/>
          </a:xfrm>
          <a:prstGeom prst="rect">
            <a:avLst/>
          </a:prstGeom>
          <a:noFill/>
          <a:ln/>
        </p:spPr>
        <p:txBody>
          <a:bodyPr wrap="square" lIns="0" tIns="0" rIns="0" bIns="0" rtlCol="0" anchor="t"/>
          <a:lstStyle/>
          <a:p>
            <a:pPr algn="l" indent="0" marL="0">
              <a:buNone/>
            </a:pPr>
            <a:r>
              <a:rPr lang="en-US" sz="2700" b="1" dirty="0">
                <a:solidFill>
                  <a:srgbClr val="B3181E"/>
                </a:solidFill>
                <a:latin typeface="Aptos Display" pitchFamily="34" charset="0"/>
                <a:ea typeface="Aptos Display" pitchFamily="34" charset="-122"/>
                <a:cs typeface="Aptos Display" pitchFamily="34" charset="-120"/>
              </a:rPr>
              <a:t>16</a:t>
            </a:r>
            <a:endParaRPr lang="en-US" sz="2700" dirty="0"/>
          </a:p>
        </p:txBody>
      </p:sp>
      <p:sp>
        <p:nvSpPr>
          <p:cNvPr id="32" name="Text 29"/>
          <p:cNvSpPr txBox="1"/>
          <p:nvPr/>
        </p:nvSpPr>
        <p:spPr>
          <a:xfrm>
            <a:off x="9290304" y="3621024"/>
            <a:ext cx="2066544" cy="201168"/>
          </a:xfrm>
          <a:prstGeom prst="rect">
            <a:avLst/>
          </a:prstGeom>
          <a:noFill/>
          <a:ln/>
        </p:spPr>
        <p:txBody>
          <a:bodyPr wrap="square" lIns="0" tIns="0" rIns="0" bIns="0" rtlCol="0" anchor="t"/>
          <a:lstStyle/>
          <a:p>
            <a:pPr algn="l" indent="0" marL="0">
              <a:buNone/>
            </a:pPr>
            <a:r>
              <a:rPr lang="en-US" sz="1000" dirty="0">
                <a:solidFill>
                  <a:srgbClr val="52606D"/>
                </a:solidFill>
                <a:latin typeface="Aptos" pitchFamily="34" charset="0"/>
                <a:ea typeface="Aptos" pitchFamily="34" charset="-122"/>
                <a:cs typeface="Aptos" pitchFamily="34" charset="-120"/>
              </a:rPr>
              <a:t>riesgos valorados</a:t>
            </a:r>
            <a:endParaRPr lang="en-US" sz="1000" dirty="0"/>
          </a:p>
        </p:txBody>
      </p:sp>
      <p:sp>
        <p:nvSpPr>
          <p:cNvPr id="33" name="Text 30"/>
          <p:cNvSpPr txBox="1"/>
          <p:nvPr/>
        </p:nvSpPr>
        <p:spPr>
          <a:xfrm>
            <a:off x="658368" y="3931920"/>
            <a:ext cx="10058400" cy="201168"/>
          </a:xfrm>
          <a:prstGeom prst="rect">
            <a:avLst/>
          </a:prstGeom>
          <a:noFill/>
          <a:ln/>
        </p:spPr>
        <p:txBody>
          <a:bodyPr wrap="square" lIns="0" tIns="0" rIns="0" bIns="0" rtlCol="0" anchor="t"/>
          <a:lstStyle/>
          <a:p>
            <a:pPr algn="l" indent="0" marL="0">
              <a:buNone/>
            </a:pPr>
            <a:r>
              <a:rPr lang="en-US" sz="960" b="1" spc="130" kern="0" dirty="0">
                <a:solidFill>
                  <a:srgbClr val="D62027"/>
                </a:solidFill>
                <a:latin typeface="Aptos" pitchFamily="34" charset="0"/>
                <a:ea typeface="Aptos" pitchFamily="34" charset="-122"/>
                <a:cs typeface="Aptos" pitchFamily="34" charset="-120"/>
              </a:rPr>
              <a:t>SU REGISTRO DE RIESGOS DE PRODUCTO · NIVEL = PROBABILIDAD × IMPACTO, CADA UNO DE 1 A 3</a:t>
            </a:r>
            <a:endParaRPr lang="en-US" sz="960" dirty="0"/>
          </a:p>
        </p:txBody>
      </p:sp>
      <p:sp>
        <p:nvSpPr>
          <p:cNvPr id="34" name="Shape 31"/>
          <p:cNvSpPr/>
          <p:nvPr/>
        </p:nvSpPr>
        <p:spPr>
          <a:xfrm>
            <a:off x="658368" y="4169664"/>
            <a:ext cx="932688" cy="274320"/>
          </a:xfrm>
          <a:prstGeom prst="rect">
            <a:avLst/>
          </a:prstGeom>
          <a:solidFill>
            <a:srgbClr val="1D3A57"/>
          </a:solidFill>
          <a:ln w="12700">
            <a:solidFill>
              <a:srgbClr val="1D3A57"/>
            </a:solidFill>
            <a:prstDash val="solid"/>
          </a:ln>
        </p:spPr>
      </p:sp>
      <p:sp>
        <p:nvSpPr>
          <p:cNvPr id="35" name="Text 32"/>
          <p:cNvSpPr txBox="1"/>
          <p:nvPr/>
        </p:nvSpPr>
        <p:spPr>
          <a:xfrm>
            <a:off x="768096" y="4224528"/>
            <a:ext cx="713232" cy="182880"/>
          </a:xfrm>
          <a:prstGeom prst="rect">
            <a:avLst/>
          </a:prstGeom>
          <a:noFill/>
          <a:ln/>
        </p:spPr>
        <p:txBody>
          <a:bodyPr wrap="square" lIns="0" tIns="0" rIns="0" bIns="0" rtlCol="0" anchor="t"/>
          <a:lstStyle/>
          <a:p>
            <a:pPr algn="l" indent="0" marL="0">
              <a:buNone/>
            </a:pPr>
            <a:r>
              <a:rPr lang="en-US" sz="880" b="1" spc="80" kern="0" dirty="0">
                <a:solidFill>
                  <a:srgbClr val="FFFFFF"/>
                </a:solidFill>
                <a:latin typeface="Aptos" pitchFamily="34" charset="0"/>
                <a:ea typeface="Aptos" pitchFamily="34" charset="-122"/>
                <a:cs typeface="Aptos" pitchFamily="34" charset="-120"/>
              </a:rPr>
              <a:t>ID</a:t>
            </a:r>
            <a:endParaRPr lang="en-US" sz="880" dirty="0"/>
          </a:p>
        </p:txBody>
      </p:sp>
      <p:sp>
        <p:nvSpPr>
          <p:cNvPr id="36" name="Shape 33"/>
          <p:cNvSpPr/>
          <p:nvPr/>
        </p:nvSpPr>
        <p:spPr>
          <a:xfrm>
            <a:off x="1591056" y="4169664"/>
            <a:ext cx="7598664" cy="274320"/>
          </a:xfrm>
          <a:prstGeom prst="rect">
            <a:avLst/>
          </a:prstGeom>
          <a:solidFill>
            <a:srgbClr val="1D3A57"/>
          </a:solidFill>
          <a:ln w="12700">
            <a:solidFill>
              <a:srgbClr val="1D3A57"/>
            </a:solidFill>
            <a:prstDash val="solid"/>
          </a:ln>
        </p:spPr>
      </p:sp>
      <p:sp>
        <p:nvSpPr>
          <p:cNvPr id="37" name="Text 34"/>
          <p:cNvSpPr txBox="1"/>
          <p:nvPr/>
        </p:nvSpPr>
        <p:spPr>
          <a:xfrm>
            <a:off x="1700784" y="4224528"/>
            <a:ext cx="7379208" cy="182880"/>
          </a:xfrm>
          <a:prstGeom prst="rect">
            <a:avLst/>
          </a:prstGeom>
          <a:noFill/>
          <a:ln/>
        </p:spPr>
        <p:txBody>
          <a:bodyPr wrap="square" lIns="0" tIns="0" rIns="0" bIns="0" rtlCol="0" anchor="t"/>
          <a:lstStyle/>
          <a:p>
            <a:pPr algn="l" indent="0" marL="0">
              <a:buNone/>
            </a:pPr>
            <a:r>
              <a:rPr lang="en-US" sz="880" b="1" spc="80" kern="0" dirty="0">
                <a:solidFill>
                  <a:srgbClr val="FFFFFF"/>
                </a:solidFill>
                <a:latin typeface="Aptos" pitchFamily="34" charset="0"/>
                <a:ea typeface="Aptos" pitchFamily="34" charset="-122"/>
                <a:cs typeface="Aptos" pitchFamily="34" charset="-120"/>
              </a:rPr>
              <a:t>RIESGO DE PRODUCTO IDENTIFICADO POR EL AGENTE</a:t>
            </a:r>
            <a:endParaRPr lang="en-US" sz="880" dirty="0"/>
          </a:p>
        </p:txBody>
      </p:sp>
      <p:sp>
        <p:nvSpPr>
          <p:cNvPr id="38" name="Shape 35"/>
          <p:cNvSpPr/>
          <p:nvPr/>
        </p:nvSpPr>
        <p:spPr>
          <a:xfrm>
            <a:off x="9189720" y="4169664"/>
            <a:ext cx="566928" cy="274320"/>
          </a:xfrm>
          <a:prstGeom prst="rect">
            <a:avLst/>
          </a:prstGeom>
          <a:solidFill>
            <a:srgbClr val="1D3A57"/>
          </a:solidFill>
          <a:ln w="12700">
            <a:solidFill>
              <a:srgbClr val="1D3A57"/>
            </a:solidFill>
            <a:prstDash val="solid"/>
          </a:ln>
        </p:spPr>
      </p:sp>
      <p:sp>
        <p:nvSpPr>
          <p:cNvPr id="39" name="Text 36"/>
          <p:cNvSpPr txBox="1"/>
          <p:nvPr/>
        </p:nvSpPr>
        <p:spPr>
          <a:xfrm>
            <a:off x="9299448" y="4224528"/>
            <a:ext cx="347472" cy="182880"/>
          </a:xfrm>
          <a:prstGeom prst="rect">
            <a:avLst/>
          </a:prstGeom>
          <a:noFill/>
          <a:ln/>
        </p:spPr>
        <p:txBody>
          <a:bodyPr wrap="square" lIns="0" tIns="0" rIns="0" bIns="0" rtlCol="0" anchor="t"/>
          <a:lstStyle/>
          <a:p>
            <a:pPr algn="ctr" indent="0" marL="0">
              <a:buNone/>
            </a:pPr>
            <a:r>
              <a:rPr lang="en-US" sz="880" b="1" spc="80" kern="0" dirty="0">
                <a:solidFill>
                  <a:srgbClr val="FFFFFF"/>
                </a:solidFill>
                <a:latin typeface="Aptos" pitchFamily="34" charset="0"/>
                <a:ea typeface="Aptos" pitchFamily="34" charset="-122"/>
                <a:cs typeface="Aptos" pitchFamily="34" charset="-120"/>
              </a:rPr>
              <a:t>P</a:t>
            </a:r>
            <a:endParaRPr lang="en-US" sz="880" dirty="0"/>
          </a:p>
        </p:txBody>
      </p:sp>
      <p:sp>
        <p:nvSpPr>
          <p:cNvPr id="40" name="Shape 37"/>
          <p:cNvSpPr/>
          <p:nvPr/>
        </p:nvSpPr>
        <p:spPr>
          <a:xfrm>
            <a:off x="9756648" y="4169664"/>
            <a:ext cx="566928" cy="274320"/>
          </a:xfrm>
          <a:prstGeom prst="rect">
            <a:avLst/>
          </a:prstGeom>
          <a:solidFill>
            <a:srgbClr val="1D3A57"/>
          </a:solidFill>
          <a:ln w="12700">
            <a:solidFill>
              <a:srgbClr val="1D3A57"/>
            </a:solidFill>
            <a:prstDash val="solid"/>
          </a:ln>
        </p:spPr>
      </p:sp>
      <p:sp>
        <p:nvSpPr>
          <p:cNvPr id="41" name="Text 38"/>
          <p:cNvSpPr txBox="1"/>
          <p:nvPr/>
        </p:nvSpPr>
        <p:spPr>
          <a:xfrm>
            <a:off x="9866376" y="4224528"/>
            <a:ext cx="347472" cy="182880"/>
          </a:xfrm>
          <a:prstGeom prst="rect">
            <a:avLst/>
          </a:prstGeom>
          <a:noFill/>
          <a:ln/>
        </p:spPr>
        <p:txBody>
          <a:bodyPr wrap="square" lIns="0" tIns="0" rIns="0" bIns="0" rtlCol="0" anchor="t"/>
          <a:lstStyle/>
          <a:p>
            <a:pPr algn="ctr" indent="0" marL="0">
              <a:buNone/>
            </a:pPr>
            <a:r>
              <a:rPr lang="en-US" sz="880" b="1" spc="80" kern="0" dirty="0">
                <a:solidFill>
                  <a:srgbClr val="FFFFFF"/>
                </a:solidFill>
                <a:latin typeface="Aptos" pitchFamily="34" charset="0"/>
                <a:ea typeface="Aptos" pitchFamily="34" charset="-122"/>
                <a:cs typeface="Aptos" pitchFamily="34" charset="-120"/>
              </a:rPr>
              <a:t>I</a:t>
            </a:r>
            <a:endParaRPr lang="en-US" sz="880" dirty="0"/>
          </a:p>
        </p:txBody>
      </p:sp>
      <p:sp>
        <p:nvSpPr>
          <p:cNvPr id="42" name="Shape 39"/>
          <p:cNvSpPr/>
          <p:nvPr/>
        </p:nvSpPr>
        <p:spPr>
          <a:xfrm>
            <a:off x="10323576" y="4169664"/>
            <a:ext cx="1207008" cy="274320"/>
          </a:xfrm>
          <a:prstGeom prst="rect">
            <a:avLst/>
          </a:prstGeom>
          <a:solidFill>
            <a:srgbClr val="1D3A57"/>
          </a:solidFill>
          <a:ln w="12700">
            <a:solidFill>
              <a:srgbClr val="1D3A57"/>
            </a:solidFill>
            <a:prstDash val="solid"/>
          </a:ln>
        </p:spPr>
      </p:sp>
      <p:sp>
        <p:nvSpPr>
          <p:cNvPr id="43" name="Text 40"/>
          <p:cNvSpPr txBox="1"/>
          <p:nvPr/>
        </p:nvSpPr>
        <p:spPr>
          <a:xfrm>
            <a:off x="10433304" y="4224528"/>
            <a:ext cx="987552" cy="182880"/>
          </a:xfrm>
          <a:prstGeom prst="rect">
            <a:avLst/>
          </a:prstGeom>
          <a:noFill/>
          <a:ln/>
        </p:spPr>
        <p:txBody>
          <a:bodyPr wrap="square" lIns="0" tIns="0" rIns="0" bIns="0" rtlCol="0" anchor="t"/>
          <a:lstStyle/>
          <a:p>
            <a:pPr algn="ctr" indent="0" marL="0">
              <a:buNone/>
            </a:pPr>
            <a:r>
              <a:rPr lang="en-US" sz="880" b="1" spc="80" kern="0" dirty="0">
                <a:solidFill>
                  <a:srgbClr val="FFFFFF"/>
                </a:solidFill>
                <a:latin typeface="Aptos" pitchFamily="34" charset="0"/>
                <a:ea typeface="Aptos" pitchFamily="34" charset="-122"/>
                <a:cs typeface="Aptos" pitchFamily="34" charset="-120"/>
              </a:rPr>
              <a:t>NIVEL</a:t>
            </a:r>
            <a:endParaRPr lang="en-US" sz="880" dirty="0"/>
          </a:p>
        </p:txBody>
      </p:sp>
      <p:sp>
        <p:nvSpPr>
          <p:cNvPr id="44" name="Shape 41"/>
          <p:cNvSpPr/>
          <p:nvPr/>
        </p:nvSpPr>
        <p:spPr>
          <a:xfrm>
            <a:off x="658368" y="4443984"/>
            <a:ext cx="932688" cy="274320"/>
          </a:xfrm>
          <a:prstGeom prst="rect">
            <a:avLst/>
          </a:prstGeom>
          <a:solidFill>
            <a:srgbClr val="FFFFFF"/>
          </a:solidFill>
          <a:ln w="12700">
            <a:solidFill>
              <a:srgbClr val="FFFFFF"/>
            </a:solidFill>
            <a:prstDash val="solid"/>
          </a:ln>
        </p:spPr>
      </p:sp>
      <p:sp>
        <p:nvSpPr>
          <p:cNvPr id="45" name="Text 42"/>
          <p:cNvSpPr txBox="1"/>
          <p:nvPr/>
        </p:nvSpPr>
        <p:spPr>
          <a:xfrm>
            <a:off x="768096" y="4480560"/>
            <a:ext cx="713232" cy="201168"/>
          </a:xfrm>
          <a:prstGeom prst="rect">
            <a:avLst/>
          </a:prstGeom>
          <a:noFill/>
          <a:ln/>
        </p:spPr>
        <p:txBody>
          <a:bodyPr wrap="square" lIns="0" tIns="0" rIns="0" bIns="0" rtlCol="0" anchor="t"/>
          <a:lstStyle/>
          <a:p>
            <a:pPr algn="l" indent="0" marL="0">
              <a:buNone/>
            </a:pPr>
            <a:r>
              <a:rPr lang="en-US" sz="1020" b="1" dirty="0">
                <a:solidFill>
                  <a:srgbClr val="102A43"/>
                </a:solidFill>
                <a:latin typeface="Aptos" pitchFamily="34" charset="0"/>
                <a:ea typeface="Aptos" pitchFamily="34" charset="-122"/>
                <a:cs typeface="Aptos" pitchFamily="34" charset="-120"/>
              </a:rPr>
              <a:t>RP1</a:t>
            </a:r>
            <a:endParaRPr lang="en-US" sz="1020" dirty="0"/>
          </a:p>
        </p:txBody>
      </p:sp>
      <p:sp>
        <p:nvSpPr>
          <p:cNvPr id="46" name="Shape 43"/>
          <p:cNvSpPr/>
          <p:nvPr/>
        </p:nvSpPr>
        <p:spPr>
          <a:xfrm>
            <a:off x="1591056" y="4443984"/>
            <a:ext cx="7598664" cy="274320"/>
          </a:xfrm>
          <a:prstGeom prst="rect">
            <a:avLst/>
          </a:prstGeom>
          <a:solidFill>
            <a:srgbClr val="FFFFFF"/>
          </a:solidFill>
          <a:ln w="12700">
            <a:solidFill>
              <a:srgbClr val="FFFFFF"/>
            </a:solidFill>
            <a:prstDash val="solid"/>
          </a:ln>
        </p:spPr>
      </p:sp>
      <p:sp>
        <p:nvSpPr>
          <p:cNvPr id="47" name="Text 44"/>
          <p:cNvSpPr txBox="1"/>
          <p:nvPr/>
        </p:nvSpPr>
        <p:spPr>
          <a:xfrm>
            <a:off x="1700784" y="4480560"/>
            <a:ext cx="7379208" cy="201168"/>
          </a:xfrm>
          <a:prstGeom prst="rect">
            <a:avLst/>
          </a:prstGeom>
          <a:noFill/>
          <a:ln/>
        </p:spPr>
        <p:txBody>
          <a:bodyPr wrap="square" lIns="0" tIns="0" rIns="0" bIns="0" rtlCol="0" anchor="t"/>
          <a:lstStyle/>
          <a:p>
            <a:pPr algn="l" indent="0" marL="0">
              <a:buNone/>
            </a:pPr>
            <a:r>
              <a:rPr lang="en-US" sz="940" dirty="0">
                <a:solidFill>
                  <a:srgbClr val="243B53"/>
                </a:solidFill>
                <a:latin typeface="Aptos" pitchFamily="34" charset="0"/>
                <a:ea typeface="Aptos" pitchFamily="34" charset="-122"/>
                <a:cs typeface="Aptos" pitchFamily="34" charset="-120"/>
              </a:rPr>
              <a:t>Suplantación: el RUT no se verifica, así que cualquiera puede agotar la cuota de otra persona.</a:t>
            </a:r>
            <a:endParaRPr lang="en-US" sz="940" dirty="0"/>
          </a:p>
        </p:txBody>
      </p:sp>
      <p:sp>
        <p:nvSpPr>
          <p:cNvPr id="48" name="Shape 45"/>
          <p:cNvSpPr/>
          <p:nvPr/>
        </p:nvSpPr>
        <p:spPr>
          <a:xfrm>
            <a:off x="9189720" y="4443984"/>
            <a:ext cx="566928" cy="274320"/>
          </a:xfrm>
          <a:prstGeom prst="rect">
            <a:avLst/>
          </a:prstGeom>
          <a:solidFill>
            <a:srgbClr val="FFFFFF"/>
          </a:solidFill>
          <a:ln w="12700">
            <a:solidFill>
              <a:srgbClr val="FFFFFF"/>
            </a:solidFill>
            <a:prstDash val="solid"/>
          </a:ln>
        </p:spPr>
      </p:sp>
      <p:sp>
        <p:nvSpPr>
          <p:cNvPr id="49" name="Text 46"/>
          <p:cNvSpPr txBox="1"/>
          <p:nvPr/>
        </p:nvSpPr>
        <p:spPr>
          <a:xfrm>
            <a:off x="9299448" y="4480560"/>
            <a:ext cx="347472" cy="201168"/>
          </a:xfrm>
          <a:prstGeom prst="rect">
            <a:avLst/>
          </a:prstGeom>
          <a:noFill/>
          <a:ln/>
        </p:spPr>
        <p:txBody>
          <a:bodyPr wrap="square" lIns="0" tIns="0" rIns="0" bIns="0" rtlCol="0" anchor="t"/>
          <a:lstStyle/>
          <a:p>
            <a:pPr algn="ctr" indent="0" marL="0">
              <a:buNone/>
            </a:pPr>
            <a:r>
              <a:rPr lang="en-US" sz="1020" dirty="0">
                <a:solidFill>
                  <a:srgbClr val="243B53"/>
                </a:solidFill>
                <a:latin typeface="Aptos" pitchFamily="34" charset="0"/>
                <a:ea typeface="Aptos" pitchFamily="34" charset="-122"/>
                <a:cs typeface="Aptos" pitchFamily="34" charset="-120"/>
              </a:rPr>
              <a:t>3</a:t>
            </a:r>
            <a:endParaRPr lang="en-US" sz="1020" dirty="0"/>
          </a:p>
        </p:txBody>
      </p:sp>
      <p:sp>
        <p:nvSpPr>
          <p:cNvPr id="50" name="Shape 47"/>
          <p:cNvSpPr/>
          <p:nvPr/>
        </p:nvSpPr>
        <p:spPr>
          <a:xfrm>
            <a:off x="9756648" y="4443984"/>
            <a:ext cx="566928" cy="274320"/>
          </a:xfrm>
          <a:prstGeom prst="rect">
            <a:avLst/>
          </a:prstGeom>
          <a:solidFill>
            <a:srgbClr val="FFFFFF"/>
          </a:solidFill>
          <a:ln w="12700">
            <a:solidFill>
              <a:srgbClr val="FFFFFF"/>
            </a:solidFill>
            <a:prstDash val="solid"/>
          </a:ln>
        </p:spPr>
      </p:sp>
      <p:sp>
        <p:nvSpPr>
          <p:cNvPr id="51" name="Text 48"/>
          <p:cNvSpPr txBox="1"/>
          <p:nvPr/>
        </p:nvSpPr>
        <p:spPr>
          <a:xfrm>
            <a:off x="9866376" y="4480560"/>
            <a:ext cx="347472" cy="201168"/>
          </a:xfrm>
          <a:prstGeom prst="rect">
            <a:avLst/>
          </a:prstGeom>
          <a:noFill/>
          <a:ln/>
        </p:spPr>
        <p:txBody>
          <a:bodyPr wrap="square" lIns="0" tIns="0" rIns="0" bIns="0" rtlCol="0" anchor="t"/>
          <a:lstStyle/>
          <a:p>
            <a:pPr algn="ctr" indent="0" marL="0">
              <a:buNone/>
            </a:pPr>
            <a:r>
              <a:rPr lang="en-US" sz="1020" dirty="0">
                <a:solidFill>
                  <a:srgbClr val="243B53"/>
                </a:solidFill>
                <a:latin typeface="Aptos" pitchFamily="34" charset="0"/>
                <a:ea typeface="Aptos" pitchFamily="34" charset="-122"/>
                <a:cs typeface="Aptos" pitchFamily="34" charset="-120"/>
              </a:rPr>
              <a:t>3</a:t>
            </a:r>
            <a:endParaRPr lang="en-US" sz="1020" dirty="0"/>
          </a:p>
        </p:txBody>
      </p:sp>
      <p:sp>
        <p:nvSpPr>
          <p:cNvPr id="52" name="Shape 49"/>
          <p:cNvSpPr/>
          <p:nvPr/>
        </p:nvSpPr>
        <p:spPr>
          <a:xfrm>
            <a:off x="10323576" y="4443984"/>
            <a:ext cx="1207008" cy="274320"/>
          </a:xfrm>
          <a:prstGeom prst="rect">
            <a:avLst/>
          </a:prstGeom>
          <a:solidFill>
            <a:srgbClr val="FFFFFF"/>
          </a:solidFill>
          <a:ln w="12700">
            <a:solidFill>
              <a:srgbClr val="FFFFFF"/>
            </a:solidFill>
            <a:prstDash val="solid"/>
          </a:ln>
        </p:spPr>
      </p:sp>
      <p:sp>
        <p:nvSpPr>
          <p:cNvPr id="53" name="Text 50"/>
          <p:cNvSpPr txBox="1"/>
          <p:nvPr/>
        </p:nvSpPr>
        <p:spPr>
          <a:xfrm>
            <a:off x="10433304" y="4480560"/>
            <a:ext cx="987552" cy="201168"/>
          </a:xfrm>
          <a:prstGeom prst="rect">
            <a:avLst/>
          </a:prstGeom>
          <a:noFill/>
          <a:ln/>
        </p:spPr>
        <p:txBody>
          <a:bodyPr wrap="square" lIns="0" tIns="0" rIns="0" bIns="0" rtlCol="0" anchor="t"/>
          <a:lstStyle/>
          <a:p>
            <a:pPr algn="ctr" indent="0" marL="0">
              <a:buNone/>
            </a:pPr>
            <a:r>
              <a:rPr lang="en-US" sz="1020" b="1" dirty="0">
                <a:solidFill>
                  <a:srgbClr val="B3181E"/>
                </a:solidFill>
                <a:latin typeface="Aptos" pitchFamily="34" charset="0"/>
                <a:ea typeface="Aptos" pitchFamily="34" charset="-122"/>
                <a:cs typeface="Aptos" pitchFamily="34" charset="-120"/>
              </a:rPr>
              <a:t>9</a:t>
            </a:r>
            <a:endParaRPr lang="en-US" sz="1020" dirty="0"/>
          </a:p>
        </p:txBody>
      </p:sp>
      <p:sp>
        <p:nvSpPr>
          <p:cNvPr id="54" name="Shape 51"/>
          <p:cNvSpPr/>
          <p:nvPr/>
        </p:nvSpPr>
        <p:spPr>
          <a:xfrm>
            <a:off x="658368" y="4718304"/>
            <a:ext cx="932688" cy="274320"/>
          </a:xfrm>
          <a:prstGeom prst="rect">
            <a:avLst/>
          </a:prstGeom>
          <a:solidFill>
            <a:srgbClr val="EDE6DA"/>
          </a:solidFill>
          <a:ln w="12700">
            <a:solidFill>
              <a:srgbClr val="EDE6DA"/>
            </a:solidFill>
            <a:prstDash val="solid"/>
          </a:ln>
        </p:spPr>
      </p:sp>
      <p:sp>
        <p:nvSpPr>
          <p:cNvPr id="55" name="Text 52"/>
          <p:cNvSpPr txBox="1"/>
          <p:nvPr/>
        </p:nvSpPr>
        <p:spPr>
          <a:xfrm>
            <a:off x="768096" y="4754880"/>
            <a:ext cx="713232" cy="201168"/>
          </a:xfrm>
          <a:prstGeom prst="rect">
            <a:avLst/>
          </a:prstGeom>
          <a:noFill/>
          <a:ln/>
        </p:spPr>
        <p:txBody>
          <a:bodyPr wrap="square" lIns="0" tIns="0" rIns="0" bIns="0" rtlCol="0" anchor="t"/>
          <a:lstStyle/>
          <a:p>
            <a:pPr algn="l" indent="0" marL="0">
              <a:buNone/>
            </a:pPr>
            <a:r>
              <a:rPr lang="en-US" sz="1020" b="1" dirty="0">
                <a:solidFill>
                  <a:srgbClr val="102A43"/>
                </a:solidFill>
                <a:latin typeface="Aptos" pitchFamily="34" charset="0"/>
                <a:ea typeface="Aptos" pitchFamily="34" charset="-122"/>
                <a:cs typeface="Aptos" pitchFamily="34" charset="-120"/>
              </a:rPr>
              <a:t>RP2</a:t>
            </a:r>
            <a:endParaRPr lang="en-US" sz="1020" dirty="0"/>
          </a:p>
        </p:txBody>
      </p:sp>
      <p:sp>
        <p:nvSpPr>
          <p:cNvPr id="56" name="Shape 53"/>
          <p:cNvSpPr/>
          <p:nvPr/>
        </p:nvSpPr>
        <p:spPr>
          <a:xfrm>
            <a:off x="1591056" y="4718304"/>
            <a:ext cx="7598664" cy="274320"/>
          </a:xfrm>
          <a:prstGeom prst="rect">
            <a:avLst/>
          </a:prstGeom>
          <a:solidFill>
            <a:srgbClr val="EDE6DA"/>
          </a:solidFill>
          <a:ln w="12700">
            <a:solidFill>
              <a:srgbClr val="EDE6DA"/>
            </a:solidFill>
            <a:prstDash val="solid"/>
          </a:ln>
        </p:spPr>
      </p:sp>
      <p:sp>
        <p:nvSpPr>
          <p:cNvPr id="57" name="Text 54"/>
          <p:cNvSpPr txBox="1"/>
          <p:nvPr/>
        </p:nvSpPr>
        <p:spPr>
          <a:xfrm>
            <a:off x="1700784" y="4754880"/>
            <a:ext cx="7379208" cy="201168"/>
          </a:xfrm>
          <a:prstGeom prst="rect">
            <a:avLst/>
          </a:prstGeom>
          <a:noFill/>
          <a:ln/>
        </p:spPr>
        <p:txBody>
          <a:bodyPr wrap="square" lIns="0" tIns="0" rIns="0" bIns="0" rtlCol="0" anchor="t"/>
          <a:lstStyle/>
          <a:p>
            <a:pPr algn="l" indent="0" marL="0">
              <a:buNone/>
            </a:pPr>
            <a:r>
              <a:rPr lang="en-US" sz="940" dirty="0">
                <a:solidFill>
                  <a:srgbClr val="243B53"/>
                </a:solidFill>
                <a:latin typeface="Aptos" pitchFamily="34" charset="0"/>
                <a:ea typeface="Aptos" pitchFamily="34" charset="-122"/>
                <a:cs typeface="Aptos" pitchFamily="34" charset="-120"/>
              </a:rPr>
              <a:t>La cuota no es semanal: reservas_de cuenta todas las reservas históricas del RUT.</a:t>
            </a:r>
            <a:endParaRPr lang="en-US" sz="940" dirty="0"/>
          </a:p>
        </p:txBody>
      </p:sp>
      <p:sp>
        <p:nvSpPr>
          <p:cNvPr id="58" name="Shape 55"/>
          <p:cNvSpPr/>
          <p:nvPr/>
        </p:nvSpPr>
        <p:spPr>
          <a:xfrm>
            <a:off x="9189720" y="4718304"/>
            <a:ext cx="566928" cy="274320"/>
          </a:xfrm>
          <a:prstGeom prst="rect">
            <a:avLst/>
          </a:prstGeom>
          <a:solidFill>
            <a:srgbClr val="EDE6DA"/>
          </a:solidFill>
          <a:ln w="12700">
            <a:solidFill>
              <a:srgbClr val="EDE6DA"/>
            </a:solidFill>
            <a:prstDash val="solid"/>
          </a:ln>
        </p:spPr>
      </p:sp>
      <p:sp>
        <p:nvSpPr>
          <p:cNvPr id="59" name="Text 56"/>
          <p:cNvSpPr txBox="1"/>
          <p:nvPr/>
        </p:nvSpPr>
        <p:spPr>
          <a:xfrm>
            <a:off x="9299448" y="4754880"/>
            <a:ext cx="347472" cy="201168"/>
          </a:xfrm>
          <a:prstGeom prst="rect">
            <a:avLst/>
          </a:prstGeom>
          <a:noFill/>
          <a:ln/>
        </p:spPr>
        <p:txBody>
          <a:bodyPr wrap="square" lIns="0" tIns="0" rIns="0" bIns="0" rtlCol="0" anchor="t"/>
          <a:lstStyle/>
          <a:p>
            <a:pPr algn="ctr" indent="0" marL="0">
              <a:buNone/>
            </a:pPr>
            <a:r>
              <a:rPr lang="en-US" sz="1020" dirty="0">
                <a:solidFill>
                  <a:srgbClr val="243B53"/>
                </a:solidFill>
                <a:latin typeface="Aptos" pitchFamily="34" charset="0"/>
                <a:ea typeface="Aptos" pitchFamily="34" charset="-122"/>
                <a:cs typeface="Aptos" pitchFamily="34" charset="-120"/>
              </a:rPr>
              <a:t>3</a:t>
            </a:r>
            <a:endParaRPr lang="en-US" sz="1020" dirty="0"/>
          </a:p>
        </p:txBody>
      </p:sp>
      <p:sp>
        <p:nvSpPr>
          <p:cNvPr id="60" name="Shape 57"/>
          <p:cNvSpPr/>
          <p:nvPr/>
        </p:nvSpPr>
        <p:spPr>
          <a:xfrm>
            <a:off x="9756648" y="4718304"/>
            <a:ext cx="566928" cy="274320"/>
          </a:xfrm>
          <a:prstGeom prst="rect">
            <a:avLst/>
          </a:prstGeom>
          <a:solidFill>
            <a:srgbClr val="EDE6DA"/>
          </a:solidFill>
          <a:ln w="12700">
            <a:solidFill>
              <a:srgbClr val="EDE6DA"/>
            </a:solidFill>
            <a:prstDash val="solid"/>
          </a:ln>
        </p:spPr>
      </p:sp>
      <p:sp>
        <p:nvSpPr>
          <p:cNvPr id="61" name="Text 58"/>
          <p:cNvSpPr txBox="1"/>
          <p:nvPr/>
        </p:nvSpPr>
        <p:spPr>
          <a:xfrm>
            <a:off x="9866376" y="4754880"/>
            <a:ext cx="347472" cy="201168"/>
          </a:xfrm>
          <a:prstGeom prst="rect">
            <a:avLst/>
          </a:prstGeom>
          <a:noFill/>
          <a:ln/>
        </p:spPr>
        <p:txBody>
          <a:bodyPr wrap="square" lIns="0" tIns="0" rIns="0" bIns="0" rtlCol="0" anchor="t"/>
          <a:lstStyle/>
          <a:p>
            <a:pPr algn="ctr" indent="0" marL="0">
              <a:buNone/>
            </a:pPr>
            <a:r>
              <a:rPr lang="en-US" sz="1020" dirty="0">
                <a:solidFill>
                  <a:srgbClr val="243B53"/>
                </a:solidFill>
                <a:latin typeface="Aptos" pitchFamily="34" charset="0"/>
                <a:ea typeface="Aptos" pitchFamily="34" charset="-122"/>
                <a:cs typeface="Aptos" pitchFamily="34" charset="-120"/>
              </a:rPr>
              <a:t>2</a:t>
            </a:r>
            <a:endParaRPr lang="en-US" sz="1020" dirty="0"/>
          </a:p>
        </p:txBody>
      </p:sp>
      <p:sp>
        <p:nvSpPr>
          <p:cNvPr id="62" name="Shape 59"/>
          <p:cNvSpPr/>
          <p:nvPr/>
        </p:nvSpPr>
        <p:spPr>
          <a:xfrm>
            <a:off x="10323576" y="4718304"/>
            <a:ext cx="1207008" cy="274320"/>
          </a:xfrm>
          <a:prstGeom prst="rect">
            <a:avLst/>
          </a:prstGeom>
          <a:solidFill>
            <a:srgbClr val="EDE6DA"/>
          </a:solidFill>
          <a:ln w="12700">
            <a:solidFill>
              <a:srgbClr val="EDE6DA"/>
            </a:solidFill>
            <a:prstDash val="solid"/>
          </a:ln>
        </p:spPr>
      </p:sp>
      <p:sp>
        <p:nvSpPr>
          <p:cNvPr id="63" name="Text 60"/>
          <p:cNvSpPr txBox="1"/>
          <p:nvPr/>
        </p:nvSpPr>
        <p:spPr>
          <a:xfrm>
            <a:off x="10433304" y="4754880"/>
            <a:ext cx="987552" cy="201168"/>
          </a:xfrm>
          <a:prstGeom prst="rect">
            <a:avLst/>
          </a:prstGeom>
          <a:noFill/>
          <a:ln/>
        </p:spPr>
        <p:txBody>
          <a:bodyPr wrap="square" lIns="0" tIns="0" rIns="0" bIns="0" rtlCol="0" anchor="t"/>
          <a:lstStyle/>
          <a:p>
            <a:pPr algn="ctr" indent="0" marL="0">
              <a:buNone/>
            </a:pPr>
            <a:r>
              <a:rPr lang="en-US" sz="1020" b="1" dirty="0">
                <a:solidFill>
                  <a:srgbClr val="B3181E"/>
                </a:solidFill>
                <a:latin typeface="Aptos" pitchFamily="34" charset="0"/>
                <a:ea typeface="Aptos" pitchFamily="34" charset="-122"/>
                <a:cs typeface="Aptos" pitchFamily="34" charset="-120"/>
              </a:rPr>
              <a:t>6</a:t>
            </a:r>
            <a:endParaRPr lang="en-US" sz="1020" dirty="0"/>
          </a:p>
        </p:txBody>
      </p:sp>
      <p:sp>
        <p:nvSpPr>
          <p:cNvPr id="64" name="Shape 61"/>
          <p:cNvSpPr/>
          <p:nvPr/>
        </p:nvSpPr>
        <p:spPr>
          <a:xfrm>
            <a:off x="658368" y="4992624"/>
            <a:ext cx="932688" cy="274320"/>
          </a:xfrm>
          <a:prstGeom prst="rect">
            <a:avLst/>
          </a:prstGeom>
          <a:solidFill>
            <a:srgbClr val="FFFFFF"/>
          </a:solidFill>
          <a:ln w="12700">
            <a:solidFill>
              <a:srgbClr val="FFFFFF"/>
            </a:solidFill>
            <a:prstDash val="solid"/>
          </a:ln>
        </p:spPr>
      </p:sp>
      <p:sp>
        <p:nvSpPr>
          <p:cNvPr id="65" name="Text 62"/>
          <p:cNvSpPr txBox="1"/>
          <p:nvPr/>
        </p:nvSpPr>
        <p:spPr>
          <a:xfrm>
            <a:off x="768096" y="5029200"/>
            <a:ext cx="713232" cy="201168"/>
          </a:xfrm>
          <a:prstGeom prst="rect">
            <a:avLst/>
          </a:prstGeom>
          <a:noFill/>
          <a:ln/>
        </p:spPr>
        <p:txBody>
          <a:bodyPr wrap="square" lIns="0" tIns="0" rIns="0" bIns="0" rtlCol="0" anchor="t"/>
          <a:lstStyle/>
          <a:p>
            <a:pPr algn="l" indent="0" marL="0">
              <a:buNone/>
            </a:pPr>
            <a:r>
              <a:rPr lang="en-US" sz="1020" b="1" dirty="0">
                <a:solidFill>
                  <a:srgbClr val="102A43"/>
                </a:solidFill>
                <a:latin typeface="Aptos" pitchFamily="34" charset="0"/>
                <a:ea typeface="Aptos" pitchFamily="34" charset="-122"/>
                <a:cs typeface="Aptos" pitchFamily="34" charset="-120"/>
              </a:rPr>
              <a:t>RP3</a:t>
            </a:r>
            <a:endParaRPr lang="en-US" sz="1020" dirty="0"/>
          </a:p>
        </p:txBody>
      </p:sp>
      <p:sp>
        <p:nvSpPr>
          <p:cNvPr id="66" name="Shape 63"/>
          <p:cNvSpPr/>
          <p:nvPr/>
        </p:nvSpPr>
        <p:spPr>
          <a:xfrm>
            <a:off x="1591056" y="4992624"/>
            <a:ext cx="7598664" cy="274320"/>
          </a:xfrm>
          <a:prstGeom prst="rect">
            <a:avLst/>
          </a:prstGeom>
          <a:solidFill>
            <a:srgbClr val="FFFFFF"/>
          </a:solidFill>
          <a:ln w="12700">
            <a:solidFill>
              <a:srgbClr val="FFFFFF"/>
            </a:solidFill>
            <a:prstDash val="solid"/>
          </a:ln>
        </p:spPr>
      </p:sp>
      <p:sp>
        <p:nvSpPr>
          <p:cNvPr id="67" name="Text 64"/>
          <p:cNvSpPr txBox="1"/>
          <p:nvPr/>
        </p:nvSpPr>
        <p:spPr>
          <a:xfrm>
            <a:off x="1700784" y="5029200"/>
            <a:ext cx="7379208" cy="201168"/>
          </a:xfrm>
          <a:prstGeom prst="rect">
            <a:avLst/>
          </a:prstGeom>
          <a:noFill/>
          <a:ln/>
        </p:spPr>
        <p:txBody>
          <a:bodyPr wrap="square" lIns="0" tIns="0" rIns="0" bIns="0" rtlCol="0" anchor="t"/>
          <a:lstStyle/>
          <a:p>
            <a:pPr algn="l" indent="0" marL="0">
              <a:buNone/>
            </a:pPr>
            <a:r>
              <a:rPr lang="en-US" sz="940" dirty="0">
                <a:solidFill>
                  <a:srgbClr val="243B53"/>
                </a:solidFill>
                <a:latin typeface="Aptos" pitchFamily="34" charset="0"/>
                <a:ea typeface="Aptos" pitchFamily="34" charset="-122"/>
                <a:cs typeface="Aptos" pitchFamily="34" charset="-120"/>
              </a:rPr>
              <a:t>Doble reserva o bloqueo bajo concurrencia: una espera larga podría producir un error 500.</a:t>
            </a:r>
            <a:endParaRPr lang="en-US" sz="940" dirty="0"/>
          </a:p>
        </p:txBody>
      </p:sp>
      <p:sp>
        <p:nvSpPr>
          <p:cNvPr id="68" name="Shape 65"/>
          <p:cNvSpPr/>
          <p:nvPr/>
        </p:nvSpPr>
        <p:spPr>
          <a:xfrm>
            <a:off x="9189720" y="4992624"/>
            <a:ext cx="566928" cy="274320"/>
          </a:xfrm>
          <a:prstGeom prst="rect">
            <a:avLst/>
          </a:prstGeom>
          <a:solidFill>
            <a:srgbClr val="FFFFFF"/>
          </a:solidFill>
          <a:ln w="12700">
            <a:solidFill>
              <a:srgbClr val="FFFFFF"/>
            </a:solidFill>
            <a:prstDash val="solid"/>
          </a:ln>
        </p:spPr>
      </p:sp>
      <p:sp>
        <p:nvSpPr>
          <p:cNvPr id="69" name="Text 66"/>
          <p:cNvSpPr txBox="1"/>
          <p:nvPr/>
        </p:nvSpPr>
        <p:spPr>
          <a:xfrm>
            <a:off x="9299448" y="5029200"/>
            <a:ext cx="347472" cy="201168"/>
          </a:xfrm>
          <a:prstGeom prst="rect">
            <a:avLst/>
          </a:prstGeom>
          <a:noFill/>
          <a:ln/>
        </p:spPr>
        <p:txBody>
          <a:bodyPr wrap="square" lIns="0" tIns="0" rIns="0" bIns="0" rtlCol="0" anchor="t"/>
          <a:lstStyle/>
          <a:p>
            <a:pPr algn="ctr" indent="0" marL="0">
              <a:buNone/>
            </a:pPr>
            <a:r>
              <a:rPr lang="en-US" sz="1020" dirty="0">
                <a:solidFill>
                  <a:srgbClr val="243B53"/>
                </a:solidFill>
                <a:latin typeface="Aptos" pitchFamily="34" charset="0"/>
                <a:ea typeface="Aptos" pitchFamily="34" charset="-122"/>
                <a:cs typeface="Aptos" pitchFamily="34" charset="-120"/>
              </a:rPr>
              <a:t>2</a:t>
            </a:r>
            <a:endParaRPr lang="en-US" sz="1020" dirty="0"/>
          </a:p>
        </p:txBody>
      </p:sp>
      <p:sp>
        <p:nvSpPr>
          <p:cNvPr id="70" name="Shape 67"/>
          <p:cNvSpPr/>
          <p:nvPr/>
        </p:nvSpPr>
        <p:spPr>
          <a:xfrm>
            <a:off x="9756648" y="4992624"/>
            <a:ext cx="566928" cy="274320"/>
          </a:xfrm>
          <a:prstGeom prst="rect">
            <a:avLst/>
          </a:prstGeom>
          <a:solidFill>
            <a:srgbClr val="FFFFFF"/>
          </a:solidFill>
          <a:ln w="12700">
            <a:solidFill>
              <a:srgbClr val="FFFFFF"/>
            </a:solidFill>
            <a:prstDash val="solid"/>
          </a:ln>
        </p:spPr>
      </p:sp>
      <p:sp>
        <p:nvSpPr>
          <p:cNvPr id="71" name="Text 68"/>
          <p:cNvSpPr txBox="1"/>
          <p:nvPr/>
        </p:nvSpPr>
        <p:spPr>
          <a:xfrm>
            <a:off x="9866376" y="5029200"/>
            <a:ext cx="347472" cy="201168"/>
          </a:xfrm>
          <a:prstGeom prst="rect">
            <a:avLst/>
          </a:prstGeom>
          <a:noFill/>
          <a:ln/>
        </p:spPr>
        <p:txBody>
          <a:bodyPr wrap="square" lIns="0" tIns="0" rIns="0" bIns="0" rtlCol="0" anchor="t"/>
          <a:lstStyle/>
          <a:p>
            <a:pPr algn="ctr" indent="0" marL="0">
              <a:buNone/>
            </a:pPr>
            <a:r>
              <a:rPr lang="en-US" sz="1020" dirty="0">
                <a:solidFill>
                  <a:srgbClr val="243B53"/>
                </a:solidFill>
                <a:latin typeface="Aptos" pitchFamily="34" charset="0"/>
                <a:ea typeface="Aptos" pitchFamily="34" charset="-122"/>
                <a:cs typeface="Aptos" pitchFamily="34" charset="-120"/>
              </a:rPr>
              <a:t>3</a:t>
            </a:r>
            <a:endParaRPr lang="en-US" sz="1020" dirty="0"/>
          </a:p>
        </p:txBody>
      </p:sp>
      <p:sp>
        <p:nvSpPr>
          <p:cNvPr id="72" name="Shape 69"/>
          <p:cNvSpPr/>
          <p:nvPr/>
        </p:nvSpPr>
        <p:spPr>
          <a:xfrm>
            <a:off x="10323576" y="4992624"/>
            <a:ext cx="1207008" cy="274320"/>
          </a:xfrm>
          <a:prstGeom prst="rect">
            <a:avLst/>
          </a:prstGeom>
          <a:solidFill>
            <a:srgbClr val="FFFFFF"/>
          </a:solidFill>
          <a:ln w="12700">
            <a:solidFill>
              <a:srgbClr val="FFFFFF"/>
            </a:solidFill>
            <a:prstDash val="solid"/>
          </a:ln>
        </p:spPr>
      </p:sp>
      <p:sp>
        <p:nvSpPr>
          <p:cNvPr id="73" name="Text 70"/>
          <p:cNvSpPr txBox="1"/>
          <p:nvPr/>
        </p:nvSpPr>
        <p:spPr>
          <a:xfrm>
            <a:off x="10433304" y="5029200"/>
            <a:ext cx="987552" cy="201168"/>
          </a:xfrm>
          <a:prstGeom prst="rect">
            <a:avLst/>
          </a:prstGeom>
          <a:noFill/>
          <a:ln/>
        </p:spPr>
        <p:txBody>
          <a:bodyPr wrap="square" lIns="0" tIns="0" rIns="0" bIns="0" rtlCol="0" anchor="t"/>
          <a:lstStyle/>
          <a:p>
            <a:pPr algn="ctr" indent="0" marL="0">
              <a:buNone/>
            </a:pPr>
            <a:r>
              <a:rPr lang="en-US" sz="1020" b="1" dirty="0">
                <a:solidFill>
                  <a:srgbClr val="B3181E"/>
                </a:solidFill>
                <a:latin typeface="Aptos" pitchFamily="34" charset="0"/>
                <a:ea typeface="Aptos" pitchFamily="34" charset="-122"/>
                <a:cs typeface="Aptos" pitchFamily="34" charset="-120"/>
              </a:rPr>
              <a:t>6</a:t>
            </a:r>
            <a:endParaRPr lang="en-US" sz="1020" dirty="0"/>
          </a:p>
        </p:txBody>
      </p:sp>
      <p:sp>
        <p:nvSpPr>
          <p:cNvPr id="74" name="Shape 71"/>
          <p:cNvSpPr/>
          <p:nvPr/>
        </p:nvSpPr>
        <p:spPr>
          <a:xfrm>
            <a:off x="658368" y="5266944"/>
            <a:ext cx="932688" cy="274320"/>
          </a:xfrm>
          <a:prstGeom prst="rect">
            <a:avLst/>
          </a:prstGeom>
          <a:solidFill>
            <a:srgbClr val="EDE6DA"/>
          </a:solidFill>
          <a:ln w="12700">
            <a:solidFill>
              <a:srgbClr val="EDE6DA"/>
            </a:solidFill>
            <a:prstDash val="solid"/>
          </a:ln>
        </p:spPr>
      </p:sp>
      <p:sp>
        <p:nvSpPr>
          <p:cNvPr id="75" name="Text 72"/>
          <p:cNvSpPr txBox="1"/>
          <p:nvPr/>
        </p:nvSpPr>
        <p:spPr>
          <a:xfrm>
            <a:off x="768096" y="5303520"/>
            <a:ext cx="713232" cy="201168"/>
          </a:xfrm>
          <a:prstGeom prst="rect">
            <a:avLst/>
          </a:prstGeom>
          <a:noFill/>
          <a:ln/>
        </p:spPr>
        <p:txBody>
          <a:bodyPr wrap="square" lIns="0" tIns="0" rIns="0" bIns="0" rtlCol="0" anchor="t"/>
          <a:lstStyle/>
          <a:p>
            <a:pPr algn="l" indent="0" marL="0">
              <a:buNone/>
            </a:pPr>
            <a:r>
              <a:rPr lang="en-US" sz="1020" b="1" dirty="0">
                <a:solidFill>
                  <a:srgbClr val="102A43"/>
                </a:solidFill>
                <a:latin typeface="Aptos" pitchFamily="34" charset="0"/>
                <a:ea typeface="Aptos" pitchFamily="34" charset="-122"/>
                <a:cs typeface="Aptos" pitchFamily="34" charset="-120"/>
              </a:rPr>
              <a:t>RP4</a:t>
            </a:r>
            <a:endParaRPr lang="en-US" sz="1020" dirty="0"/>
          </a:p>
        </p:txBody>
      </p:sp>
      <p:sp>
        <p:nvSpPr>
          <p:cNvPr id="76" name="Shape 73"/>
          <p:cNvSpPr/>
          <p:nvPr/>
        </p:nvSpPr>
        <p:spPr>
          <a:xfrm>
            <a:off x="1591056" y="5266944"/>
            <a:ext cx="7598664" cy="274320"/>
          </a:xfrm>
          <a:prstGeom prst="rect">
            <a:avLst/>
          </a:prstGeom>
          <a:solidFill>
            <a:srgbClr val="EDE6DA"/>
          </a:solidFill>
          <a:ln w="12700">
            <a:solidFill>
              <a:srgbClr val="EDE6DA"/>
            </a:solidFill>
            <a:prstDash val="solid"/>
          </a:ln>
        </p:spPr>
      </p:sp>
      <p:sp>
        <p:nvSpPr>
          <p:cNvPr id="77" name="Text 74"/>
          <p:cNvSpPr txBox="1"/>
          <p:nvPr/>
        </p:nvSpPr>
        <p:spPr>
          <a:xfrm>
            <a:off x="1700784" y="5303520"/>
            <a:ext cx="7379208" cy="201168"/>
          </a:xfrm>
          <a:prstGeom prst="rect">
            <a:avLst/>
          </a:prstGeom>
          <a:noFill/>
          <a:ln/>
        </p:spPr>
        <p:txBody>
          <a:bodyPr wrap="square" lIns="0" tIns="0" rIns="0" bIns="0" rtlCol="0" anchor="t"/>
          <a:lstStyle/>
          <a:p>
            <a:pPr algn="l" indent="0" marL="0">
              <a:buNone/>
            </a:pPr>
            <a:r>
              <a:rPr lang="en-US" sz="940" dirty="0">
                <a:solidFill>
                  <a:srgbClr val="243B53"/>
                </a:solidFill>
                <a:latin typeface="Aptos" pitchFamily="34" charset="0"/>
                <a:ea typeface="Aptos" pitchFamily="34" charset="-122"/>
                <a:cs typeface="Aptos" pitchFamily="34" charset="-120"/>
              </a:rPr>
              <a:t>Mensaje ilegible: si falta un campo, la pantalla puede mostrar [object Object].</a:t>
            </a:r>
            <a:endParaRPr lang="en-US" sz="940" dirty="0"/>
          </a:p>
        </p:txBody>
      </p:sp>
      <p:sp>
        <p:nvSpPr>
          <p:cNvPr id="78" name="Shape 75"/>
          <p:cNvSpPr/>
          <p:nvPr/>
        </p:nvSpPr>
        <p:spPr>
          <a:xfrm>
            <a:off x="9189720" y="5266944"/>
            <a:ext cx="566928" cy="274320"/>
          </a:xfrm>
          <a:prstGeom prst="rect">
            <a:avLst/>
          </a:prstGeom>
          <a:solidFill>
            <a:srgbClr val="EDE6DA"/>
          </a:solidFill>
          <a:ln w="12700">
            <a:solidFill>
              <a:srgbClr val="EDE6DA"/>
            </a:solidFill>
            <a:prstDash val="solid"/>
          </a:ln>
        </p:spPr>
      </p:sp>
      <p:sp>
        <p:nvSpPr>
          <p:cNvPr id="79" name="Text 76"/>
          <p:cNvSpPr txBox="1"/>
          <p:nvPr/>
        </p:nvSpPr>
        <p:spPr>
          <a:xfrm>
            <a:off x="9299448" y="5303520"/>
            <a:ext cx="347472" cy="201168"/>
          </a:xfrm>
          <a:prstGeom prst="rect">
            <a:avLst/>
          </a:prstGeom>
          <a:noFill/>
          <a:ln/>
        </p:spPr>
        <p:txBody>
          <a:bodyPr wrap="square" lIns="0" tIns="0" rIns="0" bIns="0" rtlCol="0" anchor="t"/>
          <a:lstStyle/>
          <a:p>
            <a:pPr algn="ctr" indent="0" marL="0">
              <a:buNone/>
            </a:pPr>
            <a:r>
              <a:rPr lang="en-US" sz="1020" dirty="0">
                <a:solidFill>
                  <a:srgbClr val="243B53"/>
                </a:solidFill>
                <a:latin typeface="Aptos" pitchFamily="34" charset="0"/>
                <a:ea typeface="Aptos" pitchFamily="34" charset="-122"/>
                <a:cs typeface="Aptos" pitchFamily="34" charset="-120"/>
              </a:rPr>
              <a:t>3</a:t>
            </a:r>
            <a:endParaRPr lang="en-US" sz="1020" dirty="0"/>
          </a:p>
        </p:txBody>
      </p:sp>
      <p:sp>
        <p:nvSpPr>
          <p:cNvPr id="80" name="Shape 77"/>
          <p:cNvSpPr/>
          <p:nvPr/>
        </p:nvSpPr>
        <p:spPr>
          <a:xfrm>
            <a:off x="9756648" y="5266944"/>
            <a:ext cx="566928" cy="274320"/>
          </a:xfrm>
          <a:prstGeom prst="rect">
            <a:avLst/>
          </a:prstGeom>
          <a:solidFill>
            <a:srgbClr val="EDE6DA"/>
          </a:solidFill>
          <a:ln w="12700">
            <a:solidFill>
              <a:srgbClr val="EDE6DA"/>
            </a:solidFill>
            <a:prstDash val="solid"/>
          </a:ln>
        </p:spPr>
      </p:sp>
      <p:sp>
        <p:nvSpPr>
          <p:cNvPr id="81" name="Text 78"/>
          <p:cNvSpPr txBox="1"/>
          <p:nvPr/>
        </p:nvSpPr>
        <p:spPr>
          <a:xfrm>
            <a:off x="9866376" y="5303520"/>
            <a:ext cx="347472" cy="201168"/>
          </a:xfrm>
          <a:prstGeom prst="rect">
            <a:avLst/>
          </a:prstGeom>
          <a:noFill/>
          <a:ln/>
        </p:spPr>
        <p:txBody>
          <a:bodyPr wrap="square" lIns="0" tIns="0" rIns="0" bIns="0" rtlCol="0" anchor="t"/>
          <a:lstStyle/>
          <a:p>
            <a:pPr algn="ctr" indent="0" marL="0">
              <a:buNone/>
            </a:pPr>
            <a:r>
              <a:rPr lang="en-US" sz="1020" dirty="0">
                <a:solidFill>
                  <a:srgbClr val="243B53"/>
                </a:solidFill>
                <a:latin typeface="Aptos" pitchFamily="34" charset="0"/>
                <a:ea typeface="Aptos" pitchFamily="34" charset="-122"/>
                <a:cs typeface="Aptos" pitchFamily="34" charset="-120"/>
              </a:rPr>
              <a:t>2</a:t>
            </a:r>
            <a:endParaRPr lang="en-US" sz="1020" dirty="0"/>
          </a:p>
        </p:txBody>
      </p:sp>
      <p:sp>
        <p:nvSpPr>
          <p:cNvPr id="82" name="Shape 79"/>
          <p:cNvSpPr/>
          <p:nvPr/>
        </p:nvSpPr>
        <p:spPr>
          <a:xfrm>
            <a:off x="10323576" y="5266944"/>
            <a:ext cx="1207008" cy="274320"/>
          </a:xfrm>
          <a:prstGeom prst="rect">
            <a:avLst/>
          </a:prstGeom>
          <a:solidFill>
            <a:srgbClr val="EDE6DA"/>
          </a:solidFill>
          <a:ln w="12700">
            <a:solidFill>
              <a:srgbClr val="EDE6DA"/>
            </a:solidFill>
            <a:prstDash val="solid"/>
          </a:ln>
        </p:spPr>
      </p:sp>
      <p:sp>
        <p:nvSpPr>
          <p:cNvPr id="83" name="Text 80"/>
          <p:cNvSpPr txBox="1"/>
          <p:nvPr/>
        </p:nvSpPr>
        <p:spPr>
          <a:xfrm>
            <a:off x="10433304" y="5303520"/>
            <a:ext cx="987552" cy="201168"/>
          </a:xfrm>
          <a:prstGeom prst="rect">
            <a:avLst/>
          </a:prstGeom>
          <a:noFill/>
          <a:ln/>
        </p:spPr>
        <p:txBody>
          <a:bodyPr wrap="square" lIns="0" tIns="0" rIns="0" bIns="0" rtlCol="0" anchor="t"/>
          <a:lstStyle/>
          <a:p>
            <a:pPr algn="ctr" indent="0" marL="0">
              <a:buNone/>
            </a:pPr>
            <a:r>
              <a:rPr lang="en-US" sz="1020" b="1" dirty="0">
                <a:solidFill>
                  <a:srgbClr val="B3181E"/>
                </a:solidFill>
                <a:latin typeface="Aptos" pitchFamily="34" charset="0"/>
                <a:ea typeface="Aptos" pitchFamily="34" charset="-122"/>
                <a:cs typeface="Aptos" pitchFamily="34" charset="-120"/>
              </a:rPr>
              <a:t>6</a:t>
            </a:r>
            <a:endParaRPr lang="en-US" sz="1020" dirty="0"/>
          </a:p>
        </p:txBody>
      </p:sp>
      <p:sp>
        <p:nvSpPr>
          <p:cNvPr id="84" name="Shape 81"/>
          <p:cNvSpPr/>
          <p:nvPr/>
        </p:nvSpPr>
        <p:spPr>
          <a:xfrm>
            <a:off x="658368" y="5541264"/>
            <a:ext cx="932688" cy="274320"/>
          </a:xfrm>
          <a:prstGeom prst="rect">
            <a:avLst/>
          </a:prstGeom>
          <a:solidFill>
            <a:srgbClr val="FFFFFF"/>
          </a:solidFill>
          <a:ln w="12700">
            <a:solidFill>
              <a:srgbClr val="FFFFFF"/>
            </a:solidFill>
            <a:prstDash val="solid"/>
          </a:ln>
        </p:spPr>
      </p:sp>
      <p:sp>
        <p:nvSpPr>
          <p:cNvPr id="85" name="Text 82"/>
          <p:cNvSpPr txBox="1"/>
          <p:nvPr/>
        </p:nvSpPr>
        <p:spPr>
          <a:xfrm>
            <a:off x="768096" y="5577840"/>
            <a:ext cx="713232" cy="201168"/>
          </a:xfrm>
          <a:prstGeom prst="rect">
            <a:avLst/>
          </a:prstGeom>
          <a:noFill/>
          <a:ln/>
        </p:spPr>
        <p:txBody>
          <a:bodyPr wrap="square" lIns="0" tIns="0" rIns="0" bIns="0" rtlCol="0" anchor="t"/>
          <a:lstStyle/>
          <a:p>
            <a:pPr algn="l" indent="0" marL="0">
              <a:buNone/>
            </a:pPr>
            <a:r>
              <a:rPr lang="en-US" sz="1020" b="1" dirty="0">
                <a:solidFill>
                  <a:srgbClr val="102A43"/>
                </a:solidFill>
                <a:latin typeface="Aptos" pitchFamily="34" charset="0"/>
                <a:ea typeface="Aptos" pitchFamily="34" charset="-122"/>
                <a:cs typeface="Aptos" pitchFamily="34" charset="-120"/>
              </a:rPr>
              <a:t>RP7</a:t>
            </a:r>
            <a:endParaRPr lang="en-US" sz="1020" dirty="0"/>
          </a:p>
        </p:txBody>
      </p:sp>
      <p:sp>
        <p:nvSpPr>
          <p:cNvPr id="86" name="Shape 83"/>
          <p:cNvSpPr/>
          <p:nvPr/>
        </p:nvSpPr>
        <p:spPr>
          <a:xfrm>
            <a:off x="1591056" y="5541264"/>
            <a:ext cx="7598664" cy="274320"/>
          </a:xfrm>
          <a:prstGeom prst="rect">
            <a:avLst/>
          </a:prstGeom>
          <a:solidFill>
            <a:srgbClr val="FFFFFF"/>
          </a:solidFill>
          <a:ln w="12700">
            <a:solidFill>
              <a:srgbClr val="FFFFFF"/>
            </a:solidFill>
            <a:prstDash val="solid"/>
          </a:ln>
        </p:spPr>
      </p:sp>
      <p:sp>
        <p:nvSpPr>
          <p:cNvPr id="87" name="Text 84"/>
          <p:cNvSpPr txBox="1"/>
          <p:nvPr/>
        </p:nvSpPr>
        <p:spPr>
          <a:xfrm>
            <a:off x="1700784" y="5577840"/>
            <a:ext cx="7379208" cy="201168"/>
          </a:xfrm>
          <a:prstGeom prst="rect">
            <a:avLst/>
          </a:prstGeom>
          <a:noFill/>
          <a:ln/>
        </p:spPr>
        <p:txBody>
          <a:bodyPr wrap="square" lIns="0" tIns="0" rIns="0" bIns="0" rtlCol="0" anchor="t"/>
          <a:lstStyle/>
          <a:p>
            <a:pPr algn="l" indent="0" marL="0">
              <a:buNone/>
            </a:pPr>
            <a:r>
              <a:rPr lang="en-US" sz="940" dirty="0">
                <a:solidFill>
                  <a:srgbClr val="243B53"/>
                </a:solidFill>
                <a:latin typeface="Aptos" pitchFamily="34" charset="0"/>
                <a:ea typeface="Aptos" pitchFamily="34" charset="-122"/>
                <a:cs typeface="Aptos" pitchFamily="34" charset="-120"/>
              </a:rPr>
              <a:t>Formatos no validados: el RUT, el correo y el nombre vacío se aceptan sin control.</a:t>
            </a:r>
            <a:endParaRPr lang="en-US" sz="940" dirty="0"/>
          </a:p>
        </p:txBody>
      </p:sp>
      <p:sp>
        <p:nvSpPr>
          <p:cNvPr id="88" name="Shape 85"/>
          <p:cNvSpPr/>
          <p:nvPr/>
        </p:nvSpPr>
        <p:spPr>
          <a:xfrm>
            <a:off x="9189720" y="5541264"/>
            <a:ext cx="566928" cy="274320"/>
          </a:xfrm>
          <a:prstGeom prst="rect">
            <a:avLst/>
          </a:prstGeom>
          <a:solidFill>
            <a:srgbClr val="FFFFFF"/>
          </a:solidFill>
          <a:ln w="12700">
            <a:solidFill>
              <a:srgbClr val="FFFFFF"/>
            </a:solidFill>
            <a:prstDash val="solid"/>
          </a:ln>
        </p:spPr>
      </p:sp>
      <p:sp>
        <p:nvSpPr>
          <p:cNvPr id="89" name="Text 86"/>
          <p:cNvSpPr txBox="1"/>
          <p:nvPr/>
        </p:nvSpPr>
        <p:spPr>
          <a:xfrm>
            <a:off x="9299448" y="5577840"/>
            <a:ext cx="347472" cy="201168"/>
          </a:xfrm>
          <a:prstGeom prst="rect">
            <a:avLst/>
          </a:prstGeom>
          <a:noFill/>
          <a:ln/>
        </p:spPr>
        <p:txBody>
          <a:bodyPr wrap="square" lIns="0" tIns="0" rIns="0" bIns="0" rtlCol="0" anchor="t"/>
          <a:lstStyle/>
          <a:p>
            <a:pPr algn="ctr" indent="0" marL="0">
              <a:buNone/>
            </a:pPr>
            <a:r>
              <a:rPr lang="en-US" sz="1020" dirty="0">
                <a:solidFill>
                  <a:srgbClr val="243B53"/>
                </a:solidFill>
                <a:latin typeface="Aptos" pitchFamily="34" charset="0"/>
                <a:ea typeface="Aptos" pitchFamily="34" charset="-122"/>
                <a:cs typeface="Aptos" pitchFamily="34" charset="-120"/>
              </a:rPr>
              <a:t>3</a:t>
            </a:r>
            <a:endParaRPr lang="en-US" sz="1020" dirty="0"/>
          </a:p>
        </p:txBody>
      </p:sp>
      <p:sp>
        <p:nvSpPr>
          <p:cNvPr id="90" name="Shape 87"/>
          <p:cNvSpPr/>
          <p:nvPr/>
        </p:nvSpPr>
        <p:spPr>
          <a:xfrm>
            <a:off x="9756648" y="5541264"/>
            <a:ext cx="566928" cy="274320"/>
          </a:xfrm>
          <a:prstGeom prst="rect">
            <a:avLst/>
          </a:prstGeom>
          <a:solidFill>
            <a:srgbClr val="FFFFFF"/>
          </a:solidFill>
          <a:ln w="12700">
            <a:solidFill>
              <a:srgbClr val="FFFFFF"/>
            </a:solidFill>
            <a:prstDash val="solid"/>
          </a:ln>
        </p:spPr>
      </p:sp>
      <p:sp>
        <p:nvSpPr>
          <p:cNvPr id="91" name="Text 88"/>
          <p:cNvSpPr txBox="1"/>
          <p:nvPr/>
        </p:nvSpPr>
        <p:spPr>
          <a:xfrm>
            <a:off x="9866376" y="5577840"/>
            <a:ext cx="347472" cy="201168"/>
          </a:xfrm>
          <a:prstGeom prst="rect">
            <a:avLst/>
          </a:prstGeom>
          <a:noFill/>
          <a:ln/>
        </p:spPr>
        <p:txBody>
          <a:bodyPr wrap="square" lIns="0" tIns="0" rIns="0" bIns="0" rtlCol="0" anchor="t"/>
          <a:lstStyle/>
          <a:p>
            <a:pPr algn="ctr" indent="0" marL="0">
              <a:buNone/>
            </a:pPr>
            <a:r>
              <a:rPr lang="en-US" sz="1020" dirty="0">
                <a:solidFill>
                  <a:srgbClr val="243B53"/>
                </a:solidFill>
                <a:latin typeface="Aptos" pitchFamily="34" charset="0"/>
                <a:ea typeface="Aptos" pitchFamily="34" charset="-122"/>
                <a:cs typeface="Aptos" pitchFamily="34" charset="-120"/>
              </a:rPr>
              <a:t>2</a:t>
            </a:r>
            <a:endParaRPr lang="en-US" sz="1020" dirty="0"/>
          </a:p>
        </p:txBody>
      </p:sp>
      <p:sp>
        <p:nvSpPr>
          <p:cNvPr id="92" name="Shape 89"/>
          <p:cNvSpPr/>
          <p:nvPr/>
        </p:nvSpPr>
        <p:spPr>
          <a:xfrm>
            <a:off x="10323576" y="5541264"/>
            <a:ext cx="1207008" cy="274320"/>
          </a:xfrm>
          <a:prstGeom prst="rect">
            <a:avLst/>
          </a:prstGeom>
          <a:solidFill>
            <a:srgbClr val="FFFFFF"/>
          </a:solidFill>
          <a:ln w="12700">
            <a:solidFill>
              <a:srgbClr val="FFFFFF"/>
            </a:solidFill>
            <a:prstDash val="solid"/>
          </a:ln>
        </p:spPr>
      </p:sp>
      <p:sp>
        <p:nvSpPr>
          <p:cNvPr id="93" name="Text 90"/>
          <p:cNvSpPr txBox="1"/>
          <p:nvPr/>
        </p:nvSpPr>
        <p:spPr>
          <a:xfrm>
            <a:off x="10433304" y="5577840"/>
            <a:ext cx="987552" cy="201168"/>
          </a:xfrm>
          <a:prstGeom prst="rect">
            <a:avLst/>
          </a:prstGeom>
          <a:noFill/>
          <a:ln/>
        </p:spPr>
        <p:txBody>
          <a:bodyPr wrap="square" lIns="0" tIns="0" rIns="0" bIns="0" rtlCol="0" anchor="t"/>
          <a:lstStyle/>
          <a:p>
            <a:pPr algn="ctr" indent="0" marL="0">
              <a:buNone/>
            </a:pPr>
            <a:r>
              <a:rPr lang="en-US" sz="1020" b="1" dirty="0">
                <a:solidFill>
                  <a:srgbClr val="B3181E"/>
                </a:solidFill>
                <a:latin typeface="Aptos" pitchFamily="34" charset="0"/>
                <a:ea typeface="Aptos" pitchFamily="34" charset="-122"/>
                <a:cs typeface="Aptos" pitchFamily="34" charset="-120"/>
              </a:rPr>
              <a:t>6</a:t>
            </a:r>
            <a:endParaRPr lang="en-US" sz="1020" dirty="0"/>
          </a:p>
        </p:txBody>
      </p:sp>
      <p:sp>
        <p:nvSpPr>
          <p:cNvPr id="94" name="Shape 91"/>
          <p:cNvSpPr/>
          <p:nvPr/>
        </p:nvSpPr>
        <p:spPr>
          <a:xfrm>
            <a:off x="658368" y="5943600"/>
            <a:ext cx="10874959" cy="457200"/>
          </a:xfrm>
          <a:prstGeom prst="rect">
            <a:avLst/>
          </a:prstGeom>
          <a:solidFill>
            <a:srgbClr val="102A43"/>
          </a:solidFill>
          <a:ln w="12700">
            <a:solidFill>
              <a:srgbClr val="102A43"/>
            </a:solidFill>
            <a:prstDash val="solid"/>
          </a:ln>
        </p:spPr>
      </p:sp>
      <p:sp>
        <p:nvSpPr>
          <p:cNvPr id="95" name="Text 92"/>
          <p:cNvSpPr txBox="1"/>
          <p:nvPr/>
        </p:nvSpPr>
        <p:spPr>
          <a:xfrm>
            <a:off x="950976" y="5980176"/>
            <a:ext cx="10289743" cy="38404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Hay que decirlo de entrada: el plan es bueno.</a:t>
            </a:r>
            <a:endParaRPr lang="en-US" sz="138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14</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1 · COMPROBAR ANTES DE CREER</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Un riesgo del plan, convertido en prueba</a:t>
            </a:r>
            <a:endParaRPr lang="en-US" sz="3000" dirty="0"/>
          </a:p>
        </p:txBody>
      </p:sp>
      <p:sp>
        <p:nvSpPr>
          <p:cNvPr id="10" name="Text 7"/>
          <p:cNvSpPr txBox="1"/>
          <p:nvPr/>
        </p:nvSpPr>
        <p:spPr>
          <a:xfrm>
            <a:off x="658368" y="1664208"/>
            <a:ext cx="10424160" cy="347472"/>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El requisito del proyecto dice «hasta 3 reservas por semana». Si eso es cierto, quien tuvo tres en semanas pasadas debe poder reservar hoy.</a:t>
            </a:r>
            <a:endParaRPr lang="en-US" sz="1420" dirty="0"/>
          </a:p>
        </p:txBody>
      </p:sp>
      <p:sp>
        <p:nvSpPr>
          <p:cNvPr id="11" name="Shape 8"/>
          <p:cNvSpPr/>
          <p:nvPr/>
        </p:nvSpPr>
        <p:spPr>
          <a:xfrm>
            <a:off x="658368" y="2231136"/>
            <a:ext cx="6144768" cy="2596896"/>
          </a:xfrm>
          <a:prstGeom prst="roundRect">
            <a:avLst>
              <a:gd name="adj" fmla="val 1408"/>
            </a:avLst>
          </a:prstGeom>
          <a:solidFill>
            <a:srgbClr val="102A43"/>
          </a:solidFill>
          <a:ln w="12700">
            <a:solidFill>
              <a:srgbClr val="102A43"/>
            </a:solidFill>
            <a:prstDash val="solid"/>
          </a:ln>
        </p:spPr>
      </p:sp>
      <p:sp>
        <p:nvSpPr>
          <p:cNvPr id="12" name="Shape 9"/>
          <p:cNvSpPr/>
          <p:nvPr/>
        </p:nvSpPr>
        <p:spPr>
          <a:xfrm>
            <a:off x="786384" y="2340864"/>
            <a:ext cx="5888736" cy="310896"/>
          </a:xfrm>
          <a:prstGeom prst="roundRect">
            <a:avLst>
              <a:gd name="adj" fmla="val 8824"/>
            </a:avLst>
          </a:prstGeom>
          <a:solidFill>
            <a:srgbClr val="284B75"/>
          </a:solidFill>
          <a:ln w="12700">
            <a:solidFill>
              <a:srgbClr val="284B75"/>
            </a:solidFill>
            <a:prstDash val="solid"/>
          </a:ln>
        </p:spPr>
      </p:sp>
      <p:sp>
        <p:nvSpPr>
          <p:cNvPr id="13" name="Text 10"/>
          <p:cNvSpPr/>
          <p:nvPr/>
        </p:nvSpPr>
        <p:spPr>
          <a:xfrm>
            <a:off x="896112" y="2414016"/>
            <a:ext cx="5669280" cy="146304"/>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La prueba que convierte RP2 en una pregunta con respuesta</a:t>
            </a:r>
            <a:endParaRPr lang="en-US" sz="1000" dirty="0"/>
          </a:p>
        </p:txBody>
      </p:sp>
      <p:pic>
        <p:nvPicPr>
          <p:cNvPr id="14"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77824" y="2798064"/>
            <a:ext cx="5724144" cy="1847088"/>
          </a:xfrm>
          <a:prstGeom prst="rect">
            <a:avLst/>
          </a:prstGeom>
        </p:spPr>
      </p:pic>
      <p:sp>
        <p:nvSpPr>
          <p:cNvPr id="15" name="Shape 11"/>
          <p:cNvSpPr/>
          <p:nvPr/>
        </p:nvSpPr>
        <p:spPr>
          <a:xfrm>
            <a:off x="6949440" y="2231136"/>
            <a:ext cx="4590288" cy="1353312"/>
          </a:xfrm>
          <a:prstGeom prst="roundRect">
            <a:avLst>
              <a:gd name="adj" fmla="val 2703"/>
            </a:avLst>
          </a:prstGeom>
          <a:solidFill>
            <a:srgbClr val="0F1720"/>
          </a:solidFill>
          <a:ln w="12700">
            <a:solidFill>
              <a:srgbClr val="0F1720"/>
            </a:solidFill>
            <a:prstDash val="solid"/>
          </a:ln>
        </p:spPr>
      </p:sp>
      <p:sp>
        <p:nvSpPr>
          <p:cNvPr id="16" name="Shape 12"/>
          <p:cNvSpPr/>
          <p:nvPr/>
        </p:nvSpPr>
        <p:spPr>
          <a:xfrm>
            <a:off x="7077456" y="2340864"/>
            <a:ext cx="4334256" cy="310896"/>
          </a:xfrm>
          <a:prstGeom prst="roundRect">
            <a:avLst>
              <a:gd name="adj" fmla="val 8824"/>
            </a:avLst>
          </a:prstGeom>
          <a:solidFill>
            <a:srgbClr val="1E2937"/>
          </a:solidFill>
          <a:ln w="12700">
            <a:solidFill>
              <a:srgbClr val="1E2937"/>
            </a:solidFill>
            <a:prstDash val="solid"/>
          </a:ln>
        </p:spPr>
      </p:sp>
      <p:sp>
        <p:nvSpPr>
          <p:cNvPr id="17" name="Text 13"/>
          <p:cNvSpPr/>
          <p:nvPr/>
        </p:nvSpPr>
        <p:spPr>
          <a:xfrm>
            <a:off x="7205472" y="2414016"/>
            <a:ext cx="4078224" cy="128016"/>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El resultado</a:t>
            </a:r>
            <a:endParaRPr lang="en-US" sz="1000" dirty="0"/>
          </a:p>
        </p:txBody>
      </p:sp>
      <p:sp>
        <p:nvSpPr>
          <p:cNvPr id="18" name="Text 14"/>
          <p:cNvSpPr/>
          <p:nvPr/>
        </p:nvSpPr>
        <p:spPr>
          <a:xfrm>
            <a:off x="7168896" y="2798064"/>
            <a:ext cx="3840480" cy="164592"/>
          </a:xfrm>
          <a:prstGeom prst="rect">
            <a:avLst/>
          </a:prstGeom>
          <a:noFill/>
          <a:ln/>
        </p:spPr>
        <p:txBody>
          <a:bodyPr wrap="square" lIns="0" tIns="0" rIns="0" bIns="0" rtlCol="0" anchor="ctr"/>
          <a:lstStyle/>
          <a:p>
            <a:pPr indent="0" marL="0">
              <a:buNone/>
            </a:pPr>
            <a:r>
              <a:rPr lang="en-US" sz="1020" dirty="0">
                <a:solidFill>
                  <a:srgbClr val="8AA0B6"/>
                </a:solidFill>
                <a:latin typeface="Consolas" pitchFamily="34" charset="0"/>
                <a:ea typeface="Consolas" pitchFamily="34" charset="-122"/>
                <a:cs typeface="Consolas" pitchFamily="34" charset="-120"/>
              </a:rPr>
              <a:t>assert 409 == 201</a:t>
            </a:r>
            <a:endParaRPr lang="en-US" sz="1020" dirty="0"/>
          </a:p>
        </p:txBody>
      </p:sp>
      <p:sp>
        <p:nvSpPr>
          <p:cNvPr id="19" name="Text 15"/>
          <p:cNvSpPr/>
          <p:nvPr/>
        </p:nvSpPr>
        <p:spPr>
          <a:xfrm>
            <a:off x="7168896" y="3054096"/>
            <a:ext cx="3840480" cy="164592"/>
          </a:xfrm>
          <a:prstGeom prst="rect">
            <a:avLst/>
          </a:prstGeom>
          <a:noFill/>
          <a:ln/>
        </p:spPr>
        <p:txBody>
          <a:bodyPr wrap="square" lIns="0" tIns="0" rIns="0" bIns="0" rtlCol="0" anchor="ctr"/>
          <a:lstStyle/>
          <a:p>
            <a:pPr indent="0" marL="0">
              <a:buNone/>
            </a:pPr>
            <a:r>
              <a:rPr lang="en-US" sz="1020" dirty="0">
                <a:solidFill>
                  <a:srgbClr val="E6EEF7"/>
                </a:solidFill>
                <a:latin typeface="Consolas" pitchFamily="34" charset="0"/>
                <a:ea typeface="Consolas" pitchFamily="34" charset="-122"/>
                <a:cs typeface="Consolas" pitchFamily="34" charset="-120"/>
              </a:rPr>
              <a:t>1 failed, 1 warning in 0.86s</a:t>
            </a:r>
            <a:endParaRPr lang="en-US" sz="1020" dirty="0"/>
          </a:p>
        </p:txBody>
      </p:sp>
      <p:sp>
        <p:nvSpPr>
          <p:cNvPr id="20" name="Shape 16"/>
          <p:cNvSpPr/>
          <p:nvPr/>
        </p:nvSpPr>
        <p:spPr>
          <a:xfrm>
            <a:off x="6949440" y="3712464"/>
            <a:ext cx="4590288" cy="1115568"/>
          </a:xfrm>
          <a:prstGeom prst="rect">
            <a:avLst/>
          </a:prstGeom>
          <a:solidFill>
            <a:srgbClr val="FFFFFF"/>
          </a:solidFill>
          <a:ln w="12700">
            <a:solidFill>
              <a:srgbClr val="FFFFFF"/>
            </a:solidFill>
            <a:prstDash val="solid"/>
          </a:ln>
        </p:spPr>
      </p:sp>
      <p:sp>
        <p:nvSpPr>
          <p:cNvPr id="21" name="Shape 17"/>
          <p:cNvSpPr/>
          <p:nvPr/>
        </p:nvSpPr>
        <p:spPr>
          <a:xfrm>
            <a:off x="6949440" y="3712464"/>
            <a:ext cx="4590288" cy="54864"/>
          </a:xfrm>
          <a:prstGeom prst="rect">
            <a:avLst/>
          </a:prstGeom>
          <a:solidFill>
            <a:srgbClr val="102A43"/>
          </a:solidFill>
          <a:ln w="12700">
            <a:solidFill>
              <a:srgbClr val="102A43"/>
            </a:solidFill>
            <a:prstDash val="solid"/>
          </a:ln>
        </p:spPr>
      </p:sp>
      <p:sp>
        <p:nvSpPr>
          <p:cNvPr id="22" name="Text 18"/>
          <p:cNvSpPr txBox="1"/>
          <p:nvPr/>
        </p:nvSpPr>
        <p:spPr>
          <a:xfrm>
            <a:off x="7150608" y="3895344"/>
            <a:ext cx="4187952" cy="182880"/>
          </a:xfrm>
          <a:prstGeom prst="rect">
            <a:avLst/>
          </a:prstGeom>
          <a:noFill/>
          <a:ln/>
        </p:spPr>
        <p:txBody>
          <a:bodyPr wrap="square" lIns="0" tIns="0" rIns="0" bIns="0" rtlCol="0" anchor="t"/>
          <a:lstStyle/>
          <a:p>
            <a:pPr algn="l" indent="0" marL="0">
              <a:buNone/>
            </a:pPr>
            <a:r>
              <a:rPr lang="en-US" sz="960" b="1" spc="100" kern="0" dirty="0">
                <a:solidFill>
                  <a:srgbClr val="102A43"/>
                </a:solidFill>
                <a:latin typeface="Aptos" pitchFamily="34" charset="0"/>
                <a:ea typeface="Aptos" pitchFamily="34" charset="-122"/>
                <a:cs typeface="Aptos" pitchFamily="34" charset="-120"/>
              </a:rPr>
              <a:t>CÓMO SE LEE ESA LÍNEA</a:t>
            </a:r>
            <a:endParaRPr lang="en-US" sz="960" dirty="0"/>
          </a:p>
        </p:txBody>
      </p:sp>
      <p:sp>
        <p:nvSpPr>
          <p:cNvPr id="23" name="Text 19"/>
          <p:cNvSpPr txBox="1"/>
          <p:nvPr/>
        </p:nvSpPr>
        <p:spPr>
          <a:xfrm>
            <a:off x="7150608" y="4133088"/>
            <a:ext cx="4187952" cy="566928"/>
          </a:xfrm>
          <a:prstGeom prst="rect">
            <a:avLst/>
          </a:prstGeom>
          <a:noFill/>
          <a:ln/>
        </p:spPr>
        <p:txBody>
          <a:bodyPr wrap="square" lIns="0" tIns="0" rIns="0" bIns="0" rtlCol="0" anchor="t"/>
          <a:lstStyle/>
          <a:p>
            <a:pPr algn="l" indent="0" marL="0">
              <a:lnSpc>
                <a:spcPct val="114000"/>
              </a:lnSpc>
              <a:buNone/>
            </a:pPr>
            <a:r>
              <a:rPr lang="en-US" sz="1020" dirty="0">
                <a:solidFill>
                  <a:srgbClr val="243B53"/>
                </a:solidFill>
                <a:latin typeface="Aptos" pitchFamily="34" charset="0"/>
                <a:ea typeface="Aptos" pitchFamily="34" charset="-122"/>
                <a:cs typeface="Aptos" pitchFamily="34" charset="-120"/>
              </a:rPr>
              <a:t>Obtenido a la izquierda, esperado a la derecha. El 201 significa «se creó algo nuevo» y es lo que el contrato manda devolver al aceptar. El 409 significa que la solicitud choca con el estado actual: el rechazo.</a:t>
            </a:r>
            <a:endParaRPr lang="en-US" sz="1020" dirty="0"/>
          </a:p>
        </p:txBody>
      </p:sp>
      <p:sp>
        <p:nvSpPr>
          <p:cNvPr id="24" name="Shape 20"/>
          <p:cNvSpPr/>
          <p:nvPr/>
        </p:nvSpPr>
        <p:spPr>
          <a:xfrm>
            <a:off x="658368" y="4846320"/>
            <a:ext cx="10874959" cy="713232"/>
          </a:xfrm>
          <a:prstGeom prst="rect">
            <a:avLst/>
          </a:prstGeom>
          <a:solidFill>
            <a:srgbClr val="F2E7D9"/>
          </a:solidFill>
          <a:ln w="12700">
            <a:solidFill>
              <a:srgbClr val="F2E7D9"/>
            </a:solidFill>
            <a:prstDash val="solid"/>
          </a:ln>
        </p:spPr>
      </p:sp>
      <p:sp>
        <p:nvSpPr>
          <p:cNvPr id="25" name="Shape 21"/>
          <p:cNvSpPr/>
          <p:nvPr/>
        </p:nvSpPr>
        <p:spPr>
          <a:xfrm>
            <a:off x="658368" y="4846320"/>
            <a:ext cx="54864" cy="713232"/>
          </a:xfrm>
          <a:prstGeom prst="rect">
            <a:avLst/>
          </a:prstGeom>
          <a:solidFill>
            <a:srgbClr val="B3181E"/>
          </a:solidFill>
          <a:ln w="12700">
            <a:solidFill>
              <a:srgbClr val="B3181E"/>
            </a:solidFill>
            <a:prstDash val="solid"/>
          </a:ln>
        </p:spPr>
      </p:sp>
      <p:sp>
        <p:nvSpPr>
          <p:cNvPr id="26" name="Text 22"/>
          <p:cNvSpPr txBox="1"/>
          <p:nvPr/>
        </p:nvSpPr>
        <p:spPr>
          <a:xfrm>
            <a:off x="932688" y="4937760"/>
            <a:ext cx="5486400" cy="201168"/>
          </a:xfrm>
          <a:prstGeom prst="rect">
            <a:avLst/>
          </a:prstGeom>
          <a:noFill/>
          <a:ln/>
        </p:spPr>
        <p:txBody>
          <a:bodyPr wrap="square" lIns="0" tIns="0" rIns="0" bIns="0" rtlCol="0" anchor="t"/>
          <a:lstStyle/>
          <a:p>
            <a:pPr algn="l" indent="0" marL="0">
              <a:buNone/>
            </a:pPr>
            <a:r>
              <a:rPr lang="en-US" sz="960" b="1" spc="130" kern="0" dirty="0">
                <a:solidFill>
                  <a:srgbClr val="B3181E"/>
                </a:solidFill>
                <a:latin typeface="Aptos" pitchFamily="34" charset="0"/>
                <a:ea typeface="Aptos" pitchFamily="34" charset="-122"/>
                <a:cs typeface="Aptos" pitchFamily="34" charset="-120"/>
              </a:rPr>
              <a:t>Y LAS VEINTIDÓS QUE PASABAN SIGUEN PASANDO</a:t>
            </a:r>
            <a:endParaRPr lang="en-US" sz="960" dirty="0"/>
          </a:p>
        </p:txBody>
      </p:sp>
      <p:sp>
        <p:nvSpPr>
          <p:cNvPr id="27" name="Text 23"/>
          <p:cNvSpPr txBox="1"/>
          <p:nvPr/>
        </p:nvSpPr>
        <p:spPr>
          <a:xfrm>
            <a:off x="932688" y="5157216"/>
            <a:ext cx="10326319" cy="365760"/>
          </a:xfrm>
          <a:prstGeom prst="rect">
            <a:avLst/>
          </a:prstGeom>
          <a:noFill/>
          <a:ln/>
        </p:spPr>
        <p:txBody>
          <a:bodyPr wrap="square" lIns="0" tIns="0" rIns="0" bIns="0" rtlCol="0" anchor="t"/>
          <a:lstStyle/>
          <a:p>
            <a:pPr algn="l" indent="0" marL="0">
              <a:lnSpc>
                <a:spcPct val="110000"/>
              </a:lnSpc>
              <a:buNone/>
            </a:pPr>
            <a:r>
              <a:rPr lang="en-US" sz="1100" dirty="0">
                <a:solidFill>
                  <a:srgbClr val="243B53"/>
                </a:solidFill>
                <a:latin typeface="Aptos" pitchFamily="34" charset="0"/>
                <a:ea typeface="Aptos" pitchFamily="34" charset="-122"/>
                <a:cs typeface="Aptos" pitchFamily="34" charset="-120"/>
              </a:rPr>
              <a:t>La regla recibe el conteo ya hecho y decide bien. Contar mal ocurre antes, y eso nadie lo probó.</a:t>
            </a:r>
            <a:endParaRPr lang="en-US" sz="1100" dirty="0"/>
          </a:p>
        </p:txBody>
      </p:sp>
      <p:sp>
        <p:nvSpPr>
          <p:cNvPr id="28" name="Shape 24"/>
          <p:cNvSpPr/>
          <p:nvPr/>
        </p:nvSpPr>
        <p:spPr>
          <a:xfrm>
            <a:off x="658368" y="5669280"/>
            <a:ext cx="10874959" cy="457200"/>
          </a:xfrm>
          <a:prstGeom prst="rect">
            <a:avLst/>
          </a:prstGeom>
          <a:solidFill>
            <a:srgbClr val="102A43"/>
          </a:solidFill>
          <a:ln w="12700">
            <a:solidFill>
              <a:srgbClr val="102A43"/>
            </a:solidFill>
            <a:prstDash val="solid"/>
          </a:ln>
        </p:spPr>
      </p:sp>
      <p:sp>
        <p:nvSpPr>
          <p:cNvPr id="29" name="Text 25"/>
          <p:cNvSpPr txBox="1"/>
          <p:nvPr/>
        </p:nvSpPr>
        <p:spPr>
          <a:xfrm>
            <a:off x="950976" y="5705856"/>
            <a:ext cx="10289743" cy="38404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No es un defecto que la suite no detectó. Es uno sobre el que nadie decidió.</a:t>
            </a:r>
            <a:endParaRPr lang="en-US" sz="138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15</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1 · EL HALLAZGO</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De un nombre de variable a un requisito</a:t>
            </a:r>
            <a:endParaRPr lang="en-US" sz="3000" dirty="0"/>
          </a:p>
        </p:txBody>
      </p:sp>
      <p:sp>
        <p:nvSpPr>
          <p:cNvPr id="10" name="Text 7"/>
          <p:cNvSpPr txBox="1"/>
          <p:nvPr/>
        </p:nvSpPr>
        <p:spPr>
          <a:xfrm>
            <a:off x="658368" y="1664208"/>
            <a:ext cx="10424160" cy="347472"/>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El plan encontró un defecto real. Y trae una fila que cambia cómo se lee todo lo demás.</a:t>
            </a:r>
            <a:endParaRPr lang="en-US" sz="1420" dirty="0"/>
          </a:p>
        </p:txBody>
      </p:sp>
      <p:sp>
        <p:nvSpPr>
          <p:cNvPr id="11" name="Shape 8"/>
          <p:cNvSpPr/>
          <p:nvPr/>
        </p:nvSpPr>
        <p:spPr>
          <a:xfrm>
            <a:off x="658368" y="2231136"/>
            <a:ext cx="10874959" cy="969264"/>
          </a:xfrm>
          <a:prstGeom prst="rect">
            <a:avLst/>
          </a:prstGeom>
          <a:solidFill>
            <a:srgbClr val="EDE6DA"/>
          </a:solidFill>
          <a:ln w="12700">
            <a:solidFill>
              <a:srgbClr val="EDE6DA"/>
            </a:solidFill>
            <a:prstDash val="solid"/>
          </a:ln>
        </p:spPr>
      </p:sp>
      <p:sp>
        <p:nvSpPr>
          <p:cNvPr id="12" name="Shape 9"/>
          <p:cNvSpPr/>
          <p:nvPr/>
        </p:nvSpPr>
        <p:spPr>
          <a:xfrm>
            <a:off x="658368" y="2231136"/>
            <a:ext cx="54864" cy="969264"/>
          </a:xfrm>
          <a:prstGeom prst="rect">
            <a:avLst/>
          </a:prstGeom>
          <a:solidFill>
            <a:srgbClr val="B3181E"/>
          </a:solidFill>
          <a:ln w="12700">
            <a:solidFill>
              <a:srgbClr val="B3181E"/>
            </a:solidFill>
            <a:prstDash val="solid"/>
          </a:ln>
        </p:spPr>
      </p:sp>
      <p:sp>
        <p:nvSpPr>
          <p:cNvPr id="13" name="Text 10"/>
          <p:cNvSpPr txBox="1"/>
          <p:nvPr/>
        </p:nvSpPr>
        <p:spPr>
          <a:xfrm>
            <a:off x="914400" y="2359152"/>
            <a:ext cx="10362895" cy="530352"/>
          </a:xfrm>
          <a:prstGeom prst="rect">
            <a:avLst/>
          </a:prstGeom>
          <a:noFill/>
          <a:ln/>
        </p:spPr>
        <p:txBody>
          <a:bodyPr wrap="square" lIns="0" tIns="0" rIns="0" bIns="0" rtlCol="0" anchor="t"/>
          <a:lstStyle/>
          <a:p>
            <a:pPr algn="l" indent="0" marL="0">
              <a:lnSpc>
                <a:spcPct val="116000"/>
              </a:lnSpc>
              <a:buNone/>
            </a:pPr>
            <a:r>
              <a:rPr lang="en-US" sz="1180" i="1" dirty="0">
                <a:solidFill>
                  <a:srgbClr val="243B53"/>
                </a:solidFill>
                <a:latin typeface="Aptos" pitchFamily="34" charset="0"/>
                <a:ea typeface="Aptos" pitchFamily="34" charset="-122"/>
                <a:cs typeface="Aptos" pitchFamily="34" charset="-120"/>
              </a:rPr>
              <a:t>«RPy2 · Riesgo de proyecto: faltan requisitos formales. Las reglas se infieren del código y de los nombres de las pruebas.»</a:t>
            </a:r>
            <a:endParaRPr lang="en-US" sz="1180" dirty="0"/>
          </a:p>
        </p:txBody>
      </p:sp>
      <p:sp>
        <p:nvSpPr>
          <p:cNvPr id="14" name="Text 11"/>
          <p:cNvSpPr txBox="1"/>
          <p:nvPr/>
        </p:nvSpPr>
        <p:spPr>
          <a:xfrm>
            <a:off x="914400" y="2926080"/>
            <a:ext cx="10362895" cy="182880"/>
          </a:xfrm>
          <a:prstGeom prst="rect">
            <a:avLst/>
          </a:prstGeom>
          <a:noFill/>
          <a:ln/>
        </p:spPr>
        <p:txBody>
          <a:bodyPr wrap="square" lIns="0" tIns="0" rIns="0" bIns="0" rtlCol="0" anchor="t"/>
          <a:lstStyle/>
          <a:p>
            <a:pPr algn="l" indent="0" marL="0">
              <a:buNone/>
            </a:pPr>
            <a:r>
              <a:rPr lang="en-US" sz="900" b="1" dirty="0">
                <a:solidFill>
                  <a:srgbClr val="B3181E"/>
                </a:solidFill>
                <a:latin typeface="Aptos" pitchFamily="34" charset="0"/>
                <a:ea typeface="Aptos" pitchFamily="34" charset="-122"/>
                <a:cs typeface="Aptos" pitchFamily="34" charset="-120"/>
              </a:rPr>
              <a:t>Escrito por el propio agente, en su registro de riesgos de proyecto</a:t>
            </a:r>
            <a:endParaRPr lang="en-US" sz="900" dirty="0"/>
          </a:p>
        </p:txBody>
      </p:sp>
      <p:sp>
        <p:nvSpPr>
          <p:cNvPr id="15" name="Shape 12"/>
          <p:cNvSpPr/>
          <p:nvPr/>
        </p:nvSpPr>
        <p:spPr>
          <a:xfrm>
            <a:off x="658368" y="3328416"/>
            <a:ext cx="3200400" cy="566928"/>
          </a:xfrm>
          <a:prstGeom prst="rect">
            <a:avLst/>
          </a:prstGeom>
          <a:solidFill>
            <a:srgbClr val="1D3A57"/>
          </a:solidFill>
          <a:ln w="12700">
            <a:solidFill>
              <a:srgbClr val="1D3A57"/>
            </a:solidFill>
            <a:prstDash val="solid"/>
          </a:ln>
        </p:spPr>
      </p:sp>
      <p:sp>
        <p:nvSpPr>
          <p:cNvPr id="16" name="Text 13"/>
          <p:cNvSpPr txBox="1"/>
          <p:nvPr/>
        </p:nvSpPr>
        <p:spPr>
          <a:xfrm>
            <a:off x="841248" y="3438144"/>
            <a:ext cx="283464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onsolas" pitchFamily="34" charset="0"/>
                <a:ea typeface="Consolas" pitchFamily="34" charset="-122"/>
                <a:cs typeface="Consolas" pitchFamily="34" charset="-120"/>
              </a:rPr>
              <a:t>MAX_POR_SEMANA</a:t>
            </a:r>
            <a:endParaRPr lang="en-US" sz="1400" dirty="0"/>
          </a:p>
        </p:txBody>
      </p:sp>
      <p:sp>
        <p:nvSpPr>
          <p:cNvPr id="17" name="Shape 14"/>
          <p:cNvSpPr/>
          <p:nvPr/>
        </p:nvSpPr>
        <p:spPr>
          <a:xfrm>
            <a:off x="3986784" y="3611880"/>
            <a:ext cx="914400" cy="0"/>
          </a:xfrm>
          <a:prstGeom prst="line">
            <a:avLst/>
          </a:prstGeom>
          <a:noFill/>
          <a:ln w="12700">
            <a:solidFill>
              <a:srgbClr val="B3181E"/>
            </a:solidFill>
            <a:prstDash val="solid"/>
            <a:headEnd type="none"/>
            <a:tailEnd type="triangle"/>
          </a:ln>
        </p:spPr>
      </p:sp>
      <p:sp>
        <p:nvSpPr>
          <p:cNvPr id="18" name="Text 15"/>
          <p:cNvSpPr txBox="1"/>
          <p:nvPr/>
        </p:nvSpPr>
        <p:spPr>
          <a:xfrm>
            <a:off x="4169664" y="3236976"/>
            <a:ext cx="548640" cy="274320"/>
          </a:xfrm>
          <a:prstGeom prst="rect">
            <a:avLst/>
          </a:prstGeom>
          <a:noFill/>
          <a:ln/>
        </p:spPr>
        <p:txBody>
          <a:bodyPr wrap="square" lIns="0" tIns="0" rIns="0" bIns="0" rtlCol="0" anchor="t"/>
          <a:lstStyle/>
          <a:p>
            <a:pPr algn="ctr" indent="0" marL="0">
              <a:buNone/>
            </a:pPr>
            <a:r>
              <a:rPr lang="en-US" sz="1800" b="1" dirty="0">
                <a:solidFill>
                  <a:srgbClr val="B3181E"/>
                </a:solidFill>
                <a:latin typeface="Aptos Display" pitchFamily="34" charset="0"/>
                <a:ea typeface="Aptos Display" pitchFamily="34" charset="-122"/>
                <a:cs typeface="Aptos Display" pitchFamily="34" charset="-120"/>
              </a:rPr>
              <a:t>¿?</a:t>
            </a:r>
            <a:endParaRPr lang="en-US" sz="1800" dirty="0"/>
          </a:p>
        </p:txBody>
      </p:sp>
      <p:sp>
        <p:nvSpPr>
          <p:cNvPr id="19" name="Shape 16"/>
          <p:cNvSpPr/>
          <p:nvPr/>
        </p:nvSpPr>
        <p:spPr>
          <a:xfrm>
            <a:off x="5029200" y="3328416"/>
            <a:ext cx="3200400" cy="566928"/>
          </a:xfrm>
          <a:prstGeom prst="rect">
            <a:avLst/>
          </a:prstGeom>
          <a:solidFill>
            <a:srgbClr val="F2E7D9"/>
          </a:solidFill>
          <a:ln w="12700">
            <a:solidFill>
              <a:srgbClr val="B3181E"/>
            </a:solidFill>
            <a:prstDash val="solid"/>
          </a:ln>
        </p:spPr>
      </p:sp>
      <p:sp>
        <p:nvSpPr>
          <p:cNvPr id="20" name="Text 17"/>
          <p:cNvSpPr txBox="1"/>
          <p:nvPr/>
        </p:nvSpPr>
        <p:spPr>
          <a:xfrm>
            <a:off x="5212080" y="3438144"/>
            <a:ext cx="2834640" cy="329184"/>
          </a:xfrm>
          <a:prstGeom prst="rect">
            <a:avLst/>
          </a:prstGeom>
          <a:noFill/>
          <a:ln/>
        </p:spPr>
        <p:txBody>
          <a:bodyPr wrap="square" lIns="0" tIns="0" rIns="0" bIns="0" rtlCol="0" anchor="ctr"/>
          <a:lstStyle/>
          <a:p>
            <a:pPr algn="ctr" indent="0" marL="0">
              <a:buNone/>
            </a:pPr>
            <a:r>
              <a:rPr lang="en-US" sz="1400" b="1" dirty="0">
                <a:solidFill>
                  <a:srgbClr val="B3181E"/>
                </a:solidFill>
                <a:latin typeface="Aptos" pitchFamily="34" charset="0"/>
                <a:ea typeface="Aptos" pitchFamily="34" charset="-122"/>
                <a:cs typeface="Aptos" pitchFamily="34" charset="-120"/>
              </a:rPr>
              <a:t>«la regla es semanal»</a:t>
            </a:r>
            <a:endParaRPr lang="en-US" sz="1400" dirty="0"/>
          </a:p>
        </p:txBody>
      </p:sp>
      <p:sp>
        <p:nvSpPr>
          <p:cNvPr id="21" name="Text 18"/>
          <p:cNvSpPr txBox="1"/>
          <p:nvPr/>
        </p:nvSpPr>
        <p:spPr>
          <a:xfrm>
            <a:off x="8412480" y="3328416"/>
            <a:ext cx="3118104" cy="566928"/>
          </a:xfrm>
          <a:prstGeom prst="rect">
            <a:avLst/>
          </a:prstGeom>
          <a:noFill/>
          <a:ln/>
        </p:spPr>
        <p:txBody>
          <a:bodyPr wrap="square" lIns="0" tIns="0" rIns="0" bIns="0" rtlCol="0" anchor="t"/>
          <a:lstStyle/>
          <a:p>
            <a:pPr algn="l" indent="0" marL="0">
              <a:lnSpc>
                <a:spcPct val="112000"/>
              </a:lnSpc>
              <a:buNone/>
            </a:pPr>
            <a:r>
              <a:rPr lang="en-US" sz="1160" i="1" dirty="0">
                <a:solidFill>
                  <a:srgbClr val="52606D"/>
                </a:solidFill>
                <a:latin typeface="Aptos" pitchFamily="34" charset="0"/>
                <a:ea typeface="Aptos" pitchFamily="34" charset="-122"/>
                <a:cs typeface="Aptos" pitchFamily="34" charset="-120"/>
              </a:rPr>
              <a:t>Leyó un nombre de variable</a:t>
            </a:r>
            <a:endParaRPr lang="en-US" sz="1160" dirty="0"/>
          </a:p>
          <a:p>
            <a:pPr algn="l" indent="0" marL="0">
              <a:lnSpc>
                <a:spcPct val="112000"/>
              </a:lnSpc>
              <a:buNone/>
            </a:pPr>
            <a:r>
              <a:rPr lang="en-US" sz="1160" i="1" dirty="0">
                <a:solidFill>
                  <a:srgbClr val="52606D"/>
                </a:solidFill>
                <a:latin typeface="Aptos" pitchFamily="34" charset="0"/>
                <a:ea typeface="Aptos" pitchFamily="34" charset="-122"/>
                <a:cs typeface="Aptos" pitchFamily="34" charset="-120"/>
              </a:rPr>
              <a:t>y lo elevó a requisito.</a:t>
            </a:r>
            <a:endParaRPr lang="en-US" sz="1160" dirty="0"/>
          </a:p>
        </p:txBody>
      </p:sp>
      <p:sp>
        <p:nvSpPr>
          <p:cNvPr id="22" name="Shape 19"/>
          <p:cNvSpPr/>
          <p:nvPr/>
        </p:nvSpPr>
        <p:spPr>
          <a:xfrm>
            <a:off x="658368" y="3986784"/>
            <a:ext cx="5349240" cy="841248"/>
          </a:xfrm>
          <a:prstGeom prst="rect">
            <a:avLst/>
          </a:prstGeom>
          <a:solidFill>
            <a:srgbClr val="FFFFFF"/>
          </a:solidFill>
          <a:ln w="12700">
            <a:solidFill>
              <a:srgbClr val="FFFFFF"/>
            </a:solidFill>
            <a:prstDash val="solid"/>
          </a:ln>
        </p:spPr>
      </p:sp>
      <p:sp>
        <p:nvSpPr>
          <p:cNvPr id="23" name="Shape 20"/>
          <p:cNvSpPr/>
          <p:nvPr/>
        </p:nvSpPr>
        <p:spPr>
          <a:xfrm>
            <a:off x="658368" y="3986784"/>
            <a:ext cx="54864" cy="841248"/>
          </a:xfrm>
          <a:prstGeom prst="rect">
            <a:avLst/>
          </a:prstGeom>
          <a:solidFill>
            <a:srgbClr val="2E7D4F"/>
          </a:solidFill>
          <a:ln w="12700">
            <a:solidFill>
              <a:srgbClr val="2E7D4F"/>
            </a:solidFill>
            <a:prstDash val="solid"/>
          </a:ln>
        </p:spPr>
      </p:sp>
      <p:sp>
        <p:nvSpPr>
          <p:cNvPr id="24" name="Text 21"/>
          <p:cNvSpPr txBox="1"/>
          <p:nvPr/>
        </p:nvSpPr>
        <p:spPr>
          <a:xfrm>
            <a:off x="914400" y="4114800"/>
            <a:ext cx="4846320" cy="256032"/>
          </a:xfrm>
          <a:prstGeom prst="rect">
            <a:avLst/>
          </a:prstGeom>
          <a:noFill/>
          <a:ln/>
        </p:spPr>
        <p:txBody>
          <a:bodyPr wrap="square" lIns="0" tIns="0" rIns="0" bIns="0" rtlCol="0" anchor="t"/>
          <a:lstStyle/>
          <a:p>
            <a:pPr algn="l" indent="0" marL="0">
              <a:buNone/>
            </a:pPr>
            <a:r>
              <a:rPr lang="en-US" sz="1300" b="1" dirty="0">
                <a:solidFill>
                  <a:srgbClr val="2E7D4F"/>
                </a:solidFill>
                <a:latin typeface="Aptos" pitchFamily="34" charset="0"/>
                <a:ea typeface="Aptos" pitchFamily="34" charset="-122"/>
                <a:cs typeface="Aptos" pitchFamily="34" charset="-120"/>
              </a:rPr>
              <a:t>Si el nombre estaba bien elegido</a:t>
            </a:r>
            <a:endParaRPr lang="en-US" sz="1300" dirty="0"/>
          </a:p>
        </p:txBody>
      </p:sp>
      <p:sp>
        <p:nvSpPr>
          <p:cNvPr id="25" name="Text 22"/>
          <p:cNvSpPr txBox="1"/>
          <p:nvPr/>
        </p:nvSpPr>
        <p:spPr>
          <a:xfrm>
            <a:off x="914400" y="4407408"/>
            <a:ext cx="4846320" cy="310896"/>
          </a:xfrm>
          <a:prstGeom prst="rect">
            <a:avLst/>
          </a:prstGeom>
          <a:noFill/>
          <a:ln/>
        </p:spPr>
        <p:txBody>
          <a:bodyPr wrap="square" lIns="0" tIns="0" rIns="0" bIns="0" rtlCol="0" anchor="t"/>
          <a:lstStyle/>
          <a:p>
            <a:pPr algn="l" indent="0" marL="0">
              <a:lnSpc>
                <a:spcPct val="110000"/>
              </a:lnSpc>
              <a:buNone/>
            </a:pPr>
            <a:r>
              <a:rPr lang="en-US" sz="1100" dirty="0">
                <a:solidFill>
                  <a:srgbClr val="243B53"/>
                </a:solidFill>
                <a:latin typeface="Aptos" pitchFamily="34" charset="0"/>
                <a:ea typeface="Aptos" pitchFamily="34" charset="-122"/>
                <a:cs typeface="Aptos" pitchFamily="34" charset="-120"/>
              </a:rPr>
              <a:t>Acertó. Es lo que ocurrió aquí.</a:t>
            </a:r>
            <a:endParaRPr lang="en-US" sz="1100" dirty="0"/>
          </a:p>
        </p:txBody>
      </p:sp>
      <p:sp>
        <p:nvSpPr>
          <p:cNvPr id="26" name="Shape 23"/>
          <p:cNvSpPr/>
          <p:nvPr/>
        </p:nvSpPr>
        <p:spPr>
          <a:xfrm>
            <a:off x="6181344" y="3986784"/>
            <a:ext cx="5349240" cy="841248"/>
          </a:xfrm>
          <a:prstGeom prst="rect">
            <a:avLst/>
          </a:prstGeom>
          <a:solidFill>
            <a:srgbClr val="F2E7D9"/>
          </a:solidFill>
          <a:ln w="12700">
            <a:solidFill>
              <a:srgbClr val="F2E7D9"/>
            </a:solidFill>
            <a:prstDash val="solid"/>
          </a:ln>
        </p:spPr>
      </p:sp>
      <p:sp>
        <p:nvSpPr>
          <p:cNvPr id="27" name="Shape 24"/>
          <p:cNvSpPr/>
          <p:nvPr/>
        </p:nvSpPr>
        <p:spPr>
          <a:xfrm>
            <a:off x="6181344" y="3986784"/>
            <a:ext cx="54864" cy="841248"/>
          </a:xfrm>
          <a:prstGeom prst="rect">
            <a:avLst/>
          </a:prstGeom>
          <a:solidFill>
            <a:srgbClr val="B3181E"/>
          </a:solidFill>
          <a:ln w="12700">
            <a:solidFill>
              <a:srgbClr val="B3181E"/>
            </a:solidFill>
            <a:prstDash val="solid"/>
          </a:ln>
        </p:spPr>
      </p:sp>
      <p:sp>
        <p:nvSpPr>
          <p:cNvPr id="28" name="Text 25"/>
          <p:cNvSpPr txBox="1"/>
          <p:nvPr/>
        </p:nvSpPr>
        <p:spPr>
          <a:xfrm>
            <a:off x="6437376" y="4114800"/>
            <a:ext cx="4846320" cy="256032"/>
          </a:xfrm>
          <a:prstGeom prst="rect">
            <a:avLst/>
          </a:prstGeom>
          <a:noFill/>
          <a:ln/>
        </p:spPr>
        <p:txBody>
          <a:bodyPr wrap="square" lIns="0" tIns="0" rIns="0" bIns="0" rtlCol="0" anchor="t"/>
          <a:lstStyle/>
          <a:p>
            <a:pPr algn="l" indent="0" marL="0">
              <a:buNone/>
            </a:pPr>
            <a:r>
              <a:rPr lang="en-US" sz="1300" b="1" dirty="0">
                <a:solidFill>
                  <a:srgbClr val="B3181E"/>
                </a:solidFill>
                <a:latin typeface="Aptos" pitchFamily="34" charset="0"/>
                <a:ea typeface="Aptos" pitchFamily="34" charset="-122"/>
                <a:cs typeface="Aptos" pitchFamily="34" charset="-120"/>
              </a:rPr>
              <a:t>Si el nombre estaba mal elegido</a:t>
            </a:r>
            <a:endParaRPr lang="en-US" sz="1300" dirty="0"/>
          </a:p>
        </p:txBody>
      </p:sp>
      <p:sp>
        <p:nvSpPr>
          <p:cNvPr id="29" name="Text 26"/>
          <p:cNvSpPr txBox="1"/>
          <p:nvPr/>
        </p:nvSpPr>
        <p:spPr>
          <a:xfrm>
            <a:off x="6437376" y="4407408"/>
            <a:ext cx="4846320" cy="310896"/>
          </a:xfrm>
          <a:prstGeom prst="rect">
            <a:avLst/>
          </a:prstGeom>
          <a:noFill/>
          <a:ln/>
        </p:spPr>
        <p:txBody>
          <a:bodyPr wrap="square" lIns="0" tIns="0" rIns="0" bIns="0" rtlCol="0" anchor="t"/>
          <a:lstStyle/>
          <a:p>
            <a:pPr algn="l" indent="0" marL="0">
              <a:lnSpc>
                <a:spcPct val="110000"/>
              </a:lnSpc>
              <a:buNone/>
            </a:pPr>
            <a:r>
              <a:rPr lang="en-US" sz="1100" dirty="0">
                <a:solidFill>
                  <a:srgbClr val="243B53"/>
                </a:solidFill>
                <a:latin typeface="Aptos" pitchFamily="34" charset="0"/>
                <a:ea typeface="Aptos" pitchFamily="34" charset="-122"/>
                <a:cs typeface="Aptos" pitchFamily="34" charset="-120"/>
              </a:rPr>
              <a:t>El mismo riesgo, el mismo nivel 6, la misma redacción segura. Y equivocado.</a:t>
            </a:r>
            <a:endParaRPr lang="en-US" sz="1100" dirty="0"/>
          </a:p>
        </p:txBody>
      </p:sp>
      <p:sp>
        <p:nvSpPr>
          <p:cNvPr id="30" name="Text 27"/>
          <p:cNvSpPr txBox="1"/>
          <p:nvPr/>
        </p:nvSpPr>
        <p:spPr>
          <a:xfrm>
            <a:off x="658368" y="4974336"/>
            <a:ext cx="5486400" cy="201168"/>
          </a:xfrm>
          <a:prstGeom prst="rect">
            <a:avLst/>
          </a:prstGeom>
          <a:noFill/>
          <a:ln/>
        </p:spPr>
        <p:txBody>
          <a:bodyPr wrap="square" lIns="0" tIns="0" rIns="0" bIns="0" rtlCol="0" anchor="t"/>
          <a:lstStyle/>
          <a:p>
            <a:pPr algn="l" indent="0" marL="0">
              <a:buNone/>
            </a:pPr>
            <a:r>
              <a:rPr lang="en-US" sz="960" b="1" spc="130" kern="0" dirty="0">
                <a:solidFill>
                  <a:srgbClr val="D62027"/>
                </a:solidFill>
                <a:latin typeface="Aptos" pitchFamily="34" charset="0"/>
                <a:ea typeface="Aptos" pitchFamily="34" charset="-122"/>
                <a:cs typeface="Aptos" pitchFamily="34" charset="-120"/>
              </a:rPr>
              <a:t>UN PLAN MEZCLA DOS CLASES DE AFIRMACIÓN</a:t>
            </a:r>
            <a:endParaRPr lang="en-US" sz="960" dirty="0"/>
          </a:p>
        </p:txBody>
      </p:sp>
      <p:sp>
        <p:nvSpPr>
          <p:cNvPr id="31" name="Shape 28"/>
          <p:cNvSpPr/>
          <p:nvPr/>
        </p:nvSpPr>
        <p:spPr>
          <a:xfrm>
            <a:off x="658368" y="5212080"/>
            <a:ext cx="5349240" cy="365760"/>
          </a:xfrm>
          <a:prstGeom prst="rect">
            <a:avLst/>
          </a:prstGeom>
          <a:solidFill>
            <a:srgbClr val="EDE6DA"/>
          </a:solidFill>
          <a:ln w="12700">
            <a:solidFill>
              <a:srgbClr val="EDE6DA"/>
            </a:solidFill>
            <a:prstDash val="solid"/>
          </a:ln>
        </p:spPr>
      </p:sp>
      <p:sp>
        <p:nvSpPr>
          <p:cNvPr id="32" name="Shape 29"/>
          <p:cNvSpPr/>
          <p:nvPr/>
        </p:nvSpPr>
        <p:spPr>
          <a:xfrm>
            <a:off x="658368" y="5212080"/>
            <a:ext cx="54864" cy="365760"/>
          </a:xfrm>
          <a:prstGeom prst="rect">
            <a:avLst/>
          </a:prstGeom>
          <a:solidFill>
            <a:srgbClr val="2E7D4F"/>
          </a:solidFill>
          <a:ln w="12700">
            <a:solidFill>
              <a:srgbClr val="2E7D4F"/>
            </a:solidFill>
            <a:prstDash val="solid"/>
          </a:ln>
        </p:spPr>
      </p:sp>
      <p:sp>
        <p:nvSpPr>
          <p:cNvPr id="33" name="Text 30"/>
          <p:cNvSpPr txBox="1"/>
          <p:nvPr/>
        </p:nvSpPr>
        <p:spPr>
          <a:xfrm>
            <a:off x="877824" y="5294376"/>
            <a:ext cx="1920240" cy="182880"/>
          </a:xfrm>
          <a:prstGeom prst="rect">
            <a:avLst/>
          </a:prstGeom>
          <a:noFill/>
          <a:ln/>
        </p:spPr>
        <p:txBody>
          <a:bodyPr wrap="square" lIns="0" tIns="0" rIns="0" bIns="0" rtlCol="0" anchor="t"/>
          <a:lstStyle/>
          <a:p>
            <a:pPr algn="l" indent="0" marL="0">
              <a:buNone/>
            </a:pPr>
            <a:r>
              <a:rPr lang="en-US" sz="920" b="1" spc="90" kern="0" dirty="0">
                <a:solidFill>
                  <a:srgbClr val="2E7D4F"/>
                </a:solidFill>
                <a:latin typeface="Aptos" pitchFamily="34" charset="0"/>
                <a:ea typeface="Aptos" pitchFamily="34" charset="-122"/>
                <a:cs typeface="Aptos" pitchFamily="34" charset="-120"/>
              </a:rPr>
              <a:t>SOBRE EL SISTEMA</a:t>
            </a:r>
            <a:endParaRPr lang="en-US" sz="920" dirty="0"/>
          </a:p>
        </p:txBody>
      </p:sp>
      <p:sp>
        <p:nvSpPr>
          <p:cNvPr id="34" name="Text 31"/>
          <p:cNvSpPr txBox="1"/>
          <p:nvPr/>
        </p:nvSpPr>
        <p:spPr>
          <a:xfrm>
            <a:off x="2944368" y="5285232"/>
            <a:ext cx="2926080" cy="219456"/>
          </a:xfrm>
          <a:prstGeom prst="rect">
            <a:avLst/>
          </a:prstGeom>
          <a:noFill/>
          <a:ln/>
        </p:spPr>
        <p:txBody>
          <a:bodyPr wrap="square" lIns="0" tIns="0" rIns="0" bIns="0" rtlCol="0" anchor="t"/>
          <a:lstStyle/>
          <a:p>
            <a:pPr algn="l" indent="0" marL="0">
              <a:buNone/>
            </a:pPr>
            <a:r>
              <a:rPr lang="en-US" sz="1060" dirty="0">
                <a:solidFill>
                  <a:srgbClr val="243B53"/>
                </a:solidFill>
                <a:latin typeface="Aptos" pitchFamily="34" charset="0"/>
                <a:ea typeface="Aptos" pitchFamily="34" charset="-122"/>
                <a:cs typeface="Aptos" pitchFamily="34" charset="-120"/>
              </a:rPr>
              <a:t>Se comprueban ejecutando.</a:t>
            </a:r>
            <a:endParaRPr lang="en-US" sz="1060" dirty="0"/>
          </a:p>
        </p:txBody>
      </p:sp>
      <p:sp>
        <p:nvSpPr>
          <p:cNvPr id="35" name="Shape 32"/>
          <p:cNvSpPr/>
          <p:nvPr/>
        </p:nvSpPr>
        <p:spPr>
          <a:xfrm>
            <a:off x="6181344" y="5212080"/>
            <a:ext cx="5349240" cy="365760"/>
          </a:xfrm>
          <a:prstGeom prst="rect">
            <a:avLst/>
          </a:prstGeom>
          <a:solidFill>
            <a:srgbClr val="EDE6DA"/>
          </a:solidFill>
          <a:ln w="12700">
            <a:solidFill>
              <a:srgbClr val="EDE6DA"/>
            </a:solidFill>
            <a:prstDash val="solid"/>
          </a:ln>
        </p:spPr>
      </p:sp>
      <p:sp>
        <p:nvSpPr>
          <p:cNvPr id="36" name="Shape 33"/>
          <p:cNvSpPr/>
          <p:nvPr/>
        </p:nvSpPr>
        <p:spPr>
          <a:xfrm>
            <a:off x="6181344" y="5212080"/>
            <a:ext cx="54864" cy="365760"/>
          </a:xfrm>
          <a:prstGeom prst="rect">
            <a:avLst/>
          </a:prstGeom>
          <a:solidFill>
            <a:srgbClr val="102A43"/>
          </a:solidFill>
          <a:ln w="12700">
            <a:solidFill>
              <a:srgbClr val="102A43"/>
            </a:solidFill>
            <a:prstDash val="solid"/>
          </a:ln>
        </p:spPr>
      </p:sp>
      <p:sp>
        <p:nvSpPr>
          <p:cNvPr id="37" name="Text 34"/>
          <p:cNvSpPr txBox="1"/>
          <p:nvPr/>
        </p:nvSpPr>
        <p:spPr>
          <a:xfrm>
            <a:off x="6400800" y="5294376"/>
            <a:ext cx="1920240" cy="182880"/>
          </a:xfrm>
          <a:prstGeom prst="rect">
            <a:avLst/>
          </a:prstGeom>
          <a:noFill/>
          <a:ln/>
        </p:spPr>
        <p:txBody>
          <a:bodyPr wrap="square" lIns="0" tIns="0" rIns="0" bIns="0" rtlCol="0" anchor="t"/>
          <a:lstStyle/>
          <a:p>
            <a:pPr algn="l" indent="0" marL="0">
              <a:buNone/>
            </a:pPr>
            <a:r>
              <a:rPr lang="en-US" sz="920" b="1" spc="90" kern="0" dirty="0">
                <a:solidFill>
                  <a:srgbClr val="102A43"/>
                </a:solidFill>
                <a:latin typeface="Aptos" pitchFamily="34" charset="0"/>
                <a:ea typeface="Aptos" pitchFamily="34" charset="-122"/>
                <a:cs typeface="Aptos" pitchFamily="34" charset="-120"/>
              </a:rPr>
              <a:t>SOBRE DECISIONES</a:t>
            </a:r>
            <a:endParaRPr lang="en-US" sz="920" dirty="0"/>
          </a:p>
        </p:txBody>
      </p:sp>
      <p:sp>
        <p:nvSpPr>
          <p:cNvPr id="38" name="Text 35"/>
          <p:cNvSpPr txBox="1"/>
          <p:nvPr/>
        </p:nvSpPr>
        <p:spPr>
          <a:xfrm>
            <a:off x="8467344" y="5285232"/>
            <a:ext cx="2926080" cy="219456"/>
          </a:xfrm>
          <a:prstGeom prst="rect">
            <a:avLst/>
          </a:prstGeom>
          <a:noFill/>
          <a:ln/>
        </p:spPr>
        <p:txBody>
          <a:bodyPr wrap="square" lIns="0" tIns="0" rIns="0" bIns="0" rtlCol="0" anchor="t"/>
          <a:lstStyle/>
          <a:p>
            <a:pPr algn="l" indent="0" marL="0">
              <a:buNone/>
            </a:pPr>
            <a:r>
              <a:rPr lang="en-US" sz="1060" dirty="0">
                <a:solidFill>
                  <a:srgbClr val="243B53"/>
                </a:solidFill>
                <a:latin typeface="Aptos" pitchFamily="34" charset="0"/>
                <a:ea typeface="Aptos" pitchFamily="34" charset="-122"/>
                <a:cs typeface="Aptos" pitchFamily="34" charset="-120"/>
              </a:rPr>
              <a:t>Se sostienen y se firman.</a:t>
            </a:r>
            <a:endParaRPr lang="en-US" sz="1060" dirty="0"/>
          </a:p>
        </p:txBody>
      </p:sp>
      <p:sp>
        <p:nvSpPr>
          <p:cNvPr id="39" name="Shape 36"/>
          <p:cNvSpPr/>
          <p:nvPr/>
        </p:nvSpPr>
        <p:spPr>
          <a:xfrm>
            <a:off x="658368" y="5705856"/>
            <a:ext cx="10874959" cy="438912"/>
          </a:xfrm>
          <a:prstGeom prst="rect">
            <a:avLst/>
          </a:prstGeom>
          <a:solidFill>
            <a:srgbClr val="102A43"/>
          </a:solidFill>
          <a:ln w="12700">
            <a:solidFill>
              <a:srgbClr val="102A43"/>
            </a:solidFill>
            <a:prstDash val="solid"/>
          </a:ln>
        </p:spPr>
      </p:sp>
      <p:sp>
        <p:nvSpPr>
          <p:cNvPr id="40" name="Text 37"/>
          <p:cNvSpPr txBox="1"/>
          <p:nvPr/>
        </p:nvSpPr>
        <p:spPr>
          <a:xfrm>
            <a:off x="950976" y="5742432"/>
            <a:ext cx="10289743" cy="365760"/>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Las primeras se pueden ejecutar. Dejarlas en un documento es desperdiciarlas.</a:t>
            </a:r>
            <a:endParaRPr lang="en-US" sz="138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16</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1 · CIERRE</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Tres preguntas antes de repartir el esfuerzo</a:t>
            </a:r>
            <a:endParaRPr lang="en-US" sz="3000" dirty="0"/>
          </a:p>
        </p:txBody>
      </p:sp>
      <p:sp>
        <p:nvSpPr>
          <p:cNvPr id="10" name="Text 7"/>
          <p:cNvSpPr txBox="1"/>
          <p:nvPr/>
        </p:nvSpPr>
        <p:spPr>
          <a:xfrm>
            <a:off x="658368" y="1664208"/>
            <a:ext cx="10424160" cy="329184"/>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Tres preguntas para comprobar la idea central antes de seguir.</a:t>
            </a:r>
            <a:endParaRPr lang="en-US" sz="1420" dirty="0"/>
          </a:p>
        </p:txBody>
      </p:sp>
      <p:sp>
        <p:nvSpPr>
          <p:cNvPr id="11" name="Shape 8"/>
          <p:cNvSpPr/>
          <p:nvPr/>
        </p:nvSpPr>
        <p:spPr>
          <a:xfrm>
            <a:off x="658368" y="2139696"/>
            <a:ext cx="10874959" cy="1097280"/>
          </a:xfrm>
          <a:prstGeom prst="rect">
            <a:avLst/>
          </a:prstGeom>
          <a:solidFill>
            <a:srgbClr val="F2E7D9"/>
          </a:solidFill>
          <a:ln w="12700">
            <a:solidFill>
              <a:srgbClr val="F2E7D9"/>
            </a:solidFill>
            <a:prstDash val="solid"/>
          </a:ln>
        </p:spPr>
      </p:sp>
      <p:sp>
        <p:nvSpPr>
          <p:cNvPr id="12" name="Shape 9"/>
          <p:cNvSpPr/>
          <p:nvPr/>
        </p:nvSpPr>
        <p:spPr>
          <a:xfrm>
            <a:off x="658368" y="2139696"/>
            <a:ext cx="54864" cy="1097280"/>
          </a:xfrm>
          <a:prstGeom prst="rect">
            <a:avLst/>
          </a:prstGeom>
          <a:solidFill>
            <a:srgbClr val="B3181E"/>
          </a:solidFill>
          <a:ln w="12700">
            <a:solidFill>
              <a:srgbClr val="B3181E"/>
            </a:solidFill>
            <a:prstDash val="solid"/>
          </a:ln>
        </p:spPr>
      </p:sp>
      <p:sp>
        <p:nvSpPr>
          <p:cNvPr id="13" name="Text 10"/>
          <p:cNvSpPr txBox="1"/>
          <p:nvPr/>
        </p:nvSpPr>
        <p:spPr>
          <a:xfrm>
            <a:off x="914400" y="2286000"/>
            <a:ext cx="493776" cy="420624"/>
          </a:xfrm>
          <a:prstGeom prst="rect">
            <a:avLst/>
          </a:prstGeom>
          <a:noFill/>
          <a:ln/>
        </p:spPr>
        <p:txBody>
          <a:bodyPr wrap="square" lIns="0" tIns="0" rIns="0" bIns="0" rtlCol="0" anchor="ctr"/>
          <a:lstStyle/>
          <a:p>
            <a:pPr algn="ctr" indent="0" marL="0">
              <a:buNone/>
            </a:pPr>
            <a:r>
              <a:rPr lang="en-US" sz="2600" b="1" dirty="0">
                <a:solidFill>
                  <a:srgbClr val="B3181E"/>
                </a:solidFill>
                <a:latin typeface="Aptos Display" pitchFamily="34" charset="0"/>
                <a:ea typeface="Aptos Display" pitchFamily="34" charset="-122"/>
                <a:cs typeface="Aptos Display" pitchFamily="34" charset="-120"/>
              </a:rPr>
              <a:t>1</a:t>
            </a:r>
            <a:endParaRPr lang="en-US" sz="2600" dirty="0"/>
          </a:p>
        </p:txBody>
      </p:sp>
      <p:sp>
        <p:nvSpPr>
          <p:cNvPr id="14" name="Text 11"/>
          <p:cNvSpPr txBox="1"/>
          <p:nvPr/>
        </p:nvSpPr>
        <p:spPr>
          <a:xfrm>
            <a:off x="1591056" y="2267712"/>
            <a:ext cx="9649663" cy="457200"/>
          </a:xfrm>
          <a:prstGeom prst="rect">
            <a:avLst/>
          </a:prstGeom>
          <a:noFill/>
          <a:ln/>
        </p:spPr>
        <p:txBody>
          <a:bodyPr wrap="square" lIns="0" tIns="0" rIns="0" bIns="0" rtlCol="0" anchor="t"/>
          <a:lstStyle/>
          <a:p>
            <a:pPr algn="l" indent="0" marL="0">
              <a:lnSpc>
                <a:spcPct val="114000"/>
              </a:lnSpc>
              <a:buNone/>
            </a:pPr>
            <a:r>
              <a:rPr lang="en-US" sz="1340" dirty="0">
                <a:solidFill>
                  <a:srgbClr val="243B53"/>
                </a:solidFill>
                <a:latin typeface="Aptos" pitchFamily="34" charset="0"/>
                <a:ea typeface="Aptos" pitchFamily="34" charset="-122"/>
                <a:cs typeface="Aptos" pitchFamily="34" charset="-120"/>
              </a:rPr>
              <a:t>La suite informa veintidós pruebas en verde y el plan lista dieciséis riesgos. Un compañero concluye que las veintidós están mal escritas. ¿Tiene razón?</a:t>
            </a:r>
            <a:endParaRPr lang="en-US" sz="1340" dirty="0"/>
          </a:p>
        </p:txBody>
      </p:sp>
      <p:sp>
        <p:nvSpPr>
          <p:cNvPr id="15" name="Shape 12"/>
          <p:cNvSpPr/>
          <p:nvPr/>
        </p:nvSpPr>
        <p:spPr>
          <a:xfrm>
            <a:off x="1591056" y="2798064"/>
            <a:ext cx="9649663" cy="0"/>
          </a:xfrm>
          <a:prstGeom prst="line">
            <a:avLst/>
          </a:prstGeom>
          <a:noFill/>
          <a:ln w="12700">
            <a:solidFill>
              <a:srgbClr val="D8CFC4"/>
            </a:solidFill>
            <a:prstDash val="solid"/>
            <a:headEnd type="none"/>
            <a:tailEnd type="none"/>
          </a:ln>
        </p:spPr>
      </p:sp>
      <p:sp>
        <p:nvSpPr>
          <p:cNvPr id="16" name="Text 13"/>
          <p:cNvSpPr txBox="1"/>
          <p:nvPr/>
        </p:nvSpPr>
        <p:spPr>
          <a:xfrm>
            <a:off x="1591056" y="2889504"/>
            <a:ext cx="640080" cy="164592"/>
          </a:xfrm>
          <a:prstGeom prst="rect">
            <a:avLst/>
          </a:prstGeom>
          <a:noFill/>
          <a:ln/>
        </p:spPr>
        <p:txBody>
          <a:bodyPr wrap="square" lIns="0" tIns="0" rIns="0" bIns="0" rtlCol="0" anchor="t"/>
          <a:lstStyle/>
          <a:p>
            <a:pPr algn="l" indent="0" marL="0">
              <a:buNone/>
            </a:pPr>
            <a:r>
              <a:rPr lang="en-US" sz="840" b="1" spc="110" kern="0" dirty="0">
                <a:solidFill>
                  <a:srgbClr val="B3181E"/>
                </a:solidFill>
                <a:latin typeface="Aptos" pitchFamily="34" charset="0"/>
                <a:ea typeface="Aptos" pitchFamily="34" charset="-122"/>
                <a:cs typeface="Aptos" pitchFamily="34" charset="-120"/>
              </a:rPr>
              <a:t>PISTA</a:t>
            </a:r>
            <a:endParaRPr lang="en-US" sz="840" dirty="0"/>
          </a:p>
        </p:txBody>
      </p:sp>
      <p:sp>
        <p:nvSpPr>
          <p:cNvPr id="17" name="Text 14"/>
          <p:cNvSpPr txBox="1"/>
          <p:nvPr/>
        </p:nvSpPr>
        <p:spPr>
          <a:xfrm>
            <a:off x="2286000" y="2862072"/>
            <a:ext cx="8954719" cy="256032"/>
          </a:xfrm>
          <a:prstGeom prst="rect">
            <a:avLst/>
          </a:prstGeom>
          <a:noFill/>
          <a:ln/>
        </p:spPr>
        <p:txBody>
          <a:bodyPr wrap="square" lIns="0" tIns="0" rIns="0" bIns="0" rtlCol="0" anchor="t"/>
          <a:lstStyle/>
          <a:p>
            <a:pPr algn="l" indent="0" marL="0">
              <a:buNone/>
            </a:pPr>
            <a:r>
              <a:rPr lang="en-US" sz="1140" i="1" dirty="0">
                <a:solidFill>
                  <a:srgbClr val="52606D"/>
                </a:solidFill>
                <a:latin typeface="Aptos" pitchFamily="34" charset="0"/>
                <a:ea typeface="Aptos" pitchFamily="34" charset="-122"/>
                <a:cs typeface="Aptos" pitchFamily="34" charset="-120"/>
              </a:rPr>
              <a:t>Revisa qué recibe la función del cupo como argumento y quién calcula ese argumento.</a:t>
            </a:r>
            <a:endParaRPr lang="en-US" sz="1140" dirty="0"/>
          </a:p>
        </p:txBody>
      </p:sp>
      <p:sp>
        <p:nvSpPr>
          <p:cNvPr id="18" name="Shape 15"/>
          <p:cNvSpPr/>
          <p:nvPr/>
        </p:nvSpPr>
        <p:spPr>
          <a:xfrm>
            <a:off x="658368" y="3364992"/>
            <a:ext cx="10874959" cy="1097280"/>
          </a:xfrm>
          <a:prstGeom prst="rect">
            <a:avLst/>
          </a:prstGeom>
          <a:solidFill>
            <a:srgbClr val="EDE6DA"/>
          </a:solidFill>
          <a:ln w="12700">
            <a:solidFill>
              <a:srgbClr val="EDE6DA"/>
            </a:solidFill>
            <a:prstDash val="solid"/>
          </a:ln>
        </p:spPr>
      </p:sp>
      <p:sp>
        <p:nvSpPr>
          <p:cNvPr id="19" name="Shape 16"/>
          <p:cNvSpPr/>
          <p:nvPr/>
        </p:nvSpPr>
        <p:spPr>
          <a:xfrm>
            <a:off x="658368" y="3364992"/>
            <a:ext cx="54864" cy="1097280"/>
          </a:xfrm>
          <a:prstGeom prst="rect">
            <a:avLst/>
          </a:prstGeom>
          <a:solidFill>
            <a:srgbClr val="102A43"/>
          </a:solidFill>
          <a:ln w="12700">
            <a:solidFill>
              <a:srgbClr val="102A43"/>
            </a:solidFill>
            <a:prstDash val="solid"/>
          </a:ln>
        </p:spPr>
      </p:sp>
      <p:sp>
        <p:nvSpPr>
          <p:cNvPr id="20" name="Text 17"/>
          <p:cNvSpPr txBox="1"/>
          <p:nvPr/>
        </p:nvSpPr>
        <p:spPr>
          <a:xfrm>
            <a:off x="914400" y="3511296"/>
            <a:ext cx="493776" cy="420624"/>
          </a:xfrm>
          <a:prstGeom prst="rect">
            <a:avLst/>
          </a:prstGeom>
          <a:noFill/>
          <a:ln/>
        </p:spPr>
        <p:txBody>
          <a:bodyPr wrap="square" lIns="0" tIns="0" rIns="0" bIns="0" rtlCol="0" anchor="ctr"/>
          <a:lstStyle/>
          <a:p>
            <a:pPr algn="ctr" indent="0" marL="0">
              <a:buNone/>
            </a:pPr>
            <a:r>
              <a:rPr lang="en-US" sz="2600" b="1" dirty="0">
                <a:solidFill>
                  <a:srgbClr val="102A43"/>
                </a:solidFill>
                <a:latin typeface="Aptos Display" pitchFamily="34" charset="0"/>
                <a:ea typeface="Aptos Display" pitchFamily="34" charset="-122"/>
                <a:cs typeface="Aptos Display" pitchFamily="34" charset="-120"/>
              </a:rPr>
              <a:t>2</a:t>
            </a:r>
            <a:endParaRPr lang="en-US" sz="2600" dirty="0"/>
          </a:p>
        </p:txBody>
      </p:sp>
      <p:sp>
        <p:nvSpPr>
          <p:cNvPr id="21" name="Text 18"/>
          <p:cNvSpPr txBox="1"/>
          <p:nvPr/>
        </p:nvSpPr>
        <p:spPr>
          <a:xfrm>
            <a:off x="1591056" y="3493008"/>
            <a:ext cx="9649663" cy="457200"/>
          </a:xfrm>
          <a:prstGeom prst="rect">
            <a:avLst/>
          </a:prstGeom>
          <a:noFill/>
          <a:ln/>
        </p:spPr>
        <p:txBody>
          <a:bodyPr wrap="square" lIns="0" tIns="0" rIns="0" bIns="0" rtlCol="0" anchor="t"/>
          <a:lstStyle/>
          <a:p>
            <a:pPr algn="l" indent="0" marL="0">
              <a:lnSpc>
                <a:spcPct val="114000"/>
              </a:lnSpc>
              <a:buNone/>
            </a:pPr>
            <a:r>
              <a:rPr lang="en-US" sz="1340" dirty="0">
                <a:solidFill>
                  <a:srgbClr val="243B53"/>
                </a:solidFill>
                <a:latin typeface="Aptos" pitchFamily="34" charset="0"/>
                <a:ea typeface="Aptos" pitchFamily="34" charset="-122"/>
                <a:cs typeface="Aptos" pitchFamily="34" charset="-120"/>
              </a:rPr>
              <a:t>El agente escribió que su base de prueba salió del código y de los nombres, y aun así acertó en la cuota semanal. Si el resultado fue correcto, ¿qué problema queda?</a:t>
            </a:r>
            <a:endParaRPr lang="en-US" sz="1340" dirty="0"/>
          </a:p>
        </p:txBody>
      </p:sp>
      <p:sp>
        <p:nvSpPr>
          <p:cNvPr id="22" name="Shape 19"/>
          <p:cNvSpPr/>
          <p:nvPr/>
        </p:nvSpPr>
        <p:spPr>
          <a:xfrm>
            <a:off x="1591056" y="4023360"/>
            <a:ext cx="9649663" cy="0"/>
          </a:xfrm>
          <a:prstGeom prst="line">
            <a:avLst/>
          </a:prstGeom>
          <a:noFill/>
          <a:ln w="12700">
            <a:solidFill>
              <a:srgbClr val="D8CFC4"/>
            </a:solidFill>
            <a:prstDash val="solid"/>
            <a:headEnd type="none"/>
            <a:tailEnd type="none"/>
          </a:ln>
        </p:spPr>
      </p:sp>
      <p:sp>
        <p:nvSpPr>
          <p:cNvPr id="23" name="Text 20"/>
          <p:cNvSpPr txBox="1"/>
          <p:nvPr/>
        </p:nvSpPr>
        <p:spPr>
          <a:xfrm>
            <a:off x="1591056" y="4114800"/>
            <a:ext cx="640080" cy="164592"/>
          </a:xfrm>
          <a:prstGeom prst="rect">
            <a:avLst/>
          </a:prstGeom>
          <a:noFill/>
          <a:ln/>
        </p:spPr>
        <p:txBody>
          <a:bodyPr wrap="square" lIns="0" tIns="0" rIns="0" bIns="0" rtlCol="0" anchor="t"/>
          <a:lstStyle/>
          <a:p>
            <a:pPr algn="l" indent="0" marL="0">
              <a:buNone/>
            </a:pPr>
            <a:r>
              <a:rPr lang="en-US" sz="840" b="1" spc="110" kern="0" dirty="0">
                <a:solidFill>
                  <a:srgbClr val="102A43"/>
                </a:solidFill>
                <a:latin typeface="Aptos" pitchFamily="34" charset="0"/>
                <a:ea typeface="Aptos" pitchFamily="34" charset="-122"/>
                <a:cs typeface="Aptos" pitchFamily="34" charset="-120"/>
              </a:rPr>
              <a:t>PISTA</a:t>
            </a:r>
            <a:endParaRPr lang="en-US" sz="840" dirty="0"/>
          </a:p>
        </p:txBody>
      </p:sp>
      <p:sp>
        <p:nvSpPr>
          <p:cNvPr id="24" name="Text 21"/>
          <p:cNvSpPr txBox="1"/>
          <p:nvPr/>
        </p:nvSpPr>
        <p:spPr>
          <a:xfrm>
            <a:off x="2286000" y="4087368"/>
            <a:ext cx="8954719" cy="256032"/>
          </a:xfrm>
          <a:prstGeom prst="rect">
            <a:avLst/>
          </a:prstGeom>
          <a:noFill/>
          <a:ln/>
        </p:spPr>
        <p:txBody>
          <a:bodyPr wrap="square" lIns="0" tIns="0" rIns="0" bIns="0" rtlCol="0" anchor="t"/>
          <a:lstStyle/>
          <a:p>
            <a:pPr algn="l" indent="0" marL="0">
              <a:buNone/>
            </a:pPr>
            <a:r>
              <a:rPr lang="en-US" sz="1140" i="1" dirty="0">
                <a:solidFill>
                  <a:srgbClr val="52606D"/>
                </a:solidFill>
                <a:latin typeface="Aptos" pitchFamily="34" charset="0"/>
                <a:ea typeface="Aptos" pitchFamily="34" charset="-122"/>
                <a:cs typeface="Aptos" pitchFamily="34" charset="-120"/>
              </a:rPr>
              <a:t>Piensa qué documento habría salido si la constante estuviera mal nombrada. Compáralo con el que salió.</a:t>
            </a:r>
            <a:endParaRPr lang="en-US" sz="1140" dirty="0"/>
          </a:p>
        </p:txBody>
      </p:sp>
      <p:sp>
        <p:nvSpPr>
          <p:cNvPr id="25" name="Shape 22"/>
          <p:cNvSpPr/>
          <p:nvPr/>
        </p:nvSpPr>
        <p:spPr>
          <a:xfrm>
            <a:off x="658368" y="4590288"/>
            <a:ext cx="10874959" cy="1097280"/>
          </a:xfrm>
          <a:prstGeom prst="rect">
            <a:avLst/>
          </a:prstGeom>
          <a:solidFill>
            <a:srgbClr val="F2E7D9"/>
          </a:solidFill>
          <a:ln w="12700">
            <a:solidFill>
              <a:srgbClr val="F2E7D9"/>
            </a:solidFill>
            <a:prstDash val="solid"/>
          </a:ln>
        </p:spPr>
      </p:sp>
      <p:sp>
        <p:nvSpPr>
          <p:cNvPr id="26" name="Shape 23"/>
          <p:cNvSpPr/>
          <p:nvPr/>
        </p:nvSpPr>
        <p:spPr>
          <a:xfrm>
            <a:off x="658368" y="4590288"/>
            <a:ext cx="54864" cy="1097280"/>
          </a:xfrm>
          <a:prstGeom prst="rect">
            <a:avLst/>
          </a:prstGeom>
          <a:solidFill>
            <a:srgbClr val="8A6A12"/>
          </a:solidFill>
          <a:ln w="12700">
            <a:solidFill>
              <a:srgbClr val="8A6A12"/>
            </a:solidFill>
            <a:prstDash val="solid"/>
          </a:ln>
        </p:spPr>
      </p:sp>
      <p:sp>
        <p:nvSpPr>
          <p:cNvPr id="27" name="Text 24"/>
          <p:cNvSpPr txBox="1"/>
          <p:nvPr/>
        </p:nvSpPr>
        <p:spPr>
          <a:xfrm>
            <a:off x="914400" y="4736592"/>
            <a:ext cx="493776" cy="420624"/>
          </a:xfrm>
          <a:prstGeom prst="rect">
            <a:avLst/>
          </a:prstGeom>
          <a:noFill/>
          <a:ln/>
        </p:spPr>
        <p:txBody>
          <a:bodyPr wrap="square" lIns="0" tIns="0" rIns="0" bIns="0" rtlCol="0" anchor="ctr"/>
          <a:lstStyle/>
          <a:p>
            <a:pPr algn="ctr" indent="0" marL="0">
              <a:buNone/>
            </a:pPr>
            <a:r>
              <a:rPr lang="en-US" sz="2600" b="1" dirty="0">
                <a:solidFill>
                  <a:srgbClr val="8A6A12"/>
                </a:solidFill>
                <a:latin typeface="Aptos Display" pitchFamily="34" charset="0"/>
                <a:ea typeface="Aptos Display" pitchFamily="34" charset="-122"/>
                <a:cs typeface="Aptos Display" pitchFamily="34" charset="-120"/>
              </a:rPr>
              <a:t>3</a:t>
            </a:r>
            <a:endParaRPr lang="en-US" sz="2600" dirty="0"/>
          </a:p>
        </p:txBody>
      </p:sp>
      <p:sp>
        <p:nvSpPr>
          <p:cNvPr id="28" name="Text 25"/>
          <p:cNvSpPr txBox="1"/>
          <p:nvPr/>
        </p:nvSpPr>
        <p:spPr>
          <a:xfrm>
            <a:off x="1591056" y="4718304"/>
            <a:ext cx="9649663" cy="457200"/>
          </a:xfrm>
          <a:prstGeom prst="rect">
            <a:avLst/>
          </a:prstGeom>
          <a:noFill/>
          <a:ln/>
        </p:spPr>
        <p:txBody>
          <a:bodyPr wrap="square" lIns="0" tIns="0" rIns="0" bIns="0" rtlCol="0" anchor="t"/>
          <a:lstStyle/>
          <a:p>
            <a:pPr algn="l" indent="0" marL="0">
              <a:lnSpc>
                <a:spcPct val="114000"/>
              </a:lnSpc>
              <a:buNone/>
            </a:pPr>
            <a:r>
              <a:rPr lang="en-US" sz="1340" dirty="0">
                <a:solidFill>
                  <a:srgbClr val="243B53"/>
                </a:solidFill>
                <a:latin typeface="Aptos" pitchFamily="34" charset="0"/>
                <a:ea typeface="Aptos" pitchFamily="34" charset="-122"/>
                <a:cs typeface="Aptos" pitchFamily="34" charset="-120"/>
              </a:rPr>
              <a:t>La norma permite omitir partes del plan si se registra el subconjunto y se justifica el recorte. ¿Qué es exactamente lo que entonces no te deja hacer?</a:t>
            </a:r>
            <a:endParaRPr lang="en-US" sz="1340" dirty="0"/>
          </a:p>
        </p:txBody>
      </p:sp>
      <p:sp>
        <p:nvSpPr>
          <p:cNvPr id="29" name="Shape 26"/>
          <p:cNvSpPr/>
          <p:nvPr/>
        </p:nvSpPr>
        <p:spPr>
          <a:xfrm>
            <a:off x="1591056" y="5248656"/>
            <a:ext cx="9649663" cy="0"/>
          </a:xfrm>
          <a:prstGeom prst="line">
            <a:avLst/>
          </a:prstGeom>
          <a:noFill/>
          <a:ln w="12700">
            <a:solidFill>
              <a:srgbClr val="D8CFC4"/>
            </a:solidFill>
            <a:prstDash val="solid"/>
            <a:headEnd type="none"/>
            <a:tailEnd type="none"/>
          </a:ln>
        </p:spPr>
      </p:sp>
      <p:sp>
        <p:nvSpPr>
          <p:cNvPr id="30" name="Text 27"/>
          <p:cNvSpPr txBox="1"/>
          <p:nvPr/>
        </p:nvSpPr>
        <p:spPr>
          <a:xfrm>
            <a:off x="1591056" y="5340096"/>
            <a:ext cx="640080" cy="164592"/>
          </a:xfrm>
          <a:prstGeom prst="rect">
            <a:avLst/>
          </a:prstGeom>
          <a:noFill/>
          <a:ln/>
        </p:spPr>
        <p:txBody>
          <a:bodyPr wrap="square" lIns="0" tIns="0" rIns="0" bIns="0" rtlCol="0" anchor="t"/>
          <a:lstStyle/>
          <a:p>
            <a:pPr algn="l" indent="0" marL="0">
              <a:buNone/>
            </a:pPr>
            <a:r>
              <a:rPr lang="en-US" sz="840" b="1" spc="110" kern="0" dirty="0">
                <a:solidFill>
                  <a:srgbClr val="8A6A12"/>
                </a:solidFill>
                <a:latin typeface="Aptos" pitchFamily="34" charset="0"/>
                <a:ea typeface="Aptos" pitchFamily="34" charset="-122"/>
                <a:cs typeface="Aptos" pitchFamily="34" charset="-120"/>
              </a:rPr>
              <a:t>PISTA</a:t>
            </a:r>
            <a:endParaRPr lang="en-US" sz="840" dirty="0"/>
          </a:p>
        </p:txBody>
      </p:sp>
      <p:sp>
        <p:nvSpPr>
          <p:cNvPr id="31" name="Text 28"/>
          <p:cNvSpPr txBox="1"/>
          <p:nvPr/>
        </p:nvSpPr>
        <p:spPr>
          <a:xfrm>
            <a:off x="2286000" y="5312664"/>
            <a:ext cx="8954719" cy="256032"/>
          </a:xfrm>
          <a:prstGeom prst="rect">
            <a:avLst/>
          </a:prstGeom>
          <a:noFill/>
          <a:ln/>
        </p:spPr>
        <p:txBody>
          <a:bodyPr wrap="square" lIns="0" tIns="0" rIns="0" bIns="0" rtlCol="0" anchor="t"/>
          <a:lstStyle/>
          <a:p>
            <a:pPr algn="l" indent="0" marL="0">
              <a:buNone/>
            </a:pPr>
            <a:r>
              <a:rPr lang="en-US" sz="1140" i="1" dirty="0">
                <a:solidFill>
                  <a:srgbClr val="52606D"/>
                </a:solidFill>
                <a:latin typeface="Aptos" pitchFamily="34" charset="0"/>
                <a:ea typeface="Aptos" pitchFamily="34" charset="-122"/>
                <a:cs typeface="Aptos" pitchFamily="34" charset="-120"/>
              </a:rPr>
              <a:t>Compara dos planes sin calendario, uno que lo declara y otro que no. ¿Qué puede hacer con cada uno quien llegue en seis meses?</a:t>
            </a:r>
            <a:endParaRPr lang="en-US" sz="114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17</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1 · CONTRASTE</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Lo que tenía que aparecer</a:t>
            </a:r>
            <a:endParaRPr lang="en-US" sz="3000" dirty="0"/>
          </a:p>
        </p:txBody>
      </p:sp>
      <p:sp>
        <p:nvSpPr>
          <p:cNvPr id="10" name="Text 7"/>
          <p:cNvSpPr txBox="1"/>
          <p:nvPr/>
        </p:nvSpPr>
        <p:spPr>
          <a:xfrm>
            <a:off x="658368" y="1664208"/>
            <a:ext cx="10424160" cy="329184"/>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Las respuestas conservan el mismo orden y color que las preguntas.</a:t>
            </a:r>
            <a:endParaRPr lang="en-US" sz="1420" dirty="0"/>
          </a:p>
        </p:txBody>
      </p:sp>
      <p:sp>
        <p:nvSpPr>
          <p:cNvPr id="11" name="Shape 8"/>
          <p:cNvSpPr/>
          <p:nvPr/>
        </p:nvSpPr>
        <p:spPr>
          <a:xfrm>
            <a:off x="658368" y="2139696"/>
            <a:ext cx="10874959" cy="1243584"/>
          </a:xfrm>
          <a:prstGeom prst="rect">
            <a:avLst/>
          </a:prstGeom>
          <a:solidFill>
            <a:srgbClr val="FFFFFF"/>
          </a:solidFill>
          <a:ln w="12700">
            <a:solidFill>
              <a:srgbClr val="FFFFFF"/>
            </a:solidFill>
            <a:prstDash val="solid"/>
          </a:ln>
        </p:spPr>
      </p:sp>
      <p:sp>
        <p:nvSpPr>
          <p:cNvPr id="12" name="Shape 9"/>
          <p:cNvSpPr/>
          <p:nvPr/>
        </p:nvSpPr>
        <p:spPr>
          <a:xfrm>
            <a:off x="658368" y="2139696"/>
            <a:ext cx="54864" cy="1243584"/>
          </a:xfrm>
          <a:prstGeom prst="rect">
            <a:avLst/>
          </a:prstGeom>
          <a:solidFill>
            <a:srgbClr val="B3181E"/>
          </a:solidFill>
          <a:ln w="12700">
            <a:solidFill>
              <a:srgbClr val="B3181E"/>
            </a:solidFill>
            <a:prstDash val="solid"/>
          </a:ln>
        </p:spPr>
      </p:sp>
      <p:sp>
        <p:nvSpPr>
          <p:cNvPr id="13" name="Text 10"/>
          <p:cNvSpPr txBox="1"/>
          <p:nvPr/>
        </p:nvSpPr>
        <p:spPr>
          <a:xfrm>
            <a:off x="896112" y="2304288"/>
            <a:ext cx="493776" cy="457200"/>
          </a:xfrm>
          <a:prstGeom prst="rect">
            <a:avLst/>
          </a:prstGeom>
          <a:noFill/>
          <a:ln/>
        </p:spPr>
        <p:txBody>
          <a:bodyPr wrap="square" lIns="0" tIns="0" rIns="0" bIns="0" rtlCol="0" anchor="ctr"/>
          <a:lstStyle/>
          <a:p>
            <a:pPr algn="ctr" indent="0" marL="0">
              <a:buNone/>
            </a:pPr>
            <a:r>
              <a:rPr lang="en-US" sz="2700" b="1" dirty="0">
                <a:solidFill>
                  <a:srgbClr val="B3181E"/>
                </a:solidFill>
                <a:latin typeface="Aptos Display" pitchFamily="34" charset="0"/>
                <a:ea typeface="Aptos Display" pitchFamily="34" charset="-122"/>
                <a:cs typeface="Aptos Display" pitchFamily="34" charset="-120"/>
              </a:rPr>
              <a:t>1</a:t>
            </a:r>
            <a:endParaRPr lang="en-US" sz="2700" dirty="0"/>
          </a:p>
        </p:txBody>
      </p:sp>
      <p:sp>
        <p:nvSpPr>
          <p:cNvPr id="14" name="Text 11"/>
          <p:cNvSpPr txBox="1"/>
          <p:nvPr/>
        </p:nvSpPr>
        <p:spPr>
          <a:xfrm>
            <a:off x="1591056" y="2249424"/>
            <a:ext cx="2926080" cy="164592"/>
          </a:xfrm>
          <a:prstGeom prst="rect">
            <a:avLst/>
          </a:prstGeom>
          <a:noFill/>
          <a:ln/>
        </p:spPr>
        <p:txBody>
          <a:bodyPr wrap="square" lIns="0" tIns="0" rIns="0" bIns="0" rtlCol="0" anchor="t"/>
          <a:lstStyle/>
          <a:p>
            <a:pPr algn="l" indent="0" marL="0">
              <a:buNone/>
            </a:pPr>
            <a:r>
              <a:rPr lang="en-US" sz="830" b="1" spc="100" kern="0" dirty="0">
                <a:solidFill>
                  <a:srgbClr val="B3181E"/>
                </a:solidFill>
                <a:latin typeface="Aptos" pitchFamily="34" charset="0"/>
                <a:ea typeface="Aptos" pitchFamily="34" charset="-122"/>
                <a:cs typeface="Aptos" pitchFamily="34" charset="-120"/>
              </a:rPr>
              <a:t>NO TIENE RAZÓN</a:t>
            </a:r>
            <a:endParaRPr lang="en-US" sz="830" dirty="0"/>
          </a:p>
        </p:txBody>
      </p:sp>
      <p:sp>
        <p:nvSpPr>
          <p:cNvPr id="15" name="Text 12"/>
          <p:cNvSpPr txBox="1"/>
          <p:nvPr/>
        </p:nvSpPr>
        <p:spPr>
          <a:xfrm>
            <a:off x="1591056" y="2468880"/>
            <a:ext cx="9649663" cy="347472"/>
          </a:xfrm>
          <a:prstGeom prst="rect">
            <a:avLst/>
          </a:prstGeom>
          <a:noFill/>
          <a:ln/>
        </p:spPr>
        <p:txBody>
          <a:bodyPr wrap="square" lIns="0" tIns="0" rIns="0" bIns="0" rtlCol="0" anchor="t"/>
          <a:lstStyle/>
          <a:p>
            <a:pPr algn="l" indent="0" marL="0">
              <a:lnSpc>
                <a:spcPct val="112000"/>
              </a:lnSpc>
              <a:buNone/>
            </a:pPr>
            <a:r>
              <a:rPr lang="en-US" sz="1240" b="1" dirty="0">
                <a:solidFill>
                  <a:srgbClr val="243B53"/>
                </a:solidFill>
                <a:latin typeface="Aptos" pitchFamily="34" charset="0"/>
                <a:ea typeface="Aptos" pitchFamily="34" charset="-122"/>
                <a:cs typeface="Aptos" pitchFamily="34" charset="-120"/>
              </a:rPr>
              <a:t>Las veintidós están bien escritas. El defecto está antes de la función que prueban.</a:t>
            </a:r>
            <a:endParaRPr lang="en-US" sz="1240" dirty="0"/>
          </a:p>
        </p:txBody>
      </p:sp>
      <p:sp>
        <p:nvSpPr>
          <p:cNvPr id="16" name="Shape 13"/>
          <p:cNvSpPr/>
          <p:nvPr/>
        </p:nvSpPr>
        <p:spPr>
          <a:xfrm>
            <a:off x="1591056" y="2871216"/>
            <a:ext cx="9649663" cy="0"/>
          </a:xfrm>
          <a:prstGeom prst="line">
            <a:avLst/>
          </a:prstGeom>
          <a:noFill/>
          <a:ln w="12700">
            <a:solidFill>
              <a:srgbClr val="D8CFC4"/>
            </a:solidFill>
            <a:prstDash val="solid"/>
            <a:headEnd type="none"/>
            <a:tailEnd type="none"/>
          </a:ln>
        </p:spPr>
      </p:sp>
      <p:sp>
        <p:nvSpPr>
          <p:cNvPr id="17" name="Text 14"/>
          <p:cNvSpPr txBox="1"/>
          <p:nvPr/>
        </p:nvSpPr>
        <p:spPr>
          <a:xfrm>
            <a:off x="1591056" y="2962656"/>
            <a:ext cx="1188720" cy="155448"/>
          </a:xfrm>
          <a:prstGeom prst="rect">
            <a:avLst/>
          </a:prstGeom>
          <a:noFill/>
          <a:ln/>
        </p:spPr>
        <p:txBody>
          <a:bodyPr wrap="square" lIns="0" tIns="0" rIns="0" bIns="0" rtlCol="0" anchor="t"/>
          <a:lstStyle/>
          <a:p>
            <a:pPr algn="l" indent="0" marL="0">
              <a:buNone/>
            </a:pPr>
            <a:r>
              <a:rPr lang="en-US" sz="800" b="1" spc="90" kern="0" dirty="0">
                <a:solidFill>
                  <a:srgbClr val="2E7D4F"/>
                </a:solidFill>
                <a:latin typeface="Aptos" pitchFamily="34" charset="0"/>
                <a:ea typeface="Aptos" pitchFamily="34" charset="-122"/>
                <a:cs typeface="Aptos" pitchFamily="34" charset="-120"/>
              </a:rPr>
              <a:t>LO QUE REVELA</a:t>
            </a:r>
            <a:endParaRPr lang="en-US" sz="800" dirty="0"/>
          </a:p>
        </p:txBody>
      </p:sp>
      <p:sp>
        <p:nvSpPr>
          <p:cNvPr id="18" name="Text 15"/>
          <p:cNvSpPr txBox="1"/>
          <p:nvPr/>
        </p:nvSpPr>
        <p:spPr>
          <a:xfrm>
            <a:off x="2871216" y="2935224"/>
            <a:ext cx="3712464" cy="310896"/>
          </a:xfrm>
          <a:prstGeom prst="rect">
            <a:avLst/>
          </a:prstGeom>
          <a:noFill/>
          <a:ln/>
        </p:spPr>
        <p:txBody>
          <a:bodyPr wrap="square" lIns="0" tIns="0" rIns="0" bIns="0" rtlCol="0" anchor="t"/>
          <a:lstStyle/>
          <a:p>
            <a:pPr algn="l" indent="0" marL="0">
              <a:lnSpc>
                <a:spcPct val="110000"/>
              </a:lnSpc>
              <a:buNone/>
            </a:pPr>
            <a:r>
              <a:rPr lang="en-US" sz="1020" dirty="0">
                <a:solidFill>
                  <a:srgbClr val="243B53"/>
                </a:solidFill>
                <a:latin typeface="Aptos" pitchFamily="34" charset="0"/>
                <a:ea typeface="Aptos" pitchFamily="34" charset="-122"/>
                <a:cs typeface="Aptos" pitchFamily="34" charset="-120"/>
              </a:rPr>
              <a:t>La prueba recibe el conteo ya hecho; contar mal ocurre un nivel más arriba.</a:t>
            </a:r>
            <a:endParaRPr lang="en-US" sz="1020" dirty="0"/>
          </a:p>
        </p:txBody>
      </p:sp>
      <p:sp>
        <p:nvSpPr>
          <p:cNvPr id="19" name="Text 16"/>
          <p:cNvSpPr txBox="1"/>
          <p:nvPr/>
        </p:nvSpPr>
        <p:spPr>
          <a:xfrm>
            <a:off x="6784848" y="2962656"/>
            <a:ext cx="1325880" cy="155448"/>
          </a:xfrm>
          <a:prstGeom prst="rect">
            <a:avLst/>
          </a:prstGeom>
          <a:noFill/>
          <a:ln/>
        </p:spPr>
        <p:txBody>
          <a:bodyPr wrap="square" lIns="0" tIns="0" rIns="0" bIns="0" rtlCol="0" anchor="t"/>
          <a:lstStyle/>
          <a:p>
            <a:pPr algn="l" indent="0" marL="0">
              <a:buNone/>
            </a:pPr>
            <a:r>
              <a:rPr lang="en-US" sz="800" b="1" spc="90" kern="0" dirty="0">
                <a:solidFill>
                  <a:srgbClr val="B3181E"/>
                </a:solidFill>
                <a:latin typeface="Aptos" pitchFamily="34" charset="0"/>
                <a:ea typeface="Aptos" pitchFamily="34" charset="-122"/>
                <a:cs typeface="Aptos" pitchFamily="34" charset="-120"/>
              </a:rPr>
              <a:t>ERROR FRECUENTE</a:t>
            </a:r>
            <a:endParaRPr lang="en-US" sz="800" dirty="0"/>
          </a:p>
        </p:txBody>
      </p:sp>
      <p:sp>
        <p:nvSpPr>
          <p:cNvPr id="20" name="Text 17"/>
          <p:cNvSpPr txBox="1"/>
          <p:nvPr/>
        </p:nvSpPr>
        <p:spPr>
          <a:xfrm>
            <a:off x="8138160" y="2935224"/>
            <a:ext cx="3063240" cy="310896"/>
          </a:xfrm>
          <a:prstGeom prst="rect">
            <a:avLst/>
          </a:prstGeom>
          <a:noFill/>
          <a:ln/>
        </p:spPr>
        <p:txBody>
          <a:bodyPr wrap="square" lIns="0" tIns="0" rIns="0" bIns="0" rtlCol="0" anchor="t"/>
          <a:lstStyle/>
          <a:p>
            <a:pPr algn="l" indent="0" marL="0">
              <a:lnSpc>
                <a:spcPct val="110000"/>
              </a:lnSpc>
              <a:buNone/>
            </a:pPr>
            <a:r>
              <a:rPr lang="en-US" sz="1020" i="1" dirty="0">
                <a:solidFill>
                  <a:srgbClr val="52606D"/>
                </a:solidFill>
                <a:latin typeface="Aptos" pitchFamily="34" charset="0"/>
                <a:ea typeface="Aptos" pitchFamily="34" charset="-122"/>
                <a:cs typeface="Aptos" pitchFamily="34" charset="-120"/>
              </a:rPr>
              <a:t>Culpar a la suite de no encontrar algo que en su nivel no puede ocurrir.</a:t>
            </a:r>
            <a:endParaRPr lang="en-US" sz="1020" dirty="0"/>
          </a:p>
        </p:txBody>
      </p:sp>
      <p:sp>
        <p:nvSpPr>
          <p:cNvPr id="21" name="Shape 18"/>
          <p:cNvSpPr/>
          <p:nvPr/>
        </p:nvSpPr>
        <p:spPr>
          <a:xfrm>
            <a:off x="658368" y="3493008"/>
            <a:ext cx="10874959" cy="1243584"/>
          </a:xfrm>
          <a:prstGeom prst="rect">
            <a:avLst/>
          </a:prstGeom>
          <a:solidFill>
            <a:srgbClr val="FFFFFF"/>
          </a:solidFill>
          <a:ln w="12700">
            <a:solidFill>
              <a:srgbClr val="FFFFFF"/>
            </a:solidFill>
            <a:prstDash val="solid"/>
          </a:ln>
        </p:spPr>
      </p:sp>
      <p:sp>
        <p:nvSpPr>
          <p:cNvPr id="22" name="Shape 19"/>
          <p:cNvSpPr/>
          <p:nvPr/>
        </p:nvSpPr>
        <p:spPr>
          <a:xfrm>
            <a:off x="658368" y="3493008"/>
            <a:ext cx="54864" cy="1243584"/>
          </a:xfrm>
          <a:prstGeom prst="rect">
            <a:avLst/>
          </a:prstGeom>
          <a:solidFill>
            <a:srgbClr val="102A43"/>
          </a:solidFill>
          <a:ln w="12700">
            <a:solidFill>
              <a:srgbClr val="102A43"/>
            </a:solidFill>
            <a:prstDash val="solid"/>
          </a:ln>
        </p:spPr>
      </p:sp>
      <p:sp>
        <p:nvSpPr>
          <p:cNvPr id="23" name="Text 20"/>
          <p:cNvSpPr txBox="1"/>
          <p:nvPr/>
        </p:nvSpPr>
        <p:spPr>
          <a:xfrm>
            <a:off x="896112" y="3657600"/>
            <a:ext cx="493776" cy="457200"/>
          </a:xfrm>
          <a:prstGeom prst="rect">
            <a:avLst/>
          </a:prstGeom>
          <a:noFill/>
          <a:ln/>
        </p:spPr>
        <p:txBody>
          <a:bodyPr wrap="square" lIns="0" tIns="0" rIns="0" bIns="0" rtlCol="0" anchor="ctr"/>
          <a:lstStyle/>
          <a:p>
            <a:pPr algn="ctr" indent="0" marL="0">
              <a:buNone/>
            </a:pPr>
            <a:r>
              <a:rPr lang="en-US" sz="2700" b="1" dirty="0">
                <a:solidFill>
                  <a:srgbClr val="102A43"/>
                </a:solidFill>
                <a:latin typeface="Aptos Display" pitchFamily="34" charset="0"/>
                <a:ea typeface="Aptos Display" pitchFamily="34" charset="-122"/>
                <a:cs typeface="Aptos Display" pitchFamily="34" charset="-120"/>
              </a:rPr>
              <a:t>2</a:t>
            </a:r>
            <a:endParaRPr lang="en-US" sz="2700" dirty="0"/>
          </a:p>
        </p:txBody>
      </p:sp>
      <p:sp>
        <p:nvSpPr>
          <p:cNvPr id="24" name="Text 21"/>
          <p:cNvSpPr txBox="1"/>
          <p:nvPr/>
        </p:nvSpPr>
        <p:spPr>
          <a:xfrm>
            <a:off x="1591056" y="3602736"/>
            <a:ext cx="2926080" cy="164592"/>
          </a:xfrm>
          <a:prstGeom prst="rect">
            <a:avLst/>
          </a:prstGeom>
          <a:noFill/>
          <a:ln/>
        </p:spPr>
        <p:txBody>
          <a:bodyPr wrap="square" lIns="0" tIns="0" rIns="0" bIns="0" rtlCol="0" anchor="t"/>
          <a:lstStyle/>
          <a:p>
            <a:pPr algn="l" indent="0" marL="0">
              <a:buNone/>
            </a:pPr>
            <a:r>
              <a:rPr lang="en-US" sz="830" b="1" spc="100" kern="0" dirty="0">
                <a:solidFill>
                  <a:srgbClr val="102A43"/>
                </a:solidFill>
                <a:latin typeface="Aptos" pitchFamily="34" charset="0"/>
                <a:ea typeface="Aptos" pitchFamily="34" charset="-122"/>
                <a:cs typeface="Aptos" pitchFamily="34" charset="-120"/>
              </a:rPr>
              <a:t>QUEDA QUE FUE UNA ADIVINANZA</a:t>
            </a:r>
            <a:endParaRPr lang="en-US" sz="830" dirty="0"/>
          </a:p>
        </p:txBody>
      </p:sp>
      <p:sp>
        <p:nvSpPr>
          <p:cNvPr id="25" name="Text 22"/>
          <p:cNvSpPr txBox="1"/>
          <p:nvPr/>
        </p:nvSpPr>
        <p:spPr>
          <a:xfrm>
            <a:off x="1591056" y="3822192"/>
            <a:ext cx="9649663" cy="347472"/>
          </a:xfrm>
          <a:prstGeom prst="rect">
            <a:avLst/>
          </a:prstGeom>
          <a:noFill/>
          <a:ln/>
        </p:spPr>
        <p:txBody>
          <a:bodyPr wrap="square" lIns="0" tIns="0" rIns="0" bIns="0" rtlCol="0" anchor="t"/>
          <a:lstStyle/>
          <a:p>
            <a:pPr algn="l" indent="0" marL="0">
              <a:lnSpc>
                <a:spcPct val="112000"/>
              </a:lnSpc>
              <a:buNone/>
            </a:pPr>
            <a:r>
              <a:rPr lang="en-US" sz="1240" b="1" dirty="0">
                <a:solidFill>
                  <a:srgbClr val="243B53"/>
                </a:solidFill>
                <a:latin typeface="Aptos" pitchFamily="34" charset="0"/>
                <a:ea typeface="Aptos" pitchFamily="34" charset="-122"/>
                <a:cs typeface="Aptos" pitchFamily="34" charset="-120"/>
              </a:rPr>
              <a:t>Acertó por coincidencia entre lo que alguien quiso nombrar y lo que el requisito pedía.</a:t>
            </a:r>
            <a:endParaRPr lang="en-US" sz="1240" dirty="0"/>
          </a:p>
        </p:txBody>
      </p:sp>
      <p:sp>
        <p:nvSpPr>
          <p:cNvPr id="26" name="Shape 23"/>
          <p:cNvSpPr/>
          <p:nvPr/>
        </p:nvSpPr>
        <p:spPr>
          <a:xfrm>
            <a:off x="1591056" y="4224528"/>
            <a:ext cx="9649663" cy="0"/>
          </a:xfrm>
          <a:prstGeom prst="line">
            <a:avLst/>
          </a:prstGeom>
          <a:noFill/>
          <a:ln w="12700">
            <a:solidFill>
              <a:srgbClr val="D8CFC4"/>
            </a:solidFill>
            <a:prstDash val="solid"/>
            <a:headEnd type="none"/>
            <a:tailEnd type="none"/>
          </a:ln>
        </p:spPr>
      </p:sp>
      <p:sp>
        <p:nvSpPr>
          <p:cNvPr id="27" name="Text 24"/>
          <p:cNvSpPr txBox="1"/>
          <p:nvPr/>
        </p:nvSpPr>
        <p:spPr>
          <a:xfrm>
            <a:off x="1591056" y="4315968"/>
            <a:ext cx="1188720" cy="155448"/>
          </a:xfrm>
          <a:prstGeom prst="rect">
            <a:avLst/>
          </a:prstGeom>
          <a:noFill/>
          <a:ln/>
        </p:spPr>
        <p:txBody>
          <a:bodyPr wrap="square" lIns="0" tIns="0" rIns="0" bIns="0" rtlCol="0" anchor="t"/>
          <a:lstStyle/>
          <a:p>
            <a:pPr algn="l" indent="0" marL="0">
              <a:buNone/>
            </a:pPr>
            <a:r>
              <a:rPr lang="en-US" sz="800" b="1" spc="90" kern="0" dirty="0">
                <a:solidFill>
                  <a:srgbClr val="2E7D4F"/>
                </a:solidFill>
                <a:latin typeface="Aptos" pitchFamily="34" charset="0"/>
                <a:ea typeface="Aptos" pitchFamily="34" charset="-122"/>
                <a:cs typeface="Aptos" pitchFamily="34" charset="-120"/>
              </a:rPr>
              <a:t>LO QUE REVELA</a:t>
            </a:r>
            <a:endParaRPr lang="en-US" sz="800" dirty="0"/>
          </a:p>
        </p:txBody>
      </p:sp>
      <p:sp>
        <p:nvSpPr>
          <p:cNvPr id="28" name="Text 25"/>
          <p:cNvSpPr txBox="1"/>
          <p:nvPr/>
        </p:nvSpPr>
        <p:spPr>
          <a:xfrm>
            <a:off x="2871216" y="4288536"/>
            <a:ext cx="3712464" cy="310896"/>
          </a:xfrm>
          <a:prstGeom prst="rect">
            <a:avLst/>
          </a:prstGeom>
          <a:noFill/>
          <a:ln/>
        </p:spPr>
        <p:txBody>
          <a:bodyPr wrap="square" lIns="0" tIns="0" rIns="0" bIns="0" rtlCol="0" anchor="t"/>
          <a:lstStyle/>
          <a:p>
            <a:pPr algn="l" indent="0" marL="0">
              <a:lnSpc>
                <a:spcPct val="110000"/>
              </a:lnSpc>
              <a:buNone/>
            </a:pPr>
            <a:r>
              <a:rPr lang="en-US" sz="1020" dirty="0">
                <a:solidFill>
                  <a:srgbClr val="243B53"/>
                </a:solidFill>
                <a:latin typeface="Aptos" pitchFamily="34" charset="0"/>
                <a:ea typeface="Aptos" pitchFamily="34" charset="-122"/>
                <a:cs typeface="Aptos" pitchFamily="34" charset="-120"/>
              </a:rPr>
              <a:t>Falta el documento de requisitos: sin él, el acierto no se distingue del error.</a:t>
            </a:r>
            <a:endParaRPr lang="en-US" sz="1020" dirty="0"/>
          </a:p>
        </p:txBody>
      </p:sp>
      <p:sp>
        <p:nvSpPr>
          <p:cNvPr id="29" name="Text 26"/>
          <p:cNvSpPr txBox="1"/>
          <p:nvPr/>
        </p:nvSpPr>
        <p:spPr>
          <a:xfrm>
            <a:off x="6784848" y="4315968"/>
            <a:ext cx="1325880" cy="155448"/>
          </a:xfrm>
          <a:prstGeom prst="rect">
            <a:avLst/>
          </a:prstGeom>
          <a:noFill/>
          <a:ln/>
        </p:spPr>
        <p:txBody>
          <a:bodyPr wrap="square" lIns="0" tIns="0" rIns="0" bIns="0" rtlCol="0" anchor="t"/>
          <a:lstStyle/>
          <a:p>
            <a:pPr algn="l" indent="0" marL="0">
              <a:buNone/>
            </a:pPr>
            <a:r>
              <a:rPr lang="en-US" sz="800" b="1" spc="90" kern="0" dirty="0">
                <a:solidFill>
                  <a:srgbClr val="B3181E"/>
                </a:solidFill>
                <a:latin typeface="Aptos" pitchFamily="34" charset="0"/>
                <a:ea typeface="Aptos" pitchFamily="34" charset="-122"/>
                <a:cs typeface="Aptos" pitchFamily="34" charset="-120"/>
              </a:rPr>
              <a:t>ERROR FRECUENTE</a:t>
            </a:r>
            <a:endParaRPr lang="en-US" sz="800" dirty="0"/>
          </a:p>
        </p:txBody>
      </p:sp>
      <p:sp>
        <p:nvSpPr>
          <p:cNvPr id="30" name="Text 27"/>
          <p:cNvSpPr txBox="1"/>
          <p:nvPr/>
        </p:nvSpPr>
        <p:spPr>
          <a:xfrm>
            <a:off x="8138160" y="4288536"/>
            <a:ext cx="3063240" cy="310896"/>
          </a:xfrm>
          <a:prstGeom prst="rect">
            <a:avLst/>
          </a:prstGeom>
          <a:noFill/>
          <a:ln/>
        </p:spPr>
        <p:txBody>
          <a:bodyPr wrap="square" lIns="0" tIns="0" rIns="0" bIns="0" rtlCol="0" anchor="t"/>
          <a:lstStyle/>
          <a:p>
            <a:pPr algn="l" indent="0" marL="0">
              <a:lnSpc>
                <a:spcPct val="110000"/>
              </a:lnSpc>
              <a:buNone/>
            </a:pPr>
            <a:r>
              <a:rPr lang="en-US" sz="1020" i="1" dirty="0">
                <a:solidFill>
                  <a:srgbClr val="52606D"/>
                </a:solidFill>
                <a:latin typeface="Aptos" pitchFamily="34" charset="0"/>
                <a:ea typeface="Aptos" pitchFamily="34" charset="-122"/>
                <a:cs typeface="Aptos" pitchFamily="34" charset="-120"/>
              </a:rPr>
              <a:t>Tomar un plan bien redactado como prueba de que su contenido es correcto.</a:t>
            </a:r>
            <a:endParaRPr lang="en-US" sz="1020" dirty="0"/>
          </a:p>
        </p:txBody>
      </p:sp>
      <p:sp>
        <p:nvSpPr>
          <p:cNvPr id="31" name="Shape 28"/>
          <p:cNvSpPr/>
          <p:nvPr/>
        </p:nvSpPr>
        <p:spPr>
          <a:xfrm>
            <a:off x="658368" y="4846320"/>
            <a:ext cx="10874959" cy="1243584"/>
          </a:xfrm>
          <a:prstGeom prst="rect">
            <a:avLst/>
          </a:prstGeom>
          <a:solidFill>
            <a:srgbClr val="FFFFFF"/>
          </a:solidFill>
          <a:ln w="12700">
            <a:solidFill>
              <a:srgbClr val="FFFFFF"/>
            </a:solidFill>
            <a:prstDash val="solid"/>
          </a:ln>
        </p:spPr>
      </p:sp>
      <p:sp>
        <p:nvSpPr>
          <p:cNvPr id="32" name="Shape 29"/>
          <p:cNvSpPr/>
          <p:nvPr/>
        </p:nvSpPr>
        <p:spPr>
          <a:xfrm>
            <a:off x="658368" y="4846320"/>
            <a:ext cx="54864" cy="1243584"/>
          </a:xfrm>
          <a:prstGeom prst="rect">
            <a:avLst/>
          </a:prstGeom>
          <a:solidFill>
            <a:srgbClr val="8A6A12"/>
          </a:solidFill>
          <a:ln w="12700">
            <a:solidFill>
              <a:srgbClr val="8A6A12"/>
            </a:solidFill>
            <a:prstDash val="solid"/>
          </a:ln>
        </p:spPr>
      </p:sp>
      <p:sp>
        <p:nvSpPr>
          <p:cNvPr id="33" name="Text 30"/>
          <p:cNvSpPr txBox="1"/>
          <p:nvPr/>
        </p:nvSpPr>
        <p:spPr>
          <a:xfrm>
            <a:off x="896112" y="5010912"/>
            <a:ext cx="493776" cy="457200"/>
          </a:xfrm>
          <a:prstGeom prst="rect">
            <a:avLst/>
          </a:prstGeom>
          <a:noFill/>
          <a:ln/>
        </p:spPr>
        <p:txBody>
          <a:bodyPr wrap="square" lIns="0" tIns="0" rIns="0" bIns="0" rtlCol="0" anchor="ctr"/>
          <a:lstStyle/>
          <a:p>
            <a:pPr algn="ctr" indent="0" marL="0">
              <a:buNone/>
            </a:pPr>
            <a:r>
              <a:rPr lang="en-US" sz="2700" b="1" dirty="0">
                <a:solidFill>
                  <a:srgbClr val="8A6A12"/>
                </a:solidFill>
                <a:latin typeface="Aptos Display" pitchFamily="34" charset="0"/>
                <a:ea typeface="Aptos Display" pitchFamily="34" charset="-122"/>
                <a:cs typeface="Aptos Display" pitchFamily="34" charset="-120"/>
              </a:rPr>
              <a:t>3</a:t>
            </a:r>
            <a:endParaRPr lang="en-US" sz="2700" dirty="0"/>
          </a:p>
        </p:txBody>
      </p:sp>
      <p:sp>
        <p:nvSpPr>
          <p:cNvPr id="34" name="Text 31"/>
          <p:cNvSpPr txBox="1"/>
          <p:nvPr/>
        </p:nvSpPr>
        <p:spPr>
          <a:xfrm>
            <a:off x="1591056" y="4956048"/>
            <a:ext cx="2926080" cy="164592"/>
          </a:xfrm>
          <a:prstGeom prst="rect">
            <a:avLst/>
          </a:prstGeom>
          <a:noFill/>
          <a:ln/>
        </p:spPr>
        <p:txBody>
          <a:bodyPr wrap="square" lIns="0" tIns="0" rIns="0" bIns="0" rtlCol="0" anchor="t"/>
          <a:lstStyle/>
          <a:p>
            <a:pPr algn="l" indent="0" marL="0">
              <a:buNone/>
            </a:pPr>
            <a:r>
              <a:rPr lang="en-US" sz="830" b="1" spc="100" kern="0" dirty="0">
                <a:solidFill>
                  <a:srgbClr val="8A6A12"/>
                </a:solidFill>
                <a:latin typeface="Aptos" pitchFamily="34" charset="0"/>
                <a:ea typeface="Aptos" pitchFamily="34" charset="-122"/>
                <a:cs typeface="Aptos" pitchFamily="34" charset="-120"/>
              </a:rPr>
              <a:t>NO TE DEJA OMITIR EN SILENCIO</a:t>
            </a:r>
            <a:endParaRPr lang="en-US" sz="830" dirty="0"/>
          </a:p>
        </p:txBody>
      </p:sp>
      <p:sp>
        <p:nvSpPr>
          <p:cNvPr id="35" name="Text 32"/>
          <p:cNvSpPr txBox="1"/>
          <p:nvPr/>
        </p:nvSpPr>
        <p:spPr>
          <a:xfrm>
            <a:off x="1591056" y="5175504"/>
            <a:ext cx="9649663" cy="347472"/>
          </a:xfrm>
          <a:prstGeom prst="rect">
            <a:avLst/>
          </a:prstGeom>
          <a:noFill/>
          <a:ln/>
        </p:spPr>
        <p:txBody>
          <a:bodyPr wrap="square" lIns="0" tIns="0" rIns="0" bIns="0" rtlCol="0" anchor="t"/>
          <a:lstStyle/>
          <a:p>
            <a:pPr algn="l" indent="0" marL="0">
              <a:lnSpc>
                <a:spcPct val="112000"/>
              </a:lnSpc>
              <a:buNone/>
            </a:pPr>
            <a:r>
              <a:rPr lang="en-US" sz="1240" b="1" dirty="0">
                <a:solidFill>
                  <a:srgbClr val="243B53"/>
                </a:solidFill>
                <a:latin typeface="Aptos" pitchFamily="34" charset="0"/>
                <a:ea typeface="Aptos" pitchFamily="34" charset="-122"/>
                <a:cs typeface="Aptos" pitchFamily="34" charset="-120"/>
              </a:rPr>
              <a:t>Recortar está permitido; lo prohibido es que el recorte no se distinga de un olvido.</a:t>
            </a:r>
            <a:endParaRPr lang="en-US" sz="1240" dirty="0"/>
          </a:p>
        </p:txBody>
      </p:sp>
      <p:sp>
        <p:nvSpPr>
          <p:cNvPr id="36" name="Shape 33"/>
          <p:cNvSpPr/>
          <p:nvPr/>
        </p:nvSpPr>
        <p:spPr>
          <a:xfrm>
            <a:off x="1591056" y="5577840"/>
            <a:ext cx="9649663" cy="0"/>
          </a:xfrm>
          <a:prstGeom prst="line">
            <a:avLst/>
          </a:prstGeom>
          <a:noFill/>
          <a:ln w="12700">
            <a:solidFill>
              <a:srgbClr val="D8CFC4"/>
            </a:solidFill>
            <a:prstDash val="solid"/>
            <a:headEnd type="none"/>
            <a:tailEnd type="none"/>
          </a:ln>
        </p:spPr>
      </p:sp>
      <p:sp>
        <p:nvSpPr>
          <p:cNvPr id="37" name="Text 34"/>
          <p:cNvSpPr txBox="1"/>
          <p:nvPr/>
        </p:nvSpPr>
        <p:spPr>
          <a:xfrm>
            <a:off x="1591056" y="5669280"/>
            <a:ext cx="1188720" cy="155448"/>
          </a:xfrm>
          <a:prstGeom prst="rect">
            <a:avLst/>
          </a:prstGeom>
          <a:noFill/>
          <a:ln/>
        </p:spPr>
        <p:txBody>
          <a:bodyPr wrap="square" lIns="0" tIns="0" rIns="0" bIns="0" rtlCol="0" anchor="t"/>
          <a:lstStyle/>
          <a:p>
            <a:pPr algn="l" indent="0" marL="0">
              <a:buNone/>
            </a:pPr>
            <a:r>
              <a:rPr lang="en-US" sz="800" b="1" spc="90" kern="0" dirty="0">
                <a:solidFill>
                  <a:srgbClr val="2E7D4F"/>
                </a:solidFill>
                <a:latin typeface="Aptos" pitchFamily="34" charset="0"/>
                <a:ea typeface="Aptos" pitchFamily="34" charset="-122"/>
                <a:cs typeface="Aptos" pitchFamily="34" charset="-120"/>
              </a:rPr>
              <a:t>LO QUE REVELA</a:t>
            </a:r>
            <a:endParaRPr lang="en-US" sz="800" dirty="0"/>
          </a:p>
        </p:txBody>
      </p:sp>
      <p:sp>
        <p:nvSpPr>
          <p:cNvPr id="38" name="Text 35"/>
          <p:cNvSpPr txBox="1"/>
          <p:nvPr/>
        </p:nvSpPr>
        <p:spPr>
          <a:xfrm>
            <a:off x="2871216" y="5641848"/>
            <a:ext cx="3712464" cy="310896"/>
          </a:xfrm>
          <a:prstGeom prst="rect">
            <a:avLst/>
          </a:prstGeom>
          <a:noFill/>
          <a:ln/>
        </p:spPr>
        <p:txBody>
          <a:bodyPr wrap="square" lIns="0" tIns="0" rIns="0" bIns="0" rtlCol="0" anchor="t"/>
          <a:lstStyle/>
          <a:p>
            <a:pPr algn="l" indent="0" marL="0">
              <a:lnSpc>
                <a:spcPct val="110000"/>
              </a:lnSpc>
              <a:buNone/>
            </a:pPr>
            <a:r>
              <a:rPr lang="en-US" sz="1020" dirty="0">
                <a:solidFill>
                  <a:srgbClr val="243B53"/>
                </a:solidFill>
                <a:latin typeface="Aptos" pitchFamily="34" charset="0"/>
                <a:ea typeface="Aptos" pitchFamily="34" charset="-122"/>
                <a:cs typeface="Aptos" pitchFamily="34" charset="-120"/>
              </a:rPr>
              <a:t>La conformidad no está en cuánto cubres, sino en que se pueda leer qué decidiste.</a:t>
            </a:r>
            <a:endParaRPr lang="en-US" sz="1020" dirty="0"/>
          </a:p>
        </p:txBody>
      </p:sp>
      <p:sp>
        <p:nvSpPr>
          <p:cNvPr id="39" name="Text 36"/>
          <p:cNvSpPr txBox="1"/>
          <p:nvPr/>
        </p:nvSpPr>
        <p:spPr>
          <a:xfrm>
            <a:off x="6784848" y="5669280"/>
            <a:ext cx="1325880" cy="155448"/>
          </a:xfrm>
          <a:prstGeom prst="rect">
            <a:avLst/>
          </a:prstGeom>
          <a:noFill/>
          <a:ln/>
        </p:spPr>
        <p:txBody>
          <a:bodyPr wrap="square" lIns="0" tIns="0" rIns="0" bIns="0" rtlCol="0" anchor="t"/>
          <a:lstStyle/>
          <a:p>
            <a:pPr algn="l" indent="0" marL="0">
              <a:buNone/>
            </a:pPr>
            <a:r>
              <a:rPr lang="en-US" sz="800" b="1" spc="90" kern="0" dirty="0">
                <a:solidFill>
                  <a:srgbClr val="B3181E"/>
                </a:solidFill>
                <a:latin typeface="Aptos" pitchFamily="34" charset="0"/>
                <a:ea typeface="Aptos" pitchFamily="34" charset="-122"/>
                <a:cs typeface="Aptos" pitchFamily="34" charset="-120"/>
              </a:rPr>
              <a:t>ERROR FRECUENTE</a:t>
            </a:r>
            <a:endParaRPr lang="en-US" sz="800" dirty="0"/>
          </a:p>
        </p:txBody>
      </p:sp>
      <p:sp>
        <p:nvSpPr>
          <p:cNvPr id="40" name="Text 37"/>
          <p:cNvSpPr txBox="1"/>
          <p:nvPr/>
        </p:nvSpPr>
        <p:spPr>
          <a:xfrm>
            <a:off x="8138160" y="5641848"/>
            <a:ext cx="3063240" cy="310896"/>
          </a:xfrm>
          <a:prstGeom prst="rect">
            <a:avLst/>
          </a:prstGeom>
          <a:noFill/>
          <a:ln/>
        </p:spPr>
        <p:txBody>
          <a:bodyPr wrap="square" lIns="0" tIns="0" rIns="0" bIns="0" rtlCol="0" anchor="t"/>
          <a:lstStyle/>
          <a:p>
            <a:pPr algn="l" indent="0" marL="0">
              <a:lnSpc>
                <a:spcPct val="110000"/>
              </a:lnSpc>
              <a:buNone/>
            </a:pPr>
            <a:r>
              <a:rPr lang="en-US" sz="1020" i="1" dirty="0">
                <a:solidFill>
                  <a:srgbClr val="52606D"/>
                </a:solidFill>
                <a:latin typeface="Aptos" pitchFamily="34" charset="0"/>
                <a:ea typeface="Aptos" pitchFamily="34" charset="-122"/>
                <a:cs typeface="Aptos" pitchFamily="34" charset="-120"/>
              </a:rPr>
              <a:t>Creer que cumplir la norma es entregar las diez subcláusulas completas.</a:t>
            </a:r>
            <a:endParaRPr lang="en-US" sz="10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02A43"/>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E0BC5A"/>
          </a:solidFill>
          <a:ln w="12700">
            <a:solidFill>
              <a:srgbClr val="E0BC5A"/>
            </a:solidFill>
            <a:prstDash val="solid"/>
          </a:ln>
        </p:spPr>
      </p:sp>
      <p:sp>
        <p:nvSpPr>
          <p:cNvPr id="4" name="Shape 2"/>
          <p:cNvSpPr/>
          <p:nvPr/>
        </p:nvSpPr>
        <p:spPr>
          <a:xfrm>
            <a:off x="1243584" y="0"/>
            <a:ext cx="256032" cy="109728"/>
          </a:xfrm>
          <a:prstGeom prst="rect">
            <a:avLst/>
          </a:prstGeom>
          <a:solidFill>
            <a:srgbClr val="FFFFFF"/>
          </a:solidFill>
          <a:ln w="12700">
            <a:solidFill>
              <a:srgbClr val="FFFFFF"/>
            </a:solidFill>
            <a:prstDash val="solid"/>
          </a:ln>
        </p:spPr>
      </p:sp>
      <p:pic>
        <p:nvPicPr>
          <p:cNvPr id="5" name="Image 0" descr="C:\Users\Diego Obando\dev\pro402-taller-de-testing-2026\clases\semana-05\02\ppt\source\assets\logo-aiep-dark.png">    </p:cNvPr>
          <p:cNvPicPr>
            <a:picLocks noChangeAspect="1"/>
          </p:cNvPicPr>
          <p:nvPr/>
        </p:nvPicPr>
        <p:blipFill>
          <a:blip r:embed="rId1"/>
          <a:stretch>
            <a:fillRect/>
          </a:stretch>
        </p:blipFill>
        <p:spPr>
          <a:xfrm>
            <a:off x="10222992" y="307150"/>
            <a:ext cx="1335024" cy="464691"/>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EADFD0"/>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EADFD0"/>
                </a:solidFill>
                <a:latin typeface="Aptos Display" pitchFamily="34" charset="0"/>
                <a:ea typeface="Aptos Display" pitchFamily="34" charset="-122"/>
                <a:cs typeface="Aptos Display" pitchFamily="34" charset="-120"/>
              </a:rPr>
              <a:t>18</a:t>
            </a:r>
            <a:endParaRPr lang="en-US" sz="1400" dirty="0"/>
          </a:p>
        </p:txBody>
      </p:sp>
      <p:sp>
        <p:nvSpPr>
          <p:cNvPr id="8" name="Text 5"/>
          <p:cNvSpPr txBox="1"/>
          <p:nvPr/>
        </p:nvSpPr>
        <p:spPr>
          <a:xfrm>
            <a:off x="658368" y="1371600"/>
            <a:ext cx="4572000" cy="201168"/>
          </a:xfrm>
          <a:prstGeom prst="rect">
            <a:avLst/>
          </a:prstGeom>
          <a:noFill/>
          <a:ln/>
        </p:spPr>
        <p:txBody>
          <a:bodyPr wrap="square" lIns="0" tIns="0" rIns="0" bIns="0" rtlCol="0" anchor="t"/>
          <a:lstStyle/>
          <a:p>
            <a:pPr algn="l" indent="0" marL="0">
              <a:buNone/>
            </a:pPr>
            <a:r>
              <a:rPr lang="en-US" sz="960" b="1" spc="130" kern="0" dirty="0">
                <a:solidFill>
                  <a:srgbClr val="E0BC5A"/>
                </a:solidFill>
                <a:latin typeface="Aptos" pitchFamily="34" charset="0"/>
                <a:ea typeface="Aptos" pitchFamily="34" charset="-122"/>
                <a:cs typeface="Aptos" pitchFamily="34" charset="-120"/>
              </a:rPr>
              <a:t>BLOQUE 2 DE 4 · 25 MINUTOS</a:t>
            </a:r>
            <a:endParaRPr lang="en-US" sz="960" dirty="0"/>
          </a:p>
        </p:txBody>
      </p:sp>
      <p:sp>
        <p:nvSpPr>
          <p:cNvPr id="9" name="Text 6"/>
          <p:cNvSpPr txBox="1"/>
          <p:nvPr/>
        </p:nvSpPr>
        <p:spPr>
          <a:xfrm>
            <a:off x="658368" y="1810512"/>
            <a:ext cx="9784080" cy="1371600"/>
          </a:xfrm>
          <a:prstGeom prst="rect">
            <a:avLst/>
          </a:prstGeom>
          <a:noFill/>
          <a:ln/>
        </p:spPr>
        <p:txBody>
          <a:bodyPr wrap="square" lIns="0" tIns="0" rIns="0" bIns="0" rtlCol="0" anchor="t"/>
          <a:lstStyle/>
          <a:p>
            <a:pPr algn="l" indent="0" marL="0">
              <a:lnSpc>
                <a:spcPct val="102000"/>
              </a:lnSpc>
              <a:buNone/>
            </a:pPr>
            <a:r>
              <a:rPr lang="en-US" sz="4000" b="1" dirty="0">
                <a:solidFill>
                  <a:srgbClr val="FFFFFF"/>
                </a:solidFill>
                <a:latin typeface="Aptos Display" pitchFamily="34" charset="0"/>
                <a:ea typeface="Aptos Display" pitchFamily="34" charset="-122"/>
                <a:cs typeface="Aptos Display" pitchFamily="34" charset="-120"/>
              </a:rPr>
              <a:t>El esfuerzo se reparte por consecuencia</a:t>
            </a:r>
            <a:endParaRPr lang="en-US" sz="4000" dirty="0"/>
          </a:p>
        </p:txBody>
      </p:sp>
      <p:sp>
        <p:nvSpPr>
          <p:cNvPr id="10" name="Shape 7"/>
          <p:cNvSpPr/>
          <p:nvPr/>
        </p:nvSpPr>
        <p:spPr>
          <a:xfrm>
            <a:off x="658368" y="3346704"/>
            <a:ext cx="3840480" cy="0"/>
          </a:xfrm>
          <a:prstGeom prst="line">
            <a:avLst/>
          </a:prstGeom>
          <a:noFill/>
          <a:ln w="12700">
            <a:solidFill>
              <a:srgbClr val="E0BC5A"/>
            </a:solidFill>
            <a:prstDash val="solid"/>
            <a:headEnd type="none"/>
            <a:tailEnd type="none"/>
          </a:ln>
        </p:spPr>
      </p:sp>
      <p:sp>
        <p:nvSpPr>
          <p:cNvPr id="11" name="Text 8"/>
          <p:cNvSpPr txBox="1"/>
          <p:nvPr/>
        </p:nvSpPr>
        <p:spPr>
          <a:xfrm>
            <a:off x="658368" y="3602736"/>
            <a:ext cx="9326880" cy="786384"/>
          </a:xfrm>
          <a:prstGeom prst="rect">
            <a:avLst/>
          </a:prstGeom>
          <a:noFill/>
          <a:ln/>
        </p:spPr>
        <p:txBody>
          <a:bodyPr wrap="square" lIns="0" tIns="0" rIns="0" bIns="0" rtlCol="0" anchor="t"/>
          <a:lstStyle/>
          <a:p>
            <a:pPr algn="l" indent="0" marL="0">
              <a:lnSpc>
                <a:spcPct val="120000"/>
              </a:lnSpc>
              <a:buNone/>
            </a:pPr>
            <a:r>
              <a:rPr lang="en-US" sz="1500" dirty="0">
                <a:solidFill>
                  <a:srgbClr val="EADFD0"/>
                </a:solidFill>
                <a:latin typeface="Aptos" pitchFamily="34" charset="0"/>
                <a:ea typeface="Aptos" pitchFamily="34" charset="-122"/>
                <a:cs typeface="Aptos" pitchFamily="34" charset="-120"/>
              </a:rPr>
              <a:t>Dieciséis riesgos sobre la mesa y probarlos todos por igual no es una opción. Hace falta un criterio para repartir, y después medir si el esfuerzo que ya está invertido coincide con él.</a:t>
            </a:r>
            <a:endParaRPr lang="en-US" sz="1500" dirty="0"/>
          </a:p>
        </p:txBody>
      </p:sp>
      <p:sp>
        <p:nvSpPr>
          <p:cNvPr id="12" name="Shape 9"/>
          <p:cNvSpPr/>
          <p:nvPr/>
        </p:nvSpPr>
        <p:spPr>
          <a:xfrm>
            <a:off x="658368" y="4901184"/>
            <a:ext cx="2622728" cy="786384"/>
          </a:xfrm>
          <a:prstGeom prst="rect">
            <a:avLst/>
          </a:prstGeom>
          <a:solidFill>
            <a:srgbClr val="1D3A57"/>
          </a:solidFill>
          <a:ln w="12700">
            <a:solidFill>
              <a:srgbClr val="1D3A57"/>
            </a:solidFill>
            <a:prstDash val="solid"/>
          </a:ln>
        </p:spPr>
      </p:sp>
      <p:sp>
        <p:nvSpPr>
          <p:cNvPr id="13" name="Text 10"/>
          <p:cNvSpPr txBox="1"/>
          <p:nvPr/>
        </p:nvSpPr>
        <p:spPr>
          <a:xfrm>
            <a:off x="841248" y="5001768"/>
            <a:ext cx="457200" cy="182880"/>
          </a:xfrm>
          <a:prstGeom prst="rect">
            <a:avLst/>
          </a:prstGeom>
          <a:noFill/>
          <a:ln/>
        </p:spPr>
        <p:txBody>
          <a:bodyPr wrap="square" lIns="0" tIns="0" rIns="0" bIns="0" rtlCol="0" anchor="t"/>
          <a:lstStyle/>
          <a:p>
            <a:pPr algn="l" indent="0" marL="0">
              <a:buNone/>
            </a:pPr>
            <a:r>
              <a:rPr lang="en-US" sz="900" b="1" spc="80" kern="0" dirty="0">
                <a:solidFill>
                  <a:srgbClr val="E0BC5A"/>
                </a:solidFill>
                <a:latin typeface="Aptos" pitchFamily="34" charset="0"/>
                <a:ea typeface="Aptos" pitchFamily="34" charset="-122"/>
                <a:cs typeface="Aptos" pitchFamily="34" charset="-120"/>
              </a:rPr>
              <a:t>01</a:t>
            </a:r>
            <a:endParaRPr lang="en-US" sz="900" dirty="0"/>
          </a:p>
        </p:txBody>
      </p:sp>
      <p:sp>
        <p:nvSpPr>
          <p:cNvPr id="14" name="Text 11"/>
          <p:cNvSpPr txBox="1"/>
          <p:nvPr/>
        </p:nvSpPr>
        <p:spPr>
          <a:xfrm>
            <a:off x="841248" y="5184648"/>
            <a:ext cx="2256968" cy="219456"/>
          </a:xfrm>
          <a:prstGeom prst="rect">
            <a:avLst/>
          </a:prstGeom>
          <a:noFill/>
          <a:ln/>
        </p:spPr>
        <p:txBody>
          <a:bodyPr wrap="square" lIns="0" tIns="0" rIns="0" bIns="0" rtlCol="0" anchor="t"/>
          <a:lstStyle/>
          <a:p>
            <a:pPr algn="l" indent="0" marL="0">
              <a:buNone/>
            </a:pPr>
            <a:r>
              <a:rPr lang="en-US" sz="1160" b="1" spc="90" kern="0" dirty="0">
                <a:solidFill>
                  <a:srgbClr val="FFFFFF"/>
                </a:solidFill>
                <a:latin typeface="Aptos" pitchFamily="34" charset="0"/>
                <a:ea typeface="Aptos" pitchFamily="34" charset="-122"/>
                <a:cs typeface="Aptos" pitchFamily="34" charset="-120"/>
              </a:rPr>
              <a:t>DECLARAR</a:t>
            </a:r>
            <a:endParaRPr lang="en-US" sz="1160" dirty="0"/>
          </a:p>
        </p:txBody>
      </p:sp>
      <p:sp>
        <p:nvSpPr>
          <p:cNvPr id="15" name="Text 12"/>
          <p:cNvSpPr txBox="1"/>
          <p:nvPr/>
        </p:nvSpPr>
        <p:spPr>
          <a:xfrm>
            <a:off x="841248" y="5422392"/>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E6EEF7"/>
                </a:solidFill>
                <a:latin typeface="Aptos" pitchFamily="34" charset="0"/>
                <a:ea typeface="Aptos" pitchFamily="34" charset="-122"/>
                <a:cs typeface="Aptos" pitchFamily="34" charset="-120"/>
              </a:rPr>
              <a:t>Qué se prueba y qué queda fuera</a:t>
            </a:r>
            <a:endParaRPr lang="en-US" sz="920" dirty="0"/>
          </a:p>
        </p:txBody>
      </p:sp>
      <p:sp>
        <p:nvSpPr>
          <p:cNvPr id="16" name="Shape 13"/>
          <p:cNvSpPr/>
          <p:nvPr/>
        </p:nvSpPr>
        <p:spPr>
          <a:xfrm>
            <a:off x="3409112" y="4901184"/>
            <a:ext cx="2622728" cy="786384"/>
          </a:xfrm>
          <a:prstGeom prst="rect">
            <a:avLst/>
          </a:prstGeom>
          <a:solidFill>
            <a:srgbClr val="D62027"/>
          </a:solidFill>
          <a:ln w="12700">
            <a:solidFill>
              <a:srgbClr val="D62027"/>
            </a:solidFill>
            <a:prstDash val="solid"/>
          </a:ln>
        </p:spPr>
      </p:sp>
      <p:sp>
        <p:nvSpPr>
          <p:cNvPr id="17" name="Text 14"/>
          <p:cNvSpPr txBox="1"/>
          <p:nvPr/>
        </p:nvSpPr>
        <p:spPr>
          <a:xfrm>
            <a:off x="3591992" y="5001768"/>
            <a:ext cx="457200" cy="182880"/>
          </a:xfrm>
          <a:prstGeom prst="rect">
            <a:avLst/>
          </a:prstGeom>
          <a:noFill/>
          <a:ln/>
        </p:spPr>
        <p:txBody>
          <a:bodyPr wrap="square" lIns="0" tIns="0" rIns="0" bIns="0" rtlCol="0" anchor="t"/>
          <a:lstStyle/>
          <a:p>
            <a:pPr algn="l" indent="0" marL="0">
              <a:buNone/>
            </a:pPr>
            <a:r>
              <a:rPr lang="en-US" sz="900" b="1" spc="80" kern="0" dirty="0">
                <a:solidFill>
                  <a:srgbClr val="FFFFFF"/>
                </a:solidFill>
                <a:latin typeface="Aptos" pitchFamily="34" charset="0"/>
                <a:ea typeface="Aptos" pitchFamily="34" charset="-122"/>
                <a:cs typeface="Aptos" pitchFamily="34" charset="-120"/>
              </a:rPr>
              <a:t>02</a:t>
            </a:r>
            <a:endParaRPr lang="en-US" sz="900" dirty="0"/>
          </a:p>
        </p:txBody>
      </p:sp>
      <p:sp>
        <p:nvSpPr>
          <p:cNvPr id="18" name="Text 15"/>
          <p:cNvSpPr txBox="1"/>
          <p:nvPr/>
        </p:nvSpPr>
        <p:spPr>
          <a:xfrm>
            <a:off x="3591992" y="5184648"/>
            <a:ext cx="2256968" cy="219456"/>
          </a:xfrm>
          <a:prstGeom prst="rect">
            <a:avLst/>
          </a:prstGeom>
          <a:noFill/>
          <a:ln/>
        </p:spPr>
        <p:txBody>
          <a:bodyPr wrap="square" lIns="0" tIns="0" rIns="0" bIns="0" rtlCol="0" anchor="t"/>
          <a:lstStyle/>
          <a:p>
            <a:pPr algn="l" indent="0" marL="0">
              <a:buNone/>
            </a:pPr>
            <a:r>
              <a:rPr lang="en-US" sz="1160" b="1" spc="90" kern="0" dirty="0">
                <a:solidFill>
                  <a:srgbClr val="FFFFFF"/>
                </a:solidFill>
                <a:latin typeface="Aptos" pitchFamily="34" charset="0"/>
                <a:ea typeface="Aptos" pitchFamily="34" charset="-122"/>
                <a:cs typeface="Aptos" pitchFamily="34" charset="-120"/>
              </a:rPr>
              <a:t>PRIORIZAR</a:t>
            </a:r>
            <a:endParaRPr lang="en-US" sz="1160" dirty="0"/>
          </a:p>
        </p:txBody>
      </p:sp>
      <p:sp>
        <p:nvSpPr>
          <p:cNvPr id="19" name="Text 16"/>
          <p:cNvSpPr txBox="1"/>
          <p:nvPr/>
        </p:nvSpPr>
        <p:spPr>
          <a:xfrm>
            <a:off x="3591992" y="5422392"/>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EADFD0"/>
                </a:solidFill>
                <a:latin typeface="Aptos" pitchFamily="34" charset="0"/>
                <a:ea typeface="Aptos" pitchFamily="34" charset="-122"/>
                <a:cs typeface="Aptos" pitchFamily="34" charset="-120"/>
              </a:rPr>
              <a:t>Dónde duele más un fallo</a:t>
            </a:r>
            <a:endParaRPr lang="en-US" sz="920" dirty="0"/>
          </a:p>
        </p:txBody>
      </p:sp>
      <p:sp>
        <p:nvSpPr>
          <p:cNvPr id="20" name="Shape 17"/>
          <p:cNvSpPr/>
          <p:nvPr/>
        </p:nvSpPr>
        <p:spPr>
          <a:xfrm>
            <a:off x="6159856" y="4901184"/>
            <a:ext cx="2622728" cy="786384"/>
          </a:xfrm>
          <a:prstGeom prst="rect">
            <a:avLst/>
          </a:prstGeom>
          <a:solidFill>
            <a:srgbClr val="1D3A57"/>
          </a:solidFill>
          <a:ln w="12700">
            <a:solidFill>
              <a:srgbClr val="1D3A57"/>
            </a:solidFill>
            <a:prstDash val="solid"/>
          </a:ln>
        </p:spPr>
      </p:sp>
      <p:sp>
        <p:nvSpPr>
          <p:cNvPr id="21" name="Text 18"/>
          <p:cNvSpPr txBox="1"/>
          <p:nvPr/>
        </p:nvSpPr>
        <p:spPr>
          <a:xfrm>
            <a:off x="6342736" y="5001768"/>
            <a:ext cx="457200" cy="182880"/>
          </a:xfrm>
          <a:prstGeom prst="rect">
            <a:avLst/>
          </a:prstGeom>
          <a:noFill/>
          <a:ln/>
        </p:spPr>
        <p:txBody>
          <a:bodyPr wrap="square" lIns="0" tIns="0" rIns="0" bIns="0" rtlCol="0" anchor="t"/>
          <a:lstStyle/>
          <a:p>
            <a:pPr algn="l" indent="0" marL="0">
              <a:buNone/>
            </a:pPr>
            <a:r>
              <a:rPr lang="en-US" sz="900" b="1" spc="80" kern="0" dirty="0">
                <a:solidFill>
                  <a:srgbClr val="E0BC5A"/>
                </a:solidFill>
                <a:latin typeface="Aptos" pitchFamily="34" charset="0"/>
                <a:ea typeface="Aptos" pitchFamily="34" charset="-122"/>
                <a:cs typeface="Aptos" pitchFamily="34" charset="-120"/>
              </a:rPr>
              <a:t>03</a:t>
            </a:r>
            <a:endParaRPr lang="en-US" sz="900" dirty="0"/>
          </a:p>
        </p:txBody>
      </p:sp>
      <p:sp>
        <p:nvSpPr>
          <p:cNvPr id="22" name="Text 19"/>
          <p:cNvSpPr txBox="1"/>
          <p:nvPr/>
        </p:nvSpPr>
        <p:spPr>
          <a:xfrm>
            <a:off x="6342736" y="5184648"/>
            <a:ext cx="2256968" cy="219456"/>
          </a:xfrm>
          <a:prstGeom prst="rect">
            <a:avLst/>
          </a:prstGeom>
          <a:noFill/>
          <a:ln/>
        </p:spPr>
        <p:txBody>
          <a:bodyPr wrap="square" lIns="0" tIns="0" rIns="0" bIns="0" rtlCol="0" anchor="t"/>
          <a:lstStyle/>
          <a:p>
            <a:pPr algn="l" indent="0" marL="0">
              <a:buNone/>
            </a:pPr>
            <a:r>
              <a:rPr lang="en-US" sz="1160" b="1" spc="90" kern="0" dirty="0">
                <a:solidFill>
                  <a:srgbClr val="FFFFFF"/>
                </a:solidFill>
                <a:latin typeface="Aptos" pitchFamily="34" charset="0"/>
                <a:ea typeface="Aptos" pitchFamily="34" charset="-122"/>
                <a:cs typeface="Aptos" pitchFamily="34" charset="-120"/>
              </a:rPr>
              <a:t>TRAZAR</a:t>
            </a:r>
            <a:endParaRPr lang="en-US" sz="1160" dirty="0"/>
          </a:p>
        </p:txBody>
      </p:sp>
      <p:sp>
        <p:nvSpPr>
          <p:cNvPr id="23" name="Text 20"/>
          <p:cNvSpPr txBox="1"/>
          <p:nvPr/>
        </p:nvSpPr>
        <p:spPr>
          <a:xfrm>
            <a:off x="6342736" y="5422392"/>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E6EEF7"/>
                </a:solidFill>
                <a:latin typeface="Aptos" pitchFamily="34" charset="0"/>
                <a:ea typeface="Aptos" pitchFamily="34" charset="-122"/>
                <a:cs typeface="Aptos" pitchFamily="34" charset="-120"/>
              </a:rPr>
              <a:t>Qué prueba responde a qué requisito</a:t>
            </a:r>
            <a:endParaRPr lang="en-US" sz="920" dirty="0"/>
          </a:p>
        </p:txBody>
      </p:sp>
      <p:sp>
        <p:nvSpPr>
          <p:cNvPr id="24" name="Shape 21"/>
          <p:cNvSpPr/>
          <p:nvPr/>
        </p:nvSpPr>
        <p:spPr>
          <a:xfrm>
            <a:off x="8910599" y="4901184"/>
            <a:ext cx="2622728" cy="786384"/>
          </a:xfrm>
          <a:prstGeom prst="rect">
            <a:avLst/>
          </a:prstGeom>
          <a:solidFill>
            <a:srgbClr val="1D3A57"/>
          </a:solidFill>
          <a:ln w="12700">
            <a:solidFill>
              <a:srgbClr val="1D3A57"/>
            </a:solidFill>
            <a:prstDash val="solid"/>
          </a:ln>
        </p:spPr>
      </p:sp>
      <p:sp>
        <p:nvSpPr>
          <p:cNvPr id="25" name="Text 22"/>
          <p:cNvSpPr txBox="1"/>
          <p:nvPr/>
        </p:nvSpPr>
        <p:spPr>
          <a:xfrm>
            <a:off x="9093479" y="5001768"/>
            <a:ext cx="457200" cy="182880"/>
          </a:xfrm>
          <a:prstGeom prst="rect">
            <a:avLst/>
          </a:prstGeom>
          <a:noFill/>
          <a:ln/>
        </p:spPr>
        <p:txBody>
          <a:bodyPr wrap="square" lIns="0" tIns="0" rIns="0" bIns="0" rtlCol="0" anchor="t"/>
          <a:lstStyle/>
          <a:p>
            <a:pPr algn="l" indent="0" marL="0">
              <a:buNone/>
            </a:pPr>
            <a:r>
              <a:rPr lang="en-US" sz="900" b="1" spc="80" kern="0" dirty="0">
                <a:solidFill>
                  <a:srgbClr val="E0BC5A"/>
                </a:solidFill>
                <a:latin typeface="Aptos" pitchFamily="34" charset="0"/>
                <a:ea typeface="Aptos" pitchFamily="34" charset="-122"/>
                <a:cs typeface="Aptos" pitchFamily="34" charset="-120"/>
              </a:rPr>
              <a:t>04</a:t>
            </a:r>
            <a:endParaRPr lang="en-US" sz="900" dirty="0"/>
          </a:p>
        </p:txBody>
      </p:sp>
      <p:sp>
        <p:nvSpPr>
          <p:cNvPr id="26" name="Text 23"/>
          <p:cNvSpPr txBox="1"/>
          <p:nvPr/>
        </p:nvSpPr>
        <p:spPr>
          <a:xfrm>
            <a:off x="9093479" y="5184648"/>
            <a:ext cx="2256968" cy="219456"/>
          </a:xfrm>
          <a:prstGeom prst="rect">
            <a:avLst/>
          </a:prstGeom>
          <a:noFill/>
          <a:ln/>
        </p:spPr>
        <p:txBody>
          <a:bodyPr wrap="square" lIns="0" tIns="0" rIns="0" bIns="0" rtlCol="0" anchor="t"/>
          <a:lstStyle/>
          <a:p>
            <a:pPr algn="l" indent="0" marL="0">
              <a:buNone/>
            </a:pPr>
            <a:r>
              <a:rPr lang="en-US" sz="1160" b="1" spc="90" kern="0" dirty="0">
                <a:solidFill>
                  <a:srgbClr val="FFFFFF"/>
                </a:solidFill>
                <a:latin typeface="Aptos" pitchFamily="34" charset="0"/>
                <a:ea typeface="Aptos" pitchFamily="34" charset="-122"/>
                <a:cs typeface="Aptos" pitchFamily="34" charset="-120"/>
              </a:rPr>
              <a:t>COMPROBAR</a:t>
            </a:r>
            <a:endParaRPr lang="en-US" sz="1160" dirty="0"/>
          </a:p>
        </p:txBody>
      </p:sp>
      <p:sp>
        <p:nvSpPr>
          <p:cNvPr id="27" name="Text 24"/>
          <p:cNvSpPr txBox="1"/>
          <p:nvPr/>
        </p:nvSpPr>
        <p:spPr>
          <a:xfrm>
            <a:off x="9093479" y="5422392"/>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E6EEF7"/>
                </a:solidFill>
                <a:latin typeface="Aptos" pitchFamily="34" charset="0"/>
                <a:ea typeface="Aptos" pitchFamily="34" charset="-122"/>
                <a:cs typeface="Aptos" pitchFamily="34" charset="-120"/>
              </a:rPr>
              <a:t>Que la traza sea verdadera</a:t>
            </a:r>
            <a:endParaRPr lang="en-US" sz="9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19</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2 · DEFINIR ANTES DE USAR</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2700" b="1" dirty="0">
                <a:solidFill>
                  <a:srgbClr val="243B53"/>
                </a:solidFill>
                <a:latin typeface="Aptos Display" pitchFamily="34" charset="0"/>
                <a:ea typeface="Aptos Display" pitchFamily="34" charset="-122"/>
                <a:cs typeface="Aptos Display" pitchFamily="34" charset="-120"/>
              </a:rPr>
              <a:t>Un riesgo es un evento que todavía no ocurrió</a:t>
            </a:r>
            <a:endParaRPr lang="en-US" sz="2700" dirty="0"/>
          </a:p>
        </p:txBody>
      </p:sp>
      <p:sp>
        <p:nvSpPr>
          <p:cNvPr id="10" name="Text 7"/>
          <p:cNvSpPr txBox="1"/>
          <p:nvPr/>
        </p:nvSpPr>
        <p:spPr>
          <a:xfrm>
            <a:off x="658368" y="1664208"/>
            <a:ext cx="10424160" cy="347472"/>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En el uso corriente «riesgo» significa «algo que me preocupa». Con esa definición no se puede ordenar nada.</a:t>
            </a:r>
            <a:endParaRPr lang="en-US" sz="1420" dirty="0"/>
          </a:p>
        </p:txBody>
      </p:sp>
      <p:sp>
        <p:nvSpPr>
          <p:cNvPr id="11" name="Shape 8"/>
          <p:cNvSpPr/>
          <p:nvPr/>
        </p:nvSpPr>
        <p:spPr>
          <a:xfrm>
            <a:off x="658368" y="2231136"/>
            <a:ext cx="10874959" cy="731520"/>
          </a:xfrm>
          <a:prstGeom prst="rect">
            <a:avLst/>
          </a:prstGeom>
          <a:solidFill>
            <a:srgbClr val="FFFFFF"/>
          </a:solidFill>
          <a:ln w="12700">
            <a:solidFill>
              <a:srgbClr val="FFFFFF"/>
            </a:solidFill>
            <a:prstDash val="solid"/>
          </a:ln>
        </p:spPr>
      </p:sp>
      <p:sp>
        <p:nvSpPr>
          <p:cNvPr id="12" name="Shape 9"/>
          <p:cNvSpPr/>
          <p:nvPr/>
        </p:nvSpPr>
        <p:spPr>
          <a:xfrm>
            <a:off x="658368" y="2231136"/>
            <a:ext cx="54864" cy="731520"/>
          </a:xfrm>
          <a:prstGeom prst="rect">
            <a:avLst/>
          </a:prstGeom>
          <a:solidFill>
            <a:srgbClr val="102A43"/>
          </a:solidFill>
          <a:ln w="12700">
            <a:solidFill>
              <a:srgbClr val="102A43"/>
            </a:solidFill>
            <a:prstDash val="solid"/>
          </a:ln>
        </p:spPr>
      </p:sp>
      <p:sp>
        <p:nvSpPr>
          <p:cNvPr id="13" name="Text 10"/>
          <p:cNvSpPr txBox="1"/>
          <p:nvPr/>
        </p:nvSpPr>
        <p:spPr>
          <a:xfrm>
            <a:off x="896112" y="2359152"/>
            <a:ext cx="10417759" cy="182880"/>
          </a:xfrm>
          <a:prstGeom prst="rect">
            <a:avLst/>
          </a:prstGeom>
          <a:noFill/>
          <a:ln/>
        </p:spPr>
        <p:txBody>
          <a:bodyPr wrap="square" lIns="0" tIns="0" rIns="0" bIns="0" rtlCol="0" anchor="t"/>
          <a:lstStyle/>
          <a:p>
            <a:pPr algn="l" indent="0" marL="0">
              <a:buNone/>
            </a:pPr>
            <a:r>
              <a:rPr lang="en-US" sz="920" b="1" spc="110" kern="0" dirty="0">
                <a:solidFill>
                  <a:srgbClr val="102A43"/>
                </a:solidFill>
                <a:latin typeface="Aptos" pitchFamily="34" charset="0"/>
                <a:ea typeface="Aptos" pitchFamily="34" charset="-122"/>
                <a:cs typeface="Aptos" pitchFamily="34" charset="-120"/>
              </a:rPr>
              <a:t>RIESGO · ISTQB 5.2.1 · TRADUCCIÓN DEL INGLÉS</a:t>
            </a:r>
            <a:endParaRPr lang="en-US" sz="920" dirty="0"/>
          </a:p>
        </p:txBody>
      </p:sp>
      <p:sp>
        <p:nvSpPr>
          <p:cNvPr id="14" name="Text 11"/>
          <p:cNvSpPr txBox="1"/>
          <p:nvPr/>
        </p:nvSpPr>
        <p:spPr>
          <a:xfrm>
            <a:off x="896112" y="2615184"/>
            <a:ext cx="10417759" cy="237744"/>
          </a:xfrm>
          <a:prstGeom prst="rect">
            <a:avLst/>
          </a:prstGeom>
          <a:noFill/>
          <a:ln/>
        </p:spPr>
        <p:txBody>
          <a:bodyPr wrap="square" lIns="0" tIns="0" rIns="0" bIns="0" rtlCol="0" anchor="t"/>
          <a:lstStyle/>
          <a:p>
            <a:pPr algn="l" indent="0" marL="0">
              <a:lnSpc>
                <a:spcPct val="114000"/>
              </a:lnSpc>
              <a:buNone/>
            </a:pPr>
            <a:r>
              <a:rPr lang="en-US" sz="1210" dirty="0">
                <a:solidFill>
                  <a:srgbClr val="243B53"/>
                </a:solidFill>
                <a:latin typeface="Aptos" pitchFamily="34" charset="0"/>
                <a:ea typeface="Aptos" pitchFamily="34" charset="-122"/>
                <a:cs typeface="Aptos" pitchFamily="34" charset="-120"/>
              </a:rPr>
              <a:t>Un evento, peligro, amenaza o situación potencial cuya ocurrencia causa un efecto adverso.</a:t>
            </a:r>
            <a:endParaRPr lang="en-US" sz="1210" dirty="0"/>
          </a:p>
        </p:txBody>
      </p:sp>
      <p:sp>
        <p:nvSpPr>
          <p:cNvPr id="15" name="Text 12"/>
          <p:cNvSpPr txBox="1"/>
          <p:nvPr/>
        </p:nvSpPr>
        <p:spPr>
          <a:xfrm>
            <a:off x="658368" y="3072384"/>
            <a:ext cx="7315200" cy="201168"/>
          </a:xfrm>
          <a:prstGeom prst="rect">
            <a:avLst/>
          </a:prstGeom>
          <a:noFill/>
          <a:ln/>
        </p:spPr>
        <p:txBody>
          <a:bodyPr wrap="square" lIns="0" tIns="0" rIns="0" bIns="0" rtlCol="0" anchor="t"/>
          <a:lstStyle/>
          <a:p>
            <a:pPr algn="l" indent="0" marL="0">
              <a:buNone/>
            </a:pPr>
            <a:r>
              <a:rPr lang="en-US" sz="960" b="1" spc="130" kern="0" dirty="0">
                <a:solidFill>
                  <a:srgbClr val="D62027"/>
                </a:solidFill>
                <a:latin typeface="Aptos" pitchFamily="34" charset="0"/>
                <a:ea typeface="Aptos" pitchFamily="34" charset="-122"/>
                <a:cs typeface="Aptos" pitchFamily="34" charset="-120"/>
              </a:rPr>
              <a:t>LA PROBABILIDAD DE UN RIESGO VIVE ENTRE DOS EXTREMOS, SIN TOCARLOS</a:t>
            </a:r>
            <a:endParaRPr lang="en-US" sz="960" dirty="0"/>
          </a:p>
        </p:txBody>
      </p:sp>
      <p:sp>
        <p:nvSpPr>
          <p:cNvPr id="16" name="Shape 13"/>
          <p:cNvSpPr/>
          <p:nvPr/>
        </p:nvSpPr>
        <p:spPr>
          <a:xfrm>
            <a:off x="2688336" y="3913632"/>
            <a:ext cx="6693408" cy="292608"/>
          </a:xfrm>
          <a:prstGeom prst="rect">
            <a:avLst/>
          </a:prstGeom>
          <a:solidFill>
            <a:srgbClr val="F2E7D9"/>
          </a:solidFill>
          <a:ln w="12700">
            <a:solidFill>
              <a:srgbClr val="F2E7D9"/>
            </a:solidFill>
            <a:prstDash val="solid"/>
          </a:ln>
        </p:spPr>
      </p:sp>
      <p:sp>
        <p:nvSpPr>
          <p:cNvPr id="17" name="Shape 14"/>
          <p:cNvSpPr/>
          <p:nvPr/>
        </p:nvSpPr>
        <p:spPr>
          <a:xfrm>
            <a:off x="1828800" y="4059936"/>
            <a:ext cx="7955280" cy="0"/>
          </a:xfrm>
          <a:prstGeom prst="line">
            <a:avLst/>
          </a:prstGeom>
          <a:noFill/>
          <a:ln w="12700">
            <a:solidFill>
              <a:srgbClr val="52606D"/>
            </a:solidFill>
            <a:prstDash val="solid"/>
            <a:headEnd type="none"/>
            <a:tailEnd type="none"/>
          </a:ln>
        </p:spPr>
      </p:sp>
      <p:sp>
        <p:nvSpPr>
          <p:cNvPr id="18" name="Shape 15"/>
          <p:cNvSpPr/>
          <p:nvPr/>
        </p:nvSpPr>
        <p:spPr>
          <a:xfrm>
            <a:off x="1810512" y="3840480"/>
            <a:ext cx="45720" cy="438912"/>
          </a:xfrm>
          <a:prstGeom prst="rect">
            <a:avLst/>
          </a:prstGeom>
          <a:solidFill>
            <a:srgbClr val="B3181E"/>
          </a:solidFill>
          <a:ln w="12700">
            <a:solidFill>
              <a:srgbClr val="B3181E"/>
            </a:solidFill>
            <a:prstDash val="solid"/>
          </a:ln>
        </p:spPr>
      </p:sp>
      <p:sp>
        <p:nvSpPr>
          <p:cNvPr id="19" name="Text 16"/>
          <p:cNvSpPr txBox="1"/>
          <p:nvPr/>
        </p:nvSpPr>
        <p:spPr>
          <a:xfrm>
            <a:off x="1417320" y="3383280"/>
            <a:ext cx="822960" cy="365760"/>
          </a:xfrm>
          <a:prstGeom prst="rect">
            <a:avLst/>
          </a:prstGeom>
          <a:noFill/>
          <a:ln/>
        </p:spPr>
        <p:txBody>
          <a:bodyPr wrap="square" lIns="0" tIns="0" rIns="0" bIns="0" rtlCol="0" anchor="t"/>
          <a:lstStyle/>
          <a:p>
            <a:pPr algn="ctr" indent="0" marL="0">
              <a:buNone/>
            </a:pPr>
            <a:r>
              <a:rPr lang="en-US" sz="2400" b="1" dirty="0">
                <a:solidFill>
                  <a:srgbClr val="B3181E"/>
                </a:solidFill>
                <a:latin typeface="Aptos Display" pitchFamily="34" charset="0"/>
                <a:ea typeface="Aptos Display" pitchFamily="34" charset="-122"/>
                <a:cs typeface="Aptos Display" pitchFamily="34" charset="-120"/>
              </a:rPr>
              <a:t>0</a:t>
            </a:r>
            <a:endParaRPr lang="en-US" sz="2400" dirty="0"/>
          </a:p>
        </p:txBody>
      </p:sp>
      <p:sp>
        <p:nvSpPr>
          <p:cNvPr id="20" name="Text 17"/>
          <p:cNvSpPr txBox="1"/>
          <p:nvPr/>
        </p:nvSpPr>
        <p:spPr>
          <a:xfrm>
            <a:off x="685800" y="4370832"/>
            <a:ext cx="2286000" cy="457200"/>
          </a:xfrm>
          <a:prstGeom prst="rect">
            <a:avLst/>
          </a:prstGeom>
          <a:noFill/>
          <a:ln/>
        </p:spPr>
        <p:txBody>
          <a:bodyPr wrap="square" lIns="0" tIns="0" rIns="0" bIns="0" rtlCol="0" anchor="t"/>
          <a:lstStyle/>
          <a:p>
            <a:pPr algn="ctr" indent="0" marL="0">
              <a:lnSpc>
                <a:spcPct val="110000"/>
              </a:lnSpc>
              <a:buNone/>
            </a:pPr>
            <a:r>
              <a:rPr lang="en-US" sz="1060" dirty="0">
                <a:solidFill>
                  <a:srgbClr val="B3181E"/>
                </a:solidFill>
                <a:latin typeface="Aptos" pitchFamily="34" charset="0"/>
                <a:ea typeface="Aptos" pitchFamily="34" charset="-122"/>
                <a:cs typeface="Aptos" pitchFamily="34" charset="-120"/>
              </a:rPr>
              <a:t>No puede ocurrir.</a:t>
            </a:r>
            <a:endParaRPr lang="en-US" sz="1060" dirty="0"/>
          </a:p>
          <a:p>
            <a:pPr algn="ctr" indent="0" marL="0">
              <a:lnSpc>
                <a:spcPct val="110000"/>
              </a:lnSpc>
              <a:buNone/>
            </a:pPr>
            <a:r>
              <a:rPr lang="en-US" sz="1060" dirty="0">
                <a:solidFill>
                  <a:srgbClr val="B3181E"/>
                </a:solidFill>
                <a:latin typeface="Aptos" pitchFamily="34" charset="0"/>
                <a:ea typeface="Aptos" pitchFamily="34" charset="-122"/>
                <a:cs typeface="Aptos" pitchFamily="34" charset="-120"/>
              </a:rPr>
              <a:t>Eso no es un riesgo.</a:t>
            </a:r>
            <a:endParaRPr lang="en-US" sz="1060" dirty="0"/>
          </a:p>
        </p:txBody>
      </p:sp>
      <p:sp>
        <p:nvSpPr>
          <p:cNvPr id="21" name="Shape 18"/>
          <p:cNvSpPr/>
          <p:nvPr/>
        </p:nvSpPr>
        <p:spPr>
          <a:xfrm>
            <a:off x="9491472" y="3840480"/>
            <a:ext cx="45720" cy="438912"/>
          </a:xfrm>
          <a:prstGeom prst="rect">
            <a:avLst/>
          </a:prstGeom>
          <a:solidFill>
            <a:srgbClr val="B3181E"/>
          </a:solidFill>
          <a:ln w="12700">
            <a:solidFill>
              <a:srgbClr val="B3181E"/>
            </a:solidFill>
            <a:prstDash val="solid"/>
          </a:ln>
        </p:spPr>
      </p:sp>
      <p:sp>
        <p:nvSpPr>
          <p:cNvPr id="22" name="Text 19"/>
          <p:cNvSpPr txBox="1"/>
          <p:nvPr/>
        </p:nvSpPr>
        <p:spPr>
          <a:xfrm>
            <a:off x="9098280" y="3383280"/>
            <a:ext cx="822960" cy="365760"/>
          </a:xfrm>
          <a:prstGeom prst="rect">
            <a:avLst/>
          </a:prstGeom>
          <a:noFill/>
          <a:ln/>
        </p:spPr>
        <p:txBody>
          <a:bodyPr wrap="square" lIns="0" tIns="0" rIns="0" bIns="0" rtlCol="0" anchor="t"/>
          <a:lstStyle/>
          <a:p>
            <a:pPr algn="ctr" indent="0" marL="0">
              <a:buNone/>
            </a:pPr>
            <a:r>
              <a:rPr lang="en-US" sz="2400" b="1" dirty="0">
                <a:solidFill>
                  <a:srgbClr val="B3181E"/>
                </a:solidFill>
                <a:latin typeface="Aptos Display" pitchFamily="34" charset="0"/>
                <a:ea typeface="Aptos Display" pitchFamily="34" charset="-122"/>
                <a:cs typeface="Aptos Display" pitchFamily="34" charset="-120"/>
              </a:rPr>
              <a:t>1</a:t>
            </a:r>
            <a:endParaRPr lang="en-US" sz="2400" dirty="0"/>
          </a:p>
        </p:txBody>
      </p:sp>
      <p:sp>
        <p:nvSpPr>
          <p:cNvPr id="23" name="Text 20"/>
          <p:cNvSpPr txBox="1"/>
          <p:nvPr/>
        </p:nvSpPr>
        <p:spPr>
          <a:xfrm>
            <a:off x="8366760" y="4370832"/>
            <a:ext cx="2286000" cy="457200"/>
          </a:xfrm>
          <a:prstGeom prst="rect">
            <a:avLst/>
          </a:prstGeom>
          <a:noFill/>
          <a:ln/>
        </p:spPr>
        <p:txBody>
          <a:bodyPr wrap="square" lIns="0" tIns="0" rIns="0" bIns="0" rtlCol="0" anchor="t"/>
          <a:lstStyle/>
          <a:p>
            <a:pPr algn="ctr" indent="0" marL="0">
              <a:lnSpc>
                <a:spcPct val="110000"/>
              </a:lnSpc>
              <a:buNone/>
            </a:pPr>
            <a:r>
              <a:rPr lang="en-US" sz="1060" dirty="0">
                <a:solidFill>
                  <a:srgbClr val="B3181E"/>
                </a:solidFill>
                <a:latin typeface="Aptos" pitchFamily="34" charset="0"/>
                <a:ea typeface="Aptos" pitchFamily="34" charset="-122"/>
                <a:cs typeface="Aptos" pitchFamily="34" charset="-120"/>
              </a:rPr>
              <a:t>Ya ocurre siempre.</a:t>
            </a:r>
            <a:endParaRPr lang="en-US" sz="1060" dirty="0"/>
          </a:p>
          <a:p>
            <a:pPr algn="ctr" indent="0" marL="0">
              <a:lnSpc>
                <a:spcPct val="110000"/>
              </a:lnSpc>
              <a:buNone/>
            </a:pPr>
            <a:r>
              <a:rPr lang="en-US" sz="1060" dirty="0">
                <a:solidFill>
                  <a:srgbClr val="B3181E"/>
                </a:solidFill>
                <a:latin typeface="Aptos" pitchFamily="34" charset="0"/>
                <a:ea typeface="Aptos" pitchFamily="34" charset="-122"/>
                <a:cs typeface="Aptos" pitchFamily="34" charset="-120"/>
              </a:rPr>
              <a:t>Eso es un hecho.</a:t>
            </a:r>
            <a:endParaRPr lang="en-US" sz="1060" dirty="0"/>
          </a:p>
        </p:txBody>
      </p:sp>
      <p:sp>
        <p:nvSpPr>
          <p:cNvPr id="24" name="Text 21"/>
          <p:cNvSpPr txBox="1"/>
          <p:nvPr/>
        </p:nvSpPr>
        <p:spPr>
          <a:xfrm>
            <a:off x="4023360" y="3566160"/>
            <a:ext cx="4114800" cy="274320"/>
          </a:xfrm>
          <a:prstGeom prst="rect">
            <a:avLst/>
          </a:prstGeom>
          <a:noFill/>
          <a:ln/>
        </p:spPr>
        <p:txBody>
          <a:bodyPr wrap="square" lIns="0" tIns="0" rIns="0" bIns="0" rtlCol="0" anchor="t"/>
          <a:lstStyle/>
          <a:p>
            <a:pPr algn="ctr" indent="0" marL="0">
              <a:buNone/>
            </a:pPr>
            <a:r>
              <a:rPr lang="en-US" sz="1340" b="1" dirty="0">
                <a:solidFill>
                  <a:srgbClr val="243B53"/>
                </a:solidFill>
                <a:latin typeface="Aptos" pitchFamily="34" charset="0"/>
                <a:ea typeface="Aptos" pitchFamily="34" charset="-122"/>
                <a:cs typeface="Aptos" pitchFamily="34" charset="-120"/>
              </a:rPr>
              <a:t>Aquí vive un riesgo</a:t>
            </a:r>
            <a:endParaRPr lang="en-US" sz="1340" dirty="0"/>
          </a:p>
        </p:txBody>
      </p:sp>
      <p:sp>
        <p:nvSpPr>
          <p:cNvPr id="25" name="Shape 22"/>
          <p:cNvSpPr/>
          <p:nvPr/>
        </p:nvSpPr>
        <p:spPr>
          <a:xfrm>
            <a:off x="658368" y="4919472"/>
            <a:ext cx="3383280" cy="640080"/>
          </a:xfrm>
          <a:prstGeom prst="rect">
            <a:avLst/>
          </a:prstGeom>
          <a:solidFill>
            <a:srgbClr val="FFFFFF"/>
          </a:solidFill>
          <a:ln w="12700">
            <a:solidFill>
              <a:srgbClr val="FFFFFF"/>
            </a:solidFill>
            <a:prstDash val="solid"/>
          </a:ln>
        </p:spPr>
      </p:sp>
      <p:sp>
        <p:nvSpPr>
          <p:cNvPr id="26" name="Shape 23"/>
          <p:cNvSpPr/>
          <p:nvPr/>
        </p:nvSpPr>
        <p:spPr>
          <a:xfrm>
            <a:off x="658368" y="4919472"/>
            <a:ext cx="54864" cy="640080"/>
          </a:xfrm>
          <a:prstGeom prst="rect">
            <a:avLst/>
          </a:prstGeom>
          <a:solidFill>
            <a:srgbClr val="102A43"/>
          </a:solidFill>
          <a:ln w="12700">
            <a:solidFill>
              <a:srgbClr val="102A43"/>
            </a:solidFill>
            <a:prstDash val="solid"/>
          </a:ln>
        </p:spPr>
      </p:sp>
      <p:sp>
        <p:nvSpPr>
          <p:cNvPr id="27" name="Text 24"/>
          <p:cNvSpPr txBox="1"/>
          <p:nvPr/>
        </p:nvSpPr>
        <p:spPr>
          <a:xfrm>
            <a:off x="877824" y="5010912"/>
            <a:ext cx="2944368" cy="237744"/>
          </a:xfrm>
          <a:prstGeom prst="rect">
            <a:avLst/>
          </a:prstGeom>
          <a:noFill/>
          <a:ln/>
        </p:spPr>
        <p:txBody>
          <a:bodyPr wrap="square" lIns="0" tIns="0" rIns="0" bIns="0" rtlCol="0" anchor="t"/>
          <a:lstStyle/>
          <a:p>
            <a:pPr algn="l" indent="0" marL="0">
              <a:buNone/>
            </a:pPr>
            <a:r>
              <a:rPr lang="en-US" sz="1300" b="1" dirty="0">
                <a:solidFill>
                  <a:srgbClr val="102A43"/>
                </a:solidFill>
                <a:latin typeface="Aptos" pitchFamily="34" charset="0"/>
                <a:ea typeface="Aptos" pitchFamily="34" charset="-122"/>
                <a:cs typeface="Aptos" pitchFamily="34" charset="-120"/>
              </a:rPr>
              <a:t>Probabilidad</a:t>
            </a:r>
            <a:endParaRPr lang="en-US" sz="1300" dirty="0"/>
          </a:p>
        </p:txBody>
      </p:sp>
      <p:sp>
        <p:nvSpPr>
          <p:cNvPr id="28" name="Text 25"/>
          <p:cNvSpPr txBox="1"/>
          <p:nvPr/>
        </p:nvSpPr>
        <p:spPr>
          <a:xfrm>
            <a:off x="877824" y="5266944"/>
            <a:ext cx="2944368" cy="219456"/>
          </a:xfrm>
          <a:prstGeom prst="rect">
            <a:avLst/>
          </a:prstGeom>
          <a:noFill/>
          <a:ln/>
        </p:spPr>
        <p:txBody>
          <a:bodyPr wrap="square" lIns="0" tIns="0" rIns="0" bIns="0" rtlCol="0" anchor="t"/>
          <a:lstStyle/>
          <a:p>
            <a:pPr algn="l" indent="0" marL="0">
              <a:buNone/>
            </a:pPr>
            <a:r>
              <a:rPr lang="en-US" sz="1020" dirty="0">
                <a:solidFill>
                  <a:srgbClr val="52606D"/>
                </a:solidFill>
                <a:latin typeface="Aptos" pitchFamily="34" charset="0"/>
                <a:ea typeface="Aptos" pitchFamily="34" charset="-122"/>
                <a:cs typeface="Aptos" pitchFamily="34" charset="-120"/>
              </a:rPr>
              <a:t>Qué tan posible es que ocurra.</a:t>
            </a:r>
            <a:endParaRPr lang="en-US" sz="1020" dirty="0"/>
          </a:p>
        </p:txBody>
      </p:sp>
      <p:sp>
        <p:nvSpPr>
          <p:cNvPr id="29" name="Shape 26"/>
          <p:cNvSpPr/>
          <p:nvPr/>
        </p:nvSpPr>
        <p:spPr>
          <a:xfrm>
            <a:off x="4297680" y="4919472"/>
            <a:ext cx="3383280" cy="640080"/>
          </a:xfrm>
          <a:prstGeom prst="rect">
            <a:avLst/>
          </a:prstGeom>
          <a:solidFill>
            <a:srgbClr val="FFFFFF"/>
          </a:solidFill>
          <a:ln w="12700">
            <a:solidFill>
              <a:srgbClr val="FFFFFF"/>
            </a:solidFill>
            <a:prstDash val="solid"/>
          </a:ln>
        </p:spPr>
      </p:sp>
      <p:sp>
        <p:nvSpPr>
          <p:cNvPr id="30" name="Shape 27"/>
          <p:cNvSpPr/>
          <p:nvPr/>
        </p:nvSpPr>
        <p:spPr>
          <a:xfrm>
            <a:off x="4297680" y="4919472"/>
            <a:ext cx="54864" cy="640080"/>
          </a:xfrm>
          <a:prstGeom prst="rect">
            <a:avLst/>
          </a:prstGeom>
          <a:solidFill>
            <a:srgbClr val="8A6A12"/>
          </a:solidFill>
          <a:ln w="12700">
            <a:solidFill>
              <a:srgbClr val="8A6A12"/>
            </a:solidFill>
            <a:prstDash val="solid"/>
          </a:ln>
        </p:spPr>
      </p:sp>
      <p:sp>
        <p:nvSpPr>
          <p:cNvPr id="31" name="Text 28"/>
          <p:cNvSpPr txBox="1"/>
          <p:nvPr/>
        </p:nvSpPr>
        <p:spPr>
          <a:xfrm>
            <a:off x="4517136" y="5010912"/>
            <a:ext cx="2944368" cy="237744"/>
          </a:xfrm>
          <a:prstGeom prst="rect">
            <a:avLst/>
          </a:prstGeom>
          <a:noFill/>
          <a:ln/>
        </p:spPr>
        <p:txBody>
          <a:bodyPr wrap="square" lIns="0" tIns="0" rIns="0" bIns="0" rtlCol="0" anchor="t"/>
          <a:lstStyle/>
          <a:p>
            <a:pPr algn="l" indent="0" marL="0">
              <a:buNone/>
            </a:pPr>
            <a:r>
              <a:rPr lang="en-US" sz="1300" b="1" dirty="0">
                <a:solidFill>
                  <a:srgbClr val="8A6A12"/>
                </a:solidFill>
                <a:latin typeface="Aptos" pitchFamily="34" charset="0"/>
                <a:ea typeface="Aptos" pitchFamily="34" charset="-122"/>
                <a:cs typeface="Aptos" pitchFamily="34" charset="-120"/>
              </a:rPr>
              <a:t>Impacto</a:t>
            </a:r>
            <a:endParaRPr lang="en-US" sz="1300" dirty="0"/>
          </a:p>
        </p:txBody>
      </p:sp>
      <p:sp>
        <p:nvSpPr>
          <p:cNvPr id="32" name="Text 29"/>
          <p:cNvSpPr txBox="1"/>
          <p:nvPr/>
        </p:nvSpPr>
        <p:spPr>
          <a:xfrm>
            <a:off x="4517136" y="5266944"/>
            <a:ext cx="2944368" cy="219456"/>
          </a:xfrm>
          <a:prstGeom prst="rect">
            <a:avLst/>
          </a:prstGeom>
          <a:noFill/>
          <a:ln/>
        </p:spPr>
        <p:txBody>
          <a:bodyPr wrap="square" lIns="0" tIns="0" rIns="0" bIns="0" rtlCol="0" anchor="t"/>
          <a:lstStyle/>
          <a:p>
            <a:pPr algn="l" indent="0" marL="0">
              <a:buNone/>
            </a:pPr>
            <a:r>
              <a:rPr lang="en-US" sz="1020" dirty="0">
                <a:solidFill>
                  <a:srgbClr val="52606D"/>
                </a:solidFill>
                <a:latin typeface="Aptos" pitchFamily="34" charset="0"/>
                <a:ea typeface="Aptos" pitchFamily="34" charset="-122"/>
                <a:cs typeface="Aptos" pitchFamily="34" charset="-120"/>
              </a:rPr>
              <a:t>Qué tan grave sería si ocurre.</a:t>
            </a:r>
            <a:endParaRPr lang="en-US" sz="1020" dirty="0"/>
          </a:p>
        </p:txBody>
      </p:sp>
      <p:sp>
        <p:nvSpPr>
          <p:cNvPr id="33" name="Shape 30"/>
          <p:cNvSpPr/>
          <p:nvPr/>
        </p:nvSpPr>
        <p:spPr>
          <a:xfrm>
            <a:off x="7936992" y="4919472"/>
            <a:ext cx="3593592" cy="640080"/>
          </a:xfrm>
          <a:prstGeom prst="rect">
            <a:avLst/>
          </a:prstGeom>
          <a:solidFill>
            <a:srgbClr val="F2E7D9"/>
          </a:solidFill>
          <a:ln w="12700">
            <a:solidFill>
              <a:srgbClr val="F2E7D9"/>
            </a:solidFill>
            <a:prstDash val="solid"/>
          </a:ln>
        </p:spPr>
      </p:sp>
      <p:sp>
        <p:nvSpPr>
          <p:cNvPr id="34" name="Shape 31"/>
          <p:cNvSpPr/>
          <p:nvPr/>
        </p:nvSpPr>
        <p:spPr>
          <a:xfrm>
            <a:off x="7936992" y="4919472"/>
            <a:ext cx="54864" cy="640080"/>
          </a:xfrm>
          <a:prstGeom prst="rect">
            <a:avLst/>
          </a:prstGeom>
          <a:solidFill>
            <a:srgbClr val="B3181E"/>
          </a:solidFill>
          <a:ln w="12700">
            <a:solidFill>
              <a:srgbClr val="B3181E"/>
            </a:solidFill>
            <a:prstDash val="solid"/>
          </a:ln>
        </p:spPr>
      </p:sp>
      <p:sp>
        <p:nvSpPr>
          <p:cNvPr id="35" name="Text 32"/>
          <p:cNvSpPr txBox="1"/>
          <p:nvPr/>
        </p:nvSpPr>
        <p:spPr>
          <a:xfrm>
            <a:off x="8156448" y="5010912"/>
            <a:ext cx="3154680" cy="237744"/>
          </a:xfrm>
          <a:prstGeom prst="rect">
            <a:avLst/>
          </a:prstGeom>
          <a:noFill/>
          <a:ln/>
        </p:spPr>
        <p:txBody>
          <a:bodyPr wrap="square" lIns="0" tIns="0" rIns="0" bIns="0" rtlCol="0" anchor="t"/>
          <a:lstStyle/>
          <a:p>
            <a:pPr algn="l" indent="0" marL="0">
              <a:buNone/>
            </a:pPr>
            <a:r>
              <a:rPr lang="en-US" sz="1300" b="1" dirty="0">
                <a:solidFill>
                  <a:srgbClr val="B3181E"/>
                </a:solidFill>
                <a:latin typeface="Aptos" pitchFamily="34" charset="0"/>
                <a:ea typeface="Aptos" pitchFamily="34" charset="-122"/>
                <a:cs typeface="Aptos" pitchFamily="34" charset="-120"/>
              </a:rPr>
              <a:t>Nivel</a:t>
            </a:r>
            <a:endParaRPr lang="en-US" sz="1300" dirty="0"/>
          </a:p>
        </p:txBody>
      </p:sp>
      <p:sp>
        <p:nvSpPr>
          <p:cNvPr id="36" name="Text 33"/>
          <p:cNvSpPr txBox="1"/>
          <p:nvPr/>
        </p:nvSpPr>
        <p:spPr>
          <a:xfrm>
            <a:off x="8156448" y="5266944"/>
            <a:ext cx="3154680" cy="219456"/>
          </a:xfrm>
          <a:prstGeom prst="rect">
            <a:avLst/>
          </a:prstGeom>
          <a:noFill/>
          <a:ln/>
        </p:spPr>
        <p:txBody>
          <a:bodyPr wrap="square" lIns="0" tIns="0" rIns="0" bIns="0" rtlCol="0" anchor="t"/>
          <a:lstStyle/>
          <a:p>
            <a:pPr algn="l" indent="0" marL="0">
              <a:buNone/>
            </a:pPr>
            <a:r>
              <a:rPr lang="en-US" sz="1020" dirty="0">
                <a:solidFill>
                  <a:srgbClr val="52606D"/>
                </a:solidFill>
                <a:latin typeface="Aptos" pitchFamily="34" charset="0"/>
                <a:ea typeface="Aptos" pitchFamily="34" charset="-122"/>
                <a:cs typeface="Aptos" pitchFamily="34" charset="-120"/>
              </a:rPr>
              <a:t>La combinación de los dos.</a:t>
            </a:r>
            <a:endParaRPr lang="en-US" sz="1020" dirty="0"/>
          </a:p>
        </p:txBody>
      </p:sp>
      <p:sp>
        <p:nvSpPr>
          <p:cNvPr id="37" name="Shape 34"/>
          <p:cNvSpPr/>
          <p:nvPr/>
        </p:nvSpPr>
        <p:spPr>
          <a:xfrm>
            <a:off x="658368" y="5669280"/>
            <a:ext cx="10874959" cy="457200"/>
          </a:xfrm>
          <a:prstGeom prst="rect">
            <a:avLst/>
          </a:prstGeom>
          <a:solidFill>
            <a:srgbClr val="102A43"/>
          </a:solidFill>
          <a:ln w="12700">
            <a:solidFill>
              <a:srgbClr val="102A43"/>
            </a:solidFill>
            <a:prstDash val="solid"/>
          </a:ln>
        </p:spPr>
      </p:sp>
      <p:sp>
        <p:nvSpPr>
          <p:cNvPr id="38" name="Text 35"/>
          <p:cNvSpPr txBox="1"/>
          <p:nvPr/>
        </p:nvSpPr>
        <p:spPr>
          <a:xfrm>
            <a:off x="950976" y="5705856"/>
            <a:ext cx="10289743" cy="38404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Si su probabilidad llega a uno, dejó de ser un riesgo.</a:t>
            </a:r>
            <a:endParaRPr lang="en-US" sz="138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20</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2 · DOS FAMILIAS</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Solo una de las dos se mitiga probando</a:t>
            </a:r>
            <a:endParaRPr lang="en-US" sz="3000" dirty="0"/>
          </a:p>
        </p:txBody>
      </p:sp>
      <p:sp>
        <p:nvSpPr>
          <p:cNvPr id="10" name="Text 7"/>
          <p:cNvSpPr txBox="1"/>
          <p:nvPr/>
        </p:nvSpPr>
        <p:spPr>
          <a:xfrm>
            <a:off x="658368" y="1664208"/>
            <a:ext cx="10424160" cy="347472"/>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El registro del bloque anterior venía partido en dos tablas, y esa partición decide qué tabla se mira al repartir el esfuerzo.</a:t>
            </a:r>
            <a:endParaRPr lang="en-US" sz="1420" dirty="0"/>
          </a:p>
        </p:txBody>
      </p:sp>
      <p:sp>
        <p:nvSpPr>
          <p:cNvPr id="11" name="Shape 8"/>
          <p:cNvSpPr/>
          <p:nvPr/>
        </p:nvSpPr>
        <p:spPr>
          <a:xfrm>
            <a:off x="658368" y="2249424"/>
            <a:ext cx="6309360" cy="2743200"/>
          </a:xfrm>
          <a:prstGeom prst="rect">
            <a:avLst/>
          </a:prstGeom>
          <a:solidFill>
            <a:srgbClr val="F2E7D9"/>
          </a:solidFill>
          <a:ln w="12700">
            <a:solidFill>
              <a:srgbClr val="F2E7D9"/>
            </a:solidFill>
            <a:prstDash val="solid"/>
          </a:ln>
        </p:spPr>
      </p:sp>
      <p:sp>
        <p:nvSpPr>
          <p:cNvPr id="12" name="Shape 9"/>
          <p:cNvSpPr/>
          <p:nvPr/>
        </p:nvSpPr>
        <p:spPr>
          <a:xfrm>
            <a:off x="658368" y="2249424"/>
            <a:ext cx="6309360" cy="54864"/>
          </a:xfrm>
          <a:prstGeom prst="rect">
            <a:avLst/>
          </a:prstGeom>
          <a:solidFill>
            <a:srgbClr val="B3181E"/>
          </a:solidFill>
          <a:ln w="12700">
            <a:solidFill>
              <a:srgbClr val="B3181E"/>
            </a:solidFill>
            <a:prstDash val="solid"/>
          </a:ln>
        </p:spPr>
      </p:sp>
      <p:sp>
        <p:nvSpPr>
          <p:cNvPr id="13" name="Text 10"/>
          <p:cNvSpPr txBox="1"/>
          <p:nvPr/>
        </p:nvSpPr>
        <p:spPr>
          <a:xfrm>
            <a:off x="914400" y="2432304"/>
            <a:ext cx="5797296" cy="310896"/>
          </a:xfrm>
          <a:prstGeom prst="rect">
            <a:avLst/>
          </a:prstGeom>
          <a:noFill/>
          <a:ln/>
        </p:spPr>
        <p:txBody>
          <a:bodyPr wrap="square" lIns="0" tIns="0" rIns="0" bIns="0" rtlCol="0" anchor="t"/>
          <a:lstStyle/>
          <a:p>
            <a:pPr algn="l" indent="0" marL="0">
              <a:buNone/>
            </a:pPr>
            <a:r>
              <a:rPr lang="en-US" sz="1800" b="1" dirty="0">
                <a:solidFill>
                  <a:srgbClr val="B3181E"/>
                </a:solidFill>
                <a:latin typeface="Aptos" pitchFamily="34" charset="0"/>
                <a:ea typeface="Aptos" pitchFamily="34" charset="-122"/>
                <a:cs typeface="Aptos" pitchFamily="34" charset="-120"/>
              </a:rPr>
              <a:t>Riesgo de producto</a:t>
            </a:r>
            <a:endParaRPr lang="en-US" sz="1800" dirty="0"/>
          </a:p>
        </p:txBody>
      </p:sp>
      <p:sp>
        <p:nvSpPr>
          <p:cNvPr id="14" name="Text 11"/>
          <p:cNvSpPr txBox="1"/>
          <p:nvPr/>
        </p:nvSpPr>
        <p:spPr>
          <a:xfrm>
            <a:off x="914400" y="2779776"/>
            <a:ext cx="5797296" cy="237744"/>
          </a:xfrm>
          <a:prstGeom prst="rect">
            <a:avLst/>
          </a:prstGeom>
          <a:noFill/>
          <a:ln/>
        </p:spPr>
        <p:txBody>
          <a:bodyPr wrap="square" lIns="0" tIns="0" rIns="0" bIns="0" rtlCol="0" anchor="t"/>
          <a:lstStyle/>
          <a:p>
            <a:pPr algn="l" indent="0" marL="0">
              <a:buNone/>
            </a:pPr>
            <a:r>
              <a:rPr lang="en-US" sz="1120" dirty="0">
                <a:solidFill>
                  <a:srgbClr val="52606D"/>
                </a:solidFill>
                <a:latin typeface="Aptos" pitchFamily="34" charset="0"/>
                <a:ea typeface="Aptos" pitchFamily="34" charset="-122"/>
                <a:cs typeface="Aptos" pitchFamily="34" charset="-120"/>
              </a:rPr>
              <a:t>Las características de calidad de lo que se construye.</a:t>
            </a:r>
            <a:endParaRPr lang="en-US" sz="1120" dirty="0"/>
          </a:p>
        </p:txBody>
      </p:sp>
      <p:sp>
        <p:nvSpPr>
          <p:cNvPr id="15" name="Shape 12"/>
          <p:cNvSpPr/>
          <p:nvPr/>
        </p:nvSpPr>
        <p:spPr>
          <a:xfrm>
            <a:off x="914400" y="3227832"/>
            <a:ext cx="109728" cy="109728"/>
          </a:xfrm>
          <a:prstGeom prst="rect">
            <a:avLst/>
          </a:prstGeom>
          <a:solidFill>
            <a:srgbClr val="B3181E"/>
          </a:solidFill>
          <a:ln w="12700">
            <a:solidFill>
              <a:srgbClr val="B3181E"/>
            </a:solidFill>
            <a:prstDash val="solid"/>
          </a:ln>
        </p:spPr>
      </p:sp>
      <p:sp>
        <p:nvSpPr>
          <p:cNvPr id="16" name="Text 13"/>
          <p:cNvSpPr txBox="1"/>
          <p:nvPr/>
        </p:nvSpPr>
        <p:spPr>
          <a:xfrm>
            <a:off x="1152144" y="3163824"/>
            <a:ext cx="5559552" cy="256032"/>
          </a:xfrm>
          <a:prstGeom prst="rect">
            <a:avLst/>
          </a:prstGeom>
          <a:noFill/>
          <a:ln/>
        </p:spPr>
        <p:txBody>
          <a:bodyPr wrap="square" lIns="0" tIns="0" rIns="0" bIns="0" rtlCol="0" anchor="t"/>
          <a:lstStyle/>
          <a:p>
            <a:pPr algn="l" indent="0" marL="0">
              <a:buNone/>
            </a:pPr>
            <a:r>
              <a:rPr lang="en-US" sz="1160" dirty="0">
                <a:solidFill>
                  <a:srgbClr val="243B53"/>
                </a:solidFill>
                <a:latin typeface="Aptos" pitchFamily="34" charset="0"/>
                <a:ea typeface="Aptos" pitchFamily="34" charset="-122"/>
                <a:cs typeface="Aptos" pitchFamily="34" charset="-120"/>
              </a:rPr>
              <a:t>El cupo semanal no distingue semanas</a:t>
            </a:r>
            <a:endParaRPr lang="en-US" sz="1160" dirty="0"/>
          </a:p>
        </p:txBody>
      </p:sp>
      <p:sp>
        <p:nvSpPr>
          <p:cNvPr id="17" name="Shape 14"/>
          <p:cNvSpPr/>
          <p:nvPr/>
        </p:nvSpPr>
        <p:spPr>
          <a:xfrm>
            <a:off x="914400" y="3593592"/>
            <a:ext cx="109728" cy="109728"/>
          </a:xfrm>
          <a:prstGeom prst="rect">
            <a:avLst/>
          </a:prstGeom>
          <a:solidFill>
            <a:srgbClr val="B3181E"/>
          </a:solidFill>
          <a:ln w="12700">
            <a:solidFill>
              <a:srgbClr val="B3181E"/>
            </a:solidFill>
            <a:prstDash val="solid"/>
          </a:ln>
        </p:spPr>
      </p:sp>
      <p:sp>
        <p:nvSpPr>
          <p:cNvPr id="18" name="Text 15"/>
          <p:cNvSpPr txBox="1"/>
          <p:nvPr/>
        </p:nvSpPr>
        <p:spPr>
          <a:xfrm>
            <a:off x="1152144" y="3529584"/>
            <a:ext cx="5559552" cy="256032"/>
          </a:xfrm>
          <a:prstGeom prst="rect">
            <a:avLst/>
          </a:prstGeom>
          <a:noFill/>
          <a:ln/>
        </p:spPr>
        <p:txBody>
          <a:bodyPr wrap="square" lIns="0" tIns="0" rIns="0" bIns="0" rtlCol="0" anchor="t"/>
          <a:lstStyle/>
          <a:p>
            <a:pPr algn="l" indent="0" marL="0">
              <a:buNone/>
            </a:pPr>
            <a:r>
              <a:rPr lang="en-US" sz="1160" dirty="0">
                <a:solidFill>
                  <a:srgbClr val="243B53"/>
                </a:solidFill>
                <a:latin typeface="Aptos" pitchFamily="34" charset="0"/>
                <a:ea typeface="Aptos" pitchFamily="34" charset="-122"/>
                <a:cs typeface="Aptos" pitchFamily="34" charset="-120"/>
              </a:rPr>
              <a:t>No se valida el formato del RUT</a:t>
            </a:r>
            <a:endParaRPr lang="en-US" sz="1160" dirty="0"/>
          </a:p>
        </p:txBody>
      </p:sp>
      <p:sp>
        <p:nvSpPr>
          <p:cNvPr id="19" name="Shape 16"/>
          <p:cNvSpPr/>
          <p:nvPr/>
        </p:nvSpPr>
        <p:spPr>
          <a:xfrm>
            <a:off x="914400" y="3959352"/>
            <a:ext cx="109728" cy="109728"/>
          </a:xfrm>
          <a:prstGeom prst="rect">
            <a:avLst/>
          </a:prstGeom>
          <a:solidFill>
            <a:srgbClr val="B3181E"/>
          </a:solidFill>
          <a:ln w="12700">
            <a:solidFill>
              <a:srgbClr val="B3181E"/>
            </a:solidFill>
            <a:prstDash val="solid"/>
          </a:ln>
        </p:spPr>
      </p:sp>
      <p:sp>
        <p:nvSpPr>
          <p:cNvPr id="20" name="Text 17"/>
          <p:cNvSpPr txBox="1"/>
          <p:nvPr/>
        </p:nvSpPr>
        <p:spPr>
          <a:xfrm>
            <a:off x="1152144" y="3895344"/>
            <a:ext cx="5559552" cy="256032"/>
          </a:xfrm>
          <a:prstGeom prst="rect">
            <a:avLst/>
          </a:prstGeom>
          <a:noFill/>
          <a:ln/>
        </p:spPr>
        <p:txBody>
          <a:bodyPr wrap="square" lIns="0" tIns="0" rIns="0" bIns="0" rtlCol="0" anchor="t"/>
          <a:lstStyle/>
          <a:p>
            <a:pPr algn="l" indent="0" marL="0">
              <a:buNone/>
            </a:pPr>
            <a:r>
              <a:rPr lang="en-US" sz="1160" dirty="0">
                <a:solidFill>
                  <a:srgbClr val="243B53"/>
                </a:solidFill>
                <a:latin typeface="Aptos" pitchFamily="34" charset="0"/>
                <a:ea typeface="Aptos" pitchFamily="34" charset="-122"/>
                <a:cs typeface="Aptos" pitchFamily="34" charset="-120"/>
              </a:rPr>
              <a:t>Dos reservas simultáneas al mismo bloque</a:t>
            </a:r>
            <a:endParaRPr lang="en-US" sz="1160" dirty="0"/>
          </a:p>
        </p:txBody>
      </p:sp>
      <p:sp>
        <p:nvSpPr>
          <p:cNvPr id="21" name="Shape 18"/>
          <p:cNvSpPr/>
          <p:nvPr/>
        </p:nvSpPr>
        <p:spPr>
          <a:xfrm>
            <a:off x="914400" y="4370832"/>
            <a:ext cx="5797296" cy="402336"/>
          </a:xfrm>
          <a:prstGeom prst="rect">
            <a:avLst/>
          </a:prstGeom>
          <a:solidFill>
            <a:srgbClr val="B3181E"/>
          </a:solidFill>
          <a:ln w="12700">
            <a:solidFill>
              <a:srgbClr val="B3181E"/>
            </a:solidFill>
            <a:prstDash val="solid"/>
          </a:ln>
        </p:spPr>
      </p:sp>
      <p:sp>
        <p:nvSpPr>
          <p:cNvPr id="22" name="Text 19"/>
          <p:cNvSpPr txBox="1"/>
          <p:nvPr/>
        </p:nvSpPr>
        <p:spPr>
          <a:xfrm>
            <a:off x="969264" y="4407408"/>
            <a:ext cx="5687568" cy="329184"/>
          </a:xfrm>
          <a:prstGeom prst="rect">
            <a:avLst/>
          </a:prstGeom>
          <a:noFill/>
          <a:ln/>
        </p:spPr>
        <p:txBody>
          <a:bodyPr wrap="square" lIns="0" tIns="0" rIns="0" bIns="0" rtlCol="0" anchor="ctr"/>
          <a:lstStyle/>
          <a:p>
            <a:pPr algn="ctr" indent="0" marL="0">
              <a:buNone/>
            </a:pPr>
            <a:r>
              <a:rPr lang="en-US" sz="1140" b="1" spc="90" kern="0" dirty="0">
                <a:solidFill>
                  <a:srgbClr val="FFFFFF"/>
                </a:solidFill>
                <a:latin typeface="Aptos" pitchFamily="34" charset="0"/>
                <a:ea typeface="Aptos" pitchFamily="34" charset="-122"/>
                <a:cs typeface="Aptos" pitchFamily="34" charset="-120"/>
              </a:rPr>
              <a:t>SE MITIGA PROBANDO</a:t>
            </a:r>
            <a:endParaRPr lang="en-US" sz="1140" dirty="0"/>
          </a:p>
        </p:txBody>
      </p:sp>
      <p:sp>
        <p:nvSpPr>
          <p:cNvPr id="23" name="Shape 20"/>
          <p:cNvSpPr/>
          <p:nvPr/>
        </p:nvSpPr>
        <p:spPr>
          <a:xfrm>
            <a:off x="7150608" y="2249424"/>
            <a:ext cx="4382719" cy="2743200"/>
          </a:xfrm>
          <a:prstGeom prst="rect">
            <a:avLst/>
          </a:prstGeom>
          <a:solidFill>
            <a:srgbClr val="FFFFFF"/>
          </a:solidFill>
          <a:ln w="12700">
            <a:solidFill>
              <a:srgbClr val="FFFFFF"/>
            </a:solidFill>
            <a:prstDash val="solid"/>
          </a:ln>
        </p:spPr>
      </p:sp>
      <p:sp>
        <p:nvSpPr>
          <p:cNvPr id="24" name="Shape 21"/>
          <p:cNvSpPr/>
          <p:nvPr/>
        </p:nvSpPr>
        <p:spPr>
          <a:xfrm>
            <a:off x="7150608" y="2249424"/>
            <a:ext cx="4382719" cy="54864"/>
          </a:xfrm>
          <a:prstGeom prst="rect">
            <a:avLst/>
          </a:prstGeom>
          <a:solidFill>
            <a:srgbClr val="52606D"/>
          </a:solidFill>
          <a:ln w="12700">
            <a:solidFill>
              <a:srgbClr val="52606D"/>
            </a:solidFill>
            <a:prstDash val="solid"/>
          </a:ln>
        </p:spPr>
      </p:sp>
      <p:sp>
        <p:nvSpPr>
          <p:cNvPr id="25" name="Text 22"/>
          <p:cNvSpPr txBox="1"/>
          <p:nvPr/>
        </p:nvSpPr>
        <p:spPr>
          <a:xfrm>
            <a:off x="7406640" y="2432304"/>
            <a:ext cx="3870655" cy="310896"/>
          </a:xfrm>
          <a:prstGeom prst="rect">
            <a:avLst/>
          </a:prstGeom>
          <a:noFill/>
          <a:ln/>
        </p:spPr>
        <p:txBody>
          <a:bodyPr wrap="square" lIns="0" tIns="0" rIns="0" bIns="0" rtlCol="0" anchor="t"/>
          <a:lstStyle/>
          <a:p>
            <a:pPr algn="l" indent="0" marL="0">
              <a:buNone/>
            </a:pPr>
            <a:r>
              <a:rPr lang="en-US" sz="1800" b="1" dirty="0">
                <a:solidFill>
                  <a:srgbClr val="52606D"/>
                </a:solidFill>
                <a:latin typeface="Aptos" pitchFamily="34" charset="0"/>
                <a:ea typeface="Aptos" pitchFamily="34" charset="-122"/>
                <a:cs typeface="Aptos" pitchFamily="34" charset="-120"/>
              </a:rPr>
              <a:t>Riesgo de proyecto</a:t>
            </a:r>
            <a:endParaRPr lang="en-US" sz="1800" dirty="0"/>
          </a:p>
        </p:txBody>
      </p:sp>
      <p:sp>
        <p:nvSpPr>
          <p:cNvPr id="26" name="Text 23"/>
          <p:cNvSpPr txBox="1"/>
          <p:nvPr/>
        </p:nvSpPr>
        <p:spPr>
          <a:xfrm>
            <a:off x="7406640" y="2779776"/>
            <a:ext cx="3870655" cy="237744"/>
          </a:xfrm>
          <a:prstGeom prst="rect">
            <a:avLst/>
          </a:prstGeom>
          <a:noFill/>
          <a:ln/>
        </p:spPr>
        <p:txBody>
          <a:bodyPr wrap="square" lIns="0" tIns="0" rIns="0" bIns="0" rtlCol="0" anchor="t"/>
          <a:lstStyle/>
          <a:p>
            <a:pPr algn="l" indent="0" marL="0">
              <a:buNone/>
            </a:pPr>
            <a:r>
              <a:rPr lang="en-US" sz="1120" dirty="0">
                <a:solidFill>
                  <a:srgbClr val="52606D"/>
                </a:solidFill>
                <a:latin typeface="Aptos" pitchFamily="34" charset="0"/>
                <a:ea typeface="Aptos" pitchFamily="34" charset="-122"/>
                <a:cs typeface="Aptos" pitchFamily="34" charset="-120"/>
              </a:rPr>
              <a:t>La gestión y el control del trabajo.</a:t>
            </a:r>
            <a:endParaRPr lang="en-US" sz="1120" dirty="0"/>
          </a:p>
        </p:txBody>
      </p:sp>
      <p:sp>
        <p:nvSpPr>
          <p:cNvPr id="27" name="Shape 24"/>
          <p:cNvSpPr/>
          <p:nvPr/>
        </p:nvSpPr>
        <p:spPr>
          <a:xfrm>
            <a:off x="7406640" y="3227832"/>
            <a:ext cx="109728" cy="109728"/>
          </a:xfrm>
          <a:prstGeom prst="rect">
            <a:avLst/>
          </a:prstGeom>
          <a:solidFill>
            <a:srgbClr val="52606D"/>
          </a:solidFill>
          <a:ln w="12700">
            <a:solidFill>
              <a:srgbClr val="52606D"/>
            </a:solidFill>
            <a:prstDash val="solid"/>
          </a:ln>
        </p:spPr>
      </p:sp>
      <p:sp>
        <p:nvSpPr>
          <p:cNvPr id="28" name="Text 25"/>
          <p:cNvSpPr txBox="1"/>
          <p:nvPr/>
        </p:nvSpPr>
        <p:spPr>
          <a:xfrm>
            <a:off x="7644384" y="3163824"/>
            <a:ext cx="3632911" cy="256032"/>
          </a:xfrm>
          <a:prstGeom prst="rect">
            <a:avLst/>
          </a:prstGeom>
          <a:noFill/>
          <a:ln/>
        </p:spPr>
        <p:txBody>
          <a:bodyPr wrap="square" lIns="0" tIns="0" rIns="0" bIns="0" rtlCol="0" anchor="t"/>
          <a:lstStyle/>
          <a:p>
            <a:pPr algn="l" indent="0" marL="0">
              <a:buNone/>
            </a:pPr>
            <a:r>
              <a:rPr lang="en-US" sz="1160" dirty="0">
                <a:solidFill>
                  <a:srgbClr val="243B53"/>
                </a:solidFill>
                <a:latin typeface="Aptos" pitchFamily="34" charset="0"/>
                <a:ea typeface="Aptos" pitchFamily="34" charset="-122"/>
                <a:cs typeface="Aptos" pitchFamily="34" charset="-120"/>
              </a:rPr>
              <a:t>El entorno no se reproduce limpio</a:t>
            </a:r>
            <a:endParaRPr lang="en-US" sz="1160" dirty="0"/>
          </a:p>
        </p:txBody>
      </p:sp>
      <p:sp>
        <p:nvSpPr>
          <p:cNvPr id="29" name="Shape 26"/>
          <p:cNvSpPr/>
          <p:nvPr/>
        </p:nvSpPr>
        <p:spPr>
          <a:xfrm>
            <a:off x="7406640" y="3593592"/>
            <a:ext cx="109728" cy="109728"/>
          </a:xfrm>
          <a:prstGeom prst="rect">
            <a:avLst/>
          </a:prstGeom>
          <a:solidFill>
            <a:srgbClr val="52606D"/>
          </a:solidFill>
          <a:ln w="12700">
            <a:solidFill>
              <a:srgbClr val="52606D"/>
            </a:solidFill>
            <a:prstDash val="solid"/>
          </a:ln>
        </p:spPr>
      </p:sp>
      <p:sp>
        <p:nvSpPr>
          <p:cNvPr id="30" name="Text 27"/>
          <p:cNvSpPr txBox="1"/>
          <p:nvPr/>
        </p:nvSpPr>
        <p:spPr>
          <a:xfrm>
            <a:off x="7644384" y="3529584"/>
            <a:ext cx="3632911" cy="256032"/>
          </a:xfrm>
          <a:prstGeom prst="rect">
            <a:avLst/>
          </a:prstGeom>
          <a:noFill/>
          <a:ln/>
        </p:spPr>
        <p:txBody>
          <a:bodyPr wrap="square" lIns="0" tIns="0" rIns="0" bIns="0" rtlCol="0" anchor="t"/>
          <a:lstStyle/>
          <a:p>
            <a:pPr algn="l" indent="0" marL="0">
              <a:buNone/>
            </a:pPr>
            <a:r>
              <a:rPr lang="en-US" sz="1160" dirty="0">
                <a:solidFill>
                  <a:srgbClr val="243B53"/>
                </a:solidFill>
                <a:latin typeface="Aptos" pitchFamily="34" charset="0"/>
                <a:ea typeface="Aptos" pitchFamily="34" charset="-122"/>
                <a:cs typeface="Aptos" pitchFamily="34" charset="-120"/>
              </a:rPr>
              <a:t>El calendario deja sin tiempo</a:t>
            </a:r>
            <a:endParaRPr lang="en-US" sz="1160" dirty="0"/>
          </a:p>
        </p:txBody>
      </p:sp>
      <p:sp>
        <p:nvSpPr>
          <p:cNvPr id="31" name="Shape 28"/>
          <p:cNvSpPr/>
          <p:nvPr/>
        </p:nvSpPr>
        <p:spPr>
          <a:xfrm>
            <a:off x="7406640" y="3959352"/>
            <a:ext cx="109728" cy="109728"/>
          </a:xfrm>
          <a:prstGeom prst="rect">
            <a:avLst/>
          </a:prstGeom>
          <a:solidFill>
            <a:srgbClr val="52606D"/>
          </a:solidFill>
          <a:ln w="12700">
            <a:solidFill>
              <a:srgbClr val="52606D"/>
            </a:solidFill>
            <a:prstDash val="solid"/>
          </a:ln>
        </p:spPr>
      </p:sp>
      <p:sp>
        <p:nvSpPr>
          <p:cNvPr id="32" name="Text 29"/>
          <p:cNvSpPr txBox="1"/>
          <p:nvPr/>
        </p:nvSpPr>
        <p:spPr>
          <a:xfrm>
            <a:off x="7644384" y="3895344"/>
            <a:ext cx="3632911" cy="256032"/>
          </a:xfrm>
          <a:prstGeom prst="rect">
            <a:avLst/>
          </a:prstGeom>
          <a:noFill/>
          <a:ln/>
        </p:spPr>
        <p:txBody>
          <a:bodyPr wrap="square" lIns="0" tIns="0" rIns="0" bIns="0" rtlCol="0" anchor="t"/>
          <a:lstStyle/>
          <a:p>
            <a:pPr algn="l" indent="0" marL="0">
              <a:buNone/>
            </a:pPr>
            <a:r>
              <a:rPr lang="en-US" sz="1160" dirty="0">
                <a:solidFill>
                  <a:srgbClr val="243B53"/>
                </a:solidFill>
                <a:latin typeface="Aptos" pitchFamily="34" charset="0"/>
                <a:ea typeface="Aptos" pitchFamily="34" charset="-122"/>
                <a:cs typeface="Aptos" pitchFamily="34" charset="-120"/>
              </a:rPr>
              <a:t>Falta gente o falta experiencia</a:t>
            </a:r>
            <a:endParaRPr lang="en-US" sz="1160" dirty="0"/>
          </a:p>
        </p:txBody>
      </p:sp>
      <p:sp>
        <p:nvSpPr>
          <p:cNvPr id="33" name="Shape 30"/>
          <p:cNvSpPr/>
          <p:nvPr/>
        </p:nvSpPr>
        <p:spPr>
          <a:xfrm>
            <a:off x="7406640" y="4370832"/>
            <a:ext cx="3870655" cy="402336"/>
          </a:xfrm>
          <a:prstGeom prst="rect">
            <a:avLst/>
          </a:prstGeom>
          <a:solidFill>
            <a:srgbClr val="52606D"/>
          </a:solidFill>
          <a:ln w="12700">
            <a:solidFill>
              <a:srgbClr val="52606D"/>
            </a:solidFill>
            <a:prstDash val="solid"/>
          </a:ln>
        </p:spPr>
      </p:sp>
      <p:sp>
        <p:nvSpPr>
          <p:cNvPr id="34" name="Text 31"/>
          <p:cNvSpPr txBox="1"/>
          <p:nvPr/>
        </p:nvSpPr>
        <p:spPr>
          <a:xfrm>
            <a:off x="7461504" y="4407408"/>
            <a:ext cx="3760927" cy="329184"/>
          </a:xfrm>
          <a:prstGeom prst="rect">
            <a:avLst/>
          </a:prstGeom>
          <a:noFill/>
          <a:ln/>
        </p:spPr>
        <p:txBody>
          <a:bodyPr wrap="square" lIns="0" tIns="0" rIns="0" bIns="0" rtlCol="0" anchor="ctr"/>
          <a:lstStyle/>
          <a:p>
            <a:pPr algn="ctr" indent="0" marL="0">
              <a:buNone/>
            </a:pPr>
            <a:r>
              <a:rPr lang="en-US" sz="1140" b="1" spc="90" kern="0" dirty="0">
                <a:solidFill>
                  <a:srgbClr val="FFFFFF"/>
                </a:solidFill>
                <a:latin typeface="Aptos" pitchFamily="34" charset="0"/>
                <a:ea typeface="Aptos" pitchFamily="34" charset="-122"/>
                <a:cs typeface="Aptos" pitchFamily="34" charset="-120"/>
              </a:rPr>
              <a:t>SE RESUELVE GESTIONANDO</a:t>
            </a:r>
            <a:endParaRPr lang="en-US" sz="1140" dirty="0"/>
          </a:p>
        </p:txBody>
      </p:sp>
      <p:sp>
        <p:nvSpPr>
          <p:cNvPr id="35" name="Text 32"/>
          <p:cNvSpPr txBox="1"/>
          <p:nvPr/>
        </p:nvSpPr>
        <p:spPr>
          <a:xfrm>
            <a:off x="658368" y="5120640"/>
            <a:ext cx="7315200" cy="201168"/>
          </a:xfrm>
          <a:prstGeom prst="rect">
            <a:avLst/>
          </a:prstGeom>
          <a:noFill/>
          <a:ln/>
        </p:spPr>
        <p:txBody>
          <a:bodyPr wrap="square" lIns="0" tIns="0" rIns="0" bIns="0" rtlCol="0" anchor="t"/>
          <a:lstStyle/>
          <a:p>
            <a:pPr algn="l" indent="0" marL="0">
              <a:buNone/>
            </a:pPr>
            <a:r>
              <a:rPr lang="en-US" sz="960" b="1" spc="130" kern="0" dirty="0">
                <a:solidFill>
                  <a:srgbClr val="D62027"/>
                </a:solidFill>
                <a:latin typeface="Aptos" pitchFamily="34" charset="0"/>
                <a:ea typeface="Aptos" pitchFamily="34" charset="-122"/>
                <a:cs typeface="Aptos" pitchFamily="34" charset="-120"/>
              </a:rPr>
              <a:t>CONSECUENCIAS QUE LA FUENTE ENUMERA PARA UN RIESGO DE PRODUCTO</a:t>
            </a:r>
            <a:endParaRPr lang="en-US" sz="960" dirty="0"/>
          </a:p>
        </p:txBody>
      </p:sp>
      <p:sp>
        <p:nvSpPr>
          <p:cNvPr id="36" name="Shape 33"/>
          <p:cNvSpPr/>
          <p:nvPr/>
        </p:nvSpPr>
        <p:spPr>
          <a:xfrm>
            <a:off x="658368" y="5358384"/>
            <a:ext cx="2101840" cy="292608"/>
          </a:xfrm>
          <a:prstGeom prst="rect">
            <a:avLst/>
          </a:prstGeom>
          <a:solidFill>
            <a:srgbClr val="EDE6DA"/>
          </a:solidFill>
          <a:ln w="12700">
            <a:solidFill>
              <a:srgbClr val="EDE6DA"/>
            </a:solidFill>
            <a:prstDash val="solid"/>
          </a:ln>
        </p:spPr>
      </p:sp>
      <p:sp>
        <p:nvSpPr>
          <p:cNvPr id="37" name="Text 34"/>
          <p:cNvSpPr txBox="1"/>
          <p:nvPr/>
        </p:nvSpPr>
        <p:spPr>
          <a:xfrm>
            <a:off x="713232" y="5385816"/>
            <a:ext cx="1992112" cy="237744"/>
          </a:xfrm>
          <a:prstGeom prst="rect">
            <a:avLst/>
          </a:prstGeom>
          <a:noFill/>
          <a:ln/>
        </p:spPr>
        <p:txBody>
          <a:bodyPr wrap="square" lIns="0" tIns="0" rIns="0" bIns="0" rtlCol="0" anchor="ctr"/>
          <a:lstStyle/>
          <a:p>
            <a:pPr algn="ctr" indent="0" marL="0">
              <a:buNone/>
            </a:pPr>
            <a:r>
              <a:rPr lang="en-US" sz="1060" dirty="0">
                <a:solidFill>
                  <a:srgbClr val="52606D"/>
                </a:solidFill>
                <a:latin typeface="Aptos" pitchFamily="34" charset="0"/>
                <a:ea typeface="Aptos" pitchFamily="34" charset="-122"/>
                <a:cs typeface="Aptos" pitchFamily="34" charset="-120"/>
              </a:rPr>
              <a:t>Insatisfacción</a:t>
            </a:r>
            <a:endParaRPr lang="en-US" sz="1060" dirty="0"/>
          </a:p>
        </p:txBody>
      </p:sp>
      <p:sp>
        <p:nvSpPr>
          <p:cNvPr id="38" name="Shape 35"/>
          <p:cNvSpPr/>
          <p:nvPr/>
        </p:nvSpPr>
        <p:spPr>
          <a:xfrm>
            <a:off x="2851648" y="5358384"/>
            <a:ext cx="2101840" cy="292608"/>
          </a:xfrm>
          <a:prstGeom prst="rect">
            <a:avLst/>
          </a:prstGeom>
          <a:solidFill>
            <a:srgbClr val="EDE6DA"/>
          </a:solidFill>
          <a:ln w="12700">
            <a:solidFill>
              <a:srgbClr val="EDE6DA"/>
            </a:solidFill>
            <a:prstDash val="solid"/>
          </a:ln>
        </p:spPr>
      </p:sp>
      <p:sp>
        <p:nvSpPr>
          <p:cNvPr id="39" name="Text 36"/>
          <p:cNvSpPr txBox="1"/>
          <p:nvPr/>
        </p:nvSpPr>
        <p:spPr>
          <a:xfrm>
            <a:off x="2906512" y="5385816"/>
            <a:ext cx="1992112" cy="237744"/>
          </a:xfrm>
          <a:prstGeom prst="rect">
            <a:avLst/>
          </a:prstGeom>
          <a:noFill/>
          <a:ln/>
        </p:spPr>
        <p:txBody>
          <a:bodyPr wrap="square" lIns="0" tIns="0" rIns="0" bIns="0" rtlCol="0" anchor="ctr"/>
          <a:lstStyle/>
          <a:p>
            <a:pPr algn="ctr" indent="0" marL="0">
              <a:buNone/>
            </a:pPr>
            <a:r>
              <a:rPr lang="en-US" sz="1060" dirty="0">
                <a:solidFill>
                  <a:srgbClr val="52606D"/>
                </a:solidFill>
                <a:latin typeface="Aptos" pitchFamily="34" charset="0"/>
                <a:ea typeface="Aptos" pitchFamily="34" charset="-122"/>
                <a:cs typeface="Aptos" pitchFamily="34" charset="-120"/>
              </a:rPr>
              <a:t>Pérdida de confianza</a:t>
            </a:r>
            <a:endParaRPr lang="en-US" sz="1060" dirty="0"/>
          </a:p>
        </p:txBody>
      </p:sp>
      <p:sp>
        <p:nvSpPr>
          <p:cNvPr id="40" name="Shape 37"/>
          <p:cNvSpPr/>
          <p:nvPr/>
        </p:nvSpPr>
        <p:spPr>
          <a:xfrm>
            <a:off x="5044928" y="5358384"/>
            <a:ext cx="2101840" cy="292608"/>
          </a:xfrm>
          <a:prstGeom prst="rect">
            <a:avLst/>
          </a:prstGeom>
          <a:solidFill>
            <a:srgbClr val="F2E7D9"/>
          </a:solidFill>
          <a:ln w="12700">
            <a:solidFill>
              <a:srgbClr val="F2E7D9"/>
            </a:solidFill>
            <a:prstDash val="solid"/>
          </a:ln>
        </p:spPr>
      </p:sp>
      <p:sp>
        <p:nvSpPr>
          <p:cNvPr id="41" name="Text 38"/>
          <p:cNvSpPr txBox="1"/>
          <p:nvPr/>
        </p:nvSpPr>
        <p:spPr>
          <a:xfrm>
            <a:off x="5099792" y="5385816"/>
            <a:ext cx="1992112" cy="237744"/>
          </a:xfrm>
          <a:prstGeom prst="rect">
            <a:avLst/>
          </a:prstGeom>
          <a:noFill/>
          <a:ln/>
        </p:spPr>
        <p:txBody>
          <a:bodyPr wrap="square" lIns="0" tIns="0" rIns="0" bIns="0" rtlCol="0" anchor="ctr"/>
          <a:lstStyle/>
          <a:p>
            <a:pPr algn="ctr" indent="0" marL="0">
              <a:buNone/>
            </a:pPr>
            <a:r>
              <a:rPr lang="en-US" sz="1060" b="1" dirty="0">
                <a:solidFill>
                  <a:srgbClr val="B3181E"/>
                </a:solidFill>
                <a:latin typeface="Aptos" pitchFamily="34" charset="0"/>
                <a:ea typeface="Aptos" pitchFamily="34" charset="-122"/>
                <a:cs typeface="Aptos" pitchFamily="34" charset="-120"/>
              </a:rPr>
              <a:t>Daño a terceros</a:t>
            </a:r>
            <a:endParaRPr lang="en-US" sz="1060" dirty="0"/>
          </a:p>
        </p:txBody>
      </p:sp>
      <p:sp>
        <p:nvSpPr>
          <p:cNvPr id="42" name="Shape 39"/>
          <p:cNvSpPr/>
          <p:nvPr/>
        </p:nvSpPr>
        <p:spPr>
          <a:xfrm>
            <a:off x="7238208" y="5358384"/>
            <a:ext cx="2101840" cy="292608"/>
          </a:xfrm>
          <a:prstGeom prst="rect">
            <a:avLst/>
          </a:prstGeom>
          <a:solidFill>
            <a:srgbClr val="F2E7D9"/>
          </a:solidFill>
          <a:ln w="12700">
            <a:solidFill>
              <a:srgbClr val="F2E7D9"/>
            </a:solidFill>
            <a:prstDash val="solid"/>
          </a:ln>
        </p:spPr>
      </p:sp>
      <p:sp>
        <p:nvSpPr>
          <p:cNvPr id="43" name="Text 40"/>
          <p:cNvSpPr txBox="1"/>
          <p:nvPr/>
        </p:nvSpPr>
        <p:spPr>
          <a:xfrm>
            <a:off x="7293072" y="5385816"/>
            <a:ext cx="1992112" cy="237744"/>
          </a:xfrm>
          <a:prstGeom prst="rect">
            <a:avLst/>
          </a:prstGeom>
          <a:noFill/>
          <a:ln/>
        </p:spPr>
        <p:txBody>
          <a:bodyPr wrap="square" lIns="0" tIns="0" rIns="0" bIns="0" rtlCol="0" anchor="ctr"/>
          <a:lstStyle/>
          <a:p>
            <a:pPr algn="ctr" indent="0" marL="0">
              <a:buNone/>
            </a:pPr>
            <a:r>
              <a:rPr lang="en-US" sz="1060" b="1" dirty="0">
                <a:solidFill>
                  <a:srgbClr val="B3181E"/>
                </a:solidFill>
                <a:latin typeface="Aptos" pitchFamily="34" charset="0"/>
                <a:ea typeface="Aptos" pitchFamily="34" charset="-122"/>
                <a:cs typeface="Aptos" pitchFamily="34" charset="-120"/>
              </a:rPr>
              <a:t>Sanciones</a:t>
            </a:r>
            <a:endParaRPr lang="en-US" sz="1060" dirty="0"/>
          </a:p>
        </p:txBody>
      </p:sp>
      <p:sp>
        <p:nvSpPr>
          <p:cNvPr id="44" name="Shape 41"/>
          <p:cNvSpPr/>
          <p:nvPr/>
        </p:nvSpPr>
        <p:spPr>
          <a:xfrm>
            <a:off x="9431487" y="5358384"/>
            <a:ext cx="2101840" cy="292608"/>
          </a:xfrm>
          <a:prstGeom prst="rect">
            <a:avLst/>
          </a:prstGeom>
          <a:solidFill>
            <a:srgbClr val="F2E7D9"/>
          </a:solidFill>
          <a:ln w="12700">
            <a:solidFill>
              <a:srgbClr val="F2E7D9"/>
            </a:solidFill>
            <a:prstDash val="solid"/>
          </a:ln>
        </p:spPr>
      </p:sp>
      <p:sp>
        <p:nvSpPr>
          <p:cNvPr id="45" name="Text 42"/>
          <p:cNvSpPr txBox="1"/>
          <p:nvPr/>
        </p:nvSpPr>
        <p:spPr>
          <a:xfrm>
            <a:off x="9486351" y="5385816"/>
            <a:ext cx="1992112" cy="237744"/>
          </a:xfrm>
          <a:prstGeom prst="rect">
            <a:avLst/>
          </a:prstGeom>
          <a:noFill/>
          <a:ln/>
        </p:spPr>
        <p:txBody>
          <a:bodyPr wrap="square" lIns="0" tIns="0" rIns="0" bIns="0" rtlCol="0" anchor="ctr"/>
          <a:lstStyle/>
          <a:p>
            <a:pPr algn="ctr" indent="0" marL="0">
              <a:buNone/>
            </a:pPr>
            <a:r>
              <a:rPr lang="en-US" sz="1060" b="1" dirty="0">
                <a:solidFill>
                  <a:srgbClr val="B3181E"/>
                </a:solidFill>
                <a:latin typeface="Aptos" pitchFamily="34" charset="0"/>
                <a:ea typeface="Aptos" pitchFamily="34" charset="-122"/>
                <a:cs typeface="Aptos" pitchFamily="34" charset="-120"/>
              </a:rPr>
              <a:t>Daño físico</a:t>
            </a:r>
            <a:endParaRPr lang="en-US" sz="1060" dirty="0"/>
          </a:p>
        </p:txBody>
      </p:sp>
      <p:sp>
        <p:nvSpPr>
          <p:cNvPr id="46" name="Shape 43"/>
          <p:cNvSpPr/>
          <p:nvPr/>
        </p:nvSpPr>
        <p:spPr>
          <a:xfrm>
            <a:off x="658368" y="5760720"/>
            <a:ext cx="10874959" cy="402336"/>
          </a:xfrm>
          <a:prstGeom prst="rect">
            <a:avLst/>
          </a:prstGeom>
          <a:solidFill>
            <a:srgbClr val="102A43"/>
          </a:solidFill>
          <a:ln w="12700">
            <a:solidFill>
              <a:srgbClr val="102A43"/>
            </a:solidFill>
            <a:prstDash val="solid"/>
          </a:ln>
        </p:spPr>
      </p:sp>
      <p:sp>
        <p:nvSpPr>
          <p:cNvPr id="47" name="Text 44"/>
          <p:cNvSpPr txBox="1"/>
          <p:nvPr/>
        </p:nvSpPr>
        <p:spPr>
          <a:xfrm>
            <a:off x="950976" y="5797296"/>
            <a:ext cx="10289743" cy="329184"/>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Las tres últimas son el terreno del bloque 4.</a:t>
            </a:r>
            <a:endParaRPr lang="en-US" sz="138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21</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2 · LO QUE CAMBIA AL EJECUTAR</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RP2 ya no es un riesgo</a:t>
            </a:r>
            <a:endParaRPr lang="en-US" sz="3000" dirty="0"/>
          </a:p>
        </p:txBody>
      </p:sp>
      <p:sp>
        <p:nvSpPr>
          <p:cNvPr id="10" name="Text 7"/>
          <p:cNvSpPr txBox="1"/>
          <p:nvPr/>
        </p:nvSpPr>
        <p:spPr>
          <a:xfrm>
            <a:off x="658368" y="1664208"/>
            <a:ext cx="10424160" cy="347472"/>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Su probabilidad llegó a uno en el bloque anterior, cuando la prueba se ejecutó y falló.</a:t>
            </a:r>
            <a:endParaRPr lang="en-US" sz="1420" dirty="0"/>
          </a:p>
        </p:txBody>
      </p:sp>
      <p:sp>
        <p:nvSpPr>
          <p:cNvPr id="11" name="Shape 8"/>
          <p:cNvSpPr/>
          <p:nvPr/>
        </p:nvSpPr>
        <p:spPr>
          <a:xfrm>
            <a:off x="658368" y="2286000"/>
            <a:ext cx="3566160" cy="786384"/>
          </a:xfrm>
          <a:prstGeom prst="rect">
            <a:avLst/>
          </a:prstGeom>
          <a:solidFill>
            <a:srgbClr val="EDE6DA"/>
          </a:solidFill>
          <a:ln w="12700">
            <a:solidFill>
              <a:srgbClr val="EDE6DA"/>
            </a:solidFill>
            <a:prstDash val="solid"/>
          </a:ln>
        </p:spPr>
      </p:sp>
      <p:sp>
        <p:nvSpPr>
          <p:cNvPr id="12" name="Shape 9"/>
          <p:cNvSpPr/>
          <p:nvPr/>
        </p:nvSpPr>
        <p:spPr>
          <a:xfrm>
            <a:off x="658368" y="2286000"/>
            <a:ext cx="54864" cy="786384"/>
          </a:xfrm>
          <a:prstGeom prst="rect">
            <a:avLst/>
          </a:prstGeom>
          <a:solidFill>
            <a:srgbClr val="52606D"/>
          </a:solidFill>
          <a:ln w="12700">
            <a:solidFill>
              <a:srgbClr val="52606D"/>
            </a:solidFill>
            <a:prstDash val="solid"/>
          </a:ln>
        </p:spPr>
      </p:sp>
      <p:sp>
        <p:nvSpPr>
          <p:cNvPr id="13" name="Text 10"/>
          <p:cNvSpPr txBox="1"/>
          <p:nvPr/>
        </p:nvSpPr>
        <p:spPr>
          <a:xfrm>
            <a:off x="914400" y="2414016"/>
            <a:ext cx="3017520" cy="219456"/>
          </a:xfrm>
          <a:prstGeom prst="rect">
            <a:avLst/>
          </a:prstGeom>
          <a:noFill/>
          <a:ln/>
        </p:spPr>
        <p:txBody>
          <a:bodyPr wrap="square" lIns="0" tIns="0" rIns="0" bIns="0" rtlCol="0" anchor="t"/>
          <a:lstStyle/>
          <a:p>
            <a:pPr algn="l" indent="0" marL="0">
              <a:buNone/>
            </a:pPr>
            <a:r>
              <a:rPr lang="en-US" sz="960" b="1" spc="110" kern="0" dirty="0">
                <a:solidFill>
                  <a:srgbClr val="52606D"/>
                </a:solidFill>
                <a:latin typeface="Aptos" pitchFamily="34" charset="0"/>
                <a:ea typeface="Aptos" pitchFamily="34" charset="-122"/>
                <a:cs typeface="Aptos" pitchFamily="34" charset="-120"/>
              </a:rPr>
              <a:t>RIESGO</a:t>
            </a:r>
            <a:endParaRPr lang="en-US" sz="960" dirty="0"/>
          </a:p>
        </p:txBody>
      </p:sp>
      <p:sp>
        <p:nvSpPr>
          <p:cNvPr id="14" name="Text 11"/>
          <p:cNvSpPr txBox="1"/>
          <p:nvPr/>
        </p:nvSpPr>
        <p:spPr>
          <a:xfrm>
            <a:off x="914400" y="2651760"/>
            <a:ext cx="3017520" cy="292608"/>
          </a:xfrm>
          <a:prstGeom prst="rect">
            <a:avLst/>
          </a:prstGeom>
          <a:noFill/>
          <a:ln/>
        </p:spPr>
        <p:txBody>
          <a:bodyPr wrap="square" lIns="0" tIns="0" rIns="0" bIns="0" rtlCol="0" anchor="t"/>
          <a:lstStyle/>
          <a:p>
            <a:pPr algn="l" indent="0" marL="0">
              <a:buNone/>
            </a:pPr>
            <a:r>
              <a:rPr lang="en-US" sz="1600" b="1" dirty="0">
                <a:solidFill>
                  <a:srgbClr val="243B53"/>
                </a:solidFill>
                <a:latin typeface="Aptos" pitchFamily="34" charset="0"/>
                <a:ea typeface="Aptos" pitchFamily="34" charset="-122"/>
                <a:cs typeface="Aptos" pitchFamily="34" charset="-120"/>
              </a:rPr>
              <a:t>Podría ocurrir</a:t>
            </a:r>
            <a:endParaRPr lang="en-US" sz="1600" dirty="0"/>
          </a:p>
        </p:txBody>
      </p:sp>
      <p:sp>
        <p:nvSpPr>
          <p:cNvPr id="15" name="Shape 12"/>
          <p:cNvSpPr/>
          <p:nvPr/>
        </p:nvSpPr>
        <p:spPr>
          <a:xfrm>
            <a:off x="4407408" y="2679192"/>
            <a:ext cx="1371600" cy="0"/>
          </a:xfrm>
          <a:prstGeom prst="line">
            <a:avLst/>
          </a:prstGeom>
          <a:noFill/>
          <a:ln w="12700">
            <a:solidFill>
              <a:srgbClr val="B3181E"/>
            </a:solidFill>
            <a:prstDash val="solid"/>
            <a:headEnd type="none"/>
            <a:tailEnd type="triangle"/>
          </a:ln>
        </p:spPr>
      </p:sp>
      <p:sp>
        <p:nvSpPr>
          <p:cNvPr id="16" name="Text 13"/>
          <p:cNvSpPr txBox="1"/>
          <p:nvPr/>
        </p:nvSpPr>
        <p:spPr>
          <a:xfrm>
            <a:off x="4334256" y="2871216"/>
            <a:ext cx="1517904" cy="237744"/>
          </a:xfrm>
          <a:prstGeom prst="rect">
            <a:avLst/>
          </a:prstGeom>
          <a:noFill/>
          <a:ln/>
        </p:spPr>
        <p:txBody>
          <a:bodyPr wrap="square" lIns="0" tIns="0" rIns="0" bIns="0" rtlCol="0" anchor="t"/>
          <a:lstStyle/>
          <a:p>
            <a:pPr algn="ctr" indent="0" marL="0">
              <a:buNone/>
            </a:pPr>
            <a:r>
              <a:rPr lang="en-US" sz="1060" b="1" dirty="0">
                <a:solidFill>
                  <a:srgbClr val="B3181E"/>
                </a:solidFill>
                <a:latin typeface="Consolas" pitchFamily="34" charset="0"/>
                <a:ea typeface="Consolas" pitchFamily="34" charset="-122"/>
                <a:cs typeface="Consolas" pitchFamily="34" charset="-120"/>
              </a:rPr>
              <a:t>assert 409 == 201</a:t>
            </a:r>
            <a:endParaRPr lang="en-US" sz="1060" dirty="0"/>
          </a:p>
        </p:txBody>
      </p:sp>
      <p:sp>
        <p:nvSpPr>
          <p:cNvPr id="17" name="Shape 14"/>
          <p:cNvSpPr/>
          <p:nvPr/>
        </p:nvSpPr>
        <p:spPr>
          <a:xfrm>
            <a:off x="6236208" y="2286000"/>
            <a:ext cx="5312664" cy="786384"/>
          </a:xfrm>
          <a:prstGeom prst="rect">
            <a:avLst/>
          </a:prstGeom>
          <a:solidFill>
            <a:srgbClr val="F2E7D9"/>
          </a:solidFill>
          <a:ln w="12700">
            <a:solidFill>
              <a:srgbClr val="B3181E"/>
            </a:solidFill>
            <a:prstDash val="solid"/>
          </a:ln>
        </p:spPr>
      </p:sp>
      <p:sp>
        <p:nvSpPr>
          <p:cNvPr id="18" name="Text 15"/>
          <p:cNvSpPr txBox="1"/>
          <p:nvPr/>
        </p:nvSpPr>
        <p:spPr>
          <a:xfrm>
            <a:off x="6492240" y="2414016"/>
            <a:ext cx="4754880" cy="219456"/>
          </a:xfrm>
          <a:prstGeom prst="rect">
            <a:avLst/>
          </a:prstGeom>
          <a:noFill/>
          <a:ln/>
        </p:spPr>
        <p:txBody>
          <a:bodyPr wrap="square" lIns="0" tIns="0" rIns="0" bIns="0" rtlCol="0" anchor="t"/>
          <a:lstStyle/>
          <a:p>
            <a:pPr algn="l" indent="0" marL="0">
              <a:buNone/>
            </a:pPr>
            <a:r>
              <a:rPr lang="en-US" sz="960" b="1" spc="110" kern="0" dirty="0">
                <a:solidFill>
                  <a:srgbClr val="B3181E"/>
                </a:solidFill>
                <a:latin typeface="Aptos" pitchFamily="34" charset="0"/>
                <a:ea typeface="Aptos" pitchFamily="34" charset="-122"/>
                <a:cs typeface="Aptos" pitchFamily="34" charset="-120"/>
              </a:rPr>
              <a:t>DEFECTO CONFIRMADO</a:t>
            </a:r>
            <a:endParaRPr lang="en-US" sz="960" dirty="0"/>
          </a:p>
        </p:txBody>
      </p:sp>
      <p:sp>
        <p:nvSpPr>
          <p:cNvPr id="19" name="Text 16"/>
          <p:cNvSpPr txBox="1"/>
          <p:nvPr/>
        </p:nvSpPr>
        <p:spPr>
          <a:xfrm>
            <a:off x="6492240" y="2651760"/>
            <a:ext cx="4754880" cy="292608"/>
          </a:xfrm>
          <a:prstGeom prst="rect">
            <a:avLst/>
          </a:prstGeom>
          <a:noFill/>
          <a:ln/>
        </p:spPr>
        <p:txBody>
          <a:bodyPr wrap="square" lIns="0" tIns="0" rIns="0" bIns="0" rtlCol="0" anchor="t"/>
          <a:lstStyle/>
          <a:p>
            <a:pPr algn="l" indent="0" marL="0">
              <a:buNone/>
            </a:pPr>
            <a:r>
              <a:rPr lang="en-US" sz="1600" b="1" dirty="0">
                <a:solidFill>
                  <a:srgbClr val="243B53"/>
                </a:solidFill>
                <a:latin typeface="Aptos" pitchFamily="34" charset="0"/>
                <a:ea typeface="Aptos" pitchFamily="34" charset="-122"/>
                <a:cs typeface="Aptos" pitchFamily="34" charset="-120"/>
              </a:rPr>
              <a:t>Ocurre, cada vez, de forma reproducible</a:t>
            </a:r>
            <a:endParaRPr lang="en-US" sz="1600" dirty="0"/>
          </a:p>
        </p:txBody>
      </p:sp>
      <p:sp>
        <p:nvSpPr>
          <p:cNvPr id="20" name="Text 17"/>
          <p:cNvSpPr txBox="1"/>
          <p:nvPr/>
        </p:nvSpPr>
        <p:spPr>
          <a:xfrm>
            <a:off x="658368" y="3456432"/>
            <a:ext cx="2194560" cy="292608"/>
          </a:xfrm>
          <a:prstGeom prst="rect">
            <a:avLst/>
          </a:prstGeom>
          <a:noFill/>
          <a:ln/>
        </p:spPr>
        <p:txBody>
          <a:bodyPr wrap="square" lIns="0" tIns="0" rIns="0" bIns="0" rtlCol="0" anchor="t"/>
          <a:lstStyle/>
          <a:p>
            <a:pPr algn="l" indent="0" marL="0">
              <a:buNone/>
            </a:pPr>
            <a:r>
              <a:rPr lang="en-US" sz="1100" b="1" dirty="0">
                <a:solidFill>
                  <a:srgbClr val="52606D"/>
                </a:solidFill>
                <a:latin typeface="Aptos" pitchFamily="34" charset="0"/>
                <a:ea typeface="Aptos" pitchFamily="34" charset="-122"/>
                <a:cs typeface="Aptos" pitchFamily="34" charset="-120"/>
              </a:rPr>
              <a:t>Dónde se registra</a:t>
            </a:r>
            <a:endParaRPr lang="en-US" sz="1100" dirty="0"/>
          </a:p>
        </p:txBody>
      </p:sp>
      <p:sp>
        <p:nvSpPr>
          <p:cNvPr id="21" name="Shape 18"/>
          <p:cNvSpPr/>
          <p:nvPr/>
        </p:nvSpPr>
        <p:spPr>
          <a:xfrm>
            <a:off x="2962656" y="3346704"/>
            <a:ext cx="4023360" cy="530352"/>
          </a:xfrm>
          <a:prstGeom prst="rect">
            <a:avLst/>
          </a:prstGeom>
          <a:solidFill>
            <a:srgbClr val="EDE6DA"/>
          </a:solidFill>
          <a:ln w="12700">
            <a:solidFill>
              <a:srgbClr val="EDE6DA"/>
            </a:solidFill>
            <a:prstDash val="solid"/>
          </a:ln>
        </p:spPr>
      </p:sp>
      <p:sp>
        <p:nvSpPr>
          <p:cNvPr id="22" name="Text 19"/>
          <p:cNvSpPr txBox="1"/>
          <p:nvPr/>
        </p:nvSpPr>
        <p:spPr>
          <a:xfrm>
            <a:off x="3182112" y="3419856"/>
            <a:ext cx="3621024" cy="384048"/>
          </a:xfrm>
          <a:prstGeom prst="rect">
            <a:avLst/>
          </a:prstGeom>
          <a:noFill/>
          <a:ln/>
        </p:spPr>
        <p:txBody>
          <a:bodyPr wrap="square" lIns="0" tIns="0" rIns="0" bIns="0" rtlCol="0" anchor="ctr"/>
          <a:lstStyle/>
          <a:p>
            <a:pPr algn="l" indent="0" marL="0">
              <a:lnSpc>
                <a:spcPct val="106000"/>
              </a:lnSpc>
              <a:buNone/>
            </a:pPr>
            <a:r>
              <a:rPr lang="en-US" sz="1080" dirty="0">
                <a:solidFill>
                  <a:srgbClr val="243B53"/>
                </a:solidFill>
                <a:latin typeface="Aptos" pitchFamily="34" charset="0"/>
                <a:ea typeface="Aptos" pitchFamily="34" charset="-122"/>
                <a:cs typeface="Aptos" pitchFamily="34" charset="-120"/>
              </a:rPr>
              <a:t>En el registro de riesgos del plan (7.2.6)</a:t>
            </a:r>
            <a:endParaRPr lang="en-US" sz="1080" dirty="0"/>
          </a:p>
        </p:txBody>
      </p:sp>
      <p:sp>
        <p:nvSpPr>
          <p:cNvPr id="23" name="Shape 20"/>
          <p:cNvSpPr/>
          <p:nvPr/>
        </p:nvSpPr>
        <p:spPr>
          <a:xfrm>
            <a:off x="7187184" y="3346704"/>
            <a:ext cx="4343400" cy="530352"/>
          </a:xfrm>
          <a:prstGeom prst="rect">
            <a:avLst/>
          </a:prstGeom>
          <a:solidFill>
            <a:srgbClr val="F2E7D9"/>
          </a:solidFill>
          <a:ln w="12700">
            <a:solidFill>
              <a:srgbClr val="F2E7D9"/>
            </a:solidFill>
            <a:prstDash val="solid"/>
          </a:ln>
        </p:spPr>
      </p:sp>
      <p:sp>
        <p:nvSpPr>
          <p:cNvPr id="24" name="Text 21"/>
          <p:cNvSpPr txBox="1"/>
          <p:nvPr/>
        </p:nvSpPr>
        <p:spPr>
          <a:xfrm>
            <a:off x="7406640" y="3419856"/>
            <a:ext cx="3931920" cy="384048"/>
          </a:xfrm>
          <a:prstGeom prst="rect">
            <a:avLst/>
          </a:prstGeom>
          <a:noFill/>
          <a:ln/>
        </p:spPr>
        <p:txBody>
          <a:bodyPr wrap="square" lIns="0" tIns="0" rIns="0" bIns="0" rtlCol="0" anchor="ctr"/>
          <a:lstStyle/>
          <a:p>
            <a:pPr algn="l" indent="0" marL="0">
              <a:lnSpc>
                <a:spcPct val="106000"/>
              </a:lnSpc>
              <a:buNone/>
            </a:pPr>
            <a:r>
              <a:rPr lang="en-US" sz="1080" dirty="0">
                <a:solidFill>
                  <a:srgbClr val="243B53"/>
                </a:solidFill>
                <a:latin typeface="Aptos" pitchFamily="34" charset="0"/>
                <a:ea typeface="Aptos" pitchFamily="34" charset="-122"/>
                <a:cs typeface="Aptos" pitchFamily="34" charset="-120"/>
              </a:rPr>
              <a:t>En un reporte de incidente (8.11)</a:t>
            </a:r>
            <a:endParaRPr lang="en-US" sz="1080" dirty="0"/>
          </a:p>
        </p:txBody>
      </p:sp>
      <p:sp>
        <p:nvSpPr>
          <p:cNvPr id="25" name="Text 22"/>
          <p:cNvSpPr txBox="1"/>
          <p:nvPr/>
        </p:nvSpPr>
        <p:spPr>
          <a:xfrm>
            <a:off x="658368" y="4059936"/>
            <a:ext cx="2194560" cy="292608"/>
          </a:xfrm>
          <a:prstGeom prst="rect">
            <a:avLst/>
          </a:prstGeom>
          <a:noFill/>
          <a:ln/>
        </p:spPr>
        <p:txBody>
          <a:bodyPr wrap="square" lIns="0" tIns="0" rIns="0" bIns="0" rtlCol="0" anchor="t"/>
          <a:lstStyle/>
          <a:p>
            <a:pPr algn="l" indent="0" marL="0">
              <a:buNone/>
            </a:pPr>
            <a:r>
              <a:rPr lang="en-US" sz="1100" b="1" dirty="0">
                <a:solidFill>
                  <a:srgbClr val="52606D"/>
                </a:solidFill>
                <a:latin typeface="Aptos" pitchFamily="34" charset="0"/>
                <a:ea typeface="Aptos" pitchFamily="34" charset="-122"/>
                <a:cs typeface="Aptos" pitchFamily="34" charset="-120"/>
              </a:rPr>
              <a:t>Qué se hace con él</a:t>
            </a:r>
            <a:endParaRPr lang="en-US" sz="1100" dirty="0"/>
          </a:p>
        </p:txBody>
      </p:sp>
      <p:sp>
        <p:nvSpPr>
          <p:cNvPr id="26" name="Shape 23"/>
          <p:cNvSpPr/>
          <p:nvPr/>
        </p:nvSpPr>
        <p:spPr>
          <a:xfrm>
            <a:off x="2962656" y="3950208"/>
            <a:ext cx="4023360" cy="530352"/>
          </a:xfrm>
          <a:prstGeom prst="rect">
            <a:avLst/>
          </a:prstGeom>
          <a:solidFill>
            <a:srgbClr val="EDE6DA"/>
          </a:solidFill>
          <a:ln w="12700">
            <a:solidFill>
              <a:srgbClr val="EDE6DA"/>
            </a:solidFill>
            <a:prstDash val="solid"/>
          </a:ln>
        </p:spPr>
      </p:sp>
      <p:sp>
        <p:nvSpPr>
          <p:cNvPr id="27" name="Text 24"/>
          <p:cNvSpPr txBox="1"/>
          <p:nvPr/>
        </p:nvSpPr>
        <p:spPr>
          <a:xfrm>
            <a:off x="3182112" y="4023360"/>
            <a:ext cx="3621024" cy="384048"/>
          </a:xfrm>
          <a:prstGeom prst="rect">
            <a:avLst/>
          </a:prstGeom>
          <a:noFill/>
          <a:ln/>
        </p:spPr>
        <p:txBody>
          <a:bodyPr wrap="square" lIns="0" tIns="0" rIns="0" bIns="0" rtlCol="0" anchor="ctr"/>
          <a:lstStyle/>
          <a:p>
            <a:pPr algn="l" indent="0" marL="0">
              <a:lnSpc>
                <a:spcPct val="106000"/>
              </a:lnSpc>
              <a:buNone/>
            </a:pPr>
            <a:r>
              <a:rPr lang="en-US" sz="1080" dirty="0">
                <a:solidFill>
                  <a:srgbClr val="243B53"/>
                </a:solidFill>
                <a:latin typeface="Aptos" pitchFamily="34" charset="0"/>
                <a:ea typeface="Aptos" pitchFamily="34" charset="-122"/>
                <a:cs typeface="Aptos" pitchFamily="34" charset="-120"/>
              </a:rPr>
              <a:t>Se valora, se prioriza y se decide cómo tratarlo</a:t>
            </a:r>
            <a:endParaRPr lang="en-US" sz="1080" dirty="0"/>
          </a:p>
        </p:txBody>
      </p:sp>
      <p:sp>
        <p:nvSpPr>
          <p:cNvPr id="28" name="Shape 25"/>
          <p:cNvSpPr/>
          <p:nvPr/>
        </p:nvSpPr>
        <p:spPr>
          <a:xfrm>
            <a:off x="7187184" y="3950208"/>
            <a:ext cx="4343400" cy="530352"/>
          </a:xfrm>
          <a:prstGeom prst="rect">
            <a:avLst/>
          </a:prstGeom>
          <a:solidFill>
            <a:srgbClr val="F2E7D9"/>
          </a:solidFill>
          <a:ln w="12700">
            <a:solidFill>
              <a:srgbClr val="F2E7D9"/>
            </a:solidFill>
            <a:prstDash val="solid"/>
          </a:ln>
        </p:spPr>
      </p:sp>
      <p:sp>
        <p:nvSpPr>
          <p:cNvPr id="29" name="Text 26"/>
          <p:cNvSpPr txBox="1"/>
          <p:nvPr/>
        </p:nvSpPr>
        <p:spPr>
          <a:xfrm>
            <a:off x="7406640" y="4023360"/>
            <a:ext cx="3931920" cy="384048"/>
          </a:xfrm>
          <a:prstGeom prst="rect">
            <a:avLst/>
          </a:prstGeom>
          <a:noFill/>
          <a:ln/>
        </p:spPr>
        <p:txBody>
          <a:bodyPr wrap="square" lIns="0" tIns="0" rIns="0" bIns="0" rtlCol="0" anchor="ctr"/>
          <a:lstStyle/>
          <a:p>
            <a:pPr algn="l" indent="0" marL="0">
              <a:lnSpc>
                <a:spcPct val="106000"/>
              </a:lnSpc>
              <a:buNone/>
            </a:pPr>
            <a:r>
              <a:rPr lang="en-US" sz="1080" dirty="0">
                <a:solidFill>
                  <a:srgbClr val="243B53"/>
                </a:solidFill>
                <a:latin typeface="Aptos" pitchFamily="34" charset="0"/>
                <a:ea typeface="Aptos" pitchFamily="34" charset="-122"/>
                <a:cs typeface="Aptos" pitchFamily="34" charset="-120"/>
              </a:rPr>
              <a:t>Se corrige, o se acepta con una decisión escrita</a:t>
            </a:r>
            <a:endParaRPr lang="en-US" sz="1080" dirty="0"/>
          </a:p>
        </p:txBody>
      </p:sp>
      <p:sp>
        <p:nvSpPr>
          <p:cNvPr id="30" name="Text 27"/>
          <p:cNvSpPr txBox="1"/>
          <p:nvPr/>
        </p:nvSpPr>
        <p:spPr>
          <a:xfrm>
            <a:off x="658368" y="4663440"/>
            <a:ext cx="2194560" cy="292608"/>
          </a:xfrm>
          <a:prstGeom prst="rect">
            <a:avLst/>
          </a:prstGeom>
          <a:noFill/>
          <a:ln/>
        </p:spPr>
        <p:txBody>
          <a:bodyPr wrap="square" lIns="0" tIns="0" rIns="0" bIns="0" rtlCol="0" anchor="t"/>
          <a:lstStyle/>
          <a:p>
            <a:pPr algn="l" indent="0" marL="0">
              <a:buNone/>
            </a:pPr>
            <a:r>
              <a:rPr lang="en-US" sz="1100" b="1" dirty="0">
                <a:solidFill>
                  <a:srgbClr val="52606D"/>
                </a:solidFill>
                <a:latin typeface="Aptos" pitchFamily="34" charset="0"/>
                <a:ea typeface="Aptos" pitchFamily="34" charset="-122"/>
                <a:cs typeface="Aptos" pitchFamily="34" charset="-120"/>
              </a:rPr>
              <a:t>Cómo se cierra</a:t>
            </a:r>
            <a:endParaRPr lang="en-US" sz="1100" dirty="0"/>
          </a:p>
        </p:txBody>
      </p:sp>
      <p:sp>
        <p:nvSpPr>
          <p:cNvPr id="31" name="Shape 28"/>
          <p:cNvSpPr/>
          <p:nvPr/>
        </p:nvSpPr>
        <p:spPr>
          <a:xfrm>
            <a:off x="2962656" y="4553712"/>
            <a:ext cx="4023360" cy="530352"/>
          </a:xfrm>
          <a:prstGeom prst="rect">
            <a:avLst/>
          </a:prstGeom>
          <a:solidFill>
            <a:srgbClr val="EDE6DA"/>
          </a:solidFill>
          <a:ln w="12700">
            <a:solidFill>
              <a:srgbClr val="EDE6DA"/>
            </a:solidFill>
            <a:prstDash val="solid"/>
          </a:ln>
        </p:spPr>
      </p:sp>
      <p:sp>
        <p:nvSpPr>
          <p:cNvPr id="32" name="Text 29"/>
          <p:cNvSpPr txBox="1"/>
          <p:nvPr/>
        </p:nvSpPr>
        <p:spPr>
          <a:xfrm>
            <a:off x="3182112" y="4626864"/>
            <a:ext cx="3621024" cy="384048"/>
          </a:xfrm>
          <a:prstGeom prst="rect">
            <a:avLst/>
          </a:prstGeom>
          <a:noFill/>
          <a:ln/>
        </p:spPr>
        <p:txBody>
          <a:bodyPr wrap="square" lIns="0" tIns="0" rIns="0" bIns="0" rtlCol="0" anchor="ctr"/>
          <a:lstStyle/>
          <a:p>
            <a:pPr algn="l" indent="0" marL="0">
              <a:lnSpc>
                <a:spcPct val="106000"/>
              </a:lnSpc>
              <a:buNone/>
            </a:pPr>
            <a:r>
              <a:rPr lang="en-US" sz="1080" dirty="0">
                <a:solidFill>
                  <a:srgbClr val="243B53"/>
                </a:solidFill>
                <a:latin typeface="Aptos" pitchFamily="34" charset="0"/>
                <a:ea typeface="Aptos" pitchFamily="34" charset="-122"/>
                <a:cs typeface="Aptos" pitchFamily="34" charset="-120"/>
              </a:rPr>
              <a:t>Dejando de ser probable, o aceptándolo</a:t>
            </a:r>
            <a:endParaRPr lang="en-US" sz="1080" dirty="0"/>
          </a:p>
        </p:txBody>
      </p:sp>
      <p:sp>
        <p:nvSpPr>
          <p:cNvPr id="33" name="Shape 30"/>
          <p:cNvSpPr/>
          <p:nvPr/>
        </p:nvSpPr>
        <p:spPr>
          <a:xfrm>
            <a:off x="7187184" y="4553712"/>
            <a:ext cx="4343400" cy="530352"/>
          </a:xfrm>
          <a:prstGeom prst="rect">
            <a:avLst/>
          </a:prstGeom>
          <a:solidFill>
            <a:srgbClr val="F2E7D9"/>
          </a:solidFill>
          <a:ln w="12700">
            <a:solidFill>
              <a:srgbClr val="F2E7D9"/>
            </a:solidFill>
            <a:prstDash val="solid"/>
          </a:ln>
        </p:spPr>
      </p:sp>
      <p:sp>
        <p:nvSpPr>
          <p:cNvPr id="34" name="Text 31"/>
          <p:cNvSpPr txBox="1"/>
          <p:nvPr/>
        </p:nvSpPr>
        <p:spPr>
          <a:xfrm>
            <a:off x="7406640" y="4626864"/>
            <a:ext cx="3931920" cy="384048"/>
          </a:xfrm>
          <a:prstGeom prst="rect">
            <a:avLst/>
          </a:prstGeom>
          <a:noFill/>
          <a:ln/>
        </p:spPr>
        <p:txBody>
          <a:bodyPr wrap="square" lIns="0" tIns="0" rIns="0" bIns="0" rtlCol="0" anchor="ctr"/>
          <a:lstStyle/>
          <a:p>
            <a:pPr algn="l" indent="0" marL="0">
              <a:lnSpc>
                <a:spcPct val="106000"/>
              </a:lnSpc>
              <a:buNone/>
            </a:pPr>
            <a:r>
              <a:rPr lang="en-US" sz="1080" dirty="0">
                <a:solidFill>
                  <a:srgbClr val="243B53"/>
                </a:solidFill>
                <a:latin typeface="Aptos" pitchFamily="34" charset="0"/>
                <a:ea typeface="Aptos" pitchFamily="34" charset="-122"/>
                <a:cs typeface="Aptos" pitchFamily="34" charset="-120"/>
              </a:rPr>
              <a:t>Con un cambio en el código y una prueba que lo fija</a:t>
            </a:r>
            <a:endParaRPr lang="en-US" sz="1080" dirty="0"/>
          </a:p>
        </p:txBody>
      </p:sp>
      <p:sp>
        <p:nvSpPr>
          <p:cNvPr id="35" name="Text 32"/>
          <p:cNvSpPr txBox="1"/>
          <p:nvPr/>
        </p:nvSpPr>
        <p:spPr>
          <a:xfrm>
            <a:off x="658368" y="5193792"/>
            <a:ext cx="10874959" cy="402336"/>
          </a:xfrm>
          <a:prstGeom prst="rect">
            <a:avLst/>
          </a:prstGeom>
          <a:noFill/>
          <a:ln/>
        </p:spPr>
        <p:txBody>
          <a:bodyPr wrap="square" lIns="0" tIns="0" rIns="0" bIns="0" rtlCol="0" anchor="t"/>
          <a:lstStyle/>
          <a:p>
            <a:pPr algn="l" indent="0" marL="0">
              <a:buNone/>
            </a:pPr>
            <a:r>
              <a:rPr lang="en-US" sz="1140" b="1" dirty="0">
                <a:solidFill>
                  <a:srgbClr val="243B53"/>
                </a:solidFill>
                <a:latin typeface="Aptos" pitchFamily="34" charset="0"/>
                <a:ea typeface="Aptos" pitchFamily="34" charset="-122"/>
                <a:cs typeface="Aptos" pitchFamily="34" charset="-120"/>
              </a:rPr>
              <a:t>Y el agente dejó en su registro dos defectos ya confirmados: RP1, la suplantación, y RP4, el [object Object], tienen una prueba en rojo desde el lunes.</a:t>
            </a:r>
            <a:endParaRPr lang="en-US" sz="1140" dirty="0"/>
          </a:p>
        </p:txBody>
      </p:sp>
      <p:sp>
        <p:nvSpPr>
          <p:cNvPr id="36" name="Shape 33"/>
          <p:cNvSpPr/>
          <p:nvPr/>
        </p:nvSpPr>
        <p:spPr>
          <a:xfrm>
            <a:off x="658368" y="5650992"/>
            <a:ext cx="10874959" cy="548640"/>
          </a:xfrm>
          <a:prstGeom prst="rect">
            <a:avLst/>
          </a:prstGeom>
          <a:solidFill>
            <a:srgbClr val="102A43"/>
          </a:solidFill>
          <a:ln w="12700">
            <a:solidFill>
              <a:srgbClr val="102A43"/>
            </a:solidFill>
            <a:prstDash val="solid"/>
          </a:ln>
        </p:spPr>
      </p:sp>
      <p:sp>
        <p:nvSpPr>
          <p:cNvPr id="37" name="Text 34"/>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Quedan trece riesgos por tratar y tres defectos confirmados por corregir.</a:t>
            </a:r>
            <a:endParaRPr lang="en-US" sz="138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22</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2 · VOCABULARIO QUE VUELVE</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Los tres niveles, en una línea cada uno</a:t>
            </a:r>
            <a:endParaRPr lang="en-US" sz="3000" dirty="0"/>
          </a:p>
        </p:txBody>
      </p:sp>
      <p:sp>
        <p:nvSpPr>
          <p:cNvPr id="10" name="Text 7"/>
          <p:cNvSpPr txBox="1"/>
          <p:nvPr/>
        </p:nvSpPr>
        <p:spPr>
          <a:xfrm>
            <a:off x="658368" y="1664208"/>
            <a:ext cx="10424160" cy="365760"/>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La regla que sigue los usa como respuesta, así que conviene dejarlos fijos. Lo que los distingue no es el tamaño: es qué deja de sustituir cada uno.</a:t>
            </a:r>
            <a:endParaRPr lang="en-US" sz="1420" dirty="0"/>
          </a:p>
        </p:txBody>
      </p:sp>
      <p:sp>
        <p:nvSpPr>
          <p:cNvPr id="11" name="Shape 8"/>
          <p:cNvSpPr/>
          <p:nvPr/>
        </p:nvSpPr>
        <p:spPr>
          <a:xfrm>
            <a:off x="658368" y="2377440"/>
            <a:ext cx="3527450" cy="2596896"/>
          </a:xfrm>
          <a:prstGeom prst="rect">
            <a:avLst/>
          </a:prstGeom>
          <a:solidFill>
            <a:srgbClr val="FFFFFF"/>
          </a:solidFill>
          <a:ln w="12700">
            <a:solidFill>
              <a:srgbClr val="FFFFFF"/>
            </a:solidFill>
            <a:prstDash val="solid"/>
          </a:ln>
        </p:spPr>
      </p:sp>
      <p:sp>
        <p:nvSpPr>
          <p:cNvPr id="12" name="Shape 9"/>
          <p:cNvSpPr/>
          <p:nvPr/>
        </p:nvSpPr>
        <p:spPr>
          <a:xfrm>
            <a:off x="658368" y="2377440"/>
            <a:ext cx="3527450" cy="54864"/>
          </a:xfrm>
          <a:prstGeom prst="rect">
            <a:avLst/>
          </a:prstGeom>
          <a:solidFill>
            <a:srgbClr val="102A43"/>
          </a:solidFill>
          <a:ln w="12700">
            <a:solidFill>
              <a:srgbClr val="102A43"/>
            </a:solidFill>
            <a:prstDash val="solid"/>
          </a:ln>
        </p:spPr>
      </p:sp>
      <p:sp>
        <p:nvSpPr>
          <p:cNvPr id="13" name="Text 10"/>
          <p:cNvSpPr txBox="1"/>
          <p:nvPr/>
        </p:nvSpPr>
        <p:spPr>
          <a:xfrm>
            <a:off x="877824" y="2560320"/>
            <a:ext cx="3088538" cy="548640"/>
          </a:xfrm>
          <a:prstGeom prst="rect">
            <a:avLst/>
          </a:prstGeom>
          <a:noFill/>
          <a:ln/>
        </p:spPr>
        <p:txBody>
          <a:bodyPr wrap="square" lIns="0" tIns="0" rIns="0" bIns="0" rtlCol="0" anchor="t"/>
          <a:lstStyle/>
          <a:p>
            <a:pPr algn="l" indent="0" marL="0">
              <a:lnSpc>
                <a:spcPct val="106000"/>
              </a:lnSpc>
              <a:buNone/>
            </a:pPr>
            <a:r>
              <a:rPr lang="en-US" sz="1600" b="1" dirty="0">
                <a:solidFill>
                  <a:srgbClr val="102A43"/>
                </a:solidFill>
                <a:latin typeface="Aptos" pitchFamily="34" charset="0"/>
                <a:ea typeface="Aptos" pitchFamily="34" charset="-122"/>
                <a:cs typeface="Aptos" pitchFamily="34" charset="-120"/>
              </a:rPr>
              <a:t>Prueba unitaria</a:t>
            </a:r>
            <a:endParaRPr lang="en-US" sz="1600" dirty="0"/>
          </a:p>
        </p:txBody>
      </p:sp>
      <p:sp>
        <p:nvSpPr>
          <p:cNvPr id="14" name="Text 11"/>
          <p:cNvSpPr txBox="1"/>
          <p:nvPr/>
        </p:nvSpPr>
        <p:spPr>
          <a:xfrm>
            <a:off x="877824" y="3182112"/>
            <a:ext cx="3088538" cy="164592"/>
          </a:xfrm>
          <a:prstGeom prst="rect">
            <a:avLst/>
          </a:prstGeom>
          <a:noFill/>
          <a:ln/>
        </p:spPr>
        <p:txBody>
          <a:bodyPr wrap="square" lIns="0" tIns="0" rIns="0" bIns="0" rtlCol="0" anchor="t"/>
          <a:lstStyle/>
          <a:p>
            <a:pPr algn="l" indent="0" marL="0">
              <a:buNone/>
            </a:pPr>
            <a:r>
              <a:rPr lang="en-US" sz="820" b="1" spc="80" kern="0" dirty="0">
                <a:solidFill>
                  <a:srgbClr val="2E7D4F"/>
                </a:solidFill>
                <a:latin typeface="Aptos" pitchFamily="34" charset="0"/>
                <a:ea typeface="Aptos" pitchFamily="34" charset="-122"/>
                <a:cs typeface="Aptos" pitchFamily="34" charset="-120"/>
              </a:rPr>
              <a:t>EJECUTA DE VERDAD</a:t>
            </a:r>
            <a:endParaRPr lang="en-US" sz="820" dirty="0"/>
          </a:p>
        </p:txBody>
      </p:sp>
      <p:sp>
        <p:nvSpPr>
          <p:cNvPr id="15" name="Text 12"/>
          <p:cNvSpPr txBox="1"/>
          <p:nvPr/>
        </p:nvSpPr>
        <p:spPr>
          <a:xfrm>
            <a:off x="877824" y="3364992"/>
            <a:ext cx="3088538" cy="384048"/>
          </a:xfrm>
          <a:prstGeom prst="rect">
            <a:avLst/>
          </a:prstGeom>
          <a:noFill/>
          <a:ln/>
        </p:spPr>
        <p:txBody>
          <a:bodyPr wrap="square" lIns="0" tIns="0" rIns="0" bIns="0" rtlCol="0" anchor="t"/>
          <a:lstStyle/>
          <a:p>
            <a:pPr algn="l" indent="0" marL="0">
              <a:lnSpc>
                <a:spcPct val="112000"/>
              </a:lnSpc>
              <a:buNone/>
            </a:pPr>
            <a:r>
              <a:rPr lang="en-US" sz="1020" dirty="0">
                <a:solidFill>
                  <a:srgbClr val="243B53"/>
                </a:solidFill>
                <a:latin typeface="Aptos" pitchFamily="34" charset="0"/>
                <a:ea typeface="Aptos" pitchFamily="34" charset="-122"/>
                <a:cs typeface="Aptos" pitchFamily="34" charset="-120"/>
              </a:rPr>
              <a:t>Una función sola</a:t>
            </a:r>
            <a:endParaRPr lang="en-US" sz="1020" dirty="0"/>
          </a:p>
        </p:txBody>
      </p:sp>
      <p:sp>
        <p:nvSpPr>
          <p:cNvPr id="16" name="Text 13"/>
          <p:cNvSpPr txBox="1"/>
          <p:nvPr/>
        </p:nvSpPr>
        <p:spPr>
          <a:xfrm>
            <a:off x="877824" y="3785616"/>
            <a:ext cx="3088538" cy="164592"/>
          </a:xfrm>
          <a:prstGeom prst="rect">
            <a:avLst/>
          </a:prstGeom>
          <a:noFill/>
          <a:ln/>
        </p:spPr>
        <p:txBody>
          <a:bodyPr wrap="square" lIns="0" tIns="0" rIns="0" bIns="0" rtlCol="0" anchor="t"/>
          <a:lstStyle/>
          <a:p>
            <a:pPr algn="l" indent="0" marL="0">
              <a:buNone/>
            </a:pPr>
            <a:r>
              <a:rPr lang="en-US" sz="820" b="1" spc="80" kern="0" dirty="0">
                <a:solidFill>
                  <a:srgbClr val="B3181E"/>
                </a:solidFill>
                <a:latin typeface="Aptos" pitchFamily="34" charset="0"/>
                <a:ea typeface="Aptos" pitchFamily="34" charset="-122"/>
                <a:cs typeface="Aptos" pitchFamily="34" charset="-120"/>
              </a:rPr>
              <a:t>SUSTITUYE</a:t>
            </a:r>
            <a:endParaRPr lang="en-US" sz="820" dirty="0"/>
          </a:p>
        </p:txBody>
      </p:sp>
      <p:sp>
        <p:nvSpPr>
          <p:cNvPr id="17" name="Text 14"/>
          <p:cNvSpPr txBox="1"/>
          <p:nvPr/>
        </p:nvSpPr>
        <p:spPr>
          <a:xfrm>
            <a:off x="877824" y="3968496"/>
            <a:ext cx="3088538" cy="384048"/>
          </a:xfrm>
          <a:prstGeom prst="rect">
            <a:avLst/>
          </a:prstGeom>
          <a:noFill/>
          <a:ln/>
        </p:spPr>
        <p:txBody>
          <a:bodyPr wrap="square" lIns="0" tIns="0" rIns="0" bIns="0" rtlCol="0" anchor="t"/>
          <a:lstStyle/>
          <a:p>
            <a:pPr algn="l" indent="0" marL="0">
              <a:lnSpc>
                <a:spcPct val="112000"/>
              </a:lnSpc>
              <a:buNone/>
            </a:pPr>
            <a:r>
              <a:rPr lang="en-US" sz="1020" dirty="0">
                <a:solidFill>
                  <a:srgbClr val="52606D"/>
                </a:solidFill>
                <a:latin typeface="Aptos" pitchFamily="34" charset="0"/>
                <a:ea typeface="Aptos" pitchFamily="34" charset="-122"/>
                <a:cs typeface="Aptos" pitchFamily="34" charset="-120"/>
              </a:rPr>
              <a:t>Todo lo demás: la red, la base de datos, cualquier otra pieza.</a:t>
            </a:r>
            <a:endParaRPr lang="en-US" sz="1020" dirty="0"/>
          </a:p>
        </p:txBody>
      </p:sp>
      <p:sp>
        <p:nvSpPr>
          <p:cNvPr id="18" name="Text 15"/>
          <p:cNvSpPr txBox="1"/>
          <p:nvPr/>
        </p:nvSpPr>
        <p:spPr>
          <a:xfrm>
            <a:off x="877824" y="4389120"/>
            <a:ext cx="3088538" cy="164592"/>
          </a:xfrm>
          <a:prstGeom prst="rect">
            <a:avLst/>
          </a:prstGeom>
          <a:noFill/>
          <a:ln/>
        </p:spPr>
        <p:txBody>
          <a:bodyPr wrap="square" lIns="0" tIns="0" rIns="0" bIns="0" rtlCol="0" anchor="t"/>
          <a:lstStyle/>
          <a:p>
            <a:pPr algn="l" indent="0" marL="0">
              <a:buNone/>
            </a:pPr>
            <a:r>
              <a:rPr lang="en-US" sz="820" b="1" spc="80" kern="0" dirty="0">
                <a:solidFill>
                  <a:srgbClr val="2E7D4F"/>
                </a:solidFill>
                <a:latin typeface="Aptos" pitchFamily="34" charset="0"/>
                <a:ea typeface="Aptos" pitchFamily="34" charset="-122"/>
                <a:cs typeface="Aptos" pitchFamily="34" charset="-120"/>
              </a:rPr>
              <a:t>Y POR ESO AFIRMA</a:t>
            </a:r>
            <a:endParaRPr lang="en-US" sz="820" dirty="0"/>
          </a:p>
        </p:txBody>
      </p:sp>
      <p:sp>
        <p:nvSpPr>
          <p:cNvPr id="19" name="Text 16"/>
          <p:cNvSpPr txBox="1"/>
          <p:nvPr/>
        </p:nvSpPr>
        <p:spPr>
          <a:xfrm>
            <a:off x="877824" y="4572000"/>
            <a:ext cx="3088538" cy="384048"/>
          </a:xfrm>
          <a:prstGeom prst="rect">
            <a:avLst/>
          </a:prstGeom>
          <a:noFill/>
          <a:ln/>
        </p:spPr>
        <p:txBody>
          <a:bodyPr wrap="square" lIns="0" tIns="0" rIns="0" bIns="0" rtlCol="0" anchor="t"/>
          <a:lstStyle/>
          <a:p>
            <a:pPr algn="l" indent="0" marL="0">
              <a:lnSpc>
                <a:spcPct val="112000"/>
              </a:lnSpc>
              <a:buNone/>
            </a:pPr>
            <a:r>
              <a:rPr lang="en-US" sz="1020" dirty="0">
                <a:solidFill>
                  <a:srgbClr val="243B53"/>
                </a:solidFill>
                <a:latin typeface="Aptos" pitchFamily="34" charset="0"/>
                <a:ea typeface="Aptos" pitchFamily="34" charset="-122"/>
                <a:cs typeface="Aptos" pitchFamily="34" charset="-120"/>
              </a:rPr>
              <a:t>Que esa función decide bien con los datos que recibe.</a:t>
            </a:r>
            <a:endParaRPr lang="en-US" sz="1020" dirty="0"/>
          </a:p>
        </p:txBody>
      </p:sp>
      <p:sp>
        <p:nvSpPr>
          <p:cNvPr id="20" name="Shape 17"/>
          <p:cNvSpPr/>
          <p:nvPr/>
        </p:nvSpPr>
        <p:spPr>
          <a:xfrm>
            <a:off x="4332122" y="2377440"/>
            <a:ext cx="3527450" cy="2596896"/>
          </a:xfrm>
          <a:prstGeom prst="rect">
            <a:avLst/>
          </a:prstGeom>
          <a:solidFill>
            <a:srgbClr val="FFFFFF"/>
          </a:solidFill>
          <a:ln w="12700">
            <a:solidFill>
              <a:srgbClr val="FFFFFF"/>
            </a:solidFill>
            <a:prstDash val="solid"/>
          </a:ln>
        </p:spPr>
      </p:sp>
      <p:sp>
        <p:nvSpPr>
          <p:cNvPr id="21" name="Shape 18"/>
          <p:cNvSpPr/>
          <p:nvPr/>
        </p:nvSpPr>
        <p:spPr>
          <a:xfrm>
            <a:off x="4332122" y="2377440"/>
            <a:ext cx="3527450" cy="54864"/>
          </a:xfrm>
          <a:prstGeom prst="rect">
            <a:avLst/>
          </a:prstGeom>
          <a:solidFill>
            <a:srgbClr val="8A6A12"/>
          </a:solidFill>
          <a:ln w="12700">
            <a:solidFill>
              <a:srgbClr val="8A6A12"/>
            </a:solidFill>
            <a:prstDash val="solid"/>
          </a:ln>
        </p:spPr>
      </p:sp>
      <p:sp>
        <p:nvSpPr>
          <p:cNvPr id="22" name="Text 19"/>
          <p:cNvSpPr txBox="1"/>
          <p:nvPr/>
        </p:nvSpPr>
        <p:spPr>
          <a:xfrm>
            <a:off x="4551578" y="2560320"/>
            <a:ext cx="3088538" cy="548640"/>
          </a:xfrm>
          <a:prstGeom prst="rect">
            <a:avLst/>
          </a:prstGeom>
          <a:noFill/>
          <a:ln/>
        </p:spPr>
        <p:txBody>
          <a:bodyPr wrap="square" lIns="0" tIns="0" rIns="0" bIns="0" rtlCol="0" anchor="t"/>
          <a:lstStyle/>
          <a:p>
            <a:pPr algn="l" indent="0" marL="0">
              <a:lnSpc>
                <a:spcPct val="106000"/>
              </a:lnSpc>
              <a:buNone/>
            </a:pPr>
            <a:r>
              <a:rPr lang="en-US" sz="1600" b="1" dirty="0">
                <a:solidFill>
                  <a:srgbClr val="8A6A12"/>
                </a:solidFill>
                <a:latin typeface="Aptos" pitchFamily="34" charset="0"/>
                <a:ea typeface="Aptos" pitchFamily="34" charset="-122"/>
                <a:cs typeface="Aptos" pitchFamily="34" charset="-120"/>
              </a:rPr>
              <a:t>Prueba de integración</a:t>
            </a:r>
            <a:endParaRPr lang="en-US" sz="1600" dirty="0"/>
          </a:p>
        </p:txBody>
      </p:sp>
      <p:sp>
        <p:nvSpPr>
          <p:cNvPr id="23" name="Text 20"/>
          <p:cNvSpPr txBox="1"/>
          <p:nvPr/>
        </p:nvSpPr>
        <p:spPr>
          <a:xfrm>
            <a:off x="4551578" y="3182112"/>
            <a:ext cx="3088538" cy="164592"/>
          </a:xfrm>
          <a:prstGeom prst="rect">
            <a:avLst/>
          </a:prstGeom>
          <a:noFill/>
          <a:ln/>
        </p:spPr>
        <p:txBody>
          <a:bodyPr wrap="square" lIns="0" tIns="0" rIns="0" bIns="0" rtlCol="0" anchor="t"/>
          <a:lstStyle/>
          <a:p>
            <a:pPr algn="l" indent="0" marL="0">
              <a:buNone/>
            </a:pPr>
            <a:r>
              <a:rPr lang="en-US" sz="820" b="1" spc="80" kern="0" dirty="0">
                <a:solidFill>
                  <a:srgbClr val="2E7D4F"/>
                </a:solidFill>
                <a:latin typeface="Aptos" pitchFamily="34" charset="0"/>
                <a:ea typeface="Aptos" pitchFamily="34" charset="-122"/>
                <a:cs typeface="Aptos" pitchFamily="34" charset="-120"/>
              </a:rPr>
              <a:t>EJECUTA DE VERDAD</a:t>
            </a:r>
            <a:endParaRPr lang="en-US" sz="820" dirty="0"/>
          </a:p>
        </p:txBody>
      </p:sp>
      <p:sp>
        <p:nvSpPr>
          <p:cNvPr id="24" name="Text 21"/>
          <p:cNvSpPr txBox="1"/>
          <p:nvPr/>
        </p:nvSpPr>
        <p:spPr>
          <a:xfrm>
            <a:off x="4551578" y="3364992"/>
            <a:ext cx="3088538" cy="384048"/>
          </a:xfrm>
          <a:prstGeom prst="rect">
            <a:avLst/>
          </a:prstGeom>
          <a:noFill/>
          <a:ln/>
        </p:spPr>
        <p:txBody>
          <a:bodyPr wrap="square" lIns="0" tIns="0" rIns="0" bIns="0" rtlCol="0" anchor="t"/>
          <a:lstStyle/>
          <a:p>
            <a:pPr algn="l" indent="0" marL="0">
              <a:lnSpc>
                <a:spcPct val="112000"/>
              </a:lnSpc>
              <a:buNone/>
            </a:pPr>
            <a:r>
              <a:rPr lang="en-US" sz="1020" dirty="0">
                <a:solidFill>
                  <a:srgbClr val="243B53"/>
                </a:solidFill>
                <a:latin typeface="Aptos" pitchFamily="34" charset="0"/>
                <a:ea typeface="Aptos" pitchFamily="34" charset="-122"/>
                <a:cs typeface="Aptos" pitchFamily="34" charset="-120"/>
              </a:rPr>
              <a:t>Dos o más piezas juntas</a:t>
            </a:r>
            <a:endParaRPr lang="en-US" sz="1020" dirty="0"/>
          </a:p>
        </p:txBody>
      </p:sp>
      <p:sp>
        <p:nvSpPr>
          <p:cNvPr id="25" name="Text 22"/>
          <p:cNvSpPr txBox="1"/>
          <p:nvPr/>
        </p:nvSpPr>
        <p:spPr>
          <a:xfrm>
            <a:off x="4551578" y="3785616"/>
            <a:ext cx="3088538" cy="164592"/>
          </a:xfrm>
          <a:prstGeom prst="rect">
            <a:avLst/>
          </a:prstGeom>
          <a:noFill/>
          <a:ln/>
        </p:spPr>
        <p:txBody>
          <a:bodyPr wrap="square" lIns="0" tIns="0" rIns="0" bIns="0" rtlCol="0" anchor="t"/>
          <a:lstStyle/>
          <a:p>
            <a:pPr algn="l" indent="0" marL="0">
              <a:buNone/>
            </a:pPr>
            <a:r>
              <a:rPr lang="en-US" sz="820" b="1" spc="80" kern="0" dirty="0">
                <a:solidFill>
                  <a:srgbClr val="B3181E"/>
                </a:solidFill>
                <a:latin typeface="Aptos" pitchFamily="34" charset="0"/>
                <a:ea typeface="Aptos" pitchFamily="34" charset="-122"/>
                <a:cs typeface="Aptos" pitchFamily="34" charset="-120"/>
              </a:rPr>
              <a:t>SUSTITUYE</a:t>
            </a:r>
            <a:endParaRPr lang="en-US" sz="820" dirty="0"/>
          </a:p>
        </p:txBody>
      </p:sp>
      <p:sp>
        <p:nvSpPr>
          <p:cNvPr id="26" name="Text 23"/>
          <p:cNvSpPr txBox="1"/>
          <p:nvPr/>
        </p:nvSpPr>
        <p:spPr>
          <a:xfrm>
            <a:off x="4551578" y="3968496"/>
            <a:ext cx="3088538" cy="384048"/>
          </a:xfrm>
          <a:prstGeom prst="rect">
            <a:avLst/>
          </a:prstGeom>
          <a:noFill/>
          <a:ln/>
        </p:spPr>
        <p:txBody>
          <a:bodyPr wrap="square" lIns="0" tIns="0" rIns="0" bIns="0" rtlCol="0" anchor="t"/>
          <a:lstStyle/>
          <a:p>
            <a:pPr algn="l" indent="0" marL="0">
              <a:lnSpc>
                <a:spcPct val="112000"/>
              </a:lnSpc>
              <a:buNone/>
            </a:pPr>
            <a:r>
              <a:rPr lang="en-US" sz="1020" dirty="0">
                <a:solidFill>
                  <a:srgbClr val="52606D"/>
                </a:solidFill>
                <a:latin typeface="Aptos" pitchFamily="34" charset="0"/>
                <a:ea typeface="Aptos" pitchFamily="34" charset="-122"/>
                <a:cs typeface="Aptos" pitchFamily="34" charset="-120"/>
              </a:rPr>
              <a:t>Nada de lo que quiere observar. Por eso la base de datos es real.</a:t>
            </a:r>
            <a:endParaRPr lang="en-US" sz="1020" dirty="0"/>
          </a:p>
        </p:txBody>
      </p:sp>
      <p:sp>
        <p:nvSpPr>
          <p:cNvPr id="27" name="Text 24"/>
          <p:cNvSpPr txBox="1"/>
          <p:nvPr/>
        </p:nvSpPr>
        <p:spPr>
          <a:xfrm>
            <a:off x="4551578" y="4389120"/>
            <a:ext cx="3088538" cy="164592"/>
          </a:xfrm>
          <a:prstGeom prst="rect">
            <a:avLst/>
          </a:prstGeom>
          <a:noFill/>
          <a:ln/>
        </p:spPr>
        <p:txBody>
          <a:bodyPr wrap="square" lIns="0" tIns="0" rIns="0" bIns="0" rtlCol="0" anchor="t"/>
          <a:lstStyle/>
          <a:p>
            <a:pPr algn="l" indent="0" marL="0">
              <a:buNone/>
            </a:pPr>
            <a:r>
              <a:rPr lang="en-US" sz="820" b="1" spc="80" kern="0" dirty="0">
                <a:solidFill>
                  <a:srgbClr val="2E7D4F"/>
                </a:solidFill>
                <a:latin typeface="Aptos" pitchFamily="34" charset="0"/>
                <a:ea typeface="Aptos" pitchFamily="34" charset="-122"/>
                <a:cs typeface="Aptos" pitchFamily="34" charset="-120"/>
              </a:rPr>
              <a:t>Y POR ESO AFIRMA</a:t>
            </a:r>
            <a:endParaRPr lang="en-US" sz="820" dirty="0"/>
          </a:p>
        </p:txBody>
      </p:sp>
      <p:sp>
        <p:nvSpPr>
          <p:cNvPr id="28" name="Text 25"/>
          <p:cNvSpPr txBox="1"/>
          <p:nvPr/>
        </p:nvSpPr>
        <p:spPr>
          <a:xfrm>
            <a:off x="4551578" y="4572000"/>
            <a:ext cx="3088538" cy="384048"/>
          </a:xfrm>
          <a:prstGeom prst="rect">
            <a:avLst/>
          </a:prstGeom>
          <a:noFill/>
          <a:ln/>
        </p:spPr>
        <p:txBody>
          <a:bodyPr wrap="square" lIns="0" tIns="0" rIns="0" bIns="0" rtlCol="0" anchor="t"/>
          <a:lstStyle/>
          <a:p>
            <a:pPr algn="l" indent="0" marL="0">
              <a:lnSpc>
                <a:spcPct val="112000"/>
              </a:lnSpc>
              <a:buNone/>
            </a:pPr>
            <a:r>
              <a:rPr lang="en-US" sz="1020" dirty="0">
                <a:solidFill>
                  <a:srgbClr val="243B53"/>
                </a:solidFill>
                <a:latin typeface="Aptos" pitchFamily="34" charset="0"/>
                <a:ea typeface="Aptos" pitchFamily="34" charset="-122"/>
                <a:cs typeface="Aptos" pitchFamily="34" charset="-120"/>
              </a:rPr>
              <a:t>Que esas piezas se entienden entre sí.</a:t>
            </a:r>
            <a:endParaRPr lang="en-US" sz="1020" dirty="0"/>
          </a:p>
        </p:txBody>
      </p:sp>
      <p:sp>
        <p:nvSpPr>
          <p:cNvPr id="29" name="Shape 26"/>
          <p:cNvSpPr/>
          <p:nvPr/>
        </p:nvSpPr>
        <p:spPr>
          <a:xfrm>
            <a:off x="8005877" y="2377440"/>
            <a:ext cx="3527450" cy="2596896"/>
          </a:xfrm>
          <a:prstGeom prst="rect">
            <a:avLst/>
          </a:prstGeom>
          <a:solidFill>
            <a:srgbClr val="FFFFFF"/>
          </a:solidFill>
          <a:ln w="12700">
            <a:solidFill>
              <a:srgbClr val="FFFFFF"/>
            </a:solidFill>
            <a:prstDash val="solid"/>
          </a:ln>
        </p:spPr>
      </p:sp>
      <p:sp>
        <p:nvSpPr>
          <p:cNvPr id="30" name="Shape 27"/>
          <p:cNvSpPr/>
          <p:nvPr/>
        </p:nvSpPr>
        <p:spPr>
          <a:xfrm>
            <a:off x="8005877" y="2377440"/>
            <a:ext cx="3527450" cy="54864"/>
          </a:xfrm>
          <a:prstGeom prst="rect">
            <a:avLst/>
          </a:prstGeom>
          <a:solidFill>
            <a:srgbClr val="2E7D4F"/>
          </a:solidFill>
          <a:ln w="12700">
            <a:solidFill>
              <a:srgbClr val="2E7D4F"/>
            </a:solidFill>
            <a:prstDash val="solid"/>
          </a:ln>
        </p:spPr>
      </p:sp>
      <p:sp>
        <p:nvSpPr>
          <p:cNvPr id="31" name="Text 28"/>
          <p:cNvSpPr txBox="1"/>
          <p:nvPr/>
        </p:nvSpPr>
        <p:spPr>
          <a:xfrm>
            <a:off x="8225333" y="2560320"/>
            <a:ext cx="3088538" cy="548640"/>
          </a:xfrm>
          <a:prstGeom prst="rect">
            <a:avLst/>
          </a:prstGeom>
          <a:noFill/>
          <a:ln/>
        </p:spPr>
        <p:txBody>
          <a:bodyPr wrap="square" lIns="0" tIns="0" rIns="0" bIns="0" rtlCol="0" anchor="t"/>
          <a:lstStyle/>
          <a:p>
            <a:pPr algn="l" indent="0" marL="0">
              <a:lnSpc>
                <a:spcPct val="106000"/>
              </a:lnSpc>
              <a:buNone/>
            </a:pPr>
            <a:r>
              <a:rPr lang="en-US" sz="1600" b="1" dirty="0">
                <a:solidFill>
                  <a:srgbClr val="2E7D4F"/>
                </a:solidFill>
                <a:latin typeface="Aptos" pitchFamily="34" charset="0"/>
                <a:ea typeface="Aptos" pitchFamily="34" charset="-122"/>
                <a:cs typeface="Aptos" pitchFamily="34" charset="-120"/>
              </a:rPr>
              <a:t>Prueba de extremo a extremo</a:t>
            </a:r>
            <a:endParaRPr lang="en-US" sz="1600" dirty="0"/>
          </a:p>
        </p:txBody>
      </p:sp>
      <p:sp>
        <p:nvSpPr>
          <p:cNvPr id="32" name="Text 29"/>
          <p:cNvSpPr txBox="1"/>
          <p:nvPr/>
        </p:nvSpPr>
        <p:spPr>
          <a:xfrm>
            <a:off x="8225333" y="3182112"/>
            <a:ext cx="3088538" cy="164592"/>
          </a:xfrm>
          <a:prstGeom prst="rect">
            <a:avLst/>
          </a:prstGeom>
          <a:noFill/>
          <a:ln/>
        </p:spPr>
        <p:txBody>
          <a:bodyPr wrap="square" lIns="0" tIns="0" rIns="0" bIns="0" rtlCol="0" anchor="t"/>
          <a:lstStyle/>
          <a:p>
            <a:pPr algn="l" indent="0" marL="0">
              <a:buNone/>
            </a:pPr>
            <a:r>
              <a:rPr lang="en-US" sz="820" b="1" spc="80" kern="0" dirty="0">
                <a:solidFill>
                  <a:srgbClr val="2E7D4F"/>
                </a:solidFill>
                <a:latin typeface="Aptos" pitchFamily="34" charset="0"/>
                <a:ea typeface="Aptos" pitchFamily="34" charset="-122"/>
                <a:cs typeface="Aptos" pitchFamily="34" charset="-120"/>
              </a:rPr>
              <a:t>EJECUTA DE VERDAD</a:t>
            </a:r>
            <a:endParaRPr lang="en-US" sz="820" dirty="0"/>
          </a:p>
        </p:txBody>
      </p:sp>
      <p:sp>
        <p:nvSpPr>
          <p:cNvPr id="33" name="Text 30"/>
          <p:cNvSpPr txBox="1"/>
          <p:nvPr/>
        </p:nvSpPr>
        <p:spPr>
          <a:xfrm>
            <a:off x="8225333" y="3364992"/>
            <a:ext cx="3088538" cy="384048"/>
          </a:xfrm>
          <a:prstGeom prst="rect">
            <a:avLst/>
          </a:prstGeom>
          <a:noFill/>
          <a:ln/>
        </p:spPr>
        <p:txBody>
          <a:bodyPr wrap="square" lIns="0" tIns="0" rIns="0" bIns="0" rtlCol="0" anchor="t"/>
          <a:lstStyle/>
          <a:p>
            <a:pPr algn="l" indent="0" marL="0">
              <a:lnSpc>
                <a:spcPct val="112000"/>
              </a:lnSpc>
              <a:buNone/>
            </a:pPr>
            <a:r>
              <a:rPr lang="en-US" sz="1020" dirty="0">
                <a:solidFill>
                  <a:srgbClr val="243B53"/>
                </a:solidFill>
                <a:latin typeface="Aptos" pitchFamily="34" charset="0"/>
                <a:ea typeface="Aptos" pitchFamily="34" charset="-122"/>
                <a:cs typeface="Aptos" pitchFamily="34" charset="-120"/>
              </a:rPr>
              <a:t>El sistema completo</a:t>
            </a:r>
            <a:endParaRPr lang="en-US" sz="1020" dirty="0"/>
          </a:p>
        </p:txBody>
      </p:sp>
      <p:sp>
        <p:nvSpPr>
          <p:cNvPr id="34" name="Text 31"/>
          <p:cNvSpPr txBox="1"/>
          <p:nvPr/>
        </p:nvSpPr>
        <p:spPr>
          <a:xfrm>
            <a:off x="8225333" y="3785616"/>
            <a:ext cx="3088538" cy="164592"/>
          </a:xfrm>
          <a:prstGeom prst="rect">
            <a:avLst/>
          </a:prstGeom>
          <a:noFill/>
          <a:ln/>
        </p:spPr>
        <p:txBody>
          <a:bodyPr wrap="square" lIns="0" tIns="0" rIns="0" bIns="0" rtlCol="0" anchor="t"/>
          <a:lstStyle/>
          <a:p>
            <a:pPr algn="l" indent="0" marL="0">
              <a:buNone/>
            </a:pPr>
            <a:r>
              <a:rPr lang="en-US" sz="820" b="1" spc="80" kern="0" dirty="0">
                <a:solidFill>
                  <a:srgbClr val="B3181E"/>
                </a:solidFill>
                <a:latin typeface="Aptos" pitchFamily="34" charset="0"/>
                <a:ea typeface="Aptos" pitchFamily="34" charset="-122"/>
                <a:cs typeface="Aptos" pitchFamily="34" charset="-120"/>
              </a:rPr>
              <a:t>SUSTITUYE</a:t>
            </a:r>
            <a:endParaRPr lang="en-US" sz="820" dirty="0"/>
          </a:p>
        </p:txBody>
      </p:sp>
      <p:sp>
        <p:nvSpPr>
          <p:cNvPr id="35" name="Text 32"/>
          <p:cNvSpPr txBox="1"/>
          <p:nvPr/>
        </p:nvSpPr>
        <p:spPr>
          <a:xfrm>
            <a:off x="8225333" y="3968496"/>
            <a:ext cx="3088538" cy="384048"/>
          </a:xfrm>
          <a:prstGeom prst="rect">
            <a:avLst/>
          </a:prstGeom>
          <a:noFill/>
          <a:ln/>
        </p:spPr>
        <p:txBody>
          <a:bodyPr wrap="square" lIns="0" tIns="0" rIns="0" bIns="0" rtlCol="0" anchor="t"/>
          <a:lstStyle/>
          <a:p>
            <a:pPr algn="l" indent="0" marL="0">
              <a:lnSpc>
                <a:spcPct val="112000"/>
              </a:lnSpc>
              <a:buNone/>
            </a:pPr>
            <a:r>
              <a:rPr lang="en-US" sz="1020" dirty="0">
                <a:solidFill>
                  <a:srgbClr val="52606D"/>
                </a:solidFill>
                <a:latin typeface="Aptos" pitchFamily="34" charset="0"/>
                <a:ea typeface="Aptos" pitchFamily="34" charset="-122"/>
                <a:cs typeface="Aptos" pitchFamily="34" charset="-120"/>
              </a:rPr>
              <a:t>Nada. Se recorre por donde lo usa una persona, con navegador incluido.</a:t>
            </a:r>
            <a:endParaRPr lang="en-US" sz="1020" dirty="0"/>
          </a:p>
        </p:txBody>
      </p:sp>
      <p:sp>
        <p:nvSpPr>
          <p:cNvPr id="36" name="Text 33"/>
          <p:cNvSpPr txBox="1"/>
          <p:nvPr/>
        </p:nvSpPr>
        <p:spPr>
          <a:xfrm>
            <a:off x="8225333" y="4389120"/>
            <a:ext cx="3088538" cy="164592"/>
          </a:xfrm>
          <a:prstGeom prst="rect">
            <a:avLst/>
          </a:prstGeom>
          <a:noFill/>
          <a:ln/>
        </p:spPr>
        <p:txBody>
          <a:bodyPr wrap="square" lIns="0" tIns="0" rIns="0" bIns="0" rtlCol="0" anchor="t"/>
          <a:lstStyle/>
          <a:p>
            <a:pPr algn="l" indent="0" marL="0">
              <a:buNone/>
            </a:pPr>
            <a:r>
              <a:rPr lang="en-US" sz="820" b="1" spc="80" kern="0" dirty="0">
                <a:solidFill>
                  <a:srgbClr val="2E7D4F"/>
                </a:solidFill>
                <a:latin typeface="Aptos" pitchFamily="34" charset="0"/>
                <a:ea typeface="Aptos" pitchFamily="34" charset="-122"/>
                <a:cs typeface="Aptos" pitchFamily="34" charset="-120"/>
              </a:rPr>
              <a:t>Y POR ESO AFIRMA</a:t>
            </a:r>
            <a:endParaRPr lang="en-US" sz="820" dirty="0"/>
          </a:p>
        </p:txBody>
      </p:sp>
      <p:sp>
        <p:nvSpPr>
          <p:cNvPr id="37" name="Text 34"/>
          <p:cNvSpPr txBox="1"/>
          <p:nvPr/>
        </p:nvSpPr>
        <p:spPr>
          <a:xfrm>
            <a:off x="8225333" y="4572000"/>
            <a:ext cx="3088538" cy="384048"/>
          </a:xfrm>
          <a:prstGeom prst="rect">
            <a:avLst/>
          </a:prstGeom>
          <a:noFill/>
          <a:ln/>
        </p:spPr>
        <p:txBody>
          <a:bodyPr wrap="square" lIns="0" tIns="0" rIns="0" bIns="0" rtlCol="0" anchor="t"/>
          <a:lstStyle/>
          <a:p>
            <a:pPr algn="l" indent="0" marL="0">
              <a:lnSpc>
                <a:spcPct val="112000"/>
              </a:lnSpc>
              <a:buNone/>
            </a:pPr>
            <a:r>
              <a:rPr lang="en-US" sz="1020" dirty="0">
                <a:solidFill>
                  <a:srgbClr val="243B53"/>
                </a:solidFill>
                <a:latin typeface="Aptos" pitchFamily="34" charset="0"/>
                <a:ea typeface="Aptos" pitchFamily="34" charset="-122"/>
                <a:cs typeface="Aptos" pitchFamily="34" charset="-120"/>
              </a:rPr>
              <a:t>Que el sistema sirve para lo que fue construido.</a:t>
            </a:r>
            <a:endParaRPr lang="en-US" sz="1020" dirty="0"/>
          </a:p>
        </p:txBody>
      </p:sp>
      <p:sp>
        <p:nvSpPr>
          <p:cNvPr id="38" name="Shape 35"/>
          <p:cNvSpPr/>
          <p:nvPr/>
        </p:nvSpPr>
        <p:spPr>
          <a:xfrm>
            <a:off x="658368" y="5120640"/>
            <a:ext cx="10874959" cy="402336"/>
          </a:xfrm>
          <a:prstGeom prst="rect">
            <a:avLst/>
          </a:prstGeom>
          <a:solidFill>
            <a:srgbClr val="1D3A57"/>
          </a:solidFill>
          <a:ln w="12700">
            <a:solidFill>
              <a:srgbClr val="1D3A57"/>
            </a:solidFill>
            <a:prstDash val="solid"/>
          </a:ln>
        </p:spPr>
      </p:sp>
      <p:sp>
        <p:nvSpPr>
          <p:cNvPr id="39" name="Text 36"/>
          <p:cNvSpPr txBox="1"/>
          <p:nvPr/>
        </p:nvSpPr>
        <p:spPr>
          <a:xfrm>
            <a:off x="932688" y="5175504"/>
            <a:ext cx="10326319" cy="292608"/>
          </a:xfrm>
          <a:prstGeom prst="rect">
            <a:avLst/>
          </a:prstGeom>
          <a:noFill/>
          <a:ln/>
        </p:spPr>
        <p:txBody>
          <a:bodyPr wrap="square" lIns="0" tIns="0" rIns="0" bIns="0" rtlCol="0" anchor="t"/>
          <a:lstStyle/>
          <a:p>
            <a:pPr algn="ctr" indent="0" marL="0">
              <a:buNone/>
            </a:pPr>
            <a:r>
              <a:rPr lang="en-US" sz="1240" b="1" dirty="0">
                <a:solidFill>
                  <a:srgbClr val="FFFFFF"/>
                </a:solidFill>
                <a:latin typeface="Aptos" pitchFamily="34" charset="0"/>
                <a:ea typeface="Aptos" pitchFamily="34" charset="-122"/>
                <a:cs typeface="Aptos" pitchFamily="34" charset="-120"/>
              </a:rPr>
              <a:t>Una prueba que sustituye justamente la colaboración que dice verificar es una prueba unitaria con otro nombre.</a:t>
            </a:r>
            <a:endParaRPr lang="en-US" sz="1240" dirty="0"/>
          </a:p>
        </p:txBody>
      </p:sp>
      <p:sp>
        <p:nvSpPr>
          <p:cNvPr id="40" name="Shape 37"/>
          <p:cNvSpPr/>
          <p:nvPr/>
        </p:nvSpPr>
        <p:spPr>
          <a:xfrm>
            <a:off x="658368" y="5650992"/>
            <a:ext cx="10874959" cy="548640"/>
          </a:xfrm>
          <a:prstGeom prst="rect">
            <a:avLst/>
          </a:prstGeom>
          <a:solidFill>
            <a:srgbClr val="102A43"/>
          </a:solidFill>
          <a:ln w="12700">
            <a:solidFill>
              <a:srgbClr val="102A43"/>
            </a:solidFill>
            <a:prstDash val="solid"/>
          </a:ln>
        </p:spPr>
      </p:sp>
      <p:sp>
        <p:nvSpPr>
          <p:cNvPr id="41" name="Text 38"/>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El nivel no lo decide cuántas líneas tiene la prueba.</a:t>
            </a:r>
            <a:endParaRPr lang="en-US" sz="138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23</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2 · LA REGLA</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El nivel lo decide dónde cabe el fallo</a:t>
            </a:r>
            <a:endParaRPr lang="en-US" sz="3000" dirty="0"/>
          </a:p>
        </p:txBody>
      </p:sp>
      <p:sp>
        <p:nvSpPr>
          <p:cNvPr id="10" name="Text 7"/>
          <p:cNvSpPr txBox="1"/>
          <p:nvPr/>
        </p:nvSpPr>
        <p:spPr>
          <a:xfrm>
            <a:off x="658368" y="1664208"/>
            <a:ext cx="10424160" cy="347472"/>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La fuente dice que el análisis de riesgo determina los niveles de prueba, pero no cómo. La regla sale del criterio de la sesión de integración.</a:t>
            </a:r>
            <a:endParaRPr lang="en-US" sz="1420" dirty="0"/>
          </a:p>
        </p:txBody>
      </p:sp>
      <p:sp>
        <p:nvSpPr>
          <p:cNvPr id="11" name="Shape 8"/>
          <p:cNvSpPr/>
          <p:nvPr/>
        </p:nvSpPr>
        <p:spPr>
          <a:xfrm>
            <a:off x="658368" y="2231136"/>
            <a:ext cx="10874959" cy="566928"/>
          </a:xfrm>
          <a:prstGeom prst="rect">
            <a:avLst/>
          </a:prstGeom>
          <a:solidFill>
            <a:srgbClr val="1D3A57"/>
          </a:solidFill>
          <a:ln w="12700">
            <a:solidFill>
              <a:srgbClr val="1D3A57"/>
            </a:solidFill>
            <a:prstDash val="solid"/>
          </a:ln>
        </p:spPr>
      </p:sp>
      <p:sp>
        <p:nvSpPr>
          <p:cNvPr id="12" name="Text 9"/>
          <p:cNvSpPr txBox="1"/>
          <p:nvPr/>
        </p:nvSpPr>
        <p:spPr>
          <a:xfrm>
            <a:off x="932688" y="2286000"/>
            <a:ext cx="10326319" cy="457200"/>
          </a:xfrm>
          <a:prstGeom prst="rect">
            <a:avLst/>
          </a:prstGeom>
          <a:noFill/>
          <a:ln/>
        </p:spPr>
        <p:txBody>
          <a:bodyPr wrap="square" lIns="0" tIns="0" rIns="0" bIns="0" rtlCol="0" anchor="ctr"/>
          <a:lstStyle/>
          <a:p>
            <a:pPr algn="ctr" indent="0" marL="0">
              <a:buNone/>
            </a:pPr>
            <a:r>
              <a:rPr lang="en-US" sz="1540" b="1" dirty="0">
                <a:solidFill>
                  <a:srgbClr val="FFFFFF"/>
                </a:solidFill>
                <a:latin typeface="Aptos" pitchFamily="34" charset="0"/>
                <a:ea typeface="Aptos" pitchFamily="34" charset="-122"/>
                <a:cs typeface="Aptos" pitchFamily="34" charset="-120"/>
              </a:rPr>
              <a:t>El arreglo más pequeño de piezas en el que el evento adverso puede ocurrir.</a:t>
            </a:r>
            <a:endParaRPr lang="en-US" sz="1540" dirty="0"/>
          </a:p>
        </p:txBody>
      </p:sp>
      <p:sp>
        <p:nvSpPr>
          <p:cNvPr id="13" name="Shape 10"/>
          <p:cNvSpPr/>
          <p:nvPr/>
        </p:nvSpPr>
        <p:spPr>
          <a:xfrm>
            <a:off x="658368" y="3017520"/>
            <a:ext cx="10874959" cy="530352"/>
          </a:xfrm>
          <a:prstGeom prst="rect">
            <a:avLst/>
          </a:prstGeom>
          <a:solidFill>
            <a:srgbClr val="FFFFFF"/>
          </a:solidFill>
          <a:ln w="12700">
            <a:solidFill>
              <a:srgbClr val="FFFFFF"/>
            </a:solidFill>
            <a:prstDash val="solid"/>
          </a:ln>
        </p:spPr>
      </p:sp>
      <p:sp>
        <p:nvSpPr>
          <p:cNvPr id="14" name="Shape 11"/>
          <p:cNvSpPr/>
          <p:nvPr/>
        </p:nvSpPr>
        <p:spPr>
          <a:xfrm>
            <a:off x="658368" y="3017520"/>
            <a:ext cx="54864" cy="530352"/>
          </a:xfrm>
          <a:prstGeom prst="rect">
            <a:avLst/>
          </a:prstGeom>
          <a:solidFill>
            <a:srgbClr val="2E7D4F"/>
          </a:solidFill>
          <a:ln w="12700">
            <a:solidFill>
              <a:srgbClr val="2E7D4F"/>
            </a:solidFill>
            <a:prstDash val="solid"/>
          </a:ln>
        </p:spPr>
      </p:sp>
      <p:sp>
        <p:nvSpPr>
          <p:cNvPr id="15" name="Text 12"/>
          <p:cNvSpPr txBox="1"/>
          <p:nvPr/>
        </p:nvSpPr>
        <p:spPr>
          <a:xfrm>
            <a:off x="896112" y="3172968"/>
            <a:ext cx="731520" cy="219456"/>
          </a:xfrm>
          <a:prstGeom prst="rect">
            <a:avLst/>
          </a:prstGeom>
          <a:noFill/>
          <a:ln/>
        </p:spPr>
        <p:txBody>
          <a:bodyPr wrap="square" lIns="0" tIns="0" rIns="0" bIns="0" rtlCol="0" anchor="t"/>
          <a:lstStyle/>
          <a:p>
            <a:pPr algn="l" indent="0" marL="0">
              <a:buNone/>
            </a:pPr>
            <a:r>
              <a:rPr lang="en-US" sz="1060" b="1" dirty="0">
                <a:solidFill>
                  <a:srgbClr val="2E7D4F"/>
                </a:solidFill>
                <a:latin typeface="Aptos" pitchFamily="34" charset="0"/>
                <a:ea typeface="Aptos" pitchFamily="34" charset="-122"/>
                <a:cs typeface="Aptos" pitchFamily="34" charset="-120"/>
              </a:rPr>
              <a:t>RP6</a:t>
            </a:r>
            <a:endParaRPr lang="en-US" sz="1060" dirty="0"/>
          </a:p>
        </p:txBody>
      </p:sp>
      <p:sp>
        <p:nvSpPr>
          <p:cNvPr id="16" name="Text 13"/>
          <p:cNvSpPr txBox="1"/>
          <p:nvPr/>
        </p:nvSpPr>
        <p:spPr>
          <a:xfrm>
            <a:off x="1719072" y="3172968"/>
            <a:ext cx="3566160" cy="219456"/>
          </a:xfrm>
          <a:prstGeom prst="rect">
            <a:avLst/>
          </a:prstGeom>
          <a:noFill/>
          <a:ln/>
        </p:spPr>
        <p:txBody>
          <a:bodyPr wrap="square" lIns="0" tIns="0" rIns="0" bIns="0" rtlCol="0" anchor="t"/>
          <a:lstStyle/>
          <a:p>
            <a:pPr algn="l" indent="0" marL="0">
              <a:buNone/>
            </a:pPr>
            <a:r>
              <a:rPr lang="en-US" sz="1120" dirty="0">
                <a:solidFill>
                  <a:srgbClr val="243B53"/>
                </a:solidFill>
                <a:latin typeface="Aptos" pitchFamily="34" charset="0"/>
                <a:ea typeface="Aptos" pitchFamily="34" charset="-122"/>
                <a:cs typeface="Aptos" pitchFamily="34" charset="-120"/>
              </a:rPr>
              <a:t>El comprobante muestra el RUT completo</a:t>
            </a:r>
            <a:endParaRPr lang="en-US" sz="1120" dirty="0"/>
          </a:p>
        </p:txBody>
      </p:sp>
      <p:sp>
        <p:nvSpPr>
          <p:cNvPr id="17" name="Shape 14"/>
          <p:cNvSpPr/>
          <p:nvPr/>
        </p:nvSpPr>
        <p:spPr>
          <a:xfrm>
            <a:off x="4754880" y="3282696"/>
            <a:ext cx="402336" cy="0"/>
          </a:xfrm>
          <a:prstGeom prst="line">
            <a:avLst/>
          </a:prstGeom>
          <a:noFill/>
          <a:ln w="12700">
            <a:solidFill>
              <a:srgbClr val="D8CFC4"/>
            </a:solidFill>
            <a:prstDash val="solid"/>
            <a:headEnd type="none"/>
            <a:tailEnd type="triangle"/>
          </a:ln>
        </p:spPr>
      </p:sp>
      <p:sp>
        <p:nvSpPr>
          <p:cNvPr id="18" name="Text 15"/>
          <p:cNvSpPr txBox="1"/>
          <p:nvPr/>
        </p:nvSpPr>
        <p:spPr>
          <a:xfrm>
            <a:off x="5285232" y="3172968"/>
            <a:ext cx="4114800" cy="219456"/>
          </a:xfrm>
          <a:prstGeom prst="rect">
            <a:avLst/>
          </a:prstGeom>
          <a:noFill/>
          <a:ln/>
        </p:spPr>
        <p:txBody>
          <a:bodyPr wrap="square" lIns="0" tIns="0" rIns="0" bIns="0" rtlCol="0" anchor="t"/>
          <a:lstStyle/>
          <a:p>
            <a:pPr algn="l" indent="0" marL="0">
              <a:buNone/>
            </a:pPr>
            <a:r>
              <a:rPr lang="en-US" sz="1080" i="1" dirty="0">
                <a:solidFill>
                  <a:srgbClr val="52606D"/>
                </a:solidFill>
                <a:latin typeface="Aptos" pitchFamily="34" charset="0"/>
                <a:ea typeface="Aptos" pitchFamily="34" charset="-122"/>
                <a:cs typeface="Aptos" pitchFamily="34" charset="-120"/>
              </a:rPr>
              <a:t>Dentro de una función que recibe los datos y arma el texto</a:t>
            </a:r>
            <a:endParaRPr lang="en-US" sz="1080" dirty="0"/>
          </a:p>
        </p:txBody>
      </p:sp>
      <p:sp>
        <p:nvSpPr>
          <p:cNvPr id="19" name="Shape 16"/>
          <p:cNvSpPr/>
          <p:nvPr/>
        </p:nvSpPr>
        <p:spPr>
          <a:xfrm>
            <a:off x="9528048" y="3108960"/>
            <a:ext cx="2002536" cy="347472"/>
          </a:xfrm>
          <a:prstGeom prst="rect">
            <a:avLst/>
          </a:prstGeom>
          <a:solidFill>
            <a:srgbClr val="2E7D4F"/>
          </a:solidFill>
          <a:ln w="12700">
            <a:solidFill>
              <a:srgbClr val="2E7D4F"/>
            </a:solidFill>
            <a:prstDash val="solid"/>
          </a:ln>
        </p:spPr>
      </p:sp>
      <p:sp>
        <p:nvSpPr>
          <p:cNvPr id="20" name="Text 17"/>
          <p:cNvSpPr txBox="1"/>
          <p:nvPr/>
        </p:nvSpPr>
        <p:spPr>
          <a:xfrm>
            <a:off x="9582912" y="3154680"/>
            <a:ext cx="1892808" cy="256032"/>
          </a:xfrm>
          <a:prstGeom prst="rect">
            <a:avLst/>
          </a:prstGeom>
          <a:noFill/>
          <a:ln/>
        </p:spPr>
        <p:txBody>
          <a:bodyPr wrap="square" lIns="0" tIns="0" rIns="0" bIns="0" rtlCol="0" anchor="ctr"/>
          <a:lstStyle/>
          <a:p>
            <a:pPr algn="ctr" indent="0" marL="0">
              <a:buNone/>
            </a:pPr>
            <a:r>
              <a:rPr lang="en-US" sz="980" b="1" spc="80" kern="0" dirty="0">
                <a:solidFill>
                  <a:srgbClr val="FFFFFF"/>
                </a:solidFill>
                <a:latin typeface="Aptos" pitchFamily="34" charset="0"/>
                <a:ea typeface="Aptos" pitchFamily="34" charset="-122"/>
                <a:cs typeface="Aptos" pitchFamily="34" charset="-120"/>
              </a:rPr>
              <a:t>UNITARIA</a:t>
            </a:r>
            <a:endParaRPr lang="en-US" sz="980" dirty="0"/>
          </a:p>
        </p:txBody>
      </p:sp>
      <p:sp>
        <p:nvSpPr>
          <p:cNvPr id="21" name="Shape 18"/>
          <p:cNvSpPr/>
          <p:nvPr/>
        </p:nvSpPr>
        <p:spPr>
          <a:xfrm>
            <a:off x="658368" y="3621024"/>
            <a:ext cx="10874959" cy="530352"/>
          </a:xfrm>
          <a:prstGeom prst="rect">
            <a:avLst/>
          </a:prstGeom>
          <a:solidFill>
            <a:srgbClr val="EDE6DA"/>
          </a:solidFill>
          <a:ln w="12700">
            <a:solidFill>
              <a:srgbClr val="EDE6DA"/>
            </a:solidFill>
            <a:prstDash val="solid"/>
          </a:ln>
        </p:spPr>
      </p:sp>
      <p:sp>
        <p:nvSpPr>
          <p:cNvPr id="22" name="Shape 19"/>
          <p:cNvSpPr/>
          <p:nvPr/>
        </p:nvSpPr>
        <p:spPr>
          <a:xfrm>
            <a:off x="658368" y="3621024"/>
            <a:ext cx="54864" cy="530352"/>
          </a:xfrm>
          <a:prstGeom prst="rect">
            <a:avLst/>
          </a:prstGeom>
          <a:solidFill>
            <a:srgbClr val="102A43"/>
          </a:solidFill>
          <a:ln w="12700">
            <a:solidFill>
              <a:srgbClr val="102A43"/>
            </a:solidFill>
            <a:prstDash val="solid"/>
          </a:ln>
        </p:spPr>
      </p:sp>
      <p:sp>
        <p:nvSpPr>
          <p:cNvPr id="23" name="Text 20"/>
          <p:cNvSpPr txBox="1"/>
          <p:nvPr/>
        </p:nvSpPr>
        <p:spPr>
          <a:xfrm>
            <a:off x="896112" y="3776472"/>
            <a:ext cx="731520" cy="219456"/>
          </a:xfrm>
          <a:prstGeom prst="rect">
            <a:avLst/>
          </a:prstGeom>
          <a:noFill/>
          <a:ln/>
        </p:spPr>
        <p:txBody>
          <a:bodyPr wrap="square" lIns="0" tIns="0" rIns="0" bIns="0" rtlCol="0" anchor="t"/>
          <a:lstStyle/>
          <a:p>
            <a:pPr algn="l" indent="0" marL="0">
              <a:buNone/>
            </a:pPr>
            <a:r>
              <a:rPr lang="en-US" sz="1060" b="1" dirty="0">
                <a:solidFill>
                  <a:srgbClr val="102A43"/>
                </a:solidFill>
                <a:latin typeface="Aptos" pitchFamily="34" charset="0"/>
                <a:ea typeface="Aptos" pitchFamily="34" charset="-122"/>
                <a:cs typeface="Aptos" pitchFamily="34" charset="-120"/>
              </a:rPr>
              <a:t>RP2</a:t>
            </a:r>
            <a:endParaRPr lang="en-US" sz="1060" dirty="0"/>
          </a:p>
        </p:txBody>
      </p:sp>
      <p:sp>
        <p:nvSpPr>
          <p:cNvPr id="24" name="Text 21"/>
          <p:cNvSpPr txBox="1"/>
          <p:nvPr/>
        </p:nvSpPr>
        <p:spPr>
          <a:xfrm>
            <a:off x="1719072" y="3776472"/>
            <a:ext cx="3566160" cy="219456"/>
          </a:xfrm>
          <a:prstGeom prst="rect">
            <a:avLst/>
          </a:prstGeom>
          <a:noFill/>
          <a:ln/>
        </p:spPr>
        <p:txBody>
          <a:bodyPr wrap="square" lIns="0" tIns="0" rIns="0" bIns="0" rtlCol="0" anchor="t"/>
          <a:lstStyle/>
          <a:p>
            <a:pPr algn="l" indent="0" marL="0">
              <a:buNone/>
            </a:pPr>
            <a:r>
              <a:rPr lang="en-US" sz="1120" dirty="0">
                <a:solidFill>
                  <a:srgbClr val="243B53"/>
                </a:solidFill>
                <a:latin typeface="Aptos" pitchFamily="34" charset="0"/>
                <a:ea typeface="Aptos" pitchFamily="34" charset="-122"/>
                <a:cs typeface="Aptos" pitchFamily="34" charset="-120"/>
              </a:rPr>
              <a:t>La cuota cuenta todas las reservas históricas</a:t>
            </a:r>
            <a:endParaRPr lang="en-US" sz="1120" dirty="0"/>
          </a:p>
        </p:txBody>
      </p:sp>
      <p:sp>
        <p:nvSpPr>
          <p:cNvPr id="25" name="Shape 22"/>
          <p:cNvSpPr/>
          <p:nvPr/>
        </p:nvSpPr>
        <p:spPr>
          <a:xfrm>
            <a:off x="4754880" y="3886200"/>
            <a:ext cx="402336" cy="0"/>
          </a:xfrm>
          <a:prstGeom prst="line">
            <a:avLst/>
          </a:prstGeom>
          <a:noFill/>
          <a:ln w="12700">
            <a:solidFill>
              <a:srgbClr val="D8CFC4"/>
            </a:solidFill>
            <a:prstDash val="solid"/>
            <a:headEnd type="none"/>
            <a:tailEnd type="triangle"/>
          </a:ln>
        </p:spPr>
      </p:sp>
      <p:sp>
        <p:nvSpPr>
          <p:cNvPr id="26" name="Text 23"/>
          <p:cNvSpPr txBox="1"/>
          <p:nvPr/>
        </p:nvSpPr>
        <p:spPr>
          <a:xfrm>
            <a:off x="5285232" y="3776472"/>
            <a:ext cx="4114800" cy="219456"/>
          </a:xfrm>
          <a:prstGeom prst="rect">
            <a:avLst/>
          </a:prstGeom>
          <a:noFill/>
          <a:ln/>
        </p:spPr>
        <p:txBody>
          <a:bodyPr wrap="square" lIns="0" tIns="0" rIns="0" bIns="0" rtlCol="0" anchor="t"/>
          <a:lstStyle/>
          <a:p>
            <a:pPr algn="l" indent="0" marL="0">
              <a:buNone/>
            </a:pPr>
            <a:r>
              <a:rPr lang="en-US" sz="1080" i="1" dirty="0">
                <a:solidFill>
                  <a:srgbClr val="52606D"/>
                </a:solidFill>
                <a:latin typeface="Aptos" pitchFamily="34" charset="0"/>
                <a:ea typeface="Aptos" pitchFamily="34" charset="-122"/>
                <a:cs typeface="Aptos" pitchFamily="34" charset="-120"/>
              </a:rPr>
              <a:t>Solo cuando la ruta consulta la base de datos</a:t>
            </a:r>
            <a:endParaRPr lang="en-US" sz="1080" dirty="0"/>
          </a:p>
        </p:txBody>
      </p:sp>
      <p:sp>
        <p:nvSpPr>
          <p:cNvPr id="27" name="Shape 24"/>
          <p:cNvSpPr/>
          <p:nvPr/>
        </p:nvSpPr>
        <p:spPr>
          <a:xfrm>
            <a:off x="9528048" y="3712464"/>
            <a:ext cx="2002536" cy="347472"/>
          </a:xfrm>
          <a:prstGeom prst="rect">
            <a:avLst/>
          </a:prstGeom>
          <a:solidFill>
            <a:srgbClr val="102A43"/>
          </a:solidFill>
          <a:ln w="12700">
            <a:solidFill>
              <a:srgbClr val="102A43"/>
            </a:solidFill>
            <a:prstDash val="solid"/>
          </a:ln>
        </p:spPr>
      </p:sp>
      <p:sp>
        <p:nvSpPr>
          <p:cNvPr id="28" name="Text 25"/>
          <p:cNvSpPr txBox="1"/>
          <p:nvPr/>
        </p:nvSpPr>
        <p:spPr>
          <a:xfrm>
            <a:off x="9582912" y="3758184"/>
            <a:ext cx="1892808" cy="256032"/>
          </a:xfrm>
          <a:prstGeom prst="rect">
            <a:avLst/>
          </a:prstGeom>
          <a:noFill/>
          <a:ln/>
        </p:spPr>
        <p:txBody>
          <a:bodyPr wrap="square" lIns="0" tIns="0" rIns="0" bIns="0" rtlCol="0" anchor="ctr"/>
          <a:lstStyle/>
          <a:p>
            <a:pPr algn="ctr" indent="0" marL="0">
              <a:buNone/>
            </a:pPr>
            <a:r>
              <a:rPr lang="en-US" sz="980" b="1" spc="80" kern="0" dirty="0">
                <a:solidFill>
                  <a:srgbClr val="FFFFFF"/>
                </a:solidFill>
                <a:latin typeface="Aptos" pitchFamily="34" charset="0"/>
                <a:ea typeface="Aptos" pitchFamily="34" charset="-122"/>
                <a:cs typeface="Aptos" pitchFamily="34" charset="-120"/>
              </a:rPr>
              <a:t>INTEGRACIÓN</a:t>
            </a:r>
            <a:endParaRPr lang="en-US" sz="980" dirty="0"/>
          </a:p>
        </p:txBody>
      </p:sp>
      <p:sp>
        <p:nvSpPr>
          <p:cNvPr id="29" name="Shape 26"/>
          <p:cNvSpPr/>
          <p:nvPr/>
        </p:nvSpPr>
        <p:spPr>
          <a:xfrm>
            <a:off x="658368" y="4224528"/>
            <a:ext cx="10874959" cy="530352"/>
          </a:xfrm>
          <a:prstGeom prst="rect">
            <a:avLst/>
          </a:prstGeom>
          <a:solidFill>
            <a:srgbClr val="FFFFFF"/>
          </a:solidFill>
          <a:ln w="12700">
            <a:solidFill>
              <a:srgbClr val="FFFFFF"/>
            </a:solidFill>
            <a:prstDash val="solid"/>
          </a:ln>
        </p:spPr>
      </p:sp>
      <p:sp>
        <p:nvSpPr>
          <p:cNvPr id="30" name="Shape 27"/>
          <p:cNvSpPr/>
          <p:nvPr/>
        </p:nvSpPr>
        <p:spPr>
          <a:xfrm>
            <a:off x="658368" y="4224528"/>
            <a:ext cx="54864" cy="530352"/>
          </a:xfrm>
          <a:prstGeom prst="rect">
            <a:avLst/>
          </a:prstGeom>
          <a:solidFill>
            <a:srgbClr val="102A43"/>
          </a:solidFill>
          <a:ln w="12700">
            <a:solidFill>
              <a:srgbClr val="102A43"/>
            </a:solidFill>
            <a:prstDash val="solid"/>
          </a:ln>
        </p:spPr>
      </p:sp>
      <p:sp>
        <p:nvSpPr>
          <p:cNvPr id="31" name="Text 28"/>
          <p:cNvSpPr txBox="1"/>
          <p:nvPr/>
        </p:nvSpPr>
        <p:spPr>
          <a:xfrm>
            <a:off x="896112" y="4379976"/>
            <a:ext cx="731520" cy="219456"/>
          </a:xfrm>
          <a:prstGeom prst="rect">
            <a:avLst/>
          </a:prstGeom>
          <a:noFill/>
          <a:ln/>
        </p:spPr>
        <p:txBody>
          <a:bodyPr wrap="square" lIns="0" tIns="0" rIns="0" bIns="0" rtlCol="0" anchor="t"/>
          <a:lstStyle/>
          <a:p>
            <a:pPr algn="l" indent="0" marL="0">
              <a:buNone/>
            </a:pPr>
            <a:r>
              <a:rPr lang="en-US" sz="1060" b="1" dirty="0">
                <a:solidFill>
                  <a:srgbClr val="102A43"/>
                </a:solidFill>
                <a:latin typeface="Aptos" pitchFamily="34" charset="0"/>
                <a:ea typeface="Aptos" pitchFamily="34" charset="-122"/>
                <a:cs typeface="Aptos" pitchFamily="34" charset="-120"/>
              </a:rPr>
              <a:t>RP7</a:t>
            </a:r>
            <a:endParaRPr lang="en-US" sz="1060" dirty="0"/>
          </a:p>
        </p:txBody>
      </p:sp>
      <p:sp>
        <p:nvSpPr>
          <p:cNvPr id="32" name="Text 29"/>
          <p:cNvSpPr txBox="1"/>
          <p:nvPr/>
        </p:nvSpPr>
        <p:spPr>
          <a:xfrm>
            <a:off x="1719072" y="4379976"/>
            <a:ext cx="3566160" cy="219456"/>
          </a:xfrm>
          <a:prstGeom prst="rect">
            <a:avLst/>
          </a:prstGeom>
          <a:noFill/>
          <a:ln/>
        </p:spPr>
        <p:txBody>
          <a:bodyPr wrap="square" lIns="0" tIns="0" rIns="0" bIns="0" rtlCol="0" anchor="t"/>
          <a:lstStyle/>
          <a:p>
            <a:pPr algn="l" indent="0" marL="0">
              <a:buNone/>
            </a:pPr>
            <a:r>
              <a:rPr lang="en-US" sz="1120" dirty="0">
                <a:solidFill>
                  <a:srgbClr val="243B53"/>
                </a:solidFill>
                <a:latin typeface="Aptos" pitchFamily="34" charset="0"/>
                <a:ea typeface="Aptos" pitchFamily="34" charset="-122"/>
                <a:cs typeface="Aptos" pitchFamily="34" charset="-120"/>
              </a:rPr>
              <a:t>No se valida el formato del RUT</a:t>
            </a:r>
            <a:endParaRPr lang="en-US" sz="1120" dirty="0"/>
          </a:p>
        </p:txBody>
      </p:sp>
      <p:sp>
        <p:nvSpPr>
          <p:cNvPr id="33" name="Shape 30"/>
          <p:cNvSpPr/>
          <p:nvPr/>
        </p:nvSpPr>
        <p:spPr>
          <a:xfrm>
            <a:off x="4754880" y="4489704"/>
            <a:ext cx="402336" cy="0"/>
          </a:xfrm>
          <a:prstGeom prst="line">
            <a:avLst/>
          </a:prstGeom>
          <a:noFill/>
          <a:ln w="12700">
            <a:solidFill>
              <a:srgbClr val="D8CFC4"/>
            </a:solidFill>
            <a:prstDash val="solid"/>
            <a:headEnd type="none"/>
            <a:tailEnd type="triangle"/>
          </a:ln>
        </p:spPr>
      </p:sp>
      <p:sp>
        <p:nvSpPr>
          <p:cNvPr id="34" name="Text 31"/>
          <p:cNvSpPr txBox="1"/>
          <p:nvPr/>
        </p:nvSpPr>
        <p:spPr>
          <a:xfrm>
            <a:off x="5285232" y="4379976"/>
            <a:ext cx="4114800" cy="219456"/>
          </a:xfrm>
          <a:prstGeom prst="rect">
            <a:avLst/>
          </a:prstGeom>
          <a:noFill/>
          <a:ln/>
        </p:spPr>
        <p:txBody>
          <a:bodyPr wrap="square" lIns="0" tIns="0" rIns="0" bIns="0" rtlCol="0" anchor="t"/>
          <a:lstStyle/>
          <a:p>
            <a:pPr algn="l" indent="0" marL="0">
              <a:buNone/>
            </a:pPr>
            <a:r>
              <a:rPr lang="en-US" sz="1080" i="1" dirty="0">
                <a:solidFill>
                  <a:srgbClr val="52606D"/>
                </a:solidFill>
                <a:latin typeface="Aptos" pitchFamily="34" charset="0"/>
                <a:ea typeface="Aptos" pitchFamily="34" charset="-122"/>
                <a:cs typeface="Aptos" pitchFamily="34" charset="-120"/>
              </a:rPr>
              <a:t>En el borde donde la solicitud se convierte en modelo</a:t>
            </a:r>
            <a:endParaRPr lang="en-US" sz="1080" dirty="0"/>
          </a:p>
        </p:txBody>
      </p:sp>
      <p:sp>
        <p:nvSpPr>
          <p:cNvPr id="35" name="Shape 32"/>
          <p:cNvSpPr/>
          <p:nvPr/>
        </p:nvSpPr>
        <p:spPr>
          <a:xfrm>
            <a:off x="9528048" y="4315968"/>
            <a:ext cx="2002536" cy="347472"/>
          </a:xfrm>
          <a:prstGeom prst="rect">
            <a:avLst/>
          </a:prstGeom>
          <a:solidFill>
            <a:srgbClr val="102A43"/>
          </a:solidFill>
          <a:ln w="12700">
            <a:solidFill>
              <a:srgbClr val="102A43"/>
            </a:solidFill>
            <a:prstDash val="solid"/>
          </a:ln>
        </p:spPr>
      </p:sp>
      <p:sp>
        <p:nvSpPr>
          <p:cNvPr id="36" name="Text 33"/>
          <p:cNvSpPr txBox="1"/>
          <p:nvPr/>
        </p:nvSpPr>
        <p:spPr>
          <a:xfrm>
            <a:off x="9582912" y="4361688"/>
            <a:ext cx="1892808" cy="256032"/>
          </a:xfrm>
          <a:prstGeom prst="rect">
            <a:avLst/>
          </a:prstGeom>
          <a:noFill/>
          <a:ln/>
        </p:spPr>
        <p:txBody>
          <a:bodyPr wrap="square" lIns="0" tIns="0" rIns="0" bIns="0" rtlCol="0" anchor="ctr"/>
          <a:lstStyle/>
          <a:p>
            <a:pPr algn="ctr" indent="0" marL="0">
              <a:buNone/>
            </a:pPr>
            <a:r>
              <a:rPr lang="en-US" sz="980" b="1" spc="80" kern="0" dirty="0">
                <a:solidFill>
                  <a:srgbClr val="FFFFFF"/>
                </a:solidFill>
                <a:latin typeface="Aptos" pitchFamily="34" charset="0"/>
                <a:ea typeface="Aptos" pitchFamily="34" charset="-122"/>
                <a:cs typeface="Aptos" pitchFamily="34" charset="-120"/>
              </a:rPr>
              <a:t>INTEGRACIÓN</a:t>
            </a:r>
            <a:endParaRPr lang="en-US" sz="980" dirty="0"/>
          </a:p>
        </p:txBody>
      </p:sp>
      <p:sp>
        <p:nvSpPr>
          <p:cNvPr id="37" name="Shape 34"/>
          <p:cNvSpPr/>
          <p:nvPr/>
        </p:nvSpPr>
        <p:spPr>
          <a:xfrm>
            <a:off x="658368" y="4828032"/>
            <a:ext cx="10874959" cy="530352"/>
          </a:xfrm>
          <a:prstGeom prst="rect">
            <a:avLst/>
          </a:prstGeom>
          <a:solidFill>
            <a:srgbClr val="EDE6DA"/>
          </a:solidFill>
          <a:ln w="12700">
            <a:solidFill>
              <a:srgbClr val="EDE6DA"/>
            </a:solidFill>
            <a:prstDash val="solid"/>
          </a:ln>
        </p:spPr>
      </p:sp>
      <p:sp>
        <p:nvSpPr>
          <p:cNvPr id="38" name="Shape 35"/>
          <p:cNvSpPr/>
          <p:nvPr/>
        </p:nvSpPr>
        <p:spPr>
          <a:xfrm>
            <a:off x="658368" y="4828032"/>
            <a:ext cx="54864" cy="530352"/>
          </a:xfrm>
          <a:prstGeom prst="rect">
            <a:avLst/>
          </a:prstGeom>
          <a:solidFill>
            <a:srgbClr val="B3181E"/>
          </a:solidFill>
          <a:ln w="12700">
            <a:solidFill>
              <a:srgbClr val="B3181E"/>
            </a:solidFill>
            <a:prstDash val="solid"/>
          </a:ln>
        </p:spPr>
      </p:sp>
      <p:sp>
        <p:nvSpPr>
          <p:cNvPr id="39" name="Text 36"/>
          <p:cNvSpPr txBox="1"/>
          <p:nvPr/>
        </p:nvSpPr>
        <p:spPr>
          <a:xfrm>
            <a:off x="896112" y="4983480"/>
            <a:ext cx="731520" cy="219456"/>
          </a:xfrm>
          <a:prstGeom prst="rect">
            <a:avLst/>
          </a:prstGeom>
          <a:noFill/>
          <a:ln/>
        </p:spPr>
        <p:txBody>
          <a:bodyPr wrap="square" lIns="0" tIns="0" rIns="0" bIns="0" rtlCol="0" anchor="t"/>
          <a:lstStyle/>
          <a:p>
            <a:pPr algn="l" indent="0" marL="0">
              <a:buNone/>
            </a:pPr>
            <a:r>
              <a:rPr lang="en-US" sz="1060" b="1" dirty="0">
                <a:solidFill>
                  <a:srgbClr val="B3181E"/>
                </a:solidFill>
                <a:latin typeface="Aptos" pitchFamily="34" charset="0"/>
                <a:ea typeface="Aptos" pitchFamily="34" charset="-122"/>
                <a:cs typeface="Aptos" pitchFamily="34" charset="-120"/>
              </a:rPr>
              <a:t>RP3</a:t>
            </a:r>
            <a:endParaRPr lang="en-US" sz="1060" dirty="0"/>
          </a:p>
        </p:txBody>
      </p:sp>
      <p:sp>
        <p:nvSpPr>
          <p:cNvPr id="40" name="Text 37"/>
          <p:cNvSpPr txBox="1"/>
          <p:nvPr/>
        </p:nvSpPr>
        <p:spPr>
          <a:xfrm>
            <a:off x="1719072" y="4983480"/>
            <a:ext cx="3566160" cy="219456"/>
          </a:xfrm>
          <a:prstGeom prst="rect">
            <a:avLst/>
          </a:prstGeom>
          <a:noFill/>
          <a:ln/>
        </p:spPr>
        <p:txBody>
          <a:bodyPr wrap="square" lIns="0" tIns="0" rIns="0" bIns="0" rtlCol="0" anchor="t"/>
          <a:lstStyle/>
          <a:p>
            <a:pPr algn="l" indent="0" marL="0">
              <a:buNone/>
            </a:pPr>
            <a:r>
              <a:rPr lang="en-US" sz="1120" dirty="0">
                <a:solidFill>
                  <a:srgbClr val="243B53"/>
                </a:solidFill>
                <a:latin typeface="Aptos" pitchFamily="34" charset="0"/>
                <a:ea typeface="Aptos" pitchFamily="34" charset="-122"/>
                <a:cs typeface="Aptos" pitchFamily="34" charset="-120"/>
              </a:rPr>
              <a:t>Dos solicitudes toman el mismo bloque</a:t>
            </a:r>
            <a:endParaRPr lang="en-US" sz="1120" dirty="0"/>
          </a:p>
        </p:txBody>
      </p:sp>
      <p:sp>
        <p:nvSpPr>
          <p:cNvPr id="41" name="Shape 38"/>
          <p:cNvSpPr/>
          <p:nvPr/>
        </p:nvSpPr>
        <p:spPr>
          <a:xfrm>
            <a:off x="4754880" y="5093208"/>
            <a:ext cx="402336" cy="0"/>
          </a:xfrm>
          <a:prstGeom prst="line">
            <a:avLst/>
          </a:prstGeom>
          <a:noFill/>
          <a:ln w="12700">
            <a:solidFill>
              <a:srgbClr val="D8CFC4"/>
            </a:solidFill>
            <a:prstDash val="solid"/>
            <a:headEnd type="none"/>
            <a:tailEnd type="triangle"/>
          </a:ln>
        </p:spPr>
      </p:sp>
      <p:sp>
        <p:nvSpPr>
          <p:cNvPr id="42" name="Text 39"/>
          <p:cNvSpPr txBox="1"/>
          <p:nvPr/>
        </p:nvSpPr>
        <p:spPr>
          <a:xfrm>
            <a:off x="5285232" y="4983480"/>
            <a:ext cx="4114800" cy="219456"/>
          </a:xfrm>
          <a:prstGeom prst="rect">
            <a:avLst/>
          </a:prstGeom>
          <a:noFill/>
          <a:ln/>
        </p:spPr>
        <p:txBody>
          <a:bodyPr wrap="square" lIns="0" tIns="0" rIns="0" bIns="0" rtlCol="0" anchor="t"/>
          <a:lstStyle/>
          <a:p>
            <a:pPr algn="l" indent="0" marL="0">
              <a:buNone/>
            </a:pPr>
            <a:r>
              <a:rPr lang="en-US" sz="1080" i="1" dirty="0">
                <a:solidFill>
                  <a:srgbClr val="52606D"/>
                </a:solidFill>
                <a:latin typeface="Aptos" pitchFamily="34" charset="0"/>
                <a:ea typeface="Aptos" pitchFamily="34" charset="-122"/>
                <a:cs typeface="Aptos" pitchFamily="34" charset="-120"/>
              </a:rPr>
              <a:t>Solo si hay más de una solicitud a la vez</a:t>
            </a:r>
            <a:endParaRPr lang="en-US" sz="1080" dirty="0"/>
          </a:p>
        </p:txBody>
      </p:sp>
      <p:sp>
        <p:nvSpPr>
          <p:cNvPr id="43" name="Shape 40"/>
          <p:cNvSpPr/>
          <p:nvPr/>
        </p:nvSpPr>
        <p:spPr>
          <a:xfrm>
            <a:off x="9528048" y="4919472"/>
            <a:ext cx="2002536" cy="347472"/>
          </a:xfrm>
          <a:prstGeom prst="rect">
            <a:avLst/>
          </a:prstGeom>
          <a:solidFill>
            <a:srgbClr val="B3181E"/>
          </a:solidFill>
          <a:ln w="12700">
            <a:solidFill>
              <a:srgbClr val="B3181E"/>
            </a:solidFill>
            <a:prstDash val="solid"/>
          </a:ln>
        </p:spPr>
      </p:sp>
      <p:sp>
        <p:nvSpPr>
          <p:cNvPr id="44" name="Text 41"/>
          <p:cNvSpPr txBox="1"/>
          <p:nvPr/>
        </p:nvSpPr>
        <p:spPr>
          <a:xfrm>
            <a:off x="9582912" y="4965192"/>
            <a:ext cx="1892808" cy="256032"/>
          </a:xfrm>
          <a:prstGeom prst="rect">
            <a:avLst/>
          </a:prstGeom>
          <a:noFill/>
          <a:ln/>
        </p:spPr>
        <p:txBody>
          <a:bodyPr wrap="square" lIns="0" tIns="0" rIns="0" bIns="0" rtlCol="0" anchor="ctr"/>
          <a:lstStyle/>
          <a:p>
            <a:pPr algn="ctr" indent="0" marL="0">
              <a:buNone/>
            </a:pPr>
            <a:r>
              <a:rPr lang="en-US" sz="980" b="1" spc="80" kern="0" dirty="0">
                <a:solidFill>
                  <a:srgbClr val="FFFFFF"/>
                </a:solidFill>
                <a:latin typeface="Aptos" pitchFamily="34" charset="0"/>
                <a:ea typeface="Aptos" pitchFamily="34" charset="-122"/>
                <a:cs typeface="Aptos" pitchFamily="34" charset="-120"/>
              </a:rPr>
              <a:t>NINGUNO ALCANZA</a:t>
            </a:r>
            <a:endParaRPr lang="en-US" sz="980" dirty="0"/>
          </a:p>
        </p:txBody>
      </p:sp>
      <p:sp>
        <p:nvSpPr>
          <p:cNvPr id="45" name="Shape 42"/>
          <p:cNvSpPr/>
          <p:nvPr/>
        </p:nvSpPr>
        <p:spPr>
          <a:xfrm>
            <a:off x="658368" y="5413248"/>
            <a:ext cx="45720" cy="182880"/>
          </a:xfrm>
          <a:prstGeom prst="rect">
            <a:avLst/>
          </a:prstGeom>
          <a:solidFill>
            <a:srgbClr val="8A6A12"/>
          </a:solidFill>
          <a:ln w="12700">
            <a:solidFill>
              <a:srgbClr val="8A6A12"/>
            </a:solidFill>
            <a:prstDash val="solid"/>
          </a:ln>
        </p:spPr>
      </p:sp>
      <p:sp>
        <p:nvSpPr>
          <p:cNvPr id="46" name="Text 43"/>
          <p:cNvSpPr txBox="1"/>
          <p:nvPr/>
        </p:nvSpPr>
        <p:spPr>
          <a:xfrm>
            <a:off x="804672" y="5404104"/>
            <a:ext cx="10241280" cy="201168"/>
          </a:xfrm>
          <a:prstGeom prst="rect">
            <a:avLst/>
          </a:prstGeom>
          <a:noFill/>
          <a:ln/>
        </p:spPr>
        <p:txBody>
          <a:bodyPr wrap="square" lIns="0" tIns="0" rIns="0" bIns="0" rtlCol="0" anchor="t"/>
          <a:lstStyle/>
          <a:p>
            <a:pPr algn="l" indent="0" marL="0">
              <a:buNone/>
            </a:pPr>
            <a:r>
              <a:rPr lang="en-US" sz="880" i="1" dirty="0">
                <a:solidFill>
                  <a:srgbClr val="52606D"/>
                </a:solidFill>
                <a:latin typeface="Aptos" pitchFamily="34" charset="0"/>
                <a:ea typeface="Aptos" pitchFamily="34" charset="-122"/>
                <a:cs typeface="Aptos" pitchFamily="34" charset="-120"/>
              </a:rPr>
              <a:t>La prueba unitaria del cupo recibe el conteo ya hecho: en su nivel, contar mal no cabe.</a:t>
            </a:r>
            <a:endParaRPr lang="en-US" sz="880" dirty="0"/>
          </a:p>
        </p:txBody>
      </p:sp>
      <p:sp>
        <p:nvSpPr>
          <p:cNvPr id="47" name="Shape 44"/>
          <p:cNvSpPr/>
          <p:nvPr/>
        </p:nvSpPr>
        <p:spPr>
          <a:xfrm>
            <a:off x="658368" y="5650992"/>
            <a:ext cx="10874959" cy="548640"/>
          </a:xfrm>
          <a:prstGeom prst="rect">
            <a:avLst/>
          </a:prstGeom>
          <a:solidFill>
            <a:srgbClr val="102A43"/>
          </a:solidFill>
          <a:ln w="12700">
            <a:solidFill>
              <a:srgbClr val="102A43"/>
            </a:solidFill>
            <a:prstDash val="solid"/>
          </a:ln>
        </p:spPr>
      </p:sp>
      <p:sp>
        <p:nvSpPr>
          <p:cNvPr id="48" name="Text 45"/>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Si el evento no cabe en ese nivel, ninguna prueba de ese nivel lo encuentra.</a:t>
            </a:r>
            <a:endParaRPr lang="en-US" sz="138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24</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2 · LA MEDICIÓN</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2700" b="1" dirty="0">
                <a:solidFill>
                  <a:srgbClr val="243B53"/>
                </a:solidFill>
                <a:latin typeface="Aptos Display" pitchFamily="34" charset="0"/>
                <a:ea typeface="Aptos Display" pitchFamily="34" charset="-122"/>
                <a:cs typeface="Aptos Display" pitchFamily="34" charset="-120"/>
              </a:rPr>
              <a:t>Dónde están las pruebas y dónde está el riesgo</a:t>
            </a:r>
            <a:endParaRPr lang="en-US" sz="2700" dirty="0"/>
          </a:p>
        </p:txBody>
      </p:sp>
      <p:sp>
        <p:nvSpPr>
          <p:cNvPr id="10" name="Text 7"/>
          <p:cNvSpPr txBox="1"/>
          <p:nvPr/>
        </p:nvSpPr>
        <p:spPr>
          <a:xfrm>
            <a:off x="658368" y="1664208"/>
            <a:ext cx="10424160" cy="329184"/>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La suite se puede contar sin ejecutarla: la herramienta recolecta las pruebas y las lista.</a:t>
            </a:r>
            <a:endParaRPr lang="en-US" sz="1420" dirty="0"/>
          </a:p>
        </p:txBody>
      </p:sp>
      <p:sp>
        <p:nvSpPr>
          <p:cNvPr id="11" name="Shape 8"/>
          <p:cNvSpPr/>
          <p:nvPr/>
        </p:nvSpPr>
        <p:spPr>
          <a:xfrm>
            <a:off x="658368" y="2139696"/>
            <a:ext cx="10874959" cy="329184"/>
          </a:xfrm>
          <a:prstGeom prst="rect">
            <a:avLst/>
          </a:prstGeom>
          <a:solidFill>
            <a:srgbClr val="102A43"/>
          </a:solidFill>
          <a:ln w="12700">
            <a:solidFill>
              <a:srgbClr val="102A43"/>
            </a:solidFill>
            <a:prstDash val="solid"/>
          </a:ln>
        </p:spPr>
      </p:sp>
      <p:sp>
        <p:nvSpPr>
          <p:cNvPr id="12" name="Text 9"/>
          <p:cNvSpPr txBox="1"/>
          <p:nvPr/>
        </p:nvSpPr>
        <p:spPr>
          <a:xfrm>
            <a:off x="877824" y="2139696"/>
            <a:ext cx="7187184" cy="274320"/>
          </a:xfrm>
          <a:prstGeom prst="rect">
            <a:avLst/>
          </a:prstGeom>
          <a:noFill/>
          <a:ln/>
        </p:spPr>
        <p:txBody>
          <a:bodyPr wrap="square" lIns="0" tIns="0" rIns="0" bIns="0" rtlCol="0" anchor="ctr"/>
          <a:lstStyle/>
          <a:p>
            <a:pPr algn="l" indent="0" marL="0">
              <a:buNone/>
            </a:pPr>
            <a:r>
              <a:rPr lang="en-US" sz="1000" dirty="0">
                <a:solidFill>
                  <a:srgbClr val="FFFFFF"/>
                </a:solidFill>
                <a:latin typeface="Consolas" pitchFamily="34" charset="0"/>
                <a:ea typeface="Consolas" pitchFamily="34" charset="-122"/>
                <a:cs typeface="Consolas" pitchFamily="34" charset="-120"/>
              </a:rPr>
              <a:t>uv run pytest --collect-only -q | grep "::" | cut -d: -f1 | sort | uniq -c</a:t>
            </a:r>
            <a:endParaRPr lang="en-US" sz="1000" dirty="0"/>
          </a:p>
        </p:txBody>
      </p:sp>
      <p:sp>
        <p:nvSpPr>
          <p:cNvPr id="13" name="Text 10"/>
          <p:cNvSpPr txBox="1"/>
          <p:nvPr/>
        </p:nvSpPr>
        <p:spPr>
          <a:xfrm>
            <a:off x="8229600" y="2167128"/>
            <a:ext cx="3236976" cy="274320"/>
          </a:xfrm>
          <a:prstGeom prst="rect">
            <a:avLst/>
          </a:prstGeom>
          <a:noFill/>
          <a:ln/>
        </p:spPr>
        <p:txBody>
          <a:bodyPr wrap="square" lIns="0" tIns="0" rIns="0" bIns="0" rtlCol="0" anchor="ctr"/>
          <a:lstStyle/>
          <a:p>
            <a:pPr algn="r" indent="0" marL="0">
              <a:buNone/>
            </a:pPr>
            <a:r>
              <a:rPr lang="en-US" sz="940" dirty="0">
                <a:solidFill>
                  <a:srgbClr val="E0BC5A"/>
                </a:solidFill>
                <a:latin typeface="Consolas" pitchFamily="34" charset="0"/>
                <a:ea typeface="Consolas" pitchFamily="34" charset="-122"/>
                <a:cs typeface="Consolas" pitchFamily="34" charset="-120"/>
              </a:rPr>
              <a:t>23 pruebas en 5 archivos</a:t>
            </a:r>
            <a:endParaRPr lang="en-US" sz="940" dirty="0"/>
          </a:p>
        </p:txBody>
      </p:sp>
      <p:sp>
        <p:nvSpPr>
          <p:cNvPr id="14" name="Text 11"/>
          <p:cNvSpPr txBox="1"/>
          <p:nvPr/>
        </p:nvSpPr>
        <p:spPr>
          <a:xfrm>
            <a:off x="658368" y="2615184"/>
            <a:ext cx="3108960" cy="201168"/>
          </a:xfrm>
          <a:prstGeom prst="rect">
            <a:avLst/>
          </a:prstGeom>
          <a:noFill/>
          <a:ln/>
        </p:spPr>
        <p:txBody>
          <a:bodyPr wrap="square" lIns="0" tIns="0" rIns="0" bIns="0" rtlCol="0" anchor="t"/>
          <a:lstStyle/>
          <a:p>
            <a:pPr algn="l" indent="0" marL="0">
              <a:buNone/>
            </a:pPr>
            <a:r>
              <a:rPr lang="en-US" sz="960" b="1" spc="130" kern="0" dirty="0">
                <a:solidFill>
                  <a:srgbClr val="52606D"/>
                </a:solidFill>
                <a:latin typeface="Aptos" pitchFamily="34" charset="0"/>
                <a:ea typeface="Aptos" pitchFamily="34" charset="-122"/>
                <a:cs typeface="Aptos" pitchFamily="34" charset="-120"/>
              </a:rPr>
              <a:t>PRUEBAS POR ELEMENTO</a:t>
            </a:r>
            <a:endParaRPr lang="en-US" sz="960" dirty="0"/>
          </a:p>
        </p:txBody>
      </p:sp>
      <p:sp>
        <p:nvSpPr>
          <p:cNvPr id="15" name="Text 12"/>
          <p:cNvSpPr txBox="1"/>
          <p:nvPr/>
        </p:nvSpPr>
        <p:spPr>
          <a:xfrm>
            <a:off x="9418320" y="2615184"/>
            <a:ext cx="2194560" cy="201168"/>
          </a:xfrm>
          <a:prstGeom prst="rect">
            <a:avLst/>
          </a:prstGeom>
          <a:noFill/>
          <a:ln/>
        </p:spPr>
        <p:txBody>
          <a:bodyPr wrap="square" lIns="0" tIns="0" rIns="0" bIns="0" rtlCol="0" anchor="t"/>
          <a:lstStyle/>
          <a:p>
            <a:pPr algn="l" indent="0" marL="0">
              <a:buNone/>
            </a:pPr>
            <a:r>
              <a:rPr lang="en-US" sz="960" b="1" spc="130" kern="0" dirty="0">
                <a:solidFill>
                  <a:srgbClr val="D62027"/>
                </a:solidFill>
                <a:latin typeface="Aptos" pitchFamily="34" charset="0"/>
                <a:ea typeface="Aptos" pitchFamily="34" charset="-122"/>
                <a:cs typeface="Aptos" pitchFamily="34" charset="-120"/>
              </a:rPr>
              <a:t>RIESGO ASOCIADO</a:t>
            </a:r>
            <a:endParaRPr lang="en-US" sz="960" dirty="0"/>
          </a:p>
        </p:txBody>
      </p:sp>
      <p:sp>
        <p:nvSpPr>
          <p:cNvPr id="16" name="Text 13"/>
          <p:cNvSpPr txBox="1"/>
          <p:nvPr/>
        </p:nvSpPr>
        <p:spPr>
          <a:xfrm>
            <a:off x="658368" y="2926080"/>
            <a:ext cx="2834640" cy="219456"/>
          </a:xfrm>
          <a:prstGeom prst="rect">
            <a:avLst/>
          </a:prstGeom>
          <a:noFill/>
          <a:ln/>
        </p:spPr>
        <p:txBody>
          <a:bodyPr wrap="square" lIns="0" tIns="0" rIns="0" bIns="0" rtlCol="0" anchor="t"/>
          <a:lstStyle/>
          <a:p>
            <a:pPr algn="l" indent="0" marL="0">
              <a:buNone/>
            </a:pPr>
            <a:r>
              <a:rPr lang="en-US" sz="1080" dirty="0">
                <a:solidFill>
                  <a:srgbClr val="243B53"/>
                </a:solidFill>
                <a:latin typeface="Aptos" pitchFamily="34" charset="0"/>
                <a:ea typeface="Aptos" pitchFamily="34" charset="-122"/>
                <a:cs typeface="Aptos" pitchFamily="34" charset="-120"/>
              </a:rPr>
              <a:t>bloque_valido</a:t>
            </a:r>
            <a:endParaRPr lang="en-US" sz="1080" dirty="0"/>
          </a:p>
        </p:txBody>
      </p:sp>
      <p:sp>
        <p:nvSpPr>
          <p:cNvPr id="17" name="Shape 14"/>
          <p:cNvSpPr/>
          <p:nvPr/>
        </p:nvSpPr>
        <p:spPr>
          <a:xfrm>
            <a:off x="3602736" y="2953512"/>
            <a:ext cx="3566160" cy="164592"/>
          </a:xfrm>
          <a:prstGeom prst="rect">
            <a:avLst/>
          </a:prstGeom>
          <a:solidFill>
            <a:srgbClr val="102A43"/>
          </a:solidFill>
          <a:ln w="12700">
            <a:solidFill>
              <a:srgbClr val="102A43"/>
            </a:solidFill>
            <a:prstDash val="solid"/>
          </a:ln>
        </p:spPr>
      </p:sp>
      <p:sp>
        <p:nvSpPr>
          <p:cNvPr id="18" name="Text 15"/>
          <p:cNvSpPr txBox="1"/>
          <p:nvPr/>
        </p:nvSpPr>
        <p:spPr>
          <a:xfrm>
            <a:off x="7406640" y="2926080"/>
            <a:ext cx="457200" cy="219456"/>
          </a:xfrm>
          <a:prstGeom prst="rect">
            <a:avLst/>
          </a:prstGeom>
          <a:noFill/>
          <a:ln/>
        </p:spPr>
        <p:txBody>
          <a:bodyPr wrap="square" lIns="0" tIns="0" rIns="0" bIns="0" rtlCol="0" anchor="t"/>
          <a:lstStyle/>
          <a:p>
            <a:pPr algn="ctr" indent="0" marL="0">
              <a:buNone/>
            </a:pPr>
            <a:r>
              <a:rPr lang="en-US" sz="1140" b="1" dirty="0">
                <a:solidFill>
                  <a:srgbClr val="243B53"/>
                </a:solidFill>
                <a:latin typeface="Aptos" pitchFamily="34" charset="0"/>
                <a:ea typeface="Aptos" pitchFamily="34" charset="-122"/>
                <a:cs typeface="Aptos" pitchFamily="34" charset="-120"/>
              </a:rPr>
              <a:t>7</a:t>
            </a:r>
            <a:endParaRPr lang="en-US" sz="1140" dirty="0"/>
          </a:p>
        </p:txBody>
      </p:sp>
      <p:sp>
        <p:nvSpPr>
          <p:cNvPr id="19" name="Text 16"/>
          <p:cNvSpPr txBox="1"/>
          <p:nvPr/>
        </p:nvSpPr>
        <p:spPr>
          <a:xfrm>
            <a:off x="658368" y="3227832"/>
            <a:ext cx="2834640" cy="219456"/>
          </a:xfrm>
          <a:prstGeom prst="rect">
            <a:avLst/>
          </a:prstGeom>
          <a:noFill/>
          <a:ln/>
        </p:spPr>
        <p:txBody>
          <a:bodyPr wrap="square" lIns="0" tIns="0" rIns="0" bIns="0" rtlCol="0" anchor="t"/>
          <a:lstStyle/>
          <a:p>
            <a:pPr algn="l" indent="0" marL="0">
              <a:buNone/>
            </a:pPr>
            <a:r>
              <a:rPr lang="en-US" sz="1080" dirty="0">
                <a:solidFill>
                  <a:srgbClr val="243B53"/>
                </a:solidFill>
                <a:latin typeface="Aptos" pitchFamily="34" charset="0"/>
                <a:ea typeface="Aptos" pitchFamily="34" charset="-122"/>
                <a:cs typeface="Aptos" pitchFamily="34" charset="-120"/>
              </a:rPr>
              <a:t>puede_reservar</a:t>
            </a:r>
            <a:endParaRPr lang="en-US" sz="1080" dirty="0"/>
          </a:p>
        </p:txBody>
      </p:sp>
      <p:sp>
        <p:nvSpPr>
          <p:cNvPr id="20" name="Shape 17"/>
          <p:cNvSpPr/>
          <p:nvPr/>
        </p:nvSpPr>
        <p:spPr>
          <a:xfrm>
            <a:off x="3602736" y="3255264"/>
            <a:ext cx="2547257" cy="164592"/>
          </a:xfrm>
          <a:prstGeom prst="rect">
            <a:avLst/>
          </a:prstGeom>
          <a:solidFill>
            <a:srgbClr val="102A43"/>
          </a:solidFill>
          <a:ln w="12700">
            <a:solidFill>
              <a:srgbClr val="102A43"/>
            </a:solidFill>
            <a:prstDash val="solid"/>
          </a:ln>
        </p:spPr>
      </p:sp>
      <p:sp>
        <p:nvSpPr>
          <p:cNvPr id="21" name="Text 18"/>
          <p:cNvSpPr txBox="1"/>
          <p:nvPr/>
        </p:nvSpPr>
        <p:spPr>
          <a:xfrm>
            <a:off x="7406640" y="3227832"/>
            <a:ext cx="457200" cy="219456"/>
          </a:xfrm>
          <a:prstGeom prst="rect">
            <a:avLst/>
          </a:prstGeom>
          <a:noFill/>
          <a:ln/>
        </p:spPr>
        <p:txBody>
          <a:bodyPr wrap="square" lIns="0" tIns="0" rIns="0" bIns="0" rtlCol="0" anchor="t"/>
          <a:lstStyle/>
          <a:p>
            <a:pPr algn="ctr" indent="0" marL="0">
              <a:buNone/>
            </a:pPr>
            <a:r>
              <a:rPr lang="en-US" sz="1140" b="1" dirty="0">
                <a:solidFill>
                  <a:srgbClr val="243B53"/>
                </a:solidFill>
                <a:latin typeface="Aptos" pitchFamily="34" charset="0"/>
                <a:ea typeface="Aptos" pitchFamily="34" charset="-122"/>
                <a:cs typeface="Aptos" pitchFamily="34" charset="-120"/>
              </a:rPr>
              <a:t>5</a:t>
            </a:r>
            <a:endParaRPr lang="en-US" sz="1140" dirty="0"/>
          </a:p>
        </p:txBody>
      </p:sp>
      <p:sp>
        <p:nvSpPr>
          <p:cNvPr id="22" name="Text 19"/>
          <p:cNvSpPr txBox="1"/>
          <p:nvPr/>
        </p:nvSpPr>
        <p:spPr>
          <a:xfrm>
            <a:off x="658368" y="3529584"/>
            <a:ext cx="2834640" cy="219456"/>
          </a:xfrm>
          <a:prstGeom prst="rect">
            <a:avLst/>
          </a:prstGeom>
          <a:noFill/>
          <a:ln/>
        </p:spPr>
        <p:txBody>
          <a:bodyPr wrap="square" lIns="0" tIns="0" rIns="0" bIns="0" rtlCol="0" anchor="t"/>
          <a:lstStyle/>
          <a:p>
            <a:pPr algn="l" indent="0" marL="0">
              <a:buNone/>
            </a:pPr>
            <a:r>
              <a:rPr lang="en-US" sz="1080" dirty="0">
                <a:solidFill>
                  <a:srgbClr val="243B53"/>
                </a:solidFill>
                <a:latin typeface="Aptos" pitchFamily="34" charset="0"/>
                <a:ea typeface="Aptos" pitchFamily="34" charset="-122"/>
                <a:cs typeface="Aptos" pitchFamily="34" charset="-120"/>
              </a:rPr>
              <a:t>cabe_en_sala</a:t>
            </a:r>
            <a:endParaRPr lang="en-US" sz="1080" dirty="0"/>
          </a:p>
        </p:txBody>
      </p:sp>
      <p:sp>
        <p:nvSpPr>
          <p:cNvPr id="23" name="Shape 20"/>
          <p:cNvSpPr/>
          <p:nvPr/>
        </p:nvSpPr>
        <p:spPr>
          <a:xfrm>
            <a:off x="3602736" y="3557016"/>
            <a:ext cx="2037806" cy="164592"/>
          </a:xfrm>
          <a:prstGeom prst="rect">
            <a:avLst/>
          </a:prstGeom>
          <a:solidFill>
            <a:srgbClr val="102A43"/>
          </a:solidFill>
          <a:ln w="12700">
            <a:solidFill>
              <a:srgbClr val="102A43"/>
            </a:solidFill>
            <a:prstDash val="solid"/>
          </a:ln>
        </p:spPr>
      </p:sp>
      <p:sp>
        <p:nvSpPr>
          <p:cNvPr id="24" name="Text 21"/>
          <p:cNvSpPr txBox="1"/>
          <p:nvPr/>
        </p:nvSpPr>
        <p:spPr>
          <a:xfrm>
            <a:off x="7406640" y="3529584"/>
            <a:ext cx="457200" cy="219456"/>
          </a:xfrm>
          <a:prstGeom prst="rect">
            <a:avLst/>
          </a:prstGeom>
          <a:noFill/>
          <a:ln/>
        </p:spPr>
        <p:txBody>
          <a:bodyPr wrap="square" lIns="0" tIns="0" rIns="0" bIns="0" rtlCol="0" anchor="t"/>
          <a:lstStyle/>
          <a:p>
            <a:pPr algn="ctr" indent="0" marL="0">
              <a:buNone/>
            </a:pPr>
            <a:r>
              <a:rPr lang="en-US" sz="1140" b="1" dirty="0">
                <a:solidFill>
                  <a:srgbClr val="243B53"/>
                </a:solidFill>
                <a:latin typeface="Aptos" pitchFamily="34" charset="0"/>
                <a:ea typeface="Aptos" pitchFamily="34" charset="-122"/>
                <a:cs typeface="Aptos" pitchFamily="34" charset="-120"/>
              </a:rPr>
              <a:t>4</a:t>
            </a:r>
            <a:endParaRPr lang="en-US" sz="1140" dirty="0"/>
          </a:p>
        </p:txBody>
      </p:sp>
      <p:sp>
        <p:nvSpPr>
          <p:cNvPr id="25" name="Text 22"/>
          <p:cNvSpPr txBox="1"/>
          <p:nvPr/>
        </p:nvSpPr>
        <p:spPr>
          <a:xfrm>
            <a:off x="658368" y="3831336"/>
            <a:ext cx="2834640" cy="219456"/>
          </a:xfrm>
          <a:prstGeom prst="rect">
            <a:avLst/>
          </a:prstGeom>
          <a:noFill/>
          <a:ln/>
        </p:spPr>
        <p:txBody>
          <a:bodyPr wrap="square" lIns="0" tIns="0" rIns="0" bIns="0" rtlCol="0" anchor="t"/>
          <a:lstStyle/>
          <a:p>
            <a:pPr algn="l" indent="0" marL="0">
              <a:buNone/>
            </a:pPr>
            <a:r>
              <a:rPr lang="en-US" sz="1080" dirty="0">
                <a:solidFill>
                  <a:srgbClr val="243B53"/>
                </a:solidFill>
                <a:latin typeface="Aptos" pitchFamily="34" charset="0"/>
                <a:ea typeface="Aptos" pitchFamily="34" charset="-122"/>
                <a:cs typeface="Aptos" pitchFamily="34" charset="-120"/>
              </a:rPr>
              <a:t>crear_reserva</a:t>
            </a:r>
            <a:endParaRPr lang="en-US" sz="1080" dirty="0"/>
          </a:p>
        </p:txBody>
      </p:sp>
      <p:sp>
        <p:nvSpPr>
          <p:cNvPr id="26" name="Shape 23"/>
          <p:cNvSpPr/>
          <p:nvPr/>
        </p:nvSpPr>
        <p:spPr>
          <a:xfrm>
            <a:off x="3602736" y="3858768"/>
            <a:ext cx="3056709" cy="164592"/>
          </a:xfrm>
          <a:prstGeom prst="rect">
            <a:avLst/>
          </a:prstGeom>
          <a:solidFill>
            <a:srgbClr val="52606D"/>
          </a:solidFill>
          <a:ln w="12700">
            <a:solidFill>
              <a:srgbClr val="52606D"/>
            </a:solidFill>
            <a:prstDash val="solid"/>
          </a:ln>
        </p:spPr>
      </p:sp>
      <p:sp>
        <p:nvSpPr>
          <p:cNvPr id="27" name="Text 24"/>
          <p:cNvSpPr txBox="1"/>
          <p:nvPr/>
        </p:nvSpPr>
        <p:spPr>
          <a:xfrm>
            <a:off x="7406640" y="3831336"/>
            <a:ext cx="457200" cy="219456"/>
          </a:xfrm>
          <a:prstGeom prst="rect">
            <a:avLst/>
          </a:prstGeom>
          <a:noFill/>
          <a:ln/>
        </p:spPr>
        <p:txBody>
          <a:bodyPr wrap="square" lIns="0" tIns="0" rIns="0" bIns="0" rtlCol="0" anchor="t"/>
          <a:lstStyle/>
          <a:p>
            <a:pPr algn="ctr" indent="0" marL="0">
              <a:buNone/>
            </a:pPr>
            <a:r>
              <a:rPr lang="en-US" sz="1140" b="1" dirty="0">
                <a:solidFill>
                  <a:srgbClr val="243B53"/>
                </a:solidFill>
                <a:latin typeface="Aptos" pitchFamily="34" charset="0"/>
                <a:ea typeface="Aptos" pitchFamily="34" charset="-122"/>
                <a:cs typeface="Aptos" pitchFamily="34" charset="-120"/>
              </a:rPr>
              <a:t>6</a:t>
            </a:r>
            <a:endParaRPr lang="en-US" sz="1140" dirty="0"/>
          </a:p>
        </p:txBody>
      </p:sp>
      <p:sp>
        <p:nvSpPr>
          <p:cNvPr id="28" name="Shape 25"/>
          <p:cNvSpPr/>
          <p:nvPr/>
        </p:nvSpPr>
        <p:spPr>
          <a:xfrm>
            <a:off x="9418320" y="3840480"/>
            <a:ext cx="1371600" cy="201168"/>
          </a:xfrm>
          <a:prstGeom prst="rect">
            <a:avLst/>
          </a:prstGeom>
          <a:solidFill>
            <a:srgbClr val="B3181E"/>
          </a:solidFill>
          <a:ln w="12700">
            <a:solidFill>
              <a:srgbClr val="B3181E"/>
            </a:solidFill>
            <a:prstDash val="solid"/>
          </a:ln>
        </p:spPr>
      </p:sp>
      <p:sp>
        <p:nvSpPr>
          <p:cNvPr id="29" name="Text 26"/>
          <p:cNvSpPr txBox="1"/>
          <p:nvPr/>
        </p:nvSpPr>
        <p:spPr>
          <a:xfrm>
            <a:off x="9473184" y="3863340"/>
            <a:ext cx="1261872" cy="155448"/>
          </a:xfrm>
          <a:prstGeom prst="rect">
            <a:avLst/>
          </a:prstGeom>
          <a:noFill/>
          <a:ln/>
        </p:spPr>
        <p:txBody>
          <a:bodyPr wrap="square" lIns="0" tIns="0" rIns="0" bIns="0" rtlCol="0" anchor="ctr"/>
          <a:lstStyle/>
          <a:p>
            <a:pPr algn="ctr" indent="0" marL="0">
              <a:buNone/>
            </a:pPr>
            <a:r>
              <a:rPr lang="en-US" sz="900" b="1" dirty="0">
                <a:solidFill>
                  <a:srgbClr val="FFFFFF"/>
                </a:solidFill>
                <a:latin typeface="Aptos" pitchFamily="34" charset="0"/>
                <a:ea typeface="Aptos" pitchFamily="34" charset="-122"/>
                <a:cs typeface="Aptos" pitchFamily="34" charset="-120"/>
              </a:rPr>
              <a:t>nivel 9</a:t>
            </a:r>
            <a:endParaRPr lang="en-US" sz="900" dirty="0"/>
          </a:p>
        </p:txBody>
      </p:sp>
      <p:sp>
        <p:nvSpPr>
          <p:cNvPr id="30" name="Text 27"/>
          <p:cNvSpPr txBox="1"/>
          <p:nvPr/>
        </p:nvSpPr>
        <p:spPr>
          <a:xfrm>
            <a:off x="658368" y="4133088"/>
            <a:ext cx="2834640" cy="219456"/>
          </a:xfrm>
          <a:prstGeom prst="rect">
            <a:avLst/>
          </a:prstGeom>
          <a:noFill/>
          <a:ln/>
        </p:spPr>
        <p:txBody>
          <a:bodyPr wrap="square" lIns="0" tIns="0" rIns="0" bIns="0" rtlCol="0" anchor="t"/>
          <a:lstStyle/>
          <a:p>
            <a:pPr algn="l" indent="0" marL="0">
              <a:buNone/>
            </a:pPr>
            <a:r>
              <a:rPr lang="en-US" sz="1080" dirty="0">
                <a:solidFill>
                  <a:srgbClr val="243B53"/>
                </a:solidFill>
                <a:latin typeface="Aptos" pitchFamily="34" charset="0"/>
                <a:ea typeface="Aptos" pitchFamily="34" charset="-122"/>
                <a:cs typeface="Aptos" pitchFamily="34" charset="-120"/>
              </a:rPr>
              <a:t>la fixture</a:t>
            </a:r>
            <a:endParaRPr lang="en-US" sz="1080" dirty="0"/>
          </a:p>
        </p:txBody>
      </p:sp>
      <p:sp>
        <p:nvSpPr>
          <p:cNvPr id="31" name="Shape 28"/>
          <p:cNvSpPr/>
          <p:nvPr/>
        </p:nvSpPr>
        <p:spPr>
          <a:xfrm>
            <a:off x="3602736" y="4160520"/>
            <a:ext cx="509451" cy="164592"/>
          </a:xfrm>
          <a:prstGeom prst="rect">
            <a:avLst/>
          </a:prstGeom>
          <a:solidFill>
            <a:srgbClr val="52606D"/>
          </a:solidFill>
          <a:ln w="12700">
            <a:solidFill>
              <a:srgbClr val="52606D"/>
            </a:solidFill>
            <a:prstDash val="solid"/>
          </a:ln>
        </p:spPr>
      </p:sp>
      <p:sp>
        <p:nvSpPr>
          <p:cNvPr id="32" name="Text 29"/>
          <p:cNvSpPr txBox="1"/>
          <p:nvPr/>
        </p:nvSpPr>
        <p:spPr>
          <a:xfrm>
            <a:off x="7406640" y="4133088"/>
            <a:ext cx="457200" cy="219456"/>
          </a:xfrm>
          <a:prstGeom prst="rect">
            <a:avLst/>
          </a:prstGeom>
          <a:noFill/>
          <a:ln/>
        </p:spPr>
        <p:txBody>
          <a:bodyPr wrap="square" lIns="0" tIns="0" rIns="0" bIns="0" rtlCol="0" anchor="t"/>
          <a:lstStyle/>
          <a:p>
            <a:pPr algn="ctr" indent="0" marL="0">
              <a:buNone/>
            </a:pPr>
            <a:r>
              <a:rPr lang="en-US" sz="1140" b="1" dirty="0">
                <a:solidFill>
                  <a:srgbClr val="243B53"/>
                </a:solidFill>
                <a:latin typeface="Aptos" pitchFamily="34" charset="0"/>
                <a:ea typeface="Aptos" pitchFamily="34" charset="-122"/>
                <a:cs typeface="Aptos" pitchFamily="34" charset="-120"/>
              </a:rPr>
              <a:t>1</a:t>
            </a:r>
            <a:endParaRPr lang="en-US" sz="1140" dirty="0"/>
          </a:p>
        </p:txBody>
      </p:sp>
      <p:sp>
        <p:nvSpPr>
          <p:cNvPr id="33" name="Text 30"/>
          <p:cNvSpPr txBox="1"/>
          <p:nvPr/>
        </p:nvSpPr>
        <p:spPr>
          <a:xfrm>
            <a:off x="658368" y="4434840"/>
            <a:ext cx="2834640" cy="219456"/>
          </a:xfrm>
          <a:prstGeom prst="rect">
            <a:avLst/>
          </a:prstGeom>
          <a:noFill/>
          <a:ln/>
        </p:spPr>
        <p:txBody>
          <a:bodyPr wrap="square" lIns="0" tIns="0" rIns="0" bIns="0" rtlCol="0" anchor="t"/>
          <a:lstStyle/>
          <a:p>
            <a:pPr algn="l" indent="0" marL="0">
              <a:buNone/>
            </a:pPr>
            <a:r>
              <a:rPr lang="en-US" sz="1080" b="1" dirty="0">
                <a:solidFill>
                  <a:srgbClr val="B3181E"/>
                </a:solidFill>
                <a:latin typeface="Aptos" pitchFamily="34" charset="0"/>
                <a:ea typeface="Aptos" pitchFamily="34" charset="-122"/>
                <a:cs typeface="Aptos" pitchFamily="34" charset="-120"/>
              </a:rPr>
              <a:t>almacen · 4 funciones</a:t>
            </a:r>
            <a:endParaRPr lang="en-US" sz="1080" dirty="0"/>
          </a:p>
        </p:txBody>
      </p:sp>
      <p:sp>
        <p:nvSpPr>
          <p:cNvPr id="34" name="Shape 31"/>
          <p:cNvSpPr/>
          <p:nvPr/>
        </p:nvSpPr>
        <p:spPr>
          <a:xfrm>
            <a:off x="3602736" y="4462272"/>
            <a:ext cx="146304" cy="164592"/>
          </a:xfrm>
          <a:prstGeom prst="rect">
            <a:avLst/>
          </a:prstGeom>
          <a:solidFill>
            <a:srgbClr val="F2E7D9"/>
          </a:solidFill>
          <a:ln w="12700">
            <a:solidFill>
              <a:srgbClr val="B3181E"/>
            </a:solidFill>
            <a:prstDash val="solid"/>
          </a:ln>
        </p:spPr>
      </p:sp>
      <p:sp>
        <p:nvSpPr>
          <p:cNvPr id="35" name="Text 32"/>
          <p:cNvSpPr txBox="1"/>
          <p:nvPr/>
        </p:nvSpPr>
        <p:spPr>
          <a:xfrm>
            <a:off x="7406640" y="4434840"/>
            <a:ext cx="457200" cy="219456"/>
          </a:xfrm>
          <a:prstGeom prst="rect">
            <a:avLst/>
          </a:prstGeom>
          <a:noFill/>
          <a:ln/>
        </p:spPr>
        <p:txBody>
          <a:bodyPr wrap="square" lIns="0" tIns="0" rIns="0" bIns="0" rtlCol="0" anchor="t"/>
          <a:lstStyle/>
          <a:p>
            <a:pPr algn="ctr" indent="0" marL="0">
              <a:buNone/>
            </a:pPr>
            <a:r>
              <a:rPr lang="en-US" sz="1140" b="1" dirty="0">
                <a:solidFill>
                  <a:srgbClr val="B3181E"/>
                </a:solidFill>
                <a:latin typeface="Aptos" pitchFamily="34" charset="0"/>
                <a:ea typeface="Aptos" pitchFamily="34" charset="-122"/>
                <a:cs typeface="Aptos" pitchFamily="34" charset="-120"/>
              </a:rPr>
              <a:t>0</a:t>
            </a:r>
            <a:endParaRPr lang="en-US" sz="1140" dirty="0"/>
          </a:p>
        </p:txBody>
      </p:sp>
      <p:sp>
        <p:nvSpPr>
          <p:cNvPr id="36" name="Shape 33"/>
          <p:cNvSpPr/>
          <p:nvPr/>
        </p:nvSpPr>
        <p:spPr>
          <a:xfrm>
            <a:off x="9418320" y="4443984"/>
            <a:ext cx="1371600" cy="201168"/>
          </a:xfrm>
          <a:prstGeom prst="rect">
            <a:avLst/>
          </a:prstGeom>
          <a:solidFill>
            <a:srgbClr val="8A6A12"/>
          </a:solidFill>
          <a:ln w="12700">
            <a:solidFill>
              <a:srgbClr val="8A6A12"/>
            </a:solidFill>
            <a:prstDash val="solid"/>
          </a:ln>
        </p:spPr>
      </p:sp>
      <p:sp>
        <p:nvSpPr>
          <p:cNvPr id="37" name="Text 34"/>
          <p:cNvSpPr txBox="1"/>
          <p:nvPr/>
        </p:nvSpPr>
        <p:spPr>
          <a:xfrm>
            <a:off x="9473184" y="4466844"/>
            <a:ext cx="1261872" cy="155448"/>
          </a:xfrm>
          <a:prstGeom prst="rect">
            <a:avLst/>
          </a:prstGeom>
          <a:noFill/>
          <a:ln/>
        </p:spPr>
        <p:txBody>
          <a:bodyPr wrap="square" lIns="0" tIns="0" rIns="0" bIns="0" rtlCol="0" anchor="ctr"/>
          <a:lstStyle/>
          <a:p>
            <a:pPr algn="ctr" indent="0" marL="0">
              <a:buNone/>
            </a:pPr>
            <a:r>
              <a:rPr lang="en-US" sz="900" b="1" dirty="0">
                <a:solidFill>
                  <a:srgbClr val="FFFFFF"/>
                </a:solidFill>
                <a:latin typeface="Aptos" pitchFamily="34" charset="0"/>
                <a:ea typeface="Aptos" pitchFamily="34" charset="-122"/>
                <a:cs typeface="Aptos" pitchFamily="34" charset="-120"/>
              </a:rPr>
              <a:t>nivel 6</a:t>
            </a:r>
            <a:endParaRPr lang="en-US" sz="900" dirty="0"/>
          </a:p>
        </p:txBody>
      </p:sp>
      <p:sp>
        <p:nvSpPr>
          <p:cNvPr id="38" name="Text 35"/>
          <p:cNvSpPr txBox="1"/>
          <p:nvPr/>
        </p:nvSpPr>
        <p:spPr>
          <a:xfrm>
            <a:off x="658368" y="4736592"/>
            <a:ext cx="2834640" cy="219456"/>
          </a:xfrm>
          <a:prstGeom prst="rect">
            <a:avLst/>
          </a:prstGeom>
          <a:noFill/>
          <a:ln/>
        </p:spPr>
        <p:txBody>
          <a:bodyPr wrap="square" lIns="0" tIns="0" rIns="0" bIns="0" rtlCol="0" anchor="t"/>
          <a:lstStyle/>
          <a:p>
            <a:pPr algn="l" indent="0" marL="0">
              <a:buNone/>
            </a:pPr>
            <a:r>
              <a:rPr lang="en-US" sz="1080" b="1" dirty="0">
                <a:solidFill>
                  <a:srgbClr val="B3181E"/>
                </a:solidFill>
                <a:latin typeface="Aptos" pitchFamily="34" charset="0"/>
                <a:ea typeface="Aptos" pitchFamily="34" charset="-122"/>
                <a:cs typeface="Aptos" pitchFamily="34" charset="-120"/>
              </a:rPr>
              <a:t>el modelo de solicitud</a:t>
            </a:r>
            <a:endParaRPr lang="en-US" sz="1080" dirty="0"/>
          </a:p>
        </p:txBody>
      </p:sp>
      <p:sp>
        <p:nvSpPr>
          <p:cNvPr id="39" name="Shape 36"/>
          <p:cNvSpPr/>
          <p:nvPr/>
        </p:nvSpPr>
        <p:spPr>
          <a:xfrm>
            <a:off x="3602736" y="4764024"/>
            <a:ext cx="146304" cy="164592"/>
          </a:xfrm>
          <a:prstGeom prst="rect">
            <a:avLst/>
          </a:prstGeom>
          <a:solidFill>
            <a:srgbClr val="F2E7D9"/>
          </a:solidFill>
          <a:ln w="12700">
            <a:solidFill>
              <a:srgbClr val="B3181E"/>
            </a:solidFill>
            <a:prstDash val="solid"/>
          </a:ln>
        </p:spPr>
      </p:sp>
      <p:sp>
        <p:nvSpPr>
          <p:cNvPr id="40" name="Text 37"/>
          <p:cNvSpPr txBox="1"/>
          <p:nvPr/>
        </p:nvSpPr>
        <p:spPr>
          <a:xfrm>
            <a:off x="7406640" y="4736592"/>
            <a:ext cx="457200" cy="219456"/>
          </a:xfrm>
          <a:prstGeom prst="rect">
            <a:avLst/>
          </a:prstGeom>
          <a:noFill/>
          <a:ln/>
        </p:spPr>
        <p:txBody>
          <a:bodyPr wrap="square" lIns="0" tIns="0" rIns="0" bIns="0" rtlCol="0" anchor="t"/>
          <a:lstStyle/>
          <a:p>
            <a:pPr algn="ctr" indent="0" marL="0">
              <a:buNone/>
            </a:pPr>
            <a:r>
              <a:rPr lang="en-US" sz="1140" b="1" dirty="0">
                <a:solidFill>
                  <a:srgbClr val="B3181E"/>
                </a:solidFill>
                <a:latin typeface="Aptos" pitchFamily="34" charset="0"/>
                <a:ea typeface="Aptos" pitchFamily="34" charset="-122"/>
                <a:cs typeface="Aptos" pitchFamily="34" charset="-120"/>
              </a:rPr>
              <a:t>0</a:t>
            </a:r>
            <a:endParaRPr lang="en-US" sz="1140" dirty="0"/>
          </a:p>
        </p:txBody>
      </p:sp>
      <p:sp>
        <p:nvSpPr>
          <p:cNvPr id="41" name="Shape 38"/>
          <p:cNvSpPr/>
          <p:nvPr/>
        </p:nvSpPr>
        <p:spPr>
          <a:xfrm>
            <a:off x="9418320" y="4745736"/>
            <a:ext cx="1371600" cy="201168"/>
          </a:xfrm>
          <a:prstGeom prst="rect">
            <a:avLst/>
          </a:prstGeom>
          <a:solidFill>
            <a:srgbClr val="8A6A12"/>
          </a:solidFill>
          <a:ln w="12700">
            <a:solidFill>
              <a:srgbClr val="8A6A12"/>
            </a:solidFill>
            <a:prstDash val="solid"/>
          </a:ln>
        </p:spPr>
      </p:sp>
      <p:sp>
        <p:nvSpPr>
          <p:cNvPr id="42" name="Text 39"/>
          <p:cNvSpPr txBox="1"/>
          <p:nvPr/>
        </p:nvSpPr>
        <p:spPr>
          <a:xfrm>
            <a:off x="9473184" y="4768596"/>
            <a:ext cx="1261872" cy="155448"/>
          </a:xfrm>
          <a:prstGeom prst="rect">
            <a:avLst/>
          </a:prstGeom>
          <a:noFill/>
          <a:ln/>
        </p:spPr>
        <p:txBody>
          <a:bodyPr wrap="square" lIns="0" tIns="0" rIns="0" bIns="0" rtlCol="0" anchor="ctr"/>
          <a:lstStyle/>
          <a:p>
            <a:pPr algn="ctr" indent="0" marL="0">
              <a:buNone/>
            </a:pPr>
            <a:r>
              <a:rPr lang="en-US" sz="900" b="1" dirty="0">
                <a:solidFill>
                  <a:srgbClr val="FFFFFF"/>
                </a:solidFill>
                <a:latin typeface="Aptos" pitchFamily="34" charset="0"/>
                <a:ea typeface="Aptos" pitchFamily="34" charset="-122"/>
                <a:cs typeface="Aptos" pitchFamily="34" charset="-120"/>
              </a:rPr>
              <a:t>nivel 6</a:t>
            </a:r>
            <a:endParaRPr lang="en-US" sz="900" dirty="0"/>
          </a:p>
        </p:txBody>
      </p:sp>
      <p:sp>
        <p:nvSpPr>
          <p:cNvPr id="43" name="Text 40"/>
          <p:cNvSpPr txBox="1"/>
          <p:nvPr/>
        </p:nvSpPr>
        <p:spPr>
          <a:xfrm>
            <a:off x="658368" y="5038344"/>
            <a:ext cx="2834640" cy="219456"/>
          </a:xfrm>
          <a:prstGeom prst="rect">
            <a:avLst/>
          </a:prstGeom>
          <a:noFill/>
          <a:ln/>
        </p:spPr>
        <p:txBody>
          <a:bodyPr wrap="square" lIns="0" tIns="0" rIns="0" bIns="0" rtlCol="0" anchor="t"/>
          <a:lstStyle/>
          <a:p>
            <a:pPr algn="l" indent="0" marL="0">
              <a:buNone/>
            </a:pPr>
            <a:r>
              <a:rPr lang="en-US" sz="1080" b="1" dirty="0">
                <a:solidFill>
                  <a:srgbClr val="B3181E"/>
                </a:solidFill>
                <a:latin typeface="Aptos" pitchFamily="34" charset="0"/>
                <a:ea typeface="Aptos" pitchFamily="34" charset="-122"/>
                <a:cs typeface="Aptos" pitchFamily="34" charset="-120"/>
              </a:rPr>
              <a:t>comprobante</a:t>
            </a:r>
            <a:endParaRPr lang="en-US" sz="1080" dirty="0"/>
          </a:p>
        </p:txBody>
      </p:sp>
      <p:sp>
        <p:nvSpPr>
          <p:cNvPr id="44" name="Shape 41"/>
          <p:cNvSpPr/>
          <p:nvPr/>
        </p:nvSpPr>
        <p:spPr>
          <a:xfrm>
            <a:off x="3602736" y="5065776"/>
            <a:ext cx="146304" cy="164592"/>
          </a:xfrm>
          <a:prstGeom prst="rect">
            <a:avLst/>
          </a:prstGeom>
          <a:solidFill>
            <a:srgbClr val="F2E7D9"/>
          </a:solidFill>
          <a:ln w="12700">
            <a:solidFill>
              <a:srgbClr val="B3181E"/>
            </a:solidFill>
            <a:prstDash val="solid"/>
          </a:ln>
        </p:spPr>
      </p:sp>
      <p:sp>
        <p:nvSpPr>
          <p:cNvPr id="45" name="Text 42"/>
          <p:cNvSpPr txBox="1"/>
          <p:nvPr/>
        </p:nvSpPr>
        <p:spPr>
          <a:xfrm>
            <a:off x="7406640" y="5038344"/>
            <a:ext cx="457200" cy="219456"/>
          </a:xfrm>
          <a:prstGeom prst="rect">
            <a:avLst/>
          </a:prstGeom>
          <a:noFill/>
          <a:ln/>
        </p:spPr>
        <p:txBody>
          <a:bodyPr wrap="square" lIns="0" tIns="0" rIns="0" bIns="0" rtlCol="0" anchor="t"/>
          <a:lstStyle/>
          <a:p>
            <a:pPr algn="ctr" indent="0" marL="0">
              <a:buNone/>
            </a:pPr>
            <a:r>
              <a:rPr lang="en-US" sz="1140" b="1" dirty="0">
                <a:solidFill>
                  <a:srgbClr val="B3181E"/>
                </a:solidFill>
                <a:latin typeface="Aptos" pitchFamily="34" charset="0"/>
                <a:ea typeface="Aptos" pitchFamily="34" charset="-122"/>
                <a:cs typeface="Aptos" pitchFamily="34" charset="-120"/>
              </a:rPr>
              <a:t>0</a:t>
            </a:r>
            <a:endParaRPr lang="en-US" sz="1140" dirty="0"/>
          </a:p>
        </p:txBody>
      </p:sp>
      <p:sp>
        <p:nvSpPr>
          <p:cNvPr id="46" name="Shape 43"/>
          <p:cNvSpPr/>
          <p:nvPr/>
        </p:nvSpPr>
        <p:spPr>
          <a:xfrm>
            <a:off x="9418320" y="5047488"/>
            <a:ext cx="1371600" cy="201168"/>
          </a:xfrm>
          <a:prstGeom prst="rect">
            <a:avLst/>
          </a:prstGeom>
          <a:solidFill>
            <a:srgbClr val="52606D"/>
          </a:solidFill>
          <a:ln w="12700">
            <a:solidFill>
              <a:srgbClr val="52606D"/>
            </a:solidFill>
            <a:prstDash val="solid"/>
          </a:ln>
        </p:spPr>
      </p:sp>
      <p:sp>
        <p:nvSpPr>
          <p:cNvPr id="47" name="Text 44"/>
          <p:cNvSpPr txBox="1"/>
          <p:nvPr/>
        </p:nvSpPr>
        <p:spPr>
          <a:xfrm>
            <a:off x="9473184" y="5070348"/>
            <a:ext cx="1261872" cy="155448"/>
          </a:xfrm>
          <a:prstGeom prst="rect">
            <a:avLst/>
          </a:prstGeom>
          <a:noFill/>
          <a:ln/>
        </p:spPr>
        <p:txBody>
          <a:bodyPr wrap="square" lIns="0" tIns="0" rIns="0" bIns="0" rtlCol="0" anchor="ctr"/>
          <a:lstStyle/>
          <a:p>
            <a:pPr algn="ctr" indent="0" marL="0">
              <a:buNone/>
            </a:pPr>
            <a:r>
              <a:rPr lang="en-US" sz="900" b="1" dirty="0">
                <a:solidFill>
                  <a:srgbClr val="FFFFFF"/>
                </a:solidFill>
                <a:latin typeface="Aptos" pitchFamily="34" charset="0"/>
                <a:ea typeface="Aptos" pitchFamily="34" charset="-122"/>
                <a:cs typeface="Aptos" pitchFamily="34" charset="-120"/>
              </a:rPr>
              <a:t>nivel 4</a:t>
            </a:r>
            <a:endParaRPr lang="en-US" sz="900" dirty="0"/>
          </a:p>
        </p:txBody>
      </p:sp>
      <p:sp>
        <p:nvSpPr>
          <p:cNvPr id="48" name="Text 45"/>
          <p:cNvSpPr txBox="1"/>
          <p:nvPr/>
        </p:nvSpPr>
        <p:spPr>
          <a:xfrm>
            <a:off x="658368" y="5340096"/>
            <a:ext cx="2834640" cy="219456"/>
          </a:xfrm>
          <a:prstGeom prst="rect">
            <a:avLst/>
          </a:prstGeom>
          <a:noFill/>
          <a:ln/>
        </p:spPr>
        <p:txBody>
          <a:bodyPr wrap="square" lIns="0" tIns="0" rIns="0" bIns="0" rtlCol="0" anchor="t"/>
          <a:lstStyle/>
          <a:p>
            <a:pPr algn="l" indent="0" marL="0">
              <a:buNone/>
            </a:pPr>
            <a:r>
              <a:rPr lang="en-US" sz="1080" b="1" dirty="0">
                <a:solidFill>
                  <a:srgbClr val="B3181E"/>
                </a:solidFill>
                <a:latin typeface="Aptos" pitchFamily="34" charset="0"/>
                <a:ea typeface="Aptos" pitchFamily="34" charset="-122"/>
                <a:cs typeface="Aptos" pitchFamily="34" charset="-120"/>
              </a:rPr>
              <a:t>puede_cancelar</a:t>
            </a:r>
            <a:endParaRPr lang="en-US" sz="1080" dirty="0"/>
          </a:p>
        </p:txBody>
      </p:sp>
      <p:sp>
        <p:nvSpPr>
          <p:cNvPr id="49" name="Shape 46"/>
          <p:cNvSpPr/>
          <p:nvPr/>
        </p:nvSpPr>
        <p:spPr>
          <a:xfrm>
            <a:off x="3602736" y="5367528"/>
            <a:ext cx="146304" cy="164592"/>
          </a:xfrm>
          <a:prstGeom prst="rect">
            <a:avLst/>
          </a:prstGeom>
          <a:solidFill>
            <a:srgbClr val="F2E7D9"/>
          </a:solidFill>
          <a:ln w="12700">
            <a:solidFill>
              <a:srgbClr val="B3181E"/>
            </a:solidFill>
            <a:prstDash val="solid"/>
          </a:ln>
        </p:spPr>
      </p:sp>
      <p:sp>
        <p:nvSpPr>
          <p:cNvPr id="50" name="Text 47"/>
          <p:cNvSpPr txBox="1"/>
          <p:nvPr/>
        </p:nvSpPr>
        <p:spPr>
          <a:xfrm>
            <a:off x="7406640" y="5340096"/>
            <a:ext cx="457200" cy="219456"/>
          </a:xfrm>
          <a:prstGeom prst="rect">
            <a:avLst/>
          </a:prstGeom>
          <a:noFill/>
          <a:ln/>
        </p:spPr>
        <p:txBody>
          <a:bodyPr wrap="square" lIns="0" tIns="0" rIns="0" bIns="0" rtlCol="0" anchor="t"/>
          <a:lstStyle/>
          <a:p>
            <a:pPr algn="ctr" indent="0" marL="0">
              <a:buNone/>
            </a:pPr>
            <a:r>
              <a:rPr lang="en-US" sz="1140" b="1" dirty="0">
                <a:solidFill>
                  <a:srgbClr val="B3181E"/>
                </a:solidFill>
                <a:latin typeface="Aptos" pitchFamily="34" charset="0"/>
                <a:ea typeface="Aptos" pitchFamily="34" charset="-122"/>
                <a:cs typeface="Aptos" pitchFamily="34" charset="-120"/>
              </a:rPr>
              <a:t>0</a:t>
            </a:r>
            <a:endParaRPr lang="en-US" sz="1140" dirty="0"/>
          </a:p>
        </p:txBody>
      </p:sp>
      <p:sp>
        <p:nvSpPr>
          <p:cNvPr id="51" name="Shape 48"/>
          <p:cNvSpPr/>
          <p:nvPr/>
        </p:nvSpPr>
        <p:spPr>
          <a:xfrm>
            <a:off x="9418320" y="5349240"/>
            <a:ext cx="1371600" cy="201168"/>
          </a:xfrm>
          <a:prstGeom prst="rect">
            <a:avLst/>
          </a:prstGeom>
          <a:solidFill>
            <a:srgbClr val="52606D"/>
          </a:solidFill>
          <a:ln w="12700">
            <a:solidFill>
              <a:srgbClr val="52606D"/>
            </a:solidFill>
            <a:prstDash val="solid"/>
          </a:ln>
        </p:spPr>
      </p:sp>
      <p:sp>
        <p:nvSpPr>
          <p:cNvPr id="52" name="Text 49"/>
          <p:cNvSpPr txBox="1"/>
          <p:nvPr/>
        </p:nvSpPr>
        <p:spPr>
          <a:xfrm>
            <a:off x="9473184" y="5372100"/>
            <a:ext cx="1261872" cy="155448"/>
          </a:xfrm>
          <a:prstGeom prst="rect">
            <a:avLst/>
          </a:prstGeom>
          <a:noFill/>
          <a:ln/>
        </p:spPr>
        <p:txBody>
          <a:bodyPr wrap="square" lIns="0" tIns="0" rIns="0" bIns="0" rtlCol="0" anchor="ctr"/>
          <a:lstStyle/>
          <a:p>
            <a:pPr algn="ctr" indent="0" marL="0">
              <a:buNone/>
            </a:pPr>
            <a:r>
              <a:rPr lang="en-US" sz="900" b="1" dirty="0">
                <a:solidFill>
                  <a:srgbClr val="FFFFFF"/>
                </a:solidFill>
                <a:latin typeface="Aptos" pitchFamily="34" charset="0"/>
                <a:ea typeface="Aptos" pitchFamily="34" charset="-122"/>
                <a:cs typeface="Aptos" pitchFamily="34" charset="-120"/>
              </a:rPr>
              <a:t>nivel 2</a:t>
            </a:r>
            <a:endParaRPr lang="en-US" sz="900" dirty="0"/>
          </a:p>
        </p:txBody>
      </p:sp>
      <p:sp>
        <p:nvSpPr>
          <p:cNvPr id="53" name="Shape 50"/>
          <p:cNvSpPr/>
          <p:nvPr/>
        </p:nvSpPr>
        <p:spPr>
          <a:xfrm>
            <a:off x="658368" y="5669280"/>
            <a:ext cx="10874959" cy="457200"/>
          </a:xfrm>
          <a:prstGeom prst="rect">
            <a:avLst/>
          </a:prstGeom>
          <a:solidFill>
            <a:srgbClr val="F2E7D9"/>
          </a:solidFill>
          <a:ln w="12700">
            <a:solidFill>
              <a:srgbClr val="F2E7D9"/>
            </a:solidFill>
            <a:prstDash val="solid"/>
          </a:ln>
        </p:spPr>
      </p:sp>
      <p:sp>
        <p:nvSpPr>
          <p:cNvPr id="54" name="Shape 51"/>
          <p:cNvSpPr/>
          <p:nvPr/>
        </p:nvSpPr>
        <p:spPr>
          <a:xfrm>
            <a:off x="658368" y="5669280"/>
            <a:ext cx="54864" cy="457200"/>
          </a:xfrm>
          <a:prstGeom prst="rect">
            <a:avLst/>
          </a:prstGeom>
          <a:solidFill>
            <a:srgbClr val="B3181E"/>
          </a:solidFill>
          <a:ln w="12700">
            <a:solidFill>
              <a:srgbClr val="B3181E"/>
            </a:solidFill>
            <a:prstDash val="solid"/>
          </a:ln>
        </p:spPr>
      </p:sp>
      <p:sp>
        <p:nvSpPr>
          <p:cNvPr id="55" name="Text 52"/>
          <p:cNvSpPr txBox="1"/>
          <p:nvPr/>
        </p:nvSpPr>
        <p:spPr>
          <a:xfrm>
            <a:off x="969264" y="5724144"/>
            <a:ext cx="10253167" cy="347472"/>
          </a:xfrm>
          <a:prstGeom prst="rect">
            <a:avLst/>
          </a:prstGeom>
          <a:noFill/>
          <a:ln/>
        </p:spPr>
        <p:txBody>
          <a:bodyPr wrap="square" lIns="0" tIns="0" rIns="0" bIns="0" rtlCol="0" anchor="ctr"/>
          <a:lstStyle/>
          <a:p>
            <a:pPr algn="l" indent="0" marL="0">
              <a:buNone/>
            </a:pPr>
            <a:r>
              <a:rPr lang="en-US" sz="1280" b="1" dirty="0">
                <a:solidFill>
                  <a:srgbClr val="243B53"/>
                </a:solidFill>
                <a:latin typeface="Aptos" pitchFamily="34" charset="0"/>
                <a:ea typeface="Aptos" pitchFamily="34" charset="-122"/>
                <a:cs typeface="Aptos" pitchFamily="34" charset="-120"/>
              </a:rPr>
              <a:t>Siete de veintitrés pruebas sobre una función de una línea. La cuota que no es semanal, en cero.</a:t>
            </a:r>
            <a:endParaRPr lang="en-US" sz="128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25</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2 · QUÉ HACER CON CADA RIESGO</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2700" b="1" dirty="0">
                <a:solidFill>
                  <a:srgbClr val="243B53"/>
                </a:solidFill>
                <a:latin typeface="Aptos Display" pitchFamily="34" charset="0"/>
                <a:ea typeface="Aptos Display" pitchFamily="34" charset="-122"/>
                <a:cs typeface="Aptos Display" pitchFamily="34" charset="-120"/>
              </a:rPr>
              <a:t>Probar es una de cuatro respuestas, no la única</a:t>
            </a:r>
            <a:endParaRPr lang="en-US" sz="2700" dirty="0"/>
          </a:p>
        </p:txBody>
      </p:sp>
      <p:sp>
        <p:nvSpPr>
          <p:cNvPr id="10" name="Text 7"/>
          <p:cNvSpPr txBox="1"/>
          <p:nvPr/>
        </p:nvSpPr>
        <p:spPr>
          <a:xfrm>
            <a:off x="658368" y="1664208"/>
            <a:ext cx="10424160" cy="347472"/>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Suponer que cada fila del registro exige una prueba es lo que convierte un registro en una lista de tareas imposible.</a:t>
            </a:r>
            <a:endParaRPr lang="en-US" sz="1420" dirty="0"/>
          </a:p>
        </p:txBody>
      </p:sp>
      <p:sp>
        <p:nvSpPr>
          <p:cNvPr id="11" name="Shape 8"/>
          <p:cNvSpPr/>
          <p:nvPr/>
        </p:nvSpPr>
        <p:spPr>
          <a:xfrm>
            <a:off x="658368" y="2249424"/>
            <a:ext cx="2622728" cy="1389888"/>
          </a:xfrm>
          <a:prstGeom prst="rect">
            <a:avLst/>
          </a:prstGeom>
          <a:solidFill>
            <a:srgbClr val="F2E7D9"/>
          </a:solidFill>
          <a:ln w="12700">
            <a:solidFill>
              <a:srgbClr val="F2E7D9"/>
            </a:solidFill>
            <a:prstDash val="solid"/>
          </a:ln>
        </p:spPr>
      </p:sp>
      <p:sp>
        <p:nvSpPr>
          <p:cNvPr id="12" name="Shape 9"/>
          <p:cNvSpPr/>
          <p:nvPr/>
        </p:nvSpPr>
        <p:spPr>
          <a:xfrm>
            <a:off x="658368" y="2249424"/>
            <a:ext cx="2622728" cy="54864"/>
          </a:xfrm>
          <a:prstGeom prst="rect">
            <a:avLst/>
          </a:prstGeom>
          <a:solidFill>
            <a:srgbClr val="B3181E"/>
          </a:solidFill>
          <a:ln w="12700">
            <a:solidFill>
              <a:srgbClr val="B3181E"/>
            </a:solidFill>
            <a:prstDash val="solid"/>
          </a:ln>
        </p:spPr>
      </p:sp>
      <p:sp>
        <p:nvSpPr>
          <p:cNvPr id="13" name="Text 10"/>
          <p:cNvSpPr txBox="1"/>
          <p:nvPr/>
        </p:nvSpPr>
        <p:spPr>
          <a:xfrm>
            <a:off x="859536" y="2450592"/>
            <a:ext cx="2220392" cy="457200"/>
          </a:xfrm>
          <a:prstGeom prst="rect">
            <a:avLst/>
          </a:prstGeom>
          <a:noFill/>
          <a:ln/>
        </p:spPr>
        <p:txBody>
          <a:bodyPr wrap="square" lIns="0" tIns="0" rIns="0" bIns="0" rtlCol="0" anchor="t"/>
          <a:lstStyle/>
          <a:p>
            <a:pPr algn="l" indent="0" marL="0">
              <a:lnSpc>
                <a:spcPct val="106000"/>
              </a:lnSpc>
              <a:buNone/>
            </a:pPr>
            <a:r>
              <a:rPr lang="en-US" sz="1340" b="1" dirty="0">
                <a:solidFill>
                  <a:srgbClr val="B3181E"/>
                </a:solidFill>
                <a:latin typeface="Aptos" pitchFamily="34" charset="0"/>
                <a:ea typeface="Aptos" pitchFamily="34" charset="-122"/>
                <a:cs typeface="Aptos" pitchFamily="34" charset="-120"/>
              </a:rPr>
              <a:t>Mitigar probando</a:t>
            </a:r>
            <a:endParaRPr lang="en-US" sz="1340" dirty="0"/>
          </a:p>
        </p:txBody>
      </p:sp>
      <p:sp>
        <p:nvSpPr>
          <p:cNvPr id="14" name="Text 11"/>
          <p:cNvSpPr txBox="1"/>
          <p:nvPr/>
        </p:nvSpPr>
        <p:spPr>
          <a:xfrm>
            <a:off x="859536" y="2944368"/>
            <a:ext cx="2220392" cy="585216"/>
          </a:xfrm>
          <a:prstGeom prst="rect">
            <a:avLst/>
          </a:prstGeom>
          <a:noFill/>
          <a:ln/>
        </p:spPr>
        <p:txBody>
          <a:bodyPr wrap="square" lIns="0" tIns="0" rIns="0" bIns="0" rtlCol="0" anchor="t"/>
          <a:lstStyle/>
          <a:p>
            <a:pPr algn="l" indent="0" marL="0">
              <a:lnSpc>
                <a:spcPct val="110000"/>
              </a:lnSpc>
              <a:buNone/>
            </a:pPr>
            <a:r>
              <a:rPr lang="en-US" sz="1040" dirty="0">
                <a:solidFill>
                  <a:srgbClr val="52606D"/>
                </a:solidFill>
                <a:latin typeface="Aptos" pitchFamily="34" charset="0"/>
                <a:ea typeface="Aptos" pitchFamily="34" charset="-122"/>
                <a:cs typeface="Aptos" pitchFamily="34" charset="-120"/>
              </a:rPr>
              <a:t>Escribir pruebas que reduzcan la probabilidad de que el fallo llegue al usuario.</a:t>
            </a:r>
            <a:endParaRPr lang="en-US" sz="1040" dirty="0"/>
          </a:p>
        </p:txBody>
      </p:sp>
      <p:sp>
        <p:nvSpPr>
          <p:cNvPr id="15" name="Shape 12"/>
          <p:cNvSpPr/>
          <p:nvPr/>
        </p:nvSpPr>
        <p:spPr>
          <a:xfrm>
            <a:off x="3409112" y="2249424"/>
            <a:ext cx="2622728" cy="1389888"/>
          </a:xfrm>
          <a:prstGeom prst="rect">
            <a:avLst/>
          </a:prstGeom>
          <a:solidFill>
            <a:srgbClr val="FFFFFF"/>
          </a:solidFill>
          <a:ln w="12700">
            <a:solidFill>
              <a:srgbClr val="FFFFFF"/>
            </a:solidFill>
            <a:prstDash val="solid"/>
          </a:ln>
        </p:spPr>
      </p:sp>
      <p:sp>
        <p:nvSpPr>
          <p:cNvPr id="16" name="Shape 13"/>
          <p:cNvSpPr/>
          <p:nvPr/>
        </p:nvSpPr>
        <p:spPr>
          <a:xfrm>
            <a:off x="3409112" y="2249424"/>
            <a:ext cx="2622728" cy="54864"/>
          </a:xfrm>
          <a:prstGeom prst="rect">
            <a:avLst/>
          </a:prstGeom>
          <a:solidFill>
            <a:srgbClr val="102A43"/>
          </a:solidFill>
          <a:ln w="12700">
            <a:solidFill>
              <a:srgbClr val="102A43"/>
            </a:solidFill>
            <a:prstDash val="solid"/>
          </a:ln>
        </p:spPr>
      </p:sp>
      <p:sp>
        <p:nvSpPr>
          <p:cNvPr id="17" name="Text 14"/>
          <p:cNvSpPr txBox="1"/>
          <p:nvPr/>
        </p:nvSpPr>
        <p:spPr>
          <a:xfrm>
            <a:off x="3610280" y="2450592"/>
            <a:ext cx="2220392" cy="457200"/>
          </a:xfrm>
          <a:prstGeom prst="rect">
            <a:avLst/>
          </a:prstGeom>
          <a:noFill/>
          <a:ln/>
        </p:spPr>
        <p:txBody>
          <a:bodyPr wrap="square" lIns="0" tIns="0" rIns="0" bIns="0" rtlCol="0" anchor="t"/>
          <a:lstStyle/>
          <a:p>
            <a:pPr algn="l" indent="0" marL="0">
              <a:lnSpc>
                <a:spcPct val="106000"/>
              </a:lnSpc>
              <a:buNone/>
            </a:pPr>
            <a:r>
              <a:rPr lang="en-US" sz="1340" b="1" dirty="0">
                <a:solidFill>
                  <a:srgbClr val="102A43"/>
                </a:solidFill>
                <a:latin typeface="Aptos" pitchFamily="34" charset="0"/>
                <a:ea typeface="Aptos" pitchFamily="34" charset="-122"/>
                <a:cs typeface="Aptos" pitchFamily="34" charset="-120"/>
              </a:rPr>
              <a:t>Aceptar</a:t>
            </a:r>
            <a:endParaRPr lang="en-US" sz="1340" dirty="0"/>
          </a:p>
        </p:txBody>
      </p:sp>
      <p:sp>
        <p:nvSpPr>
          <p:cNvPr id="18" name="Text 15"/>
          <p:cNvSpPr txBox="1"/>
          <p:nvPr/>
        </p:nvSpPr>
        <p:spPr>
          <a:xfrm>
            <a:off x="3610280" y="2944368"/>
            <a:ext cx="2220392" cy="585216"/>
          </a:xfrm>
          <a:prstGeom prst="rect">
            <a:avLst/>
          </a:prstGeom>
          <a:noFill/>
          <a:ln/>
        </p:spPr>
        <p:txBody>
          <a:bodyPr wrap="square" lIns="0" tIns="0" rIns="0" bIns="0" rtlCol="0" anchor="t"/>
          <a:lstStyle/>
          <a:p>
            <a:pPr algn="l" indent="0" marL="0">
              <a:lnSpc>
                <a:spcPct val="110000"/>
              </a:lnSpc>
              <a:buNone/>
            </a:pPr>
            <a:r>
              <a:rPr lang="en-US" sz="1040" dirty="0">
                <a:solidFill>
                  <a:srgbClr val="52606D"/>
                </a:solidFill>
                <a:latin typeface="Aptos" pitchFamily="34" charset="0"/>
                <a:ea typeface="Aptos" pitchFamily="34" charset="-122"/>
                <a:cs typeface="Aptos" pitchFamily="34" charset="-120"/>
              </a:rPr>
              <a:t>Decidir, y dejar escrito, que se convive con el riesgo.</a:t>
            </a:r>
            <a:endParaRPr lang="en-US" sz="1040" dirty="0"/>
          </a:p>
        </p:txBody>
      </p:sp>
      <p:sp>
        <p:nvSpPr>
          <p:cNvPr id="19" name="Shape 16"/>
          <p:cNvSpPr/>
          <p:nvPr/>
        </p:nvSpPr>
        <p:spPr>
          <a:xfrm>
            <a:off x="6159856" y="2249424"/>
            <a:ext cx="2622728" cy="1389888"/>
          </a:xfrm>
          <a:prstGeom prst="rect">
            <a:avLst/>
          </a:prstGeom>
          <a:solidFill>
            <a:srgbClr val="FFFFFF"/>
          </a:solidFill>
          <a:ln w="12700">
            <a:solidFill>
              <a:srgbClr val="FFFFFF"/>
            </a:solidFill>
            <a:prstDash val="solid"/>
          </a:ln>
        </p:spPr>
      </p:sp>
      <p:sp>
        <p:nvSpPr>
          <p:cNvPr id="20" name="Shape 17"/>
          <p:cNvSpPr/>
          <p:nvPr/>
        </p:nvSpPr>
        <p:spPr>
          <a:xfrm>
            <a:off x="6159856" y="2249424"/>
            <a:ext cx="2622728" cy="54864"/>
          </a:xfrm>
          <a:prstGeom prst="rect">
            <a:avLst/>
          </a:prstGeom>
          <a:solidFill>
            <a:srgbClr val="102A43"/>
          </a:solidFill>
          <a:ln w="12700">
            <a:solidFill>
              <a:srgbClr val="102A43"/>
            </a:solidFill>
            <a:prstDash val="solid"/>
          </a:ln>
        </p:spPr>
      </p:sp>
      <p:sp>
        <p:nvSpPr>
          <p:cNvPr id="21" name="Text 18"/>
          <p:cNvSpPr txBox="1"/>
          <p:nvPr/>
        </p:nvSpPr>
        <p:spPr>
          <a:xfrm>
            <a:off x="6361024" y="2450592"/>
            <a:ext cx="2220392" cy="457200"/>
          </a:xfrm>
          <a:prstGeom prst="rect">
            <a:avLst/>
          </a:prstGeom>
          <a:noFill/>
          <a:ln/>
        </p:spPr>
        <p:txBody>
          <a:bodyPr wrap="square" lIns="0" tIns="0" rIns="0" bIns="0" rtlCol="0" anchor="t"/>
          <a:lstStyle/>
          <a:p>
            <a:pPr algn="l" indent="0" marL="0">
              <a:lnSpc>
                <a:spcPct val="106000"/>
              </a:lnSpc>
              <a:buNone/>
            </a:pPr>
            <a:r>
              <a:rPr lang="en-US" sz="1340" b="1" dirty="0">
                <a:solidFill>
                  <a:srgbClr val="102A43"/>
                </a:solidFill>
                <a:latin typeface="Aptos" pitchFamily="34" charset="0"/>
                <a:ea typeface="Aptos" pitchFamily="34" charset="-122"/>
                <a:cs typeface="Aptos" pitchFamily="34" charset="-120"/>
              </a:rPr>
              <a:t>Transferir</a:t>
            </a:r>
            <a:endParaRPr lang="en-US" sz="1340" dirty="0"/>
          </a:p>
        </p:txBody>
      </p:sp>
      <p:sp>
        <p:nvSpPr>
          <p:cNvPr id="22" name="Text 19"/>
          <p:cNvSpPr txBox="1"/>
          <p:nvPr/>
        </p:nvSpPr>
        <p:spPr>
          <a:xfrm>
            <a:off x="6361024" y="2944368"/>
            <a:ext cx="2220392" cy="585216"/>
          </a:xfrm>
          <a:prstGeom prst="rect">
            <a:avLst/>
          </a:prstGeom>
          <a:noFill/>
          <a:ln/>
        </p:spPr>
        <p:txBody>
          <a:bodyPr wrap="square" lIns="0" tIns="0" rIns="0" bIns="0" rtlCol="0" anchor="t"/>
          <a:lstStyle/>
          <a:p>
            <a:pPr algn="l" indent="0" marL="0">
              <a:lnSpc>
                <a:spcPct val="110000"/>
              </a:lnSpc>
              <a:buNone/>
            </a:pPr>
            <a:r>
              <a:rPr lang="en-US" sz="1040" dirty="0">
                <a:solidFill>
                  <a:srgbClr val="52606D"/>
                </a:solidFill>
                <a:latin typeface="Aptos" pitchFamily="34" charset="0"/>
                <a:ea typeface="Aptos" pitchFamily="34" charset="-122"/>
                <a:cs typeface="Aptos" pitchFamily="34" charset="-120"/>
              </a:rPr>
              <a:t>Pasarlo a otro responsable, por ejemplo a una biblioteca mantenida por terceros.</a:t>
            </a:r>
            <a:endParaRPr lang="en-US" sz="1040" dirty="0"/>
          </a:p>
        </p:txBody>
      </p:sp>
      <p:sp>
        <p:nvSpPr>
          <p:cNvPr id="23" name="Shape 20"/>
          <p:cNvSpPr/>
          <p:nvPr/>
        </p:nvSpPr>
        <p:spPr>
          <a:xfrm>
            <a:off x="8910599" y="2249424"/>
            <a:ext cx="2622728" cy="1389888"/>
          </a:xfrm>
          <a:prstGeom prst="rect">
            <a:avLst/>
          </a:prstGeom>
          <a:solidFill>
            <a:srgbClr val="FFFFFF"/>
          </a:solidFill>
          <a:ln w="12700">
            <a:solidFill>
              <a:srgbClr val="FFFFFF"/>
            </a:solidFill>
            <a:prstDash val="solid"/>
          </a:ln>
        </p:spPr>
      </p:sp>
      <p:sp>
        <p:nvSpPr>
          <p:cNvPr id="24" name="Shape 21"/>
          <p:cNvSpPr/>
          <p:nvPr/>
        </p:nvSpPr>
        <p:spPr>
          <a:xfrm>
            <a:off x="8910599" y="2249424"/>
            <a:ext cx="2622728" cy="54864"/>
          </a:xfrm>
          <a:prstGeom prst="rect">
            <a:avLst/>
          </a:prstGeom>
          <a:solidFill>
            <a:srgbClr val="102A43"/>
          </a:solidFill>
          <a:ln w="12700">
            <a:solidFill>
              <a:srgbClr val="102A43"/>
            </a:solidFill>
            <a:prstDash val="solid"/>
          </a:ln>
        </p:spPr>
      </p:sp>
      <p:sp>
        <p:nvSpPr>
          <p:cNvPr id="25" name="Text 22"/>
          <p:cNvSpPr txBox="1"/>
          <p:nvPr/>
        </p:nvSpPr>
        <p:spPr>
          <a:xfrm>
            <a:off x="9111767" y="2450592"/>
            <a:ext cx="2220392" cy="457200"/>
          </a:xfrm>
          <a:prstGeom prst="rect">
            <a:avLst/>
          </a:prstGeom>
          <a:noFill/>
          <a:ln/>
        </p:spPr>
        <p:txBody>
          <a:bodyPr wrap="square" lIns="0" tIns="0" rIns="0" bIns="0" rtlCol="0" anchor="t"/>
          <a:lstStyle/>
          <a:p>
            <a:pPr algn="l" indent="0" marL="0">
              <a:lnSpc>
                <a:spcPct val="106000"/>
              </a:lnSpc>
              <a:buNone/>
            </a:pPr>
            <a:r>
              <a:rPr lang="en-US" sz="1340" b="1" dirty="0">
                <a:solidFill>
                  <a:srgbClr val="102A43"/>
                </a:solidFill>
                <a:latin typeface="Aptos" pitchFamily="34" charset="0"/>
                <a:ea typeface="Aptos" pitchFamily="34" charset="-122"/>
                <a:cs typeface="Aptos" pitchFamily="34" charset="-120"/>
              </a:rPr>
              <a:t>Plan de contingencia</a:t>
            </a:r>
            <a:endParaRPr lang="en-US" sz="1340" dirty="0"/>
          </a:p>
        </p:txBody>
      </p:sp>
      <p:sp>
        <p:nvSpPr>
          <p:cNvPr id="26" name="Text 23"/>
          <p:cNvSpPr txBox="1"/>
          <p:nvPr/>
        </p:nvSpPr>
        <p:spPr>
          <a:xfrm>
            <a:off x="9111767" y="2944368"/>
            <a:ext cx="2220392" cy="585216"/>
          </a:xfrm>
          <a:prstGeom prst="rect">
            <a:avLst/>
          </a:prstGeom>
          <a:noFill/>
          <a:ln/>
        </p:spPr>
        <p:txBody>
          <a:bodyPr wrap="square" lIns="0" tIns="0" rIns="0" bIns="0" rtlCol="0" anchor="t"/>
          <a:lstStyle/>
          <a:p>
            <a:pPr algn="l" indent="0" marL="0">
              <a:lnSpc>
                <a:spcPct val="110000"/>
              </a:lnSpc>
              <a:buNone/>
            </a:pPr>
            <a:r>
              <a:rPr lang="en-US" sz="1040" dirty="0">
                <a:solidFill>
                  <a:srgbClr val="52606D"/>
                </a:solidFill>
                <a:latin typeface="Aptos" pitchFamily="34" charset="0"/>
                <a:ea typeface="Aptos" pitchFamily="34" charset="-122"/>
                <a:cs typeface="Aptos" pitchFamily="34" charset="-120"/>
              </a:rPr>
              <a:t>Preparar qué se hace si llega a ocurrir.</a:t>
            </a:r>
            <a:endParaRPr lang="en-US" sz="1040" dirty="0"/>
          </a:p>
        </p:txBody>
      </p:sp>
      <p:sp>
        <p:nvSpPr>
          <p:cNvPr id="27" name="Text 24"/>
          <p:cNvSpPr txBox="1"/>
          <p:nvPr/>
        </p:nvSpPr>
        <p:spPr>
          <a:xfrm>
            <a:off x="658368" y="3803904"/>
            <a:ext cx="10874959" cy="274320"/>
          </a:xfrm>
          <a:prstGeom prst="rect">
            <a:avLst/>
          </a:prstGeom>
          <a:noFill/>
          <a:ln/>
        </p:spPr>
        <p:txBody>
          <a:bodyPr wrap="square" lIns="0" tIns="0" rIns="0" bIns="0" rtlCol="0" anchor="t"/>
          <a:lstStyle/>
          <a:p>
            <a:pPr algn="l" indent="0" marL="0">
              <a:buNone/>
            </a:pPr>
            <a:r>
              <a:rPr lang="en-US" sz="1240" dirty="0">
                <a:solidFill>
                  <a:srgbClr val="243B53"/>
                </a:solidFill>
                <a:latin typeface="Aptos" pitchFamily="34" charset="0"/>
                <a:ea typeface="Aptos" pitchFamily="34" charset="-122"/>
                <a:cs typeface="Aptos" pitchFamily="34" charset="-120"/>
              </a:rPr>
              <a:t>Aceptar no es ignorar. Aceptar es escribir «este riesgo se conoce, se valoró y se decide no tratarlo por esta razón». Ignorar es que no aparezca.</a:t>
            </a:r>
            <a:endParaRPr lang="en-US" sz="1240" dirty="0"/>
          </a:p>
        </p:txBody>
      </p:sp>
      <p:sp>
        <p:nvSpPr>
          <p:cNvPr id="28" name="Text 25"/>
          <p:cNvSpPr txBox="1"/>
          <p:nvPr/>
        </p:nvSpPr>
        <p:spPr>
          <a:xfrm>
            <a:off x="658368" y="4315968"/>
            <a:ext cx="7315200" cy="201168"/>
          </a:xfrm>
          <a:prstGeom prst="rect">
            <a:avLst/>
          </a:prstGeom>
          <a:noFill/>
          <a:ln/>
        </p:spPr>
        <p:txBody>
          <a:bodyPr wrap="square" lIns="0" tIns="0" rIns="0" bIns="0" rtlCol="0" anchor="t"/>
          <a:lstStyle/>
          <a:p>
            <a:pPr algn="l" indent="0" marL="0">
              <a:buNone/>
            </a:pPr>
            <a:r>
              <a:rPr lang="en-US" sz="960" b="1" spc="130" kern="0" dirty="0">
                <a:solidFill>
                  <a:srgbClr val="D62027"/>
                </a:solidFill>
                <a:latin typeface="Aptos" pitchFamily="34" charset="0"/>
                <a:ea typeface="Aptos" pitchFamily="34" charset="-122"/>
                <a:cs typeface="Aptos" pitchFamily="34" charset="-120"/>
              </a:rPr>
              <a:t>LO QUE HIZO EL AGENTE CON SUS DIEZ RIESGOS DE PRODUCTO</a:t>
            </a:r>
            <a:endParaRPr lang="en-US" sz="960" dirty="0"/>
          </a:p>
        </p:txBody>
      </p:sp>
      <p:sp>
        <p:nvSpPr>
          <p:cNvPr id="29" name="Shape 26"/>
          <p:cNvSpPr/>
          <p:nvPr/>
        </p:nvSpPr>
        <p:spPr>
          <a:xfrm>
            <a:off x="658368" y="4553712"/>
            <a:ext cx="2377440" cy="914400"/>
          </a:xfrm>
          <a:prstGeom prst="rect">
            <a:avLst/>
          </a:prstGeom>
          <a:solidFill>
            <a:srgbClr val="F2E7D9"/>
          </a:solidFill>
          <a:ln w="12700">
            <a:solidFill>
              <a:srgbClr val="B3181E"/>
            </a:solidFill>
            <a:prstDash val="solid"/>
          </a:ln>
        </p:spPr>
      </p:sp>
      <p:sp>
        <p:nvSpPr>
          <p:cNvPr id="30" name="Text 27"/>
          <p:cNvSpPr txBox="1"/>
          <p:nvPr/>
        </p:nvSpPr>
        <p:spPr>
          <a:xfrm>
            <a:off x="658368" y="4645152"/>
            <a:ext cx="2377440" cy="420624"/>
          </a:xfrm>
          <a:prstGeom prst="rect">
            <a:avLst/>
          </a:prstGeom>
          <a:noFill/>
          <a:ln/>
        </p:spPr>
        <p:txBody>
          <a:bodyPr wrap="square" lIns="0" tIns="0" rIns="0" bIns="0" rtlCol="0" anchor="t"/>
          <a:lstStyle/>
          <a:p>
            <a:pPr algn="ctr" indent="0" marL="0">
              <a:buNone/>
            </a:pPr>
            <a:r>
              <a:rPr lang="en-US" sz="2800" b="1" dirty="0">
                <a:solidFill>
                  <a:srgbClr val="B3181E"/>
                </a:solidFill>
                <a:latin typeface="Aptos Display" pitchFamily="34" charset="0"/>
                <a:ea typeface="Aptos Display" pitchFamily="34" charset="-122"/>
                <a:cs typeface="Aptos Display" pitchFamily="34" charset="-120"/>
              </a:rPr>
              <a:t>9 de 10</a:t>
            </a:r>
            <a:endParaRPr lang="en-US" sz="2800" dirty="0"/>
          </a:p>
        </p:txBody>
      </p:sp>
      <p:sp>
        <p:nvSpPr>
          <p:cNvPr id="31" name="Text 28"/>
          <p:cNvSpPr txBox="1"/>
          <p:nvPr/>
        </p:nvSpPr>
        <p:spPr>
          <a:xfrm>
            <a:off x="658368" y="5084064"/>
            <a:ext cx="2377440" cy="219456"/>
          </a:xfrm>
          <a:prstGeom prst="rect">
            <a:avLst/>
          </a:prstGeom>
          <a:noFill/>
          <a:ln/>
        </p:spPr>
        <p:txBody>
          <a:bodyPr wrap="square" lIns="0" tIns="0" rIns="0" bIns="0" rtlCol="0" anchor="t"/>
          <a:lstStyle/>
          <a:p>
            <a:pPr algn="ctr" indent="0" marL="0">
              <a:buNone/>
            </a:pPr>
            <a:r>
              <a:rPr lang="en-US" sz="1020" dirty="0">
                <a:solidFill>
                  <a:srgbClr val="B3181E"/>
                </a:solidFill>
                <a:latin typeface="Aptos" pitchFamily="34" charset="0"/>
                <a:ea typeface="Aptos" pitchFamily="34" charset="-122"/>
                <a:cs typeface="Aptos" pitchFamily="34" charset="-120"/>
              </a:rPr>
              <a:t>recibieron una prueba</a:t>
            </a:r>
            <a:endParaRPr lang="en-US" sz="1020" dirty="0"/>
          </a:p>
        </p:txBody>
      </p:sp>
      <p:sp>
        <p:nvSpPr>
          <p:cNvPr id="32" name="Text 29"/>
          <p:cNvSpPr txBox="1"/>
          <p:nvPr/>
        </p:nvSpPr>
        <p:spPr>
          <a:xfrm>
            <a:off x="3291840" y="4608576"/>
            <a:ext cx="4480560" cy="822960"/>
          </a:xfrm>
          <a:prstGeom prst="rect">
            <a:avLst/>
          </a:prstGeom>
          <a:noFill/>
          <a:ln/>
        </p:spPr>
        <p:txBody>
          <a:bodyPr wrap="square" lIns="0" tIns="0" rIns="0" bIns="0" rtlCol="0" anchor="t"/>
          <a:lstStyle/>
          <a:p>
            <a:pPr algn="l" indent="0" marL="0">
              <a:lnSpc>
                <a:spcPct val="114000"/>
              </a:lnSpc>
              <a:buNone/>
            </a:pPr>
            <a:r>
              <a:rPr lang="en-US" sz="1120" dirty="0">
                <a:solidFill>
                  <a:srgbClr val="243B53"/>
                </a:solidFill>
                <a:latin typeface="Aptos" pitchFamily="34" charset="0"/>
                <a:ea typeface="Aptos" pitchFamily="34" charset="-122"/>
                <a:cs typeface="Aptos" pitchFamily="34" charset="-120"/>
              </a:rPr>
              <a:t>El décimo, una revisión. Ninguno quedó aceptado, transferido ni con plan de contingencia. Se le pidió un plan de pruebas y respondió en ese idioma. Pero si nueve de diez exigen pruebas, el registro dejó de priorizar.</a:t>
            </a:r>
            <a:endParaRPr lang="en-US" sz="1120" dirty="0"/>
          </a:p>
        </p:txBody>
      </p:sp>
      <p:sp>
        <p:nvSpPr>
          <p:cNvPr id="33" name="Shape 30"/>
          <p:cNvSpPr/>
          <p:nvPr/>
        </p:nvSpPr>
        <p:spPr>
          <a:xfrm>
            <a:off x="8028432" y="4553712"/>
            <a:ext cx="3502152" cy="914400"/>
          </a:xfrm>
          <a:prstGeom prst="rect">
            <a:avLst/>
          </a:prstGeom>
          <a:solidFill>
            <a:srgbClr val="1D3A57"/>
          </a:solidFill>
          <a:ln w="12700">
            <a:solidFill>
              <a:srgbClr val="1D3A57"/>
            </a:solidFill>
            <a:prstDash val="solid"/>
          </a:ln>
        </p:spPr>
      </p:sp>
      <p:sp>
        <p:nvSpPr>
          <p:cNvPr id="34" name="Text 31"/>
          <p:cNvSpPr txBox="1"/>
          <p:nvPr/>
        </p:nvSpPr>
        <p:spPr>
          <a:xfrm>
            <a:off x="8247888" y="4645152"/>
            <a:ext cx="3063240" cy="731520"/>
          </a:xfrm>
          <a:prstGeom prst="rect">
            <a:avLst/>
          </a:prstGeom>
          <a:noFill/>
          <a:ln/>
        </p:spPr>
        <p:txBody>
          <a:bodyPr wrap="square" lIns="0" tIns="0" rIns="0" bIns="0" rtlCol="0" anchor="t"/>
          <a:lstStyle/>
          <a:p>
            <a:pPr algn="l" indent="0" marL="0">
              <a:lnSpc>
                <a:spcPct val="114000"/>
              </a:lnSpc>
              <a:buNone/>
            </a:pPr>
            <a:r>
              <a:rPr lang="en-US" sz="1200" b="1" dirty="0">
                <a:solidFill>
                  <a:srgbClr val="FFFFFF"/>
                </a:solidFill>
                <a:latin typeface="Aptos" pitchFamily="34" charset="0"/>
                <a:ea typeface="Aptos" pitchFamily="34" charset="-122"/>
                <a:cs typeface="Aptos" pitchFamily="34" charset="-120"/>
              </a:rPr>
              <a:t>La decisión que no se delega no es cuáles riesgos existen. Es cuáles se aceptan.</a:t>
            </a:r>
            <a:endParaRPr lang="en-US" sz="1200" dirty="0"/>
          </a:p>
        </p:txBody>
      </p:sp>
      <p:sp>
        <p:nvSpPr>
          <p:cNvPr id="35" name="Shape 32"/>
          <p:cNvSpPr/>
          <p:nvPr/>
        </p:nvSpPr>
        <p:spPr>
          <a:xfrm>
            <a:off x="658368" y="5669280"/>
            <a:ext cx="10874959" cy="457200"/>
          </a:xfrm>
          <a:prstGeom prst="rect">
            <a:avLst/>
          </a:prstGeom>
          <a:solidFill>
            <a:srgbClr val="102A43"/>
          </a:solidFill>
          <a:ln w="12700">
            <a:solidFill>
              <a:srgbClr val="102A43"/>
            </a:solidFill>
            <a:prstDash val="solid"/>
          </a:ln>
        </p:spPr>
      </p:sp>
      <p:sp>
        <p:nvSpPr>
          <p:cNvPr id="36" name="Text 33"/>
          <p:cNvSpPr txBox="1"/>
          <p:nvPr/>
        </p:nvSpPr>
        <p:spPr>
          <a:xfrm>
            <a:off x="950976" y="5705856"/>
            <a:ext cx="10289743" cy="38404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Aceptar un riesgo es una decisión sobre cuánto daño se admite.</a:t>
            </a:r>
            <a:endParaRPr lang="en-US" sz="138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26</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2 · CIERRE</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Tres preguntas antes de trazar</a:t>
            </a:r>
            <a:endParaRPr lang="en-US" sz="3000" dirty="0"/>
          </a:p>
        </p:txBody>
      </p:sp>
      <p:sp>
        <p:nvSpPr>
          <p:cNvPr id="10" name="Text 7"/>
          <p:cNvSpPr txBox="1"/>
          <p:nvPr/>
        </p:nvSpPr>
        <p:spPr>
          <a:xfrm>
            <a:off x="658368" y="1664208"/>
            <a:ext cx="10424160" cy="329184"/>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Tres preguntas para comprobar la idea central antes de seguir.</a:t>
            </a:r>
            <a:endParaRPr lang="en-US" sz="1420" dirty="0"/>
          </a:p>
        </p:txBody>
      </p:sp>
      <p:sp>
        <p:nvSpPr>
          <p:cNvPr id="11" name="Shape 8"/>
          <p:cNvSpPr/>
          <p:nvPr/>
        </p:nvSpPr>
        <p:spPr>
          <a:xfrm>
            <a:off x="658368" y="2139696"/>
            <a:ext cx="10874959" cy="1097280"/>
          </a:xfrm>
          <a:prstGeom prst="rect">
            <a:avLst/>
          </a:prstGeom>
          <a:solidFill>
            <a:srgbClr val="F2E7D9"/>
          </a:solidFill>
          <a:ln w="12700">
            <a:solidFill>
              <a:srgbClr val="F2E7D9"/>
            </a:solidFill>
            <a:prstDash val="solid"/>
          </a:ln>
        </p:spPr>
      </p:sp>
      <p:sp>
        <p:nvSpPr>
          <p:cNvPr id="12" name="Shape 9"/>
          <p:cNvSpPr/>
          <p:nvPr/>
        </p:nvSpPr>
        <p:spPr>
          <a:xfrm>
            <a:off x="658368" y="2139696"/>
            <a:ext cx="54864" cy="1097280"/>
          </a:xfrm>
          <a:prstGeom prst="rect">
            <a:avLst/>
          </a:prstGeom>
          <a:solidFill>
            <a:srgbClr val="B3181E"/>
          </a:solidFill>
          <a:ln w="12700">
            <a:solidFill>
              <a:srgbClr val="B3181E"/>
            </a:solidFill>
            <a:prstDash val="solid"/>
          </a:ln>
        </p:spPr>
      </p:sp>
      <p:sp>
        <p:nvSpPr>
          <p:cNvPr id="13" name="Text 10"/>
          <p:cNvSpPr txBox="1"/>
          <p:nvPr/>
        </p:nvSpPr>
        <p:spPr>
          <a:xfrm>
            <a:off x="914400" y="2286000"/>
            <a:ext cx="493776" cy="420624"/>
          </a:xfrm>
          <a:prstGeom prst="rect">
            <a:avLst/>
          </a:prstGeom>
          <a:noFill/>
          <a:ln/>
        </p:spPr>
        <p:txBody>
          <a:bodyPr wrap="square" lIns="0" tIns="0" rIns="0" bIns="0" rtlCol="0" anchor="ctr"/>
          <a:lstStyle/>
          <a:p>
            <a:pPr algn="ctr" indent="0" marL="0">
              <a:buNone/>
            </a:pPr>
            <a:r>
              <a:rPr lang="en-US" sz="2600" b="1" dirty="0">
                <a:solidFill>
                  <a:srgbClr val="B3181E"/>
                </a:solidFill>
                <a:latin typeface="Aptos Display" pitchFamily="34" charset="0"/>
                <a:ea typeface="Aptos Display" pitchFamily="34" charset="-122"/>
                <a:cs typeface="Aptos Display" pitchFamily="34" charset="-120"/>
              </a:rPr>
              <a:t>1</a:t>
            </a:r>
            <a:endParaRPr lang="en-US" sz="2600" dirty="0"/>
          </a:p>
        </p:txBody>
      </p:sp>
      <p:sp>
        <p:nvSpPr>
          <p:cNvPr id="14" name="Text 11"/>
          <p:cNvSpPr txBox="1"/>
          <p:nvPr/>
        </p:nvSpPr>
        <p:spPr>
          <a:xfrm>
            <a:off x="1591056" y="2267712"/>
            <a:ext cx="9649663" cy="457200"/>
          </a:xfrm>
          <a:prstGeom prst="rect">
            <a:avLst/>
          </a:prstGeom>
          <a:noFill/>
          <a:ln/>
        </p:spPr>
        <p:txBody>
          <a:bodyPr wrap="square" lIns="0" tIns="0" rIns="0" bIns="0" rtlCol="0" anchor="t"/>
          <a:lstStyle/>
          <a:p>
            <a:pPr algn="l" indent="0" marL="0">
              <a:lnSpc>
                <a:spcPct val="114000"/>
              </a:lnSpc>
              <a:buNone/>
            </a:pPr>
            <a:r>
              <a:rPr lang="en-US" sz="1340" dirty="0">
                <a:solidFill>
                  <a:srgbClr val="243B53"/>
                </a:solidFill>
                <a:latin typeface="Aptos" pitchFamily="34" charset="0"/>
                <a:ea typeface="Aptos" pitchFamily="34" charset="-122"/>
                <a:cs typeface="Aptos" pitchFamily="34" charset="-120"/>
              </a:rPr>
              <a:t>RP2 se ejecutó y falló, así que su probabilidad es uno. Un compañero propone subirlo a nivel máximo en el registro y seguir. ¿Qué se pierde al dejarlo ahí?</a:t>
            </a:r>
            <a:endParaRPr lang="en-US" sz="1340" dirty="0"/>
          </a:p>
        </p:txBody>
      </p:sp>
      <p:sp>
        <p:nvSpPr>
          <p:cNvPr id="15" name="Shape 12"/>
          <p:cNvSpPr/>
          <p:nvPr/>
        </p:nvSpPr>
        <p:spPr>
          <a:xfrm>
            <a:off x="1591056" y="2798064"/>
            <a:ext cx="9649663" cy="0"/>
          </a:xfrm>
          <a:prstGeom prst="line">
            <a:avLst/>
          </a:prstGeom>
          <a:noFill/>
          <a:ln w="12700">
            <a:solidFill>
              <a:srgbClr val="D8CFC4"/>
            </a:solidFill>
            <a:prstDash val="solid"/>
            <a:headEnd type="none"/>
            <a:tailEnd type="none"/>
          </a:ln>
        </p:spPr>
      </p:sp>
      <p:sp>
        <p:nvSpPr>
          <p:cNvPr id="16" name="Text 13"/>
          <p:cNvSpPr txBox="1"/>
          <p:nvPr/>
        </p:nvSpPr>
        <p:spPr>
          <a:xfrm>
            <a:off x="1591056" y="2889504"/>
            <a:ext cx="640080" cy="164592"/>
          </a:xfrm>
          <a:prstGeom prst="rect">
            <a:avLst/>
          </a:prstGeom>
          <a:noFill/>
          <a:ln/>
        </p:spPr>
        <p:txBody>
          <a:bodyPr wrap="square" lIns="0" tIns="0" rIns="0" bIns="0" rtlCol="0" anchor="t"/>
          <a:lstStyle/>
          <a:p>
            <a:pPr algn="l" indent="0" marL="0">
              <a:buNone/>
            </a:pPr>
            <a:r>
              <a:rPr lang="en-US" sz="840" b="1" spc="110" kern="0" dirty="0">
                <a:solidFill>
                  <a:srgbClr val="B3181E"/>
                </a:solidFill>
                <a:latin typeface="Aptos" pitchFamily="34" charset="0"/>
                <a:ea typeface="Aptos" pitchFamily="34" charset="-122"/>
                <a:cs typeface="Aptos" pitchFamily="34" charset="-120"/>
              </a:rPr>
              <a:t>PISTA</a:t>
            </a:r>
            <a:endParaRPr lang="en-US" sz="840" dirty="0"/>
          </a:p>
        </p:txBody>
      </p:sp>
      <p:sp>
        <p:nvSpPr>
          <p:cNvPr id="17" name="Text 14"/>
          <p:cNvSpPr txBox="1"/>
          <p:nvPr/>
        </p:nvSpPr>
        <p:spPr>
          <a:xfrm>
            <a:off x="2286000" y="2862072"/>
            <a:ext cx="8954719" cy="256032"/>
          </a:xfrm>
          <a:prstGeom prst="rect">
            <a:avLst/>
          </a:prstGeom>
          <a:noFill/>
          <a:ln/>
        </p:spPr>
        <p:txBody>
          <a:bodyPr wrap="square" lIns="0" tIns="0" rIns="0" bIns="0" rtlCol="0" anchor="t"/>
          <a:lstStyle/>
          <a:p>
            <a:pPr algn="l" indent="0" marL="0">
              <a:buNone/>
            </a:pPr>
            <a:r>
              <a:rPr lang="en-US" sz="1140" i="1" dirty="0">
                <a:solidFill>
                  <a:srgbClr val="52606D"/>
                </a:solidFill>
                <a:latin typeface="Aptos" pitchFamily="34" charset="0"/>
                <a:ea typeface="Aptos" pitchFamily="34" charset="-122"/>
                <a:cs typeface="Aptos" pitchFamily="34" charset="-120"/>
              </a:rPr>
              <a:t>Un riesgo se prioriza; un defecto confirmado se corrige o se acepta. Son decisiones distintas.</a:t>
            </a:r>
            <a:endParaRPr lang="en-US" sz="1140" dirty="0"/>
          </a:p>
        </p:txBody>
      </p:sp>
      <p:sp>
        <p:nvSpPr>
          <p:cNvPr id="18" name="Shape 15"/>
          <p:cNvSpPr/>
          <p:nvPr/>
        </p:nvSpPr>
        <p:spPr>
          <a:xfrm>
            <a:off x="658368" y="3364992"/>
            <a:ext cx="10874959" cy="1097280"/>
          </a:xfrm>
          <a:prstGeom prst="rect">
            <a:avLst/>
          </a:prstGeom>
          <a:solidFill>
            <a:srgbClr val="EDE6DA"/>
          </a:solidFill>
          <a:ln w="12700">
            <a:solidFill>
              <a:srgbClr val="EDE6DA"/>
            </a:solidFill>
            <a:prstDash val="solid"/>
          </a:ln>
        </p:spPr>
      </p:sp>
      <p:sp>
        <p:nvSpPr>
          <p:cNvPr id="19" name="Shape 16"/>
          <p:cNvSpPr/>
          <p:nvPr/>
        </p:nvSpPr>
        <p:spPr>
          <a:xfrm>
            <a:off x="658368" y="3364992"/>
            <a:ext cx="54864" cy="1097280"/>
          </a:xfrm>
          <a:prstGeom prst="rect">
            <a:avLst/>
          </a:prstGeom>
          <a:solidFill>
            <a:srgbClr val="102A43"/>
          </a:solidFill>
          <a:ln w="12700">
            <a:solidFill>
              <a:srgbClr val="102A43"/>
            </a:solidFill>
            <a:prstDash val="solid"/>
          </a:ln>
        </p:spPr>
      </p:sp>
      <p:sp>
        <p:nvSpPr>
          <p:cNvPr id="20" name="Text 17"/>
          <p:cNvSpPr txBox="1"/>
          <p:nvPr/>
        </p:nvSpPr>
        <p:spPr>
          <a:xfrm>
            <a:off x="914400" y="3511296"/>
            <a:ext cx="493776" cy="420624"/>
          </a:xfrm>
          <a:prstGeom prst="rect">
            <a:avLst/>
          </a:prstGeom>
          <a:noFill/>
          <a:ln/>
        </p:spPr>
        <p:txBody>
          <a:bodyPr wrap="square" lIns="0" tIns="0" rIns="0" bIns="0" rtlCol="0" anchor="ctr"/>
          <a:lstStyle/>
          <a:p>
            <a:pPr algn="ctr" indent="0" marL="0">
              <a:buNone/>
            </a:pPr>
            <a:r>
              <a:rPr lang="en-US" sz="2600" b="1" dirty="0">
                <a:solidFill>
                  <a:srgbClr val="102A43"/>
                </a:solidFill>
                <a:latin typeface="Aptos Display" pitchFamily="34" charset="0"/>
                <a:ea typeface="Aptos Display" pitchFamily="34" charset="-122"/>
                <a:cs typeface="Aptos Display" pitchFamily="34" charset="-120"/>
              </a:rPr>
              <a:t>2</a:t>
            </a:r>
            <a:endParaRPr lang="en-US" sz="2600" dirty="0"/>
          </a:p>
        </p:txBody>
      </p:sp>
      <p:sp>
        <p:nvSpPr>
          <p:cNvPr id="21" name="Text 18"/>
          <p:cNvSpPr txBox="1"/>
          <p:nvPr/>
        </p:nvSpPr>
        <p:spPr>
          <a:xfrm>
            <a:off x="1591056" y="3493008"/>
            <a:ext cx="9649663" cy="457200"/>
          </a:xfrm>
          <a:prstGeom prst="rect">
            <a:avLst/>
          </a:prstGeom>
          <a:noFill/>
          <a:ln/>
        </p:spPr>
        <p:txBody>
          <a:bodyPr wrap="square" lIns="0" tIns="0" rIns="0" bIns="0" rtlCol="0" anchor="t"/>
          <a:lstStyle/>
          <a:p>
            <a:pPr algn="l" indent="0" marL="0">
              <a:lnSpc>
                <a:spcPct val="114000"/>
              </a:lnSpc>
              <a:buNone/>
            </a:pPr>
            <a:r>
              <a:rPr lang="en-US" sz="1340" dirty="0">
                <a:solidFill>
                  <a:srgbClr val="243B53"/>
                </a:solidFill>
                <a:latin typeface="Aptos" pitchFamily="34" charset="0"/>
                <a:ea typeface="Aptos" pitchFamily="34" charset="-122"/>
                <a:cs typeface="Aptos" pitchFamily="34" charset="-120"/>
              </a:rPr>
              <a:t>Siete de veintitrés pruebas están sobre una función de una línea. ¿Hay que borrar pruebas de esa función, y qué distingue una suite desbalanceada de una con pruebas de más?</a:t>
            </a:r>
            <a:endParaRPr lang="en-US" sz="1340" dirty="0"/>
          </a:p>
        </p:txBody>
      </p:sp>
      <p:sp>
        <p:nvSpPr>
          <p:cNvPr id="22" name="Shape 19"/>
          <p:cNvSpPr/>
          <p:nvPr/>
        </p:nvSpPr>
        <p:spPr>
          <a:xfrm>
            <a:off x="1591056" y="4023360"/>
            <a:ext cx="9649663" cy="0"/>
          </a:xfrm>
          <a:prstGeom prst="line">
            <a:avLst/>
          </a:prstGeom>
          <a:noFill/>
          <a:ln w="12700">
            <a:solidFill>
              <a:srgbClr val="D8CFC4"/>
            </a:solidFill>
            <a:prstDash val="solid"/>
            <a:headEnd type="none"/>
            <a:tailEnd type="none"/>
          </a:ln>
        </p:spPr>
      </p:sp>
      <p:sp>
        <p:nvSpPr>
          <p:cNvPr id="23" name="Text 20"/>
          <p:cNvSpPr txBox="1"/>
          <p:nvPr/>
        </p:nvSpPr>
        <p:spPr>
          <a:xfrm>
            <a:off x="1591056" y="4114800"/>
            <a:ext cx="640080" cy="164592"/>
          </a:xfrm>
          <a:prstGeom prst="rect">
            <a:avLst/>
          </a:prstGeom>
          <a:noFill/>
          <a:ln/>
        </p:spPr>
        <p:txBody>
          <a:bodyPr wrap="square" lIns="0" tIns="0" rIns="0" bIns="0" rtlCol="0" anchor="t"/>
          <a:lstStyle/>
          <a:p>
            <a:pPr algn="l" indent="0" marL="0">
              <a:buNone/>
            </a:pPr>
            <a:r>
              <a:rPr lang="en-US" sz="840" b="1" spc="110" kern="0" dirty="0">
                <a:solidFill>
                  <a:srgbClr val="102A43"/>
                </a:solidFill>
                <a:latin typeface="Aptos" pitchFamily="34" charset="0"/>
                <a:ea typeface="Aptos" pitchFamily="34" charset="-122"/>
                <a:cs typeface="Aptos" pitchFamily="34" charset="-120"/>
              </a:rPr>
              <a:t>PISTA</a:t>
            </a:r>
            <a:endParaRPr lang="en-US" sz="840" dirty="0"/>
          </a:p>
        </p:txBody>
      </p:sp>
      <p:sp>
        <p:nvSpPr>
          <p:cNvPr id="24" name="Text 21"/>
          <p:cNvSpPr txBox="1"/>
          <p:nvPr/>
        </p:nvSpPr>
        <p:spPr>
          <a:xfrm>
            <a:off x="2286000" y="4087368"/>
            <a:ext cx="8954719" cy="256032"/>
          </a:xfrm>
          <a:prstGeom prst="rect">
            <a:avLst/>
          </a:prstGeom>
          <a:noFill/>
          <a:ln/>
        </p:spPr>
        <p:txBody>
          <a:bodyPr wrap="square" lIns="0" tIns="0" rIns="0" bIns="0" rtlCol="0" anchor="t"/>
          <a:lstStyle/>
          <a:p>
            <a:pPr algn="l" indent="0" marL="0">
              <a:buNone/>
            </a:pPr>
            <a:r>
              <a:rPr lang="en-US" sz="1140" i="1" dirty="0">
                <a:solidFill>
                  <a:srgbClr val="52606D"/>
                </a:solidFill>
                <a:latin typeface="Aptos" pitchFamily="34" charset="0"/>
                <a:ea typeface="Aptos" pitchFamily="34" charset="-122"/>
                <a:cs typeface="Aptos" pitchFamily="34" charset="-120"/>
              </a:rPr>
              <a:t>Pregúntate si al borrar tres de esas siete se pierde alguna partición o algún límite.</a:t>
            </a:r>
            <a:endParaRPr lang="en-US" sz="1140" dirty="0"/>
          </a:p>
        </p:txBody>
      </p:sp>
      <p:sp>
        <p:nvSpPr>
          <p:cNvPr id="25" name="Shape 22"/>
          <p:cNvSpPr/>
          <p:nvPr/>
        </p:nvSpPr>
        <p:spPr>
          <a:xfrm>
            <a:off x="658368" y="4590288"/>
            <a:ext cx="10874959" cy="1097280"/>
          </a:xfrm>
          <a:prstGeom prst="rect">
            <a:avLst/>
          </a:prstGeom>
          <a:solidFill>
            <a:srgbClr val="F2E7D9"/>
          </a:solidFill>
          <a:ln w="12700">
            <a:solidFill>
              <a:srgbClr val="F2E7D9"/>
            </a:solidFill>
            <a:prstDash val="solid"/>
          </a:ln>
        </p:spPr>
      </p:sp>
      <p:sp>
        <p:nvSpPr>
          <p:cNvPr id="26" name="Shape 23"/>
          <p:cNvSpPr/>
          <p:nvPr/>
        </p:nvSpPr>
        <p:spPr>
          <a:xfrm>
            <a:off x="658368" y="4590288"/>
            <a:ext cx="54864" cy="1097280"/>
          </a:xfrm>
          <a:prstGeom prst="rect">
            <a:avLst/>
          </a:prstGeom>
          <a:solidFill>
            <a:srgbClr val="8A6A12"/>
          </a:solidFill>
          <a:ln w="12700">
            <a:solidFill>
              <a:srgbClr val="8A6A12"/>
            </a:solidFill>
            <a:prstDash val="solid"/>
          </a:ln>
        </p:spPr>
      </p:sp>
      <p:sp>
        <p:nvSpPr>
          <p:cNvPr id="27" name="Text 24"/>
          <p:cNvSpPr txBox="1"/>
          <p:nvPr/>
        </p:nvSpPr>
        <p:spPr>
          <a:xfrm>
            <a:off x="914400" y="4736592"/>
            <a:ext cx="493776" cy="420624"/>
          </a:xfrm>
          <a:prstGeom prst="rect">
            <a:avLst/>
          </a:prstGeom>
          <a:noFill/>
          <a:ln/>
        </p:spPr>
        <p:txBody>
          <a:bodyPr wrap="square" lIns="0" tIns="0" rIns="0" bIns="0" rtlCol="0" anchor="ctr"/>
          <a:lstStyle/>
          <a:p>
            <a:pPr algn="ctr" indent="0" marL="0">
              <a:buNone/>
            </a:pPr>
            <a:r>
              <a:rPr lang="en-US" sz="2600" b="1" dirty="0">
                <a:solidFill>
                  <a:srgbClr val="8A6A12"/>
                </a:solidFill>
                <a:latin typeface="Aptos Display" pitchFamily="34" charset="0"/>
                <a:ea typeface="Aptos Display" pitchFamily="34" charset="-122"/>
                <a:cs typeface="Aptos Display" pitchFamily="34" charset="-120"/>
              </a:rPr>
              <a:t>3</a:t>
            </a:r>
            <a:endParaRPr lang="en-US" sz="2600" dirty="0"/>
          </a:p>
        </p:txBody>
      </p:sp>
      <p:sp>
        <p:nvSpPr>
          <p:cNvPr id="28" name="Text 25"/>
          <p:cNvSpPr txBox="1"/>
          <p:nvPr/>
        </p:nvSpPr>
        <p:spPr>
          <a:xfrm>
            <a:off x="1591056" y="4718304"/>
            <a:ext cx="9649663" cy="457200"/>
          </a:xfrm>
          <a:prstGeom prst="rect">
            <a:avLst/>
          </a:prstGeom>
          <a:noFill/>
          <a:ln/>
        </p:spPr>
        <p:txBody>
          <a:bodyPr wrap="square" lIns="0" tIns="0" rIns="0" bIns="0" rtlCol="0" anchor="t"/>
          <a:lstStyle/>
          <a:p>
            <a:pPr algn="l" indent="0" marL="0">
              <a:lnSpc>
                <a:spcPct val="114000"/>
              </a:lnSpc>
              <a:buNone/>
            </a:pPr>
            <a:r>
              <a:rPr lang="en-US" sz="1340" dirty="0">
                <a:solidFill>
                  <a:srgbClr val="243B53"/>
                </a:solidFill>
                <a:latin typeface="Aptos" pitchFamily="34" charset="0"/>
                <a:ea typeface="Aptos" pitchFamily="34" charset="-122"/>
                <a:cs typeface="Aptos" pitchFamily="34" charset="-120"/>
              </a:rPr>
              <a:t>El agente asignó una prueba a nueve de sus diez riesgos de producto. Si tuvieras que quedarte con cuatro, ¿qué información necesitas para elegir, y está en el código?</a:t>
            </a:r>
            <a:endParaRPr lang="en-US" sz="1340" dirty="0"/>
          </a:p>
        </p:txBody>
      </p:sp>
      <p:sp>
        <p:nvSpPr>
          <p:cNvPr id="29" name="Shape 26"/>
          <p:cNvSpPr/>
          <p:nvPr/>
        </p:nvSpPr>
        <p:spPr>
          <a:xfrm>
            <a:off x="1591056" y="5248656"/>
            <a:ext cx="9649663" cy="0"/>
          </a:xfrm>
          <a:prstGeom prst="line">
            <a:avLst/>
          </a:prstGeom>
          <a:noFill/>
          <a:ln w="12700">
            <a:solidFill>
              <a:srgbClr val="D8CFC4"/>
            </a:solidFill>
            <a:prstDash val="solid"/>
            <a:headEnd type="none"/>
            <a:tailEnd type="none"/>
          </a:ln>
        </p:spPr>
      </p:sp>
      <p:sp>
        <p:nvSpPr>
          <p:cNvPr id="30" name="Text 27"/>
          <p:cNvSpPr txBox="1"/>
          <p:nvPr/>
        </p:nvSpPr>
        <p:spPr>
          <a:xfrm>
            <a:off x="1591056" y="5340096"/>
            <a:ext cx="640080" cy="164592"/>
          </a:xfrm>
          <a:prstGeom prst="rect">
            <a:avLst/>
          </a:prstGeom>
          <a:noFill/>
          <a:ln/>
        </p:spPr>
        <p:txBody>
          <a:bodyPr wrap="square" lIns="0" tIns="0" rIns="0" bIns="0" rtlCol="0" anchor="t"/>
          <a:lstStyle/>
          <a:p>
            <a:pPr algn="l" indent="0" marL="0">
              <a:buNone/>
            </a:pPr>
            <a:r>
              <a:rPr lang="en-US" sz="840" b="1" spc="110" kern="0" dirty="0">
                <a:solidFill>
                  <a:srgbClr val="8A6A12"/>
                </a:solidFill>
                <a:latin typeface="Aptos" pitchFamily="34" charset="0"/>
                <a:ea typeface="Aptos" pitchFamily="34" charset="-122"/>
                <a:cs typeface="Aptos" pitchFamily="34" charset="-120"/>
              </a:rPr>
              <a:t>PISTA</a:t>
            </a:r>
            <a:endParaRPr lang="en-US" sz="840" dirty="0"/>
          </a:p>
        </p:txBody>
      </p:sp>
      <p:sp>
        <p:nvSpPr>
          <p:cNvPr id="31" name="Text 28"/>
          <p:cNvSpPr txBox="1"/>
          <p:nvPr/>
        </p:nvSpPr>
        <p:spPr>
          <a:xfrm>
            <a:off x="2286000" y="5312664"/>
            <a:ext cx="8954719" cy="256032"/>
          </a:xfrm>
          <a:prstGeom prst="rect">
            <a:avLst/>
          </a:prstGeom>
          <a:noFill/>
          <a:ln/>
        </p:spPr>
        <p:txBody>
          <a:bodyPr wrap="square" lIns="0" tIns="0" rIns="0" bIns="0" rtlCol="0" anchor="t"/>
          <a:lstStyle/>
          <a:p>
            <a:pPr algn="l" indent="0" marL="0">
              <a:buNone/>
            </a:pPr>
            <a:r>
              <a:rPr lang="en-US" sz="1140" i="1" dirty="0">
                <a:solidFill>
                  <a:srgbClr val="52606D"/>
                </a:solidFill>
                <a:latin typeface="Aptos" pitchFamily="34" charset="0"/>
                <a:ea typeface="Aptos" pitchFamily="34" charset="-122"/>
                <a:cs typeface="Aptos" pitchFamily="34" charset="-120"/>
              </a:rPr>
              <a:t>No depende de qué tan probable es cada fallo, que ya está estimado. Depende de cuánto daño admites.</a:t>
            </a:r>
            <a:endParaRPr lang="en-US" sz="114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27</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2 · CONTRASTE</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Lo que tenía que aparecer</a:t>
            </a:r>
            <a:endParaRPr lang="en-US" sz="3000" dirty="0"/>
          </a:p>
        </p:txBody>
      </p:sp>
      <p:sp>
        <p:nvSpPr>
          <p:cNvPr id="10" name="Text 7"/>
          <p:cNvSpPr txBox="1"/>
          <p:nvPr/>
        </p:nvSpPr>
        <p:spPr>
          <a:xfrm>
            <a:off x="658368" y="1664208"/>
            <a:ext cx="10424160" cy="329184"/>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Las respuestas conservan el mismo orden y color que las preguntas.</a:t>
            </a:r>
            <a:endParaRPr lang="en-US" sz="1420" dirty="0"/>
          </a:p>
        </p:txBody>
      </p:sp>
      <p:sp>
        <p:nvSpPr>
          <p:cNvPr id="11" name="Shape 8"/>
          <p:cNvSpPr/>
          <p:nvPr/>
        </p:nvSpPr>
        <p:spPr>
          <a:xfrm>
            <a:off x="658368" y="2139696"/>
            <a:ext cx="10874959" cy="1243584"/>
          </a:xfrm>
          <a:prstGeom prst="rect">
            <a:avLst/>
          </a:prstGeom>
          <a:solidFill>
            <a:srgbClr val="FFFFFF"/>
          </a:solidFill>
          <a:ln w="12700">
            <a:solidFill>
              <a:srgbClr val="FFFFFF"/>
            </a:solidFill>
            <a:prstDash val="solid"/>
          </a:ln>
        </p:spPr>
      </p:sp>
      <p:sp>
        <p:nvSpPr>
          <p:cNvPr id="12" name="Shape 9"/>
          <p:cNvSpPr/>
          <p:nvPr/>
        </p:nvSpPr>
        <p:spPr>
          <a:xfrm>
            <a:off x="658368" y="2139696"/>
            <a:ext cx="54864" cy="1243584"/>
          </a:xfrm>
          <a:prstGeom prst="rect">
            <a:avLst/>
          </a:prstGeom>
          <a:solidFill>
            <a:srgbClr val="B3181E"/>
          </a:solidFill>
          <a:ln w="12700">
            <a:solidFill>
              <a:srgbClr val="B3181E"/>
            </a:solidFill>
            <a:prstDash val="solid"/>
          </a:ln>
        </p:spPr>
      </p:sp>
      <p:sp>
        <p:nvSpPr>
          <p:cNvPr id="13" name="Text 10"/>
          <p:cNvSpPr txBox="1"/>
          <p:nvPr/>
        </p:nvSpPr>
        <p:spPr>
          <a:xfrm>
            <a:off x="896112" y="2304288"/>
            <a:ext cx="493776" cy="457200"/>
          </a:xfrm>
          <a:prstGeom prst="rect">
            <a:avLst/>
          </a:prstGeom>
          <a:noFill/>
          <a:ln/>
        </p:spPr>
        <p:txBody>
          <a:bodyPr wrap="square" lIns="0" tIns="0" rIns="0" bIns="0" rtlCol="0" anchor="ctr"/>
          <a:lstStyle/>
          <a:p>
            <a:pPr algn="ctr" indent="0" marL="0">
              <a:buNone/>
            </a:pPr>
            <a:r>
              <a:rPr lang="en-US" sz="2700" b="1" dirty="0">
                <a:solidFill>
                  <a:srgbClr val="B3181E"/>
                </a:solidFill>
                <a:latin typeface="Aptos Display" pitchFamily="34" charset="0"/>
                <a:ea typeface="Aptos Display" pitchFamily="34" charset="-122"/>
                <a:cs typeface="Aptos Display" pitchFamily="34" charset="-120"/>
              </a:rPr>
              <a:t>1</a:t>
            </a:r>
            <a:endParaRPr lang="en-US" sz="2700" dirty="0"/>
          </a:p>
        </p:txBody>
      </p:sp>
      <p:sp>
        <p:nvSpPr>
          <p:cNvPr id="14" name="Text 11"/>
          <p:cNvSpPr txBox="1"/>
          <p:nvPr/>
        </p:nvSpPr>
        <p:spPr>
          <a:xfrm>
            <a:off x="1591056" y="2249424"/>
            <a:ext cx="2926080" cy="164592"/>
          </a:xfrm>
          <a:prstGeom prst="rect">
            <a:avLst/>
          </a:prstGeom>
          <a:noFill/>
          <a:ln/>
        </p:spPr>
        <p:txBody>
          <a:bodyPr wrap="square" lIns="0" tIns="0" rIns="0" bIns="0" rtlCol="0" anchor="t"/>
          <a:lstStyle/>
          <a:p>
            <a:pPr algn="l" indent="0" marL="0">
              <a:buNone/>
            </a:pPr>
            <a:r>
              <a:rPr lang="en-US" sz="830" b="1" spc="100" kern="0" dirty="0">
                <a:solidFill>
                  <a:srgbClr val="B3181E"/>
                </a:solidFill>
                <a:latin typeface="Aptos" pitchFamily="34" charset="0"/>
                <a:ea typeface="Aptos" pitchFamily="34" charset="-122"/>
                <a:cs typeface="Aptos" pitchFamily="34" charset="-120"/>
              </a:rPr>
              <a:t>SE PIERDE LA ACCIÓN QUE CORRESPONDE</a:t>
            </a:r>
            <a:endParaRPr lang="en-US" sz="830" dirty="0"/>
          </a:p>
        </p:txBody>
      </p:sp>
      <p:sp>
        <p:nvSpPr>
          <p:cNvPr id="15" name="Text 12"/>
          <p:cNvSpPr txBox="1"/>
          <p:nvPr/>
        </p:nvSpPr>
        <p:spPr>
          <a:xfrm>
            <a:off x="1591056" y="2468880"/>
            <a:ext cx="9649663" cy="347472"/>
          </a:xfrm>
          <a:prstGeom prst="rect">
            <a:avLst/>
          </a:prstGeom>
          <a:noFill/>
          <a:ln/>
        </p:spPr>
        <p:txBody>
          <a:bodyPr wrap="square" lIns="0" tIns="0" rIns="0" bIns="0" rtlCol="0" anchor="t"/>
          <a:lstStyle/>
          <a:p>
            <a:pPr algn="l" indent="0" marL="0">
              <a:lnSpc>
                <a:spcPct val="112000"/>
              </a:lnSpc>
              <a:buNone/>
            </a:pPr>
            <a:r>
              <a:rPr lang="en-US" sz="1240" b="1" dirty="0">
                <a:solidFill>
                  <a:srgbClr val="243B53"/>
                </a:solidFill>
                <a:latin typeface="Aptos" pitchFamily="34" charset="0"/>
                <a:ea typeface="Aptos" pitchFamily="34" charset="-122"/>
                <a:cs typeface="Aptos" pitchFamily="34" charset="-120"/>
              </a:rPr>
              <a:t>Un defecto confirmado no se prioriza: se corrige, o se acepta con una decisión escrita.</a:t>
            </a:r>
            <a:endParaRPr lang="en-US" sz="1240" dirty="0"/>
          </a:p>
        </p:txBody>
      </p:sp>
      <p:sp>
        <p:nvSpPr>
          <p:cNvPr id="16" name="Shape 13"/>
          <p:cNvSpPr/>
          <p:nvPr/>
        </p:nvSpPr>
        <p:spPr>
          <a:xfrm>
            <a:off x="1591056" y="2871216"/>
            <a:ext cx="9649663" cy="0"/>
          </a:xfrm>
          <a:prstGeom prst="line">
            <a:avLst/>
          </a:prstGeom>
          <a:noFill/>
          <a:ln w="12700">
            <a:solidFill>
              <a:srgbClr val="D8CFC4"/>
            </a:solidFill>
            <a:prstDash val="solid"/>
            <a:headEnd type="none"/>
            <a:tailEnd type="none"/>
          </a:ln>
        </p:spPr>
      </p:sp>
      <p:sp>
        <p:nvSpPr>
          <p:cNvPr id="17" name="Text 14"/>
          <p:cNvSpPr txBox="1"/>
          <p:nvPr/>
        </p:nvSpPr>
        <p:spPr>
          <a:xfrm>
            <a:off x="1591056" y="2962656"/>
            <a:ext cx="1188720" cy="155448"/>
          </a:xfrm>
          <a:prstGeom prst="rect">
            <a:avLst/>
          </a:prstGeom>
          <a:noFill/>
          <a:ln/>
        </p:spPr>
        <p:txBody>
          <a:bodyPr wrap="square" lIns="0" tIns="0" rIns="0" bIns="0" rtlCol="0" anchor="t"/>
          <a:lstStyle/>
          <a:p>
            <a:pPr algn="l" indent="0" marL="0">
              <a:buNone/>
            </a:pPr>
            <a:r>
              <a:rPr lang="en-US" sz="800" b="1" spc="90" kern="0" dirty="0">
                <a:solidFill>
                  <a:srgbClr val="2E7D4F"/>
                </a:solidFill>
                <a:latin typeface="Aptos" pitchFamily="34" charset="0"/>
                <a:ea typeface="Aptos" pitchFamily="34" charset="-122"/>
                <a:cs typeface="Aptos" pitchFamily="34" charset="-120"/>
              </a:rPr>
              <a:t>LO QUE REVELA</a:t>
            </a:r>
            <a:endParaRPr lang="en-US" sz="800" dirty="0"/>
          </a:p>
        </p:txBody>
      </p:sp>
      <p:sp>
        <p:nvSpPr>
          <p:cNvPr id="18" name="Text 15"/>
          <p:cNvSpPr txBox="1"/>
          <p:nvPr/>
        </p:nvSpPr>
        <p:spPr>
          <a:xfrm>
            <a:off x="2871216" y="2935224"/>
            <a:ext cx="3712464" cy="310896"/>
          </a:xfrm>
          <a:prstGeom prst="rect">
            <a:avLst/>
          </a:prstGeom>
          <a:noFill/>
          <a:ln/>
        </p:spPr>
        <p:txBody>
          <a:bodyPr wrap="square" lIns="0" tIns="0" rIns="0" bIns="0" rtlCol="0" anchor="t"/>
          <a:lstStyle/>
          <a:p>
            <a:pPr algn="l" indent="0" marL="0">
              <a:lnSpc>
                <a:spcPct val="110000"/>
              </a:lnSpc>
              <a:buNone/>
            </a:pPr>
            <a:r>
              <a:rPr lang="en-US" sz="1020" dirty="0">
                <a:solidFill>
                  <a:srgbClr val="243B53"/>
                </a:solidFill>
                <a:latin typeface="Aptos" pitchFamily="34" charset="0"/>
                <a:ea typeface="Aptos" pitchFamily="34" charset="-122"/>
                <a:cs typeface="Aptos" pitchFamily="34" charset="-120"/>
              </a:rPr>
              <a:t>El registro de riesgos se acorta cada vez que algo se ejecuta y se confirma.</a:t>
            </a:r>
            <a:endParaRPr lang="en-US" sz="1020" dirty="0"/>
          </a:p>
        </p:txBody>
      </p:sp>
      <p:sp>
        <p:nvSpPr>
          <p:cNvPr id="19" name="Text 16"/>
          <p:cNvSpPr txBox="1"/>
          <p:nvPr/>
        </p:nvSpPr>
        <p:spPr>
          <a:xfrm>
            <a:off x="6784848" y="2962656"/>
            <a:ext cx="1325880" cy="155448"/>
          </a:xfrm>
          <a:prstGeom prst="rect">
            <a:avLst/>
          </a:prstGeom>
          <a:noFill/>
          <a:ln/>
        </p:spPr>
        <p:txBody>
          <a:bodyPr wrap="square" lIns="0" tIns="0" rIns="0" bIns="0" rtlCol="0" anchor="t"/>
          <a:lstStyle/>
          <a:p>
            <a:pPr algn="l" indent="0" marL="0">
              <a:buNone/>
            </a:pPr>
            <a:r>
              <a:rPr lang="en-US" sz="800" b="1" spc="90" kern="0" dirty="0">
                <a:solidFill>
                  <a:srgbClr val="B3181E"/>
                </a:solidFill>
                <a:latin typeface="Aptos" pitchFamily="34" charset="0"/>
                <a:ea typeface="Aptos" pitchFamily="34" charset="-122"/>
                <a:cs typeface="Aptos" pitchFamily="34" charset="-120"/>
              </a:rPr>
              <a:t>ERROR FRECUENTE</a:t>
            </a:r>
            <a:endParaRPr lang="en-US" sz="800" dirty="0"/>
          </a:p>
        </p:txBody>
      </p:sp>
      <p:sp>
        <p:nvSpPr>
          <p:cNvPr id="20" name="Text 17"/>
          <p:cNvSpPr txBox="1"/>
          <p:nvPr/>
        </p:nvSpPr>
        <p:spPr>
          <a:xfrm>
            <a:off x="8138160" y="2935224"/>
            <a:ext cx="3063240" cy="310896"/>
          </a:xfrm>
          <a:prstGeom prst="rect">
            <a:avLst/>
          </a:prstGeom>
          <a:noFill/>
          <a:ln/>
        </p:spPr>
        <p:txBody>
          <a:bodyPr wrap="square" lIns="0" tIns="0" rIns="0" bIns="0" rtlCol="0" anchor="t"/>
          <a:lstStyle/>
          <a:p>
            <a:pPr algn="l" indent="0" marL="0">
              <a:lnSpc>
                <a:spcPct val="110000"/>
              </a:lnSpc>
              <a:buNone/>
            </a:pPr>
            <a:r>
              <a:rPr lang="en-US" sz="1020" i="1" dirty="0">
                <a:solidFill>
                  <a:srgbClr val="52606D"/>
                </a:solidFill>
                <a:latin typeface="Aptos" pitchFamily="34" charset="0"/>
                <a:ea typeface="Aptos" pitchFamily="34" charset="-122"/>
                <a:cs typeface="Aptos" pitchFamily="34" charset="-120"/>
              </a:rPr>
              <a:t>Dejar en el registro filas que ya son hechos, y creer que el registro sigue vigente.</a:t>
            </a:r>
            <a:endParaRPr lang="en-US" sz="1020" dirty="0"/>
          </a:p>
        </p:txBody>
      </p:sp>
      <p:sp>
        <p:nvSpPr>
          <p:cNvPr id="21" name="Shape 18"/>
          <p:cNvSpPr/>
          <p:nvPr/>
        </p:nvSpPr>
        <p:spPr>
          <a:xfrm>
            <a:off x="658368" y="3493008"/>
            <a:ext cx="10874959" cy="1243584"/>
          </a:xfrm>
          <a:prstGeom prst="rect">
            <a:avLst/>
          </a:prstGeom>
          <a:solidFill>
            <a:srgbClr val="FFFFFF"/>
          </a:solidFill>
          <a:ln w="12700">
            <a:solidFill>
              <a:srgbClr val="FFFFFF"/>
            </a:solidFill>
            <a:prstDash val="solid"/>
          </a:ln>
        </p:spPr>
      </p:sp>
      <p:sp>
        <p:nvSpPr>
          <p:cNvPr id="22" name="Shape 19"/>
          <p:cNvSpPr/>
          <p:nvPr/>
        </p:nvSpPr>
        <p:spPr>
          <a:xfrm>
            <a:off x="658368" y="3493008"/>
            <a:ext cx="54864" cy="1243584"/>
          </a:xfrm>
          <a:prstGeom prst="rect">
            <a:avLst/>
          </a:prstGeom>
          <a:solidFill>
            <a:srgbClr val="102A43"/>
          </a:solidFill>
          <a:ln w="12700">
            <a:solidFill>
              <a:srgbClr val="102A43"/>
            </a:solidFill>
            <a:prstDash val="solid"/>
          </a:ln>
        </p:spPr>
      </p:sp>
      <p:sp>
        <p:nvSpPr>
          <p:cNvPr id="23" name="Text 20"/>
          <p:cNvSpPr txBox="1"/>
          <p:nvPr/>
        </p:nvSpPr>
        <p:spPr>
          <a:xfrm>
            <a:off x="896112" y="3657600"/>
            <a:ext cx="493776" cy="457200"/>
          </a:xfrm>
          <a:prstGeom prst="rect">
            <a:avLst/>
          </a:prstGeom>
          <a:noFill/>
          <a:ln/>
        </p:spPr>
        <p:txBody>
          <a:bodyPr wrap="square" lIns="0" tIns="0" rIns="0" bIns="0" rtlCol="0" anchor="ctr"/>
          <a:lstStyle/>
          <a:p>
            <a:pPr algn="ctr" indent="0" marL="0">
              <a:buNone/>
            </a:pPr>
            <a:r>
              <a:rPr lang="en-US" sz="2700" b="1" dirty="0">
                <a:solidFill>
                  <a:srgbClr val="102A43"/>
                </a:solidFill>
                <a:latin typeface="Aptos Display" pitchFamily="34" charset="0"/>
                <a:ea typeface="Aptos Display" pitchFamily="34" charset="-122"/>
                <a:cs typeface="Aptos Display" pitchFamily="34" charset="-120"/>
              </a:rPr>
              <a:t>2</a:t>
            </a:r>
            <a:endParaRPr lang="en-US" sz="2700" dirty="0"/>
          </a:p>
        </p:txBody>
      </p:sp>
      <p:sp>
        <p:nvSpPr>
          <p:cNvPr id="24" name="Text 21"/>
          <p:cNvSpPr txBox="1"/>
          <p:nvPr/>
        </p:nvSpPr>
        <p:spPr>
          <a:xfrm>
            <a:off x="1591056" y="3602736"/>
            <a:ext cx="2926080" cy="164592"/>
          </a:xfrm>
          <a:prstGeom prst="rect">
            <a:avLst/>
          </a:prstGeom>
          <a:noFill/>
          <a:ln/>
        </p:spPr>
        <p:txBody>
          <a:bodyPr wrap="square" lIns="0" tIns="0" rIns="0" bIns="0" rtlCol="0" anchor="t"/>
          <a:lstStyle/>
          <a:p>
            <a:pPr algn="l" indent="0" marL="0">
              <a:buNone/>
            </a:pPr>
            <a:r>
              <a:rPr lang="en-US" sz="830" b="1" spc="100" kern="0" dirty="0">
                <a:solidFill>
                  <a:srgbClr val="102A43"/>
                </a:solidFill>
                <a:latin typeface="Aptos" pitchFamily="34" charset="0"/>
                <a:ea typeface="Aptos" pitchFamily="34" charset="-122"/>
                <a:cs typeface="Aptos" pitchFamily="34" charset="-120"/>
              </a:rPr>
              <a:t>NO HAY QUE BORRAR NADA</a:t>
            </a:r>
            <a:endParaRPr lang="en-US" sz="830" dirty="0"/>
          </a:p>
        </p:txBody>
      </p:sp>
      <p:sp>
        <p:nvSpPr>
          <p:cNvPr id="25" name="Text 22"/>
          <p:cNvSpPr txBox="1"/>
          <p:nvPr/>
        </p:nvSpPr>
        <p:spPr>
          <a:xfrm>
            <a:off x="1591056" y="3822192"/>
            <a:ext cx="9649663" cy="347472"/>
          </a:xfrm>
          <a:prstGeom prst="rect">
            <a:avLst/>
          </a:prstGeom>
          <a:noFill/>
          <a:ln/>
        </p:spPr>
        <p:txBody>
          <a:bodyPr wrap="square" lIns="0" tIns="0" rIns="0" bIns="0" rtlCol="0" anchor="t"/>
          <a:lstStyle/>
          <a:p>
            <a:pPr algn="l" indent="0" marL="0">
              <a:lnSpc>
                <a:spcPct val="112000"/>
              </a:lnSpc>
              <a:buNone/>
            </a:pPr>
            <a:r>
              <a:rPr lang="en-US" sz="1240" b="1" dirty="0">
                <a:solidFill>
                  <a:srgbClr val="243B53"/>
                </a:solidFill>
                <a:latin typeface="Aptos" pitchFamily="34" charset="0"/>
                <a:ea typeface="Aptos" pitchFamily="34" charset="-122"/>
                <a:cs typeface="Aptos" pitchFamily="34" charset="-120"/>
              </a:rPr>
              <a:t>Esas siete cubren particiones y límites bien elegidos. El problema es lo que falta, no lo que sobra.</a:t>
            </a:r>
            <a:endParaRPr lang="en-US" sz="1240" dirty="0"/>
          </a:p>
        </p:txBody>
      </p:sp>
      <p:sp>
        <p:nvSpPr>
          <p:cNvPr id="26" name="Shape 23"/>
          <p:cNvSpPr/>
          <p:nvPr/>
        </p:nvSpPr>
        <p:spPr>
          <a:xfrm>
            <a:off x="1591056" y="4224528"/>
            <a:ext cx="9649663" cy="0"/>
          </a:xfrm>
          <a:prstGeom prst="line">
            <a:avLst/>
          </a:prstGeom>
          <a:noFill/>
          <a:ln w="12700">
            <a:solidFill>
              <a:srgbClr val="D8CFC4"/>
            </a:solidFill>
            <a:prstDash val="solid"/>
            <a:headEnd type="none"/>
            <a:tailEnd type="none"/>
          </a:ln>
        </p:spPr>
      </p:sp>
      <p:sp>
        <p:nvSpPr>
          <p:cNvPr id="27" name="Text 24"/>
          <p:cNvSpPr txBox="1"/>
          <p:nvPr/>
        </p:nvSpPr>
        <p:spPr>
          <a:xfrm>
            <a:off x="1591056" y="4315968"/>
            <a:ext cx="1188720" cy="155448"/>
          </a:xfrm>
          <a:prstGeom prst="rect">
            <a:avLst/>
          </a:prstGeom>
          <a:noFill/>
          <a:ln/>
        </p:spPr>
        <p:txBody>
          <a:bodyPr wrap="square" lIns="0" tIns="0" rIns="0" bIns="0" rtlCol="0" anchor="t"/>
          <a:lstStyle/>
          <a:p>
            <a:pPr algn="l" indent="0" marL="0">
              <a:buNone/>
            </a:pPr>
            <a:r>
              <a:rPr lang="en-US" sz="800" b="1" spc="90" kern="0" dirty="0">
                <a:solidFill>
                  <a:srgbClr val="2E7D4F"/>
                </a:solidFill>
                <a:latin typeface="Aptos" pitchFamily="34" charset="0"/>
                <a:ea typeface="Aptos" pitchFamily="34" charset="-122"/>
                <a:cs typeface="Aptos" pitchFamily="34" charset="-120"/>
              </a:rPr>
              <a:t>LO QUE REVELA</a:t>
            </a:r>
            <a:endParaRPr lang="en-US" sz="800" dirty="0"/>
          </a:p>
        </p:txBody>
      </p:sp>
      <p:sp>
        <p:nvSpPr>
          <p:cNvPr id="28" name="Text 25"/>
          <p:cNvSpPr txBox="1"/>
          <p:nvPr/>
        </p:nvSpPr>
        <p:spPr>
          <a:xfrm>
            <a:off x="2871216" y="4288536"/>
            <a:ext cx="3712464" cy="310896"/>
          </a:xfrm>
          <a:prstGeom prst="rect">
            <a:avLst/>
          </a:prstGeom>
          <a:noFill/>
          <a:ln/>
        </p:spPr>
        <p:txBody>
          <a:bodyPr wrap="square" lIns="0" tIns="0" rIns="0" bIns="0" rtlCol="0" anchor="t"/>
          <a:lstStyle/>
          <a:p>
            <a:pPr algn="l" indent="0" marL="0">
              <a:lnSpc>
                <a:spcPct val="110000"/>
              </a:lnSpc>
              <a:buNone/>
            </a:pPr>
            <a:r>
              <a:rPr lang="en-US" sz="1020" dirty="0">
                <a:solidFill>
                  <a:srgbClr val="243B53"/>
                </a:solidFill>
                <a:latin typeface="Aptos" pitchFamily="34" charset="0"/>
                <a:ea typeface="Aptos" pitchFamily="34" charset="-122"/>
                <a:cs typeface="Aptos" pitchFamily="34" charset="-120"/>
              </a:rPr>
              <a:t>El reparto del esfuerzo nunca fue una decisión: siguió al costo de probar.</a:t>
            </a:r>
            <a:endParaRPr lang="en-US" sz="1020" dirty="0"/>
          </a:p>
        </p:txBody>
      </p:sp>
      <p:sp>
        <p:nvSpPr>
          <p:cNvPr id="29" name="Text 26"/>
          <p:cNvSpPr txBox="1"/>
          <p:nvPr/>
        </p:nvSpPr>
        <p:spPr>
          <a:xfrm>
            <a:off x="6784848" y="4315968"/>
            <a:ext cx="1325880" cy="155448"/>
          </a:xfrm>
          <a:prstGeom prst="rect">
            <a:avLst/>
          </a:prstGeom>
          <a:noFill/>
          <a:ln/>
        </p:spPr>
        <p:txBody>
          <a:bodyPr wrap="square" lIns="0" tIns="0" rIns="0" bIns="0" rtlCol="0" anchor="t"/>
          <a:lstStyle/>
          <a:p>
            <a:pPr algn="l" indent="0" marL="0">
              <a:buNone/>
            </a:pPr>
            <a:r>
              <a:rPr lang="en-US" sz="800" b="1" spc="90" kern="0" dirty="0">
                <a:solidFill>
                  <a:srgbClr val="B3181E"/>
                </a:solidFill>
                <a:latin typeface="Aptos" pitchFamily="34" charset="0"/>
                <a:ea typeface="Aptos" pitchFamily="34" charset="-122"/>
                <a:cs typeface="Aptos" pitchFamily="34" charset="-120"/>
              </a:rPr>
              <a:t>ERROR FRECUENTE</a:t>
            </a:r>
            <a:endParaRPr lang="en-US" sz="800" dirty="0"/>
          </a:p>
        </p:txBody>
      </p:sp>
      <p:sp>
        <p:nvSpPr>
          <p:cNvPr id="30" name="Text 27"/>
          <p:cNvSpPr txBox="1"/>
          <p:nvPr/>
        </p:nvSpPr>
        <p:spPr>
          <a:xfrm>
            <a:off x="8138160" y="4288536"/>
            <a:ext cx="3063240" cy="310896"/>
          </a:xfrm>
          <a:prstGeom prst="rect">
            <a:avLst/>
          </a:prstGeom>
          <a:noFill/>
          <a:ln/>
        </p:spPr>
        <p:txBody>
          <a:bodyPr wrap="square" lIns="0" tIns="0" rIns="0" bIns="0" rtlCol="0" anchor="t"/>
          <a:lstStyle/>
          <a:p>
            <a:pPr algn="l" indent="0" marL="0">
              <a:lnSpc>
                <a:spcPct val="110000"/>
              </a:lnSpc>
              <a:buNone/>
            </a:pPr>
            <a:r>
              <a:rPr lang="en-US" sz="1020" i="1" dirty="0">
                <a:solidFill>
                  <a:srgbClr val="52606D"/>
                </a:solidFill>
                <a:latin typeface="Aptos" pitchFamily="34" charset="0"/>
                <a:ea typeface="Aptos" pitchFamily="34" charset="-122"/>
                <a:cs typeface="Aptos" pitchFamily="34" charset="-120"/>
              </a:rPr>
              <a:t>Leer la tabla como una invitación a recortar en vez de a agregar donde hay ceros.</a:t>
            </a:r>
            <a:endParaRPr lang="en-US" sz="1020" dirty="0"/>
          </a:p>
        </p:txBody>
      </p:sp>
      <p:sp>
        <p:nvSpPr>
          <p:cNvPr id="31" name="Shape 28"/>
          <p:cNvSpPr/>
          <p:nvPr/>
        </p:nvSpPr>
        <p:spPr>
          <a:xfrm>
            <a:off x="658368" y="4846320"/>
            <a:ext cx="10874959" cy="1243584"/>
          </a:xfrm>
          <a:prstGeom prst="rect">
            <a:avLst/>
          </a:prstGeom>
          <a:solidFill>
            <a:srgbClr val="FFFFFF"/>
          </a:solidFill>
          <a:ln w="12700">
            <a:solidFill>
              <a:srgbClr val="FFFFFF"/>
            </a:solidFill>
            <a:prstDash val="solid"/>
          </a:ln>
        </p:spPr>
      </p:sp>
      <p:sp>
        <p:nvSpPr>
          <p:cNvPr id="32" name="Shape 29"/>
          <p:cNvSpPr/>
          <p:nvPr/>
        </p:nvSpPr>
        <p:spPr>
          <a:xfrm>
            <a:off x="658368" y="4846320"/>
            <a:ext cx="54864" cy="1243584"/>
          </a:xfrm>
          <a:prstGeom prst="rect">
            <a:avLst/>
          </a:prstGeom>
          <a:solidFill>
            <a:srgbClr val="8A6A12"/>
          </a:solidFill>
          <a:ln w="12700">
            <a:solidFill>
              <a:srgbClr val="8A6A12"/>
            </a:solidFill>
            <a:prstDash val="solid"/>
          </a:ln>
        </p:spPr>
      </p:sp>
      <p:sp>
        <p:nvSpPr>
          <p:cNvPr id="33" name="Text 30"/>
          <p:cNvSpPr txBox="1"/>
          <p:nvPr/>
        </p:nvSpPr>
        <p:spPr>
          <a:xfrm>
            <a:off x="896112" y="5010912"/>
            <a:ext cx="493776" cy="457200"/>
          </a:xfrm>
          <a:prstGeom prst="rect">
            <a:avLst/>
          </a:prstGeom>
          <a:noFill/>
          <a:ln/>
        </p:spPr>
        <p:txBody>
          <a:bodyPr wrap="square" lIns="0" tIns="0" rIns="0" bIns="0" rtlCol="0" anchor="ctr"/>
          <a:lstStyle/>
          <a:p>
            <a:pPr algn="ctr" indent="0" marL="0">
              <a:buNone/>
            </a:pPr>
            <a:r>
              <a:rPr lang="en-US" sz="2700" b="1" dirty="0">
                <a:solidFill>
                  <a:srgbClr val="8A6A12"/>
                </a:solidFill>
                <a:latin typeface="Aptos Display" pitchFamily="34" charset="0"/>
                <a:ea typeface="Aptos Display" pitchFamily="34" charset="-122"/>
                <a:cs typeface="Aptos Display" pitchFamily="34" charset="-120"/>
              </a:rPr>
              <a:t>3</a:t>
            </a:r>
            <a:endParaRPr lang="en-US" sz="2700" dirty="0"/>
          </a:p>
        </p:txBody>
      </p:sp>
      <p:sp>
        <p:nvSpPr>
          <p:cNvPr id="34" name="Text 31"/>
          <p:cNvSpPr txBox="1"/>
          <p:nvPr/>
        </p:nvSpPr>
        <p:spPr>
          <a:xfrm>
            <a:off x="1591056" y="4956048"/>
            <a:ext cx="2926080" cy="164592"/>
          </a:xfrm>
          <a:prstGeom prst="rect">
            <a:avLst/>
          </a:prstGeom>
          <a:noFill/>
          <a:ln/>
        </p:spPr>
        <p:txBody>
          <a:bodyPr wrap="square" lIns="0" tIns="0" rIns="0" bIns="0" rtlCol="0" anchor="t"/>
          <a:lstStyle/>
          <a:p>
            <a:pPr algn="l" indent="0" marL="0">
              <a:buNone/>
            </a:pPr>
            <a:r>
              <a:rPr lang="en-US" sz="830" b="1" spc="100" kern="0" dirty="0">
                <a:solidFill>
                  <a:srgbClr val="8A6A12"/>
                </a:solidFill>
                <a:latin typeface="Aptos" pitchFamily="34" charset="0"/>
                <a:ea typeface="Aptos" pitchFamily="34" charset="-122"/>
                <a:cs typeface="Aptos" pitchFamily="34" charset="-120"/>
              </a:rPr>
              <a:t>NECESITAS CUÁNTO DAÑO ADMITES</a:t>
            </a:r>
            <a:endParaRPr lang="en-US" sz="830" dirty="0"/>
          </a:p>
        </p:txBody>
      </p:sp>
      <p:sp>
        <p:nvSpPr>
          <p:cNvPr id="35" name="Text 32"/>
          <p:cNvSpPr txBox="1"/>
          <p:nvPr/>
        </p:nvSpPr>
        <p:spPr>
          <a:xfrm>
            <a:off x="1591056" y="5175504"/>
            <a:ext cx="9649663" cy="347472"/>
          </a:xfrm>
          <a:prstGeom prst="rect">
            <a:avLst/>
          </a:prstGeom>
          <a:noFill/>
          <a:ln/>
        </p:spPr>
        <p:txBody>
          <a:bodyPr wrap="square" lIns="0" tIns="0" rIns="0" bIns="0" rtlCol="0" anchor="t"/>
          <a:lstStyle/>
          <a:p>
            <a:pPr algn="l" indent="0" marL="0">
              <a:lnSpc>
                <a:spcPct val="112000"/>
              </a:lnSpc>
              <a:buNone/>
            </a:pPr>
            <a:r>
              <a:rPr lang="en-US" sz="1240" b="1" dirty="0">
                <a:solidFill>
                  <a:srgbClr val="243B53"/>
                </a:solidFill>
                <a:latin typeface="Aptos" pitchFamily="34" charset="0"/>
                <a:ea typeface="Aptos" pitchFamily="34" charset="-122"/>
                <a:cs typeface="Aptos" pitchFamily="34" charset="-120"/>
              </a:rPr>
              <a:t>La probabilidad y el impacto ya están estimados; lo que falta es el umbral de lo tolerable.</a:t>
            </a:r>
            <a:endParaRPr lang="en-US" sz="1240" dirty="0"/>
          </a:p>
        </p:txBody>
      </p:sp>
      <p:sp>
        <p:nvSpPr>
          <p:cNvPr id="36" name="Shape 33"/>
          <p:cNvSpPr/>
          <p:nvPr/>
        </p:nvSpPr>
        <p:spPr>
          <a:xfrm>
            <a:off x="1591056" y="5577840"/>
            <a:ext cx="9649663" cy="0"/>
          </a:xfrm>
          <a:prstGeom prst="line">
            <a:avLst/>
          </a:prstGeom>
          <a:noFill/>
          <a:ln w="12700">
            <a:solidFill>
              <a:srgbClr val="D8CFC4"/>
            </a:solidFill>
            <a:prstDash val="solid"/>
            <a:headEnd type="none"/>
            <a:tailEnd type="none"/>
          </a:ln>
        </p:spPr>
      </p:sp>
      <p:sp>
        <p:nvSpPr>
          <p:cNvPr id="37" name="Text 34"/>
          <p:cNvSpPr txBox="1"/>
          <p:nvPr/>
        </p:nvSpPr>
        <p:spPr>
          <a:xfrm>
            <a:off x="1591056" y="5669280"/>
            <a:ext cx="1188720" cy="155448"/>
          </a:xfrm>
          <a:prstGeom prst="rect">
            <a:avLst/>
          </a:prstGeom>
          <a:noFill/>
          <a:ln/>
        </p:spPr>
        <p:txBody>
          <a:bodyPr wrap="square" lIns="0" tIns="0" rIns="0" bIns="0" rtlCol="0" anchor="t"/>
          <a:lstStyle/>
          <a:p>
            <a:pPr algn="l" indent="0" marL="0">
              <a:buNone/>
            </a:pPr>
            <a:r>
              <a:rPr lang="en-US" sz="800" b="1" spc="90" kern="0" dirty="0">
                <a:solidFill>
                  <a:srgbClr val="2E7D4F"/>
                </a:solidFill>
                <a:latin typeface="Aptos" pitchFamily="34" charset="0"/>
                <a:ea typeface="Aptos" pitchFamily="34" charset="-122"/>
                <a:cs typeface="Aptos" pitchFamily="34" charset="-120"/>
              </a:rPr>
              <a:t>LO QUE REVELA</a:t>
            </a:r>
            <a:endParaRPr lang="en-US" sz="800" dirty="0"/>
          </a:p>
        </p:txBody>
      </p:sp>
      <p:sp>
        <p:nvSpPr>
          <p:cNvPr id="38" name="Text 35"/>
          <p:cNvSpPr txBox="1"/>
          <p:nvPr/>
        </p:nvSpPr>
        <p:spPr>
          <a:xfrm>
            <a:off x="2871216" y="5641848"/>
            <a:ext cx="3712464" cy="310896"/>
          </a:xfrm>
          <a:prstGeom prst="rect">
            <a:avLst/>
          </a:prstGeom>
          <a:noFill/>
          <a:ln/>
        </p:spPr>
        <p:txBody>
          <a:bodyPr wrap="square" lIns="0" tIns="0" rIns="0" bIns="0" rtlCol="0" anchor="t"/>
          <a:lstStyle/>
          <a:p>
            <a:pPr algn="l" indent="0" marL="0">
              <a:lnSpc>
                <a:spcPct val="110000"/>
              </a:lnSpc>
              <a:buNone/>
            </a:pPr>
            <a:r>
              <a:rPr lang="en-US" sz="1020" dirty="0">
                <a:solidFill>
                  <a:srgbClr val="243B53"/>
                </a:solidFill>
                <a:latin typeface="Aptos" pitchFamily="34" charset="0"/>
                <a:ea typeface="Aptos" pitchFamily="34" charset="-122"/>
                <a:cs typeface="Aptos" pitchFamily="34" charset="-120"/>
              </a:rPr>
              <a:t>Ese umbral no es un dato técnico y no está en ninguna parte del repositorio.</a:t>
            </a:r>
            <a:endParaRPr lang="en-US" sz="1020" dirty="0"/>
          </a:p>
        </p:txBody>
      </p:sp>
      <p:sp>
        <p:nvSpPr>
          <p:cNvPr id="39" name="Text 36"/>
          <p:cNvSpPr txBox="1"/>
          <p:nvPr/>
        </p:nvSpPr>
        <p:spPr>
          <a:xfrm>
            <a:off x="6784848" y="5669280"/>
            <a:ext cx="1325880" cy="155448"/>
          </a:xfrm>
          <a:prstGeom prst="rect">
            <a:avLst/>
          </a:prstGeom>
          <a:noFill/>
          <a:ln/>
        </p:spPr>
        <p:txBody>
          <a:bodyPr wrap="square" lIns="0" tIns="0" rIns="0" bIns="0" rtlCol="0" anchor="t"/>
          <a:lstStyle/>
          <a:p>
            <a:pPr algn="l" indent="0" marL="0">
              <a:buNone/>
            </a:pPr>
            <a:r>
              <a:rPr lang="en-US" sz="800" b="1" spc="90" kern="0" dirty="0">
                <a:solidFill>
                  <a:srgbClr val="B3181E"/>
                </a:solidFill>
                <a:latin typeface="Aptos" pitchFamily="34" charset="0"/>
                <a:ea typeface="Aptos" pitchFamily="34" charset="-122"/>
                <a:cs typeface="Aptos" pitchFamily="34" charset="-120"/>
              </a:rPr>
              <a:t>ERROR FRECUENTE</a:t>
            </a:r>
            <a:endParaRPr lang="en-US" sz="800" dirty="0"/>
          </a:p>
        </p:txBody>
      </p:sp>
      <p:sp>
        <p:nvSpPr>
          <p:cNvPr id="40" name="Text 37"/>
          <p:cNvSpPr txBox="1"/>
          <p:nvPr/>
        </p:nvSpPr>
        <p:spPr>
          <a:xfrm>
            <a:off x="8138160" y="5641848"/>
            <a:ext cx="3063240" cy="310896"/>
          </a:xfrm>
          <a:prstGeom prst="rect">
            <a:avLst/>
          </a:prstGeom>
          <a:noFill/>
          <a:ln/>
        </p:spPr>
        <p:txBody>
          <a:bodyPr wrap="square" lIns="0" tIns="0" rIns="0" bIns="0" rtlCol="0" anchor="t"/>
          <a:lstStyle/>
          <a:p>
            <a:pPr algn="l" indent="0" marL="0">
              <a:lnSpc>
                <a:spcPct val="110000"/>
              </a:lnSpc>
              <a:buNone/>
            </a:pPr>
            <a:r>
              <a:rPr lang="en-US" sz="1020" i="1" dirty="0">
                <a:solidFill>
                  <a:srgbClr val="52606D"/>
                </a:solidFill>
                <a:latin typeface="Aptos" pitchFamily="34" charset="0"/>
                <a:ea typeface="Aptos" pitchFamily="34" charset="-122"/>
                <a:cs typeface="Aptos" pitchFamily="34" charset="-120"/>
              </a:rPr>
              <a:t>Esperar que el agente decida qué riesgos se aceptan, que es justo lo que no puede decidir.</a:t>
            </a:r>
            <a:endParaRPr lang="en-US" sz="102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02A43"/>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E0BC5A"/>
          </a:solidFill>
          <a:ln w="12700">
            <a:solidFill>
              <a:srgbClr val="E0BC5A"/>
            </a:solidFill>
            <a:prstDash val="solid"/>
          </a:ln>
        </p:spPr>
      </p:sp>
      <p:sp>
        <p:nvSpPr>
          <p:cNvPr id="4" name="Shape 2"/>
          <p:cNvSpPr/>
          <p:nvPr/>
        </p:nvSpPr>
        <p:spPr>
          <a:xfrm>
            <a:off x="1243584" y="0"/>
            <a:ext cx="256032" cy="109728"/>
          </a:xfrm>
          <a:prstGeom prst="rect">
            <a:avLst/>
          </a:prstGeom>
          <a:solidFill>
            <a:srgbClr val="FFFFFF"/>
          </a:solidFill>
          <a:ln w="12700">
            <a:solidFill>
              <a:srgbClr val="FFFFFF"/>
            </a:solidFill>
            <a:prstDash val="solid"/>
          </a:ln>
        </p:spPr>
      </p:sp>
      <p:pic>
        <p:nvPicPr>
          <p:cNvPr id="5" name="Image 0" descr="C:\Users\Diego Obando\dev\pro402-taller-de-testing-2026\clases\semana-05\02\ppt\source\assets\logo-aiep-dark.png">    </p:cNvPr>
          <p:cNvPicPr>
            <a:picLocks noChangeAspect="1"/>
          </p:cNvPicPr>
          <p:nvPr/>
        </p:nvPicPr>
        <p:blipFill>
          <a:blip r:embed="rId1"/>
          <a:stretch>
            <a:fillRect/>
          </a:stretch>
        </p:blipFill>
        <p:spPr>
          <a:xfrm>
            <a:off x="10222992" y="307150"/>
            <a:ext cx="1335024" cy="464691"/>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EADFD0"/>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EADFD0"/>
                </a:solidFill>
                <a:latin typeface="Aptos Display" pitchFamily="34" charset="0"/>
                <a:ea typeface="Aptos Display" pitchFamily="34" charset="-122"/>
                <a:cs typeface="Aptos Display" pitchFamily="34" charset="-120"/>
              </a:rPr>
              <a:t>28</a:t>
            </a:r>
            <a:endParaRPr lang="en-US" sz="1400" dirty="0"/>
          </a:p>
        </p:txBody>
      </p:sp>
      <p:sp>
        <p:nvSpPr>
          <p:cNvPr id="8" name="Text 5"/>
          <p:cNvSpPr txBox="1"/>
          <p:nvPr/>
        </p:nvSpPr>
        <p:spPr>
          <a:xfrm>
            <a:off x="658368" y="1371600"/>
            <a:ext cx="4572000" cy="201168"/>
          </a:xfrm>
          <a:prstGeom prst="rect">
            <a:avLst/>
          </a:prstGeom>
          <a:noFill/>
          <a:ln/>
        </p:spPr>
        <p:txBody>
          <a:bodyPr wrap="square" lIns="0" tIns="0" rIns="0" bIns="0" rtlCol="0" anchor="t"/>
          <a:lstStyle/>
          <a:p>
            <a:pPr algn="l" indent="0" marL="0">
              <a:buNone/>
            </a:pPr>
            <a:r>
              <a:rPr lang="en-US" sz="960" b="1" spc="130" kern="0" dirty="0">
                <a:solidFill>
                  <a:srgbClr val="E0BC5A"/>
                </a:solidFill>
                <a:latin typeface="Aptos" pitchFamily="34" charset="0"/>
                <a:ea typeface="Aptos" pitchFamily="34" charset="-122"/>
                <a:cs typeface="Aptos" pitchFamily="34" charset="-120"/>
              </a:rPr>
              <a:t>BLOQUE 3 DE 4 · 30 MINUTOS</a:t>
            </a:r>
            <a:endParaRPr lang="en-US" sz="960" dirty="0"/>
          </a:p>
        </p:txBody>
      </p:sp>
      <p:sp>
        <p:nvSpPr>
          <p:cNvPr id="9" name="Text 6"/>
          <p:cNvSpPr txBox="1"/>
          <p:nvPr/>
        </p:nvSpPr>
        <p:spPr>
          <a:xfrm>
            <a:off x="658368" y="1810512"/>
            <a:ext cx="9784080" cy="1371600"/>
          </a:xfrm>
          <a:prstGeom prst="rect">
            <a:avLst/>
          </a:prstGeom>
          <a:noFill/>
          <a:ln/>
        </p:spPr>
        <p:txBody>
          <a:bodyPr wrap="square" lIns="0" tIns="0" rIns="0" bIns="0" rtlCol="0" anchor="t"/>
          <a:lstStyle/>
          <a:p>
            <a:pPr algn="l" indent="0" marL="0">
              <a:lnSpc>
                <a:spcPct val="102000"/>
              </a:lnSpc>
              <a:buNone/>
            </a:pPr>
            <a:r>
              <a:rPr lang="en-US" sz="4000" b="1" dirty="0">
                <a:solidFill>
                  <a:srgbClr val="FFFFFF"/>
                </a:solidFill>
                <a:latin typeface="Aptos Display" pitchFamily="34" charset="0"/>
                <a:ea typeface="Aptos Display" pitchFamily="34" charset="-122"/>
                <a:cs typeface="Aptos Display" pitchFamily="34" charset="-120"/>
              </a:rPr>
              <a:t>La trazabilidad se genera, no se escribe</a:t>
            </a:r>
            <a:endParaRPr lang="en-US" sz="4000" dirty="0"/>
          </a:p>
        </p:txBody>
      </p:sp>
      <p:sp>
        <p:nvSpPr>
          <p:cNvPr id="10" name="Shape 7"/>
          <p:cNvSpPr/>
          <p:nvPr/>
        </p:nvSpPr>
        <p:spPr>
          <a:xfrm>
            <a:off x="658368" y="3346704"/>
            <a:ext cx="3840480" cy="0"/>
          </a:xfrm>
          <a:prstGeom prst="line">
            <a:avLst/>
          </a:prstGeom>
          <a:noFill/>
          <a:ln w="12700">
            <a:solidFill>
              <a:srgbClr val="E0BC5A"/>
            </a:solidFill>
            <a:prstDash val="solid"/>
            <a:headEnd type="none"/>
            <a:tailEnd type="none"/>
          </a:ln>
        </p:spPr>
      </p:sp>
      <p:sp>
        <p:nvSpPr>
          <p:cNvPr id="11" name="Text 8"/>
          <p:cNvSpPr txBox="1"/>
          <p:nvPr/>
        </p:nvSpPr>
        <p:spPr>
          <a:xfrm>
            <a:off x="658368" y="3602736"/>
            <a:ext cx="9326880" cy="786384"/>
          </a:xfrm>
          <a:prstGeom prst="rect">
            <a:avLst/>
          </a:prstGeom>
          <a:noFill/>
          <a:ln/>
        </p:spPr>
        <p:txBody>
          <a:bodyPr wrap="square" lIns="0" tIns="0" rIns="0" bIns="0" rtlCol="0" anchor="t"/>
          <a:lstStyle/>
          <a:p>
            <a:pPr algn="l" indent="0" marL="0">
              <a:lnSpc>
                <a:spcPct val="120000"/>
              </a:lnSpc>
              <a:buNone/>
            </a:pPr>
            <a:r>
              <a:rPr lang="en-US" sz="1500" dirty="0">
                <a:solidFill>
                  <a:srgbClr val="EADFD0"/>
                </a:solidFill>
                <a:latin typeface="Aptos" pitchFamily="34" charset="0"/>
                <a:ea typeface="Aptos" pitchFamily="34" charset="-122"/>
                <a:cs typeface="Aptos" pitchFamily="34" charset="-120"/>
              </a:rPr>
              <a:t>Si el identificador del requisito vive dentro de la prueba, la relación entre ambos deja de ser una afirmación de un documento y pasa a ser un dato que se extrae de la suite, hoy y mañana.</a:t>
            </a:r>
            <a:endParaRPr lang="en-US" sz="1500" dirty="0"/>
          </a:p>
        </p:txBody>
      </p:sp>
      <p:sp>
        <p:nvSpPr>
          <p:cNvPr id="12" name="Shape 9"/>
          <p:cNvSpPr/>
          <p:nvPr/>
        </p:nvSpPr>
        <p:spPr>
          <a:xfrm>
            <a:off x="658368" y="4901184"/>
            <a:ext cx="2622728" cy="786384"/>
          </a:xfrm>
          <a:prstGeom prst="rect">
            <a:avLst/>
          </a:prstGeom>
          <a:solidFill>
            <a:srgbClr val="1D3A57"/>
          </a:solidFill>
          <a:ln w="12700">
            <a:solidFill>
              <a:srgbClr val="1D3A57"/>
            </a:solidFill>
            <a:prstDash val="solid"/>
          </a:ln>
        </p:spPr>
      </p:sp>
      <p:sp>
        <p:nvSpPr>
          <p:cNvPr id="13" name="Text 10"/>
          <p:cNvSpPr txBox="1"/>
          <p:nvPr/>
        </p:nvSpPr>
        <p:spPr>
          <a:xfrm>
            <a:off x="841248" y="5001768"/>
            <a:ext cx="457200" cy="182880"/>
          </a:xfrm>
          <a:prstGeom prst="rect">
            <a:avLst/>
          </a:prstGeom>
          <a:noFill/>
          <a:ln/>
        </p:spPr>
        <p:txBody>
          <a:bodyPr wrap="square" lIns="0" tIns="0" rIns="0" bIns="0" rtlCol="0" anchor="t"/>
          <a:lstStyle/>
          <a:p>
            <a:pPr algn="l" indent="0" marL="0">
              <a:buNone/>
            </a:pPr>
            <a:r>
              <a:rPr lang="en-US" sz="900" b="1" spc="80" kern="0" dirty="0">
                <a:solidFill>
                  <a:srgbClr val="E0BC5A"/>
                </a:solidFill>
                <a:latin typeface="Aptos" pitchFamily="34" charset="0"/>
                <a:ea typeface="Aptos" pitchFamily="34" charset="-122"/>
                <a:cs typeface="Aptos" pitchFamily="34" charset="-120"/>
              </a:rPr>
              <a:t>01</a:t>
            </a:r>
            <a:endParaRPr lang="en-US" sz="900" dirty="0"/>
          </a:p>
        </p:txBody>
      </p:sp>
      <p:sp>
        <p:nvSpPr>
          <p:cNvPr id="14" name="Text 11"/>
          <p:cNvSpPr txBox="1"/>
          <p:nvPr/>
        </p:nvSpPr>
        <p:spPr>
          <a:xfrm>
            <a:off x="841248" y="5184648"/>
            <a:ext cx="2256968" cy="219456"/>
          </a:xfrm>
          <a:prstGeom prst="rect">
            <a:avLst/>
          </a:prstGeom>
          <a:noFill/>
          <a:ln/>
        </p:spPr>
        <p:txBody>
          <a:bodyPr wrap="square" lIns="0" tIns="0" rIns="0" bIns="0" rtlCol="0" anchor="t"/>
          <a:lstStyle/>
          <a:p>
            <a:pPr algn="l" indent="0" marL="0">
              <a:buNone/>
            </a:pPr>
            <a:r>
              <a:rPr lang="en-US" sz="1160" b="1" spc="90" kern="0" dirty="0">
                <a:solidFill>
                  <a:srgbClr val="FFFFFF"/>
                </a:solidFill>
                <a:latin typeface="Aptos" pitchFamily="34" charset="0"/>
                <a:ea typeface="Aptos" pitchFamily="34" charset="-122"/>
                <a:cs typeface="Aptos" pitchFamily="34" charset="-120"/>
              </a:rPr>
              <a:t>DECLARAR</a:t>
            </a:r>
            <a:endParaRPr lang="en-US" sz="1160" dirty="0"/>
          </a:p>
        </p:txBody>
      </p:sp>
      <p:sp>
        <p:nvSpPr>
          <p:cNvPr id="15" name="Text 12"/>
          <p:cNvSpPr txBox="1"/>
          <p:nvPr/>
        </p:nvSpPr>
        <p:spPr>
          <a:xfrm>
            <a:off x="841248" y="5422392"/>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E6EEF7"/>
                </a:solidFill>
                <a:latin typeface="Aptos" pitchFamily="34" charset="0"/>
                <a:ea typeface="Aptos" pitchFamily="34" charset="-122"/>
                <a:cs typeface="Aptos" pitchFamily="34" charset="-120"/>
              </a:rPr>
              <a:t>Qué se prueba y qué queda fuera</a:t>
            </a:r>
            <a:endParaRPr lang="en-US" sz="920" dirty="0"/>
          </a:p>
        </p:txBody>
      </p:sp>
      <p:sp>
        <p:nvSpPr>
          <p:cNvPr id="16" name="Shape 13"/>
          <p:cNvSpPr/>
          <p:nvPr/>
        </p:nvSpPr>
        <p:spPr>
          <a:xfrm>
            <a:off x="3409112" y="4901184"/>
            <a:ext cx="2622728" cy="786384"/>
          </a:xfrm>
          <a:prstGeom prst="rect">
            <a:avLst/>
          </a:prstGeom>
          <a:solidFill>
            <a:srgbClr val="1D3A57"/>
          </a:solidFill>
          <a:ln w="12700">
            <a:solidFill>
              <a:srgbClr val="1D3A57"/>
            </a:solidFill>
            <a:prstDash val="solid"/>
          </a:ln>
        </p:spPr>
      </p:sp>
      <p:sp>
        <p:nvSpPr>
          <p:cNvPr id="17" name="Text 14"/>
          <p:cNvSpPr txBox="1"/>
          <p:nvPr/>
        </p:nvSpPr>
        <p:spPr>
          <a:xfrm>
            <a:off x="3591992" y="5001768"/>
            <a:ext cx="457200" cy="182880"/>
          </a:xfrm>
          <a:prstGeom prst="rect">
            <a:avLst/>
          </a:prstGeom>
          <a:noFill/>
          <a:ln/>
        </p:spPr>
        <p:txBody>
          <a:bodyPr wrap="square" lIns="0" tIns="0" rIns="0" bIns="0" rtlCol="0" anchor="t"/>
          <a:lstStyle/>
          <a:p>
            <a:pPr algn="l" indent="0" marL="0">
              <a:buNone/>
            </a:pPr>
            <a:r>
              <a:rPr lang="en-US" sz="900" b="1" spc="80" kern="0" dirty="0">
                <a:solidFill>
                  <a:srgbClr val="E0BC5A"/>
                </a:solidFill>
                <a:latin typeface="Aptos" pitchFamily="34" charset="0"/>
                <a:ea typeface="Aptos" pitchFamily="34" charset="-122"/>
                <a:cs typeface="Aptos" pitchFamily="34" charset="-120"/>
              </a:rPr>
              <a:t>02</a:t>
            </a:r>
            <a:endParaRPr lang="en-US" sz="900" dirty="0"/>
          </a:p>
        </p:txBody>
      </p:sp>
      <p:sp>
        <p:nvSpPr>
          <p:cNvPr id="18" name="Text 15"/>
          <p:cNvSpPr txBox="1"/>
          <p:nvPr/>
        </p:nvSpPr>
        <p:spPr>
          <a:xfrm>
            <a:off x="3591992" y="5184648"/>
            <a:ext cx="2256968" cy="219456"/>
          </a:xfrm>
          <a:prstGeom prst="rect">
            <a:avLst/>
          </a:prstGeom>
          <a:noFill/>
          <a:ln/>
        </p:spPr>
        <p:txBody>
          <a:bodyPr wrap="square" lIns="0" tIns="0" rIns="0" bIns="0" rtlCol="0" anchor="t"/>
          <a:lstStyle/>
          <a:p>
            <a:pPr algn="l" indent="0" marL="0">
              <a:buNone/>
            </a:pPr>
            <a:r>
              <a:rPr lang="en-US" sz="1160" b="1" spc="90" kern="0" dirty="0">
                <a:solidFill>
                  <a:srgbClr val="FFFFFF"/>
                </a:solidFill>
                <a:latin typeface="Aptos" pitchFamily="34" charset="0"/>
                <a:ea typeface="Aptos" pitchFamily="34" charset="-122"/>
                <a:cs typeface="Aptos" pitchFamily="34" charset="-120"/>
              </a:rPr>
              <a:t>PRIORIZAR</a:t>
            </a:r>
            <a:endParaRPr lang="en-US" sz="1160" dirty="0"/>
          </a:p>
        </p:txBody>
      </p:sp>
      <p:sp>
        <p:nvSpPr>
          <p:cNvPr id="19" name="Text 16"/>
          <p:cNvSpPr txBox="1"/>
          <p:nvPr/>
        </p:nvSpPr>
        <p:spPr>
          <a:xfrm>
            <a:off x="3591992" y="5422392"/>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E6EEF7"/>
                </a:solidFill>
                <a:latin typeface="Aptos" pitchFamily="34" charset="0"/>
                <a:ea typeface="Aptos" pitchFamily="34" charset="-122"/>
                <a:cs typeface="Aptos" pitchFamily="34" charset="-120"/>
              </a:rPr>
              <a:t>Dónde duele más un fallo</a:t>
            </a:r>
            <a:endParaRPr lang="en-US" sz="920" dirty="0"/>
          </a:p>
        </p:txBody>
      </p:sp>
      <p:sp>
        <p:nvSpPr>
          <p:cNvPr id="20" name="Shape 17"/>
          <p:cNvSpPr/>
          <p:nvPr/>
        </p:nvSpPr>
        <p:spPr>
          <a:xfrm>
            <a:off x="6159856" y="4901184"/>
            <a:ext cx="2622728" cy="786384"/>
          </a:xfrm>
          <a:prstGeom prst="rect">
            <a:avLst/>
          </a:prstGeom>
          <a:solidFill>
            <a:srgbClr val="D62027"/>
          </a:solidFill>
          <a:ln w="12700">
            <a:solidFill>
              <a:srgbClr val="D62027"/>
            </a:solidFill>
            <a:prstDash val="solid"/>
          </a:ln>
        </p:spPr>
      </p:sp>
      <p:sp>
        <p:nvSpPr>
          <p:cNvPr id="21" name="Text 18"/>
          <p:cNvSpPr txBox="1"/>
          <p:nvPr/>
        </p:nvSpPr>
        <p:spPr>
          <a:xfrm>
            <a:off x="6342736" y="5001768"/>
            <a:ext cx="457200" cy="182880"/>
          </a:xfrm>
          <a:prstGeom prst="rect">
            <a:avLst/>
          </a:prstGeom>
          <a:noFill/>
          <a:ln/>
        </p:spPr>
        <p:txBody>
          <a:bodyPr wrap="square" lIns="0" tIns="0" rIns="0" bIns="0" rtlCol="0" anchor="t"/>
          <a:lstStyle/>
          <a:p>
            <a:pPr algn="l" indent="0" marL="0">
              <a:buNone/>
            </a:pPr>
            <a:r>
              <a:rPr lang="en-US" sz="900" b="1" spc="80" kern="0" dirty="0">
                <a:solidFill>
                  <a:srgbClr val="FFFFFF"/>
                </a:solidFill>
                <a:latin typeface="Aptos" pitchFamily="34" charset="0"/>
                <a:ea typeface="Aptos" pitchFamily="34" charset="-122"/>
                <a:cs typeface="Aptos" pitchFamily="34" charset="-120"/>
              </a:rPr>
              <a:t>03</a:t>
            </a:r>
            <a:endParaRPr lang="en-US" sz="900" dirty="0"/>
          </a:p>
        </p:txBody>
      </p:sp>
      <p:sp>
        <p:nvSpPr>
          <p:cNvPr id="22" name="Text 19"/>
          <p:cNvSpPr txBox="1"/>
          <p:nvPr/>
        </p:nvSpPr>
        <p:spPr>
          <a:xfrm>
            <a:off x="6342736" y="5184648"/>
            <a:ext cx="2256968" cy="219456"/>
          </a:xfrm>
          <a:prstGeom prst="rect">
            <a:avLst/>
          </a:prstGeom>
          <a:noFill/>
          <a:ln/>
        </p:spPr>
        <p:txBody>
          <a:bodyPr wrap="square" lIns="0" tIns="0" rIns="0" bIns="0" rtlCol="0" anchor="t"/>
          <a:lstStyle/>
          <a:p>
            <a:pPr algn="l" indent="0" marL="0">
              <a:buNone/>
            </a:pPr>
            <a:r>
              <a:rPr lang="en-US" sz="1160" b="1" spc="90" kern="0" dirty="0">
                <a:solidFill>
                  <a:srgbClr val="FFFFFF"/>
                </a:solidFill>
                <a:latin typeface="Aptos" pitchFamily="34" charset="0"/>
                <a:ea typeface="Aptos" pitchFamily="34" charset="-122"/>
                <a:cs typeface="Aptos" pitchFamily="34" charset="-120"/>
              </a:rPr>
              <a:t>TRAZAR</a:t>
            </a:r>
            <a:endParaRPr lang="en-US" sz="1160" dirty="0"/>
          </a:p>
        </p:txBody>
      </p:sp>
      <p:sp>
        <p:nvSpPr>
          <p:cNvPr id="23" name="Text 20"/>
          <p:cNvSpPr txBox="1"/>
          <p:nvPr/>
        </p:nvSpPr>
        <p:spPr>
          <a:xfrm>
            <a:off x="6342736" y="5422392"/>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EADFD0"/>
                </a:solidFill>
                <a:latin typeface="Aptos" pitchFamily="34" charset="0"/>
                <a:ea typeface="Aptos" pitchFamily="34" charset="-122"/>
                <a:cs typeface="Aptos" pitchFamily="34" charset="-120"/>
              </a:rPr>
              <a:t>Qué prueba responde a qué requisito</a:t>
            </a:r>
            <a:endParaRPr lang="en-US" sz="920" dirty="0"/>
          </a:p>
        </p:txBody>
      </p:sp>
      <p:sp>
        <p:nvSpPr>
          <p:cNvPr id="24" name="Shape 21"/>
          <p:cNvSpPr/>
          <p:nvPr/>
        </p:nvSpPr>
        <p:spPr>
          <a:xfrm>
            <a:off x="8910599" y="4901184"/>
            <a:ext cx="2622728" cy="786384"/>
          </a:xfrm>
          <a:prstGeom prst="rect">
            <a:avLst/>
          </a:prstGeom>
          <a:solidFill>
            <a:srgbClr val="1D3A57"/>
          </a:solidFill>
          <a:ln w="12700">
            <a:solidFill>
              <a:srgbClr val="1D3A57"/>
            </a:solidFill>
            <a:prstDash val="solid"/>
          </a:ln>
        </p:spPr>
      </p:sp>
      <p:sp>
        <p:nvSpPr>
          <p:cNvPr id="25" name="Text 22"/>
          <p:cNvSpPr txBox="1"/>
          <p:nvPr/>
        </p:nvSpPr>
        <p:spPr>
          <a:xfrm>
            <a:off x="9093479" y="5001768"/>
            <a:ext cx="457200" cy="182880"/>
          </a:xfrm>
          <a:prstGeom prst="rect">
            <a:avLst/>
          </a:prstGeom>
          <a:noFill/>
          <a:ln/>
        </p:spPr>
        <p:txBody>
          <a:bodyPr wrap="square" lIns="0" tIns="0" rIns="0" bIns="0" rtlCol="0" anchor="t"/>
          <a:lstStyle/>
          <a:p>
            <a:pPr algn="l" indent="0" marL="0">
              <a:buNone/>
            </a:pPr>
            <a:r>
              <a:rPr lang="en-US" sz="900" b="1" spc="80" kern="0" dirty="0">
                <a:solidFill>
                  <a:srgbClr val="E0BC5A"/>
                </a:solidFill>
                <a:latin typeface="Aptos" pitchFamily="34" charset="0"/>
                <a:ea typeface="Aptos" pitchFamily="34" charset="-122"/>
                <a:cs typeface="Aptos" pitchFamily="34" charset="-120"/>
              </a:rPr>
              <a:t>04</a:t>
            </a:r>
            <a:endParaRPr lang="en-US" sz="900" dirty="0"/>
          </a:p>
        </p:txBody>
      </p:sp>
      <p:sp>
        <p:nvSpPr>
          <p:cNvPr id="26" name="Text 23"/>
          <p:cNvSpPr txBox="1"/>
          <p:nvPr/>
        </p:nvSpPr>
        <p:spPr>
          <a:xfrm>
            <a:off x="9093479" y="5184648"/>
            <a:ext cx="2256968" cy="219456"/>
          </a:xfrm>
          <a:prstGeom prst="rect">
            <a:avLst/>
          </a:prstGeom>
          <a:noFill/>
          <a:ln/>
        </p:spPr>
        <p:txBody>
          <a:bodyPr wrap="square" lIns="0" tIns="0" rIns="0" bIns="0" rtlCol="0" anchor="t"/>
          <a:lstStyle/>
          <a:p>
            <a:pPr algn="l" indent="0" marL="0">
              <a:buNone/>
            </a:pPr>
            <a:r>
              <a:rPr lang="en-US" sz="1160" b="1" spc="90" kern="0" dirty="0">
                <a:solidFill>
                  <a:srgbClr val="FFFFFF"/>
                </a:solidFill>
                <a:latin typeface="Aptos" pitchFamily="34" charset="0"/>
                <a:ea typeface="Aptos" pitchFamily="34" charset="-122"/>
                <a:cs typeface="Aptos" pitchFamily="34" charset="-120"/>
              </a:rPr>
              <a:t>COMPROBAR</a:t>
            </a:r>
            <a:endParaRPr lang="en-US" sz="1160" dirty="0"/>
          </a:p>
        </p:txBody>
      </p:sp>
      <p:sp>
        <p:nvSpPr>
          <p:cNvPr id="27" name="Text 24"/>
          <p:cNvSpPr txBox="1"/>
          <p:nvPr/>
        </p:nvSpPr>
        <p:spPr>
          <a:xfrm>
            <a:off x="9093479" y="5422392"/>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E6EEF7"/>
                </a:solidFill>
                <a:latin typeface="Aptos" pitchFamily="34" charset="0"/>
                <a:ea typeface="Aptos" pitchFamily="34" charset="-122"/>
                <a:cs typeface="Aptos" pitchFamily="34" charset="-120"/>
              </a:rPr>
              <a:t>Que la traza sea verdadera</a:t>
            </a:r>
            <a:endParaRPr lang="en-US" sz="92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29</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3 · EL ARTEFACTO</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Una matriz escrita a mano miente sin avisar</a:t>
            </a:r>
            <a:endParaRPr lang="en-US" sz="3000" dirty="0"/>
          </a:p>
        </p:txBody>
      </p:sp>
      <p:sp>
        <p:nvSpPr>
          <p:cNvPr id="10" name="Text 7"/>
          <p:cNvSpPr txBox="1"/>
          <p:nvPr/>
        </p:nvSpPr>
        <p:spPr>
          <a:xfrm>
            <a:off x="658368" y="1664208"/>
            <a:ext cx="10424160" cy="347472"/>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La norma admite «documento, planilla u otra herramienta», y permite distinta información, formato y nivel de detalle.</a:t>
            </a:r>
            <a:endParaRPr lang="en-US" sz="1420" dirty="0"/>
          </a:p>
        </p:txBody>
      </p:sp>
      <p:sp>
        <p:nvSpPr>
          <p:cNvPr id="11" name="Shape 8"/>
          <p:cNvSpPr/>
          <p:nvPr/>
        </p:nvSpPr>
        <p:spPr>
          <a:xfrm>
            <a:off x="658368" y="2231136"/>
            <a:ext cx="10874959" cy="713232"/>
          </a:xfrm>
          <a:prstGeom prst="rect">
            <a:avLst/>
          </a:prstGeom>
          <a:solidFill>
            <a:srgbClr val="FFFFFF"/>
          </a:solidFill>
          <a:ln w="12700">
            <a:solidFill>
              <a:srgbClr val="FFFFFF"/>
            </a:solidFill>
            <a:prstDash val="solid"/>
          </a:ln>
        </p:spPr>
      </p:sp>
      <p:sp>
        <p:nvSpPr>
          <p:cNvPr id="12" name="Shape 9"/>
          <p:cNvSpPr/>
          <p:nvPr/>
        </p:nvSpPr>
        <p:spPr>
          <a:xfrm>
            <a:off x="658368" y="2231136"/>
            <a:ext cx="54864" cy="713232"/>
          </a:xfrm>
          <a:prstGeom prst="rect">
            <a:avLst/>
          </a:prstGeom>
          <a:solidFill>
            <a:srgbClr val="102A43"/>
          </a:solidFill>
          <a:ln w="12700">
            <a:solidFill>
              <a:srgbClr val="102A43"/>
            </a:solidFill>
            <a:prstDash val="solid"/>
          </a:ln>
        </p:spPr>
      </p:sp>
      <p:sp>
        <p:nvSpPr>
          <p:cNvPr id="13" name="Text 10"/>
          <p:cNvSpPr txBox="1"/>
          <p:nvPr/>
        </p:nvSpPr>
        <p:spPr>
          <a:xfrm>
            <a:off x="896112" y="2359152"/>
            <a:ext cx="10417759" cy="182880"/>
          </a:xfrm>
          <a:prstGeom prst="rect">
            <a:avLst/>
          </a:prstGeom>
          <a:noFill/>
          <a:ln/>
        </p:spPr>
        <p:txBody>
          <a:bodyPr wrap="square" lIns="0" tIns="0" rIns="0" bIns="0" rtlCol="0" anchor="t"/>
          <a:lstStyle/>
          <a:p>
            <a:pPr algn="l" indent="0" marL="0">
              <a:buNone/>
            </a:pPr>
            <a:r>
              <a:rPr lang="en-US" sz="920" b="1" spc="110" kern="0" dirty="0">
                <a:solidFill>
                  <a:srgbClr val="102A43"/>
                </a:solidFill>
                <a:latin typeface="Aptos" pitchFamily="34" charset="0"/>
                <a:ea typeface="Aptos" pitchFamily="34" charset="-122"/>
                <a:cs typeface="Aptos" pitchFamily="34" charset="-120"/>
              </a:rPr>
              <a:t>MATRIZ DE TRAZABILIDAD · CLÁUSULA 3.26 · TRADUCCIÓN DEL INGLÉS</a:t>
            </a:r>
            <a:endParaRPr lang="en-US" sz="920" dirty="0"/>
          </a:p>
        </p:txBody>
      </p:sp>
      <p:sp>
        <p:nvSpPr>
          <p:cNvPr id="14" name="Text 11"/>
          <p:cNvSpPr txBox="1"/>
          <p:nvPr/>
        </p:nvSpPr>
        <p:spPr>
          <a:xfrm>
            <a:off x="896112" y="2615184"/>
            <a:ext cx="10417759" cy="219456"/>
          </a:xfrm>
          <a:prstGeom prst="rect">
            <a:avLst/>
          </a:prstGeom>
          <a:noFill/>
          <a:ln/>
        </p:spPr>
        <p:txBody>
          <a:bodyPr wrap="square" lIns="0" tIns="0" rIns="0" bIns="0" rtlCol="0" anchor="t"/>
          <a:lstStyle/>
          <a:p>
            <a:pPr algn="l" indent="0" marL="0">
              <a:lnSpc>
                <a:spcPct val="114000"/>
              </a:lnSpc>
              <a:buNone/>
            </a:pPr>
            <a:r>
              <a:rPr lang="en-US" sz="1210" dirty="0">
                <a:solidFill>
                  <a:srgbClr val="243B53"/>
                </a:solidFill>
                <a:latin typeface="Aptos" pitchFamily="34" charset="0"/>
                <a:ea typeface="Aptos" pitchFamily="34" charset="-122"/>
                <a:cs typeface="Aptos" pitchFamily="34" charset="-120"/>
              </a:rPr>
              <a:t>Herramienta usada para identificar elementos relacionados entre la documentación y el software, como requisitos con sus pruebas asociadas.</a:t>
            </a:r>
            <a:endParaRPr lang="en-US" sz="1210" dirty="0"/>
          </a:p>
        </p:txBody>
      </p:sp>
      <p:sp>
        <p:nvSpPr>
          <p:cNvPr id="15" name="Text 12"/>
          <p:cNvSpPr txBox="1"/>
          <p:nvPr/>
        </p:nvSpPr>
        <p:spPr>
          <a:xfrm>
            <a:off x="658368" y="3072384"/>
            <a:ext cx="5486400" cy="201168"/>
          </a:xfrm>
          <a:prstGeom prst="rect">
            <a:avLst/>
          </a:prstGeom>
          <a:noFill/>
          <a:ln/>
        </p:spPr>
        <p:txBody>
          <a:bodyPr wrap="square" lIns="0" tIns="0" rIns="0" bIns="0" rtlCol="0" anchor="t"/>
          <a:lstStyle/>
          <a:p>
            <a:pPr algn="l" indent="0" marL="0">
              <a:buNone/>
            </a:pPr>
            <a:r>
              <a:rPr lang="en-US" sz="960" b="1" spc="130" kern="0" dirty="0">
                <a:solidFill>
                  <a:srgbClr val="D62027"/>
                </a:solidFill>
                <a:latin typeface="Aptos" pitchFamily="34" charset="0"/>
                <a:ea typeface="Aptos" pitchFamily="34" charset="-122"/>
                <a:cs typeface="Aptos" pitchFamily="34" charset="-120"/>
              </a:rPr>
              <a:t>LA MISMA MATRIZ, TREINTA DÍAS DESPUÉS</a:t>
            </a:r>
            <a:endParaRPr lang="en-US" sz="960" dirty="0"/>
          </a:p>
        </p:txBody>
      </p:sp>
      <p:sp>
        <p:nvSpPr>
          <p:cNvPr id="16" name="Text 13"/>
          <p:cNvSpPr txBox="1"/>
          <p:nvPr/>
        </p:nvSpPr>
        <p:spPr>
          <a:xfrm>
            <a:off x="658368" y="3456432"/>
            <a:ext cx="3108960" cy="274320"/>
          </a:xfrm>
          <a:prstGeom prst="rect">
            <a:avLst/>
          </a:prstGeom>
          <a:noFill/>
          <a:ln/>
        </p:spPr>
        <p:txBody>
          <a:bodyPr wrap="square" lIns="0" tIns="0" rIns="0" bIns="0" rtlCol="0" anchor="t"/>
          <a:lstStyle/>
          <a:p>
            <a:pPr algn="l" indent="0" marL="0">
              <a:buNone/>
            </a:pPr>
            <a:r>
              <a:rPr lang="en-US" sz="1300" b="1" dirty="0">
                <a:solidFill>
                  <a:srgbClr val="B3181E"/>
                </a:solidFill>
                <a:latin typeface="Aptos" pitchFamily="34" charset="0"/>
                <a:ea typeface="Aptos" pitchFamily="34" charset="-122"/>
                <a:cs typeface="Aptos" pitchFamily="34" charset="-120"/>
              </a:rPr>
              <a:t>Escrita a mano</a:t>
            </a:r>
            <a:endParaRPr lang="en-US" sz="1300" dirty="0"/>
          </a:p>
        </p:txBody>
      </p:sp>
      <p:sp>
        <p:nvSpPr>
          <p:cNvPr id="17" name="Shape 14"/>
          <p:cNvSpPr/>
          <p:nvPr/>
        </p:nvSpPr>
        <p:spPr>
          <a:xfrm>
            <a:off x="3931920" y="3346704"/>
            <a:ext cx="1828800" cy="493776"/>
          </a:xfrm>
          <a:prstGeom prst="rect">
            <a:avLst/>
          </a:prstGeom>
          <a:solidFill>
            <a:srgbClr val="2E7D4F"/>
          </a:solidFill>
          <a:ln w="12700">
            <a:solidFill>
              <a:srgbClr val="2E7D4F"/>
            </a:solidFill>
            <a:prstDash val="solid"/>
          </a:ln>
        </p:spPr>
      </p:sp>
      <p:sp>
        <p:nvSpPr>
          <p:cNvPr id="18" name="Text 15"/>
          <p:cNvSpPr txBox="1"/>
          <p:nvPr/>
        </p:nvSpPr>
        <p:spPr>
          <a:xfrm>
            <a:off x="4005072" y="3401568"/>
            <a:ext cx="1682496" cy="384048"/>
          </a:xfrm>
          <a:prstGeom prst="rect">
            <a:avLst/>
          </a:prstGeom>
          <a:noFill/>
          <a:ln/>
        </p:spPr>
        <p:txBody>
          <a:bodyPr wrap="square" lIns="0" tIns="0" rIns="0" bIns="0" rtlCol="0" anchor="ctr"/>
          <a:lstStyle/>
          <a:p>
            <a:pPr algn="ctr" indent="0" marL="0">
              <a:buNone/>
            </a:pPr>
            <a:r>
              <a:rPr lang="en-US" sz="1040" b="1" spc="90" kern="0" dirty="0">
                <a:solidFill>
                  <a:srgbClr val="FFFFFF"/>
                </a:solidFill>
                <a:latin typeface="Aptos" pitchFamily="34" charset="0"/>
                <a:ea typeface="Aptos" pitchFamily="34" charset="-122"/>
                <a:cs typeface="Aptos" pitchFamily="34" charset="-120"/>
              </a:rPr>
              <a:t>CIERTA</a:t>
            </a:r>
            <a:endParaRPr lang="en-US" sz="1040" dirty="0"/>
          </a:p>
        </p:txBody>
      </p:sp>
      <p:sp>
        <p:nvSpPr>
          <p:cNvPr id="19" name="Shape 16"/>
          <p:cNvSpPr/>
          <p:nvPr/>
        </p:nvSpPr>
        <p:spPr>
          <a:xfrm>
            <a:off x="5833872" y="3346704"/>
            <a:ext cx="1828800" cy="493776"/>
          </a:xfrm>
          <a:prstGeom prst="rect">
            <a:avLst/>
          </a:prstGeom>
          <a:solidFill>
            <a:srgbClr val="8A6A12"/>
          </a:solidFill>
          <a:ln w="12700">
            <a:solidFill>
              <a:srgbClr val="8A6A12"/>
            </a:solidFill>
            <a:prstDash val="solid"/>
          </a:ln>
        </p:spPr>
      </p:sp>
      <p:sp>
        <p:nvSpPr>
          <p:cNvPr id="20" name="Text 17"/>
          <p:cNvSpPr txBox="1"/>
          <p:nvPr/>
        </p:nvSpPr>
        <p:spPr>
          <a:xfrm>
            <a:off x="5907024" y="3401568"/>
            <a:ext cx="1682496" cy="384048"/>
          </a:xfrm>
          <a:prstGeom prst="rect">
            <a:avLst/>
          </a:prstGeom>
          <a:noFill/>
          <a:ln/>
        </p:spPr>
        <p:txBody>
          <a:bodyPr wrap="square" lIns="0" tIns="0" rIns="0" bIns="0" rtlCol="0" anchor="ctr"/>
          <a:lstStyle/>
          <a:p>
            <a:pPr algn="ctr" indent="0" marL="0">
              <a:buNone/>
            </a:pPr>
            <a:r>
              <a:rPr lang="en-US" sz="1040" b="1" spc="90" kern="0" dirty="0">
                <a:solidFill>
                  <a:srgbClr val="FFFFFF"/>
                </a:solidFill>
                <a:latin typeface="Aptos" pitchFamily="34" charset="0"/>
                <a:ea typeface="Aptos" pitchFamily="34" charset="-122"/>
                <a:cs typeface="Aptos" pitchFamily="34" charset="-120"/>
              </a:rPr>
              <a:t>DUDOSA</a:t>
            </a:r>
            <a:endParaRPr lang="en-US" sz="1040" dirty="0"/>
          </a:p>
        </p:txBody>
      </p:sp>
      <p:sp>
        <p:nvSpPr>
          <p:cNvPr id="21" name="Shape 18"/>
          <p:cNvSpPr/>
          <p:nvPr/>
        </p:nvSpPr>
        <p:spPr>
          <a:xfrm>
            <a:off x="7735824" y="3346704"/>
            <a:ext cx="1828800" cy="493776"/>
          </a:xfrm>
          <a:prstGeom prst="rect">
            <a:avLst/>
          </a:prstGeom>
          <a:solidFill>
            <a:srgbClr val="B3181E"/>
          </a:solidFill>
          <a:ln w="12700">
            <a:solidFill>
              <a:srgbClr val="B3181E"/>
            </a:solidFill>
            <a:prstDash val="solid"/>
          </a:ln>
        </p:spPr>
      </p:sp>
      <p:sp>
        <p:nvSpPr>
          <p:cNvPr id="22" name="Text 19"/>
          <p:cNvSpPr txBox="1"/>
          <p:nvPr/>
        </p:nvSpPr>
        <p:spPr>
          <a:xfrm>
            <a:off x="7808976" y="3401568"/>
            <a:ext cx="1682496" cy="384048"/>
          </a:xfrm>
          <a:prstGeom prst="rect">
            <a:avLst/>
          </a:prstGeom>
          <a:noFill/>
          <a:ln/>
        </p:spPr>
        <p:txBody>
          <a:bodyPr wrap="square" lIns="0" tIns="0" rIns="0" bIns="0" rtlCol="0" anchor="ctr"/>
          <a:lstStyle/>
          <a:p>
            <a:pPr algn="ctr" indent="0" marL="0">
              <a:buNone/>
            </a:pPr>
            <a:r>
              <a:rPr lang="en-US" sz="1040" b="1" spc="90" kern="0" dirty="0">
                <a:solidFill>
                  <a:srgbClr val="FFFFFF"/>
                </a:solidFill>
                <a:latin typeface="Aptos" pitchFamily="34" charset="0"/>
                <a:ea typeface="Aptos" pitchFamily="34" charset="-122"/>
                <a:cs typeface="Aptos" pitchFamily="34" charset="-120"/>
              </a:rPr>
              <a:t>FALSA</a:t>
            </a:r>
            <a:endParaRPr lang="en-US" sz="1040" dirty="0"/>
          </a:p>
        </p:txBody>
      </p:sp>
      <p:sp>
        <p:nvSpPr>
          <p:cNvPr id="23" name="Shape 20"/>
          <p:cNvSpPr/>
          <p:nvPr/>
        </p:nvSpPr>
        <p:spPr>
          <a:xfrm>
            <a:off x="9637776" y="3346704"/>
            <a:ext cx="1828800" cy="493776"/>
          </a:xfrm>
          <a:prstGeom prst="rect">
            <a:avLst/>
          </a:prstGeom>
          <a:solidFill>
            <a:srgbClr val="B3181E"/>
          </a:solidFill>
          <a:ln w="12700">
            <a:solidFill>
              <a:srgbClr val="B3181E"/>
            </a:solidFill>
            <a:prstDash val="solid"/>
          </a:ln>
        </p:spPr>
      </p:sp>
      <p:sp>
        <p:nvSpPr>
          <p:cNvPr id="24" name="Text 21"/>
          <p:cNvSpPr txBox="1"/>
          <p:nvPr/>
        </p:nvSpPr>
        <p:spPr>
          <a:xfrm>
            <a:off x="9710928" y="3401568"/>
            <a:ext cx="1682496" cy="384048"/>
          </a:xfrm>
          <a:prstGeom prst="rect">
            <a:avLst/>
          </a:prstGeom>
          <a:noFill/>
          <a:ln/>
        </p:spPr>
        <p:txBody>
          <a:bodyPr wrap="square" lIns="0" tIns="0" rIns="0" bIns="0" rtlCol="0" anchor="ctr"/>
          <a:lstStyle/>
          <a:p>
            <a:pPr algn="ctr" indent="0" marL="0">
              <a:buNone/>
            </a:pPr>
            <a:r>
              <a:rPr lang="en-US" sz="1040" b="1" spc="90" kern="0" dirty="0">
                <a:solidFill>
                  <a:srgbClr val="FFFFFF"/>
                </a:solidFill>
                <a:latin typeface="Aptos" pitchFamily="34" charset="0"/>
                <a:ea typeface="Aptos" pitchFamily="34" charset="-122"/>
                <a:cs typeface="Aptos" pitchFamily="34" charset="-120"/>
              </a:rPr>
              <a:t>FALSA</a:t>
            </a:r>
            <a:endParaRPr lang="en-US" sz="1040" dirty="0"/>
          </a:p>
        </p:txBody>
      </p:sp>
      <p:sp>
        <p:nvSpPr>
          <p:cNvPr id="25" name="Text 22"/>
          <p:cNvSpPr txBox="1"/>
          <p:nvPr/>
        </p:nvSpPr>
        <p:spPr>
          <a:xfrm>
            <a:off x="658368" y="4206240"/>
            <a:ext cx="3108960" cy="274320"/>
          </a:xfrm>
          <a:prstGeom prst="rect">
            <a:avLst/>
          </a:prstGeom>
          <a:noFill/>
          <a:ln/>
        </p:spPr>
        <p:txBody>
          <a:bodyPr wrap="square" lIns="0" tIns="0" rIns="0" bIns="0" rtlCol="0" anchor="t"/>
          <a:lstStyle/>
          <a:p>
            <a:pPr algn="l" indent="0" marL="0">
              <a:buNone/>
            </a:pPr>
            <a:r>
              <a:rPr lang="en-US" sz="1300" b="1" dirty="0">
                <a:solidFill>
                  <a:srgbClr val="2E7D4F"/>
                </a:solidFill>
                <a:latin typeface="Aptos" pitchFamily="34" charset="0"/>
                <a:ea typeface="Aptos" pitchFamily="34" charset="-122"/>
                <a:cs typeface="Aptos" pitchFamily="34" charset="-120"/>
              </a:rPr>
              <a:t>Generada desde la suite</a:t>
            </a:r>
            <a:endParaRPr lang="en-US" sz="1300" dirty="0"/>
          </a:p>
        </p:txBody>
      </p:sp>
      <p:sp>
        <p:nvSpPr>
          <p:cNvPr id="26" name="Shape 23"/>
          <p:cNvSpPr/>
          <p:nvPr/>
        </p:nvSpPr>
        <p:spPr>
          <a:xfrm>
            <a:off x="3931920" y="4096512"/>
            <a:ext cx="1828800" cy="493776"/>
          </a:xfrm>
          <a:prstGeom prst="rect">
            <a:avLst/>
          </a:prstGeom>
          <a:solidFill>
            <a:srgbClr val="2E7D4F"/>
          </a:solidFill>
          <a:ln w="12700">
            <a:solidFill>
              <a:srgbClr val="2E7D4F"/>
            </a:solidFill>
            <a:prstDash val="solid"/>
          </a:ln>
        </p:spPr>
      </p:sp>
      <p:sp>
        <p:nvSpPr>
          <p:cNvPr id="27" name="Text 24"/>
          <p:cNvSpPr txBox="1"/>
          <p:nvPr/>
        </p:nvSpPr>
        <p:spPr>
          <a:xfrm>
            <a:off x="4005072" y="4151376"/>
            <a:ext cx="1682496" cy="384048"/>
          </a:xfrm>
          <a:prstGeom prst="rect">
            <a:avLst/>
          </a:prstGeom>
          <a:noFill/>
          <a:ln/>
        </p:spPr>
        <p:txBody>
          <a:bodyPr wrap="square" lIns="0" tIns="0" rIns="0" bIns="0" rtlCol="0" anchor="ctr"/>
          <a:lstStyle/>
          <a:p>
            <a:pPr algn="ctr" indent="0" marL="0">
              <a:buNone/>
            </a:pPr>
            <a:r>
              <a:rPr lang="en-US" sz="1040" b="1" spc="90" kern="0" dirty="0">
                <a:solidFill>
                  <a:srgbClr val="FFFFFF"/>
                </a:solidFill>
                <a:latin typeface="Aptos" pitchFamily="34" charset="0"/>
                <a:ea typeface="Aptos" pitchFamily="34" charset="-122"/>
                <a:cs typeface="Aptos" pitchFamily="34" charset="-120"/>
              </a:rPr>
              <a:t>CIERTA</a:t>
            </a:r>
            <a:endParaRPr lang="en-US" sz="1040" dirty="0"/>
          </a:p>
        </p:txBody>
      </p:sp>
      <p:sp>
        <p:nvSpPr>
          <p:cNvPr id="28" name="Shape 25"/>
          <p:cNvSpPr/>
          <p:nvPr/>
        </p:nvSpPr>
        <p:spPr>
          <a:xfrm>
            <a:off x="5833872" y="4096512"/>
            <a:ext cx="1828800" cy="493776"/>
          </a:xfrm>
          <a:prstGeom prst="rect">
            <a:avLst/>
          </a:prstGeom>
          <a:solidFill>
            <a:srgbClr val="2E7D4F"/>
          </a:solidFill>
          <a:ln w="12700">
            <a:solidFill>
              <a:srgbClr val="2E7D4F"/>
            </a:solidFill>
            <a:prstDash val="solid"/>
          </a:ln>
        </p:spPr>
      </p:sp>
      <p:sp>
        <p:nvSpPr>
          <p:cNvPr id="29" name="Text 26"/>
          <p:cNvSpPr txBox="1"/>
          <p:nvPr/>
        </p:nvSpPr>
        <p:spPr>
          <a:xfrm>
            <a:off x="5907024" y="4151376"/>
            <a:ext cx="1682496" cy="384048"/>
          </a:xfrm>
          <a:prstGeom prst="rect">
            <a:avLst/>
          </a:prstGeom>
          <a:noFill/>
          <a:ln/>
        </p:spPr>
        <p:txBody>
          <a:bodyPr wrap="square" lIns="0" tIns="0" rIns="0" bIns="0" rtlCol="0" anchor="ctr"/>
          <a:lstStyle/>
          <a:p>
            <a:pPr algn="ctr" indent="0" marL="0">
              <a:buNone/>
            </a:pPr>
            <a:r>
              <a:rPr lang="en-US" sz="1040" b="1" spc="90" kern="0" dirty="0">
                <a:solidFill>
                  <a:srgbClr val="FFFFFF"/>
                </a:solidFill>
                <a:latin typeface="Aptos" pitchFamily="34" charset="0"/>
                <a:ea typeface="Aptos" pitchFamily="34" charset="-122"/>
                <a:cs typeface="Aptos" pitchFamily="34" charset="-120"/>
              </a:rPr>
              <a:t>CIERTA</a:t>
            </a:r>
            <a:endParaRPr lang="en-US" sz="1040" dirty="0"/>
          </a:p>
        </p:txBody>
      </p:sp>
      <p:sp>
        <p:nvSpPr>
          <p:cNvPr id="30" name="Shape 27"/>
          <p:cNvSpPr/>
          <p:nvPr/>
        </p:nvSpPr>
        <p:spPr>
          <a:xfrm>
            <a:off x="7735824" y="4096512"/>
            <a:ext cx="1828800" cy="493776"/>
          </a:xfrm>
          <a:prstGeom prst="rect">
            <a:avLst/>
          </a:prstGeom>
          <a:solidFill>
            <a:srgbClr val="2E7D4F"/>
          </a:solidFill>
          <a:ln w="12700">
            <a:solidFill>
              <a:srgbClr val="2E7D4F"/>
            </a:solidFill>
            <a:prstDash val="solid"/>
          </a:ln>
        </p:spPr>
      </p:sp>
      <p:sp>
        <p:nvSpPr>
          <p:cNvPr id="31" name="Text 28"/>
          <p:cNvSpPr txBox="1"/>
          <p:nvPr/>
        </p:nvSpPr>
        <p:spPr>
          <a:xfrm>
            <a:off x="7808976" y="4151376"/>
            <a:ext cx="1682496" cy="384048"/>
          </a:xfrm>
          <a:prstGeom prst="rect">
            <a:avLst/>
          </a:prstGeom>
          <a:noFill/>
          <a:ln/>
        </p:spPr>
        <p:txBody>
          <a:bodyPr wrap="square" lIns="0" tIns="0" rIns="0" bIns="0" rtlCol="0" anchor="ctr"/>
          <a:lstStyle/>
          <a:p>
            <a:pPr algn="ctr" indent="0" marL="0">
              <a:buNone/>
            </a:pPr>
            <a:r>
              <a:rPr lang="en-US" sz="1040" b="1" spc="90" kern="0" dirty="0">
                <a:solidFill>
                  <a:srgbClr val="FFFFFF"/>
                </a:solidFill>
                <a:latin typeface="Aptos" pitchFamily="34" charset="0"/>
                <a:ea typeface="Aptos" pitchFamily="34" charset="-122"/>
                <a:cs typeface="Aptos" pitchFamily="34" charset="-120"/>
              </a:rPr>
              <a:t>CIERTA</a:t>
            </a:r>
            <a:endParaRPr lang="en-US" sz="1040" dirty="0"/>
          </a:p>
        </p:txBody>
      </p:sp>
      <p:sp>
        <p:nvSpPr>
          <p:cNvPr id="32" name="Shape 29"/>
          <p:cNvSpPr/>
          <p:nvPr/>
        </p:nvSpPr>
        <p:spPr>
          <a:xfrm>
            <a:off x="9637776" y="4096512"/>
            <a:ext cx="1828800" cy="493776"/>
          </a:xfrm>
          <a:prstGeom prst="rect">
            <a:avLst/>
          </a:prstGeom>
          <a:solidFill>
            <a:srgbClr val="2E7D4F"/>
          </a:solidFill>
          <a:ln w="12700">
            <a:solidFill>
              <a:srgbClr val="2E7D4F"/>
            </a:solidFill>
            <a:prstDash val="solid"/>
          </a:ln>
        </p:spPr>
      </p:sp>
      <p:sp>
        <p:nvSpPr>
          <p:cNvPr id="33" name="Text 30"/>
          <p:cNvSpPr txBox="1"/>
          <p:nvPr/>
        </p:nvSpPr>
        <p:spPr>
          <a:xfrm>
            <a:off x="9710928" y="4151376"/>
            <a:ext cx="1682496" cy="384048"/>
          </a:xfrm>
          <a:prstGeom prst="rect">
            <a:avLst/>
          </a:prstGeom>
          <a:noFill/>
          <a:ln/>
        </p:spPr>
        <p:txBody>
          <a:bodyPr wrap="square" lIns="0" tIns="0" rIns="0" bIns="0" rtlCol="0" anchor="ctr"/>
          <a:lstStyle/>
          <a:p>
            <a:pPr algn="ctr" indent="0" marL="0">
              <a:buNone/>
            </a:pPr>
            <a:r>
              <a:rPr lang="en-US" sz="1040" b="1" spc="90" kern="0" dirty="0">
                <a:solidFill>
                  <a:srgbClr val="FFFFFF"/>
                </a:solidFill>
                <a:latin typeface="Aptos" pitchFamily="34" charset="0"/>
                <a:ea typeface="Aptos" pitchFamily="34" charset="-122"/>
                <a:cs typeface="Aptos" pitchFamily="34" charset="-120"/>
              </a:rPr>
              <a:t>CIERTA</a:t>
            </a:r>
            <a:endParaRPr lang="en-US" sz="1040" dirty="0"/>
          </a:p>
        </p:txBody>
      </p:sp>
      <p:sp>
        <p:nvSpPr>
          <p:cNvPr id="34" name="Text 31"/>
          <p:cNvSpPr txBox="1"/>
          <p:nvPr/>
        </p:nvSpPr>
        <p:spPr>
          <a:xfrm>
            <a:off x="3931920" y="4882896"/>
            <a:ext cx="1828800" cy="219456"/>
          </a:xfrm>
          <a:prstGeom prst="rect">
            <a:avLst/>
          </a:prstGeom>
          <a:noFill/>
          <a:ln/>
        </p:spPr>
        <p:txBody>
          <a:bodyPr wrap="square" lIns="0" tIns="0" rIns="0" bIns="0" rtlCol="0" anchor="t"/>
          <a:lstStyle/>
          <a:p>
            <a:pPr algn="ctr" indent="0" marL="0">
              <a:buNone/>
            </a:pPr>
            <a:r>
              <a:rPr lang="en-US" sz="1000" dirty="0">
                <a:solidFill>
                  <a:srgbClr val="52606D"/>
                </a:solidFill>
                <a:latin typeface="Aptos" pitchFamily="34" charset="0"/>
                <a:ea typeface="Aptos" pitchFamily="34" charset="-122"/>
                <a:cs typeface="Aptos" pitchFamily="34" charset="-120"/>
              </a:rPr>
              <a:t>día 1</a:t>
            </a:r>
            <a:endParaRPr lang="en-US" sz="1000" dirty="0"/>
          </a:p>
        </p:txBody>
      </p:sp>
      <p:sp>
        <p:nvSpPr>
          <p:cNvPr id="35" name="Text 32"/>
          <p:cNvSpPr txBox="1"/>
          <p:nvPr/>
        </p:nvSpPr>
        <p:spPr>
          <a:xfrm>
            <a:off x="5833872" y="4882896"/>
            <a:ext cx="1828800" cy="219456"/>
          </a:xfrm>
          <a:prstGeom prst="rect">
            <a:avLst/>
          </a:prstGeom>
          <a:noFill/>
          <a:ln/>
        </p:spPr>
        <p:txBody>
          <a:bodyPr wrap="square" lIns="0" tIns="0" rIns="0" bIns="0" rtlCol="0" anchor="t"/>
          <a:lstStyle/>
          <a:p>
            <a:pPr algn="ctr" indent="0" marL="0">
              <a:buNone/>
            </a:pPr>
            <a:r>
              <a:rPr lang="en-US" sz="1000" dirty="0">
                <a:solidFill>
                  <a:srgbClr val="52606D"/>
                </a:solidFill>
                <a:latin typeface="Aptos" pitchFamily="34" charset="0"/>
                <a:ea typeface="Aptos" pitchFamily="34" charset="-122"/>
                <a:cs typeface="Aptos" pitchFamily="34" charset="-120"/>
              </a:rPr>
              <a:t>día 10</a:t>
            </a:r>
            <a:endParaRPr lang="en-US" sz="1000" dirty="0"/>
          </a:p>
        </p:txBody>
      </p:sp>
      <p:sp>
        <p:nvSpPr>
          <p:cNvPr id="36" name="Text 33"/>
          <p:cNvSpPr txBox="1"/>
          <p:nvPr/>
        </p:nvSpPr>
        <p:spPr>
          <a:xfrm>
            <a:off x="7735824" y="4882896"/>
            <a:ext cx="1828800" cy="219456"/>
          </a:xfrm>
          <a:prstGeom prst="rect">
            <a:avLst/>
          </a:prstGeom>
          <a:noFill/>
          <a:ln/>
        </p:spPr>
        <p:txBody>
          <a:bodyPr wrap="square" lIns="0" tIns="0" rIns="0" bIns="0" rtlCol="0" anchor="t"/>
          <a:lstStyle/>
          <a:p>
            <a:pPr algn="ctr" indent="0" marL="0">
              <a:buNone/>
            </a:pPr>
            <a:r>
              <a:rPr lang="en-US" sz="1000" dirty="0">
                <a:solidFill>
                  <a:srgbClr val="52606D"/>
                </a:solidFill>
                <a:latin typeface="Aptos" pitchFamily="34" charset="0"/>
                <a:ea typeface="Aptos" pitchFamily="34" charset="-122"/>
                <a:cs typeface="Aptos" pitchFamily="34" charset="-120"/>
              </a:rPr>
              <a:t>día 20</a:t>
            </a:r>
            <a:endParaRPr lang="en-US" sz="1000" dirty="0"/>
          </a:p>
        </p:txBody>
      </p:sp>
      <p:sp>
        <p:nvSpPr>
          <p:cNvPr id="37" name="Text 34"/>
          <p:cNvSpPr txBox="1"/>
          <p:nvPr/>
        </p:nvSpPr>
        <p:spPr>
          <a:xfrm>
            <a:off x="9637776" y="4882896"/>
            <a:ext cx="1828800" cy="219456"/>
          </a:xfrm>
          <a:prstGeom prst="rect">
            <a:avLst/>
          </a:prstGeom>
          <a:noFill/>
          <a:ln/>
        </p:spPr>
        <p:txBody>
          <a:bodyPr wrap="square" lIns="0" tIns="0" rIns="0" bIns="0" rtlCol="0" anchor="t"/>
          <a:lstStyle/>
          <a:p>
            <a:pPr algn="ctr" indent="0" marL="0">
              <a:buNone/>
            </a:pPr>
            <a:r>
              <a:rPr lang="en-US" sz="1000" dirty="0">
                <a:solidFill>
                  <a:srgbClr val="52606D"/>
                </a:solidFill>
                <a:latin typeface="Aptos" pitchFamily="34" charset="0"/>
                <a:ea typeface="Aptos" pitchFamily="34" charset="-122"/>
                <a:cs typeface="Aptos" pitchFamily="34" charset="-120"/>
              </a:rPr>
              <a:t>día 30</a:t>
            </a:r>
            <a:endParaRPr lang="en-US" sz="1000" dirty="0"/>
          </a:p>
        </p:txBody>
      </p:sp>
      <p:sp>
        <p:nvSpPr>
          <p:cNvPr id="38" name="Text 35"/>
          <p:cNvSpPr txBox="1"/>
          <p:nvPr/>
        </p:nvSpPr>
        <p:spPr>
          <a:xfrm>
            <a:off x="658368" y="5248656"/>
            <a:ext cx="10874959" cy="274320"/>
          </a:xfrm>
          <a:prstGeom prst="rect">
            <a:avLst/>
          </a:prstGeom>
          <a:noFill/>
          <a:ln/>
        </p:spPr>
        <p:txBody>
          <a:bodyPr wrap="square" lIns="0" tIns="0" rIns="0" bIns="0" rtlCol="0" anchor="t"/>
          <a:lstStyle/>
          <a:p>
            <a:pPr algn="l" indent="0" marL="0">
              <a:buNone/>
            </a:pPr>
            <a:r>
              <a:rPr lang="en-US" sz="1280" b="1" dirty="0">
                <a:solidFill>
                  <a:srgbClr val="243B53"/>
                </a:solidFill>
                <a:latin typeface="Aptos" pitchFamily="34" charset="0"/>
                <a:ea typeface="Aptos" pitchFamily="34" charset="-122"/>
                <a:cs typeface="Aptos" pitchFamily="34" charset="-120"/>
              </a:rPr>
              <a:t>La escrita a mano no avisa cuando deja de ser cierta. La generada no necesita avisar: se vuelve a producir.</a:t>
            </a:r>
            <a:endParaRPr lang="en-US" sz="1280" dirty="0"/>
          </a:p>
        </p:txBody>
      </p:sp>
      <p:sp>
        <p:nvSpPr>
          <p:cNvPr id="39" name="Shape 36"/>
          <p:cNvSpPr/>
          <p:nvPr/>
        </p:nvSpPr>
        <p:spPr>
          <a:xfrm>
            <a:off x="658368" y="5650992"/>
            <a:ext cx="10874959" cy="548640"/>
          </a:xfrm>
          <a:prstGeom prst="rect">
            <a:avLst/>
          </a:prstGeom>
          <a:solidFill>
            <a:srgbClr val="102A43"/>
          </a:solidFill>
          <a:ln w="12700">
            <a:solidFill>
              <a:srgbClr val="102A43"/>
            </a:solidFill>
            <a:prstDash val="solid"/>
          </a:ln>
        </p:spPr>
      </p:sp>
      <p:sp>
        <p:nvSpPr>
          <p:cNvPr id="40" name="Text 37"/>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El documento envejece en silencio; el artefacto se vuelve a producir.</a:t>
            </a:r>
            <a:endParaRPr lang="en-US" sz="138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30</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3 · DÓNDE GUARDAR LA RELACIÓN</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El identificador tiene que viajar con la prueba</a:t>
            </a:r>
            <a:endParaRPr lang="en-US" sz="3000" dirty="0"/>
          </a:p>
        </p:txBody>
      </p:sp>
      <p:sp>
        <p:nvSpPr>
          <p:cNvPr id="10" name="Text 7"/>
          <p:cNvSpPr txBox="1"/>
          <p:nvPr/>
        </p:nvSpPr>
        <p:spPr>
          <a:xfrm>
            <a:off x="658368" y="1664208"/>
            <a:ext cx="10424160" cy="347472"/>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El proyecto necesita primero lo que no tenía: requisitos con identificadores estables. Era el riesgo de proyecto RPy2 del bloque 1.</a:t>
            </a:r>
            <a:endParaRPr lang="en-US" sz="1420" dirty="0"/>
          </a:p>
        </p:txBody>
      </p:sp>
      <p:sp>
        <p:nvSpPr>
          <p:cNvPr id="11" name="Shape 8"/>
          <p:cNvSpPr/>
          <p:nvPr/>
        </p:nvSpPr>
        <p:spPr>
          <a:xfrm>
            <a:off x="658368" y="2249424"/>
            <a:ext cx="6492240" cy="2834640"/>
          </a:xfrm>
          <a:prstGeom prst="rect">
            <a:avLst/>
          </a:prstGeom>
          <a:solidFill>
            <a:srgbClr val="FFFFFF"/>
          </a:solidFill>
          <a:ln w="12700">
            <a:solidFill>
              <a:srgbClr val="FFFFFF"/>
            </a:solidFill>
            <a:prstDash val="solid"/>
          </a:ln>
        </p:spPr>
      </p:sp>
      <p:sp>
        <p:nvSpPr>
          <p:cNvPr id="12" name="Shape 9"/>
          <p:cNvSpPr/>
          <p:nvPr/>
        </p:nvSpPr>
        <p:spPr>
          <a:xfrm>
            <a:off x="658368" y="2249424"/>
            <a:ext cx="6492240" cy="54864"/>
          </a:xfrm>
          <a:prstGeom prst="rect">
            <a:avLst/>
          </a:prstGeom>
          <a:solidFill>
            <a:srgbClr val="102A43"/>
          </a:solidFill>
          <a:ln w="12700">
            <a:solidFill>
              <a:srgbClr val="102A43"/>
            </a:solidFill>
            <a:prstDash val="solid"/>
          </a:ln>
        </p:spPr>
      </p:sp>
      <p:sp>
        <p:nvSpPr>
          <p:cNvPr id="13" name="Text 10"/>
          <p:cNvSpPr txBox="1"/>
          <p:nvPr/>
        </p:nvSpPr>
        <p:spPr>
          <a:xfrm>
            <a:off x="914400" y="2432304"/>
            <a:ext cx="4572000" cy="201168"/>
          </a:xfrm>
          <a:prstGeom prst="rect">
            <a:avLst/>
          </a:prstGeom>
          <a:noFill/>
          <a:ln/>
        </p:spPr>
        <p:txBody>
          <a:bodyPr wrap="square" lIns="0" tIns="0" rIns="0" bIns="0" rtlCol="0" anchor="t"/>
          <a:lstStyle/>
          <a:p>
            <a:pPr algn="l" indent="0" marL="0">
              <a:buNone/>
            </a:pPr>
            <a:r>
              <a:rPr lang="en-US" sz="940" b="1" spc="100" kern="0" dirty="0">
                <a:solidFill>
                  <a:srgbClr val="102A43"/>
                </a:solidFill>
                <a:latin typeface="Aptos" pitchFamily="34" charset="0"/>
                <a:ea typeface="Aptos" pitchFamily="34" charset="-122"/>
                <a:cs typeface="Aptos" pitchFamily="34" charset="-120"/>
              </a:rPr>
              <a:t>REQUISITOS DEL PROYECTO</a:t>
            </a:r>
            <a:endParaRPr lang="en-US" sz="940" dirty="0"/>
          </a:p>
        </p:txBody>
      </p:sp>
      <p:sp>
        <p:nvSpPr>
          <p:cNvPr id="14" name="Text 11"/>
          <p:cNvSpPr txBox="1"/>
          <p:nvPr/>
        </p:nvSpPr>
        <p:spPr>
          <a:xfrm>
            <a:off x="914400" y="2743200"/>
            <a:ext cx="822960" cy="237744"/>
          </a:xfrm>
          <a:prstGeom prst="rect">
            <a:avLst/>
          </a:prstGeom>
          <a:noFill/>
          <a:ln/>
        </p:spPr>
        <p:txBody>
          <a:bodyPr wrap="square" lIns="0" tIns="0" rIns="0" bIns="0" rtlCol="0" anchor="t"/>
          <a:lstStyle/>
          <a:p>
            <a:pPr algn="l" indent="0" marL="0">
              <a:buNone/>
            </a:pPr>
            <a:r>
              <a:rPr lang="en-US" sz="1100" b="1" dirty="0">
                <a:solidFill>
                  <a:srgbClr val="B3181E"/>
                </a:solidFill>
                <a:latin typeface="Consolas" pitchFamily="34" charset="0"/>
                <a:ea typeface="Consolas" pitchFamily="34" charset="-122"/>
                <a:cs typeface="Consolas" pitchFamily="34" charset="-120"/>
              </a:rPr>
              <a:t>RF-01</a:t>
            </a:r>
            <a:endParaRPr lang="en-US" sz="1100" dirty="0"/>
          </a:p>
        </p:txBody>
      </p:sp>
      <p:sp>
        <p:nvSpPr>
          <p:cNvPr id="15" name="Text 12"/>
          <p:cNvSpPr txBox="1"/>
          <p:nvPr/>
        </p:nvSpPr>
        <p:spPr>
          <a:xfrm>
            <a:off x="1847088" y="2743200"/>
            <a:ext cx="4937760" cy="237744"/>
          </a:xfrm>
          <a:prstGeom prst="rect">
            <a:avLst/>
          </a:prstGeom>
          <a:noFill/>
          <a:ln/>
        </p:spPr>
        <p:txBody>
          <a:bodyPr wrap="square" lIns="0" tIns="0" rIns="0" bIns="0" rtlCol="0" anchor="t"/>
          <a:lstStyle/>
          <a:p>
            <a:pPr algn="l" indent="0" marL="0">
              <a:buNone/>
            </a:pPr>
            <a:r>
              <a:rPr lang="en-US" sz="1140" dirty="0">
                <a:solidFill>
                  <a:srgbClr val="243B53"/>
                </a:solidFill>
                <a:latin typeface="Aptos" pitchFamily="34" charset="0"/>
                <a:ea typeface="Aptos" pitchFamily="34" charset="-122"/>
                <a:cs typeface="Aptos" pitchFamily="34" charset="-120"/>
              </a:rPr>
              <a:t>La jornada tiene ocho bloques, del 1 al 8.</a:t>
            </a:r>
            <a:endParaRPr lang="en-US" sz="1140" dirty="0"/>
          </a:p>
        </p:txBody>
      </p:sp>
      <p:sp>
        <p:nvSpPr>
          <p:cNvPr id="16" name="Text 13"/>
          <p:cNvSpPr txBox="1"/>
          <p:nvPr/>
        </p:nvSpPr>
        <p:spPr>
          <a:xfrm>
            <a:off x="914400" y="3108960"/>
            <a:ext cx="822960" cy="237744"/>
          </a:xfrm>
          <a:prstGeom prst="rect">
            <a:avLst/>
          </a:prstGeom>
          <a:noFill/>
          <a:ln/>
        </p:spPr>
        <p:txBody>
          <a:bodyPr wrap="square" lIns="0" tIns="0" rIns="0" bIns="0" rtlCol="0" anchor="t"/>
          <a:lstStyle/>
          <a:p>
            <a:pPr algn="l" indent="0" marL="0">
              <a:buNone/>
            </a:pPr>
            <a:r>
              <a:rPr lang="en-US" sz="1100" b="1" dirty="0">
                <a:solidFill>
                  <a:srgbClr val="B3181E"/>
                </a:solidFill>
                <a:latin typeface="Consolas" pitchFamily="34" charset="0"/>
                <a:ea typeface="Consolas" pitchFamily="34" charset="-122"/>
                <a:cs typeface="Consolas" pitchFamily="34" charset="-120"/>
              </a:rPr>
              <a:t>RF-02</a:t>
            </a:r>
            <a:endParaRPr lang="en-US" sz="1100" dirty="0"/>
          </a:p>
        </p:txBody>
      </p:sp>
      <p:sp>
        <p:nvSpPr>
          <p:cNvPr id="17" name="Text 14"/>
          <p:cNvSpPr txBox="1"/>
          <p:nvPr/>
        </p:nvSpPr>
        <p:spPr>
          <a:xfrm>
            <a:off x="1847088" y="3108960"/>
            <a:ext cx="4937760" cy="237744"/>
          </a:xfrm>
          <a:prstGeom prst="rect">
            <a:avLst/>
          </a:prstGeom>
          <a:noFill/>
          <a:ln/>
        </p:spPr>
        <p:txBody>
          <a:bodyPr wrap="square" lIns="0" tIns="0" rIns="0" bIns="0" rtlCol="0" anchor="t"/>
          <a:lstStyle/>
          <a:p>
            <a:pPr algn="l" indent="0" marL="0">
              <a:buNone/>
            </a:pPr>
            <a:r>
              <a:rPr lang="en-US" sz="1140" dirty="0">
                <a:solidFill>
                  <a:srgbClr val="243B53"/>
                </a:solidFill>
                <a:latin typeface="Aptos" pitchFamily="34" charset="0"/>
                <a:ea typeface="Aptos" pitchFamily="34" charset="-122"/>
                <a:cs typeface="Aptos" pitchFamily="34" charset="-120"/>
              </a:rPr>
              <a:t>Un bloque ya reservado no se vuelve a reservar.</a:t>
            </a:r>
            <a:endParaRPr lang="en-US" sz="1140" dirty="0"/>
          </a:p>
        </p:txBody>
      </p:sp>
      <p:sp>
        <p:nvSpPr>
          <p:cNvPr id="18" name="Text 15"/>
          <p:cNvSpPr txBox="1"/>
          <p:nvPr/>
        </p:nvSpPr>
        <p:spPr>
          <a:xfrm>
            <a:off x="914400" y="3474720"/>
            <a:ext cx="822960" cy="237744"/>
          </a:xfrm>
          <a:prstGeom prst="rect">
            <a:avLst/>
          </a:prstGeom>
          <a:noFill/>
          <a:ln/>
        </p:spPr>
        <p:txBody>
          <a:bodyPr wrap="square" lIns="0" tIns="0" rIns="0" bIns="0" rtlCol="0" anchor="t"/>
          <a:lstStyle/>
          <a:p>
            <a:pPr algn="l" indent="0" marL="0">
              <a:buNone/>
            </a:pPr>
            <a:r>
              <a:rPr lang="en-US" sz="1100" b="1" dirty="0">
                <a:solidFill>
                  <a:srgbClr val="B3181E"/>
                </a:solidFill>
                <a:latin typeface="Consolas" pitchFamily="34" charset="0"/>
                <a:ea typeface="Consolas" pitchFamily="34" charset="-122"/>
                <a:cs typeface="Consolas" pitchFamily="34" charset="-120"/>
              </a:rPr>
              <a:t>RF-03</a:t>
            </a:r>
            <a:endParaRPr lang="en-US" sz="1100" dirty="0"/>
          </a:p>
        </p:txBody>
      </p:sp>
      <p:sp>
        <p:nvSpPr>
          <p:cNvPr id="19" name="Text 16"/>
          <p:cNvSpPr txBox="1"/>
          <p:nvPr/>
        </p:nvSpPr>
        <p:spPr>
          <a:xfrm>
            <a:off x="1847088" y="3474720"/>
            <a:ext cx="4937760" cy="237744"/>
          </a:xfrm>
          <a:prstGeom prst="rect">
            <a:avLst/>
          </a:prstGeom>
          <a:noFill/>
          <a:ln/>
        </p:spPr>
        <p:txBody>
          <a:bodyPr wrap="square" lIns="0" tIns="0" rIns="0" bIns="0" rtlCol="0" anchor="t"/>
          <a:lstStyle/>
          <a:p>
            <a:pPr algn="l" indent="0" marL="0">
              <a:buNone/>
            </a:pPr>
            <a:r>
              <a:rPr lang="en-US" sz="1140" dirty="0">
                <a:solidFill>
                  <a:srgbClr val="243B53"/>
                </a:solidFill>
                <a:latin typeface="Aptos" pitchFamily="34" charset="0"/>
                <a:ea typeface="Aptos" pitchFamily="34" charset="-122"/>
                <a:cs typeface="Aptos" pitchFamily="34" charset="-120"/>
              </a:rPr>
              <a:t>Máximo 3 reservas activas por semana.</a:t>
            </a:r>
            <a:endParaRPr lang="en-US" sz="1140" dirty="0"/>
          </a:p>
        </p:txBody>
      </p:sp>
      <p:sp>
        <p:nvSpPr>
          <p:cNvPr id="20" name="Text 17"/>
          <p:cNvSpPr txBox="1"/>
          <p:nvPr/>
        </p:nvSpPr>
        <p:spPr>
          <a:xfrm>
            <a:off x="914400" y="3840480"/>
            <a:ext cx="822960" cy="237744"/>
          </a:xfrm>
          <a:prstGeom prst="rect">
            <a:avLst/>
          </a:prstGeom>
          <a:noFill/>
          <a:ln/>
        </p:spPr>
        <p:txBody>
          <a:bodyPr wrap="square" lIns="0" tIns="0" rIns="0" bIns="0" rtlCol="0" anchor="t"/>
          <a:lstStyle/>
          <a:p>
            <a:pPr algn="l" indent="0" marL="0">
              <a:buNone/>
            </a:pPr>
            <a:r>
              <a:rPr lang="en-US" sz="1100" b="1" dirty="0">
                <a:solidFill>
                  <a:srgbClr val="B3181E"/>
                </a:solidFill>
                <a:latin typeface="Consolas" pitchFamily="34" charset="0"/>
                <a:ea typeface="Consolas" pitchFamily="34" charset="-122"/>
                <a:cs typeface="Consolas" pitchFamily="34" charset="-120"/>
              </a:rPr>
              <a:t>RF-04</a:t>
            </a:r>
            <a:endParaRPr lang="en-US" sz="1100" dirty="0"/>
          </a:p>
        </p:txBody>
      </p:sp>
      <p:sp>
        <p:nvSpPr>
          <p:cNvPr id="21" name="Text 18"/>
          <p:cNvSpPr txBox="1"/>
          <p:nvPr/>
        </p:nvSpPr>
        <p:spPr>
          <a:xfrm>
            <a:off x="1847088" y="3840480"/>
            <a:ext cx="4937760" cy="237744"/>
          </a:xfrm>
          <a:prstGeom prst="rect">
            <a:avLst/>
          </a:prstGeom>
          <a:noFill/>
          <a:ln/>
        </p:spPr>
        <p:txBody>
          <a:bodyPr wrap="square" lIns="0" tIns="0" rIns="0" bIns="0" rtlCol="0" anchor="t"/>
          <a:lstStyle/>
          <a:p>
            <a:pPr algn="l" indent="0" marL="0">
              <a:buNone/>
            </a:pPr>
            <a:r>
              <a:rPr lang="en-US" sz="1140" dirty="0">
                <a:solidFill>
                  <a:srgbClr val="243B53"/>
                </a:solidFill>
                <a:latin typeface="Aptos" pitchFamily="34" charset="0"/>
                <a:ea typeface="Aptos" pitchFamily="34" charset="-122"/>
                <a:cs typeface="Aptos" pitchFamily="34" charset="-120"/>
              </a:rPr>
              <a:t>La sala admite entre 1 y 30 personas.</a:t>
            </a:r>
            <a:endParaRPr lang="en-US" sz="1140" dirty="0"/>
          </a:p>
        </p:txBody>
      </p:sp>
      <p:sp>
        <p:nvSpPr>
          <p:cNvPr id="22" name="Text 19"/>
          <p:cNvSpPr txBox="1"/>
          <p:nvPr/>
        </p:nvSpPr>
        <p:spPr>
          <a:xfrm>
            <a:off x="914400" y="4206240"/>
            <a:ext cx="822960" cy="237744"/>
          </a:xfrm>
          <a:prstGeom prst="rect">
            <a:avLst/>
          </a:prstGeom>
          <a:noFill/>
          <a:ln/>
        </p:spPr>
        <p:txBody>
          <a:bodyPr wrap="square" lIns="0" tIns="0" rIns="0" bIns="0" rtlCol="0" anchor="t"/>
          <a:lstStyle/>
          <a:p>
            <a:pPr algn="l" indent="0" marL="0">
              <a:buNone/>
            </a:pPr>
            <a:r>
              <a:rPr lang="en-US" sz="1100" b="1" dirty="0">
                <a:solidFill>
                  <a:srgbClr val="B3181E"/>
                </a:solidFill>
                <a:latin typeface="Consolas" pitchFamily="34" charset="0"/>
                <a:ea typeface="Consolas" pitchFamily="34" charset="-122"/>
                <a:cs typeface="Consolas" pitchFamily="34" charset="-120"/>
              </a:rPr>
              <a:t>RF-05</a:t>
            </a:r>
            <a:endParaRPr lang="en-US" sz="1100" dirty="0"/>
          </a:p>
        </p:txBody>
      </p:sp>
      <p:sp>
        <p:nvSpPr>
          <p:cNvPr id="23" name="Text 20"/>
          <p:cNvSpPr txBox="1"/>
          <p:nvPr/>
        </p:nvSpPr>
        <p:spPr>
          <a:xfrm>
            <a:off x="1847088" y="4206240"/>
            <a:ext cx="4937760" cy="237744"/>
          </a:xfrm>
          <a:prstGeom prst="rect">
            <a:avLst/>
          </a:prstGeom>
          <a:noFill/>
          <a:ln/>
        </p:spPr>
        <p:txBody>
          <a:bodyPr wrap="square" lIns="0" tIns="0" rIns="0" bIns="0" rtlCol="0" anchor="t"/>
          <a:lstStyle/>
          <a:p>
            <a:pPr algn="l" indent="0" marL="0">
              <a:buNone/>
            </a:pPr>
            <a:r>
              <a:rPr lang="en-US" sz="1140" dirty="0">
                <a:solidFill>
                  <a:srgbClr val="243B53"/>
                </a:solidFill>
                <a:latin typeface="Aptos" pitchFamily="34" charset="0"/>
                <a:ea typeface="Aptos" pitchFamily="34" charset="-122"/>
                <a:cs typeface="Aptos" pitchFamily="34" charset="-120"/>
              </a:rPr>
              <a:t>Se cancela hasta 2 horas antes del bloque.</a:t>
            </a:r>
            <a:endParaRPr lang="en-US" sz="1140" dirty="0"/>
          </a:p>
        </p:txBody>
      </p:sp>
      <p:sp>
        <p:nvSpPr>
          <p:cNvPr id="24" name="Text 21"/>
          <p:cNvSpPr txBox="1"/>
          <p:nvPr/>
        </p:nvSpPr>
        <p:spPr>
          <a:xfrm>
            <a:off x="914400" y="4572000"/>
            <a:ext cx="822960" cy="237744"/>
          </a:xfrm>
          <a:prstGeom prst="rect">
            <a:avLst/>
          </a:prstGeom>
          <a:noFill/>
          <a:ln/>
        </p:spPr>
        <p:txBody>
          <a:bodyPr wrap="square" lIns="0" tIns="0" rIns="0" bIns="0" rtlCol="0" anchor="t"/>
          <a:lstStyle/>
          <a:p>
            <a:pPr algn="l" indent="0" marL="0">
              <a:buNone/>
            </a:pPr>
            <a:r>
              <a:rPr lang="en-US" sz="1100" b="1" dirty="0">
                <a:solidFill>
                  <a:srgbClr val="B3181E"/>
                </a:solidFill>
                <a:latin typeface="Consolas" pitchFamily="34" charset="0"/>
                <a:ea typeface="Consolas" pitchFamily="34" charset="-122"/>
                <a:cs typeface="Consolas" pitchFamily="34" charset="-120"/>
              </a:rPr>
              <a:t>RF-06</a:t>
            </a:r>
            <a:endParaRPr lang="en-US" sz="1100" dirty="0"/>
          </a:p>
        </p:txBody>
      </p:sp>
      <p:sp>
        <p:nvSpPr>
          <p:cNvPr id="25" name="Text 22"/>
          <p:cNvSpPr txBox="1"/>
          <p:nvPr/>
        </p:nvSpPr>
        <p:spPr>
          <a:xfrm>
            <a:off x="1847088" y="4572000"/>
            <a:ext cx="4937760" cy="237744"/>
          </a:xfrm>
          <a:prstGeom prst="rect">
            <a:avLst/>
          </a:prstGeom>
          <a:noFill/>
          <a:ln/>
        </p:spPr>
        <p:txBody>
          <a:bodyPr wrap="square" lIns="0" tIns="0" rIns="0" bIns="0" rtlCol="0" anchor="t"/>
          <a:lstStyle/>
          <a:p>
            <a:pPr algn="l" indent="0" marL="0">
              <a:buNone/>
            </a:pPr>
            <a:r>
              <a:rPr lang="en-US" sz="1140" dirty="0">
                <a:solidFill>
                  <a:srgbClr val="243B53"/>
                </a:solidFill>
                <a:latin typeface="Aptos" pitchFamily="34" charset="0"/>
                <a:ea typeface="Aptos" pitchFamily="34" charset="-122"/>
                <a:cs typeface="Aptos" pitchFamily="34" charset="-120"/>
              </a:rPr>
              <a:t>Una reserva aceptada devuelve un comprobante.</a:t>
            </a:r>
            <a:endParaRPr lang="en-US" sz="1140" dirty="0"/>
          </a:p>
        </p:txBody>
      </p:sp>
      <p:sp>
        <p:nvSpPr>
          <p:cNvPr id="26" name="Shape 23"/>
          <p:cNvSpPr/>
          <p:nvPr/>
        </p:nvSpPr>
        <p:spPr>
          <a:xfrm>
            <a:off x="658368" y="5193792"/>
            <a:ext cx="45720" cy="182880"/>
          </a:xfrm>
          <a:prstGeom prst="rect">
            <a:avLst/>
          </a:prstGeom>
          <a:solidFill>
            <a:srgbClr val="8A6A12"/>
          </a:solidFill>
          <a:ln w="12700">
            <a:solidFill>
              <a:srgbClr val="8A6A12"/>
            </a:solidFill>
            <a:prstDash val="solid"/>
          </a:ln>
        </p:spPr>
      </p:sp>
      <p:sp>
        <p:nvSpPr>
          <p:cNvPr id="27" name="Text 24"/>
          <p:cNvSpPr txBox="1"/>
          <p:nvPr/>
        </p:nvSpPr>
        <p:spPr>
          <a:xfrm>
            <a:off x="804672" y="5184648"/>
            <a:ext cx="6035040" cy="201168"/>
          </a:xfrm>
          <a:prstGeom prst="rect">
            <a:avLst/>
          </a:prstGeom>
          <a:noFill/>
          <a:ln/>
        </p:spPr>
        <p:txBody>
          <a:bodyPr wrap="square" lIns="0" tIns="0" rIns="0" bIns="0" rtlCol="0" anchor="t"/>
          <a:lstStyle/>
          <a:p>
            <a:pPr algn="l" indent="0" marL="0">
              <a:buNone/>
            </a:pPr>
            <a:r>
              <a:rPr lang="en-US" sz="880" i="1" dirty="0">
                <a:solidFill>
                  <a:srgbClr val="52606D"/>
                </a:solidFill>
                <a:latin typeface="Aptos" pitchFamily="34" charset="0"/>
                <a:ea typeface="Aptos" pitchFamily="34" charset="-122"/>
                <a:cs typeface="Aptos" pitchFamily="34" charset="-120"/>
              </a:rPr>
              <a:t>El identificador no significa nada por sí mismo. Lo único que importa es que no cambie.</a:t>
            </a:r>
            <a:endParaRPr lang="en-US" sz="880" dirty="0"/>
          </a:p>
        </p:txBody>
      </p:sp>
      <p:sp>
        <p:nvSpPr>
          <p:cNvPr id="28" name="Text 25"/>
          <p:cNvSpPr txBox="1"/>
          <p:nvPr/>
        </p:nvSpPr>
        <p:spPr>
          <a:xfrm>
            <a:off x="7406640" y="2249424"/>
            <a:ext cx="4114800" cy="201168"/>
          </a:xfrm>
          <a:prstGeom prst="rect">
            <a:avLst/>
          </a:prstGeom>
          <a:noFill/>
          <a:ln/>
        </p:spPr>
        <p:txBody>
          <a:bodyPr wrap="square" lIns="0" tIns="0" rIns="0" bIns="0" rtlCol="0" anchor="t"/>
          <a:lstStyle/>
          <a:p>
            <a:pPr algn="l" indent="0" marL="0">
              <a:buNone/>
            </a:pPr>
            <a:r>
              <a:rPr lang="en-US" sz="960" b="1" spc="130" kern="0" dirty="0">
                <a:solidFill>
                  <a:srgbClr val="D62027"/>
                </a:solidFill>
                <a:latin typeface="Aptos" pitchFamily="34" charset="0"/>
                <a:ea typeface="Aptos" pitchFamily="34" charset="-122"/>
                <a:cs typeface="Aptos" pitchFamily="34" charset="-120"/>
              </a:rPr>
              <a:t>DOS LUGARES POSIBLES</a:t>
            </a:r>
            <a:endParaRPr lang="en-US" sz="960" dirty="0"/>
          </a:p>
        </p:txBody>
      </p:sp>
      <p:sp>
        <p:nvSpPr>
          <p:cNvPr id="29" name="Shape 26"/>
          <p:cNvSpPr/>
          <p:nvPr/>
        </p:nvSpPr>
        <p:spPr>
          <a:xfrm>
            <a:off x="7406640" y="2560320"/>
            <a:ext cx="4123944" cy="1170432"/>
          </a:xfrm>
          <a:prstGeom prst="rect">
            <a:avLst/>
          </a:prstGeom>
          <a:solidFill>
            <a:srgbClr val="F2E7D9"/>
          </a:solidFill>
          <a:ln w="12700">
            <a:solidFill>
              <a:srgbClr val="F2E7D9"/>
            </a:solidFill>
            <a:prstDash val="solid"/>
          </a:ln>
        </p:spPr>
      </p:sp>
      <p:sp>
        <p:nvSpPr>
          <p:cNvPr id="30" name="Shape 27"/>
          <p:cNvSpPr/>
          <p:nvPr/>
        </p:nvSpPr>
        <p:spPr>
          <a:xfrm>
            <a:off x="7406640" y="2560320"/>
            <a:ext cx="54864" cy="1170432"/>
          </a:xfrm>
          <a:prstGeom prst="rect">
            <a:avLst/>
          </a:prstGeom>
          <a:solidFill>
            <a:srgbClr val="B3181E"/>
          </a:solidFill>
          <a:ln w="12700">
            <a:solidFill>
              <a:srgbClr val="B3181E"/>
            </a:solidFill>
            <a:prstDash val="solid"/>
          </a:ln>
        </p:spPr>
      </p:sp>
      <p:sp>
        <p:nvSpPr>
          <p:cNvPr id="31" name="Shape 28"/>
          <p:cNvSpPr/>
          <p:nvPr/>
        </p:nvSpPr>
        <p:spPr>
          <a:xfrm>
            <a:off x="10744200" y="2706624"/>
            <a:ext cx="640080" cy="292608"/>
          </a:xfrm>
          <a:prstGeom prst="rect">
            <a:avLst/>
          </a:prstGeom>
          <a:solidFill>
            <a:srgbClr val="B3181E"/>
          </a:solidFill>
          <a:ln w="12700">
            <a:solidFill>
              <a:srgbClr val="B3181E"/>
            </a:solidFill>
            <a:prstDash val="solid"/>
          </a:ln>
        </p:spPr>
      </p:sp>
      <p:sp>
        <p:nvSpPr>
          <p:cNvPr id="32" name="Text 29"/>
          <p:cNvSpPr txBox="1"/>
          <p:nvPr/>
        </p:nvSpPr>
        <p:spPr>
          <a:xfrm>
            <a:off x="10799064" y="2752344"/>
            <a:ext cx="530352" cy="201168"/>
          </a:xfrm>
          <a:prstGeom prst="rect">
            <a:avLst/>
          </a:prstGeom>
          <a:noFill/>
          <a:ln/>
        </p:spPr>
        <p:txBody>
          <a:bodyPr wrap="square" lIns="0" tIns="0" rIns="0" bIns="0" rtlCol="0" anchor="ctr"/>
          <a:lstStyle/>
          <a:p>
            <a:pPr algn="ctr" indent="0" marL="0">
              <a:buNone/>
            </a:pPr>
            <a:r>
              <a:rPr lang="en-US" sz="1040" b="1" dirty="0">
                <a:solidFill>
                  <a:srgbClr val="FFFFFF"/>
                </a:solidFill>
                <a:latin typeface="Aptos" pitchFamily="34" charset="0"/>
                <a:ea typeface="Aptos" pitchFamily="34" charset="-122"/>
                <a:cs typeface="Aptos" pitchFamily="34" charset="-120"/>
              </a:rPr>
              <a:t>No</a:t>
            </a:r>
            <a:endParaRPr lang="en-US" sz="1040" dirty="0"/>
          </a:p>
        </p:txBody>
      </p:sp>
      <p:sp>
        <p:nvSpPr>
          <p:cNvPr id="33" name="Text 30"/>
          <p:cNvSpPr txBox="1"/>
          <p:nvPr/>
        </p:nvSpPr>
        <p:spPr>
          <a:xfrm>
            <a:off x="7662672" y="2724912"/>
            <a:ext cx="2926080" cy="256032"/>
          </a:xfrm>
          <a:prstGeom prst="rect">
            <a:avLst/>
          </a:prstGeom>
          <a:noFill/>
          <a:ln/>
        </p:spPr>
        <p:txBody>
          <a:bodyPr wrap="square" lIns="0" tIns="0" rIns="0" bIns="0" rtlCol="0" anchor="t"/>
          <a:lstStyle/>
          <a:p>
            <a:pPr algn="l" indent="0" marL="0">
              <a:buNone/>
            </a:pPr>
            <a:r>
              <a:rPr lang="en-US" sz="1260" b="1" dirty="0">
                <a:solidFill>
                  <a:srgbClr val="B3181E"/>
                </a:solidFill>
                <a:latin typeface="Aptos" pitchFamily="34" charset="0"/>
                <a:ea typeface="Aptos" pitchFamily="34" charset="-122"/>
                <a:cs typeface="Aptos" pitchFamily="34" charset="-120"/>
              </a:rPr>
              <a:t>Un archivo aparte con los pares</a:t>
            </a:r>
            <a:endParaRPr lang="en-US" sz="1260" dirty="0"/>
          </a:p>
        </p:txBody>
      </p:sp>
      <p:sp>
        <p:nvSpPr>
          <p:cNvPr id="34" name="Text 31"/>
          <p:cNvSpPr txBox="1"/>
          <p:nvPr/>
        </p:nvSpPr>
        <p:spPr>
          <a:xfrm>
            <a:off x="7662672" y="3054096"/>
            <a:ext cx="3657600" cy="566928"/>
          </a:xfrm>
          <a:prstGeom prst="rect">
            <a:avLst/>
          </a:prstGeom>
          <a:noFill/>
          <a:ln/>
        </p:spPr>
        <p:txBody>
          <a:bodyPr wrap="square" lIns="0" tIns="0" rIns="0" bIns="0" rtlCol="0" anchor="t"/>
          <a:lstStyle/>
          <a:p>
            <a:pPr algn="l" indent="0" marL="0">
              <a:lnSpc>
                <a:spcPct val="112000"/>
              </a:lnSpc>
              <a:buNone/>
            </a:pPr>
            <a:r>
              <a:rPr lang="en-US" sz="1060" dirty="0">
                <a:solidFill>
                  <a:srgbClr val="52606D"/>
                </a:solidFill>
                <a:latin typeface="Aptos" pitchFamily="34" charset="0"/>
                <a:ea typeface="Aptos" pitchFamily="34" charset="-122"/>
                <a:cs typeface="Aptos" pitchFamily="34" charset="-120"/>
              </a:rPr>
              <a:t>Nada obliga a actualizarlo cuando alguien renombra una prueba. Es la planilla que se desactualiza.</a:t>
            </a:r>
            <a:endParaRPr lang="en-US" sz="1060" dirty="0"/>
          </a:p>
        </p:txBody>
      </p:sp>
      <p:sp>
        <p:nvSpPr>
          <p:cNvPr id="35" name="Shape 32"/>
          <p:cNvSpPr/>
          <p:nvPr/>
        </p:nvSpPr>
        <p:spPr>
          <a:xfrm>
            <a:off x="7406640" y="3858768"/>
            <a:ext cx="4123944" cy="1170432"/>
          </a:xfrm>
          <a:prstGeom prst="rect">
            <a:avLst/>
          </a:prstGeom>
          <a:solidFill>
            <a:srgbClr val="FFFFFF"/>
          </a:solidFill>
          <a:ln w="12700">
            <a:solidFill>
              <a:srgbClr val="FFFFFF"/>
            </a:solidFill>
            <a:prstDash val="solid"/>
          </a:ln>
        </p:spPr>
      </p:sp>
      <p:sp>
        <p:nvSpPr>
          <p:cNvPr id="36" name="Shape 33"/>
          <p:cNvSpPr/>
          <p:nvPr/>
        </p:nvSpPr>
        <p:spPr>
          <a:xfrm>
            <a:off x="7406640" y="3858768"/>
            <a:ext cx="54864" cy="1170432"/>
          </a:xfrm>
          <a:prstGeom prst="rect">
            <a:avLst/>
          </a:prstGeom>
          <a:solidFill>
            <a:srgbClr val="2E7D4F"/>
          </a:solidFill>
          <a:ln w="12700">
            <a:solidFill>
              <a:srgbClr val="2E7D4F"/>
            </a:solidFill>
            <a:prstDash val="solid"/>
          </a:ln>
        </p:spPr>
      </p:sp>
      <p:sp>
        <p:nvSpPr>
          <p:cNvPr id="37" name="Shape 34"/>
          <p:cNvSpPr/>
          <p:nvPr/>
        </p:nvSpPr>
        <p:spPr>
          <a:xfrm>
            <a:off x="10744200" y="4005072"/>
            <a:ext cx="640080" cy="292608"/>
          </a:xfrm>
          <a:prstGeom prst="rect">
            <a:avLst/>
          </a:prstGeom>
          <a:solidFill>
            <a:srgbClr val="2E7D4F"/>
          </a:solidFill>
          <a:ln w="12700">
            <a:solidFill>
              <a:srgbClr val="2E7D4F"/>
            </a:solidFill>
            <a:prstDash val="solid"/>
          </a:ln>
        </p:spPr>
      </p:sp>
      <p:sp>
        <p:nvSpPr>
          <p:cNvPr id="38" name="Text 35"/>
          <p:cNvSpPr txBox="1"/>
          <p:nvPr/>
        </p:nvSpPr>
        <p:spPr>
          <a:xfrm>
            <a:off x="10799064" y="4050792"/>
            <a:ext cx="530352" cy="201168"/>
          </a:xfrm>
          <a:prstGeom prst="rect">
            <a:avLst/>
          </a:prstGeom>
          <a:noFill/>
          <a:ln/>
        </p:spPr>
        <p:txBody>
          <a:bodyPr wrap="square" lIns="0" tIns="0" rIns="0" bIns="0" rtlCol="0" anchor="ctr"/>
          <a:lstStyle/>
          <a:p>
            <a:pPr algn="ctr" indent="0" marL="0">
              <a:buNone/>
            </a:pPr>
            <a:r>
              <a:rPr lang="en-US" sz="1040" b="1" dirty="0">
                <a:solidFill>
                  <a:srgbClr val="FFFFFF"/>
                </a:solidFill>
                <a:latin typeface="Aptos" pitchFamily="34" charset="0"/>
                <a:ea typeface="Aptos" pitchFamily="34" charset="-122"/>
                <a:cs typeface="Aptos" pitchFamily="34" charset="-120"/>
              </a:rPr>
              <a:t>Sí</a:t>
            </a:r>
            <a:endParaRPr lang="en-US" sz="1040" dirty="0"/>
          </a:p>
        </p:txBody>
      </p:sp>
      <p:sp>
        <p:nvSpPr>
          <p:cNvPr id="39" name="Text 36"/>
          <p:cNvSpPr txBox="1"/>
          <p:nvPr/>
        </p:nvSpPr>
        <p:spPr>
          <a:xfrm>
            <a:off x="7662672" y="4023360"/>
            <a:ext cx="2926080" cy="256032"/>
          </a:xfrm>
          <a:prstGeom prst="rect">
            <a:avLst/>
          </a:prstGeom>
          <a:noFill/>
          <a:ln/>
        </p:spPr>
        <p:txBody>
          <a:bodyPr wrap="square" lIns="0" tIns="0" rIns="0" bIns="0" rtlCol="0" anchor="t"/>
          <a:lstStyle/>
          <a:p>
            <a:pPr algn="l" indent="0" marL="0">
              <a:buNone/>
            </a:pPr>
            <a:r>
              <a:rPr lang="en-US" sz="1260" b="1" dirty="0">
                <a:solidFill>
                  <a:srgbClr val="2E7D4F"/>
                </a:solidFill>
                <a:latin typeface="Aptos" pitchFamily="34" charset="0"/>
                <a:ea typeface="Aptos" pitchFamily="34" charset="-122"/>
                <a:cs typeface="Aptos" pitchFamily="34" charset="-120"/>
              </a:rPr>
              <a:t>Dentro de la prueba misma</a:t>
            </a:r>
            <a:endParaRPr lang="en-US" sz="1260" dirty="0"/>
          </a:p>
        </p:txBody>
      </p:sp>
      <p:sp>
        <p:nvSpPr>
          <p:cNvPr id="40" name="Text 37"/>
          <p:cNvSpPr txBox="1"/>
          <p:nvPr/>
        </p:nvSpPr>
        <p:spPr>
          <a:xfrm>
            <a:off x="7662672" y="4352544"/>
            <a:ext cx="3657600" cy="566928"/>
          </a:xfrm>
          <a:prstGeom prst="rect">
            <a:avLst/>
          </a:prstGeom>
          <a:noFill/>
          <a:ln/>
        </p:spPr>
        <p:txBody>
          <a:bodyPr wrap="square" lIns="0" tIns="0" rIns="0" bIns="0" rtlCol="0" anchor="t"/>
          <a:lstStyle/>
          <a:p>
            <a:pPr algn="l" indent="0" marL="0">
              <a:lnSpc>
                <a:spcPct val="112000"/>
              </a:lnSpc>
              <a:buNone/>
            </a:pPr>
            <a:r>
              <a:rPr lang="en-US" sz="1060" dirty="0">
                <a:solidFill>
                  <a:srgbClr val="52606D"/>
                </a:solidFill>
                <a:latin typeface="Aptos" pitchFamily="34" charset="0"/>
                <a:ea typeface="Aptos" pitchFamily="34" charset="-122"/>
                <a:cs typeface="Aptos" pitchFamily="34" charset="-120"/>
              </a:rPr>
              <a:t>Renombrarla, moverla o borrarla se lleva la relación consigo. No hay nada que sincronizar.</a:t>
            </a:r>
            <a:endParaRPr lang="en-US" sz="1060" dirty="0"/>
          </a:p>
        </p:txBody>
      </p:sp>
      <p:sp>
        <p:nvSpPr>
          <p:cNvPr id="41" name="Shape 38"/>
          <p:cNvSpPr/>
          <p:nvPr/>
        </p:nvSpPr>
        <p:spPr>
          <a:xfrm>
            <a:off x="658368" y="5650992"/>
            <a:ext cx="10874959" cy="548640"/>
          </a:xfrm>
          <a:prstGeom prst="rect">
            <a:avLst/>
          </a:prstGeom>
          <a:solidFill>
            <a:srgbClr val="102A43"/>
          </a:solidFill>
          <a:ln w="12700">
            <a:solidFill>
              <a:srgbClr val="102A43"/>
            </a:solidFill>
            <a:prstDash val="solid"/>
          </a:ln>
        </p:spPr>
      </p:sp>
      <p:sp>
        <p:nvSpPr>
          <p:cNvPr id="42" name="Text 39"/>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Lo que se guarda aparte hay que mantenerlo; lo que va dentro, no.</a:t>
            </a:r>
            <a:endParaRPr lang="en-US" sz="138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31</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3 · LA SINTAXIS</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Un marcador es una etiqueta pegada a una prueba</a:t>
            </a:r>
            <a:endParaRPr lang="en-US" sz="3000" dirty="0"/>
          </a:p>
        </p:txBody>
      </p:sp>
      <p:sp>
        <p:nvSpPr>
          <p:cNvPr id="10" name="Text 7"/>
          <p:cNvSpPr txBox="1"/>
          <p:nvPr/>
        </p:nvSpPr>
        <p:spPr>
          <a:xfrm>
            <a:off x="658368" y="1664208"/>
            <a:ext cx="10424160" cy="347472"/>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La herramienta la conserva y deja consultarla después. Se escribe como decorador: una línea con arroba, encima de la función, que le agrega algo sin tocar su cuerpo.</a:t>
            </a:r>
            <a:endParaRPr lang="en-US" sz="1420" dirty="0"/>
          </a:p>
        </p:txBody>
      </p:sp>
      <p:sp>
        <p:nvSpPr>
          <p:cNvPr id="11" name="Shape 8"/>
          <p:cNvSpPr/>
          <p:nvPr/>
        </p:nvSpPr>
        <p:spPr>
          <a:xfrm>
            <a:off x="658368" y="2231136"/>
            <a:ext cx="5486400" cy="1591056"/>
          </a:xfrm>
          <a:prstGeom prst="roundRect">
            <a:avLst>
              <a:gd name="adj" fmla="val 2299"/>
            </a:avLst>
          </a:prstGeom>
          <a:solidFill>
            <a:srgbClr val="102A43"/>
          </a:solidFill>
          <a:ln w="12700">
            <a:solidFill>
              <a:srgbClr val="102A43"/>
            </a:solidFill>
            <a:prstDash val="solid"/>
          </a:ln>
        </p:spPr>
      </p:sp>
      <p:sp>
        <p:nvSpPr>
          <p:cNvPr id="12" name="Shape 9"/>
          <p:cNvSpPr/>
          <p:nvPr/>
        </p:nvSpPr>
        <p:spPr>
          <a:xfrm>
            <a:off x="786384" y="2340864"/>
            <a:ext cx="5230368" cy="310896"/>
          </a:xfrm>
          <a:prstGeom prst="roundRect">
            <a:avLst>
              <a:gd name="adj" fmla="val 8824"/>
            </a:avLst>
          </a:prstGeom>
          <a:solidFill>
            <a:srgbClr val="284B75"/>
          </a:solidFill>
          <a:ln w="12700">
            <a:solidFill>
              <a:srgbClr val="284B75"/>
            </a:solidFill>
            <a:prstDash val="solid"/>
          </a:ln>
        </p:spPr>
      </p:sp>
      <p:sp>
        <p:nvSpPr>
          <p:cNvPr id="13" name="Text 10"/>
          <p:cNvSpPr/>
          <p:nvPr/>
        </p:nvSpPr>
        <p:spPr>
          <a:xfrm>
            <a:off x="896112" y="2414016"/>
            <a:ext cx="5010912" cy="146304"/>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Una marca para toda la función</a:t>
            </a:r>
            <a:endParaRPr lang="en-US" sz="1000" dirty="0"/>
          </a:p>
        </p:txBody>
      </p:sp>
      <p:pic>
        <p:nvPicPr>
          <p:cNvPr id="14"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77824" y="2798064"/>
            <a:ext cx="5065776" cy="841248"/>
          </a:xfrm>
          <a:prstGeom prst="rect">
            <a:avLst/>
          </a:prstGeom>
        </p:spPr>
      </p:pic>
      <p:sp>
        <p:nvSpPr>
          <p:cNvPr id="15" name="Text 11"/>
          <p:cNvSpPr txBox="1"/>
          <p:nvPr/>
        </p:nvSpPr>
        <p:spPr>
          <a:xfrm>
            <a:off x="658368" y="3913632"/>
            <a:ext cx="5486400" cy="402336"/>
          </a:xfrm>
          <a:prstGeom prst="rect">
            <a:avLst/>
          </a:prstGeom>
          <a:noFill/>
          <a:ln/>
        </p:spPr>
        <p:txBody>
          <a:bodyPr wrap="square" lIns="0" tIns="0" rIns="0" bIns="0" rtlCol="0" anchor="t"/>
          <a:lstStyle/>
          <a:p>
            <a:pPr algn="l" indent="0" marL="0">
              <a:lnSpc>
                <a:spcPct val="112000"/>
              </a:lnSpc>
              <a:buNone/>
            </a:pPr>
            <a:r>
              <a:rPr lang="en-US" sz="1080" dirty="0">
                <a:solidFill>
                  <a:srgbClr val="52606D"/>
                </a:solidFill>
                <a:latin typeface="Aptos" pitchFamily="34" charset="0"/>
                <a:ea typeface="Aptos" pitchFamily="34" charset="-122"/>
                <a:cs typeface="Aptos" pitchFamily="34" charset="-120"/>
              </a:rPr>
              <a:t>parametrize corre la misma prueba una vez por cada fila de valores. Sus cuatro casos comprueban el mismo requisito, así que una marca arriba alcanza.</a:t>
            </a:r>
            <a:endParaRPr lang="en-US" sz="1080" dirty="0"/>
          </a:p>
        </p:txBody>
      </p:sp>
      <p:sp>
        <p:nvSpPr>
          <p:cNvPr id="16" name="Shape 12"/>
          <p:cNvSpPr/>
          <p:nvPr/>
        </p:nvSpPr>
        <p:spPr>
          <a:xfrm>
            <a:off x="6364224" y="2231136"/>
            <a:ext cx="5175504" cy="1591056"/>
          </a:xfrm>
          <a:prstGeom prst="roundRect">
            <a:avLst>
              <a:gd name="adj" fmla="val 2299"/>
            </a:avLst>
          </a:prstGeom>
          <a:solidFill>
            <a:srgbClr val="102A43"/>
          </a:solidFill>
          <a:ln w="12700">
            <a:solidFill>
              <a:srgbClr val="102A43"/>
            </a:solidFill>
            <a:prstDash val="solid"/>
          </a:ln>
        </p:spPr>
      </p:sp>
      <p:sp>
        <p:nvSpPr>
          <p:cNvPr id="17" name="Shape 13"/>
          <p:cNvSpPr/>
          <p:nvPr/>
        </p:nvSpPr>
        <p:spPr>
          <a:xfrm>
            <a:off x="6492240" y="2340864"/>
            <a:ext cx="4919472" cy="310896"/>
          </a:xfrm>
          <a:prstGeom prst="roundRect">
            <a:avLst>
              <a:gd name="adj" fmla="val 8824"/>
            </a:avLst>
          </a:prstGeom>
          <a:solidFill>
            <a:srgbClr val="284B75"/>
          </a:solidFill>
          <a:ln w="12700">
            <a:solidFill>
              <a:srgbClr val="284B75"/>
            </a:solidFill>
            <a:prstDash val="solid"/>
          </a:ln>
        </p:spPr>
      </p:sp>
      <p:sp>
        <p:nvSpPr>
          <p:cNvPr id="18" name="Text 14"/>
          <p:cNvSpPr/>
          <p:nvPr/>
        </p:nvSpPr>
        <p:spPr>
          <a:xfrm>
            <a:off x="6601968" y="2414016"/>
            <a:ext cx="4700016" cy="146304"/>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Una marca por caso</a:t>
            </a:r>
            <a:endParaRPr lang="en-US" sz="1000" dirty="0"/>
          </a:p>
        </p:txBody>
      </p:sp>
      <p:pic>
        <p:nvPicPr>
          <p:cNvPr id="19"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583680" y="2798064"/>
            <a:ext cx="4754880" cy="841248"/>
          </a:xfrm>
          <a:prstGeom prst="rect">
            <a:avLst/>
          </a:prstGeom>
        </p:spPr>
      </p:pic>
      <p:sp>
        <p:nvSpPr>
          <p:cNvPr id="20" name="Text 15"/>
          <p:cNvSpPr txBox="1"/>
          <p:nvPr/>
        </p:nvSpPr>
        <p:spPr>
          <a:xfrm>
            <a:off x="6364224" y="3913632"/>
            <a:ext cx="5175504" cy="402336"/>
          </a:xfrm>
          <a:prstGeom prst="rect">
            <a:avLst/>
          </a:prstGeom>
          <a:noFill/>
          <a:ln/>
        </p:spPr>
        <p:txBody>
          <a:bodyPr wrap="square" lIns="0" tIns="0" rIns="0" bIns="0" rtlCol="0" anchor="t"/>
          <a:lstStyle/>
          <a:p>
            <a:pPr algn="l" indent="0" marL="0">
              <a:lnSpc>
                <a:spcPct val="112000"/>
              </a:lnSpc>
              <a:buNone/>
            </a:pPr>
            <a:r>
              <a:rPr lang="en-US" sz="1080" dirty="0">
                <a:solidFill>
                  <a:srgbClr val="52606D"/>
                </a:solidFill>
                <a:latin typeface="Aptos" pitchFamily="34" charset="0"/>
                <a:ea typeface="Aptos" pitchFamily="34" charset="-122"/>
                <a:cs typeface="Aptos" pitchFamily="34" charset="-120"/>
              </a:rPr>
              <a:t>Aquí cada caso comprueba una regla distinta. pytest.param reemplaza la tupla y le agrega marcas a ese caso.</a:t>
            </a:r>
            <a:endParaRPr lang="en-US" sz="1080" dirty="0"/>
          </a:p>
        </p:txBody>
      </p:sp>
      <p:sp>
        <p:nvSpPr>
          <p:cNvPr id="21" name="Shape 16"/>
          <p:cNvSpPr/>
          <p:nvPr/>
        </p:nvSpPr>
        <p:spPr>
          <a:xfrm>
            <a:off x="658368" y="4462272"/>
            <a:ext cx="5486400" cy="658368"/>
          </a:xfrm>
          <a:prstGeom prst="rect">
            <a:avLst/>
          </a:prstGeom>
          <a:solidFill>
            <a:srgbClr val="EDE6DA"/>
          </a:solidFill>
          <a:ln w="12700">
            <a:solidFill>
              <a:srgbClr val="EDE6DA"/>
            </a:solidFill>
            <a:prstDash val="solid"/>
          </a:ln>
        </p:spPr>
      </p:sp>
      <p:sp>
        <p:nvSpPr>
          <p:cNvPr id="22" name="Shape 17"/>
          <p:cNvSpPr/>
          <p:nvPr/>
        </p:nvSpPr>
        <p:spPr>
          <a:xfrm>
            <a:off x="658368" y="4462272"/>
            <a:ext cx="54864" cy="658368"/>
          </a:xfrm>
          <a:prstGeom prst="rect">
            <a:avLst/>
          </a:prstGeom>
          <a:solidFill>
            <a:srgbClr val="8A6A12"/>
          </a:solidFill>
          <a:ln w="12700">
            <a:solidFill>
              <a:srgbClr val="8A6A12"/>
            </a:solidFill>
            <a:prstDash val="solid"/>
          </a:ln>
        </p:spPr>
      </p:sp>
      <p:sp>
        <p:nvSpPr>
          <p:cNvPr id="23" name="Text 18"/>
          <p:cNvSpPr txBox="1"/>
          <p:nvPr/>
        </p:nvSpPr>
        <p:spPr>
          <a:xfrm>
            <a:off x="896112" y="4553712"/>
            <a:ext cx="5029200" cy="219456"/>
          </a:xfrm>
          <a:prstGeom prst="rect">
            <a:avLst/>
          </a:prstGeom>
          <a:noFill/>
          <a:ln/>
        </p:spPr>
        <p:txBody>
          <a:bodyPr wrap="square" lIns="0" tIns="0" rIns="0" bIns="0" rtlCol="0" anchor="t"/>
          <a:lstStyle/>
          <a:p>
            <a:pPr algn="l" indent="0" marL="0">
              <a:buNone/>
            </a:pPr>
            <a:r>
              <a:rPr lang="en-US" sz="1140" b="1" dirty="0">
                <a:solidFill>
                  <a:srgbClr val="243B53"/>
                </a:solidFill>
                <a:latin typeface="Aptos" pitchFamily="34" charset="0"/>
                <a:ea typeface="Aptos" pitchFamily="34" charset="-122"/>
                <a:cs typeface="Aptos" pitchFamily="34" charset="-120"/>
              </a:rPr>
              <a:t>Hay que declararlo en la configuración</a:t>
            </a:r>
            <a:endParaRPr lang="en-US" sz="1140" dirty="0"/>
          </a:p>
        </p:txBody>
      </p:sp>
      <p:sp>
        <p:nvSpPr>
          <p:cNvPr id="24" name="Text 19"/>
          <p:cNvSpPr txBox="1"/>
          <p:nvPr/>
        </p:nvSpPr>
        <p:spPr>
          <a:xfrm>
            <a:off x="896112" y="4791456"/>
            <a:ext cx="5029200" cy="219456"/>
          </a:xfrm>
          <a:prstGeom prst="rect">
            <a:avLst/>
          </a:prstGeom>
          <a:noFill/>
          <a:ln/>
        </p:spPr>
        <p:txBody>
          <a:bodyPr wrap="square" lIns="0" tIns="0" rIns="0" bIns="0" rtlCol="0" anchor="t"/>
          <a:lstStyle/>
          <a:p>
            <a:pPr algn="l" indent="0" marL="0">
              <a:buNone/>
            </a:pPr>
            <a:r>
              <a:rPr lang="en-US" sz="940" dirty="0">
                <a:solidFill>
                  <a:srgbClr val="52606D"/>
                </a:solidFill>
                <a:latin typeface="Consolas" pitchFamily="34" charset="0"/>
                <a:ea typeface="Consolas" pitchFamily="34" charset="-122"/>
                <a:cs typeface="Consolas" pitchFamily="34" charset="-120"/>
              </a:rPr>
              <a:t>markers = ["requisito(id): el requisito que comprueba"]</a:t>
            </a:r>
            <a:endParaRPr lang="en-US" sz="940" dirty="0"/>
          </a:p>
        </p:txBody>
      </p:sp>
      <p:sp>
        <p:nvSpPr>
          <p:cNvPr id="25" name="Shape 20"/>
          <p:cNvSpPr/>
          <p:nvPr/>
        </p:nvSpPr>
        <p:spPr>
          <a:xfrm>
            <a:off x="6364224" y="4462272"/>
            <a:ext cx="5175504" cy="658368"/>
          </a:xfrm>
          <a:prstGeom prst="rect">
            <a:avLst/>
          </a:prstGeom>
          <a:solidFill>
            <a:srgbClr val="F2E7D9"/>
          </a:solidFill>
          <a:ln w="12700">
            <a:solidFill>
              <a:srgbClr val="F2E7D9"/>
            </a:solidFill>
            <a:prstDash val="solid"/>
          </a:ln>
        </p:spPr>
      </p:sp>
      <p:sp>
        <p:nvSpPr>
          <p:cNvPr id="26" name="Shape 21"/>
          <p:cNvSpPr/>
          <p:nvPr/>
        </p:nvSpPr>
        <p:spPr>
          <a:xfrm>
            <a:off x="6364224" y="4462272"/>
            <a:ext cx="54864" cy="658368"/>
          </a:xfrm>
          <a:prstGeom prst="rect">
            <a:avLst/>
          </a:prstGeom>
          <a:solidFill>
            <a:srgbClr val="B3181E"/>
          </a:solidFill>
          <a:ln w="12700">
            <a:solidFill>
              <a:srgbClr val="B3181E"/>
            </a:solidFill>
            <a:prstDash val="solid"/>
          </a:ln>
        </p:spPr>
      </p:sp>
      <p:sp>
        <p:nvSpPr>
          <p:cNvPr id="27" name="Text 22"/>
          <p:cNvSpPr txBox="1"/>
          <p:nvPr/>
        </p:nvSpPr>
        <p:spPr>
          <a:xfrm>
            <a:off x="6601968" y="4553712"/>
            <a:ext cx="4718304" cy="219456"/>
          </a:xfrm>
          <a:prstGeom prst="rect">
            <a:avLst/>
          </a:prstGeom>
          <a:noFill/>
          <a:ln/>
        </p:spPr>
        <p:txBody>
          <a:bodyPr wrap="square" lIns="0" tIns="0" rIns="0" bIns="0" rtlCol="0" anchor="t"/>
          <a:lstStyle/>
          <a:p>
            <a:pPr algn="l" indent="0" marL="0">
              <a:buNone/>
            </a:pPr>
            <a:r>
              <a:rPr lang="en-US" sz="1140" b="1" dirty="0">
                <a:solidFill>
                  <a:srgbClr val="B3181E"/>
                </a:solidFill>
                <a:latin typeface="Aptos" pitchFamily="34" charset="0"/>
                <a:ea typeface="Aptos" pitchFamily="34" charset="-122"/>
                <a:cs typeface="Aptos" pitchFamily="34" charset="-120"/>
              </a:rPr>
              <a:t>Por qué la declaración importa</a:t>
            </a:r>
            <a:endParaRPr lang="en-US" sz="1140" dirty="0"/>
          </a:p>
        </p:txBody>
      </p:sp>
      <p:sp>
        <p:nvSpPr>
          <p:cNvPr id="28" name="Text 23"/>
          <p:cNvSpPr txBox="1"/>
          <p:nvPr/>
        </p:nvSpPr>
        <p:spPr>
          <a:xfrm>
            <a:off x="6601968" y="4791456"/>
            <a:ext cx="4718304" cy="237744"/>
          </a:xfrm>
          <a:prstGeom prst="rect">
            <a:avLst/>
          </a:prstGeom>
          <a:noFill/>
          <a:ln/>
        </p:spPr>
        <p:txBody>
          <a:bodyPr wrap="square" lIns="0" tIns="0" rIns="0" bIns="0" rtlCol="0" anchor="t"/>
          <a:lstStyle/>
          <a:p>
            <a:pPr algn="l" indent="0" marL="0">
              <a:buNone/>
            </a:pPr>
            <a:r>
              <a:rPr lang="en-US" sz="1040" dirty="0">
                <a:solidFill>
                  <a:srgbClr val="243B53"/>
                </a:solidFill>
                <a:latin typeface="Aptos" pitchFamily="34" charset="0"/>
                <a:ea typeface="Aptos" pitchFamily="34" charset="-122"/>
                <a:cs typeface="Aptos" pitchFamily="34" charset="-120"/>
              </a:rPr>
              <a:t>Sin ella, escribir «requsito» con un error de tipeo crea un marcador nuevo y silencioso.</a:t>
            </a:r>
            <a:endParaRPr lang="en-US" sz="1040" dirty="0"/>
          </a:p>
        </p:txBody>
      </p:sp>
      <p:sp>
        <p:nvSpPr>
          <p:cNvPr id="29" name="Text 24"/>
          <p:cNvSpPr txBox="1"/>
          <p:nvPr/>
        </p:nvSpPr>
        <p:spPr>
          <a:xfrm>
            <a:off x="658368" y="5285232"/>
            <a:ext cx="10874959" cy="256032"/>
          </a:xfrm>
          <a:prstGeom prst="rect">
            <a:avLst/>
          </a:prstGeom>
          <a:noFill/>
          <a:ln/>
        </p:spPr>
        <p:txBody>
          <a:bodyPr wrap="square" lIns="0" tIns="0" rIns="0" bIns="0" rtlCol="0" anchor="t"/>
          <a:lstStyle/>
          <a:p>
            <a:pPr algn="l" indent="0" marL="0">
              <a:buNone/>
            </a:pPr>
            <a:r>
              <a:rPr lang="en-US" sz="1240" b="1" dirty="0">
                <a:solidFill>
                  <a:srgbClr val="243B53"/>
                </a:solidFill>
                <a:latin typeface="Aptos" pitchFamily="34" charset="0"/>
                <a:ea typeface="Aptos" pitchFamily="34" charset="-122"/>
                <a:cs typeface="Aptos" pitchFamily="34" charset="-120"/>
              </a:rPr>
              <a:t>Marcar las pruebas no cambia lo que hacen: la suite sigue en 22 passed y 1 failed.</a:t>
            </a:r>
            <a:endParaRPr lang="en-US" sz="1240" dirty="0"/>
          </a:p>
        </p:txBody>
      </p:sp>
      <p:sp>
        <p:nvSpPr>
          <p:cNvPr id="30" name="Shape 25"/>
          <p:cNvSpPr/>
          <p:nvPr/>
        </p:nvSpPr>
        <p:spPr>
          <a:xfrm>
            <a:off x="658368" y="5650992"/>
            <a:ext cx="10874959" cy="548640"/>
          </a:xfrm>
          <a:prstGeom prst="rect">
            <a:avLst/>
          </a:prstGeom>
          <a:solidFill>
            <a:srgbClr val="102A43"/>
          </a:solidFill>
          <a:ln w="12700">
            <a:solidFill>
              <a:srgbClr val="102A43"/>
            </a:solidFill>
            <a:prstDash val="solid"/>
          </a:ln>
        </p:spPr>
      </p:sp>
      <p:sp>
        <p:nvSpPr>
          <p:cNvPr id="31" name="Text 26"/>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La trazabilidad no altera la suite. Solo agrega información legible por un programa.</a:t>
            </a:r>
            <a:endParaRPr lang="en-US" sz="138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32</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3 · EL GENERADOR</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Recolectar la suite sin ejecutarla</a:t>
            </a:r>
            <a:endParaRPr lang="en-US" sz="3000" dirty="0"/>
          </a:p>
        </p:txBody>
      </p:sp>
      <p:sp>
        <p:nvSpPr>
          <p:cNvPr id="10" name="Text 7"/>
          <p:cNvSpPr txBox="1"/>
          <p:nvPr/>
        </p:nvSpPr>
        <p:spPr>
          <a:xfrm>
            <a:off x="658368" y="1664208"/>
            <a:ext cx="10424160" cy="347472"/>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La herramienta se puede invocar desde un programa, y avisarle a un objeto propio cuando termina de recolectar.</a:t>
            </a:r>
            <a:endParaRPr lang="en-US" sz="1420" dirty="0"/>
          </a:p>
        </p:txBody>
      </p:sp>
      <p:sp>
        <p:nvSpPr>
          <p:cNvPr id="11" name="Shape 8"/>
          <p:cNvSpPr/>
          <p:nvPr/>
        </p:nvSpPr>
        <p:spPr>
          <a:xfrm>
            <a:off x="658368" y="2231136"/>
            <a:ext cx="3539642" cy="969264"/>
          </a:xfrm>
          <a:prstGeom prst="rect">
            <a:avLst/>
          </a:prstGeom>
          <a:solidFill>
            <a:srgbClr val="FFFFFF"/>
          </a:solidFill>
          <a:ln w="12700">
            <a:solidFill>
              <a:srgbClr val="FFFFFF"/>
            </a:solidFill>
            <a:prstDash val="solid"/>
          </a:ln>
        </p:spPr>
      </p:sp>
      <p:sp>
        <p:nvSpPr>
          <p:cNvPr id="12" name="Shape 9"/>
          <p:cNvSpPr/>
          <p:nvPr/>
        </p:nvSpPr>
        <p:spPr>
          <a:xfrm>
            <a:off x="658368" y="2231136"/>
            <a:ext cx="3539642" cy="54864"/>
          </a:xfrm>
          <a:prstGeom prst="rect">
            <a:avLst/>
          </a:prstGeom>
          <a:solidFill>
            <a:srgbClr val="102A43"/>
          </a:solidFill>
          <a:ln w="12700">
            <a:solidFill>
              <a:srgbClr val="102A43"/>
            </a:solidFill>
            <a:prstDash val="solid"/>
          </a:ln>
        </p:spPr>
      </p:sp>
      <p:sp>
        <p:nvSpPr>
          <p:cNvPr id="13" name="Text 10"/>
          <p:cNvSpPr txBox="1"/>
          <p:nvPr/>
        </p:nvSpPr>
        <p:spPr>
          <a:xfrm>
            <a:off x="877824" y="2377440"/>
            <a:ext cx="365760" cy="310896"/>
          </a:xfrm>
          <a:prstGeom prst="rect">
            <a:avLst/>
          </a:prstGeom>
          <a:noFill/>
          <a:ln/>
        </p:spPr>
        <p:txBody>
          <a:bodyPr wrap="square" lIns="0" tIns="0" rIns="0" bIns="0" rtlCol="0" anchor="t"/>
          <a:lstStyle/>
          <a:p>
            <a:pPr algn="l" indent="0" marL="0">
              <a:buNone/>
            </a:pPr>
            <a:r>
              <a:rPr lang="en-US" sz="2200" b="1" dirty="0">
                <a:solidFill>
                  <a:srgbClr val="102A43"/>
                </a:solidFill>
                <a:latin typeface="Aptos Display" pitchFamily="34" charset="0"/>
                <a:ea typeface="Aptos Display" pitchFamily="34" charset="-122"/>
                <a:cs typeface="Aptos Display" pitchFamily="34" charset="-120"/>
              </a:rPr>
              <a:t>1</a:t>
            </a:r>
            <a:endParaRPr lang="en-US" sz="2200" dirty="0"/>
          </a:p>
        </p:txBody>
      </p:sp>
      <p:sp>
        <p:nvSpPr>
          <p:cNvPr id="14" name="Text 11"/>
          <p:cNvSpPr txBox="1"/>
          <p:nvPr/>
        </p:nvSpPr>
        <p:spPr>
          <a:xfrm>
            <a:off x="1316736" y="2414016"/>
            <a:ext cx="2661818" cy="256032"/>
          </a:xfrm>
          <a:prstGeom prst="rect">
            <a:avLst/>
          </a:prstGeom>
          <a:noFill/>
          <a:ln/>
        </p:spPr>
        <p:txBody>
          <a:bodyPr wrap="square" lIns="0" tIns="0" rIns="0" bIns="0" rtlCol="0" anchor="t"/>
          <a:lstStyle/>
          <a:p>
            <a:pPr algn="l" indent="0" marL="0">
              <a:buNone/>
            </a:pPr>
            <a:r>
              <a:rPr lang="en-US" sz="1360" b="1" dirty="0">
                <a:solidFill>
                  <a:srgbClr val="243B53"/>
                </a:solidFill>
                <a:latin typeface="Aptos" pitchFamily="34" charset="0"/>
                <a:ea typeface="Aptos" pitchFamily="34" charset="-122"/>
                <a:cs typeface="Aptos" pitchFamily="34" charset="-120"/>
              </a:rPr>
              <a:t>Recolectar</a:t>
            </a:r>
            <a:endParaRPr lang="en-US" sz="1360" dirty="0"/>
          </a:p>
        </p:txBody>
      </p:sp>
      <p:sp>
        <p:nvSpPr>
          <p:cNvPr id="15" name="Text 12"/>
          <p:cNvSpPr txBox="1"/>
          <p:nvPr/>
        </p:nvSpPr>
        <p:spPr>
          <a:xfrm>
            <a:off x="877824" y="2724912"/>
            <a:ext cx="3100730" cy="402336"/>
          </a:xfrm>
          <a:prstGeom prst="rect">
            <a:avLst/>
          </a:prstGeom>
          <a:noFill/>
          <a:ln/>
        </p:spPr>
        <p:txBody>
          <a:bodyPr wrap="square" lIns="0" tIns="0" rIns="0" bIns="0" rtlCol="0" anchor="t"/>
          <a:lstStyle/>
          <a:p>
            <a:pPr algn="l" indent="0" marL="0">
              <a:lnSpc>
                <a:spcPct val="110000"/>
              </a:lnSpc>
              <a:buNone/>
            </a:pPr>
            <a:r>
              <a:rPr lang="en-US" sz="1020" dirty="0">
                <a:solidFill>
                  <a:srgbClr val="52606D"/>
                </a:solidFill>
                <a:latin typeface="Aptos" pitchFamily="34" charset="0"/>
                <a:ea typeface="Aptos" pitchFamily="34" charset="-122"/>
                <a:cs typeface="Aptos" pitchFamily="34" charset="-120"/>
              </a:rPr>
              <a:t>La opción --collect-only arma la lista de pruebas y se detiene antes de correrlas.</a:t>
            </a:r>
            <a:endParaRPr lang="en-US" sz="1020" dirty="0"/>
          </a:p>
        </p:txBody>
      </p:sp>
      <p:sp>
        <p:nvSpPr>
          <p:cNvPr id="16" name="Shape 13"/>
          <p:cNvSpPr/>
          <p:nvPr/>
        </p:nvSpPr>
        <p:spPr>
          <a:xfrm>
            <a:off x="4326026" y="2231136"/>
            <a:ext cx="3539642" cy="969264"/>
          </a:xfrm>
          <a:prstGeom prst="rect">
            <a:avLst/>
          </a:prstGeom>
          <a:solidFill>
            <a:srgbClr val="FFFFFF"/>
          </a:solidFill>
          <a:ln w="12700">
            <a:solidFill>
              <a:srgbClr val="FFFFFF"/>
            </a:solidFill>
            <a:prstDash val="solid"/>
          </a:ln>
        </p:spPr>
      </p:sp>
      <p:sp>
        <p:nvSpPr>
          <p:cNvPr id="17" name="Shape 14"/>
          <p:cNvSpPr/>
          <p:nvPr/>
        </p:nvSpPr>
        <p:spPr>
          <a:xfrm>
            <a:off x="4326026" y="2231136"/>
            <a:ext cx="3539642" cy="54864"/>
          </a:xfrm>
          <a:prstGeom prst="rect">
            <a:avLst/>
          </a:prstGeom>
          <a:solidFill>
            <a:srgbClr val="102A43"/>
          </a:solidFill>
          <a:ln w="12700">
            <a:solidFill>
              <a:srgbClr val="102A43"/>
            </a:solidFill>
            <a:prstDash val="solid"/>
          </a:ln>
        </p:spPr>
      </p:sp>
      <p:sp>
        <p:nvSpPr>
          <p:cNvPr id="18" name="Text 15"/>
          <p:cNvSpPr txBox="1"/>
          <p:nvPr/>
        </p:nvSpPr>
        <p:spPr>
          <a:xfrm>
            <a:off x="4545482" y="2377440"/>
            <a:ext cx="365760" cy="310896"/>
          </a:xfrm>
          <a:prstGeom prst="rect">
            <a:avLst/>
          </a:prstGeom>
          <a:noFill/>
          <a:ln/>
        </p:spPr>
        <p:txBody>
          <a:bodyPr wrap="square" lIns="0" tIns="0" rIns="0" bIns="0" rtlCol="0" anchor="t"/>
          <a:lstStyle/>
          <a:p>
            <a:pPr algn="l" indent="0" marL="0">
              <a:buNone/>
            </a:pPr>
            <a:r>
              <a:rPr lang="en-US" sz="2200" b="1" dirty="0">
                <a:solidFill>
                  <a:srgbClr val="102A43"/>
                </a:solidFill>
                <a:latin typeface="Aptos Display" pitchFamily="34" charset="0"/>
                <a:ea typeface="Aptos Display" pitchFamily="34" charset="-122"/>
                <a:cs typeface="Aptos Display" pitchFamily="34" charset="-120"/>
              </a:rPr>
              <a:t>2</a:t>
            </a:r>
            <a:endParaRPr lang="en-US" sz="2200" dirty="0"/>
          </a:p>
        </p:txBody>
      </p:sp>
      <p:sp>
        <p:nvSpPr>
          <p:cNvPr id="19" name="Text 16"/>
          <p:cNvSpPr txBox="1"/>
          <p:nvPr/>
        </p:nvSpPr>
        <p:spPr>
          <a:xfrm>
            <a:off x="4984394" y="2414016"/>
            <a:ext cx="2661818" cy="256032"/>
          </a:xfrm>
          <a:prstGeom prst="rect">
            <a:avLst/>
          </a:prstGeom>
          <a:noFill/>
          <a:ln/>
        </p:spPr>
        <p:txBody>
          <a:bodyPr wrap="square" lIns="0" tIns="0" rIns="0" bIns="0" rtlCol="0" anchor="t"/>
          <a:lstStyle/>
          <a:p>
            <a:pPr algn="l" indent="0" marL="0">
              <a:buNone/>
            </a:pPr>
            <a:r>
              <a:rPr lang="en-US" sz="1360" b="1" dirty="0">
                <a:solidFill>
                  <a:srgbClr val="243B53"/>
                </a:solidFill>
                <a:latin typeface="Aptos" pitchFamily="34" charset="0"/>
                <a:ea typeface="Aptos" pitchFamily="34" charset="-122"/>
                <a:cs typeface="Aptos" pitchFamily="34" charset="-120"/>
              </a:rPr>
              <a:t>Escuchar</a:t>
            </a:r>
            <a:endParaRPr lang="en-US" sz="1360" dirty="0"/>
          </a:p>
        </p:txBody>
      </p:sp>
      <p:sp>
        <p:nvSpPr>
          <p:cNvPr id="20" name="Text 17"/>
          <p:cNvSpPr txBox="1"/>
          <p:nvPr/>
        </p:nvSpPr>
        <p:spPr>
          <a:xfrm>
            <a:off x="4545482" y="2724912"/>
            <a:ext cx="3100730" cy="402336"/>
          </a:xfrm>
          <a:prstGeom prst="rect">
            <a:avLst/>
          </a:prstGeom>
          <a:noFill/>
          <a:ln/>
        </p:spPr>
        <p:txBody>
          <a:bodyPr wrap="square" lIns="0" tIns="0" rIns="0" bIns="0" rtlCol="0" anchor="t"/>
          <a:lstStyle/>
          <a:p>
            <a:pPr algn="l" indent="0" marL="0">
              <a:lnSpc>
                <a:spcPct val="110000"/>
              </a:lnSpc>
              <a:buNone/>
            </a:pPr>
            <a:r>
              <a:rPr lang="en-US" sz="1020" dirty="0">
                <a:solidFill>
                  <a:srgbClr val="52606D"/>
                </a:solidFill>
                <a:latin typeface="Aptos" pitchFamily="34" charset="0"/>
                <a:ea typeface="Aptos" pitchFamily="34" charset="-122"/>
                <a:cs typeface="Aptos" pitchFamily="34" charset="-120"/>
              </a:rPr>
              <a:t>Un objeto propio recibe esa lista y se queda con las marcas de cada prueba.</a:t>
            </a:r>
            <a:endParaRPr lang="en-US" sz="1020" dirty="0"/>
          </a:p>
        </p:txBody>
      </p:sp>
      <p:sp>
        <p:nvSpPr>
          <p:cNvPr id="21" name="Shape 18"/>
          <p:cNvSpPr/>
          <p:nvPr/>
        </p:nvSpPr>
        <p:spPr>
          <a:xfrm>
            <a:off x="7993685" y="2231136"/>
            <a:ext cx="3539642" cy="969264"/>
          </a:xfrm>
          <a:prstGeom prst="rect">
            <a:avLst/>
          </a:prstGeom>
          <a:solidFill>
            <a:srgbClr val="FFFFFF"/>
          </a:solidFill>
          <a:ln w="12700">
            <a:solidFill>
              <a:srgbClr val="FFFFFF"/>
            </a:solidFill>
            <a:prstDash val="solid"/>
          </a:ln>
        </p:spPr>
      </p:sp>
      <p:sp>
        <p:nvSpPr>
          <p:cNvPr id="22" name="Shape 19"/>
          <p:cNvSpPr/>
          <p:nvPr/>
        </p:nvSpPr>
        <p:spPr>
          <a:xfrm>
            <a:off x="7993685" y="2231136"/>
            <a:ext cx="3539642" cy="54864"/>
          </a:xfrm>
          <a:prstGeom prst="rect">
            <a:avLst/>
          </a:prstGeom>
          <a:solidFill>
            <a:srgbClr val="102A43"/>
          </a:solidFill>
          <a:ln w="12700">
            <a:solidFill>
              <a:srgbClr val="102A43"/>
            </a:solidFill>
            <a:prstDash val="solid"/>
          </a:ln>
        </p:spPr>
      </p:sp>
      <p:sp>
        <p:nvSpPr>
          <p:cNvPr id="23" name="Text 20"/>
          <p:cNvSpPr txBox="1"/>
          <p:nvPr/>
        </p:nvSpPr>
        <p:spPr>
          <a:xfrm>
            <a:off x="8213141" y="2377440"/>
            <a:ext cx="365760" cy="310896"/>
          </a:xfrm>
          <a:prstGeom prst="rect">
            <a:avLst/>
          </a:prstGeom>
          <a:noFill/>
          <a:ln/>
        </p:spPr>
        <p:txBody>
          <a:bodyPr wrap="square" lIns="0" tIns="0" rIns="0" bIns="0" rtlCol="0" anchor="t"/>
          <a:lstStyle/>
          <a:p>
            <a:pPr algn="l" indent="0" marL="0">
              <a:buNone/>
            </a:pPr>
            <a:r>
              <a:rPr lang="en-US" sz="2200" b="1" dirty="0">
                <a:solidFill>
                  <a:srgbClr val="102A43"/>
                </a:solidFill>
                <a:latin typeface="Aptos Display" pitchFamily="34" charset="0"/>
                <a:ea typeface="Aptos Display" pitchFamily="34" charset="-122"/>
                <a:cs typeface="Aptos Display" pitchFamily="34" charset="-120"/>
              </a:rPr>
              <a:t>3</a:t>
            </a:r>
            <a:endParaRPr lang="en-US" sz="2200" dirty="0"/>
          </a:p>
        </p:txBody>
      </p:sp>
      <p:sp>
        <p:nvSpPr>
          <p:cNvPr id="24" name="Text 21"/>
          <p:cNvSpPr txBox="1"/>
          <p:nvPr/>
        </p:nvSpPr>
        <p:spPr>
          <a:xfrm>
            <a:off x="8652053" y="2414016"/>
            <a:ext cx="2661818" cy="256032"/>
          </a:xfrm>
          <a:prstGeom prst="rect">
            <a:avLst/>
          </a:prstGeom>
          <a:noFill/>
          <a:ln/>
        </p:spPr>
        <p:txBody>
          <a:bodyPr wrap="square" lIns="0" tIns="0" rIns="0" bIns="0" rtlCol="0" anchor="t"/>
          <a:lstStyle/>
          <a:p>
            <a:pPr algn="l" indent="0" marL="0">
              <a:buNone/>
            </a:pPr>
            <a:r>
              <a:rPr lang="en-US" sz="1360" b="1" dirty="0">
                <a:solidFill>
                  <a:srgbClr val="243B53"/>
                </a:solidFill>
                <a:latin typeface="Aptos" pitchFamily="34" charset="0"/>
                <a:ea typeface="Aptos" pitchFamily="34" charset="-122"/>
                <a:cs typeface="Aptos" pitchFamily="34" charset="-120"/>
              </a:rPr>
              <a:t>Cruzar</a:t>
            </a:r>
            <a:endParaRPr lang="en-US" sz="1360" dirty="0"/>
          </a:p>
        </p:txBody>
      </p:sp>
      <p:sp>
        <p:nvSpPr>
          <p:cNvPr id="25" name="Text 22"/>
          <p:cNvSpPr txBox="1"/>
          <p:nvPr/>
        </p:nvSpPr>
        <p:spPr>
          <a:xfrm>
            <a:off x="8213141" y="2724912"/>
            <a:ext cx="3100730" cy="402336"/>
          </a:xfrm>
          <a:prstGeom prst="rect">
            <a:avLst/>
          </a:prstGeom>
          <a:noFill/>
          <a:ln/>
        </p:spPr>
        <p:txBody>
          <a:bodyPr wrap="square" lIns="0" tIns="0" rIns="0" bIns="0" rtlCol="0" anchor="t"/>
          <a:lstStyle/>
          <a:p>
            <a:pPr algn="l" indent="0" marL="0">
              <a:lnSpc>
                <a:spcPct val="110000"/>
              </a:lnSpc>
              <a:buNone/>
            </a:pPr>
            <a:r>
              <a:rPr lang="en-US" sz="1020" dirty="0">
                <a:solidFill>
                  <a:srgbClr val="52606D"/>
                </a:solidFill>
                <a:latin typeface="Aptos" pitchFamily="34" charset="0"/>
                <a:ea typeface="Aptos" pitchFamily="34" charset="-122"/>
                <a:cs typeface="Aptos" pitchFamily="34" charset="-120"/>
              </a:rPr>
              <a:t>Se compara con los identificadores del archivo de requisitos.</a:t>
            </a:r>
            <a:endParaRPr lang="en-US" sz="1020" dirty="0"/>
          </a:p>
        </p:txBody>
      </p:sp>
      <p:sp>
        <p:nvSpPr>
          <p:cNvPr id="26" name="Shape 23"/>
          <p:cNvSpPr/>
          <p:nvPr/>
        </p:nvSpPr>
        <p:spPr>
          <a:xfrm>
            <a:off x="658368" y="3364992"/>
            <a:ext cx="6400800" cy="1883664"/>
          </a:xfrm>
          <a:prstGeom prst="roundRect">
            <a:avLst>
              <a:gd name="adj" fmla="val 1942"/>
            </a:avLst>
          </a:prstGeom>
          <a:solidFill>
            <a:srgbClr val="102A43"/>
          </a:solidFill>
          <a:ln w="12700">
            <a:solidFill>
              <a:srgbClr val="102A43"/>
            </a:solidFill>
            <a:prstDash val="solid"/>
          </a:ln>
        </p:spPr>
      </p:sp>
      <p:sp>
        <p:nvSpPr>
          <p:cNvPr id="27" name="Shape 24"/>
          <p:cNvSpPr/>
          <p:nvPr/>
        </p:nvSpPr>
        <p:spPr>
          <a:xfrm>
            <a:off x="786384" y="3474720"/>
            <a:ext cx="6144768" cy="310896"/>
          </a:xfrm>
          <a:prstGeom prst="roundRect">
            <a:avLst>
              <a:gd name="adj" fmla="val 8824"/>
            </a:avLst>
          </a:prstGeom>
          <a:solidFill>
            <a:srgbClr val="284B75"/>
          </a:solidFill>
          <a:ln w="12700">
            <a:solidFill>
              <a:srgbClr val="284B75"/>
            </a:solidFill>
            <a:prstDash val="solid"/>
          </a:ln>
        </p:spPr>
      </p:sp>
      <p:sp>
        <p:nvSpPr>
          <p:cNvPr id="28" name="Text 25"/>
          <p:cNvSpPr/>
          <p:nvPr/>
        </p:nvSpPr>
        <p:spPr>
          <a:xfrm>
            <a:off x="896112" y="3547872"/>
            <a:ext cx="5925312" cy="146304"/>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El objeto que escucha la recolección</a:t>
            </a:r>
            <a:endParaRPr lang="en-US" sz="1000" dirty="0"/>
          </a:p>
        </p:txBody>
      </p:sp>
      <p:pic>
        <p:nvPicPr>
          <p:cNvPr id="29"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77824" y="3931920"/>
            <a:ext cx="5980176" cy="1133856"/>
          </a:xfrm>
          <a:prstGeom prst="rect">
            <a:avLst/>
          </a:prstGeom>
        </p:spPr>
      </p:pic>
      <p:sp>
        <p:nvSpPr>
          <p:cNvPr id="30" name="Shape 26"/>
          <p:cNvSpPr/>
          <p:nvPr/>
        </p:nvSpPr>
        <p:spPr>
          <a:xfrm>
            <a:off x="7443216" y="3364992"/>
            <a:ext cx="4087368" cy="420624"/>
          </a:xfrm>
          <a:prstGeom prst="rect">
            <a:avLst/>
          </a:prstGeom>
          <a:solidFill>
            <a:srgbClr val="EDE6DA"/>
          </a:solidFill>
          <a:ln w="12700">
            <a:solidFill>
              <a:srgbClr val="EDE6DA"/>
            </a:solidFill>
            <a:prstDash val="solid"/>
          </a:ln>
        </p:spPr>
      </p:sp>
      <p:sp>
        <p:nvSpPr>
          <p:cNvPr id="31" name="Text 27"/>
          <p:cNvSpPr txBox="1"/>
          <p:nvPr/>
        </p:nvSpPr>
        <p:spPr>
          <a:xfrm>
            <a:off x="7626096" y="3401568"/>
            <a:ext cx="3749040" cy="182880"/>
          </a:xfrm>
          <a:prstGeom prst="rect">
            <a:avLst/>
          </a:prstGeom>
          <a:noFill/>
          <a:ln/>
        </p:spPr>
        <p:txBody>
          <a:bodyPr wrap="square" lIns="0" tIns="0" rIns="0" bIns="0" rtlCol="0" anchor="t"/>
          <a:lstStyle/>
          <a:p>
            <a:pPr algn="l" indent="0" marL="0">
              <a:buNone/>
            </a:pPr>
            <a:r>
              <a:rPr lang="en-US" sz="920" b="1" dirty="0">
                <a:solidFill>
                  <a:srgbClr val="102A43"/>
                </a:solidFill>
                <a:latin typeface="Consolas" pitchFamily="34" charset="0"/>
                <a:ea typeface="Consolas" pitchFamily="34" charset="-122"/>
                <a:cs typeface="Consolas" pitchFamily="34" charset="-120"/>
              </a:rPr>
              <a:t>pytest_collection_modifyitems</a:t>
            </a:r>
            <a:endParaRPr lang="en-US" sz="920" dirty="0"/>
          </a:p>
        </p:txBody>
      </p:sp>
      <p:sp>
        <p:nvSpPr>
          <p:cNvPr id="32" name="Text 28"/>
          <p:cNvSpPr txBox="1"/>
          <p:nvPr/>
        </p:nvSpPr>
        <p:spPr>
          <a:xfrm>
            <a:off x="7626096" y="3584448"/>
            <a:ext cx="3749040" cy="182880"/>
          </a:xfrm>
          <a:prstGeom prst="rect">
            <a:avLst/>
          </a:prstGeom>
          <a:noFill/>
          <a:ln/>
        </p:spPr>
        <p:txBody>
          <a:bodyPr wrap="square" lIns="0" tIns="0" rIns="0" bIns="0" rtlCol="0" anchor="t"/>
          <a:lstStyle/>
          <a:p>
            <a:pPr algn="l" indent="0" marL="0">
              <a:buNone/>
            </a:pPr>
            <a:r>
              <a:rPr lang="en-US" sz="920" dirty="0">
                <a:solidFill>
                  <a:srgbClr val="52606D"/>
                </a:solidFill>
                <a:latin typeface="Aptos" pitchFamily="34" charset="0"/>
                <a:ea typeface="Aptos" pitchFamily="34" charset="-122"/>
                <a:cs typeface="Aptos" pitchFamily="34" charset="-120"/>
              </a:rPr>
              <a:t>El punto del proceso donde la herramienta entrega la lista completa.</a:t>
            </a:r>
            <a:endParaRPr lang="en-US" sz="920" dirty="0"/>
          </a:p>
        </p:txBody>
      </p:sp>
      <p:sp>
        <p:nvSpPr>
          <p:cNvPr id="33" name="Shape 29"/>
          <p:cNvSpPr/>
          <p:nvPr/>
        </p:nvSpPr>
        <p:spPr>
          <a:xfrm>
            <a:off x="7443216" y="3840480"/>
            <a:ext cx="4087368" cy="420624"/>
          </a:xfrm>
          <a:prstGeom prst="rect">
            <a:avLst/>
          </a:prstGeom>
          <a:solidFill>
            <a:srgbClr val="FFFFFF"/>
          </a:solidFill>
          <a:ln w="12700">
            <a:solidFill>
              <a:srgbClr val="FFFFFF"/>
            </a:solidFill>
            <a:prstDash val="solid"/>
          </a:ln>
        </p:spPr>
      </p:sp>
      <p:sp>
        <p:nvSpPr>
          <p:cNvPr id="34" name="Text 30"/>
          <p:cNvSpPr txBox="1"/>
          <p:nvPr/>
        </p:nvSpPr>
        <p:spPr>
          <a:xfrm>
            <a:off x="7626096" y="3877056"/>
            <a:ext cx="3749040" cy="182880"/>
          </a:xfrm>
          <a:prstGeom prst="rect">
            <a:avLst/>
          </a:prstGeom>
          <a:noFill/>
          <a:ln/>
        </p:spPr>
        <p:txBody>
          <a:bodyPr wrap="square" lIns="0" tIns="0" rIns="0" bIns="0" rtlCol="0" anchor="t"/>
          <a:lstStyle/>
          <a:p>
            <a:pPr algn="l" indent="0" marL="0">
              <a:buNone/>
            </a:pPr>
            <a:r>
              <a:rPr lang="en-US" sz="920" b="1" dirty="0">
                <a:solidFill>
                  <a:srgbClr val="102A43"/>
                </a:solidFill>
                <a:latin typeface="Consolas" pitchFamily="34" charset="0"/>
                <a:ea typeface="Consolas" pitchFamily="34" charset="-122"/>
                <a:cs typeface="Consolas" pitchFamily="34" charset="-120"/>
              </a:rPr>
              <a:t>item.nodeid</a:t>
            </a:r>
            <a:endParaRPr lang="en-US" sz="920" dirty="0"/>
          </a:p>
        </p:txBody>
      </p:sp>
      <p:sp>
        <p:nvSpPr>
          <p:cNvPr id="35" name="Text 31"/>
          <p:cNvSpPr txBox="1"/>
          <p:nvPr/>
        </p:nvSpPr>
        <p:spPr>
          <a:xfrm>
            <a:off x="7626096" y="4059936"/>
            <a:ext cx="3749040" cy="182880"/>
          </a:xfrm>
          <a:prstGeom prst="rect">
            <a:avLst/>
          </a:prstGeom>
          <a:noFill/>
          <a:ln/>
        </p:spPr>
        <p:txBody>
          <a:bodyPr wrap="square" lIns="0" tIns="0" rIns="0" bIns="0" rtlCol="0" anchor="t"/>
          <a:lstStyle/>
          <a:p>
            <a:pPr algn="l" indent="0" marL="0">
              <a:buNone/>
            </a:pPr>
            <a:r>
              <a:rPr lang="en-US" sz="920" dirty="0">
                <a:solidFill>
                  <a:srgbClr val="52606D"/>
                </a:solidFill>
                <a:latin typeface="Aptos" pitchFamily="34" charset="0"/>
                <a:ea typeface="Aptos" pitchFamily="34" charset="-122"/>
                <a:cs typeface="Aptos" pitchFamily="34" charset="-120"/>
              </a:rPr>
              <a:t>El identificador de una prueba: archivo, nombre y caso.</a:t>
            </a:r>
            <a:endParaRPr lang="en-US" sz="920" dirty="0"/>
          </a:p>
        </p:txBody>
      </p:sp>
      <p:sp>
        <p:nvSpPr>
          <p:cNvPr id="36" name="Shape 32"/>
          <p:cNvSpPr/>
          <p:nvPr/>
        </p:nvSpPr>
        <p:spPr>
          <a:xfrm>
            <a:off x="7443216" y="4315968"/>
            <a:ext cx="4087368" cy="420624"/>
          </a:xfrm>
          <a:prstGeom prst="rect">
            <a:avLst/>
          </a:prstGeom>
          <a:solidFill>
            <a:srgbClr val="EDE6DA"/>
          </a:solidFill>
          <a:ln w="12700">
            <a:solidFill>
              <a:srgbClr val="EDE6DA"/>
            </a:solidFill>
            <a:prstDash val="solid"/>
          </a:ln>
        </p:spPr>
      </p:sp>
      <p:sp>
        <p:nvSpPr>
          <p:cNvPr id="37" name="Text 33"/>
          <p:cNvSpPr txBox="1"/>
          <p:nvPr/>
        </p:nvSpPr>
        <p:spPr>
          <a:xfrm>
            <a:off x="7626096" y="4352544"/>
            <a:ext cx="3749040" cy="182880"/>
          </a:xfrm>
          <a:prstGeom prst="rect">
            <a:avLst/>
          </a:prstGeom>
          <a:noFill/>
          <a:ln/>
        </p:spPr>
        <p:txBody>
          <a:bodyPr wrap="square" lIns="0" tIns="0" rIns="0" bIns="0" rtlCol="0" anchor="t"/>
          <a:lstStyle/>
          <a:p>
            <a:pPr algn="l" indent="0" marL="0">
              <a:buNone/>
            </a:pPr>
            <a:r>
              <a:rPr lang="en-US" sz="920" b="1" dirty="0">
                <a:solidFill>
                  <a:srgbClr val="102A43"/>
                </a:solidFill>
                <a:latin typeface="Consolas" pitchFamily="34" charset="0"/>
                <a:ea typeface="Consolas" pitchFamily="34" charset="-122"/>
                <a:cs typeface="Consolas" pitchFamily="34" charset="-120"/>
              </a:rPr>
              <a:t>iter_markers(name=...)</a:t>
            </a:r>
            <a:endParaRPr lang="en-US" sz="920" dirty="0"/>
          </a:p>
        </p:txBody>
      </p:sp>
      <p:sp>
        <p:nvSpPr>
          <p:cNvPr id="38" name="Text 34"/>
          <p:cNvSpPr txBox="1"/>
          <p:nvPr/>
        </p:nvSpPr>
        <p:spPr>
          <a:xfrm>
            <a:off x="7626096" y="4535424"/>
            <a:ext cx="3749040" cy="182880"/>
          </a:xfrm>
          <a:prstGeom prst="rect">
            <a:avLst/>
          </a:prstGeom>
          <a:noFill/>
          <a:ln/>
        </p:spPr>
        <p:txBody>
          <a:bodyPr wrap="square" lIns="0" tIns="0" rIns="0" bIns="0" rtlCol="0" anchor="t"/>
          <a:lstStyle/>
          <a:p>
            <a:pPr algn="l" indent="0" marL="0">
              <a:buNone/>
            </a:pPr>
            <a:r>
              <a:rPr lang="en-US" sz="920" dirty="0">
                <a:solidFill>
                  <a:srgbClr val="52606D"/>
                </a:solidFill>
                <a:latin typeface="Aptos" pitchFamily="34" charset="0"/>
                <a:ea typeface="Aptos" pitchFamily="34" charset="-122"/>
                <a:cs typeface="Aptos" pitchFamily="34" charset="-120"/>
              </a:rPr>
              <a:t>Recorre las marcas de ese nombre, vengan de la función o del caso.</a:t>
            </a:r>
            <a:endParaRPr lang="en-US" sz="920" dirty="0"/>
          </a:p>
        </p:txBody>
      </p:sp>
      <p:sp>
        <p:nvSpPr>
          <p:cNvPr id="39" name="Shape 35"/>
          <p:cNvSpPr/>
          <p:nvPr/>
        </p:nvSpPr>
        <p:spPr>
          <a:xfrm>
            <a:off x="7443216" y="4791456"/>
            <a:ext cx="4087368" cy="420624"/>
          </a:xfrm>
          <a:prstGeom prst="rect">
            <a:avLst/>
          </a:prstGeom>
          <a:solidFill>
            <a:srgbClr val="FFFFFF"/>
          </a:solidFill>
          <a:ln w="12700">
            <a:solidFill>
              <a:srgbClr val="FFFFFF"/>
            </a:solidFill>
            <a:prstDash val="solid"/>
          </a:ln>
        </p:spPr>
      </p:sp>
      <p:sp>
        <p:nvSpPr>
          <p:cNvPr id="40" name="Text 36"/>
          <p:cNvSpPr txBox="1"/>
          <p:nvPr/>
        </p:nvSpPr>
        <p:spPr>
          <a:xfrm>
            <a:off x="7626096" y="4828032"/>
            <a:ext cx="3749040" cy="182880"/>
          </a:xfrm>
          <a:prstGeom prst="rect">
            <a:avLst/>
          </a:prstGeom>
          <a:noFill/>
          <a:ln/>
        </p:spPr>
        <p:txBody>
          <a:bodyPr wrap="square" lIns="0" tIns="0" rIns="0" bIns="0" rtlCol="0" anchor="t"/>
          <a:lstStyle/>
          <a:p>
            <a:pPr algn="l" indent="0" marL="0">
              <a:buNone/>
            </a:pPr>
            <a:r>
              <a:rPr lang="en-US" sz="920" b="1" dirty="0">
                <a:solidFill>
                  <a:srgbClr val="102A43"/>
                </a:solidFill>
                <a:latin typeface="Consolas" pitchFamily="34" charset="0"/>
                <a:ea typeface="Consolas" pitchFamily="34" charset="-122"/>
                <a:cs typeface="Consolas" pitchFamily="34" charset="-120"/>
              </a:rPr>
              <a:t>m.args[0]</a:t>
            </a:r>
            <a:endParaRPr lang="en-US" sz="920" dirty="0"/>
          </a:p>
        </p:txBody>
      </p:sp>
      <p:sp>
        <p:nvSpPr>
          <p:cNvPr id="41" name="Text 37"/>
          <p:cNvSpPr txBox="1"/>
          <p:nvPr/>
        </p:nvSpPr>
        <p:spPr>
          <a:xfrm>
            <a:off x="7626096" y="5010912"/>
            <a:ext cx="3749040" cy="182880"/>
          </a:xfrm>
          <a:prstGeom prst="rect">
            <a:avLst/>
          </a:prstGeom>
          <a:noFill/>
          <a:ln/>
        </p:spPr>
        <p:txBody>
          <a:bodyPr wrap="square" lIns="0" tIns="0" rIns="0" bIns="0" rtlCol="0" anchor="t"/>
          <a:lstStyle/>
          <a:p>
            <a:pPr algn="l" indent="0" marL="0">
              <a:buNone/>
            </a:pPr>
            <a:r>
              <a:rPr lang="en-US" sz="920" dirty="0">
                <a:solidFill>
                  <a:srgbClr val="52606D"/>
                </a:solidFill>
                <a:latin typeface="Aptos" pitchFamily="34" charset="0"/>
                <a:ea typeface="Aptos" pitchFamily="34" charset="-122"/>
                <a:cs typeface="Aptos" pitchFamily="34" charset="-120"/>
              </a:rPr>
              <a:t>El primer argumento de la marca. Aquí, el texto RF-01.</a:t>
            </a:r>
            <a:endParaRPr lang="en-US" sz="920" dirty="0"/>
          </a:p>
        </p:txBody>
      </p:sp>
      <p:sp>
        <p:nvSpPr>
          <p:cNvPr id="42" name="Shape 38"/>
          <p:cNvSpPr/>
          <p:nvPr/>
        </p:nvSpPr>
        <p:spPr>
          <a:xfrm>
            <a:off x="658368" y="5650992"/>
            <a:ext cx="10874959" cy="548640"/>
          </a:xfrm>
          <a:prstGeom prst="rect">
            <a:avLst/>
          </a:prstGeom>
          <a:solidFill>
            <a:srgbClr val="102A43"/>
          </a:solidFill>
          <a:ln w="12700">
            <a:solidFill>
              <a:srgbClr val="102A43"/>
            </a:solidFill>
            <a:prstDash val="solid"/>
          </a:ln>
        </p:spPr>
      </p:sp>
      <p:sp>
        <p:nvSpPr>
          <p:cNvPr id="43" name="Text 39"/>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La lista de pruebas se puede leer sin que ninguna prueba corra.</a:t>
            </a:r>
            <a:endParaRPr lang="en-US" sz="138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33</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3 · LA EVIDENCIA</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La matriz del proyecto, generada</a:t>
            </a:r>
            <a:endParaRPr lang="en-US" sz="3000" dirty="0"/>
          </a:p>
        </p:txBody>
      </p:sp>
      <p:sp>
        <p:nvSpPr>
          <p:cNvPr id="10" name="Text 7"/>
          <p:cNvSpPr txBox="1"/>
          <p:nvPr/>
        </p:nvSpPr>
        <p:spPr>
          <a:xfrm>
            <a:off x="658368" y="1664208"/>
            <a:ext cx="10424160" cy="347472"/>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Esta salida no se escribió: se produjo. Y se vuelve a producir cuando se quiera.</a:t>
            </a:r>
            <a:endParaRPr lang="en-US" sz="1420" dirty="0"/>
          </a:p>
        </p:txBody>
      </p:sp>
      <p:sp>
        <p:nvSpPr>
          <p:cNvPr id="11" name="Shape 8"/>
          <p:cNvSpPr/>
          <p:nvPr/>
        </p:nvSpPr>
        <p:spPr>
          <a:xfrm>
            <a:off x="658368" y="2231136"/>
            <a:ext cx="5943600" cy="2761488"/>
          </a:xfrm>
          <a:prstGeom prst="roundRect">
            <a:avLst>
              <a:gd name="adj" fmla="val 1325"/>
            </a:avLst>
          </a:prstGeom>
          <a:solidFill>
            <a:srgbClr val="0F1720"/>
          </a:solidFill>
          <a:ln w="12700">
            <a:solidFill>
              <a:srgbClr val="0F1720"/>
            </a:solidFill>
            <a:prstDash val="solid"/>
          </a:ln>
        </p:spPr>
      </p:sp>
      <p:sp>
        <p:nvSpPr>
          <p:cNvPr id="12" name="Shape 9"/>
          <p:cNvSpPr/>
          <p:nvPr/>
        </p:nvSpPr>
        <p:spPr>
          <a:xfrm>
            <a:off x="786384" y="2340864"/>
            <a:ext cx="5687568" cy="310896"/>
          </a:xfrm>
          <a:prstGeom prst="roundRect">
            <a:avLst>
              <a:gd name="adj" fmla="val 8824"/>
            </a:avLst>
          </a:prstGeom>
          <a:solidFill>
            <a:srgbClr val="1E2937"/>
          </a:solidFill>
          <a:ln w="12700">
            <a:solidFill>
              <a:srgbClr val="1E2937"/>
            </a:solidFill>
            <a:prstDash val="solid"/>
          </a:ln>
        </p:spPr>
      </p:sp>
      <p:sp>
        <p:nvSpPr>
          <p:cNvPr id="13" name="Text 10"/>
          <p:cNvSpPr/>
          <p:nvPr/>
        </p:nvSpPr>
        <p:spPr>
          <a:xfrm>
            <a:off x="914400" y="2414016"/>
            <a:ext cx="5431536" cy="128016"/>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uv run python trazabilidad.py</a:t>
            </a:r>
            <a:endParaRPr lang="en-US" sz="1000" dirty="0"/>
          </a:p>
        </p:txBody>
      </p:sp>
      <p:sp>
        <p:nvSpPr>
          <p:cNvPr id="14" name="Text 11"/>
          <p:cNvSpPr/>
          <p:nvPr/>
        </p:nvSpPr>
        <p:spPr>
          <a:xfrm>
            <a:off x="877824" y="2798064"/>
            <a:ext cx="5193792" cy="164592"/>
          </a:xfrm>
          <a:prstGeom prst="rect">
            <a:avLst/>
          </a:prstGeom>
          <a:noFill/>
          <a:ln/>
        </p:spPr>
        <p:txBody>
          <a:bodyPr wrap="square" lIns="0" tIns="0" rIns="0" bIns="0" rtlCol="0" anchor="ctr"/>
          <a:lstStyle/>
          <a:p>
            <a:pPr indent="0" marL="0">
              <a:buNone/>
            </a:pPr>
            <a:r>
              <a:rPr lang="en-US" sz="1040" dirty="0">
                <a:solidFill>
                  <a:srgbClr val="E6EEF7"/>
                </a:solidFill>
                <a:latin typeface="Consolas" pitchFamily="34" charset="0"/>
                <a:ea typeface="Consolas" pitchFamily="34" charset="-122"/>
                <a:cs typeface="Consolas" pitchFamily="34" charset="-120"/>
              </a:rPr>
              <a:t>requisito    pruebas   estado</a:t>
            </a:r>
            <a:endParaRPr lang="en-US" sz="1040" dirty="0"/>
          </a:p>
        </p:txBody>
      </p:sp>
      <p:sp>
        <p:nvSpPr>
          <p:cNvPr id="15" name="Text 12"/>
          <p:cNvSpPr/>
          <p:nvPr/>
        </p:nvSpPr>
        <p:spPr>
          <a:xfrm>
            <a:off x="877824" y="3054096"/>
            <a:ext cx="5193792" cy="164592"/>
          </a:xfrm>
          <a:prstGeom prst="rect">
            <a:avLst/>
          </a:prstGeom>
          <a:noFill/>
          <a:ln/>
        </p:spPr>
        <p:txBody>
          <a:bodyPr wrap="square" lIns="0" tIns="0" rIns="0" bIns="0" rtlCol="0" anchor="ctr"/>
          <a:lstStyle/>
          <a:p>
            <a:pPr indent="0" marL="0">
              <a:buNone/>
            </a:pPr>
            <a:r>
              <a:rPr lang="en-US" sz="1040" dirty="0">
                <a:solidFill>
                  <a:srgbClr val="E6EEF7"/>
                </a:solidFill>
                <a:latin typeface="Consolas" pitchFamily="34" charset="0"/>
                <a:ea typeface="Consolas" pitchFamily="34" charset="-122"/>
                <a:cs typeface="Consolas" pitchFamily="34" charset="-120"/>
              </a:rPr>
              <a:t>RF-01             10   cubierto</a:t>
            </a:r>
            <a:endParaRPr lang="en-US" sz="1040" dirty="0"/>
          </a:p>
        </p:txBody>
      </p:sp>
      <p:sp>
        <p:nvSpPr>
          <p:cNvPr id="16" name="Text 13"/>
          <p:cNvSpPr/>
          <p:nvPr/>
        </p:nvSpPr>
        <p:spPr>
          <a:xfrm>
            <a:off x="877824" y="3310128"/>
            <a:ext cx="5193792" cy="164592"/>
          </a:xfrm>
          <a:prstGeom prst="rect">
            <a:avLst/>
          </a:prstGeom>
          <a:noFill/>
          <a:ln/>
        </p:spPr>
        <p:txBody>
          <a:bodyPr wrap="square" lIns="0" tIns="0" rIns="0" bIns="0" rtlCol="0" anchor="ctr"/>
          <a:lstStyle/>
          <a:p>
            <a:pPr indent="0" marL="0">
              <a:buNone/>
            </a:pPr>
            <a:r>
              <a:rPr lang="en-US" sz="1040" dirty="0">
                <a:solidFill>
                  <a:srgbClr val="E6EEF7"/>
                </a:solidFill>
                <a:latin typeface="Consolas" pitchFamily="34" charset="0"/>
                <a:ea typeface="Consolas" pitchFamily="34" charset="-122"/>
                <a:cs typeface="Consolas" pitchFamily="34" charset="-120"/>
              </a:rPr>
              <a:t>RF-02              3   cubierto</a:t>
            </a:r>
            <a:endParaRPr lang="en-US" sz="1040" dirty="0"/>
          </a:p>
        </p:txBody>
      </p:sp>
      <p:sp>
        <p:nvSpPr>
          <p:cNvPr id="17" name="Text 14"/>
          <p:cNvSpPr/>
          <p:nvPr/>
        </p:nvSpPr>
        <p:spPr>
          <a:xfrm>
            <a:off x="877824" y="3566160"/>
            <a:ext cx="5193792" cy="164592"/>
          </a:xfrm>
          <a:prstGeom prst="rect">
            <a:avLst/>
          </a:prstGeom>
          <a:noFill/>
          <a:ln/>
        </p:spPr>
        <p:txBody>
          <a:bodyPr wrap="square" lIns="0" tIns="0" rIns="0" bIns="0" rtlCol="0" anchor="ctr"/>
          <a:lstStyle/>
          <a:p>
            <a:pPr indent="0" marL="0">
              <a:buNone/>
            </a:pPr>
            <a:r>
              <a:rPr lang="en-US" sz="1040" dirty="0">
                <a:solidFill>
                  <a:srgbClr val="E6EEF7"/>
                </a:solidFill>
                <a:latin typeface="Consolas" pitchFamily="34" charset="0"/>
                <a:ea typeface="Consolas" pitchFamily="34" charset="-122"/>
                <a:cs typeface="Consolas" pitchFamily="34" charset="-120"/>
              </a:rPr>
              <a:t>RF-03              2   cubierto</a:t>
            </a:r>
            <a:endParaRPr lang="en-US" sz="1040" dirty="0"/>
          </a:p>
        </p:txBody>
      </p:sp>
      <p:sp>
        <p:nvSpPr>
          <p:cNvPr id="18" name="Text 15"/>
          <p:cNvSpPr/>
          <p:nvPr/>
        </p:nvSpPr>
        <p:spPr>
          <a:xfrm>
            <a:off x="877824" y="3822192"/>
            <a:ext cx="5193792" cy="164592"/>
          </a:xfrm>
          <a:prstGeom prst="rect">
            <a:avLst/>
          </a:prstGeom>
          <a:noFill/>
          <a:ln/>
        </p:spPr>
        <p:txBody>
          <a:bodyPr wrap="square" lIns="0" tIns="0" rIns="0" bIns="0" rtlCol="0" anchor="ctr"/>
          <a:lstStyle/>
          <a:p>
            <a:pPr indent="0" marL="0">
              <a:buNone/>
            </a:pPr>
            <a:r>
              <a:rPr lang="en-US" sz="1040" dirty="0">
                <a:solidFill>
                  <a:srgbClr val="E6EEF7"/>
                </a:solidFill>
                <a:latin typeface="Consolas" pitchFamily="34" charset="0"/>
                <a:ea typeface="Consolas" pitchFamily="34" charset="-122"/>
                <a:cs typeface="Consolas" pitchFamily="34" charset="-120"/>
              </a:rPr>
              <a:t>RF-04              4   cubierto</a:t>
            </a:r>
            <a:endParaRPr lang="en-US" sz="1040" dirty="0"/>
          </a:p>
        </p:txBody>
      </p:sp>
      <p:sp>
        <p:nvSpPr>
          <p:cNvPr id="19" name="Text 16"/>
          <p:cNvSpPr/>
          <p:nvPr/>
        </p:nvSpPr>
        <p:spPr>
          <a:xfrm>
            <a:off x="877824" y="4078224"/>
            <a:ext cx="5193792" cy="164592"/>
          </a:xfrm>
          <a:prstGeom prst="rect">
            <a:avLst/>
          </a:prstGeom>
          <a:noFill/>
          <a:ln/>
        </p:spPr>
        <p:txBody>
          <a:bodyPr wrap="square" lIns="0" tIns="0" rIns="0" bIns="0" rtlCol="0" anchor="ctr"/>
          <a:lstStyle/>
          <a:p>
            <a:pPr indent="0" marL="0">
              <a:buNone/>
            </a:pPr>
            <a:r>
              <a:rPr lang="en-US" sz="1040" dirty="0">
                <a:solidFill>
                  <a:srgbClr val="E6EEF7"/>
                </a:solidFill>
                <a:latin typeface="Consolas" pitchFamily="34" charset="0"/>
                <a:ea typeface="Consolas" pitchFamily="34" charset="-122"/>
                <a:cs typeface="Consolas" pitchFamily="34" charset="-120"/>
              </a:rPr>
              <a:t>RF-05              0   SIN PRUEBA</a:t>
            </a:r>
            <a:endParaRPr lang="en-US" sz="1040" dirty="0"/>
          </a:p>
        </p:txBody>
      </p:sp>
      <p:sp>
        <p:nvSpPr>
          <p:cNvPr id="20" name="Text 17"/>
          <p:cNvSpPr/>
          <p:nvPr/>
        </p:nvSpPr>
        <p:spPr>
          <a:xfrm>
            <a:off x="877824" y="4334256"/>
            <a:ext cx="5193792" cy="164592"/>
          </a:xfrm>
          <a:prstGeom prst="rect">
            <a:avLst/>
          </a:prstGeom>
          <a:noFill/>
          <a:ln/>
        </p:spPr>
        <p:txBody>
          <a:bodyPr wrap="square" lIns="0" tIns="0" rIns="0" bIns="0" rtlCol="0" anchor="ctr"/>
          <a:lstStyle/>
          <a:p>
            <a:pPr indent="0" marL="0">
              <a:buNone/>
            </a:pPr>
            <a:r>
              <a:rPr lang="en-US" sz="1040" dirty="0">
                <a:solidFill>
                  <a:srgbClr val="E6EEF7"/>
                </a:solidFill>
                <a:latin typeface="Consolas" pitchFamily="34" charset="0"/>
                <a:ea typeface="Consolas" pitchFamily="34" charset="-122"/>
                <a:cs typeface="Consolas" pitchFamily="34" charset="-120"/>
              </a:rPr>
              <a:t>RF-06              1   cubierto</a:t>
            </a:r>
            <a:endParaRPr lang="en-US" sz="1040" dirty="0"/>
          </a:p>
        </p:txBody>
      </p:sp>
      <p:sp>
        <p:nvSpPr>
          <p:cNvPr id="21" name="Text 18"/>
          <p:cNvSpPr/>
          <p:nvPr/>
        </p:nvSpPr>
        <p:spPr>
          <a:xfrm>
            <a:off x="877824" y="4590288"/>
            <a:ext cx="5193792" cy="164592"/>
          </a:xfrm>
          <a:prstGeom prst="rect">
            <a:avLst/>
          </a:prstGeom>
          <a:noFill/>
          <a:ln/>
        </p:spPr>
        <p:txBody>
          <a:bodyPr wrap="square" lIns="0" tIns="0" rIns="0" bIns="0" rtlCol="0" anchor="ctr"/>
          <a:lstStyle/>
          <a:p>
            <a:pPr indent="0" marL="0">
              <a:buNone/>
            </a:pPr>
            <a:r>
              <a:rPr lang="en-US" sz="1040" dirty="0">
                <a:solidFill>
                  <a:srgbClr val="E6EEF7"/>
                </a:solidFill>
                <a:latin typeface="Consolas" pitchFamily="34" charset="0"/>
                <a:ea typeface="Consolas" pitchFamily="34" charset="-122"/>
                <a:cs typeface="Consolas" pitchFamily="34" charset="-120"/>
              </a:rPr>
              <a:t>Pruebas sin requisito: 3</a:t>
            </a:r>
            <a:endParaRPr lang="en-US" sz="1040" dirty="0"/>
          </a:p>
        </p:txBody>
      </p:sp>
      <p:sp>
        <p:nvSpPr>
          <p:cNvPr id="22" name="Shape 19"/>
          <p:cNvSpPr/>
          <p:nvPr/>
        </p:nvSpPr>
        <p:spPr>
          <a:xfrm>
            <a:off x="731520" y="4059936"/>
            <a:ext cx="54864" cy="201168"/>
          </a:xfrm>
          <a:prstGeom prst="rect">
            <a:avLst/>
          </a:prstGeom>
          <a:solidFill>
            <a:srgbClr val="B3181E"/>
          </a:solidFill>
          <a:ln w="12700">
            <a:solidFill>
              <a:srgbClr val="B3181E"/>
            </a:solidFill>
            <a:prstDash val="solid"/>
          </a:ln>
        </p:spPr>
      </p:sp>
      <p:sp>
        <p:nvSpPr>
          <p:cNvPr id="23" name="Shape 20"/>
          <p:cNvSpPr/>
          <p:nvPr/>
        </p:nvSpPr>
        <p:spPr>
          <a:xfrm>
            <a:off x="6821424" y="2231136"/>
            <a:ext cx="4718304" cy="804672"/>
          </a:xfrm>
          <a:prstGeom prst="rect">
            <a:avLst/>
          </a:prstGeom>
          <a:solidFill>
            <a:srgbClr val="FFFFFF"/>
          </a:solidFill>
          <a:ln w="12700">
            <a:solidFill>
              <a:srgbClr val="FFFFFF"/>
            </a:solidFill>
            <a:prstDash val="solid"/>
          </a:ln>
        </p:spPr>
      </p:sp>
      <p:sp>
        <p:nvSpPr>
          <p:cNvPr id="24" name="Shape 21"/>
          <p:cNvSpPr/>
          <p:nvPr/>
        </p:nvSpPr>
        <p:spPr>
          <a:xfrm>
            <a:off x="6821424" y="2231136"/>
            <a:ext cx="54864" cy="804672"/>
          </a:xfrm>
          <a:prstGeom prst="rect">
            <a:avLst/>
          </a:prstGeom>
          <a:solidFill>
            <a:srgbClr val="8A6A12"/>
          </a:solidFill>
          <a:ln w="12700">
            <a:solidFill>
              <a:srgbClr val="8A6A12"/>
            </a:solidFill>
            <a:prstDash val="solid"/>
          </a:ln>
        </p:spPr>
      </p:sp>
      <p:sp>
        <p:nvSpPr>
          <p:cNvPr id="25" name="Text 22"/>
          <p:cNvSpPr txBox="1"/>
          <p:nvPr/>
        </p:nvSpPr>
        <p:spPr>
          <a:xfrm>
            <a:off x="7059168" y="2340864"/>
            <a:ext cx="4206240" cy="182880"/>
          </a:xfrm>
          <a:prstGeom prst="rect">
            <a:avLst/>
          </a:prstGeom>
          <a:noFill/>
          <a:ln/>
        </p:spPr>
        <p:txBody>
          <a:bodyPr wrap="square" lIns="0" tIns="0" rIns="0" bIns="0" rtlCol="0" anchor="t"/>
          <a:lstStyle/>
          <a:p>
            <a:pPr algn="l" indent="0" marL="0">
              <a:buNone/>
            </a:pPr>
            <a:r>
              <a:rPr lang="en-US" sz="900" b="1" spc="100" kern="0" dirty="0">
                <a:solidFill>
                  <a:srgbClr val="8A6A12"/>
                </a:solidFill>
                <a:latin typeface="Aptos" pitchFamily="34" charset="0"/>
                <a:ea typeface="Aptos" pitchFamily="34" charset="-122"/>
                <a:cs typeface="Aptos" pitchFamily="34" charset="-120"/>
              </a:rPr>
              <a:t>EL REPARTO</a:t>
            </a:r>
            <a:endParaRPr lang="en-US" sz="900" dirty="0"/>
          </a:p>
        </p:txBody>
      </p:sp>
      <p:sp>
        <p:nvSpPr>
          <p:cNvPr id="26" name="Text 23"/>
          <p:cNvSpPr txBox="1"/>
          <p:nvPr/>
        </p:nvSpPr>
        <p:spPr>
          <a:xfrm>
            <a:off x="7059168" y="2560320"/>
            <a:ext cx="4261104" cy="402336"/>
          </a:xfrm>
          <a:prstGeom prst="rect">
            <a:avLst/>
          </a:prstGeom>
          <a:noFill/>
          <a:ln/>
        </p:spPr>
        <p:txBody>
          <a:bodyPr wrap="square" lIns="0" tIns="0" rIns="0" bIns="0" rtlCol="0" anchor="t"/>
          <a:lstStyle/>
          <a:p>
            <a:pPr algn="l" indent="0" marL="0">
              <a:lnSpc>
                <a:spcPct val="110000"/>
              </a:lnSpc>
              <a:buNone/>
            </a:pPr>
            <a:r>
              <a:rPr lang="en-US" sz="1060" dirty="0">
                <a:solidFill>
                  <a:srgbClr val="243B53"/>
                </a:solidFill>
                <a:latin typeface="Aptos" pitchFamily="34" charset="0"/>
                <a:ea typeface="Aptos" pitchFamily="34" charset="-122"/>
                <a:cs typeface="Aptos" pitchFamily="34" charset="-120"/>
              </a:rPr>
              <a:t>Diez de las veinte pruebas marcadas están sobre RF-01, el requisito más simple del sistema.</a:t>
            </a:r>
            <a:endParaRPr lang="en-US" sz="1060" dirty="0"/>
          </a:p>
        </p:txBody>
      </p:sp>
      <p:sp>
        <p:nvSpPr>
          <p:cNvPr id="27" name="Shape 24"/>
          <p:cNvSpPr/>
          <p:nvPr/>
        </p:nvSpPr>
        <p:spPr>
          <a:xfrm>
            <a:off x="6821424" y="3145536"/>
            <a:ext cx="4718304" cy="804672"/>
          </a:xfrm>
          <a:prstGeom prst="rect">
            <a:avLst/>
          </a:prstGeom>
          <a:solidFill>
            <a:srgbClr val="FFFFFF"/>
          </a:solidFill>
          <a:ln w="12700">
            <a:solidFill>
              <a:srgbClr val="FFFFFF"/>
            </a:solidFill>
            <a:prstDash val="solid"/>
          </a:ln>
        </p:spPr>
      </p:sp>
      <p:sp>
        <p:nvSpPr>
          <p:cNvPr id="28" name="Shape 25"/>
          <p:cNvSpPr/>
          <p:nvPr/>
        </p:nvSpPr>
        <p:spPr>
          <a:xfrm>
            <a:off x="6821424" y="3145536"/>
            <a:ext cx="54864" cy="804672"/>
          </a:xfrm>
          <a:prstGeom prst="rect">
            <a:avLst/>
          </a:prstGeom>
          <a:solidFill>
            <a:srgbClr val="B3181E"/>
          </a:solidFill>
          <a:ln w="12700">
            <a:solidFill>
              <a:srgbClr val="B3181E"/>
            </a:solidFill>
            <a:prstDash val="solid"/>
          </a:ln>
        </p:spPr>
      </p:sp>
      <p:sp>
        <p:nvSpPr>
          <p:cNvPr id="29" name="Text 26"/>
          <p:cNvSpPr txBox="1"/>
          <p:nvPr/>
        </p:nvSpPr>
        <p:spPr>
          <a:xfrm>
            <a:off x="7059168" y="3255264"/>
            <a:ext cx="4206240" cy="182880"/>
          </a:xfrm>
          <a:prstGeom prst="rect">
            <a:avLst/>
          </a:prstGeom>
          <a:noFill/>
          <a:ln/>
        </p:spPr>
        <p:txBody>
          <a:bodyPr wrap="square" lIns="0" tIns="0" rIns="0" bIns="0" rtlCol="0" anchor="t"/>
          <a:lstStyle/>
          <a:p>
            <a:pPr algn="l" indent="0" marL="0">
              <a:buNone/>
            </a:pPr>
            <a:r>
              <a:rPr lang="en-US" sz="900" b="1" spc="100" kern="0" dirty="0">
                <a:solidFill>
                  <a:srgbClr val="B3181E"/>
                </a:solidFill>
                <a:latin typeface="Aptos" pitchFamily="34" charset="0"/>
                <a:ea typeface="Aptos" pitchFamily="34" charset="-122"/>
                <a:cs typeface="Aptos" pitchFamily="34" charset="-120"/>
              </a:rPr>
              <a:t>EL REQUISITO SIN PRUEBA</a:t>
            </a:r>
            <a:endParaRPr lang="en-US" sz="900" dirty="0"/>
          </a:p>
        </p:txBody>
      </p:sp>
      <p:sp>
        <p:nvSpPr>
          <p:cNvPr id="30" name="Text 27"/>
          <p:cNvSpPr txBox="1"/>
          <p:nvPr/>
        </p:nvSpPr>
        <p:spPr>
          <a:xfrm>
            <a:off x="7059168" y="3474720"/>
            <a:ext cx="4261104" cy="402336"/>
          </a:xfrm>
          <a:prstGeom prst="rect">
            <a:avLst/>
          </a:prstGeom>
          <a:noFill/>
          <a:ln/>
        </p:spPr>
        <p:txBody>
          <a:bodyPr wrap="square" lIns="0" tIns="0" rIns="0" bIns="0" rtlCol="0" anchor="t"/>
          <a:lstStyle/>
          <a:p>
            <a:pPr algn="l" indent="0" marL="0">
              <a:lnSpc>
                <a:spcPct val="110000"/>
              </a:lnSpc>
              <a:buNone/>
            </a:pPr>
            <a:r>
              <a:rPr lang="en-US" sz="1060" dirty="0">
                <a:solidFill>
                  <a:srgbClr val="243B53"/>
                </a:solidFill>
                <a:latin typeface="Aptos" pitchFamily="34" charset="0"/>
                <a:ea typeface="Aptos" pitchFamily="34" charset="-122"/>
                <a:cs typeface="Aptos" pitchFamily="34" charset="-120"/>
              </a:rPr>
              <a:t>RF-05 tiene cero. La función de cancelación existe hace siete sesiones y nadie la probó.</a:t>
            </a:r>
            <a:endParaRPr lang="en-US" sz="1060" dirty="0"/>
          </a:p>
        </p:txBody>
      </p:sp>
      <p:sp>
        <p:nvSpPr>
          <p:cNvPr id="31" name="Shape 28"/>
          <p:cNvSpPr/>
          <p:nvPr/>
        </p:nvSpPr>
        <p:spPr>
          <a:xfrm>
            <a:off x="6821424" y="4059936"/>
            <a:ext cx="4718304" cy="804672"/>
          </a:xfrm>
          <a:prstGeom prst="rect">
            <a:avLst/>
          </a:prstGeom>
          <a:solidFill>
            <a:srgbClr val="FFFFFF"/>
          </a:solidFill>
          <a:ln w="12700">
            <a:solidFill>
              <a:srgbClr val="FFFFFF"/>
            </a:solidFill>
            <a:prstDash val="solid"/>
          </a:ln>
        </p:spPr>
      </p:sp>
      <p:sp>
        <p:nvSpPr>
          <p:cNvPr id="32" name="Shape 29"/>
          <p:cNvSpPr/>
          <p:nvPr/>
        </p:nvSpPr>
        <p:spPr>
          <a:xfrm>
            <a:off x="6821424" y="4059936"/>
            <a:ext cx="54864" cy="804672"/>
          </a:xfrm>
          <a:prstGeom prst="rect">
            <a:avLst/>
          </a:prstGeom>
          <a:solidFill>
            <a:srgbClr val="102A43"/>
          </a:solidFill>
          <a:ln w="12700">
            <a:solidFill>
              <a:srgbClr val="102A43"/>
            </a:solidFill>
            <a:prstDash val="solid"/>
          </a:ln>
        </p:spPr>
      </p:sp>
      <p:sp>
        <p:nvSpPr>
          <p:cNvPr id="33" name="Text 30"/>
          <p:cNvSpPr txBox="1"/>
          <p:nvPr/>
        </p:nvSpPr>
        <p:spPr>
          <a:xfrm>
            <a:off x="7059168" y="4169664"/>
            <a:ext cx="4206240" cy="182880"/>
          </a:xfrm>
          <a:prstGeom prst="rect">
            <a:avLst/>
          </a:prstGeom>
          <a:noFill/>
          <a:ln/>
        </p:spPr>
        <p:txBody>
          <a:bodyPr wrap="square" lIns="0" tIns="0" rIns="0" bIns="0" rtlCol="0" anchor="t"/>
          <a:lstStyle/>
          <a:p>
            <a:pPr algn="l" indent="0" marL="0">
              <a:buNone/>
            </a:pPr>
            <a:r>
              <a:rPr lang="en-US" sz="900" b="1" spc="100" kern="0" dirty="0">
                <a:solidFill>
                  <a:srgbClr val="102A43"/>
                </a:solidFill>
                <a:latin typeface="Aptos" pitchFamily="34" charset="0"/>
                <a:ea typeface="Aptos" pitchFamily="34" charset="-122"/>
                <a:cs typeface="Aptos" pitchFamily="34" charset="-120"/>
              </a:rPr>
              <a:t>LAS PRUEBAS SIN REQUISITO</a:t>
            </a:r>
            <a:endParaRPr lang="en-US" sz="900" dirty="0"/>
          </a:p>
        </p:txBody>
      </p:sp>
      <p:sp>
        <p:nvSpPr>
          <p:cNvPr id="34" name="Text 31"/>
          <p:cNvSpPr txBox="1"/>
          <p:nvPr/>
        </p:nvSpPr>
        <p:spPr>
          <a:xfrm>
            <a:off x="7059168" y="4389120"/>
            <a:ext cx="4261104" cy="402336"/>
          </a:xfrm>
          <a:prstGeom prst="rect">
            <a:avLst/>
          </a:prstGeom>
          <a:noFill/>
          <a:ln/>
        </p:spPr>
        <p:txBody>
          <a:bodyPr wrap="square" lIns="0" tIns="0" rIns="0" bIns="0" rtlCol="0" anchor="t"/>
          <a:lstStyle/>
          <a:p>
            <a:pPr algn="l" indent="0" marL="0">
              <a:lnSpc>
                <a:spcPct val="110000"/>
              </a:lnSpc>
              <a:buNone/>
            </a:pPr>
            <a:r>
              <a:rPr lang="en-US" sz="1060" dirty="0">
                <a:solidFill>
                  <a:srgbClr val="243B53"/>
                </a:solidFill>
                <a:latin typeface="Aptos" pitchFamily="34" charset="0"/>
                <a:ea typeface="Aptos" pitchFamily="34" charset="-122"/>
                <a:cs typeface="Aptos" pitchFamily="34" charset="-120"/>
              </a:rPr>
              <a:t>La de la fixture, que no prueba el sistema, y las dos de seguridad: no hay requisito de seguridad escrito.</a:t>
            </a:r>
            <a:endParaRPr lang="en-US" sz="1060" dirty="0"/>
          </a:p>
        </p:txBody>
      </p:sp>
      <p:sp>
        <p:nvSpPr>
          <p:cNvPr id="35" name="Text 32"/>
          <p:cNvSpPr txBox="1"/>
          <p:nvPr/>
        </p:nvSpPr>
        <p:spPr>
          <a:xfrm>
            <a:off x="658368" y="5157216"/>
            <a:ext cx="10874959" cy="274320"/>
          </a:xfrm>
          <a:prstGeom prst="rect">
            <a:avLst/>
          </a:prstGeom>
          <a:noFill/>
          <a:ln/>
        </p:spPr>
        <p:txBody>
          <a:bodyPr wrap="square" lIns="0" tIns="0" rIns="0" bIns="0" rtlCol="0" anchor="t"/>
          <a:lstStyle/>
          <a:p>
            <a:pPr algn="l" indent="0" marL="0">
              <a:buNone/>
            </a:pPr>
            <a:r>
              <a:rPr lang="en-US" sz="1240" dirty="0">
                <a:solidFill>
                  <a:srgbClr val="243B53"/>
                </a:solidFill>
                <a:latin typeface="Aptos" pitchFamily="34" charset="0"/>
                <a:ea typeface="Aptos" pitchFamily="34" charset="-122"/>
                <a:cs typeface="Aptos" pitchFamily="34" charset="-120"/>
              </a:rPr>
              <a:t>Y hay pruebas que no aparecen: las nueve de extremo a extremo corren con otro ejecutor, y este generador solo lee pytest.</a:t>
            </a:r>
            <a:endParaRPr lang="en-US" sz="1240" dirty="0"/>
          </a:p>
        </p:txBody>
      </p:sp>
      <p:sp>
        <p:nvSpPr>
          <p:cNvPr id="36" name="Shape 33"/>
          <p:cNvSpPr/>
          <p:nvPr/>
        </p:nvSpPr>
        <p:spPr>
          <a:xfrm>
            <a:off x="658368" y="5650992"/>
            <a:ext cx="10874959" cy="548640"/>
          </a:xfrm>
          <a:prstGeom prst="rect">
            <a:avLst/>
          </a:prstGeom>
          <a:solidFill>
            <a:srgbClr val="102A43"/>
          </a:solidFill>
          <a:ln w="12700">
            <a:solidFill>
              <a:srgbClr val="102A43"/>
            </a:solidFill>
            <a:prstDash val="solid"/>
          </a:ln>
        </p:spPr>
      </p:sp>
      <p:sp>
        <p:nvSpPr>
          <p:cNvPr id="37" name="Text 34"/>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Un hueco solo se puede ver contra algo. Hasta hoy no había contra qué.</a:t>
            </a:r>
            <a:endParaRPr lang="en-US" sz="138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34</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3 · LEER LOS HUECOS</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Siete sesiones con un requisito sin probar</a:t>
            </a:r>
            <a:endParaRPr lang="en-US" sz="3000" dirty="0"/>
          </a:p>
        </p:txBody>
      </p:sp>
      <p:sp>
        <p:nvSpPr>
          <p:cNvPr id="10" name="Text 7"/>
          <p:cNvSpPr txBox="1"/>
          <p:nvPr/>
        </p:nvSpPr>
        <p:spPr>
          <a:xfrm>
            <a:off x="658368" y="1664208"/>
            <a:ext cx="10424160" cy="347472"/>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El primer hueco es una falta. El segundo no es un veredicto: es una obligación de decidir.</a:t>
            </a:r>
            <a:endParaRPr lang="en-US" sz="1420" dirty="0"/>
          </a:p>
        </p:txBody>
      </p:sp>
      <p:sp>
        <p:nvSpPr>
          <p:cNvPr id="11" name="Shape 8"/>
          <p:cNvSpPr/>
          <p:nvPr/>
        </p:nvSpPr>
        <p:spPr>
          <a:xfrm>
            <a:off x="658368" y="2249424"/>
            <a:ext cx="5943600" cy="2157984"/>
          </a:xfrm>
          <a:prstGeom prst="rect">
            <a:avLst/>
          </a:prstGeom>
          <a:solidFill>
            <a:srgbClr val="F2E7D9"/>
          </a:solidFill>
          <a:ln w="12700">
            <a:solidFill>
              <a:srgbClr val="F2E7D9"/>
            </a:solidFill>
            <a:prstDash val="solid"/>
          </a:ln>
        </p:spPr>
      </p:sp>
      <p:sp>
        <p:nvSpPr>
          <p:cNvPr id="12" name="Shape 9"/>
          <p:cNvSpPr/>
          <p:nvPr/>
        </p:nvSpPr>
        <p:spPr>
          <a:xfrm>
            <a:off x="658368" y="2249424"/>
            <a:ext cx="54864" cy="2157984"/>
          </a:xfrm>
          <a:prstGeom prst="rect">
            <a:avLst/>
          </a:prstGeom>
          <a:solidFill>
            <a:srgbClr val="B3181E"/>
          </a:solidFill>
          <a:ln w="12700">
            <a:solidFill>
              <a:srgbClr val="B3181E"/>
            </a:solidFill>
            <a:prstDash val="solid"/>
          </a:ln>
        </p:spPr>
      </p:sp>
      <p:sp>
        <p:nvSpPr>
          <p:cNvPr id="13" name="Text 10"/>
          <p:cNvSpPr txBox="1"/>
          <p:nvPr/>
        </p:nvSpPr>
        <p:spPr>
          <a:xfrm>
            <a:off x="914400" y="2414016"/>
            <a:ext cx="4572000" cy="219456"/>
          </a:xfrm>
          <a:prstGeom prst="rect">
            <a:avLst/>
          </a:prstGeom>
          <a:noFill/>
          <a:ln/>
        </p:spPr>
        <p:txBody>
          <a:bodyPr wrap="square" lIns="0" tIns="0" rIns="0" bIns="0" rtlCol="0" anchor="t"/>
          <a:lstStyle/>
          <a:p>
            <a:pPr algn="l" indent="0" marL="0">
              <a:buNone/>
            </a:pPr>
            <a:r>
              <a:rPr lang="en-US" sz="960" b="1" spc="100" kern="0" dirty="0">
                <a:solidFill>
                  <a:srgbClr val="B3181E"/>
                </a:solidFill>
                <a:latin typeface="Aptos" pitchFamily="34" charset="0"/>
                <a:ea typeface="Aptos" pitchFamily="34" charset="-122"/>
                <a:cs typeface="Aptos" pitchFamily="34" charset="-120"/>
              </a:rPr>
              <a:t>RF-05 · SIN PRUEBA</a:t>
            </a:r>
            <a:endParaRPr lang="en-US" sz="960" dirty="0"/>
          </a:p>
        </p:txBody>
      </p:sp>
      <p:sp>
        <p:nvSpPr>
          <p:cNvPr id="14" name="Shape 11"/>
          <p:cNvSpPr/>
          <p:nvPr/>
        </p:nvSpPr>
        <p:spPr>
          <a:xfrm>
            <a:off x="914400" y="2706624"/>
            <a:ext cx="5431536" cy="1188720"/>
          </a:xfrm>
          <a:prstGeom prst="roundRect">
            <a:avLst>
              <a:gd name="adj" fmla="val 3077"/>
            </a:avLst>
          </a:prstGeom>
          <a:solidFill>
            <a:srgbClr val="102A43"/>
          </a:solidFill>
          <a:ln w="12700">
            <a:solidFill>
              <a:srgbClr val="102A43"/>
            </a:solidFill>
            <a:prstDash val="solid"/>
          </a:ln>
        </p:spPr>
      </p:sp>
      <p:pic>
        <p:nvPicPr>
          <p:cNvPr id="15"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33856" y="3273552"/>
            <a:ext cx="5010912" cy="438912"/>
          </a:xfrm>
          <a:prstGeom prst="rect">
            <a:avLst/>
          </a:prstGeom>
        </p:spPr>
      </p:pic>
      <p:sp>
        <p:nvSpPr>
          <p:cNvPr id="16" name="Text 12"/>
          <p:cNvSpPr txBox="1"/>
          <p:nvPr/>
        </p:nvSpPr>
        <p:spPr>
          <a:xfrm>
            <a:off x="914400" y="3968496"/>
            <a:ext cx="5431536" cy="365760"/>
          </a:xfrm>
          <a:prstGeom prst="rect">
            <a:avLst/>
          </a:prstGeom>
          <a:noFill/>
          <a:ln/>
        </p:spPr>
        <p:txBody>
          <a:bodyPr wrap="square" lIns="0" tIns="0" rIns="0" bIns="0" rtlCol="0" anchor="t"/>
          <a:lstStyle/>
          <a:p>
            <a:pPr algn="l" indent="0" marL="0">
              <a:lnSpc>
                <a:spcPct val="110000"/>
              </a:lnSpc>
              <a:buNone/>
            </a:pPr>
            <a:r>
              <a:rPr lang="en-US" sz="1100" dirty="0">
                <a:solidFill>
                  <a:srgbClr val="243B53"/>
                </a:solidFill>
                <a:latin typeface="Aptos" pitchFamily="34" charset="0"/>
                <a:ea typeface="Aptos" pitchFamily="34" charset="-122"/>
                <a:cs typeface="Aptos" pitchFamily="34" charset="-120"/>
              </a:rPr>
              <a:t>Está escrita, tiene su constante, y nunca nadie la probó. Una prueba que no existe no falla.</a:t>
            </a:r>
            <a:endParaRPr lang="en-US" sz="1100" dirty="0"/>
          </a:p>
        </p:txBody>
      </p:sp>
      <p:sp>
        <p:nvSpPr>
          <p:cNvPr id="17" name="Text 13"/>
          <p:cNvSpPr txBox="1"/>
          <p:nvPr/>
        </p:nvSpPr>
        <p:spPr>
          <a:xfrm>
            <a:off x="6821424" y="2249424"/>
            <a:ext cx="4718304" cy="201168"/>
          </a:xfrm>
          <a:prstGeom prst="rect">
            <a:avLst/>
          </a:prstGeom>
          <a:noFill/>
          <a:ln/>
        </p:spPr>
        <p:txBody>
          <a:bodyPr wrap="square" lIns="0" tIns="0" rIns="0" bIns="0" rtlCol="0" anchor="t"/>
          <a:lstStyle/>
          <a:p>
            <a:pPr algn="l" indent="0" marL="0">
              <a:buNone/>
            </a:pPr>
            <a:r>
              <a:rPr lang="en-US" sz="960" b="1" spc="130" kern="0" dirty="0">
                <a:solidFill>
                  <a:srgbClr val="D62027"/>
                </a:solidFill>
                <a:latin typeface="Aptos" pitchFamily="34" charset="0"/>
                <a:ea typeface="Aptos" pitchFamily="34" charset="-122"/>
                <a:cs typeface="Aptos" pitchFamily="34" charset="-120"/>
              </a:rPr>
              <a:t>UNA PRUEBA SIN REQUISITO ADMITE TRES LECTURAS</a:t>
            </a:r>
            <a:endParaRPr lang="en-US" sz="960" dirty="0"/>
          </a:p>
        </p:txBody>
      </p:sp>
      <p:sp>
        <p:nvSpPr>
          <p:cNvPr id="18" name="Shape 14"/>
          <p:cNvSpPr/>
          <p:nvPr/>
        </p:nvSpPr>
        <p:spPr>
          <a:xfrm>
            <a:off x="6821424" y="2523744"/>
            <a:ext cx="4718304" cy="530352"/>
          </a:xfrm>
          <a:prstGeom prst="rect">
            <a:avLst/>
          </a:prstGeom>
          <a:solidFill>
            <a:srgbClr val="FFFFFF"/>
          </a:solidFill>
          <a:ln w="12700">
            <a:solidFill>
              <a:srgbClr val="FFFFFF"/>
            </a:solidFill>
            <a:prstDash val="solid"/>
          </a:ln>
        </p:spPr>
      </p:sp>
      <p:sp>
        <p:nvSpPr>
          <p:cNvPr id="19" name="Shape 15"/>
          <p:cNvSpPr/>
          <p:nvPr/>
        </p:nvSpPr>
        <p:spPr>
          <a:xfrm>
            <a:off x="6821424" y="2523744"/>
            <a:ext cx="54864" cy="530352"/>
          </a:xfrm>
          <a:prstGeom prst="rect">
            <a:avLst/>
          </a:prstGeom>
          <a:solidFill>
            <a:srgbClr val="102A43"/>
          </a:solidFill>
          <a:ln w="12700">
            <a:solidFill>
              <a:srgbClr val="102A43"/>
            </a:solidFill>
            <a:prstDash val="solid"/>
          </a:ln>
        </p:spPr>
      </p:sp>
      <p:sp>
        <p:nvSpPr>
          <p:cNvPr id="20" name="Text 16"/>
          <p:cNvSpPr txBox="1"/>
          <p:nvPr/>
        </p:nvSpPr>
        <p:spPr>
          <a:xfrm>
            <a:off x="7059168" y="2578608"/>
            <a:ext cx="4297680" cy="201168"/>
          </a:xfrm>
          <a:prstGeom prst="rect">
            <a:avLst/>
          </a:prstGeom>
          <a:noFill/>
          <a:ln/>
        </p:spPr>
        <p:txBody>
          <a:bodyPr wrap="square" lIns="0" tIns="0" rIns="0" bIns="0" rtlCol="0" anchor="t"/>
          <a:lstStyle/>
          <a:p>
            <a:pPr algn="l" indent="0" marL="0">
              <a:buNone/>
            </a:pPr>
            <a:r>
              <a:rPr lang="en-US" sz="1140" b="1" dirty="0">
                <a:solidFill>
                  <a:srgbClr val="102A43"/>
                </a:solidFill>
                <a:latin typeface="Aptos" pitchFamily="34" charset="0"/>
                <a:ea typeface="Aptos" pitchFamily="34" charset="-122"/>
                <a:cs typeface="Aptos" pitchFamily="34" charset="-120"/>
              </a:rPr>
              <a:t>Falta un requisito</a:t>
            </a:r>
            <a:endParaRPr lang="en-US" sz="1140" dirty="0"/>
          </a:p>
        </p:txBody>
      </p:sp>
      <p:sp>
        <p:nvSpPr>
          <p:cNvPr id="21" name="Text 17"/>
          <p:cNvSpPr txBox="1"/>
          <p:nvPr/>
        </p:nvSpPr>
        <p:spPr>
          <a:xfrm>
            <a:off x="7059168" y="2788920"/>
            <a:ext cx="4297680" cy="219456"/>
          </a:xfrm>
          <a:prstGeom prst="rect">
            <a:avLst/>
          </a:prstGeom>
          <a:noFill/>
          <a:ln/>
        </p:spPr>
        <p:txBody>
          <a:bodyPr wrap="square" lIns="0" tIns="0" rIns="0" bIns="0" rtlCol="0" anchor="t"/>
          <a:lstStyle/>
          <a:p>
            <a:pPr algn="l" indent="0" marL="0">
              <a:buNone/>
            </a:pPr>
            <a:r>
              <a:rPr lang="en-US" sz="960" dirty="0">
                <a:solidFill>
                  <a:srgbClr val="52606D"/>
                </a:solidFill>
                <a:latin typeface="Aptos" pitchFamily="34" charset="0"/>
                <a:ea typeface="Aptos" pitchFamily="34" charset="-122"/>
                <a:cs typeface="Aptos" pitchFamily="34" charset="-120"/>
              </a:rPr>
              <a:t>Comprueba algo que el sistema promete y nadie escribió. Se escribe y se marca.</a:t>
            </a:r>
            <a:endParaRPr lang="en-US" sz="960" dirty="0"/>
          </a:p>
        </p:txBody>
      </p:sp>
      <p:sp>
        <p:nvSpPr>
          <p:cNvPr id="22" name="Shape 18"/>
          <p:cNvSpPr/>
          <p:nvPr/>
        </p:nvSpPr>
        <p:spPr>
          <a:xfrm>
            <a:off x="6821424" y="3127248"/>
            <a:ext cx="4718304" cy="530352"/>
          </a:xfrm>
          <a:prstGeom prst="rect">
            <a:avLst/>
          </a:prstGeom>
          <a:solidFill>
            <a:srgbClr val="EDE6DA"/>
          </a:solidFill>
          <a:ln w="12700">
            <a:solidFill>
              <a:srgbClr val="EDE6DA"/>
            </a:solidFill>
            <a:prstDash val="solid"/>
          </a:ln>
        </p:spPr>
      </p:sp>
      <p:sp>
        <p:nvSpPr>
          <p:cNvPr id="23" name="Shape 19"/>
          <p:cNvSpPr/>
          <p:nvPr/>
        </p:nvSpPr>
        <p:spPr>
          <a:xfrm>
            <a:off x="6821424" y="3127248"/>
            <a:ext cx="54864" cy="530352"/>
          </a:xfrm>
          <a:prstGeom prst="rect">
            <a:avLst/>
          </a:prstGeom>
          <a:solidFill>
            <a:srgbClr val="2E7D4F"/>
          </a:solidFill>
          <a:ln w="12700">
            <a:solidFill>
              <a:srgbClr val="2E7D4F"/>
            </a:solidFill>
            <a:prstDash val="solid"/>
          </a:ln>
        </p:spPr>
      </p:sp>
      <p:sp>
        <p:nvSpPr>
          <p:cNvPr id="24" name="Text 20"/>
          <p:cNvSpPr txBox="1"/>
          <p:nvPr/>
        </p:nvSpPr>
        <p:spPr>
          <a:xfrm>
            <a:off x="7059168" y="3182112"/>
            <a:ext cx="4297680" cy="201168"/>
          </a:xfrm>
          <a:prstGeom prst="rect">
            <a:avLst/>
          </a:prstGeom>
          <a:noFill/>
          <a:ln/>
        </p:spPr>
        <p:txBody>
          <a:bodyPr wrap="square" lIns="0" tIns="0" rIns="0" bIns="0" rtlCol="0" anchor="t"/>
          <a:lstStyle/>
          <a:p>
            <a:pPr algn="l" indent="0" marL="0">
              <a:buNone/>
            </a:pPr>
            <a:r>
              <a:rPr lang="en-US" sz="1140" b="1" dirty="0">
                <a:solidFill>
                  <a:srgbClr val="2E7D4F"/>
                </a:solidFill>
                <a:latin typeface="Aptos" pitchFamily="34" charset="0"/>
                <a:ea typeface="Aptos" pitchFamily="34" charset="-122"/>
                <a:cs typeface="Aptos" pitchFamily="34" charset="-120"/>
              </a:rPr>
              <a:t>No es sobre el sistema</a:t>
            </a:r>
            <a:endParaRPr lang="en-US" sz="1140" dirty="0"/>
          </a:p>
        </p:txBody>
      </p:sp>
      <p:sp>
        <p:nvSpPr>
          <p:cNvPr id="25" name="Text 21"/>
          <p:cNvSpPr txBox="1"/>
          <p:nvPr/>
        </p:nvSpPr>
        <p:spPr>
          <a:xfrm>
            <a:off x="7059168" y="3392424"/>
            <a:ext cx="4297680" cy="219456"/>
          </a:xfrm>
          <a:prstGeom prst="rect">
            <a:avLst/>
          </a:prstGeom>
          <a:noFill/>
          <a:ln/>
        </p:spPr>
        <p:txBody>
          <a:bodyPr wrap="square" lIns="0" tIns="0" rIns="0" bIns="0" rtlCol="0" anchor="t"/>
          <a:lstStyle/>
          <a:p>
            <a:pPr algn="l" indent="0" marL="0">
              <a:buNone/>
            </a:pPr>
            <a:r>
              <a:rPr lang="en-US" sz="960" dirty="0">
                <a:solidFill>
                  <a:srgbClr val="52606D"/>
                </a:solidFill>
                <a:latin typeface="Aptos" pitchFamily="34" charset="0"/>
                <a:ea typeface="Aptos" pitchFamily="34" charset="-122"/>
                <a:cs typeface="Aptos" pitchFamily="34" charset="-120"/>
              </a:rPr>
              <a:t>Comprueba el andamiaje de la suite. Se deja, sabiendo que no cubre nada.</a:t>
            </a:r>
            <a:endParaRPr lang="en-US" sz="960" dirty="0"/>
          </a:p>
        </p:txBody>
      </p:sp>
      <p:sp>
        <p:nvSpPr>
          <p:cNvPr id="26" name="Shape 22"/>
          <p:cNvSpPr/>
          <p:nvPr/>
        </p:nvSpPr>
        <p:spPr>
          <a:xfrm>
            <a:off x="6821424" y="3730752"/>
            <a:ext cx="4718304" cy="530352"/>
          </a:xfrm>
          <a:prstGeom prst="rect">
            <a:avLst/>
          </a:prstGeom>
          <a:solidFill>
            <a:srgbClr val="FFFFFF"/>
          </a:solidFill>
          <a:ln w="12700">
            <a:solidFill>
              <a:srgbClr val="FFFFFF"/>
            </a:solidFill>
            <a:prstDash val="solid"/>
          </a:ln>
        </p:spPr>
      </p:sp>
      <p:sp>
        <p:nvSpPr>
          <p:cNvPr id="27" name="Shape 23"/>
          <p:cNvSpPr/>
          <p:nvPr/>
        </p:nvSpPr>
        <p:spPr>
          <a:xfrm>
            <a:off x="6821424" y="3730752"/>
            <a:ext cx="54864" cy="530352"/>
          </a:xfrm>
          <a:prstGeom prst="rect">
            <a:avLst/>
          </a:prstGeom>
          <a:solidFill>
            <a:srgbClr val="B3181E"/>
          </a:solidFill>
          <a:ln w="12700">
            <a:solidFill>
              <a:srgbClr val="B3181E"/>
            </a:solidFill>
            <a:prstDash val="solid"/>
          </a:ln>
        </p:spPr>
      </p:sp>
      <p:sp>
        <p:nvSpPr>
          <p:cNvPr id="28" name="Text 24"/>
          <p:cNvSpPr txBox="1"/>
          <p:nvPr/>
        </p:nvSpPr>
        <p:spPr>
          <a:xfrm>
            <a:off x="7059168" y="3785616"/>
            <a:ext cx="4297680" cy="201168"/>
          </a:xfrm>
          <a:prstGeom prst="rect">
            <a:avLst/>
          </a:prstGeom>
          <a:noFill/>
          <a:ln/>
        </p:spPr>
        <p:txBody>
          <a:bodyPr wrap="square" lIns="0" tIns="0" rIns="0" bIns="0" rtlCol="0" anchor="t"/>
          <a:lstStyle/>
          <a:p>
            <a:pPr algn="l" indent="0" marL="0">
              <a:buNone/>
            </a:pPr>
            <a:r>
              <a:rPr lang="en-US" sz="1140" b="1" dirty="0">
                <a:solidFill>
                  <a:srgbClr val="B3181E"/>
                </a:solidFill>
                <a:latin typeface="Aptos" pitchFamily="34" charset="0"/>
                <a:ea typeface="Aptos" pitchFamily="34" charset="-122"/>
                <a:cs typeface="Aptos" pitchFamily="34" charset="-120"/>
              </a:rPr>
              <a:t>Fija el código, no la regla</a:t>
            </a:r>
            <a:endParaRPr lang="en-US" sz="1140" dirty="0"/>
          </a:p>
        </p:txBody>
      </p:sp>
      <p:sp>
        <p:nvSpPr>
          <p:cNvPr id="29" name="Text 25"/>
          <p:cNvSpPr txBox="1"/>
          <p:nvPr/>
        </p:nvSpPr>
        <p:spPr>
          <a:xfrm>
            <a:off x="7059168" y="3995928"/>
            <a:ext cx="4297680" cy="219456"/>
          </a:xfrm>
          <a:prstGeom prst="rect">
            <a:avLst/>
          </a:prstGeom>
          <a:noFill/>
          <a:ln/>
        </p:spPr>
        <p:txBody>
          <a:bodyPr wrap="square" lIns="0" tIns="0" rIns="0" bIns="0" rtlCol="0" anchor="t"/>
          <a:lstStyle/>
          <a:p>
            <a:pPr algn="l" indent="0" marL="0">
              <a:buNone/>
            </a:pPr>
            <a:r>
              <a:rPr lang="en-US" sz="960" dirty="0">
                <a:solidFill>
                  <a:srgbClr val="52606D"/>
                </a:solidFill>
                <a:latin typeface="Aptos" pitchFamily="34" charset="0"/>
                <a:ea typeface="Aptos" pitchFamily="34" charset="-122"/>
                <a:cs typeface="Aptos" pitchFamily="34" charset="-120"/>
              </a:rPr>
              <a:t>Se escribió mirando la implementación. El día que la regla cambie, defenderá la versión vieja.</a:t>
            </a:r>
            <a:endParaRPr lang="en-US" sz="960" dirty="0"/>
          </a:p>
        </p:txBody>
      </p:sp>
      <p:sp>
        <p:nvSpPr>
          <p:cNvPr id="30" name="Shape 26"/>
          <p:cNvSpPr/>
          <p:nvPr/>
        </p:nvSpPr>
        <p:spPr>
          <a:xfrm>
            <a:off x="6821424" y="4389120"/>
            <a:ext cx="4718304" cy="658368"/>
          </a:xfrm>
          <a:prstGeom prst="rect">
            <a:avLst/>
          </a:prstGeom>
          <a:solidFill>
            <a:srgbClr val="1D3A57"/>
          </a:solidFill>
          <a:ln w="12700">
            <a:solidFill>
              <a:srgbClr val="1D3A57"/>
            </a:solidFill>
            <a:prstDash val="solid"/>
          </a:ln>
        </p:spPr>
      </p:sp>
      <p:sp>
        <p:nvSpPr>
          <p:cNvPr id="31" name="Text 27"/>
          <p:cNvSpPr txBox="1"/>
          <p:nvPr/>
        </p:nvSpPr>
        <p:spPr>
          <a:xfrm>
            <a:off x="7059168" y="4480560"/>
            <a:ext cx="4242816" cy="493776"/>
          </a:xfrm>
          <a:prstGeom prst="rect">
            <a:avLst/>
          </a:prstGeom>
          <a:noFill/>
          <a:ln/>
        </p:spPr>
        <p:txBody>
          <a:bodyPr wrap="square" lIns="0" tIns="0" rIns="0" bIns="0" rtlCol="0" anchor="t"/>
          <a:lstStyle/>
          <a:p>
            <a:pPr algn="l" indent="0" marL="0">
              <a:lnSpc>
                <a:spcPct val="112000"/>
              </a:lnSpc>
              <a:buNone/>
            </a:pPr>
            <a:r>
              <a:rPr lang="en-US" sz="1120" b="1" dirty="0">
                <a:solidFill>
                  <a:srgbClr val="FFFFFF"/>
                </a:solidFill>
                <a:latin typeface="Aptos" pitchFamily="34" charset="0"/>
                <a:ea typeface="Aptos" pitchFamily="34" charset="-122"/>
                <a:cs typeface="Aptos" pitchFamily="34" charset="-120"/>
              </a:rPr>
              <a:t>Cuál de las tres es, lo decide una persona. La matriz solo garantiza que aparezca en la lista.</a:t>
            </a:r>
            <a:endParaRPr lang="en-US" sz="1120" dirty="0"/>
          </a:p>
        </p:txBody>
      </p:sp>
      <p:sp>
        <p:nvSpPr>
          <p:cNvPr id="32" name="Text 28"/>
          <p:cNvSpPr txBox="1"/>
          <p:nvPr/>
        </p:nvSpPr>
        <p:spPr>
          <a:xfrm>
            <a:off x="658368" y="4535424"/>
            <a:ext cx="5943600" cy="402336"/>
          </a:xfrm>
          <a:prstGeom prst="rect">
            <a:avLst/>
          </a:prstGeom>
          <a:noFill/>
          <a:ln/>
        </p:spPr>
        <p:txBody>
          <a:bodyPr wrap="square" lIns="0" tIns="0" rIns="0" bIns="0" rtlCol="0" anchor="t"/>
          <a:lstStyle/>
          <a:p>
            <a:pPr algn="l" indent="0" marL="0">
              <a:lnSpc>
                <a:spcPct val="110000"/>
              </a:lnSpc>
              <a:buNone/>
            </a:pPr>
            <a:r>
              <a:rPr lang="en-US" sz="1100" i="1" dirty="0">
                <a:solidFill>
                  <a:srgbClr val="52606D"/>
                </a:solidFill>
                <a:latin typeface="Aptos" pitchFamily="34" charset="0"/>
                <a:ea typeface="Aptos" pitchFamily="34" charset="-122"/>
                <a:cs typeface="Aptos" pitchFamily="34" charset="-120"/>
              </a:rPr>
              <a:t>La de la fixture es la segunda. Las dos de seguridad, la primera: falta el requisito.</a:t>
            </a:r>
            <a:endParaRPr lang="en-US" sz="1100" dirty="0"/>
          </a:p>
        </p:txBody>
      </p:sp>
      <p:sp>
        <p:nvSpPr>
          <p:cNvPr id="33" name="Shape 29"/>
          <p:cNvSpPr/>
          <p:nvPr/>
        </p:nvSpPr>
        <p:spPr>
          <a:xfrm>
            <a:off x="658368" y="5650992"/>
            <a:ext cx="10874959" cy="548640"/>
          </a:xfrm>
          <a:prstGeom prst="rect">
            <a:avLst/>
          </a:prstGeom>
          <a:solidFill>
            <a:srgbClr val="102A43"/>
          </a:solidFill>
          <a:ln w="12700">
            <a:solidFill>
              <a:srgbClr val="102A43"/>
            </a:solidFill>
            <a:prstDash val="solid"/>
          </a:ln>
        </p:spPr>
      </p:sp>
      <p:sp>
        <p:nvSpPr>
          <p:cNvPr id="34" name="Text 30"/>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Nadie sabía que no lo sabía, y nada tenía cómo avisarlo.</a:t>
            </a:r>
            <a:endParaRPr lang="en-US" sz="138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35</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3 · EL LÍMITE</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2700" b="1" dirty="0">
                <a:solidFill>
                  <a:srgbClr val="243B53"/>
                </a:solidFill>
                <a:latin typeface="Aptos Display" pitchFamily="34" charset="0"/>
                <a:ea typeface="Aptos Display" pitchFamily="34" charset="-122"/>
                <a:cs typeface="Aptos Display" pitchFamily="34" charset="-120"/>
              </a:rPr>
              <a:t>RF-06 figura como cubierto y no está verificado</a:t>
            </a:r>
            <a:endParaRPr lang="en-US" sz="2700" dirty="0"/>
          </a:p>
        </p:txBody>
      </p:sp>
      <p:sp>
        <p:nvSpPr>
          <p:cNvPr id="10" name="Text 7"/>
          <p:cNvSpPr txBox="1"/>
          <p:nvPr/>
        </p:nvSpPr>
        <p:spPr>
          <a:xfrm>
            <a:off x="658368" y="1664208"/>
            <a:ext cx="10424160" cy="347472"/>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Su única prueba comprueba el código de estado. No mira el comprobante, que es lo que el requisito promete.</a:t>
            </a:r>
            <a:endParaRPr lang="en-US" sz="1420" dirty="0"/>
          </a:p>
        </p:txBody>
      </p:sp>
      <p:sp>
        <p:nvSpPr>
          <p:cNvPr id="11" name="Shape 8"/>
          <p:cNvSpPr/>
          <p:nvPr/>
        </p:nvSpPr>
        <p:spPr>
          <a:xfrm>
            <a:off x="658368" y="2231136"/>
            <a:ext cx="5669280" cy="1188720"/>
          </a:xfrm>
          <a:prstGeom prst="roundRect">
            <a:avLst>
              <a:gd name="adj" fmla="val 3077"/>
            </a:avLst>
          </a:prstGeom>
          <a:solidFill>
            <a:srgbClr val="102A43"/>
          </a:solidFill>
          <a:ln w="12700">
            <a:solidFill>
              <a:srgbClr val="102A43"/>
            </a:solidFill>
            <a:prstDash val="solid"/>
          </a:ln>
        </p:spPr>
      </p:sp>
      <p:sp>
        <p:nvSpPr>
          <p:cNvPr id="12" name="Shape 9"/>
          <p:cNvSpPr/>
          <p:nvPr/>
        </p:nvSpPr>
        <p:spPr>
          <a:xfrm>
            <a:off x="786384" y="2340864"/>
            <a:ext cx="5413248" cy="310896"/>
          </a:xfrm>
          <a:prstGeom prst="roundRect">
            <a:avLst>
              <a:gd name="adj" fmla="val 8824"/>
            </a:avLst>
          </a:prstGeom>
          <a:solidFill>
            <a:srgbClr val="284B75"/>
          </a:solidFill>
          <a:ln w="12700">
            <a:solidFill>
              <a:srgbClr val="284B75"/>
            </a:solidFill>
            <a:prstDash val="solid"/>
          </a:ln>
        </p:spPr>
      </p:sp>
      <p:sp>
        <p:nvSpPr>
          <p:cNvPr id="13" name="Text 10"/>
          <p:cNvSpPr/>
          <p:nvPr/>
        </p:nvSpPr>
        <p:spPr>
          <a:xfrm>
            <a:off x="896112" y="2414016"/>
            <a:ext cx="5193792" cy="146304"/>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Antes · lo que el requisito pide</a:t>
            </a:r>
            <a:endParaRPr lang="en-US" sz="1000" dirty="0"/>
          </a:p>
        </p:txBody>
      </p:sp>
      <p:pic>
        <p:nvPicPr>
          <p:cNvPr id="14"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77824" y="2798064"/>
            <a:ext cx="5248656" cy="438912"/>
          </a:xfrm>
          <a:prstGeom prst="rect">
            <a:avLst/>
          </a:prstGeom>
        </p:spPr>
      </p:pic>
      <p:sp>
        <p:nvSpPr>
          <p:cNvPr id="15" name="Shape 11"/>
          <p:cNvSpPr/>
          <p:nvPr/>
        </p:nvSpPr>
        <p:spPr>
          <a:xfrm>
            <a:off x="658368" y="3547872"/>
            <a:ext cx="5669280" cy="1188720"/>
          </a:xfrm>
          <a:prstGeom prst="roundRect">
            <a:avLst>
              <a:gd name="adj" fmla="val 3077"/>
            </a:avLst>
          </a:prstGeom>
          <a:solidFill>
            <a:srgbClr val="102A43"/>
          </a:solidFill>
          <a:ln w="12700">
            <a:solidFill>
              <a:srgbClr val="102A43"/>
            </a:solidFill>
            <a:prstDash val="solid"/>
          </a:ln>
        </p:spPr>
      </p:sp>
      <p:sp>
        <p:nvSpPr>
          <p:cNvPr id="16" name="Shape 12"/>
          <p:cNvSpPr/>
          <p:nvPr/>
        </p:nvSpPr>
        <p:spPr>
          <a:xfrm>
            <a:off x="786384" y="3657600"/>
            <a:ext cx="5413248" cy="310896"/>
          </a:xfrm>
          <a:prstGeom prst="roundRect">
            <a:avLst>
              <a:gd name="adj" fmla="val 8824"/>
            </a:avLst>
          </a:prstGeom>
          <a:solidFill>
            <a:srgbClr val="284B75"/>
          </a:solidFill>
          <a:ln w="12700">
            <a:solidFill>
              <a:srgbClr val="284B75"/>
            </a:solidFill>
            <a:prstDash val="solid"/>
          </a:ln>
        </p:spPr>
      </p:sp>
      <p:sp>
        <p:nvSpPr>
          <p:cNvPr id="17" name="Text 13"/>
          <p:cNvSpPr/>
          <p:nvPr/>
        </p:nvSpPr>
        <p:spPr>
          <a:xfrm>
            <a:off x="896112" y="3730752"/>
            <a:ext cx="5193792" cy="146304"/>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Después · el mutante, destruido a propósito</a:t>
            </a:r>
            <a:endParaRPr lang="en-US" sz="1000" dirty="0"/>
          </a:p>
        </p:txBody>
      </p:sp>
      <p:pic>
        <p:nvPicPr>
          <p:cNvPr id="18"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77824" y="4114800"/>
            <a:ext cx="5248656" cy="438912"/>
          </a:xfrm>
          <a:prstGeom prst="rect">
            <a:avLst/>
          </a:prstGeom>
        </p:spPr>
      </p:pic>
      <p:sp>
        <p:nvSpPr>
          <p:cNvPr id="19" name="Shape 14"/>
          <p:cNvSpPr/>
          <p:nvPr/>
        </p:nvSpPr>
        <p:spPr>
          <a:xfrm>
            <a:off x="658368" y="4791456"/>
            <a:ext cx="5669280" cy="786384"/>
          </a:xfrm>
          <a:prstGeom prst="rect">
            <a:avLst/>
          </a:prstGeom>
          <a:solidFill>
            <a:srgbClr val="FFFFFF"/>
          </a:solidFill>
          <a:ln w="12700">
            <a:solidFill>
              <a:srgbClr val="FFFFFF"/>
            </a:solidFill>
            <a:prstDash val="solid"/>
          </a:ln>
        </p:spPr>
      </p:sp>
      <p:sp>
        <p:nvSpPr>
          <p:cNvPr id="20" name="Shape 15"/>
          <p:cNvSpPr/>
          <p:nvPr/>
        </p:nvSpPr>
        <p:spPr>
          <a:xfrm>
            <a:off x="658368" y="4791456"/>
            <a:ext cx="54864" cy="786384"/>
          </a:xfrm>
          <a:prstGeom prst="rect">
            <a:avLst/>
          </a:prstGeom>
          <a:solidFill>
            <a:srgbClr val="B3181E"/>
          </a:solidFill>
          <a:ln w="12700">
            <a:solidFill>
              <a:srgbClr val="B3181E"/>
            </a:solidFill>
            <a:prstDash val="solid"/>
          </a:ln>
        </p:spPr>
      </p:sp>
      <p:sp>
        <p:nvSpPr>
          <p:cNvPr id="21" name="Text 16"/>
          <p:cNvSpPr txBox="1"/>
          <p:nvPr/>
        </p:nvSpPr>
        <p:spPr>
          <a:xfrm>
            <a:off x="896112" y="4919472"/>
            <a:ext cx="5212080" cy="182880"/>
          </a:xfrm>
          <a:prstGeom prst="rect">
            <a:avLst/>
          </a:prstGeom>
          <a:noFill/>
          <a:ln/>
        </p:spPr>
        <p:txBody>
          <a:bodyPr wrap="square" lIns="0" tIns="0" rIns="0" bIns="0" rtlCol="0" anchor="t"/>
          <a:lstStyle/>
          <a:p>
            <a:pPr algn="l" indent="0" marL="0">
              <a:buNone/>
            </a:pPr>
            <a:r>
              <a:rPr lang="en-US" sz="920" b="1" spc="110" kern="0" dirty="0">
                <a:solidFill>
                  <a:srgbClr val="B3181E"/>
                </a:solidFill>
                <a:latin typeface="Aptos" pitchFamily="34" charset="0"/>
                <a:ea typeface="Aptos" pitchFamily="34" charset="-122"/>
                <a:cs typeface="Aptos" pitchFamily="34" charset="-120"/>
              </a:rPr>
              <a:t>MUTANTE</a:t>
            </a:r>
            <a:endParaRPr lang="en-US" sz="920" dirty="0"/>
          </a:p>
        </p:txBody>
      </p:sp>
      <p:sp>
        <p:nvSpPr>
          <p:cNvPr id="22" name="Text 17"/>
          <p:cNvSpPr txBox="1"/>
          <p:nvPr/>
        </p:nvSpPr>
        <p:spPr>
          <a:xfrm>
            <a:off x="896112" y="5175504"/>
            <a:ext cx="5212080" cy="292608"/>
          </a:xfrm>
          <a:prstGeom prst="rect">
            <a:avLst/>
          </a:prstGeom>
          <a:noFill/>
          <a:ln/>
        </p:spPr>
        <p:txBody>
          <a:bodyPr wrap="square" lIns="0" tIns="0" rIns="0" bIns="0" rtlCol="0" anchor="t"/>
          <a:lstStyle/>
          <a:p>
            <a:pPr algn="l" indent="0" marL="0">
              <a:lnSpc>
                <a:spcPct val="114000"/>
              </a:lnSpc>
              <a:buNone/>
            </a:pPr>
            <a:r>
              <a:rPr lang="en-US" sz="1210" dirty="0">
                <a:solidFill>
                  <a:srgbClr val="243B53"/>
                </a:solidFill>
                <a:latin typeface="Aptos" pitchFamily="34" charset="0"/>
                <a:ea typeface="Aptos" pitchFamily="34" charset="-122"/>
                <a:cs typeface="Aptos" pitchFamily="34" charset="-120"/>
              </a:rPr>
              <a:t>Una alteración deliberada del código, hecha para ver si la suite reacciona. Aquí el comprobante perdió el nombre, el RUT, el correo y el bloque.</a:t>
            </a:r>
            <a:endParaRPr lang="en-US" sz="1210" dirty="0"/>
          </a:p>
        </p:txBody>
      </p:sp>
      <p:sp>
        <p:nvSpPr>
          <p:cNvPr id="23" name="Text 18"/>
          <p:cNvSpPr txBox="1"/>
          <p:nvPr/>
        </p:nvSpPr>
        <p:spPr>
          <a:xfrm>
            <a:off x="6547104" y="2231136"/>
            <a:ext cx="4992624" cy="201168"/>
          </a:xfrm>
          <a:prstGeom prst="rect">
            <a:avLst/>
          </a:prstGeom>
          <a:noFill/>
          <a:ln/>
        </p:spPr>
        <p:txBody>
          <a:bodyPr wrap="square" lIns="0" tIns="0" rIns="0" bIns="0" rtlCol="0" anchor="t"/>
          <a:lstStyle/>
          <a:p>
            <a:pPr algn="l" indent="0" marL="0">
              <a:buNone/>
            </a:pPr>
            <a:r>
              <a:rPr lang="en-US" sz="960" b="1" spc="130" kern="0" dirty="0">
                <a:solidFill>
                  <a:srgbClr val="D62027"/>
                </a:solidFill>
                <a:latin typeface="Aptos" pitchFamily="34" charset="0"/>
                <a:ea typeface="Aptos" pitchFamily="34" charset="-122"/>
                <a:cs typeface="Aptos" pitchFamily="34" charset="-120"/>
              </a:rPr>
              <a:t>QUÉ DIJO CADA ARTEFACTO</a:t>
            </a:r>
            <a:endParaRPr lang="en-US" sz="960" dirty="0"/>
          </a:p>
        </p:txBody>
      </p:sp>
      <p:sp>
        <p:nvSpPr>
          <p:cNvPr id="24" name="Shape 19"/>
          <p:cNvSpPr/>
          <p:nvPr/>
        </p:nvSpPr>
        <p:spPr>
          <a:xfrm>
            <a:off x="6547104" y="2505456"/>
            <a:ext cx="4992624" cy="603504"/>
          </a:xfrm>
          <a:prstGeom prst="rect">
            <a:avLst/>
          </a:prstGeom>
          <a:solidFill>
            <a:srgbClr val="F2E7D9"/>
          </a:solidFill>
          <a:ln w="12700">
            <a:solidFill>
              <a:srgbClr val="F2E7D9"/>
            </a:solidFill>
            <a:prstDash val="solid"/>
          </a:ln>
        </p:spPr>
      </p:sp>
      <p:sp>
        <p:nvSpPr>
          <p:cNvPr id="25" name="Shape 20"/>
          <p:cNvSpPr/>
          <p:nvPr/>
        </p:nvSpPr>
        <p:spPr>
          <a:xfrm>
            <a:off x="6547104" y="2505456"/>
            <a:ext cx="54864" cy="603504"/>
          </a:xfrm>
          <a:prstGeom prst="rect">
            <a:avLst/>
          </a:prstGeom>
          <a:solidFill>
            <a:srgbClr val="B3181E"/>
          </a:solidFill>
          <a:ln w="12700">
            <a:solidFill>
              <a:srgbClr val="B3181E"/>
            </a:solidFill>
            <a:prstDash val="solid"/>
          </a:ln>
        </p:spPr>
      </p:sp>
      <p:sp>
        <p:nvSpPr>
          <p:cNvPr id="26" name="Text 21"/>
          <p:cNvSpPr txBox="1"/>
          <p:nvPr/>
        </p:nvSpPr>
        <p:spPr>
          <a:xfrm>
            <a:off x="6784848" y="2688336"/>
            <a:ext cx="1335024" cy="237744"/>
          </a:xfrm>
          <a:prstGeom prst="rect">
            <a:avLst/>
          </a:prstGeom>
          <a:noFill/>
          <a:ln/>
        </p:spPr>
        <p:txBody>
          <a:bodyPr wrap="square" lIns="0" tIns="0" rIns="0" bIns="0" rtlCol="0" anchor="t"/>
          <a:lstStyle/>
          <a:p>
            <a:pPr algn="l" indent="0" marL="0">
              <a:buNone/>
            </a:pPr>
            <a:r>
              <a:rPr lang="en-US" sz="1160" b="1" dirty="0">
                <a:solidFill>
                  <a:srgbClr val="243B53"/>
                </a:solidFill>
                <a:latin typeface="Aptos" pitchFamily="34" charset="0"/>
                <a:ea typeface="Aptos" pitchFamily="34" charset="-122"/>
                <a:cs typeface="Aptos" pitchFamily="34" charset="-120"/>
              </a:rPr>
              <a:t>La suite</a:t>
            </a:r>
            <a:endParaRPr lang="en-US" sz="1160" dirty="0"/>
          </a:p>
        </p:txBody>
      </p:sp>
      <p:sp>
        <p:nvSpPr>
          <p:cNvPr id="27" name="Text 22"/>
          <p:cNvSpPr txBox="1"/>
          <p:nvPr/>
        </p:nvSpPr>
        <p:spPr>
          <a:xfrm>
            <a:off x="8229600" y="2688336"/>
            <a:ext cx="1737360" cy="237744"/>
          </a:xfrm>
          <a:prstGeom prst="rect">
            <a:avLst/>
          </a:prstGeom>
          <a:noFill/>
          <a:ln/>
        </p:spPr>
        <p:txBody>
          <a:bodyPr wrap="square" lIns="0" tIns="0" rIns="0" bIns="0" rtlCol="0" anchor="t"/>
          <a:lstStyle/>
          <a:p>
            <a:pPr algn="l" indent="0" marL="0">
              <a:buNone/>
            </a:pPr>
            <a:r>
              <a:rPr lang="en-US" sz="1100" b="1" dirty="0">
                <a:solidFill>
                  <a:srgbClr val="B3181E"/>
                </a:solidFill>
                <a:latin typeface="Consolas" pitchFamily="34" charset="0"/>
                <a:ea typeface="Consolas" pitchFamily="34" charset="-122"/>
                <a:cs typeface="Consolas" pitchFamily="34" charset="-120"/>
              </a:rPr>
              <a:t>22 passed · 1 failed</a:t>
            </a:r>
            <a:endParaRPr lang="en-US" sz="1100" dirty="0"/>
          </a:p>
        </p:txBody>
      </p:sp>
      <p:sp>
        <p:nvSpPr>
          <p:cNvPr id="28" name="Text 23"/>
          <p:cNvSpPr txBox="1"/>
          <p:nvPr/>
        </p:nvSpPr>
        <p:spPr>
          <a:xfrm>
            <a:off x="10040112" y="2697480"/>
            <a:ext cx="1371600" cy="219456"/>
          </a:xfrm>
          <a:prstGeom prst="rect">
            <a:avLst/>
          </a:prstGeom>
          <a:noFill/>
          <a:ln/>
        </p:spPr>
        <p:txBody>
          <a:bodyPr wrap="square" lIns="0" tIns="0" rIns="0" bIns="0" rtlCol="0" anchor="t"/>
          <a:lstStyle/>
          <a:p>
            <a:pPr algn="l" indent="0" marL="0">
              <a:lnSpc>
                <a:spcPct val="105000"/>
              </a:lnSpc>
              <a:buNone/>
            </a:pPr>
            <a:r>
              <a:rPr lang="en-US" sz="880" dirty="0">
                <a:solidFill>
                  <a:srgbClr val="52606D"/>
                </a:solidFill>
                <a:latin typeface="Aptos" pitchFamily="34" charset="0"/>
                <a:ea typeface="Aptos" pitchFamily="34" charset="-122"/>
                <a:cs typeface="Aptos" pitchFamily="34" charset="-120"/>
              </a:rPr>
              <a:t>La única roja es la de siempre.</a:t>
            </a:r>
            <a:endParaRPr lang="en-US" sz="880" dirty="0"/>
          </a:p>
        </p:txBody>
      </p:sp>
      <p:sp>
        <p:nvSpPr>
          <p:cNvPr id="29" name="Shape 24"/>
          <p:cNvSpPr/>
          <p:nvPr/>
        </p:nvSpPr>
        <p:spPr>
          <a:xfrm>
            <a:off x="6547104" y="3218688"/>
            <a:ext cx="4992624" cy="603504"/>
          </a:xfrm>
          <a:prstGeom prst="rect">
            <a:avLst/>
          </a:prstGeom>
          <a:solidFill>
            <a:srgbClr val="F2E7D9"/>
          </a:solidFill>
          <a:ln w="12700">
            <a:solidFill>
              <a:srgbClr val="F2E7D9"/>
            </a:solidFill>
            <a:prstDash val="solid"/>
          </a:ln>
        </p:spPr>
      </p:sp>
      <p:sp>
        <p:nvSpPr>
          <p:cNvPr id="30" name="Shape 25"/>
          <p:cNvSpPr/>
          <p:nvPr/>
        </p:nvSpPr>
        <p:spPr>
          <a:xfrm>
            <a:off x="6547104" y="3218688"/>
            <a:ext cx="54864" cy="603504"/>
          </a:xfrm>
          <a:prstGeom prst="rect">
            <a:avLst/>
          </a:prstGeom>
          <a:solidFill>
            <a:srgbClr val="B3181E"/>
          </a:solidFill>
          <a:ln w="12700">
            <a:solidFill>
              <a:srgbClr val="B3181E"/>
            </a:solidFill>
            <a:prstDash val="solid"/>
          </a:ln>
        </p:spPr>
      </p:sp>
      <p:sp>
        <p:nvSpPr>
          <p:cNvPr id="31" name="Text 26"/>
          <p:cNvSpPr txBox="1"/>
          <p:nvPr/>
        </p:nvSpPr>
        <p:spPr>
          <a:xfrm>
            <a:off x="6784848" y="3401568"/>
            <a:ext cx="1335024" cy="237744"/>
          </a:xfrm>
          <a:prstGeom prst="rect">
            <a:avLst/>
          </a:prstGeom>
          <a:noFill/>
          <a:ln/>
        </p:spPr>
        <p:txBody>
          <a:bodyPr wrap="square" lIns="0" tIns="0" rIns="0" bIns="0" rtlCol="0" anchor="t"/>
          <a:lstStyle/>
          <a:p>
            <a:pPr algn="l" indent="0" marL="0">
              <a:buNone/>
            </a:pPr>
            <a:r>
              <a:rPr lang="en-US" sz="1160" b="1" dirty="0">
                <a:solidFill>
                  <a:srgbClr val="243B53"/>
                </a:solidFill>
                <a:latin typeface="Aptos" pitchFamily="34" charset="0"/>
                <a:ea typeface="Aptos" pitchFamily="34" charset="-122"/>
                <a:cs typeface="Aptos" pitchFamily="34" charset="-120"/>
              </a:rPr>
              <a:t>La matriz</a:t>
            </a:r>
            <a:endParaRPr lang="en-US" sz="1160" dirty="0"/>
          </a:p>
        </p:txBody>
      </p:sp>
      <p:sp>
        <p:nvSpPr>
          <p:cNvPr id="32" name="Text 27"/>
          <p:cNvSpPr txBox="1"/>
          <p:nvPr/>
        </p:nvSpPr>
        <p:spPr>
          <a:xfrm>
            <a:off x="8229600" y="3401568"/>
            <a:ext cx="1737360" cy="237744"/>
          </a:xfrm>
          <a:prstGeom prst="rect">
            <a:avLst/>
          </a:prstGeom>
          <a:noFill/>
          <a:ln/>
        </p:spPr>
        <p:txBody>
          <a:bodyPr wrap="square" lIns="0" tIns="0" rIns="0" bIns="0" rtlCol="0" anchor="t"/>
          <a:lstStyle/>
          <a:p>
            <a:pPr algn="l" indent="0" marL="0">
              <a:buNone/>
            </a:pPr>
            <a:r>
              <a:rPr lang="en-US" sz="1100" b="1" dirty="0">
                <a:solidFill>
                  <a:srgbClr val="B3181E"/>
                </a:solidFill>
                <a:latin typeface="Consolas" pitchFamily="34" charset="0"/>
                <a:ea typeface="Consolas" pitchFamily="34" charset="-122"/>
                <a:cs typeface="Consolas" pitchFamily="34" charset="-120"/>
              </a:rPr>
              <a:t>RF-06 · cubierto</a:t>
            </a:r>
            <a:endParaRPr lang="en-US" sz="1100" dirty="0"/>
          </a:p>
        </p:txBody>
      </p:sp>
      <p:sp>
        <p:nvSpPr>
          <p:cNvPr id="33" name="Text 28"/>
          <p:cNvSpPr txBox="1"/>
          <p:nvPr/>
        </p:nvSpPr>
        <p:spPr>
          <a:xfrm>
            <a:off x="10040112" y="3410712"/>
            <a:ext cx="1371600" cy="219456"/>
          </a:xfrm>
          <a:prstGeom prst="rect">
            <a:avLst/>
          </a:prstGeom>
          <a:noFill/>
          <a:ln/>
        </p:spPr>
        <p:txBody>
          <a:bodyPr wrap="square" lIns="0" tIns="0" rIns="0" bIns="0" rtlCol="0" anchor="t"/>
          <a:lstStyle/>
          <a:p>
            <a:pPr algn="l" indent="0" marL="0">
              <a:lnSpc>
                <a:spcPct val="105000"/>
              </a:lnSpc>
              <a:buNone/>
            </a:pPr>
            <a:r>
              <a:rPr lang="en-US" sz="880" dirty="0">
                <a:solidFill>
                  <a:srgbClr val="52606D"/>
                </a:solidFill>
                <a:latin typeface="Aptos" pitchFamily="34" charset="0"/>
                <a:ea typeface="Aptos" pitchFamily="34" charset="-122"/>
                <a:cs typeface="Aptos" pitchFamily="34" charset="-120"/>
              </a:rPr>
              <a:t>Sigue informando lo mismo.</a:t>
            </a:r>
            <a:endParaRPr lang="en-US" sz="880" dirty="0"/>
          </a:p>
        </p:txBody>
      </p:sp>
      <p:sp>
        <p:nvSpPr>
          <p:cNvPr id="34" name="Shape 29"/>
          <p:cNvSpPr/>
          <p:nvPr/>
        </p:nvSpPr>
        <p:spPr>
          <a:xfrm>
            <a:off x="6547104" y="3931920"/>
            <a:ext cx="4992624" cy="603504"/>
          </a:xfrm>
          <a:prstGeom prst="rect">
            <a:avLst/>
          </a:prstGeom>
          <a:solidFill>
            <a:srgbClr val="EDE6DA"/>
          </a:solidFill>
          <a:ln w="12700">
            <a:solidFill>
              <a:srgbClr val="EDE6DA"/>
            </a:solidFill>
            <a:prstDash val="solid"/>
          </a:ln>
        </p:spPr>
      </p:sp>
      <p:sp>
        <p:nvSpPr>
          <p:cNvPr id="35" name="Shape 30"/>
          <p:cNvSpPr/>
          <p:nvPr/>
        </p:nvSpPr>
        <p:spPr>
          <a:xfrm>
            <a:off x="6547104" y="3931920"/>
            <a:ext cx="54864" cy="603504"/>
          </a:xfrm>
          <a:prstGeom prst="rect">
            <a:avLst/>
          </a:prstGeom>
          <a:solidFill>
            <a:srgbClr val="52606D"/>
          </a:solidFill>
          <a:ln w="12700">
            <a:solidFill>
              <a:srgbClr val="52606D"/>
            </a:solidFill>
            <a:prstDash val="solid"/>
          </a:ln>
        </p:spPr>
      </p:sp>
      <p:sp>
        <p:nvSpPr>
          <p:cNvPr id="36" name="Text 31"/>
          <p:cNvSpPr txBox="1"/>
          <p:nvPr/>
        </p:nvSpPr>
        <p:spPr>
          <a:xfrm>
            <a:off x="6784848" y="4114800"/>
            <a:ext cx="1335024" cy="237744"/>
          </a:xfrm>
          <a:prstGeom prst="rect">
            <a:avLst/>
          </a:prstGeom>
          <a:noFill/>
          <a:ln/>
        </p:spPr>
        <p:txBody>
          <a:bodyPr wrap="square" lIns="0" tIns="0" rIns="0" bIns="0" rtlCol="0" anchor="t"/>
          <a:lstStyle/>
          <a:p>
            <a:pPr algn="l" indent="0" marL="0">
              <a:buNone/>
            </a:pPr>
            <a:r>
              <a:rPr lang="en-US" sz="1160" b="1" dirty="0">
                <a:solidFill>
                  <a:srgbClr val="243B53"/>
                </a:solidFill>
                <a:latin typeface="Aptos" pitchFamily="34" charset="0"/>
                <a:ea typeface="Aptos" pitchFamily="34" charset="-122"/>
                <a:cs typeface="Aptos" pitchFamily="34" charset="-120"/>
              </a:rPr>
              <a:t>El requisito</a:t>
            </a:r>
            <a:endParaRPr lang="en-US" sz="1160" dirty="0"/>
          </a:p>
        </p:txBody>
      </p:sp>
      <p:sp>
        <p:nvSpPr>
          <p:cNvPr id="37" name="Text 32"/>
          <p:cNvSpPr txBox="1"/>
          <p:nvPr/>
        </p:nvSpPr>
        <p:spPr>
          <a:xfrm>
            <a:off x="8229600" y="4114800"/>
            <a:ext cx="1737360" cy="237744"/>
          </a:xfrm>
          <a:prstGeom prst="rect">
            <a:avLst/>
          </a:prstGeom>
          <a:noFill/>
          <a:ln/>
        </p:spPr>
        <p:txBody>
          <a:bodyPr wrap="square" lIns="0" tIns="0" rIns="0" bIns="0" rtlCol="0" anchor="t"/>
          <a:lstStyle/>
          <a:p>
            <a:pPr algn="l" indent="0" marL="0">
              <a:buNone/>
            </a:pPr>
            <a:r>
              <a:rPr lang="en-US" sz="1100" b="1" dirty="0">
                <a:solidFill>
                  <a:srgbClr val="52606D"/>
                </a:solidFill>
                <a:latin typeface="Consolas" pitchFamily="34" charset="0"/>
                <a:ea typeface="Consolas" pitchFamily="34" charset="-122"/>
                <a:cs typeface="Consolas" pitchFamily="34" charset="-120"/>
              </a:rPr>
              <a:t>destruido</a:t>
            </a:r>
            <a:endParaRPr lang="en-US" sz="1100" dirty="0"/>
          </a:p>
        </p:txBody>
      </p:sp>
      <p:sp>
        <p:nvSpPr>
          <p:cNvPr id="38" name="Text 33"/>
          <p:cNvSpPr txBox="1"/>
          <p:nvPr/>
        </p:nvSpPr>
        <p:spPr>
          <a:xfrm>
            <a:off x="10040112" y="4123944"/>
            <a:ext cx="1371600" cy="219456"/>
          </a:xfrm>
          <a:prstGeom prst="rect">
            <a:avLst/>
          </a:prstGeom>
          <a:noFill/>
          <a:ln/>
        </p:spPr>
        <p:txBody>
          <a:bodyPr wrap="square" lIns="0" tIns="0" rIns="0" bIns="0" rtlCol="0" anchor="t"/>
          <a:lstStyle/>
          <a:p>
            <a:pPr algn="l" indent="0" marL="0">
              <a:lnSpc>
                <a:spcPct val="105000"/>
              </a:lnSpc>
              <a:buNone/>
            </a:pPr>
            <a:r>
              <a:rPr lang="en-US" sz="880" dirty="0">
                <a:solidFill>
                  <a:srgbClr val="52606D"/>
                </a:solidFill>
                <a:latin typeface="Aptos" pitchFamily="34" charset="0"/>
                <a:ea typeface="Aptos" pitchFamily="34" charset="-122"/>
                <a:cs typeface="Aptos" pitchFamily="34" charset="-120"/>
              </a:rPr>
              <a:t>No se cumple en absoluto.</a:t>
            </a:r>
            <a:endParaRPr lang="en-US" sz="880" dirty="0"/>
          </a:p>
        </p:txBody>
      </p:sp>
      <p:sp>
        <p:nvSpPr>
          <p:cNvPr id="39" name="Shape 34"/>
          <p:cNvSpPr/>
          <p:nvPr/>
        </p:nvSpPr>
        <p:spPr>
          <a:xfrm>
            <a:off x="6547104" y="4700016"/>
            <a:ext cx="4992624" cy="786384"/>
          </a:xfrm>
          <a:prstGeom prst="rect">
            <a:avLst/>
          </a:prstGeom>
          <a:solidFill>
            <a:srgbClr val="1D3A57"/>
          </a:solidFill>
          <a:ln w="12700">
            <a:solidFill>
              <a:srgbClr val="1D3A57"/>
            </a:solidFill>
            <a:prstDash val="solid"/>
          </a:ln>
        </p:spPr>
      </p:sp>
      <p:sp>
        <p:nvSpPr>
          <p:cNvPr id="40" name="Text 35"/>
          <p:cNvSpPr txBox="1"/>
          <p:nvPr/>
        </p:nvSpPr>
        <p:spPr>
          <a:xfrm>
            <a:off x="6784848" y="4791456"/>
            <a:ext cx="4517136" cy="621792"/>
          </a:xfrm>
          <a:prstGeom prst="rect">
            <a:avLst/>
          </a:prstGeom>
          <a:noFill/>
          <a:ln/>
        </p:spPr>
        <p:txBody>
          <a:bodyPr wrap="square" lIns="0" tIns="0" rIns="0" bIns="0" rtlCol="0" anchor="t"/>
          <a:lstStyle/>
          <a:p>
            <a:pPr algn="l" indent="0" marL="0">
              <a:lnSpc>
                <a:spcPct val="114000"/>
              </a:lnSpc>
              <a:buNone/>
            </a:pPr>
            <a:r>
              <a:rPr lang="en-US" sz="1140" b="1" dirty="0">
                <a:solidFill>
                  <a:srgbClr val="FFFFFF"/>
                </a:solidFill>
                <a:latin typeface="Aptos" pitchFamily="34" charset="0"/>
                <a:ea typeface="Aptos" pitchFamily="34" charset="-122"/>
                <a:cs typeface="Aptos" pitchFamily="34" charset="-120"/>
              </a:rPr>
              <a:t>Una matriz demuestra que la relación existe. No que la prueba compruebe el requisito. Detecta ausencias, no insuficiencias.</a:t>
            </a:r>
            <a:endParaRPr lang="en-US" sz="1140" dirty="0"/>
          </a:p>
        </p:txBody>
      </p:sp>
      <p:sp>
        <p:nvSpPr>
          <p:cNvPr id="41" name="Shape 36"/>
          <p:cNvSpPr/>
          <p:nvPr/>
        </p:nvSpPr>
        <p:spPr>
          <a:xfrm>
            <a:off x="658368" y="5650992"/>
            <a:ext cx="10874959" cy="548640"/>
          </a:xfrm>
          <a:prstGeom prst="rect">
            <a:avLst/>
          </a:prstGeom>
          <a:solidFill>
            <a:srgbClr val="102A43"/>
          </a:solidFill>
          <a:ln w="12700">
            <a:solidFill>
              <a:srgbClr val="102A43"/>
            </a:solidFill>
            <a:prstDash val="solid"/>
          </a:ln>
        </p:spPr>
      </p:sp>
      <p:sp>
        <p:nvSpPr>
          <p:cNvPr id="42" name="Text 37"/>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Que la suite reaccione ante un mutante se llama sensibilidad, y es lo que aquí falta.</a:t>
            </a:r>
            <a:endParaRPr lang="en-US" sz="138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36</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3 · EL EXPERIMENTO</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El agente acertó donde el programa falló</a:t>
            </a:r>
            <a:endParaRPr lang="en-US" sz="3000" dirty="0"/>
          </a:p>
        </p:txBody>
      </p:sp>
      <p:sp>
        <p:nvSpPr>
          <p:cNvPr id="10" name="Text 7"/>
          <p:cNvSpPr txBox="1"/>
          <p:nvPr/>
        </p:nvSpPr>
        <p:spPr>
          <a:xfrm>
            <a:off x="658368" y="1664208"/>
            <a:ext cx="10424160" cy="347472"/>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Se le dieron los requisitos y las pruebas sin marcar, con acceso solo de lectura, y se le pidió la misma matriz.</a:t>
            </a:r>
            <a:endParaRPr lang="en-US" sz="1420" dirty="0"/>
          </a:p>
        </p:txBody>
      </p:sp>
      <p:sp>
        <p:nvSpPr>
          <p:cNvPr id="11" name="Shape 8"/>
          <p:cNvSpPr/>
          <p:nvPr/>
        </p:nvSpPr>
        <p:spPr>
          <a:xfrm>
            <a:off x="658368" y="2231136"/>
            <a:ext cx="10874959" cy="658368"/>
          </a:xfrm>
          <a:prstGeom prst="rect">
            <a:avLst/>
          </a:prstGeom>
          <a:solidFill>
            <a:srgbClr val="EDE6DA"/>
          </a:solidFill>
          <a:ln w="12700">
            <a:solidFill>
              <a:srgbClr val="EDE6DA"/>
            </a:solidFill>
            <a:prstDash val="solid"/>
          </a:ln>
        </p:spPr>
      </p:sp>
      <p:sp>
        <p:nvSpPr>
          <p:cNvPr id="12" name="Shape 9"/>
          <p:cNvSpPr/>
          <p:nvPr/>
        </p:nvSpPr>
        <p:spPr>
          <a:xfrm>
            <a:off x="658368" y="2231136"/>
            <a:ext cx="54864" cy="658368"/>
          </a:xfrm>
          <a:prstGeom prst="rect">
            <a:avLst/>
          </a:prstGeom>
          <a:solidFill>
            <a:srgbClr val="2E7D4F"/>
          </a:solidFill>
          <a:ln w="12700">
            <a:solidFill>
              <a:srgbClr val="2E7D4F"/>
            </a:solidFill>
            <a:prstDash val="solid"/>
          </a:ln>
        </p:spPr>
      </p:sp>
      <p:sp>
        <p:nvSpPr>
          <p:cNvPr id="13" name="Text 10"/>
          <p:cNvSpPr txBox="1"/>
          <p:nvPr/>
        </p:nvSpPr>
        <p:spPr>
          <a:xfrm>
            <a:off x="914400" y="2359152"/>
            <a:ext cx="10362895" cy="219456"/>
          </a:xfrm>
          <a:prstGeom prst="rect">
            <a:avLst/>
          </a:prstGeom>
          <a:noFill/>
          <a:ln/>
        </p:spPr>
        <p:txBody>
          <a:bodyPr wrap="square" lIns="0" tIns="0" rIns="0" bIns="0" rtlCol="0" anchor="t"/>
          <a:lstStyle/>
          <a:p>
            <a:pPr algn="l" indent="0" marL="0">
              <a:lnSpc>
                <a:spcPct val="116000"/>
              </a:lnSpc>
              <a:buNone/>
            </a:pPr>
            <a:r>
              <a:rPr lang="en-US" sz="1180" i="1" dirty="0">
                <a:solidFill>
                  <a:srgbClr val="243B53"/>
                </a:solidFill>
                <a:latin typeface="Aptos" pitchFamily="34" charset="0"/>
                <a:ea typeface="Aptos" pitchFamily="34" charset="-122"/>
                <a:cs typeface="Aptos" pitchFamily="34" charset="-120"/>
              </a:rPr>
              <a:t>«RF-06 · sin cubrir: la prueba de la API solo revisa el 201, y las de extremo a extremo solo revisan «Reserva confirmada».»</a:t>
            </a:r>
            <a:endParaRPr lang="en-US" sz="1180" dirty="0"/>
          </a:p>
        </p:txBody>
      </p:sp>
      <p:sp>
        <p:nvSpPr>
          <p:cNvPr id="14" name="Text 11"/>
          <p:cNvSpPr txBox="1"/>
          <p:nvPr/>
        </p:nvSpPr>
        <p:spPr>
          <a:xfrm>
            <a:off x="914400" y="2615184"/>
            <a:ext cx="10362895" cy="182880"/>
          </a:xfrm>
          <a:prstGeom prst="rect">
            <a:avLst/>
          </a:prstGeom>
          <a:noFill/>
          <a:ln/>
        </p:spPr>
        <p:txBody>
          <a:bodyPr wrap="square" lIns="0" tIns="0" rIns="0" bIns="0" rtlCol="0" anchor="t"/>
          <a:lstStyle/>
          <a:p>
            <a:pPr algn="l" indent="0" marL="0">
              <a:buNone/>
            </a:pPr>
            <a:r>
              <a:rPr lang="en-US" sz="900" b="1" dirty="0">
                <a:solidFill>
                  <a:srgbClr val="2E7D4F"/>
                </a:solidFill>
                <a:latin typeface="Aptos" pitchFamily="34" charset="0"/>
                <a:ea typeface="Aptos" pitchFamily="34" charset="-122"/>
                <a:cs typeface="Aptos" pitchFamily="34" charset="-120"/>
              </a:rPr>
              <a:t>Lo que devolvió el agente sobre la fila que el programa daba por buena</a:t>
            </a:r>
            <a:endParaRPr lang="en-US" sz="900" dirty="0"/>
          </a:p>
        </p:txBody>
      </p:sp>
      <p:sp>
        <p:nvSpPr>
          <p:cNvPr id="15" name="Text 12"/>
          <p:cNvSpPr txBox="1"/>
          <p:nvPr/>
        </p:nvSpPr>
        <p:spPr>
          <a:xfrm>
            <a:off x="658368" y="3072384"/>
            <a:ext cx="6400800" cy="201168"/>
          </a:xfrm>
          <a:prstGeom prst="rect">
            <a:avLst/>
          </a:prstGeom>
          <a:noFill/>
          <a:ln/>
        </p:spPr>
        <p:txBody>
          <a:bodyPr wrap="square" lIns="0" tIns="0" rIns="0" bIns="0" rtlCol="0" anchor="t"/>
          <a:lstStyle/>
          <a:p>
            <a:pPr algn="l" indent="0" marL="0">
              <a:buNone/>
            </a:pPr>
            <a:r>
              <a:rPr lang="en-US" sz="960" b="1" spc="130" kern="0" dirty="0">
                <a:solidFill>
                  <a:srgbClr val="D62027"/>
                </a:solidFill>
                <a:latin typeface="Aptos" pitchFamily="34" charset="0"/>
                <a:ea typeface="Aptos" pitchFamily="34" charset="-122"/>
                <a:cs typeface="Aptos" pitchFamily="34" charset="-120"/>
              </a:rPr>
              <a:t>LOS DOS FALLAN, Y FALLAN EN DIRECCIONES OPUESTAS</a:t>
            </a:r>
            <a:endParaRPr lang="en-US" sz="960" dirty="0"/>
          </a:p>
        </p:txBody>
      </p:sp>
      <p:sp>
        <p:nvSpPr>
          <p:cNvPr id="16" name="Shape 13"/>
          <p:cNvSpPr/>
          <p:nvPr/>
        </p:nvSpPr>
        <p:spPr>
          <a:xfrm>
            <a:off x="658368" y="3328416"/>
            <a:ext cx="5346040" cy="365760"/>
          </a:xfrm>
          <a:prstGeom prst="rect">
            <a:avLst/>
          </a:prstGeom>
          <a:solidFill>
            <a:srgbClr val="102A43"/>
          </a:solidFill>
          <a:ln w="12700">
            <a:solidFill>
              <a:srgbClr val="102A43"/>
            </a:solidFill>
            <a:prstDash val="solid"/>
          </a:ln>
        </p:spPr>
      </p:sp>
      <p:sp>
        <p:nvSpPr>
          <p:cNvPr id="17" name="Text 14"/>
          <p:cNvSpPr txBox="1"/>
          <p:nvPr/>
        </p:nvSpPr>
        <p:spPr>
          <a:xfrm>
            <a:off x="713232" y="3364992"/>
            <a:ext cx="5236312" cy="292608"/>
          </a:xfrm>
          <a:prstGeom prst="rect">
            <a:avLst/>
          </a:prstGeom>
          <a:noFill/>
          <a:ln/>
        </p:spPr>
        <p:txBody>
          <a:bodyPr wrap="square" lIns="0" tIns="0" rIns="0" bIns="0" rtlCol="0" anchor="ctr"/>
          <a:lstStyle/>
          <a:p>
            <a:pPr algn="ctr" indent="0" marL="0">
              <a:buNone/>
            </a:pPr>
            <a:r>
              <a:rPr lang="en-US" sz="1060" b="1" spc="100" kern="0" dirty="0">
                <a:solidFill>
                  <a:srgbClr val="FFFFFF"/>
                </a:solidFill>
                <a:latin typeface="Aptos" pitchFamily="34" charset="0"/>
                <a:ea typeface="Aptos" pitchFamily="34" charset="-122"/>
                <a:cs typeface="Aptos" pitchFamily="34" charset="-120"/>
              </a:rPr>
              <a:t>EL PROGRAMA</a:t>
            </a:r>
            <a:endParaRPr lang="en-US" sz="1060" dirty="0"/>
          </a:p>
        </p:txBody>
      </p:sp>
      <p:sp>
        <p:nvSpPr>
          <p:cNvPr id="18" name="Shape 15"/>
          <p:cNvSpPr/>
          <p:nvPr/>
        </p:nvSpPr>
        <p:spPr>
          <a:xfrm>
            <a:off x="658368" y="3767328"/>
            <a:ext cx="5346040" cy="384048"/>
          </a:xfrm>
          <a:prstGeom prst="rect">
            <a:avLst/>
          </a:prstGeom>
          <a:solidFill>
            <a:srgbClr val="FFFFFF"/>
          </a:solidFill>
          <a:ln w="12700">
            <a:solidFill>
              <a:srgbClr val="FFFFFF"/>
            </a:solidFill>
            <a:prstDash val="solid"/>
          </a:ln>
        </p:spPr>
      </p:sp>
      <p:sp>
        <p:nvSpPr>
          <p:cNvPr id="19" name="Text 16"/>
          <p:cNvSpPr txBox="1"/>
          <p:nvPr/>
        </p:nvSpPr>
        <p:spPr>
          <a:xfrm>
            <a:off x="859536" y="3794760"/>
            <a:ext cx="4943704" cy="164592"/>
          </a:xfrm>
          <a:prstGeom prst="rect">
            <a:avLst/>
          </a:prstGeom>
          <a:noFill/>
          <a:ln/>
        </p:spPr>
        <p:txBody>
          <a:bodyPr wrap="square" lIns="0" tIns="0" rIns="0" bIns="0" rtlCol="0" anchor="t"/>
          <a:lstStyle/>
          <a:p>
            <a:pPr algn="l" indent="0" marL="0">
              <a:buNone/>
            </a:pPr>
            <a:r>
              <a:rPr lang="en-US" sz="860" b="1" spc="50" kern="0" dirty="0">
                <a:solidFill>
                  <a:srgbClr val="52606D"/>
                </a:solidFill>
                <a:latin typeface="Aptos" pitchFamily="34" charset="0"/>
                <a:ea typeface="Aptos" pitchFamily="34" charset="-122"/>
                <a:cs typeface="Aptos" pitchFamily="34" charset="-120"/>
              </a:rPr>
              <a:t>De dónde saca su respuesta</a:t>
            </a:r>
            <a:endParaRPr lang="en-US" sz="860" dirty="0"/>
          </a:p>
        </p:txBody>
      </p:sp>
      <p:sp>
        <p:nvSpPr>
          <p:cNvPr id="20" name="Text 17"/>
          <p:cNvSpPr txBox="1"/>
          <p:nvPr/>
        </p:nvSpPr>
        <p:spPr>
          <a:xfrm>
            <a:off x="859536" y="3959352"/>
            <a:ext cx="4943704" cy="182880"/>
          </a:xfrm>
          <a:prstGeom prst="rect">
            <a:avLst/>
          </a:prstGeom>
          <a:noFill/>
          <a:ln/>
        </p:spPr>
        <p:txBody>
          <a:bodyPr wrap="square" lIns="0" tIns="0" rIns="0" bIns="0" rtlCol="0" anchor="t"/>
          <a:lstStyle/>
          <a:p>
            <a:pPr algn="l" indent="0" marL="0">
              <a:buNone/>
            </a:pPr>
            <a:r>
              <a:rPr lang="en-US" sz="1040" dirty="0">
                <a:solidFill>
                  <a:srgbClr val="243B53"/>
                </a:solidFill>
                <a:latin typeface="Aptos" pitchFamily="34" charset="0"/>
                <a:ea typeface="Aptos" pitchFamily="34" charset="-122"/>
                <a:cs typeface="Aptos" pitchFamily="34" charset="-120"/>
              </a:rPr>
              <a:t>De las marcas que alguien puso.</a:t>
            </a:r>
            <a:endParaRPr lang="en-US" sz="1040" dirty="0"/>
          </a:p>
        </p:txBody>
      </p:sp>
      <p:sp>
        <p:nvSpPr>
          <p:cNvPr id="21" name="Shape 18"/>
          <p:cNvSpPr/>
          <p:nvPr/>
        </p:nvSpPr>
        <p:spPr>
          <a:xfrm>
            <a:off x="658368" y="4206240"/>
            <a:ext cx="5346040" cy="384048"/>
          </a:xfrm>
          <a:prstGeom prst="rect">
            <a:avLst/>
          </a:prstGeom>
          <a:solidFill>
            <a:srgbClr val="EDE6DA"/>
          </a:solidFill>
          <a:ln w="12700">
            <a:solidFill>
              <a:srgbClr val="EDE6DA"/>
            </a:solidFill>
            <a:prstDash val="solid"/>
          </a:ln>
        </p:spPr>
      </p:sp>
      <p:sp>
        <p:nvSpPr>
          <p:cNvPr id="22" name="Text 19"/>
          <p:cNvSpPr txBox="1"/>
          <p:nvPr/>
        </p:nvSpPr>
        <p:spPr>
          <a:xfrm>
            <a:off x="859536" y="4233672"/>
            <a:ext cx="4943704" cy="164592"/>
          </a:xfrm>
          <a:prstGeom prst="rect">
            <a:avLst/>
          </a:prstGeom>
          <a:noFill/>
          <a:ln/>
        </p:spPr>
        <p:txBody>
          <a:bodyPr wrap="square" lIns="0" tIns="0" rIns="0" bIns="0" rtlCol="0" anchor="t"/>
          <a:lstStyle/>
          <a:p>
            <a:pPr algn="l" indent="0" marL="0">
              <a:buNone/>
            </a:pPr>
            <a:r>
              <a:rPr lang="en-US" sz="860" b="1" spc="50" kern="0" dirty="0">
                <a:solidFill>
                  <a:srgbClr val="52606D"/>
                </a:solidFill>
                <a:latin typeface="Aptos" pitchFamily="34" charset="0"/>
                <a:ea typeface="Aptos" pitchFamily="34" charset="-122"/>
                <a:cs typeface="Aptos" pitchFamily="34" charset="-120"/>
              </a:rPr>
              <a:t>En qué se equivoca</a:t>
            </a:r>
            <a:endParaRPr lang="en-US" sz="860" dirty="0"/>
          </a:p>
        </p:txBody>
      </p:sp>
      <p:sp>
        <p:nvSpPr>
          <p:cNvPr id="23" name="Text 20"/>
          <p:cNvSpPr txBox="1"/>
          <p:nvPr/>
        </p:nvSpPr>
        <p:spPr>
          <a:xfrm>
            <a:off x="859536" y="4398264"/>
            <a:ext cx="4943704" cy="182880"/>
          </a:xfrm>
          <a:prstGeom prst="rect">
            <a:avLst/>
          </a:prstGeom>
          <a:noFill/>
          <a:ln/>
        </p:spPr>
        <p:txBody>
          <a:bodyPr wrap="square" lIns="0" tIns="0" rIns="0" bIns="0" rtlCol="0" anchor="t"/>
          <a:lstStyle/>
          <a:p>
            <a:pPr algn="l" indent="0" marL="0">
              <a:buNone/>
            </a:pPr>
            <a:r>
              <a:rPr lang="en-US" sz="1040" dirty="0">
                <a:solidFill>
                  <a:srgbClr val="243B53"/>
                </a:solidFill>
                <a:latin typeface="Aptos" pitchFamily="34" charset="0"/>
                <a:ea typeface="Aptos" pitchFamily="34" charset="-122"/>
                <a:cs typeface="Aptos" pitchFamily="34" charset="-120"/>
              </a:rPr>
              <a:t>Confunde marcado con comprobado.</a:t>
            </a:r>
            <a:endParaRPr lang="en-US" sz="1040" dirty="0"/>
          </a:p>
        </p:txBody>
      </p:sp>
      <p:sp>
        <p:nvSpPr>
          <p:cNvPr id="24" name="Shape 21"/>
          <p:cNvSpPr/>
          <p:nvPr/>
        </p:nvSpPr>
        <p:spPr>
          <a:xfrm>
            <a:off x="658368" y="4645152"/>
            <a:ext cx="5346040" cy="384048"/>
          </a:xfrm>
          <a:prstGeom prst="rect">
            <a:avLst/>
          </a:prstGeom>
          <a:solidFill>
            <a:srgbClr val="FFFFFF"/>
          </a:solidFill>
          <a:ln w="12700">
            <a:solidFill>
              <a:srgbClr val="FFFFFF"/>
            </a:solidFill>
            <a:prstDash val="solid"/>
          </a:ln>
        </p:spPr>
      </p:sp>
      <p:sp>
        <p:nvSpPr>
          <p:cNvPr id="25" name="Text 22"/>
          <p:cNvSpPr txBox="1"/>
          <p:nvPr/>
        </p:nvSpPr>
        <p:spPr>
          <a:xfrm>
            <a:off x="859536" y="4672584"/>
            <a:ext cx="4943704" cy="164592"/>
          </a:xfrm>
          <a:prstGeom prst="rect">
            <a:avLst/>
          </a:prstGeom>
          <a:noFill/>
          <a:ln/>
        </p:spPr>
        <p:txBody>
          <a:bodyPr wrap="square" lIns="0" tIns="0" rIns="0" bIns="0" rtlCol="0" anchor="t"/>
          <a:lstStyle/>
          <a:p>
            <a:pPr algn="l" indent="0" marL="0">
              <a:buNone/>
            </a:pPr>
            <a:r>
              <a:rPr lang="en-US" sz="860" b="1" spc="50" kern="0" dirty="0">
                <a:solidFill>
                  <a:srgbClr val="52606D"/>
                </a:solidFill>
                <a:latin typeface="Aptos" pitchFamily="34" charset="0"/>
                <a:ea typeface="Aptos" pitchFamily="34" charset="-122"/>
                <a:cs typeface="Aptos" pitchFamily="34" charset="-120"/>
              </a:rPr>
              <a:t>Cuándo vuelve a responder</a:t>
            </a:r>
            <a:endParaRPr lang="en-US" sz="860" dirty="0"/>
          </a:p>
        </p:txBody>
      </p:sp>
      <p:sp>
        <p:nvSpPr>
          <p:cNvPr id="26" name="Text 23"/>
          <p:cNvSpPr txBox="1"/>
          <p:nvPr/>
        </p:nvSpPr>
        <p:spPr>
          <a:xfrm>
            <a:off x="859536" y="4837176"/>
            <a:ext cx="4943704" cy="182880"/>
          </a:xfrm>
          <a:prstGeom prst="rect">
            <a:avLst/>
          </a:prstGeom>
          <a:noFill/>
          <a:ln/>
        </p:spPr>
        <p:txBody>
          <a:bodyPr wrap="square" lIns="0" tIns="0" rIns="0" bIns="0" rtlCol="0" anchor="t"/>
          <a:lstStyle/>
          <a:p>
            <a:pPr algn="l" indent="0" marL="0">
              <a:buNone/>
            </a:pPr>
            <a:r>
              <a:rPr lang="en-US" sz="1040" dirty="0">
                <a:solidFill>
                  <a:srgbClr val="243B53"/>
                </a:solidFill>
                <a:latin typeface="Aptos" pitchFamily="34" charset="0"/>
                <a:ea typeface="Aptos" pitchFamily="34" charset="-122"/>
                <a:cs typeface="Aptos" pitchFamily="34" charset="-120"/>
              </a:rPr>
              <a:t>Cada vez que se lo ejecuta.</a:t>
            </a:r>
            <a:endParaRPr lang="en-US" sz="1040" dirty="0"/>
          </a:p>
        </p:txBody>
      </p:sp>
      <p:sp>
        <p:nvSpPr>
          <p:cNvPr id="27" name="Shape 24"/>
          <p:cNvSpPr/>
          <p:nvPr/>
        </p:nvSpPr>
        <p:spPr>
          <a:xfrm>
            <a:off x="658368" y="5084064"/>
            <a:ext cx="5346040" cy="384048"/>
          </a:xfrm>
          <a:prstGeom prst="rect">
            <a:avLst/>
          </a:prstGeom>
          <a:solidFill>
            <a:srgbClr val="EDE6DA"/>
          </a:solidFill>
          <a:ln w="12700">
            <a:solidFill>
              <a:srgbClr val="EDE6DA"/>
            </a:solidFill>
            <a:prstDash val="solid"/>
          </a:ln>
        </p:spPr>
      </p:sp>
      <p:sp>
        <p:nvSpPr>
          <p:cNvPr id="28" name="Text 25"/>
          <p:cNvSpPr txBox="1"/>
          <p:nvPr/>
        </p:nvSpPr>
        <p:spPr>
          <a:xfrm>
            <a:off x="859536" y="5111496"/>
            <a:ext cx="4943704" cy="164592"/>
          </a:xfrm>
          <a:prstGeom prst="rect">
            <a:avLst/>
          </a:prstGeom>
          <a:noFill/>
          <a:ln/>
        </p:spPr>
        <p:txBody>
          <a:bodyPr wrap="square" lIns="0" tIns="0" rIns="0" bIns="0" rtlCol="0" anchor="t"/>
          <a:lstStyle/>
          <a:p>
            <a:pPr algn="l" indent="0" marL="0">
              <a:buNone/>
            </a:pPr>
            <a:r>
              <a:rPr lang="en-US" sz="860" b="1" spc="50" kern="0" dirty="0">
                <a:solidFill>
                  <a:srgbClr val="52606D"/>
                </a:solidFill>
                <a:latin typeface="Aptos" pitchFamily="34" charset="0"/>
                <a:ea typeface="Aptos" pitchFamily="34" charset="-122"/>
                <a:cs typeface="Aptos" pitchFamily="34" charset="-120"/>
              </a:rPr>
              <a:t>Qué produce</a:t>
            </a:r>
            <a:endParaRPr lang="en-US" sz="860" dirty="0"/>
          </a:p>
        </p:txBody>
      </p:sp>
      <p:sp>
        <p:nvSpPr>
          <p:cNvPr id="29" name="Text 26"/>
          <p:cNvSpPr txBox="1"/>
          <p:nvPr/>
        </p:nvSpPr>
        <p:spPr>
          <a:xfrm>
            <a:off x="859536" y="5276088"/>
            <a:ext cx="4943704" cy="182880"/>
          </a:xfrm>
          <a:prstGeom prst="rect">
            <a:avLst/>
          </a:prstGeom>
          <a:noFill/>
          <a:ln/>
        </p:spPr>
        <p:txBody>
          <a:bodyPr wrap="square" lIns="0" tIns="0" rIns="0" bIns="0" rtlCol="0" anchor="t"/>
          <a:lstStyle/>
          <a:p>
            <a:pPr algn="l" indent="0" marL="0">
              <a:buNone/>
            </a:pPr>
            <a:r>
              <a:rPr lang="en-US" sz="1040" dirty="0">
                <a:solidFill>
                  <a:srgbClr val="243B53"/>
                </a:solidFill>
                <a:latin typeface="Aptos" pitchFamily="34" charset="0"/>
                <a:ea typeface="Aptos" pitchFamily="34" charset="-122"/>
                <a:cs typeface="Aptos" pitchFamily="34" charset="-120"/>
              </a:rPr>
              <a:t>Un hecho mecánico y reproducible.</a:t>
            </a:r>
            <a:endParaRPr lang="en-US" sz="1040" dirty="0"/>
          </a:p>
        </p:txBody>
      </p:sp>
      <p:sp>
        <p:nvSpPr>
          <p:cNvPr id="30" name="Shape 27"/>
          <p:cNvSpPr/>
          <p:nvPr/>
        </p:nvSpPr>
        <p:spPr>
          <a:xfrm>
            <a:off x="6187288" y="3328416"/>
            <a:ext cx="5346040" cy="365760"/>
          </a:xfrm>
          <a:prstGeom prst="rect">
            <a:avLst/>
          </a:prstGeom>
          <a:solidFill>
            <a:srgbClr val="8A6A12"/>
          </a:solidFill>
          <a:ln w="12700">
            <a:solidFill>
              <a:srgbClr val="8A6A12"/>
            </a:solidFill>
            <a:prstDash val="solid"/>
          </a:ln>
        </p:spPr>
      </p:sp>
      <p:sp>
        <p:nvSpPr>
          <p:cNvPr id="31" name="Text 28"/>
          <p:cNvSpPr txBox="1"/>
          <p:nvPr/>
        </p:nvSpPr>
        <p:spPr>
          <a:xfrm>
            <a:off x="6242152" y="3364992"/>
            <a:ext cx="5236312" cy="292608"/>
          </a:xfrm>
          <a:prstGeom prst="rect">
            <a:avLst/>
          </a:prstGeom>
          <a:noFill/>
          <a:ln/>
        </p:spPr>
        <p:txBody>
          <a:bodyPr wrap="square" lIns="0" tIns="0" rIns="0" bIns="0" rtlCol="0" anchor="ctr"/>
          <a:lstStyle/>
          <a:p>
            <a:pPr algn="ctr" indent="0" marL="0">
              <a:buNone/>
            </a:pPr>
            <a:r>
              <a:rPr lang="en-US" sz="1060" b="1" spc="100" kern="0" dirty="0">
                <a:solidFill>
                  <a:srgbClr val="FFFFFF"/>
                </a:solidFill>
                <a:latin typeface="Aptos" pitchFamily="34" charset="0"/>
                <a:ea typeface="Aptos" pitchFamily="34" charset="-122"/>
                <a:cs typeface="Aptos" pitchFamily="34" charset="-120"/>
              </a:rPr>
              <a:t>EL AGENTE</a:t>
            </a:r>
            <a:endParaRPr lang="en-US" sz="1060" dirty="0"/>
          </a:p>
        </p:txBody>
      </p:sp>
      <p:sp>
        <p:nvSpPr>
          <p:cNvPr id="32" name="Shape 29"/>
          <p:cNvSpPr/>
          <p:nvPr/>
        </p:nvSpPr>
        <p:spPr>
          <a:xfrm>
            <a:off x="6187288" y="3767328"/>
            <a:ext cx="5346040" cy="384048"/>
          </a:xfrm>
          <a:prstGeom prst="rect">
            <a:avLst/>
          </a:prstGeom>
          <a:solidFill>
            <a:srgbClr val="FFFFFF"/>
          </a:solidFill>
          <a:ln w="12700">
            <a:solidFill>
              <a:srgbClr val="FFFFFF"/>
            </a:solidFill>
            <a:prstDash val="solid"/>
          </a:ln>
        </p:spPr>
      </p:sp>
      <p:sp>
        <p:nvSpPr>
          <p:cNvPr id="33" name="Text 30"/>
          <p:cNvSpPr txBox="1"/>
          <p:nvPr/>
        </p:nvSpPr>
        <p:spPr>
          <a:xfrm>
            <a:off x="6388456" y="3794760"/>
            <a:ext cx="4943704" cy="164592"/>
          </a:xfrm>
          <a:prstGeom prst="rect">
            <a:avLst/>
          </a:prstGeom>
          <a:noFill/>
          <a:ln/>
        </p:spPr>
        <p:txBody>
          <a:bodyPr wrap="square" lIns="0" tIns="0" rIns="0" bIns="0" rtlCol="0" anchor="t"/>
          <a:lstStyle/>
          <a:p>
            <a:pPr algn="l" indent="0" marL="0">
              <a:buNone/>
            </a:pPr>
            <a:r>
              <a:rPr lang="en-US" sz="860" b="1" spc="50" kern="0" dirty="0">
                <a:solidFill>
                  <a:srgbClr val="52606D"/>
                </a:solidFill>
                <a:latin typeface="Aptos" pitchFamily="34" charset="0"/>
                <a:ea typeface="Aptos" pitchFamily="34" charset="-122"/>
                <a:cs typeface="Aptos" pitchFamily="34" charset="-120"/>
              </a:rPr>
              <a:t>De dónde saca su respuesta</a:t>
            </a:r>
            <a:endParaRPr lang="en-US" sz="860" dirty="0"/>
          </a:p>
        </p:txBody>
      </p:sp>
      <p:sp>
        <p:nvSpPr>
          <p:cNvPr id="34" name="Text 31"/>
          <p:cNvSpPr txBox="1"/>
          <p:nvPr/>
        </p:nvSpPr>
        <p:spPr>
          <a:xfrm>
            <a:off x="6388456" y="3959352"/>
            <a:ext cx="4943704" cy="182880"/>
          </a:xfrm>
          <a:prstGeom prst="rect">
            <a:avLst/>
          </a:prstGeom>
          <a:noFill/>
          <a:ln/>
        </p:spPr>
        <p:txBody>
          <a:bodyPr wrap="square" lIns="0" tIns="0" rIns="0" bIns="0" rtlCol="0" anchor="t"/>
          <a:lstStyle/>
          <a:p>
            <a:pPr algn="l" indent="0" marL="0">
              <a:buNone/>
            </a:pPr>
            <a:r>
              <a:rPr lang="en-US" sz="1040" dirty="0">
                <a:solidFill>
                  <a:srgbClr val="243B53"/>
                </a:solidFill>
                <a:latin typeface="Aptos" pitchFamily="34" charset="0"/>
                <a:ea typeface="Aptos" pitchFamily="34" charset="-122"/>
                <a:cs typeface="Aptos" pitchFamily="34" charset="-120"/>
              </a:rPr>
              <a:t>De leer el requisito y la aserción.</a:t>
            </a:r>
            <a:endParaRPr lang="en-US" sz="1040" dirty="0"/>
          </a:p>
        </p:txBody>
      </p:sp>
      <p:sp>
        <p:nvSpPr>
          <p:cNvPr id="35" name="Shape 32"/>
          <p:cNvSpPr/>
          <p:nvPr/>
        </p:nvSpPr>
        <p:spPr>
          <a:xfrm>
            <a:off x="6187288" y="4206240"/>
            <a:ext cx="5346040" cy="384048"/>
          </a:xfrm>
          <a:prstGeom prst="rect">
            <a:avLst/>
          </a:prstGeom>
          <a:solidFill>
            <a:srgbClr val="EDE6DA"/>
          </a:solidFill>
          <a:ln w="12700">
            <a:solidFill>
              <a:srgbClr val="EDE6DA"/>
            </a:solidFill>
            <a:prstDash val="solid"/>
          </a:ln>
        </p:spPr>
      </p:sp>
      <p:sp>
        <p:nvSpPr>
          <p:cNvPr id="36" name="Text 33"/>
          <p:cNvSpPr txBox="1"/>
          <p:nvPr/>
        </p:nvSpPr>
        <p:spPr>
          <a:xfrm>
            <a:off x="6388456" y="4233672"/>
            <a:ext cx="4943704" cy="164592"/>
          </a:xfrm>
          <a:prstGeom prst="rect">
            <a:avLst/>
          </a:prstGeom>
          <a:noFill/>
          <a:ln/>
        </p:spPr>
        <p:txBody>
          <a:bodyPr wrap="square" lIns="0" tIns="0" rIns="0" bIns="0" rtlCol="0" anchor="t"/>
          <a:lstStyle/>
          <a:p>
            <a:pPr algn="l" indent="0" marL="0">
              <a:buNone/>
            </a:pPr>
            <a:r>
              <a:rPr lang="en-US" sz="860" b="1" spc="50" kern="0" dirty="0">
                <a:solidFill>
                  <a:srgbClr val="52606D"/>
                </a:solidFill>
                <a:latin typeface="Aptos" pitchFamily="34" charset="0"/>
                <a:ea typeface="Aptos" pitchFamily="34" charset="-122"/>
                <a:cs typeface="Aptos" pitchFamily="34" charset="-120"/>
              </a:rPr>
              <a:t>En qué se equivoca</a:t>
            </a:r>
            <a:endParaRPr lang="en-US" sz="860" dirty="0"/>
          </a:p>
        </p:txBody>
      </p:sp>
      <p:sp>
        <p:nvSpPr>
          <p:cNvPr id="37" name="Text 34"/>
          <p:cNvSpPr txBox="1"/>
          <p:nvPr/>
        </p:nvSpPr>
        <p:spPr>
          <a:xfrm>
            <a:off x="6388456" y="4398264"/>
            <a:ext cx="4943704" cy="182880"/>
          </a:xfrm>
          <a:prstGeom prst="rect">
            <a:avLst/>
          </a:prstGeom>
          <a:noFill/>
          <a:ln/>
        </p:spPr>
        <p:txBody>
          <a:bodyPr wrap="square" lIns="0" tIns="0" rIns="0" bIns="0" rtlCol="0" anchor="t"/>
          <a:lstStyle/>
          <a:p>
            <a:pPr algn="l" indent="0" marL="0">
              <a:buNone/>
            </a:pPr>
            <a:r>
              <a:rPr lang="en-US" sz="1040" dirty="0">
                <a:solidFill>
                  <a:srgbClr val="243B53"/>
                </a:solidFill>
                <a:latin typeface="Aptos" pitchFamily="34" charset="0"/>
                <a:ea typeface="Aptos" pitchFamily="34" charset="-122"/>
                <a:cs typeface="Aptos" pitchFamily="34" charset="-120"/>
              </a:rPr>
              <a:t>Puede dar por cubierto lo que no lo está.</a:t>
            </a:r>
            <a:endParaRPr lang="en-US" sz="1040" dirty="0"/>
          </a:p>
        </p:txBody>
      </p:sp>
      <p:sp>
        <p:nvSpPr>
          <p:cNvPr id="38" name="Shape 35"/>
          <p:cNvSpPr/>
          <p:nvPr/>
        </p:nvSpPr>
        <p:spPr>
          <a:xfrm>
            <a:off x="6187288" y="4645152"/>
            <a:ext cx="5346040" cy="384048"/>
          </a:xfrm>
          <a:prstGeom prst="rect">
            <a:avLst/>
          </a:prstGeom>
          <a:solidFill>
            <a:srgbClr val="FFFFFF"/>
          </a:solidFill>
          <a:ln w="12700">
            <a:solidFill>
              <a:srgbClr val="FFFFFF"/>
            </a:solidFill>
            <a:prstDash val="solid"/>
          </a:ln>
        </p:spPr>
      </p:sp>
      <p:sp>
        <p:nvSpPr>
          <p:cNvPr id="39" name="Text 36"/>
          <p:cNvSpPr txBox="1"/>
          <p:nvPr/>
        </p:nvSpPr>
        <p:spPr>
          <a:xfrm>
            <a:off x="6388456" y="4672584"/>
            <a:ext cx="4943704" cy="164592"/>
          </a:xfrm>
          <a:prstGeom prst="rect">
            <a:avLst/>
          </a:prstGeom>
          <a:noFill/>
          <a:ln/>
        </p:spPr>
        <p:txBody>
          <a:bodyPr wrap="square" lIns="0" tIns="0" rIns="0" bIns="0" rtlCol="0" anchor="t"/>
          <a:lstStyle/>
          <a:p>
            <a:pPr algn="l" indent="0" marL="0">
              <a:buNone/>
            </a:pPr>
            <a:r>
              <a:rPr lang="en-US" sz="860" b="1" spc="50" kern="0" dirty="0">
                <a:solidFill>
                  <a:srgbClr val="52606D"/>
                </a:solidFill>
                <a:latin typeface="Aptos" pitchFamily="34" charset="0"/>
                <a:ea typeface="Aptos" pitchFamily="34" charset="-122"/>
                <a:cs typeface="Aptos" pitchFamily="34" charset="-120"/>
              </a:rPr>
              <a:t>Cuándo vuelve a responder</a:t>
            </a:r>
            <a:endParaRPr lang="en-US" sz="860" dirty="0"/>
          </a:p>
        </p:txBody>
      </p:sp>
      <p:sp>
        <p:nvSpPr>
          <p:cNvPr id="40" name="Text 37"/>
          <p:cNvSpPr txBox="1"/>
          <p:nvPr/>
        </p:nvSpPr>
        <p:spPr>
          <a:xfrm>
            <a:off x="6388456" y="4837176"/>
            <a:ext cx="4943704" cy="182880"/>
          </a:xfrm>
          <a:prstGeom prst="rect">
            <a:avLst/>
          </a:prstGeom>
          <a:noFill/>
          <a:ln/>
        </p:spPr>
        <p:txBody>
          <a:bodyPr wrap="square" lIns="0" tIns="0" rIns="0" bIns="0" rtlCol="0" anchor="t"/>
          <a:lstStyle/>
          <a:p>
            <a:pPr algn="l" indent="0" marL="0">
              <a:buNone/>
            </a:pPr>
            <a:r>
              <a:rPr lang="en-US" sz="1040" dirty="0">
                <a:solidFill>
                  <a:srgbClr val="243B53"/>
                </a:solidFill>
                <a:latin typeface="Aptos" pitchFamily="34" charset="0"/>
                <a:ea typeface="Aptos" pitchFamily="34" charset="-122"/>
                <a:cs typeface="Aptos" pitchFamily="34" charset="-120"/>
              </a:rPr>
              <a:t>Cuando alguien se acuerda de preguntarle.</a:t>
            </a:r>
            <a:endParaRPr lang="en-US" sz="1040" dirty="0"/>
          </a:p>
        </p:txBody>
      </p:sp>
      <p:sp>
        <p:nvSpPr>
          <p:cNvPr id="41" name="Shape 38"/>
          <p:cNvSpPr/>
          <p:nvPr/>
        </p:nvSpPr>
        <p:spPr>
          <a:xfrm>
            <a:off x="6187288" y="5084064"/>
            <a:ext cx="5346040" cy="384048"/>
          </a:xfrm>
          <a:prstGeom prst="rect">
            <a:avLst/>
          </a:prstGeom>
          <a:solidFill>
            <a:srgbClr val="EDE6DA"/>
          </a:solidFill>
          <a:ln w="12700">
            <a:solidFill>
              <a:srgbClr val="EDE6DA"/>
            </a:solidFill>
            <a:prstDash val="solid"/>
          </a:ln>
        </p:spPr>
      </p:sp>
      <p:sp>
        <p:nvSpPr>
          <p:cNvPr id="42" name="Text 39"/>
          <p:cNvSpPr txBox="1"/>
          <p:nvPr/>
        </p:nvSpPr>
        <p:spPr>
          <a:xfrm>
            <a:off x="6388456" y="5111496"/>
            <a:ext cx="4943704" cy="164592"/>
          </a:xfrm>
          <a:prstGeom prst="rect">
            <a:avLst/>
          </a:prstGeom>
          <a:noFill/>
          <a:ln/>
        </p:spPr>
        <p:txBody>
          <a:bodyPr wrap="square" lIns="0" tIns="0" rIns="0" bIns="0" rtlCol="0" anchor="t"/>
          <a:lstStyle/>
          <a:p>
            <a:pPr algn="l" indent="0" marL="0">
              <a:buNone/>
            </a:pPr>
            <a:r>
              <a:rPr lang="en-US" sz="860" b="1" spc="50" kern="0" dirty="0">
                <a:solidFill>
                  <a:srgbClr val="52606D"/>
                </a:solidFill>
                <a:latin typeface="Aptos" pitchFamily="34" charset="0"/>
                <a:ea typeface="Aptos" pitchFamily="34" charset="-122"/>
                <a:cs typeface="Aptos" pitchFamily="34" charset="-120"/>
              </a:rPr>
              <a:t>Qué produce</a:t>
            </a:r>
            <a:endParaRPr lang="en-US" sz="860" dirty="0"/>
          </a:p>
        </p:txBody>
      </p:sp>
      <p:sp>
        <p:nvSpPr>
          <p:cNvPr id="43" name="Text 40"/>
          <p:cNvSpPr txBox="1"/>
          <p:nvPr/>
        </p:nvSpPr>
        <p:spPr>
          <a:xfrm>
            <a:off x="6388456" y="5276088"/>
            <a:ext cx="4943704" cy="182880"/>
          </a:xfrm>
          <a:prstGeom prst="rect">
            <a:avLst/>
          </a:prstGeom>
          <a:noFill/>
          <a:ln/>
        </p:spPr>
        <p:txBody>
          <a:bodyPr wrap="square" lIns="0" tIns="0" rIns="0" bIns="0" rtlCol="0" anchor="t"/>
          <a:lstStyle/>
          <a:p>
            <a:pPr algn="l" indent="0" marL="0">
              <a:buNone/>
            </a:pPr>
            <a:r>
              <a:rPr lang="en-US" sz="1040" dirty="0">
                <a:solidFill>
                  <a:srgbClr val="243B53"/>
                </a:solidFill>
                <a:latin typeface="Aptos" pitchFamily="34" charset="0"/>
                <a:ea typeface="Aptos" pitchFamily="34" charset="-122"/>
                <a:cs typeface="Aptos" pitchFamily="34" charset="-120"/>
              </a:rPr>
              <a:t>Un juicio, emitido una sola vez.</a:t>
            </a:r>
            <a:endParaRPr lang="en-US" sz="1040" dirty="0"/>
          </a:p>
        </p:txBody>
      </p:sp>
      <p:sp>
        <p:nvSpPr>
          <p:cNvPr id="44" name="Shape 41"/>
          <p:cNvSpPr/>
          <p:nvPr/>
        </p:nvSpPr>
        <p:spPr>
          <a:xfrm>
            <a:off x="658368" y="5650992"/>
            <a:ext cx="10874959" cy="548640"/>
          </a:xfrm>
          <a:prstGeom prst="rect">
            <a:avLst/>
          </a:prstGeom>
          <a:solidFill>
            <a:srgbClr val="102A43"/>
          </a:solidFill>
          <a:ln w="12700">
            <a:solidFill>
              <a:srgbClr val="102A43"/>
            </a:solidFill>
            <a:prstDash val="solid"/>
          </a:ln>
        </p:spPr>
      </p:sp>
      <p:sp>
        <p:nvSpPr>
          <p:cNvPr id="45" name="Text 42"/>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El programa sostiene el esqueleto, el agente audita, y el mutante arbitra.</a:t>
            </a:r>
            <a:endParaRPr lang="en-US" sz="138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37</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3 · CIERRE</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Tres preguntas antes de los derechos</a:t>
            </a:r>
            <a:endParaRPr lang="en-US" sz="3000" dirty="0"/>
          </a:p>
        </p:txBody>
      </p:sp>
      <p:sp>
        <p:nvSpPr>
          <p:cNvPr id="10" name="Text 7"/>
          <p:cNvSpPr txBox="1"/>
          <p:nvPr/>
        </p:nvSpPr>
        <p:spPr>
          <a:xfrm>
            <a:off x="658368" y="1664208"/>
            <a:ext cx="10424160" cy="329184"/>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Tres preguntas para comprobar la idea central antes de seguir.</a:t>
            </a:r>
            <a:endParaRPr lang="en-US" sz="1420" dirty="0"/>
          </a:p>
        </p:txBody>
      </p:sp>
      <p:sp>
        <p:nvSpPr>
          <p:cNvPr id="11" name="Shape 8"/>
          <p:cNvSpPr/>
          <p:nvPr/>
        </p:nvSpPr>
        <p:spPr>
          <a:xfrm>
            <a:off x="658368" y="2139696"/>
            <a:ext cx="10874959" cy="1097280"/>
          </a:xfrm>
          <a:prstGeom prst="rect">
            <a:avLst/>
          </a:prstGeom>
          <a:solidFill>
            <a:srgbClr val="F2E7D9"/>
          </a:solidFill>
          <a:ln w="12700">
            <a:solidFill>
              <a:srgbClr val="F2E7D9"/>
            </a:solidFill>
            <a:prstDash val="solid"/>
          </a:ln>
        </p:spPr>
      </p:sp>
      <p:sp>
        <p:nvSpPr>
          <p:cNvPr id="12" name="Shape 9"/>
          <p:cNvSpPr/>
          <p:nvPr/>
        </p:nvSpPr>
        <p:spPr>
          <a:xfrm>
            <a:off x="658368" y="2139696"/>
            <a:ext cx="54864" cy="1097280"/>
          </a:xfrm>
          <a:prstGeom prst="rect">
            <a:avLst/>
          </a:prstGeom>
          <a:solidFill>
            <a:srgbClr val="B3181E"/>
          </a:solidFill>
          <a:ln w="12700">
            <a:solidFill>
              <a:srgbClr val="B3181E"/>
            </a:solidFill>
            <a:prstDash val="solid"/>
          </a:ln>
        </p:spPr>
      </p:sp>
      <p:sp>
        <p:nvSpPr>
          <p:cNvPr id="13" name="Text 10"/>
          <p:cNvSpPr txBox="1"/>
          <p:nvPr/>
        </p:nvSpPr>
        <p:spPr>
          <a:xfrm>
            <a:off x="914400" y="2286000"/>
            <a:ext cx="493776" cy="420624"/>
          </a:xfrm>
          <a:prstGeom prst="rect">
            <a:avLst/>
          </a:prstGeom>
          <a:noFill/>
          <a:ln/>
        </p:spPr>
        <p:txBody>
          <a:bodyPr wrap="square" lIns="0" tIns="0" rIns="0" bIns="0" rtlCol="0" anchor="ctr"/>
          <a:lstStyle/>
          <a:p>
            <a:pPr algn="ctr" indent="0" marL="0">
              <a:buNone/>
            </a:pPr>
            <a:r>
              <a:rPr lang="en-US" sz="2600" b="1" dirty="0">
                <a:solidFill>
                  <a:srgbClr val="B3181E"/>
                </a:solidFill>
                <a:latin typeface="Aptos Display" pitchFamily="34" charset="0"/>
                <a:ea typeface="Aptos Display" pitchFamily="34" charset="-122"/>
                <a:cs typeface="Aptos Display" pitchFamily="34" charset="-120"/>
              </a:rPr>
              <a:t>1</a:t>
            </a:r>
            <a:endParaRPr lang="en-US" sz="2600" dirty="0"/>
          </a:p>
        </p:txBody>
      </p:sp>
      <p:sp>
        <p:nvSpPr>
          <p:cNvPr id="14" name="Text 11"/>
          <p:cNvSpPr txBox="1"/>
          <p:nvPr/>
        </p:nvSpPr>
        <p:spPr>
          <a:xfrm>
            <a:off x="1591056" y="2267712"/>
            <a:ext cx="9649663" cy="457200"/>
          </a:xfrm>
          <a:prstGeom prst="rect">
            <a:avLst/>
          </a:prstGeom>
          <a:noFill/>
          <a:ln/>
        </p:spPr>
        <p:txBody>
          <a:bodyPr wrap="square" lIns="0" tIns="0" rIns="0" bIns="0" rtlCol="0" anchor="t"/>
          <a:lstStyle/>
          <a:p>
            <a:pPr algn="l" indent="0" marL="0">
              <a:lnSpc>
                <a:spcPct val="114000"/>
              </a:lnSpc>
              <a:buNone/>
            </a:pPr>
            <a:r>
              <a:rPr lang="en-US" sz="1340" dirty="0">
                <a:solidFill>
                  <a:srgbClr val="243B53"/>
                </a:solidFill>
                <a:latin typeface="Aptos" pitchFamily="34" charset="0"/>
                <a:ea typeface="Aptos" pitchFamily="34" charset="-122"/>
                <a:cs typeface="Aptos" pitchFamily="34" charset="-120"/>
              </a:rPr>
              <a:t>La matriz informa RF-06 como cubierto y el mutante demostró que no lo está. Un compañero propone arreglar el programa para que detecte esos casos. ¿Qué tendría que poder hacer?</a:t>
            </a:r>
            <a:endParaRPr lang="en-US" sz="1340" dirty="0"/>
          </a:p>
        </p:txBody>
      </p:sp>
      <p:sp>
        <p:nvSpPr>
          <p:cNvPr id="15" name="Shape 12"/>
          <p:cNvSpPr/>
          <p:nvPr/>
        </p:nvSpPr>
        <p:spPr>
          <a:xfrm>
            <a:off x="1591056" y="2798064"/>
            <a:ext cx="9649663" cy="0"/>
          </a:xfrm>
          <a:prstGeom prst="line">
            <a:avLst/>
          </a:prstGeom>
          <a:noFill/>
          <a:ln w="12700">
            <a:solidFill>
              <a:srgbClr val="D8CFC4"/>
            </a:solidFill>
            <a:prstDash val="solid"/>
            <a:headEnd type="none"/>
            <a:tailEnd type="none"/>
          </a:ln>
        </p:spPr>
      </p:sp>
      <p:sp>
        <p:nvSpPr>
          <p:cNvPr id="16" name="Text 13"/>
          <p:cNvSpPr txBox="1"/>
          <p:nvPr/>
        </p:nvSpPr>
        <p:spPr>
          <a:xfrm>
            <a:off x="1591056" y="2889504"/>
            <a:ext cx="640080" cy="164592"/>
          </a:xfrm>
          <a:prstGeom prst="rect">
            <a:avLst/>
          </a:prstGeom>
          <a:noFill/>
          <a:ln/>
        </p:spPr>
        <p:txBody>
          <a:bodyPr wrap="square" lIns="0" tIns="0" rIns="0" bIns="0" rtlCol="0" anchor="t"/>
          <a:lstStyle/>
          <a:p>
            <a:pPr algn="l" indent="0" marL="0">
              <a:buNone/>
            </a:pPr>
            <a:r>
              <a:rPr lang="en-US" sz="840" b="1" spc="110" kern="0" dirty="0">
                <a:solidFill>
                  <a:srgbClr val="B3181E"/>
                </a:solidFill>
                <a:latin typeface="Aptos" pitchFamily="34" charset="0"/>
                <a:ea typeface="Aptos" pitchFamily="34" charset="-122"/>
                <a:cs typeface="Aptos" pitchFamily="34" charset="-120"/>
              </a:rPr>
              <a:t>PISTA</a:t>
            </a:r>
            <a:endParaRPr lang="en-US" sz="840" dirty="0"/>
          </a:p>
        </p:txBody>
      </p:sp>
      <p:sp>
        <p:nvSpPr>
          <p:cNvPr id="17" name="Text 14"/>
          <p:cNvSpPr txBox="1"/>
          <p:nvPr/>
        </p:nvSpPr>
        <p:spPr>
          <a:xfrm>
            <a:off x="2286000" y="2862072"/>
            <a:ext cx="8954719" cy="256032"/>
          </a:xfrm>
          <a:prstGeom prst="rect">
            <a:avLst/>
          </a:prstGeom>
          <a:noFill/>
          <a:ln/>
        </p:spPr>
        <p:txBody>
          <a:bodyPr wrap="square" lIns="0" tIns="0" rIns="0" bIns="0" rtlCol="0" anchor="t"/>
          <a:lstStyle/>
          <a:p>
            <a:pPr algn="l" indent="0" marL="0">
              <a:buNone/>
            </a:pPr>
            <a:r>
              <a:rPr lang="en-US" sz="1140" i="1" dirty="0">
                <a:solidFill>
                  <a:srgbClr val="52606D"/>
                </a:solidFill>
                <a:latin typeface="Aptos" pitchFamily="34" charset="0"/>
                <a:ea typeface="Aptos" pitchFamily="34" charset="-122"/>
                <a:cs typeface="Aptos" pitchFamily="34" charset="-120"/>
              </a:rPr>
              <a:t>Tendría que decidir si una aserción comprueba lo que un requisito en español promete.</a:t>
            </a:r>
            <a:endParaRPr lang="en-US" sz="1140" dirty="0"/>
          </a:p>
        </p:txBody>
      </p:sp>
      <p:sp>
        <p:nvSpPr>
          <p:cNvPr id="18" name="Shape 15"/>
          <p:cNvSpPr/>
          <p:nvPr/>
        </p:nvSpPr>
        <p:spPr>
          <a:xfrm>
            <a:off x="658368" y="3364992"/>
            <a:ext cx="10874959" cy="1097280"/>
          </a:xfrm>
          <a:prstGeom prst="rect">
            <a:avLst/>
          </a:prstGeom>
          <a:solidFill>
            <a:srgbClr val="EDE6DA"/>
          </a:solidFill>
          <a:ln w="12700">
            <a:solidFill>
              <a:srgbClr val="EDE6DA"/>
            </a:solidFill>
            <a:prstDash val="solid"/>
          </a:ln>
        </p:spPr>
      </p:sp>
      <p:sp>
        <p:nvSpPr>
          <p:cNvPr id="19" name="Shape 16"/>
          <p:cNvSpPr/>
          <p:nvPr/>
        </p:nvSpPr>
        <p:spPr>
          <a:xfrm>
            <a:off x="658368" y="3364992"/>
            <a:ext cx="54864" cy="1097280"/>
          </a:xfrm>
          <a:prstGeom prst="rect">
            <a:avLst/>
          </a:prstGeom>
          <a:solidFill>
            <a:srgbClr val="102A43"/>
          </a:solidFill>
          <a:ln w="12700">
            <a:solidFill>
              <a:srgbClr val="102A43"/>
            </a:solidFill>
            <a:prstDash val="solid"/>
          </a:ln>
        </p:spPr>
      </p:sp>
      <p:sp>
        <p:nvSpPr>
          <p:cNvPr id="20" name="Text 17"/>
          <p:cNvSpPr txBox="1"/>
          <p:nvPr/>
        </p:nvSpPr>
        <p:spPr>
          <a:xfrm>
            <a:off x="914400" y="3511296"/>
            <a:ext cx="493776" cy="420624"/>
          </a:xfrm>
          <a:prstGeom prst="rect">
            <a:avLst/>
          </a:prstGeom>
          <a:noFill/>
          <a:ln/>
        </p:spPr>
        <p:txBody>
          <a:bodyPr wrap="square" lIns="0" tIns="0" rIns="0" bIns="0" rtlCol="0" anchor="ctr"/>
          <a:lstStyle/>
          <a:p>
            <a:pPr algn="ctr" indent="0" marL="0">
              <a:buNone/>
            </a:pPr>
            <a:r>
              <a:rPr lang="en-US" sz="2600" b="1" dirty="0">
                <a:solidFill>
                  <a:srgbClr val="102A43"/>
                </a:solidFill>
                <a:latin typeface="Aptos Display" pitchFamily="34" charset="0"/>
                <a:ea typeface="Aptos Display" pitchFamily="34" charset="-122"/>
                <a:cs typeface="Aptos Display" pitchFamily="34" charset="-120"/>
              </a:rPr>
              <a:t>2</a:t>
            </a:r>
            <a:endParaRPr lang="en-US" sz="2600" dirty="0"/>
          </a:p>
        </p:txBody>
      </p:sp>
      <p:sp>
        <p:nvSpPr>
          <p:cNvPr id="21" name="Text 18"/>
          <p:cNvSpPr txBox="1"/>
          <p:nvPr/>
        </p:nvSpPr>
        <p:spPr>
          <a:xfrm>
            <a:off x="1591056" y="3493008"/>
            <a:ext cx="9649663" cy="457200"/>
          </a:xfrm>
          <a:prstGeom prst="rect">
            <a:avLst/>
          </a:prstGeom>
          <a:noFill/>
          <a:ln/>
        </p:spPr>
        <p:txBody>
          <a:bodyPr wrap="square" lIns="0" tIns="0" rIns="0" bIns="0" rtlCol="0" anchor="t"/>
          <a:lstStyle/>
          <a:p>
            <a:pPr algn="l" indent="0" marL="0">
              <a:lnSpc>
                <a:spcPct val="114000"/>
              </a:lnSpc>
              <a:buNone/>
            </a:pPr>
            <a:r>
              <a:rPr lang="en-US" sz="1340" dirty="0">
                <a:solidFill>
                  <a:srgbClr val="243B53"/>
                </a:solidFill>
                <a:latin typeface="Aptos" pitchFamily="34" charset="0"/>
                <a:ea typeface="Aptos" pitchFamily="34" charset="-122"/>
                <a:cs typeface="Aptos" pitchFamily="34" charset="-120"/>
              </a:rPr>
              <a:t>La función de cancelación estuvo siete sesiones sin una sola prueba y la suite informó sus resultados todos los días. ¿Qué otro artefacto podría haberlo detectado antes?</a:t>
            </a:r>
            <a:endParaRPr lang="en-US" sz="1340" dirty="0"/>
          </a:p>
        </p:txBody>
      </p:sp>
      <p:sp>
        <p:nvSpPr>
          <p:cNvPr id="22" name="Shape 19"/>
          <p:cNvSpPr/>
          <p:nvPr/>
        </p:nvSpPr>
        <p:spPr>
          <a:xfrm>
            <a:off x="1591056" y="4023360"/>
            <a:ext cx="9649663" cy="0"/>
          </a:xfrm>
          <a:prstGeom prst="line">
            <a:avLst/>
          </a:prstGeom>
          <a:noFill/>
          <a:ln w="12700">
            <a:solidFill>
              <a:srgbClr val="D8CFC4"/>
            </a:solidFill>
            <a:prstDash val="solid"/>
            <a:headEnd type="none"/>
            <a:tailEnd type="none"/>
          </a:ln>
        </p:spPr>
      </p:sp>
      <p:sp>
        <p:nvSpPr>
          <p:cNvPr id="23" name="Text 20"/>
          <p:cNvSpPr txBox="1"/>
          <p:nvPr/>
        </p:nvSpPr>
        <p:spPr>
          <a:xfrm>
            <a:off x="1591056" y="4114800"/>
            <a:ext cx="640080" cy="164592"/>
          </a:xfrm>
          <a:prstGeom prst="rect">
            <a:avLst/>
          </a:prstGeom>
          <a:noFill/>
          <a:ln/>
        </p:spPr>
        <p:txBody>
          <a:bodyPr wrap="square" lIns="0" tIns="0" rIns="0" bIns="0" rtlCol="0" anchor="t"/>
          <a:lstStyle/>
          <a:p>
            <a:pPr algn="l" indent="0" marL="0">
              <a:buNone/>
            </a:pPr>
            <a:r>
              <a:rPr lang="en-US" sz="840" b="1" spc="110" kern="0" dirty="0">
                <a:solidFill>
                  <a:srgbClr val="102A43"/>
                </a:solidFill>
                <a:latin typeface="Aptos" pitchFamily="34" charset="0"/>
                <a:ea typeface="Aptos" pitchFamily="34" charset="-122"/>
                <a:cs typeface="Aptos" pitchFamily="34" charset="-120"/>
              </a:rPr>
              <a:t>PISTA</a:t>
            </a:r>
            <a:endParaRPr lang="en-US" sz="840" dirty="0"/>
          </a:p>
        </p:txBody>
      </p:sp>
      <p:sp>
        <p:nvSpPr>
          <p:cNvPr id="24" name="Text 21"/>
          <p:cNvSpPr txBox="1"/>
          <p:nvPr/>
        </p:nvSpPr>
        <p:spPr>
          <a:xfrm>
            <a:off x="2286000" y="4087368"/>
            <a:ext cx="8954719" cy="256032"/>
          </a:xfrm>
          <a:prstGeom prst="rect">
            <a:avLst/>
          </a:prstGeom>
          <a:noFill/>
          <a:ln/>
        </p:spPr>
        <p:txBody>
          <a:bodyPr wrap="square" lIns="0" tIns="0" rIns="0" bIns="0" rtlCol="0" anchor="t"/>
          <a:lstStyle/>
          <a:p>
            <a:pPr algn="l" indent="0" marL="0">
              <a:buNone/>
            </a:pPr>
            <a:r>
              <a:rPr lang="en-US" sz="1140" i="1" dirty="0">
                <a:solidFill>
                  <a:srgbClr val="52606D"/>
                </a:solidFill>
                <a:latin typeface="Aptos" pitchFamily="34" charset="0"/>
                <a:ea typeface="Aptos" pitchFamily="34" charset="-122"/>
                <a:cs typeface="Aptos" pitchFamily="34" charset="-120"/>
              </a:rPr>
              <a:t>Repasa lo que mide la cobertura y lo que mide el recuento del bloque anterior. ¿Cuál mostraba un cero?</a:t>
            </a:r>
            <a:endParaRPr lang="en-US" sz="1140" dirty="0"/>
          </a:p>
        </p:txBody>
      </p:sp>
      <p:sp>
        <p:nvSpPr>
          <p:cNvPr id="25" name="Shape 22"/>
          <p:cNvSpPr/>
          <p:nvPr/>
        </p:nvSpPr>
        <p:spPr>
          <a:xfrm>
            <a:off x="658368" y="4590288"/>
            <a:ext cx="10874959" cy="1097280"/>
          </a:xfrm>
          <a:prstGeom prst="rect">
            <a:avLst/>
          </a:prstGeom>
          <a:solidFill>
            <a:srgbClr val="F2E7D9"/>
          </a:solidFill>
          <a:ln w="12700">
            <a:solidFill>
              <a:srgbClr val="F2E7D9"/>
            </a:solidFill>
            <a:prstDash val="solid"/>
          </a:ln>
        </p:spPr>
      </p:sp>
      <p:sp>
        <p:nvSpPr>
          <p:cNvPr id="26" name="Shape 23"/>
          <p:cNvSpPr/>
          <p:nvPr/>
        </p:nvSpPr>
        <p:spPr>
          <a:xfrm>
            <a:off x="658368" y="4590288"/>
            <a:ext cx="54864" cy="1097280"/>
          </a:xfrm>
          <a:prstGeom prst="rect">
            <a:avLst/>
          </a:prstGeom>
          <a:solidFill>
            <a:srgbClr val="8A6A12"/>
          </a:solidFill>
          <a:ln w="12700">
            <a:solidFill>
              <a:srgbClr val="8A6A12"/>
            </a:solidFill>
            <a:prstDash val="solid"/>
          </a:ln>
        </p:spPr>
      </p:sp>
      <p:sp>
        <p:nvSpPr>
          <p:cNvPr id="27" name="Text 24"/>
          <p:cNvSpPr txBox="1"/>
          <p:nvPr/>
        </p:nvSpPr>
        <p:spPr>
          <a:xfrm>
            <a:off x="914400" y="4736592"/>
            <a:ext cx="493776" cy="420624"/>
          </a:xfrm>
          <a:prstGeom prst="rect">
            <a:avLst/>
          </a:prstGeom>
          <a:noFill/>
          <a:ln/>
        </p:spPr>
        <p:txBody>
          <a:bodyPr wrap="square" lIns="0" tIns="0" rIns="0" bIns="0" rtlCol="0" anchor="ctr"/>
          <a:lstStyle/>
          <a:p>
            <a:pPr algn="ctr" indent="0" marL="0">
              <a:buNone/>
            </a:pPr>
            <a:r>
              <a:rPr lang="en-US" sz="2600" b="1" dirty="0">
                <a:solidFill>
                  <a:srgbClr val="8A6A12"/>
                </a:solidFill>
                <a:latin typeface="Aptos Display" pitchFamily="34" charset="0"/>
                <a:ea typeface="Aptos Display" pitchFamily="34" charset="-122"/>
                <a:cs typeface="Aptos Display" pitchFamily="34" charset="-120"/>
              </a:rPr>
              <a:t>3</a:t>
            </a:r>
            <a:endParaRPr lang="en-US" sz="2600" dirty="0"/>
          </a:p>
        </p:txBody>
      </p:sp>
      <p:sp>
        <p:nvSpPr>
          <p:cNvPr id="28" name="Text 25"/>
          <p:cNvSpPr txBox="1"/>
          <p:nvPr/>
        </p:nvSpPr>
        <p:spPr>
          <a:xfrm>
            <a:off x="1591056" y="4718304"/>
            <a:ext cx="9649663" cy="457200"/>
          </a:xfrm>
          <a:prstGeom prst="rect">
            <a:avLst/>
          </a:prstGeom>
          <a:noFill/>
          <a:ln/>
        </p:spPr>
        <p:txBody>
          <a:bodyPr wrap="square" lIns="0" tIns="0" rIns="0" bIns="0" rtlCol="0" anchor="t"/>
          <a:lstStyle/>
          <a:p>
            <a:pPr algn="l" indent="0" marL="0">
              <a:lnSpc>
                <a:spcPct val="114000"/>
              </a:lnSpc>
              <a:buNone/>
            </a:pPr>
            <a:r>
              <a:rPr lang="en-US" sz="1340" dirty="0">
                <a:solidFill>
                  <a:srgbClr val="243B53"/>
                </a:solidFill>
                <a:latin typeface="Aptos" pitchFamily="34" charset="0"/>
                <a:ea typeface="Aptos" pitchFamily="34" charset="-122"/>
                <a:cs typeface="Aptos" pitchFamily="34" charset="-120"/>
              </a:rPr>
              <a:t>El agente acertó donde el programa falló y además detectó dos coberturas parciales. Si es mejor en todo lo comparado, ¿por qué no se reemplaza el programa por el agente?</a:t>
            </a:r>
            <a:endParaRPr lang="en-US" sz="1340" dirty="0"/>
          </a:p>
        </p:txBody>
      </p:sp>
      <p:sp>
        <p:nvSpPr>
          <p:cNvPr id="29" name="Shape 26"/>
          <p:cNvSpPr/>
          <p:nvPr/>
        </p:nvSpPr>
        <p:spPr>
          <a:xfrm>
            <a:off x="1591056" y="5248656"/>
            <a:ext cx="9649663" cy="0"/>
          </a:xfrm>
          <a:prstGeom prst="line">
            <a:avLst/>
          </a:prstGeom>
          <a:noFill/>
          <a:ln w="12700">
            <a:solidFill>
              <a:srgbClr val="D8CFC4"/>
            </a:solidFill>
            <a:prstDash val="solid"/>
            <a:headEnd type="none"/>
            <a:tailEnd type="none"/>
          </a:ln>
        </p:spPr>
      </p:sp>
      <p:sp>
        <p:nvSpPr>
          <p:cNvPr id="30" name="Text 27"/>
          <p:cNvSpPr txBox="1"/>
          <p:nvPr/>
        </p:nvSpPr>
        <p:spPr>
          <a:xfrm>
            <a:off x="1591056" y="5340096"/>
            <a:ext cx="640080" cy="164592"/>
          </a:xfrm>
          <a:prstGeom prst="rect">
            <a:avLst/>
          </a:prstGeom>
          <a:noFill/>
          <a:ln/>
        </p:spPr>
        <p:txBody>
          <a:bodyPr wrap="square" lIns="0" tIns="0" rIns="0" bIns="0" rtlCol="0" anchor="t"/>
          <a:lstStyle/>
          <a:p>
            <a:pPr algn="l" indent="0" marL="0">
              <a:buNone/>
            </a:pPr>
            <a:r>
              <a:rPr lang="en-US" sz="840" b="1" spc="110" kern="0" dirty="0">
                <a:solidFill>
                  <a:srgbClr val="8A6A12"/>
                </a:solidFill>
                <a:latin typeface="Aptos" pitchFamily="34" charset="0"/>
                <a:ea typeface="Aptos" pitchFamily="34" charset="-122"/>
                <a:cs typeface="Aptos" pitchFamily="34" charset="-120"/>
              </a:rPr>
              <a:t>PISTA</a:t>
            </a:r>
            <a:endParaRPr lang="en-US" sz="840" dirty="0"/>
          </a:p>
        </p:txBody>
      </p:sp>
      <p:sp>
        <p:nvSpPr>
          <p:cNvPr id="31" name="Text 28"/>
          <p:cNvSpPr txBox="1"/>
          <p:nvPr/>
        </p:nvSpPr>
        <p:spPr>
          <a:xfrm>
            <a:off x="2286000" y="5312664"/>
            <a:ext cx="8954719" cy="256032"/>
          </a:xfrm>
          <a:prstGeom prst="rect">
            <a:avLst/>
          </a:prstGeom>
          <a:noFill/>
          <a:ln/>
        </p:spPr>
        <p:txBody>
          <a:bodyPr wrap="square" lIns="0" tIns="0" rIns="0" bIns="0" rtlCol="0" anchor="t"/>
          <a:lstStyle/>
          <a:p>
            <a:pPr algn="l" indent="0" marL="0">
              <a:buNone/>
            </a:pPr>
            <a:r>
              <a:rPr lang="en-US" sz="1140" i="1" dirty="0">
                <a:solidFill>
                  <a:srgbClr val="52606D"/>
                </a:solidFill>
                <a:latin typeface="Aptos" pitchFamily="34" charset="0"/>
                <a:ea typeface="Aptos" pitchFamily="34" charset="-122"/>
                <a:cs typeface="Aptos" pitchFamily="34" charset="-120"/>
              </a:rPr>
              <a:t>Mira las dos últimas filas de la comparación. ¿Qué pasa con cada uno el día que nadie se acuerda?</a:t>
            </a:r>
            <a:endParaRPr lang="en-US" sz="114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38</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3 · CONTRASTE</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Lo que tenía que aparecer</a:t>
            </a:r>
            <a:endParaRPr lang="en-US" sz="3000" dirty="0"/>
          </a:p>
        </p:txBody>
      </p:sp>
      <p:sp>
        <p:nvSpPr>
          <p:cNvPr id="10" name="Text 7"/>
          <p:cNvSpPr txBox="1"/>
          <p:nvPr/>
        </p:nvSpPr>
        <p:spPr>
          <a:xfrm>
            <a:off x="658368" y="1664208"/>
            <a:ext cx="10424160" cy="329184"/>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Las respuestas conservan el mismo orden y color que las preguntas.</a:t>
            </a:r>
            <a:endParaRPr lang="en-US" sz="1420" dirty="0"/>
          </a:p>
        </p:txBody>
      </p:sp>
      <p:sp>
        <p:nvSpPr>
          <p:cNvPr id="11" name="Shape 8"/>
          <p:cNvSpPr/>
          <p:nvPr/>
        </p:nvSpPr>
        <p:spPr>
          <a:xfrm>
            <a:off x="658368" y="2139696"/>
            <a:ext cx="10874959" cy="1243584"/>
          </a:xfrm>
          <a:prstGeom prst="rect">
            <a:avLst/>
          </a:prstGeom>
          <a:solidFill>
            <a:srgbClr val="FFFFFF"/>
          </a:solidFill>
          <a:ln w="12700">
            <a:solidFill>
              <a:srgbClr val="FFFFFF"/>
            </a:solidFill>
            <a:prstDash val="solid"/>
          </a:ln>
        </p:spPr>
      </p:sp>
      <p:sp>
        <p:nvSpPr>
          <p:cNvPr id="12" name="Shape 9"/>
          <p:cNvSpPr/>
          <p:nvPr/>
        </p:nvSpPr>
        <p:spPr>
          <a:xfrm>
            <a:off x="658368" y="2139696"/>
            <a:ext cx="54864" cy="1243584"/>
          </a:xfrm>
          <a:prstGeom prst="rect">
            <a:avLst/>
          </a:prstGeom>
          <a:solidFill>
            <a:srgbClr val="B3181E"/>
          </a:solidFill>
          <a:ln w="12700">
            <a:solidFill>
              <a:srgbClr val="B3181E"/>
            </a:solidFill>
            <a:prstDash val="solid"/>
          </a:ln>
        </p:spPr>
      </p:sp>
      <p:sp>
        <p:nvSpPr>
          <p:cNvPr id="13" name="Text 10"/>
          <p:cNvSpPr txBox="1"/>
          <p:nvPr/>
        </p:nvSpPr>
        <p:spPr>
          <a:xfrm>
            <a:off x="896112" y="2304288"/>
            <a:ext cx="493776" cy="457200"/>
          </a:xfrm>
          <a:prstGeom prst="rect">
            <a:avLst/>
          </a:prstGeom>
          <a:noFill/>
          <a:ln/>
        </p:spPr>
        <p:txBody>
          <a:bodyPr wrap="square" lIns="0" tIns="0" rIns="0" bIns="0" rtlCol="0" anchor="ctr"/>
          <a:lstStyle/>
          <a:p>
            <a:pPr algn="ctr" indent="0" marL="0">
              <a:buNone/>
            </a:pPr>
            <a:r>
              <a:rPr lang="en-US" sz="2700" b="1" dirty="0">
                <a:solidFill>
                  <a:srgbClr val="B3181E"/>
                </a:solidFill>
                <a:latin typeface="Aptos Display" pitchFamily="34" charset="0"/>
                <a:ea typeface="Aptos Display" pitchFamily="34" charset="-122"/>
                <a:cs typeface="Aptos Display" pitchFamily="34" charset="-120"/>
              </a:rPr>
              <a:t>1</a:t>
            </a:r>
            <a:endParaRPr lang="en-US" sz="2700" dirty="0"/>
          </a:p>
        </p:txBody>
      </p:sp>
      <p:sp>
        <p:nvSpPr>
          <p:cNvPr id="14" name="Text 11"/>
          <p:cNvSpPr txBox="1"/>
          <p:nvPr/>
        </p:nvSpPr>
        <p:spPr>
          <a:xfrm>
            <a:off x="1591056" y="2249424"/>
            <a:ext cx="2926080" cy="164592"/>
          </a:xfrm>
          <a:prstGeom prst="rect">
            <a:avLst/>
          </a:prstGeom>
          <a:noFill/>
          <a:ln/>
        </p:spPr>
        <p:txBody>
          <a:bodyPr wrap="square" lIns="0" tIns="0" rIns="0" bIns="0" rtlCol="0" anchor="t"/>
          <a:lstStyle/>
          <a:p>
            <a:pPr algn="l" indent="0" marL="0">
              <a:buNone/>
            </a:pPr>
            <a:r>
              <a:rPr lang="en-US" sz="830" b="1" spc="100" kern="0" dirty="0">
                <a:solidFill>
                  <a:srgbClr val="B3181E"/>
                </a:solidFill>
                <a:latin typeface="Aptos" pitchFamily="34" charset="0"/>
                <a:ea typeface="Aptos" pitchFamily="34" charset="-122"/>
                <a:cs typeface="Aptos" pitchFamily="34" charset="-120"/>
              </a:rPr>
              <a:t>TENDRÍA QUE TENER CRITERIO</a:t>
            </a:r>
            <a:endParaRPr lang="en-US" sz="830" dirty="0"/>
          </a:p>
        </p:txBody>
      </p:sp>
      <p:sp>
        <p:nvSpPr>
          <p:cNvPr id="15" name="Text 12"/>
          <p:cNvSpPr txBox="1"/>
          <p:nvPr/>
        </p:nvSpPr>
        <p:spPr>
          <a:xfrm>
            <a:off x="1591056" y="2468880"/>
            <a:ext cx="9649663" cy="347472"/>
          </a:xfrm>
          <a:prstGeom prst="rect">
            <a:avLst/>
          </a:prstGeom>
          <a:noFill/>
          <a:ln/>
        </p:spPr>
        <p:txBody>
          <a:bodyPr wrap="square" lIns="0" tIns="0" rIns="0" bIns="0" rtlCol="0" anchor="t"/>
          <a:lstStyle/>
          <a:p>
            <a:pPr algn="l" indent="0" marL="0">
              <a:lnSpc>
                <a:spcPct val="112000"/>
              </a:lnSpc>
              <a:buNone/>
            </a:pPr>
            <a:r>
              <a:rPr lang="en-US" sz="1240" b="1" dirty="0">
                <a:solidFill>
                  <a:srgbClr val="243B53"/>
                </a:solidFill>
                <a:latin typeface="Aptos" pitchFamily="34" charset="0"/>
                <a:ea typeface="Aptos" pitchFamily="34" charset="-122"/>
                <a:cs typeface="Aptos" pitchFamily="34" charset="-120"/>
              </a:rPr>
              <a:t>Decidir si una aserción cumple un requisito redactado en español es un juicio, no un cruce de listas.</a:t>
            </a:r>
            <a:endParaRPr lang="en-US" sz="1240" dirty="0"/>
          </a:p>
        </p:txBody>
      </p:sp>
      <p:sp>
        <p:nvSpPr>
          <p:cNvPr id="16" name="Shape 13"/>
          <p:cNvSpPr/>
          <p:nvPr/>
        </p:nvSpPr>
        <p:spPr>
          <a:xfrm>
            <a:off x="1591056" y="2871216"/>
            <a:ext cx="9649663" cy="0"/>
          </a:xfrm>
          <a:prstGeom prst="line">
            <a:avLst/>
          </a:prstGeom>
          <a:noFill/>
          <a:ln w="12700">
            <a:solidFill>
              <a:srgbClr val="D8CFC4"/>
            </a:solidFill>
            <a:prstDash val="solid"/>
            <a:headEnd type="none"/>
            <a:tailEnd type="none"/>
          </a:ln>
        </p:spPr>
      </p:sp>
      <p:sp>
        <p:nvSpPr>
          <p:cNvPr id="17" name="Text 14"/>
          <p:cNvSpPr txBox="1"/>
          <p:nvPr/>
        </p:nvSpPr>
        <p:spPr>
          <a:xfrm>
            <a:off x="1591056" y="2962656"/>
            <a:ext cx="1188720" cy="155448"/>
          </a:xfrm>
          <a:prstGeom prst="rect">
            <a:avLst/>
          </a:prstGeom>
          <a:noFill/>
          <a:ln/>
        </p:spPr>
        <p:txBody>
          <a:bodyPr wrap="square" lIns="0" tIns="0" rIns="0" bIns="0" rtlCol="0" anchor="t"/>
          <a:lstStyle/>
          <a:p>
            <a:pPr algn="l" indent="0" marL="0">
              <a:buNone/>
            </a:pPr>
            <a:r>
              <a:rPr lang="en-US" sz="800" b="1" spc="90" kern="0" dirty="0">
                <a:solidFill>
                  <a:srgbClr val="2E7D4F"/>
                </a:solidFill>
                <a:latin typeface="Aptos" pitchFamily="34" charset="0"/>
                <a:ea typeface="Aptos" pitchFamily="34" charset="-122"/>
                <a:cs typeface="Aptos" pitchFamily="34" charset="-120"/>
              </a:rPr>
              <a:t>LO QUE REVELA</a:t>
            </a:r>
            <a:endParaRPr lang="en-US" sz="800" dirty="0"/>
          </a:p>
        </p:txBody>
      </p:sp>
      <p:sp>
        <p:nvSpPr>
          <p:cNvPr id="18" name="Text 15"/>
          <p:cNvSpPr txBox="1"/>
          <p:nvPr/>
        </p:nvSpPr>
        <p:spPr>
          <a:xfrm>
            <a:off x="2871216" y="2935224"/>
            <a:ext cx="3712464" cy="310896"/>
          </a:xfrm>
          <a:prstGeom prst="rect">
            <a:avLst/>
          </a:prstGeom>
          <a:noFill/>
          <a:ln/>
        </p:spPr>
        <p:txBody>
          <a:bodyPr wrap="square" lIns="0" tIns="0" rIns="0" bIns="0" rtlCol="0" anchor="t"/>
          <a:lstStyle/>
          <a:p>
            <a:pPr algn="l" indent="0" marL="0">
              <a:lnSpc>
                <a:spcPct val="110000"/>
              </a:lnSpc>
              <a:buNone/>
            </a:pPr>
            <a:r>
              <a:rPr lang="en-US" sz="1020" dirty="0">
                <a:solidFill>
                  <a:srgbClr val="243B53"/>
                </a:solidFill>
                <a:latin typeface="Aptos" pitchFamily="34" charset="0"/>
                <a:ea typeface="Aptos" pitchFamily="34" charset="-122"/>
                <a:cs typeface="Aptos" pitchFamily="34" charset="-120"/>
              </a:rPr>
              <a:t>Ese es justamente el problema que resuelve un agente, y el que un programa no resuelve.</a:t>
            </a:r>
            <a:endParaRPr lang="en-US" sz="1020" dirty="0"/>
          </a:p>
        </p:txBody>
      </p:sp>
      <p:sp>
        <p:nvSpPr>
          <p:cNvPr id="19" name="Text 16"/>
          <p:cNvSpPr txBox="1"/>
          <p:nvPr/>
        </p:nvSpPr>
        <p:spPr>
          <a:xfrm>
            <a:off x="6784848" y="2962656"/>
            <a:ext cx="1325880" cy="155448"/>
          </a:xfrm>
          <a:prstGeom prst="rect">
            <a:avLst/>
          </a:prstGeom>
          <a:noFill/>
          <a:ln/>
        </p:spPr>
        <p:txBody>
          <a:bodyPr wrap="square" lIns="0" tIns="0" rIns="0" bIns="0" rtlCol="0" anchor="t"/>
          <a:lstStyle/>
          <a:p>
            <a:pPr algn="l" indent="0" marL="0">
              <a:buNone/>
            </a:pPr>
            <a:r>
              <a:rPr lang="en-US" sz="800" b="1" spc="90" kern="0" dirty="0">
                <a:solidFill>
                  <a:srgbClr val="B3181E"/>
                </a:solidFill>
                <a:latin typeface="Aptos" pitchFamily="34" charset="0"/>
                <a:ea typeface="Aptos" pitchFamily="34" charset="-122"/>
                <a:cs typeface="Aptos" pitchFamily="34" charset="-120"/>
              </a:rPr>
              <a:t>ERROR FRECUENTE</a:t>
            </a:r>
            <a:endParaRPr lang="en-US" sz="800" dirty="0"/>
          </a:p>
        </p:txBody>
      </p:sp>
      <p:sp>
        <p:nvSpPr>
          <p:cNvPr id="20" name="Text 17"/>
          <p:cNvSpPr txBox="1"/>
          <p:nvPr/>
        </p:nvSpPr>
        <p:spPr>
          <a:xfrm>
            <a:off x="8138160" y="2935224"/>
            <a:ext cx="3063240" cy="310896"/>
          </a:xfrm>
          <a:prstGeom prst="rect">
            <a:avLst/>
          </a:prstGeom>
          <a:noFill/>
          <a:ln/>
        </p:spPr>
        <p:txBody>
          <a:bodyPr wrap="square" lIns="0" tIns="0" rIns="0" bIns="0" rtlCol="0" anchor="t"/>
          <a:lstStyle/>
          <a:p>
            <a:pPr algn="l" indent="0" marL="0">
              <a:lnSpc>
                <a:spcPct val="110000"/>
              </a:lnSpc>
              <a:buNone/>
            </a:pPr>
            <a:r>
              <a:rPr lang="en-US" sz="1020" i="1" dirty="0">
                <a:solidFill>
                  <a:srgbClr val="52606D"/>
                </a:solidFill>
                <a:latin typeface="Aptos" pitchFamily="34" charset="0"/>
                <a:ea typeface="Aptos" pitchFamily="34" charset="-122"/>
                <a:cs typeface="Aptos" pitchFamily="34" charset="-120"/>
              </a:rPr>
              <a:t>Pedirle a un artefacto mecánico una respuesta que exige interpretar el lenguaje.</a:t>
            </a:r>
            <a:endParaRPr lang="en-US" sz="1020" dirty="0"/>
          </a:p>
        </p:txBody>
      </p:sp>
      <p:sp>
        <p:nvSpPr>
          <p:cNvPr id="21" name="Shape 18"/>
          <p:cNvSpPr/>
          <p:nvPr/>
        </p:nvSpPr>
        <p:spPr>
          <a:xfrm>
            <a:off x="658368" y="3493008"/>
            <a:ext cx="10874959" cy="1243584"/>
          </a:xfrm>
          <a:prstGeom prst="rect">
            <a:avLst/>
          </a:prstGeom>
          <a:solidFill>
            <a:srgbClr val="FFFFFF"/>
          </a:solidFill>
          <a:ln w="12700">
            <a:solidFill>
              <a:srgbClr val="FFFFFF"/>
            </a:solidFill>
            <a:prstDash val="solid"/>
          </a:ln>
        </p:spPr>
      </p:sp>
      <p:sp>
        <p:nvSpPr>
          <p:cNvPr id="22" name="Shape 19"/>
          <p:cNvSpPr/>
          <p:nvPr/>
        </p:nvSpPr>
        <p:spPr>
          <a:xfrm>
            <a:off x="658368" y="3493008"/>
            <a:ext cx="54864" cy="1243584"/>
          </a:xfrm>
          <a:prstGeom prst="rect">
            <a:avLst/>
          </a:prstGeom>
          <a:solidFill>
            <a:srgbClr val="102A43"/>
          </a:solidFill>
          <a:ln w="12700">
            <a:solidFill>
              <a:srgbClr val="102A43"/>
            </a:solidFill>
            <a:prstDash val="solid"/>
          </a:ln>
        </p:spPr>
      </p:sp>
      <p:sp>
        <p:nvSpPr>
          <p:cNvPr id="23" name="Text 20"/>
          <p:cNvSpPr txBox="1"/>
          <p:nvPr/>
        </p:nvSpPr>
        <p:spPr>
          <a:xfrm>
            <a:off x="896112" y="3657600"/>
            <a:ext cx="493776" cy="457200"/>
          </a:xfrm>
          <a:prstGeom prst="rect">
            <a:avLst/>
          </a:prstGeom>
          <a:noFill/>
          <a:ln/>
        </p:spPr>
        <p:txBody>
          <a:bodyPr wrap="square" lIns="0" tIns="0" rIns="0" bIns="0" rtlCol="0" anchor="ctr"/>
          <a:lstStyle/>
          <a:p>
            <a:pPr algn="ctr" indent="0" marL="0">
              <a:buNone/>
            </a:pPr>
            <a:r>
              <a:rPr lang="en-US" sz="2700" b="1" dirty="0">
                <a:solidFill>
                  <a:srgbClr val="102A43"/>
                </a:solidFill>
                <a:latin typeface="Aptos Display" pitchFamily="34" charset="0"/>
                <a:ea typeface="Aptos Display" pitchFamily="34" charset="-122"/>
                <a:cs typeface="Aptos Display" pitchFamily="34" charset="-120"/>
              </a:rPr>
              <a:t>2</a:t>
            </a:r>
            <a:endParaRPr lang="en-US" sz="2700" dirty="0"/>
          </a:p>
        </p:txBody>
      </p:sp>
      <p:sp>
        <p:nvSpPr>
          <p:cNvPr id="24" name="Text 21"/>
          <p:cNvSpPr txBox="1"/>
          <p:nvPr/>
        </p:nvSpPr>
        <p:spPr>
          <a:xfrm>
            <a:off x="1591056" y="3602736"/>
            <a:ext cx="2926080" cy="164592"/>
          </a:xfrm>
          <a:prstGeom prst="rect">
            <a:avLst/>
          </a:prstGeom>
          <a:noFill/>
          <a:ln/>
        </p:spPr>
        <p:txBody>
          <a:bodyPr wrap="square" lIns="0" tIns="0" rIns="0" bIns="0" rtlCol="0" anchor="t"/>
          <a:lstStyle/>
          <a:p>
            <a:pPr algn="l" indent="0" marL="0">
              <a:buNone/>
            </a:pPr>
            <a:r>
              <a:rPr lang="en-US" sz="830" b="1" spc="100" kern="0" dirty="0">
                <a:solidFill>
                  <a:srgbClr val="102A43"/>
                </a:solidFill>
                <a:latin typeface="Aptos" pitchFamily="34" charset="0"/>
                <a:ea typeface="Aptos" pitchFamily="34" charset="-122"/>
                <a:cs typeface="Aptos" pitchFamily="34" charset="-120"/>
              </a:rPr>
              <a:t>EL RECUENTO POR ELEMENTO</a:t>
            </a:r>
            <a:endParaRPr lang="en-US" sz="830" dirty="0"/>
          </a:p>
        </p:txBody>
      </p:sp>
      <p:sp>
        <p:nvSpPr>
          <p:cNvPr id="25" name="Text 22"/>
          <p:cNvSpPr txBox="1"/>
          <p:nvPr/>
        </p:nvSpPr>
        <p:spPr>
          <a:xfrm>
            <a:off x="1591056" y="3822192"/>
            <a:ext cx="9649663" cy="347472"/>
          </a:xfrm>
          <a:prstGeom prst="rect">
            <a:avLst/>
          </a:prstGeom>
          <a:noFill/>
          <a:ln/>
        </p:spPr>
        <p:txBody>
          <a:bodyPr wrap="square" lIns="0" tIns="0" rIns="0" bIns="0" rtlCol="0" anchor="t"/>
          <a:lstStyle/>
          <a:p>
            <a:pPr algn="l" indent="0" marL="0">
              <a:lnSpc>
                <a:spcPct val="112000"/>
              </a:lnSpc>
              <a:buNone/>
            </a:pPr>
            <a:r>
              <a:rPr lang="en-US" sz="1240" b="1" dirty="0">
                <a:solidFill>
                  <a:srgbClr val="243B53"/>
                </a:solidFill>
                <a:latin typeface="Aptos" pitchFamily="34" charset="0"/>
                <a:ea typeface="Aptos" pitchFamily="34" charset="-122"/>
                <a:cs typeface="Aptos" pitchFamily="34" charset="-120"/>
              </a:rPr>
              <a:t>Un cero en esa función lo habría mostrado. La cobertura no, porque esa función nunca se ejecuta.</a:t>
            </a:r>
            <a:endParaRPr lang="en-US" sz="1240" dirty="0"/>
          </a:p>
        </p:txBody>
      </p:sp>
      <p:sp>
        <p:nvSpPr>
          <p:cNvPr id="26" name="Shape 23"/>
          <p:cNvSpPr/>
          <p:nvPr/>
        </p:nvSpPr>
        <p:spPr>
          <a:xfrm>
            <a:off x="1591056" y="4224528"/>
            <a:ext cx="9649663" cy="0"/>
          </a:xfrm>
          <a:prstGeom prst="line">
            <a:avLst/>
          </a:prstGeom>
          <a:noFill/>
          <a:ln w="12700">
            <a:solidFill>
              <a:srgbClr val="D8CFC4"/>
            </a:solidFill>
            <a:prstDash val="solid"/>
            <a:headEnd type="none"/>
            <a:tailEnd type="none"/>
          </a:ln>
        </p:spPr>
      </p:sp>
      <p:sp>
        <p:nvSpPr>
          <p:cNvPr id="27" name="Text 24"/>
          <p:cNvSpPr txBox="1"/>
          <p:nvPr/>
        </p:nvSpPr>
        <p:spPr>
          <a:xfrm>
            <a:off x="1591056" y="4315968"/>
            <a:ext cx="1188720" cy="155448"/>
          </a:xfrm>
          <a:prstGeom prst="rect">
            <a:avLst/>
          </a:prstGeom>
          <a:noFill/>
          <a:ln/>
        </p:spPr>
        <p:txBody>
          <a:bodyPr wrap="square" lIns="0" tIns="0" rIns="0" bIns="0" rtlCol="0" anchor="t"/>
          <a:lstStyle/>
          <a:p>
            <a:pPr algn="l" indent="0" marL="0">
              <a:buNone/>
            </a:pPr>
            <a:r>
              <a:rPr lang="en-US" sz="800" b="1" spc="90" kern="0" dirty="0">
                <a:solidFill>
                  <a:srgbClr val="2E7D4F"/>
                </a:solidFill>
                <a:latin typeface="Aptos" pitchFamily="34" charset="0"/>
                <a:ea typeface="Aptos" pitchFamily="34" charset="-122"/>
                <a:cs typeface="Aptos" pitchFamily="34" charset="-120"/>
              </a:rPr>
              <a:t>LO QUE REVELA</a:t>
            </a:r>
            <a:endParaRPr lang="en-US" sz="800" dirty="0"/>
          </a:p>
        </p:txBody>
      </p:sp>
      <p:sp>
        <p:nvSpPr>
          <p:cNvPr id="28" name="Text 25"/>
          <p:cNvSpPr txBox="1"/>
          <p:nvPr/>
        </p:nvSpPr>
        <p:spPr>
          <a:xfrm>
            <a:off x="2871216" y="4288536"/>
            <a:ext cx="3712464" cy="310896"/>
          </a:xfrm>
          <a:prstGeom prst="rect">
            <a:avLst/>
          </a:prstGeom>
          <a:noFill/>
          <a:ln/>
        </p:spPr>
        <p:txBody>
          <a:bodyPr wrap="square" lIns="0" tIns="0" rIns="0" bIns="0" rtlCol="0" anchor="t"/>
          <a:lstStyle/>
          <a:p>
            <a:pPr algn="l" indent="0" marL="0">
              <a:lnSpc>
                <a:spcPct val="110000"/>
              </a:lnSpc>
              <a:buNone/>
            </a:pPr>
            <a:r>
              <a:rPr lang="en-US" sz="1020" dirty="0">
                <a:solidFill>
                  <a:srgbClr val="243B53"/>
                </a:solidFill>
                <a:latin typeface="Aptos" pitchFamily="34" charset="0"/>
                <a:ea typeface="Aptos" pitchFamily="34" charset="-122"/>
                <a:cs typeface="Aptos" pitchFamily="34" charset="-120"/>
              </a:rPr>
              <a:t>Un cero es más elocuente que un porcentaje: no admite lectura optimista.</a:t>
            </a:r>
            <a:endParaRPr lang="en-US" sz="1020" dirty="0"/>
          </a:p>
        </p:txBody>
      </p:sp>
      <p:sp>
        <p:nvSpPr>
          <p:cNvPr id="29" name="Text 26"/>
          <p:cNvSpPr txBox="1"/>
          <p:nvPr/>
        </p:nvSpPr>
        <p:spPr>
          <a:xfrm>
            <a:off x="6784848" y="4315968"/>
            <a:ext cx="1325880" cy="155448"/>
          </a:xfrm>
          <a:prstGeom prst="rect">
            <a:avLst/>
          </a:prstGeom>
          <a:noFill/>
          <a:ln/>
        </p:spPr>
        <p:txBody>
          <a:bodyPr wrap="square" lIns="0" tIns="0" rIns="0" bIns="0" rtlCol="0" anchor="t"/>
          <a:lstStyle/>
          <a:p>
            <a:pPr algn="l" indent="0" marL="0">
              <a:buNone/>
            </a:pPr>
            <a:r>
              <a:rPr lang="en-US" sz="800" b="1" spc="90" kern="0" dirty="0">
                <a:solidFill>
                  <a:srgbClr val="B3181E"/>
                </a:solidFill>
                <a:latin typeface="Aptos" pitchFamily="34" charset="0"/>
                <a:ea typeface="Aptos" pitchFamily="34" charset="-122"/>
                <a:cs typeface="Aptos" pitchFamily="34" charset="-120"/>
              </a:rPr>
              <a:t>ERROR FRECUENTE</a:t>
            </a:r>
            <a:endParaRPr lang="en-US" sz="800" dirty="0"/>
          </a:p>
        </p:txBody>
      </p:sp>
      <p:sp>
        <p:nvSpPr>
          <p:cNvPr id="30" name="Text 27"/>
          <p:cNvSpPr txBox="1"/>
          <p:nvPr/>
        </p:nvSpPr>
        <p:spPr>
          <a:xfrm>
            <a:off x="8138160" y="4288536"/>
            <a:ext cx="3063240" cy="310896"/>
          </a:xfrm>
          <a:prstGeom prst="rect">
            <a:avLst/>
          </a:prstGeom>
          <a:noFill/>
          <a:ln/>
        </p:spPr>
        <p:txBody>
          <a:bodyPr wrap="square" lIns="0" tIns="0" rIns="0" bIns="0" rtlCol="0" anchor="t"/>
          <a:lstStyle/>
          <a:p>
            <a:pPr algn="l" indent="0" marL="0">
              <a:lnSpc>
                <a:spcPct val="110000"/>
              </a:lnSpc>
              <a:buNone/>
            </a:pPr>
            <a:r>
              <a:rPr lang="en-US" sz="1020" i="1" dirty="0">
                <a:solidFill>
                  <a:srgbClr val="52606D"/>
                </a:solidFill>
                <a:latin typeface="Aptos" pitchFamily="34" charset="0"/>
                <a:ea typeface="Aptos" pitchFamily="34" charset="-122"/>
                <a:cs typeface="Aptos" pitchFamily="34" charset="-120"/>
              </a:rPr>
              <a:t>Confiar en el porcentaje de cobertura para detectar lo que ni siquiera se recorre.</a:t>
            </a:r>
            <a:endParaRPr lang="en-US" sz="1020" dirty="0"/>
          </a:p>
        </p:txBody>
      </p:sp>
      <p:sp>
        <p:nvSpPr>
          <p:cNvPr id="31" name="Shape 28"/>
          <p:cNvSpPr/>
          <p:nvPr/>
        </p:nvSpPr>
        <p:spPr>
          <a:xfrm>
            <a:off x="658368" y="4846320"/>
            <a:ext cx="10874959" cy="1243584"/>
          </a:xfrm>
          <a:prstGeom prst="rect">
            <a:avLst/>
          </a:prstGeom>
          <a:solidFill>
            <a:srgbClr val="FFFFFF"/>
          </a:solidFill>
          <a:ln w="12700">
            <a:solidFill>
              <a:srgbClr val="FFFFFF"/>
            </a:solidFill>
            <a:prstDash val="solid"/>
          </a:ln>
        </p:spPr>
      </p:sp>
      <p:sp>
        <p:nvSpPr>
          <p:cNvPr id="32" name="Shape 29"/>
          <p:cNvSpPr/>
          <p:nvPr/>
        </p:nvSpPr>
        <p:spPr>
          <a:xfrm>
            <a:off x="658368" y="4846320"/>
            <a:ext cx="54864" cy="1243584"/>
          </a:xfrm>
          <a:prstGeom prst="rect">
            <a:avLst/>
          </a:prstGeom>
          <a:solidFill>
            <a:srgbClr val="8A6A12"/>
          </a:solidFill>
          <a:ln w="12700">
            <a:solidFill>
              <a:srgbClr val="8A6A12"/>
            </a:solidFill>
            <a:prstDash val="solid"/>
          </a:ln>
        </p:spPr>
      </p:sp>
      <p:sp>
        <p:nvSpPr>
          <p:cNvPr id="33" name="Text 30"/>
          <p:cNvSpPr txBox="1"/>
          <p:nvPr/>
        </p:nvSpPr>
        <p:spPr>
          <a:xfrm>
            <a:off x="896112" y="5010912"/>
            <a:ext cx="493776" cy="457200"/>
          </a:xfrm>
          <a:prstGeom prst="rect">
            <a:avLst/>
          </a:prstGeom>
          <a:noFill/>
          <a:ln/>
        </p:spPr>
        <p:txBody>
          <a:bodyPr wrap="square" lIns="0" tIns="0" rIns="0" bIns="0" rtlCol="0" anchor="ctr"/>
          <a:lstStyle/>
          <a:p>
            <a:pPr algn="ctr" indent="0" marL="0">
              <a:buNone/>
            </a:pPr>
            <a:r>
              <a:rPr lang="en-US" sz="2700" b="1" dirty="0">
                <a:solidFill>
                  <a:srgbClr val="8A6A12"/>
                </a:solidFill>
                <a:latin typeface="Aptos Display" pitchFamily="34" charset="0"/>
                <a:ea typeface="Aptos Display" pitchFamily="34" charset="-122"/>
                <a:cs typeface="Aptos Display" pitchFamily="34" charset="-120"/>
              </a:rPr>
              <a:t>3</a:t>
            </a:r>
            <a:endParaRPr lang="en-US" sz="2700" dirty="0"/>
          </a:p>
        </p:txBody>
      </p:sp>
      <p:sp>
        <p:nvSpPr>
          <p:cNvPr id="34" name="Text 31"/>
          <p:cNvSpPr txBox="1"/>
          <p:nvPr/>
        </p:nvSpPr>
        <p:spPr>
          <a:xfrm>
            <a:off x="1591056" y="4956048"/>
            <a:ext cx="2926080" cy="164592"/>
          </a:xfrm>
          <a:prstGeom prst="rect">
            <a:avLst/>
          </a:prstGeom>
          <a:noFill/>
          <a:ln/>
        </p:spPr>
        <p:txBody>
          <a:bodyPr wrap="square" lIns="0" tIns="0" rIns="0" bIns="0" rtlCol="0" anchor="t"/>
          <a:lstStyle/>
          <a:p>
            <a:pPr algn="l" indent="0" marL="0">
              <a:buNone/>
            </a:pPr>
            <a:r>
              <a:rPr lang="en-US" sz="830" b="1" spc="100" kern="0" dirty="0">
                <a:solidFill>
                  <a:srgbClr val="8A6A12"/>
                </a:solidFill>
                <a:latin typeface="Aptos" pitchFamily="34" charset="0"/>
                <a:ea typeface="Aptos" pitchFamily="34" charset="-122"/>
                <a:cs typeface="Aptos" pitchFamily="34" charset="-120"/>
              </a:rPr>
              <a:t>PORQUE NO VUELVE SOLO</a:t>
            </a:r>
            <a:endParaRPr lang="en-US" sz="830" dirty="0"/>
          </a:p>
        </p:txBody>
      </p:sp>
      <p:sp>
        <p:nvSpPr>
          <p:cNvPr id="35" name="Text 32"/>
          <p:cNvSpPr txBox="1"/>
          <p:nvPr/>
        </p:nvSpPr>
        <p:spPr>
          <a:xfrm>
            <a:off x="1591056" y="5175504"/>
            <a:ext cx="9649663" cy="347472"/>
          </a:xfrm>
          <a:prstGeom prst="rect">
            <a:avLst/>
          </a:prstGeom>
          <a:noFill/>
          <a:ln/>
        </p:spPr>
        <p:txBody>
          <a:bodyPr wrap="square" lIns="0" tIns="0" rIns="0" bIns="0" rtlCol="0" anchor="t"/>
          <a:lstStyle/>
          <a:p>
            <a:pPr algn="l" indent="0" marL="0">
              <a:lnSpc>
                <a:spcPct val="112000"/>
              </a:lnSpc>
              <a:buNone/>
            </a:pPr>
            <a:r>
              <a:rPr lang="en-US" sz="1240" b="1" dirty="0">
                <a:solidFill>
                  <a:srgbClr val="243B53"/>
                </a:solidFill>
                <a:latin typeface="Aptos" pitchFamily="34" charset="0"/>
                <a:ea typeface="Aptos" pitchFamily="34" charset="-122"/>
                <a:cs typeface="Aptos" pitchFamily="34" charset="-120"/>
              </a:rPr>
              <a:t>El programa responde igual todos los días sin que nadie lo pida; el juicio del agente hay que volver a pedirlo.</a:t>
            </a:r>
            <a:endParaRPr lang="en-US" sz="1240" dirty="0"/>
          </a:p>
        </p:txBody>
      </p:sp>
      <p:sp>
        <p:nvSpPr>
          <p:cNvPr id="36" name="Shape 33"/>
          <p:cNvSpPr/>
          <p:nvPr/>
        </p:nvSpPr>
        <p:spPr>
          <a:xfrm>
            <a:off x="1591056" y="5577840"/>
            <a:ext cx="9649663" cy="0"/>
          </a:xfrm>
          <a:prstGeom prst="line">
            <a:avLst/>
          </a:prstGeom>
          <a:noFill/>
          <a:ln w="12700">
            <a:solidFill>
              <a:srgbClr val="D8CFC4"/>
            </a:solidFill>
            <a:prstDash val="solid"/>
            <a:headEnd type="none"/>
            <a:tailEnd type="none"/>
          </a:ln>
        </p:spPr>
      </p:sp>
      <p:sp>
        <p:nvSpPr>
          <p:cNvPr id="37" name="Text 34"/>
          <p:cNvSpPr txBox="1"/>
          <p:nvPr/>
        </p:nvSpPr>
        <p:spPr>
          <a:xfrm>
            <a:off x="1591056" y="5669280"/>
            <a:ext cx="1188720" cy="155448"/>
          </a:xfrm>
          <a:prstGeom prst="rect">
            <a:avLst/>
          </a:prstGeom>
          <a:noFill/>
          <a:ln/>
        </p:spPr>
        <p:txBody>
          <a:bodyPr wrap="square" lIns="0" tIns="0" rIns="0" bIns="0" rtlCol="0" anchor="t"/>
          <a:lstStyle/>
          <a:p>
            <a:pPr algn="l" indent="0" marL="0">
              <a:buNone/>
            </a:pPr>
            <a:r>
              <a:rPr lang="en-US" sz="800" b="1" spc="90" kern="0" dirty="0">
                <a:solidFill>
                  <a:srgbClr val="2E7D4F"/>
                </a:solidFill>
                <a:latin typeface="Aptos" pitchFamily="34" charset="0"/>
                <a:ea typeface="Aptos" pitchFamily="34" charset="-122"/>
                <a:cs typeface="Aptos" pitchFamily="34" charset="-120"/>
              </a:rPr>
              <a:t>LO QUE REVELA</a:t>
            </a:r>
            <a:endParaRPr lang="en-US" sz="800" dirty="0"/>
          </a:p>
        </p:txBody>
      </p:sp>
      <p:sp>
        <p:nvSpPr>
          <p:cNvPr id="38" name="Text 35"/>
          <p:cNvSpPr txBox="1"/>
          <p:nvPr/>
        </p:nvSpPr>
        <p:spPr>
          <a:xfrm>
            <a:off x="2871216" y="5641848"/>
            <a:ext cx="3712464" cy="310896"/>
          </a:xfrm>
          <a:prstGeom prst="rect">
            <a:avLst/>
          </a:prstGeom>
          <a:noFill/>
          <a:ln/>
        </p:spPr>
        <p:txBody>
          <a:bodyPr wrap="square" lIns="0" tIns="0" rIns="0" bIns="0" rtlCol="0" anchor="t"/>
          <a:lstStyle/>
          <a:p>
            <a:pPr algn="l" indent="0" marL="0">
              <a:lnSpc>
                <a:spcPct val="110000"/>
              </a:lnSpc>
              <a:buNone/>
            </a:pPr>
            <a:r>
              <a:rPr lang="en-US" sz="1020" dirty="0">
                <a:solidFill>
                  <a:srgbClr val="243B53"/>
                </a:solidFill>
                <a:latin typeface="Aptos" pitchFamily="34" charset="0"/>
                <a:ea typeface="Aptos" pitchFamily="34" charset="-122"/>
                <a:cs typeface="Aptos" pitchFamily="34" charset="-120"/>
              </a:rPr>
              <a:t>Un juicio que no se reemite envejece igual que la planilla, y encima parece fresco.</a:t>
            </a:r>
            <a:endParaRPr lang="en-US" sz="1020" dirty="0"/>
          </a:p>
        </p:txBody>
      </p:sp>
      <p:sp>
        <p:nvSpPr>
          <p:cNvPr id="39" name="Text 36"/>
          <p:cNvSpPr txBox="1"/>
          <p:nvPr/>
        </p:nvSpPr>
        <p:spPr>
          <a:xfrm>
            <a:off x="6784848" y="5669280"/>
            <a:ext cx="1325880" cy="155448"/>
          </a:xfrm>
          <a:prstGeom prst="rect">
            <a:avLst/>
          </a:prstGeom>
          <a:noFill/>
          <a:ln/>
        </p:spPr>
        <p:txBody>
          <a:bodyPr wrap="square" lIns="0" tIns="0" rIns="0" bIns="0" rtlCol="0" anchor="t"/>
          <a:lstStyle/>
          <a:p>
            <a:pPr algn="l" indent="0" marL="0">
              <a:buNone/>
            </a:pPr>
            <a:r>
              <a:rPr lang="en-US" sz="800" b="1" spc="90" kern="0" dirty="0">
                <a:solidFill>
                  <a:srgbClr val="B3181E"/>
                </a:solidFill>
                <a:latin typeface="Aptos" pitchFamily="34" charset="0"/>
                <a:ea typeface="Aptos" pitchFamily="34" charset="-122"/>
                <a:cs typeface="Aptos" pitchFamily="34" charset="-120"/>
              </a:rPr>
              <a:t>ERROR FRECUENTE</a:t>
            </a:r>
            <a:endParaRPr lang="en-US" sz="800" dirty="0"/>
          </a:p>
        </p:txBody>
      </p:sp>
      <p:sp>
        <p:nvSpPr>
          <p:cNvPr id="40" name="Text 37"/>
          <p:cNvSpPr txBox="1"/>
          <p:nvPr/>
        </p:nvSpPr>
        <p:spPr>
          <a:xfrm>
            <a:off x="8138160" y="5641848"/>
            <a:ext cx="3063240" cy="310896"/>
          </a:xfrm>
          <a:prstGeom prst="rect">
            <a:avLst/>
          </a:prstGeom>
          <a:noFill/>
          <a:ln/>
        </p:spPr>
        <p:txBody>
          <a:bodyPr wrap="square" lIns="0" tIns="0" rIns="0" bIns="0" rtlCol="0" anchor="t"/>
          <a:lstStyle/>
          <a:p>
            <a:pPr algn="l" indent="0" marL="0">
              <a:lnSpc>
                <a:spcPct val="110000"/>
              </a:lnSpc>
              <a:buNone/>
            </a:pPr>
            <a:r>
              <a:rPr lang="en-US" sz="1020" i="1" dirty="0">
                <a:solidFill>
                  <a:srgbClr val="52606D"/>
                </a:solidFill>
                <a:latin typeface="Aptos" pitchFamily="34" charset="0"/>
                <a:ea typeface="Aptos" pitchFamily="34" charset="-122"/>
                <a:cs typeface="Aptos" pitchFamily="34" charset="-120"/>
              </a:rPr>
              <a:t>Elegir entre los dos, en vez de usarlos en el orden que aprovecha a cada uno.</a:t>
            </a:r>
            <a:endParaRPr lang="en-US" sz="102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102A43"/>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E0BC5A"/>
          </a:solidFill>
          <a:ln w="12700">
            <a:solidFill>
              <a:srgbClr val="E0BC5A"/>
            </a:solidFill>
            <a:prstDash val="solid"/>
          </a:ln>
        </p:spPr>
      </p:sp>
      <p:sp>
        <p:nvSpPr>
          <p:cNvPr id="4" name="Shape 2"/>
          <p:cNvSpPr/>
          <p:nvPr/>
        </p:nvSpPr>
        <p:spPr>
          <a:xfrm>
            <a:off x="1243584" y="0"/>
            <a:ext cx="256032" cy="109728"/>
          </a:xfrm>
          <a:prstGeom prst="rect">
            <a:avLst/>
          </a:prstGeom>
          <a:solidFill>
            <a:srgbClr val="FFFFFF"/>
          </a:solidFill>
          <a:ln w="12700">
            <a:solidFill>
              <a:srgbClr val="FFFFFF"/>
            </a:solidFill>
            <a:prstDash val="solid"/>
          </a:ln>
        </p:spPr>
      </p:sp>
      <p:pic>
        <p:nvPicPr>
          <p:cNvPr id="5" name="Image 0" descr="C:\Users\Diego Obando\dev\pro402-taller-de-testing-2026\clases\semana-05\02\ppt\source\assets\logo-aiep-dark.png">    </p:cNvPr>
          <p:cNvPicPr>
            <a:picLocks noChangeAspect="1"/>
          </p:cNvPicPr>
          <p:nvPr/>
        </p:nvPicPr>
        <p:blipFill>
          <a:blip r:embed="rId1"/>
          <a:stretch>
            <a:fillRect/>
          </a:stretch>
        </p:blipFill>
        <p:spPr>
          <a:xfrm>
            <a:off x="10222992" y="307150"/>
            <a:ext cx="1335024" cy="464691"/>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EADFD0"/>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EADFD0"/>
                </a:solidFill>
                <a:latin typeface="Aptos Display" pitchFamily="34" charset="0"/>
                <a:ea typeface="Aptos Display" pitchFamily="34" charset="-122"/>
                <a:cs typeface="Aptos Display" pitchFamily="34" charset="-120"/>
              </a:rPr>
              <a:t>39</a:t>
            </a:r>
            <a:endParaRPr lang="en-US" sz="1400" dirty="0"/>
          </a:p>
        </p:txBody>
      </p:sp>
      <p:sp>
        <p:nvSpPr>
          <p:cNvPr id="8" name="Text 5"/>
          <p:cNvSpPr txBox="1"/>
          <p:nvPr/>
        </p:nvSpPr>
        <p:spPr>
          <a:xfrm>
            <a:off x="658368" y="1371600"/>
            <a:ext cx="4572000" cy="201168"/>
          </a:xfrm>
          <a:prstGeom prst="rect">
            <a:avLst/>
          </a:prstGeom>
          <a:noFill/>
          <a:ln/>
        </p:spPr>
        <p:txBody>
          <a:bodyPr wrap="square" lIns="0" tIns="0" rIns="0" bIns="0" rtlCol="0" anchor="t"/>
          <a:lstStyle/>
          <a:p>
            <a:pPr algn="l" indent="0" marL="0">
              <a:buNone/>
            </a:pPr>
            <a:r>
              <a:rPr lang="en-US" sz="960" b="1" spc="130" kern="0" dirty="0">
                <a:solidFill>
                  <a:srgbClr val="E0BC5A"/>
                </a:solidFill>
                <a:latin typeface="Aptos" pitchFamily="34" charset="0"/>
                <a:ea typeface="Aptos" pitchFamily="34" charset="-122"/>
                <a:cs typeface="Aptos" pitchFamily="34" charset="-120"/>
              </a:rPr>
              <a:t>BLOQUE 4 DE 4 · 30 MINUTOS</a:t>
            </a:r>
            <a:endParaRPr lang="en-US" sz="960" dirty="0"/>
          </a:p>
        </p:txBody>
      </p:sp>
      <p:sp>
        <p:nvSpPr>
          <p:cNvPr id="9" name="Text 6"/>
          <p:cNvSpPr txBox="1"/>
          <p:nvPr/>
        </p:nvSpPr>
        <p:spPr>
          <a:xfrm>
            <a:off x="658368" y="1810512"/>
            <a:ext cx="9784080" cy="1371600"/>
          </a:xfrm>
          <a:prstGeom prst="rect">
            <a:avLst/>
          </a:prstGeom>
          <a:noFill/>
          <a:ln/>
        </p:spPr>
        <p:txBody>
          <a:bodyPr wrap="square" lIns="0" tIns="0" rIns="0" bIns="0" rtlCol="0" anchor="t"/>
          <a:lstStyle/>
          <a:p>
            <a:pPr algn="l" indent="0" marL="0">
              <a:lnSpc>
                <a:spcPct val="102000"/>
              </a:lnSpc>
              <a:buNone/>
            </a:pPr>
            <a:r>
              <a:rPr lang="en-US" sz="4000" b="1" dirty="0">
                <a:solidFill>
                  <a:srgbClr val="FFFFFF"/>
                </a:solidFill>
                <a:latin typeface="Aptos Display" pitchFamily="34" charset="0"/>
                <a:ea typeface="Aptos Display" pitchFamily="34" charset="-122"/>
                <a:cs typeface="Aptos Display" pitchFamily="34" charset="-120"/>
              </a:rPr>
              <a:t>Un derecho es una fila de la matriz</a:t>
            </a:r>
            <a:endParaRPr lang="en-US" sz="4000" dirty="0"/>
          </a:p>
        </p:txBody>
      </p:sp>
      <p:sp>
        <p:nvSpPr>
          <p:cNvPr id="10" name="Shape 7"/>
          <p:cNvSpPr/>
          <p:nvPr/>
        </p:nvSpPr>
        <p:spPr>
          <a:xfrm>
            <a:off x="658368" y="3346704"/>
            <a:ext cx="3840480" cy="0"/>
          </a:xfrm>
          <a:prstGeom prst="line">
            <a:avLst/>
          </a:prstGeom>
          <a:noFill/>
          <a:ln w="12700">
            <a:solidFill>
              <a:srgbClr val="E0BC5A"/>
            </a:solidFill>
            <a:prstDash val="solid"/>
            <a:headEnd type="none"/>
            <a:tailEnd type="none"/>
          </a:ln>
        </p:spPr>
      </p:sp>
      <p:sp>
        <p:nvSpPr>
          <p:cNvPr id="11" name="Text 8"/>
          <p:cNvSpPr txBox="1"/>
          <p:nvPr/>
        </p:nvSpPr>
        <p:spPr>
          <a:xfrm>
            <a:off x="658368" y="3602736"/>
            <a:ext cx="9326880" cy="786384"/>
          </a:xfrm>
          <a:prstGeom prst="rect">
            <a:avLst/>
          </a:prstGeom>
          <a:noFill/>
          <a:ln/>
        </p:spPr>
        <p:txBody>
          <a:bodyPr wrap="square" lIns="0" tIns="0" rIns="0" bIns="0" rtlCol="0" anchor="t"/>
          <a:lstStyle/>
          <a:p>
            <a:pPr algn="l" indent="0" marL="0">
              <a:lnSpc>
                <a:spcPct val="120000"/>
              </a:lnSpc>
              <a:buNone/>
            </a:pPr>
            <a:r>
              <a:rPr lang="en-US" sz="1500" dirty="0">
                <a:solidFill>
                  <a:srgbClr val="EADFD0"/>
                </a:solidFill>
                <a:latin typeface="Aptos" pitchFamily="34" charset="0"/>
                <a:ea typeface="Aptos" pitchFamily="34" charset="-122"/>
                <a:cs typeface="Aptos" pitchFamily="34" charset="-120"/>
              </a:rPr>
              <a:t>Los derechos que la Ley 21.719 le reconoce al titular de los datos no necesitan un artefacto aparte. Entran en la misma matriz, con el mismo tratamiento, y al entrar hacen aparecer huecos que el proyecto tenía desde siempre.</a:t>
            </a:r>
            <a:endParaRPr lang="en-US" sz="1500" dirty="0"/>
          </a:p>
        </p:txBody>
      </p:sp>
      <p:sp>
        <p:nvSpPr>
          <p:cNvPr id="12" name="Shape 9"/>
          <p:cNvSpPr/>
          <p:nvPr/>
        </p:nvSpPr>
        <p:spPr>
          <a:xfrm>
            <a:off x="658368" y="4901184"/>
            <a:ext cx="2622728" cy="786384"/>
          </a:xfrm>
          <a:prstGeom prst="rect">
            <a:avLst/>
          </a:prstGeom>
          <a:solidFill>
            <a:srgbClr val="1D3A57"/>
          </a:solidFill>
          <a:ln w="12700">
            <a:solidFill>
              <a:srgbClr val="1D3A57"/>
            </a:solidFill>
            <a:prstDash val="solid"/>
          </a:ln>
        </p:spPr>
      </p:sp>
      <p:sp>
        <p:nvSpPr>
          <p:cNvPr id="13" name="Text 10"/>
          <p:cNvSpPr txBox="1"/>
          <p:nvPr/>
        </p:nvSpPr>
        <p:spPr>
          <a:xfrm>
            <a:off x="841248" y="5001768"/>
            <a:ext cx="457200" cy="182880"/>
          </a:xfrm>
          <a:prstGeom prst="rect">
            <a:avLst/>
          </a:prstGeom>
          <a:noFill/>
          <a:ln/>
        </p:spPr>
        <p:txBody>
          <a:bodyPr wrap="square" lIns="0" tIns="0" rIns="0" bIns="0" rtlCol="0" anchor="t"/>
          <a:lstStyle/>
          <a:p>
            <a:pPr algn="l" indent="0" marL="0">
              <a:buNone/>
            </a:pPr>
            <a:r>
              <a:rPr lang="en-US" sz="900" b="1" spc="80" kern="0" dirty="0">
                <a:solidFill>
                  <a:srgbClr val="E0BC5A"/>
                </a:solidFill>
                <a:latin typeface="Aptos" pitchFamily="34" charset="0"/>
                <a:ea typeface="Aptos" pitchFamily="34" charset="-122"/>
                <a:cs typeface="Aptos" pitchFamily="34" charset="-120"/>
              </a:rPr>
              <a:t>01</a:t>
            </a:r>
            <a:endParaRPr lang="en-US" sz="900" dirty="0"/>
          </a:p>
        </p:txBody>
      </p:sp>
      <p:sp>
        <p:nvSpPr>
          <p:cNvPr id="14" name="Text 11"/>
          <p:cNvSpPr txBox="1"/>
          <p:nvPr/>
        </p:nvSpPr>
        <p:spPr>
          <a:xfrm>
            <a:off x="841248" y="5184648"/>
            <a:ext cx="2256968" cy="219456"/>
          </a:xfrm>
          <a:prstGeom prst="rect">
            <a:avLst/>
          </a:prstGeom>
          <a:noFill/>
          <a:ln/>
        </p:spPr>
        <p:txBody>
          <a:bodyPr wrap="square" lIns="0" tIns="0" rIns="0" bIns="0" rtlCol="0" anchor="t"/>
          <a:lstStyle/>
          <a:p>
            <a:pPr algn="l" indent="0" marL="0">
              <a:buNone/>
            </a:pPr>
            <a:r>
              <a:rPr lang="en-US" sz="1160" b="1" spc="90" kern="0" dirty="0">
                <a:solidFill>
                  <a:srgbClr val="FFFFFF"/>
                </a:solidFill>
                <a:latin typeface="Aptos" pitchFamily="34" charset="0"/>
                <a:ea typeface="Aptos" pitchFamily="34" charset="-122"/>
                <a:cs typeface="Aptos" pitchFamily="34" charset="-120"/>
              </a:rPr>
              <a:t>DECLARAR</a:t>
            </a:r>
            <a:endParaRPr lang="en-US" sz="1160" dirty="0"/>
          </a:p>
        </p:txBody>
      </p:sp>
      <p:sp>
        <p:nvSpPr>
          <p:cNvPr id="15" name="Text 12"/>
          <p:cNvSpPr txBox="1"/>
          <p:nvPr/>
        </p:nvSpPr>
        <p:spPr>
          <a:xfrm>
            <a:off x="841248" y="5422392"/>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E6EEF7"/>
                </a:solidFill>
                <a:latin typeface="Aptos" pitchFamily="34" charset="0"/>
                <a:ea typeface="Aptos" pitchFamily="34" charset="-122"/>
                <a:cs typeface="Aptos" pitchFamily="34" charset="-120"/>
              </a:rPr>
              <a:t>Qué se prueba y qué queda fuera</a:t>
            </a:r>
            <a:endParaRPr lang="en-US" sz="920" dirty="0"/>
          </a:p>
        </p:txBody>
      </p:sp>
      <p:sp>
        <p:nvSpPr>
          <p:cNvPr id="16" name="Shape 13"/>
          <p:cNvSpPr/>
          <p:nvPr/>
        </p:nvSpPr>
        <p:spPr>
          <a:xfrm>
            <a:off x="3409112" y="4901184"/>
            <a:ext cx="2622728" cy="786384"/>
          </a:xfrm>
          <a:prstGeom prst="rect">
            <a:avLst/>
          </a:prstGeom>
          <a:solidFill>
            <a:srgbClr val="1D3A57"/>
          </a:solidFill>
          <a:ln w="12700">
            <a:solidFill>
              <a:srgbClr val="1D3A57"/>
            </a:solidFill>
            <a:prstDash val="solid"/>
          </a:ln>
        </p:spPr>
      </p:sp>
      <p:sp>
        <p:nvSpPr>
          <p:cNvPr id="17" name="Text 14"/>
          <p:cNvSpPr txBox="1"/>
          <p:nvPr/>
        </p:nvSpPr>
        <p:spPr>
          <a:xfrm>
            <a:off x="3591992" y="5001768"/>
            <a:ext cx="457200" cy="182880"/>
          </a:xfrm>
          <a:prstGeom prst="rect">
            <a:avLst/>
          </a:prstGeom>
          <a:noFill/>
          <a:ln/>
        </p:spPr>
        <p:txBody>
          <a:bodyPr wrap="square" lIns="0" tIns="0" rIns="0" bIns="0" rtlCol="0" anchor="t"/>
          <a:lstStyle/>
          <a:p>
            <a:pPr algn="l" indent="0" marL="0">
              <a:buNone/>
            </a:pPr>
            <a:r>
              <a:rPr lang="en-US" sz="900" b="1" spc="80" kern="0" dirty="0">
                <a:solidFill>
                  <a:srgbClr val="E0BC5A"/>
                </a:solidFill>
                <a:latin typeface="Aptos" pitchFamily="34" charset="0"/>
                <a:ea typeface="Aptos" pitchFamily="34" charset="-122"/>
                <a:cs typeface="Aptos" pitchFamily="34" charset="-120"/>
              </a:rPr>
              <a:t>02</a:t>
            </a:r>
            <a:endParaRPr lang="en-US" sz="900" dirty="0"/>
          </a:p>
        </p:txBody>
      </p:sp>
      <p:sp>
        <p:nvSpPr>
          <p:cNvPr id="18" name="Text 15"/>
          <p:cNvSpPr txBox="1"/>
          <p:nvPr/>
        </p:nvSpPr>
        <p:spPr>
          <a:xfrm>
            <a:off x="3591992" y="5184648"/>
            <a:ext cx="2256968" cy="219456"/>
          </a:xfrm>
          <a:prstGeom prst="rect">
            <a:avLst/>
          </a:prstGeom>
          <a:noFill/>
          <a:ln/>
        </p:spPr>
        <p:txBody>
          <a:bodyPr wrap="square" lIns="0" tIns="0" rIns="0" bIns="0" rtlCol="0" anchor="t"/>
          <a:lstStyle/>
          <a:p>
            <a:pPr algn="l" indent="0" marL="0">
              <a:buNone/>
            </a:pPr>
            <a:r>
              <a:rPr lang="en-US" sz="1160" b="1" spc="90" kern="0" dirty="0">
                <a:solidFill>
                  <a:srgbClr val="FFFFFF"/>
                </a:solidFill>
                <a:latin typeface="Aptos" pitchFamily="34" charset="0"/>
                <a:ea typeface="Aptos" pitchFamily="34" charset="-122"/>
                <a:cs typeface="Aptos" pitchFamily="34" charset="-120"/>
              </a:rPr>
              <a:t>PRIORIZAR</a:t>
            </a:r>
            <a:endParaRPr lang="en-US" sz="1160" dirty="0"/>
          </a:p>
        </p:txBody>
      </p:sp>
      <p:sp>
        <p:nvSpPr>
          <p:cNvPr id="19" name="Text 16"/>
          <p:cNvSpPr txBox="1"/>
          <p:nvPr/>
        </p:nvSpPr>
        <p:spPr>
          <a:xfrm>
            <a:off x="3591992" y="5422392"/>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E6EEF7"/>
                </a:solidFill>
                <a:latin typeface="Aptos" pitchFamily="34" charset="0"/>
                <a:ea typeface="Aptos" pitchFamily="34" charset="-122"/>
                <a:cs typeface="Aptos" pitchFamily="34" charset="-120"/>
              </a:rPr>
              <a:t>Dónde duele más un fallo</a:t>
            </a:r>
            <a:endParaRPr lang="en-US" sz="920" dirty="0"/>
          </a:p>
        </p:txBody>
      </p:sp>
      <p:sp>
        <p:nvSpPr>
          <p:cNvPr id="20" name="Shape 17"/>
          <p:cNvSpPr/>
          <p:nvPr/>
        </p:nvSpPr>
        <p:spPr>
          <a:xfrm>
            <a:off x="6159856" y="4901184"/>
            <a:ext cx="2622728" cy="786384"/>
          </a:xfrm>
          <a:prstGeom prst="rect">
            <a:avLst/>
          </a:prstGeom>
          <a:solidFill>
            <a:srgbClr val="1D3A57"/>
          </a:solidFill>
          <a:ln w="12700">
            <a:solidFill>
              <a:srgbClr val="1D3A57"/>
            </a:solidFill>
            <a:prstDash val="solid"/>
          </a:ln>
        </p:spPr>
      </p:sp>
      <p:sp>
        <p:nvSpPr>
          <p:cNvPr id="21" name="Text 18"/>
          <p:cNvSpPr txBox="1"/>
          <p:nvPr/>
        </p:nvSpPr>
        <p:spPr>
          <a:xfrm>
            <a:off x="6342736" y="5001768"/>
            <a:ext cx="457200" cy="182880"/>
          </a:xfrm>
          <a:prstGeom prst="rect">
            <a:avLst/>
          </a:prstGeom>
          <a:noFill/>
          <a:ln/>
        </p:spPr>
        <p:txBody>
          <a:bodyPr wrap="square" lIns="0" tIns="0" rIns="0" bIns="0" rtlCol="0" anchor="t"/>
          <a:lstStyle/>
          <a:p>
            <a:pPr algn="l" indent="0" marL="0">
              <a:buNone/>
            </a:pPr>
            <a:r>
              <a:rPr lang="en-US" sz="900" b="1" spc="80" kern="0" dirty="0">
                <a:solidFill>
                  <a:srgbClr val="E0BC5A"/>
                </a:solidFill>
                <a:latin typeface="Aptos" pitchFamily="34" charset="0"/>
                <a:ea typeface="Aptos" pitchFamily="34" charset="-122"/>
                <a:cs typeface="Aptos" pitchFamily="34" charset="-120"/>
              </a:rPr>
              <a:t>03</a:t>
            </a:r>
            <a:endParaRPr lang="en-US" sz="900" dirty="0"/>
          </a:p>
        </p:txBody>
      </p:sp>
      <p:sp>
        <p:nvSpPr>
          <p:cNvPr id="22" name="Text 19"/>
          <p:cNvSpPr txBox="1"/>
          <p:nvPr/>
        </p:nvSpPr>
        <p:spPr>
          <a:xfrm>
            <a:off x="6342736" y="5184648"/>
            <a:ext cx="2256968" cy="219456"/>
          </a:xfrm>
          <a:prstGeom prst="rect">
            <a:avLst/>
          </a:prstGeom>
          <a:noFill/>
          <a:ln/>
        </p:spPr>
        <p:txBody>
          <a:bodyPr wrap="square" lIns="0" tIns="0" rIns="0" bIns="0" rtlCol="0" anchor="t"/>
          <a:lstStyle/>
          <a:p>
            <a:pPr algn="l" indent="0" marL="0">
              <a:buNone/>
            </a:pPr>
            <a:r>
              <a:rPr lang="en-US" sz="1160" b="1" spc="90" kern="0" dirty="0">
                <a:solidFill>
                  <a:srgbClr val="FFFFFF"/>
                </a:solidFill>
                <a:latin typeface="Aptos" pitchFamily="34" charset="0"/>
                <a:ea typeface="Aptos" pitchFamily="34" charset="-122"/>
                <a:cs typeface="Aptos" pitchFamily="34" charset="-120"/>
              </a:rPr>
              <a:t>TRAZAR</a:t>
            </a:r>
            <a:endParaRPr lang="en-US" sz="1160" dirty="0"/>
          </a:p>
        </p:txBody>
      </p:sp>
      <p:sp>
        <p:nvSpPr>
          <p:cNvPr id="23" name="Text 20"/>
          <p:cNvSpPr txBox="1"/>
          <p:nvPr/>
        </p:nvSpPr>
        <p:spPr>
          <a:xfrm>
            <a:off x="6342736" y="5422392"/>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E6EEF7"/>
                </a:solidFill>
                <a:latin typeface="Aptos" pitchFamily="34" charset="0"/>
                <a:ea typeface="Aptos" pitchFamily="34" charset="-122"/>
                <a:cs typeface="Aptos" pitchFamily="34" charset="-120"/>
              </a:rPr>
              <a:t>Qué prueba responde a qué requisito</a:t>
            </a:r>
            <a:endParaRPr lang="en-US" sz="920" dirty="0"/>
          </a:p>
        </p:txBody>
      </p:sp>
      <p:sp>
        <p:nvSpPr>
          <p:cNvPr id="24" name="Shape 21"/>
          <p:cNvSpPr/>
          <p:nvPr/>
        </p:nvSpPr>
        <p:spPr>
          <a:xfrm>
            <a:off x="8910599" y="4901184"/>
            <a:ext cx="2622728" cy="786384"/>
          </a:xfrm>
          <a:prstGeom prst="rect">
            <a:avLst/>
          </a:prstGeom>
          <a:solidFill>
            <a:srgbClr val="D62027"/>
          </a:solidFill>
          <a:ln w="12700">
            <a:solidFill>
              <a:srgbClr val="D62027"/>
            </a:solidFill>
            <a:prstDash val="solid"/>
          </a:ln>
        </p:spPr>
      </p:sp>
      <p:sp>
        <p:nvSpPr>
          <p:cNvPr id="25" name="Text 22"/>
          <p:cNvSpPr txBox="1"/>
          <p:nvPr/>
        </p:nvSpPr>
        <p:spPr>
          <a:xfrm>
            <a:off x="9093479" y="5001768"/>
            <a:ext cx="457200" cy="182880"/>
          </a:xfrm>
          <a:prstGeom prst="rect">
            <a:avLst/>
          </a:prstGeom>
          <a:noFill/>
          <a:ln/>
        </p:spPr>
        <p:txBody>
          <a:bodyPr wrap="square" lIns="0" tIns="0" rIns="0" bIns="0" rtlCol="0" anchor="t"/>
          <a:lstStyle/>
          <a:p>
            <a:pPr algn="l" indent="0" marL="0">
              <a:buNone/>
            </a:pPr>
            <a:r>
              <a:rPr lang="en-US" sz="900" b="1" spc="80" kern="0" dirty="0">
                <a:solidFill>
                  <a:srgbClr val="FFFFFF"/>
                </a:solidFill>
                <a:latin typeface="Aptos" pitchFamily="34" charset="0"/>
                <a:ea typeface="Aptos" pitchFamily="34" charset="-122"/>
                <a:cs typeface="Aptos" pitchFamily="34" charset="-120"/>
              </a:rPr>
              <a:t>04</a:t>
            </a:r>
            <a:endParaRPr lang="en-US" sz="900" dirty="0"/>
          </a:p>
        </p:txBody>
      </p:sp>
      <p:sp>
        <p:nvSpPr>
          <p:cNvPr id="26" name="Text 23"/>
          <p:cNvSpPr txBox="1"/>
          <p:nvPr/>
        </p:nvSpPr>
        <p:spPr>
          <a:xfrm>
            <a:off x="9093479" y="5184648"/>
            <a:ext cx="2256968" cy="219456"/>
          </a:xfrm>
          <a:prstGeom prst="rect">
            <a:avLst/>
          </a:prstGeom>
          <a:noFill/>
          <a:ln/>
        </p:spPr>
        <p:txBody>
          <a:bodyPr wrap="square" lIns="0" tIns="0" rIns="0" bIns="0" rtlCol="0" anchor="t"/>
          <a:lstStyle/>
          <a:p>
            <a:pPr algn="l" indent="0" marL="0">
              <a:buNone/>
            </a:pPr>
            <a:r>
              <a:rPr lang="en-US" sz="1160" b="1" spc="90" kern="0" dirty="0">
                <a:solidFill>
                  <a:srgbClr val="FFFFFF"/>
                </a:solidFill>
                <a:latin typeface="Aptos" pitchFamily="34" charset="0"/>
                <a:ea typeface="Aptos" pitchFamily="34" charset="-122"/>
                <a:cs typeface="Aptos" pitchFamily="34" charset="-120"/>
              </a:rPr>
              <a:t>COMPROBAR</a:t>
            </a:r>
            <a:endParaRPr lang="en-US" sz="1160" dirty="0"/>
          </a:p>
        </p:txBody>
      </p:sp>
      <p:sp>
        <p:nvSpPr>
          <p:cNvPr id="27" name="Text 24"/>
          <p:cNvSpPr txBox="1"/>
          <p:nvPr/>
        </p:nvSpPr>
        <p:spPr>
          <a:xfrm>
            <a:off x="9093479" y="5422392"/>
            <a:ext cx="2256968" cy="219456"/>
          </a:xfrm>
          <a:prstGeom prst="rect">
            <a:avLst/>
          </a:prstGeom>
          <a:noFill/>
          <a:ln/>
        </p:spPr>
        <p:txBody>
          <a:bodyPr wrap="square" lIns="0" tIns="0" rIns="0" bIns="0" rtlCol="0" anchor="t"/>
          <a:lstStyle/>
          <a:p>
            <a:pPr algn="l" indent="0" marL="0">
              <a:lnSpc>
                <a:spcPct val="105000"/>
              </a:lnSpc>
              <a:buNone/>
            </a:pPr>
            <a:r>
              <a:rPr lang="en-US" sz="920" dirty="0">
                <a:solidFill>
                  <a:srgbClr val="EADFD0"/>
                </a:solidFill>
                <a:latin typeface="Aptos" pitchFamily="34" charset="0"/>
                <a:ea typeface="Aptos" pitchFamily="34" charset="-122"/>
                <a:cs typeface="Aptos" pitchFamily="34" charset="-120"/>
              </a:rPr>
              <a:t>Que la traza sea verdadera</a:t>
            </a:r>
            <a:endParaRPr lang="en-US" sz="92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40</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4 · VOCABULARIO DE LA LEY</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Cuatro palabras que la ley usa con precisión</a:t>
            </a:r>
            <a:endParaRPr lang="en-US" sz="3000" dirty="0"/>
          </a:p>
        </p:txBody>
      </p:sp>
      <p:sp>
        <p:nvSpPr>
          <p:cNvPr id="10" name="Text 7"/>
          <p:cNvSpPr txBox="1"/>
          <p:nvPr/>
        </p:nvSpPr>
        <p:spPr>
          <a:xfrm>
            <a:off x="658368" y="1664208"/>
            <a:ext cx="10424160" cy="365760"/>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Las tres primeras vienen definidas en el artículo 2º. Se usan durante todo el bloque, así que conviene no confundirlas.</a:t>
            </a:r>
            <a:endParaRPr lang="en-US" sz="1420" dirty="0"/>
          </a:p>
        </p:txBody>
      </p:sp>
      <p:sp>
        <p:nvSpPr>
          <p:cNvPr id="11" name="Shape 8"/>
          <p:cNvSpPr/>
          <p:nvPr/>
        </p:nvSpPr>
        <p:spPr>
          <a:xfrm>
            <a:off x="658368" y="2377440"/>
            <a:ext cx="2636444" cy="2468880"/>
          </a:xfrm>
          <a:prstGeom prst="rect">
            <a:avLst/>
          </a:prstGeom>
          <a:solidFill>
            <a:srgbClr val="FFFFFF"/>
          </a:solidFill>
          <a:ln w="12700">
            <a:solidFill>
              <a:srgbClr val="FFFFFF"/>
            </a:solidFill>
            <a:prstDash val="solid"/>
          </a:ln>
        </p:spPr>
      </p:sp>
      <p:sp>
        <p:nvSpPr>
          <p:cNvPr id="12" name="Shape 9"/>
          <p:cNvSpPr/>
          <p:nvPr/>
        </p:nvSpPr>
        <p:spPr>
          <a:xfrm>
            <a:off x="658368" y="2377440"/>
            <a:ext cx="2636444" cy="54864"/>
          </a:xfrm>
          <a:prstGeom prst="rect">
            <a:avLst/>
          </a:prstGeom>
          <a:solidFill>
            <a:srgbClr val="102A43"/>
          </a:solidFill>
          <a:ln w="12700">
            <a:solidFill>
              <a:srgbClr val="102A43"/>
            </a:solidFill>
            <a:prstDash val="solid"/>
          </a:ln>
        </p:spPr>
      </p:sp>
      <p:sp>
        <p:nvSpPr>
          <p:cNvPr id="13" name="Text 10"/>
          <p:cNvSpPr txBox="1"/>
          <p:nvPr/>
        </p:nvSpPr>
        <p:spPr>
          <a:xfrm>
            <a:off x="859536" y="2560320"/>
            <a:ext cx="2234108" cy="292608"/>
          </a:xfrm>
          <a:prstGeom prst="rect">
            <a:avLst/>
          </a:prstGeom>
          <a:noFill/>
          <a:ln/>
        </p:spPr>
        <p:txBody>
          <a:bodyPr wrap="square" lIns="0" tIns="0" rIns="0" bIns="0" rtlCol="0" anchor="t"/>
          <a:lstStyle/>
          <a:p>
            <a:pPr algn="l" indent="0" marL="0">
              <a:buNone/>
            </a:pPr>
            <a:r>
              <a:rPr lang="en-US" sz="1600" b="1" dirty="0">
                <a:solidFill>
                  <a:srgbClr val="102A43"/>
                </a:solidFill>
                <a:latin typeface="Aptos" pitchFamily="34" charset="0"/>
                <a:ea typeface="Aptos" pitchFamily="34" charset="-122"/>
                <a:cs typeface="Aptos" pitchFamily="34" charset="-120"/>
              </a:rPr>
              <a:t>Dato personal</a:t>
            </a:r>
            <a:endParaRPr lang="en-US" sz="1600" dirty="0"/>
          </a:p>
        </p:txBody>
      </p:sp>
      <p:sp>
        <p:nvSpPr>
          <p:cNvPr id="14" name="Text 11"/>
          <p:cNvSpPr txBox="1"/>
          <p:nvPr/>
        </p:nvSpPr>
        <p:spPr>
          <a:xfrm>
            <a:off x="859536" y="2926080"/>
            <a:ext cx="2234108" cy="1060704"/>
          </a:xfrm>
          <a:prstGeom prst="rect">
            <a:avLst/>
          </a:prstGeom>
          <a:noFill/>
          <a:ln/>
        </p:spPr>
        <p:txBody>
          <a:bodyPr wrap="square" lIns="0" tIns="0" rIns="0" bIns="0" rtlCol="0" anchor="t"/>
          <a:lstStyle/>
          <a:p>
            <a:pPr algn="l" indent="0" marL="0">
              <a:lnSpc>
                <a:spcPct val="114000"/>
              </a:lnSpc>
              <a:buNone/>
            </a:pPr>
            <a:r>
              <a:rPr lang="en-US" sz="1020" dirty="0">
                <a:solidFill>
                  <a:srgbClr val="243B53"/>
                </a:solidFill>
                <a:latin typeface="Aptos" pitchFamily="34" charset="0"/>
                <a:ea typeface="Aptos" pitchFamily="34" charset="-122"/>
                <a:cs typeface="Aptos" pitchFamily="34" charset="-120"/>
              </a:rPr>
              <a:t>Cualquier información vinculada o referida a una persona natural identificada o identificable.</a:t>
            </a:r>
            <a:endParaRPr lang="en-US" sz="1020" dirty="0"/>
          </a:p>
        </p:txBody>
      </p:sp>
      <p:sp>
        <p:nvSpPr>
          <p:cNvPr id="15" name="Shape 12"/>
          <p:cNvSpPr/>
          <p:nvPr/>
        </p:nvSpPr>
        <p:spPr>
          <a:xfrm>
            <a:off x="859536" y="4059936"/>
            <a:ext cx="2234108" cy="0"/>
          </a:xfrm>
          <a:prstGeom prst="line">
            <a:avLst/>
          </a:prstGeom>
          <a:noFill/>
          <a:ln w="12700">
            <a:solidFill>
              <a:srgbClr val="D8CFC4"/>
            </a:solidFill>
            <a:prstDash val="solid"/>
            <a:headEnd type="none"/>
            <a:tailEnd type="none"/>
          </a:ln>
        </p:spPr>
      </p:sp>
      <p:sp>
        <p:nvSpPr>
          <p:cNvPr id="16" name="Text 13"/>
          <p:cNvSpPr txBox="1"/>
          <p:nvPr/>
        </p:nvSpPr>
        <p:spPr>
          <a:xfrm>
            <a:off x="859536" y="4169664"/>
            <a:ext cx="2234108" cy="548640"/>
          </a:xfrm>
          <a:prstGeom prst="rect">
            <a:avLst/>
          </a:prstGeom>
          <a:noFill/>
          <a:ln/>
        </p:spPr>
        <p:txBody>
          <a:bodyPr wrap="square" lIns="0" tIns="0" rIns="0" bIns="0" rtlCol="0" anchor="t"/>
          <a:lstStyle/>
          <a:p>
            <a:pPr algn="l" indent="0" marL="0">
              <a:lnSpc>
                <a:spcPct val="112000"/>
              </a:lnSpc>
              <a:buNone/>
            </a:pPr>
            <a:r>
              <a:rPr lang="en-US" sz="960" i="1" dirty="0">
                <a:solidFill>
                  <a:srgbClr val="52606D"/>
                </a:solidFill>
                <a:latin typeface="Aptos" pitchFamily="34" charset="0"/>
                <a:ea typeface="Aptos" pitchFamily="34" charset="-122"/>
                <a:cs typeface="Aptos" pitchFamily="34" charset="-120"/>
              </a:rPr>
              <a:t>En este proyecto: el nombre, el RUT y el correo.</a:t>
            </a:r>
            <a:endParaRPr lang="en-US" sz="960" dirty="0"/>
          </a:p>
        </p:txBody>
      </p:sp>
      <p:sp>
        <p:nvSpPr>
          <p:cNvPr id="17" name="Shape 14"/>
          <p:cNvSpPr/>
          <p:nvPr/>
        </p:nvSpPr>
        <p:spPr>
          <a:xfrm>
            <a:off x="3404540" y="2377440"/>
            <a:ext cx="2636444" cy="2468880"/>
          </a:xfrm>
          <a:prstGeom prst="rect">
            <a:avLst/>
          </a:prstGeom>
          <a:solidFill>
            <a:srgbClr val="FFFFFF"/>
          </a:solidFill>
          <a:ln w="12700">
            <a:solidFill>
              <a:srgbClr val="FFFFFF"/>
            </a:solidFill>
            <a:prstDash val="solid"/>
          </a:ln>
        </p:spPr>
      </p:sp>
      <p:sp>
        <p:nvSpPr>
          <p:cNvPr id="18" name="Shape 15"/>
          <p:cNvSpPr/>
          <p:nvPr/>
        </p:nvSpPr>
        <p:spPr>
          <a:xfrm>
            <a:off x="3404540" y="2377440"/>
            <a:ext cx="2636444" cy="54864"/>
          </a:xfrm>
          <a:prstGeom prst="rect">
            <a:avLst/>
          </a:prstGeom>
          <a:solidFill>
            <a:srgbClr val="B3181E"/>
          </a:solidFill>
          <a:ln w="12700">
            <a:solidFill>
              <a:srgbClr val="B3181E"/>
            </a:solidFill>
            <a:prstDash val="solid"/>
          </a:ln>
        </p:spPr>
      </p:sp>
      <p:sp>
        <p:nvSpPr>
          <p:cNvPr id="19" name="Text 16"/>
          <p:cNvSpPr txBox="1"/>
          <p:nvPr/>
        </p:nvSpPr>
        <p:spPr>
          <a:xfrm>
            <a:off x="3605708" y="2560320"/>
            <a:ext cx="2234108" cy="292608"/>
          </a:xfrm>
          <a:prstGeom prst="rect">
            <a:avLst/>
          </a:prstGeom>
          <a:noFill/>
          <a:ln/>
        </p:spPr>
        <p:txBody>
          <a:bodyPr wrap="square" lIns="0" tIns="0" rIns="0" bIns="0" rtlCol="0" anchor="t"/>
          <a:lstStyle/>
          <a:p>
            <a:pPr algn="l" indent="0" marL="0">
              <a:buNone/>
            </a:pPr>
            <a:r>
              <a:rPr lang="en-US" sz="1600" b="1" dirty="0">
                <a:solidFill>
                  <a:srgbClr val="B3181E"/>
                </a:solidFill>
                <a:latin typeface="Aptos" pitchFamily="34" charset="0"/>
                <a:ea typeface="Aptos" pitchFamily="34" charset="-122"/>
                <a:cs typeface="Aptos" pitchFamily="34" charset="-120"/>
              </a:rPr>
              <a:t>Titular</a:t>
            </a:r>
            <a:endParaRPr lang="en-US" sz="1600" dirty="0"/>
          </a:p>
        </p:txBody>
      </p:sp>
      <p:sp>
        <p:nvSpPr>
          <p:cNvPr id="20" name="Text 17"/>
          <p:cNvSpPr txBox="1"/>
          <p:nvPr/>
        </p:nvSpPr>
        <p:spPr>
          <a:xfrm>
            <a:off x="3605708" y="2926080"/>
            <a:ext cx="2234108" cy="1060704"/>
          </a:xfrm>
          <a:prstGeom prst="rect">
            <a:avLst/>
          </a:prstGeom>
          <a:noFill/>
          <a:ln/>
        </p:spPr>
        <p:txBody>
          <a:bodyPr wrap="square" lIns="0" tIns="0" rIns="0" bIns="0" rtlCol="0" anchor="t"/>
          <a:lstStyle/>
          <a:p>
            <a:pPr algn="l" indent="0" marL="0">
              <a:lnSpc>
                <a:spcPct val="114000"/>
              </a:lnSpc>
              <a:buNone/>
            </a:pPr>
            <a:r>
              <a:rPr lang="en-US" sz="1020" dirty="0">
                <a:solidFill>
                  <a:srgbClr val="243B53"/>
                </a:solidFill>
                <a:latin typeface="Aptos" pitchFamily="34" charset="0"/>
                <a:ea typeface="Aptos" pitchFamily="34" charset="-122"/>
                <a:cs typeface="Aptos" pitchFamily="34" charset="-120"/>
              </a:rPr>
              <a:t>La persona natural a la que se refieren los datos. Es quien ejerce los derechos.</a:t>
            </a:r>
            <a:endParaRPr lang="en-US" sz="1020" dirty="0"/>
          </a:p>
        </p:txBody>
      </p:sp>
      <p:sp>
        <p:nvSpPr>
          <p:cNvPr id="21" name="Shape 18"/>
          <p:cNvSpPr/>
          <p:nvPr/>
        </p:nvSpPr>
        <p:spPr>
          <a:xfrm>
            <a:off x="3605708" y="4059936"/>
            <a:ext cx="2234108" cy="0"/>
          </a:xfrm>
          <a:prstGeom prst="line">
            <a:avLst/>
          </a:prstGeom>
          <a:noFill/>
          <a:ln w="12700">
            <a:solidFill>
              <a:srgbClr val="D8CFC4"/>
            </a:solidFill>
            <a:prstDash val="solid"/>
            <a:headEnd type="none"/>
            <a:tailEnd type="none"/>
          </a:ln>
        </p:spPr>
      </p:sp>
      <p:sp>
        <p:nvSpPr>
          <p:cNvPr id="22" name="Text 19"/>
          <p:cNvSpPr txBox="1"/>
          <p:nvPr/>
        </p:nvSpPr>
        <p:spPr>
          <a:xfrm>
            <a:off x="3605708" y="4169664"/>
            <a:ext cx="2234108" cy="548640"/>
          </a:xfrm>
          <a:prstGeom prst="rect">
            <a:avLst/>
          </a:prstGeom>
          <a:noFill/>
          <a:ln/>
        </p:spPr>
        <p:txBody>
          <a:bodyPr wrap="square" lIns="0" tIns="0" rIns="0" bIns="0" rtlCol="0" anchor="t"/>
          <a:lstStyle/>
          <a:p>
            <a:pPr algn="l" indent="0" marL="0">
              <a:lnSpc>
                <a:spcPct val="112000"/>
              </a:lnSpc>
              <a:buNone/>
            </a:pPr>
            <a:r>
              <a:rPr lang="en-US" sz="960" i="1" dirty="0">
                <a:solidFill>
                  <a:srgbClr val="52606D"/>
                </a:solidFill>
                <a:latin typeface="Aptos" pitchFamily="34" charset="0"/>
                <a:ea typeface="Aptos" pitchFamily="34" charset="-122"/>
                <a:cs typeface="Aptos" pitchFamily="34" charset="-120"/>
              </a:rPr>
              <a:t>En este proyecto: quien reserva la sala.</a:t>
            </a:r>
            <a:endParaRPr lang="en-US" sz="960" dirty="0"/>
          </a:p>
        </p:txBody>
      </p:sp>
      <p:sp>
        <p:nvSpPr>
          <p:cNvPr id="23" name="Shape 20"/>
          <p:cNvSpPr/>
          <p:nvPr/>
        </p:nvSpPr>
        <p:spPr>
          <a:xfrm>
            <a:off x="6150712" y="2377440"/>
            <a:ext cx="2636444" cy="2468880"/>
          </a:xfrm>
          <a:prstGeom prst="rect">
            <a:avLst/>
          </a:prstGeom>
          <a:solidFill>
            <a:srgbClr val="FFFFFF"/>
          </a:solidFill>
          <a:ln w="12700">
            <a:solidFill>
              <a:srgbClr val="FFFFFF"/>
            </a:solidFill>
            <a:prstDash val="solid"/>
          </a:ln>
        </p:spPr>
      </p:sp>
      <p:sp>
        <p:nvSpPr>
          <p:cNvPr id="24" name="Shape 21"/>
          <p:cNvSpPr/>
          <p:nvPr/>
        </p:nvSpPr>
        <p:spPr>
          <a:xfrm>
            <a:off x="6150712" y="2377440"/>
            <a:ext cx="2636444" cy="54864"/>
          </a:xfrm>
          <a:prstGeom prst="rect">
            <a:avLst/>
          </a:prstGeom>
          <a:solidFill>
            <a:srgbClr val="8A6A12"/>
          </a:solidFill>
          <a:ln w="12700">
            <a:solidFill>
              <a:srgbClr val="8A6A12"/>
            </a:solidFill>
            <a:prstDash val="solid"/>
          </a:ln>
        </p:spPr>
      </p:sp>
      <p:sp>
        <p:nvSpPr>
          <p:cNvPr id="25" name="Text 22"/>
          <p:cNvSpPr txBox="1"/>
          <p:nvPr/>
        </p:nvSpPr>
        <p:spPr>
          <a:xfrm>
            <a:off x="6351880" y="2560320"/>
            <a:ext cx="2234108" cy="292608"/>
          </a:xfrm>
          <a:prstGeom prst="rect">
            <a:avLst/>
          </a:prstGeom>
          <a:noFill/>
          <a:ln/>
        </p:spPr>
        <p:txBody>
          <a:bodyPr wrap="square" lIns="0" tIns="0" rIns="0" bIns="0" rtlCol="0" anchor="t"/>
          <a:lstStyle/>
          <a:p>
            <a:pPr algn="l" indent="0" marL="0">
              <a:buNone/>
            </a:pPr>
            <a:r>
              <a:rPr lang="en-US" sz="1600" b="1" dirty="0">
                <a:solidFill>
                  <a:srgbClr val="8A6A12"/>
                </a:solidFill>
                <a:latin typeface="Aptos" pitchFamily="34" charset="0"/>
                <a:ea typeface="Aptos" pitchFamily="34" charset="-122"/>
                <a:cs typeface="Aptos" pitchFamily="34" charset="-120"/>
              </a:rPr>
              <a:t>Responsable</a:t>
            </a:r>
            <a:endParaRPr lang="en-US" sz="1600" dirty="0"/>
          </a:p>
        </p:txBody>
      </p:sp>
      <p:sp>
        <p:nvSpPr>
          <p:cNvPr id="26" name="Text 23"/>
          <p:cNvSpPr txBox="1"/>
          <p:nvPr/>
        </p:nvSpPr>
        <p:spPr>
          <a:xfrm>
            <a:off x="6351880" y="2926080"/>
            <a:ext cx="2234108" cy="1060704"/>
          </a:xfrm>
          <a:prstGeom prst="rect">
            <a:avLst/>
          </a:prstGeom>
          <a:noFill/>
          <a:ln/>
        </p:spPr>
        <p:txBody>
          <a:bodyPr wrap="square" lIns="0" tIns="0" rIns="0" bIns="0" rtlCol="0" anchor="t"/>
          <a:lstStyle/>
          <a:p>
            <a:pPr algn="l" indent="0" marL="0">
              <a:lnSpc>
                <a:spcPct val="114000"/>
              </a:lnSpc>
              <a:buNone/>
            </a:pPr>
            <a:r>
              <a:rPr lang="en-US" sz="1020" dirty="0">
                <a:solidFill>
                  <a:srgbClr val="243B53"/>
                </a:solidFill>
                <a:latin typeface="Aptos" pitchFamily="34" charset="0"/>
                <a:ea typeface="Aptos" pitchFamily="34" charset="-122"/>
                <a:cs typeface="Aptos" pitchFamily="34" charset="-120"/>
              </a:rPr>
              <a:t>Quien decide acerca de los fines y medios del tratamiento de datos personales.</a:t>
            </a:r>
            <a:endParaRPr lang="en-US" sz="1020" dirty="0"/>
          </a:p>
        </p:txBody>
      </p:sp>
      <p:sp>
        <p:nvSpPr>
          <p:cNvPr id="27" name="Shape 24"/>
          <p:cNvSpPr/>
          <p:nvPr/>
        </p:nvSpPr>
        <p:spPr>
          <a:xfrm>
            <a:off x="6351880" y="4059936"/>
            <a:ext cx="2234108" cy="0"/>
          </a:xfrm>
          <a:prstGeom prst="line">
            <a:avLst/>
          </a:prstGeom>
          <a:noFill/>
          <a:ln w="12700">
            <a:solidFill>
              <a:srgbClr val="D8CFC4"/>
            </a:solidFill>
            <a:prstDash val="solid"/>
            <a:headEnd type="none"/>
            <a:tailEnd type="none"/>
          </a:ln>
        </p:spPr>
      </p:sp>
      <p:sp>
        <p:nvSpPr>
          <p:cNvPr id="28" name="Text 25"/>
          <p:cNvSpPr txBox="1"/>
          <p:nvPr/>
        </p:nvSpPr>
        <p:spPr>
          <a:xfrm>
            <a:off x="6351880" y="4169664"/>
            <a:ext cx="2234108" cy="548640"/>
          </a:xfrm>
          <a:prstGeom prst="rect">
            <a:avLst/>
          </a:prstGeom>
          <a:noFill/>
          <a:ln/>
        </p:spPr>
        <p:txBody>
          <a:bodyPr wrap="square" lIns="0" tIns="0" rIns="0" bIns="0" rtlCol="0" anchor="t"/>
          <a:lstStyle/>
          <a:p>
            <a:pPr algn="l" indent="0" marL="0">
              <a:lnSpc>
                <a:spcPct val="112000"/>
              </a:lnSpc>
              <a:buNone/>
            </a:pPr>
            <a:r>
              <a:rPr lang="en-US" sz="960" i="1" dirty="0">
                <a:solidFill>
                  <a:srgbClr val="52606D"/>
                </a:solidFill>
                <a:latin typeface="Aptos" pitchFamily="34" charset="0"/>
                <a:ea typeface="Aptos" pitchFamily="34" charset="-122"/>
                <a:cs typeface="Aptos" pitchFamily="34" charset="-120"/>
              </a:rPr>
              <a:t>En este proyecto: la institución que opera el sistema.</a:t>
            </a:r>
            <a:endParaRPr lang="en-US" sz="960" dirty="0"/>
          </a:p>
        </p:txBody>
      </p:sp>
      <p:sp>
        <p:nvSpPr>
          <p:cNvPr id="29" name="Shape 26"/>
          <p:cNvSpPr/>
          <p:nvPr/>
        </p:nvSpPr>
        <p:spPr>
          <a:xfrm>
            <a:off x="8896883" y="2377440"/>
            <a:ext cx="2636444" cy="2468880"/>
          </a:xfrm>
          <a:prstGeom prst="rect">
            <a:avLst/>
          </a:prstGeom>
          <a:solidFill>
            <a:srgbClr val="FFFFFF"/>
          </a:solidFill>
          <a:ln w="12700">
            <a:solidFill>
              <a:srgbClr val="FFFFFF"/>
            </a:solidFill>
            <a:prstDash val="solid"/>
          </a:ln>
        </p:spPr>
      </p:sp>
      <p:sp>
        <p:nvSpPr>
          <p:cNvPr id="30" name="Shape 27"/>
          <p:cNvSpPr/>
          <p:nvPr/>
        </p:nvSpPr>
        <p:spPr>
          <a:xfrm>
            <a:off x="8896883" y="2377440"/>
            <a:ext cx="2636444" cy="54864"/>
          </a:xfrm>
          <a:prstGeom prst="rect">
            <a:avLst/>
          </a:prstGeom>
          <a:solidFill>
            <a:srgbClr val="2E7D4F"/>
          </a:solidFill>
          <a:ln w="12700">
            <a:solidFill>
              <a:srgbClr val="2E7D4F"/>
            </a:solidFill>
            <a:prstDash val="solid"/>
          </a:ln>
        </p:spPr>
      </p:sp>
      <p:sp>
        <p:nvSpPr>
          <p:cNvPr id="31" name="Text 28"/>
          <p:cNvSpPr txBox="1"/>
          <p:nvPr/>
        </p:nvSpPr>
        <p:spPr>
          <a:xfrm>
            <a:off x="9098051" y="2560320"/>
            <a:ext cx="2234108" cy="292608"/>
          </a:xfrm>
          <a:prstGeom prst="rect">
            <a:avLst/>
          </a:prstGeom>
          <a:noFill/>
          <a:ln/>
        </p:spPr>
        <p:txBody>
          <a:bodyPr wrap="square" lIns="0" tIns="0" rIns="0" bIns="0" rtlCol="0" anchor="t"/>
          <a:lstStyle/>
          <a:p>
            <a:pPr algn="l" indent="0" marL="0">
              <a:buNone/>
            </a:pPr>
            <a:r>
              <a:rPr lang="en-US" sz="1600" b="1" dirty="0">
                <a:solidFill>
                  <a:srgbClr val="2E7D4F"/>
                </a:solidFill>
                <a:latin typeface="Aptos" pitchFamily="34" charset="0"/>
                <a:ea typeface="Aptos" pitchFamily="34" charset="-122"/>
                <a:cs typeface="Aptos" pitchFamily="34" charset="-120"/>
              </a:rPr>
              <a:t>Tratamiento</a:t>
            </a:r>
            <a:endParaRPr lang="en-US" sz="1600" dirty="0"/>
          </a:p>
        </p:txBody>
      </p:sp>
      <p:sp>
        <p:nvSpPr>
          <p:cNvPr id="32" name="Text 29"/>
          <p:cNvSpPr txBox="1"/>
          <p:nvPr/>
        </p:nvSpPr>
        <p:spPr>
          <a:xfrm>
            <a:off x="9098051" y="2926080"/>
            <a:ext cx="2234108" cy="1060704"/>
          </a:xfrm>
          <a:prstGeom prst="rect">
            <a:avLst/>
          </a:prstGeom>
          <a:noFill/>
          <a:ln/>
        </p:spPr>
        <p:txBody>
          <a:bodyPr wrap="square" lIns="0" tIns="0" rIns="0" bIns="0" rtlCol="0" anchor="t"/>
          <a:lstStyle/>
          <a:p>
            <a:pPr algn="l" indent="0" marL="0">
              <a:lnSpc>
                <a:spcPct val="114000"/>
              </a:lnSpc>
              <a:buNone/>
            </a:pPr>
            <a:r>
              <a:rPr lang="en-US" sz="1020" dirty="0">
                <a:solidFill>
                  <a:srgbClr val="243B53"/>
                </a:solidFill>
                <a:latin typeface="Aptos" pitchFamily="34" charset="0"/>
                <a:ea typeface="Aptos" pitchFamily="34" charset="-122"/>
                <a:cs typeface="Aptos" pitchFamily="34" charset="-120"/>
              </a:rPr>
              <a:t>Cualquier operación que permita recolectar, procesar, almacenar, comunicar, transmitir o utilizar datos personales.</a:t>
            </a:r>
            <a:endParaRPr lang="en-US" sz="1020" dirty="0"/>
          </a:p>
        </p:txBody>
      </p:sp>
      <p:sp>
        <p:nvSpPr>
          <p:cNvPr id="33" name="Shape 30"/>
          <p:cNvSpPr/>
          <p:nvPr/>
        </p:nvSpPr>
        <p:spPr>
          <a:xfrm>
            <a:off x="9098051" y="4059936"/>
            <a:ext cx="2234108" cy="0"/>
          </a:xfrm>
          <a:prstGeom prst="line">
            <a:avLst/>
          </a:prstGeom>
          <a:noFill/>
          <a:ln w="12700">
            <a:solidFill>
              <a:srgbClr val="D8CFC4"/>
            </a:solidFill>
            <a:prstDash val="solid"/>
            <a:headEnd type="none"/>
            <a:tailEnd type="none"/>
          </a:ln>
        </p:spPr>
      </p:sp>
      <p:sp>
        <p:nvSpPr>
          <p:cNvPr id="34" name="Text 31"/>
          <p:cNvSpPr txBox="1"/>
          <p:nvPr/>
        </p:nvSpPr>
        <p:spPr>
          <a:xfrm>
            <a:off x="9098051" y="4169664"/>
            <a:ext cx="2234108" cy="548640"/>
          </a:xfrm>
          <a:prstGeom prst="rect">
            <a:avLst/>
          </a:prstGeom>
          <a:noFill/>
          <a:ln/>
        </p:spPr>
        <p:txBody>
          <a:bodyPr wrap="square" lIns="0" tIns="0" rIns="0" bIns="0" rtlCol="0" anchor="t"/>
          <a:lstStyle/>
          <a:p>
            <a:pPr algn="l" indent="0" marL="0">
              <a:lnSpc>
                <a:spcPct val="112000"/>
              </a:lnSpc>
              <a:buNone/>
            </a:pPr>
            <a:r>
              <a:rPr lang="en-US" sz="960" i="1" dirty="0">
                <a:solidFill>
                  <a:srgbClr val="52606D"/>
                </a:solidFill>
                <a:latin typeface="Aptos" pitchFamily="34" charset="0"/>
                <a:ea typeface="Aptos" pitchFamily="34" charset="-122"/>
                <a:cs typeface="Aptos" pitchFamily="34" charset="-120"/>
              </a:rPr>
              <a:t>Guardar una reserva es tratamiento. Consultarla también.</a:t>
            </a:r>
            <a:endParaRPr lang="en-US" sz="960" dirty="0"/>
          </a:p>
        </p:txBody>
      </p:sp>
      <p:sp>
        <p:nvSpPr>
          <p:cNvPr id="35" name="Shape 32"/>
          <p:cNvSpPr/>
          <p:nvPr/>
        </p:nvSpPr>
        <p:spPr>
          <a:xfrm>
            <a:off x="658368" y="5010912"/>
            <a:ext cx="10874959" cy="512064"/>
          </a:xfrm>
          <a:prstGeom prst="rect">
            <a:avLst/>
          </a:prstGeom>
          <a:solidFill>
            <a:srgbClr val="F2E7D9"/>
          </a:solidFill>
          <a:ln w="12700">
            <a:solidFill>
              <a:srgbClr val="F2E7D9"/>
            </a:solidFill>
            <a:prstDash val="solid"/>
          </a:ln>
        </p:spPr>
      </p:sp>
      <p:sp>
        <p:nvSpPr>
          <p:cNvPr id="36" name="Shape 33"/>
          <p:cNvSpPr/>
          <p:nvPr/>
        </p:nvSpPr>
        <p:spPr>
          <a:xfrm>
            <a:off x="658368" y="5010912"/>
            <a:ext cx="54864" cy="512064"/>
          </a:xfrm>
          <a:prstGeom prst="rect">
            <a:avLst/>
          </a:prstGeom>
          <a:solidFill>
            <a:srgbClr val="B3181E"/>
          </a:solidFill>
          <a:ln w="12700">
            <a:solidFill>
              <a:srgbClr val="B3181E"/>
            </a:solidFill>
            <a:prstDash val="solid"/>
          </a:ln>
        </p:spPr>
      </p:sp>
      <p:sp>
        <p:nvSpPr>
          <p:cNvPr id="37" name="Text 34"/>
          <p:cNvSpPr txBox="1"/>
          <p:nvPr/>
        </p:nvSpPr>
        <p:spPr>
          <a:xfrm>
            <a:off x="932688" y="5120640"/>
            <a:ext cx="10326319" cy="292608"/>
          </a:xfrm>
          <a:prstGeom prst="rect">
            <a:avLst/>
          </a:prstGeom>
          <a:noFill/>
          <a:ln/>
        </p:spPr>
        <p:txBody>
          <a:bodyPr wrap="square" lIns="0" tIns="0" rIns="0" bIns="0" rtlCol="0" anchor="t"/>
          <a:lstStyle/>
          <a:p>
            <a:pPr algn="l" indent="0" marL="0">
              <a:buNone/>
            </a:pPr>
            <a:r>
              <a:rPr lang="en-US" sz="1220" b="1" dirty="0">
                <a:solidFill>
                  <a:srgbClr val="243B53"/>
                </a:solidFill>
                <a:latin typeface="Aptos" pitchFamily="34" charset="0"/>
                <a:ea typeface="Aptos" pitchFamily="34" charset="-122"/>
                <a:cs typeface="Aptos" pitchFamily="34" charset="-120"/>
              </a:rPr>
              <a:t>Los derechos son del titular y las obligaciones son del responsable. Quien escribe el código trabaja para el segundo, sobre datos del primero.</a:t>
            </a:r>
            <a:endParaRPr lang="en-US" sz="1220" dirty="0"/>
          </a:p>
        </p:txBody>
      </p:sp>
      <p:sp>
        <p:nvSpPr>
          <p:cNvPr id="38" name="Shape 35"/>
          <p:cNvSpPr/>
          <p:nvPr/>
        </p:nvSpPr>
        <p:spPr>
          <a:xfrm>
            <a:off x="658368" y="5650992"/>
            <a:ext cx="10874959" cy="548640"/>
          </a:xfrm>
          <a:prstGeom prst="rect">
            <a:avLst/>
          </a:prstGeom>
          <a:solidFill>
            <a:srgbClr val="102A43"/>
          </a:solidFill>
          <a:ln w="12700">
            <a:solidFill>
              <a:srgbClr val="102A43"/>
            </a:solidFill>
            <a:prstDash val="solid"/>
          </a:ln>
        </p:spPr>
      </p:sp>
      <p:sp>
        <p:nvSpPr>
          <p:cNvPr id="39" name="Text 36"/>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Guardar, consultar y borrar son todas operaciones de tratamiento.</a:t>
            </a:r>
            <a:endParaRPr lang="en-US" sz="138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41</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4 · LA LEY</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Son seis derechos, no cinco</a:t>
            </a:r>
            <a:endParaRPr lang="en-US" sz="3000" dirty="0"/>
          </a:p>
        </p:txBody>
      </p:sp>
      <p:sp>
        <p:nvSpPr>
          <p:cNvPr id="10" name="Text 7"/>
          <p:cNvSpPr txBox="1"/>
          <p:nvPr/>
        </p:nvSpPr>
        <p:spPr>
          <a:xfrm>
            <a:off x="658368" y="1664208"/>
            <a:ext cx="10424160" cy="347472"/>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El artículo 4º los enumera en una sola frase. La referencia rápida más difundida muestra cinco y deja fuera el último.</a:t>
            </a:r>
            <a:endParaRPr lang="en-US" sz="1420" dirty="0"/>
          </a:p>
        </p:txBody>
      </p:sp>
      <p:sp>
        <p:nvSpPr>
          <p:cNvPr id="11" name="Shape 8"/>
          <p:cNvSpPr/>
          <p:nvPr/>
        </p:nvSpPr>
        <p:spPr>
          <a:xfrm>
            <a:off x="658368" y="2249424"/>
            <a:ext cx="1736293" cy="1828800"/>
          </a:xfrm>
          <a:prstGeom prst="rect">
            <a:avLst/>
          </a:prstGeom>
          <a:solidFill>
            <a:srgbClr val="FFFFFF"/>
          </a:solidFill>
          <a:ln w="12700">
            <a:solidFill>
              <a:srgbClr val="FFFFFF"/>
            </a:solidFill>
            <a:prstDash val="solid"/>
          </a:ln>
        </p:spPr>
      </p:sp>
      <p:sp>
        <p:nvSpPr>
          <p:cNvPr id="12" name="Shape 9"/>
          <p:cNvSpPr/>
          <p:nvPr/>
        </p:nvSpPr>
        <p:spPr>
          <a:xfrm>
            <a:off x="658368" y="2249424"/>
            <a:ext cx="1736293" cy="54864"/>
          </a:xfrm>
          <a:prstGeom prst="rect">
            <a:avLst/>
          </a:prstGeom>
          <a:solidFill>
            <a:srgbClr val="102A43"/>
          </a:solidFill>
          <a:ln w="12700">
            <a:solidFill>
              <a:srgbClr val="102A43"/>
            </a:solidFill>
            <a:prstDash val="solid"/>
          </a:ln>
        </p:spPr>
      </p:sp>
      <p:sp>
        <p:nvSpPr>
          <p:cNvPr id="13" name="Text 10"/>
          <p:cNvSpPr txBox="1"/>
          <p:nvPr/>
        </p:nvSpPr>
        <p:spPr>
          <a:xfrm>
            <a:off x="658368" y="2395728"/>
            <a:ext cx="1736293" cy="512064"/>
          </a:xfrm>
          <a:prstGeom prst="rect">
            <a:avLst/>
          </a:prstGeom>
          <a:noFill/>
          <a:ln/>
        </p:spPr>
        <p:txBody>
          <a:bodyPr wrap="square" lIns="0" tIns="0" rIns="0" bIns="0" rtlCol="0" anchor="t"/>
          <a:lstStyle/>
          <a:p>
            <a:pPr algn="ctr" indent="0" marL="0">
              <a:buNone/>
            </a:pPr>
            <a:r>
              <a:rPr lang="en-US" sz="3800" b="1" dirty="0">
                <a:solidFill>
                  <a:srgbClr val="102A43"/>
                </a:solidFill>
                <a:latin typeface="Aptos Display" pitchFamily="34" charset="0"/>
                <a:ea typeface="Aptos Display" pitchFamily="34" charset="-122"/>
                <a:cs typeface="Aptos Display" pitchFamily="34" charset="-120"/>
              </a:rPr>
              <a:t>A</a:t>
            </a:r>
            <a:endParaRPr lang="en-US" sz="3800" dirty="0"/>
          </a:p>
        </p:txBody>
      </p:sp>
      <p:sp>
        <p:nvSpPr>
          <p:cNvPr id="14" name="Text 11"/>
          <p:cNvSpPr txBox="1"/>
          <p:nvPr/>
        </p:nvSpPr>
        <p:spPr>
          <a:xfrm>
            <a:off x="768096" y="2980944"/>
            <a:ext cx="1516837" cy="256032"/>
          </a:xfrm>
          <a:prstGeom prst="rect">
            <a:avLst/>
          </a:prstGeom>
          <a:noFill/>
          <a:ln/>
        </p:spPr>
        <p:txBody>
          <a:bodyPr wrap="square" lIns="0" tIns="0" rIns="0" bIns="0" rtlCol="0" anchor="t"/>
          <a:lstStyle/>
          <a:p>
            <a:pPr algn="ctr" indent="0" marL="0">
              <a:buNone/>
            </a:pPr>
            <a:r>
              <a:rPr lang="en-US" sz="1240" b="1" dirty="0">
                <a:solidFill>
                  <a:srgbClr val="243B53"/>
                </a:solidFill>
                <a:latin typeface="Aptos" pitchFamily="34" charset="0"/>
                <a:ea typeface="Aptos" pitchFamily="34" charset="-122"/>
                <a:cs typeface="Aptos" pitchFamily="34" charset="-120"/>
              </a:rPr>
              <a:t>Acceso</a:t>
            </a:r>
            <a:endParaRPr lang="en-US" sz="1240" dirty="0"/>
          </a:p>
        </p:txBody>
      </p:sp>
      <p:sp>
        <p:nvSpPr>
          <p:cNvPr id="15" name="Text 12"/>
          <p:cNvSpPr txBox="1"/>
          <p:nvPr/>
        </p:nvSpPr>
        <p:spPr>
          <a:xfrm>
            <a:off x="786384" y="3291840"/>
            <a:ext cx="1480261" cy="676656"/>
          </a:xfrm>
          <a:prstGeom prst="rect">
            <a:avLst/>
          </a:prstGeom>
          <a:noFill/>
          <a:ln/>
        </p:spPr>
        <p:txBody>
          <a:bodyPr wrap="square" lIns="0" tIns="0" rIns="0" bIns="0" rtlCol="0" anchor="t"/>
          <a:lstStyle/>
          <a:p>
            <a:pPr algn="ctr" indent="0" marL="0">
              <a:lnSpc>
                <a:spcPct val="112000"/>
              </a:lnSpc>
              <a:buNone/>
            </a:pPr>
            <a:r>
              <a:rPr lang="en-US" sz="940" dirty="0">
                <a:solidFill>
                  <a:srgbClr val="52606D"/>
                </a:solidFill>
                <a:latin typeface="Aptos" pitchFamily="34" charset="0"/>
                <a:ea typeface="Aptos" pitchFamily="34" charset="-122"/>
                <a:cs typeface="Aptos" pitchFamily="34" charset="-120"/>
              </a:rPr>
              <a:t>Saber si sus datos se tratan, y obtenerlos.</a:t>
            </a:r>
            <a:endParaRPr lang="en-US" sz="940" dirty="0"/>
          </a:p>
        </p:txBody>
      </p:sp>
      <p:sp>
        <p:nvSpPr>
          <p:cNvPr id="16" name="Shape 13"/>
          <p:cNvSpPr/>
          <p:nvPr/>
        </p:nvSpPr>
        <p:spPr>
          <a:xfrm>
            <a:off x="2486101" y="2249424"/>
            <a:ext cx="1736293" cy="1828800"/>
          </a:xfrm>
          <a:prstGeom prst="rect">
            <a:avLst/>
          </a:prstGeom>
          <a:solidFill>
            <a:srgbClr val="FFFFFF"/>
          </a:solidFill>
          <a:ln w="12700">
            <a:solidFill>
              <a:srgbClr val="FFFFFF"/>
            </a:solidFill>
            <a:prstDash val="solid"/>
          </a:ln>
        </p:spPr>
      </p:sp>
      <p:sp>
        <p:nvSpPr>
          <p:cNvPr id="17" name="Shape 14"/>
          <p:cNvSpPr/>
          <p:nvPr/>
        </p:nvSpPr>
        <p:spPr>
          <a:xfrm>
            <a:off x="2486101" y="2249424"/>
            <a:ext cx="1736293" cy="54864"/>
          </a:xfrm>
          <a:prstGeom prst="rect">
            <a:avLst/>
          </a:prstGeom>
          <a:solidFill>
            <a:srgbClr val="102A43"/>
          </a:solidFill>
          <a:ln w="12700">
            <a:solidFill>
              <a:srgbClr val="102A43"/>
            </a:solidFill>
            <a:prstDash val="solid"/>
          </a:ln>
        </p:spPr>
      </p:sp>
      <p:sp>
        <p:nvSpPr>
          <p:cNvPr id="18" name="Text 15"/>
          <p:cNvSpPr txBox="1"/>
          <p:nvPr/>
        </p:nvSpPr>
        <p:spPr>
          <a:xfrm>
            <a:off x="2486101" y="2395728"/>
            <a:ext cx="1736293" cy="512064"/>
          </a:xfrm>
          <a:prstGeom prst="rect">
            <a:avLst/>
          </a:prstGeom>
          <a:noFill/>
          <a:ln/>
        </p:spPr>
        <p:txBody>
          <a:bodyPr wrap="square" lIns="0" tIns="0" rIns="0" bIns="0" rtlCol="0" anchor="t"/>
          <a:lstStyle/>
          <a:p>
            <a:pPr algn="ctr" indent="0" marL="0">
              <a:buNone/>
            </a:pPr>
            <a:r>
              <a:rPr lang="en-US" sz="3800" b="1" dirty="0">
                <a:solidFill>
                  <a:srgbClr val="102A43"/>
                </a:solidFill>
                <a:latin typeface="Aptos Display" pitchFamily="34" charset="0"/>
                <a:ea typeface="Aptos Display" pitchFamily="34" charset="-122"/>
                <a:cs typeface="Aptos Display" pitchFamily="34" charset="-120"/>
              </a:rPr>
              <a:t>R</a:t>
            </a:r>
            <a:endParaRPr lang="en-US" sz="3800" dirty="0"/>
          </a:p>
        </p:txBody>
      </p:sp>
      <p:sp>
        <p:nvSpPr>
          <p:cNvPr id="19" name="Text 16"/>
          <p:cNvSpPr txBox="1"/>
          <p:nvPr/>
        </p:nvSpPr>
        <p:spPr>
          <a:xfrm>
            <a:off x="2595829" y="2980944"/>
            <a:ext cx="1516837" cy="256032"/>
          </a:xfrm>
          <a:prstGeom prst="rect">
            <a:avLst/>
          </a:prstGeom>
          <a:noFill/>
          <a:ln/>
        </p:spPr>
        <p:txBody>
          <a:bodyPr wrap="square" lIns="0" tIns="0" rIns="0" bIns="0" rtlCol="0" anchor="t"/>
          <a:lstStyle/>
          <a:p>
            <a:pPr algn="ctr" indent="0" marL="0">
              <a:buNone/>
            </a:pPr>
            <a:r>
              <a:rPr lang="en-US" sz="1240" b="1" dirty="0">
                <a:solidFill>
                  <a:srgbClr val="243B53"/>
                </a:solidFill>
                <a:latin typeface="Aptos" pitchFamily="34" charset="0"/>
                <a:ea typeface="Aptos" pitchFamily="34" charset="-122"/>
                <a:cs typeface="Aptos" pitchFamily="34" charset="-120"/>
              </a:rPr>
              <a:t>Rectificación</a:t>
            </a:r>
            <a:endParaRPr lang="en-US" sz="1240" dirty="0"/>
          </a:p>
        </p:txBody>
      </p:sp>
      <p:sp>
        <p:nvSpPr>
          <p:cNvPr id="20" name="Text 17"/>
          <p:cNvSpPr txBox="1"/>
          <p:nvPr/>
        </p:nvSpPr>
        <p:spPr>
          <a:xfrm>
            <a:off x="2614117" y="3291840"/>
            <a:ext cx="1480261" cy="676656"/>
          </a:xfrm>
          <a:prstGeom prst="rect">
            <a:avLst/>
          </a:prstGeom>
          <a:noFill/>
          <a:ln/>
        </p:spPr>
        <p:txBody>
          <a:bodyPr wrap="square" lIns="0" tIns="0" rIns="0" bIns="0" rtlCol="0" anchor="t"/>
          <a:lstStyle/>
          <a:p>
            <a:pPr algn="ctr" indent="0" marL="0">
              <a:lnSpc>
                <a:spcPct val="112000"/>
              </a:lnSpc>
              <a:buNone/>
            </a:pPr>
            <a:r>
              <a:rPr lang="en-US" sz="940" dirty="0">
                <a:solidFill>
                  <a:srgbClr val="52606D"/>
                </a:solidFill>
                <a:latin typeface="Aptos" pitchFamily="34" charset="0"/>
                <a:ea typeface="Aptos" pitchFamily="34" charset="-122"/>
                <a:cs typeface="Aptos" pitchFamily="34" charset="-120"/>
              </a:rPr>
              <a:t>Corregir lo inexacto o desactualizado.</a:t>
            </a:r>
            <a:endParaRPr lang="en-US" sz="940" dirty="0"/>
          </a:p>
        </p:txBody>
      </p:sp>
      <p:sp>
        <p:nvSpPr>
          <p:cNvPr id="21" name="Shape 18"/>
          <p:cNvSpPr/>
          <p:nvPr/>
        </p:nvSpPr>
        <p:spPr>
          <a:xfrm>
            <a:off x="4313834" y="2249424"/>
            <a:ext cx="1736293" cy="1828800"/>
          </a:xfrm>
          <a:prstGeom prst="rect">
            <a:avLst/>
          </a:prstGeom>
          <a:solidFill>
            <a:srgbClr val="FFFFFF"/>
          </a:solidFill>
          <a:ln w="12700">
            <a:solidFill>
              <a:srgbClr val="FFFFFF"/>
            </a:solidFill>
            <a:prstDash val="solid"/>
          </a:ln>
        </p:spPr>
      </p:sp>
      <p:sp>
        <p:nvSpPr>
          <p:cNvPr id="22" name="Shape 19"/>
          <p:cNvSpPr/>
          <p:nvPr/>
        </p:nvSpPr>
        <p:spPr>
          <a:xfrm>
            <a:off x="4313834" y="2249424"/>
            <a:ext cx="1736293" cy="54864"/>
          </a:xfrm>
          <a:prstGeom prst="rect">
            <a:avLst/>
          </a:prstGeom>
          <a:solidFill>
            <a:srgbClr val="102A43"/>
          </a:solidFill>
          <a:ln w="12700">
            <a:solidFill>
              <a:srgbClr val="102A43"/>
            </a:solidFill>
            <a:prstDash val="solid"/>
          </a:ln>
        </p:spPr>
      </p:sp>
      <p:sp>
        <p:nvSpPr>
          <p:cNvPr id="23" name="Text 20"/>
          <p:cNvSpPr txBox="1"/>
          <p:nvPr/>
        </p:nvSpPr>
        <p:spPr>
          <a:xfrm>
            <a:off x="4313834" y="2395728"/>
            <a:ext cx="1736293" cy="512064"/>
          </a:xfrm>
          <a:prstGeom prst="rect">
            <a:avLst/>
          </a:prstGeom>
          <a:noFill/>
          <a:ln/>
        </p:spPr>
        <p:txBody>
          <a:bodyPr wrap="square" lIns="0" tIns="0" rIns="0" bIns="0" rtlCol="0" anchor="t"/>
          <a:lstStyle/>
          <a:p>
            <a:pPr algn="ctr" indent="0" marL="0">
              <a:buNone/>
            </a:pPr>
            <a:r>
              <a:rPr lang="en-US" sz="3800" b="1" dirty="0">
                <a:solidFill>
                  <a:srgbClr val="102A43"/>
                </a:solidFill>
                <a:latin typeface="Aptos Display" pitchFamily="34" charset="0"/>
                <a:ea typeface="Aptos Display" pitchFamily="34" charset="-122"/>
                <a:cs typeface="Aptos Display" pitchFamily="34" charset="-120"/>
              </a:rPr>
              <a:t>S</a:t>
            </a:r>
            <a:endParaRPr lang="en-US" sz="3800" dirty="0"/>
          </a:p>
        </p:txBody>
      </p:sp>
      <p:sp>
        <p:nvSpPr>
          <p:cNvPr id="24" name="Text 21"/>
          <p:cNvSpPr txBox="1"/>
          <p:nvPr/>
        </p:nvSpPr>
        <p:spPr>
          <a:xfrm>
            <a:off x="4423562" y="2980944"/>
            <a:ext cx="1516837" cy="256032"/>
          </a:xfrm>
          <a:prstGeom prst="rect">
            <a:avLst/>
          </a:prstGeom>
          <a:noFill/>
          <a:ln/>
        </p:spPr>
        <p:txBody>
          <a:bodyPr wrap="square" lIns="0" tIns="0" rIns="0" bIns="0" rtlCol="0" anchor="t"/>
          <a:lstStyle/>
          <a:p>
            <a:pPr algn="ctr" indent="0" marL="0">
              <a:buNone/>
            </a:pPr>
            <a:r>
              <a:rPr lang="en-US" sz="1240" b="1" dirty="0">
                <a:solidFill>
                  <a:srgbClr val="243B53"/>
                </a:solidFill>
                <a:latin typeface="Aptos" pitchFamily="34" charset="0"/>
                <a:ea typeface="Aptos" pitchFamily="34" charset="-122"/>
                <a:cs typeface="Aptos" pitchFamily="34" charset="-120"/>
              </a:rPr>
              <a:t>Supresión</a:t>
            </a:r>
            <a:endParaRPr lang="en-US" sz="1240" dirty="0"/>
          </a:p>
        </p:txBody>
      </p:sp>
      <p:sp>
        <p:nvSpPr>
          <p:cNvPr id="25" name="Text 22"/>
          <p:cNvSpPr txBox="1"/>
          <p:nvPr/>
        </p:nvSpPr>
        <p:spPr>
          <a:xfrm>
            <a:off x="4441850" y="3291840"/>
            <a:ext cx="1480261" cy="676656"/>
          </a:xfrm>
          <a:prstGeom prst="rect">
            <a:avLst/>
          </a:prstGeom>
          <a:noFill/>
          <a:ln/>
        </p:spPr>
        <p:txBody>
          <a:bodyPr wrap="square" lIns="0" tIns="0" rIns="0" bIns="0" rtlCol="0" anchor="t"/>
          <a:lstStyle/>
          <a:p>
            <a:pPr algn="ctr" indent="0" marL="0">
              <a:lnSpc>
                <a:spcPct val="112000"/>
              </a:lnSpc>
              <a:buNone/>
            </a:pPr>
            <a:r>
              <a:rPr lang="en-US" sz="940" dirty="0">
                <a:solidFill>
                  <a:srgbClr val="52606D"/>
                </a:solidFill>
                <a:latin typeface="Aptos" pitchFamily="34" charset="0"/>
                <a:ea typeface="Aptos" pitchFamily="34" charset="-122"/>
                <a:cs typeface="Aptos" pitchFamily="34" charset="-120"/>
              </a:rPr>
              <a:t>Que sus datos se eliminen.</a:t>
            </a:r>
            <a:endParaRPr lang="en-US" sz="940" dirty="0"/>
          </a:p>
        </p:txBody>
      </p:sp>
      <p:sp>
        <p:nvSpPr>
          <p:cNvPr id="26" name="Shape 23"/>
          <p:cNvSpPr/>
          <p:nvPr/>
        </p:nvSpPr>
        <p:spPr>
          <a:xfrm>
            <a:off x="6141568" y="2249424"/>
            <a:ext cx="1736293" cy="1828800"/>
          </a:xfrm>
          <a:prstGeom prst="rect">
            <a:avLst/>
          </a:prstGeom>
          <a:solidFill>
            <a:srgbClr val="FFFFFF"/>
          </a:solidFill>
          <a:ln w="12700">
            <a:solidFill>
              <a:srgbClr val="FFFFFF"/>
            </a:solidFill>
            <a:prstDash val="solid"/>
          </a:ln>
        </p:spPr>
      </p:sp>
      <p:sp>
        <p:nvSpPr>
          <p:cNvPr id="27" name="Shape 24"/>
          <p:cNvSpPr/>
          <p:nvPr/>
        </p:nvSpPr>
        <p:spPr>
          <a:xfrm>
            <a:off x="6141568" y="2249424"/>
            <a:ext cx="1736293" cy="54864"/>
          </a:xfrm>
          <a:prstGeom prst="rect">
            <a:avLst/>
          </a:prstGeom>
          <a:solidFill>
            <a:srgbClr val="102A43"/>
          </a:solidFill>
          <a:ln w="12700">
            <a:solidFill>
              <a:srgbClr val="102A43"/>
            </a:solidFill>
            <a:prstDash val="solid"/>
          </a:ln>
        </p:spPr>
      </p:sp>
      <p:sp>
        <p:nvSpPr>
          <p:cNvPr id="28" name="Text 25"/>
          <p:cNvSpPr txBox="1"/>
          <p:nvPr/>
        </p:nvSpPr>
        <p:spPr>
          <a:xfrm>
            <a:off x="6141568" y="2395728"/>
            <a:ext cx="1736293" cy="512064"/>
          </a:xfrm>
          <a:prstGeom prst="rect">
            <a:avLst/>
          </a:prstGeom>
          <a:noFill/>
          <a:ln/>
        </p:spPr>
        <p:txBody>
          <a:bodyPr wrap="square" lIns="0" tIns="0" rIns="0" bIns="0" rtlCol="0" anchor="t"/>
          <a:lstStyle/>
          <a:p>
            <a:pPr algn="ctr" indent="0" marL="0">
              <a:buNone/>
            </a:pPr>
            <a:r>
              <a:rPr lang="en-US" sz="3800" b="1" dirty="0">
                <a:solidFill>
                  <a:srgbClr val="102A43"/>
                </a:solidFill>
                <a:latin typeface="Aptos Display" pitchFamily="34" charset="0"/>
                <a:ea typeface="Aptos Display" pitchFamily="34" charset="-122"/>
                <a:cs typeface="Aptos Display" pitchFamily="34" charset="-120"/>
              </a:rPr>
              <a:t>O</a:t>
            </a:r>
            <a:endParaRPr lang="en-US" sz="3800" dirty="0"/>
          </a:p>
        </p:txBody>
      </p:sp>
      <p:sp>
        <p:nvSpPr>
          <p:cNvPr id="29" name="Text 26"/>
          <p:cNvSpPr txBox="1"/>
          <p:nvPr/>
        </p:nvSpPr>
        <p:spPr>
          <a:xfrm>
            <a:off x="6251296" y="2980944"/>
            <a:ext cx="1516837" cy="256032"/>
          </a:xfrm>
          <a:prstGeom prst="rect">
            <a:avLst/>
          </a:prstGeom>
          <a:noFill/>
          <a:ln/>
        </p:spPr>
        <p:txBody>
          <a:bodyPr wrap="square" lIns="0" tIns="0" rIns="0" bIns="0" rtlCol="0" anchor="t"/>
          <a:lstStyle/>
          <a:p>
            <a:pPr algn="ctr" indent="0" marL="0">
              <a:buNone/>
            </a:pPr>
            <a:r>
              <a:rPr lang="en-US" sz="1240" b="1" dirty="0">
                <a:solidFill>
                  <a:srgbClr val="243B53"/>
                </a:solidFill>
                <a:latin typeface="Aptos" pitchFamily="34" charset="0"/>
                <a:ea typeface="Aptos" pitchFamily="34" charset="-122"/>
                <a:cs typeface="Aptos" pitchFamily="34" charset="-120"/>
              </a:rPr>
              <a:t>Oposición</a:t>
            </a:r>
            <a:endParaRPr lang="en-US" sz="1240" dirty="0"/>
          </a:p>
        </p:txBody>
      </p:sp>
      <p:sp>
        <p:nvSpPr>
          <p:cNvPr id="30" name="Text 27"/>
          <p:cNvSpPr txBox="1"/>
          <p:nvPr/>
        </p:nvSpPr>
        <p:spPr>
          <a:xfrm>
            <a:off x="6269584" y="3291840"/>
            <a:ext cx="1480261" cy="676656"/>
          </a:xfrm>
          <a:prstGeom prst="rect">
            <a:avLst/>
          </a:prstGeom>
          <a:noFill/>
          <a:ln/>
        </p:spPr>
        <p:txBody>
          <a:bodyPr wrap="square" lIns="0" tIns="0" rIns="0" bIns="0" rtlCol="0" anchor="t"/>
          <a:lstStyle/>
          <a:p>
            <a:pPr algn="ctr" indent="0" marL="0">
              <a:lnSpc>
                <a:spcPct val="112000"/>
              </a:lnSpc>
              <a:buNone/>
            </a:pPr>
            <a:r>
              <a:rPr lang="en-US" sz="940" dirty="0">
                <a:solidFill>
                  <a:srgbClr val="52606D"/>
                </a:solidFill>
                <a:latin typeface="Aptos" pitchFamily="34" charset="0"/>
                <a:ea typeface="Aptos" pitchFamily="34" charset="-122"/>
                <a:cs typeface="Aptos" pitchFamily="34" charset="-120"/>
              </a:rPr>
              <a:t>Objetar un tratamiento determinado.</a:t>
            </a:r>
            <a:endParaRPr lang="en-US" sz="940" dirty="0"/>
          </a:p>
        </p:txBody>
      </p:sp>
      <p:sp>
        <p:nvSpPr>
          <p:cNvPr id="31" name="Shape 28"/>
          <p:cNvSpPr/>
          <p:nvPr/>
        </p:nvSpPr>
        <p:spPr>
          <a:xfrm>
            <a:off x="7969301" y="2249424"/>
            <a:ext cx="1736293" cy="1828800"/>
          </a:xfrm>
          <a:prstGeom prst="rect">
            <a:avLst/>
          </a:prstGeom>
          <a:solidFill>
            <a:srgbClr val="FFFFFF"/>
          </a:solidFill>
          <a:ln w="12700">
            <a:solidFill>
              <a:srgbClr val="FFFFFF"/>
            </a:solidFill>
            <a:prstDash val="solid"/>
          </a:ln>
        </p:spPr>
      </p:sp>
      <p:sp>
        <p:nvSpPr>
          <p:cNvPr id="32" name="Shape 29"/>
          <p:cNvSpPr/>
          <p:nvPr/>
        </p:nvSpPr>
        <p:spPr>
          <a:xfrm>
            <a:off x="7969301" y="2249424"/>
            <a:ext cx="1736293" cy="54864"/>
          </a:xfrm>
          <a:prstGeom prst="rect">
            <a:avLst/>
          </a:prstGeom>
          <a:solidFill>
            <a:srgbClr val="102A43"/>
          </a:solidFill>
          <a:ln w="12700">
            <a:solidFill>
              <a:srgbClr val="102A43"/>
            </a:solidFill>
            <a:prstDash val="solid"/>
          </a:ln>
        </p:spPr>
      </p:sp>
      <p:sp>
        <p:nvSpPr>
          <p:cNvPr id="33" name="Text 30"/>
          <p:cNvSpPr txBox="1"/>
          <p:nvPr/>
        </p:nvSpPr>
        <p:spPr>
          <a:xfrm>
            <a:off x="7969301" y="2395728"/>
            <a:ext cx="1736293" cy="512064"/>
          </a:xfrm>
          <a:prstGeom prst="rect">
            <a:avLst/>
          </a:prstGeom>
          <a:noFill/>
          <a:ln/>
        </p:spPr>
        <p:txBody>
          <a:bodyPr wrap="square" lIns="0" tIns="0" rIns="0" bIns="0" rtlCol="0" anchor="t"/>
          <a:lstStyle/>
          <a:p>
            <a:pPr algn="ctr" indent="0" marL="0">
              <a:buNone/>
            </a:pPr>
            <a:r>
              <a:rPr lang="en-US" sz="3800" b="1" dirty="0">
                <a:solidFill>
                  <a:srgbClr val="102A43"/>
                </a:solidFill>
                <a:latin typeface="Aptos Display" pitchFamily="34" charset="0"/>
                <a:ea typeface="Aptos Display" pitchFamily="34" charset="-122"/>
                <a:cs typeface="Aptos Display" pitchFamily="34" charset="-120"/>
              </a:rPr>
              <a:t>P</a:t>
            </a:r>
            <a:endParaRPr lang="en-US" sz="3800" dirty="0"/>
          </a:p>
        </p:txBody>
      </p:sp>
      <p:sp>
        <p:nvSpPr>
          <p:cNvPr id="34" name="Text 31"/>
          <p:cNvSpPr txBox="1"/>
          <p:nvPr/>
        </p:nvSpPr>
        <p:spPr>
          <a:xfrm>
            <a:off x="8079029" y="2980944"/>
            <a:ext cx="1516837" cy="256032"/>
          </a:xfrm>
          <a:prstGeom prst="rect">
            <a:avLst/>
          </a:prstGeom>
          <a:noFill/>
          <a:ln/>
        </p:spPr>
        <p:txBody>
          <a:bodyPr wrap="square" lIns="0" tIns="0" rIns="0" bIns="0" rtlCol="0" anchor="t"/>
          <a:lstStyle/>
          <a:p>
            <a:pPr algn="ctr" indent="0" marL="0">
              <a:buNone/>
            </a:pPr>
            <a:r>
              <a:rPr lang="en-US" sz="1240" b="1" dirty="0">
                <a:solidFill>
                  <a:srgbClr val="243B53"/>
                </a:solidFill>
                <a:latin typeface="Aptos" pitchFamily="34" charset="0"/>
                <a:ea typeface="Aptos" pitchFamily="34" charset="-122"/>
                <a:cs typeface="Aptos" pitchFamily="34" charset="-120"/>
              </a:rPr>
              <a:t>Portabilidad</a:t>
            </a:r>
            <a:endParaRPr lang="en-US" sz="1240" dirty="0"/>
          </a:p>
        </p:txBody>
      </p:sp>
      <p:sp>
        <p:nvSpPr>
          <p:cNvPr id="35" name="Text 32"/>
          <p:cNvSpPr txBox="1"/>
          <p:nvPr/>
        </p:nvSpPr>
        <p:spPr>
          <a:xfrm>
            <a:off x="8097317" y="3291840"/>
            <a:ext cx="1480261" cy="676656"/>
          </a:xfrm>
          <a:prstGeom prst="rect">
            <a:avLst/>
          </a:prstGeom>
          <a:noFill/>
          <a:ln/>
        </p:spPr>
        <p:txBody>
          <a:bodyPr wrap="square" lIns="0" tIns="0" rIns="0" bIns="0" rtlCol="0" anchor="t"/>
          <a:lstStyle/>
          <a:p>
            <a:pPr algn="ctr" indent="0" marL="0">
              <a:lnSpc>
                <a:spcPct val="112000"/>
              </a:lnSpc>
              <a:buNone/>
            </a:pPr>
            <a:r>
              <a:rPr lang="en-US" sz="940" dirty="0">
                <a:solidFill>
                  <a:srgbClr val="52606D"/>
                </a:solidFill>
                <a:latin typeface="Aptos" pitchFamily="34" charset="0"/>
                <a:ea typeface="Aptos" pitchFamily="34" charset="-122"/>
                <a:cs typeface="Aptos" pitchFamily="34" charset="-120"/>
              </a:rPr>
              <a:t>Recibir una copia y llevarla a otro responsable.</a:t>
            </a:r>
            <a:endParaRPr lang="en-US" sz="940" dirty="0"/>
          </a:p>
        </p:txBody>
      </p:sp>
      <p:sp>
        <p:nvSpPr>
          <p:cNvPr id="36" name="Shape 33"/>
          <p:cNvSpPr/>
          <p:nvPr/>
        </p:nvSpPr>
        <p:spPr>
          <a:xfrm>
            <a:off x="9797034" y="2249424"/>
            <a:ext cx="1736293" cy="1828800"/>
          </a:xfrm>
          <a:prstGeom prst="rect">
            <a:avLst/>
          </a:prstGeom>
          <a:solidFill>
            <a:srgbClr val="F2E7D9"/>
          </a:solidFill>
          <a:ln w="12700">
            <a:solidFill>
              <a:srgbClr val="F2E7D9"/>
            </a:solidFill>
            <a:prstDash val="solid"/>
          </a:ln>
        </p:spPr>
      </p:sp>
      <p:sp>
        <p:nvSpPr>
          <p:cNvPr id="37" name="Shape 34"/>
          <p:cNvSpPr/>
          <p:nvPr/>
        </p:nvSpPr>
        <p:spPr>
          <a:xfrm>
            <a:off x="9797034" y="2249424"/>
            <a:ext cx="1736293" cy="54864"/>
          </a:xfrm>
          <a:prstGeom prst="rect">
            <a:avLst/>
          </a:prstGeom>
          <a:solidFill>
            <a:srgbClr val="B3181E"/>
          </a:solidFill>
          <a:ln w="12700">
            <a:solidFill>
              <a:srgbClr val="B3181E"/>
            </a:solidFill>
            <a:prstDash val="solid"/>
          </a:ln>
        </p:spPr>
      </p:sp>
      <p:sp>
        <p:nvSpPr>
          <p:cNvPr id="38" name="Text 35"/>
          <p:cNvSpPr txBox="1"/>
          <p:nvPr/>
        </p:nvSpPr>
        <p:spPr>
          <a:xfrm>
            <a:off x="9797034" y="2395728"/>
            <a:ext cx="1736293" cy="512064"/>
          </a:xfrm>
          <a:prstGeom prst="rect">
            <a:avLst/>
          </a:prstGeom>
          <a:noFill/>
          <a:ln/>
        </p:spPr>
        <p:txBody>
          <a:bodyPr wrap="square" lIns="0" tIns="0" rIns="0" bIns="0" rtlCol="0" anchor="t"/>
          <a:lstStyle/>
          <a:p>
            <a:pPr algn="ctr" indent="0" marL="0">
              <a:buNone/>
            </a:pPr>
            <a:r>
              <a:rPr lang="en-US" sz="3800" b="1" dirty="0">
                <a:solidFill>
                  <a:srgbClr val="B3181E"/>
                </a:solidFill>
                <a:latin typeface="Aptos Display" pitchFamily="34" charset="0"/>
                <a:ea typeface="Aptos Display" pitchFamily="34" charset="-122"/>
                <a:cs typeface="Aptos Display" pitchFamily="34" charset="-120"/>
              </a:rPr>
              <a:t>B</a:t>
            </a:r>
            <a:endParaRPr lang="en-US" sz="3800" dirty="0"/>
          </a:p>
        </p:txBody>
      </p:sp>
      <p:sp>
        <p:nvSpPr>
          <p:cNvPr id="39" name="Text 36"/>
          <p:cNvSpPr txBox="1"/>
          <p:nvPr/>
        </p:nvSpPr>
        <p:spPr>
          <a:xfrm>
            <a:off x="9906762" y="2980944"/>
            <a:ext cx="1516837" cy="256032"/>
          </a:xfrm>
          <a:prstGeom prst="rect">
            <a:avLst/>
          </a:prstGeom>
          <a:noFill/>
          <a:ln/>
        </p:spPr>
        <p:txBody>
          <a:bodyPr wrap="square" lIns="0" tIns="0" rIns="0" bIns="0" rtlCol="0" anchor="t"/>
          <a:lstStyle/>
          <a:p>
            <a:pPr algn="ctr" indent="0" marL="0">
              <a:buNone/>
            </a:pPr>
            <a:r>
              <a:rPr lang="en-US" sz="1240" b="1" dirty="0">
                <a:solidFill>
                  <a:srgbClr val="243B53"/>
                </a:solidFill>
                <a:latin typeface="Aptos" pitchFamily="34" charset="0"/>
                <a:ea typeface="Aptos" pitchFamily="34" charset="-122"/>
                <a:cs typeface="Aptos" pitchFamily="34" charset="-120"/>
              </a:rPr>
              <a:t>Bloqueo</a:t>
            </a:r>
            <a:endParaRPr lang="en-US" sz="1240" dirty="0"/>
          </a:p>
        </p:txBody>
      </p:sp>
      <p:sp>
        <p:nvSpPr>
          <p:cNvPr id="40" name="Text 37"/>
          <p:cNvSpPr txBox="1"/>
          <p:nvPr/>
        </p:nvSpPr>
        <p:spPr>
          <a:xfrm>
            <a:off x="9925050" y="3291840"/>
            <a:ext cx="1480261" cy="676656"/>
          </a:xfrm>
          <a:prstGeom prst="rect">
            <a:avLst/>
          </a:prstGeom>
          <a:noFill/>
          <a:ln/>
        </p:spPr>
        <p:txBody>
          <a:bodyPr wrap="square" lIns="0" tIns="0" rIns="0" bIns="0" rtlCol="0" anchor="t"/>
          <a:lstStyle/>
          <a:p>
            <a:pPr algn="ctr" indent="0" marL="0">
              <a:lnSpc>
                <a:spcPct val="112000"/>
              </a:lnSpc>
              <a:buNone/>
            </a:pPr>
            <a:r>
              <a:rPr lang="en-US" sz="940" dirty="0">
                <a:solidFill>
                  <a:srgbClr val="52606D"/>
                </a:solidFill>
                <a:latin typeface="Aptos" pitchFamily="34" charset="0"/>
                <a:ea typeface="Aptos" pitchFamily="34" charset="-122"/>
                <a:cs typeface="Aptos" pitchFamily="34" charset="-120"/>
              </a:rPr>
              <a:t>Suspender el tratamiento mientras se resuelve una solicitud.</a:t>
            </a:r>
            <a:endParaRPr lang="en-US" sz="940" dirty="0"/>
          </a:p>
        </p:txBody>
      </p:sp>
      <p:sp>
        <p:nvSpPr>
          <p:cNvPr id="41" name="Shape 38"/>
          <p:cNvSpPr/>
          <p:nvPr/>
        </p:nvSpPr>
        <p:spPr>
          <a:xfrm>
            <a:off x="658368" y="4224528"/>
            <a:ext cx="5943600" cy="676656"/>
          </a:xfrm>
          <a:prstGeom prst="rect">
            <a:avLst/>
          </a:prstGeom>
          <a:solidFill>
            <a:srgbClr val="EDE6DA"/>
          </a:solidFill>
          <a:ln w="12700">
            <a:solidFill>
              <a:srgbClr val="EDE6DA"/>
            </a:solidFill>
            <a:prstDash val="solid"/>
          </a:ln>
        </p:spPr>
      </p:sp>
      <p:sp>
        <p:nvSpPr>
          <p:cNvPr id="42" name="Shape 39"/>
          <p:cNvSpPr/>
          <p:nvPr/>
        </p:nvSpPr>
        <p:spPr>
          <a:xfrm>
            <a:off x="658368" y="4224528"/>
            <a:ext cx="54864" cy="676656"/>
          </a:xfrm>
          <a:prstGeom prst="rect">
            <a:avLst/>
          </a:prstGeom>
          <a:solidFill>
            <a:srgbClr val="B3181E"/>
          </a:solidFill>
          <a:ln w="12700">
            <a:solidFill>
              <a:srgbClr val="B3181E"/>
            </a:solidFill>
            <a:prstDash val="solid"/>
          </a:ln>
        </p:spPr>
      </p:sp>
      <p:sp>
        <p:nvSpPr>
          <p:cNvPr id="43" name="Text 40"/>
          <p:cNvSpPr txBox="1"/>
          <p:nvPr/>
        </p:nvSpPr>
        <p:spPr>
          <a:xfrm>
            <a:off x="896112" y="4315968"/>
            <a:ext cx="5486400" cy="219456"/>
          </a:xfrm>
          <a:prstGeom prst="rect">
            <a:avLst/>
          </a:prstGeom>
          <a:noFill/>
          <a:ln/>
        </p:spPr>
        <p:txBody>
          <a:bodyPr wrap="square" lIns="0" tIns="0" rIns="0" bIns="0" rtlCol="0" anchor="t"/>
          <a:lstStyle/>
          <a:p>
            <a:pPr algn="l" indent="0" marL="0">
              <a:buNone/>
            </a:pPr>
            <a:r>
              <a:rPr lang="en-US" sz="1160" b="1" dirty="0">
                <a:solidFill>
                  <a:srgbClr val="B3181E"/>
                </a:solidFill>
                <a:latin typeface="Aptos" pitchFamily="34" charset="0"/>
                <a:ea typeface="Aptos" pitchFamily="34" charset="-122"/>
                <a:cs typeface="Aptos" pitchFamily="34" charset="-120"/>
              </a:rPr>
              <a:t>El sexto es el más parecido a un requisito de software</a:t>
            </a:r>
            <a:endParaRPr lang="en-US" sz="1160" dirty="0"/>
          </a:p>
        </p:txBody>
      </p:sp>
      <p:sp>
        <p:nvSpPr>
          <p:cNvPr id="44" name="Text 41"/>
          <p:cNvSpPr txBox="1"/>
          <p:nvPr/>
        </p:nvSpPr>
        <p:spPr>
          <a:xfrm>
            <a:off x="896112" y="4553712"/>
            <a:ext cx="5486400" cy="274320"/>
          </a:xfrm>
          <a:prstGeom prst="rect">
            <a:avLst/>
          </a:prstGeom>
          <a:noFill/>
          <a:ln/>
        </p:spPr>
        <p:txBody>
          <a:bodyPr wrap="square" lIns="0" tIns="0" rIns="0" bIns="0" rtlCol="0" anchor="t"/>
          <a:lstStyle/>
          <a:p>
            <a:pPr algn="l" indent="0" marL="0">
              <a:buNone/>
            </a:pPr>
            <a:r>
              <a:rPr lang="en-US" sz="1060" dirty="0">
                <a:solidFill>
                  <a:srgbClr val="243B53"/>
                </a:solidFill>
                <a:latin typeface="Aptos" pitchFamily="34" charset="0"/>
                <a:ea typeface="Aptos" pitchFamily="34" charset="-122"/>
                <a:cs typeface="Aptos" pitchFamily="34" charset="-120"/>
              </a:rPr>
              <a:t>Bloqueo es un estado del sistema: mientras hay una solicitud pendiente, los datos de esa persona no se tratan.</a:t>
            </a:r>
            <a:endParaRPr lang="en-US" sz="1060" dirty="0"/>
          </a:p>
        </p:txBody>
      </p:sp>
      <p:sp>
        <p:nvSpPr>
          <p:cNvPr id="45" name="Shape 42"/>
          <p:cNvSpPr/>
          <p:nvPr/>
        </p:nvSpPr>
        <p:spPr>
          <a:xfrm>
            <a:off x="6821424" y="4224528"/>
            <a:ext cx="4718304" cy="676656"/>
          </a:xfrm>
          <a:prstGeom prst="rect">
            <a:avLst/>
          </a:prstGeom>
          <a:solidFill>
            <a:srgbClr val="F2E7D9"/>
          </a:solidFill>
          <a:ln w="12700">
            <a:solidFill>
              <a:srgbClr val="F2E7D9"/>
            </a:solidFill>
            <a:prstDash val="solid"/>
          </a:ln>
        </p:spPr>
      </p:sp>
      <p:sp>
        <p:nvSpPr>
          <p:cNvPr id="46" name="Shape 43"/>
          <p:cNvSpPr/>
          <p:nvPr/>
        </p:nvSpPr>
        <p:spPr>
          <a:xfrm>
            <a:off x="6821424" y="4224528"/>
            <a:ext cx="54864" cy="676656"/>
          </a:xfrm>
          <a:prstGeom prst="rect">
            <a:avLst/>
          </a:prstGeom>
          <a:solidFill>
            <a:srgbClr val="B3181E"/>
          </a:solidFill>
          <a:ln w="12700">
            <a:solidFill>
              <a:srgbClr val="B3181E"/>
            </a:solidFill>
            <a:prstDash val="solid"/>
          </a:ln>
        </p:spPr>
      </p:sp>
      <p:sp>
        <p:nvSpPr>
          <p:cNvPr id="47" name="Text 44"/>
          <p:cNvSpPr txBox="1"/>
          <p:nvPr/>
        </p:nvSpPr>
        <p:spPr>
          <a:xfrm>
            <a:off x="7059168" y="4315968"/>
            <a:ext cx="4297680" cy="219456"/>
          </a:xfrm>
          <a:prstGeom prst="rect">
            <a:avLst/>
          </a:prstGeom>
          <a:noFill/>
          <a:ln/>
        </p:spPr>
        <p:txBody>
          <a:bodyPr wrap="square" lIns="0" tIns="0" rIns="0" bIns="0" rtlCol="0" anchor="t"/>
          <a:lstStyle/>
          <a:p>
            <a:pPr algn="l" indent="0" marL="0">
              <a:buNone/>
            </a:pPr>
            <a:r>
              <a:rPr lang="en-US" sz="1160" b="1" dirty="0">
                <a:solidFill>
                  <a:srgbClr val="B3181E"/>
                </a:solidFill>
                <a:latin typeface="Aptos" pitchFamily="34" charset="0"/>
                <a:ea typeface="Aptos" pitchFamily="34" charset="-122"/>
                <a:cs typeface="Aptos" pitchFamily="34" charset="-120"/>
              </a:rPr>
              <a:t>Artículo 34 ter · infracciones graves</a:t>
            </a:r>
            <a:endParaRPr lang="en-US" sz="1160" dirty="0"/>
          </a:p>
        </p:txBody>
      </p:sp>
      <p:sp>
        <p:nvSpPr>
          <p:cNvPr id="48" name="Text 45"/>
          <p:cNvSpPr txBox="1"/>
          <p:nvPr/>
        </p:nvSpPr>
        <p:spPr>
          <a:xfrm>
            <a:off x="7059168" y="4553712"/>
            <a:ext cx="4297680" cy="274320"/>
          </a:xfrm>
          <a:prstGeom prst="rect">
            <a:avLst/>
          </a:prstGeom>
          <a:noFill/>
          <a:ln/>
        </p:spPr>
        <p:txBody>
          <a:bodyPr wrap="square" lIns="0" tIns="0" rIns="0" bIns="0" rtlCol="0" anchor="t"/>
          <a:lstStyle/>
          <a:p>
            <a:pPr algn="l" indent="0" marL="0">
              <a:buNone/>
            </a:pPr>
            <a:r>
              <a:rPr lang="en-US" sz="1060" dirty="0">
                <a:solidFill>
                  <a:srgbClr val="243B53"/>
                </a:solidFill>
                <a:latin typeface="Aptos" pitchFamily="34" charset="0"/>
                <a:ea typeface="Aptos" pitchFamily="34" charset="-122"/>
                <a:cs typeface="Aptos" pitchFamily="34" charset="-120"/>
              </a:rPr>
              <a:t>Impedir el ejercicio de un derecho, y responder tarde una solicitud de bloqueo.</a:t>
            </a:r>
            <a:endParaRPr lang="en-US" sz="1060" dirty="0"/>
          </a:p>
        </p:txBody>
      </p:sp>
      <p:sp>
        <p:nvSpPr>
          <p:cNvPr id="49" name="Text 46"/>
          <p:cNvSpPr txBox="1"/>
          <p:nvPr/>
        </p:nvSpPr>
        <p:spPr>
          <a:xfrm>
            <a:off x="658368" y="5120640"/>
            <a:ext cx="10874959" cy="274320"/>
          </a:xfrm>
          <a:prstGeom prst="rect">
            <a:avLst/>
          </a:prstGeom>
          <a:noFill/>
          <a:ln/>
        </p:spPr>
        <p:txBody>
          <a:bodyPr wrap="square" lIns="0" tIns="0" rIns="0" bIns="0" rtlCol="0" anchor="t"/>
          <a:lstStyle/>
          <a:p>
            <a:pPr algn="l" indent="0" marL="0">
              <a:buNone/>
            </a:pPr>
            <a:r>
              <a:rPr lang="en-US" sz="1240" b="1" dirty="0">
                <a:solidFill>
                  <a:srgbClr val="243B53"/>
                </a:solidFill>
                <a:latin typeface="Aptos" pitchFamily="34" charset="0"/>
                <a:ea typeface="Aptos" pitchFamily="34" charset="-122"/>
                <a:cs typeface="Aptos" pitchFamily="34" charset="-120"/>
              </a:rPr>
              <a:t>Las dos están en la misma lista. Un derecho que el sistema no puede satisfacer no es un detalle de cortesía.</a:t>
            </a:r>
            <a:endParaRPr lang="en-US" sz="1240" dirty="0"/>
          </a:p>
        </p:txBody>
      </p:sp>
      <p:sp>
        <p:nvSpPr>
          <p:cNvPr id="50" name="Shape 47"/>
          <p:cNvSpPr/>
          <p:nvPr/>
        </p:nvSpPr>
        <p:spPr>
          <a:xfrm>
            <a:off x="658368" y="5650992"/>
            <a:ext cx="10874959" cy="548640"/>
          </a:xfrm>
          <a:prstGeom prst="rect">
            <a:avLst/>
          </a:prstGeom>
          <a:solidFill>
            <a:srgbClr val="102A43"/>
          </a:solidFill>
          <a:ln w="12700">
            <a:solidFill>
              <a:srgbClr val="102A43"/>
            </a:solidFill>
            <a:prstDash val="solid"/>
          </a:ln>
        </p:spPr>
      </p:sp>
      <p:sp>
        <p:nvSpPr>
          <p:cNvPr id="51" name="Text 48"/>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Un derecho es una facultad que una persona ejerce y el sistema tiene que poder satisfacer.</a:t>
            </a:r>
            <a:endParaRPr lang="en-US" sz="138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42</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4 · LA TRADUCCIÓN</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Un derecho todavía no se puede probar</a:t>
            </a:r>
            <a:endParaRPr lang="en-US" sz="3000" dirty="0"/>
          </a:p>
        </p:txBody>
      </p:sp>
      <p:sp>
        <p:nvSpPr>
          <p:cNvPr id="10" name="Text 7"/>
          <p:cNvSpPr txBox="1"/>
          <p:nvPr/>
        </p:nvSpPr>
        <p:spPr>
          <a:xfrm>
            <a:off x="658368" y="1664208"/>
            <a:ext cx="10424160" cy="347472"/>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«Tiene derecho a obtener la eliminación de sus datos» es una facultad jurídica, no una afirmación sobre un programa.</a:t>
            </a:r>
            <a:endParaRPr lang="en-US" sz="1420" dirty="0"/>
          </a:p>
        </p:txBody>
      </p:sp>
      <p:sp>
        <p:nvSpPr>
          <p:cNvPr id="11" name="Text 8"/>
          <p:cNvSpPr txBox="1"/>
          <p:nvPr/>
        </p:nvSpPr>
        <p:spPr>
          <a:xfrm>
            <a:off x="658368" y="2231136"/>
            <a:ext cx="6400800" cy="201168"/>
          </a:xfrm>
          <a:prstGeom prst="rect">
            <a:avLst/>
          </a:prstGeom>
          <a:noFill/>
          <a:ln/>
        </p:spPr>
        <p:txBody>
          <a:bodyPr wrap="square" lIns="0" tIns="0" rIns="0" bIns="0" rtlCol="0" anchor="t"/>
          <a:lstStyle/>
          <a:p>
            <a:pPr algn="l" indent="0" marL="0">
              <a:buNone/>
            </a:pPr>
            <a:r>
              <a:rPr lang="en-US" sz="960" b="1" spc="130" kern="0" dirty="0">
                <a:solidFill>
                  <a:srgbClr val="D62027"/>
                </a:solidFill>
                <a:latin typeface="Aptos" pitchFamily="34" charset="0"/>
                <a:ea typeface="Aptos" pitchFamily="34" charset="-122"/>
                <a:cs typeface="Aptos" pitchFamily="34" charset="-120"/>
              </a:rPr>
              <a:t>EL DERECHO DE SUPRESIÓN, TRADUCIDO PASO A PASO</a:t>
            </a:r>
            <a:endParaRPr lang="en-US" sz="960" dirty="0"/>
          </a:p>
        </p:txBody>
      </p:sp>
      <p:sp>
        <p:nvSpPr>
          <p:cNvPr id="12" name="Shape 9"/>
          <p:cNvSpPr/>
          <p:nvPr/>
        </p:nvSpPr>
        <p:spPr>
          <a:xfrm>
            <a:off x="658368" y="2505456"/>
            <a:ext cx="2389556" cy="914400"/>
          </a:xfrm>
          <a:prstGeom prst="rect">
            <a:avLst/>
          </a:prstGeom>
          <a:solidFill>
            <a:srgbClr val="FFFFFF"/>
          </a:solidFill>
          <a:ln w="12700">
            <a:solidFill>
              <a:srgbClr val="FFFFFF"/>
            </a:solidFill>
            <a:prstDash val="solid"/>
          </a:ln>
        </p:spPr>
      </p:sp>
      <p:sp>
        <p:nvSpPr>
          <p:cNvPr id="13" name="Shape 10"/>
          <p:cNvSpPr/>
          <p:nvPr/>
        </p:nvSpPr>
        <p:spPr>
          <a:xfrm>
            <a:off x="658368" y="2505456"/>
            <a:ext cx="2389556" cy="54864"/>
          </a:xfrm>
          <a:prstGeom prst="rect">
            <a:avLst/>
          </a:prstGeom>
          <a:solidFill>
            <a:srgbClr val="52606D"/>
          </a:solidFill>
          <a:ln w="12700">
            <a:solidFill>
              <a:srgbClr val="52606D"/>
            </a:solidFill>
            <a:prstDash val="solid"/>
          </a:ln>
        </p:spPr>
      </p:sp>
      <p:sp>
        <p:nvSpPr>
          <p:cNvPr id="14" name="Text 11"/>
          <p:cNvSpPr txBox="1"/>
          <p:nvPr/>
        </p:nvSpPr>
        <p:spPr>
          <a:xfrm>
            <a:off x="822960" y="2651760"/>
            <a:ext cx="2060372" cy="182880"/>
          </a:xfrm>
          <a:prstGeom prst="rect">
            <a:avLst/>
          </a:prstGeom>
          <a:noFill/>
          <a:ln/>
        </p:spPr>
        <p:txBody>
          <a:bodyPr wrap="square" lIns="0" tIns="0" rIns="0" bIns="0" rtlCol="0" anchor="t"/>
          <a:lstStyle/>
          <a:p>
            <a:pPr algn="l" indent="0" marL="0">
              <a:buNone/>
            </a:pPr>
            <a:r>
              <a:rPr lang="en-US" sz="880" b="1" spc="90" kern="0" dirty="0">
                <a:solidFill>
                  <a:srgbClr val="52606D"/>
                </a:solidFill>
                <a:latin typeface="Aptos" pitchFamily="34" charset="0"/>
                <a:ea typeface="Aptos" pitchFamily="34" charset="-122"/>
                <a:cs typeface="Aptos" pitchFamily="34" charset="-120"/>
              </a:rPr>
              <a:t>EL DERECHO</a:t>
            </a:r>
            <a:endParaRPr lang="en-US" sz="880" dirty="0"/>
          </a:p>
        </p:txBody>
      </p:sp>
      <p:sp>
        <p:nvSpPr>
          <p:cNvPr id="15" name="Text 12"/>
          <p:cNvSpPr txBox="1"/>
          <p:nvPr/>
        </p:nvSpPr>
        <p:spPr>
          <a:xfrm>
            <a:off x="822960" y="2871216"/>
            <a:ext cx="2060372" cy="457200"/>
          </a:xfrm>
          <a:prstGeom prst="rect">
            <a:avLst/>
          </a:prstGeom>
          <a:noFill/>
          <a:ln/>
        </p:spPr>
        <p:txBody>
          <a:bodyPr wrap="square" lIns="0" tIns="0" rIns="0" bIns="0" rtlCol="0" anchor="t"/>
          <a:lstStyle/>
          <a:p>
            <a:pPr algn="l" indent="0" marL="0">
              <a:lnSpc>
                <a:spcPct val="110000"/>
              </a:lnSpc>
              <a:buNone/>
            </a:pPr>
            <a:r>
              <a:rPr lang="en-US" sz="1080" dirty="0">
                <a:solidFill>
                  <a:srgbClr val="243B53"/>
                </a:solidFill>
                <a:latin typeface="Aptos" pitchFamily="34" charset="0"/>
                <a:ea typeface="Aptos" pitchFamily="34" charset="-122"/>
                <a:cs typeface="Aptos" pitchFamily="34" charset="-120"/>
              </a:rPr>
              <a:t>«La eliminación de los datos personales que le conciernen»</a:t>
            </a:r>
            <a:endParaRPr lang="en-US" sz="1080" dirty="0"/>
          </a:p>
        </p:txBody>
      </p:sp>
      <p:sp>
        <p:nvSpPr>
          <p:cNvPr id="16" name="Shape 13"/>
          <p:cNvSpPr/>
          <p:nvPr/>
        </p:nvSpPr>
        <p:spPr>
          <a:xfrm>
            <a:off x="3121076" y="2962656"/>
            <a:ext cx="292608" cy="0"/>
          </a:xfrm>
          <a:prstGeom prst="line">
            <a:avLst/>
          </a:prstGeom>
          <a:noFill/>
          <a:ln w="12700">
            <a:solidFill>
              <a:srgbClr val="D8CFC4"/>
            </a:solidFill>
            <a:prstDash val="solid"/>
            <a:headEnd type="none"/>
            <a:tailEnd type="triangle"/>
          </a:ln>
        </p:spPr>
      </p:sp>
      <p:sp>
        <p:nvSpPr>
          <p:cNvPr id="17" name="Shape 14"/>
          <p:cNvSpPr/>
          <p:nvPr/>
        </p:nvSpPr>
        <p:spPr>
          <a:xfrm>
            <a:off x="3486836" y="2505456"/>
            <a:ext cx="2389556" cy="914400"/>
          </a:xfrm>
          <a:prstGeom prst="rect">
            <a:avLst/>
          </a:prstGeom>
          <a:solidFill>
            <a:srgbClr val="FFFFFF"/>
          </a:solidFill>
          <a:ln w="12700">
            <a:solidFill>
              <a:srgbClr val="FFFFFF"/>
            </a:solidFill>
            <a:prstDash val="solid"/>
          </a:ln>
        </p:spPr>
      </p:sp>
      <p:sp>
        <p:nvSpPr>
          <p:cNvPr id="18" name="Shape 15"/>
          <p:cNvSpPr/>
          <p:nvPr/>
        </p:nvSpPr>
        <p:spPr>
          <a:xfrm>
            <a:off x="3486836" y="2505456"/>
            <a:ext cx="2389556" cy="54864"/>
          </a:xfrm>
          <a:prstGeom prst="rect">
            <a:avLst/>
          </a:prstGeom>
          <a:solidFill>
            <a:srgbClr val="102A43"/>
          </a:solidFill>
          <a:ln w="12700">
            <a:solidFill>
              <a:srgbClr val="102A43"/>
            </a:solidFill>
            <a:prstDash val="solid"/>
          </a:ln>
        </p:spPr>
      </p:sp>
      <p:sp>
        <p:nvSpPr>
          <p:cNvPr id="19" name="Text 16"/>
          <p:cNvSpPr txBox="1"/>
          <p:nvPr/>
        </p:nvSpPr>
        <p:spPr>
          <a:xfrm>
            <a:off x="3651428" y="2651760"/>
            <a:ext cx="2060372" cy="182880"/>
          </a:xfrm>
          <a:prstGeom prst="rect">
            <a:avLst/>
          </a:prstGeom>
          <a:noFill/>
          <a:ln/>
        </p:spPr>
        <p:txBody>
          <a:bodyPr wrap="square" lIns="0" tIns="0" rIns="0" bIns="0" rtlCol="0" anchor="t"/>
          <a:lstStyle/>
          <a:p>
            <a:pPr algn="l" indent="0" marL="0">
              <a:buNone/>
            </a:pPr>
            <a:r>
              <a:rPr lang="en-US" sz="880" b="1" spc="90" kern="0" dirty="0">
                <a:solidFill>
                  <a:srgbClr val="102A43"/>
                </a:solidFill>
                <a:latin typeface="Aptos" pitchFamily="34" charset="0"/>
                <a:ea typeface="Aptos" pitchFamily="34" charset="-122"/>
                <a:cs typeface="Aptos" pitchFamily="34" charset="-120"/>
              </a:rPr>
              <a:t>LA MAGNITUD</a:t>
            </a:r>
            <a:endParaRPr lang="en-US" sz="880" dirty="0"/>
          </a:p>
        </p:txBody>
      </p:sp>
      <p:sp>
        <p:nvSpPr>
          <p:cNvPr id="20" name="Text 17"/>
          <p:cNvSpPr txBox="1"/>
          <p:nvPr/>
        </p:nvSpPr>
        <p:spPr>
          <a:xfrm>
            <a:off x="3651428" y="2871216"/>
            <a:ext cx="2060372" cy="457200"/>
          </a:xfrm>
          <a:prstGeom prst="rect">
            <a:avLst/>
          </a:prstGeom>
          <a:noFill/>
          <a:ln/>
        </p:spPr>
        <p:txBody>
          <a:bodyPr wrap="square" lIns="0" tIns="0" rIns="0" bIns="0" rtlCol="0" anchor="t"/>
          <a:lstStyle/>
          <a:p>
            <a:pPr algn="l" indent="0" marL="0">
              <a:lnSpc>
                <a:spcPct val="110000"/>
              </a:lnSpc>
              <a:buNone/>
            </a:pPr>
            <a:r>
              <a:rPr lang="en-US" sz="1080" dirty="0">
                <a:solidFill>
                  <a:srgbClr val="243B53"/>
                </a:solidFill>
                <a:latin typeface="Aptos" pitchFamily="34" charset="0"/>
                <a:ea typeface="Aptos" pitchFamily="34" charset="-122"/>
                <a:cs typeface="Aptos" pitchFamily="34" charset="-120"/>
              </a:rPr>
              <a:t>Filas del sistema que contienen datos del titular</a:t>
            </a:r>
            <a:endParaRPr lang="en-US" sz="1080" dirty="0"/>
          </a:p>
        </p:txBody>
      </p:sp>
      <p:sp>
        <p:nvSpPr>
          <p:cNvPr id="21" name="Shape 18"/>
          <p:cNvSpPr/>
          <p:nvPr/>
        </p:nvSpPr>
        <p:spPr>
          <a:xfrm>
            <a:off x="5949544" y="2962656"/>
            <a:ext cx="292608" cy="0"/>
          </a:xfrm>
          <a:prstGeom prst="line">
            <a:avLst/>
          </a:prstGeom>
          <a:noFill/>
          <a:ln w="12700">
            <a:solidFill>
              <a:srgbClr val="D8CFC4"/>
            </a:solidFill>
            <a:prstDash val="solid"/>
            <a:headEnd type="none"/>
            <a:tailEnd type="triangle"/>
          </a:ln>
        </p:spPr>
      </p:sp>
      <p:sp>
        <p:nvSpPr>
          <p:cNvPr id="22" name="Shape 19"/>
          <p:cNvSpPr/>
          <p:nvPr/>
        </p:nvSpPr>
        <p:spPr>
          <a:xfrm>
            <a:off x="6315304" y="2505456"/>
            <a:ext cx="2389556" cy="914400"/>
          </a:xfrm>
          <a:prstGeom prst="rect">
            <a:avLst/>
          </a:prstGeom>
          <a:solidFill>
            <a:srgbClr val="FFFFFF"/>
          </a:solidFill>
          <a:ln w="12700">
            <a:solidFill>
              <a:srgbClr val="FFFFFF"/>
            </a:solidFill>
            <a:prstDash val="solid"/>
          </a:ln>
        </p:spPr>
      </p:sp>
      <p:sp>
        <p:nvSpPr>
          <p:cNvPr id="23" name="Shape 20"/>
          <p:cNvSpPr/>
          <p:nvPr/>
        </p:nvSpPr>
        <p:spPr>
          <a:xfrm>
            <a:off x="6315304" y="2505456"/>
            <a:ext cx="2389556" cy="54864"/>
          </a:xfrm>
          <a:prstGeom prst="rect">
            <a:avLst/>
          </a:prstGeom>
          <a:solidFill>
            <a:srgbClr val="102A43"/>
          </a:solidFill>
          <a:ln w="12700">
            <a:solidFill>
              <a:srgbClr val="102A43"/>
            </a:solidFill>
            <a:prstDash val="solid"/>
          </a:ln>
        </p:spPr>
      </p:sp>
      <p:sp>
        <p:nvSpPr>
          <p:cNvPr id="24" name="Text 21"/>
          <p:cNvSpPr txBox="1"/>
          <p:nvPr/>
        </p:nvSpPr>
        <p:spPr>
          <a:xfrm>
            <a:off x="6479896" y="2651760"/>
            <a:ext cx="2060372" cy="182880"/>
          </a:xfrm>
          <a:prstGeom prst="rect">
            <a:avLst/>
          </a:prstGeom>
          <a:noFill/>
          <a:ln/>
        </p:spPr>
        <p:txBody>
          <a:bodyPr wrap="square" lIns="0" tIns="0" rIns="0" bIns="0" rtlCol="0" anchor="t"/>
          <a:lstStyle/>
          <a:p>
            <a:pPr algn="l" indent="0" marL="0">
              <a:buNone/>
            </a:pPr>
            <a:r>
              <a:rPr lang="en-US" sz="880" b="1" spc="90" kern="0" dirty="0">
                <a:solidFill>
                  <a:srgbClr val="102A43"/>
                </a:solidFill>
                <a:latin typeface="Aptos" pitchFamily="34" charset="0"/>
                <a:ea typeface="Aptos" pitchFamily="34" charset="-122"/>
                <a:cs typeface="Aptos" pitchFamily="34" charset="-120"/>
              </a:rPr>
              <a:t>EL MÉTODO</a:t>
            </a:r>
            <a:endParaRPr lang="en-US" sz="880" dirty="0"/>
          </a:p>
        </p:txBody>
      </p:sp>
      <p:sp>
        <p:nvSpPr>
          <p:cNvPr id="25" name="Text 22"/>
          <p:cNvSpPr txBox="1"/>
          <p:nvPr/>
        </p:nvSpPr>
        <p:spPr>
          <a:xfrm>
            <a:off x="6479896" y="2871216"/>
            <a:ext cx="2060372" cy="457200"/>
          </a:xfrm>
          <a:prstGeom prst="rect">
            <a:avLst/>
          </a:prstGeom>
          <a:noFill/>
          <a:ln/>
        </p:spPr>
        <p:txBody>
          <a:bodyPr wrap="square" lIns="0" tIns="0" rIns="0" bIns="0" rtlCol="0" anchor="t"/>
          <a:lstStyle/>
          <a:p>
            <a:pPr algn="l" indent="0" marL="0">
              <a:lnSpc>
                <a:spcPct val="110000"/>
              </a:lnSpc>
              <a:buNone/>
            </a:pPr>
            <a:r>
              <a:rPr lang="en-US" sz="1080" dirty="0">
                <a:solidFill>
                  <a:srgbClr val="243B53"/>
                </a:solidFill>
                <a:latin typeface="Aptos" pitchFamily="34" charset="0"/>
                <a:ea typeface="Aptos" pitchFamily="34" charset="-122"/>
                <a:cs typeface="Aptos" pitchFamily="34" charset="-120"/>
              </a:rPr>
              <a:t>Buscar el identificador en todas las tablas</a:t>
            </a:r>
            <a:endParaRPr lang="en-US" sz="1080" dirty="0"/>
          </a:p>
        </p:txBody>
      </p:sp>
      <p:sp>
        <p:nvSpPr>
          <p:cNvPr id="26" name="Shape 23"/>
          <p:cNvSpPr/>
          <p:nvPr/>
        </p:nvSpPr>
        <p:spPr>
          <a:xfrm>
            <a:off x="8778011" y="2962656"/>
            <a:ext cx="292608" cy="0"/>
          </a:xfrm>
          <a:prstGeom prst="line">
            <a:avLst/>
          </a:prstGeom>
          <a:noFill/>
          <a:ln w="12700">
            <a:solidFill>
              <a:srgbClr val="D8CFC4"/>
            </a:solidFill>
            <a:prstDash val="solid"/>
            <a:headEnd type="none"/>
            <a:tailEnd type="triangle"/>
          </a:ln>
        </p:spPr>
      </p:sp>
      <p:sp>
        <p:nvSpPr>
          <p:cNvPr id="27" name="Shape 24"/>
          <p:cNvSpPr/>
          <p:nvPr/>
        </p:nvSpPr>
        <p:spPr>
          <a:xfrm>
            <a:off x="9143771" y="2505456"/>
            <a:ext cx="2389556" cy="914400"/>
          </a:xfrm>
          <a:prstGeom prst="rect">
            <a:avLst/>
          </a:prstGeom>
          <a:solidFill>
            <a:srgbClr val="F2E7D9"/>
          </a:solidFill>
          <a:ln w="12700">
            <a:solidFill>
              <a:srgbClr val="F2E7D9"/>
            </a:solidFill>
            <a:prstDash val="solid"/>
          </a:ln>
        </p:spPr>
      </p:sp>
      <p:sp>
        <p:nvSpPr>
          <p:cNvPr id="28" name="Shape 25"/>
          <p:cNvSpPr/>
          <p:nvPr/>
        </p:nvSpPr>
        <p:spPr>
          <a:xfrm>
            <a:off x="9143771" y="2505456"/>
            <a:ext cx="2389556" cy="54864"/>
          </a:xfrm>
          <a:prstGeom prst="rect">
            <a:avLst/>
          </a:prstGeom>
          <a:solidFill>
            <a:srgbClr val="B3181E"/>
          </a:solidFill>
          <a:ln w="12700">
            <a:solidFill>
              <a:srgbClr val="B3181E"/>
            </a:solidFill>
            <a:prstDash val="solid"/>
          </a:ln>
        </p:spPr>
      </p:sp>
      <p:sp>
        <p:nvSpPr>
          <p:cNvPr id="29" name="Text 26"/>
          <p:cNvSpPr txBox="1"/>
          <p:nvPr/>
        </p:nvSpPr>
        <p:spPr>
          <a:xfrm>
            <a:off x="9308363" y="2651760"/>
            <a:ext cx="2060372" cy="182880"/>
          </a:xfrm>
          <a:prstGeom prst="rect">
            <a:avLst/>
          </a:prstGeom>
          <a:noFill/>
          <a:ln/>
        </p:spPr>
        <p:txBody>
          <a:bodyPr wrap="square" lIns="0" tIns="0" rIns="0" bIns="0" rtlCol="0" anchor="t"/>
          <a:lstStyle/>
          <a:p>
            <a:pPr algn="l" indent="0" marL="0">
              <a:buNone/>
            </a:pPr>
            <a:r>
              <a:rPr lang="en-US" sz="880" b="1" spc="90" kern="0" dirty="0">
                <a:solidFill>
                  <a:srgbClr val="B3181E"/>
                </a:solidFill>
                <a:latin typeface="Aptos" pitchFamily="34" charset="0"/>
                <a:ea typeface="Aptos" pitchFamily="34" charset="-122"/>
                <a:cs typeface="Aptos" pitchFamily="34" charset="-120"/>
              </a:rPr>
              <a:t>EL UMBRAL</a:t>
            </a:r>
            <a:endParaRPr lang="en-US" sz="880" dirty="0"/>
          </a:p>
        </p:txBody>
      </p:sp>
      <p:sp>
        <p:nvSpPr>
          <p:cNvPr id="30" name="Text 27"/>
          <p:cNvSpPr txBox="1"/>
          <p:nvPr/>
        </p:nvSpPr>
        <p:spPr>
          <a:xfrm>
            <a:off x="9308363" y="2871216"/>
            <a:ext cx="2060372" cy="457200"/>
          </a:xfrm>
          <a:prstGeom prst="rect">
            <a:avLst/>
          </a:prstGeom>
          <a:noFill/>
          <a:ln/>
        </p:spPr>
        <p:txBody>
          <a:bodyPr wrap="square" lIns="0" tIns="0" rIns="0" bIns="0" rtlCol="0" anchor="t"/>
          <a:lstStyle/>
          <a:p>
            <a:pPr algn="l" indent="0" marL="0">
              <a:lnSpc>
                <a:spcPct val="110000"/>
              </a:lnSpc>
              <a:buNone/>
            </a:pPr>
            <a:r>
              <a:rPr lang="en-US" sz="1700" b="1" dirty="0">
                <a:solidFill>
                  <a:srgbClr val="B3181E"/>
                </a:solidFill>
                <a:latin typeface="Aptos" pitchFamily="34" charset="0"/>
                <a:ea typeface="Aptos" pitchFamily="34" charset="-122"/>
                <a:cs typeface="Aptos" pitchFamily="34" charset="-120"/>
              </a:rPr>
              <a:t>Cero</a:t>
            </a:r>
            <a:endParaRPr lang="en-US" sz="1700" dirty="0"/>
          </a:p>
        </p:txBody>
      </p:sp>
      <p:sp>
        <p:nvSpPr>
          <p:cNvPr id="31" name="Shape 28"/>
          <p:cNvSpPr/>
          <p:nvPr/>
        </p:nvSpPr>
        <p:spPr>
          <a:xfrm>
            <a:off x="658368" y="3584448"/>
            <a:ext cx="10874959" cy="475488"/>
          </a:xfrm>
          <a:prstGeom prst="rect">
            <a:avLst/>
          </a:prstGeom>
          <a:solidFill>
            <a:srgbClr val="1D3A57"/>
          </a:solidFill>
          <a:ln w="12700">
            <a:solidFill>
              <a:srgbClr val="1D3A57"/>
            </a:solidFill>
            <a:prstDash val="solid"/>
          </a:ln>
        </p:spPr>
      </p:sp>
      <p:sp>
        <p:nvSpPr>
          <p:cNvPr id="32" name="Text 29"/>
          <p:cNvSpPr txBox="1"/>
          <p:nvPr/>
        </p:nvSpPr>
        <p:spPr>
          <a:xfrm>
            <a:off x="932688" y="3657600"/>
            <a:ext cx="10326319" cy="329184"/>
          </a:xfrm>
          <a:prstGeom prst="rect">
            <a:avLst/>
          </a:prstGeom>
          <a:noFill/>
          <a:ln/>
        </p:spPr>
        <p:txBody>
          <a:bodyPr wrap="square" lIns="0" tIns="0" rIns="0" bIns="0" rtlCol="0" anchor="t"/>
          <a:lstStyle/>
          <a:p>
            <a:pPr algn="l" indent="0" marL="0">
              <a:buNone/>
            </a:pPr>
            <a:r>
              <a:rPr lang="en-US" sz="1300" b="1" dirty="0">
                <a:solidFill>
                  <a:srgbClr val="FFFFFF"/>
                </a:solidFill>
                <a:latin typeface="Aptos" pitchFamily="34" charset="0"/>
                <a:ea typeface="Aptos" pitchFamily="34" charset="-122"/>
                <a:cs typeface="Aptos" pitchFamily="34" charset="-120"/>
              </a:rPr>
              <a:t>RF-07 · Ejecutada una solicitud de supresión, ninguna tabla del sistema conserva datos que identifiquen al titular.</a:t>
            </a:r>
            <a:endParaRPr lang="en-US" sz="1300" dirty="0"/>
          </a:p>
        </p:txBody>
      </p:sp>
      <p:sp>
        <p:nvSpPr>
          <p:cNvPr id="33" name="Text 30"/>
          <p:cNvSpPr txBox="1"/>
          <p:nvPr/>
        </p:nvSpPr>
        <p:spPr>
          <a:xfrm>
            <a:off x="658368" y="4261104"/>
            <a:ext cx="6400800" cy="201168"/>
          </a:xfrm>
          <a:prstGeom prst="rect">
            <a:avLst/>
          </a:prstGeom>
          <a:noFill/>
          <a:ln/>
        </p:spPr>
        <p:txBody>
          <a:bodyPr wrap="square" lIns="0" tIns="0" rIns="0" bIns="0" rtlCol="0" anchor="t"/>
          <a:lstStyle/>
          <a:p>
            <a:pPr algn="l" indent="0" marL="0">
              <a:buNone/>
            </a:pPr>
            <a:r>
              <a:rPr lang="en-US" sz="960" b="1" spc="130" kern="0" dirty="0">
                <a:solidFill>
                  <a:srgbClr val="D62027"/>
                </a:solidFill>
                <a:latin typeface="Aptos" pitchFamily="34" charset="0"/>
                <a:ea typeface="Aptos" pitchFamily="34" charset="-122"/>
                <a:cs typeface="Aptos" pitchFamily="34" charset="-120"/>
              </a:rPr>
              <a:t>Y EN VARIOS ARTÍCULOS EL UMBRAL YA VIENE ESCRITO</a:t>
            </a:r>
            <a:endParaRPr lang="en-US" sz="960" dirty="0"/>
          </a:p>
        </p:txBody>
      </p:sp>
      <p:sp>
        <p:nvSpPr>
          <p:cNvPr id="34" name="Shape 31"/>
          <p:cNvSpPr/>
          <p:nvPr/>
        </p:nvSpPr>
        <p:spPr>
          <a:xfrm>
            <a:off x="658368" y="4517136"/>
            <a:ext cx="2834640" cy="932688"/>
          </a:xfrm>
          <a:prstGeom prst="rect">
            <a:avLst/>
          </a:prstGeom>
          <a:solidFill>
            <a:srgbClr val="FFFFFF"/>
          </a:solidFill>
          <a:ln w="12700">
            <a:solidFill>
              <a:srgbClr val="FFFFFF"/>
            </a:solidFill>
            <a:prstDash val="solid"/>
          </a:ln>
        </p:spPr>
      </p:sp>
      <p:sp>
        <p:nvSpPr>
          <p:cNvPr id="35" name="Shape 32"/>
          <p:cNvSpPr/>
          <p:nvPr/>
        </p:nvSpPr>
        <p:spPr>
          <a:xfrm>
            <a:off x="658368" y="4517136"/>
            <a:ext cx="54864" cy="932688"/>
          </a:xfrm>
          <a:prstGeom prst="rect">
            <a:avLst/>
          </a:prstGeom>
          <a:solidFill>
            <a:srgbClr val="102A43"/>
          </a:solidFill>
          <a:ln w="12700">
            <a:solidFill>
              <a:srgbClr val="102A43"/>
            </a:solidFill>
            <a:prstDash val="solid"/>
          </a:ln>
        </p:spPr>
      </p:sp>
      <p:sp>
        <p:nvSpPr>
          <p:cNvPr id="36" name="Text 33"/>
          <p:cNvSpPr txBox="1"/>
          <p:nvPr/>
        </p:nvSpPr>
        <p:spPr>
          <a:xfrm>
            <a:off x="877824" y="4608576"/>
            <a:ext cx="822960" cy="402336"/>
          </a:xfrm>
          <a:prstGeom prst="rect">
            <a:avLst/>
          </a:prstGeom>
          <a:noFill/>
          <a:ln/>
        </p:spPr>
        <p:txBody>
          <a:bodyPr wrap="square" lIns="0" tIns="0" rIns="0" bIns="0" rtlCol="0" anchor="t"/>
          <a:lstStyle/>
          <a:p>
            <a:pPr algn="l" indent="0" marL="0">
              <a:buNone/>
            </a:pPr>
            <a:r>
              <a:rPr lang="en-US" sz="3000" b="1" dirty="0">
                <a:solidFill>
                  <a:srgbClr val="102A43"/>
                </a:solidFill>
                <a:latin typeface="Aptos Display" pitchFamily="34" charset="0"/>
                <a:ea typeface="Aptos Display" pitchFamily="34" charset="-122"/>
                <a:cs typeface="Aptos Display" pitchFamily="34" charset="-120"/>
              </a:rPr>
              <a:t>30</a:t>
            </a:r>
            <a:endParaRPr lang="en-US" sz="3000" dirty="0"/>
          </a:p>
        </p:txBody>
      </p:sp>
      <p:sp>
        <p:nvSpPr>
          <p:cNvPr id="37" name="Text 34"/>
          <p:cNvSpPr txBox="1"/>
          <p:nvPr/>
        </p:nvSpPr>
        <p:spPr>
          <a:xfrm>
            <a:off x="1755648" y="4718304"/>
            <a:ext cx="1645920" cy="237744"/>
          </a:xfrm>
          <a:prstGeom prst="rect">
            <a:avLst/>
          </a:prstGeom>
          <a:noFill/>
          <a:ln/>
        </p:spPr>
        <p:txBody>
          <a:bodyPr wrap="square" lIns="0" tIns="0" rIns="0" bIns="0" rtlCol="0" anchor="t"/>
          <a:lstStyle/>
          <a:p>
            <a:pPr algn="l" indent="0" marL="0">
              <a:buNone/>
            </a:pPr>
            <a:r>
              <a:rPr lang="en-US" sz="1200" b="1" dirty="0">
                <a:solidFill>
                  <a:srgbClr val="243B53"/>
                </a:solidFill>
                <a:latin typeface="Aptos" pitchFamily="34" charset="0"/>
                <a:ea typeface="Aptos" pitchFamily="34" charset="-122"/>
                <a:cs typeface="Aptos" pitchFamily="34" charset="-120"/>
              </a:rPr>
              <a:t>días corridos</a:t>
            </a:r>
            <a:endParaRPr lang="en-US" sz="1200" dirty="0"/>
          </a:p>
        </p:txBody>
      </p:sp>
      <p:sp>
        <p:nvSpPr>
          <p:cNvPr id="38" name="Text 35"/>
          <p:cNvSpPr txBox="1"/>
          <p:nvPr/>
        </p:nvSpPr>
        <p:spPr>
          <a:xfrm>
            <a:off x="877824" y="5102352"/>
            <a:ext cx="2468880" cy="310896"/>
          </a:xfrm>
          <a:prstGeom prst="rect">
            <a:avLst/>
          </a:prstGeom>
          <a:noFill/>
          <a:ln/>
        </p:spPr>
        <p:txBody>
          <a:bodyPr wrap="square" lIns="0" tIns="0" rIns="0" bIns="0" rtlCol="0" anchor="t"/>
          <a:lstStyle/>
          <a:p>
            <a:pPr algn="l" indent="0" marL="0">
              <a:lnSpc>
                <a:spcPct val="110000"/>
              </a:lnSpc>
              <a:buNone/>
            </a:pPr>
            <a:r>
              <a:rPr lang="en-US" sz="940" dirty="0">
                <a:solidFill>
                  <a:srgbClr val="52606D"/>
                </a:solidFill>
                <a:latin typeface="Aptos" pitchFamily="34" charset="0"/>
                <a:ea typeface="Aptos" pitchFamily="34" charset="-122"/>
                <a:cs typeface="Aptos" pitchFamily="34" charset="-120"/>
              </a:rPr>
              <a:t>Para pronunciarse sobre una solicitud. Prorrogable una sola vez.</a:t>
            </a:r>
            <a:endParaRPr lang="en-US" sz="940" dirty="0"/>
          </a:p>
        </p:txBody>
      </p:sp>
      <p:sp>
        <p:nvSpPr>
          <p:cNvPr id="39" name="Shape 36"/>
          <p:cNvSpPr/>
          <p:nvPr/>
        </p:nvSpPr>
        <p:spPr>
          <a:xfrm>
            <a:off x="3675888" y="4517136"/>
            <a:ext cx="2834640" cy="932688"/>
          </a:xfrm>
          <a:prstGeom prst="rect">
            <a:avLst/>
          </a:prstGeom>
          <a:solidFill>
            <a:srgbClr val="FFFFFF"/>
          </a:solidFill>
          <a:ln w="12700">
            <a:solidFill>
              <a:srgbClr val="FFFFFF"/>
            </a:solidFill>
            <a:prstDash val="solid"/>
          </a:ln>
        </p:spPr>
      </p:sp>
      <p:sp>
        <p:nvSpPr>
          <p:cNvPr id="40" name="Shape 37"/>
          <p:cNvSpPr/>
          <p:nvPr/>
        </p:nvSpPr>
        <p:spPr>
          <a:xfrm>
            <a:off x="3675888" y="4517136"/>
            <a:ext cx="54864" cy="932688"/>
          </a:xfrm>
          <a:prstGeom prst="rect">
            <a:avLst/>
          </a:prstGeom>
          <a:solidFill>
            <a:srgbClr val="B3181E"/>
          </a:solidFill>
          <a:ln w="12700">
            <a:solidFill>
              <a:srgbClr val="B3181E"/>
            </a:solidFill>
            <a:prstDash val="solid"/>
          </a:ln>
        </p:spPr>
      </p:sp>
      <p:sp>
        <p:nvSpPr>
          <p:cNvPr id="41" name="Text 38"/>
          <p:cNvSpPr txBox="1"/>
          <p:nvPr/>
        </p:nvSpPr>
        <p:spPr>
          <a:xfrm>
            <a:off x="3895344" y="4608576"/>
            <a:ext cx="822960" cy="402336"/>
          </a:xfrm>
          <a:prstGeom prst="rect">
            <a:avLst/>
          </a:prstGeom>
          <a:noFill/>
          <a:ln/>
        </p:spPr>
        <p:txBody>
          <a:bodyPr wrap="square" lIns="0" tIns="0" rIns="0" bIns="0" rtlCol="0" anchor="t"/>
          <a:lstStyle/>
          <a:p>
            <a:pPr algn="l" indent="0" marL="0">
              <a:buNone/>
            </a:pPr>
            <a:r>
              <a:rPr lang="en-US" sz="3000" b="1" dirty="0">
                <a:solidFill>
                  <a:srgbClr val="B3181E"/>
                </a:solidFill>
                <a:latin typeface="Aptos Display" pitchFamily="34" charset="0"/>
                <a:ea typeface="Aptos Display" pitchFamily="34" charset="-122"/>
                <a:cs typeface="Aptos Display" pitchFamily="34" charset="-120"/>
              </a:rPr>
              <a:t>2</a:t>
            </a:r>
            <a:endParaRPr lang="en-US" sz="3000" dirty="0"/>
          </a:p>
        </p:txBody>
      </p:sp>
      <p:sp>
        <p:nvSpPr>
          <p:cNvPr id="42" name="Text 39"/>
          <p:cNvSpPr txBox="1"/>
          <p:nvPr/>
        </p:nvSpPr>
        <p:spPr>
          <a:xfrm>
            <a:off x="4773168" y="4718304"/>
            <a:ext cx="1645920" cy="237744"/>
          </a:xfrm>
          <a:prstGeom prst="rect">
            <a:avLst/>
          </a:prstGeom>
          <a:noFill/>
          <a:ln/>
        </p:spPr>
        <p:txBody>
          <a:bodyPr wrap="square" lIns="0" tIns="0" rIns="0" bIns="0" rtlCol="0" anchor="t"/>
          <a:lstStyle/>
          <a:p>
            <a:pPr algn="l" indent="0" marL="0">
              <a:buNone/>
            </a:pPr>
            <a:r>
              <a:rPr lang="en-US" sz="1200" b="1" dirty="0">
                <a:solidFill>
                  <a:srgbClr val="243B53"/>
                </a:solidFill>
                <a:latin typeface="Aptos" pitchFamily="34" charset="0"/>
                <a:ea typeface="Aptos" pitchFamily="34" charset="-122"/>
                <a:cs typeface="Aptos" pitchFamily="34" charset="-120"/>
              </a:rPr>
              <a:t>días hábiles</a:t>
            </a:r>
            <a:endParaRPr lang="en-US" sz="1200" dirty="0"/>
          </a:p>
        </p:txBody>
      </p:sp>
      <p:sp>
        <p:nvSpPr>
          <p:cNvPr id="43" name="Text 40"/>
          <p:cNvSpPr txBox="1"/>
          <p:nvPr/>
        </p:nvSpPr>
        <p:spPr>
          <a:xfrm>
            <a:off x="3895344" y="5102352"/>
            <a:ext cx="2468880" cy="310896"/>
          </a:xfrm>
          <a:prstGeom prst="rect">
            <a:avLst/>
          </a:prstGeom>
          <a:noFill/>
          <a:ln/>
        </p:spPr>
        <p:txBody>
          <a:bodyPr wrap="square" lIns="0" tIns="0" rIns="0" bIns="0" rtlCol="0" anchor="t"/>
          <a:lstStyle/>
          <a:p>
            <a:pPr algn="l" indent="0" marL="0">
              <a:lnSpc>
                <a:spcPct val="110000"/>
              </a:lnSpc>
              <a:buNone/>
            </a:pPr>
            <a:r>
              <a:rPr lang="en-US" sz="940" dirty="0">
                <a:solidFill>
                  <a:srgbClr val="52606D"/>
                </a:solidFill>
                <a:latin typeface="Aptos" pitchFamily="34" charset="0"/>
                <a:ea typeface="Aptos" pitchFamily="34" charset="-122"/>
                <a:cs typeface="Aptos" pitchFamily="34" charset="-120"/>
              </a:rPr>
              <a:t>Para responder una solicitud de bloqueo temporal.</a:t>
            </a:r>
            <a:endParaRPr lang="en-US" sz="940" dirty="0"/>
          </a:p>
        </p:txBody>
      </p:sp>
      <p:sp>
        <p:nvSpPr>
          <p:cNvPr id="44" name="Shape 41"/>
          <p:cNvSpPr/>
          <p:nvPr/>
        </p:nvSpPr>
        <p:spPr>
          <a:xfrm>
            <a:off x="6711696" y="4517136"/>
            <a:ext cx="4828032" cy="932688"/>
          </a:xfrm>
          <a:prstGeom prst="rect">
            <a:avLst/>
          </a:prstGeom>
          <a:solidFill>
            <a:srgbClr val="EDE6DA"/>
          </a:solidFill>
          <a:ln w="12700">
            <a:solidFill>
              <a:srgbClr val="EDE6DA"/>
            </a:solidFill>
            <a:prstDash val="solid"/>
          </a:ln>
        </p:spPr>
      </p:sp>
      <p:sp>
        <p:nvSpPr>
          <p:cNvPr id="45" name="Text 42"/>
          <p:cNvSpPr txBox="1"/>
          <p:nvPr/>
        </p:nvSpPr>
        <p:spPr>
          <a:xfrm>
            <a:off x="6949440" y="4626864"/>
            <a:ext cx="4389120" cy="219456"/>
          </a:xfrm>
          <a:prstGeom prst="rect">
            <a:avLst/>
          </a:prstGeom>
          <a:noFill/>
          <a:ln/>
        </p:spPr>
        <p:txBody>
          <a:bodyPr wrap="square" lIns="0" tIns="0" rIns="0" bIns="0" rtlCol="0" anchor="t"/>
          <a:lstStyle/>
          <a:p>
            <a:pPr algn="l" indent="0" marL="0">
              <a:buNone/>
            </a:pPr>
            <a:r>
              <a:rPr lang="en-US" sz="1040" b="1" dirty="0">
                <a:solidFill>
                  <a:srgbClr val="102A43"/>
                </a:solidFill>
                <a:latin typeface="Aptos" pitchFamily="34" charset="0"/>
                <a:ea typeface="Aptos" pitchFamily="34" charset="-122"/>
                <a:cs typeface="Aptos" pitchFamily="34" charset="-120"/>
              </a:rPr>
              <a:t>Artículo 9º · portabilidad</a:t>
            </a:r>
            <a:endParaRPr lang="en-US" sz="1040" dirty="0"/>
          </a:p>
        </p:txBody>
      </p:sp>
      <p:sp>
        <p:nvSpPr>
          <p:cNvPr id="46" name="Text 43"/>
          <p:cNvSpPr txBox="1"/>
          <p:nvPr/>
        </p:nvSpPr>
        <p:spPr>
          <a:xfrm>
            <a:off x="6949440" y="4864608"/>
            <a:ext cx="4389120" cy="512064"/>
          </a:xfrm>
          <a:prstGeom prst="rect">
            <a:avLst/>
          </a:prstGeom>
          <a:noFill/>
          <a:ln/>
        </p:spPr>
        <p:txBody>
          <a:bodyPr wrap="square" lIns="0" tIns="0" rIns="0" bIns="0" rtlCol="0" anchor="t"/>
          <a:lstStyle/>
          <a:p>
            <a:pPr algn="l" indent="0" marL="0">
              <a:lnSpc>
                <a:spcPct val="112000"/>
              </a:lnSpc>
              <a:buNone/>
            </a:pPr>
            <a:r>
              <a:rPr lang="en-US" sz="980" dirty="0">
                <a:solidFill>
                  <a:srgbClr val="243B53"/>
                </a:solidFill>
                <a:latin typeface="Aptos" pitchFamily="34" charset="0"/>
                <a:ea typeface="Aptos" pitchFamily="34" charset="-122"/>
                <a:cs typeface="Aptos" pitchFamily="34" charset="-120"/>
              </a:rPr>
              <a:t>«Formato electrónico estructurado, genérico y de uso común» suena a redacción vaga, y es una condición ejecutable: se le pasa la respuesta a un analizador estándar y se ve si la interpreta.</a:t>
            </a:r>
            <a:endParaRPr lang="en-US" sz="980" dirty="0"/>
          </a:p>
        </p:txBody>
      </p:sp>
      <p:sp>
        <p:nvSpPr>
          <p:cNvPr id="47" name="Shape 44"/>
          <p:cNvSpPr/>
          <p:nvPr/>
        </p:nvSpPr>
        <p:spPr>
          <a:xfrm>
            <a:off x="658368" y="5614416"/>
            <a:ext cx="10874959" cy="457200"/>
          </a:xfrm>
          <a:prstGeom prst="rect">
            <a:avLst/>
          </a:prstGeom>
          <a:solidFill>
            <a:srgbClr val="102A43"/>
          </a:solidFill>
          <a:ln w="12700">
            <a:solidFill>
              <a:srgbClr val="102A43"/>
            </a:solidFill>
            <a:prstDash val="solid"/>
          </a:ln>
        </p:spPr>
      </p:sp>
      <p:sp>
        <p:nvSpPr>
          <p:cNvPr id="48" name="Text 45"/>
          <p:cNvSpPr txBox="1"/>
          <p:nvPr/>
        </p:nvSpPr>
        <p:spPr>
          <a:xfrm>
            <a:off x="950976" y="5650992"/>
            <a:ext cx="10289743" cy="38404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La ley no dijo qué formato. Dijo una propiedad del formato, y eso se comprueba.</a:t>
            </a:r>
            <a:endParaRPr lang="en-US" sz="138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43</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4 · LA DEMOSTRACIÓN</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El mismo requisito, dos veredictos opuestos</a:t>
            </a:r>
            <a:endParaRPr lang="en-US" sz="3000" dirty="0"/>
          </a:p>
        </p:txBody>
      </p:sp>
      <p:sp>
        <p:nvSpPr>
          <p:cNvPr id="10" name="Text 7"/>
          <p:cNvSpPr txBox="1"/>
          <p:nvPr/>
        </p:nvSpPr>
        <p:spPr>
          <a:xfrm>
            <a:off x="658368" y="1664208"/>
            <a:ext cx="10424160" cy="347472"/>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Las dos pruebas comprueban RF-07 sobre el mismo sistema. La única diferencia es cuántos lugares miran.</a:t>
            </a:r>
            <a:endParaRPr lang="en-US" sz="1420" dirty="0"/>
          </a:p>
        </p:txBody>
      </p:sp>
      <p:sp>
        <p:nvSpPr>
          <p:cNvPr id="11" name="Shape 8"/>
          <p:cNvSpPr/>
          <p:nvPr/>
        </p:nvSpPr>
        <p:spPr>
          <a:xfrm>
            <a:off x="658368" y="2231136"/>
            <a:ext cx="5358384" cy="1792224"/>
          </a:xfrm>
          <a:prstGeom prst="roundRect">
            <a:avLst>
              <a:gd name="adj" fmla="val 2041"/>
            </a:avLst>
          </a:prstGeom>
          <a:solidFill>
            <a:srgbClr val="102A43"/>
          </a:solidFill>
          <a:ln w="12700">
            <a:solidFill>
              <a:srgbClr val="102A43"/>
            </a:solidFill>
            <a:prstDash val="solid"/>
          </a:ln>
        </p:spPr>
      </p:sp>
      <p:sp>
        <p:nvSpPr>
          <p:cNvPr id="12" name="Shape 9"/>
          <p:cNvSpPr/>
          <p:nvPr/>
        </p:nvSpPr>
        <p:spPr>
          <a:xfrm>
            <a:off x="786384" y="2340864"/>
            <a:ext cx="5102352" cy="310896"/>
          </a:xfrm>
          <a:prstGeom prst="roundRect">
            <a:avLst>
              <a:gd name="adj" fmla="val 8824"/>
            </a:avLst>
          </a:prstGeom>
          <a:solidFill>
            <a:srgbClr val="284B75"/>
          </a:solidFill>
          <a:ln w="12700">
            <a:solidFill>
              <a:srgbClr val="284B75"/>
            </a:solidFill>
            <a:prstDash val="solid"/>
          </a:ln>
        </p:spPr>
      </p:sp>
      <p:sp>
        <p:nvSpPr>
          <p:cNvPr id="13" name="Text 10"/>
          <p:cNvSpPr/>
          <p:nvPr/>
        </p:nvSpPr>
        <p:spPr>
          <a:xfrm>
            <a:off x="896112" y="2414016"/>
            <a:ext cx="4882896" cy="146304"/>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Mira una tabla</a:t>
            </a:r>
            <a:endParaRPr lang="en-US" sz="1000" dirty="0"/>
          </a:p>
        </p:txBody>
      </p:sp>
      <p:pic>
        <p:nvPicPr>
          <p:cNvPr id="14"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77824" y="2798064"/>
            <a:ext cx="4937760" cy="1042416"/>
          </a:xfrm>
          <a:prstGeom prst="rect">
            <a:avLst/>
          </a:prstGeom>
        </p:spPr>
      </p:pic>
      <p:sp>
        <p:nvSpPr>
          <p:cNvPr id="15" name="Shape 11"/>
          <p:cNvSpPr/>
          <p:nvPr/>
        </p:nvSpPr>
        <p:spPr>
          <a:xfrm>
            <a:off x="6181344" y="2231136"/>
            <a:ext cx="5358384" cy="1792224"/>
          </a:xfrm>
          <a:prstGeom prst="roundRect">
            <a:avLst>
              <a:gd name="adj" fmla="val 2041"/>
            </a:avLst>
          </a:prstGeom>
          <a:solidFill>
            <a:srgbClr val="102A43"/>
          </a:solidFill>
          <a:ln w="12700">
            <a:solidFill>
              <a:srgbClr val="102A43"/>
            </a:solidFill>
            <a:prstDash val="solid"/>
          </a:ln>
        </p:spPr>
      </p:sp>
      <p:sp>
        <p:nvSpPr>
          <p:cNvPr id="16" name="Shape 12"/>
          <p:cNvSpPr/>
          <p:nvPr/>
        </p:nvSpPr>
        <p:spPr>
          <a:xfrm>
            <a:off x="6309360" y="2340864"/>
            <a:ext cx="5102352" cy="310896"/>
          </a:xfrm>
          <a:prstGeom prst="roundRect">
            <a:avLst>
              <a:gd name="adj" fmla="val 8824"/>
            </a:avLst>
          </a:prstGeom>
          <a:solidFill>
            <a:srgbClr val="284B75"/>
          </a:solidFill>
          <a:ln w="12700">
            <a:solidFill>
              <a:srgbClr val="284B75"/>
            </a:solidFill>
            <a:prstDash val="solid"/>
          </a:ln>
        </p:spPr>
      </p:sp>
      <p:sp>
        <p:nvSpPr>
          <p:cNvPr id="17" name="Text 13"/>
          <p:cNvSpPr/>
          <p:nvPr/>
        </p:nvSpPr>
        <p:spPr>
          <a:xfrm>
            <a:off x="6419088" y="2414016"/>
            <a:ext cx="4882896" cy="146304"/>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Mira el sistema completo</a:t>
            </a:r>
            <a:endParaRPr lang="en-US" sz="1000" dirty="0"/>
          </a:p>
        </p:txBody>
      </p:sp>
      <p:pic>
        <p:nvPicPr>
          <p:cNvPr id="18"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400800" y="2798064"/>
            <a:ext cx="4937760" cy="1042416"/>
          </a:xfrm>
          <a:prstGeom prst="rect">
            <a:avLst/>
          </a:prstGeom>
        </p:spPr>
      </p:pic>
      <p:sp>
        <p:nvSpPr>
          <p:cNvPr id="19" name="Shape 14"/>
          <p:cNvSpPr/>
          <p:nvPr/>
        </p:nvSpPr>
        <p:spPr>
          <a:xfrm>
            <a:off x="658368" y="4133088"/>
            <a:ext cx="5358384" cy="512064"/>
          </a:xfrm>
          <a:prstGeom prst="rect">
            <a:avLst/>
          </a:prstGeom>
          <a:solidFill>
            <a:srgbClr val="2E7D4F"/>
          </a:solidFill>
          <a:ln w="12700">
            <a:solidFill>
              <a:srgbClr val="2E7D4F"/>
            </a:solidFill>
            <a:prstDash val="solid"/>
          </a:ln>
        </p:spPr>
      </p:sp>
      <p:sp>
        <p:nvSpPr>
          <p:cNvPr id="20" name="Text 15"/>
          <p:cNvSpPr txBox="1"/>
          <p:nvPr/>
        </p:nvSpPr>
        <p:spPr>
          <a:xfrm>
            <a:off x="841248" y="4206240"/>
            <a:ext cx="4992624" cy="365760"/>
          </a:xfrm>
          <a:prstGeom prst="rect">
            <a:avLst/>
          </a:prstGeom>
          <a:noFill/>
          <a:ln/>
        </p:spPr>
        <p:txBody>
          <a:bodyPr wrap="square" lIns="0" tIns="0" rIns="0" bIns="0" rtlCol="0" anchor="ctr"/>
          <a:lstStyle/>
          <a:p>
            <a:pPr algn="ctr" indent="0" marL="0">
              <a:buNone/>
            </a:pPr>
            <a:r>
              <a:rPr lang="en-US" sz="1400" b="1" spc="140" kern="0" dirty="0">
                <a:solidFill>
                  <a:srgbClr val="FFFFFF"/>
                </a:solidFill>
                <a:latin typeface="Aptos" pitchFamily="34" charset="0"/>
                <a:ea typeface="Aptos" pitchFamily="34" charset="-122"/>
                <a:cs typeface="Aptos" pitchFamily="34" charset="-120"/>
              </a:rPr>
              <a:t>PASA</a:t>
            </a:r>
            <a:endParaRPr lang="en-US" sz="1400" dirty="0"/>
          </a:p>
        </p:txBody>
      </p:sp>
      <p:sp>
        <p:nvSpPr>
          <p:cNvPr id="21" name="Shape 16"/>
          <p:cNvSpPr/>
          <p:nvPr/>
        </p:nvSpPr>
        <p:spPr>
          <a:xfrm>
            <a:off x="6181344" y="4133088"/>
            <a:ext cx="5358384" cy="512064"/>
          </a:xfrm>
          <a:prstGeom prst="rect">
            <a:avLst/>
          </a:prstGeom>
          <a:solidFill>
            <a:srgbClr val="B3181E"/>
          </a:solidFill>
          <a:ln w="12700">
            <a:solidFill>
              <a:srgbClr val="B3181E"/>
            </a:solidFill>
            <a:prstDash val="solid"/>
          </a:ln>
        </p:spPr>
      </p:sp>
      <p:sp>
        <p:nvSpPr>
          <p:cNvPr id="22" name="Text 17"/>
          <p:cNvSpPr txBox="1"/>
          <p:nvPr/>
        </p:nvSpPr>
        <p:spPr>
          <a:xfrm>
            <a:off x="6364224" y="4206240"/>
            <a:ext cx="4992624" cy="365760"/>
          </a:xfrm>
          <a:prstGeom prst="rect">
            <a:avLst/>
          </a:prstGeom>
          <a:noFill/>
          <a:ln/>
        </p:spPr>
        <p:txBody>
          <a:bodyPr wrap="square" lIns="0" tIns="0" rIns="0" bIns="0" rtlCol="0" anchor="ctr"/>
          <a:lstStyle/>
          <a:p>
            <a:pPr algn="ctr" indent="0" marL="0">
              <a:buNone/>
            </a:pPr>
            <a:r>
              <a:rPr lang="en-US" sz="1400" b="1" spc="140" kern="0" dirty="0">
                <a:solidFill>
                  <a:srgbClr val="FFFFFF"/>
                </a:solidFill>
                <a:latin typeface="Aptos" pitchFamily="34" charset="0"/>
                <a:ea typeface="Aptos" pitchFamily="34" charset="-122"/>
                <a:cs typeface="Aptos" pitchFamily="34" charset="-120"/>
              </a:rPr>
              <a:t>FALLA</a:t>
            </a:r>
            <a:endParaRPr lang="en-US" sz="1400" dirty="0"/>
          </a:p>
        </p:txBody>
      </p:sp>
      <p:sp>
        <p:nvSpPr>
          <p:cNvPr id="23" name="Shape 18"/>
          <p:cNvSpPr/>
          <p:nvPr/>
        </p:nvSpPr>
        <p:spPr>
          <a:xfrm>
            <a:off x="658368" y="4773168"/>
            <a:ext cx="10874959" cy="859536"/>
          </a:xfrm>
          <a:prstGeom prst="roundRect">
            <a:avLst>
              <a:gd name="adj" fmla="val 4255"/>
            </a:avLst>
          </a:prstGeom>
          <a:solidFill>
            <a:srgbClr val="0F1720"/>
          </a:solidFill>
          <a:ln w="12700">
            <a:solidFill>
              <a:srgbClr val="0F1720"/>
            </a:solidFill>
            <a:prstDash val="solid"/>
          </a:ln>
        </p:spPr>
      </p:sp>
      <p:sp>
        <p:nvSpPr>
          <p:cNvPr id="24" name="Shape 19"/>
          <p:cNvSpPr/>
          <p:nvPr/>
        </p:nvSpPr>
        <p:spPr>
          <a:xfrm>
            <a:off x="786384" y="4882896"/>
            <a:ext cx="10618927" cy="310896"/>
          </a:xfrm>
          <a:prstGeom prst="roundRect">
            <a:avLst>
              <a:gd name="adj" fmla="val 8824"/>
            </a:avLst>
          </a:prstGeom>
          <a:solidFill>
            <a:srgbClr val="1E2937"/>
          </a:solidFill>
          <a:ln w="12700">
            <a:solidFill>
              <a:srgbClr val="1E2937"/>
            </a:solidFill>
            <a:prstDash val="solid"/>
          </a:ln>
        </p:spPr>
      </p:sp>
      <p:sp>
        <p:nvSpPr>
          <p:cNvPr id="25" name="Text 20"/>
          <p:cNvSpPr/>
          <p:nvPr/>
        </p:nvSpPr>
        <p:spPr>
          <a:xfrm>
            <a:off x="914400" y="4956048"/>
            <a:ext cx="10362895" cy="128016"/>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La salida de las dos, juntas</a:t>
            </a:r>
            <a:endParaRPr lang="en-US" sz="1000" dirty="0"/>
          </a:p>
        </p:txBody>
      </p:sp>
      <p:sp>
        <p:nvSpPr>
          <p:cNvPr id="26" name="Text 21"/>
          <p:cNvSpPr/>
          <p:nvPr/>
        </p:nvSpPr>
        <p:spPr>
          <a:xfrm>
            <a:off x="877824" y="5340096"/>
            <a:ext cx="10125151" cy="164592"/>
          </a:xfrm>
          <a:prstGeom prst="rect">
            <a:avLst/>
          </a:prstGeom>
          <a:noFill/>
          <a:ln/>
        </p:spPr>
        <p:txBody>
          <a:bodyPr wrap="square" lIns="0" tIns="0" rIns="0" bIns="0" rtlCol="0" anchor="ctr"/>
          <a:lstStyle/>
          <a:p>
            <a:pPr indent="0" marL="0">
              <a:buNone/>
            </a:pPr>
            <a:r>
              <a:rPr lang="en-US" sz="1020" dirty="0">
                <a:solidFill>
                  <a:srgbClr val="E6EEF7"/>
                </a:solidFill>
                <a:latin typeface="Consolas" pitchFamily="34" charset="0"/>
                <a:ea typeface="Consolas" pitchFamily="34" charset="-122"/>
                <a:cs typeface="Consolas" pitchFamily="34" charset="-120"/>
              </a:rPr>
              <a:t>AssertionError: assert {'reservas': 0, 'eventos': 1} == {'reservas': 0, 'eventos': 0}     ·     1 failed, 1 passed, 1 warning in 0.71s</a:t>
            </a:r>
            <a:endParaRPr lang="en-US" sz="1020" dirty="0"/>
          </a:p>
        </p:txBody>
      </p:sp>
      <p:sp>
        <p:nvSpPr>
          <p:cNvPr id="27" name="Shape 22"/>
          <p:cNvSpPr/>
          <p:nvPr/>
        </p:nvSpPr>
        <p:spPr>
          <a:xfrm>
            <a:off x="658368" y="5760720"/>
            <a:ext cx="10874959" cy="402336"/>
          </a:xfrm>
          <a:prstGeom prst="rect">
            <a:avLst/>
          </a:prstGeom>
          <a:solidFill>
            <a:srgbClr val="102A43"/>
          </a:solidFill>
          <a:ln w="12700">
            <a:solidFill>
              <a:srgbClr val="102A43"/>
            </a:solidFill>
            <a:prstDash val="solid"/>
          </a:ln>
        </p:spPr>
      </p:sp>
      <p:sp>
        <p:nvSpPr>
          <p:cNvPr id="28" name="Text 23"/>
          <p:cNvSpPr txBox="1"/>
          <p:nvPr/>
        </p:nvSpPr>
        <p:spPr>
          <a:xfrm>
            <a:off x="950976" y="5797296"/>
            <a:ext cx="10289743" cy="329184"/>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El sistema respondió que los datos fueron suprimidos, y el RUT sigue ahí.</a:t>
            </a:r>
            <a:endParaRPr lang="en-US" sz="138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44</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4 · LA DECISIÓN QUE NO SE DELEGA</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Borrar no siempre es la respuesta</a:t>
            </a:r>
            <a:endParaRPr lang="en-US" sz="3000" dirty="0"/>
          </a:p>
        </p:txBody>
      </p:sp>
      <p:sp>
        <p:nvSpPr>
          <p:cNvPr id="10" name="Text 7"/>
          <p:cNvSpPr txBox="1"/>
          <p:nvPr/>
        </p:nvSpPr>
        <p:spPr>
          <a:xfrm>
            <a:off x="658368" y="1664208"/>
            <a:ext cx="10424160" cy="347472"/>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El artículo 7º dice que la supresión no procede cuando el tratamiento es necesario para cumplir una obligación legal.</a:t>
            </a:r>
            <a:endParaRPr lang="en-US" sz="1420" dirty="0"/>
          </a:p>
        </p:txBody>
      </p:sp>
      <p:sp>
        <p:nvSpPr>
          <p:cNvPr id="11" name="Shape 8"/>
          <p:cNvSpPr/>
          <p:nvPr/>
        </p:nvSpPr>
        <p:spPr>
          <a:xfrm>
            <a:off x="658368" y="2249424"/>
            <a:ext cx="5346040" cy="1371600"/>
          </a:xfrm>
          <a:prstGeom prst="rect">
            <a:avLst/>
          </a:prstGeom>
          <a:solidFill>
            <a:srgbClr val="F2E7D9"/>
          </a:solidFill>
          <a:ln w="12700">
            <a:solidFill>
              <a:srgbClr val="F2E7D9"/>
            </a:solidFill>
            <a:prstDash val="solid"/>
          </a:ln>
        </p:spPr>
      </p:sp>
      <p:sp>
        <p:nvSpPr>
          <p:cNvPr id="12" name="Shape 9"/>
          <p:cNvSpPr/>
          <p:nvPr/>
        </p:nvSpPr>
        <p:spPr>
          <a:xfrm>
            <a:off x="658368" y="2249424"/>
            <a:ext cx="5346040" cy="54864"/>
          </a:xfrm>
          <a:prstGeom prst="rect">
            <a:avLst/>
          </a:prstGeom>
          <a:solidFill>
            <a:srgbClr val="B3181E"/>
          </a:solidFill>
          <a:ln w="12700">
            <a:solidFill>
              <a:srgbClr val="B3181E"/>
            </a:solidFill>
            <a:prstDash val="solid"/>
          </a:ln>
        </p:spPr>
      </p:sp>
      <p:sp>
        <p:nvSpPr>
          <p:cNvPr id="13" name="Text 10"/>
          <p:cNvSpPr txBox="1"/>
          <p:nvPr/>
        </p:nvSpPr>
        <p:spPr>
          <a:xfrm>
            <a:off x="914400" y="2414016"/>
            <a:ext cx="2743200" cy="310896"/>
          </a:xfrm>
          <a:prstGeom prst="rect">
            <a:avLst/>
          </a:prstGeom>
          <a:noFill/>
          <a:ln/>
        </p:spPr>
        <p:txBody>
          <a:bodyPr wrap="square" lIns="0" tIns="0" rIns="0" bIns="0" rtlCol="0" anchor="t"/>
          <a:lstStyle/>
          <a:p>
            <a:pPr algn="l" indent="0" marL="0">
              <a:buNone/>
            </a:pPr>
            <a:r>
              <a:rPr lang="en-US" sz="1800" b="1" dirty="0">
                <a:solidFill>
                  <a:srgbClr val="B3181E"/>
                </a:solidFill>
                <a:latin typeface="Aptos" pitchFamily="34" charset="0"/>
                <a:ea typeface="Aptos" pitchFamily="34" charset="-122"/>
                <a:cs typeface="Aptos" pitchFamily="34" charset="-120"/>
              </a:rPr>
              <a:t>Suprimir</a:t>
            </a:r>
            <a:endParaRPr lang="en-US" sz="1800" dirty="0"/>
          </a:p>
        </p:txBody>
      </p:sp>
      <p:sp>
        <p:nvSpPr>
          <p:cNvPr id="14" name="Shape 11"/>
          <p:cNvSpPr/>
          <p:nvPr/>
        </p:nvSpPr>
        <p:spPr>
          <a:xfrm>
            <a:off x="4267048" y="2432304"/>
            <a:ext cx="1481328" cy="292608"/>
          </a:xfrm>
          <a:prstGeom prst="rect">
            <a:avLst/>
          </a:prstGeom>
          <a:solidFill>
            <a:srgbClr val="B3181E"/>
          </a:solidFill>
          <a:ln w="12700">
            <a:solidFill>
              <a:srgbClr val="B3181E"/>
            </a:solidFill>
            <a:prstDash val="solid"/>
          </a:ln>
        </p:spPr>
      </p:sp>
      <p:sp>
        <p:nvSpPr>
          <p:cNvPr id="15" name="Text 12"/>
          <p:cNvSpPr txBox="1"/>
          <p:nvPr/>
        </p:nvSpPr>
        <p:spPr>
          <a:xfrm>
            <a:off x="4321912" y="2478024"/>
            <a:ext cx="1371600" cy="201168"/>
          </a:xfrm>
          <a:prstGeom prst="rect">
            <a:avLst/>
          </a:prstGeom>
          <a:noFill/>
          <a:ln/>
        </p:spPr>
        <p:txBody>
          <a:bodyPr wrap="square" lIns="0" tIns="0" rIns="0" bIns="0" rtlCol="0" anchor="ctr"/>
          <a:lstStyle/>
          <a:p>
            <a:pPr algn="ctr" indent="0" marL="0">
              <a:buNone/>
            </a:pPr>
            <a:r>
              <a:rPr lang="en-US" sz="920" b="1" spc="80" kern="0" dirty="0">
                <a:solidFill>
                  <a:srgbClr val="FFFFFF"/>
                </a:solidFill>
                <a:latin typeface="Aptos" pitchFamily="34" charset="0"/>
                <a:ea typeface="Aptos" pitchFamily="34" charset="-122"/>
                <a:cs typeface="Aptos" pitchFamily="34" charset="-120"/>
              </a:rPr>
              <a:t>LA RESERVA</a:t>
            </a:r>
            <a:endParaRPr lang="en-US" sz="920" dirty="0"/>
          </a:p>
        </p:txBody>
      </p:sp>
      <p:sp>
        <p:nvSpPr>
          <p:cNvPr id="16" name="Text 13"/>
          <p:cNvSpPr txBox="1"/>
          <p:nvPr/>
        </p:nvSpPr>
        <p:spPr>
          <a:xfrm>
            <a:off x="914400" y="2798064"/>
            <a:ext cx="4833976" cy="256032"/>
          </a:xfrm>
          <a:prstGeom prst="rect">
            <a:avLst/>
          </a:prstGeom>
          <a:noFill/>
          <a:ln/>
        </p:spPr>
        <p:txBody>
          <a:bodyPr wrap="square" lIns="0" tIns="0" rIns="0" bIns="0" rtlCol="0" anchor="t"/>
          <a:lstStyle/>
          <a:p>
            <a:pPr algn="l" indent="0" marL="0">
              <a:buNone/>
            </a:pPr>
            <a:r>
              <a:rPr lang="en-US" sz="1200" dirty="0">
                <a:solidFill>
                  <a:srgbClr val="243B53"/>
                </a:solidFill>
                <a:latin typeface="Aptos" pitchFamily="34" charset="0"/>
                <a:ea typeface="Aptos" pitchFamily="34" charset="-122"/>
                <a:cs typeface="Aptos" pitchFamily="34" charset="-120"/>
              </a:rPr>
              <a:t>La fila desaparece, y el dato con ella.</a:t>
            </a:r>
            <a:endParaRPr lang="en-US" sz="1200" dirty="0"/>
          </a:p>
        </p:txBody>
      </p:sp>
      <p:sp>
        <p:nvSpPr>
          <p:cNvPr id="17" name="Text 14"/>
          <p:cNvSpPr txBox="1"/>
          <p:nvPr/>
        </p:nvSpPr>
        <p:spPr>
          <a:xfrm>
            <a:off x="914400" y="3127248"/>
            <a:ext cx="4833976" cy="292608"/>
          </a:xfrm>
          <a:prstGeom prst="rect">
            <a:avLst/>
          </a:prstGeom>
          <a:noFill/>
          <a:ln/>
        </p:spPr>
        <p:txBody>
          <a:bodyPr wrap="square" lIns="0" tIns="0" rIns="0" bIns="0" rtlCol="0" anchor="t"/>
          <a:lstStyle/>
          <a:p>
            <a:pPr algn="l" indent="0" marL="0">
              <a:buNone/>
            </a:pPr>
            <a:r>
              <a:rPr lang="en-US" sz="1060" i="1" dirty="0">
                <a:solidFill>
                  <a:srgbClr val="52606D"/>
                </a:solidFill>
                <a:latin typeface="Aptos" pitchFamily="34" charset="0"/>
                <a:ea typeface="Aptos" pitchFamily="34" charset="-122"/>
                <a:cs typeface="Aptos" pitchFamily="34" charset="-120"/>
              </a:rPr>
              <a:t>Cuando el registro ya no tiene finalidad.</a:t>
            </a:r>
            <a:endParaRPr lang="en-US" sz="1060" dirty="0"/>
          </a:p>
        </p:txBody>
      </p:sp>
      <p:sp>
        <p:nvSpPr>
          <p:cNvPr id="18" name="Shape 15"/>
          <p:cNvSpPr/>
          <p:nvPr/>
        </p:nvSpPr>
        <p:spPr>
          <a:xfrm>
            <a:off x="6187288" y="2249424"/>
            <a:ext cx="5346040" cy="1371600"/>
          </a:xfrm>
          <a:prstGeom prst="rect">
            <a:avLst/>
          </a:prstGeom>
          <a:solidFill>
            <a:srgbClr val="FFFFFF"/>
          </a:solidFill>
          <a:ln w="12700">
            <a:solidFill>
              <a:srgbClr val="FFFFFF"/>
            </a:solidFill>
            <a:prstDash val="solid"/>
          </a:ln>
        </p:spPr>
      </p:sp>
      <p:sp>
        <p:nvSpPr>
          <p:cNvPr id="19" name="Shape 16"/>
          <p:cNvSpPr/>
          <p:nvPr/>
        </p:nvSpPr>
        <p:spPr>
          <a:xfrm>
            <a:off x="6187288" y="2249424"/>
            <a:ext cx="5346040" cy="54864"/>
          </a:xfrm>
          <a:prstGeom prst="rect">
            <a:avLst/>
          </a:prstGeom>
          <a:solidFill>
            <a:srgbClr val="2E7D4F"/>
          </a:solidFill>
          <a:ln w="12700">
            <a:solidFill>
              <a:srgbClr val="2E7D4F"/>
            </a:solidFill>
            <a:prstDash val="solid"/>
          </a:ln>
        </p:spPr>
      </p:sp>
      <p:sp>
        <p:nvSpPr>
          <p:cNvPr id="20" name="Text 17"/>
          <p:cNvSpPr txBox="1"/>
          <p:nvPr/>
        </p:nvSpPr>
        <p:spPr>
          <a:xfrm>
            <a:off x="6443320" y="2414016"/>
            <a:ext cx="2743200" cy="310896"/>
          </a:xfrm>
          <a:prstGeom prst="rect">
            <a:avLst/>
          </a:prstGeom>
          <a:noFill/>
          <a:ln/>
        </p:spPr>
        <p:txBody>
          <a:bodyPr wrap="square" lIns="0" tIns="0" rIns="0" bIns="0" rtlCol="0" anchor="t"/>
          <a:lstStyle/>
          <a:p>
            <a:pPr algn="l" indent="0" marL="0">
              <a:buNone/>
            </a:pPr>
            <a:r>
              <a:rPr lang="en-US" sz="1800" b="1" dirty="0">
                <a:solidFill>
                  <a:srgbClr val="2E7D4F"/>
                </a:solidFill>
                <a:latin typeface="Aptos" pitchFamily="34" charset="0"/>
                <a:ea typeface="Aptos" pitchFamily="34" charset="-122"/>
                <a:cs typeface="Aptos" pitchFamily="34" charset="-120"/>
              </a:rPr>
              <a:t>Anonimizar</a:t>
            </a:r>
            <a:endParaRPr lang="en-US" sz="1800" dirty="0"/>
          </a:p>
        </p:txBody>
      </p:sp>
      <p:sp>
        <p:nvSpPr>
          <p:cNvPr id="21" name="Shape 18"/>
          <p:cNvSpPr/>
          <p:nvPr/>
        </p:nvSpPr>
        <p:spPr>
          <a:xfrm>
            <a:off x="9795967" y="2432304"/>
            <a:ext cx="1481328" cy="292608"/>
          </a:xfrm>
          <a:prstGeom prst="rect">
            <a:avLst/>
          </a:prstGeom>
          <a:solidFill>
            <a:srgbClr val="2E7D4F"/>
          </a:solidFill>
          <a:ln w="12700">
            <a:solidFill>
              <a:srgbClr val="2E7D4F"/>
            </a:solidFill>
            <a:prstDash val="solid"/>
          </a:ln>
        </p:spPr>
      </p:sp>
      <p:sp>
        <p:nvSpPr>
          <p:cNvPr id="22" name="Text 19"/>
          <p:cNvSpPr txBox="1"/>
          <p:nvPr/>
        </p:nvSpPr>
        <p:spPr>
          <a:xfrm>
            <a:off x="9850831" y="2478024"/>
            <a:ext cx="1371600" cy="201168"/>
          </a:xfrm>
          <a:prstGeom prst="rect">
            <a:avLst/>
          </a:prstGeom>
          <a:noFill/>
          <a:ln/>
        </p:spPr>
        <p:txBody>
          <a:bodyPr wrap="square" lIns="0" tIns="0" rIns="0" bIns="0" rtlCol="0" anchor="ctr"/>
          <a:lstStyle/>
          <a:p>
            <a:pPr algn="ctr" indent="0" marL="0">
              <a:buNone/>
            </a:pPr>
            <a:r>
              <a:rPr lang="en-US" sz="920" b="1" spc="80" kern="0" dirty="0">
                <a:solidFill>
                  <a:srgbClr val="FFFFFF"/>
                </a:solidFill>
                <a:latin typeface="Aptos" pitchFamily="34" charset="0"/>
                <a:ea typeface="Aptos" pitchFamily="34" charset="-122"/>
                <a:cs typeface="Aptos" pitchFamily="34" charset="-120"/>
              </a:rPr>
              <a:t>EL EVENTO</a:t>
            </a:r>
            <a:endParaRPr lang="en-US" sz="920" dirty="0"/>
          </a:p>
        </p:txBody>
      </p:sp>
      <p:sp>
        <p:nvSpPr>
          <p:cNvPr id="23" name="Text 20"/>
          <p:cNvSpPr txBox="1"/>
          <p:nvPr/>
        </p:nvSpPr>
        <p:spPr>
          <a:xfrm>
            <a:off x="6443320" y="2798064"/>
            <a:ext cx="4833976" cy="256032"/>
          </a:xfrm>
          <a:prstGeom prst="rect">
            <a:avLst/>
          </a:prstGeom>
          <a:noFill/>
          <a:ln/>
        </p:spPr>
        <p:txBody>
          <a:bodyPr wrap="square" lIns="0" tIns="0" rIns="0" bIns="0" rtlCol="0" anchor="t"/>
          <a:lstStyle/>
          <a:p>
            <a:pPr algn="l" indent="0" marL="0">
              <a:buNone/>
            </a:pPr>
            <a:r>
              <a:rPr lang="en-US" sz="1200" dirty="0">
                <a:solidFill>
                  <a:srgbClr val="243B53"/>
                </a:solidFill>
                <a:latin typeface="Aptos" pitchFamily="34" charset="0"/>
                <a:ea typeface="Aptos" pitchFamily="34" charset="-122"/>
                <a:cs typeface="Aptos" pitchFamily="34" charset="-120"/>
              </a:rPr>
              <a:t>La fila se conserva, sin la persona.</a:t>
            </a:r>
            <a:endParaRPr lang="en-US" sz="1200" dirty="0"/>
          </a:p>
        </p:txBody>
      </p:sp>
      <p:sp>
        <p:nvSpPr>
          <p:cNvPr id="24" name="Text 21"/>
          <p:cNvSpPr txBox="1"/>
          <p:nvPr/>
        </p:nvSpPr>
        <p:spPr>
          <a:xfrm>
            <a:off x="6443320" y="3127248"/>
            <a:ext cx="4833976" cy="292608"/>
          </a:xfrm>
          <a:prstGeom prst="rect">
            <a:avLst/>
          </a:prstGeom>
          <a:noFill/>
          <a:ln/>
        </p:spPr>
        <p:txBody>
          <a:bodyPr wrap="square" lIns="0" tIns="0" rIns="0" bIns="0" rtlCol="0" anchor="t"/>
          <a:lstStyle/>
          <a:p>
            <a:pPr algn="l" indent="0" marL="0">
              <a:buNone/>
            </a:pPr>
            <a:r>
              <a:rPr lang="en-US" sz="1060" i="1" dirty="0">
                <a:solidFill>
                  <a:srgbClr val="52606D"/>
                </a:solidFill>
                <a:latin typeface="Aptos" pitchFamily="34" charset="0"/>
                <a:ea typeface="Aptos" pitchFamily="34" charset="-122"/>
                <a:cs typeface="Aptos" pitchFamily="34" charset="-120"/>
              </a:rPr>
              <a:t>Cuando la finalidad sobrevive al dato personal.</a:t>
            </a:r>
            <a:endParaRPr lang="en-US" sz="1060" dirty="0"/>
          </a:p>
        </p:txBody>
      </p:sp>
      <p:sp>
        <p:nvSpPr>
          <p:cNvPr id="25" name="Text 22"/>
          <p:cNvSpPr txBox="1"/>
          <p:nvPr/>
        </p:nvSpPr>
        <p:spPr>
          <a:xfrm>
            <a:off x="658368" y="3785616"/>
            <a:ext cx="7315200" cy="201168"/>
          </a:xfrm>
          <a:prstGeom prst="rect">
            <a:avLst/>
          </a:prstGeom>
          <a:noFill/>
          <a:ln/>
        </p:spPr>
        <p:txBody>
          <a:bodyPr wrap="square" lIns="0" tIns="0" rIns="0" bIns="0" rtlCol="0" anchor="t"/>
          <a:lstStyle/>
          <a:p>
            <a:pPr algn="l" indent="0" marL="0">
              <a:buNone/>
            </a:pPr>
            <a:r>
              <a:rPr lang="en-US" sz="960" b="1" spc="130" kern="0" dirty="0">
                <a:solidFill>
                  <a:srgbClr val="D62027"/>
                </a:solidFill>
                <a:latin typeface="Aptos" pitchFamily="34" charset="0"/>
                <a:ea typeface="Aptos" pitchFamily="34" charset="-122"/>
                <a:cs typeface="Aptos" pitchFamily="34" charset="-120"/>
              </a:rPr>
              <a:t>LA TABLA DE EVENTOS, ANTES Y DESPUÉS DE LA SUPRESIÓN CORREGIDA</a:t>
            </a:r>
            <a:endParaRPr lang="en-US" sz="960" dirty="0"/>
          </a:p>
        </p:txBody>
      </p:sp>
      <p:sp>
        <p:nvSpPr>
          <p:cNvPr id="26" name="Shape 23"/>
          <p:cNvSpPr/>
          <p:nvPr/>
        </p:nvSpPr>
        <p:spPr>
          <a:xfrm>
            <a:off x="658368" y="4041648"/>
            <a:ext cx="6675120" cy="1097280"/>
          </a:xfrm>
          <a:prstGeom prst="roundRect">
            <a:avLst>
              <a:gd name="adj" fmla="val 3333"/>
            </a:avLst>
          </a:prstGeom>
          <a:solidFill>
            <a:srgbClr val="0F1720"/>
          </a:solidFill>
          <a:ln w="12700">
            <a:solidFill>
              <a:srgbClr val="0F1720"/>
            </a:solidFill>
            <a:prstDash val="solid"/>
          </a:ln>
        </p:spPr>
      </p:sp>
      <p:sp>
        <p:nvSpPr>
          <p:cNvPr id="27" name="Shape 24"/>
          <p:cNvSpPr/>
          <p:nvPr/>
        </p:nvSpPr>
        <p:spPr>
          <a:xfrm>
            <a:off x="786384" y="4151376"/>
            <a:ext cx="6419088" cy="310896"/>
          </a:xfrm>
          <a:prstGeom prst="roundRect">
            <a:avLst>
              <a:gd name="adj" fmla="val 8824"/>
            </a:avLst>
          </a:prstGeom>
          <a:solidFill>
            <a:srgbClr val="1E2937"/>
          </a:solidFill>
          <a:ln w="12700">
            <a:solidFill>
              <a:srgbClr val="1E2937"/>
            </a:solidFill>
            <a:prstDash val="solid"/>
          </a:ln>
        </p:spPr>
      </p:sp>
      <p:sp>
        <p:nvSpPr>
          <p:cNvPr id="28" name="Text 25"/>
          <p:cNvSpPr/>
          <p:nvPr/>
        </p:nvSpPr>
        <p:spPr>
          <a:xfrm>
            <a:off x="914400" y="4224528"/>
            <a:ext cx="6163056" cy="128016"/>
          </a:xfrm>
          <a:prstGeom prst="rect">
            <a:avLst/>
          </a:prstGeom>
          <a:noFill/>
          <a:ln/>
        </p:spPr>
        <p:txBody>
          <a:bodyPr wrap="square" lIns="0" tIns="0" rIns="0" bIns="0" rtlCol="0" anchor="ctr"/>
          <a:lstStyle/>
          <a:p>
            <a:pPr indent="0" marL="0">
              <a:buNone/>
            </a:pPr>
            <a:r>
              <a:rPr lang="en-US" sz="1000" b="1" dirty="0">
                <a:solidFill>
                  <a:srgbClr val="FFFFFF"/>
                </a:solidFill>
                <a:latin typeface="Aptos" pitchFamily="34" charset="0"/>
                <a:ea typeface="Aptos" pitchFamily="34" charset="-122"/>
                <a:cs typeface="Aptos" pitchFamily="34" charset="-120"/>
              </a:rPr>
              <a:t>SELECT accion, rut FROM eventos</a:t>
            </a:r>
            <a:endParaRPr lang="en-US" sz="1000" dirty="0"/>
          </a:p>
        </p:txBody>
      </p:sp>
      <p:sp>
        <p:nvSpPr>
          <p:cNvPr id="29" name="Text 26"/>
          <p:cNvSpPr/>
          <p:nvPr/>
        </p:nvSpPr>
        <p:spPr>
          <a:xfrm>
            <a:off x="877824" y="4608576"/>
            <a:ext cx="5925312" cy="164592"/>
          </a:xfrm>
          <a:prstGeom prst="rect">
            <a:avLst/>
          </a:prstGeom>
          <a:noFill/>
          <a:ln/>
        </p:spPr>
        <p:txBody>
          <a:bodyPr wrap="square" lIns="0" tIns="0" rIns="0" bIns="0" rtlCol="0" anchor="ctr"/>
          <a:lstStyle/>
          <a:p>
            <a:pPr indent="0" marL="0">
              <a:buNone/>
            </a:pPr>
            <a:r>
              <a:rPr lang="en-US" sz="1020" dirty="0">
                <a:solidFill>
                  <a:srgbClr val="E6EEF7"/>
                </a:solidFill>
                <a:latin typeface="Consolas" pitchFamily="34" charset="0"/>
                <a:ea typeface="Consolas" pitchFamily="34" charset="-122"/>
                <a:cs typeface="Consolas" pitchFamily="34" charset="-120"/>
              </a:rPr>
              <a:t>antes  : [('reserva creada', '11.111.111-1')]</a:t>
            </a:r>
            <a:endParaRPr lang="en-US" sz="1020" dirty="0"/>
          </a:p>
        </p:txBody>
      </p:sp>
      <p:sp>
        <p:nvSpPr>
          <p:cNvPr id="30" name="Text 27"/>
          <p:cNvSpPr/>
          <p:nvPr/>
        </p:nvSpPr>
        <p:spPr>
          <a:xfrm>
            <a:off x="877824" y="4864608"/>
            <a:ext cx="5925312" cy="164592"/>
          </a:xfrm>
          <a:prstGeom prst="rect">
            <a:avLst/>
          </a:prstGeom>
          <a:noFill/>
          <a:ln/>
        </p:spPr>
        <p:txBody>
          <a:bodyPr wrap="square" lIns="0" tIns="0" rIns="0" bIns="0" rtlCol="0" anchor="ctr"/>
          <a:lstStyle/>
          <a:p>
            <a:pPr indent="0" marL="0">
              <a:buNone/>
            </a:pPr>
            <a:r>
              <a:rPr lang="en-US" sz="1020" dirty="0">
                <a:solidFill>
                  <a:srgbClr val="E6EEF7"/>
                </a:solidFill>
                <a:latin typeface="Consolas" pitchFamily="34" charset="0"/>
                <a:ea typeface="Consolas" pitchFamily="34" charset="-122"/>
                <a:cs typeface="Consolas" pitchFamily="34" charset="-120"/>
              </a:rPr>
              <a:t>despues: [('reserva creada', None)]</a:t>
            </a:r>
            <a:endParaRPr lang="en-US" sz="1020" dirty="0"/>
          </a:p>
        </p:txBody>
      </p:sp>
      <p:sp>
        <p:nvSpPr>
          <p:cNvPr id="31" name="Shape 28"/>
          <p:cNvSpPr/>
          <p:nvPr/>
        </p:nvSpPr>
        <p:spPr>
          <a:xfrm>
            <a:off x="7552944" y="4041648"/>
            <a:ext cx="3986784" cy="1097280"/>
          </a:xfrm>
          <a:prstGeom prst="rect">
            <a:avLst/>
          </a:prstGeom>
          <a:solidFill>
            <a:srgbClr val="1D3A57"/>
          </a:solidFill>
          <a:ln w="12700">
            <a:solidFill>
              <a:srgbClr val="1D3A57"/>
            </a:solidFill>
            <a:prstDash val="solid"/>
          </a:ln>
        </p:spPr>
      </p:sp>
      <p:sp>
        <p:nvSpPr>
          <p:cNvPr id="32" name="Text 29"/>
          <p:cNvSpPr txBox="1"/>
          <p:nvPr/>
        </p:nvSpPr>
        <p:spPr>
          <a:xfrm>
            <a:off x="7790688" y="4151376"/>
            <a:ext cx="3511296" cy="219456"/>
          </a:xfrm>
          <a:prstGeom prst="rect">
            <a:avLst/>
          </a:prstGeom>
          <a:noFill/>
          <a:ln/>
        </p:spPr>
        <p:txBody>
          <a:bodyPr wrap="square" lIns="0" tIns="0" rIns="0" bIns="0" rtlCol="0" anchor="t"/>
          <a:lstStyle/>
          <a:p>
            <a:pPr algn="l" indent="0" marL="0">
              <a:buNone/>
            </a:pPr>
            <a:r>
              <a:rPr lang="en-US" sz="1040" b="1" spc="90" kern="0" dirty="0">
                <a:solidFill>
                  <a:srgbClr val="E0BC5A"/>
                </a:solidFill>
                <a:latin typeface="Aptos" pitchFamily="34" charset="0"/>
                <a:ea typeface="Aptos" pitchFamily="34" charset="-122"/>
                <a:cs typeface="Aptos" pitchFamily="34" charset="-120"/>
              </a:rPr>
              <a:t>El trabajo humano</a:t>
            </a:r>
            <a:endParaRPr lang="en-US" sz="1040" dirty="0"/>
          </a:p>
        </p:txBody>
      </p:sp>
      <p:sp>
        <p:nvSpPr>
          <p:cNvPr id="33" name="Text 30"/>
          <p:cNvSpPr txBox="1"/>
          <p:nvPr/>
        </p:nvSpPr>
        <p:spPr>
          <a:xfrm>
            <a:off x="7790688" y="4407408"/>
            <a:ext cx="3511296" cy="640080"/>
          </a:xfrm>
          <a:prstGeom prst="rect">
            <a:avLst/>
          </a:prstGeom>
          <a:noFill/>
          <a:ln/>
        </p:spPr>
        <p:txBody>
          <a:bodyPr wrap="square" lIns="0" tIns="0" rIns="0" bIns="0" rtlCol="0" anchor="t"/>
          <a:lstStyle/>
          <a:p>
            <a:pPr algn="l" indent="0" marL="0">
              <a:lnSpc>
                <a:spcPct val="114000"/>
              </a:lnSpc>
              <a:buNone/>
            </a:pPr>
            <a:r>
              <a:rPr lang="en-US" sz="1020" dirty="0">
                <a:solidFill>
                  <a:srgbClr val="FFFFFF"/>
                </a:solidFill>
                <a:latin typeface="Aptos" pitchFamily="34" charset="0"/>
                <a:ea typeface="Aptos" pitchFamily="34" charset="-122"/>
                <a:cs typeface="Aptos" pitchFamily="34" charset="-120"/>
              </a:rPr>
              <a:t>No fue escribir la instrucción. Fue decidir que la fila del evento debía sobrevivir sin su RUT, pesando dos obligaciones que apuntan en direcciones contrarias.</a:t>
            </a:r>
            <a:endParaRPr lang="en-US" sz="1020" dirty="0"/>
          </a:p>
        </p:txBody>
      </p:sp>
      <p:sp>
        <p:nvSpPr>
          <p:cNvPr id="34" name="Text 31"/>
          <p:cNvSpPr txBox="1"/>
          <p:nvPr/>
        </p:nvSpPr>
        <p:spPr>
          <a:xfrm>
            <a:off x="658368" y="5248656"/>
            <a:ext cx="10874959" cy="274320"/>
          </a:xfrm>
          <a:prstGeom prst="rect">
            <a:avLst/>
          </a:prstGeom>
          <a:noFill/>
          <a:ln/>
        </p:spPr>
        <p:txBody>
          <a:bodyPr wrap="square" lIns="0" tIns="0" rIns="0" bIns="0" rtlCol="0" anchor="t"/>
          <a:lstStyle/>
          <a:p>
            <a:pPr algn="l" indent="0" marL="0">
              <a:buNone/>
            </a:pPr>
            <a:r>
              <a:rPr lang="en-US" sz="1160" dirty="0">
                <a:solidFill>
                  <a:srgbClr val="243B53"/>
                </a:solidFill>
                <a:latin typeface="Aptos" pitchFamily="34" charset="0"/>
                <a:ea typeface="Aptos" pitchFamily="34" charset="-122"/>
                <a:cs typeface="Aptos" pitchFamily="34" charset="-120"/>
              </a:rPr>
              <a:t>None es como Python ve el vacío que la base guarda como NULL. Borrar la fila entera también deja el rastro en cero, y destruye la evidencia de que se cumplió.</a:t>
            </a:r>
            <a:endParaRPr lang="en-US" sz="1160" dirty="0"/>
          </a:p>
        </p:txBody>
      </p:sp>
      <p:sp>
        <p:nvSpPr>
          <p:cNvPr id="35" name="Shape 32"/>
          <p:cNvSpPr/>
          <p:nvPr/>
        </p:nvSpPr>
        <p:spPr>
          <a:xfrm>
            <a:off x="658368" y="5650992"/>
            <a:ext cx="10874959" cy="548640"/>
          </a:xfrm>
          <a:prstGeom prst="rect">
            <a:avLst/>
          </a:prstGeom>
          <a:solidFill>
            <a:srgbClr val="102A43"/>
          </a:solidFill>
          <a:ln w="12700">
            <a:solidFill>
              <a:srgbClr val="102A43"/>
            </a:solidFill>
            <a:prstDash val="solid"/>
          </a:ln>
        </p:spPr>
      </p:sp>
      <p:sp>
        <p:nvSpPr>
          <p:cNvPr id="36" name="Text 33"/>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La prueba comprueba que el rastro quedó en cero. No cuál de los dos caminos correspondía.</a:t>
            </a:r>
            <a:endParaRPr lang="en-US" sz="138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45</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4 · LA MATRIZ COMPLETA</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2700" b="1" dirty="0">
                <a:solidFill>
                  <a:srgbClr val="243B53"/>
                </a:solidFill>
                <a:latin typeface="Aptos Display" pitchFamily="34" charset="0"/>
                <a:ea typeface="Aptos Display" pitchFamily="34" charset="-122"/>
                <a:cs typeface="Aptos Display" pitchFamily="34" charset="-120"/>
              </a:rPr>
              <a:t>Escribir los derechos hizo aparecer tres huecos</a:t>
            </a:r>
            <a:endParaRPr lang="en-US" sz="2700" dirty="0"/>
          </a:p>
        </p:txBody>
      </p:sp>
      <p:sp>
        <p:nvSpPr>
          <p:cNvPr id="10" name="Text 7"/>
          <p:cNvSpPr txBox="1"/>
          <p:nvPr/>
        </p:nvSpPr>
        <p:spPr>
          <a:xfrm>
            <a:off x="658368" y="1664208"/>
            <a:ext cx="10424160" cy="347472"/>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El sistema no cambió ni una línea. Lo que cambió es que ahora hay contra qué comparar.</a:t>
            </a:r>
            <a:endParaRPr lang="en-US" sz="1420" dirty="0"/>
          </a:p>
        </p:txBody>
      </p:sp>
      <p:sp>
        <p:nvSpPr>
          <p:cNvPr id="11" name="Shape 8"/>
          <p:cNvSpPr/>
          <p:nvPr/>
        </p:nvSpPr>
        <p:spPr>
          <a:xfrm>
            <a:off x="658368" y="2286000"/>
            <a:ext cx="2109155" cy="1225296"/>
          </a:xfrm>
          <a:prstGeom prst="rect">
            <a:avLst/>
          </a:prstGeom>
          <a:solidFill>
            <a:srgbClr val="FFFFFF"/>
          </a:solidFill>
          <a:ln w="12700">
            <a:solidFill>
              <a:srgbClr val="FFFFFF"/>
            </a:solidFill>
            <a:prstDash val="solid"/>
          </a:ln>
        </p:spPr>
      </p:sp>
      <p:sp>
        <p:nvSpPr>
          <p:cNvPr id="12" name="Shape 9"/>
          <p:cNvSpPr/>
          <p:nvPr/>
        </p:nvSpPr>
        <p:spPr>
          <a:xfrm>
            <a:off x="658368" y="2286000"/>
            <a:ext cx="2109155" cy="54864"/>
          </a:xfrm>
          <a:prstGeom prst="rect">
            <a:avLst/>
          </a:prstGeom>
          <a:solidFill>
            <a:srgbClr val="102A43"/>
          </a:solidFill>
          <a:ln w="12700">
            <a:solidFill>
              <a:srgbClr val="102A43"/>
            </a:solidFill>
            <a:prstDash val="solid"/>
          </a:ln>
        </p:spPr>
      </p:sp>
      <p:sp>
        <p:nvSpPr>
          <p:cNvPr id="13" name="Text 10"/>
          <p:cNvSpPr txBox="1"/>
          <p:nvPr/>
        </p:nvSpPr>
        <p:spPr>
          <a:xfrm>
            <a:off x="822960" y="2450592"/>
            <a:ext cx="1779971" cy="201168"/>
          </a:xfrm>
          <a:prstGeom prst="rect">
            <a:avLst/>
          </a:prstGeom>
          <a:noFill/>
          <a:ln/>
        </p:spPr>
        <p:txBody>
          <a:bodyPr wrap="square" lIns="0" tIns="0" rIns="0" bIns="0" rtlCol="0" anchor="t"/>
          <a:lstStyle/>
          <a:p>
            <a:pPr algn="l" indent="0" marL="0">
              <a:buNone/>
            </a:pPr>
            <a:r>
              <a:rPr lang="en-US" sz="1040" b="1" dirty="0">
                <a:solidFill>
                  <a:srgbClr val="102A43"/>
                </a:solidFill>
                <a:latin typeface="Consolas" pitchFamily="34" charset="0"/>
                <a:ea typeface="Consolas" pitchFamily="34" charset="-122"/>
                <a:cs typeface="Consolas" pitchFamily="34" charset="-120"/>
              </a:rPr>
              <a:t>RF-01</a:t>
            </a:r>
            <a:endParaRPr lang="en-US" sz="1040" dirty="0"/>
          </a:p>
        </p:txBody>
      </p:sp>
      <p:sp>
        <p:nvSpPr>
          <p:cNvPr id="14" name="Text 11"/>
          <p:cNvSpPr txBox="1"/>
          <p:nvPr/>
        </p:nvSpPr>
        <p:spPr>
          <a:xfrm>
            <a:off x="822960" y="2688336"/>
            <a:ext cx="1779971" cy="384048"/>
          </a:xfrm>
          <a:prstGeom prst="rect">
            <a:avLst/>
          </a:prstGeom>
          <a:noFill/>
          <a:ln/>
        </p:spPr>
        <p:txBody>
          <a:bodyPr wrap="square" lIns="0" tIns="0" rIns="0" bIns="0" rtlCol="0" anchor="t"/>
          <a:lstStyle/>
          <a:p>
            <a:pPr algn="l" indent="0" marL="0">
              <a:lnSpc>
                <a:spcPct val="110000"/>
              </a:lnSpc>
              <a:buNone/>
            </a:pPr>
            <a:r>
              <a:rPr lang="en-US" sz="1040" dirty="0">
                <a:solidFill>
                  <a:srgbClr val="243B53"/>
                </a:solidFill>
                <a:latin typeface="Aptos" pitchFamily="34" charset="0"/>
                <a:ea typeface="Aptos" pitchFamily="34" charset="-122"/>
                <a:cs typeface="Aptos" pitchFamily="34" charset="-120"/>
              </a:rPr>
              <a:t>Bloques del 1 al 8</a:t>
            </a:r>
            <a:endParaRPr lang="en-US" sz="1040" dirty="0"/>
          </a:p>
        </p:txBody>
      </p:sp>
      <p:sp>
        <p:nvSpPr>
          <p:cNvPr id="15" name="Text 12"/>
          <p:cNvSpPr txBox="1"/>
          <p:nvPr/>
        </p:nvSpPr>
        <p:spPr>
          <a:xfrm>
            <a:off x="822960" y="3090672"/>
            <a:ext cx="548640" cy="329184"/>
          </a:xfrm>
          <a:prstGeom prst="rect">
            <a:avLst/>
          </a:prstGeom>
          <a:noFill/>
          <a:ln/>
        </p:spPr>
        <p:txBody>
          <a:bodyPr wrap="square" lIns="0" tIns="0" rIns="0" bIns="0" rtlCol="0" anchor="t"/>
          <a:lstStyle/>
          <a:p>
            <a:pPr algn="l" indent="0" marL="0">
              <a:buNone/>
            </a:pPr>
            <a:r>
              <a:rPr lang="en-US" sz="2200" b="1" dirty="0">
                <a:solidFill>
                  <a:srgbClr val="243B53"/>
                </a:solidFill>
                <a:latin typeface="Aptos Display" pitchFamily="34" charset="0"/>
                <a:ea typeface="Aptos Display" pitchFamily="34" charset="-122"/>
                <a:cs typeface="Aptos Display" pitchFamily="34" charset="-120"/>
              </a:rPr>
              <a:t>10</a:t>
            </a:r>
            <a:endParaRPr lang="en-US" sz="2200" dirty="0"/>
          </a:p>
        </p:txBody>
      </p:sp>
      <p:sp>
        <p:nvSpPr>
          <p:cNvPr id="16" name="Text 13"/>
          <p:cNvSpPr txBox="1"/>
          <p:nvPr/>
        </p:nvSpPr>
        <p:spPr>
          <a:xfrm>
            <a:off x="1408176" y="3200400"/>
            <a:ext cx="1194755" cy="201168"/>
          </a:xfrm>
          <a:prstGeom prst="rect">
            <a:avLst/>
          </a:prstGeom>
          <a:noFill/>
          <a:ln/>
        </p:spPr>
        <p:txBody>
          <a:bodyPr wrap="square" lIns="0" tIns="0" rIns="0" bIns="0" rtlCol="0" anchor="t"/>
          <a:lstStyle/>
          <a:p>
            <a:pPr algn="l" indent="0" marL="0">
              <a:buNone/>
            </a:pPr>
            <a:r>
              <a:rPr lang="en-US" sz="900" dirty="0">
                <a:solidFill>
                  <a:srgbClr val="52606D"/>
                </a:solidFill>
                <a:latin typeface="Aptos" pitchFamily="34" charset="0"/>
                <a:ea typeface="Aptos" pitchFamily="34" charset="-122"/>
                <a:cs typeface="Aptos" pitchFamily="34" charset="-120"/>
              </a:rPr>
              <a:t>pruebas</a:t>
            </a:r>
            <a:endParaRPr lang="en-US" sz="900" dirty="0"/>
          </a:p>
        </p:txBody>
      </p:sp>
      <p:sp>
        <p:nvSpPr>
          <p:cNvPr id="17" name="Shape 14"/>
          <p:cNvSpPr/>
          <p:nvPr/>
        </p:nvSpPr>
        <p:spPr>
          <a:xfrm>
            <a:off x="2849819" y="2286000"/>
            <a:ext cx="2109155" cy="1225296"/>
          </a:xfrm>
          <a:prstGeom prst="rect">
            <a:avLst/>
          </a:prstGeom>
          <a:solidFill>
            <a:srgbClr val="FFFFFF"/>
          </a:solidFill>
          <a:ln w="12700">
            <a:solidFill>
              <a:srgbClr val="FFFFFF"/>
            </a:solidFill>
            <a:prstDash val="solid"/>
          </a:ln>
        </p:spPr>
      </p:sp>
      <p:sp>
        <p:nvSpPr>
          <p:cNvPr id="18" name="Shape 15"/>
          <p:cNvSpPr/>
          <p:nvPr/>
        </p:nvSpPr>
        <p:spPr>
          <a:xfrm>
            <a:off x="2849819" y="2286000"/>
            <a:ext cx="2109155" cy="54864"/>
          </a:xfrm>
          <a:prstGeom prst="rect">
            <a:avLst/>
          </a:prstGeom>
          <a:solidFill>
            <a:srgbClr val="102A43"/>
          </a:solidFill>
          <a:ln w="12700">
            <a:solidFill>
              <a:srgbClr val="102A43"/>
            </a:solidFill>
            <a:prstDash val="solid"/>
          </a:ln>
        </p:spPr>
      </p:sp>
      <p:sp>
        <p:nvSpPr>
          <p:cNvPr id="19" name="Text 16"/>
          <p:cNvSpPr txBox="1"/>
          <p:nvPr/>
        </p:nvSpPr>
        <p:spPr>
          <a:xfrm>
            <a:off x="3014411" y="2450592"/>
            <a:ext cx="1779971" cy="201168"/>
          </a:xfrm>
          <a:prstGeom prst="rect">
            <a:avLst/>
          </a:prstGeom>
          <a:noFill/>
          <a:ln/>
        </p:spPr>
        <p:txBody>
          <a:bodyPr wrap="square" lIns="0" tIns="0" rIns="0" bIns="0" rtlCol="0" anchor="t"/>
          <a:lstStyle/>
          <a:p>
            <a:pPr algn="l" indent="0" marL="0">
              <a:buNone/>
            </a:pPr>
            <a:r>
              <a:rPr lang="en-US" sz="1040" b="1" dirty="0">
                <a:solidFill>
                  <a:srgbClr val="102A43"/>
                </a:solidFill>
                <a:latin typeface="Consolas" pitchFamily="34" charset="0"/>
                <a:ea typeface="Consolas" pitchFamily="34" charset="-122"/>
                <a:cs typeface="Consolas" pitchFamily="34" charset="-120"/>
              </a:rPr>
              <a:t>RF-02</a:t>
            </a:r>
            <a:endParaRPr lang="en-US" sz="1040" dirty="0"/>
          </a:p>
        </p:txBody>
      </p:sp>
      <p:sp>
        <p:nvSpPr>
          <p:cNvPr id="20" name="Text 17"/>
          <p:cNvSpPr txBox="1"/>
          <p:nvPr/>
        </p:nvSpPr>
        <p:spPr>
          <a:xfrm>
            <a:off x="3014411" y="2688336"/>
            <a:ext cx="1779971" cy="384048"/>
          </a:xfrm>
          <a:prstGeom prst="rect">
            <a:avLst/>
          </a:prstGeom>
          <a:noFill/>
          <a:ln/>
        </p:spPr>
        <p:txBody>
          <a:bodyPr wrap="square" lIns="0" tIns="0" rIns="0" bIns="0" rtlCol="0" anchor="t"/>
          <a:lstStyle/>
          <a:p>
            <a:pPr algn="l" indent="0" marL="0">
              <a:lnSpc>
                <a:spcPct val="110000"/>
              </a:lnSpc>
              <a:buNone/>
            </a:pPr>
            <a:r>
              <a:rPr lang="en-US" sz="1040" dirty="0">
                <a:solidFill>
                  <a:srgbClr val="243B53"/>
                </a:solidFill>
                <a:latin typeface="Aptos" pitchFamily="34" charset="0"/>
                <a:ea typeface="Aptos" pitchFamily="34" charset="-122"/>
                <a:cs typeface="Aptos" pitchFamily="34" charset="-120"/>
              </a:rPr>
              <a:t>Bloque ya reservado</a:t>
            </a:r>
            <a:endParaRPr lang="en-US" sz="1040" dirty="0"/>
          </a:p>
        </p:txBody>
      </p:sp>
      <p:sp>
        <p:nvSpPr>
          <p:cNvPr id="21" name="Text 18"/>
          <p:cNvSpPr txBox="1"/>
          <p:nvPr/>
        </p:nvSpPr>
        <p:spPr>
          <a:xfrm>
            <a:off x="3014411" y="3090672"/>
            <a:ext cx="548640" cy="329184"/>
          </a:xfrm>
          <a:prstGeom prst="rect">
            <a:avLst/>
          </a:prstGeom>
          <a:noFill/>
          <a:ln/>
        </p:spPr>
        <p:txBody>
          <a:bodyPr wrap="square" lIns="0" tIns="0" rIns="0" bIns="0" rtlCol="0" anchor="t"/>
          <a:lstStyle/>
          <a:p>
            <a:pPr algn="l" indent="0" marL="0">
              <a:buNone/>
            </a:pPr>
            <a:r>
              <a:rPr lang="en-US" sz="2200" b="1" dirty="0">
                <a:solidFill>
                  <a:srgbClr val="243B53"/>
                </a:solidFill>
                <a:latin typeface="Aptos Display" pitchFamily="34" charset="0"/>
                <a:ea typeface="Aptos Display" pitchFamily="34" charset="-122"/>
                <a:cs typeface="Aptos Display" pitchFamily="34" charset="-120"/>
              </a:rPr>
              <a:t>3</a:t>
            </a:r>
            <a:endParaRPr lang="en-US" sz="2200" dirty="0"/>
          </a:p>
        </p:txBody>
      </p:sp>
      <p:sp>
        <p:nvSpPr>
          <p:cNvPr id="22" name="Text 19"/>
          <p:cNvSpPr txBox="1"/>
          <p:nvPr/>
        </p:nvSpPr>
        <p:spPr>
          <a:xfrm>
            <a:off x="3599627" y="3200400"/>
            <a:ext cx="1194755" cy="201168"/>
          </a:xfrm>
          <a:prstGeom prst="rect">
            <a:avLst/>
          </a:prstGeom>
          <a:noFill/>
          <a:ln/>
        </p:spPr>
        <p:txBody>
          <a:bodyPr wrap="square" lIns="0" tIns="0" rIns="0" bIns="0" rtlCol="0" anchor="t"/>
          <a:lstStyle/>
          <a:p>
            <a:pPr algn="l" indent="0" marL="0">
              <a:buNone/>
            </a:pPr>
            <a:r>
              <a:rPr lang="en-US" sz="900" dirty="0">
                <a:solidFill>
                  <a:srgbClr val="52606D"/>
                </a:solidFill>
                <a:latin typeface="Aptos" pitchFamily="34" charset="0"/>
                <a:ea typeface="Aptos" pitchFamily="34" charset="-122"/>
                <a:cs typeface="Aptos" pitchFamily="34" charset="-120"/>
              </a:rPr>
              <a:t>pruebas</a:t>
            </a:r>
            <a:endParaRPr lang="en-US" sz="900" dirty="0"/>
          </a:p>
        </p:txBody>
      </p:sp>
      <p:sp>
        <p:nvSpPr>
          <p:cNvPr id="23" name="Shape 20"/>
          <p:cNvSpPr/>
          <p:nvPr/>
        </p:nvSpPr>
        <p:spPr>
          <a:xfrm>
            <a:off x="5041270" y="2286000"/>
            <a:ext cx="2109155" cy="1225296"/>
          </a:xfrm>
          <a:prstGeom prst="rect">
            <a:avLst/>
          </a:prstGeom>
          <a:solidFill>
            <a:srgbClr val="FFFFFF"/>
          </a:solidFill>
          <a:ln w="12700">
            <a:solidFill>
              <a:srgbClr val="FFFFFF"/>
            </a:solidFill>
            <a:prstDash val="solid"/>
          </a:ln>
        </p:spPr>
      </p:sp>
      <p:sp>
        <p:nvSpPr>
          <p:cNvPr id="24" name="Shape 21"/>
          <p:cNvSpPr/>
          <p:nvPr/>
        </p:nvSpPr>
        <p:spPr>
          <a:xfrm>
            <a:off x="5041270" y="2286000"/>
            <a:ext cx="2109155" cy="54864"/>
          </a:xfrm>
          <a:prstGeom prst="rect">
            <a:avLst/>
          </a:prstGeom>
          <a:solidFill>
            <a:srgbClr val="102A43"/>
          </a:solidFill>
          <a:ln w="12700">
            <a:solidFill>
              <a:srgbClr val="102A43"/>
            </a:solidFill>
            <a:prstDash val="solid"/>
          </a:ln>
        </p:spPr>
      </p:sp>
      <p:sp>
        <p:nvSpPr>
          <p:cNvPr id="25" name="Text 22"/>
          <p:cNvSpPr txBox="1"/>
          <p:nvPr/>
        </p:nvSpPr>
        <p:spPr>
          <a:xfrm>
            <a:off x="5205862" y="2450592"/>
            <a:ext cx="1779971" cy="201168"/>
          </a:xfrm>
          <a:prstGeom prst="rect">
            <a:avLst/>
          </a:prstGeom>
          <a:noFill/>
          <a:ln/>
        </p:spPr>
        <p:txBody>
          <a:bodyPr wrap="square" lIns="0" tIns="0" rIns="0" bIns="0" rtlCol="0" anchor="t"/>
          <a:lstStyle/>
          <a:p>
            <a:pPr algn="l" indent="0" marL="0">
              <a:buNone/>
            </a:pPr>
            <a:r>
              <a:rPr lang="en-US" sz="1040" b="1" dirty="0">
                <a:solidFill>
                  <a:srgbClr val="102A43"/>
                </a:solidFill>
                <a:latin typeface="Consolas" pitchFamily="34" charset="0"/>
                <a:ea typeface="Consolas" pitchFamily="34" charset="-122"/>
                <a:cs typeface="Consolas" pitchFamily="34" charset="-120"/>
              </a:rPr>
              <a:t>RF-03</a:t>
            </a:r>
            <a:endParaRPr lang="en-US" sz="1040" dirty="0"/>
          </a:p>
        </p:txBody>
      </p:sp>
      <p:sp>
        <p:nvSpPr>
          <p:cNvPr id="26" name="Text 23"/>
          <p:cNvSpPr txBox="1"/>
          <p:nvPr/>
        </p:nvSpPr>
        <p:spPr>
          <a:xfrm>
            <a:off x="5205862" y="2688336"/>
            <a:ext cx="1779971" cy="384048"/>
          </a:xfrm>
          <a:prstGeom prst="rect">
            <a:avLst/>
          </a:prstGeom>
          <a:noFill/>
          <a:ln/>
        </p:spPr>
        <p:txBody>
          <a:bodyPr wrap="square" lIns="0" tIns="0" rIns="0" bIns="0" rtlCol="0" anchor="t"/>
          <a:lstStyle/>
          <a:p>
            <a:pPr algn="l" indent="0" marL="0">
              <a:lnSpc>
                <a:spcPct val="110000"/>
              </a:lnSpc>
              <a:buNone/>
            </a:pPr>
            <a:r>
              <a:rPr lang="en-US" sz="1040" dirty="0">
                <a:solidFill>
                  <a:srgbClr val="243B53"/>
                </a:solidFill>
                <a:latin typeface="Aptos" pitchFamily="34" charset="0"/>
                <a:ea typeface="Aptos" pitchFamily="34" charset="-122"/>
                <a:cs typeface="Aptos" pitchFamily="34" charset="-120"/>
              </a:rPr>
              <a:t>Tres reservas por semana</a:t>
            </a:r>
            <a:endParaRPr lang="en-US" sz="1040" dirty="0"/>
          </a:p>
        </p:txBody>
      </p:sp>
      <p:sp>
        <p:nvSpPr>
          <p:cNvPr id="27" name="Text 24"/>
          <p:cNvSpPr txBox="1"/>
          <p:nvPr/>
        </p:nvSpPr>
        <p:spPr>
          <a:xfrm>
            <a:off x="5205862" y="3090672"/>
            <a:ext cx="548640" cy="329184"/>
          </a:xfrm>
          <a:prstGeom prst="rect">
            <a:avLst/>
          </a:prstGeom>
          <a:noFill/>
          <a:ln/>
        </p:spPr>
        <p:txBody>
          <a:bodyPr wrap="square" lIns="0" tIns="0" rIns="0" bIns="0" rtlCol="0" anchor="t"/>
          <a:lstStyle/>
          <a:p>
            <a:pPr algn="l" indent="0" marL="0">
              <a:buNone/>
            </a:pPr>
            <a:r>
              <a:rPr lang="en-US" sz="2200" b="1" dirty="0">
                <a:solidFill>
                  <a:srgbClr val="243B53"/>
                </a:solidFill>
                <a:latin typeface="Aptos Display" pitchFamily="34" charset="0"/>
                <a:ea typeface="Aptos Display" pitchFamily="34" charset="-122"/>
                <a:cs typeface="Aptos Display" pitchFamily="34" charset="-120"/>
              </a:rPr>
              <a:t>2</a:t>
            </a:r>
            <a:endParaRPr lang="en-US" sz="2200" dirty="0"/>
          </a:p>
        </p:txBody>
      </p:sp>
      <p:sp>
        <p:nvSpPr>
          <p:cNvPr id="28" name="Text 25"/>
          <p:cNvSpPr txBox="1"/>
          <p:nvPr/>
        </p:nvSpPr>
        <p:spPr>
          <a:xfrm>
            <a:off x="5791078" y="3200400"/>
            <a:ext cx="1194755" cy="201168"/>
          </a:xfrm>
          <a:prstGeom prst="rect">
            <a:avLst/>
          </a:prstGeom>
          <a:noFill/>
          <a:ln/>
        </p:spPr>
        <p:txBody>
          <a:bodyPr wrap="square" lIns="0" tIns="0" rIns="0" bIns="0" rtlCol="0" anchor="t"/>
          <a:lstStyle/>
          <a:p>
            <a:pPr algn="l" indent="0" marL="0">
              <a:buNone/>
            </a:pPr>
            <a:r>
              <a:rPr lang="en-US" sz="900" dirty="0">
                <a:solidFill>
                  <a:srgbClr val="52606D"/>
                </a:solidFill>
                <a:latin typeface="Aptos" pitchFamily="34" charset="0"/>
                <a:ea typeface="Aptos" pitchFamily="34" charset="-122"/>
                <a:cs typeface="Aptos" pitchFamily="34" charset="-120"/>
              </a:rPr>
              <a:t>pruebas</a:t>
            </a:r>
            <a:endParaRPr lang="en-US" sz="900" dirty="0"/>
          </a:p>
        </p:txBody>
      </p:sp>
      <p:sp>
        <p:nvSpPr>
          <p:cNvPr id="29" name="Shape 26"/>
          <p:cNvSpPr/>
          <p:nvPr/>
        </p:nvSpPr>
        <p:spPr>
          <a:xfrm>
            <a:off x="7232721" y="2286000"/>
            <a:ext cx="2109155" cy="1225296"/>
          </a:xfrm>
          <a:prstGeom prst="rect">
            <a:avLst/>
          </a:prstGeom>
          <a:solidFill>
            <a:srgbClr val="FFFFFF"/>
          </a:solidFill>
          <a:ln w="12700">
            <a:solidFill>
              <a:srgbClr val="FFFFFF"/>
            </a:solidFill>
            <a:prstDash val="solid"/>
          </a:ln>
        </p:spPr>
      </p:sp>
      <p:sp>
        <p:nvSpPr>
          <p:cNvPr id="30" name="Shape 27"/>
          <p:cNvSpPr/>
          <p:nvPr/>
        </p:nvSpPr>
        <p:spPr>
          <a:xfrm>
            <a:off x="7232721" y="2286000"/>
            <a:ext cx="2109155" cy="54864"/>
          </a:xfrm>
          <a:prstGeom prst="rect">
            <a:avLst/>
          </a:prstGeom>
          <a:solidFill>
            <a:srgbClr val="102A43"/>
          </a:solidFill>
          <a:ln w="12700">
            <a:solidFill>
              <a:srgbClr val="102A43"/>
            </a:solidFill>
            <a:prstDash val="solid"/>
          </a:ln>
        </p:spPr>
      </p:sp>
      <p:sp>
        <p:nvSpPr>
          <p:cNvPr id="31" name="Text 28"/>
          <p:cNvSpPr txBox="1"/>
          <p:nvPr/>
        </p:nvSpPr>
        <p:spPr>
          <a:xfrm>
            <a:off x="7397313" y="2450592"/>
            <a:ext cx="1779971" cy="201168"/>
          </a:xfrm>
          <a:prstGeom prst="rect">
            <a:avLst/>
          </a:prstGeom>
          <a:noFill/>
          <a:ln/>
        </p:spPr>
        <p:txBody>
          <a:bodyPr wrap="square" lIns="0" tIns="0" rIns="0" bIns="0" rtlCol="0" anchor="t"/>
          <a:lstStyle/>
          <a:p>
            <a:pPr algn="l" indent="0" marL="0">
              <a:buNone/>
            </a:pPr>
            <a:r>
              <a:rPr lang="en-US" sz="1040" b="1" dirty="0">
                <a:solidFill>
                  <a:srgbClr val="102A43"/>
                </a:solidFill>
                <a:latin typeface="Consolas" pitchFamily="34" charset="0"/>
                <a:ea typeface="Consolas" pitchFamily="34" charset="-122"/>
                <a:cs typeface="Consolas" pitchFamily="34" charset="-120"/>
              </a:rPr>
              <a:t>RF-04</a:t>
            </a:r>
            <a:endParaRPr lang="en-US" sz="1040" dirty="0"/>
          </a:p>
        </p:txBody>
      </p:sp>
      <p:sp>
        <p:nvSpPr>
          <p:cNvPr id="32" name="Text 29"/>
          <p:cNvSpPr txBox="1"/>
          <p:nvPr/>
        </p:nvSpPr>
        <p:spPr>
          <a:xfrm>
            <a:off x="7397313" y="2688336"/>
            <a:ext cx="1779971" cy="384048"/>
          </a:xfrm>
          <a:prstGeom prst="rect">
            <a:avLst/>
          </a:prstGeom>
          <a:noFill/>
          <a:ln/>
        </p:spPr>
        <p:txBody>
          <a:bodyPr wrap="square" lIns="0" tIns="0" rIns="0" bIns="0" rtlCol="0" anchor="t"/>
          <a:lstStyle/>
          <a:p>
            <a:pPr algn="l" indent="0" marL="0">
              <a:lnSpc>
                <a:spcPct val="110000"/>
              </a:lnSpc>
              <a:buNone/>
            </a:pPr>
            <a:r>
              <a:rPr lang="en-US" sz="1040" dirty="0">
                <a:solidFill>
                  <a:srgbClr val="243B53"/>
                </a:solidFill>
                <a:latin typeface="Aptos" pitchFamily="34" charset="0"/>
                <a:ea typeface="Aptos" pitchFamily="34" charset="-122"/>
                <a:cs typeface="Aptos" pitchFamily="34" charset="-120"/>
              </a:rPr>
              <a:t>Entre 1 y 30 personas</a:t>
            </a:r>
            <a:endParaRPr lang="en-US" sz="1040" dirty="0"/>
          </a:p>
        </p:txBody>
      </p:sp>
      <p:sp>
        <p:nvSpPr>
          <p:cNvPr id="33" name="Text 30"/>
          <p:cNvSpPr txBox="1"/>
          <p:nvPr/>
        </p:nvSpPr>
        <p:spPr>
          <a:xfrm>
            <a:off x="7397313" y="3090672"/>
            <a:ext cx="548640" cy="329184"/>
          </a:xfrm>
          <a:prstGeom prst="rect">
            <a:avLst/>
          </a:prstGeom>
          <a:noFill/>
          <a:ln/>
        </p:spPr>
        <p:txBody>
          <a:bodyPr wrap="square" lIns="0" tIns="0" rIns="0" bIns="0" rtlCol="0" anchor="t"/>
          <a:lstStyle/>
          <a:p>
            <a:pPr algn="l" indent="0" marL="0">
              <a:buNone/>
            </a:pPr>
            <a:r>
              <a:rPr lang="en-US" sz="2200" b="1" dirty="0">
                <a:solidFill>
                  <a:srgbClr val="243B53"/>
                </a:solidFill>
                <a:latin typeface="Aptos Display" pitchFamily="34" charset="0"/>
                <a:ea typeface="Aptos Display" pitchFamily="34" charset="-122"/>
                <a:cs typeface="Aptos Display" pitchFamily="34" charset="-120"/>
              </a:rPr>
              <a:t>4</a:t>
            </a:r>
            <a:endParaRPr lang="en-US" sz="2200" dirty="0"/>
          </a:p>
        </p:txBody>
      </p:sp>
      <p:sp>
        <p:nvSpPr>
          <p:cNvPr id="34" name="Text 31"/>
          <p:cNvSpPr txBox="1"/>
          <p:nvPr/>
        </p:nvSpPr>
        <p:spPr>
          <a:xfrm>
            <a:off x="7982529" y="3200400"/>
            <a:ext cx="1194755" cy="201168"/>
          </a:xfrm>
          <a:prstGeom prst="rect">
            <a:avLst/>
          </a:prstGeom>
          <a:noFill/>
          <a:ln/>
        </p:spPr>
        <p:txBody>
          <a:bodyPr wrap="square" lIns="0" tIns="0" rIns="0" bIns="0" rtlCol="0" anchor="t"/>
          <a:lstStyle/>
          <a:p>
            <a:pPr algn="l" indent="0" marL="0">
              <a:buNone/>
            </a:pPr>
            <a:r>
              <a:rPr lang="en-US" sz="900" dirty="0">
                <a:solidFill>
                  <a:srgbClr val="52606D"/>
                </a:solidFill>
                <a:latin typeface="Aptos" pitchFamily="34" charset="0"/>
                <a:ea typeface="Aptos" pitchFamily="34" charset="-122"/>
                <a:cs typeface="Aptos" pitchFamily="34" charset="-120"/>
              </a:rPr>
              <a:t>pruebas</a:t>
            </a:r>
            <a:endParaRPr lang="en-US" sz="900" dirty="0"/>
          </a:p>
        </p:txBody>
      </p:sp>
      <p:sp>
        <p:nvSpPr>
          <p:cNvPr id="35" name="Shape 32"/>
          <p:cNvSpPr/>
          <p:nvPr/>
        </p:nvSpPr>
        <p:spPr>
          <a:xfrm>
            <a:off x="9424172" y="2286000"/>
            <a:ext cx="2109155" cy="1225296"/>
          </a:xfrm>
          <a:prstGeom prst="rect">
            <a:avLst/>
          </a:prstGeom>
          <a:solidFill>
            <a:srgbClr val="F2E7D9"/>
          </a:solidFill>
          <a:ln w="12700">
            <a:solidFill>
              <a:srgbClr val="F2E7D9"/>
            </a:solidFill>
            <a:prstDash val="solid"/>
          </a:ln>
        </p:spPr>
      </p:sp>
      <p:sp>
        <p:nvSpPr>
          <p:cNvPr id="36" name="Shape 33"/>
          <p:cNvSpPr/>
          <p:nvPr/>
        </p:nvSpPr>
        <p:spPr>
          <a:xfrm>
            <a:off x="9424172" y="2286000"/>
            <a:ext cx="2109155" cy="54864"/>
          </a:xfrm>
          <a:prstGeom prst="rect">
            <a:avLst/>
          </a:prstGeom>
          <a:solidFill>
            <a:srgbClr val="B3181E"/>
          </a:solidFill>
          <a:ln w="12700">
            <a:solidFill>
              <a:srgbClr val="B3181E"/>
            </a:solidFill>
            <a:prstDash val="solid"/>
          </a:ln>
        </p:spPr>
      </p:sp>
      <p:sp>
        <p:nvSpPr>
          <p:cNvPr id="37" name="Text 34"/>
          <p:cNvSpPr txBox="1"/>
          <p:nvPr/>
        </p:nvSpPr>
        <p:spPr>
          <a:xfrm>
            <a:off x="9588764" y="2450592"/>
            <a:ext cx="1779971" cy="201168"/>
          </a:xfrm>
          <a:prstGeom prst="rect">
            <a:avLst/>
          </a:prstGeom>
          <a:noFill/>
          <a:ln/>
        </p:spPr>
        <p:txBody>
          <a:bodyPr wrap="square" lIns="0" tIns="0" rIns="0" bIns="0" rtlCol="0" anchor="t"/>
          <a:lstStyle/>
          <a:p>
            <a:pPr algn="l" indent="0" marL="0">
              <a:buNone/>
            </a:pPr>
            <a:r>
              <a:rPr lang="en-US" sz="1040" b="1" dirty="0">
                <a:solidFill>
                  <a:srgbClr val="B3181E"/>
                </a:solidFill>
                <a:latin typeface="Consolas" pitchFamily="34" charset="0"/>
                <a:ea typeface="Consolas" pitchFamily="34" charset="-122"/>
                <a:cs typeface="Consolas" pitchFamily="34" charset="-120"/>
              </a:rPr>
              <a:t>RF-05</a:t>
            </a:r>
            <a:endParaRPr lang="en-US" sz="1040" dirty="0"/>
          </a:p>
        </p:txBody>
      </p:sp>
      <p:sp>
        <p:nvSpPr>
          <p:cNvPr id="38" name="Text 35"/>
          <p:cNvSpPr txBox="1"/>
          <p:nvPr/>
        </p:nvSpPr>
        <p:spPr>
          <a:xfrm>
            <a:off x="9588764" y="2688336"/>
            <a:ext cx="1779971" cy="384048"/>
          </a:xfrm>
          <a:prstGeom prst="rect">
            <a:avLst/>
          </a:prstGeom>
          <a:noFill/>
          <a:ln/>
        </p:spPr>
        <p:txBody>
          <a:bodyPr wrap="square" lIns="0" tIns="0" rIns="0" bIns="0" rtlCol="0" anchor="t"/>
          <a:lstStyle/>
          <a:p>
            <a:pPr algn="l" indent="0" marL="0">
              <a:lnSpc>
                <a:spcPct val="110000"/>
              </a:lnSpc>
              <a:buNone/>
            </a:pPr>
            <a:r>
              <a:rPr lang="en-US" sz="1040" dirty="0">
                <a:solidFill>
                  <a:srgbClr val="243B53"/>
                </a:solidFill>
                <a:latin typeface="Aptos" pitchFamily="34" charset="0"/>
                <a:ea typeface="Aptos" pitchFamily="34" charset="-122"/>
                <a:cs typeface="Aptos" pitchFamily="34" charset="-120"/>
              </a:rPr>
              <a:t>Cancelar 2 horas antes</a:t>
            </a:r>
            <a:endParaRPr lang="en-US" sz="1040" dirty="0"/>
          </a:p>
        </p:txBody>
      </p:sp>
      <p:sp>
        <p:nvSpPr>
          <p:cNvPr id="39" name="Text 36"/>
          <p:cNvSpPr txBox="1"/>
          <p:nvPr/>
        </p:nvSpPr>
        <p:spPr>
          <a:xfrm>
            <a:off x="9588764" y="3090672"/>
            <a:ext cx="548640" cy="329184"/>
          </a:xfrm>
          <a:prstGeom prst="rect">
            <a:avLst/>
          </a:prstGeom>
          <a:noFill/>
          <a:ln/>
        </p:spPr>
        <p:txBody>
          <a:bodyPr wrap="square" lIns="0" tIns="0" rIns="0" bIns="0" rtlCol="0" anchor="t"/>
          <a:lstStyle/>
          <a:p>
            <a:pPr algn="l" indent="0" marL="0">
              <a:buNone/>
            </a:pPr>
            <a:r>
              <a:rPr lang="en-US" sz="2200" b="1" dirty="0">
                <a:solidFill>
                  <a:srgbClr val="B3181E"/>
                </a:solidFill>
                <a:latin typeface="Aptos Display" pitchFamily="34" charset="0"/>
                <a:ea typeface="Aptos Display" pitchFamily="34" charset="-122"/>
                <a:cs typeface="Aptos Display" pitchFamily="34" charset="-120"/>
              </a:rPr>
              <a:t>0</a:t>
            </a:r>
            <a:endParaRPr lang="en-US" sz="2200" dirty="0"/>
          </a:p>
        </p:txBody>
      </p:sp>
      <p:sp>
        <p:nvSpPr>
          <p:cNvPr id="40" name="Text 37"/>
          <p:cNvSpPr txBox="1"/>
          <p:nvPr/>
        </p:nvSpPr>
        <p:spPr>
          <a:xfrm>
            <a:off x="10173980" y="3200400"/>
            <a:ext cx="1194755" cy="201168"/>
          </a:xfrm>
          <a:prstGeom prst="rect">
            <a:avLst/>
          </a:prstGeom>
          <a:noFill/>
          <a:ln/>
        </p:spPr>
        <p:txBody>
          <a:bodyPr wrap="square" lIns="0" tIns="0" rIns="0" bIns="0" rtlCol="0" anchor="t"/>
          <a:lstStyle/>
          <a:p>
            <a:pPr algn="l" indent="0" marL="0">
              <a:buNone/>
            </a:pPr>
            <a:r>
              <a:rPr lang="en-US" sz="900" b="1" dirty="0">
                <a:solidFill>
                  <a:srgbClr val="B3181E"/>
                </a:solidFill>
                <a:latin typeface="Aptos" pitchFamily="34" charset="0"/>
                <a:ea typeface="Aptos" pitchFamily="34" charset="-122"/>
                <a:cs typeface="Aptos" pitchFamily="34" charset="-120"/>
              </a:rPr>
              <a:t>sin prueba</a:t>
            </a:r>
            <a:endParaRPr lang="en-US" sz="900" dirty="0"/>
          </a:p>
        </p:txBody>
      </p:sp>
      <p:sp>
        <p:nvSpPr>
          <p:cNvPr id="41" name="Shape 38"/>
          <p:cNvSpPr/>
          <p:nvPr/>
        </p:nvSpPr>
        <p:spPr>
          <a:xfrm>
            <a:off x="658368" y="3657600"/>
            <a:ext cx="2109155" cy="1225296"/>
          </a:xfrm>
          <a:prstGeom prst="rect">
            <a:avLst/>
          </a:prstGeom>
          <a:solidFill>
            <a:srgbClr val="FFFFFF"/>
          </a:solidFill>
          <a:ln w="12700">
            <a:solidFill>
              <a:srgbClr val="FFFFFF"/>
            </a:solidFill>
            <a:prstDash val="solid"/>
          </a:ln>
        </p:spPr>
      </p:sp>
      <p:sp>
        <p:nvSpPr>
          <p:cNvPr id="42" name="Shape 39"/>
          <p:cNvSpPr/>
          <p:nvPr/>
        </p:nvSpPr>
        <p:spPr>
          <a:xfrm>
            <a:off x="658368" y="3657600"/>
            <a:ext cx="2109155" cy="54864"/>
          </a:xfrm>
          <a:prstGeom prst="rect">
            <a:avLst/>
          </a:prstGeom>
          <a:solidFill>
            <a:srgbClr val="102A43"/>
          </a:solidFill>
          <a:ln w="12700">
            <a:solidFill>
              <a:srgbClr val="102A43"/>
            </a:solidFill>
            <a:prstDash val="solid"/>
          </a:ln>
        </p:spPr>
      </p:sp>
      <p:sp>
        <p:nvSpPr>
          <p:cNvPr id="43" name="Text 40"/>
          <p:cNvSpPr txBox="1"/>
          <p:nvPr/>
        </p:nvSpPr>
        <p:spPr>
          <a:xfrm>
            <a:off x="822960" y="3822192"/>
            <a:ext cx="1779971" cy="201168"/>
          </a:xfrm>
          <a:prstGeom prst="rect">
            <a:avLst/>
          </a:prstGeom>
          <a:noFill/>
          <a:ln/>
        </p:spPr>
        <p:txBody>
          <a:bodyPr wrap="square" lIns="0" tIns="0" rIns="0" bIns="0" rtlCol="0" anchor="t"/>
          <a:lstStyle/>
          <a:p>
            <a:pPr algn="l" indent="0" marL="0">
              <a:buNone/>
            </a:pPr>
            <a:r>
              <a:rPr lang="en-US" sz="1040" b="1" dirty="0">
                <a:solidFill>
                  <a:srgbClr val="102A43"/>
                </a:solidFill>
                <a:latin typeface="Consolas" pitchFamily="34" charset="0"/>
                <a:ea typeface="Consolas" pitchFamily="34" charset="-122"/>
                <a:cs typeface="Consolas" pitchFamily="34" charset="-120"/>
              </a:rPr>
              <a:t>RF-06</a:t>
            </a:r>
            <a:endParaRPr lang="en-US" sz="1040" dirty="0"/>
          </a:p>
        </p:txBody>
      </p:sp>
      <p:sp>
        <p:nvSpPr>
          <p:cNvPr id="44" name="Text 41"/>
          <p:cNvSpPr txBox="1"/>
          <p:nvPr/>
        </p:nvSpPr>
        <p:spPr>
          <a:xfrm>
            <a:off x="822960" y="4059936"/>
            <a:ext cx="1779971" cy="384048"/>
          </a:xfrm>
          <a:prstGeom prst="rect">
            <a:avLst/>
          </a:prstGeom>
          <a:noFill/>
          <a:ln/>
        </p:spPr>
        <p:txBody>
          <a:bodyPr wrap="square" lIns="0" tIns="0" rIns="0" bIns="0" rtlCol="0" anchor="t"/>
          <a:lstStyle/>
          <a:p>
            <a:pPr algn="l" indent="0" marL="0">
              <a:lnSpc>
                <a:spcPct val="110000"/>
              </a:lnSpc>
              <a:buNone/>
            </a:pPr>
            <a:r>
              <a:rPr lang="en-US" sz="1040" dirty="0">
                <a:solidFill>
                  <a:srgbClr val="243B53"/>
                </a:solidFill>
                <a:latin typeface="Aptos" pitchFamily="34" charset="0"/>
                <a:ea typeface="Aptos" pitchFamily="34" charset="-122"/>
                <a:cs typeface="Aptos" pitchFamily="34" charset="-120"/>
              </a:rPr>
              <a:t>Comprobante de la reserva</a:t>
            </a:r>
            <a:endParaRPr lang="en-US" sz="1040" dirty="0"/>
          </a:p>
        </p:txBody>
      </p:sp>
      <p:sp>
        <p:nvSpPr>
          <p:cNvPr id="45" name="Text 42"/>
          <p:cNvSpPr txBox="1"/>
          <p:nvPr/>
        </p:nvSpPr>
        <p:spPr>
          <a:xfrm>
            <a:off x="822960" y="4462272"/>
            <a:ext cx="548640" cy="329184"/>
          </a:xfrm>
          <a:prstGeom prst="rect">
            <a:avLst/>
          </a:prstGeom>
          <a:noFill/>
          <a:ln/>
        </p:spPr>
        <p:txBody>
          <a:bodyPr wrap="square" lIns="0" tIns="0" rIns="0" bIns="0" rtlCol="0" anchor="t"/>
          <a:lstStyle/>
          <a:p>
            <a:pPr algn="l" indent="0" marL="0">
              <a:buNone/>
            </a:pPr>
            <a:r>
              <a:rPr lang="en-US" sz="2200" b="1" dirty="0">
                <a:solidFill>
                  <a:srgbClr val="243B53"/>
                </a:solidFill>
                <a:latin typeface="Aptos Display" pitchFamily="34" charset="0"/>
                <a:ea typeface="Aptos Display" pitchFamily="34" charset="-122"/>
                <a:cs typeface="Aptos Display" pitchFamily="34" charset="-120"/>
              </a:rPr>
              <a:t>1</a:t>
            </a:r>
            <a:endParaRPr lang="en-US" sz="2200" dirty="0"/>
          </a:p>
        </p:txBody>
      </p:sp>
      <p:sp>
        <p:nvSpPr>
          <p:cNvPr id="46" name="Text 43"/>
          <p:cNvSpPr txBox="1"/>
          <p:nvPr/>
        </p:nvSpPr>
        <p:spPr>
          <a:xfrm>
            <a:off x="1408176" y="4572000"/>
            <a:ext cx="1194755" cy="201168"/>
          </a:xfrm>
          <a:prstGeom prst="rect">
            <a:avLst/>
          </a:prstGeom>
          <a:noFill/>
          <a:ln/>
        </p:spPr>
        <p:txBody>
          <a:bodyPr wrap="square" lIns="0" tIns="0" rIns="0" bIns="0" rtlCol="0" anchor="t"/>
          <a:lstStyle/>
          <a:p>
            <a:pPr algn="l" indent="0" marL="0">
              <a:buNone/>
            </a:pPr>
            <a:r>
              <a:rPr lang="en-US" sz="900" dirty="0">
                <a:solidFill>
                  <a:srgbClr val="52606D"/>
                </a:solidFill>
                <a:latin typeface="Aptos" pitchFamily="34" charset="0"/>
                <a:ea typeface="Aptos" pitchFamily="34" charset="-122"/>
                <a:cs typeface="Aptos" pitchFamily="34" charset="-120"/>
              </a:rPr>
              <a:t>pruebas</a:t>
            </a:r>
            <a:endParaRPr lang="en-US" sz="900" dirty="0"/>
          </a:p>
        </p:txBody>
      </p:sp>
      <p:sp>
        <p:nvSpPr>
          <p:cNvPr id="47" name="Shape 44"/>
          <p:cNvSpPr/>
          <p:nvPr/>
        </p:nvSpPr>
        <p:spPr>
          <a:xfrm>
            <a:off x="2849819" y="3657600"/>
            <a:ext cx="2109155" cy="1225296"/>
          </a:xfrm>
          <a:prstGeom prst="rect">
            <a:avLst/>
          </a:prstGeom>
          <a:solidFill>
            <a:srgbClr val="FFFFFF"/>
          </a:solidFill>
          <a:ln w="12700">
            <a:solidFill>
              <a:srgbClr val="FFFFFF"/>
            </a:solidFill>
            <a:prstDash val="solid"/>
          </a:ln>
        </p:spPr>
      </p:sp>
      <p:sp>
        <p:nvSpPr>
          <p:cNvPr id="48" name="Shape 45"/>
          <p:cNvSpPr/>
          <p:nvPr/>
        </p:nvSpPr>
        <p:spPr>
          <a:xfrm>
            <a:off x="2849819" y="3657600"/>
            <a:ext cx="2109155" cy="54864"/>
          </a:xfrm>
          <a:prstGeom prst="rect">
            <a:avLst/>
          </a:prstGeom>
          <a:solidFill>
            <a:srgbClr val="2E7D4F"/>
          </a:solidFill>
          <a:ln w="12700">
            <a:solidFill>
              <a:srgbClr val="2E7D4F"/>
            </a:solidFill>
            <a:prstDash val="solid"/>
          </a:ln>
        </p:spPr>
      </p:sp>
      <p:sp>
        <p:nvSpPr>
          <p:cNvPr id="49" name="Text 46"/>
          <p:cNvSpPr txBox="1"/>
          <p:nvPr/>
        </p:nvSpPr>
        <p:spPr>
          <a:xfrm>
            <a:off x="3014411" y="3822192"/>
            <a:ext cx="1779971" cy="201168"/>
          </a:xfrm>
          <a:prstGeom prst="rect">
            <a:avLst/>
          </a:prstGeom>
          <a:noFill/>
          <a:ln/>
        </p:spPr>
        <p:txBody>
          <a:bodyPr wrap="square" lIns="0" tIns="0" rIns="0" bIns="0" rtlCol="0" anchor="t"/>
          <a:lstStyle/>
          <a:p>
            <a:pPr algn="l" indent="0" marL="0">
              <a:buNone/>
            </a:pPr>
            <a:r>
              <a:rPr lang="en-US" sz="1040" b="1" dirty="0">
                <a:solidFill>
                  <a:srgbClr val="2E7D4F"/>
                </a:solidFill>
                <a:latin typeface="Consolas" pitchFamily="34" charset="0"/>
                <a:ea typeface="Consolas" pitchFamily="34" charset="-122"/>
                <a:cs typeface="Consolas" pitchFamily="34" charset="-120"/>
              </a:rPr>
              <a:t>RF-07</a:t>
            </a:r>
            <a:endParaRPr lang="en-US" sz="1040" dirty="0"/>
          </a:p>
        </p:txBody>
      </p:sp>
      <p:sp>
        <p:nvSpPr>
          <p:cNvPr id="50" name="Text 47"/>
          <p:cNvSpPr txBox="1"/>
          <p:nvPr/>
        </p:nvSpPr>
        <p:spPr>
          <a:xfrm>
            <a:off x="3014411" y="4059936"/>
            <a:ext cx="1779971" cy="384048"/>
          </a:xfrm>
          <a:prstGeom prst="rect">
            <a:avLst/>
          </a:prstGeom>
          <a:noFill/>
          <a:ln/>
        </p:spPr>
        <p:txBody>
          <a:bodyPr wrap="square" lIns="0" tIns="0" rIns="0" bIns="0" rtlCol="0" anchor="t"/>
          <a:lstStyle/>
          <a:p>
            <a:pPr algn="l" indent="0" marL="0">
              <a:lnSpc>
                <a:spcPct val="110000"/>
              </a:lnSpc>
              <a:buNone/>
            </a:pPr>
            <a:r>
              <a:rPr lang="en-US" sz="1040" dirty="0">
                <a:solidFill>
                  <a:srgbClr val="243B53"/>
                </a:solidFill>
                <a:latin typeface="Aptos" pitchFamily="34" charset="0"/>
                <a:ea typeface="Aptos" pitchFamily="34" charset="-122"/>
                <a:cs typeface="Aptos" pitchFamily="34" charset="-120"/>
              </a:rPr>
              <a:t>Derecho de supresión</a:t>
            </a:r>
            <a:endParaRPr lang="en-US" sz="1040" dirty="0"/>
          </a:p>
        </p:txBody>
      </p:sp>
      <p:sp>
        <p:nvSpPr>
          <p:cNvPr id="51" name="Text 48"/>
          <p:cNvSpPr txBox="1"/>
          <p:nvPr/>
        </p:nvSpPr>
        <p:spPr>
          <a:xfrm>
            <a:off x="3014411" y="4462272"/>
            <a:ext cx="548640" cy="329184"/>
          </a:xfrm>
          <a:prstGeom prst="rect">
            <a:avLst/>
          </a:prstGeom>
          <a:noFill/>
          <a:ln/>
        </p:spPr>
        <p:txBody>
          <a:bodyPr wrap="square" lIns="0" tIns="0" rIns="0" bIns="0" rtlCol="0" anchor="t"/>
          <a:lstStyle/>
          <a:p>
            <a:pPr algn="l" indent="0" marL="0">
              <a:buNone/>
            </a:pPr>
            <a:r>
              <a:rPr lang="en-US" sz="2200" b="1" dirty="0">
                <a:solidFill>
                  <a:srgbClr val="243B53"/>
                </a:solidFill>
                <a:latin typeface="Aptos Display" pitchFamily="34" charset="0"/>
                <a:ea typeface="Aptos Display" pitchFamily="34" charset="-122"/>
                <a:cs typeface="Aptos Display" pitchFamily="34" charset="-120"/>
              </a:rPr>
              <a:t>2</a:t>
            </a:r>
            <a:endParaRPr lang="en-US" sz="2200" dirty="0"/>
          </a:p>
        </p:txBody>
      </p:sp>
      <p:sp>
        <p:nvSpPr>
          <p:cNvPr id="52" name="Text 49"/>
          <p:cNvSpPr txBox="1"/>
          <p:nvPr/>
        </p:nvSpPr>
        <p:spPr>
          <a:xfrm>
            <a:off x="3599627" y="4572000"/>
            <a:ext cx="1194755" cy="201168"/>
          </a:xfrm>
          <a:prstGeom prst="rect">
            <a:avLst/>
          </a:prstGeom>
          <a:noFill/>
          <a:ln/>
        </p:spPr>
        <p:txBody>
          <a:bodyPr wrap="square" lIns="0" tIns="0" rIns="0" bIns="0" rtlCol="0" anchor="t"/>
          <a:lstStyle/>
          <a:p>
            <a:pPr algn="l" indent="0" marL="0">
              <a:buNone/>
            </a:pPr>
            <a:r>
              <a:rPr lang="en-US" sz="900" dirty="0">
                <a:solidFill>
                  <a:srgbClr val="52606D"/>
                </a:solidFill>
                <a:latin typeface="Aptos" pitchFamily="34" charset="0"/>
                <a:ea typeface="Aptos" pitchFamily="34" charset="-122"/>
                <a:cs typeface="Aptos" pitchFamily="34" charset="-120"/>
              </a:rPr>
              <a:t>pruebas</a:t>
            </a:r>
            <a:endParaRPr lang="en-US" sz="900" dirty="0"/>
          </a:p>
        </p:txBody>
      </p:sp>
      <p:sp>
        <p:nvSpPr>
          <p:cNvPr id="53" name="Shape 50"/>
          <p:cNvSpPr/>
          <p:nvPr/>
        </p:nvSpPr>
        <p:spPr>
          <a:xfrm>
            <a:off x="5041270" y="3657600"/>
            <a:ext cx="2109155" cy="1225296"/>
          </a:xfrm>
          <a:prstGeom prst="rect">
            <a:avLst/>
          </a:prstGeom>
          <a:solidFill>
            <a:srgbClr val="F2E7D9"/>
          </a:solidFill>
          <a:ln w="12700">
            <a:solidFill>
              <a:srgbClr val="F2E7D9"/>
            </a:solidFill>
            <a:prstDash val="solid"/>
          </a:ln>
        </p:spPr>
      </p:sp>
      <p:sp>
        <p:nvSpPr>
          <p:cNvPr id="54" name="Shape 51"/>
          <p:cNvSpPr/>
          <p:nvPr/>
        </p:nvSpPr>
        <p:spPr>
          <a:xfrm>
            <a:off x="5041270" y="3657600"/>
            <a:ext cx="2109155" cy="54864"/>
          </a:xfrm>
          <a:prstGeom prst="rect">
            <a:avLst/>
          </a:prstGeom>
          <a:solidFill>
            <a:srgbClr val="B3181E"/>
          </a:solidFill>
          <a:ln w="12700">
            <a:solidFill>
              <a:srgbClr val="B3181E"/>
            </a:solidFill>
            <a:prstDash val="solid"/>
          </a:ln>
        </p:spPr>
      </p:sp>
      <p:sp>
        <p:nvSpPr>
          <p:cNvPr id="55" name="Text 52"/>
          <p:cNvSpPr txBox="1"/>
          <p:nvPr/>
        </p:nvSpPr>
        <p:spPr>
          <a:xfrm>
            <a:off x="5205862" y="3822192"/>
            <a:ext cx="1779971" cy="201168"/>
          </a:xfrm>
          <a:prstGeom prst="rect">
            <a:avLst/>
          </a:prstGeom>
          <a:noFill/>
          <a:ln/>
        </p:spPr>
        <p:txBody>
          <a:bodyPr wrap="square" lIns="0" tIns="0" rIns="0" bIns="0" rtlCol="0" anchor="t"/>
          <a:lstStyle/>
          <a:p>
            <a:pPr algn="l" indent="0" marL="0">
              <a:buNone/>
            </a:pPr>
            <a:r>
              <a:rPr lang="en-US" sz="1040" b="1" dirty="0">
                <a:solidFill>
                  <a:srgbClr val="B3181E"/>
                </a:solidFill>
                <a:latin typeface="Consolas" pitchFamily="34" charset="0"/>
                <a:ea typeface="Consolas" pitchFamily="34" charset="-122"/>
                <a:cs typeface="Consolas" pitchFamily="34" charset="-120"/>
              </a:rPr>
              <a:t>RF-08</a:t>
            </a:r>
            <a:endParaRPr lang="en-US" sz="1040" dirty="0"/>
          </a:p>
        </p:txBody>
      </p:sp>
      <p:sp>
        <p:nvSpPr>
          <p:cNvPr id="56" name="Text 53"/>
          <p:cNvSpPr txBox="1"/>
          <p:nvPr/>
        </p:nvSpPr>
        <p:spPr>
          <a:xfrm>
            <a:off x="5205862" y="4059936"/>
            <a:ext cx="1779971" cy="384048"/>
          </a:xfrm>
          <a:prstGeom prst="rect">
            <a:avLst/>
          </a:prstGeom>
          <a:noFill/>
          <a:ln/>
        </p:spPr>
        <p:txBody>
          <a:bodyPr wrap="square" lIns="0" tIns="0" rIns="0" bIns="0" rtlCol="0" anchor="t"/>
          <a:lstStyle/>
          <a:p>
            <a:pPr algn="l" indent="0" marL="0">
              <a:lnSpc>
                <a:spcPct val="110000"/>
              </a:lnSpc>
              <a:buNone/>
            </a:pPr>
            <a:r>
              <a:rPr lang="en-US" sz="1040" dirty="0">
                <a:solidFill>
                  <a:srgbClr val="243B53"/>
                </a:solidFill>
                <a:latin typeface="Aptos" pitchFamily="34" charset="0"/>
                <a:ea typeface="Aptos" pitchFamily="34" charset="-122"/>
                <a:cs typeface="Aptos" pitchFamily="34" charset="-120"/>
              </a:rPr>
              <a:t>Derecho de acceso</a:t>
            </a:r>
            <a:endParaRPr lang="en-US" sz="1040" dirty="0"/>
          </a:p>
        </p:txBody>
      </p:sp>
      <p:sp>
        <p:nvSpPr>
          <p:cNvPr id="57" name="Text 54"/>
          <p:cNvSpPr txBox="1"/>
          <p:nvPr/>
        </p:nvSpPr>
        <p:spPr>
          <a:xfrm>
            <a:off x="5205862" y="4462272"/>
            <a:ext cx="548640" cy="329184"/>
          </a:xfrm>
          <a:prstGeom prst="rect">
            <a:avLst/>
          </a:prstGeom>
          <a:noFill/>
          <a:ln/>
        </p:spPr>
        <p:txBody>
          <a:bodyPr wrap="square" lIns="0" tIns="0" rIns="0" bIns="0" rtlCol="0" anchor="t"/>
          <a:lstStyle/>
          <a:p>
            <a:pPr algn="l" indent="0" marL="0">
              <a:buNone/>
            </a:pPr>
            <a:r>
              <a:rPr lang="en-US" sz="2200" b="1" dirty="0">
                <a:solidFill>
                  <a:srgbClr val="B3181E"/>
                </a:solidFill>
                <a:latin typeface="Aptos Display" pitchFamily="34" charset="0"/>
                <a:ea typeface="Aptos Display" pitchFamily="34" charset="-122"/>
                <a:cs typeface="Aptos Display" pitchFamily="34" charset="-120"/>
              </a:rPr>
              <a:t>0</a:t>
            </a:r>
            <a:endParaRPr lang="en-US" sz="2200" dirty="0"/>
          </a:p>
        </p:txBody>
      </p:sp>
      <p:sp>
        <p:nvSpPr>
          <p:cNvPr id="58" name="Text 55"/>
          <p:cNvSpPr txBox="1"/>
          <p:nvPr/>
        </p:nvSpPr>
        <p:spPr>
          <a:xfrm>
            <a:off x="5791078" y="4572000"/>
            <a:ext cx="1194755" cy="201168"/>
          </a:xfrm>
          <a:prstGeom prst="rect">
            <a:avLst/>
          </a:prstGeom>
          <a:noFill/>
          <a:ln/>
        </p:spPr>
        <p:txBody>
          <a:bodyPr wrap="square" lIns="0" tIns="0" rIns="0" bIns="0" rtlCol="0" anchor="t"/>
          <a:lstStyle/>
          <a:p>
            <a:pPr algn="l" indent="0" marL="0">
              <a:buNone/>
            </a:pPr>
            <a:r>
              <a:rPr lang="en-US" sz="900" b="1" dirty="0">
                <a:solidFill>
                  <a:srgbClr val="B3181E"/>
                </a:solidFill>
                <a:latin typeface="Aptos" pitchFamily="34" charset="0"/>
                <a:ea typeface="Aptos" pitchFamily="34" charset="-122"/>
                <a:cs typeface="Aptos" pitchFamily="34" charset="-120"/>
              </a:rPr>
              <a:t>sin prueba</a:t>
            </a:r>
            <a:endParaRPr lang="en-US" sz="900" dirty="0"/>
          </a:p>
        </p:txBody>
      </p:sp>
      <p:sp>
        <p:nvSpPr>
          <p:cNvPr id="59" name="Shape 56"/>
          <p:cNvSpPr/>
          <p:nvPr/>
        </p:nvSpPr>
        <p:spPr>
          <a:xfrm>
            <a:off x="7232721" y="3657600"/>
            <a:ext cx="2109155" cy="1225296"/>
          </a:xfrm>
          <a:prstGeom prst="rect">
            <a:avLst/>
          </a:prstGeom>
          <a:solidFill>
            <a:srgbClr val="F2E7D9"/>
          </a:solidFill>
          <a:ln w="12700">
            <a:solidFill>
              <a:srgbClr val="F2E7D9"/>
            </a:solidFill>
            <a:prstDash val="solid"/>
          </a:ln>
        </p:spPr>
      </p:sp>
      <p:sp>
        <p:nvSpPr>
          <p:cNvPr id="60" name="Shape 57"/>
          <p:cNvSpPr/>
          <p:nvPr/>
        </p:nvSpPr>
        <p:spPr>
          <a:xfrm>
            <a:off x="7232721" y="3657600"/>
            <a:ext cx="2109155" cy="54864"/>
          </a:xfrm>
          <a:prstGeom prst="rect">
            <a:avLst/>
          </a:prstGeom>
          <a:solidFill>
            <a:srgbClr val="B3181E"/>
          </a:solidFill>
          <a:ln w="12700">
            <a:solidFill>
              <a:srgbClr val="B3181E"/>
            </a:solidFill>
            <a:prstDash val="solid"/>
          </a:ln>
        </p:spPr>
      </p:sp>
      <p:sp>
        <p:nvSpPr>
          <p:cNvPr id="61" name="Text 58"/>
          <p:cNvSpPr txBox="1"/>
          <p:nvPr/>
        </p:nvSpPr>
        <p:spPr>
          <a:xfrm>
            <a:off x="7397313" y="3822192"/>
            <a:ext cx="1779971" cy="201168"/>
          </a:xfrm>
          <a:prstGeom prst="rect">
            <a:avLst/>
          </a:prstGeom>
          <a:noFill/>
          <a:ln/>
        </p:spPr>
        <p:txBody>
          <a:bodyPr wrap="square" lIns="0" tIns="0" rIns="0" bIns="0" rtlCol="0" anchor="t"/>
          <a:lstStyle/>
          <a:p>
            <a:pPr algn="l" indent="0" marL="0">
              <a:buNone/>
            </a:pPr>
            <a:r>
              <a:rPr lang="en-US" sz="1040" b="1" dirty="0">
                <a:solidFill>
                  <a:srgbClr val="B3181E"/>
                </a:solidFill>
                <a:latin typeface="Consolas" pitchFamily="34" charset="0"/>
                <a:ea typeface="Consolas" pitchFamily="34" charset="-122"/>
                <a:cs typeface="Consolas" pitchFamily="34" charset="-120"/>
              </a:rPr>
              <a:t>RF-09</a:t>
            </a:r>
            <a:endParaRPr lang="en-US" sz="1040" dirty="0"/>
          </a:p>
        </p:txBody>
      </p:sp>
      <p:sp>
        <p:nvSpPr>
          <p:cNvPr id="62" name="Text 59"/>
          <p:cNvSpPr txBox="1"/>
          <p:nvPr/>
        </p:nvSpPr>
        <p:spPr>
          <a:xfrm>
            <a:off x="7397313" y="4059936"/>
            <a:ext cx="1779971" cy="384048"/>
          </a:xfrm>
          <a:prstGeom prst="rect">
            <a:avLst/>
          </a:prstGeom>
          <a:noFill/>
          <a:ln/>
        </p:spPr>
        <p:txBody>
          <a:bodyPr wrap="square" lIns="0" tIns="0" rIns="0" bIns="0" rtlCol="0" anchor="t"/>
          <a:lstStyle/>
          <a:p>
            <a:pPr algn="l" indent="0" marL="0">
              <a:lnSpc>
                <a:spcPct val="110000"/>
              </a:lnSpc>
              <a:buNone/>
            </a:pPr>
            <a:r>
              <a:rPr lang="en-US" sz="1040" dirty="0">
                <a:solidFill>
                  <a:srgbClr val="243B53"/>
                </a:solidFill>
                <a:latin typeface="Aptos" pitchFamily="34" charset="0"/>
                <a:ea typeface="Aptos" pitchFamily="34" charset="-122"/>
                <a:cs typeface="Aptos" pitchFamily="34" charset="-120"/>
              </a:rPr>
              <a:t>Derecho de portabilidad</a:t>
            </a:r>
            <a:endParaRPr lang="en-US" sz="1040" dirty="0"/>
          </a:p>
        </p:txBody>
      </p:sp>
      <p:sp>
        <p:nvSpPr>
          <p:cNvPr id="63" name="Text 60"/>
          <p:cNvSpPr txBox="1"/>
          <p:nvPr/>
        </p:nvSpPr>
        <p:spPr>
          <a:xfrm>
            <a:off x="7397313" y="4462272"/>
            <a:ext cx="548640" cy="329184"/>
          </a:xfrm>
          <a:prstGeom prst="rect">
            <a:avLst/>
          </a:prstGeom>
          <a:noFill/>
          <a:ln/>
        </p:spPr>
        <p:txBody>
          <a:bodyPr wrap="square" lIns="0" tIns="0" rIns="0" bIns="0" rtlCol="0" anchor="t"/>
          <a:lstStyle/>
          <a:p>
            <a:pPr algn="l" indent="0" marL="0">
              <a:buNone/>
            </a:pPr>
            <a:r>
              <a:rPr lang="en-US" sz="2200" b="1" dirty="0">
                <a:solidFill>
                  <a:srgbClr val="B3181E"/>
                </a:solidFill>
                <a:latin typeface="Aptos Display" pitchFamily="34" charset="0"/>
                <a:ea typeface="Aptos Display" pitchFamily="34" charset="-122"/>
                <a:cs typeface="Aptos Display" pitchFamily="34" charset="-120"/>
              </a:rPr>
              <a:t>0</a:t>
            </a:r>
            <a:endParaRPr lang="en-US" sz="2200" dirty="0"/>
          </a:p>
        </p:txBody>
      </p:sp>
      <p:sp>
        <p:nvSpPr>
          <p:cNvPr id="64" name="Text 61"/>
          <p:cNvSpPr txBox="1"/>
          <p:nvPr/>
        </p:nvSpPr>
        <p:spPr>
          <a:xfrm>
            <a:off x="7982529" y="4572000"/>
            <a:ext cx="1194755" cy="201168"/>
          </a:xfrm>
          <a:prstGeom prst="rect">
            <a:avLst/>
          </a:prstGeom>
          <a:noFill/>
          <a:ln/>
        </p:spPr>
        <p:txBody>
          <a:bodyPr wrap="square" lIns="0" tIns="0" rIns="0" bIns="0" rtlCol="0" anchor="t"/>
          <a:lstStyle/>
          <a:p>
            <a:pPr algn="l" indent="0" marL="0">
              <a:buNone/>
            </a:pPr>
            <a:r>
              <a:rPr lang="en-US" sz="900" b="1" dirty="0">
                <a:solidFill>
                  <a:srgbClr val="B3181E"/>
                </a:solidFill>
                <a:latin typeface="Aptos" pitchFamily="34" charset="0"/>
                <a:ea typeface="Aptos" pitchFamily="34" charset="-122"/>
                <a:cs typeface="Aptos" pitchFamily="34" charset="-120"/>
              </a:rPr>
              <a:t>sin prueba</a:t>
            </a:r>
            <a:endParaRPr lang="en-US" sz="900" dirty="0"/>
          </a:p>
        </p:txBody>
      </p:sp>
      <p:sp>
        <p:nvSpPr>
          <p:cNvPr id="65" name="Shape 62"/>
          <p:cNvSpPr/>
          <p:nvPr/>
        </p:nvSpPr>
        <p:spPr>
          <a:xfrm>
            <a:off x="9424172" y="3657600"/>
            <a:ext cx="2109155" cy="1225296"/>
          </a:xfrm>
          <a:prstGeom prst="rect">
            <a:avLst/>
          </a:prstGeom>
          <a:solidFill>
            <a:srgbClr val="F2E7D9"/>
          </a:solidFill>
          <a:ln w="12700">
            <a:solidFill>
              <a:srgbClr val="F2E7D9"/>
            </a:solidFill>
            <a:prstDash val="solid"/>
          </a:ln>
        </p:spPr>
      </p:sp>
      <p:sp>
        <p:nvSpPr>
          <p:cNvPr id="66" name="Shape 63"/>
          <p:cNvSpPr/>
          <p:nvPr/>
        </p:nvSpPr>
        <p:spPr>
          <a:xfrm>
            <a:off x="9424172" y="3657600"/>
            <a:ext cx="2109155" cy="54864"/>
          </a:xfrm>
          <a:prstGeom prst="rect">
            <a:avLst/>
          </a:prstGeom>
          <a:solidFill>
            <a:srgbClr val="B3181E"/>
          </a:solidFill>
          <a:ln w="12700">
            <a:solidFill>
              <a:srgbClr val="B3181E"/>
            </a:solidFill>
            <a:prstDash val="solid"/>
          </a:ln>
        </p:spPr>
      </p:sp>
      <p:sp>
        <p:nvSpPr>
          <p:cNvPr id="67" name="Text 64"/>
          <p:cNvSpPr txBox="1"/>
          <p:nvPr/>
        </p:nvSpPr>
        <p:spPr>
          <a:xfrm>
            <a:off x="9588764" y="3822192"/>
            <a:ext cx="1779971" cy="201168"/>
          </a:xfrm>
          <a:prstGeom prst="rect">
            <a:avLst/>
          </a:prstGeom>
          <a:noFill/>
          <a:ln/>
        </p:spPr>
        <p:txBody>
          <a:bodyPr wrap="square" lIns="0" tIns="0" rIns="0" bIns="0" rtlCol="0" anchor="t"/>
          <a:lstStyle/>
          <a:p>
            <a:pPr algn="l" indent="0" marL="0">
              <a:buNone/>
            </a:pPr>
            <a:r>
              <a:rPr lang="en-US" sz="1040" b="1" dirty="0">
                <a:solidFill>
                  <a:srgbClr val="B3181E"/>
                </a:solidFill>
                <a:latin typeface="Consolas" pitchFamily="34" charset="0"/>
                <a:ea typeface="Consolas" pitchFamily="34" charset="-122"/>
                <a:cs typeface="Consolas" pitchFamily="34" charset="-120"/>
              </a:rPr>
              <a:t>RF-10</a:t>
            </a:r>
            <a:endParaRPr lang="en-US" sz="1040" dirty="0"/>
          </a:p>
        </p:txBody>
      </p:sp>
      <p:sp>
        <p:nvSpPr>
          <p:cNvPr id="68" name="Text 65"/>
          <p:cNvSpPr txBox="1"/>
          <p:nvPr/>
        </p:nvSpPr>
        <p:spPr>
          <a:xfrm>
            <a:off x="9588764" y="4059936"/>
            <a:ext cx="1779971" cy="384048"/>
          </a:xfrm>
          <a:prstGeom prst="rect">
            <a:avLst/>
          </a:prstGeom>
          <a:noFill/>
          <a:ln/>
        </p:spPr>
        <p:txBody>
          <a:bodyPr wrap="square" lIns="0" tIns="0" rIns="0" bIns="0" rtlCol="0" anchor="t"/>
          <a:lstStyle/>
          <a:p>
            <a:pPr algn="l" indent="0" marL="0">
              <a:lnSpc>
                <a:spcPct val="110000"/>
              </a:lnSpc>
              <a:buNone/>
            </a:pPr>
            <a:r>
              <a:rPr lang="en-US" sz="1040" dirty="0">
                <a:solidFill>
                  <a:srgbClr val="243B53"/>
                </a:solidFill>
                <a:latin typeface="Aptos" pitchFamily="34" charset="0"/>
                <a:ea typeface="Aptos" pitchFamily="34" charset="-122"/>
                <a:cs typeface="Aptos" pitchFamily="34" charset="-120"/>
              </a:rPr>
              <a:t>Bloqueo mientras se resuelve</a:t>
            </a:r>
            <a:endParaRPr lang="en-US" sz="1040" dirty="0"/>
          </a:p>
        </p:txBody>
      </p:sp>
      <p:sp>
        <p:nvSpPr>
          <p:cNvPr id="69" name="Text 66"/>
          <p:cNvSpPr txBox="1"/>
          <p:nvPr/>
        </p:nvSpPr>
        <p:spPr>
          <a:xfrm>
            <a:off x="9588764" y="4462272"/>
            <a:ext cx="548640" cy="329184"/>
          </a:xfrm>
          <a:prstGeom prst="rect">
            <a:avLst/>
          </a:prstGeom>
          <a:noFill/>
          <a:ln/>
        </p:spPr>
        <p:txBody>
          <a:bodyPr wrap="square" lIns="0" tIns="0" rIns="0" bIns="0" rtlCol="0" anchor="t"/>
          <a:lstStyle/>
          <a:p>
            <a:pPr algn="l" indent="0" marL="0">
              <a:buNone/>
            </a:pPr>
            <a:r>
              <a:rPr lang="en-US" sz="2200" b="1" dirty="0">
                <a:solidFill>
                  <a:srgbClr val="B3181E"/>
                </a:solidFill>
                <a:latin typeface="Aptos Display" pitchFamily="34" charset="0"/>
                <a:ea typeface="Aptos Display" pitchFamily="34" charset="-122"/>
                <a:cs typeface="Aptos Display" pitchFamily="34" charset="-120"/>
              </a:rPr>
              <a:t>0</a:t>
            </a:r>
            <a:endParaRPr lang="en-US" sz="2200" dirty="0"/>
          </a:p>
        </p:txBody>
      </p:sp>
      <p:sp>
        <p:nvSpPr>
          <p:cNvPr id="70" name="Text 67"/>
          <p:cNvSpPr txBox="1"/>
          <p:nvPr/>
        </p:nvSpPr>
        <p:spPr>
          <a:xfrm>
            <a:off x="10173980" y="4572000"/>
            <a:ext cx="1194755" cy="201168"/>
          </a:xfrm>
          <a:prstGeom prst="rect">
            <a:avLst/>
          </a:prstGeom>
          <a:noFill/>
          <a:ln/>
        </p:spPr>
        <p:txBody>
          <a:bodyPr wrap="square" lIns="0" tIns="0" rIns="0" bIns="0" rtlCol="0" anchor="t"/>
          <a:lstStyle/>
          <a:p>
            <a:pPr algn="l" indent="0" marL="0">
              <a:buNone/>
            </a:pPr>
            <a:r>
              <a:rPr lang="en-US" sz="900" b="1" dirty="0">
                <a:solidFill>
                  <a:srgbClr val="B3181E"/>
                </a:solidFill>
                <a:latin typeface="Aptos" pitchFamily="34" charset="0"/>
                <a:ea typeface="Aptos" pitchFamily="34" charset="-122"/>
                <a:cs typeface="Aptos" pitchFamily="34" charset="-120"/>
              </a:rPr>
              <a:t>sin prueba</a:t>
            </a:r>
            <a:endParaRPr lang="en-US" sz="900" dirty="0"/>
          </a:p>
        </p:txBody>
      </p:sp>
      <p:sp>
        <p:nvSpPr>
          <p:cNvPr id="71" name="Text 68"/>
          <p:cNvSpPr txBox="1"/>
          <p:nvPr/>
        </p:nvSpPr>
        <p:spPr>
          <a:xfrm>
            <a:off x="658368" y="5102352"/>
            <a:ext cx="10874959" cy="274320"/>
          </a:xfrm>
          <a:prstGeom prst="rect">
            <a:avLst/>
          </a:prstGeom>
          <a:noFill/>
          <a:ln/>
        </p:spPr>
        <p:txBody>
          <a:bodyPr wrap="square" lIns="0" tIns="0" rIns="0" bIns="0" rtlCol="0" anchor="t"/>
          <a:lstStyle/>
          <a:p>
            <a:pPr algn="l" indent="0" marL="0">
              <a:buNone/>
            </a:pPr>
            <a:r>
              <a:rPr lang="en-US" sz="1220" dirty="0">
                <a:solidFill>
                  <a:srgbClr val="243B53"/>
                </a:solidFill>
                <a:latin typeface="Aptos" pitchFamily="34" charset="0"/>
                <a:ea typeface="Aptos" pitchFamily="34" charset="-122"/>
                <a:cs typeface="Aptos" pitchFamily="34" charset="-120"/>
              </a:rPr>
              <a:t>Los derechos no necesitaron un artefacto aparte: son filas de la misma matriz. Y el sistema no tiene por dónde ejercer el acceso, la portabilidad ni el bloqueo.</a:t>
            </a:r>
            <a:endParaRPr lang="en-US" sz="1220" dirty="0"/>
          </a:p>
        </p:txBody>
      </p:sp>
      <p:sp>
        <p:nvSpPr>
          <p:cNvPr id="72" name="Shape 69"/>
          <p:cNvSpPr/>
          <p:nvPr/>
        </p:nvSpPr>
        <p:spPr>
          <a:xfrm>
            <a:off x="658368" y="5650992"/>
            <a:ext cx="10874959" cy="548640"/>
          </a:xfrm>
          <a:prstGeom prst="rect">
            <a:avLst/>
          </a:prstGeom>
          <a:solidFill>
            <a:srgbClr val="102A43"/>
          </a:solidFill>
          <a:ln w="12700">
            <a:solidFill>
              <a:srgbClr val="102A43"/>
            </a:solidFill>
            <a:prstDash val="solid"/>
          </a:ln>
        </p:spPr>
      </p:sp>
      <p:sp>
        <p:nvSpPr>
          <p:cNvPr id="73" name="Text 70"/>
          <p:cNvSpPr txBox="1"/>
          <p:nvPr/>
        </p:nvSpPr>
        <p:spPr>
          <a:xfrm>
            <a:off x="950976" y="5687568"/>
            <a:ext cx="10289743" cy="47548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Los huecos ya estaban. Lo que los volvió visibles fue escribir el requisito.</a:t>
            </a:r>
            <a:endParaRPr lang="en-US" sz="138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46</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4 · EL ARCO DE LA SESIÓN</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El mismo modelo, dos resultados distintos</a:t>
            </a:r>
            <a:endParaRPr lang="en-US" sz="3000" dirty="0"/>
          </a:p>
        </p:txBody>
      </p:sp>
      <p:sp>
        <p:nvSpPr>
          <p:cNvPr id="10" name="Text 7"/>
          <p:cNvSpPr txBox="1"/>
          <p:nvPr/>
        </p:nvSpPr>
        <p:spPr>
          <a:xfrm>
            <a:off x="658368" y="1664208"/>
            <a:ext cx="10424160" cy="347472"/>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El experimento del bloque 1 y el de ahora son el mismo, con una sola variable cambiada.</a:t>
            </a:r>
            <a:endParaRPr lang="en-US" sz="1420" dirty="0"/>
          </a:p>
        </p:txBody>
      </p:sp>
      <p:sp>
        <p:nvSpPr>
          <p:cNvPr id="11" name="Shape 8"/>
          <p:cNvSpPr/>
          <p:nvPr/>
        </p:nvSpPr>
        <p:spPr>
          <a:xfrm>
            <a:off x="658368" y="2249424"/>
            <a:ext cx="5358384" cy="1298448"/>
          </a:xfrm>
          <a:prstGeom prst="rect">
            <a:avLst/>
          </a:prstGeom>
          <a:solidFill>
            <a:srgbClr val="F2E7D9"/>
          </a:solidFill>
          <a:ln w="12700">
            <a:solidFill>
              <a:srgbClr val="F2E7D9"/>
            </a:solidFill>
            <a:prstDash val="solid"/>
          </a:ln>
        </p:spPr>
      </p:sp>
      <p:sp>
        <p:nvSpPr>
          <p:cNvPr id="12" name="Shape 9"/>
          <p:cNvSpPr/>
          <p:nvPr/>
        </p:nvSpPr>
        <p:spPr>
          <a:xfrm>
            <a:off x="658368" y="2249424"/>
            <a:ext cx="5358384" cy="54864"/>
          </a:xfrm>
          <a:prstGeom prst="rect">
            <a:avLst/>
          </a:prstGeom>
          <a:solidFill>
            <a:srgbClr val="B3181E"/>
          </a:solidFill>
          <a:ln w="12700">
            <a:solidFill>
              <a:srgbClr val="B3181E"/>
            </a:solidFill>
            <a:prstDash val="solid"/>
          </a:ln>
        </p:spPr>
      </p:sp>
      <p:sp>
        <p:nvSpPr>
          <p:cNvPr id="13" name="Text 10"/>
          <p:cNvSpPr txBox="1"/>
          <p:nvPr/>
        </p:nvSpPr>
        <p:spPr>
          <a:xfrm>
            <a:off x="914400" y="2414016"/>
            <a:ext cx="3657600" cy="256032"/>
          </a:xfrm>
          <a:prstGeom prst="rect">
            <a:avLst/>
          </a:prstGeom>
          <a:noFill/>
          <a:ln/>
        </p:spPr>
        <p:txBody>
          <a:bodyPr wrap="square" lIns="0" tIns="0" rIns="0" bIns="0" rtlCol="0" anchor="t"/>
          <a:lstStyle/>
          <a:p>
            <a:pPr algn="l" indent="0" marL="0">
              <a:buNone/>
            </a:pPr>
            <a:r>
              <a:rPr lang="en-US" sz="1240" b="1" dirty="0">
                <a:solidFill>
                  <a:srgbClr val="B3181E"/>
                </a:solidFill>
                <a:latin typeface="Aptos" pitchFamily="34" charset="0"/>
                <a:ea typeface="Aptos" pitchFamily="34" charset="-122"/>
                <a:cs typeface="Aptos" pitchFamily="34" charset="-120"/>
              </a:rPr>
              <a:t>Bloque 1 · sin requisitos escritos</a:t>
            </a:r>
            <a:endParaRPr lang="en-US" sz="1240" dirty="0"/>
          </a:p>
        </p:txBody>
      </p:sp>
      <p:sp>
        <p:nvSpPr>
          <p:cNvPr id="14" name="Shape 11"/>
          <p:cNvSpPr/>
          <p:nvPr/>
        </p:nvSpPr>
        <p:spPr>
          <a:xfrm>
            <a:off x="4645152" y="2414016"/>
            <a:ext cx="1115568" cy="292608"/>
          </a:xfrm>
          <a:prstGeom prst="rect">
            <a:avLst/>
          </a:prstGeom>
          <a:solidFill>
            <a:srgbClr val="B3181E"/>
          </a:solidFill>
          <a:ln w="12700">
            <a:solidFill>
              <a:srgbClr val="B3181E"/>
            </a:solidFill>
            <a:prstDash val="solid"/>
          </a:ln>
        </p:spPr>
      </p:sp>
      <p:sp>
        <p:nvSpPr>
          <p:cNvPr id="15" name="Text 12"/>
          <p:cNvSpPr txBox="1"/>
          <p:nvPr/>
        </p:nvSpPr>
        <p:spPr>
          <a:xfrm>
            <a:off x="4700016" y="2459736"/>
            <a:ext cx="1005840" cy="201168"/>
          </a:xfrm>
          <a:prstGeom prst="rect">
            <a:avLst/>
          </a:prstGeom>
          <a:noFill/>
          <a:ln/>
        </p:spPr>
        <p:txBody>
          <a:bodyPr wrap="square" lIns="0" tIns="0" rIns="0" bIns="0" rtlCol="0" anchor="ctr"/>
          <a:lstStyle/>
          <a:p>
            <a:pPr algn="ctr" indent="0" marL="0">
              <a:buNone/>
            </a:pPr>
            <a:r>
              <a:rPr lang="en-US" sz="940" b="1" spc="80" kern="0" dirty="0">
                <a:solidFill>
                  <a:srgbClr val="FFFFFF"/>
                </a:solidFill>
                <a:latin typeface="Aptos" pitchFamily="34" charset="0"/>
                <a:ea typeface="Aptos" pitchFamily="34" charset="-122"/>
                <a:cs typeface="Aptos" pitchFamily="34" charset="-120"/>
              </a:rPr>
              <a:t>SUERTE</a:t>
            </a:r>
            <a:endParaRPr lang="en-US" sz="940" dirty="0"/>
          </a:p>
        </p:txBody>
      </p:sp>
      <p:sp>
        <p:nvSpPr>
          <p:cNvPr id="16" name="Text 13"/>
          <p:cNvSpPr txBox="1"/>
          <p:nvPr/>
        </p:nvSpPr>
        <p:spPr>
          <a:xfrm>
            <a:off x="914400" y="2779776"/>
            <a:ext cx="4846320" cy="640080"/>
          </a:xfrm>
          <a:prstGeom prst="rect">
            <a:avLst/>
          </a:prstGeom>
          <a:noFill/>
          <a:ln/>
        </p:spPr>
        <p:txBody>
          <a:bodyPr wrap="square" lIns="0" tIns="0" rIns="0" bIns="0" rtlCol="0" anchor="t"/>
          <a:lstStyle/>
          <a:p>
            <a:pPr algn="l" indent="0" marL="0">
              <a:lnSpc>
                <a:spcPct val="114000"/>
              </a:lnSpc>
              <a:buNone/>
            </a:pPr>
            <a:r>
              <a:rPr lang="en-US" sz="1080" dirty="0">
                <a:solidFill>
                  <a:srgbClr val="243B53"/>
                </a:solidFill>
                <a:latin typeface="Aptos" pitchFamily="34" charset="0"/>
                <a:ea typeface="Aptos" pitchFamily="34" charset="-122"/>
                <a:cs typeface="Aptos" pitchFamily="34" charset="-120"/>
              </a:rPr>
              <a:t>Tuvo que inferir la regla del nombre de una constante. Acertó, y el documento no deja ver que adivinó.</a:t>
            </a:r>
            <a:endParaRPr lang="en-US" sz="1080" dirty="0"/>
          </a:p>
        </p:txBody>
      </p:sp>
      <p:sp>
        <p:nvSpPr>
          <p:cNvPr id="17" name="Shape 14"/>
          <p:cNvSpPr/>
          <p:nvPr/>
        </p:nvSpPr>
        <p:spPr>
          <a:xfrm>
            <a:off x="6181344" y="2249424"/>
            <a:ext cx="5358384" cy="1298448"/>
          </a:xfrm>
          <a:prstGeom prst="rect">
            <a:avLst/>
          </a:prstGeom>
          <a:solidFill>
            <a:srgbClr val="FFFFFF"/>
          </a:solidFill>
          <a:ln w="12700">
            <a:solidFill>
              <a:srgbClr val="FFFFFF"/>
            </a:solidFill>
            <a:prstDash val="solid"/>
          </a:ln>
        </p:spPr>
      </p:sp>
      <p:sp>
        <p:nvSpPr>
          <p:cNvPr id="18" name="Shape 15"/>
          <p:cNvSpPr/>
          <p:nvPr/>
        </p:nvSpPr>
        <p:spPr>
          <a:xfrm>
            <a:off x="6181344" y="2249424"/>
            <a:ext cx="5358384" cy="54864"/>
          </a:xfrm>
          <a:prstGeom prst="rect">
            <a:avLst/>
          </a:prstGeom>
          <a:solidFill>
            <a:srgbClr val="2E7D4F"/>
          </a:solidFill>
          <a:ln w="12700">
            <a:solidFill>
              <a:srgbClr val="2E7D4F"/>
            </a:solidFill>
            <a:prstDash val="solid"/>
          </a:ln>
        </p:spPr>
      </p:sp>
      <p:sp>
        <p:nvSpPr>
          <p:cNvPr id="19" name="Text 16"/>
          <p:cNvSpPr txBox="1"/>
          <p:nvPr/>
        </p:nvSpPr>
        <p:spPr>
          <a:xfrm>
            <a:off x="6437376" y="2414016"/>
            <a:ext cx="3657600" cy="256032"/>
          </a:xfrm>
          <a:prstGeom prst="rect">
            <a:avLst/>
          </a:prstGeom>
          <a:noFill/>
          <a:ln/>
        </p:spPr>
        <p:txBody>
          <a:bodyPr wrap="square" lIns="0" tIns="0" rIns="0" bIns="0" rtlCol="0" anchor="t"/>
          <a:lstStyle/>
          <a:p>
            <a:pPr algn="l" indent="0" marL="0">
              <a:buNone/>
            </a:pPr>
            <a:r>
              <a:rPr lang="en-US" sz="1240" b="1" dirty="0">
                <a:solidFill>
                  <a:srgbClr val="2E7D4F"/>
                </a:solidFill>
                <a:latin typeface="Aptos" pitchFamily="34" charset="0"/>
                <a:ea typeface="Aptos" pitchFamily="34" charset="-122"/>
                <a:cs typeface="Aptos" pitchFamily="34" charset="-120"/>
              </a:rPr>
              <a:t>Bloque 4 · con el requisito escrito</a:t>
            </a:r>
            <a:endParaRPr lang="en-US" sz="1240" dirty="0"/>
          </a:p>
        </p:txBody>
      </p:sp>
      <p:sp>
        <p:nvSpPr>
          <p:cNvPr id="20" name="Shape 17"/>
          <p:cNvSpPr/>
          <p:nvPr/>
        </p:nvSpPr>
        <p:spPr>
          <a:xfrm>
            <a:off x="10168128" y="2414016"/>
            <a:ext cx="1115568" cy="292608"/>
          </a:xfrm>
          <a:prstGeom prst="rect">
            <a:avLst/>
          </a:prstGeom>
          <a:solidFill>
            <a:srgbClr val="2E7D4F"/>
          </a:solidFill>
          <a:ln w="12700">
            <a:solidFill>
              <a:srgbClr val="2E7D4F"/>
            </a:solidFill>
            <a:prstDash val="solid"/>
          </a:ln>
        </p:spPr>
      </p:sp>
      <p:sp>
        <p:nvSpPr>
          <p:cNvPr id="21" name="Text 18"/>
          <p:cNvSpPr txBox="1"/>
          <p:nvPr/>
        </p:nvSpPr>
        <p:spPr>
          <a:xfrm>
            <a:off x="10222992" y="2459736"/>
            <a:ext cx="1005840" cy="201168"/>
          </a:xfrm>
          <a:prstGeom prst="rect">
            <a:avLst/>
          </a:prstGeom>
          <a:noFill/>
          <a:ln/>
        </p:spPr>
        <p:txBody>
          <a:bodyPr wrap="square" lIns="0" tIns="0" rIns="0" bIns="0" rtlCol="0" anchor="ctr"/>
          <a:lstStyle/>
          <a:p>
            <a:pPr algn="ctr" indent="0" marL="0">
              <a:buNone/>
            </a:pPr>
            <a:r>
              <a:rPr lang="en-US" sz="940" b="1" spc="80" kern="0" dirty="0">
                <a:solidFill>
                  <a:srgbClr val="FFFFFF"/>
                </a:solidFill>
                <a:latin typeface="Aptos" pitchFamily="34" charset="0"/>
                <a:ea typeface="Aptos" pitchFamily="34" charset="-122"/>
                <a:cs typeface="Aptos" pitchFamily="34" charset="-120"/>
              </a:rPr>
              <a:t>RIGOR</a:t>
            </a:r>
            <a:endParaRPr lang="en-US" sz="940" dirty="0"/>
          </a:p>
        </p:txBody>
      </p:sp>
      <p:sp>
        <p:nvSpPr>
          <p:cNvPr id="22" name="Text 19"/>
          <p:cNvSpPr txBox="1"/>
          <p:nvPr/>
        </p:nvSpPr>
        <p:spPr>
          <a:xfrm>
            <a:off x="6437376" y="2779776"/>
            <a:ext cx="4846320" cy="640080"/>
          </a:xfrm>
          <a:prstGeom prst="rect">
            <a:avLst/>
          </a:prstGeom>
          <a:noFill/>
          <a:ln/>
        </p:spPr>
        <p:txBody>
          <a:bodyPr wrap="square" lIns="0" tIns="0" rIns="0" bIns="0" rtlCol="0" anchor="t"/>
          <a:lstStyle/>
          <a:p>
            <a:pPr algn="l" indent="0" marL="0">
              <a:lnSpc>
                <a:spcPct val="114000"/>
              </a:lnSpc>
              <a:buNone/>
            </a:pPr>
            <a:r>
              <a:rPr lang="en-US" sz="1080" dirty="0">
                <a:solidFill>
                  <a:srgbClr val="243B53"/>
                </a:solidFill>
                <a:latin typeface="Aptos" pitchFamily="34" charset="0"/>
                <a:ea typeface="Aptos" pitchFamily="34" charset="-122"/>
                <a:cs typeface="Aptos" pitchFamily="34" charset="-120"/>
              </a:rPr>
              <a:t>Recibió una magnitud, un método y un umbral. Devolvió una prueba que recorre todas las tablas sin suponer sus nombres.</a:t>
            </a:r>
            <a:endParaRPr lang="en-US" sz="1080" dirty="0"/>
          </a:p>
        </p:txBody>
      </p:sp>
      <p:sp>
        <p:nvSpPr>
          <p:cNvPr id="23" name="Text 20"/>
          <p:cNvSpPr txBox="1"/>
          <p:nvPr/>
        </p:nvSpPr>
        <p:spPr>
          <a:xfrm>
            <a:off x="658368" y="3694176"/>
            <a:ext cx="7315200" cy="201168"/>
          </a:xfrm>
          <a:prstGeom prst="rect">
            <a:avLst/>
          </a:prstGeom>
          <a:noFill/>
          <a:ln/>
        </p:spPr>
        <p:txBody>
          <a:bodyPr wrap="square" lIns="0" tIns="0" rIns="0" bIns="0" rtlCol="0" anchor="t"/>
          <a:lstStyle/>
          <a:p>
            <a:pPr algn="l" indent="0" marL="0">
              <a:buNone/>
            </a:pPr>
            <a:r>
              <a:rPr lang="en-US" sz="960" b="1" spc="130" kern="0" dirty="0">
                <a:solidFill>
                  <a:srgbClr val="D62027"/>
                </a:solidFill>
                <a:latin typeface="Aptos" pitchFamily="34" charset="0"/>
                <a:ea typeface="Aptos" pitchFamily="34" charset="-122"/>
                <a:cs typeface="Aptos" pitchFamily="34" charset="-120"/>
              </a:rPr>
              <a:t>LO QUE AGREGÓ POR SU CUENTA, Y LA VERSIÓN DE LA CLASE NO TENÍA</a:t>
            </a:r>
            <a:endParaRPr lang="en-US" sz="960" dirty="0"/>
          </a:p>
        </p:txBody>
      </p:sp>
      <p:sp>
        <p:nvSpPr>
          <p:cNvPr id="24" name="Shape 21"/>
          <p:cNvSpPr/>
          <p:nvPr/>
        </p:nvSpPr>
        <p:spPr>
          <a:xfrm>
            <a:off x="658368" y="3950208"/>
            <a:ext cx="6675120" cy="1298448"/>
          </a:xfrm>
          <a:prstGeom prst="roundRect">
            <a:avLst>
              <a:gd name="adj" fmla="val 2817"/>
            </a:avLst>
          </a:prstGeom>
          <a:solidFill>
            <a:srgbClr val="102A43"/>
          </a:solidFill>
          <a:ln w="12700">
            <a:solidFill>
              <a:srgbClr val="102A43"/>
            </a:solidFill>
            <a:prstDash val="solid"/>
          </a:ln>
        </p:spPr>
      </p:sp>
      <p:pic>
        <p:nvPicPr>
          <p:cNvPr id="25"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77824" y="4517136"/>
            <a:ext cx="6254496" cy="548640"/>
          </a:xfrm>
          <a:prstGeom prst="rect">
            <a:avLst/>
          </a:prstGeom>
        </p:spPr>
      </p:pic>
      <p:sp>
        <p:nvSpPr>
          <p:cNvPr id="26" name="Shape 22"/>
          <p:cNvSpPr/>
          <p:nvPr/>
        </p:nvSpPr>
        <p:spPr>
          <a:xfrm>
            <a:off x="7552944" y="3950208"/>
            <a:ext cx="3986784" cy="1188720"/>
          </a:xfrm>
          <a:prstGeom prst="rect">
            <a:avLst/>
          </a:prstGeom>
          <a:solidFill>
            <a:srgbClr val="EDE6DA"/>
          </a:solidFill>
          <a:ln w="12700">
            <a:solidFill>
              <a:srgbClr val="EDE6DA"/>
            </a:solidFill>
            <a:prstDash val="solid"/>
          </a:ln>
        </p:spPr>
      </p:sp>
      <p:sp>
        <p:nvSpPr>
          <p:cNvPr id="27" name="Shape 23"/>
          <p:cNvSpPr/>
          <p:nvPr/>
        </p:nvSpPr>
        <p:spPr>
          <a:xfrm>
            <a:off x="7552944" y="3950208"/>
            <a:ext cx="54864" cy="1188720"/>
          </a:xfrm>
          <a:prstGeom prst="rect">
            <a:avLst/>
          </a:prstGeom>
          <a:solidFill>
            <a:srgbClr val="102A43"/>
          </a:solidFill>
          <a:ln w="12700">
            <a:solidFill>
              <a:srgbClr val="102A43"/>
            </a:solidFill>
            <a:prstDash val="solid"/>
          </a:ln>
        </p:spPr>
      </p:sp>
      <p:sp>
        <p:nvSpPr>
          <p:cNvPr id="28" name="Text 24"/>
          <p:cNvSpPr txBox="1"/>
          <p:nvPr/>
        </p:nvSpPr>
        <p:spPr>
          <a:xfrm>
            <a:off x="7790688" y="4078224"/>
            <a:ext cx="3566160" cy="402336"/>
          </a:xfrm>
          <a:prstGeom prst="rect">
            <a:avLst/>
          </a:prstGeom>
          <a:noFill/>
          <a:ln/>
        </p:spPr>
        <p:txBody>
          <a:bodyPr wrap="square" lIns="0" tIns="0" rIns="0" bIns="0" rtlCol="0" anchor="t"/>
          <a:lstStyle/>
          <a:p>
            <a:pPr algn="l" indent="0" marL="0">
              <a:lnSpc>
                <a:spcPct val="110000"/>
              </a:lnSpc>
              <a:buNone/>
            </a:pPr>
            <a:r>
              <a:rPr lang="en-US" sz="1120" b="1" dirty="0">
                <a:solidFill>
                  <a:srgbClr val="102A43"/>
                </a:solidFill>
                <a:latin typeface="Aptos" pitchFamily="34" charset="0"/>
                <a:ea typeface="Aptos" pitchFamily="34" charset="-122"/>
                <a:cs typeface="Aptos" pitchFamily="34" charset="-120"/>
              </a:rPr>
              <a:t>Exige que los datos de otra persona sigan ahí</a:t>
            </a:r>
            <a:endParaRPr lang="en-US" sz="1120" dirty="0"/>
          </a:p>
        </p:txBody>
      </p:sp>
      <p:sp>
        <p:nvSpPr>
          <p:cNvPr id="29" name="Text 25"/>
          <p:cNvSpPr txBox="1"/>
          <p:nvPr/>
        </p:nvSpPr>
        <p:spPr>
          <a:xfrm>
            <a:off x="7790688" y="4517136"/>
            <a:ext cx="3566160" cy="548640"/>
          </a:xfrm>
          <a:prstGeom prst="rect">
            <a:avLst/>
          </a:prstGeom>
          <a:noFill/>
          <a:ln/>
        </p:spPr>
        <p:txBody>
          <a:bodyPr wrap="square" lIns="0" tIns="0" rIns="0" bIns="0" rtlCol="0" anchor="t"/>
          <a:lstStyle/>
          <a:p>
            <a:pPr algn="l" indent="0" marL="0">
              <a:lnSpc>
                <a:spcPct val="112000"/>
              </a:lnSpc>
              <a:buNone/>
            </a:pPr>
            <a:r>
              <a:rPr lang="en-US" sz="960" dirty="0">
                <a:solidFill>
                  <a:srgbClr val="243B53"/>
                </a:solidFill>
                <a:latin typeface="Aptos" pitchFamily="34" charset="0"/>
                <a:ea typeface="Aptos" pitchFamily="34" charset="-122"/>
                <a:cs typeface="Aptos" pitchFamily="34" charset="-120"/>
              </a:rPr>
              <a:t>Protege contra una supresión que borre de más, y contra una prueba que pasa por vacío: si nada se guardó, la segunda línea lo delata.</a:t>
            </a:r>
            <a:endParaRPr lang="en-US" sz="960" dirty="0"/>
          </a:p>
        </p:txBody>
      </p:sp>
      <p:sp>
        <p:nvSpPr>
          <p:cNvPr id="30" name="Shape 26"/>
          <p:cNvSpPr/>
          <p:nvPr/>
        </p:nvSpPr>
        <p:spPr>
          <a:xfrm>
            <a:off x="658368" y="5266944"/>
            <a:ext cx="10874959" cy="292608"/>
          </a:xfrm>
          <a:prstGeom prst="rect">
            <a:avLst/>
          </a:prstGeom>
          <a:solidFill>
            <a:srgbClr val="1D3A57"/>
          </a:solidFill>
          <a:ln w="12700">
            <a:solidFill>
              <a:srgbClr val="1D3A57"/>
            </a:solidFill>
            <a:prstDash val="solid"/>
          </a:ln>
        </p:spPr>
      </p:sp>
      <p:sp>
        <p:nvSpPr>
          <p:cNvPr id="31" name="Text 27"/>
          <p:cNvSpPr txBox="1"/>
          <p:nvPr/>
        </p:nvSpPr>
        <p:spPr>
          <a:xfrm>
            <a:off x="932688" y="5303520"/>
            <a:ext cx="10326319" cy="219456"/>
          </a:xfrm>
          <a:prstGeom prst="rect">
            <a:avLst/>
          </a:prstGeom>
          <a:noFill/>
          <a:ln/>
        </p:spPr>
        <p:txBody>
          <a:bodyPr wrap="square" lIns="0" tIns="0" rIns="0" bIns="0" rtlCol="0" anchor="t"/>
          <a:lstStyle/>
          <a:p>
            <a:pPr algn="l" indent="0" marL="0">
              <a:buNone/>
            </a:pPr>
            <a:r>
              <a:rPr lang="en-US" sz="1200" b="1" dirty="0">
                <a:solidFill>
                  <a:srgbClr val="FFFFFF"/>
                </a:solidFill>
                <a:latin typeface="Aptos" pitchFamily="34" charset="0"/>
                <a:ea typeface="Aptos" pitchFamily="34" charset="-122"/>
                <a:cs typeface="Aptos" pitchFamily="34" charset="-120"/>
              </a:rPr>
              <a:t>El modelo es el mismo en los dos casos. Lo que cambió fue que alguien hizo el trabajo de esta sesión.</a:t>
            </a:r>
            <a:endParaRPr lang="en-US" sz="1200" dirty="0"/>
          </a:p>
        </p:txBody>
      </p:sp>
      <p:sp>
        <p:nvSpPr>
          <p:cNvPr id="32" name="Shape 28"/>
          <p:cNvSpPr/>
          <p:nvPr/>
        </p:nvSpPr>
        <p:spPr>
          <a:xfrm>
            <a:off x="658368" y="5669280"/>
            <a:ext cx="10874959" cy="457200"/>
          </a:xfrm>
          <a:prstGeom prst="rect">
            <a:avLst/>
          </a:prstGeom>
          <a:solidFill>
            <a:srgbClr val="102A43"/>
          </a:solidFill>
          <a:ln w="12700">
            <a:solidFill>
              <a:srgbClr val="102A43"/>
            </a:solidFill>
            <a:prstDash val="solid"/>
          </a:ln>
        </p:spPr>
      </p:sp>
      <p:sp>
        <p:nvSpPr>
          <p:cNvPr id="33" name="Text 29"/>
          <p:cNvSpPr txBox="1"/>
          <p:nvPr/>
        </p:nvSpPr>
        <p:spPr>
          <a:xfrm>
            <a:off x="950976" y="5705856"/>
            <a:ext cx="10289743" cy="38404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Escribir el requisito exige decidir qué le debe el sistema a una persona.</a:t>
            </a:r>
            <a:endParaRPr lang="en-US" sz="138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47</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4 · CIERRE</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Tres preguntas antes de cerrar</a:t>
            </a:r>
            <a:endParaRPr lang="en-US" sz="3000" dirty="0"/>
          </a:p>
        </p:txBody>
      </p:sp>
      <p:sp>
        <p:nvSpPr>
          <p:cNvPr id="10" name="Text 7"/>
          <p:cNvSpPr txBox="1"/>
          <p:nvPr/>
        </p:nvSpPr>
        <p:spPr>
          <a:xfrm>
            <a:off x="658368" y="1664208"/>
            <a:ext cx="10424160" cy="329184"/>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Tres preguntas para comprobar la idea central antes de seguir.</a:t>
            </a:r>
            <a:endParaRPr lang="en-US" sz="1420" dirty="0"/>
          </a:p>
        </p:txBody>
      </p:sp>
      <p:sp>
        <p:nvSpPr>
          <p:cNvPr id="11" name="Shape 8"/>
          <p:cNvSpPr/>
          <p:nvPr/>
        </p:nvSpPr>
        <p:spPr>
          <a:xfrm>
            <a:off x="658368" y="2139696"/>
            <a:ext cx="10874959" cy="1097280"/>
          </a:xfrm>
          <a:prstGeom prst="rect">
            <a:avLst/>
          </a:prstGeom>
          <a:solidFill>
            <a:srgbClr val="F2E7D9"/>
          </a:solidFill>
          <a:ln w="12700">
            <a:solidFill>
              <a:srgbClr val="F2E7D9"/>
            </a:solidFill>
            <a:prstDash val="solid"/>
          </a:ln>
        </p:spPr>
      </p:sp>
      <p:sp>
        <p:nvSpPr>
          <p:cNvPr id="12" name="Shape 9"/>
          <p:cNvSpPr/>
          <p:nvPr/>
        </p:nvSpPr>
        <p:spPr>
          <a:xfrm>
            <a:off x="658368" y="2139696"/>
            <a:ext cx="54864" cy="1097280"/>
          </a:xfrm>
          <a:prstGeom prst="rect">
            <a:avLst/>
          </a:prstGeom>
          <a:solidFill>
            <a:srgbClr val="B3181E"/>
          </a:solidFill>
          <a:ln w="12700">
            <a:solidFill>
              <a:srgbClr val="B3181E"/>
            </a:solidFill>
            <a:prstDash val="solid"/>
          </a:ln>
        </p:spPr>
      </p:sp>
      <p:sp>
        <p:nvSpPr>
          <p:cNvPr id="13" name="Text 10"/>
          <p:cNvSpPr txBox="1"/>
          <p:nvPr/>
        </p:nvSpPr>
        <p:spPr>
          <a:xfrm>
            <a:off x="914400" y="2286000"/>
            <a:ext cx="493776" cy="420624"/>
          </a:xfrm>
          <a:prstGeom prst="rect">
            <a:avLst/>
          </a:prstGeom>
          <a:noFill/>
          <a:ln/>
        </p:spPr>
        <p:txBody>
          <a:bodyPr wrap="square" lIns="0" tIns="0" rIns="0" bIns="0" rtlCol="0" anchor="ctr"/>
          <a:lstStyle/>
          <a:p>
            <a:pPr algn="ctr" indent="0" marL="0">
              <a:buNone/>
            </a:pPr>
            <a:r>
              <a:rPr lang="en-US" sz="2600" b="1" dirty="0">
                <a:solidFill>
                  <a:srgbClr val="B3181E"/>
                </a:solidFill>
                <a:latin typeface="Aptos Display" pitchFamily="34" charset="0"/>
                <a:ea typeface="Aptos Display" pitchFamily="34" charset="-122"/>
                <a:cs typeface="Aptos Display" pitchFamily="34" charset="-120"/>
              </a:rPr>
              <a:t>1</a:t>
            </a:r>
            <a:endParaRPr lang="en-US" sz="2600" dirty="0"/>
          </a:p>
        </p:txBody>
      </p:sp>
      <p:sp>
        <p:nvSpPr>
          <p:cNvPr id="14" name="Text 11"/>
          <p:cNvSpPr txBox="1"/>
          <p:nvPr/>
        </p:nvSpPr>
        <p:spPr>
          <a:xfrm>
            <a:off x="1591056" y="2267712"/>
            <a:ext cx="9649663" cy="457200"/>
          </a:xfrm>
          <a:prstGeom prst="rect">
            <a:avLst/>
          </a:prstGeom>
          <a:noFill/>
          <a:ln/>
        </p:spPr>
        <p:txBody>
          <a:bodyPr wrap="square" lIns="0" tIns="0" rIns="0" bIns="0" rtlCol="0" anchor="t"/>
          <a:lstStyle/>
          <a:p>
            <a:pPr algn="l" indent="0" marL="0">
              <a:lnSpc>
                <a:spcPct val="114000"/>
              </a:lnSpc>
              <a:buNone/>
            </a:pPr>
            <a:r>
              <a:rPr lang="en-US" sz="1340" dirty="0">
                <a:solidFill>
                  <a:srgbClr val="243B53"/>
                </a:solidFill>
                <a:latin typeface="Aptos" pitchFamily="34" charset="0"/>
                <a:ea typeface="Aptos" pitchFamily="34" charset="-122"/>
                <a:cs typeface="Aptos" pitchFamily="34" charset="-120"/>
              </a:rPr>
              <a:t>Las dos pruebas comprueban el mismo requisito sobre el mismo sistema y dan resultados opuestos. ¿Cuál de las dos estaba mal escrita?</a:t>
            </a:r>
            <a:endParaRPr lang="en-US" sz="1340" dirty="0"/>
          </a:p>
        </p:txBody>
      </p:sp>
      <p:sp>
        <p:nvSpPr>
          <p:cNvPr id="15" name="Shape 12"/>
          <p:cNvSpPr/>
          <p:nvPr/>
        </p:nvSpPr>
        <p:spPr>
          <a:xfrm>
            <a:off x="1591056" y="2798064"/>
            <a:ext cx="9649663" cy="0"/>
          </a:xfrm>
          <a:prstGeom prst="line">
            <a:avLst/>
          </a:prstGeom>
          <a:noFill/>
          <a:ln w="12700">
            <a:solidFill>
              <a:srgbClr val="D8CFC4"/>
            </a:solidFill>
            <a:prstDash val="solid"/>
            <a:headEnd type="none"/>
            <a:tailEnd type="none"/>
          </a:ln>
        </p:spPr>
      </p:sp>
      <p:sp>
        <p:nvSpPr>
          <p:cNvPr id="16" name="Text 13"/>
          <p:cNvSpPr txBox="1"/>
          <p:nvPr/>
        </p:nvSpPr>
        <p:spPr>
          <a:xfrm>
            <a:off x="1591056" y="2889504"/>
            <a:ext cx="640080" cy="164592"/>
          </a:xfrm>
          <a:prstGeom prst="rect">
            <a:avLst/>
          </a:prstGeom>
          <a:noFill/>
          <a:ln/>
        </p:spPr>
        <p:txBody>
          <a:bodyPr wrap="square" lIns="0" tIns="0" rIns="0" bIns="0" rtlCol="0" anchor="t"/>
          <a:lstStyle/>
          <a:p>
            <a:pPr algn="l" indent="0" marL="0">
              <a:buNone/>
            </a:pPr>
            <a:r>
              <a:rPr lang="en-US" sz="840" b="1" spc="110" kern="0" dirty="0">
                <a:solidFill>
                  <a:srgbClr val="B3181E"/>
                </a:solidFill>
                <a:latin typeface="Aptos" pitchFamily="34" charset="0"/>
                <a:ea typeface="Aptos" pitchFamily="34" charset="-122"/>
                <a:cs typeface="Aptos" pitchFamily="34" charset="-120"/>
              </a:rPr>
              <a:t>PISTA</a:t>
            </a:r>
            <a:endParaRPr lang="en-US" sz="840" dirty="0"/>
          </a:p>
        </p:txBody>
      </p:sp>
      <p:sp>
        <p:nvSpPr>
          <p:cNvPr id="17" name="Text 14"/>
          <p:cNvSpPr txBox="1"/>
          <p:nvPr/>
        </p:nvSpPr>
        <p:spPr>
          <a:xfrm>
            <a:off x="2286000" y="2862072"/>
            <a:ext cx="8954719" cy="256032"/>
          </a:xfrm>
          <a:prstGeom prst="rect">
            <a:avLst/>
          </a:prstGeom>
          <a:noFill/>
          <a:ln/>
        </p:spPr>
        <p:txBody>
          <a:bodyPr wrap="square" lIns="0" tIns="0" rIns="0" bIns="0" rtlCol="0" anchor="t"/>
          <a:lstStyle/>
          <a:p>
            <a:pPr algn="l" indent="0" marL="0">
              <a:buNone/>
            </a:pPr>
            <a:r>
              <a:rPr lang="en-US" sz="1140" i="1" dirty="0">
                <a:solidFill>
                  <a:srgbClr val="52606D"/>
                </a:solidFill>
                <a:latin typeface="Aptos" pitchFamily="34" charset="0"/>
                <a:ea typeface="Aptos" pitchFamily="34" charset="-122"/>
                <a:cs typeface="Aptos" pitchFamily="34" charset="-120"/>
              </a:rPr>
              <a:t>Ninguna tiene un error de programación. Compara lo que dice el requisito con lo que mira cada una.</a:t>
            </a:r>
            <a:endParaRPr lang="en-US" sz="1140" dirty="0"/>
          </a:p>
        </p:txBody>
      </p:sp>
      <p:sp>
        <p:nvSpPr>
          <p:cNvPr id="18" name="Shape 15"/>
          <p:cNvSpPr/>
          <p:nvPr/>
        </p:nvSpPr>
        <p:spPr>
          <a:xfrm>
            <a:off x="658368" y="3364992"/>
            <a:ext cx="10874959" cy="1097280"/>
          </a:xfrm>
          <a:prstGeom prst="rect">
            <a:avLst/>
          </a:prstGeom>
          <a:solidFill>
            <a:srgbClr val="EDE6DA"/>
          </a:solidFill>
          <a:ln w="12700">
            <a:solidFill>
              <a:srgbClr val="EDE6DA"/>
            </a:solidFill>
            <a:prstDash val="solid"/>
          </a:ln>
        </p:spPr>
      </p:sp>
      <p:sp>
        <p:nvSpPr>
          <p:cNvPr id="19" name="Shape 16"/>
          <p:cNvSpPr/>
          <p:nvPr/>
        </p:nvSpPr>
        <p:spPr>
          <a:xfrm>
            <a:off x="658368" y="3364992"/>
            <a:ext cx="54864" cy="1097280"/>
          </a:xfrm>
          <a:prstGeom prst="rect">
            <a:avLst/>
          </a:prstGeom>
          <a:solidFill>
            <a:srgbClr val="102A43"/>
          </a:solidFill>
          <a:ln w="12700">
            <a:solidFill>
              <a:srgbClr val="102A43"/>
            </a:solidFill>
            <a:prstDash val="solid"/>
          </a:ln>
        </p:spPr>
      </p:sp>
      <p:sp>
        <p:nvSpPr>
          <p:cNvPr id="20" name="Text 17"/>
          <p:cNvSpPr txBox="1"/>
          <p:nvPr/>
        </p:nvSpPr>
        <p:spPr>
          <a:xfrm>
            <a:off x="914400" y="3511296"/>
            <a:ext cx="493776" cy="420624"/>
          </a:xfrm>
          <a:prstGeom prst="rect">
            <a:avLst/>
          </a:prstGeom>
          <a:noFill/>
          <a:ln/>
        </p:spPr>
        <p:txBody>
          <a:bodyPr wrap="square" lIns="0" tIns="0" rIns="0" bIns="0" rtlCol="0" anchor="ctr"/>
          <a:lstStyle/>
          <a:p>
            <a:pPr algn="ctr" indent="0" marL="0">
              <a:buNone/>
            </a:pPr>
            <a:r>
              <a:rPr lang="en-US" sz="2600" b="1" dirty="0">
                <a:solidFill>
                  <a:srgbClr val="102A43"/>
                </a:solidFill>
                <a:latin typeface="Aptos Display" pitchFamily="34" charset="0"/>
                <a:ea typeface="Aptos Display" pitchFamily="34" charset="-122"/>
                <a:cs typeface="Aptos Display" pitchFamily="34" charset="-120"/>
              </a:rPr>
              <a:t>2</a:t>
            </a:r>
            <a:endParaRPr lang="en-US" sz="2600" dirty="0"/>
          </a:p>
        </p:txBody>
      </p:sp>
      <p:sp>
        <p:nvSpPr>
          <p:cNvPr id="21" name="Text 18"/>
          <p:cNvSpPr txBox="1"/>
          <p:nvPr/>
        </p:nvSpPr>
        <p:spPr>
          <a:xfrm>
            <a:off x="1591056" y="3493008"/>
            <a:ext cx="9649663" cy="457200"/>
          </a:xfrm>
          <a:prstGeom prst="rect">
            <a:avLst/>
          </a:prstGeom>
          <a:noFill/>
          <a:ln/>
        </p:spPr>
        <p:txBody>
          <a:bodyPr wrap="square" lIns="0" tIns="0" rIns="0" bIns="0" rtlCol="0" anchor="t"/>
          <a:lstStyle/>
          <a:p>
            <a:pPr algn="l" indent="0" marL="0">
              <a:lnSpc>
                <a:spcPct val="114000"/>
              </a:lnSpc>
              <a:buNone/>
            </a:pPr>
            <a:r>
              <a:rPr lang="en-US" sz="1340" dirty="0">
                <a:solidFill>
                  <a:srgbClr val="243B53"/>
                </a:solidFill>
                <a:latin typeface="Aptos" pitchFamily="34" charset="0"/>
                <a:ea typeface="Aptos" pitchFamily="34" charset="-122"/>
                <a:cs typeface="Aptos" pitchFamily="34" charset="-120"/>
              </a:rPr>
              <a:t>Otra persona resuelve el mismo problema borrando la fila del evento completa, y las dos pruebas pasan igual. ¿Por qué solo una de las dos soluciones es correcta?</a:t>
            </a:r>
            <a:endParaRPr lang="en-US" sz="1340" dirty="0"/>
          </a:p>
        </p:txBody>
      </p:sp>
      <p:sp>
        <p:nvSpPr>
          <p:cNvPr id="22" name="Shape 19"/>
          <p:cNvSpPr/>
          <p:nvPr/>
        </p:nvSpPr>
        <p:spPr>
          <a:xfrm>
            <a:off x="1591056" y="4023360"/>
            <a:ext cx="9649663" cy="0"/>
          </a:xfrm>
          <a:prstGeom prst="line">
            <a:avLst/>
          </a:prstGeom>
          <a:noFill/>
          <a:ln w="12700">
            <a:solidFill>
              <a:srgbClr val="D8CFC4"/>
            </a:solidFill>
            <a:prstDash val="solid"/>
            <a:headEnd type="none"/>
            <a:tailEnd type="none"/>
          </a:ln>
        </p:spPr>
      </p:sp>
      <p:sp>
        <p:nvSpPr>
          <p:cNvPr id="23" name="Text 20"/>
          <p:cNvSpPr txBox="1"/>
          <p:nvPr/>
        </p:nvSpPr>
        <p:spPr>
          <a:xfrm>
            <a:off x="1591056" y="4114800"/>
            <a:ext cx="640080" cy="164592"/>
          </a:xfrm>
          <a:prstGeom prst="rect">
            <a:avLst/>
          </a:prstGeom>
          <a:noFill/>
          <a:ln/>
        </p:spPr>
        <p:txBody>
          <a:bodyPr wrap="square" lIns="0" tIns="0" rIns="0" bIns="0" rtlCol="0" anchor="t"/>
          <a:lstStyle/>
          <a:p>
            <a:pPr algn="l" indent="0" marL="0">
              <a:buNone/>
            </a:pPr>
            <a:r>
              <a:rPr lang="en-US" sz="840" b="1" spc="110" kern="0" dirty="0">
                <a:solidFill>
                  <a:srgbClr val="102A43"/>
                </a:solidFill>
                <a:latin typeface="Aptos" pitchFamily="34" charset="0"/>
                <a:ea typeface="Aptos" pitchFamily="34" charset="-122"/>
                <a:cs typeface="Aptos" pitchFamily="34" charset="-120"/>
              </a:rPr>
              <a:t>PISTA</a:t>
            </a:r>
            <a:endParaRPr lang="en-US" sz="840" dirty="0"/>
          </a:p>
        </p:txBody>
      </p:sp>
      <p:sp>
        <p:nvSpPr>
          <p:cNvPr id="24" name="Text 21"/>
          <p:cNvSpPr txBox="1"/>
          <p:nvPr/>
        </p:nvSpPr>
        <p:spPr>
          <a:xfrm>
            <a:off x="2286000" y="4087368"/>
            <a:ext cx="8954719" cy="256032"/>
          </a:xfrm>
          <a:prstGeom prst="rect">
            <a:avLst/>
          </a:prstGeom>
          <a:noFill/>
          <a:ln/>
        </p:spPr>
        <p:txBody>
          <a:bodyPr wrap="square" lIns="0" tIns="0" rIns="0" bIns="0" rtlCol="0" anchor="t"/>
          <a:lstStyle/>
          <a:p>
            <a:pPr algn="l" indent="0" marL="0">
              <a:buNone/>
            </a:pPr>
            <a:r>
              <a:rPr lang="en-US" sz="1140" i="1" dirty="0">
                <a:solidFill>
                  <a:srgbClr val="52606D"/>
                </a:solidFill>
                <a:latin typeface="Aptos" pitchFamily="34" charset="0"/>
                <a:ea typeface="Aptos" pitchFamily="34" charset="-122"/>
                <a:cs typeface="Aptos" pitchFamily="34" charset="-120"/>
              </a:rPr>
              <a:t>Lee el inciso final del artículo 7º. ¿Qué pierde el responsable cuando borra el registro?</a:t>
            </a:r>
            <a:endParaRPr lang="en-US" sz="1140" dirty="0"/>
          </a:p>
        </p:txBody>
      </p:sp>
      <p:sp>
        <p:nvSpPr>
          <p:cNvPr id="25" name="Shape 22"/>
          <p:cNvSpPr/>
          <p:nvPr/>
        </p:nvSpPr>
        <p:spPr>
          <a:xfrm>
            <a:off x="658368" y="4590288"/>
            <a:ext cx="10874959" cy="1097280"/>
          </a:xfrm>
          <a:prstGeom prst="rect">
            <a:avLst/>
          </a:prstGeom>
          <a:solidFill>
            <a:srgbClr val="F2E7D9"/>
          </a:solidFill>
          <a:ln w="12700">
            <a:solidFill>
              <a:srgbClr val="F2E7D9"/>
            </a:solidFill>
            <a:prstDash val="solid"/>
          </a:ln>
        </p:spPr>
      </p:sp>
      <p:sp>
        <p:nvSpPr>
          <p:cNvPr id="26" name="Shape 23"/>
          <p:cNvSpPr/>
          <p:nvPr/>
        </p:nvSpPr>
        <p:spPr>
          <a:xfrm>
            <a:off x="658368" y="4590288"/>
            <a:ext cx="54864" cy="1097280"/>
          </a:xfrm>
          <a:prstGeom prst="rect">
            <a:avLst/>
          </a:prstGeom>
          <a:solidFill>
            <a:srgbClr val="8A6A12"/>
          </a:solidFill>
          <a:ln w="12700">
            <a:solidFill>
              <a:srgbClr val="8A6A12"/>
            </a:solidFill>
            <a:prstDash val="solid"/>
          </a:ln>
        </p:spPr>
      </p:sp>
      <p:sp>
        <p:nvSpPr>
          <p:cNvPr id="27" name="Text 24"/>
          <p:cNvSpPr txBox="1"/>
          <p:nvPr/>
        </p:nvSpPr>
        <p:spPr>
          <a:xfrm>
            <a:off x="914400" y="4736592"/>
            <a:ext cx="493776" cy="420624"/>
          </a:xfrm>
          <a:prstGeom prst="rect">
            <a:avLst/>
          </a:prstGeom>
          <a:noFill/>
          <a:ln/>
        </p:spPr>
        <p:txBody>
          <a:bodyPr wrap="square" lIns="0" tIns="0" rIns="0" bIns="0" rtlCol="0" anchor="ctr"/>
          <a:lstStyle/>
          <a:p>
            <a:pPr algn="ctr" indent="0" marL="0">
              <a:buNone/>
            </a:pPr>
            <a:r>
              <a:rPr lang="en-US" sz="2600" b="1" dirty="0">
                <a:solidFill>
                  <a:srgbClr val="8A6A12"/>
                </a:solidFill>
                <a:latin typeface="Aptos Display" pitchFamily="34" charset="0"/>
                <a:ea typeface="Aptos Display" pitchFamily="34" charset="-122"/>
                <a:cs typeface="Aptos Display" pitchFamily="34" charset="-120"/>
              </a:rPr>
              <a:t>3</a:t>
            </a:r>
            <a:endParaRPr lang="en-US" sz="2600" dirty="0"/>
          </a:p>
        </p:txBody>
      </p:sp>
      <p:sp>
        <p:nvSpPr>
          <p:cNvPr id="28" name="Text 25"/>
          <p:cNvSpPr txBox="1"/>
          <p:nvPr/>
        </p:nvSpPr>
        <p:spPr>
          <a:xfrm>
            <a:off x="1591056" y="4718304"/>
            <a:ext cx="9649663" cy="457200"/>
          </a:xfrm>
          <a:prstGeom prst="rect">
            <a:avLst/>
          </a:prstGeom>
          <a:noFill/>
          <a:ln/>
        </p:spPr>
        <p:txBody>
          <a:bodyPr wrap="square" lIns="0" tIns="0" rIns="0" bIns="0" rtlCol="0" anchor="t"/>
          <a:lstStyle/>
          <a:p>
            <a:pPr algn="l" indent="0" marL="0">
              <a:lnSpc>
                <a:spcPct val="114000"/>
              </a:lnSpc>
              <a:buNone/>
            </a:pPr>
            <a:r>
              <a:rPr lang="en-US" sz="1340" dirty="0">
                <a:solidFill>
                  <a:srgbClr val="243B53"/>
                </a:solidFill>
                <a:latin typeface="Aptos" pitchFamily="34" charset="0"/>
                <a:ea typeface="Aptos" pitchFamily="34" charset="-122"/>
                <a:cs typeface="Aptos" pitchFamily="34" charset="-120"/>
              </a:rPr>
              <a:t>Escribir cuatro derechos hizo aparecer tres huecos en un sistema que no cambió ni una línea. Si los huecos ya estaban, ¿qué cambió exactamente?</a:t>
            </a:r>
            <a:endParaRPr lang="en-US" sz="1340" dirty="0"/>
          </a:p>
        </p:txBody>
      </p:sp>
      <p:sp>
        <p:nvSpPr>
          <p:cNvPr id="29" name="Shape 26"/>
          <p:cNvSpPr/>
          <p:nvPr/>
        </p:nvSpPr>
        <p:spPr>
          <a:xfrm>
            <a:off x="1591056" y="5248656"/>
            <a:ext cx="9649663" cy="0"/>
          </a:xfrm>
          <a:prstGeom prst="line">
            <a:avLst/>
          </a:prstGeom>
          <a:noFill/>
          <a:ln w="12700">
            <a:solidFill>
              <a:srgbClr val="D8CFC4"/>
            </a:solidFill>
            <a:prstDash val="solid"/>
            <a:headEnd type="none"/>
            <a:tailEnd type="none"/>
          </a:ln>
        </p:spPr>
      </p:sp>
      <p:sp>
        <p:nvSpPr>
          <p:cNvPr id="30" name="Text 27"/>
          <p:cNvSpPr txBox="1"/>
          <p:nvPr/>
        </p:nvSpPr>
        <p:spPr>
          <a:xfrm>
            <a:off x="1591056" y="5340096"/>
            <a:ext cx="640080" cy="164592"/>
          </a:xfrm>
          <a:prstGeom prst="rect">
            <a:avLst/>
          </a:prstGeom>
          <a:noFill/>
          <a:ln/>
        </p:spPr>
        <p:txBody>
          <a:bodyPr wrap="square" lIns="0" tIns="0" rIns="0" bIns="0" rtlCol="0" anchor="t"/>
          <a:lstStyle/>
          <a:p>
            <a:pPr algn="l" indent="0" marL="0">
              <a:buNone/>
            </a:pPr>
            <a:r>
              <a:rPr lang="en-US" sz="840" b="1" spc="110" kern="0" dirty="0">
                <a:solidFill>
                  <a:srgbClr val="8A6A12"/>
                </a:solidFill>
                <a:latin typeface="Aptos" pitchFamily="34" charset="0"/>
                <a:ea typeface="Aptos" pitchFamily="34" charset="-122"/>
                <a:cs typeface="Aptos" pitchFamily="34" charset="-120"/>
              </a:rPr>
              <a:t>PISTA</a:t>
            </a:r>
            <a:endParaRPr lang="en-US" sz="840" dirty="0"/>
          </a:p>
        </p:txBody>
      </p:sp>
      <p:sp>
        <p:nvSpPr>
          <p:cNvPr id="31" name="Text 28"/>
          <p:cNvSpPr txBox="1"/>
          <p:nvPr/>
        </p:nvSpPr>
        <p:spPr>
          <a:xfrm>
            <a:off x="2286000" y="5312664"/>
            <a:ext cx="8954719" cy="256032"/>
          </a:xfrm>
          <a:prstGeom prst="rect">
            <a:avLst/>
          </a:prstGeom>
          <a:noFill/>
          <a:ln/>
        </p:spPr>
        <p:txBody>
          <a:bodyPr wrap="square" lIns="0" tIns="0" rIns="0" bIns="0" rtlCol="0" anchor="t"/>
          <a:lstStyle/>
          <a:p>
            <a:pPr algn="l" indent="0" marL="0">
              <a:buNone/>
            </a:pPr>
            <a:r>
              <a:rPr lang="en-US" sz="1140" i="1" dirty="0">
                <a:solidFill>
                  <a:srgbClr val="52606D"/>
                </a:solidFill>
                <a:latin typeface="Aptos" pitchFamily="34" charset="0"/>
                <a:ea typeface="Aptos" pitchFamily="34" charset="-122"/>
                <a:cs typeface="Aptos" pitchFamily="34" charset="-120"/>
              </a:rPr>
              <a:t>Pregúntate qué habría informado la suite el día anterior, y qué habría informado la matriz.</a:t>
            </a:r>
            <a:endParaRPr lang="en-US" sz="114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48</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BLOQUE 4 · CONTRASTE</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Lo que tenía que aparecer</a:t>
            </a:r>
            <a:endParaRPr lang="en-US" sz="3000" dirty="0"/>
          </a:p>
        </p:txBody>
      </p:sp>
      <p:sp>
        <p:nvSpPr>
          <p:cNvPr id="10" name="Text 7"/>
          <p:cNvSpPr txBox="1"/>
          <p:nvPr/>
        </p:nvSpPr>
        <p:spPr>
          <a:xfrm>
            <a:off x="658368" y="1664208"/>
            <a:ext cx="10424160" cy="329184"/>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Las respuestas conservan el mismo orden y color que las preguntas.</a:t>
            </a:r>
            <a:endParaRPr lang="en-US" sz="1420" dirty="0"/>
          </a:p>
        </p:txBody>
      </p:sp>
      <p:sp>
        <p:nvSpPr>
          <p:cNvPr id="11" name="Shape 8"/>
          <p:cNvSpPr/>
          <p:nvPr/>
        </p:nvSpPr>
        <p:spPr>
          <a:xfrm>
            <a:off x="658368" y="2139696"/>
            <a:ext cx="10874959" cy="1243584"/>
          </a:xfrm>
          <a:prstGeom prst="rect">
            <a:avLst/>
          </a:prstGeom>
          <a:solidFill>
            <a:srgbClr val="FFFFFF"/>
          </a:solidFill>
          <a:ln w="12700">
            <a:solidFill>
              <a:srgbClr val="FFFFFF"/>
            </a:solidFill>
            <a:prstDash val="solid"/>
          </a:ln>
        </p:spPr>
      </p:sp>
      <p:sp>
        <p:nvSpPr>
          <p:cNvPr id="12" name="Shape 9"/>
          <p:cNvSpPr/>
          <p:nvPr/>
        </p:nvSpPr>
        <p:spPr>
          <a:xfrm>
            <a:off x="658368" y="2139696"/>
            <a:ext cx="54864" cy="1243584"/>
          </a:xfrm>
          <a:prstGeom prst="rect">
            <a:avLst/>
          </a:prstGeom>
          <a:solidFill>
            <a:srgbClr val="B3181E"/>
          </a:solidFill>
          <a:ln w="12700">
            <a:solidFill>
              <a:srgbClr val="B3181E"/>
            </a:solidFill>
            <a:prstDash val="solid"/>
          </a:ln>
        </p:spPr>
      </p:sp>
      <p:sp>
        <p:nvSpPr>
          <p:cNvPr id="13" name="Text 10"/>
          <p:cNvSpPr txBox="1"/>
          <p:nvPr/>
        </p:nvSpPr>
        <p:spPr>
          <a:xfrm>
            <a:off x="896112" y="2304288"/>
            <a:ext cx="493776" cy="457200"/>
          </a:xfrm>
          <a:prstGeom prst="rect">
            <a:avLst/>
          </a:prstGeom>
          <a:noFill/>
          <a:ln/>
        </p:spPr>
        <p:txBody>
          <a:bodyPr wrap="square" lIns="0" tIns="0" rIns="0" bIns="0" rtlCol="0" anchor="ctr"/>
          <a:lstStyle/>
          <a:p>
            <a:pPr algn="ctr" indent="0" marL="0">
              <a:buNone/>
            </a:pPr>
            <a:r>
              <a:rPr lang="en-US" sz="2700" b="1" dirty="0">
                <a:solidFill>
                  <a:srgbClr val="B3181E"/>
                </a:solidFill>
                <a:latin typeface="Aptos Display" pitchFamily="34" charset="0"/>
                <a:ea typeface="Aptos Display" pitchFamily="34" charset="-122"/>
                <a:cs typeface="Aptos Display" pitchFamily="34" charset="-120"/>
              </a:rPr>
              <a:t>1</a:t>
            </a:r>
            <a:endParaRPr lang="en-US" sz="2700" dirty="0"/>
          </a:p>
        </p:txBody>
      </p:sp>
      <p:sp>
        <p:nvSpPr>
          <p:cNvPr id="14" name="Text 11"/>
          <p:cNvSpPr txBox="1"/>
          <p:nvPr/>
        </p:nvSpPr>
        <p:spPr>
          <a:xfrm>
            <a:off x="1591056" y="2249424"/>
            <a:ext cx="2926080" cy="164592"/>
          </a:xfrm>
          <a:prstGeom prst="rect">
            <a:avLst/>
          </a:prstGeom>
          <a:noFill/>
          <a:ln/>
        </p:spPr>
        <p:txBody>
          <a:bodyPr wrap="square" lIns="0" tIns="0" rIns="0" bIns="0" rtlCol="0" anchor="t"/>
          <a:lstStyle/>
          <a:p>
            <a:pPr algn="l" indent="0" marL="0">
              <a:buNone/>
            </a:pPr>
            <a:r>
              <a:rPr lang="en-US" sz="830" b="1" spc="100" kern="0" dirty="0">
                <a:solidFill>
                  <a:srgbClr val="B3181E"/>
                </a:solidFill>
                <a:latin typeface="Aptos" pitchFamily="34" charset="0"/>
                <a:ea typeface="Aptos" pitchFamily="34" charset="-122"/>
                <a:cs typeface="Aptos" pitchFamily="34" charset="-120"/>
              </a:rPr>
              <a:t>LA PRIMERA, Y NO POR UN ERROR</a:t>
            </a:r>
            <a:endParaRPr lang="en-US" sz="830" dirty="0"/>
          </a:p>
        </p:txBody>
      </p:sp>
      <p:sp>
        <p:nvSpPr>
          <p:cNvPr id="15" name="Text 12"/>
          <p:cNvSpPr txBox="1"/>
          <p:nvPr/>
        </p:nvSpPr>
        <p:spPr>
          <a:xfrm>
            <a:off x="1591056" y="2468880"/>
            <a:ext cx="9649663" cy="347472"/>
          </a:xfrm>
          <a:prstGeom prst="rect">
            <a:avLst/>
          </a:prstGeom>
          <a:noFill/>
          <a:ln/>
        </p:spPr>
        <p:txBody>
          <a:bodyPr wrap="square" lIns="0" tIns="0" rIns="0" bIns="0" rtlCol="0" anchor="t"/>
          <a:lstStyle/>
          <a:p>
            <a:pPr algn="l" indent="0" marL="0">
              <a:lnSpc>
                <a:spcPct val="112000"/>
              </a:lnSpc>
              <a:buNone/>
            </a:pPr>
            <a:r>
              <a:rPr lang="en-US" sz="1240" b="1" dirty="0">
                <a:solidFill>
                  <a:srgbClr val="243B53"/>
                </a:solidFill>
                <a:latin typeface="Aptos" pitchFamily="34" charset="0"/>
                <a:ea typeface="Aptos" pitchFamily="34" charset="-122"/>
                <a:cs typeface="Aptos" pitchFamily="34" charset="-120"/>
              </a:rPr>
              <a:t>El requisito dice «ninguna tabla del sistema». La primera mira una sola y da por cumplido el resto.</a:t>
            </a:r>
            <a:endParaRPr lang="en-US" sz="1240" dirty="0"/>
          </a:p>
        </p:txBody>
      </p:sp>
      <p:sp>
        <p:nvSpPr>
          <p:cNvPr id="16" name="Shape 13"/>
          <p:cNvSpPr/>
          <p:nvPr/>
        </p:nvSpPr>
        <p:spPr>
          <a:xfrm>
            <a:off x="1591056" y="2871216"/>
            <a:ext cx="9649663" cy="0"/>
          </a:xfrm>
          <a:prstGeom prst="line">
            <a:avLst/>
          </a:prstGeom>
          <a:noFill/>
          <a:ln w="12700">
            <a:solidFill>
              <a:srgbClr val="D8CFC4"/>
            </a:solidFill>
            <a:prstDash val="solid"/>
            <a:headEnd type="none"/>
            <a:tailEnd type="none"/>
          </a:ln>
        </p:spPr>
      </p:sp>
      <p:sp>
        <p:nvSpPr>
          <p:cNvPr id="17" name="Text 14"/>
          <p:cNvSpPr txBox="1"/>
          <p:nvPr/>
        </p:nvSpPr>
        <p:spPr>
          <a:xfrm>
            <a:off x="1591056" y="2962656"/>
            <a:ext cx="1188720" cy="155448"/>
          </a:xfrm>
          <a:prstGeom prst="rect">
            <a:avLst/>
          </a:prstGeom>
          <a:noFill/>
          <a:ln/>
        </p:spPr>
        <p:txBody>
          <a:bodyPr wrap="square" lIns="0" tIns="0" rIns="0" bIns="0" rtlCol="0" anchor="t"/>
          <a:lstStyle/>
          <a:p>
            <a:pPr algn="l" indent="0" marL="0">
              <a:buNone/>
            </a:pPr>
            <a:r>
              <a:rPr lang="en-US" sz="800" b="1" spc="90" kern="0" dirty="0">
                <a:solidFill>
                  <a:srgbClr val="2E7D4F"/>
                </a:solidFill>
                <a:latin typeface="Aptos" pitchFamily="34" charset="0"/>
                <a:ea typeface="Aptos" pitchFamily="34" charset="-122"/>
                <a:cs typeface="Aptos" pitchFamily="34" charset="-120"/>
              </a:rPr>
              <a:t>LO QUE REVELA</a:t>
            </a:r>
            <a:endParaRPr lang="en-US" sz="800" dirty="0"/>
          </a:p>
        </p:txBody>
      </p:sp>
      <p:sp>
        <p:nvSpPr>
          <p:cNvPr id="18" name="Text 15"/>
          <p:cNvSpPr txBox="1"/>
          <p:nvPr/>
        </p:nvSpPr>
        <p:spPr>
          <a:xfrm>
            <a:off x="2871216" y="2935224"/>
            <a:ext cx="3712464" cy="310896"/>
          </a:xfrm>
          <a:prstGeom prst="rect">
            <a:avLst/>
          </a:prstGeom>
          <a:noFill/>
          <a:ln/>
        </p:spPr>
        <p:txBody>
          <a:bodyPr wrap="square" lIns="0" tIns="0" rIns="0" bIns="0" rtlCol="0" anchor="t"/>
          <a:lstStyle/>
          <a:p>
            <a:pPr algn="l" indent="0" marL="0">
              <a:lnSpc>
                <a:spcPct val="110000"/>
              </a:lnSpc>
              <a:buNone/>
            </a:pPr>
            <a:r>
              <a:rPr lang="en-US" sz="1020" dirty="0">
                <a:solidFill>
                  <a:srgbClr val="243B53"/>
                </a:solidFill>
                <a:latin typeface="Aptos" pitchFamily="34" charset="0"/>
                <a:ea typeface="Aptos" pitchFamily="34" charset="-122"/>
                <a:cs typeface="Aptos" pitchFamily="34" charset="-120"/>
              </a:rPr>
              <a:t>Antes de escribir una prueba de supresión hay que enumerar dónde vive el dato.</a:t>
            </a:r>
            <a:endParaRPr lang="en-US" sz="1020" dirty="0"/>
          </a:p>
        </p:txBody>
      </p:sp>
      <p:sp>
        <p:nvSpPr>
          <p:cNvPr id="19" name="Text 16"/>
          <p:cNvSpPr txBox="1"/>
          <p:nvPr/>
        </p:nvSpPr>
        <p:spPr>
          <a:xfrm>
            <a:off x="6784848" y="2962656"/>
            <a:ext cx="1325880" cy="155448"/>
          </a:xfrm>
          <a:prstGeom prst="rect">
            <a:avLst/>
          </a:prstGeom>
          <a:noFill/>
          <a:ln/>
        </p:spPr>
        <p:txBody>
          <a:bodyPr wrap="square" lIns="0" tIns="0" rIns="0" bIns="0" rtlCol="0" anchor="t"/>
          <a:lstStyle/>
          <a:p>
            <a:pPr algn="l" indent="0" marL="0">
              <a:buNone/>
            </a:pPr>
            <a:r>
              <a:rPr lang="en-US" sz="800" b="1" spc="90" kern="0" dirty="0">
                <a:solidFill>
                  <a:srgbClr val="B3181E"/>
                </a:solidFill>
                <a:latin typeface="Aptos" pitchFamily="34" charset="0"/>
                <a:ea typeface="Aptos" pitchFamily="34" charset="-122"/>
                <a:cs typeface="Aptos" pitchFamily="34" charset="-120"/>
              </a:rPr>
              <a:t>ERROR FRECUENTE</a:t>
            </a:r>
            <a:endParaRPr lang="en-US" sz="800" dirty="0"/>
          </a:p>
        </p:txBody>
      </p:sp>
      <p:sp>
        <p:nvSpPr>
          <p:cNvPr id="20" name="Text 17"/>
          <p:cNvSpPr txBox="1"/>
          <p:nvPr/>
        </p:nvSpPr>
        <p:spPr>
          <a:xfrm>
            <a:off x="8138160" y="2935224"/>
            <a:ext cx="3063240" cy="310896"/>
          </a:xfrm>
          <a:prstGeom prst="rect">
            <a:avLst/>
          </a:prstGeom>
          <a:noFill/>
          <a:ln/>
        </p:spPr>
        <p:txBody>
          <a:bodyPr wrap="square" lIns="0" tIns="0" rIns="0" bIns="0" rtlCol="0" anchor="t"/>
          <a:lstStyle/>
          <a:p>
            <a:pPr algn="l" indent="0" marL="0">
              <a:lnSpc>
                <a:spcPct val="110000"/>
              </a:lnSpc>
              <a:buNone/>
            </a:pPr>
            <a:r>
              <a:rPr lang="en-US" sz="1020" i="1" dirty="0">
                <a:solidFill>
                  <a:srgbClr val="52606D"/>
                </a:solidFill>
                <a:latin typeface="Aptos" pitchFamily="34" charset="0"/>
                <a:ea typeface="Aptos" pitchFamily="34" charset="-122"/>
                <a:cs typeface="Aptos" pitchFamily="34" charset="-120"/>
              </a:rPr>
              <a:t>Escribir la prueba mirando el código que borra, en vez del requisito que promete.</a:t>
            </a:r>
            <a:endParaRPr lang="en-US" sz="1020" dirty="0"/>
          </a:p>
        </p:txBody>
      </p:sp>
      <p:sp>
        <p:nvSpPr>
          <p:cNvPr id="21" name="Shape 18"/>
          <p:cNvSpPr/>
          <p:nvPr/>
        </p:nvSpPr>
        <p:spPr>
          <a:xfrm>
            <a:off x="658368" y="3493008"/>
            <a:ext cx="10874959" cy="1243584"/>
          </a:xfrm>
          <a:prstGeom prst="rect">
            <a:avLst/>
          </a:prstGeom>
          <a:solidFill>
            <a:srgbClr val="FFFFFF"/>
          </a:solidFill>
          <a:ln w="12700">
            <a:solidFill>
              <a:srgbClr val="FFFFFF"/>
            </a:solidFill>
            <a:prstDash val="solid"/>
          </a:ln>
        </p:spPr>
      </p:sp>
      <p:sp>
        <p:nvSpPr>
          <p:cNvPr id="22" name="Shape 19"/>
          <p:cNvSpPr/>
          <p:nvPr/>
        </p:nvSpPr>
        <p:spPr>
          <a:xfrm>
            <a:off x="658368" y="3493008"/>
            <a:ext cx="54864" cy="1243584"/>
          </a:xfrm>
          <a:prstGeom prst="rect">
            <a:avLst/>
          </a:prstGeom>
          <a:solidFill>
            <a:srgbClr val="102A43"/>
          </a:solidFill>
          <a:ln w="12700">
            <a:solidFill>
              <a:srgbClr val="102A43"/>
            </a:solidFill>
            <a:prstDash val="solid"/>
          </a:ln>
        </p:spPr>
      </p:sp>
      <p:sp>
        <p:nvSpPr>
          <p:cNvPr id="23" name="Text 20"/>
          <p:cNvSpPr txBox="1"/>
          <p:nvPr/>
        </p:nvSpPr>
        <p:spPr>
          <a:xfrm>
            <a:off x="896112" y="3657600"/>
            <a:ext cx="493776" cy="457200"/>
          </a:xfrm>
          <a:prstGeom prst="rect">
            <a:avLst/>
          </a:prstGeom>
          <a:noFill/>
          <a:ln/>
        </p:spPr>
        <p:txBody>
          <a:bodyPr wrap="square" lIns="0" tIns="0" rIns="0" bIns="0" rtlCol="0" anchor="ctr"/>
          <a:lstStyle/>
          <a:p>
            <a:pPr algn="ctr" indent="0" marL="0">
              <a:buNone/>
            </a:pPr>
            <a:r>
              <a:rPr lang="en-US" sz="2700" b="1" dirty="0">
                <a:solidFill>
                  <a:srgbClr val="102A43"/>
                </a:solidFill>
                <a:latin typeface="Aptos Display" pitchFamily="34" charset="0"/>
                <a:ea typeface="Aptos Display" pitchFamily="34" charset="-122"/>
                <a:cs typeface="Aptos Display" pitchFamily="34" charset="-120"/>
              </a:rPr>
              <a:t>2</a:t>
            </a:r>
            <a:endParaRPr lang="en-US" sz="2700" dirty="0"/>
          </a:p>
        </p:txBody>
      </p:sp>
      <p:sp>
        <p:nvSpPr>
          <p:cNvPr id="24" name="Text 21"/>
          <p:cNvSpPr txBox="1"/>
          <p:nvPr/>
        </p:nvSpPr>
        <p:spPr>
          <a:xfrm>
            <a:off x="1591056" y="3602736"/>
            <a:ext cx="2926080" cy="164592"/>
          </a:xfrm>
          <a:prstGeom prst="rect">
            <a:avLst/>
          </a:prstGeom>
          <a:noFill/>
          <a:ln/>
        </p:spPr>
        <p:txBody>
          <a:bodyPr wrap="square" lIns="0" tIns="0" rIns="0" bIns="0" rtlCol="0" anchor="t"/>
          <a:lstStyle/>
          <a:p>
            <a:pPr algn="l" indent="0" marL="0">
              <a:buNone/>
            </a:pPr>
            <a:r>
              <a:rPr lang="en-US" sz="830" b="1" spc="100" kern="0" dirty="0">
                <a:solidFill>
                  <a:srgbClr val="102A43"/>
                </a:solidFill>
                <a:latin typeface="Aptos" pitchFamily="34" charset="0"/>
                <a:ea typeface="Aptos" pitchFamily="34" charset="-122"/>
                <a:cs typeface="Aptos" pitchFamily="34" charset="-120"/>
              </a:rPr>
              <a:t>PORQUE LA LEY PIDE CONSERVAR ESA EVIDENCIA</a:t>
            </a:r>
            <a:endParaRPr lang="en-US" sz="830" dirty="0"/>
          </a:p>
        </p:txBody>
      </p:sp>
      <p:sp>
        <p:nvSpPr>
          <p:cNvPr id="25" name="Text 22"/>
          <p:cNvSpPr txBox="1"/>
          <p:nvPr/>
        </p:nvSpPr>
        <p:spPr>
          <a:xfrm>
            <a:off x="1591056" y="3822192"/>
            <a:ext cx="9649663" cy="347472"/>
          </a:xfrm>
          <a:prstGeom prst="rect">
            <a:avLst/>
          </a:prstGeom>
          <a:noFill/>
          <a:ln/>
        </p:spPr>
        <p:txBody>
          <a:bodyPr wrap="square" lIns="0" tIns="0" rIns="0" bIns="0" rtlCol="0" anchor="t"/>
          <a:lstStyle/>
          <a:p>
            <a:pPr algn="l" indent="0" marL="0">
              <a:lnSpc>
                <a:spcPct val="112000"/>
              </a:lnSpc>
              <a:buNone/>
            </a:pPr>
            <a:r>
              <a:rPr lang="en-US" sz="1240" b="1" dirty="0">
                <a:solidFill>
                  <a:srgbClr val="243B53"/>
                </a:solidFill>
                <a:latin typeface="Aptos" pitchFamily="34" charset="0"/>
                <a:ea typeface="Aptos" pitchFamily="34" charset="-122"/>
                <a:cs typeface="Aptos" pitchFamily="34" charset="-120"/>
              </a:rPr>
              <a:t>El registro acredita que el responsable cumplió, incluida esta misma supresión.</a:t>
            </a:r>
            <a:endParaRPr lang="en-US" sz="1240" dirty="0"/>
          </a:p>
        </p:txBody>
      </p:sp>
      <p:sp>
        <p:nvSpPr>
          <p:cNvPr id="26" name="Shape 23"/>
          <p:cNvSpPr/>
          <p:nvPr/>
        </p:nvSpPr>
        <p:spPr>
          <a:xfrm>
            <a:off x="1591056" y="4224528"/>
            <a:ext cx="9649663" cy="0"/>
          </a:xfrm>
          <a:prstGeom prst="line">
            <a:avLst/>
          </a:prstGeom>
          <a:noFill/>
          <a:ln w="12700">
            <a:solidFill>
              <a:srgbClr val="D8CFC4"/>
            </a:solidFill>
            <a:prstDash val="solid"/>
            <a:headEnd type="none"/>
            <a:tailEnd type="none"/>
          </a:ln>
        </p:spPr>
      </p:sp>
      <p:sp>
        <p:nvSpPr>
          <p:cNvPr id="27" name="Text 24"/>
          <p:cNvSpPr txBox="1"/>
          <p:nvPr/>
        </p:nvSpPr>
        <p:spPr>
          <a:xfrm>
            <a:off x="1591056" y="4315968"/>
            <a:ext cx="1188720" cy="155448"/>
          </a:xfrm>
          <a:prstGeom prst="rect">
            <a:avLst/>
          </a:prstGeom>
          <a:noFill/>
          <a:ln/>
        </p:spPr>
        <p:txBody>
          <a:bodyPr wrap="square" lIns="0" tIns="0" rIns="0" bIns="0" rtlCol="0" anchor="t"/>
          <a:lstStyle/>
          <a:p>
            <a:pPr algn="l" indent="0" marL="0">
              <a:buNone/>
            </a:pPr>
            <a:r>
              <a:rPr lang="en-US" sz="800" b="1" spc="90" kern="0" dirty="0">
                <a:solidFill>
                  <a:srgbClr val="2E7D4F"/>
                </a:solidFill>
                <a:latin typeface="Aptos" pitchFamily="34" charset="0"/>
                <a:ea typeface="Aptos" pitchFamily="34" charset="-122"/>
                <a:cs typeface="Aptos" pitchFamily="34" charset="-120"/>
              </a:rPr>
              <a:t>LO QUE REVELA</a:t>
            </a:r>
            <a:endParaRPr lang="en-US" sz="800" dirty="0"/>
          </a:p>
        </p:txBody>
      </p:sp>
      <p:sp>
        <p:nvSpPr>
          <p:cNvPr id="28" name="Text 25"/>
          <p:cNvSpPr txBox="1"/>
          <p:nvPr/>
        </p:nvSpPr>
        <p:spPr>
          <a:xfrm>
            <a:off x="2871216" y="4288536"/>
            <a:ext cx="3712464" cy="310896"/>
          </a:xfrm>
          <a:prstGeom prst="rect">
            <a:avLst/>
          </a:prstGeom>
          <a:noFill/>
          <a:ln/>
        </p:spPr>
        <p:txBody>
          <a:bodyPr wrap="square" lIns="0" tIns="0" rIns="0" bIns="0" rtlCol="0" anchor="t"/>
          <a:lstStyle/>
          <a:p>
            <a:pPr algn="l" indent="0" marL="0">
              <a:lnSpc>
                <a:spcPct val="110000"/>
              </a:lnSpc>
              <a:buNone/>
            </a:pPr>
            <a:r>
              <a:rPr lang="en-US" sz="1020" dirty="0">
                <a:solidFill>
                  <a:srgbClr val="243B53"/>
                </a:solidFill>
                <a:latin typeface="Aptos" pitchFamily="34" charset="0"/>
                <a:ea typeface="Aptos" pitchFamily="34" charset="-122"/>
                <a:cs typeface="Aptos" pitchFamily="34" charset="-120"/>
              </a:rPr>
              <a:t>Dos implementaciones pasan la prueba; solo una respeta las dos obligaciones a la vez.</a:t>
            </a:r>
            <a:endParaRPr lang="en-US" sz="1020" dirty="0"/>
          </a:p>
        </p:txBody>
      </p:sp>
      <p:sp>
        <p:nvSpPr>
          <p:cNvPr id="29" name="Text 26"/>
          <p:cNvSpPr txBox="1"/>
          <p:nvPr/>
        </p:nvSpPr>
        <p:spPr>
          <a:xfrm>
            <a:off x="6784848" y="4315968"/>
            <a:ext cx="1325880" cy="155448"/>
          </a:xfrm>
          <a:prstGeom prst="rect">
            <a:avLst/>
          </a:prstGeom>
          <a:noFill/>
          <a:ln/>
        </p:spPr>
        <p:txBody>
          <a:bodyPr wrap="square" lIns="0" tIns="0" rIns="0" bIns="0" rtlCol="0" anchor="t"/>
          <a:lstStyle/>
          <a:p>
            <a:pPr algn="l" indent="0" marL="0">
              <a:buNone/>
            </a:pPr>
            <a:r>
              <a:rPr lang="en-US" sz="800" b="1" spc="90" kern="0" dirty="0">
                <a:solidFill>
                  <a:srgbClr val="B3181E"/>
                </a:solidFill>
                <a:latin typeface="Aptos" pitchFamily="34" charset="0"/>
                <a:ea typeface="Aptos" pitchFamily="34" charset="-122"/>
                <a:cs typeface="Aptos" pitchFamily="34" charset="-120"/>
              </a:rPr>
              <a:t>ERROR FRECUENTE</a:t>
            </a:r>
            <a:endParaRPr lang="en-US" sz="800" dirty="0"/>
          </a:p>
        </p:txBody>
      </p:sp>
      <p:sp>
        <p:nvSpPr>
          <p:cNvPr id="30" name="Text 27"/>
          <p:cNvSpPr txBox="1"/>
          <p:nvPr/>
        </p:nvSpPr>
        <p:spPr>
          <a:xfrm>
            <a:off x="8138160" y="4288536"/>
            <a:ext cx="3063240" cy="310896"/>
          </a:xfrm>
          <a:prstGeom prst="rect">
            <a:avLst/>
          </a:prstGeom>
          <a:noFill/>
          <a:ln/>
        </p:spPr>
        <p:txBody>
          <a:bodyPr wrap="square" lIns="0" tIns="0" rIns="0" bIns="0" rtlCol="0" anchor="t"/>
          <a:lstStyle/>
          <a:p>
            <a:pPr algn="l" indent="0" marL="0">
              <a:lnSpc>
                <a:spcPct val="110000"/>
              </a:lnSpc>
              <a:buNone/>
            </a:pPr>
            <a:r>
              <a:rPr lang="en-US" sz="1020" i="1" dirty="0">
                <a:solidFill>
                  <a:srgbClr val="52606D"/>
                </a:solidFill>
                <a:latin typeface="Aptos" pitchFamily="34" charset="0"/>
                <a:ea typeface="Aptos" pitchFamily="34" charset="-122"/>
                <a:cs typeface="Aptos" pitchFamily="34" charset="-120"/>
              </a:rPr>
              <a:t>Creer que una prueba en verde confirma que la solución elegida era la correcta.</a:t>
            </a:r>
            <a:endParaRPr lang="en-US" sz="1020" dirty="0"/>
          </a:p>
        </p:txBody>
      </p:sp>
      <p:sp>
        <p:nvSpPr>
          <p:cNvPr id="31" name="Shape 28"/>
          <p:cNvSpPr/>
          <p:nvPr/>
        </p:nvSpPr>
        <p:spPr>
          <a:xfrm>
            <a:off x="658368" y="4846320"/>
            <a:ext cx="10874959" cy="1243584"/>
          </a:xfrm>
          <a:prstGeom prst="rect">
            <a:avLst/>
          </a:prstGeom>
          <a:solidFill>
            <a:srgbClr val="FFFFFF"/>
          </a:solidFill>
          <a:ln w="12700">
            <a:solidFill>
              <a:srgbClr val="FFFFFF"/>
            </a:solidFill>
            <a:prstDash val="solid"/>
          </a:ln>
        </p:spPr>
      </p:sp>
      <p:sp>
        <p:nvSpPr>
          <p:cNvPr id="32" name="Shape 29"/>
          <p:cNvSpPr/>
          <p:nvPr/>
        </p:nvSpPr>
        <p:spPr>
          <a:xfrm>
            <a:off x="658368" y="4846320"/>
            <a:ext cx="54864" cy="1243584"/>
          </a:xfrm>
          <a:prstGeom prst="rect">
            <a:avLst/>
          </a:prstGeom>
          <a:solidFill>
            <a:srgbClr val="8A6A12"/>
          </a:solidFill>
          <a:ln w="12700">
            <a:solidFill>
              <a:srgbClr val="8A6A12"/>
            </a:solidFill>
            <a:prstDash val="solid"/>
          </a:ln>
        </p:spPr>
      </p:sp>
      <p:sp>
        <p:nvSpPr>
          <p:cNvPr id="33" name="Text 30"/>
          <p:cNvSpPr txBox="1"/>
          <p:nvPr/>
        </p:nvSpPr>
        <p:spPr>
          <a:xfrm>
            <a:off x="896112" y="5010912"/>
            <a:ext cx="493776" cy="457200"/>
          </a:xfrm>
          <a:prstGeom prst="rect">
            <a:avLst/>
          </a:prstGeom>
          <a:noFill/>
          <a:ln/>
        </p:spPr>
        <p:txBody>
          <a:bodyPr wrap="square" lIns="0" tIns="0" rIns="0" bIns="0" rtlCol="0" anchor="ctr"/>
          <a:lstStyle/>
          <a:p>
            <a:pPr algn="ctr" indent="0" marL="0">
              <a:buNone/>
            </a:pPr>
            <a:r>
              <a:rPr lang="en-US" sz="2700" b="1" dirty="0">
                <a:solidFill>
                  <a:srgbClr val="8A6A12"/>
                </a:solidFill>
                <a:latin typeface="Aptos Display" pitchFamily="34" charset="0"/>
                <a:ea typeface="Aptos Display" pitchFamily="34" charset="-122"/>
                <a:cs typeface="Aptos Display" pitchFamily="34" charset="-120"/>
              </a:rPr>
              <a:t>3</a:t>
            </a:r>
            <a:endParaRPr lang="en-US" sz="2700" dirty="0"/>
          </a:p>
        </p:txBody>
      </p:sp>
      <p:sp>
        <p:nvSpPr>
          <p:cNvPr id="34" name="Text 31"/>
          <p:cNvSpPr txBox="1"/>
          <p:nvPr/>
        </p:nvSpPr>
        <p:spPr>
          <a:xfrm>
            <a:off x="1591056" y="4956048"/>
            <a:ext cx="2926080" cy="164592"/>
          </a:xfrm>
          <a:prstGeom prst="rect">
            <a:avLst/>
          </a:prstGeom>
          <a:noFill/>
          <a:ln/>
        </p:spPr>
        <p:txBody>
          <a:bodyPr wrap="square" lIns="0" tIns="0" rIns="0" bIns="0" rtlCol="0" anchor="t"/>
          <a:lstStyle/>
          <a:p>
            <a:pPr algn="l" indent="0" marL="0">
              <a:buNone/>
            </a:pPr>
            <a:r>
              <a:rPr lang="en-US" sz="830" b="1" spc="100" kern="0" dirty="0">
                <a:solidFill>
                  <a:srgbClr val="8A6A12"/>
                </a:solidFill>
                <a:latin typeface="Aptos" pitchFamily="34" charset="0"/>
                <a:ea typeface="Aptos" pitchFamily="34" charset="-122"/>
                <a:cs typeface="Aptos" pitchFamily="34" charset="-120"/>
              </a:rPr>
              <a:t>CAMBIÓ QUE AHORA HAY CONTRA QUÉ</a:t>
            </a:r>
            <a:endParaRPr lang="en-US" sz="830" dirty="0"/>
          </a:p>
        </p:txBody>
      </p:sp>
      <p:sp>
        <p:nvSpPr>
          <p:cNvPr id="35" name="Text 32"/>
          <p:cNvSpPr txBox="1"/>
          <p:nvPr/>
        </p:nvSpPr>
        <p:spPr>
          <a:xfrm>
            <a:off x="1591056" y="5175504"/>
            <a:ext cx="9649663" cy="347472"/>
          </a:xfrm>
          <a:prstGeom prst="rect">
            <a:avLst/>
          </a:prstGeom>
          <a:noFill/>
          <a:ln/>
        </p:spPr>
        <p:txBody>
          <a:bodyPr wrap="square" lIns="0" tIns="0" rIns="0" bIns="0" rtlCol="0" anchor="t"/>
          <a:lstStyle/>
          <a:p>
            <a:pPr algn="l" indent="0" marL="0">
              <a:lnSpc>
                <a:spcPct val="112000"/>
              </a:lnSpc>
              <a:buNone/>
            </a:pPr>
            <a:r>
              <a:rPr lang="en-US" sz="1240" b="1" dirty="0">
                <a:solidFill>
                  <a:srgbClr val="243B53"/>
                </a:solidFill>
                <a:latin typeface="Aptos" pitchFamily="34" charset="0"/>
                <a:ea typeface="Aptos" pitchFamily="34" charset="-122"/>
                <a:cs typeface="Aptos" pitchFamily="34" charset="-120"/>
              </a:rPr>
              <a:t>Un hueco no existe como hueco hasta que alguien escribe la promesa que nadie está comprobando.</a:t>
            </a:r>
            <a:endParaRPr lang="en-US" sz="1240" dirty="0"/>
          </a:p>
        </p:txBody>
      </p:sp>
      <p:sp>
        <p:nvSpPr>
          <p:cNvPr id="36" name="Shape 33"/>
          <p:cNvSpPr/>
          <p:nvPr/>
        </p:nvSpPr>
        <p:spPr>
          <a:xfrm>
            <a:off x="1591056" y="5577840"/>
            <a:ext cx="9649663" cy="0"/>
          </a:xfrm>
          <a:prstGeom prst="line">
            <a:avLst/>
          </a:prstGeom>
          <a:noFill/>
          <a:ln w="12700">
            <a:solidFill>
              <a:srgbClr val="D8CFC4"/>
            </a:solidFill>
            <a:prstDash val="solid"/>
            <a:headEnd type="none"/>
            <a:tailEnd type="none"/>
          </a:ln>
        </p:spPr>
      </p:sp>
      <p:sp>
        <p:nvSpPr>
          <p:cNvPr id="37" name="Text 34"/>
          <p:cNvSpPr txBox="1"/>
          <p:nvPr/>
        </p:nvSpPr>
        <p:spPr>
          <a:xfrm>
            <a:off x="1591056" y="5669280"/>
            <a:ext cx="1188720" cy="155448"/>
          </a:xfrm>
          <a:prstGeom prst="rect">
            <a:avLst/>
          </a:prstGeom>
          <a:noFill/>
          <a:ln/>
        </p:spPr>
        <p:txBody>
          <a:bodyPr wrap="square" lIns="0" tIns="0" rIns="0" bIns="0" rtlCol="0" anchor="t"/>
          <a:lstStyle/>
          <a:p>
            <a:pPr algn="l" indent="0" marL="0">
              <a:buNone/>
            </a:pPr>
            <a:r>
              <a:rPr lang="en-US" sz="800" b="1" spc="90" kern="0" dirty="0">
                <a:solidFill>
                  <a:srgbClr val="2E7D4F"/>
                </a:solidFill>
                <a:latin typeface="Aptos" pitchFamily="34" charset="0"/>
                <a:ea typeface="Aptos" pitchFamily="34" charset="-122"/>
                <a:cs typeface="Aptos" pitchFamily="34" charset="-120"/>
              </a:rPr>
              <a:t>LO QUE REVELA</a:t>
            </a:r>
            <a:endParaRPr lang="en-US" sz="800" dirty="0"/>
          </a:p>
        </p:txBody>
      </p:sp>
      <p:sp>
        <p:nvSpPr>
          <p:cNvPr id="38" name="Text 35"/>
          <p:cNvSpPr txBox="1"/>
          <p:nvPr/>
        </p:nvSpPr>
        <p:spPr>
          <a:xfrm>
            <a:off x="2871216" y="5641848"/>
            <a:ext cx="3712464" cy="310896"/>
          </a:xfrm>
          <a:prstGeom prst="rect">
            <a:avLst/>
          </a:prstGeom>
          <a:noFill/>
          <a:ln/>
        </p:spPr>
        <p:txBody>
          <a:bodyPr wrap="square" lIns="0" tIns="0" rIns="0" bIns="0" rtlCol="0" anchor="t"/>
          <a:lstStyle/>
          <a:p>
            <a:pPr algn="l" indent="0" marL="0">
              <a:lnSpc>
                <a:spcPct val="110000"/>
              </a:lnSpc>
              <a:buNone/>
            </a:pPr>
            <a:r>
              <a:rPr lang="en-US" sz="1020" dirty="0">
                <a:solidFill>
                  <a:srgbClr val="243B53"/>
                </a:solidFill>
                <a:latin typeface="Aptos" pitchFamily="34" charset="0"/>
                <a:ea typeface="Aptos" pitchFamily="34" charset="-122"/>
                <a:cs typeface="Aptos" pitchFamily="34" charset="-120"/>
              </a:rPr>
              <a:t>La suite y la matriz decían la verdad sobre lo que existía. Faltaba el requisito.</a:t>
            </a:r>
            <a:endParaRPr lang="en-US" sz="1020" dirty="0"/>
          </a:p>
        </p:txBody>
      </p:sp>
      <p:sp>
        <p:nvSpPr>
          <p:cNvPr id="39" name="Text 36"/>
          <p:cNvSpPr txBox="1"/>
          <p:nvPr/>
        </p:nvSpPr>
        <p:spPr>
          <a:xfrm>
            <a:off x="6784848" y="5669280"/>
            <a:ext cx="1325880" cy="155448"/>
          </a:xfrm>
          <a:prstGeom prst="rect">
            <a:avLst/>
          </a:prstGeom>
          <a:noFill/>
          <a:ln/>
        </p:spPr>
        <p:txBody>
          <a:bodyPr wrap="square" lIns="0" tIns="0" rIns="0" bIns="0" rtlCol="0" anchor="t"/>
          <a:lstStyle/>
          <a:p>
            <a:pPr algn="l" indent="0" marL="0">
              <a:buNone/>
            </a:pPr>
            <a:r>
              <a:rPr lang="en-US" sz="800" b="1" spc="90" kern="0" dirty="0">
                <a:solidFill>
                  <a:srgbClr val="B3181E"/>
                </a:solidFill>
                <a:latin typeface="Aptos" pitchFamily="34" charset="0"/>
                <a:ea typeface="Aptos" pitchFamily="34" charset="-122"/>
                <a:cs typeface="Aptos" pitchFamily="34" charset="-120"/>
              </a:rPr>
              <a:t>ERROR FRECUENTE</a:t>
            </a:r>
            <a:endParaRPr lang="en-US" sz="800" dirty="0"/>
          </a:p>
        </p:txBody>
      </p:sp>
      <p:sp>
        <p:nvSpPr>
          <p:cNvPr id="40" name="Text 37"/>
          <p:cNvSpPr txBox="1"/>
          <p:nvPr/>
        </p:nvSpPr>
        <p:spPr>
          <a:xfrm>
            <a:off x="8138160" y="5641848"/>
            <a:ext cx="3063240" cy="310896"/>
          </a:xfrm>
          <a:prstGeom prst="rect">
            <a:avLst/>
          </a:prstGeom>
          <a:noFill/>
          <a:ln/>
        </p:spPr>
        <p:txBody>
          <a:bodyPr wrap="square" lIns="0" tIns="0" rIns="0" bIns="0" rtlCol="0" anchor="t"/>
          <a:lstStyle/>
          <a:p>
            <a:pPr algn="l" indent="0" marL="0">
              <a:lnSpc>
                <a:spcPct val="110000"/>
              </a:lnSpc>
              <a:buNone/>
            </a:pPr>
            <a:r>
              <a:rPr lang="en-US" sz="1020" i="1" dirty="0">
                <a:solidFill>
                  <a:srgbClr val="52606D"/>
                </a:solidFill>
                <a:latin typeface="Aptos" pitchFamily="34" charset="0"/>
                <a:ea typeface="Aptos" pitchFamily="34" charset="-122"/>
                <a:cs typeface="Aptos" pitchFamily="34" charset="-120"/>
              </a:rPr>
              <a:t>Esperar que una herramienta descubra la ausencia de algo que nadie declaró.</a:t>
            </a:r>
            <a:endParaRPr lang="en-US" sz="102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8F3EC"/>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102A43"/>
          </a:solidFill>
          <a:ln w="12700">
            <a:solidFill>
              <a:srgbClr val="102A43"/>
            </a:solidFill>
            <a:prstDash val="solid"/>
          </a:ln>
        </p:spPr>
      </p:sp>
      <p:sp>
        <p:nvSpPr>
          <p:cNvPr id="4" name="Shape 2"/>
          <p:cNvSpPr/>
          <p:nvPr/>
        </p:nvSpPr>
        <p:spPr>
          <a:xfrm>
            <a:off x="1243584" y="0"/>
            <a:ext cx="256032" cy="109728"/>
          </a:xfrm>
          <a:prstGeom prst="rect">
            <a:avLst/>
          </a:prstGeom>
          <a:solidFill>
            <a:srgbClr val="E0BC5A"/>
          </a:solidFill>
          <a:ln w="12700">
            <a:solidFill>
              <a:srgbClr val="E0BC5A"/>
            </a:solidFill>
            <a:prstDash val="solid"/>
          </a:ln>
        </p:spPr>
      </p:sp>
      <p:pic>
        <p:nvPicPr>
          <p:cNvPr id="5" name="Image 0" descr="C:\Users\Diego Obando\dev\pro402-taller-de-testing-2026\clases\semana-05\02\ppt\source\assets\logo-aiep.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22992" y="306941"/>
            <a:ext cx="1335024" cy="465110"/>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52606D"/>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243B53"/>
                </a:solidFill>
                <a:latin typeface="Aptos Display" pitchFamily="34" charset="0"/>
                <a:ea typeface="Aptos Display" pitchFamily="34" charset="-122"/>
                <a:cs typeface="Aptos Display" pitchFamily="34" charset="-120"/>
              </a:rPr>
              <a:t>49</a:t>
            </a:r>
            <a:endParaRPr lang="en-US" sz="1400" dirty="0"/>
          </a:p>
        </p:txBody>
      </p:sp>
      <p:sp>
        <p:nvSpPr>
          <p:cNvPr id="8" name="Text 5"/>
          <p:cNvSpPr txBox="1"/>
          <p:nvPr/>
        </p:nvSpPr>
        <p:spPr>
          <a:xfrm>
            <a:off x="658368" y="402336"/>
            <a:ext cx="7132320" cy="201168"/>
          </a:xfrm>
          <a:prstGeom prst="rect">
            <a:avLst/>
          </a:prstGeom>
          <a:noFill/>
          <a:ln/>
        </p:spPr>
        <p:txBody>
          <a:bodyPr wrap="square" lIns="0" tIns="0" rIns="0" bIns="0" rtlCol="0" anchor="t"/>
          <a:lstStyle/>
          <a:p>
            <a:pPr algn="l" indent="0" marL="0">
              <a:buNone/>
            </a:pPr>
            <a:r>
              <a:rPr lang="en-US" sz="1030" b="1" spc="170" kern="0" dirty="0">
                <a:solidFill>
                  <a:srgbClr val="D62027"/>
                </a:solidFill>
                <a:latin typeface="Aptos" pitchFamily="34" charset="0"/>
                <a:ea typeface="Aptos" pitchFamily="34" charset="-122"/>
                <a:cs typeface="Aptos" pitchFamily="34" charset="-120"/>
              </a:rPr>
              <a:t>CIERRE</a:t>
            </a:r>
            <a:endParaRPr lang="en-US" sz="1030" dirty="0"/>
          </a:p>
        </p:txBody>
      </p:sp>
      <p:sp>
        <p:nvSpPr>
          <p:cNvPr id="9" name="Text 6"/>
          <p:cNvSpPr txBox="1"/>
          <p:nvPr/>
        </p:nvSpPr>
        <p:spPr>
          <a:xfrm>
            <a:off x="658368" y="749808"/>
            <a:ext cx="9509760" cy="841248"/>
          </a:xfrm>
          <a:prstGeom prst="rect">
            <a:avLst/>
          </a:prstGeom>
          <a:noFill/>
          <a:ln/>
        </p:spPr>
        <p:txBody>
          <a:bodyPr wrap="square" lIns="0" tIns="0" rIns="0" bIns="0" rtlCol="0" anchor="t"/>
          <a:lstStyle/>
          <a:p>
            <a:pPr algn="l" indent="0" marL="0">
              <a:lnSpc>
                <a:spcPct val="103000"/>
              </a:lnSpc>
              <a:buNone/>
            </a:pPr>
            <a:r>
              <a:rPr lang="en-US" sz="3000" b="1" dirty="0">
                <a:solidFill>
                  <a:srgbClr val="243B53"/>
                </a:solidFill>
                <a:latin typeface="Aptos Display" pitchFamily="34" charset="0"/>
                <a:ea typeface="Aptos Display" pitchFamily="34" charset="-122"/>
                <a:cs typeface="Aptos Display" pitchFamily="34" charset="-120"/>
              </a:rPr>
              <a:t>Tres artefactos, tres afirmaciones distintas</a:t>
            </a:r>
            <a:endParaRPr lang="en-US" sz="3000" dirty="0"/>
          </a:p>
        </p:txBody>
      </p:sp>
      <p:sp>
        <p:nvSpPr>
          <p:cNvPr id="10" name="Text 7"/>
          <p:cNvSpPr txBox="1"/>
          <p:nvPr/>
        </p:nvSpPr>
        <p:spPr>
          <a:xfrm>
            <a:off x="658368" y="1664208"/>
            <a:ext cx="10424160" cy="365760"/>
          </a:xfrm>
          <a:prstGeom prst="rect">
            <a:avLst/>
          </a:prstGeom>
          <a:noFill/>
          <a:ln/>
        </p:spPr>
        <p:txBody>
          <a:bodyPr wrap="square" lIns="0" tIns="0" rIns="0" bIns="0" rtlCol="0" anchor="t"/>
          <a:lstStyle/>
          <a:p>
            <a:pPr algn="l" indent="0" marL="0">
              <a:lnSpc>
                <a:spcPct val="114000"/>
              </a:lnSpc>
              <a:buNone/>
            </a:pPr>
            <a:r>
              <a:rPr lang="en-US" sz="1420" dirty="0">
                <a:solidFill>
                  <a:srgbClr val="52606D"/>
                </a:solidFill>
                <a:latin typeface="Aptos" pitchFamily="34" charset="0"/>
                <a:ea typeface="Aptos" pitchFamily="34" charset="-122"/>
                <a:cs typeface="Aptos" pitchFamily="34" charset="-120"/>
              </a:rPr>
              <a:t>No se reemplazan entre sí. Confundir lo que afirma cada uno lleva a creer que un sistema está probado cuando lo único que está es en verde.</a:t>
            </a:r>
            <a:endParaRPr lang="en-US" sz="1420" dirty="0"/>
          </a:p>
        </p:txBody>
      </p:sp>
      <p:sp>
        <p:nvSpPr>
          <p:cNvPr id="11" name="Shape 8"/>
          <p:cNvSpPr/>
          <p:nvPr/>
        </p:nvSpPr>
        <p:spPr>
          <a:xfrm>
            <a:off x="658368" y="2340864"/>
            <a:ext cx="3527450" cy="2286000"/>
          </a:xfrm>
          <a:prstGeom prst="rect">
            <a:avLst/>
          </a:prstGeom>
          <a:solidFill>
            <a:srgbClr val="FFFFFF"/>
          </a:solidFill>
          <a:ln w="12700">
            <a:solidFill>
              <a:srgbClr val="FFFFFF"/>
            </a:solidFill>
            <a:prstDash val="solid"/>
          </a:ln>
        </p:spPr>
      </p:sp>
      <p:sp>
        <p:nvSpPr>
          <p:cNvPr id="12" name="Shape 9"/>
          <p:cNvSpPr/>
          <p:nvPr/>
        </p:nvSpPr>
        <p:spPr>
          <a:xfrm>
            <a:off x="658368" y="2340864"/>
            <a:ext cx="3527450" cy="54864"/>
          </a:xfrm>
          <a:prstGeom prst="rect">
            <a:avLst/>
          </a:prstGeom>
          <a:solidFill>
            <a:srgbClr val="102A43"/>
          </a:solidFill>
          <a:ln w="12700">
            <a:solidFill>
              <a:srgbClr val="102A43"/>
            </a:solidFill>
            <a:prstDash val="solid"/>
          </a:ln>
        </p:spPr>
      </p:sp>
      <p:sp>
        <p:nvSpPr>
          <p:cNvPr id="13" name="Text 10"/>
          <p:cNvSpPr txBox="1"/>
          <p:nvPr/>
        </p:nvSpPr>
        <p:spPr>
          <a:xfrm>
            <a:off x="896112" y="2523744"/>
            <a:ext cx="3051962" cy="310896"/>
          </a:xfrm>
          <a:prstGeom prst="rect">
            <a:avLst/>
          </a:prstGeom>
          <a:noFill/>
          <a:ln/>
        </p:spPr>
        <p:txBody>
          <a:bodyPr wrap="square" lIns="0" tIns="0" rIns="0" bIns="0" rtlCol="0" anchor="t"/>
          <a:lstStyle/>
          <a:p>
            <a:pPr algn="l" indent="0" marL="0">
              <a:buNone/>
            </a:pPr>
            <a:r>
              <a:rPr lang="en-US" sz="1700" b="1" dirty="0">
                <a:solidFill>
                  <a:srgbClr val="102A43"/>
                </a:solidFill>
                <a:latin typeface="Aptos" pitchFamily="34" charset="0"/>
                <a:ea typeface="Aptos" pitchFamily="34" charset="-122"/>
                <a:cs typeface="Aptos" pitchFamily="34" charset="-120"/>
              </a:rPr>
              <a:t>La suite</a:t>
            </a:r>
            <a:endParaRPr lang="en-US" sz="1700" dirty="0"/>
          </a:p>
        </p:txBody>
      </p:sp>
      <p:sp>
        <p:nvSpPr>
          <p:cNvPr id="14" name="Text 11"/>
          <p:cNvSpPr txBox="1"/>
          <p:nvPr/>
        </p:nvSpPr>
        <p:spPr>
          <a:xfrm>
            <a:off x="896112" y="2944368"/>
            <a:ext cx="1463040" cy="201168"/>
          </a:xfrm>
          <a:prstGeom prst="rect">
            <a:avLst/>
          </a:prstGeom>
          <a:noFill/>
          <a:ln/>
        </p:spPr>
        <p:txBody>
          <a:bodyPr wrap="square" lIns="0" tIns="0" rIns="0" bIns="0" rtlCol="0" anchor="t"/>
          <a:lstStyle/>
          <a:p>
            <a:pPr algn="l" indent="0" marL="0">
              <a:buNone/>
            </a:pPr>
            <a:r>
              <a:rPr lang="en-US" sz="960" b="1" spc="130" kern="0" dirty="0">
                <a:solidFill>
                  <a:srgbClr val="2E7D4F"/>
                </a:solidFill>
                <a:latin typeface="Aptos" pitchFamily="34" charset="0"/>
                <a:ea typeface="Aptos" pitchFamily="34" charset="-122"/>
                <a:cs typeface="Aptos" pitchFamily="34" charset="-120"/>
              </a:rPr>
              <a:t>SÍ AFIRMA</a:t>
            </a:r>
            <a:endParaRPr lang="en-US" sz="960" dirty="0"/>
          </a:p>
        </p:txBody>
      </p:sp>
      <p:sp>
        <p:nvSpPr>
          <p:cNvPr id="15" name="Text 12"/>
          <p:cNvSpPr txBox="1"/>
          <p:nvPr/>
        </p:nvSpPr>
        <p:spPr>
          <a:xfrm>
            <a:off x="896112" y="3163824"/>
            <a:ext cx="3051962" cy="585216"/>
          </a:xfrm>
          <a:prstGeom prst="rect">
            <a:avLst/>
          </a:prstGeom>
          <a:noFill/>
          <a:ln/>
        </p:spPr>
        <p:txBody>
          <a:bodyPr wrap="square" lIns="0" tIns="0" rIns="0" bIns="0" rtlCol="0" anchor="t"/>
          <a:lstStyle/>
          <a:p>
            <a:pPr algn="l" indent="0" marL="0">
              <a:lnSpc>
                <a:spcPct val="112000"/>
              </a:lnSpc>
              <a:buNone/>
            </a:pPr>
            <a:r>
              <a:rPr lang="en-US" sz="1100" dirty="0">
                <a:solidFill>
                  <a:srgbClr val="243B53"/>
                </a:solidFill>
                <a:latin typeface="Aptos" pitchFamily="34" charset="0"/>
                <a:ea typeface="Aptos" pitchFamily="34" charset="-122"/>
                <a:cs typeface="Aptos" pitchFamily="34" charset="-120"/>
              </a:rPr>
              <a:t>Que los casos que existen se comportaron como alguien esperaba.</a:t>
            </a:r>
            <a:endParaRPr lang="en-US" sz="1100" dirty="0"/>
          </a:p>
        </p:txBody>
      </p:sp>
      <p:sp>
        <p:nvSpPr>
          <p:cNvPr id="16" name="Shape 13"/>
          <p:cNvSpPr/>
          <p:nvPr/>
        </p:nvSpPr>
        <p:spPr>
          <a:xfrm>
            <a:off x="896112" y="3840480"/>
            <a:ext cx="3051962" cy="0"/>
          </a:xfrm>
          <a:prstGeom prst="line">
            <a:avLst/>
          </a:prstGeom>
          <a:noFill/>
          <a:ln w="12700">
            <a:solidFill>
              <a:srgbClr val="D8CFC4"/>
            </a:solidFill>
            <a:prstDash val="solid"/>
            <a:headEnd type="none"/>
            <a:tailEnd type="none"/>
          </a:ln>
        </p:spPr>
      </p:sp>
      <p:sp>
        <p:nvSpPr>
          <p:cNvPr id="17" name="Text 14"/>
          <p:cNvSpPr txBox="1"/>
          <p:nvPr/>
        </p:nvSpPr>
        <p:spPr>
          <a:xfrm>
            <a:off x="896112" y="3931920"/>
            <a:ext cx="1737360" cy="201168"/>
          </a:xfrm>
          <a:prstGeom prst="rect">
            <a:avLst/>
          </a:prstGeom>
          <a:noFill/>
          <a:ln/>
        </p:spPr>
        <p:txBody>
          <a:bodyPr wrap="square" lIns="0" tIns="0" rIns="0" bIns="0" rtlCol="0" anchor="t"/>
          <a:lstStyle/>
          <a:p>
            <a:pPr algn="l" indent="0" marL="0">
              <a:buNone/>
            </a:pPr>
            <a:r>
              <a:rPr lang="en-US" sz="960" b="1" spc="130" kern="0" dirty="0">
                <a:solidFill>
                  <a:srgbClr val="B3181E"/>
                </a:solidFill>
                <a:latin typeface="Aptos" pitchFamily="34" charset="0"/>
                <a:ea typeface="Aptos" pitchFamily="34" charset="-122"/>
                <a:cs typeface="Aptos" pitchFamily="34" charset="-120"/>
              </a:rPr>
              <a:t>NO PUEDE AFIRMAR</a:t>
            </a:r>
            <a:endParaRPr lang="en-US" sz="960" dirty="0"/>
          </a:p>
        </p:txBody>
      </p:sp>
      <p:sp>
        <p:nvSpPr>
          <p:cNvPr id="18" name="Text 15"/>
          <p:cNvSpPr txBox="1"/>
          <p:nvPr/>
        </p:nvSpPr>
        <p:spPr>
          <a:xfrm>
            <a:off x="896112" y="4151376"/>
            <a:ext cx="3051962" cy="384048"/>
          </a:xfrm>
          <a:prstGeom prst="rect">
            <a:avLst/>
          </a:prstGeom>
          <a:noFill/>
          <a:ln/>
        </p:spPr>
        <p:txBody>
          <a:bodyPr wrap="square" lIns="0" tIns="0" rIns="0" bIns="0" rtlCol="0" anchor="t"/>
          <a:lstStyle/>
          <a:p>
            <a:pPr algn="l" indent="0" marL="0">
              <a:lnSpc>
                <a:spcPct val="112000"/>
              </a:lnSpc>
              <a:buNone/>
            </a:pPr>
            <a:r>
              <a:rPr lang="en-US" sz="1100" dirty="0">
                <a:solidFill>
                  <a:srgbClr val="243B53"/>
                </a:solidFill>
                <a:latin typeface="Aptos" pitchFamily="34" charset="0"/>
                <a:ea typeface="Aptos" pitchFamily="34" charset="-122"/>
                <a:cs typeface="Aptos" pitchFamily="34" charset="-120"/>
              </a:rPr>
              <a:t>Qué quedó sin probar.</a:t>
            </a:r>
            <a:endParaRPr lang="en-US" sz="1100" dirty="0"/>
          </a:p>
        </p:txBody>
      </p:sp>
      <p:sp>
        <p:nvSpPr>
          <p:cNvPr id="19" name="Shape 16"/>
          <p:cNvSpPr/>
          <p:nvPr/>
        </p:nvSpPr>
        <p:spPr>
          <a:xfrm>
            <a:off x="4332122" y="2340864"/>
            <a:ext cx="3527450" cy="2286000"/>
          </a:xfrm>
          <a:prstGeom prst="rect">
            <a:avLst/>
          </a:prstGeom>
          <a:solidFill>
            <a:srgbClr val="FFFFFF"/>
          </a:solidFill>
          <a:ln w="12700">
            <a:solidFill>
              <a:srgbClr val="FFFFFF"/>
            </a:solidFill>
            <a:prstDash val="solid"/>
          </a:ln>
        </p:spPr>
      </p:sp>
      <p:sp>
        <p:nvSpPr>
          <p:cNvPr id="20" name="Shape 17"/>
          <p:cNvSpPr/>
          <p:nvPr/>
        </p:nvSpPr>
        <p:spPr>
          <a:xfrm>
            <a:off x="4332122" y="2340864"/>
            <a:ext cx="3527450" cy="54864"/>
          </a:xfrm>
          <a:prstGeom prst="rect">
            <a:avLst/>
          </a:prstGeom>
          <a:solidFill>
            <a:srgbClr val="8A6A12"/>
          </a:solidFill>
          <a:ln w="12700">
            <a:solidFill>
              <a:srgbClr val="8A6A12"/>
            </a:solidFill>
            <a:prstDash val="solid"/>
          </a:ln>
        </p:spPr>
      </p:sp>
      <p:sp>
        <p:nvSpPr>
          <p:cNvPr id="21" name="Text 18"/>
          <p:cNvSpPr txBox="1"/>
          <p:nvPr/>
        </p:nvSpPr>
        <p:spPr>
          <a:xfrm>
            <a:off x="4569866" y="2523744"/>
            <a:ext cx="3051962" cy="310896"/>
          </a:xfrm>
          <a:prstGeom prst="rect">
            <a:avLst/>
          </a:prstGeom>
          <a:noFill/>
          <a:ln/>
        </p:spPr>
        <p:txBody>
          <a:bodyPr wrap="square" lIns="0" tIns="0" rIns="0" bIns="0" rtlCol="0" anchor="t"/>
          <a:lstStyle/>
          <a:p>
            <a:pPr algn="l" indent="0" marL="0">
              <a:buNone/>
            </a:pPr>
            <a:r>
              <a:rPr lang="en-US" sz="1700" b="1" dirty="0">
                <a:solidFill>
                  <a:srgbClr val="8A6A12"/>
                </a:solidFill>
                <a:latin typeface="Aptos" pitchFamily="34" charset="0"/>
                <a:ea typeface="Aptos" pitchFamily="34" charset="-122"/>
                <a:cs typeface="Aptos" pitchFamily="34" charset="-120"/>
              </a:rPr>
              <a:t>El plan de pruebas</a:t>
            </a:r>
            <a:endParaRPr lang="en-US" sz="1700" dirty="0"/>
          </a:p>
        </p:txBody>
      </p:sp>
      <p:sp>
        <p:nvSpPr>
          <p:cNvPr id="22" name="Text 19"/>
          <p:cNvSpPr txBox="1"/>
          <p:nvPr/>
        </p:nvSpPr>
        <p:spPr>
          <a:xfrm>
            <a:off x="4569866" y="2944368"/>
            <a:ext cx="1463040" cy="201168"/>
          </a:xfrm>
          <a:prstGeom prst="rect">
            <a:avLst/>
          </a:prstGeom>
          <a:noFill/>
          <a:ln/>
        </p:spPr>
        <p:txBody>
          <a:bodyPr wrap="square" lIns="0" tIns="0" rIns="0" bIns="0" rtlCol="0" anchor="t"/>
          <a:lstStyle/>
          <a:p>
            <a:pPr algn="l" indent="0" marL="0">
              <a:buNone/>
            </a:pPr>
            <a:r>
              <a:rPr lang="en-US" sz="960" b="1" spc="130" kern="0" dirty="0">
                <a:solidFill>
                  <a:srgbClr val="2E7D4F"/>
                </a:solidFill>
                <a:latin typeface="Aptos" pitchFamily="34" charset="0"/>
                <a:ea typeface="Aptos" pitchFamily="34" charset="-122"/>
                <a:cs typeface="Aptos" pitchFamily="34" charset="-120"/>
              </a:rPr>
              <a:t>SÍ AFIRMA</a:t>
            </a:r>
            <a:endParaRPr lang="en-US" sz="960" dirty="0"/>
          </a:p>
        </p:txBody>
      </p:sp>
      <p:sp>
        <p:nvSpPr>
          <p:cNvPr id="23" name="Text 20"/>
          <p:cNvSpPr txBox="1"/>
          <p:nvPr/>
        </p:nvSpPr>
        <p:spPr>
          <a:xfrm>
            <a:off x="4569866" y="3163824"/>
            <a:ext cx="3051962" cy="585216"/>
          </a:xfrm>
          <a:prstGeom prst="rect">
            <a:avLst/>
          </a:prstGeom>
          <a:noFill/>
          <a:ln/>
        </p:spPr>
        <p:txBody>
          <a:bodyPr wrap="square" lIns="0" tIns="0" rIns="0" bIns="0" rtlCol="0" anchor="t"/>
          <a:lstStyle/>
          <a:p>
            <a:pPr algn="l" indent="0" marL="0">
              <a:lnSpc>
                <a:spcPct val="112000"/>
              </a:lnSpc>
              <a:buNone/>
            </a:pPr>
            <a:r>
              <a:rPr lang="en-US" sz="1100" dirty="0">
                <a:solidFill>
                  <a:srgbClr val="243B53"/>
                </a:solidFill>
                <a:latin typeface="Aptos" pitchFamily="34" charset="0"/>
                <a:ea typeface="Aptos" pitchFamily="34" charset="-122"/>
                <a:cs typeface="Aptos" pitchFamily="34" charset="-120"/>
              </a:rPr>
              <a:t>Qué se decidió probar, qué queda fuera y cuándo es suficiente.</a:t>
            </a:r>
            <a:endParaRPr lang="en-US" sz="1100" dirty="0"/>
          </a:p>
        </p:txBody>
      </p:sp>
      <p:sp>
        <p:nvSpPr>
          <p:cNvPr id="24" name="Shape 21"/>
          <p:cNvSpPr/>
          <p:nvPr/>
        </p:nvSpPr>
        <p:spPr>
          <a:xfrm>
            <a:off x="4569866" y="3840480"/>
            <a:ext cx="3051962" cy="0"/>
          </a:xfrm>
          <a:prstGeom prst="line">
            <a:avLst/>
          </a:prstGeom>
          <a:noFill/>
          <a:ln w="12700">
            <a:solidFill>
              <a:srgbClr val="D8CFC4"/>
            </a:solidFill>
            <a:prstDash val="solid"/>
            <a:headEnd type="none"/>
            <a:tailEnd type="none"/>
          </a:ln>
        </p:spPr>
      </p:sp>
      <p:sp>
        <p:nvSpPr>
          <p:cNvPr id="25" name="Text 22"/>
          <p:cNvSpPr txBox="1"/>
          <p:nvPr/>
        </p:nvSpPr>
        <p:spPr>
          <a:xfrm>
            <a:off x="4569866" y="3931920"/>
            <a:ext cx="1737360" cy="201168"/>
          </a:xfrm>
          <a:prstGeom prst="rect">
            <a:avLst/>
          </a:prstGeom>
          <a:noFill/>
          <a:ln/>
        </p:spPr>
        <p:txBody>
          <a:bodyPr wrap="square" lIns="0" tIns="0" rIns="0" bIns="0" rtlCol="0" anchor="t"/>
          <a:lstStyle/>
          <a:p>
            <a:pPr algn="l" indent="0" marL="0">
              <a:buNone/>
            </a:pPr>
            <a:r>
              <a:rPr lang="en-US" sz="960" b="1" spc="130" kern="0" dirty="0">
                <a:solidFill>
                  <a:srgbClr val="B3181E"/>
                </a:solidFill>
                <a:latin typeface="Aptos" pitchFamily="34" charset="0"/>
                <a:ea typeface="Aptos" pitchFamily="34" charset="-122"/>
                <a:cs typeface="Aptos" pitchFamily="34" charset="-120"/>
              </a:rPr>
              <a:t>NO PUEDE AFIRMAR</a:t>
            </a:r>
            <a:endParaRPr lang="en-US" sz="960" dirty="0"/>
          </a:p>
        </p:txBody>
      </p:sp>
      <p:sp>
        <p:nvSpPr>
          <p:cNvPr id="26" name="Text 23"/>
          <p:cNvSpPr txBox="1"/>
          <p:nvPr/>
        </p:nvSpPr>
        <p:spPr>
          <a:xfrm>
            <a:off x="4569866" y="4151376"/>
            <a:ext cx="3051962" cy="384048"/>
          </a:xfrm>
          <a:prstGeom prst="rect">
            <a:avLst/>
          </a:prstGeom>
          <a:noFill/>
          <a:ln/>
        </p:spPr>
        <p:txBody>
          <a:bodyPr wrap="square" lIns="0" tIns="0" rIns="0" bIns="0" rtlCol="0" anchor="t"/>
          <a:lstStyle/>
          <a:p>
            <a:pPr algn="l" indent="0" marL="0">
              <a:lnSpc>
                <a:spcPct val="112000"/>
              </a:lnSpc>
              <a:buNone/>
            </a:pPr>
            <a:r>
              <a:rPr lang="en-US" sz="1100" dirty="0">
                <a:solidFill>
                  <a:srgbClr val="243B53"/>
                </a:solidFill>
                <a:latin typeface="Aptos" pitchFamily="34" charset="0"/>
                <a:ea typeface="Aptos" pitchFamily="34" charset="-122"/>
                <a:cs typeface="Aptos" pitchFamily="34" charset="-120"/>
              </a:rPr>
              <a:t>Que lo decidido se haya hecho.</a:t>
            </a:r>
            <a:endParaRPr lang="en-US" sz="1100" dirty="0"/>
          </a:p>
        </p:txBody>
      </p:sp>
      <p:sp>
        <p:nvSpPr>
          <p:cNvPr id="27" name="Shape 24"/>
          <p:cNvSpPr/>
          <p:nvPr/>
        </p:nvSpPr>
        <p:spPr>
          <a:xfrm>
            <a:off x="8005877" y="2340864"/>
            <a:ext cx="3527450" cy="2286000"/>
          </a:xfrm>
          <a:prstGeom prst="rect">
            <a:avLst/>
          </a:prstGeom>
          <a:solidFill>
            <a:srgbClr val="FFFFFF"/>
          </a:solidFill>
          <a:ln w="12700">
            <a:solidFill>
              <a:srgbClr val="FFFFFF"/>
            </a:solidFill>
            <a:prstDash val="solid"/>
          </a:ln>
        </p:spPr>
      </p:sp>
      <p:sp>
        <p:nvSpPr>
          <p:cNvPr id="28" name="Shape 25"/>
          <p:cNvSpPr/>
          <p:nvPr/>
        </p:nvSpPr>
        <p:spPr>
          <a:xfrm>
            <a:off x="8005877" y="2340864"/>
            <a:ext cx="3527450" cy="54864"/>
          </a:xfrm>
          <a:prstGeom prst="rect">
            <a:avLst/>
          </a:prstGeom>
          <a:solidFill>
            <a:srgbClr val="2E7D4F"/>
          </a:solidFill>
          <a:ln w="12700">
            <a:solidFill>
              <a:srgbClr val="2E7D4F"/>
            </a:solidFill>
            <a:prstDash val="solid"/>
          </a:ln>
        </p:spPr>
      </p:sp>
      <p:sp>
        <p:nvSpPr>
          <p:cNvPr id="29" name="Text 26"/>
          <p:cNvSpPr txBox="1"/>
          <p:nvPr/>
        </p:nvSpPr>
        <p:spPr>
          <a:xfrm>
            <a:off x="8243621" y="2523744"/>
            <a:ext cx="3051962" cy="310896"/>
          </a:xfrm>
          <a:prstGeom prst="rect">
            <a:avLst/>
          </a:prstGeom>
          <a:noFill/>
          <a:ln/>
        </p:spPr>
        <p:txBody>
          <a:bodyPr wrap="square" lIns="0" tIns="0" rIns="0" bIns="0" rtlCol="0" anchor="t"/>
          <a:lstStyle/>
          <a:p>
            <a:pPr algn="l" indent="0" marL="0">
              <a:buNone/>
            </a:pPr>
            <a:r>
              <a:rPr lang="en-US" sz="1700" b="1" dirty="0">
                <a:solidFill>
                  <a:srgbClr val="2E7D4F"/>
                </a:solidFill>
                <a:latin typeface="Aptos" pitchFamily="34" charset="0"/>
                <a:ea typeface="Aptos" pitchFamily="34" charset="-122"/>
                <a:cs typeface="Aptos" pitchFamily="34" charset="-120"/>
              </a:rPr>
              <a:t>La matriz</a:t>
            </a:r>
            <a:endParaRPr lang="en-US" sz="1700" dirty="0"/>
          </a:p>
        </p:txBody>
      </p:sp>
      <p:sp>
        <p:nvSpPr>
          <p:cNvPr id="30" name="Text 27"/>
          <p:cNvSpPr txBox="1"/>
          <p:nvPr/>
        </p:nvSpPr>
        <p:spPr>
          <a:xfrm>
            <a:off x="8243621" y="2944368"/>
            <a:ext cx="1463040" cy="201168"/>
          </a:xfrm>
          <a:prstGeom prst="rect">
            <a:avLst/>
          </a:prstGeom>
          <a:noFill/>
          <a:ln/>
        </p:spPr>
        <p:txBody>
          <a:bodyPr wrap="square" lIns="0" tIns="0" rIns="0" bIns="0" rtlCol="0" anchor="t"/>
          <a:lstStyle/>
          <a:p>
            <a:pPr algn="l" indent="0" marL="0">
              <a:buNone/>
            </a:pPr>
            <a:r>
              <a:rPr lang="en-US" sz="960" b="1" spc="130" kern="0" dirty="0">
                <a:solidFill>
                  <a:srgbClr val="2E7D4F"/>
                </a:solidFill>
                <a:latin typeface="Aptos" pitchFamily="34" charset="0"/>
                <a:ea typeface="Aptos" pitchFamily="34" charset="-122"/>
                <a:cs typeface="Aptos" pitchFamily="34" charset="-120"/>
              </a:rPr>
              <a:t>SÍ AFIRMA</a:t>
            </a:r>
            <a:endParaRPr lang="en-US" sz="960" dirty="0"/>
          </a:p>
        </p:txBody>
      </p:sp>
      <p:sp>
        <p:nvSpPr>
          <p:cNvPr id="31" name="Text 28"/>
          <p:cNvSpPr txBox="1"/>
          <p:nvPr/>
        </p:nvSpPr>
        <p:spPr>
          <a:xfrm>
            <a:off x="8243621" y="3163824"/>
            <a:ext cx="3051962" cy="585216"/>
          </a:xfrm>
          <a:prstGeom prst="rect">
            <a:avLst/>
          </a:prstGeom>
          <a:noFill/>
          <a:ln/>
        </p:spPr>
        <p:txBody>
          <a:bodyPr wrap="square" lIns="0" tIns="0" rIns="0" bIns="0" rtlCol="0" anchor="t"/>
          <a:lstStyle/>
          <a:p>
            <a:pPr algn="l" indent="0" marL="0">
              <a:lnSpc>
                <a:spcPct val="112000"/>
              </a:lnSpc>
              <a:buNone/>
            </a:pPr>
            <a:r>
              <a:rPr lang="en-US" sz="1100" dirty="0">
                <a:solidFill>
                  <a:srgbClr val="243B53"/>
                </a:solidFill>
                <a:latin typeface="Aptos" pitchFamily="34" charset="0"/>
                <a:ea typeface="Aptos" pitchFamily="34" charset="-122"/>
                <a:cs typeface="Aptos" pitchFamily="34" charset="-120"/>
              </a:rPr>
              <a:t>Si lo decidido y lo escrito coinciden, y qué no responde a nada.</a:t>
            </a:r>
            <a:endParaRPr lang="en-US" sz="1100" dirty="0"/>
          </a:p>
        </p:txBody>
      </p:sp>
      <p:sp>
        <p:nvSpPr>
          <p:cNvPr id="32" name="Shape 29"/>
          <p:cNvSpPr/>
          <p:nvPr/>
        </p:nvSpPr>
        <p:spPr>
          <a:xfrm>
            <a:off x="8243621" y="3840480"/>
            <a:ext cx="3051962" cy="0"/>
          </a:xfrm>
          <a:prstGeom prst="line">
            <a:avLst/>
          </a:prstGeom>
          <a:noFill/>
          <a:ln w="12700">
            <a:solidFill>
              <a:srgbClr val="D8CFC4"/>
            </a:solidFill>
            <a:prstDash val="solid"/>
            <a:headEnd type="none"/>
            <a:tailEnd type="none"/>
          </a:ln>
        </p:spPr>
      </p:sp>
      <p:sp>
        <p:nvSpPr>
          <p:cNvPr id="33" name="Text 30"/>
          <p:cNvSpPr txBox="1"/>
          <p:nvPr/>
        </p:nvSpPr>
        <p:spPr>
          <a:xfrm>
            <a:off x="8243621" y="3931920"/>
            <a:ext cx="1737360" cy="201168"/>
          </a:xfrm>
          <a:prstGeom prst="rect">
            <a:avLst/>
          </a:prstGeom>
          <a:noFill/>
          <a:ln/>
        </p:spPr>
        <p:txBody>
          <a:bodyPr wrap="square" lIns="0" tIns="0" rIns="0" bIns="0" rtlCol="0" anchor="t"/>
          <a:lstStyle/>
          <a:p>
            <a:pPr algn="l" indent="0" marL="0">
              <a:buNone/>
            </a:pPr>
            <a:r>
              <a:rPr lang="en-US" sz="960" b="1" spc="130" kern="0" dirty="0">
                <a:solidFill>
                  <a:srgbClr val="B3181E"/>
                </a:solidFill>
                <a:latin typeface="Aptos" pitchFamily="34" charset="0"/>
                <a:ea typeface="Aptos" pitchFamily="34" charset="-122"/>
                <a:cs typeface="Aptos" pitchFamily="34" charset="-120"/>
              </a:rPr>
              <a:t>NO PUEDE AFIRMAR</a:t>
            </a:r>
            <a:endParaRPr lang="en-US" sz="960" dirty="0"/>
          </a:p>
        </p:txBody>
      </p:sp>
      <p:sp>
        <p:nvSpPr>
          <p:cNvPr id="34" name="Text 31"/>
          <p:cNvSpPr txBox="1"/>
          <p:nvPr/>
        </p:nvSpPr>
        <p:spPr>
          <a:xfrm>
            <a:off x="8243621" y="4151376"/>
            <a:ext cx="3051962" cy="384048"/>
          </a:xfrm>
          <a:prstGeom prst="rect">
            <a:avLst/>
          </a:prstGeom>
          <a:noFill/>
          <a:ln/>
        </p:spPr>
        <p:txBody>
          <a:bodyPr wrap="square" lIns="0" tIns="0" rIns="0" bIns="0" rtlCol="0" anchor="t"/>
          <a:lstStyle/>
          <a:p>
            <a:pPr algn="l" indent="0" marL="0">
              <a:lnSpc>
                <a:spcPct val="112000"/>
              </a:lnSpc>
              <a:buNone/>
            </a:pPr>
            <a:r>
              <a:rPr lang="en-US" sz="1100" dirty="0">
                <a:solidFill>
                  <a:srgbClr val="243B53"/>
                </a:solidFill>
                <a:latin typeface="Aptos" pitchFamily="34" charset="0"/>
                <a:ea typeface="Aptos" pitchFamily="34" charset="-122"/>
                <a:cs typeface="Aptos" pitchFamily="34" charset="-120"/>
              </a:rPr>
              <a:t>Si la prueba comprueba el requisito.</a:t>
            </a:r>
            <a:endParaRPr lang="en-US" sz="1100" dirty="0"/>
          </a:p>
        </p:txBody>
      </p:sp>
      <p:sp>
        <p:nvSpPr>
          <p:cNvPr id="35" name="Shape 32"/>
          <p:cNvSpPr/>
          <p:nvPr/>
        </p:nvSpPr>
        <p:spPr>
          <a:xfrm>
            <a:off x="658368" y="4791456"/>
            <a:ext cx="10874959" cy="694944"/>
          </a:xfrm>
          <a:prstGeom prst="rect">
            <a:avLst/>
          </a:prstGeom>
          <a:solidFill>
            <a:srgbClr val="F2E7D9"/>
          </a:solidFill>
          <a:ln w="12700">
            <a:solidFill>
              <a:srgbClr val="F2E7D9"/>
            </a:solidFill>
            <a:prstDash val="solid"/>
          </a:ln>
        </p:spPr>
      </p:sp>
      <p:sp>
        <p:nvSpPr>
          <p:cNvPr id="36" name="Shape 33"/>
          <p:cNvSpPr/>
          <p:nvPr/>
        </p:nvSpPr>
        <p:spPr>
          <a:xfrm>
            <a:off x="658368" y="4791456"/>
            <a:ext cx="54864" cy="694944"/>
          </a:xfrm>
          <a:prstGeom prst="rect">
            <a:avLst/>
          </a:prstGeom>
          <a:solidFill>
            <a:srgbClr val="B3181E"/>
          </a:solidFill>
          <a:ln w="12700">
            <a:solidFill>
              <a:srgbClr val="B3181E"/>
            </a:solidFill>
            <a:prstDash val="solid"/>
          </a:ln>
        </p:spPr>
      </p:sp>
      <p:sp>
        <p:nvSpPr>
          <p:cNvPr id="37" name="Text 34"/>
          <p:cNvSpPr txBox="1"/>
          <p:nvPr/>
        </p:nvSpPr>
        <p:spPr>
          <a:xfrm>
            <a:off x="932688" y="4882896"/>
            <a:ext cx="4023360" cy="237744"/>
          </a:xfrm>
          <a:prstGeom prst="rect">
            <a:avLst/>
          </a:prstGeom>
          <a:noFill/>
          <a:ln/>
        </p:spPr>
        <p:txBody>
          <a:bodyPr wrap="square" lIns="0" tIns="0" rIns="0" bIns="0" rtlCol="0" anchor="t"/>
          <a:lstStyle/>
          <a:p>
            <a:pPr algn="l" indent="0" marL="0">
              <a:buNone/>
            </a:pPr>
            <a:r>
              <a:rPr lang="en-US" sz="1140" b="1" dirty="0">
                <a:solidFill>
                  <a:srgbClr val="B3181E"/>
                </a:solidFill>
                <a:latin typeface="Aptos" pitchFamily="34" charset="0"/>
                <a:ea typeface="Aptos" pitchFamily="34" charset="-122"/>
                <a:cs typeface="Aptos" pitchFamily="34" charset="-120"/>
              </a:rPr>
              <a:t>Lo que tapa el hueco común de los tres</a:t>
            </a:r>
            <a:endParaRPr lang="en-US" sz="1140" dirty="0"/>
          </a:p>
        </p:txBody>
      </p:sp>
      <p:sp>
        <p:nvSpPr>
          <p:cNvPr id="38" name="Text 35"/>
          <p:cNvSpPr txBox="1"/>
          <p:nvPr/>
        </p:nvSpPr>
        <p:spPr>
          <a:xfrm>
            <a:off x="932688" y="5120640"/>
            <a:ext cx="10326319" cy="274320"/>
          </a:xfrm>
          <a:prstGeom prst="rect">
            <a:avLst/>
          </a:prstGeom>
          <a:noFill/>
          <a:ln/>
        </p:spPr>
        <p:txBody>
          <a:bodyPr wrap="square" lIns="0" tIns="0" rIns="0" bIns="0" rtlCol="0" anchor="t"/>
          <a:lstStyle/>
          <a:p>
            <a:pPr algn="l" indent="0" marL="0">
              <a:buNone/>
            </a:pPr>
            <a:r>
              <a:rPr lang="en-US" sz="1160" dirty="0">
                <a:solidFill>
                  <a:srgbClr val="243B53"/>
                </a:solidFill>
                <a:latin typeface="Aptos" pitchFamily="34" charset="0"/>
                <a:ea typeface="Aptos" pitchFamily="34" charset="-122"/>
                <a:cs typeface="Aptos" pitchFamily="34" charset="-120"/>
              </a:rPr>
              <a:t>Alterar el código a propósito y exigir el rojo: el único que produce evidencia en vez de una afirmación.</a:t>
            </a:r>
            <a:endParaRPr lang="en-US" sz="1160" dirty="0"/>
          </a:p>
        </p:txBody>
      </p:sp>
      <p:sp>
        <p:nvSpPr>
          <p:cNvPr id="39" name="Shape 36"/>
          <p:cNvSpPr/>
          <p:nvPr/>
        </p:nvSpPr>
        <p:spPr>
          <a:xfrm>
            <a:off x="658368" y="5669280"/>
            <a:ext cx="10874959" cy="457200"/>
          </a:xfrm>
          <a:prstGeom prst="rect">
            <a:avLst/>
          </a:prstGeom>
          <a:solidFill>
            <a:srgbClr val="102A43"/>
          </a:solidFill>
          <a:ln w="12700">
            <a:solidFill>
              <a:srgbClr val="102A43"/>
            </a:solidFill>
            <a:prstDash val="solid"/>
          </a:ln>
        </p:spPr>
      </p:sp>
      <p:sp>
        <p:nvSpPr>
          <p:cNvPr id="40" name="Text 37"/>
          <p:cNvSpPr txBox="1"/>
          <p:nvPr/>
        </p:nvSpPr>
        <p:spPr>
          <a:xfrm>
            <a:off x="950976" y="5705856"/>
            <a:ext cx="10289743" cy="384048"/>
          </a:xfrm>
          <a:prstGeom prst="rect">
            <a:avLst/>
          </a:prstGeom>
          <a:noFill/>
          <a:ln/>
        </p:spPr>
        <p:txBody>
          <a:bodyPr wrap="square" lIns="0" tIns="0" rIns="0" bIns="0" rtlCol="0" anchor="ctr"/>
          <a:lstStyle/>
          <a:p>
            <a:pPr algn="ctr" indent="0" marL="0">
              <a:lnSpc>
                <a:spcPct val="110000"/>
              </a:lnSpc>
              <a:buNone/>
            </a:pPr>
            <a:r>
              <a:rPr lang="en-US" sz="1380" b="1" dirty="0">
                <a:solidFill>
                  <a:srgbClr val="FFFFFF"/>
                </a:solidFill>
                <a:latin typeface="Aptos" pitchFamily="34" charset="0"/>
                <a:ea typeface="Aptos" pitchFamily="34" charset="-122"/>
                <a:cs typeface="Aptos" pitchFamily="34" charset="-120"/>
              </a:rPr>
              <a:t>Cuando la matriz y el agente se contradijeron, lo resolvió un mutante.</a:t>
            </a:r>
            <a:endParaRPr lang="en-US" sz="138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102A43"/>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E0BC5A"/>
          </a:solidFill>
          <a:ln w="12700">
            <a:solidFill>
              <a:srgbClr val="E0BC5A"/>
            </a:solidFill>
            <a:prstDash val="solid"/>
          </a:ln>
        </p:spPr>
      </p:sp>
      <p:sp>
        <p:nvSpPr>
          <p:cNvPr id="4" name="Shape 2"/>
          <p:cNvSpPr/>
          <p:nvPr/>
        </p:nvSpPr>
        <p:spPr>
          <a:xfrm>
            <a:off x="1243584" y="0"/>
            <a:ext cx="256032" cy="109728"/>
          </a:xfrm>
          <a:prstGeom prst="rect">
            <a:avLst/>
          </a:prstGeom>
          <a:solidFill>
            <a:srgbClr val="FFFFFF"/>
          </a:solidFill>
          <a:ln w="12700">
            <a:solidFill>
              <a:srgbClr val="FFFFFF"/>
            </a:solidFill>
            <a:prstDash val="solid"/>
          </a:ln>
        </p:spPr>
      </p:sp>
      <p:pic>
        <p:nvPicPr>
          <p:cNvPr id="5" name="Image 0" descr="C:\Users\Diego Obando\dev\pro402-taller-de-testing-2026\clases\semana-05\02\ppt\source\assets\logo-aiep-dark.png">    </p:cNvPr>
          <p:cNvPicPr>
            <a:picLocks noChangeAspect="1"/>
          </p:cNvPicPr>
          <p:nvPr/>
        </p:nvPicPr>
        <p:blipFill>
          <a:blip r:embed="rId1"/>
          <a:stretch>
            <a:fillRect/>
          </a:stretch>
        </p:blipFill>
        <p:spPr>
          <a:xfrm>
            <a:off x="10222992" y="307150"/>
            <a:ext cx="1335024" cy="464691"/>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EADFD0"/>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EADFD0"/>
                </a:solidFill>
                <a:latin typeface="Aptos Display" pitchFamily="34" charset="0"/>
                <a:ea typeface="Aptos Display" pitchFamily="34" charset="-122"/>
                <a:cs typeface="Aptos Display" pitchFamily="34" charset="-120"/>
              </a:rPr>
              <a:t>50</a:t>
            </a:r>
            <a:endParaRPr lang="en-US" sz="1400" dirty="0"/>
          </a:p>
        </p:txBody>
      </p:sp>
      <p:sp>
        <p:nvSpPr>
          <p:cNvPr id="8" name="Text 5"/>
          <p:cNvSpPr txBox="1"/>
          <p:nvPr/>
        </p:nvSpPr>
        <p:spPr>
          <a:xfrm>
            <a:off x="658368" y="1188720"/>
            <a:ext cx="5486400" cy="201168"/>
          </a:xfrm>
          <a:prstGeom prst="rect">
            <a:avLst/>
          </a:prstGeom>
          <a:noFill/>
          <a:ln/>
        </p:spPr>
        <p:txBody>
          <a:bodyPr wrap="square" lIns="0" tIns="0" rIns="0" bIns="0" rtlCol="0" anchor="t"/>
          <a:lstStyle/>
          <a:p>
            <a:pPr algn="l" indent="0" marL="0">
              <a:buNone/>
            </a:pPr>
            <a:r>
              <a:rPr lang="en-US" sz="960" b="1" spc="130" kern="0" dirty="0">
                <a:solidFill>
                  <a:srgbClr val="E0BC5A"/>
                </a:solidFill>
                <a:latin typeface="Aptos" pitchFamily="34" charset="0"/>
                <a:ea typeface="Aptos" pitchFamily="34" charset="-122"/>
                <a:cs typeface="Aptos" pitchFamily="34" charset="-120"/>
              </a:rPr>
              <a:t>LO QUE SE PUEDE SOSTENER AL SALIR</a:t>
            </a:r>
            <a:endParaRPr lang="en-US" sz="960" dirty="0"/>
          </a:p>
        </p:txBody>
      </p:sp>
      <p:sp>
        <p:nvSpPr>
          <p:cNvPr id="9" name="Shape 6"/>
          <p:cNvSpPr/>
          <p:nvPr/>
        </p:nvSpPr>
        <p:spPr>
          <a:xfrm>
            <a:off x="658368" y="1554480"/>
            <a:ext cx="2609012" cy="1426464"/>
          </a:xfrm>
          <a:prstGeom prst="rect">
            <a:avLst/>
          </a:prstGeom>
          <a:solidFill>
            <a:srgbClr val="1D3A57"/>
          </a:solidFill>
          <a:ln w="12700">
            <a:solidFill>
              <a:srgbClr val="1D3A57"/>
            </a:solidFill>
            <a:prstDash val="solid"/>
          </a:ln>
        </p:spPr>
      </p:sp>
      <p:sp>
        <p:nvSpPr>
          <p:cNvPr id="10" name="Shape 7"/>
          <p:cNvSpPr/>
          <p:nvPr/>
        </p:nvSpPr>
        <p:spPr>
          <a:xfrm>
            <a:off x="658368" y="1554480"/>
            <a:ext cx="2609012" cy="54864"/>
          </a:xfrm>
          <a:prstGeom prst="rect">
            <a:avLst/>
          </a:prstGeom>
          <a:solidFill>
            <a:srgbClr val="D62027"/>
          </a:solidFill>
          <a:ln w="12700">
            <a:solidFill>
              <a:srgbClr val="D62027"/>
            </a:solidFill>
            <a:prstDash val="solid"/>
          </a:ln>
        </p:spPr>
      </p:sp>
      <p:sp>
        <p:nvSpPr>
          <p:cNvPr id="11" name="Text 8"/>
          <p:cNvSpPr txBox="1"/>
          <p:nvPr/>
        </p:nvSpPr>
        <p:spPr>
          <a:xfrm>
            <a:off x="859536" y="1682496"/>
            <a:ext cx="457200" cy="274320"/>
          </a:xfrm>
          <a:prstGeom prst="rect">
            <a:avLst/>
          </a:prstGeom>
          <a:noFill/>
          <a:ln/>
        </p:spPr>
        <p:txBody>
          <a:bodyPr wrap="square" lIns="0" tIns="0" rIns="0" bIns="0" rtlCol="0" anchor="t"/>
          <a:lstStyle/>
          <a:p>
            <a:pPr algn="l" indent="0" marL="0">
              <a:buNone/>
            </a:pPr>
            <a:r>
              <a:rPr lang="en-US" sz="1800" b="1" dirty="0">
                <a:solidFill>
                  <a:srgbClr val="E0BC5A"/>
                </a:solidFill>
                <a:latin typeface="Aptos Display" pitchFamily="34" charset="0"/>
                <a:ea typeface="Aptos Display" pitchFamily="34" charset="-122"/>
                <a:cs typeface="Aptos Display" pitchFamily="34" charset="-120"/>
              </a:rPr>
              <a:t>1</a:t>
            </a:r>
            <a:endParaRPr lang="en-US" sz="1800" dirty="0"/>
          </a:p>
        </p:txBody>
      </p:sp>
      <p:sp>
        <p:nvSpPr>
          <p:cNvPr id="12" name="Text 9"/>
          <p:cNvSpPr txBox="1"/>
          <p:nvPr/>
        </p:nvSpPr>
        <p:spPr>
          <a:xfrm>
            <a:off x="859536" y="1993392"/>
            <a:ext cx="2206676" cy="603504"/>
          </a:xfrm>
          <a:prstGeom prst="rect">
            <a:avLst/>
          </a:prstGeom>
          <a:noFill/>
          <a:ln/>
        </p:spPr>
        <p:txBody>
          <a:bodyPr wrap="square" lIns="0" tIns="0" rIns="0" bIns="0" rtlCol="0" anchor="t"/>
          <a:lstStyle/>
          <a:p>
            <a:pPr algn="l" indent="0" marL="0">
              <a:lnSpc>
                <a:spcPct val="112000"/>
              </a:lnSpc>
              <a:buNone/>
            </a:pPr>
            <a:r>
              <a:rPr lang="en-US" sz="1160" b="1" dirty="0">
                <a:solidFill>
                  <a:srgbClr val="FFFFFF"/>
                </a:solidFill>
                <a:latin typeface="Aptos" pitchFamily="34" charset="0"/>
                <a:ea typeface="Aptos" pitchFamily="34" charset="-122"/>
                <a:cs typeface="Aptos" pitchFamily="34" charset="-120"/>
              </a:rPr>
              <a:t>Estas pruebas comprueban estos requisitos</a:t>
            </a:r>
            <a:endParaRPr lang="en-US" sz="1160" dirty="0"/>
          </a:p>
        </p:txBody>
      </p:sp>
      <p:sp>
        <p:nvSpPr>
          <p:cNvPr id="13" name="Text 10"/>
          <p:cNvSpPr txBox="1"/>
          <p:nvPr/>
        </p:nvSpPr>
        <p:spPr>
          <a:xfrm>
            <a:off x="859536" y="2651760"/>
            <a:ext cx="2206676" cy="274320"/>
          </a:xfrm>
          <a:prstGeom prst="rect">
            <a:avLst/>
          </a:prstGeom>
          <a:noFill/>
          <a:ln/>
        </p:spPr>
        <p:txBody>
          <a:bodyPr wrap="square" lIns="0" tIns="0" rIns="0" bIns="0" rtlCol="0" anchor="t"/>
          <a:lstStyle/>
          <a:p>
            <a:pPr algn="l" indent="0" marL="0">
              <a:lnSpc>
                <a:spcPct val="110000"/>
              </a:lnSpc>
              <a:buNone/>
            </a:pPr>
            <a:r>
              <a:rPr lang="en-US" sz="980" dirty="0">
                <a:solidFill>
                  <a:srgbClr val="E6EEF7"/>
                </a:solidFill>
                <a:latin typeface="Aptos" pitchFamily="34" charset="0"/>
                <a:ea typeface="Aptos" pitchFamily="34" charset="-122"/>
                <a:cs typeface="Aptos" pitchFamily="34" charset="-120"/>
              </a:rPr>
              <a:t>y puedo mostrar la matriz que los cruza</a:t>
            </a:r>
            <a:endParaRPr lang="en-US" sz="980" dirty="0"/>
          </a:p>
        </p:txBody>
      </p:sp>
      <p:sp>
        <p:nvSpPr>
          <p:cNvPr id="14" name="Shape 11"/>
          <p:cNvSpPr/>
          <p:nvPr/>
        </p:nvSpPr>
        <p:spPr>
          <a:xfrm>
            <a:off x="3413684" y="1554480"/>
            <a:ext cx="2609012" cy="1426464"/>
          </a:xfrm>
          <a:prstGeom prst="rect">
            <a:avLst/>
          </a:prstGeom>
          <a:solidFill>
            <a:srgbClr val="1D3A57"/>
          </a:solidFill>
          <a:ln w="12700">
            <a:solidFill>
              <a:srgbClr val="1D3A57"/>
            </a:solidFill>
            <a:prstDash val="solid"/>
          </a:ln>
        </p:spPr>
      </p:sp>
      <p:sp>
        <p:nvSpPr>
          <p:cNvPr id="15" name="Shape 12"/>
          <p:cNvSpPr/>
          <p:nvPr/>
        </p:nvSpPr>
        <p:spPr>
          <a:xfrm>
            <a:off x="3413684" y="1554480"/>
            <a:ext cx="2609012" cy="54864"/>
          </a:xfrm>
          <a:prstGeom prst="rect">
            <a:avLst/>
          </a:prstGeom>
          <a:solidFill>
            <a:srgbClr val="D62027"/>
          </a:solidFill>
          <a:ln w="12700">
            <a:solidFill>
              <a:srgbClr val="D62027"/>
            </a:solidFill>
            <a:prstDash val="solid"/>
          </a:ln>
        </p:spPr>
      </p:sp>
      <p:sp>
        <p:nvSpPr>
          <p:cNvPr id="16" name="Text 13"/>
          <p:cNvSpPr txBox="1"/>
          <p:nvPr/>
        </p:nvSpPr>
        <p:spPr>
          <a:xfrm>
            <a:off x="3614852" y="1682496"/>
            <a:ext cx="457200" cy="274320"/>
          </a:xfrm>
          <a:prstGeom prst="rect">
            <a:avLst/>
          </a:prstGeom>
          <a:noFill/>
          <a:ln/>
        </p:spPr>
        <p:txBody>
          <a:bodyPr wrap="square" lIns="0" tIns="0" rIns="0" bIns="0" rtlCol="0" anchor="t"/>
          <a:lstStyle/>
          <a:p>
            <a:pPr algn="l" indent="0" marL="0">
              <a:buNone/>
            </a:pPr>
            <a:r>
              <a:rPr lang="en-US" sz="1800" b="1" dirty="0">
                <a:solidFill>
                  <a:srgbClr val="E0BC5A"/>
                </a:solidFill>
                <a:latin typeface="Aptos Display" pitchFamily="34" charset="0"/>
                <a:ea typeface="Aptos Display" pitchFamily="34" charset="-122"/>
                <a:cs typeface="Aptos Display" pitchFamily="34" charset="-120"/>
              </a:rPr>
              <a:t>2</a:t>
            </a:r>
            <a:endParaRPr lang="en-US" sz="1800" dirty="0"/>
          </a:p>
        </p:txBody>
      </p:sp>
      <p:sp>
        <p:nvSpPr>
          <p:cNvPr id="17" name="Text 14"/>
          <p:cNvSpPr txBox="1"/>
          <p:nvPr/>
        </p:nvSpPr>
        <p:spPr>
          <a:xfrm>
            <a:off x="3614852" y="1993392"/>
            <a:ext cx="2206676" cy="603504"/>
          </a:xfrm>
          <a:prstGeom prst="rect">
            <a:avLst/>
          </a:prstGeom>
          <a:noFill/>
          <a:ln/>
        </p:spPr>
        <p:txBody>
          <a:bodyPr wrap="square" lIns="0" tIns="0" rIns="0" bIns="0" rtlCol="0" anchor="t"/>
          <a:lstStyle/>
          <a:p>
            <a:pPr algn="l" indent="0" marL="0">
              <a:lnSpc>
                <a:spcPct val="112000"/>
              </a:lnSpc>
              <a:buNone/>
            </a:pPr>
            <a:r>
              <a:rPr lang="en-US" sz="1160" b="1" dirty="0">
                <a:solidFill>
                  <a:srgbClr val="FFFFFF"/>
                </a:solidFill>
                <a:latin typeface="Aptos" pitchFamily="34" charset="0"/>
                <a:ea typeface="Aptos" pitchFamily="34" charset="-122"/>
                <a:cs typeface="Aptos" pitchFamily="34" charset="-120"/>
              </a:rPr>
              <a:t>Estos otros no tienen ninguna</a:t>
            </a:r>
            <a:endParaRPr lang="en-US" sz="1160" dirty="0"/>
          </a:p>
        </p:txBody>
      </p:sp>
      <p:sp>
        <p:nvSpPr>
          <p:cNvPr id="18" name="Text 15"/>
          <p:cNvSpPr txBox="1"/>
          <p:nvPr/>
        </p:nvSpPr>
        <p:spPr>
          <a:xfrm>
            <a:off x="3614852" y="2651760"/>
            <a:ext cx="2206676" cy="274320"/>
          </a:xfrm>
          <a:prstGeom prst="rect">
            <a:avLst/>
          </a:prstGeom>
          <a:noFill/>
          <a:ln/>
        </p:spPr>
        <p:txBody>
          <a:bodyPr wrap="square" lIns="0" tIns="0" rIns="0" bIns="0" rtlCol="0" anchor="t"/>
          <a:lstStyle/>
          <a:p>
            <a:pPr algn="l" indent="0" marL="0">
              <a:lnSpc>
                <a:spcPct val="110000"/>
              </a:lnSpc>
              <a:buNone/>
            </a:pPr>
            <a:r>
              <a:rPr lang="en-US" sz="980" dirty="0">
                <a:solidFill>
                  <a:srgbClr val="E6EEF7"/>
                </a:solidFill>
                <a:latin typeface="Aptos" pitchFamily="34" charset="0"/>
                <a:ea typeface="Aptos" pitchFamily="34" charset="-122"/>
                <a:cs typeface="Aptos" pitchFamily="34" charset="-120"/>
              </a:rPr>
              <a:t>y está escrito por qué, y con qué prioridad</a:t>
            </a:r>
            <a:endParaRPr lang="en-US" sz="980" dirty="0"/>
          </a:p>
        </p:txBody>
      </p:sp>
      <p:sp>
        <p:nvSpPr>
          <p:cNvPr id="19" name="Shape 16"/>
          <p:cNvSpPr/>
          <p:nvPr/>
        </p:nvSpPr>
        <p:spPr>
          <a:xfrm>
            <a:off x="6169000" y="1554480"/>
            <a:ext cx="2609012" cy="1426464"/>
          </a:xfrm>
          <a:prstGeom prst="rect">
            <a:avLst/>
          </a:prstGeom>
          <a:solidFill>
            <a:srgbClr val="1D3A57"/>
          </a:solidFill>
          <a:ln w="12700">
            <a:solidFill>
              <a:srgbClr val="1D3A57"/>
            </a:solidFill>
            <a:prstDash val="solid"/>
          </a:ln>
        </p:spPr>
      </p:sp>
      <p:sp>
        <p:nvSpPr>
          <p:cNvPr id="20" name="Shape 17"/>
          <p:cNvSpPr/>
          <p:nvPr/>
        </p:nvSpPr>
        <p:spPr>
          <a:xfrm>
            <a:off x="6169000" y="1554480"/>
            <a:ext cx="2609012" cy="54864"/>
          </a:xfrm>
          <a:prstGeom prst="rect">
            <a:avLst/>
          </a:prstGeom>
          <a:solidFill>
            <a:srgbClr val="D62027"/>
          </a:solidFill>
          <a:ln w="12700">
            <a:solidFill>
              <a:srgbClr val="D62027"/>
            </a:solidFill>
            <a:prstDash val="solid"/>
          </a:ln>
        </p:spPr>
      </p:sp>
      <p:sp>
        <p:nvSpPr>
          <p:cNvPr id="21" name="Text 18"/>
          <p:cNvSpPr txBox="1"/>
          <p:nvPr/>
        </p:nvSpPr>
        <p:spPr>
          <a:xfrm>
            <a:off x="6370168" y="1682496"/>
            <a:ext cx="457200" cy="274320"/>
          </a:xfrm>
          <a:prstGeom prst="rect">
            <a:avLst/>
          </a:prstGeom>
          <a:noFill/>
          <a:ln/>
        </p:spPr>
        <p:txBody>
          <a:bodyPr wrap="square" lIns="0" tIns="0" rIns="0" bIns="0" rtlCol="0" anchor="t"/>
          <a:lstStyle/>
          <a:p>
            <a:pPr algn="l" indent="0" marL="0">
              <a:buNone/>
            </a:pPr>
            <a:r>
              <a:rPr lang="en-US" sz="1800" b="1" dirty="0">
                <a:solidFill>
                  <a:srgbClr val="E0BC5A"/>
                </a:solidFill>
                <a:latin typeface="Aptos Display" pitchFamily="34" charset="0"/>
                <a:ea typeface="Aptos Display" pitchFamily="34" charset="-122"/>
                <a:cs typeface="Aptos Display" pitchFamily="34" charset="-120"/>
              </a:rPr>
              <a:t>3</a:t>
            </a:r>
            <a:endParaRPr lang="en-US" sz="1800" dirty="0"/>
          </a:p>
        </p:txBody>
      </p:sp>
      <p:sp>
        <p:nvSpPr>
          <p:cNvPr id="22" name="Text 19"/>
          <p:cNvSpPr txBox="1"/>
          <p:nvPr/>
        </p:nvSpPr>
        <p:spPr>
          <a:xfrm>
            <a:off x="6370168" y="1993392"/>
            <a:ext cx="2206676" cy="603504"/>
          </a:xfrm>
          <a:prstGeom prst="rect">
            <a:avLst/>
          </a:prstGeom>
          <a:noFill/>
          <a:ln/>
        </p:spPr>
        <p:txBody>
          <a:bodyPr wrap="square" lIns="0" tIns="0" rIns="0" bIns="0" rtlCol="0" anchor="t"/>
          <a:lstStyle/>
          <a:p>
            <a:pPr algn="l" indent="0" marL="0">
              <a:lnSpc>
                <a:spcPct val="112000"/>
              </a:lnSpc>
              <a:buNone/>
            </a:pPr>
            <a:r>
              <a:rPr lang="en-US" sz="1160" b="1" dirty="0">
                <a:solidFill>
                  <a:srgbClr val="FFFFFF"/>
                </a:solidFill>
                <a:latin typeface="Aptos" pitchFamily="34" charset="0"/>
                <a:ea typeface="Aptos" pitchFamily="34" charset="-122"/>
                <a:cs typeface="Aptos" pitchFamily="34" charset="-120"/>
              </a:rPr>
              <a:t>El esfuerzo está repartido por riesgo</a:t>
            </a:r>
            <a:endParaRPr lang="en-US" sz="1160" dirty="0"/>
          </a:p>
        </p:txBody>
      </p:sp>
      <p:sp>
        <p:nvSpPr>
          <p:cNvPr id="23" name="Text 20"/>
          <p:cNvSpPr txBox="1"/>
          <p:nvPr/>
        </p:nvSpPr>
        <p:spPr>
          <a:xfrm>
            <a:off x="6370168" y="2651760"/>
            <a:ext cx="2206676" cy="274320"/>
          </a:xfrm>
          <a:prstGeom prst="rect">
            <a:avLst/>
          </a:prstGeom>
          <a:noFill/>
          <a:ln/>
        </p:spPr>
        <p:txBody>
          <a:bodyPr wrap="square" lIns="0" tIns="0" rIns="0" bIns="0" rtlCol="0" anchor="t"/>
          <a:lstStyle/>
          <a:p>
            <a:pPr algn="l" indent="0" marL="0">
              <a:lnSpc>
                <a:spcPct val="110000"/>
              </a:lnSpc>
              <a:buNone/>
            </a:pPr>
            <a:r>
              <a:rPr lang="en-US" sz="980" dirty="0">
                <a:solidFill>
                  <a:srgbClr val="E6EEF7"/>
                </a:solidFill>
                <a:latin typeface="Aptos" pitchFamily="34" charset="0"/>
                <a:ea typeface="Aptos" pitchFamily="34" charset="-122"/>
                <a:cs typeface="Aptos" pitchFamily="34" charset="-120"/>
              </a:rPr>
              <a:t>y no por lo que era cómodo de probar</a:t>
            </a:r>
            <a:endParaRPr lang="en-US" sz="980" dirty="0"/>
          </a:p>
        </p:txBody>
      </p:sp>
      <p:sp>
        <p:nvSpPr>
          <p:cNvPr id="24" name="Shape 21"/>
          <p:cNvSpPr/>
          <p:nvPr/>
        </p:nvSpPr>
        <p:spPr>
          <a:xfrm>
            <a:off x="8924315" y="1554480"/>
            <a:ext cx="2609012" cy="1426464"/>
          </a:xfrm>
          <a:prstGeom prst="rect">
            <a:avLst/>
          </a:prstGeom>
          <a:solidFill>
            <a:srgbClr val="1D3A57"/>
          </a:solidFill>
          <a:ln w="12700">
            <a:solidFill>
              <a:srgbClr val="1D3A57"/>
            </a:solidFill>
            <a:prstDash val="solid"/>
          </a:ln>
        </p:spPr>
      </p:sp>
      <p:sp>
        <p:nvSpPr>
          <p:cNvPr id="25" name="Shape 22"/>
          <p:cNvSpPr/>
          <p:nvPr/>
        </p:nvSpPr>
        <p:spPr>
          <a:xfrm>
            <a:off x="8924315" y="1554480"/>
            <a:ext cx="2609012" cy="54864"/>
          </a:xfrm>
          <a:prstGeom prst="rect">
            <a:avLst/>
          </a:prstGeom>
          <a:solidFill>
            <a:srgbClr val="D62027"/>
          </a:solidFill>
          <a:ln w="12700">
            <a:solidFill>
              <a:srgbClr val="D62027"/>
            </a:solidFill>
            <a:prstDash val="solid"/>
          </a:ln>
        </p:spPr>
      </p:sp>
      <p:sp>
        <p:nvSpPr>
          <p:cNvPr id="26" name="Text 23"/>
          <p:cNvSpPr txBox="1"/>
          <p:nvPr/>
        </p:nvSpPr>
        <p:spPr>
          <a:xfrm>
            <a:off x="9125483" y="1682496"/>
            <a:ext cx="457200" cy="274320"/>
          </a:xfrm>
          <a:prstGeom prst="rect">
            <a:avLst/>
          </a:prstGeom>
          <a:noFill/>
          <a:ln/>
        </p:spPr>
        <p:txBody>
          <a:bodyPr wrap="square" lIns="0" tIns="0" rIns="0" bIns="0" rtlCol="0" anchor="t"/>
          <a:lstStyle/>
          <a:p>
            <a:pPr algn="l" indent="0" marL="0">
              <a:buNone/>
            </a:pPr>
            <a:r>
              <a:rPr lang="en-US" sz="1800" b="1" dirty="0">
                <a:solidFill>
                  <a:srgbClr val="E0BC5A"/>
                </a:solidFill>
                <a:latin typeface="Aptos Display" pitchFamily="34" charset="0"/>
                <a:ea typeface="Aptos Display" pitchFamily="34" charset="-122"/>
                <a:cs typeface="Aptos Display" pitchFamily="34" charset="-120"/>
              </a:rPr>
              <a:t>4</a:t>
            </a:r>
            <a:endParaRPr lang="en-US" sz="1800" dirty="0"/>
          </a:p>
        </p:txBody>
      </p:sp>
      <p:sp>
        <p:nvSpPr>
          <p:cNvPr id="27" name="Text 24"/>
          <p:cNvSpPr txBox="1"/>
          <p:nvPr/>
        </p:nvSpPr>
        <p:spPr>
          <a:xfrm>
            <a:off x="9125483" y="1993392"/>
            <a:ext cx="2206676" cy="603504"/>
          </a:xfrm>
          <a:prstGeom prst="rect">
            <a:avLst/>
          </a:prstGeom>
          <a:noFill/>
          <a:ln/>
        </p:spPr>
        <p:txBody>
          <a:bodyPr wrap="square" lIns="0" tIns="0" rIns="0" bIns="0" rtlCol="0" anchor="t"/>
          <a:lstStyle/>
          <a:p>
            <a:pPr algn="l" indent="0" marL="0">
              <a:lnSpc>
                <a:spcPct val="112000"/>
              </a:lnSpc>
              <a:buNone/>
            </a:pPr>
            <a:r>
              <a:rPr lang="en-US" sz="1160" b="1" dirty="0">
                <a:solidFill>
                  <a:srgbClr val="FFFFFF"/>
                </a:solidFill>
                <a:latin typeface="Aptos" pitchFamily="34" charset="0"/>
                <a:ea typeface="Aptos" pitchFamily="34" charset="-122"/>
                <a:cs typeface="Aptos" pitchFamily="34" charset="-120"/>
              </a:rPr>
              <a:t>Esta fila cubierta la verifiqué</a:t>
            </a:r>
            <a:endParaRPr lang="en-US" sz="1160" dirty="0"/>
          </a:p>
        </p:txBody>
      </p:sp>
      <p:sp>
        <p:nvSpPr>
          <p:cNvPr id="28" name="Text 25"/>
          <p:cNvSpPr txBox="1"/>
          <p:nvPr/>
        </p:nvSpPr>
        <p:spPr>
          <a:xfrm>
            <a:off x="9125483" y="2651760"/>
            <a:ext cx="2206676" cy="274320"/>
          </a:xfrm>
          <a:prstGeom prst="rect">
            <a:avLst/>
          </a:prstGeom>
          <a:noFill/>
          <a:ln/>
        </p:spPr>
        <p:txBody>
          <a:bodyPr wrap="square" lIns="0" tIns="0" rIns="0" bIns="0" rtlCol="0" anchor="t"/>
          <a:lstStyle/>
          <a:p>
            <a:pPr algn="l" indent="0" marL="0">
              <a:lnSpc>
                <a:spcPct val="110000"/>
              </a:lnSpc>
              <a:buNone/>
            </a:pPr>
            <a:r>
              <a:rPr lang="en-US" sz="980" dirty="0">
                <a:solidFill>
                  <a:srgbClr val="E6EEF7"/>
                </a:solidFill>
                <a:latin typeface="Aptos" pitchFamily="34" charset="0"/>
                <a:ea typeface="Aptos" pitchFamily="34" charset="-122"/>
                <a:cs typeface="Aptos" pitchFamily="34" charset="-120"/>
              </a:rPr>
              <a:t>alterando el código y exigiendo el rojo</a:t>
            </a:r>
            <a:endParaRPr lang="en-US" sz="980" dirty="0"/>
          </a:p>
        </p:txBody>
      </p:sp>
      <p:sp>
        <p:nvSpPr>
          <p:cNvPr id="29" name="Shape 26"/>
          <p:cNvSpPr/>
          <p:nvPr/>
        </p:nvSpPr>
        <p:spPr>
          <a:xfrm>
            <a:off x="658368" y="3127248"/>
            <a:ext cx="3840480" cy="0"/>
          </a:xfrm>
          <a:prstGeom prst="line">
            <a:avLst/>
          </a:prstGeom>
          <a:noFill/>
          <a:ln w="12700">
            <a:solidFill>
              <a:srgbClr val="D62027"/>
            </a:solidFill>
            <a:prstDash val="solid"/>
            <a:headEnd type="none"/>
            <a:tailEnd type="none"/>
          </a:ln>
        </p:spPr>
      </p:sp>
      <p:sp>
        <p:nvSpPr>
          <p:cNvPr id="30" name="Text 27"/>
          <p:cNvSpPr txBox="1"/>
          <p:nvPr/>
        </p:nvSpPr>
        <p:spPr>
          <a:xfrm>
            <a:off x="658368" y="3346704"/>
            <a:ext cx="5486400" cy="201168"/>
          </a:xfrm>
          <a:prstGeom prst="rect">
            <a:avLst/>
          </a:prstGeom>
          <a:noFill/>
          <a:ln/>
        </p:spPr>
        <p:txBody>
          <a:bodyPr wrap="square" lIns="0" tIns="0" rIns="0" bIns="0" rtlCol="0" anchor="t"/>
          <a:lstStyle/>
          <a:p>
            <a:pPr algn="l" indent="0" marL="0">
              <a:buNone/>
            </a:pPr>
            <a:r>
              <a:rPr lang="en-US" sz="960" b="1" spc="130" kern="0" dirty="0">
                <a:solidFill>
                  <a:srgbClr val="E0BC5A"/>
                </a:solidFill>
                <a:latin typeface="Aptos" pitchFamily="34" charset="0"/>
                <a:ea typeface="Aptos" pitchFamily="34" charset="-122"/>
                <a:cs typeface="Aptos" pitchFamily="34" charset="-120"/>
              </a:rPr>
              <a:t>LOS TRES HALLAZGOS TIENEN LA MISMA FORMA</a:t>
            </a:r>
            <a:endParaRPr lang="en-US" sz="960" dirty="0"/>
          </a:p>
        </p:txBody>
      </p:sp>
      <p:sp>
        <p:nvSpPr>
          <p:cNvPr id="31" name="Shape 28"/>
          <p:cNvSpPr/>
          <p:nvPr/>
        </p:nvSpPr>
        <p:spPr>
          <a:xfrm>
            <a:off x="658368" y="3602736"/>
            <a:ext cx="3527450" cy="859536"/>
          </a:xfrm>
          <a:prstGeom prst="rect">
            <a:avLst/>
          </a:prstGeom>
          <a:solidFill>
            <a:srgbClr val="1D3A57"/>
          </a:solidFill>
          <a:ln w="12700">
            <a:solidFill>
              <a:srgbClr val="1D3A57"/>
            </a:solidFill>
            <a:prstDash val="solid"/>
          </a:ln>
        </p:spPr>
      </p:sp>
      <p:sp>
        <p:nvSpPr>
          <p:cNvPr id="32" name="Text 29"/>
          <p:cNvSpPr txBox="1"/>
          <p:nvPr/>
        </p:nvSpPr>
        <p:spPr>
          <a:xfrm>
            <a:off x="877824" y="3730752"/>
            <a:ext cx="3088538" cy="256032"/>
          </a:xfrm>
          <a:prstGeom prst="rect">
            <a:avLst/>
          </a:prstGeom>
          <a:noFill/>
          <a:ln/>
        </p:spPr>
        <p:txBody>
          <a:bodyPr wrap="square" lIns="0" tIns="0" rIns="0" bIns="0" rtlCol="0" anchor="t"/>
          <a:lstStyle/>
          <a:p>
            <a:pPr algn="l" indent="0" marL="0">
              <a:buNone/>
            </a:pPr>
            <a:r>
              <a:rPr lang="en-US" sz="1300" b="1" dirty="0">
                <a:solidFill>
                  <a:srgbClr val="E0BC5A"/>
                </a:solidFill>
                <a:latin typeface="Aptos" pitchFamily="34" charset="0"/>
                <a:ea typeface="Aptos" pitchFamily="34" charset="-122"/>
                <a:cs typeface="Aptos" pitchFamily="34" charset="-120"/>
              </a:rPr>
              <a:t>RF-05</a:t>
            </a:r>
            <a:endParaRPr lang="en-US" sz="1300" dirty="0"/>
          </a:p>
        </p:txBody>
      </p:sp>
      <p:sp>
        <p:nvSpPr>
          <p:cNvPr id="33" name="Text 30"/>
          <p:cNvSpPr txBox="1"/>
          <p:nvPr/>
        </p:nvSpPr>
        <p:spPr>
          <a:xfrm>
            <a:off x="877824" y="4023360"/>
            <a:ext cx="3088538" cy="365760"/>
          </a:xfrm>
          <a:prstGeom prst="rect">
            <a:avLst/>
          </a:prstGeom>
          <a:noFill/>
          <a:ln/>
        </p:spPr>
        <p:txBody>
          <a:bodyPr wrap="square" lIns="0" tIns="0" rIns="0" bIns="0" rtlCol="0" anchor="t"/>
          <a:lstStyle/>
          <a:p>
            <a:pPr algn="l" indent="0" marL="0">
              <a:lnSpc>
                <a:spcPct val="112000"/>
              </a:lnSpc>
              <a:buNone/>
            </a:pPr>
            <a:r>
              <a:rPr lang="en-US" sz="1020" dirty="0">
                <a:solidFill>
                  <a:srgbClr val="EADFD0"/>
                </a:solidFill>
                <a:latin typeface="Aptos" pitchFamily="34" charset="0"/>
                <a:ea typeface="Aptos" pitchFamily="34" charset="-122"/>
                <a:cs typeface="Aptos" pitchFamily="34" charset="-120"/>
              </a:rPr>
              <a:t>Siete sesiones sin una sola prueba, y la suite informando todos los días.</a:t>
            </a:r>
            <a:endParaRPr lang="en-US" sz="1020" dirty="0"/>
          </a:p>
        </p:txBody>
      </p:sp>
      <p:sp>
        <p:nvSpPr>
          <p:cNvPr id="34" name="Shape 31"/>
          <p:cNvSpPr/>
          <p:nvPr/>
        </p:nvSpPr>
        <p:spPr>
          <a:xfrm>
            <a:off x="4332122" y="3602736"/>
            <a:ext cx="3527450" cy="859536"/>
          </a:xfrm>
          <a:prstGeom prst="rect">
            <a:avLst/>
          </a:prstGeom>
          <a:solidFill>
            <a:srgbClr val="1D3A57"/>
          </a:solidFill>
          <a:ln w="12700">
            <a:solidFill>
              <a:srgbClr val="1D3A57"/>
            </a:solidFill>
            <a:prstDash val="solid"/>
          </a:ln>
        </p:spPr>
      </p:sp>
      <p:sp>
        <p:nvSpPr>
          <p:cNvPr id="35" name="Text 32"/>
          <p:cNvSpPr txBox="1"/>
          <p:nvPr/>
        </p:nvSpPr>
        <p:spPr>
          <a:xfrm>
            <a:off x="4551578" y="3730752"/>
            <a:ext cx="3088538" cy="256032"/>
          </a:xfrm>
          <a:prstGeom prst="rect">
            <a:avLst/>
          </a:prstGeom>
          <a:noFill/>
          <a:ln/>
        </p:spPr>
        <p:txBody>
          <a:bodyPr wrap="square" lIns="0" tIns="0" rIns="0" bIns="0" rtlCol="0" anchor="t"/>
          <a:lstStyle/>
          <a:p>
            <a:pPr algn="l" indent="0" marL="0">
              <a:buNone/>
            </a:pPr>
            <a:r>
              <a:rPr lang="en-US" sz="1300" b="1" dirty="0">
                <a:solidFill>
                  <a:srgbClr val="E0BC5A"/>
                </a:solidFill>
                <a:latin typeface="Aptos" pitchFamily="34" charset="0"/>
                <a:ea typeface="Aptos" pitchFamily="34" charset="-122"/>
                <a:cs typeface="Aptos" pitchFamily="34" charset="-120"/>
              </a:rPr>
              <a:t>RF-06</a:t>
            </a:r>
            <a:endParaRPr lang="en-US" sz="1300" dirty="0"/>
          </a:p>
        </p:txBody>
      </p:sp>
      <p:sp>
        <p:nvSpPr>
          <p:cNvPr id="36" name="Text 33"/>
          <p:cNvSpPr txBox="1"/>
          <p:nvPr/>
        </p:nvSpPr>
        <p:spPr>
          <a:xfrm>
            <a:off x="4551578" y="4023360"/>
            <a:ext cx="3088538" cy="365760"/>
          </a:xfrm>
          <a:prstGeom prst="rect">
            <a:avLst/>
          </a:prstGeom>
          <a:noFill/>
          <a:ln/>
        </p:spPr>
        <p:txBody>
          <a:bodyPr wrap="square" lIns="0" tIns="0" rIns="0" bIns="0" rtlCol="0" anchor="t"/>
          <a:lstStyle/>
          <a:p>
            <a:pPr algn="l" indent="0" marL="0">
              <a:lnSpc>
                <a:spcPct val="112000"/>
              </a:lnSpc>
              <a:buNone/>
            </a:pPr>
            <a:r>
              <a:rPr lang="en-US" sz="1020" dirty="0">
                <a:solidFill>
                  <a:srgbClr val="EADFD0"/>
                </a:solidFill>
                <a:latin typeface="Aptos" pitchFamily="34" charset="0"/>
                <a:ea typeface="Aptos" pitchFamily="34" charset="-122"/>
                <a:cs typeface="Aptos" pitchFamily="34" charset="-120"/>
              </a:rPr>
              <a:t>Una marca que decía cubierto y una aserción que no comprobaba nada.</a:t>
            </a:r>
            <a:endParaRPr lang="en-US" sz="1020" dirty="0"/>
          </a:p>
        </p:txBody>
      </p:sp>
      <p:sp>
        <p:nvSpPr>
          <p:cNvPr id="37" name="Shape 34"/>
          <p:cNvSpPr/>
          <p:nvPr/>
        </p:nvSpPr>
        <p:spPr>
          <a:xfrm>
            <a:off x="8005877" y="3602736"/>
            <a:ext cx="3527450" cy="859536"/>
          </a:xfrm>
          <a:prstGeom prst="rect">
            <a:avLst/>
          </a:prstGeom>
          <a:solidFill>
            <a:srgbClr val="1D3A57"/>
          </a:solidFill>
          <a:ln w="12700">
            <a:solidFill>
              <a:srgbClr val="1D3A57"/>
            </a:solidFill>
            <a:prstDash val="solid"/>
          </a:ln>
        </p:spPr>
      </p:sp>
      <p:sp>
        <p:nvSpPr>
          <p:cNvPr id="38" name="Text 35"/>
          <p:cNvSpPr txBox="1"/>
          <p:nvPr/>
        </p:nvSpPr>
        <p:spPr>
          <a:xfrm>
            <a:off x="8225333" y="3730752"/>
            <a:ext cx="3088538" cy="256032"/>
          </a:xfrm>
          <a:prstGeom prst="rect">
            <a:avLst/>
          </a:prstGeom>
          <a:noFill/>
          <a:ln/>
        </p:spPr>
        <p:txBody>
          <a:bodyPr wrap="square" lIns="0" tIns="0" rIns="0" bIns="0" rtlCol="0" anchor="t"/>
          <a:lstStyle/>
          <a:p>
            <a:pPr algn="l" indent="0" marL="0">
              <a:buNone/>
            </a:pPr>
            <a:r>
              <a:rPr lang="en-US" sz="1300" b="1" dirty="0">
                <a:solidFill>
                  <a:srgbClr val="E0BC5A"/>
                </a:solidFill>
                <a:latin typeface="Aptos" pitchFamily="34" charset="0"/>
                <a:ea typeface="Aptos" pitchFamily="34" charset="-122"/>
                <a:cs typeface="Aptos" pitchFamily="34" charset="-120"/>
              </a:rPr>
              <a:t>Los derechos</a:t>
            </a:r>
            <a:endParaRPr lang="en-US" sz="1300" dirty="0"/>
          </a:p>
        </p:txBody>
      </p:sp>
      <p:sp>
        <p:nvSpPr>
          <p:cNvPr id="39" name="Text 36"/>
          <p:cNvSpPr txBox="1"/>
          <p:nvPr/>
        </p:nvSpPr>
        <p:spPr>
          <a:xfrm>
            <a:off x="8225333" y="4023360"/>
            <a:ext cx="3088538" cy="365760"/>
          </a:xfrm>
          <a:prstGeom prst="rect">
            <a:avLst/>
          </a:prstGeom>
          <a:noFill/>
          <a:ln/>
        </p:spPr>
        <p:txBody>
          <a:bodyPr wrap="square" lIns="0" tIns="0" rIns="0" bIns="0" rtlCol="0" anchor="t"/>
          <a:lstStyle/>
          <a:p>
            <a:pPr algn="l" indent="0" marL="0">
              <a:lnSpc>
                <a:spcPct val="112000"/>
              </a:lnSpc>
              <a:buNone/>
            </a:pPr>
            <a:r>
              <a:rPr lang="en-US" sz="1020" dirty="0">
                <a:solidFill>
                  <a:srgbClr val="EADFD0"/>
                </a:solidFill>
                <a:latin typeface="Aptos" pitchFamily="34" charset="0"/>
                <a:ea typeface="Aptos" pitchFamily="34" charset="-122"/>
                <a:cs typeface="Aptos" pitchFamily="34" charset="-120"/>
              </a:rPr>
              <a:t>No tenían huecos hasta que alguien escribió la promesa.</a:t>
            </a:r>
            <a:endParaRPr lang="en-US" sz="1020" dirty="0"/>
          </a:p>
        </p:txBody>
      </p:sp>
      <p:sp>
        <p:nvSpPr>
          <p:cNvPr id="40" name="Text 37"/>
          <p:cNvSpPr txBox="1"/>
          <p:nvPr/>
        </p:nvSpPr>
        <p:spPr>
          <a:xfrm>
            <a:off x="658368" y="4681728"/>
            <a:ext cx="10424160" cy="310896"/>
          </a:xfrm>
          <a:prstGeom prst="rect">
            <a:avLst/>
          </a:prstGeom>
          <a:noFill/>
          <a:ln/>
        </p:spPr>
        <p:txBody>
          <a:bodyPr wrap="square" lIns="0" tIns="0" rIns="0" bIns="0" rtlCol="0" anchor="t"/>
          <a:lstStyle/>
          <a:p>
            <a:pPr algn="l" indent="0" marL="0">
              <a:buNone/>
            </a:pPr>
            <a:r>
              <a:rPr lang="en-US" sz="1540" dirty="0">
                <a:solidFill>
                  <a:srgbClr val="EADFD0"/>
                </a:solidFill>
                <a:latin typeface="Aptos" pitchFamily="34" charset="0"/>
                <a:ea typeface="Aptos" pitchFamily="34" charset="-122"/>
                <a:cs typeface="Aptos" pitchFamily="34" charset="-120"/>
              </a:rPr>
              <a:t>Ninguna herramienta informa lo que falta, porque lo que falta no se ejecuta.</a:t>
            </a:r>
            <a:endParaRPr lang="en-US" sz="1540" dirty="0"/>
          </a:p>
        </p:txBody>
      </p:sp>
      <p:sp>
        <p:nvSpPr>
          <p:cNvPr id="41" name="Shape 38"/>
          <p:cNvSpPr/>
          <p:nvPr/>
        </p:nvSpPr>
        <p:spPr>
          <a:xfrm>
            <a:off x="658368" y="5120640"/>
            <a:ext cx="10874959" cy="566928"/>
          </a:xfrm>
          <a:prstGeom prst="rect">
            <a:avLst/>
          </a:prstGeom>
          <a:solidFill>
            <a:srgbClr val="D62027"/>
          </a:solidFill>
          <a:ln w="12700">
            <a:solidFill>
              <a:srgbClr val="D62027"/>
            </a:solidFill>
            <a:prstDash val="solid"/>
          </a:ln>
        </p:spPr>
      </p:sp>
      <p:sp>
        <p:nvSpPr>
          <p:cNvPr id="42" name="Text 39"/>
          <p:cNvSpPr txBox="1"/>
          <p:nvPr/>
        </p:nvSpPr>
        <p:spPr>
          <a:xfrm>
            <a:off x="932688" y="5175504"/>
            <a:ext cx="10326319"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ptos" pitchFamily="34" charset="0"/>
                <a:ea typeface="Aptos" pitchFamily="34" charset="-122"/>
                <a:cs typeface="Aptos" pitchFamily="34" charset="-120"/>
              </a:rPr>
              <a:t>Escribir el requisito es lo que queda del oficio.</a:t>
            </a:r>
            <a:endParaRPr lang="en-US" sz="16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102A43"/>
        </a:solidFill>
      </p:bgPr>
    </p:bg>
    <p:spTree>
      <p:nvGrpSpPr>
        <p:cNvPr id="1" name=""/>
        <p:cNvGrpSpPr/>
        <p:nvPr/>
      </p:nvGrpSpPr>
      <p:grpSpPr>
        <a:xfrm>
          <a:off x="0" y="0"/>
          <a:ext cx="0" cy="0"/>
          <a:chOff x="0" y="0"/>
          <a:chExt cx="0" cy="0"/>
        </a:xfrm>
      </p:grpSpPr>
      <p:sp>
        <p:nvSpPr>
          <p:cNvPr id="2" name="Shape 0"/>
          <p:cNvSpPr/>
          <p:nvPr/>
        </p:nvSpPr>
        <p:spPr>
          <a:xfrm>
            <a:off x="0" y="0"/>
            <a:ext cx="658368" cy="109728"/>
          </a:xfrm>
          <a:prstGeom prst="rect">
            <a:avLst/>
          </a:prstGeom>
          <a:solidFill>
            <a:srgbClr val="D62027"/>
          </a:solidFill>
          <a:ln w="12700">
            <a:solidFill>
              <a:srgbClr val="D62027"/>
            </a:solidFill>
            <a:prstDash val="solid"/>
          </a:ln>
        </p:spPr>
      </p:sp>
      <p:sp>
        <p:nvSpPr>
          <p:cNvPr id="3" name="Shape 1"/>
          <p:cNvSpPr/>
          <p:nvPr/>
        </p:nvSpPr>
        <p:spPr>
          <a:xfrm>
            <a:off x="749808" y="0"/>
            <a:ext cx="402336" cy="109728"/>
          </a:xfrm>
          <a:prstGeom prst="rect">
            <a:avLst/>
          </a:prstGeom>
          <a:solidFill>
            <a:srgbClr val="E0BC5A"/>
          </a:solidFill>
          <a:ln w="12700">
            <a:solidFill>
              <a:srgbClr val="E0BC5A"/>
            </a:solidFill>
            <a:prstDash val="solid"/>
          </a:ln>
        </p:spPr>
      </p:sp>
      <p:sp>
        <p:nvSpPr>
          <p:cNvPr id="4" name="Shape 2"/>
          <p:cNvSpPr/>
          <p:nvPr/>
        </p:nvSpPr>
        <p:spPr>
          <a:xfrm>
            <a:off x="1243584" y="0"/>
            <a:ext cx="256032" cy="109728"/>
          </a:xfrm>
          <a:prstGeom prst="rect">
            <a:avLst/>
          </a:prstGeom>
          <a:solidFill>
            <a:srgbClr val="FFFFFF"/>
          </a:solidFill>
          <a:ln w="12700">
            <a:solidFill>
              <a:srgbClr val="FFFFFF"/>
            </a:solidFill>
            <a:prstDash val="solid"/>
          </a:ln>
        </p:spPr>
      </p:sp>
      <p:pic>
        <p:nvPicPr>
          <p:cNvPr id="5" name="Image 0" descr="C:\Users\Diego Obando\dev\pro402-taller-de-testing-2026\clases\semana-05\02\ppt\source\assets\logo-aiep-dark.png">    </p:cNvPr>
          <p:cNvPicPr>
            <a:picLocks noChangeAspect="1"/>
          </p:cNvPicPr>
          <p:nvPr/>
        </p:nvPicPr>
        <p:blipFill>
          <a:blip r:embed="rId1"/>
          <a:stretch>
            <a:fillRect/>
          </a:stretch>
        </p:blipFill>
        <p:spPr>
          <a:xfrm>
            <a:off x="10222992" y="307150"/>
            <a:ext cx="1335024" cy="464691"/>
          </a:xfrm>
          <a:prstGeom prst="rect">
            <a:avLst/>
          </a:prstGeom>
        </p:spPr>
      </p:pic>
      <p:sp>
        <p:nvSpPr>
          <p:cNvPr id="6" name="Text 3"/>
          <p:cNvSpPr txBox="1"/>
          <p:nvPr/>
        </p:nvSpPr>
        <p:spPr>
          <a:xfrm>
            <a:off x="658368" y="6492240"/>
            <a:ext cx="5669280" cy="164592"/>
          </a:xfrm>
          <a:prstGeom prst="rect">
            <a:avLst/>
          </a:prstGeom>
          <a:noFill/>
          <a:ln/>
        </p:spPr>
        <p:txBody>
          <a:bodyPr wrap="square" lIns="0" tIns="0" rIns="0" bIns="0" rtlCol="0" anchor="t"/>
          <a:lstStyle/>
          <a:p>
            <a:pPr algn="l" indent="0" marL="0">
              <a:buNone/>
            </a:pPr>
            <a:r>
              <a:rPr lang="en-US" sz="950" b="1" spc="55" kern="0" dirty="0">
                <a:solidFill>
                  <a:srgbClr val="EADFD0"/>
                </a:solidFill>
                <a:latin typeface="Aptos" pitchFamily="34" charset="0"/>
                <a:ea typeface="Aptos" pitchFamily="34" charset="-122"/>
                <a:cs typeface="Aptos" pitchFamily="34" charset="-120"/>
              </a:rPr>
              <a:t>PRO402 · Taller de Testing y Calidad de Software</a:t>
            </a:r>
            <a:endParaRPr lang="en-US" sz="950" dirty="0"/>
          </a:p>
        </p:txBody>
      </p:sp>
      <p:sp>
        <p:nvSpPr>
          <p:cNvPr id="7" name="Text 4"/>
          <p:cNvSpPr txBox="1"/>
          <p:nvPr/>
        </p:nvSpPr>
        <p:spPr>
          <a:xfrm>
            <a:off x="10716768" y="6419088"/>
            <a:ext cx="822960" cy="256032"/>
          </a:xfrm>
          <a:prstGeom prst="rect">
            <a:avLst/>
          </a:prstGeom>
          <a:noFill/>
          <a:ln/>
        </p:spPr>
        <p:txBody>
          <a:bodyPr wrap="square" lIns="0" tIns="0" rIns="0" bIns="0" rtlCol="0" anchor="t"/>
          <a:lstStyle/>
          <a:p>
            <a:pPr algn="r" indent="0" marL="0">
              <a:buNone/>
            </a:pPr>
            <a:r>
              <a:rPr lang="en-US" sz="1400" b="1" dirty="0">
                <a:solidFill>
                  <a:srgbClr val="EADFD0"/>
                </a:solidFill>
                <a:latin typeface="Aptos Display" pitchFamily="34" charset="0"/>
                <a:ea typeface="Aptos Display" pitchFamily="34" charset="-122"/>
                <a:cs typeface="Aptos Display" pitchFamily="34" charset="-120"/>
              </a:rPr>
              <a:t>51</a:t>
            </a:r>
            <a:endParaRPr lang="en-US" sz="1400" dirty="0"/>
          </a:p>
        </p:txBody>
      </p:sp>
      <p:sp>
        <p:nvSpPr>
          <p:cNvPr id="8" name="Text 5"/>
          <p:cNvSpPr txBox="1"/>
          <p:nvPr/>
        </p:nvSpPr>
        <p:spPr>
          <a:xfrm>
            <a:off x="658368" y="1298448"/>
            <a:ext cx="5486400" cy="201168"/>
          </a:xfrm>
          <a:prstGeom prst="rect">
            <a:avLst/>
          </a:prstGeom>
          <a:noFill/>
          <a:ln/>
        </p:spPr>
        <p:txBody>
          <a:bodyPr wrap="square" lIns="0" tIns="0" rIns="0" bIns="0" rtlCol="0" anchor="t"/>
          <a:lstStyle/>
          <a:p>
            <a:pPr algn="l" indent="0" marL="0">
              <a:buNone/>
            </a:pPr>
            <a:r>
              <a:rPr lang="en-US" sz="960" b="1" spc="130" kern="0" dirty="0">
                <a:solidFill>
                  <a:srgbClr val="E0BC5A"/>
                </a:solidFill>
                <a:latin typeface="Aptos" pitchFamily="34" charset="0"/>
                <a:ea typeface="Aptos" pitchFamily="34" charset="-122"/>
                <a:cs typeface="Aptos" pitchFamily="34" charset="-120"/>
              </a:rPr>
              <a:t>HOY · 11:00 · CLASE 16 · LABORATORIO DE REDES</a:t>
            </a:r>
            <a:endParaRPr lang="en-US" sz="960" dirty="0"/>
          </a:p>
        </p:txBody>
      </p:sp>
      <p:sp>
        <p:nvSpPr>
          <p:cNvPr id="9" name="Text 6"/>
          <p:cNvSpPr txBox="1"/>
          <p:nvPr/>
        </p:nvSpPr>
        <p:spPr>
          <a:xfrm>
            <a:off x="658368" y="1719072"/>
            <a:ext cx="10241280" cy="914400"/>
          </a:xfrm>
          <a:prstGeom prst="rect">
            <a:avLst/>
          </a:prstGeom>
          <a:noFill/>
          <a:ln/>
        </p:spPr>
        <p:txBody>
          <a:bodyPr wrap="square" lIns="0" tIns="0" rIns="0" bIns="0" rtlCol="0" anchor="t"/>
          <a:lstStyle/>
          <a:p>
            <a:pPr algn="l" indent="0" marL="0">
              <a:buNone/>
            </a:pPr>
            <a:r>
              <a:rPr lang="en-US" sz="4400" b="1" dirty="0">
                <a:solidFill>
                  <a:srgbClr val="FFFFFF"/>
                </a:solidFill>
                <a:latin typeface="Aptos Display" pitchFamily="34" charset="0"/>
                <a:ea typeface="Aptos Display" pitchFamily="34" charset="-122"/>
                <a:cs typeface="Aptos Display" pitchFamily="34" charset="-120"/>
              </a:rPr>
              <a:t>Lo que nadie ejecuta no existe</a:t>
            </a:r>
            <a:endParaRPr lang="en-US" sz="4400" dirty="0"/>
          </a:p>
        </p:txBody>
      </p:sp>
      <p:sp>
        <p:nvSpPr>
          <p:cNvPr id="10" name="Shape 7"/>
          <p:cNvSpPr/>
          <p:nvPr/>
        </p:nvSpPr>
        <p:spPr>
          <a:xfrm>
            <a:off x="658368" y="2816352"/>
            <a:ext cx="3840480" cy="0"/>
          </a:xfrm>
          <a:prstGeom prst="line">
            <a:avLst/>
          </a:prstGeom>
          <a:noFill/>
          <a:ln w="12700">
            <a:solidFill>
              <a:srgbClr val="D62027"/>
            </a:solidFill>
            <a:prstDash val="solid"/>
            <a:headEnd type="none"/>
            <a:tailEnd type="none"/>
          </a:ln>
        </p:spPr>
      </p:sp>
      <p:sp>
        <p:nvSpPr>
          <p:cNvPr id="11" name="Text 8"/>
          <p:cNvSpPr txBox="1"/>
          <p:nvPr/>
        </p:nvSpPr>
        <p:spPr>
          <a:xfrm>
            <a:off x="658368" y="3072384"/>
            <a:ext cx="9692640" cy="731520"/>
          </a:xfrm>
          <a:prstGeom prst="rect">
            <a:avLst/>
          </a:prstGeom>
          <a:noFill/>
          <a:ln/>
        </p:spPr>
        <p:txBody>
          <a:bodyPr wrap="square" lIns="0" tIns="0" rIns="0" bIns="0" rtlCol="0" anchor="t"/>
          <a:lstStyle/>
          <a:p>
            <a:pPr algn="l" indent="0" marL="0">
              <a:lnSpc>
                <a:spcPct val="120000"/>
              </a:lnSpc>
              <a:buNone/>
            </a:pPr>
            <a:r>
              <a:rPr lang="en-US" sz="1500" dirty="0">
                <a:solidFill>
                  <a:srgbClr val="EADFD0"/>
                </a:solidFill>
                <a:latin typeface="Aptos" pitchFamily="34" charset="0"/>
                <a:ea typeface="Aptos" pitchFamily="34" charset="-122"/>
                <a:cs typeface="Aptos" pitchFamily="34" charset="-120"/>
              </a:rPr>
              <a:t>Todo lo que se construyó hoy comparte una condición que nadie cuestionó: alguien tiene que acordarse. La matriz se genera si alguien la ejecuta, la suite corre si alguien la corre, el plan se cumple si alguien lo lee.</a:t>
            </a:r>
            <a:endParaRPr lang="en-US" sz="1500" dirty="0"/>
          </a:p>
        </p:txBody>
      </p:sp>
      <p:sp>
        <p:nvSpPr>
          <p:cNvPr id="12" name="Shape 9"/>
          <p:cNvSpPr/>
          <p:nvPr/>
        </p:nvSpPr>
        <p:spPr>
          <a:xfrm>
            <a:off x="658368" y="4023360"/>
            <a:ext cx="3527450" cy="969264"/>
          </a:xfrm>
          <a:prstGeom prst="rect">
            <a:avLst/>
          </a:prstGeom>
          <a:solidFill>
            <a:srgbClr val="1D3A57"/>
          </a:solidFill>
          <a:ln w="12700">
            <a:solidFill>
              <a:srgbClr val="1D3A57"/>
            </a:solidFill>
            <a:prstDash val="solid"/>
          </a:ln>
        </p:spPr>
      </p:sp>
      <p:sp>
        <p:nvSpPr>
          <p:cNvPr id="13" name="Shape 10"/>
          <p:cNvSpPr/>
          <p:nvPr/>
        </p:nvSpPr>
        <p:spPr>
          <a:xfrm>
            <a:off x="658368" y="4023360"/>
            <a:ext cx="3527450" cy="54864"/>
          </a:xfrm>
          <a:prstGeom prst="rect">
            <a:avLst/>
          </a:prstGeom>
          <a:solidFill>
            <a:srgbClr val="E0BC5A"/>
          </a:solidFill>
          <a:ln w="12700">
            <a:solidFill>
              <a:srgbClr val="E0BC5A"/>
            </a:solidFill>
            <a:prstDash val="solid"/>
          </a:ln>
        </p:spPr>
      </p:sp>
      <p:sp>
        <p:nvSpPr>
          <p:cNvPr id="14" name="Text 11"/>
          <p:cNvSpPr txBox="1"/>
          <p:nvPr/>
        </p:nvSpPr>
        <p:spPr>
          <a:xfrm>
            <a:off x="877824" y="4206240"/>
            <a:ext cx="3088538" cy="274320"/>
          </a:xfrm>
          <a:prstGeom prst="rect">
            <a:avLst/>
          </a:prstGeom>
          <a:noFill/>
          <a:ln/>
        </p:spPr>
        <p:txBody>
          <a:bodyPr wrap="square" lIns="0" tIns="0" rIns="0" bIns="0" rtlCol="0" anchor="t"/>
          <a:lstStyle/>
          <a:p>
            <a:pPr algn="l" indent="0" marL="0">
              <a:buNone/>
            </a:pPr>
            <a:r>
              <a:rPr lang="en-US" sz="1500" b="1" dirty="0">
                <a:solidFill>
                  <a:srgbClr val="FFFFFF"/>
                </a:solidFill>
                <a:latin typeface="Aptos" pitchFamily="34" charset="0"/>
                <a:ea typeface="Aptos" pitchFamily="34" charset="-122"/>
                <a:cs typeface="Aptos" pitchFamily="34" charset="-120"/>
              </a:rPr>
              <a:t>Regresión</a:t>
            </a:r>
            <a:endParaRPr lang="en-US" sz="1500" dirty="0"/>
          </a:p>
        </p:txBody>
      </p:sp>
      <p:sp>
        <p:nvSpPr>
          <p:cNvPr id="15" name="Text 12"/>
          <p:cNvSpPr txBox="1"/>
          <p:nvPr/>
        </p:nvSpPr>
        <p:spPr>
          <a:xfrm>
            <a:off x="877824" y="4535424"/>
            <a:ext cx="3088538" cy="384048"/>
          </a:xfrm>
          <a:prstGeom prst="rect">
            <a:avLst/>
          </a:prstGeom>
          <a:noFill/>
          <a:ln/>
        </p:spPr>
        <p:txBody>
          <a:bodyPr wrap="square" lIns="0" tIns="0" rIns="0" bIns="0" rtlCol="0" anchor="t"/>
          <a:lstStyle/>
          <a:p>
            <a:pPr algn="l" indent="0" marL="0">
              <a:lnSpc>
                <a:spcPct val="112000"/>
              </a:lnSpc>
              <a:buNone/>
            </a:pPr>
            <a:r>
              <a:rPr lang="en-US" sz="1040" dirty="0">
                <a:solidFill>
                  <a:srgbClr val="E6EEF7"/>
                </a:solidFill>
                <a:latin typeface="Aptos" pitchFamily="34" charset="0"/>
                <a:ea typeface="Aptos" pitchFamily="34" charset="-122"/>
                <a:cs typeface="Aptos" pitchFamily="34" charset="-120"/>
              </a:rPr>
              <a:t>Volver a ejecutar lo que ya funcionaba, para comprobar que sigue funcionando.</a:t>
            </a:r>
            <a:endParaRPr lang="en-US" sz="1040" dirty="0"/>
          </a:p>
        </p:txBody>
      </p:sp>
      <p:sp>
        <p:nvSpPr>
          <p:cNvPr id="16" name="Shape 13"/>
          <p:cNvSpPr/>
          <p:nvPr/>
        </p:nvSpPr>
        <p:spPr>
          <a:xfrm>
            <a:off x="4332122" y="4023360"/>
            <a:ext cx="3527450" cy="969264"/>
          </a:xfrm>
          <a:prstGeom prst="rect">
            <a:avLst/>
          </a:prstGeom>
          <a:solidFill>
            <a:srgbClr val="1D3A57"/>
          </a:solidFill>
          <a:ln w="12700">
            <a:solidFill>
              <a:srgbClr val="1D3A57"/>
            </a:solidFill>
            <a:prstDash val="solid"/>
          </a:ln>
        </p:spPr>
      </p:sp>
      <p:sp>
        <p:nvSpPr>
          <p:cNvPr id="17" name="Shape 14"/>
          <p:cNvSpPr/>
          <p:nvPr/>
        </p:nvSpPr>
        <p:spPr>
          <a:xfrm>
            <a:off x="4332122" y="4023360"/>
            <a:ext cx="3527450" cy="54864"/>
          </a:xfrm>
          <a:prstGeom prst="rect">
            <a:avLst/>
          </a:prstGeom>
          <a:solidFill>
            <a:srgbClr val="E0BC5A"/>
          </a:solidFill>
          <a:ln w="12700">
            <a:solidFill>
              <a:srgbClr val="E0BC5A"/>
            </a:solidFill>
            <a:prstDash val="solid"/>
          </a:ln>
        </p:spPr>
      </p:sp>
      <p:sp>
        <p:nvSpPr>
          <p:cNvPr id="18" name="Text 15"/>
          <p:cNvSpPr txBox="1"/>
          <p:nvPr/>
        </p:nvSpPr>
        <p:spPr>
          <a:xfrm>
            <a:off x="4551578" y="4206240"/>
            <a:ext cx="3088538" cy="274320"/>
          </a:xfrm>
          <a:prstGeom prst="rect">
            <a:avLst/>
          </a:prstGeom>
          <a:noFill/>
          <a:ln/>
        </p:spPr>
        <p:txBody>
          <a:bodyPr wrap="square" lIns="0" tIns="0" rIns="0" bIns="0" rtlCol="0" anchor="t"/>
          <a:lstStyle/>
          <a:p>
            <a:pPr algn="l" indent="0" marL="0">
              <a:buNone/>
            </a:pPr>
            <a:r>
              <a:rPr lang="en-US" sz="1500" b="1" dirty="0">
                <a:solidFill>
                  <a:srgbClr val="FFFFFF"/>
                </a:solidFill>
                <a:latin typeface="Aptos" pitchFamily="34" charset="0"/>
                <a:ea typeface="Aptos" pitchFamily="34" charset="-122"/>
                <a:cs typeface="Aptos" pitchFamily="34" charset="-120"/>
              </a:rPr>
              <a:t>Integración continua</a:t>
            </a:r>
            <a:endParaRPr lang="en-US" sz="1500" dirty="0"/>
          </a:p>
        </p:txBody>
      </p:sp>
      <p:sp>
        <p:nvSpPr>
          <p:cNvPr id="19" name="Text 16"/>
          <p:cNvSpPr txBox="1"/>
          <p:nvPr/>
        </p:nvSpPr>
        <p:spPr>
          <a:xfrm>
            <a:off x="4551578" y="4535424"/>
            <a:ext cx="3088538" cy="384048"/>
          </a:xfrm>
          <a:prstGeom prst="rect">
            <a:avLst/>
          </a:prstGeom>
          <a:noFill/>
          <a:ln/>
        </p:spPr>
        <p:txBody>
          <a:bodyPr wrap="square" lIns="0" tIns="0" rIns="0" bIns="0" rtlCol="0" anchor="t"/>
          <a:lstStyle/>
          <a:p>
            <a:pPr algn="l" indent="0" marL="0">
              <a:lnSpc>
                <a:spcPct val="112000"/>
              </a:lnSpc>
              <a:buNone/>
            </a:pPr>
            <a:r>
              <a:rPr lang="en-US" sz="1040" dirty="0">
                <a:solidFill>
                  <a:srgbClr val="E6EEF7"/>
                </a:solidFill>
                <a:latin typeface="Aptos" pitchFamily="34" charset="0"/>
                <a:ea typeface="Aptos" pitchFamily="34" charset="-122"/>
                <a:cs typeface="Aptos" pitchFamily="34" charset="-120"/>
              </a:rPr>
              <a:t>Que se dispare sola ante cada cambio, sin pedir permiso.</a:t>
            </a:r>
            <a:endParaRPr lang="en-US" sz="1040" dirty="0"/>
          </a:p>
        </p:txBody>
      </p:sp>
      <p:sp>
        <p:nvSpPr>
          <p:cNvPr id="20" name="Shape 17"/>
          <p:cNvSpPr/>
          <p:nvPr/>
        </p:nvSpPr>
        <p:spPr>
          <a:xfrm>
            <a:off x="8005877" y="4023360"/>
            <a:ext cx="3527450" cy="969264"/>
          </a:xfrm>
          <a:prstGeom prst="rect">
            <a:avLst/>
          </a:prstGeom>
          <a:solidFill>
            <a:srgbClr val="1D3A57"/>
          </a:solidFill>
          <a:ln w="12700">
            <a:solidFill>
              <a:srgbClr val="1D3A57"/>
            </a:solidFill>
            <a:prstDash val="solid"/>
          </a:ln>
        </p:spPr>
      </p:sp>
      <p:sp>
        <p:nvSpPr>
          <p:cNvPr id="21" name="Shape 18"/>
          <p:cNvSpPr/>
          <p:nvPr/>
        </p:nvSpPr>
        <p:spPr>
          <a:xfrm>
            <a:off x="8005877" y="4023360"/>
            <a:ext cx="3527450" cy="54864"/>
          </a:xfrm>
          <a:prstGeom prst="rect">
            <a:avLst/>
          </a:prstGeom>
          <a:solidFill>
            <a:srgbClr val="E0BC5A"/>
          </a:solidFill>
          <a:ln w="12700">
            <a:solidFill>
              <a:srgbClr val="E0BC5A"/>
            </a:solidFill>
            <a:prstDash val="solid"/>
          </a:ln>
        </p:spPr>
      </p:sp>
      <p:sp>
        <p:nvSpPr>
          <p:cNvPr id="22" name="Text 19"/>
          <p:cNvSpPr txBox="1"/>
          <p:nvPr/>
        </p:nvSpPr>
        <p:spPr>
          <a:xfrm>
            <a:off x="8225333" y="4206240"/>
            <a:ext cx="3088538" cy="274320"/>
          </a:xfrm>
          <a:prstGeom prst="rect">
            <a:avLst/>
          </a:prstGeom>
          <a:noFill/>
          <a:ln/>
        </p:spPr>
        <p:txBody>
          <a:bodyPr wrap="square" lIns="0" tIns="0" rIns="0" bIns="0" rtlCol="0" anchor="t"/>
          <a:lstStyle/>
          <a:p>
            <a:pPr algn="l" indent="0" marL="0">
              <a:buNone/>
            </a:pPr>
            <a:r>
              <a:rPr lang="en-US" sz="1500" b="1" dirty="0">
                <a:solidFill>
                  <a:srgbClr val="FFFFFF"/>
                </a:solidFill>
                <a:latin typeface="Aptos" pitchFamily="34" charset="0"/>
                <a:ea typeface="Aptos" pitchFamily="34" charset="-122"/>
                <a:cs typeface="Aptos" pitchFamily="34" charset="-120"/>
              </a:rPr>
              <a:t>Pruebas inestables</a:t>
            </a:r>
            <a:endParaRPr lang="en-US" sz="1500" dirty="0"/>
          </a:p>
        </p:txBody>
      </p:sp>
      <p:sp>
        <p:nvSpPr>
          <p:cNvPr id="23" name="Text 20"/>
          <p:cNvSpPr txBox="1"/>
          <p:nvPr/>
        </p:nvSpPr>
        <p:spPr>
          <a:xfrm>
            <a:off x="8225333" y="4535424"/>
            <a:ext cx="3088538" cy="384048"/>
          </a:xfrm>
          <a:prstGeom prst="rect">
            <a:avLst/>
          </a:prstGeom>
          <a:noFill/>
          <a:ln/>
        </p:spPr>
        <p:txBody>
          <a:bodyPr wrap="square" lIns="0" tIns="0" rIns="0" bIns="0" rtlCol="0" anchor="t"/>
          <a:lstStyle/>
          <a:p>
            <a:pPr algn="l" indent="0" marL="0">
              <a:lnSpc>
                <a:spcPct val="112000"/>
              </a:lnSpc>
              <a:buNone/>
            </a:pPr>
            <a:r>
              <a:rPr lang="en-US" sz="1040" dirty="0">
                <a:solidFill>
                  <a:srgbClr val="E6EEF7"/>
                </a:solidFill>
                <a:latin typeface="Aptos" pitchFamily="34" charset="0"/>
                <a:ea typeface="Aptos" pitchFamily="34" charset="-122"/>
                <a:cs typeface="Aptos" pitchFamily="34" charset="-120"/>
              </a:rPr>
              <a:t>Qué hacer con la que ya está en una suite que se ejecuta sola.</a:t>
            </a:r>
            <a:endParaRPr lang="en-US" sz="1040" dirty="0"/>
          </a:p>
        </p:txBody>
      </p:sp>
      <p:sp>
        <p:nvSpPr>
          <p:cNvPr id="24" name="Text 21"/>
          <p:cNvSpPr txBox="1"/>
          <p:nvPr/>
        </p:nvSpPr>
        <p:spPr>
          <a:xfrm>
            <a:off x="658368" y="5266944"/>
            <a:ext cx="10241280" cy="310896"/>
          </a:xfrm>
          <a:prstGeom prst="rect">
            <a:avLst/>
          </a:prstGeom>
          <a:noFill/>
          <a:ln/>
        </p:spPr>
        <p:txBody>
          <a:bodyPr wrap="square" lIns="0" tIns="0" rIns="0" bIns="0" rtlCol="0" anchor="t"/>
          <a:lstStyle/>
          <a:p>
            <a:pPr algn="l" indent="0" marL="0">
              <a:buNone/>
            </a:pPr>
            <a:r>
              <a:rPr lang="en-US" sz="1340" dirty="0">
                <a:solidFill>
                  <a:srgbClr val="EADFD0"/>
                </a:solidFill>
                <a:latin typeface="Aptos" pitchFamily="34" charset="0"/>
                <a:ea typeface="Aptos" pitchFamily="34" charset="-122"/>
                <a:cs typeface="Aptos" pitchFamily="34" charset="-120"/>
              </a:rPr>
              <a:t>Y vuelve la prueba inestable del lunes: la que pasa y falla sin que el sistema haya cambiado.</a:t>
            </a:r>
            <a:endParaRPr lang="en-US" sz="134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AIEP Osorno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Que se decidio probar</dc:title>
  <dc:subject>PRO402 · Clase 14</dc:subject>
  <dc:creator>Diego Obando</dc:creator>
  <cp:lastModifiedBy>Diego Obando</cp:lastModifiedBy>
  <cp:revision>1</cp:revision>
  <dcterms:created xsi:type="dcterms:W3CDTF">2026-09-26T00:53:20Z</dcterms:created>
  <dcterms:modified xsi:type="dcterms:W3CDTF">2026-09-26T00:53:20Z</dcterms:modified>
</cp:coreProperties>
</file>