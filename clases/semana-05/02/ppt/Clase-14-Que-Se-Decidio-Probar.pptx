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3.png"/><Relationship Id="rId4" Type="http://schemas.openxmlformats.org/officeDocument/2006/relationships/image" Target="../media/image-31-4.svg"/><Relationship Id="rId5" Type="http://schemas.openxmlformats.org/officeDocument/2006/relationships/image" Target="../media/image-31-5.png"/><Relationship Id="rId6" Type="http://schemas.openxmlformats.org/officeDocument/2006/relationships/image" Target="../media/image-31-6.sv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3.png"/><Relationship Id="rId4" Type="http://schemas.openxmlformats.org/officeDocument/2006/relationships/image" Target="../media/image-32-4.sv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3.png"/><Relationship Id="rId4" Type="http://schemas.openxmlformats.org/officeDocument/2006/relationships/image" Target="../media/image-34-4.sv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image" Target="../media/image-35-3.png"/><Relationship Id="rId4" Type="http://schemas.openxmlformats.org/officeDocument/2006/relationships/image" Target="../media/image-35-4.svg"/><Relationship Id="rId5" Type="http://schemas.openxmlformats.org/officeDocument/2006/relationships/image" Target="../media/image-35-5.png"/><Relationship Id="rId6" Type="http://schemas.openxmlformats.org/officeDocument/2006/relationships/image" Target="../media/image-35-6.sv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sv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image" Target="../media/image-43-3.png"/><Relationship Id="rId4" Type="http://schemas.openxmlformats.org/officeDocument/2006/relationships/image" Target="../media/image-43-4.svg"/><Relationship Id="rId5" Type="http://schemas.openxmlformats.org/officeDocument/2006/relationships/image" Target="../media/image-43-5.png"/><Relationship Id="rId6" Type="http://schemas.openxmlformats.org/officeDocument/2006/relationships/image" Target="../media/image-43-6.svg"/><Relationship Id="rId7" Type="http://schemas.openxmlformats.org/officeDocument/2006/relationships/slideLayout" Target="../slideLayouts/slideLayout1.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svg"/><Relationship Id="rId3" Type="http://schemas.openxmlformats.org/officeDocument/2006/relationships/image" Target="../media/image-46-3.png"/><Relationship Id="rId4" Type="http://schemas.openxmlformats.org/officeDocument/2006/relationships/image" Target="../media/image-46-4.sv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sv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01</a:t>
            </a:r>
            <a:endParaRPr lang="en-US" sz="1400" dirty="0"/>
          </a:p>
        </p:txBody>
      </p:sp>
      <p:sp>
        <p:nvSpPr>
          <p:cNvPr id="8" name="Text 5"/>
          <p:cNvSpPr txBox="1"/>
          <p:nvPr/>
        </p:nvSpPr>
        <p:spPr>
          <a:xfrm>
            <a:off x="658368" y="1298448"/>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PRO402 · CLASE 14 · UNIDAD 2</a:t>
            </a:r>
            <a:endParaRPr lang="en-US" sz="960" dirty="0"/>
          </a:p>
        </p:txBody>
      </p:sp>
      <p:sp>
        <p:nvSpPr>
          <p:cNvPr id="9" name="Text 6"/>
          <p:cNvSpPr txBox="1"/>
          <p:nvPr/>
        </p:nvSpPr>
        <p:spPr>
          <a:xfrm>
            <a:off x="658368" y="1682496"/>
            <a:ext cx="10241280" cy="969264"/>
          </a:xfrm>
          <a:prstGeom prst="rect">
            <a:avLst/>
          </a:prstGeom>
          <a:noFill/>
          <a:ln/>
        </p:spPr>
        <p:txBody>
          <a:bodyPr wrap="square" lIns="0" tIns="0" rIns="0" bIns="0" rtlCol="0" anchor="t"/>
          <a:lstStyle/>
          <a:p>
            <a:pPr algn="l" indent="0" marL="0">
              <a:buNone/>
            </a:pPr>
            <a:r>
              <a:rPr lang="en-US" sz="5000" b="1" dirty="0">
                <a:solidFill>
                  <a:srgbClr val="FFFFFF"/>
                </a:solidFill>
                <a:latin typeface="Aptos Display" pitchFamily="34" charset="0"/>
                <a:ea typeface="Aptos Display" pitchFamily="34" charset="-122"/>
                <a:cs typeface="Aptos Display" pitchFamily="34" charset="-120"/>
              </a:rPr>
              <a:t>Qué se decidió probar</a:t>
            </a:r>
            <a:endParaRPr lang="en-US" sz="5000" dirty="0"/>
          </a:p>
        </p:txBody>
      </p:sp>
      <p:sp>
        <p:nvSpPr>
          <p:cNvPr id="10" name="Shape 7"/>
          <p:cNvSpPr/>
          <p:nvPr/>
        </p:nvSpPr>
        <p:spPr>
          <a:xfrm>
            <a:off x="658368" y="2852928"/>
            <a:ext cx="3840480" cy="0"/>
          </a:xfrm>
          <a:prstGeom prst="line">
            <a:avLst/>
          </a:prstGeom>
          <a:noFill/>
          <a:ln w="12700">
            <a:solidFill>
              <a:srgbClr val="D62027"/>
            </a:solidFill>
            <a:prstDash val="solid"/>
            <a:headEnd type="none"/>
            <a:tailEnd type="none"/>
          </a:ln>
        </p:spPr>
      </p:sp>
      <p:sp>
        <p:nvSpPr>
          <p:cNvPr id="11" name="Text 8"/>
          <p:cNvSpPr txBox="1"/>
          <p:nvPr/>
        </p:nvSpPr>
        <p:spPr>
          <a:xfrm>
            <a:off x="658368" y="3108960"/>
            <a:ext cx="10241280" cy="420624"/>
          </a:xfrm>
          <a:prstGeom prst="rect">
            <a:avLst/>
          </a:prstGeom>
          <a:noFill/>
          <a:ln/>
        </p:spPr>
        <p:txBody>
          <a:bodyPr wrap="square" lIns="0" tIns="0" rIns="0" bIns="0" rtlCol="0" anchor="t"/>
          <a:lstStyle/>
          <a:p>
            <a:pPr algn="l" indent="0" marL="0">
              <a:buNone/>
            </a:pPr>
            <a:r>
              <a:rPr lang="en-US" sz="1800" dirty="0">
                <a:solidFill>
                  <a:srgbClr val="E6EEF7"/>
                </a:solidFill>
                <a:latin typeface="Aptos" pitchFamily="34" charset="0"/>
                <a:ea typeface="Aptos" pitchFamily="34" charset="-122"/>
                <a:cs typeface="Aptos" pitchFamily="34" charset="-120"/>
              </a:rPr>
              <a:t>El plan de pruebas, el riesgo que reparte el esfuerzo y una trazabilidad que se ejecuta</a:t>
            </a:r>
            <a:endParaRPr lang="en-US" sz="1800" dirty="0"/>
          </a:p>
        </p:txBody>
      </p:sp>
      <p:sp>
        <p:nvSpPr>
          <p:cNvPr id="12" name="Text 9"/>
          <p:cNvSpPr txBox="1"/>
          <p:nvPr/>
        </p:nvSpPr>
        <p:spPr>
          <a:xfrm>
            <a:off x="658368" y="3749040"/>
            <a:ext cx="9326880" cy="786384"/>
          </a:xfrm>
          <a:prstGeom prst="rect">
            <a:avLst/>
          </a:prstGeom>
          <a:noFill/>
          <a:ln/>
        </p:spPr>
        <p:txBody>
          <a:bodyPr wrap="square" lIns="0" tIns="0" rIns="0" bIns="0" rtlCol="0" anchor="t"/>
          <a:lstStyle/>
          <a:p>
            <a:pPr algn="l" indent="0" marL="0">
              <a:lnSpc>
                <a:spcPct val="120000"/>
              </a:lnSpc>
              <a:buNone/>
            </a:pPr>
            <a:r>
              <a:rPr lang="en-US" sz="1440" dirty="0">
                <a:solidFill>
                  <a:srgbClr val="EADFD0"/>
                </a:solidFill>
                <a:latin typeface="Aptos" pitchFamily="34" charset="0"/>
                <a:ea typeface="Aptos" pitchFamily="34" charset="-122"/>
                <a:cs typeface="Aptos" pitchFamily="34" charset="-120"/>
              </a:rPr>
              <a:t>Una suite en verde informa sobre las pruebas que existen. Sobre las que no existen no dice nada, y no puede decirlo: ningún programa informa sobre algo que nadie escribió. Lo que falta se decide, se escribe y se comprueba en otra parte.</a:t>
            </a:r>
            <a:endParaRPr lang="en-US" sz="1440" dirty="0"/>
          </a:p>
        </p:txBody>
      </p:sp>
      <p:sp>
        <p:nvSpPr>
          <p:cNvPr id="13" name="Shape 10"/>
          <p:cNvSpPr/>
          <p:nvPr/>
        </p:nvSpPr>
        <p:spPr>
          <a:xfrm>
            <a:off x="658368" y="4992624"/>
            <a:ext cx="10874959" cy="0"/>
          </a:xfrm>
          <a:prstGeom prst="line">
            <a:avLst/>
          </a:prstGeom>
          <a:noFill/>
          <a:ln w="12700">
            <a:solidFill>
              <a:srgbClr val="2C4A66"/>
            </a:solidFill>
            <a:prstDash val="solid"/>
            <a:headEnd type="none"/>
            <a:tailEnd type="none"/>
          </a:ln>
        </p:spPr>
      </p:sp>
      <p:sp>
        <p:nvSpPr>
          <p:cNvPr id="14" name="Text 11"/>
          <p:cNvSpPr txBox="1"/>
          <p:nvPr/>
        </p:nvSpPr>
        <p:spPr>
          <a:xfrm>
            <a:off x="658368" y="5175504"/>
            <a:ext cx="6766560" cy="274320"/>
          </a:xfrm>
          <a:prstGeom prst="rect">
            <a:avLst/>
          </a:prstGeom>
          <a:noFill/>
          <a:ln/>
        </p:spPr>
        <p:txBody>
          <a:bodyPr wrap="square" lIns="0" tIns="0" rIns="0" bIns="0" rtlCol="0" anchor="t"/>
          <a:lstStyle/>
          <a:p>
            <a:pPr algn="l" indent="0" marL="0">
              <a:buNone/>
            </a:pPr>
            <a:r>
              <a:rPr lang="en-US" sz="1260" dirty="0">
                <a:solidFill>
                  <a:srgbClr val="EADFD0"/>
                </a:solidFill>
                <a:latin typeface="Aptos" pitchFamily="34" charset="0"/>
                <a:ea typeface="Aptos" pitchFamily="34" charset="-122"/>
                <a:cs typeface="Aptos" pitchFamily="34" charset="-120"/>
              </a:rPr>
              <a:t>Martes 29 de septiembre de 2026 · 08:30 – 10:50 · Laboratorio PC</a:t>
            </a:r>
            <a:endParaRPr lang="en-US" sz="1260" dirty="0"/>
          </a:p>
        </p:txBody>
      </p:sp>
      <p:sp>
        <p:nvSpPr>
          <p:cNvPr id="15" name="Text 12"/>
          <p:cNvSpPr txBox="1"/>
          <p:nvPr/>
        </p:nvSpPr>
        <p:spPr>
          <a:xfrm>
            <a:off x="7498080" y="5175504"/>
            <a:ext cx="4023360" cy="274320"/>
          </a:xfrm>
          <a:prstGeom prst="rect">
            <a:avLst/>
          </a:prstGeom>
          <a:noFill/>
          <a:ln/>
        </p:spPr>
        <p:txBody>
          <a:bodyPr wrap="square" lIns="0" tIns="0" rIns="0" bIns="0" rtlCol="0" anchor="t"/>
          <a:lstStyle/>
          <a:p>
            <a:pPr algn="r" indent="0" marL="0">
              <a:buNone/>
            </a:pPr>
            <a:r>
              <a:rPr lang="en-US" sz="1260" dirty="0">
                <a:solidFill>
                  <a:srgbClr val="EADFD0"/>
                </a:solidFill>
                <a:latin typeface="Aptos" pitchFamily="34" charset="0"/>
                <a:ea typeface="Aptos" pitchFamily="34" charset="-122"/>
                <a:cs typeface="Aptos" pitchFamily="34" charset="-120"/>
              </a:rPr>
              <a:t>Diego Obando · AIEP Osorno</a:t>
            </a:r>
            <a:endParaRPr lang="en-US" sz="12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PARA ABRIR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Veinte pruebas en verde. ¿Qué quedó sin probar?</a:t>
            </a:r>
            <a:endParaRPr lang="en-US" sz="27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proyecto llega con todo lo que dejaron las cinco sesiones anteriores. La suite de pytest se ejecuta completa y pasa.</a:t>
            </a:r>
            <a:endParaRPr lang="en-US" sz="1420" dirty="0"/>
          </a:p>
        </p:txBody>
      </p:sp>
      <p:sp>
        <p:nvSpPr>
          <p:cNvPr id="11" name="Shape 8"/>
          <p:cNvSpPr/>
          <p:nvPr/>
        </p:nvSpPr>
        <p:spPr>
          <a:xfrm>
            <a:off x="658368" y="2231136"/>
            <a:ext cx="5760720" cy="1609344"/>
          </a:xfrm>
          <a:prstGeom prst="roundRect">
            <a:avLst>
              <a:gd name="adj" fmla="val 2273"/>
            </a:avLst>
          </a:prstGeom>
          <a:solidFill>
            <a:srgbClr val="0F1720"/>
          </a:solidFill>
          <a:ln w="12700">
            <a:solidFill>
              <a:srgbClr val="0F1720"/>
            </a:solidFill>
            <a:prstDash val="solid"/>
          </a:ln>
        </p:spPr>
      </p:sp>
      <p:sp>
        <p:nvSpPr>
          <p:cNvPr id="12" name="Shape 9"/>
          <p:cNvSpPr/>
          <p:nvPr/>
        </p:nvSpPr>
        <p:spPr>
          <a:xfrm>
            <a:off x="786384" y="2340864"/>
            <a:ext cx="550468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414016"/>
            <a:ext cx="52486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Suite de pytest del proyecto</a:t>
            </a:r>
            <a:endParaRPr lang="en-US" sz="1000" dirty="0"/>
          </a:p>
        </p:txBody>
      </p:sp>
      <p:sp>
        <p:nvSpPr>
          <p:cNvPr id="14" name="Text 11"/>
          <p:cNvSpPr/>
          <p:nvPr/>
        </p:nvSpPr>
        <p:spPr>
          <a:xfrm>
            <a:off x="877824" y="2798064"/>
            <a:ext cx="501091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&gt; uv run pytest -q</a:t>
            </a:r>
            <a:endParaRPr lang="en-US" sz="1040" dirty="0"/>
          </a:p>
        </p:txBody>
      </p:sp>
      <p:sp>
        <p:nvSpPr>
          <p:cNvPr id="15" name="Text 12"/>
          <p:cNvSpPr/>
          <p:nvPr/>
        </p:nvSpPr>
        <p:spPr>
          <a:xfrm>
            <a:off x="877824" y="3054096"/>
            <a:ext cx="5010912"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            [100%]</a:t>
            </a:r>
            <a:endParaRPr lang="en-US" sz="1040" dirty="0"/>
          </a:p>
        </p:txBody>
      </p:sp>
      <p:sp>
        <p:nvSpPr>
          <p:cNvPr id="16" name="Text 13"/>
          <p:cNvSpPr/>
          <p:nvPr/>
        </p:nvSpPr>
        <p:spPr>
          <a:xfrm>
            <a:off x="877824" y="3310128"/>
            <a:ext cx="501091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20 passed in 1.80s</a:t>
            </a:r>
            <a:endParaRPr lang="en-US" sz="1040" dirty="0"/>
          </a:p>
        </p:txBody>
      </p:sp>
      <p:sp>
        <p:nvSpPr>
          <p:cNvPr id="17" name="Shape 14"/>
          <p:cNvSpPr/>
          <p:nvPr/>
        </p:nvSpPr>
        <p:spPr>
          <a:xfrm>
            <a:off x="658368" y="3986784"/>
            <a:ext cx="5760720" cy="1078992"/>
          </a:xfrm>
          <a:prstGeom prst="rect">
            <a:avLst/>
          </a:prstGeom>
          <a:solidFill>
            <a:srgbClr val="FFFFFF"/>
          </a:solidFill>
          <a:ln w="12700">
            <a:solidFill>
              <a:srgbClr val="FFFFFF"/>
            </a:solidFill>
            <a:prstDash val="solid"/>
          </a:ln>
        </p:spPr>
      </p:sp>
      <p:sp>
        <p:nvSpPr>
          <p:cNvPr id="18" name="Shape 15"/>
          <p:cNvSpPr/>
          <p:nvPr/>
        </p:nvSpPr>
        <p:spPr>
          <a:xfrm>
            <a:off x="658368" y="3986784"/>
            <a:ext cx="54864" cy="1078992"/>
          </a:xfrm>
          <a:prstGeom prst="rect">
            <a:avLst/>
          </a:prstGeom>
          <a:solidFill>
            <a:srgbClr val="102A43"/>
          </a:solidFill>
          <a:ln w="12700">
            <a:solidFill>
              <a:srgbClr val="102A43"/>
            </a:solidFill>
            <a:prstDash val="solid"/>
          </a:ln>
        </p:spPr>
      </p:sp>
      <p:sp>
        <p:nvSpPr>
          <p:cNvPr id="19" name="Text 16"/>
          <p:cNvSpPr txBox="1"/>
          <p:nvPr/>
        </p:nvSpPr>
        <p:spPr>
          <a:xfrm>
            <a:off x="896112" y="4114800"/>
            <a:ext cx="530352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SUITE</a:t>
            </a:r>
            <a:endParaRPr lang="en-US" sz="920" dirty="0"/>
          </a:p>
        </p:txBody>
      </p:sp>
      <p:sp>
        <p:nvSpPr>
          <p:cNvPr id="20" name="Text 17"/>
          <p:cNvSpPr txBox="1"/>
          <p:nvPr/>
        </p:nvSpPr>
        <p:spPr>
          <a:xfrm>
            <a:off x="896112" y="4370832"/>
            <a:ext cx="5303520" cy="585216"/>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Las pruebas automatizadas que se ejecutan juntas, con un solo comando. El proyecto tiene dos: la de pytest, con veinte, y la de la interfaz, que corre con otro ejecutor.</a:t>
            </a:r>
            <a:endParaRPr lang="en-US" sz="1210" dirty="0"/>
          </a:p>
        </p:txBody>
      </p:sp>
      <p:sp>
        <p:nvSpPr>
          <p:cNvPr id="21" name="Text 18"/>
          <p:cNvSpPr txBox="1"/>
          <p:nvPr/>
        </p:nvSpPr>
        <p:spPr>
          <a:xfrm>
            <a:off x="6565392" y="2231136"/>
            <a:ext cx="4974336"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DOS SUITES DISTINTAS, LA MISMA LÍNEA FINAL</a:t>
            </a:r>
            <a:endParaRPr lang="en-US" sz="960" dirty="0"/>
          </a:p>
        </p:txBody>
      </p:sp>
      <p:sp>
        <p:nvSpPr>
          <p:cNvPr id="22" name="Shape 19"/>
          <p:cNvSpPr/>
          <p:nvPr/>
        </p:nvSpPr>
        <p:spPr>
          <a:xfrm>
            <a:off x="6565392" y="2487168"/>
            <a:ext cx="4974336" cy="1078992"/>
          </a:xfrm>
          <a:prstGeom prst="rect">
            <a:avLst/>
          </a:prstGeom>
          <a:solidFill>
            <a:srgbClr val="FFFFFF"/>
          </a:solidFill>
          <a:ln w="12700">
            <a:solidFill>
              <a:srgbClr val="FFFFFF"/>
            </a:solidFill>
            <a:prstDash val="solid"/>
          </a:ln>
        </p:spPr>
      </p:sp>
      <p:sp>
        <p:nvSpPr>
          <p:cNvPr id="23" name="Shape 20"/>
          <p:cNvSpPr/>
          <p:nvPr/>
        </p:nvSpPr>
        <p:spPr>
          <a:xfrm>
            <a:off x="6565392" y="2487168"/>
            <a:ext cx="4974336" cy="54864"/>
          </a:xfrm>
          <a:prstGeom prst="rect">
            <a:avLst/>
          </a:prstGeom>
          <a:solidFill>
            <a:srgbClr val="2E7D4F"/>
          </a:solidFill>
          <a:ln w="12700">
            <a:solidFill>
              <a:srgbClr val="2E7D4F"/>
            </a:solidFill>
            <a:prstDash val="solid"/>
          </a:ln>
        </p:spPr>
      </p:sp>
      <p:sp>
        <p:nvSpPr>
          <p:cNvPr id="24" name="Text 21"/>
          <p:cNvSpPr txBox="1"/>
          <p:nvPr/>
        </p:nvSpPr>
        <p:spPr>
          <a:xfrm>
            <a:off x="6766560" y="2670048"/>
            <a:ext cx="4572000" cy="182880"/>
          </a:xfrm>
          <a:prstGeom prst="rect">
            <a:avLst/>
          </a:prstGeom>
          <a:noFill/>
          <a:ln/>
        </p:spPr>
        <p:txBody>
          <a:bodyPr wrap="square" lIns="0" tIns="0" rIns="0" bIns="0" rtlCol="0" anchor="t"/>
          <a:lstStyle/>
          <a:p>
            <a:pPr algn="l" indent="0" marL="0">
              <a:buNone/>
            </a:pPr>
            <a:r>
              <a:rPr lang="en-US" sz="960" b="1" spc="100" kern="0" dirty="0">
                <a:solidFill>
                  <a:srgbClr val="2E7D4F"/>
                </a:solidFill>
                <a:latin typeface="Aptos" pitchFamily="34" charset="0"/>
                <a:ea typeface="Aptos" pitchFamily="34" charset="-122"/>
                <a:cs typeface="Aptos" pitchFamily="34" charset="-120"/>
              </a:rPr>
              <a:t>UNA SUITE COMPLETA</a:t>
            </a:r>
            <a:endParaRPr lang="en-US" sz="960" dirty="0"/>
          </a:p>
        </p:txBody>
      </p:sp>
      <p:sp>
        <p:nvSpPr>
          <p:cNvPr id="25" name="Text 22"/>
          <p:cNvSpPr txBox="1"/>
          <p:nvPr/>
        </p:nvSpPr>
        <p:spPr>
          <a:xfrm>
            <a:off x="6766560" y="2907792"/>
            <a:ext cx="4572000" cy="530352"/>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Cubre todas las reglas del sistema y todos sus bordes. Termina informando veinte pruebas en verde.</a:t>
            </a:r>
            <a:endParaRPr lang="en-US" sz="1140" dirty="0"/>
          </a:p>
        </p:txBody>
      </p:sp>
      <p:sp>
        <p:nvSpPr>
          <p:cNvPr id="26" name="Shape 23"/>
          <p:cNvSpPr/>
          <p:nvPr/>
        </p:nvSpPr>
        <p:spPr>
          <a:xfrm>
            <a:off x="6565392" y="3675888"/>
            <a:ext cx="4974336" cy="1078992"/>
          </a:xfrm>
          <a:prstGeom prst="rect">
            <a:avLst/>
          </a:prstGeom>
          <a:solidFill>
            <a:srgbClr val="FFFFFF"/>
          </a:solidFill>
          <a:ln w="12700">
            <a:solidFill>
              <a:srgbClr val="FFFFFF"/>
            </a:solidFill>
            <a:prstDash val="solid"/>
          </a:ln>
        </p:spPr>
      </p:sp>
      <p:sp>
        <p:nvSpPr>
          <p:cNvPr id="27" name="Shape 24"/>
          <p:cNvSpPr/>
          <p:nvPr/>
        </p:nvSpPr>
        <p:spPr>
          <a:xfrm>
            <a:off x="6565392" y="3675888"/>
            <a:ext cx="4974336" cy="54864"/>
          </a:xfrm>
          <a:prstGeom prst="rect">
            <a:avLst/>
          </a:prstGeom>
          <a:solidFill>
            <a:srgbClr val="B3181E"/>
          </a:solidFill>
          <a:ln w="12700">
            <a:solidFill>
              <a:srgbClr val="B3181E"/>
            </a:solidFill>
            <a:prstDash val="solid"/>
          </a:ln>
        </p:spPr>
      </p:sp>
      <p:sp>
        <p:nvSpPr>
          <p:cNvPr id="28" name="Text 25"/>
          <p:cNvSpPr txBox="1"/>
          <p:nvPr/>
        </p:nvSpPr>
        <p:spPr>
          <a:xfrm>
            <a:off x="6766560" y="3858768"/>
            <a:ext cx="4572000" cy="182880"/>
          </a:xfrm>
          <a:prstGeom prst="rect">
            <a:avLst/>
          </a:prstGeom>
          <a:noFill/>
          <a:ln/>
        </p:spPr>
        <p:txBody>
          <a:bodyPr wrap="square" lIns="0" tIns="0" rIns="0" bIns="0" rtlCol="0" anchor="t"/>
          <a:lstStyle/>
          <a:p>
            <a:pPr algn="l" indent="0" marL="0">
              <a:buNone/>
            </a:pPr>
            <a:r>
              <a:rPr lang="en-US" sz="960" b="1" spc="100" kern="0" dirty="0">
                <a:solidFill>
                  <a:srgbClr val="B3181E"/>
                </a:solidFill>
                <a:latin typeface="Aptos" pitchFamily="34" charset="0"/>
                <a:ea typeface="Aptos" pitchFamily="34" charset="-122"/>
                <a:cs typeface="Aptos" pitchFamily="34" charset="-120"/>
              </a:rPr>
              <a:t>UNA SUITE A LA QUE LE FALTA LA MITAD</a:t>
            </a:r>
            <a:endParaRPr lang="en-US" sz="960" dirty="0"/>
          </a:p>
        </p:txBody>
      </p:sp>
      <p:sp>
        <p:nvSpPr>
          <p:cNvPr id="29" name="Text 26"/>
          <p:cNvSpPr txBox="1"/>
          <p:nvPr/>
        </p:nvSpPr>
        <p:spPr>
          <a:xfrm>
            <a:off x="6766560" y="4096512"/>
            <a:ext cx="4572000" cy="530352"/>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Si alguien borrara ocho de las veinte, informaría doce en verde. También sería verde.</a:t>
            </a:r>
            <a:endParaRPr lang="en-US" sz="1140" dirty="0"/>
          </a:p>
        </p:txBody>
      </p:sp>
      <p:sp>
        <p:nvSpPr>
          <p:cNvPr id="30" name="Text 27"/>
          <p:cNvSpPr txBox="1"/>
          <p:nvPr/>
        </p:nvSpPr>
        <p:spPr>
          <a:xfrm>
            <a:off x="6565392" y="4882896"/>
            <a:ext cx="4974336" cy="548640"/>
          </a:xfrm>
          <a:prstGeom prst="rect">
            <a:avLst/>
          </a:prstGeom>
          <a:noFill/>
          <a:ln/>
        </p:spPr>
        <p:txBody>
          <a:bodyPr wrap="square" lIns="0" tIns="0" rIns="0" bIns="0" rtlCol="0" anchor="t"/>
          <a:lstStyle/>
          <a:p>
            <a:pPr algn="l" indent="0" marL="0">
              <a:lnSpc>
                <a:spcPct val="114000"/>
              </a:lnSpc>
              <a:buNone/>
            </a:pPr>
            <a:r>
              <a:rPr lang="en-US" sz="1220" b="1" dirty="0">
                <a:solidFill>
                  <a:srgbClr val="243B53"/>
                </a:solidFill>
                <a:latin typeface="Aptos" pitchFamily="34" charset="0"/>
                <a:ea typeface="Aptos" pitchFamily="34" charset="-122"/>
                <a:cs typeface="Aptos" pitchFamily="34" charset="-120"/>
              </a:rPr>
              <a:t>El color no cambia cuando faltan pruebas. Solo cambia cuando las que hay fallan.</a:t>
            </a:r>
            <a:endParaRPr lang="en-US" sz="1220" dirty="0"/>
          </a:p>
        </p:txBody>
      </p:sp>
      <p:sp>
        <p:nvSpPr>
          <p:cNvPr id="31"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2"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Informa sobre las pruebas que existen. Sobre las que no existen no puede decir nada.</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EL ALCANCE DE UN VERDE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mismo límite, un escalón más arriba</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Subir de una prueba a una suite no cambia la naturaleza del límite. Solo lo vuelve más difícil de notar.</a:t>
            </a:r>
            <a:endParaRPr lang="en-US" sz="1420" dirty="0"/>
          </a:p>
        </p:txBody>
      </p:sp>
      <p:sp>
        <p:nvSpPr>
          <p:cNvPr id="11" name="Shape 8"/>
          <p:cNvSpPr/>
          <p:nvPr/>
        </p:nvSpPr>
        <p:spPr>
          <a:xfrm>
            <a:off x="658368" y="2798064"/>
            <a:ext cx="6986016" cy="457200"/>
          </a:xfrm>
          <a:prstGeom prst="rect">
            <a:avLst/>
          </a:prstGeom>
          <a:solidFill>
            <a:srgbClr val="EDE6DA"/>
          </a:solidFill>
          <a:ln w="12700">
            <a:solidFill>
              <a:srgbClr val="EDE6DA"/>
            </a:solidFill>
            <a:prstDash val="solid"/>
          </a:ln>
        </p:spPr>
      </p:sp>
      <p:sp>
        <p:nvSpPr>
          <p:cNvPr id="12" name="Shape 9"/>
          <p:cNvSpPr/>
          <p:nvPr/>
        </p:nvSpPr>
        <p:spPr>
          <a:xfrm>
            <a:off x="658368" y="2798064"/>
            <a:ext cx="54864" cy="457200"/>
          </a:xfrm>
          <a:prstGeom prst="rect">
            <a:avLst/>
          </a:prstGeom>
          <a:solidFill>
            <a:srgbClr val="52606D"/>
          </a:solidFill>
          <a:ln w="12700">
            <a:solidFill>
              <a:srgbClr val="52606D"/>
            </a:solidFill>
            <a:prstDash val="solid"/>
          </a:ln>
        </p:spPr>
      </p:sp>
      <p:sp>
        <p:nvSpPr>
          <p:cNvPr id="13" name="Text 10"/>
          <p:cNvSpPr txBox="1"/>
          <p:nvPr/>
        </p:nvSpPr>
        <p:spPr>
          <a:xfrm>
            <a:off x="896112" y="2907792"/>
            <a:ext cx="6492240" cy="256032"/>
          </a:xfrm>
          <a:prstGeom prst="rect">
            <a:avLst/>
          </a:prstGeom>
          <a:noFill/>
          <a:ln/>
        </p:spPr>
        <p:txBody>
          <a:bodyPr wrap="square" lIns="0" tIns="0" rIns="0" bIns="0" rtlCol="0" anchor="t"/>
          <a:lstStyle/>
          <a:p>
            <a:pPr algn="l" indent="0" marL="0">
              <a:buNone/>
            </a:pPr>
            <a:r>
              <a:rPr lang="en-US" sz="1180" dirty="0">
                <a:solidFill>
                  <a:srgbClr val="243B53"/>
                </a:solidFill>
                <a:latin typeface="Aptos" pitchFamily="34" charset="0"/>
                <a:ea typeface="Aptos" pitchFamily="34" charset="-122"/>
                <a:cs typeface="Aptos" pitchFamily="34" charset="-120"/>
              </a:rPr>
              <a:t>Cada escalón afirma sobre lo que existe, nunca sobre lo que falta.</a:t>
            </a:r>
            <a:endParaRPr lang="en-US" sz="1180" dirty="0"/>
          </a:p>
        </p:txBody>
      </p:sp>
      <p:sp>
        <p:nvSpPr>
          <p:cNvPr id="14" name="Shape 11"/>
          <p:cNvSpPr/>
          <p:nvPr/>
        </p:nvSpPr>
        <p:spPr>
          <a:xfrm>
            <a:off x="658368" y="4206240"/>
            <a:ext cx="3419856" cy="1188720"/>
          </a:xfrm>
          <a:prstGeom prst="rect">
            <a:avLst/>
          </a:prstGeom>
          <a:solidFill>
            <a:srgbClr val="FFFFFF"/>
          </a:solidFill>
          <a:ln w="12700">
            <a:solidFill>
              <a:srgbClr val="FFFFFF"/>
            </a:solidFill>
            <a:prstDash val="solid"/>
          </a:ln>
        </p:spPr>
      </p:sp>
      <p:sp>
        <p:nvSpPr>
          <p:cNvPr id="15" name="Shape 12"/>
          <p:cNvSpPr/>
          <p:nvPr/>
        </p:nvSpPr>
        <p:spPr>
          <a:xfrm>
            <a:off x="658368" y="4206240"/>
            <a:ext cx="3419856" cy="54864"/>
          </a:xfrm>
          <a:prstGeom prst="rect">
            <a:avLst/>
          </a:prstGeom>
          <a:solidFill>
            <a:srgbClr val="102A43"/>
          </a:solidFill>
          <a:ln w="12700">
            <a:solidFill>
              <a:srgbClr val="102A43"/>
            </a:solidFill>
            <a:prstDash val="solid"/>
          </a:ln>
        </p:spPr>
      </p:sp>
      <p:sp>
        <p:nvSpPr>
          <p:cNvPr id="16" name="Text 13"/>
          <p:cNvSpPr txBox="1"/>
          <p:nvPr/>
        </p:nvSpPr>
        <p:spPr>
          <a:xfrm>
            <a:off x="896112" y="4407408"/>
            <a:ext cx="2944368" cy="274320"/>
          </a:xfrm>
          <a:prstGeom prst="rect">
            <a:avLst/>
          </a:prstGeom>
          <a:noFill/>
          <a:ln/>
        </p:spPr>
        <p:txBody>
          <a:bodyPr wrap="square" lIns="0" tIns="0" rIns="0" bIns="0" rtlCol="0" anchor="t"/>
          <a:lstStyle/>
          <a:p>
            <a:pPr algn="l" indent="0" marL="0">
              <a:buNone/>
            </a:pPr>
            <a:r>
              <a:rPr lang="en-US" sz="1460" b="1" dirty="0">
                <a:solidFill>
                  <a:srgbClr val="243B53"/>
                </a:solidFill>
                <a:latin typeface="Aptos" pitchFamily="34" charset="0"/>
                <a:ea typeface="Aptos" pitchFamily="34" charset="-122"/>
                <a:cs typeface="Aptos" pitchFamily="34" charset="-120"/>
              </a:rPr>
              <a:t>Una prueba en verde</a:t>
            </a:r>
            <a:endParaRPr lang="en-US" sz="1460" dirty="0"/>
          </a:p>
        </p:txBody>
      </p:sp>
      <p:sp>
        <p:nvSpPr>
          <p:cNvPr id="17" name="Text 14"/>
          <p:cNvSpPr txBox="1"/>
          <p:nvPr/>
        </p:nvSpPr>
        <p:spPr>
          <a:xfrm>
            <a:off x="896112" y="4718304"/>
            <a:ext cx="2944368" cy="402336"/>
          </a:xfrm>
          <a:prstGeom prst="rect">
            <a:avLst/>
          </a:prstGeom>
          <a:noFill/>
          <a:ln/>
        </p:spPr>
        <p:txBody>
          <a:bodyPr wrap="square" lIns="0" tIns="0" rIns="0" bIns="0" rtlCol="0" anchor="t"/>
          <a:lstStyle/>
          <a:p>
            <a:pPr algn="l" indent="0" marL="0">
              <a:lnSpc>
                <a:spcPct val="110000"/>
              </a:lnSpc>
              <a:buNone/>
            </a:pPr>
            <a:r>
              <a:rPr lang="en-US" sz="1120" dirty="0">
                <a:solidFill>
                  <a:srgbClr val="52606D"/>
                </a:solidFill>
                <a:latin typeface="Aptos" pitchFamily="34" charset="0"/>
                <a:ea typeface="Aptos" pitchFamily="34" charset="-122"/>
                <a:cs typeface="Aptos" pitchFamily="34" charset="-120"/>
              </a:rPr>
              <a:t>Ese caso se comportó como se esperaba.</a:t>
            </a:r>
            <a:endParaRPr lang="en-US" sz="1120" dirty="0"/>
          </a:p>
        </p:txBody>
      </p:sp>
      <p:sp>
        <p:nvSpPr>
          <p:cNvPr id="18" name="Shape 15"/>
          <p:cNvSpPr/>
          <p:nvPr/>
        </p:nvSpPr>
        <p:spPr>
          <a:xfrm>
            <a:off x="4224528" y="3474720"/>
            <a:ext cx="3419856" cy="1920240"/>
          </a:xfrm>
          <a:prstGeom prst="rect">
            <a:avLst/>
          </a:prstGeom>
          <a:solidFill>
            <a:srgbClr val="FFFFFF"/>
          </a:solidFill>
          <a:ln w="12700">
            <a:solidFill>
              <a:srgbClr val="FFFFFF"/>
            </a:solidFill>
            <a:prstDash val="solid"/>
          </a:ln>
        </p:spPr>
      </p:sp>
      <p:sp>
        <p:nvSpPr>
          <p:cNvPr id="19" name="Shape 16"/>
          <p:cNvSpPr/>
          <p:nvPr/>
        </p:nvSpPr>
        <p:spPr>
          <a:xfrm>
            <a:off x="4224528" y="3474720"/>
            <a:ext cx="3419856" cy="54864"/>
          </a:xfrm>
          <a:prstGeom prst="rect">
            <a:avLst/>
          </a:prstGeom>
          <a:solidFill>
            <a:srgbClr val="8A6A12"/>
          </a:solidFill>
          <a:ln w="12700">
            <a:solidFill>
              <a:srgbClr val="8A6A12"/>
            </a:solidFill>
            <a:prstDash val="solid"/>
          </a:ln>
        </p:spPr>
      </p:sp>
      <p:sp>
        <p:nvSpPr>
          <p:cNvPr id="20" name="Text 17"/>
          <p:cNvSpPr txBox="1"/>
          <p:nvPr/>
        </p:nvSpPr>
        <p:spPr>
          <a:xfrm>
            <a:off x="4462272" y="3675888"/>
            <a:ext cx="2944368" cy="274320"/>
          </a:xfrm>
          <a:prstGeom prst="rect">
            <a:avLst/>
          </a:prstGeom>
          <a:noFill/>
          <a:ln/>
        </p:spPr>
        <p:txBody>
          <a:bodyPr wrap="square" lIns="0" tIns="0" rIns="0" bIns="0" rtlCol="0" anchor="t"/>
          <a:lstStyle/>
          <a:p>
            <a:pPr algn="l" indent="0" marL="0">
              <a:buNone/>
            </a:pPr>
            <a:r>
              <a:rPr lang="en-US" sz="1460" b="1" dirty="0">
                <a:solidFill>
                  <a:srgbClr val="243B53"/>
                </a:solidFill>
                <a:latin typeface="Aptos" pitchFamily="34" charset="0"/>
                <a:ea typeface="Aptos" pitchFamily="34" charset="-122"/>
                <a:cs typeface="Aptos" pitchFamily="34" charset="-120"/>
              </a:rPr>
              <a:t>Una suite en verde</a:t>
            </a:r>
            <a:endParaRPr lang="en-US" sz="1460" dirty="0"/>
          </a:p>
        </p:txBody>
      </p:sp>
      <p:sp>
        <p:nvSpPr>
          <p:cNvPr id="21" name="Text 18"/>
          <p:cNvSpPr txBox="1"/>
          <p:nvPr/>
        </p:nvSpPr>
        <p:spPr>
          <a:xfrm>
            <a:off x="4462272" y="3986784"/>
            <a:ext cx="2944368" cy="402336"/>
          </a:xfrm>
          <a:prstGeom prst="rect">
            <a:avLst/>
          </a:prstGeom>
          <a:noFill/>
          <a:ln/>
        </p:spPr>
        <p:txBody>
          <a:bodyPr wrap="square" lIns="0" tIns="0" rIns="0" bIns="0" rtlCol="0" anchor="t"/>
          <a:lstStyle/>
          <a:p>
            <a:pPr algn="l" indent="0" marL="0">
              <a:lnSpc>
                <a:spcPct val="110000"/>
              </a:lnSpc>
              <a:buNone/>
            </a:pPr>
            <a:r>
              <a:rPr lang="en-US" sz="1120" dirty="0">
                <a:solidFill>
                  <a:srgbClr val="52606D"/>
                </a:solidFill>
                <a:latin typeface="Aptos" pitchFamily="34" charset="0"/>
                <a:ea typeface="Aptos" pitchFamily="34" charset="-122"/>
                <a:cs typeface="Aptos" pitchFamily="34" charset="-120"/>
              </a:rPr>
              <a:t>Los casos que existen se comportaron así.</a:t>
            </a:r>
            <a:endParaRPr lang="en-US" sz="1120" dirty="0"/>
          </a:p>
        </p:txBody>
      </p:sp>
      <p:sp>
        <p:nvSpPr>
          <p:cNvPr id="22" name="Text 19"/>
          <p:cNvSpPr txBox="1"/>
          <p:nvPr/>
        </p:nvSpPr>
        <p:spPr>
          <a:xfrm>
            <a:off x="7790688" y="2487168"/>
            <a:ext cx="3739896"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EL ESCALÓN QUE NADIE SUBIÓ</a:t>
            </a:r>
            <a:endParaRPr lang="en-US" sz="960" dirty="0"/>
          </a:p>
        </p:txBody>
      </p:sp>
      <p:sp>
        <p:nvSpPr>
          <p:cNvPr id="23" name="Shape 20"/>
          <p:cNvSpPr/>
          <p:nvPr/>
        </p:nvSpPr>
        <p:spPr>
          <a:xfrm>
            <a:off x="7223760" y="3035808"/>
            <a:ext cx="457200" cy="0"/>
          </a:xfrm>
          <a:prstGeom prst="line">
            <a:avLst/>
          </a:prstGeom>
          <a:noFill/>
          <a:ln w="12700">
            <a:solidFill>
              <a:srgbClr val="B3181E"/>
            </a:solidFill>
            <a:prstDash val="solid"/>
            <a:headEnd type="none"/>
            <a:tailEnd type="triangle"/>
          </a:ln>
        </p:spPr>
      </p:sp>
      <p:sp>
        <p:nvSpPr>
          <p:cNvPr id="24" name="Shape 21"/>
          <p:cNvSpPr/>
          <p:nvPr/>
        </p:nvSpPr>
        <p:spPr>
          <a:xfrm>
            <a:off x="7790688" y="2743200"/>
            <a:ext cx="3742639" cy="2651760"/>
          </a:xfrm>
          <a:prstGeom prst="rect">
            <a:avLst/>
          </a:prstGeom>
          <a:solidFill>
            <a:srgbClr val="F2E7D9"/>
          </a:solidFill>
          <a:ln w="12700">
            <a:solidFill>
              <a:srgbClr val="B3181E"/>
            </a:solidFill>
            <a:prstDash val="solid"/>
          </a:ln>
        </p:spPr>
      </p:sp>
      <p:sp>
        <p:nvSpPr>
          <p:cNvPr id="25" name="Text 22"/>
          <p:cNvSpPr txBox="1"/>
          <p:nvPr/>
        </p:nvSpPr>
        <p:spPr>
          <a:xfrm>
            <a:off x="8028432" y="2926080"/>
            <a:ext cx="3264408" cy="274320"/>
          </a:xfrm>
          <a:prstGeom prst="rect">
            <a:avLst/>
          </a:prstGeom>
          <a:noFill/>
          <a:ln/>
        </p:spPr>
        <p:txBody>
          <a:bodyPr wrap="square" lIns="0" tIns="0" rIns="0" bIns="0" rtlCol="0" anchor="t"/>
          <a:lstStyle/>
          <a:p>
            <a:pPr algn="l" indent="0" marL="0">
              <a:buNone/>
            </a:pPr>
            <a:r>
              <a:rPr lang="en-US" sz="1460" b="1" dirty="0">
                <a:solidFill>
                  <a:srgbClr val="B3181E"/>
                </a:solidFill>
                <a:latin typeface="Aptos" pitchFamily="34" charset="0"/>
                <a:ea typeface="Aptos" pitchFamily="34" charset="-122"/>
                <a:cs typeface="Aptos" pitchFamily="34" charset="-120"/>
              </a:rPr>
              <a:t>El sistema probado</a:t>
            </a:r>
            <a:endParaRPr lang="en-US" sz="1460" dirty="0"/>
          </a:p>
        </p:txBody>
      </p:sp>
      <p:sp>
        <p:nvSpPr>
          <p:cNvPr id="26" name="Text 23"/>
          <p:cNvSpPr txBox="1"/>
          <p:nvPr/>
        </p:nvSpPr>
        <p:spPr>
          <a:xfrm>
            <a:off x="8028432" y="3236976"/>
            <a:ext cx="3264408" cy="274320"/>
          </a:xfrm>
          <a:prstGeom prst="rect">
            <a:avLst/>
          </a:prstGeom>
          <a:noFill/>
          <a:ln/>
        </p:spPr>
        <p:txBody>
          <a:bodyPr wrap="square" lIns="0" tIns="0" rIns="0" bIns="0" rtlCol="0" anchor="t"/>
          <a:lstStyle/>
          <a:p>
            <a:pPr algn="l" indent="0" marL="0">
              <a:buNone/>
            </a:pPr>
            <a:r>
              <a:rPr lang="en-US" sz="1120" dirty="0">
                <a:solidFill>
                  <a:srgbClr val="B3181E"/>
                </a:solidFill>
                <a:latin typeface="Aptos" pitchFamily="34" charset="0"/>
                <a:ea typeface="Aptos" pitchFamily="34" charset="-122"/>
                <a:cs typeface="Aptos" pitchFamily="34" charset="-120"/>
              </a:rPr>
              <a:t>Nadie afirmó esto, y nada lo advierte.</a:t>
            </a:r>
            <a:endParaRPr lang="en-US" sz="1120" dirty="0"/>
          </a:p>
        </p:txBody>
      </p:sp>
      <p:sp>
        <p:nvSpPr>
          <p:cNvPr id="27" name="Shape 24"/>
          <p:cNvSpPr/>
          <p:nvPr/>
        </p:nvSpPr>
        <p:spPr>
          <a:xfrm>
            <a:off x="8028432" y="3584448"/>
            <a:ext cx="3264408" cy="0"/>
          </a:xfrm>
          <a:prstGeom prst="line">
            <a:avLst/>
          </a:prstGeom>
          <a:noFill/>
          <a:ln w="12700">
            <a:solidFill>
              <a:srgbClr val="B3181E"/>
            </a:solidFill>
            <a:prstDash val="solid"/>
            <a:headEnd type="none"/>
            <a:tailEnd type="none"/>
          </a:ln>
        </p:spPr>
      </p:sp>
      <p:sp>
        <p:nvSpPr>
          <p:cNvPr id="28" name="Text 25"/>
          <p:cNvSpPr txBox="1"/>
          <p:nvPr/>
        </p:nvSpPr>
        <p:spPr>
          <a:xfrm>
            <a:off x="8028432" y="3675888"/>
            <a:ext cx="3264408" cy="182880"/>
          </a:xfrm>
          <a:prstGeom prst="rect">
            <a:avLst/>
          </a:prstGeom>
          <a:noFill/>
          <a:ln/>
        </p:spPr>
        <p:txBody>
          <a:bodyPr wrap="square" lIns="0" tIns="0" rIns="0" bIns="0" rtlCol="0" anchor="t"/>
          <a:lstStyle/>
          <a:p>
            <a:pPr algn="l" indent="0" marL="0">
              <a:buNone/>
            </a:pPr>
            <a:r>
              <a:rPr lang="en-US" sz="860" b="1" spc="90" kern="0" dirty="0">
                <a:solidFill>
                  <a:srgbClr val="B3181E"/>
                </a:solidFill>
                <a:latin typeface="Aptos" pitchFamily="34" charset="0"/>
                <a:ea typeface="Aptos" pitchFamily="34" charset="-122"/>
                <a:cs typeface="Aptos" pitchFamily="34" charset="-120"/>
              </a:rPr>
              <a:t>LO QUE FALTA PARA PODER AFIRMARLO</a:t>
            </a:r>
            <a:endParaRPr lang="en-US" sz="860" dirty="0"/>
          </a:p>
        </p:txBody>
      </p:sp>
      <p:sp>
        <p:nvSpPr>
          <p:cNvPr id="29" name="Shape 26"/>
          <p:cNvSpPr/>
          <p:nvPr/>
        </p:nvSpPr>
        <p:spPr>
          <a:xfrm>
            <a:off x="8028432" y="4032504"/>
            <a:ext cx="128016" cy="128016"/>
          </a:xfrm>
          <a:prstGeom prst="rect">
            <a:avLst/>
          </a:prstGeom>
          <a:solidFill>
            <a:srgbClr val="B3181E"/>
          </a:solidFill>
          <a:ln w="12700">
            <a:solidFill>
              <a:srgbClr val="B3181E"/>
            </a:solidFill>
            <a:prstDash val="solid"/>
          </a:ln>
        </p:spPr>
      </p:sp>
      <p:sp>
        <p:nvSpPr>
          <p:cNvPr id="30" name="Text 27"/>
          <p:cNvSpPr txBox="1"/>
          <p:nvPr/>
        </p:nvSpPr>
        <p:spPr>
          <a:xfrm>
            <a:off x="8284464" y="3968496"/>
            <a:ext cx="3008376" cy="256032"/>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Quién decidió qué se probaba</a:t>
            </a:r>
            <a:endParaRPr lang="en-US" sz="1140" dirty="0"/>
          </a:p>
        </p:txBody>
      </p:sp>
      <p:sp>
        <p:nvSpPr>
          <p:cNvPr id="31" name="Shape 28"/>
          <p:cNvSpPr/>
          <p:nvPr/>
        </p:nvSpPr>
        <p:spPr>
          <a:xfrm>
            <a:off x="8028432" y="4361688"/>
            <a:ext cx="128016" cy="128016"/>
          </a:xfrm>
          <a:prstGeom prst="rect">
            <a:avLst/>
          </a:prstGeom>
          <a:solidFill>
            <a:srgbClr val="B3181E"/>
          </a:solidFill>
          <a:ln w="12700">
            <a:solidFill>
              <a:srgbClr val="B3181E"/>
            </a:solidFill>
            <a:prstDash val="solid"/>
          </a:ln>
        </p:spPr>
      </p:sp>
      <p:sp>
        <p:nvSpPr>
          <p:cNvPr id="32" name="Text 29"/>
          <p:cNvSpPr txBox="1"/>
          <p:nvPr/>
        </p:nvSpPr>
        <p:spPr>
          <a:xfrm>
            <a:off x="8284464" y="4297680"/>
            <a:ext cx="3008376" cy="256032"/>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Qué incluyó en esa decisión</a:t>
            </a:r>
            <a:endParaRPr lang="en-US" sz="1140" dirty="0"/>
          </a:p>
        </p:txBody>
      </p:sp>
      <p:sp>
        <p:nvSpPr>
          <p:cNvPr id="33" name="Shape 30"/>
          <p:cNvSpPr/>
          <p:nvPr/>
        </p:nvSpPr>
        <p:spPr>
          <a:xfrm>
            <a:off x="8028432" y="4690872"/>
            <a:ext cx="128016" cy="128016"/>
          </a:xfrm>
          <a:prstGeom prst="rect">
            <a:avLst/>
          </a:prstGeom>
          <a:solidFill>
            <a:srgbClr val="B3181E"/>
          </a:solidFill>
          <a:ln w="12700">
            <a:solidFill>
              <a:srgbClr val="B3181E"/>
            </a:solidFill>
            <a:prstDash val="solid"/>
          </a:ln>
        </p:spPr>
      </p:sp>
      <p:sp>
        <p:nvSpPr>
          <p:cNvPr id="34" name="Text 31"/>
          <p:cNvSpPr txBox="1"/>
          <p:nvPr/>
        </p:nvSpPr>
        <p:spPr>
          <a:xfrm>
            <a:off x="8284464" y="4626864"/>
            <a:ext cx="3008376" cy="256032"/>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Qué descartó</a:t>
            </a:r>
            <a:endParaRPr lang="en-US" sz="1140" dirty="0"/>
          </a:p>
        </p:txBody>
      </p:sp>
      <p:sp>
        <p:nvSpPr>
          <p:cNvPr id="35" name="Shape 32"/>
          <p:cNvSpPr/>
          <p:nvPr/>
        </p:nvSpPr>
        <p:spPr>
          <a:xfrm>
            <a:off x="8028432" y="5020056"/>
            <a:ext cx="128016" cy="128016"/>
          </a:xfrm>
          <a:prstGeom prst="rect">
            <a:avLst/>
          </a:prstGeom>
          <a:solidFill>
            <a:srgbClr val="B3181E"/>
          </a:solidFill>
          <a:ln w="12700">
            <a:solidFill>
              <a:srgbClr val="B3181E"/>
            </a:solidFill>
            <a:prstDash val="solid"/>
          </a:ln>
        </p:spPr>
      </p:sp>
      <p:sp>
        <p:nvSpPr>
          <p:cNvPr id="36" name="Text 33"/>
          <p:cNvSpPr txBox="1"/>
          <p:nvPr/>
        </p:nvSpPr>
        <p:spPr>
          <a:xfrm>
            <a:off x="8284464" y="4956048"/>
            <a:ext cx="3008376" cy="256032"/>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Con qué argumento</a:t>
            </a:r>
            <a:endParaRPr lang="en-US" sz="1140" dirty="0"/>
          </a:p>
        </p:txBody>
      </p:sp>
      <p:sp>
        <p:nvSpPr>
          <p:cNvPr id="37" name="Shape 34"/>
          <p:cNvSpPr/>
          <p:nvPr/>
        </p:nvSpPr>
        <p:spPr>
          <a:xfrm>
            <a:off x="658368" y="5650992"/>
            <a:ext cx="10874959" cy="548640"/>
          </a:xfrm>
          <a:prstGeom prst="rect">
            <a:avLst/>
          </a:prstGeom>
          <a:solidFill>
            <a:srgbClr val="102A43"/>
          </a:solidFill>
          <a:ln w="12700">
            <a:solidFill>
              <a:srgbClr val="102A43"/>
            </a:solidFill>
            <a:prstDash val="solid"/>
          </a:ln>
        </p:spPr>
      </p:sp>
      <p:sp>
        <p:nvSpPr>
          <p:cNvPr id="38" name="Text 3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Ninguno de esos cuatro datos está en el repositorio.</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DE QUÉ SE TRATA LA SESIÓN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que el código no responde</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Cada una tiene su artefacto, y los tres se construyen hoy sobre el proyecto propio.</a:t>
            </a:r>
            <a:endParaRPr lang="en-US" sz="1420" dirty="0"/>
          </a:p>
        </p:txBody>
      </p:sp>
      <p:sp>
        <p:nvSpPr>
          <p:cNvPr id="11" name="Text 8"/>
          <p:cNvSpPr txBox="1"/>
          <p:nvPr/>
        </p:nvSpPr>
        <p:spPr>
          <a:xfrm>
            <a:off x="658368" y="2414016"/>
            <a:ext cx="603504" cy="548640"/>
          </a:xfrm>
          <a:prstGeom prst="rect">
            <a:avLst/>
          </a:prstGeom>
          <a:noFill/>
          <a:ln/>
        </p:spPr>
        <p:txBody>
          <a:bodyPr wrap="square" lIns="0" tIns="0" rIns="0" bIns="0" rtlCol="0" anchor="ctr"/>
          <a:lstStyle/>
          <a:p>
            <a:pPr algn="ctr" indent="0" marL="0">
              <a:buNone/>
            </a:pPr>
            <a:r>
              <a:rPr lang="en-US" sz="3400" b="1" dirty="0">
                <a:solidFill>
                  <a:srgbClr val="102A43"/>
                </a:solidFill>
                <a:latin typeface="Aptos Display" pitchFamily="34" charset="0"/>
                <a:ea typeface="Aptos Display" pitchFamily="34" charset="-122"/>
                <a:cs typeface="Aptos Display" pitchFamily="34" charset="-120"/>
              </a:rPr>
              <a:t>1</a:t>
            </a:r>
            <a:endParaRPr lang="en-US" sz="3400" dirty="0"/>
          </a:p>
        </p:txBody>
      </p:sp>
      <p:sp>
        <p:nvSpPr>
          <p:cNvPr id="12" name="Text 9"/>
          <p:cNvSpPr txBox="1"/>
          <p:nvPr/>
        </p:nvSpPr>
        <p:spPr>
          <a:xfrm>
            <a:off x="1389888" y="2468880"/>
            <a:ext cx="3931920" cy="438912"/>
          </a:xfrm>
          <a:prstGeom prst="rect">
            <a:avLst/>
          </a:prstGeom>
          <a:noFill/>
          <a:ln/>
        </p:spPr>
        <p:txBody>
          <a:bodyPr wrap="square" lIns="0" tIns="0" rIns="0" bIns="0" rtlCol="0" anchor="ctr"/>
          <a:lstStyle/>
          <a:p>
            <a:pPr algn="l" indent="0" marL="0">
              <a:lnSpc>
                <a:spcPct val="108000"/>
              </a:lnSpc>
              <a:buNone/>
            </a:pPr>
            <a:r>
              <a:rPr lang="en-US" sz="1460" b="1" dirty="0">
                <a:solidFill>
                  <a:srgbClr val="243B53"/>
                </a:solidFill>
                <a:latin typeface="Aptos" pitchFamily="34" charset="0"/>
                <a:ea typeface="Aptos" pitchFamily="34" charset="-122"/>
                <a:cs typeface="Aptos" pitchFamily="34" charset="-120"/>
              </a:rPr>
              <a:t>¿Qué se decidió probar, y qué quedó fuera?</a:t>
            </a:r>
            <a:endParaRPr lang="en-US" sz="1460" dirty="0"/>
          </a:p>
        </p:txBody>
      </p:sp>
      <p:sp>
        <p:nvSpPr>
          <p:cNvPr id="13" name="Shape 10"/>
          <p:cNvSpPr/>
          <p:nvPr/>
        </p:nvSpPr>
        <p:spPr>
          <a:xfrm>
            <a:off x="5486400" y="2688336"/>
            <a:ext cx="640080" cy="0"/>
          </a:xfrm>
          <a:prstGeom prst="line">
            <a:avLst/>
          </a:prstGeom>
          <a:noFill/>
          <a:ln w="12700">
            <a:solidFill>
              <a:srgbClr val="102A43"/>
            </a:solidFill>
            <a:prstDash val="solid"/>
            <a:headEnd type="none"/>
            <a:tailEnd type="triangle"/>
          </a:ln>
        </p:spPr>
      </p:sp>
      <p:sp>
        <p:nvSpPr>
          <p:cNvPr id="14" name="Shape 11"/>
          <p:cNvSpPr/>
          <p:nvPr/>
        </p:nvSpPr>
        <p:spPr>
          <a:xfrm>
            <a:off x="6327648" y="2286000"/>
            <a:ext cx="5202936" cy="804672"/>
          </a:xfrm>
          <a:prstGeom prst="rect">
            <a:avLst/>
          </a:prstGeom>
          <a:solidFill>
            <a:srgbClr val="FFFFFF"/>
          </a:solidFill>
          <a:ln w="12700">
            <a:solidFill>
              <a:srgbClr val="FFFFFF"/>
            </a:solidFill>
            <a:prstDash val="solid"/>
          </a:ln>
        </p:spPr>
      </p:sp>
      <p:sp>
        <p:nvSpPr>
          <p:cNvPr id="15" name="Shape 12"/>
          <p:cNvSpPr/>
          <p:nvPr/>
        </p:nvSpPr>
        <p:spPr>
          <a:xfrm>
            <a:off x="6327648" y="2286000"/>
            <a:ext cx="54864" cy="804672"/>
          </a:xfrm>
          <a:prstGeom prst="rect">
            <a:avLst/>
          </a:prstGeom>
          <a:solidFill>
            <a:srgbClr val="102A43"/>
          </a:solidFill>
          <a:ln w="12700">
            <a:solidFill>
              <a:srgbClr val="102A43"/>
            </a:solidFill>
            <a:prstDash val="solid"/>
          </a:ln>
        </p:spPr>
      </p:sp>
      <p:sp>
        <p:nvSpPr>
          <p:cNvPr id="16" name="Text 13"/>
          <p:cNvSpPr txBox="1"/>
          <p:nvPr/>
        </p:nvSpPr>
        <p:spPr>
          <a:xfrm>
            <a:off x="6583680" y="2414016"/>
            <a:ext cx="4846320" cy="274320"/>
          </a:xfrm>
          <a:prstGeom prst="rect">
            <a:avLst/>
          </a:prstGeom>
          <a:noFill/>
          <a:ln/>
        </p:spPr>
        <p:txBody>
          <a:bodyPr wrap="square" lIns="0" tIns="0" rIns="0" bIns="0" rtlCol="0" anchor="t"/>
          <a:lstStyle/>
          <a:p>
            <a:pPr algn="l" indent="0" marL="0">
              <a:buNone/>
            </a:pPr>
            <a:r>
              <a:rPr lang="en-US" sz="1500" b="1" dirty="0">
                <a:solidFill>
                  <a:srgbClr val="102A43"/>
                </a:solidFill>
                <a:latin typeface="Aptos" pitchFamily="34" charset="0"/>
                <a:ea typeface="Aptos" pitchFamily="34" charset="-122"/>
                <a:cs typeface="Aptos" pitchFamily="34" charset="-120"/>
              </a:rPr>
              <a:t>El plan de pruebas</a:t>
            </a:r>
            <a:endParaRPr lang="en-US" sz="1500" dirty="0"/>
          </a:p>
        </p:txBody>
      </p:sp>
      <p:sp>
        <p:nvSpPr>
          <p:cNvPr id="17" name="Text 14"/>
          <p:cNvSpPr txBox="1"/>
          <p:nvPr/>
        </p:nvSpPr>
        <p:spPr>
          <a:xfrm>
            <a:off x="6583680" y="2724912"/>
            <a:ext cx="4846320" cy="237744"/>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Norma 29119-3, cláusula 7.2</a:t>
            </a:r>
            <a:endParaRPr lang="en-US" sz="1060" dirty="0"/>
          </a:p>
        </p:txBody>
      </p:sp>
      <p:sp>
        <p:nvSpPr>
          <p:cNvPr id="18" name="Text 15"/>
          <p:cNvSpPr txBox="1"/>
          <p:nvPr/>
        </p:nvSpPr>
        <p:spPr>
          <a:xfrm>
            <a:off x="658368" y="3346704"/>
            <a:ext cx="603504" cy="548640"/>
          </a:xfrm>
          <a:prstGeom prst="rect">
            <a:avLst/>
          </a:prstGeom>
          <a:noFill/>
          <a:ln/>
        </p:spPr>
        <p:txBody>
          <a:bodyPr wrap="square" lIns="0" tIns="0" rIns="0" bIns="0" rtlCol="0" anchor="ctr"/>
          <a:lstStyle/>
          <a:p>
            <a:pPr algn="ctr" indent="0" marL="0">
              <a:buNone/>
            </a:pPr>
            <a:r>
              <a:rPr lang="en-US" sz="3400" b="1" dirty="0">
                <a:solidFill>
                  <a:srgbClr val="8A6A12"/>
                </a:solidFill>
                <a:latin typeface="Aptos Display" pitchFamily="34" charset="0"/>
                <a:ea typeface="Aptos Display" pitchFamily="34" charset="-122"/>
                <a:cs typeface="Aptos Display" pitchFamily="34" charset="-120"/>
              </a:rPr>
              <a:t>2</a:t>
            </a:r>
            <a:endParaRPr lang="en-US" sz="3400" dirty="0"/>
          </a:p>
        </p:txBody>
      </p:sp>
      <p:sp>
        <p:nvSpPr>
          <p:cNvPr id="19" name="Text 16"/>
          <p:cNvSpPr txBox="1"/>
          <p:nvPr/>
        </p:nvSpPr>
        <p:spPr>
          <a:xfrm>
            <a:off x="1389888" y="3401568"/>
            <a:ext cx="3931920" cy="438912"/>
          </a:xfrm>
          <a:prstGeom prst="rect">
            <a:avLst/>
          </a:prstGeom>
          <a:noFill/>
          <a:ln/>
        </p:spPr>
        <p:txBody>
          <a:bodyPr wrap="square" lIns="0" tIns="0" rIns="0" bIns="0" rtlCol="0" anchor="ctr"/>
          <a:lstStyle/>
          <a:p>
            <a:pPr algn="l" indent="0" marL="0">
              <a:lnSpc>
                <a:spcPct val="108000"/>
              </a:lnSpc>
              <a:buNone/>
            </a:pPr>
            <a:r>
              <a:rPr lang="en-US" sz="1460" b="1" dirty="0">
                <a:solidFill>
                  <a:srgbClr val="243B53"/>
                </a:solidFill>
                <a:latin typeface="Aptos" pitchFamily="34" charset="0"/>
                <a:ea typeface="Aptos" pitchFamily="34" charset="-122"/>
                <a:cs typeface="Aptos" pitchFamily="34" charset="-120"/>
              </a:rPr>
              <a:t>¿Por qué el esfuerzo está ahí y no en otra parte?</a:t>
            </a:r>
            <a:endParaRPr lang="en-US" sz="1460" dirty="0"/>
          </a:p>
        </p:txBody>
      </p:sp>
      <p:sp>
        <p:nvSpPr>
          <p:cNvPr id="20" name="Shape 17"/>
          <p:cNvSpPr/>
          <p:nvPr/>
        </p:nvSpPr>
        <p:spPr>
          <a:xfrm>
            <a:off x="5486400" y="3621024"/>
            <a:ext cx="640080" cy="0"/>
          </a:xfrm>
          <a:prstGeom prst="line">
            <a:avLst/>
          </a:prstGeom>
          <a:noFill/>
          <a:ln w="12700">
            <a:solidFill>
              <a:srgbClr val="8A6A12"/>
            </a:solidFill>
            <a:prstDash val="solid"/>
            <a:headEnd type="none"/>
            <a:tailEnd type="triangle"/>
          </a:ln>
        </p:spPr>
      </p:sp>
      <p:sp>
        <p:nvSpPr>
          <p:cNvPr id="21" name="Shape 18"/>
          <p:cNvSpPr/>
          <p:nvPr/>
        </p:nvSpPr>
        <p:spPr>
          <a:xfrm>
            <a:off x="6327648" y="3218688"/>
            <a:ext cx="5202936" cy="804672"/>
          </a:xfrm>
          <a:prstGeom prst="rect">
            <a:avLst/>
          </a:prstGeom>
          <a:solidFill>
            <a:srgbClr val="FFFFFF"/>
          </a:solidFill>
          <a:ln w="12700">
            <a:solidFill>
              <a:srgbClr val="FFFFFF"/>
            </a:solidFill>
            <a:prstDash val="solid"/>
          </a:ln>
        </p:spPr>
      </p:sp>
      <p:sp>
        <p:nvSpPr>
          <p:cNvPr id="22" name="Shape 19"/>
          <p:cNvSpPr/>
          <p:nvPr/>
        </p:nvSpPr>
        <p:spPr>
          <a:xfrm>
            <a:off x="6327648" y="3218688"/>
            <a:ext cx="54864" cy="804672"/>
          </a:xfrm>
          <a:prstGeom prst="rect">
            <a:avLst/>
          </a:prstGeom>
          <a:solidFill>
            <a:srgbClr val="8A6A12"/>
          </a:solidFill>
          <a:ln w="12700">
            <a:solidFill>
              <a:srgbClr val="8A6A12"/>
            </a:solidFill>
            <a:prstDash val="solid"/>
          </a:ln>
        </p:spPr>
      </p:sp>
      <p:sp>
        <p:nvSpPr>
          <p:cNvPr id="23" name="Text 20"/>
          <p:cNvSpPr txBox="1"/>
          <p:nvPr/>
        </p:nvSpPr>
        <p:spPr>
          <a:xfrm>
            <a:off x="6583680" y="3346704"/>
            <a:ext cx="4846320" cy="274320"/>
          </a:xfrm>
          <a:prstGeom prst="rect">
            <a:avLst/>
          </a:prstGeom>
          <a:noFill/>
          <a:ln/>
        </p:spPr>
        <p:txBody>
          <a:bodyPr wrap="square" lIns="0" tIns="0" rIns="0" bIns="0" rtlCol="0" anchor="t"/>
          <a:lstStyle/>
          <a:p>
            <a:pPr algn="l" indent="0" marL="0">
              <a:buNone/>
            </a:pPr>
            <a:r>
              <a:rPr lang="en-US" sz="1500" b="1" dirty="0">
                <a:solidFill>
                  <a:srgbClr val="8A6A12"/>
                </a:solidFill>
                <a:latin typeface="Aptos" pitchFamily="34" charset="0"/>
                <a:ea typeface="Aptos" pitchFamily="34" charset="-122"/>
                <a:cs typeface="Aptos" pitchFamily="34" charset="-120"/>
              </a:rPr>
              <a:t>El riesgo</a:t>
            </a:r>
            <a:endParaRPr lang="en-US" sz="1500" dirty="0"/>
          </a:p>
        </p:txBody>
      </p:sp>
      <p:sp>
        <p:nvSpPr>
          <p:cNvPr id="24" name="Text 21"/>
          <p:cNvSpPr txBox="1"/>
          <p:nvPr/>
        </p:nvSpPr>
        <p:spPr>
          <a:xfrm>
            <a:off x="6583680" y="3657600"/>
            <a:ext cx="4846320" cy="237744"/>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Probabilidad por impacto</a:t>
            </a:r>
            <a:endParaRPr lang="en-US" sz="1060" dirty="0"/>
          </a:p>
        </p:txBody>
      </p:sp>
      <p:sp>
        <p:nvSpPr>
          <p:cNvPr id="25" name="Text 22"/>
          <p:cNvSpPr txBox="1"/>
          <p:nvPr/>
        </p:nvSpPr>
        <p:spPr>
          <a:xfrm>
            <a:off x="658368" y="4279392"/>
            <a:ext cx="603504" cy="548640"/>
          </a:xfrm>
          <a:prstGeom prst="rect">
            <a:avLst/>
          </a:prstGeom>
          <a:noFill/>
          <a:ln/>
        </p:spPr>
        <p:txBody>
          <a:bodyPr wrap="square" lIns="0" tIns="0" rIns="0" bIns="0" rtlCol="0" anchor="ctr"/>
          <a:lstStyle/>
          <a:p>
            <a:pPr algn="ctr" indent="0" marL="0">
              <a:buNone/>
            </a:pPr>
            <a:r>
              <a:rPr lang="en-US" sz="3400" b="1" dirty="0">
                <a:solidFill>
                  <a:srgbClr val="2E7D4F"/>
                </a:solidFill>
                <a:latin typeface="Aptos Display" pitchFamily="34" charset="0"/>
                <a:ea typeface="Aptos Display" pitchFamily="34" charset="-122"/>
                <a:cs typeface="Aptos Display" pitchFamily="34" charset="-120"/>
              </a:rPr>
              <a:t>3</a:t>
            </a:r>
            <a:endParaRPr lang="en-US" sz="3400" dirty="0"/>
          </a:p>
        </p:txBody>
      </p:sp>
      <p:sp>
        <p:nvSpPr>
          <p:cNvPr id="26" name="Text 23"/>
          <p:cNvSpPr txBox="1"/>
          <p:nvPr/>
        </p:nvSpPr>
        <p:spPr>
          <a:xfrm>
            <a:off x="1389888" y="4334256"/>
            <a:ext cx="3931920" cy="438912"/>
          </a:xfrm>
          <a:prstGeom prst="rect">
            <a:avLst/>
          </a:prstGeom>
          <a:noFill/>
          <a:ln/>
        </p:spPr>
        <p:txBody>
          <a:bodyPr wrap="square" lIns="0" tIns="0" rIns="0" bIns="0" rtlCol="0" anchor="ctr"/>
          <a:lstStyle/>
          <a:p>
            <a:pPr algn="l" indent="0" marL="0">
              <a:lnSpc>
                <a:spcPct val="108000"/>
              </a:lnSpc>
              <a:buNone/>
            </a:pPr>
            <a:r>
              <a:rPr lang="en-US" sz="1460" b="1" dirty="0">
                <a:solidFill>
                  <a:srgbClr val="243B53"/>
                </a:solidFill>
                <a:latin typeface="Aptos" pitchFamily="34" charset="0"/>
                <a:ea typeface="Aptos" pitchFamily="34" charset="-122"/>
                <a:cs typeface="Aptos" pitchFamily="34" charset="-120"/>
              </a:rPr>
              <a:t>¿Coincide lo decidido con lo escrito?</a:t>
            </a:r>
            <a:endParaRPr lang="en-US" sz="1460" dirty="0"/>
          </a:p>
        </p:txBody>
      </p:sp>
      <p:sp>
        <p:nvSpPr>
          <p:cNvPr id="27" name="Shape 24"/>
          <p:cNvSpPr/>
          <p:nvPr/>
        </p:nvSpPr>
        <p:spPr>
          <a:xfrm>
            <a:off x="5486400" y="4553712"/>
            <a:ext cx="640080" cy="0"/>
          </a:xfrm>
          <a:prstGeom prst="line">
            <a:avLst/>
          </a:prstGeom>
          <a:noFill/>
          <a:ln w="12700">
            <a:solidFill>
              <a:srgbClr val="2E7D4F"/>
            </a:solidFill>
            <a:prstDash val="solid"/>
            <a:headEnd type="none"/>
            <a:tailEnd type="triangle"/>
          </a:ln>
        </p:spPr>
      </p:sp>
      <p:sp>
        <p:nvSpPr>
          <p:cNvPr id="28" name="Shape 25"/>
          <p:cNvSpPr/>
          <p:nvPr/>
        </p:nvSpPr>
        <p:spPr>
          <a:xfrm>
            <a:off x="6327648" y="4151376"/>
            <a:ext cx="5202936" cy="804672"/>
          </a:xfrm>
          <a:prstGeom prst="rect">
            <a:avLst/>
          </a:prstGeom>
          <a:solidFill>
            <a:srgbClr val="FFFFFF"/>
          </a:solidFill>
          <a:ln w="12700">
            <a:solidFill>
              <a:srgbClr val="FFFFFF"/>
            </a:solidFill>
            <a:prstDash val="solid"/>
          </a:ln>
        </p:spPr>
      </p:sp>
      <p:sp>
        <p:nvSpPr>
          <p:cNvPr id="29" name="Shape 26"/>
          <p:cNvSpPr/>
          <p:nvPr/>
        </p:nvSpPr>
        <p:spPr>
          <a:xfrm>
            <a:off x="6327648" y="4151376"/>
            <a:ext cx="54864" cy="804672"/>
          </a:xfrm>
          <a:prstGeom prst="rect">
            <a:avLst/>
          </a:prstGeom>
          <a:solidFill>
            <a:srgbClr val="2E7D4F"/>
          </a:solidFill>
          <a:ln w="12700">
            <a:solidFill>
              <a:srgbClr val="2E7D4F"/>
            </a:solidFill>
            <a:prstDash val="solid"/>
          </a:ln>
        </p:spPr>
      </p:sp>
      <p:sp>
        <p:nvSpPr>
          <p:cNvPr id="30" name="Text 27"/>
          <p:cNvSpPr txBox="1"/>
          <p:nvPr/>
        </p:nvSpPr>
        <p:spPr>
          <a:xfrm>
            <a:off x="6583680" y="4279392"/>
            <a:ext cx="4846320" cy="274320"/>
          </a:xfrm>
          <a:prstGeom prst="rect">
            <a:avLst/>
          </a:prstGeom>
          <a:noFill/>
          <a:ln/>
        </p:spPr>
        <p:txBody>
          <a:bodyPr wrap="square" lIns="0" tIns="0" rIns="0" bIns="0" rtlCol="0" anchor="t"/>
          <a:lstStyle/>
          <a:p>
            <a:pPr algn="l" indent="0" marL="0">
              <a:buNone/>
            </a:pPr>
            <a:r>
              <a:rPr lang="en-US" sz="1500" b="1" dirty="0">
                <a:solidFill>
                  <a:srgbClr val="2E7D4F"/>
                </a:solidFill>
                <a:latin typeface="Aptos" pitchFamily="34" charset="0"/>
                <a:ea typeface="Aptos" pitchFamily="34" charset="-122"/>
                <a:cs typeface="Aptos" pitchFamily="34" charset="-120"/>
              </a:rPr>
              <a:t>La matriz de trazabilidad</a:t>
            </a:r>
            <a:endParaRPr lang="en-US" sz="1500" dirty="0"/>
          </a:p>
        </p:txBody>
      </p:sp>
      <p:sp>
        <p:nvSpPr>
          <p:cNvPr id="31" name="Text 28"/>
          <p:cNvSpPr txBox="1"/>
          <p:nvPr/>
        </p:nvSpPr>
        <p:spPr>
          <a:xfrm>
            <a:off x="6583680" y="4590288"/>
            <a:ext cx="4846320" cy="237744"/>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Generada desde la suite</a:t>
            </a:r>
            <a:endParaRPr lang="en-US" sz="1060" dirty="0"/>
          </a:p>
        </p:txBody>
      </p:sp>
      <p:sp>
        <p:nvSpPr>
          <p:cNvPr id="32" name="Shape 29"/>
          <p:cNvSpPr/>
          <p:nvPr/>
        </p:nvSpPr>
        <p:spPr>
          <a:xfrm>
            <a:off x="658368" y="5138928"/>
            <a:ext cx="10874959" cy="457200"/>
          </a:xfrm>
          <a:prstGeom prst="rect">
            <a:avLst/>
          </a:prstGeom>
          <a:solidFill>
            <a:srgbClr val="D62027"/>
          </a:solidFill>
          <a:ln w="12700">
            <a:solidFill>
              <a:srgbClr val="D62027"/>
            </a:solidFill>
            <a:prstDash val="solid"/>
          </a:ln>
        </p:spPr>
      </p:sp>
      <p:sp>
        <p:nvSpPr>
          <p:cNvPr id="33" name="Text 30"/>
          <p:cNvSpPr txBox="1"/>
          <p:nvPr/>
        </p:nvSpPr>
        <p:spPr>
          <a:xfrm>
            <a:off x="932688" y="5230368"/>
            <a:ext cx="10326319" cy="274320"/>
          </a:xfrm>
          <a:prstGeom prst="rect">
            <a:avLst/>
          </a:prstGeom>
          <a:noFill/>
          <a:ln/>
        </p:spPr>
        <p:txBody>
          <a:bodyPr wrap="square" lIns="0" tIns="0" rIns="0" bIns="0" rtlCol="0" anchor="t"/>
          <a:lstStyle/>
          <a:p>
            <a:pPr algn="l" indent="0" marL="0">
              <a:buNone/>
            </a:pPr>
            <a:r>
              <a:rPr lang="en-US" sz="1260" b="1" dirty="0">
                <a:solidFill>
                  <a:srgbClr val="FFFFFF"/>
                </a:solidFill>
                <a:latin typeface="Aptos" pitchFamily="34" charset="0"/>
                <a:ea typeface="Aptos" pitchFamily="34" charset="-122"/>
                <a:cs typeface="Aptos" pitchFamily="34" charset="-120"/>
              </a:rPr>
              <a:t>Cuando los tres se contradicen, arbitra un cuarto: alterar el código y exigir el rojo.</a:t>
            </a:r>
            <a:endParaRPr lang="en-US" sz="1260" dirty="0"/>
          </a:p>
        </p:txBody>
      </p:sp>
      <p:sp>
        <p:nvSpPr>
          <p:cNvPr id="34"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5"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Ninguna de las tres se responde leyendo el repositorio.</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MAPA DE LA SESIÓN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140 minutos, cuatro bloques y un recorrido</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encuadre toma 10 minutos, hay una pausa de 10 a mitad de camino y el cierre toma los últimos 10.</a:t>
            </a:r>
            <a:endParaRPr lang="en-US" sz="1420" dirty="0"/>
          </a:p>
        </p:txBody>
      </p:sp>
      <p:sp>
        <p:nvSpPr>
          <p:cNvPr id="11" name="Shape 8"/>
          <p:cNvSpPr/>
          <p:nvPr/>
        </p:nvSpPr>
        <p:spPr>
          <a:xfrm>
            <a:off x="658368" y="2249424"/>
            <a:ext cx="2636444" cy="1298448"/>
          </a:xfrm>
          <a:prstGeom prst="rect">
            <a:avLst/>
          </a:prstGeom>
          <a:solidFill>
            <a:srgbClr val="FFFFFF"/>
          </a:solidFill>
          <a:ln w="12700">
            <a:solidFill>
              <a:srgbClr val="FFFFFF"/>
            </a:solidFill>
            <a:prstDash val="solid"/>
          </a:ln>
        </p:spPr>
      </p:sp>
      <p:sp>
        <p:nvSpPr>
          <p:cNvPr id="12" name="Shape 9"/>
          <p:cNvSpPr/>
          <p:nvPr/>
        </p:nvSpPr>
        <p:spPr>
          <a:xfrm>
            <a:off x="658368" y="2249424"/>
            <a:ext cx="2636444" cy="54864"/>
          </a:xfrm>
          <a:prstGeom prst="rect">
            <a:avLst/>
          </a:prstGeom>
          <a:solidFill>
            <a:srgbClr val="102A43"/>
          </a:solidFill>
          <a:ln w="12700">
            <a:solidFill>
              <a:srgbClr val="102A43"/>
            </a:solidFill>
            <a:prstDash val="solid"/>
          </a:ln>
        </p:spPr>
      </p:sp>
      <p:sp>
        <p:nvSpPr>
          <p:cNvPr id="13" name="Text 10"/>
          <p:cNvSpPr txBox="1"/>
          <p:nvPr/>
        </p:nvSpPr>
        <p:spPr>
          <a:xfrm>
            <a:off x="841248" y="2414016"/>
            <a:ext cx="2270684" cy="182880"/>
          </a:xfrm>
          <a:prstGeom prst="rect">
            <a:avLst/>
          </a:prstGeom>
          <a:noFill/>
          <a:ln/>
        </p:spPr>
        <p:txBody>
          <a:bodyPr wrap="square" lIns="0" tIns="0" rIns="0" bIns="0" rtlCol="0" anchor="t"/>
          <a:lstStyle/>
          <a:p>
            <a:pPr algn="l" indent="0" marL="0">
              <a:buNone/>
            </a:pPr>
            <a:r>
              <a:rPr lang="en-US" sz="880" b="1" spc="90" kern="0" dirty="0">
                <a:solidFill>
                  <a:srgbClr val="102A43"/>
                </a:solidFill>
                <a:latin typeface="Aptos" pitchFamily="34" charset="0"/>
                <a:ea typeface="Aptos" pitchFamily="34" charset="-122"/>
                <a:cs typeface="Aptos" pitchFamily="34" charset="-120"/>
              </a:rPr>
              <a:t>BLOQUE 1 · 25 MIN</a:t>
            </a:r>
            <a:endParaRPr lang="en-US" sz="880" dirty="0"/>
          </a:p>
        </p:txBody>
      </p:sp>
      <p:sp>
        <p:nvSpPr>
          <p:cNvPr id="14" name="Text 11"/>
          <p:cNvSpPr txBox="1"/>
          <p:nvPr/>
        </p:nvSpPr>
        <p:spPr>
          <a:xfrm>
            <a:off x="841248" y="2633472"/>
            <a:ext cx="2270684" cy="292608"/>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El plan</a:t>
            </a:r>
            <a:endParaRPr lang="en-US" sz="1600" dirty="0"/>
          </a:p>
        </p:txBody>
      </p:sp>
      <p:sp>
        <p:nvSpPr>
          <p:cNvPr id="15" name="Text 12"/>
          <p:cNvSpPr txBox="1"/>
          <p:nvPr/>
        </p:nvSpPr>
        <p:spPr>
          <a:xfrm>
            <a:off x="841248" y="2980944"/>
            <a:ext cx="2270684" cy="493776"/>
          </a:xfrm>
          <a:prstGeom prst="rect">
            <a:avLst/>
          </a:prstGeom>
          <a:noFill/>
          <a:ln/>
        </p:spPr>
        <p:txBody>
          <a:bodyPr wrap="square" lIns="0" tIns="0" rIns="0" bIns="0" rtlCol="0" anchor="t"/>
          <a:lstStyle/>
          <a:p>
            <a:pPr algn="l" indent="0" marL="0">
              <a:lnSpc>
                <a:spcPct val="110000"/>
              </a:lnSpc>
              <a:buNone/>
            </a:pPr>
            <a:r>
              <a:rPr lang="en-US" sz="1020" dirty="0">
                <a:solidFill>
                  <a:srgbClr val="52606D"/>
                </a:solidFill>
                <a:latin typeface="Aptos" pitchFamily="34" charset="0"/>
                <a:ea typeface="Aptos" pitchFamily="34" charset="-122"/>
                <a:cs typeface="Aptos" pitchFamily="34" charset="-120"/>
              </a:rPr>
              <a:t>Qué contiene un plan de pruebas que no puede estar en el código.</a:t>
            </a:r>
            <a:endParaRPr lang="en-US" sz="1020" dirty="0"/>
          </a:p>
        </p:txBody>
      </p:sp>
      <p:sp>
        <p:nvSpPr>
          <p:cNvPr id="16" name="Shape 13"/>
          <p:cNvSpPr/>
          <p:nvPr/>
        </p:nvSpPr>
        <p:spPr>
          <a:xfrm>
            <a:off x="3404540" y="2249424"/>
            <a:ext cx="2636444" cy="1298448"/>
          </a:xfrm>
          <a:prstGeom prst="rect">
            <a:avLst/>
          </a:prstGeom>
          <a:solidFill>
            <a:srgbClr val="FFFFFF"/>
          </a:solidFill>
          <a:ln w="12700">
            <a:solidFill>
              <a:srgbClr val="FFFFFF"/>
            </a:solidFill>
            <a:prstDash val="solid"/>
          </a:ln>
        </p:spPr>
      </p:sp>
      <p:sp>
        <p:nvSpPr>
          <p:cNvPr id="17" name="Shape 14"/>
          <p:cNvSpPr/>
          <p:nvPr/>
        </p:nvSpPr>
        <p:spPr>
          <a:xfrm>
            <a:off x="3404540" y="2249424"/>
            <a:ext cx="2636444" cy="54864"/>
          </a:xfrm>
          <a:prstGeom prst="rect">
            <a:avLst/>
          </a:prstGeom>
          <a:solidFill>
            <a:srgbClr val="8A6A12"/>
          </a:solidFill>
          <a:ln w="12700">
            <a:solidFill>
              <a:srgbClr val="8A6A12"/>
            </a:solidFill>
            <a:prstDash val="solid"/>
          </a:ln>
        </p:spPr>
      </p:sp>
      <p:sp>
        <p:nvSpPr>
          <p:cNvPr id="18" name="Text 15"/>
          <p:cNvSpPr txBox="1"/>
          <p:nvPr/>
        </p:nvSpPr>
        <p:spPr>
          <a:xfrm>
            <a:off x="3587420" y="2414016"/>
            <a:ext cx="2270684" cy="182880"/>
          </a:xfrm>
          <a:prstGeom prst="rect">
            <a:avLst/>
          </a:prstGeom>
          <a:noFill/>
          <a:ln/>
        </p:spPr>
        <p:txBody>
          <a:bodyPr wrap="square" lIns="0" tIns="0" rIns="0" bIns="0" rtlCol="0" anchor="t"/>
          <a:lstStyle/>
          <a:p>
            <a:pPr algn="l" indent="0" marL="0">
              <a:buNone/>
            </a:pPr>
            <a:r>
              <a:rPr lang="en-US" sz="880" b="1" spc="90" kern="0" dirty="0">
                <a:solidFill>
                  <a:srgbClr val="8A6A12"/>
                </a:solidFill>
                <a:latin typeface="Aptos" pitchFamily="34" charset="0"/>
                <a:ea typeface="Aptos" pitchFamily="34" charset="-122"/>
                <a:cs typeface="Aptos" pitchFamily="34" charset="-120"/>
              </a:rPr>
              <a:t>BLOQUE 2 · 25 MIN</a:t>
            </a:r>
            <a:endParaRPr lang="en-US" sz="880" dirty="0"/>
          </a:p>
        </p:txBody>
      </p:sp>
      <p:sp>
        <p:nvSpPr>
          <p:cNvPr id="19" name="Text 16"/>
          <p:cNvSpPr txBox="1"/>
          <p:nvPr/>
        </p:nvSpPr>
        <p:spPr>
          <a:xfrm>
            <a:off x="3587420" y="2633472"/>
            <a:ext cx="2270684" cy="292608"/>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El riesgo</a:t>
            </a:r>
            <a:endParaRPr lang="en-US" sz="1600" dirty="0"/>
          </a:p>
        </p:txBody>
      </p:sp>
      <p:sp>
        <p:nvSpPr>
          <p:cNvPr id="20" name="Text 17"/>
          <p:cNvSpPr txBox="1"/>
          <p:nvPr/>
        </p:nvSpPr>
        <p:spPr>
          <a:xfrm>
            <a:off x="3587420" y="2980944"/>
            <a:ext cx="2270684" cy="493776"/>
          </a:xfrm>
          <a:prstGeom prst="rect">
            <a:avLst/>
          </a:prstGeom>
          <a:noFill/>
          <a:ln/>
        </p:spPr>
        <p:txBody>
          <a:bodyPr wrap="square" lIns="0" tIns="0" rIns="0" bIns="0" rtlCol="0" anchor="t"/>
          <a:lstStyle/>
          <a:p>
            <a:pPr algn="l" indent="0" marL="0">
              <a:lnSpc>
                <a:spcPct val="110000"/>
              </a:lnSpc>
              <a:buNone/>
            </a:pPr>
            <a:r>
              <a:rPr lang="en-US" sz="1020" dirty="0">
                <a:solidFill>
                  <a:srgbClr val="52606D"/>
                </a:solidFill>
                <a:latin typeface="Aptos" pitchFamily="34" charset="0"/>
                <a:ea typeface="Aptos" pitchFamily="34" charset="-122"/>
                <a:cs typeface="Aptos" pitchFamily="34" charset="-120"/>
              </a:rPr>
              <a:t>Cómo se reparte el esfuerzo, y por qué hoy no está repartido así.</a:t>
            </a:r>
            <a:endParaRPr lang="en-US" sz="1020" dirty="0"/>
          </a:p>
        </p:txBody>
      </p:sp>
      <p:sp>
        <p:nvSpPr>
          <p:cNvPr id="21" name="Shape 18"/>
          <p:cNvSpPr/>
          <p:nvPr/>
        </p:nvSpPr>
        <p:spPr>
          <a:xfrm>
            <a:off x="6150712" y="2249424"/>
            <a:ext cx="2636444" cy="1298448"/>
          </a:xfrm>
          <a:prstGeom prst="rect">
            <a:avLst/>
          </a:prstGeom>
          <a:solidFill>
            <a:srgbClr val="FFFFFF"/>
          </a:solidFill>
          <a:ln w="12700">
            <a:solidFill>
              <a:srgbClr val="FFFFFF"/>
            </a:solidFill>
            <a:prstDash val="solid"/>
          </a:ln>
        </p:spPr>
      </p:sp>
      <p:sp>
        <p:nvSpPr>
          <p:cNvPr id="22" name="Shape 19"/>
          <p:cNvSpPr/>
          <p:nvPr/>
        </p:nvSpPr>
        <p:spPr>
          <a:xfrm>
            <a:off x="6150712" y="2249424"/>
            <a:ext cx="2636444" cy="54864"/>
          </a:xfrm>
          <a:prstGeom prst="rect">
            <a:avLst/>
          </a:prstGeom>
          <a:solidFill>
            <a:srgbClr val="2E7D4F"/>
          </a:solidFill>
          <a:ln w="12700">
            <a:solidFill>
              <a:srgbClr val="2E7D4F"/>
            </a:solidFill>
            <a:prstDash val="solid"/>
          </a:ln>
        </p:spPr>
      </p:sp>
      <p:sp>
        <p:nvSpPr>
          <p:cNvPr id="23" name="Text 20"/>
          <p:cNvSpPr txBox="1"/>
          <p:nvPr/>
        </p:nvSpPr>
        <p:spPr>
          <a:xfrm>
            <a:off x="6333592" y="2414016"/>
            <a:ext cx="2270684" cy="182880"/>
          </a:xfrm>
          <a:prstGeom prst="rect">
            <a:avLst/>
          </a:prstGeom>
          <a:noFill/>
          <a:ln/>
        </p:spPr>
        <p:txBody>
          <a:bodyPr wrap="square" lIns="0" tIns="0" rIns="0" bIns="0" rtlCol="0" anchor="t"/>
          <a:lstStyle/>
          <a:p>
            <a:pPr algn="l" indent="0" marL="0">
              <a:buNone/>
            </a:pPr>
            <a:r>
              <a:rPr lang="en-US" sz="880" b="1" spc="90" kern="0" dirty="0">
                <a:solidFill>
                  <a:srgbClr val="2E7D4F"/>
                </a:solidFill>
                <a:latin typeface="Aptos" pitchFamily="34" charset="0"/>
                <a:ea typeface="Aptos" pitchFamily="34" charset="-122"/>
                <a:cs typeface="Aptos" pitchFamily="34" charset="-120"/>
              </a:rPr>
              <a:t>BLOQUE 3 · 30 MIN</a:t>
            </a:r>
            <a:endParaRPr lang="en-US" sz="880" dirty="0"/>
          </a:p>
        </p:txBody>
      </p:sp>
      <p:sp>
        <p:nvSpPr>
          <p:cNvPr id="24" name="Text 21"/>
          <p:cNvSpPr txBox="1"/>
          <p:nvPr/>
        </p:nvSpPr>
        <p:spPr>
          <a:xfrm>
            <a:off x="6333592" y="2633472"/>
            <a:ext cx="2270684" cy="292608"/>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La matriz</a:t>
            </a:r>
            <a:endParaRPr lang="en-US" sz="1600" dirty="0"/>
          </a:p>
        </p:txBody>
      </p:sp>
      <p:sp>
        <p:nvSpPr>
          <p:cNvPr id="25" name="Text 22"/>
          <p:cNvSpPr txBox="1"/>
          <p:nvPr/>
        </p:nvSpPr>
        <p:spPr>
          <a:xfrm>
            <a:off x="6333592" y="2980944"/>
            <a:ext cx="2270684" cy="493776"/>
          </a:xfrm>
          <a:prstGeom prst="rect">
            <a:avLst/>
          </a:prstGeom>
          <a:noFill/>
          <a:ln/>
        </p:spPr>
        <p:txBody>
          <a:bodyPr wrap="square" lIns="0" tIns="0" rIns="0" bIns="0" rtlCol="0" anchor="t"/>
          <a:lstStyle/>
          <a:p>
            <a:pPr algn="l" indent="0" marL="0">
              <a:lnSpc>
                <a:spcPct val="110000"/>
              </a:lnSpc>
              <a:buNone/>
            </a:pPr>
            <a:r>
              <a:rPr lang="en-US" sz="1020" dirty="0">
                <a:solidFill>
                  <a:srgbClr val="52606D"/>
                </a:solidFill>
                <a:latin typeface="Aptos" pitchFamily="34" charset="0"/>
                <a:ea typeface="Aptos" pitchFamily="34" charset="-122"/>
                <a:cs typeface="Aptos" pitchFamily="34" charset="-120"/>
              </a:rPr>
              <a:t>La trazabilidad generada desde la suite, y lo que no alcanza a ver.</a:t>
            </a:r>
            <a:endParaRPr lang="en-US" sz="1020" dirty="0"/>
          </a:p>
        </p:txBody>
      </p:sp>
      <p:sp>
        <p:nvSpPr>
          <p:cNvPr id="26" name="Shape 23"/>
          <p:cNvSpPr/>
          <p:nvPr/>
        </p:nvSpPr>
        <p:spPr>
          <a:xfrm>
            <a:off x="8896883" y="2249424"/>
            <a:ext cx="2636444" cy="1298448"/>
          </a:xfrm>
          <a:prstGeom prst="rect">
            <a:avLst/>
          </a:prstGeom>
          <a:solidFill>
            <a:srgbClr val="FFFFFF"/>
          </a:solidFill>
          <a:ln w="12700">
            <a:solidFill>
              <a:srgbClr val="FFFFFF"/>
            </a:solidFill>
            <a:prstDash val="solid"/>
          </a:ln>
        </p:spPr>
      </p:sp>
      <p:sp>
        <p:nvSpPr>
          <p:cNvPr id="27" name="Shape 24"/>
          <p:cNvSpPr/>
          <p:nvPr/>
        </p:nvSpPr>
        <p:spPr>
          <a:xfrm>
            <a:off x="8896883" y="2249424"/>
            <a:ext cx="2636444" cy="54864"/>
          </a:xfrm>
          <a:prstGeom prst="rect">
            <a:avLst/>
          </a:prstGeom>
          <a:solidFill>
            <a:srgbClr val="B3181E"/>
          </a:solidFill>
          <a:ln w="12700">
            <a:solidFill>
              <a:srgbClr val="B3181E"/>
            </a:solidFill>
            <a:prstDash val="solid"/>
          </a:ln>
        </p:spPr>
      </p:sp>
      <p:sp>
        <p:nvSpPr>
          <p:cNvPr id="28" name="Text 25"/>
          <p:cNvSpPr txBox="1"/>
          <p:nvPr/>
        </p:nvSpPr>
        <p:spPr>
          <a:xfrm>
            <a:off x="9079763" y="2414016"/>
            <a:ext cx="2270684" cy="182880"/>
          </a:xfrm>
          <a:prstGeom prst="rect">
            <a:avLst/>
          </a:prstGeom>
          <a:noFill/>
          <a:ln/>
        </p:spPr>
        <p:txBody>
          <a:bodyPr wrap="square" lIns="0" tIns="0" rIns="0" bIns="0" rtlCol="0" anchor="t"/>
          <a:lstStyle/>
          <a:p>
            <a:pPr algn="l" indent="0" marL="0">
              <a:buNone/>
            </a:pPr>
            <a:r>
              <a:rPr lang="en-US" sz="880" b="1" spc="90" kern="0" dirty="0">
                <a:solidFill>
                  <a:srgbClr val="B3181E"/>
                </a:solidFill>
                <a:latin typeface="Aptos" pitchFamily="34" charset="0"/>
                <a:ea typeface="Aptos" pitchFamily="34" charset="-122"/>
                <a:cs typeface="Aptos" pitchFamily="34" charset="-120"/>
              </a:rPr>
              <a:t>BLOQUE 4 · 30 MIN</a:t>
            </a:r>
            <a:endParaRPr lang="en-US" sz="880" dirty="0"/>
          </a:p>
        </p:txBody>
      </p:sp>
      <p:sp>
        <p:nvSpPr>
          <p:cNvPr id="29" name="Text 26"/>
          <p:cNvSpPr txBox="1"/>
          <p:nvPr/>
        </p:nvSpPr>
        <p:spPr>
          <a:xfrm>
            <a:off x="9079763" y="2633472"/>
            <a:ext cx="2270684" cy="292608"/>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Los derechos</a:t>
            </a:r>
            <a:endParaRPr lang="en-US" sz="1600" dirty="0"/>
          </a:p>
        </p:txBody>
      </p:sp>
      <p:sp>
        <p:nvSpPr>
          <p:cNvPr id="30" name="Text 27"/>
          <p:cNvSpPr txBox="1"/>
          <p:nvPr/>
        </p:nvSpPr>
        <p:spPr>
          <a:xfrm>
            <a:off x="9079763" y="2980944"/>
            <a:ext cx="2270684" cy="493776"/>
          </a:xfrm>
          <a:prstGeom prst="rect">
            <a:avLst/>
          </a:prstGeom>
          <a:noFill/>
          <a:ln/>
        </p:spPr>
        <p:txBody>
          <a:bodyPr wrap="square" lIns="0" tIns="0" rIns="0" bIns="0" rtlCol="0" anchor="t"/>
          <a:lstStyle/>
          <a:p>
            <a:pPr algn="l" indent="0" marL="0">
              <a:lnSpc>
                <a:spcPct val="110000"/>
              </a:lnSpc>
              <a:buNone/>
            </a:pPr>
            <a:r>
              <a:rPr lang="en-US" sz="1020" dirty="0">
                <a:solidFill>
                  <a:srgbClr val="52606D"/>
                </a:solidFill>
                <a:latin typeface="Aptos" pitchFamily="34" charset="0"/>
                <a:ea typeface="Aptos" pitchFamily="34" charset="-122"/>
                <a:cs typeface="Aptos" pitchFamily="34" charset="-120"/>
              </a:rPr>
              <a:t>La Ley 21.719 convertida en filas de esa misma matriz.</a:t>
            </a:r>
            <a:endParaRPr lang="en-US" sz="1020" dirty="0"/>
          </a:p>
        </p:txBody>
      </p:sp>
      <p:sp>
        <p:nvSpPr>
          <p:cNvPr id="31" name="Shape 28"/>
          <p:cNvSpPr/>
          <p:nvPr/>
        </p:nvSpPr>
        <p:spPr>
          <a:xfrm>
            <a:off x="658368" y="3694176"/>
            <a:ext cx="10874959" cy="457200"/>
          </a:xfrm>
          <a:prstGeom prst="rect">
            <a:avLst/>
          </a:prstGeom>
          <a:solidFill>
            <a:srgbClr val="EDE6DA"/>
          </a:solidFill>
          <a:ln w="12700">
            <a:solidFill>
              <a:srgbClr val="EDE6DA"/>
            </a:solidFill>
            <a:prstDash val="solid"/>
          </a:ln>
        </p:spPr>
      </p:sp>
      <p:sp>
        <p:nvSpPr>
          <p:cNvPr id="32" name="Text 29"/>
          <p:cNvSpPr txBox="1"/>
          <p:nvPr/>
        </p:nvSpPr>
        <p:spPr>
          <a:xfrm>
            <a:off x="914400" y="3785616"/>
            <a:ext cx="10362895" cy="292608"/>
          </a:xfrm>
          <a:prstGeom prst="rect">
            <a:avLst/>
          </a:prstGeom>
          <a:noFill/>
          <a:ln/>
        </p:spPr>
        <p:txBody>
          <a:bodyPr wrap="square" lIns="0" tIns="0" rIns="0" bIns="0" rtlCol="0" anchor="t"/>
          <a:lstStyle/>
          <a:p>
            <a:pPr algn="l" indent="0" marL="0">
              <a:buNone/>
            </a:pPr>
            <a:r>
              <a:rPr lang="en-US" sz="1120" dirty="0">
                <a:solidFill>
                  <a:srgbClr val="243B53"/>
                </a:solidFill>
                <a:latin typeface="Aptos" pitchFamily="34" charset="0"/>
                <a:ea typeface="Aptos" pitchFamily="34" charset="-122"/>
                <a:cs typeface="Aptos" pitchFamily="34" charset="-120"/>
              </a:rPr>
              <a:t>Se trabaja sobre el mismo proyecto de reserva de laboratorio, con dos piezas nuevas: un archivo de requisitos con identificadores estables, y un registro de eventos donde el sistema guarda lo que fue ocurriendo.</a:t>
            </a:r>
            <a:endParaRPr lang="en-US" sz="1120" dirty="0"/>
          </a:p>
        </p:txBody>
      </p:sp>
      <p:sp>
        <p:nvSpPr>
          <p:cNvPr id="33" name="Text 30"/>
          <p:cNvSpPr txBox="1"/>
          <p:nvPr/>
        </p:nvSpPr>
        <p:spPr>
          <a:xfrm>
            <a:off x="658368" y="4315968"/>
            <a:ext cx="54864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EL RECORRIDO DE TRABAJO DE LA SESIÓN</a:t>
            </a:r>
            <a:endParaRPr lang="en-US" sz="960" dirty="0"/>
          </a:p>
        </p:txBody>
      </p:sp>
      <p:sp>
        <p:nvSpPr>
          <p:cNvPr id="34" name="Shape 31"/>
          <p:cNvSpPr/>
          <p:nvPr/>
        </p:nvSpPr>
        <p:spPr>
          <a:xfrm>
            <a:off x="658368" y="4553712"/>
            <a:ext cx="2622728" cy="786384"/>
          </a:xfrm>
          <a:prstGeom prst="rect">
            <a:avLst/>
          </a:prstGeom>
          <a:solidFill>
            <a:srgbClr val="EDE6DA"/>
          </a:solidFill>
          <a:ln w="12700">
            <a:solidFill>
              <a:srgbClr val="EDE6DA"/>
            </a:solidFill>
            <a:prstDash val="solid"/>
          </a:ln>
        </p:spPr>
      </p:sp>
      <p:sp>
        <p:nvSpPr>
          <p:cNvPr id="35" name="Text 32"/>
          <p:cNvSpPr txBox="1"/>
          <p:nvPr/>
        </p:nvSpPr>
        <p:spPr>
          <a:xfrm>
            <a:off x="841248" y="4654296"/>
            <a:ext cx="457200" cy="182880"/>
          </a:xfrm>
          <a:prstGeom prst="rect">
            <a:avLst/>
          </a:prstGeom>
          <a:noFill/>
          <a:ln/>
        </p:spPr>
        <p:txBody>
          <a:bodyPr wrap="square" lIns="0" tIns="0" rIns="0" bIns="0" rtlCol="0" anchor="t"/>
          <a:lstStyle/>
          <a:p>
            <a:pPr algn="l" indent="0" marL="0">
              <a:buNone/>
            </a:pPr>
            <a:r>
              <a:rPr lang="en-US" sz="900" b="1" spc="80" kern="0" dirty="0">
                <a:solidFill>
                  <a:srgbClr val="52606D"/>
                </a:solidFill>
                <a:latin typeface="Aptos" pitchFamily="34" charset="0"/>
                <a:ea typeface="Aptos" pitchFamily="34" charset="-122"/>
                <a:cs typeface="Aptos" pitchFamily="34" charset="-120"/>
              </a:rPr>
              <a:t>01</a:t>
            </a:r>
            <a:endParaRPr lang="en-US" sz="900" dirty="0"/>
          </a:p>
        </p:txBody>
      </p:sp>
      <p:sp>
        <p:nvSpPr>
          <p:cNvPr id="36" name="Text 33"/>
          <p:cNvSpPr txBox="1"/>
          <p:nvPr/>
        </p:nvSpPr>
        <p:spPr>
          <a:xfrm>
            <a:off x="841248" y="4837176"/>
            <a:ext cx="2256968" cy="219456"/>
          </a:xfrm>
          <a:prstGeom prst="rect">
            <a:avLst/>
          </a:prstGeom>
          <a:noFill/>
          <a:ln/>
        </p:spPr>
        <p:txBody>
          <a:bodyPr wrap="square" lIns="0" tIns="0" rIns="0" bIns="0" rtlCol="0" anchor="t"/>
          <a:lstStyle/>
          <a:p>
            <a:pPr algn="l" indent="0" marL="0">
              <a:buNone/>
            </a:pPr>
            <a:r>
              <a:rPr lang="en-US" sz="1160" b="1" spc="90" kern="0" dirty="0">
                <a:solidFill>
                  <a:srgbClr val="243B53"/>
                </a:solidFill>
                <a:latin typeface="Aptos" pitchFamily="34" charset="0"/>
                <a:ea typeface="Aptos" pitchFamily="34" charset="-122"/>
                <a:cs typeface="Aptos" pitchFamily="34" charset="-120"/>
              </a:rPr>
              <a:t>DECLARAR</a:t>
            </a:r>
            <a:endParaRPr lang="en-US" sz="1160" dirty="0"/>
          </a:p>
        </p:txBody>
      </p:sp>
      <p:sp>
        <p:nvSpPr>
          <p:cNvPr id="37" name="Text 34"/>
          <p:cNvSpPr txBox="1"/>
          <p:nvPr/>
        </p:nvSpPr>
        <p:spPr>
          <a:xfrm>
            <a:off x="841248" y="5074920"/>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52606D"/>
                </a:solidFill>
                <a:latin typeface="Aptos" pitchFamily="34" charset="0"/>
                <a:ea typeface="Aptos" pitchFamily="34" charset="-122"/>
                <a:cs typeface="Aptos" pitchFamily="34" charset="-120"/>
              </a:rPr>
              <a:t>Qué se prueba y qué queda fuera</a:t>
            </a:r>
            <a:endParaRPr lang="en-US" sz="920" dirty="0"/>
          </a:p>
        </p:txBody>
      </p:sp>
      <p:sp>
        <p:nvSpPr>
          <p:cNvPr id="38" name="Shape 35"/>
          <p:cNvSpPr/>
          <p:nvPr/>
        </p:nvSpPr>
        <p:spPr>
          <a:xfrm>
            <a:off x="3409112" y="4553712"/>
            <a:ext cx="2622728" cy="786384"/>
          </a:xfrm>
          <a:prstGeom prst="rect">
            <a:avLst/>
          </a:prstGeom>
          <a:solidFill>
            <a:srgbClr val="EDE6DA"/>
          </a:solidFill>
          <a:ln w="12700">
            <a:solidFill>
              <a:srgbClr val="EDE6DA"/>
            </a:solidFill>
            <a:prstDash val="solid"/>
          </a:ln>
        </p:spPr>
      </p:sp>
      <p:sp>
        <p:nvSpPr>
          <p:cNvPr id="39" name="Text 36"/>
          <p:cNvSpPr txBox="1"/>
          <p:nvPr/>
        </p:nvSpPr>
        <p:spPr>
          <a:xfrm>
            <a:off x="3591992" y="4654296"/>
            <a:ext cx="457200" cy="182880"/>
          </a:xfrm>
          <a:prstGeom prst="rect">
            <a:avLst/>
          </a:prstGeom>
          <a:noFill/>
          <a:ln/>
        </p:spPr>
        <p:txBody>
          <a:bodyPr wrap="square" lIns="0" tIns="0" rIns="0" bIns="0" rtlCol="0" anchor="t"/>
          <a:lstStyle/>
          <a:p>
            <a:pPr algn="l" indent="0" marL="0">
              <a:buNone/>
            </a:pPr>
            <a:r>
              <a:rPr lang="en-US" sz="900" b="1" spc="80" kern="0" dirty="0">
                <a:solidFill>
                  <a:srgbClr val="52606D"/>
                </a:solidFill>
                <a:latin typeface="Aptos" pitchFamily="34" charset="0"/>
                <a:ea typeface="Aptos" pitchFamily="34" charset="-122"/>
                <a:cs typeface="Aptos" pitchFamily="34" charset="-120"/>
              </a:rPr>
              <a:t>02</a:t>
            </a:r>
            <a:endParaRPr lang="en-US" sz="900" dirty="0"/>
          </a:p>
        </p:txBody>
      </p:sp>
      <p:sp>
        <p:nvSpPr>
          <p:cNvPr id="40" name="Text 37"/>
          <p:cNvSpPr txBox="1"/>
          <p:nvPr/>
        </p:nvSpPr>
        <p:spPr>
          <a:xfrm>
            <a:off x="3591992" y="4837176"/>
            <a:ext cx="2256968" cy="219456"/>
          </a:xfrm>
          <a:prstGeom prst="rect">
            <a:avLst/>
          </a:prstGeom>
          <a:noFill/>
          <a:ln/>
        </p:spPr>
        <p:txBody>
          <a:bodyPr wrap="square" lIns="0" tIns="0" rIns="0" bIns="0" rtlCol="0" anchor="t"/>
          <a:lstStyle/>
          <a:p>
            <a:pPr algn="l" indent="0" marL="0">
              <a:buNone/>
            </a:pPr>
            <a:r>
              <a:rPr lang="en-US" sz="1160" b="1" spc="90" kern="0" dirty="0">
                <a:solidFill>
                  <a:srgbClr val="243B53"/>
                </a:solidFill>
                <a:latin typeface="Aptos" pitchFamily="34" charset="0"/>
                <a:ea typeface="Aptos" pitchFamily="34" charset="-122"/>
                <a:cs typeface="Aptos" pitchFamily="34" charset="-120"/>
              </a:rPr>
              <a:t>PRIORIZAR</a:t>
            </a:r>
            <a:endParaRPr lang="en-US" sz="1160" dirty="0"/>
          </a:p>
        </p:txBody>
      </p:sp>
      <p:sp>
        <p:nvSpPr>
          <p:cNvPr id="41" name="Text 38"/>
          <p:cNvSpPr txBox="1"/>
          <p:nvPr/>
        </p:nvSpPr>
        <p:spPr>
          <a:xfrm>
            <a:off x="3591992" y="5074920"/>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52606D"/>
                </a:solidFill>
                <a:latin typeface="Aptos" pitchFamily="34" charset="0"/>
                <a:ea typeface="Aptos" pitchFamily="34" charset="-122"/>
                <a:cs typeface="Aptos" pitchFamily="34" charset="-120"/>
              </a:rPr>
              <a:t>Dónde duele más un fallo</a:t>
            </a:r>
            <a:endParaRPr lang="en-US" sz="920" dirty="0"/>
          </a:p>
        </p:txBody>
      </p:sp>
      <p:sp>
        <p:nvSpPr>
          <p:cNvPr id="42" name="Shape 39"/>
          <p:cNvSpPr/>
          <p:nvPr/>
        </p:nvSpPr>
        <p:spPr>
          <a:xfrm>
            <a:off x="6159856" y="4553712"/>
            <a:ext cx="2622728" cy="786384"/>
          </a:xfrm>
          <a:prstGeom prst="rect">
            <a:avLst/>
          </a:prstGeom>
          <a:solidFill>
            <a:srgbClr val="EDE6DA"/>
          </a:solidFill>
          <a:ln w="12700">
            <a:solidFill>
              <a:srgbClr val="EDE6DA"/>
            </a:solidFill>
            <a:prstDash val="solid"/>
          </a:ln>
        </p:spPr>
      </p:sp>
      <p:sp>
        <p:nvSpPr>
          <p:cNvPr id="43" name="Text 40"/>
          <p:cNvSpPr txBox="1"/>
          <p:nvPr/>
        </p:nvSpPr>
        <p:spPr>
          <a:xfrm>
            <a:off x="6342736" y="4654296"/>
            <a:ext cx="457200" cy="182880"/>
          </a:xfrm>
          <a:prstGeom prst="rect">
            <a:avLst/>
          </a:prstGeom>
          <a:noFill/>
          <a:ln/>
        </p:spPr>
        <p:txBody>
          <a:bodyPr wrap="square" lIns="0" tIns="0" rIns="0" bIns="0" rtlCol="0" anchor="t"/>
          <a:lstStyle/>
          <a:p>
            <a:pPr algn="l" indent="0" marL="0">
              <a:buNone/>
            </a:pPr>
            <a:r>
              <a:rPr lang="en-US" sz="900" b="1" spc="80" kern="0" dirty="0">
                <a:solidFill>
                  <a:srgbClr val="52606D"/>
                </a:solidFill>
                <a:latin typeface="Aptos" pitchFamily="34" charset="0"/>
                <a:ea typeface="Aptos" pitchFamily="34" charset="-122"/>
                <a:cs typeface="Aptos" pitchFamily="34" charset="-120"/>
              </a:rPr>
              <a:t>03</a:t>
            </a:r>
            <a:endParaRPr lang="en-US" sz="900" dirty="0"/>
          </a:p>
        </p:txBody>
      </p:sp>
      <p:sp>
        <p:nvSpPr>
          <p:cNvPr id="44" name="Text 41"/>
          <p:cNvSpPr txBox="1"/>
          <p:nvPr/>
        </p:nvSpPr>
        <p:spPr>
          <a:xfrm>
            <a:off x="6342736" y="4837176"/>
            <a:ext cx="2256968" cy="219456"/>
          </a:xfrm>
          <a:prstGeom prst="rect">
            <a:avLst/>
          </a:prstGeom>
          <a:noFill/>
          <a:ln/>
        </p:spPr>
        <p:txBody>
          <a:bodyPr wrap="square" lIns="0" tIns="0" rIns="0" bIns="0" rtlCol="0" anchor="t"/>
          <a:lstStyle/>
          <a:p>
            <a:pPr algn="l" indent="0" marL="0">
              <a:buNone/>
            </a:pPr>
            <a:r>
              <a:rPr lang="en-US" sz="1160" b="1" spc="90" kern="0" dirty="0">
                <a:solidFill>
                  <a:srgbClr val="243B53"/>
                </a:solidFill>
                <a:latin typeface="Aptos" pitchFamily="34" charset="0"/>
                <a:ea typeface="Aptos" pitchFamily="34" charset="-122"/>
                <a:cs typeface="Aptos" pitchFamily="34" charset="-120"/>
              </a:rPr>
              <a:t>TRAZAR</a:t>
            </a:r>
            <a:endParaRPr lang="en-US" sz="1160" dirty="0"/>
          </a:p>
        </p:txBody>
      </p:sp>
      <p:sp>
        <p:nvSpPr>
          <p:cNvPr id="45" name="Text 42"/>
          <p:cNvSpPr txBox="1"/>
          <p:nvPr/>
        </p:nvSpPr>
        <p:spPr>
          <a:xfrm>
            <a:off x="6342736" y="5074920"/>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52606D"/>
                </a:solidFill>
                <a:latin typeface="Aptos" pitchFamily="34" charset="0"/>
                <a:ea typeface="Aptos" pitchFamily="34" charset="-122"/>
                <a:cs typeface="Aptos" pitchFamily="34" charset="-120"/>
              </a:rPr>
              <a:t>Qué prueba responde a qué requisito</a:t>
            </a:r>
            <a:endParaRPr lang="en-US" sz="920" dirty="0"/>
          </a:p>
        </p:txBody>
      </p:sp>
      <p:sp>
        <p:nvSpPr>
          <p:cNvPr id="46" name="Shape 43"/>
          <p:cNvSpPr/>
          <p:nvPr/>
        </p:nvSpPr>
        <p:spPr>
          <a:xfrm>
            <a:off x="8910599" y="4553712"/>
            <a:ext cx="2622728" cy="786384"/>
          </a:xfrm>
          <a:prstGeom prst="rect">
            <a:avLst/>
          </a:prstGeom>
          <a:solidFill>
            <a:srgbClr val="EDE6DA"/>
          </a:solidFill>
          <a:ln w="12700">
            <a:solidFill>
              <a:srgbClr val="EDE6DA"/>
            </a:solidFill>
            <a:prstDash val="solid"/>
          </a:ln>
        </p:spPr>
      </p:sp>
      <p:sp>
        <p:nvSpPr>
          <p:cNvPr id="47" name="Text 44"/>
          <p:cNvSpPr txBox="1"/>
          <p:nvPr/>
        </p:nvSpPr>
        <p:spPr>
          <a:xfrm>
            <a:off x="9093479" y="4654296"/>
            <a:ext cx="457200" cy="182880"/>
          </a:xfrm>
          <a:prstGeom prst="rect">
            <a:avLst/>
          </a:prstGeom>
          <a:noFill/>
          <a:ln/>
        </p:spPr>
        <p:txBody>
          <a:bodyPr wrap="square" lIns="0" tIns="0" rIns="0" bIns="0" rtlCol="0" anchor="t"/>
          <a:lstStyle/>
          <a:p>
            <a:pPr algn="l" indent="0" marL="0">
              <a:buNone/>
            </a:pPr>
            <a:r>
              <a:rPr lang="en-US" sz="900" b="1" spc="80" kern="0" dirty="0">
                <a:solidFill>
                  <a:srgbClr val="52606D"/>
                </a:solidFill>
                <a:latin typeface="Aptos" pitchFamily="34" charset="0"/>
                <a:ea typeface="Aptos" pitchFamily="34" charset="-122"/>
                <a:cs typeface="Aptos" pitchFamily="34" charset="-120"/>
              </a:rPr>
              <a:t>04</a:t>
            </a:r>
            <a:endParaRPr lang="en-US" sz="900" dirty="0"/>
          </a:p>
        </p:txBody>
      </p:sp>
      <p:sp>
        <p:nvSpPr>
          <p:cNvPr id="48" name="Text 45"/>
          <p:cNvSpPr txBox="1"/>
          <p:nvPr/>
        </p:nvSpPr>
        <p:spPr>
          <a:xfrm>
            <a:off x="9093479" y="4837176"/>
            <a:ext cx="2256968" cy="219456"/>
          </a:xfrm>
          <a:prstGeom prst="rect">
            <a:avLst/>
          </a:prstGeom>
          <a:noFill/>
          <a:ln/>
        </p:spPr>
        <p:txBody>
          <a:bodyPr wrap="square" lIns="0" tIns="0" rIns="0" bIns="0" rtlCol="0" anchor="t"/>
          <a:lstStyle/>
          <a:p>
            <a:pPr algn="l" indent="0" marL="0">
              <a:buNone/>
            </a:pPr>
            <a:r>
              <a:rPr lang="en-US" sz="1160" b="1" spc="90" kern="0" dirty="0">
                <a:solidFill>
                  <a:srgbClr val="243B53"/>
                </a:solidFill>
                <a:latin typeface="Aptos" pitchFamily="34" charset="0"/>
                <a:ea typeface="Aptos" pitchFamily="34" charset="-122"/>
                <a:cs typeface="Aptos" pitchFamily="34" charset="-120"/>
              </a:rPr>
              <a:t>COMPROBAR</a:t>
            </a:r>
            <a:endParaRPr lang="en-US" sz="1160" dirty="0"/>
          </a:p>
        </p:txBody>
      </p:sp>
      <p:sp>
        <p:nvSpPr>
          <p:cNvPr id="49" name="Text 46"/>
          <p:cNvSpPr txBox="1"/>
          <p:nvPr/>
        </p:nvSpPr>
        <p:spPr>
          <a:xfrm>
            <a:off x="9093479" y="5074920"/>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52606D"/>
                </a:solidFill>
                <a:latin typeface="Aptos" pitchFamily="34" charset="0"/>
                <a:ea typeface="Aptos" pitchFamily="34" charset="-122"/>
                <a:cs typeface="Aptos" pitchFamily="34" charset="-120"/>
              </a:rPr>
              <a:t>Que la traza sea verdadera</a:t>
            </a:r>
            <a:endParaRPr lang="en-US" sz="920" dirty="0"/>
          </a:p>
        </p:txBody>
      </p:sp>
      <p:sp>
        <p:nvSpPr>
          <p:cNvPr id="50" name="Shape 47"/>
          <p:cNvSpPr/>
          <p:nvPr/>
        </p:nvSpPr>
        <p:spPr>
          <a:xfrm>
            <a:off x="658368" y="5650992"/>
            <a:ext cx="10874959" cy="548640"/>
          </a:xfrm>
          <a:prstGeom prst="rect">
            <a:avLst/>
          </a:prstGeom>
          <a:solidFill>
            <a:srgbClr val="102A43"/>
          </a:solidFill>
          <a:ln w="12700">
            <a:solidFill>
              <a:srgbClr val="102A43"/>
            </a:solidFill>
            <a:prstDash val="solid"/>
          </a:ln>
        </p:spPr>
      </p:sp>
      <p:sp>
        <p:nvSpPr>
          <p:cNvPr id="51" name="Text 4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Se declara, se prioriza, se traza y se comprueba que la traza sea verdadera.</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PUNTO DE PARTIDA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sistema sobre el que se trabaja</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Es el mismo proyecto de reserva de laboratorio de las cinco sesiones anteriores. Sus piezas van a aparecer toda la sesión, así que conviene tenerlas a la vista.</a:t>
            </a:r>
            <a:endParaRPr lang="en-US" sz="1420" dirty="0"/>
          </a:p>
        </p:txBody>
      </p:sp>
      <p:sp>
        <p:nvSpPr>
          <p:cNvPr id="11" name="Shape 8"/>
          <p:cNvSpPr/>
          <p:nvPr/>
        </p:nvSpPr>
        <p:spPr>
          <a:xfrm>
            <a:off x="658368" y="2340864"/>
            <a:ext cx="2432304" cy="1316736"/>
          </a:xfrm>
          <a:prstGeom prst="rect">
            <a:avLst/>
          </a:prstGeom>
          <a:solidFill>
            <a:srgbClr val="FFFFFF"/>
          </a:solidFill>
          <a:ln w="12700">
            <a:solidFill>
              <a:srgbClr val="FFFFFF"/>
            </a:solidFill>
            <a:prstDash val="solid"/>
          </a:ln>
        </p:spPr>
      </p:sp>
      <p:sp>
        <p:nvSpPr>
          <p:cNvPr id="12" name="Shape 9"/>
          <p:cNvSpPr/>
          <p:nvPr/>
        </p:nvSpPr>
        <p:spPr>
          <a:xfrm>
            <a:off x="658368" y="2340864"/>
            <a:ext cx="2432304" cy="54864"/>
          </a:xfrm>
          <a:prstGeom prst="rect">
            <a:avLst/>
          </a:prstGeom>
          <a:solidFill>
            <a:srgbClr val="52606D"/>
          </a:solidFill>
          <a:ln w="12700">
            <a:solidFill>
              <a:srgbClr val="52606D"/>
            </a:solidFill>
            <a:prstDash val="solid"/>
          </a:ln>
        </p:spPr>
      </p:sp>
      <p:sp>
        <p:nvSpPr>
          <p:cNvPr id="13" name="Text 10"/>
          <p:cNvSpPr txBox="1"/>
          <p:nvPr/>
        </p:nvSpPr>
        <p:spPr>
          <a:xfrm>
            <a:off x="859536" y="2523744"/>
            <a:ext cx="2029968" cy="274320"/>
          </a:xfrm>
          <a:prstGeom prst="rect">
            <a:avLst/>
          </a:prstGeom>
          <a:noFill/>
          <a:ln/>
        </p:spPr>
        <p:txBody>
          <a:bodyPr wrap="square" lIns="0" tIns="0" rIns="0" bIns="0" rtlCol="0" anchor="t"/>
          <a:lstStyle/>
          <a:p>
            <a:pPr algn="l" indent="0" marL="0">
              <a:buNone/>
            </a:pPr>
            <a:r>
              <a:rPr lang="en-US" sz="1360" b="1" dirty="0">
                <a:solidFill>
                  <a:srgbClr val="52606D"/>
                </a:solidFill>
                <a:latin typeface="Aptos" pitchFamily="34" charset="0"/>
                <a:ea typeface="Aptos" pitchFamily="34" charset="-122"/>
                <a:cs typeface="Aptos" pitchFamily="34" charset="-120"/>
              </a:rPr>
              <a:t>La interfaz</a:t>
            </a:r>
            <a:endParaRPr lang="en-US" sz="1360" dirty="0"/>
          </a:p>
        </p:txBody>
      </p:sp>
      <p:sp>
        <p:nvSpPr>
          <p:cNvPr id="14" name="Text 11"/>
          <p:cNvSpPr txBox="1"/>
          <p:nvPr/>
        </p:nvSpPr>
        <p:spPr>
          <a:xfrm>
            <a:off x="859536" y="2852928"/>
            <a:ext cx="2029968" cy="694944"/>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La página que usa la persona: el formulario y el estado de los bloques. Envía la solicitud.</a:t>
            </a:r>
            <a:endParaRPr lang="en-US" sz="1020" dirty="0"/>
          </a:p>
        </p:txBody>
      </p:sp>
      <p:sp>
        <p:nvSpPr>
          <p:cNvPr id="15" name="Shape 12"/>
          <p:cNvSpPr/>
          <p:nvPr/>
        </p:nvSpPr>
        <p:spPr>
          <a:xfrm>
            <a:off x="3163824" y="2999232"/>
            <a:ext cx="292608" cy="0"/>
          </a:xfrm>
          <a:prstGeom prst="line">
            <a:avLst/>
          </a:prstGeom>
          <a:noFill/>
          <a:ln w="12700">
            <a:solidFill>
              <a:srgbClr val="D8CFC4"/>
            </a:solidFill>
            <a:prstDash val="solid"/>
            <a:headEnd type="none"/>
            <a:tailEnd type="triangle"/>
          </a:ln>
        </p:spPr>
      </p:sp>
      <p:sp>
        <p:nvSpPr>
          <p:cNvPr id="16" name="Shape 13"/>
          <p:cNvSpPr/>
          <p:nvPr/>
        </p:nvSpPr>
        <p:spPr>
          <a:xfrm>
            <a:off x="3474720" y="2340864"/>
            <a:ext cx="2432304" cy="1316736"/>
          </a:xfrm>
          <a:prstGeom prst="rect">
            <a:avLst/>
          </a:prstGeom>
          <a:solidFill>
            <a:srgbClr val="FFFFFF"/>
          </a:solidFill>
          <a:ln w="12700">
            <a:solidFill>
              <a:srgbClr val="FFFFFF"/>
            </a:solidFill>
            <a:prstDash val="solid"/>
          </a:ln>
        </p:spPr>
      </p:sp>
      <p:sp>
        <p:nvSpPr>
          <p:cNvPr id="17" name="Shape 14"/>
          <p:cNvSpPr/>
          <p:nvPr/>
        </p:nvSpPr>
        <p:spPr>
          <a:xfrm>
            <a:off x="3474720" y="2340864"/>
            <a:ext cx="2432304" cy="54864"/>
          </a:xfrm>
          <a:prstGeom prst="rect">
            <a:avLst/>
          </a:prstGeom>
          <a:solidFill>
            <a:srgbClr val="102A43"/>
          </a:solidFill>
          <a:ln w="12700">
            <a:solidFill>
              <a:srgbClr val="102A43"/>
            </a:solidFill>
            <a:prstDash val="solid"/>
          </a:ln>
        </p:spPr>
      </p:sp>
      <p:sp>
        <p:nvSpPr>
          <p:cNvPr id="18" name="Text 15"/>
          <p:cNvSpPr txBox="1"/>
          <p:nvPr/>
        </p:nvSpPr>
        <p:spPr>
          <a:xfrm>
            <a:off x="3675888" y="2523744"/>
            <a:ext cx="2029968" cy="274320"/>
          </a:xfrm>
          <a:prstGeom prst="rect">
            <a:avLst/>
          </a:prstGeom>
          <a:noFill/>
          <a:ln/>
        </p:spPr>
        <p:txBody>
          <a:bodyPr wrap="square" lIns="0" tIns="0" rIns="0" bIns="0" rtlCol="0" anchor="t"/>
          <a:lstStyle/>
          <a:p>
            <a:pPr algn="l" indent="0" marL="0">
              <a:buNone/>
            </a:pPr>
            <a:r>
              <a:rPr lang="en-US" sz="1360" b="1" dirty="0">
                <a:solidFill>
                  <a:srgbClr val="102A43"/>
                </a:solidFill>
                <a:latin typeface="Aptos" pitchFamily="34" charset="0"/>
                <a:ea typeface="Aptos" pitchFamily="34" charset="-122"/>
                <a:cs typeface="Aptos" pitchFamily="34" charset="-120"/>
              </a:rPr>
              <a:t>La ruta de la API</a:t>
            </a:r>
            <a:endParaRPr lang="en-US" sz="1360" dirty="0"/>
          </a:p>
        </p:txBody>
      </p:sp>
      <p:sp>
        <p:nvSpPr>
          <p:cNvPr id="19" name="Text 16"/>
          <p:cNvSpPr txBox="1"/>
          <p:nvPr/>
        </p:nvSpPr>
        <p:spPr>
          <a:xfrm>
            <a:off x="3675888" y="2852928"/>
            <a:ext cx="2029968" cy="694944"/>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crear_reserva la recibe, consulta, decide y arma la respuesta.</a:t>
            </a:r>
            <a:endParaRPr lang="en-US" sz="1020" dirty="0"/>
          </a:p>
        </p:txBody>
      </p:sp>
      <p:sp>
        <p:nvSpPr>
          <p:cNvPr id="20" name="Shape 17"/>
          <p:cNvSpPr/>
          <p:nvPr/>
        </p:nvSpPr>
        <p:spPr>
          <a:xfrm>
            <a:off x="5980176" y="2999232"/>
            <a:ext cx="292608" cy="0"/>
          </a:xfrm>
          <a:prstGeom prst="line">
            <a:avLst/>
          </a:prstGeom>
          <a:noFill/>
          <a:ln w="12700">
            <a:solidFill>
              <a:srgbClr val="D8CFC4"/>
            </a:solidFill>
            <a:prstDash val="solid"/>
            <a:headEnd type="none"/>
            <a:tailEnd type="triangle"/>
          </a:ln>
        </p:spPr>
      </p:sp>
      <p:sp>
        <p:nvSpPr>
          <p:cNvPr id="21" name="Shape 18"/>
          <p:cNvSpPr/>
          <p:nvPr/>
        </p:nvSpPr>
        <p:spPr>
          <a:xfrm>
            <a:off x="6291072" y="2340864"/>
            <a:ext cx="2432304" cy="1316736"/>
          </a:xfrm>
          <a:prstGeom prst="rect">
            <a:avLst/>
          </a:prstGeom>
          <a:solidFill>
            <a:srgbClr val="FFFFFF"/>
          </a:solidFill>
          <a:ln w="12700">
            <a:solidFill>
              <a:srgbClr val="FFFFFF"/>
            </a:solidFill>
            <a:prstDash val="solid"/>
          </a:ln>
        </p:spPr>
      </p:sp>
      <p:sp>
        <p:nvSpPr>
          <p:cNvPr id="22" name="Shape 19"/>
          <p:cNvSpPr/>
          <p:nvPr/>
        </p:nvSpPr>
        <p:spPr>
          <a:xfrm>
            <a:off x="6291072" y="2340864"/>
            <a:ext cx="2432304" cy="54864"/>
          </a:xfrm>
          <a:prstGeom prst="rect">
            <a:avLst/>
          </a:prstGeom>
          <a:solidFill>
            <a:srgbClr val="8A6A12"/>
          </a:solidFill>
          <a:ln w="12700">
            <a:solidFill>
              <a:srgbClr val="8A6A12"/>
            </a:solidFill>
            <a:prstDash val="solid"/>
          </a:ln>
        </p:spPr>
      </p:sp>
      <p:sp>
        <p:nvSpPr>
          <p:cNvPr id="23" name="Text 20"/>
          <p:cNvSpPr txBox="1"/>
          <p:nvPr/>
        </p:nvSpPr>
        <p:spPr>
          <a:xfrm>
            <a:off x="6492240" y="2523744"/>
            <a:ext cx="2029968" cy="274320"/>
          </a:xfrm>
          <a:prstGeom prst="rect">
            <a:avLst/>
          </a:prstGeom>
          <a:noFill/>
          <a:ln/>
        </p:spPr>
        <p:txBody>
          <a:bodyPr wrap="square" lIns="0" tIns="0" rIns="0" bIns="0" rtlCol="0" anchor="t"/>
          <a:lstStyle/>
          <a:p>
            <a:pPr algn="l" indent="0" marL="0">
              <a:buNone/>
            </a:pPr>
            <a:r>
              <a:rPr lang="en-US" sz="1360" b="1" dirty="0">
                <a:solidFill>
                  <a:srgbClr val="8A6A12"/>
                </a:solidFill>
                <a:latin typeface="Aptos" pitchFamily="34" charset="0"/>
                <a:ea typeface="Aptos" pitchFamily="34" charset="-122"/>
                <a:cs typeface="Aptos" pitchFamily="34" charset="-120"/>
              </a:rPr>
              <a:t>Las reglas</a:t>
            </a:r>
            <a:endParaRPr lang="en-US" sz="1360" dirty="0"/>
          </a:p>
        </p:txBody>
      </p:sp>
      <p:sp>
        <p:nvSpPr>
          <p:cNvPr id="24" name="Text 21"/>
          <p:cNvSpPr txBox="1"/>
          <p:nvPr/>
        </p:nvSpPr>
        <p:spPr>
          <a:xfrm>
            <a:off x="6492240" y="2852928"/>
            <a:ext cx="2029968" cy="694944"/>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puede_reservar y cabe_en_sala deciden si la reserva se acepta.</a:t>
            </a:r>
            <a:endParaRPr lang="en-US" sz="1020" dirty="0"/>
          </a:p>
        </p:txBody>
      </p:sp>
      <p:sp>
        <p:nvSpPr>
          <p:cNvPr id="25" name="Shape 22"/>
          <p:cNvSpPr/>
          <p:nvPr/>
        </p:nvSpPr>
        <p:spPr>
          <a:xfrm>
            <a:off x="8796528" y="2999232"/>
            <a:ext cx="292608" cy="0"/>
          </a:xfrm>
          <a:prstGeom prst="line">
            <a:avLst/>
          </a:prstGeom>
          <a:noFill/>
          <a:ln w="12700">
            <a:solidFill>
              <a:srgbClr val="D8CFC4"/>
            </a:solidFill>
            <a:prstDash val="solid"/>
            <a:headEnd type="none"/>
            <a:tailEnd type="triangle"/>
          </a:ln>
        </p:spPr>
      </p:sp>
      <p:sp>
        <p:nvSpPr>
          <p:cNvPr id="26" name="Shape 23"/>
          <p:cNvSpPr/>
          <p:nvPr/>
        </p:nvSpPr>
        <p:spPr>
          <a:xfrm>
            <a:off x="9107424" y="2340864"/>
            <a:ext cx="2432304" cy="1316736"/>
          </a:xfrm>
          <a:prstGeom prst="rect">
            <a:avLst/>
          </a:prstGeom>
          <a:solidFill>
            <a:srgbClr val="FFFFFF"/>
          </a:solidFill>
          <a:ln w="12700">
            <a:solidFill>
              <a:srgbClr val="FFFFFF"/>
            </a:solidFill>
            <a:prstDash val="solid"/>
          </a:ln>
        </p:spPr>
      </p:sp>
      <p:sp>
        <p:nvSpPr>
          <p:cNvPr id="27" name="Shape 24"/>
          <p:cNvSpPr/>
          <p:nvPr/>
        </p:nvSpPr>
        <p:spPr>
          <a:xfrm>
            <a:off x="9107424" y="2340864"/>
            <a:ext cx="2432304" cy="54864"/>
          </a:xfrm>
          <a:prstGeom prst="rect">
            <a:avLst/>
          </a:prstGeom>
          <a:solidFill>
            <a:srgbClr val="2E7D4F"/>
          </a:solidFill>
          <a:ln w="12700">
            <a:solidFill>
              <a:srgbClr val="2E7D4F"/>
            </a:solidFill>
            <a:prstDash val="solid"/>
          </a:ln>
        </p:spPr>
      </p:sp>
      <p:sp>
        <p:nvSpPr>
          <p:cNvPr id="28" name="Text 25"/>
          <p:cNvSpPr txBox="1"/>
          <p:nvPr/>
        </p:nvSpPr>
        <p:spPr>
          <a:xfrm>
            <a:off x="9308592" y="2523744"/>
            <a:ext cx="2029968" cy="274320"/>
          </a:xfrm>
          <a:prstGeom prst="rect">
            <a:avLst/>
          </a:prstGeom>
          <a:noFill/>
          <a:ln/>
        </p:spPr>
        <p:txBody>
          <a:bodyPr wrap="square" lIns="0" tIns="0" rIns="0" bIns="0" rtlCol="0" anchor="t"/>
          <a:lstStyle/>
          <a:p>
            <a:pPr algn="l" indent="0" marL="0">
              <a:buNone/>
            </a:pPr>
            <a:r>
              <a:rPr lang="en-US" sz="1360" b="1" dirty="0">
                <a:solidFill>
                  <a:srgbClr val="2E7D4F"/>
                </a:solidFill>
                <a:latin typeface="Aptos" pitchFamily="34" charset="0"/>
                <a:ea typeface="Aptos" pitchFamily="34" charset="-122"/>
                <a:cs typeface="Aptos" pitchFamily="34" charset="-120"/>
              </a:rPr>
              <a:t>El almacén</a:t>
            </a:r>
            <a:endParaRPr lang="en-US" sz="1360" dirty="0"/>
          </a:p>
        </p:txBody>
      </p:sp>
      <p:sp>
        <p:nvSpPr>
          <p:cNvPr id="29" name="Text 26"/>
          <p:cNvSpPr txBox="1"/>
          <p:nvPr/>
        </p:nvSpPr>
        <p:spPr>
          <a:xfrm>
            <a:off x="9308592" y="2852928"/>
            <a:ext cx="2029968" cy="694944"/>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almacen guarda las reservas y los eventos en un archivo de base de datos.</a:t>
            </a:r>
            <a:endParaRPr lang="en-US" sz="1020" dirty="0"/>
          </a:p>
        </p:txBody>
      </p:sp>
      <p:sp>
        <p:nvSpPr>
          <p:cNvPr id="30" name="Shape 27"/>
          <p:cNvSpPr/>
          <p:nvPr/>
        </p:nvSpPr>
        <p:spPr>
          <a:xfrm>
            <a:off x="658368" y="3840480"/>
            <a:ext cx="5346040" cy="914400"/>
          </a:xfrm>
          <a:prstGeom prst="rect">
            <a:avLst/>
          </a:prstGeom>
          <a:solidFill>
            <a:srgbClr val="FFFFFF"/>
          </a:solidFill>
          <a:ln w="12700">
            <a:solidFill>
              <a:srgbClr val="FFFFFF"/>
            </a:solidFill>
            <a:prstDash val="solid"/>
          </a:ln>
        </p:spPr>
      </p:sp>
      <p:sp>
        <p:nvSpPr>
          <p:cNvPr id="31" name="Shape 28"/>
          <p:cNvSpPr/>
          <p:nvPr/>
        </p:nvSpPr>
        <p:spPr>
          <a:xfrm>
            <a:off x="658368" y="3840480"/>
            <a:ext cx="54864" cy="914400"/>
          </a:xfrm>
          <a:prstGeom prst="rect">
            <a:avLst/>
          </a:prstGeom>
          <a:solidFill>
            <a:srgbClr val="102A43"/>
          </a:solidFill>
          <a:ln w="12700">
            <a:solidFill>
              <a:srgbClr val="102A43"/>
            </a:solidFill>
            <a:prstDash val="solid"/>
          </a:ln>
        </p:spPr>
      </p:sp>
      <p:sp>
        <p:nvSpPr>
          <p:cNvPr id="32" name="Text 29"/>
          <p:cNvSpPr txBox="1"/>
          <p:nvPr/>
        </p:nvSpPr>
        <p:spPr>
          <a:xfrm>
            <a:off x="896112" y="3968496"/>
            <a:ext cx="488884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API</a:t>
            </a:r>
            <a:endParaRPr lang="en-US" sz="920" dirty="0"/>
          </a:p>
        </p:txBody>
      </p:sp>
      <p:sp>
        <p:nvSpPr>
          <p:cNvPr id="33" name="Text 30"/>
          <p:cNvSpPr txBox="1"/>
          <p:nvPr/>
        </p:nvSpPr>
        <p:spPr>
          <a:xfrm>
            <a:off x="896112" y="4224528"/>
            <a:ext cx="4888840" cy="420624"/>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La puerta por la que otros programas usan el sistema. Cada dirección por la que recibe solicitudes es una ruta.</a:t>
            </a:r>
            <a:endParaRPr lang="en-US" sz="1210" dirty="0"/>
          </a:p>
        </p:txBody>
      </p:sp>
      <p:sp>
        <p:nvSpPr>
          <p:cNvPr id="34" name="Shape 31"/>
          <p:cNvSpPr/>
          <p:nvPr/>
        </p:nvSpPr>
        <p:spPr>
          <a:xfrm>
            <a:off x="6187288" y="3840480"/>
            <a:ext cx="5346040" cy="914400"/>
          </a:xfrm>
          <a:prstGeom prst="rect">
            <a:avLst/>
          </a:prstGeom>
          <a:solidFill>
            <a:srgbClr val="FFFFFF"/>
          </a:solidFill>
          <a:ln w="12700">
            <a:solidFill>
              <a:srgbClr val="FFFFFF"/>
            </a:solidFill>
            <a:prstDash val="solid"/>
          </a:ln>
        </p:spPr>
      </p:sp>
      <p:sp>
        <p:nvSpPr>
          <p:cNvPr id="35" name="Shape 32"/>
          <p:cNvSpPr/>
          <p:nvPr/>
        </p:nvSpPr>
        <p:spPr>
          <a:xfrm>
            <a:off x="6187288" y="3840480"/>
            <a:ext cx="54864" cy="914400"/>
          </a:xfrm>
          <a:prstGeom prst="rect">
            <a:avLst/>
          </a:prstGeom>
          <a:solidFill>
            <a:srgbClr val="2E7D4F"/>
          </a:solidFill>
          <a:ln w="12700">
            <a:solidFill>
              <a:srgbClr val="2E7D4F"/>
            </a:solidFill>
            <a:prstDash val="solid"/>
          </a:ln>
        </p:spPr>
      </p:sp>
      <p:sp>
        <p:nvSpPr>
          <p:cNvPr id="36" name="Text 33"/>
          <p:cNvSpPr txBox="1"/>
          <p:nvPr/>
        </p:nvSpPr>
        <p:spPr>
          <a:xfrm>
            <a:off x="6425032" y="3968496"/>
            <a:ext cx="4888840" cy="182880"/>
          </a:xfrm>
          <a:prstGeom prst="rect">
            <a:avLst/>
          </a:prstGeom>
          <a:noFill/>
          <a:ln/>
        </p:spPr>
        <p:txBody>
          <a:bodyPr wrap="square" lIns="0" tIns="0" rIns="0" bIns="0" rtlCol="0" anchor="t"/>
          <a:lstStyle/>
          <a:p>
            <a:pPr algn="l" indent="0" marL="0">
              <a:buNone/>
            </a:pPr>
            <a:r>
              <a:rPr lang="en-US" sz="920" b="1" spc="110" kern="0" dirty="0">
                <a:solidFill>
                  <a:srgbClr val="2E7D4F"/>
                </a:solidFill>
                <a:latin typeface="Aptos" pitchFamily="34" charset="0"/>
                <a:ea typeface="Aptos" pitchFamily="34" charset="-122"/>
                <a:cs typeface="Aptos" pitchFamily="34" charset="-120"/>
              </a:rPr>
              <a:t>LA RESPUESTA</a:t>
            </a:r>
            <a:endParaRPr lang="en-US" sz="920" dirty="0"/>
          </a:p>
        </p:txBody>
      </p:sp>
      <p:sp>
        <p:nvSpPr>
          <p:cNvPr id="37" name="Text 34"/>
          <p:cNvSpPr txBox="1"/>
          <p:nvPr/>
        </p:nvSpPr>
        <p:spPr>
          <a:xfrm>
            <a:off x="6425032" y="4224528"/>
            <a:ext cx="4888840" cy="420624"/>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Un código de estado que dice qué ocurrió, y un cuerpo con el resultado. El comprobante viaja en ese cuerpo.</a:t>
            </a:r>
            <a:endParaRPr lang="en-US" sz="1210" dirty="0"/>
          </a:p>
        </p:txBody>
      </p:sp>
      <p:sp>
        <p:nvSpPr>
          <p:cNvPr id="38" name="Shape 35"/>
          <p:cNvSpPr/>
          <p:nvPr/>
        </p:nvSpPr>
        <p:spPr>
          <a:xfrm>
            <a:off x="658368" y="4919472"/>
            <a:ext cx="10874959" cy="566928"/>
          </a:xfrm>
          <a:prstGeom prst="rect">
            <a:avLst/>
          </a:prstGeom>
          <a:solidFill>
            <a:srgbClr val="EDE6DA"/>
          </a:solidFill>
          <a:ln w="12700">
            <a:solidFill>
              <a:srgbClr val="EDE6DA"/>
            </a:solidFill>
            <a:prstDash val="solid"/>
          </a:ln>
        </p:spPr>
      </p:sp>
      <p:sp>
        <p:nvSpPr>
          <p:cNvPr id="39" name="Shape 36"/>
          <p:cNvSpPr/>
          <p:nvPr/>
        </p:nvSpPr>
        <p:spPr>
          <a:xfrm>
            <a:off x="658368" y="4919472"/>
            <a:ext cx="54864" cy="566928"/>
          </a:xfrm>
          <a:prstGeom prst="rect">
            <a:avLst/>
          </a:prstGeom>
          <a:solidFill>
            <a:srgbClr val="B3181E"/>
          </a:solidFill>
          <a:ln w="12700">
            <a:solidFill>
              <a:srgbClr val="B3181E"/>
            </a:solidFill>
            <a:prstDash val="solid"/>
          </a:ln>
        </p:spPr>
      </p:sp>
      <p:sp>
        <p:nvSpPr>
          <p:cNvPr id="40" name="Text 37"/>
          <p:cNvSpPr txBox="1"/>
          <p:nvPr/>
        </p:nvSpPr>
        <p:spPr>
          <a:xfrm>
            <a:off x="914400" y="5010912"/>
            <a:ext cx="1645920" cy="219456"/>
          </a:xfrm>
          <a:prstGeom prst="rect">
            <a:avLst/>
          </a:prstGeom>
          <a:noFill/>
          <a:ln/>
        </p:spPr>
        <p:txBody>
          <a:bodyPr wrap="square" lIns="0" tIns="0" rIns="0" bIns="0" rtlCol="0" anchor="t"/>
          <a:lstStyle/>
          <a:p>
            <a:pPr algn="l" indent="0" marL="0">
              <a:buNone/>
            </a:pPr>
            <a:r>
              <a:rPr lang="en-US" sz="1040" b="1" dirty="0">
                <a:solidFill>
                  <a:srgbClr val="B3181E"/>
                </a:solidFill>
                <a:latin typeface="Aptos" pitchFamily="34" charset="0"/>
                <a:ea typeface="Aptos" pitchFamily="34" charset="-122"/>
                <a:cs typeface="Aptos" pitchFamily="34" charset="-120"/>
              </a:rPr>
              <a:t>Lo nuevo de hoy</a:t>
            </a:r>
            <a:endParaRPr lang="en-US" sz="1040" dirty="0"/>
          </a:p>
        </p:txBody>
      </p:sp>
      <p:sp>
        <p:nvSpPr>
          <p:cNvPr id="41" name="Text 38"/>
          <p:cNvSpPr txBox="1"/>
          <p:nvPr/>
        </p:nvSpPr>
        <p:spPr>
          <a:xfrm>
            <a:off x="2670048" y="5010912"/>
            <a:ext cx="8503920" cy="256032"/>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Un archivo de requisitos con identificadores estables, y un registro de eventos donde el sistema anota lo que va ocurriendo.</a:t>
            </a:r>
            <a:endParaRPr lang="en-US" sz="1160" dirty="0"/>
          </a:p>
        </p:txBody>
      </p:sp>
      <p:sp>
        <p:nvSpPr>
          <p:cNvPr id="42" name="Shape 39"/>
          <p:cNvSpPr/>
          <p:nvPr/>
        </p:nvSpPr>
        <p:spPr>
          <a:xfrm>
            <a:off x="658368" y="5650992"/>
            <a:ext cx="10874959" cy="548640"/>
          </a:xfrm>
          <a:prstGeom prst="rect">
            <a:avLst/>
          </a:prstGeom>
          <a:solidFill>
            <a:srgbClr val="102A43"/>
          </a:solidFill>
          <a:ln w="12700">
            <a:solidFill>
              <a:srgbClr val="102A43"/>
            </a:solidFill>
            <a:prstDash val="solid"/>
          </a:ln>
        </p:spPr>
      </p:sp>
      <p:sp>
        <p:nvSpPr>
          <p:cNvPr id="43" name="Text 4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Cuatro piezas, y el dato personal vive en más de una de ellas.</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PUNTO DE PARTIDA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Cómo se lee una prueba</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Todas las pruebas de la sesión tienen esta forma. Vale la pena nombrar cada pieza una vez.</a:t>
            </a:r>
            <a:endParaRPr lang="en-US" sz="1420" dirty="0"/>
          </a:p>
        </p:txBody>
      </p:sp>
      <p:sp>
        <p:nvSpPr>
          <p:cNvPr id="11" name="Shape 8"/>
          <p:cNvSpPr/>
          <p:nvPr/>
        </p:nvSpPr>
        <p:spPr>
          <a:xfrm>
            <a:off x="658368" y="2231136"/>
            <a:ext cx="10874959" cy="1371600"/>
          </a:xfrm>
          <a:prstGeom prst="roundRect">
            <a:avLst>
              <a:gd name="adj" fmla="val 2667"/>
            </a:avLst>
          </a:prstGeom>
          <a:solidFill>
            <a:srgbClr val="102A43"/>
          </a:solidFill>
          <a:ln w="12700">
            <a:solidFill>
              <a:srgbClr val="102A43"/>
            </a:solidFill>
            <a:prstDash val="solid"/>
          </a:ln>
        </p:spPr>
      </p:sp>
      <p:sp>
        <p:nvSpPr>
          <p:cNvPr id="12" name="Shape 9"/>
          <p:cNvSpPr/>
          <p:nvPr/>
        </p:nvSpPr>
        <p:spPr>
          <a:xfrm>
            <a:off x="786384" y="2340864"/>
            <a:ext cx="10618927"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14016"/>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Una prueba completa, de principio a fin</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798064"/>
            <a:ext cx="10454335" cy="621792"/>
          </a:xfrm>
          <a:prstGeom prst="rect">
            <a:avLst/>
          </a:prstGeom>
        </p:spPr>
      </p:pic>
      <p:sp>
        <p:nvSpPr>
          <p:cNvPr id="15" name="Shape 11"/>
          <p:cNvSpPr/>
          <p:nvPr/>
        </p:nvSpPr>
        <p:spPr>
          <a:xfrm>
            <a:off x="658368" y="3621024"/>
            <a:ext cx="2087209" cy="1463040"/>
          </a:xfrm>
          <a:prstGeom prst="rect">
            <a:avLst/>
          </a:prstGeom>
          <a:solidFill>
            <a:srgbClr val="FFFFFF"/>
          </a:solidFill>
          <a:ln w="12700">
            <a:solidFill>
              <a:srgbClr val="FFFFFF"/>
            </a:solidFill>
            <a:prstDash val="solid"/>
          </a:ln>
        </p:spPr>
      </p:sp>
      <p:sp>
        <p:nvSpPr>
          <p:cNvPr id="16" name="Shape 12"/>
          <p:cNvSpPr/>
          <p:nvPr/>
        </p:nvSpPr>
        <p:spPr>
          <a:xfrm>
            <a:off x="658368" y="3621024"/>
            <a:ext cx="2087209" cy="54864"/>
          </a:xfrm>
          <a:prstGeom prst="rect">
            <a:avLst/>
          </a:prstGeom>
          <a:solidFill>
            <a:srgbClr val="102A43"/>
          </a:solidFill>
          <a:ln w="12700">
            <a:solidFill>
              <a:srgbClr val="102A43"/>
            </a:solidFill>
            <a:prstDash val="solid"/>
          </a:ln>
        </p:spPr>
      </p:sp>
      <p:sp>
        <p:nvSpPr>
          <p:cNvPr id="17" name="Text 13"/>
          <p:cNvSpPr txBox="1"/>
          <p:nvPr/>
        </p:nvSpPr>
        <p:spPr>
          <a:xfrm>
            <a:off x="804672" y="3767328"/>
            <a:ext cx="1794601" cy="347472"/>
          </a:xfrm>
          <a:prstGeom prst="rect">
            <a:avLst/>
          </a:prstGeom>
          <a:noFill/>
          <a:ln/>
        </p:spPr>
        <p:txBody>
          <a:bodyPr wrap="square" lIns="0" tIns="0" rIns="0" bIns="0" rtlCol="0" anchor="t"/>
          <a:lstStyle/>
          <a:p>
            <a:pPr algn="l" indent="0" marL="0">
              <a:lnSpc>
                <a:spcPct val="108000"/>
              </a:lnSpc>
              <a:buNone/>
            </a:pPr>
            <a:r>
              <a:rPr lang="en-US" sz="960" b="1" dirty="0">
                <a:solidFill>
                  <a:srgbClr val="102A43"/>
                </a:solidFill>
                <a:latin typeface="Consolas" pitchFamily="34" charset="0"/>
                <a:ea typeface="Consolas" pitchFamily="34" charset="-122"/>
                <a:cs typeface="Consolas" pitchFamily="34" charset="-120"/>
              </a:rPr>
              <a:t>def test_...</a:t>
            </a:r>
            <a:endParaRPr lang="en-US" sz="960" dirty="0"/>
          </a:p>
        </p:txBody>
      </p:sp>
      <p:sp>
        <p:nvSpPr>
          <p:cNvPr id="18" name="Text 14"/>
          <p:cNvSpPr txBox="1"/>
          <p:nvPr/>
        </p:nvSpPr>
        <p:spPr>
          <a:xfrm>
            <a:off x="804672" y="4151376"/>
            <a:ext cx="1794601" cy="841248"/>
          </a:xfrm>
          <a:prstGeom prst="rect">
            <a:avLst/>
          </a:prstGeom>
          <a:noFill/>
          <a:ln/>
        </p:spPr>
        <p:txBody>
          <a:bodyPr wrap="square" lIns="0" tIns="0" rIns="0" bIns="0" rtlCol="0" anchor="t"/>
          <a:lstStyle/>
          <a:p>
            <a:pPr algn="l" indent="0" marL="0">
              <a:lnSpc>
                <a:spcPct val="114000"/>
              </a:lnSpc>
              <a:buNone/>
            </a:pPr>
            <a:r>
              <a:rPr lang="en-US" sz="920" dirty="0">
                <a:solidFill>
                  <a:srgbClr val="243B53"/>
                </a:solidFill>
                <a:latin typeface="Aptos" pitchFamily="34" charset="0"/>
                <a:ea typeface="Aptos" pitchFamily="34" charset="-122"/>
                <a:cs typeface="Aptos" pitchFamily="34" charset="-120"/>
              </a:rPr>
              <a:t>Una prueba es una función cuyo nombre empieza con test. La herramienta las encuentra por ese nombre.</a:t>
            </a:r>
            <a:endParaRPr lang="en-US" sz="920" dirty="0"/>
          </a:p>
        </p:txBody>
      </p:sp>
      <p:sp>
        <p:nvSpPr>
          <p:cNvPr id="19" name="Shape 15"/>
          <p:cNvSpPr/>
          <p:nvPr/>
        </p:nvSpPr>
        <p:spPr>
          <a:xfrm>
            <a:off x="2855305" y="3621024"/>
            <a:ext cx="2087209" cy="1463040"/>
          </a:xfrm>
          <a:prstGeom prst="rect">
            <a:avLst/>
          </a:prstGeom>
          <a:solidFill>
            <a:srgbClr val="FFFFFF"/>
          </a:solidFill>
          <a:ln w="12700">
            <a:solidFill>
              <a:srgbClr val="FFFFFF"/>
            </a:solidFill>
            <a:prstDash val="solid"/>
          </a:ln>
        </p:spPr>
      </p:sp>
      <p:sp>
        <p:nvSpPr>
          <p:cNvPr id="20" name="Shape 16"/>
          <p:cNvSpPr/>
          <p:nvPr/>
        </p:nvSpPr>
        <p:spPr>
          <a:xfrm>
            <a:off x="2855305" y="3621024"/>
            <a:ext cx="2087209" cy="54864"/>
          </a:xfrm>
          <a:prstGeom prst="rect">
            <a:avLst/>
          </a:prstGeom>
          <a:solidFill>
            <a:srgbClr val="8A6A12"/>
          </a:solidFill>
          <a:ln w="12700">
            <a:solidFill>
              <a:srgbClr val="8A6A12"/>
            </a:solidFill>
            <a:prstDash val="solid"/>
          </a:ln>
        </p:spPr>
      </p:sp>
      <p:sp>
        <p:nvSpPr>
          <p:cNvPr id="21" name="Text 17"/>
          <p:cNvSpPr txBox="1"/>
          <p:nvPr/>
        </p:nvSpPr>
        <p:spPr>
          <a:xfrm>
            <a:off x="3001609" y="3767328"/>
            <a:ext cx="1794601" cy="347472"/>
          </a:xfrm>
          <a:prstGeom prst="rect">
            <a:avLst/>
          </a:prstGeom>
          <a:noFill/>
          <a:ln/>
        </p:spPr>
        <p:txBody>
          <a:bodyPr wrap="square" lIns="0" tIns="0" rIns="0" bIns="0" rtlCol="0" anchor="t"/>
          <a:lstStyle/>
          <a:p>
            <a:pPr algn="l" indent="0" marL="0">
              <a:lnSpc>
                <a:spcPct val="108000"/>
              </a:lnSpc>
              <a:buNone/>
            </a:pPr>
            <a:r>
              <a:rPr lang="en-US" sz="960" b="1" dirty="0">
                <a:solidFill>
                  <a:srgbClr val="8A6A12"/>
                </a:solidFill>
                <a:latin typeface="Consolas" pitchFamily="34" charset="0"/>
                <a:ea typeface="Consolas" pitchFamily="34" charset="-122"/>
                <a:cs typeface="Consolas" pitchFamily="34" charset="-120"/>
              </a:rPr>
              <a:t>base_de_datos_de_prueba</a:t>
            </a:r>
            <a:endParaRPr lang="en-US" sz="960" dirty="0"/>
          </a:p>
        </p:txBody>
      </p:sp>
      <p:sp>
        <p:nvSpPr>
          <p:cNvPr id="22" name="Text 18"/>
          <p:cNvSpPr txBox="1"/>
          <p:nvPr/>
        </p:nvSpPr>
        <p:spPr>
          <a:xfrm>
            <a:off x="3001609" y="4151376"/>
            <a:ext cx="1794601" cy="841248"/>
          </a:xfrm>
          <a:prstGeom prst="rect">
            <a:avLst/>
          </a:prstGeom>
          <a:noFill/>
          <a:ln/>
        </p:spPr>
        <p:txBody>
          <a:bodyPr wrap="square" lIns="0" tIns="0" rIns="0" bIns="0" rtlCol="0" anchor="t"/>
          <a:lstStyle/>
          <a:p>
            <a:pPr algn="l" indent="0" marL="0">
              <a:lnSpc>
                <a:spcPct val="114000"/>
              </a:lnSpc>
              <a:buNone/>
            </a:pPr>
            <a:r>
              <a:rPr lang="en-US" sz="920" dirty="0">
                <a:solidFill>
                  <a:srgbClr val="243B53"/>
                </a:solidFill>
                <a:latin typeface="Aptos" pitchFamily="34" charset="0"/>
                <a:ea typeface="Aptos" pitchFamily="34" charset="-122"/>
                <a:cs typeface="Aptos" pitchFamily="34" charset="-120"/>
              </a:rPr>
              <a:t>Una fixture: prepara lo que la prueba necesita antes de que corra, y lo deshace al terminar.</a:t>
            </a:r>
            <a:endParaRPr lang="en-US" sz="920" dirty="0"/>
          </a:p>
        </p:txBody>
      </p:sp>
      <p:sp>
        <p:nvSpPr>
          <p:cNvPr id="23" name="Shape 19"/>
          <p:cNvSpPr/>
          <p:nvPr/>
        </p:nvSpPr>
        <p:spPr>
          <a:xfrm>
            <a:off x="5052243" y="3621024"/>
            <a:ext cx="2087209" cy="1463040"/>
          </a:xfrm>
          <a:prstGeom prst="rect">
            <a:avLst/>
          </a:prstGeom>
          <a:solidFill>
            <a:srgbClr val="FFFFFF"/>
          </a:solidFill>
          <a:ln w="12700">
            <a:solidFill>
              <a:srgbClr val="FFFFFF"/>
            </a:solidFill>
            <a:prstDash val="solid"/>
          </a:ln>
        </p:spPr>
      </p:sp>
      <p:sp>
        <p:nvSpPr>
          <p:cNvPr id="24" name="Shape 20"/>
          <p:cNvSpPr/>
          <p:nvPr/>
        </p:nvSpPr>
        <p:spPr>
          <a:xfrm>
            <a:off x="5052243" y="3621024"/>
            <a:ext cx="2087209" cy="54864"/>
          </a:xfrm>
          <a:prstGeom prst="rect">
            <a:avLst/>
          </a:prstGeom>
          <a:solidFill>
            <a:srgbClr val="102A43"/>
          </a:solidFill>
          <a:ln w="12700">
            <a:solidFill>
              <a:srgbClr val="102A43"/>
            </a:solidFill>
            <a:prstDash val="solid"/>
          </a:ln>
        </p:spPr>
      </p:sp>
      <p:sp>
        <p:nvSpPr>
          <p:cNvPr id="25" name="Text 21"/>
          <p:cNvSpPr txBox="1"/>
          <p:nvPr/>
        </p:nvSpPr>
        <p:spPr>
          <a:xfrm>
            <a:off x="5198547" y="3767328"/>
            <a:ext cx="1794601" cy="347472"/>
          </a:xfrm>
          <a:prstGeom prst="rect">
            <a:avLst/>
          </a:prstGeom>
          <a:noFill/>
          <a:ln/>
        </p:spPr>
        <p:txBody>
          <a:bodyPr wrap="square" lIns="0" tIns="0" rIns="0" bIns="0" rtlCol="0" anchor="t"/>
          <a:lstStyle/>
          <a:p>
            <a:pPr algn="l" indent="0" marL="0">
              <a:lnSpc>
                <a:spcPct val="108000"/>
              </a:lnSpc>
              <a:buNone/>
            </a:pPr>
            <a:r>
              <a:rPr lang="en-US" sz="960" b="1" dirty="0">
                <a:solidFill>
                  <a:srgbClr val="102A43"/>
                </a:solidFill>
                <a:latin typeface="Consolas" pitchFamily="34" charset="0"/>
                <a:ea typeface="Consolas" pitchFamily="34" charset="-122"/>
                <a:cs typeface="Consolas" pitchFamily="34" charset="-120"/>
              </a:rPr>
              <a:t>cliente</a:t>
            </a:r>
            <a:endParaRPr lang="en-US" sz="960" dirty="0"/>
          </a:p>
        </p:txBody>
      </p:sp>
      <p:sp>
        <p:nvSpPr>
          <p:cNvPr id="26" name="Text 22"/>
          <p:cNvSpPr txBox="1"/>
          <p:nvPr/>
        </p:nvSpPr>
        <p:spPr>
          <a:xfrm>
            <a:off x="5198547" y="4151376"/>
            <a:ext cx="1794601" cy="841248"/>
          </a:xfrm>
          <a:prstGeom prst="rect">
            <a:avLst/>
          </a:prstGeom>
          <a:noFill/>
          <a:ln/>
        </p:spPr>
        <p:txBody>
          <a:bodyPr wrap="square" lIns="0" tIns="0" rIns="0" bIns="0" rtlCol="0" anchor="t"/>
          <a:lstStyle/>
          <a:p>
            <a:pPr algn="l" indent="0" marL="0">
              <a:lnSpc>
                <a:spcPct val="114000"/>
              </a:lnSpc>
              <a:buNone/>
            </a:pPr>
            <a:r>
              <a:rPr lang="en-US" sz="920" dirty="0">
                <a:solidFill>
                  <a:srgbClr val="243B53"/>
                </a:solidFill>
                <a:latin typeface="Aptos" pitchFamily="34" charset="0"/>
                <a:ea typeface="Aptos" pitchFamily="34" charset="-122"/>
                <a:cs typeface="Aptos" pitchFamily="34" charset="-120"/>
              </a:rPr>
              <a:t>El cliente de pruebas. Envía solicitudes a la aplicación dentro del mismo proceso, sin levantar un servidor.</a:t>
            </a:r>
            <a:endParaRPr lang="en-US" sz="920" dirty="0"/>
          </a:p>
        </p:txBody>
      </p:sp>
      <p:sp>
        <p:nvSpPr>
          <p:cNvPr id="27" name="Shape 23"/>
          <p:cNvSpPr/>
          <p:nvPr/>
        </p:nvSpPr>
        <p:spPr>
          <a:xfrm>
            <a:off x="7249180" y="3621024"/>
            <a:ext cx="2087209" cy="1463040"/>
          </a:xfrm>
          <a:prstGeom prst="rect">
            <a:avLst/>
          </a:prstGeom>
          <a:solidFill>
            <a:srgbClr val="FFFFFF"/>
          </a:solidFill>
          <a:ln w="12700">
            <a:solidFill>
              <a:srgbClr val="FFFFFF"/>
            </a:solidFill>
            <a:prstDash val="solid"/>
          </a:ln>
        </p:spPr>
      </p:sp>
      <p:sp>
        <p:nvSpPr>
          <p:cNvPr id="28" name="Shape 24"/>
          <p:cNvSpPr/>
          <p:nvPr/>
        </p:nvSpPr>
        <p:spPr>
          <a:xfrm>
            <a:off x="7249180" y="3621024"/>
            <a:ext cx="2087209" cy="54864"/>
          </a:xfrm>
          <a:prstGeom prst="rect">
            <a:avLst/>
          </a:prstGeom>
          <a:solidFill>
            <a:srgbClr val="52606D"/>
          </a:solidFill>
          <a:ln w="12700">
            <a:solidFill>
              <a:srgbClr val="52606D"/>
            </a:solidFill>
            <a:prstDash val="solid"/>
          </a:ln>
        </p:spPr>
      </p:sp>
      <p:sp>
        <p:nvSpPr>
          <p:cNvPr id="29" name="Text 25"/>
          <p:cNvSpPr txBox="1"/>
          <p:nvPr/>
        </p:nvSpPr>
        <p:spPr>
          <a:xfrm>
            <a:off x="7395484" y="3767328"/>
            <a:ext cx="1794601" cy="347472"/>
          </a:xfrm>
          <a:prstGeom prst="rect">
            <a:avLst/>
          </a:prstGeom>
          <a:noFill/>
          <a:ln/>
        </p:spPr>
        <p:txBody>
          <a:bodyPr wrap="square" lIns="0" tIns="0" rIns="0" bIns="0" rtlCol="0" anchor="t"/>
          <a:lstStyle/>
          <a:p>
            <a:pPr algn="l" indent="0" marL="0">
              <a:lnSpc>
                <a:spcPct val="108000"/>
              </a:lnSpc>
              <a:buNone/>
            </a:pPr>
            <a:r>
              <a:rPr lang="en-US" sz="960" b="1" dirty="0">
                <a:solidFill>
                  <a:srgbClr val="52606D"/>
                </a:solidFill>
                <a:latin typeface="Consolas" pitchFamily="34" charset="0"/>
                <a:ea typeface="Consolas" pitchFamily="34" charset="-122"/>
                <a:cs typeface="Consolas" pitchFamily="34" charset="-120"/>
              </a:rPr>
              <a:t>SOLICITUD</a:t>
            </a:r>
            <a:endParaRPr lang="en-US" sz="960" dirty="0"/>
          </a:p>
        </p:txBody>
      </p:sp>
      <p:sp>
        <p:nvSpPr>
          <p:cNvPr id="30" name="Text 26"/>
          <p:cNvSpPr txBox="1"/>
          <p:nvPr/>
        </p:nvSpPr>
        <p:spPr>
          <a:xfrm>
            <a:off x="7395484" y="4151376"/>
            <a:ext cx="1794601" cy="841248"/>
          </a:xfrm>
          <a:prstGeom prst="rect">
            <a:avLst/>
          </a:prstGeom>
          <a:noFill/>
          <a:ln/>
        </p:spPr>
        <p:txBody>
          <a:bodyPr wrap="square" lIns="0" tIns="0" rIns="0" bIns="0" rtlCol="0" anchor="t"/>
          <a:lstStyle/>
          <a:p>
            <a:pPr algn="l" indent="0" marL="0">
              <a:lnSpc>
                <a:spcPct val="114000"/>
              </a:lnSpc>
              <a:buNone/>
            </a:pPr>
            <a:r>
              <a:rPr lang="en-US" sz="920" dirty="0">
                <a:solidFill>
                  <a:srgbClr val="243B53"/>
                </a:solidFill>
                <a:latin typeface="Aptos" pitchFamily="34" charset="0"/>
                <a:ea typeface="Aptos" pitchFamily="34" charset="-122"/>
                <a:cs typeface="Aptos" pitchFamily="34" charset="-120"/>
              </a:rPr>
              <a:t>El diccionario con los cinco campos de una reserva válida, escrito una sola vez arriba del archivo.</a:t>
            </a:r>
            <a:endParaRPr lang="en-US" sz="920" dirty="0"/>
          </a:p>
        </p:txBody>
      </p:sp>
      <p:sp>
        <p:nvSpPr>
          <p:cNvPr id="31" name="Shape 27"/>
          <p:cNvSpPr/>
          <p:nvPr/>
        </p:nvSpPr>
        <p:spPr>
          <a:xfrm>
            <a:off x="9446118" y="3621024"/>
            <a:ext cx="2087209" cy="1463040"/>
          </a:xfrm>
          <a:prstGeom prst="rect">
            <a:avLst/>
          </a:prstGeom>
          <a:solidFill>
            <a:srgbClr val="F2E7D9"/>
          </a:solidFill>
          <a:ln w="12700">
            <a:solidFill>
              <a:srgbClr val="F2E7D9"/>
            </a:solidFill>
            <a:prstDash val="solid"/>
          </a:ln>
        </p:spPr>
      </p:sp>
      <p:sp>
        <p:nvSpPr>
          <p:cNvPr id="32" name="Shape 28"/>
          <p:cNvSpPr/>
          <p:nvPr/>
        </p:nvSpPr>
        <p:spPr>
          <a:xfrm>
            <a:off x="9446118" y="3621024"/>
            <a:ext cx="2087209" cy="54864"/>
          </a:xfrm>
          <a:prstGeom prst="rect">
            <a:avLst/>
          </a:prstGeom>
          <a:solidFill>
            <a:srgbClr val="B3181E"/>
          </a:solidFill>
          <a:ln w="12700">
            <a:solidFill>
              <a:srgbClr val="B3181E"/>
            </a:solidFill>
            <a:prstDash val="solid"/>
          </a:ln>
        </p:spPr>
      </p:sp>
      <p:sp>
        <p:nvSpPr>
          <p:cNvPr id="33" name="Text 29"/>
          <p:cNvSpPr txBox="1"/>
          <p:nvPr/>
        </p:nvSpPr>
        <p:spPr>
          <a:xfrm>
            <a:off x="9592422" y="3767328"/>
            <a:ext cx="1794601" cy="347472"/>
          </a:xfrm>
          <a:prstGeom prst="rect">
            <a:avLst/>
          </a:prstGeom>
          <a:noFill/>
          <a:ln/>
        </p:spPr>
        <p:txBody>
          <a:bodyPr wrap="square" lIns="0" tIns="0" rIns="0" bIns="0" rtlCol="0" anchor="t"/>
          <a:lstStyle/>
          <a:p>
            <a:pPr algn="l" indent="0" marL="0">
              <a:lnSpc>
                <a:spcPct val="108000"/>
              </a:lnSpc>
              <a:buNone/>
            </a:pPr>
            <a:r>
              <a:rPr lang="en-US" sz="960" b="1" dirty="0">
                <a:solidFill>
                  <a:srgbClr val="B3181E"/>
                </a:solidFill>
                <a:latin typeface="Consolas" pitchFamily="34" charset="0"/>
                <a:ea typeface="Consolas" pitchFamily="34" charset="-122"/>
                <a:cs typeface="Consolas" pitchFamily="34" charset="-120"/>
              </a:rPr>
              <a:t>assert</a:t>
            </a:r>
            <a:endParaRPr lang="en-US" sz="960" dirty="0"/>
          </a:p>
        </p:txBody>
      </p:sp>
      <p:sp>
        <p:nvSpPr>
          <p:cNvPr id="34" name="Text 30"/>
          <p:cNvSpPr txBox="1"/>
          <p:nvPr/>
        </p:nvSpPr>
        <p:spPr>
          <a:xfrm>
            <a:off x="9592422" y="4151376"/>
            <a:ext cx="1794601" cy="841248"/>
          </a:xfrm>
          <a:prstGeom prst="rect">
            <a:avLst/>
          </a:prstGeom>
          <a:noFill/>
          <a:ln/>
        </p:spPr>
        <p:txBody>
          <a:bodyPr wrap="square" lIns="0" tIns="0" rIns="0" bIns="0" rtlCol="0" anchor="t"/>
          <a:lstStyle/>
          <a:p>
            <a:pPr algn="l" indent="0" marL="0">
              <a:lnSpc>
                <a:spcPct val="114000"/>
              </a:lnSpc>
              <a:buNone/>
            </a:pPr>
            <a:r>
              <a:rPr lang="en-US" sz="920" dirty="0">
                <a:solidFill>
                  <a:srgbClr val="243B53"/>
                </a:solidFill>
                <a:latin typeface="Aptos" pitchFamily="34" charset="0"/>
                <a:ea typeface="Aptos" pitchFamily="34" charset="-122"/>
                <a:cs typeface="Aptos" pitchFamily="34" charset="-120"/>
              </a:rPr>
              <a:t>La aserción. Si lo que sigue no es cierto, la prueba falla. Es lo único que convierte una ejecución en una comprobación.</a:t>
            </a:r>
            <a:endParaRPr lang="en-US" sz="920" dirty="0"/>
          </a:p>
        </p:txBody>
      </p:sp>
      <p:sp>
        <p:nvSpPr>
          <p:cNvPr id="35" name="Shape 31"/>
          <p:cNvSpPr/>
          <p:nvPr/>
        </p:nvSpPr>
        <p:spPr>
          <a:xfrm>
            <a:off x="658368" y="5212080"/>
            <a:ext cx="5346040" cy="384048"/>
          </a:xfrm>
          <a:prstGeom prst="rect">
            <a:avLst/>
          </a:prstGeom>
          <a:solidFill>
            <a:srgbClr val="EDE6DA"/>
          </a:solidFill>
          <a:ln w="12700">
            <a:solidFill>
              <a:srgbClr val="EDE6DA"/>
            </a:solidFill>
            <a:prstDash val="solid"/>
          </a:ln>
        </p:spPr>
      </p:sp>
      <p:sp>
        <p:nvSpPr>
          <p:cNvPr id="36" name="Text 32"/>
          <p:cNvSpPr txBox="1"/>
          <p:nvPr/>
        </p:nvSpPr>
        <p:spPr>
          <a:xfrm>
            <a:off x="859536" y="5294376"/>
            <a:ext cx="1188720" cy="219456"/>
          </a:xfrm>
          <a:prstGeom prst="rect">
            <a:avLst/>
          </a:prstGeom>
          <a:noFill/>
          <a:ln/>
        </p:spPr>
        <p:txBody>
          <a:bodyPr wrap="square" lIns="0" tIns="0" rIns="0" bIns="0" rtlCol="0" anchor="t"/>
          <a:lstStyle/>
          <a:p>
            <a:pPr algn="l" indent="0" marL="0">
              <a:buNone/>
            </a:pPr>
            <a:r>
              <a:rPr lang="en-US" sz="1040" b="1" dirty="0">
                <a:solidFill>
                  <a:srgbClr val="102A43"/>
                </a:solidFill>
                <a:latin typeface="Consolas" pitchFamily="34" charset="0"/>
                <a:ea typeface="Consolas" pitchFamily="34" charset="-122"/>
                <a:cs typeface="Consolas" pitchFamily="34" charset="-120"/>
              </a:rPr>
              <a:t>pytest</a:t>
            </a:r>
            <a:endParaRPr lang="en-US" sz="1040" dirty="0"/>
          </a:p>
        </p:txBody>
      </p:sp>
      <p:sp>
        <p:nvSpPr>
          <p:cNvPr id="37" name="Text 33"/>
          <p:cNvSpPr txBox="1"/>
          <p:nvPr/>
        </p:nvSpPr>
        <p:spPr>
          <a:xfrm>
            <a:off x="2157984" y="5294376"/>
            <a:ext cx="3645256" cy="219456"/>
          </a:xfrm>
          <a:prstGeom prst="rect">
            <a:avLst/>
          </a:prstGeom>
          <a:noFill/>
          <a:ln/>
        </p:spPr>
        <p:txBody>
          <a:bodyPr wrap="square" lIns="0" tIns="0" rIns="0" bIns="0" rtlCol="0" anchor="t"/>
          <a:lstStyle/>
          <a:p>
            <a:pPr algn="l" indent="0" marL="0">
              <a:buNone/>
            </a:pPr>
            <a:r>
              <a:rPr lang="en-US" sz="1020" dirty="0">
                <a:solidFill>
                  <a:srgbClr val="243B53"/>
                </a:solidFill>
                <a:latin typeface="Aptos" pitchFamily="34" charset="0"/>
                <a:ea typeface="Aptos" pitchFamily="34" charset="-122"/>
                <a:cs typeface="Aptos" pitchFamily="34" charset="-120"/>
              </a:rPr>
              <a:t>La herramienta que ejecuta las pruebas y resume el resultado.</a:t>
            </a:r>
            <a:endParaRPr lang="en-US" sz="1020" dirty="0"/>
          </a:p>
        </p:txBody>
      </p:sp>
      <p:sp>
        <p:nvSpPr>
          <p:cNvPr id="38" name="Shape 34"/>
          <p:cNvSpPr/>
          <p:nvPr/>
        </p:nvSpPr>
        <p:spPr>
          <a:xfrm>
            <a:off x="6187288" y="5212080"/>
            <a:ext cx="5346040" cy="384048"/>
          </a:xfrm>
          <a:prstGeom prst="rect">
            <a:avLst/>
          </a:prstGeom>
          <a:solidFill>
            <a:srgbClr val="EDE6DA"/>
          </a:solidFill>
          <a:ln w="12700">
            <a:solidFill>
              <a:srgbClr val="EDE6DA"/>
            </a:solidFill>
            <a:prstDash val="solid"/>
          </a:ln>
        </p:spPr>
      </p:sp>
      <p:sp>
        <p:nvSpPr>
          <p:cNvPr id="39" name="Text 35"/>
          <p:cNvSpPr txBox="1"/>
          <p:nvPr/>
        </p:nvSpPr>
        <p:spPr>
          <a:xfrm>
            <a:off x="6388456" y="5294376"/>
            <a:ext cx="1188720" cy="219456"/>
          </a:xfrm>
          <a:prstGeom prst="rect">
            <a:avLst/>
          </a:prstGeom>
          <a:noFill/>
          <a:ln/>
        </p:spPr>
        <p:txBody>
          <a:bodyPr wrap="square" lIns="0" tIns="0" rIns="0" bIns="0" rtlCol="0" anchor="t"/>
          <a:lstStyle/>
          <a:p>
            <a:pPr algn="l" indent="0" marL="0">
              <a:buNone/>
            </a:pPr>
            <a:r>
              <a:rPr lang="en-US" sz="1040" b="1" dirty="0">
                <a:solidFill>
                  <a:srgbClr val="102A43"/>
                </a:solidFill>
                <a:latin typeface="Consolas" pitchFamily="34" charset="0"/>
                <a:ea typeface="Consolas" pitchFamily="34" charset="-122"/>
                <a:cs typeface="Consolas" pitchFamily="34" charset="-120"/>
              </a:rPr>
              <a:t>uv run</a:t>
            </a:r>
            <a:endParaRPr lang="en-US" sz="1040" dirty="0"/>
          </a:p>
        </p:txBody>
      </p:sp>
      <p:sp>
        <p:nvSpPr>
          <p:cNvPr id="40" name="Text 36"/>
          <p:cNvSpPr txBox="1"/>
          <p:nvPr/>
        </p:nvSpPr>
        <p:spPr>
          <a:xfrm>
            <a:off x="7686904" y="5294376"/>
            <a:ext cx="3645256" cy="219456"/>
          </a:xfrm>
          <a:prstGeom prst="rect">
            <a:avLst/>
          </a:prstGeom>
          <a:noFill/>
          <a:ln/>
        </p:spPr>
        <p:txBody>
          <a:bodyPr wrap="square" lIns="0" tIns="0" rIns="0" bIns="0" rtlCol="0" anchor="t"/>
          <a:lstStyle/>
          <a:p>
            <a:pPr algn="l" indent="0" marL="0">
              <a:buNone/>
            </a:pPr>
            <a:r>
              <a:rPr lang="en-US" sz="1020" dirty="0">
                <a:solidFill>
                  <a:srgbClr val="243B53"/>
                </a:solidFill>
                <a:latin typeface="Aptos" pitchFamily="34" charset="0"/>
                <a:ea typeface="Aptos" pitchFamily="34" charset="-122"/>
                <a:cs typeface="Aptos" pitchFamily="34" charset="-120"/>
              </a:rPr>
              <a:t>Ejecuta un comando dentro del entorno del proyecto.</a:t>
            </a:r>
            <a:endParaRPr lang="en-US" sz="1020" dirty="0"/>
          </a:p>
        </p:txBody>
      </p:sp>
      <p:sp>
        <p:nvSpPr>
          <p:cNvPr id="41" name="Shape 37"/>
          <p:cNvSpPr/>
          <p:nvPr/>
        </p:nvSpPr>
        <p:spPr>
          <a:xfrm>
            <a:off x="658368" y="5705856"/>
            <a:ext cx="10874959" cy="438912"/>
          </a:xfrm>
          <a:prstGeom prst="rect">
            <a:avLst/>
          </a:prstGeom>
          <a:solidFill>
            <a:srgbClr val="102A43"/>
          </a:solidFill>
          <a:ln w="12700">
            <a:solidFill>
              <a:srgbClr val="102A43"/>
            </a:solidFill>
            <a:prstDash val="solid"/>
          </a:ln>
        </p:spPr>
      </p:sp>
      <p:sp>
        <p:nvSpPr>
          <p:cNvPr id="42" name="Text 38"/>
          <p:cNvSpPr txBox="1"/>
          <p:nvPr/>
        </p:nvSpPr>
        <p:spPr>
          <a:xfrm>
            <a:off x="950976" y="5742432"/>
            <a:ext cx="10289743" cy="365760"/>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Sin aserción no hay comprobación: el código se ejecuta y nadie compara nada.</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08</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1 DE 4 · 25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El plan responde lo que la suite no puede</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Qué información contiene un plan de pruebas que no puede deducirse de ningún archivo del repositorio, leída en la norma que la define. Y la comprobación de que un proyecto puede tener toda su suite en verde mientras arrastra un defecto que contradice su requisito.</a:t>
            </a:r>
            <a:endParaRPr lang="en-US" sz="1500" dirty="0"/>
          </a:p>
        </p:txBody>
      </p:sp>
      <p:sp>
        <p:nvSpPr>
          <p:cNvPr id="12" name="Shape 9"/>
          <p:cNvSpPr/>
          <p:nvPr/>
        </p:nvSpPr>
        <p:spPr>
          <a:xfrm>
            <a:off x="658368" y="4901184"/>
            <a:ext cx="2622728" cy="786384"/>
          </a:xfrm>
          <a:prstGeom prst="rect">
            <a:avLst/>
          </a:prstGeom>
          <a:solidFill>
            <a:srgbClr val="D62027"/>
          </a:solidFill>
          <a:ln w="12700">
            <a:solidFill>
              <a:srgbClr val="D6202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DECLARAR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Qué se prueba y qué queda fuera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PRIORIZAR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Dónde duele más un fallo</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TRAZAR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prueba responde a qué requisito</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COMPROBAR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Que la traza sea verdadera</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NORMA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documento donde viven las decisiones</a:t>
            </a:r>
            <a:endParaRPr lang="en-US" sz="3000" dirty="0"/>
          </a:p>
        </p:txBody>
      </p:sp>
      <p:sp>
        <p:nvSpPr>
          <p:cNvPr id="10" name="Text 7"/>
          <p:cNvSpPr txBox="1"/>
          <p:nvPr/>
        </p:nvSpPr>
        <p:spPr>
          <a:xfrm>
            <a:off x="658368" y="1664208"/>
            <a:ext cx="10424160" cy="384048"/>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Cláusula 3.19, en traducción del original en inglés: descripción detallada de los objetivos de prueba, y de los medios y el calendario para alcanzarlos.</a:t>
            </a:r>
            <a:endParaRPr lang="en-US" sz="1420" dirty="0"/>
          </a:p>
        </p:txBody>
      </p:sp>
      <p:sp>
        <p:nvSpPr>
          <p:cNvPr id="11" name="Shape 8"/>
          <p:cNvSpPr/>
          <p:nvPr/>
        </p:nvSpPr>
        <p:spPr>
          <a:xfrm>
            <a:off x="658368" y="2286000"/>
            <a:ext cx="5346040" cy="2615184"/>
          </a:xfrm>
          <a:prstGeom prst="rect">
            <a:avLst/>
          </a:prstGeom>
          <a:solidFill>
            <a:srgbClr val="FFFFFF"/>
          </a:solidFill>
          <a:ln w="12700">
            <a:solidFill>
              <a:srgbClr val="FFFFFF"/>
            </a:solidFill>
            <a:prstDash val="solid"/>
          </a:ln>
        </p:spPr>
      </p:sp>
      <p:sp>
        <p:nvSpPr>
          <p:cNvPr id="12" name="Shape 9"/>
          <p:cNvSpPr/>
          <p:nvPr/>
        </p:nvSpPr>
        <p:spPr>
          <a:xfrm>
            <a:off x="658368" y="2286000"/>
            <a:ext cx="5346040" cy="54864"/>
          </a:xfrm>
          <a:prstGeom prst="rect">
            <a:avLst/>
          </a:prstGeom>
          <a:solidFill>
            <a:srgbClr val="102A43"/>
          </a:solidFill>
          <a:ln w="12700">
            <a:solidFill>
              <a:srgbClr val="102A43"/>
            </a:solidFill>
            <a:prstDash val="solid"/>
          </a:ln>
        </p:spPr>
      </p:sp>
      <p:sp>
        <p:nvSpPr>
          <p:cNvPr id="13" name="Text 10"/>
          <p:cNvSpPr txBox="1"/>
          <p:nvPr/>
        </p:nvSpPr>
        <p:spPr>
          <a:xfrm>
            <a:off x="914400" y="2468880"/>
            <a:ext cx="4833976" cy="219456"/>
          </a:xfrm>
          <a:prstGeom prst="rect">
            <a:avLst/>
          </a:prstGeom>
          <a:noFill/>
          <a:ln/>
        </p:spPr>
        <p:txBody>
          <a:bodyPr wrap="square" lIns="0" tIns="0" rIns="0" bIns="0" rtlCol="0" anchor="t"/>
          <a:lstStyle/>
          <a:p>
            <a:pPr algn="l" indent="0" marL="0">
              <a:buNone/>
            </a:pPr>
            <a:r>
              <a:rPr lang="en-US" sz="1040" b="1" spc="110" kern="0" dirty="0">
                <a:solidFill>
                  <a:srgbClr val="102A43"/>
                </a:solidFill>
                <a:latin typeface="Aptos" pitchFamily="34" charset="0"/>
                <a:ea typeface="Aptos" pitchFamily="34" charset="-122"/>
                <a:cs typeface="Aptos" pitchFamily="34" charset="-120"/>
              </a:rPr>
              <a:t>EL REPOSITORIO REGISTRA</a:t>
            </a:r>
            <a:endParaRPr lang="en-US" sz="1040" dirty="0"/>
          </a:p>
        </p:txBody>
      </p:sp>
      <p:sp>
        <p:nvSpPr>
          <p:cNvPr id="14" name="Shape 11"/>
          <p:cNvSpPr/>
          <p:nvPr/>
        </p:nvSpPr>
        <p:spPr>
          <a:xfrm>
            <a:off x="914400" y="2907792"/>
            <a:ext cx="128016" cy="128016"/>
          </a:xfrm>
          <a:prstGeom prst="rect">
            <a:avLst/>
          </a:prstGeom>
          <a:solidFill>
            <a:srgbClr val="102A43"/>
          </a:solidFill>
          <a:ln w="12700">
            <a:solidFill>
              <a:srgbClr val="102A43"/>
            </a:solidFill>
            <a:prstDash val="solid"/>
          </a:ln>
        </p:spPr>
      </p:sp>
      <p:sp>
        <p:nvSpPr>
          <p:cNvPr id="15" name="Text 12"/>
          <p:cNvSpPr txBox="1"/>
          <p:nvPr/>
        </p:nvSpPr>
        <p:spPr>
          <a:xfrm>
            <a:off x="1170432" y="2834640"/>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Los casos de prueba</a:t>
            </a:r>
            <a:endParaRPr lang="en-US" sz="1240" dirty="0"/>
          </a:p>
        </p:txBody>
      </p:sp>
      <p:sp>
        <p:nvSpPr>
          <p:cNvPr id="16" name="Shape 13"/>
          <p:cNvSpPr/>
          <p:nvPr/>
        </p:nvSpPr>
        <p:spPr>
          <a:xfrm>
            <a:off x="914400" y="3291840"/>
            <a:ext cx="128016" cy="128016"/>
          </a:xfrm>
          <a:prstGeom prst="rect">
            <a:avLst/>
          </a:prstGeom>
          <a:solidFill>
            <a:srgbClr val="102A43"/>
          </a:solidFill>
          <a:ln w="12700">
            <a:solidFill>
              <a:srgbClr val="102A43"/>
            </a:solidFill>
            <a:prstDash val="solid"/>
          </a:ln>
        </p:spPr>
      </p:sp>
      <p:sp>
        <p:nvSpPr>
          <p:cNvPr id="17" name="Text 14"/>
          <p:cNvSpPr txBox="1"/>
          <p:nvPr/>
        </p:nvSpPr>
        <p:spPr>
          <a:xfrm>
            <a:off x="1170432" y="3218688"/>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El comando que los ejecuta</a:t>
            </a:r>
            <a:endParaRPr lang="en-US" sz="1240" dirty="0"/>
          </a:p>
        </p:txBody>
      </p:sp>
      <p:sp>
        <p:nvSpPr>
          <p:cNvPr id="18" name="Shape 15"/>
          <p:cNvSpPr/>
          <p:nvPr/>
        </p:nvSpPr>
        <p:spPr>
          <a:xfrm>
            <a:off x="914400" y="3675888"/>
            <a:ext cx="128016" cy="128016"/>
          </a:xfrm>
          <a:prstGeom prst="rect">
            <a:avLst/>
          </a:prstGeom>
          <a:solidFill>
            <a:srgbClr val="102A43"/>
          </a:solidFill>
          <a:ln w="12700">
            <a:solidFill>
              <a:srgbClr val="102A43"/>
            </a:solidFill>
            <a:prstDash val="solid"/>
          </a:ln>
        </p:spPr>
      </p:sp>
      <p:sp>
        <p:nvSpPr>
          <p:cNvPr id="19" name="Text 16"/>
          <p:cNvSpPr txBox="1"/>
          <p:nvPr/>
        </p:nvSpPr>
        <p:spPr>
          <a:xfrm>
            <a:off x="1170432" y="3602736"/>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Las dependencias y su versión</a:t>
            </a:r>
            <a:endParaRPr lang="en-US" sz="1240" dirty="0"/>
          </a:p>
        </p:txBody>
      </p:sp>
      <p:sp>
        <p:nvSpPr>
          <p:cNvPr id="20" name="Shape 17"/>
          <p:cNvSpPr/>
          <p:nvPr/>
        </p:nvSpPr>
        <p:spPr>
          <a:xfrm>
            <a:off x="914400" y="4059936"/>
            <a:ext cx="128016" cy="128016"/>
          </a:xfrm>
          <a:prstGeom prst="rect">
            <a:avLst/>
          </a:prstGeom>
          <a:solidFill>
            <a:srgbClr val="102A43"/>
          </a:solidFill>
          <a:ln w="12700">
            <a:solidFill>
              <a:srgbClr val="102A43"/>
            </a:solidFill>
            <a:prstDash val="solid"/>
          </a:ln>
        </p:spPr>
      </p:sp>
      <p:sp>
        <p:nvSpPr>
          <p:cNvPr id="21" name="Text 18"/>
          <p:cNvSpPr txBox="1"/>
          <p:nvPr/>
        </p:nvSpPr>
        <p:spPr>
          <a:xfrm>
            <a:off x="1170432" y="3986784"/>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La salida de cada ejecución</a:t>
            </a:r>
            <a:endParaRPr lang="en-US" sz="1240" dirty="0"/>
          </a:p>
        </p:txBody>
      </p:sp>
      <p:sp>
        <p:nvSpPr>
          <p:cNvPr id="22" name="Shape 19"/>
          <p:cNvSpPr/>
          <p:nvPr/>
        </p:nvSpPr>
        <p:spPr>
          <a:xfrm>
            <a:off x="914400" y="4443984"/>
            <a:ext cx="128016" cy="128016"/>
          </a:xfrm>
          <a:prstGeom prst="rect">
            <a:avLst/>
          </a:prstGeom>
          <a:solidFill>
            <a:srgbClr val="102A43"/>
          </a:solidFill>
          <a:ln w="12700">
            <a:solidFill>
              <a:srgbClr val="102A43"/>
            </a:solidFill>
            <a:prstDash val="solid"/>
          </a:ln>
        </p:spPr>
      </p:sp>
      <p:sp>
        <p:nvSpPr>
          <p:cNvPr id="23" name="Text 20"/>
          <p:cNvSpPr txBox="1"/>
          <p:nvPr/>
        </p:nvSpPr>
        <p:spPr>
          <a:xfrm>
            <a:off x="1170432" y="4370832"/>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El historial de cambios</a:t>
            </a:r>
            <a:endParaRPr lang="en-US" sz="1240" dirty="0"/>
          </a:p>
        </p:txBody>
      </p:sp>
      <p:sp>
        <p:nvSpPr>
          <p:cNvPr id="24" name="Shape 21"/>
          <p:cNvSpPr/>
          <p:nvPr/>
        </p:nvSpPr>
        <p:spPr>
          <a:xfrm>
            <a:off x="6187288" y="2286000"/>
            <a:ext cx="5346040" cy="2615184"/>
          </a:xfrm>
          <a:prstGeom prst="rect">
            <a:avLst/>
          </a:prstGeom>
          <a:solidFill>
            <a:srgbClr val="F2E7D9"/>
          </a:solidFill>
          <a:ln w="12700">
            <a:solidFill>
              <a:srgbClr val="F2E7D9"/>
            </a:solidFill>
            <a:prstDash val="solid"/>
          </a:ln>
        </p:spPr>
      </p:sp>
      <p:sp>
        <p:nvSpPr>
          <p:cNvPr id="25" name="Shape 22"/>
          <p:cNvSpPr/>
          <p:nvPr/>
        </p:nvSpPr>
        <p:spPr>
          <a:xfrm>
            <a:off x="6187288" y="2286000"/>
            <a:ext cx="5346040" cy="54864"/>
          </a:xfrm>
          <a:prstGeom prst="rect">
            <a:avLst/>
          </a:prstGeom>
          <a:solidFill>
            <a:srgbClr val="B3181E"/>
          </a:solidFill>
          <a:ln w="12700">
            <a:solidFill>
              <a:srgbClr val="B3181E"/>
            </a:solidFill>
            <a:prstDash val="solid"/>
          </a:ln>
        </p:spPr>
      </p:sp>
      <p:sp>
        <p:nvSpPr>
          <p:cNvPr id="26" name="Text 23"/>
          <p:cNvSpPr txBox="1"/>
          <p:nvPr/>
        </p:nvSpPr>
        <p:spPr>
          <a:xfrm>
            <a:off x="6443320" y="2468880"/>
            <a:ext cx="4833976" cy="219456"/>
          </a:xfrm>
          <a:prstGeom prst="rect">
            <a:avLst/>
          </a:prstGeom>
          <a:noFill/>
          <a:ln/>
        </p:spPr>
        <p:txBody>
          <a:bodyPr wrap="square" lIns="0" tIns="0" rIns="0" bIns="0" rtlCol="0" anchor="t"/>
          <a:lstStyle/>
          <a:p>
            <a:pPr algn="l" indent="0" marL="0">
              <a:buNone/>
            </a:pPr>
            <a:r>
              <a:rPr lang="en-US" sz="1040" b="1" spc="110" kern="0" dirty="0">
                <a:solidFill>
                  <a:srgbClr val="B3181E"/>
                </a:solidFill>
                <a:latin typeface="Aptos" pitchFamily="34" charset="0"/>
                <a:ea typeface="Aptos" pitchFamily="34" charset="-122"/>
                <a:cs typeface="Aptos" pitchFamily="34" charset="-120"/>
              </a:rPr>
              <a:t>SOLO EL PLAN REGISTRA</a:t>
            </a:r>
            <a:endParaRPr lang="en-US" sz="1040" dirty="0"/>
          </a:p>
        </p:txBody>
      </p:sp>
      <p:sp>
        <p:nvSpPr>
          <p:cNvPr id="27" name="Shape 24"/>
          <p:cNvSpPr/>
          <p:nvPr/>
        </p:nvSpPr>
        <p:spPr>
          <a:xfrm>
            <a:off x="6443320" y="2907792"/>
            <a:ext cx="128016" cy="128016"/>
          </a:xfrm>
          <a:prstGeom prst="rect">
            <a:avLst/>
          </a:prstGeom>
          <a:solidFill>
            <a:srgbClr val="B3181E"/>
          </a:solidFill>
          <a:ln w="12700">
            <a:solidFill>
              <a:srgbClr val="B3181E"/>
            </a:solidFill>
            <a:prstDash val="solid"/>
          </a:ln>
        </p:spPr>
      </p:sp>
      <p:sp>
        <p:nvSpPr>
          <p:cNvPr id="28" name="Text 25"/>
          <p:cNvSpPr txBox="1"/>
          <p:nvPr/>
        </p:nvSpPr>
        <p:spPr>
          <a:xfrm>
            <a:off x="6699352" y="2834640"/>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Qué quedó deliberadamente fuera</a:t>
            </a:r>
            <a:endParaRPr lang="en-US" sz="1240" dirty="0"/>
          </a:p>
        </p:txBody>
      </p:sp>
      <p:sp>
        <p:nvSpPr>
          <p:cNvPr id="29" name="Shape 26"/>
          <p:cNvSpPr/>
          <p:nvPr/>
        </p:nvSpPr>
        <p:spPr>
          <a:xfrm>
            <a:off x="6443320" y="3291840"/>
            <a:ext cx="128016" cy="128016"/>
          </a:xfrm>
          <a:prstGeom prst="rect">
            <a:avLst/>
          </a:prstGeom>
          <a:solidFill>
            <a:srgbClr val="B3181E"/>
          </a:solidFill>
          <a:ln w="12700">
            <a:solidFill>
              <a:srgbClr val="B3181E"/>
            </a:solidFill>
            <a:prstDash val="solid"/>
          </a:ln>
        </p:spPr>
      </p:sp>
      <p:sp>
        <p:nvSpPr>
          <p:cNvPr id="30" name="Text 27"/>
          <p:cNvSpPr txBox="1"/>
          <p:nvPr/>
        </p:nvSpPr>
        <p:spPr>
          <a:xfrm>
            <a:off x="6699352" y="3218688"/>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Qué riesgo se acepta, y por qué</a:t>
            </a:r>
            <a:endParaRPr lang="en-US" sz="1240" dirty="0"/>
          </a:p>
        </p:txBody>
      </p:sp>
      <p:sp>
        <p:nvSpPr>
          <p:cNvPr id="31" name="Shape 28"/>
          <p:cNvSpPr/>
          <p:nvPr/>
        </p:nvSpPr>
        <p:spPr>
          <a:xfrm>
            <a:off x="6443320" y="3675888"/>
            <a:ext cx="128016" cy="128016"/>
          </a:xfrm>
          <a:prstGeom prst="rect">
            <a:avLst/>
          </a:prstGeom>
          <a:solidFill>
            <a:srgbClr val="B3181E"/>
          </a:solidFill>
          <a:ln w="12700">
            <a:solidFill>
              <a:srgbClr val="B3181E"/>
            </a:solidFill>
            <a:prstDash val="solid"/>
          </a:ln>
        </p:spPr>
      </p:sp>
      <p:sp>
        <p:nvSpPr>
          <p:cNvPr id="32" name="Text 29"/>
          <p:cNvSpPr txBox="1"/>
          <p:nvPr/>
        </p:nvSpPr>
        <p:spPr>
          <a:xfrm>
            <a:off x="6699352" y="3602736"/>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Sobre qué supuestos se trabaja</a:t>
            </a:r>
            <a:endParaRPr lang="en-US" sz="1240" dirty="0"/>
          </a:p>
        </p:txBody>
      </p:sp>
      <p:sp>
        <p:nvSpPr>
          <p:cNvPr id="33" name="Shape 30"/>
          <p:cNvSpPr/>
          <p:nvPr/>
        </p:nvSpPr>
        <p:spPr>
          <a:xfrm>
            <a:off x="6443320" y="4059936"/>
            <a:ext cx="128016" cy="128016"/>
          </a:xfrm>
          <a:prstGeom prst="rect">
            <a:avLst/>
          </a:prstGeom>
          <a:solidFill>
            <a:srgbClr val="B3181E"/>
          </a:solidFill>
          <a:ln w="12700">
            <a:solidFill>
              <a:srgbClr val="B3181E"/>
            </a:solidFill>
            <a:prstDash val="solid"/>
          </a:ln>
        </p:spPr>
      </p:sp>
      <p:sp>
        <p:nvSpPr>
          <p:cNvPr id="34" name="Text 31"/>
          <p:cNvSpPr txBox="1"/>
          <p:nvPr/>
        </p:nvSpPr>
        <p:spPr>
          <a:xfrm>
            <a:off x="6699352" y="3986784"/>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Cuándo probar es suficiente</a:t>
            </a:r>
            <a:endParaRPr lang="en-US" sz="1240" dirty="0"/>
          </a:p>
        </p:txBody>
      </p:sp>
      <p:sp>
        <p:nvSpPr>
          <p:cNvPr id="35" name="Shape 32"/>
          <p:cNvSpPr/>
          <p:nvPr/>
        </p:nvSpPr>
        <p:spPr>
          <a:xfrm>
            <a:off x="6443320" y="4443984"/>
            <a:ext cx="128016" cy="128016"/>
          </a:xfrm>
          <a:prstGeom prst="rect">
            <a:avLst/>
          </a:prstGeom>
          <a:solidFill>
            <a:srgbClr val="B3181E"/>
          </a:solidFill>
          <a:ln w="12700">
            <a:solidFill>
              <a:srgbClr val="B3181E"/>
            </a:solidFill>
            <a:prstDash val="solid"/>
          </a:ln>
        </p:spPr>
      </p:sp>
      <p:sp>
        <p:nvSpPr>
          <p:cNvPr id="36" name="Text 33"/>
          <p:cNvSpPr txBox="1"/>
          <p:nvPr/>
        </p:nvSpPr>
        <p:spPr>
          <a:xfrm>
            <a:off x="6699352" y="4370832"/>
            <a:ext cx="4577944"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Quién responde por cada cosa</a:t>
            </a:r>
            <a:endParaRPr lang="en-US" sz="1240" dirty="0"/>
          </a:p>
        </p:txBody>
      </p:sp>
      <p:sp>
        <p:nvSpPr>
          <p:cNvPr id="37" name="Shape 34"/>
          <p:cNvSpPr/>
          <p:nvPr/>
        </p:nvSpPr>
        <p:spPr>
          <a:xfrm>
            <a:off x="658368" y="5029200"/>
            <a:ext cx="5346040" cy="475488"/>
          </a:xfrm>
          <a:prstGeom prst="rect">
            <a:avLst/>
          </a:prstGeom>
          <a:solidFill>
            <a:srgbClr val="EDE6DA"/>
          </a:solidFill>
          <a:ln w="12700">
            <a:solidFill>
              <a:srgbClr val="EDE6DA"/>
            </a:solidFill>
            <a:prstDash val="solid"/>
          </a:ln>
        </p:spPr>
      </p:sp>
      <p:sp>
        <p:nvSpPr>
          <p:cNvPr id="38" name="Shape 35"/>
          <p:cNvSpPr/>
          <p:nvPr/>
        </p:nvSpPr>
        <p:spPr>
          <a:xfrm>
            <a:off x="658368" y="5029200"/>
            <a:ext cx="54864" cy="475488"/>
          </a:xfrm>
          <a:prstGeom prst="rect">
            <a:avLst/>
          </a:prstGeom>
          <a:solidFill>
            <a:srgbClr val="102A43"/>
          </a:solidFill>
          <a:ln w="12700">
            <a:solidFill>
              <a:srgbClr val="102A43"/>
            </a:solidFill>
            <a:prstDash val="solid"/>
          </a:ln>
        </p:spPr>
      </p:sp>
      <p:sp>
        <p:nvSpPr>
          <p:cNvPr id="39" name="Text 36"/>
          <p:cNvSpPr txBox="1"/>
          <p:nvPr/>
        </p:nvSpPr>
        <p:spPr>
          <a:xfrm>
            <a:off x="877824" y="5120640"/>
            <a:ext cx="1737360" cy="182880"/>
          </a:xfrm>
          <a:prstGeom prst="rect">
            <a:avLst/>
          </a:prstGeom>
          <a:noFill/>
          <a:ln/>
        </p:spPr>
        <p:txBody>
          <a:bodyPr wrap="square" lIns="0" tIns="0" rIns="0" bIns="0" rtlCol="0" anchor="t"/>
          <a:lstStyle/>
          <a:p>
            <a:pPr algn="l" indent="0" marL="0">
              <a:buNone/>
            </a:pPr>
            <a:r>
              <a:rPr lang="en-US" sz="900" b="1" spc="90" kern="0" dirty="0">
                <a:solidFill>
                  <a:srgbClr val="102A43"/>
                </a:solidFill>
                <a:latin typeface="Aptos" pitchFamily="34" charset="0"/>
                <a:ea typeface="Aptos" pitchFamily="34" charset="-122"/>
                <a:cs typeface="Aptos" pitchFamily="34" charset="-120"/>
              </a:rPr>
              <a:t>ELEMENTO DE PRUEBA</a:t>
            </a:r>
            <a:endParaRPr lang="en-US" sz="900" dirty="0"/>
          </a:p>
        </p:txBody>
      </p:sp>
      <p:sp>
        <p:nvSpPr>
          <p:cNvPr id="40" name="Text 37"/>
          <p:cNvSpPr txBox="1"/>
          <p:nvPr/>
        </p:nvSpPr>
        <p:spPr>
          <a:xfrm>
            <a:off x="2688336" y="5111496"/>
            <a:ext cx="3096616" cy="292608"/>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La cosa concreta que se prueba: una función, una ruta, un módulo.</a:t>
            </a:r>
            <a:endParaRPr lang="en-US" sz="1040" dirty="0"/>
          </a:p>
        </p:txBody>
      </p:sp>
      <p:sp>
        <p:nvSpPr>
          <p:cNvPr id="41" name="Shape 38"/>
          <p:cNvSpPr/>
          <p:nvPr/>
        </p:nvSpPr>
        <p:spPr>
          <a:xfrm>
            <a:off x="6187288" y="5029200"/>
            <a:ext cx="5346040" cy="475488"/>
          </a:xfrm>
          <a:prstGeom prst="rect">
            <a:avLst/>
          </a:prstGeom>
          <a:solidFill>
            <a:srgbClr val="EDE6DA"/>
          </a:solidFill>
          <a:ln w="12700">
            <a:solidFill>
              <a:srgbClr val="EDE6DA"/>
            </a:solidFill>
            <a:prstDash val="solid"/>
          </a:ln>
        </p:spPr>
      </p:sp>
      <p:sp>
        <p:nvSpPr>
          <p:cNvPr id="42" name="Shape 39"/>
          <p:cNvSpPr/>
          <p:nvPr/>
        </p:nvSpPr>
        <p:spPr>
          <a:xfrm>
            <a:off x="6187288" y="5029200"/>
            <a:ext cx="54864" cy="475488"/>
          </a:xfrm>
          <a:prstGeom prst="rect">
            <a:avLst/>
          </a:prstGeom>
          <a:solidFill>
            <a:srgbClr val="8A6A12"/>
          </a:solidFill>
          <a:ln w="12700">
            <a:solidFill>
              <a:srgbClr val="8A6A12"/>
            </a:solidFill>
            <a:prstDash val="solid"/>
          </a:ln>
        </p:spPr>
      </p:sp>
      <p:sp>
        <p:nvSpPr>
          <p:cNvPr id="43" name="Text 40"/>
          <p:cNvSpPr txBox="1"/>
          <p:nvPr/>
        </p:nvSpPr>
        <p:spPr>
          <a:xfrm>
            <a:off x="6406744" y="5120640"/>
            <a:ext cx="1737360" cy="182880"/>
          </a:xfrm>
          <a:prstGeom prst="rect">
            <a:avLst/>
          </a:prstGeom>
          <a:noFill/>
          <a:ln/>
        </p:spPr>
        <p:txBody>
          <a:bodyPr wrap="square" lIns="0" tIns="0" rIns="0" bIns="0" rtlCol="0" anchor="t"/>
          <a:lstStyle/>
          <a:p>
            <a:pPr algn="l" indent="0" marL="0">
              <a:buNone/>
            </a:pPr>
            <a:r>
              <a:rPr lang="en-US" sz="900" b="1" spc="90" kern="0" dirty="0">
                <a:solidFill>
                  <a:srgbClr val="8A6A12"/>
                </a:solidFill>
                <a:latin typeface="Aptos" pitchFamily="34" charset="0"/>
                <a:ea typeface="Aptos" pitchFamily="34" charset="-122"/>
                <a:cs typeface="Aptos" pitchFamily="34" charset="-120"/>
              </a:rPr>
              <a:t>OBJETIVO DE PRUEBA</a:t>
            </a:r>
            <a:endParaRPr lang="en-US" sz="900" dirty="0"/>
          </a:p>
        </p:txBody>
      </p:sp>
      <p:sp>
        <p:nvSpPr>
          <p:cNvPr id="44" name="Text 41"/>
          <p:cNvSpPr txBox="1"/>
          <p:nvPr/>
        </p:nvSpPr>
        <p:spPr>
          <a:xfrm>
            <a:off x="8217256" y="5111496"/>
            <a:ext cx="3096616" cy="292608"/>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Qué se quiere averiguar sobre ella. Nunca «que funcione».</a:t>
            </a:r>
            <a:endParaRPr lang="en-US" sz="1040" dirty="0"/>
          </a:p>
        </p:txBody>
      </p:sp>
      <p:sp>
        <p:nvSpPr>
          <p:cNvPr id="45" name="Shape 42"/>
          <p:cNvSpPr/>
          <p:nvPr/>
        </p:nvSpPr>
        <p:spPr>
          <a:xfrm>
            <a:off x="658368" y="5650992"/>
            <a:ext cx="10874959" cy="548640"/>
          </a:xfrm>
          <a:prstGeom prst="rect">
            <a:avLst/>
          </a:prstGeom>
          <a:solidFill>
            <a:srgbClr val="102A43"/>
          </a:solidFill>
          <a:ln w="12700">
            <a:solidFill>
              <a:srgbClr val="102A43"/>
            </a:solidFill>
            <a:prstDash val="solid"/>
          </a:ln>
        </p:spPr>
      </p:sp>
      <p:sp>
        <p:nvSpPr>
          <p:cNvPr id="46" name="Text 4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repositorio dice qué se probó. No puede decir qué se decidió probar.</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NORMA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Las diez partes que la norma pide</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Cláusula 7.2, traducida. El número es el identificador: con él se encuentra cada parte en la norma.</a:t>
            </a:r>
            <a:endParaRPr lang="en-US" sz="1420" dirty="0"/>
          </a:p>
        </p:txBody>
      </p:sp>
      <p:sp>
        <p:nvSpPr>
          <p:cNvPr id="11" name="Shape 8"/>
          <p:cNvSpPr/>
          <p:nvPr/>
        </p:nvSpPr>
        <p:spPr>
          <a:xfrm>
            <a:off x="658368" y="2249424"/>
            <a:ext cx="5355184" cy="566928"/>
          </a:xfrm>
          <a:prstGeom prst="rect">
            <a:avLst/>
          </a:prstGeom>
          <a:solidFill>
            <a:srgbClr val="FFFFFF"/>
          </a:solidFill>
          <a:ln w="12700">
            <a:solidFill>
              <a:srgbClr val="FFFFFF"/>
            </a:solidFill>
            <a:prstDash val="solid"/>
          </a:ln>
        </p:spPr>
      </p:sp>
      <p:sp>
        <p:nvSpPr>
          <p:cNvPr id="12" name="Shape 9"/>
          <p:cNvSpPr/>
          <p:nvPr/>
        </p:nvSpPr>
        <p:spPr>
          <a:xfrm>
            <a:off x="658368" y="2249424"/>
            <a:ext cx="54864" cy="566928"/>
          </a:xfrm>
          <a:prstGeom prst="rect">
            <a:avLst/>
          </a:prstGeom>
          <a:solidFill>
            <a:srgbClr val="102A43"/>
          </a:solidFill>
          <a:ln w="12700">
            <a:solidFill>
              <a:srgbClr val="102A43"/>
            </a:solidFill>
            <a:prstDash val="solid"/>
          </a:ln>
        </p:spPr>
      </p:sp>
      <p:sp>
        <p:nvSpPr>
          <p:cNvPr id="13" name="Text 10"/>
          <p:cNvSpPr txBox="1"/>
          <p:nvPr/>
        </p:nvSpPr>
        <p:spPr>
          <a:xfrm>
            <a:off x="877824" y="2340864"/>
            <a:ext cx="4916272" cy="182880"/>
          </a:xfrm>
          <a:prstGeom prst="rect">
            <a:avLst/>
          </a:prstGeom>
          <a:noFill/>
          <a:ln/>
        </p:spPr>
        <p:txBody>
          <a:bodyPr wrap="square" lIns="0" tIns="0" rIns="0" bIns="0" rtlCol="0" anchor="t"/>
          <a:lstStyle/>
          <a:p>
            <a:pPr algn="l" indent="0" marL="0">
              <a:buNone/>
            </a:pPr>
            <a:r>
              <a:rPr lang="en-US" sz="1060" b="1" dirty="0">
                <a:solidFill>
                  <a:srgbClr val="243B53"/>
                </a:solidFill>
                <a:latin typeface="Aptos" pitchFamily="34" charset="0"/>
                <a:ea typeface="Aptos" pitchFamily="34" charset="-122"/>
                <a:cs typeface="Aptos" pitchFamily="34" charset="-120"/>
              </a:rPr>
              <a:t>7.2.1 · Panorama general</a:t>
            </a:r>
            <a:endParaRPr lang="en-US" sz="1060" dirty="0"/>
          </a:p>
        </p:txBody>
      </p:sp>
      <p:sp>
        <p:nvSpPr>
          <p:cNvPr id="14" name="Text 11"/>
          <p:cNvSpPr txBox="1"/>
          <p:nvPr/>
        </p:nvSpPr>
        <p:spPr>
          <a:xfrm>
            <a:off x="877824" y="2542032"/>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Identificación del documento, su alcance y a qué se aplica.</a:t>
            </a:r>
            <a:endParaRPr lang="en-US" sz="960" dirty="0"/>
          </a:p>
        </p:txBody>
      </p:sp>
      <p:sp>
        <p:nvSpPr>
          <p:cNvPr id="15" name="Shape 12"/>
          <p:cNvSpPr/>
          <p:nvPr/>
        </p:nvSpPr>
        <p:spPr>
          <a:xfrm>
            <a:off x="658368" y="2871216"/>
            <a:ext cx="5355184" cy="566928"/>
          </a:xfrm>
          <a:prstGeom prst="rect">
            <a:avLst/>
          </a:prstGeom>
          <a:solidFill>
            <a:srgbClr val="FFFFFF"/>
          </a:solidFill>
          <a:ln w="12700">
            <a:solidFill>
              <a:srgbClr val="FFFFFF"/>
            </a:solidFill>
            <a:prstDash val="solid"/>
          </a:ln>
        </p:spPr>
      </p:sp>
      <p:sp>
        <p:nvSpPr>
          <p:cNvPr id="16" name="Shape 13"/>
          <p:cNvSpPr/>
          <p:nvPr/>
        </p:nvSpPr>
        <p:spPr>
          <a:xfrm>
            <a:off x="658368" y="2871216"/>
            <a:ext cx="54864" cy="566928"/>
          </a:xfrm>
          <a:prstGeom prst="rect">
            <a:avLst/>
          </a:prstGeom>
          <a:solidFill>
            <a:srgbClr val="102A43"/>
          </a:solidFill>
          <a:ln w="12700">
            <a:solidFill>
              <a:srgbClr val="102A43"/>
            </a:solidFill>
            <a:prstDash val="solid"/>
          </a:ln>
        </p:spPr>
      </p:sp>
      <p:sp>
        <p:nvSpPr>
          <p:cNvPr id="17" name="Text 14"/>
          <p:cNvSpPr txBox="1"/>
          <p:nvPr/>
        </p:nvSpPr>
        <p:spPr>
          <a:xfrm>
            <a:off x="877824" y="2962656"/>
            <a:ext cx="4916272" cy="182880"/>
          </a:xfrm>
          <a:prstGeom prst="rect">
            <a:avLst/>
          </a:prstGeom>
          <a:noFill/>
          <a:ln/>
        </p:spPr>
        <p:txBody>
          <a:bodyPr wrap="square" lIns="0" tIns="0" rIns="0" bIns="0" rtlCol="0" anchor="t"/>
          <a:lstStyle/>
          <a:p>
            <a:pPr algn="l" indent="0" marL="0">
              <a:buNone/>
            </a:pPr>
            <a:r>
              <a:rPr lang="en-US" sz="1060" b="1" dirty="0">
                <a:solidFill>
                  <a:srgbClr val="243B53"/>
                </a:solidFill>
                <a:latin typeface="Aptos" pitchFamily="34" charset="0"/>
                <a:ea typeface="Aptos" pitchFamily="34" charset="-122"/>
                <a:cs typeface="Aptos" pitchFamily="34" charset="-120"/>
              </a:rPr>
              <a:t>7.2.2 · Contexto de las pruebas</a:t>
            </a:r>
            <a:endParaRPr lang="en-US" sz="1060" dirty="0"/>
          </a:p>
        </p:txBody>
      </p:sp>
      <p:sp>
        <p:nvSpPr>
          <p:cNvPr id="18" name="Text 15"/>
          <p:cNvSpPr txBox="1"/>
          <p:nvPr/>
        </p:nvSpPr>
        <p:spPr>
          <a:xfrm>
            <a:off x="877824" y="3163824"/>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Qué se va a probar, en qué proyecto se inserta y qué queda fuera.</a:t>
            </a:r>
            <a:endParaRPr lang="en-US" sz="960" dirty="0"/>
          </a:p>
        </p:txBody>
      </p:sp>
      <p:sp>
        <p:nvSpPr>
          <p:cNvPr id="19" name="Shape 16"/>
          <p:cNvSpPr/>
          <p:nvPr/>
        </p:nvSpPr>
        <p:spPr>
          <a:xfrm>
            <a:off x="658368" y="3493008"/>
            <a:ext cx="5355184" cy="566928"/>
          </a:xfrm>
          <a:prstGeom prst="rect">
            <a:avLst/>
          </a:prstGeom>
          <a:solidFill>
            <a:srgbClr val="FFFFFF"/>
          </a:solidFill>
          <a:ln w="12700">
            <a:solidFill>
              <a:srgbClr val="FFFFFF"/>
            </a:solidFill>
            <a:prstDash val="solid"/>
          </a:ln>
        </p:spPr>
      </p:sp>
      <p:sp>
        <p:nvSpPr>
          <p:cNvPr id="20" name="Shape 17"/>
          <p:cNvSpPr/>
          <p:nvPr/>
        </p:nvSpPr>
        <p:spPr>
          <a:xfrm>
            <a:off x="658368" y="3493008"/>
            <a:ext cx="54864" cy="566928"/>
          </a:xfrm>
          <a:prstGeom prst="rect">
            <a:avLst/>
          </a:prstGeom>
          <a:solidFill>
            <a:srgbClr val="102A43"/>
          </a:solidFill>
          <a:ln w="12700">
            <a:solidFill>
              <a:srgbClr val="102A43"/>
            </a:solidFill>
            <a:prstDash val="solid"/>
          </a:ln>
        </p:spPr>
      </p:sp>
      <p:sp>
        <p:nvSpPr>
          <p:cNvPr id="21" name="Text 18"/>
          <p:cNvSpPr txBox="1"/>
          <p:nvPr/>
        </p:nvSpPr>
        <p:spPr>
          <a:xfrm>
            <a:off x="877824" y="3584448"/>
            <a:ext cx="4916272" cy="182880"/>
          </a:xfrm>
          <a:prstGeom prst="rect">
            <a:avLst/>
          </a:prstGeom>
          <a:noFill/>
          <a:ln/>
        </p:spPr>
        <p:txBody>
          <a:bodyPr wrap="square" lIns="0" tIns="0" rIns="0" bIns="0" rtlCol="0" anchor="t"/>
          <a:lstStyle/>
          <a:p>
            <a:pPr algn="l" indent="0" marL="0">
              <a:buNone/>
            </a:pPr>
            <a:r>
              <a:rPr lang="en-US" sz="1060" b="1" dirty="0">
                <a:solidFill>
                  <a:srgbClr val="243B53"/>
                </a:solidFill>
                <a:latin typeface="Aptos" pitchFamily="34" charset="0"/>
                <a:ea typeface="Aptos" pitchFamily="34" charset="-122"/>
                <a:cs typeface="Aptos" pitchFamily="34" charset="-120"/>
              </a:rPr>
              <a:t>7.2.3 · Supuestos y restricciones</a:t>
            </a:r>
            <a:endParaRPr lang="en-US" sz="1060" dirty="0"/>
          </a:p>
        </p:txBody>
      </p:sp>
      <p:sp>
        <p:nvSpPr>
          <p:cNvPr id="22" name="Text 19"/>
          <p:cNvSpPr txBox="1"/>
          <p:nvPr/>
        </p:nvSpPr>
        <p:spPr>
          <a:xfrm>
            <a:off x="877824" y="3785616"/>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Lo que se da por cierto sin haberlo verificado, y lo que limita el trabajo.</a:t>
            </a:r>
            <a:endParaRPr lang="en-US" sz="960" dirty="0"/>
          </a:p>
        </p:txBody>
      </p:sp>
      <p:sp>
        <p:nvSpPr>
          <p:cNvPr id="23" name="Shape 20"/>
          <p:cNvSpPr/>
          <p:nvPr/>
        </p:nvSpPr>
        <p:spPr>
          <a:xfrm>
            <a:off x="658368" y="4114800"/>
            <a:ext cx="5355184" cy="566928"/>
          </a:xfrm>
          <a:prstGeom prst="rect">
            <a:avLst/>
          </a:prstGeom>
          <a:solidFill>
            <a:srgbClr val="FFFFFF"/>
          </a:solidFill>
          <a:ln w="12700">
            <a:solidFill>
              <a:srgbClr val="FFFFFF"/>
            </a:solidFill>
            <a:prstDash val="solid"/>
          </a:ln>
        </p:spPr>
      </p:sp>
      <p:sp>
        <p:nvSpPr>
          <p:cNvPr id="24" name="Shape 21"/>
          <p:cNvSpPr/>
          <p:nvPr/>
        </p:nvSpPr>
        <p:spPr>
          <a:xfrm>
            <a:off x="658368" y="4114800"/>
            <a:ext cx="54864" cy="566928"/>
          </a:xfrm>
          <a:prstGeom prst="rect">
            <a:avLst/>
          </a:prstGeom>
          <a:solidFill>
            <a:srgbClr val="102A43"/>
          </a:solidFill>
          <a:ln w="12700">
            <a:solidFill>
              <a:srgbClr val="102A43"/>
            </a:solidFill>
            <a:prstDash val="solid"/>
          </a:ln>
        </p:spPr>
      </p:sp>
      <p:sp>
        <p:nvSpPr>
          <p:cNvPr id="25" name="Text 22"/>
          <p:cNvSpPr txBox="1"/>
          <p:nvPr/>
        </p:nvSpPr>
        <p:spPr>
          <a:xfrm>
            <a:off x="877824" y="4206240"/>
            <a:ext cx="4916272" cy="182880"/>
          </a:xfrm>
          <a:prstGeom prst="rect">
            <a:avLst/>
          </a:prstGeom>
          <a:noFill/>
          <a:ln/>
        </p:spPr>
        <p:txBody>
          <a:bodyPr wrap="square" lIns="0" tIns="0" rIns="0" bIns="0" rtlCol="0" anchor="t"/>
          <a:lstStyle/>
          <a:p>
            <a:pPr algn="l" indent="0" marL="0">
              <a:buNone/>
            </a:pPr>
            <a:r>
              <a:rPr lang="en-US" sz="1060" b="1" dirty="0">
                <a:solidFill>
                  <a:srgbClr val="243B53"/>
                </a:solidFill>
                <a:latin typeface="Aptos" pitchFamily="34" charset="0"/>
                <a:ea typeface="Aptos" pitchFamily="34" charset="-122"/>
                <a:cs typeface="Aptos" pitchFamily="34" charset="-120"/>
              </a:rPr>
              <a:t>7.2.4 · Partes interesadas</a:t>
            </a:r>
            <a:endParaRPr lang="en-US" sz="1060" dirty="0"/>
          </a:p>
        </p:txBody>
      </p:sp>
      <p:sp>
        <p:nvSpPr>
          <p:cNvPr id="26" name="Text 23"/>
          <p:cNvSpPr txBox="1"/>
          <p:nvPr/>
        </p:nvSpPr>
        <p:spPr>
          <a:xfrm>
            <a:off x="877824" y="4407408"/>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Quién tiene interés en el resultado de estas pruebas.</a:t>
            </a:r>
            <a:endParaRPr lang="en-US" sz="960" dirty="0"/>
          </a:p>
        </p:txBody>
      </p:sp>
      <p:sp>
        <p:nvSpPr>
          <p:cNvPr id="27" name="Shape 24"/>
          <p:cNvSpPr/>
          <p:nvPr/>
        </p:nvSpPr>
        <p:spPr>
          <a:xfrm>
            <a:off x="658368" y="4736592"/>
            <a:ext cx="5355184" cy="566928"/>
          </a:xfrm>
          <a:prstGeom prst="rect">
            <a:avLst/>
          </a:prstGeom>
          <a:solidFill>
            <a:srgbClr val="FFFFFF"/>
          </a:solidFill>
          <a:ln w="12700">
            <a:solidFill>
              <a:srgbClr val="FFFFFF"/>
            </a:solidFill>
            <a:prstDash val="solid"/>
          </a:ln>
        </p:spPr>
      </p:sp>
      <p:sp>
        <p:nvSpPr>
          <p:cNvPr id="28" name="Shape 25"/>
          <p:cNvSpPr/>
          <p:nvPr/>
        </p:nvSpPr>
        <p:spPr>
          <a:xfrm>
            <a:off x="658368" y="4736592"/>
            <a:ext cx="54864" cy="566928"/>
          </a:xfrm>
          <a:prstGeom prst="rect">
            <a:avLst/>
          </a:prstGeom>
          <a:solidFill>
            <a:srgbClr val="102A43"/>
          </a:solidFill>
          <a:ln w="12700">
            <a:solidFill>
              <a:srgbClr val="102A43"/>
            </a:solidFill>
            <a:prstDash val="solid"/>
          </a:ln>
        </p:spPr>
      </p:sp>
      <p:sp>
        <p:nvSpPr>
          <p:cNvPr id="29" name="Text 26"/>
          <p:cNvSpPr txBox="1"/>
          <p:nvPr/>
        </p:nvSpPr>
        <p:spPr>
          <a:xfrm>
            <a:off x="877824" y="4828032"/>
            <a:ext cx="4916272" cy="182880"/>
          </a:xfrm>
          <a:prstGeom prst="rect">
            <a:avLst/>
          </a:prstGeom>
          <a:noFill/>
          <a:ln/>
        </p:spPr>
        <p:txBody>
          <a:bodyPr wrap="square" lIns="0" tIns="0" rIns="0" bIns="0" rtlCol="0" anchor="t"/>
          <a:lstStyle/>
          <a:p>
            <a:pPr algn="l" indent="0" marL="0">
              <a:buNone/>
            </a:pPr>
            <a:r>
              <a:rPr lang="en-US" sz="1060" b="1" dirty="0">
                <a:solidFill>
                  <a:srgbClr val="243B53"/>
                </a:solidFill>
                <a:latin typeface="Aptos" pitchFamily="34" charset="0"/>
                <a:ea typeface="Aptos" pitchFamily="34" charset="-122"/>
                <a:cs typeface="Aptos" pitchFamily="34" charset="-120"/>
              </a:rPr>
              <a:t>7.2.5 · Comunicación de las pruebas</a:t>
            </a:r>
            <a:endParaRPr lang="en-US" sz="1060" dirty="0"/>
          </a:p>
        </p:txBody>
      </p:sp>
      <p:sp>
        <p:nvSpPr>
          <p:cNvPr id="30" name="Text 27"/>
          <p:cNvSpPr txBox="1"/>
          <p:nvPr/>
        </p:nvSpPr>
        <p:spPr>
          <a:xfrm>
            <a:off x="877824" y="5029200"/>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Quién informa qué, a quién y cada cuánto.</a:t>
            </a:r>
            <a:endParaRPr lang="en-US" sz="960" dirty="0"/>
          </a:p>
        </p:txBody>
      </p:sp>
      <p:sp>
        <p:nvSpPr>
          <p:cNvPr id="31" name="Shape 28"/>
          <p:cNvSpPr/>
          <p:nvPr/>
        </p:nvSpPr>
        <p:spPr>
          <a:xfrm>
            <a:off x="6178144" y="2249424"/>
            <a:ext cx="5355184" cy="566928"/>
          </a:xfrm>
          <a:prstGeom prst="rect">
            <a:avLst/>
          </a:prstGeom>
          <a:solidFill>
            <a:srgbClr val="F2E7D9"/>
          </a:solidFill>
          <a:ln w="12700">
            <a:solidFill>
              <a:srgbClr val="F2E7D9"/>
            </a:solidFill>
            <a:prstDash val="solid"/>
          </a:ln>
        </p:spPr>
      </p:sp>
      <p:sp>
        <p:nvSpPr>
          <p:cNvPr id="32" name="Shape 29"/>
          <p:cNvSpPr/>
          <p:nvPr/>
        </p:nvSpPr>
        <p:spPr>
          <a:xfrm>
            <a:off x="6178144" y="2249424"/>
            <a:ext cx="54864" cy="566928"/>
          </a:xfrm>
          <a:prstGeom prst="rect">
            <a:avLst/>
          </a:prstGeom>
          <a:solidFill>
            <a:srgbClr val="B3181E"/>
          </a:solidFill>
          <a:ln w="12700">
            <a:solidFill>
              <a:srgbClr val="B3181E"/>
            </a:solidFill>
            <a:prstDash val="solid"/>
          </a:ln>
        </p:spPr>
      </p:sp>
      <p:sp>
        <p:nvSpPr>
          <p:cNvPr id="33" name="Text 30"/>
          <p:cNvSpPr txBox="1"/>
          <p:nvPr/>
        </p:nvSpPr>
        <p:spPr>
          <a:xfrm>
            <a:off x="6397600" y="2340864"/>
            <a:ext cx="4916272" cy="182880"/>
          </a:xfrm>
          <a:prstGeom prst="rect">
            <a:avLst/>
          </a:prstGeom>
          <a:noFill/>
          <a:ln/>
        </p:spPr>
        <p:txBody>
          <a:bodyPr wrap="square" lIns="0" tIns="0" rIns="0" bIns="0" rtlCol="0" anchor="t"/>
          <a:lstStyle/>
          <a:p>
            <a:pPr algn="l" indent="0" marL="0">
              <a:buNone/>
            </a:pPr>
            <a:r>
              <a:rPr lang="en-US" sz="1060" b="1" dirty="0">
                <a:solidFill>
                  <a:srgbClr val="B3181E"/>
                </a:solidFill>
                <a:latin typeface="Aptos" pitchFamily="34" charset="0"/>
                <a:ea typeface="Aptos" pitchFamily="34" charset="-122"/>
                <a:cs typeface="Aptos" pitchFamily="34" charset="-120"/>
              </a:rPr>
              <a:t>7.2.6 · Registro de riesgos</a:t>
            </a:r>
            <a:endParaRPr lang="en-US" sz="1060" dirty="0"/>
          </a:p>
        </p:txBody>
      </p:sp>
      <p:sp>
        <p:nvSpPr>
          <p:cNvPr id="34" name="Text 31"/>
          <p:cNvSpPr txBox="1"/>
          <p:nvPr/>
        </p:nvSpPr>
        <p:spPr>
          <a:xfrm>
            <a:off x="6397600" y="2542032"/>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B3181E"/>
                </a:solidFill>
                <a:latin typeface="Aptos" pitchFamily="34" charset="0"/>
                <a:ea typeface="Aptos" pitchFamily="34" charset="-122"/>
                <a:cs typeface="Aptos" pitchFamily="34" charset="-120"/>
              </a:rPr>
              <a:t>Los riesgos identificados, con su valoración y su tratamiento.</a:t>
            </a:r>
            <a:endParaRPr lang="en-US" sz="960" dirty="0"/>
          </a:p>
        </p:txBody>
      </p:sp>
      <p:sp>
        <p:nvSpPr>
          <p:cNvPr id="35" name="Shape 32"/>
          <p:cNvSpPr/>
          <p:nvPr/>
        </p:nvSpPr>
        <p:spPr>
          <a:xfrm>
            <a:off x="6178144" y="2871216"/>
            <a:ext cx="5355184" cy="566928"/>
          </a:xfrm>
          <a:prstGeom prst="rect">
            <a:avLst/>
          </a:prstGeom>
          <a:solidFill>
            <a:srgbClr val="F2E7D9"/>
          </a:solidFill>
          <a:ln w="12700">
            <a:solidFill>
              <a:srgbClr val="F2E7D9"/>
            </a:solidFill>
            <a:prstDash val="solid"/>
          </a:ln>
        </p:spPr>
      </p:sp>
      <p:sp>
        <p:nvSpPr>
          <p:cNvPr id="36" name="Shape 33"/>
          <p:cNvSpPr/>
          <p:nvPr/>
        </p:nvSpPr>
        <p:spPr>
          <a:xfrm>
            <a:off x="6178144" y="2871216"/>
            <a:ext cx="54864" cy="566928"/>
          </a:xfrm>
          <a:prstGeom prst="rect">
            <a:avLst/>
          </a:prstGeom>
          <a:solidFill>
            <a:srgbClr val="B3181E"/>
          </a:solidFill>
          <a:ln w="12700">
            <a:solidFill>
              <a:srgbClr val="B3181E"/>
            </a:solidFill>
            <a:prstDash val="solid"/>
          </a:ln>
        </p:spPr>
      </p:sp>
      <p:sp>
        <p:nvSpPr>
          <p:cNvPr id="37" name="Text 34"/>
          <p:cNvSpPr txBox="1"/>
          <p:nvPr/>
        </p:nvSpPr>
        <p:spPr>
          <a:xfrm>
            <a:off x="6397600" y="2962656"/>
            <a:ext cx="4916272" cy="182880"/>
          </a:xfrm>
          <a:prstGeom prst="rect">
            <a:avLst/>
          </a:prstGeom>
          <a:noFill/>
          <a:ln/>
        </p:spPr>
        <p:txBody>
          <a:bodyPr wrap="square" lIns="0" tIns="0" rIns="0" bIns="0" rtlCol="0" anchor="t"/>
          <a:lstStyle/>
          <a:p>
            <a:pPr algn="l" indent="0" marL="0">
              <a:buNone/>
            </a:pPr>
            <a:r>
              <a:rPr lang="en-US" sz="1060" b="1" dirty="0">
                <a:solidFill>
                  <a:srgbClr val="B3181E"/>
                </a:solidFill>
                <a:latin typeface="Aptos" pitchFamily="34" charset="0"/>
                <a:ea typeface="Aptos" pitchFamily="34" charset="-122"/>
                <a:cs typeface="Aptos" pitchFamily="34" charset="-120"/>
              </a:rPr>
              <a:t>7.2.7 · Estrategia de pruebas</a:t>
            </a:r>
            <a:endParaRPr lang="en-US" sz="1060" dirty="0"/>
          </a:p>
        </p:txBody>
      </p:sp>
      <p:sp>
        <p:nvSpPr>
          <p:cNvPr id="38" name="Text 35"/>
          <p:cNvSpPr txBox="1"/>
          <p:nvPr/>
        </p:nvSpPr>
        <p:spPr>
          <a:xfrm>
            <a:off x="6397600" y="3163824"/>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B3181E"/>
                </a:solidFill>
                <a:latin typeface="Aptos" pitchFamily="34" charset="0"/>
                <a:ea typeface="Aptos" pitchFamily="34" charset="-122"/>
                <a:cs typeface="Aptos" pitchFamily="34" charset="-120"/>
              </a:rPr>
              <a:t>El enfoque: qué niveles, qué técnicas, qué datos, qué ambiente y cuándo se para.</a:t>
            </a:r>
            <a:endParaRPr lang="en-US" sz="960" dirty="0"/>
          </a:p>
        </p:txBody>
      </p:sp>
      <p:sp>
        <p:nvSpPr>
          <p:cNvPr id="39" name="Shape 36"/>
          <p:cNvSpPr/>
          <p:nvPr/>
        </p:nvSpPr>
        <p:spPr>
          <a:xfrm>
            <a:off x="6178144" y="3493008"/>
            <a:ext cx="5355184" cy="566928"/>
          </a:xfrm>
          <a:prstGeom prst="rect">
            <a:avLst/>
          </a:prstGeom>
          <a:solidFill>
            <a:srgbClr val="FFFFFF"/>
          </a:solidFill>
          <a:ln w="12700">
            <a:solidFill>
              <a:srgbClr val="FFFFFF"/>
            </a:solidFill>
            <a:prstDash val="solid"/>
          </a:ln>
        </p:spPr>
      </p:sp>
      <p:sp>
        <p:nvSpPr>
          <p:cNvPr id="40" name="Shape 37"/>
          <p:cNvSpPr/>
          <p:nvPr/>
        </p:nvSpPr>
        <p:spPr>
          <a:xfrm>
            <a:off x="6178144" y="3493008"/>
            <a:ext cx="54864" cy="566928"/>
          </a:xfrm>
          <a:prstGeom prst="rect">
            <a:avLst/>
          </a:prstGeom>
          <a:solidFill>
            <a:srgbClr val="102A43"/>
          </a:solidFill>
          <a:ln w="12700">
            <a:solidFill>
              <a:srgbClr val="102A43"/>
            </a:solidFill>
            <a:prstDash val="solid"/>
          </a:ln>
        </p:spPr>
      </p:sp>
      <p:sp>
        <p:nvSpPr>
          <p:cNvPr id="41" name="Text 38"/>
          <p:cNvSpPr txBox="1"/>
          <p:nvPr/>
        </p:nvSpPr>
        <p:spPr>
          <a:xfrm>
            <a:off x="6397600" y="3584448"/>
            <a:ext cx="4916272" cy="182880"/>
          </a:xfrm>
          <a:prstGeom prst="rect">
            <a:avLst/>
          </a:prstGeom>
          <a:noFill/>
          <a:ln/>
        </p:spPr>
        <p:txBody>
          <a:bodyPr wrap="square" lIns="0" tIns="0" rIns="0" bIns="0" rtlCol="0" anchor="t"/>
          <a:lstStyle/>
          <a:p>
            <a:pPr algn="l" indent="0" marL="0">
              <a:buNone/>
            </a:pPr>
            <a:r>
              <a:rPr lang="en-US" sz="1060" b="1" dirty="0">
                <a:solidFill>
                  <a:srgbClr val="243B53"/>
                </a:solidFill>
                <a:latin typeface="Aptos" pitchFamily="34" charset="0"/>
                <a:ea typeface="Aptos" pitchFamily="34" charset="-122"/>
                <a:cs typeface="Aptos" pitchFamily="34" charset="-120"/>
              </a:rPr>
              <a:t>7.2.8 · Actividades y estimaciones</a:t>
            </a:r>
            <a:endParaRPr lang="en-US" sz="1060" dirty="0"/>
          </a:p>
        </p:txBody>
      </p:sp>
      <p:sp>
        <p:nvSpPr>
          <p:cNvPr id="42" name="Text 39"/>
          <p:cNvSpPr txBox="1"/>
          <p:nvPr/>
        </p:nvSpPr>
        <p:spPr>
          <a:xfrm>
            <a:off x="6397600" y="3785616"/>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Qué actividades hay que hacer y cuánto esfuerzo cuestan.</a:t>
            </a:r>
            <a:endParaRPr lang="en-US" sz="960" dirty="0"/>
          </a:p>
        </p:txBody>
      </p:sp>
      <p:sp>
        <p:nvSpPr>
          <p:cNvPr id="43" name="Shape 40"/>
          <p:cNvSpPr/>
          <p:nvPr/>
        </p:nvSpPr>
        <p:spPr>
          <a:xfrm>
            <a:off x="6178144" y="4114800"/>
            <a:ext cx="5355184" cy="566928"/>
          </a:xfrm>
          <a:prstGeom prst="rect">
            <a:avLst/>
          </a:prstGeom>
          <a:solidFill>
            <a:srgbClr val="FFFFFF"/>
          </a:solidFill>
          <a:ln w="12700">
            <a:solidFill>
              <a:srgbClr val="FFFFFF"/>
            </a:solidFill>
            <a:prstDash val="solid"/>
          </a:ln>
        </p:spPr>
      </p:sp>
      <p:sp>
        <p:nvSpPr>
          <p:cNvPr id="44" name="Shape 41"/>
          <p:cNvSpPr/>
          <p:nvPr/>
        </p:nvSpPr>
        <p:spPr>
          <a:xfrm>
            <a:off x="6178144" y="4114800"/>
            <a:ext cx="54864" cy="566928"/>
          </a:xfrm>
          <a:prstGeom prst="rect">
            <a:avLst/>
          </a:prstGeom>
          <a:solidFill>
            <a:srgbClr val="102A43"/>
          </a:solidFill>
          <a:ln w="12700">
            <a:solidFill>
              <a:srgbClr val="102A43"/>
            </a:solidFill>
            <a:prstDash val="solid"/>
          </a:ln>
        </p:spPr>
      </p:sp>
      <p:sp>
        <p:nvSpPr>
          <p:cNvPr id="45" name="Text 42"/>
          <p:cNvSpPr txBox="1"/>
          <p:nvPr/>
        </p:nvSpPr>
        <p:spPr>
          <a:xfrm>
            <a:off x="6397600" y="4206240"/>
            <a:ext cx="4916272" cy="182880"/>
          </a:xfrm>
          <a:prstGeom prst="rect">
            <a:avLst/>
          </a:prstGeom>
          <a:noFill/>
          <a:ln/>
        </p:spPr>
        <p:txBody>
          <a:bodyPr wrap="square" lIns="0" tIns="0" rIns="0" bIns="0" rtlCol="0" anchor="t"/>
          <a:lstStyle/>
          <a:p>
            <a:pPr algn="l" indent="0" marL="0">
              <a:buNone/>
            </a:pPr>
            <a:r>
              <a:rPr lang="en-US" sz="1060" b="1" dirty="0">
                <a:solidFill>
                  <a:srgbClr val="243B53"/>
                </a:solidFill>
                <a:latin typeface="Aptos" pitchFamily="34" charset="0"/>
                <a:ea typeface="Aptos" pitchFamily="34" charset="-122"/>
                <a:cs typeface="Aptos" pitchFamily="34" charset="-120"/>
              </a:rPr>
              <a:t>7.2.9 · Personal y roles</a:t>
            </a:r>
            <a:endParaRPr lang="en-US" sz="1060" dirty="0"/>
          </a:p>
        </p:txBody>
      </p:sp>
      <p:sp>
        <p:nvSpPr>
          <p:cNvPr id="46" name="Text 43"/>
          <p:cNvSpPr txBox="1"/>
          <p:nvPr/>
        </p:nvSpPr>
        <p:spPr>
          <a:xfrm>
            <a:off x="6397600" y="4407408"/>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Quién hace cada cosa y qué necesita saber para hacerla.</a:t>
            </a:r>
            <a:endParaRPr lang="en-US" sz="960" dirty="0"/>
          </a:p>
        </p:txBody>
      </p:sp>
      <p:sp>
        <p:nvSpPr>
          <p:cNvPr id="47" name="Shape 44"/>
          <p:cNvSpPr/>
          <p:nvPr/>
        </p:nvSpPr>
        <p:spPr>
          <a:xfrm>
            <a:off x="6178144" y="4736592"/>
            <a:ext cx="5355184" cy="566928"/>
          </a:xfrm>
          <a:prstGeom prst="rect">
            <a:avLst/>
          </a:prstGeom>
          <a:solidFill>
            <a:srgbClr val="FFFFFF"/>
          </a:solidFill>
          <a:ln w="12700">
            <a:solidFill>
              <a:srgbClr val="FFFFFF"/>
            </a:solidFill>
            <a:prstDash val="solid"/>
          </a:ln>
        </p:spPr>
      </p:sp>
      <p:sp>
        <p:nvSpPr>
          <p:cNvPr id="48" name="Shape 45"/>
          <p:cNvSpPr/>
          <p:nvPr/>
        </p:nvSpPr>
        <p:spPr>
          <a:xfrm>
            <a:off x="6178144" y="4736592"/>
            <a:ext cx="54864" cy="566928"/>
          </a:xfrm>
          <a:prstGeom prst="rect">
            <a:avLst/>
          </a:prstGeom>
          <a:solidFill>
            <a:srgbClr val="102A43"/>
          </a:solidFill>
          <a:ln w="12700">
            <a:solidFill>
              <a:srgbClr val="102A43"/>
            </a:solidFill>
            <a:prstDash val="solid"/>
          </a:ln>
        </p:spPr>
      </p:sp>
      <p:sp>
        <p:nvSpPr>
          <p:cNvPr id="49" name="Text 46"/>
          <p:cNvSpPr txBox="1"/>
          <p:nvPr/>
        </p:nvSpPr>
        <p:spPr>
          <a:xfrm>
            <a:off x="6397600" y="4828032"/>
            <a:ext cx="4916272" cy="182880"/>
          </a:xfrm>
          <a:prstGeom prst="rect">
            <a:avLst/>
          </a:prstGeom>
          <a:noFill/>
          <a:ln/>
        </p:spPr>
        <p:txBody>
          <a:bodyPr wrap="square" lIns="0" tIns="0" rIns="0" bIns="0" rtlCol="0" anchor="t"/>
          <a:lstStyle/>
          <a:p>
            <a:pPr algn="l" indent="0" marL="0">
              <a:buNone/>
            </a:pPr>
            <a:r>
              <a:rPr lang="en-US" sz="1060" b="1" dirty="0">
                <a:solidFill>
                  <a:srgbClr val="243B53"/>
                </a:solidFill>
                <a:latin typeface="Aptos" pitchFamily="34" charset="0"/>
                <a:ea typeface="Aptos" pitchFamily="34" charset="-122"/>
                <a:cs typeface="Aptos" pitchFamily="34" charset="-120"/>
              </a:rPr>
              <a:t>7.2.10 · Calendario</a:t>
            </a:r>
            <a:endParaRPr lang="en-US" sz="1060" dirty="0"/>
          </a:p>
        </p:txBody>
      </p:sp>
      <p:sp>
        <p:nvSpPr>
          <p:cNvPr id="50" name="Text 47"/>
          <p:cNvSpPr txBox="1"/>
          <p:nvPr/>
        </p:nvSpPr>
        <p:spPr>
          <a:xfrm>
            <a:off x="6397600" y="5029200"/>
            <a:ext cx="4916272" cy="219456"/>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Cuándo ocurre cada actividad.</a:t>
            </a:r>
            <a:endParaRPr lang="en-US" sz="960" dirty="0"/>
          </a:p>
        </p:txBody>
      </p:sp>
      <p:sp>
        <p:nvSpPr>
          <p:cNvPr id="51" name="Shape 48"/>
          <p:cNvSpPr/>
          <p:nvPr/>
        </p:nvSpPr>
        <p:spPr>
          <a:xfrm>
            <a:off x="658368" y="5449824"/>
            <a:ext cx="45720" cy="182880"/>
          </a:xfrm>
          <a:prstGeom prst="rect">
            <a:avLst/>
          </a:prstGeom>
          <a:solidFill>
            <a:srgbClr val="B3181E"/>
          </a:solidFill>
          <a:ln w="12700">
            <a:solidFill>
              <a:srgbClr val="B3181E"/>
            </a:solidFill>
            <a:prstDash val="solid"/>
          </a:ln>
        </p:spPr>
      </p:sp>
      <p:sp>
        <p:nvSpPr>
          <p:cNvPr id="52" name="Text 49"/>
          <p:cNvSpPr txBox="1"/>
          <p:nvPr/>
        </p:nvSpPr>
        <p:spPr>
          <a:xfrm>
            <a:off x="804672" y="5440680"/>
            <a:ext cx="1024128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Las dos partes en rojo son las que esta sesión construye: el registro de riesgos en el bloque 2 y la estrategia en los bloques 2 y 3.</a:t>
            </a:r>
            <a:endParaRPr lang="en-US" sz="880" dirty="0"/>
          </a:p>
        </p:txBody>
      </p:sp>
      <p:sp>
        <p:nvSpPr>
          <p:cNvPr id="53" name="Shape 50"/>
          <p:cNvSpPr/>
          <p:nvPr/>
        </p:nvSpPr>
        <p:spPr>
          <a:xfrm>
            <a:off x="658368" y="5650992"/>
            <a:ext cx="10874959" cy="548640"/>
          </a:xfrm>
          <a:prstGeom prst="rect">
            <a:avLst/>
          </a:prstGeom>
          <a:solidFill>
            <a:srgbClr val="102A43"/>
          </a:solidFill>
          <a:ln w="12700">
            <a:solidFill>
              <a:srgbClr val="102A43"/>
            </a:solidFill>
            <a:prstDash val="solid"/>
          </a:ln>
        </p:spPr>
      </p:sp>
      <p:sp>
        <p:nvSpPr>
          <p:cNvPr id="54" name="Text 5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Ninguna de las diez se obtiene leyendo el repositorio.</a:t>
            </a:r>
            <a:endParaRPr lang="en-US" sz="13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CÓMO SE ANIDAN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600" b="1" dirty="0">
                <a:solidFill>
                  <a:srgbClr val="243B53"/>
                </a:solidFill>
                <a:latin typeface="Aptos Display" pitchFamily="34" charset="0"/>
                <a:ea typeface="Aptos Display" pitchFamily="34" charset="-122"/>
                <a:cs typeface="Aptos Display" pitchFamily="34" charset="-120"/>
              </a:rPr>
              <a:t>No son tres documentos: es uno dentro de otro</a:t>
            </a:r>
            <a:endParaRPr lang="en-US" sz="26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estrategia es una parte del plan, y el criterio de salida vive dentro de la estrategia sin tener subcláusula propia.</a:t>
            </a:r>
            <a:endParaRPr lang="en-US" sz="1420" dirty="0"/>
          </a:p>
        </p:txBody>
      </p:sp>
      <p:sp>
        <p:nvSpPr>
          <p:cNvPr id="11" name="Shape 8"/>
          <p:cNvSpPr/>
          <p:nvPr/>
        </p:nvSpPr>
        <p:spPr>
          <a:xfrm>
            <a:off x="658368" y="2286000"/>
            <a:ext cx="5577840" cy="2743200"/>
          </a:xfrm>
          <a:prstGeom prst="rect">
            <a:avLst/>
          </a:prstGeom>
          <a:solidFill>
            <a:srgbClr val="EDE6DA"/>
          </a:solidFill>
          <a:ln w="12700">
            <a:solidFill>
              <a:srgbClr val="EDE6DA"/>
            </a:solidFill>
            <a:prstDash val="solid"/>
          </a:ln>
        </p:spPr>
      </p:sp>
      <p:sp>
        <p:nvSpPr>
          <p:cNvPr id="12" name="Text 9"/>
          <p:cNvSpPr txBox="1"/>
          <p:nvPr/>
        </p:nvSpPr>
        <p:spPr>
          <a:xfrm>
            <a:off x="896112" y="2432304"/>
            <a:ext cx="5120640" cy="219456"/>
          </a:xfrm>
          <a:prstGeom prst="rect">
            <a:avLst/>
          </a:prstGeom>
          <a:noFill/>
          <a:ln/>
        </p:spPr>
        <p:txBody>
          <a:bodyPr wrap="square" lIns="0" tIns="0" rIns="0" bIns="0" rtlCol="0" anchor="t"/>
          <a:lstStyle/>
          <a:p>
            <a:pPr algn="l" indent="0" marL="0">
              <a:buNone/>
            </a:pPr>
            <a:r>
              <a:rPr lang="en-US" sz="1020" b="1" spc="90" kern="0" dirty="0">
                <a:solidFill>
                  <a:srgbClr val="52606D"/>
                </a:solidFill>
                <a:latin typeface="Aptos" pitchFamily="34" charset="0"/>
                <a:ea typeface="Aptos" pitchFamily="34" charset="-122"/>
                <a:cs typeface="Aptos" pitchFamily="34" charset="-120"/>
              </a:rPr>
              <a:t>PLAN DE PRUEBAS · cláusula 7.2</a:t>
            </a:r>
            <a:endParaRPr lang="en-US" sz="1020" dirty="0"/>
          </a:p>
        </p:txBody>
      </p:sp>
      <p:sp>
        <p:nvSpPr>
          <p:cNvPr id="13" name="Shape 10"/>
          <p:cNvSpPr/>
          <p:nvPr/>
        </p:nvSpPr>
        <p:spPr>
          <a:xfrm>
            <a:off x="969264" y="2816352"/>
            <a:ext cx="4956048" cy="2048256"/>
          </a:xfrm>
          <a:prstGeom prst="rect">
            <a:avLst/>
          </a:prstGeom>
          <a:solidFill>
            <a:srgbClr val="FFFFFF"/>
          </a:solidFill>
          <a:ln w="12700">
            <a:solidFill>
              <a:srgbClr val="FFFFFF"/>
            </a:solidFill>
            <a:prstDash val="solid"/>
          </a:ln>
        </p:spPr>
      </p:sp>
      <p:sp>
        <p:nvSpPr>
          <p:cNvPr id="14" name="Text 11"/>
          <p:cNvSpPr txBox="1"/>
          <p:nvPr/>
        </p:nvSpPr>
        <p:spPr>
          <a:xfrm>
            <a:off x="1207008" y="2962656"/>
            <a:ext cx="4572000" cy="219456"/>
          </a:xfrm>
          <a:prstGeom prst="rect">
            <a:avLst/>
          </a:prstGeom>
          <a:noFill/>
          <a:ln/>
        </p:spPr>
        <p:txBody>
          <a:bodyPr wrap="square" lIns="0" tIns="0" rIns="0" bIns="0" rtlCol="0" anchor="t"/>
          <a:lstStyle/>
          <a:p>
            <a:pPr algn="l" indent="0" marL="0">
              <a:buNone/>
            </a:pPr>
            <a:r>
              <a:rPr lang="en-US" sz="1020" b="1" spc="90" kern="0" dirty="0">
                <a:solidFill>
                  <a:srgbClr val="102A43"/>
                </a:solidFill>
                <a:latin typeface="Aptos" pitchFamily="34" charset="0"/>
                <a:ea typeface="Aptos" pitchFamily="34" charset="-122"/>
                <a:cs typeface="Aptos" pitchFamily="34" charset="-120"/>
              </a:rPr>
              <a:t>ESTRATEGIA · cláusula 3.25</a:t>
            </a:r>
            <a:endParaRPr lang="en-US" sz="1020" dirty="0"/>
          </a:p>
        </p:txBody>
      </p:sp>
      <p:sp>
        <p:nvSpPr>
          <p:cNvPr id="15" name="Shape 12"/>
          <p:cNvSpPr/>
          <p:nvPr/>
        </p:nvSpPr>
        <p:spPr>
          <a:xfrm>
            <a:off x="1280160" y="3346704"/>
            <a:ext cx="4334256" cy="1371600"/>
          </a:xfrm>
          <a:prstGeom prst="rect">
            <a:avLst/>
          </a:prstGeom>
          <a:solidFill>
            <a:srgbClr val="F2E7D9"/>
          </a:solidFill>
          <a:ln w="12700">
            <a:solidFill>
              <a:srgbClr val="B3181E"/>
            </a:solidFill>
            <a:prstDash val="solid"/>
          </a:ln>
        </p:spPr>
      </p:sp>
      <p:sp>
        <p:nvSpPr>
          <p:cNvPr id="16" name="Text 13"/>
          <p:cNvSpPr txBox="1"/>
          <p:nvPr/>
        </p:nvSpPr>
        <p:spPr>
          <a:xfrm>
            <a:off x="1536192" y="3511296"/>
            <a:ext cx="3840480" cy="219456"/>
          </a:xfrm>
          <a:prstGeom prst="rect">
            <a:avLst/>
          </a:prstGeom>
          <a:noFill/>
          <a:ln/>
        </p:spPr>
        <p:txBody>
          <a:bodyPr wrap="square" lIns="0" tIns="0" rIns="0" bIns="0" rtlCol="0" anchor="t"/>
          <a:lstStyle/>
          <a:p>
            <a:pPr algn="l" indent="0" marL="0">
              <a:buNone/>
            </a:pPr>
            <a:r>
              <a:rPr lang="en-US" sz="1020" b="1" spc="90" kern="0" dirty="0">
                <a:solidFill>
                  <a:srgbClr val="B3181E"/>
                </a:solidFill>
                <a:latin typeface="Aptos" pitchFamily="34" charset="0"/>
                <a:ea typeface="Aptos" pitchFamily="34" charset="-122"/>
                <a:cs typeface="Aptos" pitchFamily="34" charset="-120"/>
              </a:rPr>
              <a:t>CRITERIO DE SALIDA</a:t>
            </a:r>
            <a:endParaRPr lang="en-US" sz="1020" dirty="0"/>
          </a:p>
        </p:txBody>
      </p:sp>
      <p:sp>
        <p:nvSpPr>
          <p:cNvPr id="17" name="Text 14"/>
          <p:cNvSpPr txBox="1"/>
          <p:nvPr/>
        </p:nvSpPr>
        <p:spPr>
          <a:xfrm>
            <a:off x="1536192" y="3785616"/>
            <a:ext cx="3840480" cy="329184"/>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¿Cuándo dejamos de probar?</a:t>
            </a:r>
            <a:endParaRPr lang="en-US" sz="1600" dirty="0"/>
          </a:p>
        </p:txBody>
      </p:sp>
      <p:sp>
        <p:nvSpPr>
          <p:cNvPr id="18" name="Text 15"/>
          <p:cNvSpPr txBox="1"/>
          <p:nvPr/>
        </p:nvSpPr>
        <p:spPr>
          <a:xfrm>
            <a:off x="1536192" y="4206240"/>
            <a:ext cx="3840480" cy="256032"/>
          </a:xfrm>
          <a:prstGeom prst="rect">
            <a:avLst/>
          </a:prstGeom>
          <a:noFill/>
          <a:ln/>
        </p:spPr>
        <p:txBody>
          <a:bodyPr wrap="square" lIns="0" tIns="0" rIns="0" bIns="0" rtlCol="0" anchor="t"/>
          <a:lstStyle/>
          <a:p>
            <a:pPr algn="l" indent="0" marL="0">
              <a:buNone/>
            </a:pPr>
            <a:r>
              <a:rPr lang="en-US" sz="1060" i="1" dirty="0">
                <a:solidFill>
                  <a:srgbClr val="52606D"/>
                </a:solidFill>
                <a:latin typeface="Aptos" pitchFamily="34" charset="0"/>
                <a:ea typeface="Aptos" pitchFamily="34" charset="-122"/>
                <a:cs typeface="Aptos" pitchFamily="34" charset="-120"/>
              </a:rPr>
              <a:t>La norma lo llama test completion criteria.</a:t>
            </a:r>
            <a:endParaRPr lang="en-US" sz="1060" dirty="0"/>
          </a:p>
        </p:txBody>
      </p:sp>
      <p:sp>
        <p:nvSpPr>
          <p:cNvPr id="19" name="Text 16"/>
          <p:cNvSpPr txBox="1"/>
          <p:nvPr/>
        </p:nvSpPr>
        <p:spPr>
          <a:xfrm>
            <a:off x="6547104" y="2286000"/>
            <a:ext cx="4992624"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EL MISMO CRITERIO, EN DOS VERSIONES</a:t>
            </a:r>
            <a:endParaRPr lang="en-US" sz="960" dirty="0"/>
          </a:p>
        </p:txBody>
      </p:sp>
      <p:sp>
        <p:nvSpPr>
          <p:cNvPr id="20" name="Shape 17"/>
          <p:cNvSpPr/>
          <p:nvPr/>
        </p:nvSpPr>
        <p:spPr>
          <a:xfrm>
            <a:off x="6547104" y="2596896"/>
            <a:ext cx="4992624" cy="1133856"/>
          </a:xfrm>
          <a:prstGeom prst="rect">
            <a:avLst/>
          </a:prstGeom>
          <a:solidFill>
            <a:srgbClr val="F2E7D9"/>
          </a:solidFill>
          <a:ln w="12700">
            <a:solidFill>
              <a:srgbClr val="F2E7D9"/>
            </a:solidFill>
            <a:prstDash val="solid"/>
          </a:ln>
        </p:spPr>
      </p:sp>
      <p:sp>
        <p:nvSpPr>
          <p:cNvPr id="21" name="Shape 18"/>
          <p:cNvSpPr/>
          <p:nvPr/>
        </p:nvSpPr>
        <p:spPr>
          <a:xfrm>
            <a:off x="6547104" y="2596896"/>
            <a:ext cx="54864" cy="1133856"/>
          </a:xfrm>
          <a:prstGeom prst="rect">
            <a:avLst/>
          </a:prstGeom>
          <a:solidFill>
            <a:srgbClr val="B3181E"/>
          </a:solidFill>
          <a:ln w="12700">
            <a:solidFill>
              <a:srgbClr val="B3181E"/>
            </a:solidFill>
            <a:prstDash val="solid"/>
          </a:ln>
        </p:spPr>
      </p:sp>
      <p:sp>
        <p:nvSpPr>
          <p:cNvPr id="22" name="Text 19"/>
          <p:cNvSpPr txBox="1"/>
          <p:nvPr/>
        </p:nvSpPr>
        <p:spPr>
          <a:xfrm>
            <a:off x="6803136" y="2724912"/>
            <a:ext cx="1828800" cy="182880"/>
          </a:xfrm>
          <a:prstGeom prst="rect">
            <a:avLst/>
          </a:prstGeom>
          <a:noFill/>
          <a:ln/>
        </p:spPr>
        <p:txBody>
          <a:bodyPr wrap="square" lIns="0" tIns="0" rIns="0" bIns="0" rtlCol="0" anchor="t"/>
          <a:lstStyle/>
          <a:p>
            <a:pPr algn="l" indent="0" marL="0">
              <a:buNone/>
            </a:pPr>
            <a:r>
              <a:rPr lang="en-US" sz="900" b="1" spc="100" kern="0" dirty="0">
                <a:solidFill>
                  <a:srgbClr val="B3181E"/>
                </a:solidFill>
                <a:latin typeface="Aptos" pitchFamily="34" charset="0"/>
                <a:ea typeface="Aptos" pitchFamily="34" charset="-122"/>
                <a:cs typeface="Aptos" pitchFamily="34" charset="-120"/>
              </a:rPr>
              <a:t>NO SIRVE</a:t>
            </a:r>
            <a:endParaRPr lang="en-US" sz="900" dirty="0"/>
          </a:p>
        </p:txBody>
      </p:sp>
      <p:sp>
        <p:nvSpPr>
          <p:cNvPr id="23" name="Text 20"/>
          <p:cNvSpPr txBox="1"/>
          <p:nvPr/>
        </p:nvSpPr>
        <p:spPr>
          <a:xfrm>
            <a:off x="6803136" y="2944368"/>
            <a:ext cx="4480560" cy="384048"/>
          </a:xfrm>
          <a:prstGeom prst="rect">
            <a:avLst/>
          </a:prstGeom>
          <a:noFill/>
          <a:ln/>
        </p:spPr>
        <p:txBody>
          <a:bodyPr wrap="square" lIns="0" tIns="0" rIns="0" bIns="0" rtlCol="0" anchor="t"/>
          <a:lstStyle/>
          <a:p>
            <a:pPr algn="l" indent="0" marL="0">
              <a:lnSpc>
                <a:spcPct val="108000"/>
              </a:lnSpc>
              <a:buNone/>
            </a:pPr>
            <a:r>
              <a:rPr lang="en-US" sz="1260" b="1" dirty="0">
                <a:solidFill>
                  <a:srgbClr val="243B53"/>
                </a:solidFill>
                <a:latin typeface="Aptos" pitchFamily="34" charset="0"/>
                <a:ea typeface="Aptos" pitchFamily="34" charset="-122"/>
                <a:cs typeface="Aptos" pitchFamily="34" charset="-120"/>
              </a:rPr>
              <a:t>«Cuando esté bien probado»</a:t>
            </a:r>
            <a:endParaRPr lang="en-US" sz="1260" dirty="0"/>
          </a:p>
        </p:txBody>
      </p:sp>
      <p:sp>
        <p:nvSpPr>
          <p:cNvPr id="24" name="Text 21"/>
          <p:cNvSpPr txBox="1"/>
          <p:nvPr/>
        </p:nvSpPr>
        <p:spPr>
          <a:xfrm>
            <a:off x="6803136" y="3419856"/>
            <a:ext cx="4480560" cy="237744"/>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No se contesta con un número, así que nadie puede discrepar.</a:t>
            </a:r>
            <a:endParaRPr lang="en-US" sz="1020" dirty="0"/>
          </a:p>
        </p:txBody>
      </p:sp>
      <p:sp>
        <p:nvSpPr>
          <p:cNvPr id="25" name="Shape 22"/>
          <p:cNvSpPr/>
          <p:nvPr/>
        </p:nvSpPr>
        <p:spPr>
          <a:xfrm>
            <a:off x="6547104" y="3785616"/>
            <a:ext cx="4992624" cy="1133856"/>
          </a:xfrm>
          <a:prstGeom prst="rect">
            <a:avLst/>
          </a:prstGeom>
          <a:solidFill>
            <a:srgbClr val="FFFFFF"/>
          </a:solidFill>
          <a:ln w="12700">
            <a:solidFill>
              <a:srgbClr val="FFFFFF"/>
            </a:solidFill>
            <a:prstDash val="solid"/>
          </a:ln>
        </p:spPr>
      </p:sp>
      <p:sp>
        <p:nvSpPr>
          <p:cNvPr id="26" name="Shape 23"/>
          <p:cNvSpPr/>
          <p:nvPr/>
        </p:nvSpPr>
        <p:spPr>
          <a:xfrm>
            <a:off x="6547104" y="3785616"/>
            <a:ext cx="54864" cy="1133856"/>
          </a:xfrm>
          <a:prstGeom prst="rect">
            <a:avLst/>
          </a:prstGeom>
          <a:solidFill>
            <a:srgbClr val="2E7D4F"/>
          </a:solidFill>
          <a:ln w="12700">
            <a:solidFill>
              <a:srgbClr val="2E7D4F"/>
            </a:solidFill>
            <a:prstDash val="solid"/>
          </a:ln>
        </p:spPr>
      </p:sp>
      <p:sp>
        <p:nvSpPr>
          <p:cNvPr id="27" name="Text 24"/>
          <p:cNvSpPr txBox="1"/>
          <p:nvPr/>
        </p:nvSpPr>
        <p:spPr>
          <a:xfrm>
            <a:off x="6803136" y="3913632"/>
            <a:ext cx="1828800" cy="182880"/>
          </a:xfrm>
          <a:prstGeom prst="rect">
            <a:avLst/>
          </a:prstGeom>
          <a:noFill/>
          <a:ln/>
        </p:spPr>
        <p:txBody>
          <a:bodyPr wrap="square" lIns="0" tIns="0" rIns="0" bIns="0" rtlCol="0" anchor="t"/>
          <a:lstStyle/>
          <a:p>
            <a:pPr algn="l" indent="0" marL="0">
              <a:buNone/>
            </a:pPr>
            <a:r>
              <a:rPr lang="en-US" sz="900" b="1" spc="100" kern="0" dirty="0">
                <a:solidFill>
                  <a:srgbClr val="2E7D4F"/>
                </a:solidFill>
                <a:latin typeface="Aptos" pitchFamily="34" charset="0"/>
                <a:ea typeface="Aptos" pitchFamily="34" charset="-122"/>
                <a:cs typeface="Aptos" pitchFamily="34" charset="-120"/>
              </a:rPr>
              <a:t>SÍ SIRVE</a:t>
            </a:r>
            <a:endParaRPr lang="en-US" sz="900" dirty="0"/>
          </a:p>
        </p:txBody>
      </p:sp>
      <p:sp>
        <p:nvSpPr>
          <p:cNvPr id="28" name="Text 25"/>
          <p:cNvSpPr txBox="1"/>
          <p:nvPr/>
        </p:nvSpPr>
        <p:spPr>
          <a:xfrm>
            <a:off x="6803136" y="4133088"/>
            <a:ext cx="4480560" cy="384048"/>
          </a:xfrm>
          <a:prstGeom prst="rect">
            <a:avLst/>
          </a:prstGeom>
          <a:noFill/>
          <a:ln/>
        </p:spPr>
        <p:txBody>
          <a:bodyPr wrap="square" lIns="0" tIns="0" rIns="0" bIns="0" rtlCol="0" anchor="t"/>
          <a:lstStyle/>
          <a:p>
            <a:pPr algn="l" indent="0" marL="0">
              <a:lnSpc>
                <a:spcPct val="108000"/>
              </a:lnSpc>
              <a:buNone/>
            </a:pPr>
            <a:r>
              <a:rPr lang="en-US" sz="1260" b="1" dirty="0">
                <a:solidFill>
                  <a:srgbClr val="243B53"/>
                </a:solidFill>
                <a:latin typeface="Aptos" pitchFamily="34" charset="0"/>
                <a:ea typeface="Aptos" pitchFamily="34" charset="-122"/>
                <a:cs typeface="Aptos" pitchFamily="34" charset="-120"/>
              </a:rPr>
              <a:t>«Cuando todo riesgo de nivel 6 o más tenga un caso ejecutado»</a:t>
            </a:r>
            <a:endParaRPr lang="en-US" sz="1260" dirty="0"/>
          </a:p>
        </p:txBody>
      </p:sp>
      <p:sp>
        <p:nvSpPr>
          <p:cNvPr id="29" name="Text 26"/>
          <p:cNvSpPr txBox="1"/>
          <p:nvPr/>
        </p:nvSpPr>
        <p:spPr>
          <a:xfrm>
            <a:off x="6803136" y="4608576"/>
            <a:ext cx="4480560" cy="237744"/>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Tiene magnitud, método y umbral.</a:t>
            </a:r>
            <a:endParaRPr lang="en-US" sz="1020" dirty="0"/>
          </a:p>
        </p:txBody>
      </p:sp>
      <p:sp>
        <p:nvSpPr>
          <p:cNvPr id="30" name="Shape 27"/>
          <p:cNvSpPr/>
          <p:nvPr/>
        </p:nvSpPr>
        <p:spPr>
          <a:xfrm>
            <a:off x="658368" y="5650992"/>
            <a:ext cx="10874959" cy="548640"/>
          </a:xfrm>
          <a:prstGeom prst="rect">
            <a:avLst/>
          </a:prstGeom>
          <a:solidFill>
            <a:srgbClr val="102A43"/>
          </a:solidFill>
          <a:ln w="12700">
            <a:solidFill>
              <a:srgbClr val="102A43"/>
            </a:solidFill>
            <a:prstDash val="solid"/>
          </a:ln>
        </p:spPr>
      </p:sp>
      <p:sp>
        <p:nvSpPr>
          <p:cNvPr id="31" name="Text 2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Sin criterio de salida, probar termina cuando se acaba el tiempo.</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CUÁNTO HAY QUE APLICAR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Recortar es legítimo. Recortar en silencio, no</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Diez subcláusulas para un proyecto de cinco archivos son desproporcionadas. La norma lo anticipa con dos caminos.</a:t>
            </a:r>
            <a:endParaRPr lang="en-US" sz="1420" dirty="0"/>
          </a:p>
        </p:txBody>
      </p:sp>
      <p:sp>
        <p:nvSpPr>
          <p:cNvPr id="11" name="Shape 8"/>
          <p:cNvSpPr/>
          <p:nvPr/>
        </p:nvSpPr>
        <p:spPr>
          <a:xfrm>
            <a:off x="658368" y="2231136"/>
            <a:ext cx="3539642" cy="512064"/>
          </a:xfrm>
          <a:prstGeom prst="rect">
            <a:avLst/>
          </a:prstGeom>
          <a:solidFill>
            <a:srgbClr val="EDE6DA"/>
          </a:solidFill>
          <a:ln w="12700">
            <a:solidFill>
              <a:srgbClr val="EDE6DA"/>
            </a:solidFill>
            <a:prstDash val="solid"/>
          </a:ln>
        </p:spPr>
      </p:sp>
      <p:sp>
        <p:nvSpPr>
          <p:cNvPr id="12" name="Shape 9"/>
          <p:cNvSpPr/>
          <p:nvPr/>
        </p:nvSpPr>
        <p:spPr>
          <a:xfrm>
            <a:off x="658368" y="2231136"/>
            <a:ext cx="54864" cy="512064"/>
          </a:xfrm>
          <a:prstGeom prst="rect">
            <a:avLst/>
          </a:prstGeom>
          <a:solidFill>
            <a:srgbClr val="B3181E"/>
          </a:solidFill>
          <a:ln w="12700">
            <a:solidFill>
              <a:srgbClr val="B3181E"/>
            </a:solidFill>
            <a:prstDash val="solid"/>
          </a:ln>
        </p:spPr>
      </p:sp>
      <p:sp>
        <p:nvSpPr>
          <p:cNvPr id="13" name="Text 10"/>
          <p:cNvSpPr txBox="1"/>
          <p:nvPr/>
        </p:nvSpPr>
        <p:spPr>
          <a:xfrm>
            <a:off x="896112" y="2340864"/>
            <a:ext cx="1371600" cy="274320"/>
          </a:xfrm>
          <a:prstGeom prst="rect">
            <a:avLst/>
          </a:prstGeom>
          <a:noFill/>
          <a:ln/>
        </p:spPr>
        <p:txBody>
          <a:bodyPr wrap="square" lIns="0" tIns="0" rIns="0" bIns="0" rtlCol="0" anchor="t"/>
          <a:lstStyle/>
          <a:p>
            <a:pPr algn="l" indent="0" marL="0">
              <a:buNone/>
            </a:pPr>
            <a:r>
              <a:rPr lang="en-US" sz="1500" b="1" dirty="0">
                <a:solidFill>
                  <a:srgbClr val="B3181E"/>
                </a:solidFill>
                <a:latin typeface="Consolas" pitchFamily="34" charset="0"/>
                <a:ea typeface="Consolas" pitchFamily="34" charset="-122"/>
                <a:cs typeface="Consolas" pitchFamily="34" charset="-120"/>
              </a:rPr>
              <a:t>shall</a:t>
            </a:r>
            <a:endParaRPr lang="en-US" sz="1500" dirty="0"/>
          </a:p>
        </p:txBody>
      </p:sp>
      <p:sp>
        <p:nvSpPr>
          <p:cNvPr id="14" name="Text 11"/>
          <p:cNvSpPr txBox="1"/>
          <p:nvPr/>
        </p:nvSpPr>
        <p:spPr>
          <a:xfrm>
            <a:off x="2359152" y="2359152"/>
            <a:ext cx="1619402" cy="237744"/>
          </a:xfrm>
          <a:prstGeom prst="rect">
            <a:avLst/>
          </a:prstGeom>
          <a:noFill/>
          <a:ln/>
        </p:spPr>
        <p:txBody>
          <a:bodyPr wrap="square" lIns="0" tIns="0" rIns="0" bIns="0" rtlCol="0" anchor="t"/>
          <a:lstStyle/>
          <a:p>
            <a:pPr algn="l" indent="0" marL="0">
              <a:buNone/>
            </a:pPr>
            <a:r>
              <a:rPr lang="en-US" sz="1180" dirty="0">
                <a:solidFill>
                  <a:srgbClr val="243B53"/>
                </a:solidFill>
                <a:latin typeface="Aptos" pitchFamily="34" charset="0"/>
                <a:ea typeface="Aptos" pitchFamily="34" charset="-122"/>
                <a:cs typeface="Aptos" pitchFamily="34" charset="-120"/>
              </a:rPr>
              <a:t>Exigencia</a:t>
            </a:r>
            <a:endParaRPr lang="en-US" sz="1180" dirty="0"/>
          </a:p>
        </p:txBody>
      </p:sp>
      <p:sp>
        <p:nvSpPr>
          <p:cNvPr id="15" name="Shape 12"/>
          <p:cNvSpPr/>
          <p:nvPr/>
        </p:nvSpPr>
        <p:spPr>
          <a:xfrm>
            <a:off x="4326026" y="2231136"/>
            <a:ext cx="3539642" cy="512064"/>
          </a:xfrm>
          <a:prstGeom prst="rect">
            <a:avLst/>
          </a:prstGeom>
          <a:solidFill>
            <a:srgbClr val="EDE6DA"/>
          </a:solidFill>
          <a:ln w="12700">
            <a:solidFill>
              <a:srgbClr val="EDE6DA"/>
            </a:solidFill>
            <a:prstDash val="solid"/>
          </a:ln>
        </p:spPr>
      </p:sp>
      <p:sp>
        <p:nvSpPr>
          <p:cNvPr id="16" name="Shape 13"/>
          <p:cNvSpPr/>
          <p:nvPr/>
        </p:nvSpPr>
        <p:spPr>
          <a:xfrm>
            <a:off x="4326026" y="2231136"/>
            <a:ext cx="54864" cy="512064"/>
          </a:xfrm>
          <a:prstGeom prst="rect">
            <a:avLst/>
          </a:prstGeom>
          <a:solidFill>
            <a:srgbClr val="8A6A12"/>
          </a:solidFill>
          <a:ln w="12700">
            <a:solidFill>
              <a:srgbClr val="8A6A12"/>
            </a:solidFill>
            <a:prstDash val="solid"/>
          </a:ln>
        </p:spPr>
      </p:sp>
      <p:sp>
        <p:nvSpPr>
          <p:cNvPr id="17" name="Text 14"/>
          <p:cNvSpPr txBox="1"/>
          <p:nvPr/>
        </p:nvSpPr>
        <p:spPr>
          <a:xfrm>
            <a:off x="4563770" y="2340864"/>
            <a:ext cx="1371600" cy="274320"/>
          </a:xfrm>
          <a:prstGeom prst="rect">
            <a:avLst/>
          </a:prstGeom>
          <a:noFill/>
          <a:ln/>
        </p:spPr>
        <p:txBody>
          <a:bodyPr wrap="square" lIns="0" tIns="0" rIns="0" bIns="0" rtlCol="0" anchor="t"/>
          <a:lstStyle/>
          <a:p>
            <a:pPr algn="l" indent="0" marL="0">
              <a:buNone/>
            </a:pPr>
            <a:r>
              <a:rPr lang="en-US" sz="1500" b="1" dirty="0">
                <a:solidFill>
                  <a:srgbClr val="8A6A12"/>
                </a:solidFill>
                <a:latin typeface="Consolas" pitchFamily="34" charset="0"/>
                <a:ea typeface="Consolas" pitchFamily="34" charset="-122"/>
                <a:cs typeface="Consolas" pitchFamily="34" charset="-120"/>
              </a:rPr>
              <a:t>should</a:t>
            </a:r>
            <a:endParaRPr lang="en-US" sz="1500" dirty="0"/>
          </a:p>
        </p:txBody>
      </p:sp>
      <p:sp>
        <p:nvSpPr>
          <p:cNvPr id="18" name="Text 15"/>
          <p:cNvSpPr txBox="1"/>
          <p:nvPr/>
        </p:nvSpPr>
        <p:spPr>
          <a:xfrm>
            <a:off x="6026810" y="2359152"/>
            <a:ext cx="1619402" cy="237744"/>
          </a:xfrm>
          <a:prstGeom prst="rect">
            <a:avLst/>
          </a:prstGeom>
          <a:noFill/>
          <a:ln/>
        </p:spPr>
        <p:txBody>
          <a:bodyPr wrap="square" lIns="0" tIns="0" rIns="0" bIns="0" rtlCol="0" anchor="t"/>
          <a:lstStyle/>
          <a:p>
            <a:pPr algn="l" indent="0" marL="0">
              <a:buNone/>
            </a:pPr>
            <a:r>
              <a:rPr lang="en-US" sz="1180" dirty="0">
                <a:solidFill>
                  <a:srgbClr val="243B53"/>
                </a:solidFill>
                <a:latin typeface="Aptos" pitchFamily="34" charset="0"/>
                <a:ea typeface="Aptos" pitchFamily="34" charset="-122"/>
                <a:cs typeface="Aptos" pitchFamily="34" charset="-120"/>
              </a:rPr>
              <a:t>Recomendación</a:t>
            </a:r>
            <a:endParaRPr lang="en-US" sz="1180" dirty="0"/>
          </a:p>
        </p:txBody>
      </p:sp>
      <p:sp>
        <p:nvSpPr>
          <p:cNvPr id="19" name="Shape 16"/>
          <p:cNvSpPr/>
          <p:nvPr/>
        </p:nvSpPr>
        <p:spPr>
          <a:xfrm>
            <a:off x="7993685" y="2231136"/>
            <a:ext cx="3539642" cy="512064"/>
          </a:xfrm>
          <a:prstGeom prst="rect">
            <a:avLst/>
          </a:prstGeom>
          <a:solidFill>
            <a:srgbClr val="EDE6DA"/>
          </a:solidFill>
          <a:ln w="12700">
            <a:solidFill>
              <a:srgbClr val="EDE6DA"/>
            </a:solidFill>
            <a:prstDash val="solid"/>
          </a:ln>
        </p:spPr>
      </p:sp>
      <p:sp>
        <p:nvSpPr>
          <p:cNvPr id="20" name="Shape 17"/>
          <p:cNvSpPr/>
          <p:nvPr/>
        </p:nvSpPr>
        <p:spPr>
          <a:xfrm>
            <a:off x="7993685" y="2231136"/>
            <a:ext cx="54864" cy="512064"/>
          </a:xfrm>
          <a:prstGeom prst="rect">
            <a:avLst/>
          </a:prstGeom>
          <a:solidFill>
            <a:srgbClr val="2E7D4F"/>
          </a:solidFill>
          <a:ln w="12700">
            <a:solidFill>
              <a:srgbClr val="2E7D4F"/>
            </a:solidFill>
            <a:prstDash val="solid"/>
          </a:ln>
        </p:spPr>
      </p:sp>
      <p:sp>
        <p:nvSpPr>
          <p:cNvPr id="21" name="Text 18"/>
          <p:cNvSpPr txBox="1"/>
          <p:nvPr/>
        </p:nvSpPr>
        <p:spPr>
          <a:xfrm>
            <a:off x="8231429" y="2340864"/>
            <a:ext cx="1371600" cy="274320"/>
          </a:xfrm>
          <a:prstGeom prst="rect">
            <a:avLst/>
          </a:prstGeom>
          <a:noFill/>
          <a:ln/>
        </p:spPr>
        <p:txBody>
          <a:bodyPr wrap="square" lIns="0" tIns="0" rIns="0" bIns="0" rtlCol="0" anchor="t"/>
          <a:lstStyle/>
          <a:p>
            <a:pPr algn="l" indent="0" marL="0">
              <a:buNone/>
            </a:pPr>
            <a:r>
              <a:rPr lang="en-US" sz="1500" b="1" dirty="0">
                <a:solidFill>
                  <a:srgbClr val="2E7D4F"/>
                </a:solidFill>
                <a:latin typeface="Consolas" pitchFamily="34" charset="0"/>
                <a:ea typeface="Consolas" pitchFamily="34" charset="-122"/>
                <a:cs typeface="Consolas" pitchFamily="34" charset="-120"/>
              </a:rPr>
              <a:t>may</a:t>
            </a:r>
            <a:endParaRPr lang="en-US" sz="1500" dirty="0"/>
          </a:p>
        </p:txBody>
      </p:sp>
      <p:sp>
        <p:nvSpPr>
          <p:cNvPr id="22" name="Text 19"/>
          <p:cNvSpPr txBox="1"/>
          <p:nvPr/>
        </p:nvSpPr>
        <p:spPr>
          <a:xfrm>
            <a:off x="9694469" y="2359152"/>
            <a:ext cx="1619402" cy="237744"/>
          </a:xfrm>
          <a:prstGeom prst="rect">
            <a:avLst/>
          </a:prstGeom>
          <a:noFill/>
          <a:ln/>
        </p:spPr>
        <p:txBody>
          <a:bodyPr wrap="square" lIns="0" tIns="0" rIns="0" bIns="0" rtlCol="0" anchor="t"/>
          <a:lstStyle/>
          <a:p>
            <a:pPr algn="l" indent="0" marL="0">
              <a:buNone/>
            </a:pPr>
            <a:r>
              <a:rPr lang="en-US" sz="1180" dirty="0">
                <a:solidFill>
                  <a:srgbClr val="243B53"/>
                </a:solidFill>
                <a:latin typeface="Aptos" pitchFamily="34" charset="0"/>
                <a:ea typeface="Aptos" pitchFamily="34" charset="-122"/>
                <a:cs typeface="Aptos" pitchFamily="34" charset="-120"/>
              </a:rPr>
              <a:t>Permiso</a:t>
            </a:r>
            <a:endParaRPr lang="en-US" sz="1180" dirty="0"/>
          </a:p>
        </p:txBody>
      </p:sp>
      <p:sp>
        <p:nvSpPr>
          <p:cNvPr id="23" name="Shape 20"/>
          <p:cNvSpPr/>
          <p:nvPr/>
        </p:nvSpPr>
        <p:spPr>
          <a:xfrm>
            <a:off x="658368" y="2834640"/>
            <a:ext cx="45720" cy="182880"/>
          </a:xfrm>
          <a:prstGeom prst="rect">
            <a:avLst/>
          </a:prstGeom>
          <a:solidFill>
            <a:srgbClr val="8A6A12"/>
          </a:solidFill>
          <a:ln w="12700">
            <a:solidFill>
              <a:srgbClr val="8A6A12"/>
            </a:solidFill>
            <a:prstDash val="solid"/>
          </a:ln>
        </p:spPr>
      </p:sp>
      <p:sp>
        <p:nvSpPr>
          <p:cNvPr id="24" name="Text 21"/>
          <p:cNvSpPr txBox="1"/>
          <p:nvPr/>
        </p:nvSpPr>
        <p:spPr>
          <a:xfrm>
            <a:off x="804672" y="2825496"/>
            <a:ext cx="1024128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Los tres verbos con que la norma marca qué es obligatorio, qué se recomienda y qué se permite.</a:t>
            </a:r>
            <a:endParaRPr lang="en-US" sz="880" dirty="0"/>
          </a:p>
        </p:txBody>
      </p:sp>
      <p:sp>
        <p:nvSpPr>
          <p:cNvPr id="25" name="Shape 22"/>
          <p:cNvSpPr/>
          <p:nvPr/>
        </p:nvSpPr>
        <p:spPr>
          <a:xfrm>
            <a:off x="658368" y="3145536"/>
            <a:ext cx="5349240" cy="1371600"/>
          </a:xfrm>
          <a:prstGeom prst="rect">
            <a:avLst/>
          </a:prstGeom>
          <a:solidFill>
            <a:srgbClr val="FFFFFF"/>
          </a:solidFill>
          <a:ln w="12700">
            <a:solidFill>
              <a:srgbClr val="FFFFFF"/>
            </a:solidFill>
            <a:prstDash val="solid"/>
          </a:ln>
        </p:spPr>
      </p:sp>
      <p:sp>
        <p:nvSpPr>
          <p:cNvPr id="26" name="Shape 23"/>
          <p:cNvSpPr/>
          <p:nvPr/>
        </p:nvSpPr>
        <p:spPr>
          <a:xfrm>
            <a:off x="658368" y="3145536"/>
            <a:ext cx="5349240" cy="54864"/>
          </a:xfrm>
          <a:prstGeom prst="rect">
            <a:avLst/>
          </a:prstGeom>
          <a:solidFill>
            <a:srgbClr val="102A43"/>
          </a:solidFill>
          <a:ln w="12700">
            <a:solidFill>
              <a:srgbClr val="102A43"/>
            </a:solidFill>
            <a:prstDash val="solid"/>
          </a:ln>
        </p:spPr>
      </p:sp>
      <p:sp>
        <p:nvSpPr>
          <p:cNvPr id="27" name="Text 24"/>
          <p:cNvSpPr txBox="1"/>
          <p:nvPr/>
        </p:nvSpPr>
        <p:spPr>
          <a:xfrm>
            <a:off x="914400" y="3310128"/>
            <a:ext cx="4846320" cy="292608"/>
          </a:xfrm>
          <a:prstGeom prst="rect">
            <a:avLst/>
          </a:prstGeom>
          <a:noFill/>
          <a:ln/>
        </p:spPr>
        <p:txBody>
          <a:bodyPr wrap="square" lIns="0" tIns="0" rIns="0" bIns="0" rtlCol="0" anchor="t"/>
          <a:lstStyle/>
          <a:p>
            <a:pPr algn="l" indent="0" marL="0">
              <a:buNone/>
            </a:pPr>
            <a:r>
              <a:rPr lang="en-US" sz="1650" b="1" dirty="0">
                <a:solidFill>
                  <a:srgbClr val="102A43"/>
                </a:solidFill>
                <a:latin typeface="Aptos" pitchFamily="34" charset="0"/>
                <a:ea typeface="Aptos" pitchFamily="34" charset="-122"/>
                <a:cs typeface="Aptos" pitchFamily="34" charset="-120"/>
              </a:rPr>
              <a:t>Conformidad completa</a:t>
            </a:r>
            <a:endParaRPr lang="en-US" sz="1650" dirty="0"/>
          </a:p>
        </p:txBody>
      </p:sp>
      <p:sp>
        <p:nvSpPr>
          <p:cNvPr id="28" name="Text 25"/>
          <p:cNvSpPr txBox="1"/>
          <p:nvPr/>
        </p:nvSpPr>
        <p:spPr>
          <a:xfrm>
            <a:off x="914400" y="3657600"/>
            <a:ext cx="4846320" cy="237744"/>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Se cumplen todos los requisitos de las cláusulas 5 a 8.</a:t>
            </a:r>
            <a:endParaRPr lang="en-US" sz="1140" dirty="0"/>
          </a:p>
        </p:txBody>
      </p:sp>
      <p:sp>
        <p:nvSpPr>
          <p:cNvPr id="29" name="Shape 26"/>
          <p:cNvSpPr/>
          <p:nvPr/>
        </p:nvSpPr>
        <p:spPr>
          <a:xfrm>
            <a:off x="6181344" y="3145536"/>
            <a:ext cx="5349240" cy="1371600"/>
          </a:xfrm>
          <a:prstGeom prst="rect">
            <a:avLst/>
          </a:prstGeom>
          <a:solidFill>
            <a:srgbClr val="F2E7D9"/>
          </a:solidFill>
          <a:ln w="12700">
            <a:solidFill>
              <a:srgbClr val="F2E7D9"/>
            </a:solidFill>
            <a:prstDash val="solid"/>
          </a:ln>
        </p:spPr>
      </p:sp>
      <p:sp>
        <p:nvSpPr>
          <p:cNvPr id="30" name="Shape 27"/>
          <p:cNvSpPr/>
          <p:nvPr/>
        </p:nvSpPr>
        <p:spPr>
          <a:xfrm>
            <a:off x="6181344" y="3145536"/>
            <a:ext cx="5349240" cy="54864"/>
          </a:xfrm>
          <a:prstGeom prst="rect">
            <a:avLst/>
          </a:prstGeom>
          <a:solidFill>
            <a:srgbClr val="B3181E"/>
          </a:solidFill>
          <a:ln w="12700">
            <a:solidFill>
              <a:srgbClr val="B3181E"/>
            </a:solidFill>
            <a:prstDash val="solid"/>
          </a:ln>
        </p:spPr>
      </p:sp>
      <p:sp>
        <p:nvSpPr>
          <p:cNvPr id="31" name="Text 28"/>
          <p:cNvSpPr txBox="1"/>
          <p:nvPr/>
        </p:nvSpPr>
        <p:spPr>
          <a:xfrm>
            <a:off x="6437376" y="3310128"/>
            <a:ext cx="4846320" cy="292608"/>
          </a:xfrm>
          <a:prstGeom prst="rect">
            <a:avLst/>
          </a:prstGeom>
          <a:noFill/>
          <a:ln/>
        </p:spPr>
        <p:txBody>
          <a:bodyPr wrap="square" lIns="0" tIns="0" rIns="0" bIns="0" rtlCol="0" anchor="t"/>
          <a:lstStyle/>
          <a:p>
            <a:pPr algn="l" indent="0" marL="0">
              <a:buNone/>
            </a:pPr>
            <a:r>
              <a:rPr lang="en-US" sz="1650" b="1" dirty="0">
                <a:solidFill>
                  <a:srgbClr val="B3181E"/>
                </a:solidFill>
                <a:latin typeface="Aptos" pitchFamily="34" charset="0"/>
                <a:ea typeface="Aptos" pitchFamily="34" charset="-122"/>
                <a:cs typeface="Aptos" pitchFamily="34" charset="-120"/>
              </a:rPr>
              <a:t>Conformidad adaptada</a:t>
            </a:r>
            <a:endParaRPr lang="en-US" sz="1650" dirty="0"/>
          </a:p>
        </p:txBody>
      </p:sp>
      <p:sp>
        <p:nvSpPr>
          <p:cNvPr id="32" name="Text 29"/>
          <p:cNvSpPr txBox="1"/>
          <p:nvPr/>
        </p:nvSpPr>
        <p:spPr>
          <a:xfrm>
            <a:off x="6437376" y="3657600"/>
            <a:ext cx="4846320" cy="237744"/>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Permitida. Y viene con dos exigencias, las dos escritas con shall.</a:t>
            </a:r>
            <a:endParaRPr lang="en-US" sz="1140" dirty="0"/>
          </a:p>
        </p:txBody>
      </p:sp>
      <p:sp>
        <p:nvSpPr>
          <p:cNvPr id="33" name="Text 30"/>
          <p:cNvSpPr txBox="1"/>
          <p:nvPr/>
        </p:nvSpPr>
        <p:spPr>
          <a:xfrm>
            <a:off x="6437376" y="3968496"/>
            <a:ext cx="4846320" cy="237744"/>
          </a:xfrm>
          <a:prstGeom prst="rect">
            <a:avLst/>
          </a:prstGeom>
          <a:noFill/>
          <a:ln/>
        </p:spPr>
        <p:txBody>
          <a:bodyPr wrap="square" lIns="0" tIns="0" rIns="0" bIns="0" rtlCol="0" anchor="t"/>
          <a:lstStyle/>
          <a:p>
            <a:pPr algn="l" indent="0" marL="0">
              <a:buNone/>
            </a:pPr>
            <a:r>
              <a:rPr lang="en-US" sz="1100" b="1" dirty="0">
                <a:solidFill>
                  <a:srgbClr val="243B53"/>
                </a:solidFill>
                <a:latin typeface="Aptos" pitchFamily="34" charset="0"/>
                <a:ea typeface="Aptos" pitchFamily="34" charset="-122"/>
                <a:cs typeface="Aptos" pitchFamily="34" charset="-120"/>
              </a:rPr>
              <a:t>1 · Registrar qué subconjunto sí se aplica</a:t>
            </a:r>
            <a:endParaRPr lang="en-US" sz="1100" dirty="0"/>
          </a:p>
        </p:txBody>
      </p:sp>
      <p:sp>
        <p:nvSpPr>
          <p:cNvPr id="34" name="Text 31"/>
          <p:cNvSpPr txBox="1"/>
          <p:nvPr/>
        </p:nvSpPr>
        <p:spPr>
          <a:xfrm>
            <a:off x="6437376" y="4242816"/>
            <a:ext cx="4846320" cy="237744"/>
          </a:xfrm>
          <a:prstGeom prst="rect">
            <a:avLst/>
          </a:prstGeom>
          <a:noFill/>
          <a:ln/>
        </p:spPr>
        <p:txBody>
          <a:bodyPr wrap="square" lIns="0" tIns="0" rIns="0" bIns="0" rtlCol="0" anchor="t"/>
          <a:lstStyle/>
          <a:p>
            <a:pPr algn="l" indent="0" marL="0">
              <a:buNone/>
            </a:pPr>
            <a:r>
              <a:rPr lang="en-US" sz="1100" b="1" dirty="0">
                <a:solidFill>
                  <a:srgbClr val="243B53"/>
                </a:solidFill>
                <a:latin typeface="Aptos" pitchFamily="34" charset="0"/>
                <a:ea typeface="Aptos" pitchFamily="34" charset="-122"/>
                <a:cs typeface="Aptos" pitchFamily="34" charset="-120"/>
              </a:rPr>
              <a:t>2 · Justificar cada recorte</a:t>
            </a:r>
            <a:endParaRPr lang="en-US" sz="1100" dirty="0"/>
          </a:p>
        </p:txBody>
      </p:sp>
      <p:sp>
        <p:nvSpPr>
          <p:cNvPr id="35" name="Shape 32"/>
          <p:cNvSpPr/>
          <p:nvPr/>
        </p:nvSpPr>
        <p:spPr>
          <a:xfrm>
            <a:off x="658368" y="4608576"/>
            <a:ext cx="10874959" cy="950976"/>
          </a:xfrm>
          <a:prstGeom prst="rect">
            <a:avLst/>
          </a:prstGeom>
          <a:solidFill>
            <a:srgbClr val="EDE6DA"/>
          </a:solidFill>
          <a:ln w="12700">
            <a:solidFill>
              <a:srgbClr val="EDE6DA"/>
            </a:solidFill>
            <a:prstDash val="solid"/>
          </a:ln>
        </p:spPr>
      </p:sp>
      <p:sp>
        <p:nvSpPr>
          <p:cNvPr id="36" name="Shape 33"/>
          <p:cNvSpPr/>
          <p:nvPr/>
        </p:nvSpPr>
        <p:spPr>
          <a:xfrm>
            <a:off x="658368" y="4608576"/>
            <a:ext cx="54864" cy="950976"/>
          </a:xfrm>
          <a:prstGeom prst="rect">
            <a:avLst/>
          </a:prstGeom>
          <a:solidFill>
            <a:srgbClr val="B3181E"/>
          </a:solidFill>
          <a:ln w="12700">
            <a:solidFill>
              <a:srgbClr val="B3181E"/>
            </a:solidFill>
            <a:prstDash val="solid"/>
          </a:ln>
        </p:spPr>
      </p:sp>
      <p:sp>
        <p:nvSpPr>
          <p:cNvPr id="37" name="Text 34"/>
          <p:cNvSpPr txBox="1"/>
          <p:nvPr/>
        </p:nvSpPr>
        <p:spPr>
          <a:xfrm>
            <a:off x="914400" y="4736592"/>
            <a:ext cx="10362895" cy="512064"/>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«Cuando este documento se use como base para una documentación de pruebas que no alcanza la conformidad completa, deberá registrarse el subconjunto para el que se declara conformidad adaptada. Donde haya recorte, deberá entregarse una justificación.»</a:t>
            </a:r>
            <a:endParaRPr lang="en-US" sz="1180" dirty="0"/>
          </a:p>
        </p:txBody>
      </p:sp>
      <p:sp>
        <p:nvSpPr>
          <p:cNvPr id="38" name="Text 35"/>
          <p:cNvSpPr txBox="1"/>
          <p:nvPr/>
        </p:nvSpPr>
        <p:spPr>
          <a:xfrm>
            <a:off x="914400" y="5285232"/>
            <a:ext cx="10362895" cy="182880"/>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ISO/IEC/IEEE 29119-3:2021, cláusula 4.1.3 · traducción del original en inglés</a:t>
            </a:r>
            <a:endParaRPr lang="en-US" sz="900" dirty="0"/>
          </a:p>
        </p:txBody>
      </p:sp>
      <p:sp>
        <p:nvSpPr>
          <p:cNvPr id="39" name="Shape 36"/>
          <p:cNvSpPr/>
          <p:nvPr/>
        </p:nvSpPr>
        <p:spPr>
          <a:xfrm>
            <a:off x="658368" y="5669280"/>
            <a:ext cx="10874959" cy="457200"/>
          </a:xfrm>
          <a:prstGeom prst="rect">
            <a:avLst/>
          </a:prstGeom>
          <a:solidFill>
            <a:srgbClr val="102A43"/>
          </a:solidFill>
          <a:ln w="12700">
            <a:solidFill>
              <a:srgbClr val="102A43"/>
            </a:solidFill>
            <a:prstDash val="solid"/>
          </a:ln>
        </p:spPr>
      </p:sp>
      <p:sp>
        <p:nvSpPr>
          <p:cNvPr id="40" name="Text 37"/>
          <p:cNvSpPr txBox="1"/>
          <p:nvPr/>
        </p:nvSpPr>
        <p:spPr>
          <a:xfrm>
            <a:off x="950976" y="570585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Omitir con criterio declarado es conformidad; omitir en silencio, no.</a:t>
            </a:r>
            <a:endParaRPr lang="en-US" sz="13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EXPERIMENTO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 plan escrito por un agente en un minuto</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Mismo montaje que la Unidad 1: acceso solo de lectura. No puede escribir, ni ejecutar, ni correr la suite.</a:t>
            </a:r>
            <a:endParaRPr lang="en-US" sz="1420" dirty="0"/>
          </a:p>
        </p:txBody>
      </p:sp>
      <p:sp>
        <p:nvSpPr>
          <p:cNvPr id="11" name="Shape 8"/>
          <p:cNvSpPr/>
          <p:nvPr/>
        </p:nvSpPr>
        <p:spPr>
          <a:xfrm>
            <a:off x="658368" y="2231136"/>
            <a:ext cx="5760720" cy="1645920"/>
          </a:xfrm>
          <a:prstGeom prst="roundRect">
            <a:avLst>
              <a:gd name="adj" fmla="val 2222"/>
            </a:avLst>
          </a:prstGeom>
          <a:solidFill>
            <a:srgbClr val="0F1720"/>
          </a:solidFill>
          <a:ln w="12700">
            <a:solidFill>
              <a:srgbClr val="0F1720"/>
            </a:solidFill>
            <a:prstDash val="solid"/>
          </a:ln>
        </p:spPr>
      </p:sp>
      <p:sp>
        <p:nvSpPr>
          <p:cNvPr id="12" name="Shape 9"/>
          <p:cNvSpPr/>
          <p:nvPr/>
        </p:nvSpPr>
        <p:spPr>
          <a:xfrm>
            <a:off x="786384" y="2340864"/>
            <a:ext cx="550468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414016"/>
            <a:ext cx="52486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instrucción, tal como se escribió</a:t>
            </a:r>
            <a:endParaRPr lang="en-US" sz="1000" dirty="0"/>
          </a:p>
        </p:txBody>
      </p:sp>
      <p:sp>
        <p:nvSpPr>
          <p:cNvPr id="14" name="Text 11"/>
          <p:cNvSpPr/>
          <p:nvPr/>
        </p:nvSpPr>
        <p:spPr>
          <a:xfrm>
            <a:off x="877824" y="2798064"/>
            <a:ext cx="501091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&gt; claude -p "Escribe el plan de pruebas de este</a:t>
            </a:r>
            <a:endParaRPr lang="en-US" sz="960" dirty="0"/>
          </a:p>
        </p:txBody>
      </p:sp>
      <p:sp>
        <p:nvSpPr>
          <p:cNvPr id="15" name="Text 12"/>
          <p:cNvSpPr/>
          <p:nvPr/>
        </p:nvSpPr>
        <p:spPr>
          <a:xfrm>
            <a:off x="877824" y="3054096"/>
            <a:ext cx="501091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  proyecto segun ISO/IEC/IEEE 29119-3."</a:t>
            </a:r>
            <a:endParaRPr lang="en-US" sz="960" dirty="0"/>
          </a:p>
        </p:txBody>
      </p:sp>
      <p:sp>
        <p:nvSpPr>
          <p:cNvPr id="16" name="Text 13"/>
          <p:cNvSpPr/>
          <p:nvPr/>
        </p:nvSpPr>
        <p:spPr>
          <a:xfrm>
            <a:off x="877824" y="3310128"/>
            <a:ext cx="501091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  --allowed-tools "Read,Glob,Grep"</a:t>
            </a:r>
            <a:endParaRPr lang="en-US" sz="960" dirty="0"/>
          </a:p>
        </p:txBody>
      </p:sp>
      <p:sp>
        <p:nvSpPr>
          <p:cNvPr id="17" name="Shape 14"/>
          <p:cNvSpPr/>
          <p:nvPr/>
        </p:nvSpPr>
        <p:spPr>
          <a:xfrm>
            <a:off x="6565392" y="2231136"/>
            <a:ext cx="2432304" cy="768096"/>
          </a:xfrm>
          <a:prstGeom prst="rect">
            <a:avLst/>
          </a:prstGeom>
          <a:solidFill>
            <a:srgbClr val="FFFFFF"/>
          </a:solidFill>
          <a:ln w="12700">
            <a:solidFill>
              <a:srgbClr val="FFFFFF"/>
            </a:solidFill>
            <a:prstDash val="solid"/>
          </a:ln>
        </p:spPr>
      </p:sp>
      <p:sp>
        <p:nvSpPr>
          <p:cNvPr id="18" name="Shape 15"/>
          <p:cNvSpPr/>
          <p:nvPr/>
        </p:nvSpPr>
        <p:spPr>
          <a:xfrm>
            <a:off x="6565392" y="2231136"/>
            <a:ext cx="2432304" cy="54864"/>
          </a:xfrm>
          <a:prstGeom prst="rect">
            <a:avLst/>
          </a:prstGeom>
          <a:solidFill>
            <a:srgbClr val="102A43"/>
          </a:solidFill>
          <a:ln w="12700">
            <a:solidFill>
              <a:srgbClr val="102A43"/>
            </a:solidFill>
            <a:prstDash val="solid"/>
          </a:ln>
        </p:spPr>
      </p:sp>
      <p:sp>
        <p:nvSpPr>
          <p:cNvPr id="19" name="Text 16"/>
          <p:cNvSpPr txBox="1"/>
          <p:nvPr/>
        </p:nvSpPr>
        <p:spPr>
          <a:xfrm>
            <a:off x="6748272" y="2359152"/>
            <a:ext cx="2066544" cy="384048"/>
          </a:xfrm>
          <a:prstGeom prst="rect">
            <a:avLst/>
          </a:prstGeom>
          <a:noFill/>
          <a:ln/>
        </p:spPr>
        <p:txBody>
          <a:bodyPr wrap="square" lIns="0" tIns="0" rIns="0" bIns="0" rtlCol="0" anchor="t"/>
          <a:lstStyle/>
          <a:p>
            <a:pPr algn="l" indent="0" marL="0">
              <a:buNone/>
            </a:pPr>
            <a:r>
              <a:rPr lang="en-US" sz="2700" b="1" dirty="0">
                <a:solidFill>
                  <a:srgbClr val="102A43"/>
                </a:solidFill>
                <a:latin typeface="Aptos Display" pitchFamily="34" charset="0"/>
                <a:ea typeface="Aptos Display" pitchFamily="34" charset="-122"/>
                <a:cs typeface="Aptos Display" pitchFamily="34" charset="-120"/>
              </a:rPr>
              <a:t>392</a:t>
            </a:r>
            <a:endParaRPr lang="en-US" sz="2700" dirty="0"/>
          </a:p>
        </p:txBody>
      </p:sp>
      <p:sp>
        <p:nvSpPr>
          <p:cNvPr id="20" name="Text 17"/>
          <p:cNvSpPr txBox="1"/>
          <p:nvPr/>
        </p:nvSpPr>
        <p:spPr>
          <a:xfrm>
            <a:off x="6748272" y="2761488"/>
            <a:ext cx="2066544" cy="201168"/>
          </a:xfrm>
          <a:prstGeom prst="rect">
            <a:avLst/>
          </a:prstGeom>
          <a:noFill/>
          <a:ln/>
        </p:spPr>
        <p:txBody>
          <a:bodyPr wrap="square" lIns="0" tIns="0" rIns="0" bIns="0" rtlCol="0" anchor="t"/>
          <a:lstStyle/>
          <a:p>
            <a:pPr algn="l" indent="0" marL="0">
              <a:buNone/>
            </a:pPr>
            <a:r>
              <a:rPr lang="en-US" sz="1000" dirty="0">
                <a:solidFill>
                  <a:srgbClr val="52606D"/>
                </a:solidFill>
                <a:latin typeface="Aptos" pitchFamily="34" charset="0"/>
                <a:ea typeface="Aptos" pitchFamily="34" charset="-122"/>
                <a:cs typeface="Aptos" pitchFamily="34" charset="-120"/>
              </a:rPr>
              <a:t>líneas de documento</a:t>
            </a:r>
            <a:endParaRPr lang="en-US" sz="1000" dirty="0"/>
          </a:p>
        </p:txBody>
      </p:sp>
      <p:sp>
        <p:nvSpPr>
          <p:cNvPr id="21" name="Shape 18"/>
          <p:cNvSpPr/>
          <p:nvPr/>
        </p:nvSpPr>
        <p:spPr>
          <a:xfrm>
            <a:off x="9107424" y="2231136"/>
            <a:ext cx="2432304" cy="768096"/>
          </a:xfrm>
          <a:prstGeom prst="rect">
            <a:avLst/>
          </a:prstGeom>
          <a:solidFill>
            <a:srgbClr val="FFFFFF"/>
          </a:solidFill>
          <a:ln w="12700">
            <a:solidFill>
              <a:srgbClr val="FFFFFF"/>
            </a:solidFill>
            <a:prstDash val="solid"/>
          </a:ln>
        </p:spPr>
      </p:sp>
      <p:sp>
        <p:nvSpPr>
          <p:cNvPr id="22" name="Shape 19"/>
          <p:cNvSpPr/>
          <p:nvPr/>
        </p:nvSpPr>
        <p:spPr>
          <a:xfrm>
            <a:off x="9107424" y="2231136"/>
            <a:ext cx="2432304" cy="54864"/>
          </a:xfrm>
          <a:prstGeom prst="rect">
            <a:avLst/>
          </a:prstGeom>
          <a:solidFill>
            <a:srgbClr val="102A43"/>
          </a:solidFill>
          <a:ln w="12700">
            <a:solidFill>
              <a:srgbClr val="102A43"/>
            </a:solidFill>
            <a:prstDash val="solid"/>
          </a:ln>
        </p:spPr>
      </p:sp>
      <p:sp>
        <p:nvSpPr>
          <p:cNvPr id="23" name="Text 20"/>
          <p:cNvSpPr txBox="1"/>
          <p:nvPr/>
        </p:nvSpPr>
        <p:spPr>
          <a:xfrm>
            <a:off x="9290304" y="2359152"/>
            <a:ext cx="2066544" cy="384048"/>
          </a:xfrm>
          <a:prstGeom prst="rect">
            <a:avLst/>
          </a:prstGeom>
          <a:noFill/>
          <a:ln/>
        </p:spPr>
        <p:txBody>
          <a:bodyPr wrap="square" lIns="0" tIns="0" rIns="0" bIns="0" rtlCol="0" anchor="t"/>
          <a:lstStyle/>
          <a:p>
            <a:pPr algn="l" indent="0" marL="0">
              <a:buNone/>
            </a:pPr>
            <a:r>
              <a:rPr lang="en-US" sz="2700" b="1" dirty="0">
                <a:solidFill>
                  <a:srgbClr val="102A43"/>
                </a:solidFill>
                <a:latin typeface="Aptos Display" pitchFamily="34" charset="0"/>
                <a:ea typeface="Aptos Display" pitchFamily="34" charset="-122"/>
                <a:cs typeface="Aptos Display" pitchFamily="34" charset="-120"/>
              </a:rPr>
              <a:t>10</a:t>
            </a:r>
            <a:endParaRPr lang="en-US" sz="2700" dirty="0"/>
          </a:p>
        </p:txBody>
      </p:sp>
      <p:sp>
        <p:nvSpPr>
          <p:cNvPr id="24" name="Text 21"/>
          <p:cNvSpPr txBox="1"/>
          <p:nvPr/>
        </p:nvSpPr>
        <p:spPr>
          <a:xfrm>
            <a:off x="9290304" y="2761488"/>
            <a:ext cx="2066544" cy="201168"/>
          </a:xfrm>
          <a:prstGeom prst="rect">
            <a:avLst/>
          </a:prstGeom>
          <a:noFill/>
          <a:ln/>
        </p:spPr>
        <p:txBody>
          <a:bodyPr wrap="square" lIns="0" tIns="0" rIns="0" bIns="0" rtlCol="0" anchor="t"/>
          <a:lstStyle/>
          <a:p>
            <a:pPr algn="l" indent="0" marL="0">
              <a:buNone/>
            </a:pPr>
            <a:r>
              <a:rPr lang="en-US" sz="1000" dirty="0">
                <a:solidFill>
                  <a:srgbClr val="52606D"/>
                </a:solidFill>
                <a:latin typeface="Aptos" pitchFamily="34" charset="0"/>
                <a:ea typeface="Aptos" pitchFamily="34" charset="-122"/>
                <a:cs typeface="Aptos" pitchFamily="34" charset="-120"/>
              </a:rPr>
              <a:t>subcláusulas cubiertas</a:t>
            </a:r>
            <a:endParaRPr lang="en-US" sz="1000" dirty="0"/>
          </a:p>
        </p:txBody>
      </p:sp>
      <p:sp>
        <p:nvSpPr>
          <p:cNvPr id="25" name="Shape 22"/>
          <p:cNvSpPr/>
          <p:nvPr/>
        </p:nvSpPr>
        <p:spPr>
          <a:xfrm>
            <a:off x="6565392" y="3090672"/>
            <a:ext cx="2432304" cy="768096"/>
          </a:xfrm>
          <a:prstGeom prst="rect">
            <a:avLst/>
          </a:prstGeom>
          <a:solidFill>
            <a:srgbClr val="FFFFFF"/>
          </a:solidFill>
          <a:ln w="12700">
            <a:solidFill>
              <a:srgbClr val="FFFFFF"/>
            </a:solidFill>
            <a:prstDash val="solid"/>
          </a:ln>
        </p:spPr>
      </p:sp>
      <p:sp>
        <p:nvSpPr>
          <p:cNvPr id="26" name="Shape 23"/>
          <p:cNvSpPr/>
          <p:nvPr/>
        </p:nvSpPr>
        <p:spPr>
          <a:xfrm>
            <a:off x="6565392" y="3090672"/>
            <a:ext cx="2432304" cy="54864"/>
          </a:xfrm>
          <a:prstGeom prst="rect">
            <a:avLst/>
          </a:prstGeom>
          <a:solidFill>
            <a:srgbClr val="2E7D4F"/>
          </a:solidFill>
          <a:ln w="12700">
            <a:solidFill>
              <a:srgbClr val="2E7D4F"/>
            </a:solidFill>
            <a:prstDash val="solid"/>
          </a:ln>
        </p:spPr>
      </p:sp>
      <p:sp>
        <p:nvSpPr>
          <p:cNvPr id="27" name="Text 24"/>
          <p:cNvSpPr txBox="1"/>
          <p:nvPr/>
        </p:nvSpPr>
        <p:spPr>
          <a:xfrm>
            <a:off x="6748272" y="3218688"/>
            <a:ext cx="2066544" cy="384048"/>
          </a:xfrm>
          <a:prstGeom prst="rect">
            <a:avLst/>
          </a:prstGeom>
          <a:noFill/>
          <a:ln/>
        </p:spPr>
        <p:txBody>
          <a:bodyPr wrap="square" lIns="0" tIns="0" rIns="0" bIns="0" rtlCol="0" anchor="t"/>
          <a:lstStyle/>
          <a:p>
            <a:pPr algn="l" indent="0" marL="0">
              <a:buNone/>
            </a:pPr>
            <a:r>
              <a:rPr lang="en-US" sz="2700" b="1" dirty="0">
                <a:solidFill>
                  <a:srgbClr val="2E7D4F"/>
                </a:solidFill>
                <a:latin typeface="Aptos Display" pitchFamily="34" charset="0"/>
                <a:ea typeface="Aptos Display" pitchFamily="34" charset="-122"/>
                <a:cs typeface="Aptos Display" pitchFamily="34" charset="-120"/>
              </a:rPr>
              <a:t>8</a:t>
            </a:r>
            <a:endParaRPr lang="en-US" sz="2700" dirty="0"/>
          </a:p>
        </p:txBody>
      </p:sp>
      <p:sp>
        <p:nvSpPr>
          <p:cNvPr id="28" name="Text 25"/>
          <p:cNvSpPr txBox="1"/>
          <p:nvPr/>
        </p:nvSpPr>
        <p:spPr>
          <a:xfrm>
            <a:off x="6748272" y="3621024"/>
            <a:ext cx="2066544" cy="201168"/>
          </a:xfrm>
          <a:prstGeom prst="rect">
            <a:avLst/>
          </a:prstGeom>
          <a:noFill/>
          <a:ln/>
        </p:spPr>
        <p:txBody>
          <a:bodyPr wrap="square" lIns="0" tIns="0" rIns="0" bIns="0" rtlCol="0" anchor="t"/>
          <a:lstStyle/>
          <a:p>
            <a:pPr algn="l" indent="0" marL="0">
              <a:buNone/>
            </a:pPr>
            <a:r>
              <a:rPr lang="en-US" sz="1000" dirty="0">
                <a:solidFill>
                  <a:srgbClr val="52606D"/>
                </a:solidFill>
                <a:latin typeface="Aptos" pitchFamily="34" charset="0"/>
                <a:ea typeface="Aptos" pitchFamily="34" charset="-122"/>
                <a:cs typeface="Aptos" pitchFamily="34" charset="-120"/>
              </a:rPr>
              <a:t>elementos de prueba</a:t>
            </a:r>
            <a:endParaRPr lang="en-US" sz="1000" dirty="0"/>
          </a:p>
        </p:txBody>
      </p:sp>
      <p:sp>
        <p:nvSpPr>
          <p:cNvPr id="29" name="Shape 26"/>
          <p:cNvSpPr/>
          <p:nvPr/>
        </p:nvSpPr>
        <p:spPr>
          <a:xfrm>
            <a:off x="9107424" y="3090672"/>
            <a:ext cx="2432304" cy="768096"/>
          </a:xfrm>
          <a:prstGeom prst="rect">
            <a:avLst/>
          </a:prstGeom>
          <a:solidFill>
            <a:srgbClr val="FFFFFF"/>
          </a:solidFill>
          <a:ln w="12700">
            <a:solidFill>
              <a:srgbClr val="FFFFFF"/>
            </a:solidFill>
            <a:prstDash val="solid"/>
          </a:ln>
        </p:spPr>
      </p:sp>
      <p:sp>
        <p:nvSpPr>
          <p:cNvPr id="30" name="Shape 27"/>
          <p:cNvSpPr/>
          <p:nvPr/>
        </p:nvSpPr>
        <p:spPr>
          <a:xfrm>
            <a:off x="9107424" y="3090672"/>
            <a:ext cx="2432304" cy="54864"/>
          </a:xfrm>
          <a:prstGeom prst="rect">
            <a:avLst/>
          </a:prstGeom>
          <a:solidFill>
            <a:srgbClr val="B3181E"/>
          </a:solidFill>
          <a:ln w="12700">
            <a:solidFill>
              <a:srgbClr val="B3181E"/>
            </a:solidFill>
            <a:prstDash val="solid"/>
          </a:ln>
        </p:spPr>
      </p:sp>
      <p:sp>
        <p:nvSpPr>
          <p:cNvPr id="31" name="Text 28"/>
          <p:cNvSpPr txBox="1"/>
          <p:nvPr/>
        </p:nvSpPr>
        <p:spPr>
          <a:xfrm>
            <a:off x="9290304" y="3218688"/>
            <a:ext cx="2066544" cy="384048"/>
          </a:xfrm>
          <a:prstGeom prst="rect">
            <a:avLst/>
          </a:prstGeom>
          <a:noFill/>
          <a:ln/>
        </p:spPr>
        <p:txBody>
          <a:bodyPr wrap="square" lIns="0" tIns="0" rIns="0" bIns="0" rtlCol="0" anchor="t"/>
          <a:lstStyle/>
          <a:p>
            <a:pPr algn="l" indent="0" marL="0">
              <a:buNone/>
            </a:pPr>
            <a:r>
              <a:rPr lang="en-US" sz="2700" b="1" dirty="0">
                <a:solidFill>
                  <a:srgbClr val="B3181E"/>
                </a:solidFill>
                <a:latin typeface="Aptos Display" pitchFamily="34" charset="0"/>
                <a:ea typeface="Aptos Display" pitchFamily="34" charset="-122"/>
                <a:cs typeface="Aptos Display" pitchFamily="34" charset="-120"/>
              </a:rPr>
              <a:t>13</a:t>
            </a:r>
            <a:endParaRPr lang="en-US" sz="2700" dirty="0"/>
          </a:p>
        </p:txBody>
      </p:sp>
      <p:sp>
        <p:nvSpPr>
          <p:cNvPr id="32" name="Text 29"/>
          <p:cNvSpPr txBox="1"/>
          <p:nvPr/>
        </p:nvSpPr>
        <p:spPr>
          <a:xfrm>
            <a:off x="9290304" y="3621024"/>
            <a:ext cx="2066544" cy="201168"/>
          </a:xfrm>
          <a:prstGeom prst="rect">
            <a:avLst/>
          </a:prstGeom>
          <a:noFill/>
          <a:ln/>
        </p:spPr>
        <p:txBody>
          <a:bodyPr wrap="square" lIns="0" tIns="0" rIns="0" bIns="0" rtlCol="0" anchor="t"/>
          <a:lstStyle/>
          <a:p>
            <a:pPr algn="l" indent="0" marL="0">
              <a:buNone/>
            </a:pPr>
            <a:r>
              <a:rPr lang="en-US" sz="1000" dirty="0">
                <a:solidFill>
                  <a:srgbClr val="52606D"/>
                </a:solidFill>
                <a:latin typeface="Aptos" pitchFamily="34" charset="0"/>
                <a:ea typeface="Aptos" pitchFamily="34" charset="-122"/>
                <a:cs typeface="Aptos" pitchFamily="34" charset="-120"/>
              </a:rPr>
              <a:t>riesgos valorados</a:t>
            </a:r>
            <a:endParaRPr lang="en-US" sz="1000" dirty="0"/>
          </a:p>
        </p:txBody>
      </p:sp>
      <p:sp>
        <p:nvSpPr>
          <p:cNvPr id="33" name="Text 30"/>
          <p:cNvSpPr txBox="1"/>
          <p:nvPr/>
        </p:nvSpPr>
        <p:spPr>
          <a:xfrm>
            <a:off x="658368" y="3950208"/>
            <a:ext cx="64008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SU REGISTRO DE RIESGOS · LAS CUATRO ENTRADAS DE NIVEL MÁS ALTO</a:t>
            </a:r>
            <a:endParaRPr lang="en-US" sz="960" dirty="0"/>
          </a:p>
        </p:txBody>
      </p:sp>
      <p:sp>
        <p:nvSpPr>
          <p:cNvPr id="34" name="Shape 31"/>
          <p:cNvSpPr/>
          <p:nvPr/>
        </p:nvSpPr>
        <p:spPr>
          <a:xfrm>
            <a:off x="658368" y="4206240"/>
            <a:ext cx="932688" cy="274320"/>
          </a:xfrm>
          <a:prstGeom prst="rect">
            <a:avLst/>
          </a:prstGeom>
          <a:solidFill>
            <a:srgbClr val="1D3A57"/>
          </a:solidFill>
          <a:ln w="12700">
            <a:solidFill>
              <a:srgbClr val="1D3A57"/>
            </a:solidFill>
            <a:prstDash val="solid"/>
          </a:ln>
        </p:spPr>
      </p:sp>
      <p:sp>
        <p:nvSpPr>
          <p:cNvPr id="35" name="Text 32"/>
          <p:cNvSpPr txBox="1"/>
          <p:nvPr/>
        </p:nvSpPr>
        <p:spPr>
          <a:xfrm>
            <a:off x="768096" y="4261104"/>
            <a:ext cx="713232" cy="182880"/>
          </a:xfrm>
          <a:prstGeom prst="rect">
            <a:avLst/>
          </a:prstGeom>
          <a:noFill/>
          <a:ln/>
        </p:spPr>
        <p:txBody>
          <a:bodyPr wrap="square" lIns="0" tIns="0" rIns="0" bIns="0" rtlCol="0" anchor="t"/>
          <a:lstStyle/>
          <a:p>
            <a:pPr algn="l" indent="0" marL="0">
              <a:buNone/>
            </a:pPr>
            <a:r>
              <a:rPr lang="en-US" sz="880" b="1" spc="80" kern="0" dirty="0">
                <a:solidFill>
                  <a:srgbClr val="FFFFFF"/>
                </a:solidFill>
                <a:latin typeface="Aptos" pitchFamily="34" charset="0"/>
                <a:ea typeface="Aptos" pitchFamily="34" charset="-122"/>
                <a:cs typeface="Aptos" pitchFamily="34" charset="-120"/>
              </a:rPr>
              <a:t>ID</a:t>
            </a:r>
            <a:endParaRPr lang="en-US" sz="880" dirty="0"/>
          </a:p>
        </p:txBody>
      </p:sp>
      <p:sp>
        <p:nvSpPr>
          <p:cNvPr id="36" name="Shape 33"/>
          <p:cNvSpPr/>
          <p:nvPr/>
        </p:nvSpPr>
        <p:spPr>
          <a:xfrm>
            <a:off x="1591056" y="4206240"/>
            <a:ext cx="7598664" cy="274320"/>
          </a:xfrm>
          <a:prstGeom prst="rect">
            <a:avLst/>
          </a:prstGeom>
          <a:solidFill>
            <a:srgbClr val="1D3A57"/>
          </a:solidFill>
          <a:ln w="12700">
            <a:solidFill>
              <a:srgbClr val="1D3A57"/>
            </a:solidFill>
            <a:prstDash val="solid"/>
          </a:ln>
        </p:spPr>
      </p:sp>
      <p:sp>
        <p:nvSpPr>
          <p:cNvPr id="37" name="Text 34"/>
          <p:cNvSpPr txBox="1"/>
          <p:nvPr/>
        </p:nvSpPr>
        <p:spPr>
          <a:xfrm>
            <a:off x="1700784" y="4261104"/>
            <a:ext cx="7379208" cy="182880"/>
          </a:xfrm>
          <a:prstGeom prst="rect">
            <a:avLst/>
          </a:prstGeom>
          <a:noFill/>
          <a:ln/>
        </p:spPr>
        <p:txBody>
          <a:bodyPr wrap="square" lIns="0" tIns="0" rIns="0" bIns="0" rtlCol="0" anchor="t"/>
          <a:lstStyle/>
          <a:p>
            <a:pPr algn="l" indent="0" marL="0">
              <a:buNone/>
            </a:pPr>
            <a:r>
              <a:rPr lang="en-US" sz="880" b="1" spc="80" kern="0" dirty="0">
                <a:solidFill>
                  <a:srgbClr val="FFFFFF"/>
                </a:solidFill>
                <a:latin typeface="Aptos" pitchFamily="34" charset="0"/>
                <a:ea typeface="Aptos" pitchFamily="34" charset="-122"/>
                <a:cs typeface="Aptos" pitchFamily="34" charset="-120"/>
              </a:rPr>
              <a:t>RIESGO DE PRODUCTO IDENTIFICADO POR EL AGENTE</a:t>
            </a:r>
            <a:endParaRPr lang="en-US" sz="880" dirty="0"/>
          </a:p>
        </p:txBody>
      </p:sp>
      <p:sp>
        <p:nvSpPr>
          <p:cNvPr id="38" name="Shape 35"/>
          <p:cNvSpPr/>
          <p:nvPr/>
        </p:nvSpPr>
        <p:spPr>
          <a:xfrm>
            <a:off x="9189720" y="4206240"/>
            <a:ext cx="566928" cy="274320"/>
          </a:xfrm>
          <a:prstGeom prst="rect">
            <a:avLst/>
          </a:prstGeom>
          <a:solidFill>
            <a:srgbClr val="1D3A57"/>
          </a:solidFill>
          <a:ln w="12700">
            <a:solidFill>
              <a:srgbClr val="1D3A57"/>
            </a:solidFill>
            <a:prstDash val="solid"/>
          </a:ln>
        </p:spPr>
      </p:sp>
      <p:sp>
        <p:nvSpPr>
          <p:cNvPr id="39" name="Text 36"/>
          <p:cNvSpPr txBox="1"/>
          <p:nvPr/>
        </p:nvSpPr>
        <p:spPr>
          <a:xfrm>
            <a:off x="9299448" y="4261104"/>
            <a:ext cx="347472" cy="182880"/>
          </a:xfrm>
          <a:prstGeom prst="rect">
            <a:avLst/>
          </a:prstGeom>
          <a:noFill/>
          <a:ln/>
        </p:spPr>
        <p:txBody>
          <a:bodyPr wrap="square" lIns="0" tIns="0" rIns="0" bIns="0" rtlCol="0" anchor="t"/>
          <a:lstStyle/>
          <a:p>
            <a:pPr algn="ctr" indent="0" marL="0">
              <a:buNone/>
            </a:pPr>
            <a:r>
              <a:rPr lang="en-US" sz="880" b="1" spc="80" kern="0" dirty="0">
                <a:solidFill>
                  <a:srgbClr val="FFFFFF"/>
                </a:solidFill>
                <a:latin typeface="Aptos" pitchFamily="34" charset="0"/>
                <a:ea typeface="Aptos" pitchFamily="34" charset="-122"/>
                <a:cs typeface="Aptos" pitchFamily="34" charset="-120"/>
              </a:rPr>
              <a:t>P</a:t>
            </a:r>
            <a:endParaRPr lang="en-US" sz="880" dirty="0"/>
          </a:p>
        </p:txBody>
      </p:sp>
      <p:sp>
        <p:nvSpPr>
          <p:cNvPr id="40" name="Shape 37"/>
          <p:cNvSpPr/>
          <p:nvPr/>
        </p:nvSpPr>
        <p:spPr>
          <a:xfrm>
            <a:off x="9756648" y="4206240"/>
            <a:ext cx="566928" cy="274320"/>
          </a:xfrm>
          <a:prstGeom prst="rect">
            <a:avLst/>
          </a:prstGeom>
          <a:solidFill>
            <a:srgbClr val="1D3A57"/>
          </a:solidFill>
          <a:ln w="12700">
            <a:solidFill>
              <a:srgbClr val="1D3A57"/>
            </a:solidFill>
            <a:prstDash val="solid"/>
          </a:ln>
        </p:spPr>
      </p:sp>
      <p:sp>
        <p:nvSpPr>
          <p:cNvPr id="41" name="Text 38"/>
          <p:cNvSpPr txBox="1"/>
          <p:nvPr/>
        </p:nvSpPr>
        <p:spPr>
          <a:xfrm>
            <a:off x="9866376" y="4261104"/>
            <a:ext cx="347472" cy="182880"/>
          </a:xfrm>
          <a:prstGeom prst="rect">
            <a:avLst/>
          </a:prstGeom>
          <a:noFill/>
          <a:ln/>
        </p:spPr>
        <p:txBody>
          <a:bodyPr wrap="square" lIns="0" tIns="0" rIns="0" bIns="0" rtlCol="0" anchor="t"/>
          <a:lstStyle/>
          <a:p>
            <a:pPr algn="ctr" indent="0" marL="0">
              <a:buNone/>
            </a:pPr>
            <a:r>
              <a:rPr lang="en-US" sz="880" b="1" spc="80" kern="0" dirty="0">
                <a:solidFill>
                  <a:srgbClr val="FFFFFF"/>
                </a:solidFill>
                <a:latin typeface="Aptos" pitchFamily="34" charset="0"/>
                <a:ea typeface="Aptos" pitchFamily="34" charset="-122"/>
                <a:cs typeface="Aptos" pitchFamily="34" charset="-120"/>
              </a:rPr>
              <a:t>I</a:t>
            </a:r>
            <a:endParaRPr lang="en-US" sz="880" dirty="0"/>
          </a:p>
        </p:txBody>
      </p:sp>
      <p:sp>
        <p:nvSpPr>
          <p:cNvPr id="42" name="Shape 39"/>
          <p:cNvSpPr/>
          <p:nvPr/>
        </p:nvSpPr>
        <p:spPr>
          <a:xfrm>
            <a:off x="10323576" y="4206240"/>
            <a:ext cx="1207008" cy="274320"/>
          </a:xfrm>
          <a:prstGeom prst="rect">
            <a:avLst/>
          </a:prstGeom>
          <a:solidFill>
            <a:srgbClr val="1D3A57"/>
          </a:solidFill>
          <a:ln w="12700">
            <a:solidFill>
              <a:srgbClr val="1D3A57"/>
            </a:solidFill>
            <a:prstDash val="solid"/>
          </a:ln>
        </p:spPr>
      </p:sp>
      <p:sp>
        <p:nvSpPr>
          <p:cNvPr id="43" name="Text 40"/>
          <p:cNvSpPr txBox="1"/>
          <p:nvPr/>
        </p:nvSpPr>
        <p:spPr>
          <a:xfrm>
            <a:off x="10433304" y="4261104"/>
            <a:ext cx="987552" cy="182880"/>
          </a:xfrm>
          <a:prstGeom prst="rect">
            <a:avLst/>
          </a:prstGeom>
          <a:noFill/>
          <a:ln/>
        </p:spPr>
        <p:txBody>
          <a:bodyPr wrap="square" lIns="0" tIns="0" rIns="0" bIns="0" rtlCol="0" anchor="t"/>
          <a:lstStyle/>
          <a:p>
            <a:pPr algn="ctr" indent="0" marL="0">
              <a:buNone/>
            </a:pPr>
            <a:r>
              <a:rPr lang="en-US" sz="880" b="1" spc="80" kern="0" dirty="0">
                <a:solidFill>
                  <a:srgbClr val="FFFFFF"/>
                </a:solidFill>
                <a:latin typeface="Aptos" pitchFamily="34" charset="0"/>
                <a:ea typeface="Aptos" pitchFamily="34" charset="-122"/>
                <a:cs typeface="Aptos" pitchFamily="34" charset="-120"/>
              </a:rPr>
              <a:t>NIVEL</a:t>
            </a:r>
            <a:endParaRPr lang="en-US" sz="880" dirty="0"/>
          </a:p>
        </p:txBody>
      </p:sp>
      <p:sp>
        <p:nvSpPr>
          <p:cNvPr id="44" name="Shape 41"/>
          <p:cNvSpPr/>
          <p:nvPr/>
        </p:nvSpPr>
        <p:spPr>
          <a:xfrm>
            <a:off x="658368" y="4480560"/>
            <a:ext cx="932688" cy="292608"/>
          </a:xfrm>
          <a:prstGeom prst="rect">
            <a:avLst/>
          </a:prstGeom>
          <a:solidFill>
            <a:srgbClr val="FFFFFF"/>
          </a:solidFill>
          <a:ln w="12700">
            <a:solidFill>
              <a:srgbClr val="FFFFFF"/>
            </a:solidFill>
            <a:prstDash val="solid"/>
          </a:ln>
        </p:spPr>
      </p:sp>
      <p:sp>
        <p:nvSpPr>
          <p:cNvPr id="45" name="Text 42"/>
          <p:cNvSpPr txBox="1"/>
          <p:nvPr/>
        </p:nvSpPr>
        <p:spPr>
          <a:xfrm>
            <a:off x="768096" y="4526280"/>
            <a:ext cx="713232" cy="201168"/>
          </a:xfrm>
          <a:prstGeom prst="rect">
            <a:avLst/>
          </a:prstGeom>
          <a:noFill/>
          <a:ln/>
        </p:spPr>
        <p:txBody>
          <a:bodyPr wrap="square" lIns="0" tIns="0" rIns="0" bIns="0" rtlCol="0" anchor="t"/>
          <a:lstStyle/>
          <a:p>
            <a:pPr algn="l" indent="0" marL="0">
              <a:buNone/>
            </a:pPr>
            <a:r>
              <a:rPr lang="en-US" sz="1020" b="1" dirty="0">
                <a:solidFill>
                  <a:srgbClr val="102A43"/>
                </a:solidFill>
                <a:latin typeface="Aptos" pitchFamily="34" charset="0"/>
                <a:ea typeface="Aptos" pitchFamily="34" charset="-122"/>
                <a:cs typeface="Aptos" pitchFamily="34" charset="-120"/>
              </a:rPr>
              <a:t>RP-01</a:t>
            </a:r>
            <a:endParaRPr lang="en-US" sz="1020" dirty="0"/>
          </a:p>
        </p:txBody>
      </p:sp>
      <p:sp>
        <p:nvSpPr>
          <p:cNvPr id="46" name="Shape 43"/>
          <p:cNvSpPr/>
          <p:nvPr/>
        </p:nvSpPr>
        <p:spPr>
          <a:xfrm>
            <a:off x="1591056" y="4480560"/>
            <a:ext cx="7598664" cy="292608"/>
          </a:xfrm>
          <a:prstGeom prst="rect">
            <a:avLst/>
          </a:prstGeom>
          <a:solidFill>
            <a:srgbClr val="FFFFFF"/>
          </a:solidFill>
          <a:ln w="12700">
            <a:solidFill>
              <a:srgbClr val="FFFFFF"/>
            </a:solidFill>
            <a:prstDash val="solid"/>
          </a:ln>
        </p:spPr>
      </p:sp>
      <p:sp>
        <p:nvSpPr>
          <p:cNvPr id="47" name="Text 44"/>
          <p:cNvSpPr txBox="1"/>
          <p:nvPr/>
        </p:nvSpPr>
        <p:spPr>
          <a:xfrm>
            <a:off x="1700784" y="4526280"/>
            <a:ext cx="7379208" cy="201168"/>
          </a:xfrm>
          <a:prstGeom prst="rect">
            <a:avLst/>
          </a:prstGeom>
          <a:noFill/>
          <a:ln/>
        </p:spPr>
        <p:txBody>
          <a:bodyPr wrap="square" lIns="0" tIns="0" rIns="0" bIns="0" rtlCol="0" anchor="t"/>
          <a:lstStyle/>
          <a:p>
            <a:pPr algn="l" indent="0" marL="0">
              <a:buNone/>
            </a:pPr>
            <a:r>
              <a:rPr lang="en-US" sz="940" dirty="0">
                <a:solidFill>
                  <a:srgbClr val="243B53"/>
                </a:solidFill>
                <a:latin typeface="Aptos" pitchFamily="34" charset="0"/>
                <a:ea typeface="Aptos" pitchFamily="34" charset="-122"/>
                <a:cs typeface="Aptos" pitchFamily="34" charset="-120"/>
              </a:rPr>
              <a:t>El cupo cuenta todas las reservas históricas del RUT: al llegar a tres queda bloqueado para siempre.</a:t>
            </a:r>
            <a:endParaRPr lang="en-US" sz="940" dirty="0"/>
          </a:p>
        </p:txBody>
      </p:sp>
      <p:sp>
        <p:nvSpPr>
          <p:cNvPr id="48" name="Shape 45"/>
          <p:cNvSpPr/>
          <p:nvPr/>
        </p:nvSpPr>
        <p:spPr>
          <a:xfrm>
            <a:off x="9189720" y="4480560"/>
            <a:ext cx="566928" cy="292608"/>
          </a:xfrm>
          <a:prstGeom prst="rect">
            <a:avLst/>
          </a:prstGeom>
          <a:solidFill>
            <a:srgbClr val="FFFFFF"/>
          </a:solidFill>
          <a:ln w="12700">
            <a:solidFill>
              <a:srgbClr val="FFFFFF"/>
            </a:solidFill>
            <a:prstDash val="solid"/>
          </a:ln>
        </p:spPr>
      </p:sp>
      <p:sp>
        <p:nvSpPr>
          <p:cNvPr id="49" name="Text 46"/>
          <p:cNvSpPr txBox="1"/>
          <p:nvPr/>
        </p:nvSpPr>
        <p:spPr>
          <a:xfrm>
            <a:off x="9299448" y="4526280"/>
            <a:ext cx="347472" cy="201168"/>
          </a:xfrm>
          <a:prstGeom prst="rect">
            <a:avLst/>
          </a:prstGeom>
          <a:noFill/>
          <a:ln/>
        </p:spPr>
        <p:txBody>
          <a:bodyPr wrap="square" lIns="0" tIns="0" rIns="0" bIns="0" rtlCol="0" anchor="t"/>
          <a:lstStyle/>
          <a:p>
            <a:pPr algn="ctr" indent="0" marL="0">
              <a:buNone/>
            </a:pPr>
            <a:r>
              <a:rPr lang="en-US" sz="1020" dirty="0">
                <a:solidFill>
                  <a:srgbClr val="243B53"/>
                </a:solidFill>
                <a:latin typeface="Aptos" pitchFamily="34" charset="0"/>
                <a:ea typeface="Aptos" pitchFamily="34" charset="-122"/>
                <a:cs typeface="Aptos" pitchFamily="34" charset="-120"/>
              </a:rPr>
              <a:t>3</a:t>
            </a:r>
            <a:endParaRPr lang="en-US" sz="1020" dirty="0"/>
          </a:p>
        </p:txBody>
      </p:sp>
      <p:sp>
        <p:nvSpPr>
          <p:cNvPr id="50" name="Shape 47"/>
          <p:cNvSpPr/>
          <p:nvPr/>
        </p:nvSpPr>
        <p:spPr>
          <a:xfrm>
            <a:off x="9756648" y="4480560"/>
            <a:ext cx="566928" cy="292608"/>
          </a:xfrm>
          <a:prstGeom prst="rect">
            <a:avLst/>
          </a:prstGeom>
          <a:solidFill>
            <a:srgbClr val="FFFFFF"/>
          </a:solidFill>
          <a:ln w="12700">
            <a:solidFill>
              <a:srgbClr val="FFFFFF"/>
            </a:solidFill>
            <a:prstDash val="solid"/>
          </a:ln>
        </p:spPr>
      </p:sp>
      <p:sp>
        <p:nvSpPr>
          <p:cNvPr id="51" name="Text 48"/>
          <p:cNvSpPr txBox="1"/>
          <p:nvPr/>
        </p:nvSpPr>
        <p:spPr>
          <a:xfrm>
            <a:off x="9866376" y="4526280"/>
            <a:ext cx="347472" cy="201168"/>
          </a:xfrm>
          <a:prstGeom prst="rect">
            <a:avLst/>
          </a:prstGeom>
          <a:noFill/>
          <a:ln/>
        </p:spPr>
        <p:txBody>
          <a:bodyPr wrap="square" lIns="0" tIns="0" rIns="0" bIns="0" rtlCol="0" anchor="t"/>
          <a:lstStyle/>
          <a:p>
            <a:pPr algn="ctr" indent="0" marL="0">
              <a:buNone/>
            </a:pPr>
            <a:r>
              <a:rPr lang="en-US" sz="1020" dirty="0">
                <a:solidFill>
                  <a:srgbClr val="243B53"/>
                </a:solidFill>
                <a:latin typeface="Aptos" pitchFamily="34" charset="0"/>
                <a:ea typeface="Aptos" pitchFamily="34" charset="-122"/>
                <a:cs typeface="Aptos" pitchFamily="34" charset="-120"/>
              </a:rPr>
              <a:t>3</a:t>
            </a:r>
            <a:endParaRPr lang="en-US" sz="1020" dirty="0"/>
          </a:p>
        </p:txBody>
      </p:sp>
      <p:sp>
        <p:nvSpPr>
          <p:cNvPr id="52" name="Shape 49"/>
          <p:cNvSpPr/>
          <p:nvPr/>
        </p:nvSpPr>
        <p:spPr>
          <a:xfrm>
            <a:off x="10323576" y="4480560"/>
            <a:ext cx="1207008" cy="292608"/>
          </a:xfrm>
          <a:prstGeom prst="rect">
            <a:avLst/>
          </a:prstGeom>
          <a:solidFill>
            <a:srgbClr val="FFFFFF"/>
          </a:solidFill>
          <a:ln w="12700">
            <a:solidFill>
              <a:srgbClr val="FFFFFF"/>
            </a:solidFill>
            <a:prstDash val="solid"/>
          </a:ln>
        </p:spPr>
      </p:sp>
      <p:sp>
        <p:nvSpPr>
          <p:cNvPr id="53" name="Text 50"/>
          <p:cNvSpPr txBox="1"/>
          <p:nvPr/>
        </p:nvSpPr>
        <p:spPr>
          <a:xfrm>
            <a:off x="10433304" y="4526280"/>
            <a:ext cx="987552" cy="201168"/>
          </a:xfrm>
          <a:prstGeom prst="rect">
            <a:avLst/>
          </a:prstGeom>
          <a:noFill/>
          <a:ln/>
        </p:spPr>
        <p:txBody>
          <a:bodyPr wrap="square" lIns="0" tIns="0" rIns="0" bIns="0" rtlCol="0" anchor="t"/>
          <a:lstStyle/>
          <a:p>
            <a:pPr algn="ctr" indent="0" marL="0">
              <a:buNone/>
            </a:pPr>
            <a:r>
              <a:rPr lang="en-US" sz="1020" b="1" dirty="0">
                <a:solidFill>
                  <a:srgbClr val="B3181E"/>
                </a:solidFill>
                <a:latin typeface="Aptos" pitchFamily="34" charset="0"/>
                <a:ea typeface="Aptos" pitchFamily="34" charset="-122"/>
                <a:cs typeface="Aptos" pitchFamily="34" charset="-120"/>
              </a:rPr>
              <a:t>9</a:t>
            </a:r>
            <a:endParaRPr lang="en-US" sz="1020" dirty="0"/>
          </a:p>
        </p:txBody>
      </p:sp>
      <p:sp>
        <p:nvSpPr>
          <p:cNvPr id="54" name="Shape 51"/>
          <p:cNvSpPr/>
          <p:nvPr/>
        </p:nvSpPr>
        <p:spPr>
          <a:xfrm>
            <a:off x="658368" y="4773168"/>
            <a:ext cx="932688" cy="292608"/>
          </a:xfrm>
          <a:prstGeom prst="rect">
            <a:avLst/>
          </a:prstGeom>
          <a:solidFill>
            <a:srgbClr val="EDE6DA"/>
          </a:solidFill>
          <a:ln w="12700">
            <a:solidFill>
              <a:srgbClr val="EDE6DA"/>
            </a:solidFill>
            <a:prstDash val="solid"/>
          </a:ln>
        </p:spPr>
      </p:sp>
      <p:sp>
        <p:nvSpPr>
          <p:cNvPr id="55" name="Text 52"/>
          <p:cNvSpPr txBox="1"/>
          <p:nvPr/>
        </p:nvSpPr>
        <p:spPr>
          <a:xfrm>
            <a:off x="768096" y="4818888"/>
            <a:ext cx="713232" cy="201168"/>
          </a:xfrm>
          <a:prstGeom prst="rect">
            <a:avLst/>
          </a:prstGeom>
          <a:noFill/>
          <a:ln/>
        </p:spPr>
        <p:txBody>
          <a:bodyPr wrap="square" lIns="0" tIns="0" rIns="0" bIns="0" rtlCol="0" anchor="t"/>
          <a:lstStyle/>
          <a:p>
            <a:pPr algn="l" indent="0" marL="0">
              <a:buNone/>
            </a:pPr>
            <a:r>
              <a:rPr lang="en-US" sz="1020" b="1" dirty="0">
                <a:solidFill>
                  <a:srgbClr val="102A43"/>
                </a:solidFill>
                <a:latin typeface="Aptos" pitchFamily="34" charset="0"/>
                <a:ea typeface="Aptos" pitchFamily="34" charset="-122"/>
                <a:cs typeface="Aptos" pitchFamily="34" charset="-120"/>
              </a:rPr>
              <a:t>RP-04</a:t>
            </a:r>
            <a:endParaRPr lang="en-US" sz="1020" dirty="0"/>
          </a:p>
        </p:txBody>
      </p:sp>
      <p:sp>
        <p:nvSpPr>
          <p:cNvPr id="56" name="Shape 53"/>
          <p:cNvSpPr/>
          <p:nvPr/>
        </p:nvSpPr>
        <p:spPr>
          <a:xfrm>
            <a:off x="1591056" y="4773168"/>
            <a:ext cx="7598664" cy="292608"/>
          </a:xfrm>
          <a:prstGeom prst="rect">
            <a:avLst/>
          </a:prstGeom>
          <a:solidFill>
            <a:srgbClr val="EDE6DA"/>
          </a:solidFill>
          <a:ln w="12700">
            <a:solidFill>
              <a:srgbClr val="EDE6DA"/>
            </a:solidFill>
            <a:prstDash val="solid"/>
          </a:ln>
        </p:spPr>
      </p:sp>
      <p:sp>
        <p:nvSpPr>
          <p:cNvPr id="57" name="Text 54"/>
          <p:cNvSpPr txBox="1"/>
          <p:nvPr/>
        </p:nvSpPr>
        <p:spPr>
          <a:xfrm>
            <a:off x="1700784" y="4818888"/>
            <a:ext cx="7379208" cy="201168"/>
          </a:xfrm>
          <a:prstGeom prst="rect">
            <a:avLst/>
          </a:prstGeom>
          <a:noFill/>
          <a:ln/>
        </p:spPr>
        <p:txBody>
          <a:bodyPr wrap="square" lIns="0" tIns="0" rIns="0" bIns="0" rtlCol="0" anchor="t"/>
          <a:lstStyle/>
          <a:p>
            <a:pPr algn="l" indent="0" marL="0">
              <a:buNone/>
            </a:pPr>
            <a:r>
              <a:rPr lang="en-US" sz="940" dirty="0">
                <a:solidFill>
                  <a:srgbClr val="243B53"/>
                </a:solidFill>
                <a:latin typeface="Aptos" pitchFamily="34" charset="0"/>
                <a:ea typeface="Aptos" pitchFamily="34" charset="-122"/>
                <a:cs typeface="Aptos" pitchFamily="34" charset="-120"/>
              </a:rPr>
              <a:t>La tabla no registra fecha, así que un bloque tomado queda tomado para siempre.</a:t>
            </a:r>
            <a:endParaRPr lang="en-US" sz="940" dirty="0"/>
          </a:p>
        </p:txBody>
      </p:sp>
      <p:sp>
        <p:nvSpPr>
          <p:cNvPr id="58" name="Shape 55"/>
          <p:cNvSpPr/>
          <p:nvPr/>
        </p:nvSpPr>
        <p:spPr>
          <a:xfrm>
            <a:off x="9189720" y="4773168"/>
            <a:ext cx="566928" cy="292608"/>
          </a:xfrm>
          <a:prstGeom prst="rect">
            <a:avLst/>
          </a:prstGeom>
          <a:solidFill>
            <a:srgbClr val="EDE6DA"/>
          </a:solidFill>
          <a:ln w="12700">
            <a:solidFill>
              <a:srgbClr val="EDE6DA"/>
            </a:solidFill>
            <a:prstDash val="solid"/>
          </a:ln>
        </p:spPr>
      </p:sp>
      <p:sp>
        <p:nvSpPr>
          <p:cNvPr id="59" name="Text 56"/>
          <p:cNvSpPr txBox="1"/>
          <p:nvPr/>
        </p:nvSpPr>
        <p:spPr>
          <a:xfrm>
            <a:off x="9299448" y="4818888"/>
            <a:ext cx="347472" cy="201168"/>
          </a:xfrm>
          <a:prstGeom prst="rect">
            <a:avLst/>
          </a:prstGeom>
          <a:noFill/>
          <a:ln/>
        </p:spPr>
        <p:txBody>
          <a:bodyPr wrap="square" lIns="0" tIns="0" rIns="0" bIns="0" rtlCol="0" anchor="t"/>
          <a:lstStyle/>
          <a:p>
            <a:pPr algn="ctr" indent="0" marL="0">
              <a:buNone/>
            </a:pPr>
            <a:r>
              <a:rPr lang="en-US" sz="1020" dirty="0">
                <a:solidFill>
                  <a:srgbClr val="243B53"/>
                </a:solidFill>
                <a:latin typeface="Aptos" pitchFamily="34" charset="0"/>
                <a:ea typeface="Aptos" pitchFamily="34" charset="-122"/>
                <a:cs typeface="Aptos" pitchFamily="34" charset="-120"/>
              </a:rPr>
              <a:t>3</a:t>
            </a:r>
            <a:endParaRPr lang="en-US" sz="1020" dirty="0"/>
          </a:p>
        </p:txBody>
      </p:sp>
      <p:sp>
        <p:nvSpPr>
          <p:cNvPr id="60" name="Shape 57"/>
          <p:cNvSpPr/>
          <p:nvPr/>
        </p:nvSpPr>
        <p:spPr>
          <a:xfrm>
            <a:off x="9756648" y="4773168"/>
            <a:ext cx="566928" cy="292608"/>
          </a:xfrm>
          <a:prstGeom prst="rect">
            <a:avLst/>
          </a:prstGeom>
          <a:solidFill>
            <a:srgbClr val="EDE6DA"/>
          </a:solidFill>
          <a:ln w="12700">
            <a:solidFill>
              <a:srgbClr val="EDE6DA"/>
            </a:solidFill>
            <a:prstDash val="solid"/>
          </a:ln>
        </p:spPr>
      </p:sp>
      <p:sp>
        <p:nvSpPr>
          <p:cNvPr id="61" name="Text 58"/>
          <p:cNvSpPr txBox="1"/>
          <p:nvPr/>
        </p:nvSpPr>
        <p:spPr>
          <a:xfrm>
            <a:off x="9866376" y="4818888"/>
            <a:ext cx="347472" cy="201168"/>
          </a:xfrm>
          <a:prstGeom prst="rect">
            <a:avLst/>
          </a:prstGeom>
          <a:noFill/>
          <a:ln/>
        </p:spPr>
        <p:txBody>
          <a:bodyPr wrap="square" lIns="0" tIns="0" rIns="0" bIns="0" rtlCol="0" anchor="t"/>
          <a:lstStyle/>
          <a:p>
            <a:pPr algn="ctr" indent="0" marL="0">
              <a:buNone/>
            </a:pPr>
            <a:r>
              <a:rPr lang="en-US" sz="1020" dirty="0">
                <a:solidFill>
                  <a:srgbClr val="243B53"/>
                </a:solidFill>
                <a:latin typeface="Aptos" pitchFamily="34" charset="0"/>
                <a:ea typeface="Aptos" pitchFamily="34" charset="-122"/>
                <a:cs typeface="Aptos" pitchFamily="34" charset="-120"/>
              </a:rPr>
              <a:t>3</a:t>
            </a:r>
            <a:endParaRPr lang="en-US" sz="1020" dirty="0"/>
          </a:p>
        </p:txBody>
      </p:sp>
      <p:sp>
        <p:nvSpPr>
          <p:cNvPr id="62" name="Shape 59"/>
          <p:cNvSpPr/>
          <p:nvPr/>
        </p:nvSpPr>
        <p:spPr>
          <a:xfrm>
            <a:off x="10323576" y="4773168"/>
            <a:ext cx="1207008" cy="292608"/>
          </a:xfrm>
          <a:prstGeom prst="rect">
            <a:avLst/>
          </a:prstGeom>
          <a:solidFill>
            <a:srgbClr val="EDE6DA"/>
          </a:solidFill>
          <a:ln w="12700">
            <a:solidFill>
              <a:srgbClr val="EDE6DA"/>
            </a:solidFill>
            <a:prstDash val="solid"/>
          </a:ln>
        </p:spPr>
      </p:sp>
      <p:sp>
        <p:nvSpPr>
          <p:cNvPr id="63" name="Text 60"/>
          <p:cNvSpPr txBox="1"/>
          <p:nvPr/>
        </p:nvSpPr>
        <p:spPr>
          <a:xfrm>
            <a:off x="10433304" y="4818888"/>
            <a:ext cx="987552" cy="201168"/>
          </a:xfrm>
          <a:prstGeom prst="rect">
            <a:avLst/>
          </a:prstGeom>
          <a:noFill/>
          <a:ln/>
        </p:spPr>
        <p:txBody>
          <a:bodyPr wrap="square" lIns="0" tIns="0" rIns="0" bIns="0" rtlCol="0" anchor="t"/>
          <a:lstStyle/>
          <a:p>
            <a:pPr algn="ctr" indent="0" marL="0">
              <a:buNone/>
            </a:pPr>
            <a:r>
              <a:rPr lang="en-US" sz="1020" b="1" dirty="0">
                <a:solidFill>
                  <a:srgbClr val="B3181E"/>
                </a:solidFill>
                <a:latin typeface="Aptos" pitchFamily="34" charset="0"/>
                <a:ea typeface="Aptos" pitchFamily="34" charset="-122"/>
                <a:cs typeface="Aptos" pitchFamily="34" charset="-120"/>
              </a:rPr>
              <a:t>9</a:t>
            </a:r>
            <a:endParaRPr lang="en-US" sz="1020" dirty="0"/>
          </a:p>
        </p:txBody>
      </p:sp>
      <p:sp>
        <p:nvSpPr>
          <p:cNvPr id="64" name="Shape 61"/>
          <p:cNvSpPr/>
          <p:nvPr/>
        </p:nvSpPr>
        <p:spPr>
          <a:xfrm>
            <a:off x="658368" y="5065776"/>
            <a:ext cx="932688" cy="292608"/>
          </a:xfrm>
          <a:prstGeom prst="rect">
            <a:avLst/>
          </a:prstGeom>
          <a:solidFill>
            <a:srgbClr val="FFFFFF"/>
          </a:solidFill>
          <a:ln w="12700">
            <a:solidFill>
              <a:srgbClr val="FFFFFF"/>
            </a:solidFill>
            <a:prstDash val="solid"/>
          </a:ln>
        </p:spPr>
      </p:sp>
      <p:sp>
        <p:nvSpPr>
          <p:cNvPr id="65" name="Text 62"/>
          <p:cNvSpPr txBox="1"/>
          <p:nvPr/>
        </p:nvSpPr>
        <p:spPr>
          <a:xfrm>
            <a:off x="768096" y="5111496"/>
            <a:ext cx="713232" cy="201168"/>
          </a:xfrm>
          <a:prstGeom prst="rect">
            <a:avLst/>
          </a:prstGeom>
          <a:noFill/>
          <a:ln/>
        </p:spPr>
        <p:txBody>
          <a:bodyPr wrap="square" lIns="0" tIns="0" rIns="0" bIns="0" rtlCol="0" anchor="t"/>
          <a:lstStyle/>
          <a:p>
            <a:pPr algn="l" indent="0" marL="0">
              <a:buNone/>
            </a:pPr>
            <a:r>
              <a:rPr lang="en-US" sz="1020" b="1" dirty="0">
                <a:solidFill>
                  <a:srgbClr val="102A43"/>
                </a:solidFill>
                <a:latin typeface="Aptos" pitchFamily="34" charset="0"/>
                <a:ea typeface="Aptos" pitchFamily="34" charset="-122"/>
                <a:cs typeface="Aptos" pitchFamily="34" charset="-120"/>
              </a:rPr>
              <a:t>RP-02</a:t>
            </a:r>
            <a:endParaRPr lang="en-US" sz="1020" dirty="0"/>
          </a:p>
        </p:txBody>
      </p:sp>
      <p:sp>
        <p:nvSpPr>
          <p:cNvPr id="66" name="Shape 63"/>
          <p:cNvSpPr/>
          <p:nvPr/>
        </p:nvSpPr>
        <p:spPr>
          <a:xfrm>
            <a:off x="1591056" y="5065776"/>
            <a:ext cx="7598664" cy="292608"/>
          </a:xfrm>
          <a:prstGeom prst="rect">
            <a:avLst/>
          </a:prstGeom>
          <a:solidFill>
            <a:srgbClr val="FFFFFF"/>
          </a:solidFill>
          <a:ln w="12700">
            <a:solidFill>
              <a:srgbClr val="FFFFFF"/>
            </a:solidFill>
            <a:prstDash val="solid"/>
          </a:ln>
        </p:spPr>
      </p:sp>
      <p:sp>
        <p:nvSpPr>
          <p:cNvPr id="67" name="Text 64"/>
          <p:cNvSpPr txBox="1"/>
          <p:nvPr/>
        </p:nvSpPr>
        <p:spPr>
          <a:xfrm>
            <a:off x="1700784" y="5111496"/>
            <a:ext cx="7379208" cy="201168"/>
          </a:xfrm>
          <a:prstGeom prst="rect">
            <a:avLst/>
          </a:prstGeom>
          <a:noFill/>
          <a:ln/>
        </p:spPr>
        <p:txBody>
          <a:bodyPr wrap="square" lIns="0" tIns="0" rIns="0" bIns="0" rtlCol="0" anchor="t"/>
          <a:lstStyle/>
          <a:p>
            <a:pPr algn="l" indent="0" marL="0">
              <a:buNone/>
            </a:pPr>
            <a:r>
              <a:rPr lang="en-US" sz="940" dirty="0">
                <a:solidFill>
                  <a:srgbClr val="243B53"/>
                </a:solidFill>
                <a:latin typeface="Aptos" pitchFamily="34" charset="0"/>
                <a:ea typeface="Aptos" pitchFamily="34" charset="-122"/>
                <a:cs typeface="Aptos" pitchFamily="34" charset="-120"/>
              </a:rPr>
              <a:t>Dos solicitudes simultáneas pueden tomar el mismo bloque: no hay restricción de unicidad.</a:t>
            </a:r>
            <a:endParaRPr lang="en-US" sz="940" dirty="0"/>
          </a:p>
        </p:txBody>
      </p:sp>
      <p:sp>
        <p:nvSpPr>
          <p:cNvPr id="68" name="Shape 65"/>
          <p:cNvSpPr/>
          <p:nvPr/>
        </p:nvSpPr>
        <p:spPr>
          <a:xfrm>
            <a:off x="9189720" y="5065776"/>
            <a:ext cx="566928" cy="292608"/>
          </a:xfrm>
          <a:prstGeom prst="rect">
            <a:avLst/>
          </a:prstGeom>
          <a:solidFill>
            <a:srgbClr val="FFFFFF"/>
          </a:solidFill>
          <a:ln w="12700">
            <a:solidFill>
              <a:srgbClr val="FFFFFF"/>
            </a:solidFill>
            <a:prstDash val="solid"/>
          </a:ln>
        </p:spPr>
      </p:sp>
      <p:sp>
        <p:nvSpPr>
          <p:cNvPr id="69" name="Text 66"/>
          <p:cNvSpPr txBox="1"/>
          <p:nvPr/>
        </p:nvSpPr>
        <p:spPr>
          <a:xfrm>
            <a:off x="9299448" y="5111496"/>
            <a:ext cx="347472" cy="201168"/>
          </a:xfrm>
          <a:prstGeom prst="rect">
            <a:avLst/>
          </a:prstGeom>
          <a:noFill/>
          <a:ln/>
        </p:spPr>
        <p:txBody>
          <a:bodyPr wrap="square" lIns="0" tIns="0" rIns="0" bIns="0" rtlCol="0" anchor="t"/>
          <a:lstStyle/>
          <a:p>
            <a:pPr algn="ctr" indent="0" marL="0">
              <a:buNone/>
            </a:pPr>
            <a:r>
              <a:rPr lang="en-US" sz="1020" dirty="0">
                <a:solidFill>
                  <a:srgbClr val="243B53"/>
                </a:solidFill>
                <a:latin typeface="Aptos" pitchFamily="34" charset="0"/>
                <a:ea typeface="Aptos" pitchFamily="34" charset="-122"/>
                <a:cs typeface="Aptos" pitchFamily="34" charset="-120"/>
              </a:rPr>
              <a:t>2</a:t>
            </a:r>
            <a:endParaRPr lang="en-US" sz="1020" dirty="0"/>
          </a:p>
        </p:txBody>
      </p:sp>
      <p:sp>
        <p:nvSpPr>
          <p:cNvPr id="70" name="Shape 67"/>
          <p:cNvSpPr/>
          <p:nvPr/>
        </p:nvSpPr>
        <p:spPr>
          <a:xfrm>
            <a:off x="9756648" y="5065776"/>
            <a:ext cx="566928" cy="292608"/>
          </a:xfrm>
          <a:prstGeom prst="rect">
            <a:avLst/>
          </a:prstGeom>
          <a:solidFill>
            <a:srgbClr val="FFFFFF"/>
          </a:solidFill>
          <a:ln w="12700">
            <a:solidFill>
              <a:srgbClr val="FFFFFF"/>
            </a:solidFill>
            <a:prstDash val="solid"/>
          </a:ln>
        </p:spPr>
      </p:sp>
      <p:sp>
        <p:nvSpPr>
          <p:cNvPr id="71" name="Text 68"/>
          <p:cNvSpPr txBox="1"/>
          <p:nvPr/>
        </p:nvSpPr>
        <p:spPr>
          <a:xfrm>
            <a:off x="9866376" y="5111496"/>
            <a:ext cx="347472" cy="201168"/>
          </a:xfrm>
          <a:prstGeom prst="rect">
            <a:avLst/>
          </a:prstGeom>
          <a:noFill/>
          <a:ln/>
        </p:spPr>
        <p:txBody>
          <a:bodyPr wrap="square" lIns="0" tIns="0" rIns="0" bIns="0" rtlCol="0" anchor="t"/>
          <a:lstStyle/>
          <a:p>
            <a:pPr algn="ctr" indent="0" marL="0">
              <a:buNone/>
            </a:pPr>
            <a:r>
              <a:rPr lang="en-US" sz="1020" dirty="0">
                <a:solidFill>
                  <a:srgbClr val="243B53"/>
                </a:solidFill>
                <a:latin typeface="Aptos" pitchFamily="34" charset="0"/>
                <a:ea typeface="Aptos" pitchFamily="34" charset="-122"/>
                <a:cs typeface="Aptos" pitchFamily="34" charset="-120"/>
              </a:rPr>
              <a:t>3</a:t>
            </a:r>
            <a:endParaRPr lang="en-US" sz="1020" dirty="0"/>
          </a:p>
        </p:txBody>
      </p:sp>
      <p:sp>
        <p:nvSpPr>
          <p:cNvPr id="72" name="Shape 69"/>
          <p:cNvSpPr/>
          <p:nvPr/>
        </p:nvSpPr>
        <p:spPr>
          <a:xfrm>
            <a:off x="10323576" y="5065776"/>
            <a:ext cx="1207008" cy="292608"/>
          </a:xfrm>
          <a:prstGeom prst="rect">
            <a:avLst/>
          </a:prstGeom>
          <a:solidFill>
            <a:srgbClr val="FFFFFF"/>
          </a:solidFill>
          <a:ln w="12700">
            <a:solidFill>
              <a:srgbClr val="FFFFFF"/>
            </a:solidFill>
            <a:prstDash val="solid"/>
          </a:ln>
        </p:spPr>
      </p:sp>
      <p:sp>
        <p:nvSpPr>
          <p:cNvPr id="73" name="Text 70"/>
          <p:cNvSpPr txBox="1"/>
          <p:nvPr/>
        </p:nvSpPr>
        <p:spPr>
          <a:xfrm>
            <a:off x="10433304" y="5111496"/>
            <a:ext cx="987552" cy="201168"/>
          </a:xfrm>
          <a:prstGeom prst="rect">
            <a:avLst/>
          </a:prstGeom>
          <a:noFill/>
          <a:ln/>
        </p:spPr>
        <p:txBody>
          <a:bodyPr wrap="square" lIns="0" tIns="0" rIns="0" bIns="0" rtlCol="0" anchor="t"/>
          <a:lstStyle/>
          <a:p>
            <a:pPr algn="ctr" indent="0" marL="0">
              <a:buNone/>
            </a:pPr>
            <a:r>
              <a:rPr lang="en-US" sz="1020" b="1" dirty="0">
                <a:solidFill>
                  <a:srgbClr val="B3181E"/>
                </a:solidFill>
                <a:latin typeface="Aptos" pitchFamily="34" charset="0"/>
                <a:ea typeface="Aptos" pitchFamily="34" charset="-122"/>
                <a:cs typeface="Aptos" pitchFamily="34" charset="-120"/>
              </a:rPr>
              <a:t>6</a:t>
            </a:r>
            <a:endParaRPr lang="en-US" sz="1020" dirty="0"/>
          </a:p>
        </p:txBody>
      </p:sp>
      <p:sp>
        <p:nvSpPr>
          <p:cNvPr id="74" name="Shape 71"/>
          <p:cNvSpPr/>
          <p:nvPr/>
        </p:nvSpPr>
        <p:spPr>
          <a:xfrm>
            <a:off x="658368" y="5358384"/>
            <a:ext cx="932688" cy="292608"/>
          </a:xfrm>
          <a:prstGeom prst="rect">
            <a:avLst/>
          </a:prstGeom>
          <a:solidFill>
            <a:srgbClr val="EDE6DA"/>
          </a:solidFill>
          <a:ln w="12700">
            <a:solidFill>
              <a:srgbClr val="EDE6DA"/>
            </a:solidFill>
            <a:prstDash val="solid"/>
          </a:ln>
        </p:spPr>
      </p:sp>
      <p:sp>
        <p:nvSpPr>
          <p:cNvPr id="75" name="Text 72"/>
          <p:cNvSpPr txBox="1"/>
          <p:nvPr/>
        </p:nvSpPr>
        <p:spPr>
          <a:xfrm>
            <a:off x="768096" y="5404104"/>
            <a:ext cx="713232" cy="201168"/>
          </a:xfrm>
          <a:prstGeom prst="rect">
            <a:avLst/>
          </a:prstGeom>
          <a:noFill/>
          <a:ln/>
        </p:spPr>
        <p:txBody>
          <a:bodyPr wrap="square" lIns="0" tIns="0" rIns="0" bIns="0" rtlCol="0" anchor="t"/>
          <a:lstStyle/>
          <a:p>
            <a:pPr algn="l" indent="0" marL="0">
              <a:buNone/>
            </a:pPr>
            <a:r>
              <a:rPr lang="en-US" sz="1020" b="1" dirty="0">
                <a:solidFill>
                  <a:srgbClr val="102A43"/>
                </a:solidFill>
                <a:latin typeface="Aptos" pitchFamily="34" charset="0"/>
                <a:ea typeface="Aptos" pitchFamily="34" charset="-122"/>
                <a:cs typeface="Aptos" pitchFamily="34" charset="-120"/>
              </a:rPr>
              <a:t>RP-05</a:t>
            </a:r>
            <a:endParaRPr lang="en-US" sz="1020" dirty="0"/>
          </a:p>
        </p:txBody>
      </p:sp>
      <p:sp>
        <p:nvSpPr>
          <p:cNvPr id="76" name="Shape 73"/>
          <p:cNvSpPr/>
          <p:nvPr/>
        </p:nvSpPr>
        <p:spPr>
          <a:xfrm>
            <a:off x="1591056" y="5358384"/>
            <a:ext cx="7598664" cy="292608"/>
          </a:xfrm>
          <a:prstGeom prst="rect">
            <a:avLst/>
          </a:prstGeom>
          <a:solidFill>
            <a:srgbClr val="EDE6DA"/>
          </a:solidFill>
          <a:ln w="12700">
            <a:solidFill>
              <a:srgbClr val="EDE6DA"/>
            </a:solidFill>
            <a:prstDash val="solid"/>
          </a:ln>
        </p:spPr>
      </p:sp>
      <p:sp>
        <p:nvSpPr>
          <p:cNvPr id="77" name="Text 74"/>
          <p:cNvSpPr txBox="1"/>
          <p:nvPr/>
        </p:nvSpPr>
        <p:spPr>
          <a:xfrm>
            <a:off x="1700784" y="5404104"/>
            <a:ext cx="7379208" cy="201168"/>
          </a:xfrm>
          <a:prstGeom prst="rect">
            <a:avLst/>
          </a:prstGeom>
          <a:noFill/>
          <a:ln/>
        </p:spPr>
        <p:txBody>
          <a:bodyPr wrap="square" lIns="0" tIns="0" rIns="0" bIns="0" rtlCol="0" anchor="t"/>
          <a:lstStyle/>
          <a:p>
            <a:pPr algn="l" indent="0" marL="0">
              <a:buNone/>
            </a:pPr>
            <a:r>
              <a:rPr lang="en-US" sz="940" dirty="0">
                <a:solidFill>
                  <a:srgbClr val="243B53"/>
                </a:solidFill>
                <a:latin typeface="Aptos" pitchFamily="34" charset="0"/>
                <a:ea typeface="Aptos" pitchFamily="34" charset="-122"/>
                <a:cs typeface="Aptos" pitchFamily="34" charset="-120"/>
              </a:rPr>
              <a:t>No se valida el formato del RUT ni del correo. Se aceptan datos basura o vacíos.</a:t>
            </a:r>
            <a:endParaRPr lang="en-US" sz="940" dirty="0"/>
          </a:p>
        </p:txBody>
      </p:sp>
      <p:sp>
        <p:nvSpPr>
          <p:cNvPr id="78" name="Shape 75"/>
          <p:cNvSpPr/>
          <p:nvPr/>
        </p:nvSpPr>
        <p:spPr>
          <a:xfrm>
            <a:off x="9189720" y="5358384"/>
            <a:ext cx="566928" cy="292608"/>
          </a:xfrm>
          <a:prstGeom prst="rect">
            <a:avLst/>
          </a:prstGeom>
          <a:solidFill>
            <a:srgbClr val="EDE6DA"/>
          </a:solidFill>
          <a:ln w="12700">
            <a:solidFill>
              <a:srgbClr val="EDE6DA"/>
            </a:solidFill>
            <a:prstDash val="solid"/>
          </a:ln>
        </p:spPr>
      </p:sp>
      <p:sp>
        <p:nvSpPr>
          <p:cNvPr id="79" name="Text 76"/>
          <p:cNvSpPr txBox="1"/>
          <p:nvPr/>
        </p:nvSpPr>
        <p:spPr>
          <a:xfrm>
            <a:off x="9299448" y="5404104"/>
            <a:ext cx="347472" cy="201168"/>
          </a:xfrm>
          <a:prstGeom prst="rect">
            <a:avLst/>
          </a:prstGeom>
          <a:noFill/>
          <a:ln/>
        </p:spPr>
        <p:txBody>
          <a:bodyPr wrap="square" lIns="0" tIns="0" rIns="0" bIns="0" rtlCol="0" anchor="t"/>
          <a:lstStyle/>
          <a:p>
            <a:pPr algn="ctr" indent="0" marL="0">
              <a:buNone/>
            </a:pPr>
            <a:r>
              <a:rPr lang="en-US" sz="1020" dirty="0">
                <a:solidFill>
                  <a:srgbClr val="243B53"/>
                </a:solidFill>
                <a:latin typeface="Aptos" pitchFamily="34" charset="0"/>
                <a:ea typeface="Aptos" pitchFamily="34" charset="-122"/>
                <a:cs typeface="Aptos" pitchFamily="34" charset="-120"/>
              </a:rPr>
              <a:t>3</a:t>
            </a:r>
            <a:endParaRPr lang="en-US" sz="1020" dirty="0"/>
          </a:p>
        </p:txBody>
      </p:sp>
      <p:sp>
        <p:nvSpPr>
          <p:cNvPr id="80" name="Shape 77"/>
          <p:cNvSpPr/>
          <p:nvPr/>
        </p:nvSpPr>
        <p:spPr>
          <a:xfrm>
            <a:off x="9756648" y="5358384"/>
            <a:ext cx="566928" cy="292608"/>
          </a:xfrm>
          <a:prstGeom prst="rect">
            <a:avLst/>
          </a:prstGeom>
          <a:solidFill>
            <a:srgbClr val="EDE6DA"/>
          </a:solidFill>
          <a:ln w="12700">
            <a:solidFill>
              <a:srgbClr val="EDE6DA"/>
            </a:solidFill>
            <a:prstDash val="solid"/>
          </a:ln>
        </p:spPr>
      </p:sp>
      <p:sp>
        <p:nvSpPr>
          <p:cNvPr id="81" name="Text 78"/>
          <p:cNvSpPr txBox="1"/>
          <p:nvPr/>
        </p:nvSpPr>
        <p:spPr>
          <a:xfrm>
            <a:off x="9866376" y="5404104"/>
            <a:ext cx="347472" cy="201168"/>
          </a:xfrm>
          <a:prstGeom prst="rect">
            <a:avLst/>
          </a:prstGeom>
          <a:noFill/>
          <a:ln/>
        </p:spPr>
        <p:txBody>
          <a:bodyPr wrap="square" lIns="0" tIns="0" rIns="0" bIns="0" rtlCol="0" anchor="t"/>
          <a:lstStyle/>
          <a:p>
            <a:pPr algn="ctr" indent="0" marL="0">
              <a:buNone/>
            </a:pPr>
            <a:r>
              <a:rPr lang="en-US" sz="1020" dirty="0">
                <a:solidFill>
                  <a:srgbClr val="243B53"/>
                </a:solidFill>
                <a:latin typeface="Aptos" pitchFamily="34" charset="0"/>
                <a:ea typeface="Aptos" pitchFamily="34" charset="-122"/>
                <a:cs typeface="Aptos" pitchFamily="34" charset="-120"/>
              </a:rPr>
              <a:t>2</a:t>
            </a:r>
            <a:endParaRPr lang="en-US" sz="1020" dirty="0"/>
          </a:p>
        </p:txBody>
      </p:sp>
      <p:sp>
        <p:nvSpPr>
          <p:cNvPr id="82" name="Shape 79"/>
          <p:cNvSpPr/>
          <p:nvPr/>
        </p:nvSpPr>
        <p:spPr>
          <a:xfrm>
            <a:off x="10323576" y="5358384"/>
            <a:ext cx="1207008" cy="292608"/>
          </a:xfrm>
          <a:prstGeom prst="rect">
            <a:avLst/>
          </a:prstGeom>
          <a:solidFill>
            <a:srgbClr val="EDE6DA"/>
          </a:solidFill>
          <a:ln w="12700">
            <a:solidFill>
              <a:srgbClr val="EDE6DA"/>
            </a:solidFill>
            <a:prstDash val="solid"/>
          </a:ln>
        </p:spPr>
      </p:sp>
      <p:sp>
        <p:nvSpPr>
          <p:cNvPr id="83" name="Text 80"/>
          <p:cNvSpPr txBox="1"/>
          <p:nvPr/>
        </p:nvSpPr>
        <p:spPr>
          <a:xfrm>
            <a:off x="10433304" y="5404104"/>
            <a:ext cx="987552" cy="201168"/>
          </a:xfrm>
          <a:prstGeom prst="rect">
            <a:avLst/>
          </a:prstGeom>
          <a:noFill/>
          <a:ln/>
        </p:spPr>
        <p:txBody>
          <a:bodyPr wrap="square" lIns="0" tIns="0" rIns="0" bIns="0" rtlCol="0" anchor="t"/>
          <a:lstStyle/>
          <a:p>
            <a:pPr algn="ctr" indent="0" marL="0">
              <a:buNone/>
            </a:pPr>
            <a:r>
              <a:rPr lang="en-US" sz="1020" b="1" dirty="0">
                <a:solidFill>
                  <a:srgbClr val="B3181E"/>
                </a:solidFill>
                <a:latin typeface="Aptos" pitchFamily="34" charset="0"/>
                <a:ea typeface="Aptos" pitchFamily="34" charset="-122"/>
                <a:cs typeface="Aptos" pitchFamily="34" charset="-120"/>
              </a:rPr>
              <a:t>6</a:t>
            </a:r>
            <a:endParaRPr lang="en-US" sz="1020" dirty="0"/>
          </a:p>
        </p:txBody>
      </p:sp>
      <p:sp>
        <p:nvSpPr>
          <p:cNvPr id="84" name="Shape 81"/>
          <p:cNvSpPr/>
          <p:nvPr/>
        </p:nvSpPr>
        <p:spPr>
          <a:xfrm>
            <a:off x="658368" y="5687568"/>
            <a:ext cx="45720" cy="182880"/>
          </a:xfrm>
          <a:prstGeom prst="rect">
            <a:avLst/>
          </a:prstGeom>
          <a:solidFill>
            <a:srgbClr val="8A6A12"/>
          </a:solidFill>
          <a:ln w="12700">
            <a:solidFill>
              <a:srgbClr val="8A6A12"/>
            </a:solidFill>
            <a:prstDash val="solid"/>
          </a:ln>
        </p:spPr>
      </p:sp>
      <p:sp>
        <p:nvSpPr>
          <p:cNvPr id="85" name="Text 82"/>
          <p:cNvSpPr txBox="1"/>
          <p:nvPr/>
        </p:nvSpPr>
        <p:spPr>
          <a:xfrm>
            <a:off x="804672" y="5678424"/>
            <a:ext cx="1024128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El nivel es el producto de probabilidad por impacto, en una escala de 1 a 3 que el propio agente definió en el documento.</a:t>
            </a:r>
            <a:endParaRPr lang="en-US" sz="880" dirty="0"/>
          </a:p>
        </p:txBody>
      </p:sp>
      <p:sp>
        <p:nvSpPr>
          <p:cNvPr id="86" name="Shape 83"/>
          <p:cNvSpPr/>
          <p:nvPr/>
        </p:nvSpPr>
        <p:spPr>
          <a:xfrm>
            <a:off x="658368" y="5943600"/>
            <a:ext cx="10874959" cy="457200"/>
          </a:xfrm>
          <a:prstGeom prst="rect">
            <a:avLst/>
          </a:prstGeom>
          <a:solidFill>
            <a:srgbClr val="102A43"/>
          </a:solidFill>
          <a:ln w="12700">
            <a:solidFill>
              <a:srgbClr val="102A43"/>
            </a:solidFill>
            <a:prstDash val="solid"/>
          </a:ln>
        </p:spPr>
      </p:sp>
      <p:sp>
        <p:nvSpPr>
          <p:cNvPr id="87" name="Text 84"/>
          <p:cNvSpPr txBox="1"/>
          <p:nvPr/>
        </p:nvSpPr>
        <p:spPr>
          <a:xfrm>
            <a:off x="950976" y="598017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Hay que decirlo de entrada: el plan es bueno.</a:t>
            </a:r>
            <a:endParaRPr lang="en-US" sz="13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COMPROBAR ANTES DE CREER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riesgo principal, convertido en prueba</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requisito del proyecto dice «hasta 3 reservas por semana». Si eso es cierto, quien tuvo tres en semanas pasadas debe poder reservar hoy.</a:t>
            </a:r>
            <a:endParaRPr lang="en-US" sz="1420" dirty="0"/>
          </a:p>
        </p:txBody>
      </p:sp>
      <p:sp>
        <p:nvSpPr>
          <p:cNvPr id="11" name="Shape 8"/>
          <p:cNvSpPr/>
          <p:nvPr/>
        </p:nvSpPr>
        <p:spPr>
          <a:xfrm>
            <a:off x="658368" y="2231136"/>
            <a:ext cx="6144768" cy="2596896"/>
          </a:xfrm>
          <a:prstGeom prst="roundRect">
            <a:avLst>
              <a:gd name="adj" fmla="val 1408"/>
            </a:avLst>
          </a:prstGeom>
          <a:solidFill>
            <a:srgbClr val="102A43"/>
          </a:solidFill>
          <a:ln w="12700">
            <a:solidFill>
              <a:srgbClr val="102A43"/>
            </a:solidFill>
            <a:prstDash val="solid"/>
          </a:ln>
        </p:spPr>
      </p:sp>
      <p:sp>
        <p:nvSpPr>
          <p:cNvPr id="12" name="Shape 9"/>
          <p:cNvSpPr/>
          <p:nvPr/>
        </p:nvSpPr>
        <p:spPr>
          <a:xfrm>
            <a:off x="786384" y="2340864"/>
            <a:ext cx="5888736"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14016"/>
            <a:ext cx="5669280"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prueba que convierte RP-01 en una pregunta con respuesta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798064"/>
            <a:ext cx="5724144" cy="1847088"/>
          </a:xfrm>
          <a:prstGeom prst="rect">
            <a:avLst/>
          </a:prstGeom>
        </p:spPr>
      </p:pic>
      <p:sp>
        <p:nvSpPr>
          <p:cNvPr id="15" name="Shape 11"/>
          <p:cNvSpPr/>
          <p:nvPr/>
        </p:nvSpPr>
        <p:spPr>
          <a:xfrm>
            <a:off x="6949440" y="2231136"/>
            <a:ext cx="4590288" cy="1353312"/>
          </a:xfrm>
          <a:prstGeom prst="roundRect">
            <a:avLst>
              <a:gd name="adj" fmla="val 2703"/>
            </a:avLst>
          </a:prstGeom>
          <a:solidFill>
            <a:srgbClr val="0F1720"/>
          </a:solidFill>
          <a:ln w="12700">
            <a:solidFill>
              <a:srgbClr val="0F1720"/>
            </a:solidFill>
            <a:prstDash val="solid"/>
          </a:ln>
        </p:spPr>
      </p:sp>
      <p:sp>
        <p:nvSpPr>
          <p:cNvPr id="16" name="Shape 12"/>
          <p:cNvSpPr/>
          <p:nvPr/>
        </p:nvSpPr>
        <p:spPr>
          <a:xfrm>
            <a:off x="7077456" y="2340864"/>
            <a:ext cx="4334256"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7205472" y="2414016"/>
            <a:ext cx="4078224"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resultado</a:t>
            </a:r>
            <a:endParaRPr lang="en-US" sz="1000" dirty="0"/>
          </a:p>
        </p:txBody>
      </p:sp>
      <p:sp>
        <p:nvSpPr>
          <p:cNvPr id="18" name="Text 14"/>
          <p:cNvSpPr/>
          <p:nvPr/>
        </p:nvSpPr>
        <p:spPr>
          <a:xfrm>
            <a:off x="7168896" y="2798064"/>
            <a:ext cx="3840480" cy="164592"/>
          </a:xfrm>
          <a:prstGeom prst="rect">
            <a:avLst/>
          </a:prstGeom>
          <a:noFill/>
          <a:ln/>
        </p:spPr>
        <p:txBody>
          <a:bodyPr wrap="square" lIns="0" tIns="0" rIns="0" bIns="0" rtlCol="0" anchor="ctr"/>
          <a:lstStyle/>
          <a:p>
            <a:pPr indent="0" marL="0">
              <a:buNone/>
            </a:pPr>
            <a:r>
              <a:rPr lang="en-US" sz="1020" dirty="0">
                <a:solidFill>
                  <a:srgbClr val="8AA0B6"/>
                </a:solidFill>
                <a:latin typeface="Consolas" pitchFamily="34" charset="0"/>
                <a:ea typeface="Consolas" pitchFamily="34" charset="-122"/>
                <a:cs typeface="Consolas" pitchFamily="34" charset="-120"/>
              </a:rPr>
              <a:t>assert 409 == 201</a:t>
            </a:r>
            <a:endParaRPr lang="en-US" sz="1020" dirty="0"/>
          </a:p>
        </p:txBody>
      </p:sp>
      <p:sp>
        <p:nvSpPr>
          <p:cNvPr id="19" name="Text 15"/>
          <p:cNvSpPr/>
          <p:nvPr/>
        </p:nvSpPr>
        <p:spPr>
          <a:xfrm>
            <a:off x="7168896" y="3054096"/>
            <a:ext cx="3840480"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1 failed in 0.62s</a:t>
            </a:r>
            <a:endParaRPr lang="en-US" sz="1020" dirty="0"/>
          </a:p>
        </p:txBody>
      </p:sp>
      <p:sp>
        <p:nvSpPr>
          <p:cNvPr id="20" name="Shape 16"/>
          <p:cNvSpPr/>
          <p:nvPr/>
        </p:nvSpPr>
        <p:spPr>
          <a:xfrm>
            <a:off x="6949440" y="3712464"/>
            <a:ext cx="4590288" cy="1115568"/>
          </a:xfrm>
          <a:prstGeom prst="rect">
            <a:avLst/>
          </a:prstGeom>
          <a:solidFill>
            <a:srgbClr val="FFFFFF"/>
          </a:solidFill>
          <a:ln w="12700">
            <a:solidFill>
              <a:srgbClr val="FFFFFF"/>
            </a:solidFill>
            <a:prstDash val="solid"/>
          </a:ln>
        </p:spPr>
      </p:sp>
      <p:sp>
        <p:nvSpPr>
          <p:cNvPr id="21" name="Shape 17"/>
          <p:cNvSpPr/>
          <p:nvPr/>
        </p:nvSpPr>
        <p:spPr>
          <a:xfrm>
            <a:off x="6949440" y="3712464"/>
            <a:ext cx="4590288" cy="54864"/>
          </a:xfrm>
          <a:prstGeom prst="rect">
            <a:avLst/>
          </a:prstGeom>
          <a:solidFill>
            <a:srgbClr val="102A43"/>
          </a:solidFill>
          <a:ln w="12700">
            <a:solidFill>
              <a:srgbClr val="102A43"/>
            </a:solidFill>
            <a:prstDash val="solid"/>
          </a:ln>
        </p:spPr>
      </p:sp>
      <p:sp>
        <p:nvSpPr>
          <p:cNvPr id="22" name="Text 18"/>
          <p:cNvSpPr txBox="1"/>
          <p:nvPr/>
        </p:nvSpPr>
        <p:spPr>
          <a:xfrm>
            <a:off x="7150608" y="3895344"/>
            <a:ext cx="4187952" cy="182880"/>
          </a:xfrm>
          <a:prstGeom prst="rect">
            <a:avLst/>
          </a:prstGeom>
          <a:noFill/>
          <a:ln/>
        </p:spPr>
        <p:txBody>
          <a:bodyPr wrap="square" lIns="0" tIns="0" rIns="0" bIns="0" rtlCol="0" anchor="t"/>
          <a:lstStyle/>
          <a:p>
            <a:pPr algn="l" indent="0" marL="0">
              <a:buNone/>
            </a:pPr>
            <a:r>
              <a:rPr lang="en-US" sz="960" b="1" spc="100" kern="0" dirty="0">
                <a:solidFill>
                  <a:srgbClr val="102A43"/>
                </a:solidFill>
                <a:latin typeface="Aptos" pitchFamily="34" charset="0"/>
                <a:ea typeface="Aptos" pitchFamily="34" charset="-122"/>
                <a:cs typeface="Aptos" pitchFamily="34" charset="-120"/>
              </a:rPr>
              <a:t>CÓMO SE LEE ESA LÍNEA</a:t>
            </a:r>
            <a:endParaRPr lang="en-US" sz="960" dirty="0"/>
          </a:p>
        </p:txBody>
      </p:sp>
      <p:sp>
        <p:nvSpPr>
          <p:cNvPr id="23" name="Text 19"/>
          <p:cNvSpPr txBox="1"/>
          <p:nvPr/>
        </p:nvSpPr>
        <p:spPr>
          <a:xfrm>
            <a:off x="7150608" y="4133088"/>
            <a:ext cx="4187952" cy="566928"/>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Obtenido a la izquierda, esperado a la derecha. El 201 significa «se creó algo nuevo» y es lo que el contrato manda devolver al aceptar. El 409 significa que la solicitud choca con el estado actual: el rechazo.</a:t>
            </a:r>
            <a:endParaRPr lang="en-US" sz="1020" dirty="0"/>
          </a:p>
        </p:txBody>
      </p:sp>
      <p:sp>
        <p:nvSpPr>
          <p:cNvPr id="24" name="Shape 20"/>
          <p:cNvSpPr/>
          <p:nvPr/>
        </p:nvSpPr>
        <p:spPr>
          <a:xfrm>
            <a:off x="658368" y="4846320"/>
            <a:ext cx="10874959" cy="713232"/>
          </a:xfrm>
          <a:prstGeom prst="rect">
            <a:avLst/>
          </a:prstGeom>
          <a:solidFill>
            <a:srgbClr val="F2E7D9"/>
          </a:solidFill>
          <a:ln w="12700">
            <a:solidFill>
              <a:srgbClr val="F2E7D9"/>
            </a:solidFill>
            <a:prstDash val="solid"/>
          </a:ln>
        </p:spPr>
      </p:sp>
      <p:sp>
        <p:nvSpPr>
          <p:cNvPr id="25" name="Shape 21"/>
          <p:cNvSpPr/>
          <p:nvPr/>
        </p:nvSpPr>
        <p:spPr>
          <a:xfrm>
            <a:off x="658368" y="4846320"/>
            <a:ext cx="54864" cy="713232"/>
          </a:xfrm>
          <a:prstGeom prst="rect">
            <a:avLst/>
          </a:prstGeom>
          <a:solidFill>
            <a:srgbClr val="B3181E"/>
          </a:solidFill>
          <a:ln w="12700">
            <a:solidFill>
              <a:srgbClr val="B3181E"/>
            </a:solidFill>
            <a:prstDash val="solid"/>
          </a:ln>
        </p:spPr>
      </p:sp>
      <p:sp>
        <p:nvSpPr>
          <p:cNvPr id="26" name="Text 22"/>
          <p:cNvSpPr txBox="1"/>
          <p:nvPr/>
        </p:nvSpPr>
        <p:spPr>
          <a:xfrm>
            <a:off x="932688" y="4937760"/>
            <a:ext cx="45720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Y LAS VEINTE PRUEBAS PASAN IGUAL</a:t>
            </a:r>
            <a:endParaRPr lang="en-US" sz="960" dirty="0"/>
          </a:p>
        </p:txBody>
      </p:sp>
      <p:sp>
        <p:nvSpPr>
          <p:cNvPr id="27" name="Text 23"/>
          <p:cNvSpPr txBox="1"/>
          <p:nvPr/>
        </p:nvSpPr>
        <p:spPr>
          <a:xfrm>
            <a:off x="932688" y="5157216"/>
            <a:ext cx="10326319" cy="365760"/>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La regla recibe el conteo ya hecho y decide bien. Contar mal ocurre antes, y eso nadie lo probó.</a:t>
            </a:r>
            <a:endParaRPr lang="en-US" sz="1100" dirty="0"/>
          </a:p>
        </p:txBody>
      </p:sp>
      <p:sp>
        <p:nvSpPr>
          <p:cNvPr id="28" name="Shape 24"/>
          <p:cNvSpPr/>
          <p:nvPr/>
        </p:nvSpPr>
        <p:spPr>
          <a:xfrm>
            <a:off x="658368" y="5669280"/>
            <a:ext cx="10874959" cy="457200"/>
          </a:xfrm>
          <a:prstGeom prst="rect">
            <a:avLst/>
          </a:prstGeom>
          <a:solidFill>
            <a:srgbClr val="102A43"/>
          </a:solidFill>
          <a:ln w="12700">
            <a:solidFill>
              <a:srgbClr val="102A43"/>
            </a:solidFill>
            <a:prstDash val="solid"/>
          </a:ln>
        </p:spPr>
      </p:sp>
      <p:sp>
        <p:nvSpPr>
          <p:cNvPr id="29" name="Text 25"/>
          <p:cNvSpPr txBox="1"/>
          <p:nvPr/>
        </p:nvSpPr>
        <p:spPr>
          <a:xfrm>
            <a:off x="950976" y="570585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No es un defecto que la suite no detectó. Es uno sobre el que nadie decidió.</a:t>
            </a:r>
            <a:endParaRPr lang="en-US" sz="13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HALLAZGO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De un nombre de variable a un requisito</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plan encontró un defecto real. Y trae una fila que cambia cómo se lee todo lo demás.</a:t>
            </a:r>
            <a:endParaRPr lang="en-US" sz="1420" dirty="0"/>
          </a:p>
        </p:txBody>
      </p:sp>
      <p:sp>
        <p:nvSpPr>
          <p:cNvPr id="11" name="Shape 8"/>
          <p:cNvSpPr/>
          <p:nvPr/>
        </p:nvSpPr>
        <p:spPr>
          <a:xfrm>
            <a:off x="658368" y="2231136"/>
            <a:ext cx="10874959" cy="969264"/>
          </a:xfrm>
          <a:prstGeom prst="rect">
            <a:avLst/>
          </a:prstGeom>
          <a:solidFill>
            <a:srgbClr val="EDE6DA"/>
          </a:solidFill>
          <a:ln w="12700">
            <a:solidFill>
              <a:srgbClr val="EDE6DA"/>
            </a:solidFill>
            <a:prstDash val="solid"/>
          </a:ln>
        </p:spPr>
      </p:sp>
      <p:sp>
        <p:nvSpPr>
          <p:cNvPr id="12" name="Shape 9"/>
          <p:cNvSpPr/>
          <p:nvPr/>
        </p:nvSpPr>
        <p:spPr>
          <a:xfrm>
            <a:off x="658368" y="2231136"/>
            <a:ext cx="54864" cy="969264"/>
          </a:xfrm>
          <a:prstGeom prst="rect">
            <a:avLst/>
          </a:prstGeom>
          <a:solidFill>
            <a:srgbClr val="B3181E"/>
          </a:solidFill>
          <a:ln w="12700">
            <a:solidFill>
              <a:srgbClr val="B3181E"/>
            </a:solidFill>
            <a:prstDash val="solid"/>
          </a:ln>
        </p:spPr>
      </p:sp>
      <p:sp>
        <p:nvSpPr>
          <p:cNvPr id="13" name="Text 10"/>
          <p:cNvSpPr txBox="1"/>
          <p:nvPr/>
        </p:nvSpPr>
        <p:spPr>
          <a:xfrm>
            <a:off x="914400" y="2359152"/>
            <a:ext cx="10362895" cy="530352"/>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«C-03 · Restricción: no existe un documento formal de requisitos. La base de prueba se deriva del código, de las constantes y de los nombres de las pruebas existentes.»</a:t>
            </a:r>
            <a:endParaRPr lang="en-US" sz="1180" dirty="0"/>
          </a:p>
        </p:txBody>
      </p:sp>
      <p:sp>
        <p:nvSpPr>
          <p:cNvPr id="14" name="Text 11"/>
          <p:cNvSpPr txBox="1"/>
          <p:nvPr/>
        </p:nvSpPr>
        <p:spPr>
          <a:xfrm>
            <a:off x="914400" y="2926080"/>
            <a:ext cx="10362895" cy="182880"/>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Escrito por el propio agente, en su tabla de restricciones</a:t>
            </a:r>
            <a:endParaRPr lang="en-US" sz="900" dirty="0"/>
          </a:p>
        </p:txBody>
      </p:sp>
      <p:sp>
        <p:nvSpPr>
          <p:cNvPr id="15" name="Shape 12"/>
          <p:cNvSpPr/>
          <p:nvPr/>
        </p:nvSpPr>
        <p:spPr>
          <a:xfrm>
            <a:off x="658368" y="3328416"/>
            <a:ext cx="3200400" cy="566928"/>
          </a:xfrm>
          <a:prstGeom prst="rect">
            <a:avLst/>
          </a:prstGeom>
          <a:solidFill>
            <a:srgbClr val="1D3A57"/>
          </a:solidFill>
          <a:ln w="12700">
            <a:solidFill>
              <a:srgbClr val="1D3A57"/>
            </a:solidFill>
            <a:prstDash val="solid"/>
          </a:ln>
        </p:spPr>
      </p:sp>
      <p:sp>
        <p:nvSpPr>
          <p:cNvPr id="16" name="Text 13"/>
          <p:cNvSpPr txBox="1"/>
          <p:nvPr/>
        </p:nvSpPr>
        <p:spPr>
          <a:xfrm>
            <a:off x="841248" y="3438144"/>
            <a:ext cx="28346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MAX_POR_SEMANA</a:t>
            </a:r>
            <a:endParaRPr lang="en-US" sz="1400" dirty="0"/>
          </a:p>
        </p:txBody>
      </p:sp>
      <p:sp>
        <p:nvSpPr>
          <p:cNvPr id="17" name="Shape 14"/>
          <p:cNvSpPr/>
          <p:nvPr/>
        </p:nvSpPr>
        <p:spPr>
          <a:xfrm>
            <a:off x="3986784" y="3611880"/>
            <a:ext cx="914400" cy="0"/>
          </a:xfrm>
          <a:prstGeom prst="line">
            <a:avLst/>
          </a:prstGeom>
          <a:noFill/>
          <a:ln w="12700">
            <a:solidFill>
              <a:srgbClr val="B3181E"/>
            </a:solidFill>
            <a:prstDash val="solid"/>
            <a:headEnd type="none"/>
            <a:tailEnd type="triangle"/>
          </a:ln>
        </p:spPr>
      </p:sp>
      <p:sp>
        <p:nvSpPr>
          <p:cNvPr id="18" name="Text 15"/>
          <p:cNvSpPr txBox="1"/>
          <p:nvPr/>
        </p:nvSpPr>
        <p:spPr>
          <a:xfrm>
            <a:off x="4169664" y="3236976"/>
            <a:ext cx="548640" cy="274320"/>
          </a:xfrm>
          <a:prstGeom prst="rect">
            <a:avLst/>
          </a:prstGeom>
          <a:noFill/>
          <a:ln/>
        </p:spPr>
        <p:txBody>
          <a:bodyPr wrap="square" lIns="0" tIns="0" rIns="0" bIns="0" rtlCol="0" anchor="t"/>
          <a:lstStyle/>
          <a:p>
            <a:pPr algn="ctr" indent="0" marL="0">
              <a:buNone/>
            </a:pPr>
            <a:r>
              <a:rPr lang="en-US" sz="1800" b="1" dirty="0">
                <a:solidFill>
                  <a:srgbClr val="B3181E"/>
                </a:solidFill>
                <a:latin typeface="Aptos Display" pitchFamily="34" charset="0"/>
                <a:ea typeface="Aptos Display" pitchFamily="34" charset="-122"/>
                <a:cs typeface="Aptos Display" pitchFamily="34" charset="-120"/>
              </a:rPr>
              <a:t>¿?</a:t>
            </a:r>
            <a:endParaRPr lang="en-US" sz="1800" dirty="0"/>
          </a:p>
        </p:txBody>
      </p:sp>
      <p:sp>
        <p:nvSpPr>
          <p:cNvPr id="19" name="Shape 16"/>
          <p:cNvSpPr/>
          <p:nvPr/>
        </p:nvSpPr>
        <p:spPr>
          <a:xfrm>
            <a:off x="5029200" y="3328416"/>
            <a:ext cx="3200400" cy="566928"/>
          </a:xfrm>
          <a:prstGeom prst="rect">
            <a:avLst/>
          </a:prstGeom>
          <a:solidFill>
            <a:srgbClr val="F2E7D9"/>
          </a:solidFill>
          <a:ln w="12700">
            <a:solidFill>
              <a:srgbClr val="B3181E"/>
            </a:solidFill>
            <a:prstDash val="solid"/>
          </a:ln>
        </p:spPr>
      </p:sp>
      <p:sp>
        <p:nvSpPr>
          <p:cNvPr id="20" name="Text 17"/>
          <p:cNvSpPr txBox="1"/>
          <p:nvPr/>
        </p:nvSpPr>
        <p:spPr>
          <a:xfrm>
            <a:off x="5212080" y="3438144"/>
            <a:ext cx="2834640" cy="329184"/>
          </a:xfrm>
          <a:prstGeom prst="rect">
            <a:avLst/>
          </a:prstGeom>
          <a:noFill/>
          <a:ln/>
        </p:spPr>
        <p:txBody>
          <a:bodyPr wrap="square" lIns="0" tIns="0" rIns="0" bIns="0" rtlCol="0" anchor="ctr"/>
          <a:lstStyle/>
          <a:p>
            <a:pPr algn="ctr" indent="0" marL="0">
              <a:buNone/>
            </a:pPr>
            <a:r>
              <a:rPr lang="en-US" sz="1400" b="1" dirty="0">
                <a:solidFill>
                  <a:srgbClr val="B3181E"/>
                </a:solidFill>
                <a:latin typeface="Aptos" pitchFamily="34" charset="0"/>
                <a:ea typeface="Aptos" pitchFamily="34" charset="-122"/>
                <a:cs typeface="Aptos" pitchFamily="34" charset="-120"/>
              </a:rPr>
              <a:t>«la regla es semanal»</a:t>
            </a:r>
            <a:endParaRPr lang="en-US" sz="1400" dirty="0"/>
          </a:p>
        </p:txBody>
      </p:sp>
      <p:sp>
        <p:nvSpPr>
          <p:cNvPr id="21" name="Text 18"/>
          <p:cNvSpPr txBox="1"/>
          <p:nvPr/>
        </p:nvSpPr>
        <p:spPr>
          <a:xfrm>
            <a:off x="8412480" y="3328416"/>
            <a:ext cx="3118104" cy="566928"/>
          </a:xfrm>
          <a:prstGeom prst="rect">
            <a:avLst/>
          </a:prstGeom>
          <a:noFill/>
          <a:ln/>
        </p:spPr>
        <p:txBody>
          <a:bodyPr wrap="square" lIns="0" tIns="0" rIns="0" bIns="0" rtlCol="0" anchor="t"/>
          <a:lstStyle/>
          <a:p>
            <a:pPr algn="l" indent="0" marL="0">
              <a:lnSpc>
                <a:spcPct val="112000"/>
              </a:lnSpc>
              <a:buNone/>
            </a:pPr>
            <a:r>
              <a:rPr lang="en-US" sz="1160" i="1" dirty="0">
                <a:solidFill>
                  <a:srgbClr val="52606D"/>
                </a:solidFill>
                <a:latin typeface="Aptos" pitchFamily="34" charset="0"/>
                <a:ea typeface="Aptos" pitchFamily="34" charset="-122"/>
                <a:cs typeface="Aptos" pitchFamily="34" charset="-120"/>
              </a:rPr>
              <a:t>Leyó un nombre de variable</a:t>
            </a:r>
            <a:endParaRPr lang="en-US" sz="1160" dirty="0"/>
          </a:p>
          <a:p>
            <a:pPr algn="l" indent="0" marL="0">
              <a:lnSpc>
                <a:spcPct val="112000"/>
              </a:lnSpc>
              <a:buNone/>
            </a:pPr>
            <a:r>
              <a:rPr lang="en-US" sz="1160" i="1" dirty="0">
                <a:solidFill>
                  <a:srgbClr val="52606D"/>
                </a:solidFill>
                <a:latin typeface="Aptos" pitchFamily="34" charset="0"/>
                <a:ea typeface="Aptos" pitchFamily="34" charset="-122"/>
                <a:cs typeface="Aptos" pitchFamily="34" charset="-120"/>
              </a:rPr>
              <a:t>y lo elevó a requisito.</a:t>
            </a:r>
            <a:endParaRPr lang="en-US" sz="1160" dirty="0"/>
          </a:p>
        </p:txBody>
      </p:sp>
      <p:sp>
        <p:nvSpPr>
          <p:cNvPr id="22" name="Shape 19"/>
          <p:cNvSpPr/>
          <p:nvPr/>
        </p:nvSpPr>
        <p:spPr>
          <a:xfrm>
            <a:off x="658368" y="3986784"/>
            <a:ext cx="5349240" cy="841248"/>
          </a:xfrm>
          <a:prstGeom prst="rect">
            <a:avLst/>
          </a:prstGeom>
          <a:solidFill>
            <a:srgbClr val="FFFFFF"/>
          </a:solidFill>
          <a:ln w="12700">
            <a:solidFill>
              <a:srgbClr val="FFFFFF"/>
            </a:solidFill>
            <a:prstDash val="solid"/>
          </a:ln>
        </p:spPr>
      </p:sp>
      <p:sp>
        <p:nvSpPr>
          <p:cNvPr id="23" name="Shape 20"/>
          <p:cNvSpPr/>
          <p:nvPr/>
        </p:nvSpPr>
        <p:spPr>
          <a:xfrm>
            <a:off x="658368" y="3986784"/>
            <a:ext cx="54864" cy="841248"/>
          </a:xfrm>
          <a:prstGeom prst="rect">
            <a:avLst/>
          </a:prstGeom>
          <a:solidFill>
            <a:srgbClr val="2E7D4F"/>
          </a:solidFill>
          <a:ln w="12700">
            <a:solidFill>
              <a:srgbClr val="2E7D4F"/>
            </a:solidFill>
            <a:prstDash val="solid"/>
          </a:ln>
        </p:spPr>
      </p:sp>
      <p:sp>
        <p:nvSpPr>
          <p:cNvPr id="24" name="Text 21"/>
          <p:cNvSpPr txBox="1"/>
          <p:nvPr/>
        </p:nvSpPr>
        <p:spPr>
          <a:xfrm>
            <a:off x="914400" y="4114800"/>
            <a:ext cx="4846320" cy="256032"/>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Si el nombre estaba bien elegido</a:t>
            </a:r>
            <a:endParaRPr lang="en-US" sz="1300" dirty="0"/>
          </a:p>
        </p:txBody>
      </p:sp>
      <p:sp>
        <p:nvSpPr>
          <p:cNvPr id="25" name="Text 22"/>
          <p:cNvSpPr txBox="1"/>
          <p:nvPr/>
        </p:nvSpPr>
        <p:spPr>
          <a:xfrm>
            <a:off x="914400" y="4407408"/>
            <a:ext cx="4846320" cy="310896"/>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Acertó. Es lo que ocurrió aquí.</a:t>
            </a:r>
            <a:endParaRPr lang="en-US" sz="1100" dirty="0"/>
          </a:p>
        </p:txBody>
      </p:sp>
      <p:sp>
        <p:nvSpPr>
          <p:cNvPr id="26" name="Shape 23"/>
          <p:cNvSpPr/>
          <p:nvPr/>
        </p:nvSpPr>
        <p:spPr>
          <a:xfrm>
            <a:off x="6181344" y="3986784"/>
            <a:ext cx="5349240" cy="841248"/>
          </a:xfrm>
          <a:prstGeom prst="rect">
            <a:avLst/>
          </a:prstGeom>
          <a:solidFill>
            <a:srgbClr val="F2E7D9"/>
          </a:solidFill>
          <a:ln w="12700">
            <a:solidFill>
              <a:srgbClr val="F2E7D9"/>
            </a:solidFill>
            <a:prstDash val="solid"/>
          </a:ln>
        </p:spPr>
      </p:sp>
      <p:sp>
        <p:nvSpPr>
          <p:cNvPr id="27" name="Shape 24"/>
          <p:cNvSpPr/>
          <p:nvPr/>
        </p:nvSpPr>
        <p:spPr>
          <a:xfrm>
            <a:off x="6181344" y="3986784"/>
            <a:ext cx="54864" cy="841248"/>
          </a:xfrm>
          <a:prstGeom prst="rect">
            <a:avLst/>
          </a:prstGeom>
          <a:solidFill>
            <a:srgbClr val="B3181E"/>
          </a:solidFill>
          <a:ln w="12700">
            <a:solidFill>
              <a:srgbClr val="B3181E"/>
            </a:solidFill>
            <a:prstDash val="solid"/>
          </a:ln>
        </p:spPr>
      </p:sp>
      <p:sp>
        <p:nvSpPr>
          <p:cNvPr id="28" name="Text 25"/>
          <p:cNvSpPr txBox="1"/>
          <p:nvPr/>
        </p:nvSpPr>
        <p:spPr>
          <a:xfrm>
            <a:off x="6437376" y="4114800"/>
            <a:ext cx="4846320" cy="256032"/>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Si el nombre estaba mal elegido</a:t>
            </a:r>
            <a:endParaRPr lang="en-US" sz="1300" dirty="0"/>
          </a:p>
        </p:txBody>
      </p:sp>
      <p:sp>
        <p:nvSpPr>
          <p:cNvPr id="29" name="Text 26"/>
          <p:cNvSpPr txBox="1"/>
          <p:nvPr/>
        </p:nvSpPr>
        <p:spPr>
          <a:xfrm>
            <a:off x="6437376" y="4407408"/>
            <a:ext cx="4846320" cy="310896"/>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El mismo riesgo, el mismo nivel 9, la misma redacción segura. Y equivocado.</a:t>
            </a:r>
            <a:endParaRPr lang="en-US" sz="1100" dirty="0"/>
          </a:p>
        </p:txBody>
      </p:sp>
      <p:sp>
        <p:nvSpPr>
          <p:cNvPr id="30" name="Text 27"/>
          <p:cNvSpPr txBox="1"/>
          <p:nvPr/>
        </p:nvSpPr>
        <p:spPr>
          <a:xfrm>
            <a:off x="658368" y="4974336"/>
            <a:ext cx="54864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UN PLAN MEZCLA DOS CLASES DE AFIRMACIÓN</a:t>
            </a:r>
            <a:endParaRPr lang="en-US" sz="960" dirty="0"/>
          </a:p>
        </p:txBody>
      </p:sp>
      <p:sp>
        <p:nvSpPr>
          <p:cNvPr id="31" name="Shape 28"/>
          <p:cNvSpPr/>
          <p:nvPr/>
        </p:nvSpPr>
        <p:spPr>
          <a:xfrm>
            <a:off x="658368" y="5212080"/>
            <a:ext cx="5349240" cy="365760"/>
          </a:xfrm>
          <a:prstGeom prst="rect">
            <a:avLst/>
          </a:prstGeom>
          <a:solidFill>
            <a:srgbClr val="EDE6DA"/>
          </a:solidFill>
          <a:ln w="12700">
            <a:solidFill>
              <a:srgbClr val="EDE6DA"/>
            </a:solidFill>
            <a:prstDash val="solid"/>
          </a:ln>
        </p:spPr>
      </p:sp>
      <p:sp>
        <p:nvSpPr>
          <p:cNvPr id="32" name="Shape 29"/>
          <p:cNvSpPr/>
          <p:nvPr/>
        </p:nvSpPr>
        <p:spPr>
          <a:xfrm>
            <a:off x="658368" y="5212080"/>
            <a:ext cx="54864" cy="365760"/>
          </a:xfrm>
          <a:prstGeom prst="rect">
            <a:avLst/>
          </a:prstGeom>
          <a:solidFill>
            <a:srgbClr val="2E7D4F"/>
          </a:solidFill>
          <a:ln w="12700">
            <a:solidFill>
              <a:srgbClr val="2E7D4F"/>
            </a:solidFill>
            <a:prstDash val="solid"/>
          </a:ln>
        </p:spPr>
      </p:sp>
      <p:sp>
        <p:nvSpPr>
          <p:cNvPr id="33" name="Text 30"/>
          <p:cNvSpPr txBox="1"/>
          <p:nvPr/>
        </p:nvSpPr>
        <p:spPr>
          <a:xfrm>
            <a:off x="877824" y="5294376"/>
            <a:ext cx="1920240" cy="182880"/>
          </a:xfrm>
          <a:prstGeom prst="rect">
            <a:avLst/>
          </a:prstGeom>
          <a:noFill/>
          <a:ln/>
        </p:spPr>
        <p:txBody>
          <a:bodyPr wrap="square" lIns="0" tIns="0" rIns="0" bIns="0" rtlCol="0" anchor="t"/>
          <a:lstStyle/>
          <a:p>
            <a:pPr algn="l" indent="0" marL="0">
              <a:buNone/>
            </a:pPr>
            <a:r>
              <a:rPr lang="en-US" sz="920" b="1" spc="90" kern="0" dirty="0">
                <a:solidFill>
                  <a:srgbClr val="2E7D4F"/>
                </a:solidFill>
                <a:latin typeface="Aptos" pitchFamily="34" charset="0"/>
                <a:ea typeface="Aptos" pitchFamily="34" charset="-122"/>
                <a:cs typeface="Aptos" pitchFamily="34" charset="-120"/>
              </a:rPr>
              <a:t>SOBRE EL SISTEMA</a:t>
            </a:r>
            <a:endParaRPr lang="en-US" sz="920" dirty="0"/>
          </a:p>
        </p:txBody>
      </p:sp>
      <p:sp>
        <p:nvSpPr>
          <p:cNvPr id="34" name="Text 31"/>
          <p:cNvSpPr txBox="1"/>
          <p:nvPr/>
        </p:nvSpPr>
        <p:spPr>
          <a:xfrm>
            <a:off x="2944368" y="5285232"/>
            <a:ext cx="2926080" cy="219456"/>
          </a:xfrm>
          <a:prstGeom prst="rect">
            <a:avLst/>
          </a:prstGeom>
          <a:noFill/>
          <a:ln/>
        </p:spPr>
        <p:txBody>
          <a:bodyPr wrap="square" lIns="0" tIns="0" rIns="0" bIns="0" rtlCol="0" anchor="t"/>
          <a:lstStyle/>
          <a:p>
            <a:pPr algn="l" indent="0" marL="0">
              <a:buNone/>
            </a:pPr>
            <a:r>
              <a:rPr lang="en-US" sz="1060" dirty="0">
                <a:solidFill>
                  <a:srgbClr val="243B53"/>
                </a:solidFill>
                <a:latin typeface="Aptos" pitchFamily="34" charset="0"/>
                <a:ea typeface="Aptos" pitchFamily="34" charset="-122"/>
                <a:cs typeface="Aptos" pitchFamily="34" charset="-120"/>
              </a:rPr>
              <a:t>Se comprueban ejecutando.</a:t>
            </a:r>
            <a:endParaRPr lang="en-US" sz="1060" dirty="0"/>
          </a:p>
        </p:txBody>
      </p:sp>
      <p:sp>
        <p:nvSpPr>
          <p:cNvPr id="35" name="Shape 32"/>
          <p:cNvSpPr/>
          <p:nvPr/>
        </p:nvSpPr>
        <p:spPr>
          <a:xfrm>
            <a:off x="6181344" y="5212080"/>
            <a:ext cx="5349240" cy="365760"/>
          </a:xfrm>
          <a:prstGeom prst="rect">
            <a:avLst/>
          </a:prstGeom>
          <a:solidFill>
            <a:srgbClr val="EDE6DA"/>
          </a:solidFill>
          <a:ln w="12700">
            <a:solidFill>
              <a:srgbClr val="EDE6DA"/>
            </a:solidFill>
            <a:prstDash val="solid"/>
          </a:ln>
        </p:spPr>
      </p:sp>
      <p:sp>
        <p:nvSpPr>
          <p:cNvPr id="36" name="Shape 33"/>
          <p:cNvSpPr/>
          <p:nvPr/>
        </p:nvSpPr>
        <p:spPr>
          <a:xfrm>
            <a:off x="6181344" y="5212080"/>
            <a:ext cx="54864" cy="365760"/>
          </a:xfrm>
          <a:prstGeom prst="rect">
            <a:avLst/>
          </a:prstGeom>
          <a:solidFill>
            <a:srgbClr val="102A43"/>
          </a:solidFill>
          <a:ln w="12700">
            <a:solidFill>
              <a:srgbClr val="102A43"/>
            </a:solidFill>
            <a:prstDash val="solid"/>
          </a:ln>
        </p:spPr>
      </p:sp>
      <p:sp>
        <p:nvSpPr>
          <p:cNvPr id="37" name="Text 34"/>
          <p:cNvSpPr txBox="1"/>
          <p:nvPr/>
        </p:nvSpPr>
        <p:spPr>
          <a:xfrm>
            <a:off x="6400800" y="5294376"/>
            <a:ext cx="1920240" cy="182880"/>
          </a:xfrm>
          <a:prstGeom prst="rect">
            <a:avLst/>
          </a:prstGeom>
          <a:noFill/>
          <a:ln/>
        </p:spPr>
        <p:txBody>
          <a:bodyPr wrap="square" lIns="0" tIns="0" rIns="0" bIns="0" rtlCol="0" anchor="t"/>
          <a:lstStyle/>
          <a:p>
            <a:pPr algn="l" indent="0" marL="0">
              <a:buNone/>
            </a:pPr>
            <a:r>
              <a:rPr lang="en-US" sz="920" b="1" spc="90" kern="0" dirty="0">
                <a:solidFill>
                  <a:srgbClr val="102A43"/>
                </a:solidFill>
                <a:latin typeface="Aptos" pitchFamily="34" charset="0"/>
                <a:ea typeface="Aptos" pitchFamily="34" charset="-122"/>
                <a:cs typeface="Aptos" pitchFamily="34" charset="-120"/>
              </a:rPr>
              <a:t>SOBRE DECISIONES</a:t>
            </a:r>
            <a:endParaRPr lang="en-US" sz="920" dirty="0"/>
          </a:p>
        </p:txBody>
      </p:sp>
      <p:sp>
        <p:nvSpPr>
          <p:cNvPr id="38" name="Text 35"/>
          <p:cNvSpPr txBox="1"/>
          <p:nvPr/>
        </p:nvSpPr>
        <p:spPr>
          <a:xfrm>
            <a:off x="8467344" y="5285232"/>
            <a:ext cx="2926080" cy="219456"/>
          </a:xfrm>
          <a:prstGeom prst="rect">
            <a:avLst/>
          </a:prstGeom>
          <a:noFill/>
          <a:ln/>
        </p:spPr>
        <p:txBody>
          <a:bodyPr wrap="square" lIns="0" tIns="0" rIns="0" bIns="0" rtlCol="0" anchor="t"/>
          <a:lstStyle/>
          <a:p>
            <a:pPr algn="l" indent="0" marL="0">
              <a:buNone/>
            </a:pPr>
            <a:r>
              <a:rPr lang="en-US" sz="1060" dirty="0">
                <a:solidFill>
                  <a:srgbClr val="243B53"/>
                </a:solidFill>
                <a:latin typeface="Aptos" pitchFamily="34" charset="0"/>
                <a:ea typeface="Aptos" pitchFamily="34" charset="-122"/>
                <a:cs typeface="Aptos" pitchFamily="34" charset="-120"/>
              </a:rPr>
              <a:t>Se sostienen y se firman.</a:t>
            </a:r>
            <a:endParaRPr lang="en-US" sz="1060" dirty="0"/>
          </a:p>
        </p:txBody>
      </p:sp>
      <p:sp>
        <p:nvSpPr>
          <p:cNvPr id="39" name="Shape 36"/>
          <p:cNvSpPr/>
          <p:nvPr/>
        </p:nvSpPr>
        <p:spPr>
          <a:xfrm>
            <a:off x="658368" y="5705856"/>
            <a:ext cx="10874959" cy="438912"/>
          </a:xfrm>
          <a:prstGeom prst="rect">
            <a:avLst/>
          </a:prstGeom>
          <a:solidFill>
            <a:srgbClr val="102A43"/>
          </a:solidFill>
          <a:ln w="12700">
            <a:solidFill>
              <a:srgbClr val="102A43"/>
            </a:solidFill>
            <a:prstDash val="solid"/>
          </a:ln>
        </p:spPr>
      </p:sp>
      <p:sp>
        <p:nvSpPr>
          <p:cNvPr id="40" name="Text 37"/>
          <p:cNvSpPr txBox="1"/>
          <p:nvPr/>
        </p:nvSpPr>
        <p:spPr>
          <a:xfrm>
            <a:off x="950976" y="5742432"/>
            <a:ext cx="10289743" cy="365760"/>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Las primeras se pueden ejecutar. Dejarlas en un documento es desperdiciarlas.</a:t>
            </a:r>
            <a:endParaRPr lang="en-US" sz="13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repartir el esfuerzo</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suite informa veinte pruebas en verde y el plan lista trece riesgos, cuatro de ellos altos. Un compañero concluye que las veinte pruebas están mal escritas. ¿Tiene razón?</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Revisa qué recibe la función del cupo como argumento y quién calcula ese argumento.</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agente escribió que su base de prueba salió del código y de los nombres, y aun así acertó en el riesgo principal. Si el resultado fue correcto, ¿qué problema queda?</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Piensa qué documento habría salido si la constante estuviera mal nombrada. Compáralo con el que salió.</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norma permite omitir partes del plan si se registra el subconjunto y se justifica el recorte. ¿Qué es exactamente lo que entonces no te deja hacer?</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Compara dos planes sin calendario, uno que lo declara y otro que no. ¿Qué puede hacer con cada uno quien llegue en seis meses?</a:t>
            </a:r>
            <a:endParaRPr lang="en-US" sz="11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NO TIENE RAZÓN</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Las veinte están bien escritas. El defecto está antes de la función que prueban.</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La prueba recibe el conteo ya hecho; contar mal ocurre un nivel más arriba.</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Culpar a la suite de no encontrar algo que en su nivel no puede ocurrir.</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QUEDA QUE FUE UNA ADIVINANZA</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Acertó por coincidencia entre lo que alguien quiso nombrar y lo que el requisito pedía.</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Falta el documento de requisitos: sin él, el acierto no se distingue del error.</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Tomar un plan bien redactado como prueba de que su contenido es correcto.</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NO TE DEJA OMITIR EN SILENCIO</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Recortar está permitido; lo prohibido es que el recorte no se distinga de un olvido.</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La conformidad no está en cuánto cubres, sino en que se pueda leer qué decidiste.</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Creer que cumplir la norma es entregar las diez subcláusulas completas.</a:t>
            </a:r>
            <a:endParaRPr lang="en-US" sz="10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18</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2 DE 4 · 25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El esfuerzo se reparte por consecuencia</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Trece riesgos sobre la mesa y probarlos todos por igual no es una opción. Hace falta un criterio para repartir, y después medir si el esfuerzo que ya está invertido coincide con él.</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DECLARAR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se prueba y qué queda fuera</a:t>
            </a:r>
            <a:endParaRPr lang="en-US" sz="920" dirty="0"/>
          </a:p>
        </p:txBody>
      </p:sp>
      <p:sp>
        <p:nvSpPr>
          <p:cNvPr id="16" name="Shape 13"/>
          <p:cNvSpPr/>
          <p:nvPr/>
        </p:nvSpPr>
        <p:spPr>
          <a:xfrm>
            <a:off x="3409112" y="4901184"/>
            <a:ext cx="2622728" cy="786384"/>
          </a:xfrm>
          <a:prstGeom prst="rect">
            <a:avLst/>
          </a:prstGeom>
          <a:solidFill>
            <a:srgbClr val="D62027"/>
          </a:solidFill>
          <a:ln w="12700">
            <a:solidFill>
              <a:srgbClr val="D6202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PRIORIZAR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Dónde duele más un fallo</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TRAZAR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prueba responde a qué requisito</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COMPROBAR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Que la traza sea verdadera</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DEFINIR ANTES DE USAR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Un riesgo es un evento que todavía no ocurrió</a:t>
            </a:r>
            <a:endParaRPr lang="en-US" sz="27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En el uso corriente «riesgo» significa «algo que me preocupa». Con esa definición no se puede ordenar nada.</a:t>
            </a:r>
            <a:endParaRPr lang="en-US" sz="1420" dirty="0"/>
          </a:p>
        </p:txBody>
      </p:sp>
      <p:sp>
        <p:nvSpPr>
          <p:cNvPr id="11" name="Shape 8"/>
          <p:cNvSpPr/>
          <p:nvPr/>
        </p:nvSpPr>
        <p:spPr>
          <a:xfrm>
            <a:off x="658368" y="2231136"/>
            <a:ext cx="10874959" cy="731520"/>
          </a:xfrm>
          <a:prstGeom prst="rect">
            <a:avLst/>
          </a:prstGeom>
          <a:solidFill>
            <a:srgbClr val="FFFFFF"/>
          </a:solidFill>
          <a:ln w="12700">
            <a:solidFill>
              <a:srgbClr val="FFFFFF"/>
            </a:solidFill>
            <a:prstDash val="solid"/>
          </a:ln>
        </p:spPr>
      </p:sp>
      <p:sp>
        <p:nvSpPr>
          <p:cNvPr id="12" name="Shape 9"/>
          <p:cNvSpPr/>
          <p:nvPr/>
        </p:nvSpPr>
        <p:spPr>
          <a:xfrm>
            <a:off x="658368" y="2231136"/>
            <a:ext cx="54864" cy="731520"/>
          </a:xfrm>
          <a:prstGeom prst="rect">
            <a:avLst/>
          </a:prstGeom>
          <a:solidFill>
            <a:srgbClr val="102A43"/>
          </a:solidFill>
          <a:ln w="12700">
            <a:solidFill>
              <a:srgbClr val="102A43"/>
            </a:solidFill>
            <a:prstDash val="solid"/>
          </a:ln>
        </p:spPr>
      </p:sp>
      <p:sp>
        <p:nvSpPr>
          <p:cNvPr id="13" name="Text 10"/>
          <p:cNvSpPr txBox="1"/>
          <p:nvPr/>
        </p:nvSpPr>
        <p:spPr>
          <a:xfrm>
            <a:off x="896112" y="2359152"/>
            <a:ext cx="10417759"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RIESGO · ISTQB 5.2.1 · TRADUCCIÓN DEL INGLÉS</a:t>
            </a:r>
            <a:endParaRPr lang="en-US" sz="920" dirty="0"/>
          </a:p>
        </p:txBody>
      </p:sp>
      <p:sp>
        <p:nvSpPr>
          <p:cNvPr id="14" name="Text 11"/>
          <p:cNvSpPr txBox="1"/>
          <p:nvPr/>
        </p:nvSpPr>
        <p:spPr>
          <a:xfrm>
            <a:off x="896112" y="2615184"/>
            <a:ext cx="10417759" cy="237744"/>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Un evento, peligro, amenaza o situación potencial cuya ocurrencia causa un efecto adverso.</a:t>
            </a:r>
            <a:endParaRPr lang="en-US" sz="1210" dirty="0"/>
          </a:p>
        </p:txBody>
      </p:sp>
      <p:sp>
        <p:nvSpPr>
          <p:cNvPr id="15" name="Text 12"/>
          <p:cNvSpPr txBox="1"/>
          <p:nvPr/>
        </p:nvSpPr>
        <p:spPr>
          <a:xfrm>
            <a:off x="658368" y="3072384"/>
            <a:ext cx="73152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LA PROBABILIDAD DE UN RIESGO VIVE ENTRE DOS EXTREMOS, SIN TOCARLOS</a:t>
            </a:r>
            <a:endParaRPr lang="en-US" sz="960" dirty="0"/>
          </a:p>
        </p:txBody>
      </p:sp>
      <p:sp>
        <p:nvSpPr>
          <p:cNvPr id="16" name="Shape 13"/>
          <p:cNvSpPr/>
          <p:nvPr/>
        </p:nvSpPr>
        <p:spPr>
          <a:xfrm>
            <a:off x="2688336" y="3913632"/>
            <a:ext cx="6693408" cy="292608"/>
          </a:xfrm>
          <a:prstGeom prst="rect">
            <a:avLst/>
          </a:prstGeom>
          <a:solidFill>
            <a:srgbClr val="F2E7D9"/>
          </a:solidFill>
          <a:ln w="12700">
            <a:solidFill>
              <a:srgbClr val="F2E7D9"/>
            </a:solidFill>
            <a:prstDash val="solid"/>
          </a:ln>
        </p:spPr>
      </p:sp>
      <p:sp>
        <p:nvSpPr>
          <p:cNvPr id="17" name="Shape 14"/>
          <p:cNvSpPr/>
          <p:nvPr/>
        </p:nvSpPr>
        <p:spPr>
          <a:xfrm>
            <a:off x="1828800" y="4059936"/>
            <a:ext cx="7955280" cy="0"/>
          </a:xfrm>
          <a:prstGeom prst="line">
            <a:avLst/>
          </a:prstGeom>
          <a:noFill/>
          <a:ln w="12700">
            <a:solidFill>
              <a:srgbClr val="52606D"/>
            </a:solidFill>
            <a:prstDash val="solid"/>
            <a:headEnd type="none"/>
            <a:tailEnd type="none"/>
          </a:ln>
        </p:spPr>
      </p:sp>
      <p:sp>
        <p:nvSpPr>
          <p:cNvPr id="18" name="Shape 15"/>
          <p:cNvSpPr/>
          <p:nvPr/>
        </p:nvSpPr>
        <p:spPr>
          <a:xfrm>
            <a:off x="1810512" y="3840480"/>
            <a:ext cx="45720" cy="438912"/>
          </a:xfrm>
          <a:prstGeom prst="rect">
            <a:avLst/>
          </a:prstGeom>
          <a:solidFill>
            <a:srgbClr val="B3181E"/>
          </a:solidFill>
          <a:ln w="12700">
            <a:solidFill>
              <a:srgbClr val="B3181E"/>
            </a:solidFill>
            <a:prstDash val="solid"/>
          </a:ln>
        </p:spPr>
      </p:sp>
      <p:sp>
        <p:nvSpPr>
          <p:cNvPr id="19" name="Text 16"/>
          <p:cNvSpPr txBox="1"/>
          <p:nvPr/>
        </p:nvSpPr>
        <p:spPr>
          <a:xfrm>
            <a:off x="1417320" y="3383280"/>
            <a:ext cx="822960" cy="365760"/>
          </a:xfrm>
          <a:prstGeom prst="rect">
            <a:avLst/>
          </a:prstGeom>
          <a:noFill/>
          <a:ln/>
        </p:spPr>
        <p:txBody>
          <a:bodyPr wrap="square" lIns="0" tIns="0" rIns="0" bIns="0" rtlCol="0" anchor="t"/>
          <a:lstStyle/>
          <a:p>
            <a:pPr algn="ctr" indent="0" marL="0">
              <a:buNone/>
            </a:pPr>
            <a:r>
              <a:rPr lang="en-US" sz="2400" b="1" dirty="0">
                <a:solidFill>
                  <a:srgbClr val="B3181E"/>
                </a:solidFill>
                <a:latin typeface="Aptos Display" pitchFamily="34" charset="0"/>
                <a:ea typeface="Aptos Display" pitchFamily="34" charset="-122"/>
                <a:cs typeface="Aptos Display" pitchFamily="34" charset="-120"/>
              </a:rPr>
              <a:t>0</a:t>
            </a:r>
            <a:endParaRPr lang="en-US" sz="2400" dirty="0"/>
          </a:p>
        </p:txBody>
      </p:sp>
      <p:sp>
        <p:nvSpPr>
          <p:cNvPr id="20" name="Text 17"/>
          <p:cNvSpPr txBox="1"/>
          <p:nvPr/>
        </p:nvSpPr>
        <p:spPr>
          <a:xfrm>
            <a:off x="685800" y="4370832"/>
            <a:ext cx="2286000" cy="457200"/>
          </a:xfrm>
          <a:prstGeom prst="rect">
            <a:avLst/>
          </a:prstGeom>
          <a:noFill/>
          <a:ln/>
        </p:spPr>
        <p:txBody>
          <a:bodyPr wrap="square" lIns="0" tIns="0" rIns="0" bIns="0" rtlCol="0" anchor="t"/>
          <a:lstStyle/>
          <a:p>
            <a:pPr algn="ctr" indent="0" marL="0">
              <a:lnSpc>
                <a:spcPct val="110000"/>
              </a:lnSpc>
              <a:buNone/>
            </a:pPr>
            <a:r>
              <a:rPr lang="en-US" sz="1060" dirty="0">
                <a:solidFill>
                  <a:srgbClr val="B3181E"/>
                </a:solidFill>
                <a:latin typeface="Aptos" pitchFamily="34" charset="0"/>
                <a:ea typeface="Aptos" pitchFamily="34" charset="-122"/>
                <a:cs typeface="Aptos" pitchFamily="34" charset="-120"/>
              </a:rPr>
              <a:t>No puede ocurrir.</a:t>
            </a:r>
            <a:endParaRPr lang="en-US" sz="1060" dirty="0"/>
          </a:p>
          <a:p>
            <a:pPr algn="ctr" indent="0" marL="0">
              <a:lnSpc>
                <a:spcPct val="110000"/>
              </a:lnSpc>
              <a:buNone/>
            </a:pPr>
            <a:r>
              <a:rPr lang="en-US" sz="1060" dirty="0">
                <a:solidFill>
                  <a:srgbClr val="B3181E"/>
                </a:solidFill>
                <a:latin typeface="Aptos" pitchFamily="34" charset="0"/>
                <a:ea typeface="Aptos" pitchFamily="34" charset="-122"/>
                <a:cs typeface="Aptos" pitchFamily="34" charset="-120"/>
              </a:rPr>
              <a:t>Eso no es un riesgo.</a:t>
            </a:r>
            <a:endParaRPr lang="en-US" sz="1060" dirty="0"/>
          </a:p>
        </p:txBody>
      </p:sp>
      <p:sp>
        <p:nvSpPr>
          <p:cNvPr id="21" name="Shape 18"/>
          <p:cNvSpPr/>
          <p:nvPr/>
        </p:nvSpPr>
        <p:spPr>
          <a:xfrm>
            <a:off x="9491472" y="3840480"/>
            <a:ext cx="45720" cy="438912"/>
          </a:xfrm>
          <a:prstGeom prst="rect">
            <a:avLst/>
          </a:prstGeom>
          <a:solidFill>
            <a:srgbClr val="B3181E"/>
          </a:solidFill>
          <a:ln w="12700">
            <a:solidFill>
              <a:srgbClr val="B3181E"/>
            </a:solidFill>
            <a:prstDash val="solid"/>
          </a:ln>
        </p:spPr>
      </p:sp>
      <p:sp>
        <p:nvSpPr>
          <p:cNvPr id="22" name="Text 19"/>
          <p:cNvSpPr txBox="1"/>
          <p:nvPr/>
        </p:nvSpPr>
        <p:spPr>
          <a:xfrm>
            <a:off x="9098280" y="3383280"/>
            <a:ext cx="822960" cy="365760"/>
          </a:xfrm>
          <a:prstGeom prst="rect">
            <a:avLst/>
          </a:prstGeom>
          <a:noFill/>
          <a:ln/>
        </p:spPr>
        <p:txBody>
          <a:bodyPr wrap="square" lIns="0" tIns="0" rIns="0" bIns="0" rtlCol="0" anchor="t"/>
          <a:lstStyle/>
          <a:p>
            <a:pPr algn="ctr" indent="0" marL="0">
              <a:buNone/>
            </a:pPr>
            <a:r>
              <a:rPr lang="en-US" sz="2400" b="1" dirty="0">
                <a:solidFill>
                  <a:srgbClr val="B3181E"/>
                </a:solidFill>
                <a:latin typeface="Aptos Display" pitchFamily="34" charset="0"/>
                <a:ea typeface="Aptos Display" pitchFamily="34" charset="-122"/>
                <a:cs typeface="Aptos Display" pitchFamily="34" charset="-120"/>
              </a:rPr>
              <a:t>1</a:t>
            </a:r>
            <a:endParaRPr lang="en-US" sz="2400" dirty="0"/>
          </a:p>
        </p:txBody>
      </p:sp>
      <p:sp>
        <p:nvSpPr>
          <p:cNvPr id="23" name="Text 20"/>
          <p:cNvSpPr txBox="1"/>
          <p:nvPr/>
        </p:nvSpPr>
        <p:spPr>
          <a:xfrm>
            <a:off x="8366760" y="4370832"/>
            <a:ext cx="2286000" cy="457200"/>
          </a:xfrm>
          <a:prstGeom prst="rect">
            <a:avLst/>
          </a:prstGeom>
          <a:noFill/>
          <a:ln/>
        </p:spPr>
        <p:txBody>
          <a:bodyPr wrap="square" lIns="0" tIns="0" rIns="0" bIns="0" rtlCol="0" anchor="t"/>
          <a:lstStyle/>
          <a:p>
            <a:pPr algn="ctr" indent="0" marL="0">
              <a:lnSpc>
                <a:spcPct val="110000"/>
              </a:lnSpc>
              <a:buNone/>
            </a:pPr>
            <a:r>
              <a:rPr lang="en-US" sz="1060" dirty="0">
                <a:solidFill>
                  <a:srgbClr val="B3181E"/>
                </a:solidFill>
                <a:latin typeface="Aptos" pitchFamily="34" charset="0"/>
                <a:ea typeface="Aptos" pitchFamily="34" charset="-122"/>
                <a:cs typeface="Aptos" pitchFamily="34" charset="-120"/>
              </a:rPr>
              <a:t>Ya ocurre siempre.</a:t>
            </a:r>
            <a:endParaRPr lang="en-US" sz="1060" dirty="0"/>
          </a:p>
          <a:p>
            <a:pPr algn="ctr" indent="0" marL="0">
              <a:lnSpc>
                <a:spcPct val="110000"/>
              </a:lnSpc>
              <a:buNone/>
            </a:pPr>
            <a:r>
              <a:rPr lang="en-US" sz="1060" dirty="0">
                <a:solidFill>
                  <a:srgbClr val="B3181E"/>
                </a:solidFill>
                <a:latin typeface="Aptos" pitchFamily="34" charset="0"/>
                <a:ea typeface="Aptos" pitchFamily="34" charset="-122"/>
                <a:cs typeface="Aptos" pitchFamily="34" charset="-120"/>
              </a:rPr>
              <a:t>Eso es un hecho.</a:t>
            </a:r>
            <a:endParaRPr lang="en-US" sz="1060" dirty="0"/>
          </a:p>
        </p:txBody>
      </p:sp>
      <p:sp>
        <p:nvSpPr>
          <p:cNvPr id="24" name="Text 21"/>
          <p:cNvSpPr txBox="1"/>
          <p:nvPr/>
        </p:nvSpPr>
        <p:spPr>
          <a:xfrm>
            <a:off x="4023360" y="3566160"/>
            <a:ext cx="4114800" cy="274320"/>
          </a:xfrm>
          <a:prstGeom prst="rect">
            <a:avLst/>
          </a:prstGeom>
          <a:noFill/>
          <a:ln/>
        </p:spPr>
        <p:txBody>
          <a:bodyPr wrap="square" lIns="0" tIns="0" rIns="0" bIns="0" rtlCol="0" anchor="t"/>
          <a:lstStyle/>
          <a:p>
            <a:pPr algn="ctr" indent="0" marL="0">
              <a:buNone/>
            </a:pPr>
            <a:r>
              <a:rPr lang="en-US" sz="1340" b="1" dirty="0">
                <a:solidFill>
                  <a:srgbClr val="243B53"/>
                </a:solidFill>
                <a:latin typeface="Aptos" pitchFamily="34" charset="0"/>
                <a:ea typeface="Aptos" pitchFamily="34" charset="-122"/>
                <a:cs typeface="Aptos" pitchFamily="34" charset="-120"/>
              </a:rPr>
              <a:t>Aquí vive un riesgo</a:t>
            </a:r>
            <a:endParaRPr lang="en-US" sz="1340" dirty="0"/>
          </a:p>
        </p:txBody>
      </p:sp>
      <p:sp>
        <p:nvSpPr>
          <p:cNvPr id="25" name="Shape 22"/>
          <p:cNvSpPr/>
          <p:nvPr/>
        </p:nvSpPr>
        <p:spPr>
          <a:xfrm>
            <a:off x="658368" y="4919472"/>
            <a:ext cx="3383280" cy="640080"/>
          </a:xfrm>
          <a:prstGeom prst="rect">
            <a:avLst/>
          </a:prstGeom>
          <a:solidFill>
            <a:srgbClr val="FFFFFF"/>
          </a:solidFill>
          <a:ln w="12700">
            <a:solidFill>
              <a:srgbClr val="FFFFFF"/>
            </a:solidFill>
            <a:prstDash val="solid"/>
          </a:ln>
        </p:spPr>
      </p:sp>
      <p:sp>
        <p:nvSpPr>
          <p:cNvPr id="26" name="Shape 23"/>
          <p:cNvSpPr/>
          <p:nvPr/>
        </p:nvSpPr>
        <p:spPr>
          <a:xfrm>
            <a:off x="658368" y="4919472"/>
            <a:ext cx="54864" cy="640080"/>
          </a:xfrm>
          <a:prstGeom prst="rect">
            <a:avLst/>
          </a:prstGeom>
          <a:solidFill>
            <a:srgbClr val="102A43"/>
          </a:solidFill>
          <a:ln w="12700">
            <a:solidFill>
              <a:srgbClr val="102A43"/>
            </a:solidFill>
            <a:prstDash val="solid"/>
          </a:ln>
        </p:spPr>
      </p:sp>
      <p:sp>
        <p:nvSpPr>
          <p:cNvPr id="27" name="Text 24"/>
          <p:cNvSpPr txBox="1"/>
          <p:nvPr/>
        </p:nvSpPr>
        <p:spPr>
          <a:xfrm>
            <a:off x="877824" y="5010912"/>
            <a:ext cx="294436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Probabilidad</a:t>
            </a:r>
            <a:endParaRPr lang="en-US" sz="1300" dirty="0"/>
          </a:p>
        </p:txBody>
      </p:sp>
      <p:sp>
        <p:nvSpPr>
          <p:cNvPr id="28" name="Text 25"/>
          <p:cNvSpPr txBox="1"/>
          <p:nvPr/>
        </p:nvSpPr>
        <p:spPr>
          <a:xfrm>
            <a:off x="877824" y="5266944"/>
            <a:ext cx="2944368" cy="219456"/>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Qué tan posible es que ocurra.</a:t>
            </a:r>
            <a:endParaRPr lang="en-US" sz="1020" dirty="0"/>
          </a:p>
        </p:txBody>
      </p:sp>
      <p:sp>
        <p:nvSpPr>
          <p:cNvPr id="29" name="Shape 26"/>
          <p:cNvSpPr/>
          <p:nvPr/>
        </p:nvSpPr>
        <p:spPr>
          <a:xfrm>
            <a:off x="4297680" y="4919472"/>
            <a:ext cx="3383280" cy="640080"/>
          </a:xfrm>
          <a:prstGeom prst="rect">
            <a:avLst/>
          </a:prstGeom>
          <a:solidFill>
            <a:srgbClr val="FFFFFF"/>
          </a:solidFill>
          <a:ln w="12700">
            <a:solidFill>
              <a:srgbClr val="FFFFFF"/>
            </a:solidFill>
            <a:prstDash val="solid"/>
          </a:ln>
        </p:spPr>
      </p:sp>
      <p:sp>
        <p:nvSpPr>
          <p:cNvPr id="30" name="Shape 27"/>
          <p:cNvSpPr/>
          <p:nvPr/>
        </p:nvSpPr>
        <p:spPr>
          <a:xfrm>
            <a:off x="4297680" y="4919472"/>
            <a:ext cx="54864" cy="640080"/>
          </a:xfrm>
          <a:prstGeom prst="rect">
            <a:avLst/>
          </a:prstGeom>
          <a:solidFill>
            <a:srgbClr val="8A6A12"/>
          </a:solidFill>
          <a:ln w="12700">
            <a:solidFill>
              <a:srgbClr val="8A6A12"/>
            </a:solidFill>
            <a:prstDash val="solid"/>
          </a:ln>
        </p:spPr>
      </p:sp>
      <p:sp>
        <p:nvSpPr>
          <p:cNvPr id="31" name="Text 28"/>
          <p:cNvSpPr txBox="1"/>
          <p:nvPr/>
        </p:nvSpPr>
        <p:spPr>
          <a:xfrm>
            <a:off x="4517136" y="5010912"/>
            <a:ext cx="2944368" cy="237744"/>
          </a:xfrm>
          <a:prstGeom prst="rect">
            <a:avLst/>
          </a:prstGeom>
          <a:noFill/>
          <a:ln/>
        </p:spPr>
        <p:txBody>
          <a:bodyPr wrap="square" lIns="0" tIns="0" rIns="0" bIns="0" rtlCol="0" anchor="t"/>
          <a:lstStyle/>
          <a:p>
            <a:pPr algn="l" indent="0" marL="0">
              <a:buNone/>
            </a:pPr>
            <a:r>
              <a:rPr lang="en-US" sz="1300" b="1" dirty="0">
                <a:solidFill>
                  <a:srgbClr val="8A6A12"/>
                </a:solidFill>
                <a:latin typeface="Aptos" pitchFamily="34" charset="0"/>
                <a:ea typeface="Aptos" pitchFamily="34" charset="-122"/>
                <a:cs typeface="Aptos" pitchFamily="34" charset="-120"/>
              </a:rPr>
              <a:t>Impacto</a:t>
            </a:r>
            <a:endParaRPr lang="en-US" sz="1300" dirty="0"/>
          </a:p>
        </p:txBody>
      </p:sp>
      <p:sp>
        <p:nvSpPr>
          <p:cNvPr id="32" name="Text 29"/>
          <p:cNvSpPr txBox="1"/>
          <p:nvPr/>
        </p:nvSpPr>
        <p:spPr>
          <a:xfrm>
            <a:off x="4517136" y="5266944"/>
            <a:ext cx="2944368" cy="219456"/>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Qué tan grave sería si ocurre.</a:t>
            </a:r>
            <a:endParaRPr lang="en-US" sz="1020" dirty="0"/>
          </a:p>
        </p:txBody>
      </p:sp>
      <p:sp>
        <p:nvSpPr>
          <p:cNvPr id="33" name="Shape 30"/>
          <p:cNvSpPr/>
          <p:nvPr/>
        </p:nvSpPr>
        <p:spPr>
          <a:xfrm>
            <a:off x="7936992" y="4919472"/>
            <a:ext cx="3593592" cy="640080"/>
          </a:xfrm>
          <a:prstGeom prst="rect">
            <a:avLst/>
          </a:prstGeom>
          <a:solidFill>
            <a:srgbClr val="F2E7D9"/>
          </a:solidFill>
          <a:ln w="12700">
            <a:solidFill>
              <a:srgbClr val="F2E7D9"/>
            </a:solidFill>
            <a:prstDash val="solid"/>
          </a:ln>
        </p:spPr>
      </p:sp>
      <p:sp>
        <p:nvSpPr>
          <p:cNvPr id="34" name="Shape 31"/>
          <p:cNvSpPr/>
          <p:nvPr/>
        </p:nvSpPr>
        <p:spPr>
          <a:xfrm>
            <a:off x="7936992" y="4919472"/>
            <a:ext cx="54864" cy="640080"/>
          </a:xfrm>
          <a:prstGeom prst="rect">
            <a:avLst/>
          </a:prstGeom>
          <a:solidFill>
            <a:srgbClr val="B3181E"/>
          </a:solidFill>
          <a:ln w="12700">
            <a:solidFill>
              <a:srgbClr val="B3181E"/>
            </a:solidFill>
            <a:prstDash val="solid"/>
          </a:ln>
        </p:spPr>
      </p:sp>
      <p:sp>
        <p:nvSpPr>
          <p:cNvPr id="35" name="Text 32"/>
          <p:cNvSpPr txBox="1"/>
          <p:nvPr/>
        </p:nvSpPr>
        <p:spPr>
          <a:xfrm>
            <a:off x="8156448" y="5010912"/>
            <a:ext cx="3154680" cy="237744"/>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Nivel</a:t>
            </a:r>
            <a:endParaRPr lang="en-US" sz="1300" dirty="0"/>
          </a:p>
        </p:txBody>
      </p:sp>
      <p:sp>
        <p:nvSpPr>
          <p:cNvPr id="36" name="Text 33"/>
          <p:cNvSpPr txBox="1"/>
          <p:nvPr/>
        </p:nvSpPr>
        <p:spPr>
          <a:xfrm>
            <a:off x="8156448" y="5266944"/>
            <a:ext cx="3154680" cy="219456"/>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La combinación de los dos.</a:t>
            </a:r>
            <a:endParaRPr lang="en-US" sz="1020" dirty="0"/>
          </a:p>
        </p:txBody>
      </p:sp>
      <p:sp>
        <p:nvSpPr>
          <p:cNvPr id="37" name="Shape 34"/>
          <p:cNvSpPr/>
          <p:nvPr/>
        </p:nvSpPr>
        <p:spPr>
          <a:xfrm>
            <a:off x="658368" y="5669280"/>
            <a:ext cx="10874959" cy="457200"/>
          </a:xfrm>
          <a:prstGeom prst="rect">
            <a:avLst/>
          </a:prstGeom>
          <a:solidFill>
            <a:srgbClr val="102A43"/>
          </a:solidFill>
          <a:ln w="12700">
            <a:solidFill>
              <a:srgbClr val="102A43"/>
            </a:solidFill>
            <a:prstDash val="solid"/>
          </a:ln>
        </p:spPr>
      </p:sp>
      <p:sp>
        <p:nvSpPr>
          <p:cNvPr id="38" name="Text 35"/>
          <p:cNvSpPr txBox="1"/>
          <p:nvPr/>
        </p:nvSpPr>
        <p:spPr>
          <a:xfrm>
            <a:off x="950976" y="570585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Si su probabilidad llega a uno, dejó de ser un riesgo.</a:t>
            </a:r>
            <a:endParaRPr lang="en-US" sz="13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DOS FAMILIAS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Solo una de las dos se mitiga probando</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registro del bloque anterior venía partido en dos tablas, y esa partición decide qué tabla se mira al repartir el esfuerzo.</a:t>
            </a:r>
            <a:endParaRPr lang="en-US" sz="1420" dirty="0"/>
          </a:p>
        </p:txBody>
      </p:sp>
      <p:sp>
        <p:nvSpPr>
          <p:cNvPr id="11" name="Shape 8"/>
          <p:cNvSpPr/>
          <p:nvPr/>
        </p:nvSpPr>
        <p:spPr>
          <a:xfrm>
            <a:off x="658368" y="2249424"/>
            <a:ext cx="6309360" cy="2743200"/>
          </a:xfrm>
          <a:prstGeom prst="rect">
            <a:avLst/>
          </a:prstGeom>
          <a:solidFill>
            <a:srgbClr val="F2E7D9"/>
          </a:solidFill>
          <a:ln w="12700">
            <a:solidFill>
              <a:srgbClr val="F2E7D9"/>
            </a:solidFill>
            <a:prstDash val="solid"/>
          </a:ln>
        </p:spPr>
      </p:sp>
      <p:sp>
        <p:nvSpPr>
          <p:cNvPr id="12" name="Shape 9"/>
          <p:cNvSpPr/>
          <p:nvPr/>
        </p:nvSpPr>
        <p:spPr>
          <a:xfrm>
            <a:off x="658368" y="2249424"/>
            <a:ext cx="6309360" cy="54864"/>
          </a:xfrm>
          <a:prstGeom prst="rect">
            <a:avLst/>
          </a:prstGeom>
          <a:solidFill>
            <a:srgbClr val="B3181E"/>
          </a:solidFill>
          <a:ln w="12700">
            <a:solidFill>
              <a:srgbClr val="B3181E"/>
            </a:solidFill>
            <a:prstDash val="solid"/>
          </a:ln>
        </p:spPr>
      </p:sp>
      <p:sp>
        <p:nvSpPr>
          <p:cNvPr id="13" name="Text 10"/>
          <p:cNvSpPr txBox="1"/>
          <p:nvPr/>
        </p:nvSpPr>
        <p:spPr>
          <a:xfrm>
            <a:off x="914400" y="2432304"/>
            <a:ext cx="5797296" cy="310896"/>
          </a:xfrm>
          <a:prstGeom prst="rect">
            <a:avLst/>
          </a:prstGeom>
          <a:noFill/>
          <a:ln/>
        </p:spPr>
        <p:txBody>
          <a:bodyPr wrap="square" lIns="0" tIns="0" rIns="0" bIns="0" rtlCol="0" anchor="t"/>
          <a:lstStyle/>
          <a:p>
            <a:pPr algn="l" indent="0" marL="0">
              <a:buNone/>
            </a:pPr>
            <a:r>
              <a:rPr lang="en-US" sz="1800" b="1" dirty="0">
                <a:solidFill>
                  <a:srgbClr val="B3181E"/>
                </a:solidFill>
                <a:latin typeface="Aptos" pitchFamily="34" charset="0"/>
                <a:ea typeface="Aptos" pitchFamily="34" charset="-122"/>
                <a:cs typeface="Aptos" pitchFamily="34" charset="-120"/>
              </a:rPr>
              <a:t>Riesgo de producto</a:t>
            </a:r>
            <a:endParaRPr lang="en-US" sz="1800" dirty="0"/>
          </a:p>
        </p:txBody>
      </p:sp>
      <p:sp>
        <p:nvSpPr>
          <p:cNvPr id="14" name="Text 11"/>
          <p:cNvSpPr txBox="1"/>
          <p:nvPr/>
        </p:nvSpPr>
        <p:spPr>
          <a:xfrm>
            <a:off x="914400" y="2779776"/>
            <a:ext cx="5797296" cy="237744"/>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Las características de calidad de lo que se construye.</a:t>
            </a:r>
            <a:endParaRPr lang="en-US" sz="1120" dirty="0"/>
          </a:p>
        </p:txBody>
      </p:sp>
      <p:sp>
        <p:nvSpPr>
          <p:cNvPr id="15" name="Shape 12"/>
          <p:cNvSpPr/>
          <p:nvPr/>
        </p:nvSpPr>
        <p:spPr>
          <a:xfrm>
            <a:off x="914400" y="3227832"/>
            <a:ext cx="109728" cy="109728"/>
          </a:xfrm>
          <a:prstGeom prst="rect">
            <a:avLst/>
          </a:prstGeom>
          <a:solidFill>
            <a:srgbClr val="B3181E"/>
          </a:solidFill>
          <a:ln w="12700">
            <a:solidFill>
              <a:srgbClr val="B3181E"/>
            </a:solidFill>
            <a:prstDash val="solid"/>
          </a:ln>
        </p:spPr>
      </p:sp>
      <p:sp>
        <p:nvSpPr>
          <p:cNvPr id="16" name="Text 13"/>
          <p:cNvSpPr txBox="1"/>
          <p:nvPr/>
        </p:nvSpPr>
        <p:spPr>
          <a:xfrm>
            <a:off x="1152144" y="3163824"/>
            <a:ext cx="5559552" cy="256032"/>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El cupo semanal no distingue semanas</a:t>
            </a:r>
            <a:endParaRPr lang="en-US" sz="1160" dirty="0"/>
          </a:p>
        </p:txBody>
      </p:sp>
      <p:sp>
        <p:nvSpPr>
          <p:cNvPr id="17" name="Shape 14"/>
          <p:cNvSpPr/>
          <p:nvPr/>
        </p:nvSpPr>
        <p:spPr>
          <a:xfrm>
            <a:off x="914400" y="3593592"/>
            <a:ext cx="109728" cy="109728"/>
          </a:xfrm>
          <a:prstGeom prst="rect">
            <a:avLst/>
          </a:prstGeom>
          <a:solidFill>
            <a:srgbClr val="B3181E"/>
          </a:solidFill>
          <a:ln w="12700">
            <a:solidFill>
              <a:srgbClr val="B3181E"/>
            </a:solidFill>
            <a:prstDash val="solid"/>
          </a:ln>
        </p:spPr>
      </p:sp>
      <p:sp>
        <p:nvSpPr>
          <p:cNvPr id="18" name="Text 15"/>
          <p:cNvSpPr txBox="1"/>
          <p:nvPr/>
        </p:nvSpPr>
        <p:spPr>
          <a:xfrm>
            <a:off x="1152144" y="3529584"/>
            <a:ext cx="5559552" cy="256032"/>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No se valida el formato del RUT</a:t>
            </a:r>
            <a:endParaRPr lang="en-US" sz="1160" dirty="0"/>
          </a:p>
        </p:txBody>
      </p:sp>
      <p:sp>
        <p:nvSpPr>
          <p:cNvPr id="19" name="Shape 16"/>
          <p:cNvSpPr/>
          <p:nvPr/>
        </p:nvSpPr>
        <p:spPr>
          <a:xfrm>
            <a:off x="914400" y="3959352"/>
            <a:ext cx="109728" cy="109728"/>
          </a:xfrm>
          <a:prstGeom prst="rect">
            <a:avLst/>
          </a:prstGeom>
          <a:solidFill>
            <a:srgbClr val="B3181E"/>
          </a:solidFill>
          <a:ln w="12700">
            <a:solidFill>
              <a:srgbClr val="B3181E"/>
            </a:solidFill>
            <a:prstDash val="solid"/>
          </a:ln>
        </p:spPr>
      </p:sp>
      <p:sp>
        <p:nvSpPr>
          <p:cNvPr id="20" name="Text 17"/>
          <p:cNvSpPr txBox="1"/>
          <p:nvPr/>
        </p:nvSpPr>
        <p:spPr>
          <a:xfrm>
            <a:off x="1152144" y="3895344"/>
            <a:ext cx="5559552" cy="256032"/>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Dos reservas simultáneas al mismo bloque</a:t>
            </a:r>
            <a:endParaRPr lang="en-US" sz="1160" dirty="0"/>
          </a:p>
        </p:txBody>
      </p:sp>
      <p:sp>
        <p:nvSpPr>
          <p:cNvPr id="21" name="Shape 18"/>
          <p:cNvSpPr/>
          <p:nvPr/>
        </p:nvSpPr>
        <p:spPr>
          <a:xfrm>
            <a:off x="914400" y="4370832"/>
            <a:ext cx="5797296" cy="402336"/>
          </a:xfrm>
          <a:prstGeom prst="rect">
            <a:avLst/>
          </a:prstGeom>
          <a:solidFill>
            <a:srgbClr val="B3181E"/>
          </a:solidFill>
          <a:ln w="12700">
            <a:solidFill>
              <a:srgbClr val="B3181E"/>
            </a:solidFill>
            <a:prstDash val="solid"/>
          </a:ln>
        </p:spPr>
      </p:sp>
      <p:sp>
        <p:nvSpPr>
          <p:cNvPr id="22" name="Text 19"/>
          <p:cNvSpPr txBox="1"/>
          <p:nvPr/>
        </p:nvSpPr>
        <p:spPr>
          <a:xfrm>
            <a:off x="969264" y="4407408"/>
            <a:ext cx="5687568" cy="329184"/>
          </a:xfrm>
          <a:prstGeom prst="rect">
            <a:avLst/>
          </a:prstGeom>
          <a:noFill/>
          <a:ln/>
        </p:spPr>
        <p:txBody>
          <a:bodyPr wrap="square" lIns="0" tIns="0" rIns="0" bIns="0" rtlCol="0" anchor="ctr"/>
          <a:lstStyle/>
          <a:p>
            <a:pPr algn="ctr" indent="0" marL="0">
              <a:buNone/>
            </a:pPr>
            <a:r>
              <a:rPr lang="en-US" sz="1140" b="1" spc="90" kern="0" dirty="0">
                <a:solidFill>
                  <a:srgbClr val="FFFFFF"/>
                </a:solidFill>
                <a:latin typeface="Aptos" pitchFamily="34" charset="0"/>
                <a:ea typeface="Aptos" pitchFamily="34" charset="-122"/>
                <a:cs typeface="Aptos" pitchFamily="34" charset="-120"/>
              </a:rPr>
              <a:t>SE MITIGA PROBANDO</a:t>
            </a:r>
            <a:endParaRPr lang="en-US" sz="1140" dirty="0"/>
          </a:p>
        </p:txBody>
      </p:sp>
      <p:sp>
        <p:nvSpPr>
          <p:cNvPr id="23" name="Shape 20"/>
          <p:cNvSpPr/>
          <p:nvPr/>
        </p:nvSpPr>
        <p:spPr>
          <a:xfrm>
            <a:off x="7150608" y="2249424"/>
            <a:ext cx="4382719" cy="2743200"/>
          </a:xfrm>
          <a:prstGeom prst="rect">
            <a:avLst/>
          </a:prstGeom>
          <a:solidFill>
            <a:srgbClr val="FFFFFF"/>
          </a:solidFill>
          <a:ln w="12700">
            <a:solidFill>
              <a:srgbClr val="FFFFFF"/>
            </a:solidFill>
            <a:prstDash val="solid"/>
          </a:ln>
        </p:spPr>
      </p:sp>
      <p:sp>
        <p:nvSpPr>
          <p:cNvPr id="24" name="Shape 21"/>
          <p:cNvSpPr/>
          <p:nvPr/>
        </p:nvSpPr>
        <p:spPr>
          <a:xfrm>
            <a:off x="7150608" y="2249424"/>
            <a:ext cx="4382719" cy="54864"/>
          </a:xfrm>
          <a:prstGeom prst="rect">
            <a:avLst/>
          </a:prstGeom>
          <a:solidFill>
            <a:srgbClr val="52606D"/>
          </a:solidFill>
          <a:ln w="12700">
            <a:solidFill>
              <a:srgbClr val="52606D"/>
            </a:solidFill>
            <a:prstDash val="solid"/>
          </a:ln>
        </p:spPr>
      </p:sp>
      <p:sp>
        <p:nvSpPr>
          <p:cNvPr id="25" name="Text 22"/>
          <p:cNvSpPr txBox="1"/>
          <p:nvPr/>
        </p:nvSpPr>
        <p:spPr>
          <a:xfrm>
            <a:off x="7406640" y="2432304"/>
            <a:ext cx="3870655" cy="310896"/>
          </a:xfrm>
          <a:prstGeom prst="rect">
            <a:avLst/>
          </a:prstGeom>
          <a:noFill/>
          <a:ln/>
        </p:spPr>
        <p:txBody>
          <a:bodyPr wrap="square" lIns="0" tIns="0" rIns="0" bIns="0" rtlCol="0" anchor="t"/>
          <a:lstStyle/>
          <a:p>
            <a:pPr algn="l" indent="0" marL="0">
              <a:buNone/>
            </a:pPr>
            <a:r>
              <a:rPr lang="en-US" sz="1800" b="1" dirty="0">
                <a:solidFill>
                  <a:srgbClr val="52606D"/>
                </a:solidFill>
                <a:latin typeface="Aptos" pitchFamily="34" charset="0"/>
                <a:ea typeface="Aptos" pitchFamily="34" charset="-122"/>
                <a:cs typeface="Aptos" pitchFamily="34" charset="-120"/>
              </a:rPr>
              <a:t>Riesgo de proyecto</a:t>
            </a:r>
            <a:endParaRPr lang="en-US" sz="1800" dirty="0"/>
          </a:p>
        </p:txBody>
      </p:sp>
      <p:sp>
        <p:nvSpPr>
          <p:cNvPr id="26" name="Text 23"/>
          <p:cNvSpPr txBox="1"/>
          <p:nvPr/>
        </p:nvSpPr>
        <p:spPr>
          <a:xfrm>
            <a:off x="7406640" y="2779776"/>
            <a:ext cx="3870655" cy="237744"/>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La gestión y el control del trabajo.</a:t>
            </a:r>
            <a:endParaRPr lang="en-US" sz="1120" dirty="0"/>
          </a:p>
        </p:txBody>
      </p:sp>
      <p:sp>
        <p:nvSpPr>
          <p:cNvPr id="27" name="Shape 24"/>
          <p:cNvSpPr/>
          <p:nvPr/>
        </p:nvSpPr>
        <p:spPr>
          <a:xfrm>
            <a:off x="7406640" y="3227832"/>
            <a:ext cx="109728" cy="109728"/>
          </a:xfrm>
          <a:prstGeom prst="rect">
            <a:avLst/>
          </a:prstGeom>
          <a:solidFill>
            <a:srgbClr val="52606D"/>
          </a:solidFill>
          <a:ln w="12700">
            <a:solidFill>
              <a:srgbClr val="52606D"/>
            </a:solidFill>
            <a:prstDash val="solid"/>
          </a:ln>
        </p:spPr>
      </p:sp>
      <p:sp>
        <p:nvSpPr>
          <p:cNvPr id="28" name="Text 25"/>
          <p:cNvSpPr txBox="1"/>
          <p:nvPr/>
        </p:nvSpPr>
        <p:spPr>
          <a:xfrm>
            <a:off x="7644384" y="3163824"/>
            <a:ext cx="3632911" cy="256032"/>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El entorno no se reproduce limpio</a:t>
            </a:r>
            <a:endParaRPr lang="en-US" sz="1160" dirty="0"/>
          </a:p>
        </p:txBody>
      </p:sp>
      <p:sp>
        <p:nvSpPr>
          <p:cNvPr id="29" name="Shape 26"/>
          <p:cNvSpPr/>
          <p:nvPr/>
        </p:nvSpPr>
        <p:spPr>
          <a:xfrm>
            <a:off x="7406640" y="3593592"/>
            <a:ext cx="109728" cy="109728"/>
          </a:xfrm>
          <a:prstGeom prst="rect">
            <a:avLst/>
          </a:prstGeom>
          <a:solidFill>
            <a:srgbClr val="52606D"/>
          </a:solidFill>
          <a:ln w="12700">
            <a:solidFill>
              <a:srgbClr val="52606D"/>
            </a:solidFill>
            <a:prstDash val="solid"/>
          </a:ln>
        </p:spPr>
      </p:sp>
      <p:sp>
        <p:nvSpPr>
          <p:cNvPr id="30" name="Text 27"/>
          <p:cNvSpPr txBox="1"/>
          <p:nvPr/>
        </p:nvSpPr>
        <p:spPr>
          <a:xfrm>
            <a:off x="7644384" y="3529584"/>
            <a:ext cx="3632911" cy="256032"/>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El calendario deja sin tiempo</a:t>
            </a:r>
            <a:endParaRPr lang="en-US" sz="1160" dirty="0"/>
          </a:p>
        </p:txBody>
      </p:sp>
      <p:sp>
        <p:nvSpPr>
          <p:cNvPr id="31" name="Shape 28"/>
          <p:cNvSpPr/>
          <p:nvPr/>
        </p:nvSpPr>
        <p:spPr>
          <a:xfrm>
            <a:off x="7406640" y="3959352"/>
            <a:ext cx="109728" cy="109728"/>
          </a:xfrm>
          <a:prstGeom prst="rect">
            <a:avLst/>
          </a:prstGeom>
          <a:solidFill>
            <a:srgbClr val="52606D"/>
          </a:solidFill>
          <a:ln w="12700">
            <a:solidFill>
              <a:srgbClr val="52606D"/>
            </a:solidFill>
            <a:prstDash val="solid"/>
          </a:ln>
        </p:spPr>
      </p:sp>
      <p:sp>
        <p:nvSpPr>
          <p:cNvPr id="32" name="Text 29"/>
          <p:cNvSpPr txBox="1"/>
          <p:nvPr/>
        </p:nvSpPr>
        <p:spPr>
          <a:xfrm>
            <a:off x="7644384" y="3895344"/>
            <a:ext cx="3632911" cy="256032"/>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Falta gente o falta experiencia</a:t>
            </a:r>
            <a:endParaRPr lang="en-US" sz="1160" dirty="0"/>
          </a:p>
        </p:txBody>
      </p:sp>
      <p:sp>
        <p:nvSpPr>
          <p:cNvPr id="33" name="Shape 30"/>
          <p:cNvSpPr/>
          <p:nvPr/>
        </p:nvSpPr>
        <p:spPr>
          <a:xfrm>
            <a:off x="7406640" y="4370832"/>
            <a:ext cx="3870655" cy="402336"/>
          </a:xfrm>
          <a:prstGeom prst="rect">
            <a:avLst/>
          </a:prstGeom>
          <a:solidFill>
            <a:srgbClr val="52606D"/>
          </a:solidFill>
          <a:ln w="12700">
            <a:solidFill>
              <a:srgbClr val="52606D"/>
            </a:solidFill>
            <a:prstDash val="solid"/>
          </a:ln>
        </p:spPr>
      </p:sp>
      <p:sp>
        <p:nvSpPr>
          <p:cNvPr id="34" name="Text 31"/>
          <p:cNvSpPr txBox="1"/>
          <p:nvPr/>
        </p:nvSpPr>
        <p:spPr>
          <a:xfrm>
            <a:off x="7461504" y="4407408"/>
            <a:ext cx="3760927" cy="329184"/>
          </a:xfrm>
          <a:prstGeom prst="rect">
            <a:avLst/>
          </a:prstGeom>
          <a:noFill/>
          <a:ln/>
        </p:spPr>
        <p:txBody>
          <a:bodyPr wrap="square" lIns="0" tIns="0" rIns="0" bIns="0" rtlCol="0" anchor="ctr"/>
          <a:lstStyle/>
          <a:p>
            <a:pPr algn="ctr" indent="0" marL="0">
              <a:buNone/>
            </a:pPr>
            <a:r>
              <a:rPr lang="en-US" sz="1140" b="1" spc="90" kern="0" dirty="0">
                <a:solidFill>
                  <a:srgbClr val="FFFFFF"/>
                </a:solidFill>
                <a:latin typeface="Aptos" pitchFamily="34" charset="0"/>
                <a:ea typeface="Aptos" pitchFamily="34" charset="-122"/>
                <a:cs typeface="Aptos" pitchFamily="34" charset="-120"/>
              </a:rPr>
              <a:t>SE RESUELVE GESTIONANDO</a:t>
            </a:r>
            <a:endParaRPr lang="en-US" sz="1140" dirty="0"/>
          </a:p>
        </p:txBody>
      </p:sp>
      <p:sp>
        <p:nvSpPr>
          <p:cNvPr id="35" name="Text 32"/>
          <p:cNvSpPr txBox="1"/>
          <p:nvPr/>
        </p:nvSpPr>
        <p:spPr>
          <a:xfrm>
            <a:off x="658368" y="5120640"/>
            <a:ext cx="73152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CONSECUENCIAS QUE LA FUENTE ENUMERA PARA UN RIESGO DE PRODUCTO</a:t>
            </a:r>
            <a:endParaRPr lang="en-US" sz="960" dirty="0"/>
          </a:p>
        </p:txBody>
      </p:sp>
      <p:sp>
        <p:nvSpPr>
          <p:cNvPr id="36" name="Shape 33"/>
          <p:cNvSpPr/>
          <p:nvPr/>
        </p:nvSpPr>
        <p:spPr>
          <a:xfrm>
            <a:off x="658368" y="5358384"/>
            <a:ext cx="2101840" cy="292608"/>
          </a:xfrm>
          <a:prstGeom prst="rect">
            <a:avLst/>
          </a:prstGeom>
          <a:solidFill>
            <a:srgbClr val="EDE6DA"/>
          </a:solidFill>
          <a:ln w="12700">
            <a:solidFill>
              <a:srgbClr val="EDE6DA"/>
            </a:solidFill>
            <a:prstDash val="solid"/>
          </a:ln>
        </p:spPr>
      </p:sp>
      <p:sp>
        <p:nvSpPr>
          <p:cNvPr id="37" name="Text 34"/>
          <p:cNvSpPr txBox="1"/>
          <p:nvPr/>
        </p:nvSpPr>
        <p:spPr>
          <a:xfrm>
            <a:off x="713232" y="5385816"/>
            <a:ext cx="1992112" cy="237744"/>
          </a:xfrm>
          <a:prstGeom prst="rect">
            <a:avLst/>
          </a:prstGeom>
          <a:noFill/>
          <a:ln/>
        </p:spPr>
        <p:txBody>
          <a:bodyPr wrap="square" lIns="0" tIns="0" rIns="0" bIns="0" rtlCol="0" anchor="ctr"/>
          <a:lstStyle/>
          <a:p>
            <a:pPr algn="ctr" indent="0" marL="0">
              <a:buNone/>
            </a:pPr>
            <a:r>
              <a:rPr lang="en-US" sz="1060" dirty="0">
                <a:solidFill>
                  <a:srgbClr val="52606D"/>
                </a:solidFill>
                <a:latin typeface="Aptos" pitchFamily="34" charset="0"/>
                <a:ea typeface="Aptos" pitchFamily="34" charset="-122"/>
                <a:cs typeface="Aptos" pitchFamily="34" charset="-120"/>
              </a:rPr>
              <a:t>Insatisfacción</a:t>
            </a:r>
            <a:endParaRPr lang="en-US" sz="1060" dirty="0"/>
          </a:p>
        </p:txBody>
      </p:sp>
      <p:sp>
        <p:nvSpPr>
          <p:cNvPr id="38" name="Shape 35"/>
          <p:cNvSpPr/>
          <p:nvPr/>
        </p:nvSpPr>
        <p:spPr>
          <a:xfrm>
            <a:off x="2851648" y="5358384"/>
            <a:ext cx="2101840" cy="292608"/>
          </a:xfrm>
          <a:prstGeom prst="rect">
            <a:avLst/>
          </a:prstGeom>
          <a:solidFill>
            <a:srgbClr val="EDE6DA"/>
          </a:solidFill>
          <a:ln w="12700">
            <a:solidFill>
              <a:srgbClr val="EDE6DA"/>
            </a:solidFill>
            <a:prstDash val="solid"/>
          </a:ln>
        </p:spPr>
      </p:sp>
      <p:sp>
        <p:nvSpPr>
          <p:cNvPr id="39" name="Text 36"/>
          <p:cNvSpPr txBox="1"/>
          <p:nvPr/>
        </p:nvSpPr>
        <p:spPr>
          <a:xfrm>
            <a:off x="2906512" y="5385816"/>
            <a:ext cx="1992112" cy="237744"/>
          </a:xfrm>
          <a:prstGeom prst="rect">
            <a:avLst/>
          </a:prstGeom>
          <a:noFill/>
          <a:ln/>
        </p:spPr>
        <p:txBody>
          <a:bodyPr wrap="square" lIns="0" tIns="0" rIns="0" bIns="0" rtlCol="0" anchor="ctr"/>
          <a:lstStyle/>
          <a:p>
            <a:pPr algn="ctr" indent="0" marL="0">
              <a:buNone/>
            </a:pPr>
            <a:r>
              <a:rPr lang="en-US" sz="1060" dirty="0">
                <a:solidFill>
                  <a:srgbClr val="52606D"/>
                </a:solidFill>
                <a:latin typeface="Aptos" pitchFamily="34" charset="0"/>
                <a:ea typeface="Aptos" pitchFamily="34" charset="-122"/>
                <a:cs typeface="Aptos" pitchFamily="34" charset="-120"/>
              </a:rPr>
              <a:t>Pérdida de confianza</a:t>
            </a:r>
            <a:endParaRPr lang="en-US" sz="1060" dirty="0"/>
          </a:p>
        </p:txBody>
      </p:sp>
      <p:sp>
        <p:nvSpPr>
          <p:cNvPr id="40" name="Shape 37"/>
          <p:cNvSpPr/>
          <p:nvPr/>
        </p:nvSpPr>
        <p:spPr>
          <a:xfrm>
            <a:off x="5044928" y="5358384"/>
            <a:ext cx="2101840" cy="292608"/>
          </a:xfrm>
          <a:prstGeom prst="rect">
            <a:avLst/>
          </a:prstGeom>
          <a:solidFill>
            <a:srgbClr val="F2E7D9"/>
          </a:solidFill>
          <a:ln w="12700">
            <a:solidFill>
              <a:srgbClr val="F2E7D9"/>
            </a:solidFill>
            <a:prstDash val="solid"/>
          </a:ln>
        </p:spPr>
      </p:sp>
      <p:sp>
        <p:nvSpPr>
          <p:cNvPr id="41" name="Text 38"/>
          <p:cNvSpPr txBox="1"/>
          <p:nvPr/>
        </p:nvSpPr>
        <p:spPr>
          <a:xfrm>
            <a:off x="5099792" y="5385816"/>
            <a:ext cx="1992112" cy="237744"/>
          </a:xfrm>
          <a:prstGeom prst="rect">
            <a:avLst/>
          </a:prstGeom>
          <a:noFill/>
          <a:ln/>
        </p:spPr>
        <p:txBody>
          <a:bodyPr wrap="square" lIns="0" tIns="0" rIns="0" bIns="0" rtlCol="0" anchor="ctr"/>
          <a:lstStyle/>
          <a:p>
            <a:pPr algn="ctr" indent="0" marL="0">
              <a:buNone/>
            </a:pPr>
            <a:r>
              <a:rPr lang="en-US" sz="1060" b="1" dirty="0">
                <a:solidFill>
                  <a:srgbClr val="B3181E"/>
                </a:solidFill>
                <a:latin typeface="Aptos" pitchFamily="34" charset="0"/>
                <a:ea typeface="Aptos" pitchFamily="34" charset="-122"/>
                <a:cs typeface="Aptos" pitchFamily="34" charset="-120"/>
              </a:rPr>
              <a:t>Daño a terceros</a:t>
            </a:r>
            <a:endParaRPr lang="en-US" sz="1060" dirty="0"/>
          </a:p>
        </p:txBody>
      </p:sp>
      <p:sp>
        <p:nvSpPr>
          <p:cNvPr id="42" name="Shape 39"/>
          <p:cNvSpPr/>
          <p:nvPr/>
        </p:nvSpPr>
        <p:spPr>
          <a:xfrm>
            <a:off x="7238208" y="5358384"/>
            <a:ext cx="2101840" cy="292608"/>
          </a:xfrm>
          <a:prstGeom prst="rect">
            <a:avLst/>
          </a:prstGeom>
          <a:solidFill>
            <a:srgbClr val="F2E7D9"/>
          </a:solidFill>
          <a:ln w="12700">
            <a:solidFill>
              <a:srgbClr val="F2E7D9"/>
            </a:solidFill>
            <a:prstDash val="solid"/>
          </a:ln>
        </p:spPr>
      </p:sp>
      <p:sp>
        <p:nvSpPr>
          <p:cNvPr id="43" name="Text 40"/>
          <p:cNvSpPr txBox="1"/>
          <p:nvPr/>
        </p:nvSpPr>
        <p:spPr>
          <a:xfrm>
            <a:off x="7293072" y="5385816"/>
            <a:ext cx="1992112" cy="237744"/>
          </a:xfrm>
          <a:prstGeom prst="rect">
            <a:avLst/>
          </a:prstGeom>
          <a:noFill/>
          <a:ln/>
        </p:spPr>
        <p:txBody>
          <a:bodyPr wrap="square" lIns="0" tIns="0" rIns="0" bIns="0" rtlCol="0" anchor="ctr"/>
          <a:lstStyle/>
          <a:p>
            <a:pPr algn="ctr" indent="0" marL="0">
              <a:buNone/>
            </a:pPr>
            <a:r>
              <a:rPr lang="en-US" sz="1060" b="1" dirty="0">
                <a:solidFill>
                  <a:srgbClr val="B3181E"/>
                </a:solidFill>
                <a:latin typeface="Aptos" pitchFamily="34" charset="0"/>
                <a:ea typeface="Aptos" pitchFamily="34" charset="-122"/>
                <a:cs typeface="Aptos" pitchFamily="34" charset="-120"/>
              </a:rPr>
              <a:t>Sanciones</a:t>
            </a:r>
            <a:endParaRPr lang="en-US" sz="1060" dirty="0"/>
          </a:p>
        </p:txBody>
      </p:sp>
      <p:sp>
        <p:nvSpPr>
          <p:cNvPr id="44" name="Shape 41"/>
          <p:cNvSpPr/>
          <p:nvPr/>
        </p:nvSpPr>
        <p:spPr>
          <a:xfrm>
            <a:off x="9431487" y="5358384"/>
            <a:ext cx="2101840" cy="292608"/>
          </a:xfrm>
          <a:prstGeom prst="rect">
            <a:avLst/>
          </a:prstGeom>
          <a:solidFill>
            <a:srgbClr val="F2E7D9"/>
          </a:solidFill>
          <a:ln w="12700">
            <a:solidFill>
              <a:srgbClr val="F2E7D9"/>
            </a:solidFill>
            <a:prstDash val="solid"/>
          </a:ln>
        </p:spPr>
      </p:sp>
      <p:sp>
        <p:nvSpPr>
          <p:cNvPr id="45" name="Text 42"/>
          <p:cNvSpPr txBox="1"/>
          <p:nvPr/>
        </p:nvSpPr>
        <p:spPr>
          <a:xfrm>
            <a:off x="9486351" y="5385816"/>
            <a:ext cx="1992112" cy="237744"/>
          </a:xfrm>
          <a:prstGeom prst="rect">
            <a:avLst/>
          </a:prstGeom>
          <a:noFill/>
          <a:ln/>
        </p:spPr>
        <p:txBody>
          <a:bodyPr wrap="square" lIns="0" tIns="0" rIns="0" bIns="0" rtlCol="0" anchor="ctr"/>
          <a:lstStyle/>
          <a:p>
            <a:pPr algn="ctr" indent="0" marL="0">
              <a:buNone/>
            </a:pPr>
            <a:r>
              <a:rPr lang="en-US" sz="1060" b="1" dirty="0">
                <a:solidFill>
                  <a:srgbClr val="B3181E"/>
                </a:solidFill>
                <a:latin typeface="Aptos" pitchFamily="34" charset="0"/>
                <a:ea typeface="Aptos" pitchFamily="34" charset="-122"/>
                <a:cs typeface="Aptos" pitchFamily="34" charset="-120"/>
              </a:rPr>
              <a:t>Daño físico</a:t>
            </a:r>
            <a:endParaRPr lang="en-US" sz="1060" dirty="0"/>
          </a:p>
        </p:txBody>
      </p:sp>
      <p:sp>
        <p:nvSpPr>
          <p:cNvPr id="46" name="Shape 43"/>
          <p:cNvSpPr/>
          <p:nvPr/>
        </p:nvSpPr>
        <p:spPr>
          <a:xfrm>
            <a:off x="658368" y="5760720"/>
            <a:ext cx="10874959" cy="402336"/>
          </a:xfrm>
          <a:prstGeom prst="rect">
            <a:avLst/>
          </a:prstGeom>
          <a:solidFill>
            <a:srgbClr val="102A43"/>
          </a:solidFill>
          <a:ln w="12700">
            <a:solidFill>
              <a:srgbClr val="102A43"/>
            </a:solidFill>
            <a:prstDash val="solid"/>
          </a:ln>
        </p:spPr>
      </p:sp>
      <p:sp>
        <p:nvSpPr>
          <p:cNvPr id="47" name="Text 44"/>
          <p:cNvSpPr txBox="1"/>
          <p:nvPr/>
        </p:nvSpPr>
        <p:spPr>
          <a:xfrm>
            <a:off x="950976" y="5797296"/>
            <a:ext cx="10289743" cy="329184"/>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Las tres últimas son el terreno del bloque 4.</a:t>
            </a:r>
            <a:endParaRPr lang="en-US" sz="13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LO QUE CAMBIA AL EJECUTAR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RP-01 ya no es un riesgo</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Su probabilidad llegó a uno en el bloque anterior, cuando la prueba se ejecutó y falló.</a:t>
            </a:r>
            <a:endParaRPr lang="en-US" sz="1420" dirty="0"/>
          </a:p>
        </p:txBody>
      </p:sp>
      <p:sp>
        <p:nvSpPr>
          <p:cNvPr id="11" name="Shape 8"/>
          <p:cNvSpPr/>
          <p:nvPr/>
        </p:nvSpPr>
        <p:spPr>
          <a:xfrm>
            <a:off x="658368" y="2286000"/>
            <a:ext cx="3566160" cy="786384"/>
          </a:xfrm>
          <a:prstGeom prst="rect">
            <a:avLst/>
          </a:prstGeom>
          <a:solidFill>
            <a:srgbClr val="EDE6DA"/>
          </a:solidFill>
          <a:ln w="12700">
            <a:solidFill>
              <a:srgbClr val="EDE6DA"/>
            </a:solidFill>
            <a:prstDash val="solid"/>
          </a:ln>
        </p:spPr>
      </p:sp>
      <p:sp>
        <p:nvSpPr>
          <p:cNvPr id="12" name="Shape 9"/>
          <p:cNvSpPr/>
          <p:nvPr/>
        </p:nvSpPr>
        <p:spPr>
          <a:xfrm>
            <a:off x="658368" y="2286000"/>
            <a:ext cx="54864" cy="786384"/>
          </a:xfrm>
          <a:prstGeom prst="rect">
            <a:avLst/>
          </a:prstGeom>
          <a:solidFill>
            <a:srgbClr val="52606D"/>
          </a:solidFill>
          <a:ln w="12700">
            <a:solidFill>
              <a:srgbClr val="52606D"/>
            </a:solidFill>
            <a:prstDash val="solid"/>
          </a:ln>
        </p:spPr>
      </p:sp>
      <p:sp>
        <p:nvSpPr>
          <p:cNvPr id="13" name="Text 10"/>
          <p:cNvSpPr txBox="1"/>
          <p:nvPr/>
        </p:nvSpPr>
        <p:spPr>
          <a:xfrm>
            <a:off x="914400" y="2414016"/>
            <a:ext cx="3017520" cy="219456"/>
          </a:xfrm>
          <a:prstGeom prst="rect">
            <a:avLst/>
          </a:prstGeom>
          <a:noFill/>
          <a:ln/>
        </p:spPr>
        <p:txBody>
          <a:bodyPr wrap="square" lIns="0" tIns="0" rIns="0" bIns="0" rtlCol="0" anchor="t"/>
          <a:lstStyle/>
          <a:p>
            <a:pPr algn="l" indent="0" marL="0">
              <a:buNone/>
            </a:pPr>
            <a:r>
              <a:rPr lang="en-US" sz="960" b="1" spc="110" kern="0" dirty="0">
                <a:solidFill>
                  <a:srgbClr val="52606D"/>
                </a:solidFill>
                <a:latin typeface="Aptos" pitchFamily="34" charset="0"/>
                <a:ea typeface="Aptos" pitchFamily="34" charset="-122"/>
                <a:cs typeface="Aptos" pitchFamily="34" charset="-120"/>
              </a:rPr>
              <a:t>RIESGO</a:t>
            </a:r>
            <a:endParaRPr lang="en-US" sz="960" dirty="0"/>
          </a:p>
        </p:txBody>
      </p:sp>
      <p:sp>
        <p:nvSpPr>
          <p:cNvPr id="14" name="Text 11"/>
          <p:cNvSpPr txBox="1"/>
          <p:nvPr/>
        </p:nvSpPr>
        <p:spPr>
          <a:xfrm>
            <a:off x="914400" y="2651760"/>
            <a:ext cx="3017520" cy="292608"/>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Podría ocurrir</a:t>
            </a:r>
            <a:endParaRPr lang="en-US" sz="1600" dirty="0"/>
          </a:p>
        </p:txBody>
      </p:sp>
      <p:sp>
        <p:nvSpPr>
          <p:cNvPr id="15" name="Shape 12"/>
          <p:cNvSpPr/>
          <p:nvPr/>
        </p:nvSpPr>
        <p:spPr>
          <a:xfrm>
            <a:off x="4407408" y="2679192"/>
            <a:ext cx="1371600" cy="0"/>
          </a:xfrm>
          <a:prstGeom prst="line">
            <a:avLst/>
          </a:prstGeom>
          <a:noFill/>
          <a:ln w="12700">
            <a:solidFill>
              <a:srgbClr val="B3181E"/>
            </a:solidFill>
            <a:prstDash val="solid"/>
            <a:headEnd type="none"/>
            <a:tailEnd type="triangle"/>
          </a:ln>
        </p:spPr>
      </p:sp>
      <p:sp>
        <p:nvSpPr>
          <p:cNvPr id="16" name="Text 13"/>
          <p:cNvSpPr txBox="1"/>
          <p:nvPr/>
        </p:nvSpPr>
        <p:spPr>
          <a:xfrm>
            <a:off x="4334256" y="2871216"/>
            <a:ext cx="1517904" cy="237744"/>
          </a:xfrm>
          <a:prstGeom prst="rect">
            <a:avLst/>
          </a:prstGeom>
          <a:noFill/>
          <a:ln/>
        </p:spPr>
        <p:txBody>
          <a:bodyPr wrap="square" lIns="0" tIns="0" rIns="0" bIns="0" rtlCol="0" anchor="t"/>
          <a:lstStyle/>
          <a:p>
            <a:pPr algn="ctr" indent="0" marL="0">
              <a:buNone/>
            </a:pPr>
            <a:r>
              <a:rPr lang="en-US" sz="1060" b="1" dirty="0">
                <a:solidFill>
                  <a:srgbClr val="B3181E"/>
                </a:solidFill>
                <a:latin typeface="Consolas" pitchFamily="34" charset="0"/>
                <a:ea typeface="Consolas" pitchFamily="34" charset="-122"/>
                <a:cs typeface="Consolas" pitchFamily="34" charset="-120"/>
              </a:rPr>
              <a:t>assert 409 == 201</a:t>
            </a:r>
            <a:endParaRPr lang="en-US" sz="1060" dirty="0"/>
          </a:p>
        </p:txBody>
      </p:sp>
      <p:sp>
        <p:nvSpPr>
          <p:cNvPr id="17" name="Shape 14"/>
          <p:cNvSpPr/>
          <p:nvPr/>
        </p:nvSpPr>
        <p:spPr>
          <a:xfrm>
            <a:off x="6236208" y="2286000"/>
            <a:ext cx="5312664" cy="786384"/>
          </a:xfrm>
          <a:prstGeom prst="rect">
            <a:avLst/>
          </a:prstGeom>
          <a:solidFill>
            <a:srgbClr val="F2E7D9"/>
          </a:solidFill>
          <a:ln w="12700">
            <a:solidFill>
              <a:srgbClr val="B3181E"/>
            </a:solidFill>
            <a:prstDash val="solid"/>
          </a:ln>
        </p:spPr>
      </p:sp>
      <p:sp>
        <p:nvSpPr>
          <p:cNvPr id="18" name="Text 15"/>
          <p:cNvSpPr txBox="1"/>
          <p:nvPr/>
        </p:nvSpPr>
        <p:spPr>
          <a:xfrm>
            <a:off x="6492240" y="2414016"/>
            <a:ext cx="4754880" cy="219456"/>
          </a:xfrm>
          <a:prstGeom prst="rect">
            <a:avLst/>
          </a:prstGeom>
          <a:noFill/>
          <a:ln/>
        </p:spPr>
        <p:txBody>
          <a:bodyPr wrap="square" lIns="0" tIns="0" rIns="0" bIns="0" rtlCol="0" anchor="t"/>
          <a:lstStyle/>
          <a:p>
            <a:pPr algn="l" indent="0" marL="0">
              <a:buNone/>
            </a:pPr>
            <a:r>
              <a:rPr lang="en-US" sz="960" b="1" spc="110" kern="0" dirty="0">
                <a:solidFill>
                  <a:srgbClr val="B3181E"/>
                </a:solidFill>
                <a:latin typeface="Aptos" pitchFamily="34" charset="0"/>
                <a:ea typeface="Aptos" pitchFamily="34" charset="-122"/>
                <a:cs typeface="Aptos" pitchFamily="34" charset="-120"/>
              </a:rPr>
              <a:t>DEFECTO CONFIRMADO</a:t>
            </a:r>
            <a:endParaRPr lang="en-US" sz="960" dirty="0"/>
          </a:p>
        </p:txBody>
      </p:sp>
      <p:sp>
        <p:nvSpPr>
          <p:cNvPr id="19" name="Text 16"/>
          <p:cNvSpPr txBox="1"/>
          <p:nvPr/>
        </p:nvSpPr>
        <p:spPr>
          <a:xfrm>
            <a:off x="6492240" y="2651760"/>
            <a:ext cx="4754880" cy="292608"/>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Ocurre, cada vez, de forma reproducible</a:t>
            </a:r>
            <a:endParaRPr lang="en-US" sz="1600" dirty="0"/>
          </a:p>
        </p:txBody>
      </p:sp>
      <p:sp>
        <p:nvSpPr>
          <p:cNvPr id="20" name="Text 17"/>
          <p:cNvSpPr txBox="1"/>
          <p:nvPr/>
        </p:nvSpPr>
        <p:spPr>
          <a:xfrm>
            <a:off x="658368" y="3456432"/>
            <a:ext cx="2194560" cy="292608"/>
          </a:xfrm>
          <a:prstGeom prst="rect">
            <a:avLst/>
          </a:prstGeom>
          <a:noFill/>
          <a:ln/>
        </p:spPr>
        <p:txBody>
          <a:bodyPr wrap="square" lIns="0" tIns="0" rIns="0" bIns="0" rtlCol="0" anchor="t"/>
          <a:lstStyle/>
          <a:p>
            <a:pPr algn="l" indent="0" marL="0">
              <a:buNone/>
            </a:pPr>
            <a:r>
              <a:rPr lang="en-US" sz="1100" b="1" dirty="0">
                <a:solidFill>
                  <a:srgbClr val="52606D"/>
                </a:solidFill>
                <a:latin typeface="Aptos" pitchFamily="34" charset="0"/>
                <a:ea typeface="Aptos" pitchFamily="34" charset="-122"/>
                <a:cs typeface="Aptos" pitchFamily="34" charset="-120"/>
              </a:rPr>
              <a:t>Dónde se registra</a:t>
            </a:r>
            <a:endParaRPr lang="en-US" sz="1100" dirty="0"/>
          </a:p>
        </p:txBody>
      </p:sp>
      <p:sp>
        <p:nvSpPr>
          <p:cNvPr id="21" name="Shape 18"/>
          <p:cNvSpPr/>
          <p:nvPr/>
        </p:nvSpPr>
        <p:spPr>
          <a:xfrm>
            <a:off x="2962656" y="3346704"/>
            <a:ext cx="4023360" cy="530352"/>
          </a:xfrm>
          <a:prstGeom prst="rect">
            <a:avLst/>
          </a:prstGeom>
          <a:solidFill>
            <a:srgbClr val="EDE6DA"/>
          </a:solidFill>
          <a:ln w="12700">
            <a:solidFill>
              <a:srgbClr val="EDE6DA"/>
            </a:solidFill>
            <a:prstDash val="solid"/>
          </a:ln>
        </p:spPr>
      </p:sp>
      <p:sp>
        <p:nvSpPr>
          <p:cNvPr id="22" name="Text 19"/>
          <p:cNvSpPr txBox="1"/>
          <p:nvPr/>
        </p:nvSpPr>
        <p:spPr>
          <a:xfrm>
            <a:off x="3182112" y="3419856"/>
            <a:ext cx="3621024" cy="384048"/>
          </a:xfrm>
          <a:prstGeom prst="rect">
            <a:avLst/>
          </a:prstGeom>
          <a:noFill/>
          <a:ln/>
        </p:spPr>
        <p:txBody>
          <a:bodyPr wrap="square" lIns="0" tIns="0" rIns="0" bIns="0" rtlCol="0" anchor="ctr"/>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En el registro de riesgos del plan (7.2.6)</a:t>
            </a:r>
            <a:endParaRPr lang="en-US" sz="1080" dirty="0"/>
          </a:p>
        </p:txBody>
      </p:sp>
      <p:sp>
        <p:nvSpPr>
          <p:cNvPr id="23" name="Shape 20"/>
          <p:cNvSpPr/>
          <p:nvPr/>
        </p:nvSpPr>
        <p:spPr>
          <a:xfrm>
            <a:off x="7187184" y="3346704"/>
            <a:ext cx="4343400" cy="530352"/>
          </a:xfrm>
          <a:prstGeom prst="rect">
            <a:avLst/>
          </a:prstGeom>
          <a:solidFill>
            <a:srgbClr val="F2E7D9"/>
          </a:solidFill>
          <a:ln w="12700">
            <a:solidFill>
              <a:srgbClr val="F2E7D9"/>
            </a:solidFill>
            <a:prstDash val="solid"/>
          </a:ln>
        </p:spPr>
      </p:sp>
      <p:sp>
        <p:nvSpPr>
          <p:cNvPr id="24" name="Text 21"/>
          <p:cNvSpPr txBox="1"/>
          <p:nvPr/>
        </p:nvSpPr>
        <p:spPr>
          <a:xfrm>
            <a:off x="7406640" y="3419856"/>
            <a:ext cx="3931920" cy="384048"/>
          </a:xfrm>
          <a:prstGeom prst="rect">
            <a:avLst/>
          </a:prstGeom>
          <a:noFill/>
          <a:ln/>
        </p:spPr>
        <p:txBody>
          <a:bodyPr wrap="square" lIns="0" tIns="0" rIns="0" bIns="0" rtlCol="0" anchor="ctr"/>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En un reporte de incidente (8.11)</a:t>
            </a:r>
            <a:endParaRPr lang="en-US" sz="1080" dirty="0"/>
          </a:p>
        </p:txBody>
      </p:sp>
      <p:sp>
        <p:nvSpPr>
          <p:cNvPr id="25" name="Text 22"/>
          <p:cNvSpPr txBox="1"/>
          <p:nvPr/>
        </p:nvSpPr>
        <p:spPr>
          <a:xfrm>
            <a:off x="658368" y="4059936"/>
            <a:ext cx="2194560" cy="292608"/>
          </a:xfrm>
          <a:prstGeom prst="rect">
            <a:avLst/>
          </a:prstGeom>
          <a:noFill/>
          <a:ln/>
        </p:spPr>
        <p:txBody>
          <a:bodyPr wrap="square" lIns="0" tIns="0" rIns="0" bIns="0" rtlCol="0" anchor="t"/>
          <a:lstStyle/>
          <a:p>
            <a:pPr algn="l" indent="0" marL="0">
              <a:buNone/>
            </a:pPr>
            <a:r>
              <a:rPr lang="en-US" sz="1100" b="1" dirty="0">
                <a:solidFill>
                  <a:srgbClr val="52606D"/>
                </a:solidFill>
                <a:latin typeface="Aptos" pitchFamily="34" charset="0"/>
                <a:ea typeface="Aptos" pitchFamily="34" charset="-122"/>
                <a:cs typeface="Aptos" pitchFamily="34" charset="-120"/>
              </a:rPr>
              <a:t>Qué se hace con él</a:t>
            </a:r>
            <a:endParaRPr lang="en-US" sz="1100" dirty="0"/>
          </a:p>
        </p:txBody>
      </p:sp>
      <p:sp>
        <p:nvSpPr>
          <p:cNvPr id="26" name="Shape 23"/>
          <p:cNvSpPr/>
          <p:nvPr/>
        </p:nvSpPr>
        <p:spPr>
          <a:xfrm>
            <a:off x="2962656" y="3950208"/>
            <a:ext cx="4023360" cy="530352"/>
          </a:xfrm>
          <a:prstGeom prst="rect">
            <a:avLst/>
          </a:prstGeom>
          <a:solidFill>
            <a:srgbClr val="EDE6DA"/>
          </a:solidFill>
          <a:ln w="12700">
            <a:solidFill>
              <a:srgbClr val="EDE6DA"/>
            </a:solidFill>
            <a:prstDash val="solid"/>
          </a:ln>
        </p:spPr>
      </p:sp>
      <p:sp>
        <p:nvSpPr>
          <p:cNvPr id="27" name="Text 24"/>
          <p:cNvSpPr txBox="1"/>
          <p:nvPr/>
        </p:nvSpPr>
        <p:spPr>
          <a:xfrm>
            <a:off x="3182112" y="4023360"/>
            <a:ext cx="3621024" cy="384048"/>
          </a:xfrm>
          <a:prstGeom prst="rect">
            <a:avLst/>
          </a:prstGeom>
          <a:noFill/>
          <a:ln/>
        </p:spPr>
        <p:txBody>
          <a:bodyPr wrap="square" lIns="0" tIns="0" rIns="0" bIns="0" rtlCol="0" anchor="ctr"/>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Se valora, se prioriza y se decide cómo tratarlo</a:t>
            </a:r>
            <a:endParaRPr lang="en-US" sz="1080" dirty="0"/>
          </a:p>
        </p:txBody>
      </p:sp>
      <p:sp>
        <p:nvSpPr>
          <p:cNvPr id="28" name="Shape 25"/>
          <p:cNvSpPr/>
          <p:nvPr/>
        </p:nvSpPr>
        <p:spPr>
          <a:xfrm>
            <a:off x="7187184" y="3950208"/>
            <a:ext cx="4343400" cy="530352"/>
          </a:xfrm>
          <a:prstGeom prst="rect">
            <a:avLst/>
          </a:prstGeom>
          <a:solidFill>
            <a:srgbClr val="F2E7D9"/>
          </a:solidFill>
          <a:ln w="12700">
            <a:solidFill>
              <a:srgbClr val="F2E7D9"/>
            </a:solidFill>
            <a:prstDash val="solid"/>
          </a:ln>
        </p:spPr>
      </p:sp>
      <p:sp>
        <p:nvSpPr>
          <p:cNvPr id="29" name="Text 26"/>
          <p:cNvSpPr txBox="1"/>
          <p:nvPr/>
        </p:nvSpPr>
        <p:spPr>
          <a:xfrm>
            <a:off x="7406640" y="4023360"/>
            <a:ext cx="3931920" cy="384048"/>
          </a:xfrm>
          <a:prstGeom prst="rect">
            <a:avLst/>
          </a:prstGeom>
          <a:noFill/>
          <a:ln/>
        </p:spPr>
        <p:txBody>
          <a:bodyPr wrap="square" lIns="0" tIns="0" rIns="0" bIns="0" rtlCol="0" anchor="ctr"/>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Se corrige, o se acepta con una decisión escrita</a:t>
            </a:r>
            <a:endParaRPr lang="en-US" sz="1080" dirty="0"/>
          </a:p>
        </p:txBody>
      </p:sp>
      <p:sp>
        <p:nvSpPr>
          <p:cNvPr id="30" name="Text 27"/>
          <p:cNvSpPr txBox="1"/>
          <p:nvPr/>
        </p:nvSpPr>
        <p:spPr>
          <a:xfrm>
            <a:off x="658368" y="4663440"/>
            <a:ext cx="2194560" cy="292608"/>
          </a:xfrm>
          <a:prstGeom prst="rect">
            <a:avLst/>
          </a:prstGeom>
          <a:noFill/>
          <a:ln/>
        </p:spPr>
        <p:txBody>
          <a:bodyPr wrap="square" lIns="0" tIns="0" rIns="0" bIns="0" rtlCol="0" anchor="t"/>
          <a:lstStyle/>
          <a:p>
            <a:pPr algn="l" indent="0" marL="0">
              <a:buNone/>
            </a:pPr>
            <a:r>
              <a:rPr lang="en-US" sz="1100" b="1" dirty="0">
                <a:solidFill>
                  <a:srgbClr val="52606D"/>
                </a:solidFill>
                <a:latin typeface="Aptos" pitchFamily="34" charset="0"/>
                <a:ea typeface="Aptos" pitchFamily="34" charset="-122"/>
                <a:cs typeface="Aptos" pitchFamily="34" charset="-120"/>
              </a:rPr>
              <a:t>Cómo se cierra</a:t>
            </a:r>
            <a:endParaRPr lang="en-US" sz="1100" dirty="0"/>
          </a:p>
        </p:txBody>
      </p:sp>
      <p:sp>
        <p:nvSpPr>
          <p:cNvPr id="31" name="Shape 28"/>
          <p:cNvSpPr/>
          <p:nvPr/>
        </p:nvSpPr>
        <p:spPr>
          <a:xfrm>
            <a:off x="2962656" y="4553712"/>
            <a:ext cx="4023360" cy="530352"/>
          </a:xfrm>
          <a:prstGeom prst="rect">
            <a:avLst/>
          </a:prstGeom>
          <a:solidFill>
            <a:srgbClr val="EDE6DA"/>
          </a:solidFill>
          <a:ln w="12700">
            <a:solidFill>
              <a:srgbClr val="EDE6DA"/>
            </a:solidFill>
            <a:prstDash val="solid"/>
          </a:ln>
        </p:spPr>
      </p:sp>
      <p:sp>
        <p:nvSpPr>
          <p:cNvPr id="32" name="Text 29"/>
          <p:cNvSpPr txBox="1"/>
          <p:nvPr/>
        </p:nvSpPr>
        <p:spPr>
          <a:xfrm>
            <a:off x="3182112" y="4626864"/>
            <a:ext cx="3621024" cy="384048"/>
          </a:xfrm>
          <a:prstGeom prst="rect">
            <a:avLst/>
          </a:prstGeom>
          <a:noFill/>
          <a:ln/>
        </p:spPr>
        <p:txBody>
          <a:bodyPr wrap="square" lIns="0" tIns="0" rIns="0" bIns="0" rtlCol="0" anchor="ctr"/>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Dejando de ser probable, o aceptándolo</a:t>
            </a:r>
            <a:endParaRPr lang="en-US" sz="1080" dirty="0"/>
          </a:p>
        </p:txBody>
      </p:sp>
      <p:sp>
        <p:nvSpPr>
          <p:cNvPr id="33" name="Shape 30"/>
          <p:cNvSpPr/>
          <p:nvPr/>
        </p:nvSpPr>
        <p:spPr>
          <a:xfrm>
            <a:off x="7187184" y="4553712"/>
            <a:ext cx="4343400" cy="530352"/>
          </a:xfrm>
          <a:prstGeom prst="rect">
            <a:avLst/>
          </a:prstGeom>
          <a:solidFill>
            <a:srgbClr val="F2E7D9"/>
          </a:solidFill>
          <a:ln w="12700">
            <a:solidFill>
              <a:srgbClr val="F2E7D9"/>
            </a:solidFill>
            <a:prstDash val="solid"/>
          </a:ln>
        </p:spPr>
      </p:sp>
      <p:sp>
        <p:nvSpPr>
          <p:cNvPr id="34" name="Text 31"/>
          <p:cNvSpPr txBox="1"/>
          <p:nvPr/>
        </p:nvSpPr>
        <p:spPr>
          <a:xfrm>
            <a:off x="7406640" y="4626864"/>
            <a:ext cx="3931920" cy="384048"/>
          </a:xfrm>
          <a:prstGeom prst="rect">
            <a:avLst/>
          </a:prstGeom>
          <a:noFill/>
          <a:ln/>
        </p:spPr>
        <p:txBody>
          <a:bodyPr wrap="square" lIns="0" tIns="0" rIns="0" bIns="0" rtlCol="0" anchor="ctr"/>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Con un cambio en el código y una prueba que lo fija</a:t>
            </a:r>
            <a:endParaRPr lang="en-US" sz="1080" dirty="0"/>
          </a:p>
        </p:txBody>
      </p:sp>
      <p:sp>
        <p:nvSpPr>
          <p:cNvPr id="35" name="Text 32"/>
          <p:cNvSpPr txBox="1"/>
          <p:nvPr/>
        </p:nvSpPr>
        <p:spPr>
          <a:xfrm>
            <a:off x="658368" y="5230368"/>
            <a:ext cx="10874959" cy="274320"/>
          </a:xfrm>
          <a:prstGeom prst="rect">
            <a:avLst/>
          </a:prstGeom>
          <a:noFill/>
          <a:ln/>
        </p:spPr>
        <p:txBody>
          <a:bodyPr wrap="square" lIns="0" tIns="0" rIns="0" bIns="0" rtlCol="0" anchor="t"/>
          <a:lstStyle/>
          <a:p>
            <a:pPr algn="l" indent="0" marL="0">
              <a:buNone/>
            </a:pPr>
            <a:r>
              <a:rPr lang="en-US" sz="1260" b="1" dirty="0">
                <a:solidFill>
                  <a:srgbClr val="243B53"/>
                </a:solidFill>
                <a:latin typeface="Aptos" pitchFamily="34" charset="0"/>
                <a:ea typeface="Aptos" pitchFamily="34" charset="-122"/>
                <a:cs typeface="Aptos" pitchFamily="34" charset="-120"/>
              </a:rPr>
              <a:t>Un registro de riesgos que después de un mes conserva las mismas trece filas es un registro que nadie ejecutó.</a:t>
            </a:r>
            <a:endParaRPr lang="en-US" sz="1260" dirty="0"/>
          </a:p>
        </p:txBody>
      </p:sp>
      <p:sp>
        <p:nvSpPr>
          <p:cNvPr id="36" name="Shape 33"/>
          <p:cNvSpPr/>
          <p:nvPr/>
        </p:nvSpPr>
        <p:spPr>
          <a:xfrm>
            <a:off x="658368" y="5650992"/>
            <a:ext cx="10874959" cy="548640"/>
          </a:xfrm>
          <a:prstGeom prst="rect">
            <a:avLst/>
          </a:prstGeom>
          <a:solidFill>
            <a:srgbClr val="102A43"/>
          </a:solidFill>
          <a:ln w="12700">
            <a:solidFill>
              <a:srgbClr val="102A43"/>
            </a:solidFill>
            <a:prstDash val="solid"/>
          </a:ln>
        </p:spPr>
      </p:sp>
      <p:sp>
        <p:nvSpPr>
          <p:cNvPr id="37" name="Text 3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Quedan doce riesgos por tratar y un defecto por corregir.</a:t>
            </a:r>
            <a:endParaRPr lang="en-US" sz="13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VOCABULARIO QUE VUELVE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Los tres niveles, en una línea cada uno</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regla que sigue los usa como respuesta, así que conviene dejarlos fijos. Lo que los distingue no es el tamaño: es qué deja de sustituir cada uno.</a:t>
            </a:r>
            <a:endParaRPr lang="en-US" sz="1420" dirty="0"/>
          </a:p>
        </p:txBody>
      </p:sp>
      <p:sp>
        <p:nvSpPr>
          <p:cNvPr id="11" name="Shape 8"/>
          <p:cNvSpPr/>
          <p:nvPr/>
        </p:nvSpPr>
        <p:spPr>
          <a:xfrm>
            <a:off x="658368" y="2377440"/>
            <a:ext cx="3527450" cy="2596896"/>
          </a:xfrm>
          <a:prstGeom prst="rect">
            <a:avLst/>
          </a:prstGeom>
          <a:solidFill>
            <a:srgbClr val="FFFFFF"/>
          </a:solidFill>
          <a:ln w="12700">
            <a:solidFill>
              <a:srgbClr val="FFFFFF"/>
            </a:solidFill>
            <a:prstDash val="solid"/>
          </a:ln>
        </p:spPr>
      </p:sp>
      <p:sp>
        <p:nvSpPr>
          <p:cNvPr id="12" name="Shape 9"/>
          <p:cNvSpPr/>
          <p:nvPr/>
        </p:nvSpPr>
        <p:spPr>
          <a:xfrm>
            <a:off x="658368" y="2377440"/>
            <a:ext cx="3527450" cy="54864"/>
          </a:xfrm>
          <a:prstGeom prst="rect">
            <a:avLst/>
          </a:prstGeom>
          <a:solidFill>
            <a:srgbClr val="102A43"/>
          </a:solidFill>
          <a:ln w="12700">
            <a:solidFill>
              <a:srgbClr val="102A43"/>
            </a:solidFill>
            <a:prstDash val="solid"/>
          </a:ln>
        </p:spPr>
      </p:sp>
      <p:sp>
        <p:nvSpPr>
          <p:cNvPr id="13" name="Text 10"/>
          <p:cNvSpPr txBox="1"/>
          <p:nvPr/>
        </p:nvSpPr>
        <p:spPr>
          <a:xfrm>
            <a:off x="877824" y="2560320"/>
            <a:ext cx="3088538" cy="548640"/>
          </a:xfrm>
          <a:prstGeom prst="rect">
            <a:avLst/>
          </a:prstGeom>
          <a:noFill/>
          <a:ln/>
        </p:spPr>
        <p:txBody>
          <a:bodyPr wrap="square" lIns="0" tIns="0" rIns="0" bIns="0" rtlCol="0" anchor="t"/>
          <a:lstStyle/>
          <a:p>
            <a:pPr algn="l" indent="0" marL="0">
              <a:lnSpc>
                <a:spcPct val="106000"/>
              </a:lnSpc>
              <a:buNone/>
            </a:pPr>
            <a:r>
              <a:rPr lang="en-US" sz="1600" b="1" dirty="0">
                <a:solidFill>
                  <a:srgbClr val="102A43"/>
                </a:solidFill>
                <a:latin typeface="Aptos" pitchFamily="34" charset="0"/>
                <a:ea typeface="Aptos" pitchFamily="34" charset="-122"/>
                <a:cs typeface="Aptos" pitchFamily="34" charset="-120"/>
              </a:rPr>
              <a:t>Prueba unitaria</a:t>
            </a:r>
            <a:endParaRPr lang="en-US" sz="1600" dirty="0"/>
          </a:p>
        </p:txBody>
      </p:sp>
      <p:sp>
        <p:nvSpPr>
          <p:cNvPr id="14" name="Text 11"/>
          <p:cNvSpPr txBox="1"/>
          <p:nvPr/>
        </p:nvSpPr>
        <p:spPr>
          <a:xfrm>
            <a:off x="877824" y="3182112"/>
            <a:ext cx="3088538" cy="164592"/>
          </a:xfrm>
          <a:prstGeom prst="rect">
            <a:avLst/>
          </a:prstGeom>
          <a:noFill/>
          <a:ln/>
        </p:spPr>
        <p:txBody>
          <a:bodyPr wrap="square" lIns="0" tIns="0" rIns="0" bIns="0" rtlCol="0" anchor="t"/>
          <a:lstStyle/>
          <a:p>
            <a:pPr algn="l" indent="0" marL="0">
              <a:buNone/>
            </a:pPr>
            <a:r>
              <a:rPr lang="en-US" sz="820" b="1" spc="80" kern="0" dirty="0">
                <a:solidFill>
                  <a:srgbClr val="2E7D4F"/>
                </a:solidFill>
                <a:latin typeface="Aptos" pitchFamily="34" charset="0"/>
                <a:ea typeface="Aptos" pitchFamily="34" charset="-122"/>
                <a:cs typeface="Aptos" pitchFamily="34" charset="-120"/>
              </a:rPr>
              <a:t>EJECUTA DE VERDAD</a:t>
            </a:r>
            <a:endParaRPr lang="en-US" sz="820" dirty="0"/>
          </a:p>
        </p:txBody>
      </p:sp>
      <p:sp>
        <p:nvSpPr>
          <p:cNvPr id="15" name="Text 12"/>
          <p:cNvSpPr txBox="1"/>
          <p:nvPr/>
        </p:nvSpPr>
        <p:spPr>
          <a:xfrm>
            <a:off x="877824" y="3364992"/>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243B53"/>
                </a:solidFill>
                <a:latin typeface="Aptos" pitchFamily="34" charset="0"/>
                <a:ea typeface="Aptos" pitchFamily="34" charset="-122"/>
                <a:cs typeface="Aptos" pitchFamily="34" charset="-120"/>
              </a:rPr>
              <a:t>Una función sola</a:t>
            </a:r>
            <a:endParaRPr lang="en-US" sz="1020" dirty="0"/>
          </a:p>
        </p:txBody>
      </p:sp>
      <p:sp>
        <p:nvSpPr>
          <p:cNvPr id="16" name="Text 13"/>
          <p:cNvSpPr txBox="1"/>
          <p:nvPr/>
        </p:nvSpPr>
        <p:spPr>
          <a:xfrm>
            <a:off x="877824" y="3785616"/>
            <a:ext cx="3088538" cy="164592"/>
          </a:xfrm>
          <a:prstGeom prst="rect">
            <a:avLst/>
          </a:prstGeom>
          <a:noFill/>
          <a:ln/>
        </p:spPr>
        <p:txBody>
          <a:bodyPr wrap="square" lIns="0" tIns="0" rIns="0" bIns="0" rtlCol="0" anchor="t"/>
          <a:lstStyle/>
          <a:p>
            <a:pPr algn="l" indent="0" marL="0">
              <a:buNone/>
            </a:pPr>
            <a:r>
              <a:rPr lang="en-US" sz="820" b="1" spc="80" kern="0" dirty="0">
                <a:solidFill>
                  <a:srgbClr val="B3181E"/>
                </a:solidFill>
                <a:latin typeface="Aptos" pitchFamily="34" charset="0"/>
                <a:ea typeface="Aptos" pitchFamily="34" charset="-122"/>
                <a:cs typeface="Aptos" pitchFamily="34" charset="-120"/>
              </a:rPr>
              <a:t>SUSTITUYE</a:t>
            </a:r>
            <a:endParaRPr lang="en-US" sz="820" dirty="0"/>
          </a:p>
        </p:txBody>
      </p:sp>
      <p:sp>
        <p:nvSpPr>
          <p:cNvPr id="17" name="Text 14"/>
          <p:cNvSpPr txBox="1"/>
          <p:nvPr/>
        </p:nvSpPr>
        <p:spPr>
          <a:xfrm>
            <a:off x="877824" y="3968496"/>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52606D"/>
                </a:solidFill>
                <a:latin typeface="Aptos" pitchFamily="34" charset="0"/>
                <a:ea typeface="Aptos" pitchFamily="34" charset="-122"/>
                <a:cs typeface="Aptos" pitchFamily="34" charset="-120"/>
              </a:rPr>
              <a:t>Todo lo demás: la red, la base de datos, cualquier otra pieza.</a:t>
            </a:r>
            <a:endParaRPr lang="en-US" sz="1020" dirty="0"/>
          </a:p>
        </p:txBody>
      </p:sp>
      <p:sp>
        <p:nvSpPr>
          <p:cNvPr id="18" name="Text 15"/>
          <p:cNvSpPr txBox="1"/>
          <p:nvPr/>
        </p:nvSpPr>
        <p:spPr>
          <a:xfrm>
            <a:off x="877824" y="4389120"/>
            <a:ext cx="3088538" cy="164592"/>
          </a:xfrm>
          <a:prstGeom prst="rect">
            <a:avLst/>
          </a:prstGeom>
          <a:noFill/>
          <a:ln/>
        </p:spPr>
        <p:txBody>
          <a:bodyPr wrap="square" lIns="0" tIns="0" rIns="0" bIns="0" rtlCol="0" anchor="t"/>
          <a:lstStyle/>
          <a:p>
            <a:pPr algn="l" indent="0" marL="0">
              <a:buNone/>
            </a:pPr>
            <a:r>
              <a:rPr lang="en-US" sz="820" b="1" spc="80" kern="0" dirty="0">
                <a:solidFill>
                  <a:srgbClr val="2E7D4F"/>
                </a:solidFill>
                <a:latin typeface="Aptos" pitchFamily="34" charset="0"/>
                <a:ea typeface="Aptos" pitchFamily="34" charset="-122"/>
                <a:cs typeface="Aptos" pitchFamily="34" charset="-120"/>
              </a:rPr>
              <a:t>Y POR ESO AFIRMA</a:t>
            </a:r>
            <a:endParaRPr lang="en-US" sz="820" dirty="0"/>
          </a:p>
        </p:txBody>
      </p:sp>
      <p:sp>
        <p:nvSpPr>
          <p:cNvPr id="19" name="Text 16"/>
          <p:cNvSpPr txBox="1"/>
          <p:nvPr/>
        </p:nvSpPr>
        <p:spPr>
          <a:xfrm>
            <a:off x="877824" y="4572000"/>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243B53"/>
                </a:solidFill>
                <a:latin typeface="Aptos" pitchFamily="34" charset="0"/>
                <a:ea typeface="Aptos" pitchFamily="34" charset="-122"/>
                <a:cs typeface="Aptos" pitchFamily="34" charset="-120"/>
              </a:rPr>
              <a:t>Que esa función decide bien con los datos que recibe.</a:t>
            </a:r>
            <a:endParaRPr lang="en-US" sz="1020" dirty="0"/>
          </a:p>
        </p:txBody>
      </p:sp>
      <p:sp>
        <p:nvSpPr>
          <p:cNvPr id="20" name="Shape 17"/>
          <p:cNvSpPr/>
          <p:nvPr/>
        </p:nvSpPr>
        <p:spPr>
          <a:xfrm>
            <a:off x="4332122" y="2377440"/>
            <a:ext cx="3527450" cy="2596896"/>
          </a:xfrm>
          <a:prstGeom prst="rect">
            <a:avLst/>
          </a:prstGeom>
          <a:solidFill>
            <a:srgbClr val="FFFFFF"/>
          </a:solidFill>
          <a:ln w="12700">
            <a:solidFill>
              <a:srgbClr val="FFFFFF"/>
            </a:solidFill>
            <a:prstDash val="solid"/>
          </a:ln>
        </p:spPr>
      </p:sp>
      <p:sp>
        <p:nvSpPr>
          <p:cNvPr id="21" name="Shape 18"/>
          <p:cNvSpPr/>
          <p:nvPr/>
        </p:nvSpPr>
        <p:spPr>
          <a:xfrm>
            <a:off x="4332122" y="2377440"/>
            <a:ext cx="3527450" cy="54864"/>
          </a:xfrm>
          <a:prstGeom prst="rect">
            <a:avLst/>
          </a:prstGeom>
          <a:solidFill>
            <a:srgbClr val="8A6A12"/>
          </a:solidFill>
          <a:ln w="12700">
            <a:solidFill>
              <a:srgbClr val="8A6A12"/>
            </a:solidFill>
            <a:prstDash val="solid"/>
          </a:ln>
        </p:spPr>
      </p:sp>
      <p:sp>
        <p:nvSpPr>
          <p:cNvPr id="22" name="Text 19"/>
          <p:cNvSpPr txBox="1"/>
          <p:nvPr/>
        </p:nvSpPr>
        <p:spPr>
          <a:xfrm>
            <a:off x="4551578" y="2560320"/>
            <a:ext cx="3088538" cy="548640"/>
          </a:xfrm>
          <a:prstGeom prst="rect">
            <a:avLst/>
          </a:prstGeom>
          <a:noFill/>
          <a:ln/>
        </p:spPr>
        <p:txBody>
          <a:bodyPr wrap="square" lIns="0" tIns="0" rIns="0" bIns="0" rtlCol="0" anchor="t"/>
          <a:lstStyle/>
          <a:p>
            <a:pPr algn="l" indent="0" marL="0">
              <a:lnSpc>
                <a:spcPct val="106000"/>
              </a:lnSpc>
              <a:buNone/>
            </a:pPr>
            <a:r>
              <a:rPr lang="en-US" sz="1600" b="1" dirty="0">
                <a:solidFill>
                  <a:srgbClr val="8A6A12"/>
                </a:solidFill>
                <a:latin typeface="Aptos" pitchFamily="34" charset="0"/>
                <a:ea typeface="Aptos" pitchFamily="34" charset="-122"/>
                <a:cs typeface="Aptos" pitchFamily="34" charset="-120"/>
              </a:rPr>
              <a:t>Prueba de integración</a:t>
            </a:r>
            <a:endParaRPr lang="en-US" sz="1600" dirty="0"/>
          </a:p>
        </p:txBody>
      </p:sp>
      <p:sp>
        <p:nvSpPr>
          <p:cNvPr id="23" name="Text 20"/>
          <p:cNvSpPr txBox="1"/>
          <p:nvPr/>
        </p:nvSpPr>
        <p:spPr>
          <a:xfrm>
            <a:off x="4551578" y="3182112"/>
            <a:ext cx="3088538" cy="164592"/>
          </a:xfrm>
          <a:prstGeom prst="rect">
            <a:avLst/>
          </a:prstGeom>
          <a:noFill/>
          <a:ln/>
        </p:spPr>
        <p:txBody>
          <a:bodyPr wrap="square" lIns="0" tIns="0" rIns="0" bIns="0" rtlCol="0" anchor="t"/>
          <a:lstStyle/>
          <a:p>
            <a:pPr algn="l" indent="0" marL="0">
              <a:buNone/>
            </a:pPr>
            <a:r>
              <a:rPr lang="en-US" sz="820" b="1" spc="80" kern="0" dirty="0">
                <a:solidFill>
                  <a:srgbClr val="2E7D4F"/>
                </a:solidFill>
                <a:latin typeface="Aptos" pitchFamily="34" charset="0"/>
                <a:ea typeface="Aptos" pitchFamily="34" charset="-122"/>
                <a:cs typeface="Aptos" pitchFamily="34" charset="-120"/>
              </a:rPr>
              <a:t>EJECUTA DE VERDAD</a:t>
            </a:r>
            <a:endParaRPr lang="en-US" sz="820" dirty="0"/>
          </a:p>
        </p:txBody>
      </p:sp>
      <p:sp>
        <p:nvSpPr>
          <p:cNvPr id="24" name="Text 21"/>
          <p:cNvSpPr txBox="1"/>
          <p:nvPr/>
        </p:nvSpPr>
        <p:spPr>
          <a:xfrm>
            <a:off x="4551578" y="3364992"/>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243B53"/>
                </a:solidFill>
                <a:latin typeface="Aptos" pitchFamily="34" charset="0"/>
                <a:ea typeface="Aptos" pitchFamily="34" charset="-122"/>
                <a:cs typeface="Aptos" pitchFamily="34" charset="-120"/>
              </a:rPr>
              <a:t>Dos o más piezas juntas</a:t>
            </a:r>
            <a:endParaRPr lang="en-US" sz="1020" dirty="0"/>
          </a:p>
        </p:txBody>
      </p:sp>
      <p:sp>
        <p:nvSpPr>
          <p:cNvPr id="25" name="Text 22"/>
          <p:cNvSpPr txBox="1"/>
          <p:nvPr/>
        </p:nvSpPr>
        <p:spPr>
          <a:xfrm>
            <a:off x="4551578" y="3785616"/>
            <a:ext cx="3088538" cy="164592"/>
          </a:xfrm>
          <a:prstGeom prst="rect">
            <a:avLst/>
          </a:prstGeom>
          <a:noFill/>
          <a:ln/>
        </p:spPr>
        <p:txBody>
          <a:bodyPr wrap="square" lIns="0" tIns="0" rIns="0" bIns="0" rtlCol="0" anchor="t"/>
          <a:lstStyle/>
          <a:p>
            <a:pPr algn="l" indent="0" marL="0">
              <a:buNone/>
            </a:pPr>
            <a:r>
              <a:rPr lang="en-US" sz="820" b="1" spc="80" kern="0" dirty="0">
                <a:solidFill>
                  <a:srgbClr val="B3181E"/>
                </a:solidFill>
                <a:latin typeface="Aptos" pitchFamily="34" charset="0"/>
                <a:ea typeface="Aptos" pitchFamily="34" charset="-122"/>
                <a:cs typeface="Aptos" pitchFamily="34" charset="-120"/>
              </a:rPr>
              <a:t>SUSTITUYE</a:t>
            </a:r>
            <a:endParaRPr lang="en-US" sz="820" dirty="0"/>
          </a:p>
        </p:txBody>
      </p:sp>
      <p:sp>
        <p:nvSpPr>
          <p:cNvPr id="26" name="Text 23"/>
          <p:cNvSpPr txBox="1"/>
          <p:nvPr/>
        </p:nvSpPr>
        <p:spPr>
          <a:xfrm>
            <a:off x="4551578" y="3968496"/>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52606D"/>
                </a:solidFill>
                <a:latin typeface="Aptos" pitchFamily="34" charset="0"/>
                <a:ea typeface="Aptos" pitchFamily="34" charset="-122"/>
                <a:cs typeface="Aptos" pitchFamily="34" charset="-120"/>
              </a:rPr>
              <a:t>Nada de lo que quiere observar. Por eso la base de datos es real.</a:t>
            </a:r>
            <a:endParaRPr lang="en-US" sz="1020" dirty="0"/>
          </a:p>
        </p:txBody>
      </p:sp>
      <p:sp>
        <p:nvSpPr>
          <p:cNvPr id="27" name="Text 24"/>
          <p:cNvSpPr txBox="1"/>
          <p:nvPr/>
        </p:nvSpPr>
        <p:spPr>
          <a:xfrm>
            <a:off x="4551578" y="4389120"/>
            <a:ext cx="3088538" cy="164592"/>
          </a:xfrm>
          <a:prstGeom prst="rect">
            <a:avLst/>
          </a:prstGeom>
          <a:noFill/>
          <a:ln/>
        </p:spPr>
        <p:txBody>
          <a:bodyPr wrap="square" lIns="0" tIns="0" rIns="0" bIns="0" rtlCol="0" anchor="t"/>
          <a:lstStyle/>
          <a:p>
            <a:pPr algn="l" indent="0" marL="0">
              <a:buNone/>
            </a:pPr>
            <a:r>
              <a:rPr lang="en-US" sz="820" b="1" spc="80" kern="0" dirty="0">
                <a:solidFill>
                  <a:srgbClr val="2E7D4F"/>
                </a:solidFill>
                <a:latin typeface="Aptos" pitchFamily="34" charset="0"/>
                <a:ea typeface="Aptos" pitchFamily="34" charset="-122"/>
                <a:cs typeface="Aptos" pitchFamily="34" charset="-120"/>
              </a:rPr>
              <a:t>Y POR ESO AFIRMA</a:t>
            </a:r>
            <a:endParaRPr lang="en-US" sz="820" dirty="0"/>
          </a:p>
        </p:txBody>
      </p:sp>
      <p:sp>
        <p:nvSpPr>
          <p:cNvPr id="28" name="Text 25"/>
          <p:cNvSpPr txBox="1"/>
          <p:nvPr/>
        </p:nvSpPr>
        <p:spPr>
          <a:xfrm>
            <a:off x="4551578" y="4572000"/>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243B53"/>
                </a:solidFill>
                <a:latin typeface="Aptos" pitchFamily="34" charset="0"/>
                <a:ea typeface="Aptos" pitchFamily="34" charset="-122"/>
                <a:cs typeface="Aptos" pitchFamily="34" charset="-120"/>
              </a:rPr>
              <a:t>Que esas piezas se entienden entre sí.</a:t>
            </a:r>
            <a:endParaRPr lang="en-US" sz="1020" dirty="0"/>
          </a:p>
        </p:txBody>
      </p:sp>
      <p:sp>
        <p:nvSpPr>
          <p:cNvPr id="29" name="Shape 26"/>
          <p:cNvSpPr/>
          <p:nvPr/>
        </p:nvSpPr>
        <p:spPr>
          <a:xfrm>
            <a:off x="8005877" y="2377440"/>
            <a:ext cx="3527450" cy="2596896"/>
          </a:xfrm>
          <a:prstGeom prst="rect">
            <a:avLst/>
          </a:prstGeom>
          <a:solidFill>
            <a:srgbClr val="FFFFFF"/>
          </a:solidFill>
          <a:ln w="12700">
            <a:solidFill>
              <a:srgbClr val="FFFFFF"/>
            </a:solidFill>
            <a:prstDash val="solid"/>
          </a:ln>
        </p:spPr>
      </p:sp>
      <p:sp>
        <p:nvSpPr>
          <p:cNvPr id="30" name="Shape 27"/>
          <p:cNvSpPr/>
          <p:nvPr/>
        </p:nvSpPr>
        <p:spPr>
          <a:xfrm>
            <a:off x="8005877" y="2377440"/>
            <a:ext cx="3527450" cy="54864"/>
          </a:xfrm>
          <a:prstGeom prst="rect">
            <a:avLst/>
          </a:prstGeom>
          <a:solidFill>
            <a:srgbClr val="2E7D4F"/>
          </a:solidFill>
          <a:ln w="12700">
            <a:solidFill>
              <a:srgbClr val="2E7D4F"/>
            </a:solidFill>
            <a:prstDash val="solid"/>
          </a:ln>
        </p:spPr>
      </p:sp>
      <p:sp>
        <p:nvSpPr>
          <p:cNvPr id="31" name="Text 28"/>
          <p:cNvSpPr txBox="1"/>
          <p:nvPr/>
        </p:nvSpPr>
        <p:spPr>
          <a:xfrm>
            <a:off x="8225333" y="2560320"/>
            <a:ext cx="3088538" cy="548640"/>
          </a:xfrm>
          <a:prstGeom prst="rect">
            <a:avLst/>
          </a:prstGeom>
          <a:noFill/>
          <a:ln/>
        </p:spPr>
        <p:txBody>
          <a:bodyPr wrap="square" lIns="0" tIns="0" rIns="0" bIns="0" rtlCol="0" anchor="t"/>
          <a:lstStyle/>
          <a:p>
            <a:pPr algn="l" indent="0" marL="0">
              <a:lnSpc>
                <a:spcPct val="106000"/>
              </a:lnSpc>
              <a:buNone/>
            </a:pPr>
            <a:r>
              <a:rPr lang="en-US" sz="1600" b="1" dirty="0">
                <a:solidFill>
                  <a:srgbClr val="2E7D4F"/>
                </a:solidFill>
                <a:latin typeface="Aptos" pitchFamily="34" charset="0"/>
                <a:ea typeface="Aptos" pitchFamily="34" charset="-122"/>
                <a:cs typeface="Aptos" pitchFamily="34" charset="-120"/>
              </a:rPr>
              <a:t>Prueba de extremo a extremo</a:t>
            </a:r>
            <a:endParaRPr lang="en-US" sz="1600" dirty="0"/>
          </a:p>
        </p:txBody>
      </p:sp>
      <p:sp>
        <p:nvSpPr>
          <p:cNvPr id="32" name="Text 29"/>
          <p:cNvSpPr txBox="1"/>
          <p:nvPr/>
        </p:nvSpPr>
        <p:spPr>
          <a:xfrm>
            <a:off x="8225333" y="3182112"/>
            <a:ext cx="3088538" cy="164592"/>
          </a:xfrm>
          <a:prstGeom prst="rect">
            <a:avLst/>
          </a:prstGeom>
          <a:noFill/>
          <a:ln/>
        </p:spPr>
        <p:txBody>
          <a:bodyPr wrap="square" lIns="0" tIns="0" rIns="0" bIns="0" rtlCol="0" anchor="t"/>
          <a:lstStyle/>
          <a:p>
            <a:pPr algn="l" indent="0" marL="0">
              <a:buNone/>
            </a:pPr>
            <a:r>
              <a:rPr lang="en-US" sz="820" b="1" spc="80" kern="0" dirty="0">
                <a:solidFill>
                  <a:srgbClr val="2E7D4F"/>
                </a:solidFill>
                <a:latin typeface="Aptos" pitchFamily="34" charset="0"/>
                <a:ea typeface="Aptos" pitchFamily="34" charset="-122"/>
                <a:cs typeface="Aptos" pitchFamily="34" charset="-120"/>
              </a:rPr>
              <a:t>EJECUTA DE VERDAD</a:t>
            </a:r>
            <a:endParaRPr lang="en-US" sz="820" dirty="0"/>
          </a:p>
        </p:txBody>
      </p:sp>
      <p:sp>
        <p:nvSpPr>
          <p:cNvPr id="33" name="Text 30"/>
          <p:cNvSpPr txBox="1"/>
          <p:nvPr/>
        </p:nvSpPr>
        <p:spPr>
          <a:xfrm>
            <a:off x="8225333" y="3364992"/>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243B53"/>
                </a:solidFill>
                <a:latin typeface="Aptos" pitchFamily="34" charset="0"/>
                <a:ea typeface="Aptos" pitchFamily="34" charset="-122"/>
                <a:cs typeface="Aptos" pitchFamily="34" charset="-120"/>
              </a:rPr>
              <a:t>El sistema completo</a:t>
            </a:r>
            <a:endParaRPr lang="en-US" sz="1020" dirty="0"/>
          </a:p>
        </p:txBody>
      </p:sp>
      <p:sp>
        <p:nvSpPr>
          <p:cNvPr id="34" name="Text 31"/>
          <p:cNvSpPr txBox="1"/>
          <p:nvPr/>
        </p:nvSpPr>
        <p:spPr>
          <a:xfrm>
            <a:off x="8225333" y="3785616"/>
            <a:ext cx="3088538" cy="164592"/>
          </a:xfrm>
          <a:prstGeom prst="rect">
            <a:avLst/>
          </a:prstGeom>
          <a:noFill/>
          <a:ln/>
        </p:spPr>
        <p:txBody>
          <a:bodyPr wrap="square" lIns="0" tIns="0" rIns="0" bIns="0" rtlCol="0" anchor="t"/>
          <a:lstStyle/>
          <a:p>
            <a:pPr algn="l" indent="0" marL="0">
              <a:buNone/>
            </a:pPr>
            <a:r>
              <a:rPr lang="en-US" sz="820" b="1" spc="80" kern="0" dirty="0">
                <a:solidFill>
                  <a:srgbClr val="B3181E"/>
                </a:solidFill>
                <a:latin typeface="Aptos" pitchFamily="34" charset="0"/>
                <a:ea typeface="Aptos" pitchFamily="34" charset="-122"/>
                <a:cs typeface="Aptos" pitchFamily="34" charset="-120"/>
              </a:rPr>
              <a:t>SUSTITUYE</a:t>
            </a:r>
            <a:endParaRPr lang="en-US" sz="820" dirty="0"/>
          </a:p>
        </p:txBody>
      </p:sp>
      <p:sp>
        <p:nvSpPr>
          <p:cNvPr id="35" name="Text 32"/>
          <p:cNvSpPr txBox="1"/>
          <p:nvPr/>
        </p:nvSpPr>
        <p:spPr>
          <a:xfrm>
            <a:off x="8225333" y="3968496"/>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52606D"/>
                </a:solidFill>
                <a:latin typeface="Aptos" pitchFamily="34" charset="0"/>
                <a:ea typeface="Aptos" pitchFamily="34" charset="-122"/>
                <a:cs typeface="Aptos" pitchFamily="34" charset="-120"/>
              </a:rPr>
              <a:t>Nada. Se recorre por donde lo usa una persona, con navegador incluido.</a:t>
            </a:r>
            <a:endParaRPr lang="en-US" sz="1020" dirty="0"/>
          </a:p>
        </p:txBody>
      </p:sp>
      <p:sp>
        <p:nvSpPr>
          <p:cNvPr id="36" name="Text 33"/>
          <p:cNvSpPr txBox="1"/>
          <p:nvPr/>
        </p:nvSpPr>
        <p:spPr>
          <a:xfrm>
            <a:off x="8225333" y="4389120"/>
            <a:ext cx="3088538" cy="164592"/>
          </a:xfrm>
          <a:prstGeom prst="rect">
            <a:avLst/>
          </a:prstGeom>
          <a:noFill/>
          <a:ln/>
        </p:spPr>
        <p:txBody>
          <a:bodyPr wrap="square" lIns="0" tIns="0" rIns="0" bIns="0" rtlCol="0" anchor="t"/>
          <a:lstStyle/>
          <a:p>
            <a:pPr algn="l" indent="0" marL="0">
              <a:buNone/>
            </a:pPr>
            <a:r>
              <a:rPr lang="en-US" sz="820" b="1" spc="80" kern="0" dirty="0">
                <a:solidFill>
                  <a:srgbClr val="2E7D4F"/>
                </a:solidFill>
                <a:latin typeface="Aptos" pitchFamily="34" charset="0"/>
                <a:ea typeface="Aptos" pitchFamily="34" charset="-122"/>
                <a:cs typeface="Aptos" pitchFamily="34" charset="-120"/>
              </a:rPr>
              <a:t>Y POR ESO AFIRMA</a:t>
            </a:r>
            <a:endParaRPr lang="en-US" sz="820" dirty="0"/>
          </a:p>
        </p:txBody>
      </p:sp>
      <p:sp>
        <p:nvSpPr>
          <p:cNvPr id="37" name="Text 34"/>
          <p:cNvSpPr txBox="1"/>
          <p:nvPr/>
        </p:nvSpPr>
        <p:spPr>
          <a:xfrm>
            <a:off x="8225333" y="4572000"/>
            <a:ext cx="3088538" cy="384048"/>
          </a:xfrm>
          <a:prstGeom prst="rect">
            <a:avLst/>
          </a:prstGeom>
          <a:noFill/>
          <a:ln/>
        </p:spPr>
        <p:txBody>
          <a:bodyPr wrap="square" lIns="0" tIns="0" rIns="0" bIns="0" rtlCol="0" anchor="t"/>
          <a:lstStyle/>
          <a:p>
            <a:pPr algn="l" indent="0" marL="0">
              <a:lnSpc>
                <a:spcPct val="112000"/>
              </a:lnSpc>
              <a:buNone/>
            </a:pPr>
            <a:r>
              <a:rPr lang="en-US" sz="1020" dirty="0">
                <a:solidFill>
                  <a:srgbClr val="243B53"/>
                </a:solidFill>
                <a:latin typeface="Aptos" pitchFamily="34" charset="0"/>
                <a:ea typeface="Aptos" pitchFamily="34" charset="-122"/>
                <a:cs typeface="Aptos" pitchFamily="34" charset="-120"/>
              </a:rPr>
              <a:t>Que el sistema sirve para lo que fue construido.</a:t>
            </a:r>
            <a:endParaRPr lang="en-US" sz="1020" dirty="0"/>
          </a:p>
        </p:txBody>
      </p:sp>
      <p:sp>
        <p:nvSpPr>
          <p:cNvPr id="38" name="Shape 35"/>
          <p:cNvSpPr/>
          <p:nvPr/>
        </p:nvSpPr>
        <p:spPr>
          <a:xfrm>
            <a:off x="658368" y="5120640"/>
            <a:ext cx="10874959" cy="402336"/>
          </a:xfrm>
          <a:prstGeom prst="rect">
            <a:avLst/>
          </a:prstGeom>
          <a:solidFill>
            <a:srgbClr val="1D3A57"/>
          </a:solidFill>
          <a:ln w="12700">
            <a:solidFill>
              <a:srgbClr val="1D3A57"/>
            </a:solidFill>
            <a:prstDash val="solid"/>
          </a:ln>
        </p:spPr>
      </p:sp>
      <p:sp>
        <p:nvSpPr>
          <p:cNvPr id="39" name="Text 36"/>
          <p:cNvSpPr txBox="1"/>
          <p:nvPr/>
        </p:nvSpPr>
        <p:spPr>
          <a:xfrm>
            <a:off x="932688" y="5175504"/>
            <a:ext cx="10326319" cy="292608"/>
          </a:xfrm>
          <a:prstGeom prst="rect">
            <a:avLst/>
          </a:prstGeom>
          <a:noFill/>
          <a:ln/>
        </p:spPr>
        <p:txBody>
          <a:bodyPr wrap="square" lIns="0" tIns="0" rIns="0" bIns="0" rtlCol="0" anchor="t"/>
          <a:lstStyle/>
          <a:p>
            <a:pPr algn="ctr" indent="0" marL="0">
              <a:buNone/>
            </a:pPr>
            <a:r>
              <a:rPr lang="en-US" sz="1240" b="1" dirty="0">
                <a:solidFill>
                  <a:srgbClr val="FFFFFF"/>
                </a:solidFill>
                <a:latin typeface="Aptos" pitchFamily="34" charset="0"/>
                <a:ea typeface="Aptos" pitchFamily="34" charset="-122"/>
                <a:cs typeface="Aptos" pitchFamily="34" charset="-120"/>
              </a:rPr>
              <a:t>Una prueba que sustituye justamente la colaboración que dice verificar es una prueba unitaria con otro nombre.</a:t>
            </a:r>
            <a:endParaRPr lang="en-US" sz="1240" dirty="0"/>
          </a:p>
        </p:txBody>
      </p:sp>
      <p:sp>
        <p:nvSpPr>
          <p:cNvPr id="40" name="Shape 37"/>
          <p:cNvSpPr/>
          <p:nvPr/>
        </p:nvSpPr>
        <p:spPr>
          <a:xfrm>
            <a:off x="658368" y="5650992"/>
            <a:ext cx="10874959" cy="548640"/>
          </a:xfrm>
          <a:prstGeom prst="rect">
            <a:avLst/>
          </a:prstGeom>
          <a:solidFill>
            <a:srgbClr val="102A43"/>
          </a:solidFill>
          <a:ln w="12700">
            <a:solidFill>
              <a:srgbClr val="102A43"/>
            </a:solidFill>
            <a:prstDash val="solid"/>
          </a:ln>
        </p:spPr>
      </p:sp>
      <p:sp>
        <p:nvSpPr>
          <p:cNvPr id="41" name="Text 3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nivel no lo decide cuántas líneas tiene la prueba.</a:t>
            </a:r>
            <a:endParaRPr lang="en-US" sz="13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REGLA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nivel lo decide dónde cabe el fallo</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fuente dice que el análisis de riesgo determina los niveles de prueba, pero no cómo. La regla sale del criterio de la sesión anterior.</a:t>
            </a:r>
            <a:endParaRPr lang="en-US" sz="1420" dirty="0"/>
          </a:p>
        </p:txBody>
      </p:sp>
      <p:sp>
        <p:nvSpPr>
          <p:cNvPr id="11" name="Shape 8"/>
          <p:cNvSpPr/>
          <p:nvPr/>
        </p:nvSpPr>
        <p:spPr>
          <a:xfrm>
            <a:off x="658368" y="2231136"/>
            <a:ext cx="10874959" cy="566928"/>
          </a:xfrm>
          <a:prstGeom prst="rect">
            <a:avLst/>
          </a:prstGeom>
          <a:solidFill>
            <a:srgbClr val="1D3A57"/>
          </a:solidFill>
          <a:ln w="12700">
            <a:solidFill>
              <a:srgbClr val="1D3A57"/>
            </a:solidFill>
            <a:prstDash val="solid"/>
          </a:ln>
        </p:spPr>
      </p:sp>
      <p:sp>
        <p:nvSpPr>
          <p:cNvPr id="12" name="Text 9"/>
          <p:cNvSpPr txBox="1"/>
          <p:nvPr/>
        </p:nvSpPr>
        <p:spPr>
          <a:xfrm>
            <a:off x="932688" y="2286000"/>
            <a:ext cx="10326319" cy="457200"/>
          </a:xfrm>
          <a:prstGeom prst="rect">
            <a:avLst/>
          </a:prstGeom>
          <a:noFill/>
          <a:ln/>
        </p:spPr>
        <p:txBody>
          <a:bodyPr wrap="square" lIns="0" tIns="0" rIns="0" bIns="0" rtlCol="0" anchor="ctr"/>
          <a:lstStyle/>
          <a:p>
            <a:pPr algn="ctr" indent="0" marL="0">
              <a:buNone/>
            </a:pPr>
            <a:r>
              <a:rPr lang="en-US" sz="1540" b="1" dirty="0">
                <a:solidFill>
                  <a:srgbClr val="FFFFFF"/>
                </a:solidFill>
                <a:latin typeface="Aptos" pitchFamily="34" charset="0"/>
                <a:ea typeface="Aptos" pitchFamily="34" charset="-122"/>
                <a:cs typeface="Aptos" pitchFamily="34" charset="-120"/>
              </a:rPr>
              <a:t>El arreglo más pequeño de piezas en el que el evento adverso puede ocurrir.</a:t>
            </a:r>
            <a:endParaRPr lang="en-US" sz="1540" dirty="0"/>
          </a:p>
        </p:txBody>
      </p:sp>
      <p:sp>
        <p:nvSpPr>
          <p:cNvPr id="13" name="Shape 10"/>
          <p:cNvSpPr/>
          <p:nvPr/>
        </p:nvSpPr>
        <p:spPr>
          <a:xfrm>
            <a:off x="658368" y="3017520"/>
            <a:ext cx="10874959" cy="530352"/>
          </a:xfrm>
          <a:prstGeom prst="rect">
            <a:avLst/>
          </a:prstGeom>
          <a:solidFill>
            <a:srgbClr val="FFFFFF"/>
          </a:solidFill>
          <a:ln w="12700">
            <a:solidFill>
              <a:srgbClr val="FFFFFF"/>
            </a:solidFill>
            <a:prstDash val="solid"/>
          </a:ln>
        </p:spPr>
      </p:sp>
      <p:sp>
        <p:nvSpPr>
          <p:cNvPr id="14" name="Shape 11"/>
          <p:cNvSpPr/>
          <p:nvPr/>
        </p:nvSpPr>
        <p:spPr>
          <a:xfrm>
            <a:off x="658368" y="3017520"/>
            <a:ext cx="54864" cy="530352"/>
          </a:xfrm>
          <a:prstGeom prst="rect">
            <a:avLst/>
          </a:prstGeom>
          <a:solidFill>
            <a:srgbClr val="2E7D4F"/>
          </a:solidFill>
          <a:ln w="12700">
            <a:solidFill>
              <a:srgbClr val="2E7D4F"/>
            </a:solidFill>
            <a:prstDash val="solid"/>
          </a:ln>
        </p:spPr>
      </p:sp>
      <p:sp>
        <p:nvSpPr>
          <p:cNvPr id="15" name="Text 12"/>
          <p:cNvSpPr txBox="1"/>
          <p:nvPr/>
        </p:nvSpPr>
        <p:spPr>
          <a:xfrm>
            <a:off x="896112" y="3172968"/>
            <a:ext cx="731520" cy="219456"/>
          </a:xfrm>
          <a:prstGeom prst="rect">
            <a:avLst/>
          </a:prstGeom>
          <a:noFill/>
          <a:ln/>
        </p:spPr>
        <p:txBody>
          <a:bodyPr wrap="square" lIns="0" tIns="0" rIns="0" bIns="0" rtlCol="0" anchor="t"/>
          <a:lstStyle/>
          <a:p>
            <a:pPr algn="l" indent="0" marL="0">
              <a:buNone/>
            </a:pPr>
            <a:r>
              <a:rPr lang="en-US" sz="1060" b="1" dirty="0">
                <a:solidFill>
                  <a:srgbClr val="2E7D4F"/>
                </a:solidFill>
                <a:latin typeface="Aptos" pitchFamily="34" charset="0"/>
                <a:ea typeface="Aptos" pitchFamily="34" charset="-122"/>
                <a:cs typeface="Aptos" pitchFamily="34" charset="-120"/>
              </a:rPr>
              <a:t>RP-09</a:t>
            </a:r>
            <a:endParaRPr lang="en-US" sz="1060" dirty="0"/>
          </a:p>
        </p:txBody>
      </p:sp>
      <p:sp>
        <p:nvSpPr>
          <p:cNvPr id="16" name="Text 13"/>
          <p:cNvSpPr txBox="1"/>
          <p:nvPr/>
        </p:nvSpPr>
        <p:spPr>
          <a:xfrm>
            <a:off x="1719072" y="3172968"/>
            <a:ext cx="3566160" cy="219456"/>
          </a:xfrm>
          <a:prstGeom prst="rect">
            <a:avLst/>
          </a:prstGeom>
          <a:noFill/>
          <a:ln/>
        </p:spPr>
        <p:txBody>
          <a:bodyPr wrap="square" lIns="0" tIns="0" rIns="0" bIns="0" rtlCol="0" anchor="t"/>
          <a:lstStyle/>
          <a:p>
            <a:pPr algn="l" indent="0" marL="0">
              <a:buNone/>
            </a:pPr>
            <a:r>
              <a:rPr lang="en-US" sz="1120" dirty="0">
                <a:solidFill>
                  <a:srgbClr val="243B53"/>
                </a:solidFill>
                <a:latin typeface="Aptos" pitchFamily="34" charset="0"/>
                <a:ea typeface="Aptos" pitchFamily="34" charset="-122"/>
                <a:cs typeface="Aptos" pitchFamily="34" charset="-120"/>
              </a:rPr>
              <a:t>El comprobante no escapa el separador</a:t>
            </a:r>
            <a:endParaRPr lang="en-US" sz="1120" dirty="0"/>
          </a:p>
        </p:txBody>
      </p:sp>
      <p:sp>
        <p:nvSpPr>
          <p:cNvPr id="17" name="Shape 14"/>
          <p:cNvSpPr/>
          <p:nvPr/>
        </p:nvSpPr>
        <p:spPr>
          <a:xfrm>
            <a:off x="4754880" y="3282696"/>
            <a:ext cx="402336" cy="0"/>
          </a:xfrm>
          <a:prstGeom prst="line">
            <a:avLst/>
          </a:prstGeom>
          <a:noFill/>
          <a:ln w="12700">
            <a:solidFill>
              <a:srgbClr val="D8CFC4"/>
            </a:solidFill>
            <a:prstDash val="solid"/>
            <a:headEnd type="none"/>
            <a:tailEnd type="triangle"/>
          </a:ln>
        </p:spPr>
      </p:sp>
      <p:sp>
        <p:nvSpPr>
          <p:cNvPr id="18" name="Text 15"/>
          <p:cNvSpPr txBox="1"/>
          <p:nvPr/>
        </p:nvSpPr>
        <p:spPr>
          <a:xfrm>
            <a:off x="5285232" y="3172968"/>
            <a:ext cx="4114800" cy="219456"/>
          </a:xfrm>
          <a:prstGeom prst="rect">
            <a:avLst/>
          </a:prstGeom>
          <a:noFill/>
          <a:ln/>
        </p:spPr>
        <p:txBody>
          <a:bodyPr wrap="square" lIns="0" tIns="0" rIns="0" bIns="0" rtlCol="0" anchor="t"/>
          <a:lstStyle/>
          <a:p>
            <a:pPr algn="l" indent="0" marL="0">
              <a:buNone/>
            </a:pPr>
            <a:r>
              <a:rPr lang="en-US" sz="1080" i="1" dirty="0">
                <a:solidFill>
                  <a:srgbClr val="52606D"/>
                </a:solidFill>
                <a:latin typeface="Aptos" pitchFamily="34" charset="0"/>
                <a:ea typeface="Aptos" pitchFamily="34" charset="-122"/>
                <a:cs typeface="Aptos" pitchFamily="34" charset="-120"/>
              </a:rPr>
              <a:t>Dentro de una función que recibe texto y devuelve texto</a:t>
            </a:r>
            <a:endParaRPr lang="en-US" sz="1080" dirty="0"/>
          </a:p>
        </p:txBody>
      </p:sp>
      <p:sp>
        <p:nvSpPr>
          <p:cNvPr id="19" name="Shape 16"/>
          <p:cNvSpPr/>
          <p:nvPr/>
        </p:nvSpPr>
        <p:spPr>
          <a:xfrm>
            <a:off x="9528048" y="3108960"/>
            <a:ext cx="2002536" cy="347472"/>
          </a:xfrm>
          <a:prstGeom prst="rect">
            <a:avLst/>
          </a:prstGeom>
          <a:solidFill>
            <a:srgbClr val="2E7D4F"/>
          </a:solidFill>
          <a:ln w="12700">
            <a:solidFill>
              <a:srgbClr val="2E7D4F"/>
            </a:solidFill>
            <a:prstDash val="solid"/>
          </a:ln>
        </p:spPr>
      </p:sp>
      <p:sp>
        <p:nvSpPr>
          <p:cNvPr id="20" name="Text 17"/>
          <p:cNvSpPr txBox="1"/>
          <p:nvPr/>
        </p:nvSpPr>
        <p:spPr>
          <a:xfrm>
            <a:off x="9582912" y="3154680"/>
            <a:ext cx="1892808" cy="256032"/>
          </a:xfrm>
          <a:prstGeom prst="rect">
            <a:avLst/>
          </a:prstGeom>
          <a:noFill/>
          <a:ln/>
        </p:spPr>
        <p:txBody>
          <a:bodyPr wrap="square" lIns="0" tIns="0" rIns="0" bIns="0" rtlCol="0" anchor="ctr"/>
          <a:lstStyle/>
          <a:p>
            <a:pPr algn="ctr" indent="0" marL="0">
              <a:buNone/>
            </a:pPr>
            <a:r>
              <a:rPr lang="en-US" sz="980" b="1" spc="80" kern="0" dirty="0">
                <a:solidFill>
                  <a:srgbClr val="FFFFFF"/>
                </a:solidFill>
                <a:latin typeface="Aptos" pitchFamily="34" charset="0"/>
                <a:ea typeface="Aptos" pitchFamily="34" charset="-122"/>
                <a:cs typeface="Aptos" pitchFamily="34" charset="-120"/>
              </a:rPr>
              <a:t>UNITARIA</a:t>
            </a:r>
            <a:endParaRPr lang="en-US" sz="980" dirty="0"/>
          </a:p>
        </p:txBody>
      </p:sp>
      <p:sp>
        <p:nvSpPr>
          <p:cNvPr id="21" name="Shape 18"/>
          <p:cNvSpPr/>
          <p:nvPr/>
        </p:nvSpPr>
        <p:spPr>
          <a:xfrm>
            <a:off x="658368" y="3621024"/>
            <a:ext cx="10874959" cy="530352"/>
          </a:xfrm>
          <a:prstGeom prst="rect">
            <a:avLst/>
          </a:prstGeom>
          <a:solidFill>
            <a:srgbClr val="EDE6DA"/>
          </a:solidFill>
          <a:ln w="12700">
            <a:solidFill>
              <a:srgbClr val="EDE6DA"/>
            </a:solidFill>
            <a:prstDash val="solid"/>
          </a:ln>
        </p:spPr>
      </p:sp>
      <p:sp>
        <p:nvSpPr>
          <p:cNvPr id="22" name="Shape 19"/>
          <p:cNvSpPr/>
          <p:nvPr/>
        </p:nvSpPr>
        <p:spPr>
          <a:xfrm>
            <a:off x="658368" y="3621024"/>
            <a:ext cx="54864" cy="530352"/>
          </a:xfrm>
          <a:prstGeom prst="rect">
            <a:avLst/>
          </a:prstGeom>
          <a:solidFill>
            <a:srgbClr val="102A43"/>
          </a:solidFill>
          <a:ln w="12700">
            <a:solidFill>
              <a:srgbClr val="102A43"/>
            </a:solidFill>
            <a:prstDash val="solid"/>
          </a:ln>
        </p:spPr>
      </p:sp>
      <p:sp>
        <p:nvSpPr>
          <p:cNvPr id="23" name="Text 20"/>
          <p:cNvSpPr txBox="1"/>
          <p:nvPr/>
        </p:nvSpPr>
        <p:spPr>
          <a:xfrm>
            <a:off x="896112" y="3776472"/>
            <a:ext cx="731520" cy="219456"/>
          </a:xfrm>
          <a:prstGeom prst="rect">
            <a:avLst/>
          </a:prstGeom>
          <a:noFill/>
          <a:ln/>
        </p:spPr>
        <p:txBody>
          <a:bodyPr wrap="square" lIns="0" tIns="0" rIns="0" bIns="0" rtlCol="0" anchor="t"/>
          <a:lstStyle/>
          <a:p>
            <a:pPr algn="l" indent="0" marL="0">
              <a:buNone/>
            </a:pPr>
            <a:r>
              <a:rPr lang="en-US" sz="1060" b="1" dirty="0">
                <a:solidFill>
                  <a:srgbClr val="102A43"/>
                </a:solidFill>
                <a:latin typeface="Aptos" pitchFamily="34" charset="0"/>
                <a:ea typeface="Aptos" pitchFamily="34" charset="-122"/>
                <a:cs typeface="Aptos" pitchFamily="34" charset="-120"/>
              </a:rPr>
              <a:t>RP-01</a:t>
            </a:r>
            <a:endParaRPr lang="en-US" sz="1060" dirty="0"/>
          </a:p>
        </p:txBody>
      </p:sp>
      <p:sp>
        <p:nvSpPr>
          <p:cNvPr id="24" name="Text 21"/>
          <p:cNvSpPr txBox="1"/>
          <p:nvPr/>
        </p:nvSpPr>
        <p:spPr>
          <a:xfrm>
            <a:off x="1719072" y="3776472"/>
            <a:ext cx="3566160" cy="219456"/>
          </a:xfrm>
          <a:prstGeom prst="rect">
            <a:avLst/>
          </a:prstGeom>
          <a:noFill/>
          <a:ln/>
        </p:spPr>
        <p:txBody>
          <a:bodyPr wrap="square" lIns="0" tIns="0" rIns="0" bIns="0" rtlCol="0" anchor="t"/>
          <a:lstStyle/>
          <a:p>
            <a:pPr algn="l" indent="0" marL="0">
              <a:buNone/>
            </a:pPr>
            <a:r>
              <a:rPr lang="en-US" sz="1120" dirty="0">
                <a:solidFill>
                  <a:srgbClr val="243B53"/>
                </a:solidFill>
                <a:latin typeface="Aptos" pitchFamily="34" charset="0"/>
                <a:ea typeface="Aptos" pitchFamily="34" charset="-122"/>
                <a:cs typeface="Aptos" pitchFamily="34" charset="-120"/>
              </a:rPr>
              <a:t>El cupo cuenta todas las reservas históricas</a:t>
            </a:r>
            <a:endParaRPr lang="en-US" sz="1120" dirty="0"/>
          </a:p>
        </p:txBody>
      </p:sp>
      <p:sp>
        <p:nvSpPr>
          <p:cNvPr id="25" name="Shape 22"/>
          <p:cNvSpPr/>
          <p:nvPr/>
        </p:nvSpPr>
        <p:spPr>
          <a:xfrm>
            <a:off x="4754880" y="3886200"/>
            <a:ext cx="402336" cy="0"/>
          </a:xfrm>
          <a:prstGeom prst="line">
            <a:avLst/>
          </a:prstGeom>
          <a:noFill/>
          <a:ln w="12700">
            <a:solidFill>
              <a:srgbClr val="D8CFC4"/>
            </a:solidFill>
            <a:prstDash val="solid"/>
            <a:headEnd type="none"/>
            <a:tailEnd type="triangle"/>
          </a:ln>
        </p:spPr>
      </p:sp>
      <p:sp>
        <p:nvSpPr>
          <p:cNvPr id="26" name="Text 23"/>
          <p:cNvSpPr txBox="1"/>
          <p:nvPr/>
        </p:nvSpPr>
        <p:spPr>
          <a:xfrm>
            <a:off x="5285232" y="3776472"/>
            <a:ext cx="4114800" cy="219456"/>
          </a:xfrm>
          <a:prstGeom prst="rect">
            <a:avLst/>
          </a:prstGeom>
          <a:noFill/>
          <a:ln/>
        </p:spPr>
        <p:txBody>
          <a:bodyPr wrap="square" lIns="0" tIns="0" rIns="0" bIns="0" rtlCol="0" anchor="t"/>
          <a:lstStyle/>
          <a:p>
            <a:pPr algn="l" indent="0" marL="0">
              <a:buNone/>
            </a:pPr>
            <a:r>
              <a:rPr lang="en-US" sz="1080" i="1" dirty="0">
                <a:solidFill>
                  <a:srgbClr val="52606D"/>
                </a:solidFill>
                <a:latin typeface="Aptos" pitchFamily="34" charset="0"/>
                <a:ea typeface="Aptos" pitchFamily="34" charset="-122"/>
                <a:cs typeface="Aptos" pitchFamily="34" charset="-120"/>
              </a:rPr>
              <a:t>Solo cuando la ruta consulta la base de datos</a:t>
            </a:r>
            <a:endParaRPr lang="en-US" sz="1080" dirty="0"/>
          </a:p>
        </p:txBody>
      </p:sp>
      <p:sp>
        <p:nvSpPr>
          <p:cNvPr id="27" name="Shape 24"/>
          <p:cNvSpPr/>
          <p:nvPr/>
        </p:nvSpPr>
        <p:spPr>
          <a:xfrm>
            <a:off x="9528048" y="3712464"/>
            <a:ext cx="2002536" cy="347472"/>
          </a:xfrm>
          <a:prstGeom prst="rect">
            <a:avLst/>
          </a:prstGeom>
          <a:solidFill>
            <a:srgbClr val="102A43"/>
          </a:solidFill>
          <a:ln w="12700">
            <a:solidFill>
              <a:srgbClr val="102A43"/>
            </a:solidFill>
            <a:prstDash val="solid"/>
          </a:ln>
        </p:spPr>
      </p:sp>
      <p:sp>
        <p:nvSpPr>
          <p:cNvPr id="28" name="Text 25"/>
          <p:cNvSpPr txBox="1"/>
          <p:nvPr/>
        </p:nvSpPr>
        <p:spPr>
          <a:xfrm>
            <a:off x="9582912" y="3758184"/>
            <a:ext cx="1892808" cy="256032"/>
          </a:xfrm>
          <a:prstGeom prst="rect">
            <a:avLst/>
          </a:prstGeom>
          <a:noFill/>
          <a:ln/>
        </p:spPr>
        <p:txBody>
          <a:bodyPr wrap="square" lIns="0" tIns="0" rIns="0" bIns="0" rtlCol="0" anchor="ctr"/>
          <a:lstStyle/>
          <a:p>
            <a:pPr algn="ctr" indent="0" marL="0">
              <a:buNone/>
            </a:pPr>
            <a:r>
              <a:rPr lang="en-US" sz="980" b="1" spc="80" kern="0" dirty="0">
                <a:solidFill>
                  <a:srgbClr val="FFFFFF"/>
                </a:solidFill>
                <a:latin typeface="Aptos" pitchFamily="34" charset="0"/>
                <a:ea typeface="Aptos" pitchFamily="34" charset="-122"/>
                <a:cs typeface="Aptos" pitchFamily="34" charset="-120"/>
              </a:rPr>
              <a:t>INTEGRACIÓN</a:t>
            </a:r>
            <a:endParaRPr lang="en-US" sz="980" dirty="0"/>
          </a:p>
        </p:txBody>
      </p:sp>
      <p:sp>
        <p:nvSpPr>
          <p:cNvPr id="29" name="Shape 26"/>
          <p:cNvSpPr/>
          <p:nvPr/>
        </p:nvSpPr>
        <p:spPr>
          <a:xfrm>
            <a:off x="658368" y="4224528"/>
            <a:ext cx="10874959" cy="530352"/>
          </a:xfrm>
          <a:prstGeom prst="rect">
            <a:avLst/>
          </a:prstGeom>
          <a:solidFill>
            <a:srgbClr val="FFFFFF"/>
          </a:solidFill>
          <a:ln w="12700">
            <a:solidFill>
              <a:srgbClr val="FFFFFF"/>
            </a:solidFill>
            <a:prstDash val="solid"/>
          </a:ln>
        </p:spPr>
      </p:sp>
      <p:sp>
        <p:nvSpPr>
          <p:cNvPr id="30" name="Shape 27"/>
          <p:cNvSpPr/>
          <p:nvPr/>
        </p:nvSpPr>
        <p:spPr>
          <a:xfrm>
            <a:off x="658368" y="4224528"/>
            <a:ext cx="54864" cy="530352"/>
          </a:xfrm>
          <a:prstGeom prst="rect">
            <a:avLst/>
          </a:prstGeom>
          <a:solidFill>
            <a:srgbClr val="102A43"/>
          </a:solidFill>
          <a:ln w="12700">
            <a:solidFill>
              <a:srgbClr val="102A43"/>
            </a:solidFill>
            <a:prstDash val="solid"/>
          </a:ln>
        </p:spPr>
      </p:sp>
      <p:sp>
        <p:nvSpPr>
          <p:cNvPr id="31" name="Text 28"/>
          <p:cNvSpPr txBox="1"/>
          <p:nvPr/>
        </p:nvSpPr>
        <p:spPr>
          <a:xfrm>
            <a:off x="896112" y="4379976"/>
            <a:ext cx="731520" cy="219456"/>
          </a:xfrm>
          <a:prstGeom prst="rect">
            <a:avLst/>
          </a:prstGeom>
          <a:noFill/>
          <a:ln/>
        </p:spPr>
        <p:txBody>
          <a:bodyPr wrap="square" lIns="0" tIns="0" rIns="0" bIns="0" rtlCol="0" anchor="t"/>
          <a:lstStyle/>
          <a:p>
            <a:pPr algn="l" indent="0" marL="0">
              <a:buNone/>
            </a:pPr>
            <a:r>
              <a:rPr lang="en-US" sz="1060" b="1" dirty="0">
                <a:solidFill>
                  <a:srgbClr val="102A43"/>
                </a:solidFill>
                <a:latin typeface="Aptos" pitchFamily="34" charset="0"/>
                <a:ea typeface="Aptos" pitchFamily="34" charset="-122"/>
                <a:cs typeface="Aptos" pitchFamily="34" charset="-120"/>
              </a:rPr>
              <a:t>RP-05</a:t>
            </a:r>
            <a:endParaRPr lang="en-US" sz="1060" dirty="0"/>
          </a:p>
        </p:txBody>
      </p:sp>
      <p:sp>
        <p:nvSpPr>
          <p:cNvPr id="32" name="Text 29"/>
          <p:cNvSpPr txBox="1"/>
          <p:nvPr/>
        </p:nvSpPr>
        <p:spPr>
          <a:xfrm>
            <a:off x="1719072" y="4379976"/>
            <a:ext cx="3566160" cy="219456"/>
          </a:xfrm>
          <a:prstGeom prst="rect">
            <a:avLst/>
          </a:prstGeom>
          <a:noFill/>
          <a:ln/>
        </p:spPr>
        <p:txBody>
          <a:bodyPr wrap="square" lIns="0" tIns="0" rIns="0" bIns="0" rtlCol="0" anchor="t"/>
          <a:lstStyle/>
          <a:p>
            <a:pPr algn="l" indent="0" marL="0">
              <a:buNone/>
            </a:pPr>
            <a:r>
              <a:rPr lang="en-US" sz="1120" dirty="0">
                <a:solidFill>
                  <a:srgbClr val="243B53"/>
                </a:solidFill>
                <a:latin typeface="Aptos" pitchFamily="34" charset="0"/>
                <a:ea typeface="Aptos" pitchFamily="34" charset="-122"/>
                <a:cs typeface="Aptos" pitchFamily="34" charset="-120"/>
              </a:rPr>
              <a:t>No se valida el formato del RUT</a:t>
            </a:r>
            <a:endParaRPr lang="en-US" sz="1120" dirty="0"/>
          </a:p>
        </p:txBody>
      </p:sp>
      <p:sp>
        <p:nvSpPr>
          <p:cNvPr id="33" name="Shape 30"/>
          <p:cNvSpPr/>
          <p:nvPr/>
        </p:nvSpPr>
        <p:spPr>
          <a:xfrm>
            <a:off x="4754880" y="4489704"/>
            <a:ext cx="402336" cy="0"/>
          </a:xfrm>
          <a:prstGeom prst="line">
            <a:avLst/>
          </a:prstGeom>
          <a:noFill/>
          <a:ln w="12700">
            <a:solidFill>
              <a:srgbClr val="D8CFC4"/>
            </a:solidFill>
            <a:prstDash val="solid"/>
            <a:headEnd type="none"/>
            <a:tailEnd type="triangle"/>
          </a:ln>
        </p:spPr>
      </p:sp>
      <p:sp>
        <p:nvSpPr>
          <p:cNvPr id="34" name="Text 31"/>
          <p:cNvSpPr txBox="1"/>
          <p:nvPr/>
        </p:nvSpPr>
        <p:spPr>
          <a:xfrm>
            <a:off x="5285232" y="4379976"/>
            <a:ext cx="4114800" cy="219456"/>
          </a:xfrm>
          <a:prstGeom prst="rect">
            <a:avLst/>
          </a:prstGeom>
          <a:noFill/>
          <a:ln/>
        </p:spPr>
        <p:txBody>
          <a:bodyPr wrap="square" lIns="0" tIns="0" rIns="0" bIns="0" rtlCol="0" anchor="t"/>
          <a:lstStyle/>
          <a:p>
            <a:pPr algn="l" indent="0" marL="0">
              <a:buNone/>
            </a:pPr>
            <a:r>
              <a:rPr lang="en-US" sz="1080" i="1" dirty="0">
                <a:solidFill>
                  <a:srgbClr val="52606D"/>
                </a:solidFill>
                <a:latin typeface="Aptos" pitchFamily="34" charset="0"/>
                <a:ea typeface="Aptos" pitchFamily="34" charset="-122"/>
                <a:cs typeface="Aptos" pitchFamily="34" charset="-120"/>
              </a:rPr>
              <a:t>En el borde donde la solicitud se convierte en modelo</a:t>
            </a:r>
            <a:endParaRPr lang="en-US" sz="1080" dirty="0"/>
          </a:p>
        </p:txBody>
      </p:sp>
      <p:sp>
        <p:nvSpPr>
          <p:cNvPr id="35" name="Shape 32"/>
          <p:cNvSpPr/>
          <p:nvPr/>
        </p:nvSpPr>
        <p:spPr>
          <a:xfrm>
            <a:off x="9528048" y="4315968"/>
            <a:ext cx="2002536" cy="347472"/>
          </a:xfrm>
          <a:prstGeom prst="rect">
            <a:avLst/>
          </a:prstGeom>
          <a:solidFill>
            <a:srgbClr val="102A43"/>
          </a:solidFill>
          <a:ln w="12700">
            <a:solidFill>
              <a:srgbClr val="102A43"/>
            </a:solidFill>
            <a:prstDash val="solid"/>
          </a:ln>
        </p:spPr>
      </p:sp>
      <p:sp>
        <p:nvSpPr>
          <p:cNvPr id="36" name="Text 33"/>
          <p:cNvSpPr txBox="1"/>
          <p:nvPr/>
        </p:nvSpPr>
        <p:spPr>
          <a:xfrm>
            <a:off x="9582912" y="4361688"/>
            <a:ext cx="1892808" cy="256032"/>
          </a:xfrm>
          <a:prstGeom prst="rect">
            <a:avLst/>
          </a:prstGeom>
          <a:noFill/>
          <a:ln/>
        </p:spPr>
        <p:txBody>
          <a:bodyPr wrap="square" lIns="0" tIns="0" rIns="0" bIns="0" rtlCol="0" anchor="ctr"/>
          <a:lstStyle/>
          <a:p>
            <a:pPr algn="ctr" indent="0" marL="0">
              <a:buNone/>
            </a:pPr>
            <a:r>
              <a:rPr lang="en-US" sz="980" b="1" spc="80" kern="0" dirty="0">
                <a:solidFill>
                  <a:srgbClr val="FFFFFF"/>
                </a:solidFill>
                <a:latin typeface="Aptos" pitchFamily="34" charset="0"/>
                <a:ea typeface="Aptos" pitchFamily="34" charset="-122"/>
                <a:cs typeface="Aptos" pitchFamily="34" charset="-120"/>
              </a:rPr>
              <a:t>INTEGRACIÓN</a:t>
            </a:r>
            <a:endParaRPr lang="en-US" sz="980" dirty="0"/>
          </a:p>
        </p:txBody>
      </p:sp>
      <p:sp>
        <p:nvSpPr>
          <p:cNvPr id="37" name="Shape 34"/>
          <p:cNvSpPr/>
          <p:nvPr/>
        </p:nvSpPr>
        <p:spPr>
          <a:xfrm>
            <a:off x="658368" y="4828032"/>
            <a:ext cx="10874959" cy="530352"/>
          </a:xfrm>
          <a:prstGeom prst="rect">
            <a:avLst/>
          </a:prstGeom>
          <a:solidFill>
            <a:srgbClr val="EDE6DA"/>
          </a:solidFill>
          <a:ln w="12700">
            <a:solidFill>
              <a:srgbClr val="EDE6DA"/>
            </a:solidFill>
            <a:prstDash val="solid"/>
          </a:ln>
        </p:spPr>
      </p:sp>
      <p:sp>
        <p:nvSpPr>
          <p:cNvPr id="38" name="Shape 35"/>
          <p:cNvSpPr/>
          <p:nvPr/>
        </p:nvSpPr>
        <p:spPr>
          <a:xfrm>
            <a:off x="658368" y="4828032"/>
            <a:ext cx="54864" cy="530352"/>
          </a:xfrm>
          <a:prstGeom prst="rect">
            <a:avLst/>
          </a:prstGeom>
          <a:solidFill>
            <a:srgbClr val="B3181E"/>
          </a:solidFill>
          <a:ln w="12700">
            <a:solidFill>
              <a:srgbClr val="B3181E"/>
            </a:solidFill>
            <a:prstDash val="solid"/>
          </a:ln>
        </p:spPr>
      </p:sp>
      <p:sp>
        <p:nvSpPr>
          <p:cNvPr id="39" name="Text 36"/>
          <p:cNvSpPr txBox="1"/>
          <p:nvPr/>
        </p:nvSpPr>
        <p:spPr>
          <a:xfrm>
            <a:off x="896112" y="4983480"/>
            <a:ext cx="731520" cy="219456"/>
          </a:xfrm>
          <a:prstGeom prst="rect">
            <a:avLst/>
          </a:prstGeom>
          <a:noFill/>
          <a:ln/>
        </p:spPr>
        <p:txBody>
          <a:bodyPr wrap="square" lIns="0" tIns="0" rIns="0" bIns="0" rtlCol="0" anchor="t"/>
          <a:lstStyle/>
          <a:p>
            <a:pPr algn="l" indent="0" marL="0">
              <a:buNone/>
            </a:pPr>
            <a:r>
              <a:rPr lang="en-US" sz="1060" b="1" dirty="0">
                <a:solidFill>
                  <a:srgbClr val="B3181E"/>
                </a:solidFill>
                <a:latin typeface="Aptos" pitchFamily="34" charset="0"/>
                <a:ea typeface="Aptos" pitchFamily="34" charset="-122"/>
                <a:cs typeface="Aptos" pitchFamily="34" charset="-120"/>
              </a:rPr>
              <a:t>RP-02</a:t>
            </a:r>
            <a:endParaRPr lang="en-US" sz="1060" dirty="0"/>
          </a:p>
        </p:txBody>
      </p:sp>
      <p:sp>
        <p:nvSpPr>
          <p:cNvPr id="40" name="Text 37"/>
          <p:cNvSpPr txBox="1"/>
          <p:nvPr/>
        </p:nvSpPr>
        <p:spPr>
          <a:xfrm>
            <a:off x="1719072" y="4983480"/>
            <a:ext cx="3566160" cy="219456"/>
          </a:xfrm>
          <a:prstGeom prst="rect">
            <a:avLst/>
          </a:prstGeom>
          <a:noFill/>
          <a:ln/>
        </p:spPr>
        <p:txBody>
          <a:bodyPr wrap="square" lIns="0" tIns="0" rIns="0" bIns="0" rtlCol="0" anchor="t"/>
          <a:lstStyle/>
          <a:p>
            <a:pPr algn="l" indent="0" marL="0">
              <a:buNone/>
            </a:pPr>
            <a:r>
              <a:rPr lang="en-US" sz="1120" dirty="0">
                <a:solidFill>
                  <a:srgbClr val="243B53"/>
                </a:solidFill>
                <a:latin typeface="Aptos" pitchFamily="34" charset="0"/>
                <a:ea typeface="Aptos" pitchFamily="34" charset="-122"/>
                <a:cs typeface="Aptos" pitchFamily="34" charset="-120"/>
              </a:rPr>
              <a:t>Dos solicitudes toman el mismo bloque</a:t>
            </a:r>
            <a:endParaRPr lang="en-US" sz="1120" dirty="0"/>
          </a:p>
        </p:txBody>
      </p:sp>
      <p:sp>
        <p:nvSpPr>
          <p:cNvPr id="41" name="Shape 38"/>
          <p:cNvSpPr/>
          <p:nvPr/>
        </p:nvSpPr>
        <p:spPr>
          <a:xfrm>
            <a:off x="4754880" y="5093208"/>
            <a:ext cx="402336" cy="0"/>
          </a:xfrm>
          <a:prstGeom prst="line">
            <a:avLst/>
          </a:prstGeom>
          <a:noFill/>
          <a:ln w="12700">
            <a:solidFill>
              <a:srgbClr val="D8CFC4"/>
            </a:solidFill>
            <a:prstDash val="solid"/>
            <a:headEnd type="none"/>
            <a:tailEnd type="triangle"/>
          </a:ln>
        </p:spPr>
      </p:sp>
      <p:sp>
        <p:nvSpPr>
          <p:cNvPr id="42" name="Text 39"/>
          <p:cNvSpPr txBox="1"/>
          <p:nvPr/>
        </p:nvSpPr>
        <p:spPr>
          <a:xfrm>
            <a:off x="5285232" y="4983480"/>
            <a:ext cx="4114800" cy="219456"/>
          </a:xfrm>
          <a:prstGeom prst="rect">
            <a:avLst/>
          </a:prstGeom>
          <a:noFill/>
          <a:ln/>
        </p:spPr>
        <p:txBody>
          <a:bodyPr wrap="square" lIns="0" tIns="0" rIns="0" bIns="0" rtlCol="0" anchor="t"/>
          <a:lstStyle/>
          <a:p>
            <a:pPr algn="l" indent="0" marL="0">
              <a:buNone/>
            </a:pPr>
            <a:r>
              <a:rPr lang="en-US" sz="1080" i="1" dirty="0">
                <a:solidFill>
                  <a:srgbClr val="52606D"/>
                </a:solidFill>
                <a:latin typeface="Aptos" pitchFamily="34" charset="0"/>
                <a:ea typeface="Aptos" pitchFamily="34" charset="-122"/>
                <a:cs typeface="Aptos" pitchFamily="34" charset="-120"/>
              </a:rPr>
              <a:t>Solo si hay más de una solicitud a la vez</a:t>
            </a:r>
            <a:endParaRPr lang="en-US" sz="1080" dirty="0"/>
          </a:p>
        </p:txBody>
      </p:sp>
      <p:sp>
        <p:nvSpPr>
          <p:cNvPr id="43" name="Shape 40"/>
          <p:cNvSpPr/>
          <p:nvPr/>
        </p:nvSpPr>
        <p:spPr>
          <a:xfrm>
            <a:off x="9528048" y="4919472"/>
            <a:ext cx="2002536" cy="347472"/>
          </a:xfrm>
          <a:prstGeom prst="rect">
            <a:avLst/>
          </a:prstGeom>
          <a:solidFill>
            <a:srgbClr val="B3181E"/>
          </a:solidFill>
          <a:ln w="12700">
            <a:solidFill>
              <a:srgbClr val="B3181E"/>
            </a:solidFill>
            <a:prstDash val="solid"/>
          </a:ln>
        </p:spPr>
      </p:sp>
      <p:sp>
        <p:nvSpPr>
          <p:cNvPr id="44" name="Text 41"/>
          <p:cNvSpPr txBox="1"/>
          <p:nvPr/>
        </p:nvSpPr>
        <p:spPr>
          <a:xfrm>
            <a:off x="9582912" y="4965192"/>
            <a:ext cx="1892808" cy="256032"/>
          </a:xfrm>
          <a:prstGeom prst="rect">
            <a:avLst/>
          </a:prstGeom>
          <a:noFill/>
          <a:ln/>
        </p:spPr>
        <p:txBody>
          <a:bodyPr wrap="square" lIns="0" tIns="0" rIns="0" bIns="0" rtlCol="0" anchor="ctr"/>
          <a:lstStyle/>
          <a:p>
            <a:pPr algn="ctr" indent="0" marL="0">
              <a:buNone/>
            </a:pPr>
            <a:r>
              <a:rPr lang="en-US" sz="980" b="1" spc="80" kern="0" dirty="0">
                <a:solidFill>
                  <a:srgbClr val="FFFFFF"/>
                </a:solidFill>
                <a:latin typeface="Aptos" pitchFamily="34" charset="0"/>
                <a:ea typeface="Aptos" pitchFamily="34" charset="-122"/>
                <a:cs typeface="Aptos" pitchFamily="34" charset="-120"/>
              </a:rPr>
              <a:t>NINGUNO ALCANZA</a:t>
            </a:r>
            <a:endParaRPr lang="en-US" sz="980" dirty="0"/>
          </a:p>
        </p:txBody>
      </p:sp>
      <p:sp>
        <p:nvSpPr>
          <p:cNvPr id="45" name="Shape 42"/>
          <p:cNvSpPr/>
          <p:nvPr/>
        </p:nvSpPr>
        <p:spPr>
          <a:xfrm>
            <a:off x="658368" y="5413248"/>
            <a:ext cx="45720" cy="182880"/>
          </a:xfrm>
          <a:prstGeom prst="rect">
            <a:avLst/>
          </a:prstGeom>
          <a:solidFill>
            <a:srgbClr val="8A6A12"/>
          </a:solidFill>
          <a:ln w="12700">
            <a:solidFill>
              <a:srgbClr val="8A6A12"/>
            </a:solidFill>
            <a:prstDash val="solid"/>
          </a:ln>
        </p:spPr>
      </p:sp>
      <p:sp>
        <p:nvSpPr>
          <p:cNvPr id="46" name="Text 43"/>
          <p:cNvSpPr txBox="1"/>
          <p:nvPr/>
        </p:nvSpPr>
        <p:spPr>
          <a:xfrm>
            <a:off x="804672" y="5404104"/>
            <a:ext cx="1024128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La prueba unitaria del cupo recibe el conteo ya hecho: en su nivel, contar mal no cabe.</a:t>
            </a:r>
            <a:endParaRPr lang="en-US" sz="880" dirty="0"/>
          </a:p>
        </p:txBody>
      </p:sp>
      <p:sp>
        <p:nvSpPr>
          <p:cNvPr id="47" name="Shape 44"/>
          <p:cNvSpPr/>
          <p:nvPr/>
        </p:nvSpPr>
        <p:spPr>
          <a:xfrm>
            <a:off x="658368" y="5650992"/>
            <a:ext cx="10874959" cy="548640"/>
          </a:xfrm>
          <a:prstGeom prst="rect">
            <a:avLst/>
          </a:prstGeom>
          <a:solidFill>
            <a:srgbClr val="102A43"/>
          </a:solidFill>
          <a:ln w="12700">
            <a:solidFill>
              <a:srgbClr val="102A43"/>
            </a:solidFill>
            <a:prstDash val="solid"/>
          </a:ln>
        </p:spPr>
      </p:sp>
      <p:sp>
        <p:nvSpPr>
          <p:cNvPr id="48" name="Text 4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Si el evento no cabe en ese nivel, ninguna prueba de ese nivel lo encuentra.</a:t>
            </a:r>
            <a:endParaRPr lang="en-US" sz="13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MEDICIÓN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Dónde están las pruebas y dónde está el riesgo</a:t>
            </a:r>
            <a:endParaRPr lang="en-US" sz="27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suite se puede contar sin ejecutarla: la herramienta recolecta las pruebas y las lista.</a:t>
            </a:r>
            <a:endParaRPr lang="en-US" sz="1420" dirty="0"/>
          </a:p>
        </p:txBody>
      </p:sp>
      <p:sp>
        <p:nvSpPr>
          <p:cNvPr id="11" name="Shape 8"/>
          <p:cNvSpPr/>
          <p:nvPr/>
        </p:nvSpPr>
        <p:spPr>
          <a:xfrm>
            <a:off x="658368" y="2139696"/>
            <a:ext cx="10874959" cy="329184"/>
          </a:xfrm>
          <a:prstGeom prst="rect">
            <a:avLst/>
          </a:prstGeom>
          <a:solidFill>
            <a:srgbClr val="102A43"/>
          </a:solidFill>
          <a:ln w="12700">
            <a:solidFill>
              <a:srgbClr val="102A43"/>
            </a:solidFill>
            <a:prstDash val="solid"/>
          </a:ln>
        </p:spPr>
      </p:sp>
      <p:sp>
        <p:nvSpPr>
          <p:cNvPr id="12" name="Text 9"/>
          <p:cNvSpPr txBox="1"/>
          <p:nvPr/>
        </p:nvSpPr>
        <p:spPr>
          <a:xfrm>
            <a:off x="877824" y="2139696"/>
            <a:ext cx="7187184" cy="274320"/>
          </a:xfrm>
          <a:prstGeom prst="rect">
            <a:avLst/>
          </a:prstGeom>
          <a:noFill/>
          <a:ln/>
        </p:spPr>
        <p:txBody>
          <a:bodyPr wrap="square" lIns="0" tIns="0" rIns="0" bIns="0" rtlCol="0" anchor="ctr"/>
          <a:lstStyle/>
          <a:p>
            <a:pPr algn="l" indent="0" marL="0">
              <a:buNone/>
            </a:pPr>
            <a:r>
              <a:rPr lang="en-US" sz="1000" dirty="0">
                <a:solidFill>
                  <a:srgbClr val="FFFFFF"/>
                </a:solidFill>
                <a:latin typeface="Consolas" pitchFamily="34" charset="0"/>
                <a:ea typeface="Consolas" pitchFamily="34" charset="-122"/>
                <a:cs typeface="Consolas" pitchFamily="34" charset="-120"/>
              </a:rPr>
              <a:t>uv run pytest --collect-only -q | grep "::" | cut -d: -f1 | sort | uniq -c</a:t>
            </a:r>
            <a:endParaRPr lang="en-US" sz="1000" dirty="0"/>
          </a:p>
        </p:txBody>
      </p:sp>
      <p:sp>
        <p:nvSpPr>
          <p:cNvPr id="13" name="Text 10"/>
          <p:cNvSpPr txBox="1"/>
          <p:nvPr/>
        </p:nvSpPr>
        <p:spPr>
          <a:xfrm>
            <a:off x="8229600" y="2167128"/>
            <a:ext cx="3236976" cy="274320"/>
          </a:xfrm>
          <a:prstGeom prst="rect">
            <a:avLst/>
          </a:prstGeom>
          <a:noFill/>
          <a:ln/>
        </p:spPr>
        <p:txBody>
          <a:bodyPr wrap="square" lIns="0" tIns="0" rIns="0" bIns="0" rtlCol="0" anchor="ctr"/>
          <a:lstStyle/>
          <a:p>
            <a:pPr algn="r" indent="0" marL="0">
              <a:buNone/>
            </a:pPr>
            <a:r>
              <a:rPr lang="en-US" sz="940" dirty="0">
                <a:solidFill>
                  <a:srgbClr val="E0BC5A"/>
                </a:solidFill>
                <a:latin typeface="Consolas" pitchFamily="34" charset="0"/>
                <a:ea typeface="Consolas" pitchFamily="34" charset="-122"/>
                <a:cs typeface="Consolas" pitchFamily="34" charset="-120"/>
              </a:rPr>
              <a:t>20 pruebas en 3 archivos</a:t>
            </a:r>
            <a:endParaRPr lang="en-US" sz="940" dirty="0"/>
          </a:p>
        </p:txBody>
      </p:sp>
      <p:sp>
        <p:nvSpPr>
          <p:cNvPr id="14" name="Text 11"/>
          <p:cNvSpPr txBox="1"/>
          <p:nvPr/>
        </p:nvSpPr>
        <p:spPr>
          <a:xfrm>
            <a:off x="658368" y="2615184"/>
            <a:ext cx="310896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PRUEBAS POR ELEMENTO</a:t>
            </a:r>
            <a:endParaRPr lang="en-US" sz="960" dirty="0"/>
          </a:p>
        </p:txBody>
      </p:sp>
      <p:sp>
        <p:nvSpPr>
          <p:cNvPr id="15" name="Text 12"/>
          <p:cNvSpPr txBox="1"/>
          <p:nvPr/>
        </p:nvSpPr>
        <p:spPr>
          <a:xfrm>
            <a:off x="9418320" y="2615184"/>
            <a:ext cx="219456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RIESGO ASOCIADO</a:t>
            </a:r>
            <a:endParaRPr lang="en-US" sz="960" dirty="0"/>
          </a:p>
        </p:txBody>
      </p:sp>
      <p:sp>
        <p:nvSpPr>
          <p:cNvPr id="16" name="Text 13"/>
          <p:cNvSpPr txBox="1"/>
          <p:nvPr/>
        </p:nvSpPr>
        <p:spPr>
          <a:xfrm>
            <a:off x="658368" y="2926080"/>
            <a:ext cx="283464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bloque_valido</a:t>
            </a:r>
            <a:endParaRPr lang="en-US" sz="1080" dirty="0"/>
          </a:p>
        </p:txBody>
      </p:sp>
      <p:sp>
        <p:nvSpPr>
          <p:cNvPr id="17" name="Shape 14"/>
          <p:cNvSpPr/>
          <p:nvPr/>
        </p:nvSpPr>
        <p:spPr>
          <a:xfrm>
            <a:off x="3602736" y="2953512"/>
            <a:ext cx="3566160" cy="164592"/>
          </a:xfrm>
          <a:prstGeom prst="rect">
            <a:avLst/>
          </a:prstGeom>
          <a:solidFill>
            <a:srgbClr val="102A43"/>
          </a:solidFill>
          <a:ln w="12700">
            <a:solidFill>
              <a:srgbClr val="102A43"/>
            </a:solidFill>
            <a:prstDash val="solid"/>
          </a:ln>
        </p:spPr>
      </p:sp>
      <p:sp>
        <p:nvSpPr>
          <p:cNvPr id="18" name="Text 15"/>
          <p:cNvSpPr txBox="1"/>
          <p:nvPr/>
        </p:nvSpPr>
        <p:spPr>
          <a:xfrm>
            <a:off x="7406640" y="2926080"/>
            <a:ext cx="457200" cy="219456"/>
          </a:xfrm>
          <a:prstGeom prst="rect">
            <a:avLst/>
          </a:prstGeom>
          <a:noFill/>
          <a:ln/>
        </p:spPr>
        <p:txBody>
          <a:bodyPr wrap="square" lIns="0" tIns="0" rIns="0" bIns="0" rtlCol="0" anchor="t"/>
          <a:lstStyle/>
          <a:p>
            <a:pPr algn="ctr" indent="0" marL="0">
              <a:buNone/>
            </a:pPr>
            <a:r>
              <a:rPr lang="en-US" sz="1140" b="1" dirty="0">
                <a:solidFill>
                  <a:srgbClr val="243B53"/>
                </a:solidFill>
                <a:latin typeface="Aptos" pitchFamily="34" charset="0"/>
                <a:ea typeface="Aptos" pitchFamily="34" charset="-122"/>
                <a:cs typeface="Aptos" pitchFamily="34" charset="-120"/>
              </a:rPr>
              <a:t>7</a:t>
            </a:r>
            <a:endParaRPr lang="en-US" sz="1140" dirty="0"/>
          </a:p>
        </p:txBody>
      </p:sp>
      <p:sp>
        <p:nvSpPr>
          <p:cNvPr id="19" name="Text 16"/>
          <p:cNvSpPr txBox="1"/>
          <p:nvPr/>
        </p:nvSpPr>
        <p:spPr>
          <a:xfrm>
            <a:off x="658368" y="3227832"/>
            <a:ext cx="283464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puede_reservar</a:t>
            </a:r>
            <a:endParaRPr lang="en-US" sz="1080" dirty="0"/>
          </a:p>
        </p:txBody>
      </p:sp>
      <p:sp>
        <p:nvSpPr>
          <p:cNvPr id="20" name="Shape 17"/>
          <p:cNvSpPr/>
          <p:nvPr/>
        </p:nvSpPr>
        <p:spPr>
          <a:xfrm>
            <a:off x="3602736" y="3255264"/>
            <a:ext cx="2547257" cy="164592"/>
          </a:xfrm>
          <a:prstGeom prst="rect">
            <a:avLst/>
          </a:prstGeom>
          <a:solidFill>
            <a:srgbClr val="102A43"/>
          </a:solidFill>
          <a:ln w="12700">
            <a:solidFill>
              <a:srgbClr val="102A43"/>
            </a:solidFill>
            <a:prstDash val="solid"/>
          </a:ln>
        </p:spPr>
      </p:sp>
      <p:sp>
        <p:nvSpPr>
          <p:cNvPr id="21" name="Text 18"/>
          <p:cNvSpPr txBox="1"/>
          <p:nvPr/>
        </p:nvSpPr>
        <p:spPr>
          <a:xfrm>
            <a:off x="7406640" y="3227832"/>
            <a:ext cx="457200" cy="219456"/>
          </a:xfrm>
          <a:prstGeom prst="rect">
            <a:avLst/>
          </a:prstGeom>
          <a:noFill/>
          <a:ln/>
        </p:spPr>
        <p:txBody>
          <a:bodyPr wrap="square" lIns="0" tIns="0" rIns="0" bIns="0" rtlCol="0" anchor="t"/>
          <a:lstStyle/>
          <a:p>
            <a:pPr algn="ctr" indent="0" marL="0">
              <a:buNone/>
            </a:pPr>
            <a:r>
              <a:rPr lang="en-US" sz="1140" b="1" dirty="0">
                <a:solidFill>
                  <a:srgbClr val="243B53"/>
                </a:solidFill>
                <a:latin typeface="Aptos" pitchFamily="34" charset="0"/>
                <a:ea typeface="Aptos" pitchFamily="34" charset="-122"/>
                <a:cs typeface="Aptos" pitchFamily="34" charset="-120"/>
              </a:rPr>
              <a:t>5</a:t>
            </a:r>
            <a:endParaRPr lang="en-US" sz="1140" dirty="0"/>
          </a:p>
        </p:txBody>
      </p:sp>
      <p:sp>
        <p:nvSpPr>
          <p:cNvPr id="22" name="Text 19"/>
          <p:cNvSpPr txBox="1"/>
          <p:nvPr/>
        </p:nvSpPr>
        <p:spPr>
          <a:xfrm>
            <a:off x="658368" y="3529584"/>
            <a:ext cx="283464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cabe_en_sala</a:t>
            </a:r>
            <a:endParaRPr lang="en-US" sz="1080" dirty="0"/>
          </a:p>
        </p:txBody>
      </p:sp>
      <p:sp>
        <p:nvSpPr>
          <p:cNvPr id="23" name="Shape 20"/>
          <p:cNvSpPr/>
          <p:nvPr/>
        </p:nvSpPr>
        <p:spPr>
          <a:xfrm>
            <a:off x="3602736" y="3557016"/>
            <a:ext cx="2037806" cy="164592"/>
          </a:xfrm>
          <a:prstGeom prst="rect">
            <a:avLst/>
          </a:prstGeom>
          <a:solidFill>
            <a:srgbClr val="102A43"/>
          </a:solidFill>
          <a:ln w="12700">
            <a:solidFill>
              <a:srgbClr val="102A43"/>
            </a:solidFill>
            <a:prstDash val="solid"/>
          </a:ln>
        </p:spPr>
      </p:sp>
      <p:sp>
        <p:nvSpPr>
          <p:cNvPr id="24" name="Text 21"/>
          <p:cNvSpPr txBox="1"/>
          <p:nvPr/>
        </p:nvSpPr>
        <p:spPr>
          <a:xfrm>
            <a:off x="7406640" y="3529584"/>
            <a:ext cx="457200" cy="219456"/>
          </a:xfrm>
          <a:prstGeom prst="rect">
            <a:avLst/>
          </a:prstGeom>
          <a:noFill/>
          <a:ln/>
        </p:spPr>
        <p:txBody>
          <a:bodyPr wrap="square" lIns="0" tIns="0" rIns="0" bIns="0" rtlCol="0" anchor="t"/>
          <a:lstStyle/>
          <a:p>
            <a:pPr algn="ctr" indent="0" marL="0">
              <a:buNone/>
            </a:pPr>
            <a:r>
              <a:rPr lang="en-US" sz="1140" b="1" dirty="0">
                <a:solidFill>
                  <a:srgbClr val="243B53"/>
                </a:solidFill>
                <a:latin typeface="Aptos" pitchFamily="34" charset="0"/>
                <a:ea typeface="Aptos" pitchFamily="34" charset="-122"/>
                <a:cs typeface="Aptos" pitchFamily="34" charset="-120"/>
              </a:rPr>
              <a:t>4</a:t>
            </a:r>
            <a:endParaRPr lang="en-US" sz="1140" dirty="0"/>
          </a:p>
        </p:txBody>
      </p:sp>
      <p:sp>
        <p:nvSpPr>
          <p:cNvPr id="25" name="Text 22"/>
          <p:cNvSpPr txBox="1"/>
          <p:nvPr/>
        </p:nvSpPr>
        <p:spPr>
          <a:xfrm>
            <a:off x="658368" y="3831336"/>
            <a:ext cx="283464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crear_reserva</a:t>
            </a:r>
            <a:endParaRPr lang="en-US" sz="1080" dirty="0"/>
          </a:p>
        </p:txBody>
      </p:sp>
      <p:sp>
        <p:nvSpPr>
          <p:cNvPr id="26" name="Shape 23"/>
          <p:cNvSpPr/>
          <p:nvPr/>
        </p:nvSpPr>
        <p:spPr>
          <a:xfrm>
            <a:off x="3602736" y="3858768"/>
            <a:ext cx="1528354" cy="164592"/>
          </a:xfrm>
          <a:prstGeom prst="rect">
            <a:avLst/>
          </a:prstGeom>
          <a:solidFill>
            <a:srgbClr val="52606D"/>
          </a:solidFill>
          <a:ln w="12700">
            <a:solidFill>
              <a:srgbClr val="52606D"/>
            </a:solidFill>
            <a:prstDash val="solid"/>
          </a:ln>
        </p:spPr>
      </p:sp>
      <p:sp>
        <p:nvSpPr>
          <p:cNvPr id="27" name="Text 24"/>
          <p:cNvSpPr txBox="1"/>
          <p:nvPr/>
        </p:nvSpPr>
        <p:spPr>
          <a:xfrm>
            <a:off x="7406640" y="3831336"/>
            <a:ext cx="457200" cy="219456"/>
          </a:xfrm>
          <a:prstGeom prst="rect">
            <a:avLst/>
          </a:prstGeom>
          <a:noFill/>
          <a:ln/>
        </p:spPr>
        <p:txBody>
          <a:bodyPr wrap="square" lIns="0" tIns="0" rIns="0" bIns="0" rtlCol="0" anchor="t"/>
          <a:lstStyle/>
          <a:p>
            <a:pPr algn="ctr" indent="0" marL="0">
              <a:buNone/>
            </a:pPr>
            <a:r>
              <a:rPr lang="en-US" sz="1140" b="1" dirty="0">
                <a:solidFill>
                  <a:srgbClr val="243B53"/>
                </a:solidFill>
                <a:latin typeface="Aptos" pitchFamily="34" charset="0"/>
                <a:ea typeface="Aptos" pitchFamily="34" charset="-122"/>
                <a:cs typeface="Aptos" pitchFamily="34" charset="-120"/>
              </a:rPr>
              <a:t>3</a:t>
            </a:r>
            <a:endParaRPr lang="en-US" sz="1140" dirty="0"/>
          </a:p>
        </p:txBody>
      </p:sp>
      <p:sp>
        <p:nvSpPr>
          <p:cNvPr id="28" name="Shape 25"/>
          <p:cNvSpPr/>
          <p:nvPr/>
        </p:nvSpPr>
        <p:spPr>
          <a:xfrm>
            <a:off x="9418320" y="3840480"/>
            <a:ext cx="1371600" cy="201168"/>
          </a:xfrm>
          <a:prstGeom prst="rect">
            <a:avLst/>
          </a:prstGeom>
          <a:solidFill>
            <a:srgbClr val="8A6A12"/>
          </a:solidFill>
          <a:ln w="12700">
            <a:solidFill>
              <a:srgbClr val="8A6A12"/>
            </a:solidFill>
            <a:prstDash val="solid"/>
          </a:ln>
        </p:spPr>
      </p:sp>
      <p:sp>
        <p:nvSpPr>
          <p:cNvPr id="29" name="Text 26"/>
          <p:cNvSpPr txBox="1"/>
          <p:nvPr/>
        </p:nvSpPr>
        <p:spPr>
          <a:xfrm>
            <a:off x="9473184" y="3863340"/>
            <a:ext cx="1261872"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nivel 6</a:t>
            </a:r>
            <a:endParaRPr lang="en-US" sz="900" dirty="0"/>
          </a:p>
        </p:txBody>
      </p:sp>
      <p:sp>
        <p:nvSpPr>
          <p:cNvPr id="30" name="Text 27"/>
          <p:cNvSpPr txBox="1"/>
          <p:nvPr/>
        </p:nvSpPr>
        <p:spPr>
          <a:xfrm>
            <a:off x="658368" y="4133088"/>
            <a:ext cx="283464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la fixture</a:t>
            </a:r>
            <a:endParaRPr lang="en-US" sz="1080" dirty="0"/>
          </a:p>
        </p:txBody>
      </p:sp>
      <p:sp>
        <p:nvSpPr>
          <p:cNvPr id="31" name="Shape 28"/>
          <p:cNvSpPr/>
          <p:nvPr/>
        </p:nvSpPr>
        <p:spPr>
          <a:xfrm>
            <a:off x="3602736" y="4160520"/>
            <a:ext cx="509451" cy="164592"/>
          </a:xfrm>
          <a:prstGeom prst="rect">
            <a:avLst/>
          </a:prstGeom>
          <a:solidFill>
            <a:srgbClr val="52606D"/>
          </a:solidFill>
          <a:ln w="12700">
            <a:solidFill>
              <a:srgbClr val="52606D"/>
            </a:solidFill>
            <a:prstDash val="solid"/>
          </a:ln>
        </p:spPr>
      </p:sp>
      <p:sp>
        <p:nvSpPr>
          <p:cNvPr id="32" name="Text 29"/>
          <p:cNvSpPr txBox="1"/>
          <p:nvPr/>
        </p:nvSpPr>
        <p:spPr>
          <a:xfrm>
            <a:off x="7406640" y="4133088"/>
            <a:ext cx="457200" cy="219456"/>
          </a:xfrm>
          <a:prstGeom prst="rect">
            <a:avLst/>
          </a:prstGeom>
          <a:noFill/>
          <a:ln/>
        </p:spPr>
        <p:txBody>
          <a:bodyPr wrap="square" lIns="0" tIns="0" rIns="0" bIns="0" rtlCol="0" anchor="t"/>
          <a:lstStyle/>
          <a:p>
            <a:pPr algn="ctr" indent="0" marL="0">
              <a:buNone/>
            </a:pPr>
            <a:r>
              <a:rPr lang="en-US" sz="1140" b="1" dirty="0">
                <a:solidFill>
                  <a:srgbClr val="243B53"/>
                </a:solidFill>
                <a:latin typeface="Aptos" pitchFamily="34" charset="0"/>
                <a:ea typeface="Aptos" pitchFamily="34" charset="-122"/>
                <a:cs typeface="Aptos" pitchFamily="34" charset="-120"/>
              </a:rPr>
              <a:t>1</a:t>
            </a:r>
            <a:endParaRPr lang="en-US" sz="1140" dirty="0"/>
          </a:p>
        </p:txBody>
      </p:sp>
      <p:sp>
        <p:nvSpPr>
          <p:cNvPr id="33" name="Text 30"/>
          <p:cNvSpPr txBox="1"/>
          <p:nvPr/>
        </p:nvSpPr>
        <p:spPr>
          <a:xfrm>
            <a:off x="658368" y="4434840"/>
            <a:ext cx="2834640" cy="219456"/>
          </a:xfrm>
          <a:prstGeom prst="rect">
            <a:avLst/>
          </a:prstGeom>
          <a:noFill/>
          <a:ln/>
        </p:spPr>
        <p:txBody>
          <a:bodyPr wrap="square" lIns="0" tIns="0" rIns="0" bIns="0" rtlCol="0" anchor="t"/>
          <a:lstStyle/>
          <a:p>
            <a:pPr algn="l" indent="0" marL="0">
              <a:buNone/>
            </a:pPr>
            <a:r>
              <a:rPr lang="en-US" sz="1080" b="1" dirty="0">
                <a:solidFill>
                  <a:srgbClr val="B3181E"/>
                </a:solidFill>
                <a:latin typeface="Aptos" pitchFamily="34" charset="0"/>
                <a:ea typeface="Aptos" pitchFamily="34" charset="-122"/>
                <a:cs typeface="Aptos" pitchFamily="34" charset="-120"/>
              </a:rPr>
              <a:t>almacen · 4 funciones</a:t>
            </a:r>
            <a:endParaRPr lang="en-US" sz="1080" dirty="0"/>
          </a:p>
        </p:txBody>
      </p:sp>
      <p:sp>
        <p:nvSpPr>
          <p:cNvPr id="34" name="Shape 31"/>
          <p:cNvSpPr/>
          <p:nvPr/>
        </p:nvSpPr>
        <p:spPr>
          <a:xfrm>
            <a:off x="3602736" y="4462272"/>
            <a:ext cx="146304" cy="164592"/>
          </a:xfrm>
          <a:prstGeom prst="rect">
            <a:avLst/>
          </a:prstGeom>
          <a:solidFill>
            <a:srgbClr val="F2E7D9"/>
          </a:solidFill>
          <a:ln w="12700">
            <a:solidFill>
              <a:srgbClr val="B3181E"/>
            </a:solidFill>
            <a:prstDash val="solid"/>
          </a:ln>
        </p:spPr>
      </p:sp>
      <p:sp>
        <p:nvSpPr>
          <p:cNvPr id="35" name="Text 32"/>
          <p:cNvSpPr txBox="1"/>
          <p:nvPr/>
        </p:nvSpPr>
        <p:spPr>
          <a:xfrm>
            <a:off x="7406640" y="4434840"/>
            <a:ext cx="457200" cy="219456"/>
          </a:xfrm>
          <a:prstGeom prst="rect">
            <a:avLst/>
          </a:prstGeom>
          <a:noFill/>
          <a:ln/>
        </p:spPr>
        <p:txBody>
          <a:bodyPr wrap="square" lIns="0" tIns="0" rIns="0" bIns="0" rtlCol="0" anchor="t"/>
          <a:lstStyle/>
          <a:p>
            <a:pPr algn="ctr" indent="0" marL="0">
              <a:buNone/>
            </a:pPr>
            <a:r>
              <a:rPr lang="en-US" sz="1140" b="1" dirty="0">
                <a:solidFill>
                  <a:srgbClr val="B3181E"/>
                </a:solidFill>
                <a:latin typeface="Aptos" pitchFamily="34" charset="0"/>
                <a:ea typeface="Aptos" pitchFamily="34" charset="-122"/>
                <a:cs typeface="Aptos" pitchFamily="34" charset="-120"/>
              </a:rPr>
              <a:t>0</a:t>
            </a:r>
            <a:endParaRPr lang="en-US" sz="1140" dirty="0"/>
          </a:p>
        </p:txBody>
      </p:sp>
      <p:sp>
        <p:nvSpPr>
          <p:cNvPr id="36" name="Shape 33"/>
          <p:cNvSpPr/>
          <p:nvPr/>
        </p:nvSpPr>
        <p:spPr>
          <a:xfrm>
            <a:off x="9418320" y="4443984"/>
            <a:ext cx="1371600" cy="201168"/>
          </a:xfrm>
          <a:prstGeom prst="rect">
            <a:avLst/>
          </a:prstGeom>
          <a:solidFill>
            <a:srgbClr val="B3181E"/>
          </a:solidFill>
          <a:ln w="12700">
            <a:solidFill>
              <a:srgbClr val="B3181E"/>
            </a:solidFill>
            <a:prstDash val="solid"/>
          </a:ln>
        </p:spPr>
      </p:sp>
      <p:sp>
        <p:nvSpPr>
          <p:cNvPr id="37" name="Text 34"/>
          <p:cNvSpPr txBox="1"/>
          <p:nvPr/>
        </p:nvSpPr>
        <p:spPr>
          <a:xfrm>
            <a:off x="9473184" y="4466844"/>
            <a:ext cx="1261872"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nivel 9</a:t>
            </a:r>
            <a:endParaRPr lang="en-US" sz="900" dirty="0"/>
          </a:p>
        </p:txBody>
      </p:sp>
      <p:sp>
        <p:nvSpPr>
          <p:cNvPr id="38" name="Text 35"/>
          <p:cNvSpPr txBox="1"/>
          <p:nvPr/>
        </p:nvSpPr>
        <p:spPr>
          <a:xfrm>
            <a:off x="658368" y="4736592"/>
            <a:ext cx="2834640" cy="219456"/>
          </a:xfrm>
          <a:prstGeom prst="rect">
            <a:avLst/>
          </a:prstGeom>
          <a:noFill/>
          <a:ln/>
        </p:spPr>
        <p:txBody>
          <a:bodyPr wrap="square" lIns="0" tIns="0" rIns="0" bIns="0" rtlCol="0" anchor="t"/>
          <a:lstStyle/>
          <a:p>
            <a:pPr algn="l" indent="0" marL="0">
              <a:buNone/>
            </a:pPr>
            <a:r>
              <a:rPr lang="en-US" sz="1080" b="1" dirty="0">
                <a:solidFill>
                  <a:srgbClr val="B3181E"/>
                </a:solidFill>
                <a:latin typeface="Aptos" pitchFamily="34" charset="0"/>
                <a:ea typeface="Aptos" pitchFamily="34" charset="-122"/>
                <a:cs typeface="Aptos" pitchFamily="34" charset="-120"/>
              </a:rPr>
              <a:t>puede_cancelar</a:t>
            </a:r>
            <a:endParaRPr lang="en-US" sz="1080" dirty="0"/>
          </a:p>
        </p:txBody>
      </p:sp>
      <p:sp>
        <p:nvSpPr>
          <p:cNvPr id="39" name="Shape 36"/>
          <p:cNvSpPr/>
          <p:nvPr/>
        </p:nvSpPr>
        <p:spPr>
          <a:xfrm>
            <a:off x="3602736" y="4764024"/>
            <a:ext cx="146304" cy="164592"/>
          </a:xfrm>
          <a:prstGeom prst="rect">
            <a:avLst/>
          </a:prstGeom>
          <a:solidFill>
            <a:srgbClr val="F2E7D9"/>
          </a:solidFill>
          <a:ln w="12700">
            <a:solidFill>
              <a:srgbClr val="B3181E"/>
            </a:solidFill>
            <a:prstDash val="solid"/>
          </a:ln>
        </p:spPr>
      </p:sp>
      <p:sp>
        <p:nvSpPr>
          <p:cNvPr id="40" name="Text 37"/>
          <p:cNvSpPr txBox="1"/>
          <p:nvPr/>
        </p:nvSpPr>
        <p:spPr>
          <a:xfrm>
            <a:off x="7406640" y="4736592"/>
            <a:ext cx="457200" cy="219456"/>
          </a:xfrm>
          <a:prstGeom prst="rect">
            <a:avLst/>
          </a:prstGeom>
          <a:noFill/>
          <a:ln/>
        </p:spPr>
        <p:txBody>
          <a:bodyPr wrap="square" lIns="0" tIns="0" rIns="0" bIns="0" rtlCol="0" anchor="t"/>
          <a:lstStyle/>
          <a:p>
            <a:pPr algn="ctr" indent="0" marL="0">
              <a:buNone/>
            </a:pPr>
            <a:r>
              <a:rPr lang="en-US" sz="1140" b="1" dirty="0">
                <a:solidFill>
                  <a:srgbClr val="B3181E"/>
                </a:solidFill>
                <a:latin typeface="Aptos" pitchFamily="34" charset="0"/>
                <a:ea typeface="Aptos" pitchFamily="34" charset="-122"/>
                <a:cs typeface="Aptos" pitchFamily="34" charset="-120"/>
              </a:rPr>
              <a:t>0</a:t>
            </a:r>
            <a:endParaRPr lang="en-US" sz="1140" dirty="0"/>
          </a:p>
        </p:txBody>
      </p:sp>
      <p:sp>
        <p:nvSpPr>
          <p:cNvPr id="41" name="Shape 38"/>
          <p:cNvSpPr/>
          <p:nvPr/>
        </p:nvSpPr>
        <p:spPr>
          <a:xfrm>
            <a:off x="9418320" y="4745736"/>
            <a:ext cx="1371600" cy="201168"/>
          </a:xfrm>
          <a:prstGeom prst="rect">
            <a:avLst/>
          </a:prstGeom>
          <a:solidFill>
            <a:srgbClr val="8A6A12"/>
          </a:solidFill>
          <a:ln w="12700">
            <a:solidFill>
              <a:srgbClr val="8A6A12"/>
            </a:solidFill>
            <a:prstDash val="solid"/>
          </a:ln>
        </p:spPr>
      </p:sp>
      <p:sp>
        <p:nvSpPr>
          <p:cNvPr id="42" name="Text 39"/>
          <p:cNvSpPr txBox="1"/>
          <p:nvPr/>
        </p:nvSpPr>
        <p:spPr>
          <a:xfrm>
            <a:off x="9473184" y="4768596"/>
            <a:ext cx="1261872"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nivel 6</a:t>
            </a:r>
            <a:endParaRPr lang="en-US" sz="900" dirty="0"/>
          </a:p>
        </p:txBody>
      </p:sp>
      <p:sp>
        <p:nvSpPr>
          <p:cNvPr id="43" name="Text 40"/>
          <p:cNvSpPr txBox="1"/>
          <p:nvPr/>
        </p:nvSpPr>
        <p:spPr>
          <a:xfrm>
            <a:off x="658368" y="5038344"/>
            <a:ext cx="2834640" cy="219456"/>
          </a:xfrm>
          <a:prstGeom prst="rect">
            <a:avLst/>
          </a:prstGeom>
          <a:noFill/>
          <a:ln/>
        </p:spPr>
        <p:txBody>
          <a:bodyPr wrap="square" lIns="0" tIns="0" rIns="0" bIns="0" rtlCol="0" anchor="t"/>
          <a:lstStyle/>
          <a:p>
            <a:pPr algn="l" indent="0" marL="0">
              <a:buNone/>
            </a:pPr>
            <a:r>
              <a:rPr lang="en-US" sz="1080" b="1" dirty="0">
                <a:solidFill>
                  <a:srgbClr val="B3181E"/>
                </a:solidFill>
                <a:latin typeface="Aptos" pitchFamily="34" charset="0"/>
                <a:ea typeface="Aptos" pitchFamily="34" charset="-122"/>
                <a:cs typeface="Aptos" pitchFamily="34" charset="-120"/>
              </a:rPr>
              <a:t>el modelo de solicitud</a:t>
            </a:r>
            <a:endParaRPr lang="en-US" sz="1080" dirty="0"/>
          </a:p>
        </p:txBody>
      </p:sp>
      <p:sp>
        <p:nvSpPr>
          <p:cNvPr id="44" name="Shape 41"/>
          <p:cNvSpPr/>
          <p:nvPr/>
        </p:nvSpPr>
        <p:spPr>
          <a:xfrm>
            <a:off x="3602736" y="5065776"/>
            <a:ext cx="146304" cy="164592"/>
          </a:xfrm>
          <a:prstGeom prst="rect">
            <a:avLst/>
          </a:prstGeom>
          <a:solidFill>
            <a:srgbClr val="F2E7D9"/>
          </a:solidFill>
          <a:ln w="12700">
            <a:solidFill>
              <a:srgbClr val="B3181E"/>
            </a:solidFill>
            <a:prstDash val="solid"/>
          </a:ln>
        </p:spPr>
      </p:sp>
      <p:sp>
        <p:nvSpPr>
          <p:cNvPr id="45" name="Text 42"/>
          <p:cNvSpPr txBox="1"/>
          <p:nvPr/>
        </p:nvSpPr>
        <p:spPr>
          <a:xfrm>
            <a:off x="7406640" y="5038344"/>
            <a:ext cx="457200" cy="219456"/>
          </a:xfrm>
          <a:prstGeom prst="rect">
            <a:avLst/>
          </a:prstGeom>
          <a:noFill/>
          <a:ln/>
        </p:spPr>
        <p:txBody>
          <a:bodyPr wrap="square" lIns="0" tIns="0" rIns="0" bIns="0" rtlCol="0" anchor="t"/>
          <a:lstStyle/>
          <a:p>
            <a:pPr algn="ctr" indent="0" marL="0">
              <a:buNone/>
            </a:pPr>
            <a:r>
              <a:rPr lang="en-US" sz="1140" b="1" dirty="0">
                <a:solidFill>
                  <a:srgbClr val="B3181E"/>
                </a:solidFill>
                <a:latin typeface="Aptos" pitchFamily="34" charset="0"/>
                <a:ea typeface="Aptos" pitchFamily="34" charset="-122"/>
                <a:cs typeface="Aptos" pitchFamily="34" charset="-120"/>
              </a:rPr>
              <a:t>0</a:t>
            </a:r>
            <a:endParaRPr lang="en-US" sz="1140" dirty="0"/>
          </a:p>
        </p:txBody>
      </p:sp>
      <p:sp>
        <p:nvSpPr>
          <p:cNvPr id="46" name="Shape 43"/>
          <p:cNvSpPr/>
          <p:nvPr/>
        </p:nvSpPr>
        <p:spPr>
          <a:xfrm>
            <a:off x="9418320" y="5047488"/>
            <a:ext cx="1371600" cy="201168"/>
          </a:xfrm>
          <a:prstGeom prst="rect">
            <a:avLst/>
          </a:prstGeom>
          <a:solidFill>
            <a:srgbClr val="8A6A12"/>
          </a:solidFill>
          <a:ln w="12700">
            <a:solidFill>
              <a:srgbClr val="8A6A12"/>
            </a:solidFill>
            <a:prstDash val="solid"/>
          </a:ln>
        </p:spPr>
      </p:sp>
      <p:sp>
        <p:nvSpPr>
          <p:cNvPr id="47" name="Text 44"/>
          <p:cNvSpPr txBox="1"/>
          <p:nvPr/>
        </p:nvSpPr>
        <p:spPr>
          <a:xfrm>
            <a:off x="9473184" y="5070348"/>
            <a:ext cx="1261872"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nivel 6</a:t>
            </a:r>
            <a:endParaRPr lang="en-US" sz="900" dirty="0"/>
          </a:p>
        </p:txBody>
      </p:sp>
      <p:sp>
        <p:nvSpPr>
          <p:cNvPr id="48" name="Text 45"/>
          <p:cNvSpPr txBox="1"/>
          <p:nvPr/>
        </p:nvSpPr>
        <p:spPr>
          <a:xfrm>
            <a:off x="658368" y="5340096"/>
            <a:ext cx="2834640" cy="219456"/>
          </a:xfrm>
          <a:prstGeom prst="rect">
            <a:avLst/>
          </a:prstGeom>
          <a:noFill/>
          <a:ln/>
        </p:spPr>
        <p:txBody>
          <a:bodyPr wrap="square" lIns="0" tIns="0" rIns="0" bIns="0" rtlCol="0" anchor="t"/>
          <a:lstStyle/>
          <a:p>
            <a:pPr algn="l" indent="0" marL="0">
              <a:buNone/>
            </a:pPr>
            <a:r>
              <a:rPr lang="en-US" sz="1080" b="1" dirty="0">
                <a:solidFill>
                  <a:srgbClr val="B3181E"/>
                </a:solidFill>
                <a:latin typeface="Aptos" pitchFamily="34" charset="0"/>
                <a:ea typeface="Aptos" pitchFamily="34" charset="-122"/>
                <a:cs typeface="Aptos" pitchFamily="34" charset="-120"/>
              </a:rPr>
              <a:t>comprobante</a:t>
            </a:r>
            <a:endParaRPr lang="en-US" sz="1080" dirty="0"/>
          </a:p>
        </p:txBody>
      </p:sp>
      <p:sp>
        <p:nvSpPr>
          <p:cNvPr id="49" name="Shape 46"/>
          <p:cNvSpPr/>
          <p:nvPr/>
        </p:nvSpPr>
        <p:spPr>
          <a:xfrm>
            <a:off x="3602736" y="5367528"/>
            <a:ext cx="146304" cy="164592"/>
          </a:xfrm>
          <a:prstGeom prst="rect">
            <a:avLst/>
          </a:prstGeom>
          <a:solidFill>
            <a:srgbClr val="F2E7D9"/>
          </a:solidFill>
          <a:ln w="12700">
            <a:solidFill>
              <a:srgbClr val="B3181E"/>
            </a:solidFill>
            <a:prstDash val="solid"/>
          </a:ln>
        </p:spPr>
      </p:sp>
      <p:sp>
        <p:nvSpPr>
          <p:cNvPr id="50" name="Text 47"/>
          <p:cNvSpPr txBox="1"/>
          <p:nvPr/>
        </p:nvSpPr>
        <p:spPr>
          <a:xfrm>
            <a:off x="7406640" y="5340096"/>
            <a:ext cx="457200" cy="219456"/>
          </a:xfrm>
          <a:prstGeom prst="rect">
            <a:avLst/>
          </a:prstGeom>
          <a:noFill/>
          <a:ln/>
        </p:spPr>
        <p:txBody>
          <a:bodyPr wrap="square" lIns="0" tIns="0" rIns="0" bIns="0" rtlCol="0" anchor="t"/>
          <a:lstStyle/>
          <a:p>
            <a:pPr algn="ctr" indent="0" marL="0">
              <a:buNone/>
            </a:pPr>
            <a:r>
              <a:rPr lang="en-US" sz="1140" b="1" dirty="0">
                <a:solidFill>
                  <a:srgbClr val="B3181E"/>
                </a:solidFill>
                <a:latin typeface="Aptos" pitchFamily="34" charset="0"/>
                <a:ea typeface="Aptos" pitchFamily="34" charset="-122"/>
                <a:cs typeface="Aptos" pitchFamily="34" charset="-120"/>
              </a:rPr>
              <a:t>0</a:t>
            </a:r>
            <a:endParaRPr lang="en-US" sz="1140" dirty="0"/>
          </a:p>
        </p:txBody>
      </p:sp>
      <p:sp>
        <p:nvSpPr>
          <p:cNvPr id="51" name="Shape 48"/>
          <p:cNvSpPr/>
          <p:nvPr/>
        </p:nvSpPr>
        <p:spPr>
          <a:xfrm>
            <a:off x="9418320" y="5349240"/>
            <a:ext cx="1371600" cy="201168"/>
          </a:xfrm>
          <a:prstGeom prst="rect">
            <a:avLst/>
          </a:prstGeom>
          <a:solidFill>
            <a:srgbClr val="52606D"/>
          </a:solidFill>
          <a:ln w="12700">
            <a:solidFill>
              <a:srgbClr val="52606D"/>
            </a:solidFill>
            <a:prstDash val="solid"/>
          </a:ln>
        </p:spPr>
      </p:sp>
      <p:sp>
        <p:nvSpPr>
          <p:cNvPr id="52" name="Text 49"/>
          <p:cNvSpPr txBox="1"/>
          <p:nvPr/>
        </p:nvSpPr>
        <p:spPr>
          <a:xfrm>
            <a:off x="9473184" y="5372100"/>
            <a:ext cx="1261872"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nivel 2</a:t>
            </a:r>
            <a:endParaRPr lang="en-US" sz="900" dirty="0"/>
          </a:p>
        </p:txBody>
      </p:sp>
      <p:sp>
        <p:nvSpPr>
          <p:cNvPr id="53" name="Shape 50"/>
          <p:cNvSpPr/>
          <p:nvPr/>
        </p:nvSpPr>
        <p:spPr>
          <a:xfrm>
            <a:off x="658368" y="5669280"/>
            <a:ext cx="10874959" cy="457200"/>
          </a:xfrm>
          <a:prstGeom prst="rect">
            <a:avLst/>
          </a:prstGeom>
          <a:solidFill>
            <a:srgbClr val="F2E7D9"/>
          </a:solidFill>
          <a:ln w="12700">
            <a:solidFill>
              <a:srgbClr val="F2E7D9"/>
            </a:solidFill>
            <a:prstDash val="solid"/>
          </a:ln>
        </p:spPr>
      </p:sp>
      <p:sp>
        <p:nvSpPr>
          <p:cNvPr id="54" name="Shape 51"/>
          <p:cNvSpPr/>
          <p:nvPr/>
        </p:nvSpPr>
        <p:spPr>
          <a:xfrm>
            <a:off x="658368" y="5669280"/>
            <a:ext cx="54864" cy="457200"/>
          </a:xfrm>
          <a:prstGeom prst="rect">
            <a:avLst/>
          </a:prstGeom>
          <a:solidFill>
            <a:srgbClr val="B3181E"/>
          </a:solidFill>
          <a:ln w="12700">
            <a:solidFill>
              <a:srgbClr val="B3181E"/>
            </a:solidFill>
            <a:prstDash val="solid"/>
          </a:ln>
        </p:spPr>
      </p:sp>
      <p:sp>
        <p:nvSpPr>
          <p:cNvPr id="55" name="Text 52"/>
          <p:cNvSpPr txBox="1"/>
          <p:nvPr/>
        </p:nvSpPr>
        <p:spPr>
          <a:xfrm>
            <a:off x="969264" y="5724144"/>
            <a:ext cx="10253167" cy="347472"/>
          </a:xfrm>
          <a:prstGeom prst="rect">
            <a:avLst/>
          </a:prstGeom>
          <a:noFill/>
          <a:ln/>
        </p:spPr>
        <p:txBody>
          <a:bodyPr wrap="square" lIns="0" tIns="0" rIns="0" bIns="0" rtlCol="0" anchor="ctr"/>
          <a:lstStyle/>
          <a:p>
            <a:pPr algn="l" indent="0" marL="0">
              <a:buNone/>
            </a:pPr>
            <a:r>
              <a:rPr lang="en-US" sz="1280" b="1" dirty="0">
                <a:solidFill>
                  <a:srgbClr val="243B53"/>
                </a:solidFill>
                <a:latin typeface="Aptos" pitchFamily="34" charset="0"/>
                <a:ea typeface="Aptos" pitchFamily="34" charset="-122"/>
                <a:cs typeface="Aptos" pitchFamily="34" charset="-120"/>
              </a:rPr>
              <a:t>Siete de veinte pruebas sobre una función de una línea. Los dos riesgos de nivel 9, en cero.</a:t>
            </a:r>
            <a:endParaRPr lang="en-US" sz="12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QUÉ HACER CON CADA RIESGO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Probar es una de cuatro respuestas, no la única</a:t>
            </a:r>
            <a:endParaRPr lang="en-US" sz="27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Suponer que cada fila del registro exige una prueba es lo que convierte un registro en una lista de tareas imposible.</a:t>
            </a:r>
            <a:endParaRPr lang="en-US" sz="1420" dirty="0"/>
          </a:p>
        </p:txBody>
      </p:sp>
      <p:sp>
        <p:nvSpPr>
          <p:cNvPr id="11" name="Shape 8"/>
          <p:cNvSpPr/>
          <p:nvPr/>
        </p:nvSpPr>
        <p:spPr>
          <a:xfrm>
            <a:off x="658368" y="2249424"/>
            <a:ext cx="2622728" cy="1389888"/>
          </a:xfrm>
          <a:prstGeom prst="rect">
            <a:avLst/>
          </a:prstGeom>
          <a:solidFill>
            <a:srgbClr val="F2E7D9"/>
          </a:solidFill>
          <a:ln w="12700">
            <a:solidFill>
              <a:srgbClr val="F2E7D9"/>
            </a:solidFill>
            <a:prstDash val="solid"/>
          </a:ln>
        </p:spPr>
      </p:sp>
      <p:sp>
        <p:nvSpPr>
          <p:cNvPr id="12" name="Shape 9"/>
          <p:cNvSpPr/>
          <p:nvPr/>
        </p:nvSpPr>
        <p:spPr>
          <a:xfrm>
            <a:off x="658368" y="2249424"/>
            <a:ext cx="2622728" cy="54864"/>
          </a:xfrm>
          <a:prstGeom prst="rect">
            <a:avLst/>
          </a:prstGeom>
          <a:solidFill>
            <a:srgbClr val="B3181E"/>
          </a:solidFill>
          <a:ln w="12700">
            <a:solidFill>
              <a:srgbClr val="B3181E"/>
            </a:solidFill>
            <a:prstDash val="solid"/>
          </a:ln>
        </p:spPr>
      </p:sp>
      <p:sp>
        <p:nvSpPr>
          <p:cNvPr id="13" name="Text 10"/>
          <p:cNvSpPr txBox="1"/>
          <p:nvPr/>
        </p:nvSpPr>
        <p:spPr>
          <a:xfrm>
            <a:off x="859536" y="2450592"/>
            <a:ext cx="2220392" cy="457200"/>
          </a:xfrm>
          <a:prstGeom prst="rect">
            <a:avLst/>
          </a:prstGeom>
          <a:noFill/>
          <a:ln/>
        </p:spPr>
        <p:txBody>
          <a:bodyPr wrap="square" lIns="0" tIns="0" rIns="0" bIns="0" rtlCol="0" anchor="t"/>
          <a:lstStyle/>
          <a:p>
            <a:pPr algn="l" indent="0" marL="0">
              <a:lnSpc>
                <a:spcPct val="106000"/>
              </a:lnSpc>
              <a:buNone/>
            </a:pPr>
            <a:r>
              <a:rPr lang="en-US" sz="1340" b="1" dirty="0">
                <a:solidFill>
                  <a:srgbClr val="B3181E"/>
                </a:solidFill>
                <a:latin typeface="Aptos" pitchFamily="34" charset="0"/>
                <a:ea typeface="Aptos" pitchFamily="34" charset="-122"/>
                <a:cs typeface="Aptos" pitchFamily="34" charset="-120"/>
              </a:rPr>
              <a:t>Mitigar probando</a:t>
            </a:r>
            <a:endParaRPr lang="en-US" sz="1340" dirty="0"/>
          </a:p>
        </p:txBody>
      </p:sp>
      <p:sp>
        <p:nvSpPr>
          <p:cNvPr id="14" name="Text 11"/>
          <p:cNvSpPr txBox="1"/>
          <p:nvPr/>
        </p:nvSpPr>
        <p:spPr>
          <a:xfrm>
            <a:off x="859536" y="2944368"/>
            <a:ext cx="2220392" cy="585216"/>
          </a:xfrm>
          <a:prstGeom prst="rect">
            <a:avLst/>
          </a:prstGeom>
          <a:noFill/>
          <a:ln/>
        </p:spPr>
        <p:txBody>
          <a:bodyPr wrap="square" lIns="0" tIns="0" rIns="0" bIns="0" rtlCol="0" anchor="t"/>
          <a:lstStyle/>
          <a:p>
            <a:pPr algn="l" indent="0" marL="0">
              <a:lnSpc>
                <a:spcPct val="110000"/>
              </a:lnSpc>
              <a:buNone/>
            </a:pPr>
            <a:r>
              <a:rPr lang="en-US" sz="1040" dirty="0">
                <a:solidFill>
                  <a:srgbClr val="52606D"/>
                </a:solidFill>
                <a:latin typeface="Aptos" pitchFamily="34" charset="0"/>
                <a:ea typeface="Aptos" pitchFamily="34" charset="-122"/>
                <a:cs typeface="Aptos" pitchFamily="34" charset="-120"/>
              </a:rPr>
              <a:t>Escribir pruebas que reduzcan la probabilidad de que el fallo llegue al usuario.</a:t>
            </a:r>
            <a:endParaRPr lang="en-US" sz="1040" dirty="0"/>
          </a:p>
        </p:txBody>
      </p:sp>
      <p:sp>
        <p:nvSpPr>
          <p:cNvPr id="15" name="Shape 12"/>
          <p:cNvSpPr/>
          <p:nvPr/>
        </p:nvSpPr>
        <p:spPr>
          <a:xfrm>
            <a:off x="3409112" y="2249424"/>
            <a:ext cx="2622728" cy="1389888"/>
          </a:xfrm>
          <a:prstGeom prst="rect">
            <a:avLst/>
          </a:prstGeom>
          <a:solidFill>
            <a:srgbClr val="FFFFFF"/>
          </a:solidFill>
          <a:ln w="12700">
            <a:solidFill>
              <a:srgbClr val="FFFFFF"/>
            </a:solidFill>
            <a:prstDash val="solid"/>
          </a:ln>
        </p:spPr>
      </p:sp>
      <p:sp>
        <p:nvSpPr>
          <p:cNvPr id="16" name="Shape 13"/>
          <p:cNvSpPr/>
          <p:nvPr/>
        </p:nvSpPr>
        <p:spPr>
          <a:xfrm>
            <a:off x="3409112" y="2249424"/>
            <a:ext cx="2622728" cy="54864"/>
          </a:xfrm>
          <a:prstGeom prst="rect">
            <a:avLst/>
          </a:prstGeom>
          <a:solidFill>
            <a:srgbClr val="102A43"/>
          </a:solidFill>
          <a:ln w="12700">
            <a:solidFill>
              <a:srgbClr val="102A43"/>
            </a:solidFill>
            <a:prstDash val="solid"/>
          </a:ln>
        </p:spPr>
      </p:sp>
      <p:sp>
        <p:nvSpPr>
          <p:cNvPr id="17" name="Text 14"/>
          <p:cNvSpPr txBox="1"/>
          <p:nvPr/>
        </p:nvSpPr>
        <p:spPr>
          <a:xfrm>
            <a:off x="3610280" y="2450592"/>
            <a:ext cx="2220392" cy="457200"/>
          </a:xfrm>
          <a:prstGeom prst="rect">
            <a:avLst/>
          </a:prstGeom>
          <a:noFill/>
          <a:ln/>
        </p:spPr>
        <p:txBody>
          <a:bodyPr wrap="square" lIns="0" tIns="0" rIns="0" bIns="0" rtlCol="0" anchor="t"/>
          <a:lstStyle/>
          <a:p>
            <a:pPr algn="l" indent="0" marL="0">
              <a:lnSpc>
                <a:spcPct val="106000"/>
              </a:lnSpc>
              <a:buNone/>
            </a:pPr>
            <a:r>
              <a:rPr lang="en-US" sz="1340" b="1" dirty="0">
                <a:solidFill>
                  <a:srgbClr val="102A43"/>
                </a:solidFill>
                <a:latin typeface="Aptos" pitchFamily="34" charset="0"/>
                <a:ea typeface="Aptos" pitchFamily="34" charset="-122"/>
                <a:cs typeface="Aptos" pitchFamily="34" charset="-120"/>
              </a:rPr>
              <a:t>Aceptar</a:t>
            </a:r>
            <a:endParaRPr lang="en-US" sz="1340" dirty="0"/>
          </a:p>
        </p:txBody>
      </p:sp>
      <p:sp>
        <p:nvSpPr>
          <p:cNvPr id="18" name="Text 15"/>
          <p:cNvSpPr txBox="1"/>
          <p:nvPr/>
        </p:nvSpPr>
        <p:spPr>
          <a:xfrm>
            <a:off x="3610280" y="2944368"/>
            <a:ext cx="2220392" cy="585216"/>
          </a:xfrm>
          <a:prstGeom prst="rect">
            <a:avLst/>
          </a:prstGeom>
          <a:noFill/>
          <a:ln/>
        </p:spPr>
        <p:txBody>
          <a:bodyPr wrap="square" lIns="0" tIns="0" rIns="0" bIns="0" rtlCol="0" anchor="t"/>
          <a:lstStyle/>
          <a:p>
            <a:pPr algn="l" indent="0" marL="0">
              <a:lnSpc>
                <a:spcPct val="110000"/>
              </a:lnSpc>
              <a:buNone/>
            </a:pPr>
            <a:r>
              <a:rPr lang="en-US" sz="1040" dirty="0">
                <a:solidFill>
                  <a:srgbClr val="52606D"/>
                </a:solidFill>
                <a:latin typeface="Aptos" pitchFamily="34" charset="0"/>
                <a:ea typeface="Aptos" pitchFamily="34" charset="-122"/>
                <a:cs typeface="Aptos" pitchFamily="34" charset="-120"/>
              </a:rPr>
              <a:t>Decidir, y dejar escrito, que se convive con el riesgo.</a:t>
            </a:r>
            <a:endParaRPr lang="en-US" sz="1040" dirty="0"/>
          </a:p>
        </p:txBody>
      </p:sp>
      <p:sp>
        <p:nvSpPr>
          <p:cNvPr id="19" name="Shape 16"/>
          <p:cNvSpPr/>
          <p:nvPr/>
        </p:nvSpPr>
        <p:spPr>
          <a:xfrm>
            <a:off x="6159856" y="2249424"/>
            <a:ext cx="2622728" cy="1389888"/>
          </a:xfrm>
          <a:prstGeom prst="rect">
            <a:avLst/>
          </a:prstGeom>
          <a:solidFill>
            <a:srgbClr val="FFFFFF"/>
          </a:solidFill>
          <a:ln w="12700">
            <a:solidFill>
              <a:srgbClr val="FFFFFF"/>
            </a:solidFill>
            <a:prstDash val="solid"/>
          </a:ln>
        </p:spPr>
      </p:sp>
      <p:sp>
        <p:nvSpPr>
          <p:cNvPr id="20" name="Shape 17"/>
          <p:cNvSpPr/>
          <p:nvPr/>
        </p:nvSpPr>
        <p:spPr>
          <a:xfrm>
            <a:off x="6159856" y="2249424"/>
            <a:ext cx="2622728" cy="54864"/>
          </a:xfrm>
          <a:prstGeom prst="rect">
            <a:avLst/>
          </a:prstGeom>
          <a:solidFill>
            <a:srgbClr val="102A43"/>
          </a:solidFill>
          <a:ln w="12700">
            <a:solidFill>
              <a:srgbClr val="102A43"/>
            </a:solidFill>
            <a:prstDash val="solid"/>
          </a:ln>
        </p:spPr>
      </p:sp>
      <p:sp>
        <p:nvSpPr>
          <p:cNvPr id="21" name="Text 18"/>
          <p:cNvSpPr txBox="1"/>
          <p:nvPr/>
        </p:nvSpPr>
        <p:spPr>
          <a:xfrm>
            <a:off x="6361024" y="2450592"/>
            <a:ext cx="2220392" cy="457200"/>
          </a:xfrm>
          <a:prstGeom prst="rect">
            <a:avLst/>
          </a:prstGeom>
          <a:noFill/>
          <a:ln/>
        </p:spPr>
        <p:txBody>
          <a:bodyPr wrap="square" lIns="0" tIns="0" rIns="0" bIns="0" rtlCol="0" anchor="t"/>
          <a:lstStyle/>
          <a:p>
            <a:pPr algn="l" indent="0" marL="0">
              <a:lnSpc>
                <a:spcPct val="106000"/>
              </a:lnSpc>
              <a:buNone/>
            </a:pPr>
            <a:r>
              <a:rPr lang="en-US" sz="1340" b="1" dirty="0">
                <a:solidFill>
                  <a:srgbClr val="102A43"/>
                </a:solidFill>
                <a:latin typeface="Aptos" pitchFamily="34" charset="0"/>
                <a:ea typeface="Aptos" pitchFamily="34" charset="-122"/>
                <a:cs typeface="Aptos" pitchFamily="34" charset="-120"/>
              </a:rPr>
              <a:t>Transferir</a:t>
            </a:r>
            <a:endParaRPr lang="en-US" sz="1340" dirty="0"/>
          </a:p>
        </p:txBody>
      </p:sp>
      <p:sp>
        <p:nvSpPr>
          <p:cNvPr id="22" name="Text 19"/>
          <p:cNvSpPr txBox="1"/>
          <p:nvPr/>
        </p:nvSpPr>
        <p:spPr>
          <a:xfrm>
            <a:off x="6361024" y="2944368"/>
            <a:ext cx="2220392" cy="585216"/>
          </a:xfrm>
          <a:prstGeom prst="rect">
            <a:avLst/>
          </a:prstGeom>
          <a:noFill/>
          <a:ln/>
        </p:spPr>
        <p:txBody>
          <a:bodyPr wrap="square" lIns="0" tIns="0" rIns="0" bIns="0" rtlCol="0" anchor="t"/>
          <a:lstStyle/>
          <a:p>
            <a:pPr algn="l" indent="0" marL="0">
              <a:lnSpc>
                <a:spcPct val="110000"/>
              </a:lnSpc>
              <a:buNone/>
            </a:pPr>
            <a:r>
              <a:rPr lang="en-US" sz="1040" dirty="0">
                <a:solidFill>
                  <a:srgbClr val="52606D"/>
                </a:solidFill>
                <a:latin typeface="Aptos" pitchFamily="34" charset="0"/>
                <a:ea typeface="Aptos" pitchFamily="34" charset="-122"/>
                <a:cs typeface="Aptos" pitchFamily="34" charset="-120"/>
              </a:rPr>
              <a:t>Pasarlo a otro responsable, por ejemplo a una biblioteca mantenida por terceros.</a:t>
            </a:r>
            <a:endParaRPr lang="en-US" sz="1040" dirty="0"/>
          </a:p>
        </p:txBody>
      </p:sp>
      <p:sp>
        <p:nvSpPr>
          <p:cNvPr id="23" name="Shape 20"/>
          <p:cNvSpPr/>
          <p:nvPr/>
        </p:nvSpPr>
        <p:spPr>
          <a:xfrm>
            <a:off x="8910599" y="2249424"/>
            <a:ext cx="2622728" cy="1389888"/>
          </a:xfrm>
          <a:prstGeom prst="rect">
            <a:avLst/>
          </a:prstGeom>
          <a:solidFill>
            <a:srgbClr val="FFFFFF"/>
          </a:solidFill>
          <a:ln w="12700">
            <a:solidFill>
              <a:srgbClr val="FFFFFF"/>
            </a:solidFill>
            <a:prstDash val="solid"/>
          </a:ln>
        </p:spPr>
      </p:sp>
      <p:sp>
        <p:nvSpPr>
          <p:cNvPr id="24" name="Shape 21"/>
          <p:cNvSpPr/>
          <p:nvPr/>
        </p:nvSpPr>
        <p:spPr>
          <a:xfrm>
            <a:off x="8910599" y="2249424"/>
            <a:ext cx="2622728" cy="54864"/>
          </a:xfrm>
          <a:prstGeom prst="rect">
            <a:avLst/>
          </a:prstGeom>
          <a:solidFill>
            <a:srgbClr val="102A43"/>
          </a:solidFill>
          <a:ln w="12700">
            <a:solidFill>
              <a:srgbClr val="102A43"/>
            </a:solidFill>
            <a:prstDash val="solid"/>
          </a:ln>
        </p:spPr>
      </p:sp>
      <p:sp>
        <p:nvSpPr>
          <p:cNvPr id="25" name="Text 22"/>
          <p:cNvSpPr txBox="1"/>
          <p:nvPr/>
        </p:nvSpPr>
        <p:spPr>
          <a:xfrm>
            <a:off x="9111767" y="2450592"/>
            <a:ext cx="2220392" cy="457200"/>
          </a:xfrm>
          <a:prstGeom prst="rect">
            <a:avLst/>
          </a:prstGeom>
          <a:noFill/>
          <a:ln/>
        </p:spPr>
        <p:txBody>
          <a:bodyPr wrap="square" lIns="0" tIns="0" rIns="0" bIns="0" rtlCol="0" anchor="t"/>
          <a:lstStyle/>
          <a:p>
            <a:pPr algn="l" indent="0" marL="0">
              <a:lnSpc>
                <a:spcPct val="106000"/>
              </a:lnSpc>
              <a:buNone/>
            </a:pPr>
            <a:r>
              <a:rPr lang="en-US" sz="1340" b="1" dirty="0">
                <a:solidFill>
                  <a:srgbClr val="102A43"/>
                </a:solidFill>
                <a:latin typeface="Aptos" pitchFamily="34" charset="0"/>
                <a:ea typeface="Aptos" pitchFamily="34" charset="-122"/>
                <a:cs typeface="Aptos" pitchFamily="34" charset="-120"/>
              </a:rPr>
              <a:t>Plan de contingencia</a:t>
            </a:r>
            <a:endParaRPr lang="en-US" sz="1340" dirty="0"/>
          </a:p>
        </p:txBody>
      </p:sp>
      <p:sp>
        <p:nvSpPr>
          <p:cNvPr id="26" name="Text 23"/>
          <p:cNvSpPr txBox="1"/>
          <p:nvPr/>
        </p:nvSpPr>
        <p:spPr>
          <a:xfrm>
            <a:off x="9111767" y="2944368"/>
            <a:ext cx="2220392" cy="585216"/>
          </a:xfrm>
          <a:prstGeom prst="rect">
            <a:avLst/>
          </a:prstGeom>
          <a:noFill/>
          <a:ln/>
        </p:spPr>
        <p:txBody>
          <a:bodyPr wrap="square" lIns="0" tIns="0" rIns="0" bIns="0" rtlCol="0" anchor="t"/>
          <a:lstStyle/>
          <a:p>
            <a:pPr algn="l" indent="0" marL="0">
              <a:lnSpc>
                <a:spcPct val="110000"/>
              </a:lnSpc>
              <a:buNone/>
            </a:pPr>
            <a:r>
              <a:rPr lang="en-US" sz="1040" dirty="0">
                <a:solidFill>
                  <a:srgbClr val="52606D"/>
                </a:solidFill>
                <a:latin typeface="Aptos" pitchFamily="34" charset="0"/>
                <a:ea typeface="Aptos" pitchFamily="34" charset="-122"/>
                <a:cs typeface="Aptos" pitchFamily="34" charset="-120"/>
              </a:rPr>
              <a:t>Preparar qué se hace si llega a ocurrir.</a:t>
            </a:r>
            <a:endParaRPr lang="en-US" sz="1040" dirty="0"/>
          </a:p>
        </p:txBody>
      </p:sp>
      <p:sp>
        <p:nvSpPr>
          <p:cNvPr id="27" name="Text 24"/>
          <p:cNvSpPr txBox="1"/>
          <p:nvPr/>
        </p:nvSpPr>
        <p:spPr>
          <a:xfrm>
            <a:off x="658368" y="3803904"/>
            <a:ext cx="10874959"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Aceptar no es ignorar. Aceptar es escribir «este riesgo se conoce, se valoró y se decide no tratarlo por esta razón». Ignorar es que no aparezca.</a:t>
            </a:r>
            <a:endParaRPr lang="en-US" sz="1240" dirty="0"/>
          </a:p>
        </p:txBody>
      </p:sp>
      <p:sp>
        <p:nvSpPr>
          <p:cNvPr id="28" name="Text 25"/>
          <p:cNvSpPr txBox="1"/>
          <p:nvPr/>
        </p:nvSpPr>
        <p:spPr>
          <a:xfrm>
            <a:off x="658368" y="4315968"/>
            <a:ext cx="73152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LO QUE HIZO EL AGENTE CON SUS NUEVE RIESGOS DE PRODUCTO</a:t>
            </a:r>
            <a:endParaRPr lang="en-US" sz="960" dirty="0"/>
          </a:p>
        </p:txBody>
      </p:sp>
      <p:sp>
        <p:nvSpPr>
          <p:cNvPr id="29" name="Shape 26"/>
          <p:cNvSpPr/>
          <p:nvPr/>
        </p:nvSpPr>
        <p:spPr>
          <a:xfrm>
            <a:off x="658368" y="4553712"/>
            <a:ext cx="2377440" cy="914400"/>
          </a:xfrm>
          <a:prstGeom prst="rect">
            <a:avLst/>
          </a:prstGeom>
          <a:solidFill>
            <a:srgbClr val="F2E7D9"/>
          </a:solidFill>
          <a:ln w="12700">
            <a:solidFill>
              <a:srgbClr val="B3181E"/>
            </a:solidFill>
            <a:prstDash val="solid"/>
          </a:ln>
        </p:spPr>
      </p:sp>
      <p:sp>
        <p:nvSpPr>
          <p:cNvPr id="30" name="Text 27"/>
          <p:cNvSpPr txBox="1"/>
          <p:nvPr/>
        </p:nvSpPr>
        <p:spPr>
          <a:xfrm>
            <a:off x="658368" y="4645152"/>
            <a:ext cx="2377440" cy="420624"/>
          </a:xfrm>
          <a:prstGeom prst="rect">
            <a:avLst/>
          </a:prstGeom>
          <a:noFill/>
          <a:ln/>
        </p:spPr>
        <p:txBody>
          <a:bodyPr wrap="square" lIns="0" tIns="0" rIns="0" bIns="0" rtlCol="0" anchor="t"/>
          <a:lstStyle/>
          <a:p>
            <a:pPr algn="ctr" indent="0" marL="0">
              <a:buNone/>
            </a:pPr>
            <a:r>
              <a:rPr lang="en-US" sz="2800" b="1" dirty="0">
                <a:solidFill>
                  <a:srgbClr val="B3181E"/>
                </a:solidFill>
                <a:latin typeface="Aptos Display" pitchFamily="34" charset="0"/>
                <a:ea typeface="Aptos Display" pitchFamily="34" charset="-122"/>
                <a:cs typeface="Aptos Display" pitchFamily="34" charset="-120"/>
              </a:rPr>
              <a:t>9 de 9</a:t>
            </a:r>
            <a:endParaRPr lang="en-US" sz="2800" dirty="0"/>
          </a:p>
        </p:txBody>
      </p:sp>
      <p:sp>
        <p:nvSpPr>
          <p:cNvPr id="31" name="Text 28"/>
          <p:cNvSpPr txBox="1"/>
          <p:nvPr/>
        </p:nvSpPr>
        <p:spPr>
          <a:xfrm>
            <a:off x="658368" y="5084064"/>
            <a:ext cx="2377440" cy="219456"/>
          </a:xfrm>
          <a:prstGeom prst="rect">
            <a:avLst/>
          </a:prstGeom>
          <a:noFill/>
          <a:ln/>
        </p:spPr>
        <p:txBody>
          <a:bodyPr wrap="square" lIns="0" tIns="0" rIns="0" bIns="0" rtlCol="0" anchor="t"/>
          <a:lstStyle/>
          <a:p>
            <a:pPr algn="ctr" indent="0" marL="0">
              <a:buNone/>
            </a:pPr>
            <a:r>
              <a:rPr lang="en-US" sz="1020" dirty="0">
                <a:solidFill>
                  <a:srgbClr val="B3181E"/>
                </a:solidFill>
                <a:latin typeface="Aptos" pitchFamily="34" charset="0"/>
                <a:ea typeface="Aptos" pitchFamily="34" charset="-122"/>
                <a:cs typeface="Aptos" pitchFamily="34" charset="-120"/>
              </a:rPr>
              <a:t>recibieron una prueba</a:t>
            </a:r>
            <a:endParaRPr lang="en-US" sz="1020" dirty="0"/>
          </a:p>
        </p:txBody>
      </p:sp>
      <p:sp>
        <p:nvSpPr>
          <p:cNvPr id="32" name="Text 29"/>
          <p:cNvSpPr txBox="1"/>
          <p:nvPr/>
        </p:nvSpPr>
        <p:spPr>
          <a:xfrm>
            <a:off x="3291840" y="4608576"/>
            <a:ext cx="4480560" cy="822960"/>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Ninguno quedó aceptado, transferido ni con plan de contingencia. Se le pidió un plan de pruebas y respondió en el idioma de lo que se le pidió. Pero si los nueve exigen pruebas, el registro dejó de priorizar.</a:t>
            </a:r>
            <a:endParaRPr lang="en-US" sz="1120" dirty="0"/>
          </a:p>
        </p:txBody>
      </p:sp>
      <p:sp>
        <p:nvSpPr>
          <p:cNvPr id="33" name="Shape 30"/>
          <p:cNvSpPr/>
          <p:nvPr/>
        </p:nvSpPr>
        <p:spPr>
          <a:xfrm>
            <a:off x="8028432" y="4553712"/>
            <a:ext cx="3502152" cy="914400"/>
          </a:xfrm>
          <a:prstGeom prst="rect">
            <a:avLst/>
          </a:prstGeom>
          <a:solidFill>
            <a:srgbClr val="1D3A57"/>
          </a:solidFill>
          <a:ln w="12700">
            <a:solidFill>
              <a:srgbClr val="1D3A57"/>
            </a:solidFill>
            <a:prstDash val="solid"/>
          </a:ln>
        </p:spPr>
      </p:sp>
      <p:sp>
        <p:nvSpPr>
          <p:cNvPr id="34" name="Text 31"/>
          <p:cNvSpPr txBox="1"/>
          <p:nvPr/>
        </p:nvSpPr>
        <p:spPr>
          <a:xfrm>
            <a:off x="8247888" y="4645152"/>
            <a:ext cx="3063240" cy="731520"/>
          </a:xfrm>
          <a:prstGeom prst="rect">
            <a:avLst/>
          </a:prstGeom>
          <a:noFill/>
          <a:ln/>
        </p:spPr>
        <p:txBody>
          <a:bodyPr wrap="square" lIns="0" tIns="0" rIns="0" bIns="0" rtlCol="0" anchor="t"/>
          <a:lstStyle/>
          <a:p>
            <a:pPr algn="l" indent="0" marL="0">
              <a:lnSpc>
                <a:spcPct val="114000"/>
              </a:lnSpc>
              <a:buNone/>
            </a:pPr>
            <a:r>
              <a:rPr lang="en-US" sz="1200" b="1" dirty="0">
                <a:solidFill>
                  <a:srgbClr val="FFFFFF"/>
                </a:solidFill>
                <a:latin typeface="Aptos" pitchFamily="34" charset="0"/>
                <a:ea typeface="Aptos" pitchFamily="34" charset="-122"/>
                <a:cs typeface="Aptos" pitchFamily="34" charset="-120"/>
              </a:rPr>
              <a:t>La decisión que no se delega no es cuáles riesgos existen. Es cuáles se aceptan.</a:t>
            </a:r>
            <a:endParaRPr lang="en-US" sz="1200" dirty="0"/>
          </a:p>
        </p:txBody>
      </p:sp>
      <p:sp>
        <p:nvSpPr>
          <p:cNvPr id="35" name="Shape 32"/>
          <p:cNvSpPr/>
          <p:nvPr/>
        </p:nvSpPr>
        <p:spPr>
          <a:xfrm>
            <a:off x="658368" y="5669280"/>
            <a:ext cx="10874959" cy="457200"/>
          </a:xfrm>
          <a:prstGeom prst="rect">
            <a:avLst/>
          </a:prstGeom>
          <a:solidFill>
            <a:srgbClr val="102A43"/>
          </a:solidFill>
          <a:ln w="12700">
            <a:solidFill>
              <a:srgbClr val="102A43"/>
            </a:solidFill>
            <a:prstDash val="solid"/>
          </a:ln>
        </p:spPr>
      </p:sp>
      <p:sp>
        <p:nvSpPr>
          <p:cNvPr id="36" name="Text 33"/>
          <p:cNvSpPr txBox="1"/>
          <p:nvPr/>
        </p:nvSpPr>
        <p:spPr>
          <a:xfrm>
            <a:off x="950976" y="570585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Aceptar un riesgo es una decisión sobre cuánto daño se admite.</a:t>
            </a:r>
            <a:endParaRPr lang="en-US" sz="13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trazar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RP-01 se ejecutó y falló, así que su probabilidad es uno. Un compañero propone subirlo a nivel máximo en el registro y seguir. ¿Qué se pierde al dejarlo ahí?</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Un riesgo se prioriza; un defecto confirmado se corrige o se acepta. Son decisiones distintas.</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Siete de veinte pruebas están sobre una función de una línea. ¿Hay que borrar pruebas de esa función, y qué distingue una suite desbalanceada de una con pruebas de más?</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Pregúntate si al borrar tres de esas siete se pierde alguna partición o algún límite.</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agente asignó una prueba a los nueve riesgos de producto. Si tuvieras que quedarte con cuatro, ¿qué información necesitas para elegir, y está en el código?</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No depende de qué tan probable es cada fallo, que ya está estimado. Depende de cuánto daño admites.</a:t>
            </a:r>
            <a:endParaRPr lang="en-US" sz="11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SE PIERDE LA ACCIÓN QUE CORRESPONDE</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Un defecto confirmado no se prioriza: se corrige, o se acepta con una decisión escrita.</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El registro de riesgos se acorta cada vez que algo se ejecuta y se confirma.</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Dejar en el registro filas que ya son hechos, y creer que el registro sigue vigente.</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NO HAY QUE BORRAR NADA</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Esas siete cubren particiones y límites bien elegidos. El problema es lo que falta, no lo que sobra.</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El reparto del esfuerzo nunca fue una decisión: siguió al costo de probar.</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Leer la tabla como una invitación a recortar en vez de a agregar donde hay ceros.</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NECESITAS CUÁNTO DAÑO ADMITES</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 probabilidad y el impacto ya están estimados; lo que falta es el umbral de lo tolerable.</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Ese umbral no es un dato técnico y no está en ninguna parte del repositorio.</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Esperar que el agente decida qué riesgos se aceptan, que es justo lo que no puede decidir.</a:t>
            </a:r>
            <a:endParaRPr lang="en-US" sz="10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28</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3 DE 4 · 30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La trazabilidad se genera, no se escribe</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Si el identificador del requisito vive dentro de la prueba, la relación entre ambos deja de ser una afirmación de un documento y pasa a ser un dato que se extrae de la suite, hoy y mañana.</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DECLARAR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se prueba y qué queda fuera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PRIORIZAR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Dónde duele más un fallo</a:t>
            </a:r>
            <a:endParaRPr lang="en-US" sz="920" dirty="0"/>
          </a:p>
        </p:txBody>
      </p:sp>
      <p:sp>
        <p:nvSpPr>
          <p:cNvPr id="20" name="Shape 17"/>
          <p:cNvSpPr/>
          <p:nvPr/>
        </p:nvSpPr>
        <p:spPr>
          <a:xfrm>
            <a:off x="6159856" y="4901184"/>
            <a:ext cx="2622728" cy="786384"/>
          </a:xfrm>
          <a:prstGeom prst="rect">
            <a:avLst/>
          </a:prstGeom>
          <a:solidFill>
            <a:srgbClr val="D62027"/>
          </a:solidFill>
          <a:ln w="12700">
            <a:solidFill>
              <a:srgbClr val="D6202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TRAZAR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Qué prueba responde a qué requisito</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COMPROBAR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Que la traza sea verdadera</a:t>
            </a:r>
            <a:endParaRPr lang="en-US" sz="9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ARTEFACTO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Una matriz escrita a mano miente sin avisar</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norma admite «documento, planilla u otra herramienta», y permite distinta información, formato y nivel de detalle.</a:t>
            </a:r>
            <a:endParaRPr lang="en-US" sz="1420" dirty="0"/>
          </a:p>
        </p:txBody>
      </p:sp>
      <p:sp>
        <p:nvSpPr>
          <p:cNvPr id="11" name="Shape 8"/>
          <p:cNvSpPr/>
          <p:nvPr/>
        </p:nvSpPr>
        <p:spPr>
          <a:xfrm>
            <a:off x="658368" y="2231136"/>
            <a:ext cx="10874959" cy="713232"/>
          </a:xfrm>
          <a:prstGeom prst="rect">
            <a:avLst/>
          </a:prstGeom>
          <a:solidFill>
            <a:srgbClr val="FFFFFF"/>
          </a:solidFill>
          <a:ln w="12700">
            <a:solidFill>
              <a:srgbClr val="FFFFFF"/>
            </a:solidFill>
            <a:prstDash val="solid"/>
          </a:ln>
        </p:spPr>
      </p:sp>
      <p:sp>
        <p:nvSpPr>
          <p:cNvPr id="12" name="Shape 9"/>
          <p:cNvSpPr/>
          <p:nvPr/>
        </p:nvSpPr>
        <p:spPr>
          <a:xfrm>
            <a:off x="658368" y="2231136"/>
            <a:ext cx="54864" cy="713232"/>
          </a:xfrm>
          <a:prstGeom prst="rect">
            <a:avLst/>
          </a:prstGeom>
          <a:solidFill>
            <a:srgbClr val="102A43"/>
          </a:solidFill>
          <a:ln w="12700">
            <a:solidFill>
              <a:srgbClr val="102A43"/>
            </a:solidFill>
            <a:prstDash val="solid"/>
          </a:ln>
        </p:spPr>
      </p:sp>
      <p:sp>
        <p:nvSpPr>
          <p:cNvPr id="13" name="Text 10"/>
          <p:cNvSpPr txBox="1"/>
          <p:nvPr/>
        </p:nvSpPr>
        <p:spPr>
          <a:xfrm>
            <a:off x="896112" y="2359152"/>
            <a:ext cx="10417759"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MATRIZ DE TRAZABILIDAD · CLÁUSULA 3.26 · TRADUCCIÓN DEL INGLÉS</a:t>
            </a:r>
            <a:endParaRPr lang="en-US" sz="920" dirty="0"/>
          </a:p>
        </p:txBody>
      </p:sp>
      <p:sp>
        <p:nvSpPr>
          <p:cNvPr id="14" name="Text 11"/>
          <p:cNvSpPr txBox="1"/>
          <p:nvPr/>
        </p:nvSpPr>
        <p:spPr>
          <a:xfrm>
            <a:off x="896112" y="2615184"/>
            <a:ext cx="10417759" cy="219456"/>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Herramienta usada para identificar elementos relacionados entre la documentación y el software, como requisitos con sus pruebas asociadas.</a:t>
            </a:r>
            <a:endParaRPr lang="en-US" sz="1210" dirty="0"/>
          </a:p>
        </p:txBody>
      </p:sp>
      <p:sp>
        <p:nvSpPr>
          <p:cNvPr id="15" name="Text 12"/>
          <p:cNvSpPr txBox="1"/>
          <p:nvPr/>
        </p:nvSpPr>
        <p:spPr>
          <a:xfrm>
            <a:off x="658368" y="3072384"/>
            <a:ext cx="54864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LA MISMA MATRIZ, TREINTA DÍAS DESPUÉS</a:t>
            </a:r>
            <a:endParaRPr lang="en-US" sz="960" dirty="0"/>
          </a:p>
        </p:txBody>
      </p:sp>
      <p:sp>
        <p:nvSpPr>
          <p:cNvPr id="16" name="Text 13"/>
          <p:cNvSpPr txBox="1"/>
          <p:nvPr/>
        </p:nvSpPr>
        <p:spPr>
          <a:xfrm>
            <a:off x="658368" y="3456432"/>
            <a:ext cx="3108960" cy="274320"/>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Escrita a mano</a:t>
            </a:r>
            <a:endParaRPr lang="en-US" sz="1300" dirty="0"/>
          </a:p>
        </p:txBody>
      </p:sp>
      <p:sp>
        <p:nvSpPr>
          <p:cNvPr id="17" name="Shape 14"/>
          <p:cNvSpPr/>
          <p:nvPr/>
        </p:nvSpPr>
        <p:spPr>
          <a:xfrm>
            <a:off x="3931920" y="3346704"/>
            <a:ext cx="1828800" cy="493776"/>
          </a:xfrm>
          <a:prstGeom prst="rect">
            <a:avLst/>
          </a:prstGeom>
          <a:solidFill>
            <a:srgbClr val="2E7D4F"/>
          </a:solidFill>
          <a:ln w="12700">
            <a:solidFill>
              <a:srgbClr val="2E7D4F"/>
            </a:solidFill>
            <a:prstDash val="solid"/>
          </a:ln>
        </p:spPr>
      </p:sp>
      <p:sp>
        <p:nvSpPr>
          <p:cNvPr id="18" name="Text 15"/>
          <p:cNvSpPr txBox="1"/>
          <p:nvPr/>
        </p:nvSpPr>
        <p:spPr>
          <a:xfrm>
            <a:off x="4005072" y="3401568"/>
            <a:ext cx="1682496" cy="384048"/>
          </a:xfrm>
          <a:prstGeom prst="rect">
            <a:avLst/>
          </a:prstGeom>
          <a:noFill/>
          <a:ln/>
        </p:spPr>
        <p:txBody>
          <a:bodyPr wrap="square" lIns="0" tIns="0" rIns="0" bIns="0" rtlCol="0" anchor="ctr"/>
          <a:lstStyle/>
          <a:p>
            <a:pPr algn="ctr" indent="0" marL="0">
              <a:buNone/>
            </a:pPr>
            <a:r>
              <a:rPr lang="en-US" sz="1040" b="1" spc="90" kern="0" dirty="0">
                <a:solidFill>
                  <a:srgbClr val="FFFFFF"/>
                </a:solidFill>
                <a:latin typeface="Aptos" pitchFamily="34" charset="0"/>
                <a:ea typeface="Aptos" pitchFamily="34" charset="-122"/>
                <a:cs typeface="Aptos" pitchFamily="34" charset="-120"/>
              </a:rPr>
              <a:t>CIERTA</a:t>
            </a:r>
            <a:endParaRPr lang="en-US" sz="1040" dirty="0"/>
          </a:p>
        </p:txBody>
      </p:sp>
      <p:sp>
        <p:nvSpPr>
          <p:cNvPr id="19" name="Shape 16"/>
          <p:cNvSpPr/>
          <p:nvPr/>
        </p:nvSpPr>
        <p:spPr>
          <a:xfrm>
            <a:off x="5833872" y="3346704"/>
            <a:ext cx="1828800" cy="493776"/>
          </a:xfrm>
          <a:prstGeom prst="rect">
            <a:avLst/>
          </a:prstGeom>
          <a:solidFill>
            <a:srgbClr val="8A6A12"/>
          </a:solidFill>
          <a:ln w="12700">
            <a:solidFill>
              <a:srgbClr val="8A6A12"/>
            </a:solidFill>
            <a:prstDash val="solid"/>
          </a:ln>
        </p:spPr>
      </p:sp>
      <p:sp>
        <p:nvSpPr>
          <p:cNvPr id="20" name="Text 17"/>
          <p:cNvSpPr txBox="1"/>
          <p:nvPr/>
        </p:nvSpPr>
        <p:spPr>
          <a:xfrm>
            <a:off x="5907024" y="3401568"/>
            <a:ext cx="1682496" cy="384048"/>
          </a:xfrm>
          <a:prstGeom prst="rect">
            <a:avLst/>
          </a:prstGeom>
          <a:noFill/>
          <a:ln/>
        </p:spPr>
        <p:txBody>
          <a:bodyPr wrap="square" lIns="0" tIns="0" rIns="0" bIns="0" rtlCol="0" anchor="ctr"/>
          <a:lstStyle/>
          <a:p>
            <a:pPr algn="ctr" indent="0" marL="0">
              <a:buNone/>
            </a:pPr>
            <a:r>
              <a:rPr lang="en-US" sz="1040" b="1" spc="90" kern="0" dirty="0">
                <a:solidFill>
                  <a:srgbClr val="FFFFFF"/>
                </a:solidFill>
                <a:latin typeface="Aptos" pitchFamily="34" charset="0"/>
                <a:ea typeface="Aptos" pitchFamily="34" charset="-122"/>
                <a:cs typeface="Aptos" pitchFamily="34" charset="-120"/>
              </a:rPr>
              <a:t>DUDOSA</a:t>
            </a:r>
            <a:endParaRPr lang="en-US" sz="1040" dirty="0"/>
          </a:p>
        </p:txBody>
      </p:sp>
      <p:sp>
        <p:nvSpPr>
          <p:cNvPr id="21" name="Shape 18"/>
          <p:cNvSpPr/>
          <p:nvPr/>
        </p:nvSpPr>
        <p:spPr>
          <a:xfrm>
            <a:off x="7735824" y="3346704"/>
            <a:ext cx="1828800" cy="493776"/>
          </a:xfrm>
          <a:prstGeom prst="rect">
            <a:avLst/>
          </a:prstGeom>
          <a:solidFill>
            <a:srgbClr val="B3181E"/>
          </a:solidFill>
          <a:ln w="12700">
            <a:solidFill>
              <a:srgbClr val="B3181E"/>
            </a:solidFill>
            <a:prstDash val="solid"/>
          </a:ln>
        </p:spPr>
      </p:sp>
      <p:sp>
        <p:nvSpPr>
          <p:cNvPr id="22" name="Text 19"/>
          <p:cNvSpPr txBox="1"/>
          <p:nvPr/>
        </p:nvSpPr>
        <p:spPr>
          <a:xfrm>
            <a:off x="7808976" y="3401568"/>
            <a:ext cx="1682496" cy="384048"/>
          </a:xfrm>
          <a:prstGeom prst="rect">
            <a:avLst/>
          </a:prstGeom>
          <a:noFill/>
          <a:ln/>
        </p:spPr>
        <p:txBody>
          <a:bodyPr wrap="square" lIns="0" tIns="0" rIns="0" bIns="0" rtlCol="0" anchor="ctr"/>
          <a:lstStyle/>
          <a:p>
            <a:pPr algn="ctr" indent="0" marL="0">
              <a:buNone/>
            </a:pPr>
            <a:r>
              <a:rPr lang="en-US" sz="1040" b="1" spc="90" kern="0" dirty="0">
                <a:solidFill>
                  <a:srgbClr val="FFFFFF"/>
                </a:solidFill>
                <a:latin typeface="Aptos" pitchFamily="34" charset="0"/>
                <a:ea typeface="Aptos" pitchFamily="34" charset="-122"/>
                <a:cs typeface="Aptos" pitchFamily="34" charset="-120"/>
              </a:rPr>
              <a:t>FALSA</a:t>
            </a:r>
            <a:endParaRPr lang="en-US" sz="1040" dirty="0"/>
          </a:p>
        </p:txBody>
      </p:sp>
      <p:sp>
        <p:nvSpPr>
          <p:cNvPr id="23" name="Shape 20"/>
          <p:cNvSpPr/>
          <p:nvPr/>
        </p:nvSpPr>
        <p:spPr>
          <a:xfrm>
            <a:off x="9637776" y="3346704"/>
            <a:ext cx="1828800" cy="493776"/>
          </a:xfrm>
          <a:prstGeom prst="rect">
            <a:avLst/>
          </a:prstGeom>
          <a:solidFill>
            <a:srgbClr val="B3181E"/>
          </a:solidFill>
          <a:ln w="12700">
            <a:solidFill>
              <a:srgbClr val="B3181E"/>
            </a:solidFill>
            <a:prstDash val="solid"/>
          </a:ln>
        </p:spPr>
      </p:sp>
      <p:sp>
        <p:nvSpPr>
          <p:cNvPr id="24" name="Text 21"/>
          <p:cNvSpPr txBox="1"/>
          <p:nvPr/>
        </p:nvSpPr>
        <p:spPr>
          <a:xfrm>
            <a:off x="9710928" y="3401568"/>
            <a:ext cx="1682496" cy="384048"/>
          </a:xfrm>
          <a:prstGeom prst="rect">
            <a:avLst/>
          </a:prstGeom>
          <a:noFill/>
          <a:ln/>
        </p:spPr>
        <p:txBody>
          <a:bodyPr wrap="square" lIns="0" tIns="0" rIns="0" bIns="0" rtlCol="0" anchor="ctr"/>
          <a:lstStyle/>
          <a:p>
            <a:pPr algn="ctr" indent="0" marL="0">
              <a:buNone/>
            </a:pPr>
            <a:r>
              <a:rPr lang="en-US" sz="1040" b="1" spc="90" kern="0" dirty="0">
                <a:solidFill>
                  <a:srgbClr val="FFFFFF"/>
                </a:solidFill>
                <a:latin typeface="Aptos" pitchFamily="34" charset="0"/>
                <a:ea typeface="Aptos" pitchFamily="34" charset="-122"/>
                <a:cs typeface="Aptos" pitchFamily="34" charset="-120"/>
              </a:rPr>
              <a:t>FALSA</a:t>
            </a:r>
            <a:endParaRPr lang="en-US" sz="1040" dirty="0"/>
          </a:p>
        </p:txBody>
      </p:sp>
      <p:sp>
        <p:nvSpPr>
          <p:cNvPr id="25" name="Text 22"/>
          <p:cNvSpPr txBox="1"/>
          <p:nvPr/>
        </p:nvSpPr>
        <p:spPr>
          <a:xfrm>
            <a:off x="658368" y="4206240"/>
            <a:ext cx="3108960" cy="274320"/>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Generada desde la suite</a:t>
            </a:r>
            <a:endParaRPr lang="en-US" sz="1300" dirty="0"/>
          </a:p>
        </p:txBody>
      </p:sp>
      <p:sp>
        <p:nvSpPr>
          <p:cNvPr id="26" name="Shape 23"/>
          <p:cNvSpPr/>
          <p:nvPr/>
        </p:nvSpPr>
        <p:spPr>
          <a:xfrm>
            <a:off x="3931920" y="4096512"/>
            <a:ext cx="1828800" cy="493776"/>
          </a:xfrm>
          <a:prstGeom prst="rect">
            <a:avLst/>
          </a:prstGeom>
          <a:solidFill>
            <a:srgbClr val="2E7D4F"/>
          </a:solidFill>
          <a:ln w="12700">
            <a:solidFill>
              <a:srgbClr val="2E7D4F"/>
            </a:solidFill>
            <a:prstDash val="solid"/>
          </a:ln>
        </p:spPr>
      </p:sp>
      <p:sp>
        <p:nvSpPr>
          <p:cNvPr id="27" name="Text 24"/>
          <p:cNvSpPr txBox="1"/>
          <p:nvPr/>
        </p:nvSpPr>
        <p:spPr>
          <a:xfrm>
            <a:off x="4005072" y="4151376"/>
            <a:ext cx="1682496" cy="384048"/>
          </a:xfrm>
          <a:prstGeom prst="rect">
            <a:avLst/>
          </a:prstGeom>
          <a:noFill/>
          <a:ln/>
        </p:spPr>
        <p:txBody>
          <a:bodyPr wrap="square" lIns="0" tIns="0" rIns="0" bIns="0" rtlCol="0" anchor="ctr"/>
          <a:lstStyle/>
          <a:p>
            <a:pPr algn="ctr" indent="0" marL="0">
              <a:buNone/>
            </a:pPr>
            <a:r>
              <a:rPr lang="en-US" sz="1040" b="1" spc="90" kern="0" dirty="0">
                <a:solidFill>
                  <a:srgbClr val="FFFFFF"/>
                </a:solidFill>
                <a:latin typeface="Aptos" pitchFamily="34" charset="0"/>
                <a:ea typeface="Aptos" pitchFamily="34" charset="-122"/>
                <a:cs typeface="Aptos" pitchFamily="34" charset="-120"/>
              </a:rPr>
              <a:t>CIERTA</a:t>
            </a:r>
            <a:endParaRPr lang="en-US" sz="1040" dirty="0"/>
          </a:p>
        </p:txBody>
      </p:sp>
      <p:sp>
        <p:nvSpPr>
          <p:cNvPr id="28" name="Shape 25"/>
          <p:cNvSpPr/>
          <p:nvPr/>
        </p:nvSpPr>
        <p:spPr>
          <a:xfrm>
            <a:off x="5833872" y="4096512"/>
            <a:ext cx="1828800" cy="493776"/>
          </a:xfrm>
          <a:prstGeom prst="rect">
            <a:avLst/>
          </a:prstGeom>
          <a:solidFill>
            <a:srgbClr val="2E7D4F"/>
          </a:solidFill>
          <a:ln w="12700">
            <a:solidFill>
              <a:srgbClr val="2E7D4F"/>
            </a:solidFill>
            <a:prstDash val="solid"/>
          </a:ln>
        </p:spPr>
      </p:sp>
      <p:sp>
        <p:nvSpPr>
          <p:cNvPr id="29" name="Text 26"/>
          <p:cNvSpPr txBox="1"/>
          <p:nvPr/>
        </p:nvSpPr>
        <p:spPr>
          <a:xfrm>
            <a:off x="5907024" y="4151376"/>
            <a:ext cx="1682496" cy="384048"/>
          </a:xfrm>
          <a:prstGeom prst="rect">
            <a:avLst/>
          </a:prstGeom>
          <a:noFill/>
          <a:ln/>
        </p:spPr>
        <p:txBody>
          <a:bodyPr wrap="square" lIns="0" tIns="0" rIns="0" bIns="0" rtlCol="0" anchor="ctr"/>
          <a:lstStyle/>
          <a:p>
            <a:pPr algn="ctr" indent="0" marL="0">
              <a:buNone/>
            </a:pPr>
            <a:r>
              <a:rPr lang="en-US" sz="1040" b="1" spc="90" kern="0" dirty="0">
                <a:solidFill>
                  <a:srgbClr val="FFFFFF"/>
                </a:solidFill>
                <a:latin typeface="Aptos" pitchFamily="34" charset="0"/>
                <a:ea typeface="Aptos" pitchFamily="34" charset="-122"/>
                <a:cs typeface="Aptos" pitchFamily="34" charset="-120"/>
              </a:rPr>
              <a:t>CIERTA</a:t>
            </a:r>
            <a:endParaRPr lang="en-US" sz="1040" dirty="0"/>
          </a:p>
        </p:txBody>
      </p:sp>
      <p:sp>
        <p:nvSpPr>
          <p:cNvPr id="30" name="Shape 27"/>
          <p:cNvSpPr/>
          <p:nvPr/>
        </p:nvSpPr>
        <p:spPr>
          <a:xfrm>
            <a:off x="7735824" y="4096512"/>
            <a:ext cx="1828800" cy="493776"/>
          </a:xfrm>
          <a:prstGeom prst="rect">
            <a:avLst/>
          </a:prstGeom>
          <a:solidFill>
            <a:srgbClr val="2E7D4F"/>
          </a:solidFill>
          <a:ln w="12700">
            <a:solidFill>
              <a:srgbClr val="2E7D4F"/>
            </a:solidFill>
            <a:prstDash val="solid"/>
          </a:ln>
        </p:spPr>
      </p:sp>
      <p:sp>
        <p:nvSpPr>
          <p:cNvPr id="31" name="Text 28"/>
          <p:cNvSpPr txBox="1"/>
          <p:nvPr/>
        </p:nvSpPr>
        <p:spPr>
          <a:xfrm>
            <a:off x="7808976" y="4151376"/>
            <a:ext cx="1682496" cy="384048"/>
          </a:xfrm>
          <a:prstGeom prst="rect">
            <a:avLst/>
          </a:prstGeom>
          <a:noFill/>
          <a:ln/>
        </p:spPr>
        <p:txBody>
          <a:bodyPr wrap="square" lIns="0" tIns="0" rIns="0" bIns="0" rtlCol="0" anchor="ctr"/>
          <a:lstStyle/>
          <a:p>
            <a:pPr algn="ctr" indent="0" marL="0">
              <a:buNone/>
            </a:pPr>
            <a:r>
              <a:rPr lang="en-US" sz="1040" b="1" spc="90" kern="0" dirty="0">
                <a:solidFill>
                  <a:srgbClr val="FFFFFF"/>
                </a:solidFill>
                <a:latin typeface="Aptos" pitchFamily="34" charset="0"/>
                <a:ea typeface="Aptos" pitchFamily="34" charset="-122"/>
                <a:cs typeface="Aptos" pitchFamily="34" charset="-120"/>
              </a:rPr>
              <a:t>CIERTA</a:t>
            </a:r>
            <a:endParaRPr lang="en-US" sz="1040" dirty="0"/>
          </a:p>
        </p:txBody>
      </p:sp>
      <p:sp>
        <p:nvSpPr>
          <p:cNvPr id="32" name="Shape 29"/>
          <p:cNvSpPr/>
          <p:nvPr/>
        </p:nvSpPr>
        <p:spPr>
          <a:xfrm>
            <a:off x="9637776" y="4096512"/>
            <a:ext cx="1828800" cy="493776"/>
          </a:xfrm>
          <a:prstGeom prst="rect">
            <a:avLst/>
          </a:prstGeom>
          <a:solidFill>
            <a:srgbClr val="2E7D4F"/>
          </a:solidFill>
          <a:ln w="12700">
            <a:solidFill>
              <a:srgbClr val="2E7D4F"/>
            </a:solidFill>
            <a:prstDash val="solid"/>
          </a:ln>
        </p:spPr>
      </p:sp>
      <p:sp>
        <p:nvSpPr>
          <p:cNvPr id="33" name="Text 30"/>
          <p:cNvSpPr txBox="1"/>
          <p:nvPr/>
        </p:nvSpPr>
        <p:spPr>
          <a:xfrm>
            <a:off x="9710928" y="4151376"/>
            <a:ext cx="1682496" cy="384048"/>
          </a:xfrm>
          <a:prstGeom prst="rect">
            <a:avLst/>
          </a:prstGeom>
          <a:noFill/>
          <a:ln/>
        </p:spPr>
        <p:txBody>
          <a:bodyPr wrap="square" lIns="0" tIns="0" rIns="0" bIns="0" rtlCol="0" anchor="ctr"/>
          <a:lstStyle/>
          <a:p>
            <a:pPr algn="ctr" indent="0" marL="0">
              <a:buNone/>
            </a:pPr>
            <a:r>
              <a:rPr lang="en-US" sz="1040" b="1" spc="90" kern="0" dirty="0">
                <a:solidFill>
                  <a:srgbClr val="FFFFFF"/>
                </a:solidFill>
                <a:latin typeface="Aptos" pitchFamily="34" charset="0"/>
                <a:ea typeface="Aptos" pitchFamily="34" charset="-122"/>
                <a:cs typeface="Aptos" pitchFamily="34" charset="-120"/>
              </a:rPr>
              <a:t>CIERTA</a:t>
            </a:r>
            <a:endParaRPr lang="en-US" sz="1040" dirty="0"/>
          </a:p>
        </p:txBody>
      </p:sp>
      <p:sp>
        <p:nvSpPr>
          <p:cNvPr id="34" name="Text 31"/>
          <p:cNvSpPr txBox="1"/>
          <p:nvPr/>
        </p:nvSpPr>
        <p:spPr>
          <a:xfrm>
            <a:off x="3931920" y="4882896"/>
            <a:ext cx="1828800" cy="219456"/>
          </a:xfrm>
          <a:prstGeom prst="rect">
            <a:avLst/>
          </a:prstGeom>
          <a:noFill/>
          <a:ln/>
        </p:spPr>
        <p:txBody>
          <a:bodyPr wrap="square" lIns="0" tIns="0" rIns="0" bIns="0" rtlCol="0" anchor="t"/>
          <a:lstStyle/>
          <a:p>
            <a:pPr algn="ctr" indent="0" marL="0">
              <a:buNone/>
            </a:pPr>
            <a:r>
              <a:rPr lang="en-US" sz="1000" dirty="0">
                <a:solidFill>
                  <a:srgbClr val="52606D"/>
                </a:solidFill>
                <a:latin typeface="Aptos" pitchFamily="34" charset="0"/>
                <a:ea typeface="Aptos" pitchFamily="34" charset="-122"/>
                <a:cs typeface="Aptos" pitchFamily="34" charset="-120"/>
              </a:rPr>
              <a:t>día 1</a:t>
            </a:r>
            <a:endParaRPr lang="en-US" sz="1000" dirty="0"/>
          </a:p>
        </p:txBody>
      </p:sp>
      <p:sp>
        <p:nvSpPr>
          <p:cNvPr id="35" name="Text 32"/>
          <p:cNvSpPr txBox="1"/>
          <p:nvPr/>
        </p:nvSpPr>
        <p:spPr>
          <a:xfrm>
            <a:off x="5833872" y="4882896"/>
            <a:ext cx="1828800" cy="219456"/>
          </a:xfrm>
          <a:prstGeom prst="rect">
            <a:avLst/>
          </a:prstGeom>
          <a:noFill/>
          <a:ln/>
        </p:spPr>
        <p:txBody>
          <a:bodyPr wrap="square" lIns="0" tIns="0" rIns="0" bIns="0" rtlCol="0" anchor="t"/>
          <a:lstStyle/>
          <a:p>
            <a:pPr algn="ctr" indent="0" marL="0">
              <a:buNone/>
            </a:pPr>
            <a:r>
              <a:rPr lang="en-US" sz="1000" dirty="0">
                <a:solidFill>
                  <a:srgbClr val="52606D"/>
                </a:solidFill>
                <a:latin typeface="Aptos" pitchFamily="34" charset="0"/>
                <a:ea typeface="Aptos" pitchFamily="34" charset="-122"/>
                <a:cs typeface="Aptos" pitchFamily="34" charset="-120"/>
              </a:rPr>
              <a:t>día 10</a:t>
            </a:r>
            <a:endParaRPr lang="en-US" sz="1000" dirty="0"/>
          </a:p>
        </p:txBody>
      </p:sp>
      <p:sp>
        <p:nvSpPr>
          <p:cNvPr id="36" name="Text 33"/>
          <p:cNvSpPr txBox="1"/>
          <p:nvPr/>
        </p:nvSpPr>
        <p:spPr>
          <a:xfrm>
            <a:off x="7735824" y="4882896"/>
            <a:ext cx="1828800" cy="219456"/>
          </a:xfrm>
          <a:prstGeom prst="rect">
            <a:avLst/>
          </a:prstGeom>
          <a:noFill/>
          <a:ln/>
        </p:spPr>
        <p:txBody>
          <a:bodyPr wrap="square" lIns="0" tIns="0" rIns="0" bIns="0" rtlCol="0" anchor="t"/>
          <a:lstStyle/>
          <a:p>
            <a:pPr algn="ctr" indent="0" marL="0">
              <a:buNone/>
            </a:pPr>
            <a:r>
              <a:rPr lang="en-US" sz="1000" dirty="0">
                <a:solidFill>
                  <a:srgbClr val="52606D"/>
                </a:solidFill>
                <a:latin typeface="Aptos" pitchFamily="34" charset="0"/>
                <a:ea typeface="Aptos" pitchFamily="34" charset="-122"/>
                <a:cs typeface="Aptos" pitchFamily="34" charset="-120"/>
              </a:rPr>
              <a:t>día 20</a:t>
            </a:r>
            <a:endParaRPr lang="en-US" sz="1000" dirty="0"/>
          </a:p>
        </p:txBody>
      </p:sp>
      <p:sp>
        <p:nvSpPr>
          <p:cNvPr id="37" name="Text 34"/>
          <p:cNvSpPr txBox="1"/>
          <p:nvPr/>
        </p:nvSpPr>
        <p:spPr>
          <a:xfrm>
            <a:off x="9637776" y="4882896"/>
            <a:ext cx="1828800" cy="219456"/>
          </a:xfrm>
          <a:prstGeom prst="rect">
            <a:avLst/>
          </a:prstGeom>
          <a:noFill/>
          <a:ln/>
        </p:spPr>
        <p:txBody>
          <a:bodyPr wrap="square" lIns="0" tIns="0" rIns="0" bIns="0" rtlCol="0" anchor="t"/>
          <a:lstStyle/>
          <a:p>
            <a:pPr algn="ctr" indent="0" marL="0">
              <a:buNone/>
            </a:pPr>
            <a:r>
              <a:rPr lang="en-US" sz="1000" dirty="0">
                <a:solidFill>
                  <a:srgbClr val="52606D"/>
                </a:solidFill>
                <a:latin typeface="Aptos" pitchFamily="34" charset="0"/>
                <a:ea typeface="Aptos" pitchFamily="34" charset="-122"/>
                <a:cs typeface="Aptos" pitchFamily="34" charset="-120"/>
              </a:rPr>
              <a:t>día 30</a:t>
            </a:r>
            <a:endParaRPr lang="en-US" sz="1000" dirty="0"/>
          </a:p>
        </p:txBody>
      </p:sp>
      <p:sp>
        <p:nvSpPr>
          <p:cNvPr id="38" name="Text 35"/>
          <p:cNvSpPr txBox="1"/>
          <p:nvPr/>
        </p:nvSpPr>
        <p:spPr>
          <a:xfrm>
            <a:off x="658368" y="5248656"/>
            <a:ext cx="10874959" cy="274320"/>
          </a:xfrm>
          <a:prstGeom prst="rect">
            <a:avLst/>
          </a:prstGeom>
          <a:noFill/>
          <a:ln/>
        </p:spPr>
        <p:txBody>
          <a:bodyPr wrap="square" lIns="0" tIns="0" rIns="0" bIns="0" rtlCol="0" anchor="t"/>
          <a:lstStyle/>
          <a:p>
            <a:pPr algn="l" indent="0" marL="0">
              <a:buNone/>
            </a:pPr>
            <a:r>
              <a:rPr lang="en-US" sz="1280" b="1" dirty="0">
                <a:solidFill>
                  <a:srgbClr val="243B53"/>
                </a:solidFill>
                <a:latin typeface="Aptos" pitchFamily="34" charset="0"/>
                <a:ea typeface="Aptos" pitchFamily="34" charset="-122"/>
                <a:cs typeface="Aptos" pitchFamily="34" charset="-120"/>
              </a:rPr>
              <a:t>La escrita a mano no avisa cuando deja de ser cierta. La generada no necesita avisar: se vuelve a producir.</a:t>
            </a:r>
            <a:endParaRPr lang="en-US" sz="1280" dirty="0"/>
          </a:p>
        </p:txBody>
      </p:sp>
      <p:sp>
        <p:nvSpPr>
          <p:cNvPr id="39" name="Shape 36"/>
          <p:cNvSpPr/>
          <p:nvPr/>
        </p:nvSpPr>
        <p:spPr>
          <a:xfrm>
            <a:off x="658368" y="5650992"/>
            <a:ext cx="10874959" cy="548640"/>
          </a:xfrm>
          <a:prstGeom prst="rect">
            <a:avLst/>
          </a:prstGeom>
          <a:solidFill>
            <a:srgbClr val="102A43"/>
          </a:solidFill>
          <a:ln w="12700">
            <a:solidFill>
              <a:srgbClr val="102A43"/>
            </a:solidFill>
            <a:prstDash val="solid"/>
          </a:ln>
        </p:spPr>
      </p:sp>
      <p:sp>
        <p:nvSpPr>
          <p:cNvPr id="40" name="Text 3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documento envejece en silencio; el artefacto se vuelve a producir.</a:t>
            </a:r>
            <a:endParaRPr lang="en-US" sz="13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DÓNDE GUARDAR LA RELACIÓN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identificador tiene que viajar con la prueba</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proyecto necesita primero lo que no tenía: requisitos con identificadores estables. Era la restricción C-03 del bloque 1.</a:t>
            </a:r>
            <a:endParaRPr lang="en-US" sz="1420" dirty="0"/>
          </a:p>
        </p:txBody>
      </p:sp>
      <p:sp>
        <p:nvSpPr>
          <p:cNvPr id="11" name="Shape 8"/>
          <p:cNvSpPr/>
          <p:nvPr/>
        </p:nvSpPr>
        <p:spPr>
          <a:xfrm>
            <a:off x="658368" y="2249424"/>
            <a:ext cx="6492240" cy="2834640"/>
          </a:xfrm>
          <a:prstGeom prst="rect">
            <a:avLst/>
          </a:prstGeom>
          <a:solidFill>
            <a:srgbClr val="FFFFFF"/>
          </a:solidFill>
          <a:ln w="12700">
            <a:solidFill>
              <a:srgbClr val="FFFFFF"/>
            </a:solidFill>
            <a:prstDash val="solid"/>
          </a:ln>
        </p:spPr>
      </p:sp>
      <p:sp>
        <p:nvSpPr>
          <p:cNvPr id="12" name="Shape 9"/>
          <p:cNvSpPr/>
          <p:nvPr/>
        </p:nvSpPr>
        <p:spPr>
          <a:xfrm>
            <a:off x="658368" y="2249424"/>
            <a:ext cx="6492240" cy="54864"/>
          </a:xfrm>
          <a:prstGeom prst="rect">
            <a:avLst/>
          </a:prstGeom>
          <a:solidFill>
            <a:srgbClr val="102A43"/>
          </a:solidFill>
          <a:ln w="12700">
            <a:solidFill>
              <a:srgbClr val="102A43"/>
            </a:solidFill>
            <a:prstDash val="solid"/>
          </a:ln>
        </p:spPr>
      </p:sp>
      <p:sp>
        <p:nvSpPr>
          <p:cNvPr id="13" name="Text 10"/>
          <p:cNvSpPr txBox="1"/>
          <p:nvPr/>
        </p:nvSpPr>
        <p:spPr>
          <a:xfrm>
            <a:off x="914400" y="2432304"/>
            <a:ext cx="4572000" cy="201168"/>
          </a:xfrm>
          <a:prstGeom prst="rect">
            <a:avLst/>
          </a:prstGeom>
          <a:noFill/>
          <a:ln/>
        </p:spPr>
        <p:txBody>
          <a:bodyPr wrap="square" lIns="0" tIns="0" rIns="0" bIns="0" rtlCol="0" anchor="t"/>
          <a:lstStyle/>
          <a:p>
            <a:pPr algn="l" indent="0" marL="0">
              <a:buNone/>
            </a:pPr>
            <a:r>
              <a:rPr lang="en-US" sz="940" b="1" spc="100" kern="0" dirty="0">
                <a:solidFill>
                  <a:srgbClr val="102A43"/>
                </a:solidFill>
                <a:latin typeface="Aptos" pitchFamily="34" charset="0"/>
                <a:ea typeface="Aptos" pitchFamily="34" charset="-122"/>
                <a:cs typeface="Aptos" pitchFamily="34" charset="-120"/>
              </a:rPr>
              <a:t>REQUISITOS DEL PROYECTO</a:t>
            </a:r>
            <a:endParaRPr lang="en-US" sz="940" dirty="0"/>
          </a:p>
        </p:txBody>
      </p:sp>
      <p:sp>
        <p:nvSpPr>
          <p:cNvPr id="14" name="Text 11"/>
          <p:cNvSpPr txBox="1"/>
          <p:nvPr/>
        </p:nvSpPr>
        <p:spPr>
          <a:xfrm>
            <a:off x="914400" y="2743200"/>
            <a:ext cx="822960" cy="237744"/>
          </a:xfrm>
          <a:prstGeom prst="rect">
            <a:avLst/>
          </a:prstGeom>
          <a:noFill/>
          <a:ln/>
        </p:spPr>
        <p:txBody>
          <a:bodyPr wrap="square" lIns="0" tIns="0" rIns="0" bIns="0" rtlCol="0" anchor="t"/>
          <a:lstStyle/>
          <a:p>
            <a:pPr algn="l" indent="0" marL="0">
              <a:buNone/>
            </a:pPr>
            <a:r>
              <a:rPr lang="en-US" sz="1100" b="1" dirty="0">
                <a:solidFill>
                  <a:srgbClr val="B3181E"/>
                </a:solidFill>
                <a:latin typeface="Consolas" pitchFamily="34" charset="0"/>
                <a:ea typeface="Consolas" pitchFamily="34" charset="-122"/>
                <a:cs typeface="Consolas" pitchFamily="34" charset="-120"/>
              </a:rPr>
              <a:t>RF-01</a:t>
            </a:r>
            <a:endParaRPr lang="en-US" sz="1100" dirty="0"/>
          </a:p>
        </p:txBody>
      </p:sp>
      <p:sp>
        <p:nvSpPr>
          <p:cNvPr id="15" name="Text 12"/>
          <p:cNvSpPr txBox="1"/>
          <p:nvPr/>
        </p:nvSpPr>
        <p:spPr>
          <a:xfrm>
            <a:off x="1847088" y="2743200"/>
            <a:ext cx="4937760" cy="237744"/>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La jornada tiene ocho bloques, del 1 al 8.</a:t>
            </a:r>
            <a:endParaRPr lang="en-US" sz="1140" dirty="0"/>
          </a:p>
        </p:txBody>
      </p:sp>
      <p:sp>
        <p:nvSpPr>
          <p:cNvPr id="16" name="Text 13"/>
          <p:cNvSpPr txBox="1"/>
          <p:nvPr/>
        </p:nvSpPr>
        <p:spPr>
          <a:xfrm>
            <a:off x="914400" y="3108960"/>
            <a:ext cx="822960" cy="237744"/>
          </a:xfrm>
          <a:prstGeom prst="rect">
            <a:avLst/>
          </a:prstGeom>
          <a:noFill/>
          <a:ln/>
        </p:spPr>
        <p:txBody>
          <a:bodyPr wrap="square" lIns="0" tIns="0" rIns="0" bIns="0" rtlCol="0" anchor="t"/>
          <a:lstStyle/>
          <a:p>
            <a:pPr algn="l" indent="0" marL="0">
              <a:buNone/>
            </a:pPr>
            <a:r>
              <a:rPr lang="en-US" sz="1100" b="1" dirty="0">
                <a:solidFill>
                  <a:srgbClr val="B3181E"/>
                </a:solidFill>
                <a:latin typeface="Consolas" pitchFamily="34" charset="0"/>
                <a:ea typeface="Consolas" pitchFamily="34" charset="-122"/>
                <a:cs typeface="Consolas" pitchFamily="34" charset="-120"/>
              </a:rPr>
              <a:t>RF-02</a:t>
            </a:r>
            <a:endParaRPr lang="en-US" sz="1100" dirty="0"/>
          </a:p>
        </p:txBody>
      </p:sp>
      <p:sp>
        <p:nvSpPr>
          <p:cNvPr id="17" name="Text 14"/>
          <p:cNvSpPr txBox="1"/>
          <p:nvPr/>
        </p:nvSpPr>
        <p:spPr>
          <a:xfrm>
            <a:off x="1847088" y="3108960"/>
            <a:ext cx="4937760" cy="237744"/>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Un bloque ya reservado no se vuelve a reservar.</a:t>
            </a:r>
            <a:endParaRPr lang="en-US" sz="1140" dirty="0"/>
          </a:p>
        </p:txBody>
      </p:sp>
      <p:sp>
        <p:nvSpPr>
          <p:cNvPr id="18" name="Text 15"/>
          <p:cNvSpPr txBox="1"/>
          <p:nvPr/>
        </p:nvSpPr>
        <p:spPr>
          <a:xfrm>
            <a:off x="914400" y="3474720"/>
            <a:ext cx="822960" cy="237744"/>
          </a:xfrm>
          <a:prstGeom prst="rect">
            <a:avLst/>
          </a:prstGeom>
          <a:noFill/>
          <a:ln/>
        </p:spPr>
        <p:txBody>
          <a:bodyPr wrap="square" lIns="0" tIns="0" rIns="0" bIns="0" rtlCol="0" anchor="t"/>
          <a:lstStyle/>
          <a:p>
            <a:pPr algn="l" indent="0" marL="0">
              <a:buNone/>
            </a:pPr>
            <a:r>
              <a:rPr lang="en-US" sz="1100" b="1" dirty="0">
                <a:solidFill>
                  <a:srgbClr val="B3181E"/>
                </a:solidFill>
                <a:latin typeface="Consolas" pitchFamily="34" charset="0"/>
                <a:ea typeface="Consolas" pitchFamily="34" charset="-122"/>
                <a:cs typeface="Consolas" pitchFamily="34" charset="-120"/>
              </a:rPr>
              <a:t>RF-03</a:t>
            </a:r>
            <a:endParaRPr lang="en-US" sz="1100" dirty="0"/>
          </a:p>
        </p:txBody>
      </p:sp>
      <p:sp>
        <p:nvSpPr>
          <p:cNvPr id="19" name="Text 16"/>
          <p:cNvSpPr txBox="1"/>
          <p:nvPr/>
        </p:nvSpPr>
        <p:spPr>
          <a:xfrm>
            <a:off x="1847088" y="3474720"/>
            <a:ext cx="4937760" cy="237744"/>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Máximo 3 reservas activas por semana.</a:t>
            </a:r>
            <a:endParaRPr lang="en-US" sz="1140" dirty="0"/>
          </a:p>
        </p:txBody>
      </p:sp>
      <p:sp>
        <p:nvSpPr>
          <p:cNvPr id="20" name="Text 17"/>
          <p:cNvSpPr txBox="1"/>
          <p:nvPr/>
        </p:nvSpPr>
        <p:spPr>
          <a:xfrm>
            <a:off x="914400" y="3840480"/>
            <a:ext cx="822960" cy="237744"/>
          </a:xfrm>
          <a:prstGeom prst="rect">
            <a:avLst/>
          </a:prstGeom>
          <a:noFill/>
          <a:ln/>
        </p:spPr>
        <p:txBody>
          <a:bodyPr wrap="square" lIns="0" tIns="0" rIns="0" bIns="0" rtlCol="0" anchor="t"/>
          <a:lstStyle/>
          <a:p>
            <a:pPr algn="l" indent="0" marL="0">
              <a:buNone/>
            </a:pPr>
            <a:r>
              <a:rPr lang="en-US" sz="1100" b="1" dirty="0">
                <a:solidFill>
                  <a:srgbClr val="B3181E"/>
                </a:solidFill>
                <a:latin typeface="Consolas" pitchFamily="34" charset="0"/>
                <a:ea typeface="Consolas" pitchFamily="34" charset="-122"/>
                <a:cs typeface="Consolas" pitchFamily="34" charset="-120"/>
              </a:rPr>
              <a:t>RF-04</a:t>
            </a:r>
            <a:endParaRPr lang="en-US" sz="1100" dirty="0"/>
          </a:p>
        </p:txBody>
      </p:sp>
      <p:sp>
        <p:nvSpPr>
          <p:cNvPr id="21" name="Text 18"/>
          <p:cNvSpPr txBox="1"/>
          <p:nvPr/>
        </p:nvSpPr>
        <p:spPr>
          <a:xfrm>
            <a:off x="1847088" y="3840480"/>
            <a:ext cx="4937760" cy="237744"/>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La sala admite entre 1 y 30 personas.</a:t>
            </a:r>
            <a:endParaRPr lang="en-US" sz="1140" dirty="0"/>
          </a:p>
        </p:txBody>
      </p:sp>
      <p:sp>
        <p:nvSpPr>
          <p:cNvPr id="22" name="Text 19"/>
          <p:cNvSpPr txBox="1"/>
          <p:nvPr/>
        </p:nvSpPr>
        <p:spPr>
          <a:xfrm>
            <a:off x="914400" y="4206240"/>
            <a:ext cx="822960" cy="237744"/>
          </a:xfrm>
          <a:prstGeom prst="rect">
            <a:avLst/>
          </a:prstGeom>
          <a:noFill/>
          <a:ln/>
        </p:spPr>
        <p:txBody>
          <a:bodyPr wrap="square" lIns="0" tIns="0" rIns="0" bIns="0" rtlCol="0" anchor="t"/>
          <a:lstStyle/>
          <a:p>
            <a:pPr algn="l" indent="0" marL="0">
              <a:buNone/>
            </a:pPr>
            <a:r>
              <a:rPr lang="en-US" sz="1100" b="1" dirty="0">
                <a:solidFill>
                  <a:srgbClr val="B3181E"/>
                </a:solidFill>
                <a:latin typeface="Consolas" pitchFamily="34" charset="0"/>
                <a:ea typeface="Consolas" pitchFamily="34" charset="-122"/>
                <a:cs typeface="Consolas" pitchFamily="34" charset="-120"/>
              </a:rPr>
              <a:t>RF-05</a:t>
            </a:r>
            <a:endParaRPr lang="en-US" sz="1100" dirty="0"/>
          </a:p>
        </p:txBody>
      </p:sp>
      <p:sp>
        <p:nvSpPr>
          <p:cNvPr id="23" name="Text 20"/>
          <p:cNvSpPr txBox="1"/>
          <p:nvPr/>
        </p:nvSpPr>
        <p:spPr>
          <a:xfrm>
            <a:off x="1847088" y="4206240"/>
            <a:ext cx="4937760" cy="237744"/>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Se cancela hasta 2 horas antes del bloque.</a:t>
            </a:r>
            <a:endParaRPr lang="en-US" sz="1140" dirty="0"/>
          </a:p>
        </p:txBody>
      </p:sp>
      <p:sp>
        <p:nvSpPr>
          <p:cNvPr id="24" name="Text 21"/>
          <p:cNvSpPr txBox="1"/>
          <p:nvPr/>
        </p:nvSpPr>
        <p:spPr>
          <a:xfrm>
            <a:off x="914400" y="4572000"/>
            <a:ext cx="822960" cy="237744"/>
          </a:xfrm>
          <a:prstGeom prst="rect">
            <a:avLst/>
          </a:prstGeom>
          <a:noFill/>
          <a:ln/>
        </p:spPr>
        <p:txBody>
          <a:bodyPr wrap="square" lIns="0" tIns="0" rIns="0" bIns="0" rtlCol="0" anchor="t"/>
          <a:lstStyle/>
          <a:p>
            <a:pPr algn="l" indent="0" marL="0">
              <a:buNone/>
            </a:pPr>
            <a:r>
              <a:rPr lang="en-US" sz="1100" b="1" dirty="0">
                <a:solidFill>
                  <a:srgbClr val="B3181E"/>
                </a:solidFill>
                <a:latin typeface="Consolas" pitchFamily="34" charset="0"/>
                <a:ea typeface="Consolas" pitchFamily="34" charset="-122"/>
                <a:cs typeface="Consolas" pitchFamily="34" charset="-120"/>
              </a:rPr>
              <a:t>RF-06</a:t>
            </a:r>
            <a:endParaRPr lang="en-US" sz="1100" dirty="0"/>
          </a:p>
        </p:txBody>
      </p:sp>
      <p:sp>
        <p:nvSpPr>
          <p:cNvPr id="25" name="Text 22"/>
          <p:cNvSpPr txBox="1"/>
          <p:nvPr/>
        </p:nvSpPr>
        <p:spPr>
          <a:xfrm>
            <a:off x="1847088" y="4572000"/>
            <a:ext cx="4937760" cy="237744"/>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Una reserva aceptada devuelve un comprobante.</a:t>
            </a:r>
            <a:endParaRPr lang="en-US" sz="1140" dirty="0"/>
          </a:p>
        </p:txBody>
      </p:sp>
      <p:sp>
        <p:nvSpPr>
          <p:cNvPr id="26" name="Shape 23"/>
          <p:cNvSpPr/>
          <p:nvPr/>
        </p:nvSpPr>
        <p:spPr>
          <a:xfrm>
            <a:off x="658368" y="5193792"/>
            <a:ext cx="45720" cy="182880"/>
          </a:xfrm>
          <a:prstGeom prst="rect">
            <a:avLst/>
          </a:prstGeom>
          <a:solidFill>
            <a:srgbClr val="8A6A12"/>
          </a:solidFill>
          <a:ln w="12700">
            <a:solidFill>
              <a:srgbClr val="8A6A12"/>
            </a:solidFill>
            <a:prstDash val="solid"/>
          </a:ln>
        </p:spPr>
      </p:sp>
      <p:sp>
        <p:nvSpPr>
          <p:cNvPr id="27" name="Text 24"/>
          <p:cNvSpPr txBox="1"/>
          <p:nvPr/>
        </p:nvSpPr>
        <p:spPr>
          <a:xfrm>
            <a:off x="804672" y="5184648"/>
            <a:ext cx="603504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El identificador no significa nada por sí mismo. Lo único que importa es que no cambie.</a:t>
            </a:r>
            <a:endParaRPr lang="en-US" sz="880" dirty="0"/>
          </a:p>
        </p:txBody>
      </p:sp>
      <p:sp>
        <p:nvSpPr>
          <p:cNvPr id="28" name="Text 25"/>
          <p:cNvSpPr txBox="1"/>
          <p:nvPr/>
        </p:nvSpPr>
        <p:spPr>
          <a:xfrm>
            <a:off x="7406640" y="2249424"/>
            <a:ext cx="41148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DOS LUGARES POSIBLES</a:t>
            </a:r>
            <a:endParaRPr lang="en-US" sz="960" dirty="0"/>
          </a:p>
        </p:txBody>
      </p:sp>
      <p:sp>
        <p:nvSpPr>
          <p:cNvPr id="29" name="Shape 26"/>
          <p:cNvSpPr/>
          <p:nvPr/>
        </p:nvSpPr>
        <p:spPr>
          <a:xfrm>
            <a:off x="7406640" y="2560320"/>
            <a:ext cx="4123944" cy="1170432"/>
          </a:xfrm>
          <a:prstGeom prst="rect">
            <a:avLst/>
          </a:prstGeom>
          <a:solidFill>
            <a:srgbClr val="F2E7D9"/>
          </a:solidFill>
          <a:ln w="12700">
            <a:solidFill>
              <a:srgbClr val="F2E7D9"/>
            </a:solidFill>
            <a:prstDash val="solid"/>
          </a:ln>
        </p:spPr>
      </p:sp>
      <p:sp>
        <p:nvSpPr>
          <p:cNvPr id="30" name="Shape 27"/>
          <p:cNvSpPr/>
          <p:nvPr/>
        </p:nvSpPr>
        <p:spPr>
          <a:xfrm>
            <a:off x="7406640" y="2560320"/>
            <a:ext cx="54864" cy="1170432"/>
          </a:xfrm>
          <a:prstGeom prst="rect">
            <a:avLst/>
          </a:prstGeom>
          <a:solidFill>
            <a:srgbClr val="B3181E"/>
          </a:solidFill>
          <a:ln w="12700">
            <a:solidFill>
              <a:srgbClr val="B3181E"/>
            </a:solidFill>
            <a:prstDash val="solid"/>
          </a:ln>
        </p:spPr>
      </p:sp>
      <p:sp>
        <p:nvSpPr>
          <p:cNvPr id="31" name="Shape 28"/>
          <p:cNvSpPr/>
          <p:nvPr/>
        </p:nvSpPr>
        <p:spPr>
          <a:xfrm>
            <a:off x="10744200" y="2706624"/>
            <a:ext cx="640080" cy="292608"/>
          </a:xfrm>
          <a:prstGeom prst="rect">
            <a:avLst/>
          </a:prstGeom>
          <a:solidFill>
            <a:srgbClr val="B3181E"/>
          </a:solidFill>
          <a:ln w="12700">
            <a:solidFill>
              <a:srgbClr val="B3181E"/>
            </a:solidFill>
            <a:prstDash val="solid"/>
          </a:ln>
        </p:spPr>
      </p:sp>
      <p:sp>
        <p:nvSpPr>
          <p:cNvPr id="32" name="Text 29"/>
          <p:cNvSpPr txBox="1"/>
          <p:nvPr/>
        </p:nvSpPr>
        <p:spPr>
          <a:xfrm>
            <a:off x="10799064" y="2752344"/>
            <a:ext cx="530352" cy="20116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No</a:t>
            </a:r>
            <a:endParaRPr lang="en-US" sz="1040" dirty="0"/>
          </a:p>
        </p:txBody>
      </p:sp>
      <p:sp>
        <p:nvSpPr>
          <p:cNvPr id="33" name="Text 30"/>
          <p:cNvSpPr txBox="1"/>
          <p:nvPr/>
        </p:nvSpPr>
        <p:spPr>
          <a:xfrm>
            <a:off x="7662672" y="2724912"/>
            <a:ext cx="2926080" cy="256032"/>
          </a:xfrm>
          <a:prstGeom prst="rect">
            <a:avLst/>
          </a:prstGeom>
          <a:noFill/>
          <a:ln/>
        </p:spPr>
        <p:txBody>
          <a:bodyPr wrap="square" lIns="0" tIns="0" rIns="0" bIns="0" rtlCol="0" anchor="t"/>
          <a:lstStyle/>
          <a:p>
            <a:pPr algn="l" indent="0" marL="0">
              <a:buNone/>
            </a:pPr>
            <a:r>
              <a:rPr lang="en-US" sz="1260" b="1" dirty="0">
                <a:solidFill>
                  <a:srgbClr val="B3181E"/>
                </a:solidFill>
                <a:latin typeface="Aptos" pitchFamily="34" charset="0"/>
                <a:ea typeface="Aptos" pitchFamily="34" charset="-122"/>
                <a:cs typeface="Aptos" pitchFamily="34" charset="-120"/>
              </a:rPr>
              <a:t>Un archivo aparte con los pares</a:t>
            </a:r>
            <a:endParaRPr lang="en-US" sz="1260" dirty="0"/>
          </a:p>
        </p:txBody>
      </p:sp>
      <p:sp>
        <p:nvSpPr>
          <p:cNvPr id="34" name="Text 31"/>
          <p:cNvSpPr txBox="1"/>
          <p:nvPr/>
        </p:nvSpPr>
        <p:spPr>
          <a:xfrm>
            <a:off x="7662672" y="3054096"/>
            <a:ext cx="3657600" cy="566928"/>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Nada obliga a actualizarlo cuando alguien renombra una prueba. Es la planilla que se desactualiza.</a:t>
            </a:r>
            <a:endParaRPr lang="en-US" sz="1060" dirty="0"/>
          </a:p>
        </p:txBody>
      </p:sp>
      <p:sp>
        <p:nvSpPr>
          <p:cNvPr id="35" name="Shape 32"/>
          <p:cNvSpPr/>
          <p:nvPr/>
        </p:nvSpPr>
        <p:spPr>
          <a:xfrm>
            <a:off x="7406640" y="3858768"/>
            <a:ext cx="4123944" cy="1170432"/>
          </a:xfrm>
          <a:prstGeom prst="rect">
            <a:avLst/>
          </a:prstGeom>
          <a:solidFill>
            <a:srgbClr val="FFFFFF"/>
          </a:solidFill>
          <a:ln w="12700">
            <a:solidFill>
              <a:srgbClr val="FFFFFF"/>
            </a:solidFill>
            <a:prstDash val="solid"/>
          </a:ln>
        </p:spPr>
      </p:sp>
      <p:sp>
        <p:nvSpPr>
          <p:cNvPr id="36" name="Shape 33"/>
          <p:cNvSpPr/>
          <p:nvPr/>
        </p:nvSpPr>
        <p:spPr>
          <a:xfrm>
            <a:off x="7406640" y="3858768"/>
            <a:ext cx="54864" cy="1170432"/>
          </a:xfrm>
          <a:prstGeom prst="rect">
            <a:avLst/>
          </a:prstGeom>
          <a:solidFill>
            <a:srgbClr val="2E7D4F"/>
          </a:solidFill>
          <a:ln w="12700">
            <a:solidFill>
              <a:srgbClr val="2E7D4F"/>
            </a:solidFill>
            <a:prstDash val="solid"/>
          </a:ln>
        </p:spPr>
      </p:sp>
      <p:sp>
        <p:nvSpPr>
          <p:cNvPr id="37" name="Shape 34"/>
          <p:cNvSpPr/>
          <p:nvPr/>
        </p:nvSpPr>
        <p:spPr>
          <a:xfrm>
            <a:off x="10744200" y="4005072"/>
            <a:ext cx="640080" cy="292608"/>
          </a:xfrm>
          <a:prstGeom prst="rect">
            <a:avLst/>
          </a:prstGeom>
          <a:solidFill>
            <a:srgbClr val="2E7D4F"/>
          </a:solidFill>
          <a:ln w="12700">
            <a:solidFill>
              <a:srgbClr val="2E7D4F"/>
            </a:solidFill>
            <a:prstDash val="solid"/>
          </a:ln>
        </p:spPr>
      </p:sp>
      <p:sp>
        <p:nvSpPr>
          <p:cNvPr id="38" name="Text 35"/>
          <p:cNvSpPr txBox="1"/>
          <p:nvPr/>
        </p:nvSpPr>
        <p:spPr>
          <a:xfrm>
            <a:off x="10799064" y="4050792"/>
            <a:ext cx="530352" cy="20116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Sí</a:t>
            </a:r>
            <a:endParaRPr lang="en-US" sz="1040" dirty="0"/>
          </a:p>
        </p:txBody>
      </p:sp>
      <p:sp>
        <p:nvSpPr>
          <p:cNvPr id="39" name="Text 36"/>
          <p:cNvSpPr txBox="1"/>
          <p:nvPr/>
        </p:nvSpPr>
        <p:spPr>
          <a:xfrm>
            <a:off x="7662672" y="4023360"/>
            <a:ext cx="2926080" cy="256032"/>
          </a:xfrm>
          <a:prstGeom prst="rect">
            <a:avLst/>
          </a:prstGeom>
          <a:noFill/>
          <a:ln/>
        </p:spPr>
        <p:txBody>
          <a:bodyPr wrap="square" lIns="0" tIns="0" rIns="0" bIns="0" rtlCol="0" anchor="t"/>
          <a:lstStyle/>
          <a:p>
            <a:pPr algn="l" indent="0" marL="0">
              <a:buNone/>
            </a:pPr>
            <a:r>
              <a:rPr lang="en-US" sz="1260" b="1" dirty="0">
                <a:solidFill>
                  <a:srgbClr val="2E7D4F"/>
                </a:solidFill>
                <a:latin typeface="Aptos" pitchFamily="34" charset="0"/>
                <a:ea typeface="Aptos" pitchFamily="34" charset="-122"/>
                <a:cs typeface="Aptos" pitchFamily="34" charset="-120"/>
              </a:rPr>
              <a:t>Dentro de la prueba misma</a:t>
            </a:r>
            <a:endParaRPr lang="en-US" sz="1260" dirty="0"/>
          </a:p>
        </p:txBody>
      </p:sp>
      <p:sp>
        <p:nvSpPr>
          <p:cNvPr id="40" name="Text 37"/>
          <p:cNvSpPr txBox="1"/>
          <p:nvPr/>
        </p:nvSpPr>
        <p:spPr>
          <a:xfrm>
            <a:off x="7662672" y="4352544"/>
            <a:ext cx="3657600" cy="566928"/>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Renombrarla, moverla o borrarla se lleva la relación consigo. No hay nada que sincronizar.</a:t>
            </a:r>
            <a:endParaRPr lang="en-US" sz="1060" dirty="0"/>
          </a:p>
        </p:txBody>
      </p:sp>
      <p:sp>
        <p:nvSpPr>
          <p:cNvPr id="41" name="Shape 38"/>
          <p:cNvSpPr/>
          <p:nvPr/>
        </p:nvSpPr>
        <p:spPr>
          <a:xfrm>
            <a:off x="658368" y="5650992"/>
            <a:ext cx="10874959" cy="548640"/>
          </a:xfrm>
          <a:prstGeom prst="rect">
            <a:avLst/>
          </a:prstGeom>
          <a:solidFill>
            <a:srgbClr val="102A43"/>
          </a:solidFill>
          <a:ln w="12700">
            <a:solidFill>
              <a:srgbClr val="102A43"/>
            </a:solidFill>
            <a:prstDash val="solid"/>
          </a:ln>
        </p:spPr>
      </p:sp>
      <p:sp>
        <p:nvSpPr>
          <p:cNvPr id="42" name="Text 3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Lo que se guarda aparte hay que mantenerlo; lo que va dentro, no.</a:t>
            </a:r>
            <a:endParaRPr lang="en-US" sz="13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SINTAXIS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 marcador es una etiqueta pegada a una prueba</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herramienta la conserva y deja consultarla después. Se escribe como decorador: una línea con arroba, encima de la función, que le agrega algo sin tocar su cuerpo.</a:t>
            </a:r>
            <a:endParaRPr lang="en-US" sz="1420" dirty="0"/>
          </a:p>
        </p:txBody>
      </p:sp>
      <p:sp>
        <p:nvSpPr>
          <p:cNvPr id="11" name="Shape 8"/>
          <p:cNvSpPr/>
          <p:nvPr/>
        </p:nvSpPr>
        <p:spPr>
          <a:xfrm>
            <a:off x="658368" y="2231136"/>
            <a:ext cx="5486400" cy="1591056"/>
          </a:xfrm>
          <a:prstGeom prst="roundRect">
            <a:avLst>
              <a:gd name="adj" fmla="val 2299"/>
            </a:avLst>
          </a:prstGeom>
          <a:solidFill>
            <a:srgbClr val="102A43"/>
          </a:solidFill>
          <a:ln w="12700">
            <a:solidFill>
              <a:srgbClr val="102A43"/>
            </a:solidFill>
            <a:prstDash val="solid"/>
          </a:ln>
        </p:spPr>
      </p:sp>
      <p:sp>
        <p:nvSpPr>
          <p:cNvPr id="12" name="Shape 9"/>
          <p:cNvSpPr/>
          <p:nvPr/>
        </p:nvSpPr>
        <p:spPr>
          <a:xfrm>
            <a:off x="786384" y="2340864"/>
            <a:ext cx="52303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14016"/>
            <a:ext cx="50109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Una marca para toda la función</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798064"/>
            <a:ext cx="5065776" cy="841248"/>
          </a:xfrm>
          <a:prstGeom prst="rect">
            <a:avLst/>
          </a:prstGeom>
        </p:spPr>
      </p:pic>
      <p:sp>
        <p:nvSpPr>
          <p:cNvPr id="15" name="Text 11"/>
          <p:cNvSpPr txBox="1"/>
          <p:nvPr/>
        </p:nvSpPr>
        <p:spPr>
          <a:xfrm>
            <a:off x="658368" y="3913632"/>
            <a:ext cx="5486400" cy="402336"/>
          </a:xfrm>
          <a:prstGeom prst="rect">
            <a:avLst/>
          </a:prstGeom>
          <a:noFill/>
          <a:ln/>
        </p:spPr>
        <p:txBody>
          <a:bodyPr wrap="square" lIns="0" tIns="0" rIns="0" bIns="0" rtlCol="0" anchor="t"/>
          <a:lstStyle/>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parametrize corre la misma prueba una vez por cada fila de valores. Sus cuatro casos comprueban el mismo requisito, así que una marca arriba alcanza.</a:t>
            </a:r>
            <a:endParaRPr lang="en-US" sz="1080" dirty="0"/>
          </a:p>
        </p:txBody>
      </p:sp>
      <p:sp>
        <p:nvSpPr>
          <p:cNvPr id="16" name="Shape 12"/>
          <p:cNvSpPr/>
          <p:nvPr/>
        </p:nvSpPr>
        <p:spPr>
          <a:xfrm>
            <a:off x="6364224" y="2231136"/>
            <a:ext cx="5175504" cy="1591056"/>
          </a:xfrm>
          <a:prstGeom prst="roundRect">
            <a:avLst>
              <a:gd name="adj" fmla="val 2299"/>
            </a:avLst>
          </a:prstGeom>
          <a:solidFill>
            <a:srgbClr val="102A43"/>
          </a:solidFill>
          <a:ln w="12700">
            <a:solidFill>
              <a:srgbClr val="102A43"/>
            </a:solidFill>
            <a:prstDash val="solid"/>
          </a:ln>
        </p:spPr>
      </p:sp>
      <p:sp>
        <p:nvSpPr>
          <p:cNvPr id="17" name="Shape 13"/>
          <p:cNvSpPr/>
          <p:nvPr/>
        </p:nvSpPr>
        <p:spPr>
          <a:xfrm>
            <a:off x="6492240" y="2340864"/>
            <a:ext cx="4919472" cy="310896"/>
          </a:xfrm>
          <a:prstGeom prst="roundRect">
            <a:avLst>
              <a:gd name="adj" fmla="val 8824"/>
            </a:avLst>
          </a:prstGeom>
          <a:solidFill>
            <a:srgbClr val="284B75"/>
          </a:solidFill>
          <a:ln w="12700">
            <a:solidFill>
              <a:srgbClr val="284B75"/>
            </a:solidFill>
            <a:prstDash val="solid"/>
          </a:ln>
        </p:spPr>
      </p:sp>
      <p:sp>
        <p:nvSpPr>
          <p:cNvPr id="18" name="Text 14"/>
          <p:cNvSpPr/>
          <p:nvPr/>
        </p:nvSpPr>
        <p:spPr>
          <a:xfrm>
            <a:off x="6601968" y="2414016"/>
            <a:ext cx="4700016"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Una marca por caso</a:t>
            </a:r>
            <a:endParaRPr lang="en-US" sz="1000" dirty="0"/>
          </a:p>
        </p:txBody>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83680" y="2798064"/>
            <a:ext cx="4754880" cy="841248"/>
          </a:xfrm>
          <a:prstGeom prst="rect">
            <a:avLst/>
          </a:prstGeom>
        </p:spPr>
      </p:pic>
      <p:sp>
        <p:nvSpPr>
          <p:cNvPr id="20" name="Text 15"/>
          <p:cNvSpPr txBox="1"/>
          <p:nvPr/>
        </p:nvSpPr>
        <p:spPr>
          <a:xfrm>
            <a:off x="6364224" y="3913632"/>
            <a:ext cx="5175504" cy="402336"/>
          </a:xfrm>
          <a:prstGeom prst="rect">
            <a:avLst/>
          </a:prstGeom>
          <a:noFill/>
          <a:ln/>
        </p:spPr>
        <p:txBody>
          <a:bodyPr wrap="square" lIns="0" tIns="0" rIns="0" bIns="0" rtlCol="0" anchor="t"/>
          <a:lstStyle/>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Aquí cada caso comprueba una regla distinta. pytest.param reemplaza la tupla y le agrega marcas a ese caso.</a:t>
            </a:r>
            <a:endParaRPr lang="en-US" sz="1080" dirty="0"/>
          </a:p>
        </p:txBody>
      </p:sp>
      <p:sp>
        <p:nvSpPr>
          <p:cNvPr id="21" name="Shape 16"/>
          <p:cNvSpPr/>
          <p:nvPr/>
        </p:nvSpPr>
        <p:spPr>
          <a:xfrm>
            <a:off x="658368" y="4462272"/>
            <a:ext cx="5486400" cy="658368"/>
          </a:xfrm>
          <a:prstGeom prst="rect">
            <a:avLst/>
          </a:prstGeom>
          <a:solidFill>
            <a:srgbClr val="EDE6DA"/>
          </a:solidFill>
          <a:ln w="12700">
            <a:solidFill>
              <a:srgbClr val="EDE6DA"/>
            </a:solidFill>
            <a:prstDash val="solid"/>
          </a:ln>
        </p:spPr>
      </p:sp>
      <p:sp>
        <p:nvSpPr>
          <p:cNvPr id="22" name="Shape 17"/>
          <p:cNvSpPr/>
          <p:nvPr/>
        </p:nvSpPr>
        <p:spPr>
          <a:xfrm>
            <a:off x="658368" y="4462272"/>
            <a:ext cx="54864" cy="658368"/>
          </a:xfrm>
          <a:prstGeom prst="rect">
            <a:avLst/>
          </a:prstGeom>
          <a:solidFill>
            <a:srgbClr val="8A6A12"/>
          </a:solidFill>
          <a:ln w="12700">
            <a:solidFill>
              <a:srgbClr val="8A6A12"/>
            </a:solidFill>
            <a:prstDash val="solid"/>
          </a:ln>
        </p:spPr>
      </p:sp>
      <p:sp>
        <p:nvSpPr>
          <p:cNvPr id="23" name="Text 18"/>
          <p:cNvSpPr txBox="1"/>
          <p:nvPr/>
        </p:nvSpPr>
        <p:spPr>
          <a:xfrm>
            <a:off x="896112" y="4553712"/>
            <a:ext cx="5029200" cy="219456"/>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Hay que declararlo en la configuración</a:t>
            </a:r>
            <a:endParaRPr lang="en-US" sz="1140" dirty="0"/>
          </a:p>
        </p:txBody>
      </p:sp>
      <p:sp>
        <p:nvSpPr>
          <p:cNvPr id="24" name="Text 19"/>
          <p:cNvSpPr txBox="1"/>
          <p:nvPr/>
        </p:nvSpPr>
        <p:spPr>
          <a:xfrm>
            <a:off x="896112" y="4791456"/>
            <a:ext cx="5029200" cy="219456"/>
          </a:xfrm>
          <a:prstGeom prst="rect">
            <a:avLst/>
          </a:prstGeom>
          <a:noFill/>
          <a:ln/>
        </p:spPr>
        <p:txBody>
          <a:bodyPr wrap="square" lIns="0" tIns="0" rIns="0" bIns="0" rtlCol="0" anchor="t"/>
          <a:lstStyle/>
          <a:p>
            <a:pPr algn="l" indent="0" marL="0">
              <a:buNone/>
            </a:pPr>
            <a:r>
              <a:rPr lang="en-US" sz="940" dirty="0">
                <a:solidFill>
                  <a:srgbClr val="52606D"/>
                </a:solidFill>
                <a:latin typeface="Consolas" pitchFamily="34" charset="0"/>
                <a:ea typeface="Consolas" pitchFamily="34" charset="-122"/>
                <a:cs typeface="Consolas" pitchFamily="34" charset="-120"/>
              </a:rPr>
              <a:t>markers = ["requisito(id): el requisito que comprueba"]</a:t>
            </a:r>
            <a:endParaRPr lang="en-US" sz="940" dirty="0"/>
          </a:p>
        </p:txBody>
      </p:sp>
      <p:sp>
        <p:nvSpPr>
          <p:cNvPr id="25" name="Shape 20"/>
          <p:cNvSpPr/>
          <p:nvPr/>
        </p:nvSpPr>
        <p:spPr>
          <a:xfrm>
            <a:off x="6364224" y="4462272"/>
            <a:ext cx="5175504" cy="658368"/>
          </a:xfrm>
          <a:prstGeom prst="rect">
            <a:avLst/>
          </a:prstGeom>
          <a:solidFill>
            <a:srgbClr val="F2E7D9"/>
          </a:solidFill>
          <a:ln w="12700">
            <a:solidFill>
              <a:srgbClr val="F2E7D9"/>
            </a:solidFill>
            <a:prstDash val="solid"/>
          </a:ln>
        </p:spPr>
      </p:sp>
      <p:sp>
        <p:nvSpPr>
          <p:cNvPr id="26" name="Shape 21"/>
          <p:cNvSpPr/>
          <p:nvPr/>
        </p:nvSpPr>
        <p:spPr>
          <a:xfrm>
            <a:off x="6364224" y="4462272"/>
            <a:ext cx="54864" cy="658368"/>
          </a:xfrm>
          <a:prstGeom prst="rect">
            <a:avLst/>
          </a:prstGeom>
          <a:solidFill>
            <a:srgbClr val="B3181E"/>
          </a:solidFill>
          <a:ln w="12700">
            <a:solidFill>
              <a:srgbClr val="B3181E"/>
            </a:solidFill>
            <a:prstDash val="solid"/>
          </a:ln>
        </p:spPr>
      </p:sp>
      <p:sp>
        <p:nvSpPr>
          <p:cNvPr id="27" name="Text 22"/>
          <p:cNvSpPr txBox="1"/>
          <p:nvPr/>
        </p:nvSpPr>
        <p:spPr>
          <a:xfrm>
            <a:off x="6601968" y="4553712"/>
            <a:ext cx="4718304" cy="219456"/>
          </a:xfrm>
          <a:prstGeom prst="rect">
            <a:avLst/>
          </a:prstGeom>
          <a:noFill/>
          <a:ln/>
        </p:spPr>
        <p:txBody>
          <a:bodyPr wrap="square" lIns="0" tIns="0" rIns="0" bIns="0" rtlCol="0" anchor="t"/>
          <a:lstStyle/>
          <a:p>
            <a:pPr algn="l" indent="0" marL="0">
              <a:buNone/>
            </a:pPr>
            <a:r>
              <a:rPr lang="en-US" sz="1140" b="1" dirty="0">
                <a:solidFill>
                  <a:srgbClr val="B3181E"/>
                </a:solidFill>
                <a:latin typeface="Aptos" pitchFamily="34" charset="0"/>
                <a:ea typeface="Aptos" pitchFamily="34" charset="-122"/>
                <a:cs typeface="Aptos" pitchFamily="34" charset="-120"/>
              </a:rPr>
              <a:t>Por qué la declaración importa</a:t>
            </a:r>
            <a:endParaRPr lang="en-US" sz="1140" dirty="0"/>
          </a:p>
        </p:txBody>
      </p:sp>
      <p:sp>
        <p:nvSpPr>
          <p:cNvPr id="28" name="Text 23"/>
          <p:cNvSpPr txBox="1"/>
          <p:nvPr/>
        </p:nvSpPr>
        <p:spPr>
          <a:xfrm>
            <a:off x="6601968" y="4791456"/>
            <a:ext cx="4718304" cy="237744"/>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Sin ella, escribir «requsito» con un error de tipeo crea un marcador nuevo y silencioso.</a:t>
            </a:r>
            <a:endParaRPr lang="en-US" sz="1040" dirty="0"/>
          </a:p>
        </p:txBody>
      </p:sp>
      <p:sp>
        <p:nvSpPr>
          <p:cNvPr id="29" name="Text 24"/>
          <p:cNvSpPr txBox="1"/>
          <p:nvPr/>
        </p:nvSpPr>
        <p:spPr>
          <a:xfrm>
            <a:off x="658368" y="5285232"/>
            <a:ext cx="10874959" cy="256032"/>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Marcar las veinte pruebas no cambia lo que hacen: la suite sigue informando 20 passed.</a:t>
            </a:r>
            <a:endParaRPr lang="en-US" sz="1240" dirty="0"/>
          </a:p>
        </p:txBody>
      </p:sp>
      <p:sp>
        <p:nvSpPr>
          <p:cNvPr id="30" name="Shape 25"/>
          <p:cNvSpPr/>
          <p:nvPr/>
        </p:nvSpPr>
        <p:spPr>
          <a:xfrm>
            <a:off x="658368" y="5650992"/>
            <a:ext cx="10874959" cy="548640"/>
          </a:xfrm>
          <a:prstGeom prst="rect">
            <a:avLst/>
          </a:prstGeom>
          <a:solidFill>
            <a:srgbClr val="102A43"/>
          </a:solidFill>
          <a:ln w="12700">
            <a:solidFill>
              <a:srgbClr val="102A43"/>
            </a:solidFill>
            <a:prstDash val="solid"/>
          </a:ln>
        </p:spPr>
      </p:sp>
      <p:sp>
        <p:nvSpPr>
          <p:cNvPr id="31" name="Text 2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trazabilidad no altera la suite. Solo agrega información legible por un programa.</a:t>
            </a:r>
            <a:endParaRPr lang="en-US" sz="13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GENERADOR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Recolectar la suite sin ejecutarla</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herramienta se puede invocar desde un programa, y avisarle a un objeto propio cuando termina de recolectar.</a:t>
            </a:r>
            <a:endParaRPr lang="en-US" sz="1420" dirty="0"/>
          </a:p>
        </p:txBody>
      </p:sp>
      <p:sp>
        <p:nvSpPr>
          <p:cNvPr id="11" name="Shape 8"/>
          <p:cNvSpPr/>
          <p:nvPr/>
        </p:nvSpPr>
        <p:spPr>
          <a:xfrm>
            <a:off x="658368" y="2231136"/>
            <a:ext cx="3539642" cy="969264"/>
          </a:xfrm>
          <a:prstGeom prst="rect">
            <a:avLst/>
          </a:prstGeom>
          <a:solidFill>
            <a:srgbClr val="FFFFFF"/>
          </a:solidFill>
          <a:ln w="12700">
            <a:solidFill>
              <a:srgbClr val="FFFFFF"/>
            </a:solidFill>
            <a:prstDash val="solid"/>
          </a:ln>
        </p:spPr>
      </p:sp>
      <p:sp>
        <p:nvSpPr>
          <p:cNvPr id="12" name="Shape 9"/>
          <p:cNvSpPr/>
          <p:nvPr/>
        </p:nvSpPr>
        <p:spPr>
          <a:xfrm>
            <a:off x="658368" y="2231136"/>
            <a:ext cx="3539642" cy="54864"/>
          </a:xfrm>
          <a:prstGeom prst="rect">
            <a:avLst/>
          </a:prstGeom>
          <a:solidFill>
            <a:srgbClr val="102A43"/>
          </a:solidFill>
          <a:ln w="12700">
            <a:solidFill>
              <a:srgbClr val="102A43"/>
            </a:solidFill>
            <a:prstDash val="solid"/>
          </a:ln>
        </p:spPr>
      </p:sp>
      <p:sp>
        <p:nvSpPr>
          <p:cNvPr id="13" name="Text 10"/>
          <p:cNvSpPr txBox="1"/>
          <p:nvPr/>
        </p:nvSpPr>
        <p:spPr>
          <a:xfrm>
            <a:off x="877824" y="2377440"/>
            <a:ext cx="365760" cy="310896"/>
          </a:xfrm>
          <a:prstGeom prst="rect">
            <a:avLst/>
          </a:prstGeom>
          <a:noFill/>
          <a:ln/>
        </p:spPr>
        <p:txBody>
          <a:bodyPr wrap="square" lIns="0" tIns="0" rIns="0" bIns="0" rtlCol="0" anchor="t"/>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1</a:t>
            </a:r>
            <a:endParaRPr lang="en-US" sz="2200" dirty="0"/>
          </a:p>
        </p:txBody>
      </p:sp>
      <p:sp>
        <p:nvSpPr>
          <p:cNvPr id="14" name="Text 11"/>
          <p:cNvSpPr txBox="1"/>
          <p:nvPr/>
        </p:nvSpPr>
        <p:spPr>
          <a:xfrm>
            <a:off x="1316736" y="2414016"/>
            <a:ext cx="2661818"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Recolectar</a:t>
            </a:r>
            <a:endParaRPr lang="en-US" sz="1360" dirty="0"/>
          </a:p>
        </p:txBody>
      </p:sp>
      <p:sp>
        <p:nvSpPr>
          <p:cNvPr id="15" name="Text 12"/>
          <p:cNvSpPr txBox="1"/>
          <p:nvPr/>
        </p:nvSpPr>
        <p:spPr>
          <a:xfrm>
            <a:off x="877824" y="2724912"/>
            <a:ext cx="3100730" cy="402336"/>
          </a:xfrm>
          <a:prstGeom prst="rect">
            <a:avLst/>
          </a:prstGeom>
          <a:noFill/>
          <a:ln/>
        </p:spPr>
        <p:txBody>
          <a:bodyPr wrap="square" lIns="0" tIns="0" rIns="0" bIns="0" rtlCol="0" anchor="t"/>
          <a:lstStyle/>
          <a:p>
            <a:pPr algn="l" indent="0" marL="0">
              <a:lnSpc>
                <a:spcPct val="110000"/>
              </a:lnSpc>
              <a:buNone/>
            </a:pPr>
            <a:r>
              <a:rPr lang="en-US" sz="1020" dirty="0">
                <a:solidFill>
                  <a:srgbClr val="52606D"/>
                </a:solidFill>
                <a:latin typeface="Aptos" pitchFamily="34" charset="0"/>
                <a:ea typeface="Aptos" pitchFamily="34" charset="-122"/>
                <a:cs typeface="Aptos" pitchFamily="34" charset="-120"/>
              </a:rPr>
              <a:t>La opción --collect-only arma la lista de pruebas y se detiene antes de correrlas.</a:t>
            </a:r>
            <a:endParaRPr lang="en-US" sz="1020" dirty="0"/>
          </a:p>
        </p:txBody>
      </p:sp>
      <p:sp>
        <p:nvSpPr>
          <p:cNvPr id="16" name="Shape 13"/>
          <p:cNvSpPr/>
          <p:nvPr/>
        </p:nvSpPr>
        <p:spPr>
          <a:xfrm>
            <a:off x="4326026" y="2231136"/>
            <a:ext cx="3539642" cy="969264"/>
          </a:xfrm>
          <a:prstGeom prst="rect">
            <a:avLst/>
          </a:prstGeom>
          <a:solidFill>
            <a:srgbClr val="FFFFFF"/>
          </a:solidFill>
          <a:ln w="12700">
            <a:solidFill>
              <a:srgbClr val="FFFFFF"/>
            </a:solidFill>
            <a:prstDash val="solid"/>
          </a:ln>
        </p:spPr>
      </p:sp>
      <p:sp>
        <p:nvSpPr>
          <p:cNvPr id="17" name="Shape 14"/>
          <p:cNvSpPr/>
          <p:nvPr/>
        </p:nvSpPr>
        <p:spPr>
          <a:xfrm>
            <a:off x="4326026" y="2231136"/>
            <a:ext cx="3539642" cy="54864"/>
          </a:xfrm>
          <a:prstGeom prst="rect">
            <a:avLst/>
          </a:prstGeom>
          <a:solidFill>
            <a:srgbClr val="102A43"/>
          </a:solidFill>
          <a:ln w="12700">
            <a:solidFill>
              <a:srgbClr val="102A43"/>
            </a:solidFill>
            <a:prstDash val="solid"/>
          </a:ln>
        </p:spPr>
      </p:sp>
      <p:sp>
        <p:nvSpPr>
          <p:cNvPr id="18" name="Text 15"/>
          <p:cNvSpPr txBox="1"/>
          <p:nvPr/>
        </p:nvSpPr>
        <p:spPr>
          <a:xfrm>
            <a:off x="4545482" y="2377440"/>
            <a:ext cx="365760" cy="310896"/>
          </a:xfrm>
          <a:prstGeom prst="rect">
            <a:avLst/>
          </a:prstGeom>
          <a:noFill/>
          <a:ln/>
        </p:spPr>
        <p:txBody>
          <a:bodyPr wrap="square" lIns="0" tIns="0" rIns="0" bIns="0" rtlCol="0" anchor="t"/>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2</a:t>
            </a:r>
            <a:endParaRPr lang="en-US" sz="2200" dirty="0"/>
          </a:p>
        </p:txBody>
      </p:sp>
      <p:sp>
        <p:nvSpPr>
          <p:cNvPr id="19" name="Text 16"/>
          <p:cNvSpPr txBox="1"/>
          <p:nvPr/>
        </p:nvSpPr>
        <p:spPr>
          <a:xfrm>
            <a:off x="4984394" y="2414016"/>
            <a:ext cx="2661818"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Escuchar</a:t>
            </a:r>
            <a:endParaRPr lang="en-US" sz="1360" dirty="0"/>
          </a:p>
        </p:txBody>
      </p:sp>
      <p:sp>
        <p:nvSpPr>
          <p:cNvPr id="20" name="Text 17"/>
          <p:cNvSpPr txBox="1"/>
          <p:nvPr/>
        </p:nvSpPr>
        <p:spPr>
          <a:xfrm>
            <a:off x="4545482" y="2724912"/>
            <a:ext cx="3100730" cy="402336"/>
          </a:xfrm>
          <a:prstGeom prst="rect">
            <a:avLst/>
          </a:prstGeom>
          <a:noFill/>
          <a:ln/>
        </p:spPr>
        <p:txBody>
          <a:bodyPr wrap="square" lIns="0" tIns="0" rIns="0" bIns="0" rtlCol="0" anchor="t"/>
          <a:lstStyle/>
          <a:p>
            <a:pPr algn="l" indent="0" marL="0">
              <a:lnSpc>
                <a:spcPct val="110000"/>
              </a:lnSpc>
              <a:buNone/>
            </a:pPr>
            <a:r>
              <a:rPr lang="en-US" sz="1020" dirty="0">
                <a:solidFill>
                  <a:srgbClr val="52606D"/>
                </a:solidFill>
                <a:latin typeface="Aptos" pitchFamily="34" charset="0"/>
                <a:ea typeface="Aptos" pitchFamily="34" charset="-122"/>
                <a:cs typeface="Aptos" pitchFamily="34" charset="-120"/>
              </a:rPr>
              <a:t>Un objeto propio recibe esa lista y se queda con las marcas de cada prueba.</a:t>
            </a:r>
            <a:endParaRPr lang="en-US" sz="1020" dirty="0"/>
          </a:p>
        </p:txBody>
      </p:sp>
      <p:sp>
        <p:nvSpPr>
          <p:cNvPr id="21" name="Shape 18"/>
          <p:cNvSpPr/>
          <p:nvPr/>
        </p:nvSpPr>
        <p:spPr>
          <a:xfrm>
            <a:off x="7993685" y="2231136"/>
            <a:ext cx="3539642" cy="969264"/>
          </a:xfrm>
          <a:prstGeom prst="rect">
            <a:avLst/>
          </a:prstGeom>
          <a:solidFill>
            <a:srgbClr val="FFFFFF"/>
          </a:solidFill>
          <a:ln w="12700">
            <a:solidFill>
              <a:srgbClr val="FFFFFF"/>
            </a:solidFill>
            <a:prstDash val="solid"/>
          </a:ln>
        </p:spPr>
      </p:sp>
      <p:sp>
        <p:nvSpPr>
          <p:cNvPr id="22" name="Shape 19"/>
          <p:cNvSpPr/>
          <p:nvPr/>
        </p:nvSpPr>
        <p:spPr>
          <a:xfrm>
            <a:off x="7993685" y="2231136"/>
            <a:ext cx="3539642" cy="54864"/>
          </a:xfrm>
          <a:prstGeom prst="rect">
            <a:avLst/>
          </a:prstGeom>
          <a:solidFill>
            <a:srgbClr val="102A43"/>
          </a:solidFill>
          <a:ln w="12700">
            <a:solidFill>
              <a:srgbClr val="102A43"/>
            </a:solidFill>
            <a:prstDash val="solid"/>
          </a:ln>
        </p:spPr>
      </p:sp>
      <p:sp>
        <p:nvSpPr>
          <p:cNvPr id="23" name="Text 20"/>
          <p:cNvSpPr txBox="1"/>
          <p:nvPr/>
        </p:nvSpPr>
        <p:spPr>
          <a:xfrm>
            <a:off x="8213141" y="2377440"/>
            <a:ext cx="365760" cy="310896"/>
          </a:xfrm>
          <a:prstGeom prst="rect">
            <a:avLst/>
          </a:prstGeom>
          <a:noFill/>
          <a:ln/>
        </p:spPr>
        <p:txBody>
          <a:bodyPr wrap="square" lIns="0" tIns="0" rIns="0" bIns="0" rtlCol="0" anchor="t"/>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3</a:t>
            </a:r>
            <a:endParaRPr lang="en-US" sz="2200" dirty="0"/>
          </a:p>
        </p:txBody>
      </p:sp>
      <p:sp>
        <p:nvSpPr>
          <p:cNvPr id="24" name="Text 21"/>
          <p:cNvSpPr txBox="1"/>
          <p:nvPr/>
        </p:nvSpPr>
        <p:spPr>
          <a:xfrm>
            <a:off x="8652053" y="2414016"/>
            <a:ext cx="2661818"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Cruzar</a:t>
            </a:r>
            <a:endParaRPr lang="en-US" sz="1360" dirty="0"/>
          </a:p>
        </p:txBody>
      </p:sp>
      <p:sp>
        <p:nvSpPr>
          <p:cNvPr id="25" name="Text 22"/>
          <p:cNvSpPr txBox="1"/>
          <p:nvPr/>
        </p:nvSpPr>
        <p:spPr>
          <a:xfrm>
            <a:off x="8213141" y="2724912"/>
            <a:ext cx="3100730" cy="402336"/>
          </a:xfrm>
          <a:prstGeom prst="rect">
            <a:avLst/>
          </a:prstGeom>
          <a:noFill/>
          <a:ln/>
        </p:spPr>
        <p:txBody>
          <a:bodyPr wrap="square" lIns="0" tIns="0" rIns="0" bIns="0" rtlCol="0" anchor="t"/>
          <a:lstStyle/>
          <a:p>
            <a:pPr algn="l" indent="0" marL="0">
              <a:lnSpc>
                <a:spcPct val="110000"/>
              </a:lnSpc>
              <a:buNone/>
            </a:pPr>
            <a:r>
              <a:rPr lang="en-US" sz="1020" dirty="0">
                <a:solidFill>
                  <a:srgbClr val="52606D"/>
                </a:solidFill>
                <a:latin typeface="Aptos" pitchFamily="34" charset="0"/>
                <a:ea typeface="Aptos" pitchFamily="34" charset="-122"/>
                <a:cs typeface="Aptos" pitchFamily="34" charset="-120"/>
              </a:rPr>
              <a:t>Se compara con los identificadores del archivo de requisitos.</a:t>
            </a:r>
            <a:endParaRPr lang="en-US" sz="1020" dirty="0"/>
          </a:p>
        </p:txBody>
      </p:sp>
      <p:sp>
        <p:nvSpPr>
          <p:cNvPr id="26" name="Shape 23"/>
          <p:cNvSpPr/>
          <p:nvPr/>
        </p:nvSpPr>
        <p:spPr>
          <a:xfrm>
            <a:off x="658368" y="3364992"/>
            <a:ext cx="6400800" cy="1883664"/>
          </a:xfrm>
          <a:prstGeom prst="roundRect">
            <a:avLst>
              <a:gd name="adj" fmla="val 1942"/>
            </a:avLst>
          </a:prstGeom>
          <a:solidFill>
            <a:srgbClr val="102A43"/>
          </a:solidFill>
          <a:ln w="12700">
            <a:solidFill>
              <a:srgbClr val="102A43"/>
            </a:solidFill>
            <a:prstDash val="solid"/>
          </a:ln>
        </p:spPr>
      </p:sp>
      <p:sp>
        <p:nvSpPr>
          <p:cNvPr id="27" name="Shape 24"/>
          <p:cNvSpPr/>
          <p:nvPr/>
        </p:nvSpPr>
        <p:spPr>
          <a:xfrm>
            <a:off x="786384" y="3474720"/>
            <a:ext cx="6144768" cy="310896"/>
          </a:xfrm>
          <a:prstGeom prst="roundRect">
            <a:avLst>
              <a:gd name="adj" fmla="val 8824"/>
            </a:avLst>
          </a:prstGeom>
          <a:solidFill>
            <a:srgbClr val="284B75"/>
          </a:solidFill>
          <a:ln w="12700">
            <a:solidFill>
              <a:srgbClr val="284B75"/>
            </a:solidFill>
            <a:prstDash val="solid"/>
          </a:ln>
        </p:spPr>
      </p:sp>
      <p:sp>
        <p:nvSpPr>
          <p:cNvPr id="28" name="Text 25"/>
          <p:cNvSpPr/>
          <p:nvPr/>
        </p:nvSpPr>
        <p:spPr>
          <a:xfrm>
            <a:off x="896112" y="3547872"/>
            <a:ext cx="59253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objeto que escucha la recolección</a:t>
            </a:r>
            <a:endParaRPr lang="en-US" sz="1000" dirty="0"/>
          </a:p>
        </p:txBody>
      </p:sp>
      <p:pic>
        <p:nvPicPr>
          <p:cNvPr id="2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3931920"/>
            <a:ext cx="5980176" cy="1133856"/>
          </a:xfrm>
          <a:prstGeom prst="rect">
            <a:avLst/>
          </a:prstGeom>
        </p:spPr>
      </p:pic>
      <p:sp>
        <p:nvSpPr>
          <p:cNvPr id="30" name="Shape 26"/>
          <p:cNvSpPr/>
          <p:nvPr/>
        </p:nvSpPr>
        <p:spPr>
          <a:xfrm>
            <a:off x="7443216" y="3364992"/>
            <a:ext cx="4087368" cy="420624"/>
          </a:xfrm>
          <a:prstGeom prst="rect">
            <a:avLst/>
          </a:prstGeom>
          <a:solidFill>
            <a:srgbClr val="EDE6DA"/>
          </a:solidFill>
          <a:ln w="12700">
            <a:solidFill>
              <a:srgbClr val="EDE6DA"/>
            </a:solidFill>
            <a:prstDash val="solid"/>
          </a:ln>
        </p:spPr>
      </p:sp>
      <p:sp>
        <p:nvSpPr>
          <p:cNvPr id="31" name="Text 27"/>
          <p:cNvSpPr txBox="1"/>
          <p:nvPr/>
        </p:nvSpPr>
        <p:spPr>
          <a:xfrm>
            <a:off x="7626096" y="3401568"/>
            <a:ext cx="3749040" cy="182880"/>
          </a:xfrm>
          <a:prstGeom prst="rect">
            <a:avLst/>
          </a:prstGeom>
          <a:noFill/>
          <a:ln/>
        </p:spPr>
        <p:txBody>
          <a:bodyPr wrap="square" lIns="0" tIns="0" rIns="0" bIns="0" rtlCol="0" anchor="t"/>
          <a:lstStyle/>
          <a:p>
            <a:pPr algn="l" indent="0" marL="0">
              <a:buNone/>
            </a:pPr>
            <a:r>
              <a:rPr lang="en-US" sz="920" b="1" dirty="0">
                <a:solidFill>
                  <a:srgbClr val="102A43"/>
                </a:solidFill>
                <a:latin typeface="Consolas" pitchFamily="34" charset="0"/>
                <a:ea typeface="Consolas" pitchFamily="34" charset="-122"/>
                <a:cs typeface="Consolas" pitchFamily="34" charset="-120"/>
              </a:rPr>
              <a:t>pytest_collection_modifyitems</a:t>
            </a:r>
            <a:endParaRPr lang="en-US" sz="920" dirty="0"/>
          </a:p>
        </p:txBody>
      </p:sp>
      <p:sp>
        <p:nvSpPr>
          <p:cNvPr id="32" name="Text 28"/>
          <p:cNvSpPr txBox="1"/>
          <p:nvPr/>
        </p:nvSpPr>
        <p:spPr>
          <a:xfrm>
            <a:off x="7626096" y="3584448"/>
            <a:ext cx="3749040" cy="182880"/>
          </a:xfrm>
          <a:prstGeom prst="rect">
            <a:avLst/>
          </a:prstGeom>
          <a:noFill/>
          <a:ln/>
        </p:spPr>
        <p:txBody>
          <a:bodyPr wrap="square" lIns="0" tIns="0" rIns="0" bIns="0" rtlCol="0" anchor="t"/>
          <a:lstStyle/>
          <a:p>
            <a:pPr algn="l" indent="0" marL="0">
              <a:buNone/>
            </a:pPr>
            <a:r>
              <a:rPr lang="en-US" sz="920" dirty="0">
                <a:solidFill>
                  <a:srgbClr val="52606D"/>
                </a:solidFill>
                <a:latin typeface="Aptos" pitchFamily="34" charset="0"/>
                <a:ea typeface="Aptos" pitchFamily="34" charset="-122"/>
                <a:cs typeface="Aptos" pitchFamily="34" charset="-120"/>
              </a:rPr>
              <a:t>El punto del proceso donde la herramienta entrega la lista completa.</a:t>
            </a:r>
            <a:endParaRPr lang="en-US" sz="920" dirty="0"/>
          </a:p>
        </p:txBody>
      </p:sp>
      <p:sp>
        <p:nvSpPr>
          <p:cNvPr id="33" name="Shape 29"/>
          <p:cNvSpPr/>
          <p:nvPr/>
        </p:nvSpPr>
        <p:spPr>
          <a:xfrm>
            <a:off x="7443216" y="3840480"/>
            <a:ext cx="4087368" cy="420624"/>
          </a:xfrm>
          <a:prstGeom prst="rect">
            <a:avLst/>
          </a:prstGeom>
          <a:solidFill>
            <a:srgbClr val="FFFFFF"/>
          </a:solidFill>
          <a:ln w="12700">
            <a:solidFill>
              <a:srgbClr val="FFFFFF"/>
            </a:solidFill>
            <a:prstDash val="solid"/>
          </a:ln>
        </p:spPr>
      </p:sp>
      <p:sp>
        <p:nvSpPr>
          <p:cNvPr id="34" name="Text 30"/>
          <p:cNvSpPr txBox="1"/>
          <p:nvPr/>
        </p:nvSpPr>
        <p:spPr>
          <a:xfrm>
            <a:off x="7626096" y="3877056"/>
            <a:ext cx="3749040" cy="182880"/>
          </a:xfrm>
          <a:prstGeom prst="rect">
            <a:avLst/>
          </a:prstGeom>
          <a:noFill/>
          <a:ln/>
        </p:spPr>
        <p:txBody>
          <a:bodyPr wrap="square" lIns="0" tIns="0" rIns="0" bIns="0" rtlCol="0" anchor="t"/>
          <a:lstStyle/>
          <a:p>
            <a:pPr algn="l" indent="0" marL="0">
              <a:buNone/>
            </a:pPr>
            <a:r>
              <a:rPr lang="en-US" sz="920" b="1" dirty="0">
                <a:solidFill>
                  <a:srgbClr val="102A43"/>
                </a:solidFill>
                <a:latin typeface="Consolas" pitchFamily="34" charset="0"/>
                <a:ea typeface="Consolas" pitchFamily="34" charset="-122"/>
                <a:cs typeface="Consolas" pitchFamily="34" charset="-120"/>
              </a:rPr>
              <a:t>item.nodeid</a:t>
            </a:r>
            <a:endParaRPr lang="en-US" sz="920" dirty="0"/>
          </a:p>
        </p:txBody>
      </p:sp>
      <p:sp>
        <p:nvSpPr>
          <p:cNvPr id="35" name="Text 31"/>
          <p:cNvSpPr txBox="1"/>
          <p:nvPr/>
        </p:nvSpPr>
        <p:spPr>
          <a:xfrm>
            <a:off x="7626096" y="4059936"/>
            <a:ext cx="3749040" cy="182880"/>
          </a:xfrm>
          <a:prstGeom prst="rect">
            <a:avLst/>
          </a:prstGeom>
          <a:noFill/>
          <a:ln/>
        </p:spPr>
        <p:txBody>
          <a:bodyPr wrap="square" lIns="0" tIns="0" rIns="0" bIns="0" rtlCol="0" anchor="t"/>
          <a:lstStyle/>
          <a:p>
            <a:pPr algn="l" indent="0" marL="0">
              <a:buNone/>
            </a:pPr>
            <a:r>
              <a:rPr lang="en-US" sz="920" dirty="0">
                <a:solidFill>
                  <a:srgbClr val="52606D"/>
                </a:solidFill>
                <a:latin typeface="Aptos" pitchFamily="34" charset="0"/>
                <a:ea typeface="Aptos" pitchFamily="34" charset="-122"/>
                <a:cs typeface="Aptos" pitchFamily="34" charset="-120"/>
              </a:rPr>
              <a:t>El identificador de una prueba: archivo, nombre y caso.</a:t>
            </a:r>
            <a:endParaRPr lang="en-US" sz="920" dirty="0"/>
          </a:p>
        </p:txBody>
      </p:sp>
      <p:sp>
        <p:nvSpPr>
          <p:cNvPr id="36" name="Shape 32"/>
          <p:cNvSpPr/>
          <p:nvPr/>
        </p:nvSpPr>
        <p:spPr>
          <a:xfrm>
            <a:off x="7443216" y="4315968"/>
            <a:ext cx="4087368" cy="420624"/>
          </a:xfrm>
          <a:prstGeom prst="rect">
            <a:avLst/>
          </a:prstGeom>
          <a:solidFill>
            <a:srgbClr val="EDE6DA"/>
          </a:solidFill>
          <a:ln w="12700">
            <a:solidFill>
              <a:srgbClr val="EDE6DA"/>
            </a:solidFill>
            <a:prstDash val="solid"/>
          </a:ln>
        </p:spPr>
      </p:sp>
      <p:sp>
        <p:nvSpPr>
          <p:cNvPr id="37" name="Text 33"/>
          <p:cNvSpPr txBox="1"/>
          <p:nvPr/>
        </p:nvSpPr>
        <p:spPr>
          <a:xfrm>
            <a:off x="7626096" y="4352544"/>
            <a:ext cx="3749040" cy="182880"/>
          </a:xfrm>
          <a:prstGeom prst="rect">
            <a:avLst/>
          </a:prstGeom>
          <a:noFill/>
          <a:ln/>
        </p:spPr>
        <p:txBody>
          <a:bodyPr wrap="square" lIns="0" tIns="0" rIns="0" bIns="0" rtlCol="0" anchor="t"/>
          <a:lstStyle/>
          <a:p>
            <a:pPr algn="l" indent="0" marL="0">
              <a:buNone/>
            </a:pPr>
            <a:r>
              <a:rPr lang="en-US" sz="920" b="1" dirty="0">
                <a:solidFill>
                  <a:srgbClr val="102A43"/>
                </a:solidFill>
                <a:latin typeface="Consolas" pitchFamily="34" charset="0"/>
                <a:ea typeface="Consolas" pitchFamily="34" charset="-122"/>
                <a:cs typeface="Consolas" pitchFamily="34" charset="-120"/>
              </a:rPr>
              <a:t>iter_markers(name=...)</a:t>
            </a:r>
            <a:endParaRPr lang="en-US" sz="920" dirty="0"/>
          </a:p>
        </p:txBody>
      </p:sp>
      <p:sp>
        <p:nvSpPr>
          <p:cNvPr id="38" name="Text 34"/>
          <p:cNvSpPr txBox="1"/>
          <p:nvPr/>
        </p:nvSpPr>
        <p:spPr>
          <a:xfrm>
            <a:off x="7626096" y="4535424"/>
            <a:ext cx="3749040" cy="182880"/>
          </a:xfrm>
          <a:prstGeom prst="rect">
            <a:avLst/>
          </a:prstGeom>
          <a:noFill/>
          <a:ln/>
        </p:spPr>
        <p:txBody>
          <a:bodyPr wrap="square" lIns="0" tIns="0" rIns="0" bIns="0" rtlCol="0" anchor="t"/>
          <a:lstStyle/>
          <a:p>
            <a:pPr algn="l" indent="0" marL="0">
              <a:buNone/>
            </a:pPr>
            <a:r>
              <a:rPr lang="en-US" sz="920" dirty="0">
                <a:solidFill>
                  <a:srgbClr val="52606D"/>
                </a:solidFill>
                <a:latin typeface="Aptos" pitchFamily="34" charset="0"/>
                <a:ea typeface="Aptos" pitchFamily="34" charset="-122"/>
                <a:cs typeface="Aptos" pitchFamily="34" charset="-120"/>
              </a:rPr>
              <a:t>Recorre las marcas de ese nombre, vengan de la función o del caso.</a:t>
            </a:r>
            <a:endParaRPr lang="en-US" sz="920" dirty="0"/>
          </a:p>
        </p:txBody>
      </p:sp>
      <p:sp>
        <p:nvSpPr>
          <p:cNvPr id="39" name="Shape 35"/>
          <p:cNvSpPr/>
          <p:nvPr/>
        </p:nvSpPr>
        <p:spPr>
          <a:xfrm>
            <a:off x="7443216" y="4791456"/>
            <a:ext cx="4087368" cy="420624"/>
          </a:xfrm>
          <a:prstGeom prst="rect">
            <a:avLst/>
          </a:prstGeom>
          <a:solidFill>
            <a:srgbClr val="FFFFFF"/>
          </a:solidFill>
          <a:ln w="12700">
            <a:solidFill>
              <a:srgbClr val="FFFFFF"/>
            </a:solidFill>
            <a:prstDash val="solid"/>
          </a:ln>
        </p:spPr>
      </p:sp>
      <p:sp>
        <p:nvSpPr>
          <p:cNvPr id="40" name="Text 36"/>
          <p:cNvSpPr txBox="1"/>
          <p:nvPr/>
        </p:nvSpPr>
        <p:spPr>
          <a:xfrm>
            <a:off x="7626096" y="4828032"/>
            <a:ext cx="3749040" cy="182880"/>
          </a:xfrm>
          <a:prstGeom prst="rect">
            <a:avLst/>
          </a:prstGeom>
          <a:noFill/>
          <a:ln/>
        </p:spPr>
        <p:txBody>
          <a:bodyPr wrap="square" lIns="0" tIns="0" rIns="0" bIns="0" rtlCol="0" anchor="t"/>
          <a:lstStyle/>
          <a:p>
            <a:pPr algn="l" indent="0" marL="0">
              <a:buNone/>
            </a:pPr>
            <a:r>
              <a:rPr lang="en-US" sz="920" b="1" dirty="0">
                <a:solidFill>
                  <a:srgbClr val="102A43"/>
                </a:solidFill>
                <a:latin typeface="Consolas" pitchFamily="34" charset="0"/>
                <a:ea typeface="Consolas" pitchFamily="34" charset="-122"/>
                <a:cs typeface="Consolas" pitchFamily="34" charset="-120"/>
              </a:rPr>
              <a:t>m.args[0]</a:t>
            </a:r>
            <a:endParaRPr lang="en-US" sz="920" dirty="0"/>
          </a:p>
        </p:txBody>
      </p:sp>
      <p:sp>
        <p:nvSpPr>
          <p:cNvPr id="41" name="Text 37"/>
          <p:cNvSpPr txBox="1"/>
          <p:nvPr/>
        </p:nvSpPr>
        <p:spPr>
          <a:xfrm>
            <a:off x="7626096" y="5010912"/>
            <a:ext cx="3749040" cy="182880"/>
          </a:xfrm>
          <a:prstGeom prst="rect">
            <a:avLst/>
          </a:prstGeom>
          <a:noFill/>
          <a:ln/>
        </p:spPr>
        <p:txBody>
          <a:bodyPr wrap="square" lIns="0" tIns="0" rIns="0" bIns="0" rtlCol="0" anchor="t"/>
          <a:lstStyle/>
          <a:p>
            <a:pPr algn="l" indent="0" marL="0">
              <a:buNone/>
            </a:pPr>
            <a:r>
              <a:rPr lang="en-US" sz="920" dirty="0">
                <a:solidFill>
                  <a:srgbClr val="52606D"/>
                </a:solidFill>
                <a:latin typeface="Aptos" pitchFamily="34" charset="0"/>
                <a:ea typeface="Aptos" pitchFamily="34" charset="-122"/>
                <a:cs typeface="Aptos" pitchFamily="34" charset="-120"/>
              </a:rPr>
              <a:t>El primer argumento de la marca. Aquí, el texto RF-01.</a:t>
            </a:r>
            <a:endParaRPr lang="en-US" sz="920" dirty="0"/>
          </a:p>
        </p:txBody>
      </p:sp>
      <p:sp>
        <p:nvSpPr>
          <p:cNvPr id="42" name="Shape 38"/>
          <p:cNvSpPr/>
          <p:nvPr/>
        </p:nvSpPr>
        <p:spPr>
          <a:xfrm>
            <a:off x="658368" y="5650992"/>
            <a:ext cx="10874959" cy="548640"/>
          </a:xfrm>
          <a:prstGeom prst="rect">
            <a:avLst/>
          </a:prstGeom>
          <a:solidFill>
            <a:srgbClr val="102A43"/>
          </a:solidFill>
          <a:ln w="12700">
            <a:solidFill>
              <a:srgbClr val="102A43"/>
            </a:solidFill>
            <a:prstDash val="solid"/>
          </a:ln>
        </p:spPr>
      </p:sp>
      <p:sp>
        <p:nvSpPr>
          <p:cNvPr id="43" name="Text 3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lista de pruebas se puede leer sin que ninguna prueba corra.</a:t>
            </a:r>
            <a:endParaRPr lang="en-US" sz="13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EVIDENCIA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La matriz del proyecto, generada</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Esta salida no se escribió: se produjo. Y se vuelve a producir cuando se quiera.</a:t>
            </a:r>
            <a:endParaRPr lang="en-US" sz="1420" dirty="0"/>
          </a:p>
        </p:txBody>
      </p:sp>
      <p:sp>
        <p:nvSpPr>
          <p:cNvPr id="11" name="Shape 8"/>
          <p:cNvSpPr/>
          <p:nvPr/>
        </p:nvSpPr>
        <p:spPr>
          <a:xfrm>
            <a:off x="658368" y="2231136"/>
            <a:ext cx="5943600" cy="2633472"/>
          </a:xfrm>
          <a:prstGeom prst="roundRect">
            <a:avLst>
              <a:gd name="adj" fmla="val 1389"/>
            </a:avLst>
          </a:prstGeom>
          <a:solidFill>
            <a:srgbClr val="0F1720"/>
          </a:solidFill>
          <a:ln w="12700">
            <a:solidFill>
              <a:srgbClr val="0F1720"/>
            </a:solidFill>
            <a:prstDash val="solid"/>
          </a:ln>
        </p:spPr>
      </p:sp>
      <p:sp>
        <p:nvSpPr>
          <p:cNvPr id="12" name="Shape 9"/>
          <p:cNvSpPr/>
          <p:nvPr/>
        </p:nvSpPr>
        <p:spPr>
          <a:xfrm>
            <a:off x="786384" y="2340864"/>
            <a:ext cx="568756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414016"/>
            <a:ext cx="543153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uv run python trazabilidad.py</a:t>
            </a:r>
            <a:endParaRPr lang="en-US" sz="1000" dirty="0"/>
          </a:p>
        </p:txBody>
      </p:sp>
      <p:sp>
        <p:nvSpPr>
          <p:cNvPr id="14" name="Text 11"/>
          <p:cNvSpPr/>
          <p:nvPr/>
        </p:nvSpPr>
        <p:spPr>
          <a:xfrm>
            <a:off x="877824" y="2798064"/>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requisito    pruebas   estado</a:t>
            </a:r>
            <a:endParaRPr lang="en-US" sz="1040" dirty="0"/>
          </a:p>
        </p:txBody>
      </p:sp>
      <p:sp>
        <p:nvSpPr>
          <p:cNvPr id="15" name="Text 12"/>
          <p:cNvSpPr/>
          <p:nvPr/>
        </p:nvSpPr>
        <p:spPr>
          <a:xfrm>
            <a:off x="877824" y="3054096"/>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RF-01             10   cubierto</a:t>
            </a:r>
            <a:endParaRPr lang="en-US" sz="1040" dirty="0"/>
          </a:p>
        </p:txBody>
      </p:sp>
      <p:sp>
        <p:nvSpPr>
          <p:cNvPr id="16" name="Text 13"/>
          <p:cNvSpPr/>
          <p:nvPr/>
        </p:nvSpPr>
        <p:spPr>
          <a:xfrm>
            <a:off x="877824" y="3310128"/>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RF-02              2   cubierto</a:t>
            </a:r>
            <a:endParaRPr lang="en-US" sz="1040" dirty="0"/>
          </a:p>
        </p:txBody>
      </p:sp>
      <p:sp>
        <p:nvSpPr>
          <p:cNvPr id="17" name="Text 14"/>
          <p:cNvSpPr/>
          <p:nvPr/>
        </p:nvSpPr>
        <p:spPr>
          <a:xfrm>
            <a:off x="877824" y="3566160"/>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RF-03              2   cubierto</a:t>
            </a:r>
            <a:endParaRPr lang="en-US" sz="1040" dirty="0"/>
          </a:p>
        </p:txBody>
      </p:sp>
      <p:sp>
        <p:nvSpPr>
          <p:cNvPr id="18" name="Text 15"/>
          <p:cNvSpPr/>
          <p:nvPr/>
        </p:nvSpPr>
        <p:spPr>
          <a:xfrm>
            <a:off x="877824" y="3822192"/>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RF-04              4   cubierto</a:t>
            </a:r>
            <a:endParaRPr lang="en-US" sz="1040" dirty="0"/>
          </a:p>
        </p:txBody>
      </p:sp>
      <p:sp>
        <p:nvSpPr>
          <p:cNvPr id="19" name="Text 16"/>
          <p:cNvSpPr/>
          <p:nvPr/>
        </p:nvSpPr>
        <p:spPr>
          <a:xfrm>
            <a:off x="877824" y="4078224"/>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RF-05              0   SIN PRUEBA</a:t>
            </a:r>
            <a:endParaRPr lang="en-US" sz="1040" dirty="0"/>
          </a:p>
        </p:txBody>
      </p:sp>
      <p:sp>
        <p:nvSpPr>
          <p:cNvPr id="20" name="Text 17"/>
          <p:cNvSpPr/>
          <p:nvPr/>
        </p:nvSpPr>
        <p:spPr>
          <a:xfrm>
            <a:off x="877824" y="4334256"/>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RF-06              1   cubierto</a:t>
            </a:r>
            <a:endParaRPr lang="en-US" sz="1040" dirty="0"/>
          </a:p>
        </p:txBody>
      </p:sp>
      <p:sp>
        <p:nvSpPr>
          <p:cNvPr id="21" name="Shape 18"/>
          <p:cNvSpPr/>
          <p:nvPr/>
        </p:nvSpPr>
        <p:spPr>
          <a:xfrm>
            <a:off x="731520" y="4059936"/>
            <a:ext cx="54864" cy="201168"/>
          </a:xfrm>
          <a:prstGeom prst="rect">
            <a:avLst/>
          </a:prstGeom>
          <a:solidFill>
            <a:srgbClr val="B3181E"/>
          </a:solidFill>
          <a:ln w="12700">
            <a:solidFill>
              <a:srgbClr val="B3181E"/>
            </a:solidFill>
            <a:prstDash val="solid"/>
          </a:ln>
        </p:spPr>
      </p:sp>
      <p:sp>
        <p:nvSpPr>
          <p:cNvPr id="22" name="Shape 19"/>
          <p:cNvSpPr/>
          <p:nvPr/>
        </p:nvSpPr>
        <p:spPr>
          <a:xfrm>
            <a:off x="6821424" y="2231136"/>
            <a:ext cx="4718304" cy="804672"/>
          </a:xfrm>
          <a:prstGeom prst="rect">
            <a:avLst/>
          </a:prstGeom>
          <a:solidFill>
            <a:srgbClr val="FFFFFF"/>
          </a:solidFill>
          <a:ln w="12700">
            <a:solidFill>
              <a:srgbClr val="FFFFFF"/>
            </a:solidFill>
            <a:prstDash val="solid"/>
          </a:ln>
        </p:spPr>
      </p:sp>
      <p:sp>
        <p:nvSpPr>
          <p:cNvPr id="23" name="Shape 20"/>
          <p:cNvSpPr/>
          <p:nvPr/>
        </p:nvSpPr>
        <p:spPr>
          <a:xfrm>
            <a:off x="6821424" y="2231136"/>
            <a:ext cx="54864" cy="804672"/>
          </a:xfrm>
          <a:prstGeom prst="rect">
            <a:avLst/>
          </a:prstGeom>
          <a:solidFill>
            <a:srgbClr val="8A6A12"/>
          </a:solidFill>
          <a:ln w="12700">
            <a:solidFill>
              <a:srgbClr val="8A6A12"/>
            </a:solidFill>
            <a:prstDash val="solid"/>
          </a:ln>
        </p:spPr>
      </p:sp>
      <p:sp>
        <p:nvSpPr>
          <p:cNvPr id="24" name="Text 21"/>
          <p:cNvSpPr txBox="1"/>
          <p:nvPr/>
        </p:nvSpPr>
        <p:spPr>
          <a:xfrm>
            <a:off x="7059168" y="2340864"/>
            <a:ext cx="4206240" cy="182880"/>
          </a:xfrm>
          <a:prstGeom prst="rect">
            <a:avLst/>
          </a:prstGeom>
          <a:noFill/>
          <a:ln/>
        </p:spPr>
        <p:txBody>
          <a:bodyPr wrap="square" lIns="0" tIns="0" rIns="0" bIns="0" rtlCol="0" anchor="t"/>
          <a:lstStyle/>
          <a:p>
            <a:pPr algn="l" indent="0" marL="0">
              <a:buNone/>
            </a:pPr>
            <a:r>
              <a:rPr lang="en-US" sz="900" b="1" spc="100" kern="0" dirty="0">
                <a:solidFill>
                  <a:srgbClr val="8A6A12"/>
                </a:solidFill>
                <a:latin typeface="Aptos" pitchFamily="34" charset="0"/>
                <a:ea typeface="Aptos" pitchFamily="34" charset="-122"/>
                <a:cs typeface="Aptos" pitchFamily="34" charset="-120"/>
              </a:rPr>
              <a:t>EL REPARTO</a:t>
            </a:r>
            <a:endParaRPr lang="en-US" sz="900" dirty="0"/>
          </a:p>
        </p:txBody>
      </p:sp>
      <p:sp>
        <p:nvSpPr>
          <p:cNvPr id="25" name="Text 22"/>
          <p:cNvSpPr txBox="1"/>
          <p:nvPr/>
        </p:nvSpPr>
        <p:spPr>
          <a:xfrm>
            <a:off x="7059168" y="2560320"/>
            <a:ext cx="4261104" cy="402336"/>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Diez de las diecinueve marcas están sobre RF-01, el requisito más simple del sistema.</a:t>
            </a:r>
            <a:endParaRPr lang="en-US" sz="1060" dirty="0"/>
          </a:p>
        </p:txBody>
      </p:sp>
      <p:sp>
        <p:nvSpPr>
          <p:cNvPr id="26" name="Shape 23"/>
          <p:cNvSpPr/>
          <p:nvPr/>
        </p:nvSpPr>
        <p:spPr>
          <a:xfrm>
            <a:off x="6821424" y="3145536"/>
            <a:ext cx="4718304" cy="804672"/>
          </a:xfrm>
          <a:prstGeom prst="rect">
            <a:avLst/>
          </a:prstGeom>
          <a:solidFill>
            <a:srgbClr val="FFFFFF"/>
          </a:solidFill>
          <a:ln w="12700">
            <a:solidFill>
              <a:srgbClr val="FFFFFF"/>
            </a:solidFill>
            <a:prstDash val="solid"/>
          </a:ln>
        </p:spPr>
      </p:sp>
      <p:sp>
        <p:nvSpPr>
          <p:cNvPr id="27" name="Shape 24"/>
          <p:cNvSpPr/>
          <p:nvPr/>
        </p:nvSpPr>
        <p:spPr>
          <a:xfrm>
            <a:off x="6821424" y="3145536"/>
            <a:ext cx="54864" cy="804672"/>
          </a:xfrm>
          <a:prstGeom prst="rect">
            <a:avLst/>
          </a:prstGeom>
          <a:solidFill>
            <a:srgbClr val="B3181E"/>
          </a:solidFill>
          <a:ln w="12700">
            <a:solidFill>
              <a:srgbClr val="B3181E"/>
            </a:solidFill>
            <a:prstDash val="solid"/>
          </a:ln>
        </p:spPr>
      </p:sp>
      <p:sp>
        <p:nvSpPr>
          <p:cNvPr id="28" name="Text 25"/>
          <p:cNvSpPr txBox="1"/>
          <p:nvPr/>
        </p:nvSpPr>
        <p:spPr>
          <a:xfrm>
            <a:off x="7059168" y="3255264"/>
            <a:ext cx="4206240" cy="182880"/>
          </a:xfrm>
          <a:prstGeom prst="rect">
            <a:avLst/>
          </a:prstGeom>
          <a:noFill/>
          <a:ln/>
        </p:spPr>
        <p:txBody>
          <a:bodyPr wrap="square" lIns="0" tIns="0" rIns="0" bIns="0" rtlCol="0" anchor="t"/>
          <a:lstStyle/>
          <a:p>
            <a:pPr algn="l" indent="0" marL="0">
              <a:buNone/>
            </a:pPr>
            <a:r>
              <a:rPr lang="en-US" sz="900" b="1" spc="100" kern="0" dirty="0">
                <a:solidFill>
                  <a:srgbClr val="B3181E"/>
                </a:solidFill>
                <a:latin typeface="Aptos" pitchFamily="34" charset="0"/>
                <a:ea typeface="Aptos" pitchFamily="34" charset="-122"/>
                <a:cs typeface="Aptos" pitchFamily="34" charset="-120"/>
              </a:rPr>
              <a:t>EL REQUISITO SIN PRUEBA</a:t>
            </a:r>
            <a:endParaRPr lang="en-US" sz="900" dirty="0"/>
          </a:p>
        </p:txBody>
      </p:sp>
      <p:sp>
        <p:nvSpPr>
          <p:cNvPr id="29" name="Text 26"/>
          <p:cNvSpPr txBox="1"/>
          <p:nvPr/>
        </p:nvSpPr>
        <p:spPr>
          <a:xfrm>
            <a:off x="7059168" y="3474720"/>
            <a:ext cx="4261104" cy="402336"/>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RF-05 tiene cero. La función de cancelación existe hace seis sesiones y nadie la probó.</a:t>
            </a:r>
            <a:endParaRPr lang="en-US" sz="1060" dirty="0"/>
          </a:p>
        </p:txBody>
      </p:sp>
      <p:sp>
        <p:nvSpPr>
          <p:cNvPr id="30" name="Shape 27"/>
          <p:cNvSpPr/>
          <p:nvPr/>
        </p:nvSpPr>
        <p:spPr>
          <a:xfrm>
            <a:off x="6821424" y="4059936"/>
            <a:ext cx="4718304" cy="804672"/>
          </a:xfrm>
          <a:prstGeom prst="rect">
            <a:avLst/>
          </a:prstGeom>
          <a:solidFill>
            <a:srgbClr val="FFFFFF"/>
          </a:solidFill>
          <a:ln w="12700">
            <a:solidFill>
              <a:srgbClr val="FFFFFF"/>
            </a:solidFill>
            <a:prstDash val="solid"/>
          </a:ln>
        </p:spPr>
      </p:sp>
      <p:sp>
        <p:nvSpPr>
          <p:cNvPr id="31" name="Shape 28"/>
          <p:cNvSpPr/>
          <p:nvPr/>
        </p:nvSpPr>
        <p:spPr>
          <a:xfrm>
            <a:off x="6821424" y="4059936"/>
            <a:ext cx="54864" cy="804672"/>
          </a:xfrm>
          <a:prstGeom prst="rect">
            <a:avLst/>
          </a:prstGeom>
          <a:solidFill>
            <a:srgbClr val="102A43"/>
          </a:solidFill>
          <a:ln w="12700">
            <a:solidFill>
              <a:srgbClr val="102A43"/>
            </a:solidFill>
            <a:prstDash val="solid"/>
          </a:ln>
        </p:spPr>
      </p:sp>
      <p:sp>
        <p:nvSpPr>
          <p:cNvPr id="32" name="Text 29"/>
          <p:cNvSpPr txBox="1"/>
          <p:nvPr/>
        </p:nvSpPr>
        <p:spPr>
          <a:xfrm>
            <a:off x="7059168" y="4169664"/>
            <a:ext cx="4206240" cy="182880"/>
          </a:xfrm>
          <a:prstGeom prst="rect">
            <a:avLst/>
          </a:prstGeom>
          <a:noFill/>
          <a:ln/>
        </p:spPr>
        <p:txBody>
          <a:bodyPr wrap="square" lIns="0" tIns="0" rIns="0" bIns="0" rtlCol="0" anchor="t"/>
          <a:lstStyle/>
          <a:p>
            <a:pPr algn="l" indent="0" marL="0">
              <a:buNone/>
            </a:pPr>
            <a:r>
              <a:rPr lang="en-US" sz="900" b="1" spc="100" kern="0" dirty="0">
                <a:solidFill>
                  <a:srgbClr val="102A43"/>
                </a:solidFill>
                <a:latin typeface="Aptos" pitchFamily="34" charset="0"/>
                <a:ea typeface="Aptos" pitchFamily="34" charset="-122"/>
                <a:cs typeface="Aptos" pitchFamily="34" charset="-120"/>
              </a:rPr>
              <a:t>LA PRUEBA SIN REQUISITO</a:t>
            </a:r>
            <a:endParaRPr lang="en-US" sz="900" dirty="0"/>
          </a:p>
        </p:txBody>
      </p:sp>
      <p:sp>
        <p:nvSpPr>
          <p:cNvPr id="33" name="Text 30"/>
          <p:cNvSpPr txBox="1"/>
          <p:nvPr/>
        </p:nvSpPr>
        <p:spPr>
          <a:xfrm>
            <a:off x="7059168" y="4389120"/>
            <a:ext cx="4261104" cy="402336"/>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Una de las veinte no responde a ninguna fila: comprueba la fixture, no el sistema.</a:t>
            </a:r>
            <a:endParaRPr lang="en-US" sz="1060" dirty="0"/>
          </a:p>
        </p:txBody>
      </p:sp>
      <p:sp>
        <p:nvSpPr>
          <p:cNvPr id="34" name="Text 31"/>
          <p:cNvSpPr txBox="1"/>
          <p:nvPr/>
        </p:nvSpPr>
        <p:spPr>
          <a:xfrm>
            <a:off x="658368" y="5084064"/>
            <a:ext cx="10874959"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Y hay pruebas que no aparecen: las cinco de extremo a extremo corren con otro ejecutor, y este generador solo lee pytest.</a:t>
            </a:r>
            <a:endParaRPr lang="en-US" sz="1240" dirty="0"/>
          </a:p>
        </p:txBody>
      </p:sp>
      <p:sp>
        <p:nvSpPr>
          <p:cNvPr id="35" name="Shape 32"/>
          <p:cNvSpPr/>
          <p:nvPr/>
        </p:nvSpPr>
        <p:spPr>
          <a:xfrm>
            <a:off x="658368" y="5650992"/>
            <a:ext cx="10874959" cy="548640"/>
          </a:xfrm>
          <a:prstGeom prst="rect">
            <a:avLst/>
          </a:prstGeom>
          <a:solidFill>
            <a:srgbClr val="102A43"/>
          </a:solidFill>
          <a:ln w="12700">
            <a:solidFill>
              <a:srgbClr val="102A43"/>
            </a:solidFill>
            <a:prstDash val="solid"/>
          </a:ln>
        </p:spPr>
      </p:sp>
      <p:sp>
        <p:nvSpPr>
          <p:cNvPr id="36" name="Text 3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hueco solo se puede ver contra algo. Hasta hoy no había contra qué.</a:t>
            </a:r>
            <a:endParaRPr lang="en-US" sz="13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LEER LOS HUECOS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Seis sesiones en verde con un requisito sin probar</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primer hueco es una falta. El segundo no es un veredicto: es una obligación de decidir.</a:t>
            </a:r>
            <a:endParaRPr lang="en-US" sz="1420" dirty="0"/>
          </a:p>
        </p:txBody>
      </p:sp>
      <p:sp>
        <p:nvSpPr>
          <p:cNvPr id="11" name="Shape 8"/>
          <p:cNvSpPr/>
          <p:nvPr/>
        </p:nvSpPr>
        <p:spPr>
          <a:xfrm>
            <a:off x="658368" y="2249424"/>
            <a:ext cx="5943600" cy="2157984"/>
          </a:xfrm>
          <a:prstGeom prst="rect">
            <a:avLst/>
          </a:prstGeom>
          <a:solidFill>
            <a:srgbClr val="F2E7D9"/>
          </a:solidFill>
          <a:ln w="12700">
            <a:solidFill>
              <a:srgbClr val="F2E7D9"/>
            </a:solidFill>
            <a:prstDash val="solid"/>
          </a:ln>
        </p:spPr>
      </p:sp>
      <p:sp>
        <p:nvSpPr>
          <p:cNvPr id="12" name="Shape 9"/>
          <p:cNvSpPr/>
          <p:nvPr/>
        </p:nvSpPr>
        <p:spPr>
          <a:xfrm>
            <a:off x="658368" y="2249424"/>
            <a:ext cx="54864" cy="2157984"/>
          </a:xfrm>
          <a:prstGeom prst="rect">
            <a:avLst/>
          </a:prstGeom>
          <a:solidFill>
            <a:srgbClr val="B3181E"/>
          </a:solidFill>
          <a:ln w="12700">
            <a:solidFill>
              <a:srgbClr val="B3181E"/>
            </a:solidFill>
            <a:prstDash val="solid"/>
          </a:ln>
        </p:spPr>
      </p:sp>
      <p:sp>
        <p:nvSpPr>
          <p:cNvPr id="13" name="Text 10"/>
          <p:cNvSpPr txBox="1"/>
          <p:nvPr/>
        </p:nvSpPr>
        <p:spPr>
          <a:xfrm>
            <a:off x="914400" y="2414016"/>
            <a:ext cx="4572000" cy="219456"/>
          </a:xfrm>
          <a:prstGeom prst="rect">
            <a:avLst/>
          </a:prstGeom>
          <a:noFill/>
          <a:ln/>
        </p:spPr>
        <p:txBody>
          <a:bodyPr wrap="square" lIns="0" tIns="0" rIns="0" bIns="0" rtlCol="0" anchor="t"/>
          <a:lstStyle/>
          <a:p>
            <a:pPr algn="l" indent="0" marL="0">
              <a:buNone/>
            </a:pPr>
            <a:r>
              <a:rPr lang="en-US" sz="960" b="1" spc="100" kern="0" dirty="0">
                <a:solidFill>
                  <a:srgbClr val="B3181E"/>
                </a:solidFill>
                <a:latin typeface="Aptos" pitchFamily="34" charset="0"/>
                <a:ea typeface="Aptos" pitchFamily="34" charset="-122"/>
                <a:cs typeface="Aptos" pitchFamily="34" charset="-120"/>
              </a:rPr>
              <a:t>RF-05 · SIN PRUEBA</a:t>
            </a:r>
            <a:endParaRPr lang="en-US" sz="960" dirty="0"/>
          </a:p>
        </p:txBody>
      </p:sp>
      <p:sp>
        <p:nvSpPr>
          <p:cNvPr id="14" name="Shape 11"/>
          <p:cNvSpPr/>
          <p:nvPr/>
        </p:nvSpPr>
        <p:spPr>
          <a:xfrm>
            <a:off x="914400" y="2706624"/>
            <a:ext cx="5431536" cy="1188720"/>
          </a:xfrm>
          <a:prstGeom prst="roundRect">
            <a:avLst>
              <a:gd name="adj" fmla="val 3077"/>
            </a:avLst>
          </a:prstGeom>
          <a:solidFill>
            <a:srgbClr val="102A43"/>
          </a:solidFill>
          <a:ln w="12700">
            <a:solidFill>
              <a:srgbClr val="102A43"/>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3856" y="3273552"/>
            <a:ext cx="5010912" cy="438912"/>
          </a:xfrm>
          <a:prstGeom prst="rect">
            <a:avLst/>
          </a:prstGeom>
        </p:spPr>
      </p:pic>
      <p:sp>
        <p:nvSpPr>
          <p:cNvPr id="16" name="Text 12"/>
          <p:cNvSpPr txBox="1"/>
          <p:nvPr/>
        </p:nvSpPr>
        <p:spPr>
          <a:xfrm>
            <a:off x="914400" y="3968496"/>
            <a:ext cx="5431536" cy="365760"/>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Está escrita, tiene su constante, y nunca nadie la probó. Una prueba que no existe no falla.</a:t>
            </a:r>
            <a:endParaRPr lang="en-US" sz="1100" dirty="0"/>
          </a:p>
        </p:txBody>
      </p:sp>
      <p:sp>
        <p:nvSpPr>
          <p:cNvPr id="17" name="Text 13"/>
          <p:cNvSpPr txBox="1"/>
          <p:nvPr/>
        </p:nvSpPr>
        <p:spPr>
          <a:xfrm>
            <a:off x="6821424" y="2249424"/>
            <a:ext cx="4718304"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LA PRUEBA SIN REQUISITO ADMITE TRES LECTURAS</a:t>
            </a:r>
            <a:endParaRPr lang="en-US" sz="960" dirty="0"/>
          </a:p>
        </p:txBody>
      </p:sp>
      <p:sp>
        <p:nvSpPr>
          <p:cNvPr id="18" name="Shape 14"/>
          <p:cNvSpPr/>
          <p:nvPr/>
        </p:nvSpPr>
        <p:spPr>
          <a:xfrm>
            <a:off x="6821424" y="2523744"/>
            <a:ext cx="4718304" cy="530352"/>
          </a:xfrm>
          <a:prstGeom prst="rect">
            <a:avLst/>
          </a:prstGeom>
          <a:solidFill>
            <a:srgbClr val="FFFFFF"/>
          </a:solidFill>
          <a:ln w="12700">
            <a:solidFill>
              <a:srgbClr val="FFFFFF"/>
            </a:solidFill>
            <a:prstDash val="solid"/>
          </a:ln>
        </p:spPr>
      </p:sp>
      <p:sp>
        <p:nvSpPr>
          <p:cNvPr id="19" name="Shape 15"/>
          <p:cNvSpPr/>
          <p:nvPr/>
        </p:nvSpPr>
        <p:spPr>
          <a:xfrm>
            <a:off x="6821424" y="2523744"/>
            <a:ext cx="54864" cy="530352"/>
          </a:xfrm>
          <a:prstGeom prst="rect">
            <a:avLst/>
          </a:prstGeom>
          <a:solidFill>
            <a:srgbClr val="102A43"/>
          </a:solidFill>
          <a:ln w="12700">
            <a:solidFill>
              <a:srgbClr val="102A43"/>
            </a:solidFill>
            <a:prstDash val="solid"/>
          </a:ln>
        </p:spPr>
      </p:sp>
      <p:sp>
        <p:nvSpPr>
          <p:cNvPr id="20" name="Text 16"/>
          <p:cNvSpPr txBox="1"/>
          <p:nvPr/>
        </p:nvSpPr>
        <p:spPr>
          <a:xfrm>
            <a:off x="7059168" y="2578608"/>
            <a:ext cx="4297680" cy="201168"/>
          </a:xfrm>
          <a:prstGeom prst="rect">
            <a:avLst/>
          </a:prstGeom>
          <a:noFill/>
          <a:ln/>
        </p:spPr>
        <p:txBody>
          <a:bodyPr wrap="square" lIns="0" tIns="0" rIns="0" bIns="0" rtlCol="0" anchor="t"/>
          <a:lstStyle/>
          <a:p>
            <a:pPr algn="l" indent="0" marL="0">
              <a:buNone/>
            </a:pPr>
            <a:r>
              <a:rPr lang="en-US" sz="1140" b="1" dirty="0">
                <a:solidFill>
                  <a:srgbClr val="102A43"/>
                </a:solidFill>
                <a:latin typeface="Aptos" pitchFamily="34" charset="0"/>
                <a:ea typeface="Aptos" pitchFamily="34" charset="-122"/>
                <a:cs typeface="Aptos" pitchFamily="34" charset="-120"/>
              </a:rPr>
              <a:t>Falta un requisito</a:t>
            </a:r>
            <a:endParaRPr lang="en-US" sz="1140" dirty="0"/>
          </a:p>
        </p:txBody>
      </p:sp>
      <p:sp>
        <p:nvSpPr>
          <p:cNvPr id="21" name="Text 17"/>
          <p:cNvSpPr txBox="1"/>
          <p:nvPr/>
        </p:nvSpPr>
        <p:spPr>
          <a:xfrm>
            <a:off x="7059168" y="2788920"/>
            <a:ext cx="4297680" cy="219456"/>
          </a:xfrm>
          <a:prstGeom prst="rect">
            <a:avLst/>
          </a:prstGeom>
          <a:noFill/>
          <a:ln/>
        </p:spPr>
        <p:txBody>
          <a:bodyPr wrap="square" lIns="0" tIns="0" rIns="0" bIns="0" rtlCol="0" anchor="t"/>
          <a:lstStyle/>
          <a:p>
            <a:pPr algn="l" indent="0" marL="0">
              <a:buNone/>
            </a:pPr>
            <a:r>
              <a:rPr lang="en-US" sz="960" dirty="0">
                <a:solidFill>
                  <a:srgbClr val="52606D"/>
                </a:solidFill>
                <a:latin typeface="Aptos" pitchFamily="34" charset="0"/>
                <a:ea typeface="Aptos" pitchFamily="34" charset="-122"/>
                <a:cs typeface="Aptos" pitchFamily="34" charset="-120"/>
              </a:rPr>
              <a:t>Comprueba algo que el sistema promete y nadie escribió. Se escribe y se marca.</a:t>
            </a:r>
            <a:endParaRPr lang="en-US" sz="960" dirty="0"/>
          </a:p>
        </p:txBody>
      </p:sp>
      <p:sp>
        <p:nvSpPr>
          <p:cNvPr id="22" name="Shape 18"/>
          <p:cNvSpPr/>
          <p:nvPr/>
        </p:nvSpPr>
        <p:spPr>
          <a:xfrm>
            <a:off x="6821424" y="3127248"/>
            <a:ext cx="4718304" cy="530352"/>
          </a:xfrm>
          <a:prstGeom prst="rect">
            <a:avLst/>
          </a:prstGeom>
          <a:solidFill>
            <a:srgbClr val="EDE6DA"/>
          </a:solidFill>
          <a:ln w="12700">
            <a:solidFill>
              <a:srgbClr val="EDE6DA"/>
            </a:solidFill>
            <a:prstDash val="solid"/>
          </a:ln>
        </p:spPr>
      </p:sp>
      <p:sp>
        <p:nvSpPr>
          <p:cNvPr id="23" name="Shape 19"/>
          <p:cNvSpPr/>
          <p:nvPr/>
        </p:nvSpPr>
        <p:spPr>
          <a:xfrm>
            <a:off x="6821424" y="3127248"/>
            <a:ext cx="54864" cy="530352"/>
          </a:xfrm>
          <a:prstGeom prst="rect">
            <a:avLst/>
          </a:prstGeom>
          <a:solidFill>
            <a:srgbClr val="2E7D4F"/>
          </a:solidFill>
          <a:ln w="12700">
            <a:solidFill>
              <a:srgbClr val="2E7D4F"/>
            </a:solidFill>
            <a:prstDash val="solid"/>
          </a:ln>
        </p:spPr>
      </p:sp>
      <p:sp>
        <p:nvSpPr>
          <p:cNvPr id="24" name="Text 20"/>
          <p:cNvSpPr txBox="1"/>
          <p:nvPr/>
        </p:nvSpPr>
        <p:spPr>
          <a:xfrm>
            <a:off x="7059168" y="3182112"/>
            <a:ext cx="4297680" cy="201168"/>
          </a:xfrm>
          <a:prstGeom prst="rect">
            <a:avLst/>
          </a:prstGeom>
          <a:noFill/>
          <a:ln/>
        </p:spPr>
        <p:txBody>
          <a:bodyPr wrap="square" lIns="0" tIns="0" rIns="0" bIns="0" rtlCol="0" anchor="t"/>
          <a:lstStyle/>
          <a:p>
            <a:pPr algn="l" indent="0" marL="0">
              <a:buNone/>
            </a:pPr>
            <a:r>
              <a:rPr lang="en-US" sz="1140" b="1" dirty="0">
                <a:solidFill>
                  <a:srgbClr val="2E7D4F"/>
                </a:solidFill>
                <a:latin typeface="Aptos" pitchFamily="34" charset="0"/>
                <a:ea typeface="Aptos" pitchFamily="34" charset="-122"/>
                <a:cs typeface="Aptos" pitchFamily="34" charset="-120"/>
              </a:rPr>
              <a:t>No es sobre el sistema</a:t>
            </a:r>
            <a:endParaRPr lang="en-US" sz="1140" dirty="0"/>
          </a:p>
        </p:txBody>
      </p:sp>
      <p:sp>
        <p:nvSpPr>
          <p:cNvPr id="25" name="Text 21"/>
          <p:cNvSpPr txBox="1"/>
          <p:nvPr/>
        </p:nvSpPr>
        <p:spPr>
          <a:xfrm>
            <a:off x="7059168" y="3392424"/>
            <a:ext cx="4297680" cy="219456"/>
          </a:xfrm>
          <a:prstGeom prst="rect">
            <a:avLst/>
          </a:prstGeom>
          <a:noFill/>
          <a:ln/>
        </p:spPr>
        <p:txBody>
          <a:bodyPr wrap="square" lIns="0" tIns="0" rIns="0" bIns="0" rtlCol="0" anchor="t"/>
          <a:lstStyle/>
          <a:p>
            <a:pPr algn="l" indent="0" marL="0">
              <a:buNone/>
            </a:pPr>
            <a:r>
              <a:rPr lang="en-US" sz="960" dirty="0">
                <a:solidFill>
                  <a:srgbClr val="52606D"/>
                </a:solidFill>
                <a:latin typeface="Aptos" pitchFamily="34" charset="0"/>
                <a:ea typeface="Aptos" pitchFamily="34" charset="-122"/>
                <a:cs typeface="Aptos" pitchFamily="34" charset="-120"/>
              </a:rPr>
              <a:t>Comprueba el andamiaje de la suite. Se deja, sabiendo que no cubre nada.</a:t>
            </a:r>
            <a:endParaRPr lang="en-US" sz="960" dirty="0"/>
          </a:p>
        </p:txBody>
      </p:sp>
      <p:sp>
        <p:nvSpPr>
          <p:cNvPr id="26" name="Shape 22"/>
          <p:cNvSpPr/>
          <p:nvPr/>
        </p:nvSpPr>
        <p:spPr>
          <a:xfrm>
            <a:off x="6821424" y="3730752"/>
            <a:ext cx="4718304" cy="530352"/>
          </a:xfrm>
          <a:prstGeom prst="rect">
            <a:avLst/>
          </a:prstGeom>
          <a:solidFill>
            <a:srgbClr val="FFFFFF"/>
          </a:solidFill>
          <a:ln w="12700">
            <a:solidFill>
              <a:srgbClr val="FFFFFF"/>
            </a:solidFill>
            <a:prstDash val="solid"/>
          </a:ln>
        </p:spPr>
      </p:sp>
      <p:sp>
        <p:nvSpPr>
          <p:cNvPr id="27" name="Shape 23"/>
          <p:cNvSpPr/>
          <p:nvPr/>
        </p:nvSpPr>
        <p:spPr>
          <a:xfrm>
            <a:off x="6821424" y="3730752"/>
            <a:ext cx="54864" cy="530352"/>
          </a:xfrm>
          <a:prstGeom prst="rect">
            <a:avLst/>
          </a:prstGeom>
          <a:solidFill>
            <a:srgbClr val="B3181E"/>
          </a:solidFill>
          <a:ln w="12700">
            <a:solidFill>
              <a:srgbClr val="B3181E"/>
            </a:solidFill>
            <a:prstDash val="solid"/>
          </a:ln>
        </p:spPr>
      </p:sp>
      <p:sp>
        <p:nvSpPr>
          <p:cNvPr id="28" name="Text 24"/>
          <p:cNvSpPr txBox="1"/>
          <p:nvPr/>
        </p:nvSpPr>
        <p:spPr>
          <a:xfrm>
            <a:off x="7059168" y="3785616"/>
            <a:ext cx="4297680" cy="201168"/>
          </a:xfrm>
          <a:prstGeom prst="rect">
            <a:avLst/>
          </a:prstGeom>
          <a:noFill/>
          <a:ln/>
        </p:spPr>
        <p:txBody>
          <a:bodyPr wrap="square" lIns="0" tIns="0" rIns="0" bIns="0" rtlCol="0" anchor="t"/>
          <a:lstStyle/>
          <a:p>
            <a:pPr algn="l" indent="0" marL="0">
              <a:buNone/>
            </a:pPr>
            <a:r>
              <a:rPr lang="en-US" sz="1140" b="1" dirty="0">
                <a:solidFill>
                  <a:srgbClr val="B3181E"/>
                </a:solidFill>
                <a:latin typeface="Aptos" pitchFamily="34" charset="0"/>
                <a:ea typeface="Aptos" pitchFamily="34" charset="-122"/>
                <a:cs typeface="Aptos" pitchFamily="34" charset="-120"/>
              </a:rPr>
              <a:t>Fija el código, no la regla</a:t>
            </a:r>
            <a:endParaRPr lang="en-US" sz="1140" dirty="0"/>
          </a:p>
        </p:txBody>
      </p:sp>
      <p:sp>
        <p:nvSpPr>
          <p:cNvPr id="29" name="Text 25"/>
          <p:cNvSpPr txBox="1"/>
          <p:nvPr/>
        </p:nvSpPr>
        <p:spPr>
          <a:xfrm>
            <a:off x="7059168" y="3995928"/>
            <a:ext cx="4297680" cy="219456"/>
          </a:xfrm>
          <a:prstGeom prst="rect">
            <a:avLst/>
          </a:prstGeom>
          <a:noFill/>
          <a:ln/>
        </p:spPr>
        <p:txBody>
          <a:bodyPr wrap="square" lIns="0" tIns="0" rIns="0" bIns="0" rtlCol="0" anchor="t"/>
          <a:lstStyle/>
          <a:p>
            <a:pPr algn="l" indent="0" marL="0">
              <a:buNone/>
            </a:pPr>
            <a:r>
              <a:rPr lang="en-US" sz="960" dirty="0">
                <a:solidFill>
                  <a:srgbClr val="52606D"/>
                </a:solidFill>
                <a:latin typeface="Aptos" pitchFamily="34" charset="0"/>
                <a:ea typeface="Aptos" pitchFamily="34" charset="-122"/>
                <a:cs typeface="Aptos" pitchFamily="34" charset="-120"/>
              </a:rPr>
              <a:t>Se escribió mirando la implementación. El día que la regla cambie, defenderá la versión vieja.</a:t>
            </a:r>
            <a:endParaRPr lang="en-US" sz="960" dirty="0"/>
          </a:p>
        </p:txBody>
      </p:sp>
      <p:sp>
        <p:nvSpPr>
          <p:cNvPr id="30" name="Shape 26"/>
          <p:cNvSpPr/>
          <p:nvPr/>
        </p:nvSpPr>
        <p:spPr>
          <a:xfrm>
            <a:off x="6821424" y="4389120"/>
            <a:ext cx="4718304" cy="658368"/>
          </a:xfrm>
          <a:prstGeom prst="rect">
            <a:avLst/>
          </a:prstGeom>
          <a:solidFill>
            <a:srgbClr val="1D3A57"/>
          </a:solidFill>
          <a:ln w="12700">
            <a:solidFill>
              <a:srgbClr val="1D3A57"/>
            </a:solidFill>
            <a:prstDash val="solid"/>
          </a:ln>
        </p:spPr>
      </p:sp>
      <p:sp>
        <p:nvSpPr>
          <p:cNvPr id="31" name="Text 27"/>
          <p:cNvSpPr txBox="1"/>
          <p:nvPr/>
        </p:nvSpPr>
        <p:spPr>
          <a:xfrm>
            <a:off x="7059168" y="4480560"/>
            <a:ext cx="4242816" cy="493776"/>
          </a:xfrm>
          <a:prstGeom prst="rect">
            <a:avLst/>
          </a:prstGeom>
          <a:noFill/>
          <a:ln/>
        </p:spPr>
        <p:txBody>
          <a:bodyPr wrap="square" lIns="0" tIns="0" rIns="0" bIns="0" rtlCol="0" anchor="t"/>
          <a:lstStyle/>
          <a:p>
            <a:pPr algn="l" indent="0" marL="0">
              <a:lnSpc>
                <a:spcPct val="112000"/>
              </a:lnSpc>
              <a:buNone/>
            </a:pPr>
            <a:r>
              <a:rPr lang="en-US" sz="1120" b="1" dirty="0">
                <a:solidFill>
                  <a:srgbClr val="FFFFFF"/>
                </a:solidFill>
                <a:latin typeface="Aptos" pitchFamily="34" charset="0"/>
                <a:ea typeface="Aptos" pitchFamily="34" charset="-122"/>
                <a:cs typeface="Aptos" pitchFamily="34" charset="-120"/>
              </a:rPr>
              <a:t>Cuál de las tres es, lo decide una persona. La matriz solo garantiza que aparezca en la lista.</a:t>
            </a:r>
            <a:endParaRPr lang="en-US" sz="1120" dirty="0"/>
          </a:p>
        </p:txBody>
      </p:sp>
      <p:sp>
        <p:nvSpPr>
          <p:cNvPr id="32" name="Text 28"/>
          <p:cNvSpPr txBox="1"/>
          <p:nvPr/>
        </p:nvSpPr>
        <p:spPr>
          <a:xfrm>
            <a:off x="658368" y="4535424"/>
            <a:ext cx="5943600" cy="402336"/>
          </a:xfrm>
          <a:prstGeom prst="rect">
            <a:avLst/>
          </a:prstGeom>
          <a:noFill/>
          <a:ln/>
        </p:spPr>
        <p:txBody>
          <a:bodyPr wrap="square" lIns="0" tIns="0" rIns="0" bIns="0" rtlCol="0" anchor="t"/>
          <a:lstStyle/>
          <a:p>
            <a:pPr algn="l" indent="0" marL="0">
              <a:lnSpc>
                <a:spcPct val="110000"/>
              </a:lnSpc>
              <a:buNone/>
            </a:pPr>
            <a:r>
              <a:rPr lang="en-US" sz="1100" i="1" dirty="0">
                <a:solidFill>
                  <a:srgbClr val="52606D"/>
                </a:solidFill>
                <a:latin typeface="Aptos" pitchFamily="34" charset="0"/>
                <a:ea typeface="Aptos" pitchFamily="34" charset="-122"/>
                <a:cs typeface="Aptos" pitchFamily="34" charset="-120"/>
              </a:rPr>
              <a:t>En este proyecto es la segunda: comprueba que la fixture preparó la base de datos.</a:t>
            </a:r>
            <a:endParaRPr lang="en-US" sz="1100" dirty="0"/>
          </a:p>
        </p:txBody>
      </p:sp>
      <p:sp>
        <p:nvSpPr>
          <p:cNvPr id="33" name="Shape 29"/>
          <p:cNvSpPr/>
          <p:nvPr/>
        </p:nvSpPr>
        <p:spPr>
          <a:xfrm>
            <a:off x="658368" y="5650992"/>
            <a:ext cx="10874959" cy="548640"/>
          </a:xfrm>
          <a:prstGeom prst="rect">
            <a:avLst/>
          </a:prstGeom>
          <a:solidFill>
            <a:srgbClr val="102A43"/>
          </a:solidFill>
          <a:ln w="12700">
            <a:solidFill>
              <a:srgbClr val="102A43"/>
            </a:solidFill>
            <a:prstDash val="solid"/>
          </a:ln>
        </p:spPr>
      </p:sp>
      <p:sp>
        <p:nvSpPr>
          <p:cNvPr id="34" name="Text 3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Nadie sabía que no lo sabía, y nada tenía cómo avisarlo.</a:t>
            </a:r>
            <a:endParaRPr lang="en-US" sz="13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LÍMITE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RF-06 figura como cubierto y no está verificado</a:t>
            </a:r>
            <a:endParaRPr lang="en-US" sz="27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Su única prueba comprueba el código de estado. No mira el comprobante, que es lo que el requisito promete.</a:t>
            </a:r>
            <a:endParaRPr lang="en-US" sz="1420" dirty="0"/>
          </a:p>
        </p:txBody>
      </p:sp>
      <p:sp>
        <p:nvSpPr>
          <p:cNvPr id="11" name="Shape 8"/>
          <p:cNvSpPr/>
          <p:nvPr/>
        </p:nvSpPr>
        <p:spPr>
          <a:xfrm>
            <a:off x="658368" y="2231136"/>
            <a:ext cx="5669280" cy="1188720"/>
          </a:xfrm>
          <a:prstGeom prst="roundRect">
            <a:avLst>
              <a:gd name="adj" fmla="val 3077"/>
            </a:avLst>
          </a:prstGeom>
          <a:solidFill>
            <a:srgbClr val="102A43"/>
          </a:solidFill>
          <a:ln w="12700">
            <a:solidFill>
              <a:srgbClr val="102A43"/>
            </a:solidFill>
            <a:prstDash val="solid"/>
          </a:ln>
        </p:spPr>
      </p:sp>
      <p:sp>
        <p:nvSpPr>
          <p:cNvPr id="12" name="Shape 9"/>
          <p:cNvSpPr/>
          <p:nvPr/>
        </p:nvSpPr>
        <p:spPr>
          <a:xfrm>
            <a:off x="786384" y="2340864"/>
            <a:ext cx="541324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14016"/>
            <a:ext cx="519379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Antes · lo que el requisito pide</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798064"/>
            <a:ext cx="5248656" cy="438912"/>
          </a:xfrm>
          <a:prstGeom prst="rect">
            <a:avLst/>
          </a:prstGeom>
        </p:spPr>
      </p:pic>
      <p:sp>
        <p:nvSpPr>
          <p:cNvPr id="15" name="Shape 11"/>
          <p:cNvSpPr/>
          <p:nvPr/>
        </p:nvSpPr>
        <p:spPr>
          <a:xfrm>
            <a:off x="658368" y="3547872"/>
            <a:ext cx="5669280" cy="1188720"/>
          </a:xfrm>
          <a:prstGeom prst="roundRect">
            <a:avLst>
              <a:gd name="adj" fmla="val 3077"/>
            </a:avLst>
          </a:prstGeom>
          <a:solidFill>
            <a:srgbClr val="102A43"/>
          </a:solidFill>
          <a:ln w="12700">
            <a:solidFill>
              <a:srgbClr val="102A43"/>
            </a:solidFill>
            <a:prstDash val="solid"/>
          </a:ln>
        </p:spPr>
      </p:sp>
      <p:sp>
        <p:nvSpPr>
          <p:cNvPr id="16" name="Shape 12"/>
          <p:cNvSpPr/>
          <p:nvPr/>
        </p:nvSpPr>
        <p:spPr>
          <a:xfrm>
            <a:off x="786384" y="3657600"/>
            <a:ext cx="5413248" cy="310896"/>
          </a:xfrm>
          <a:prstGeom prst="roundRect">
            <a:avLst>
              <a:gd name="adj" fmla="val 8824"/>
            </a:avLst>
          </a:prstGeom>
          <a:solidFill>
            <a:srgbClr val="284B75"/>
          </a:solidFill>
          <a:ln w="12700">
            <a:solidFill>
              <a:srgbClr val="284B75"/>
            </a:solidFill>
            <a:prstDash val="solid"/>
          </a:ln>
        </p:spPr>
      </p:sp>
      <p:sp>
        <p:nvSpPr>
          <p:cNvPr id="17" name="Text 13"/>
          <p:cNvSpPr/>
          <p:nvPr/>
        </p:nvSpPr>
        <p:spPr>
          <a:xfrm>
            <a:off x="896112" y="3730752"/>
            <a:ext cx="519379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Después · el mutante, destruido a propósito</a:t>
            </a:r>
            <a:endParaRPr lang="en-US" sz="10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7824" y="4114800"/>
            <a:ext cx="5248656" cy="438912"/>
          </a:xfrm>
          <a:prstGeom prst="rect">
            <a:avLst/>
          </a:prstGeom>
        </p:spPr>
      </p:pic>
      <p:sp>
        <p:nvSpPr>
          <p:cNvPr id="19" name="Shape 14"/>
          <p:cNvSpPr/>
          <p:nvPr/>
        </p:nvSpPr>
        <p:spPr>
          <a:xfrm>
            <a:off x="658368" y="4791456"/>
            <a:ext cx="5669280" cy="786384"/>
          </a:xfrm>
          <a:prstGeom prst="rect">
            <a:avLst/>
          </a:prstGeom>
          <a:solidFill>
            <a:srgbClr val="FFFFFF"/>
          </a:solidFill>
          <a:ln w="12700">
            <a:solidFill>
              <a:srgbClr val="FFFFFF"/>
            </a:solidFill>
            <a:prstDash val="solid"/>
          </a:ln>
        </p:spPr>
      </p:sp>
      <p:sp>
        <p:nvSpPr>
          <p:cNvPr id="20" name="Shape 15"/>
          <p:cNvSpPr/>
          <p:nvPr/>
        </p:nvSpPr>
        <p:spPr>
          <a:xfrm>
            <a:off x="658368" y="4791456"/>
            <a:ext cx="54864" cy="786384"/>
          </a:xfrm>
          <a:prstGeom prst="rect">
            <a:avLst/>
          </a:prstGeom>
          <a:solidFill>
            <a:srgbClr val="B3181E"/>
          </a:solidFill>
          <a:ln w="12700">
            <a:solidFill>
              <a:srgbClr val="B3181E"/>
            </a:solidFill>
            <a:prstDash val="solid"/>
          </a:ln>
        </p:spPr>
      </p:sp>
      <p:sp>
        <p:nvSpPr>
          <p:cNvPr id="21" name="Text 16"/>
          <p:cNvSpPr txBox="1"/>
          <p:nvPr/>
        </p:nvSpPr>
        <p:spPr>
          <a:xfrm>
            <a:off x="896112" y="4919472"/>
            <a:ext cx="5212080"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MUTANTE</a:t>
            </a:r>
            <a:endParaRPr lang="en-US" sz="920" dirty="0"/>
          </a:p>
        </p:txBody>
      </p:sp>
      <p:sp>
        <p:nvSpPr>
          <p:cNvPr id="22" name="Text 17"/>
          <p:cNvSpPr txBox="1"/>
          <p:nvPr/>
        </p:nvSpPr>
        <p:spPr>
          <a:xfrm>
            <a:off x="896112" y="5175504"/>
            <a:ext cx="5212080" cy="292608"/>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Una alteración deliberada del código, hecha para ver si la suite reacciona. Aquí el comprobante perdió el nombre, el RUT, el correo y el bloque.</a:t>
            </a:r>
            <a:endParaRPr lang="en-US" sz="1210" dirty="0"/>
          </a:p>
        </p:txBody>
      </p:sp>
      <p:sp>
        <p:nvSpPr>
          <p:cNvPr id="23" name="Text 18"/>
          <p:cNvSpPr txBox="1"/>
          <p:nvPr/>
        </p:nvSpPr>
        <p:spPr>
          <a:xfrm>
            <a:off x="6547104" y="2231136"/>
            <a:ext cx="4992624"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QUÉ DIJO CADA ARTEFACTO</a:t>
            </a:r>
            <a:endParaRPr lang="en-US" sz="960" dirty="0"/>
          </a:p>
        </p:txBody>
      </p:sp>
      <p:sp>
        <p:nvSpPr>
          <p:cNvPr id="24" name="Shape 19"/>
          <p:cNvSpPr/>
          <p:nvPr/>
        </p:nvSpPr>
        <p:spPr>
          <a:xfrm>
            <a:off x="6547104" y="2505456"/>
            <a:ext cx="4992624" cy="603504"/>
          </a:xfrm>
          <a:prstGeom prst="rect">
            <a:avLst/>
          </a:prstGeom>
          <a:solidFill>
            <a:srgbClr val="F2E7D9"/>
          </a:solidFill>
          <a:ln w="12700">
            <a:solidFill>
              <a:srgbClr val="F2E7D9"/>
            </a:solidFill>
            <a:prstDash val="solid"/>
          </a:ln>
        </p:spPr>
      </p:sp>
      <p:sp>
        <p:nvSpPr>
          <p:cNvPr id="25" name="Shape 20"/>
          <p:cNvSpPr/>
          <p:nvPr/>
        </p:nvSpPr>
        <p:spPr>
          <a:xfrm>
            <a:off x="6547104" y="2505456"/>
            <a:ext cx="54864" cy="603504"/>
          </a:xfrm>
          <a:prstGeom prst="rect">
            <a:avLst/>
          </a:prstGeom>
          <a:solidFill>
            <a:srgbClr val="B3181E"/>
          </a:solidFill>
          <a:ln w="12700">
            <a:solidFill>
              <a:srgbClr val="B3181E"/>
            </a:solidFill>
            <a:prstDash val="solid"/>
          </a:ln>
        </p:spPr>
      </p:sp>
      <p:sp>
        <p:nvSpPr>
          <p:cNvPr id="26" name="Text 21"/>
          <p:cNvSpPr txBox="1"/>
          <p:nvPr/>
        </p:nvSpPr>
        <p:spPr>
          <a:xfrm>
            <a:off x="6784848" y="2688336"/>
            <a:ext cx="1335024"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La suite</a:t>
            </a:r>
            <a:endParaRPr lang="en-US" sz="1160" dirty="0"/>
          </a:p>
        </p:txBody>
      </p:sp>
      <p:sp>
        <p:nvSpPr>
          <p:cNvPr id="27" name="Text 22"/>
          <p:cNvSpPr txBox="1"/>
          <p:nvPr/>
        </p:nvSpPr>
        <p:spPr>
          <a:xfrm>
            <a:off x="8229600" y="2688336"/>
            <a:ext cx="1737360" cy="237744"/>
          </a:xfrm>
          <a:prstGeom prst="rect">
            <a:avLst/>
          </a:prstGeom>
          <a:noFill/>
          <a:ln/>
        </p:spPr>
        <p:txBody>
          <a:bodyPr wrap="square" lIns="0" tIns="0" rIns="0" bIns="0" rtlCol="0" anchor="t"/>
          <a:lstStyle/>
          <a:p>
            <a:pPr algn="l" indent="0" marL="0">
              <a:buNone/>
            </a:pPr>
            <a:r>
              <a:rPr lang="en-US" sz="1100" b="1" dirty="0">
                <a:solidFill>
                  <a:srgbClr val="B3181E"/>
                </a:solidFill>
                <a:latin typeface="Consolas" pitchFamily="34" charset="0"/>
                <a:ea typeface="Consolas" pitchFamily="34" charset="-122"/>
                <a:cs typeface="Consolas" pitchFamily="34" charset="-120"/>
              </a:rPr>
              <a:t>20 passed</a:t>
            </a:r>
            <a:endParaRPr lang="en-US" sz="1100" dirty="0"/>
          </a:p>
        </p:txBody>
      </p:sp>
      <p:sp>
        <p:nvSpPr>
          <p:cNvPr id="28" name="Text 23"/>
          <p:cNvSpPr txBox="1"/>
          <p:nvPr/>
        </p:nvSpPr>
        <p:spPr>
          <a:xfrm>
            <a:off x="10040112" y="2697480"/>
            <a:ext cx="1371600" cy="219456"/>
          </a:xfrm>
          <a:prstGeom prst="rect">
            <a:avLst/>
          </a:prstGeom>
          <a:noFill/>
          <a:ln/>
        </p:spPr>
        <p:txBody>
          <a:bodyPr wrap="square" lIns="0" tIns="0" rIns="0" bIns="0" rtlCol="0" anchor="t"/>
          <a:lstStyle/>
          <a:p>
            <a:pPr algn="l" indent="0" marL="0">
              <a:lnSpc>
                <a:spcPct val="105000"/>
              </a:lnSpc>
              <a:buNone/>
            </a:pPr>
            <a:r>
              <a:rPr lang="en-US" sz="880" dirty="0">
                <a:solidFill>
                  <a:srgbClr val="52606D"/>
                </a:solidFill>
                <a:latin typeface="Aptos" pitchFamily="34" charset="0"/>
                <a:ea typeface="Aptos" pitchFamily="34" charset="-122"/>
                <a:cs typeface="Aptos" pitchFamily="34" charset="-120"/>
              </a:rPr>
              <a:t>Ninguna prueba se puso roja.</a:t>
            </a:r>
            <a:endParaRPr lang="en-US" sz="880" dirty="0"/>
          </a:p>
        </p:txBody>
      </p:sp>
      <p:sp>
        <p:nvSpPr>
          <p:cNvPr id="29" name="Shape 24"/>
          <p:cNvSpPr/>
          <p:nvPr/>
        </p:nvSpPr>
        <p:spPr>
          <a:xfrm>
            <a:off x="6547104" y="3218688"/>
            <a:ext cx="4992624" cy="603504"/>
          </a:xfrm>
          <a:prstGeom prst="rect">
            <a:avLst/>
          </a:prstGeom>
          <a:solidFill>
            <a:srgbClr val="F2E7D9"/>
          </a:solidFill>
          <a:ln w="12700">
            <a:solidFill>
              <a:srgbClr val="F2E7D9"/>
            </a:solidFill>
            <a:prstDash val="solid"/>
          </a:ln>
        </p:spPr>
      </p:sp>
      <p:sp>
        <p:nvSpPr>
          <p:cNvPr id="30" name="Shape 25"/>
          <p:cNvSpPr/>
          <p:nvPr/>
        </p:nvSpPr>
        <p:spPr>
          <a:xfrm>
            <a:off x="6547104" y="3218688"/>
            <a:ext cx="54864" cy="603504"/>
          </a:xfrm>
          <a:prstGeom prst="rect">
            <a:avLst/>
          </a:prstGeom>
          <a:solidFill>
            <a:srgbClr val="B3181E"/>
          </a:solidFill>
          <a:ln w="12700">
            <a:solidFill>
              <a:srgbClr val="B3181E"/>
            </a:solidFill>
            <a:prstDash val="solid"/>
          </a:ln>
        </p:spPr>
      </p:sp>
      <p:sp>
        <p:nvSpPr>
          <p:cNvPr id="31" name="Text 26"/>
          <p:cNvSpPr txBox="1"/>
          <p:nvPr/>
        </p:nvSpPr>
        <p:spPr>
          <a:xfrm>
            <a:off x="6784848" y="3401568"/>
            <a:ext cx="1335024"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La matriz</a:t>
            </a:r>
            <a:endParaRPr lang="en-US" sz="1160" dirty="0"/>
          </a:p>
        </p:txBody>
      </p:sp>
      <p:sp>
        <p:nvSpPr>
          <p:cNvPr id="32" name="Text 27"/>
          <p:cNvSpPr txBox="1"/>
          <p:nvPr/>
        </p:nvSpPr>
        <p:spPr>
          <a:xfrm>
            <a:off x="8229600" y="3401568"/>
            <a:ext cx="1737360" cy="237744"/>
          </a:xfrm>
          <a:prstGeom prst="rect">
            <a:avLst/>
          </a:prstGeom>
          <a:noFill/>
          <a:ln/>
        </p:spPr>
        <p:txBody>
          <a:bodyPr wrap="square" lIns="0" tIns="0" rIns="0" bIns="0" rtlCol="0" anchor="t"/>
          <a:lstStyle/>
          <a:p>
            <a:pPr algn="l" indent="0" marL="0">
              <a:buNone/>
            </a:pPr>
            <a:r>
              <a:rPr lang="en-US" sz="1100" b="1" dirty="0">
                <a:solidFill>
                  <a:srgbClr val="B3181E"/>
                </a:solidFill>
                <a:latin typeface="Consolas" pitchFamily="34" charset="0"/>
                <a:ea typeface="Consolas" pitchFamily="34" charset="-122"/>
                <a:cs typeface="Consolas" pitchFamily="34" charset="-120"/>
              </a:rPr>
              <a:t>RF-06 · cubierto</a:t>
            </a:r>
            <a:endParaRPr lang="en-US" sz="1100" dirty="0"/>
          </a:p>
        </p:txBody>
      </p:sp>
      <p:sp>
        <p:nvSpPr>
          <p:cNvPr id="33" name="Text 28"/>
          <p:cNvSpPr txBox="1"/>
          <p:nvPr/>
        </p:nvSpPr>
        <p:spPr>
          <a:xfrm>
            <a:off x="10040112" y="3410712"/>
            <a:ext cx="1371600" cy="219456"/>
          </a:xfrm>
          <a:prstGeom prst="rect">
            <a:avLst/>
          </a:prstGeom>
          <a:noFill/>
          <a:ln/>
        </p:spPr>
        <p:txBody>
          <a:bodyPr wrap="square" lIns="0" tIns="0" rIns="0" bIns="0" rtlCol="0" anchor="t"/>
          <a:lstStyle/>
          <a:p>
            <a:pPr algn="l" indent="0" marL="0">
              <a:lnSpc>
                <a:spcPct val="105000"/>
              </a:lnSpc>
              <a:buNone/>
            </a:pPr>
            <a:r>
              <a:rPr lang="en-US" sz="880" dirty="0">
                <a:solidFill>
                  <a:srgbClr val="52606D"/>
                </a:solidFill>
                <a:latin typeface="Aptos" pitchFamily="34" charset="0"/>
                <a:ea typeface="Aptos" pitchFamily="34" charset="-122"/>
                <a:cs typeface="Aptos" pitchFamily="34" charset="-120"/>
              </a:rPr>
              <a:t>Sigue informando lo mismo.</a:t>
            </a:r>
            <a:endParaRPr lang="en-US" sz="880" dirty="0"/>
          </a:p>
        </p:txBody>
      </p:sp>
      <p:sp>
        <p:nvSpPr>
          <p:cNvPr id="34" name="Shape 29"/>
          <p:cNvSpPr/>
          <p:nvPr/>
        </p:nvSpPr>
        <p:spPr>
          <a:xfrm>
            <a:off x="6547104" y="3931920"/>
            <a:ext cx="4992624" cy="603504"/>
          </a:xfrm>
          <a:prstGeom prst="rect">
            <a:avLst/>
          </a:prstGeom>
          <a:solidFill>
            <a:srgbClr val="EDE6DA"/>
          </a:solidFill>
          <a:ln w="12700">
            <a:solidFill>
              <a:srgbClr val="EDE6DA"/>
            </a:solidFill>
            <a:prstDash val="solid"/>
          </a:ln>
        </p:spPr>
      </p:sp>
      <p:sp>
        <p:nvSpPr>
          <p:cNvPr id="35" name="Shape 30"/>
          <p:cNvSpPr/>
          <p:nvPr/>
        </p:nvSpPr>
        <p:spPr>
          <a:xfrm>
            <a:off x="6547104" y="3931920"/>
            <a:ext cx="54864" cy="603504"/>
          </a:xfrm>
          <a:prstGeom prst="rect">
            <a:avLst/>
          </a:prstGeom>
          <a:solidFill>
            <a:srgbClr val="52606D"/>
          </a:solidFill>
          <a:ln w="12700">
            <a:solidFill>
              <a:srgbClr val="52606D"/>
            </a:solidFill>
            <a:prstDash val="solid"/>
          </a:ln>
        </p:spPr>
      </p:sp>
      <p:sp>
        <p:nvSpPr>
          <p:cNvPr id="36" name="Text 31"/>
          <p:cNvSpPr txBox="1"/>
          <p:nvPr/>
        </p:nvSpPr>
        <p:spPr>
          <a:xfrm>
            <a:off x="6784848" y="4114800"/>
            <a:ext cx="1335024"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El requisito</a:t>
            </a:r>
            <a:endParaRPr lang="en-US" sz="1160" dirty="0"/>
          </a:p>
        </p:txBody>
      </p:sp>
      <p:sp>
        <p:nvSpPr>
          <p:cNvPr id="37" name="Text 32"/>
          <p:cNvSpPr txBox="1"/>
          <p:nvPr/>
        </p:nvSpPr>
        <p:spPr>
          <a:xfrm>
            <a:off x="8229600" y="4114800"/>
            <a:ext cx="1737360" cy="237744"/>
          </a:xfrm>
          <a:prstGeom prst="rect">
            <a:avLst/>
          </a:prstGeom>
          <a:noFill/>
          <a:ln/>
        </p:spPr>
        <p:txBody>
          <a:bodyPr wrap="square" lIns="0" tIns="0" rIns="0" bIns="0" rtlCol="0" anchor="t"/>
          <a:lstStyle/>
          <a:p>
            <a:pPr algn="l" indent="0" marL="0">
              <a:buNone/>
            </a:pPr>
            <a:r>
              <a:rPr lang="en-US" sz="1100" b="1" dirty="0">
                <a:solidFill>
                  <a:srgbClr val="52606D"/>
                </a:solidFill>
                <a:latin typeface="Consolas" pitchFamily="34" charset="0"/>
                <a:ea typeface="Consolas" pitchFamily="34" charset="-122"/>
                <a:cs typeface="Consolas" pitchFamily="34" charset="-120"/>
              </a:rPr>
              <a:t>destruido</a:t>
            </a:r>
            <a:endParaRPr lang="en-US" sz="1100" dirty="0"/>
          </a:p>
        </p:txBody>
      </p:sp>
      <p:sp>
        <p:nvSpPr>
          <p:cNvPr id="38" name="Text 33"/>
          <p:cNvSpPr txBox="1"/>
          <p:nvPr/>
        </p:nvSpPr>
        <p:spPr>
          <a:xfrm>
            <a:off x="10040112" y="4123944"/>
            <a:ext cx="1371600" cy="219456"/>
          </a:xfrm>
          <a:prstGeom prst="rect">
            <a:avLst/>
          </a:prstGeom>
          <a:noFill/>
          <a:ln/>
        </p:spPr>
        <p:txBody>
          <a:bodyPr wrap="square" lIns="0" tIns="0" rIns="0" bIns="0" rtlCol="0" anchor="t"/>
          <a:lstStyle/>
          <a:p>
            <a:pPr algn="l" indent="0" marL="0">
              <a:lnSpc>
                <a:spcPct val="105000"/>
              </a:lnSpc>
              <a:buNone/>
            </a:pPr>
            <a:r>
              <a:rPr lang="en-US" sz="880" dirty="0">
                <a:solidFill>
                  <a:srgbClr val="52606D"/>
                </a:solidFill>
                <a:latin typeface="Aptos" pitchFamily="34" charset="0"/>
                <a:ea typeface="Aptos" pitchFamily="34" charset="-122"/>
                <a:cs typeface="Aptos" pitchFamily="34" charset="-120"/>
              </a:rPr>
              <a:t>No se cumple en absoluto.</a:t>
            </a:r>
            <a:endParaRPr lang="en-US" sz="880" dirty="0"/>
          </a:p>
        </p:txBody>
      </p:sp>
      <p:sp>
        <p:nvSpPr>
          <p:cNvPr id="39" name="Shape 34"/>
          <p:cNvSpPr/>
          <p:nvPr/>
        </p:nvSpPr>
        <p:spPr>
          <a:xfrm>
            <a:off x="6547104" y="4700016"/>
            <a:ext cx="4992624" cy="786384"/>
          </a:xfrm>
          <a:prstGeom prst="rect">
            <a:avLst/>
          </a:prstGeom>
          <a:solidFill>
            <a:srgbClr val="1D3A57"/>
          </a:solidFill>
          <a:ln w="12700">
            <a:solidFill>
              <a:srgbClr val="1D3A57"/>
            </a:solidFill>
            <a:prstDash val="solid"/>
          </a:ln>
        </p:spPr>
      </p:sp>
      <p:sp>
        <p:nvSpPr>
          <p:cNvPr id="40" name="Text 35"/>
          <p:cNvSpPr txBox="1"/>
          <p:nvPr/>
        </p:nvSpPr>
        <p:spPr>
          <a:xfrm>
            <a:off x="6784848" y="4791456"/>
            <a:ext cx="4517136" cy="621792"/>
          </a:xfrm>
          <a:prstGeom prst="rect">
            <a:avLst/>
          </a:prstGeom>
          <a:noFill/>
          <a:ln/>
        </p:spPr>
        <p:txBody>
          <a:bodyPr wrap="square" lIns="0" tIns="0" rIns="0" bIns="0" rtlCol="0" anchor="t"/>
          <a:lstStyle/>
          <a:p>
            <a:pPr algn="l" indent="0" marL="0">
              <a:lnSpc>
                <a:spcPct val="114000"/>
              </a:lnSpc>
              <a:buNone/>
            </a:pPr>
            <a:r>
              <a:rPr lang="en-US" sz="1140" b="1" dirty="0">
                <a:solidFill>
                  <a:srgbClr val="FFFFFF"/>
                </a:solidFill>
                <a:latin typeface="Aptos" pitchFamily="34" charset="0"/>
                <a:ea typeface="Aptos" pitchFamily="34" charset="-122"/>
                <a:cs typeface="Aptos" pitchFamily="34" charset="-120"/>
              </a:rPr>
              <a:t>Una matriz demuestra que la relación existe. No que la prueba compruebe el requisito. Detecta ausencias, no insuficiencias.</a:t>
            </a:r>
            <a:endParaRPr lang="en-US" sz="1140" dirty="0"/>
          </a:p>
        </p:txBody>
      </p:sp>
      <p:sp>
        <p:nvSpPr>
          <p:cNvPr id="41" name="Shape 36"/>
          <p:cNvSpPr/>
          <p:nvPr/>
        </p:nvSpPr>
        <p:spPr>
          <a:xfrm>
            <a:off x="658368" y="5650992"/>
            <a:ext cx="10874959" cy="548640"/>
          </a:xfrm>
          <a:prstGeom prst="rect">
            <a:avLst/>
          </a:prstGeom>
          <a:solidFill>
            <a:srgbClr val="102A43"/>
          </a:solidFill>
          <a:ln w="12700">
            <a:solidFill>
              <a:srgbClr val="102A43"/>
            </a:solidFill>
            <a:prstDash val="solid"/>
          </a:ln>
        </p:spPr>
      </p:sp>
      <p:sp>
        <p:nvSpPr>
          <p:cNvPr id="42" name="Text 3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Que la suite reaccione ante un mutante se llama sensibilidad, y es lo que aquí falta.</a:t>
            </a:r>
            <a:endParaRPr lang="en-US" sz="13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EXPERIMENTO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agente acertó donde el programa falló</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Se le dieron los requisitos y las pruebas sin marcar, con acceso solo de lectura, y se le pidió la misma matriz.</a:t>
            </a:r>
            <a:endParaRPr lang="en-US" sz="1420" dirty="0"/>
          </a:p>
        </p:txBody>
      </p:sp>
      <p:sp>
        <p:nvSpPr>
          <p:cNvPr id="11" name="Shape 8"/>
          <p:cNvSpPr/>
          <p:nvPr/>
        </p:nvSpPr>
        <p:spPr>
          <a:xfrm>
            <a:off x="658368" y="2231136"/>
            <a:ext cx="10874959" cy="658368"/>
          </a:xfrm>
          <a:prstGeom prst="rect">
            <a:avLst/>
          </a:prstGeom>
          <a:solidFill>
            <a:srgbClr val="EDE6DA"/>
          </a:solidFill>
          <a:ln w="12700">
            <a:solidFill>
              <a:srgbClr val="EDE6DA"/>
            </a:solidFill>
            <a:prstDash val="solid"/>
          </a:ln>
        </p:spPr>
      </p:sp>
      <p:sp>
        <p:nvSpPr>
          <p:cNvPr id="12" name="Shape 9"/>
          <p:cNvSpPr/>
          <p:nvPr/>
        </p:nvSpPr>
        <p:spPr>
          <a:xfrm>
            <a:off x="658368" y="2231136"/>
            <a:ext cx="54864" cy="658368"/>
          </a:xfrm>
          <a:prstGeom prst="rect">
            <a:avLst/>
          </a:prstGeom>
          <a:solidFill>
            <a:srgbClr val="2E7D4F"/>
          </a:solidFill>
          <a:ln w="12700">
            <a:solidFill>
              <a:srgbClr val="2E7D4F"/>
            </a:solidFill>
            <a:prstDash val="solid"/>
          </a:ln>
        </p:spPr>
      </p:sp>
      <p:sp>
        <p:nvSpPr>
          <p:cNvPr id="13" name="Text 10"/>
          <p:cNvSpPr txBox="1"/>
          <p:nvPr/>
        </p:nvSpPr>
        <p:spPr>
          <a:xfrm>
            <a:off x="914400" y="2359152"/>
            <a:ext cx="10362895" cy="219456"/>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«RF-06 · sin cubrir: la prueba solo revisa el código 201, nunca se revisa el contenido del comprobante.»</a:t>
            </a:r>
            <a:endParaRPr lang="en-US" sz="1180" dirty="0"/>
          </a:p>
        </p:txBody>
      </p:sp>
      <p:sp>
        <p:nvSpPr>
          <p:cNvPr id="14" name="Text 11"/>
          <p:cNvSpPr txBox="1"/>
          <p:nvPr/>
        </p:nvSpPr>
        <p:spPr>
          <a:xfrm>
            <a:off x="914400" y="2615184"/>
            <a:ext cx="10362895" cy="182880"/>
          </a:xfrm>
          <a:prstGeom prst="rect">
            <a:avLst/>
          </a:prstGeom>
          <a:noFill/>
          <a:ln/>
        </p:spPr>
        <p:txBody>
          <a:bodyPr wrap="square" lIns="0" tIns="0" rIns="0" bIns="0" rtlCol="0" anchor="t"/>
          <a:lstStyle/>
          <a:p>
            <a:pPr algn="l" indent="0" marL="0">
              <a:buNone/>
            </a:pPr>
            <a:r>
              <a:rPr lang="en-US" sz="900" b="1" dirty="0">
                <a:solidFill>
                  <a:srgbClr val="2E7D4F"/>
                </a:solidFill>
                <a:latin typeface="Aptos" pitchFamily="34" charset="0"/>
                <a:ea typeface="Aptos" pitchFamily="34" charset="-122"/>
                <a:cs typeface="Aptos" pitchFamily="34" charset="-120"/>
              </a:rPr>
              <a:t>Lo que devolvió el agente sobre la fila que el programa daba por buena</a:t>
            </a:r>
            <a:endParaRPr lang="en-US" sz="900" dirty="0"/>
          </a:p>
        </p:txBody>
      </p:sp>
      <p:sp>
        <p:nvSpPr>
          <p:cNvPr id="15" name="Text 12"/>
          <p:cNvSpPr txBox="1"/>
          <p:nvPr/>
        </p:nvSpPr>
        <p:spPr>
          <a:xfrm>
            <a:off x="658368" y="3072384"/>
            <a:ext cx="64008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LOS DOS FALLAN, Y FALLAN EN DIRECCIONES OPUESTAS</a:t>
            </a:r>
            <a:endParaRPr lang="en-US" sz="960" dirty="0"/>
          </a:p>
        </p:txBody>
      </p:sp>
      <p:sp>
        <p:nvSpPr>
          <p:cNvPr id="16" name="Shape 13"/>
          <p:cNvSpPr/>
          <p:nvPr/>
        </p:nvSpPr>
        <p:spPr>
          <a:xfrm>
            <a:off x="658368" y="3328416"/>
            <a:ext cx="5346040" cy="365760"/>
          </a:xfrm>
          <a:prstGeom prst="rect">
            <a:avLst/>
          </a:prstGeom>
          <a:solidFill>
            <a:srgbClr val="102A43"/>
          </a:solidFill>
          <a:ln w="12700">
            <a:solidFill>
              <a:srgbClr val="102A43"/>
            </a:solidFill>
            <a:prstDash val="solid"/>
          </a:ln>
        </p:spPr>
      </p:sp>
      <p:sp>
        <p:nvSpPr>
          <p:cNvPr id="17" name="Text 14"/>
          <p:cNvSpPr txBox="1"/>
          <p:nvPr/>
        </p:nvSpPr>
        <p:spPr>
          <a:xfrm>
            <a:off x="713232" y="3364992"/>
            <a:ext cx="5236312" cy="292608"/>
          </a:xfrm>
          <a:prstGeom prst="rect">
            <a:avLst/>
          </a:prstGeom>
          <a:noFill/>
          <a:ln/>
        </p:spPr>
        <p:txBody>
          <a:bodyPr wrap="square" lIns="0" tIns="0" rIns="0" bIns="0" rtlCol="0" anchor="ctr"/>
          <a:lstStyle/>
          <a:p>
            <a:pPr algn="ctr" indent="0" marL="0">
              <a:buNone/>
            </a:pPr>
            <a:r>
              <a:rPr lang="en-US" sz="1060" b="1" spc="100" kern="0" dirty="0">
                <a:solidFill>
                  <a:srgbClr val="FFFFFF"/>
                </a:solidFill>
                <a:latin typeface="Aptos" pitchFamily="34" charset="0"/>
                <a:ea typeface="Aptos" pitchFamily="34" charset="-122"/>
                <a:cs typeface="Aptos" pitchFamily="34" charset="-120"/>
              </a:rPr>
              <a:t>EL PROGRAMA</a:t>
            </a:r>
            <a:endParaRPr lang="en-US" sz="1060" dirty="0"/>
          </a:p>
        </p:txBody>
      </p:sp>
      <p:sp>
        <p:nvSpPr>
          <p:cNvPr id="18" name="Shape 15"/>
          <p:cNvSpPr/>
          <p:nvPr/>
        </p:nvSpPr>
        <p:spPr>
          <a:xfrm>
            <a:off x="658368" y="3767328"/>
            <a:ext cx="5346040" cy="384048"/>
          </a:xfrm>
          <a:prstGeom prst="rect">
            <a:avLst/>
          </a:prstGeom>
          <a:solidFill>
            <a:srgbClr val="FFFFFF"/>
          </a:solidFill>
          <a:ln w="12700">
            <a:solidFill>
              <a:srgbClr val="FFFFFF"/>
            </a:solidFill>
            <a:prstDash val="solid"/>
          </a:ln>
        </p:spPr>
      </p:sp>
      <p:sp>
        <p:nvSpPr>
          <p:cNvPr id="19" name="Text 16"/>
          <p:cNvSpPr txBox="1"/>
          <p:nvPr/>
        </p:nvSpPr>
        <p:spPr>
          <a:xfrm>
            <a:off x="859536" y="3794760"/>
            <a:ext cx="4943704" cy="164592"/>
          </a:xfrm>
          <a:prstGeom prst="rect">
            <a:avLst/>
          </a:prstGeom>
          <a:noFill/>
          <a:ln/>
        </p:spPr>
        <p:txBody>
          <a:bodyPr wrap="square" lIns="0" tIns="0" rIns="0" bIns="0" rtlCol="0" anchor="t"/>
          <a:lstStyle/>
          <a:p>
            <a:pPr algn="l" indent="0" marL="0">
              <a:buNone/>
            </a:pPr>
            <a:r>
              <a:rPr lang="en-US" sz="860" b="1" spc="50" kern="0" dirty="0">
                <a:solidFill>
                  <a:srgbClr val="52606D"/>
                </a:solidFill>
                <a:latin typeface="Aptos" pitchFamily="34" charset="0"/>
                <a:ea typeface="Aptos" pitchFamily="34" charset="-122"/>
                <a:cs typeface="Aptos" pitchFamily="34" charset="-120"/>
              </a:rPr>
              <a:t>De dónde saca su respuesta</a:t>
            </a:r>
            <a:endParaRPr lang="en-US" sz="860" dirty="0"/>
          </a:p>
        </p:txBody>
      </p:sp>
      <p:sp>
        <p:nvSpPr>
          <p:cNvPr id="20" name="Text 17"/>
          <p:cNvSpPr txBox="1"/>
          <p:nvPr/>
        </p:nvSpPr>
        <p:spPr>
          <a:xfrm>
            <a:off x="859536" y="3959352"/>
            <a:ext cx="4943704" cy="18288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De las marcas que alguien puso.</a:t>
            </a:r>
            <a:endParaRPr lang="en-US" sz="1040" dirty="0"/>
          </a:p>
        </p:txBody>
      </p:sp>
      <p:sp>
        <p:nvSpPr>
          <p:cNvPr id="21" name="Shape 18"/>
          <p:cNvSpPr/>
          <p:nvPr/>
        </p:nvSpPr>
        <p:spPr>
          <a:xfrm>
            <a:off x="658368" y="4206240"/>
            <a:ext cx="5346040" cy="384048"/>
          </a:xfrm>
          <a:prstGeom prst="rect">
            <a:avLst/>
          </a:prstGeom>
          <a:solidFill>
            <a:srgbClr val="EDE6DA"/>
          </a:solidFill>
          <a:ln w="12700">
            <a:solidFill>
              <a:srgbClr val="EDE6DA"/>
            </a:solidFill>
            <a:prstDash val="solid"/>
          </a:ln>
        </p:spPr>
      </p:sp>
      <p:sp>
        <p:nvSpPr>
          <p:cNvPr id="22" name="Text 19"/>
          <p:cNvSpPr txBox="1"/>
          <p:nvPr/>
        </p:nvSpPr>
        <p:spPr>
          <a:xfrm>
            <a:off x="859536" y="4233672"/>
            <a:ext cx="4943704" cy="164592"/>
          </a:xfrm>
          <a:prstGeom prst="rect">
            <a:avLst/>
          </a:prstGeom>
          <a:noFill/>
          <a:ln/>
        </p:spPr>
        <p:txBody>
          <a:bodyPr wrap="square" lIns="0" tIns="0" rIns="0" bIns="0" rtlCol="0" anchor="t"/>
          <a:lstStyle/>
          <a:p>
            <a:pPr algn="l" indent="0" marL="0">
              <a:buNone/>
            </a:pPr>
            <a:r>
              <a:rPr lang="en-US" sz="860" b="1" spc="50" kern="0" dirty="0">
                <a:solidFill>
                  <a:srgbClr val="52606D"/>
                </a:solidFill>
                <a:latin typeface="Aptos" pitchFamily="34" charset="0"/>
                <a:ea typeface="Aptos" pitchFamily="34" charset="-122"/>
                <a:cs typeface="Aptos" pitchFamily="34" charset="-120"/>
              </a:rPr>
              <a:t>En qué se equivoca</a:t>
            </a:r>
            <a:endParaRPr lang="en-US" sz="860" dirty="0"/>
          </a:p>
        </p:txBody>
      </p:sp>
      <p:sp>
        <p:nvSpPr>
          <p:cNvPr id="23" name="Text 20"/>
          <p:cNvSpPr txBox="1"/>
          <p:nvPr/>
        </p:nvSpPr>
        <p:spPr>
          <a:xfrm>
            <a:off x="859536" y="4398264"/>
            <a:ext cx="4943704" cy="18288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Confunde marcado con comprobado.</a:t>
            </a:r>
            <a:endParaRPr lang="en-US" sz="1040" dirty="0"/>
          </a:p>
        </p:txBody>
      </p:sp>
      <p:sp>
        <p:nvSpPr>
          <p:cNvPr id="24" name="Shape 21"/>
          <p:cNvSpPr/>
          <p:nvPr/>
        </p:nvSpPr>
        <p:spPr>
          <a:xfrm>
            <a:off x="658368" y="4645152"/>
            <a:ext cx="5346040" cy="384048"/>
          </a:xfrm>
          <a:prstGeom prst="rect">
            <a:avLst/>
          </a:prstGeom>
          <a:solidFill>
            <a:srgbClr val="FFFFFF"/>
          </a:solidFill>
          <a:ln w="12700">
            <a:solidFill>
              <a:srgbClr val="FFFFFF"/>
            </a:solidFill>
            <a:prstDash val="solid"/>
          </a:ln>
        </p:spPr>
      </p:sp>
      <p:sp>
        <p:nvSpPr>
          <p:cNvPr id="25" name="Text 22"/>
          <p:cNvSpPr txBox="1"/>
          <p:nvPr/>
        </p:nvSpPr>
        <p:spPr>
          <a:xfrm>
            <a:off x="859536" y="4672584"/>
            <a:ext cx="4943704" cy="164592"/>
          </a:xfrm>
          <a:prstGeom prst="rect">
            <a:avLst/>
          </a:prstGeom>
          <a:noFill/>
          <a:ln/>
        </p:spPr>
        <p:txBody>
          <a:bodyPr wrap="square" lIns="0" tIns="0" rIns="0" bIns="0" rtlCol="0" anchor="t"/>
          <a:lstStyle/>
          <a:p>
            <a:pPr algn="l" indent="0" marL="0">
              <a:buNone/>
            </a:pPr>
            <a:r>
              <a:rPr lang="en-US" sz="860" b="1" spc="50" kern="0" dirty="0">
                <a:solidFill>
                  <a:srgbClr val="52606D"/>
                </a:solidFill>
                <a:latin typeface="Aptos" pitchFamily="34" charset="0"/>
                <a:ea typeface="Aptos" pitchFamily="34" charset="-122"/>
                <a:cs typeface="Aptos" pitchFamily="34" charset="-120"/>
              </a:rPr>
              <a:t>Cuándo vuelve a responder</a:t>
            </a:r>
            <a:endParaRPr lang="en-US" sz="860" dirty="0"/>
          </a:p>
        </p:txBody>
      </p:sp>
      <p:sp>
        <p:nvSpPr>
          <p:cNvPr id="26" name="Text 23"/>
          <p:cNvSpPr txBox="1"/>
          <p:nvPr/>
        </p:nvSpPr>
        <p:spPr>
          <a:xfrm>
            <a:off x="859536" y="4837176"/>
            <a:ext cx="4943704" cy="18288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Cada vez que se lo ejecuta.</a:t>
            </a:r>
            <a:endParaRPr lang="en-US" sz="1040" dirty="0"/>
          </a:p>
        </p:txBody>
      </p:sp>
      <p:sp>
        <p:nvSpPr>
          <p:cNvPr id="27" name="Shape 24"/>
          <p:cNvSpPr/>
          <p:nvPr/>
        </p:nvSpPr>
        <p:spPr>
          <a:xfrm>
            <a:off x="658368" y="5084064"/>
            <a:ext cx="5346040" cy="384048"/>
          </a:xfrm>
          <a:prstGeom prst="rect">
            <a:avLst/>
          </a:prstGeom>
          <a:solidFill>
            <a:srgbClr val="EDE6DA"/>
          </a:solidFill>
          <a:ln w="12700">
            <a:solidFill>
              <a:srgbClr val="EDE6DA"/>
            </a:solidFill>
            <a:prstDash val="solid"/>
          </a:ln>
        </p:spPr>
      </p:sp>
      <p:sp>
        <p:nvSpPr>
          <p:cNvPr id="28" name="Text 25"/>
          <p:cNvSpPr txBox="1"/>
          <p:nvPr/>
        </p:nvSpPr>
        <p:spPr>
          <a:xfrm>
            <a:off x="859536" y="5111496"/>
            <a:ext cx="4943704" cy="164592"/>
          </a:xfrm>
          <a:prstGeom prst="rect">
            <a:avLst/>
          </a:prstGeom>
          <a:noFill/>
          <a:ln/>
        </p:spPr>
        <p:txBody>
          <a:bodyPr wrap="square" lIns="0" tIns="0" rIns="0" bIns="0" rtlCol="0" anchor="t"/>
          <a:lstStyle/>
          <a:p>
            <a:pPr algn="l" indent="0" marL="0">
              <a:buNone/>
            </a:pPr>
            <a:r>
              <a:rPr lang="en-US" sz="860" b="1" spc="50" kern="0" dirty="0">
                <a:solidFill>
                  <a:srgbClr val="52606D"/>
                </a:solidFill>
                <a:latin typeface="Aptos" pitchFamily="34" charset="0"/>
                <a:ea typeface="Aptos" pitchFamily="34" charset="-122"/>
                <a:cs typeface="Aptos" pitchFamily="34" charset="-120"/>
              </a:rPr>
              <a:t>Qué produce</a:t>
            </a:r>
            <a:endParaRPr lang="en-US" sz="860" dirty="0"/>
          </a:p>
        </p:txBody>
      </p:sp>
      <p:sp>
        <p:nvSpPr>
          <p:cNvPr id="29" name="Text 26"/>
          <p:cNvSpPr txBox="1"/>
          <p:nvPr/>
        </p:nvSpPr>
        <p:spPr>
          <a:xfrm>
            <a:off x="859536" y="5276088"/>
            <a:ext cx="4943704" cy="18288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Un hecho mecánico y reproducible.</a:t>
            </a:r>
            <a:endParaRPr lang="en-US" sz="1040" dirty="0"/>
          </a:p>
        </p:txBody>
      </p:sp>
      <p:sp>
        <p:nvSpPr>
          <p:cNvPr id="30" name="Shape 27"/>
          <p:cNvSpPr/>
          <p:nvPr/>
        </p:nvSpPr>
        <p:spPr>
          <a:xfrm>
            <a:off x="6187288" y="3328416"/>
            <a:ext cx="5346040" cy="365760"/>
          </a:xfrm>
          <a:prstGeom prst="rect">
            <a:avLst/>
          </a:prstGeom>
          <a:solidFill>
            <a:srgbClr val="8A6A12"/>
          </a:solidFill>
          <a:ln w="12700">
            <a:solidFill>
              <a:srgbClr val="8A6A12"/>
            </a:solidFill>
            <a:prstDash val="solid"/>
          </a:ln>
        </p:spPr>
      </p:sp>
      <p:sp>
        <p:nvSpPr>
          <p:cNvPr id="31" name="Text 28"/>
          <p:cNvSpPr txBox="1"/>
          <p:nvPr/>
        </p:nvSpPr>
        <p:spPr>
          <a:xfrm>
            <a:off x="6242152" y="3364992"/>
            <a:ext cx="5236312" cy="292608"/>
          </a:xfrm>
          <a:prstGeom prst="rect">
            <a:avLst/>
          </a:prstGeom>
          <a:noFill/>
          <a:ln/>
        </p:spPr>
        <p:txBody>
          <a:bodyPr wrap="square" lIns="0" tIns="0" rIns="0" bIns="0" rtlCol="0" anchor="ctr"/>
          <a:lstStyle/>
          <a:p>
            <a:pPr algn="ctr" indent="0" marL="0">
              <a:buNone/>
            </a:pPr>
            <a:r>
              <a:rPr lang="en-US" sz="1060" b="1" spc="100" kern="0" dirty="0">
                <a:solidFill>
                  <a:srgbClr val="FFFFFF"/>
                </a:solidFill>
                <a:latin typeface="Aptos" pitchFamily="34" charset="0"/>
                <a:ea typeface="Aptos" pitchFamily="34" charset="-122"/>
                <a:cs typeface="Aptos" pitchFamily="34" charset="-120"/>
              </a:rPr>
              <a:t>EL AGENTE</a:t>
            </a:r>
            <a:endParaRPr lang="en-US" sz="1060" dirty="0"/>
          </a:p>
        </p:txBody>
      </p:sp>
      <p:sp>
        <p:nvSpPr>
          <p:cNvPr id="32" name="Shape 29"/>
          <p:cNvSpPr/>
          <p:nvPr/>
        </p:nvSpPr>
        <p:spPr>
          <a:xfrm>
            <a:off x="6187288" y="3767328"/>
            <a:ext cx="5346040" cy="384048"/>
          </a:xfrm>
          <a:prstGeom prst="rect">
            <a:avLst/>
          </a:prstGeom>
          <a:solidFill>
            <a:srgbClr val="FFFFFF"/>
          </a:solidFill>
          <a:ln w="12700">
            <a:solidFill>
              <a:srgbClr val="FFFFFF"/>
            </a:solidFill>
            <a:prstDash val="solid"/>
          </a:ln>
        </p:spPr>
      </p:sp>
      <p:sp>
        <p:nvSpPr>
          <p:cNvPr id="33" name="Text 30"/>
          <p:cNvSpPr txBox="1"/>
          <p:nvPr/>
        </p:nvSpPr>
        <p:spPr>
          <a:xfrm>
            <a:off x="6388456" y="3794760"/>
            <a:ext cx="4943704" cy="164592"/>
          </a:xfrm>
          <a:prstGeom prst="rect">
            <a:avLst/>
          </a:prstGeom>
          <a:noFill/>
          <a:ln/>
        </p:spPr>
        <p:txBody>
          <a:bodyPr wrap="square" lIns="0" tIns="0" rIns="0" bIns="0" rtlCol="0" anchor="t"/>
          <a:lstStyle/>
          <a:p>
            <a:pPr algn="l" indent="0" marL="0">
              <a:buNone/>
            </a:pPr>
            <a:r>
              <a:rPr lang="en-US" sz="860" b="1" spc="50" kern="0" dirty="0">
                <a:solidFill>
                  <a:srgbClr val="52606D"/>
                </a:solidFill>
                <a:latin typeface="Aptos" pitchFamily="34" charset="0"/>
                <a:ea typeface="Aptos" pitchFamily="34" charset="-122"/>
                <a:cs typeface="Aptos" pitchFamily="34" charset="-120"/>
              </a:rPr>
              <a:t>De dónde saca su respuesta</a:t>
            </a:r>
            <a:endParaRPr lang="en-US" sz="860" dirty="0"/>
          </a:p>
        </p:txBody>
      </p:sp>
      <p:sp>
        <p:nvSpPr>
          <p:cNvPr id="34" name="Text 31"/>
          <p:cNvSpPr txBox="1"/>
          <p:nvPr/>
        </p:nvSpPr>
        <p:spPr>
          <a:xfrm>
            <a:off x="6388456" y="3959352"/>
            <a:ext cx="4943704" cy="18288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De leer el requisito y la aserción.</a:t>
            </a:r>
            <a:endParaRPr lang="en-US" sz="1040" dirty="0"/>
          </a:p>
        </p:txBody>
      </p:sp>
      <p:sp>
        <p:nvSpPr>
          <p:cNvPr id="35" name="Shape 32"/>
          <p:cNvSpPr/>
          <p:nvPr/>
        </p:nvSpPr>
        <p:spPr>
          <a:xfrm>
            <a:off x="6187288" y="4206240"/>
            <a:ext cx="5346040" cy="384048"/>
          </a:xfrm>
          <a:prstGeom prst="rect">
            <a:avLst/>
          </a:prstGeom>
          <a:solidFill>
            <a:srgbClr val="EDE6DA"/>
          </a:solidFill>
          <a:ln w="12700">
            <a:solidFill>
              <a:srgbClr val="EDE6DA"/>
            </a:solidFill>
            <a:prstDash val="solid"/>
          </a:ln>
        </p:spPr>
      </p:sp>
      <p:sp>
        <p:nvSpPr>
          <p:cNvPr id="36" name="Text 33"/>
          <p:cNvSpPr txBox="1"/>
          <p:nvPr/>
        </p:nvSpPr>
        <p:spPr>
          <a:xfrm>
            <a:off x="6388456" y="4233672"/>
            <a:ext cx="4943704" cy="164592"/>
          </a:xfrm>
          <a:prstGeom prst="rect">
            <a:avLst/>
          </a:prstGeom>
          <a:noFill/>
          <a:ln/>
        </p:spPr>
        <p:txBody>
          <a:bodyPr wrap="square" lIns="0" tIns="0" rIns="0" bIns="0" rtlCol="0" anchor="t"/>
          <a:lstStyle/>
          <a:p>
            <a:pPr algn="l" indent="0" marL="0">
              <a:buNone/>
            </a:pPr>
            <a:r>
              <a:rPr lang="en-US" sz="860" b="1" spc="50" kern="0" dirty="0">
                <a:solidFill>
                  <a:srgbClr val="52606D"/>
                </a:solidFill>
                <a:latin typeface="Aptos" pitchFamily="34" charset="0"/>
                <a:ea typeface="Aptos" pitchFamily="34" charset="-122"/>
                <a:cs typeface="Aptos" pitchFamily="34" charset="-120"/>
              </a:rPr>
              <a:t>En qué se equivoca</a:t>
            </a:r>
            <a:endParaRPr lang="en-US" sz="860" dirty="0"/>
          </a:p>
        </p:txBody>
      </p:sp>
      <p:sp>
        <p:nvSpPr>
          <p:cNvPr id="37" name="Text 34"/>
          <p:cNvSpPr txBox="1"/>
          <p:nvPr/>
        </p:nvSpPr>
        <p:spPr>
          <a:xfrm>
            <a:off x="6388456" y="4398264"/>
            <a:ext cx="4943704" cy="18288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Puede dar por cubierto lo que no lo está.</a:t>
            </a:r>
            <a:endParaRPr lang="en-US" sz="1040" dirty="0"/>
          </a:p>
        </p:txBody>
      </p:sp>
      <p:sp>
        <p:nvSpPr>
          <p:cNvPr id="38" name="Shape 35"/>
          <p:cNvSpPr/>
          <p:nvPr/>
        </p:nvSpPr>
        <p:spPr>
          <a:xfrm>
            <a:off x="6187288" y="4645152"/>
            <a:ext cx="5346040" cy="384048"/>
          </a:xfrm>
          <a:prstGeom prst="rect">
            <a:avLst/>
          </a:prstGeom>
          <a:solidFill>
            <a:srgbClr val="FFFFFF"/>
          </a:solidFill>
          <a:ln w="12700">
            <a:solidFill>
              <a:srgbClr val="FFFFFF"/>
            </a:solidFill>
            <a:prstDash val="solid"/>
          </a:ln>
        </p:spPr>
      </p:sp>
      <p:sp>
        <p:nvSpPr>
          <p:cNvPr id="39" name="Text 36"/>
          <p:cNvSpPr txBox="1"/>
          <p:nvPr/>
        </p:nvSpPr>
        <p:spPr>
          <a:xfrm>
            <a:off x="6388456" y="4672584"/>
            <a:ext cx="4943704" cy="164592"/>
          </a:xfrm>
          <a:prstGeom prst="rect">
            <a:avLst/>
          </a:prstGeom>
          <a:noFill/>
          <a:ln/>
        </p:spPr>
        <p:txBody>
          <a:bodyPr wrap="square" lIns="0" tIns="0" rIns="0" bIns="0" rtlCol="0" anchor="t"/>
          <a:lstStyle/>
          <a:p>
            <a:pPr algn="l" indent="0" marL="0">
              <a:buNone/>
            </a:pPr>
            <a:r>
              <a:rPr lang="en-US" sz="860" b="1" spc="50" kern="0" dirty="0">
                <a:solidFill>
                  <a:srgbClr val="52606D"/>
                </a:solidFill>
                <a:latin typeface="Aptos" pitchFamily="34" charset="0"/>
                <a:ea typeface="Aptos" pitchFamily="34" charset="-122"/>
                <a:cs typeface="Aptos" pitchFamily="34" charset="-120"/>
              </a:rPr>
              <a:t>Cuándo vuelve a responder</a:t>
            </a:r>
            <a:endParaRPr lang="en-US" sz="860" dirty="0"/>
          </a:p>
        </p:txBody>
      </p:sp>
      <p:sp>
        <p:nvSpPr>
          <p:cNvPr id="40" name="Text 37"/>
          <p:cNvSpPr txBox="1"/>
          <p:nvPr/>
        </p:nvSpPr>
        <p:spPr>
          <a:xfrm>
            <a:off x="6388456" y="4837176"/>
            <a:ext cx="4943704" cy="18288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Cuando alguien se acuerda de preguntarle.</a:t>
            </a:r>
            <a:endParaRPr lang="en-US" sz="1040" dirty="0"/>
          </a:p>
        </p:txBody>
      </p:sp>
      <p:sp>
        <p:nvSpPr>
          <p:cNvPr id="41" name="Shape 38"/>
          <p:cNvSpPr/>
          <p:nvPr/>
        </p:nvSpPr>
        <p:spPr>
          <a:xfrm>
            <a:off x="6187288" y="5084064"/>
            <a:ext cx="5346040" cy="384048"/>
          </a:xfrm>
          <a:prstGeom prst="rect">
            <a:avLst/>
          </a:prstGeom>
          <a:solidFill>
            <a:srgbClr val="EDE6DA"/>
          </a:solidFill>
          <a:ln w="12700">
            <a:solidFill>
              <a:srgbClr val="EDE6DA"/>
            </a:solidFill>
            <a:prstDash val="solid"/>
          </a:ln>
        </p:spPr>
      </p:sp>
      <p:sp>
        <p:nvSpPr>
          <p:cNvPr id="42" name="Text 39"/>
          <p:cNvSpPr txBox="1"/>
          <p:nvPr/>
        </p:nvSpPr>
        <p:spPr>
          <a:xfrm>
            <a:off x="6388456" y="5111496"/>
            <a:ext cx="4943704" cy="164592"/>
          </a:xfrm>
          <a:prstGeom prst="rect">
            <a:avLst/>
          </a:prstGeom>
          <a:noFill/>
          <a:ln/>
        </p:spPr>
        <p:txBody>
          <a:bodyPr wrap="square" lIns="0" tIns="0" rIns="0" bIns="0" rtlCol="0" anchor="t"/>
          <a:lstStyle/>
          <a:p>
            <a:pPr algn="l" indent="0" marL="0">
              <a:buNone/>
            </a:pPr>
            <a:r>
              <a:rPr lang="en-US" sz="860" b="1" spc="50" kern="0" dirty="0">
                <a:solidFill>
                  <a:srgbClr val="52606D"/>
                </a:solidFill>
                <a:latin typeface="Aptos" pitchFamily="34" charset="0"/>
                <a:ea typeface="Aptos" pitchFamily="34" charset="-122"/>
                <a:cs typeface="Aptos" pitchFamily="34" charset="-120"/>
              </a:rPr>
              <a:t>Qué produce</a:t>
            </a:r>
            <a:endParaRPr lang="en-US" sz="860" dirty="0"/>
          </a:p>
        </p:txBody>
      </p:sp>
      <p:sp>
        <p:nvSpPr>
          <p:cNvPr id="43" name="Text 40"/>
          <p:cNvSpPr txBox="1"/>
          <p:nvPr/>
        </p:nvSpPr>
        <p:spPr>
          <a:xfrm>
            <a:off x="6388456" y="5276088"/>
            <a:ext cx="4943704" cy="18288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Un juicio, emitido una sola vez.</a:t>
            </a:r>
            <a:endParaRPr lang="en-US" sz="1040" dirty="0"/>
          </a:p>
        </p:txBody>
      </p:sp>
      <p:sp>
        <p:nvSpPr>
          <p:cNvPr id="44" name="Shape 41"/>
          <p:cNvSpPr/>
          <p:nvPr/>
        </p:nvSpPr>
        <p:spPr>
          <a:xfrm>
            <a:off x="658368" y="5650992"/>
            <a:ext cx="10874959" cy="548640"/>
          </a:xfrm>
          <a:prstGeom prst="rect">
            <a:avLst/>
          </a:prstGeom>
          <a:solidFill>
            <a:srgbClr val="102A43"/>
          </a:solidFill>
          <a:ln w="12700">
            <a:solidFill>
              <a:srgbClr val="102A43"/>
            </a:solidFill>
            <a:prstDash val="solid"/>
          </a:ln>
        </p:spPr>
      </p:sp>
      <p:sp>
        <p:nvSpPr>
          <p:cNvPr id="45" name="Text 4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programa sostiene el esqueleto, el agente audita, y el mutante arbitra.</a:t>
            </a:r>
            <a:endParaRPr lang="en-US" sz="13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los derechos</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matriz informa RF-06 como cubierto y el mutante demostró que no lo está. Un compañero propone arreglar el programa para que detecte esos casos. ¿Qué tendría que poder hacer?</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Tendría que decidir si una aserción comprueba lo que un requisito en español promete.</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función de cancelación estuvo seis sesiones sin una sola prueba y la suite informó verde todos los días. ¿Qué otro artefacto podría haberlo detectado antes?</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Repasa lo que mide la cobertura y lo que mide el recuento del bloque anterior. ¿Cuál mostraba un cero?</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agente acertó donde el programa falló y además detectó dos coberturas parciales. Si es mejor en todo lo comparado, ¿por qué no se reemplaza el programa por el agente?</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Mira las dos últimas filas de la comparación. ¿Qué pasa con cada uno el día que nadie se acuerda?</a:t>
            </a:r>
            <a:endParaRPr lang="en-US" sz="11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TENDRÍA QUE TENER CRITERIO</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Decidir si una aserción cumple un requisito redactado en español es un juicio, no un cruce de listas.</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Ese es justamente el problema que resuelve un agente, y el que un programa no resuelve.</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Pedirle a un artefacto mecánico una respuesta que exige interpretar el lenguaje.</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EL RECUENTO POR ELEMENTO</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Un cero en esa función lo habría mostrado. La cobertura no, porque esa función nunca se ejecuta.</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 cero es más elocuente que un porcentaje: no admite lectura optimista.</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Confiar en el porcentaje de cobertura para detectar lo que ni siquiera se recorre.</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PORQUE NO VUELVE SOLO</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programa responde igual todos los días sin que nadie lo pida; el juicio del agente hay que volver a pedirlo.</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 juicio que no se reemite envejece igual que la planilla, y encima parece fresco.</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Elegir entre los dos, en vez de usarlos en el orden que aprovecha a cada uno.</a:t>
            </a:r>
            <a:endParaRPr lang="en-US" sz="10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39</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4 DE 4 · 30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Un derecho es una fila de la matriz</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Los derechos que la Ley 21.719 le reconoce al titular de los datos no necesitan un artefacto aparte. Entran en la misma matriz, con el mismo tratamiento, y al entrar hacen aparecer huecos que el proyecto tenía desde siempre.</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DECLARAR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se prueba y qué queda fuera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PRIORIZAR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Dónde duele más un fallo</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TRAZAR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prueba responde a qué requisito</a:t>
            </a:r>
            <a:endParaRPr lang="en-US" sz="920" dirty="0"/>
          </a:p>
        </p:txBody>
      </p:sp>
      <p:sp>
        <p:nvSpPr>
          <p:cNvPr id="24" name="Shape 21"/>
          <p:cNvSpPr/>
          <p:nvPr/>
        </p:nvSpPr>
        <p:spPr>
          <a:xfrm>
            <a:off x="8910599" y="4901184"/>
            <a:ext cx="2622728" cy="786384"/>
          </a:xfrm>
          <a:prstGeom prst="rect">
            <a:avLst/>
          </a:prstGeom>
          <a:solidFill>
            <a:srgbClr val="D62027"/>
          </a:solidFill>
          <a:ln w="12700">
            <a:solidFill>
              <a:srgbClr val="D6202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COMPROBAR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Que la traza sea verdadera</a:t>
            </a:r>
            <a:endParaRPr lang="en-US" sz="9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VOCABULARIO DE LA LEY</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Cuatro palabras que la ley usa con precisión</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tres primeras vienen definidas en el artículo 2º. Se usan durante todo el bloque, así que conviene no confundirlas.</a:t>
            </a:r>
            <a:endParaRPr lang="en-US" sz="1420" dirty="0"/>
          </a:p>
        </p:txBody>
      </p:sp>
      <p:sp>
        <p:nvSpPr>
          <p:cNvPr id="11" name="Shape 8"/>
          <p:cNvSpPr/>
          <p:nvPr/>
        </p:nvSpPr>
        <p:spPr>
          <a:xfrm>
            <a:off x="658368" y="2377440"/>
            <a:ext cx="2636444" cy="2468880"/>
          </a:xfrm>
          <a:prstGeom prst="rect">
            <a:avLst/>
          </a:prstGeom>
          <a:solidFill>
            <a:srgbClr val="FFFFFF"/>
          </a:solidFill>
          <a:ln w="12700">
            <a:solidFill>
              <a:srgbClr val="FFFFFF"/>
            </a:solidFill>
            <a:prstDash val="solid"/>
          </a:ln>
        </p:spPr>
      </p:sp>
      <p:sp>
        <p:nvSpPr>
          <p:cNvPr id="12" name="Shape 9"/>
          <p:cNvSpPr/>
          <p:nvPr/>
        </p:nvSpPr>
        <p:spPr>
          <a:xfrm>
            <a:off x="658368" y="2377440"/>
            <a:ext cx="2636444" cy="54864"/>
          </a:xfrm>
          <a:prstGeom prst="rect">
            <a:avLst/>
          </a:prstGeom>
          <a:solidFill>
            <a:srgbClr val="102A43"/>
          </a:solidFill>
          <a:ln w="12700">
            <a:solidFill>
              <a:srgbClr val="102A43"/>
            </a:solidFill>
            <a:prstDash val="solid"/>
          </a:ln>
        </p:spPr>
      </p:sp>
      <p:sp>
        <p:nvSpPr>
          <p:cNvPr id="13" name="Text 10"/>
          <p:cNvSpPr txBox="1"/>
          <p:nvPr/>
        </p:nvSpPr>
        <p:spPr>
          <a:xfrm>
            <a:off x="859536" y="2560320"/>
            <a:ext cx="2234108" cy="292608"/>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Dato personal</a:t>
            </a:r>
            <a:endParaRPr lang="en-US" sz="1600" dirty="0"/>
          </a:p>
        </p:txBody>
      </p:sp>
      <p:sp>
        <p:nvSpPr>
          <p:cNvPr id="14" name="Text 11"/>
          <p:cNvSpPr txBox="1"/>
          <p:nvPr/>
        </p:nvSpPr>
        <p:spPr>
          <a:xfrm>
            <a:off x="859536" y="2926080"/>
            <a:ext cx="2234108" cy="1060704"/>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Cualquier información vinculada o referida a una persona natural identificada o identificable.</a:t>
            </a:r>
            <a:endParaRPr lang="en-US" sz="1020" dirty="0"/>
          </a:p>
        </p:txBody>
      </p:sp>
      <p:sp>
        <p:nvSpPr>
          <p:cNvPr id="15" name="Shape 12"/>
          <p:cNvSpPr/>
          <p:nvPr/>
        </p:nvSpPr>
        <p:spPr>
          <a:xfrm>
            <a:off x="859536" y="4059936"/>
            <a:ext cx="2234108" cy="0"/>
          </a:xfrm>
          <a:prstGeom prst="line">
            <a:avLst/>
          </a:prstGeom>
          <a:noFill/>
          <a:ln w="12700">
            <a:solidFill>
              <a:srgbClr val="D8CFC4"/>
            </a:solidFill>
            <a:prstDash val="solid"/>
            <a:headEnd type="none"/>
            <a:tailEnd type="none"/>
          </a:ln>
        </p:spPr>
      </p:sp>
      <p:sp>
        <p:nvSpPr>
          <p:cNvPr id="16" name="Text 13"/>
          <p:cNvSpPr txBox="1"/>
          <p:nvPr/>
        </p:nvSpPr>
        <p:spPr>
          <a:xfrm>
            <a:off x="859536" y="4169664"/>
            <a:ext cx="2234108" cy="548640"/>
          </a:xfrm>
          <a:prstGeom prst="rect">
            <a:avLst/>
          </a:prstGeom>
          <a:noFill/>
          <a:ln/>
        </p:spPr>
        <p:txBody>
          <a:bodyPr wrap="square" lIns="0" tIns="0" rIns="0" bIns="0" rtlCol="0" anchor="t"/>
          <a:lstStyle/>
          <a:p>
            <a:pPr algn="l" indent="0" marL="0">
              <a:lnSpc>
                <a:spcPct val="112000"/>
              </a:lnSpc>
              <a:buNone/>
            </a:pPr>
            <a:r>
              <a:rPr lang="en-US" sz="960" i="1" dirty="0">
                <a:solidFill>
                  <a:srgbClr val="52606D"/>
                </a:solidFill>
                <a:latin typeface="Aptos" pitchFamily="34" charset="0"/>
                <a:ea typeface="Aptos" pitchFamily="34" charset="-122"/>
                <a:cs typeface="Aptos" pitchFamily="34" charset="-120"/>
              </a:rPr>
              <a:t>En este proyecto: el nombre, el RUT y el correo.</a:t>
            </a:r>
            <a:endParaRPr lang="en-US" sz="960" dirty="0"/>
          </a:p>
        </p:txBody>
      </p:sp>
      <p:sp>
        <p:nvSpPr>
          <p:cNvPr id="17" name="Shape 14"/>
          <p:cNvSpPr/>
          <p:nvPr/>
        </p:nvSpPr>
        <p:spPr>
          <a:xfrm>
            <a:off x="3404540" y="2377440"/>
            <a:ext cx="2636444" cy="2468880"/>
          </a:xfrm>
          <a:prstGeom prst="rect">
            <a:avLst/>
          </a:prstGeom>
          <a:solidFill>
            <a:srgbClr val="FFFFFF"/>
          </a:solidFill>
          <a:ln w="12700">
            <a:solidFill>
              <a:srgbClr val="FFFFFF"/>
            </a:solidFill>
            <a:prstDash val="solid"/>
          </a:ln>
        </p:spPr>
      </p:sp>
      <p:sp>
        <p:nvSpPr>
          <p:cNvPr id="18" name="Shape 15"/>
          <p:cNvSpPr/>
          <p:nvPr/>
        </p:nvSpPr>
        <p:spPr>
          <a:xfrm>
            <a:off x="3404540" y="2377440"/>
            <a:ext cx="2636444" cy="54864"/>
          </a:xfrm>
          <a:prstGeom prst="rect">
            <a:avLst/>
          </a:prstGeom>
          <a:solidFill>
            <a:srgbClr val="B3181E"/>
          </a:solidFill>
          <a:ln w="12700">
            <a:solidFill>
              <a:srgbClr val="B3181E"/>
            </a:solidFill>
            <a:prstDash val="solid"/>
          </a:ln>
        </p:spPr>
      </p:sp>
      <p:sp>
        <p:nvSpPr>
          <p:cNvPr id="19" name="Text 16"/>
          <p:cNvSpPr txBox="1"/>
          <p:nvPr/>
        </p:nvSpPr>
        <p:spPr>
          <a:xfrm>
            <a:off x="3605708" y="2560320"/>
            <a:ext cx="2234108" cy="292608"/>
          </a:xfrm>
          <a:prstGeom prst="rect">
            <a:avLst/>
          </a:prstGeom>
          <a:noFill/>
          <a:ln/>
        </p:spPr>
        <p:txBody>
          <a:bodyPr wrap="square" lIns="0" tIns="0" rIns="0" bIns="0" rtlCol="0" anchor="t"/>
          <a:lstStyle/>
          <a:p>
            <a:pPr algn="l" indent="0" marL="0">
              <a:buNone/>
            </a:pPr>
            <a:r>
              <a:rPr lang="en-US" sz="1600" b="1" dirty="0">
                <a:solidFill>
                  <a:srgbClr val="B3181E"/>
                </a:solidFill>
                <a:latin typeface="Aptos" pitchFamily="34" charset="0"/>
                <a:ea typeface="Aptos" pitchFamily="34" charset="-122"/>
                <a:cs typeface="Aptos" pitchFamily="34" charset="-120"/>
              </a:rPr>
              <a:t>Titular</a:t>
            </a:r>
            <a:endParaRPr lang="en-US" sz="1600" dirty="0"/>
          </a:p>
        </p:txBody>
      </p:sp>
      <p:sp>
        <p:nvSpPr>
          <p:cNvPr id="20" name="Text 17"/>
          <p:cNvSpPr txBox="1"/>
          <p:nvPr/>
        </p:nvSpPr>
        <p:spPr>
          <a:xfrm>
            <a:off x="3605708" y="2926080"/>
            <a:ext cx="2234108" cy="1060704"/>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La persona natural a la que se refieren los datos. Es quien ejerce los derechos.</a:t>
            </a:r>
            <a:endParaRPr lang="en-US" sz="1020" dirty="0"/>
          </a:p>
        </p:txBody>
      </p:sp>
      <p:sp>
        <p:nvSpPr>
          <p:cNvPr id="21" name="Shape 18"/>
          <p:cNvSpPr/>
          <p:nvPr/>
        </p:nvSpPr>
        <p:spPr>
          <a:xfrm>
            <a:off x="3605708" y="4059936"/>
            <a:ext cx="2234108" cy="0"/>
          </a:xfrm>
          <a:prstGeom prst="line">
            <a:avLst/>
          </a:prstGeom>
          <a:noFill/>
          <a:ln w="12700">
            <a:solidFill>
              <a:srgbClr val="D8CFC4"/>
            </a:solidFill>
            <a:prstDash val="solid"/>
            <a:headEnd type="none"/>
            <a:tailEnd type="none"/>
          </a:ln>
        </p:spPr>
      </p:sp>
      <p:sp>
        <p:nvSpPr>
          <p:cNvPr id="22" name="Text 19"/>
          <p:cNvSpPr txBox="1"/>
          <p:nvPr/>
        </p:nvSpPr>
        <p:spPr>
          <a:xfrm>
            <a:off x="3605708" y="4169664"/>
            <a:ext cx="2234108" cy="548640"/>
          </a:xfrm>
          <a:prstGeom prst="rect">
            <a:avLst/>
          </a:prstGeom>
          <a:noFill/>
          <a:ln/>
        </p:spPr>
        <p:txBody>
          <a:bodyPr wrap="square" lIns="0" tIns="0" rIns="0" bIns="0" rtlCol="0" anchor="t"/>
          <a:lstStyle/>
          <a:p>
            <a:pPr algn="l" indent="0" marL="0">
              <a:lnSpc>
                <a:spcPct val="112000"/>
              </a:lnSpc>
              <a:buNone/>
            </a:pPr>
            <a:r>
              <a:rPr lang="en-US" sz="960" i="1" dirty="0">
                <a:solidFill>
                  <a:srgbClr val="52606D"/>
                </a:solidFill>
                <a:latin typeface="Aptos" pitchFamily="34" charset="0"/>
                <a:ea typeface="Aptos" pitchFamily="34" charset="-122"/>
                <a:cs typeface="Aptos" pitchFamily="34" charset="-120"/>
              </a:rPr>
              <a:t>En este proyecto: quien reserva la sala.</a:t>
            </a:r>
            <a:endParaRPr lang="en-US" sz="960" dirty="0"/>
          </a:p>
        </p:txBody>
      </p:sp>
      <p:sp>
        <p:nvSpPr>
          <p:cNvPr id="23" name="Shape 20"/>
          <p:cNvSpPr/>
          <p:nvPr/>
        </p:nvSpPr>
        <p:spPr>
          <a:xfrm>
            <a:off x="6150712" y="2377440"/>
            <a:ext cx="2636444" cy="2468880"/>
          </a:xfrm>
          <a:prstGeom prst="rect">
            <a:avLst/>
          </a:prstGeom>
          <a:solidFill>
            <a:srgbClr val="FFFFFF"/>
          </a:solidFill>
          <a:ln w="12700">
            <a:solidFill>
              <a:srgbClr val="FFFFFF"/>
            </a:solidFill>
            <a:prstDash val="solid"/>
          </a:ln>
        </p:spPr>
      </p:sp>
      <p:sp>
        <p:nvSpPr>
          <p:cNvPr id="24" name="Shape 21"/>
          <p:cNvSpPr/>
          <p:nvPr/>
        </p:nvSpPr>
        <p:spPr>
          <a:xfrm>
            <a:off x="6150712" y="2377440"/>
            <a:ext cx="2636444" cy="54864"/>
          </a:xfrm>
          <a:prstGeom prst="rect">
            <a:avLst/>
          </a:prstGeom>
          <a:solidFill>
            <a:srgbClr val="8A6A12"/>
          </a:solidFill>
          <a:ln w="12700">
            <a:solidFill>
              <a:srgbClr val="8A6A12"/>
            </a:solidFill>
            <a:prstDash val="solid"/>
          </a:ln>
        </p:spPr>
      </p:sp>
      <p:sp>
        <p:nvSpPr>
          <p:cNvPr id="25" name="Text 22"/>
          <p:cNvSpPr txBox="1"/>
          <p:nvPr/>
        </p:nvSpPr>
        <p:spPr>
          <a:xfrm>
            <a:off x="6351880" y="2560320"/>
            <a:ext cx="2234108" cy="292608"/>
          </a:xfrm>
          <a:prstGeom prst="rect">
            <a:avLst/>
          </a:prstGeom>
          <a:noFill/>
          <a:ln/>
        </p:spPr>
        <p:txBody>
          <a:bodyPr wrap="square" lIns="0" tIns="0" rIns="0" bIns="0" rtlCol="0" anchor="t"/>
          <a:lstStyle/>
          <a:p>
            <a:pPr algn="l" indent="0" marL="0">
              <a:buNone/>
            </a:pPr>
            <a:r>
              <a:rPr lang="en-US" sz="1600" b="1" dirty="0">
                <a:solidFill>
                  <a:srgbClr val="8A6A12"/>
                </a:solidFill>
                <a:latin typeface="Aptos" pitchFamily="34" charset="0"/>
                <a:ea typeface="Aptos" pitchFamily="34" charset="-122"/>
                <a:cs typeface="Aptos" pitchFamily="34" charset="-120"/>
              </a:rPr>
              <a:t>Responsable</a:t>
            </a:r>
            <a:endParaRPr lang="en-US" sz="1600" dirty="0"/>
          </a:p>
        </p:txBody>
      </p:sp>
      <p:sp>
        <p:nvSpPr>
          <p:cNvPr id="26" name="Text 23"/>
          <p:cNvSpPr txBox="1"/>
          <p:nvPr/>
        </p:nvSpPr>
        <p:spPr>
          <a:xfrm>
            <a:off x="6351880" y="2926080"/>
            <a:ext cx="2234108" cy="1060704"/>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Quien decide acerca de los fines y medios del tratamiento de datos personales.</a:t>
            </a:r>
            <a:endParaRPr lang="en-US" sz="1020" dirty="0"/>
          </a:p>
        </p:txBody>
      </p:sp>
      <p:sp>
        <p:nvSpPr>
          <p:cNvPr id="27" name="Shape 24"/>
          <p:cNvSpPr/>
          <p:nvPr/>
        </p:nvSpPr>
        <p:spPr>
          <a:xfrm>
            <a:off x="6351880" y="4059936"/>
            <a:ext cx="2234108" cy="0"/>
          </a:xfrm>
          <a:prstGeom prst="line">
            <a:avLst/>
          </a:prstGeom>
          <a:noFill/>
          <a:ln w="12700">
            <a:solidFill>
              <a:srgbClr val="D8CFC4"/>
            </a:solidFill>
            <a:prstDash val="solid"/>
            <a:headEnd type="none"/>
            <a:tailEnd type="none"/>
          </a:ln>
        </p:spPr>
      </p:sp>
      <p:sp>
        <p:nvSpPr>
          <p:cNvPr id="28" name="Text 25"/>
          <p:cNvSpPr txBox="1"/>
          <p:nvPr/>
        </p:nvSpPr>
        <p:spPr>
          <a:xfrm>
            <a:off x="6351880" y="4169664"/>
            <a:ext cx="2234108" cy="548640"/>
          </a:xfrm>
          <a:prstGeom prst="rect">
            <a:avLst/>
          </a:prstGeom>
          <a:noFill/>
          <a:ln/>
        </p:spPr>
        <p:txBody>
          <a:bodyPr wrap="square" lIns="0" tIns="0" rIns="0" bIns="0" rtlCol="0" anchor="t"/>
          <a:lstStyle/>
          <a:p>
            <a:pPr algn="l" indent="0" marL="0">
              <a:lnSpc>
                <a:spcPct val="112000"/>
              </a:lnSpc>
              <a:buNone/>
            </a:pPr>
            <a:r>
              <a:rPr lang="en-US" sz="960" i="1" dirty="0">
                <a:solidFill>
                  <a:srgbClr val="52606D"/>
                </a:solidFill>
                <a:latin typeface="Aptos" pitchFamily="34" charset="0"/>
                <a:ea typeface="Aptos" pitchFamily="34" charset="-122"/>
                <a:cs typeface="Aptos" pitchFamily="34" charset="-120"/>
              </a:rPr>
              <a:t>En este proyecto: la institución que opera el sistema.</a:t>
            </a:r>
            <a:endParaRPr lang="en-US" sz="960" dirty="0"/>
          </a:p>
        </p:txBody>
      </p:sp>
      <p:sp>
        <p:nvSpPr>
          <p:cNvPr id="29" name="Shape 26"/>
          <p:cNvSpPr/>
          <p:nvPr/>
        </p:nvSpPr>
        <p:spPr>
          <a:xfrm>
            <a:off x="8896883" y="2377440"/>
            <a:ext cx="2636444" cy="2468880"/>
          </a:xfrm>
          <a:prstGeom prst="rect">
            <a:avLst/>
          </a:prstGeom>
          <a:solidFill>
            <a:srgbClr val="FFFFFF"/>
          </a:solidFill>
          <a:ln w="12700">
            <a:solidFill>
              <a:srgbClr val="FFFFFF"/>
            </a:solidFill>
            <a:prstDash val="solid"/>
          </a:ln>
        </p:spPr>
      </p:sp>
      <p:sp>
        <p:nvSpPr>
          <p:cNvPr id="30" name="Shape 27"/>
          <p:cNvSpPr/>
          <p:nvPr/>
        </p:nvSpPr>
        <p:spPr>
          <a:xfrm>
            <a:off x="8896883" y="2377440"/>
            <a:ext cx="2636444" cy="54864"/>
          </a:xfrm>
          <a:prstGeom prst="rect">
            <a:avLst/>
          </a:prstGeom>
          <a:solidFill>
            <a:srgbClr val="2E7D4F"/>
          </a:solidFill>
          <a:ln w="12700">
            <a:solidFill>
              <a:srgbClr val="2E7D4F"/>
            </a:solidFill>
            <a:prstDash val="solid"/>
          </a:ln>
        </p:spPr>
      </p:sp>
      <p:sp>
        <p:nvSpPr>
          <p:cNvPr id="31" name="Text 28"/>
          <p:cNvSpPr txBox="1"/>
          <p:nvPr/>
        </p:nvSpPr>
        <p:spPr>
          <a:xfrm>
            <a:off x="9098051" y="2560320"/>
            <a:ext cx="2234108" cy="292608"/>
          </a:xfrm>
          <a:prstGeom prst="rect">
            <a:avLst/>
          </a:prstGeom>
          <a:noFill/>
          <a:ln/>
        </p:spPr>
        <p:txBody>
          <a:bodyPr wrap="square" lIns="0" tIns="0" rIns="0" bIns="0" rtlCol="0" anchor="t"/>
          <a:lstStyle/>
          <a:p>
            <a:pPr algn="l" indent="0" marL="0">
              <a:buNone/>
            </a:pPr>
            <a:r>
              <a:rPr lang="en-US" sz="1600" b="1" dirty="0">
                <a:solidFill>
                  <a:srgbClr val="2E7D4F"/>
                </a:solidFill>
                <a:latin typeface="Aptos" pitchFamily="34" charset="0"/>
                <a:ea typeface="Aptos" pitchFamily="34" charset="-122"/>
                <a:cs typeface="Aptos" pitchFamily="34" charset="-120"/>
              </a:rPr>
              <a:t>Tratamiento</a:t>
            </a:r>
            <a:endParaRPr lang="en-US" sz="1600" dirty="0"/>
          </a:p>
        </p:txBody>
      </p:sp>
      <p:sp>
        <p:nvSpPr>
          <p:cNvPr id="32" name="Text 29"/>
          <p:cNvSpPr txBox="1"/>
          <p:nvPr/>
        </p:nvSpPr>
        <p:spPr>
          <a:xfrm>
            <a:off x="9098051" y="2926080"/>
            <a:ext cx="2234108" cy="1060704"/>
          </a:xfrm>
          <a:prstGeom prst="rect">
            <a:avLst/>
          </a:prstGeom>
          <a:noFill/>
          <a:ln/>
        </p:spPr>
        <p:txBody>
          <a:bodyPr wrap="square" lIns="0" tIns="0" rIns="0" bIns="0" rtlCol="0" anchor="t"/>
          <a:lstStyle/>
          <a:p>
            <a:pPr algn="l" indent="0" marL="0">
              <a:lnSpc>
                <a:spcPct val="114000"/>
              </a:lnSpc>
              <a:buNone/>
            </a:pPr>
            <a:r>
              <a:rPr lang="en-US" sz="1020" dirty="0">
                <a:solidFill>
                  <a:srgbClr val="243B53"/>
                </a:solidFill>
                <a:latin typeface="Aptos" pitchFamily="34" charset="0"/>
                <a:ea typeface="Aptos" pitchFamily="34" charset="-122"/>
                <a:cs typeface="Aptos" pitchFamily="34" charset="-120"/>
              </a:rPr>
              <a:t>Cualquier operación que permita recolectar, procesar, almacenar, comunicar, transmitir o utilizar datos personales.</a:t>
            </a:r>
            <a:endParaRPr lang="en-US" sz="1020" dirty="0"/>
          </a:p>
        </p:txBody>
      </p:sp>
      <p:sp>
        <p:nvSpPr>
          <p:cNvPr id="33" name="Shape 30"/>
          <p:cNvSpPr/>
          <p:nvPr/>
        </p:nvSpPr>
        <p:spPr>
          <a:xfrm>
            <a:off x="9098051" y="4059936"/>
            <a:ext cx="2234108" cy="0"/>
          </a:xfrm>
          <a:prstGeom prst="line">
            <a:avLst/>
          </a:prstGeom>
          <a:noFill/>
          <a:ln w="12700">
            <a:solidFill>
              <a:srgbClr val="D8CFC4"/>
            </a:solidFill>
            <a:prstDash val="solid"/>
            <a:headEnd type="none"/>
            <a:tailEnd type="none"/>
          </a:ln>
        </p:spPr>
      </p:sp>
      <p:sp>
        <p:nvSpPr>
          <p:cNvPr id="34" name="Text 31"/>
          <p:cNvSpPr txBox="1"/>
          <p:nvPr/>
        </p:nvSpPr>
        <p:spPr>
          <a:xfrm>
            <a:off x="9098051" y="4169664"/>
            <a:ext cx="2234108" cy="548640"/>
          </a:xfrm>
          <a:prstGeom prst="rect">
            <a:avLst/>
          </a:prstGeom>
          <a:noFill/>
          <a:ln/>
        </p:spPr>
        <p:txBody>
          <a:bodyPr wrap="square" lIns="0" tIns="0" rIns="0" bIns="0" rtlCol="0" anchor="t"/>
          <a:lstStyle/>
          <a:p>
            <a:pPr algn="l" indent="0" marL="0">
              <a:lnSpc>
                <a:spcPct val="112000"/>
              </a:lnSpc>
              <a:buNone/>
            </a:pPr>
            <a:r>
              <a:rPr lang="en-US" sz="960" i="1" dirty="0">
                <a:solidFill>
                  <a:srgbClr val="52606D"/>
                </a:solidFill>
                <a:latin typeface="Aptos" pitchFamily="34" charset="0"/>
                <a:ea typeface="Aptos" pitchFamily="34" charset="-122"/>
                <a:cs typeface="Aptos" pitchFamily="34" charset="-120"/>
              </a:rPr>
              <a:t>Guardar una reserva es tratamiento. Consultarla también.</a:t>
            </a:r>
            <a:endParaRPr lang="en-US" sz="960" dirty="0"/>
          </a:p>
        </p:txBody>
      </p:sp>
      <p:sp>
        <p:nvSpPr>
          <p:cNvPr id="35" name="Shape 32"/>
          <p:cNvSpPr/>
          <p:nvPr/>
        </p:nvSpPr>
        <p:spPr>
          <a:xfrm>
            <a:off x="658368" y="5010912"/>
            <a:ext cx="10874959" cy="512064"/>
          </a:xfrm>
          <a:prstGeom prst="rect">
            <a:avLst/>
          </a:prstGeom>
          <a:solidFill>
            <a:srgbClr val="F2E7D9"/>
          </a:solidFill>
          <a:ln w="12700">
            <a:solidFill>
              <a:srgbClr val="F2E7D9"/>
            </a:solidFill>
            <a:prstDash val="solid"/>
          </a:ln>
        </p:spPr>
      </p:sp>
      <p:sp>
        <p:nvSpPr>
          <p:cNvPr id="36" name="Shape 33"/>
          <p:cNvSpPr/>
          <p:nvPr/>
        </p:nvSpPr>
        <p:spPr>
          <a:xfrm>
            <a:off x="658368" y="5010912"/>
            <a:ext cx="54864" cy="512064"/>
          </a:xfrm>
          <a:prstGeom prst="rect">
            <a:avLst/>
          </a:prstGeom>
          <a:solidFill>
            <a:srgbClr val="B3181E"/>
          </a:solidFill>
          <a:ln w="12700">
            <a:solidFill>
              <a:srgbClr val="B3181E"/>
            </a:solidFill>
            <a:prstDash val="solid"/>
          </a:ln>
        </p:spPr>
      </p:sp>
      <p:sp>
        <p:nvSpPr>
          <p:cNvPr id="37" name="Text 34"/>
          <p:cNvSpPr txBox="1"/>
          <p:nvPr/>
        </p:nvSpPr>
        <p:spPr>
          <a:xfrm>
            <a:off x="932688" y="5120640"/>
            <a:ext cx="10326319" cy="292608"/>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Los derechos son del titular y las obligaciones son del responsable. Quien escribe el código trabaja para el segundo, sobre datos del primero.</a:t>
            </a:r>
            <a:endParaRPr lang="en-US" sz="1220" dirty="0"/>
          </a:p>
        </p:txBody>
      </p:sp>
      <p:sp>
        <p:nvSpPr>
          <p:cNvPr id="38" name="Shape 35"/>
          <p:cNvSpPr/>
          <p:nvPr/>
        </p:nvSpPr>
        <p:spPr>
          <a:xfrm>
            <a:off x="658368" y="5650992"/>
            <a:ext cx="10874959" cy="548640"/>
          </a:xfrm>
          <a:prstGeom prst="rect">
            <a:avLst/>
          </a:prstGeom>
          <a:solidFill>
            <a:srgbClr val="102A43"/>
          </a:solidFill>
          <a:ln w="12700">
            <a:solidFill>
              <a:srgbClr val="102A43"/>
            </a:solidFill>
            <a:prstDash val="solid"/>
          </a:ln>
        </p:spPr>
      </p:sp>
      <p:sp>
        <p:nvSpPr>
          <p:cNvPr id="39" name="Text 3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Guardar, consultar y borrar son todas operaciones de tratamiento.</a:t>
            </a:r>
            <a:endParaRPr lang="en-US" sz="13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LEY</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Son seis derechos, no cinco</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artículo 4º los enumera en una sola frase. La referencia rápida más difundida muestra cinco y deja fuera el último.</a:t>
            </a:r>
            <a:endParaRPr lang="en-US" sz="1420" dirty="0"/>
          </a:p>
        </p:txBody>
      </p:sp>
      <p:sp>
        <p:nvSpPr>
          <p:cNvPr id="11" name="Shape 8"/>
          <p:cNvSpPr/>
          <p:nvPr/>
        </p:nvSpPr>
        <p:spPr>
          <a:xfrm>
            <a:off x="658368" y="2249424"/>
            <a:ext cx="1736293" cy="1828800"/>
          </a:xfrm>
          <a:prstGeom prst="rect">
            <a:avLst/>
          </a:prstGeom>
          <a:solidFill>
            <a:srgbClr val="FFFFFF"/>
          </a:solidFill>
          <a:ln w="12700">
            <a:solidFill>
              <a:srgbClr val="FFFFFF"/>
            </a:solidFill>
            <a:prstDash val="solid"/>
          </a:ln>
        </p:spPr>
      </p:sp>
      <p:sp>
        <p:nvSpPr>
          <p:cNvPr id="12" name="Shape 9"/>
          <p:cNvSpPr/>
          <p:nvPr/>
        </p:nvSpPr>
        <p:spPr>
          <a:xfrm>
            <a:off x="658368" y="2249424"/>
            <a:ext cx="1736293" cy="54864"/>
          </a:xfrm>
          <a:prstGeom prst="rect">
            <a:avLst/>
          </a:prstGeom>
          <a:solidFill>
            <a:srgbClr val="102A43"/>
          </a:solidFill>
          <a:ln w="12700">
            <a:solidFill>
              <a:srgbClr val="102A43"/>
            </a:solidFill>
            <a:prstDash val="solid"/>
          </a:ln>
        </p:spPr>
      </p:sp>
      <p:sp>
        <p:nvSpPr>
          <p:cNvPr id="13" name="Text 10"/>
          <p:cNvSpPr txBox="1"/>
          <p:nvPr/>
        </p:nvSpPr>
        <p:spPr>
          <a:xfrm>
            <a:off x="658368" y="2395728"/>
            <a:ext cx="1736293" cy="512064"/>
          </a:xfrm>
          <a:prstGeom prst="rect">
            <a:avLst/>
          </a:prstGeom>
          <a:noFill/>
          <a:ln/>
        </p:spPr>
        <p:txBody>
          <a:bodyPr wrap="square" lIns="0" tIns="0" rIns="0" bIns="0" rtlCol="0" anchor="t"/>
          <a:lstStyle/>
          <a:p>
            <a:pPr algn="ctr" indent="0" marL="0">
              <a:buNone/>
            </a:pPr>
            <a:r>
              <a:rPr lang="en-US" sz="3800" b="1" dirty="0">
                <a:solidFill>
                  <a:srgbClr val="102A43"/>
                </a:solidFill>
                <a:latin typeface="Aptos Display" pitchFamily="34" charset="0"/>
                <a:ea typeface="Aptos Display" pitchFamily="34" charset="-122"/>
                <a:cs typeface="Aptos Display" pitchFamily="34" charset="-120"/>
              </a:rPr>
              <a:t>A</a:t>
            </a:r>
            <a:endParaRPr lang="en-US" sz="3800" dirty="0"/>
          </a:p>
        </p:txBody>
      </p:sp>
      <p:sp>
        <p:nvSpPr>
          <p:cNvPr id="14" name="Text 11"/>
          <p:cNvSpPr txBox="1"/>
          <p:nvPr/>
        </p:nvSpPr>
        <p:spPr>
          <a:xfrm>
            <a:off x="768096" y="2980944"/>
            <a:ext cx="1516837" cy="256032"/>
          </a:xfrm>
          <a:prstGeom prst="rect">
            <a:avLst/>
          </a:prstGeom>
          <a:noFill/>
          <a:ln/>
        </p:spPr>
        <p:txBody>
          <a:bodyPr wrap="square" lIns="0" tIns="0" rIns="0" bIns="0" rtlCol="0" anchor="t"/>
          <a:lstStyle/>
          <a:p>
            <a:pPr algn="ctr" indent="0" marL="0">
              <a:buNone/>
            </a:pPr>
            <a:r>
              <a:rPr lang="en-US" sz="1240" b="1" dirty="0">
                <a:solidFill>
                  <a:srgbClr val="243B53"/>
                </a:solidFill>
                <a:latin typeface="Aptos" pitchFamily="34" charset="0"/>
                <a:ea typeface="Aptos" pitchFamily="34" charset="-122"/>
                <a:cs typeface="Aptos" pitchFamily="34" charset="-120"/>
              </a:rPr>
              <a:t>Acceso</a:t>
            </a:r>
            <a:endParaRPr lang="en-US" sz="1240" dirty="0"/>
          </a:p>
        </p:txBody>
      </p:sp>
      <p:sp>
        <p:nvSpPr>
          <p:cNvPr id="15" name="Text 12"/>
          <p:cNvSpPr txBox="1"/>
          <p:nvPr/>
        </p:nvSpPr>
        <p:spPr>
          <a:xfrm>
            <a:off x="786384" y="3291840"/>
            <a:ext cx="1480261" cy="676656"/>
          </a:xfrm>
          <a:prstGeom prst="rect">
            <a:avLst/>
          </a:prstGeom>
          <a:noFill/>
          <a:ln/>
        </p:spPr>
        <p:txBody>
          <a:bodyPr wrap="square" lIns="0" tIns="0" rIns="0" bIns="0" rtlCol="0" anchor="t"/>
          <a:lstStyle/>
          <a:p>
            <a:pPr algn="ctr" indent="0" marL="0">
              <a:lnSpc>
                <a:spcPct val="112000"/>
              </a:lnSpc>
              <a:buNone/>
            </a:pPr>
            <a:r>
              <a:rPr lang="en-US" sz="940" dirty="0">
                <a:solidFill>
                  <a:srgbClr val="52606D"/>
                </a:solidFill>
                <a:latin typeface="Aptos" pitchFamily="34" charset="0"/>
                <a:ea typeface="Aptos" pitchFamily="34" charset="-122"/>
                <a:cs typeface="Aptos" pitchFamily="34" charset="-120"/>
              </a:rPr>
              <a:t>Saber si sus datos se tratan, y obtenerlos.</a:t>
            </a:r>
            <a:endParaRPr lang="en-US" sz="940" dirty="0"/>
          </a:p>
        </p:txBody>
      </p:sp>
      <p:sp>
        <p:nvSpPr>
          <p:cNvPr id="16" name="Shape 13"/>
          <p:cNvSpPr/>
          <p:nvPr/>
        </p:nvSpPr>
        <p:spPr>
          <a:xfrm>
            <a:off x="2486101" y="2249424"/>
            <a:ext cx="1736293" cy="1828800"/>
          </a:xfrm>
          <a:prstGeom prst="rect">
            <a:avLst/>
          </a:prstGeom>
          <a:solidFill>
            <a:srgbClr val="FFFFFF"/>
          </a:solidFill>
          <a:ln w="12700">
            <a:solidFill>
              <a:srgbClr val="FFFFFF"/>
            </a:solidFill>
            <a:prstDash val="solid"/>
          </a:ln>
        </p:spPr>
      </p:sp>
      <p:sp>
        <p:nvSpPr>
          <p:cNvPr id="17" name="Shape 14"/>
          <p:cNvSpPr/>
          <p:nvPr/>
        </p:nvSpPr>
        <p:spPr>
          <a:xfrm>
            <a:off x="2486101" y="2249424"/>
            <a:ext cx="1736293" cy="54864"/>
          </a:xfrm>
          <a:prstGeom prst="rect">
            <a:avLst/>
          </a:prstGeom>
          <a:solidFill>
            <a:srgbClr val="102A43"/>
          </a:solidFill>
          <a:ln w="12700">
            <a:solidFill>
              <a:srgbClr val="102A43"/>
            </a:solidFill>
            <a:prstDash val="solid"/>
          </a:ln>
        </p:spPr>
      </p:sp>
      <p:sp>
        <p:nvSpPr>
          <p:cNvPr id="18" name="Text 15"/>
          <p:cNvSpPr txBox="1"/>
          <p:nvPr/>
        </p:nvSpPr>
        <p:spPr>
          <a:xfrm>
            <a:off x="2486101" y="2395728"/>
            <a:ext cx="1736293" cy="512064"/>
          </a:xfrm>
          <a:prstGeom prst="rect">
            <a:avLst/>
          </a:prstGeom>
          <a:noFill/>
          <a:ln/>
        </p:spPr>
        <p:txBody>
          <a:bodyPr wrap="square" lIns="0" tIns="0" rIns="0" bIns="0" rtlCol="0" anchor="t"/>
          <a:lstStyle/>
          <a:p>
            <a:pPr algn="ctr" indent="0" marL="0">
              <a:buNone/>
            </a:pPr>
            <a:r>
              <a:rPr lang="en-US" sz="3800" b="1" dirty="0">
                <a:solidFill>
                  <a:srgbClr val="102A43"/>
                </a:solidFill>
                <a:latin typeface="Aptos Display" pitchFamily="34" charset="0"/>
                <a:ea typeface="Aptos Display" pitchFamily="34" charset="-122"/>
                <a:cs typeface="Aptos Display" pitchFamily="34" charset="-120"/>
              </a:rPr>
              <a:t>R</a:t>
            </a:r>
            <a:endParaRPr lang="en-US" sz="3800" dirty="0"/>
          </a:p>
        </p:txBody>
      </p:sp>
      <p:sp>
        <p:nvSpPr>
          <p:cNvPr id="19" name="Text 16"/>
          <p:cNvSpPr txBox="1"/>
          <p:nvPr/>
        </p:nvSpPr>
        <p:spPr>
          <a:xfrm>
            <a:off x="2595829" y="2980944"/>
            <a:ext cx="1516837" cy="256032"/>
          </a:xfrm>
          <a:prstGeom prst="rect">
            <a:avLst/>
          </a:prstGeom>
          <a:noFill/>
          <a:ln/>
        </p:spPr>
        <p:txBody>
          <a:bodyPr wrap="square" lIns="0" tIns="0" rIns="0" bIns="0" rtlCol="0" anchor="t"/>
          <a:lstStyle/>
          <a:p>
            <a:pPr algn="ctr" indent="0" marL="0">
              <a:buNone/>
            </a:pPr>
            <a:r>
              <a:rPr lang="en-US" sz="1240" b="1" dirty="0">
                <a:solidFill>
                  <a:srgbClr val="243B53"/>
                </a:solidFill>
                <a:latin typeface="Aptos" pitchFamily="34" charset="0"/>
                <a:ea typeface="Aptos" pitchFamily="34" charset="-122"/>
                <a:cs typeface="Aptos" pitchFamily="34" charset="-120"/>
              </a:rPr>
              <a:t>Rectificación</a:t>
            </a:r>
            <a:endParaRPr lang="en-US" sz="1240" dirty="0"/>
          </a:p>
        </p:txBody>
      </p:sp>
      <p:sp>
        <p:nvSpPr>
          <p:cNvPr id="20" name="Text 17"/>
          <p:cNvSpPr txBox="1"/>
          <p:nvPr/>
        </p:nvSpPr>
        <p:spPr>
          <a:xfrm>
            <a:off x="2614117" y="3291840"/>
            <a:ext cx="1480261" cy="676656"/>
          </a:xfrm>
          <a:prstGeom prst="rect">
            <a:avLst/>
          </a:prstGeom>
          <a:noFill/>
          <a:ln/>
        </p:spPr>
        <p:txBody>
          <a:bodyPr wrap="square" lIns="0" tIns="0" rIns="0" bIns="0" rtlCol="0" anchor="t"/>
          <a:lstStyle/>
          <a:p>
            <a:pPr algn="ctr" indent="0" marL="0">
              <a:lnSpc>
                <a:spcPct val="112000"/>
              </a:lnSpc>
              <a:buNone/>
            </a:pPr>
            <a:r>
              <a:rPr lang="en-US" sz="940" dirty="0">
                <a:solidFill>
                  <a:srgbClr val="52606D"/>
                </a:solidFill>
                <a:latin typeface="Aptos" pitchFamily="34" charset="0"/>
                <a:ea typeface="Aptos" pitchFamily="34" charset="-122"/>
                <a:cs typeface="Aptos" pitchFamily="34" charset="-120"/>
              </a:rPr>
              <a:t>Corregir lo inexacto o desactualizado.</a:t>
            </a:r>
            <a:endParaRPr lang="en-US" sz="940" dirty="0"/>
          </a:p>
        </p:txBody>
      </p:sp>
      <p:sp>
        <p:nvSpPr>
          <p:cNvPr id="21" name="Shape 18"/>
          <p:cNvSpPr/>
          <p:nvPr/>
        </p:nvSpPr>
        <p:spPr>
          <a:xfrm>
            <a:off x="4313834" y="2249424"/>
            <a:ext cx="1736293" cy="1828800"/>
          </a:xfrm>
          <a:prstGeom prst="rect">
            <a:avLst/>
          </a:prstGeom>
          <a:solidFill>
            <a:srgbClr val="FFFFFF"/>
          </a:solidFill>
          <a:ln w="12700">
            <a:solidFill>
              <a:srgbClr val="FFFFFF"/>
            </a:solidFill>
            <a:prstDash val="solid"/>
          </a:ln>
        </p:spPr>
      </p:sp>
      <p:sp>
        <p:nvSpPr>
          <p:cNvPr id="22" name="Shape 19"/>
          <p:cNvSpPr/>
          <p:nvPr/>
        </p:nvSpPr>
        <p:spPr>
          <a:xfrm>
            <a:off x="4313834" y="2249424"/>
            <a:ext cx="1736293" cy="54864"/>
          </a:xfrm>
          <a:prstGeom prst="rect">
            <a:avLst/>
          </a:prstGeom>
          <a:solidFill>
            <a:srgbClr val="102A43"/>
          </a:solidFill>
          <a:ln w="12700">
            <a:solidFill>
              <a:srgbClr val="102A43"/>
            </a:solidFill>
            <a:prstDash val="solid"/>
          </a:ln>
        </p:spPr>
      </p:sp>
      <p:sp>
        <p:nvSpPr>
          <p:cNvPr id="23" name="Text 20"/>
          <p:cNvSpPr txBox="1"/>
          <p:nvPr/>
        </p:nvSpPr>
        <p:spPr>
          <a:xfrm>
            <a:off x="4313834" y="2395728"/>
            <a:ext cx="1736293" cy="512064"/>
          </a:xfrm>
          <a:prstGeom prst="rect">
            <a:avLst/>
          </a:prstGeom>
          <a:noFill/>
          <a:ln/>
        </p:spPr>
        <p:txBody>
          <a:bodyPr wrap="square" lIns="0" tIns="0" rIns="0" bIns="0" rtlCol="0" anchor="t"/>
          <a:lstStyle/>
          <a:p>
            <a:pPr algn="ctr" indent="0" marL="0">
              <a:buNone/>
            </a:pPr>
            <a:r>
              <a:rPr lang="en-US" sz="3800" b="1" dirty="0">
                <a:solidFill>
                  <a:srgbClr val="102A43"/>
                </a:solidFill>
                <a:latin typeface="Aptos Display" pitchFamily="34" charset="0"/>
                <a:ea typeface="Aptos Display" pitchFamily="34" charset="-122"/>
                <a:cs typeface="Aptos Display" pitchFamily="34" charset="-120"/>
              </a:rPr>
              <a:t>S</a:t>
            </a:r>
            <a:endParaRPr lang="en-US" sz="3800" dirty="0"/>
          </a:p>
        </p:txBody>
      </p:sp>
      <p:sp>
        <p:nvSpPr>
          <p:cNvPr id="24" name="Text 21"/>
          <p:cNvSpPr txBox="1"/>
          <p:nvPr/>
        </p:nvSpPr>
        <p:spPr>
          <a:xfrm>
            <a:off x="4423562" y="2980944"/>
            <a:ext cx="1516837" cy="256032"/>
          </a:xfrm>
          <a:prstGeom prst="rect">
            <a:avLst/>
          </a:prstGeom>
          <a:noFill/>
          <a:ln/>
        </p:spPr>
        <p:txBody>
          <a:bodyPr wrap="square" lIns="0" tIns="0" rIns="0" bIns="0" rtlCol="0" anchor="t"/>
          <a:lstStyle/>
          <a:p>
            <a:pPr algn="ctr" indent="0" marL="0">
              <a:buNone/>
            </a:pPr>
            <a:r>
              <a:rPr lang="en-US" sz="1240" b="1" dirty="0">
                <a:solidFill>
                  <a:srgbClr val="243B53"/>
                </a:solidFill>
                <a:latin typeface="Aptos" pitchFamily="34" charset="0"/>
                <a:ea typeface="Aptos" pitchFamily="34" charset="-122"/>
                <a:cs typeface="Aptos" pitchFamily="34" charset="-120"/>
              </a:rPr>
              <a:t>Supresión</a:t>
            </a:r>
            <a:endParaRPr lang="en-US" sz="1240" dirty="0"/>
          </a:p>
        </p:txBody>
      </p:sp>
      <p:sp>
        <p:nvSpPr>
          <p:cNvPr id="25" name="Text 22"/>
          <p:cNvSpPr txBox="1"/>
          <p:nvPr/>
        </p:nvSpPr>
        <p:spPr>
          <a:xfrm>
            <a:off x="4441850" y="3291840"/>
            <a:ext cx="1480261" cy="676656"/>
          </a:xfrm>
          <a:prstGeom prst="rect">
            <a:avLst/>
          </a:prstGeom>
          <a:noFill/>
          <a:ln/>
        </p:spPr>
        <p:txBody>
          <a:bodyPr wrap="square" lIns="0" tIns="0" rIns="0" bIns="0" rtlCol="0" anchor="t"/>
          <a:lstStyle/>
          <a:p>
            <a:pPr algn="ctr" indent="0" marL="0">
              <a:lnSpc>
                <a:spcPct val="112000"/>
              </a:lnSpc>
              <a:buNone/>
            </a:pPr>
            <a:r>
              <a:rPr lang="en-US" sz="940" dirty="0">
                <a:solidFill>
                  <a:srgbClr val="52606D"/>
                </a:solidFill>
                <a:latin typeface="Aptos" pitchFamily="34" charset="0"/>
                <a:ea typeface="Aptos" pitchFamily="34" charset="-122"/>
                <a:cs typeface="Aptos" pitchFamily="34" charset="-120"/>
              </a:rPr>
              <a:t>Que sus datos se eliminen.</a:t>
            </a:r>
            <a:endParaRPr lang="en-US" sz="940" dirty="0"/>
          </a:p>
        </p:txBody>
      </p:sp>
      <p:sp>
        <p:nvSpPr>
          <p:cNvPr id="26" name="Shape 23"/>
          <p:cNvSpPr/>
          <p:nvPr/>
        </p:nvSpPr>
        <p:spPr>
          <a:xfrm>
            <a:off x="6141568" y="2249424"/>
            <a:ext cx="1736293" cy="1828800"/>
          </a:xfrm>
          <a:prstGeom prst="rect">
            <a:avLst/>
          </a:prstGeom>
          <a:solidFill>
            <a:srgbClr val="FFFFFF"/>
          </a:solidFill>
          <a:ln w="12700">
            <a:solidFill>
              <a:srgbClr val="FFFFFF"/>
            </a:solidFill>
            <a:prstDash val="solid"/>
          </a:ln>
        </p:spPr>
      </p:sp>
      <p:sp>
        <p:nvSpPr>
          <p:cNvPr id="27" name="Shape 24"/>
          <p:cNvSpPr/>
          <p:nvPr/>
        </p:nvSpPr>
        <p:spPr>
          <a:xfrm>
            <a:off x="6141568" y="2249424"/>
            <a:ext cx="1736293" cy="54864"/>
          </a:xfrm>
          <a:prstGeom prst="rect">
            <a:avLst/>
          </a:prstGeom>
          <a:solidFill>
            <a:srgbClr val="102A43"/>
          </a:solidFill>
          <a:ln w="12700">
            <a:solidFill>
              <a:srgbClr val="102A43"/>
            </a:solidFill>
            <a:prstDash val="solid"/>
          </a:ln>
        </p:spPr>
      </p:sp>
      <p:sp>
        <p:nvSpPr>
          <p:cNvPr id="28" name="Text 25"/>
          <p:cNvSpPr txBox="1"/>
          <p:nvPr/>
        </p:nvSpPr>
        <p:spPr>
          <a:xfrm>
            <a:off x="6141568" y="2395728"/>
            <a:ext cx="1736293" cy="512064"/>
          </a:xfrm>
          <a:prstGeom prst="rect">
            <a:avLst/>
          </a:prstGeom>
          <a:noFill/>
          <a:ln/>
        </p:spPr>
        <p:txBody>
          <a:bodyPr wrap="square" lIns="0" tIns="0" rIns="0" bIns="0" rtlCol="0" anchor="t"/>
          <a:lstStyle/>
          <a:p>
            <a:pPr algn="ctr" indent="0" marL="0">
              <a:buNone/>
            </a:pPr>
            <a:r>
              <a:rPr lang="en-US" sz="3800" b="1" dirty="0">
                <a:solidFill>
                  <a:srgbClr val="102A43"/>
                </a:solidFill>
                <a:latin typeface="Aptos Display" pitchFamily="34" charset="0"/>
                <a:ea typeface="Aptos Display" pitchFamily="34" charset="-122"/>
                <a:cs typeface="Aptos Display" pitchFamily="34" charset="-120"/>
              </a:rPr>
              <a:t>O</a:t>
            </a:r>
            <a:endParaRPr lang="en-US" sz="3800" dirty="0"/>
          </a:p>
        </p:txBody>
      </p:sp>
      <p:sp>
        <p:nvSpPr>
          <p:cNvPr id="29" name="Text 26"/>
          <p:cNvSpPr txBox="1"/>
          <p:nvPr/>
        </p:nvSpPr>
        <p:spPr>
          <a:xfrm>
            <a:off x="6251296" y="2980944"/>
            <a:ext cx="1516837" cy="256032"/>
          </a:xfrm>
          <a:prstGeom prst="rect">
            <a:avLst/>
          </a:prstGeom>
          <a:noFill/>
          <a:ln/>
        </p:spPr>
        <p:txBody>
          <a:bodyPr wrap="square" lIns="0" tIns="0" rIns="0" bIns="0" rtlCol="0" anchor="t"/>
          <a:lstStyle/>
          <a:p>
            <a:pPr algn="ctr" indent="0" marL="0">
              <a:buNone/>
            </a:pPr>
            <a:r>
              <a:rPr lang="en-US" sz="1240" b="1" dirty="0">
                <a:solidFill>
                  <a:srgbClr val="243B53"/>
                </a:solidFill>
                <a:latin typeface="Aptos" pitchFamily="34" charset="0"/>
                <a:ea typeface="Aptos" pitchFamily="34" charset="-122"/>
                <a:cs typeface="Aptos" pitchFamily="34" charset="-120"/>
              </a:rPr>
              <a:t>Oposición</a:t>
            </a:r>
            <a:endParaRPr lang="en-US" sz="1240" dirty="0"/>
          </a:p>
        </p:txBody>
      </p:sp>
      <p:sp>
        <p:nvSpPr>
          <p:cNvPr id="30" name="Text 27"/>
          <p:cNvSpPr txBox="1"/>
          <p:nvPr/>
        </p:nvSpPr>
        <p:spPr>
          <a:xfrm>
            <a:off x="6269584" y="3291840"/>
            <a:ext cx="1480261" cy="676656"/>
          </a:xfrm>
          <a:prstGeom prst="rect">
            <a:avLst/>
          </a:prstGeom>
          <a:noFill/>
          <a:ln/>
        </p:spPr>
        <p:txBody>
          <a:bodyPr wrap="square" lIns="0" tIns="0" rIns="0" bIns="0" rtlCol="0" anchor="t"/>
          <a:lstStyle/>
          <a:p>
            <a:pPr algn="ctr" indent="0" marL="0">
              <a:lnSpc>
                <a:spcPct val="112000"/>
              </a:lnSpc>
              <a:buNone/>
            </a:pPr>
            <a:r>
              <a:rPr lang="en-US" sz="940" dirty="0">
                <a:solidFill>
                  <a:srgbClr val="52606D"/>
                </a:solidFill>
                <a:latin typeface="Aptos" pitchFamily="34" charset="0"/>
                <a:ea typeface="Aptos" pitchFamily="34" charset="-122"/>
                <a:cs typeface="Aptos" pitchFamily="34" charset="-120"/>
              </a:rPr>
              <a:t>Objetar un tratamiento determinado.</a:t>
            </a:r>
            <a:endParaRPr lang="en-US" sz="940" dirty="0"/>
          </a:p>
        </p:txBody>
      </p:sp>
      <p:sp>
        <p:nvSpPr>
          <p:cNvPr id="31" name="Shape 28"/>
          <p:cNvSpPr/>
          <p:nvPr/>
        </p:nvSpPr>
        <p:spPr>
          <a:xfrm>
            <a:off x="7969301" y="2249424"/>
            <a:ext cx="1736293" cy="1828800"/>
          </a:xfrm>
          <a:prstGeom prst="rect">
            <a:avLst/>
          </a:prstGeom>
          <a:solidFill>
            <a:srgbClr val="FFFFFF"/>
          </a:solidFill>
          <a:ln w="12700">
            <a:solidFill>
              <a:srgbClr val="FFFFFF"/>
            </a:solidFill>
            <a:prstDash val="solid"/>
          </a:ln>
        </p:spPr>
      </p:sp>
      <p:sp>
        <p:nvSpPr>
          <p:cNvPr id="32" name="Shape 29"/>
          <p:cNvSpPr/>
          <p:nvPr/>
        </p:nvSpPr>
        <p:spPr>
          <a:xfrm>
            <a:off x="7969301" y="2249424"/>
            <a:ext cx="1736293" cy="54864"/>
          </a:xfrm>
          <a:prstGeom prst="rect">
            <a:avLst/>
          </a:prstGeom>
          <a:solidFill>
            <a:srgbClr val="102A43"/>
          </a:solidFill>
          <a:ln w="12700">
            <a:solidFill>
              <a:srgbClr val="102A43"/>
            </a:solidFill>
            <a:prstDash val="solid"/>
          </a:ln>
        </p:spPr>
      </p:sp>
      <p:sp>
        <p:nvSpPr>
          <p:cNvPr id="33" name="Text 30"/>
          <p:cNvSpPr txBox="1"/>
          <p:nvPr/>
        </p:nvSpPr>
        <p:spPr>
          <a:xfrm>
            <a:off x="7969301" y="2395728"/>
            <a:ext cx="1736293" cy="512064"/>
          </a:xfrm>
          <a:prstGeom prst="rect">
            <a:avLst/>
          </a:prstGeom>
          <a:noFill/>
          <a:ln/>
        </p:spPr>
        <p:txBody>
          <a:bodyPr wrap="square" lIns="0" tIns="0" rIns="0" bIns="0" rtlCol="0" anchor="t"/>
          <a:lstStyle/>
          <a:p>
            <a:pPr algn="ctr" indent="0" marL="0">
              <a:buNone/>
            </a:pPr>
            <a:r>
              <a:rPr lang="en-US" sz="3800" b="1" dirty="0">
                <a:solidFill>
                  <a:srgbClr val="102A43"/>
                </a:solidFill>
                <a:latin typeface="Aptos Display" pitchFamily="34" charset="0"/>
                <a:ea typeface="Aptos Display" pitchFamily="34" charset="-122"/>
                <a:cs typeface="Aptos Display" pitchFamily="34" charset="-120"/>
              </a:rPr>
              <a:t>P</a:t>
            </a:r>
            <a:endParaRPr lang="en-US" sz="3800" dirty="0"/>
          </a:p>
        </p:txBody>
      </p:sp>
      <p:sp>
        <p:nvSpPr>
          <p:cNvPr id="34" name="Text 31"/>
          <p:cNvSpPr txBox="1"/>
          <p:nvPr/>
        </p:nvSpPr>
        <p:spPr>
          <a:xfrm>
            <a:off x="8079029" y="2980944"/>
            <a:ext cx="1516837" cy="256032"/>
          </a:xfrm>
          <a:prstGeom prst="rect">
            <a:avLst/>
          </a:prstGeom>
          <a:noFill/>
          <a:ln/>
        </p:spPr>
        <p:txBody>
          <a:bodyPr wrap="square" lIns="0" tIns="0" rIns="0" bIns="0" rtlCol="0" anchor="t"/>
          <a:lstStyle/>
          <a:p>
            <a:pPr algn="ctr" indent="0" marL="0">
              <a:buNone/>
            </a:pPr>
            <a:r>
              <a:rPr lang="en-US" sz="1240" b="1" dirty="0">
                <a:solidFill>
                  <a:srgbClr val="243B53"/>
                </a:solidFill>
                <a:latin typeface="Aptos" pitchFamily="34" charset="0"/>
                <a:ea typeface="Aptos" pitchFamily="34" charset="-122"/>
                <a:cs typeface="Aptos" pitchFamily="34" charset="-120"/>
              </a:rPr>
              <a:t>Portabilidad</a:t>
            </a:r>
            <a:endParaRPr lang="en-US" sz="1240" dirty="0"/>
          </a:p>
        </p:txBody>
      </p:sp>
      <p:sp>
        <p:nvSpPr>
          <p:cNvPr id="35" name="Text 32"/>
          <p:cNvSpPr txBox="1"/>
          <p:nvPr/>
        </p:nvSpPr>
        <p:spPr>
          <a:xfrm>
            <a:off x="8097317" y="3291840"/>
            <a:ext cx="1480261" cy="676656"/>
          </a:xfrm>
          <a:prstGeom prst="rect">
            <a:avLst/>
          </a:prstGeom>
          <a:noFill/>
          <a:ln/>
        </p:spPr>
        <p:txBody>
          <a:bodyPr wrap="square" lIns="0" tIns="0" rIns="0" bIns="0" rtlCol="0" anchor="t"/>
          <a:lstStyle/>
          <a:p>
            <a:pPr algn="ctr" indent="0" marL="0">
              <a:lnSpc>
                <a:spcPct val="112000"/>
              </a:lnSpc>
              <a:buNone/>
            </a:pPr>
            <a:r>
              <a:rPr lang="en-US" sz="940" dirty="0">
                <a:solidFill>
                  <a:srgbClr val="52606D"/>
                </a:solidFill>
                <a:latin typeface="Aptos" pitchFamily="34" charset="0"/>
                <a:ea typeface="Aptos" pitchFamily="34" charset="-122"/>
                <a:cs typeface="Aptos" pitchFamily="34" charset="-120"/>
              </a:rPr>
              <a:t>Recibir una copia y llevarla a otro responsable.</a:t>
            </a:r>
            <a:endParaRPr lang="en-US" sz="940" dirty="0"/>
          </a:p>
        </p:txBody>
      </p:sp>
      <p:sp>
        <p:nvSpPr>
          <p:cNvPr id="36" name="Shape 33"/>
          <p:cNvSpPr/>
          <p:nvPr/>
        </p:nvSpPr>
        <p:spPr>
          <a:xfrm>
            <a:off x="9797034" y="2249424"/>
            <a:ext cx="1736293" cy="1828800"/>
          </a:xfrm>
          <a:prstGeom prst="rect">
            <a:avLst/>
          </a:prstGeom>
          <a:solidFill>
            <a:srgbClr val="F2E7D9"/>
          </a:solidFill>
          <a:ln w="12700">
            <a:solidFill>
              <a:srgbClr val="F2E7D9"/>
            </a:solidFill>
            <a:prstDash val="solid"/>
          </a:ln>
        </p:spPr>
      </p:sp>
      <p:sp>
        <p:nvSpPr>
          <p:cNvPr id="37" name="Shape 34"/>
          <p:cNvSpPr/>
          <p:nvPr/>
        </p:nvSpPr>
        <p:spPr>
          <a:xfrm>
            <a:off x="9797034" y="2249424"/>
            <a:ext cx="1736293" cy="54864"/>
          </a:xfrm>
          <a:prstGeom prst="rect">
            <a:avLst/>
          </a:prstGeom>
          <a:solidFill>
            <a:srgbClr val="B3181E"/>
          </a:solidFill>
          <a:ln w="12700">
            <a:solidFill>
              <a:srgbClr val="B3181E"/>
            </a:solidFill>
            <a:prstDash val="solid"/>
          </a:ln>
        </p:spPr>
      </p:sp>
      <p:sp>
        <p:nvSpPr>
          <p:cNvPr id="38" name="Text 35"/>
          <p:cNvSpPr txBox="1"/>
          <p:nvPr/>
        </p:nvSpPr>
        <p:spPr>
          <a:xfrm>
            <a:off x="9797034" y="2395728"/>
            <a:ext cx="1736293" cy="512064"/>
          </a:xfrm>
          <a:prstGeom prst="rect">
            <a:avLst/>
          </a:prstGeom>
          <a:noFill/>
          <a:ln/>
        </p:spPr>
        <p:txBody>
          <a:bodyPr wrap="square" lIns="0" tIns="0" rIns="0" bIns="0" rtlCol="0" anchor="t"/>
          <a:lstStyle/>
          <a:p>
            <a:pPr algn="ctr" indent="0" marL="0">
              <a:buNone/>
            </a:pPr>
            <a:r>
              <a:rPr lang="en-US" sz="3800" b="1" dirty="0">
                <a:solidFill>
                  <a:srgbClr val="B3181E"/>
                </a:solidFill>
                <a:latin typeface="Aptos Display" pitchFamily="34" charset="0"/>
                <a:ea typeface="Aptos Display" pitchFamily="34" charset="-122"/>
                <a:cs typeface="Aptos Display" pitchFamily="34" charset="-120"/>
              </a:rPr>
              <a:t>B</a:t>
            </a:r>
            <a:endParaRPr lang="en-US" sz="3800" dirty="0"/>
          </a:p>
        </p:txBody>
      </p:sp>
      <p:sp>
        <p:nvSpPr>
          <p:cNvPr id="39" name="Text 36"/>
          <p:cNvSpPr txBox="1"/>
          <p:nvPr/>
        </p:nvSpPr>
        <p:spPr>
          <a:xfrm>
            <a:off x="9906762" y="2980944"/>
            <a:ext cx="1516837" cy="256032"/>
          </a:xfrm>
          <a:prstGeom prst="rect">
            <a:avLst/>
          </a:prstGeom>
          <a:noFill/>
          <a:ln/>
        </p:spPr>
        <p:txBody>
          <a:bodyPr wrap="square" lIns="0" tIns="0" rIns="0" bIns="0" rtlCol="0" anchor="t"/>
          <a:lstStyle/>
          <a:p>
            <a:pPr algn="ctr" indent="0" marL="0">
              <a:buNone/>
            </a:pPr>
            <a:r>
              <a:rPr lang="en-US" sz="1240" b="1" dirty="0">
                <a:solidFill>
                  <a:srgbClr val="243B53"/>
                </a:solidFill>
                <a:latin typeface="Aptos" pitchFamily="34" charset="0"/>
                <a:ea typeface="Aptos" pitchFamily="34" charset="-122"/>
                <a:cs typeface="Aptos" pitchFamily="34" charset="-120"/>
              </a:rPr>
              <a:t>Bloqueo</a:t>
            </a:r>
            <a:endParaRPr lang="en-US" sz="1240" dirty="0"/>
          </a:p>
        </p:txBody>
      </p:sp>
      <p:sp>
        <p:nvSpPr>
          <p:cNvPr id="40" name="Text 37"/>
          <p:cNvSpPr txBox="1"/>
          <p:nvPr/>
        </p:nvSpPr>
        <p:spPr>
          <a:xfrm>
            <a:off x="9925050" y="3291840"/>
            <a:ext cx="1480261" cy="676656"/>
          </a:xfrm>
          <a:prstGeom prst="rect">
            <a:avLst/>
          </a:prstGeom>
          <a:noFill/>
          <a:ln/>
        </p:spPr>
        <p:txBody>
          <a:bodyPr wrap="square" lIns="0" tIns="0" rIns="0" bIns="0" rtlCol="0" anchor="t"/>
          <a:lstStyle/>
          <a:p>
            <a:pPr algn="ctr" indent="0" marL="0">
              <a:lnSpc>
                <a:spcPct val="112000"/>
              </a:lnSpc>
              <a:buNone/>
            </a:pPr>
            <a:r>
              <a:rPr lang="en-US" sz="940" dirty="0">
                <a:solidFill>
                  <a:srgbClr val="52606D"/>
                </a:solidFill>
                <a:latin typeface="Aptos" pitchFamily="34" charset="0"/>
                <a:ea typeface="Aptos" pitchFamily="34" charset="-122"/>
                <a:cs typeface="Aptos" pitchFamily="34" charset="-120"/>
              </a:rPr>
              <a:t>Suspender el tratamiento mientras se resuelve una solicitud.</a:t>
            </a:r>
            <a:endParaRPr lang="en-US" sz="940" dirty="0"/>
          </a:p>
        </p:txBody>
      </p:sp>
      <p:sp>
        <p:nvSpPr>
          <p:cNvPr id="41" name="Shape 38"/>
          <p:cNvSpPr/>
          <p:nvPr/>
        </p:nvSpPr>
        <p:spPr>
          <a:xfrm>
            <a:off x="658368" y="4224528"/>
            <a:ext cx="5943600" cy="676656"/>
          </a:xfrm>
          <a:prstGeom prst="rect">
            <a:avLst/>
          </a:prstGeom>
          <a:solidFill>
            <a:srgbClr val="EDE6DA"/>
          </a:solidFill>
          <a:ln w="12700">
            <a:solidFill>
              <a:srgbClr val="EDE6DA"/>
            </a:solidFill>
            <a:prstDash val="solid"/>
          </a:ln>
        </p:spPr>
      </p:sp>
      <p:sp>
        <p:nvSpPr>
          <p:cNvPr id="42" name="Shape 39"/>
          <p:cNvSpPr/>
          <p:nvPr/>
        </p:nvSpPr>
        <p:spPr>
          <a:xfrm>
            <a:off x="658368" y="4224528"/>
            <a:ext cx="54864" cy="676656"/>
          </a:xfrm>
          <a:prstGeom prst="rect">
            <a:avLst/>
          </a:prstGeom>
          <a:solidFill>
            <a:srgbClr val="B3181E"/>
          </a:solidFill>
          <a:ln w="12700">
            <a:solidFill>
              <a:srgbClr val="B3181E"/>
            </a:solidFill>
            <a:prstDash val="solid"/>
          </a:ln>
        </p:spPr>
      </p:sp>
      <p:sp>
        <p:nvSpPr>
          <p:cNvPr id="43" name="Text 40"/>
          <p:cNvSpPr txBox="1"/>
          <p:nvPr/>
        </p:nvSpPr>
        <p:spPr>
          <a:xfrm>
            <a:off x="896112" y="4315968"/>
            <a:ext cx="5486400" cy="219456"/>
          </a:xfrm>
          <a:prstGeom prst="rect">
            <a:avLst/>
          </a:prstGeom>
          <a:noFill/>
          <a:ln/>
        </p:spPr>
        <p:txBody>
          <a:bodyPr wrap="square" lIns="0" tIns="0" rIns="0" bIns="0" rtlCol="0" anchor="t"/>
          <a:lstStyle/>
          <a:p>
            <a:pPr algn="l" indent="0" marL="0">
              <a:buNone/>
            </a:pPr>
            <a:r>
              <a:rPr lang="en-US" sz="1160" b="1" dirty="0">
                <a:solidFill>
                  <a:srgbClr val="B3181E"/>
                </a:solidFill>
                <a:latin typeface="Aptos" pitchFamily="34" charset="0"/>
                <a:ea typeface="Aptos" pitchFamily="34" charset="-122"/>
                <a:cs typeface="Aptos" pitchFamily="34" charset="-120"/>
              </a:rPr>
              <a:t>El sexto es el más parecido a un requisito de software</a:t>
            </a:r>
            <a:endParaRPr lang="en-US" sz="1160" dirty="0"/>
          </a:p>
        </p:txBody>
      </p:sp>
      <p:sp>
        <p:nvSpPr>
          <p:cNvPr id="44" name="Text 41"/>
          <p:cNvSpPr txBox="1"/>
          <p:nvPr/>
        </p:nvSpPr>
        <p:spPr>
          <a:xfrm>
            <a:off x="896112" y="4553712"/>
            <a:ext cx="5486400" cy="274320"/>
          </a:xfrm>
          <a:prstGeom prst="rect">
            <a:avLst/>
          </a:prstGeom>
          <a:noFill/>
          <a:ln/>
        </p:spPr>
        <p:txBody>
          <a:bodyPr wrap="square" lIns="0" tIns="0" rIns="0" bIns="0" rtlCol="0" anchor="t"/>
          <a:lstStyle/>
          <a:p>
            <a:pPr algn="l" indent="0" marL="0">
              <a:buNone/>
            </a:pPr>
            <a:r>
              <a:rPr lang="en-US" sz="1060" dirty="0">
                <a:solidFill>
                  <a:srgbClr val="243B53"/>
                </a:solidFill>
                <a:latin typeface="Aptos" pitchFamily="34" charset="0"/>
                <a:ea typeface="Aptos" pitchFamily="34" charset="-122"/>
                <a:cs typeface="Aptos" pitchFamily="34" charset="-120"/>
              </a:rPr>
              <a:t>Bloqueo es un estado del sistema: mientras hay una solicitud pendiente, los datos de esa persona no se tratan.</a:t>
            </a:r>
            <a:endParaRPr lang="en-US" sz="1060" dirty="0"/>
          </a:p>
        </p:txBody>
      </p:sp>
      <p:sp>
        <p:nvSpPr>
          <p:cNvPr id="45" name="Shape 42"/>
          <p:cNvSpPr/>
          <p:nvPr/>
        </p:nvSpPr>
        <p:spPr>
          <a:xfrm>
            <a:off x="6821424" y="4224528"/>
            <a:ext cx="4718304" cy="676656"/>
          </a:xfrm>
          <a:prstGeom prst="rect">
            <a:avLst/>
          </a:prstGeom>
          <a:solidFill>
            <a:srgbClr val="F2E7D9"/>
          </a:solidFill>
          <a:ln w="12700">
            <a:solidFill>
              <a:srgbClr val="F2E7D9"/>
            </a:solidFill>
            <a:prstDash val="solid"/>
          </a:ln>
        </p:spPr>
      </p:sp>
      <p:sp>
        <p:nvSpPr>
          <p:cNvPr id="46" name="Shape 43"/>
          <p:cNvSpPr/>
          <p:nvPr/>
        </p:nvSpPr>
        <p:spPr>
          <a:xfrm>
            <a:off x="6821424" y="4224528"/>
            <a:ext cx="54864" cy="676656"/>
          </a:xfrm>
          <a:prstGeom prst="rect">
            <a:avLst/>
          </a:prstGeom>
          <a:solidFill>
            <a:srgbClr val="B3181E"/>
          </a:solidFill>
          <a:ln w="12700">
            <a:solidFill>
              <a:srgbClr val="B3181E"/>
            </a:solidFill>
            <a:prstDash val="solid"/>
          </a:ln>
        </p:spPr>
      </p:sp>
      <p:sp>
        <p:nvSpPr>
          <p:cNvPr id="47" name="Text 44"/>
          <p:cNvSpPr txBox="1"/>
          <p:nvPr/>
        </p:nvSpPr>
        <p:spPr>
          <a:xfrm>
            <a:off x="7059168" y="4315968"/>
            <a:ext cx="4297680" cy="219456"/>
          </a:xfrm>
          <a:prstGeom prst="rect">
            <a:avLst/>
          </a:prstGeom>
          <a:noFill/>
          <a:ln/>
        </p:spPr>
        <p:txBody>
          <a:bodyPr wrap="square" lIns="0" tIns="0" rIns="0" bIns="0" rtlCol="0" anchor="t"/>
          <a:lstStyle/>
          <a:p>
            <a:pPr algn="l" indent="0" marL="0">
              <a:buNone/>
            </a:pPr>
            <a:r>
              <a:rPr lang="en-US" sz="1160" b="1" dirty="0">
                <a:solidFill>
                  <a:srgbClr val="B3181E"/>
                </a:solidFill>
                <a:latin typeface="Aptos" pitchFamily="34" charset="0"/>
                <a:ea typeface="Aptos" pitchFamily="34" charset="-122"/>
                <a:cs typeface="Aptos" pitchFamily="34" charset="-120"/>
              </a:rPr>
              <a:t>Artículo 34 ter · infracciones graves</a:t>
            </a:r>
            <a:endParaRPr lang="en-US" sz="1160" dirty="0"/>
          </a:p>
        </p:txBody>
      </p:sp>
      <p:sp>
        <p:nvSpPr>
          <p:cNvPr id="48" name="Text 45"/>
          <p:cNvSpPr txBox="1"/>
          <p:nvPr/>
        </p:nvSpPr>
        <p:spPr>
          <a:xfrm>
            <a:off x="7059168" y="4553712"/>
            <a:ext cx="4297680" cy="274320"/>
          </a:xfrm>
          <a:prstGeom prst="rect">
            <a:avLst/>
          </a:prstGeom>
          <a:noFill/>
          <a:ln/>
        </p:spPr>
        <p:txBody>
          <a:bodyPr wrap="square" lIns="0" tIns="0" rIns="0" bIns="0" rtlCol="0" anchor="t"/>
          <a:lstStyle/>
          <a:p>
            <a:pPr algn="l" indent="0" marL="0">
              <a:buNone/>
            </a:pPr>
            <a:r>
              <a:rPr lang="en-US" sz="1060" dirty="0">
                <a:solidFill>
                  <a:srgbClr val="243B53"/>
                </a:solidFill>
                <a:latin typeface="Aptos" pitchFamily="34" charset="0"/>
                <a:ea typeface="Aptos" pitchFamily="34" charset="-122"/>
                <a:cs typeface="Aptos" pitchFamily="34" charset="-120"/>
              </a:rPr>
              <a:t>Impedir el ejercicio de un derecho, y responder tarde una solicitud de bloqueo.</a:t>
            </a:r>
            <a:endParaRPr lang="en-US" sz="1060" dirty="0"/>
          </a:p>
        </p:txBody>
      </p:sp>
      <p:sp>
        <p:nvSpPr>
          <p:cNvPr id="49" name="Text 46"/>
          <p:cNvSpPr txBox="1"/>
          <p:nvPr/>
        </p:nvSpPr>
        <p:spPr>
          <a:xfrm>
            <a:off x="658368" y="5120640"/>
            <a:ext cx="10874959" cy="274320"/>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Las dos están en la misma lista. Un derecho que el sistema no puede satisfacer no es un detalle de cortesía.</a:t>
            </a:r>
            <a:endParaRPr lang="en-US" sz="1240" dirty="0"/>
          </a:p>
        </p:txBody>
      </p:sp>
      <p:sp>
        <p:nvSpPr>
          <p:cNvPr id="50" name="Shape 47"/>
          <p:cNvSpPr/>
          <p:nvPr/>
        </p:nvSpPr>
        <p:spPr>
          <a:xfrm>
            <a:off x="658368" y="5650992"/>
            <a:ext cx="10874959" cy="548640"/>
          </a:xfrm>
          <a:prstGeom prst="rect">
            <a:avLst/>
          </a:prstGeom>
          <a:solidFill>
            <a:srgbClr val="102A43"/>
          </a:solidFill>
          <a:ln w="12700">
            <a:solidFill>
              <a:srgbClr val="102A43"/>
            </a:solidFill>
            <a:prstDash val="solid"/>
          </a:ln>
        </p:spPr>
      </p:sp>
      <p:sp>
        <p:nvSpPr>
          <p:cNvPr id="51" name="Text 4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derecho es una facultad que una persona ejerce y el sistema tiene que poder satisfacer.</a:t>
            </a:r>
            <a:endParaRPr lang="en-US" sz="13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TRADUCCIÓN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 derecho todavía no se puede probar</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«Tiene derecho a obtener la eliminación de sus datos» es una facultad jurídica, no una afirmación sobre un programa.</a:t>
            </a:r>
            <a:endParaRPr lang="en-US" sz="1420" dirty="0"/>
          </a:p>
        </p:txBody>
      </p:sp>
      <p:sp>
        <p:nvSpPr>
          <p:cNvPr id="11" name="Text 8"/>
          <p:cNvSpPr txBox="1"/>
          <p:nvPr/>
        </p:nvSpPr>
        <p:spPr>
          <a:xfrm>
            <a:off x="658368" y="2231136"/>
            <a:ext cx="64008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EL DERECHO DE SUPRESIÓN, TRADUCIDO PASO A PASO</a:t>
            </a:r>
            <a:endParaRPr lang="en-US" sz="960" dirty="0"/>
          </a:p>
        </p:txBody>
      </p:sp>
      <p:sp>
        <p:nvSpPr>
          <p:cNvPr id="12" name="Shape 9"/>
          <p:cNvSpPr/>
          <p:nvPr/>
        </p:nvSpPr>
        <p:spPr>
          <a:xfrm>
            <a:off x="658368" y="2505456"/>
            <a:ext cx="2389556" cy="914400"/>
          </a:xfrm>
          <a:prstGeom prst="rect">
            <a:avLst/>
          </a:prstGeom>
          <a:solidFill>
            <a:srgbClr val="FFFFFF"/>
          </a:solidFill>
          <a:ln w="12700">
            <a:solidFill>
              <a:srgbClr val="FFFFFF"/>
            </a:solidFill>
            <a:prstDash val="solid"/>
          </a:ln>
        </p:spPr>
      </p:sp>
      <p:sp>
        <p:nvSpPr>
          <p:cNvPr id="13" name="Shape 10"/>
          <p:cNvSpPr/>
          <p:nvPr/>
        </p:nvSpPr>
        <p:spPr>
          <a:xfrm>
            <a:off x="658368" y="2505456"/>
            <a:ext cx="2389556" cy="54864"/>
          </a:xfrm>
          <a:prstGeom prst="rect">
            <a:avLst/>
          </a:prstGeom>
          <a:solidFill>
            <a:srgbClr val="52606D"/>
          </a:solidFill>
          <a:ln w="12700">
            <a:solidFill>
              <a:srgbClr val="52606D"/>
            </a:solidFill>
            <a:prstDash val="solid"/>
          </a:ln>
        </p:spPr>
      </p:sp>
      <p:sp>
        <p:nvSpPr>
          <p:cNvPr id="14" name="Text 11"/>
          <p:cNvSpPr txBox="1"/>
          <p:nvPr/>
        </p:nvSpPr>
        <p:spPr>
          <a:xfrm>
            <a:off x="822960" y="2651760"/>
            <a:ext cx="2060372" cy="182880"/>
          </a:xfrm>
          <a:prstGeom prst="rect">
            <a:avLst/>
          </a:prstGeom>
          <a:noFill/>
          <a:ln/>
        </p:spPr>
        <p:txBody>
          <a:bodyPr wrap="square" lIns="0" tIns="0" rIns="0" bIns="0" rtlCol="0" anchor="t"/>
          <a:lstStyle/>
          <a:p>
            <a:pPr algn="l" indent="0" marL="0">
              <a:buNone/>
            </a:pPr>
            <a:r>
              <a:rPr lang="en-US" sz="880" b="1" spc="90" kern="0" dirty="0">
                <a:solidFill>
                  <a:srgbClr val="52606D"/>
                </a:solidFill>
                <a:latin typeface="Aptos" pitchFamily="34" charset="0"/>
                <a:ea typeface="Aptos" pitchFamily="34" charset="-122"/>
                <a:cs typeface="Aptos" pitchFamily="34" charset="-120"/>
              </a:rPr>
              <a:t>EL DERECHO</a:t>
            </a:r>
            <a:endParaRPr lang="en-US" sz="880" dirty="0"/>
          </a:p>
        </p:txBody>
      </p:sp>
      <p:sp>
        <p:nvSpPr>
          <p:cNvPr id="15" name="Text 12"/>
          <p:cNvSpPr txBox="1"/>
          <p:nvPr/>
        </p:nvSpPr>
        <p:spPr>
          <a:xfrm>
            <a:off x="822960" y="2871216"/>
            <a:ext cx="2060372" cy="457200"/>
          </a:xfrm>
          <a:prstGeom prst="rect">
            <a:avLst/>
          </a:prstGeom>
          <a:noFill/>
          <a:ln/>
        </p:spPr>
        <p:txBody>
          <a:bodyPr wrap="square" lIns="0" tIns="0" rIns="0" bIns="0" rtlCol="0" anchor="t"/>
          <a:lstStyle/>
          <a:p>
            <a:pPr algn="l" indent="0" marL="0">
              <a:lnSpc>
                <a:spcPct val="110000"/>
              </a:lnSpc>
              <a:buNone/>
            </a:pPr>
            <a:r>
              <a:rPr lang="en-US" sz="1080" dirty="0">
                <a:solidFill>
                  <a:srgbClr val="243B53"/>
                </a:solidFill>
                <a:latin typeface="Aptos" pitchFamily="34" charset="0"/>
                <a:ea typeface="Aptos" pitchFamily="34" charset="-122"/>
                <a:cs typeface="Aptos" pitchFamily="34" charset="-120"/>
              </a:rPr>
              <a:t>«La eliminación de los datos personales que le conciernen»</a:t>
            </a:r>
            <a:endParaRPr lang="en-US" sz="1080" dirty="0"/>
          </a:p>
        </p:txBody>
      </p:sp>
      <p:sp>
        <p:nvSpPr>
          <p:cNvPr id="16" name="Shape 13"/>
          <p:cNvSpPr/>
          <p:nvPr/>
        </p:nvSpPr>
        <p:spPr>
          <a:xfrm>
            <a:off x="3121076" y="2962656"/>
            <a:ext cx="292608" cy="0"/>
          </a:xfrm>
          <a:prstGeom prst="line">
            <a:avLst/>
          </a:prstGeom>
          <a:noFill/>
          <a:ln w="12700">
            <a:solidFill>
              <a:srgbClr val="D8CFC4"/>
            </a:solidFill>
            <a:prstDash val="solid"/>
            <a:headEnd type="none"/>
            <a:tailEnd type="triangle"/>
          </a:ln>
        </p:spPr>
      </p:sp>
      <p:sp>
        <p:nvSpPr>
          <p:cNvPr id="17" name="Shape 14"/>
          <p:cNvSpPr/>
          <p:nvPr/>
        </p:nvSpPr>
        <p:spPr>
          <a:xfrm>
            <a:off x="3486836" y="2505456"/>
            <a:ext cx="2389556" cy="914400"/>
          </a:xfrm>
          <a:prstGeom prst="rect">
            <a:avLst/>
          </a:prstGeom>
          <a:solidFill>
            <a:srgbClr val="FFFFFF"/>
          </a:solidFill>
          <a:ln w="12700">
            <a:solidFill>
              <a:srgbClr val="FFFFFF"/>
            </a:solidFill>
            <a:prstDash val="solid"/>
          </a:ln>
        </p:spPr>
      </p:sp>
      <p:sp>
        <p:nvSpPr>
          <p:cNvPr id="18" name="Shape 15"/>
          <p:cNvSpPr/>
          <p:nvPr/>
        </p:nvSpPr>
        <p:spPr>
          <a:xfrm>
            <a:off x="3486836" y="2505456"/>
            <a:ext cx="2389556" cy="54864"/>
          </a:xfrm>
          <a:prstGeom prst="rect">
            <a:avLst/>
          </a:prstGeom>
          <a:solidFill>
            <a:srgbClr val="102A43"/>
          </a:solidFill>
          <a:ln w="12700">
            <a:solidFill>
              <a:srgbClr val="102A43"/>
            </a:solidFill>
            <a:prstDash val="solid"/>
          </a:ln>
        </p:spPr>
      </p:sp>
      <p:sp>
        <p:nvSpPr>
          <p:cNvPr id="19" name="Text 16"/>
          <p:cNvSpPr txBox="1"/>
          <p:nvPr/>
        </p:nvSpPr>
        <p:spPr>
          <a:xfrm>
            <a:off x="3651428" y="2651760"/>
            <a:ext cx="2060372" cy="182880"/>
          </a:xfrm>
          <a:prstGeom prst="rect">
            <a:avLst/>
          </a:prstGeom>
          <a:noFill/>
          <a:ln/>
        </p:spPr>
        <p:txBody>
          <a:bodyPr wrap="square" lIns="0" tIns="0" rIns="0" bIns="0" rtlCol="0" anchor="t"/>
          <a:lstStyle/>
          <a:p>
            <a:pPr algn="l" indent="0" marL="0">
              <a:buNone/>
            </a:pPr>
            <a:r>
              <a:rPr lang="en-US" sz="880" b="1" spc="90" kern="0" dirty="0">
                <a:solidFill>
                  <a:srgbClr val="102A43"/>
                </a:solidFill>
                <a:latin typeface="Aptos" pitchFamily="34" charset="0"/>
                <a:ea typeface="Aptos" pitchFamily="34" charset="-122"/>
                <a:cs typeface="Aptos" pitchFamily="34" charset="-120"/>
              </a:rPr>
              <a:t>LA MAGNITUD</a:t>
            </a:r>
            <a:endParaRPr lang="en-US" sz="880" dirty="0"/>
          </a:p>
        </p:txBody>
      </p:sp>
      <p:sp>
        <p:nvSpPr>
          <p:cNvPr id="20" name="Text 17"/>
          <p:cNvSpPr txBox="1"/>
          <p:nvPr/>
        </p:nvSpPr>
        <p:spPr>
          <a:xfrm>
            <a:off x="3651428" y="2871216"/>
            <a:ext cx="2060372" cy="457200"/>
          </a:xfrm>
          <a:prstGeom prst="rect">
            <a:avLst/>
          </a:prstGeom>
          <a:noFill/>
          <a:ln/>
        </p:spPr>
        <p:txBody>
          <a:bodyPr wrap="square" lIns="0" tIns="0" rIns="0" bIns="0" rtlCol="0" anchor="t"/>
          <a:lstStyle/>
          <a:p>
            <a:pPr algn="l" indent="0" marL="0">
              <a:lnSpc>
                <a:spcPct val="110000"/>
              </a:lnSpc>
              <a:buNone/>
            </a:pPr>
            <a:r>
              <a:rPr lang="en-US" sz="1080" dirty="0">
                <a:solidFill>
                  <a:srgbClr val="243B53"/>
                </a:solidFill>
                <a:latin typeface="Aptos" pitchFamily="34" charset="0"/>
                <a:ea typeface="Aptos" pitchFamily="34" charset="-122"/>
                <a:cs typeface="Aptos" pitchFamily="34" charset="-120"/>
              </a:rPr>
              <a:t>Filas del sistema que contienen datos del titular</a:t>
            </a:r>
            <a:endParaRPr lang="en-US" sz="1080" dirty="0"/>
          </a:p>
        </p:txBody>
      </p:sp>
      <p:sp>
        <p:nvSpPr>
          <p:cNvPr id="21" name="Shape 18"/>
          <p:cNvSpPr/>
          <p:nvPr/>
        </p:nvSpPr>
        <p:spPr>
          <a:xfrm>
            <a:off x="5949544" y="2962656"/>
            <a:ext cx="292608" cy="0"/>
          </a:xfrm>
          <a:prstGeom prst="line">
            <a:avLst/>
          </a:prstGeom>
          <a:noFill/>
          <a:ln w="12700">
            <a:solidFill>
              <a:srgbClr val="D8CFC4"/>
            </a:solidFill>
            <a:prstDash val="solid"/>
            <a:headEnd type="none"/>
            <a:tailEnd type="triangle"/>
          </a:ln>
        </p:spPr>
      </p:sp>
      <p:sp>
        <p:nvSpPr>
          <p:cNvPr id="22" name="Shape 19"/>
          <p:cNvSpPr/>
          <p:nvPr/>
        </p:nvSpPr>
        <p:spPr>
          <a:xfrm>
            <a:off x="6315304" y="2505456"/>
            <a:ext cx="2389556" cy="914400"/>
          </a:xfrm>
          <a:prstGeom prst="rect">
            <a:avLst/>
          </a:prstGeom>
          <a:solidFill>
            <a:srgbClr val="FFFFFF"/>
          </a:solidFill>
          <a:ln w="12700">
            <a:solidFill>
              <a:srgbClr val="FFFFFF"/>
            </a:solidFill>
            <a:prstDash val="solid"/>
          </a:ln>
        </p:spPr>
      </p:sp>
      <p:sp>
        <p:nvSpPr>
          <p:cNvPr id="23" name="Shape 20"/>
          <p:cNvSpPr/>
          <p:nvPr/>
        </p:nvSpPr>
        <p:spPr>
          <a:xfrm>
            <a:off x="6315304" y="2505456"/>
            <a:ext cx="2389556" cy="54864"/>
          </a:xfrm>
          <a:prstGeom prst="rect">
            <a:avLst/>
          </a:prstGeom>
          <a:solidFill>
            <a:srgbClr val="102A43"/>
          </a:solidFill>
          <a:ln w="12700">
            <a:solidFill>
              <a:srgbClr val="102A43"/>
            </a:solidFill>
            <a:prstDash val="solid"/>
          </a:ln>
        </p:spPr>
      </p:sp>
      <p:sp>
        <p:nvSpPr>
          <p:cNvPr id="24" name="Text 21"/>
          <p:cNvSpPr txBox="1"/>
          <p:nvPr/>
        </p:nvSpPr>
        <p:spPr>
          <a:xfrm>
            <a:off x="6479896" y="2651760"/>
            <a:ext cx="2060372" cy="182880"/>
          </a:xfrm>
          <a:prstGeom prst="rect">
            <a:avLst/>
          </a:prstGeom>
          <a:noFill/>
          <a:ln/>
        </p:spPr>
        <p:txBody>
          <a:bodyPr wrap="square" lIns="0" tIns="0" rIns="0" bIns="0" rtlCol="0" anchor="t"/>
          <a:lstStyle/>
          <a:p>
            <a:pPr algn="l" indent="0" marL="0">
              <a:buNone/>
            </a:pPr>
            <a:r>
              <a:rPr lang="en-US" sz="880" b="1" spc="90" kern="0" dirty="0">
                <a:solidFill>
                  <a:srgbClr val="102A43"/>
                </a:solidFill>
                <a:latin typeface="Aptos" pitchFamily="34" charset="0"/>
                <a:ea typeface="Aptos" pitchFamily="34" charset="-122"/>
                <a:cs typeface="Aptos" pitchFamily="34" charset="-120"/>
              </a:rPr>
              <a:t>EL MÉTODO</a:t>
            </a:r>
            <a:endParaRPr lang="en-US" sz="880" dirty="0"/>
          </a:p>
        </p:txBody>
      </p:sp>
      <p:sp>
        <p:nvSpPr>
          <p:cNvPr id="25" name="Text 22"/>
          <p:cNvSpPr txBox="1"/>
          <p:nvPr/>
        </p:nvSpPr>
        <p:spPr>
          <a:xfrm>
            <a:off x="6479896" y="2871216"/>
            <a:ext cx="2060372" cy="457200"/>
          </a:xfrm>
          <a:prstGeom prst="rect">
            <a:avLst/>
          </a:prstGeom>
          <a:noFill/>
          <a:ln/>
        </p:spPr>
        <p:txBody>
          <a:bodyPr wrap="square" lIns="0" tIns="0" rIns="0" bIns="0" rtlCol="0" anchor="t"/>
          <a:lstStyle/>
          <a:p>
            <a:pPr algn="l" indent="0" marL="0">
              <a:lnSpc>
                <a:spcPct val="110000"/>
              </a:lnSpc>
              <a:buNone/>
            </a:pPr>
            <a:r>
              <a:rPr lang="en-US" sz="1080" dirty="0">
                <a:solidFill>
                  <a:srgbClr val="243B53"/>
                </a:solidFill>
                <a:latin typeface="Aptos" pitchFamily="34" charset="0"/>
                <a:ea typeface="Aptos" pitchFamily="34" charset="-122"/>
                <a:cs typeface="Aptos" pitchFamily="34" charset="-120"/>
              </a:rPr>
              <a:t>Buscar el identificador en todas las tablas</a:t>
            </a:r>
            <a:endParaRPr lang="en-US" sz="1080" dirty="0"/>
          </a:p>
        </p:txBody>
      </p:sp>
      <p:sp>
        <p:nvSpPr>
          <p:cNvPr id="26" name="Shape 23"/>
          <p:cNvSpPr/>
          <p:nvPr/>
        </p:nvSpPr>
        <p:spPr>
          <a:xfrm>
            <a:off x="8778011" y="2962656"/>
            <a:ext cx="292608" cy="0"/>
          </a:xfrm>
          <a:prstGeom prst="line">
            <a:avLst/>
          </a:prstGeom>
          <a:noFill/>
          <a:ln w="12700">
            <a:solidFill>
              <a:srgbClr val="D8CFC4"/>
            </a:solidFill>
            <a:prstDash val="solid"/>
            <a:headEnd type="none"/>
            <a:tailEnd type="triangle"/>
          </a:ln>
        </p:spPr>
      </p:sp>
      <p:sp>
        <p:nvSpPr>
          <p:cNvPr id="27" name="Shape 24"/>
          <p:cNvSpPr/>
          <p:nvPr/>
        </p:nvSpPr>
        <p:spPr>
          <a:xfrm>
            <a:off x="9143771" y="2505456"/>
            <a:ext cx="2389556" cy="914400"/>
          </a:xfrm>
          <a:prstGeom prst="rect">
            <a:avLst/>
          </a:prstGeom>
          <a:solidFill>
            <a:srgbClr val="F2E7D9"/>
          </a:solidFill>
          <a:ln w="12700">
            <a:solidFill>
              <a:srgbClr val="F2E7D9"/>
            </a:solidFill>
            <a:prstDash val="solid"/>
          </a:ln>
        </p:spPr>
      </p:sp>
      <p:sp>
        <p:nvSpPr>
          <p:cNvPr id="28" name="Shape 25"/>
          <p:cNvSpPr/>
          <p:nvPr/>
        </p:nvSpPr>
        <p:spPr>
          <a:xfrm>
            <a:off x="9143771" y="2505456"/>
            <a:ext cx="2389556" cy="54864"/>
          </a:xfrm>
          <a:prstGeom prst="rect">
            <a:avLst/>
          </a:prstGeom>
          <a:solidFill>
            <a:srgbClr val="B3181E"/>
          </a:solidFill>
          <a:ln w="12700">
            <a:solidFill>
              <a:srgbClr val="B3181E"/>
            </a:solidFill>
            <a:prstDash val="solid"/>
          </a:ln>
        </p:spPr>
      </p:sp>
      <p:sp>
        <p:nvSpPr>
          <p:cNvPr id="29" name="Text 26"/>
          <p:cNvSpPr txBox="1"/>
          <p:nvPr/>
        </p:nvSpPr>
        <p:spPr>
          <a:xfrm>
            <a:off x="9308363" y="2651760"/>
            <a:ext cx="2060372" cy="182880"/>
          </a:xfrm>
          <a:prstGeom prst="rect">
            <a:avLst/>
          </a:prstGeom>
          <a:noFill/>
          <a:ln/>
        </p:spPr>
        <p:txBody>
          <a:bodyPr wrap="square" lIns="0" tIns="0" rIns="0" bIns="0" rtlCol="0" anchor="t"/>
          <a:lstStyle/>
          <a:p>
            <a:pPr algn="l" indent="0" marL="0">
              <a:buNone/>
            </a:pPr>
            <a:r>
              <a:rPr lang="en-US" sz="880" b="1" spc="90" kern="0" dirty="0">
                <a:solidFill>
                  <a:srgbClr val="B3181E"/>
                </a:solidFill>
                <a:latin typeface="Aptos" pitchFamily="34" charset="0"/>
                <a:ea typeface="Aptos" pitchFamily="34" charset="-122"/>
                <a:cs typeface="Aptos" pitchFamily="34" charset="-120"/>
              </a:rPr>
              <a:t>EL UMBRAL</a:t>
            </a:r>
            <a:endParaRPr lang="en-US" sz="880" dirty="0"/>
          </a:p>
        </p:txBody>
      </p:sp>
      <p:sp>
        <p:nvSpPr>
          <p:cNvPr id="30" name="Text 27"/>
          <p:cNvSpPr txBox="1"/>
          <p:nvPr/>
        </p:nvSpPr>
        <p:spPr>
          <a:xfrm>
            <a:off x="9308363" y="2871216"/>
            <a:ext cx="2060372" cy="457200"/>
          </a:xfrm>
          <a:prstGeom prst="rect">
            <a:avLst/>
          </a:prstGeom>
          <a:noFill/>
          <a:ln/>
        </p:spPr>
        <p:txBody>
          <a:bodyPr wrap="square" lIns="0" tIns="0" rIns="0" bIns="0" rtlCol="0" anchor="t"/>
          <a:lstStyle/>
          <a:p>
            <a:pPr algn="l" indent="0" marL="0">
              <a:lnSpc>
                <a:spcPct val="110000"/>
              </a:lnSpc>
              <a:buNone/>
            </a:pPr>
            <a:r>
              <a:rPr lang="en-US" sz="1700" b="1" dirty="0">
                <a:solidFill>
                  <a:srgbClr val="B3181E"/>
                </a:solidFill>
                <a:latin typeface="Aptos" pitchFamily="34" charset="0"/>
                <a:ea typeface="Aptos" pitchFamily="34" charset="-122"/>
                <a:cs typeface="Aptos" pitchFamily="34" charset="-120"/>
              </a:rPr>
              <a:t>Cero</a:t>
            </a:r>
            <a:endParaRPr lang="en-US" sz="1700" dirty="0"/>
          </a:p>
        </p:txBody>
      </p:sp>
      <p:sp>
        <p:nvSpPr>
          <p:cNvPr id="31" name="Shape 28"/>
          <p:cNvSpPr/>
          <p:nvPr/>
        </p:nvSpPr>
        <p:spPr>
          <a:xfrm>
            <a:off x="658368" y="3584448"/>
            <a:ext cx="10874959" cy="475488"/>
          </a:xfrm>
          <a:prstGeom prst="rect">
            <a:avLst/>
          </a:prstGeom>
          <a:solidFill>
            <a:srgbClr val="1D3A57"/>
          </a:solidFill>
          <a:ln w="12700">
            <a:solidFill>
              <a:srgbClr val="1D3A57"/>
            </a:solidFill>
            <a:prstDash val="solid"/>
          </a:ln>
        </p:spPr>
      </p:sp>
      <p:sp>
        <p:nvSpPr>
          <p:cNvPr id="32" name="Text 29"/>
          <p:cNvSpPr txBox="1"/>
          <p:nvPr/>
        </p:nvSpPr>
        <p:spPr>
          <a:xfrm>
            <a:off x="932688" y="3657600"/>
            <a:ext cx="10326319" cy="329184"/>
          </a:xfrm>
          <a:prstGeom prst="rect">
            <a:avLst/>
          </a:prstGeom>
          <a:noFill/>
          <a:ln/>
        </p:spPr>
        <p:txBody>
          <a:bodyPr wrap="square" lIns="0" tIns="0" rIns="0" bIns="0" rtlCol="0" anchor="t"/>
          <a:lstStyle/>
          <a:p>
            <a:pPr algn="l" indent="0" marL="0">
              <a:buNone/>
            </a:pPr>
            <a:r>
              <a:rPr lang="en-US" sz="1300" b="1" dirty="0">
                <a:solidFill>
                  <a:srgbClr val="FFFFFF"/>
                </a:solidFill>
                <a:latin typeface="Aptos" pitchFamily="34" charset="0"/>
                <a:ea typeface="Aptos" pitchFamily="34" charset="-122"/>
                <a:cs typeface="Aptos" pitchFamily="34" charset="-120"/>
              </a:rPr>
              <a:t>RF-07 · Ejecutada una solicitud de supresión, ninguna tabla del sistema conserva datos que identifiquen al titular.</a:t>
            </a:r>
            <a:endParaRPr lang="en-US" sz="1300" dirty="0"/>
          </a:p>
        </p:txBody>
      </p:sp>
      <p:sp>
        <p:nvSpPr>
          <p:cNvPr id="33" name="Text 30"/>
          <p:cNvSpPr txBox="1"/>
          <p:nvPr/>
        </p:nvSpPr>
        <p:spPr>
          <a:xfrm>
            <a:off x="658368" y="4261104"/>
            <a:ext cx="64008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Y EN VARIOS ARTÍCULOS EL UMBRAL YA VIENE ESCRITO</a:t>
            </a:r>
            <a:endParaRPr lang="en-US" sz="960" dirty="0"/>
          </a:p>
        </p:txBody>
      </p:sp>
      <p:sp>
        <p:nvSpPr>
          <p:cNvPr id="34" name="Shape 31"/>
          <p:cNvSpPr/>
          <p:nvPr/>
        </p:nvSpPr>
        <p:spPr>
          <a:xfrm>
            <a:off x="658368" y="4517136"/>
            <a:ext cx="2834640" cy="932688"/>
          </a:xfrm>
          <a:prstGeom prst="rect">
            <a:avLst/>
          </a:prstGeom>
          <a:solidFill>
            <a:srgbClr val="FFFFFF"/>
          </a:solidFill>
          <a:ln w="12700">
            <a:solidFill>
              <a:srgbClr val="FFFFFF"/>
            </a:solidFill>
            <a:prstDash val="solid"/>
          </a:ln>
        </p:spPr>
      </p:sp>
      <p:sp>
        <p:nvSpPr>
          <p:cNvPr id="35" name="Shape 32"/>
          <p:cNvSpPr/>
          <p:nvPr/>
        </p:nvSpPr>
        <p:spPr>
          <a:xfrm>
            <a:off x="658368" y="4517136"/>
            <a:ext cx="54864" cy="932688"/>
          </a:xfrm>
          <a:prstGeom prst="rect">
            <a:avLst/>
          </a:prstGeom>
          <a:solidFill>
            <a:srgbClr val="102A43"/>
          </a:solidFill>
          <a:ln w="12700">
            <a:solidFill>
              <a:srgbClr val="102A43"/>
            </a:solidFill>
            <a:prstDash val="solid"/>
          </a:ln>
        </p:spPr>
      </p:sp>
      <p:sp>
        <p:nvSpPr>
          <p:cNvPr id="36" name="Text 33"/>
          <p:cNvSpPr txBox="1"/>
          <p:nvPr/>
        </p:nvSpPr>
        <p:spPr>
          <a:xfrm>
            <a:off x="877824" y="4608576"/>
            <a:ext cx="822960" cy="402336"/>
          </a:xfrm>
          <a:prstGeom prst="rect">
            <a:avLst/>
          </a:prstGeom>
          <a:noFill/>
          <a:ln/>
        </p:spPr>
        <p:txBody>
          <a:bodyPr wrap="square" lIns="0" tIns="0" rIns="0" bIns="0" rtlCol="0" anchor="t"/>
          <a:lstStyle/>
          <a:p>
            <a:pPr algn="l" indent="0" marL="0">
              <a:buNone/>
            </a:pPr>
            <a:r>
              <a:rPr lang="en-US" sz="3000" b="1" dirty="0">
                <a:solidFill>
                  <a:srgbClr val="102A43"/>
                </a:solidFill>
                <a:latin typeface="Aptos Display" pitchFamily="34" charset="0"/>
                <a:ea typeface="Aptos Display" pitchFamily="34" charset="-122"/>
                <a:cs typeface="Aptos Display" pitchFamily="34" charset="-120"/>
              </a:rPr>
              <a:t>30</a:t>
            </a:r>
            <a:endParaRPr lang="en-US" sz="3000" dirty="0"/>
          </a:p>
        </p:txBody>
      </p:sp>
      <p:sp>
        <p:nvSpPr>
          <p:cNvPr id="37" name="Text 34"/>
          <p:cNvSpPr txBox="1"/>
          <p:nvPr/>
        </p:nvSpPr>
        <p:spPr>
          <a:xfrm>
            <a:off x="1755648" y="4718304"/>
            <a:ext cx="1645920"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días corridos</a:t>
            </a:r>
            <a:endParaRPr lang="en-US" sz="1200" dirty="0"/>
          </a:p>
        </p:txBody>
      </p:sp>
      <p:sp>
        <p:nvSpPr>
          <p:cNvPr id="38" name="Text 35"/>
          <p:cNvSpPr txBox="1"/>
          <p:nvPr/>
        </p:nvSpPr>
        <p:spPr>
          <a:xfrm>
            <a:off x="877824" y="5102352"/>
            <a:ext cx="2468880" cy="310896"/>
          </a:xfrm>
          <a:prstGeom prst="rect">
            <a:avLst/>
          </a:prstGeom>
          <a:noFill/>
          <a:ln/>
        </p:spPr>
        <p:txBody>
          <a:bodyPr wrap="square" lIns="0" tIns="0" rIns="0" bIns="0" rtlCol="0" anchor="t"/>
          <a:lstStyle/>
          <a:p>
            <a:pPr algn="l" indent="0" marL="0">
              <a:lnSpc>
                <a:spcPct val="110000"/>
              </a:lnSpc>
              <a:buNone/>
            </a:pPr>
            <a:r>
              <a:rPr lang="en-US" sz="940" dirty="0">
                <a:solidFill>
                  <a:srgbClr val="52606D"/>
                </a:solidFill>
                <a:latin typeface="Aptos" pitchFamily="34" charset="0"/>
                <a:ea typeface="Aptos" pitchFamily="34" charset="-122"/>
                <a:cs typeface="Aptos" pitchFamily="34" charset="-120"/>
              </a:rPr>
              <a:t>Para pronunciarse sobre una solicitud. Prorrogable una sola vez.</a:t>
            </a:r>
            <a:endParaRPr lang="en-US" sz="940" dirty="0"/>
          </a:p>
        </p:txBody>
      </p:sp>
      <p:sp>
        <p:nvSpPr>
          <p:cNvPr id="39" name="Shape 36"/>
          <p:cNvSpPr/>
          <p:nvPr/>
        </p:nvSpPr>
        <p:spPr>
          <a:xfrm>
            <a:off x="3675888" y="4517136"/>
            <a:ext cx="2834640" cy="932688"/>
          </a:xfrm>
          <a:prstGeom prst="rect">
            <a:avLst/>
          </a:prstGeom>
          <a:solidFill>
            <a:srgbClr val="FFFFFF"/>
          </a:solidFill>
          <a:ln w="12700">
            <a:solidFill>
              <a:srgbClr val="FFFFFF"/>
            </a:solidFill>
            <a:prstDash val="solid"/>
          </a:ln>
        </p:spPr>
      </p:sp>
      <p:sp>
        <p:nvSpPr>
          <p:cNvPr id="40" name="Shape 37"/>
          <p:cNvSpPr/>
          <p:nvPr/>
        </p:nvSpPr>
        <p:spPr>
          <a:xfrm>
            <a:off x="3675888" y="4517136"/>
            <a:ext cx="54864" cy="932688"/>
          </a:xfrm>
          <a:prstGeom prst="rect">
            <a:avLst/>
          </a:prstGeom>
          <a:solidFill>
            <a:srgbClr val="B3181E"/>
          </a:solidFill>
          <a:ln w="12700">
            <a:solidFill>
              <a:srgbClr val="B3181E"/>
            </a:solidFill>
            <a:prstDash val="solid"/>
          </a:ln>
        </p:spPr>
      </p:sp>
      <p:sp>
        <p:nvSpPr>
          <p:cNvPr id="41" name="Text 38"/>
          <p:cNvSpPr txBox="1"/>
          <p:nvPr/>
        </p:nvSpPr>
        <p:spPr>
          <a:xfrm>
            <a:off x="3895344" y="4608576"/>
            <a:ext cx="822960" cy="402336"/>
          </a:xfrm>
          <a:prstGeom prst="rect">
            <a:avLst/>
          </a:prstGeom>
          <a:noFill/>
          <a:ln/>
        </p:spPr>
        <p:txBody>
          <a:bodyPr wrap="square" lIns="0" tIns="0" rIns="0" bIns="0" rtlCol="0" anchor="t"/>
          <a:lstStyle/>
          <a:p>
            <a:pPr algn="l" indent="0" marL="0">
              <a:buNone/>
            </a:pPr>
            <a:r>
              <a:rPr lang="en-US" sz="3000" b="1" dirty="0">
                <a:solidFill>
                  <a:srgbClr val="B3181E"/>
                </a:solidFill>
                <a:latin typeface="Aptos Display" pitchFamily="34" charset="0"/>
                <a:ea typeface="Aptos Display" pitchFamily="34" charset="-122"/>
                <a:cs typeface="Aptos Display" pitchFamily="34" charset="-120"/>
              </a:rPr>
              <a:t>2</a:t>
            </a:r>
            <a:endParaRPr lang="en-US" sz="3000" dirty="0"/>
          </a:p>
        </p:txBody>
      </p:sp>
      <p:sp>
        <p:nvSpPr>
          <p:cNvPr id="42" name="Text 39"/>
          <p:cNvSpPr txBox="1"/>
          <p:nvPr/>
        </p:nvSpPr>
        <p:spPr>
          <a:xfrm>
            <a:off x="4773168" y="4718304"/>
            <a:ext cx="1645920"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días hábiles</a:t>
            </a:r>
            <a:endParaRPr lang="en-US" sz="1200" dirty="0"/>
          </a:p>
        </p:txBody>
      </p:sp>
      <p:sp>
        <p:nvSpPr>
          <p:cNvPr id="43" name="Text 40"/>
          <p:cNvSpPr txBox="1"/>
          <p:nvPr/>
        </p:nvSpPr>
        <p:spPr>
          <a:xfrm>
            <a:off x="3895344" y="5102352"/>
            <a:ext cx="2468880" cy="310896"/>
          </a:xfrm>
          <a:prstGeom prst="rect">
            <a:avLst/>
          </a:prstGeom>
          <a:noFill/>
          <a:ln/>
        </p:spPr>
        <p:txBody>
          <a:bodyPr wrap="square" lIns="0" tIns="0" rIns="0" bIns="0" rtlCol="0" anchor="t"/>
          <a:lstStyle/>
          <a:p>
            <a:pPr algn="l" indent="0" marL="0">
              <a:lnSpc>
                <a:spcPct val="110000"/>
              </a:lnSpc>
              <a:buNone/>
            </a:pPr>
            <a:r>
              <a:rPr lang="en-US" sz="940" dirty="0">
                <a:solidFill>
                  <a:srgbClr val="52606D"/>
                </a:solidFill>
                <a:latin typeface="Aptos" pitchFamily="34" charset="0"/>
                <a:ea typeface="Aptos" pitchFamily="34" charset="-122"/>
                <a:cs typeface="Aptos" pitchFamily="34" charset="-120"/>
              </a:rPr>
              <a:t>Para responder una solicitud de bloqueo temporal.</a:t>
            </a:r>
            <a:endParaRPr lang="en-US" sz="940" dirty="0"/>
          </a:p>
        </p:txBody>
      </p:sp>
      <p:sp>
        <p:nvSpPr>
          <p:cNvPr id="44" name="Shape 41"/>
          <p:cNvSpPr/>
          <p:nvPr/>
        </p:nvSpPr>
        <p:spPr>
          <a:xfrm>
            <a:off x="6711696" y="4517136"/>
            <a:ext cx="4828032" cy="932688"/>
          </a:xfrm>
          <a:prstGeom prst="rect">
            <a:avLst/>
          </a:prstGeom>
          <a:solidFill>
            <a:srgbClr val="EDE6DA"/>
          </a:solidFill>
          <a:ln w="12700">
            <a:solidFill>
              <a:srgbClr val="EDE6DA"/>
            </a:solidFill>
            <a:prstDash val="solid"/>
          </a:ln>
        </p:spPr>
      </p:sp>
      <p:sp>
        <p:nvSpPr>
          <p:cNvPr id="45" name="Text 42"/>
          <p:cNvSpPr txBox="1"/>
          <p:nvPr/>
        </p:nvSpPr>
        <p:spPr>
          <a:xfrm>
            <a:off x="6949440" y="4626864"/>
            <a:ext cx="4389120" cy="219456"/>
          </a:xfrm>
          <a:prstGeom prst="rect">
            <a:avLst/>
          </a:prstGeom>
          <a:noFill/>
          <a:ln/>
        </p:spPr>
        <p:txBody>
          <a:bodyPr wrap="square" lIns="0" tIns="0" rIns="0" bIns="0" rtlCol="0" anchor="t"/>
          <a:lstStyle/>
          <a:p>
            <a:pPr algn="l" indent="0" marL="0">
              <a:buNone/>
            </a:pPr>
            <a:r>
              <a:rPr lang="en-US" sz="1040" b="1" dirty="0">
                <a:solidFill>
                  <a:srgbClr val="102A43"/>
                </a:solidFill>
                <a:latin typeface="Aptos" pitchFamily="34" charset="0"/>
                <a:ea typeface="Aptos" pitchFamily="34" charset="-122"/>
                <a:cs typeface="Aptos" pitchFamily="34" charset="-120"/>
              </a:rPr>
              <a:t>Artículo 9º · portabilidad</a:t>
            </a:r>
            <a:endParaRPr lang="en-US" sz="1040" dirty="0"/>
          </a:p>
        </p:txBody>
      </p:sp>
      <p:sp>
        <p:nvSpPr>
          <p:cNvPr id="46" name="Text 43"/>
          <p:cNvSpPr txBox="1"/>
          <p:nvPr/>
        </p:nvSpPr>
        <p:spPr>
          <a:xfrm>
            <a:off x="6949440" y="4864608"/>
            <a:ext cx="4389120" cy="512064"/>
          </a:xfrm>
          <a:prstGeom prst="rect">
            <a:avLst/>
          </a:prstGeom>
          <a:noFill/>
          <a:ln/>
        </p:spPr>
        <p:txBody>
          <a:bodyPr wrap="square" lIns="0" tIns="0" rIns="0" bIns="0" rtlCol="0" anchor="t"/>
          <a:lstStyle/>
          <a:p>
            <a:pPr algn="l" indent="0" marL="0">
              <a:lnSpc>
                <a:spcPct val="112000"/>
              </a:lnSpc>
              <a:buNone/>
            </a:pPr>
            <a:r>
              <a:rPr lang="en-US" sz="980" dirty="0">
                <a:solidFill>
                  <a:srgbClr val="243B53"/>
                </a:solidFill>
                <a:latin typeface="Aptos" pitchFamily="34" charset="0"/>
                <a:ea typeface="Aptos" pitchFamily="34" charset="-122"/>
                <a:cs typeface="Aptos" pitchFamily="34" charset="-120"/>
              </a:rPr>
              <a:t>«Formato electrónico estructurado, genérico y de uso común» suena a redacción vaga, y es una condición ejecutable: se le pasa la respuesta a un analizador estándar y se ve si la interpreta.</a:t>
            </a:r>
            <a:endParaRPr lang="en-US" sz="980" dirty="0"/>
          </a:p>
        </p:txBody>
      </p:sp>
      <p:sp>
        <p:nvSpPr>
          <p:cNvPr id="47" name="Shape 44"/>
          <p:cNvSpPr/>
          <p:nvPr/>
        </p:nvSpPr>
        <p:spPr>
          <a:xfrm>
            <a:off x="658368" y="5614416"/>
            <a:ext cx="10874959" cy="457200"/>
          </a:xfrm>
          <a:prstGeom prst="rect">
            <a:avLst/>
          </a:prstGeom>
          <a:solidFill>
            <a:srgbClr val="102A43"/>
          </a:solidFill>
          <a:ln w="12700">
            <a:solidFill>
              <a:srgbClr val="102A43"/>
            </a:solidFill>
            <a:prstDash val="solid"/>
          </a:ln>
        </p:spPr>
      </p:sp>
      <p:sp>
        <p:nvSpPr>
          <p:cNvPr id="48" name="Text 45"/>
          <p:cNvSpPr txBox="1"/>
          <p:nvPr/>
        </p:nvSpPr>
        <p:spPr>
          <a:xfrm>
            <a:off x="950976" y="5650992"/>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ley no dijo qué formato. Dijo una propiedad del formato, y eso se comprueba.</a:t>
            </a:r>
            <a:endParaRPr lang="en-US" sz="13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DEMOSTRACIÓN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mismo requisito, dos veredictos opuestos</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dos pruebas comprueban RF-07 sobre el mismo sistema. La única diferencia es cuántos lugares miran.</a:t>
            </a:r>
            <a:endParaRPr lang="en-US" sz="1420" dirty="0"/>
          </a:p>
        </p:txBody>
      </p:sp>
      <p:sp>
        <p:nvSpPr>
          <p:cNvPr id="11" name="Shape 8"/>
          <p:cNvSpPr/>
          <p:nvPr/>
        </p:nvSpPr>
        <p:spPr>
          <a:xfrm>
            <a:off x="658368" y="2231136"/>
            <a:ext cx="5358384" cy="1792224"/>
          </a:xfrm>
          <a:prstGeom prst="roundRect">
            <a:avLst>
              <a:gd name="adj" fmla="val 2041"/>
            </a:avLst>
          </a:prstGeom>
          <a:solidFill>
            <a:srgbClr val="102A43"/>
          </a:solidFill>
          <a:ln w="12700">
            <a:solidFill>
              <a:srgbClr val="102A43"/>
            </a:solidFill>
            <a:prstDash val="solid"/>
          </a:ln>
        </p:spPr>
      </p:sp>
      <p:sp>
        <p:nvSpPr>
          <p:cNvPr id="12" name="Shape 9"/>
          <p:cNvSpPr/>
          <p:nvPr/>
        </p:nvSpPr>
        <p:spPr>
          <a:xfrm>
            <a:off x="786384" y="2340864"/>
            <a:ext cx="5102352"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14016"/>
            <a:ext cx="4882896"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Mira una tabla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798064"/>
            <a:ext cx="4937760" cy="1042416"/>
          </a:xfrm>
          <a:prstGeom prst="rect">
            <a:avLst/>
          </a:prstGeom>
        </p:spPr>
      </p:pic>
      <p:sp>
        <p:nvSpPr>
          <p:cNvPr id="15" name="Shape 11"/>
          <p:cNvSpPr/>
          <p:nvPr/>
        </p:nvSpPr>
        <p:spPr>
          <a:xfrm>
            <a:off x="6181344" y="2231136"/>
            <a:ext cx="5358384" cy="1792224"/>
          </a:xfrm>
          <a:prstGeom prst="roundRect">
            <a:avLst>
              <a:gd name="adj" fmla="val 2041"/>
            </a:avLst>
          </a:prstGeom>
          <a:solidFill>
            <a:srgbClr val="102A43"/>
          </a:solidFill>
          <a:ln w="12700">
            <a:solidFill>
              <a:srgbClr val="102A43"/>
            </a:solidFill>
            <a:prstDash val="solid"/>
          </a:ln>
        </p:spPr>
      </p:sp>
      <p:sp>
        <p:nvSpPr>
          <p:cNvPr id="16" name="Shape 12"/>
          <p:cNvSpPr/>
          <p:nvPr/>
        </p:nvSpPr>
        <p:spPr>
          <a:xfrm>
            <a:off x="6309360" y="2340864"/>
            <a:ext cx="5102352" cy="310896"/>
          </a:xfrm>
          <a:prstGeom prst="roundRect">
            <a:avLst>
              <a:gd name="adj" fmla="val 8824"/>
            </a:avLst>
          </a:prstGeom>
          <a:solidFill>
            <a:srgbClr val="284B75"/>
          </a:solidFill>
          <a:ln w="12700">
            <a:solidFill>
              <a:srgbClr val="284B75"/>
            </a:solidFill>
            <a:prstDash val="solid"/>
          </a:ln>
        </p:spPr>
      </p:sp>
      <p:sp>
        <p:nvSpPr>
          <p:cNvPr id="17" name="Text 13"/>
          <p:cNvSpPr/>
          <p:nvPr/>
        </p:nvSpPr>
        <p:spPr>
          <a:xfrm>
            <a:off x="6419088" y="2414016"/>
            <a:ext cx="4882896"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Mira el sistema completo</a:t>
            </a:r>
            <a:endParaRPr lang="en-US" sz="10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0800" y="2798064"/>
            <a:ext cx="4937760" cy="1042416"/>
          </a:xfrm>
          <a:prstGeom prst="rect">
            <a:avLst/>
          </a:prstGeom>
        </p:spPr>
      </p:pic>
      <p:sp>
        <p:nvSpPr>
          <p:cNvPr id="19" name="Shape 14"/>
          <p:cNvSpPr/>
          <p:nvPr/>
        </p:nvSpPr>
        <p:spPr>
          <a:xfrm>
            <a:off x="658368" y="4133088"/>
            <a:ext cx="5358384" cy="512064"/>
          </a:xfrm>
          <a:prstGeom prst="rect">
            <a:avLst/>
          </a:prstGeom>
          <a:solidFill>
            <a:srgbClr val="2E7D4F"/>
          </a:solidFill>
          <a:ln w="12700">
            <a:solidFill>
              <a:srgbClr val="2E7D4F"/>
            </a:solidFill>
            <a:prstDash val="solid"/>
          </a:ln>
        </p:spPr>
      </p:sp>
      <p:sp>
        <p:nvSpPr>
          <p:cNvPr id="20" name="Text 15"/>
          <p:cNvSpPr txBox="1"/>
          <p:nvPr/>
        </p:nvSpPr>
        <p:spPr>
          <a:xfrm>
            <a:off x="841248" y="4206240"/>
            <a:ext cx="4992624" cy="365760"/>
          </a:xfrm>
          <a:prstGeom prst="rect">
            <a:avLst/>
          </a:prstGeom>
          <a:noFill/>
          <a:ln/>
        </p:spPr>
        <p:txBody>
          <a:bodyPr wrap="square" lIns="0" tIns="0" rIns="0" bIns="0" rtlCol="0" anchor="ctr"/>
          <a:lstStyle/>
          <a:p>
            <a:pPr algn="ctr" indent="0" marL="0">
              <a:buNone/>
            </a:pPr>
            <a:r>
              <a:rPr lang="en-US" sz="1400" b="1" spc="140" kern="0" dirty="0">
                <a:solidFill>
                  <a:srgbClr val="FFFFFF"/>
                </a:solidFill>
                <a:latin typeface="Aptos" pitchFamily="34" charset="0"/>
                <a:ea typeface="Aptos" pitchFamily="34" charset="-122"/>
                <a:cs typeface="Aptos" pitchFamily="34" charset="-120"/>
              </a:rPr>
              <a:t>PASA</a:t>
            </a:r>
            <a:endParaRPr lang="en-US" sz="1400" dirty="0"/>
          </a:p>
        </p:txBody>
      </p:sp>
      <p:sp>
        <p:nvSpPr>
          <p:cNvPr id="21" name="Shape 16"/>
          <p:cNvSpPr/>
          <p:nvPr/>
        </p:nvSpPr>
        <p:spPr>
          <a:xfrm>
            <a:off x="6181344" y="4133088"/>
            <a:ext cx="5358384" cy="512064"/>
          </a:xfrm>
          <a:prstGeom prst="rect">
            <a:avLst/>
          </a:prstGeom>
          <a:solidFill>
            <a:srgbClr val="B3181E"/>
          </a:solidFill>
          <a:ln w="12700">
            <a:solidFill>
              <a:srgbClr val="B3181E"/>
            </a:solidFill>
            <a:prstDash val="solid"/>
          </a:ln>
        </p:spPr>
      </p:sp>
      <p:sp>
        <p:nvSpPr>
          <p:cNvPr id="22" name="Text 17"/>
          <p:cNvSpPr txBox="1"/>
          <p:nvPr/>
        </p:nvSpPr>
        <p:spPr>
          <a:xfrm>
            <a:off x="6364224" y="4206240"/>
            <a:ext cx="4992624" cy="365760"/>
          </a:xfrm>
          <a:prstGeom prst="rect">
            <a:avLst/>
          </a:prstGeom>
          <a:noFill/>
          <a:ln/>
        </p:spPr>
        <p:txBody>
          <a:bodyPr wrap="square" lIns="0" tIns="0" rIns="0" bIns="0" rtlCol="0" anchor="ctr"/>
          <a:lstStyle/>
          <a:p>
            <a:pPr algn="ctr" indent="0" marL="0">
              <a:buNone/>
            </a:pPr>
            <a:r>
              <a:rPr lang="en-US" sz="1400" b="1" spc="140" kern="0" dirty="0">
                <a:solidFill>
                  <a:srgbClr val="FFFFFF"/>
                </a:solidFill>
                <a:latin typeface="Aptos" pitchFamily="34" charset="0"/>
                <a:ea typeface="Aptos" pitchFamily="34" charset="-122"/>
                <a:cs typeface="Aptos" pitchFamily="34" charset="-120"/>
              </a:rPr>
              <a:t>FALLA</a:t>
            </a:r>
            <a:endParaRPr lang="en-US" sz="1400" dirty="0"/>
          </a:p>
        </p:txBody>
      </p:sp>
      <p:sp>
        <p:nvSpPr>
          <p:cNvPr id="23" name="Shape 18"/>
          <p:cNvSpPr/>
          <p:nvPr/>
        </p:nvSpPr>
        <p:spPr>
          <a:xfrm>
            <a:off x="658368" y="4773168"/>
            <a:ext cx="10874959" cy="859536"/>
          </a:xfrm>
          <a:prstGeom prst="roundRect">
            <a:avLst>
              <a:gd name="adj" fmla="val 4255"/>
            </a:avLst>
          </a:prstGeom>
          <a:solidFill>
            <a:srgbClr val="0F1720"/>
          </a:solidFill>
          <a:ln w="12700">
            <a:solidFill>
              <a:srgbClr val="0F1720"/>
            </a:solidFill>
            <a:prstDash val="solid"/>
          </a:ln>
        </p:spPr>
      </p:sp>
      <p:sp>
        <p:nvSpPr>
          <p:cNvPr id="24" name="Shape 19"/>
          <p:cNvSpPr/>
          <p:nvPr/>
        </p:nvSpPr>
        <p:spPr>
          <a:xfrm>
            <a:off x="786384" y="4882896"/>
            <a:ext cx="10618927" cy="310896"/>
          </a:xfrm>
          <a:prstGeom prst="roundRect">
            <a:avLst>
              <a:gd name="adj" fmla="val 8824"/>
            </a:avLst>
          </a:prstGeom>
          <a:solidFill>
            <a:srgbClr val="1E2937"/>
          </a:solidFill>
          <a:ln w="12700">
            <a:solidFill>
              <a:srgbClr val="1E2937"/>
            </a:solidFill>
            <a:prstDash val="solid"/>
          </a:ln>
        </p:spPr>
      </p:sp>
      <p:sp>
        <p:nvSpPr>
          <p:cNvPr id="25" name="Text 20"/>
          <p:cNvSpPr/>
          <p:nvPr/>
        </p:nvSpPr>
        <p:spPr>
          <a:xfrm>
            <a:off x="914400" y="4956048"/>
            <a:ext cx="10362895"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salida de las dos, juntas</a:t>
            </a:r>
            <a:endParaRPr lang="en-US" sz="1000" dirty="0"/>
          </a:p>
        </p:txBody>
      </p:sp>
      <p:sp>
        <p:nvSpPr>
          <p:cNvPr id="26" name="Text 21"/>
          <p:cNvSpPr/>
          <p:nvPr/>
        </p:nvSpPr>
        <p:spPr>
          <a:xfrm>
            <a:off x="877824" y="5340096"/>
            <a:ext cx="10125151"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AssertionError: assert {'reservas': 0, 'eventos': 1} == {'reservas': 0, 'eventos': 0}     ·     1 failed, 1 passed in 0.73s</a:t>
            </a:r>
            <a:endParaRPr lang="en-US" sz="1020" dirty="0"/>
          </a:p>
        </p:txBody>
      </p:sp>
      <p:sp>
        <p:nvSpPr>
          <p:cNvPr id="27" name="Shape 22"/>
          <p:cNvSpPr/>
          <p:nvPr/>
        </p:nvSpPr>
        <p:spPr>
          <a:xfrm>
            <a:off x="658368" y="5760720"/>
            <a:ext cx="10874959" cy="402336"/>
          </a:xfrm>
          <a:prstGeom prst="rect">
            <a:avLst/>
          </a:prstGeom>
          <a:solidFill>
            <a:srgbClr val="102A43"/>
          </a:solidFill>
          <a:ln w="12700">
            <a:solidFill>
              <a:srgbClr val="102A43"/>
            </a:solidFill>
            <a:prstDash val="solid"/>
          </a:ln>
        </p:spPr>
      </p:sp>
      <p:sp>
        <p:nvSpPr>
          <p:cNvPr id="28" name="Text 23"/>
          <p:cNvSpPr txBox="1"/>
          <p:nvPr/>
        </p:nvSpPr>
        <p:spPr>
          <a:xfrm>
            <a:off x="950976" y="5797296"/>
            <a:ext cx="10289743" cy="329184"/>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sistema respondió que los datos fueron suprimidos, y el RUT sigue ahí.</a:t>
            </a:r>
            <a:endParaRPr lang="en-US" sz="13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DECISIÓN QUE NO SE DELEGA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Borrar no siempre es la respuesta</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artículo 7º dice que la supresión no procede cuando el tratamiento es necesario para cumplir una obligación legal.</a:t>
            </a:r>
            <a:endParaRPr lang="en-US" sz="1420" dirty="0"/>
          </a:p>
        </p:txBody>
      </p:sp>
      <p:sp>
        <p:nvSpPr>
          <p:cNvPr id="11" name="Shape 8"/>
          <p:cNvSpPr/>
          <p:nvPr/>
        </p:nvSpPr>
        <p:spPr>
          <a:xfrm>
            <a:off x="658368" y="2249424"/>
            <a:ext cx="5346040" cy="1371600"/>
          </a:xfrm>
          <a:prstGeom prst="rect">
            <a:avLst/>
          </a:prstGeom>
          <a:solidFill>
            <a:srgbClr val="F2E7D9"/>
          </a:solidFill>
          <a:ln w="12700">
            <a:solidFill>
              <a:srgbClr val="F2E7D9"/>
            </a:solidFill>
            <a:prstDash val="solid"/>
          </a:ln>
        </p:spPr>
      </p:sp>
      <p:sp>
        <p:nvSpPr>
          <p:cNvPr id="12" name="Shape 9"/>
          <p:cNvSpPr/>
          <p:nvPr/>
        </p:nvSpPr>
        <p:spPr>
          <a:xfrm>
            <a:off x="658368" y="2249424"/>
            <a:ext cx="5346040" cy="54864"/>
          </a:xfrm>
          <a:prstGeom prst="rect">
            <a:avLst/>
          </a:prstGeom>
          <a:solidFill>
            <a:srgbClr val="B3181E"/>
          </a:solidFill>
          <a:ln w="12700">
            <a:solidFill>
              <a:srgbClr val="B3181E"/>
            </a:solidFill>
            <a:prstDash val="solid"/>
          </a:ln>
        </p:spPr>
      </p:sp>
      <p:sp>
        <p:nvSpPr>
          <p:cNvPr id="13" name="Text 10"/>
          <p:cNvSpPr txBox="1"/>
          <p:nvPr/>
        </p:nvSpPr>
        <p:spPr>
          <a:xfrm>
            <a:off x="914400" y="2414016"/>
            <a:ext cx="2743200" cy="310896"/>
          </a:xfrm>
          <a:prstGeom prst="rect">
            <a:avLst/>
          </a:prstGeom>
          <a:noFill/>
          <a:ln/>
        </p:spPr>
        <p:txBody>
          <a:bodyPr wrap="square" lIns="0" tIns="0" rIns="0" bIns="0" rtlCol="0" anchor="t"/>
          <a:lstStyle/>
          <a:p>
            <a:pPr algn="l" indent="0" marL="0">
              <a:buNone/>
            </a:pPr>
            <a:r>
              <a:rPr lang="en-US" sz="1800" b="1" dirty="0">
                <a:solidFill>
                  <a:srgbClr val="B3181E"/>
                </a:solidFill>
                <a:latin typeface="Aptos" pitchFamily="34" charset="0"/>
                <a:ea typeface="Aptos" pitchFamily="34" charset="-122"/>
                <a:cs typeface="Aptos" pitchFamily="34" charset="-120"/>
              </a:rPr>
              <a:t>Suprimir</a:t>
            </a:r>
            <a:endParaRPr lang="en-US" sz="1800" dirty="0"/>
          </a:p>
        </p:txBody>
      </p:sp>
      <p:sp>
        <p:nvSpPr>
          <p:cNvPr id="14" name="Shape 11"/>
          <p:cNvSpPr/>
          <p:nvPr/>
        </p:nvSpPr>
        <p:spPr>
          <a:xfrm>
            <a:off x="4267048" y="2432304"/>
            <a:ext cx="1481328" cy="292608"/>
          </a:xfrm>
          <a:prstGeom prst="rect">
            <a:avLst/>
          </a:prstGeom>
          <a:solidFill>
            <a:srgbClr val="B3181E"/>
          </a:solidFill>
          <a:ln w="12700">
            <a:solidFill>
              <a:srgbClr val="B3181E"/>
            </a:solidFill>
            <a:prstDash val="solid"/>
          </a:ln>
        </p:spPr>
      </p:sp>
      <p:sp>
        <p:nvSpPr>
          <p:cNvPr id="15" name="Text 12"/>
          <p:cNvSpPr txBox="1"/>
          <p:nvPr/>
        </p:nvSpPr>
        <p:spPr>
          <a:xfrm>
            <a:off x="4321912" y="2478024"/>
            <a:ext cx="1371600" cy="201168"/>
          </a:xfrm>
          <a:prstGeom prst="rect">
            <a:avLst/>
          </a:prstGeom>
          <a:noFill/>
          <a:ln/>
        </p:spPr>
        <p:txBody>
          <a:bodyPr wrap="square" lIns="0" tIns="0" rIns="0" bIns="0" rtlCol="0" anchor="ctr"/>
          <a:lstStyle/>
          <a:p>
            <a:pPr algn="ctr" indent="0" marL="0">
              <a:buNone/>
            </a:pPr>
            <a:r>
              <a:rPr lang="en-US" sz="920" b="1" spc="80" kern="0" dirty="0">
                <a:solidFill>
                  <a:srgbClr val="FFFFFF"/>
                </a:solidFill>
                <a:latin typeface="Aptos" pitchFamily="34" charset="0"/>
                <a:ea typeface="Aptos" pitchFamily="34" charset="-122"/>
                <a:cs typeface="Aptos" pitchFamily="34" charset="-120"/>
              </a:rPr>
              <a:t>LA RESERVA</a:t>
            </a:r>
            <a:endParaRPr lang="en-US" sz="920" dirty="0"/>
          </a:p>
        </p:txBody>
      </p:sp>
      <p:sp>
        <p:nvSpPr>
          <p:cNvPr id="16" name="Text 13"/>
          <p:cNvSpPr txBox="1"/>
          <p:nvPr/>
        </p:nvSpPr>
        <p:spPr>
          <a:xfrm>
            <a:off x="914400" y="2798064"/>
            <a:ext cx="4833976" cy="256032"/>
          </a:xfrm>
          <a:prstGeom prst="rect">
            <a:avLst/>
          </a:prstGeom>
          <a:noFill/>
          <a:ln/>
        </p:spPr>
        <p:txBody>
          <a:bodyPr wrap="square" lIns="0" tIns="0" rIns="0" bIns="0" rtlCol="0" anchor="t"/>
          <a:lstStyle/>
          <a:p>
            <a:pPr algn="l" indent="0" marL="0">
              <a:buNone/>
            </a:pPr>
            <a:r>
              <a:rPr lang="en-US" sz="1200" dirty="0">
                <a:solidFill>
                  <a:srgbClr val="243B53"/>
                </a:solidFill>
                <a:latin typeface="Aptos" pitchFamily="34" charset="0"/>
                <a:ea typeface="Aptos" pitchFamily="34" charset="-122"/>
                <a:cs typeface="Aptos" pitchFamily="34" charset="-120"/>
              </a:rPr>
              <a:t>La fila desaparece, y el dato con ella.</a:t>
            </a:r>
            <a:endParaRPr lang="en-US" sz="1200" dirty="0"/>
          </a:p>
        </p:txBody>
      </p:sp>
      <p:sp>
        <p:nvSpPr>
          <p:cNvPr id="17" name="Text 14"/>
          <p:cNvSpPr txBox="1"/>
          <p:nvPr/>
        </p:nvSpPr>
        <p:spPr>
          <a:xfrm>
            <a:off x="914400" y="3127248"/>
            <a:ext cx="4833976" cy="292608"/>
          </a:xfrm>
          <a:prstGeom prst="rect">
            <a:avLst/>
          </a:prstGeom>
          <a:noFill/>
          <a:ln/>
        </p:spPr>
        <p:txBody>
          <a:bodyPr wrap="square" lIns="0" tIns="0" rIns="0" bIns="0" rtlCol="0" anchor="t"/>
          <a:lstStyle/>
          <a:p>
            <a:pPr algn="l" indent="0" marL="0">
              <a:buNone/>
            </a:pPr>
            <a:r>
              <a:rPr lang="en-US" sz="1060" i="1" dirty="0">
                <a:solidFill>
                  <a:srgbClr val="52606D"/>
                </a:solidFill>
                <a:latin typeface="Aptos" pitchFamily="34" charset="0"/>
                <a:ea typeface="Aptos" pitchFamily="34" charset="-122"/>
                <a:cs typeface="Aptos" pitchFamily="34" charset="-120"/>
              </a:rPr>
              <a:t>Cuando el registro ya no tiene finalidad.</a:t>
            </a:r>
            <a:endParaRPr lang="en-US" sz="1060" dirty="0"/>
          </a:p>
        </p:txBody>
      </p:sp>
      <p:sp>
        <p:nvSpPr>
          <p:cNvPr id="18" name="Shape 15"/>
          <p:cNvSpPr/>
          <p:nvPr/>
        </p:nvSpPr>
        <p:spPr>
          <a:xfrm>
            <a:off x="6187288" y="2249424"/>
            <a:ext cx="5346040" cy="1371600"/>
          </a:xfrm>
          <a:prstGeom prst="rect">
            <a:avLst/>
          </a:prstGeom>
          <a:solidFill>
            <a:srgbClr val="FFFFFF"/>
          </a:solidFill>
          <a:ln w="12700">
            <a:solidFill>
              <a:srgbClr val="FFFFFF"/>
            </a:solidFill>
            <a:prstDash val="solid"/>
          </a:ln>
        </p:spPr>
      </p:sp>
      <p:sp>
        <p:nvSpPr>
          <p:cNvPr id="19" name="Shape 16"/>
          <p:cNvSpPr/>
          <p:nvPr/>
        </p:nvSpPr>
        <p:spPr>
          <a:xfrm>
            <a:off x="6187288" y="2249424"/>
            <a:ext cx="5346040" cy="54864"/>
          </a:xfrm>
          <a:prstGeom prst="rect">
            <a:avLst/>
          </a:prstGeom>
          <a:solidFill>
            <a:srgbClr val="2E7D4F"/>
          </a:solidFill>
          <a:ln w="12700">
            <a:solidFill>
              <a:srgbClr val="2E7D4F"/>
            </a:solidFill>
            <a:prstDash val="solid"/>
          </a:ln>
        </p:spPr>
      </p:sp>
      <p:sp>
        <p:nvSpPr>
          <p:cNvPr id="20" name="Text 17"/>
          <p:cNvSpPr txBox="1"/>
          <p:nvPr/>
        </p:nvSpPr>
        <p:spPr>
          <a:xfrm>
            <a:off x="6443320" y="2414016"/>
            <a:ext cx="2743200" cy="310896"/>
          </a:xfrm>
          <a:prstGeom prst="rect">
            <a:avLst/>
          </a:prstGeom>
          <a:noFill/>
          <a:ln/>
        </p:spPr>
        <p:txBody>
          <a:bodyPr wrap="square" lIns="0" tIns="0" rIns="0" bIns="0" rtlCol="0" anchor="t"/>
          <a:lstStyle/>
          <a:p>
            <a:pPr algn="l" indent="0" marL="0">
              <a:buNone/>
            </a:pPr>
            <a:r>
              <a:rPr lang="en-US" sz="1800" b="1" dirty="0">
                <a:solidFill>
                  <a:srgbClr val="2E7D4F"/>
                </a:solidFill>
                <a:latin typeface="Aptos" pitchFamily="34" charset="0"/>
                <a:ea typeface="Aptos" pitchFamily="34" charset="-122"/>
                <a:cs typeface="Aptos" pitchFamily="34" charset="-120"/>
              </a:rPr>
              <a:t>Anonimizar</a:t>
            </a:r>
            <a:endParaRPr lang="en-US" sz="1800" dirty="0"/>
          </a:p>
        </p:txBody>
      </p:sp>
      <p:sp>
        <p:nvSpPr>
          <p:cNvPr id="21" name="Shape 18"/>
          <p:cNvSpPr/>
          <p:nvPr/>
        </p:nvSpPr>
        <p:spPr>
          <a:xfrm>
            <a:off x="9795967" y="2432304"/>
            <a:ext cx="1481328" cy="292608"/>
          </a:xfrm>
          <a:prstGeom prst="rect">
            <a:avLst/>
          </a:prstGeom>
          <a:solidFill>
            <a:srgbClr val="2E7D4F"/>
          </a:solidFill>
          <a:ln w="12700">
            <a:solidFill>
              <a:srgbClr val="2E7D4F"/>
            </a:solidFill>
            <a:prstDash val="solid"/>
          </a:ln>
        </p:spPr>
      </p:sp>
      <p:sp>
        <p:nvSpPr>
          <p:cNvPr id="22" name="Text 19"/>
          <p:cNvSpPr txBox="1"/>
          <p:nvPr/>
        </p:nvSpPr>
        <p:spPr>
          <a:xfrm>
            <a:off x="9850831" y="2478024"/>
            <a:ext cx="1371600" cy="201168"/>
          </a:xfrm>
          <a:prstGeom prst="rect">
            <a:avLst/>
          </a:prstGeom>
          <a:noFill/>
          <a:ln/>
        </p:spPr>
        <p:txBody>
          <a:bodyPr wrap="square" lIns="0" tIns="0" rIns="0" bIns="0" rtlCol="0" anchor="ctr"/>
          <a:lstStyle/>
          <a:p>
            <a:pPr algn="ctr" indent="0" marL="0">
              <a:buNone/>
            </a:pPr>
            <a:r>
              <a:rPr lang="en-US" sz="920" b="1" spc="80" kern="0" dirty="0">
                <a:solidFill>
                  <a:srgbClr val="FFFFFF"/>
                </a:solidFill>
                <a:latin typeface="Aptos" pitchFamily="34" charset="0"/>
                <a:ea typeface="Aptos" pitchFamily="34" charset="-122"/>
                <a:cs typeface="Aptos" pitchFamily="34" charset="-120"/>
              </a:rPr>
              <a:t>EL EVENTO</a:t>
            </a:r>
            <a:endParaRPr lang="en-US" sz="920" dirty="0"/>
          </a:p>
        </p:txBody>
      </p:sp>
      <p:sp>
        <p:nvSpPr>
          <p:cNvPr id="23" name="Text 20"/>
          <p:cNvSpPr txBox="1"/>
          <p:nvPr/>
        </p:nvSpPr>
        <p:spPr>
          <a:xfrm>
            <a:off x="6443320" y="2798064"/>
            <a:ext cx="4833976" cy="256032"/>
          </a:xfrm>
          <a:prstGeom prst="rect">
            <a:avLst/>
          </a:prstGeom>
          <a:noFill/>
          <a:ln/>
        </p:spPr>
        <p:txBody>
          <a:bodyPr wrap="square" lIns="0" tIns="0" rIns="0" bIns="0" rtlCol="0" anchor="t"/>
          <a:lstStyle/>
          <a:p>
            <a:pPr algn="l" indent="0" marL="0">
              <a:buNone/>
            </a:pPr>
            <a:r>
              <a:rPr lang="en-US" sz="1200" dirty="0">
                <a:solidFill>
                  <a:srgbClr val="243B53"/>
                </a:solidFill>
                <a:latin typeface="Aptos" pitchFamily="34" charset="0"/>
                <a:ea typeface="Aptos" pitchFamily="34" charset="-122"/>
                <a:cs typeface="Aptos" pitchFamily="34" charset="-120"/>
              </a:rPr>
              <a:t>La fila se conserva, sin la persona.</a:t>
            </a:r>
            <a:endParaRPr lang="en-US" sz="1200" dirty="0"/>
          </a:p>
        </p:txBody>
      </p:sp>
      <p:sp>
        <p:nvSpPr>
          <p:cNvPr id="24" name="Text 21"/>
          <p:cNvSpPr txBox="1"/>
          <p:nvPr/>
        </p:nvSpPr>
        <p:spPr>
          <a:xfrm>
            <a:off x="6443320" y="3127248"/>
            <a:ext cx="4833976" cy="292608"/>
          </a:xfrm>
          <a:prstGeom prst="rect">
            <a:avLst/>
          </a:prstGeom>
          <a:noFill/>
          <a:ln/>
        </p:spPr>
        <p:txBody>
          <a:bodyPr wrap="square" lIns="0" tIns="0" rIns="0" bIns="0" rtlCol="0" anchor="t"/>
          <a:lstStyle/>
          <a:p>
            <a:pPr algn="l" indent="0" marL="0">
              <a:buNone/>
            </a:pPr>
            <a:r>
              <a:rPr lang="en-US" sz="1060" i="1" dirty="0">
                <a:solidFill>
                  <a:srgbClr val="52606D"/>
                </a:solidFill>
                <a:latin typeface="Aptos" pitchFamily="34" charset="0"/>
                <a:ea typeface="Aptos" pitchFamily="34" charset="-122"/>
                <a:cs typeface="Aptos" pitchFamily="34" charset="-120"/>
              </a:rPr>
              <a:t>Cuando la finalidad sobrevive al dato personal.</a:t>
            </a:r>
            <a:endParaRPr lang="en-US" sz="1060" dirty="0"/>
          </a:p>
        </p:txBody>
      </p:sp>
      <p:sp>
        <p:nvSpPr>
          <p:cNvPr id="25" name="Text 22"/>
          <p:cNvSpPr txBox="1"/>
          <p:nvPr/>
        </p:nvSpPr>
        <p:spPr>
          <a:xfrm>
            <a:off x="658368" y="3785616"/>
            <a:ext cx="73152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LA TABLA DE EVENTOS, ANTES Y DESPUÉS DE LA SUPRESIÓN CORREGIDA</a:t>
            </a:r>
            <a:endParaRPr lang="en-US" sz="960" dirty="0"/>
          </a:p>
        </p:txBody>
      </p:sp>
      <p:sp>
        <p:nvSpPr>
          <p:cNvPr id="26" name="Shape 23"/>
          <p:cNvSpPr/>
          <p:nvPr/>
        </p:nvSpPr>
        <p:spPr>
          <a:xfrm>
            <a:off x="658368" y="4041648"/>
            <a:ext cx="6675120" cy="1097280"/>
          </a:xfrm>
          <a:prstGeom prst="roundRect">
            <a:avLst>
              <a:gd name="adj" fmla="val 3333"/>
            </a:avLst>
          </a:prstGeom>
          <a:solidFill>
            <a:srgbClr val="0F1720"/>
          </a:solidFill>
          <a:ln w="12700">
            <a:solidFill>
              <a:srgbClr val="0F1720"/>
            </a:solidFill>
            <a:prstDash val="solid"/>
          </a:ln>
        </p:spPr>
      </p:sp>
      <p:sp>
        <p:nvSpPr>
          <p:cNvPr id="27" name="Shape 24"/>
          <p:cNvSpPr/>
          <p:nvPr/>
        </p:nvSpPr>
        <p:spPr>
          <a:xfrm>
            <a:off x="786384" y="4151376"/>
            <a:ext cx="6419088" cy="310896"/>
          </a:xfrm>
          <a:prstGeom prst="roundRect">
            <a:avLst>
              <a:gd name="adj" fmla="val 8824"/>
            </a:avLst>
          </a:prstGeom>
          <a:solidFill>
            <a:srgbClr val="1E2937"/>
          </a:solidFill>
          <a:ln w="12700">
            <a:solidFill>
              <a:srgbClr val="1E2937"/>
            </a:solidFill>
            <a:prstDash val="solid"/>
          </a:ln>
        </p:spPr>
      </p:sp>
      <p:sp>
        <p:nvSpPr>
          <p:cNvPr id="28" name="Text 25"/>
          <p:cNvSpPr/>
          <p:nvPr/>
        </p:nvSpPr>
        <p:spPr>
          <a:xfrm>
            <a:off x="914400" y="4224528"/>
            <a:ext cx="61630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SELECT accion, rut FROM eventos</a:t>
            </a:r>
            <a:endParaRPr lang="en-US" sz="1000" dirty="0"/>
          </a:p>
        </p:txBody>
      </p:sp>
      <p:sp>
        <p:nvSpPr>
          <p:cNvPr id="29" name="Text 26"/>
          <p:cNvSpPr/>
          <p:nvPr/>
        </p:nvSpPr>
        <p:spPr>
          <a:xfrm>
            <a:off x="877824" y="4608576"/>
            <a:ext cx="5925312"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antes  : [('reserva creada', '11.111.111-1')]</a:t>
            </a:r>
            <a:endParaRPr lang="en-US" sz="1020" dirty="0"/>
          </a:p>
        </p:txBody>
      </p:sp>
      <p:sp>
        <p:nvSpPr>
          <p:cNvPr id="30" name="Text 27"/>
          <p:cNvSpPr/>
          <p:nvPr/>
        </p:nvSpPr>
        <p:spPr>
          <a:xfrm>
            <a:off x="877824" y="4864608"/>
            <a:ext cx="5925312"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despues: [('reserva creada', None)]</a:t>
            </a:r>
            <a:endParaRPr lang="en-US" sz="1020" dirty="0"/>
          </a:p>
        </p:txBody>
      </p:sp>
      <p:sp>
        <p:nvSpPr>
          <p:cNvPr id="31" name="Shape 28"/>
          <p:cNvSpPr/>
          <p:nvPr/>
        </p:nvSpPr>
        <p:spPr>
          <a:xfrm>
            <a:off x="7552944" y="4041648"/>
            <a:ext cx="3986784" cy="1097280"/>
          </a:xfrm>
          <a:prstGeom prst="rect">
            <a:avLst/>
          </a:prstGeom>
          <a:solidFill>
            <a:srgbClr val="1D3A57"/>
          </a:solidFill>
          <a:ln w="12700">
            <a:solidFill>
              <a:srgbClr val="1D3A57"/>
            </a:solidFill>
            <a:prstDash val="solid"/>
          </a:ln>
        </p:spPr>
      </p:sp>
      <p:sp>
        <p:nvSpPr>
          <p:cNvPr id="32" name="Text 29"/>
          <p:cNvSpPr txBox="1"/>
          <p:nvPr/>
        </p:nvSpPr>
        <p:spPr>
          <a:xfrm>
            <a:off x="7790688" y="4151376"/>
            <a:ext cx="3511296" cy="219456"/>
          </a:xfrm>
          <a:prstGeom prst="rect">
            <a:avLst/>
          </a:prstGeom>
          <a:noFill/>
          <a:ln/>
        </p:spPr>
        <p:txBody>
          <a:bodyPr wrap="square" lIns="0" tIns="0" rIns="0" bIns="0" rtlCol="0" anchor="t"/>
          <a:lstStyle/>
          <a:p>
            <a:pPr algn="l" indent="0" marL="0">
              <a:buNone/>
            </a:pPr>
            <a:r>
              <a:rPr lang="en-US" sz="1040" b="1" spc="90" kern="0" dirty="0">
                <a:solidFill>
                  <a:srgbClr val="E0BC5A"/>
                </a:solidFill>
                <a:latin typeface="Aptos" pitchFamily="34" charset="0"/>
                <a:ea typeface="Aptos" pitchFamily="34" charset="-122"/>
                <a:cs typeface="Aptos" pitchFamily="34" charset="-120"/>
              </a:rPr>
              <a:t>El trabajo humano</a:t>
            </a:r>
            <a:endParaRPr lang="en-US" sz="1040" dirty="0"/>
          </a:p>
        </p:txBody>
      </p:sp>
      <p:sp>
        <p:nvSpPr>
          <p:cNvPr id="33" name="Text 30"/>
          <p:cNvSpPr txBox="1"/>
          <p:nvPr/>
        </p:nvSpPr>
        <p:spPr>
          <a:xfrm>
            <a:off x="7790688" y="4407408"/>
            <a:ext cx="3511296" cy="640080"/>
          </a:xfrm>
          <a:prstGeom prst="rect">
            <a:avLst/>
          </a:prstGeom>
          <a:noFill/>
          <a:ln/>
        </p:spPr>
        <p:txBody>
          <a:bodyPr wrap="square" lIns="0" tIns="0" rIns="0" bIns="0" rtlCol="0" anchor="t"/>
          <a:lstStyle/>
          <a:p>
            <a:pPr algn="l" indent="0" marL="0">
              <a:lnSpc>
                <a:spcPct val="114000"/>
              </a:lnSpc>
              <a:buNone/>
            </a:pPr>
            <a:r>
              <a:rPr lang="en-US" sz="1020" dirty="0">
                <a:solidFill>
                  <a:srgbClr val="FFFFFF"/>
                </a:solidFill>
                <a:latin typeface="Aptos" pitchFamily="34" charset="0"/>
                <a:ea typeface="Aptos" pitchFamily="34" charset="-122"/>
                <a:cs typeface="Aptos" pitchFamily="34" charset="-120"/>
              </a:rPr>
              <a:t>No fue escribir la instrucción. Fue decidir que la fila del evento debía sobrevivir sin su RUT, pesando dos obligaciones que apuntan en direcciones contrarias.</a:t>
            </a:r>
            <a:endParaRPr lang="en-US" sz="1020" dirty="0"/>
          </a:p>
        </p:txBody>
      </p:sp>
      <p:sp>
        <p:nvSpPr>
          <p:cNvPr id="34" name="Text 31"/>
          <p:cNvSpPr txBox="1"/>
          <p:nvPr/>
        </p:nvSpPr>
        <p:spPr>
          <a:xfrm>
            <a:off x="658368" y="5248656"/>
            <a:ext cx="10874959"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None es como Python ve el vacío que la base guarda como NULL. Borrar la fila entera también deja el rastro en cero, y destruye la evidencia de que se cumplió.</a:t>
            </a:r>
            <a:endParaRPr lang="en-US" sz="1160" dirty="0"/>
          </a:p>
        </p:txBody>
      </p:sp>
      <p:sp>
        <p:nvSpPr>
          <p:cNvPr id="35" name="Shape 32"/>
          <p:cNvSpPr/>
          <p:nvPr/>
        </p:nvSpPr>
        <p:spPr>
          <a:xfrm>
            <a:off x="658368" y="5650992"/>
            <a:ext cx="10874959" cy="548640"/>
          </a:xfrm>
          <a:prstGeom prst="rect">
            <a:avLst/>
          </a:prstGeom>
          <a:solidFill>
            <a:srgbClr val="102A43"/>
          </a:solidFill>
          <a:ln w="12700">
            <a:solidFill>
              <a:srgbClr val="102A43"/>
            </a:solidFill>
            <a:prstDash val="solid"/>
          </a:ln>
        </p:spPr>
      </p:sp>
      <p:sp>
        <p:nvSpPr>
          <p:cNvPr id="36" name="Text 3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prueba comprueba que el rastro quedó en cero. No cuál de los dos caminos correspondía.</a:t>
            </a:r>
            <a:endParaRPr lang="en-US" sz="13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MATRIZ COMPLETA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Escribir los derechos hizo aparecer tres huecos</a:t>
            </a:r>
            <a:endParaRPr lang="en-US" sz="27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sistema no cambió ni una línea. Lo que cambió es que ahora hay contra qué comparar.</a:t>
            </a:r>
            <a:endParaRPr lang="en-US" sz="1420" dirty="0"/>
          </a:p>
        </p:txBody>
      </p:sp>
      <p:sp>
        <p:nvSpPr>
          <p:cNvPr id="11" name="Shape 8"/>
          <p:cNvSpPr/>
          <p:nvPr/>
        </p:nvSpPr>
        <p:spPr>
          <a:xfrm>
            <a:off x="658368" y="2286000"/>
            <a:ext cx="2109155" cy="1225296"/>
          </a:xfrm>
          <a:prstGeom prst="rect">
            <a:avLst/>
          </a:prstGeom>
          <a:solidFill>
            <a:srgbClr val="FFFFFF"/>
          </a:solidFill>
          <a:ln w="12700">
            <a:solidFill>
              <a:srgbClr val="FFFFFF"/>
            </a:solidFill>
            <a:prstDash val="solid"/>
          </a:ln>
        </p:spPr>
      </p:sp>
      <p:sp>
        <p:nvSpPr>
          <p:cNvPr id="12" name="Shape 9"/>
          <p:cNvSpPr/>
          <p:nvPr/>
        </p:nvSpPr>
        <p:spPr>
          <a:xfrm>
            <a:off x="658368" y="2286000"/>
            <a:ext cx="2109155" cy="54864"/>
          </a:xfrm>
          <a:prstGeom prst="rect">
            <a:avLst/>
          </a:prstGeom>
          <a:solidFill>
            <a:srgbClr val="102A43"/>
          </a:solidFill>
          <a:ln w="12700">
            <a:solidFill>
              <a:srgbClr val="102A43"/>
            </a:solidFill>
            <a:prstDash val="solid"/>
          </a:ln>
        </p:spPr>
      </p:sp>
      <p:sp>
        <p:nvSpPr>
          <p:cNvPr id="13" name="Text 10"/>
          <p:cNvSpPr txBox="1"/>
          <p:nvPr/>
        </p:nvSpPr>
        <p:spPr>
          <a:xfrm>
            <a:off x="822960" y="2450592"/>
            <a:ext cx="1779971" cy="201168"/>
          </a:xfrm>
          <a:prstGeom prst="rect">
            <a:avLst/>
          </a:prstGeom>
          <a:noFill/>
          <a:ln/>
        </p:spPr>
        <p:txBody>
          <a:bodyPr wrap="square" lIns="0" tIns="0" rIns="0" bIns="0" rtlCol="0" anchor="t"/>
          <a:lstStyle/>
          <a:p>
            <a:pPr algn="l" indent="0" marL="0">
              <a:buNone/>
            </a:pPr>
            <a:r>
              <a:rPr lang="en-US" sz="1040" b="1" dirty="0">
                <a:solidFill>
                  <a:srgbClr val="102A43"/>
                </a:solidFill>
                <a:latin typeface="Consolas" pitchFamily="34" charset="0"/>
                <a:ea typeface="Consolas" pitchFamily="34" charset="-122"/>
                <a:cs typeface="Consolas" pitchFamily="34" charset="-120"/>
              </a:rPr>
              <a:t>RF-01</a:t>
            </a:r>
            <a:endParaRPr lang="en-US" sz="1040" dirty="0"/>
          </a:p>
        </p:txBody>
      </p:sp>
      <p:sp>
        <p:nvSpPr>
          <p:cNvPr id="14" name="Text 11"/>
          <p:cNvSpPr txBox="1"/>
          <p:nvPr/>
        </p:nvSpPr>
        <p:spPr>
          <a:xfrm>
            <a:off x="822960" y="26883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Bloques del 1 al 8</a:t>
            </a:r>
            <a:endParaRPr lang="en-US" sz="1040" dirty="0"/>
          </a:p>
        </p:txBody>
      </p:sp>
      <p:sp>
        <p:nvSpPr>
          <p:cNvPr id="15" name="Text 12"/>
          <p:cNvSpPr txBox="1"/>
          <p:nvPr/>
        </p:nvSpPr>
        <p:spPr>
          <a:xfrm>
            <a:off x="822960" y="3090672"/>
            <a:ext cx="548640" cy="329184"/>
          </a:xfrm>
          <a:prstGeom prst="rect">
            <a:avLst/>
          </a:prstGeom>
          <a:noFill/>
          <a:ln/>
        </p:spPr>
        <p:txBody>
          <a:bodyPr wrap="square" lIns="0" tIns="0" rIns="0" bIns="0" rtlCol="0" anchor="t"/>
          <a:lstStyle/>
          <a:p>
            <a:pPr algn="l" indent="0" marL="0">
              <a:buNone/>
            </a:pPr>
            <a:r>
              <a:rPr lang="en-US" sz="2200" b="1" dirty="0">
                <a:solidFill>
                  <a:srgbClr val="243B53"/>
                </a:solidFill>
                <a:latin typeface="Aptos Display" pitchFamily="34" charset="0"/>
                <a:ea typeface="Aptos Display" pitchFamily="34" charset="-122"/>
                <a:cs typeface="Aptos Display" pitchFamily="34" charset="-120"/>
              </a:rPr>
              <a:t>10</a:t>
            </a:r>
            <a:endParaRPr lang="en-US" sz="2200" dirty="0"/>
          </a:p>
        </p:txBody>
      </p:sp>
      <p:sp>
        <p:nvSpPr>
          <p:cNvPr id="16" name="Text 13"/>
          <p:cNvSpPr txBox="1"/>
          <p:nvPr/>
        </p:nvSpPr>
        <p:spPr>
          <a:xfrm>
            <a:off x="1408176" y="3200400"/>
            <a:ext cx="1194755" cy="201168"/>
          </a:xfrm>
          <a:prstGeom prst="rect">
            <a:avLst/>
          </a:prstGeom>
          <a:noFill/>
          <a:ln/>
        </p:spPr>
        <p:txBody>
          <a:bodyPr wrap="square" lIns="0" tIns="0" rIns="0" bIns="0" rtlCol="0" anchor="t"/>
          <a:lstStyle/>
          <a:p>
            <a:pPr algn="l" indent="0" marL="0">
              <a:buNone/>
            </a:pPr>
            <a:r>
              <a:rPr lang="en-US" sz="900" dirty="0">
                <a:solidFill>
                  <a:srgbClr val="52606D"/>
                </a:solidFill>
                <a:latin typeface="Aptos" pitchFamily="34" charset="0"/>
                <a:ea typeface="Aptos" pitchFamily="34" charset="-122"/>
                <a:cs typeface="Aptos" pitchFamily="34" charset="-120"/>
              </a:rPr>
              <a:t>pruebas</a:t>
            </a:r>
            <a:endParaRPr lang="en-US" sz="900" dirty="0"/>
          </a:p>
        </p:txBody>
      </p:sp>
      <p:sp>
        <p:nvSpPr>
          <p:cNvPr id="17" name="Shape 14"/>
          <p:cNvSpPr/>
          <p:nvPr/>
        </p:nvSpPr>
        <p:spPr>
          <a:xfrm>
            <a:off x="2849819" y="2286000"/>
            <a:ext cx="2109155" cy="1225296"/>
          </a:xfrm>
          <a:prstGeom prst="rect">
            <a:avLst/>
          </a:prstGeom>
          <a:solidFill>
            <a:srgbClr val="FFFFFF"/>
          </a:solidFill>
          <a:ln w="12700">
            <a:solidFill>
              <a:srgbClr val="FFFFFF"/>
            </a:solidFill>
            <a:prstDash val="solid"/>
          </a:ln>
        </p:spPr>
      </p:sp>
      <p:sp>
        <p:nvSpPr>
          <p:cNvPr id="18" name="Shape 15"/>
          <p:cNvSpPr/>
          <p:nvPr/>
        </p:nvSpPr>
        <p:spPr>
          <a:xfrm>
            <a:off x="2849819" y="2286000"/>
            <a:ext cx="2109155" cy="54864"/>
          </a:xfrm>
          <a:prstGeom prst="rect">
            <a:avLst/>
          </a:prstGeom>
          <a:solidFill>
            <a:srgbClr val="102A43"/>
          </a:solidFill>
          <a:ln w="12700">
            <a:solidFill>
              <a:srgbClr val="102A43"/>
            </a:solidFill>
            <a:prstDash val="solid"/>
          </a:ln>
        </p:spPr>
      </p:sp>
      <p:sp>
        <p:nvSpPr>
          <p:cNvPr id="19" name="Text 16"/>
          <p:cNvSpPr txBox="1"/>
          <p:nvPr/>
        </p:nvSpPr>
        <p:spPr>
          <a:xfrm>
            <a:off x="3014411" y="2450592"/>
            <a:ext cx="1779971" cy="201168"/>
          </a:xfrm>
          <a:prstGeom prst="rect">
            <a:avLst/>
          </a:prstGeom>
          <a:noFill/>
          <a:ln/>
        </p:spPr>
        <p:txBody>
          <a:bodyPr wrap="square" lIns="0" tIns="0" rIns="0" bIns="0" rtlCol="0" anchor="t"/>
          <a:lstStyle/>
          <a:p>
            <a:pPr algn="l" indent="0" marL="0">
              <a:buNone/>
            </a:pPr>
            <a:r>
              <a:rPr lang="en-US" sz="1040" b="1" dirty="0">
                <a:solidFill>
                  <a:srgbClr val="102A43"/>
                </a:solidFill>
                <a:latin typeface="Consolas" pitchFamily="34" charset="0"/>
                <a:ea typeface="Consolas" pitchFamily="34" charset="-122"/>
                <a:cs typeface="Consolas" pitchFamily="34" charset="-120"/>
              </a:rPr>
              <a:t>RF-02</a:t>
            </a:r>
            <a:endParaRPr lang="en-US" sz="1040" dirty="0"/>
          </a:p>
        </p:txBody>
      </p:sp>
      <p:sp>
        <p:nvSpPr>
          <p:cNvPr id="20" name="Text 17"/>
          <p:cNvSpPr txBox="1"/>
          <p:nvPr/>
        </p:nvSpPr>
        <p:spPr>
          <a:xfrm>
            <a:off x="3014411" y="26883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Bloque ya reservado</a:t>
            </a:r>
            <a:endParaRPr lang="en-US" sz="1040" dirty="0"/>
          </a:p>
        </p:txBody>
      </p:sp>
      <p:sp>
        <p:nvSpPr>
          <p:cNvPr id="21" name="Text 18"/>
          <p:cNvSpPr txBox="1"/>
          <p:nvPr/>
        </p:nvSpPr>
        <p:spPr>
          <a:xfrm>
            <a:off x="3014411" y="3090672"/>
            <a:ext cx="548640" cy="329184"/>
          </a:xfrm>
          <a:prstGeom prst="rect">
            <a:avLst/>
          </a:prstGeom>
          <a:noFill/>
          <a:ln/>
        </p:spPr>
        <p:txBody>
          <a:bodyPr wrap="square" lIns="0" tIns="0" rIns="0" bIns="0" rtlCol="0" anchor="t"/>
          <a:lstStyle/>
          <a:p>
            <a:pPr algn="l" indent="0" marL="0">
              <a:buNone/>
            </a:pPr>
            <a:r>
              <a:rPr lang="en-US" sz="2200" b="1" dirty="0">
                <a:solidFill>
                  <a:srgbClr val="243B53"/>
                </a:solidFill>
                <a:latin typeface="Aptos Display" pitchFamily="34" charset="0"/>
                <a:ea typeface="Aptos Display" pitchFamily="34" charset="-122"/>
                <a:cs typeface="Aptos Display" pitchFamily="34" charset="-120"/>
              </a:rPr>
              <a:t>2</a:t>
            </a:r>
            <a:endParaRPr lang="en-US" sz="2200" dirty="0"/>
          </a:p>
        </p:txBody>
      </p:sp>
      <p:sp>
        <p:nvSpPr>
          <p:cNvPr id="22" name="Text 19"/>
          <p:cNvSpPr txBox="1"/>
          <p:nvPr/>
        </p:nvSpPr>
        <p:spPr>
          <a:xfrm>
            <a:off x="3599627" y="3200400"/>
            <a:ext cx="1194755" cy="201168"/>
          </a:xfrm>
          <a:prstGeom prst="rect">
            <a:avLst/>
          </a:prstGeom>
          <a:noFill/>
          <a:ln/>
        </p:spPr>
        <p:txBody>
          <a:bodyPr wrap="square" lIns="0" tIns="0" rIns="0" bIns="0" rtlCol="0" anchor="t"/>
          <a:lstStyle/>
          <a:p>
            <a:pPr algn="l" indent="0" marL="0">
              <a:buNone/>
            </a:pPr>
            <a:r>
              <a:rPr lang="en-US" sz="900" dirty="0">
                <a:solidFill>
                  <a:srgbClr val="52606D"/>
                </a:solidFill>
                <a:latin typeface="Aptos" pitchFamily="34" charset="0"/>
                <a:ea typeface="Aptos" pitchFamily="34" charset="-122"/>
                <a:cs typeface="Aptos" pitchFamily="34" charset="-120"/>
              </a:rPr>
              <a:t>pruebas</a:t>
            </a:r>
            <a:endParaRPr lang="en-US" sz="900" dirty="0"/>
          </a:p>
        </p:txBody>
      </p:sp>
      <p:sp>
        <p:nvSpPr>
          <p:cNvPr id="23" name="Shape 20"/>
          <p:cNvSpPr/>
          <p:nvPr/>
        </p:nvSpPr>
        <p:spPr>
          <a:xfrm>
            <a:off x="5041270" y="2286000"/>
            <a:ext cx="2109155" cy="1225296"/>
          </a:xfrm>
          <a:prstGeom prst="rect">
            <a:avLst/>
          </a:prstGeom>
          <a:solidFill>
            <a:srgbClr val="FFFFFF"/>
          </a:solidFill>
          <a:ln w="12700">
            <a:solidFill>
              <a:srgbClr val="FFFFFF"/>
            </a:solidFill>
            <a:prstDash val="solid"/>
          </a:ln>
        </p:spPr>
      </p:sp>
      <p:sp>
        <p:nvSpPr>
          <p:cNvPr id="24" name="Shape 21"/>
          <p:cNvSpPr/>
          <p:nvPr/>
        </p:nvSpPr>
        <p:spPr>
          <a:xfrm>
            <a:off x="5041270" y="2286000"/>
            <a:ext cx="2109155" cy="54864"/>
          </a:xfrm>
          <a:prstGeom prst="rect">
            <a:avLst/>
          </a:prstGeom>
          <a:solidFill>
            <a:srgbClr val="102A43"/>
          </a:solidFill>
          <a:ln w="12700">
            <a:solidFill>
              <a:srgbClr val="102A43"/>
            </a:solidFill>
            <a:prstDash val="solid"/>
          </a:ln>
        </p:spPr>
      </p:sp>
      <p:sp>
        <p:nvSpPr>
          <p:cNvPr id="25" name="Text 22"/>
          <p:cNvSpPr txBox="1"/>
          <p:nvPr/>
        </p:nvSpPr>
        <p:spPr>
          <a:xfrm>
            <a:off x="5205862" y="2450592"/>
            <a:ext cx="1779971" cy="201168"/>
          </a:xfrm>
          <a:prstGeom prst="rect">
            <a:avLst/>
          </a:prstGeom>
          <a:noFill/>
          <a:ln/>
        </p:spPr>
        <p:txBody>
          <a:bodyPr wrap="square" lIns="0" tIns="0" rIns="0" bIns="0" rtlCol="0" anchor="t"/>
          <a:lstStyle/>
          <a:p>
            <a:pPr algn="l" indent="0" marL="0">
              <a:buNone/>
            </a:pPr>
            <a:r>
              <a:rPr lang="en-US" sz="1040" b="1" dirty="0">
                <a:solidFill>
                  <a:srgbClr val="102A43"/>
                </a:solidFill>
                <a:latin typeface="Consolas" pitchFamily="34" charset="0"/>
                <a:ea typeface="Consolas" pitchFamily="34" charset="-122"/>
                <a:cs typeface="Consolas" pitchFamily="34" charset="-120"/>
              </a:rPr>
              <a:t>RF-03</a:t>
            </a:r>
            <a:endParaRPr lang="en-US" sz="1040" dirty="0"/>
          </a:p>
        </p:txBody>
      </p:sp>
      <p:sp>
        <p:nvSpPr>
          <p:cNvPr id="26" name="Text 23"/>
          <p:cNvSpPr txBox="1"/>
          <p:nvPr/>
        </p:nvSpPr>
        <p:spPr>
          <a:xfrm>
            <a:off x="5205862" y="26883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Tres reservas por semana</a:t>
            </a:r>
            <a:endParaRPr lang="en-US" sz="1040" dirty="0"/>
          </a:p>
        </p:txBody>
      </p:sp>
      <p:sp>
        <p:nvSpPr>
          <p:cNvPr id="27" name="Text 24"/>
          <p:cNvSpPr txBox="1"/>
          <p:nvPr/>
        </p:nvSpPr>
        <p:spPr>
          <a:xfrm>
            <a:off x="5205862" y="3090672"/>
            <a:ext cx="548640" cy="329184"/>
          </a:xfrm>
          <a:prstGeom prst="rect">
            <a:avLst/>
          </a:prstGeom>
          <a:noFill/>
          <a:ln/>
        </p:spPr>
        <p:txBody>
          <a:bodyPr wrap="square" lIns="0" tIns="0" rIns="0" bIns="0" rtlCol="0" anchor="t"/>
          <a:lstStyle/>
          <a:p>
            <a:pPr algn="l" indent="0" marL="0">
              <a:buNone/>
            </a:pPr>
            <a:r>
              <a:rPr lang="en-US" sz="2200" b="1" dirty="0">
                <a:solidFill>
                  <a:srgbClr val="243B53"/>
                </a:solidFill>
                <a:latin typeface="Aptos Display" pitchFamily="34" charset="0"/>
                <a:ea typeface="Aptos Display" pitchFamily="34" charset="-122"/>
                <a:cs typeface="Aptos Display" pitchFamily="34" charset="-120"/>
              </a:rPr>
              <a:t>2</a:t>
            </a:r>
            <a:endParaRPr lang="en-US" sz="2200" dirty="0"/>
          </a:p>
        </p:txBody>
      </p:sp>
      <p:sp>
        <p:nvSpPr>
          <p:cNvPr id="28" name="Text 25"/>
          <p:cNvSpPr txBox="1"/>
          <p:nvPr/>
        </p:nvSpPr>
        <p:spPr>
          <a:xfrm>
            <a:off x="5791078" y="3200400"/>
            <a:ext cx="1194755" cy="201168"/>
          </a:xfrm>
          <a:prstGeom prst="rect">
            <a:avLst/>
          </a:prstGeom>
          <a:noFill/>
          <a:ln/>
        </p:spPr>
        <p:txBody>
          <a:bodyPr wrap="square" lIns="0" tIns="0" rIns="0" bIns="0" rtlCol="0" anchor="t"/>
          <a:lstStyle/>
          <a:p>
            <a:pPr algn="l" indent="0" marL="0">
              <a:buNone/>
            </a:pPr>
            <a:r>
              <a:rPr lang="en-US" sz="900" dirty="0">
                <a:solidFill>
                  <a:srgbClr val="52606D"/>
                </a:solidFill>
                <a:latin typeface="Aptos" pitchFamily="34" charset="0"/>
                <a:ea typeface="Aptos" pitchFamily="34" charset="-122"/>
                <a:cs typeface="Aptos" pitchFamily="34" charset="-120"/>
              </a:rPr>
              <a:t>pruebas</a:t>
            </a:r>
            <a:endParaRPr lang="en-US" sz="900" dirty="0"/>
          </a:p>
        </p:txBody>
      </p:sp>
      <p:sp>
        <p:nvSpPr>
          <p:cNvPr id="29" name="Shape 26"/>
          <p:cNvSpPr/>
          <p:nvPr/>
        </p:nvSpPr>
        <p:spPr>
          <a:xfrm>
            <a:off x="7232721" y="2286000"/>
            <a:ext cx="2109155" cy="1225296"/>
          </a:xfrm>
          <a:prstGeom prst="rect">
            <a:avLst/>
          </a:prstGeom>
          <a:solidFill>
            <a:srgbClr val="FFFFFF"/>
          </a:solidFill>
          <a:ln w="12700">
            <a:solidFill>
              <a:srgbClr val="FFFFFF"/>
            </a:solidFill>
            <a:prstDash val="solid"/>
          </a:ln>
        </p:spPr>
      </p:sp>
      <p:sp>
        <p:nvSpPr>
          <p:cNvPr id="30" name="Shape 27"/>
          <p:cNvSpPr/>
          <p:nvPr/>
        </p:nvSpPr>
        <p:spPr>
          <a:xfrm>
            <a:off x="7232721" y="2286000"/>
            <a:ext cx="2109155" cy="54864"/>
          </a:xfrm>
          <a:prstGeom prst="rect">
            <a:avLst/>
          </a:prstGeom>
          <a:solidFill>
            <a:srgbClr val="102A43"/>
          </a:solidFill>
          <a:ln w="12700">
            <a:solidFill>
              <a:srgbClr val="102A43"/>
            </a:solidFill>
            <a:prstDash val="solid"/>
          </a:ln>
        </p:spPr>
      </p:sp>
      <p:sp>
        <p:nvSpPr>
          <p:cNvPr id="31" name="Text 28"/>
          <p:cNvSpPr txBox="1"/>
          <p:nvPr/>
        </p:nvSpPr>
        <p:spPr>
          <a:xfrm>
            <a:off x="7397313" y="2450592"/>
            <a:ext cx="1779971" cy="201168"/>
          </a:xfrm>
          <a:prstGeom prst="rect">
            <a:avLst/>
          </a:prstGeom>
          <a:noFill/>
          <a:ln/>
        </p:spPr>
        <p:txBody>
          <a:bodyPr wrap="square" lIns="0" tIns="0" rIns="0" bIns="0" rtlCol="0" anchor="t"/>
          <a:lstStyle/>
          <a:p>
            <a:pPr algn="l" indent="0" marL="0">
              <a:buNone/>
            </a:pPr>
            <a:r>
              <a:rPr lang="en-US" sz="1040" b="1" dirty="0">
                <a:solidFill>
                  <a:srgbClr val="102A43"/>
                </a:solidFill>
                <a:latin typeface="Consolas" pitchFamily="34" charset="0"/>
                <a:ea typeface="Consolas" pitchFamily="34" charset="-122"/>
                <a:cs typeface="Consolas" pitchFamily="34" charset="-120"/>
              </a:rPr>
              <a:t>RF-04</a:t>
            </a:r>
            <a:endParaRPr lang="en-US" sz="1040" dirty="0"/>
          </a:p>
        </p:txBody>
      </p:sp>
      <p:sp>
        <p:nvSpPr>
          <p:cNvPr id="32" name="Text 29"/>
          <p:cNvSpPr txBox="1"/>
          <p:nvPr/>
        </p:nvSpPr>
        <p:spPr>
          <a:xfrm>
            <a:off x="7397313" y="26883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Entre 1 y 30 personas</a:t>
            </a:r>
            <a:endParaRPr lang="en-US" sz="1040" dirty="0"/>
          </a:p>
        </p:txBody>
      </p:sp>
      <p:sp>
        <p:nvSpPr>
          <p:cNvPr id="33" name="Text 30"/>
          <p:cNvSpPr txBox="1"/>
          <p:nvPr/>
        </p:nvSpPr>
        <p:spPr>
          <a:xfrm>
            <a:off x="7397313" y="3090672"/>
            <a:ext cx="548640" cy="329184"/>
          </a:xfrm>
          <a:prstGeom prst="rect">
            <a:avLst/>
          </a:prstGeom>
          <a:noFill/>
          <a:ln/>
        </p:spPr>
        <p:txBody>
          <a:bodyPr wrap="square" lIns="0" tIns="0" rIns="0" bIns="0" rtlCol="0" anchor="t"/>
          <a:lstStyle/>
          <a:p>
            <a:pPr algn="l" indent="0" marL="0">
              <a:buNone/>
            </a:pPr>
            <a:r>
              <a:rPr lang="en-US" sz="2200" b="1" dirty="0">
                <a:solidFill>
                  <a:srgbClr val="243B53"/>
                </a:solidFill>
                <a:latin typeface="Aptos Display" pitchFamily="34" charset="0"/>
                <a:ea typeface="Aptos Display" pitchFamily="34" charset="-122"/>
                <a:cs typeface="Aptos Display" pitchFamily="34" charset="-120"/>
              </a:rPr>
              <a:t>4</a:t>
            </a:r>
            <a:endParaRPr lang="en-US" sz="2200" dirty="0"/>
          </a:p>
        </p:txBody>
      </p:sp>
      <p:sp>
        <p:nvSpPr>
          <p:cNvPr id="34" name="Text 31"/>
          <p:cNvSpPr txBox="1"/>
          <p:nvPr/>
        </p:nvSpPr>
        <p:spPr>
          <a:xfrm>
            <a:off x="7982529" y="3200400"/>
            <a:ext cx="1194755" cy="201168"/>
          </a:xfrm>
          <a:prstGeom prst="rect">
            <a:avLst/>
          </a:prstGeom>
          <a:noFill/>
          <a:ln/>
        </p:spPr>
        <p:txBody>
          <a:bodyPr wrap="square" lIns="0" tIns="0" rIns="0" bIns="0" rtlCol="0" anchor="t"/>
          <a:lstStyle/>
          <a:p>
            <a:pPr algn="l" indent="0" marL="0">
              <a:buNone/>
            </a:pPr>
            <a:r>
              <a:rPr lang="en-US" sz="900" dirty="0">
                <a:solidFill>
                  <a:srgbClr val="52606D"/>
                </a:solidFill>
                <a:latin typeface="Aptos" pitchFamily="34" charset="0"/>
                <a:ea typeface="Aptos" pitchFamily="34" charset="-122"/>
                <a:cs typeface="Aptos" pitchFamily="34" charset="-120"/>
              </a:rPr>
              <a:t>pruebas</a:t>
            </a:r>
            <a:endParaRPr lang="en-US" sz="900" dirty="0"/>
          </a:p>
        </p:txBody>
      </p:sp>
      <p:sp>
        <p:nvSpPr>
          <p:cNvPr id="35" name="Shape 32"/>
          <p:cNvSpPr/>
          <p:nvPr/>
        </p:nvSpPr>
        <p:spPr>
          <a:xfrm>
            <a:off x="9424172" y="2286000"/>
            <a:ext cx="2109155" cy="1225296"/>
          </a:xfrm>
          <a:prstGeom prst="rect">
            <a:avLst/>
          </a:prstGeom>
          <a:solidFill>
            <a:srgbClr val="F2E7D9"/>
          </a:solidFill>
          <a:ln w="12700">
            <a:solidFill>
              <a:srgbClr val="F2E7D9"/>
            </a:solidFill>
            <a:prstDash val="solid"/>
          </a:ln>
        </p:spPr>
      </p:sp>
      <p:sp>
        <p:nvSpPr>
          <p:cNvPr id="36" name="Shape 33"/>
          <p:cNvSpPr/>
          <p:nvPr/>
        </p:nvSpPr>
        <p:spPr>
          <a:xfrm>
            <a:off x="9424172" y="2286000"/>
            <a:ext cx="2109155" cy="54864"/>
          </a:xfrm>
          <a:prstGeom prst="rect">
            <a:avLst/>
          </a:prstGeom>
          <a:solidFill>
            <a:srgbClr val="B3181E"/>
          </a:solidFill>
          <a:ln w="12700">
            <a:solidFill>
              <a:srgbClr val="B3181E"/>
            </a:solidFill>
            <a:prstDash val="solid"/>
          </a:ln>
        </p:spPr>
      </p:sp>
      <p:sp>
        <p:nvSpPr>
          <p:cNvPr id="37" name="Text 34"/>
          <p:cNvSpPr txBox="1"/>
          <p:nvPr/>
        </p:nvSpPr>
        <p:spPr>
          <a:xfrm>
            <a:off x="9588764" y="2450592"/>
            <a:ext cx="1779971" cy="201168"/>
          </a:xfrm>
          <a:prstGeom prst="rect">
            <a:avLst/>
          </a:prstGeom>
          <a:noFill/>
          <a:ln/>
        </p:spPr>
        <p:txBody>
          <a:bodyPr wrap="square" lIns="0" tIns="0" rIns="0" bIns="0" rtlCol="0" anchor="t"/>
          <a:lstStyle/>
          <a:p>
            <a:pPr algn="l" indent="0" marL="0">
              <a:buNone/>
            </a:pPr>
            <a:r>
              <a:rPr lang="en-US" sz="1040" b="1" dirty="0">
                <a:solidFill>
                  <a:srgbClr val="B3181E"/>
                </a:solidFill>
                <a:latin typeface="Consolas" pitchFamily="34" charset="0"/>
                <a:ea typeface="Consolas" pitchFamily="34" charset="-122"/>
                <a:cs typeface="Consolas" pitchFamily="34" charset="-120"/>
              </a:rPr>
              <a:t>RF-05</a:t>
            </a:r>
            <a:endParaRPr lang="en-US" sz="1040" dirty="0"/>
          </a:p>
        </p:txBody>
      </p:sp>
      <p:sp>
        <p:nvSpPr>
          <p:cNvPr id="38" name="Text 35"/>
          <p:cNvSpPr txBox="1"/>
          <p:nvPr/>
        </p:nvSpPr>
        <p:spPr>
          <a:xfrm>
            <a:off x="9588764" y="26883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Cancelar 2 horas antes</a:t>
            </a:r>
            <a:endParaRPr lang="en-US" sz="1040" dirty="0"/>
          </a:p>
        </p:txBody>
      </p:sp>
      <p:sp>
        <p:nvSpPr>
          <p:cNvPr id="39" name="Text 36"/>
          <p:cNvSpPr txBox="1"/>
          <p:nvPr/>
        </p:nvSpPr>
        <p:spPr>
          <a:xfrm>
            <a:off x="9588764" y="3090672"/>
            <a:ext cx="548640" cy="329184"/>
          </a:xfrm>
          <a:prstGeom prst="rect">
            <a:avLst/>
          </a:prstGeom>
          <a:noFill/>
          <a:ln/>
        </p:spPr>
        <p:txBody>
          <a:bodyPr wrap="square" lIns="0" tIns="0" rIns="0" bIns="0" rtlCol="0" anchor="t"/>
          <a:lstStyle/>
          <a:p>
            <a:pPr algn="l" indent="0" marL="0">
              <a:buNone/>
            </a:pPr>
            <a:r>
              <a:rPr lang="en-US" sz="2200" b="1" dirty="0">
                <a:solidFill>
                  <a:srgbClr val="B3181E"/>
                </a:solidFill>
                <a:latin typeface="Aptos Display" pitchFamily="34" charset="0"/>
                <a:ea typeface="Aptos Display" pitchFamily="34" charset="-122"/>
                <a:cs typeface="Aptos Display" pitchFamily="34" charset="-120"/>
              </a:rPr>
              <a:t>0</a:t>
            </a:r>
            <a:endParaRPr lang="en-US" sz="2200" dirty="0"/>
          </a:p>
        </p:txBody>
      </p:sp>
      <p:sp>
        <p:nvSpPr>
          <p:cNvPr id="40" name="Text 37"/>
          <p:cNvSpPr txBox="1"/>
          <p:nvPr/>
        </p:nvSpPr>
        <p:spPr>
          <a:xfrm>
            <a:off x="10173980" y="3200400"/>
            <a:ext cx="1194755" cy="201168"/>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sin prueba</a:t>
            </a:r>
            <a:endParaRPr lang="en-US" sz="900" dirty="0"/>
          </a:p>
        </p:txBody>
      </p:sp>
      <p:sp>
        <p:nvSpPr>
          <p:cNvPr id="41" name="Shape 38"/>
          <p:cNvSpPr/>
          <p:nvPr/>
        </p:nvSpPr>
        <p:spPr>
          <a:xfrm>
            <a:off x="658368" y="3657600"/>
            <a:ext cx="2109155" cy="1225296"/>
          </a:xfrm>
          <a:prstGeom prst="rect">
            <a:avLst/>
          </a:prstGeom>
          <a:solidFill>
            <a:srgbClr val="FFFFFF"/>
          </a:solidFill>
          <a:ln w="12700">
            <a:solidFill>
              <a:srgbClr val="FFFFFF"/>
            </a:solidFill>
            <a:prstDash val="solid"/>
          </a:ln>
        </p:spPr>
      </p:sp>
      <p:sp>
        <p:nvSpPr>
          <p:cNvPr id="42" name="Shape 39"/>
          <p:cNvSpPr/>
          <p:nvPr/>
        </p:nvSpPr>
        <p:spPr>
          <a:xfrm>
            <a:off x="658368" y="3657600"/>
            <a:ext cx="2109155" cy="54864"/>
          </a:xfrm>
          <a:prstGeom prst="rect">
            <a:avLst/>
          </a:prstGeom>
          <a:solidFill>
            <a:srgbClr val="102A43"/>
          </a:solidFill>
          <a:ln w="12700">
            <a:solidFill>
              <a:srgbClr val="102A43"/>
            </a:solidFill>
            <a:prstDash val="solid"/>
          </a:ln>
        </p:spPr>
      </p:sp>
      <p:sp>
        <p:nvSpPr>
          <p:cNvPr id="43" name="Text 40"/>
          <p:cNvSpPr txBox="1"/>
          <p:nvPr/>
        </p:nvSpPr>
        <p:spPr>
          <a:xfrm>
            <a:off x="822960" y="3822192"/>
            <a:ext cx="1779971" cy="201168"/>
          </a:xfrm>
          <a:prstGeom prst="rect">
            <a:avLst/>
          </a:prstGeom>
          <a:noFill/>
          <a:ln/>
        </p:spPr>
        <p:txBody>
          <a:bodyPr wrap="square" lIns="0" tIns="0" rIns="0" bIns="0" rtlCol="0" anchor="t"/>
          <a:lstStyle/>
          <a:p>
            <a:pPr algn="l" indent="0" marL="0">
              <a:buNone/>
            </a:pPr>
            <a:r>
              <a:rPr lang="en-US" sz="1040" b="1" dirty="0">
                <a:solidFill>
                  <a:srgbClr val="102A43"/>
                </a:solidFill>
                <a:latin typeface="Consolas" pitchFamily="34" charset="0"/>
                <a:ea typeface="Consolas" pitchFamily="34" charset="-122"/>
                <a:cs typeface="Consolas" pitchFamily="34" charset="-120"/>
              </a:rPr>
              <a:t>RF-06</a:t>
            </a:r>
            <a:endParaRPr lang="en-US" sz="1040" dirty="0"/>
          </a:p>
        </p:txBody>
      </p:sp>
      <p:sp>
        <p:nvSpPr>
          <p:cNvPr id="44" name="Text 41"/>
          <p:cNvSpPr txBox="1"/>
          <p:nvPr/>
        </p:nvSpPr>
        <p:spPr>
          <a:xfrm>
            <a:off x="822960" y="40599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Comprobante de la reserva</a:t>
            </a:r>
            <a:endParaRPr lang="en-US" sz="1040" dirty="0"/>
          </a:p>
        </p:txBody>
      </p:sp>
      <p:sp>
        <p:nvSpPr>
          <p:cNvPr id="45" name="Text 42"/>
          <p:cNvSpPr txBox="1"/>
          <p:nvPr/>
        </p:nvSpPr>
        <p:spPr>
          <a:xfrm>
            <a:off x="822960" y="4462272"/>
            <a:ext cx="548640" cy="329184"/>
          </a:xfrm>
          <a:prstGeom prst="rect">
            <a:avLst/>
          </a:prstGeom>
          <a:noFill/>
          <a:ln/>
        </p:spPr>
        <p:txBody>
          <a:bodyPr wrap="square" lIns="0" tIns="0" rIns="0" bIns="0" rtlCol="0" anchor="t"/>
          <a:lstStyle/>
          <a:p>
            <a:pPr algn="l" indent="0" marL="0">
              <a:buNone/>
            </a:pPr>
            <a:r>
              <a:rPr lang="en-US" sz="2200" b="1" dirty="0">
                <a:solidFill>
                  <a:srgbClr val="243B53"/>
                </a:solidFill>
                <a:latin typeface="Aptos Display" pitchFamily="34" charset="0"/>
                <a:ea typeface="Aptos Display" pitchFamily="34" charset="-122"/>
                <a:cs typeface="Aptos Display" pitchFamily="34" charset="-120"/>
              </a:rPr>
              <a:t>1</a:t>
            </a:r>
            <a:endParaRPr lang="en-US" sz="2200" dirty="0"/>
          </a:p>
        </p:txBody>
      </p:sp>
      <p:sp>
        <p:nvSpPr>
          <p:cNvPr id="46" name="Text 43"/>
          <p:cNvSpPr txBox="1"/>
          <p:nvPr/>
        </p:nvSpPr>
        <p:spPr>
          <a:xfrm>
            <a:off x="1408176" y="4572000"/>
            <a:ext cx="1194755" cy="201168"/>
          </a:xfrm>
          <a:prstGeom prst="rect">
            <a:avLst/>
          </a:prstGeom>
          <a:noFill/>
          <a:ln/>
        </p:spPr>
        <p:txBody>
          <a:bodyPr wrap="square" lIns="0" tIns="0" rIns="0" bIns="0" rtlCol="0" anchor="t"/>
          <a:lstStyle/>
          <a:p>
            <a:pPr algn="l" indent="0" marL="0">
              <a:buNone/>
            </a:pPr>
            <a:r>
              <a:rPr lang="en-US" sz="900" dirty="0">
                <a:solidFill>
                  <a:srgbClr val="52606D"/>
                </a:solidFill>
                <a:latin typeface="Aptos" pitchFamily="34" charset="0"/>
                <a:ea typeface="Aptos" pitchFamily="34" charset="-122"/>
                <a:cs typeface="Aptos" pitchFamily="34" charset="-120"/>
              </a:rPr>
              <a:t>pruebas</a:t>
            </a:r>
            <a:endParaRPr lang="en-US" sz="900" dirty="0"/>
          </a:p>
        </p:txBody>
      </p:sp>
      <p:sp>
        <p:nvSpPr>
          <p:cNvPr id="47" name="Shape 44"/>
          <p:cNvSpPr/>
          <p:nvPr/>
        </p:nvSpPr>
        <p:spPr>
          <a:xfrm>
            <a:off x="2849819" y="3657600"/>
            <a:ext cx="2109155" cy="1225296"/>
          </a:xfrm>
          <a:prstGeom prst="rect">
            <a:avLst/>
          </a:prstGeom>
          <a:solidFill>
            <a:srgbClr val="FFFFFF"/>
          </a:solidFill>
          <a:ln w="12700">
            <a:solidFill>
              <a:srgbClr val="FFFFFF"/>
            </a:solidFill>
            <a:prstDash val="solid"/>
          </a:ln>
        </p:spPr>
      </p:sp>
      <p:sp>
        <p:nvSpPr>
          <p:cNvPr id="48" name="Shape 45"/>
          <p:cNvSpPr/>
          <p:nvPr/>
        </p:nvSpPr>
        <p:spPr>
          <a:xfrm>
            <a:off x="2849819" y="3657600"/>
            <a:ext cx="2109155" cy="54864"/>
          </a:xfrm>
          <a:prstGeom prst="rect">
            <a:avLst/>
          </a:prstGeom>
          <a:solidFill>
            <a:srgbClr val="2E7D4F"/>
          </a:solidFill>
          <a:ln w="12700">
            <a:solidFill>
              <a:srgbClr val="2E7D4F"/>
            </a:solidFill>
            <a:prstDash val="solid"/>
          </a:ln>
        </p:spPr>
      </p:sp>
      <p:sp>
        <p:nvSpPr>
          <p:cNvPr id="49" name="Text 46"/>
          <p:cNvSpPr txBox="1"/>
          <p:nvPr/>
        </p:nvSpPr>
        <p:spPr>
          <a:xfrm>
            <a:off x="3014411" y="3822192"/>
            <a:ext cx="1779971" cy="201168"/>
          </a:xfrm>
          <a:prstGeom prst="rect">
            <a:avLst/>
          </a:prstGeom>
          <a:noFill/>
          <a:ln/>
        </p:spPr>
        <p:txBody>
          <a:bodyPr wrap="square" lIns="0" tIns="0" rIns="0" bIns="0" rtlCol="0" anchor="t"/>
          <a:lstStyle/>
          <a:p>
            <a:pPr algn="l" indent="0" marL="0">
              <a:buNone/>
            </a:pPr>
            <a:r>
              <a:rPr lang="en-US" sz="1040" b="1" dirty="0">
                <a:solidFill>
                  <a:srgbClr val="2E7D4F"/>
                </a:solidFill>
                <a:latin typeface="Consolas" pitchFamily="34" charset="0"/>
                <a:ea typeface="Consolas" pitchFamily="34" charset="-122"/>
                <a:cs typeface="Consolas" pitchFamily="34" charset="-120"/>
              </a:rPr>
              <a:t>RF-07</a:t>
            </a:r>
            <a:endParaRPr lang="en-US" sz="1040" dirty="0"/>
          </a:p>
        </p:txBody>
      </p:sp>
      <p:sp>
        <p:nvSpPr>
          <p:cNvPr id="50" name="Text 47"/>
          <p:cNvSpPr txBox="1"/>
          <p:nvPr/>
        </p:nvSpPr>
        <p:spPr>
          <a:xfrm>
            <a:off x="3014411" y="40599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Derecho de supresión</a:t>
            </a:r>
            <a:endParaRPr lang="en-US" sz="1040" dirty="0"/>
          </a:p>
        </p:txBody>
      </p:sp>
      <p:sp>
        <p:nvSpPr>
          <p:cNvPr id="51" name="Text 48"/>
          <p:cNvSpPr txBox="1"/>
          <p:nvPr/>
        </p:nvSpPr>
        <p:spPr>
          <a:xfrm>
            <a:off x="3014411" y="4462272"/>
            <a:ext cx="548640" cy="329184"/>
          </a:xfrm>
          <a:prstGeom prst="rect">
            <a:avLst/>
          </a:prstGeom>
          <a:noFill/>
          <a:ln/>
        </p:spPr>
        <p:txBody>
          <a:bodyPr wrap="square" lIns="0" tIns="0" rIns="0" bIns="0" rtlCol="0" anchor="t"/>
          <a:lstStyle/>
          <a:p>
            <a:pPr algn="l" indent="0" marL="0">
              <a:buNone/>
            </a:pPr>
            <a:r>
              <a:rPr lang="en-US" sz="2200" b="1" dirty="0">
                <a:solidFill>
                  <a:srgbClr val="243B53"/>
                </a:solidFill>
                <a:latin typeface="Aptos Display" pitchFamily="34" charset="0"/>
                <a:ea typeface="Aptos Display" pitchFamily="34" charset="-122"/>
                <a:cs typeface="Aptos Display" pitchFamily="34" charset="-120"/>
              </a:rPr>
              <a:t>2</a:t>
            </a:r>
            <a:endParaRPr lang="en-US" sz="2200" dirty="0"/>
          </a:p>
        </p:txBody>
      </p:sp>
      <p:sp>
        <p:nvSpPr>
          <p:cNvPr id="52" name="Text 49"/>
          <p:cNvSpPr txBox="1"/>
          <p:nvPr/>
        </p:nvSpPr>
        <p:spPr>
          <a:xfrm>
            <a:off x="3599627" y="4572000"/>
            <a:ext cx="1194755" cy="201168"/>
          </a:xfrm>
          <a:prstGeom prst="rect">
            <a:avLst/>
          </a:prstGeom>
          <a:noFill/>
          <a:ln/>
        </p:spPr>
        <p:txBody>
          <a:bodyPr wrap="square" lIns="0" tIns="0" rIns="0" bIns="0" rtlCol="0" anchor="t"/>
          <a:lstStyle/>
          <a:p>
            <a:pPr algn="l" indent="0" marL="0">
              <a:buNone/>
            </a:pPr>
            <a:r>
              <a:rPr lang="en-US" sz="900" dirty="0">
                <a:solidFill>
                  <a:srgbClr val="52606D"/>
                </a:solidFill>
                <a:latin typeface="Aptos" pitchFamily="34" charset="0"/>
                <a:ea typeface="Aptos" pitchFamily="34" charset="-122"/>
                <a:cs typeface="Aptos" pitchFamily="34" charset="-120"/>
              </a:rPr>
              <a:t>pruebas</a:t>
            </a:r>
            <a:endParaRPr lang="en-US" sz="900" dirty="0"/>
          </a:p>
        </p:txBody>
      </p:sp>
      <p:sp>
        <p:nvSpPr>
          <p:cNvPr id="53" name="Shape 50"/>
          <p:cNvSpPr/>
          <p:nvPr/>
        </p:nvSpPr>
        <p:spPr>
          <a:xfrm>
            <a:off x="5041270" y="3657600"/>
            <a:ext cx="2109155" cy="1225296"/>
          </a:xfrm>
          <a:prstGeom prst="rect">
            <a:avLst/>
          </a:prstGeom>
          <a:solidFill>
            <a:srgbClr val="F2E7D9"/>
          </a:solidFill>
          <a:ln w="12700">
            <a:solidFill>
              <a:srgbClr val="F2E7D9"/>
            </a:solidFill>
            <a:prstDash val="solid"/>
          </a:ln>
        </p:spPr>
      </p:sp>
      <p:sp>
        <p:nvSpPr>
          <p:cNvPr id="54" name="Shape 51"/>
          <p:cNvSpPr/>
          <p:nvPr/>
        </p:nvSpPr>
        <p:spPr>
          <a:xfrm>
            <a:off x="5041270" y="3657600"/>
            <a:ext cx="2109155" cy="54864"/>
          </a:xfrm>
          <a:prstGeom prst="rect">
            <a:avLst/>
          </a:prstGeom>
          <a:solidFill>
            <a:srgbClr val="B3181E"/>
          </a:solidFill>
          <a:ln w="12700">
            <a:solidFill>
              <a:srgbClr val="B3181E"/>
            </a:solidFill>
            <a:prstDash val="solid"/>
          </a:ln>
        </p:spPr>
      </p:sp>
      <p:sp>
        <p:nvSpPr>
          <p:cNvPr id="55" name="Text 52"/>
          <p:cNvSpPr txBox="1"/>
          <p:nvPr/>
        </p:nvSpPr>
        <p:spPr>
          <a:xfrm>
            <a:off x="5205862" y="3822192"/>
            <a:ext cx="1779971" cy="201168"/>
          </a:xfrm>
          <a:prstGeom prst="rect">
            <a:avLst/>
          </a:prstGeom>
          <a:noFill/>
          <a:ln/>
        </p:spPr>
        <p:txBody>
          <a:bodyPr wrap="square" lIns="0" tIns="0" rIns="0" bIns="0" rtlCol="0" anchor="t"/>
          <a:lstStyle/>
          <a:p>
            <a:pPr algn="l" indent="0" marL="0">
              <a:buNone/>
            </a:pPr>
            <a:r>
              <a:rPr lang="en-US" sz="1040" b="1" dirty="0">
                <a:solidFill>
                  <a:srgbClr val="B3181E"/>
                </a:solidFill>
                <a:latin typeface="Consolas" pitchFamily="34" charset="0"/>
                <a:ea typeface="Consolas" pitchFamily="34" charset="-122"/>
                <a:cs typeface="Consolas" pitchFamily="34" charset="-120"/>
              </a:rPr>
              <a:t>RF-08</a:t>
            </a:r>
            <a:endParaRPr lang="en-US" sz="1040" dirty="0"/>
          </a:p>
        </p:txBody>
      </p:sp>
      <p:sp>
        <p:nvSpPr>
          <p:cNvPr id="56" name="Text 53"/>
          <p:cNvSpPr txBox="1"/>
          <p:nvPr/>
        </p:nvSpPr>
        <p:spPr>
          <a:xfrm>
            <a:off x="5205862" y="40599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Derecho de acceso</a:t>
            </a:r>
            <a:endParaRPr lang="en-US" sz="1040" dirty="0"/>
          </a:p>
        </p:txBody>
      </p:sp>
      <p:sp>
        <p:nvSpPr>
          <p:cNvPr id="57" name="Text 54"/>
          <p:cNvSpPr txBox="1"/>
          <p:nvPr/>
        </p:nvSpPr>
        <p:spPr>
          <a:xfrm>
            <a:off x="5205862" y="4462272"/>
            <a:ext cx="548640" cy="329184"/>
          </a:xfrm>
          <a:prstGeom prst="rect">
            <a:avLst/>
          </a:prstGeom>
          <a:noFill/>
          <a:ln/>
        </p:spPr>
        <p:txBody>
          <a:bodyPr wrap="square" lIns="0" tIns="0" rIns="0" bIns="0" rtlCol="0" anchor="t"/>
          <a:lstStyle/>
          <a:p>
            <a:pPr algn="l" indent="0" marL="0">
              <a:buNone/>
            </a:pPr>
            <a:r>
              <a:rPr lang="en-US" sz="2200" b="1" dirty="0">
                <a:solidFill>
                  <a:srgbClr val="B3181E"/>
                </a:solidFill>
                <a:latin typeface="Aptos Display" pitchFamily="34" charset="0"/>
                <a:ea typeface="Aptos Display" pitchFamily="34" charset="-122"/>
                <a:cs typeface="Aptos Display" pitchFamily="34" charset="-120"/>
              </a:rPr>
              <a:t>0</a:t>
            </a:r>
            <a:endParaRPr lang="en-US" sz="2200" dirty="0"/>
          </a:p>
        </p:txBody>
      </p:sp>
      <p:sp>
        <p:nvSpPr>
          <p:cNvPr id="58" name="Text 55"/>
          <p:cNvSpPr txBox="1"/>
          <p:nvPr/>
        </p:nvSpPr>
        <p:spPr>
          <a:xfrm>
            <a:off x="5791078" y="4572000"/>
            <a:ext cx="1194755" cy="201168"/>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sin prueba</a:t>
            </a:r>
            <a:endParaRPr lang="en-US" sz="900" dirty="0"/>
          </a:p>
        </p:txBody>
      </p:sp>
      <p:sp>
        <p:nvSpPr>
          <p:cNvPr id="59" name="Shape 56"/>
          <p:cNvSpPr/>
          <p:nvPr/>
        </p:nvSpPr>
        <p:spPr>
          <a:xfrm>
            <a:off x="7232721" y="3657600"/>
            <a:ext cx="2109155" cy="1225296"/>
          </a:xfrm>
          <a:prstGeom prst="rect">
            <a:avLst/>
          </a:prstGeom>
          <a:solidFill>
            <a:srgbClr val="F2E7D9"/>
          </a:solidFill>
          <a:ln w="12700">
            <a:solidFill>
              <a:srgbClr val="F2E7D9"/>
            </a:solidFill>
            <a:prstDash val="solid"/>
          </a:ln>
        </p:spPr>
      </p:sp>
      <p:sp>
        <p:nvSpPr>
          <p:cNvPr id="60" name="Shape 57"/>
          <p:cNvSpPr/>
          <p:nvPr/>
        </p:nvSpPr>
        <p:spPr>
          <a:xfrm>
            <a:off x="7232721" y="3657600"/>
            <a:ext cx="2109155" cy="54864"/>
          </a:xfrm>
          <a:prstGeom prst="rect">
            <a:avLst/>
          </a:prstGeom>
          <a:solidFill>
            <a:srgbClr val="B3181E"/>
          </a:solidFill>
          <a:ln w="12700">
            <a:solidFill>
              <a:srgbClr val="B3181E"/>
            </a:solidFill>
            <a:prstDash val="solid"/>
          </a:ln>
        </p:spPr>
      </p:sp>
      <p:sp>
        <p:nvSpPr>
          <p:cNvPr id="61" name="Text 58"/>
          <p:cNvSpPr txBox="1"/>
          <p:nvPr/>
        </p:nvSpPr>
        <p:spPr>
          <a:xfrm>
            <a:off x="7397313" y="3822192"/>
            <a:ext cx="1779971" cy="201168"/>
          </a:xfrm>
          <a:prstGeom prst="rect">
            <a:avLst/>
          </a:prstGeom>
          <a:noFill/>
          <a:ln/>
        </p:spPr>
        <p:txBody>
          <a:bodyPr wrap="square" lIns="0" tIns="0" rIns="0" bIns="0" rtlCol="0" anchor="t"/>
          <a:lstStyle/>
          <a:p>
            <a:pPr algn="l" indent="0" marL="0">
              <a:buNone/>
            </a:pPr>
            <a:r>
              <a:rPr lang="en-US" sz="1040" b="1" dirty="0">
                <a:solidFill>
                  <a:srgbClr val="B3181E"/>
                </a:solidFill>
                <a:latin typeface="Consolas" pitchFamily="34" charset="0"/>
                <a:ea typeface="Consolas" pitchFamily="34" charset="-122"/>
                <a:cs typeface="Consolas" pitchFamily="34" charset="-120"/>
              </a:rPr>
              <a:t>RF-09</a:t>
            </a:r>
            <a:endParaRPr lang="en-US" sz="1040" dirty="0"/>
          </a:p>
        </p:txBody>
      </p:sp>
      <p:sp>
        <p:nvSpPr>
          <p:cNvPr id="62" name="Text 59"/>
          <p:cNvSpPr txBox="1"/>
          <p:nvPr/>
        </p:nvSpPr>
        <p:spPr>
          <a:xfrm>
            <a:off x="7397313" y="40599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Derecho de portabilidad</a:t>
            </a:r>
            <a:endParaRPr lang="en-US" sz="1040" dirty="0"/>
          </a:p>
        </p:txBody>
      </p:sp>
      <p:sp>
        <p:nvSpPr>
          <p:cNvPr id="63" name="Text 60"/>
          <p:cNvSpPr txBox="1"/>
          <p:nvPr/>
        </p:nvSpPr>
        <p:spPr>
          <a:xfrm>
            <a:off x="7397313" y="4462272"/>
            <a:ext cx="548640" cy="329184"/>
          </a:xfrm>
          <a:prstGeom prst="rect">
            <a:avLst/>
          </a:prstGeom>
          <a:noFill/>
          <a:ln/>
        </p:spPr>
        <p:txBody>
          <a:bodyPr wrap="square" lIns="0" tIns="0" rIns="0" bIns="0" rtlCol="0" anchor="t"/>
          <a:lstStyle/>
          <a:p>
            <a:pPr algn="l" indent="0" marL="0">
              <a:buNone/>
            </a:pPr>
            <a:r>
              <a:rPr lang="en-US" sz="2200" b="1" dirty="0">
                <a:solidFill>
                  <a:srgbClr val="B3181E"/>
                </a:solidFill>
                <a:latin typeface="Aptos Display" pitchFamily="34" charset="0"/>
                <a:ea typeface="Aptos Display" pitchFamily="34" charset="-122"/>
                <a:cs typeface="Aptos Display" pitchFamily="34" charset="-120"/>
              </a:rPr>
              <a:t>0</a:t>
            </a:r>
            <a:endParaRPr lang="en-US" sz="2200" dirty="0"/>
          </a:p>
        </p:txBody>
      </p:sp>
      <p:sp>
        <p:nvSpPr>
          <p:cNvPr id="64" name="Text 61"/>
          <p:cNvSpPr txBox="1"/>
          <p:nvPr/>
        </p:nvSpPr>
        <p:spPr>
          <a:xfrm>
            <a:off x="7982529" y="4572000"/>
            <a:ext cx="1194755" cy="201168"/>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sin prueba</a:t>
            </a:r>
            <a:endParaRPr lang="en-US" sz="900" dirty="0"/>
          </a:p>
        </p:txBody>
      </p:sp>
      <p:sp>
        <p:nvSpPr>
          <p:cNvPr id="65" name="Shape 62"/>
          <p:cNvSpPr/>
          <p:nvPr/>
        </p:nvSpPr>
        <p:spPr>
          <a:xfrm>
            <a:off x="9424172" y="3657600"/>
            <a:ext cx="2109155" cy="1225296"/>
          </a:xfrm>
          <a:prstGeom prst="rect">
            <a:avLst/>
          </a:prstGeom>
          <a:solidFill>
            <a:srgbClr val="F2E7D9"/>
          </a:solidFill>
          <a:ln w="12700">
            <a:solidFill>
              <a:srgbClr val="F2E7D9"/>
            </a:solidFill>
            <a:prstDash val="solid"/>
          </a:ln>
        </p:spPr>
      </p:sp>
      <p:sp>
        <p:nvSpPr>
          <p:cNvPr id="66" name="Shape 63"/>
          <p:cNvSpPr/>
          <p:nvPr/>
        </p:nvSpPr>
        <p:spPr>
          <a:xfrm>
            <a:off x="9424172" y="3657600"/>
            <a:ext cx="2109155" cy="54864"/>
          </a:xfrm>
          <a:prstGeom prst="rect">
            <a:avLst/>
          </a:prstGeom>
          <a:solidFill>
            <a:srgbClr val="B3181E"/>
          </a:solidFill>
          <a:ln w="12700">
            <a:solidFill>
              <a:srgbClr val="B3181E"/>
            </a:solidFill>
            <a:prstDash val="solid"/>
          </a:ln>
        </p:spPr>
      </p:sp>
      <p:sp>
        <p:nvSpPr>
          <p:cNvPr id="67" name="Text 64"/>
          <p:cNvSpPr txBox="1"/>
          <p:nvPr/>
        </p:nvSpPr>
        <p:spPr>
          <a:xfrm>
            <a:off x="9588764" y="3822192"/>
            <a:ext cx="1779971" cy="201168"/>
          </a:xfrm>
          <a:prstGeom prst="rect">
            <a:avLst/>
          </a:prstGeom>
          <a:noFill/>
          <a:ln/>
        </p:spPr>
        <p:txBody>
          <a:bodyPr wrap="square" lIns="0" tIns="0" rIns="0" bIns="0" rtlCol="0" anchor="t"/>
          <a:lstStyle/>
          <a:p>
            <a:pPr algn="l" indent="0" marL="0">
              <a:buNone/>
            </a:pPr>
            <a:r>
              <a:rPr lang="en-US" sz="1040" b="1" dirty="0">
                <a:solidFill>
                  <a:srgbClr val="B3181E"/>
                </a:solidFill>
                <a:latin typeface="Consolas" pitchFamily="34" charset="0"/>
                <a:ea typeface="Consolas" pitchFamily="34" charset="-122"/>
                <a:cs typeface="Consolas" pitchFamily="34" charset="-120"/>
              </a:rPr>
              <a:t>RF-10</a:t>
            </a:r>
            <a:endParaRPr lang="en-US" sz="1040" dirty="0"/>
          </a:p>
        </p:txBody>
      </p:sp>
      <p:sp>
        <p:nvSpPr>
          <p:cNvPr id="68" name="Text 65"/>
          <p:cNvSpPr txBox="1"/>
          <p:nvPr/>
        </p:nvSpPr>
        <p:spPr>
          <a:xfrm>
            <a:off x="9588764" y="4059936"/>
            <a:ext cx="1779971" cy="384048"/>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Bloqueo mientras se resuelve</a:t>
            </a:r>
            <a:endParaRPr lang="en-US" sz="1040" dirty="0"/>
          </a:p>
        </p:txBody>
      </p:sp>
      <p:sp>
        <p:nvSpPr>
          <p:cNvPr id="69" name="Text 66"/>
          <p:cNvSpPr txBox="1"/>
          <p:nvPr/>
        </p:nvSpPr>
        <p:spPr>
          <a:xfrm>
            <a:off x="9588764" y="4462272"/>
            <a:ext cx="548640" cy="329184"/>
          </a:xfrm>
          <a:prstGeom prst="rect">
            <a:avLst/>
          </a:prstGeom>
          <a:noFill/>
          <a:ln/>
        </p:spPr>
        <p:txBody>
          <a:bodyPr wrap="square" lIns="0" tIns="0" rIns="0" bIns="0" rtlCol="0" anchor="t"/>
          <a:lstStyle/>
          <a:p>
            <a:pPr algn="l" indent="0" marL="0">
              <a:buNone/>
            </a:pPr>
            <a:r>
              <a:rPr lang="en-US" sz="2200" b="1" dirty="0">
                <a:solidFill>
                  <a:srgbClr val="B3181E"/>
                </a:solidFill>
                <a:latin typeface="Aptos Display" pitchFamily="34" charset="0"/>
                <a:ea typeface="Aptos Display" pitchFamily="34" charset="-122"/>
                <a:cs typeface="Aptos Display" pitchFamily="34" charset="-120"/>
              </a:rPr>
              <a:t>0</a:t>
            </a:r>
            <a:endParaRPr lang="en-US" sz="2200" dirty="0"/>
          </a:p>
        </p:txBody>
      </p:sp>
      <p:sp>
        <p:nvSpPr>
          <p:cNvPr id="70" name="Text 67"/>
          <p:cNvSpPr txBox="1"/>
          <p:nvPr/>
        </p:nvSpPr>
        <p:spPr>
          <a:xfrm>
            <a:off x="10173980" y="4572000"/>
            <a:ext cx="1194755" cy="201168"/>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sin prueba</a:t>
            </a:r>
            <a:endParaRPr lang="en-US" sz="900" dirty="0"/>
          </a:p>
        </p:txBody>
      </p:sp>
      <p:sp>
        <p:nvSpPr>
          <p:cNvPr id="71" name="Text 68"/>
          <p:cNvSpPr txBox="1"/>
          <p:nvPr/>
        </p:nvSpPr>
        <p:spPr>
          <a:xfrm>
            <a:off x="658368" y="5102352"/>
            <a:ext cx="10874959" cy="274320"/>
          </a:xfrm>
          <a:prstGeom prst="rect">
            <a:avLst/>
          </a:prstGeom>
          <a:noFill/>
          <a:ln/>
        </p:spPr>
        <p:txBody>
          <a:bodyPr wrap="square" lIns="0" tIns="0" rIns="0" bIns="0" rtlCol="0" anchor="t"/>
          <a:lstStyle/>
          <a:p>
            <a:pPr algn="l" indent="0" marL="0">
              <a:buNone/>
            </a:pPr>
            <a:r>
              <a:rPr lang="en-US" sz="1220" dirty="0">
                <a:solidFill>
                  <a:srgbClr val="243B53"/>
                </a:solidFill>
                <a:latin typeface="Aptos" pitchFamily="34" charset="0"/>
                <a:ea typeface="Aptos" pitchFamily="34" charset="-122"/>
                <a:cs typeface="Aptos" pitchFamily="34" charset="-120"/>
              </a:rPr>
              <a:t>Los derechos no necesitaron un artefacto aparte: son filas de la misma matriz. Y el sistema no tiene por dónde ejercer el acceso, la portabilidad ni el bloqueo.</a:t>
            </a:r>
            <a:endParaRPr lang="en-US" sz="1220" dirty="0"/>
          </a:p>
        </p:txBody>
      </p:sp>
      <p:sp>
        <p:nvSpPr>
          <p:cNvPr id="72" name="Shape 69"/>
          <p:cNvSpPr/>
          <p:nvPr/>
        </p:nvSpPr>
        <p:spPr>
          <a:xfrm>
            <a:off x="658368" y="5650992"/>
            <a:ext cx="10874959" cy="548640"/>
          </a:xfrm>
          <a:prstGeom prst="rect">
            <a:avLst/>
          </a:prstGeom>
          <a:solidFill>
            <a:srgbClr val="102A43"/>
          </a:solidFill>
          <a:ln w="12700">
            <a:solidFill>
              <a:srgbClr val="102A43"/>
            </a:solidFill>
            <a:prstDash val="solid"/>
          </a:ln>
        </p:spPr>
      </p:sp>
      <p:sp>
        <p:nvSpPr>
          <p:cNvPr id="73" name="Text 7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Los huecos ya estaban. Lo que los volvió visibles fue escribir el requisito.</a:t>
            </a:r>
            <a:endParaRPr lang="en-US" sz="13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ARCO DE LA SESIÓN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mismo modelo, dos resultados distintos</a:t>
            </a:r>
            <a:endParaRPr lang="en-US" sz="3000" dirty="0"/>
          </a:p>
        </p:txBody>
      </p:sp>
      <p:sp>
        <p:nvSpPr>
          <p:cNvPr id="10" name="Text 7"/>
          <p:cNvSpPr txBox="1"/>
          <p:nvPr/>
        </p:nvSpPr>
        <p:spPr>
          <a:xfrm>
            <a:off x="658368" y="1664208"/>
            <a:ext cx="10424160" cy="347472"/>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experimento del bloque 1 y el de ahora son el mismo, con una sola variable cambiada.</a:t>
            </a:r>
            <a:endParaRPr lang="en-US" sz="1420" dirty="0"/>
          </a:p>
        </p:txBody>
      </p:sp>
      <p:sp>
        <p:nvSpPr>
          <p:cNvPr id="11" name="Shape 8"/>
          <p:cNvSpPr/>
          <p:nvPr/>
        </p:nvSpPr>
        <p:spPr>
          <a:xfrm>
            <a:off x="658368" y="2249424"/>
            <a:ext cx="5358384" cy="1298448"/>
          </a:xfrm>
          <a:prstGeom prst="rect">
            <a:avLst/>
          </a:prstGeom>
          <a:solidFill>
            <a:srgbClr val="F2E7D9"/>
          </a:solidFill>
          <a:ln w="12700">
            <a:solidFill>
              <a:srgbClr val="F2E7D9"/>
            </a:solidFill>
            <a:prstDash val="solid"/>
          </a:ln>
        </p:spPr>
      </p:sp>
      <p:sp>
        <p:nvSpPr>
          <p:cNvPr id="12" name="Shape 9"/>
          <p:cNvSpPr/>
          <p:nvPr/>
        </p:nvSpPr>
        <p:spPr>
          <a:xfrm>
            <a:off x="658368" y="2249424"/>
            <a:ext cx="5358384" cy="54864"/>
          </a:xfrm>
          <a:prstGeom prst="rect">
            <a:avLst/>
          </a:prstGeom>
          <a:solidFill>
            <a:srgbClr val="B3181E"/>
          </a:solidFill>
          <a:ln w="12700">
            <a:solidFill>
              <a:srgbClr val="B3181E"/>
            </a:solidFill>
            <a:prstDash val="solid"/>
          </a:ln>
        </p:spPr>
      </p:sp>
      <p:sp>
        <p:nvSpPr>
          <p:cNvPr id="13" name="Text 10"/>
          <p:cNvSpPr txBox="1"/>
          <p:nvPr/>
        </p:nvSpPr>
        <p:spPr>
          <a:xfrm>
            <a:off x="914400" y="2414016"/>
            <a:ext cx="3657600" cy="256032"/>
          </a:xfrm>
          <a:prstGeom prst="rect">
            <a:avLst/>
          </a:prstGeom>
          <a:noFill/>
          <a:ln/>
        </p:spPr>
        <p:txBody>
          <a:bodyPr wrap="square" lIns="0" tIns="0" rIns="0" bIns="0" rtlCol="0" anchor="t"/>
          <a:lstStyle/>
          <a:p>
            <a:pPr algn="l" indent="0" marL="0">
              <a:buNone/>
            </a:pPr>
            <a:r>
              <a:rPr lang="en-US" sz="1240" b="1" dirty="0">
                <a:solidFill>
                  <a:srgbClr val="B3181E"/>
                </a:solidFill>
                <a:latin typeface="Aptos" pitchFamily="34" charset="0"/>
                <a:ea typeface="Aptos" pitchFamily="34" charset="-122"/>
                <a:cs typeface="Aptos" pitchFamily="34" charset="-120"/>
              </a:rPr>
              <a:t>Bloque 1 · sin requisitos escritos</a:t>
            </a:r>
            <a:endParaRPr lang="en-US" sz="1240" dirty="0"/>
          </a:p>
        </p:txBody>
      </p:sp>
      <p:sp>
        <p:nvSpPr>
          <p:cNvPr id="14" name="Shape 11"/>
          <p:cNvSpPr/>
          <p:nvPr/>
        </p:nvSpPr>
        <p:spPr>
          <a:xfrm>
            <a:off x="4645152" y="2414016"/>
            <a:ext cx="1115568" cy="292608"/>
          </a:xfrm>
          <a:prstGeom prst="rect">
            <a:avLst/>
          </a:prstGeom>
          <a:solidFill>
            <a:srgbClr val="B3181E"/>
          </a:solidFill>
          <a:ln w="12700">
            <a:solidFill>
              <a:srgbClr val="B3181E"/>
            </a:solidFill>
            <a:prstDash val="solid"/>
          </a:ln>
        </p:spPr>
      </p:sp>
      <p:sp>
        <p:nvSpPr>
          <p:cNvPr id="15" name="Text 12"/>
          <p:cNvSpPr txBox="1"/>
          <p:nvPr/>
        </p:nvSpPr>
        <p:spPr>
          <a:xfrm>
            <a:off x="4700016" y="2459736"/>
            <a:ext cx="1005840" cy="201168"/>
          </a:xfrm>
          <a:prstGeom prst="rect">
            <a:avLst/>
          </a:prstGeom>
          <a:noFill/>
          <a:ln/>
        </p:spPr>
        <p:txBody>
          <a:bodyPr wrap="square" lIns="0" tIns="0" rIns="0" bIns="0" rtlCol="0" anchor="ctr"/>
          <a:lstStyle/>
          <a:p>
            <a:pPr algn="ctr" indent="0" marL="0">
              <a:buNone/>
            </a:pPr>
            <a:r>
              <a:rPr lang="en-US" sz="940" b="1" spc="80" kern="0" dirty="0">
                <a:solidFill>
                  <a:srgbClr val="FFFFFF"/>
                </a:solidFill>
                <a:latin typeface="Aptos" pitchFamily="34" charset="0"/>
                <a:ea typeface="Aptos" pitchFamily="34" charset="-122"/>
                <a:cs typeface="Aptos" pitchFamily="34" charset="-120"/>
              </a:rPr>
              <a:t>SUERTE</a:t>
            </a:r>
            <a:endParaRPr lang="en-US" sz="940" dirty="0"/>
          </a:p>
        </p:txBody>
      </p:sp>
      <p:sp>
        <p:nvSpPr>
          <p:cNvPr id="16" name="Text 13"/>
          <p:cNvSpPr txBox="1"/>
          <p:nvPr/>
        </p:nvSpPr>
        <p:spPr>
          <a:xfrm>
            <a:off x="914400" y="2779776"/>
            <a:ext cx="4846320" cy="640080"/>
          </a:xfrm>
          <a:prstGeom prst="rect">
            <a:avLst/>
          </a:prstGeom>
          <a:noFill/>
          <a:ln/>
        </p:spPr>
        <p:txBody>
          <a:bodyPr wrap="square" lIns="0" tIns="0" rIns="0" bIns="0" rtlCol="0" anchor="t"/>
          <a:lstStyle/>
          <a:p>
            <a:pPr algn="l" indent="0" marL="0">
              <a:lnSpc>
                <a:spcPct val="114000"/>
              </a:lnSpc>
              <a:buNone/>
            </a:pPr>
            <a:r>
              <a:rPr lang="en-US" sz="1080" dirty="0">
                <a:solidFill>
                  <a:srgbClr val="243B53"/>
                </a:solidFill>
                <a:latin typeface="Aptos" pitchFamily="34" charset="0"/>
                <a:ea typeface="Aptos" pitchFamily="34" charset="-122"/>
                <a:cs typeface="Aptos" pitchFamily="34" charset="-120"/>
              </a:rPr>
              <a:t>Tuvo que inferir la regla del nombre de una constante. Acertó, y el documento no deja ver que adivinó.</a:t>
            </a:r>
            <a:endParaRPr lang="en-US" sz="1080" dirty="0"/>
          </a:p>
        </p:txBody>
      </p:sp>
      <p:sp>
        <p:nvSpPr>
          <p:cNvPr id="17" name="Shape 14"/>
          <p:cNvSpPr/>
          <p:nvPr/>
        </p:nvSpPr>
        <p:spPr>
          <a:xfrm>
            <a:off x="6181344" y="2249424"/>
            <a:ext cx="5358384" cy="1298448"/>
          </a:xfrm>
          <a:prstGeom prst="rect">
            <a:avLst/>
          </a:prstGeom>
          <a:solidFill>
            <a:srgbClr val="FFFFFF"/>
          </a:solidFill>
          <a:ln w="12700">
            <a:solidFill>
              <a:srgbClr val="FFFFFF"/>
            </a:solidFill>
            <a:prstDash val="solid"/>
          </a:ln>
        </p:spPr>
      </p:sp>
      <p:sp>
        <p:nvSpPr>
          <p:cNvPr id="18" name="Shape 15"/>
          <p:cNvSpPr/>
          <p:nvPr/>
        </p:nvSpPr>
        <p:spPr>
          <a:xfrm>
            <a:off x="6181344" y="2249424"/>
            <a:ext cx="5358384" cy="54864"/>
          </a:xfrm>
          <a:prstGeom prst="rect">
            <a:avLst/>
          </a:prstGeom>
          <a:solidFill>
            <a:srgbClr val="2E7D4F"/>
          </a:solidFill>
          <a:ln w="12700">
            <a:solidFill>
              <a:srgbClr val="2E7D4F"/>
            </a:solidFill>
            <a:prstDash val="solid"/>
          </a:ln>
        </p:spPr>
      </p:sp>
      <p:sp>
        <p:nvSpPr>
          <p:cNvPr id="19" name="Text 16"/>
          <p:cNvSpPr txBox="1"/>
          <p:nvPr/>
        </p:nvSpPr>
        <p:spPr>
          <a:xfrm>
            <a:off x="6437376" y="2414016"/>
            <a:ext cx="3657600" cy="256032"/>
          </a:xfrm>
          <a:prstGeom prst="rect">
            <a:avLst/>
          </a:prstGeom>
          <a:noFill/>
          <a:ln/>
        </p:spPr>
        <p:txBody>
          <a:bodyPr wrap="square" lIns="0" tIns="0" rIns="0" bIns="0" rtlCol="0" anchor="t"/>
          <a:lstStyle/>
          <a:p>
            <a:pPr algn="l" indent="0" marL="0">
              <a:buNone/>
            </a:pPr>
            <a:r>
              <a:rPr lang="en-US" sz="1240" b="1" dirty="0">
                <a:solidFill>
                  <a:srgbClr val="2E7D4F"/>
                </a:solidFill>
                <a:latin typeface="Aptos" pitchFamily="34" charset="0"/>
                <a:ea typeface="Aptos" pitchFamily="34" charset="-122"/>
                <a:cs typeface="Aptos" pitchFamily="34" charset="-120"/>
              </a:rPr>
              <a:t>Bloque 4 · con el requisito escrito</a:t>
            </a:r>
            <a:endParaRPr lang="en-US" sz="1240" dirty="0"/>
          </a:p>
        </p:txBody>
      </p:sp>
      <p:sp>
        <p:nvSpPr>
          <p:cNvPr id="20" name="Shape 17"/>
          <p:cNvSpPr/>
          <p:nvPr/>
        </p:nvSpPr>
        <p:spPr>
          <a:xfrm>
            <a:off x="10168128" y="2414016"/>
            <a:ext cx="1115568" cy="292608"/>
          </a:xfrm>
          <a:prstGeom prst="rect">
            <a:avLst/>
          </a:prstGeom>
          <a:solidFill>
            <a:srgbClr val="2E7D4F"/>
          </a:solidFill>
          <a:ln w="12700">
            <a:solidFill>
              <a:srgbClr val="2E7D4F"/>
            </a:solidFill>
            <a:prstDash val="solid"/>
          </a:ln>
        </p:spPr>
      </p:sp>
      <p:sp>
        <p:nvSpPr>
          <p:cNvPr id="21" name="Text 18"/>
          <p:cNvSpPr txBox="1"/>
          <p:nvPr/>
        </p:nvSpPr>
        <p:spPr>
          <a:xfrm>
            <a:off x="10222992" y="2459736"/>
            <a:ext cx="1005840" cy="201168"/>
          </a:xfrm>
          <a:prstGeom prst="rect">
            <a:avLst/>
          </a:prstGeom>
          <a:noFill/>
          <a:ln/>
        </p:spPr>
        <p:txBody>
          <a:bodyPr wrap="square" lIns="0" tIns="0" rIns="0" bIns="0" rtlCol="0" anchor="ctr"/>
          <a:lstStyle/>
          <a:p>
            <a:pPr algn="ctr" indent="0" marL="0">
              <a:buNone/>
            </a:pPr>
            <a:r>
              <a:rPr lang="en-US" sz="940" b="1" spc="80" kern="0" dirty="0">
                <a:solidFill>
                  <a:srgbClr val="FFFFFF"/>
                </a:solidFill>
                <a:latin typeface="Aptos" pitchFamily="34" charset="0"/>
                <a:ea typeface="Aptos" pitchFamily="34" charset="-122"/>
                <a:cs typeface="Aptos" pitchFamily="34" charset="-120"/>
              </a:rPr>
              <a:t>RIGOR</a:t>
            </a:r>
            <a:endParaRPr lang="en-US" sz="940" dirty="0"/>
          </a:p>
        </p:txBody>
      </p:sp>
      <p:sp>
        <p:nvSpPr>
          <p:cNvPr id="22" name="Text 19"/>
          <p:cNvSpPr txBox="1"/>
          <p:nvPr/>
        </p:nvSpPr>
        <p:spPr>
          <a:xfrm>
            <a:off x="6437376" y="2779776"/>
            <a:ext cx="4846320" cy="640080"/>
          </a:xfrm>
          <a:prstGeom prst="rect">
            <a:avLst/>
          </a:prstGeom>
          <a:noFill/>
          <a:ln/>
        </p:spPr>
        <p:txBody>
          <a:bodyPr wrap="square" lIns="0" tIns="0" rIns="0" bIns="0" rtlCol="0" anchor="t"/>
          <a:lstStyle/>
          <a:p>
            <a:pPr algn="l" indent="0" marL="0">
              <a:lnSpc>
                <a:spcPct val="114000"/>
              </a:lnSpc>
              <a:buNone/>
            </a:pPr>
            <a:r>
              <a:rPr lang="en-US" sz="1080" dirty="0">
                <a:solidFill>
                  <a:srgbClr val="243B53"/>
                </a:solidFill>
                <a:latin typeface="Aptos" pitchFamily="34" charset="0"/>
                <a:ea typeface="Aptos" pitchFamily="34" charset="-122"/>
                <a:cs typeface="Aptos" pitchFamily="34" charset="-120"/>
              </a:rPr>
              <a:t>Recibió una magnitud, un método y un umbral. Devolvió una prueba que recorre todas las tablas sin suponer sus nombres.</a:t>
            </a:r>
            <a:endParaRPr lang="en-US" sz="1080" dirty="0"/>
          </a:p>
        </p:txBody>
      </p:sp>
      <p:sp>
        <p:nvSpPr>
          <p:cNvPr id="23" name="Text 20"/>
          <p:cNvSpPr txBox="1"/>
          <p:nvPr/>
        </p:nvSpPr>
        <p:spPr>
          <a:xfrm>
            <a:off x="658368" y="3694176"/>
            <a:ext cx="73152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LO QUE AGREGÓ POR SU CUENTA, Y LA VERSIÓN DE LA CLASE NO TENÍA</a:t>
            </a:r>
            <a:endParaRPr lang="en-US" sz="960" dirty="0"/>
          </a:p>
        </p:txBody>
      </p:sp>
      <p:sp>
        <p:nvSpPr>
          <p:cNvPr id="24" name="Shape 21"/>
          <p:cNvSpPr/>
          <p:nvPr/>
        </p:nvSpPr>
        <p:spPr>
          <a:xfrm>
            <a:off x="658368" y="3950208"/>
            <a:ext cx="6675120" cy="1298448"/>
          </a:xfrm>
          <a:prstGeom prst="roundRect">
            <a:avLst>
              <a:gd name="adj" fmla="val 2817"/>
            </a:avLst>
          </a:prstGeom>
          <a:solidFill>
            <a:srgbClr val="102A43"/>
          </a:solidFill>
          <a:ln w="12700">
            <a:solidFill>
              <a:srgbClr val="102A43"/>
            </a:solidFill>
            <a:prstDash val="solid"/>
          </a:ln>
        </p:spPr>
      </p:sp>
      <p:pic>
        <p:nvPicPr>
          <p:cNvPr id="2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4517136"/>
            <a:ext cx="6254496" cy="548640"/>
          </a:xfrm>
          <a:prstGeom prst="rect">
            <a:avLst/>
          </a:prstGeom>
        </p:spPr>
      </p:pic>
      <p:sp>
        <p:nvSpPr>
          <p:cNvPr id="26" name="Shape 22"/>
          <p:cNvSpPr/>
          <p:nvPr/>
        </p:nvSpPr>
        <p:spPr>
          <a:xfrm>
            <a:off x="7552944" y="3950208"/>
            <a:ext cx="3986784" cy="1188720"/>
          </a:xfrm>
          <a:prstGeom prst="rect">
            <a:avLst/>
          </a:prstGeom>
          <a:solidFill>
            <a:srgbClr val="EDE6DA"/>
          </a:solidFill>
          <a:ln w="12700">
            <a:solidFill>
              <a:srgbClr val="EDE6DA"/>
            </a:solidFill>
            <a:prstDash val="solid"/>
          </a:ln>
        </p:spPr>
      </p:sp>
      <p:sp>
        <p:nvSpPr>
          <p:cNvPr id="27" name="Shape 23"/>
          <p:cNvSpPr/>
          <p:nvPr/>
        </p:nvSpPr>
        <p:spPr>
          <a:xfrm>
            <a:off x="7552944" y="3950208"/>
            <a:ext cx="54864" cy="1188720"/>
          </a:xfrm>
          <a:prstGeom prst="rect">
            <a:avLst/>
          </a:prstGeom>
          <a:solidFill>
            <a:srgbClr val="102A43"/>
          </a:solidFill>
          <a:ln w="12700">
            <a:solidFill>
              <a:srgbClr val="102A43"/>
            </a:solidFill>
            <a:prstDash val="solid"/>
          </a:ln>
        </p:spPr>
      </p:sp>
      <p:sp>
        <p:nvSpPr>
          <p:cNvPr id="28" name="Text 24"/>
          <p:cNvSpPr txBox="1"/>
          <p:nvPr/>
        </p:nvSpPr>
        <p:spPr>
          <a:xfrm>
            <a:off x="7790688" y="4078224"/>
            <a:ext cx="3566160" cy="402336"/>
          </a:xfrm>
          <a:prstGeom prst="rect">
            <a:avLst/>
          </a:prstGeom>
          <a:noFill/>
          <a:ln/>
        </p:spPr>
        <p:txBody>
          <a:bodyPr wrap="square" lIns="0" tIns="0" rIns="0" bIns="0" rtlCol="0" anchor="t"/>
          <a:lstStyle/>
          <a:p>
            <a:pPr algn="l" indent="0" marL="0">
              <a:lnSpc>
                <a:spcPct val="110000"/>
              </a:lnSpc>
              <a:buNone/>
            </a:pPr>
            <a:r>
              <a:rPr lang="en-US" sz="1120" b="1" dirty="0">
                <a:solidFill>
                  <a:srgbClr val="102A43"/>
                </a:solidFill>
                <a:latin typeface="Aptos" pitchFamily="34" charset="0"/>
                <a:ea typeface="Aptos" pitchFamily="34" charset="-122"/>
                <a:cs typeface="Aptos" pitchFamily="34" charset="-120"/>
              </a:rPr>
              <a:t>Antes de borrar, comprueba que los datos estaban</a:t>
            </a:r>
            <a:endParaRPr lang="en-US" sz="1120" dirty="0"/>
          </a:p>
        </p:txBody>
      </p:sp>
      <p:sp>
        <p:nvSpPr>
          <p:cNvPr id="29" name="Text 25"/>
          <p:cNvSpPr txBox="1"/>
          <p:nvPr/>
        </p:nvSpPr>
        <p:spPr>
          <a:xfrm>
            <a:off x="7790688" y="4517136"/>
            <a:ext cx="3566160" cy="548640"/>
          </a:xfrm>
          <a:prstGeom prst="rect">
            <a:avLst/>
          </a:prstGeom>
          <a:noFill/>
          <a:ln/>
        </p:spPr>
        <p:txBody>
          <a:bodyPr wrap="square" lIns="0" tIns="0" rIns="0" bIns="0" rtlCol="0" anchor="t"/>
          <a:lstStyle/>
          <a:p>
            <a:pPr algn="l" indent="0" marL="0">
              <a:lnSpc>
                <a:spcPct val="112000"/>
              </a:lnSpc>
              <a:buNone/>
            </a:pPr>
            <a:r>
              <a:rPr lang="en-US" sz="960" dirty="0">
                <a:solidFill>
                  <a:srgbClr val="243B53"/>
                </a:solidFill>
                <a:latin typeface="Aptos" pitchFamily="34" charset="0"/>
                <a:ea typeface="Aptos" pitchFamily="34" charset="-122"/>
                <a:cs typeface="Aptos" pitchFamily="34" charset="-120"/>
              </a:rPr>
              <a:t>Es la defensa contra una prueba que pasa por vacío: si la reserva no se guardó, el borrado daría cero y pasaría sin comprobar nada.</a:t>
            </a:r>
            <a:endParaRPr lang="en-US" sz="960" dirty="0"/>
          </a:p>
        </p:txBody>
      </p:sp>
      <p:sp>
        <p:nvSpPr>
          <p:cNvPr id="30" name="Shape 26"/>
          <p:cNvSpPr/>
          <p:nvPr/>
        </p:nvSpPr>
        <p:spPr>
          <a:xfrm>
            <a:off x="658368" y="5266944"/>
            <a:ext cx="10874959" cy="292608"/>
          </a:xfrm>
          <a:prstGeom prst="rect">
            <a:avLst/>
          </a:prstGeom>
          <a:solidFill>
            <a:srgbClr val="1D3A57"/>
          </a:solidFill>
          <a:ln w="12700">
            <a:solidFill>
              <a:srgbClr val="1D3A57"/>
            </a:solidFill>
            <a:prstDash val="solid"/>
          </a:ln>
        </p:spPr>
      </p:sp>
      <p:sp>
        <p:nvSpPr>
          <p:cNvPr id="31" name="Text 27"/>
          <p:cNvSpPr txBox="1"/>
          <p:nvPr/>
        </p:nvSpPr>
        <p:spPr>
          <a:xfrm>
            <a:off x="932688" y="5303520"/>
            <a:ext cx="10326319" cy="219456"/>
          </a:xfrm>
          <a:prstGeom prst="rect">
            <a:avLst/>
          </a:prstGeom>
          <a:noFill/>
          <a:ln/>
        </p:spPr>
        <p:txBody>
          <a:bodyPr wrap="square" lIns="0" tIns="0" rIns="0" bIns="0" rtlCol="0" anchor="t"/>
          <a:lstStyle/>
          <a:p>
            <a:pPr algn="l" indent="0" marL="0">
              <a:buNone/>
            </a:pPr>
            <a:r>
              <a:rPr lang="en-US" sz="1200" b="1" dirty="0">
                <a:solidFill>
                  <a:srgbClr val="FFFFFF"/>
                </a:solidFill>
                <a:latin typeface="Aptos" pitchFamily="34" charset="0"/>
                <a:ea typeface="Aptos" pitchFamily="34" charset="-122"/>
                <a:cs typeface="Aptos" pitchFamily="34" charset="-120"/>
              </a:rPr>
              <a:t>El modelo es el mismo en los dos casos. Lo que cambió fue que alguien hizo el trabajo de esta sesión.</a:t>
            </a:r>
            <a:endParaRPr lang="en-US" sz="1200" dirty="0"/>
          </a:p>
        </p:txBody>
      </p:sp>
      <p:sp>
        <p:nvSpPr>
          <p:cNvPr id="32" name="Shape 28"/>
          <p:cNvSpPr/>
          <p:nvPr/>
        </p:nvSpPr>
        <p:spPr>
          <a:xfrm>
            <a:off x="658368" y="5669280"/>
            <a:ext cx="10874959" cy="457200"/>
          </a:xfrm>
          <a:prstGeom prst="rect">
            <a:avLst/>
          </a:prstGeom>
          <a:solidFill>
            <a:srgbClr val="102A43"/>
          </a:solidFill>
          <a:ln w="12700">
            <a:solidFill>
              <a:srgbClr val="102A43"/>
            </a:solidFill>
            <a:prstDash val="solid"/>
          </a:ln>
        </p:spPr>
      </p:sp>
      <p:sp>
        <p:nvSpPr>
          <p:cNvPr id="33" name="Text 29"/>
          <p:cNvSpPr txBox="1"/>
          <p:nvPr/>
        </p:nvSpPr>
        <p:spPr>
          <a:xfrm>
            <a:off x="950976" y="570585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Escribir el requisito exige decidir qué le debe el sistema a una persona.</a:t>
            </a:r>
            <a:endParaRPr lang="en-US" sz="13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cerrar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Las dos pruebas comprueban el mismo requisito sobre el mismo sistema y dan resultados opuestos. ¿Cuál de las dos estaba mal escrita?</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Ninguna tiene un error de programación. Compara lo que dice el requisito con lo que mira cada una.</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Otra persona resuelve el mismo problema borrando la fila del evento completa, y las dos pruebas pasan igual. ¿Por qué solo una de las dos soluciones es correcta?</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Lee el inciso final del artículo 7º. ¿Qué pierde el responsable cuando borra el registro?</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Escribir cuatro derechos hizo aparecer tres huecos en un sistema que no cambió ni una línea. Si los huecos ya estaban, ¿qué cambió exactamente?</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Pregúntate qué habría informado la suite el día anterior, y qué habría informado la matriz.</a:t>
            </a:r>
            <a:endParaRPr lang="en-US" sz="114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LA PRIMERA, Y NO POR UN ERROR</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requisito dice «ninguna tabla del sistema». La primera mira una sola y da por cumplido el resto.</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Antes de escribir una prueba de supresión hay que enumerar dónde vive el dato.</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Escribir la prueba mirando el código que borra, en vez del requisito que promete.</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PORQUE LA LEY PIDE CONSERVAR ESA EVIDENCIA</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registro acredita que el responsable cumplió, incluida esta misma supresión.</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Dos implementaciones pasan la prueba; solo una respeta las dos obligaciones a la vez.</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Creer que una prueba en verde confirma que la solución elegida era la correcta.</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CAMBIÓ QUE AHORA HAY CONTRA QUÉ</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Un hueco no existe como hueco hasta que alguien escribe la promesa que nadie está comprobando.</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La suite y la matriz decían la verdad sobre lo que existía. Faltaba el requisito.</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Esperar que una herramienta descubra la ausencia de algo que nadie declaró.</a:t>
            </a:r>
            <a:endParaRPr lang="en-US" sz="102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artefactos, tres afirmaciones distintas</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No se reemplazan entre sí. Confundir lo que afirma cada uno lleva a creer que un sistema está probado cuando lo único que está es en verde.</a:t>
            </a:r>
            <a:endParaRPr lang="en-US" sz="1420" dirty="0"/>
          </a:p>
        </p:txBody>
      </p:sp>
      <p:sp>
        <p:nvSpPr>
          <p:cNvPr id="11" name="Shape 8"/>
          <p:cNvSpPr/>
          <p:nvPr/>
        </p:nvSpPr>
        <p:spPr>
          <a:xfrm>
            <a:off x="658368" y="2340864"/>
            <a:ext cx="3527450" cy="2286000"/>
          </a:xfrm>
          <a:prstGeom prst="rect">
            <a:avLst/>
          </a:prstGeom>
          <a:solidFill>
            <a:srgbClr val="FFFFFF"/>
          </a:solidFill>
          <a:ln w="12700">
            <a:solidFill>
              <a:srgbClr val="FFFFFF"/>
            </a:solidFill>
            <a:prstDash val="solid"/>
          </a:ln>
        </p:spPr>
      </p:sp>
      <p:sp>
        <p:nvSpPr>
          <p:cNvPr id="12" name="Shape 9"/>
          <p:cNvSpPr/>
          <p:nvPr/>
        </p:nvSpPr>
        <p:spPr>
          <a:xfrm>
            <a:off x="658368" y="2340864"/>
            <a:ext cx="3527450" cy="54864"/>
          </a:xfrm>
          <a:prstGeom prst="rect">
            <a:avLst/>
          </a:prstGeom>
          <a:solidFill>
            <a:srgbClr val="102A43"/>
          </a:solidFill>
          <a:ln w="12700">
            <a:solidFill>
              <a:srgbClr val="102A43"/>
            </a:solidFill>
            <a:prstDash val="solid"/>
          </a:ln>
        </p:spPr>
      </p:sp>
      <p:sp>
        <p:nvSpPr>
          <p:cNvPr id="13" name="Text 10"/>
          <p:cNvSpPr txBox="1"/>
          <p:nvPr/>
        </p:nvSpPr>
        <p:spPr>
          <a:xfrm>
            <a:off x="896112" y="2523744"/>
            <a:ext cx="3051962" cy="310896"/>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La suite</a:t>
            </a:r>
            <a:endParaRPr lang="en-US" sz="1700" dirty="0"/>
          </a:p>
        </p:txBody>
      </p:sp>
      <p:sp>
        <p:nvSpPr>
          <p:cNvPr id="14" name="Text 11"/>
          <p:cNvSpPr txBox="1"/>
          <p:nvPr/>
        </p:nvSpPr>
        <p:spPr>
          <a:xfrm>
            <a:off x="896112" y="2944368"/>
            <a:ext cx="146304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SÍ AFIRMA</a:t>
            </a:r>
            <a:endParaRPr lang="en-US" sz="960" dirty="0"/>
          </a:p>
        </p:txBody>
      </p:sp>
      <p:sp>
        <p:nvSpPr>
          <p:cNvPr id="15" name="Text 12"/>
          <p:cNvSpPr txBox="1"/>
          <p:nvPr/>
        </p:nvSpPr>
        <p:spPr>
          <a:xfrm>
            <a:off x="896112" y="3163824"/>
            <a:ext cx="3051962" cy="585216"/>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Que los casos que existen se comportaron como alguien esperaba.</a:t>
            </a:r>
            <a:endParaRPr lang="en-US" sz="1100" dirty="0"/>
          </a:p>
        </p:txBody>
      </p:sp>
      <p:sp>
        <p:nvSpPr>
          <p:cNvPr id="16" name="Shape 13"/>
          <p:cNvSpPr/>
          <p:nvPr/>
        </p:nvSpPr>
        <p:spPr>
          <a:xfrm>
            <a:off x="896112" y="3840480"/>
            <a:ext cx="3051962" cy="0"/>
          </a:xfrm>
          <a:prstGeom prst="line">
            <a:avLst/>
          </a:prstGeom>
          <a:noFill/>
          <a:ln w="12700">
            <a:solidFill>
              <a:srgbClr val="D8CFC4"/>
            </a:solidFill>
            <a:prstDash val="solid"/>
            <a:headEnd type="none"/>
            <a:tailEnd type="none"/>
          </a:ln>
        </p:spPr>
      </p:sp>
      <p:sp>
        <p:nvSpPr>
          <p:cNvPr id="17" name="Text 14"/>
          <p:cNvSpPr txBox="1"/>
          <p:nvPr/>
        </p:nvSpPr>
        <p:spPr>
          <a:xfrm>
            <a:off x="896112" y="3931920"/>
            <a:ext cx="173736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NO PUEDE AFIRMAR</a:t>
            </a:r>
            <a:endParaRPr lang="en-US" sz="960" dirty="0"/>
          </a:p>
        </p:txBody>
      </p:sp>
      <p:sp>
        <p:nvSpPr>
          <p:cNvPr id="18" name="Text 15"/>
          <p:cNvSpPr txBox="1"/>
          <p:nvPr/>
        </p:nvSpPr>
        <p:spPr>
          <a:xfrm>
            <a:off x="896112" y="4151376"/>
            <a:ext cx="3051962" cy="384048"/>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Qué quedó sin probar.</a:t>
            </a:r>
            <a:endParaRPr lang="en-US" sz="1100" dirty="0"/>
          </a:p>
        </p:txBody>
      </p:sp>
      <p:sp>
        <p:nvSpPr>
          <p:cNvPr id="19" name="Shape 16"/>
          <p:cNvSpPr/>
          <p:nvPr/>
        </p:nvSpPr>
        <p:spPr>
          <a:xfrm>
            <a:off x="4332122" y="2340864"/>
            <a:ext cx="3527450" cy="2286000"/>
          </a:xfrm>
          <a:prstGeom prst="rect">
            <a:avLst/>
          </a:prstGeom>
          <a:solidFill>
            <a:srgbClr val="FFFFFF"/>
          </a:solidFill>
          <a:ln w="12700">
            <a:solidFill>
              <a:srgbClr val="FFFFFF"/>
            </a:solidFill>
            <a:prstDash val="solid"/>
          </a:ln>
        </p:spPr>
      </p:sp>
      <p:sp>
        <p:nvSpPr>
          <p:cNvPr id="20" name="Shape 17"/>
          <p:cNvSpPr/>
          <p:nvPr/>
        </p:nvSpPr>
        <p:spPr>
          <a:xfrm>
            <a:off x="4332122" y="2340864"/>
            <a:ext cx="3527450" cy="54864"/>
          </a:xfrm>
          <a:prstGeom prst="rect">
            <a:avLst/>
          </a:prstGeom>
          <a:solidFill>
            <a:srgbClr val="8A6A12"/>
          </a:solidFill>
          <a:ln w="12700">
            <a:solidFill>
              <a:srgbClr val="8A6A12"/>
            </a:solidFill>
            <a:prstDash val="solid"/>
          </a:ln>
        </p:spPr>
      </p:sp>
      <p:sp>
        <p:nvSpPr>
          <p:cNvPr id="21" name="Text 18"/>
          <p:cNvSpPr txBox="1"/>
          <p:nvPr/>
        </p:nvSpPr>
        <p:spPr>
          <a:xfrm>
            <a:off x="4569866" y="2523744"/>
            <a:ext cx="3051962" cy="310896"/>
          </a:xfrm>
          <a:prstGeom prst="rect">
            <a:avLst/>
          </a:prstGeom>
          <a:noFill/>
          <a:ln/>
        </p:spPr>
        <p:txBody>
          <a:bodyPr wrap="square" lIns="0" tIns="0" rIns="0" bIns="0" rtlCol="0" anchor="t"/>
          <a:lstStyle/>
          <a:p>
            <a:pPr algn="l" indent="0" marL="0">
              <a:buNone/>
            </a:pPr>
            <a:r>
              <a:rPr lang="en-US" sz="1700" b="1" dirty="0">
                <a:solidFill>
                  <a:srgbClr val="8A6A12"/>
                </a:solidFill>
                <a:latin typeface="Aptos" pitchFamily="34" charset="0"/>
                <a:ea typeface="Aptos" pitchFamily="34" charset="-122"/>
                <a:cs typeface="Aptos" pitchFamily="34" charset="-120"/>
              </a:rPr>
              <a:t>El plan de pruebas</a:t>
            </a:r>
            <a:endParaRPr lang="en-US" sz="1700" dirty="0"/>
          </a:p>
        </p:txBody>
      </p:sp>
      <p:sp>
        <p:nvSpPr>
          <p:cNvPr id="22" name="Text 19"/>
          <p:cNvSpPr txBox="1"/>
          <p:nvPr/>
        </p:nvSpPr>
        <p:spPr>
          <a:xfrm>
            <a:off x="4569866" y="2944368"/>
            <a:ext cx="146304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SÍ AFIRMA</a:t>
            </a:r>
            <a:endParaRPr lang="en-US" sz="960" dirty="0"/>
          </a:p>
        </p:txBody>
      </p:sp>
      <p:sp>
        <p:nvSpPr>
          <p:cNvPr id="23" name="Text 20"/>
          <p:cNvSpPr txBox="1"/>
          <p:nvPr/>
        </p:nvSpPr>
        <p:spPr>
          <a:xfrm>
            <a:off x="4569866" y="3163824"/>
            <a:ext cx="3051962" cy="585216"/>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Qué se decidió probar, qué queda fuera y cuándo es suficiente.</a:t>
            </a:r>
            <a:endParaRPr lang="en-US" sz="1100" dirty="0"/>
          </a:p>
        </p:txBody>
      </p:sp>
      <p:sp>
        <p:nvSpPr>
          <p:cNvPr id="24" name="Shape 21"/>
          <p:cNvSpPr/>
          <p:nvPr/>
        </p:nvSpPr>
        <p:spPr>
          <a:xfrm>
            <a:off x="4569866" y="3840480"/>
            <a:ext cx="3051962" cy="0"/>
          </a:xfrm>
          <a:prstGeom prst="line">
            <a:avLst/>
          </a:prstGeom>
          <a:noFill/>
          <a:ln w="12700">
            <a:solidFill>
              <a:srgbClr val="D8CFC4"/>
            </a:solidFill>
            <a:prstDash val="solid"/>
            <a:headEnd type="none"/>
            <a:tailEnd type="none"/>
          </a:ln>
        </p:spPr>
      </p:sp>
      <p:sp>
        <p:nvSpPr>
          <p:cNvPr id="25" name="Text 22"/>
          <p:cNvSpPr txBox="1"/>
          <p:nvPr/>
        </p:nvSpPr>
        <p:spPr>
          <a:xfrm>
            <a:off x="4569866" y="3931920"/>
            <a:ext cx="173736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NO PUEDE AFIRMAR</a:t>
            </a:r>
            <a:endParaRPr lang="en-US" sz="960" dirty="0"/>
          </a:p>
        </p:txBody>
      </p:sp>
      <p:sp>
        <p:nvSpPr>
          <p:cNvPr id="26" name="Text 23"/>
          <p:cNvSpPr txBox="1"/>
          <p:nvPr/>
        </p:nvSpPr>
        <p:spPr>
          <a:xfrm>
            <a:off x="4569866" y="4151376"/>
            <a:ext cx="3051962" cy="384048"/>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Que lo decidido se haya hecho.</a:t>
            </a:r>
            <a:endParaRPr lang="en-US" sz="1100" dirty="0"/>
          </a:p>
        </p:txBody>
      </p:sp>
      <p:sp>
        <p:nvSpPr>
          <p:cNvPr id="27" name="Shape 24"/>
          <p:cNvSpPr/>
          <p:nvPr/>
        </p:nvSpPr>
        <p:spPr>
          <a:xfrm>
            <a:off x="8005877" y="2340864"/>
            <a:ext cx="3527450" cy="2286000"/>
          </a:xfrm>
          <a:prstGeom prst="rect">
            <a:avLst/>
          </a:prstGeom>
          <a:solidFill>
            <a:srgbClr val="FFFFFF"/>
          </a:solidFill>
          <a:ln w="12700">
            <a:solidFill>
              <a:srgbClr val="FFFFFF"/>
            </a:solidFill>
            <a:prstDash val="solid"/>
          </a:ln>
        </p:spPr>
      </p:sp>
      <p:sp>
        <p:nvSpPr>
          <p:cNvPr id="28" name="Shape 25"/>
          <p:cNvSpPr/>
          <p:nvPr/>
        </p:nvSpPr>
        <p:spPr>
          <a:xfrm>
            <a:off x="8005877" y="2340864"/>
            <a:ext cx="3527450" cy="54864"/>
          </a:xfrm>
          <a:prstGeom prst="rect">
            <a:avLst/>
          </a:prstGeom>
          <a:solidFill>
            <a:srgbClr val="2E7D4F"/>
          </a:solidFill>
          <a:ln w="12700">
            <a:solidFill>
              <a:srgbClr val="2E7D4F"/>
            </a:solidFill>
            <a:prstDash val="solid"/>
          </a:ln>
        </p:spPr>
      </p:sp>
      <p:sp>
        <p:nvSpPr>
          <p:cNvPr id="29" name="Text 26"/>
          <p:cNvSpPr txBox="1"/>
          <p:nvPr/>
        </p:nvSpPr>
        <p:spPr>
          <a:xfrm>
            <a:off x="8243621" y="2523744"/>
            <a:ext cx="3051962" cy="310896"/>
          </a:xfrm>
          <a:prstGeom prst="rect">
            <a:avLst/>
          </a:prstGeom>
          <a:noFill/>
          <a:ln/>
        </p:spPr>
        <p:txBody>
          <a:bodyPr wrap="square" lIns="0" tIns="0" rIns="0" bIns="0" rtlCol="0" anchor="t"/>
          <a:lstStyle/>
          <a:p>
            <a:pPr algn="l" indent="0" marL="0">
              <a:buNone/>
            </a:pPr>
            <a:r>
              <a:rPr lang="en-US" sz="1700" b="1" dirty="0">
                <a:solidFill>
                  <a:srgbClr val="2E7D4F"/>
                </a:solidFill>
                <a:latin typeface="Aptos" pitchFamily="34" charset="0"/>
                <a:ea typeface="Aptos" pitchFamily="34" charset="-122"/>
                <a:cs typeface="Aptos" pitchFamily="34" charset="-120"/>
              </a:rPr>
              <a:t>La matriz</a:t>
            </a:r>
            <a:endParaRPr lang="en-US" sz="1700" dirty="0"/>
          </a:p>
        </p:txBody>
      </p:sp>
      <p:sp>
        <p:nvSpPr>
          <p:cNvPr id="30" name="Text 27"/>
          <p:cNvSpPr txBox="1"/>
          <p:nvPr/>
        </p:nvSpPr>
        <p:spPr>
          <a:xfrm>
            <a:off x="8243621" y="2944368"/>
            <a:ext cx="146304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SÍ AFIRMA</a:t>
            </a:r>
            <a:endParaRPr lang="en-US" sz="960" dirty="0"/>
          </a:p>
        </p:txBody>
      </p:sp>
      <p:sp>
        <p:nvSpPr>
          <p:cNvPr id="31" name="Text 28"/>
          <p:cNvSpPr txBox="1"/>
          <p:nvPr/>
        </p:nvSpPr>
        <p:spPr>
          <a:xfrm>
            <a:off x="8243621" y="3163824"/>
            <a:ext cx="3051962" cy="585216"/>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Si lo decidido y lo escrito coinciden, y qué no responde a nada.</a:t>
            </a:r>
            <a:endParaRPr lang="en-US" sz="1100" dirty="0"/>
          </a:p>
        </p:txBody>
      </p:sp>
      <p:sp>
        <p:nvSpPr>
          <p:cNvPr id="32" name="Shape 29"/>
          <p:cNvSpPr/>
          <p:nvPr/>
        </p:nvSpPr>
        <p:spPr>
          <a:xfrm>
            <a:off x="8243621" y="3840480"/>
            <a:ext cx="3051962" cy="0"/>
          </a:xfrm>
          <a:prstGeom prst="line">
            <a:avLst/>
          </a:prstGeom>
          <a:noFill/>
          <a:ln w="12700">
            <a:solidFill>
              <a:srgbClr val="D8CFC4"/>
            </a:solidFill>
            <a:prstDash val="solid"/>
            <a:headEnd type="none"/>
            <a:tailEnd type="none"/>
          </a:ln>
        </p:spPr>
      </p:sp>
      <p:sp>
        <p:nvSpPr>
          <p:cNvPr id="33" name="Text 30"/>
          <p:cNvSpPr txBox="1"/>
          <p:nvPr/>
        </p:nvSpPr>
        <p:spPr>
          <a:xfrm>
            <a:off x="8243621" y="3931920"/>
            <a:ext cx="173736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NO PUEDE AFIRMAR</a:t>
            </a:r>
            <a:endParaRPr lang="en-US" sz="960" dirty="0"/>
          </a:p>
        </p:txBody>
      </p:sp>
      <p:sp>
        <p:nvSpPr>
          <p:cNvPr id="34" name="Text 31"/>
          <p:cNvSpPr txBox="1"/>
          <p:nvPr/>
        </p:nvSpPr>
        <p:spPr>
          <a:xfrm>
            <a:off x="8243621" y="4151376"/>
            <a:ext cx="3051962" cy="384048"/>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Si la prueba comprueba el requisito.</a:t>
            </a:r>
            <a:endParaRPr lang="en-US" sz="1100" dirty="0"/>
          </a:p>
        </p:txBody>
      </p:sp>
      <p:sp>
        <p:nvSpPr>
          <p:cNvPr id="35" name="Shape 32"/>
          <p:cNvSpPr/>
          <p:nvPr/>
        </p:nvSpPr>
        <p:spPr>
          <a:xfrm>
            <a:off x="658368" y="4791456"/>
            <a:ext cx="10874959" cy="694944"/>
          </a:xfrm>
          <a:prstGeom prst="rect">
            <a:avLst/>
          </a:prstGeom>
          <a:solidFill>
            <a:srgbClr val="F2E7D9"/>
          </a:solidFill>
          <a:ln w="12700">
            <a:solidFill>
              <a:srgbClr val="F2E7D9"/>
            </a:solidFill>
            <a:prstDash val="solid"/>
          </a:ln>
        </p:spPr>
      </p:sp>
      <p:sp>
        <p:nvSpPr>
          <p:cNvPr id="36" name="Shape 33"/>
          <p:cNvSpPr/>
          <p:nvPr/>
        </p:nvSpPr>
        <p:spPr>
          <a:xfrm>
            <a:off x="658368" y="4791456"/>
            <a:ext cx="54864" cy="694944"/>
          </a:xfrm>
          <a:prstGeom prst="rect">
            <a:avLst/>
          </a:prstGeom>
          <a:solidFill>
            <a:srgbClr val="B3181E"/>
          </a:solidFill>
          <a:ln w="12700">
            <a:solidFill>
              <a:srgbClr val="B3181E"/>
            </a:solidFill>
            <a:prstDash val="solid"/>
          </a:ln>
        </p:spPr>
      </p:sp>
      <p:sp>
        <p:nvSpPr>
          <p:cNvPr id="37" name="Text 34"/>
          <p:cNvSpPr txBox="1"/>
          <p:nvPr/>
        </p:nvSpPr>
        <p:spPr>
          <a:xfrm>
            <a:off x="932688" y="4882896"/>
            <a:ext cx="4023360" cy="237744"/>
          </a:xfrm>
          <a:prstGeom prst="rect">
            <a:avLst/>
          </a:prstGeom>
          <a:noFill/>
          <a:ln/>
        </p:spPr>
        <p:txBody>
          <a:bodyPr wrap="square" lIns="0" tIns="0" rIns="0" bIns="0" rtlCol="0" anchor="t"/>
          <a:lstStyle/>
          <a:p>
            <a:pPr algn="l" indent="0" marL="0">
              <a:buNone/>
            </a:pPr>
            <a:r>
              <a:rPr lang="en-US" sz="1140" b="1" dirty="0">
                <a:solidFill>
                  <a:srgbClr val="B3181E"/>
                </a:solidFill>
                <a:latin typeface="Aptos" pitchFamily="34" charset="0"/>
                <a:ea typeface="Aptos" pitchFamily="34" charset="-122"/>
                <a:cs typeface="Aptos" pitchFamily="34" charset="-120"/>
              </a:rPr>
              <a:t>Lo que tapa el hueco común de los tres</a:t>
            </a:r>
            <a:endParaRPr lang="en-US" sz="1140" dirty="0"/>
          </a:p>
        </p:txBody>
      </p:sp>
      <p:sp>
        <p:nvSpPr>
          <p:cNvPr id="38" name="Text 35"/>
          <p:cNvSpPr txBox="1"/>
          <p:nvPr/>
        </p:nvSpPr>
        <p:spPr>
          <a:xfrm>
            <a:off x="932688" y="5120640"/>
            <a:ext cx="10326319"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Alterar el código a propósito y exigir el rojo: el único que produce evidencia en vez de una afirmación.</a:t>
            </a:r>
            <a:endParaRPr lang="en-US" sz="1160" dirty="0"/>
          </a:p>
        </p:txBody>
      </p:sp>
      <p:sp>
        <p:nvSpPr>
          <p:cNvPr id="39" name="Shape 36"/>
          <p:cNvSpPr/>
          <p:nvPr/>
        </p:nvSpPr>
        <p:spPr>
          <a:xfrm>
            <a:off x="658368" y="5669280"/>
            <a:ext cx="10874959" cy="457200"/>
          </a:xfrm>
          <a:prstGeom prst="rect">
            <a:avLst/>
          </a:prstGeom>
          <a:solidFill>
            <a:srgbClr val="102A43"/>
          </a:solidFill>
          <a:ln w="12700">
            <a:solidFill>
              <a:srgbClr val="102A43"/>
            </a:solidFill>
            <a:prstDash val="solid"/>
          </a:ln>
        </p:spPr>
      </p:sp>
      <p:sp>
        <p:nvSpPr>
          <p:cNvPr id="40" name="Text 37"/>
          <p:cNvSpPr txBox="1"/>
          <p:nvPr/>
        </p:nvSpPr>
        <p:spPr>
          <a:xfrm>
            <a:off x="950976" y="570585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Cuando la matriz y el agente se contradijeron, lo resolvió un mutante.</a:t>
            </a:r>
            <a:endParaRPr lang="en-US" sz="138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50</a:t>
            </a:r>
            <a:endParaRPr lang="en-US" sz="1400" dirty="0"/>
          </a:p>
        </p:txBody>
      </p:sp>
      <p:sp>
        <p:nvSpPr>
          <p:cNvPr id="8" name="Text 5"/>
          <p:cNvSpPr txBox="1"/>
          <p:nvPr/>
        </p:nvSpPr>
        <p:spPr>
          <a:xfrm>
            <a:off x="658368" y="1188720"/>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LO QUE SE PUEDE SOSTENER AL SALIR</a:t>
            </a:r>
            <a:endParaRPr lang="en-US" sz="960" dirty="0"/>
          </a:p>
        </p:txBody>
      </p:sp>
      <p:sp>
        <p:nvSpPr>
          <p:cNvPr id="9" name="Shape 6"/>
          <p:cNvSpPr/>
          <p:nvPr/>
        </p:nvSpPr>
        <p:spPr>
          <a:xfrm>
            <a:off x="658368" y="1554480"/>
            <a:ext cx="2609012" cy="1426464"/>
          </a:xfrm>
          <a:prstGeom prst="rect">
            <a:avLst/>
          </a:prstGeom>
          <a:solidFill>
            <a:srgbClr val="1D3A57"/>
          </a:solidFill>
          <a:ln w="12700">
            <a:solidFill>
              <a:srgbClr val="1D3A57"/>
            </a:solidFill>
            <a:prstDash val="solid"/>
          </a:ln>
        </p:spPr>
      </p:sp>
      <p:sp>
        <p:nvSpPr>
          <p:cNvPr id="10" name="Shape 7"/>
          <p:cNvSpPr/>
          <p:nvPr/>
        </p:nvSpPr>
        <p:spPr>
          <a:xfrm>
            <a:off x="658368" y="1554480"/>
            <a:ext cx="2609012" cy="54864"/>
          </a:xfrm>
          <a:prstGeom prst="rect">
            <a:avLst/>
          </a:prstGeom>
          <a:solidFill>
            <a:srgbClr val="D62027"/>
          </a:solidFill>
          <a:ln w="12700">
            <a:solidFill>
              <a:srgbClr val="D62027"/>
            </a:solidFill>
            <a:prstDash val="solid"/>
          </a:ln>
        </p:spPr>
      </p:sp>
      <p:sp>
        <p:nvSpPr>
          <p:cNvPr id="11" name="Text 8"/>
          <p:cNvSpPr txBox="1"/>
          <p:nvPr/>
        </p:nvSpPr>
        <p:spPr>
          <a:xfrm>
            <a:off x="859536" y="1682496"/>
            <a:ext cx="457200" cy="274320"/>
          </a:xfrm>
          <a:prstGeom prst="rect">
            <a:avLst/>
          </a:prstGeom>
          <a:noFill/>
          <a:ln/>
        </p:spPr>
        <p:txBody>
          <a:bodyPr wrap="square" lIns="0" tIns="0" rIns="0" bIns="0" rtlCol="0" anchor="t"/>
          <a:lstStyle/>
          <a:p>
            <a:pPr algn="l" indent="0" marL="0">
              <a:buNone/>
            </a:pPr>
            <a:r>
              <a:rPr lang="en-US" sz="1800" b="1" dirty="0">
                <a:solidFill>
                  <a:srgbClr val="E0BC5A"/>
                </a:solidFill>
                <a:latin typeface="Aptos Display" pitchFamily="34" charset="0"/>
                <a:ea typeface="Aptos Display" pitchFamily="34" charset="-122"/>
                <a:cs typeface="Aptos Display" pitchFamily="34" charset="-120"/>
              </a:rPr>
              <a:t>1</a:t>
            </a:r>
            <a:endParaRPr lang="en-US" sz="1800" dirty="0"/>
          </a:p>
        </p:txBody>
      </p:sp>
      <p:sp>
        <p:nvSpPr>
          <p:cNvPr id="12" name="Text 9"/>
          <p:cNvSpPr txBox="1"/>
          <p:nvPr/>
        </p:nvSpPr>
        <p:spPr>
          <a:xfrm>
            <a:off x="859536" y="1993392"/>
            <a:ext cx="2206676" cy="603504"/>
          </a:xfrm>
          <a:prstGeom prst="rect">
            <a:avLst/>
          </a:prstGeom>
          <a:noFill/>
          <a:ln/>
        </p:spPr>
        <p:txBody>
          <a:bodyPr wrap="square" lIns="0" tIns="0" rIns="0" bIns="0" rtlCol="0" anchor="t"/>
          <a:lstStyle/>
          <a:p>
            <a:pPr algn="l" indent="0" marL="0">
              <a:lnSpc>
                <a:spcPct val="112000"/>
              </a:lnSpc>
              <a:buNone/>
            </a:pPr>
            <a:r>
              <a:rPr lang="en-US" sz="1160" b="1" dirty="0">
                <a:solidFill>
                  <a:srgbClr val="FFFFFF"/>
                </a:solidFill>
                <a:latin typeface="Aptos" pitchFamily="34" charset="0"/>
                <a:ea typeface="Aptos" pitchFamily="34" charset="-122"/>
                <a:cs typeface="Aptos" pitchFamily="34" charset="-120"/>
              </a:rPr>
              <a:t>Estas pruebas comprueban estos requisitos</a:t>
            </a:r>
            <a:endParaRPr lang="en-US" sz="1160" dirty="0"/>
          </a:p>
        </p:txBody>
      </p:sp>
      <p:sp>
        <p:nvSpPr>
          <p:cNvPr id="13" name="Text 10"/>
          <p:cNvSpPr txBox="1"/>
          <p:nvPr/>
        </p:nvSpPr>
        <p:spPr>
          <a:xfrm>
            <a:off x="859536" y="2651760"/>
            <a:ext cx="2206676" cy="274320"/>
          </a:xfrm>
          <a:prstGeom prst="rect">
            <a:avLst/>
          </a:prstGeom>
          <a:noFill/>
          <a:ln/>
        </p:spPr>
        <p:txBody>
          <a:bodyPr wrap="square" lIns="0" tIns="0" rIns="0" bIns="0" rtlCol="0" anchor="t"/>
          <a:lstStyle/>
          <a:p>
            <a:pPr algn="l" indent="0" marL="0">
              <a:lnSpc>
                <a:spcPct val="110000"/>
              </a:lnSpc>
              <a:buNone/>
            </a:pPr>
            <a:r>
              <a:rPr lang="en-US" sz="980" dirty="0">
                <a:solidFill>
                  <a:srgbClr val="E6EEF7"/>
                </a:solidFill>
                <a:latin typeface="Aptos" pitchFamily="34" charset="0"/>
                <a:ea typeface="Aptos" pitchFamily="34" charset="-122"/>
                <a:cs typeface="Aptos" pitchFamily="34" charset="-120"/>
              </a:rPr>
              <a:t>y puedo mostrar la matriz que los cruza</a:t>
            </a:r>
            <a:endParaRPr lang="en-US" sz="980" dirty="0"/>
          </a:p>
        </p:txBody>
      </p:sp>
      <p:sp>
        <p:nvSpPr>
          <p:cNvPr id="14" name="Shape 11"/>
          <p:cNvSpPr/>
          <p:nvPr/>
        </p:nvSpPr>
        <p:spPr>
          <a:xfrm>
            <a:off x="3413684" y="1554480"/>
            <a:ext cx="2609012" cy="1426464"/>
          </a:xfrm>
          <a:prstGeom prst="rect">
            <a:avLst/>
          </a:prstGeom>
          <a:solidFill>
            <a:srgbClr val="1D3A57"/>
          </a:solidFill>
          <a:ln w="12700">
            <a:solidFill>
              <a:srgbClr val="1D3A57"/>
            </a:solidFill>
            <a:prstDash val="solid"/>
          </a:ln>
        </p:spPr>
      </p:sp>
      <p:sp>
        <p:nvSpPr>
          <p:cNvPr id="15" name="Shape 12"/>
          <p:cNvSpPr/>
          <p:nvPr/>
        </p:nvSpPr>
        <p:spPr>
          <a:xfrm>
            <a:off x="3413684" y="1554480"/>
            <a:ext cx="2609012" cy="54864"/>
          </a:xfrm>
          <a:prstGeom prst="rect">
            <a:avLst/>
          </a:prstGeom>
          <a:solidFill>
            <a:srgbClr val="D62027"/>
          </a:solidFill>
          <a:ln w="12700">
            <a:solidFill>
              <a:srgbClr val="D62027"/>
            </a:solidFill>
            <a:prstDash val="solid"/>
          </a:ln>
        </p:spPr>
      </p:sp>
      <p:sp>
        <p:nvSpPr>
          <p:cNvPr id="16" name="Text 13"/>
          <p:cNvSpPr txBox="1"/>
          <p:nvPr/>
        </p:nvSpPr>
        <p:spPr>
          <a:xfrm>
            <a:off x="3614852" y="1682496"/>
            <a:ext cx="457200" cy="274320"/>
          </a:xfrm>
          <a:prstGeom prst="rect">
            <a:avLst/>
          </a:prstGeom>
          <a:noFill/>
          <a:ln/>
        </p:spPr>
        <p:txBody>
          <a:bodyPr wrap="square" lIns="0" tIns="0" rIns="0" bIns="0" rtlCol="0" anchor="t"/>
          <a:lstStyle/>
          <a:p>
            <a:pPr algn="l" indent="0" marL="0">
              <a:buNone/>
            </a:pPr>
            <a:r>
              <a:rPr lang="en-US" sz="1800" b="1" dirty="0">
                <a:solidFill>
                  <a:srgbClr val="E0BC5A"/>
                </a:solidFill>
                <a:latin typeface="Aptos Display" pitchFamily="34" charset="0"/>
                <a:ea typeface="Aptos Display" pitchFamily="34" charset="-122"/>
                <a:cs typeface="Aptos Display" pitchFamily="34" charset="-120"/>
              </a:rPr>
              <a:t>2</a:t>
            </a:r>
            <a:endParaRPr lang="en-US" sz="1800" dirty="0"/>
          </a:p>
        </p:txBody>
      </p:sp>
      <p:sp>
        <p:nvSpPr>
          <p:cNvPr id="17" name="Text 14"/>
          <p:cNvSpPr txBox="1"/>
          <p:nvPr/>
        </p:nvSpPr>
        <p:spPr>
          <a:xfrm>
            <a:off x="3614852" y="1993392"/>
            <a:ext cx="2206676" cy="603504"/>
          </a:xfrm>
          <a:prstGeom prst="rect">
            <a:avLst/>
          </a:prstGeom>
          <a:noFill/>
          <a:ln/>
        </p:spPr>
        <p:txBody>
          <a:bodyPr wrap="square" lIns="0" tIns="0" rIns="0" bIns="0" rtlCol="0" anchor="t"/>
          <a:lstStyle/>
          <a:p>
            <a:pPr algn="l" indent="0" marL="0">
              <a:lnSpc>
                <a:spcPct val="112000"/>
              </a:lnSpc>
              <a:buNone/>
            </a:pPr>
            <a:r>
              <a:rPr lang="en-US" sz="1160" b="1" dirty="0">
                <a:solidFill>
                  <a:srgbClr val="FFFFFF"/>
                </a:solidFill>
                <a:latin typeface="Aptos" pitchFamily="34" charset="0"/>
                <a:ea typeface="Aptos" pitchFamily="34" charset="-122"/>
                <a:cs typeface="Aptos" pitchFamily="34" charset="-120"/>
              </a:rPr>
              <a:t>Estos otros no tienen ninguna</a:t>
            </a:r>
            <a:endParaRPr lang="en-US" sz="1160" dirty="0"/>
          </a:p>
        </p:txBody>
      </p:sp>
      <p:sp>
        <p:nvSpPr>
          <p:cNvPr id="18" name="Text 15"/>
          <p:cNvSpPr txBox="1"/>
          <p:nvPr/>
        </p:nvSpPr>
        <p:spPr>
          <a:xfrm>
            <a:off x="3614852" y="2651760"/>
            <a:ext cx="2206676" cy="274320"/>
          </a:xfrm>
          <a:prstGeom prst="rect">
            <a:avLst/>
          </a:prstGeom>
          <a:noFill/>
          <a:ln/>
        </p:spPr>
        <p:txBody>
          <a:bodyPr wrap="square" lIns="0" tIns="0" rIns="0" bIns="0" rtlCol="0" anchor="t"/>
          <a:lstStyle/>
          <a:p>
            <a:pPr algn="l" indent="0" marL="0">
              <a:lnSpc>
                <a:spcPct val="110000"/>
              </a:lnSpc>
              <a:buNone/>
            </a:pPr>
            <a:r>
              <a:rPr lang="en-US" sz="980" dirty="0">
                <a:solidFill>
                  <a:srgbClr val="E6EEF7"/>
                </a:solidFill>
                <a:latin typeface="Aptos" pitchFamily="34" charset="0"/>
                <a:ea typeface="Aptos" pitchFamily="34" charset="-122"/>
                <a:cs typeface="Aptos" pitchFamily="34" charset="-120"/>
              </a:rPr>
              <a:t>y está escrito por qué, y con qué prioridad</a:t>
            </a:r>
            <a:endParaRPr lang="en-US" sz="980" dirty="0"/>
          </a:p>
        </p:txBody>
      </p:sp>
      <p:sp>
        <p:nvSpPr>
          <p:cNvPr id="19" name="Shape 16"/>
          <p:cNvSpPr/>
          <p:nvPr/>
        </p:nvSpPr>
        <p:spPr>
          <a:xfrm>
            <a:off x="6169000" y="1554480"/>
            <a:ext cx="2609012" cy="1426464"/>
          </a:xfrm>
          <a:prstGeom prst="rect">
            <a:avLst/>
          </a:prstGeom>
          <a:solidFill>
            <a:srgbClr val="1D3A57"/>
          </a:solidFill>
          <a:ln w="12700">
            <a:solidFill>
              <a:srgbClr val="1D3A57"/>
            </a:solidFill>
            <a:prstDash val="solid"/>
          </a:ln>
        </p:spPr>
      </p:sp>
      <p:sp>
        <p:nvSpPr>
          <p:cNvPr id="20" name="Shape 17"/>
          <p:cNvSpPr/>
          <p:nvPr/>
        </p:nvSpPr>
        <p:spPr>
          <a:xfrm>
            <a:off x="6169000" y="1554480"/>
            <a:ext cx="2609012" cy="54864"/>
          </a:xfrm>
          <a:prstGeom prst="rect">
            <a:avLst/>
          </a:prstGeom>
          <a:solidFill>
            <a:srgbClr val="D62027"/>
          </a:solidFill>
          <a:ln w="12700">
            <a:solidFill>
              <a:srgbClr val="D62027"/>
            </a:solidFill>
            <a:prstDash val="solid"/>
          </a:ln>
        </p:spPr>
      </p:sp>
      <p:sp>
        <p:nvSpPr>
          <p:cNvPr id="21" name="Text 18"/>
          <p:cNvSpPr txBox="1"/>
          <p:nvPr/>
        </p:nvSpPr>
        <p:spPr>
          <a:xfrm>
            <a:off x="6370168" y="1682496"/>
            <a:ext cx="457200" cy="274320"/>
          </a:xfrm>
          <a:prstGeom prst="rect">
            <a:avLst/>
          </a:prstGeom>
          <a:noFill/>
          <a:ln/>
        </p:spPr>
        <p:txBody>
          <a:bodyPr wrap="square" lIns="0" tIns="0" rIns="0" bIns="0" rtlCol="0" anchor="t"/>
          <a:lstStyle/>
          <a:p>
            <a:pPr algn="l" indent="0" marL="0">
              <a:buNone/>
            </a:pPr>
            <a:r>
              <a:rPr lang="en-US" sz="1800" b="1" dirty="0">
                <a:solidFill>
                  <a:srgbClr val="E0BC5A"/>
                </a:solidFill>
                <a:latin typeface="Aptos Display" pitchFamily="34" charset="0"/>
                <a:ea typeface="Aptos Display" pitchFamily="34" charset="-122"/>
                <a:cs typeface="Aptos Display" pitchFamily="34" charset="-120"/>
              </a:rPr>
              <a:t>3</a:t>
            </a:r>
            <a:endParaRPr lang="en-US" sz="1800" dirty="0"/>
          </a:p>
        </p:txBody>
      </p:sp>
      <p:sp>
        <p:nvSpPr>
          <p:cNvPr id="22" name="Text 19"/>
          <p:cNvSpPr txBox="1"/>
          <p:nvPr/>
        </p:nvSpPr>
        <p:spPr>
          <a:xfrm>
            <a:off x="6370168" y="1993392"/>
            <a:ext cx="2206676" cy="603504"/>
          </a:xfrm>
          <a:prstGeom prst="rect">
            <a:avLst/>
          </a:prstGeom>
          <a:noFill/>
          <a:ln/>
        </p:spPr>
        <p:txBody>
          <a:bodyPr wrap="square" lIns="0" tIns="0" rIns="0" bIns="0" rtlCol="0" anchor="t"/>
          <a:lstStyle/>
          <a:p>
            <a:pPr algn="l" indent="0" marL="0">
              <a:lnSpc>
                <a:spcPct val="112000"/>
              </a:lnSpc>
              <a:buNone/>
            </a:pPr>
            <a:r>
              <a:rPr lang="en-US" sz="1160" b="1" dirty="0">
                <a:solidFill>
                  <a:srgbClr val="FFFFFF"/>
                </a:solidFill>
                <a:latin typeface="Aptos" pitchFamily="34" charset="0"/>
                <a:ea typeface="Aptos" pitchFamily="34" charset="-122"/>
                <a:cs typeface="Aptos" pitchFamily="34" charset="-120"/>
              </a:rPr>
              <a:t>El esfuerzo está repartido por riesgo</a:t>
            </a:r>
            <a:endParaRPr lang="en-US" sz="1160" dirty="0"/>
          </a:p>
        </p:txBody>
      </p:sp>
      <p:sp>
        <p:nvSpPr>
          <p:cNvPr id="23" name="Text 20"/>
          <p:cNvSpPr txBox="1"/>
          <p:nvPr/>
        </p:nvSpPr>
        <p:spPr>
          <a:xfrm>
            <a:off x="6370168" y="2651760"/>
            <a:ext cx="2206676" cy="274320"/>
          </a:xfrm>
          <a:prstGeom prst="rect">
            <a:avLst/>
          </a:prstGeom>
          <a:noFill/>
          <a:ln/>
        </p:spPr>
        <p:txBody>
          <a:bodyPr wrap="square" lIns="0" tIns="0" rIns="0" bIns="0" rtlCol="0" anchor="t"/>
          <a:lstStyle/>
          <a:p>
            <a:pPr algn="l" indent="0" marL="0">
              <a:lnSpc>
                <a:spcPct val="110000"/>
              </a:lnSpc>
              <a:buNone/>
            </a:pPr>
            <a:r>
              <a:rPr lang="en-US" sz="980" dirty="0">
                <a:solidFill>
                  <a:srgbClr val="E6EEF7"/>
                </a:solidFill>
                <a:latin typeface="Aptos" pitchFamily="34" charset="0"/>
                <a:ea typeface="Aptos" pitchFamily="34" charset="-122"/>
                <a:cs typeface="Aptos" pitchFamily="34" charset="-120"/>
              </a:rPr>
              <a:t>y no por lo que era cómodo de probar</a:t>
            </a:r>
            <a:endParaRPr lang="en-US" sz="980" dirty="0"/>
          </a:p>
        </p:txBody>
      </p:sp>
      <p:sp>
        <p:nvSpPr>
          <p:cNvPr id="24" name="Shape 21"/>
          <p:cNvSpPr/>
          <p:nvPr/>
        </p:nvSpPr>
        <p:spPr>
          <a:xfrm>
            <a:off x="8924315" y="1554480"/>
            <a:ext cx="2609012" cy="1426464"/>
          </a:xfrm>
          <a:prstGeom prst="rect">
            <a:avLst/>
          </a:prstGeom>
          <a:solidFill>
            <a:srgbClr val="1D3A57"/>
          </a:solidFill>
          <a:ln w="12700">
            <a:solidFill>
              <a:srgbClr val="1D3A57"/>
            </a:solidFill>
            <a:prstDash val="solid"/>
          </a:ln>
        </p:spPr>
      </p:sp>
      <p:sp>
        <p:nvSpPr>
          <p:cNvPr id="25" name="Shape 22"/>
          <p:cNvSpPr/>
          <p:nvPr/>
        </p:nvSpPr>
        <p:spPr>
          <a:xfrm>
            <a:off x="8924315" y="1554480"/>
            <a:ext cx="2609012" cy="54864"/>
          </a:xfrm>
          <a:prstGeom prst="rect">
            <a:avLst/>
          </a:prstGeom>
          <a:solidFill>
            <a:srgbClr val="D62027"/>
          </a:solidFill>
          <a:ln w="12700">
            <a:solidFill>
              <a:srgbClr val="D62027"/>
            </a:solidFill>
            <a:prstDash val="solid"/>
          </a:ln>
        </p:spPr>
      </p:sp>
      <p:sp>
        <p:nvSpPr>
          <p:cNvPr id="26" name="Text 23"/>
          <p:cNvSpPr txBox="1"/>
          <p:nvPr/>
        </p:nvSpPr>
        <p:spPr>
          <a:xfrm>
            <a:off x="9125483" y="1682496"/>
            <a:ext cx="457200" cy="274320"/>
          </a:xfrm>
          <a:prstGeom prst="rect">
            <a:avLst/>
          </a:prstGeom>
          <a:noFill/>
          <a:ln/>
        </p:spPr>
        <p:txBody>
          <a:bodyPr wrap="square" lIns="0" tIns="0" rIns="0" bIns="0" rtlCol="0" anchor="t"/>
          <a:lstStyle/>
          <a:p>
            <a:pPr algn="l" indent="0" marL="0">
              <a:buNone/>
            </a:pPr>
            <a:r>
              <a:rPr lang="en-US" sz="1800" b="1" dirty="0">
                <a:solidFill>
                  <a:srgbClr val="E0BC5A"/>
                </a:solidFill>
                <a:latin typeface="Aptos Display" pitchFamily="34" charset="0"/>
                <a:ea typeface="Aptos Display" pitchFamily="34" charset="-122"/>
                <a:cs typeface="Aptos Display" pitchFamily="34" charset="-120"/>
              </a:rPr>
              <a:t>4</a:t>
            </a:r>
            <a:endParaRPr lang="en-US" sz="1800" dirty="0"/>
          </a:p>
        </p:txBody>
      </p:sp>
      <p:sp>
        <p:nvSpPr>
          <p:cNvPr id="27" name="Text 24"/>
          <p:cNvSpPr txBox="1"/>
          <p:nvPr/>
        </p:nvSpPr>
        <p:spPr>
          <a:xfrm>
            <a:off x="9125483" y="1993392"/>
            <a:ext cx="2206676" cy="603504"/>
          </a:xfrm>
          <a:prstGeom prst="rect">
            <a:avLst/>
          </a:prstGeom>
          <a:noFill/>
          <a:ln/>
        </p:spPr>
        <p:txBody>
          <a:bodyPr wrap="square" lIns="0" tIns="0" rIns="0" bIns="0" rtlCol="0" anchor="t"/>
          <a:lstStyle/>
          <a:p>
            <a:pPr algn="l" indent="0" marL="0">
              <a:lnSpc>
                <a:spcPct val="112000"/>
              </a:lnSpc>
              <a:buNone/>
            </a:pPr>
            <a:r>
              <a:rPr lang="en-US" sz="1160" b="1" dirty="0">
                <a:solidFill>
                  <a:srgbClr val="FFFFFF"/>
                </a:solidFill>
                <a:latin typeface="Aptos" pitchFamily="34" charset="0"/>
                <a:ea typeface="Aptos" pitchFamily="34" charset="-122"/>
                <a:cs typeface="Aptos" pitchFamily="34" charset="-120"/>
              </a:rPr>
              <a:t>Esta fila cubierta la verifiqué</a:t>
            </a:r>
            <a:endParaRPr lang="en-US" sz="1160" dirty="0"/>
          </a:p>
        </p:txBody>
      </p:sp>
      <p:sp>
        <p:nvSpPr>
          <p:cNvPr id="28" name="Text 25"/>
          <p:cNvSpPr txBox="1"/>
          <p:nvPr/>
        </p:nvSpPr>
        <p:spPr>
          <a:xfrm>
            <a:off x="9125483" y="2651760"/>
            <a:ext cx="2206676" cy="274320"/>
          </a:xfrm>
          <a:prstGeom prst="rect">
            <a:avLst/>
          </a:prstGeom>
          <a:noFill/>
          <a:ln/>
        </p:spPr>
        <p:txBody>
          <a:bodyPr wrap="square" lIns="0" tIns="0" rIns="0" bIns="0" rtlCol="0" anchor="t"/>
          <a:lstStyle/>
          <a:p>
            <a:pPr algn="l" indent="0" marL="0">
              <a:lnSpc>
                <a:spcPct val="110000"/>
              </a:lnSpc>
              <a:buNone/>
            </a:pPr>
            <a:r>
              <a:rPr lang="en-US" sz="980" dirty="0">
                <a:solidFill>
                  <a:srgbClr val="E6EEF7"/>
                </a:solidFill>
                <a:latin typeface="Aptos" pitchFamily="34" charset="0"/>
                <a:ea typeface="Aptos" pitchFamily="34" charset="-122"/>
                <a:cs typeface="Aptos" pitchFamily="34" charset="-120"/>
              </a:rPr>
              <a:t>alterando el código y exigiendo el rojo</a:t>
            </a:r>
            <a:endParaRPr lang="en-US" sz="980" dirty="0"/>
          </a:p>
        </p:txBody>
      </p:sp>
      <p:sp>
        <p:nvSpPr>
          <p:cNvPr id="29" name="Shape 26"/>
          <p:cNvSpPr/>
          <p:nvPr/>
        </p:nvSpPr>
        <p:spPr>
          <a:xfrm>
            <a:off x="658368" y="3127248"/>
            <a:ext cx="3840480" cy="0"/>
          </a:xfrm>
          <a:prstGeom prst="line">
            <a:avLst/>
          </a:prstGeom>
          <a:noFill/>
          <a:ln w="12700">
            <a:solidFill>
              <a:srgbClr val="D62027"/>
            </a:solidFill>
            <a:prstDash val="solid"/>
            <a:headEnd type="none"/>
            <a:tailEnd type="none"/>
          </a:ln>
        </p:spPr>
      </p:sp>
      <p:sp>
        <p:nvSpPr>
          <p:cNvPr id="30" name="Text 27"/>
          <p:cNvSpPr txBox="1"/>
          <p:nvPr/>
        </p:nvSpPr>
        <p:spPr>
          <a:xfrm>
            <a:off x="658368" y="3346704"/>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LOS TRES HALLAZGOS TIENEN LA MISMA FORMA</a:t>
            </a:r>
            <a:endParaRPr lang="en-US" sz="960" dirty="0"/>
          </a:p>
        </p:txBody>
      </p:sp>
      <p:sp>
        <p:nvSpPr>
          <p:cNvPr id="31" name="Shape 28"/>
          <p:cNvSpPr/>
          <p:nvPr/>
        </p:nvSpPr>
        <p:spPr>
          <a:xfrm>
            <a:off x="658368" y="3602736"/>
            <a:ext cx="3527450" cy="859536"/>
          </a:xfrm>
          <a:prstGeom prst="rect">
            <a:avLst/>
          </a:prstGeom>
          <a:solidFill>
            <a:srgbClr val="1D3A57"/>
          </a:solidFill>
          <a:ln w="12700">
            <a:solidFill>
              <a:srgbClr val="1D3A57"/>
            </a:solidFill>
            <a:prstDash val="solid"/>
          </a:ln>
        </p:spPr>
      </p:sp>
      <p:sp>
        <p:nvSpPr>
          <p:cNvPr id="32" name="Text 29"/>
          <p:cNvSpPr txBox="1"/>
          <p:nvPr/>
        </p:nvSpPr>
        <p:spPr>
          <a:xfrm>
            <a:off x="877824" y="3730752"/>
            <a:ext cx="3088538" cy="256032"/>
          </a:xfrm>
          <a:prstGeom prst="rect">
            <a:avLst/>
          </a:prstGeom>
          <a:noFill/>
          <a:ln/>
        </p:spPr>
        <p:txBody>
          <a:bodyPr wrap="square" lIns="0" tIns="0" rIns="0" bIns="0" rtlCol="0" anchor="t"/>
          <a:lstStyle/>
          <a:p>
            <a:pPr algn="l" indent="0" marL="0">
              <a:buNone/>
            </a:pPr>
            <a:r>
              <a:rPr lang="en-US" sz="1300" b="1" dirty="0">
                <a:solidFill>
                  <a:srgbClr val="E0BC5A"/>
                </a:solidFill>
                <a:latin typeface="Aptos" pitchFamily="34" charset="0"/>
                <a:ea typeface="Aptos" pitchFamily="34" charset="-122"/>
                <a:cs typeface="Aptos" pitchFamily="34" charset="-120"/>
              </a:rPr>
              <a:t>RF-05</a:t>
            </a:r>
            <a:endParaRPr lang="en-US" sz="1300" dirty="0"/>
          </a:p>
        </p:txBody>
      </p:sp>
      <p:sp>
        <p:nvSpPr>
          <p:cNvPr id="33" name="Text 30"/>
          <p:cNvSpPr txBox="1"/>
          <p:nvPr/>
        </p:nvSpPr>
        <p:spPr>
          <a:xfrm>
            <a:off x="877824" y="4023360"/>
            <a:ext cx="3088538" cy="365760"/>
          </a:xfrm>
          <a:prstGeom prst="rect">
            <a:avLst/>
          </a:prstGeom>
          <a:noFill/>
          <a:ln/>
        </p:spPr>
        <p:txBody>
          <a:bodyPr wrap="square" lIns="0" tIns="0" rIns="0" bIns="0" rtlCol="0" anchor="t"/>
          <a:lstStyle/>
          <a:p>
            <a:pPr algn="l" indent="0" marL="0">
              <a:lnSpc>
                <a:spcPct val="112000"/>
              </a:lnSpc>
              <a:buNone/>
            </a:pPr>
            <a:r>
              <a:rPr lang="en-US" sz="1020" dirty="0">
                <a:solidFill>
                  <a:srgbClr val="EADFD0"/>
                </a:solidFill>
                <a:latin typeface="Aptos" pitchFamily="34" charset="0"/>
                <a:ea typeface="Aptos" pitchFamily="34" charset="-122"/>
                <a:cs typeface="Aptos" pitchFamily="34" charset="-120"/>
              </a:rPr>
              <a:t>Seis sesiones sin una sola prueba, y la suite en verde todos los días.</a:t>
            </a:r>
            <a:endParaRPr lang="en-US" sz="1020" dirty="0"/>
          </a:p>
        </p:txBody>
      </p:sp>
      <p:sp>
        <p:nvSpPr>
          <p:cNvPr id="34" name="Shape 31"/>
          <p:cNvSpPr/>
          <p:nvPr/>
        </p:nvSpPr>
        <p:spPr>
          <a:xfrm>
            <a:off x="4332122" y="3602736"/>
            <a:ext cx="3527450" cy="859536"/>
          </a:xfrm>
          <a:prstGeom prst="rect">
            <a:avLst/>
          </a:prstGeom>
          <a:solidFill>
            <a:srgbClr val="1D3A57"/>
          </a:solidFill>
          <a:ln w="12700">
            <a:solidFill>
              <a:srgbClr val="1D3A57"/>
            </a:solidFill>
            <a:prstDash val="solid"/>
          </a:ln>
        </p:spPr>
      </p:sp>
      <p:sp>
        <p:nvSpPr>
          <p:cNvPr id="35" name="Text 32"/>
          <p:cNvSpPr txBox="1"/>
          <p:nvPr/>
        </p:nvSpPr>
        <p:spPr>
          <a:xfrm>
            <a:off x="4551578" y="3730752"/>
            <a:ext cx="3088538" cy="256032"/>
          </a:xfrm>
          <a:prstGeom prst="rect">
            <a:avLst/>
          </a:prstGeom>
          <a:noFill/>
          <a:ln/>
        </p:spPr>
        <p:txBody>
          <a:bodyPr wrap="square" lIns="0" tIns="0" rIns="0" bIns="0" rtlCol="0" anchor="t"/>
          <a:lstStyle/>
          <a:p>
            <a:pPr algn="l" indent="0" marL="0">
              <a:buNone/>
            </a:pPr>
            <a:r>
              <a:rPr lang="en-US" sz="1300" b="1" dirty="0">
                <a:solidFill>
                  <a:srgbClr val="E0BC5A"/>
                </a:solidFill>
                <a:latin typeface="Aptos" pitchFamily="34" charset="0"/>
                <a:ea typeface="Aptos" pitchFamily="34" charset="-122"/>
                <a:cs typeface="Aptos" pitchFamily="34" charset="-120"/>
              </a:rPr>
              <a:t>RF-06</a:t>
            </a:r>
            <a:endParaRPr lang="en-US" sz="1300" dirty="0"/>
          </a:p>
        </p:txBody>
      </p:sp>
      <p:sp>
        <p:nvSpPr>
          <p:cNvPr id="36" name="Text 33"/>
          <p:cNvSpPr txBox="1"/>
          <p:nvPr/>
        </p:nvSpPr>
        <p:spPr>
          <a:xfrm>
            <a:off x="4551578" y="4023360"/>
            <a:ext cx="3088538" cy="365760"/>
          </a:xfrm>
          <a:prstGeom prst="rect">
            <a:avLst/>
          </a:prstGeom>
          <a:noFill/>
          <a:ln/>
        </p:spPr>
        <p:txBody>
          <a:bodyPr wrap="square" lIns="0" tIns="0" rIns="0" bIns="0" rtlCol="0" anchor="t"/>
          <a:lstStyle/>
          <a:p>
            <a:pPr algn="l" indent="0" marL="0">
              <a:lnSpc>
                <a:spcPct val="112000"/>
              </a:lnSpc>
              <a:buNone/>
            </a:pPr>
            <a:r>
              <a:rPr lang="en-US" sz="1020" dirty="0">
                <a:solidFill>
                  <a:srgbClr val="EADFD0"/>
                </a:solidFill>
                <a:latin typeface="Aptos" pitchFamily="34" charset="0"/>
                <a:ea typeface="Aptos" pitchFamily="34" charset="-122"/>
                <a:cs typeface="Aptos" pitchFamily="34" charset="-120"/>
              </a:rPr>
              <a:t>Una marca que decía cubierto y una aserción que no comprobaba nada.</a:t>
            </a:r>
            <a:endParaRPr lang="en-US" sz="1020" dirty="0"/>
          </a:p>
        </p:txBody>
      </p:sp>
      <p:sp>
        <p:nvSpPr>
          <p:cNvPr id="37" name="Shape 34"/>
          <p:cNvSpPr/>
          <p:nvPr/>
        </p:nvSpPr>
        <p:spPr>
          <a:xfrm>
            <a:off x="8005877" y="3602736"/>
            <a:ext cx="3527450" cy="859536"/>
          </a:xfrm>
          <a:prstGeom prst="rect">
            <a:avLst/>
          </a:prstGeom>
          <a:solidFill>
            <a:srgbClr val="1D3A57"/>
          </a:solidFill>
          <a:ln w="12700">
            <a:solidFill>
              <a:srgbClr val="1D3A57"/>
            </a:solidFill>
            <a:prstDash val="solid"/>
          </a:ln>
        </p:spPr>
      </p:sp>
      <p:sp>
        <p:nvSpPr>
          <p:cNvPr id="38" name="Text 35"/>
          <p:cNvSpPr txBox="1"/>
          <p:nvPr/>
        </p:nvSpPr>
        <p:spPr>
          <a:xfrm>
            <a:off x="8225333" y="3730752"/>
            <a:ext cx="3088538" cy="256032"/>
          </a:xfrm>
          <a:prstGeom prst="rect">
            <a:avLst/>
          </a:prstGeom>
          <a:noFill/>
          <a:ln/>
        </p:spPr>
        <p:txBody>
          <a:bodyPr wrap="square" lIns="0" tIns="0" rIns="0" bIns="0" rtlCol="0" anchor="t"/>
          <a:lstStyle/>
          <a:p>
            <a:pPr algn="l" indent="0" marL="0">
              <a:buNone/>
            </a:pPr>
            <a:r>
              <a:rPr lang="en-US" sz="1300" b="1" dirty="0">
                <a:solidFill>
                  <a:srgbClr val="E0BC5A"/>
                </a:solidFill>
                <a:latin typeface="Aptos" pitchFamily="34" charset="0"/>
                <a:ea typeface="Aptos" pitchFamily="34" charset="-122"/>
                <a:cs typeface="Aptos" pitchFamily="34" charset="-120"/>
              </a:rPr>
              <a:t>Los derechos</a:t>
            </a:r>
            <a:endParaRPr lang="en-US" sz="1300" dirty="0"/>
          </a:p>
        </p:txBody>
      </p:sp>
      <p:sp>
        <p:nvSpPr>
          <p:cNvPr id="39" name="Text 36"/>
          <p:cNvSpPr txBox="1"/>
          <p:nvPr/>
        </p:nvSpPr>
        <p:spPr>
          <a:xfrm>
            <a:off x="8225333" y="4023360"/>
            <a:ext cx="3088538" cy="365760"/>
          </a:xfrm>
          <a:prstGeom prst="rect">
            <a:avLst/>
          </a:prstGeom>
          <a:noFill/>
          <a:ln/>
        </p:spPr>
        <p:txBody>
          <a:bodyPr wrap="square" lIns="0" tIns="0" rIns="0" bIns="0" rtlCol="0" anchor="t"/>
          <a:lstStyle/>
          <a:p>
            <a:pPr algn="l" indent="0" marL="0">
              <a:lnSpc>
                <a:spcPct val="112000"/>
              </a:lnSpc>
              <a:buNone/>
            </a:pPr>
            <a:r>
              <a:rPr lang="en-US" sz="1020" dirty="0">
                <a:solidFill>
                  <a:srgbClr val="EADFD0"/>
                </a:solidFill>
                <a:latin typeface="Aptos" pitchFamily="34" charset="0"/>
                <a:ea typeface="Aptos" pitchFamily="34" charset="-122"/>
                <a:cs typeface="Aptos" pitchFamily="34" charset="-120"/>
              </a:rPr>
              <a:t>No tenían huecos hasta que alguien escribió la promesa.</a:t>
            </a:r>
            <a:endParaRPr lang="en-US" sz="1020" dirty="0"/>
          </a:p>
        </p:txBody>
      </p:sp>
      <p:sp>
        <p:nvSpPr>
          <p:cNvPr id="40" name="Text 37"/>
          <p:cNvSpPr txBox="1"/>
          <p:nvPr/>
        </p:nvSpPr>
        <p:spPr>
          <a:xfrm>
            <a:off x="658368" y="4681728"/>
            <a:ext cx="10424160" cy="310896"/>
          </a:xfrm>
          <a:prstGeom prst="rect">
            <a:avLst/>
          </a:prstGeom>
          <a:noFill/>
          <a:ln/>
        </p:spPr>
        <p:txBody>
          <a:bodyPr wrap="square" lIns="0" tIns="0" rIns="0" bIns="0" rtlCol="0" anchor="t"/>
          <a:lstStyle/>
          <a:p>
            <a:pPr algn="l" indent="0" marL="0">
              <a:buNone/>
            </a:pPr>
            <a:r>
              <a:rPr lang="en-US" sz="1540" dirty="0">
                <a:solidFill>
                  <a:srgbClr val="EADFD0"/>
                </a:solidFill>
                <a:latin typeface="Aptos" pitchFamily="34" charset="0"/>
                <a:ea typeface="Aptos" pitchFamily="34" charset="-122"/>
                <a:cs typeface="Aptos" pitchFamily="34" charset="-120"/>
              </a:rPr>
              <a:t>Ninguna herramienta informa lo que falta, porque lo que falta no se ejecuta.</a:t>
            </a:r>
            <a:endParaRPr lang="en-US" sz="1540" dirty="0"/>
          </a:p>
        </p:txBody>
      </p:sp>
      <p:sp>
        <p:nvSpPr>
          <p:cNvPr id="41" name="Shape 38"/>
          <p:cNvSpPr/>
          <p:nvPr/>
        </p:nvSpPr>
        <p:spPr>
          <a:xfrm>
            <a:off x="658368" y="5120640"/>
            <a:ext cx="10874959" cy="566928"/>
          </a:xfrm>
          <a:prstGeom prst="rect">
            <a:avLst/>
          </a:prstGeom>
          <a:solidFill>
            <a:srgbClr val="D62027"/>
          </a:solidFill>
          <a:ln w="12700">
            <a:solidFill>
              <a:srgbClr val="D62027"/>
            </a:solidFill>
            <a:prstDash val="solid"/>
          </a:ln>
        </p:spPr>
      </p:sp>
      <p:sp>
        <p:nvSpPr>
          <p:cNvPr id="42" name="Text 39"/>
          <p:cNvSpPr txBox="1"/>
          <p:nvPr/>
        </p:nvSpPr>
        <p:spPr>
          <a:xfrm>
            <a:off x="932688" y="5175504"/>
            <a:ext cx="10326319"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ptos" pitchFamily="34" charset="0"/>
                <a:ea typeface="Aptos" pitchFamily="34" charset="-122"/>
                <a:cs typeface="Aptos" pitchFamily="34" charset="-120"/>
              </a:rPr>
              <a:t>Escribir el requisito es lo que queda del oficio.</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51</a:t>
            </a:r>
            <a:endParaRPr lang="en-US" sz="1400" dirty="0"/>
          </a:p>
        </p:txBody>
      </p:sp>
      <p:sp>
        <p:nvSpPr>
          <p:cNvPr id="8" name="Text 5"/>
          <p:cNvSpPr txBox="1"/>
          <p:nvPr/>
        </p:nvSpPr>
        <p:spPr>
          <a:xfrm>
            <a:off x="658368" y="1298448"/>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MAÑANA · CLASE 15 · MIÉRCOLES 30 DE SEPTIEMBRE</a:t>
            </a:r>
            <a:endParaRPr lang="en-US" sz="960" dirty="0"/>
          </a:p>
        </p:txBody>
      </p:sp>
      <p:sp>
        <p:nvSpPr>
          <p:cNvPr id="9" name="Text 6"/>
          <p:cNvSpPr txBox="1"/>
          <p:nvPr/>
        </p:nvSpPr>
        <p:spPr>
          <a:xfrm>
            <a:off x="658368" y="1719072"/>
            <a:ext cx="10241280" cy="914400"/>
          </a:xfrm>
          <a:prstGeom prst="rect">
            <a:avLst/>
          </a:prstGeom>
          <a:noFill/>
          <a:ln/>
        </p:spPr>
        <p:txBody>
          <a:bodyPr wrap="square" lIns="0" tIns="0" rIns="0" bIns="0" rtlCol="0" anchor="t"/>
          <a:lstStyle/>
          <a:p>
            <a:pPr algn="l" indent="0" marL="0">
              <a:buNone/>
            </a:pPr>
            <a:r>
              <a:rPr lang="en-US" sz="4400" b="1" dirty="0">
                <a:solidFill>
                  <a:srgbClr val="FFFFFF"/>
                </a:solidFill>
                <a:latin typeface="Aptos Display" pitchFamily="34" charset="0"/>
                <a:ea typeface="Aptos Display" pitchFamily="34" charset="-122"/>
                <a:cs typeface="Aptos Display" pitchFamily="34" charset="-120"/>
              </a:rPr>
              <a:t>Lo que nadie ejecuta no existe</a:t>
            </a:r>
            <a:endParaRPr lang="en-US" sz="4400" dirty="0"/>
          </a:p>
        </p:txBody>
      </p:sp>
      <p:sp>
        <p:nvSpPr>
          <p:cNvPr id="10" name="Shape 7"/>
          <p:cNvSpPr/>
          <p:nvPr/>
        </p:nvSpPr>
        <p:spPr>
          <a:xfrm>
            <a:off x="658368" y="2816352"/>
            <a:ext cx="3840480" cy="0"/>
          </a:xfrm>
          <a:prstGeom prst="line">
            <a:avLst/>
          </a:prstGeom>
          <a:noFill/>
          <a:ln w="12700">
            <a:solidFill>
              <a:srgbClr val="D62027"/>
            </a:solidFill>
            <a:prstDash val="solid"/>
            <a:headEnd type="none"/>
            <a:tailEnd type="none"/>
          </a:ln>
        </p:spPr>
      </p:sp>
      <p:sp>
        <p:nvSpPr>
          <p:cNvPr id="11" name="Text 8"/>
          <p:cNvSpPr txBox="1"/>
          <p:nvPr/>
        </p:nvSpPr>
        <p:spPr>
          <a:xfrm>
            <a:off x="658368" y="3072384"/>
            <a:ext cx="9692640" cy="731520"/>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Todo lo que se construyó hoy comparte una condición que nadie cuestionó: alguien tiene que acordarse. La matriz se genera si alguien la ejecuta, la suite corre si alguien la corre, el plan se cumple si alguien lo lee.</a:t>
            </a:r>
            <a:endParaRPr lang="en-US" sz="1500" dirty="0"/>
          </a:p>
        </p:txBody>
      </p:sp>
      <p:sp>
        <p:nvSpPr>
          <p:cNvPr id="12" name="Shape 9"/>
          <p:cNvSpPr/>
          <p:nvPr/>
        </p:nvSpPr>
        <p:spPr>
          <a:xfrm>
            <a:off x="658368" y="4023360"/>
            <a:ext cx="3527450" cy="969264"/>
          </a:xfrm>
          <a:prstGeom prst="rect">
            <a:avLst/>
          </a:prstGeom>
          <a:solidFill>
            <a:srgbClr val="1D3A57"/>
          </a:solidFill>
          <a:ln w="12700">
            <a:solidFill>
              <a:srgbClr val="1D3A57"/>
            </a:solidFill>
            <a:prstDash val="solid"/>
          </a:ln>
        </p:spPr>
      </p:sp>
      <p:sp>
        <p:nvSpPr>
          <p:cNvPr id="13" name="Shape 10"/>
          <p:cNvSpPr/>
          <p:nvPr/>
        </p:nvSpPr>
        <p:spPr>
          <a:xfrm>
            <a:off x="658368" y="4023360"/>
            <a:ext cx="3527450" cy="54864"/>
          </a:xfrm>
          <a:prstGeom prst="rect">
            <a:avLst/>
          </a:prstGeom>
          <a:solidFill>
            <a:srgbClr val="E0BC5A"/>
          </a:solidFill>
          <a:ln w="12700">
            <a:solidFill>
              <a:srgbClr val="E0BC5A"/>
            </a:solidFill>
            <a:prstDash val="solid"/>
          </a:ln>
        </p:spPr>
      </p:sp>
      <p:sp>
        <p:nvSpPr>
          <p:cNvPr id="14" name="Text 11"/>
          <p:cNvSpPr txBox="1"/>
          <p:nvPr/>
        </p:nvSpPr>
        <p:spPr>
          <a:xfrm>
            <a:off x="877824" y="4206240"/>
            <a:ext cx="3088538" cy="274320"/>
          </a:xfrm>
          <a:prstGeom prst="rect">
            <a:avLst/>
          </a:prstGeom>
          <a:noFill/>
          <a:ln/>
        </p:spPr>
        <p:txBody>
          <a:bodyPr wrap="square" lIns="0" tIns="0" rIns="0" bIns="0" rtlCol="0" anchor="t"/>
          <a:lstStyle/>
          <a:p>
            <a:pPr algn="l" indent="0" marL="0">
              <a:buNone/>
            </a:pPr>
            <a:r>
              <a:rPr lang="en-US" sz="1500" b="1" dirty="0">
                <a:solidFill>
                  <a:srgbClr val="FFFFFF"/>
                </a:solidFill>
                <a:latin typeface="Aptos" pitchFamily="34" charset="0"/>
                <a:ea typeface="Aptos" pitchFamily="34" charset="-122"/>
                <a:cs typeface="Aptos" pitchFamily="34" charset="-120"/>
              </a:rPr>
              <a:t>Regresión</a:t>
            </a:r>
            <a:endParaRPr lang="en-US" sz="1500" dirty="0"/>
          </a:p>
        </p:txBody>
      </p:sp>
      <p:sp>
        <p:nvSpPr>
          <p:cNvPr id="15" name="Text 12"/>
          <p:cNvSpPr txBox="1"/>
          <p:nvPr/>
        </p:nvSpPr>
        <p:spPr>
          <a:xfrm>
            <a:off x="877824" y="4535424"/>
            <a:ext cx="3088538" cy="384048"/>
          </a:xfrm>
          <a:prstGeom prst="rect">
            <a:avLst/>
          </a:prstGeom>
          <a:noFill/>
          <a:ln/>
        </p:spPr>
        <p:txBody>
          <a:bodyPr wrap="square" lIns="0" tIns="0" rIns="0" bIns="0" rtlCol="0" anchor="t"/>
          <a:lstStyle/>
          <a:p>
            <a:pPr algn="l" indent="0" marL="0">
              <a:lnSpc>
                <a:spcPct val="112000"/>
              </a:lnSpc>
              <a:buNone/>
            </a:pPr>
            <a:r>
              <a:rPr lang="en-US" sz="1040" dirty="0">
                <a:solidFill>
                  <a:srgbClr val="E6EEF7"/>
                </a:solidFill>
                <a:latin typeface="Aptos" pitchFamily="34" charset="0"/>
                <a:ea typeface="Aptos" pitchFamily="34" charset="-122"/>
                <a:cs typeface="Aptos" pitchFamily="34" charset="-120"/>
              </a:rPr>
              <a:t>Volver a ejecutar lo que ya funcionaba, para comprobar que sigue funcionando.</a:t>
            </a:r>
            <a:endParaRPr lang="en-US" sz="1040" dirty="0"/>
          </a:p>
        </p:txBody>
      </p:sp>
      <p:sp>
        <p:nvSpPr>
          <p:cNvPr id="16" name="Shape 13"/>
          <p:cNvSpPr/>
          <p:nvPr/>
        </p:nvSpPr>
        <p:spPr>
          <a:xfrm>
            <a:off x="4332122" y="4023360"/>
            <a:ext cx="3527450" cy="969264"/>
          </a:xfrm>
          <a:prstGeom prst="rect">
            <a:avLst/>
          </a:prstGeom>
          <a:solidFill>
            <a:srgbClr val="1D3A57"/>
          </a:solidFill>
          <a:ln w="12700">
            <a:solidFill>
              <a:srgbClr val="1D3A57"/>
            </a:solidFill>
            <a:prstDash val="solid"/>
          </a:ln>
        </p:spPr>
      </p:sp>
      <p:sp>
        <p:nvSpPr>
          <p:cNvPr id="17" name="Shape 14"/>
          <p:cNvSpPr/>
          <p:nvPr/>
        </p:nvSpPr>
        <p:spPr>
          <a:xfrm>
            <a:off x="4332122" y="4023360"/>
            <a:ext cx="3527450" cy="54864"/>
          </a:xfrm>
          <a:prstGeom prst="rect">
            <a:avLst/>
          </a:prstGeom>
          <a:solidFill>
            <a:srgbClr val="E0BC5A"/>
          </a:solidFill>
          <a:ln w="12700">
            <a:solidFill>
              <a:srgbClr val="E0BC5A"/>
            </a:solidFill>
            <a:prstDash val="solid"/>
          </a:ln>
        </p:spPr>
      </p:sp>
      <p:sp>
        <p:nvSpPr>
          <p:cNvPr id="18" name="Text 15"/>
          <p:cNvSpPr txBox="1"/>
          <p:nvPr/>
        </p:nvSpPr>
        <p:spPr>
          <a:xfrm>
            <a:off x="4551578" y="4206240"/>
            <a:ext cx="3088538" cy="274320"/>
          </a:xfrm>
          <a:prstGeom prst="rect">
            <a:avLst/>
          </a:prstGeom>
          <a:noFill/>
          <a:ln/>
        </p:spPr>
        <p:txBody>
          <a:bodyPr wrap="square" lIns="0" tIns="0" rIns="0" bIns="0" rtlCol="0" anchor="t"/>
          <a:lstStyle/>
          <a:p>
            <a:pPr algn="l" indent="0" marL="0">
              <a:buNone/>
            </a:pPr>
            <a:r>
              <a:rPr lang="en-US" sz="1500" b="1" dirty="0">
                <a:solidFill>
                  <a:srgbClr val="FFFFFF"/>
                </a:solidFill>
                <a:latin typeface="Aptos" pitchFamily="34" charset="0"/>
                <a:ea typeface="Aptos" pitchFamily="34" charset="-122"/>
                <a:cs typeface="Aptos" pitchFamily="34" charset="-120"/>
              </a:rPr>
              <a:t>Integración continua</a:t>
            </a:r>
            <a:endParaRPr lang="en-US" sz="1500" dirty="0"/>
          </a:p>
        </p:txBody>
      </p:sp>
      <p:sp>
        <p:nvSpPr>
          <p:cNvPr id="19" name="Text 16"/>
          <p:cNvSpPr txBox="1"/>
          <p:nvPr/>
        </p:nvSpPr>
        <p:spPr>
          <a:xfrm>
            <a:off x="4551578" y="4535424"/>
            <a:ext cx="3088538" cy="384048"/>
          </a:xfrm>
          <a:prstGeom prst="rect">
            <a:avLst/>
          </a:prstGeom>
          <a:noFill/>
          <a:ln/>
        </p:spPr>
        <p:txBody>
          <a:bodyPr wrap="square" lIns="0" tIns="0" rIns="0" bIns="0" rtlCol="0" anchor="t"/>
          <a:lstStyle/>
          <a:p>
            <a:pPr algn="l" indent="0" marL="0">
              <a:lnSpc>
                <a:spcPct val="112000"/>
              </a:lnSpc>
              <a:buNone/>
            </a:pPr>
            <a:r>
              <a:rPr lang="en-US" sz="1040" dirty="0">
                <a:solidFill>
                  <a:srgbClr val="E6EEF7"/>
                </a:solidFill>
                <a:latin typeface="Aptos" pitchFamily="34" charset="0"/>
                <a:ea typeface="Aptos" pitchFamily="34" charset="-122"/>
                <a:cs typeface="Aptos" pitchFamily="34" charset="-120"/>
              </a:rPr>
              <a:t>Que se dispare sola ante cada cambio, sin pedir permiso.</a:t>
            </a:r>
            <a:endParaRPr lang="en-US" sz="1040" dirty="0"/>
          </a:p>
        </p:txBody>
      </p:sp>
      <p:sp>
        <p:nvSpPr>
          <p:cNvPr id="20" name="Shape 17"/>
          <p:cNvSpPr/>
          <p:nvPr/>
        </p:nvSpPr>
        <p:spPr>
          <a:xfrm>
            <a:off x="8005877" y="4023360"/>
            <a:ext cx="3527450" cy="969264"/>
          </a:xfrm>
          <a:prstGeom prst="rect">
            <a:avLst/>
          </a:prstGeom>
          <a:solidFill>
            <a:srgbClr val="1D3A57"/>
          </a:solidFill>
          <a:ln w="12700">
            <a:solidFill>
              <a:srgbClr val="1D3A57"/>
            </a:solidFill>
            <a:prstDash val="solid"/>
          </a:ln>
        </p:spPr>
      </p:sp>
      <p:sp>
        <p:nvSpPr>
          <p:cNvPr id="21" name="Shape 18"/>
          <p:cNvSpPr/>
          <p:nvPr/>
        </p:nvSpPr>
        <p:spPr>
          <a:xfrm>
            <a:off x="8005877" y="4023360"/>
            <a:ext cx="3527450" cy="54864"/>
          </a:xfrm>
          <a:prstGeom prst="rect">
            <a:avLst/>
          </a:prstGeom>
          <a:solidFill>
            <a:srgbClr val="E0BC5A"/>
          </a:solidFill>
          <a:ln w="12700">
            <a:solidFill>
              <a:srgbClr val="E0BC5A"/>
            </a:solidFill>
            <a:prstDash val="solid"/>
          </a:ln>
        </p:spPr>
      </p:sp>
      <p:sp>
        <p:nvSpPr>
          <p:cNvPr id="22" name="Text 19"/>
          <p:cNvSpPr txBox="1"/>
          <p:nvPr/>
        </p:nvSpPr>
        <p:spPr>
          <a:xfrm>
            <a:off x="8225333" y="4206240"/>
            <a:ext cx="3088538" cy="274320"/>
          </a:xfrm>
          <a:prstGeom prst="rect">
            <a:avLst/>
          </a:prstGeom>
          <a:noFill/>
          <a:ln/>
        </p:spPr>
        <p:txBody>
          <a:bodyPr wrap="square" lIns="0" tIns="0" rIns="0" bIns="0" rtlCol="0" anchor="t"/>
          <a:lstStyle/>
          <a:p>
            <a:pPr algn="l" indent="0" marL="0">
              <a:buNone/>
            </a:pPr>
            <a:r>
              <a:rPr lang="en-US" sz="1500" b="1" dirty="0">
                <a:solidFill>
                  <a:srgbClr val="FFFFFF"/>
                </a:solidFill>
                <a:latin typeface="Aptos" pitchFamily="34" charset="0"/>
                <a:ea typeface="Aptos" pitchFamily="34" charset="-122"/>
                <a:cs typeface="Aptos" pitchFamily="34" charset="-120"/>
              </a:rPr>
              <a:t>Pruebas inestables</a:t>
            </a:r>
            <a:endParaRPr lang="en-US" sz="1500" dirty="0"/>
          </a:p>
        </p:txBody>
      </p:sp>
      <p:sp>
        <p:nvSpPr>
          <p:cNvPr id="23" name="Text 20"/>
          <p:cNvSpPr txBox="1"/>
          <p:nvPr/>
        </p:nvSpPr>
        <p:spPr>
          <a:xfrm>
            <a:off x="8225333" y="4535424"/>
            <a:ext cx="3088538" cy="384048"/>
          </a:xfrm>
          <a:prstGeom prst="rect">
            <a:avLst/>
          </a:prstGeom>
          <a:noFill/>
          <a:ln/>
        </p:spPr>
        <p:txBody>
          <a:bodyPr wrap="square" lIns="0" tIns="0" rIns="0" bIns="0" rtlCol="0" anchor="t"/>
          <a:lstStyle/>
          <a:p>
            <a:pPr algn="l" indent="0" marL="0">
              <a:lnSpc>
                <a:spcPct val="112000"/>
              </a:lnSpc>
              <a:buNone/>
            </a:pPr>
            <a:r>
              <a:rPr lang="en-US" sz="1040" dirty="0">
                <a:solidFill>
                  <a:srgbClr val="E6EEF7"/>
                </a:solidFill>
                <a:latin typeface="Aptos" pitchFamily="34" charset="0"/>
                <a:ea typeface="Aptos" pitchFamily="34" charset="-122"/>
                <a:cs typeface="Aptos" pitchFamily="34" charset="-120"/>
              </a:rPr>
              <a:t>Las que pasan y fallan sin que el sistema haya cambiado.</a:t>
            </a:r>
            <a:endParaRPr lang="en-US" sz="1040" dirty="0"/>
          </a:p>
        </p:txBody>
      </p:sp>
      <p:sp>
        <p:nvSpPr>
          <p:cNvPr id="24" name="Text 21"/>
          <p:cNvSpPr txBox="1"/>
          <p:nvPr/>
        </p:nvSpPr>
        <p:spPr>
          <a:xfrm>
            <a:off x="658368" y="5266944"/>
            <a:ext cx="10241280" cy="310896"/>
          </a:xfrm>
          <a:prstGeom prst="rect">
            <a:avLst/>
          </a:prstGeom>
          <a:noFill/>
          <a:ln/>
        </p:spPr>
        <p:txBody>
          <a:bodyPr wrap="square" lIns="0" tIns="0" rIns="0" bIns="0" rtlCol="0" anchor="t"/>
          <a:lstStyle/>
          <a:p>
            <a:pPr algn="l" indent="0" marL="0">
              <a:buNone/>
            </a:pPr>
            <a:r>
              <a:rPr lang="en-US" sz="1340" dirty="0">
                <a:solidFill>
                  <a:srgbClr val="EADFD0"/>
                </a:solidFill>
                <a:latin typeface="Aptos" pitchFamily="34" charset="0"/>
                <a:ea typeface="Aptos" pitchFamily="34" charset="-122"/>
                <a:cs typeface="Aptos" pitchFamily="34" charset="-120"/>
              </a:rPr>
              <a:t>Y aparece un problema que hoy no podía aparecer, porque hoy todas las ejecuciones dieron el mismo resultado.</a:t>
            </a:r>
            <a:endParaRPr lang="en-US" sz="13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AIEP Osorno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 se decidio probar</dc:title>
  <dc:subject>PRO402 · Clase 14</dc:subject>
  <dc:creator>Diego Obando</dc:creator>
  <cp:lastModifiedBy>Diego Obando</cp:lastModifiedBy>
  <cp:revision>1</cp:revision>
  <dcterms:created xsi:type="dcterms:W3CDTF">2026-09-25T02:41:59Z</dcterms:created>
  <dcterms:modified xsi:type="dcterms:W3CDTF">2026-09-25T02:41:59Z</dcterms:modified>
</cp:coreProperties>
</file>