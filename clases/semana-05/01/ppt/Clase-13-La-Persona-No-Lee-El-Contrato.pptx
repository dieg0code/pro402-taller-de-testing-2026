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image" Target="../media/image-23-3.png"/><Relationship Id="rId4" Type="http://schemas.openxmlformats.org/officeDocument/2006/relationships/image" Target="../media/image-23-4.svg"/><Relationship Id="rId5" Type="http://schemas.openxmlformats.org/officeDocument/2006/relationships/image" Target="../media/image-23-5.png"/><Relationship Id="rId6" Type="http://schemas.openxmlformats.org/officeDocument/2006/relationships/image" Target="../media/image-23-6.sv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sv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sv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sv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svg"/><Relationship Id="rId3" Type="http://schemas.openxmlformats.org/officeDocument/2006/relationships/image" Target="../media/image-38-3.png"/><Relationship Id="rId4" Type="http://schemas.openxmlformats.org/officeDocument/2006/relationships/image" Target="../media/image-38-4.sv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sv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sv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sv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sv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sv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sv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sv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sv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sv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svg"/><Relationship Id="rId3" Type="http://schemas.openxmlformats.org/officeDocument/2006/relationships/image" Target="../media/image-50-3.png"/><Relationship Id="rId4" Type="http://schemas.openxmlformats.org/officeDocument/2006/relationships/image" Target="../media/image-50-4.svg"/><Relationship Id="rId5" Type="http://schemas.openxmlformats.org/officeDocument/2006/relationships/slideLayout" Target="../slideLayouts/slideLayout1.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svg"/><Relationship Id="rId3" Type="http://schemas.openxmlformats.org/officeDocument/2006/relationships/image" Target="../media/image-51-3.png"/><Relationship Id="rId4" Type="http://schemas.openxmlformats.org/officeDocument/2006/relationships/image" Target="../media/image-51-4.svg"/><Relationship Id="rId5" Type="http://schemas.openxmlformats.org/officeDocument/2006/relationships/slideLayout" Target="../slideLayouts/slideLayout1.xm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sv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sv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svg"/><Relationship Id="rId3" Type="http://schemas.openxmlformats.org/officeDocument/2006/relationships/image" Target="../media/image-54-3.png"/><Relationship Id="rId4" Type="http://schemas.openxmlformats.org/officeDocument/2006/relationships/image" Target="../media/image-54-4.svg"/><Relationship Id="rId5" Type="http://schemas.openxmlformats.org/officeDocument/2006/relationships/slideLayout" Target="../slideLayouts/slideLayout1.xml"/><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sv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sv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sv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sv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sv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sv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sv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01</a:t>
            </a:r>
            <a:endParaRPr lang="en-US" sz="1400" dirty="0"/>
          </a:p>
        </p:txBody>
      </p:sp>
      <p:sp>
        <p:nvSpPr>
          <p:cNvPr id="8" name="Text 5"/>
          <p:cNvSpPr txBox="1"/>
          <p:nvPr/>
        </p:nvSpPr>
        <p:spPr>
          <a:xfrm>
            <a:off x="658368" y="1298448"/>
            <a:ext cx="54864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PRO402 · CLASE 13 · UNIDAD 2</a:t>
            </a:r>
            <a:endParaRPr lang="en-US" sz="960" dirty="0"/>
          </a:p>
        </p:txBody>
      </p:sp>
      <p:sp>
        <p:nvSpPr>
          <p:cNvPr id="9" name="Text 6"/>
          <p:cNvSpPr txBox="1"/>
          <p:nvPr/>
        </p:nvSpPr>
        <p:spPr>
          <a:xfrm>
            <a:off x="658368" y="1682496"/>
            <a:ext cx="10241280" cy="969264"/>
          </a:xfrm>
          <a:prstGeom prst="rect">
            <a:avLst/>
          </a:prstGeom>
          <a:noFill/>
          <a:ln/>
        </p:spPr>
        <p:txBody>
          <a:bodyPr wrap="square" lIns="0" tIns="0" rIns="0" bIns="0" rtlCol="0" anchor="t"/>
          <a:lstStyle/>
          <a:p>
            <a:pPr algn="l" indent="0" marL="0">
              <a:buNone/>
            </a:pPr>
            <a:r>
              <a:rPr lang="en-US" sz="5000" b="1" dirty="0">
                <a:solidFill>
                  <a:srgbClr val="FFFFFF"/>
                </a:solidFill>
                <a:latin typeface="Aptos Display" pitchFamily="34" charset="0"/>
                <a:ea typeface="Aptos Display" pitchFamily="34" charset="-122"/>
                <a:cs typeface="Aptos Display" pitchFamily="34" charset="-120"/>
              </a:rPr>
              <a:t>La persona no lee el contrato</a:t>
            </a:r>
            <a:endParaRPr lang="en-US" sz="5000" dirty="0"/>
          </a:p>
        </p:txBody>
      </p:sp>
      <p:sp>
        <p:nvSpPr>
          <p:cNvPr id="10" name="Shape 7"/>
          <p:cNvSpPr/>
          <p:nvPr/>
        </p:nvSpPr>
        <p:spPr>
          <a:xfrm>
            <a:off x="658368" y="2852928"/>
            <a:ext cx="3840480" cy="0"/>
          </a:xfrm>
          <a:prstGeom prst="line">
            <a:avLst/>
          </a:prstGeom>
          <a:noFill/>
          <a:ln w="12700">
            <a:solidFill>
              <a:srgbClr val="D62027"/>
            </a:solidFill>
            <a:prstDash val="solid"/>
            <a:headEnd type="none"/>
            <a:tailEnd type="none"/>
          </a:ln>
        </p:spPr>
      </p:sp>
      <p:sp>
        <p:nvSpPr>
          <p:cNvPr id="11" name="Text 8"/>
          <p:cNvSpPr txBox="1"/>
          <p:nvPr/>
        </p:nvSpPr>
        <p:spPr>
          <a:xfrm>
            <a:off x="658368" y="3108960"/>
            <a:ext cx="10241280" cy="420624"/>
          </a:xfrm>
          <a:prstGeom prst="rect">
            <a:avLst/>
          </a:prstGeom>
          <a:noFill/>
          <a:ln/>
        </p:spPr>
        <p:txBody>
          <a:bodyPr wrap="square" lIns="0" tIns="0" rIns="0" bIns="0" rtlCol="0" anchor="t"/>
          <a:lstStyle/>
          <a:p>
            <a:pPr algn="l" indent="0" marL="0">
              <a:buNone/>
            </a:pPr>
            <a:r>
              <a:rPr lang="en-US" sz="1800" dirty="0">
                <a:solidFill>
                  <a:srgbClr val="E6EEF7"/>
                </a:solidFill>
                <a:latin typeface="Aptos" pitchFamily="34" charset="0"/>
                <a:ea typeface="Aptos" pitchFamily="34" charset="-122"/>
                <a:cs typeface="Aptos" pitchFamily="34" charset="-120"/>
              </a:rPr>
              <a:t>Pruebas de extremo a extremo, la espera que vuelve inestable una prueba y el agente que entra por primera vez</a:t>
            </a:r>
            <a:endParaRPr lang="en-US" sz="1800" dirty="0"/>
          </a:p>
        </p:txBody>
      </p:sp>
      <p:sp>
        <p:nvSpPr>
          <p:cNvPr id="12" name="Text 9"/>
          <p:cNvSpPr txBox="1"/>
          <p:nvPr/>
        </p:nvSpPr>
        <p:spPr>
          <a:xfrm>
            <a:off x="658368" y="3749040"/>
            <a:ext cx="9326880" cy="786384"/>
          </a:xfrm>
          <a:prstGeom prst="rect">
            <a:avLst/>
          </a:prstGeom>
          <a:noFill/>
          <a:ln/>
        </p:spPr>
        <p:txBody>
          <a:bodyPr wrap="square" lIns="0" tIns="0" rIns="0" bIns="0" rtlCol="0" anchor="t"/>
          <a:lstStyle/>
          <a:p>
            <a:pPr algn="l" indent="0" marL="0">
              <a:lnSpc>
                <a:spcPct val="120000"/>
              </a:lnSpc>
              <a:buNone/>
            </a:pPr>
            <a:r>
              <a:rPr lang="en-US" sz="1440" dirty="0">
                <a:solidFill>
                  <a:srgbClr val="EADFD0"/>
                </a:solidFill>
                <a:latin typeface="Aptos" pitchFamily="34" charset="0"/>
                <a:ea typeface="Aptos" pitchFamily="34" charset="-122"/>
                <a:cs typeface="Aptos" pitchFamily="34" charset="-120"/>
              </a:rPr>
              <a:t>La API puede cumplir su contrato al pie de la letra y la persona igual quedarse sin saber qué hacer. Ese defecto no vive en ninguna pieza: vive en lo que la pantalla muestra.</a:t>
            </a:r>
            <a:endParaRPr lang="en-US" sz="1440" dirty="0"/>
          </a:p>
        </p:txBody>
      </p:sp>
      <p:sp>
        <p:nvSpPr>
          <p:cNvPr id="13" name="Shape 10"/>
          <p:cNvSpPr/>
          <p:nvPr/>
        </p:nvSpPr>
        <p:spPr>
          <a:xfrm>
            <a:off x="658368" y="4992624"/>
            <a:ext cx="10874959" cy="0"/>
          </a:xfrm>
          <a:prstGeom prst="line">
            <a:avLst/>
          </a:prstGeom>
          <a:noFill/>
          <a:ln w="12700">
            <a:solidFill>
              <a:srgbClr val="2C4A66"/>
            </a:solidFill>
            <a:prstDash val="solid"/>
            <a:headEnd type="none"/>
            <a:tailEnd type="none"/>
          </a:ln>
        </p:spPr>
      </p:sp>
      <p:sp>
        <p:nvSpPr>
          <p:cNvPr id="14" name="Text 11"/>
          <p:cNvSpPr txBox="1"/>
          <p:nvPr/>
        </p:nvSpPr>
        <p:spPr>
          <a:xfrm>
            <a:off x="658368" y="5175504"/>
            <a:ext cx="6766560" cy="274320"/>
          </a:xfrm>
          <a:prstGeom prst="rect">
            <a:avLst/>
          </a:prstGeom>
          <a:noFill/>
          <a:ln/>
        </p:spPr>
        <p:txBody>
          <a:bodyPr wrap="square" lIns="0" tIns="0" rIns="0" bIns="0" rtlCol="0" anchor="t"/>
          <a:lstStyle/>
          <a:p>
            <a:pPr algn="l" indent="0" marL="0">
              <a:buNone/>
            </a:pPr>
            <a:r>
              <a:rPr lang="en-US" sz="1260" dirty="0">
                <a:solidFill>
                  <a:srgbClr val="EADFD0"/>
                </a:solidFill>
                <a:latin typeface="Aptos" pitchFamily="34" charset="0"/>
                <a:ea typeface="Aptos" pitchFamily="34" charset="-122"/>
                <a:cs typeface="Aptos" pitchFamily="34" charset="-120"/>
              </a:rPr>
              <a:t>Lunes 28 de septiembre de 2026 · 08:30 – 10:50 · Laboratorio PC</a:t>
            </a:r>
            <a:endParaRPr lang="en-US" sz="1260" dirty="0"/>
          </a:p>
        </p:txBody>
      </p:sp>
      <p:sp>
        <p:nvSpPr>
          <p:cNvPr id="15" name="Text 12"/>
          <p:cNvSpPr txBox="1"/>
          <p:nvPr/>
        </p:nvSpPr>
        <p:spPr>
          <a:xfrm>
            <a:off x="7498080" y="5175504"/>
            <a:ext cx="4023360" cy="274320"/>
          </a:xfrm>
          <a:prstGeom prst="rect">
            <a:avLst/>
          </a:prstGeom>
          <a:noFill/>
          <a:ln/>
        </p:spPr>
        <p:txBody>
          <a:bodyPr wrap="square" lIns="0" tIns="0" rIns="0" bIns="0" rtlCol="0" anchor="t"/>
          <a:lstStyle/>
          <a:p>
            <a:pPr algn="r" indent="0" marL="0">
              <a:buNone/>
            </a:pPr>
            <a:r>
              <a:rPr lang="en-US" sz="1260" dirty="0">
                <a:solidFill>
                  <a:srgbClr val="EADFD0"/>
                </a:solidFill>
                <a:latin typeface="Aptos" pitchFamily="34" charset="0"/>
                <a:ea typeface="Aptos" pitchFamily="34" charset="-122"/>
                <a:cs typeface="Aptos" pitchFamily="34" charset="-120"/>
              </a:rPr>
              <a:t>Diego Obando · AIEP Osorno</a:t>
            </a:r>
            <a:endParaRPr lang="en-US" sz="12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PUNTO DE PARTIDA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Cuatro palabras para toda la sesión</a:t>
            </a:r>
            <a:endParaRPr lang="en-US" sz="3000" dirty="0"/>
          </a:p>
        </p:txBody>
      </p:sp>
      <p:sp>
        <p:nvSpPr>
          <p:cNvPr id="10" name="Shape 7"/>
          <p:cNvSpPr/>
          <p:nvPr/>
        </p:nvSpPr>
        <p:spPr>
          <a:xfrm>
            <a:off x="658368" y="1847088"/>
            <a:ext cx="5346040" cy="1682496"/>
          </a:xfrm>
          <a:prstGeom prst="rect">
            <a:avLst/>
          </a:prstGeom>
          <a:solidFill>
            <a:srgbClr val="FFFFFF"/>
          </a:solidFill>
          <a:ln w="12700">
            <a:solidFill>
              <a:srgbClr val="FFFFFF"/>
            </a:solidFill>
            <a:prstDash val="solid"/>
          </a:ln>
        </p:spPr>
      </p:sp>
      <p:sp>
        <p:nvSpPr>
          <p:cNvPr id="11" name="Shape 8"/>
          <p:cNvSpPr/>
          <p:nvPr/>
        </p:nvSpPr>
        <p:spPr>
          <a:xfrm>
            <a:off x="658368" y="1847088"/>
            <a:ext cx="64008" cy="1682496"/>
          </a:xfrm>
          <a:prstGeom prst="rect">
            <a:avLst/>
          </a:prstGeom>
          <a:solidFill>
            <a:srgbClr val="102A43"/>
          </a:solidFill>
          <a:ln w="12700">
            <a:solidFill>
              <a:srgbClr val="102A43"/>
            </a:solidFill>
            <a:prstDash val="solid"/>
          </a:ln>
        </p:spPr>
      </p:sp>
      <p:sp>
        <p:nvSpPr>
          <p:cNvPr id="12" name="Text 9"/>
          <p:cNvSpPr txBox="1"/>
          <p:nvPr/>
        </p:nvSpPr>
        <p:spPr>
          <a:xfrm>
            <a:off x="950976" y="2011680"/>
            <a:ext cx="4797400" cy="402336"/>
          </a:xfrm>
          <a:prstGeom prst="rect">
            <a:avLst/>
          </a:prstGeom>
          <a:noFill/>
          <a:ln/>
        </p:spPr>
        <p:txBody>
          <a:bodyPr wrap="square" lIns="0" tIns="0" rIns="0" bIns="0" rtlCol="0" anchor="t"/>
          <a:lstStyle/>
          <a:p>
            <a:pPr algn="l" indent="0" marL="0">
              <a:buNone/>
            </a:pPr>
            <a:r>
              <a:rPr lang="en-US" sz="2200" b="1" dirty="0">
                <a:solidFill>
                  <a:srgbClr val="102A43"/>
                </a:solidFill>
                <a:latin typeface="Aptos Display" pitchFamily="34" charset="0"/>
                <a:ea typeface="Aptos Display" pitchFamily="34" charset="-122"/>
                <a:cs typeface="Aptos Display" pitchFamily="34" charset="-120"/>
              </a:rPr>
              <a:t>API</a:t>
            </a:r>
            <a:endParaRPr lang="en-US" sz="2200" dirty="0"/>
          </a:p>
        </p:txBody>
      </p:sp>
      <p:sp>
        <p:nvSpPr>
          <p:cNvPr id="13" name="Text 10"/>
          <p:cNvSpPr txBox="1"/>
          <p:nvPr/>
        </p:nvSpPr>
        <p:spPr>
          <a:xfrm>
            <a:off x="950976" y="2432304"/>
            <a:ext cx="4797400" cy="512064"/>
          </a:xfrm>
          <a:prstGeom prst="rect">
            <a:avLst/>
          </a:prstGeom>
          <a:noFill/>
          <a:ln/>
        </p:spPr>
        <p:txBody>
          <a:bodyPr wrap="square" lIns="0" tIns="0" rIns="0" bIns="0" rtlCol="0" anchor="t"/>
          <a:lstStyle/>
          <a:p>
            <a:pPr algn="l" indent="0" marL="0">
              <a:lnSpc>
                <a:spcPct val="112000"/>
              </a:lnSpc>
              <a:buNone/>
            </a:pPr>
            <a:r>
              <a:rPr lang="en-US" sz="1260" dirty="0">
                <a:solidFill>
                  <a:srgbClr val="243B53"/>
                </a:solidFill>
                <a:latin typeface="Aptos" pitchFamily="34" charset="0"/>
                <a:ea typeface="Aptos" pitchFamily="34" charset="-122"/>
                <a:cs typeface="Aptos" pitchFamily="34" charset="-120"/>
              </a:rPr>
              <a:t>La puerta por la que otros programas usan el sistema.</a:t>
            </a:r>
            <a:endParaRPr lang="en-US" sz="1260" dirty="0"/>
          </a:p>
        </p:txBody>
      </p:sp>
      <p:sp>
        <p:nvSpPr>
          <p:cNvPr id="14" name="Text 11"/>
          <p:cNvSpPr txBox="1"/>
          <p:nvPr/>
        </p:nvSpPr>
        <p:spPr>
          <a:xfrm>
            <a:off x="950976" y="3035808"/>
            <a:ext cx="4797400" cy="384048"/>
          </a:xfrm>
          <a:prstGeom prst="rect">
            <a:avLst/>
          </a:prstGeom>
          <a:noFill/>
          <a:ln/>
        </p:spPr>
        <p:txBody>
          <a:bodyPr wrap="square" lIns="0" tIns="0" rIns="0" bIns="0" rtlCol="0" anchor="t"/>
          <a:lstStyle/>
          <a:p>
            <a:pPr algn="l" indent="0" marL="0">
              <a:lnSpc>
                <a:spcPct val="110000"/>
              </a:lnSpc>
              <a:buNone/>
            </a:pPr>
            <a:r>
              <a:rPr lang="en-US" sz="1100" i="1" dirty="0">
                <a:solidFill>
                  <a:srgbClr val="52606D"/>
                </a:solidFill>
                <a:latin typeface="Aptos" pitchFamily="34" charset="0"/>
                <a:ea typeface="Aptos" pitchFamily="34" charset="-122"/>
                <a:cs typeface="Aptos" pitchFamily="34" charset="-120"/>
              </a:rPr>
              <a:t>La página la llama para reservar y para saber qué bloques están tomados.</a:t>
            </a:r>
            <a:endParaRPr lang="en-US" sz="1100" dirty="0"/>
          </a:p>
        </p:txBody>
      </p:sp>
      <p:sp>
        <p:nvSpPr>
          <p:cNvPr id="15" name="Shape 12"/>
          <p:cNvSpPr/>
          <p:nvPr/>
        </p:nvSpPr>
        <p:spPr>
          <a:xfrm>
            <a:off x="6187288" y="1847088"/>
            <a:ext cx="5346040" cy="1682496"/>
          </a:xfrm>
          <a:prstGeom prst="rect">
            <a:avLst/>
          </a:prstGeom>
          <a:solidFill>
            <a:srgbClr val="FFFFFF"/>
          </a:solidFill>
          <a:ln w="12700">
            <a:solidFill>
              <a:srgbClr val="FFFFFF"/>
            </a:solidFill>
            <a:prstDash val="solid"/>
          </a:ln>
        </p:spPr>
      </p:sp>
      <p:sp>
        <p:nvSpPr>
          <p:cNvPr id="16" name="Shape 13"/>
          <p:cNvSpPr/>
          <p:nvPr/>
        </p:nvSpPr>
        <p:spPr>
          <a:xfrm>
            <a:off x="6187288" y="1847088"/>
            <a:ext cx="64008" cy="1682496"/>
          </a:xfrm>
          <a:prstGeom prst="rect">
            <a:avLst/>
          </a:prstGeom>
          <a:solidFill>
            <a:srgbClr val="8A6A12"/>
          </a:solidFill>
          <a:ln w="12700">
            <a:solidFill>
              <a:srgbClr val="8A6A12"/>
            </a:solidFill>
            <a:prstDash val="solid"/>
          </a:ln>
        </p:spPr>
      </p:sp>
      <p:sp>
        <p:nvSpPr>
          <p:cNvPr id="17" name="Text 14"/>
          <p:cNvSpPr txBox="1"/>
          <p:nvPr/>
        </p:nvSpPr>
        <p:spPr>
          <a:xfrm>
            <a:off x="6479896" y="2011680"/>
            <a:ext cx="4797400" cy="402336"/>
          </a:xfrm>
          <a:prstGeom prst="rect">
            <a:avLst/>
          </a:prstGeom>
          <a:noFill/>
          <a:ln/>
        </p:spPr>
        <p:txBody>
          <a:bodyPr wrap="square" lIns="0" tIns="0" rIns="0" bIns="0" rtlCol="0" anchor="t"/>
          <a:lstStyle/>
          <a:p>
            <a:pPr algn="l" indent="0" marL="0">
              <a:buNone/>
            </a:pPr>
            <a:r>
              <a:rPr lang="en-US" sz="2200" b="1" dirty="0">
                <a:solidFill>
                  <a:srgbClr val="8A6A12"/>
                </a:solidFill>
                <a:latin typeface="Aptos Display" pitchFamily="34" charset="0"/>
                <a:ea typeface="Aptos Display" pitchFamily="34" charset="-122"/>
                <a:cs typeface="Aptos Display" pitchFamily="34" charset="-120"/>
              </a:rPr>
              <a:t>Contrato</a:t>
            </a:r>
            <a:endParaRPr lang="en-US" sz="2200" dirty="0"/>
          </a:p>
        </p:txBody>
      </p:sp>
      <p:sp>
        <p:nvSpPr>
          <p:cNvPr id="18" name="Text 15"/>
          <p:cNvSpPr txBox="1"/>
          <p:nvPr/>
        </p:nvSpPr>
        <p:spPr>
          <a:xfrm>
            <a:off x="6479896" y="2432304"/>
            <a:ext cx="4797400" cy="512064"/>
          </a:xfrm>
          <a:prstGeom prst="rect">
            <a:avLst/>
          </a:prstGeom>
          <a:noFill/>
          <a:ln/>
        </p:spPr>
        <p:txBody>
          <a:bodyPr wrap="square" lIns="0" tIns="0" rIns="0" bIns="0" rtlCol="0" anchor="t"/>
          <a:lstStyle/>
          <a:p>
            <a:pPr algn="l" indent="0" marL="0">
              <a:lnSpc>
                <a:spcPct val="112000"/>
              </a:lnSpc>
              <a:buNone/>
            </a:pPr>
            <a:r>
              <a:rPr lang="en-US" sz="1260" dirty="0">
                <a:solidFill>
                  <a:srgbClr val="243B53"/>
                </a:solidFill>
                <a:latin typeface="Aptos" pitchFamily="34" charset="0"/>
                <a:ea typeface="Aptos" pitchFamily="34" charset="-122"/>
                <a:cs typeface="Aptos" pitchFamily="34" charset="-120"/>
              </a:rPr>
              <a:t>El acuerdo sobre la forma de lo que entra y lo que sale.</a:t>
            </a:r>
            <a:endParaRPr lang="en-US" sz="1260" dirty="0"/>
          </a:p>
        </p:txBody>
      </p:sp>
      <p:sp>
        <p:nvSpPr>
          <p:cNvPr id="19" name="Text 16"/>
          <p:cNvSpPr txBox="1"/>
          <p:nvPr/>
        </p:nvSpPr>
        <p:spPr>
          <a:xfrm>
            <a:off x="6479896" y="3035808"/>
            <a:ext cx="4797400" cy="384048"/>
          </a:xfrm>
          <a:prstGeom prst="rect">
            <a:avLst/>
          </a:prstGeom>
          <a:noFill/>
          <a:ln/>
        </p:spPr>
        <p:txBody>
          <a:bodyPr wrap="square" lIns="0" tIns="0" rIns="0" bIns="0" rtlCol="0" anchor="t"/>
          <a:lstStyle/>
          <a:p>
            <a:pPr algn="l" indent="0" marL="0">
              <a:lnSpc>
                <a:spcPct val="110000"/>
              </a:lnSpc>
              <a:buNone/>
            </a:pPr>
            <a:r>
              <a:rPr lang="en-US" sz="1100" i="1" dirty="0">
                <a:solidFill>
                  <a:srgbClr val="52606D"/>
                </a:solidFill>
                <a:latin typeface="Aptos" pitchFamily="34" charset="0"/>
                <a:ea typeface="Aptos" pitchFamily="34" charset="-122"/>
                <a:cs typeface="Aptos" pitchFamily="34" charset="-120"/>
              </a:rPr>
              <a:t>Un rechazo se responde con el código 409 y un campo detail que dice qué pasó.</a:t>
            </a:r>
            <a:endParaRPr lang="en-US" sz="1100" dirty="0"/>
          </a:p>
        </p:txBody>
      </p:sp>
      <p:sp>
        <p:nvSpPr>
          <p:cNvPr id="20" name="Shape 17"/>
          <p:cNvSpPr/>
          <p:nvPr/>
        </p:nvSpPr>
        <p:spPr>
          <a:xfrm>
            <a:off x="658368" y="3657600"/>
            <a:ext cx="5346040" cy="1682496"/>
          </a:xfrm>
          <a:prstGeom prst="rect">
            <a:avLst/>
          </a:prstGeom>
          <a:solidFill>
            <a:srgbClr val="FFFFFF"/>
          </a:solidFill>
          <a:ln w="12700">
            <a:solidFill>
              <a:srgbClr val="FFFFFF"/>
            </a:solidFill>
            <a:prstDash val="solid"/>
          </a:ln>
        </p:spPr>
      </p:sp>
      <p:sp>
        <p:nvSpPr>
          <p:cNvPr id="21" name="Shape 18"/>
          <p:cNvSpPr/>
          <p:nvPr/>
        </p:nvSpPr>
        <p:spPr>
          <a:xfrm>
            <a:off x="658368" y="3657600"/>
            <a:ext cx="64008" cy="1682496"/>
          </a:xfrm>
          <a:prstGeom prst="rect">
            <a:avLst/>
          </a:prstGeom>
          <a:solidFill>
            <a:srgbClr val="2E7D4F"/>
          </a:solidFill>
          <a:ln w="12700">
            <a:solidFill>
              <a:srgbClr val="2E7D4F"/>
            </a:solidFill>
            <a:prstDash val="solid"/>
          </a:ln>
        </p:spPr>
      </p:sp>
      <p:sp>
        <p:nvSpPr>
          <p:cNvPr id="22" name="Text 19"/>
          <p:cNvSpPr txBox="1"/>
          <p:nvPr/>
        </p:nvSpPr>
        <p:spPr>
          <a:xfrm>
            <a:off x="950976" y="3822192"/>
            <a:ext cx="4797400" cy="402336"/>
          </a:xfrm>
          <a:prstGeom prst="rect">
            <a:avLst/>
          </a:prstGeom>
          <a:noFill/>
          <a:ln/>
        </p:spPr>
        <p:txBody>
          <a:bodyPr wrap="square" lIns="0" tIns="0" rIns="0" bIns="0" rtlCol="0" anchor="t"/>
          <a:lstStyle/>
          <a:p>
            <a:pPr algn="l" indent="0" marL="0">
              <a:buNone/>
            </a:pPr>
            <a:r>
              <a:rPr lang="en-US" sz="2200" b="1" dirty="0">
                <a:solidFill>
                  <a:srgbClr val="2E7D4F"/>
                </a:solidFill>
                <a:latin typeface="Aptos Display" pitchFamily="34" charset="0"/>
                <a:ea typeface="Aptos Display" pitchFamily="34" charset="-122"/>
                <a:cs typeface="Aptos Display" pitchFamily="34" charset="-120"/>
              </a:rPr>
              <a:t>Suite</a:t>
            </a:r>
            <a:endParaRPr lang="en-US" sz="2200" dirty="0"/>
          </a:p>
        </p:txBody>
      </p:sp>
      <p:sp>
        <p:nvSpPr>
          <p:cNvPr id="23" name="Text 20"/>
          <p:cNvSpPr txBox="1"/>
          <p:nvPr/>
        </p:nvSpPr>
        <p:spPr>
          <a:xfrm>
            <a:off x="950976" y="4242816"/>
            <a:ext cx="4797400" cy="512064"/>
          </a:xfrm>
          <a:prstGeom prst="rect">
            <a:avLst/>
          </a:prstGeom>
          <a:noFill/>
          <a:ln/>
        </p:spPr>
        <p:txBody>
          <a:bodyPr wrap="square" lIns="0" tIns="0" rIns="0" bIns="0" rtlCol="0" anchor="t"/>
          <a:lstStyle/>
          <a:p>
            <a:pPr algn="l" indent="0" marL="0">
              <a:lnSpc>
                <a:spcPct val="112000"/>
              </a:lnSpc>
              <a:buNone/>
            </a:pPr>
            <a:r>
              <a:rPr lang="en-US" sz="1260" dirty="0">
                <a:solidFill>
                  <a:srgbClr val="243B53"/>
                </a:solidFill>
                <a:latin typeface="Aptos" pitchFamily="34" charset="0"/>
                <a:ea typeface="Aptos" pitchFamily="34" charset="-122"/>
                <a:cs typeface="Aptos" pitchFamily="34" charset="-120"/>
              </a:rPr>
              <a:t>Las pruebas que se ejecutan juntas con un solo comando.</a:t>
            </a:r>
            <a:endParaRPr lang="en-US" sz="1260" dirty="0"/>
          </a:p>
        </p:txBody>
      </p:sp>
      <p:sp>
        <p:nvSpPr>
          <p:cNvPr id="24" name="Text 21"/>
          <p:cNvSpPr txBox="1"/>
          <p:nvPr/>
        </p:nvSpPr>
        <p:spPr>
          <a:xfrm>
            <a:off x="950976" y="4846320"/>
            <a:ext cx="4797400" cy="384048"/>
          </a:xfrm>
          <a:prstGeom prst="rect">
            <a:avLst/>
          </a:prstGeom>
          <a:noFill/>
          <a:ln/>
        </p:spPr>
        <p:txBody>
          <a:bodyPr wrap="square" lIns="0" tIns="0" rIns="0" bIns="0" rtlCol="0" anchor="t"/>
          <a:lstStyle/>
          <a:p>
            <a:pPr algn="l" indent="0" marL="0">
              <a:lnSpc>
                <a:spcPct val="110000"/>
              </a:lnSpc>
              <a:buNone/>
            </a:pPr>
            <a:r>
              <a:rPr lang="en-US" sz="1100" i="1" dirty="0">
                <a:solidFill>
                  <a:srgbClr val="52606D"/>
                </a:solidFill>
                <a:latin typeface="Aptos" pitchFamily="34" charset="0"/>
                <a:ea typeface="Aptos" pitchFamily="34" charset="-122"/>
                <a:cs typeface="Aptos" pitchFamily="34" charset="-120"/>
              </a:rPr>
              <a:t>Hoy hay dos: la de pytest y la de la interfaz.</a:t>
            </a:r>
            <a:endParaRPr lang="en-US" sz="1100" dirty="0"/>
          </a:p>
        </p:txBody>
      </p:sp>
      <p:sp>
        <p:nvSpPr>
          <p:cNvPr id="25" name="Shape 22"/>
          <p:cNvSpPr/>
          <p:nvPr/>
        </p:nvSpPr>
        <p:spPr>
          <a:xfrm>
            <a:off x="6187288" y="3657600"/>
            <a:ext cx="5346040" cy="1682496"/>
          </a:xfrm>
          <a:prstGeom prst="rect">
            <a:avLst/>
          </a:prstGeom>
          <a:solidFill>
            <a:srgbClr val="FFFFFF"/>
          </a:solidFill>
          <a:ln w="12700">
            <a:solidFill>
              <a:srgbClr val="FFFFFF"/>
            </a:solidFill>
            <a:prstDash val="solid"/>
          </a:ln>
        </p:spPr>
      </p:sp>
      <p:sp>
        <p:nvSpPr>
          <p:cNvPr id="26" name="Shape 23"/>
          <p:cNvSpPr/>
          <p:nvPr/>
        </p:nvSpPr>
        <p:spPr>
          <a:xfrm>
            <a:off x="6187288" y="3657600"/>
            <a:ext cx="64008" cy="1682496"/>
          </a:xfrm>
          <a:prstGeom prst="rect">
            <a:avLst/>
          </a:prstGeom>
          <a:solidFill>
            <a:srgbClr val="B3181E"/>
          </a:solidFill>
          <a:ln w="12700">
            <a:solidFill>
              <a:srgbClr val="B3181E"/>
            </a:solidFill>
            <a:prstDash val="solid"/>
          </a:ln>
        </p:spPr>
      </p:sp>
      <p:sp>
        <p:nvSpPr>
          <p:cNvPr id="27" name="Text 24"/>
          <p:cNvSpPr txBox="1"/>
          <p:nvPr/>
        </p:nvSpPr>
        <p:spPr>
          <a:xfrm>
            <a:off x="6479896" y="3822192"/>
            <a:ext cx="4797400" cy="402336"/>
          </a:xfrm>
          <a:prstGeom prst="rect">
            <a:avLst/>
          </a:prstGeom>
          <a:noFill/>
          <a:ln/>
        </p:spPr>
        <p:txBody>
          <a:bodyPr wrap="square" lIns="0" tIns="0" rIns="0" bIns="0" rtlCol="0" anchor="t"/>
          <a:lstStyle/>
          <a:p>
            <a:pPr algn="l" indent="0" marL="0">
              <a:buNone/>
            </a:pPr>
            <a:r>
              <a:rPr lang="en-US" sz="2200" b="1" dirty="0">
                <a:solidFill>
                  <a:srgbClr val="B3181E"/>
                </a:solidFill>
                <a:latin typeface="Aptos Display" pitchFamily="34" charset="0"/>
                <a:ea typeface="Aptos Display" pitchFamily="34" charset="-122"/>
                <a:cs typeface="Aptos Display" pitchFamily="34" charset="-120"/>
              </a:rPr>
              <a:t>Ejecutor</a:t>
            </a:r>
            <a:endParaRPr lang="en-US" sz="2200" dirty="0"/>
          </a:p>
        </p:txBody>
      </p:sp>
      <p:sp>
        <p:nvSpPr>
          <p:cNvPr id="28" name="Text 25"/>
          <p:cNvSpPr txBox="1"/>
          <p:nvPr/>
        </p:nvSpPr>
        <p:spPr>
          <a:xfrm>
            <a:off x="6479896" y="4242816"/>
            <a:ext cx="4797400" cy="512064"/>
          </a:xfrm>
          <a:prstGeom prst="rect">
            <a:avLst/>
          </a:prstGeom>
          <a:noFill/>
          <a:ln/>
        </p:spPr>
        <p:txBody>
          <a:bodyPr wrap="square" lIns="0" tIns="0" rIns="0" bIns="0" rtlCol="0" anchor="t"/>
          <a:lstStyle/>
          <a:p>
            <a:pPr algn="l" indent="0" marL="0">
              <a:lnSpc>
                <a:spcPct val="112000"/>
              </a:lnSpc>
              <a:buNone/>
            </a:pPr>
            <a:r>
              <a:rPr lang="en-US" sz="1260" dirty="0">
                <a:solidFill>
                  <a:srgbClr val="243B53"/>
                </a:solidFill>
                <a:latin typeface="Aptos" pitchFamily="34" charset="0"/>
                <a:ea typeface="Aptos" pitchFamily="34" charset="-122"/>
                <a:cs typeface="Aptos" pitchFamily="34" charset="-120"/>
              </a:rPr>
              <a:t>El programa que encuentra las pruebas, las corre y resume el resultado.</a:t>
            </a:r>
            <a:endParaRPr lang="en-US" sz="1260" dirty="0"/>
          </a:p>
        </p:txBody>
      </p:sp>
      <p:sp>
        <p:nvSpPr>
          <p:cNvPr id="29" name="Text 26"/>
          <p:cNvSpPr txBox="1"/>
          <p:nvPr/>
        </p:nvSpPr>
        <p:spPr>
          <a:xfrm>
            <a:off x="6479896" y="4846320"/>
            <a:ext cx="4797400" cy="384048"/>
          </a:xfrm>
          <a:prstGeom prst="rect">
            <a:avLst/>
          </a:prstGeom>
          <a:noFill/>
          <a:ln/>
        </p:spPr>
        <p:txBody>
          <a:bodyPr wrap="square" lIns="0" tIns="0" rIns="0" bIns="0" rtlCol="0" anchor="t"/>
          <a:lstStyle/>
          <a:p>
            <a:pPr algn="l" indent="0" marL="0">
              <a:lnSpc>
                <a:spcPct val="110000"/>
              </a:lnSpc>
              <a:buNone/>
            </a:pPr>
            <a:r>
              <a:rPr lang="en-US" sz="1100" i="1" dirty="0">
                <a:solidFill>
                  <a:srgbClr val="52606D"/>
                </a:solidFill>
                <a:latin typeface="Aptos" pitchFamily="34" charset="0"/>
                <a:ea typeface="Aptos" pitchFamily="34" charset="-122"/>
                <a:cs typeface="Aptos" pitchFamily="34" charset="-120"/>
              </a:rPr>
              <a:t>pytest para Python; Playwright, que maneja un navegador real, para la interfaz.</a:t>
            </a:r>
            <a:endParaRPr lang="en-US" sz="1100" dirty="0"/>
          </a:p>
        </p:txBody>
      </p:sp>
      <p:sp>
        <p:nvSpPr>
          <p:cNvPr id="30" name="Shape 27"/>
          <p:cNvSpPr/>
          <p:nvPr/>
        </p:nvSpPr>
        <p:spPr>
          <a:xfrm>
            <a:off x="658368" y="5577840"/>
            <a:ext cx="10874959" cy="548640"/>
          </a:xfrm>
          <a:prstGeom prst="rect">
            <a:avLst/>
          </a:prstGeom>
          <a:solidFill>
            <a:srgbClr val="102A43"/>
          </a:solidFill>
          <a:ln w="12700">
            <a:solidFill>
              <a:srgbClr val="102A43"/>
            </a:solidFill>
            <a:prstDash val="solid"/>
          </a:ln>
        </p:spPr>
      </p:sp>
      <p:sp>
        <p:nvSpPr>
          <p:cNvPr id="31" name="Text 28"/>
          <p:cNvSpPr txBox="1"/>
          <p:nvPr/>
        </p:nvSpPr>
        <p:spPr>
          <a:xfrm>
            <a:off x="950976" y="5614416"/>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 programa lee el contrato. Hoy se prueba lo que queda después de él.</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PARA ABRIR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500" b="1" dirty="0">
                <a:solidFill>
                  <a:srgbClr val="243B53"/>
                </a:solidFill>
                <a:latin typeface="Aptos Display" pitchFamily="34" charset="0"/>
                <a:ea typeface="Aptos Display" pitchFamily="34" charset="-122"/>
                <a:cs typeface="Aptos Display" pitchFamily="34" charset="-120"/>
              </a:rPr>
              <a:t>Veinte pruebas en verde. ¿Alguien abrió el sistema?</a:t>
            </a:r>
            <a:endParaRPr lang="en-US" sz="2500" dirty="0"/>
          </a:p>
        </p:txBody>
      </p:sp>
      <p:sp>
        <p:nvSpPr>
          <p:cNvPr id="10" name="Shape 7"/>
          <p:cNvSpPr/>
          <p:nvPr/>
        </p:nvSpPr>
        <p:spPr>
          <a:xfrm>
            <a:off x="658368" y="2103120"/>
            <a:ext cx="4846320" cy="1335786"/>
          </a:xfrm>
          <a:prstGeom prst="roundRect">
            <a:avLst>
              <a:gd name="adj" fmla="val 3423"/>
            </a:avLst>
          </a:prstGeom>
          <a:solidFill>
            <a:srgbClr val="0F1720"/>
          </a:solidFill>
          <a:ln w="12700">
            <a:solidFill>
              <a:srgbClr val="0F1720"/>
            </a:solidFill>
            <a:prstDash val="solid"/>
          </a:ln>
        </p:spPr>
      </p:sp>
      <p:sp>
        <p:nvSpPr>
          <p:cNvPr id="11" name="Shape 8"/>
          <p:cNvSpPr/>
          <p:nvPr/>
        </p:nvSpPr>
        <p:spPr>
          <a:xfrm>
            <a:off x="818388" y="2235708"/>
            <a:ext cx="82296" cy="82296"/>
          </a:xfrm>
          <a:prstGeom prst="ellipse">
            <a:avLst/>
          </a:prstGeom>
          <a:solidFill>
            <a:srgbClr val="52606D"/>
          </a:solidFill>
          <a:ln w="12700">
            <a:solidFill>
              <a:srgbClr val="52606D"/>
            </a:solidFill>
            <a:prstDash val="solid"/>
          </a:ln>
        </p:spPr>
      </p:sp>
      <p:sp>
        <p:nvSpPr>
          <p:cNvPr id="12" name="Shape 9"/>
          <p:cNvSpPr/>
          <p:nvPr/>
        </p:nvSpPr>
        <p:spPr>
          <a:xfrm>
            <a:off x="973836" y="2235708"/>
            <a:ext cx="82296" cy="82296"/>
          </a:xfrm>
          <a:prstGeom prst="ellipse">
            <a:avLst/>
          </a:prstGeom>
          <a:solidFill>
            <a:srgbClr val="52606D"/>
          </a:solidFill>
          <a:ln w="12700">
            <a:solidFill>
              <a:srgbClr val="52606D"/>
            </a:solidFill>
            <a:prstDash val="solid"/>
          </a:ln>
        </p:spPr>
      </p:sp>
      <p:sp>
        <p:nvSpPr>
          <p:cNvPr id="13" name="Shape 10"/>
          <p:cNvSpPr/>
          <p:nvPr/>
        </p:nvSpPr>
        <p:spPr>
          <a:xfrm>
            <a:off x="1129284" y="2235708"/>
            <a:ext cx="82296" cy="82296"/>
          </a:xfrm>
          <a:prstGeom prst="ellipse">
            <a:avLst/>
          </a:prstGeom>
          <a:solidFill>
            <a:srgbClr val="52606D"/>
          </a:solidFill>
          <a:ln w="12700">
            <a:solidFill>
              <a:srgbClr val="52606D"/>
            </a:solidFill>
            <a:prstDash val="solid"/>
          </a:ln>
        </p:spPr>
      </p:sp>
      <p:sp>
        <p:nvSpPr>
          <p:cNvPr id="14" name="Text 11"/>
          <p:cNvSpPr/>
          <p:nvPr/>
        </p:nvSpPr>
        <p:spPr>
          <a:xfrm>
            <a:off x="1353312" y="2185416"/>
            <a:ext cx="3968496"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La suite de pytest</a:t>
            </a:r>
            <a:endParaRPr lang="en-US" sz="940" dirty="0"/>
          </a:p>
        </p:txBody>
      </p:sp>
      <p:sp>
        <p:nvSpPr>
          <p:cNvPr id="15" name="Text 12"/>
          <p:cNvSpPr/>
          <p:nvPr/>
        </p:nvSpPr>
        <p:spPr>
          <a:xfrm>
            <a:off x="859536" y="2578608"/>
            <a:ext cx="4443984" cy="244094"/>
          </a:xfrm>
          <a:prstGeom prst="rect">
            <a:avLst/>
          </a:prstGeom>
          <a:noFill/>
          <a:ln/>
        </p:spPr>
        <p:txBody>
          <a:bodyPr wrap="square" lIns="0" tIns="0" rIns="0" bIns="0" rtlCol="0" anchor="ctr"/>
          <a:lstStyle/>
          <a:p>
            <a:pPr indent="0" marL="0">
              <a:buNone/>
            </a:pPr>
            <a:r>
              <a:rPr lang="en-US" sz="1240" dirty="0">
                <a:solidFill>
                  <a:srgbClr val="E0BC5A"/>
                </a:solidFill>
                <a:latin typeface="Consolas" pitchFamily="34" charset="0"/>
                <a:ea typeface="Consolas" pitchFamily="34" charset="-122"/>
                <a:cs typeface="Consolas" pitchFamily="34" charset="-120"/>
              </a:rPr>
              <a:t>&gt; uv run pytest -q</a:t>
            </a:r>
            <a:endParaRPr lang="en-US" sz="1240" dirty="0"/>
          </a:p>
        </p:txBody>
      </p:sp>
      <p:sp>
        <p:nvSpPr>
          <p:cNvPr id="16" name="Text 13"/>
          <p:cNvSpPr/>
          <p:nvPr/>
        </p:nvSpPr>
        <p:spPr>
          <a:xfrm>
            <a:off x="859536" y="2822702"/>
            <a:ext cx="4443984" cy="244094"/>
          </a:xfrm>
          <a:prstGeom prst="rect">
            <a:avLst/>
          </a:prstGeom>
          <a:noFill/>
          <a:ln/>
        </p:spPr>
        <p:txBody>
          <a:bodyPr wrap="square" lIns="0" tIns="0" rIns="0" bIns="0" rtlCol="0" anchor="ctr"/>
          <a:lstStyle/>
          <a:p>
            <a:pPr indent="0" marL="0">
              <a:buNone/>
            </a:pPr>
            <a:r>
              <a:rPr lang="en-US" sz="1240" dirty="0">
                <a:solidFill>
                  <a:srgbClr val="8AA0B6"/>
                </a:solidFill>
                <a:latin typeface="Consolas" pitchFamily="34" charset="0"/>
                <a:ea typeface="Consolas" pitchFamily="34" charset="-122"/>
                <a:cs typeface="Consolas" pitchFamily="34" charset="-120"/>
              </a:rPr>
              <a:t>....................  [100%]</a:t>
            </a:r>
            <a:endParaRPr lang="en-US" sz="1240" dirty="0"/>
          </a:p>
        </p:txBody>
      </p:sp>
      <p:sp>
        <p:nvSpPr>
          <p:cNvPr id="17" name="Text 14"/>
          <p:cNvSpPr/>
          <p:nvPr/>
        </p:nvSpPr>
        <p:spPr>
          <a:xfrm>
            <a:off x="859536" y="3066796"/>
            <a:ext cx="4443984" cy="244094"/>
          </a:xfrm>
          <a:prstGeom prst="rect">
            <a:avLst/>
          </a:prstGeom>
          <a:noFill/>
          <a:ln/>
        </p:spPr>
        <p:txBody>
          <a:bodyPr wrap="square" lIns="0" tIns="0" rIns="0" bIns="0" rtlCol="0" anchor="ctr"/>
          <a:lstStyle/>
          <a:p>
            <a:pPr indent="0" marL="0">
              <a:buNone/>
            </a:pPr>
            <a:r>
              <a:rPr lang="en-US" sz="1240" b="1" dirty="0">
                <a:solidFill>
                  <a:srgbClr val="3FAE6A"/>
                </a:solidFill>
                <a:latin typeface="Consolas" pitchFamily="34" charset="0"/>
                <a:ea typeface="Consolas" pitchFamily="34" charset="-122"/>
                <a:cs typeface="Consolas" pitchFamily="34" charset="-120"/>
              </a:rPr>
              <a:t>20 passed in 0.71s</a:t>
            </a:r>
            <a:endParaRPr lang="en-US" sz="1240" dirty="0"/>
          </a:p>
        </p:txBody>
      </p:sp>
      <p:sp>
        <p:nvSpPr>
          <p:cNvPr id="18" name="Text 15"/>
          <p:cNvSpPr txBox="1"/>
          <p:nvPr/>
        </p:nvSpPr>
        <p:spPr>
          <a:xfrm>
            <a:off x="658368" y="3530346"/>
            <a:ext cx="4846320" cy="237744"/>
          </a:xfrm>
          <a:prstGeom prst="rect">
            <a:avLst/>
          </a:prstGeom>
          <a:noFill/>
          <a:ln/>
        </p:spPr>
        <p:txBody>
          <a:bodyPr wrap="square" lIns="0" tIns="0" rIns="0" bIns="0" rtlCol="0" anchor="t"/>
          <a:lstStyle/>
          <a:p>
            <a:pPr algn="l" indent="0" marL="0">
              <a:buNone/>
            </a:pPr>
            <a:r>
              <a:rPr lang="en-US" sz="1040" i="1" dirty="0">
                <a:solidFill>
                  <a:srgbClr val="52606D"/>
                </a:solidFill>
                <a:latin typeface="Aptos" pitchFamily="34" charset="0"/>
                <a:ea typeface="Aptos" pitchFamily="34" charset="-122"/>
                <a:cs typeface="Aptos" pitchFamily="34" charset="-120"/>
              </a:rPr>
              <a:t>uv run pytest ejecuta la suite; cada punto es una prueba que pasó.</a:t>
            </a:r>
            <a:endParaRPr lang="en-US" sz="1040" dirty="0"/>
          </a:p>
        </p:txBody>
      </p:sp>
      <p:sp>
        <p:nvSpPr>
          <p:cNvPr id="19" name="Text 16"/>
          <p:cNvSpPr txBox="1"/>
          <p:nvPr/>
        </p:nvSpPr>
        <p:spPr>
          <a:xfrm>
            <a:off x="658368" y="3932682"/>
            <a:ext cx="4846320" cy="603504"/>
          </a:xfrm>
          <a:prstGeom prst="rect">
            <a:avLst/>
          </a:prstGeom>
          <a:noFill/>
          <a:ln/>
        </p:spPr>
        <p:txBody>
          <a:bodyPr wrap="square" lIns="0" tIns="0" rIns="0" bIns="0" rtlCol="0" anchor="t"/>
          <a:lstStyle/>
          <a:p>
            <a:pPr algn="l" indent="0" marL="0">
              <a:buNone/>
            </a:pPr>
            <a:r>
              <a:rPr lang="en-US" sz="1500" b="1" dirty="0">
                <a:solidFill>
                  <a:srgbClr val="243B53"/>
                </a:solidFill>
                <a:latin typeface="Aptos" pitchFamily="34" charset="0"/>
                <a:ea typeface="Aptos" pitchFamily="34" charset="-122"/>
                <a:cs typeface="Aptos" pitchFamily="34" charset="-120"/>
              </a:rPr>
              <a:t>Las veinte envían solicitudes desde un programa.</a:t>
            </a:r>
            <a:endParaRPr lang="en-US" sz="1500" dirty="0"/>
          </a:p>
        </p:txBody>
      </p:sp>
      <p:sp>
        <p:nvSpPr>
          <p:cNvPr id="20" name="Text 17"/>
          <p:cNvSpPr txBox="1"/>
          <p:nvPr/>
        </p:nvSpPr>
        <p:spPr>
          <a:xfrm>
            <a:off x="658368" y="4627626"/>
            <a:ext cx="4846320" cy="329184"/>
          </a:xfrm>
          <a:prstGeom prst="rect">
            <a:avLst/>
          </a:prstGeom>
          <a:noFill/>
          <a:ln/>
        </p:spPr>
        <p:txBody>
          <a:bodyPr wrap="square" lIns="0" tIns="0" rIns="0" bIns="0" rtlCol="0" anchor="t"/>
          <a:lstStyle/>
          <a:p>
            <a:pPr algn="l" indent="0" marL="0">
              <a:buNone/>
            </a:pPr>
            <a:r>
              <a:rPr lang="en-US" sz="1500" b="1" dirty="0">
                <a:solidFill>
                  <a:srgbClr val="D62027"/>
                </a:solidFill>
                <a:latin typeface="Aptos" pitchFamily="34" charset="0"/>
                <a:ea typeface="Aptos" pitchFamily="34" charset="-122"/>
                <a:cs typeface="Aptos" pitchFamily="34" charset="-120"/>
              </a:rPr>
              <a:t>Ninguna abre la página.</a:t>
            </a:r>
            <a:endParaRPr lang="en-US" sz="1500" dirty="0"/>
          </a:p>
        </p:txBody>
      </p:sp>
      <p:sp>
        <p:nvSpPr>
          <p:cNvPr id="21" name="Shape 18"/>
          <p:cNvSpPr/>
          <p:nvPr/>
        </p:nvSpPr>
        <p:spPr>
          <a:xfrm>
            <a:off x="5769864" y="1828800"/>
            <a:ext cx="5760720" cy="3728272"/>
          </a:xfrm>
          <a:prstGeom prst="roundRect">
            <a:avLst>
              <a:gd name="adj" fmla="val 1472"/>
            </a:avLst>
          </a:prstGeom>
          <a:solidFill>
            <a:srgbClr val="FFFFFF"/>
          </a:solidFill>
          <a:ln w="12700">
            <a:solidFill>
              <a:srgbClr val="D8CFC4"/>
            </a:solidFill>
            <a:prstDash val="solid"/>
          </a:ln>
        </p:spPr>
      </p:sp>
      <p:sp>
        <p:nvSpPr>
          <p:cNvPr id="22" name="Shape 19"/>
          <p:cNvSpPr/>
          <p:nvPr/>
        </p:nvSpPr>
        <p:spPr>
          <a:xfrm>
            <a:off x="5788152" y="2130552"/>
            <a:ext cx="5724144" cy="9144"/>
          </a:xfrm>
          <a:prstGeom prst="rect">
            <a:avLst/>
          </a:prstGeom>
          <a:solidFill>
            <a:srgbClr val="D8CFC4"/>
          </a:solidFill>
          <a:ln w="12700">
            <a:solidFill>
              <a:srgbClr val="D8CFC4"/>
            </a:solidFill>
            <a:prstDash val="solid"/>
          </a:ln>
        </p:spPr>
      </p:sp>
      <p:sp>
        <p:nvSpPr>
          <p:cNvPr id="23" name="Shape 20"/>
          <p:cNvSpPr/>
          <p:nvPr/>
        </p:nvSpPr>
        <p:spPr>
          <a:xfrm>
            <a:off x="5911596" y="1943100"/>
            <a:ext cx="82296" cy="82296"/>
          </a:xfrm>
          <a:prstGeom prst="ellipse">
            <a:avLst/>
          </a:prstGeom>
          <a:solidFill>
            <a:srgbClr val="D8CFC4"/>
          </a:solidFill>
          <a:ln w="12700">
            <a:solidFill>
              <a:srgbClr val="D8CFC4"/>
            </a:solidFill>
            <a:prstDash val="solid"/>
          </a:ln>
        </p:spPr>
      </p:sp>
      <p:sp>
        <p:nvSpPr>
          <p:cNvPr id="24" name="Shape 21"/>
          <p:cNvSpPr/>
          <p:nvPr/>
        </p:nvSpPr>
        <p:spPr>
          <a:xfrm>
            <a:off x="6057900" y="1943100"/>
            <a:ext cx="82296" cy="82296"/>
          </a:xfrm>
          <a:prstGeom prst="ellipse">
            <a:avLst/>
          </a:prstGeom>
          <a:solidFill>
            <a:srgbClr val="D8CFC4"/>
          </a:solidFill>
          <a:ln w="12700">
            <a:solidFill>
              <a:srgbClr val="D8CFC4"/>
            </a:solidFill>
            <a:prstDash val="solid"/>
          </a:ln>
        </p:spPr>
      </p:sp>
      <p:sp>
        <p:nvSpPr>
          <p:cNvPr id="25" name="Shape 22"/>
          <p:cNvSpPr/>
          <p:nvPr/>
        </p:nvSpPr>
        <p:spPr>
          <a:xfrm>
            <a:off x="6204204" y="1943100"/>
            <a:ext cx="82296" cy="82296"/>
          </a:xfrm>
          <a:prstGeom prst="ellipse">
            <a:avLst/>
          </a:prstGeom>
          <a:solidFill>
            <a:srgbClr val="D8CFC4"/>
          </a:solidFill>
          <a:ln w="12700">
            <a:solidFill>
              <a:srgbClr val="D8CFC4"/>
            </a:solidFill>
            <a:prstDash val="solid"/>
          </a:ln>
        </p:spPr>
      </p:sp>
      <p:sp>
        <p:nvSpPr>
          <p:cNvPr id="26" name="Shape 23"/>
          <p:cNvSpPr/>
          <p:nvPr/>
        </p:nvSpPr>
        <p:spPr>
          <a:xfrm>
            <a:off x="6501384" y="1892808"/>
            <a:ext cx="2926080" cy="182880"/>
          </a:xfrm>
          <a:prstGeom prst="roundRect">
            <a:avLst>
              <a:gd name="adj" fmla="val 50000"/>
            </a:avLst>
          </a:prstGeom>
          <a:solidFill>
            <a:srgbClr val="EDE6DA"/>
          </a:solidFill>
          <a:ln w="12700">
            <a:solidFill>
              <a:srgbClr val="EDE6DA"/>
            </a:solidFill>
            <a:prstDash val="solid"/>
          </a:ln>
        </p:spPr>
      </p:sp>
      <p:sp>
        <p:nvSpPr>
          <p:cNvPr id="27" name="Text 24"/>
          <p:cNvSpPr/>
          <p:nvPr/>
        </p:nvSpPr>
        <p:spPr>
          <a:xfrm>
            <a:off x="6611112" y="1901952"/>
            <a:ext cx="2743200" cy="164592"/>
          </a:xfrm>
          <a:prstGeom prst="rect">
            <a:avLst/>
          </a:prstGeom>
          <a:noFill/>
          <a:ln/>
        </p:spPr>
        <p:txBody>
          <a:bodyPr wrap="square" lIns="0" tIns="0" rIns="0" bIns="0" rtlCol="0" anchor="ctr"/>
          <a:lstStyle/>
          <a:p>
            <a:pPr indent="0" marL="0">
              <a:buNone/>
            </a:pPr>
            <a:r>
              <a:rPr lang="en-US" sz="840" dirty="0">
                <a:solidFill>
                  <a:srgbClr val="52606D"/>
                </a:solidFill>
                <a:latin typeface="Consolas" pitchFamily="34" charset="0"/>
                <a:ea typeface="Consolas" pitchFamily="34" charset="-122"/>
                <a:cs typeface="Consolas" pitchFamily="34" charset="-120"/>
              </a:rPr>
              <a:t>127.0.0.1:8000</a:t>
            </a:r>
            <a:endParaRPr lang="en-US" sz="840" dirty="0"/>
          </a:p>
        </p:txBody>
      </p:sp>
      <p:pic>
        <p:nvPicPr>
          <p:cNvPr id="28" name="Image 1" descr="C:\Users\Diego Obando\dev\pro402-taller-de-testing-2026\clases\semana-05\01\ppt\source\assets\interfaz-inicio.png">    </p:cNvPr>
          <p:cNvPicPr>
            <a:picLocks noChangeAspect="1"/>
          </p:cNvPicPr>
          <p:nvPr/>
        </p:nvPicPr>
        <p:blipFill>
          <a:blip r:embed="rId3"/>
          <a:stretch>
            <a:fillRect/>
          </a:stretch>
        </p:blipFill>
        <p:spPr>
          <a:xfrm>
            <a:off x="5788152" y="2139696"/>
            <a:ext cx="5724144" cy="3399088"/>
          </a:xfrm>
          <a:prstGeom prst="rect">
            <a:avLst/>
          </a:prstGeom>
        </p:spPr>
      </p:pic>
      <p:sp>
        <p:nvSpPr>
          <p:cNvPr id="29" name="Shape 25"/>
          <p:cNvSpPr/>
          <p:nvPr/>
        </p:nvSpPr>
        <p:spPr>
          <a:xfrm>
            <a:off x="658368" y="5650992"/>
            <a:ext cx="10874959" cy="548640"/>
          </a:xfrm>
          <a:prstGeom prst="rect">
            <a:avLst/>
          </a:prstGeom>
          <a:solidFill>
            <a:srgbClr val="102A43"/>
          </a:solidFill>
          <a:ln w="12700">
            <a:solidFill>
              <a:srgbClr val="102A43"/>
            </a:solidFill>
            <a:prstDash val="solid"/>
          </a:ln>
        </p:spPr>
      </p:sp>
      <p:sp>
        <p:nvSpPr>
          <p:cNvPr id="30" name="Text 2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Desde hoy el sistema tiene algo que una persona puede abrir. Nadie lo ha probado.</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EL TESTIGO DISTINTO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600" b="1" dirty="0">
                <a:solidFill>
                  <a:srgbClr val="243B53"/>
                </a:solidFill>
                <a:latin typeface="Aptos Display" pitchFamily="34" charset="0"/>
                <a:ea typeface="Aptos Display" pitchFamily="34" charset="-122"/>
                <a:cs typeface="Aptos Display" pitchFamily="34" charset="-120"/>
              </a:rPr>
              <a:t>El programa lee el contrato. La persona, la pantalla.</a:t>
            </a:r>
            <a:endParaRPr lang="en-US" sz="2600" dirty="0"/>
          </a:p>
        </p:txBody>
      </p:sp>
      <p:sp>
        <p:nvSpPr>
          <p:cNvPr id="10" name="Text 7"/>
          <p:cNvSpPr txBox="1"/>
          <p:nvPr/>
        </p:nvSpPr>
        <p:spPr>
          <a:xfrm>
            <a:off x="658368" y="1792224"/>
            <a:ext cx="530032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LO QUE RECIBE UN PROGRAMA</a:t>
            </a:r>
            <a:endParaRPr lang="en-US" sz="960" dirty="0"/>
          </a:p>
        </p:txBody>
      </p:sp>
      <p:sp>
        <p:nvSpPr>
          <p:cNvPr id="11" name="Shape 8"/>
          <p:cNvSpPr/>
          <p:nvPr/>
        </p:nvSpPr>
        <p:spPr>
          <a:xfrm>
            <a:off x="658368" y="2066544"/>
            <a:ext cx="5300320" cy="1246632"/>
          </a:xfrm>
          <a:prstGeom prst="roundRect">
            <a:avLst>
              <a:gd name="adj" fmla="val 3667"/>
            </a:avLst>
          </a:prstGeom>
          <a:solidFill>
            <a:srgbClr val="102A43"/>
          </a:solidFill>
          <a:ln w="12700">
            <a:solidFill>
              <a:srgbClr val="102A43"/>
            </a:solidFill>
            <a:prstDash val="solid"/>
          </a:ln>
        </p:spPr>
      </p:sp>
      <p:sp>
        <p:nvSpPr>
          <p:cNvPr id="12" name="Shape 9"/>
          <p:cNvSpPr/>
          <p:nvPr/>
        </p:nvSpPr>
        <p:spPr>
          <a:xfrm>
            <a:off x="658368" y="2423160"/>
            <a:ext cx="5300320" cy="9144"/>
          </a:xfrm>
          <a:prstGeom prst="rect">
            <a:avLst/>
          </a:prstGeom>
          <a:solidFill>
            <a:srgbClr val="284B75"/>
          </a:solidFill>
          <a:ln w="12700">
            <a:solidFill>
              <a:srgbClr val="284B75"/>
            </a:solidFill>
            <a:prstDash val="solid"/>
          </a:ln>
        </p:spPr>
      </p:sp>
      <p:sp>
        <p:nvSpPr>
          <p:cNvPr id="13" name="Text 10"/>
          <p:cNvSpPr/>
          <p:nvPr/>
        </p:nvSpPr>
        <p:spPr>
          <a:xfrm>
            <a:off x="841248" y="2157984"/>
            <a:ext cx="4934560"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Respuesta 409 · formato JSON: pares de nombre y valor</a:t>
            </a:r>
            <a:endParaRPr lang="en-US" sz="96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560320"/>
            <a:ext cx="4971136" cy="624840"/>
          </a:xfrm>
          <a:prstGeom prst="rect">
            <a:avLst/>
          </a:prstGeom>
        </p:spPr>
      </p:pic>
      <p:sp>
        <p:nvSpPr>
          <p:cNvPr id="15" name="Text 11"/>
          <p:cNvSpPr txBox="1"/>
          <p:nvPr/>
        </p:nvSpPr>
        <p:spPr>
          <a:xfrm>
            <a:off x="658368" y="3401568"/>
            <a:ext cx="5300320" cy="457200"/>
          </a:xfrm>
          <a:prstGeom prst="rect">
            <a:avLst/>
          </a:prstGeom>
          <a:noFill/>
          <a:ln/>
        </p:spPr>
        <p:txBody>
          <a:bodyPr wrap="square" lIns="0" tIns="0" rIns="0" bIns="0" rtlCol="0" anchor="t"/>
          <a:lstStyle/>
          <a:p>
            <a:pPr algn="l" indent="0" marL="0">
              <a:lnSpc>
                <a:spcPct val="112000"/>
              </a:lnSpc>
              <a:buNone/>
            </a:pPr>
            <a:r>
              <a:rPr lang="en-US" sz="1160" dirty="0">
                <a:solidFill>
                  <a:srgbClr val="52606D"/>
                </a:solidFill>
                <a:latin typeface="Aptos" pitchFamily="34" charset="0"/>
                <a:ea typeface="Aptos" pitchFamily="34" charset="-122"/>
                <a:cs typeface="Aptos" pitchFamily="34" charset="-120"/>
              </a:rPr>
              <a:t>Lee el código de estado —el número con que la API dice qué pasó; 409 es un rechazo— y el campo detail. El contrato le dice qué significa cada uno.</a:t>
            </a:r>
            <a:endParaRPr lang="en-US" sz="1160" dirty="0"/>
          </a:p>
        </p:txBody>
      </p:sp>
      <p:sp>
        <p:nvSpPr>
          <p:cNvPr id="16" name="Text 12"/>
          <p:cNvSpPr txBox="1"/>
          <p:nvPr/>
        </p:nvSpPr>
        <p:spPr>
          <a:xfrm>
            <a:off x="6233008" y="1792224"/>
            <a:ext cx="530032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LO QUE VE UNA PERSONA</a:t>
            </a:r>
            <a:endParaRPr lang="en-US" sz="960" dirty="0"/>
          </a:p>
        </p:txBody>
      </p:sp>
      <p:sp>
        <p:nvSpPr>
          <p:cNvPr id="17" name="Shape 13"/>
          <p:cNvSpPr/>
          <p:nvPr/>
        </p:nvSpPr>
        <p:spPr>
          <a:xfrm>
            <a:off x="6233008" y="2066544"/>
            <a:ext cx="5300320" cy="1188720"/>
          </a:xfrm>
          <a:prstGeom prst="rect">
            <a:avLst/>
          </a:prstGeom>
          <a:solidFill>
            <a:srgbClr val="FFFFFF"/>
          </a:solidFill>
          <a:ln w="12700">
            <a:solidFill>
              <a:srgbClr val="D8CFC4"/>
            </a:solidFill>
            <a:prstDash val="solid"/>
          </a:ln>
        </p:spPr>
      </p:sp>
      <p:sp>
        <p:nvSpPr>
          <p:cNvPr id="18" name="Shape 14"/>
          <p:cNvSpPr/>
          <p:nvPr/>
        </p:nvSpPr>
        <p:spPr>
          <a:xfrm>
            <a:off x="6507328" y="2249424"/>
            <a:ext cx="4751680" cy="384048"/>
          </a:xfrm>
          <a:prstGeom prst="roundRect">
            <a:avLst>
              <a:gd name="adj" fmla="val 14286"/>
            </a:avLst>
          </a:prstGeom>
          <a:solidFill>
            <a:srgbClr val="102A43"/>
          </a:solidFill>
          <a:ln w="12700">
            <a:solidFill>
              <a:srgbClr val="102A43"/>
            </a:solidFill>
            <a:prstDash val="solid"/>
          </a:ln>
        </p:spPr>
      </p:sp>
      <p:sp>
        <p:nvSpPr>
          <p:cNvPr id="19" name="Text 15"/>
          <p:cNvSpPr txBox="1"/>
          <p:nvPr/>
        </p:nvSpPr>
        <p:spPr>
          <a:xfrm>
            <a:off x="6562192" y="2286000"/>
            <a:ext cx="4641952" cy="310896"/>
          </a:xfrm>
          <a:prstGeom prst="rect">
            <a:avLst/>
          </a:prstGeom>
          <a:noFill/>
          <a:ln/>
        </p:spPr>
        <p:txBody>
          <a:bodyPr wrap="square" lIns="0" tIns="0" rIns="0" bIns="0" rtlCol="0" anchor="ctr"/>
          <a:lstStyle/>
          <a:p>
            <a:pPr algn="ctr" indent="0" marL="0">
              <a:buNone/>
            </a:pPr>
            <a:r>
              <a:rPr lang="en-US" sz="1300" dirty="0">
                <a:solidFill>
                  <a:srgbClr val="FFFFFF"/>
                </a:solidFill>
                <a:latin typeface="Aptos" pitchFamily="34" charset="0"/>
                <a:ea typeface="Aptos" pitchFamily="34" charset="-122"/>
                <a:cs typeface="Aptos" pitchFamily="34" charset="-120"/>
              </a:rPr>
              <a:t>Reservar</a:t>
            </a:r>
            <a:endParaRPr lang="en-US" sz="1300" dirty="0"/>
          </a:p>
        </p:txBody>
      </p:sp>
      <p:sp>
        <p:nvSpPr>
          <p:cNvPr id="20" name="Text 16"/>
          <p:cNvSpPr txBox="1"/>
          <p:nvPr/>
        </p:nvSpPr>
        <p:spPr>
          <a:xfrm>
            <a:off x="6507328" y="2761488"/>
            <a:ext cx="4751680" cy="310896"/>
          </a:xfrm>
          <a:prstGeom prst="rect">
            <a:avLst/>
          </a:prstGeom>
          <a:noFill/>
          <a:ln/>
        </p:spPr>
        <p:txBody>
          <a:bodyPr wrap="square" lIns="0" tIns="0" rIns="0" bIns="0" rtlCol="0" anchor="t"/>
          <a:lstStyle/>
          <a:p>
            <a:pPr algn="l" indent="0" marL="0">
              <a:buNone/>
            </a:pPr>
            <a:r>
              <a:rPr lang="en-US" sz="1400" dirty="0">
                <a:solidFill>
                  <a:srgbClr val="B3181E"/>
                </a:solidFill>
                <a:latin typeface="Aptos" pitchFamily="34" charset="0"/>
                <a:ea typeface="Aptos" pitchFamily="34" charset="-122"/>
                <a:cs typeface="Aptos" pitchFamily="34" charset="-120"/>
              </a:rPr>
              <a:t>La reserva no esta permitida</a:t>
            </a:r>
            <a:endParaRPr lang="en-US" sz="1400" dirty="0"/>
          </a:p>
        </p:txBody>
      </p:sp>
      <p:sp>
        <p:nvSpPr>
          <p:cNvPr id="21" name="Text 17"/>
          <p:cNvSpPr txBox="1"/>
          <p:nvPr/>
        </p:nvSpPr>
        <p:spPr>
          <a:xfrm>
            <a:off x="6233008" y="3401568"/>
            <a:ext cx="5300320" cy="457200"/>
          </a:xfrm>
          <a:prstGeom prst="rect">
            <a:avLst/>
          </a:prstGeom>
          <a:noFill/>
          <a:ln/>
        </p:spPr>
        <p:txBody>
          <a:bodyPr wrap="square" lIns="0" tIns="0" rIns="0" bIns="0" rtlCol="0" anchor="t"/>
          <a:lstStyle/>
          <a:p>
            <a:pPr algn="l" indent="0" marL="0">
              <a:lnSpc>
                <a:spcPct val="112000"/>
              </a:lnSpc>
              <a:buNone/>
            </a:pPr>
            <a:r>
              <a:rPr lang="en-US" sz="1160" dirty="0">
                <a:solidFill>
                  <a:srgbClr val="52606D"/>
                </a:solidFill>
                <a:latin typeface="Aptos" pitchFamily="34" charset="0"/>
                <a:ea typeface="Aptos" pitchFamily="34" charset="-122"/>
                <a:cs typeface="Aptos" pitchFamily="34" charset="-120"/>
              </a:rPr>
              <a:t>Lee una frase. No sabe si el bloque estaba tomado, si eran muchas personas, ni qué hacer ahora.</a:t>
            </a:r>
            <a:endParaRPr lang="en-US" sz="1160" dirty="0"/>
          </a:p>
        </p:txBody>
      </p:sp>
      <p:sp>
        <p:nvSpPr>
          <p:cNvPr id="22" name="Shape 18"/>
          <p:cNvSpPr/>
          <p:nvPr/>
        </p:nvSpPr>
        <p:spPr>
          <a:xfrm>
            <a:off x="658368" y="4224528"/>
            <a:ext cx="10874959" cy="1097280"/>
          </a:xfrm>
          <a:prstGeom prst="rect">
            <a:avLst/>
          </a:prstGeom>
          <a:solidFill>
            <a:srgbClr val="1D3A57"/>
          </a:solidFill>
          <a:ln w="12700">
            <a:solidFill>
              <a:srgbClr val="1D3A57"/>
            </a:solidFill>
            <a:prstDash val="solid"/>
          </a:ln>
        </p:spPr>
      </p:sp>
      <p:sp>
        <p:nvSpPr>
          <p:cNvPr id="23" name="Text 19"/>
          <p:cNvSpPr txBox="1"/>
          <p:nvPr/>
        </p:nvSpPr>
        <p:spPr>
          <a:xfrm>
            <a:off x="969264" y="4352544"/>
            <a:ext cx="54864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PRUEBA DE EXTREMO A EXTREMO</a:t>
            </a:r>
            <a:endParaRPr lang="en-US" sz="960" dirty="0"/>
          </a:p>
        </p:txBody>
      </p:sp>
      <p:sp>
        <p:nvSpPr>
          <p:cNvPr id="24" name="Text 20"/>
          <p:cNvSpPr txBox="1"/>
          <p:nvPr/>
        </p:nvSpPr>
        <p:spPr>
          <a:xfrm>
            <a:off x="969264" y="4590288"/>
            <a:ext cx="10253167" cy="658368"/>
          </a:xfrm>
          <a:prstGeom prst="rect">
            <a:avLst/>
          </a:prstGeom>
          <a:noFill/>
          <a:ln/>
        </p:spPr>
        <p:txBody>
          <a:bodyPr wrap="square" lIns="0" tIns="0" rIns="0" bIns="0" rtlCol="0" anchor="t"/>
          <a:lstStyle/>
          <a:p>
            <a:pPr algn="l" indent="0" marL="0">
              <a:lnSpc>
                <a:spcPct val="112000"/>
              </a:lnSpc>
              <a:buNone/>
            </a:pPr>
            <a:r>
              <a:rPr lang="en-US" sz="1300" dirty="0">
                <a:solidFill>
                  <a:srgbClr val="FFFFFF"/>
                </a:solidFill>
                <a:latin typeface="Aptos" pitchFamily="34" charset="0"/>
                <a:ea typeface="Aptos" pitchFamily="34" charset="-122"/>
                <a:cs typeface="Aptos" pitchFamily="34" charset="-120"/>
              </a:rPr>
              <a:t>Recorre el sistema por donde lo usa una persona —abre la página, escribe, aprieta, lee— y afirma algo sobre lo que esa persona encontró. No sustituye ninguna pieza. Lo que la distingue no es cuánto código toca, sino quién está mirando.</a:t>
            </a:r>
            <a:endParaRPr lang="en-US" sz="1300" dirty="0"/>
          </a:p>
        </p:txBody>
      </p:sp>
      <p:sp>
        <p:nvSpPr>
          <p:cNvPr id="25" name="Shape 21"/>
          <p:cNvSpPr/>
          <p:nvPr/>
        </p:nvSpPr>
        <p:spPr>
          <a:xfrm>
            <a:off x="658368" y="5650992"/>
            <a:ext cx="10874959" cy="548640"/>
          </a:xfrm>
          <a:prstGeom prst="rect">
            <a:avLst/>
          </a:prstGeom>
          <a:solidFill>
            <a:srgbClr val="102A43"/>
          </a:solidFill>
          <a:ln w="12700">
            <a:solidFill>
              <a:srgbClr val="102A43"/>
            </a:solidFill>
            <a:prstDash val="solid"/>
          </a:ln>
        </p:spPr>
      </p:sp>
      <p:sp>
        <p:nvSpPr>
          <p:cNvPr id="26" name="Text 2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Este nivel no agrega precisión: agrega un testigo distinto.</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MAPA DE LA SESIÓN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140 minutos, de 08:30 a 10:50</a:t>
            </a:r>
            <a:endParaRPr lang="en-US" sz="3000" dirty="0"/>
          </a:p>
        </p:txBody>
      </p:sp>
      <p:sp>
        <p:nvSpPr>
          <p:cNvPr id="10" name="Shape 7"/>
          <p:cNvSpPr/>
          <p:nvPr/>
        </p:nvSpPr>
        <p:spPr>
          <a:xfrm>
            <a:off x="658368" y="2103120"/>
            <a:ext cx="740207" cy="310896"/>
          </a:xfrm>
          <a:prstGeom prst="rect">
            <a:avLst/>
          </a:prstGeom>
          <a:solidFill>
            <a:srgbClr val="52606D"/>
          </a:solidFill>
          <a:ln w="12700">
            <a:solidFill>
              <a:srgbClr val="52606D"/>
            </a:solidFill>
            <a:prstDash val="solid"/>
          </a:ln>
        </p:spPr>
      </p:sp>
      <p:sp>
        <p:nvSpPr>
          <p:cNvPr id="11" name="Text 8"/>
          <p:cNvSpPr txBox="1"/>
          <p:nvPr/>
        </p:nvSpPr>
        <p:spPr>
          <a:xfrm>
            <a:off x="658368" y="2487168"/>
            <a:ext cx="822960" cy="182880"/>
          </a:xfrm>
          <a:prstGeom prst="rect">
            <a:avLst/>
          </a:prstGeom>
          <a:noFill/>
          <a:ln/>
        </p:spPr>
        <p:txBody>
          <a:bodyPr wrap="square" lIns="0" tIns="0" rIns="0" bIns="0" rtlCol="0" anchor="t"/>
          <a:lstStyle/>
          <a:p>
            <a:pPr algn="l" indent="0" marL="0">
              <a:buNone/>
            </a:pPr>
            <a:r>
              <a:rPr lang="en-US" sz="840" dirty="0">
                <a:solidFill>
                  <a:srgbClr val="52606D"/>
                </a:solidFill>
                <a:latin typeface="Aptos" pitchFamily="34" charset="0"/>
                <a:ea typeface="Aptos" pitchFamily="34" charset="-122"/>
                <a:cs typeface="Aptos" pitchFamily="34" charset="-120"/>
              </a:rPr>
              <a:t>Encuadre · 10</a:t>
            </a:r>
            <a:endParaRPr lang="en-US" sz="840" dirty="0"/>
          </a:p>
        </p:txBody>
      </p:sp>
      <p:sp>
        <p:nvSpPr>
          <p:cNvPr id="12" name="Text 9"/>
          <p:cNvSpPr txBox="1"/>
          <p:nvPr/>
        </p:nvSpPr>
        <p:spPr>
          <a:xfrm>
            <a:off x="640080" y="1847088"/>
            <a:ext cx="384048" cy="182880"/>
          </a:xfrm>
          <a:prstGeom prst="rect">
            <a:avLst/>
          </a:prstGeom>
          <a:noFill/>
          <a:ln/>
        </p:spPr>
        <p:txBody>
          <a:bodyPr wrap="square" lIns="0" tIns="0" rIns="0" bIns="0" rtlCol="0" anchor="t"/>
          <a:lstStyle/>
          <a:p>
            <a:pPr algn="l" indent="0" marL="0">
              <a:buNone/>
            </a:pPr>
            <a:r>
              <a:rPr lang="en-US" sz="860" dirty="0">
                <a:solidFill>
                  <a:srgbClr val="52606D"/>
                </a:solidFill>
                <a:latin typeface="Consolas" pitchFamily="34" charset="0"/>
                <a:ea typeface="Consolas" pitchFamily="34" charset="-122"/>
                <a:cs typeface="Consolas" pitchFamily="34" charset="-120"/>
              </a:rPr>
              <a:t>08:30</a:t>
            </a:r>
            <a:endParaRPr lang="en-US" sz="860" dirty="0"/>
          </a:p>
        </p:txBody>
      </p:sp>
      <p:sp>
        <p:nvSpPr>
          <p:cNvPr id="13" name="Shape 10"/>
          <p:cNvSpPr/>
          <p:nvPr/>
        </p:nvSpPr>
        <p:spPr>
          <a:xfrm>
            <a:off x="1435151" y="2103120"/>
            <a:ext cx="2293772" cy="566928"/>
          </a:xfrm>
          <a:prstGeom prst="rect">
            <a:avLst/>
          </a:prstGeom>
          <a:solidFill>
            <a:srgbClr val="D62027"/>
          </a:solidFill>
          <a:ln w="12700">
            <a:solidFill>
              <a:srgbClr val="D62027"/>
            </a:solidFill>
            <a:prstDash val="solid"/>
          </a:ln>
        </p:spPr>
      </p:sp>
      <p:sp>
        <p:nvSpPr>
          <p:cNvPr id="14" name="Text 11"/>
          <p:cNvSpPr txBox="1"/>
          <p:nvPr/>
        </p:nvSpPr>
        <p:spPr>
          <a:xfrm>
            <a:off x="1563167" y="2212848"/>
            <a:ext cx="2056028" cy="219456"/>
          </a:xfrm>
          <a:prstGeom prst="rect">
            <a:avLst/>
          </a:prstGeom>
          <a:noFill/>
          <a:ln/>
        </p:spPr>
        <p:txBody>
          <a:bodyPr wrap="square" lIns="0" tIns="0" rIns="0" bIns="0" rtlCol="0" anchor="t"/>
          <a:lstStyle/>
          <a:p>
            <a:pPr algn="l" indent="0" marL="0">
              <a:buNone/>
            </a:pPr>
            <a:r>
              <a:rPr lang="en-US" sz="1200" b="1" spc="90" kern="0" dirty="0">
                <a:solidFill>
                  <a:srgbClr val="FFFFFF"/>
                </a:solidFill>
                <a:latin typeface="Aptos" pitchFamily="34" charset="0"/>
                <a:ea typeface="Aptos" pitchFamily="34" charset="-122"/>
                <a:cs typeface="Aptos" pitchFamily="34" charset="-120"/>
              </a:rPr>
              <a:t>ABRIR</a:t>
            </a:r>
            <a:endParaRPr lang="en-US" sz="1200" dirty="0"/>
          </a:p>
        </p:txBody>
      </p:sp>
      <p:sp>
        <p:nvSpPr>
          <p:cNvPr id="15" name="Text 12"/>
          <p:cNvSpPr txBox="1"/>
          <p:nvPr/>
        </p:nvSpPr>
        <p:spPr>
          <a:xfrm>
            <a:off x="1563167" y="2432304"/>
            <a:ext cx="2056028" cy="182880"/>
          </a:xfrm>
          <a:prstGeom prst="rect">
            <a:avLst/>
          </a:prstGeom>
          <a:noFill/>
          <a:ln/>
        </p:spPr>
        <p:txBody>
          <a:bodyPr wrap="square" lIns="0" tIns="0" rIns="0" bIns="0" rtlCol="0" anchor="t"/>
          <a:lstStyle/>
          <a:p>
            <a:pPr algn="l" indent="0" marL="0">
              <a:buNone/>
            </a:pPr>
            <a:r>
              <a:rPr lang="en-US" sz="940" dirty="0">
                <a:solidFill>
                  <a:srgbClr val="FFFFFF"/>
                </a:solidFill>
                <a:latin typeface="Aptos" pitchFamily="34" charset="0"/>
                <a:ea typeface="Aptos" pitchFamily="34" charset="-122"/>
                <a:cs typeface="Aptos" pitchFamily="34" charset="-120"/>
              </a:rPr>
              <a:t>30 min</a:t>
            </a:r>
            <a:endParaRPr lang="en-US" sz="940" dirty="0"/>
          </a:p>
        </p:txBody>
      </p:sp>
      <p:sp>
        <p:nvSpPr>
          <p:cNvPr id="16" name="Shape 13"/>
          <p:cNvSpPr/>
          <p:nvPr/>
        </p:nvSpPr>
        <p:spPr>
          <a:xfrm>
            <a:off x="1563167" y="2834640"/>
            <a:ext cx="2037740" cy="0"/>
          </a:xfrm>
          <a:prstGeom prst="line">
            <a:avLst/>
          </a:prstGeom>
          <a:noFill/>
          <a:ln w="12700">
            <a:solidFill>
              <a:srgbClr val="D62027"/>
            </a:solidFill>
            <a:prstDash val="solid"/>
            <a:headEnd type="none"/>
            <a:tailEnd type="none"/>
          </a:ln>
        </p:spPr>
      </p:sp>
      <p:sp>
        <p:nvSpPr>
          <p:cNvPr id="17" name="Text 14"/>
          <p:cNvSpPr txBox="1"/>
          <p:nvPr/>
        </p:nvSpPr>
        <p:spPr>
          <a:xfrm>
            <a:off x="1563167" y="2926080"/>
            <a:ext cx="2056028" cy="713232"/>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La interfaz y el defecto que el contrato no puede tener</a:t>
            </a:r>
            <a:endParaRPr lang="en-US" sz="1100" dirty="0"/>
          </a:p>
        </p:txBody>
      </p:sp>
      <p:sp>
        <p:nvSpPr>
          <p:cNvPr id="18" name="Text 15"/>
          <p:cNvSpPr txBox="1"/>
          <p:nvPr/>
        </p:nvSpPr>
        <p:spPr>
          <a:xfrm>
            <a:off x="1416863" y="1847088"/>
            <a:ext cx="384048" cy="182880"/>
          </a:xfrm>
          <a:prstGeom prst="rect">
            <a:avLst/>
          </a:prstGeom>
          <a:noFill/>
          <a:ln/>
        </p:spPr>
        <p:txBody>
          <a:bodyPr wrap="square" lIns="0" tIns="0" rIns="0" bIns="0" rtlCol="0" anchor="t"/>
          <a:lstStyle/>
          <a:p>
            <a:pPr algn="l" indent="0" marL="0">
              <a:buNone/>
            </a:pPr>
            <a:r>
              <a:rPr lang="en-US" sz="860" dirty="0">
                <a:solidFill>
                  <a:srgbClr val="52606D"/>
                </a:solidFill>
                <a:latin typeface="Consolas" pitchFamily="34" charset="0"/>
                <a:ea typeface="Consolas" pitchFamily="34" charset="-122"/>
                <a:cs typeface="Consolas" pitchFamily="34" charset="-120"/>
              </a:rPr>
              <a:t>08:40</a:t>
            </a:r>
            <a:endParaRPr lang="en-US" sz="860" dirty="0"/>
          </a:p>
        </p:txBody>
      </p:sp>
      <p:sp>
        <p:nvSpPr>
          <p:cNvPr id="19" name="Shape 16"/>
          <p:cNvSpPr/>
          <p:nvPr/>
        </p:nvSpPr>
        <p:spPr>
          <a:xfrm>
            <a:off x="3765499" y="2103120"/>
            <a:ext cx="1905381" cy="566928"/>
          </a:xfrm>
          <a:prstGeom prst="rect">
            <a:avLst/>
          </a:prstGeom>
          <a:solidFill>
            <a:srgbClr val="8A6A12"/>
          </a:solidFill>
          <a:ln w="12700">
            <a:solidFill>
              <a:srgbClr val="8A6A12"/>
            </a:solidFill>
            <a:prstDash val="solid"/>
          </a:ln>
        </p:spPr>
      </p:sp>
      <p:sp>
        <p:nvSpPr>
          <p:cNvPr id="20" name="Text 17"/>
          <p:cNvSpPr txBox="1"/>
          <p:nvPr/>
        </p:nvSpPr>
        <p:spPr>
          <a:xfrm>
            <a:off x="3893515" y="2212848"/>
            <a:ext cx="1667637" cy="219456"/>
          </a:xfrm>
          <a:prstGeom prst="rect">
            <a:avLst/>
          </a:prstGeom>
          <a:noFill/>
          <a:ln/>
        </p:spPr>
        <p:txBody>
          <a:bodyPr wrap="square" lIns="0" tIns="0" rIns="0" bIns="0" rtlCol="0" anchor="t"/>
          <a:lstStyle/>
          <a:p>
            <a:pPr algn="l" indent="0" marL="0">
              <a:buNone/>
            </a:pPr>
            <a:r>
              <a:rPr lang="en-US" sz="1200" b="1" spc="90" kern="0" dirty="0">
                <a:solidFill>
                  <a:srgbClr val="FFFFFF"/>
                </a:solidFill>
                <a:latin typeface="Aptos" pitchFamily="34" charset="0"/>
                <a:ea typeface="Aptos" pitchFamily="34" charset="-122"/>
                <a:cs typeface="Aptos" pitchFamily="34" charset="-120"/>
              </a:rPr>
              <a:t>ESPERAR</a:t>
            </a:r>
            <a:endParaRPr lang="en-US" sz="1200" dirty="0"/>
          </a:p>
        </p:txBody>
      </p:sp>
      <p:sp>
        <p:nvSpPr>
          <p:cNvPr id="21" name="Text 18"/>
          <p:cNvSpPr txBox="1"/>
          <p:nvPr/>
        </p:nvSpPr>
        <p:spPr>
          <a:xfrm>
            <a:off x="3893515" y="2432304"/>
            <a:ext cx="1667637" cy="182880"/>
          </a:xfrm>
          <a:prstGeom prst="rect">
            <a:avLst/>
          </a:prstGeom>
          <a:noFill/>
          <a:ln/>
        </p:spPr>
        <p:txBody>
          <a:bodyPr wrap="square" lIns="0" tIns="0" rIns="0" bIns="0" rtlCol="0" anchor="t"/>
          <a:lstStyle/>
          <a:p>
            <a:pPr algn="l" indent="0" marL="0">
              <a:buNone/>
            </a:pPr>
            <a:r>
              <a:rPr lang="en-US" sz="940" dirty="0">
                <a:solidFill>
                  <a:srgbClr val="FFFFFF"/>
                </a:solidFill>
                <a:latin typeface="Aptos" pitchFamily="34" charset="0"/>
                <a:ea typeface="Aptos" pitchFamily="34" charset="-122"/>
                <a:cs typeface="Aptos" pitchFamily="34" charset="-120"/>
              </a:rPr>
              <a:t>25 min</a:t>
            </a:r>
            <a:endParaRPr lang="en-US" sz="940" dirty="0"/>
          </a:p>
        </p:txBody>
      </p:sp>
      <p:sp>
        <p:nvSpPr>
          <p:cNvPr id="22" name="Shape 19"/>
          <p:cNvSpPr/>
          <p:nvPr/>
        </p:nvSpPr>
        <p:spPr>
          <a:xfrm>
            <a:off x="3893515" y="2834640"/>
            <a:ext cx="1649349" cy="0"/>
          </a:xfrm>
          <a:prstGeom prst="line">
            <a:avLst/>
          </a:prstGeom>
          <a:noFill/>
          <a:ln w="12700">
            <a:solidFill>
              <a:srgbClr val="8A6A12"/>
            </a:solidFill>
            <a:prstDash val="solid"/>
            <a:headEnd type="none"/>
            <a:tailEnd type="none"/>
          </a:ln>
        </p:spPr>
      </p:sp>
      <p:sp>
        <p:nvSpPr>
          <p:cNvPr id="23" name="Text 20"/>
          <p:cNvSpPr txBox="1"/>
          <p:nvPr/>
        </p:nvSpPr>
        <p:spPr>
          <a:xfrm>
            <a:off x="3893515" y="2926080"/>
            <a:ext cx="1667637" cy="713232"/>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La primera prueba que falla sin que nadie toque nada</a:t>
            </a:r>
            <a:endParaRPr lang="en-US" sz="1100" dirty="0"/>
          </a:p>
        </p:txBody>
      </p:sp>
      <p:sp>
        <p:nvSpPr>
          <p:cNvPr id="24" name="Text 21"/>
          <p:cNvSpPr txBox="1"/>
          <p:nvPr/>
        </p:nvSpPr>
        <p:spPr>
          <a:xfrm>
            <a:off x="3747211" y="1847088"/>
            <a:ext cx="384048" cy="182880"/>
          </a:xfrm>
          <a:prstGeom prst="rect">
            <a:avLst/>
          </a:prstGeom>
          <a:noFill/>
          <a:ln/>
        </p:spPr>
        <p:txBody>
          <a:bodyPr wrap="square" lIns="0" tIns="0" rIns="0" bIns="0" rtlCol="0" anchor="t"/>
          <a:lstStyle/>
          <a:p>
            <a:pPr algn="l" indent="0" marL="0">
              <a:buNone/>
            </a:pPr>
            <a:r>
              <a:rPr lang="en-US" sz="860" dirty="0">
                <a:solidFill>
                  <a:srgbClr val="52606D"/>
                </a:solidFill>
                <a:latin typeface="Consolas" pitchFamily="34" charset="0"/>
                <a:ea typeface="Consolas" pitchFamily="34" charset="-122"/>
                <a:cs typeface="Consolas" pitchFamily="34" charset="-120"/>
              </a:rPr>
              <a:t>09:10</a:t>
            </a:r>
            <a:endParaRPr lang="en-US" sz="860" dirty="0"/>
          </a:p>
        </p:txBody>
      </p:sp>
      <p:sp>
        <p:nvSpPr>
          <p:cNvPr id="25" name="Shape 22"/>
          <p:cNvSpPr/>
          <p:nvPr/>
        </p:nvSpPr>
        <p:spPr>
          <a:xfrm>
            <a:off x="5707456" y="2103120"/>
            <a:ext cx="740207" cy="310896"/>
          </a:xfrm>
          <a:prstGeom prst="rect">
            <a:avLst/>
          </a:prstGeom>
          <a:solidFill>
            <a:srgbClr val="D8CFC4"/>
          </a:solidFill>
          <a:ln w="12700">
            <a:solidFill>
              <a:srgbClr val="D8CFC4"/>
            </a:solidFill>
            <a:prstDash val="solid"/>
          </a:ln>
        </p:spPr>
      </p:sp>
      <p:sp>
        <p:nvSpPr>
          <p:cNvPr id="26" name="Text 23"/>
          <p:cNvSpPr txBox="1"/>
          <p:nvPr/>
        </p:nvSpPr>
        <p:spPr>
          <a:xfrm>
            <a:off x="5707456" y="2487168"/>
            <a:ext cx="822960" cy="182880"/>
          </a:xfrm>
          <a:prstGeom prst="rect">
            <a:avLst/>
          </a:prstGeom>
          <a:noFill/>
          <a:ln/>
        </p:spPr>
        <p:txBody>
          <a:bodyPr wrap="square" lIns="0" tIns="0" rIns="0" bIns="0" rtlCol="0" anchor="t"/>
          <a:lstStyle/>
          <a:p>
            <a:pPr algn="l" indent="0" marL="0">
              <a:buNone/>
            </a:pPr>
            <a:r>
              <a:rPr lang="en-US" sz="840" dirty="0">
                <a:solidFill>
                  <a:srgbClr val="52606D"/>
                </a:solidFill>
                <a:latin typeface="Aptos" pitchFamily="34" charset="0"/>
                <a:ea typeface="Aptos" pitchFamily="34" charset="-122"/>
                <a:cs typeface="Aptos" pitchFamily="34" charset="-120"/>
              </a:rPr>
              <a:t>Pausa · 10</a:t>
            </a:r>
            <a:endParaRPr lang="en-US" sz="840" dirty="0"/>
          </a:p>
        </p:txBody>
      </p:sp>
      <p:sp>
        <p:nvSpPr>
          <p:cNvPr id="27" name="Text 24"/>
          <p:cNvSpPr txBox="1"/>
          <p:nvPr/>
        </p:nvSpPr>
        <p:spPr>
          <a:xfrm>
            <a:off x="5689168" y="1847088"/>
            <a:ext cx="384048" cy="182880"/>
          </a:xfrm>
          <a:prstGeom prst="rect">
            <a:avLst/>
          </a:prstGeom>
          <a:noFill/>
          <a:ln/>
        </p:spPr>
        <p:txBody>
          <a:bodyPr wrap="square" lIns="0" tIns="0" rIns="0" bIns="0" rtlCol="0" anchor="t"/>
          <a:lstStyle/>
          <a:p>
            <a:pPr algn="l" indent="0" marL="0">
              <a:buNone/>
            </a:pPr>
            <a:r>
              <a:rPr lang="en-US" sz="860" dirty="0">
                <a:solidFill>
                  <a:srgbClr val="52606D"/>
                </a:solidFill>
                <a:latin typeface="Consolas" pitchFamily="34" charset="0"/>
                <a:ea typeface="Consolas" pitchFamily="34" charset="-122"/>
                <a:cs typeface="Consolas" pitchFamily="34" charset="-120"/>
              </a:rPr>
              <a:t>09:35</a:t>
            </a:r>
            <a:endParaRPr lang="en-US" sz="860" dirty="0"/>
          </a:p>
        </p:txBody>
      </p:sp>
      <p:sp>
        <p:nvSpPr>
          <p:cNvPr id="28" name="Shape 25"/>
          <p:cNvSpPr/>
          <p:nvPr/>
        </p:nvSpPr>
        <p:spPr>
          <a:xfrm>
            <a:off x="6484239" y="2103120"/>
            <a:ext cx="2293772" cy="566928"/>
          </a:xfrm>
          <a:prstGeom prst="rect">
            <a:avLst/>
          </a:prstGeom>
          <a:solidFill>
            <a:srgbClr val="102A43"/>
          </a:solidFill>
          <a:ln w="12700">
            <a:solidFill>
              <a:srgbClr val="102A43"/>
            </a:solidFill>
            <a:prstDash val="solid"/>
          </a:ln>
        </p:spPr>
      </p:sp>
      <p:sp>
        <p:nvSpPr>
          <p:cNvPr id="29" name="Text 26"/>
          <p:cNvSpPr txBox="1"/>
          <p:nvPr/>
        </p:nvSpPr>
        <p:spPr>
          <a:xfrm>
            <a:off x="6612255" y="2212848"/>
            <a:ext cx="2056028" cy="219456"/>
          </a:xfrm>
          <a:prstGeom prst="rect">
            <a:avLst/>
          </a:prstGeom>
          <a:noFill/>
          <a:ln/>
        </p:spPr>
        <p:txBody>
          <a:bodyPr wrap="square" lIns="0" tIns="0" rIns="0" bIns="0" rtlCol="0" anchor="t"/>
          <a:lstStyle/>
          <a:p>
            <a:pPr algn="l" indent="0" marL="0">
              <a:buNone/>
            </a:pPr>
            <a:r>
              <a:rPr lang="en-US" sz="1200" b="1" spc="90" kern="0" dirty="0">
                <a:solidFill>
                  <a:srgbClr val="FFFFFF"/>
                </a:solidFill>
                <a:latin typeface="Aptos" pitchFamily="34" charset="0"/>
                <a:ea typeface="Aptos" pitchFamily="34" charset="-122"/>
                <a:cs typeface="Aptos" pitchFamily="34" charset="-120"/>
              </a:rPr>
              <a:t>EXPLORAR</a:t>
            </a:r>
            <a:endParaRPr lang="en-US" sz="1200" dirty="0"/>
          </a:p>
        </p:txBody>
      </p:sp>
      <p:sp>
        <p:nvSpPr>
          <p:cNvPr id="30" name="Text 27"/>
          <p:cNvSpPr txBox="1"/>
          <p:nvPr/>
        </p:nvSpPr>
        <p:spPr>
          <a:xfrm>
            <a:off x="6612255" y="2432304"/>
            <a:ext cx="2056028" cy="182880"/>
          </a:xfrm>
          <a:prstGeom prst="rect">
            <a:avLst/>
          </a:prstGeom>
          <a:noFill/>
          <a:ln/>
        </p:spPr>
        <p:txBody>
          <a:bodyPr wrap="square" lIns="0" tIns="0" rIns="0" bIns="0" rtlCol="0" anchor="t"/>
          <a:lstStyle/>
          <a:p>
            <a:pPr algn="l" indent="0" marL="0">
              <a:buNone/>
            </a:pPr>
            <a:r>
              <a:rPr lang="en-US" sz="940" dirty="0">
                <a:solidFill>
                  <a:srgbClr val="FFFFFF"/>
                </a:solidFill>
                <a:latin typeface="Aptos" pitchFamily="34" charset="0"/>
                <a:ea typeface="Aptos" pitchFamily="34" charset="-122"/>
                <a:cs typeface="Aptos" pitchFamily="34" charset="-120"/>
              </a:rPr>
              <a:t>30 min</a:t>
            </a:r>
            <a:endParaRPr lang="en-US" sz="940" dirty="0"/>
          </a:p>
        </p:txBody>
      </p:sp>
      <p:sp>
        <p:nvSpPr>
          <p:cNvPr id="31" name="Shape 28"/>
          <p:cNvSpPr/>
          <p:nvPr/>
        </p:nvSpPr>
        <p:spPr>
          <a:xfrm>
            <a:off x="6612255" y="2834640"/>
            <a:ext cx="2037740" cy="0"/>
          </a:xfrm>
          <a:prstGeom prst="line">
            <a:avLst/>
          </a:prstGeom>
          <a:noFill/>
          <a:ln w="12700">
            <a:solidFill>
              <a:srgbClr val="102A43"/>
            </a:solidFill>
            <a:prstDash val="solid"/>
            <a:headEnd type="none"/>
            <a:tailEnd type="none"/>
          </a:ln>
        </p:spPr>
      </p:sp>
      <p:sp>
        <p:nvSpPr>
          <p:cNvPr id="32" name="Text 29"/>
          <p:cNvSpPr txBox="1"/>
          <p:nvPr/>
        </p:nvSpPr>
        <p:spPr>
          <a:xfrm>
            <a:off x="6612255" y="2926080"/>
            <a:ext cx="2056028" cy="713232"/>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Lo que ninguna prueba escrita pensó en mirar</a:t>
            </a:r>
            <a:endParaRPr lang="en-US" sz="1100" dirty="0"/>
          </a:p>
        </p:txBody>
      </p:sp>
      <p:sp>
        <p:nvSpPr>
          <p:cNvPr id="33" name="Text 30"/>
          <p:cNvSpPr txBox="1"/>
          <p:nvPr/>
        </p:nvSpPr>
        <p:spPr>
          <a:xfrm>
            <a:off x="6465951" y="1847088"/>
            <a:ext cx="384048" cy="182880"/>
          </a:xfrm>
          <a:prstGeom prst="rect">
            <a:avLst/>
          </a:prstGeom>
          <a:noFill/>
          <a:ln/>
        </p:spPr>
        <p:txBody>
          <a:bodyPr wrap="square" lIns="0" tIns="0" rIns="0" bIns="0" rtlCol="0" anchor="t"/>
          <a:lstStyle/>
          <a:p>
            <a:pPr algn="l" indent="0" marL="0">
              <a:buNone/>
            </a:pPr>
            <a:r>
              <a:rPr lang="en-US" sz="860" dirty="0">
                <a:solidFill>
                  <a:srgbClr val="52606D"/>
                </a:solidFill>
                <a:latin typeface="Consolas" pitchFamily="34" charset="0"/>
                <a:ea typeface="Consolas" pitchFamily="34" charset="-122"/>
                <a:cs typeface="Consolas" pitchFamily="34" charset="-120"/>
              </a:rPr>
              <a:t>09:45</a:t>
            </a:r>
            <a:endParaRPr lang="en-US" sz="860" dirty="0"/>
          </a:p>
        </p:txBody>
      </p:sp>
      <p:sp>
        <p:nvSpPr>
          <p:cNvPr id="34" name="Shape 31"/>
          <p:cNvSpPr/>
          <p:nvPr/>
        </p:nvSpPr>
        <p:spPr>
          <a:xfrm>
            <a:off x="8814587" y="2103120"/>
            <a:ext cx="1905381" cy="566928"/>
          </a:xfrm>
          <a:prstGeom prst="rect">
            <a:avLst/>
          </a:prstGeom>
          <a:solidFill>
            <a:srgbClr val="2E7D4F"/>
          </a:solidFill>
          <a:ln w="12700">
            <a:solidFill>
              <a:srgbClr val="2E7D4F"/>
            </a:solidFill>
            <a:prstDash val="solid"/>
          </a:ln>
        </p:spPr>
      </p:sp>
      <p:sp>
        <p:nvSpPr>
          <p:cNvPr id="35" name="Text 32"/>
          <p:cNvSpPr txBox="1"/>
          <p:nvPr/>
        </p:nvSpPr>
        <p:spPr>
          <a:xfrm>
            <a:off x="8942603" y="2212848"/>
            <a:ext cx="1667637" cy="219456"/>
          </a:xfrm>
          <a:prstGeom prst="rect">
            <a:avLst/>
          </a:prstGeom>
          <a:noFill/>
          <a:ln/>
        </p:spPr>
        <p:txBody>
          <a:bodyPr wrap="square" lIns="0" tIns="0" rIns="0" bIns="0" rtlCol="0" anchor="t"/>
          <a:lstStyle/>
          <a:p>
            <a:pPr algn="l" indent="0" marL="0">
              <a:buNone/>
            </a:pPr>
            <a:r>
              <a:rPr lang="en-US" sz="1200" b="1" spc="90" kern="0" dirty="0">
                <a:solidFill>
                  <a:srgbClr val="FFFFFF"/>
                </a:solidFill>
                <a:latin typeface="Aptos" pitchFamily="34" charset="0"/>
                <a:ea typeface="Aptos" pitchFamily="34" charset="-122"/>
                <a:cs typeface="Aptos" pitchFamily="34" charset="-120"/>
              </a:rPr>
              <a:t>PRECISAR</a:t>
            </a:r>
            <a:endParaRPr lang="en-US" sz="1200" dirty="0"/>
          </a:p>
        </p:txBody>
      </p:sp>
      <p:sp>
        <p:nvSpPr>
          <p:cNvPr id="36" name="Text 33"/>
          <p:cNvSpPr txBox="1"/>
          <p:nvPr/>
        </p:nvSpPr>
        <p:spPr>
          <a:xfrm>
            <a:off x="8942603" y="2432304"/>
            <a:ext cx="1667637" cy="182880"/>
          </a:xfrm>
          <a:prstGeom prst="rect">
            <a:avLst/>
          </a:prstGeom>
          <a:noFill/>
          <a:ln/>
        </p:spPr>
        <p:txBody>
          <a:bodyPr wrap="square" lIns="0" tIns="0" rIns="0" bIns="0" rtlCol="0" anchor="t"/>
          <a:lstStyle/>
          <a:p>
            <a:pPr algn="l" indent="0" marL="0">
              <a:buNone/>
            </a:pPr>
            <a:r>
              <a:rPr lang="en-US" sz="940" dirty="0">
                <a:solidFill>
                  <a:srgbClr val="FFFFFF"/>
                </a:solidFill>
                <a:latin typeface="Aptos" pitchFamily="34" charset="0"/>
                <a:ea typeface="Aptos" pitchFamily="34" charset="-122"/>
                <a:cs typeface="Aptos" pitchFamily="34" charset="-120"/>
              </a:rPr>
              <a:t>25 min</a:t>
            </a:r>
            <a:endParaRPr lang="en-US" sz="940" dirty="0"/>
          </a:p>
        </p:txBody>
      </p:sp>
      <p:sp>
        <p:nvSpPr>
          <p:cNvPr id="37" name="Shape 34"/>
          <p:cNvSpPr/>
          <p:nvPr/>
        </p:nvSpPr>
        <p:spPr>
          <a:xfrm>
            <a:off x="8942603" y="2834640"/>
            <a:ext cx="1649349" cy="0"/>
          </a:xfrm>
          <a:prstGeom prst="line">
            <a:avLst/>
          </a:prstGeom>
          <a:noFill/>
          <a:ln w="12700">
            <a:solidFill>
              <a:srgbClr val="2E7D4F"/>
            </a:solidFill>
            <a:prstDash val="solid"/>
            <a:headEnd type="none"/>
            <a:tailEnd type="none"/>
          </a:ln>
        </p:spPr>
      </p:sp>
      <p:sp>
        <p:nvSpPr>
          <p:cNvPr id="38" name="Text 35"/>
          <p:cNvSpPr txBox="1"/>
          <p:nvPr/>
        </p:nvSpPr>
        <p:spPr>
          <a:xfrm>
            <a:off x="8942603" y="2926080"/>
            <a:ext cx="1667637" cy="713232"/>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De un hallazgo a una prueba que puede fallar</a:t>
            </a:r>
            <a:endParaRPr lang="en-US" sz="1100" dirty="0"/>
          </a:p>
        </p:txBody>
      </p:sp>
      <p:sp>
        <p:nvSpPr>
          <p:cNvPr id="39" name="Text 36"/>
          <p:cNvSpPr txBox="1"/>
          <p:nvPr/>
        </p:nvSpPr>
        <p:spPr>
          <a:xfrm>
            <a:off x="8796299" y="1847088"/>
            <a:ext cx="384048" cy="182880"/>
          </a:xfrm>
          <a:prstGeom prst="rect">
            <a:avLst/>
          </a:prstGeom>
          <a:noFill/>
          <a:ln/>
        </p:spPr>
        <p:txBody>
          <a:bodyPr wrap="square" lIns="0" tIns="0" rIns="0" bIns="0" rtlCol="0" anchor="t"/>
          <a:lstStyle/>
          <a:p>
            <a:pPr algn="l" indent="0" marL="0">
              <a:buNone/>
            </a:pPr>
            <a:r>
              <a:rPr lang="en-US" sz="860" dirty="0">
                <a:solidFill>
                  <a:srgbClr val="52606D"/>
                </a:solidFill>
                <a:latin typeface="Consolas" pitchFamily="34" charset="0"/>
                <a:ea typeface="Consolas" pitchFamily="34" charset="-122"/>
                <a:cs typeface="Consolas" pitchFamily="34" charset="-120"/>
              </a:rPr>
              <a:t>10:15</a:t>
            </a:r>
            <a:endParaRPr lang="en-US" sz="860" dirty="0"/>
          </a:p>
        </p:txBody>
      </p:sp>
      <p:sp>
        <p:nvSpPr>
          <p:cNvPr id="40" name="Shape 37"/>
          <p:cNvSpPr/>
          <p:nvPr/>
        </p:nvSpPr>
        <p:spPr>
          <a:xfrm>
            <a:off x="10756544" y="2103120"/>
            <a:ext cx="740207" cy="310896"/>
          </a:xfrm>
          <a:prstGeom prst="rect">
            <a:avLst/>
          </a:prstGeom>
          <a:solidFill>
            <a:srgbClr val="52606D"/>
          </a:solidFill>
          <a:ln w="12700">
            <a:solidFill>
              <a:srgbClr val="52606D"/>
            </a:solidFill>
            <a:prstDash val="solid"/>
          </a:ln>
        </p:spPr>
      </p:sp>
      <p:sp>
        <p:nvSpPr>
          <p:cNvPr id="41" name="Text 38"/>
          <p:cNvSpPr txBox="1"/>
          <p:nvPr/>
        </p:nvSpPr>
        <p:spPr>
          <a:xfrm>
            <a:off x="10756544" y="2487168"/>
            <a:ext cx="822960" cy="182880"/>
          </a:xfrm>
          <a:prstGeom prst="rect">
            <a:avLst/>
          </a:prstGeom>
          <a:noFill/>
          <a:ln/>
        </p:spPr>
        <p:txBody>
          <a:bodyPr wrap="square" lIns="0" tIns="0" rIns="0" bIns="0" rtlCol="0" anchor="t"/>
          <a:lstStyle/>
          <a:p>
            <a:pPr algn="l" indent="0" marL="0">
              <a:buNone/>
            </a:pPr>
            <a:r>
              <a:rPr lang="en-US" sz="840" dirty="0">
                <a:solidFill>
                  <a:srgbClr val="52606D"/>
                </a:solidFill>
                <a:latin typeface="Aptos" pitchFamily="34" charset="0"/>
                <a:ea typeface="Aptos" pitchFamily="34" charset="-122"/>
                <a:cs typeface="Aptos" pitchFamily="34" charset="-120"/>
              </a:rPr>
              <a:t>Cierre · 10</a:t>
            </a:r>
            <a:endParaRPr lang="en-US" sz="840" dirty="0"/>
          </a:p>
        </p:txBody>
      </p:sp>
      <p:sp>
        <p:nvSpPr>
          <p:cNvPr id="42" name="Text 39"/>
          <p:cNvSpPr txBox="1"/>
          <p:nvPr/>
        </p:nvSpPr>
        <p:spPr>
          <a:xfrm>
            <a:off x="10738256" y="1847088"/>
            <a:ext cx="384048" cy="182880"/>
          </a:xfrm>
          <a:prstGeom prst="rect">
            <a:avLst/>
          </a:prstGeom>
          <a:noFill/>
          <a:ln/>
        </p:spPr>
        <p:txBody>
          <a:bodyPr wrap="square" lIns="0" tIns="0" rIns="0" bIns="0" rtlCol="0" anchor="t"/>
          <a:lstStyle/>
          <a:p>
            <a:pPr algn="l" indent="0" marL="0">
              <a:buNone/>
            </a:pPr>
            <a:r>
              <a:rPr lang="en-US" sz="860" dirty="0">
                <a:solidFill>
                  <a:srgbClr val="52606D"/>
                </a:solidFill>
                <a:latin typeface="Consolas" pitchFamily="34" charset="0"/>
                <a:ea typeface="Consolas" pitchFamily="34" charset="-122"/>
                <a:cs typeface="Consolas" pitchFamily="34" charset="-120"/>
              </a:rPr>
              <a:t>10:40</a:t>
            </a:r>
            <a:endParaRPr lang="en-US" sz="860" dirty="0"/>
          </a:p>
        </p:txBody>
      </p:sp>
      <p:sp>
        <p:nvSpPr>
          <p:cNvPr id="43" name="Text 40"/>
          <p:cNvSpPr txBox="1"/>
          <p:nvPr/>
        </p:nvSpPr>
        <p:spPr>
          <a:xfrm>
            <a:off x="11112703" y="1847088"/>
            <a:ext cx="457200" cy="182880"/>
          </a:xfrm>
          <a:prstGeom prst="rect">
            <a:avLst/>
          </a:prstGeom>
          <a:noFill/>
          <a:ln/>
        </p:spPr>
        <p:txBody>
          <a:bodyPr wrap="square" lIns="0" tIns="0" rIns="0" bIns="0" rtlCol="0" anchor="t"/>
          <a:lstStyle/>
          <a:p>
            <a:pPr algn="r" indent="0" marL="0">
              <a:buNone/>
            </a:pPr>
            <a:r>
              <a:rPr lang="en-US" sz="860" dirty="0">
                <a:solidFill>
                  <a:srgbClr val="52606D"/>
                </a:solidFill>
                <a:latin typeface="Consolas" pitchFamily="34" charset="0"/>
                <a:ea typeface="Consolas" pitchFamily="34" charset="-122"/>
                <a:cs typeface="Consolas" pitchFamily="34" charset="-120"/>
              </a:rPr>
              <a:t>10:50</a:t>
            </a:r>
            <a:endParaRPr lang="en-US" sz="860" dirty="0"/>
          </a:p>
        </p:txBody>
      </p:sp>
      <p:sp>
        <p:nvSpPr>
          <p:cNvPr id="44" name="Shape 41"/>
          <p:cNvSpPr/>
          <p:nvPr/>
        </p:nvSpPr>
        <p:spPr>
          <a:xfrm>
            <a:off x="658368" y="3931920"/>
            <a:ext cx="10874959" cy="1389888"/>
          </a:xfrm>
          <a:prstGeom prst="rect">
            <a:avLst/>
          </a:prstGeom>
          <a:solidFill>
            <a:srgbClr val="F2E7D9"/>
          </a:solidFill>
          <a:ln w="12700">
            <a:solidFill>
              <a:srgbClr val="F2E7D9"/>
            </a:solidFill>
            <a:prstDash val="solid"/>
          </a:ln>
        </p:spPr>
      </p:sp>
      <p:sp>
        <p:nvSpPr>
          <p:cNvPr id="45" name="Shape 42"/>
          <p:cNvSpPr/>
          <p:nvPr/>
        </p:nvSpPr>
        <p:spPr>
          <a:xfrm>
            <a:off x="658368" y="3931920"/>
            <a:ext cx="54864" cy="1389888"/>
          </a:xfrm>
          <a:prstGeom prst="rect">
            <a:avLst/>
          </a:prstGeom>
          <a:solidFill>
            <a:srgbClr val="B3181E"/>
          </a:solidFill>
          <a:ln w="12700">
            <a:solidFill>
              <a:srgbClr val="B3181E"/>
            </a:solidFill>
            <a:prstDash val="solid"/>
          </a:ln>
        </p:spPr>
      </p:sp>
      <p:sp>
        <p:nvSpPr>
          <p:cNvPr id="46" name="Text 43"/>
          <p:cNvSpPr txBox="1"/>
          <p:nvPr/>
        </p:nvSpPr>
        <p:spPr>
          <a:xfrm>
            <a:off x="950976" y="4096512"/>
            <a:ext cx="5486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SOBRE QUÉ SE TRABAJA</a:t>
            </a:r>
            <a:endParaRPr lang="en-US" sz="960" dirty="0"/>
          </a:p>
        </p:txBody>
      </p:sp>
      <p:sp>
        <p:nvSpPr>
          <p:cNvPr id="47" name="Text 44"/>
          <p:cNvSpPr txBox="1"/>
          <p:nvPr/>
        </p:nvSpPr>
        <p:spPr>
          <a:xfrm>
            <a:off x="950976" y="4352544"/>
            <a:ext cx="10289743" cy="877824"/>
          </a:xfrm>
          <a:prstGeom prst="rect">
            <a:avLst/>
          </a:prstGeom>
          <a:noFill/>
          <a:ln/>
        </p:spPr>
        <p:txBody>
          <a:bodyPr wrap="square" lIns="0" tIns="0" rIns="0" bIns="0" rtlCol="0" anchor="t"/>
          <a:lstStyle/>
          <a:p>
            <a:pPr algn="l" indent="0" marL="0">
              <a:lnSpc>
                <a:spcPct val="116000"/>
              </a:lnSpc>
              <a:buNone/>
            </a:pPr>
            <a:r>
              <a:rPr lang="en-US" sz="1260" dirty="0">
                <a:solidFill>
                  <a:srgbClr val="243B53"/>
                </a:solidFill>
                <a:latin typeface="Aptos" pitchFamily="34" charset="0"/>
                <a:ea typeface="Aptos" pitchFamily="34" charset="-122"/>
                <a:cs typeface="Aptos" pitchFamily="34" charset="-120"/>
              </a:rPr>
              <a:t>El mismo proyecto de reserva de laboratorio, que hoy recibe algo que una persona puede abrir en un navegador: una interfaz web con el formulario y el estado de los bloques. Se entrega ya escrita. Sus pruebas se escriben en TypeScript —JavaScript con tipos declarados— y viven en una suite aparte: la de pytest no cambia.</a:t>
            </a:r>
            <a:endParaRPr lang="en-US" sz="1260" dirty="0"/>
          </a:p>
        </p:txBody>
      </p:sp>
      <p:sp>
        <p:nvSpPr>
          <p:cNvPr id="48" name="Shape 45"/>
          <p:cNvSpPr/>
          <p:nvPr/>
        </p:nvSpPr>
        <p:spPr>
          <a:xfrm>
            <a:off x="658368" y="5650992"/>
            <a:ext cx="10874959" cy="548640"/>
          </a:xfrm>
          <a:prstGeom prst="rect">
            <a:avLst/>
          </a:prstGeom>
          <a:solidFill>
            <a:srgbClr val="102A43"/>
          </a:solidFill>
          <a:ln w="12700">
            <a:solidFill>
              <a:srgbClr val="102A43"/>
            </a:solidFill>
            <a:prstDash val="solid"/>
          </a:ln>
        </p:spPr>
      </p:sp>
      <p:sp>
        <p:nvSpPr>
          <p:cNvPr id="49" name="Text 4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Se abre, se espera, se explora y se precisa lo encontrado.</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06</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1 DE 4 · 30 MINUTOS</a:t>
            </a:r>
            <a:endParaRPr lang="en-US" sz="960" dirty="0"/>
          </a:p>
        </p:txBody>
      </p:sp>
      <p:sp>
        <p:nvSpPr>
          <p:cNvPr id="9" name="Text 6"/>
          <p:cNvSpPr txBox="1"/>
          <p:nvPr/>
        </p:nvSpPr>
        <p:spPr>
          <a:xfrm>
            <a:off x="658368" y="1810512"/>
            <a:ext cx="9784080" cy="137160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Aptos Display" pitchFamily="34" charset="0"/>
                <a:ea typeface="Aptos Display" pitchFamily="34" charset="-122"/>
                <a:cs typeface="Aptos Display" pitchFamily="34" charset="-120"/>
              </a:rPr>
              <a:t>El defecto que el contrato no puede tener</a:t>
            </a:r>
            <a:endParaRPr lang="en-US" sz="40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La interfaz se lee, se prueba por primera vez con un navegador, y aparece una clase de defecto que ningún nivel anterior podía ver: la API cumple, las pruebas pasan, y la persona igual no sabe qué hacer.</a:t>
            </a:r>
            <a:endParaRPr lang="en-US" sz="1500" dirty="0"/>
          </a:p>
        </p:txBody>
      </p:sp>
      <p:sp>
        <p:nvSpPr>
          <p:cNvPr id="12" name="Shape 9"/>
          <p:cNvSpPr/>
          <p:nvPr/>
        </p:nvSpPr>
        <p:spPr>
          <a:xfrm>
            <a:off x="658368" y="4901184"/>
            <a:ext cx="2622728" cy="786384"/>
          </a:xfrm>
          <a:prstGeom prst="rect">
            <a:avLst/>
          </a:prstGeom>
          <a:solidFill>
            <a:srgbClr val="D62027"/>
          </a:solidFill>
          <a:ln w="12700">
            <a:solidFill>
              <a:srgbClr val="D6202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ABRIR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Por donde lo usa una persona</a:t>
            </a:r>
            <a:endParaRPr lang="en-US" sz="920" dirty="0"/>
          </a:p>
        </p:txBody>
      </p:sp>
      <p:sp>
        <p:nvSpPr>
          <p:cNvPr id="16" name="Shape 13"/>
          <p:cNvSpPr/>
          <p:nvPr/>
        </p:nvSpPr>
        <p:spPr>
          <a:xfrm>
            <a:off x="3409112" y="4901184"/>
            <a:ext cx="2622728" cy="786384"/>
          </a:xfrm>
          <a:prstGeom prst="rect">
            <a:avLst/>
          </a:prstGeom>
          <a:solidFill>
            <a:srgbClr val="1D3A57"/>
          </a:solidFill>
          <a:ln w="12700">
            <a:solidFill>
              <a:srgbClr val="1D3A5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ESPERAR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Una condición, no un tiempo</a:t>
            </a:r>
            <a:endParaRPr lang="en-US" sz="920" dirty="0"/>
          </a:p>
        </p:txBody>
      </p:sp>
      <p:sp>
        <p:nvSpPr>
          <p:cNvPr id="20" name="Shape 17"/>
          <p:cNvSpPr/>
          <p:nvPr/>
        </p:nvSpPr>
        <p:spPr>
          <a:xfrm>
            <a:off x="6159856" y="4901184"/>
            <a:ext cx="2622728" cy="786384"/>
          </a:xfrm>
          <a:prstGeom prst="rect">
            <a:avLst/>
          </a:prstGeom>
          <a:solidFill>
            <a:srgbClr val="1D3A57"/>
          </a:solidFill>
          <a:ln w="12700">
            <a:solidFill>
              <a:srgbClr val="1D3A5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EXPLORAR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Lo que nadie pensó en escribir</a:t>
            </a:r>
            <a:endParaRPr lang="en-US" sz="920" dirty="0"/>
          </a:p>
        </p:txBody>
      </p:sp>
      <p:sp>
        <p:nvSpPr>
          <p:cNvPr id="24" name="Shape 21"/>
          <p:cNvSpPr/>
          <p:nvPr/>
        </p:nvSpPr>
        <p:spPr>
          <a:xfrm>
            <a:off x="8910599" y="4901184"/>
            <a:ext cx="2622728" cy="786384"/>
          </a:xfrm>
          <a:prstGeom prst="rect">
            <a:avLst/>
          </a:prstGeom>
          <a:solidFill>
            <a:srgbClr val="1D3A57"/>
          </a:solidFill>
          <a:ln w="12700">
            <a:solidFill>
              <a:srgbClr val="1D3A5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PRECISAR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Hasta que una prueba lo diga</a:t>
            </a:r>
            <a:endParaRPr lang="en-US" sz="9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PIEZA NUEVA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La interfaz, entregada ya escrita</a:t>
            </a:r>
            <a:endParaRPr lang="en-US" sz="3000" dirty="0"/>
          </a:p>
        </p:txBody>
      </p:sp>
      <p:sp>
        <p:nvSpPr>
          <p:cNvPr id="10" name="Shape 7"/>
          <p:cNvSpPr/>
          <p:nvPr/>
        </p:nvSpPr>
        <p:spPr>
          <a:xfrm>
            <a:off x="658368" y="1792224"/>
            <a:ext cx="5760720" cy="3728272"/>
          </a:xfrm>
          <a:prstGeom prst="roundRect">
            <a:avLst>
              <a:gd name="adj" fmla="val 1472"/>
            </a:avLst>
          </a:prstGeom>
          <a:solidFill>
            <a:srgbClr val="FFFFFF"/>
          </a:solidFill>
          <a:ln w="12700">
            <a:solidFill>
              <a:srgbClr val="D8CFC4"/>
            </a:solidFill>
            <a:prstDash val="solid"/>
          </a:ln>
        </p:spPr>
      </p:sp>
      <p:sp>
        <p:nvSpPr>
          <p:cNvPr id="11" name="Shape 8"/>
          <p:cNvSpPr/>
          <p:nvPr/>
        </p:nvSpPr>
        <p:spPr>
          <a:xfrm>
            <a:off x="676656" y="2093976"/>
            <a:ext cx="5724144" cy="9144"/>
          </a:xfrm>
          <a:prstGeom prst="rect">
            <a:avLst/>
          </a:prstGeom>
          <a:solidFill>
            <a:srgbClr val="D8CFC4"/>
          </a:solidFill>
          <a:ln w="12700">
            <a:solidFill>
              <a:srgbClr val="D8CFC4"/>
            </a:solidFill>
            <a:prstDash val="solid"/>
          </a:ln>
        </p:spPr>
      </p:sp>
      <p:sp>
        <p:nvSpPr>
          <p:cNvPr id="12" name="Shape 9"/>
          <p:cNvSpPr/>
          <p:nvPr/>
        </p:nvSpPr>
        <p:spPr>
          <a:xfrm>
            <a:off x="800100" y="1906524"/>
            <a:ext cx="82296" cy="82296"/>
          </a:xfrm>
          <a:prstGeom prst="ellipse">
            <a:avLst/>
          </a:prstGeom>
          <a:solidFill>
            <a:srgbClr val="D8CFC4"/>
          </a:solidFill>
          <a:ln w="12700">
            <a:solidFill>
              <a:srgbClr val="D8CFC4"/>
            </a:solidFill>
            <a:prstDash val="solid"/>
          </a:ln>
        </p:spPr>
      </p:sp>
      <p:sp>
        <p:nvSpPr>
          <p:cNvPr id="13" name="Shape 10"/>
          <p:cNvSpPr/>
          <p:nvPr/>
        </p:nvSpPr>
        <p:spPr>
          <a:xfrm>
            <a:off x="946404" y="1906524"/>
            <a:ext cx="82296" cy="82296"/>
          </a:xfrm>
          <a:prstGeom prst="ellipse">
            <a:avLst/>
          </a:prstGeom>
          <a:solidFill>
            <a:srgbClr val="D8CFC4"/>
          </a:solidFill>
          <a:ln w="12700">
            <a:solidFill>
              <a:srgbClr val="D8CFC4"/>
            </a:solidFill>
            <a:prstDash val="solid"/>
          </a:ln>
        </p:spPr>
      </p:sp>
      <p:sp>
        <p:nvSpPr>
          <p:cNvPr id="14" name="Shape 11"/>
          <p:cNvSpPr/>
          <p:nvPr/>
        </p:nvSpPr>
        <p:spPr>
          <a:xfrm>
            <a:off x="1092708" y="1906524"/>
            <a:ext cx="82296" cy="82296"/>
          </a:xfrm>
          <a:prstGeom prst="ellipse">
            <a:avLst/>
          </a:prstGeom>
          <a:solidFill>
            <a:srgbClr val="D8CFC4"/>
          </a:solidFill>
          <a:ln w="12700">
            <a:solidFill>
              <a:srgbClr val="D8CFC4"/>
            </a:solidFill>
            <a:prstDash val="solid"/>
          </a:ln>
        </p:spPr>
      </p:sp>
      <p:sp>
        <p:nvSpPr>
          <p:cNvPr id="15" name="Shape 12"/>
          <p:cNvSpPr/>
          <p:nvPr/>
        </p:nvSpPr>
        <p:spPr>
          <a:xfrm>
            <a:off x="1389888" y="1856232"/>
            <a:ext cx="2926080" cy="182880"/>
          </a:xfrm>
          <a:prstGeom prst="roundRect">
            <a:avLst>
              <a:gd name="adj" fmla="val 50000"/>
            </a:avLst>
          </a:prstGeom>
          <a:solidFill>
            <a:srgbClr val="EDE6DA"/>
          </a:solidFill>
          <a:ln w="12700">
            <a:solidFill>
              <a:srgbClr val="EDE6DA"/>
            </a:solidFill>
            <a:prstDash val="solid"/>
          </a:ln>
        </p:spPr>
      </p:sp>
      <p:sp>
        <p:nvSpPr>
          <p:cNvPr id="16" name="Text 13"/>
          <p:cNvSpPr/>
          <p:nvPr/>
        </p:nvSpPr>
        <p:spPr>
          <a:xfrm>
            <a:off x="1499616" y="1865376"/>
            <a:ext cx="2743200" cy="164592"/>
          </a:xfrm>
          <a:prstGeom prst="rect">
            <a:avLst/>
          </a:prstGeom>
          <a:noFill/>
          <a:ln/>
        </p:spPr>
        <p:txBody>
          <a:bodyPr wrap="square" lIns="0" tIns="0" rIns="0" bIns="0" rtlCol="0" anchor="ctr"/>
          <a:lstStyle/>
          <a:p>
            <a:pPr indent="0" marL="0">
              <a:buNone/>
            </a:pPr>
            <a:r>
              <a:rPr lang="en-US" sz="840" dirty="0">
                <a:solidFill>
                  <a:srgbClr val="52606D"/>
                </a:solidFill>
                <a:latin typeface="Consolas" pitchFamily="34" charset="0"/>
                <a:ea typeface="Consolas" pitchFamily="34" charset="-122"/>
                <a:cs typeface="Consolas" pitchFamily="34" charset="-120"/>
              </a:rPr>
              <a:t>127.0.0.1:8000</a:t>
            </a:r>
            <a:endParaRPr lang="en-US" sz="840" dirty="0"/>
          </a:p>
        </p:txBody>
      </p:sp>
      <p:pic>
        <p:nvPicPr>
          <p:cNvPr id="17" name="Image 1" descr="C:\Users\Diego Obando\dev\pro402-taller-de-testing-2026\clases\semana-05\01\ppt\source\assets\interfaz-inicio.png">    </p:cNvPr>
          <p:cNvPicPr>
            <a:picLocks noChangeAspect="1"/>
          </p:cNvPicPr>
          <p:nvPr/>
        </p:nvPicPr>
        <p:blipFill>
          <a:blip r:embed="rId3"/>
          <a:stretch>
            <a:fillRect/>
          </a:stretch>
        </p:blipFill>
        <p:spPr>
          <a:xfrm>
            <a:off x="676656" y="2103120"/>
            <a:ext cx="5724144" cy="3399088"/>
          </a:xfrm>
          <a:prstGeom prst="rect">
            <a:avLst/>
          </a:prstGeom>
        </p:spPr>
      </p:pic>
      <p:sp>
        <p:nvSpPr>
          <p:cNvPr id="18" name="Shape 14"/>
          <p:cNvSpPr/>
          <p:nvPr/>
        </p:nvSpPr>
        <p:spPr>
          <a:xfrm>
            <a:off x="6784848" y="1792224"/>
            <a:ext cx="4745736" cy="932688"/>
          </a:xfrm>
          <a:prstGeom prst="rect">
            <a:avLst/>
          </a:prstGeom>
          <a:solidFill>
            <a:srgbClr val="FFFFFF"/>
          </a:solidFill>
          <a:ln w="12700">
            <a:solidFill>
              <a:srgbClr val="FFFFFF"/>
            </a:solidFill>
            <a:prstDash val="solid"/>
          </a:ln>
        </p:spPr>
      </p:sp>
      <p:sp>
        <p:nvSpPr>
          <p:cNvPr id="19" name="Shape 15"/>
          <p:cNvSpPr/>
          <p:nvPr/>
        </p:nvSpPr>
        <p:spPr>
          <a:xfrm>
            <a:off x="6784848" y="1792224"/>
            <a:ext cx="54864" cy="932688"/>
          </a:xfrm>
          <a:prstGeom prst="rect">
            <a:avLst/>
          </a:prstGeom>
          <a:solidFill>
            <a:srgbClr val="102A43"/>
          </a:solidFill>
          <a:ln w="12700">
            <a:solidFill>
              <a:srgbClr val="102A43"/>
            </a:solidFill>
            <a:prstDash val="solid"/>
          </a:ln>
        </p:spPr>
      </p:sp>
      <p:sp>
        <p:nvSpPr>
          <p:cNvPr id="20" name="Text 16"/>
          <p:cNvSpPr txBox="1"/>
          <p:nvPr/>
        </p:nvSpPr>
        <p:spPr>
          <a:xfrm>
            <a:off x="7004304" y="1901952"/>
            <a:ext cx="1828800" cy="237744"/>
          </a:xfrm>
          <a:prstGeom prst="rect">
            <a:avLst/>
          </a:prstGeom>
          <a:noFill/>
          <a:ln/>
        </p:spPr>
        <p:txBody>
          <a:bodyPr wrap="square" lIns="0" tIns="0" rIns="0" bIns="0" rtlCol="0" anchor="t"/>
          <a:lstStyle/>
          <a:p>
            <a:pPr algn="l" indent="0" marL="0">
              <a:buNone/>
            </a:pPr>
            <a:r>
              <a:rPr lang="en-US" sz="1200" b="1" dirty="0">
                <a:solidFill>
                  <a:srgbClr val="102A43"/>
                </a:solidFill>
                <a:latin typeface="Consolas" pitchFamily="34" charset="0"/>
                <a:ea typeface="Consolas" pitchFamily="34" charset="-122"/>
                <a:cs typeface="Consolas" pitchFamily="34" charset="-120"/>
              </a:rPr>
              <a:t>index.html</a:t>
            </a:r>
            <a:endParaRPr lang="en-US" sz="1200" dirty="0"/>
          </a:p>
        </p:txBody>
      </p:sp>
      <p:sp>
        <p:nvSpPr>
          <p:cNvPr id="21" name="Text 17"/>
          <p:cNvSpPr txBox="1"/>
          <p:nvPr/>
        </p:nvSpPr>
        <p:spPr>
          <a:xfrm>
            <a:off x="9509760" y="1929384"/>
            <a:ext cx="1828800" cy="182880"/>
          </a:xfrm>
          <a:prstGeom prst="rect">
            <a:avLst/>
          </a:prstGeom>
          <a:noFill/>
          <a:ln/>
        </p:spPr>
        <p:txBody>
          <a:bodyPr wrap="square" lIns="0" tIns="0" rIns="0" bIns="0" rtlCol="0" anchor="t"/>
          <a:lstStyle/>
          <a:p>
            <a:pPr algn="r" indent="0" marL="0">
              <a:buNone/>
            </a:pPr>
            <a:r>
              <a:rPr lang="en-US" sz="860" b="1" spc="80" kern="0" dirty="0">
                <a:solidFill>
                  <a:srgbClr val="52606D"/>
                </a:solidFill>
                <a:latin typeface="Aptos" pitchFamily="34" charset="0"/>
                <a:ea typeface="Aptos" pitchFamily="34" charset="-122"/>
                <a:cs typeface="Aptos" pitchFamily="34" charset="-120"/>
              </a:rPr>
              <a:t>LA ESTRUCTURA</a:t>
            </a:r>
            <a:endParaRPr lang="en-US" sz="860" dirty="0"/>
          </a:p>
        </p:txBody>
      </p:sp>
      <p:sp>
        <p:nvSpPr>
          <p:cNvPr id="22" name="Text 18"/>
          <p:cNvSpPr txBox="1"/>
          <p:nvPr/>
        </p:nvSpPr>
        <p:spPr>
          <a:xfrm>
            <a:off x="7004304" y="2194560"/>
            <a:ext cx="4389120" cy="457200"/>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El formulario, las etiquetas de cada campo y la zona donde aparecen los mensajes.</a:t>
            </a:r>
            <a:endParaRPr lang="en-US" sz="1040" dirty="0"/>
          </a:p>
        </p:txBody>
      </p:sp>
      <p:sp>
        <p:nvSpPr>
          <p:cNvPr id="23" name="Shape 19"/>
          <p:cNvSpPr/>
          <p:nvPr/>
        </p:nvSpPr>
        <p:spPr>
          <a:xfrm>
            <a:off x="6784848" y="2834640"/>
            <a:ext cx="4745736" cy="932688"/>
          </a:xfrm>
          <a:prstGeom prst="rect">
            <a:avLst/>
          </a:prstGeom>
          <a:solidFill>
            <a:srgbClr val="FFFFFF"/>
          </a:solidFill>
          <a:ln w="12700">
            <a:solidFill>
              <a:srgbClr val="FFFFFF"/>
            </a:solidFill>
            <a:prstDash val="solid"/>
          </a:ln>
        </p:spPr>
      </p:sp>
      <p:sp>
        <p:nvSpPr>
          <p:cNvPr id="24" name="Shape 20"/>
          <p:cNvSpPr/>
          <p:nvPr/>
        </p:nvSpPr>
        <p:spPr>
          <a:xfrm>
            <a:off x="6784848" y="2834640"/>
            <a:ext cx="54864" cy="932688"/>
          </a:xfrm>
          <a:prstGeom prst="rect">
            <a:avLst/>
          </a:prstGeom>
          <a:solidFill>
            <a:srgbClr val="102A43"/>
          </a:solidFill>
          <a:ln w="12700">
            <a:solidFill>
              <a:srgbClr val="102A43"/>
            </a:solidFill>
            <a:prstDash val="solid"/>
          </a:ln>
        </p:spPr>
      </p:sp>
      <p:sp>
        <p:nvSpPr>
          <p:cNvPr id="25" name="Text 21"/>
          <p:cNvSpPr txBox="1"/>
          <p:nvPr/>
        </p:nvSpPr>
        <p:spPr>
          <a:xfrm>
            <a:off x="7004304" y="2944368"/>
            <a:ext cx="1828800" cy="237744"/>
          </a:xfrm>
          <a:prstGeom prst="rect">
            <a:avLst/>
          </a:prstGeom>
          <a:noFill/>
          <a:ln/>
        </p:spPr>
        <p:txBody>
          <a:bodyPr wrap="square" lIns="0" tIns="0" rIns="0" bIns="0" rtlCol="0" anchor="t"/>
          <a:lstStyle/>
          <a:p>
            <a:pPr algn="l" indent="0" marL="0">
              <a:buNone/>
            </a:pPr>
            <a:r>
              <a:rPr lang="en-US" sz="1200" b="1" dirty="0">
                <a:solidFill>
                  <a:srgbClr val="102A43"/>
                </a:solidFill>
                <a:latin typeface="Consolas" pitchFamily="34" charset="0"/>
                <a:ea typeface="Consolas" pitchFamily="34" charset="-122"/>
                <a:cs typeface="Consolas" pitchFamily="34" charset="-120"/>
              </a:rPr>
              <a:t>estilos.css</a:t>
            </a:r>
            <a:endParaRPr lang="en-US" sz="1200" dirty="0"/>
          </a:p>
        </p:txBody>
      </p:sp>
      <p:sp>
        <p:nvSpPr>
          <p:cNvPr id="26" name="Text 22"/>
          <p:cNvSpPr txBox="1"/>
          <p:nvPr/>
        </p:nvSpPr>
        <p:spPr>
          <a:xfrm>
            <a:off x="9509760" y="2971800"/>
            <a:ext cx="1828800" cy="182880"/>
          </a:xfrm>
          <a:prstGeom prst="rect">
            <a:avLst/>
          </a:prstGeom>
          <a:noFill/>
          <a:ln/>
        </p:spPr>
        <p:txBody>
          <a:bodyPr wrap="square" lIns="0" tIns="0" rIns="0" bIns="0" rtlCol="0" anchor="t"/>
          <a:lstStyle/>
          <a:p>
            <a:pPr algn="r" indent="0" marL="0">
              <a:buNone/>
            </a:pPr>
            <a:r>
              <a:rPr lang="en-US" sz="860" b="1" spc="80" kern="0" dirty="0">
                <a:solidFill>
                  <a:srgbClr val="52606D"/>
                </a:solidFill>
                <a:latin typeface="Aptos" pitchFamily="34" charset="0"/>
                <a:ea typeface="Aptos" pitchFamily="34" charset="-122"/>
                <a:cs typeface="Aptos" pitchFamily="34" charset="-120"/>
              </a:rPr>
              <a:t>EL ASPECTO</a:t>
            </a:r>
            <a:endParaRPr lang="en-US" sz="860" dirty="0"/>
          </a:p>
        </p:txBody>
      </p:sp>
      <p:sp>
        <p:nvSpPr>
          <p:cNvPr id="27" name="Text 23"/>
          <p:cNvSpPr txBox="1"/>
          <p:nvPr/>
        </p:nvSpPr>
        <p:spPr>
          <a:xfrm>
            <a:off x="7004304" y="3236976"/>
            <a:ext cx="4389120" cy="457200"/>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Colores, tarjetas y la grilla de bloques. No cambia lo que la página hace.</a:t>
            </a:r>
            <a:endParaRPr lang="en-US" sz="1040" dirty="0"/>
          </a:p>
        </p:txBody>
      </p:sp>
      <p:sp>
        <p:nvSpPr>
          <p:cNvPr id="28" name="Shape 24"/>
          <p:cNvSpPr/>
          <p:nvPr/>
        </p:nvSpPr>
        <p:spPr>
          <a:xfrm>
            <a:off x="6784848" y="3877056"/>
            <a:ext cx="4745736" cy="932688"/>
          </a:xfrm>
          <a:prstGeom prst="rect">
            <a:avLst/>
          </a:prstGeom>
          <a:solidFill>
            <a:srgbClr val="F2E7D9"/>
          </a:solidFill>
          <a:ln w="12700">
            <a:solidFill>
              <a:srgbClr val="F2E7D9"/>
            </a:solidFill>
            <a:prstDash val="solid"/>
          </a:ln>
        </p:spPr>
      </p:sp>
      <p:sp>
        <p:nvSpPr>
          <p:cNvPr id="29" name="Shape 25"/>
          <p:cNvSpPr/>
          <p:nvPr/>
        </p:nvSpPr>
        <p:spPr>
          <a:xfrm>
            <a:off x="6784848" y="3877056"/>
            <a:ext cx="54864" cy="932688"/>
          </a:xfrm>
          <a:prstGeom prst="rect">
            <a:avLst/>
          </a:prstGeom>
          <a:solidFill>
            <a:srgbClr val="B3181E"/>
          </a:solidFill>
          <a:ln w="12700">
            <a:solidFill>
              <a:srgbClr val="B3181E"/>
            </a:solidFill>
            <a:prstDash val="solid"/>
          </a:ln>
        </p:spPr>
      </p:sp>
      <p:sp>
        <p:nvSpPr>
          <p:cNvPr id="30" name="Text 26"/>
          <p:cNvSpPr txBox="1"/>
          <p:nvPr/>
        </p:nvSpPr>
        <p:spPr>
          <a:xfrm>
            <a:off x="7004304" y="3986784"/>
            <a:ext cx="1828800" cy="237744"/>
          </a:xfrm>
          <a:prstGeom prst="rect">
            <a:avLst/>
          </a:prstGeom>
          <a:noFill/>
          <a:ln/>
        </p:spPr>
        <p:txBody>
          <a:bodyPr wrap="square" lIns="0" tIns="0" rIns="0" bIns="0" rtlCol="0" anchor="t"/>
          <a:lstStyle/>
          <a:p>
            <a:pPr algn="l" indent="0" marL="0">
              <a:buNone/>
            </a:pPr>
            <a:r>
              <a:rPr lang="en-US" sz="1200" b="1" dirty="0">
                <a:solidFill>
                  <a:srgbClr val="B3181E"/>
                </a:solidFill>
                <a:latin typeface="Consolas" pitchFamily="34" charset="0"/>
                <a:ea typeface="Consolas" pitchFamily="34" charset="-122"/>
                <a:cs typeface="Consolas" pitchFamily="34" charset="-120"/>
              </a:rPr>
              <a:t>app.js</a:t>
            </a:r>
            <a:endParaRPr lang="en-US" sz="1200" dirty="0"/>
          </a:p>
        </p:txBody>
      </p:sp>
      <p:sp>
        <p:nvSpPr>
          <p:cNvPr id="31" name="Text 27"/>
          <p:cNvSpPr txBox="1"/>
          <p:nvPr/>
        </p:nvSpPr>
        <p:spPr>
          <a:xfrm>
            <a:off x="9509760" y="4014216"/>
            <a:ext cx="1828800" cy="182880"/>
          </a:xfrm>
          <a:prstGeom prst="rect">
            <a:avLst/>
          </a:prstGeom>
          <a:noFill/>
          <a:ln/>
        </p:spPr>
        <p:txBody>
          <a:bodyPr wrap="square" lIns="0" tIns="0" rIns="0" bIns="0" rtlCol="0" anchor="t"/>
          <a:lstStyle/>
          <a:p>
            <a:pPr algn="r" indent="0" marL="0">
              <a:buNone/>
            </a:pPr>
            <a:r>
              <a:rPr lang="en-US" sz="860" b="1" spc="80" kern="0" dirty="0">
                <a:solidFill>
                  <a:srgbClr val="52606D"/>
                </a:solidFill>
                <a:latin typeface="Aptos" pitchFamily="34" charset="0"/>
                <a:ea typeface="Aptos" pitchFamily="34" charset="-122"/>
                <a:cs typeface="Aptos" pitchFamily="34" charset="-120"/>
              </a:rPr>
              <a:t>EL COMPORTAMIENTO</a:t>
            </a:r>
            <a:endParaRPr lang="en-US" sz="860" dirty="0"/>
          </a:p>
        </p:txBody>
      </p:sp>
      <p:sp>
        <p:nvSpPr>
          <p:cNvPr id="32" name="Text 28"/>
          <p:cNvSpPr txBox="1"/>
          <p:nvPr/>
        </p:nvSpPr>
        <p:spPr>
          <a:xfrm>
            <a:off x="7004304" y="4279392"/>
            <a:ext cx="4389120" cy="457200"/>
          </a:xfrm>
          <a:prstGeom prst="rect">
            <a:avLst/>
          </a:prstGeom>
          <a:noFill/>
          <a:ln/>
        </p:spPr>
        <p:txBody>
          <a:bodyPr wrap="square" lIns="0" tIns="0" rIns="0" bIns="0" rtlCol="0" anchor="t"/>
          <a:lstStyle/>
          <a:p>
            <a:pPr algn="l" indent="0" marL="0">
              <a:lnSpc>
                <a:spcPct val="110000"/>
              </a:lnSpc>
              <a:buNone/>
            </a:pPr>
            <a:r>
              <a:rPr lang="en-US" sz="1040" dirty="0">
                <a:solidFill>
                  <a:srgbClr val="243B53"/>
                </a:solidFill>
                <a:latin typeface="Aptos" pitchFamily="34" charset="0"/>
                <a:ea typeface="Aptos" pitchFamily="34" charset="-122"/>
                <a:cs typeface="Aptos" pitchFamily="34" charset="-120"/>
              </a:rPr>
              <a:t>Envía la reserva a la API, espera la respuesta y la muestra. Aquí vive el defecto.</a:t>
            </a:r>
            <a:endParaRPr lang="en-US" sz="1040" dirty="0"/>
          </a:p>
        </p:txBody>
      </p:sp>
      <p:sp>
        <p:nvSpPr>
          <p:cNvPr id="33" name="Text 29"/>
          <p:cNvSpPr txBox="1"/>
          <p:nvPr/>
        </p:nvSpPr>
        <p:spPr>
          <a:xfrm>
            <a:off x="6784848" y="4992624"/>
            <a:ext cx="4745736" cy="457200"/>
          </a:xfrm>
          <a:prstGeom prst="rect">
            <a:avLst/>
          </a:prstGeom>
          <a:noFill/>
          <a:ln/>
        </p:spPr>
        <p:txBody>
          <a:bodyPr wrap="square" lIns="0" tIns="0" rIns="0" bIns="0" rtlCol="0" anchor="t"/>
          <a:lstStyle/>
          <a:p>
            <a:pPr algn="l" indent="0" marL="0">
              <a:lnSpc>
                <a:spcPct val="110000"/>
              </a:lnSpc>
              <a:buNone/>
            </a:pPr>
            <a:r>
              <a:rPr lang="en-US" sz="1100" i="1" dirty="0">
                <a:solidFill>
                  <a:srgbClr val="52606D"/>
                </a:solidFill>
                <a:latin typeface="Aptos" pitchFamily="34" charset="0"/>
                <a:ea typeface="Aptos" pitchFamily="34" charset="-122"/>
                <a:cs typeface="Aptos" pitchFamily="34" charset="-120"/>
              </a:rPr>
              <a:t>Se lee, porque la sesión es sobre probarla y no sobre construirla.</a:t>
            </a:r>
            <a:endParaRPr lang="en-US" sz="1100" dirty="0"/>
          </a:p>
        </p:txBody>
      </p:sp>
      <p:sp>
        <p:nvSpPr>
          <p:cNvPr id="34" name="Shape 30"/>
          <p:cNvSpPr/>
          <p:nvPr/>
        </p:nvSpPr>
        <p:spPr>
          <a:xfrm>
            <a:off x="658368" y="5650992"/>
            <a:ext cx="10874959" cy="548640"/>
          </a:xfrm>
          <a:prstGeom prst="rect">
            <a:avLst/>
          </a:prstGeom>
          <a:solidFill>
            <a:srgbClr val="102A43"/>
          </a:solidFill>
          <a:ln w="12700">
            <a:solidFill>
              <a:srgbClr val="102A43"/>
            </a:solidFill>
            <a:prstDash val="solid"/>
          </a:ln>
        </p:spPr>
      </p:sp>
      <p:sp>
        <p:nvSpPr>
          <p:cNvPr id="35" name="Text 3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Es la primera vez que el proyecto tiene algo que una persona puede abrir.</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APP.JS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Lo que hace la página al apretar «Reservar»</a:t>
            </a:r>
            <a:endParaRPr lang="en-US" sz="2700" dirty="0"/>
          </a:p>
        </p:txBody>
      </p:sp>
      <p:sp>
        <p:nvSpPr>
          <p:cNvPr id="10" name="Shape 7"/>
          <p:cNvSpPr/>
          <p:nvPr/>
        </p:nvSpPr>
        <p:spPr>
          <a:xfrm>
            <a:off x="658368" y="1737360"/>
            <a:ext cx="6766560" cy="4086149"/>
          </a:xfrm>
          <a:prstGeom prst="roundRect">
            <a:avLst>
              <a:gd name="adj" fmla="val 1119"/>
            </a:avLst>
          </a:prstGeom>
          <a:solidFill>
            <a:srgbClr val="102A43"/>
          </a:solidFill>
          <a:ln w="12700">
            <a:solidFill>
              <a:srgbClr val="102A43"/>
            </a:solidFill>
            <a:prstDash val="solid"/>
          </a:ln>
        </p:spPr>
      </p:sp>
      <p:sp>
        <p:nvSpPr>
          <p:cNvPr id="11" name="Shape 8"/>
          <p:cNvSpPr/>
          <p:nvPr/>
        </p:nvSpPr>
        <p:spPr>
          <a:xfrm>
            <a:off x="658368" y="2093976"/>
            <a:ext cx="6766560" cy="9144"/>
          </a:xfrm>
          <a:prstGeom prst="rect">
            <a:avLst/>
          </a:prstGeom>
          <a:solidFill>
            <a:srgbClr val="284B75"/>
          </a:solidFill>
          <a:ln w="12700">
            <a:solidFill>
              <a:srgbClr val="284B75"/>
            </a:solidFill>
            <a:prstDash val="solid"/>
          </a:ln>
        </p:spPr>
      </p:sp>
      <p:sp>
        <p:nvSpPr>
          <p:cNvPr id="12" name="Text 9"/>
          <p:cNvSpPr/>
          <p:nvPr/>
        </p:nvSpPr>
        <p:spPr>
          <a:xfrm>
            <a:off x="841248" y="1828800"/>
            <a:ext cx="6400800"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app.js · lo que corre al enviar el formulario (preventDefault evita que la página se recargue)</a:t>
            </a:r>
            <a:endParaRPr lang="en-US" sz="960" dirty="0"/>
          </a:p>
        </p:txBody>
      </p:sp>
      <p:sp>
        <p:nvSpPr>
          <p:cNvPr id="13" name="Shape 10"/>
          <p:cNvSpPr/>
          <p:nvPr/>
        </p:nvSpPr>
        <p:spPr>
          <a:xfrm>
            <a:off x="713232" y="2543912"/>
            <a:ext cx="6254496" cy="155863"/>
          </a:xfrm>
          <a:prstGeom prst="rect">
            <a:avLst/>
          </a:prstGeom>
          <a:solidFill>
            <a:srgbClr val="E0BC5A">
              <a:alpha val="28000"/>
            </a:srgbClr>
          </a:solidFill>
          <a:ln w="12700">
            <a:solidFill>
              <a:srgbClr val="E0BC5A">
                <a:alpha val="0"/>
              </a:srgbClr>
            </a:solidFill>
            <a:prstDash val="solid"/>
          </a:ln>
        </p:spPr>
      </p:sp>
      <p:sp>
        <p:nvSpPr>
          <p:cNvPr id="14" name="Shape 11"/>
          <p:cNvSpPr/>
          <p:nvPr/>
        </p:nvSpPr>
        <p:spPr>
          <a:xfrm>
            <a:off x="713232" y="2868625"/>
            <a:ext cx="6254496" cy="155863"/>
          </a:xfrm>
          <a:prstGeom prst="rect">
            <a:avLst/>
          </a:prstGeom>
          <a:solidFill>
            <a:srgbClr val="E0BC5A">
              <a:alpha val="28000"/>
            </a:srgbClr>
          </a:solidFill>
          <a:ln w="12700">
            <a:solidFill>
              <a:srgbClr val="E0BC5A">
                <a:alpha val="0"/>
              </a:srgbClr>
            </a:solidFill>
            <a:prstDash val="solid"/>
          </a:ln>
        </p:spPr>
      </p:sp>
      <p:sp>
        <p:nvSpPr>
          <p:cNvPr id="15" name="Shape 12"/>
          <p:cNvSpPr/>
          <p:nvPr/>
        </p:nvSpPr>
        <p:spPr>
          <a:xfrm>
            <a:off x="713232" y="4005123"/>
            <a:ext cx="6254496" cy="155863"/>
          </a:xfrm>
          <a:prstGeom prst="rect">
            <a:avLst/>
          </a:prstGeom>
          <a:solidFill>
            <a:srgbClr val="2E7D4F">
              <a:alpha val="28000"/>
            </a:srgbClr>
          </a:solidFill>
          <a:ln w="12700">
            <a:solidFill>
              <a:srgbClr val="2E7D4F">
                <a:alpha val="0"/>
              </a:srgbClr>
            </a:solidFill>
            <a:prstDash val="solid"/>
          </a:ln>
        </p:spPr>
      </p:sp>
      <p:sp>
        <p:nvSpPr>
          <p:cNvPr id="16" name="Shape 13"/>
          <p:cNvSpPr/>
          <p:nvPr/>
        </p:nvSpPr>
        <p:spPr>
          <a:xfrm>
            <a:off x="713232" y="5141620"/>
            <a:ext cx="6254496" cy="155863"/>
          </a:xfrm>
          <a:prstGeom prst="rect">
            <a:avLst/>
          </a:prstGeom>
          <a:solidFill>
            <a:srgbClr val="B3181E">
              <a:alpha val="28000"/>
            </a:srgbClr>
          </a:solidFill>
          <a:ln w="12700">
            <a:solidFill>
              <a:srgbClr val="B3181E">
                <a:alpha val="0"/>
              </a:srgbClr>
            </a:solidFill>
            <a:prstDash val="solid"/>
          </a:ln>
        </p:spPr>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231136"/>
            <a:ext cx="6035040" cy="3464357"/>
          </a:xfrm>
          <a:prstGeom prst="rect">
            <a:avLst/>
          </a:prstGeom>
        </p:spPr>
      </p:pic>
      <p:sp>
        <p:nvSpPr>
          <p:cNvPr id="18" name="Shape 14"/>
          <p:cNvSpPr/>
          <p:nvPr/>
        </p:nvSpPr>
        <p:spPr>
          <a:xfrm>
            <a:off x="7121644" y="2540855"/>
            <a:ext cx="149368" cy="149368"/>
          </a:xfrm>
          <a:prstGeom prst="ellipse">
            <a:avLst/>
          </a:prstGeom>
          <a:solidFill>
            <a:srgbClr val="E0BC5A"/>
          </a:solidFill>
          <a:ln w="12700">
            <a:solidFill>
              <a:srgbClr val="E0BC5A"/>
            </a:solidFill>
            <a:prstDash val="solid"/>
          </a:ln>
        </p:spPr>
      </p:sp>
      <p:sp>
        <p:nvSpPr>
          <p:cNvPr id="19" name="Text 15"/>
          <p:cNvSpPr/>
          <p:nvPr/>
        </p:nvSpPr>
        <p:spPr>
          <a:xfrm>
            <a:off x="7130788" y="2549999"/>
            <a:ext cx="131080" cy="131080"/>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20" name="Shape 16"/>
          <p:cNvSpPr/>
          <p:nvPr/>
        </p:nvSpPr>
        <p:spPr>
          <a:xfrm>
            <a:off x="7121644" y="2865569"/>
            <a:ext cx="149368" cy="149368"/>
          </a:xfrm>
          <a:prstGeom prst="ellipse">
            <a:avLst/>
          </a:prstGeom>
          <a:solidFill>
            <a:srgbClr val="E0BC5A"/>
          </a:solidFill>
          <a:ln w="12700">
            <a:solidFill>
              <a:srgbClr val="E0BC5A"/>
            </a:solidFill>
            <a:prstDash val="solid"/>
          </a:ln>
        </p:spPr>
      </p:sp>
      <p:sp>
        <p:nvSpPr>
          <p:cNvPr id="21" name="Text 17"/>
          <p:cNvSpPr/>
          <p:nvPr/>
        </p:nvSpPr>
        <p:spPr>
          <a:xfrm>
            <a:off x="7130788" y="2874713"/>
            <a:ext cx="131080" cy="131080"/>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2</a:t>
            </a:r>
            <a:endParaRPr lang="en-US" sz="940" dirty="0"/>
          </a:p>
        </p:txBody>
      </p:sp>
      <p:sp>
        <p:nvSpPr>
          <p:cNvPr id="22" name="Shape 18"/>
          <p:cNvSpPr/>
          <p:nvPr/>
        </p:nvSpPr>
        <p:spPr>
          <a:xfrm>
            <a:off x="7121644" y="4002067"/>
            <a:ext cx="149368" cy="149368"/>
          </a:xfrm>
          <a:prstGeom prst="ellipse">
            <a:avLst/>
          </a:prstGeom>
          <a:solidFill>
            <a:srgbClr val="2E7D4F"/>
          </a:solidFill>
          <a:ln w="12700">
            <a:solidFill>
              <a:srgbClr val="2E7D4F"/>
            </a:solidFill>
            <a:prstDash val="solid"/>
          </a:ln>
        </p:spPr>
      </p:sp>
      <p:sp>
        <p:nvSpPr>
          <p:cNvPr id="23" name="Text 19"/>
          <p:cNvSpPr/>
          <p:nvPr/>
        </p:nvSpPr>
        <p:spPr>
          <a:xfrm>
            <a:off x="7130788" y="4011211"/>
            <a:ext cx="131080" cy="131080"/>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3</a:t>
            </a:r>
            <a:endParaRPr lang="en-US" sz="940" dirty="0"/>
          </a:p>
        </p:txBody>
      </p:sp>
      <p:sp>
        <p:nvSpPr>
          <p:cNvPr id="24" name="Shape 20"/>
          <p:cNvSpPr/>
          <p:nvPr/>
        </p:nvSpPr>
        <p:spPr>
          <a:xfrm>
            <a:off x="7121644" y="5138564"/>
            <a:ext cx="149368" cy="149368"/>
          </a:xfrm>
          <a:prstGeom prst="ellipse">
            <a:avLst/>
          </a:prstGeom>
          <a:solidFill>
            <a:srgbClr val="B3181E"/>
          </a:solidFill>
          <a:ln w="12700">
            <a:solidFill>
              <a:srgbClr val="B3181E"/>
            </a:solidFill>
            <a:prstDash val="solid"/>
          </a:ln>
        </p:spPr>
      </p:sp>
      <p:sp>
        <p:nvSpPr>
          <p:cNvPr id="25" name="Text 21"/>
          <p:cNvSpPr/>
          <p:nvPr/>
        </p:nvSpPr>
        <p:spPr>
          <a:xfrm>
            <a:off x="7130788" y="5147708"/>
            <a:ext cx="131080" cy="131080"/>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4</a:t>
            </a:r>
            <a:endParaRPr lang="en-US" sz="940" dirty="0"/>
          </a:p>
        </p:txBody>
      </p:sp>
      <p:sp>
        <p:nvSpPr>
          <p:cNvPr id="26" name="Shape 22"/>
          <p:cNvSpPr/>
          <p:nvPr/>
        </p:nvSpPr>
        <p:spPr>
          <a:xfrm>
            <a:off x="7680960" y="1737360"/>
            <a:ext cx="3849624" cy="950976"/>
          </a:xfrm>
          <a:prstGeom prst="rect">
            <a:avLst/>
          </a:prstGeom>
          <a:solidFill>
            <a:srgbClr val="FFFFFF"/>
          </a:solidFill>
          <a:ln w="12700">
            <a:solidFill>
              <a:srgbClr val="FFFFFF"/>
            </a:solidFill>
            <a:prstDash val="solid"/>
          </a:ln>
        </p:spPr>
      </p:sp>
      <p:sp>
        <p:nvSpPr>
          <p:cNvPr id="27" name="Shape 23"/>
          <p:cNvSpPr/>
          <p:nvPr/>
        </p:nvSpPr>
        <p:spPr>
          <a:xfrm>
            <a:off x="7836408" y="1874520"/>
            <a:ext cx="274320" cy="274320"/>
          </a:xfrm>
          <a:prstGeom prst="ellipse">
            <a:avLst/>
          </a:prstGeom>
          <a:solidFill>
            <a:srgbClr val="E0BC5A"/>
          </a:solidFill>
          <a:ln w="12700">
            <a:solidFill>
              <a:srgbClr val="E0BC5A"/>
            </a:solidFill>
            <a:prstDash val="solid"/>
          </a:ln>
        </p:spPr>
      </p:sp>
      <p:sp>
        <p:nvSpPr>
          <p:cNvPr id="28" name="Text 24"/>
          <p:cNvSpPr/>
          <p:nvPr/>
        </p:nvSpPr>
        <p:spPr>
          <a:xfrm>
            <a:off x="7845552" y="1883664"/>
            <a:ext cx="256032" cy="256032"/>
          </a:xfrm>
          <a:prstGeom prst="rect">
            <a:avLst/>
          </a:prstGeom>
          <a:noFill/>
          <a:ln/>
        </p:spPr>
        <p:txBody>
          <a:bodyPr wrap="square" lIns="0" tIns="0" rIns="0" bIns="0" rtlCol="0" anchor="ctr"/>
          <a:lstStyle/>
          <a:p>
            <a:pPr algn="ctr" indent="0" marL="0">
              <a:buNone/>
            </a:pPr>
            <a:r>
              <a:rPr lang="en-US" sz="960" b="1" dirty="0">
                <a:solidFill>
                  <a:srgbClr val="102A43"/>
                </a:solidFill>
                <a:latin typeface="Aptos" pitchFamily="34" charset="0"/>
                <a:ea typeface="Aptos" pitchFamily="34" charset="-122"/>
                <a:cs typeface="Aptos" pitchFamily="34" charset="-120"/>
              </a:rPr>
              <a:t>1</a:t>
            </a:r>
            <a:endParaRPr lang="en-US" sz="960" dirty="0"/>
          </a:p>
        </p:txBody>
      </p:sp>
      <p:sp>
        <p:nvSpPr>
          <p:cNvPr id="29" name="Text 25"/>
          <p:cNvSpPr txBox="1"/>
          <p:nvPr/>
        </p:nvSpPr>
        <p:spPr>
          <a:xfrm>
            <a:off x="8247888" y="1892808"/>
            <a:ext cx="3154680"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Reúne lo que la persona escribió</a:t>
            </a:r>
            <a:endParaRPr lang="en-US" sz="1200" dirty="0"/>
          </a:p>
        </p:txBody>
      </p:sp>
      <p:sp>
        <p:nvSpPr>
          <p:cNvPr id="30" name="Text 26"/>
          <p:cNvSpPr txBox="1"/>
          <p:nvPr/>
        </p:nvSpPr>
        <p:spPr>
          <a:xfrm>
            <a:off x="8247888" y="2157984"/>
            <a:ext cx="3154680" cy="475488"/>
          </a:xfrm>
          <a:prstGeom prst="rect">
            <a:avLst/>
          </a:prstGeom>
          <a:noFill/>
          <a:ln/>
        </p:spPr>
        <p:txBody>
          <a:bodyPr wrap="square" lIns="0" tIns="0" rIns="0" bIns="0" rtlCol="0" anchor="t"/>
          <a:lstStyle/>
          <a:p>
            <a:pPr algn="l" indent="0" marL="0">
              <a:lnSpc>
                <a:spcPct val="110000"/>
              </a:lnSpc>
              <a:buNone/>
            </a:pPr>
            <a:r>
              <a:rPr lang="en-US" sz="980" dirty="0">
                <a:solidFill>
                  <a:srgbClr val="52606D"/>
                </a:solidFill>
                <a:latin typeface="Aptos" pitchFamily="34" charset="0"/>
                <a:ea typeface="Aptos" pitchFamily="34" charset="-122"/>
                <a:cs typeface="Aptos" pitchFamily="34" charset="-120"/>
              </a:rPr>
              <a:t>Cada campo queda como texto, también los números: la cantidad de personas viaja como «12».</a:t>
            </a:r>
            <a:endParaRPr lang="en-US" sz="980" dirty="0"/>
          </a:p>
        </p:txBody>
      </p:sp>
      <p:sp>
        <p:nvSpPr>
          <p:cNvPr id="31" name="Shape 27"/>
          <p:cNvSpPr/>
          <p:nvPr/>
        </p:nvSpPr>
        <p:spPr>
          <a:xfrm>
            <a:off x="7680960" y="2798064"/>
            <a:ext cx="3849624" cy="950976"/>
          </a:xfrm>
          <a:prstGeom prst="rect">
            <a:avLst/>
          </a:prstGeom>
          <a:solidFill>
            <a:srgbClr val="FFFFFF"/>
          </a:solidFill>
          <a:ln w="12700">
            <a:solidFill>
              <a:srgbClr val="FFFFFF"/>
            </a:solidFill>
            <a:prstDash val="solid"/>
          </a:ln>
        </p:spPr>
      </p:sp>
      <p:sp>
        <p:nvSpPr>
          <p:cNvPr id="32" name="Shape 28"/>
          <p:cNvSpPr/>
          <p:nvPr/>
        </p:nvSpPr>
        <p:spPr>
          <a:xfrm>
            <a:off x="7836408" y="2935224"/>
            <a:ext cx="274320" cy="274320"/>
          </a:xfrm>
          <a:prstGeom prst="ellipse">
            <a:avLst/>
          </a:prstGeom>
          <a:solidFill>
            <a:srgbClr val="E0BC5A"/>
          </a:solidFill>
          <a:ln w="12700">
            <a:solidFill>
              <a:srgbClr val="E0BC5A"/>
            </a:solidFill>
            <a:prstDash val="solid"/>
          </a:ln>
        </p:spPr>
      </p:sp>
      <p:sp>
        <p:nvSpPr>
          <p:cNvPr id="33" name="Text 29"/>
          <p:cNvSpPr/>
          <p:nvPr/>
        </p:nvSpPr>
        <p:spPr>
          <a:xfrm>
            <a:off x="7845552" y="2944368"/>
            <a:ext cx="256032" cy="256032"/>
          </a:xfrm>
          <a:prstGeom prst="rect">
            <a:avLst/>
          </a:prstGeom>
          <a:noFill/>
          <a:ln/>
        </p:spPr>
        <p:txBody>
          <a:bodyPr wrap="square" lIns="0" tIns="0" rIns="0" bIns="0" rtlCol="0" anchor="ctr"/>
          <a:lstStyle/>
          <a:p>
            <a:pPr algn="ctr" indent="0" marL="0">
              <a:buNone/>
            </a:pPr>
            <a:r>
              <a:rPr lang="en-US" sz="960" b="1" dirty="0">
                <a:solidFill>
                  <a:srgbClr val="102A43"/>
                </a:solidFill>
                <a:latin typeface="Aptos" pitchFamily="34" charset="0"/>
                <a:ea typeface="Aptos" pitchFamily="34" charset="-122"/>
                <a:cs typeface="Aptos" pitchFamily="34" charset="-120"/>
              </a:rPr>
              <a:t>2</a:t>
            </a:r>
            <a:endParaRPr lang="en-US" sz="960" dirty="0"/>
          </a:p>
        </p:txBody>
      </p:sp>
      <p:sp>
        <p:nvSpPr>
          <p:cNvPr id="34" name="Text 30"/>
          <p:cNvSpPr txBox="1"/>
          <p:nvPr/>
        </p:nvSpPr>
        <p:spPr>
          <a:xfrm>
            <a:off x="8247888" y="2953512"/>
            <a:ext cx="3154680"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Envía y espera</a:t>
            </a:r>
            <a:endParaRPr lang="en-US" sz="1200" dirty="0"/>
          </a:p>
        </p:txBody>
      </p:sp>
      <p:sp>
        <p:nvSpPr>
          <p:cNvPr id="35" name="Text 31"/>
          <p:cNvSpPr txBox="1"/>
          <p:nvPr/>
        </p:nvSpPr>
        <p:spPr>
          <a:xfrm>
            <a:off x="8247888" y="3218688"/>
            <a:ext cx="3154680" cy="475488"/>
          </a:xfrm>
          <a:prstGeom prst="rect">
            <a:avLst/>
          </a:prstGeom>
          <a:noFill/>
          <a:ln/>
        </p:spPr>
        <p:txBody>
          <a:bodyPr wrap="square" lIns="0" tIns="0" rIns="0" bIns="0" rtlCol="0" anchor="t"/>
          <a:lstStyle/>
          <a:p>
            <a:pPr algn="l" indent="0" marL="0">
              <a:lnSpc>
                <a:spcPct val="110000"/>
              </a:lnSpc>
              <a:buNone/>
            </a:pPr>
            <a:r>
              <a:rPr lang="en-US" sz="980" dirty="0">
                <a:solidFill>
                  <a:srgbClr val="52606D"/>
                </a:solidFill>
                <a:latin typeface="Aptos" pitchFamily="34" charset="0"/>
                <a:ea typeface="Aptos" pitchFamily="34" charset="-122"/>
                <a:cs typeface="Aptos" pitchFamily="34" charset="-120"/>
              </a:rPr>
              <a:t>fetch manda los datos a la API, convertidos a texto JSON. await detiene esta función hasta que llega la respuesta, sin congelar la página.</a:t>
            </a:r>
            <a:endParaRPr lang="en-US" sz="980" dirty="0"/>
          </a:p>
        </p:txBody>
      </p:sp>
      <p:sp>
        <p:nvSpPr>
          <p:cNvPr id="36" name="Shape 32"/>
          <p:cNvSpPr/>
          <p:nvPr/>
        </p:nvSpPr>
        <p:spPr>
          <a:xfrm>
            <a:off x="7680960" y="3858768"/>
            <a:ext cx="3849624" cy="950976"/>
          </a:xfrm>
          <a:prstGeom prst="rect">
            <a:avLst/>
          </a:prstGeom>
          <a:solidFill>
            <a:srgbClr val="FFFFFF"/>
          </a:solidFill>
          <a:ln w="12700">
            <a:solidFill>
              <a:srgbClr val="FFFFFF"/>
            </a:solidFill>
            <a:prstDash val="solid"/>
          </a:ln>
        </p:spPr>
      </p:sp>
      <p:sp>
        <p:nvSpPr>
          <p:cNvPr id="37" name="Shape 33"/>
          <p:cNvSpPr/>
          <p:nvPr/>
        </p:nvSpPr>
        <p:spPr>
          <a:xfrm>
            <a:off x="7836408" y="3995928"/>
            <a:ext cx="274320" cy="274320"/>
          </a:xfrm>
          <a:prstGeom prst="ellipse">
            <a:avLst/>
          </a:prstGeom>
          <a:solidFill>
            <a:srgbClr val="2E7D4F"/>
          </a:solidFill>
          <a:ln w="12700">
            <a:solidFill>
              <a:srgbClr val="2E7D4F"/>
            </a:solidFill>
            <a:prstDash val="solid"/>
          </a:ln>
        </p:spPr>
      </p:sp>
      <p:sp>
        <p:nvSpPr>
          <p:cNvPr id="38" name="Text 34"/>
          <p:cNvSpPr/>
          <p:nvPr/>
        </p:nvSpPr>
        <p:spPr>
          <a:xfrm>
            <a:off x="7845552" y="4005072"/>
            <a:ext cx="256032" cy="256032"/>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3</a:t>
            </a:r>
            <a:endParaRPr lang="en-US" sz="960" dirty="0"/>
          </a:p>
        </p:txBody>
      </p:sp>
      <p:sp>
        <p:nvSpPr>
          <p:cNvPr id="39" name="Text 35"/>
          <p:cNvSpPr txBox="1"/>
          <p:nvPr/>
        </p:nvSpPr>
        <p:spPr>
          <a:xfrm>
            <a:off x="8247888" y="4014216"/>
            <a:ext cx="3154680"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Éxito o rechazo</a:t>
            </a:r>
            <a:endParaRPr lang="en-US" sz="1200" dirty="0"/>
          </a:p>
        </p:txBody>
      </p:sp>
      <p:sp>
        <p:nvSpPr>
          <p:cNvPr id="40" name="Text 36"/>
          <p:cNvSpPr txBox="1"/>
          <p:nvPr/>
        </p:nvSpPr>
        <p:spPr>
          <a:xfrm>
            <a:off x="8247888" y="4279392"/>
            <a:ext cx="3154680" cy="475488"/>
          </a:xfrm>
          <a:prstGeom prst="rect">
            <a:avLst/>
          </a:prstGeom>
          <a:noFill/>
          <a:ln/>
        </p:spPr>
        <p:txBody>
          <a:bodyPr wrap="square" lIns="0" tIns="0" rIns="0" bIns="0" rtlCol="0" anchor="t"/>
          <a:lstStyle/>
          <a:p>
            <a:pPr algn="l" indent="0" marL="0">
              <a:lnSpc>
                <a:spcPct val="110000"/>
              </a:lnSpc>
              <a:buNone/>
            </a:pPr>
            <a:r>
              <a:rPr lang="en-US" sz="980" dirty="0">
                <a:solidFill>
                  <a:srgbClr val="52606D"/>
                </a:solidFill>
                <a:latin typeface="Aptos" pitchFamily="34" charset="0"/>
                <a:ea typeface="Aptos" pitchFamily="34" charset="-122"/>
                <a:cs typeface="Aptos" pitchFamily="34" charset="-120"/>
              </a:rPr>
              <a:t>respuesta.ok es verdadero si el código de estado indica éxito.</a:t>
            </a:r>
            <a:endParaRPr lang="en-US" sz="980" dirty="0"/>
          </a:p>
        </p:txBody>
      </p:sp>
      <p:sp>
        <p:nvSpPr>
          <p:cNvPr id="41" name="Shape 37"/>
          <p:cNvSpPr/>
          <p:nvPr/>
        </p:nvSpPr>
        <p:spPr>
          <a:xfrm>
            <a:off x="7680960" y="4919472"/>
            <a:ext cx="3849624" cy="950976"/>
          </a:xfrm>
          <a:prstGeom prst="rect">
            <a:avLst/>
          </a:prstGeom>
          <a:solidFill>
            <a:srgbClr val="F2E7D9"/>
          </a:solidFill>
          <a:ln w="12700">
            <a:solidFill>
              <a:srgbClr val="F2E7D9"/>
            </a:solidFill>
            <a:prstDash val="solid"/>
          </a:ln>
        </p:spPr>
      </p:sp>
      <p:sp>
        <p:nvSpPr>
          <p:cNvPr id="42" name="Shape 38"/>
          <p:cNvSpPr/>
          <p:nvPr/>
        </p:nvSpPr>
        <p:spPr>
          <a:xfrm>
            <a:off x="7836408" y="5056632"/>
            <a:ext cx="274320" cy="274320"/>
          </a:xfrm>
          <a:prstGeom prst="ellipse">
            <a:avLst/>
          </a:prstGeom>
          <a:solidFill>
            <a:srgbClr val="B3181E"/>
          </a:solidFill>
          <a:ln w="12700">
            <a:solidFill>
              <a:srgbClr val="B3181E"/>
            </a:solidFill>
            <a:prstDash val="solid"/>
          </a:ln>
        </p:spPr>
      </p:sp>
      <p:sp>
        <p:nvSpPr>
          <p:cNvPr id="43" name="Text 39"/>
          <p:cNvSpPr/>
          <p:nvPr/>
        </p:nvSpPr>
        <p:spPr>
          <a:xfrm>
            <a:off x="7845552" y="5065776"/>
            <a:ext cx="256032" cy="256032"/>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4</a:t>
            </a:r>
            <a:endParaRPr lang="en-US" sz="960" dirty="0"/>
          </a:p>
        </p:txBody>
      </p:sp>
      <p:sp>
        <p:nvSpPr>
          <p:cNvPr id="44" name="Text 40"/>
          <p:cNvSpPr txBox="1"/>
          <p:nvPr/>
        </p:nvSpPr>
        <p:spPr>
          <a:xfrm>
            <a:off x="8247888" y="5074920"/>
            <a:ext cx="3154680" cy="237744"/>
          </a:xfrm>
          <a:prstGeom prst="rect">
            <a:avLst/>
          </a:prstGeom>
          <a:noFill/>
          <a:ln/>
        </p:spPr>
        <p:txBody>
          <a:bodyPr wrap="square" lIns="0" tIns="0" rIns="0" bIns="0" rtlCol="0" anchor="t"/>
          <a:lstStyle/>
          <a:p>
            <a:pPr algn="l" indent="0" marL="0">
              <a:buNone/>
            </a:pPr>
            <a:r>
              <a:rPr lang="en-US" sz="1200" b="1" dirty="0">
                <a:solidFill>
                  <a:srgbClr val="B3181E"/>
                </a:solidFill>
                <a:latin typeface="Aptos" pitchFamily="34" charset="0"/>
                <a:ea typeface="Aptos" pitchFamily="34" charset="-122"/>
                <a:cs typeface="Aptos" pitchFamily="34" charset="-120"/>
              </a:rPr>
              <a:t>Muestra lo que llegó, tal cual</a:t>
            </a:r>
            <a:endParaRPr lang="en-US" sz="1200" dirty="0"/>
          </a:p>
        </p:txBody>
      </p:sp>
      <p:sp>
        <p:nvSpPr>
          <p:cNvPr id="45" name="Text 41"/>
          <p:cNvSpPr txBox="1"/>
          <p:nvPr/>
        </p:nvSpPr>
        <p:spPr>
          <a:xfrm>
            <a:off x="8247888" y="5340096"/>
            <a:ext cx="3154680" cy="475488"/>
          </a:xfrm>
          <a:prstGeom prst="rect">
            <a:avLst/>
          </a:prstGeom>
          <a:noFill/>
          <a:ln/>
        </p:spPr>
        <p:txBody>
          <a:bodyPr wrap="square" lIns="0" tIns="0" rIns="0" bIns="0" rtlCol="0" anchor="t"/>
          <a:lstStyle/>
          <a:p>
            <a:pPr algn="l" indent="0" marL="0">
              <a:lnSpc>
                <a:spcPct val="110000"/>
              </a:lnSpc>
              <a:buNone/>
            </a:pPr>
            <a:r>
              <a:rPr lang="en-US" sz="980" dirty="0">
                <a:solidFill>
                  <a:srgbClr val="52606D"/>
                </a:solidFill>
                <a:latin typeface="Aptos" pitchFamily="34" charset="0"/>
                <a:ea typeface="Aptos" pitchFamily="34" charset="-122"/>
                <a:cs typeface="Aptos" pitchFamily="34" charset="-120"/>
              </a:rPr>
              <a:t>Pone en pantalla el campo detail de la respuesta. Funciona cuando detail es un texto.</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PLAYWRIGHT</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Una prueba tiene tres clases de piezas</a:t>
            </a:r>
            <a:endParaRPr lang="en-US" sz="3000" dirty="0"/>
          </a:p>
        </p:txBody>
      </p:sp>
      <p:sp>
        <p:nvSpPr>
          <p:cNvPr id="10" name="Shape 7"/>
          <p:cNvSpPr/>
          <p:nvPr/>
        </p:nvSpPr>
        <p:spPr>
          <a:xfrm>
            <a:off x="658368" y="1737360"/>
            <a:ext cx="6766560" cy="2749296"/>
          </a:xfrm>
          <a:prstGeom prst="roundRect">
            <a:avLst>
              <a:gd name="adj" fmla="val 1663"/>
            </a:avLst>
          </a:prstGeom>
          <a:solidFill>
            <a:srgbClr val="102A43"/>
          </a:solidFill>
          <a:ln w="12700">
            <a:solidFill>
              <a:srgbClr val="102A43"/>
            </a:solidFill>
            <a:prstDash val="solid"/>
          </a:ln>
        </p:spPr>
      </p:sp>
      <p:sp>
        <p:nvSpPr>
          <p:cNvPr id="11" name="Shape 8"/>
          <p:cNvSpPr/>
          <p:nvPr/>
        </p:nvSpPr>
        <p:spPr>
          <a:xfrm>
            <a:off x="658368" y="2093976"/>
            <a:ext cx="6766560" cy="9144"/>
          </a:xfrm>
          <a:prstGeom prst="rect">
            <a:avLst/>
          </a:prstGeom>
          <a:solidFill>
            <a:srgbClr val="284B75"/>
          </a:solidFill>
          <a:ln w="12700">
            <a:solidFill>
              <a:srgbClr val="284B75"/>
            </a:solidFill>
            <a:prstDash val="solid"/>
          </a:ln>
        </p:spPr>
      </p:sp>
      <p:sp>
        <p:nvSpPr>
          <p:cNvPr id="12" name="Text 9"/>
          <p:cNvSpPr/>
          <p:nvPr/>
        </p:nvSpPr>
        <p:spPr>
          <a:xfrm>
            <a:off x="841248" y="1828800"/>
            <a:ext cx="6400800"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La primera prueba: el camino feliz, donde todo sale bien</a:t>
            </a:r>
            <a:endParaRPr lang="en-US" sz="960" dirty="0"/>
          </a:p>
        </p:txBody>
      </p:sp>
      <p:sp>
        <p:nvSpPr>
          <p:cNvPr id="13" name="Shape 10"/>
          <p:cNvSpPr/>
          <p:nvPr/>
        </p:nvSpPr>
        <p:spPr>
          <a:xfrm>
            <a:off x="713232" y="3945636"/>
            <a:ext cx="6254496" cy="165811"/>
          </a:xfrm>
          <a:prstGeom prst="rect">
            <a:avLst/>
          </a:prstGeom>
          <a:solidFill>
            <a:srgbClr val="2E7D4F">
              <a:alpha val="28000"/>
            </a:srgbClr>
          </a:solidFill>
          <a:ln w="12700">
            <a:solidFill>
              <a:srgbClr val="2E7D4F">
                <a:alpha val="0"/>
              </a:srgbClr>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231136"/>
            <a:ext cx="6035040" cy="2127504"/>
          </a:xfrm>
          <a:prstGeom prst="rect">
            <a:avLst/>
          </a:prstGeom>
        </p:spPr>
      </p:pic>
      <p:sp>
        <p:nvSpPr>
          <p:cNvPr id="15" name="Shape 11"/>
          <p:cNvSpPr/>
          <p:nvPr/>
        </p:nvSpPr>
        <p:spPr>
          <a:xfrm>
            <a:off x="7644384" y="1737360"/>
            <a:ext cx="3886200" cy="768096"/>
          </a:xfrm>
          <a:prstGeom prst="rect">
            <a:avLst/>
          </a:prstGeom>
          <a:solidFill>
            <a:srgbClr val="FFFFFF"/>
          </a:solidFill>
          <a:ln w="12700">
            <a:solidFill>
              <a:srgbClr val="FFFFFF"/>
            </a:solidFill>
            <a:prstDash val="solid"/>
          </a:ln>
        </p:spPr>
      </p:sp>
      <p:sp>
        <p:nvSpPr>
          <p:cNvPr id="16" name="Shape 12"/>
          <p:cNvSpPr/>
          <p:nvPr/>
        </p:nvSpPr>
        <p:spPr>
          <a:xfrm>
            <a:off x="7644384" y="1737360"/>
            <a:ext cx="54864" cy="768096"/>
          </a:xfrm>
          <a:prstGeom prst="rect">
            <a:avLst/>
          </a:prstGeom>
          <a:solidFill>
            <a:srgbClr val="102A43"/>
          </a:solidFill>
          <a:ln w="12700">
            <a:solidFill>
              <a:srgbClr val="102A43"/>
            </a:solidFill>
            <a:prstDash val="solid"/>
          </a:ln>
        </p:spPr>
      </p:sp>
      <p:sp>
        <p:nvSpPr>
          <p:cNvPr id="17" name="Text 13"/>
          <p:cNvSpPr txBox="1"/>
          <p:nvPr/>
        </p:nvSpPr>
        <p:spPr>
          <a:xfrm>
            <a:off x="7863840" y="1828800"/>
            <a:ext cx="1554480" cy="182880"/>
          </a:xfrm>
          <a:prstGeom prst="rect">
            <a:avLst/>
          </a:prstGeom>
          <a:noFill/>
          <a:ln/>
        </p:spPr>
        <p:txBody>
          <a:bodyPr wrap="square" lIns="0" tIns="0" rIns="0" bIns="0" rtlCol="0" anchor="t"/>
          <a:lstStyle/>
          <a:p>
            <a:pPr algn="l" indent="0" marL="0">
              <a:buNone/>
            </a:pPr>
            <a:r>
              <a:rPr lang="en-US" sz="940" b="1" spc="90" kern="0" dirty="0">
                <a:solidFill>
                  <a:srgbClr val="102A43"/>
                </a:solidFill>
                <a:latin typeface="Aptos" pitchFamily="34" charset="0"/>
                <a:ea typeface="Aptos" pitchFamily="34" charset="-122"/>
                <a:cs typeface="Aptos" pitchFamily="34" charset="-120"/>
              </a:rPr>
              <a:t>LOCALIZADOR</a:t>
            </a:r>
            <a:endParaRPr lang="en-US" sz="940" dirty="0"/>
          </a:p>
        </p:txBody>
      </p:sp>
      <p:sp>
        <p:nvSpPr>
          <p:cNvPr id="18" name="Text 14"/>
          <p:cNvSpPr txBox="1"/>
          <p:nvPr/>
        </p:nvSpPr>
        <p:spPr>
          <a:xfrm>
            <a:off x="7863840" y="2029968"/>
            <a:ext cx="3529584" cy="201168"/>
          </a:xfrm>
          <a:prstGeom prst="rect">
            <a:avLst/>
          </a:prstGeom>
          <a:noFill/>
          <a:ln/>
        </p:spPr>
        <p:txBody>
          <a:bodyPr wrap="square" lIns="0" tIns="0" rIns="0" bIns="0" rtlCol="0" anchor="t"/>
          <a:lstStyle/>
          <a:p>
            <a:pPr algn="l" indent="0" marL="0">
              <a:buNone/>
            </a:pPr>
            <a:r>
              <a:rPr lang="en-US" sz="920" dirty="0">
                <a:solidFill>
                  <a:srgbClr val="243B53"/>
                </a:solidFill>
                <a:latin typeface="Consolas" pitchFamily="34" charset="0"/>
                <a:ea typeface="Consolas" pitchFamily="34" charset="-122"/>
                <a:cs typeface="Consolas" pitchFamily="34" charset="-120"/>
              </a:rPr>
              <a:t>getByLabel("Nombre") · getByRole("button")</a:t>
            </a:r>
            <a:endParaRPr lang="en-US" sz="920" dirty="0"/>
          </a:p>
        </p:txBody>
      </p:sp>
      <p:sp>
        <p:nvSpPr>
          <p:cNvPr id="19" name="Text 15"/>
          <p:cNvSpPr txBox="1"/>
          <p:nvPr/>
        </p:nvSpPr>
        <p:spPr>
          <a:xfrm>
            <a:off x="7863840" y="2249424"/>
            <a:ext cx="3529584" cy="201168"/>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Encuentra un elemento por su etiqueta, o por su rol: lo que es.</a:t>
            </a:r>
            <a:endParaRPr lang="en-US" sz="980" dirty="0"/>
          </a:p>
        </p:txBody>
      </p:sp>
      <p:sp>
        <p:nvSpPr>
          <p:cNvPr id="20" name="Shape 16"/>
          <p:cNvSpPr/>
          <p:nvPr/>
        </p:nvSpPr>
        <p:spPr>
          <a:xfrm>
            <a:off x="7644384" y="2596896"/>
            <a:ext cx="3886200" cy="768096"/>
          </a:xfrm>
          <a:prstGeom prst="rect">
            <a:avLst/>
          </a:prstGeom>
          <a:solidFill>
            <a:srgbClr val="FFFFFF"/>
          </a:solidFill>
          <a:ln w="12700">
            <a:solidFill>
              <a:srgbClr val="FFFFFF"/>
            </a:solidFill>
            <a:prstDash val="solid"/>
          </a:ln>
        </p:spPr>
      </p:sp>
      <p:sp>
        <p:nvSpPr>
          <p:cNvPr id="21" name="Shape 17"/>
          <p:cNvSpPr/>
          <p:nvPr/>
        </p:nvSpPr>
        <p:spPr>
          <a:xfrm>
            <a:off x="7644384" y="2596896"/>
            <a:ext cx="54864" cy="768096"/>
          </a:xfrm>
          <a:prstGeom prst="rect">
            <a:avLst/>
          </a:prstGeom>
          <a:solidFill>
            <a:srgbClr val="8A6A12"/>
          </a:solidFill>
          <a:ln w="12700">
            <a:solidFill>
              <a:srgbClr val="8A6A12"/>
            </a:solidFill>
            <a:prstDash val="solid"/>
          </a:ln>
        </p:spPr>
      </p:sp>
      <p:sp>
        <p:nvSpPr>
          <p:cNvPr id="22" name="Text 18"/>
          <p:cNvSpPr txBox="1"/>
          <p:nvPr/>
        </p:nvSpPr>
        <p:spPr>
          <a:xfrm>
            <a:off x="7863840" y="2688336"/>
            <a:ext cx="1554480" cy="182880"/>
          </a:xfrm>
          <a:prstGeom prst="rect">
            <a:avLst/>
          </a:prstGeom>
          <a:noFill/>
          <a:ln/>
        </p:spPr>
        <p:txBody>
          <a:bodyPr wrap="square" lIns="0" tIns="0" rIns="0" bIns="0" rtlCol="0" anchor="t"/>
          <a:lstStyle/>
          <a:p>
            <a:pPr algn="l" indent="0" marL="0">
              <a:buNone/>
            </a:pPr>
            <a:r>
              <a:rPr lang="en-US" sz="940" b="1" spc="90" kern="0" dirty="0">
                <a:solidFill>
                  <a:srgbClr val="8A6A12"/>
                </a:solidFill>
                <a:latin typeface="Aptos" pitchFamily="34" charset="0"/>
                <a:ea typeface="Aptos" pitchFamily="34" charset="-122"/>
                <a:cs typeface="Aptos" pitchFamily="34" charset="-120"/>
              </a:rPr>
              <a:t>ACCIÓN</a:t>
            </a:r>
            <a:endParaRPr lang="en-US" sz="940" dirty="0"/>
          </a:p>
        </p:txBody>
      </p:sp>
      <p:sp>
        <p:nvSpPr>
          <p:cNvPr id="23" name="Text 19"/>
          <p:cNvSpPr txBox="1"/>
          <p:nvPr/>
        </p:nvSpPr>
        <p:spPr>
          <a:xfrm>
            <a:off x="7863840" y="2889504"/>
            <a:ext cx="3529584" cy="201168"/>
          </a:xfrm>
          <a:prstGeom prst="rect">
            <a:avLst/>
          </a:prstGeom>
          <a:noFill/>
          <a:ln/>
        </p:spPr>
        <p:txBody>
          <a:bodyPr wrap="square" lIns="0" tIns="0" rIns="0" bIns="0" rtlCol="0" anchor="t"/>
          <a:lstStyle/>
          <a:p>
            <a:pPr algn="l" indent="0" marL="0">
              <a:buNone/>
            </a:pPr>
            <a:r>
              <a:rPr lang="en-US" sz="920" dirty="0">
                <a:solidFill>
                  <a:srgbClr val="243B53"/>
                </a:solidFill>
                <a:latin typeface="Consolas" pitchFamily="34" charset="0"/>
                <a:ea typeface="Consolas" pitchFamily="34" charset="-122"/>
                <a:cs typeface="Consolas" pitchFamily="34" charset="-120"/>
              </a:rPr>
              <a:t>fill · selectOption · click</a:t>
            </a:r>
            <a:endParaRPr lang="en-US" sz="920" dirty="0"/>
          </a:p>
        </p:txBody>
      </p:sp>
      <p:sp>
        <p:nvSpPr>
          <p:cNvPr id="24" name="Text 20"/>
          <p:cNvSpPr txBox="1"/>
          <p:nvPr/>
        </p:nvSpPr>
        <p:spPr>
          <a:xfrm>
            <a:off x="7863840" y="3108960"/>
            <a:ext cx="3529584" cy="201168"/>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Escribir, elegir una opción, apretar: como una persona.</a:t>
            </a:r>
            <a:endParaRPr lang="en-US" sz="980" dirty="0"/>
          </a:p>
        </p:txBody>
      </p:sp>
      <p:sp>
        <p:nvSpPr>
          <p:cNvPr id="25" name="Shape 21"/>
          <p:cNvSpPr/>
          <p:nvPr/>
        </p:nvSpPr>
        <p:spPr>
          <a:xfrm>
            <a:off x="7644384" y="3456432"/>
            <a:ext cx="3886200" cy="768096"/>
          </a:xfrm>
          <a:prstGeom prst="rect">
            <a:avLst/>
          </a:prstGeom>
          <a:solidFill>
            <a:srgbClr val="FFFFFF"/>
          </a:solidFill>
          <a:ln w="12700">
            <a:solidFill>
              <a:srgbClr val="FFFFFF"/>
            </a:solidFill>
            <a:prstDash val="solid"/>
          </a:ln>
        </p:spPr>
      </p:sp>
      <p:sp>
        <p:nvSpPr>
          <p:cNvPr id="26" name="Shape 22"/>
          <p:cNvSpPr/>
          <p:nvPr/>
        </p:nvSpPr>
        <p:spPr>
          <a:xfrm>
            <a:off x="7644384" y="3456432"/>
            <a:ext cx="54864" cy="768096"/>
          </a:xfrm>
          <a:prstGeom prst="rect">
            <a:avLst/>
          </a:prstGeom>
          <a:solidFill>
            <a:srgbClr val="2E7D4F"/>
          </a:solidFill>
          <a:ln w="12700">
            <a:solidFill>
              <a:srgbClr val="2E7D4F"/>
            </a:solidFill>
            <a:prstDash val="solid"/>
          </a:ln>
        </p:spPr>
      </p:sp>
      <p:sp>
        <p:nvSpPr>
          <p:cNvPr id="27" name="Text 23"/>
          <p:cNvSpPr txBox="1"/>
          <p:nvPr/>
        </p:nvSpPr>
        <p:spPr>
          <a:xfrm>
            <a:off x="7863840" y="3547872"/>
            <a:ext cx="1554480" cy="182880"/>
          </a:xfrm>
          <a:prstGeom prst="rect">
            <a:avLst/>
          </a:prstGeom>
          <a:noFill/>
          <a:ln/>
        </p:spPr>
        <p:txBody>
          <a:bodyPr wrap="square" lIns="0" tIns="0" rIns="0" bIns="0" rtlCol="0" anchor="t"/>
          <a:lstStyle/>
          <a:p>
            <a:pPr algn="l" indent="0" marL="0">
              <a:buNone/>
            </a:pPr>
            <a:r>
              <a:rPr lang="en-US" sz="940" b="1" spc="90" kern="0" dirty="0">
                <a:solidFill>
                  <a:srgbClr val="2E7D4F"/>
                </a:solidFill>
                <a:latin typeface="Aptos" pitchFamily="34" charset="0"/>
                <a:ea typeface="Aptos" pitchFamily="34" charset="-122"/>
                <a:cs typeface="Aptos" pitchFamily="34" charset="-120"/>
              </a:rPr>
              <a:t>ASERCIÓN</a:t>
            </a:r>
            <a:endParaRPr lang="en-US" sz="940" dirty="0"/>
          </a:p>
        </p:txBody>
      </p:sp>
      <p:sp>
        <p:nvSpPr>
          <p:cNvPr id="28" name="Text 24"/>
          <p:cNvSpPr txBox="1"/>
          <p:nvPr/>
        </p:nvSpPr>
        <p:spPr>
          <a:xfrm>
            <a:off x="7863840" y="3749040"/>
            <a:ext cx="3529584" cy="201168"/>
          </a:xfrm>
          <a:prstGeom prst="rect">
            <a:avLst/>
          </a:prstGeom>
          <a:noFill/>
          <a:ln/>
        </p:spPr>
        <p:txBody>
          <a:bodyPr wrap="square" lIns="0" tIns="0" rIns="0" bIns="0" rtlCol="0" anchor="t"/>
          <a:lstStyle/>
          <a:p>
            <a:pPr algn="l" indent="0" marL="0">
              <a:buNone/>
            </a:pPr>
            <a:r>
              <a:rPr lang="en-US" sz="920" dirty="0">
                <a:solidFill>
                  <a:srgbClr val="243B53"/>
                </a:solidFill>
                <a:latin typeface="Consolas" pitchFamily="34" charset="0"/>
                <a:ea typeface="Consolas" pitchFamily="34" charset="-122"/>
                <a:cs typeface="Consolas" pitchFamily="34" charset="-120"/>
              </a:rPr>
              <a:t>toContainText("Reserva confirmada")</a:t>
            </a:r>
            <a:endParaRPr lang="en-US" sz="920" dirty="0"/>
          </a:p>
        </p:txBody>
      </p:sp>
      <p:sp>
        <p:nvSpPr>
          <p:cNvPr id="29" name="Text 25"/>
          <p:cNvSpPr txBox="1"/>
          <p:nvPr/>
        </p:nvSpPr>
        <p:spPr>
          <a:xfrm>
            <a:off x="7863840" y="3968496"/>
            <a:ext cx="3529584" cy="201168"/>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Lo que afirma sobre lo que quedó en pantalla.</a:t>
            </a:r>
            <a:endParaRPr lang="en-US" sz="980" dirty="0"/>
          </a:p>
        </p:txBody>
      </p:sp>
      <p:sp>
        <p:nvSpPr>
          <p:cNvPr id="30" name="Shape 26"/>
          <p:cNvSpPr/>
          <p:nvPr/>
        </p:nvSpPr>
        <p:spPr>
          <a:xfrm>
            <a:off x="7644384" y="4389120"/>
            <a:ext cx="3886200" cy="1097280"/>
          </a:xfrm>
          <a:prstGeom prst="rect">
            <a:avLst/>
          </a:prstGeom>
          <a:solidFill>
            <a:srgbClr val="1D3A57"/>
          </a:solidFill>
          <a:ln w="12700">
            <a:solidFill>
              <a:srgbClr val="1D3A57"/>
            </a:solidFill>
            <a:prstDash val="solid"/>
          </a:ln>
        </p:spPr>
      </p:sp>
      <p:sp>
        <p:nvSpPr>
          <p:cNvPr id="31" name="Text 27"/>
          <p:cNvSpPr txBox="1"/>
          <p:nvPr/>
        </p:nvSpPr>
        <p:spPr>
          <a:xfrm>
            <a:off x="7863840" y="4498848"/>
            <a:ext cx="3529584" cy="237744"/>
          </a:xfrm>
          <a:prstGeom prst="rect">
            <a:avLst/>
          </a:prstGeom>
          <a:noFill/>
          <a:ln/>
        </p:spPr>
        <p:txBody>
          <a:bodyPr wrap="square" lIns="0" tIns="0" rIns="0" bIns="0" rtlCol="0" anchor="t"/>
          <a:lstStyle/>
          <a:p>
            <a:pPr algn="l" indent="0" marL="0">
              <a:buNone/>
            </a:pPr>
            <a:r>
              <a:rPr lang="en-US" sz="1200" b="1" dirty="0">
                <a:solidFill>
                  <a:srgbClr val="E0BC5A"/>
                </a:solidFill>
                <a:latin typeface="Aptos" pitchFamily="34" charset="0"/>
                <a:ea typeface="Aptos" pitchFamily="34" charset="-122"/>
                <a:cs typeface="Aptos" pitchFamily="34" charset="-120"/>
              </a:rPr>
              <a:t>Se busca lo que la persona percibe</a:t>
            </a:r>
            <a:endParaRPr lang="en-US" sz="1200" dirty="0"/>
          </a:p>
        </p:txBody>
      </p:sp>
      <p:sp>
        <p:nvSpPr>
          <p:cNvPr id="32" name="Text 28"/>
          <p:cNvSpPr txBox="1"/>
          <p:nvPr/>
        </p:nvSpPr>
        <p:spPr>
          <a:xfrm>
            <a:off x="7863840" y="4754880"/>
            <a:ext cx="3529584" cy="676656"/>
          </a:xfrm>
          <a:prstGeom prst="rect">
            <a:avLst/>
          </a:prstGeom>
          <a:noFill/>
          <a:ln/>
        </p:spPr>
        <p:txBody>
          <a:bodyPr wrap="square" lIns="0" tIns="0" rIns="0" bIns="0" rtlCol="0" anchor="t"/>
          <a:lstStyle/>
          <a:p>
            <a:pPr algn="l" indent="0" marL="0">
              <a:lnSpc>
                <a:spcPct val="112000"/>
              </a:lnSpc>
              <a:buNone/>
            </a:pPr>
            <a:r>
              <a:rPr lang="en-US" sz="980" dirty="0">
                <a:solidFill>
                  <a:srgbClr val="FFFFFF"/>
                </a:solidFill>
                <a:latin typeface="Aptos" pitchFamily="34" charset="0"/>
                <a:ea typeface="Aptos" pitchFamily="34" charset="-122"/>
                <a:cs typeface="Aptos" pitchFamily="34" charset="-120"/>
              </a:rPr>
              <a:t>Un botón que dice «Reservar», un campo con la etiqueta «Nombre». No «el tercer input del formulario», que cambia cada vez que alguien rediseña la página.</a:t>
            </a:r>
            <a:endParaRPr lang="en-US" sz="980" dirty="0"/>
          </a:p>
        </p:txBody>
      </p:sp>
      <p:sp>
        <p:nvSpPr>
          <p:cNvPr id="33" name="Shape 29"/>
          <p:cNvSpPr/>
          <p:nvPr/>
        </p:nvSpPr>
        <p:spPr>
          <a:xfrm>
            <a:off x="658368" y="5340096"/>
            <a:ext cx="45720" cy="182880"/>
          </a:xfrm>
          <a:prstGeom prst="rect">
            <a:avLst/>
          </a:prstGeom>
          <a:solidFill>
            <a:srgbClr val="8A6A12"/>
          </a:solidFill>
          <a:ln w="12700">
            <a:solidFill>
              <a:srgbClr val="8A6A12"/>
            </a:solidFill>
            <a:prstDash val="solid"/>
          </a:ln>
        </p:spPr>
      </p:sp>
      <p:sp>
        <p:nvSpPr>
          <p:cNvPr id="34" name="Text 30"/>
          <p:cNvSpPr txBox="1"/>
          <p:nvPr/>
        </p:nvSpPr>
        <p:spPr>
          <a:xfrm>
            <a:off x="804672" y="5330952"/>
            <a:ext cx="6766560" cy="201168"/>
          </a:xfrm>
          <a:prstGeom prst="rect">
            <a:avLst/>
          </a:prstGeom>
          <a:noFill/>
          <a:ln/>
        </p:spPr>
        <p:txBody>
          <a:bodyPr wrap="square" lIns="0" tIns="0" rIns="0" bIns="0" rtlCol="0" anchor="t"/>
          <a:lstStyle/>
          <a:p>
            <a:pPr algn="l" indent="0" marL="0">
              <a:buNone/>
            </a:pPr>
            <a:r>
              <a:rPr lang="en-US" sz="880" i="1" dirty="0">
                <a:solidFill>
                  <a:srgbClr val="52606D"/>
                </a:solidFill>
                <a:latin typeface="Aptos" pitchFamily="34" charset="0"/>
                <a:ea typeface="Aptos" pitchFamily="34" charset="-122"/>
                <a:cs typeface="Aptos" pitchFamily="34" charset="-120"/>
              </a:rPr>
              <a:t>page es la pestaña del navegador que Playwright le entrega limpia a cada prueba. El navegador corre sin ventana.</a:t>
            </a:r>
            <a:endParaRPr lang="en-US" sz="880" dirty="0"/>
          </a:p>
        </p:txBody>
      </p:sp>
      <p:sp>
        <p:nvSpPr>
          <p:cNvPr id="35" name="Shape 31"/>
          <p:cNvSpPr/>
          <p:nvPr/>
        </p:nvSpPr>
        <p:spPr>
          <a:xfrm>
            <a:off x="658368" y="5650992"/>
            <a:ext cx="10874959" cy="548640"/>
          </a:xfrm>
          <a:prstGeom prst="rect">
            <a:avLst/>
          </a:prstGeom>
          <a:solidFill>
            <a:srgbClr val="102A43"/>
          </a:solidFill>
          <a:ln w="12700">
            <a:solidFill>
              <a:srgbClr val="102A43"/>
            </a:solidFill>
            <a:prstDash val="solid"/>
          </a:ln>
        </p:spPr>
      </p:sp>
      <p:sp>
        <p:nvSpPr>
          <p:cNvPr id="36" name="Text 3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Si una prueba no encuentra el botón «Reservar», una persona tampoco.</a:t>
            </a:r>
            <a:endParaRPr lang="en-US" sz="13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EL PRIMER ERROR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El primer error de la sesión no fue del sistema</a:t>
            </a:r>
            <a:endParaRPr lang="en-US" sz="2700" dirty="0"/>
          </a:p>
        </p:txBody>
      </p:sp>
      <p:sp>
        <p:nvSpPr>
          <p:cNvPr id="10" name="Shape 7"/>
          <p:cNvSpPr/>
          <p:nvPr/>
        </p:nvSpPr>
        <p:spPr>
          <a:xfrm>
            <a:off x="658368" y="1773936"/>
            <a:ext cx="10874959" cy="1390904"/>
          </a:xfrm>
          <a:prstGeom prst="roundRect">
            <a:avLst>
              <a:gd name="adj" fmla="val 3287"/>
            </a:avLst>
          </a:prstGeom>
          <a:solidFill>
            <a:srgbClr val="0F1720"/>
          </a:solidFill>
          <a:ln w="12700">
            <a:solidFill>
              <a:srgbClr val="0F1720"/>
            </a:solidFill>
            <a:prstDash val="solid"/>
          </a:ln>
        </p:spPr>
      </p:sp>
      <p:sp>
        <p:nvSpPr>
          <p:cNvPr id="11" name="Shape 8"/>
          <p:cNvSpPr/>
          <p:nvPr/>
        </p:nvSpPr>
        <p:spPr>
          <a:xfrm>
            <a:off x="818388" y="1906524"/>
            <a:ext cx="82296" cy="82296"/>
          </a:xfrm>
          <a:prstGeom prst="ellipse">
            <a:avLst/>
          </a:prstGeom>
          <a:solidFill>
            <a:srgbClr val="52606D"/>
          </a:solidFill>
          <a:ln w="12700">
            <a:solidFill>
              <a:srgbClr val="52606D"/>
            </a:solidFill>
            <a:prstDash val="solid"/>
          </a:ln>
        </p:spPr>
      </p:sp>
      <p:sp>
        <p:nvSpPr>
          <p:cNvPr id="12" name="Shape 9"/>
          <p:cNvSpPr/>
          <p:nvPr/>
        </p:nvSpPr>
        <p:spPr>
          <a:xfrm>
            <a:off x="973836" y="1906524"/>
            <a:ext cx="82296" cy="82296"/>
          </a:xfrm>
          <a:prstGeom prst="ellipse">
            <a:avLst/>
          </a:prstGeom>
          <a:solidFill>
            <a:srgbClr val="52606D"/>
          </a:solidFill>
          <a:ln w="12700">
            <a:solidFill>
              <a:srgbClr val="52606D"/>
            </a:solidFill>
            <a:prstDash val="solid"/>
          </a:ln>
        </p:spPr>
      </p:sp>
      <p:sp>
        <p:nvSpPr>
          <p:cNvPr id="13" name="Shape 10"/>
          <p:cNvSpPr/>
          <p:nvPr/>
        </p:nvSpPr>
        <p:spPr>
          <a:xfrm>
            <a:off x="1129284" y="1906524"/>
            <a:ext cx="82296" cy="82296"/>
          </a:xfrm>
          <a:prstGeom prst="ellipse">
            <a:avLst/>
          </a:prstGeom>
          <a:solidFill>
            <a:srgbClr val="52606D"/>
          </a:solidFill>
          <a:ln w="12700">
            <a:solidFill>
              <a:srgbClr val="52606D"/>
            </a:solidFill>
            <a:prstDash val="solid"/>
          </a:ln>
        </p:spPr>
      </p:sp>
      <p:sp>
        <p:nvSpPr>
          <p:cNvPr id="14" name="Text 11"/>
          <p:cNvSpPr/>
          <p:nvPr/>
        </p:nvSpPr>
        <p:spPr>
          <a:xfrm>
            <a:off x="1353312" y="1856232"/>
            <a:ext cx="9997135"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npx playwright test</a:t>
            </a:r>
            <a:endParaRPr lang="en-US" sz="940" dirty="0"/>
          </a:p>
        </p:txBody>
      </p:sp>
      <p:sp>
        <p:nvSpPr>
          <p:cNvPr id="15" name="Text 12"/>
          <p:cNvSpPr/>
          <p:nvPr/>
        </p:nvSpPr>
        <p:spPr>
          <a:xfrm>
            <a:off x="859536" y="2249424"/>
            <a:ext cx="10472623" cy="196850"/>
          </a:xfrm>
          <a:prstGeom prst="rect">
            <a:avLst/>
          </a:prstGeom>
          <a:noFill/>
          <a:ln/>
        </p:spPr>
        <p:txBody>
          <a:bodyPr wrap="square" lIns="0" tIns="0" rIns="0" bIns="0" rtlCol="0" anchor="ctr"/>
          <a:lstStyle/>
          <a:p>
            <a:pPr indent="0" marL="0">
              <a:buNone/>
            </a:pPr>
            <a:r>
              <a:rPr lang="en-US" sz="1000" b="1" dirty="0">
                <a:solidFill>
                  <a:srgbClr val="D62027"/>
                </a:solidFill>
                <a:latin typeface="Consolas" pitchFamily="34" charset="0"/>
                <a:ea typeface="Consolas" pitchFamily="34" charset="-122"/>
                <a:cs typeface="Consolas" pitchFamily="34" charset="-120"/>
              </a:rPr>
              <a:t>Error: locator.selectOption: strict mode violation:</a:t>
            </a:r>
            <a:endParaRPr lang="en-US" sz="1000" dirty="0"/>
          </a:p>
        </p:txBody>
      </p:sp>
      <p:sp>
        <p:nvSpPr>
          <p:cNvPr id="16" name="Text 13"/>
          <p:cNvSpPr/>
          <p:nvPr/>
        </p:nvSpPr>
        <p:spPr>
          <a:xfrm>
            <a:off x="859536" y="2446274"/>
            <a:ext cx="10472623" cy="196850"/>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  getByLabel('Bloque') resolved to 2 elements:</a:t>
            </a:r>
            <a:endParaRPr lang="en-US" sz="1000" dirty="0"/>
          </a:p>
        </p:txBody>
      </p:sp>
      <p:sp>
        <p:nvSpPr>
          <p:cNvPr id="17" name="Text 14"/>
          <p:cNvSpPr/>
          <p:nvPr/>
        </p:nvSpPr>
        <p:spPr>
          <a:xfrm>
            <a:off x="859536" y="2643124"/>
            <a:ext cx="10472623" cy="196850"/>
          </a:xfrm>
          <a:prstGeom prst="rect">
            <a:avLst/>
          </a:prstGeom>
          <a:noFill/>
          <a:ln/>
        </p:spPr>
        <p:txBody>
          <a:bodyPr wrap="square" lIns="0" tIns="0" rIns="0" bIns="0" rtlCol="0" anchor="ctr"/>
          <a:lstStyle/>
          <a:p>
            <a:pPr indent="0" marL="0">
              <a:buNone/>
            </a:pPr>
            <a:r>
              <a:rPr lang="en-US" sz="1000" dirty="0">
                <a:solidFill>
                  <a:srgbClr val="8AA0B6"/>
                </a:solidFill>
                <a:latin typeface="Consolas" pitchFamily="34" charset="0"/>
                <a:ea typeface="Consolas" pitchFamily="34" charset="-122"/>
                <a:cs typeface="Consolas" pitchFamily="34" charset="-120"/>
              </a:rPr>
              <a:t>    1) &lt;select id="bloque" name="bloque"&gt;…&lt;/select&gt;</a:t>
            </a:r>
            <a:endParaRPr lang="en-US" sz="1000" dirty="0"/>
          </a:p>
        </p:txBody>
      </p:sp>
      <p:sp>
        <p:nvSpPr>
          <p:cNvPr id="18" name="Text 15"/>
          <p:cNvSpPr/>
          <p:nvPr/>
        </p:nvSpPr>
        <p:spPr>
          <a:xfrm>
            <a:off x="859536" y="2839974"/>
            <a:ext cx="10472623" cy="196850"/>
          </a:xfrm>
          <a:prstGeom prst="rect">
            <a:avLst/>
          </a:prstGeom>
          <a:noFill/>
          <a:ln/>
        </p:spPr>
        <p:txBody>
          <a:bodyPr wrap="square" lIns="0" tIns="0" rIns="0" bIns="0" rtlCol="0" anchor="ctr"/>
          <a:lstStyle/>
          <a:p>
            <a:pPr indent="0" marL="0">
              <a:buNone/>
            </a:pPr>
            <a:r>
              <a:rPr lang="en-US" sz="1000" dirty="0">
                <a:solidFill>
                  <a:srgbClr val="8AA0B6"/>
                </a:solidFill>
                <a:latin typeface="Consolas" pitchFamily="34" charset="0"/>
                <a:ea typeface="Consolas" pitchFamily="34" charset="-122"/>
                <a:cs typeface="Consolas" pitchFamily="34" charset="-120"/>
              </a:rPr>
              <a:t>    2) &lt;ul id="bloques" aria-label="Estado de los bloques"&gt;…&lt;/ul&gt;</a:t>
            </a:r>
            <a:endParaRPr lang="en-US" sz="1000" dirty="0"/>
          </a:p>
        </p:txBody>
      </p:sp>
      <p:sp>
        <p:nvSpPr>
          <p:cNvPr id="19" name="Text 16"/>
          <p:cNvSpPr txBox="1"/>
          <p:nvPr/>
        </p:nvSpPr>
        <p:spPr>
          <a:xfrm>
            <a:off x="658368" y="3311144"/>
            <a:ext cx="5486400" cy="256032"/>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«Bloque» aparece en dos lugares</a:t>
            </a:r>
            <a:endParaRPr lang="en-US" sz="1300" dirty="0"/>
          </a:p>
        </p:txBody>
      </p:sp>
      <p:sp>
        <p:nvSpPr>
          <p:cNvPr id="20" name="Shape 17"/>
          <p:cNvSpPr/>
          <p:nvPr/>
        </p:nvSpPr>
        <p:spPr>
          <a:xfrm>
            <a:off x="658368" y="3676904"/>
            <a:ext cx="2651760" cy="841248"/>
          </a:xfrm>
          <a:prstGeom prst="rect">
            <a:avLst/>
          </a:prstGeom>
          <a:solidFill>
            <a:srgbClr val="FFFFFF"/>
          </a:solidFill>
          <a:ln w="12700">
            <a:solidFill>
              <a:srgbClr val="D8CFC4"/>
            </a:solidFill>
            <a:prstDash val="solid"/>
          </a:ln>
        </p:spPr>
      </p:sp>
      <p:sp>
        <p:nvSpPr>
          <p:cNvPr id="21" name="Text 18"/>
          <p:cNvSpPr txBox="1"/>
          <p:nvPr/>
        </p:nvSpPr>
        <p:spPr>
          <a:xfrm>
            <a:off x="841248" y="3786632"/>
            <a:ext cx="2286000" cy="182880"/>
          </a:xfrm>
          <a:prstGeom prst="rect">
            <a:avLst/>
          </a:prstGeom>
          <a:noFill/>
          <a:ln/>
        </p:spPr>
        <p:txBody>
          <a:bodyPr wrap="square" lIns="0" tIns="0" rIns="0" bIns="0" rtlCol="0" anchor="t"/>
          <a:lstStyle/>
          <a:p>
            <a:pPr algn="l" indent="0" marL="0">
              <a:buNone/>
            </a:pPr>
            <a:r>
              <a:rPr lang="en-US" sz="860" b="1" spc="80" kern="0" dirty="0">
                <a:solidFill>
                  <a:srgbClr val="52606D"/>
                </a:solidFill>
                <a:latin typeface="Aptos" pitchFamily="34" charset="0"/>
                <a:ea typeface="Aptos" pitchFamily="34" charset="-122"/>
                <a:cs typeface="Aptos" pitchFamily="34" charset="-120"/>
              </a:rPr>
              <a:t>LA ETIQUETA DEL SELECTOR</a:t>
            </a:r>
            <a:endParaRPr lang="en-US" sz="860" dirty="0"/>
          </a:p>
        </p:txBody>
      </p:sp>
      <p:sp>
        <p:nvSpPr>
          <p:cNvPr id="22" name="Text 19"/>
          <p:cNvSpPr txBox="1"/>
          <p:nvPr/>
        </p:nvSpPr>
        <p:spPr>
          <a:xfrm>
            <a:off x="841248" y="4024376"/>
            <a:ext cx="2286000" cy="274320"/>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Bloque</a:t>
            </a:r>
            <a:endParaRPr lang="en-US" sz="1300" dirty="0"/>
          </a:p>
        </p:txBody>
      </p:sp>
      <p:sp>
        <p:nvSpPr>
          <p:cNvPr id="23" name="Shape 20"/>
          <p:cNvSpPr/>
          <p:nvPr/>
        </p:nvSpPr>
        <p:spPr>
          <a:xfrm>
            <a:off x="3447288" y="3676904"/>
            <a:ext cx="2651760" cy="841248"/>
          </a:xfrm>
          <a:prstGeom prst="rect">
            <a:avLst/>
          </a:prstGeom>
          <a:solidFill>
            <a:srgbClr val="FFFFFF"/>
          </a:solidFill>
          <a:ln w="12700">
            <a:solidFill>
              <a:srgbClr val="D8CFC4"/>
            </a:solidFill>
            <a:prstDash val="solid"/>
          </a:ln>
        </p:spPr>
      </p:sp>
      <p:sp>
        <p:nvSpPr>
          <p:cNvPr id="24" name="Text 21"/>
          <p:cNvSpPr txBox="1"/>
          <p:nvPr/>
        </p:nvSpPr>
        <p:spPr>
          <a:xfrm>
            <a:off x="3630168" y="3786632"/>
            <a:ext cx="2286000" cy="182880"/>
          </a:xfrm>
          <a:prstGeom prst="rect">
            <a:avLst/>
          </a:prstGeom>
          <a:noFill/>
          <a:ln/>
        </p:spPr>
        <p:txBody>
          <a:bodyPr wrap="square" lIns="0" tIns="0" rIns="0" bIns="0" rtlCol="0" anchor="t"/>
          <a:lstStyle/>
          <a:p>
            <a:pPr algn="l" indent="0" marL="0">
              <a:buNone/>
            </a:pPr>
            <a:r>
              <a:rPr lang="en-US" sz="860" b="1" spc="80" kern="0" dirty="0">
                <a:solidFill>
                  <a:srgbClr val="52606D"/>
                </a:solidFill>
                <a:latin typeface="Aptos" pitchFamily="34" charset="0"/>
                <a:ea typeface="Aptos" pitchFamily="34" charset="-122"/>
                <a:cs typeface="Aptos" pitchFamily="34" charset="-120"/>
              </a:rPr>
              <a:t>EL NOMBRE DE LA LISTA</a:t>
            </a:r>
            <a:endParaRPr lang="en-US" sz="860" dirty="0"/>
          </a:p>
        </p:txBody>
      </p:sp>
      <p:sp>
        <p:nvSpPr>
          <p:cNvPr id="25" name="Text 22"/>
          <p:cNvSpPr txBox="1"/>
          <p:nvPr/>
        </p:nvSpPr>
        <p:spPr>
          <a:xfrm>
            <a:off x="3630168" y="4024376"/>
            <a:ext cx="2286000" cy="274320"/>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Estado de los bloques</a:t>
            </a:r>
            <a:endParaRPr lang="en-US" sz="1300" dirty="0"/>
          </a:p>
        </p:txBody>
      </p:sp>
      <p:sp>
        <p:nvSpPr>
          <p:cNvPr id="26" name="Text 23"/>
          <p:cNvSpPr txBox="1"/>
          <p:nvPr/>
        </p:nvSpPr>
        <p:spPr>
          <a:xfrm>
            <a:off x="658368" y="4627880"/>
            <a:ext cx="5440680" cy="457200"/>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getByLabel compara por fragmento y sin distinguir mayúsculas: hay dos candidatos. En modo estricto (strict mode), si un localizador encuentra más de un elemento, la acción falla.</a:t>
            </a:r>
            <a:endParaRPr lang="en-US" sz="1100" dirty="0"/>
          </a:p>
        </p:txBody>
      </p:sp>
      <p:sp>
        <p:nvSpPr>
          <p:cNvPr id="27" name="Text 24"/>
          <p:cNvSpPr txBox="1"/>
          <p:nvPr/>
        </p:nvSpPr>
        <p:spPr>
          <a:xfrm>
            <a:off x="6583680" y="3311144"/>
            <a:ext cx="493776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LA CORRECCIÓN QUE LA HERRAMIENTA SUGIERE</a:t>
            </a:r>
            <a:endParaRPr lang="en-US" sz="960" dirty="0"/>
          </a:p>
        </p:txBody>
      </p:sp>
      <p:sp>
        <p:nvSpPr>
          <p:cNvPr id="28" name="Shape 25"/>
          <p:cNvSpPr/>
          <p:nvPr/>
        </p:nvSpPr>
        <p:spPr>
          <a:xfrm>
            <a:off x="6583680" y="3676904"/>
            <a:ext cx="4946904" cy="579120"/>
          </a:xfrm>
          <a:prstGeom prst="roundRect">
            <a:avLst>
              <a:gd name="adj" fmla="val 7895"/>
            </a:avLst>
          </a:prstGeom>
          <a:solidFill>
            <a:srgbClr val="102A43"/>
          </a:solidFill>
          <a:ln w="12700">
            <a:solidFill>
              <a:srgbClr val="102A43"/>
            </a:solidFill>
            <a:prstDash val="solid"/>
          </a:ln>
        </p:spPr>
      </p:sp>
      <p:pic>
        <p:nvPicPr>
          <p:cNvPr id="2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48272" y="3823208"/>
            <a:ext cx="4617720" cy="304800"/>
          </a:xfrm>
          <a:prstGeom prst="rect">
            <a:avLst/>
          </a:prstGeom>
        </p:spPr>
      </p:pic>
      <p:sp>
        <p:nvSpPr>
          <p:cNvPr id="30" name="Text 26"/>
          <p:cNvSpPr txBox="1"/>
          <p:nvPr/>
        </p:nvSpPr>
        <p:spPr>
          <a:xfrm>
            <a:off x="6583680" y="4335272"/>
            <a:ext cx="4946904" cy="274320"/>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exact: true exige que la etiqueta coincida completa.</a:t>
            </a:r>
            <a:endParaRPr lang="en-US" sz="1100" dirty="0"/>
          </a:p>
        </p:txBody>
      </p:sp>
      <p:sp>
        <p:nvSpPr>
          <p:cNvPr id="31" name="Text 27"/>
          <p:cNvSpPr txBox="1"/>
          <p:nvPr/>
        </p:nvSpPr>
        <p:spPr>
          <a:xfrm>
            <a:off x="6583680" y="4682744"/>
            <a:ext cx="4946904" cy="457200"/>
          </a:xfrm>
          <a:prstGeom prst="rect">
            <a:avLst/>
          </a:prstGeom>
          <a:noFill/>
          <a:ln/>
        </p:spPr>
        <p:txBody>
          <a:bodyPr wrap="square" lIns="0" tIns="0" rIns="0" bIns="0" rtlCol="0" anchor="t"/>
          <a:lstStyle/>
          <a:p>
            <a:pPr algn="l" indent="0" marL="0">
              <a:lnSpc>
                <a:spcPct val="110000"/>
              </a:lnSpc>
              <a:buNone/>
            </a:pPr>
            <a:r>
              <a:rPr lang="en-US" sz="1000" i="1" dirty="0">
                <a:solidFill>
                  <a:srgbClr val="52606D"/>
                </a:solidFill>
                <a:latin typeface="Aptos" pitchFamily="34" charset="0"/>
                <a:ea typeface="Aptos" pitchFamily="34" charset="-122"/>
                <a:cs typeface="Aptos" pitchFamily="34" charset="-120"/>
              </a:rPr>
              <a:t>En la salida, «…» es Playwright abreviando el contenido de cada elemento: la lista de opciones del selector y las fichas de la lista.</a:t>
            </a:r>
            <a:endParaRPr lang="en-US" sz="1000" dirty="0"/>
          </a:p>
        </p:txBody>
      </p:sp>
      <p:sp>
        <p:nvSpPr>
          <p:cNvPr id="32" name="Shape 28"/>
          <p:cNvSpPr/>
          <p:nvPr/>
        </p:nvSpPr>
        <p:spPr>
          <a:xfrm>
            <a:off x="658368" y="5650992"/>
            <a:ext cx="10874959" cy="548640"/>
          </a:xfrm>
          <a:prstGeom prst="rect">
            <a:avLst/>
          </a:prstGeom>
          <a:solidFill>
            <a:srgbClr val="102A43"/>
          </a:solidFill>
          <a:ln w="12700">
            <a:solidFill>
              <a:srgbClr val="102A43"/>
            </a:solidFill>
            <a:prstDash val="solid"/>
          </a:ln>
        </p:spPr>
      </p:sp>
      <p:sp>
        <p:nvSpPr>
          <p:cNvPr id="33" name="Text 2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Ante dos candidatos no elige: falla. Una prueba que eligiera al azar pasaría hoy y fallaría mañana.</a:t>
            </a:r>
            <a:endParaRPr lang="en-US" sz="13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EL HALLAZGO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600" b="1" dirty="0">
                <a:solidFill>
                  <a:srgbClr val="243B53"/>
                </a:solidFill>
                <a:latin typeface="Aptos Display" pitchFamily="34" charset="0"/>
                <a:ea typeface="Aptos Display" pitchFamily="34" charset="-122"/>
                <a:cs typeface="Aptos Display" pitchFamily="34" charset="-120"/>
              </a:rPr>
              <a:t>Falta un dato, y la pantalla dice [object Object]</a:t>
            </a:r>
            <a:endParaRPr lang="en-US" sz="2600" dirty="0"/>
          </a:p>
        </p:txBody>
      </p:sp>
      <p:sp>
        <p:nvSpPr>
          <p:cNvPr id="10" name="Shape 7"/>
          <p:cNvSpPr/>
          <p:nvPr/>
        </p:nvSpPr>
        <p:spPr>
          <a:xfrm>
            <a:off x="658368" y="1737360"/>
            <a:ext cx="3566160" cy="3754679"/>
          </a:xfrm>
          <a:prstGeom prst="rect">
            <a:avLst/>
          </a:prstGeom>
          <a:solidFill>
            <a:srgbClr val="FFFFFF"/>
          </a:solidFill>
          <a:ln w="12700">
            <a:solidFill>
              <a:srgbClr val="D8CFC4"/>
            </a:solidFill>
            <a:prstDash val="solid"/>
          </a:ln>
        </p:spPr>
      </p:sp>
      <p:pic>
        <p:nvPicPr>
          <p:cNvPr id="11" name="Image 1" descr="C:\Users\Diego Obando\dev\pro402-taller-de-testing-2026\clases\semana-05\01\ppt\source\assets\interfaz-object.png">    </p:cNvPr>
          <p:cNvPicPr>
            <a:picLocks noChangeAspect="1"/>
          </p:cNvPicPr>
          <p:nvPr/>
        </p:nvPicPr>
        <p:blipFill>
          <a:blip r:embed="rId3"/>
          <a:stretch>
            <a:fillRect/>
          </a:stretch>
        </p:blipFill>
        <p:spPr>
          <a:xfrm>
            <a:off x="676656" y="1755648"/>
            <a:ext cx="3529584" cy="3718103"/>
          </a:xfrm>
          <a:prstGeom prst="rect">
            <a:avLst/>
          </a:prstGeom>
        </p:spPr>
      </p:pic>
      <p:sp>
        <p:nvSpPr>
          <p:cNvPr id="12" name="Shape 8"/>
          <p:cNvSpPr/>
          <p:nvPr/>
        </p:nvSpPr>
        <p:spPr>
          <a:xfrm>
            <a:off x="3758184" y="5054991"/>
            <a:ext cx="310896" cy="310896"/>
          </a:xfrm>
          <a:prstGeom prst="ellipse">
            <a:avLst/>
          </a:prstGeom>
          <a:solidFill>
            <a:srgbClr val="B3181E"/>
          </a:solidFill>
          <a:ln w="12700">
            <a:solidFill>
              <a:srgbClr val="B3181E"/>
            </a:solidFill>
            <a:prstDash val="solid"/>
          </a:ln>
        </p:spPr>
      </p:sp>
      <p:sp>
        <p:nvSpPr>
          <p:cNvPr id="13" name="Text 9"/>
          <p:cNvSpPr/>
          <p:nvPr/>
        </p:nvSpPr>
        <p:spPr>
          <a:xfrm>
            <a:off x="3767328" y="5064135"/>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t>
            </a:r>
            <a:endParaRPr lang="en-US" sz="1200" dirty="0"/>
          </a:p>
        </p:txBody>
      </p:sp>
      <p:sp>
        <p:nvSpPr>
          <p:cNvPr id="14" name="Text 10"/>
          <p:cNvSpPr txBox="1"/>
          <p:nvPr/>
        </p:nvSpPr>
        <p:spPr>
          <a:xfrm>
            <a:off x="4590288" y="1737360"/>
            <a:ext cx="6943039"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LO QUE LA PERSONA HIZO</a:t>
            </a:r>
            <a:endParaRPr lang="en-US" sz="960" dirty="0"/>
          </a:p>
        </p:txBody>
      </p:sp>
      <p:sp>
        <p:nvSpPr>
          <p:cNvPr id="15" name="Text 11"/>
          <p:cNvSpPr txBox="1"/>
          <p:nvPr/>
        </p:nvSpPr>
        <p:spPr>
          <a:xfrm>
            <a:off x="4590288" y="1993392"/>
            <a:ext cx="6943039" cy="512064"/>
          </a:xfrm>
          <a:prstGeom prst="rect">
            <a:avLst/>
          </a:prstGeom>
          <a:noFill/>
          <a:ln/>
        </p:spPr>
        <p:txBody>
          <a:bodyPr wrap="square" lIns="0" tIns="0" rIns="0" bIns="0" rtlCol="0" anchor="t"/>
          <a:lstStyle/>
          <a:p>
            <a:pPr algn="l" indent="0" marL="0">
              <a:lnSpc>
                <a:spcPct val="112000"/>
              </a:lnSpc>
              <a:buNone/>
            </a:pPr>
            <a:r>
              <a:rPr lang="en-US" sz="1240" dirty="0">
                <a:solidFill>
                  <a:srgbClr val="243B53"/>
                </a:solidFill>
                <a:latin typeface="Aptos" pitchFamily="34" charset="0"/>
                <a:ea typeface="Aptos" pitchFamily="34" charset="-122"/>
                <a:cs typeface="Aptos" pitchFamily="34" charset="-120"/>
              </a:rPr>
              <a:t>Llenó todo menos la cantidad de personas y apretó «Reservar». Necesitaba que la pantalla le dijera qué falta.</a:t>
            </a:r>
            <a:endParaRPr lang="en-US" sz="1240" dirty="0"/>
          </a:p>
        </p:txBody>
      </p:sp>
      <p:sp>
        <p:nvSpPr>
          <p:cNvPr id="16" name="Shape 12"/>
          <p:cNvSpPr/>
          <p:nvPr/>
        </p:nvSpPr>
        <p:spPr>
          <a:xfrm>
            <a:off x="4590288" y="2651760"/>
            <a:ext cx="6943039" cy="1406652"/>
          </a:xfrm>
          <a:prstGeom prst="roundRect">
            <a:avLst>
              <a:gd name="adj" fmla="val 3250"/>
            </a:avLst>
          </a:prstGeom>
          <a:solidFill>
            <a:srgbClr val="0F1720"/>
          </a:solidFill>
          <a:ln w="12700">
            <a:solidFill>
              <a:srgbClr val="0F1720"/>
            </a:solidFill>
            <a:prstDash val="solid"/>
          </a:ln>
        </p:spPr>
      </p:sp>
      <p:sp>
        <p:nvSpPr>
          <p:cNvPr id="17" name="Shape 13"/>
          <p:cNvSpPr/>
          <p:nvPr/>
        </p:nvSpPr>
        <p:spPr>
          <a:xfrm>
            <a:off x="4750308" y="2784348"/>
            <a:ext cx="82296" cy="82296"/>
          </a:xfrm>
          <a:prstGeom prst="ellipse">
            <a:avLst/>
          </a:prstGeom>
          <a:solidFill>
            <a:srgbClr val="52606D"/>
          </a:solidFill>
          <a:ln w="12700">
            <a:solidFill>
              <a:srgbClr val="52606D"/>
            </a:solidFill>
            <a:prstDash val="solid"/>
          </a:ln>
        </p:spPr>
      </p:sp>
      <p:sp>
        <p:nvSpPr>
          <p:cNvPr id="18" name="Shape 14"/>
          <p:cNvSpPr/>
          <p:nvPr/>
        </p:nvSpPr>
        <p:spPr>
          <a:xfrm>
            <a:off x="4905756" y="2784348"/>
            <a:ext cx="82296" cy="82296"/>
          </a:xfrm>
          <a:prstGeom prst="ellipse">
            <a:avLst/>
          </a:prstGeom>
          <a:solidFill>
            <a:srgbClr val="52606D"/>
          </a:solidFill>
          <a:ln w="12700">
            <a:solidFill>
              <a:srgbClr val="52606D"/>
            </a:solidFill>
            <a:prstDash val="solid"/>
          </a:ln>
        </p:spPr>
      </p:sp>
      <p:sp>
        <p:nvSpPr>
          <p:cNvPr id="19" name="Shape 15"/>
          <p:cNvSpPr/>
          <p:nvPr/>
        </p:nvSpPr>
        <p:spPr>
          <a:xfrm>
            <a:off x="5061204" y="2784348"/>
            <a:ext cx="82296" cy="82296"/>
          </a:xfrm>
          <a:prstGeom prst="ellipse">
            <a:avLst/>
          </a:prstGeom>
          <a:solidFill>
            <a:srgbClr val="52606D"/>
          </a:solidFill>
          <a:ln w="12700">
            <a:solidFill>
              <a:srgbClr val="52606D"/>
            </a:solidFill>
            <a:prstDash val="solid"/>
          </a:ln>
        </p:spPr>
      </p:sp>
      <p:sp>
        <p:nvSpPr>
          <p:cNvPr id="20" name="Text 16"/>
          <p:cNvSpPr/>
          <p:nvPr/>
        </p:nvSpPr>
        <p:spPr>
          <a:xfrm>
            <a:off x="5285232" y="2734056"/>
            <a:ext cx="6065215"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La prueba que lo pide</a:t>
            </a:r>
            <a:endParaRPr lang="en-US" sz="940" dirty="0"/>
          </a:p>
        </p:txBody>
      </p:sp>
      <p:sp>
        <p:nvSpPr>
          <p:cNvPr id="21" name="Text 17"/>
          <p:cNvSpPr/>
          <p:nvPr/>
        </p:nvSpPr>
        <p:spPr>
          <a:xfrm>
            <a:off x="4791456" y="3127248"/>
            <a:ext cx="6540703" cy="200787"/>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expect(getByRole("status")).toContainText("Personas")</a:t>
            </a:r>
            <a:endParaRPr lang="en-US" sz="1020" dirty="0"/>
          </a:p>
        </p:txBody>
      </p:sp>
      <p:sp>
        <p:nvSpPr>
          <p:cNvPr id="22" name="Text 18"/>
          <p:cNvSpPr/>
          <p:nvPr/>
        </p:nvSpPr>
        <p:spPr>
          <a:xfrm>
            <a:off x="4791456" y="3328035"/>
            <a:ext cx="6540703" cy="200787"/>
          </a:xfrm>
          <a:prstGeom prst="rect">
            <a:avLst/>
          </a:prstGeom>
          <a:noFill/>
          <a:ln/>
        </p:spPr>
        <p:txBody>
          <a:bodyPr wrap="square" lIns="0" tIns="0" rIns="0" bIns="0" rtlCol="0" anchor="ctr"/>
          <a:lstStyle/>
          <a:p>
            <a:pPr indent="0" marL="0">
              <a:buNone/>
            </a:pPr>
            <a:r>
              <a:rPr lang="en-US" sz="1020" dirty="0">
                <a:solidFill>
                  <a:srgbClr val="8AA0B6"/>
                </a:solidFill>
                <a:latin typeface="Consolas" pitchFamily="34" charset="0"/>
                <a:ea typeface="Consolas" pitchFamily="34" charset="-122"/>
                <a:cs typeface="Consolas" pitchFamily="34" charset="-120"/>
              </a:rPr>
              <a:t>Expected substring: "Personas"</a:t>
            </a:r>
            <a:endParaRPr lang="en-US" sz="1020" dirty="0"/>
          </a:p>
        </p:txBody>
      </p:sp>
      <p:sp>
        <p:nvSpPr>
          <p:cNvPr id="23" name="Text 19"/>
          <p:cNvSpPr/>
          <p:nvPr/>
        </p:nvSpPr>
        <p:spPr>
          <a:xfrm>
            <a:off x="4791456" y="3528822"/>
            <a:ext cx="6540703" cy="200787"/>
          </a:xfrm>
          <a:prstGeom prst="rect">
            <a:avLst/>
          </a:prstGeom>
          <a:noFill/>
          <a:ln/>
        </p:spPr>
        <p:txBody>
          <a:bodyPr wrap="square" lIns="0" tIns="0" rIns="0" bIns="0" rtlCol="0" anchor="ctr"/>
          <a:lstStyle/>
          <a:p>
            <a:pPr indent="0" marL="0">
              <a:buNone/>
            </a:pPr>
            <a:r>
              <a:rPr lang="en-US" sz="1020" b="1" dirty="0">
                <a:solidFill>
                  <a:srgbClr val="D62027"/>
                </a:solidFill>
                <a:latin typeface="Consolas" pitchFamily="34" charset="0"/>
                <a:ea typeface="Consolas" pitchFamily="34" charset="-122"/>
                <a:cs typeface="Consolas" pitchFamily="34" charset="-120"/>
              </a:rPr>
              <a:t>Received string:    "[object Object]"</a:t>
            </a:r>
            <a:endParaRPr lang="en-US" sz="1020" dirty="0"/>
          </a:p>
        </p:txBody>
      </p:sp>
      <p:sp>
        <p:nvSpPr>
          <p:cNvPr id="24" name="Text 20"/>
          <p:cNvSpPr/>
          <p:nvPr/>
        </p:nvSpPr>
        <p:spPr>
          <a:xfrm>
            <a:off x="4791456" y="3729609"/>
            <a:ext cx="6540703" cy="200787"/>
          </a:xfrm>
          <a:prstGeom prst="rect">
            <a:avLst/>
          </a:prstGeom>
          <a:noFill/>
          <a:ln/>
        </p:spPr>
        <p:txBody>
          <a:bodyPr wrap="square" lIns="0" tIns="0" rIns="0" bIns="0" rtlCol="0" anchor="ctr"/>
          <a:lstStyle/>
          <a:p>
            <a:pPr indent="0" marL="0">
              <a:buNone/>
            </a:pPr>
            <a:r>
              <a:rPr lang="en-US" sz="1020" b="1" dirty="0">
                <a:solidFill>
                  <a:srgbClr val="D62027"/>
                </a:solidFill>
                <a:latin typeface="Consolas" pitchFamily="34" charset="0"/>
                <a:ea typeface="Consolas" pitchFamily="34" charset="-122"/>
                <a:cs typeface="Consolas" pitchFamily="34" charset="-120"/>
              </a:rPr>
              <a:t>1 failed, 1 passed (8.9s)</a:t>
            </a:r>
            <a:endParaRPr lang="en-US" sz="1020" dirty="0"/>
          </a:p>
        </p:txBody>
      </p:sp>
      <p:sp>
        <p:nvSpPr>
          <p:cNvPr id="25" name="Shape 21"/>
          <p:cNvSpPr/>
          <p:nvPr/>
        </p:nvSpPr>
        <p:spPr>
          <a:xfrm>
            <a:off x="4590288" y="4223004"/>
            <a:ext cx="6943039" cy="841248"/>
          </a:xfrm>
          <a:prstGeom prst="rect">
            <a:avLst/>
          </a:prstGeom>
          <a:solidFill>
            <a:srgbClr val="F2E7D9"/>
          </a:solidFill>
          <a:ln w="12700">
            <a:solidFill>
              <a:srgbClr val="F2E7D9"/>
            </a:solidFill>
            <a:prstDash val="solid"/>
          </a:ln>
        </p:spPr>
      </p:sp>
      <p:sp>
        <p:nvSpPr>
          <p:cNvPr id="26" name="Shape 22"/>
          <p:cNvSpPr/>
          <p:nvPr/>
        </p:nvSpPr>
        <p:spPr>
          <a:xfrm>
            <a:off x="4590288" y="4223004"/>
            <a:ext cx="54864" cy="841248"/>
          </a:xfrm>
          <a:prstGeom prst="rect">
            <a:avLst/>
          </a:prstGeom>
          <a:solidFill>
            <a:srgbClr val="B3181E"/>
          </a:solidFill>
          <a:ln w="12700">
            <a:solidFill>
              <a:srgbClr val="B3181E"/>
            </a:solidFill>
            <a:prstDash val="solid"/>
          </a:ln>
        </p:spPr>
      </p:sp>
      <p:sp>
        <p:nvSpPr>
          <p:cNvPr id="27" name="Text 23"/>
          <p:cNvSpPr txBox="1"/>
          <p:nvPr/>
        </p:nvSpPr>
        <p:spPr>
          <a:xfrm>
            <a:off x="4846320" y="4314444"/>
            <a:ext cx="6485839" cy="237744"/>
          </a:xfrm>
          <a:prstGeom prst="rect">
            <a:avLst/>
          </a:prstGeom>
          <a:noFill/>
          <a:ln/>
        </p:spPr>
        <p:txBody>
          <a:bodyPr wrap="square" lIns="0" tIns="0" rIns="0" bIns="0" rtlCol="0" anchor="t"/>
          <a:lstStyle/>
          <a:p>
            <a:pPr algn="l" indent="0" marL="0">
              <a:buNone/>
            </a:pPr>
            <a:r>
              <a:rPr lang="en-US" sz="1200" b="1" dirty="0">
                <a:solidFill>
                  <a:srgbClr val="B3181E"/>
                </a:solidFill>
                <a:latin typeface="Aptos" pitchFamily="34" charset="0"/>
                <a:ea typeface="Aptos" pitchFamily="34" charset="-122"/>
                <a:cs typeface="Aptos" pitchFamily="34" charset="-120"/>
              </a:rPr>
              <a:t>Qué es [object Object]</a:t>
            </a:r>
            <a:endParaRPr lang="en-US" sz="1200" dirty="0"/>
          </a:p>
        </p:txBody>
      </p:sp>
      <p:sp>
        <p:nvSpPr>
          <p:cNvPr id="28" name="Text 24"/>
          <p:cNvSpPr txBox="1"/>
          <p:nvPr/>
        </p:nvSpPr>
        <p:spPr>
          <a:xfrm>
            <a:off x="4846320" y="4570476"/>
            <a:ext cx="6485839" cy="457200"/>
          </a:xfrm>
          <a:prstGeom prst="rect">
            <a:avLst/>
          </a:prstGeom>
          <a:noFill/>
          <a:ln/>
        </p:spPr>
        <p:txBody>
          <a:bodyPr wrap="square" lIns="0" tIns="0" rIns="0" bIns="0" rtlCol="0" anchor="t"/>
          <a:lstStyle/>
          <a:p>
            <a:pPr algn="l" indent="0" marL="0">
              <a:lnSpc>
                <a:spcPct val="110000"/>
              </a:lnSpc>
              <a:buNone/>
            </a:pPr>
            <a:r>
              <a:rPr lang="en-US" sz="1060" dirty="0">
                <a:solidFill>
                  <a:srgbClr val="243B53"/>
                </a:solidFill>
                <a:latin typeface="Aptos" pitchFamily="34" charset="0"/>
                <a:ea typeface="Aptos" pitchFamily="34" charset="-122"/>
                <a:cs typeface="Aptos" pitchFamily="34" charset="-120"/>
              </a:rPr>
              <a:t>Lo que escribe JavaScript cuando convierte un objeto en texto sin que le digan cómo: la etiqueta genérica, no el contenido.</a:t>
            </a:r>
            <a:endParaRPr lang="en-US" sz="1060" dirty="0"/>
          </a:p>
        </p:txBody>
      </p:sp>
      <p:sp>
        <p:nvSpPr>
          <p:cNvPr id="29" name="Shape 25"/>
          <p:cNvSpPr/>
          <p:nvPr/>
        </p:nvSpPr>
        <p:spPr>
          <a:xfrm>
            <a:off x="658368" y="5650992"/>
            <a:ext cx="10874959" cy="548640"/>
          </a:xfrm>
          <a:prstGeom prst="rect">
            <a:avLst/>
          </a:prstGeom>
          <a:solidFill>
            <a:srgbClr val="102A43"/>
          </a:solidFill>
          <a:ln w="12700">
            <a:solidFill>
              <a:srgbClr val="102A43"/>
            </a:solidFill>
            <a:prstDash val="solid"/>
          </a:ln>
        </p:spPr>
      </p:sp>
      <p:sp>
        <p:nvSpPr>
          <p:cNvPr id="30" name="Text 2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Donde la persona necesitaba leer qué corregir, la pantalla escribe una etiqueta genérica.</a:t>
            </a:r>
            <a:endParaRPr lang="en-US" sz="13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LECCIÓN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600" b="1" dirty="0">
                <a:solidFill>
                  <a:srgbClr val="243B53"/>
                </a:solidFill>
                <a:latin typeface="Aptos Display" pitchFamily="34" charset="0"/>
                <a:ea typeface="Aptos Display" pitchFamily="34" charset="-122"/>
                <a:cs typeface="Aptos Display" pitchFamily="34" charset="-120"/>
              </a:rPr>
              <a:t>La información llegó a la página. La página la tiró.</a:t>
            </a:r>
            <a:endParaRPr lang="en-US" sz="2600" dirty="0"/>
          </a:p>
        </p:txBody>
      </p:sp>
      <p:sp>
        <p:nvSpPr>
          <p:cNvPr id="10" name="Text 7"/>
          <p:cNvSpPr txBox="1"/>
          <p:nvPr/>
        </p:nvSpPr>
        <p:spPr>
          <a:xfrm>
            <a:off x="658368" y="1719072"/>
            <a:ext cx="694944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LO QUE RESPONDIÓ LA API · CÓDIGO 422: DATOS CON FORMA INVÁLIDA</a:t>
            </a:r>
            <a:endParaRPr lang="en-US" sz="960" dirty="0"/>
          </a:p>
        </p:txBody>
      </p:sp>
      <p:sp>
        <p:nvSpPr>
          <p:cNvPr id="11" name="Shape 8"/>
          <p:cNvSpPr/>
          <p:nvPr/>
        </p:nvSpPr>
        <p:spPr>
          <a:xfrm>
            <a:off x="658368" y="1956816"/>
            <a:ext cx="7040880" cy="1766214"/>
          </a:xfrm>
          <a:prstGeom prst="roundRect">
            <a:avLst>
              <a:gd name="adj" fmla="val 2589"/>
            </a:avLst>
          </a:prstGeom>
          <a:solidFill>
            <a:srgbClr val="102A43"/>
          </a:solidFill>
          <a:ln w="12700">
            <a:solidFill>
              <a:srgbClr val="102A43"/>
            </a:solidFill>
            <a:prstDash val="solid"/>
          </a:ln>
        </p:spPr>
      </p:sp>
      <p:sp>
        <p:nvSpPr>
          <p:cNvPr id="12" name="Shape 9"/>
          <p:cNvSpPr/>
          <p:nvPr/>
        </p:nvSpPr>
        <p:spPr>
          <a:xfrm>
            <a:off x="713232" y="2628798"/>
            <a:ext cx="6528816" cy="172444"/>
          </a:xfrm>
          <a:prstGeom prst="rect">
            <a:avLst/>
          </a:prstGeom>
          <a:solidFill>
            <a:srgbClr val="2E7D4F">
              <a:alpha val="28000"/>
            </a:srgbClr>
          </a:solidFill>
          <a:ln w="12700">
            <a:solidFill>
              <a:srgbClr val="2E7D4F">
                <a:alpha val="0"/>
              </a:srgbClr>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103120"/>
            <a:ext cx="6309360" cy="1491894"/>
          </a:xfrm>
          <a:prstGeom prst="rect">
            <a:avLst/>
          </a:prstGeom>
        </p:spPr>
      </p:pic>
      <p:sp>
        <p:nvSpPr>
          <p:cNvPr id="14" name="Shape 10"/>
          <p:cNvSpPr/>
          <p:nvPr/>
        </p:nvSpPr>
        <p:spPr>
          <a:xfrm>
            <a:off x="7388019" y="2625417"/>
            <a:ext cx="165258" cy="165258"/>
          </a:xfrm>
          <a:prstGeom prst="ellipse">
            <a:avLst/>
          </a:prstGeom>
          <a:solidFill>
            <a:srgbClr val="2E7D4F"/>
          </a:solidFill>
          <a:ln w="12700">
            <a:solidFill>
              <a:srgbClr val="2E7D4F"/>
            </a:solidFill>
            <a:prstDash val="solid"/>
          </a:ln>
        </p:spPr>
      </p:sp>
      <p:sp>
        <p:nvSpPr>
          <p:cNvPr id="15" name="Text 11"/>
          <p:cNvSpPr/>
          <p:nvPr/>
        </p:nvSpPr>
        <p:spPr>
          <a:xfrm>
            <a:off x="7397163" y="2634561"/>
            <a:ext cx="146970" cy="146970"/>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1</a:t>
            </a:r>
            <a:endParaRPr lang="en-US" sz="940" dirty="0"/>
          </a:p>
        </p:txBody>
      </p:sp>
      <p:sp>
        <p:nvSpPr>
          <p:cNvPr id="16" name="Shape 12"/>
          <p:cNvSpPr/>
          <p:nvPr/>
        </p:nvSpPr>
        <p:spPr>
          <a:xfrm>
            <a:off x="7918704" y="1956816"/>
            <a:ext cx="3614623" cy="1766214"/>
          </a:xfrm>
          <a:prstGeom prst="rect">
            <a:avLst/>
          </a:prstGeom>
          <a:solidFill>
            <a:srgbClr val="FFFFFF"/>
          </a:solidFill>
          <a:ln w="12700">
            <a:solidFill>
              <a:srgbClr val="FFFFFF"/>
            </a:solidFill>
            <a:prstDash val="solid"/>
          </a:ln>
        </p:spPr>
      </p:sp>
      <p:sp>
        <p:nvSpPr>
          <p:cNvPr id="17" name="Shape 13"/>
          <p:cNvSpPr/>
          <p:nvPr/>
        </p:nvSpPr>
        <p:spPr>
          <a:xfrm>
            <a:off x="7918704" y="1956816"/>
            <a:ext cx="54864" cy="1766214"/>
          </a:xfrm>
          <a:prstGeom prst="rect">
            <a:avLst/>
          </a:prstGeom>
          <a:solidFill>
            <a:srgbClr val="2E7D4F"/>
          </a:solidFill>
          <a:ln w="12700">
            <a:solidFill>
              <a:srgbClr val="2E7D4F"/>
            </a:solidFill>
            <a:prstDash val="solid"/>
          </a:ln>
        </p:spPr>
      </p:sp>
      <p:sp>
        <p:nvSpPr>
          <p:cNvPr id="18" name="Shape 14"/>
          <p:cNvSpPr/>
          <p:nvPr/>
        </p:nvSpPr>
        <p:spPr>
          <a:xfrm>
            <a:off x="8110728" y="2093976"/>
            <a:ext cx="274320" cy="274320"/>
          </a:xfrm>
          <a:prstGeom prst="ellipse">
            <a:avLst/>
          </a:prstGeom>
          <a:solidFill>
            <a:srgbClr val="2E7D4F"/>
          </a:solidFill>
          <a:ln w="12700">
            <a:solidFill>
              <a:srgbClr val="2E7D4F"/>
            </a:solidFill>
            <a:prstDash val="solid"/>
          </a:ln>
        </p:spPr>
      </p:sp>
      <p:sp>
        <p:nvSpPr>
          <p:cNvPr id="19" name="Text 15"/>
          <p:cNvSpPr/>
          <p:nvPr/>
        </p:nvSpPr>
        <p:spPr>
          <a:xfrm>
            <a:off x="8119872" y="2103120"/>
            <a:ext cx="256032" cy="256032"/>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1</a:t>
            </a:r>
            <a:endParaRPr lang="en-US" sz="960" dirty="0"/>
          </a:p>
        </p:txBody>
      </p:sp>
      <p:sp>
        <p:nvSpPr>
          <p:cNvPr id="20" name="Text 16"/>
          <p:cNvSpPr txBox="1"/>
          <p:nvPr/>
        </p:nvSpPr>
        <p:spPr>
          <a:xfrm>
            <a:off x="8485632" y="2112264"/>
            <a:ext cx="2883103" cy="237744"/>
          </a:xfrm>
          <a:prstGeom prst="rect">
            <a:avLst/>
          </a:prstGeom>
          <a:noFill/>
          <a:ln/>
        </p:spPr>
        <p:txBody>
          <a:bodyPr wrap="square" lIns="0" tIns="0" rIns="0" bIns="0" rtlCol="0" anchor="t"/>
          <a:lstStyle/>
          <a:p>
            <a:pPr algn="l" indent="0" marL="0">
              <a:buNone/>
            </a:pPr>
            <a:r>
              <a:rPr lang="en-US" sz="1240" b="1" dirty="0">
                <a:solidFill>
                  <a:srgbClr val="2E7D4F"/>
                </a:solidFill>
                <a:latin typeface="Aptos" pitchFamily="34" charset="0"/>
                <a:ea typeface="Aptos" pitchFamily="34" charset="-122"/>
                <a:cs typeface="Aptos" pitchFamily="34" charset="-120"/>
              </a:rPr>
              <a:t>Hasta nombra el campo</a:t>
            </a:r>
            <a:endParaRPr lang="en-US" sz="1240" dirty="0"/>
          </a:p>
        </p:txBody>
      </p:sp>
      <p:sp>
        <p:nvSpPr>
          <p:cNvPr id="21" name="Text 17"/>
          <p:cNvSpPr txBox="1"/>
          <p:nvPr/>
        </p:nvSpPr>
        <p:spPr>
          <a:xfrm>
            <a:off x="8138160" y="2468880"/>
            <a:ext cx="3212287" cy="1097280"/>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loc dice dónde está el problema: el campo personas del cuerpo de la solicitud. msg lo explica en inglés: debería ser un número entero. La API cumplió su contrato.</a:t>
            </a:r>
            <a:endParaRPr lang="en-US" sz="1240" dirty="0"/>
          </a:p>
        </p:txBody>
      </p:sp>
      <p:sp>
        <p:nvSpPr>
          <p:cNvPr id="22" name="Text 18"/>
          <p:cNvSpPr txBox="1"/>
          <p:nvPr/>
        </p:nvSpPr>
        <p:spPr>
          <a:xfrm>
            <a:off x="658368" y="3960774"/>
            <a:ext cx="694944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LA LÍNEA DE APP.JS QUE LA RECIBE</a:t>
            </a:r>
            <a:endParaRPr lang="en-US" sz="960" dirty="0"/>
          </a:p>
        </p:txBody>
      </p:sp>
      <p:sp>
        <p:nvSpPr>
          <p:cNvPr id="23" name="Shape 19"/>
          <p:cNvSpPr/>
          <p:nvPr/>
        </p:nvSpPr>
        <p:spPr>
          <a:xfrm>
            <a:off x="658368" y="4216806"/>
            <a:ext cx="3931920" cy="579120"/>
          </a:xfrm>
          <a:prstGeom prst="roundRect">
            <a:avLst>
              <a:gd name="adj" fmla="val 7895"/>
            </a:avLst>
          </a:prstGeom>
          <a:solidFill>
            <a:srgbClr val="102A43"/>
          </a:solidFill>
          <a:ln w="12700">
            <a:solidFill>
              <a:srgbClr val="102A43"/>
            </a:solidFill>
            <a:prstDash val="solid"/>
          </a:ln>
        </p:spPr>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2960" y="4363110"/>
            <a:ext cx="3602736" cy="304800"/>
          </a:xfrm>
          <a:prstGeom prst="rect">
            <a:avLst/>
          </a:prstGeom>
        </p:spPr>
      </p:pic>
      <p:sp>
        <p:nvSpPr>
          <p:cNvPr id="25" name="Shape 20"/>
          <p:cNvSpPr/>
          <p:nvPr/>
        </p:nvSpPr>
        <p:spPr>
          <a:xfrm>
            <a:off x="4700016" y="4506366"/>
            <a:ext cx="457200" cy="0"/>
          </a:xfrm>
          <a:prstGeom prst="line">
            <a:avLst/>
          </a:prstGeom>
          <a:noFill/>
          <a:ln w="12700">
            <a:solidFill>
              <a:srgbClr val="B3181E"/>
            </a:solidFill>
            <a:prstDash val="solid"/>
            <a:headEnd type="none"/>
            <a:tailEnd type="triangle"/>
          </a:ln>
        </p:spPr>
      </p:sp>
      <p:sp>
        <p:nvSpPr>
          <p:cNvPr id="26" name="Shape 21"/>
          <p:cNvSpPr/>
          <p:nvPr/>
        </p:nvSpPr>
        <p:spPr>
          <a:xfrm>
            <a:off x="5266944" y="4216806"/>
            <a:ext cx="2432304" cy="579120"/>
          </a:xfrm>
          <a:prstGeom prst="rect">
            <a:avLst/>
          </a:prstGeom>
          <a:solidFill>
            <a:srgbClr val="FFFFFF"/>
          </a:solidFill>
          <a:ln w="12700">
            <a:solidFill>
              <a:srgbClr val="D8CFC4"/>
            </a:solidFill>
            <a:prstDash val="solid"/>
          </a:ln>
        </p:spPr>
      </p:sp>
      <p:sp>
        <p:nvSpPr>
          <p:cNvPr id="27" name="Text 22"/>
          <p:cNvSpPr txBox="1"/>
          <p:nvPr/>
        </p:nvSpPr>
        <p:spPr>
          <a:xfrm>
            <a:off x="5358384" y="4253382"/>
            <a:ext cx="2249424" cy="505968"/>
          </a:xfrm>
          <a:prstGeom prst="rect">
            <a:avLst/>
          </a:prstGeom>
          <a:noFill/>
          <a:ln/>
        </p:spPr>
        <p:txBody>
          <a:bodyPr wrap="square" lIns="0" tIns="0" rIns="0" bIns="0" rtlCol="0" anchor="ctr"/>
          <a:lstStyle/>
          <a:p>
            <a:pPr algn="l" indent="0" marL="0">
              <a:buNone/>
            </a:pPr>
            <a:r>
              <a:rPr lang="en-US" sz="1500" dirty="0">
                <a:solidFill>
                  <a:srgbClr val="B3181E"/>
                </a:solidFill>
                <a:latin typeface="Aptos" pitchFamily="34" charset="0"/>
                <a:ea typeface="Aptos" pitchFamily="34" charset="-122"/>
                <a:cs typeface="Aptos" pitchFamily="34" charset="-120"/>
              </a:rPr>
              <a:t>[object Object]</a:t>
            </a:r>
            <a:endParaRPr lang="en-US" sz="1500" dirty="0"/>
          </a:p>
        </p:txBody>
      </p:sp>
      <p:sp>
        <p:nvSpPr>
          <p:cNvPr id="28" name="Shape 23"/>
          <p:cNvSpPr/>
          <p:nvPr/>
        </p:nvSpPr>
        <p:spPr>
          <a:xfrm>
            <a:off x="7918704" y="3997350"/>
            <a:ext cx="3614623" cy="800354"/>
          </a:xfrm>
          <a:prstGeom prst="roundRect">
            <a:avLst>
              <a:gd name="adj" fmla="val 5712"/>
            </a:avLst>
          </a:prstGeom>
          <a:solidFill>
            <a:srgbClr val="0F1720"/>
          </a:solidFill>
          <a:ln w="12700">
            <a:solidFill>
              <a:srgbClr val="0F1720"/>
            </a:solidFill>
            <a:prstDash val="solid"/>
          </a:ln>
        </p:spPr>
      </p:sp>
      <p:sp>
        <p:nvSpPr>
          <p:cNvPr id="29" name="Shape 24"/>
          <p:cNvSpPr/>
          <p:nvPr/>
        </p:nvSpPr>
        <p:spPr>
          <a:xfrm>
            <a:off x="8078724" y="4129938"/>
            <a:ext cx="82296" cy="82296"/>
          </a:xfrm>
          <a:prstGeom prst="ellipse">
            <a:avLst/>
          </a:prstGeom>
          <a:solidFill>
            <a:srgbClr val="52606D"/>
          </a:solidFill>
          <a:ln w="12700">
            <a:solidFill>
              <a:srgbClr val="52606D"/>
            </a:solidFill>
            <a:prstDash val="solid"/>
          </a:ln>
        </p:spPr>
      </p:sp>
      <p:sp>
        <p:nvSpPr>
          <p:cNvPr id="30" name="Shape 25"/>
          <p:cNvSpPr/>
          <p:nvPr/>
        </p:nvSpPr>
        <p:spPr>
          <a:xfrm>
            <a:off x="8234172" y="4129938"/>
            <a:ext cx="82296" cy="82296"/>
          </a:xfrm>
          <a:prstGeom prst="ellipse">
            <a:avLst/>
          </a:prstGeom>
          <a:solidFill>
            <a:srgbClr val="52606D"/>
          </a:solidFill>
          <a:ln w="12700">
            <a:solidFill>
              <a:srgbClr val="52606D"/>
            </a:solidFill>
            <a:prstDash val="solid"/>
          </a:ln>
        </p:spPr>
      </p:sp>
      <p:sp>
        <p:nvSpPr>
          <p:cNvPr id="31" name="Shape 26"/>
          <p:cNvSpPr/>
          <p:nvPr/>
        </p:nvSpPr>
        <p:spPr>
          <a:xfrm>
            <a:off x="8389620" y="4129938"/>
            <a:ext cx="82296" cy="82296"/>
          </a:xfrm>
          <a:prstGeom prst="ellipse">
            <a:avLst/>
          </a:prstGeom>
          <a:solidFill>
            <a:srgbClr val="52606D"/>
          </a:solidFill>
          <a:ln w="12700">
            <a:solidFill>
              <a:srgbClr val="52606D"/>
            </a:solidFill>
            <a:prstDash val="solid"/>
          </a:ln>
        </p:spPr>
      </p:sp>
      <p:sp>
        <p:nvSpPr>
          <p:cNvPr id="32" name="Text 27"/>
          <p:cNvSpPr/>
          <p:nvPr/>
        </p:nvSpPr>
        <p:spPr>
          <a:xfrm>
            <a:off x="8613648" y="4079646"/>
            <a:ext cx="2736799"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La suite de pytest</a:t>
            </a:r>
            <a:endParaRPr lang="en-US" sz="940" dirty="0"/>
          </a:p>
        </p:txBody>
      </p:sp>
      <p:sp>
        <p:nvSpPr>
          <p:cNvPr id="33" name="Text 28"/>
          <p:cNvSpPr/>
          <p:nvPr/>
        </p:nvSpPr>
        <p:spPr>
          <a:xfrm>
            <a:off x="8119872" y="4472838"/>
            <a:ext cx="3212287" cy="196850"/>
          </a:xfrm>
          <a:prstGeom prst="rect">
            <a:avLst/>
          </a:prstGeom>
          <a:noFill/>
          <a:ln/>
        </p:spPr>
        <p:txBody>
          <a:bodyPr wrap="square" lIns="0" tIns="0" rIns="0" bIns="0" rtlCol="0" anchor="ctr"/>
          <a:lstStyle/>
          <a:p>
            <a:pPr indent="0" marL="0">
              <a:buNone/>
            </a:pPr>
            <a:r>
              <a:rPr lang="en-US" sz="1000" b="1" dirty="0">
                <a:solidFill>
                  <a:srgbClr val="3FAE6A"/>
                </a:solidFill>
                <a:latin typeface="Consolas" pitchFamily="34" charset="0"/>
                <a:ea typeface="Consolas" pitchFamily="34" charset="-122"/>
                <a:cs typeface="Consolas" pitchFamily="34" charset="-120"/>
              </a:rPr>
              <a:t>20 passed in 0.71s</a:t>
            </a:r>
            <a:endParaRPr lang="en-US" sz="1000" dirty="0"/>
          </a:p>
        </p:txBody>
      </p:sp>
      <p:sp>
        <p:nvSpPr>
          <p:cNvPr id="34" name="Text 29"/>
          <p:cNvSpPr txBox="1"/>
          <p:nvPr/>
        </p:nvSpPr>
        <p:spPr>
          <a:xfrm>
            <a:off x="658368" y="4905654"/>
            <a:ext cx="7040880" cy="457200"/>
          </a:xfrm>
          <a:prstGeom prst="rect">
            <a:avLst/>
          </a:prstGeom>
          <a:noFill/>
          <a:ln/>
        </p:spPr>
        <p:txBody>
          <a:bodyPr wrap="square" lIns="0" tIns="0" rIns="0" bIns="0" rtlCol="0" anchor="t"/>
          <a:lstStyle/>
          <a:p>
            <a:pPr algn="l" indent="0" marL="0">
              <a:buNone/>
            </a:pPr>
            <a:r>
              <a:rPr lang="en-US" sz="1160" dirty="0">
                <a:solidFill>
                  <a:srgbClr val="52606D"/>
                </a:solidFill>
                <a:latin typeface="Aptos" pitchFamily="34" charset="0"/>
                <a:ea typeface="Aptos" pitchFamily="34" charset="-122"/>
                <a:cs typeface="Aptos" pitchFamily="34" charset="-120"/>
              </a:rPr>
              <a:t>detail es una lista de objetos. Puesta en el párrafo, se convierte en texto sin que nadie diga cómo.</a:t>
            </a:r>
            <a:endParaRPr lang="en-US" sz="1160" dirty="0"/>
          </a:p>
        </p:txBody>
      </p:sp>
      <p:sp>
        <p:nvSpPr>
          <p:cNvPr id="35" name="Shape 30"/>
          <p:cNvSpPr/>
          <p:nvPr/>
        </p:nvSpPr>
        <p:spPr>
          <a:xfrm>
            <a:off x="658368" y="5650992"/>
            <a:ext cx="10874959" cy="548640"/>
          </a:xfrm>
          <a:prstGeom prst="rect">
            <a:avLst/>
          </a:prstGeom>
          <a:solidFill>
            <a:srgbClr val="102A43"/>
          </a:solidFill>
          <a:ln w="12700">
            <a:solidFill>
              <a:srgbClr val="102A43"/>
            </a:solidFill>
            <a:prstDash val="solid"/>
          </a:ln>
        </p:spPr>
      </p:sp>
      <p:sp>
        <p:nvSpPr>
          <p:cNvPr id="36" name="Text 3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defecto no está en ninguna pieza: está entre lo que la API responde y lo que la persona ve.</a:t>
            </a:r>
            <a:endParaRPr lang="en-US" sz="13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POR QUÉ NADIE LO VIO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Ningún nivel anterior ejecutaba app.js</a:t>
            </a:r>
            <a:endParaRPr lang="en-US" sz="3000" dirty="0"/>
          </a:p>
        </p:txBody>
      </p:sp>
      <p:sp>
        <p:nvSpPr>
          <p:cNvPr id="10" name="Shape 7"/>
          <p:cNvSpPr/>
          <p:nvPr/>
        </p:nvSpPr>
        <p:spPr>
          <a:xfrm>
            <a:off x="2944368" y="1792224"/>
            <a:ext cx="2074088" cy="2834640"/>
          </a:xfrm>
          <a:prstGeom prst="rect">
            <a:avLst/>
          </a:prstGeom>
          <a:solidFill>
            <a:srgbClr val="F2E7D9"/>
          </a:solidFill>
          <a:ln w="12700">
            <a:solidFill>
              <a:srgbClr val="F2E7D9"/>
            </a:solidFill>
            <a:prstDash val="solid"/>
          </a:ln>
        </p:spPr>
      </p:sp>
      <p:sp>
        <p:nvSpPr>
          <p:cNvPr id="11" name="Text 8"/>
          <p:cNvSpPr txBox="1"/>
          <p:nvPr/>
        </p:nvSpPr>
        <p:spPr>
          <a:xfrm>
            <a:off x="3054096" y="1883664"/>
            <a:ext cx="1872920" cy="274320"/>
          </a:xfrm>
          <a:prstGeom prst="rect">
            <a:avLst/>
          </a:prstGeom>
          <a:noFill/>
          <a:ln/>
        </p:spPr>
        <p:txBody>
          <a:bodyPr wrap="square" lIns="0" tIns="0" rIns="0" bIns="0" rtlCol="0" anchor="t"/>
          <a:lstStyle/>
          <a:p>
            <a:pPr algn="l" indent="0" marL="0">
              <a:buNone/>
            </a:pPr>
            <a:r>
              <a:rPr lang="en-US" sz="920" b="1" spc="70" kern="0" dirty="0">
                <a:solidFill>
                  <a:srgbClr val="B3181E"/>
                </a:solidFill>
                <a:latin typeface="Aptos" pitchFamily="34" charset="0"/>
                <a:ea typeface="Aptos" pitchFamily="34" charset="-122"/>
                <a:cs typeface="Aptos" pitchFamily="34" charset="-120"/>
              </a:rPr>
              <a:t>LA PÁGINA · APP.JS</a:t>
            </a:r>
            <a:endParaRPr lang="en-US" sz="920" dirty="0"/>
          </a:p>
        </p:txBody>
      </p:sp>
      <p:sp>
        <p:nvSpPr>
          <p:cNvPr id="12" name="Text 9"/>
          <p:cNvSpPr txBox="1"/>
          <p:nvPr/>
        </p:nvSpPr>
        <p:spPr>
          <a:xfrm>
            <a:off x="5201336" y="1883664"/>
            <a:ext cx="1872920" cy="274320"/>
          </a:xfrm>
          <a:prstGeom prst="rect">
            <a:avLst/>
          </a:prstGeom>
          <a:noFill/>
          <a:ln/>
        </p:spPr>
        <p:txBody>
          <a:bodyPr wrap="square" lIns="0" tIns="0" rIns="0" bIns="0" rtlCol="0" anchor="t"/>
          <a:lstStyle/>
          <a:p>
            <a:pPr algn="l" indent="0" marL="0">
              <a:buNone/>
            </a:pPr>
            <a:r>
              <a:rPr lang="en-US" sz="920" b="1" spc="70" kern="0" dirty="0">
                <a:solidFill>
                  <a:srgbClr val="52606D"/>
                </a:solidFill>
                <a:latin typeface="Aptos" pitchFamily="34" charset="0"/>
                <a:ea typeface="Aptos" pitchFamily="34" charset="-122"/>
                <a:cs typeface="Aptos" pitchFamily="34" charset="-120"/>
              </a:rPr>
              <a:t>LA API</a:t>
            </a:r>
            <a:endParaRPr lang="en-US" sz="920" dirty="0"/>
          </a:p>
        </p:txBody>
      </p:sp>
      <p:sp>
        <p:nvSpPr>
          <p:cNvPr id="13" name="Text 10"/>
          <p:cNvSpPr txBox="1"/>
          <p:nvPr/>
        </p:nvSpPr>
        <p:spPr>
          <a:xfrm>
            <a:off x="7348576" y="1883664"/>
            <a:ext cx="1872920" cy="274320"/>
          </a:xfrm>
          <a:prstGeom prst="rect">
            <a:avLst/>
          </a:prstGeom>
          <a:noFill/>
          <a:ln/>
        </p:spPr>
        <p:txBody>
          <a:bodyPr wrap="square" lIns="0" tIns="0" rIns="0" bIns="0" rtlCol="0" anchor="t"/>
          <a:lstStyle/>
          <a:p>
            <a:pPr algn="l" indent="0" marL="0">
              <a:buNone/>
            </a:pPr>
            <a:r>
              <a:rPr lang="en-US" sz="920" b="1" spc="70" kern="0" dirty="0">
                <a:solidFill>
                  <a:srgbClr val="52606D"/>
                </a:solidFill>
                <a:latin typeface="Aptos" pitchFamily="34" charset="0"/>
                <a:ea typeface="Aptos" pitchFamily="34" charset="-122"/>
                <a:cs typeface="Aptos" pitchFamily="34" charset="-120"/>
              </a:rPr>
              <a:t>LAS REGLAS DE RESERVA</a:t>
            </a:r>
            <a:endParaRPr lang="en-US" sz="920" dirty="0"/>
          </a:p>
        </p:txBody>
      </p:sp>
      <p:sp>
        <p:nvSpPr>
          <p:cNvPr id="14" name="Text 11"/>
          <p:cNvSpPr txBox="1"/>
          <p:nvPr/>
        </p:nvSpPr>
        <p:spPr>
          <a:xfrm>
            <a:off x="9495815" y="1883664"/>
            <a:ext cx="1872920" cy="274320"/>
          </a:xfrm>
          <a:prstGeom prst="rect">
            <a:avLst/>
          </a:prstGeom>
          <a:noFill/>
          <a:ln/>
        </p:spPr>
        <p:txBody>
          <a:bodyPr wrap="square" lIns="0" tIns="0" rIns="0" bIns="0" rtlCol="0" anchor="t"/>
          <a:lstStyle/>
          <a:p>
            <a:pPr algn="l" indent="0" marL="0">
              <a:buNone/>
            </a:pPr>
            <a:r>
              <a:rPr lang="en-US" sz="920" b="1" spc="70" kern="0" dirty="0">
                <a:solidFill>
                  <a:srgbClr val="52606D"/>
                </a:solidFill>
                <a:latin typeface="Aptos" pitchFamily="34" charset="0"/>
                <a:ea typeface="Aptos" pitchFamily="34" charset="-122"/>
                <a:cs typeface="Aptos" pitchFamily="34" charset="-120"/>
              </a:rPr>
              <a:t>LA BASE DE DATOS</a:t>
            </a:r>
            <a:endParaRPr lang="en-US" sz="920" dirty="0"/>
          </a:p>
        </p:txBody>
      </p:sp>
      <p:sp>
        <p:nvSpPr>
          <p:cNvPr id="15" name="Text 12"/>
          <p:cNvSpPr txBox="1"/>
          <p:nvPr/>
        </p:nvSpPr>
        <p:spPr>
          <a:xfrm>
            <a:off x="658368" y="2377440"/>
            <a:ext cx="2103120" cy="274320"/>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Unitaria</a:t>
            </a:r>
            <a:endParaRPr lang="en-US" sz="1400" dirty="0"/>
          </a:p>
        </p:txBody>
      </p:sp>
      <p:sp>
        <p:nvSpPr>
          <p:cNvPr id="16" name="Text 13"/>
          <p:cNvSpPr txBox="1"/>
          <p:nvPr/>
        </p:nvSpPr>
        <p:spPr>
          <a:xfrm>
            <a:off x="658368" y="2670048"/>
            <a:ext cx="2103120" cy="201168"/>
          </a:xfrm>
          <a:prstGeom prst="rect">
            <a:avLst/>
          </a:prstGeom>
          <a:noFill/>
          <a:ln/>
        </p:spPr>
        <p:txBody>
          <a:bodyPr wrap="square" lIns="0" tIns="0" rIns="0" bIns="0" rtlCol="0" anchor="t"/>
          <a:lstStyle/>
          <a:p>
            <a:pPr algn="l" indent="0" marL="0">
              <a:buNone/>
            </a:pPr>
            <a:r>
              <a:rPr lang="en-US" sz="940" dirty="0">
                <a:solidFill>
                  <a:srgbClr val="52606D"/>
                </a:solidFill>
                <a:latin typeface="Aptos" pitchFamily="34" charset="0"/>
                <a:ea typeface="Aptos" pitchFamily="34" charset="-122"/>
                <a:cs typeface="Aptos" pitchFamily="34" charset="-120"/>
              </a:rPr>
              <a:t>una función sola</a:t>
            </a:r>
            <a:endParaRPr lang="en-US" sz="940" dirty="0"/>
          </a:p>
        </p:txBody>
      </p:sp>
      <p:sp>
        <p:nvSpPr>
          <p:cNvPr id="17" name="Shape 14"/>
          <p:cNvSpPr/>
          <p:nvPr/>
        </p:nvSpPr>
        <p:spPr>
          <a:xfrm>
            <a:off x="3017520" y="2395728"/>
            <a:ext cx="1927784" cy="420624"/>
          </a:xfrm>
          <a:prstGeom prst="rect">
            <a:avLst/>
          </a:prstGeom>
          <a:solidFill>
            <a:srgbClr val="F8F3EC"/>
          </a:solidFill>
          <a:ln w="12700">
            <a:solidFill>
              <a:srgbClr val="D8CFC4"/>
            </a:solidFill>
            <a:prstDash val="solid"/>
          </a:ln>
        </p:spPr>
      </p:sp>
      <p:sp>
        <p:nvSpPr>
          <p:cNvPr id="18" name="Text 15"/>
          <p:cNvSpPr txBox="1"/>
          <p:nvPr/>
        </p:nvSpPr>
        <p:spPr>
          <a:xfrm>
            <a:off x="3108960" y="2432304"/>
            <a:ext cx="1744904" cy="347472"/>
          </a:xfrm>
          <a:prstGeom prst="rect">
            <a:avLst/>
          </a:prstGeom>
          <a:noFill/>
          <a:ln/>
        </p:spPr>
        <p:txBody>
          <a:bodyPr wrap="square" lIns="0" tIns="0" rIns="0" bIns="0" rtlCol="0" anchor="ctr"/>
          <a:lstStyle/>
          <a:p>
            <a:pPr algn="ctr" indent="0" marL="0">
              <a:buNone/>
            </a:pPr>
            <a:r>
              <a:rPr lang="en-US" sz="960" dirty="0">
                <a:solidFill>
                  <a:srgbClr val="52606D"/>
                </a:solidFill>
                <a:latin typeface="Aptos" pitchFamily="34" charset="0"/>
                <a:ea typeface="Aptos" pitchFamily="34" charset="-122"/>
                <a:cs typeface="Aptos" pitchFamily="34" charset="-120"/>
              </a:rPr>
              <a:t>no participa</a:t>
            </a:r>
            <a:endParaRPr lang="en-US" sz="960" dirty="0"/>
          </a:p>
        </p:txBody>
      </p:sp>
      <p:sp>
        <p:nvSpPr>
          <p:cNvPr id="19" name="Shape 16"/>
          <p:cNvSpPr/>
          <p:nvPr/>
        </p:nvSpPr>
        <p:spPr>
          <a:xfrm>
            <a:off x="5164760" y="2395728"/>
            <a:ext cx="1927784" cy="420624"/>
          </a:xfrm>
          <a:prstGeom prst="rect">
            <a:avLst/>
          </a:prstGeom>
          <a:solidFill>
            <a:srgbClr val="F8F3EC"/>
          </a:solidFill>
          <a:ln w="12700">
            <a:solidFill>
              <a:srgbClr val="D8CFC4"/>
            </a:solidFill>
            <a:prstDash val="solid"/>
          </a:ln>
        </p:spPr>
      </p:sp>
      <p:sp>
        <p:nvSpPr>
          <p:cNvPr id="20" name="Text 17"/>
          <p:cNvSpPr txBox="1"/>
          <p:nvPr/>
        </p:nvSpPr>
        <p:spPr>
          <a:xfrm>
            <a:off x="5256200" y="2432304"/>
            <a:ext cx="1744904" cy="347472"/>
          </a:xfrm>
          <a:prstGeom prst="rect">
            <a:avLst/>
          </a:prstGeom>
          <a:noFill/>
          <a:ln/>
        </p:spPr>
        <p:txBody>
          <a:bodyPr wrap="square" lIns="0" tIns="0" rIns="0" bIns="0" rtlCol="0" anchor="ctr"/>
          <a:lstStyle/>
          <a:p>
            <a:pPr algn="ctr" indent="0" marL="0">
              <a:buNone/>
            </a:pPr>
            <a:r>
              <a:rPr lang="en-US" sz="960" dirty="0">
                <a:solidFill>
                  <a:srgbClr val="52606D"/>
                </a:solidFill>
                <a:latin typeface="Aptos" pitchFamily="34" charset="0"/>
                <a:ea typeface="Aptos" pitchFamily="34" charset="-122"/>
                <a:cs typeface="Aptos" pitchFamily="34" charset="-120"/>
              </a:rPr>
              <a:t>no participa</a:t>
            </a:r>
            <a:endParaRPr lang="en-US" sz="960" dirty="0"/>
          </a:p>
        </p:txBody>
      </p:sp>
      <p:sp>
        <p:nvSpPr>
          <p:cNvPr id="21" name="Shape 18"/>
          <p:cNvSpPr/>
          <p:nvPr/>
        </p:nvSpPr>
        <p:spPr>
          <a:xfrm>
            <a:off x="7312000" y="2395728"/>
            <a:ext cx="1927784" cy="420624"/>
          </a:xfrm>
          <a:prstGeom prst="rect">
            <a:avLst/>
          </a:prstGeom>
          <a:solidFill>
            <a:srgbClr val="2E7D4F"/>
          </a:solidFill>
          <a:ln w="12700">
            <a:solidFill>
              <a:srgbClr val="2E7D4F"/>
            </a:solidFill>
            <a:prstDash val="solid"/>
          </a:ln>
        </p:spPr>
      </p:sp>
      <p:sp>
        <p:nvSpPr>
          <p:cNvPr id="22" name="Text 19"/>
          <p:cNvSpPr txBox="1"/>
          <p:nvPr/>
        </p:nvSpPr>
        <p:spPr>
          <a:xfrm>
            <a:off x="7403440" y="2432304"/>
            <a:ext cx="1744904"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se ejecuta</a:t>
            </a:r>
            <a:endParaRPr lang="en-US" sz="1000" dirty="0"/>
          </a:p>
        </p:txBody>
      </p:sp>
      <p:sp>
        <p:nvSpPr>
          <p:cNvPr id="23" name="Shape 20"/>
          <p:cNvSpPr/>
          <p:nvPr/>
        </p:nvSpPr>
        <p:spPr>
          <a:xfrm>
            <a:off x="9459239" y="2395728"/>
            <a:ext cx="1927784" cy="420624"/>
          </a:xfrm>
          <a:prstGeom prst="rect">
            <a:avLst/>
          </a:prstGeom>
          <a:solidFill>
            <a:srgbClr val="F8F3EC"/>
          </a:solidFill>
          <a:ln w="12700">
            <a:solidFill>
              <a:srgbClr val="D8CFC4"/>
            </a:solidFill>
            <a:prstDash val="solid"/>
          </a:ln>
        </p:spPr>
      </p:sp>
      <p:sp>
        <p:nvSpPr>
          <p:cNvPr id="24" name="Text 21"/>
          <p:cNvSpPr txBox="1"/>
          <p:nvPr/>
        </p:nvSpPr>
        <p:spPr>
          <a:xfrm>
            <a:off x="9550679" y="2432304"/>
            <a:ext cx="1744904" cy="347472"/>
          </a:xfrm>
          <a:prstGeom prst="rect">
            <a:avLst/>
          </a:prstGeom>
          <a:noFill/>
          <a:ln/>
        </p:spPr>
        <p:txBody>
          <a:bodyPr wrap="square" lIns="0" tIns="0" rIns="0" bIns="0" rtlCol="0" anchor="ctr"/>
          <a:lstStyle/>
          <a:p>
            <a:pPr algn="ctr" indent="0" marL="0">
              <a:buNone/>
            </a:pPr>
            <a:r>
              <a:rPr lang="en-US" sz="960" dirty="0">
                <a:solidFill>
                  <a:srgbClr val="52606D"/>
                </a:solidFill>
                <a:latin typeface="Aptos" pitchFamily="34" charset="0"/>
                <a:ea typeface="Aptos" pitchFamily="34" charset="-122"/>
                <a:cs typeface="Aptos" pitchFamily="34" charset="-120"/>
              </a:rPr>
              <a:t>no participa</a:t>
            </a:r>
            <a:endParaRPr lang="en-US" sz="960" dirty="0"/>
          </a:p>
        </p:txBody>
      </p:sp>
      <p:sp>
        <p:nvSpPr>
          <p:cNvPr id="25" name="Text 22"/>
          <p:cNvSpPr txBox="1"/>
          <p:nvPr/>
        </p:nvSpPr>
        <p:spPr>
          <a:xfrm>
            <a:off x="658368" y="3127248"/>
            <a:ext cx="2103120" cy="274320"/>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Integración</a:t>
            </a:r>
            <a:endParaRPr lang="en-US" sz="1400" dirty="0"/>
          </a:p>
        </p:txBody>
      </p:sp>
      <p:sp>
        <p:nvSpPr>
          <p:cNvPr id="26" name="Text 23"/>
          <p:cNvSpPr txBox="1"/>
          <p:nvPr/>
        </p:nvSpPr>
        <p:spPr>
          <a:xfrm>
            <a:off x="658368" y="3419856"/>
            <a:ext cx="2103120" cy="201168"/>
          </a:xfrm>
          <a:prstGeom prst="rect">
            <a:avLst/>
          </a:prstGeom>
          <a:noFill/>
          <a:ln/>
        </p:spPr>
        <p:txBody>
          <a:bodyPr wrap="square" lIns="0" tIns="0" rIns="0" bIns="0" rtlCol="0" anchor="t"/>
          <a:lstStyle/>
          <a:p>
            <a:pPr algn="l" indent="0" marL="0">
              <a:buNone/>
            </a:pPr>
            <a:r>
              <a:rPr lang="en-US" sz="940" dirty="0">
                <a:solidFill>
                  <a:srgbClr val="52606D"/>
                </a:solidFill>
                <a:latin typeface="Aptos" pitchFamily="34" charset="0"/>
                <a:ea typeface="Aptos" pitchFamily="34" charset="-122"/>
                <a:cs typeface="Aptos" pitchFamily="34" charset="-120"/>
              </a:rPr>
              <a:t>piezas juntas, sin la página</a:t>
            </a:r>
            <a:endParaRPr lang="en-US" sz="940" dirty="0"/>
          </a:p>
        </p:txBody>
      </p:sp>
      <p:sp>
        <p:nvSpPr>
          <p:cNvPr id="27" name="Shape 24"/>
          <p:cNvSpPr/>
          <p:nvPr/>
        </p:nvSpPr>
        <p:spPr>
          <a:xfrm>
            <a:off x="3017520" y="3145536"/>
            <a:ext cx="1927784" cy="420624"/>
          </a:xfrm>
          <a:prstGeom prst="rect">
            <a:avLst/>
          </a:prstGeom>
          <a:solidFill>
            <a:srgbClr val="8A6A12"/>
          </a:solidFill>
          <a:ln w="12700">
            <a:solidFill>
              <a:srgbClr val="8A6A12"/>
            </a:solidFill>
            <a:prstDash val="solid"/>
          </a:ln>
        </p:spPr>
      </p:sp>
      <p:sp>
        <p:nvSpPr>
          <p:cNvPr id="28" name="Text 25"/>
          <p:cNvSpPr txBox="1"/>
          <p:nvPr/>
        </p:nvSpPr>
        <p:spPr>
          <a:xfrm>
            <a:off x="3108960" y="3182112"/>
            <a:ext cx="1744904" cy="347472"/>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la sustituye el cliente</a:t>
            </a:r>
            <a:endParaRPr lang="en-US" sz="960" dirty="0"/>
          </a:p>
        </p:txBody>
      </p:sp>
      <p:sp>
        <p:nvSpPr>
          <p:cNvPr id="29" name="Shape 26"/>
          <p:cNvSpPr/>
          <p:nvPr/>
        </p:nvSpPr>
        <p:spPr>
          <a:xfrm>
            <a:off x="5164760" y="3145536"/>
            <a:ext cx="1927784" cy="420624"/>
          </a:xfrm>
          <a:prstGeom prst="rect">
            <a:avLst/>
          </a:prstGeom>
          <a:solidFill>
            <a:srgbClr val="2E7D4F"/>
          </a:solidFill>
          <a:ln w="12700">
            <a:solidFill>
              <a:srgbClr val="2E7D4F"/>
            </a:solidFill>
            <a:prstDash val="solid"/>
          </a:ln>
        </p:spPr>
      </p:sp>
      <p:sp>
        <p:nvSpPr>
          <p:cNvPr id="30" name="Text 27"/>
          <p:cNvSpPr txBox="1"/>
          <p:nvPr/>
        </p:nvSpPr>
        <p:spPr>
          <a:xfrm>
            <a:off x="5256200" y="3182112"/>
            <a:ext cx="1744904"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se ejecuta</a:t>
            </a:r>
            <a:endParaRPr lang="en-US" sz="1000" dirty="0"/>
          </a:p>
        </p:txBody>
      </p:sp>
      <p:sp>
        <p:nvSpPr>
          <p:cNvPr id="31" name="Shape 28"/>
          <p:cNvSpPr/>
          <p:nvPr/>
        </p:nvSpPr>
        <p:spPr>
          <a:xfrm>
            <a:off x="7312000" y="3145536"/>
            <a:ext cx="1927784" cy="420624"/>
          </a:xfrm>
          <a:prstGeom prst="rect">
            <a:avLst/>
          </a:prstGeom>
          <a:solidFill>
            <a:srgbClr val="2E7D4F"/>
          </a:solidFill>
          <a:ln w="12700">
            <a:solidFill>
              <a:srgbClr val="2E7D4F"/>
            </a:solidFill>
            <a:prstDash val="solid"/>
          </a:ln>
        </p:spPr>
      </p:sp>
      <p:sp>
        <p:nvSpPr>
          <p:cNvPr id="32" name="Text 29"/>
          <p:cNvSpPr txBox="1"/>
          <p:nvPr/>
        </p:nvSpPr>
        <p:spPr>
          <a:xfrm>
            <a:off x="7403440" y="3182112"/>
            <a:ext cx="1744904"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se ejecuta</a:t>
            </a:r>
            <a:endParaRPr lang="en-US" sz="1000" dirty="0"/>
          </a:p>
        </p:txBody>
      </p:sp>
      <p:sp>
        <p:nvSpPr>
          <p:cNvPr id="33" name="Shape 30"/>
          <p:cNvSpPr/>
          <p:nvPr/>
        </p:nvSpPr>
        <p:spPr>
          <a:xfrm>
            <a:off x="9459239" y="3145536"/>
            <a:ext cx="1927784" cy="420624"/>
          </a:xfrm>
          <a:prstGeom prst="rect">
            <a:avLst/>
          </a:prstGeom>
          <a:solidFill>
            <a:srgbClr val="2E7D4F"/>
          </a:solidFill>
          <a:ln w="12700">
            <a:solidFill>
              <a:srgbClr val="2E7D4F"/>
            </a:solidFill>
            <a:prstDash val="solid"/>
          </a:ln>
        </p:spPr>
      </p:sp>
      <p:sp>
        <p:nvSpPr>
          <p:cNvPr id="34" name="Text 31"/>
          <p:cNvSpPr txBox="1"/>
          <p:nvPr/>
        </p:nvSpPr>
        <p:spPr>
          <a:xfrm>
            <a:off x="9550679" y="3182112"/>
            <a:ext cx="1744904"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se ejecuta</a:t>
            </a:r>
            <a:endParaRPr lang="en-US" sz="1000" dirty="0"/>
          </a:p>
        </p:txBody>
      </p:sp>
      <p:sp>
        <p:nvSpPr>
          <p:cNvPr id="35" name="Text 32"/>
          <p:cNvSpPr txBox="1"/>
          <p:nvPr/>
        </p:nvSpPr>
        <p:spPr>
          <a:xfrm>
            <a:off x="658368" y="3877056"/>
            <a:ext cx="2103120" cy="274320"/>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Extremo a extremo</a:t>
            </a:r>
            <a:endParaRPr lang="en-US" sz="1400" dirty="0"/>
          </a:p>
        </p:txBody>
      </p:sp>
      <p:sp>
        <p:nvSpPr>
          <p:cNvPr id="36" name="Text 33"/>
          <p:cNvSpPr txBox="1"/>
          <p:nvPr/>
        </p:nvSpPr>
        <p:spPr>
          <a:xfrm>
            <a:off x="658368" y="4169664"/>
            <a:ext cx="2103120" cy="201168"/>
          </a:xfrm>
          <a:prstGeom prst="rect">
            <a:avLst/>
          </a:prstGeom>
          <a:noFill/>
          <a:ln/>
        </p:spPr>
        <p:txBody>
          <a:bodyPr wrap="square" lIns="0" tIns="0" rIns="0" bIns="0" rtlCol="0" anchor="t"/>
          <a:lstStyle/>
          <a:p>
            <a:pPr algn="l" indent="0" marL="0">
              <a:buNone/>
            </a:pPr>
            <a:r>
              <a:rPr lang="en-US" sz="940" dirty="0">
                <a:solidFill>
                  <a:srgbClr val="52606D"/>
                </a:solidFill>
                <a:latin typeface="Aptos" pitchFamily="34" charset="0"/>
                <a:ea typeface="Aptos" pitchFamily="34" charset="-122"/>
                <a:cs typeface="Aptos" pitchFamily="34" charset="-120"/>
              </a:rPr>
              <a:t>por la pantalla, como una persona</a:t>
            </a:r>
            <a:endParaRPr lang="en-US" sz="940" dirty="0"/>
          </a:p>
        </p:txBody>
      </p:sp>
      <p:sp>
        <p:nvSpPr>
          <p:cNvPr id="37" name="Shape 34"/>
          <p:cNvSpPr/>
          <p:nvPr/>
        </p:nvSpPr>
        <p:spPr>
          <a:xfrm>
            <a:off x="3017520" y="3895344"/>
            <a:ext cx="1927784" cy="420624"/>
          </a:xfrm>
          <a:prstGeom prst="rect">
            <a:avLst/>
          </a:prstGeom>
          <a:solidFill>
            <a:srgbClr val="2E7D4F"/>
          </a:solidFill>
          <a:ln w="12700">
            <a:solidFill>
              <a:srgbClr val="2E7D4F"/>
            </a:solidFill>
            <a:prstDash val="solid"/>
          </a:ln>
        </p:spPr>
      </p:sp>
      <p:sp>
        <p:nvSpPr>
          <p:cNvPr id="38" name="Text 35"/>
          <p:cNvSpPr txBox="1"/>
          <p:nvPr/>
        </p:nvSpPr>
        <p:spPr>
          <a:xfrm>
            <a:off x="3108960" y="3931920"/>
            <a:ext cx="1744904"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se ejecuta</a:t>
            </a:r>
            <a:endParaRPr lang="en-US" sz="1000" dirty="0"/>
          </a:p>
        </p:txBody>
      </p:sp>
      <p:sp>
        <p:nvSpPr>
          <p:cNvPr id="39" name="Shape 36"/>
          <p:cNvSpPr/>
          <p:nvPr/>
        </p:nvSpPr>
        <p:spPr>
          <a:xfrm>
            <a:off x="5164760" y="3895344"/>
            <a:ext cx="1927784" cy="420624"/>
          </a:xfrm>
          <a:prstGeom prst="rect">
            <a:avLst/>
          </a:prstGeom>
          <a:solidFill>
            <a:srgbClr val="2E7D4F"/>
          </a:solidFill>
          <a:ln w="12700">
            <a:solidFill>
              <a:srgbClr val="2E7D4F"/>
            </a:solidFill>
            <a:prstDash val="solid"/>
          </a:ln>
        </p:spPr>
      </p:sp>
      <p:sp>
        <p:nvSpPr>
          <p:cNvPr id="40" name="Text 37"/>
          <p:cNvSpPr txBox="1"/>
          <p:nvPr/>
        </p:nvSpPr>
        <p:spPr>
          <a:xfrm>
            <a:off x="5256200" y="3931920"/>
            <a:ext cx="1744904"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se ejecuta</a:t>
            </a:r>
            <a:endParaRPr lang="en-US" sz="1000" dirty="0"/>
          </a:p>
        </p:txBody>
      </p:sp>
      <p:sp>
        <p:nvSpPr>
          <p:cNvPr id="41" name="Shape 38"/>
          <p:cNvSpPr/>
          <p:nvPr/>
        </p:nvSpPr>
        <p:spPr>
          <a:xfrm>
            <a:off x="7312000" y="3895344"/>
            <a:ext cx="1927784" cy="420624"/>
          </a:xfrm>
          <a:prstGeom prst="rect">
            <a:avLst/>
          </a:prstGeom>
          <a:solidFill>
            <a:srgbClr val="2E7D4F"/>
          </a:solidFill>
          <a:ln w="12700">
            <a:solidFill>
              <a:srgbClr val="2E7D4F"/>
            </a:solidFill>
            <a:prstDash val="solid"/>
          </a:ln>
        </p:spPr>
      </p:sp>
      <p:sp>
        <p:nvSpPr>
          <p:cNvPr id="42" name="Text 39"/>
          <p:cNvSpPr txBox="1"/>
          <p:nvPr/>
        </p:nvSpPr>
        <p:spPr>
          <a:xfrm>
            <a:off x="7403440" y="3931920"/>
            <a:ext cx="1744904"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se ejecuta</a:t>
            </a:r>
            <a:endParaRPr lang="en-US" sz="1000" dirty="0"/>
          </a:p>
        </p:txBody>
      </p:sp>
      <p:sp>
        <p:nvSpPr>
          <p:cNvPr id="43" name="Shape 40"/>
          <p:cNvSpPr/>
          <p:nvPr/>
        </p:nvSpPr>
        <p:spPr>
          <a:xfrm>
            <a:off x="9459239" y="3895344"/>
            <a:ext cx="1927784" cy="420624"/>
          </a:xfrm>
          <a:prstGeom prst="rect">
            <a:avLst/>
          </a:prstGeom>
          <a:solidFill>
            <a:srgbClr val="2E7D4F"/>
          </a:solidFill>
          <a:ln w="12700">
            <a:solidFill>
              <a:srgbClr val="2E7D4F"/>
            </a:solidFill>
            <a:prstDash val="solid"/>
          </a:ln>
        </p:spPr>
      </p:sp>
      <p:sp>
        <p:nvSpPr>
          <p:cNvPr id="44" name="Text 41"/>
          <p:cNvSpPr txBox="1"/>
          <p:nvPr/>
        </p:nvSpPr>
        <p:spPr>
          <a:xfrm>
            <a:off x="9550679" y="3931920"/>
            <a:ext cx="1744904"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se ejecuta</a:t>
            </a:r>
            <a:endParaRPr lang="en-US" sz="1000" dirty="0"/>
          </a:p>
        </p:txBody>
      </p:sp>
      <p:sp>
        <p:nvSpPr>
          <p:cNvPr id="45" name="Shape 42"/>
          <p:cNvSpPr/>
          <p:nvPr/>
        </p:nvSpPr>
        <p:spPr>
          <a:xfrm>
            <a:off x="658368" y="4754880"/>
            <a:ext cx="10874959" cy="731520"/>
          </a:xfrm>
          <a:prstGeom prst="rect">
            <a:avLst/>
          </a:prstGeom>
          <a:solidFill>
            <a:srgbClr val="EDE6DA"/>
          </a:solidFill>
          <a:ln w="12700">
            <a:solidFill>
              <a:srgbClr val="EDE6DA"/>
            </a:solidFill>
            <a:prstDash val="solid"/>
          </a:ln>
        </p:spPr>
      </p:sp>
      <p:sp>
        <p:nvSpPr>
          <p:cNvPr id="46" name="Text 43"/>
          <p:cNvSpPr txBox="1"/>
          <p:nvPr/>
        </p:nvSpPr>
        <p:spPr>
          <a:xfrm>
            <a:off x="914400" y="4828032"/>
            <a:ext cx="10362895" cy="585216"/>
          </a:xfrm>
          <a:prstGeom prst="rect">
            <a:avLst/>
          </a:prstGeom>
          <a:noFill/>
          <a:ln/>
        </p:spPr>
        <p:txBody>
          <a:bodyPr wrap="square" lIns="0" tIns="0" rIns="0" bIns="0" rtlCol="0" anchor="t"/>
          <a:lstStyle/>
          <a:p>
            <a:pPr algn="l" indent="0" marL="0">
              <a:lnSpc>
                <a:spcPct val="112000"/>
              </a:lnSpc>
              <a:buNone/>
            </a:pPr>
            <a:r>
              <a:rPr lang="en-US" sz="1120" dirty="0">
                <a:solidFill>
                  <a:srgbClr val="243B53"/>
                </a:solidFill>
                <a:latin typeface="Aptos" pitchFamily="34" charset="0"/>
                <a:ea typeface="Aptos" pitchFamily="34" charset="-122"/>
                <a:cs typeface="Aptos" pitchFamily="34" charset="-120"/>
              </a:rPr>
              <a:t>En la integración, un cliente de pruebas —un programa que envía solicitudes a la API como lo haría la página— ocupa el lugar de app.js. Una prueba unitaria sobre app.js podría encontrarlo, pero solo si quien la escribe ya sabe que un error de validación trae una lista.</a:t>
            </a:r>
            <a:endParaRPr lang="en-US" sz="1120" dirty="0"/>
          </a:p>
        </p:txBody>
      </p:sp>
      <p:sp>
        <p:nvSpPr>
          <p:cNvPr id="47" name="Shape 44"/>
          <p:cNvSpPr/>
          <p:nvPr/>
        </p:nvSpPr>
        <p:spPr>
          <a:xfrm>
            <a:off x="658368" y="5650992"/>
            <a:ext cx="10874959" cy="548640"/>
          </a:xfrm>
          <a:prstGeom prst="rect">
            <a:avLst/>
          </a:prstGeom>
          <a:solidFill>
            <a:srgbClr val="102A43"/>
          </a:solidFill>
          <a:ln w="12700">
            <a:solidFill>
              <a:srgbClr val="102A43"/>
            </a:solidFill>
            <a:prstDash val="solid"/>
          </a:ln>
        </p:spPr>
      </p:sp>
      <p:sp>
        <p:nvSpPr>
          <p:cNvPr id="48" name="Text 45"/>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cliente de pruebas de la integración ocupa exactamente el lugar de la página.</a:t>
            </a:r>
            <a:endParaRPr lang="en-US" sz="13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EL AGENTE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Excluir una falla no es exigir una conducta</a:t>
            </a:r>
            <a:endParaRPr lang="en-US" sz="3000" dirty="0"/>
          </a:p>
        </p:txBody>
      </p:sp>
      <p:sp>
        <p:nvSpPr>
          <p:cNvPr id="10" name="Text 7"/>
          <p:cNvSpPr txBox="1"/>
          <p:nvPr/>
        </p:nvSpPr>
        <p:spPr>
          <a:xfrm>
            <a:off x="658368" y="1700784"/>
            <a:ext cx="10874959" cy="274320"/>
          </a:xfrm>
          <a:prstGeom prst="rect">
            <a:avLst/>
          </a:prstGeom>
          <a:noFill/>
          <a:ln/>
        </p:spPr>
        <p:txBody>
          <a:bodyPr wrap="square" lIns="0" tIns="0" rIns="0" bIns="0" rtlCol="0" anchor="t"/>
          <a:lstStyle/>
          <a:p>
            <a:pPr algn="l" indent="0" marL="0">
              <a:buNone/>
            </a:pPr>
            <a:r>
              <a:rPr lang="en-US" sz="1200" dirty="0">
                <a:solidFill>
                  <a:srgbClr val="52606D"/>
                </a:solidFill>
                <a:latin typeface="Aptos" pitchFamily="34" charset="0"/>
                <a:ea typeface="Aptos" pitchFamily="34" charset="-122"/>
                <a:cs typeface="Aptos" pitchFamily="34" charset="-120"/>
              </a:rPr>
              <a:t>Podía leer los archivos, no cambiarlos, y encontró el defecto leyendo app.js. Sus aserciones, donde mensaje es el localizador del párrafo de avisos:</a:t>
            </a:r>
            <a:endParaRPr lang="en-US" sz="1200" dirty="0"/>
          </a:p>
        </p:txBody>
      </p:sp>
      <p:sp>
        <p:nvSpPr>
          <p:cNvPr id="11" name="Text 8"/>
          <p:cNvSpPr txBox="1"/>
          <p:nvPr/>
        </p:nvSpPr>
        <p:spPr>
          <a:xfrm>
            <a:off x="658368" y="2103120"/>
            <a:ext cx="530032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LAS DEL AGENTE · NEGATIVAS O DE FORMA</a:t>
            </a:r>
            <a:endParaRPr lang="en-US" sz="960" dirty="0"/>
          </a:p>
        </p:txBody>
      </p:sp>
      <p:sp>
        <p:nvSpPr>
          <p:cNvPr id="12" name="Shape 9"/>
          <p:cNvSpPr/>
          <p:nvPr/>
        </p:nvSpPr>
        <p:spPr>
          <a:xfrm>
            <a:off x="658368" y="2359152"/>
            <a:ext cx="5300320" cy="992429"/>
          </a:xfrm>
          <a:prstGeom prst="roundRect">
            <a:avLst>
              <a:gd name="adj" fmla="val 4607"/>
            </a:avLst>
          </a:prstGeom>
          <a:solidFill>
            <a:srgbClr val="102A43"/>
          </a:solidFill>
          <a:ln w="12700">
            <a:solidFill>
              <a:srgbClr val="102A43"/>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505456"/>
            <a:ext cx="4971136" cy="718109"/>
          </a:xfrm>
          <a:prstGeom prst="rect">
            <a:avLst/>
          </a:prstGeom>
        </p:spPr>
      </p:pic>
      <p:sp>
        <p:nvSpPr>
          <p:cNvPr id="14" name="Text 10"/>
          <p:cNvSpPr txBox="1"/>
          <p:nvPr/>
        </p:nvSpPr>
        <p:spPr>
          <a:xfrm>
            <a:off x="6233008" y="2103120"/>
            <a:ext cx="530032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LA DE LA CLASE · POSITIVA</a:t>
            </a:r>
            <a:endParaRPr lang="en-US" sz="960" dirty="0"/>
          </a:p>
        </p:txBody>
      </p:sp>
      <p:sp>
        <p:nvSpPr>
          <p:cNvPr id="15" name="Shape 11"/>
          <p:cNvSpPr/>
          <p:nvPr/>
        </p:nvSpPr>
        <p:spPr>
          <a:xfrm>
            <a:off x="6233008" y="2359152"/>
            <a:ext cx="5300320" cy="579120"/>
          </a:xfrm>
          <a:prstGeom prst="roundRect">
            <a:avLst>
              <a:gd name="adj" fmla="val 7895"/>
            </a:avLst>
          </a:prstGeom>
          <a:solidFill>
            <a:srgbClr val="102A43"/>
          </a:solidFill>
          <a:ln w="12700">
            <a:solidFill>
              <a:srgbClr val="102A43"/>
            </a:solidFill>
            <a:prstDash val="solid"/>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97600" y="2505456"/>
            <a:ext cx="4971136" cy="304800"/>
          </a:xfrm>
          <a:prstGeom prst="rect">
            <a:avLst/>
          </a:prstGeom>
        </p:spPr>
      </p:pic>
      <p:sp>
        <p:nvSpPr>
          <p:cNvPr id="17" name="Text 12"/>
          <p:cNvSpPr txBox="1"/>
          <p:nvPr/>
        </p:nvSpPr>
        <p:spPr>
          <a:xfrm>
            <a:off x="6233008" y="3017520"/>
            <a:ext cx="5300320" cy="274320"/>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Exige lo que la persona necesita: que la pantalla nombre el campo.</a:t>
            </a:r>
            <a:endParaRPr lang="en-US" sz="1100" dirty="0"/>
          </a:p>
        </p:txBody>
      </p:sp>
      <p:sp>
        <p:nvSpPr>
          <p:cNvPr id="18" name="Text 13"/>
          <p:cNvSpPr txBox="1"/>
          <p:nvPr/>
        </p:nvSpPr>
        <p:spPr>
          <a:xfrm>
            <a:off x="658368" y="3401568"/>
            <a:ext cx="5300320" cy="274320"/>
          </a:xfrm>
          <a:prstGeom prst="rect">
            <a:avLst/>
          </a:prstGeom>
          <a:noFill/>
          <a:ln/>
        </p:spPr>
        <p:txBody>
          <a:bodyPr wrap="square" lIns="0" tIns="0" rIns="0" bIns="0" rtlCol="0" anchor="t"/>
          <a:lstStyle/>
          <a:p>
            <a:pPr algn="l" indent="0" marL="0">
              <a:buNone/>
            </a:pPr>
            <a:r>
              <a:rPr lang="en-US" sz="980" i="1" dirty="0">
                <a:solidFill>
                  <a:srgbClr val="52606D"/>
                </a:solidFill>
                <a:latin typeface="Aptos" pitchFamily="34" charset="0"/>
                <a:ea typeface="Aptos" pitchFamily="34" charset="-122"/>
                <a:cs typeface="Aptos" pitchFamily="34" charset="-120"/>
              </a:rPr>
              <a:t>not invierte la aserción. /error/ busca la palabra «error» en la clase de estilo del mensaje.</a:t>
            </a:r>
            <a:endParaRPr lang="en-US" sz="980" dirty="0"/>
          </a:p>
        </p:txBody>
      </p:sp>
      <p:sp>
        <p:nvSpPr>
          <p:cNvPr id="19" name="Text 14"/>
          <p:cNvSpPr txBox="1"/>
          <p:nvPr/>
        </p:nvSpPr>
        <p:spPr>
          <a:xfrm>
            <a:off x="658368" y="3785616"/>
            <a:ext cx="8229600" cy="201168"/>
          </a:xfrm>
          <a:prstGeom prst="rect">
            <a:avLst/>
          </a:prstGeom>
          <a:noFill/>
          <a:ln/>
        </p:spPr>
        <p:txBody>
          <a:bodyPr wrap="square" lIns="0" tIns="0" rIns="0" bIns="0" rtlCol="0" anchor="t"/>
          <a:lstStyle/>
          <a:p>
            <a:pPr algn="l" indent="0" marL="0">
              <a:buNone/>
            </a:pPr>
            <a:r>
              <a:rPr lang="en-US" sz="960" b="1" spc="130" kern="0" dirty="0">
                <a:solidFill>
                  <a:srgbClr val="243B53"/>
                </a:solidFill>
                <a:latin typeface="Aptos" pitchFamily="34" charset="0"/>
                <a:ea typeface="Aptos" pitchFamily="34" charset="-122"/>
                <a:cs typeface="Aptos" pitchFamily="34" charset="-120"/>
              </a:rPr>
              <a:t>SE APLICA LA CORRECCIÓN MÁS HABITUAL: MOSTRAR EL PRIMER MENSAJE DE LA LISTA</a:t>
            </a:r>
            <a:endParaRPr lang="en-US" sz="960" dirty="0"/>
          </a:p>
        </p:txBody>
      </p:sp>
      <p:sp>
        <p:nvSpPr>
          <p:cNvPr id="20" name="Shape 15"/>
          <p:cNvSpPr/>
          <p:nvPr/>
        </p:nvSpPr>
        <p:spPr>
          <a:xfrm>
            <a:off x="658368" y="4041648"/>
            <a:ext cx="10874959" cy="1194054"/>
          </a:xfrm>
          <a:prstGeom prst="roundRect">
            <a:avLst>
              <a:gd name="adj" fmla="val 3829"/>
            </a:avLst>
          </a:prstGeom>
          <a:solidFill>
            <a:srgbClr val="0F1720"/>
          </a:solidFill>
          <a:ln w="12700">
            <a:solidFill>
              <a:srgbClr val="0F1720"/>
            </a:solidFill>
            <a:prstDash val="solid"/>
          </a:ln>
        </p:spPr>
      </p:sp>
      <p:sp>
        <p:nvSpPr>
          <p:cNvPr id="21" name="Shape 16"/>
          <p:cNvSpPr/>
          <p:nvPr/>
        </p:nvSpPr>
        <p:spPr>
          <a:xfrm>
            <a:off x="818388" y="4174236"/>
            <a:ext cx="82296" cy="82296"/>
          </a:xfrm>
          <a:prstGeom prst="ellipse">
            <a:avLst/>
          </a:prstGeom>
          <a:solidFill>
            <a:srgbClr val="52606D"/>
          </a:solidFill>
          <a:ln w="12700">
            <a:solidFill>
              <a:srgbClr val="52606D"/>
            </a:solidFill>
            <a:prstDash val="solid"/>
          </a:ln>
        </p:spPr>
      </p:sp>
      <p:sp>
        <p:nvSpPr>
          <p:cNvPr id="22" name="Shape 17"/>
          <p:cNvSpPr/>
          <p:nvPr/>
        </p:nvSpPr>
        <p:spPr>
          <a:xfrm>
            <a:off x="973836" y="4174236"/>
            <a:ext cx="82296" cy="82296"/>
          </a:xfrm>
          <a:prstGeom prst="ellipse">
            <a:avLst/>
          </a:prstGeom>
          <a:solidFill>
            <a:srgbClr val="52606D"/>
          </a:solidFill>
          <a:ln w="12700">
            <a:solidFill>
              <a:srgbClr val="52606D"/>
            </a:solidFill>
            <a:prstDash val="solid"/>
          </a:ln>
        </p:spPr>
      </p:sp>
      <p:sp>
        <p:nvSpPr>
          <p:cNvPr id="23" name="Shape 18"/>
          <p:cNvSpPr/>
          <p:nvPr/>
        </p:nvSpPr>
        <p:spPr>
          <a:xfrm>
            <a:off x="1129284" y="4174236"/>
            <a:ext cx="82296" cy="82296"/>
          </a:xfrm>
          <a:prstGeom prst="ellipse">
            <a:avLst/>
          </a:prstGeom>
          <a:solidFill>
            <a:srgbClr val="52606D"/>
          </a:solidFill>
          <a:ln w="12700">
            <a:solidFill>
              <a:srgbClr val="52606D"/>
            </a:solidFill>
            <a:prstDash val="solid"/>
          </a:ln>
        </p:spPr>
      </p:sp>
      <p:sp>
        <p:nvSpPr>
          <p:cNvPr id="24" name="Text 19"/>
          <p:cNvSpPr/>
          <p:nvPr/>
        </p:nvSpPr>
        <p:spPr>
          <a:xfrm>
            <a:off x="1353312" y="4123944"/>
            <a:ext cx="9997135"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npx playwright test</a:t>
            </a:r>
            <a:endParaRPr lang="en-US" sz="940" dirty="0"/>
          </a:p>
        </p:txBody>
      </p:sp>
      <p:sp>
        <p:nvSpPr>
          <p:cNvPr id="25" name="Text 20"/>
          <p:cNvSpPr/>
          <p:nvPr/>
        </p:nvSpPr>
        <p:spPr>
          <a:xfrm>
            <a:off x="859536" y="4517136"/>
            <a:ext cx="10472623" cy="196850"/>
          </a:xfrm>
          <a:prstGeom prst="rect">
            <a:avLst/>
          </a:prstGeom>
          <a:noFill/>
          <a:ln/>
        </p:spPr>
        <p:txBody>
          <a:bodyPr wrap="square" lIns="0" tIns="0" rIns="0" bIns="0" rtlCol="0" anchor="ctr"/>
          <a:lstStyle/>
          <a:p>
            <a:pPr indent="0" marL="0">
              <a:buNone/>
            </a:pPr>
            <a:r>
              <a:rPr lang="en-US" sz="1000" b="1" dirty="0">
                <a:solidFill>
                  <a:srgbClr val="3FAE6A"/>
                </a:solidFill>
                <a:latin typeface="Consolas" pitchFamily="34" charset="0"/>
                <a:ea typeface="Consolas" pitchFamily="34" charset="-122"/>
                <a:cs typeface="Consolas" pitchFamily="34" charset="-120"/>
              </a:rPr>
              <a:t>ok 1 › no se confirma la reserva si el campo Personas queda vacio   (la del agente)</a:t>
            </a:r>
            <a:endParaRPr lang="en-US" sz="1000" dirty="0"/>
          </a:p>
        </p:txBody>
      </p:sp>
      <p:sp>
        <p:nvSpPr>
          <p:cNvPr id="26" name="Text 21"/>
          <p:cNvSpPr/>
          <p:nvPr/>
        </p:nvSpPr>
        <p:spPr>
          <a:xfrm>
            <a:off x="859536" y="4713986"/>
            <a:ext cx="10472623" cy="196850"/>
          </a:xfrm>
          <a:prstGeom prst="rect">
            <a:avLst/>
          </a:prstGeom>
          <a:noFill/>
          <a:ln/>
        </p:spPr>
        <p:txBody>
          <a:bodyPr wrap="square" lIns="0" tIns="0" rIns="0" bIns="0" rtlCol="0" anchor="ctr"/>
          <a:lstStyle/>
          <a:p>
            <a:pPr indent="0" marL="0">
              <a:buNone/>
            </a:pPr>
            <a:r>
              <a:rPr lang="en-US" sz="1000" b="1" dirty="0">
                <a:solidFill>
                  <a:srgbClr val="D62027"/>
                </a:solidFill>
                <a:latin typeface="Consolas" pitchFamily="34" charset="0"/>
                <a:ea typeface="Consolas" pitchFamily="34" charset="-122"/>
                <a:cs typeface="Consolas" pitchFamily="34" charset="-120"/>
              </a:rPr>
              <a:t>x  3 › si falta un dato, la pantalla dice cuál corregir           (la positiva)</a:t>
            </a:r>
            <a:endParaRPr lang="en-US" sz="1000" dirty="0"/>
          </a:p>
        </p:txBody>
      </p:sp>
      <p:sp>
        <p:nvSpPr>
          <p:cNvPr id="27" name="Text 22"/>
          <p:cNvSpPr/>
          <p:nvPr/>
        </p:nvSpPr>
        <p:spPr>
          <a:xfrm>
            <a:off x="859536" y="4910836"/>
            <a:ext cx="10472623" cy="196850"/>
          </a:xfrm>
          <a:prstGeom prst="rect">
            <a:avLst/>
          </a:prstGeom>
          <a:noFill/>
          <a:ln/>
        </p:spPr>
        <p:txBody>
          <a:bodyPr wrap="square" lIns="0" tIns="0" rIns="0" bIns="0" rtlCol="0" anchor="ctr"/>
          <a:lstStyle/>
          <a:p>
            <a:pPr indent="0" marL="0">
              <a:buNone/>
            </a:pPr>
            <a:r>
              <a:rPr lang="en-US" sz="1000" dirty="0">
                <a:solidFill>
                  <a:srgbClr val="8AA0B6"/>
                </a:solidFill>
                <a:latin typeface="Consolas" pitchFamily="34" charset="0"/>
                <a:ea typeface="Consolas" pitchFamily="34" charset="-122"/>
                <a:cs typeface="Consolas" pitchFamily="34" charset="-120"/>
              </a:rPr>
              <a:t>Received string: "Input should be a valid integer, unable to parse string as an integer"</a:t>
            </a:r>
            <a:endParaRPr lang="en-US" sz="1000" dirty="0"/>
          </a:p>
        </p:txBody>
      </p:sp>
      <p:sp>
        <p:nvSpPr>
          <p:cNvPr id="28" name="Text 23"/>
          <p:cNvSpPr txBox="1"/>
          <p:nvPr/>
        </p:nvSpPr>
        <p:spPr>
          <a:xfrm>
            <a:off x="658368" y="5303520"/>
            <a:ext cx="10874959" cy="274320"/>
          </a:xfrm>
          <a:prstGeom prst="rect">
            <a:avLst/>
          </a:prstGeom>
          <a:noFill/>
          <a:ln/>
        </p:spPr>
        <p:txBody>
          <a:bodyPr wrap="square" lIns="0" tIns="0" rIns="0" bIns="0" rtlCol="0" anchor="t"/>
          <a:lstStyle/>
          <a:p>
            <a:pPr algn="l" indent="0" marL="0">
              <a:buNone/>
            </a:pPr>
            <a:r>
              <a:rPr lang="en-US" sz="1020" i="1" dirty="0">
                <a:solidFill>
                  <a:srgbClr val="52606D"/>
                </a:solidFill>
                <a:latin typeface="Aptos" pitchFamily="34" charset="0"/>
                <a:ea typeface="Aptos" pitchFamily="34" charset="-122"/>
                <a:cs typeface="Aptos" pitchFamily="34" charset="-120"/>
              </a:rPr>
              <a:t>La pantalla ahora muestra el texto técnico de la API, en inglés («debería ser un número entero») y sin nombrar el campo. La prueba del agente no lo nota.</a:t>
            </a:r>
            <a:endParaRPr lang="en-US" sz="1020" dirty="0"/>
          </a:p>
        </p:txBody>
      </p:sp>
      <p:sp>
        <p:nvSpPr>
          <p:cNvPr id="29" name="Shape 24"/>
          <p:cNvSpPr/>
          <p:nvPr/>
        </p:nvSpPr>
        <p:spPr>
          <a:xfrm>
            <a:off x="658368" y="5650992"/>
            <a:ext cx="10874959" cy="548640"/>
          </a:xfrm>
          <a:prstGeom prst="rect">
            <a:avLst/>
          </a:prstGeom>
          <a:solidFill>
            <a:srgbClr val="102A43"/>
          </a:solidFill>
          <a:ln w="12700">
            <a:solidFill>
              <a:srgbClr val="102A43"/>
            </a:solidFill>
            <a:prstDash val="solid"/>
          </a:ln>
        </p:spPr>
      </p:sp>
      <p:sp>
        <p:nvSpPr>
          <p:cNvPr id="30" name="Text 25"/>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Una aserción negativa excluye una falla ya vista. Una positiva exige lo que la persona necesita.</a:t>
            </a:r>
            <a:endParaRPr lang="en-US" sz="13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esperar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API respondió 422 con el campo exacto en loc, y la pantalla mostró [object Object]. Un compañero dice que el defecto es de la API. ¿Tiene razón?</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Revisa qué promete el contrato para un error de validación. Después busca qué pieza tenía la información y no la usó.</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Las veinte pruebas de pytest pasaron todo el tiempo, incluidas las de integración. ¿Por qué ninguna podía detectar el [object Object]?</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Mira qué pieza ocupa el cliente de pruebas en la tabla de niveles. ¿Se ejecuta alguna vez app.js en esas pruebas?</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prueba del agente siguió pasando con una corrección que deja a la persona igual de perdida. ¿Qué tendría que haber sabido para escribir la positiva?</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El agente leyó todos los archivos. ¿En alguno dice qué mensaje necesita ver una persona cuando falta un dato?</a:t>
            </a:r>
            <a:endParaRPr lang="en-US" sz="11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NO TIENE RAZÓN</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La API cumplió su contrato: un 422 con la lista de errores y el campo exacto.</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La información estaba en la página y la línea que la recibe la convirtió en texto genérico.</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Culpar a la pieza que respondió bien en vez de a la que mostró mal.</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PORQUE NINGUNA EJECUTA LA PÁGINA</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El cliente de pruebas ocupa el lugar de la página, así que app.js nunca corre ahí.</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Cada nivel solo ve lo que ejecuta de verdad; lo que sustituye queda fuera de su alcance.</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Pensar que una suite en verde cubre también lo que ninguna de sus pruebas ejecuta.</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LO QUE LA PERSONA NECESITA LEER</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Qué debe decir la pantalla cuando falta un dato. Eso no está escrito en ningún archivo.</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El agente prueba contra el código que lee; la conducta esperada tiene que venir del requisito.</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Dar por buena una prueba porque excluye el error que ya se vio.</a:t>
            </a:r>
            <a:endParaRPr lang="en-US" sz="10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17</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2 DE 4 · 25 MINUTOS</a:t>
            </a:r>
            <a:endParaRPr lang="en-US" sz="960" dirty="0"/>
          </a:p>
        </p:txBody>
      </p:sp>
      <p:sp>
        <p:nvSpPr>
          <p:cNvPr id="9" name="Text 6"/>
          <p:cNvSpPr txBox="1"/>
          <p:nvPr/>
        </p:nvSpPr>
        <p:spPr>
          <a:xfrm>
            <a:off x="658368" y="1810512"/>
            <a:ext cx="9784080" cy="137160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Aptos Display" pitchFamily="34" charset="0"/>
                <a:ea typeface="Aptos Display" pitchFamily="34" charset="-122"/>
                <a:cs typeface="Aptos Display" pitchFamily="34" charset="-120"/>
              </a:rPr>
              <a:t>No se espera un tiempo, se espera una condición</a:t>
            </a:r>
            <a:endParaRPr lang="en-US" sz="40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Hasta ahora, cuando una prueba miraba un valor, el valor ya existía. En una pantalla deja de ser cierto, y aparece la primera prueba del módulo que pasa y falla sobre el mismo código sin que nadie lo toque.</a:t>
            </a:r>
            <a:endParaRPr lang="en-US" sz="1500" dirty="0"/>
          </a:p>
        </p:txBody>
      </p:sp>
      <p:sp>
        <p:nvSpPr>
          <p:cNvPr id="12" name="Shape 9"/>
          <p:cNvSpPr/>
          <p:nvPr/>
        </p:nvSpPr>
        <p:spPr>
          <a:xfrm>
            <a:off x="658368" y="4901184"/>
            <a:ext cx="2622728" cy="786384"/>
          </a:xfrm>
          <a:prstGeom prst="rect">
            <a:avLst/>
          </a:prstGeom>
          <a:solidFill>
            <a:srgbClr val="1D3A57"/>
          </a:solidFill>
          <a:ln w="12700">
            <a:solidFill>
              <a:srgbClr val="1D3A5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ABRIR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Por donde lo usa una persona</a:t>
            </a:r>
            <a:endParaRPr lang="en-US" sz="920" dirty="0"/>
          </a:p>
        </p:txBody>
      </p:sp>
      <p:sp>
        <p:nvSpPr>
          <p:cNvPr id="16" name="Shape 13"/>
          <p:cNvSpPr/>
          <p:nvPr/>
        </p:nvSpPr>
        <p:spPr>
          <a:xfrm>
            <a:off x="3409112" y="4901184"/>
            <a:ext cx="2622728" cy="786384"/>
          </a:xfrm>
          <a:prstGeom prst="rect">
            <a:avLst/>
          </a:prstGeom>
          <a:solidFill>
            <a:srgbClr val="D62027"/>
          </a:solidFill>
          <a:ln w="12700">
            <a:solidFill>
              <a:srgbClr val="D6202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ESPERAR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Una condición, no un tiempo</a:t>
            </a:r>
            <a:endParaRPr lang="en-US" sz="920" dirty="0"/>
          </a:p>
        </p:txBody>
      </p:sp>
      <p:sp>
        <p:nvSpPr>
          <p:cNvPr id="20" name="Shape 17"/>
          <p:cNvSpPr/>
          <p:nvPr/>
        </p:nvSpPr>
        <p:spPr>
          <a:xfrm>
            <a:off x="6159856" y="4901184"/>
            <a:ext cx="2622728" cy="786384"/>
          </a:xfrm>
          <a:prstGeom prst="rect">
            <a:avLst/>
          </a:prstGeom>
          <a:solidFill>
            <a:srgbClr val="1D3A57"/>
          </a:solidFill>
          <a:ln w="12700">
            <a:solidFill>
              <a:srgbClr val="1D3A5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EXPLORAR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Lo que nadie pensó en escribir</a:t>
            </a:r>
            <a:endParaRPr lang="en-US" sz="920" dirty="0"/>
          </a:p>
        </p:txBody>
      </p:sp>
      <p:sp>
        <p:nvSpPr>
          <p:cNvPr id="24" name="Shape 21"/>
          <p:cNvSpPr/>
          <p:nvPr/>
        </p:nvSpPr>
        <p:spPr>
          <a:xfrm>
            <a:off x="8910599" y="4901184"/>
            <a:ext cx="2622728" cy="786384"/>
          </a:xfrm>
          <a:prstGeom prst="rect">
            <a:avLst/>
          </a:prstGeom>
          <a:solidFill>
            <a:srgbClr val="1D3A57"/>
          </a:solidFill>
          <a:ln w="12700">
            <a:solidFill>
              <a:srgbClr val="1D3A5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PRECISAR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Hasta que una prueba lo diga</a:t>
            </a:r>
            <a:endParaRPr lang="en-US" sz="9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ASÍNCRONO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En una pantalla, el valor todavía no llega</a:t>
            </a:r>
            <a:endParaRPr lang="en-US" sz="3000" dirty="0"/>
          </a:p>
        </p:txBody>
      </p:sp>
      <p:sp>
        <p:nvSpPr>
          <p:cNvPr id="10" name="Text 7"/>
          <p:cNvSpPr txBox="1"/>
          <p:nvPr/>
        </p:nvSpPr>
        <p:spPr>
          <a:xfrm>
            <a:off x="658368" y="1755648"/>
            <a:ext cx="731520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HASTA AHORA · UNA FUNCIÓN O EL CLIENTE DE PRUEBAS</a:t>
            </a:r>
            <a:endParaRPr lang="en-US" sz="960" dirty="0"/>
          </a:p>
        </p:txBody>
      </p:sp>
      <p:sp>
        <p:nvSpPr>
          <p:cNvPr id="11" name="Shape 8"/>
          <p:cNvSpPr/>
          <p:nvPr/>
        </p:nvSpPr>
        <p:spPr>
          <a:xfrm>
            <a:off x="658368" y="2029968"/>
            <a:ext cx="1920240" cy="475488"/>
          </a:xfrm>
          <a:prstGeom prst="rect">
            <a:avLst/>
          </a:prstGeom>
          <a:solidFill>
            <a:srgbClr val="FFFFFF"/>
          </a:solidFill>
          <a:ln w="12700">
            <a:solidFill>
              <a:srgbClr val="D8CFC4"/>
            </a:solidFill>
            <a:prstDash val="solid"/>
          </a:ln>
        </p:spPr>
      </p:sp>
      <p:sp>
        <p:nvSpPr>
          <p:cNvPr id="12" name="Text 9"/>
          <p:cNvSpPr txBox="1"/>
          <p:nvPr/>
        </p:nvSpPr>
        <p:spPr>
          <a:xfrm>
            <a:off x="749808" y="2066544"/>
            <a:ext cx="1737360" cy="402336"/>
          </a:xfrm>
          <a:prstGeom prst="rect">
            <a:avLst/>
          </a:prstGeom>
          <a:noFill/>
          <a:ln/>
        </p:spPr>
        <p:txBody>
          <a:bodyPr wrap="square" lIns="0" tIns="0" rIns="0" bIns="0" rtlCol="0" anchor="ctr"/>
          <a:lstStyle/>
          <a:p>
            <a:pPr algn="ctr" indent="0" marL="0">
              <a:buNone/>
            </a:pPr>
            <a:r>
              <a:rPr lang="en-US" sz="1180" b="1" dirty="0">
                <a:solidFill>
                  <a:srgbClr val="243B53"/>
                </a:solidFill>
                <a:latin typeface="Aptos" pitchFamily="34" charset="0"/>
                <a:ea typeface="Aptos" pitchFamily="34" charset="-122"/>
                <a:cs typeface="Aptos" pitchFamily="34" charset="-120"/>
              </a:rPr>
              <a:t>Acción</a:t>
            </a:r>
            <a:endParaRPr lang="en-US" sz="1180" dirty="0"/>
          </a:p>
        </p:txBody>
      </p:sp>
      <p:sp>
        <p:nvSpPr>
          <p:cNvPr id="13" name="Shape 10"/>
          <p:cNvSpPr/>
          <p:nvPr/>
        </p:nvSpPr>
        <p:spPr>
          <a:xfrm>
            <a:off x="2651760" y="2267712"/>
            <a:ext cx="310896" cy="0"/>
          </a:xfrm>
          <a:prstGeom prst="line">
            <a:avLst/>
          </a:prstGeom>
          <a:noFill/>
          <a:ln w="12700">
            <a:solidFill>
              <a:srgbClr val="52606D"/>
            </a:solidFill>
            <a:prstDash val="solid"/>
            <a:headEnd type="none"/>
            <a:tailEnd type="triangle"/>
          </a:ln>
        </p:spPr>
      </p:sp>
      <p:sp>
        <p:nvSpPr>
          <p:cNvPr id="14" name="Shape 11"/>
          <p:cNvSpPr/>
          <p:nvPr/>
        </p:nvSpPr>
        <p:spPr>
          <a:xfrm>
            <a:off x="3035808" y="2029968"/>
            <a:ext cx="1920240" cy="475488"/>
          </a:xfrm>
          <a:prstGeom prst="rect">
            <a:avLst/>
          </a:prstGeom>
          <a:solidFill>
            <a:srgbClr val="FFFFFF"/>
          </a:solidFill>
          <a:ln w="12700">
            <a:solidFill>
              <a:srgbClr val="D8CFC4"/>
            </a:solidFill>
            <a:prstDash val="solid"/>
          </a:ln>
        </p:spPr>
      </p:sp>
      <p:sp>
        <p:nvSpPr>
          <p:cNvPr id="15" name="Text 12"/>
          <p:cNvSpPr txBox="1"/>
          <p:nvPr/>
        </p:nvSpPr>
        <p:spPr>
          <a:xfrm>
            <a:off x="3127248" y="2066544"/>
            <a:ext cx="1737360" cy="402336"/>
          </a:xfrm>
          <a:prstGeom prst="rect">
            <a:avLst/>
          </a:prstGeom>
          <a:noFill/>
          <a:ln/>
        </p:spPr>
        <p:txBody>
          <a:bodyPr wrap="square" lIns="0" tIns="0" rIns="0" bIns="0" rtlCol="0" anchor="ctr"/>
          <a:lstStyle/>
          <a:p>
            <a:pPr algn="ctr" indent="0" marL="0">
              <a:buNone/>
            </a:pPr>
            <a:r>
              <a:rPr lang="en-US" sz="1180" b="1" dirty="0">
                <a:solidFill>
                  <a:srgbClr val="243B53"/>
                </a:solidFill>
                <a:latin typeface="Aptos" pitchFamily="34" charset="0"/>
                <a:ea typeface="Aptos" pitchFamily="34" charset="-122"/>
                <a:cs typeface="Aptos" pitchFamily="34" charset="-120"/>
              </a:rPr>
              <a:t>Resultado completo</a:t>
            </a:r>
            <a:endParaRPr lang="en-US" sz="1180" dirty="0"/>
          </a:p>
        </p:txBody>
      </p:sp>
      <p:sp>
        <p:nvSpPr>
          <p:cNvPr id="16" name="Shape 13"/>
          <p:cNvSpPr/>
          <p:nvPr/>
        </p:nvSpPr>
        <p:spPr>
          <a:xfrm>
            <a:off x="5029200" y="2267712"/>
            <a:ext cx="310896" cy="0"/>
          </a:xfrm>
          <a:prstGeom prst="line">
            <a:avLst/>
          </a:prstGeom>
          <a:noFill/>
          <a:ln w="12700">
            <a:solidFill>
              <a:srgbClr val="52606D"/>
            </a:solidFill>
            <a:prstDash val="solid"/>
            <a:headEnd type="none"/>
            <a:tailEnd type="triangle"/>
          </a:ln>
        </p:spPr>
      </p:sp>
      <p:sp>
        <p:nvSpPr>
          <p:cNvPr id="17" name="Shape 14"/>
          <p:cNvSpPr/>
          <p:nvPr/>
        </p:nvSpPr>
        <p:spPr>
          <a:xfrm>
            <a:off x="5413248" y="2029968"/>
            <a:ext cx="1920240" cy="475488"/>
          </a:xfrm>
          <a:prstGeom prst="rect">
            <a:avLst/>
          </a:prstGeom>
          <a:solidFill>
            <a:srgbClr val="2E7D4F"/>
          </a:solidFill>
          <a:ln w="12700">
            <a:solidFill>
              <a:srgbClr val="2E7D4F"/>
            </a:solidFill>
            <a:prstDash val="solid"/>
          </a:ln>
        </p:spPr>
      </p:sp>
      <p:sp>
        <p:nvSpPr>
          <p:cNvPr id="18" name="Text 15"/>
          <p:cNvSpPr txBox="1"/>
          <p:nvPr/>
        </p:nvSpPr>
        <p:spPr>
          <a:xfrm>
            <a:off x="5504688" y="2066544"/>
            <a:ext cx="1737360" cy="402336"/>
          </a:xfrm>
          <a:prstGeom prst="rect">
            <a:avLst/>
          </a:prstGeom>
          <a:noFill/>
          <a:ln/>
        </p:spPr>
        <p:txBody>
          <a:bodyPr wrap="square" lIns="0" tIns="0" rIns="0" bIns="0" rtlCol="0" anchor="ctr"/>
          <a:lstStyle/>
          <a:p>
            <a:pPr algn="ctr" indent="0" marL="0">
              <a:buNone/>
            </a:pPr>
            <a:r>
              <a:rPr lang="en-US" sz="1180" b="1" dirty="0">
                <a:solidFill>
                  <a:srgbClr val="FFFFFF"/>
                </a:solidFill>
                <a:latin typeface="Aptos" pitchFamily="34" charset="0"/>
                <a:ea typeface="Aptos" pitchFamily="34" charset="-122"/>
                <a:cs typeface="Aptos" pitchFamily="34" charset="-120"/>
              </a:rPr>
              <a:t>La prueba mira</a:t>
            </a:r>
            <a:endParaRPr lang="en-US" sz="1180" dirty="0"/>
          </a:p>
        </p:txBody>
      </p:sp>
      <p:sp>
        <p:nvSpPr>
          <p:cNvPr id="19" name="Text 16"/>
          <p:cNvSpPr txBox="1"/>
          <p:nvPr/>
        </p:nvSpPr>
        <p:spPr>
          <a:xfrm>
            <a:off x="7607808" y="2029968"/>
            <a:ext cx="3925519" cy="475488"/>
          </a:xfrm>
          <a:prstGeom prst="rect">
            <a:avLst/>
          </a:prstGeom>
          <a:noFill/>
          <a:ln/>
        </p:spPr>
        <p:txBody>
          <a:bodyPr wrap="square" lIns="0" tIns="0" rIns="0" bIns="0" rtlCol="0" anchor="ctr"/>
          <a:lstStyle/>
          <a:p>
            <a:pPr algn="l" indent="0" marL="0">
              <a:lnSpc>
                <a:spcPct val="110000"/>
              </a:lnSpc>
              <a:buNone/>
            </a:pPr>
            <a:r>
              <a:rPr lang="en-US" sz="1160" i="1" dirty="0">
                <a:solidFill>
                  <a:srgbClr val="52606D"/>
                </a:solidFill>
                <a:latin typeface="Aptos" pitchFamily="34" charset="0"/>
                <a:ea typeface="Aptos" pitchFamily="34" charset="-122"/>
                <a:cs typeface="Aptos" pitchFamily="34" charset="-120"/>
              </a:rPr>
              <a:t>Entre la acción y la comprobación no pasaba nada que la prueba no controlara.</a:t>
            </a:r>
            <a:endParaRPr lang="en-US" sz="1160" dirty="0"/>
          </a:p>
        </p:txBody>
      </p:sp>
      <p:sp>
        <p:nvSpPr>
          <p:cNvPr id="20" name="Text 17"/>
          <p:cNvSpPr txBox="1"/>
          <p:nvPr/>
        </p:nvSpPr>
        <p:spPr>
          <a:xfrm>
            <a:off x="658368" y="2798064"/>
            <a:ext cx="73152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EN LA PÁGINA · AL APRETAR «RESERVAR»</a:t>
            </a:r>
            <a:endParaRPr lang="en-US" sz="960" dirty="0"/>
          </a:p>
        </p:txBody>
      </p:sp>
      <p:sp>
        <p:nvSpPr>
          <p:cNvPr id="21" name="Shape 18"/>
          <p:cNvSpPr/>
          <p:nvPr/>
        </p:nvSpPr>
        <p:spPr>
          <a:xfrm>
            <a:off x="658368" y="3072384"/>
            <a:ext cx="1721053" cy="914400"/>
          </a:xfrm>
          <a:prstGeom prst="rect">
            <a:avLst/>
          </a:prstGeom>
          <a:solidFill>
            <a:srgbClr val="FFFFFF"/>
          </a:solidFill>
          <a:ln w="12700">
            <a:solidFill>
              <a:srgbClr val="FFFFFF"/>
            </a:solidFill>
            <a:prstDash val="solid"/>
          </a:ln>
        </p:spPr>
      </p:sp>
      <p:sp>
        <p:nvSpPr>
          <p:cNvPr id="22" name="Shape 19"/>
          <p:cNvSpPr/>
          <p:nvPr/>
        </p:nvSpPr>
        <p:spPr>
          <a:xfrm>
            <a:off x="658368" y="3072384"/>
            <a:ext cx="1721053" cy="54864"/>
          </a:xfrm>
          <a:prstGeom prst="rect">
            <a:avLst/>
          </a:prstGeom>
          <a:solidFill>
            <a:srgbClr val="102A43"/>
          </a:solidFill>
          <a:ln w="12700">
            <a:solidFill>
              <a:srgbClr val="102A43"/>
            </a:solidFill>
            <a:prstDash val="solid"/>
          </a:ln>
        </p:spPr>
      </p:sp>
      <p:sp>
        <p:nvSpPr>
          <p:cNvPr id="23" name="Text 20"/>
          <p:cNvSpPr txBox="1"/>
          <p:nvPr/>
        </p:nvSpPr>
        <p:spPr>
          <a:xfrm>
            <a:off x="804672" y="3218688"/>
            <a:ext cx="365760" cy="201168"/>
          </a:xfrm>
          <a:prstGeom prst="rect">
            <a:avLst/>
          </a:prstGeom>
          <a:noFill/>
          <a:ln/>
        </p:spPr>
        <p:txBody>
          <a:bodyPr wrap="square" lIns="0" tIns="0" rIns="0" bIns="0" rtlCol="0" anchor="t"/>
          <a:lstStyle/>
          <a:p>
            <a:pPr algn="l" indent="0" marL="0">
              <a:buNone/>
            </a:pPr>
            <a:r>
              <a:rPr lang="en-US" sz="1300" b="1" dirty="0">
                <a:solidFill>
                  <a:srgbClr val="102A43"/>
                </a:solidFill>
                <a:latin typeface="Aptos Display" pitchFamily="34" charset="0"/>
                <a:ea typeface="Aptos Display" pitchFamily="34" charset="-122"/>
                <a:cs typeface="Aptos Display" pitchFamily="34" charset="-120"/>
              </a:rPr>
              <a:t>1</a:t>
            </a:r>
            <a:endParaRPr lang="en-US" sz="1300" dirty="0"/>
          </a:p>
        </p:txBody>
      </p:sp>
      <p:sp>
        <p:nvSpPr>
          <p:cNvPr id="24" name="Text 21"/>
          <p:cNvSpPr txBox="1"/>
          <p:nvPr/>
        </p:nvSpPr>
        <p:spPr>
          <a:xfrm>
            <a:off x="804672" y="3456432"/>
            <a:ext cx="1446733" cy="457200"/>
          </a:xfrm>
          <a:prstGeom prst="rect">
            <a:avLst/>
          </a:prstGeom>
          <a:noFill/>
          <a:ln/>
        </p:spPr>
        <p:txBody>
          <a:bodyPr wrap="square" lIns="0" tIns="0" rIns="0" bIns="0" rtlCol="0" anchor="t"/>
          <a:lstStyle/>
          <a:p>
            <a:pPr algn="l" indent="0" marL="0">
              <a:lnSpc>
                <a:spcPct val="105000"/>
              </a:lnSpc>
              <a:buNone/>
            </a:pPr>
            <a:r>
              <a:rPr lang="en-US" sz="1100" b="1" dirty="0">
                <a:solidFill>
                  <a:srgbClr val="243B53"/>
                </a:solidFill>
                <a:latin typeface="Aptos" pitchFamily="34" charset="0"/>
                <a:ea typeface="Aptos" pitchFamily="34" charset="-122"/>
                <a:cs typeface="Aptos" pitchFamily="34" charset="-120"/>
              </a:rPr>
              <a:t>Envía la reserva a la API</a:t>
            </a:r>
            <a:endParaRPr lang="en-US" sz="1100" dirty="0"/>
          </a:p>
        </p:txBody>
      </p:sp>
      <p:sp>
        <p:nvSpPr>
          <p:cNvPr id="25" name="Shape 22"/>
          <p:cNvSpPr/>
          <p:nvPr/>
        </p:nvSpPr>
        <p:spPr>
          <a:xfrm>
            <a:off x="2489149" y="3072384"/>
            <a:ext cx="1721053" cy="914400"/>
          </a:xfrm>
          <a:prstGeom prst="rect">
            <a:avLst/>
          </a:prstGeom>
          <a:solidFill>
            <a:srgbClr val="F2E7D9"/>
          </a:solidFill>
          <a:ln w="12700">
            <a:solidFill>
              <a:srgbClr val="F2E7D9"/>
            </a:solidFill>
            <a:prstDash val="solid"/>
          </a:ln>
        </p:spPr>
      </p:sp>
      <p:sp>
        <p:nvSpPr>
          <p:cNvPr id="26" name="Shape 23"/>
          <p:cNvSpPr/>
          <p:nvPr/>
        </p:nvSpPr>
        <p:spPr>
          <a:xfrm>
            <a:off x="2489149" y="3072384"/>
            <a:ext cx="1721053" cy="54864"/>
          </a:xfrm>
          <a:prstGeom prst="rect">
            <a:avLst/>
          </a:prstGeom>
          <a:solidFill>
            <a:srgbClr val="8A6A12"/>
          </a:solidFill>
          <a:ln w="12700">
            <a:solidFill>
              <a:srgbClr val="8A6A12"/>
            </a:solidFill>
            <a:prstDash val="solid"/>
          </a:ln>
        </p:spPr>
      </p:sp>
      <p:sp>
        <p:nvSpPr>
          <p:cNvPr id="27" name="Text 24"/>
          <p:cNvSpPr txBox="1"/>
          <p:nvPr/>
        </p:nvSpPr>
        <p:spPr>
          <a:xfrm>
            <a:off x="2635453" y="3218688"/>
            <a:ext cx="365760" cy="201168"/>
          </a:xfrm>
          <a:prstGeom prst="rect">
            <a:avLst/>
          </a:prstGeom>
          <a:noFill/>
          <a:ln/>
        </p:spPr>
        <p:txBody>
          <a:bodyPr wrap="square" lIns="0" tIns="0" rIns="0" bIns="0" rtlCol="0" anchor="t"/>
          <a:lstStyle/>
          <a:p>
            <a:pPr algn="l" indent="0" marL="0">
              <a:buNone/>
            </a:pPr>
            <a:r>
              <a:rPr lang="en-US" sz="1300" b="1" dirty="0">
                <a:solidFill>
                  <a:srgbClr val="8A6A12"/>
                </a:solidFill>
                <a:latin typeface="Aptos Display" pitchFamily="34" charset="0"/>
                <a:ea typeface="Aptos Display" pitchFamily="34" charset="-122"/>
                <a:cs typeface="Aptos Display" pitchFamily="34" charset="-120"/>
              </a:rPr>
              <a:t>2</a:t>
            </a:r>
            <a:endParaRPr lang="en-US" sz="1300" dirty="0"/>
          </a:p>
        </p:txBody>
      </p:sp>
      <p:sp>
        <p:nvSpPr>
          <p:cNvPr id="28" name="Text 25"/>
          <p:cNvSpPr txBox="1"/>
          <p:nvPr/>
        </p:nvSpPr>
        <p:spPr>
          <a:xfrm>
            <a:off x="2635453" y="3456432"/>
            <a:ext cx="1446733" cy="457200"/>
          </a:xfrm>
          <a:prstGeom prst="rect">
            <a:avLst/>
          </a:prstGeom>
          <a:noFill/>
          <a:ln/>
        </p:spPr>
        <p:txBody>
          <a:bodyPr wrap="square" lIns="0" tIns="0" rIns="0" bIns="0" rtlCol="0" anchor="t"/>
          <a:lstStyle/>
          <a:p>
            <a:pPr algn="l" indent="0" marL="0">
              <a:lnSpc>
                <a:spcPct val="105000"/>
              </a:lnSpc>
              <a:buNone/>
            </a:pPr>
            <a:r>
              <a:rPr lang="en-US" sz="1100" b="1" dirty="0">
                <a:solidFill>
                  <a:srgbClr val="243B53"/>
                </a:solidFill>
                <a:latin typeface="Aptos" pitchFamily="34" charset="0"/>
                <a:ea typeface="Aptos" pitchFamily="34" charset="-122"/>
                <a:cs typeface="Aptos" pitchFamily="34" charset="-120"/>
              </a:rPr>
              <a:t>Espera la respuesta</a:t>
            </a:r>
            <a:endParaRPr lang="en-US" sz="1100" dirty="0"/>
          </a:p>
        </p:txBody>
      </p:sp>
      <p:sp>
        <p:nvSpPr>
          <p:cNvPr id="29" name="Shape 26"/>
          <p:cNvSpPr/>
          <p:nvPr/>
        </p:nvSpPr>
        <p:spPr>
          <a:xfrm>
            <a:off x="4319930" y="3072384"/>
            <a:ext cx="1721053" cy="914400"/>
          </a:xfrm>
          <a:prstGeom prst="rect">
            <a:avLst/>
          </a:prstGeom>
          <a:solidFill>
            <a:srgbClr val="FFFFFF"/>
          </a:solidFill>
          <a:ln w="12700">
            <a:solidFill>
              <a:srgbClr val="FFFFFF"/>
            </a:solidFill>
            <a:prstDash val="solid"/>
          </a:ln>
        </p:spPr>
      </p:sp>
      <p:sp>
        <p:nvSpPr>
          <p:cNvPr id="30" name="Shape 27"/>
          <p:cNvSpPr/>
          <p:nvPr/>
        </p:nvSpPr>
        <p:spPr>
          <a:xfrm>
            <a:off x="4319930" y="3072384"/>
            <a:ext cx="1721053" cy="54864"/>
          </a:xfrm>
          <a:prstGeom prst="rect">
            <a:avLst/>
          </a:prstGeom>
          <a:solidFill>
            <a:srgbClr val="102A43"/>
          </a:solidFill>
          <a:ln w="12700">
            <a:solidFill>
              <a:srgbClr val="102A43"/>
            </a:solidFill>
            <a:prstDash val="solid"/>
          </a:ln>
        </p:spPr>
      </p:sp>
      <p:sp>
        <p:nvSpPr>
          <p:cNvPr id="31" name="Text 28"/>
          <p:cNvSpPr txBox="1"/>
          <p:nvPr/>
        </p:nvSpPr>
        <p:spPr>
          <a:xfrm>
            <a:off x="4466234" y="3218688"/>
            <a:ext cx="365760" cy="201168"/>
          </a:xfrm>
          <a:prstGeom prst="rect">
            <a:avLst/>
          </a:prstGeom>
          <a:noFill/>
          <a:ln/>
        </p:spPr>
        <p:txBody>
          <a:bodyPr wrap="square" lIns="0" tIns="0" rIns="0" bIns="0" rtlCol="0" anchor="t"/>
          <a:lstStyle/>
          <a:p>
            <a:pPr algn="l" indent="0" marL="0">
              <a:buNone/>
            </a:pPr>
            <a:r>
              <a:rPr lang="en-US" sz="1300" b="1" dirty="0">
                <a:solidFill>
                  <a:srgbClr val="102A43"/>
                </a:solidFill>
                <a:latin typeface="Aptos Display" pitchFamily="34" charset="0"/>
                <a:ea typeface="Aptos Display" pitchFamily="34" charset="-122"/>
                <a:cs typeface="Aptos Display" pitchFamily="34" charset="-120"/>
              </a:rPr>
              <a:t>3</a:t>
            </a:r>
            <a:endParaRPr lang="en-US" sz="1300" dirty="0"/>
          </a:p>
        </p:txBody>
      </p:sp>
      <p:sp>
        <p:nvSpPr>
          <p:cNvPr id="32" name="Text 29"/>
          <p:cNvSpPr txBox="1"/>
          <p:nvPr/>
        </p:nvSpPr>
        <p:spPr>
          <a:xfrm>
            <a:off x="4466234" y="3456432"/>
            <a:ext cx="1446733" cy="457200"/>
          </a:xfrm>
          <a:prstGeom prst="rect">
            <a:avLst/>
          </a:prstGeom>
          <a:noFill/>
          <a:ln/>
        </p:spPr>
        <p:txBody>
          <a:bodyPr wrap="square" lIns="0" tIns="0" rIns="0" bIns="0" rtlCol="0" anchor="t"/>
          <a:lstStyle/>
          <a:p>
            <a:pPr algn="l" indent="0" marL="0">
              <a:lnSpc>
                <a:spcPct val="105000"/>
              </a:lnSpc>
              <a:buNone/>
            </a:pPr>
            <a:r>
              <a:rPr lang="en-US" sz="1100" b="1" dirty="0">
                <a:solidFill>
                  <a:srgbClr val="243B53"/>
                </a:solidFill>
                <a:latin typeface="Aptos" pitchFamily="34" charset="0"/>
                <a:ea typeface="Aptos" pitchFamily="34" charset="-122"/>
                <a:cs typeface="Aptos" pitchFamily="34" charset="-120"/>
              </a:rPr>
              <a:t>Muestra la confirmación</a:t>
            </a:r>
            <a:endParaRPr lang="en-US" sz="1100" dirty="0"/>
          </a:p>
        </p:txBody>
      </p:sp>
      <p:sp>
        <p:nvSpPr>
          <p:cNvPr id="33" name="Shape 30"/>
          <p:cNvSpPr/>
          <p:nvPr/>
        </p:nvSpPr>
        <p:spPr>
          <a:xfrm>
            <a:off x="6150712" y="3072384"/>
            <a:ext cx="1721053" cy="914400"/>
          </a:xfrm>
          <a:prstGeom prst="rect">
            <a:avLst/>
          </a:prstGeom>
          <a:solidFill>
            <a:srgbClr val="FFFFFF"/>
          </a:solidFill>
          <a:ln w="12700">
            <a:solidFill>
              <a:srgbClr val="FFFFFF"/>
            </a:solidFill>
            <a:prstDash val="solid"/>
          </a:ln>
        </p:spPr>
      </p:sp>
      <p:sp>
        <p:nvSpPr>
          <p:cNvPr id="34" name="Shape 31"/>
          <p:cNvSpPr/>
          <p:nvPr/>
        </p:nvSpPr>
        <p:spPr>
          <a:xfrm>
            <a:off x="6150712" y="3072384"/>
            <a:ext cx="1721053" cy="54864"/>
          </a:xfrm>
          <a:prstGeom prst="rect">
            <a:avLst/>
          </a:prstGeom>
          <a:solidFill>
            <a:srgbClr val="102A43"/>
          </a:solidFill>
          <a:ln w="12700">
            <a:solidFill>
              <a:srgbClr val="102A43"/>
            </a:solidFill>
            <a:prstDash val="solid"/>
          </a:ln>
        </p:spPr>
      </p:sp>
      <p:sp>
        <p:nvSpPr>
          <p:cNvPr id="35" name="Text 32"/>
          <p:cNvSpPr txBox="1"/>
          <p:nvPr/>
        </p:nvSpPr>
        <p:spPr>
          <a:xfrm>
            <a:off x="6297016" y="3218688"/>
            <a:ext cx="365760" cy="201168"/>
          </a:xfrm>
          <a:prstGeom prst="rect">
            <a:avLst/>
          </a:prstGeom>
          <a:noFill/>
          <a:ln/>
        </p:spPr>
        <p:txBody>
          <a:bodyPr wrap="square" lIns="0" tIns="0" rIns="0" bIns="0" rtlCol="0" anchor="t"/>
          <a:lstStyle/>
          <a:p>
            <a:pPr algn="l" indent="0" marL="0">
              <a:buNone/>
            </a:pPr>
            <a:r>
              <a:rPr lang="en-US" sz="1300" b="1" dirty="0">
                <a:solidFill>
                  <a:srgbClr val="102A43"/>
                </a:solidFill>
                <a:latin typeface="Aptos Display" pitchFamily="34" charset="0"/>
                <a:ea typeface="Aptos Display" pitchFamily="34" charset="-122"/>
                <a:cs typeface="Aptos Display" pitchFamily="34" charset="-120"/>
              </a:rPr>
              <a:t>4</a:t>
            </a:r>
            <a:endParaRPr lang="en-US" sz="1300" dirty="0"/>
          </a:p>
        </p:txBody>
      </p:sp>
      <p:sp>
        <p:nvSpPr>
          <p:cNvPr id="36" name="Text 33"/>
          <p:cNvSpPr txBox="1"/>
          <p:nvPr/>
        </p:nvSpPr>
        <p:spPr>
          <a:xfrm>
            <a:off x="6297016" y="3456432"/>
            <a:ext cx="1446733" cy="457200"/>
          </a:xfrm>
          <a:prstGeom prst="rect">
            <a:avLst/>
          </a:prstGeom>
          <a:noFill/>
          <a:ln/>
        </p:spPr>
        <p:txBody>
          <a:bodyPr wrap="square" lIns="0" tIns="0" rIns="0" bIns="0" rtlCol="0" anchor="t"/>
          <a:lstStyle/>
          <a:p>
            <a:pPr algn="l" indent="0" marL="0">
              <a:lnSpc>
                <a:spcPct val="105000"/>
              </a:lnSpc>
              <a:buNone/>
            </a:pPr>
            <a:r>
              <a:rPr lang="en-US" sz="1100" b="1" dirty="0">
                <a:solidFill>
                  <a:srgbClr val="243B53"/>
                </a:solidFill>
                <a:latin typeface="Aptos" pitchFamily="34" charset="0"/>
                <a:ea typeface="Aptos" pitchFamily="34" charset="-122"/>
                <a:cs typeface="Aptos" pitchFamily="34" charset="-120"/>
              </a:rPr>
              <a:t>Pide el estado de los bloques</a:t>
            </a:r>
            <a:endParaRPr lang="en-US" sz="1100" dirty="0"/>
          </a:p>
        </p:txBody>
      </p:sp>
      <p:sp>
        <p:nvSpPr>
          <p:cNvPr id="37" name="Shape 34"/>
          <p:cNvSpPr/>
          <p:nvPr/>
        </p:nvSpPr>
        <p:spPr>
          <a:xfrm>
            <a:off x="7981493" y="3072384"/>
            <a:ext cx="1721053" cy="914400"/>
          </a:xfrm>
          <a:prstGeom prst="rect">
            <a:avLst/>
          </a:prstGeom>
          <a:solidFill>
            <a:srgbClr val="F2E7D9"/>
          </a:solidFill>
          <a:ln w="12700">
            <a:solidFill>
              <a:srgbClr val="F2E7D9"/>
            </a:solidFill>
            <a:prstDash val="solid"/>
          </a:ln>
        </p:spPr>
      </p:sp>
      <p:sp>
        <p:nvSpPr>
          <p:cNvPr id="38" name="Shape 35"/>
          <p:cNvSpPr/>
          <p:nvPr/>
        </p:nvSpPr>
        <p:spPr>
          <a:xfrm>
            <a:off x="7981493" y="3072384"/>
            <a:ext cx="1721053" cy="54864"/>
          </a:xfrm>
          <a:prstGeom prst="rect">
            <a:avLst/>
          </a:prstGeom>
          <a:solidFill>
            <a:srgbClr val="8A6A12"/>
          </a:solidFill>
          <a:ln w="12700">
            <a:solidFill>
              <a:srgbClr val="8A6A12"/>
            </a:solidFill>
            <a:prstDash val="solid"/>
          </a:ln>
        </p:spPr>
      </p:sp>
      <p:sp>
        <p:nvSpPr>
          <p:cNvPr id="39" name="Text 36"/>
          <p:cNvSpPr txBox="1"/>
          <p:nvPr/>
        </p:nvSpPr>
        <p:spPr>
          <a:xfrm>
            <a:off x="8127797" y="3218688"/>
            <a:ext cx="365760" cy="201168"/>
          </a:xfrm>
          <a:prstGeom prst="rect">
            <a:avLst/>
          </a:prstGeom>
          <a:noFill/>
          <a:ln/>
        </p:spPr>
        <p:txBody>
          <a:bodyPr wrap="square" lIns="0" tIns="0" rIns="0" bIns="0" rtlCol="0" anchor="t"/>
          <a:lstStyle/>
          <a:p>
            <a:pPr algn="l" indent="0" marL="0">
              <a:buNone/>
            </a:pPr>
            <a:r>
              <a:rPr lang="en-US" sz="1300" b="1" dirty="0">
                <a:solidFill>
                  <a:srgbClr val="8A6A12"/>
                </a:solidFill>
                <a:latin typeface="Aptos Display" pitchFamily="34" charset="0"/>
                <a:ea typeface="Aptos Display" pitchFamily="34" charset="-122"/>
                <a:cs typeface="Aptos Display" pitchFamily="34" charset="-120"/>
              </a:rPr>
              <a:t>5</a:t>
            </a:r>
            <a:endParaRPr lang="en-US" sz="1300" dirty="0"/>
          </a:p>
        </p:txBody>
      </p:sp>
      <p:sp>
        <p:nvSpPr>
          <p:cNvPr id="40" name="Text 37"/>
          <p:cNvSpPr txBox="1"/>
          <p:nvPr/>
        </p:nvSpPr>
        <p:spPr>
          <a:xfrm>
            <a:off x="8127797" y="3456432"/>
            <a:ext cx="1446733" cy="457200"/>
          </a:xfrm>
          <a:prstGeom prst="rect">
            <a:avLst/>
          </a:prstGeom>
          <a:noFill/>
          <a:ln/>
        </p:spPr>
        <p:txBody>
          <a:bodyPr wrap="square" lIns="0" tIns="0" rIns="0" bIns="0" rtlCol="0" anchor="t"/>
          <a:lstStyle/>
          <a:p>
            <a:pPr algn="l" indent="0" marL="0">
              <a:lnSpc>
                <a:spcPct val="105000"/>
              </a:lnSpc>
              <a:buNone/>
            </a:pPr>
            <a:r>
              <a:rPr lang="en-US" sz="1100" b="1" dirty="0">
                <a:solidFill>
                  <a:srgbClr val="243B53"/>
                </a:solidFill>
                <a:latin typeface="Aptos" pitchFamily="34" charset="0"/>
                <a:ea typeface="Aptos" pitchFamily="34" charset="-122"/>
                <a:cs typeface="Aptos" pitchFamily="34" charset="-120"/>
              </a:rPr>
              <a:t>Espera esa respuesta</a:t>
            </a:r>
            <a:endParaRPr lang="en-US" sz="1100" dirty="0"/>
          </a:p>
        </p:txBody>
      </p:sp>
      <p:sp>
        <p:nvSpPr>
          <p:cNvPr id="41" name="Shape 38"/>
          <p:cNvSpPr/>
          <p:nvPr/>
        </p:nvSpPr>
        <p:spPr>
          <a:xfrm>
            <a:off x="9812274" y="3072384"/>
            <a:ext cx="1721053" cy="914400"/>
          </a:xfrm>
          <a:prstGeom prst="rect">
            <a:avLst/>
          </a:prstGeom>
          <a:solidFill>
            <a:srgbClr val="FFFFFF"/>
          </a:solidFill>
          <a:ln w="12700">
            <a:solidFill>
              <a:srgbClr val="FFFFFF"/>
            </a:solidFill>
            <a:prstDash val="solid"/>
          </a:ln>
        </p:spPr>
      </p:sp>
      <p:sp>
        <p:nvSpPr>
          <p:cNvPr id="42" name="Shape 39"/>
          <p:cNvSpPr/>
          <p:nvPr/>
        </p:nvSpPr>
        <p:spPr>
          <a:xfrm>
            <a:off x="9812274" y="3072384"/>
            <a:ext cx="1721053" cy="54864"/>
          </a:xfrm>
          <a:prstGeom prst="rect">
            <a:avLst/>
          </a:prstGeom>
          <a:solidFill>
            <a:srgbClr val="2E7D4F"/>
          </a:solidFill>
          <a:ln w="12700">
            <a:solidFill>
              <a:srgbClr val="2E7D4F"/>
            </a:solidFill>
            <a:prstDash val="solid"/>
          </a:ln>
        </p:spPr>
      </p:sp>
      <p:sp>
        <p:nvSpPr>
          <p:cNvPr id="43" name="Text 40"/>
          <p:cNvSpPr txBox="1"/>
          <p:nvPr/>
        </p:nvSpPr>
        <p:spPr>
          <a:xfrm>
            <a:off x="9958578" y="3218688"/>
            <a:ext cx="365760" cy="201168"/>
          </a:xfrm>
          <a:prstGeom prst="rect">
            <a:avLst/>
          </a:prstGeom>
          <a:noFill/>
          <a:ln/>
        </p:spPr>
        <p:txBody>
          <a:bodyPr wrap="square" lIns="0" tIns="0" rIns="0" bIns="0" rtlCol="0" anchor="t"/>
          <a:lstStyle/>
          <a:p>
            <a:pPr algn="l" indent="0" marL="0">
              <a:buNone/>
            </a:pPr>
            <a:r>
              <a:rPr lang="en-US" sz="1300" b="1" dirty="0">
                <a:solidFill>
                  <a:srgbClr val="2E7D4F"/>
                </a:solidFill>
                <a:latin typeface="Aptos Display" pitchFamily="34" charset="0"/>
                <a:ea typeface="Aptos Display" pitchFamily="34" charset="-122"/>
                <a:cs typeface="Aptos Display" pitchFamily="34" charset="-120"/>
              </a:rPr>
              <a:t>6</a:t>
            </a:r>
            <a:endParaRPr lang="en-US" sz="1300" dirty="0"/>
          </a:p>
        </p:txBody>
      </p:sp>
      <p:sp>
        <p:nvSpPr>
          <p:cNvPr id="44" name="Text 41"/>
          <p:cNvSpPr txBox="1"/>
          <p:nvPr/>
        </p:nvSpPr>
        <p:spPr>
          <a:xfrm>
            <a:off x="9958578" y="3456432"/>
            <a:ext cx="1446733" cy="457200"/>
          </a:xfrm>
          <a:prstGeom prst="rect">
            <a:avLst/>
          </a:prstGeom>
          <a:noFill/>
          <a:ln/>
        </p:spPr>
        <p:txBody>
          <a:bodyPr wrap="square" lIns="0" tIns="0" rIns="0" bIns="0" rtlCol="0" anchor="t"/>
          <a:lstStyle/>
          <a:p>
            <a:pPr algn="l" indent="0" marL="0">
              <a:lnSpc>
                <a:spcPct val="105000"/>
              </a:lnSpc>
              <a:buNone/>
            </a:pPr>
            <a:r>
              <a:rPr lang="en-US" sz="1100" b="1" dirty="0">
                <a:solidFill>
                  <a:srgbClr val="243B53"/>
                </a:solidFill>
                <a:latin typeface="Aptos" pitchFamily="34" charset="0"/>
                <a:ea typeface="Aptos" pitchFamily="34" charset="-122"/>
                <a:cs typeface="Aptos" pitchFamily="34" charset="-120"/>
              </a:rPr>
              <a:t>Redibuja la lista</a:t>
            </a:r>
            <a:endParaRPr lang="en-US" sz="1100" dirty="0"/>
          </a:p>
        </p:txBody>
      </p:sp>
      <p:sp>
        <p:nvSpPr>
          <p:cNvPr id="45" name="Shape 42"/>
          <p:cNvSpPr/>
          <p:nvPr/>
        </p:nvSpPr>
        <p:spPr>
          <a:xfrm>
            <a:off x="2434285" y="3035808"/>
            <a:ext cx="0" cy="1170432"/>
          </a:xfrm>
          <a:prstGeom prst="line">
            <a:avLst/>
          </a:prstGeom>
          <a:noFill/>
          <a:ln w="12700">
            <a:solidFill>
              <a:srgbClr val="D62027"/>
            </a:solidFill>
            <a:prstDash val="dash"/>
          </a:ln>
        </p:spPr>
      </p:sp>
      <p:sp>
        <p:nvSpPr>
          <p:cNvPr id="46" name="Text 43"/>
          <p:cNvSpPr txBox="1"/>
          <p:nvPr/>
        </p:nvSpPr>
        <p:spPr>
          <a:xfrm>
            <a:off x="2562301" y="4059936"/>
            <a:ext cx="8595360" cy="237744"/>
          </a:xfrm>
          <a:prstGeom prst="rect">
            <a:avLst/>
          </a:prstGeom>
          <a:noFill/>
          <a:ln/>
        </p:spPr>
        <p:txBody>
          <a:bodyPr wrap="square" lIns="0" tIns="0" rIns="0" bIns="0" rtlCol="0" anchor="t"/>
          <a:lstStyle/>
          <a:p>
            <a:pPr algn="l" indent="0" marL="0">
              <a:buNone/>
            </a:pPr>
            <a:r>
              <a:rPr lang="en-US" sz="1180" b="1" dirty="0">
                <a:solidFill>
                  <a:srgbClr val="B3181E"/>
                </a:solidFill>
                <a:latin typeface="Aptos" pitchFamily="34" charset="0"/>
                <a:ea typeface="Aptos" pitchFamily="34" charset="-122"/>
                <a:cs typeface="Aptos" pitchFamily="34" charset="-120"/>
              </a:rPr>
              <a:t>Si la prueba mira aquí, justo después del clic, la lista todavía es la de antes.</a:t>
            </a:r>
            <a:endParaRPr lang="en-US" sz="1180" dirty="0"/>
          </a:p>
        </p:txBody>
      </p:sp>
      <p:sp>
        <p:nvSpPr>
          <p:cNvPr id="47" name="Shape 44"/>
          <p:cNvSpPr/>
          <p:nvPr/>
        </p:nvSpPr>
        <p:spPr>
          <a:xfrm>
            <a:off x="658368" y="4498848"/>
            <a:ext cx="10874959" cy="969264"/>
          </a:xfrm>
          <a:prstGeom prst="rect">
            <a:avLst/>
          </a:prstGeom>
          <a:solidFill>
            <a:srgbClr val="1D3A57"/>
          </a:solidFill>
          <a:ln w="12700">
            <a:solidFill>
              <a:srgbClr val="1D3A57"/>
            </a:solidFill>
            <a:prstDash val="solid"/>
          </a:ln>
        </p:spPr>
      </p:sp>
      <p:sp>
        <p:nvSpPr>
          <p:cNvPr id="48" name="Text 45"/>
          <p:cNvSpPr txBox="1"/>
          <p:nvPr/>
        </p:nvSpPr>
        <p:spPr>
          <a:xfrm>
            <a:off x="969264" y="4608576"/>
            <a:ext cx="36576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ASÍNCRONA</a:t>
            </a:r>
            <a:endParaRPr lang="en-US" sz="960" dirty="0"/>
          </a:p>
        </p:txBody>
      </p:sp>
      <p:sp>
        <p:nvSpPr>
          <p:cNvPr id="49" name="Text 46"/>
          <p:cNvSpPr txBox="1"/>
          <p:nvPr/>
        </p:nvSpPr>
        <p:spPr>
          <a:xfrm>
            <a:off x="969264" y="4846320"/>
            <a:ext cx="10253167" cy="566928"/>
          </a:xfrm>
          <a:prstGeom prst="rect">
            <a:avLst/>
          </a:prstGeom>
          <a:noFill/>
          <a:ln/>
        </p:spPr>
        <p:txBody>
          <a:bodyPr wrap="square" lIns="0" tIns="0" rIns="0" bIns="0" rtlCol="0" anchor="t"/>
          <a:lstStyle/>
          <a:p>
            <a:pPr algn="l" indent="0" marL="0">
              <a:lnSpc>
                <a:spcPct val="112000"/>
              </a:lnSpc>
              <a:buNone/>
            </a:pPr>
            <a:r>
              <a:rPr lang="en-US" sz="1220" dirty="0">
                <a:solidFill>
                  <a:srgbClr val="FFFFFF"/>
                </a:solidFill>
                <a:latin typeface="Aptos" pitchFamily="34" charset="0"/>
                <a:ea typeface="Aptos" pitchFamily="34" charset="-122"/>
                <a:cs typeface="Aptos" pitchFamily="34" charset="-120"/>
              </a:rPr>
              <a:t>La página no se queda detenida esperando: sigue funcionando, y cada parte ocurre cuando llega lo que necesita. Para la persona es invisible, porque todo pasa en décimas de segundo. Para una prueba es decisivo.</a:t>
            </a:r>
            <a:endParaRPr lang="en-US" sz="1220" dirty="0"/>
          </a:p>
        </p:txBody>
      </p:sp>
      <p:sp>
        <p:nvSpPr>
          <p:cNvPr id="50" name="Shape 47"/>
          <p:cNvSpPr/>
          <p:nvPr/>
        </p:nvSpPr>
        <p:spPr>
          <a:xfrm>
            <a:off x="658368" y="5650992"/>
            <a:ext cx="10874959" cy="548640"/>
          </a:xfrm>
          <a:prstGeom prst="rect">
            <a:avLst/>
          </a:prstGeom>
          <a:solidFill>
            <a:srgbClr val="102A43"/>
          </a:solidFill>
          <a:ln w="12700">
            <a:solidFill>
              <a:srgbClr val="102A43"/>
            </a:solidFill>
            <a:prstDash val="solid"/>
          </a:ln>
        </p:spPr>
      </p:sp>
      <p:sp>
        <p:nvSpPr>
          <p:cNvPr id="51" name="Text 4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prueba ya no controla cuándo existe lo que quiere comprobar.</a:t>
            </a:r>
            <a:endParaRPr lang="en-US" sz="13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ESPERA FIJA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600" b="1" dirty="0">
                <a:solidFill>
                  <a:srgbClr val="243B53"/>
                </a:solidFill>
                <a:latin typeface="Aptos Display" pitchFamily="34" charset="0"/>
                <a:ea typeface="Aptos Display" pitchFamily="34" charset="-122"/>
                <a:cs typeface="Aptos Display" pitchFamily="34" charset="-120"/>
              </a:rPr>
              <a:t>La forma intuitiva: esperar un rato antes de mirar</a:t>
            </a:r>
            <a:endParaRPr lang="en-US" sz="2600" dirty="0"/>
          </a:p>
        </p:txBody>
      </p:sp>
      <p:sp>
        <p:nvSpPr>
          <p:cNvPr id="10" name="Shape 7"/>
          <p:cNvSpPr/>
          <p:nvPr/>
        </p:nvSpPr>
        <p:spPr>
          <a:xfrm>
            <a:off x="658368" y="1737360"/>
            <a:ext cx="10874959" cy="2067052"/>
          </a:xfrm>
          <a:prstGeom prst="roundRect">
            <a:avLst>
              <a:gd name="adj" fmla="val 2212"/>
            </a:avLst>
          </a:prstGeom>
          <a:solidFill>
            <a:srgbClr val="102A43"/>
          </a:solidFill>
          <a:ln w="12700">
            <a:solidFill>
              <a:srgbClr val="102A43"/>
            </a:solidFill>
            <a:prstDash val="solid"/>
          </a:ln>
        </p:spPr>
      </p:sp>
      <p:sp>
        <p:nvSpPr>
          <p:cNvPr id="11" name="Shape 8"/>
          <p:cNvSpPr/>
          <p:nvPr/>
        </p:nvSpPr>
        <p:spPr>
          <a:xfrm>
            <a:off x="658368" y="2093976"/>
            <a:ext cx="10874959" cy="9144"/>
          </a:xfrm>
          <a:prstGeom prst="rect">
            <a:avLst/>
          </a:prstGeom>
          <a:solidFill>
            <a:srgbClr val="284B75"/>
          </a:solidFill>
          <a:ln w="12700">
            <a:solidFill>
              <a:srgbClr val="284B75"/>
            </a:solidFill>
            <a:prstDash val="solid"/>
          </a:ln>
        </p:spPr>
      </p:sp>
      <p:sp>
        <p:nvSpPr>
          <p:cNvPr id="12" name="Text 9"/>
          <p:cNvSpPr/>
          <p:nvPr/>
        </p:nvSpPr>
        <p:spPr>
          <a:xfrm>
            <a:off x="841248" y="1828800"/>
            <a:ext cx="10509199"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Reserva el bloque 4 y comprueba que la lista lo muestre tomado</a:t>
            </a:r>
            <a:endParaRPr lang="en-US" sz="960" dirty="0"/>
          </a:p>
        </p:txBody>
      </p:sp>
      <p:sp>
        <p:nvSpPr>
          <p:cNvPr id="13" name="Shape 10"/>
          <p:cNvSpPr/>
          <p:nvPr/>
        </p:nvSpPr>
        <p:spPr>
          <a:xfrm>
            <a:off x="713232" y="2415159"/>
            <a:ext cx="10362895" cy="190683"/>
          </a:xfrm>
          <a:prstGeom prst="rect">
            <a:avLst/>
          </a:prstGeom>
          <a:solidFill>
            <a:srgbClr val="E0BC5A">
              <a:alpha val="28000"/>
            </a:srgbClr>
          </a:solidFill>
          <a:ln w="12700">
            <a:solidFill>
              <a:srgbClr val="E0BC5A">
                <a:alpha val="0"/>
              </a:srgbClr>
            </a:solidFill>
            <a:prstDash val="solid"/>
          </a:ln>
        </p:spPr>
      </p:sp>
      <p:sp>
        <p:nvSpPr>
          <p:cNvPr id="14" name="Shape 11"/>
          <p:cNvSpPr/>
          <p:nvPr/>
        </p:nvSpPr>
        <p:spPr>
          <a:xfrm>
            <a:off x="713232" y="2812415"/>
            <a:ext cx="10362895" cy="190683"/>
          </a:xfrm>
          <a:prstGeom prst="rect">
            <a:avLst/>
          </a:prstGeom>
          <a:solidFill>
            <a:srgbClr val="B3181E">
              <a:alpha val="28000"/>
            </a:srgbClr>
          </a:solidFill>
          <a:ln w="12700">
            <a:solidFill>
              <a:srgbClr val="B3181E">
                <a:alpha val="0"/>
              </a:srgbClr>
            </a:solidFill>
            <a:prstDash val="solid"/>
          </a:ln>
        </p:spPr>
      </p:sp>
      <p:sp>
        <p:nvSpPr>
          <p:cNvPr id="15" name="Shape 12"/>
          <p:cNvSpPr/>
          <p:nvPr/>
        </p:nvSpPr>
        <p:spPr>
          <a:xfrm>
            <a:off x="713232" y="3011043"/>
            <a:ext cx="10362895" cy="190683"/>
          </a:xfrm>
          <a:prstGeom prst="rect">
            <a:avLst/>
          </a:prstGeom>
          <a:solidFill>
            <a:srgbClr val="B3181E">
              <a:alpha val="28000"/>
            </a:srgbClr>
          </a:solidFill>
          <a:ln w="12700">
            <a:solidFill>
              <a:srgbClr val="B3181E">
                <a:alpha val="0"/>
              </a:srgbClr>
            </a:solidFill>
            <a:prstDash val="solid"/>
          </a:ln>
        </p:spPr>
      </p:sp>
      <p:sp>
        <p:nvSpPr>
          <p:cNvPr id="16" name="Shape 13"/>
          <p:cNvSpPr/>
          <p:nvPr/>
        </p:nvSpPr>
        <p:spPr>
          <a:xfrm>
            <a:off x="713232" y="3209671"/>
            <a:ext cx="10362895" cy="190683"/>
          </a:xfrm>
          <a:prstGeom prst="rect">
            <a:avLst/>
          </a:prstGeom>
          <a:solidFill>
            <a:srgbClr val="E0BC5A">
              <a:alpha val="28000"/>
            </a:srgbClr>
          </a:solidFill>
          <a:ln w="12700">
            <a:solidFill>
              <a:srgbClr val="E0BC5A">
                <a:alpha val="0"/>
              </a:srgbClr>
            </a:solidFill>
            <a:prstDash val="solid"/>
          </a:ln>
        </p:spPr>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231136"/>
            <a:ext cx="10143439" cy="1445260"/>
          </a:xfrm>
          <a:prstGeom prst="rect">
            <a:avLst/>
          </a:prstGeom>
        </p:spPr>
      </p:pic>
      <p:sp>
        <p:nvSpPr>
          <p:cNvPr id="18" name="Shape 14"/>
          <p:cNvSpPr/>
          <p:nvPr/>
        </p:nvSpPr>
        <p:spPr>
          <a:xfrm>
            <a:off x="11213358" y="2411420"/>
            <a:ext cx="182738" cy="182738"/>
          </a:xfrm>
          <a:prstGeom prst="ellipse">
            <a:avLst/>
          </a:prstGeom>
          <a:solidFill>
            <a:srgbClr val="E0BC5A"/>
          </a:solidFill>
          <a:ln w="12700">
            <a:solidFill>
              <a:srgbClr val="E0BC5A"/>
            </a:solidFill>
            <a:prstDash val="solid"/>
          </a:ln>
        </p:spPr>
      </p:sp>
      <p:sp>
        <p:nvSpPr>
          <p:cNvPr id="19" name="Text 15"/>
          <p:cNvSpPr/>
          <p:nvPr/>
        </p:nvSpPr>
        <p:spPr>
          <a:xfrm>
            <a:off x="11222502" y="2420564"/>
            <a:ext cx="164450" cy="164450"/>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20" name="Shape 16"/>
          <p:cNvSpPr/>
          <p:nvPr/>
        </p:nvSpPr>
        <p:spPr>
          <a:xfrm>
            <a:off x="11213358" y="2808676"/>
            <a:ext cx="182738" cy="182738"/>
          </a:xfrm>
          <a:prstGeom prst="ellipse">
            <a:avLst/>
          </a:prstGeom>
          <a:solidFill>
            <a:srgbClr val="B3181E"/>
          </a:solidFill>
          <a:ln w="12700">
            <a:solidFill>
              <a:srgbClr val="B3181E"/>
            </a:solidFill>
            <a:prstDash val="solid"/>
          </a:ln>
        </p:spPr>
      </p:sp>
      <p:sp>
        <p:nvSpPr>
          <p:cNvPr id="21" name="Text 17"/>
          <p:cNvSpPr/>
          <p:nvPr/>
        </p:nvSpPr>
        <p:spPr>
          <a:xfrm>
            <a:off x="11222502" y="2817820"/>
            <a:ext cx="164450" cy="164450"/>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2</a:t>
            </a:r>
            <a:endParaRPr lang="en-US" sz="940" dirty="0"/>
          </a:p>
        </p:txBody>
      </p:sp>
      <p:sp>
        <p:nvSpPr>
          <p:cNvPr id="22" name="Shape 18"/>
          <p:cNvSpPr/>
          <p:nvPr/>
        </p:nvSpPr>
        <p:spPr>
          <a:xfrm>
            <a:off x="11213358" y="3007304"/>
            <a:ext cx="182738" cy="182738"/>
          </a:xfrm>
          <a:prstGeom prst="ellipse">
            <a:avLst/>
          </a:prstGeom>
          <a:solidFill>
            <a:srgbClr val="B3181E"/>
          </a:solidFill>
          <a:ln w="12700">
            <a:solidFill>
              <a:srgbClr val="B3181E"/>
            </a:solidFill>
            <a:prstDash val="solid"/>
          </a:ln>
        </p:spPr>
      </p:sp>
      <p:sp>
        <p:nvSpPr>
          <p:cNvPr id="23" name="Text 19"/>
          <p:cNvSpPr/>
          <p:nvPr/>
        </p:nvSpPr>
        <p:spPr>
          <a:xfrm>
            <a:off x="11222502" y="3016448"/>
            <a:ext cx="164450" cy="164450"/>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3</a:t>
            </a:r>
            <a:endParaRPr lang="en-US" sz="940" dirty="0"/>
          </a:p>
        </p:txBody>
      </p:sp>
      <p:sp>
        <p:nvSpPr>
          <p:cNvPr id="24" name="Shape 20"/>
          <p:cNvSpPr/>
          <p:nvPr/>
        </p:nvSpPr>
        <p:spPr>
          <a:xfrm>
            <a:off x="11213358" y="3205932"/>
            <a:ext cx="182738" cy="182738"/>
          </a:xfrm>
          <a:prstGeom prst="ellipse">
            <a:avLst/>
          </a:prstGeom>
          <a:solidFill>
            <a:srgbClr val="E0BC5A"/>
          </a:solidFill>
          <a:ln w="12700">
            <a:solidFill>
              <a:srgbClr val="E0BC5A"/>
            </a:solidFill>
            <a:prstDash val="solid"/>
          </a:ln>
        </p:spPr>
      </p:sp>
      <p:sp>
        <p:nvSpPr>
          <p:cNvPr id="25" name="Text 21"/>
          <p:cNvSpPr/>
          <p:nvPr/>
        </p:nvSpPr>
        <p:spPr>
          <a:xfrm>
            <a:off x="11222502" y="3215076"/>
            <a:ext cx="164450" cy="164450"/>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4</a:t>
            </a:r>
            <a:endParaRPr lang="en-US" sz="940" dirty="0"/>
          </a:p>
        </p:txBody>
      </p:sp>
      <p:sp>
        <p:nvSpPr>
          <p:cNvPr id="26" name="Shape 22"/>
          <p:cNvSpPr/>
          <p:nvPr/>
        </p:nvSpPr>
        <p:spPr>
          <a:xfrm>
            <a:off x="658368" y="3969004"/>
            <a:ext cx="2622728" cy="1517396"/>
          </a:xfrm>
          <a:prstGeom prst="rect">
            <a:avLst/>
          </a:prstGeom>
          <a:solidFill>
            <a:srgbClr val="FFFFFF"/>
          </a:solidFill>
          <a:ln w="12700">
            <a:solidFill>
              <a:srgbClr val="FFFFFF"/>
            </a:solidFill>
            <a:prstDash val="solid"/>
          </a:ln>
        </p:spPr>
      </p:sp>
      <p:sp>
        <p:nvSpPr>
          <p:cNvPr id="27" name="Shape 23"/>
          <p:cNvSpPr/>
          <p:nvPr/>
        </p:nvSpPr>
        <p:spPr>
          <a:xfrm>
            <a:off x="658368" y="3969004"/>
            <a:ext cx="2622728" cy="54864"/>
          </a:xfrm>
          <a:prstGeom prst="rect">
            <a:avLst/>
          </a:prstGeom>
          <a:solidFill>
            <a:srgbClr val="8A6A12"/>
          </a:solidFill>
          <a:ln w="12700">
            <a:solidFill>
              <a:srgbClr val="8A6A12"/>
            </a:solidFill>
            <a:prstDash val="solid"/>
          </a:ln>
        </p:spPr>
      </p:sp>
      <p:sp>
        <p:nvSpPr>
          <p:cNvPr id="28" name="Shape 24"/>
          <p:cNvSpPr/>
          <p:nvPr/>
        </p:nvSpPr>
        <p:spPr>
          <a:xfrm>
            <a:off x="832104" y="4161028"/>
            <a:ext cx="274320" cy="274320"/>
          </a:xfrm>
          <a:prstGeom prst="ellipse">
            <a:avLst/>
          </a:prstGeom>
          <a:solidFill>
            <a:srgbClr val="E0BC5A"/>
          </a:solidFill>
          <a:ln w="12700">
            <a:solidFill>
              <a:srgbClr val="E0BC5A"/>
            </a:solidFill>
            <a:prstDash val="solid"/>
          </a:ln>
        </p:spPr>
      </p:sp>
      <p:sp>
        <p:nvSpPr>
          <p:cNvPr id="29" name="Text 25"/>
          <p:cNvSpPr/>
          <p:nvPr/>
        </p:nvSpPr>
        <p:spPr>
          <a:xfrm>
            <a:off x="841248" y="4170172"/>
            <a:ext cx="256032" cy="256032"/>
          </a:xfrm>
          <a:prstGeom prst="rect">
            <a:avLst/>
          </a:prstGeom>
          <a:noFill/>
          <a:ln/>
        </p:spPr>
        <p:txBody>
          <a:bodyPr wrap="square" lIns="0" tIns="0" rIns="0" bIns="0" rtlCol="0" anchor="ctr"/>
          <a:lstStyle/>
          <a:p>
            <a:pPr algn="ctr" indent="0" marL="0">
              <a:buNone/>
            </a:pPr>
            <a:r>
              <a:rPr lang="en-US" sz="960" b="1" dirty="0">
                <a:solidFill>
                  <a:srgbClr val="102A43"/>
                </a:solidFill>
                <a:latin typeface="Aptos" pitchFamily="34" charset="0"/>
                <a:ea typeface="Aptos" pitchFamily="34" charset="-122"/>
                <a:cs typeface="Aptos" pitchFamily="34" charset="-120"/>
              </a:rPr>
              <a:t>1</a:t>
            </a:r>
            <a:endParaRPr lang="en-US" sz="960" dirty="0"/>
          </a:p>
        </p:txBody>
      </p:sp>
      <p:sp>
        <p:nvSpPr>
          <p:cNvPr id="30" name="Text 26"/>
          <p:cNvSpPr txBox="1"/>
          <p:nvPr/>
        </p:nvSpPr>
        <p:spPr>
          <a:xfrm>
            <a:off x="1225296" y="4188460"/>
            <a:ext cx="1891208"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Una función auxiliar</a:t>
            </a:r>
            <a:endParaRPr lang="en-US" sz="1200" dirty="0"/>
          </a:p>
        </p:txBody>
      </p:sp>
      <p:sp>
        <p:nvSpPr>
          <p:cNvPr id="31" name="Text 27"/>
          <p:cNvSpPr txBox="1"/>
          <p:nvPr/>
        </p:nvSpPr>
        <p:spPr>
          <a:xfrm>
            <a:off x="841248" y="4554220"/>
            <a:ext cx="2256968" cy="840740"/>
          </a:xfrm>
          <a:prstGeom prst="rect">
            <a:avLst/>
          </a:prstGeom>
          <a:noFill/>
          <a:ln/>
        </p:spPr>
        <p:txBody>
          <a:bodyPr wrap="square" lIns="0" tIns="0" rIns="0" bIns="0" rtlCol="0" anchor="t"/>
          <a:lstStyle/>
          <a:p>
            <a:pPr algn="l" indent="0" marL="0">
              <a:lnSpc>
                <a:spcPct val="112000"/>
              </a:lnSpc>
              <a:buNone/>
            </a:pPr>
            <a:r>
              <a:rPr lang="en-US" sz="1040" dirty="0">
                <a:solidFill>
                  <a:srgbClr val="52606D"/>
                </a:solidFill>
                <a:latin typeface="Aptos" pitchFamily="34" charset="0"/>
                <a:ea typeface="Aptos" pitchFamily="34" charset="-122"/>
                <a:cs typeface="Aptos" pitchFamily="34" charset="-120"/>
              </a:rPr>
              <a:t>reservarBloque4 abre la página, llena el formulario con el bloque 4 y aprieta «Reservar». Se escribe una vez.</a:t>
            </a:r>
            <a:endParaRPr lang="en-US" sz="1040" dirty="0"/>
          </a:p>
        </p:txBody>
      </p:sp>
      <p:sp>
        <p:nvSpPr>
          <p:cNvPr id="32" name="Shape 28"/>
          <p:cNvSpPr/>
          <p:nvPr/>
        </p:nvSpPr>
        <p:spPr>
          <a:xfrm>
            <a:off x="3409112" y="3969004"/>
            <a:ext cx="2622728" cy="1517396"/>
          </a:xfrm>
          <a:prstGeom prst="rect">
            <a:avLst/>
          </a:prstGeom>
          <a:solidFill>
            <a:srgbClr val="F2E7D9"/>
          </a:solidFill>
          <a:ln w="12700">
            <a:solidFill>
              <a:srgbClr val="F2E7D9"/>
            </a:solidFill>
            <a:prstDash val="solid"/>
          </a:ln>
        </p:spPr>
      </p:sp>
      <p:sp>
        <p:nvSpPr>
          <p:cNvPr id="33" name="Shape 29"/>
          <p:cNvSpPr/>
          <p:nvPr/>
        </p:nvSpPr>
        <p:spPr>
          <a:xfrm>
            <a:off x="3409112" y="3969004"/>
            <a:ext cx="2622728" cy="54864"/>
          </a:xfrm>
          <a:prstGeom prst="rect">
            <a:avLst/>
          </a:prstGeom>
          <a:solidFill>
            <a:srgbClr val="B3181E"/>
          </a:solidFill>
          <a:ln w="12700">
            <a:solidFill>
              <a:srgbClr val="B3181E"/>
            </a:solidFill>
            <a:prstDash val="solid"/>
          </a:ln>
        </p:spPr>
      </p:sp>
      <p:sp>
        <p:nvSpPr>
          <p:cNvPr id="34" name="Shape 30"/>
          <p:cNvSpPr/>
          <p:nvPr/>
        </p:nvSpPr>
        <p:spPr>
          <a:xfrm>
            <a:off x="3582848" y="4161028"/>
            <a:ext cx="274320" cy="274320"/>
          </a:xfrm>
          <a:prstGeom prst="ellipse">
            <a:avLst/>
          </a:prstGeom>
          <a:solidFill>
            <a:srgbClr val="B3181E"/>
          </a:solidFill>
          <a:ln w="12700">
            <a:solidFill>
              <a:srgbClr val="B3181E"/>
            </a:solidFill>
            <a:prstDash val="solid"/>
          </a:ln>
        </p:spPr>
      </p:sp>
      <p:sp>
        <p:nvSpPr>
          <p:cNvPr id="35" name="Text 31"/>
          <p:cNvSpPr/>
          <p:nvPr/>
        </p:nvSpPr>
        <p:spPr>
          <a:xfrm>
            <a:off x="3591992" y="4170172"/>
            <a:ext cx="256032" cy="256032"/>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2</a:t>
            </a:r>
            <a:endParaRPr lang="en-US" sz="960" dirty="0"/>
          </a:p>
        </p:txBody>
      </p:sp>
      <p:sp>
        <p:nvSpPr>
          <p:cNvPr id="36" name="Text 32"/>
          <p:cNvSpPr txBox="1"/>
          <p:nvPr/>
        </p:nvSpPr>
        <p:spPr>
          <a:xfrm>
            <a:off x="3976040" y="4188460"/>
            <a:ext cx="1891208" cy="237744"/>
          </a:xfrm>
          <a:prstGeom prst="rect">
            <a:avLst/>
          </a:prstGeom>
          <a:noFill/>
          <a:ln/>
        </p:spPr>
        <p:txBody>
          <a:bodyPr wrap="square" lIns="0" tIns="0" rIns="0" bIns="0" rtlCol="0" anchor="t"/>
          <a:lstStyle/>
          <a:p>
            <a:pPr algn="l" indent="0" marL="0">
              <a:buNone/>
            </a:pPr>
            <a:r>
              <a:rPr lang="en-US" sz="1200" b="1" dirty="0">
                <a:solidFill>
                  <a:srgbClr val="B3181E"/>
                </a:solidFill>
                <a:latin typeface="Aptos" pitchFamily="34" charset="0"/>
                <a:ea typeface="Aptos" pitchFamily="34" charset="-122"/>
                <a:cs typeface="Aptos" pitchFamily="34" charset="-120"/>
              </a:rPr>
              <a:t>Detiene 400 ms</a:t>
            </a:r>
            <a:endParaRPr lang="en-US" sz="1200" dirty="0"/>
          </a:p>
        </p:txBody>
      </p:sp>
      <p:sp>
        <p:nvSpPr>
          <p:cNvPr id="37" name="Text 33"/>
          <p:cNvSpPr txBox="1"/>
          <p:nvPr/>
        </p:nvSpPr>
        <p:spPr>
          <a:xfrm>
            <a:off x="3591992" y="4554220"/>
            <a:ext cx="2256968" cy="840740"/>
          </a:xfrm>
          <a:prstGeom prst="rect">
            <a:avLst/>
          </a:prstGeom>
          <a:noFill/>
          <a:ln/>
        </p:spPr>
        <p:txBody>
          <a:bodyPr wrap="square" lIns="0" tIns="0" rIns="0" bIns="0" rtlCol="0" anchor="t"/>
          <a:lstStyle/>
          <a:p>
            <a:pPr algn="l" indent="0" marL="0">
              <a:lnSpc>
                <a:spcPct val="112000"/>
              </a:lnSpc>
              <a:buNone/>
            </a:pPr>
            <a:r>
              <a:rPr lang="en-US" sz="1040" dirty="0">
                <a:solidFill>
                  <a:srgbClr val="52606D"/>
                </a:solidFill>
                <a:latin typeface="Aptos" pitchFamily="34" charset="0"/>
                <a:ea typeface="Aptos" pitchFamily="34" charset="-122"/>
                <a:cs typeface="Aptos" pitchFamily="34" charset="-120"/>
              </a:rPr>
              <a:t>waitForTimeout(400) espera ese tiempo, pase lo que pase en la página.</a:t>
            </a:r>
            <a:endParaRPr lang="en-US" sz="1040" dirty="0"/>
          </a:p>
        </p:txBody>
      </p:sp>
      <p:sp>
        <p:nvSpPr>
          <p:cNvPr id="38" name="Shape 34"/>
          <p:cNvSpPr/>
          <p:nvPr/>
        </p:nvSpPr>
        <p:spPr>
          <a:xfrm>
            <a:off x="6159856" y="3969004"/>
            <a:ext cx="2622728" cy="1517396"/>
          </a:xfrm>
          <a:prstGeom prst="rect">
            <a:avLst/>
          </a:prstGeom>
          <a:solidFill>
            <a:srgbClr val="F2E7D9"/>
          </a:solidFill>
          <a:ln w="12700">
            <a:solidFill>
              <a:srgbClr val="F2E7D9"/>
            </a:solidFill>
            <a:prstDash val="solid"/>
          </a:ln>
        </p:spPr>
      </p:sp>
      <p:sp>
        <p:nvSpPr>
          <p:cNvPr id="39" name="Shape 35"/>
          <p:cNvSpPr/>
          <p:nvPr/>
        </p:nvSpPr>
        <p:spPr>
          <a:xfrm>
            <a:off x="6159856" y="3969004"/>
            <a:ext cx="2622728" cy="54864"/>
          </a:xfrm>
          <a:prstGeom prst="rect">
            <a:avLst/>
          </a:prstGeom>
          <a:solidFill>
            <a:srgbClr val="B3181E"/>
          </a:solidFill>
          <a:ln w="12700">
            <a:solidFill>
              <a:srgbClr val="B3181E"/>
            </a:solidFill>
            <a:prstDash val="solid"/>
          </a:ln>
        </p:spPr>
      </p:sp>
      <p:sp>
        <p:nvSpPr>
          <p:cNvPr id="40" name="Shape 36"/>
          <p:cNvSpPr/>
          <p:nvPr/>
        </p:nvSpPr>
        <p:spPr>
          <a:xfrm>
            <a:off x="6333592" y="4161028"/>
            <a:ext cx="274320" cy="274320"/>
          </a:xfrm>
          <a:prstGeom prst="ellipse">
            <a:avLst/>
          </a:prstGeom>
          <a:solidFill>
            <a:srgbClr val="B3181E"/>
          </a:solidFill>
          <a:ln w="12700">
            <a:solidFill>
              <a:srgbClr val="B3181E"/>
            </a:solidFill>
            <a:prstDash val="solid"/>
          </a:ln>
        </p:spPr>
      </p:sp>
      <p:sp>
        <p:nvSpPr>
          <p:cNvPr id="41" name="Text 37"/>
          <p:cNvSpPr/>
          <p:nvPr/>
        </p:nvSpPr>
        <p:spPr>
          <a:xfrm>
            <a:off x="6342736" y="4170172"/>
            <a:ext cx="256032" cy="256032"/>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3</a:t>
            </a:r>
            <a:endParaRPr lang="en-US" sz="960" dirty="0"/>
          </a:p>
        </p:txBody>
      </p:sp>
      <p:sp>
        <p:nvSpPr>
          <p:cNvPr id="42" name="Text 38"/>
          <p:cNvSpPr txBox="1"/>
          <p:nvPr/>
        </p:nvSpPr>
        <p:spPr>
          <a:xfrm>
            <a:off x="6726784" y="4188460"/>
            <a:ext cx="1891208" cy="237744"/>
          </a:xfrm>
          <a:prstGeom prst="rect">
            <a:avLst/>
          </a:prstGeom>
          <a:noFill/>
          <a:ln/>
        </p:spPr>
        <p:txBody>
          <a:bodyPr wrap="square" lIns="0" tIns="0" rIns="0" bIns="0" rtlCol="0" anchor="t"/>
          <a:lstStyle/>
          <a:p>
            <a:pPr algn="l" indent="0" marL="0">
              <a:buNone/>
            </a:pPr>
            <a:r>
              <a:rPr lang="en-US" sz="1200" b="1" dirty="0">
                <a:solidFill>
                  <a:srgbClr val="B3181E"/>
                </a:solidFill>
                <a:latin typeface="Aptos" pitchFamily="34" charset="0"/>
                <a:ea typeface="Aptos" pitchFamily="34" charset="-122"/>
                <a:cs typeface="Aptos" pitchFamily="34" charset="-120"/>
              </a:rPr>
              <a:t>Lee una sola vez</a:t>
            </a:r>
            <a:endParaRPr lang="en-US" sz="1200" dirty="0"/>
          </a:p>
        </p:txBody>
      </p:sp>
      <p:sp>
        <p:nvSpPr>
          <p:cNvPr id="43" name="Text 39"/>
          <p:cNvSpPr txBox="1"/>
          <p:nvPr/>
        </p:nvSpPr>
        <p:spPr>
          <a:xfrm>
            <a:off x="6342736" y="4554220"/>
            <a:ext cx="2256968" cy="840740"/>
          </a:xfrm>
          <a:prstGeom prst="rect">
            <a:avLst/>
          </a:prstGeom>
          <a:noFill/>
          <a:ln/>
        </p:spPr>
        <p:txBody>
          <a:bodyPr wrap="square" lIns="0" tIns="0" rIns="0" bIns="0" rtlCol="0" anchor="t"/>
          <a:lstStyle/>
          <a:p>
            <a:pPr algn="l" indent="0" marL="0">
              <a:lnSpc>
                <a:spcPct val="112000"/>
              </a:lnSpc>
              <a:buNone/>
            </a:pPr>
            <a:r>
              <a:rPr lang="en-US" sz="1040" dirty="0">
                <a:solidFill>
                  <a:srgbClr val="52606D"/>
                </a:solidFill>
                <a:latin typeface="Aptos" pitchFamily="34" charset="0"/>
                <a:ea typeface="Aptos" pitchFamily="34" charset="-122"/>
                <a:cs typeface="Aptos" pitchFamily="34" charset="-120"/>
              </a:rPr>
              <a:t>filter elige, entre los elementos de lista, el que dice «Bloque 4». textContent lee su texto en ese instante.</a:t>
            </a:r>
            <a:endParaRPr lang="en-US" sz="1040" dirty="0"/>
          </a:p>
        </p:txBody>
      </p:sp>
      <p:sp>
        <p:nvSpPr>
          <p:cNvPr id="44" name="Shape 40"/>
          <p:cNvSpPr/>
          <p:nvPr/>
        </p:nvSpPr>
        <p:spPr>
          <a:xfrm>
            <a:off x="8910599" y="3969004"/>
            <a:ext cx="2622728" cy="1517396"/>
          </a:xfrm>
          <a:prstGeom prst="rect">
            <a:avLst/>
          </a:prstGeom>
          <a:solidFill>
            <a:srgbClr val="FFFFFF"/>
          </a:solidFill>
          <a:ln w="12700">
            <a:solidFill>
              <a:srgbClr val="FFFFFF"/>
            </a:solidFill>
            <a:prstDash val="solid"/>
          </a:ln>
        </p:spPr>
      </p:sp>
      <p:sp>
        <p:nvSpPr>
          <p:cNvPr id="45" name="Shape 41"/>
          <p:cNvSpPr/>
          <p:nvPr/>
        </p:nvSpPr>
        <p:spPr>
          <a:xfrm>
            <a:off x="8910599" y="3969004"/>
            <a:ext cx="2622728" cy="54864"/>
          </a:xfrm>
          <a:prstGeom prst="rect">
            <a:avLst/>
          </a:prstGeom>
          <a:solidFill>
            <a:srgbClr val="8A6A12"/>
          </a:solidFill>
          <a:ln w="12700">
            <a:solidFill>
              <a:srgbClr val="8A6A12"/>
            </a:solidFill>
            <a:prstDash val="solid"/>
          </a:ln>
        </p:spPr>
      </p:sp>
      <p:sp>
        <p:nvSpPr>
          <p:cNvPr id="46" name="Shape 42"/>
          <p:cNvSpPr/>
          <p:nvPr/>
        </p:nvSpPr>
        <p:spPr>
          <a:xfrm>
            <a:off x="9084335" y="4161028"/>
            <a:ext cx="274320" cy="274320"/>
          </a:xfrm>
          <a:prstGeom prst="ellipse">
            <a:avLst/>
          </a:prstGeom>
          <a:solidFill>
            <a:srgbClr val="E0BC5A"/>
          </a:solidFill>
          <a:ln w="12700">
            <a:solidFill>
              <a:srgbClr val="E0BC5A"/>
            </a:solidFill>
            <a:prstDash val="solid"/>
          </a:ln>
        </p:spPr>
      </p:sp>
      <p:sp>
        <p:nvSpPr>
          <p:cNvPr id="47" name="Text 43"/>
          <p:cNvSpPr/>
          <p:nvPr/>
        </p:nvSpPr>
        <p:spPr>
          <a:xfrm>
            <a:off x="9093479" y="4170172"/>
            <a:ext cx="256032" cy="256032"/>
          </a:xfrm>
          <a:prstGeom prst="rect">
            <a:avLst/>
          </a:prstGeom>
          <a:noFill/>
          <a:ln/>
        </p:spPr>
        <p:txBody>
          <a:bodyPr wrap="square" lIns="0" tIns="0" rIns="0" bIns="0" rtlCol="0" anchor="ctr"/>
          <a:lstStyle/>
          <a:p>
            <a:pPr algn="ctr" indent="0" marL="0">
              <a:buNone/>
            </a:pPr>
            <a:r>
              <a:rPr lang="en-US" sz="960" b="1" dirty="0">
                <a:solidFill>
                  <a:srgbClr val="102A43"/>
                </a:solidFill>
                <a:latin typeface="Aptos" pitchFamily="34" charset="0"/>
                <a:ea typeface="Aptos" pitchFamily="34" charset="-122"/>
                <a:cs typeface="Aptos" pitchFamily="34" charset="-120"/>
              </a:rPr>
              <a:t>4</a:t>
            </a:r>
            <a:endParaRPr lang="en-US" sz="960" dirty="0"/>
          </a:p>
        </p:txBody>
      </p:sp>
      <p:sp>
        <p:nvSpPr>
          <p:cNvPr id="48" name="Text 44"/>
          <p:cNvSpPr txBox="1"/>
          <p:nvPr/>
        </p:nvSpPr>
        <p:spPr>
          <a:xfrm>
            <a:off x="9477527" y="4188460"/>
            <a:ext cx="1891208"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Compara lo ya leído</a:t>
            </a:r>
            <a:endParaRPr lang="en-US" sz="1200" dirty="0"/>
          </a:p>
        </p:txBody>
      </p:sp>
      <p:sp>
        <p:nvSpPr>
          <p:cNvPr id="49" name="Text 45"/>
          <p:cNvSpPr txBox="1"/>
          <p:nvPr/>
        </p:nvSpPr>
        <p:spPr>
          <a:xfrm>
            <a:off x="9093479" y="4554220"/>
            <a:ext cx="2256968" cy="840740"/>
          </a:xfrm>
          <a:prstGeom prst="rect">
            <a:avLst/>
          </a:prstGeom>
          <a:noFill/>
          <a:ln/>
        </p:spPr>
        <p:txBody>
          <a:bodyPr wrap="square" lIns="0" tIns="0" rIns="0" bIns="0" rtlCol="0" anchor="t"/>
          <a:lstStyle/>
          <a:p>
            <a:pPr algn="l" indent="0" marL="0">
              <a:lnSpc>
                <a:spcPct val="112000"/>
              </a:lnSpc>
              <a:buNone/>
            </a:pPr>
            <a:r>
              <a:rPr lang="en-US" sz="1040" dirty="0">
                <a:solidFill>
                  <a:srgbClr val="52606D"/>
                </a:solidFill>
                <a:latin typeface="Aptos" pitchFamily="34" charset="0"/>
                <a:ea typeface="Aptos" pitchFamily="34" charset="-122"/>
                <a:cs typeface="Aptos" pitchFamily="34" charset="-120"/>
              </a:rPr>
              <a:t>toContain compara ese texto guardado. No vuelve a mirar la página.</a:t>
            </a:r>
            <a:endParaRPr lang="en-US" sz="1040" dirty="0"/>
          </a:p>
        </p:txBody>
      </p:sp>
      <p:sp>
        <p:nvSpPr>
          <p:cNvPr id="50" name="Shape 46"/>
          <p:cNvSpPr/>
          <p:nvPr/>
        </p:nvSpPr>
        <p:spPr>
          <a:xfrm>
            <a:off x="658368" y="5650992"/>
            <a:ext cx="10874959" cy="548640"/>
          </a:xfrm>
          <a:prstGeom prst="rect">
            <a:avLst/>
          </a:prstGeom>
          <a:solidFill>
            <a:srgbClr val="102A43"/>
          </a:solidFill>
          <a:ln w="12700">
            <a:solidFill>
              <a:srgbClr val="102A43"/>
            </a:solidFill>
            <a:prstDash val="solid"/>
          </a:ln>
        </p:spPr>
      </p:sp>
      <p:sp>
        <p:nvSpPr>
          <p:cNvPr id="51" name="Text 47"/>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prueba apuesta a que en 400 ms la lista ya se redibujó.</a:t>
            </a:r>
            <a:endParaRPr lang="en-US" sz="13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ENTORNO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Antes de ejecutarla, dos condiciones</a:t>
            </a:r>
            <a:endParaRPr lang="en-US" sz="3000" dirty="0"/>
          </a:p>
        </p:txBody>
      </p:sp>
      <p:sp>
        <p:nvSpPr>
          <p:cNvPr id="10" name="Text 7"/>
          <p:cNvSpPr txBox="1"/>
          <p:nvPr/>
        </p:nvSpPr>
        <p:spPr>
          <a:xfrm>
            <a:off x="658368" y="1755648"/>
            <a:ext cx="52546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UN MUNDO LIMPIO ANTES DE CADA PRUEBA</a:t>
            </a:r>
            <a:endParaRPr lang="en-US" sz="960" dirty="0"/>
          </a:p>
        </p:txBody>
      </p:sp>
      <p:sp>
        <p:nvSpPr>
          <p:cNvPr id="11" name="Shape 8"/>
          <p:cNvSpPr/>
          <p:nvPr/>
        </p:nvSpPr>
        <p:spPr>
          <a:xfrm>
            <a:off x="658368" y="2011680"/>
            <a:ext cx="5254600" cy="826618"/>
          </a:xfrm>
          <a:prstGeom prst="roundRect">
            <a:avLst>
              <a:gd name="adj" fmla="val 5531"/>
            </a:avLst>
          </a:prstGeom>
          <a:solidFill>
            <a:srgbClr val="102A43"/>
          </a:solidFill>
          <a:ln w="12700">
            <a:solidFill>
              <a:srgbClr val="102A43"/>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157984"/>
            <a:ext cx="4925416" cy="552298"/>
          </a:xfrm>
          <a:prstGeom prst="rect">
            <a:avLst/>
          </a:prstGeom>
        </p:spPr>
      </p:pic>
      <p:sp>
        <p:nvSpPr>
          <p:cNvPr id="13" name="Text 9"/>
          <p:cNvSpPr txBox="1"/>
          <p:nvPr/>
        </p:nvSpPr>
        <p:spPr>
          <a:xfrm>
            <a:off x="658368" y="3021178"/>
            <a:ext cx="5254600" cy="201168"/>
          </a:xfrm>
          <a:prstGeom prst="rect">
            <a:avLst/>
          </a:prstGeom>
          <a:noFill/>
          <a:ln/>
        </p:spPr>
        <p:txBody>
          <a:bodyPr wrap="square" lIns="0" tIns="0" rIns="0" bIns="0" rtlCol="0" anchor="t"/>
          <a:lstStyle/>
          <a:p>
            <a:pPr algn="l" indent="0" marL="0">
              <a:buNone/>
            </a:pPr>
            <a:r>
              <a:rPr lang="en-US" sz="1020" b="1" dirty="0">
                <a:solidFill>
                  <a:srgbClr val="102A43"/>
                </a:solidFill>
                <a:latin typeface="Consolas" pitchFamily="34" charset="0"/>
                <a:ea typeface="Consolas" pitchFamily="34" charset="-122"/>
                <a:cs typeface="Consolas" pitchFamily="34" charset="-120"/>
              </a:rPr>
              <a:t>test.beforeEach</a:t>
            </a:r>
            <a:endParaRPr lang="en-US" sz="1020" dirty="0"/>
          </a:p>
        </p:txBody>
      </p:sp>
      <p:sp>
        <p:nvSpPr>
          <p:cNvPr id="14" name="Text 10"/>
          <p:cNvSpPr txBox="1"/>
          <p:nvPr/>
        </p:nvSpPr>
        <p:spPr>
          <a:xfrm>
            <a:off x="658368" y="3240634"/>
            <a:ext cx="5254600" cy="219456"/>
          </a:xfrm>
          <a:prstGeom prst="rect">
            <a:avLst/>
          </a:prstGeom>
          <a:noFill/>
          <a:ln/>
        </p:spPr>
        <p:txBody>
          <a:bodyPr wrap="square" lIns="0" tIns="0" rIns="0" bIns="0" rtlCol="0" anchor="t"/>
          <a:lstStyle/>
          <a:p>
            <a:pPr algn="l" indent="0" marL="0">
              <a:buNone/>
            </a:pPr>
            <a:r>
              <a:rPr lang="en-US" sz="1080" dirty="0">
                <a:solidFill>
                  <a:srgbClr val="243B53"/>
                </a:solidFill>
                <a:latin typeface="Aptos" pitchFamily="34" charset="0"/>
                <a:ea typeface="Aptos" pitchFamily="34" charset="-122"/>
                <a:cs typeface="Aptos" pitchFamily="34" charset="-120"/>
              </a:rPr>
              <a:t>ejecuta la función antes de cada prueba del archivo.</a:t>
            </a:r>
            <a:endParaRPr lang="en-US" sz="1080" dirty="0"/>
          </a:p>
        </p:txBody>
      </p:sp>
      <p:sp>
        <p:nvSpPr>
          <p:cNvPr id="15" name="Text 11"/>
          <p:cNvSpPr txBox="1"/>
          <p:nvPr/>
        </p:nvSpPr>
        <p:spPr>
          <a:xfrm>
            <a:off x="658368" y="3551530"/>
            <a:ext cx="5254600" cy="201168"/>
          </a:xfrm>
          <a:prstGeom prst="rect">
            <a:avLst/>
          </a:prstGeom>
          <a:noFill/>
          <a:ln/>
        </p:spPr>
        <p:txBody>
          <a:bodyPr wrap="square" lIns="0" tIns="0" rIns="0" bIns="0" rtlCol="0" anchor="t"/>
          <a:lstStyle/>
          <a:p>
            <a:pPr algn="l" indent="0" marL="0">
              <a:buNone/>
            </a:pPr>
            <a:r>
              <a:rPr lang="en-US" sz="1020" b="1" dirty="0">
                <a:solidFill>
                  <a:srgbClr val="102A43"/>
                </a:solidFill>
                <a:latin typeface="Consolas" pitchFamily="34" charset="0"/>
                <a:ea typeface="Consolas" pitchFamily="34" charset="-122"/>
                <a:cs typeface="Consolas" pitchFamily="34" charset="-120"/>
              </a:rPr>
              <a:t>request</a:t>
            </a:r>
            <a:endParaRPr lang="en-US" sz="1020" dirty="0"/>
          </a:p>
        </p:txBody>
      </p:sp>
      <p:sp>
        <p:nvSpPr>
          <p:cNvPr id="16" name="Text 12"/>
          <p:cNvSpPr txBox="1"/>
          <p:nvPr/>
        </p:nvSpPr>
        <p:spPr>
          <a:xfrm>
            <a:off x="658368" y="3770986"/>
            <a:ext cx="5254600" cy="219456"/>
          </a:xfrm>
          <a:prstGeom prst="rect">
            <a:avLst/>
          </a:prstGeom>
          <a:noFill/>
          <a:ln/>
        </p:spPr>
        <p:txBody>
          <a:bodyPr wrap="square" lIns="0" tIns="0" rIns="0" bIns="0" rtlCol="0" anchor="t"/>
          <a:lstStyle/>
          <a:p>
            <a:pPr algn="l" indent="0" marL="0">
              <a:buNone/>
            </a:pPr>
            <a:r>
              <a:rPr lang="en-US" sz="1080" dirty="0">
                <a:solidFill>
                  <a:srgbClr val="243B53"/>
                </a:solidFill>
                <a:latin typeface="Aptos" pitchFamily="34" charset="0"/>
                <a:ea typeface="Aptos" pitchFamily="34" charset="-122"/>
                <a:cs typeface="Aptos" pitchFamily="34" charset="-120"/>
              </a:rPr>
              <a:t>un cliente que habla con la API directamente, sin navegador.</a:t>
            </a:r>
            <a:endParaRPr lang="en-US" sz="1080" dirty="0"/>
          </a:p>
        </p:txBody>
      </p:sp>
      <p:sp>
        <p:nvSpPr>
          <p:cNvPr id="17" name="Text 13"/>
          <p:cNvSpPr txBox="1"/>
          <p:nvPr/>
        </p:nvSpPr>
        <p:spPr>
          <a:xfrm>
            <a:off x="658368" y="4081882"/>
            <a:ext cx="5254600" cy="201168"/>
          </a:xfrm>
          <a:prstGeom prst="rect">
            <a:avLst/>
          </a:prstGeom>
          <a:noFill/>
          <a:ln/>
        </p:spPr>
        <p:txBody>
          <a:bodyPr wrap="square" lIns="0" tIns="0" rIns="0" bIns="0" rtlCol="0" anchor="t"/>
          <a:lstStyle/>
          <a:p>
            <a:pPr algn="l" indent="0" marL="0">
              <a:buNone/>
            </a:pPr>
            <a:r>
              <a:rPr lang="en-US" sz="1020" b="1" dirty="0">
                <a:solidFill>
                  <a:srgbClr val="102A43"/>
                </a:solidFill>
                <a:latin typeface="Consolas" pitchFamily="34" charset="0"/>
                <a:ea typeface="Consolas" pitchFamily="34" charset="-122"/>
                <a:cs typeface="Consolas" pitchFamily="34" charset="-120"/>
              </a:rPr>
              <a:t>/_prueba/reiniciar</a:t>
            </a:r>
            <a:endParaRPr lang="en-US" sz="1020" dirty="0"/>
          </a:p>
        </p:txBody>
      </p:sp>
      <p:sp>
        <p:nvSpPr>
          <p:cNvPr id="18" name="Text 14"/>
          <p:cNvSpPr txBox="1"/>
          <p:nvPr/>
        </p:nvSpPr>
        <p:spPr>
          <a:xfrm>
            <a:off x="658368" y="4301338"/>
            <a:ext cx="5254600" cy="219456"/>
          </a:xfrm>
          <a:prstGeom prst="rect">
            <a:avLst/>
          </a:prstGeom>
          <a:noFill/>
          <a:ln/>
        </p:spPr>
        <p:txBody>
          <a:bodyPr wrap="square" lIns="0" tIns="0" rIns="0" bIns="0" rtlCol="0" anchor="t"/>
          <a:lstStyle/>
          <a:p>
            <a:pPr algn="l" indent="0" marL="0">
              <a:buNone/>
            </a:pPr>
            <a:r>
              <a:rPr lang="en-US" sz="1080" dirty="0">
                <a:solidFill>
                  <a:srgbClr val="243B53"/>
                </a:solidFill>
                <a:latin typeface="Aptos" pitchFamily="34" charset="0"/>
                <a:ea typeface="Aptos" pitchFamily="34" charset="-122"/>
                <a:cs typeface="Aptos" pitchFamily="34" charset="-120"/>
              </a:rPr>
              <a:t>vacía la base de datos. Solo existe en el servidor que arranca para las pruebas.</a:t>
            </a:r>
            <a:endParaRPr lang="en-US" sz="1080" dirty="0"/>
          </a:p>
        </p:txBody>
      </p:sp>
      <p:sp>
        <p:nvSpPr>
          <p:cNvPr id="19" name="Shape 15"/>
          <p:cNvSpPr/>
          <p:nvPr/>
        </p:nvSpPr>
        <p:spPr>
          <a:xfrm>
            <a:off x="658368" y="4882896"/>
            <a:ext cx="45720" cy="512064"/>
          </a:xfrm>
          <a:prstGeom prst="rect">
            <a:avLst/>
          </a:prstGeom>
          <a:solidFill>
            <a:srgbClr val="102A43"/>
          </a:solidFill>
          <a:ln w="12700">
            <a:solidFill>
              <a:srgbClr val="102A43"/>
            </a:solidFill>
            <a:prstDash val="solid"/>
          </a:ln>
        </p:spPr>
      </p:sp>
      <p:sp>
        <p:nvSpPr>
          <p:cNvPr id="20" name="Text 16"/>
          <p:cNvSpPr txBox="1"/>
          <p:nvPr/>
        </p:nvSpPr>
        <p:spPr>
          <a:xfrm>
            <a:off x="822960" y="4882896"/>
            <a:ext cx="5071720" cy="512064"/>
          </a:xfrm>
          <a:prstGeom prst="rect">
            <a:avLst/>
          </a:prstGeom>
          <a:noFill/>
          <a:ln/>
        </p:spPr>
        <p:txBody>
          <a:bodyPr wrap="square" lIns="0" tIns="0" rIns="0" bIns="0" rtlCol="0" anchor="ctr"/>
          <a:lstStyle/>
          <a:p>
            <a:pPr algn="l" indent="0" marL="0">
              <a:lnSpc>
                <a:spcPct val="110000"/>
              </a:lnSpc>
              <a:buNone/>
            </a:pPr>
            <a:r>
              <a:rPr lang="en-US" sz="1080" i="1" dirty="0">
                <a:solidFill>
                  <a:srgbClr val="52606D"/>
                </a:solidFill>
                <a:latin typeface="Aptos" pitchFamily="34" charset="0"/>
                <a:ea typeface="Aptos" pitchFamily="34" charset="-122"/>
                <a:cs typeface="Aptos" pitchFamily="34" charset="-120"/>
              </a:rPr>
              <a:t>La aplicación corre en otro proceso: la prueba no puede tocar su base directamente.</a:t>
            </a:r>
            <a:endParaRPr lang="en-US" sz="1080" dirty="0"/>
          </a:p>
        </p:txBody>
      </p:sp>
      <p:sp>
        <p:nvSpPr>
          <p:cNvPr id="21" name="Text 17"/>
          <p:cNvSpPr txBox="1"/>
          <p:nvPr/>
        </p:nvSpPr>
        <p:spPr>
          <a:xfrm>
            <a:off x="6278728" y="1755648"/>
            <a:ext cx="52546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UNA RED QUE NO ES INSTANTÁNEA</a:t>
            </a:r>
            <a:endParaRPr lang="en-US" sz="960" dirty="0"/>
          </a:p>
        </p:txBody>
      </p:sp>
      <p:sp>
        <p:nvSpPr>
          <p:cNvPr id="22" name="Shape 18"/>
          <p:cNvSpPr/>
          <p:nvPr/>
        </p:nvSpPr>
        <p:spPr>
          <a:xfrm>
            <a:off x="6278728" y="2011680"/>
            <a:ext cx="5254600" cy="1158240"/>
          </a:xfrm>
          <a:prstGeom prst="roundRect">
            <a:avLst>
              <a:gd name="adj" fmla="val 3947"/>
            </a:avLst>
          </a:prstGeom>
          <a:solidFill>
            <a:srgbClr val="102A43"/>
          </a:solidFill>
          <a:ln w="12700">
            <a:solidFill>
              <a:srgbClr val="102A43"/>
            </a:solidFill>
            <a:prstDash val="solid"/>
          </a:ln>
        </p:spPr>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43320" y="2157984"/>
            <a:ext cx="4925416" cy="883920"/>
          </a:xfrm>
          <a:prstGeom prst="rect">
            <a:avLst/>
          </a:prstGeom>
        </p:spPr>
      </p:pic>
      <p:sp>
        <p:nvSpPr>
          <p:cNvPr id="24" name="Text 19"/>
          <p:cNvSpPr txBox="1"/>
          <p:nvPr/>
        </p:nvSpPr>
        <p:spPr>
          <a:xfrm>
            <a:off x="6278728" y="3352800"/>
            <a:ext cx="5254600" cy="201168"/>
          </a:xfrm>
          <a:prstGeom prst="rect">
            <a:avLst/>
          </a:prstGeom>
          <a:noFill/>
          <a:ln/>
        </p:spPr>
        <p:txBody>
          <a:bodyPr wrap="square" lIns="0" tIns="0" rIns="0" bIns="0" rtlCol="0" anchor="t"/>
          <a:lstStyle/>
          <a:p>
            <a:pPr algn="l" indent="0" marL="0">
              <a:buNone/>
            </a:pPr>
            <a:r>
              <a:rPr lang="en-US" sz="1020" b="1" dirty="0">
                <a:solidFill>
                  <a:srgbClr val="B3181E"/>
                </a:solidFill>
                <a:latin typeface="Consolas" pitchFamily="34" charset="0"/>
                <a:ea typeface="Consolas" pitchFamily="34" charset="-122"/>
                <a:cs typeface="Consolas" pitchFamily="34" charset="-120"/>
              </a:rPr>
              <a:t>middleware</a:t>
            </a:r>
            <a:endParaRPr lang="en-US" sz="1020" dirty="0"/>
          </a:p>
        </p:txBody>
      </p:sp>
      <p:sp>
        <p:nvSpPr>
          <p:cNvPr id="25" name="Text 20"/>
          <p:cNvSpPr txBox="1"/>
          <p:nvPr/>
        </p:nvSpPr>
        <p:spPr>
          <a:xfrm>
            <a:off x="6278728" y="3572256"/>
            <a:ext cx="5254600" cy="219456"/>
          </a:xfrm>
          <a:prstGeom prst="rect">
            <a:avLst/>
          </a:prstGeom>
          <a:noFill/>
          <a:ln/>
        </p:spPr>
        <p:txBody>
          <a:bodyPr wrap="square" lIns="0" tIns="0" rIns="0" bIns="0" rtlCol="0" anchor="t"/>
          <a:lstStyle/>
          <a:p>
            <a:pPr algn="l" indent="0" marL="0">
              <a:buNone/>
            </a:pPr>
            <a:r>
              <a:rPr lang="en-US" sz="1080" dirty="0">
                <a:solidFill>
                  <a:srgbClr val="243B53"/>
                </a:solidFill>
                <a:latin typeface="Aptos" pitchFamily="34" charset="0"/>
                <a:ea typeface="Aptos" pitchFamily="34" charset="-122"/>
                <a:cs typeface="Aptos" pitchFamily="34" charset="-120"/>
              </a:rPr>
              <a:t>una pieza que corre alrededor de cada solicitud; llamar_siguiente la deja pasar.</a:t>
            </a:r>
            <a:endParaRPr lang="en-US" sz="1080" dirty="0"/>
          </a:p>
        </p:txBody>
      </p:sp>
      <p:sp>
        <p:nvSpPr>
          <p:cNvPr id="26" name="Text 21"/>
          <p:cNvSpPr txBox="1"/>
          <p:nvPr/>
        </p:nvSpPr>
        <p:spPr>
          <a:xfrm>
            <a:off x="6278728" y="3883152"/>
            <a:ext cx="5254600" cy="201168"/>
          </a:xfrm>
          <a:prstGeom prst="rect">
            <a:avLst/>
          </a:prstGeom>
          <a:noFill/>
          <a:ln/>
        </p:spPr>
        <p:txBody>
          <a:bodyPr wrap="square" lIns="0" tIns="0" rIns="0" bIns="0" rtlCol="0" anchor="t"/>
          <a:lstStyle/>
          <a:p>
            <a:pPr algn="l" indent="0" marL="0">
              <a:buNone/>
            </a:pPr>
            <a:r>
              <a:rPr lang="en-US" sz="1020" b="1" dirty="0">
                <a:solidFill>
                  <a:srgbClr val="B3181E"/>
                </a:solidFill>
                <a:latin typeface="Consolas" pitchFamily="34" charset="0"/>
                <a:ea typeface="Consolas" pitchFamily="34" charset="-122"/>
                <a:cs typeface="Consolas" pitchFamily="34" charset="-120"/>
              </a:rPr>
              <a:t>LATENCIA_MAXIMA</a:t>
            </a:r>
            <a:endParaRPr lang="en-US" sz="1020" dirty="0"/>
          </a:p>
        </p:txBody>
      </p:sp>
      <p:sp>
        <p:nvSpPr>
          <p:cNvPr id="27" name="Text 22"/>
          <p:cNvSpPr txBox="1"/>
          <p:nvPr/>
        </p:nvSpPr>
        <p:spPr>
          <a:xfrm>
            <a:off x="6278728" y="4102608"/>
            <a:ext cx="5254600" cy="219456"/>
          </a:xfrm>
          <a:prstGeom prst="rect">
            <a:avLst/>
          </a:prstGeom>
          <a:noFill/>
          <a:ln/>
        </p:spPr>
        <p:txBody>
          <a:bodyPr wrap="square" lIns="0" tIns="0" rIns="0" bIns="0" rtlCol="0" anchor="t"/>
          <a:lstStyle/>
          <a:p>
            <a:pPr algn="l" indent="0" marL="0">
              <a:buNone/>
            </a:pPr>
            <a:r>
              <a:rPr lang="en-US" sz="1080" dirty="0">
                <a:solidFill>
                  <a:srgbClr val="243B53"/>
                </a:solidFill>
                <a:latin typeface="Aptos" pitchFamily="34" charset="0"/>
                <a:ea typeface="Aptos" pitchFamily="34" charset="-122"/>
                <a:cs typeface="Aptos" pitchFamily="34" charset="-120"/>
              </a:rPr>
              <a:t>la demora máxima configurada: aquí, 0,4 segundos.</a:t>
            </a:r>
            <a:endParaRPr lang="en-US" sz="1080" dirty="0"/>
          </a:p>
        </p:txBody>
      </p:sp>
      <p:sp>
        <p:nvSpPr>
          <p:cNvPr id="28" name="Text 23"/>
          <p:cNvSpPr txBox="1"/>
          <p:nvPr/>
        </p:nvSpPr>
        <p:spPr>
          <a:xfrm>
            <a:off x="6278728" y="4413504"/>
            <a:ext cx="5254600" cy="201168"/>
          </a:xfrm>
          <a:prstGeom prst="rect">
            <a:avLst/>
          </a:prstGeom>
          <a:noFill/>
          <a:ln/>
        </p:spPr>
        <p:txBody>
          <a:bodyPr wrap="square" lIns="0" tIns="0" rIns="0" bIns="0" rtlCol="0" anchor="t"/>
          <a:lstStyle/>
          <a:p>
            <a:pPr algn="l" indent="0" marL="0">
              <a:buNone/>
            </a:pPr>
            <a:r>
              <a:rPr lang="en-US" sz="1020" b="1" dirty="0">
                <a:solidFill>
                  <a:srgbClr val="B3181E"/>
                </a:solidFill>
                <a:latin typeface="Consolas" pitchFamily="34" charset="0"/>
                <a:ea typeface="Consolas" pitchFamily="34" charset="-122"/>
                <a:cs typeface="Consolas" pitchFamily="34" charset="-120"/>
              </a:rPr>
              <a:t>asyncio.sleep(random.uniform(0, LATENCIA_MAXIMA))</a:t>
            </a:r>
            <a:endParaRPr lang="en-US" sz="1020" dirty="0"/>
          </a:p>
        </p:txBody>
      </p:sp>
      <p:sp>
        <p:nvSpPr>
          <p:cNvPr id="29" name="Text 24"/>
          <p:cNvSpPr txBox="1"/>
          <p:nvPr/>
        </p:nvSpPr>
        <p:spPr>
          <a:xfrm>
            <a:off x="6278728" y="4632960"/>
            <a:ext cx="5254600" cy="219456"/>
          </a:xfrm>
          <a:prstGeom prst="rect">
            <a:avLst/>
          </a:prstGeom>
          <a:noFill/>
          <a:ln/>
        </p:spPr>
        <p:txBody>
          <a:bodyPr wrap="square" lIns="0" tIns="0" rIns="0" bIns="0" rtlCol="0" anchor="t"/>
          <a:lstStyle/>
          <a:p>
            <a:pPr algn="l" indent="0" marL="0">
              <a:buNone/>
            </a:pPr>
            <a:r>
              <a:rPr lang="en-US" sz="1080" dirty="0">
                <a:solidFill>
                  <a:srgbClr val="243B53"/>
                </a:solidFill>
                <a:latin typeface="Aptos" pitchFamily="34" charset="0"/>
                <a:ea typeface="Aptos" pitchFamily="34" charset="-122"/>
                <a:cs typeface="Aptos" pitchFamily="34" charset="-120"/>
              </a:rPr>
              <a:t>espera un tiempo al azar entre cero y ese máximo.</a:t>
            </a:r>
            <a:endParaRPr lang="en-US" sz="1080" dirty="0"/>
          </a:p>
        </p:txBody>
      </p:sp>
      <p:sp>
        <p:nvSpPr>
          <p:cNvPr id="30" name="Shape 25"/>
          <p:cNvSpPr/>
          <p:nvPr/>
        </p:nvSpPr>
        <p:spPr>
          <a:xfrm>
            <a:off x="6278728" y="4882896"/>
            <a:ext cx="45720" cy="512064"/>
          </a:xfrm>
          <a:prstGeom prst="rect">
            <a:avLst/>
          </a:prstGeom>
          <a:solidFill>
            <a:srgbClr val="B3181E"/>
          </a:solidFill>
          <a:ln w="12700">
            <a:solidFill>
              <a:srgbClr val="B3181E"/>
            </a:solidFill>
            <a:prstDash val="solid"/>
          </a:ln>
        </p:spPr>
      </p:sp>
      <p:sp>
        <p:nvSpPr>
          <p:cNvPr id="31" name="Text 26"/>
          <p:cNvSpPr txBox="1"/>
          <p:nvPr/>
        </p:nvSpPr>
        <p:spPr>
          <a:xfrm>
            <a:off x="6443320" y="4882896"/>
            <a:ext cx="5071720" cy="512064"/>
          </a:xfrm>
          <a:prstGeom prst="rect">
            <a:avLst/>
          </a:prstGeom>
          <a:noFill/>
          <a:ln/>
        </p:spPr>
        <p:txBody>
          <a:bodyPr wrap="square" lIns="0" tIns="0" rIns="0" bIns="0" rtlCol="0" anchor="ctr"/>
          <a:lstStyle/>
          <a:p>
            <a:pPr algn="l" indent="0" marL="0">
              <a:lnSpc>
                <a:spcPct val="110000"/>
              </a:lnSpc>
              <a:buNone/>
            </a:pPr>
            <a:r>
              <a:rPr lang="en-US" sz="1080" i="1" dirty="0">
                <a:solidFill>
                  <a:srgbClr val="52606D"/>
                </a:solidFill>
                <a:latin typeface="Aptos" pitchFamily="34" charset="0"/>
                <a:ea typeface="Aptos" pitchFamily="34" charset="-122"/>
                <a:cs typeface="Aptos" pitchFamily="34" charset="-120"/>
              </a:rPr>
              <a:t>Es una simulación declarada: la demora no es un defecto, es la variación normal de una red.</a:t>
            </a:r>
            <a:endParaRPr lang="en-US" sz="1080" dirty="0"/>
          </a:p>
        </p:txBody>
      </p:sp>
      <p:sp>
        <p:nvSpPr>
          <p:cNvPr id="32" name="Shape 27"/>
          <p:cNvSpPr/>
          <p:nvPr/>
        </p:nvSpPr>
        <p:spPr>
          <a:xfrm>
            <a:off x="658368" y="5650992"/>
            <a:ext cx="10874959" cy="548640"/>
          </a:xfrm>
          <a:prstGeom prst="rect">
            <a:avLst/>
          </a:prstGeom>
          <a:solidFill>
            <a:srgbClr val="102A43"/>
          </a:solidFill>
          <a:ln w="12700">
            <a:solidFill>
              <a:srgbClr val="102A43"/>
            </a:solidFill>
            <a:prstDash val="solid"/>
          </a:ln>
        </p:spPr>
      </p:sp>
      <p:sp>
        <p:nvSpPr>
          <p:cNvPr id="33" name="Text 2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Sin base limpia ni red realista, el resultado de la prueba no significaría nada.</a:t>
            </a:r>
            <a:endParaRPr lang="en-US" sz="13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DIEZ VECES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mismo código, tres resultados distintos</a:t>
            </a:r>
            <a:endParaRPr lang="en-US" sz="3000" dirty="0"/>
          </a:p>
        </p:txBody>
      </p:sp>
      <p:sp>
        <p:nvSpPr>
          <p:cNvPr id="10" name="Text 7"/>
          <p:cNvSpPr txBox="1"/>
          <p:nvPr/>
        </p:nvSpPr>
        <p:spPr>
          <a:xfrm>
            <a:off x="658368" y="1737360"/>
            <a:ext cx="1828800" cy="256032"/>
          </a:xfrm>
          <a:prstGeom prst="rect">
            <a:avLst/>
          </a:prstGeom>
          <a:noFill/>
          <a:ln/>
        </p:spPr>
        <p:txBody>
          <a:bodyPr wrap="square" lIns="0" tIns="0" rIns="0" bIns="0" rtlCol="0" anchor="t"/>
          <a:lstStyle/>
          <a:p>
            <a:pPr algn="l" indent="0" marL="0">
              <a:buNone/>
            </a:pPr>
            <a:r>
              <a:rPr lang="en-US" sz="1240" b="1" dirty="0">
                <a:solidFill>
                  <a:srgbClr val="102A43"/>
                </a:solidFill>
                <a:latin typeface="Consolas" pitchFamily="34" charset="0"/>
                <a:ea typeface="Consolas" pitchFamily="34" charset="-122"/>
                <a:cs typeface="Consolas" pitchFamily="34" charset="-120"/>
              </a:rPr>
              <a:t>--repeat-each=10</a:t>
            </a:r>
            <a:endParaRPr lang="en-US" sz="1240" dirty="0"/>
          </a:p>
        </p:txBody>
      </p:sp>
      <p:sp>
        <p:nvSpPr>
          <p:cNvPr id="11" name="Text 8"/>
          <p:cNvSpPr txBox="1"/>
          <p:nvPr/>
        </p:nvSpPr>
        <p:spPr>
          <a:xfrm>
            <a:off x="2505456" y="1755648"/>
            <a:ext cx="8686800" cy="256032"/>
          </a:xfrm>
          <a:prstGeom prst="rect">
            <a:avLst/>
          </a:prstGeom>
          <a:noFill/>
          <a:ln/>
        </p:spPr>
        <p:txBody>
          <a:bodyPr wrap="square" lIns="0" tIns="0" rIns="0" bIns="0" rtlCol="0" anchor="t"/>
          <a:lstStyle/>
          <a:p>
            <a:pPr algn="l" indent="0" marL="0">
              <a:buNone/>
            </a:pPr>
            <a:r>
              <a:rPr lang="en-US" sz="1220" dirty="0">
                <a:solidFill>
                  <a:srgbClr val="52606D"/>
                </a:solidFill>
                <a:latin typeface="Aptos" pitchFamily="34" charset="0"/>
                <a:ea typeface="Aptos" pitchFamily="34" charset="-122"/>
                <a:cs typeface="Aptos" pitchFamily="34" charset="-120"/>
              </a:rPr>
              <a:t>ejecuta la misma prueba diez veces seguidas. Nada cambia entre una tanda y otra.</a:t>
            </a:r>
            <a:endParaRPr lang="en-US" sz="1220" dirty="0"/>
          </a:p>
        </p:txBody>
      </p:sp>
      <p:sp>
        <p:nvSpPr>
          <p:cNvPr id="12" name="Shape 9"/>
          <p:cNvSpPr/>
          <p:nvPr/>
        </p:nvSpPr>
        <p:spPr>
          <a:xfrm>
            <a:off x="658368" y="4078224"/>
            <a:ext cx="10874959" cy="713232"/>
          </a:xfrm>
          <a:prstGeom prst="rect">
            <a:avLst/>
          </a:prstGeom>
          <a:solidFill>
            <a:srgbClr val="F2E7D9"/>
          </a:solidFill>
          <a:ln w="12700">
            <a:solidFill>
              <a:srgbClr val="F2E7D9"/>
            </a:solidFill>
            <a:prstDash val="solid"/>
          </a:ln>
        </p:spPr>
      </p:sp>
      <p:sp>
        <p:nvSpPr>
          <p:cNvPr id="13" name="Text 10"/>
          <p:cNvSpPr txBox="1"/>
          <p:nvPr/>
        </p:nvSpPr>
        <p:spPr>
          <a:xfrm>
            <a:off x="786384" y="2267712"/>
            <a:ext cx="2194560" cy="219456"/>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Con demora</a:t>
            </a:r>
            <a:endParaRPr lang="en-US" sz="1240" dirty="0"/>
          </a:p>
        </p:txBody>
      </p:sp>
      <p:sp>
        <p:nvSpPr>
          <p:cNvPr id="14" name="Text 11"/>
          <p:cNvSpPr txBox="1"/>
          <p:nvPr/>
        </p:nvSpPr>
        <p:spPr>
          <a:xfrm>
            <a:off x="786384" y="2487168"/>
            <a:ext cx="2249424" cy="201168"/>
          </a:xfrm>
          <a:prstGeom prst="rect">
            <a:avLst/>
          </a:prstGeom>
          <a:noFill/>
          <a:ln/>
        </p:spPr>
        <p:txBody>
          <a:bodyPr wrap="square" lIns="0" tIns="0" rIns="0" bIns="0" rtlCol="0" anchor="t"/>
          <a:lstStyle/>
          <a:p>
            <a:pPr algn="l" indent="0" marL="0">
              <a:lnSpc>
                <a:spcPct val="100000"/>
              </a:lnSpc>
              <a:buNone/>
            </a:pPr>
            <a:r>
              <a:rPr lang="en-US" sz="980" dirty="0">
                <a:solidFill>
                  <a:srgbClr val="52606D"/>
                </a:solidFill>
                <a:latin typeface="Aptos" pitchFamily="34" charset="0"/>
                <a:ea typeface="Aptos" pitchFamily="34" charset="-122"/>
                <a:cs typeface="Aptos" pitchFamily="34" charset="-120"/>
              </a:rPr>
              <a:t>1.ª tanda</a:t>
            </a:r>
            <a:endParaRPr lang="en-US" sz="980" dirty="0"/>
          </a:p>
        </p:txBody>
      </p:sp>
      <p:sp>
        <p:nvSpPr>
          <p:cNvPr id="15" name="Shape 12"/>
          <p:cNvSpPr/>
          <p:nvPr/>
        </p:nvSpPr>
        <p:spPr>
          <a:xfrm>
            <a:off x="3127248" y="2249424"/>
            <a:ext cx="548640" cy="420624"/>
          </a:xfrm>
          <a:prstGeom prst="rect">
            <a:avLst/>
          </a:prstGeom>
          <a:solidFill>
            <a:srgbClr val="B3181E"/>
          </a:solidFill>
          <a:ln w="12700">
            <a:solidFill>
              <a:srgbClr val="B3181E"/>
            </a:solidFill>
            <a:prstDash val="solid"/>
          </a:ln>
        </p:spPr>
      </p:sp>
      <p:sp>
        <p:nvSpPr>
          <p:cNvPr id="16" name="Shape 13"/>
          <p:cNvSpPr/>
          <p:nvPr/>
        </p:nvSpPr>
        <p:spPr>
          <a:xfrm>
            <a:off x="3730752" y="2249424"/>
            <a:ext cx="548640" cy="420624"/>
          </a:xfrm>
          <a:prstGeom prst="rect">
            <a:avLst/>
          </a:prstGeom>
          <a:solidFill>
            <a:srgbClr val="B3181E"/>
          </a:solidFill>
          <a:ln w="12700">
            <a:solidFill>
              <a:srgbClr val="B3181E"/>
            </a:solidFill>
            <a:prstDash val="solid"/>
          </a:ln>
        </p:spPr>
      </p:sp>
      <p:sp>
        <p:nvSpPr>
          <p:cNvPr id="17" name="Shape 14"/>
          <p:cNvSpPr/>
          <p:nvPr/>
        </p:nvSpPr>
        <p:spPr>
          <a:xfrm>
            <a:off x="4334256" y="2249424"/>
            <a:ext cx="548640" cy="420624"/>
          </a:xfrm>
          <a:prstGeom prst="rect">
            <a:avLst/>
          </a:prstGeom>
          <a:solidFill>
            <a:srgbClr val="B3181E"/>
          </a:solidFill>
          <a:ln w="12700">
            <a:solidFill>
              <a:srgbClr val="B3181E"/>
            </a:solidFill>
            <a:prstDash val="solid"/>
          </a:ln>
        </p:spPr>
      </p:sp>
      <p:sp>
        <p:nvSpPr>
          <p:cNvPr id="18" name="Shape 15"/>
          <p:cNvSpPr/>
          <p:nvPr/>
        </p:nvSpPr>
        <p:spPr>
          <a:xfrm>
            <a:off x="4937760" y="2249424"/>
            <a:ext cx="548640" cy="420624"/>
          </a:xfrm>
          <a:prstGeom prst="rect">
            <a:avLst/>
          </a:prstGeom>
          <a:solidFill>
            <a:srgbClr val="B3181E"/>
          </a:solidFill>
          <a:ln w="12700">
            <a:solidFill>
              <a:srgbClr val="B3181E"/>
            </a:solidFill>
            <a:prstDash val="solid"/>
          </a:ln>
        </p:spPr>
      </p:sp>
      <p:sp>
        <p:nvSpPr>
          <p:cNvPr id="19" name="Shape 16"/>
          <p:cNvSpPr/>
          <p:nvPr/>
        </p:nvSpPr>
        <p:spPr>
          <a:xfrm>
            <a:off x="5541264" y="2249424"/>
            <a:ext cx="548640" cy="420624"/>
          </a:xfrm>
          <a:prstGeom prst="rect">
            <a:avLst/>
          </a:prstGeom>
          <a:solidFill>
            <a:srgbClr val="2E7D4F"/>
          </a:solidFill>
          <a:ln w="12700">
            <a:solidFill>
              <a:srgbClr val="2E7D4F"/>
            </a:solidFill>
            <a:prstDash val="solid"/>
          </a:ln>
        </p:spPr>
      </p:sp>
      <p:sp>
        <p:nvSpPr>
          <p:cNvPr id="20" name="Shape 17"/>
          <p:cNvSpPr/>
          <p:nvPr/>
        </p:nvSpPr>
        <p:spPr>
          <a:xfrm>
            <a:off x="6144768" y="2249424"/>
            <a:ext cx="548640" cy="420624"/>
          </a:xfrm>
          <a:prstGeom prst="rect">
            <a:avLst/>
          </a:prstGeom>
          <a:solidFill>
            <a:srgbClr val="2E7D4F"/>
          </a:solidFill>
          <a:ln w="12700">
            <a:solidFill>
              <a:srgbClr val="2E7D4F"/>
            </a:solidFill>
            <a:prstDash val="solid"/>
          </a:ln>
        </p:spPr>
      </p:sp>
      <p:sp>
        <p:nvSpPr>
          <p:cNvPr id="21" name="Shape 18"/>
          <p:cNvSpPr/>
          <p:nvPr/>
        </p:nvSpPr>
        <p:spPr>
          <a:xfrm>
            <a:off x="6748272" y="2249424"/>
            <a:ext cx="548640" cy="420624"/>
          </a:xfrm>
          <a:prstGeom prst="rect">
            <a:avLst/>
          </a:prstGeom>
          <a:solidFill>
            <a:srgbClr val="2E7D4F"/>
          </a:solidFill>
          <a:ln w="12700">
            <a:solidFill>
              <a:srgbClr val="2E7D4F"/>
            </a:solidFill>
            <a:prstDash val="solid"/>
          </a:ln>
        </p:spPr>
      </p:sp>
      <p:sp>
        <p:nvSpPr>
          <p:cNvPr id="22" name="Shape 19"/>
          <p:cNvSpPr/>
          <p:nvPr/>
        </p:nvSpPr>
        <p:spPr>
          <a:xfrm>
            <a:off x="7351776" y="2249424"/>
            <a:ext cx="548640" cy="420624"/>
          </a:xfrm>
          <a:prstGeom prst="rect">
            <a:avLst/>
          </a:prstGeom>
          <a:solidFill>
            <a:srgbClr val="2E7D4F"/>
          </a:solidFill>
          <a:ln w="12700">
            <a:solidFill>
              <a:srgbClr val="2E7D4F"/>
            </a:solidFill>
            <a:prstDash val="solid"/>
          </a:ln>
        </p:spPr>
      </p:sp>
      <p:sp>
        <p:nvSpPr>
          <p:cNvPr id="23" name="Shape 20"/>
          <p:cNvSpPr/>
          <p:nvPr/>
        </p:nvSpPr>
        <p:spPr>
          <a:xfrm>
            <a:off x="7955280" y="2249424"/>
            <a:ext cx="548640" cy="420624"/>
          </a:xfrm>
          <a:prstGeom prst="rect">
            <a:avLst/>
          </a:prstGeom>
          <a:solidFill>
            <a:srgbClr val="2E7D4F"/>
          </a:solidFill>
          <a:ln w="12700">
            <a:solidFill>
              <a:srgbClr val="2E7D4F"/>
            </a:solidFill>
            <a:prstDash val="solid"/>
          </a:ln>
        </p:spPr>
      </p:sp>
      <p:sp>
        <p:nvSpPr>
          <p:cNvPr id="24" name="Shape 21"/>
          <p:cNvSpPr/>
          <p:nvPr/>
        </p:nvSpPr>
        <p:spPr>
          <a:xfrm>
            <a:off x="8558784" y="2249424"/>
            <a:ext cx="548640" cy="420624"/>
          </a:xfrm>
          <a:prstGeom prst="rect">
            <a:avLst/>
          </a:prstGeom>
          <a:solidFill>
            <a:srgbClr val="2E7D4F"/>
          </a:solidFill>
          <a:ln w="12700">
            <a:solidFill>
              <a:srgbClr val="2E7D4F"/>
            </a:solidFill>
            <a:prstDash val="solid"/>
          </a:ln>
        </p:spPr>
      </p:sp>
      <p:sp>
        <p:nvSpPr>
          <p:cNvPr id="25" name="Text 22"/>
          <p:cNvSpPr txBox="1"/>
          <p:nvPr/>
        </p:nvSpPr>
        <p:spPr>
          <a:xfrm>
            <a:off x="9290304" y="2322576"/>
            <a:ext cx="2231136" cy="274320"/>
          </a:xfrm>
          <a:prstGeom prst="rect">
            <a:avLst/>
          </a:prstGeom>
          <a:noFill/>
          <a:ln/>
        </p:spPr>
        <p:txBody>
          <a:bodyPr wrap="square" lIns="0" tIns="0" rIns="0" bIns="0" rtlCol="0" anchor="ctr"/>
          <a:lstStyle/>
          <a:p>
            <a:pPr algn="l" indent="0" marL="0">
              <a:buNone/>
            </a:pPr>
            <a:r>
              <a:rPr lang="en-US" sz="1040" b="1" dirty="0">
                <a:solidFill>
                  <a:srgbClr val="B3181E"/>
                </a:solidFill>
                <a:latin typeface="Consolas" pitchFamily="34" charset="0"/>
                <a:ea typeface="Consolas" pitchFamily="34" charset="-122"/>
                <a:cs typeface="Consolas" pitchFamily="34" charset="-120"/>
              </a:rPr>
              <a:t>4 failed · 6 passed (31.4s)</a:t>
            </a:r>
            <a:endParaRPr lang="en-US" sz="1040" dirty="0"/>
          </a:p>
        </p:txBody>
      </p:sp>
      <p:sp>
        <p:nvSpPr>
          <p:cNvPr id="26" name="Text 23"/>
          <p:cNvSpPr txBox="1"/>
          <p:nvPr/>
        </p:nvSpPr>
        <p:spPr>
          <a:xfrm>
            <a:off x="786384" y="2907792"/>
            <a:ext cx="2249424" cy="201168"/>
          </a:xfrm>
          <a:prstGeom prst="rect">
            <a:avLst/>
          </a:prstGeom>
          <a:noFill/>
          <a:ln/>
        </p:spPr>
        <p:txBody>
          <a:bodyPr wrap="square" lIns="0" tIns="0" rIns="0" bIns="0" rtlCol="0" anchor="t"/>
          <a:lstStyle/>
          <a:p>
            <a:pPr algn="l" indent="0" marL="0">
              <a:lnSpc>
                <a:spcPct val="100000"/>
              </a:lnSpc>
              <a:buNone/>
            </a:pPr>
            <a:r>
              <a:rPr lang="en-US" sz="980" dirty="0">
                <a:solidFill>
                  <a:srgbClr val="52606D"/>
                </a:solidFill>
                <a:latin typeface="Aptos" pitchFamily="34" charset="0"/>
                <a:ea typeface="Aptos" pitchFamily="34" charset="-122"/>
                <a:cs typeface="Aptos" pitchFamily="34" charset="-120"/>
              </a:rPr>
              <a:t>2.ª tanda</a:t>
            </a:r>
            <a:endParaRPr lang="en-US" sz="980" dirty="0"/>
          </a:p>
        </p:txBody>
      </p:sp>
      <p:sp>
        <p:nvSpPr>
          <p:cNvPr id="27" name="Shape 24"/>
          <p:cNvSpPr/>
          <p:nvPr/>
        </p:nvSpPr>
        <p:spPr>
          <a:xfrm>
            <a:off x="3127248" y="2816352"/>
            <a:ext cx="548640" cy="420624"/>
          </a:xfrm>
          <a:prstGeom prst="rect">
            <a:avLst/>
          </a:prstGeom>
          <a:solidFill>
            <a:srgbClr val="B3181E"/>
          </a:solidFill>
          <a:ln w="12700">
            <a:solidFill>
              <a:srgbClr val="B3181E"/>
            </a:solidFill>
            <a:prstDash val="solid"/>
          </a:ln>
        </p:spPr>
      </p:sp>
      <p:sp>
        <p:nvSpPr>
          <p:cNvPr id="28" name="Shape 25"/>
          <p:cNvSpPr/>
          <p:nvPr/>
        </p:nvSpPr>
        <p:spPr>
          <a:xfrm>
            <a:off x="3730752" y="2816352"/>
            <a:ext cx="548640" cy="420624"/>
          </a:xfrm>
          <a:prstGeom prst="rect">
            <a:avLst/>
          </a:prstGeom>
          <a:solidFill>
            <a:srgbClr val="B3181E"/>
          </a:solidFill>
          <a:ln w="12700">
            <a:solidFill>
              <a:srgbClr val="B3181E"/>
            </a:solidFill>
            <a:prstDash val="solid"/>
          </a:ln>
        </p:spPr>
      </p:sp>
      <p:sp>
        <p:nvSpPr>
          <p:cNvPr id="29" name="Shape 26"/>
          <p:cNvSpPr/>
          <p:nvPr/>
        </p:nvSpPr>
        <p:spPr>
          <a:xfrm>
            <a:off x="4334256" y="2816352"/>
            <a:ext cx="548640" cy="420624"/>
          </a:xfrm>
          <a:prstGeom prst="rect">
            <a:avLst/>
          </a:prstGeom>
          <a:solidFill>
            <a:srgbClr val="B3181E"/>
          </a:solidFill>
          <a:ln w="12700">
            <a:solidFill>
              <a:srgbClr val="B3181E"/>
            </a:solidFill>
            <a:prstDash val="solid"/>
          </a:ln>
        </p:spPr>
      </p:sp>
      <p:sp>
        <p:nvSpPr>
          <p:cNvPr id="30" name="Shape 27"/>
          <p:cNvSpPr/>
          <p:nvPr/>
        </p:nvSpPr>
        <p:spPr>
          <a:xfrm>
            <a:off x="4937760" y="2816352"/>
            <a:ext cx="548640" cy="420624"/>
          </a:xfrm>
          <a:prstGeom prst="rect">
            <a:avLst/>
          </a:prstGeom>
          <a:solidFill>
            <a:srgbClr val="2E7D4F"/>
          </a:solidFill>
          <a:ln w="12700">
            <a:solidFill>
              <a:srgbClr val="2E7D4F"/>
            </a:solidFill>
            <a:prstDash val="solid"/>
          </a:ln>
        </p:spPr>
      </p:sp>
      <p:sp>
        <p:nvSpPr>
          <p:cNvPr id="31" name="Shape 28"/>
          <p:cNvSpPr/>
          <p:nvPr/>
        </p:nvSpPr>
        <p:spPr>
          <a:xfrm>
            <a:off x="5541264" y="2816352"/>
            <a:ext cx="548640" cy="420624"/>
          </a:xfrm>
          <a:prstGeom prst="rect">
            <a:avLst/>
          </a:prstGeom>
          <a:solidFill>
            <a:srgbClr val="2E7D4F"/>
          </a:solidFill>
          <a:ln w="12700">
            <a:solidFill>
              <a:srgbClr val="2E7D4F"/>
            </a:solidFill>
            <a:prstDash val="solid"/>
          </a:ln>
        </p:spPr>
      </p:sp>
      <p:sp>
        <p:nvSpPr>
          <p:cNvPr id="32" name="Shape 29"/>
          <p:cNvSpPr/>
          <p:nvPr/>
        </p:nvSpPr>
        <p:spPr>
          <a:xfrm>
            <a:off x="6144768" y="2816352"/>
            <a:ext cx="548640" cy="420624"/>
          </a:xfrm>
          <a:prstGeom prst="rect">
            <a:avLst/>
          </a:prstGeom>
          <a:solidFill>
            <a:srgbClr val="2E7D4F"/>
          </a:solidFill>
          <a:ln w="12700">
            <a:solidFill>
              <a:srgbClr val="2E7D4F"/>
            </a:solidFill>
            <a:prstDash val="solid"/>
          </a:ln>
        </p:spPr>
      </p:sp>
      <p:sp>
        <p:nvSpPr>
          <p:cNvPr id="33" name="Shape 30"/>
          <p:cNvSpPr/>
          <p:nvPr/>
        </p:nvSpPr>
        <p:spPr>
          <a:xfrm>
            <a:off x="6748272" y="2816352"/>
            <a:ext cx="548640" cy="420624"/>
          </a:xfrm>
          <a:prstGeom prst="rect">
            <a:avLst/>
          </a:prstGeom>
          <a:solidFill>
            <a:srgbClr val="2E7D4F"/>
          </a:solidFill>
          <a:ln w="12700">
            <a:solidFill>
              <a:srgbClr val="2E7D4F"/>
            </a:solidFill>
            <a:prstDash val="solid"/>
          </a:ln>
        </p:spPr>
      </p:sp>
      <p:sp>
        <p:nvSpPr>
          <p:cNvPr id="34" name="Shape 31"/>
          <p:cNvSpPr/>
          <p:nvPr/>
        </p:nvSpPr>
        <p:spPr>
          <a:xfrm>
            <a:off x="7351776" y="2816352"/>
            <a:ext cx="548640" cy="420624"/>
          </a:xfrm>
          <a:prstGeom prst="rect">
            <a:avLst/>
          </a:prstGeom>
          <a:solidFill>
            <a:srgbClr val="2E7D4F"/>
          </a:solidFill>
          <a:ln w="12700">
            <a:solidFill>
              <a:srgbClr val="2E7D4F"/>
            </a:solidFill>
            <a:prstDash val="solid"/>
          </a:ln>
        </p:spPr>
      </p:sp>
      <p:sp>
        <p:nvSpPr>
          <p:cNvPr id="35" name="Shape 32"/>
          <p:cNvSpPr/>
          <p:nvPr/>
        </p:nvSpPr>
        <p:spPr>
          <a:xfrm>
            <a:off x="7955280" y="2816352"/>
            <a:ext cx="548640" cy="420624"/>
          </a:xfrm>
          <a:prstGeom prst="rect">
            <a:avLst/>
          </a:prstGeom>
          <a:solidFill>
            <a:srgbClr val="2E7D4F"/>
          </a:solidFill>
          <a:ln w="12700">
            <a:solidFill>
              <a:srgbClr val="2E7D4F"/>
            </a:solidFill>
            <a:prstDash val="solid"/>
          </a:ln>
        </p:spPr>
      </p:sp>
      <p:sp>
        <p:nvSpPr>
          <p:cNvPr id="36" name="Shape 33"/>
          <p:cNvSpPr/>
          <p:nvPr/>
        </p:nvSpPr>
        <p:spPr>
          <a:xfrm>
            <a:off x="8558784" y="2816352"/>
            <a:ext cx="548640" cy="420624"/>
          </a:xfrm>
          <a:prstGeom prst="rect">
            <a:avLst/>
          </a:prstGeom>
          <a:solidFill>
            <a:srgbClr val="2E7D4F"/>
          </a:solidFill>
          <a:ln w="12700">
            <a:solidFill>
              <a:srgbClr val="2E7D4F"/>
            </a:solidFill>
            <a:prstDash val="solid"/>
          </a:ln>
        </p:spPr>
      </p:sp>
      <p:sp>
        <p:nvSpPr>
          <p:cNvPr id="37" name="Text 34"/>
          <p:cNvSpPr txBox="1"/>
          <p:nvPr/>
        </p:nvSpPr>
        <p:spPr>
          <a:xfrm>
            <a:off x="9290304" y="2889504"/>
            <a:ext cx="2231136" cy="274320"/>
          </a:xfrm>
          <a:prstGeom prst="rect">
            <a:avLst/>
          </a:prstGeom>
          <a:noFill/>
          <a:ln/>
        </p:spPr>
        <p:txBody>
          <a:bodyPr wrap="square" lIns="0" tIns="0" rIns="0" bIns="0" rtlCol="0" anchor="ctr"/>
          <a:lstStyle/>
          <a:p>
            <a:pPr algn="l" indent="0" marL="0">
              <a:buNone/>
            </a:pPr>
            <a:r>
              <a:rPr lang="en-US" sz="1040" b="1" dirty="0">
                <a:solidFill>
                  <a:srgbClr val="B3181E"/>
                </a:solidFill>
                <a:latin typeface="Consolas" pitchFamily="34" charset="0"/>
                <a:ea typeface="Consolas" pitchFamily="34" charset="-122"/>
                <a:cs typeface="Consolas" pitchFamily="34" charset="-120"/>
              </a:rPr>
              <a:t>3 failed · 7 passed (30.7s)</a:t>
            </a:r>
            <a:endParaRPr lang="en-US" sz="1040" dirty="0"/>
          </a:p>
        </p:txBody>
      </p:sp>
      <p:sp>
        <p:nvSpPr>
          <p:cNvPr id="38" name="Text 35"/>
          <p:cNvSpPr txBox="1"/>
          <p:nvPr/>
        </p:nvSpPr>
        <p:spPr>
          <a:xfrm>
            <a:off x="786384" y="3474720"/>
            <a:ext cx="2249424" cy="201168"/>
          </a:xfrm>
          <a:prstGeom prst="rect">
            <a:avLst/>
          </a:prstGeom>
          <a:noFill/>
          <a:ln/>
        </p:spPr>
        <p:txBody>
          <a:bodyPr wrap="square" lIns="0" tIns="0" rIns="0" bIns="0" rtlCol="0" anchor="t"/>
          <a:lstStyle/>
          <a:p>
            <a:pPr algn="l" indent="0" marL="0">
              <a:lnSpc>
                <a:spcPct val="100000"/>
              </a:lnSpc>
              <a:buNone/>
            </a:pPr>
            <a:r>
              <a:rPr lang="en-US" sz="980" dirty="0">
                <a:solidFill>
                  <a:srgbClr val="52606D"/>
                </a:solidFill>
                <a:latin typeface="Aptos" pitchFamily="34" charset="0"/>
                <a:ea typeface="Aptos" pitchFamily="34" charset="-122"/>
                <a:cs typeface="Aptos" pitchFamily="34" charset="-120"/>
              </a:rPr>
              <a:t>3.ª tanda</a:t>
            </a:r>
            <a:endParaRPr lang="en-US" sz="980" dirty="0"/>
          </a:p>
        </p:txBody>
      </p:sp>
      <p:sp>
        <p:nvSpPr>
          <p:cNvPr id="39" name="Shape 36"/>
          <p:cNvSpPr/>
          <p:nvPr/>
        </p:nvSpPr>
        <p:spPr>
          <a:xfrm>
            <a:off x="3127248" y="3383280"/>
            <a:ext cx="548640" cy="420624"/>
          </a:xfrm>
          <a:prstGeom prst="rect">
            <a:avLst/>
          </a:prstGeom>
          <a:solidFill>
            <a:srgbClr val="B3181E"/>
          </a:solidFill>
          <a:ln w="12700">
            <a:solidFill>
              <a:srgbClr val="B3181E"/>
            </a:solidFill>
            <a:prstDash val="solid"/>
          </a:ln>
        </p:spPr>
      </p:sp>
      <p:sp>
        <p:nvSpPr>
          <p:cNvPr id="40" name="Shape 37"/>
          <p:cNvSpPr/>
          <p:nvPr/>
        </p:nvSpPr>
        <p:spPr>
          <a:xfrm>
            <a:off x="3730752" y="3383280"/>
            <a:ext cx="548640" cy="420624"/>
          </a:xfrm>
          <a:prstGeom prst="rect">
            <a:avLst/>
          </a:prstGeom>
          <a:solidFill>
            <a:srgbClr val="B3181E"/>
          </a:solidFill>
          <a:ln w="12700">
            <a:solidFill>
              <a:srgbClr val="B3181E"/>
            </a:solidFill>
            <a:prstDash val="solid"/>
          </a:ln>
        </p:spPr>
      </p:sp>
      <p:sp>
        <p:nvSpPr>
          <p:cNvPr id="41" name="Shape 38"/>
          <p:cNvSpPr/>
          <p:nvPr/>
        </p:nvSpPr>
        <p:spPr>
          <a:xfrm>
            <a:off x="4334256" y="3383280"/>
            <a:ext cx="548640" cy="420624"/>
          </a:xfrm>
          <a:prstGeom prst="rect">
            <a:avLst/>
          </a:prstGeom>
          <a:solidFill>
            <a:srgbClr val="B3181E"/>
          </a:solidFill>
          <a:ln w="12700">
            <a:solidFill>
              <a:srgbClr val="B3181E"/>
            </a:solidFill>
            <a:prstDash val="solid"/>
          </a:ln>
        </p:spPr>
      </p:sp>
      <p:sp>
        <p:nvSpPr>
          <p:cNvPr id="42" name="Shape 39"/>
          <p:cNvSpPr/>
          <p:nvPr/>
        </p:nvSpPr>
        <p:spPr>
          <a:xfrm>
            <a:off x="4937760" y="3383280"/>
            <a:ext cx="548640" cy="420624"/>
          </a:xfrm>
          <a:prstGeom prst="rect">
            <a:avLst/>
          </a:prstGeom>
          <a:solidFill>
            <a:srgbClr val="B3181E"/>
          </a:solidFill>
          <a:ln w="12700">
            <a:solidFill>
              <a:srgbClr val="B3181E"/>
            </a:solidFill>
            <a:prstDash val="solid"/>
          </a:ln>
        </p:spPr>
      </p:sp>
      <p:sp>
        <p:nvSpPr>
          <p:cNvPr id="43" name="Shape 40"/>
          <p:cNvSpPr/>
          <p:nvPr/>
        </p:nvSpPr>
        <p:spPr>
          <a:xfrm>
            <a:off x="5541264" y="3383280"/>
            <a:ext cx="548640" cy="420624"/>
          </a:xfrm>
          <a:prstGeom prst="rect">
            <a:avLst/>
          </a:prstGeom>
          <a:solidFill>
            <a:srgbClr val="B3181E"/>
          </a:solidFill>
          <a:ln w="12700">
            <a:solidFill>
              <a:srgbClr val="B3181E"/>
            </a:solidFill>
            <a:prstDash val="solid"/>
          </a:ln>
        </p:spPr>
      </p:sp>
      <p:sp>
        <p:nvSpPr>
          <p:cNvPr id="44" name="Shape 41"/>
          <p:cNvSpPr/>
          <p:nvPr/>
        </p:nvSpPr>
        <p:spPr>
          <a:xfrm>
            <a:off x="6144768" y="3383280"/>
            <a:ext cx="548640" cy="420624"/>
          </a:xfrm>
          <a:prstGeom prst="rect">
            <a:avLst/>
          </a:prstGeom>
          <a:solidFill>
            <a:srgbClr val="2E7D4F"/>
          </a:solidFill>
          <a:ln w="12700">
            <a:solidFill>
              <a:srgbClr val="2E7D4F"/>
            </a:solidFill>
            <a:prstDash val="solid"/>
          </a:ln>
        </p:spPr>
      </p:sp>
      <p:sp>
        <p:nvSpPr>
          <p:cNvPr id="45" name="Shape 42"/>
          <p:cNvSpPr/>
          <p:nvPr/>
        </p:nvSpPr>
        <p:spPr>
          <a:xfrm>
            <a:off x="6748272" y="3383280"/>
            <a:ext cx="548640" cy="420624"/>
          </a:xfrm>
          <a:prstGeom prst="rect">
            <a:avLst/>
          </a:prstGeom>
          <a:solidFill>
            <a:srgbClr val="2E7D4F"/>
          </a:solidFill>
          <a:ln w="12700">
            <a:solidFill>
              <a:srgbClr val="2E7D4F"/>
            </a:solidFill>
            <a:prstDash val="solid"/>
          </a:ln>
        </p:spPr>
      </p:sp>
      <p:sp>
        <p:nvSpPr>
          <p:cNvPr id="46" name="Shape 43"/>
          <p:cNvSpPr/>
          <p:nvPr/>
        </p:nvSpPr>
        <p:spPr>
          <a:xfrm>
            <a:off x="7351776" y="3383280"/>
            <a:ext cx="548640" cy="420624"/>
          </a:xfrm>
          <a:prstGeom prst="rect">
            <a:avLst/>
          </a:prstGeom>
          <a:solidFill>
            <a:srgbClr val="2E7D4F"/>
          </a:solidFill>
          <a:ln w="12700">
            <a:solidFill>
              <a:srgbClr val="2E7D4F"/>
            </a:solidFill>
            <a:prstDash val="solid"/>
          </a:ln>
        </p:spPr>
      </p:sp>
      <p:sp>
        <p:nvSpPr>
          <p:cNvPr id="47" name="Shape 44"/>
          <p:cNvSpPr/>
          <p:nvPr/>
        </p:nvSpPr>
        <p:spPr>
          <a:xfrm>
            <a:off x="7955280" y="3383280"/>
            <a:ext cx="548640" cy="420624"/>
          </a:xfrm>
          <a:prstGeom prst="rect">
            <a:avLst/>
          </a:prstGeom>
          <a:solidFill>
            <a:srgbClr val="2E7D4F"/>
          </a:solidFill>
          <a:ln w="12700">
            <a:solidFill>
              <a:srgbClr val="2E7D4F"/>
            </a:solidFill>
            <a:prstDash val="solid"/>
          </a:ln>
        </p:spPr>
      </p:sp>
      <p:sp>
        <p:nvSpPr>
          <p:cNvPr id="48" name="Shape 45"/>
          <p:cNvSpPr/>
          <p:nvPr/>
        </p:nvSpPr>
        <p:spPr>
          <a:xfrm>
            <a:off x="8558784" y="3383280"/>
            <a:ext cx="548640" cy="420624"/>
          </a:xfrm>
          <a:prstGeom prst="rect">
            <a:avLst/>
          </a:prstGeom>
          <a:solidFill>
            <a:srgbClr val="2E7D4F"/>
          </a:solidFill>
          <a:ln w="12700">
            <a:solidFill>
              <a:srgbClr val="2E7D4F"/>
            </a:solidFill>
            <a:prstDash val="solid"/>
          </a:ln>
        </p:spPr>
      </p:sp>
      <p:sp>
        <p:nvSpPr>
          <p:cNvPr id="49" name="Text 46"/>
          <p:cNvSpPr txBox="1"/>
          <p:nvPr/>
        </p:nvSpPr>
        <p:spPr>
          <a:xfrm>
            <a:off x="9290304" y="3456432"/>
            <a:ext cx="2231136" cy="274320"/>
          </a:xfrm>
          <a:prstGeom prst="rect">
            <a:avLst/>
          </a:prstGeom>
          <a:noFill/>
          <a:ln/>
        </p:spPr>
        <p:txBody>
          <a:bodyPr wrap="square" lIns="0" tIns="0" rIns="0" bIns="0" rtlCol="0" anchor="ctr"/>
          <a:lstStyle/>
          <a:p>
            <a:pPr algn="l" indent="0" marL="0">
              <a:buNone/>
            </a:pPr>
            <a:r>
              <a:rPr lang="en-US" sz="1040" b="1" dirty="0">
                <a:solidFill>
                  <a:srgbClr val="B3181E"/>
                </a:solidFill>
                <a:latin typeface="Consolas" pitchFamily="34" charset="0"/>
                <a:ea typeface="Consolas" pitchFamily="34" charset="-122"/>
                <a:cs typeface="Consolas" pitchFamily="34" charset="-120"/>
              </a:rPr>
              <a:t>5 failed · 5 passed (28.5s)</a:t>
            </a:r>
            <a:endParaRPr lang="en-US" sz="1040" dirty="0"/>
          </a:p>
        </p:txBody>
      </p:sp>
      <p:sp>
        <p:nvSpPr>
          <p:cNvPr id="50" name="Text 47"/>
          <p:cNvSpPr txBox="1"/>
          <p:nvPr/>
        </p:nvSpPr>
        <p:spPr>
          <a:xfrm>
            <a:off x="786384" y="4242816"/>
            <a:ext cx="2194560" cy="219456"/>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Sin demora</a:t>
            </a:r>
            <a:endParaRPr lang="en-US" sz="1240" dirty="0"/>
          </a:p>
        </p:txBody>
      </p:sp>
      <p:sp>
        <p:nvSpPr>
          <p:cNvPr id="51" name="Text 48"/>
          <p:cNvSpPr txBox="1"/>
          <p:nvPr/>
        </p:nvSpPr>
        <p:spPr>
          <a:xfrm>
            <a:off x="786384" y="4462272"/>
            <a:ext cx="2249424" cy="310896"/>
          </a:xfrm>
          <a:prstGeom prst="rect">
            <a:avLst/>
          </a:prstGeom>
          <a:noFill/>
          <a:ln/>
        </p:spPr>
        <p:txBody>
          <a:bodyPr wrap="square" lIns="0" tIns="0" rIns="0" bIns="0" rtlCol="0" anchor="t"/>
          <a:lstStyle/>
          <a:p>
            <a:pPr algn="l" indent="0" marL="0">
              <a:lnSpc>
                <a:spcPct val="100000"/>
              </a:lnSpc>
              <a:buNone/>
            </a:pPr>
            <a:r>
              <a:rPr lang="en-US" sz="980" dirty="0">
                <a:solidFill>
                  <a:srgbClr val="52606D"/>
                </a:solidFill>
                <a:latin typeface="Aptos" pitchFamily="34" charset="0"/>
                <a:ea typeface="Aptos" pitchFamily="34" charset="-122"/>
                <a:cs typeface="Aptos" pitchFamily="34" charset="-120"/>
              </a:rPr>
              <a:t>como en la máquina de quien la escribe</a:t>
            </a:r>
            <a:endParaRPr lang="en-US" sz="980" dirty="0"/>
          </a:p>
        </p:txBody>
      </p:sp>
      <p:sp>
        <p:nvSpPr>
          <p:cNvPr id="52" name="Shape 49"/>
          <p:cNvSpPr/>
          <p:nvPr/>
        </p:nvSpPr>
        <p:spPr>
          <a:xfrm>
            <a:off x="3127248" y="4224528"/>
            <a:ext cx="548640" cy="420624"/>
          </a:xfrm>
          <a:prstGeom prst="rect">
            <a:avLst/>
          </a:prstGeom>
          <a:solidFill>
            <a:srgbClr val="2E7D4F"/>
          </a:solidFill>
          <a:ln w="12700">
            <a:solidFill>
              <a:srgbClr val="2E7D4F"/>
            </a:solidFill>
            <a:prstDash val="solid"/>
          </a:ln>
        </p:spPr>
      </p:sp>
      <p:sp>
        <p:nvSpPr>
          <p:cNvPr id="53" name="Shape 50"/>
          <p:cNvSpPr/>
          <p:nvPr/>
        </p:nvSpPr>
        <p:spPr>
          <a:xfrm>
            <a:off x="3730752" y="4224528"/>
            <a:ext cx="548640" cy="420624"/>
          </a:xfrm>
          <a:prstGeom prst="rect">
            <a:avLst/>
          </a:prstGeom>
          <a:solidFill>
            <a:srgbClr val="2E7D4F"/>
          </a:solidFill>
          <a:ln w="12700">
            <a:solidFill>
              <a:srgbClr val="2E7D4F"/>
            </a:solidFill>
            <a:prstDash val="solid"/>
          </a:ln>
        </p:spPr>
      </p:sp>
      <p:sp>
        <p:nvSpPr>
          <p:cNvPr id="54" name="Shape 51"/>
          <p:cNvSpPr/>
          <p:nvPr/>
        </p:nvSpPr>
        <p:spPr>
          <a:xfrm>
            <a:off x="4334256" y="4224528"/>
            <a:ext cx="548640" cy="420624"/>
          </a:xfrm>
          <a:prstGeom prst="rect">
            <a:avLst/>
          </a:prstGeom>
          <a:solidFill>
            <a:srgbClr val="2E7D4F"/>
          </a:solidFill>
          <a:ln w="12700">
            <a:solidFill>
              <a:srgbClr val="2E7D4F"/>
            </a:solidFill>
            <a:prstDash val="solid"/>
          </a:ln>
        </p:spPr>
      </p:sp>
      <p:sp>
        <p:nvSpPr>
          <p:cNvPr id="55" name="Shape 52"/>
          <p:cNvSpPr/>
          <p:nvPr/>
        </p:nvSpPr>
        <p:spPr>
          <a:xfrm>
            <a:off x="4937760" y="4224528"/>
            <a:ext cx="548640" cy="420624"/>
          </a:xfrm>
          <a:prstGeom prst="rect">
            <a:avLst/>
          </a:prstGeom>
          <a:solidFill>
            <a:srgbClr val="2E7D4F"/>
          </a:solidFill>
          <a:ln w="12700">
            <a:solidFill>
              <a:srgbClr val="2E7D4F"/>
            </a:solidFill>
            <a:prstDash val="solid"/>
          </a:ln>
        </p:spPr>
      </p:sp>
      <p:sp>
        <p:nvSpPr>
          <p:cNvPr id="56" name="Shape 53"/>
          <p:cNvSpPr/>
          <p:nvPr/>
        </p:nvSpPr>
        <p:spPr>
          <a:xfrm>
            <a:off x="5541264" y="4224528"/>
            <a:ext cx="548640" cy="420624"/>
          </a:xfrm>
          <a:prstGeom prst="rect">
            <a:avLst/>
          </a:prstGeom>
          <a:solidFill>
            <a:srgbClr val="2E7D4F"/>
          </a:solidFill>
          <a:ln w="12700">
            <a:solidFill>
              <a:srgbClr val="2E7D4F"/>
            </a:solidFill>
            <a:prstDash val="solid"/>
          </a:ln>
        </p:spPr>
      </p:sp>
      <p:sp>
        <p:nvSpPr>
          <p:cNvPr id="57" name="Shape 54"/>
          <p:cNvSpPr/>
          <p:nvPr/>
        </p:nvSpPr>
        <p:spPr>
          <a:xfrm>
            <a:off x="6144768" y="4224528"/>
            <a:ext cx="548640" cy="420624"/>
          </a:xfrm>
          <a:prstGeom prst="rect">
            <a:avLst/>
          </a:prstGeom>
          <a:solidFill>
            <a:srgbClr val="2E7D4F"/>
          </a:solidFill>
          <a:ln w="12700">
            <a:solidFill>
              <a:srgbClr val="2E7D4F"/>
            </a:solidFill>
            <a:prstDash val="solid"/>
          </a:ln>
        </p:spPr>
      </p:sp>
      <p:sp>
        <p:nvSpPr>
          <p:cNvPr id="58" name="Shape 55"/>
          <p:cNvSpPr/>
          <p:nvPr/>
        </p:nvSpPr>
        <p:spPr>
          <a:xfrm>
            <a:off x="6748272" y="4224528"/>
            <a:ext cx="548640" cy="420624"/>
          </a:xfrm>
          <a:prstGeom prst="rect">
            <a:avLst/>
          </a:prstGeom>
          <a:solidFill>
            <a:srgbClr val="2E7D4F"/>
          </a:solidFill>
          <a:ln w="12700">
            <a:solidFill>
              <a:srgbClr val="2E7D4F"/>
            </a:solidFill>
            <a:prstDash val="solid"/>
          </a:ln>
        </p:spPr>
      </p:sp>
      <p:sp>
        <p:nvSpPr>
          <p:cNvPr id="59" name="Shape 56"/>
          <p:cNvSpPr/>
          <p:nvPr/>
        </p:nvSpPr>
        <p:spPr>
          <a:xfrm>
            <a:off x="7351776" y="4224528"/>
            <a:ext cx="548640" cy="420624"/>
          </a:xfrm>
          <a:prstGeom prst="rect">
            <a:avLst/>
          </a:prstGeom>
          <a:solidFill>
            <a:srgbClr val="2E7D4F"/>
          </a:solidFill>
          <a:ln w="12700">
            <a:solidFill>
              <a:srgbClr val="2E7D4F"/>
            </a:solidFill>
            <a:prstDash val="solid"/>
          </a:ln>
        </p:spPr>
      </p:sp>
      <p:sp>
        <p:nvSpPr>
          <p:cNvPr id="60" name="Shape 57"/>
          <p:cNvSpPr/>
          <p:nvPr/>
        </p:nvSpPr>
        <p:spPr>
          <a:xfrm>
            <a:off x="7955280" y="4224528"/>
            <a:ext cx="548640" cy="420624"/>
          </a:xfrm>
          <a:prstGeom prst="rect">
            <a:avLst/>
          </a:prstGeom>
          <a:solidFill>
            <a:srgbClr val="2E7D4F"/>
          </a:solidFill>
          <a:ln w="12700">
            <a:solidFill>
              <a:srgbClr val="2E7D4F"/>
            </a:solidFill>
            <a:prstDash val="solid"/>
          </a:ln>
        </p:spPr>
      </p:sp>
      <p:sp>
        <p:nvSpPr>
          <p:cNvPr id="61" name="Shape 58"/>
          <p:cNvSpPr/>
          <p:nvPr/>
        </p:nvSpPr>
        <p:spPr>
          <a:xfrm>
            <a:off x="8558784" y="4224528"/>
            <a:ext cx="548640" cy="420624"/>
          </a:xfrm>
          <a:prstGeom prst="rect">
            <a:avLst/>
          </a:prstGeom>
          <a:solidFill>
            <a:srgbClr val="2E7D4F"/>
          </a:solidFill>
          <a:ln w="12700">
            <a:solidFill>
              <a:srgbClr val="2E7D4F"/>
            </a:solidFill>
            <a:prstDash val="solid"/>
          </a:ln>
        </p:spPr>
      </p:sp>
      <p:sp>
        <p:nvSpPr>
          <p:cNvPr id="62" name="Text 59"/>
          <p:cNvSpPr txBox="1"/>
          <p:nvPr/>
        </p:nvSpPr>
        <p:spPr>
          <a:xfrm>
            <a:off x="9290304" y="4297680"/>
            <a:ext cx="2231136" cy="274320"/>
          </a:xfrm>
          <a:prstGeom prst="rect">
            <a:avLst/>
          </a:prstGeom>
          <a:noFill/>
          <a:ln/>
        </p:spPr>
        <p:txBody>
          <a:bodyPr wrap="square" lIns="0" tIns="0" rIns="0" bIns="0" rtlCol="0" anchor="ctr"/>
          <a:lstStyle/>
          <a:p>
            <a:pPr algn="l" indent="0" marL="0">
              <a:buNone/>
            </a:pPr>
            <a:r>
              <a:rPr lang="en-US" sz="1040" b="1" dirty="0">
                <a:solidFill>
                  <a:srgbClr val="2E7D4F"/>
                </a:solidFill>
                <a:latin typeface="Consolas" pitchFamily="34" charset="0"/>
                <a:ea typeface="Consolas" pitchFamily="34" charset="-122"/>
                <a:cs typeface="Consolas" pitchFamily="34" charset="-120"/>
              </a:rPr>
              <a:t>10 passed (21.6s)</a:t>
            </a:r>
            <a:endParaRPr lang="en-US" sz="1040" dirty="0"/>
          </a:p>
        </p:txBody>
      </p:sp>
      <p:sp>
        <p:nvSpPr>
          <p:cNvPr id="63" name="Text 60"/>
          <p:cNvSpPr txBox="1"/>
          <p:nvPr/>
        </p:nvSpPr>
        <p:spPr>
          <a:xfrm>
            <a:off x="658368" y="4974336"/>
            <a:ext cx="10874959" cy="237744"/>
          </a:xfrm>
          <a:prstGeom prst="rect">
            <a:avLst/>
          </a:prstGeom>
          <a:noFill/>
          <a:ln/>
        </p:spPr>
        <p:txBody>
          <a:bodyPr wrap="square" lIns="0" tIns="0" rIns="0" bIns="0" rtlCol="0" anchor="t"/>
          <a:lstStyle/>
          <a:p>
            <a:pPr algn="l" indent="0" marL="0">
              <a:buNone/>
            </a:pPr>
            <a:r>
              <a:rPr lang="en-US" sz="1040" i="1" dirty="0">
                <a:solidFill>
                  <a:srgbClr val="52606D"/>
                </a:solidFill>
                <a:latin typeface="Aptos" pitchFamily="34" charset="0"/>
                <a:ea typeface="Aptos" pitchFamily="34" charset="-122"/>
                <a:cs typeface="Aptos" pitchFamily="34" charset="-120"/>
              </a:rPr>
              <a:t>Cada celda es una ejecución, agrupadas por resultado y no por orden. La demora simulada llega hasta 400 ms por respuesta.</a:t>
            </a:r>
            <a:endParaRPr lang="en-US" sz="1040" dirty="0"/>
          </a:p>
        </p:txBody>
      </p:sp>
      <p:sp>
        <p:nvSpPr>
          <p:cNvPr id="64" name="Shape 61"/>
          <p:cNvSpPr/>
          <p:nvPr/>
        </p:nvSpPr>
        <p:spPr>
          <a:xfrm>
            <a:off x="658368" y="5650992"/>
            <a:ext cx="10874959" cy="548640"/>
          </a:xfrm>
          <a:prstGeom prst="rect">
            <a:avLst/>
          </a:prstGeom>
          <a:solidFill>
            <a:srgbClr val="102A43"/>
          </a:solidFill>
          <a:ln w="12700">
            <a:solidFill>
              <a:srgbClr val="102A43"/>
            </a:solidFill>
            <a:prstDash val="solid"/>
          </a:ln>
        </p:spPr>
      </p:sp>
      <p:sp>
        <p:nvSpPr>
          <p:cNvPr id="65" name="Text 6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En la máquina de quien la escribió, la prueba con espera fija parece perfecta.</a:t>
            </a:r>
            <a:endParaRPr lang="en-US" sz="13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FALLA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La reserva se hizo. La lista todavía no.</a:t>
            </a:r>
            <a:endParaRPr lang="en-US" sz="3000" dirty="0"/>
          </a:p>
        </p:txBody>
      </p:sp>
      <p:sp>
        <p:nvSpPr>
          <p:cNvPr id="10" name="Text 7"/>
          <p:cNvSpPr txBox="1"/>
          <p:nvPr/>
        </p:nvSpPr>
        <p:spPr>
          <a:xfrm>
            <a:off x="658368" y="1755648"/>
            <a:ext cx="5486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CUANDO FALLA, DICE ESTO</a:t>
            </a:r>
            <a:endParaRPr lang="en-US" sz="960" dirty="0"/>
          </a:p>
        </p:txBody>
      </p:sp>
      <p:sp>
        <p:nvSpPr>
          <p:cNvPr id="11" name="Shape 8"/>
          <p:cNvSpPr/>
          <p:nvPr/>
        </p:nvSpPr>
        <p:spPr>
          <a:xfrm>
            <a:off x="658368" y="2011680"/>
            <a:ext cx="5760720" cy="1469644"/>
          </a:xfrm>
          <a:prstGeom prst="roundRect">
            <a:avLst>
              <a:gd name="adj" fmla="val 3111"/>
            </a:avLst>
          </a:prstGeom>
          <a:solidFill>
            <a:srgbClr val="0F1720"/>
          </a:solidFill>
          <a:ln w="12700">
            <a:solidFill>
              <a:srgbClr val="0F1720"/>
            </a:solidFill>
            <a:prstDash val="solid"/>
          </a:ln>
        </p:spPr>
      </p:sp>
      <p:sp>
        <p:nvSpPr>
          <p:cNvPr id="12" name="Shape 9"/>
          <p:cNvSpPr/>
          <p:nvPr/>
        </p:nvSpPr>
        <p:spPr>
          <a:xfrm>
            <a:off x="818388" y="2144268"/>
            <a:ext cx="82296" cy="82296"/>
          </a:xfrm>
          <a:prstGeom prst="ellipse">
            <a:avLst/>
          </a:prstGeom>
          <a:solidFill>
            <a:srgbClr val="52606D"/>
          </a:solidFill>
          <a:ln w="12700">
            <a:solidFill>
              <a:srgbClr val="52606D"/>
            </a:solidFill>
            <a:prstDash val="solid"/>
          </a:ln>
        </p:spPr>
      </p:sp>
      <p:sp>
        <p:nvSpPr>
          <p:cNvPr id="13" name="Shape 10"/>
          <p:cNvSpPr/>
          <p:nvPr/>
        </p:nvSpPr>
        <p:spPr>
          <a:xfrm>
            <a:off x="973836" y="2144268"/>
            <a:ext cx="82296" cy="82296"/>
          </a:xfrm>
          <a:prstGeom prst="ellipse">
            <a:avLst/>
          </a:prstGeom>
          <a:solidFill>
            <a:srgbClr val="52606D"/>
          </a:solidFill>
          <a:ln w="12700">
            <a:solidFill>
              <a:srgbClr val="52606D"/>
            </a:solidFill>
            <a:prstDash val="solid"/>
          </a:ln>
        </p:spPr>
      </p:sp>
      <p:sp>
        <p:nvSpPr>
          <p:cNvPr id="14" name="Shape 11"/>
          <p:cNvSpPr/>
          <p:nvPr/>
        </p:nvSpPr>
        <p:spPr>
          <a:xfrm>
            <a:off x="1129284" y="2144268"/>
            <a:ext cx="82296" cy="82296"/>
          </a:xfrm>
          <a:prstGeom prst="ellipse">
            <a:avLst/>
          </a:prstGeom>
          <a:solidFill>
            <a:srgbClr val="52606D"/>
          </a:solidFill>
          <a:ln w="12700">
            <a:solidFill>
              <a:srgbClr val="52606D"/>
            </a:solidFill>
            <a:prstDash val="solid"/>
          </a:ln>
        </p:spPr>
      </p:sp>
      <p:sp>
        <p:nvSpPr>
          <p:cNvPr id="15" name="Text 12"/>
          <p:cNvSpPr/>
          <p:nvPr/>
        </p:nvSpPr>
        <p:spPr>
          <a:xfrm>
            <a:off x="1353312" y="2093976"/>
            <a:ext cx="4882896"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npx playwright test</a:t>
            </a:r>
            <a:endParaRPr lang="en-US" sz="940" dirty="0"/>
          </a:p>
        </p:txBody>
      </p:sp>
      <p:sp>
        <p:nvSpPr>
          <p:cNvPr id="16" name="Text 13"/>
          <p:cNvSpPr/>
          <p:nvPr/>
        </p:nvSpPr>
        <p:spPr>
          <a:xfrm>
            <a:off x="859536" y="2487168"/>
            <a:ext cx="5358384" cy="216535"/>
          </a:xfrm>
          <a:prstGeom prst="rect">
            <a:avLst/>
          </a:prstGeom>
          <a:noFill/>
          <a:ln/>
        </p:spPr>
        <p:txBody>
          <a:bodyPr wrap="square" lIns="0" tIns="0" rIns="0" bIns="0" rtlCol="0" anchor="ctr"/>
          <a:lstStyle/>
          <a:p>
            <a:pPr indent="0" marL="0">
              <a:buNone/>
            </a:pPr>
            <a:r>
              <a:rPr lang="en-US" sz="1100" b="1" dirty="0">
                <a:solidFill>
                  <a:srgbClr val="D62027"/>
                </a:solidFill>
                <a:latin typeface="Consolas" pitchFamily="34" charset="0"/>
                <a:ea typeface="Consolas" pitchFamily="34" charset="-122"/>
                <a:cs typeface="Consolas" pitchFamily="34" charset="-120"/>
              </a:rPr>
              <a:t>Error: expect(received).toContain(expected)</a:t>
            </a:r>
            <a:endParaRPr lang="en-US" sz="1100" dirty="0"/>
          </a:p>
        </p:txBody>
      </p:sp>
      <p:sp>
        <p:nvSpPr>
          <p:cNvPr id="17" name="Text 14"/>
          <p:cNvSpPr/>
          <p:nvPr/>
        </p:nvSpPr>
        <p:spPr>
          <a:xfrm>
            <a:off x="859536" y="2703703"/>
            <a:ext cx="5358384" cy="216535"/>
          </a:xfrm>
          <a:prstGeom prst="rect">
            <a:avLst/>
          </a:prstGeom>
          <a:noFill/>
          <a:ln/>
        </p:spPr>
        <p:txBody>
          <a:bodyPr wrap="square" lIns="0" tIns="0" rIns="0" bIns="0" rtlCol="0" anchor="ctr"/>
          <a:lstStyle/>
          <a:p>
            <a:pPr indent="0" marL="0">
              <a:buNone/>
            </a:pPr>
            <a:endParaRPr lang="en-US" sz="1100" dirty="0"/>
          </a:p>
        </p:txBody>
      </p:sp>
      <p:sp>
        <p:nvSpPr>
          <p:cNvPr id="18" name="Text 15"/>
          <p:cNvSpPr/>
          <p:nvPr/>
        </p:nvSpPr>
        <p:spPr>
          <a:xfrm>
            <a:off x="859536" y="2920238"/>
            <a:ext cx="5358384" cy="216535"/>
          </a:xfrm>
          <a:prstGeom prst="rect">
            <a:avLst/>
          </a:prstGeom>
          <a:noFill/>
          <a:ln/>
        </p:spPr>
        <p:txBody>
          <a:bodyPr wrap="square" lIns="0" tIns="0" rIns="0" bIns="0" rtlCol="0" anchor="ctr"/>
          <a:lstStyle/>
          <a:p>
            <a:pPr indent="0" marL="0">
              <a:buNone/>
            </a:pPr>
            <a:r>
              <a:rPr lang="en-US" sz="1100" dirty="0">
                <a:solidFill>
                  <a:srgbClr val="8AA0B6"/>
                </a:solidFill>
                <a:latin typeface="Consolas" pitchFamily="34" charset="0"/>
                <a:ea typeface="Consolas" pitchFamily="34" charset="-122"/>
                <a:cs typeface="Consolas" pitchFamily="34" charset="-120"/>
              </a:rPr>
              <a:t>Expected substring: "Tomado"</a:t>
            </a:r>
            <a:endParaRPr lang="en-US" sz="1100" dirty="0"/>
          </a:p>
        </p:txBody>
      </p:sp>
      <p:sp>
        <p:nvSpPr>
          <p:cNvPr id="19" name="Text 16"/>
          <p:cNvSpPr/>
          <p:nvPr/>
        </p:nvSpPr>
        <p:spPr>
          <a:xfrm>
            <a:off x="859536" y="3136773"/>
            <a:ext cx="5358384" cy="216535"/>
          </a:xfrm>
          <a:prstGeom prst="rect">
            <a:avLst/>
          </a:prstGeom>
          <a:noFill/>
          <a:ln/>
        </p:spPr>
        <p:txBody>
          <a:bodyPr wrap="square" lIns="0" tIns="0" rIns="0" bIns="0" rtlCol="0" anchor="ctr"/>
          <a:lstStyle/>
          <a:p>
            <a:pPr indent="0" marL="0">
              <a:buNone/>
            </a:pPr>
            <a:r>
              <a:rPr lang="en-US" sz="1100" b="1" dirty="0">
                <a:solidFill>
                  <a:srgbClr val="D62027"/>
                </a:solidFill>
                <a:latin typeface="Consolas" pitchFamily="34" charset="0"/>
                <a:ea typeface="Consolas" pitchFamily="34" charset="-122"/>
                <a:cs typeface="Consolas" pitchFamily="34" charset="-120"/>
              </a:rPr>
              <a:t>Received string:    "Bloque 4Libre"</a:t>
            </a:r>
            <a:endParaRPr lang="en-US" sz="1100" dirty="0"/>
          </a:p>
        </p:txBody>
      </p:sp>
      <p:sp>
        <p:nvSpPr>
          <p:cNvPr id="20" name="Text 17"/>
          <p:cNvSpPr txBox="1"/>
          <p:nvPr/>
        </p:nvSpPr>
        <p:spPr>
          <a:xfrm>
            <a:off x="6784848" y="1755648"/>
            <a:ext cx="4748479"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LA FICHA, EN ESE INSTANTE</a:t>
            </a:r>
            <a:endParaRPr lang="en-US" sz="960" dirty="0"/>
          </a:p>
        </p:txBody>
      </p:sp>
      <p:sp>
        <p:nvSpPr>
          <p:cNvPr id="21" name="Shape 18"/>
          <p:cNvSpPr/>
          <p:nvPr/>
        </p:nvSpPr>
        <p:spPr>
          <a:xfrm>
            <a:off x="6784848" y="2048256"/>
            <a:ext cx="2926080" cy="512064"/>
          </a:xfrm>
          <a:prstGeom prst="rect">
            <a:avLst/>
          </a:prstGeom>
          <a:solidFill>
            <a:srgbClr val="2E7D4F"/>
          </a:solidFill>
          <a:ln w="12700">
            <a:solidFill>
              <a:srgbClr val="2E7D4F"/>
            </a:solidFill>
            <a:prstDash val="solid"/>
          </a:ln>
        </p:spPr>
      </p:sp>
      <p:sp>
        <p:nvSpPr>
          <p:cNvPr id="22" name="Text 19"/>
          <p:cNvSpPr txBox="1"/>
          <p:nvPr/>
        </p:nvSpPr>
        <p:spPr>
          <a:xfrm>
            <a:off x="6967728" y="2103120"/>
            <a:ext cx="1463040" cy="402336"/>
          </a:xfrm>
          <a:prstGeom prst="rect">
            <a:avLst/>
          </a:prstGeom>
          <a:noFill/>
          <a:ln/>
        </p:spPr>
        <p:txBody>
          <a:bodyPr wrap="square" lIns="0" tIns="0" rIns="0" bIns="0" rtlCol="0" anchor="ctr"/>
          <a:lstStyle/>
          <a:p>
            <a:pPr algn="l" indent="0" marL="0">
              <a:buNone/>
            </a:pPr>
            <a:r>
              <a:rPr lang="en-US" sz="1300" dirty="0">
                <a:solidFill>
                  <a:srgbClr val="FFFFFF"/>
                </a:solidFill>
                <a:latin typeface="Aptos" pitchFamily="34" charset="0"/>
                <a:ea typeface="Aptos" pitchFamily="34" charset="-122"/>
                <a:cs typeface="Aptos" pitchFamily="34" charset="-120"/>
              </a:rPr>
              <a:t>Bloque 4</a:t>
            </a:r>
            <a:endParaRPr lang="en-US" sz="1300" dirty="0"/>
          </a:p>
        </p:txBody>
      </p:sp>
      <p:sp>
        <p:nvSpPr>
          <p:cNvPr id="23" name="Text 20"/>
          <p:cNvSpPr txBox="1"/>
          <p:nvPr/>
        </p:nvSpPr>
        <p:spPr>
          <a:xfrm>
            <a:off x="8522208" y="2103120"/>
            <a:ext cx="1005840" cy="402336"/>
          </a:xfrm>
          <a:prstGeom prst="rect">
            <a:avLst/>
          </a:prstGeom>
          <a:noFill/>
          <a:ln/>
        </p:spPr>
        <p:txBody>
          <a:bodyPr wrap="square" lIns="0" tIns="0" rIns="0" bIns="0" rtlCol="0" anchor="ctr"/>
          <a:lstStyle/>
          <a:p>
            <a:pPr algn="r" indent="0" marL="0">
              <a:buNone/>
            </a:pPr>
            <a:r>
              <a:rPr lang="en-US" sz="1300" b="1" dirty="0">
                <a:solidFill>
                  <a:srgbClr val="FFFFFF"/>
                </a:solidFill>
                <a:latin typeface="Aptos" pitchFamily="34" charset="0"/>
                <a:ea typeface="Aptos" pitchFamily="34" charset="-122"/>
                <a:cs typeface="Aptos" pitchFamily="34" charset="-120"/>
              </a:rPr>
              <a:t>Libre</a:t>
            </a:r>
            <a:endParaRPr lang="en-US" sz="1300" dirty="0"/>
          </a:p>
        </p:txBody>
      </p:sp>
      <p:sp>
        <p:nvSpPr>
          <p:cNvPr id="24" name="Text 21"/>
          <p:cNvSpPr txBox="1"/>
          <p:nvPr/>
        </p:nvSpPr>
        <p:spPr>
          <a:xfrm>
            <a:off x="6784848" y="2724912"/>
            <a:ext cx="4748479" cy="731520"/>
          </a:xfrm>
          <a:prstGeom prst="rect">
            <a:avLst/>
          </a:prstGeom>
          <a:noFill/>
          <a:ln/>
        </p:spPr>
        <p:txBody>
          <a:bodyPr wrap="square" lIns="0" tIns="0" rIns="0" bIns="0" rtlCol="0" anchor="t"/>
          <a:lstStyle/>
          <a:p>
            <a:pPr algn="l" indent="0" marL="0">
              <a:lnSpc>
                <a:spcPct val="114000"/>
              </a:lnSpc>
              <a:buNone/>
            </a:pPr>
            <a:r>
              <a:rPr lang="en-US" sz="1180" dirty="0">
                <a:solidFill>
                  <a:srgbClr val="243B53"/>
                </a:solidFill>
                <a:latin typeface="Aptos" pitchFamily="34" charset="0"/>
                <a:ea typeface="Aptos" pitchFamily="34" charset="-122"/>
                <a:cs typeface="Aptos" pitchFamily="34" charset="-120"/>
              </a:rPr>
              <a:t>Sus dos partes, leídas juntas, dan «Bloque 4Libre». La reserva sí se hizo; la lista todavía no se había redibujado.</a:t>
            </a:r>
            <a:endParaRPr lang="en-US" sz="1180" dirty="0"/>
          </a:p>
        </p:txBody>
      </p:sp>
      <p:sp>
        <p:nvSpPr>
          <p:cNvPr id="25" name="Shape 22"/>
          <p:cNvSpPr/>
          <p:nvPr/>
        </p:nvSpPr>
        <p:spPr>
          <a:xfrm>
            <a:off x="658368" y="3712464"/>
            <a:ext cx="10874959" cy="1097280"/>
          </a:xfrm>
          <a:prstGeom prst="rect">
            <a:avLst/>
          </a:prstGeom>
          <a:solidFill>
            <a:srgbClr val="1D3A57"/>
          </a:solidFill>
          <a:ln w="12700">
            <a:solidFill>
              <a:srgbClr val="1D3A57"/>
            </a:solidFill>
            <a:prstDash val="solid"/>
          </a:ln>
        </p:spPr>
      </p:sp>
      <p:sp>
        <p:nvSpPr>
          <p:cNvPr id="26" name="Text 23"/>
          <p:cNvSpPr txBox="1"/>
          <p:nvPr/>
        </p:nvSpPr>
        <p:spPr>
          <a:xfrm>
            <a:off x="969264" y="3840480"/>
            <a:ext cx="201168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PRUEBA INESTABLE</a:t>
            </a:r>
            <a:endParaRPr lang="en-US" sz="960" dirty="0"/>
          </a:p>
        </p:txBody>
      </p:sp>
      <p:sp>
        <p:nvSpPr>
          <p:cNvPr id="27" name="Text 24"/>
          <p:cNvSpPr txBox="1"/>
          <p:nvPr/>
        </p:nvSpPr>
        <p:spPr>
          <a:xfrm>
            <a:off x="3090672" y="3840480"/>
            <a:ext cx="1828800" cy="201168"/>
          </a:xfrm>
          <a:prstGeom prst="rect">
            <a:avLst/>
          </a:prstGeom>
          <a:noFill/>
          <a:ln/>
        </p:spPr>
        <p:txBody>
          <a:bodyPr wrap="square" lIns="0" tIns="0" rIns="0" bIns="0" rtlCol="0" anchor="t"/>
          <a:lstStyle/>
          <a:p>
            <a:pPr algn="l" indent="0" marL="0">
              <a:buNone/>
            </a:pPr>
            <a:r>
              <a:rPr lang="en-US" sz="1040" i="1" dirty="0">
                <a:solidFill>
                  <a:srgbClr val="E6EEF7"/>
                </a:solidFill>
                <a:latin typeface="Aptos" pitchFamily="34" charset="0"/>
                <a:ea typeface="Aptos" pitchFamily="34" charset="-122"/>
                <a:cs typeface="Aptos" pitchFamily="34" charset="-120"/>
              </a:rPr>
              <a:t>flaky test</a:t>
            </a:r>
            <a:endParaRPr lang="en-US" sz="1040" dirty="0"/>
          </a:p>
        </p:txBody>
      </p:sp>
      <p:sp>
        <p:nvSpPr>
          <p:cNvPr id="28" name="Text 25"/>
          <p:cNvSpPr txBox="1"/>
          <p:nvPr/>
        </p:nvSpPr>
        <p:spPr>
          <a:xfrm>
            <a:off x="969264" y="4114800"/>
            <a:ext cx="10253167" cy="603504"/>
          </a:xfrm>
          <a:prstGeom prst="rect">
            <a:avLst/>
          </a:prstGeom>
          <a:noFill/>
          <a:ln/>
        </p:spPr>
        <p:txBody>
          <a:bodyPr wrap="square" lIns="0" tIns="0" rIns="0" bIns="0" rtlCol="0" anchor="t"/>
          <a:lstStyle/>
          <a:p>
            <a:pPr algn="l" indent="0" marL="0">
              <a:lnSpc>
                <a:spcPct val="114000"/>
              </a:lnSpc>
              <a:buNone/>
            </a:pPr>
            <a:r>
              <a:rPr lang="en-US" sz="1300" dirty="0">
                <a:solidFill>
                  <a:srgbClr val="FFFFFF"/>
                </a:solidFill>
                <a:latin typeface="Aptos" pitchFamily="34" charset="0"/>
                <a:ea typeface="Aptos" pitchFamily="34" charset="-122"/>
                <a:cs typeface="Aptos" pitchFamily="34" charset="-120"/>
              </a:rPr>
              <a:t>Una prueba que da resultados distintos sobre el mismo código, sin que nada cambie. Es la primera del módulo, y aparece justo al llegar al navegador.</a:t>
            </a:r>
            <a:endParaRPr lang="en-US" sz="1300" dirty="0"/>
          </a:p>
        </p:txBody>
      </p:sp>
      <p:sp>
        <p:nvSpPr>
          <p:cNvPr id="29" name="Text 26"/>
          <p:cNvSpPr txBox="1"/>
          <p:nvPr/>
        </p:nvSpPr>
        <p:spPr>
          <a:xfrm>
            <a:off x="658368" y="4992624"/>
            <a:ext cx="10874959" cy="274320"/>
          </a:xfrm>
          <a:prstGeom prst="rect">
            <a:avLst/>
          </a:prstGeom>
          <a:noFill/>
          <a:ln/>
        </p:spPr>
        <p:txBody>
          <a:bodyPr wrap="square" lIns="0" tIns="0" rIns="0" bIns="0" rtlCol="0" anchor="t"/>
          <a:lstStyle/>
          <a:p>
            <a:pPr algn="l" indent="0" marL="0">
              <a:buNone/>
            </a:pPr>
            <a:r>
              <a:rPr lang="en-US" sz="1240" b="1" dirty="0">
                <a:solidFill>
                  <a:srgbClr val="B3181E"/>
                </a:solidFill>
                <a:latin typeface="Aptos" pitchFamily="34" charset="0"/>
                <a:ea typeface="Aptos" pitchFamily="34" charset="-122"/>
                <a:cs typeface="Aptos" pitchFamily="34" charset="-120"/>
              </a:rPr>
              <a:t>Casi nunca se detecta al escribirla: se detecta después, cuando ya se confió en ella.</a:t>
            </a:r>
            <a:endParaRPr lang="en-US" sz="1240" dirty="0"/>
          </a:p>
        </p:txBody>
      </p:sp>
      <p:sp>
        <p:nvSpPr>
          <p:cNvPr id="30" name="Shape 27"/>
          <p:cNvSpPr/>
          <p:nvPr/>
        </p:nvSpPr>
        <p:spPr>
          <a:xfrm>
            <a:off x="658368" y="5650992"/>
            <a:ext cx="10874959" cy="548640"/>
          </a:xfrm>
          <a:prstGeom prst="rect">
            <a:avLst/>
          </a:prstGeom>
          <a:solidFill>
            <a:srgbClr val="102A43"/>
          </a:solidFill>
          <a:ln w="12700">
            <a:solidFill>
              <a:srgbClr val="102A43"/>
            </a:solidFill>
            <a:prstDash val="solid"/>
          </a:ln>
        </p:spPr>
      </p:sp>
      <p:sp>
        <p:nvSpPr>
          <p:cNvPr id="31" name="Text 2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No falló por un defecto del sistema: la prueba miró antes de tiempo.</a:t>
            </a:r>
            <a:endParaRPr lang="en-US" sz="13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CORRECCIÓN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Esperar lo que se quiere comprobar</a:t>
            </a:r>
            <a:endParaRPr lang="en-US" sz="3000" dirty="0"/>
          </a:p>
        </p:txBody>
      </p:sp>
      <p:sp>
        <p:nvSpPr>
          <p:cNvPr id="10" name="Shape 7"/>
          <p:cNvSpPr/>
          <p:nvPr/>
        </p:nvSpPr>
        <p:spPr>
          <a:xfrm>
            <a:off x="658368" y="1737360"/>
            <a:ext cx="10874959" cy="1246632"/>
          </a:xfrm>
          <a:prstGeom prst="roundRect">
            <a:avLst>
              <a:gd name="adj" fmla="val 3667"/>
            </a:avLst>
          </a:prstGeom>
          <a:solidFill>
            <a:srgbClr val="102A43"/>
          </a:solidFill>
          <a:ln w="12700">
            <a:solidFill>
              <a:srgbClr val="102A43"/>
            </a:solidFill>
            <a:prstDash val="solid"/>
          </a:ln>
        </p:spPr>
      </p:sp>
      <p:sp>
        <p:nvSpPr>
          <p:cNvPr id="11" name="Shape 8"/>
          <p:cNvSpPr/>
          <p:nvPr/>
        </p:nvSpPr>
        <p:spPr>
          <a:xfrm>
            <a:off x="658368" y="2093976"/>
            <a:ext cx="10874959" cy="9144"/>
          </a:xfrm>
          <a:prstGeom prst="rect">
            <a:avLst/>
          </a:prstGeom>
          <a:solidFill>
            <a:srgbClr val="284B75"/>
          </a:solidFill>
          <a:ln w="12700">
            <a:solidFill>
              <a:srgbClr val="284B75"/>
            </a:solidFill>
            <a:prstDash val="solid"/>
          </a:ln>
        </p:spPr>
      </p:sp>
      <p:sp>
        <p:nvSpPr>
          <p:cNvPr id="12" name="Text 9"/>
          <p:cNvSpPr/>
          <p:nvPr/>
        </p:nvSpPr>
        <p:spPr>
          <a:xfrm>
            <a:off x="841248" y="1828800"/>
            <a:ext cx="10509199"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Antes · espera 400 ms y lee el texto una vez</a:t>
            </a:r>
            <a:endParaRPr lang="en-US" sz="960" dirty="0"/>
          </a:p>
        </p:txBody>
      </p:sp>
      <p:sp>
        <p:nvSpPr>
          <p:cNvPr id="13" name="Shape 10"/>
          <p:cNvSpPr/>
          <p:nvPr/>
        </p:nvSpPr>
        <p:spPr>
          <a:xfrm>
            <a:off x="713232" y="2217166"/>
            <a:ext cx="10362895" cy="182392"/>
          </a:xfrm>
          <a:prstGeom prst="rect">
            <a:avLst/>
          </a:prstGeom>
          <a:solidFill>
            <a:srgbClr val="B3181E">
              <a:alpha val="28000"/>
            </a:srgbClr>
          </a:solidFill>
          <a:ln w="12700">
            <a:solidFill>
              <a:srgbClr val="B3181E">
                <a:alpha val="0"/>
              </a:srgbClr>
            </a:solidFill>
            <a:prstDash val="solid"/>
          </a:ln>
        </p:spPr>
      </p:sp>
      <p:sp>
        <p:nvSpPr>
          <p:cNvPr id="14" name="Shape 11"/>
          <p:cNvSpPr/>
          <p:nvPr/>
        </p:nvSpPr>
        <p:spPr>
          <a:xfrm>
            <a:off x="713232" y="2407158"/>
            <a:ext cx="10362895" cy="182392"/>
          </a:xfrm>
          <a:prstGeom prst="rect">
            <a:avLst/>
          </a:prstGeom>
          <a:solidFill>
            <a:srgbClr val="B3181E">
              <a:alpha val="28000"/>
            </a:srgbClr>
          </a:solidFill>
          <a:ln w="12700">
            <a:solidFill>
              <a:srgbClr val="B3181E">
                <a:alpha val="0"/>
              </a:srgbClr>
            </a:solidFill>
            <a:prstDash val="solid"/>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231136"/>
            <a:ext cx="10143439" cy="624840"/>
          </a:xfrm>
          <a:prstGeom prst="rect">
            <a:avLst/>
          </a:prstGeom>
        </p:spPr>
      </p:pic>
      <p:sp>
        <p:nvSpPr>
          <p:cNvPr id="16" name="Shape 12"/>
          <p:cNvSpPr/>
          <p:nvPr/>
        </p:nvSpPr>
        <p:spPr>
          <a:xfrm>
            <a:off x="658368" y="3112008"/>
            <a:ext cx="10874959" cy="1056640"/>
          </a:xfrm>
          <a:prstGeom prst="roundRect">
            <a:avLst>
              <a:gd name="adj" fmla="val 4327"/>
            </a:avLst>
          </a:prstGeom>
          <a:solidFill>
            <a:srgbClr val="102A43"/>
          </a:solidFill>
          <a:ln w="12700">
            <a:solidFill>
              <a:srgbClr val="102A43"/>
            </a:solidFill>
            <a:prstDash val="solid"/>
          </a:ln>
        </p:spPr>
      </p:sp>
      <p:sp>
        <p:nvSpPr>
          <p:cNvPr id="17" name="Shape 13"/>
          <p:cNvSpPr/>
          <p:nvPr/>
        </p:nvSpPr>
        <p:spPr>
          <a:xfrm>
            <a:off x="658368" y="3468624"/>
            <a:ext cx="10874959" cy="9144"/>
          </a:xfrm>
          <a:prstGeom prst="rect">
            <a:avLst/>
          </a:prstGeom>
          <a:solidFill>
            <a:srgbClr val="284B75"/>
          </a:solidFill>
          <a:ln w="12700">
            <a:solidFill>
              <a:srgbClr val="284B75"/>
            </a:solidFill>
            <a:prstDash val="solid"/>
          </a:ln>
        </p:spPr>
      </p:sp>
      <p:sp>
        <p:nvSpPr>
          <p:cNvPr id="18" name="Text 14"/>
          <p:cNvSpPr/>
          <p:nvPr/>
        </p:nvSpPr>
        <p:spPr>
          <a:xfrm>
            <a:off x="841248" y="3203448"/>
            <a:ext cx="10509199"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Después · espera una condición</a:t>
            </a:r>
            <a:endParaRPr lang="en-US" sz="960" dirty="0"/>
          </a:p>
        </p:txBody>
      </p:sp>
      <p:sp>
        <p:nvSpPr>
          <p:cNvPr id="19" name="Shape 15"/>
          <p:cNvSpPr/>
          <p:nvPr/>
        </p:nvSpPr>
        <p:spPr>
          <a:xfrm>
            <a:off x="713232" y="3591814"/>
            <a:ext cx="10362895" cy="182392"/>
          </a:xfrm>
          <a:prstGeom prst="rect">
            <a:avLst/>
          </a:prstGeom>
          <a:solidFill>
            <a:srgbClr val="2E7D4F">
              <a:alpha val="28000"/>
            </a:srgbClr>
          </a:solidFill>
          <a:ln w="12700">
            <a:solidFill>
              <a:srgbClr val="2E7D4F">
                <a:alpha val="0"/>
              </a:srgbClr>
            </a:solidFill>
            <a:prstDash val="solid"/>
          </a:ln>
        </p:spPr>
      </p:sp>
      <p:sp>
        <p:nvSpPr>
          <p:cNvPr id="20" name="Shape 16"/>
          <p:cNvSpPr/>
          <p:nvPr/>
        </p:nvSpPr>
        <p:spPr>
          <a:xfrm>
            <a:off x="713232" y="3781806"/>
            <a:ext cx="10362895" cy="182392"/>
          </a:xfrm>
          <a:prstGeom prst="rect">
            <a:avLst/>
          </a:prstGeom>
          <a:solidFill>
            <a:srgbClr val="2E7D4F">
              <a:alpha val="28000"/>
            </a:srgbClr>
          </a:solidFill>
          <a:ln w="12700">
            <a:solidFill>
              <a:srgbClr val="2E7D4F">
                <a:alpha val="0"/>
              </a:srgbClr>
            </a:solidFill>
            <a:prstDash val="solid"/>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2960" y="3605784"/>
            <a:ext cx="10143439" cy="434848"/>
          </a:xfrm>
          <a:prstGeom prst="rect">
            <a:avLst/>
          </a:prstGeom>
        </p:spPr>
      </p:pic>
      <p:sp>
        <p:nvSpPr>
          <p:cNvPr id="22" name="Shape 17"/>
          <p:cNvSpPr/>
          <p:nvPr/>
        </p:nvSpPr>
        <p:spPr>
          <a:xfrm>
            <a:off x="658368" y="4351528"/>
            <a:ext cx="3749040" cy="1134872"/>
          </a:xfrm>
          <a:prstGeom prst="rect">
            <a:avLst/>
          </a:prstGeom>
          <a:solidFill>
            <a:srgbClr val="FFFFFF"/>
          </a:solidFill>
          <a:ln w="12700">
            <a:solidFill>
              <a:srgbClr val="FFFFFF"/>
            </a:solidFill>
            <a:prstDash val="solid"/>
          </a:ln>
        </p:spPr>
      </p:sp>
      <p:sp>
        <p:nvSpPr>
          <p:cNvPr id="23" name="Shape 18"/>
          <p:cNvSpPr/>
          <p:nvPr/>
        </p:nvSpPr>
        <p:spPr>
          <a:xfrm>
            <a:off x="658368" y="4351528"/>
            <a:ext cx="54864" cy="1134872"/>
          </a:xfrm>
          <a:prstGeom prst="rect">
            <a:avLst/>
          </a:prstGeom>
          <a:solidFill>
            <a:srgbClr val="102A43"/>
          </a:solidFill>
          <a:ln w="12700">
            <a:solidFill>
              <a:srgbClr val="102A43"/>
            </a:solidFill>
            <a:prstDash val="solid"/>
          </a:ln>
        </p:spPr>
      </p:sp>
      <p:sp>
        <p:nvSpPr>
          <p:cNvPr id="24" name="Text 19"/>
          <p:cNvSpPr txBox="1"/>
          <p:nvPr/>
        </p:nvSpPr>
        <p:spPr>
          <a:xfrm>
            <a:off x="877824" y="4461256"/>
            <a:ext cx="3383280" cy="237744"/>
          </a:xfrm>
          <a:prstGeom prst="rect">
            <a:avLst/>
          </a:prstGeom>
          <a:noFill/>
          <a:ln/>
        </p:spPr>
        <p:txBody>
          <a:bodyPr wrap="square" lIns="0" tIns="0" rIns="0" bIns="0" rtlCol="0" anchor="t"/>
          <a:lstStyle/>
          <a:p>
            <a:pPr algn="l" indent="0" marL="0">
              <a:buNone/>
            </a:pPr>
            <a:r>
              <a:rPr lang="en-US" sz="1200" b="1" dirty="0">
                <a:solidFill>
                  <a:srgbClr val="102A43"/>
                </a:solidFill>
                <a:latin typeface="Aptos" pitchFamily="34" charset="0"/>
                <a:ea typeface="Aptos" pitchFamily="34" charset="-122"/>
                <a:cs typeface="Aptos" pitchFamily="34" charset="-120"/>
              </a:rPr>
              <a:t>ficha es el localizador</a:t>
            </a:r>
            <a:endParaRPr lang="en-US" sz="1200" dirty="0"/>
          </a:p>
        </p:txBody>
      </p:sp>
      <p:sp>
        <p:nvSpPr>
          <p:cNvPr id="25" name="Text 20"/>
          <p:cNvSpPr txBox="1"/>
          <p:nvPr/>
        </p:nvSpPr>
        <p:spPr>
          <a:xfrm>
            <a:off x="877824" y="4735576"/>
            <a:ext cx="3383280" cy="677672"/>
          </a:xfrm>
          <a:prstGeom prst="rect">
            <a:avLst/>
          </a:prstGeom>
          <a:noFill/>
          <a:ln/>
        </p:spPr>
        <p:txBody>
          <a:bodyPr wrap="square" lIns="0" tIns="0" rIns="0" bIns="0" rtlCol="0" anchor="t"/>
          <a:lstStyle/>
          <a:p>
            <a:pPr algn="l" indent="0" marL="0">
              <a:lnSpc>
                <a:spcPct val="110000"/>
              </a:lnSpc>
              <a:buNone/>
            </a:pPr>
            <a:r>
              <a:rPr lang="en-US" sz="1060" dirty="0">
                <a:solidFill>
                  <a:srgbClr val="243B53"/>
                </a:solidFill>
                <a:latin typeface="Aptos" pitchFamily="34" charset="0"/>
                <a:ea typeface="Aptos" pitchFamily="34" charset="-122"/>
                <a:cs typeface="Aptos" pitchFamily="34" charset="-120"/>
              </a:rPr>
              <a:t>Ya no es un texto leído: es la forma de encontrar el elemento, cada vez que se lo pida.</a:t>
            </a:r>
            <a:endParaRPr lang="en-US" sz="1060" dirty="0"/>
          </a:p>
        </p:txBody>
      </p:sp>
      <p:sp>
        <p:nvSpPr>
          <p:cNvPr id="26" name="Shape 21"/>
          <p:cNvSpPr/>
          <p:nvPr/>
        </p:nvSpPr>
        <p:spPr>
          <a:xfrm>
            <a:off x="4553712" y="4351528"/>
            <a:ext cx="3749040" cy="1134872"/>
          </a:xfrm>
          <a:prstGeom prst="rect">
            <a:avLst/>
          </a:prstGeom>
          <a:solidFill>
            <a:srgbClr val="FFFFFF"/>
          </a:solidFill>
          <a:ln w="12700">
            <a:solidFill>
              <a:srgbClr val="FFFFFF"/>
            </a:solidFill>
            <a:prstDash val="solid"/>
          </a:ln>
        </p:spPr>
      </p:sp>
      <p:sp>
        <p:nvSpPr>
          <p:cNvPr id="27" name="Shape 22"/>
          <p:cNvSpPr/>
          <p:nvPr/>
        </p:nvSpPr>
        <p:spPr>
          <a:xfrm>
            <a:off x="4553712" y="4351528"/>
            <a:ext cx="54864" cy="1134872"/>
          </a:xfrm>
          <a:prstGeom prst="rect">
            <a:avLst/>
          </a:prstGeom>
          <a:solidFill>
            <a:srgbClr val="2E7D4F"/>
          </a:solidFill>
          <a:ln w="12700">
            <a:solidFill>
              <a:srgbClr val="2E7D4F"/>
            </a:solidFill>
            <a:prstDash val="solid"/>
          </a:ln>
        </p:spPr>
      </p:sp>
      <p:sp>
        <p:nvSpPr>
          <p:cNvPr id="28" name="Text 23"/>
          <p:cNvSpPr txBox="1"/>
          <p:nvPr/>
        </p:nvSpPr>
        <p:spPr>
          <a:xfrm>
            <a:off x="4773168" y="4461256"/>
            <a:ext cx="3383280" cy="237744"/>
          </a:xfrm>
          <a:prstGeom prst="rect">
            <a:avLst/>
          </a:prstGeom>
          <a:noFill/>
          <a:ln/>
        </p:spPr>
        <p:txBody>
          <a:bodyPr wrap="square" lIns="0" tIns="0" rIns="0" bIns="0" rtlCol="0" anchor="t"/>
          <a:lstStyle/>
          <a:p>
            <a:pPr algn="l" indent="0" marL="0">
              <a:buNone/>
            </a:pPr>
            <a:r>
              <a:rPr lang="en-US" sz="1200" b="1" dirty="0">
                <a:solidFill>
                  <a:srgbClr val="2E7D4F"/>
                </a:solidFill>
                <a:latin typeface="Aptos" pitchFamily="34" charset="0"/>
                <a:ea typeface="Aptos" pitchFamily="34" charset="-122"/>
                <a:cs typeface="Aptos" pitchFamily="34" charset="-120"/>
              </a:rPr>
              <a:t>La aserción reintenta</a:t>
            </a:r>
            <a:endParaRPr lang="en-US" sz="1200" dirty="0"/>
          </a:p>
        </p:txBody>
      </p:sp>
      <p:sp>
        <p:nvSpPr>
          <p:cNvPr id="29" name="Text 24"/>
          <p:cNvSpPr txBox="1"/>
          <p:nvPr/>
        </p:nvSpPr>
        <p:spPr>
          <a:xfrm>
            <a:off x="4773168" y="4735576"/>
            <a:ext cx="3383280" cy="677672"/>
          </a:xfrm>
          <a:prstGeom prst="rect">
            <a:avLst/>
          </a:prstGeom>
          <a:noFill/>
          <a:ln/>
        </p:spPr>
        <p:txBody>
          <a:bodyPr wrap="square" lIns="0" tIns="0" rIns="0" bIns="0" rtlCol="0" anchor="t"/>
          <a:lstStyle/>
          <a:p>
            <a:pPr algn="l" indent="0" marL="0">
              <a:lnSpc>
                <a:spcPct val="110000"/>
              </a:lnSpc>
              <a:buNone/>
            </a:pPr>
            <a:r>
              <a:rPr lang="en-US" sz="1060" dirty="0">
                <a:solidFill>
                  <a:srgbClr val="243B53"/>
                </a:solidFill>
                <a:latin typeface="Aptos" pitchFamily="34" charset="0"/>
                <a:ea typeface="Aptos" pitchFamily="34" charset="-122"/>
                <a:cs typeface="Aptos" pitchFamily="34" charset="-120"/>
              </a:rPr>
              <a:t>Vuelve a buscar y a comparar hasta que se cumple, o hasta que pasan 5 segundos.</a:t>
            </a:r>
            <a:endParaRPr lang="en-US" sz="1060" dirty="0"/>
          </a:p>
        </p:txBody>
      </p:sp>
      <p:sp>
        <p:nvSpPr>
          <p:cNvPr id="30" name="Shape 25"/>
          <p:cNvSpPr/>
          <p:nvPr/>
        </p:nvSpPr>
        <p:spPr>
          <a:xfrm>
            <a:off x="8449056" y="4351528"/>
            <a:ext cx="3084271" cy="839724"/>
          </a:xfrm>
          <a:prstGeom prst="roundRect">
            <a:avLst>
              <a:gd name="adj" fmla="val 5445"/>
            </a:avLst>
          </a:prstGeom>
          <a:solidFill>
            <a:srgbClr val="0F1720"/>
          </a:solidFill>
          <a:ln w="12700">
            <a:solidFill>
              <a:srgbClr val="0F1720"/>
            </a:solidFill>
            <a:prstDash val="solid"/>
          </a:ln>
        </p:spPr>
      </p:sp>
      <p:sp>
        <p:nvSpPr>
          <p:cNvPr id="31" name="Shape 26"/>
          <p:cNvSpPr/>
          <p:nvPr/>
        </p:nvSpPr>
        <p:spPr>
          <a:xfrm>
            <a:off x="8609076" y="4484116"/>
            <a:ext cx="82296" cy="82296"/>
          </a:xfrm>
          <a:prstGeom prst="ellipse">
            <a:avLst/>
          </a:prstGeom>
          <a:solidFill>
            <a:srgbClr val="52606D"/>
          </a:solidFill>
          <a:ln w="12700">
            <a:solidFill>
              <a:srgbClr val="52606D"/>
            </a:solidFill>
            <a:prstDash val="solid"/>
          </a:ln>
        </p:spPr>
      </p:sp>
      <p:sp>
        <p:nvSpPr>
          <p:cNvPr id="32" name="Shape 27"/>
          <p:cNvSpPr/>
          <p:nvPr/>
        </p:nvSpPr>
        <p:spPr>
          <a:xfrm>
            <a:off x="8764524" y="4484116"/>
            <a:ext cx="82296" cy="82296"/>
          </a:xfrm>
          <a:prstGeom prst="ellipse">
            <a:avLst/>
          </a:prstGeom>
          <a:solidFill>
            <a:srgbClr val="52606D"/>
          </a:solidFill>
          <a:ln w="12700">
            <a:solidFill>
              <a:srgbClr val="52606D"/>
            </a:solidFill>
            <a:prstDash val="solid"/>
          </a:ln>
        </p:spPr>
      </p:sp>
      <p:sp>
        <p:nvSpPr>
          <p:cNvPr id="33" name="Shape 28"/>
          <p:cNvSpPr/>
          <p:nvPr/>
        </p:nvSpPr>
        <p:spPr>
          <a:xfrm>
            <a:off x="8919972" y="4484116"/>
            <a:ext cx="82296" cy="82296"/>
          </a:xfrm>
          <a:prstGeom prst="ellipse">
            <a:avLst/>
          </a:prstGeom>
          <a:solidFill>
            <a:srgbClr val="52606D"/>
          </a:solidFill>
          <a:ln w="12700">
            <a:solidFill>
              <a:srgbClr val="52606D"/>
            </a:solidFill>
            <a:prstDash val="solid"/>
          </a:ln>
        </p:spPr>
      </p:sp>
      <p:sp>
        <p:nvSpPr>
          <p:cNvPr id="34" name="Text 29"/>
          <p:cNvSpPr/>
          <p:nvPr/>
        </p:nvSpPr>
        <p:spPr>
          <a:xfrm>
            <a:off x="9144000" y="4433824"/>
            <a:ext cx="2206447"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Misma demora, diez veces</a:t>
            </a:r>
            <a:endParaRPr lang="en-US" sz="940" dirty="0"/>
          </a:p>
        </p:txBody>
      </p:sp>
      <p:sp>
        <p:nvSpPr>
          <p:cNvPr id="35" name="Text 30"/>
          <p:cNvSpPr/>
          <p:nvPr/>
        </p:nvSpPr>
        <p:spPr>
          <a:xfrm>
            <a:off x="8650224" y="4827016"/>
            <a:ext cx="2681935" cy="236220"/>
          </a:xfrm>
          <a:prstGeom prst="rect">
            <a:avLst/>
          </a:prstGeom>
          <a:noFill/>
          <a:ln/>
        </p:spPr>
        <p:txBody>
          <a:bodyPr wrap="square" lIns="0" tIns="0" rIns="0" bIns="0" rtlCol="0" anchor="ctr"/>
          <a:lstStyle/>
          <a:p>
            <a:pPr indent="0" marL="0">
              <a:buNone/>
            </a:pPr>
            <a:r>
              <a:rPr lang="en-US" sz="1200" b="1" dirty="0">
                <a:solidFill>
                  <a:srgbClr val="3FAE6A"/>
                </a:solidFill>
                <a:latin typeface="Consolas" pitchFamily="34" charset="0"/>
                <a:ea typeface="Consolas" pitchFamily="34" charset="-122"/>
                <a:cs typeface="Consolas" pitchFamily="34" charset="-120"/>
              </a:rPr>
              <a:t>10 passed (32.5s)</a:t>
            </a:r>
            <a:endParaRPr lang="en-US" sz="1200" dirty="0"/>
          </a:p>
        </p:txBody>
      </p:sp>
      <p:sp>
        <p:nvSpPr>
          <p:cNvPr id="36" name="Shape 31"/>
          <p:cNvSpPr/>
          <p:nvPr/>
        </p:nvSpPr>
        <p:spPr>
          <a:xfrm>
            <a:off x="658368" y="5650992"/>
            <a:ext cx="10874959" cy="548640"/>
          </a:xfrm>
          <a:prstGeom prst="rect">
            <a:avLst/>
          </a:prstGeom>
          <a:solidFill>
            <a:srgbClr val="102A43"/>
          </a:solidFill>
          <a:ln w="12700">
            <a:solidFill>
              <a:srgbClr val="102A43"/>
            </a:solidFill>
            <a:prstDash val="solid"/>
          </a:ln>
        </p:spPr>
      </p:sp>
      <p:sp>
        <p:nvSpPr>
          <p:cNvPr id="37" name="Text 3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corrección no es esperar más: es esperar lo que se quiere comprobar.</a:t>
            </a:r>
            <a:endParaRPr lang="en-US" sz="13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TENTACIÓN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Esperar más tampoco la arregla</a:t>
            </a:r>
            <a:endParaRPr lang="en-US" sz="3000" dirty="0"/>
          </a:p>
        </p:txBody>
      </p:sp>
      <p:sp>
        <p:nvSpPr>
          <p:cNvPr id="10" name="Text 7"/>
          <p:cNvSpPr txBox="1"/>
          <p:nvPr/>
        </p:nvSpPr>
        <p:spPr>
          <a:xfrm>
            <a:off x="3310128" y="1755648"/>
            <a:ext cx="329184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RESPUESTA EN 10 MS</a:t>
            </a:r>
            <a:endParaRPr lang="en-US" sz="960" dirty="0"/>
          </a:p>
        </p:txBody>
      </p:sp>
      <p:sp>
        <p:nvSpPr>
          <p:cNvPr id="11" name="Text 8"/>
          <p:cNvSpPr txBox="1"/>
          <p:nvPr/>
        </p:nvSpPr>
        <p:spPr>
          <a:xfrm>
            <a:off x="3291840" y="2048256"/>
            <a:ext cx="36576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0 s</a:t>
            </a:r>
            <a:endParaRPr lang="en-US" sz="840" dirty="0"/>
          </a:p>
        </p:txBody>
      </p:sp>
      <p:sp>
        <p:nvSpPr>
          <p:cNvPr id="12" name="Text 9"/>
          <p:cNvSpPr txBox="1"/>
          <p:nvPr/>
        </p:nvSpPr>
        <p:spPr>
          <a:xfrm>
            <a:off x="4233672" y="2048256"/>
            <a:ext cx="36576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1 s</a:t>
            </a:r>
            <a:endParaRPr lang="en-US" sz="840" dirty="0"/>
          </a:p>
        </p:txBody>
      </p:sp>
      <p:sp>
        <p:nvSpPr>
          <p:cNvPr id="13" name="Text 10"/>
          <p:cNvSpPr txBox="1"/>
          <p:nvPr/>
        </p:nvSpPr>
        <p:spPr>
          <a:xfrm>
            <a:off x="5175504" y="2048256"/>
            <a:ext cx="36576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2 s</a:t>
            </a:r>
            <a:endParaRPr lang="en-US" sz="840" dirty="0"/>
          </a:p>
        </p:txBody>
      </p:sp>
      <p:sp>
        <p:nvSpPr>
          <p:cNvPr id="14" name="Text 11"/>
          <p:cNvSpPr txBox="1"/>
          <p:nvPr/>
        </p:nvSpPr>
        <p:spPr>
          <a:xfrm>
            <a:off x="6117336" y="2048256"/>
            <a:ext cx="36576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3 s</a:t>
            </a:r>
            <a:endParaRPr lang="en-US" sz="840" dirty="0"/>
          </a:p>
        </p:txBody>
      </p:sp>
      <p:sp>
        <p:nvSpPr>
          <p:cNvPr id="15" name="Shape 12"/>
          <p:cNvSpPr/>
          <p:nvPr/>
        </p:nvSpPr>
        <p:spPr>
          <a:xfrm>
            <a:off x="3310128" y="2267712"/>
            <a:ext cx="3291840" cy="0"/>
          </a:xfrm>
          <a:prstGeom prst="line">
            <a:avLst/>
          </a:prstGeom>
          <a:noFill/>
          <a:ln w="12700">
            <a:solidFill>
              <a:srgbClr val="D8CFC4"/>
            </a:solidFill>
            <a:prstDash val="solid"/>
            <a:headEnd type="none"/>
            <a:tailEnd type="none"/>
          </a:ln>
        </p:spPr>
      </p:sp>
      <p:sp>
        <p:nvSpPr>
          <p:cNvPr id="16" name="Text 13"/>
          <p:cNvSpPr txBox="1"/>
          <p:nvPr/>
        </p:nvSpPr>
        <p:spPr>
          <a:xfrm>
            <a:off x="7424928" y="1755648"/>
            <a:ext cx="329184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RESPUESTA EN 3 S</a:t>
            </a:r>
            <a:endParaRPr lang="en-US" sz="960" dirty="0"/>
          </a:p>
        </p:txBody>
      </p:sp>
      <p:sp>
        <p:nvSpPr>
          <p:cNvPr id="17" name="Text 14"/>
          <p:cNvSpPr txBox="1"/>
          <p:nvPr/>
        </p:nvSpPr>
        <p:spPr>
          <a:xfrm>
            <a:off x="7406640" y="2048256"/>
            <a:ext cx="36576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0 s</a:t>
            </a:r>
            <a:endParaRPr lang="en-US" sz="840" dirty="0"/>
          </a:p>
        </p:txBody>
      </p:sp>
      <p:sp>
        <p:nvSpPr>
          <p:cNvPr id="18" name="Text 15"/>
          <p:cNvSpPr txBox="1"/>
          <p:nvPr/>
        </p:nvSpPr>
        <p:spPr>
          <a:xfrm>
            <a:off x="8348472" y="2048256"/>
            <a:ext cx="36576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1 s</a:t>
            </a:r>
            <a:endParaRPr lang="en-US" sz="840" dirty="0"/>
          </a:p>
        </p:txBody>
      </p:sp>
      <p:sp>
        <p:nvSpPr>
          <p:cNvPr id="19" name="Text 16"/>
          <p:cNvSpPr txBox="1"/>
          <p:nvPr/>
        </p:nvSpPr>
        <p:spPr>
          <a:xfrm>
            <a:off x="9290304" y="2048256"/>
            <a:ext cx="36576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2 s</a:t>
            </a:r>
            <a:endParaRPr lang="en-US" sz="840" dirty="0"/>
          </a:p>
        </p:txBody>
      </p:sp>
      <p:sp>
        <p:nvSpPr>
          <p:cNvPr id="20" name="Text 17"/>
          <p:cNvSpPr txBox="1"/>
          <p:nvPr/>
        </p:nvSpPr>
        <p:spPr>
          <a:xfrm>
            <a:off x="10232136" y="2048256"/>
            <a:ext cx="36576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3 s</a:t>
            </a:r>
            <a:endParaRPr lang="en-US" sz="840" dirty="0"/>
          </a:p>
        </p:txBody>
      </p:sp>
      <p:sp>
        <p:nvSpPr>
          <p:cNvPr id="21" name="Shape 18"/>
          <p:cNvSpPr/>
          <p:nvPr/>
        </p:nvSpPr>
        <p:spPr>
          <a:xfrm>
            <a:off x="7424928" y="2267712"/>
            <a:ext cx="3291840" cy="0"/>
          </a:xfrm>
          <a:prstGeom prst="line">
            <a:avLst/>
          </a:prstGeom>
          <a:noFill/>
          <a:ln w="12700">
            <a:solidFill>
              <a:srgbClr val="D8CFC4"/>
            </a:solidFill>
            <a:prstDash val="solid"/>
            <a:headEnd type="none"/>
            <a:tailEnd type="none"/>
          </a:ln>
        </p:spPr>
      </p:sp>
      <p:sp>
        <p:nvSpPr>
          <p:cNvPr id="22" name="Text 19"/>
          <p:cNvSpPr txBox="1"/>
          <p:nvPr/>
        </p:nvSpPr>
        <p:spPr>
          <a:xfrm>
            <a:off x="768096" y="2487168"/>
            <a:ext cx="246888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Espera fija de 400 ms</a:t>
            </a:r>
            <a:endParaRPr lang="en-US" sz="1240" dirty="0"/>
          </a:p>
        </p:txBody>
      </p:sp>
      <p:sp>
        <p:nvSpPr>
          <p:cNvPr id="23" name="Text 20"/>
          <p:cNvSpPr txBox="1"/>
          <p:nvPr/>
        </p:nvSpPr>
        <p:spPr>
          <a:xfrm>
            <a:off x="768096" y="2743200"/>
            <a:ext cx="2468880" cy="329184"/>
          </a:xfrm>
          <a:prstGeom prst="rect">
            <a:avLst/>
          </a:prstGeom>
          <a:noFill/>
          <a:ln/>
        </p:spPr>
        <p:txBody>
          <a:bodyPr wrap="square" lIns="0" tIns="0" rIns="0" bIns="0" rtlCol="0" anchor="t"/>
          <a:lstStyle/>
          <a:p>
            <a:pPr algn="l" indent="0" marL="0">
              <a:lnSpc>
                <a:spcPct val="100000"/>
              </a:lnSpc>
              <a:buNone/>
            </a:pPr>
            <a:r>
              <a:rPr lang="en-US" sz="960" dirty="0">
                <a:solidFill>
                  <a:srgbClr val="52606D"/>
                </a:solidFill>
                <a:latin typeface="Aptos" pitchFamily="34" charset="0"/>
                <a:ea typeface="Aptos" pitchFamily="34" charset="-122"/>
                <a:cs typeface="Aptos" pitchFamily="34" charset="-120"/>
              </a:rPr>
              <a:t>mira a los 0,4 s, llegue o no la respuesta</a:t>
            </a:r>
            <a:endParaRPr lang="en-US" sz="960" dirty="0"/>
          </a:p>
        </p:txBody>
      </p:sp>
      <p:sp>
        <p:nvSpPr>
          <p:cNvPr id="24" name="Shape 21"/>
          <p:cNvSpPr/>
          <p:nvPr/>
        </p:nvSpPr>
        <p:spPr>
          <a:xfrm>
            <a:off x="3310128" y="2560320"/>
            <a:ext cx="376733" cy="310896"/>
          </a:xfrm>
          <a:prstGeom prst="rect">
            <a:avLst/>
          </a:prstGeom>
          <a:solidFill>
            <a:srgbClr val="2E7D4F"/>
          </a:solidFill>
          <a:ln w="12700">
            <a:solidFill>
              <a:srgbClr val="2E7D4F"/>
            </a:solidFill>
            <a:prstDash val="solid"/>
          </a:ln>
        </p:spPr>
      </p:sp>
      <p:sp>
        <p:nvSpPr>
          <p:cNvPr id="25" name="Text 22"/>
          <p:cNvSpPr txBox="1"/>
          <p:nvPr/>
        </p:nvSpPr>
        <p:spPr>
          <a:xfrm>
            <a:off x="3778301" y="2578608"/>
            <a:ext cx="1737360" cy="274320"/>
          </a:xfrm>
          <a:prstGeom prst="rect">
            <a:avLst/>
          </a:prstGeom>
          <a:noFill/>
          <a:ln/>
        </p:spPr>
        <p:txBody>
          <a:bodyPr wrap="square" lIns="0" tIns="0" rIns="0" bIns="0" rtlCol="0" anchor="ctr"/>
          <a:lstStyle/>
          <a:p>
            <a:pPr algn="l" indent="0" marL="0">
              <a:buNone/>
            </a:pPr>
            <a:r>
              <a:rPr lang="en-US" sz="1040" b="1" dirty="0">
                <a:solidFill>
                  <a:srgbClr val="2E7D4F"/>
                </a:solidFill>
                <a:latin typeface="Aptos" pitchFamily="34" charset="0"/>
                <a:ea typeface="Aptos" pitchFamily="34" charset="-122"/>
                <a:cs typeface="Aptos" pitchFamily="34" charset="-120"/>
              </a:rPr>
              <a:t>pasa · 0,4 s</a:t>
            </a:r>
            <a:endParaRPr lang="en-US" sz="1040" dirty="0"/>
          </a:p>
        </p:txBody>
      </p:sp>
      <p:sp>
        <p:nvSpPr>
          <p:cNvPr id="26" name="Shape 23"/>
          <p:cNvSpPr/>
          <p:nvPr/>
        </p:nvSpPr>
        <p:spPr>
          <a:xfrm>
            <a:off x="3319546" y="2468880"/>
            <a:ext cx="0" cy="493776"/>
          </a:xfrm>
          <a:prstGeom prst="line">
            <a:avLst/>
          </a:prstGeom>
          <a:noFill/>
          <a:ln w="12700">
            <a:solidFill>
              <a:srgbClr val="8A6A12"/>
            </a:solidFill>
            <a:prstDash val="solid"/>
          </a:ln>
        </p:spPr>
      </p:sp>
      <p:sp>
        <p:nvSpPr>
          <p:cNvPr id="27" name="Shape 24"/>
          <p:cNvSpPr/>
          <p:nvPr/>
        </p:nvSpPr>
        <p:spPr>
          <a:xfrm>
            <a:off x="7424928" y="2560320"/>
            <a:ext cx="376733" cy="310896"/>
          </a:xfrm>
          <a:prstGeom prst="rect">
            <a:avLst/>
          </a:prstGeom>
          <a:solidFill>
            <a:srgbClr val="B3181E"/>
          </a:solidFill>
          <a:ln w="12700">
            <a:solidFill>
              <a:srgbClr val="B3181E"/>
            </a:solidFill>
            <a:prstDash val="solid"/>
          </a:ln>
        </p:spPr>
      </p:sp>
      <p:sp>
        <p:nvSpPr>
          <p:cNvPr id="28" name="Text 25"/>
          <p:cNvSpPr txBox="1"/>
          <p:nvPr/>
        </p:nvSpPr>
        <p:spPr>
          <a:xfrm>
            <a:off x="7893101" y="2578608"/>
            <a:ext cx="1737360" cy="274320"/>
          </a:xfrm>
          <a:prstGeom prst="rect">
            <a:avLst/>
          </a:prstGeom>
          <a:noFill/>
          <a:ln/>
        </p:spPr>
        <p:txBody>
          <a:bodyPr wrap="square" lIns="0" tIns="0" rIns="0" bIns="0" rtlCol="0" anchor="ctr"/>
          <a:lstStyle/>
          <a:p>
            <a:pPr algn="l" indent="0" marL="0">
              <a:buNone/>
            </a:pPr>
            <a:r>
              <a:rPr lang="en-US" sz="1040" b="1" dirty="0">
                <a:solidFill>
                  <a:srgbClr val="B3181E"/>
                </a:solidFill>
                <a:latin typeface="Aptos" pitchFamily="34" charset="0"/>
                <a:ea typeface="Aptos" pitchFamily="34" charset="-122"/>
                <a:cs typeface="Aptos" pitchFamily="34" charset="-120"/>
              </a:rPr>
              <a:t>falla: miró antes</a:t>
            </a:r>
            <a:endParaRPr lang="en-US" sz="1040" dirty="0"/>
          </a:p>
        </p:txBody>
      </p:sp>
      <p:sp>
        <p:nvSpPr>
          <p:cNvPr id="29" name="Shape 26"/>
          <p:cNvSpPr/>
          <p:nvPr/>
        </p:nvSpPr>
        <p:spPr>
          <a:xfrm>
            <a:off x="10250424" y="2468880"/>
            <a:ext cx="0" cy="493776"/>
          </a:xfrm>
          <a:prstGeom prst="line">
            <a:avLst/>
          </a:prstGeom>
          <a:noFill/>
          <a:ln w="12700">
            <a:solidFill>
              <a:srgbClr val="8A6A12"/>
            </a:solidFill>
            <a:prstDash val="solid"/>
          </a:ln>
        </p:spPr>
      </p:sp>
      <p:sp>
        <p:nvSpPr>
          <p:cNvPr id="30" name="Text 27"/>
          <p:cNvSpPr txBox="1"/>
          <p:nvPr/>
        </p:nvSpPr>
        <p:spPr>
          <a:xfrm>
            <a:off x="768096" y="3328416"/>
            <a:ext cx="246888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Espera fija de 2 s</a:t>
            </a:r>
            <a:endParaRPr lang="en-US" sz="1240" dirty="0"/>
          </a:p>
        </p:txBody>
      </p:sp>
      <p:sp>
        <p:nvSpPr>
          <p:cNvPr id="31" name="Text 28"/>
          <p:cNvSpPr txBox="1"/>
          <p:nvPr/>
        </p:nvSpPr>
        <p:spPr>
          <a:xfrm>
            <a:off x="768096" y="3584448"/>
            <a:ext cx="2468880" cy="329184"/>
          </a:xfrm>
          <a:prstGeom prst="rect">
            <a:avLst/>
          </a:prstGeom>
          <a:noFill/>
          <a:ln/>
        </p:spPr>
        <p:txBody>
          <a:bodyPr wrap="square" lIns="0" tIns="0" rIns="0" bIns="0" rtlCol="0" anchor="t"/>
          <a:lstStyle/>
          <a:p>
            <a:pPr algn="l" indent="0" marL="0">
              <a:lnSpc>
                <a:spcPct val="100000"/>
              </a:lnSpc>
              <a:buNone/>
            </a:pPr>
            <a:r>
              <a:rPr lang="en-US" sz="960" dirty="0">
                <a:solidFill>
                  <a:srgbClr val="52606D"/>
                </a:solidFill>
                <a:latin typeface="Aptos" pitchFamily="34" charset="0"/>
                <a:ea typeface="Aptos" pitchFamily="34" charset="-122"/>
                <a:cs typeface="Aptos" pitchFamily="34" charset="-120"/>
              </a:rPr>
              <a:t>mira a los 2 s, siempre</a:t>
            </a:r>
            <a:endParaRPr lang="en-US" sz="960" dirty="0"/>
          </a:p>
        </p:txBody>
      </p:sp>
      <p:sp>
        <p:nvSpPr>
          <p:cNvPr id="32" name="Shape 29"/>
          <p:cNvSpPr/>
          <p:nvPr/>
        </p:nvSpPr>
        <p:spPr>
          <a:xfrm>
            <a:off x="3310128" y="3401568"/>
            <a:ext cx="1883664" cy="310896"/>
          </a:xfrm>
          <a:prstGeom prst="rect">
            <a:avLst/>
          </a:prstGeom>
          <a:solidFill>
            <a:srgbClr val="2E7D4F"/>
          </a:solidFill>
          <a:ln w="12700">
            <a:solidFill>
              <a:srgbClr val="2E7D4F"/>
            </a:solidFill>
            <a:prstDash val="solid"/>
          </a:ln>
        </p:spPr>
      </p:sp>
      <p:sp>
        <p:nvSpPr>
          <p:cNvPr id="33" name="Text 30"/>
          <p:cNvSpPr txBox="1"/>
          <p:nvPr/>
        </p:nvSpPr>
        <p:spPr>
          <a:xfrm>
            <a:off x="5285232" y="3419856"/>
            <a:ext cx="1737360" cy="274320"/>
          </a:xfrm>
          <a:prstGeom prst="rect">
            <a:avLst/>
          </a:prstGeom>
          <a:noFill/>
          <a:ln/>
        </p:spPr>
        <p:txBody>
          <a:bodyPr wrap="square" lIns="0" tIns="0" rIns="0" bIns="0" rtlCol="0" anchor="ctr"/>
          <a:lstStyle/>
          <a:p>
            <a:pPr algn="l" indent="0" marL="0">
              <a:buNone/>
            </a:pPr>
            <a:r>
              <a:rPr lang="en-US" sz="1040" b="1" dirty="0">
                <a:solidFill>
                  <a:srgbClr val="2E7D4F"/>
                </a:solidFill>
                <a:latin typeface="Aptos" pitchFamily="34" charset="0"/>
                <a:ea typeface="Aptos" pitchFamily="34" charset="-122"/>
                <a:cs typeface="Aptos" pitchFamily="34" charset="-120"/>
              </a:rPr>
              <a:t>pasa · tarda 2 s</a:t>
            </a:r>
            <a:endParaRPr lang="en-US" sz="1040" dirty="0"/>
          </a:p>
        </p:txBody>
      </p:sp>
      <p:sp>
        <p:nvSpPr>
          <p:cNvPr id="34" name="Shape 31"/>
          <p:cNvSpPr/>
          <p:nvPr/>
        </p:nvSpPr>
        <p:spPr>
          <a:xfrm>
            <a:off x="3319546" y="3310128"/>
            <a:ext cx="0" cy="493776"/>
          </a:xfrm>
          <a:prstGeom prst="line">
            <a:avLst/>
          </a:prstGeom>
          <a:noFill/>
          <a:ln w="12700">
            <a:solidFill>
              <a:srgbClr val="8A6A12"/>
            </a:solidFill>
            <a:prstDash val="solid"/>
          </a:ln>
        </p:spPr>
      </p:sp>
      <p:sp>
        <p:nvSpPr>
          <p:cNvPr id="35" name="Shape 32"/>
          <p:cNvSpPr/>
          <p:nvPr/>
        </p:nvSpPr>
        <p:spPr>
          <a:xfrm>
            <a:off x="7424928" y="3401568"/>
            <a:ext cx="1883664" cy="310896"/>
          </a:xfrm>
          <a:prstGeom prst="rect">
            <a:avLst/>
          </a:prstGeom>
          <a:solidFill>
            <a:srgbClr val="B3181E"/>
          </a:solidFill>
          <a:ln w="12700">
            <a:solidFill>
              <a:srgbClr val="B3181E"/>
            </a:solidFill>
            <a:prstDash val="solid"/>
          </a:ln>
        </p:spPr>
      </p:sp>
      <p:sp>
        <p:nvSpPr>
          <p:cNvPr id="36" name="Text 33"/>
          <p:cNvSpPr txBox="1"/>
          <p:nvPr/>
        </p:nvSpPr>
        <p:spPr>
          <a:xfrm>
            <a:off x="9400032" y="3419856"/>
            <a:ext cx="1737360" cy="274320"/>
          </a:xfrm>
          <a:prstGeom prst="rect">
            <a:avLst/>
          </a:prstGeom>
          <a:noFill/>
          <a:ln/>
        </p:spPr>
        <p:txBody>
          <a:bodyPr wrap="square" lIns="0" tIns="0" rIns="0" bIns="0" rtlCol="0" anchor="ctr"/>
          <a:lstStyle/>
          <a:p>
            <a:pPr algn="l" indent="0" marL="0">
              <a:buNone/>
            </a:pPr>
            <a:r>
              <a:rPr lang="en-US" sz="1040" b="1" dirty="0">
                <a:solidFill>
                  <a:srgbClr val="B3181E"/>
                </a:solidFill>
                <a:latin typeface="Aptos" pitchFamily="34" charset="0"/>
                <a:ea typeface="Aptos" pitchFamily="34" charset="-122"/>
                <a:cs typeface="Aptos" pitchFamily="34" charset="-120"/>
              </a:rPr>
              <a:t>falla</a:t>
            </a:r>
            <a:endParaRPr lang="en-US" sz="1040" dirty="0"/>
          </a:p>
        </p:txBody>
      </p:sp>
      <p:sp>
        <p:nvSpPr>
          <p:cNvPr id="37" name="Shape 34"/>
          <p:cNvSpPr/>
          <p:nvPr/>
        </p:nvSpPr>
        <p:spPr>
          <a:xfrm>
            <a:off x="10250424" y="3310128"/>
            <a:ext cx="0" cy="493776"/>
          </a:xfrm>
          <a:prstGeom prst="line">
            <a:avLst/>
          </a:prstGeom>
          <a:noFill/>
          <a:ln w="12700">
            <a:solidFill>
              <a:srgbClr val="8A6A12"/>
            </a:solidFill>
            <a:prstDash val="solid"/>
          </a:ln>
        </p:spPr>
      </p:sp>
      <p:sp>
        <p:nvSpPr>
          <p:cNvPr id="38" name="Shape 35"/>
          <p:cNvSpPr/>
          <p:nvPr/>
        </p:nvSpPr>
        <p:spPr>
          <a:xfrm>
            <a:off x="658368" y="4078224"/>
            <a:ext cx="10874959" cy="749808"/>
          </a:xfrm>
          <a:prstGeom prst="rect">
            <a:avLst/>
          </a:prstGeom>
          <a:solidFill>
            <a:srgbClr val="F2E7D9"/>
          </a:solidFill>
          <a:ln w="12700">
            <a:solidFill>
              <a:srgbClr val="F2E7D9"/>
            </a:solidFill>
            <a:prstDash val="solid"/>
          </a:ln>
        </p:spPr>
      </p:sp>
      <p:sp>
        <p:nvSpPr>
          <p:cNvPr id="39" name="Text 36"/>
          <p:cNvSpPr txBox="1"/>
          <p:nvPr/>
        </p:nvSpPr>
        <p:spPr>
          <a:xfrm>
            <a:off x="768096" y="4169664"/>
            <a:ext cx="2468880" cy="237744"/>
          </a:xfrm>
          <a:prstGeom prst="rect">
            <a:avLst/>
          </a:prstGeom>
          <a:noFill/>
          <a:ln/>
        </p:spPr>
        <p:txBody>
          <a:bodyPr wrap="square" lIns="0" tIns="0" rIns="0" bIns="0" rtlCol="0" anchor="t"/>
          <a:lstStyle/>
          <a:p>
            <a:pPr algn="l" indent="0" marL="0">
              <a:buNone/>
            </a:pPr>
            <a:r>
              <a:rPr lang="en-US" sz="1240" b="1" dirty="0">
                <a:solidFill>
                  <a:srgbClr val="2E7D4F"/>
                </a:solidFill>
                <a:latin typeface="Aptos" pitchFamily="34" charset="0"/>
                <a:ea typeface="Aptos" pitchFamily="34" charset="-122"/>
                <a:cs typeface="Aptos" pitchFamily="34" charset="-120"/>
              </a:rPr>
              <a:t>Espera una condición</a:t>
            </a:r>
            <a:endParaRPr lang="en-US" sz="1240" dirty="0"/>
          </a:p>
        </p:txBody>
      </p:sp>
      <p:sp>
        <p:nvSpPr>
          <p:cNvPr id="40" name="Text 37"/>
          <p:cNvSpPr txBox="1"/>
          <p:nvPr/>
        </p:nvSpPr>
        <p:spPr>
          <a:xfrm>
            <a:off x="768096" y="4425696"/>
            <a:ext cx="2468880" cy="329184"/>
          </a:xfrm>
          <a:prstGeom prst="rect">
            <a:avLst/>
          </a:prstGeom>
          <a:noFill/>
          <a:ln/>
        </p:spPr>
        <p:txBody>
          <a:bodyPr wrap="square" lIns="0" tIns="0" rIns="0" bIns="0" rtlCol="0" anchor="t"/>
          <a:lstStyle/>
          <a:p>
            <a:pPr algn="l" indent="0" marL="0">
              <a:lnSpc>
                <a:spcPct val="100000"/>
              </a:lnSpc>
              <a:buNone/>
            </a:pPr>
            <a:r>
              <a:rPr lang="en-US" sz="960" dirty="0">
                <a:solidFill>
                  <a:srgbClr val="52606D"/>
                </a:solidFill>
                <a:latin typeface="Aptos" pitchFamily="34" charset="0"/>
                <a:ea typeface="Aptos" pitchFamily="34" charset="-122"/>
                <a:cs typeface="Aptos" pitchFamily="34" charset="-120"/>
              </a:rPr>
              <a:t>termina en cuanto se cumple; plazo de 5 s</a:t>
            </a:r>
            <a:endParaRPr lang="en-US" sz="960" dirty="0"/>
          </a:p>
        </p:txBody>
      </p:sp>
      <p:sp>
        <p:nvSpPr>
          <p:cNvPr id="41" name="Shape 38"/>
          <p:cNvSpPr/>
          <p:nvPr/>
        </p:nvSpPr>
        <p:spPr>
          <a:xfrm>
            <a:off x="3310128" y="4242816"/>
            <a:ext cx="54864" cy="310896"/>
          </a:xfrm>
          <a:prstGeom prst="rect">
            <a:avLst/>
          </a:prstGeom>
          <a:solidFill>
            <a:srgbClr val="2E7D4F"/>
          </a:solidFill>
          <a:ln w="12700">
            <a:solidFill>
              <a:srgbClr val="2E7D4F"/>
            </a:solidFill>
            <a:prstDash val="solid"/>
          </a:ln>
        </p:spPr>
      </p:sp>
      <p:sp>
        <p:nvSpPr>
          <p:cNvPr id="42" name="Text 39"/>
          <p:cNvSpPr txBox="1"/>
          <p:nvPr/>
        </p:nvSpPr>
        <p:spPr>
          <a:xfrm>
            <a:off x="3456432" y="4261104"/>
            <a:ext cx="1737360" cy="274320"/>
          </a:xfrm>
          <a:prstGeom prst="rect">
            <a:avLst/>
          </a:prstGeom>
          <a:noFill/>
          <a:ln/>
        </p:spPr>
        <p:txBody>
          <a:bodyPr wrap="square" lIns="0" tIns="0" rIns="0" bIns="0" rtlCol="0" anchor="ctr"/>
          <a:lstStyle/>
          <a:p>
            <a:pPr algn="l" indent="0" marL="0">
              <a:buNone/>
            </a:pPr>
            <a:r>
              <a:rPr lang="en-US" sz="1040" b="1" dirty="0">
                <a:solidFill>
                  <a:srgbClr val="2E7D4F"/>
                </a:solidFill>
                <a:latin typeface="Aptos" pitchFamily="34" charset="0"/>
                <a:ea typeface="Aptos" pitchFamily="34" charset="-122"/>
                <a:cs typeface="Aptos" pitchFamily="34" charset="-120"/>
              </a:rPr>
              <a:t>pasa · en cuanto llega</a:t>
            </a:r>
            <a:endParaRPr lang="en-US" sz="1040" dirty="0"/>
          </a:p>
        </p:txBody>
      </p:sp>
      <p:sp>
        <p:nvSpPr>
          <p:cNvPr id="43" name="Shape 40"/>
          <p:cNvSpPr/>
          <p:nvPr/>
        </p:nvSpPr>
        <p:spPr>
          <a:xfrm>
            <a:off x="3319546" y="4151376"/>
            <a:ext cx="0" cy="493776"/>
          </a:xfrm>
          <a:prstGeom prst="line">
            <a:avLst/>
          </a:prstGeom>
          <a:noFill/>
          <a:ln w="12700">
            <a:solidFill>
              <a:srgbClr val="8A6A12"/>
            </a:solidFill>
            <a:prstDash val="solid"/>
          </a:ln>
        </p:spPr>
      </p:sp>
      <p:sp>
        <p:nvSpPr>
          <p:cNvPr id="44" name="Shape 41"/>
          <p:cNvSpPr/>
          <p:nvPr/>
        </p:nvSpPr>
        <p:spPr>
          <a:xfrm>
            <a:off x="7424928" y="4242816"/>
            <a:ext cx="2825496" cy="310896"/>
          </a:xfrm>
          <a:prstGeom prst="rect">
            <a:avLst/>
          </a:prstGeom>
          <a:solidFill>
            <a:srgbClr val="2E7D4F"/>
          </a:solidFill>
          <a:ln w="12700">
            <a:solidFill>
              <a:srgbClr val="2E7D4F"/>
            </a:solidFill>
            <a:prstDash val="solid"/>
          </a:ln>
        </p:spPr>
      </p:sp>
      <p:sp>
        <p:nvSpPr>
          <p:cNvPr id="45" name="Text 42"/>
          <p:cNvSpPr txBox="1"/>
          <p:nvPr/>
        </p:nvSpPr>
        <p:spPr>
          <a:xfrm>
            <a:off x="10341864" y="4261104"/>
            <a:ext cx="1188720" cy="274320"/>
          </a:xfrm>
          <a:prstGeom prst="rect">
            <a:avLst/>
          </a:prstGeom>
          <a:noFill/>
          <a:ln/>
        </p:spPr>
        <p:txBody>
          <a:bodyPr wrap="square" lIns="0" tIns="0" rIns="0" bIns="0" rtlCol="0" anchor="ctr"/>
          <a:lstStyle/>
          <a:p>
            <a:pPr algn="l" indent="0" marL="0">
              <a:buNone/>
            </a:pPr>
            <a:r>
              <a:rPr lang="en-US" sz="1040" b="1" dirty="0">
                <a:solidFill>
                  <a:srgbClr val="2E7D4F"/>
                </a:solidFill>
                <a:latin typeface="Aptos" pitchFamily="34" charset="0"/>
                <a:ea typeface="Aptos" pitchFamily="34" charset="-122"/>
                <a:cs typeface="Aptos" pitchFamily="34" charset="-120"/>
              </a:rPr>
              <a:t>pasa · 3 s</a:t>
            </a:r>
            <a:endParaRPr lang="en-US" sz="1040" dirty="0"/>
          </a:p>
        </p:txBody>
      </p:sp>
      <p:sp>
        <p:nvSpPr>
          <p:cNvPr id="46" name="Shape 43"/>
          <p:cNvSpPr/>
          <p:nvPr/>
        </p:nvSpPr>
        <p:spPr>
          <a:xfrm>
            <a:off x="10250424" y="4151376"/>
            <a:ext cx="0" cy="493776"/>
          </a:xfrm>
          <a:prstGeom prst="line">
            <a:avLst/>
          </a:prstGeom>
          <a:noFill/>
          <a:ln w="12700">
            <a:solidFill>
              <a:srgbClr val="8A6A12"/>
            </a:solidFill>
            <a:prstDash val="solid"/>
          </a:ln>
        </p:spPr>
      </p:sp>
      <p:sp>
        <p:nvSpPr>
          <p:cNvPr id="47" name="Shape 44"/>
          <p:cNvSpPr/>
          <p:nvPr/>
        </p:nvSpPr>
        <p:spPr>
          <a:xfrm>
            <a:off x="658368" y="5084064"/>
            <a:ext cx="0" cy="219456"/>
          </a:xfrm>
          <a:prstGeom prst="line">
            <a:avLst/>
          </a:prstGeom>
          <a:noFill/>
          <a:ln w="12700">
            <a:solidFill>
              <a:srgbClr val="8A6A12"/>
            </a:solidFill>
            <a:prstDash val="solid"/>
          </a:ln>
        </p:spPr>
      </p:sp>
      <p:sp>
        <p:nvSpPr>
          <p:cNvPr id="48" name="Text 45"/>
          <p:cNvSpPr txBox="1"/>
          <p:nvPr/>
        </p:nvSpPr>
        <p:spPr>
          <a:xfrm>
            <a:off x="768096" y="5102352"/>
            <a:ext cx="1463040" cy="182880"/>
          </a:xfrm>
          <a:prstGeom prst="rect">
            <a:avLst/>
          </a:prstGeom>
          <a:noFill/>
          <a:ln/>
        </p:spPr>
        <p:txBody>
          <a:bodyPr wrap="square" lIns="0" tIns="0" rIns="0" bIns="0" rtlCol="0" anchor="t"/>
          <a:lstStyle/>
          <a:p>
            <a:pPr algn="l" indent="0" marL="0">
              <a:buNone/>
            </a:pPr>
            <a:r>
              <a:rPr lang="en-US" sz="960" dirty="0">
                <a:solidFill>
                  <a:srgbClr val="52606D"/>
                </a:solidFill>
                <a:latin typeface="Aptos" pitchFamily="34" charset="0"/>
                <a:ea typeface="Aptos" pitchFamily="34" charset="-122"/>
                <a:cs typeface="Aptos" pitchFamily="34" charset="-120"/>
              </a:rPr>
              <a:t>llega la respuesta</a:t>
            </a:r>
            <a:endParaRPr lang="en-US" sz="960" dirty="0"/>
          </a:p>
        </p:txBody>
      </p:sp>
      <p:sp>
        <p:nvSpPr>
          <p:cNvPr id="49" name="Text 46"/>
          <p:cNvSpPr txBox="1"/>
          <p:nvPr/>
        </p:nvSpPr>
        <p:spPr>
          <a:xfrm>
            <a:off x="2395728" y="5102352"/>
            <a:ext cx="5486400" cy="182880"/>
          </a:xfrm>
          <a:prstGeom prst="rect">
            <a:avLst/>
          </a:prstGeom>
          <a:noFill/>
          <a:ln/>
        </p:spPr>
        <p:txBody>
          <a:bodyPr wrap="square" lIns="0" tIns="0" rIns="0" bIns="0" rtlCol="0" anchor="t"/>
          <a:lstStyle/>
          <a:p>
            <a:pPr algn="l" indent="0" marL="0">
              <a:buNone/>
            </a:pPr>
            <a:r>
              <a:rPr lang="en-US" sz="960" i="1" dirty="0">
                <a:solidFill>
                  <a:srgbClr val="52606D"/>
                </a:solidFill>
                <a:latin typeface="Aptos" pitchFamily="34" charset="0"/>
                <a:ea typeface="Aptos" pitchFamily="34" charset="-122"/>
                <a:cs typeface="Aptos" pitchFamily="34" charset="-120"/>
              </a:rPr>
              <a:t>Largo de la barra: cuánto espera la prueba antes de dar su veredicto.</a:t>
            </a:r>
            <a:endParaRPr lang="en-US" sz="960" dirty="0"/>
          </a:p>
        </p:txBody>
      </p:sp>
      <p:sp>
        <p:nvSpPr>
          <p:cNvPr id="50" name="Shape 47"/>
          <p:cNvSpPr/>
          <p:nvPr/>
        </p:nvSpPr>
        <p:spPr>
          <a:xfrm>
            <a:off x="658368" y="5650992"/>
            <a:ext cx="10874959" cy="548640"/>
          </a:xfrm>
          <a:prstGeom prst="rect">
            <a:avLst/>
          </a:prstGeom>
          <a:solidFill>
            <a:srgbClr val="102A43"/>
          </a:solidFill>
          <a:ln w="12700">
            <a:solidFill>
              <a:srgbClr val="102A43"/>
            </a:solidFill>
            <a:prstDash val="solid"/>
          </a:ln>
        </p:spPr>
      </p:sp>
      <p:sp>
        <p:nvSpPr>
          <p:cNvPr id="51" name="Text 4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Una espera fija apuesta sobre la velocidad de una máquina ajena. Una condición no apuesta.</a:t>
            </a:r>
            <a:endParaRPr lang="en-US" sz="13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PLAYWRIGHT</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La herramienta ya espera sola</a:t>
            </a:r>
            <a:endParaRPr lang="en-US" sz="3000" dirty="0"/>
          </a:p>
        </p:txBody>
      </p:sp>
      <p:sp>
        <p:nvSpPr>
          <p:cNvPr id="10" name="Shape 7"/>
          <p:cNvSpPr/>
          <p:nvPr/>
        </p:nvSpPr>
        <p:spPr>
          <a:xfrm>
            <a:off x="658368" y="1737360"/>
            <a:ext cx="10874959" cy="1188720"/>
          </a:xfrm>
          <a:prstGeom prst="rect">
            <a:avLst/>
          </a:prstGeom>
          <a:solidFill>
            <a:srgbClr val="EDE6DA"/>
          </a:solidFill>
          <a:ln w="12700">
            <a:solidFill>
              <a:srgbClr val="EDE6DA"/>
            </a:solidFill>
            <a:prstDash val="solid"/>
          </a:ln>
        </p:spPr>
      </p:sp>
      <p:sp>
        <p:nvSpPr>
          <p:cNvPr id="11" name="Shape 8"/>
          <p:cNvSpPr/>
          <p:nvPr/>
        </p:nvSpPr>
        <p:spPr>
          <a:xfrm>
            <a:off x="658368" y="1737360"/>
            <a:ext cx="54864" cy="1188720"/>
          </a:xfrm>
          <a:prstGeom prst="rect">
            <a:avLst/>
          </a:prstGeom>
          <a:solidFill>
            <a:srgbClr val="B3181E"/>
          </a:solidFill>
          <a:ln w="12700">
            <a:solidFill>
              <a:srgbClr val="B3181E"/>
            </a:solidFill>
            <a:prstDash val="solid"/>
          </a:ln>
        </p:spPr>
      </p:sp>
      <p:sp>
        <p:nvSpPr>
          <p:cNvPr id="12" name="Text 9"/>
          <p:cNvSpPr txBox="1"/>
          <p:nvPr/>
        </p:nvSpPr>
        <p:spPr>
          <a:xfrm>
            <a:off x="914400" y="1865376"/>
            <a:ext cx="10362895" cy="749808"/>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«Nunca esperes un tiempo fijo en una prueba real. Las pruebas que esperan tiempo son inestables por naturaleza. Usa las acciones de los localizadores y las aserciones sobre la página, que esperan solas.»</a:t>
            </a:r>
            <a:endParaRPr lang="en-US" sz="1180" dirty="0"/>
          </a:p>
        </p:txBody>
      </p:sp>
      <p:sp>
        <p:nvSpPr>
          <p:cNvPr id="13" name="Text 10"/>
          <p:cNvSpPr txBox="1"/>
          <p:nvPr/>
        </p:nvSpPr>
        <p:spPr>
          <a:xfrm>
            <a:off x="914400" y="2651760"/>
            <a:ext cx="10362895" cy="182880"/>
          </a:xfrm>
          <a:prstGeom prst="rect">
            <a:avLst/>
          </a:prstGeom>
          <a:noFill/>
          <a:ln/>
        </p:spPr>
        <p:txBody>
          <a:bodyPr wrap="square" lIns="0" tIns="0" rIns="0" bIns="0" rtlCol="0" anchor="t"/>
          <a:lstStyle/>
          <a:p>
            <a:pPr algn="l" indent="0" marL="0">
              <a:buNone/>
            </a:pPr>
            <a:r>
              <a:rPr lang="en-US" sz="900" b="1" dirty="0">
                <a:solidFill>
                  <a:srgbClr val="B3181E"/>
                </a:solidFill>
                <a:latin typeface="Aptos" pitchFamily="34" charset="0"/>
                <a:ea typeface="Aptos" pitchFamily="34" charset="-122"/>
                <a:cs typeface="Aptos" pitchFamily="34" charset="-120"/>
              </a:rPr>
              <a:t>Documentación de Playwright, page.waitForTimeout · traducción del original en inglés</a:t>
            </a:r>
            <a:endParaRPr lang="en-US" sz="900" dirty="0"/>
          </a:p>
        </p:txBody>
      </p:sp>
      <p:sp>
        <p:nvSpPr>
          <p:cNvPr id="14" name="Shape 11"/>
          <p:cNvSpPr/>
          <p:nvPr/>
        </p:nvSpPr>
        <p:spPr>
          <a:xfrm>
            <a:off x="658368" y="3127248"/>
            <a:ext cx="5300320" cy="2340864"/>
          </a:xfrm>
          <a:prstGeom prst="rect">
            <a:avLst/>
          </a:prstGeom>
          <a:solidFill>
            <a:srgbClr val="FFFFFF"/>
          </a:solidFill>
          <a:ln w="12700">
            <a:solidFill>
              <a:srgbClr val="FFFFFF"/>
            </a:solidFill>
            <a:prstDash val="solid"/>
          </a:ln>
        </p:spPr>
      </p:sp>
      <p:sp>
        <p:nvSpPr>
          <p:cNvPr id="15" name="Shape 12"/>
          <p:cNvSpPr/>
          <p:nvPr/>
        </p:nvSpPr>
        <p:spPr>
          <a:xfrm>
            <a:off x="658368" y="3127248"/>
            <a:ext cx="5300320" cy="54864"/>
          </a:xfrm>
          <a:prstGeom prst="rect">
            <a:avLst/>
          </a:prstGeom>
          <a:solidFill>
            <a:srgbClr val="102A43"/>
          </a:solidFill>
          <a:ln w="12700">
            <a:solidFill>
              <a:srgbClr val="102A43"/>
            </a:solidFill>
            <a:prstDash val="solid"/>
          </a:ln>
        </p:spPr>
      </p:sp>
      <p:sp>
        <p:nvSpPr>
          <p:cNvPr id="16" name="Text 13"/>
          <p:cNvSpPr txBox="1"/>
          <p:nvPr/>
        </p:nvSpPr>
        <p:spPr>
          <a:xfrm>
            <a:off x="896112" y="3328416"/>
            <a:ext cx="484312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YA LO HACÍA EN EL BLOQUE 1</a:t>
            </a:r>
            <a:endParaRPr lang="en-US" sz="960" dirty="0"/>
          </a:p>
        </p:txBody>
      </p:sp>
      <p:sp>
        <p:nvSpPr>
          <p:cNvPr id="17" name="Text 14"/>
          <p:cNvSpPr txBox="1"/>
          <p:nvPr/>
        </p:nvSpPr>
        <p:spPr>
          <a:xfrm>
            <a:off x="896112" y="3694176"/>
            <a:ext cx="1554480" cy="822960"/>
          </a:xfrm>
          <a:prstGeom prst="rect">
            <a:avLst/>
          </a:prstGeom>
          <a:noFill/>
          <a:ln/>
        </p:spPr>
        <p:txBody>
          <a:bodyPr wrap="square" lIns="0" tIns="0" rIns="0" bIns="0" rtlCol="0" anchor="t"/>
          <a:lstStyle/>
          <a:p>
            <a:pPr algn="l" indent="0" marL="0">
              <a:buNone/>
            </a:pPr>
            <a:r>
              <a:rPr lang="en-US" sz="4800" b="1" dirty="0">
                <a:solidFill>
                  <a:srgbClr val="102A43"/>
                </a:solidFill>
                <a:latin typeface="Aptos Display" pitchFamily="34" charset="0"/>
                <a:ea typeface="Aptos Display" pitchFamily="34" charset="-122"/>
                <a:cs typeface="Aptos Display" pitchFamily="34" charset="-120"/>
              </a:rPr>
              <a:t>14×</a:t>
            </a:r>
            <a:endParaRPr lang="en-US" sz="4800" dirty="0"/>
          </a:p>
        </p:txBody>
      </p:sp>
      <p:sp>
        <p:nvSpPr>
          <p:cNvPr id="18" name="Text 15"/>
          <p:cNvSpPr txBox="1"/>
          <p:nvPr/>
        </p:nvSpPr>
        <p:spPr>
          <a:xfrm>
            <a:off x="932688" y="4535424"/>
            <a:ext cx="1645920" cy="237744"/>
          </a:xfrm>
          <a:prstGeom prst="rect">
            <a:avLst/>
          </a:prstGeom>
          <a:noFill/>
          <a:ln/>
        </p:spPr>
        <p:txBody>
          <a:bodyPr wrap="square" lIns="0" tIns="0" rIns="0" bIns="0" rtlCol="0" anchor="t"/>
          <a:lstStyle/>
          <a:p>
            <a:pPr algn="l" indent="0" marL="0">
              <a:buNone/>
            </a:pPr>
            <a:r>
              <a:rPr lang="en-US" sz="1100" b="1" dirty="0">
                <a:solidFill>
                  <a:srgbClr val="52606D"/>
                </a:solidFill>
                <a:latin typeface="Aptos" pitchFamily="34" charset="0"/>
                <a:ea typeface="Aptos" pitchFamily="34" charset="-122"/>
                <a:cs typeface="Aptos" pitchFamily="34" charset="-120"/>
              </a:rPr>
              <a:t>en 5 segundos</a:t>
            </a:r>
            <a:endParaRPr lang="en-US" sz="1100" dirty="0"/>
          </a:p>
        </p:txBody>
      </p:sp>
      <p:sp>
        <p:nvSpPr>
          <p:cNvPr id="19" name="Text 16"/>
          <p:cNvSpPr txBox="1"/>
          <p:nvPr/>
        </p:nvSpPr>
        <p:spPr>
          <a:xfrm>
            <a:off x="2670048" y="3694176"/>
            <a:ext cx="3050896" cy="1554480"/>
          </a:xfrm>
          <a:prstGeom prst="rect">
            <a:avLst/>
          </a:prstGeom>
          <a:noFill/>
          <a:ln/>
        </p:spPr>
        <p:txBody>
          <a:bodyPr wrap="square" lIns="0" tIns="0" rIns="0" bIns="0" rtlCol="0" anchor="t"/>
          <a:lstStyle/>
          <a:p>
            <a:pPr algn="l" indent="0" marL="0">
              <a:lnSpc>
                <a:spcPct val="114000"/>
              </a:lnSpc>
              <a:buNone/>
            </a:pPr>
            <a:r>
              <a:rPr lang="en-US" sz="1160" dirty="0">
                <a:solidFill>
                  <a:srgbClr val="243B53"/>
                </a:solidFill>
                <a:latin typeface="Aptos" pitchFamily="34" charset="0"/>
                <a:ea typeface="Aptos" pitchFamily="34" charset="-122"/>
                <a:cs typeface="Aptos" pitchFamily="34" charset="-120"/>
              </a:rPr>
              <a:t>Cuando falló la prueba del mensaje, la aserción volvió a buscar el elemento y a comparar su texto catorce veces antes de rendirse. Eso es lo que corrige la inestabilidad.</a:t>
            </a:r>
            <a:endParaRPr lang="en-US" sz="1160" dirty="0"/>
          </a:p>
        </p:txBody>
      </p:sp>
      <p:sp>
        <p:nvSpPr>
          <p:cNvPr id="20" name="Shape 17"/>
          <p:cNvSpPr/>
          <p:nvPr/>
        </p:nvSpPr>
        <p:spPr>
          <a:xfrm>
            <a:off x="6233008" y="3127248"/>
            <a:ext cx="5300320" cy="2340864"/>
          </a:xfrm>
          <a:prstGeom prst="rect">
            <a:avLst/>
          </a:prstGeom>
          <a:solidFill>
            <a:srgbClr val="FFFFFF"/>
          </a:solidFill>
          <a:ln w="12700">
            <a:solidFill>
              <a:srgbClr val="FFFFFF"/>
            </a:solidFill>
            <a:prstDash val="solid"/>
          </a:ln>
        </p:spPr>
      </p:sp>
      <p:sp>
        <p:nvSpPr>
          <p:cNvPr id="21" name="Shape 18"/>
          <p:cNvSpPr/>
          <p:nvPr/>
        </p:nvSpPr>
        <p:spPr>
          <a:xfrm>
            <a:off x="6233008" y="3127248"/>
            <a:ext cx="5300320" cy="54864"/>
          </a:xfrm>
          <a:prstGeom prst="rect">
            <a:avLst/>
          </a:prstGeom>
          <a:solidFill>
            <a:srgbClr val="2E7D4F"/>
          </a:solidFill>
          <a:ln w="12700">
            <a:solidFill>
              <a:srgbClr val="2E7D4F"/>
            </a:solidFill>
            <a:prstDash val="solid"/>
          </a:ln>
        </p:spPr>
      </p:sp>
      <p:sp>
        <p:nvSpPr>
          <p:cNvPr id="22" name="Text 19"/>
          <p:cNvSpPr txBox="1"/>
          <p:nvPr/>
        </p:nvSpPr>
        <p:spPr>
          <a:xfrm>
            <a:off x="6470752" y="3328416"/>
            <a:ext cx="484312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LAS ACCIONES TAMBIÉN ESPERAN</a:t>
            </a:r>
            <a:endParaRPr lang="en-US" sz="960" dirty="0"/>
          </a:p>
        </p:txBody>
      </p:sp>
      <p:sp>
        <p:nvSpPr>
          <p:cNvPr id="23" name="Text 20"/>
          <p:cNvSpPr txBox="1"/>
          <p:nvPr/>
        </p:nvSpPr>
        <p:spPr>
          <a:xfrm>
            <a:off x="6470752" y="3675888"/>
            <a:ext cx="4843120" cy="274320"/>
          </a:xfrm>
          <a:prstGeom prst="rect">
            <a:avLst/>
          </a:prstGeom>
          <a:noFill/>
          <a:ln/>
        </p:spPr>
        <p:txBody>
          <a:bodyPr wrap="square" lIns="0" tIns="0" rIns="0" bIns="0" rtlCol="0" anchor="t"/>
          <a:lstStyle/>
          <a:p>
            <a:pPr algn="l" indent="0" marL="0">
              <a:buNone/>
            </a:pPr>
            <a:r>
              <a:rPr lang="en-US" sz="1200" dirty="0">
                <a:solidFill>
                  <a:srgbClr val="243B53"/>
                </a:solidFill>
                <a:latin typeface="Aptos" pitchFamily="34" charset="0"/>
                <a:ea typeface="Aptos" pitchFamily="34" charset="-122"/>
                <a:cs typeface="Aptos" pitchFamily="34" charset="-120"/>
              </a:rPr>
              <a:t>Antes de apretar, click espera a que el botón:</a:t>
            </a:r>
            <a:endParaRPr lang="en-US" sz="1200" dirty="0"/>
          </a:p>
        </p:txBody>
      </p:sp>
      <p:sp>
        <p:nvSpPr>
          <p:cNvPr id="24" name="Shape 21"/>
          <p:cNvSpPr/>
          <p:nvPr/>
        </p:nvSpPr>
        <p:spPr>
          <a:xfrm>
            <a:off x="6470752" y="4114800"/>
            <a:ext cx="1535125" cy="566928"/>
          </a:xfrm>
          <a:prstGeom prst="rect">
            <a:avLst/>
          </a:prstGeom>
          <a:solidFill>
            <a:srgbClr val="EDE6DA"/>
          </a:solidFill>
          <a:ln w="12700">
            <a:solidFill>
              <a:srgbClr val="EDE6DA"/>
            </a:solidFill>
            <a:prstDash val="solid"/>
          </a:ln>
        </p:spPr>
      </p:sp>
      <p:sp>
        <p:nvSpPr>
          <p:cNvPr id="25" name="Shape 22"/>
          <p:cNvSpPr/>
          <p:nvPr/>
        </p:nvSpPr>
        <p:spPr>
          <a:xfrm>
            <a:off x="6470752" y="4114800"/>
            <a:ext cx="1535125" cy="45720"/>
          </a:xfrm>
          <a:prstGeom prst="rect">
            <a:avLst/>
          </a:prstGeom>
          <a:solidFill>
            <a:srgbClr val="2E7D4F"/>
          </a:solidFill>
          <a:ln w="12700">
            <a:solidFill>
              <a:srgbClr val="2E7D4F"/>
            </a:solidFill>
            <a:prstDash val="solid"/>
          </a:ln>
        </p:spPr>
      </p:sp>
      <p:sp>
        <p:nvSpPr>
          <p:cNvPr id="26" name="Text 23"/>
          <p:cNvSpPr txBox="1"/>
          <p:nvPr/>
        </p:nvSpPr>
        <p:spPr>
          <a:xfrm>
            <a:off x="6543904" y="4187952"/>
            <a:ext cx="1388821" cy="438912"/>
          </a:xfrm>
          <a:prstGeom prst="rect">
            <a:avLst/>
          </a:prstGeom>
          <a:noFill/>
          <a:ln/>
        </p:spPr>
        <p:txBody>
          <a:bodyPr wrap="square" lIns="0" tIns="0" rIns="0" bIns="0" rtlCol="0" anchor="ctr"/>
          <a:lstStyle/>
          <a:p>
            <a:pPr algn="ctr" indent="0" marL="0">
              <a:buNone/>
            </a:pPr>
            <a:r>
              <a:rPr lang="en-US" sz="1240" b="1" dirty="0">
                <a:solidFill>
                  <a:srgbClr val="243B53"/>
                </a:solidFill>
                <a:latin typeface="Aptos" pitchFamily="34" charset="0"/>
                <a:ea typeface="Aptos" pitchFamily="34" charset="-122"/>
                <a:cs typeface="Aptos" pitchFamily="34" charset="-120"/>
              </a:rPr>
              <a:t>exista</a:t>
            </a:r>
            <a:endParaRPr lang="en-US" sz="1240" dirty="0"/>
          </a:p>
        </p:txBody>
      </p:sp>
      <p:sp>
        <p:nvSpPr>
          <p:cNvPr id="27" name="Shape 24"/>
          <p:cNvSpPr/>
          <p:nvPr/>
        </p:nvSpPr>
        <p:spPr>
          <a:xfrm>
            <a:off x="8115605" y="4114800"/>
            <a:ext cx="1535125" cy="566928"/>
          </a:xfrm>
          <a:prstGeom prst="rect">
            <a:avLst/>
          </a:prstGeom>
          <a:solidFill>
            <a:srgbClr val="EDE6DA"/>
          </a:solidFill>
          <a:ln w="12700">
            <a:solidFill>
              <a:srgbClr val="EDE6DA"/>
            </a:solidFill>
            <a:prstDash val="solid"/>
          </a:ln>
        </p:spPr>
      </p:sp>
      <p:sp>
        <p:nvSpPr>
          <p:cNvPr id="28" name="Shape 25"/>
          <p:cNvSpPr/>
          <p:nvPr/>
        </p:nvSpPr>
        <p:spPr>
          <a:xfrm>
            <a:off x="8115605" y="4114800"/>
            <a:ext cx="1535125" cy="45720"/>
          </a:xfrm>
          <a:prstGeom prst="rect">
            <a:avLst/>
          </a:prstGeom>
          <a:solidFill>
            <a:srgbClr val="2E7D4F"/>
          </a:solidFill>
          <a:ln w="12700">
            <a:solidFill>
              <a:srgbClr val="2E7D4F"/>
            </a:solidFill>
            <a:prstDash val="solid"/>
          </a:ln>
        </p:spPr>
      </p:sp>
      <p:sp>
        <p:nvSpPr>
          <p:cNvPr id="29" name="Text 26"/>
          <p:cNvSpPr txBox="1"/>
          <p:nvPr/>
        </p:nvSpPr>
        <p:spPr>
          <a:xfrm>
            <a:off x="8188757" y="4187952"/>
            <a:ext cx="1388821" cy="438912"/>
          </a:xfrm>
          <a:prstGeom prst="rect">
            <a:avLst/>
          </a:prstGeom>
          <a:noFill/>
          <a:ln/>
        </p:spPr>
        <p:txBody>
          <a:bodyPr wrap="square" lIns="0" tIns="0" rIns="0" bIns="0" rtlCol="0" anchor="ctr"/>
          <a:lstStyle/>
          <a:p>
            <a:pPr algn="ctr" indent="0" marL="0">
              <a:buNone/>
            </a:pPr>
            <a:r>
              <a:rPr lang="en-US" sz="1240" b="1" dirty="0">
                <a:solidFill>
                  <a:srgbClr val="243B53"/>
                </a:solidFill>
                <a:latin typeface="Aptos" pitchFamily="34" charset="0"/>
                <a:ea typeface="Aptos" pitchFamily="34" charset="-122"/>
                <a:cs typeface="Aptos" pitchFamily="34" charset="-120"/>
              </a:rPr>
              <a:t>esté visible</a:t>
            </a:r>
            <a:endParaRPr lang="en-US" sz="1240" dirty="0"/>
          </a:p>
        </p:txBody>
      </p:sp>
      <p:sp>
        <p:nvSpPr>
          <p:cNvPr id="30" name="Shape 27"/>
          <p:cNvSpPr/>
          <p:nvPr/>
        </p:nvSpPr>
        <p:spPr>
          <a:xfrm>
            <a:off x="9760458" y="4114800"/>
            <a:ext cx="1535125" cy="566928"/>
          </a:xfrm>
          <a:prstGeom prst="rect">
            <a:avLst/>
          </a:prstGeom>
          <a:solidFill>
            <a:srgbClr val="EDE6DA"/>
          </a:solidFill>
          <a:ln w="12700">
            <a:solidFill>
              <a:srgbClr val="EDE6DA"/>
            </a:solidFill>
            <a:prstDash val="solid"/>
          </a:ln>
        </p:spPr>
      </p:sp>
      <p:sp>
        <p:nvSpPr>
          <p:cNvPr id="31" name="Shape 28"/>
          <p:cNvSpPr/>
          <p:nvPr/>
        </p:nvSpPr>
        <p:spPr>
          <a:xfrm>
            <a:off x="9760458" y="4114800"/>
            <a:ext cx="1535125" cy="45720"/>
          </a:xfrm>
          <a:prstGeom prst="rect">
            <a:avLst/>
          </a:prstGeom>
          <a:solidFill>
            <a:srgbClr val="2E7D4F"/>
          </a:solidFill>
          <a:ln w="12700">
            <a:solidFill>
              <a:srgbClr val="2E7D4F"/>
            </a:solidFill>
            <a:prstDash val="solid"/>
          </a:ln>
        </p:spPr>
      </p:sp>
      <p:sp>
        <p:nvSpPr>
          <p:cNvPr id="32" name="Text 29"/>
          <p:cNvSpPr txBox="1"/>
          <p:nvPr/>
        </p:nvSpPr>
        <p:spPr>
          <a:xfrm>
            <a:off x="9833610" y="4187952"/>
            <a:ext cx="1388821" cy="438912"/>
          </a:xfrm>
          <a:prstGeom prst="rect">
            <a:avLst/>
          </a:prstGeom>
          <a:noFill/>
          <a:ln/>
        </p:spPr>
        <p:txBody>
          <a:bodyPr wrap="square" lIns="0" tIns="0" rIns="0" bIns="0" rtlCol="0" anchor="ctr"/>
          <a:lstStyle/>
          <a:p>
            <a:pPr algn="ctr" indent="0" marL="0">
              <a:buNone/>
            </a:pPr>
            <a:r>
              <a:rPr lang="en-US" sz="1240" b="1" dirty="0">
                <a:solidFill>
                  <a:srgbClr val="243B53"/>
                </a:solidFill>
                <a:latin typeface="Aptos" pitchFamily="34" charset="0"/>
                <a:ea typeface="Aptos" pitchFamily="34" charset="-122"/>
                <a:cs typeface="Aptos" pitchFamily="34" charset="-120"/>
              </a:rPr>
              <a:t>se pueda apretar</a:t>
            </a:r>
            <a:endParaRPr lang="en-US" sz="1240" dirty="0"/>
          </a:p>
        </p:txBody>
      </p:sp>
      <p:sp>
        <p:nvSpPr>
          <p:cNvPr id="33" name="Text 30"/>
          <p:cNvSpPr txBox="1"/>
          <p:nvPr/>
        </p:nvSpPr>
        <p:spPr>
          <a:xfrm>
            <a:off x="6470752" y="4882896"/>
            <a:ext cx="4843120"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Sin que la prueba tenga que pedirlo.</a:t>
            </a:r>
            <a:endParaRPr lang="en-US" sz="1140" dirty="0"/>
          </a:p>
        </p:txBody>
      </p:sp>
      <p:sp>
        <p:nvSpPr>
          <p:cNvPr id="34" name="Shape 31"/>
          <p:cNvSpPr/>
          <p:nvPr/>
        </p:nvSpPr>
        <p:spPr>
          <a:xfrm>
            <a:off x="658368" y="5650992"/>
            <a:ext cx="10874959" cy="548640"/>
          </a:xfrm>
          <a:prstGeom prst="rect">
            <a:avLst/>
          </a:prstGeom>
          <a:solidFill>
            <a:srgbClr val="102A43"/>
          </a:solidFill>
          <a:ln w="12700">
            <a:solidFill>
              <a:srgbClr val="102A43"/>
            </a:solidFill>
            <a:prstDash val="solid"/>
          </a:ln>
        </p:spPr>
      </p:sp>
      <p:sp>
        <p:nvSpPr>
          <p:cNvPr id="35" name="Text 3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Acciones y aserciones sobre localizadores esperan solas. La espera fija es la que sobra.</a:t>
            </a:r>
            <a:endParaRPr lang="en-US" sz="13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EVIDENCIA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La causa más documentada es esta</a:t>
            </a:r>
            <a:endParaRPr lang="en-US" sz="3000" dirty="0"/>
          </a:p>
        </p:txBody>
      </p:sp>
      <p:sp>
        <p:nvSpPr>
          <p:cNvPr id="10" name="Text 7"/>
          <p:cNvSpPr txBox="1"/>
          <p:nvPr/>
        </p:nvSpPr>
        <p:spPr>
          <a:xfrm>
            <a:off x="658368" y="1755648"/>
            <a:ext cx="576072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201 CORRECCIONES · 51 PROYECTOS DE CÓDIGO ABIERTO · 161 CLASIFICADAS</a:t>
            </a:r>
            <a:endParaRPr lang="en-US" sz="960" dirty="0"/>
          </a:p>
        </p:txBody>
      </p:sp>
      <p:sp>
        <p:nvSpPr>
          <p:cNvPr id="11" name="Text 8"/>
          <p:cNvSpPr txBox="1"/>
          <p:nvPr/>
        </p:nvSpPr>
        <p:spPr>
          <a:xfrm>
            <a:off x="658368" y="2084832"/>
            <a:ext cx="2743200" cy="237744"/>
          </a:xfrm>
          <a:prstGeom prst="rect">
            <a:avLst/>
          </a:prstGeom>
          <a:noFill/>
          <a:ln/>
        </p:spPr>
        <p:txBody>
          <a:bodyPr wrap="square" lIns="0" tIns="0" rIns="0" bIns="0" rtlCol="0" anchor="t"/>
          <a:lstStyle/>
          <a:p>
            <a:pPr algn="l" indent="0" marL="0">
              <a:buNone/>
            </a:pPr>
            <a:r>
              <a:rPr lang="en-US" sz="1240" b="1" dirty="0">
                <a:solidFill>
                  <a:srgbClr val="B3181E"/>
                </a:solidFill>
                <a:latin typeface="Aptos" pitchFamily="34" charset="0"/>
                <a:ea typeface="Aptos" pitchFamily="34" charset="-122"/>
                <a:cs typeface="Aptos" pitchFamily="34" charset="-120"/>
              </a:rPr>
              <a:t>Espera asíncrona</a:t>
            </a:r>
            <a:endParaRPr lang="en-US" sz="1240" dirty="0"/>
          </a:p>
        </p:txBody>
      </p:sp>
      <p:sp>
        <p:nvSpPr>
          <p:cNvPr id="12" name="Text 9"/>
          <p:cNvSpPr txBox="1"/>
          <p:nvPr/>
        </p:nvSpPr>
        <p:spPr>
          <a:xfrm>
            <a:off x="658368" y="2331720"/>
            <a:ext cx="5760720" cy="201168"/>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La prueba hace una llamada asíncrona y no espera bien su resultado.</a:t>
            </a:r>
            <a:endParaRPr lang="en-US" sz="980" dirty="0"/>
          </a:p>
        </p:txBody>
      </p:sp>
      <p:sp>
        <p:nvSpPr>
          <p:cNvPr id="13" name="Shape 10"/>
          <p:cNvSpPr/>
          <p:nvPr/>
        </p:nvSpPr>
        <p:spPr>
          <a:xfrm>
            <a:off x="658368" y="2596896"/>
            <a:ext cx="3566160" cy="274320"/>
          </a:xfrm>
          <a:prstGeom prst="rect">
            <a:avLst/>
          </a:prstGeom>
          <a:solidFill>
            <a:srgbClr val="B3181E"/>
          </a:solidFill>
          <a:ln w="12700">
            <a:solidFill>
              <a:srgbClr val="B3181E"/>
            </a:solidFill>
            <a:prstDash val="solid"/>
          </a:ln>
        </p:spPr>
      </p:sp>
      <p:sp>
        <p:nvSpPr>
          <p:cNvPr id="14" name="Text 11"/>
          <p:cNvSpPr txBox="1"/>
          <p:nvPr/>
        </p:nvSpPr>
        <p:spPr>
          <a:xfrm>
            <a:off x="4352544" y="2596896"/>
            <a:ext cx="2011680" cy="274320"/>
          </a:xfrm>
          <a:prstGeom prst="rect">
            <a:avLst/>
          </a:prstGeom>
          <a:noFill/>
          <a:ln/>
        </p:spPr>
        <p:txBody>
          <a:bodyPr wrap="square" lIns="0" tIns="0" rIns="0" bIns="0" rtlCol="0" anchor="ctr"/>
          <a:lstStyle/>
          <a:p>
            <a:pPr algn="l" indent="0" marL="0">
              <a:buNone/>
            </a:pPr>
            <a:r>
              <a:rPr lang="en-US" sz="1140" b="1" dirty="0">
                <a:solidFill>
                  <a:srgbClr val="B3181E"/>
                </a:solidFill>
                <a:latin typeface="Aptos" pitchFamily="34" charset="0"/>
                <a:ea typeface="Aptos" pitchFamily="34" charset="-122"/>
                <a:cs typeface="Aptos" pitchFamily="34" charset="-120"/>
              </a:rPr>
              <a:t>74 de 161 · 45 %</a:t>
            </a:r>
            <a:endParaRPr lang="en-US" sz="1140" dirty="0"/>
          </a:p>
        </p:txBody>
      </p:sp>
      <p:sp>
        <p:nvSpPr>
          <p:cNvPr id="15" name="Text 12"/>
          <p:cNvSpPr txBox="1"/>
          <p:nvPr/>
        </p:nvSpPr>
        <p:spPr>
          <a:xfrm>
            <a:off x="658368" y="2980944"/>
            <a:ext cx="274320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Concurrencia</a:t>
            </a:r>
            <a:endParaRPr lang="en-US" sz="1240" dirty="0"/>
          </a:p>
        </p:txBody>
      </p:sp>
      <p:sp>
        <p:nvSpPr>
          <p:cNvPr id="16" name="Text 13"/>
          <p:cNvSpPr txBox="1"/>
          <p:nvPr/>
        </p:nvSpPr>
        <p:spPr>
          <a:xfrm>
            <a:off x="658368" y="3227832"/>
            <a:ext cx="5760720" cy="201168"/>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Partes del programa que corren al mismo tiempo (hilos) interactúan mal.</a:t>
            </a:r>
            <a:endParaRPr lang="en-US" sz="980" dirty="0"/>
          </a:p>
        </p:txBody>
      </p:sp>
      <p:sp>
        <p:nvSpPr>
          <p:cNvPr id="17" name="Shape 14"/>
          <p:cNvSpPr/>
          <p:nvPr/>
        </p:nvSpPr>
        <p:spPr>
          <a:xfrm>
            <a:off x="658368" y="3493008"/>
            <a:ext cx="1584960" cy="274320"/>
          </a:xfrm>
          <a:prstGeom prst="rect">
            <a:avLst/>
          </a:prstGeom>
          <a:solidFill>
            <a:srgbClr val="52606D"/>
          </a:solidFill>
          <a:ln w="12700">
            <a:solidFill>
              <a:srgbClr val="52606D"/>
            </a:solidFill>
            <a:prstDash val="solid"/>
          </a:ln>
        </p:spPr>
      </p:sp>
      <p:sp>
        <p:nvSpPr>
          <p:cNvPr id="18" name="Text 15"/>
          <p:cNvSpPr txBox="1"/>
          <p:nvPr/>
        </p:nvSpPr>
        <p:spPr>
          <a:xfrm>
            <a:off x="2371344" y="3493008"/>
            <a:ext cx="2011680" cy="274320"/>
          </a:xfrm>
          <a:prstGeom prst="rect">
            <a:avLst/>
          </a:prstGeom>
          <a:noFill/>
          <a:ln/>
        </p:spPr>
        <p:txBody>
          <a:bodyPr wrap="square" lIns="0" tIns="0" rIns="0" bIns="0" rtlCol="0" anchor="ctr"/>
          <a:lstStyle/>
          <a:p>
            <a:pPr algn="l" indent="0" marL="0">
              <a:buNone/>
            </a:pPr>
            <a:r>
              <a:rPr lang="en-US" sz="1140" b="1" dirty="0">
                <a:solidFill>
                  <a:srgbClr val="243B53"/>
                </a:solidFill>
                <a:latin typeface="Aptos" pitchFamily="34" charset="0"/>
                <a:ea typeface="Aptos" pitchFamily="34" charset="-122"/>
                <a:cs typeface="Aptos" pitchFamily="34" charset="-120"/>
              </a:rPr>
              <a:t>32 de 161 · 20 %</a:t>
            </a:r>
            <a:endParaRPr lang="en-US" sz="1140" dirty="0"/>
          </a:p>
        </p:txBody>
      </p:sp>
      <p:sp>
        <p:nvSpPr>
          <p:cNvPr id="19" name="Text 16"/>
          <p:cNvSpPr txBox="1"/>
          <p:nvPr/>
        </p:nvSpPr>
        <p:spPr>
          <a:xfrm>
            <a:off x="658368" y="3877056"/>
            <a:ext cx="274320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Dependencia del orden</a:t>
            </a:r>
            <a:endParaRPr lang="en-US" sz="1240" dirty="0"/>
          </a:p>
        </p:txBody>
      </p:sp>
      <p:sp>
        <p:nvSpPr>
          <p:cNvPr id="20" name="Text 17"/>
          <p:cNvSpPr txBox="1"/>
          <p:nvPr/>
        </p:nvSpPr>
        <p:spPr>
          <a:xfrm>
            <a:off x="658368" y="4123944"/>
            <a:ext cx="5760720" cy="201168"/>
          </a:xfrm>
          <a:prstGeom prst="rect">
            <a:avLst/>
          </a:prstGeom>
          <a:noFill/>
          <a:ln/>
        </p:spPr>
        <p:txBody>
          <a:bodyPr wrap="square" lIns="0" tIns="0" rIns="0" bIns="0" rtlCol="0" anchor="t"/>
          <a:lstStyle/>
          <a:p>
            <a:pPr algn="l" indent="0" marL="0">
              <a:buNone/>
            </a:pPr>
            <a:r>
              <a:rPr lang="en-US" sz="980" dirty="0">
                <a:solidFill>
                  <a:srgbClr val="52606D"/>
                </a:solidFill>
                <a:latin typeface="Aptos" pitchFamily="34" charset="0"/>
                <a:ea typeface="Aptos" pitchFamily="34" charset="-122"/>
                <a:cs typeface="Aptos" pitchFamily="34" charset="-120"/>
              </a:rPr>
              <a:t>El resultado depende de qué pruebas corrieron antes.</a:t>
            </a:r>
            <a:endParaRPr lang="en-US" sz="980" dirty="0"/>
          </a:p>
        </p:txBody>
      </p:sp>
      <p:sp>
        <p:nvSpPr>
          <p:cNvPr id="21" name="Shape 18"/>
          <p:cNvSpPr/>
          <p:nvPr/>
        </p:nvSpPr>
        <p:spPr>
          <a:xfrm>
            <a:off x="658368" y="4389120"/>
            <a:ext cx="950976" cy="274320"/>
          </a:xfrm>
          <a:prstGeom prst="rect">
            <a:avLst/>
          </a:prstGeom>
          <a:solidFill>
            <a:srgbClr val="52606D"/>
          </a:solidFill>
          <a:ln w="12700">
            <a:solidFill>
              <a:srgbClr val="52606D"/>
            </a:solidFill>
            <a:prstDash val="solid"/>
          </a:ln>
        </p:spPr>
      </p:sp>
      <p:sp>
        <p:nvSpPr>
          <p:cNvPr id="22" name="Text 19"/>
          <p:cNvSpPr txBox="1"/>
          <p:nvPr/>
        </p:nvSpPr>
        <p:spPr>
          <a:xfrm>
            <a:off x="1737360" y="4389120"/>
            <a:ext cx="2011680" cy="274320"/>
          </a:xfrm>
          <a:prstGeom prst="rect">
            <a:avLst/>
          </a:prstGeom>
          <a:noFill/>
          <a:ln/>
        </p:spPr>
        <p:txBody>
          <a:bodyPr wrap="square" lIns="0" tIns="0" rIns="0" bIns="0" rtlCol="0" anchor="ctr"/>
          <a:lstStyle/>
          <a:p>
            <a:pPr algn="l" indent="0" marL="0">
              <a:buNone/>
            </a:pPr>
            <a:r>
              <a:rPr lang="en-US" sz="1140" b="1" dirty="0">
                <a:solidFill>
                  <a:srgbClr val="243B53"/>
                </a:solidFill>
                <a:latin typeface="Aptos" pitchFamily="34" charset="0"/>
                <a:ea typeface="Aptos" pitchFamily="34" charset="-122"/>
                <a:cs typeface="Aptos" pitchFamily="34" charset="-120"/>
              </a:rPr>
              <a:t>19 de 161 · 12 %</a:t>
            </a:r>
            <a:endParaRPr lang="en-US" sz="1140" dirty="0"/>
          </a:p>
        </p:txBody>
      </p:sp>
      <p:sp>
        <p:nvSpPr>
          <p:cNvPr id="23" name="Text 20"/>
          <p:cNvSpPr txBox="1"/>
          <p:nvPr/>
        </p:nvSpPr>
        <p:spPr>
          <a:xfrm>
            <a:off x="658368" y="4846320"/>
            <a:ext cx="5760720" cy="566928"/>
          </a:xfrm>
          <a:prstGeom prst="rect">
            <a:avLst/>
          </a:prstGeom>
          <a:noFill/>
          <a:ln/>
        </p:spPr>
        <p:txBody>
          <a:bodyPr wrap="square" lIns="0" tIns="0" rIns="0" bIns="0" rtlCol="0" anchor="t"/>
          <a:lstStyle/>
          <a:p>
            <a:pPr algn="l" indent="0" marL="0">
              <a:lnSpc>
                <a:spcPct val="112000"/>
              </a:lnSpc>
              <a:buNone/>
            </a:pPr>
            <a:r>
              <a:rPr lang="en-US" sz="1100" i="1" dirty="0">
                <a:solidFill>
                  <a:srgbClr val="243B53"/>
                </a:solidFill>
                <a:latin typeface="Aptos" pitchFamily="34" charset="0"/>
                <a:ea typeface="Aptos" pitchFamily="34" charset="-122"/>
                <a:cs typeface="Aptos" pitchFamily="34" charset="-120"/>
              </a:rPr>
              <a:t>Si una prueba falla cuatro de cada diez veces sin motivo, el día que falle por un defecto real nadie le va a creer: deja de informar.</a:t>
            </a:r>
            <a:endParaRPr lang="en-US" sz="1100" dirty="0"/>
          </a:p>
        </p:txBody>
      </p:sp>
      <p:sp>
        <p:nvSpPr>
          <p:cNvPr id="24" name="Text 21"/>
          <p:cNvSpPr txBox="1"/>
          <p:nvPr/>
        </p:nvSpPr>
        <p:spPr>
          <a:xfrm>
            <a:off x="6876288" y="1755648"/>
            <a:ext cx="4657039"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TRES HALLAZGOS DEL MISMO ESTUDIO</a:t>
            </a:r>
            <a:endParaRPr lang="en-US" sz="960" dirty="0"/>
          </a:p>
        </p:txBody>
      </p:sp>
      <p:sp>
        <p:nvSpPr>
          <p:cNvPr id="25" name="Shape 22"/>
          <p:cNvSpPr/>
          <p:nvPr/>
        </p:nvSpPr>
        <p:spPr>
          <a:xfrm>
            <a:off x="6876288" y="2084832"/>
            <a:ext cx="4657039" cy="786384"/>
          </a:xfrm>
          <a:prstGeom prst="rect">
            <a:avLst/>
          </a:prstGeom>
          <a:solidFill>
            <a:srgbClr val="FFFFFF"/>
          </a:solidFill>
          <a:ln w="12700">
            <a:solidFill>
              <a:srgbClr val="FFFFFF"/>
            </a:solidFill>
            <a:prstDash val="solid"/>
          </a:ln>
        </p:spPr>
      </p:sp>
      <p:sp>
        <p:nvSpPr>
          <p:cNvPr id="26" name="Shape 23"/>
          <p:cNvSpPr/>
          <p:nvPr/>
        </p:nvSpPr>
        <p:spPr>
          <a:xfrm>
            <a:off x="6876288" y="2084832"/>
            <a:ext cx="54864" cy="786384"/>
          </a:xfrm>
          <a:prstGeom prst="rect">
            <a:avLst/>
          </a:prstGeom>
          <a:solidFill>
            <a:srgbClr val="B3181E"/>
          </a:solidFill>
          <a:ln w="12700">
            <a:solidFill>
              <a:srgbClr val="B3181E"/>
            </a:solidFill>
            <a:prstDash val="solid"/>
          </a:ln>
        </p:spPr>
      </p:sp>
      <p:sp>
        <p:nvSpPr>
          <p:cNvPr id="27" name="Text 24"/>
          <p:cNvSpPr txBox="1"/>
          <p:nvPr/>
        </p:nvSpPr>
        <p:spPr>
          <a:xfrm>
            <a:off x="7077456" y="2176272"/>
            <a:ext cx="1280160" cy="603504"/>
          </a:xfrm>
          <a:prstGeom prst="rect">
            <a:avLst/>
          </a:prstGeom>
          <a:noFill/>
          <a:ln/>
        </p:spPr>
        <p:txBody>
          <a:bodyPr wrap="square" lIns="0" tIns="0" rIns="0" bIns="0" rtlCol="0" anchor="ctr"/>
          <a:lstStyle/>
          <a:p>
            <a:pPr algn="l" indent="0" marL="0">
              <a:buNone/>
            </a:pPr>
            <a:r>
              <a:rPr lang="en-US" sz="2800" b="1" dirty="0">
                <a:solidFill>
                  <a:srgbClr val="B3181E"/>
                </a:solidFill>
                <a:latin typeface="Aptos Display" pitchFamily="34" charset="0"/>
                <a:ea typeface="Aptos Display" pitchFamily="34" charset="-122"/>
                <a:cs typeface="Aptos Display" pitchFamily="34" charset="-120"/>
              </a:rPr>
              <a:t>78 %</a:t>
            </a:r>
            <a:endParaRPr lang="en-US" sz="2800" dirty="0"/>
          </a:p>
        </p:txBody>
      </p:sp>
      <p:sp>
        <p:nvSpPr>
          <p:cNvPr id="28" name="Text 25"/>
          <p:cNvSpPr txBox="1"/>
          <p:nvPr/>
        </p:nvSpPr>
        <p:spPr>
          <a:xfrm>
            <a:off x="8394192" y="2194560"/>
            <a:ext cx="2553919" cy="566928"/>
          </a:xfrm>
          <a:prstGeom prst="rect">
            <a:avLst/>
          </a:prstGeom>
          <a:noFill/>
          <a:ln/>
        </p:spPr>
        <p:txBody>
          <a:bodyPr wrap="square" lIns="0" tIns="0" rIns="0" bIns="0" rtlCol="0" anchor="ctr"/>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de las pruebas inestables ya lo son la primera vez que se escriben.</a:t>
            </a:r>
            <a:endParaRPr lang="en-US" sz="1100" dirty="0"/>
          </a:p>
        </p:txBody>
      </p:sp>
      <p:sp>
        <p:nvSpPr>
          <p:cNvPr id="29" name="Text 26"/>
          <p:cNvSpPr txBox="1"/>
          <p:nvPr/>
        </p:nvSpPr>
        <p:spPr>
          <a:xfrm>
            <a:off x="11021263" y="2194560"/>
            <a:ext cx="402336" cy="182880"/>
          </a:xfrm>
          <a:prstGeom prst="rect">
            <a:avLst/>
          </a:prstGeom>
          <a:noFill/>
          <a:ln/>
        </p:spPr>
        <p:txBody>
          <a:bodyPr wrap="square" lIns="0" tIns="0" rIns="0" bIns="0" rtlCol="0" anchor="t"/>
          <a:lstStyle/>
          <a:p>
            <a:pPr algn="r" indent="0" marL="0">
              <a:buNone/>
            </a:pPr>
            <a:r>
              <a:rPr lang="en-US" sz="860" b="1" dirty="0">
                <a:solidFill>
                  <a:srgbClr val="52606D"/>
                </a:solidFill>
                <a:latin typeface="Aptos" pitchFamily="34" charset="0"/>
                <a:ea typeface="Aptos" pitchFamily="34" charset="-122"/>
                <a:cs typeface="Aptos" pitchFamily="34" charset="-120"/>
              </a:rPr>
              <a:t>F.2</a:t>
            </a:r>
            <a:endParaRPr lang="en-US" sz="860" dirty="0"/>
          </a:p>
        </p:txBody>
      </p:sp>
      <p:sp>
        <p:nvSpPr>
          <p:cNvPr id="30" name="Shape 27"/>
          <p:cNvSpPr/>
          <p:nvPr/>
        </p:nvSpPr>
        <p:spPr>
          <a:xfrm>
            <a:off x="6876288" y="2980944"/>
            <a:ext cx="4657039" cy="786384"/>
          </a:xfrm>
          <a:prstGeom prst="rect">
            <a:avLst/>
          </a:prstGeom>
          <a:solidFill>
            <a:srgbClr val="FFFFFF"/>
          </a:solidFill>
          <a:ln w="12700">
            <a:solidFill>
              <a:srgbClr val="FFFFFF"/>
            </a:solidFill>
            <a:prstDash val="solid"/>
          </a:ln>
        </p:spPr>
      </p:sp>
      <p:sp>
        <p:nvSpPr>
          <p:cNvPr id="31" name="Shape 28"/>
          <p:cNvSpPr/>
          <p:nvPr/>
        </p:nvSpPr>
        <p:spPr>
          <a:xfrm>
            <a:off x="6876288" y="2980944"/>
            <a:ext cx="54864" cy="786384"/>
          </a:xfrm>
          <a:prstGeom prst="rect">
            <a:avLst/>
          </a:prstGeom>
          <a:solidFill>
            <a:srgbClr val="8A6A12"/>
          </a:solidFill>
          <a:ln w="12700">
            <a:solidFill>
              <a:srgbClr val="8A6A12"/>
            </a:solidFill>
            <a:prstDash val="solid"/>
          </a:ln>
        </p:spPr>
      </p:sp>
      <p:sp>
        <p:nvSpPr>
          <p:cNvPr id="32" name="Text 29"/>
          <p:cNvSpPr txBox="1"/>
          <p:nvPr/>
        </p:nvSpPr>
        <p:spPr>
          <a:xfrm>
            <a:off x="7077456" y="3072384"/>
            <a:ext cx="1280160" cy="603504"/>
          </a:xfrm>
          <a:prstGeom prst="rect">
            <a:avLst/>
          </a:prstGeom>
          <a:noFill/>
          <a:ln/>
        </p:spPr>
        <p:txBody>
          <a:bodyPr wrap="square" lIns="0" tIns="0" rIns="0" bIns="0" rtlCol="0" anchor="ctr"/>
          <a:lstStyle/>
          <a:p>
            <a:pPr algn="l" indent="0" marL="0">
              <a:buNone/>
            </a:pPr>
            <a:r>
              <a:rPr lang="en-US" sz="2800" b="1" dirty="0">
                <a:solidFill>
                  <a:srgbClr val="8A6A12"/>
                </a:solidFill>
                <a:latin typeface="Aptos Display" pitchFamily="34" charset="0"/>
                <a:ea typeface="Aptos Display" pitchFamily="34" charset="-122"/>
                <a:cs typeface="Aptos Display" pitchFamily="34" charset="-120"/>
              </a:rPr>
              <a:t>34 %</a:t>
            </a:r>
            <a:endParaRPr lang="en-US" sz="2800" dirty="0"/>
          </a:p>
        </p:txBody>
      </p:sp>
      <p:sp>
        <p:nvSpPr>
          <p:cNvPr id="33" name="Text 30"/>
          <p:cNvSpPr txBox="1"/>
          <p:nvPr/>
        </p:nvSpPr>
        <p:spPr>
          <a:xfrm>
            <a:off x="8394192" y="3090672"/>
            <a:ext cx="2553919" cy="566928"/>
          </a:xfrm>
          <a:prstGeom prst="rect">
            <a:avLst/>
          </a:prstGeom>
          <a:noFill/>
          <a:ln/>
        </p:spPr>
        <p:txBody>
          <a:bodyPr wrap="square" lIns="0" tIns="0" rIns="0" bIns="0" rtlCol="0" anchor="ctr"/>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de las de espera asíncrona usan una demora fija para imponer un orden.</a:t>
            </a:r>
            <a:endParaRPr lang="en-US" sz="1100" dirty="0"/>
          </a:p>
        </p:txBody>
      </p:sp>
      <p:sp>
        <p:nvSpPr>
          <p:cNvPr id="34" name="Text 31"/>
          <p:cNvSpPr txBox="1"/>
          <p:nvPr/>
        </p:nvSpPr>
        <p:spPr>
          <a:xfrm>
            <a:off x="11021263" y="3090672"/>
            <a:ext cx="402336" cy="182880"/>
          </a:xfrm>
          <a:prstGeom prst="rect">
            <a:avLst/>
          </a:prstGeom>
          <a:noFill/>
          <a:ln/>
        </p:spPr>
        <p:txBody>
          <a:bodyPr wrap="square" lIns="0" tIns="0" rIns="0" bIns="0" rtlCol="0" anchor="t"/>
          <a:lstStyle/>
          <a:p>
            <a:pPr algn="r" indent="0" marL="0">
              <a:buNone/>
            </a:pPr>
            <a:r>
              <a:rPr lang="en-US" sz="860" b="1" dirty="0">
                <a:solidFill>
                  <a:srgbClr val="52606D"/>
                </a:solidFill>
                <a:latin typeface="Aptos" pitchFamily="34" charset="0"/>
                <a:ea typeface="Aptos" pitchFamily="34" charset="-122"/>
                <a:cs typeface="Aptos" pitchFamily="34" charset="-120"/>
              </a:rPr>
              <a:t>F.4</a:t>
            </a:r>
            <a:endParaRPr lang="en-US" sz="860" dirty="0"/>
          </a:p>
        </p:txBody>
      </p:sp>
      <p:sp>
        <p:nvSpPr>
          <p:cNvPr id="35" name="Shape 32"/>
          <p:cNvSpPr/>
          <p:nvPr/>
        </p:nvSpPr>
        <p:spPr>
          <a:xfrm>
            <a:off x="6876288" y="3877056"/>
            <a:ext cx="4657039" cy="786384"/>
          </a:xfrm>
          <a:prstGeom prst="rect">
            <a:avLst/>
          </a:prstGeom>
          <a:solidFill>
            <a:srgbClr val="FFFFFF"/>
          </a:solidFill>
          <a:ln w="12700">
            <a:solidFill>
              <a:srgbClr val="FFFFFF"/>
            </a:solidFill>
            <a:prstDash val="solid"/>
          </a:ln>
        </p:spPr>
      </p:sp>
      <p:sp>
        <p:nvSpPr>
          <p:cNvPr id="36" name="Shape 33"/>
          <p:cNvSpPr/>
          <p:nvPr/>
        </p:nvSpPr>
        <p:spPr>
          <a:xfrm>
            <a:off x="6876288" y="3877056"/>
            <a:ext cx="54864" cy="786384"/>
          </a:xfrm>
          <a:prstGeom prst="rect">
            <a:avLst/>
          </a:prstGeom>
          <a:solidFill>
            <a:srgbClr val="2E7D4F"/>
          </a:solidFill>
          <a:ln w="12700">
            <a:solidFill>
              <a:srgbClr val="2E7D4F"/>
            </a:solidFill>
            <a:prstDash val="solid"/>
          </a:ln>
        </p:spPr>
      </p:sp>
      <p:sp>
        <p:nvSpPr>
          <p:cNvPr id="37" name="Text 34"/>
          <p:cNvSpPr txBox="1"/>
          <p:nvPr/>
        </p:nvSpPr>
        <p:spPr>
          <a:xfrm>
            <a:off x="7077456" y="3968496"/>
            <a:ext cx="1280160" cy="603504"/>
          </a:xfrm>
          <a:prstGeom prst="rect">
            <a:avLst/>
          </a:prstGeom>
          <a:noFill/>
          <a:ln/>
        </p:spPr>
        <p:txBody>
          <a:bodyPr wrap="square" lIns="0" tIns="0" rIns="0" bIns="0" rtlCol="0" anchor="ctr"/>
          <a:lstStyle/>
          <a:p>
            <a:pPr algn="l" indent="0" marL="0">
              <a:buNone/>
            </a:pPr>
            <a:r>
              <a:rPr lang="en-US" sz="2800" b="1" dirty="0">
                <a:solidFill>
                  <a:srgbClr val="2E7D4F"/>
                </a:solidFill>
                <a:latin typeface="Aptos Display" pitchFamily="34" charset="0"/>
                <a:ea typeface="Aptos Display" pitchFamily="34" charset="-122"/>
                <a:cs typeface="Aptos Display" pitchFamily="34" charset="-120"/>
              </a:rPr>
              <a:t>54 %</a:t>
            </a:r>
            <a:endParaRPr lang="en-US" sz="2800" dirty="0"/>
          </a:p>
        </p:txBody>
      </p:sp>
      <p:sp>
        <p:nvSpPr>
          <p:cNvPr id="38" name="Text 35"/>
          <p:cNvSpPr txBox="1"/>
          <p:nvPr/>
        </p:nvSpPr>
        <p:spPr>
          <a:xfrm>
            <a:off x="8394192" y="3986784"/>
            <a:ext cx="2553919" cy="566928"/>
          </a:xfrm>
          <a:prstGeom prst="rect">
            <a:avLst/>
          </a:prstGeom>
          <a:noFill/>
          <a:ln/>
        </p:spPr>
        <p:txBody>
          <a:bodyPr wrap="square" lIns="0" tIns="0" rIns="0" bIns="0" rtlCol="0" anchor="ctr"/>
          <a:lstStyle/>
          <a:p>
            <a:pPr algn="l" indent="0" marL="0">
              <a:lnSpc>
                <a:spcPct val="110000"/>
              </a:lnSpc>
              <a:buNone/>
            </a:pPr>
            <a:r>
              <a:rPr lang="en-US" sz="1100" dirty="0">
                <a:solidFill>
                  <a:srgbClr val="243B53"/>
                </a:solidFill>
                <a:latin typeface="Aptos" pitchFamily="34" charset="0"/>
                <a:ea typeface="Aptos" pitchFamily="34" charset="-122"/>
                <a:cs typeface="Aptos" pitchFamily="34" charset="-120"/>
              </a:rPr>
              <a:t>de las de espera asíncrona se corrigen esperando una condición.</a:t>
            </a:r>
            <a:endParaRPr lang="en-US" sz="1100" dirty="0"/>
          </a:p>
        </p:txBody>
      </p:sp>
      <p:sp>
        <p:nvSpPr>
          <p:cNvPr id="39" name="Text 36"/>
          <p:cNvSpPr txBox="1"/>
          <p:nvPr/>
        </p:nvSpPr>
        <p:spPr>
          <a:xfrm>
            <a:off x="11021263" y="3986784"/>
            <a:ext cx="402336" cy="182880"/>
          </a:xfrm>
          <a:prstGeom prst="rect">
            <a:avLst/>
          </a:prstGeom>
          <a:noFill/>
          <a:ln/>
        </p:spPr>
        <p:txBody>
          <a:bodyPr wrap="square" lIns="0" tIns="0" rIns="0" bIns="0" rtlCol="0" anchor="t"/>
          <a:lstStyle/>
          <a:p>
            <a:pPr algn="r" indent="0" marL="0">
              <a:buNone/>
            </a:pPr>
            <a:r>
              <a:rPr lang="en-US" sz="860" b="1" dirty="0">
                <a:solidFill>
                  <a:srgbClr val="52606D"/>
                </a:solidFill>
                <a:latin typeface="Aptos" pitchFamily="34" charset="0"/>
                <a:ea typeface="Aptos" pitchFamily="34" charset="-122"/>
                <a:cs typeface="Aptos" pitchFamily="34" charset="-120"/>
              </a:rPr>
              <a:t>F.8</a:t>
            </a:r>
            <a:endParaRPr lang="en-US" sz="860" dirty="0"/>
          </a:p>
        </p:txBody>
      </p:sp>
      <p:sp>
        <p:nvSpPr>
          <p:cNvPr id="40" name="Text 37"/>
          <p:cNvSpPr txBox="1"/>
          <p:nvPr/>
        </p:nvSpPr>
        <p:spPr>
          <a:xfrm>
            <a:off x="6876288" y="4846320"/>
            <a:ext cx="4657039" cy="402336"/>
          </a:xfrm>
          <a:prstGeom prst="rect">
            <a:avLst/>
          </a:prstGeom>
          <a:noFill/>
          <a:ln/>
        </p:spPr>
        <p:txBody>
          <a:bodyPr wrap="square" lIns="0" tIns="0" rIns="0" bIns="0" rtlCol="0" anchor="t"/>
          <a:lstStyle/>
          <a:p>
            <a:pPr algn="l" indent="0" marL="0">
              <a:lnSpc>
                <a:spcPct val="110000"/>
              </a:lnSpc>
              <a:buNone/>
            </a:pPr>
            <a:r>
              <a:rPr lang="en-US" sz="880" i="1" dirty="0">
                <a:solidFill>
                  <a:srgbClr val="52606D"/>
                </a:solidFill>
                <a:latin typeface="Aptos" pitchFamily="34" charset="0"/>
                <a:ea typeface="Aptos" pitchFamily="34" charset="-122"/>
                <a:cs typeface="Aptos" pitchFamily="34" charset="-120"/>
              </a:rPr>
              <a:t>Luo, Hariri, Eloussi y Marinov · An Empirical Analysis of Flaky Tests · FSE 2014 · hallazgos traducidos del original en inglés</a:t>
            </a:r>
            <a:endParaRPr lang="en-US" sz="880" dirty="0"/>
          </a:p>
        </p:txBody>
      </p:sp>
      <p:sp>
        <p:nvSpPr>
          <p:cNvPr id="41" name="Shape 38"/>
          <p:cNvSpPr/>
          <p:nvPr/>
        </p:nvSpPr>
        <p:spPr>
          <a:xfrm>
            <a:off x="658368" y="5650992"/>
            <a:ext cx="10874959" cy="548640"/>
          </a:xfrm>
          <a:prstGeom prst="rect">
            <a:avLst/>
          </a:prstGeom>
          <a:solidFill>
            <a:srgbClr val="102A43"/>
          </a:solidFill>
          <a:ln w="12700">
            <a:solidFill>
              <a:srgbClr val="102A43"/>
            </a:solidFill>
            <a:prstDash val="solid"/>
          </a:ln>
        </p:spPr>
      </p:sp>
      <p:sp>
        <p:nvSpPr>
          <p:cNvPr id="42" name="Text 3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Nacen inestables, y casi la mitad por esperar mal. La costumbre se forma en la primera línea.</a:t>
            </a:r>
            <a:endParaRPr lang="en-US" sz="13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AGENTE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La corrigió dos veces. No la ejecutó ninguna.</a:t>
            </a:r>
            <a:endParaRPr lang="en-US" sz="3000" dirty="0"/>
          </a:p>
        </p:txBody>
      </p:sp>
      <p:sp>
        <p:nvSpPr>
          <p:cNvPr id="10" name="Text 7"/>
          <p:cNvSpPr txBox="1"/>
          <p:nvPr/>
        </p:nvSpPr>
        <p:spPr>
          <a:xfrm>
            <a:off x="658368" y="1737360"/>
            <a:ext cx="10874959" cy="256032"/>
          </a:xfrm>
          <a:prstGeom prst="rect">
            <a:avLst/>
          </a:prstGeom>
          <a:noFill/>
          <a:ln/>
        </p:spPr>
        <p:txBody>
          <a:bodyPr wrap="square" lIns="0" tIns="0" rIns="0" bIns="0" rtlCol="0" anchor="t"/>
          <a:lstStyle/>
          <a:p>
            <a:pPr algn="l" indent="0" marL="0">
              <a:buNone/>
            </a:pPr>
            <a:r>
              <a:rPr lang="en-US" sz="1240" dirty="0">
                <a:solidFill>
                  <a:srgbClr val="52606D"/>
                </a:solidFill>
                <a:latin typeface="Aptos" pitchFamily="34" charset="0"/>
                <a:ea typeface="Aptos" pitchFamily="34" charset="-122"/>
                <a:cs typeface="Aptos" pitchFamily="34" charset="-120"/>
              </a:rPr>
              <a:t>Un agente con acceso solo de lectura recibió dos pedidos distintos.</a:t>
            </a:r>
            <a:endParaRPr lang="en-US" sz="1240" dirty="0"/>
          </a:p>
        </p:txBody>
      </p:sp>
      <p:sp>
        <p:nvSpPr>
          <p:cNvPr id="11" name="Shape 8"/>
          <p:cNvSpPr/>
          <p:nvPr/>
        </p:nvSpPr>
        <p:spPr>
          <a:xfrm>
            <a:off x="658368" y="2103120"/>
            <a:ext cx="5300320" cy="2395728"/>
          </a:xfrm>
          <a:prstGeom prst="rect">
            <a:avLst/>
          </a:prstGeom>
          <a:solidFill>
            <a:srgbClr val="FFFFFF"/>
          </a:solidFill>
          <a:ln w="12700">
            <a:solidFill>
              <a:srgbClr val="FFFFFF"/>
            </a:solidFill>
            <a:prstDash val="solid"/>
          </a:ln>
        </p:spPr>
      </p:sp>
      <p:sp>
        <p:nvSpPr>
          <p:cNvPr id="12" name="Shape 9"/>
          <p:cNvSpPr/>
          <p:nvPr/>
        </p:nvSpPr>
        <p:spPr>
          <a:xfrm>
            <a:off x="658368" y="2103120"/>
            <a:ext cx="5300320" cy="54864"/>
          </a:xfrm>
          <a:prstGeom prst="rect">
            <a:avLst/>
          </a:prstGeom>
          <a:solidFill>
            <a:srgbClr val="102A43"/>
          </a:solidFill>
          <a:ln w="12700">
            <a:solidFill>
              <a:srgbClr val="102A43"/>
            </a:solidFill>
            <a:prstDash val="solid"/>
          </a:ln>
        </p:spPr>
      </p:sp>
      <p:sp>
        <p:nvSpPr>
          <p:cNvPr id="13" name="Text 10"/>
          <p:cNvSpPr txBox="1"/>
          <p:nvPr/>
        </p:nvSpPr>
        <p:spPr>
          <a:xfrm>
            <a:off x="877824" y="2267712"/>
            <a:ext cx="4861408" cy="237744"/>
          </a:xfrm>
          <a:prstGeom prst="rect">
            <a:avLst/>
          </a:prstGeom>
          <a:noFill/>
          <a:ln/>
        </p:spPr>
        <p:txBody>
          <a:bodyPr wrap="square" lIns="0" tIns="0" rIns="0" bIns="0" rtlCol="0" anchor="t"/>
          <a:lstStyle/>
          <a:p>
            <a:pPr algn="l" indent="0" marL="0">
              <a:buNone/>
            </a:pPr>
            <a:r>
              <a:rPr lang="en-US" sz="1180" b="1" dirty="0">
                <a:solidFill>
                  <a:srgbClr val="243B53"/>
                </a:solidFill>
                <a:latin typeface="Aptos" pitchFamily="34" charset="0"/>
                <a:ea typeface="Aptos" pitchFamily="34" charset="-122"/>
                <a:cs typeface="Aptos" pitchFamily="34" charset="-120"/>
              </a:rPr>
              <a:t>Pedido 1 · el archivo y el mensaje de error</a:t>
            </a:r>
            <a:endParaRPr lang="en-US" sz="1180" dirty="0"/>
          </a:p>
        </p:txBody>
      </p:sp>
      <p:sp>
        <p:nvSpPr>
          <p:cNvPr id="14" name="Shape 11"/>
          <p:cNvSpPr/>
          <p:nvPr/>
        </p:nvSpPr>
        <p:spPr>
          <a:xfrm>
            <a:off x="896112" y="2660904"/>
            <a:ext cx="91440" cy="91440"/>
          </a:xfrm>
          <a:prstGeom prst="rect">
            <a:avLst/>
          </a:prstGeom>
          <a:solidFill>
            <a:srgbClr val="2E7D4F"/>
          </a:solidFill>
          <a:ln w="12700">
            <a:solidFill>
              <a:srgbClr val="2E7D4F"/>
            </a:solidFill>
            <a:prstDash val="solid"/>
          </a:ln>
        </p:spPr>
      </p:sp>
      <p:sp>
        <p:nvSpPr>
          <p:cNvPr id="15" name="Text 12"/>
          <p:cNvSpPr txBox="1"/>
          <p:nvPr/>
        </p:nvSpPr>
        <p:spPr>
          <a:xfrm>
            <a:off x="1078992" y="2596896"/>
            <a:ext cx="4660240" cy="438912"/>
          </a:xfrm>
          <a:prstGeom prst="rect">
            <a:avLst/>
          </a:prstGeom>
          <a:noFill/>
          <a:ln/>
        </p:spPr>
        <p:txBody>
          <a:bodyPr wrap="square" lIns="0" tIns="0" rIns="0" bIns="0" rtlCol="0" anchor="t"/>
          <a:lstStyle/>
          <a:p>
            <a:pPr algn="l" indent="0" marL="0">
              <a:lnSpc>
                <a:spcPct val="106000"/>
              </a:lnSpc>
              <a:buNone/>
            </a:pPr>
            <a:r>
              <a:rPr lang="en-US" sz="1020" dirty="0">
                <a:solidFill>
                  <a:srgbClr val="243B53"/>
                </a:solidFill>
                <a:latin typeface="Aptos" pitchFamily="34" charset="0"/>
                <a:ea typeface="Aptos" pitchFamily="34" charset="-122"/>
                <a:cs typeface="Aptos" pitchFamily="34" charset="-120"/>
              </a:rPr>
              <a:t>Cambió la espera fija por una aserción sobre el localizador.</a:t>
            </a:r>
            <a:endParaRPr lang="en-US" sz="1020" dirty="0"/>
          </a:p>
        </p:txBody>
      </p:sp>
      <p:sp>
        <p:nvSpPr>
          <p:cNvPr id="16" name="Shape 13"/>
          <p:cNvSpPr/>
          <p:nvPr/>
        </p:nvSpPr>
        <p:spPr>
          <a:xfrm>
            <a:off x="896112" y="3154680"/>
            <a:ext cx="91440" cy="91440"/>
          </a:xfrm>
          <a:prstGeom prst="rect">
            <a:avLst/>
          </a:prstGeom>
          <a:solidFill>
            <a:srgbClr val="2E7D4F"/>
          </a:solidFill>
          <a:ln w="12700">
            <a:solidFill>
              <a:srgbClr val="2E7D4F"/>
            </a:solidFill>
            <a:prstDash val="solid"/>
          </a:ln>
        </p:spPr>
      </p:sp>
      <p:sp>
        <p:nvSpPr>
          <p:cNvPr id="17" name="Text 14"/>
          <p:cNvSpPr txBox="1"/>
          <p:nvPr/>
        </p:nvSpPr>
        <p:spPr>
          <a:xfrm>
            <a:off x="1078992" y="3090672"/>
            <a:ext cx="4660240" cy="438912"/>
          </a:xfrm>
          <a:prstGeom prst="rect">
            <a:avLst/>
          </a:prstGeom>
          <a:noFill/>
          <a:ln/>
        </p:spPr>
        <p:txBody>
          <a:bodyPr wrap="square" lIns="0" tIns="0" rIns="0" bIns="0" rtlCol="0" anchor="t"/>
          <a:lstStyle/>
          <a:p>
            <a:pPr algn="l" indent="0" marL="0">
              <a:lnSpc>
                <a:spcPct val="106000"/>
              </a:lnSpc>
              <a:buNone/>
            </a:pPr>
            <a:r>
              <a:rPr lang="en-US" sz="1020" dirty="0">
                <a:solidFill>
                  <a:srgbClr val="243B53"/>
                </a:solidFill>
                <a:latin typeface="Aptos" pitchFamily="34" charset="0"/>
                <a:ea typeface="Aptos" pitchFamily="34" charset="-122"/>
                <a:cs typeface="Aptos" pitchFamily="34" charset="-120"/>
              </a:rPr>
              <a:t>Lo explicó bien: «leía el texto una sola vez; ahora vuelve a revisar hasta que aparece o se acaba el tiempo».</a:t>
            </a:r>
            <a:endParaRPr lang="en-US" sz="1020" dirty="0"/>
          </a:p>
        </p:txBody>
      </p:sp>
      <p:sp>
        <p:nvSpPr>
          <p:cNvPr id="18" name="Shape 15"/>
          <p:cNvSpPr/>
          <p:nvPr/>
        </p:nvSpPr>
        <p:spPr>
          <a:xfrm>
            <a:off x="896112" y="3648456"/>
            <a:ext cx="91440" cy="91440"/>
          </a:xfrm>
          <a:prstGeom prst="rect">
            <a:avLst/>
          </a:prstGeom>
          <a:solidFill>
            <a:srgbClr val="8A6A12"/>
          </a:solidFill>
          <a:ln w="12700">
            <a:solidFill>
              <a:srgbClr val="8A6A12"/>
            </a:solidFill>
            <a:prstDash val="solid"/>
          </a:ln>
        </p:spPr>
      </p:sp>
      <p:sp>
        <p:nvSpPr>
          <p:cNvPr id="19" name="Text 16"/>
          <p:cNvSpPr txBox="1"/>
          <p:nvPr/>
        </p:nvSpPr>
        <p:spPr>
          <a:xfrm>
            <a:off x="1078992" y="3584448"/>
            <a:ext cx="4660240" cy="438912"/>
          </a:xfrm>
          <a:prstGeom prst="rect">
            <a:avLst/>
          </a:prstGeom>
          <a:noFill/>
          <a:ln/>
        </p:spPr>
        <p:txBody>
          <a:bodyPr wrap="square" lIns="0" tIns="0" rIns="0" bIns="0" rtlCol="0" anchor="t"/>
          <a:lstStyle/>
          <a:p>
            <a:pPr algn="l" indent="0" marL="0">
              <a:lnSpc>
                <a:spcPct val="106000"/>
              </a:lnSpc>
              <a:buNone/>
            </a:pPr>
            <a:r>
              <a:rPr lang="en-US" sz="1020" dirty="0">
                <a:solidFill>
                  <a:srgbClr val="243B53"/>
                </a:solidFill>
                <a:latin typeface="Aptos" pitchFamily="34" charset="0"/>
                <a:ea typeface="Aptos" pitchFamily="34" charset="-122"/>
                <a:cs typeface="Aptos" pitchFamily="34" charset="-120"/>
              </a:rPr>
              <a:t>Dejó el nombre «espera fija» en una prueba que ya no espera un tiempo fijo. Un nombre que miente también es un defecto.</a:t>
            </a:r>
            <a:endParaRPr lang="en-US" sz="1020" dirty="0"/>
          </a:p>
        </p:txBody>
      </p:sp>
      <p:sp>
        <p:nvSpPr>
          <p:cNvPr id="20" name="Shape 17"/>
          <p:cNvSpPr/>
          <p:nvPr/>
        </p:nvSpPr>
        <p:spPr>
          <a:xfrm>
            <a:off x="877824" y="4078224"/>
            <a:ext cx="2103120" cy="292608"/>
          </a:xfrm>
          <a:prstGeom prst="rect">
            <a:avLst/>
          </a:prstGeom>
          <a:solidFill>
            <a:srgbClr val="F8E4E5"/>
          </a:solidFill>
          <a:ln w="12700">
            <a:solidFill>
              <a:srgbClr val="F8E4E5"/>
            </a:solidFill>
            <a:prstDash val="solid"/>
          </a:ln>
        </p:spPr>
      </p:sp>
      <p:sp>
        <p:nvSpPr>
          <p:cNvPr id="21" name="Text 18"/>
          <p:cNvSpPr txBox="1"/>
          <p:nvPr/>
        </p:nvSpPr>
        <p:spPr>
          <a:xfrm>
            <a:off x="932688" y="4096512"/>
            <a:ext cx="1993392" cy="256032"/>
          </a:xfrm>
          <a:prstGeom prst="rect">
            <a:avLst/>
          </a:prstGeom>
          <a:noFill/>
          <a:ln/>
        </p:spPr>
        <p:txBody>
          <a:bodyPr wrap="square" lIns="0" tIns="0" rIns="0" bIns="0" rtlCol="0" anchor="ctr"/>
          <a:lstStyle/>
          <a:p>
            <a:pPr algn="l" indent="0" marL="0">
              <a:buNone/>
            </a:pPr>
            <a:r>
              <a:rPr lang="en-US" sz="1100" b="1" i="1" dirty="0">
                <a:solidFill>
                  <a:srgbClr val="B3181E"/>
                </a:solidFill>
                <a:latin typeface="Aptos" pitchFamily="34" charset="0"/>
                <a:ea typeface="Aptos" pitchFamily="34" charset="-122"/>
                <a:cs typeface="Aptos" pitchFamily="34" charset="-120"/>
              </a:rPr>
              <a:t>«no lo he ejecutado»</a:t>
            </a:r>
            <a:endParaRPr lang="en-US" sz="1100" dirty="0"/>
          </a:p>
        </p:txBody>
      </p:sp>
      <p:sp>
        <p:nvSpPr>
          <p:cNvPr id="22" name="Shape 19"/>
          <p:cNvSpPr/>
          <p:nvPr/>
        </p:nvSpPr>
        <p:spPr>
          <a:xfrm>
            <a:off x="6233008" y="2103120"/>
            <a:ext cx="5300320" cy="2395728"/>
          </a:xfrm>
          <a:prstGeom prst="rect">
            <a:avLst/>
          </a:prstGeom>
          <a:solidFill>
            <a:srgbClr val="FFFFFF"/>
          </a:solidFill>
          <a:ln w="12700">
            <a:solidFill>
              <a:srgbClr val="FFFFFF"/>
            </a:solidFill>
            <a:prstDash val="solid"/>
          </a:ln>
        </p:spPr>
      </p:sp>
      <p:sp>
        <p:nvSpPr>
          <p:cNvPr id="23" name="Shape 20"/>
          <p:cNvSpPr/>
          <p:nvPr/>
        </p:nvSpPr>
        <p:spPr>
          <a:xfrm>
            <a:off x="6233008" y="2103120"/>
            <a:ext cx="5300320" cy="54864"/>
          </a:xfrm>
          <a:prstGeom prst="rect">
            <a:avLst/>
          </a:prstGeom>
          <a:solidFill>
            <a:srgbClr val="8A6A12"/>
          </a:solidFill>
          <a:ln w="12700">
            <a:solidFill>
              <a:srgbClr val="8A6A12"/>
            </a:solidFill>
            <a:prstDash val="solid"/>
          </a:ln>
        </p:spPr>
      </p:sp>
      <p:sp>
        <p:nvSpPr>
          <p:cNvPr id="24" name="Text 21"/>
          <p:cNvSpPr txBox="1"/>
          <p:nvPr/>
        </p:nvSpPr>
        <p:spPr>
          <a:xfrm>
            <a:off x="6452464" y="2267712"/>
            <a:ext cx="4861408" cy="237744"/>
          </a:xfrm>
          <a:prstGeom prst="rect">
            <a:avLst/>
          </a:prstGeom>
          <a:noFill/>
          <a:ln/>
        </p:spPr>
        <p:txBody>
          <a:bodyPr wrap="square" lIns="0" tIns="0" rIns="0" bIns="0" rtlCol="0" anchor="t"/>
          <a:lstStyle/>
          <a:p>
            <a:pPr algn="l" indent="0" marL="0">
              <a:buNone/>
            </a:pPr>
            <a:r>
              <a:rPr lang="en-US" sz="1180" b="1" dirty="0">
                <a:solidFill>
                  <a:srgbClr val="243B53"/>
                </a:solidFill>
                <a:latin typeface="Aptos" pitchFamily="34" charset="0"/>
                <a:ea typeface="Aptos" pitchFamily="34" charset="-122"/>
                <a:cs typeface="Aptos" pitchFamily="34" charset="-120"/>
              </a:rPr>
              <a:t>Pedido 2 · «la suite a veces falla y a veces pasa»</a:t>
            </a:r>
            <a:endParaRPr lang="en-US" sz="1180" dirty="0"/>
          </a:p>
        </p:txBody>
      </p:sp>
      <p:sp>
        <p:nvSpPr>
          <p:cNvPr id="25" name="Shape 22"/>
          <p:cNvSpPr/>
          <p:nvPr/>
        </p:nvSpPr>
        <p:spPr>
          <a:xfrm>
            <a:off x="6470752" y="2660904"/>
            <a:ext cx="91440" cy="91440"/>
          </a:xfrm>
          <a:prstGeom prst="rect">
            <a:avLst/>
          </a:prstGeom>
          <a:solidFill>
            <a:srgbClr val="2E7D4F"/>
          </a:solidFill>
          <a:ln w="12700">
            <a:solidFill>
              <a:srgbClr val="2E7D4F"/>
            </a:solidFill>
            <a:prstDash val="solid"/>
          </a:ln>
        </p:spPr>
      </p:sp>
      <p:sp>
        <p:nvSpPr>
          <p:cNvPr id="26" name="Text 23"/>
          <p:cNvSpPr txBox="1"/>
          <p:nvPr/>
        </p:nvSpPr>
        <p:spPr>
          <a:xfrm>
            <a:off x="6653632" y="2596896"/>
            <a:ext cx="4660240" cy="438912"/>
          </a:xfrm>
          <a:prstGeom prst="rect">
            <a:avLst/>
          </a:prstGeom>
          <a:noFill/>
          <a:ln/>
        </p:spPr>
        <p:txBody>
          <a:bodyPr wrap="square" lIns="0" tIns="0" rIns="0" bIns="0" rtlCol="0" anchor="t"/>
          <a:lstStyle/>
          <a:p>
            <a:pPr algn="l" indent="0" marL="0">
              <a:lnSpc>
                <a:spcPct val="106000"/>
              </a:lnSpc>
              <a:buNone/>
            </a:pPr>
            <a:r>
              <a:rPr lang="en-US" sz="1020" dirty="0">
                <a:solidFill>
                  <a:srgbClr val="243B53"/>
                </a:solidFill>
                <a:latin typeface="Aptos" pitchFamily="34" charset="0"/>
                <a:ea typeface="Aptos" pitchFamily="34" charset="-122"/>
                <a:cs typeface="Aptos" pitchFamily="34" charset="-120"/>
              </a:rPr>
              <a:t>Encontró la espera fija sin que nadie se la señalara.</a:t>
            </a:r>
            <a:endParaRPr lang="en-US" sz="1020" dirty="0"/>
          </a:p>
        </p:txBody>
      </p:sp>
      <p:sp>
        <p:nvSpPr>
          <p:cNvPr id="27" name="Shape 24"/>
          <p:cNvSpPr/>
          <p:nvPr/>
        </p:nvSpPr>
        <p:spPr>
          <a:xfrm>
            <a:off x="6470752" y="3154680"/>
            <a:ext cx="91440" cy="91440"/>
          </a:xfrm>
          <a:prstGeom prst="rect">
            <a:avLst/>
          </a:prstGeom>
          <a:solidFill>
            <a:srgbClr val="2E7D4F"/>
          </a:solidFill>
          <a:ln w="12700">
            <a:solidFill>
              <a:srgbClr val="2E7D4F"/>
            </a:solidFill>
            <a:prstDash val="solid"/>
          </a:ln>
        </p:spPr>
      </p:sp>
      <p:sp>
        <p:nvSpPr>
          <p:cNvPr id="28" name="Text 25"/>
          <p:cNvSpPr txBox="1"/>
          <p:nvPr/>
        </p:nvSpPr>
        <p:spPr>
          <a:xfrm>
            <a:off x="6653632" y="3090672"/>
            <a:ext cx="4660240" cy="438912"/>
          </a:xfrm>
          <a:prstGeom prst="rect">
            <a:avLst/>
          </a:prstGeom>
          <a:noFill/>
          <a:ln/>
        </p:spPr>
        <p:txBody>
          <a:bodyPr wrap="square" lIns="0" tIns="0" rIns="0" bIns="0" rtlCol="0" anchor="t"/>
          <a:lstStyle/>
          <a:p>
            <a:pPr algn="l" indent="0" marL="0">
              <a:lnSpc>
                <a:spcPct val="106000"/>
              </a:lnSpc>
              <a:buNone/>
            </a:pPr>
            <a:r>
              <a:rPr lang="en-US" sz="1020" dirty="0">
                <a:solidFill>
                  <a:srgbClr val="243B53"/>
                </a:solidFill>
                <a:latin typeface="Aptos" pitchFamily="34" charset="0"/>
                <a:ea typeface="Aptos" pitchFamily="34" charset="-122"/>
                <a:cs typeface="Aptos" pitchFamily="34" charset="-120"/>
              </a:rPr>
              <a:t>Corrigió el nombre y agregó una comprobación de que el reinicio de la base funcionara.</a:t>
            </a:r>
            <a:endParaRPr lang="en-US" sz="1020" dirty="0"/>
          </a:p>
        </p:txBody>
      </p:sp>
      <p:sp>
        <p:nvSpPr>
          <p:cNvPr id="29" name="Shape 26"/>
          <p:cNvSpPr/>
          <p:nvPr/>
        </p:nvSpPr>
        <p:spPr>
          <a:xfrm>
            <a:off x="6470752" y="3648456"/>
            <a:ext cx="91440" cy="91440"/>
          </a:xfrm>
          <a:prstGeom prst="rect">
            <a:avLst/>
          </a:prstGeom>
          <a:solidFill>
            <a:srgbClr val="2E7D4F"/>
          </a:solidFill>
          <a:ln w="12700">
            <a:solidFill>
              <a:srgbClr val="2E7D4F"/>
            </a:solidFill>
            <a:prstDash val="solid"/>
          </a:ln>
        </p:spPr>
      </p:sp>
      <p:sp>
        <p:nvSpPr>
          <p:cNvPr id="30" name="Text 27"/>
          <p:cNvSpPr txBox="1"/>
          <p:nvPr/>
        </p:nvSpPr>
        <p:spPr>
          <a:xfrm>
            <a:off x="6653632" y="3584448"/>
            <a:ext cx="4660240" cy="438912"/>
          </a:xfrm>
          <a:prstGeom prst="rect">
            <a:avLst/>
          </a:prstGeom>
          <a:noFill/>
          <a:ln/>
        </p:spPr>
        <p:txBody>
          <a:bodyPr wrap="square" lIns="0" tIns="0" rIns="0" bIns="0" rtlCol="0" anchor="t"/>
          <a:lstStyle/>
          <a:p>
            <a:pPr algn="l" indent="0" marL="0">
              <a:lnSpc>
                <a:spcPct val="106000"/>
              </a:lnSpc>
              <a:buNone/>
            </a:pPr>
            <a:r>
              <a:rPr lang="en-US" sz="1020" dirty="0">
                <a:solidFill>
                  <a:srgbClr val="243B53"/>
                </a:solidFill>
                <a:latin typeface="Aptos" pitchFamily="34" charset="0"/>
                <a:ea typeface="Aptos" pitchFamily="34" charset="-122"/>
                <a:cs typeface="Aptos" pitchFamily="34" charset="-120"/>
              </a:rPr>
              <a:t>Recomendó mantener la demora simulada: «sirve justamente para detectar esperas fijas como esta».</a:t>
            </a:r>
            <a:endParaRPr lang="en-US" sz="1020" dirty="0"/>
          </a:p>
        </p:txBody>
      </p:sp>
      <p:sp>
        <p:nvSpPr>
          <p:cNvPr id="31" name="Shape 28"/>
          <p:cNvSpPr/>
          <p:nvPr/>
        </p:nvSpPr>
        <p:spPr>
          <a:xfrm>
            <a:off x="6452464" y="4078224"/>
            <a:ext cx="2103120" cy="292608"/>
          </a:xfrm>
          <a:prstGeom prst="rect">
            <a:avLst/>
          </a:prstGeom>
          <a:solidFill>
            <a:srgbClr val="F8E4E5"/>
          </a:solidFill>
          <a:ln w="12700">
            <a:solidFill>
              <a:srgbClr val="F8E4E5"/>
            </a:solidFill>
            <a:prstDash val="solid"/>
          </a:ln>
        </p:spPr>
      </p:sp>
      <p:sp>
        <p:nvSpPr>
          <p:cNvPr id="32" name="Text 29"/>
          <p:cNvSpPr txBox="1"/>
          <p:nvPr/>
        </p:nvSpPr>
        <p:spPr>
          <a:xfrm>
            <a:off x="6507328" y="4096512"/>
            <a:ext cx="1993392" cy="256032"/>
          </a:xfrm>
          <a:prstGeom prst="rect">
            <a:avLst/>
          </a:prstGeom>
          <a:noFill/>
          <a:ln/>
        </p:spPr>
        <p:txBody>
          <a:bodyPr wrap="square" lIns="0" tIns="0" rIns="0" bIns="0" rtlCol="0" anchor="ctr"/>
          <a:lstStyle/>
          <a:p>
            <a:pPr algn="l" indent="0" marL="0">
              <a:buNone/>
            </a:pPr>
            <a:r>
              <a:rPr lang="en-US" sz="1100" b="1" i="1" dirty="0">
                <a:solidFill>
                  <a:srgbClr val="B3181E"/>
                </a:solidFill>
                <a:latin typeface="Aptos" pitchFamily="34" charset="0"/>
                <a:ea typeface="Aptos" pitchFamily="34" charset="-122"/>
                <a:cs typeface="Aptos" pitchFamily="34" charset="-120"/>
              </a:rPr>
              <a:t>«no lo he ejecutado»</a:t>
            </a:r>
            <a:endParaRPr lang="en-US" sz="1100" dirty="0"/>
          </a:p>
        </p:txBody>
      </p:sp>
      <p:sp>
        <p:nvSpPr>
          <p:cNvPr id="33" name="Shape 30"/>
          <p:cNvSpPr/>
          <p:nvPr/>
        </p:nvSpPr>
        <p:spPr>
          <a:xfrm>
            <a:off x="658368" y="4645152"/>
            <a:ext cx="4023360" cy="839724"/>
          </a:xfrm>
          <a:prstGeom prst="roundRect">
            <a:avLst>
              <a:gd name="adj" fmla="val 5445"/>
            </a:avLst>
          </a:prstGeom>
          <a:solidFill>
            <a:srgbClr val="0F1720"/>
          </a:solidFill>
          <a:ln w="12700">
            <a:solidFill>
              <a:srgbClr val="0F1720"/>
            </a:solidFill>
            <a:prstDash val="solid"/>
          </a:ln>
        </p:spPr>
      </p:sp>
      <p:sp>
        <p:nvSpPr>
          <p:cNvPr id="34" name="Shape 31"/>
          <p:cNvSpPr/>
          <p:nvPr/>
        </p:nvSpPr>
        <p:spPr>
          <a:xfrm>
            <a:off x="818388" y="4777740"/>
            <a:ext cx="82296" cy="82296"/>
          </a:xfrm>
          <a:prstGeom prst="ellipse">
            <a:avLst/>
          </a:prstGeom>
          <a:solidFill>
            <a:srgbClr val="52606D"/>
          </a:solidFill>
          <a:ln w="12700">
            <a:solidFill>
              <a:srgbClr val="52606D"/>
            </a:solidFill>
            <a:prstDash val="solid"/>
          </a:ln>
        </p:spPr>
      </p:sp>
      <p:sp>
        <p:nvSpPr>
          <p:cNvPr id="35" name="Shape 32"/>
          <p:cNvSpPr/>
          <p:nvPr/>
        </p:nvSpPr>
        <p:spPr>
          <a:xfrm>
            <a:off x="973836" y="4777740"/>
            <a:ext cx="82296" cy="82296"/>
          </a:xfrm>
          <a:prstGeom prst="ellipse">
            <a:avLst/>
          </a:prstGeom>
          <a:solidFill>
            <a:srgbClr val="52606D"/>
          </a:solidFill>
          <a:ln w="12700">
            <a:solidFill>
              <a:srgbClr val="52606D"/>
            </a:solidFill>
            <a:prstDash val="solid"/>
          </a:ln>
        </p:spPr>
      </p:sp>
      <p:sp>
        <p:nvSpPr>
          <p:cNvPr id="36" name="Shape 33"/>
          <p:cNvSpPr/>
          <p:nvPr/>
        </p:nvSpPr>
        <p:spPr>
          <a:xfrm>
            <a:off x="1129284" y="4777740"/>
            <a:ext cx="82296" cy="82296"/>
          </a:xfrm>
          <a:prstGeom prst="ellipse">
            <a:avLst/>
          </a:prstGeom>
          <a:solidFill>
            <a:srgbClr val="52606D"/>
          </a:solidFill>
          <a:ln w="12700">
            <a:solidFill>
              <a:srgbClr val="52606D"/>
            </a:solidFill>
            <a:prstDash val="solid"/>
          </a:ln>
        </p:spPr>
      </p:sp>
      <p:sp>
        <p:nvSpPr>
          <p:cNvPr id="37" name="Text 34"/>
          <p:cNvSpPr/>
          <p:nvPr/>
        </p:nvSpPr>
        <p:spPr>
          <a:xfrm>
            <a:off x="1353312" y="4727448"/>
            <a:ext cx="3145536"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La corrección, diez veces con la demora</a:t>
            </a:r>
            <a:endParaRPr lang="en-US" sz="940" dirty="0"/>
          </a:p>
        </p:txBody>
      </p:sp>
      <p:sp>
        <p:nvSpPr>
          <p:cNvPr id="38" name="Text 35"/>
          <p:cNvSpPr/>
          <p:nvPr/>
        </p:nvSpPr>
        <p:spPr>
          <a:xfrm>
            <a:off x="859536" y="5120640"/>
            <a:ext cx="3621024" cy="236220"/>
          </a:xfrm>
          <a:prstGeom prst="rect">
            <a:avLst/>
          </a:prstGeom>
          <a:noFill/>
          <a:ln/>
        </p:spPr>
        <p:txBody>
          <a:bodyPr wrap="square" lIns="0" tIns="0" rIns="0" bIns="0" rtlCol="0" anchor="ctr"/>
          <a:lstStyle/>
          <a:p>
            <a:pPr indent="0" marL="0">
              <a:buNone/>
            </a:pPr>
            <a:r>
              <a:rPr lang="en-US" sz="1200" b="1" dirty="0">
                <a:solidFill>
                  <a:srgbClr val="3FAE6A"/>
                </a:solidFill>
                <a:latin typeface="Consolas" pitchFamily="34" charset="0"/>
                <a:ea typeface="Consolas" pitchFamily="34" charset="-122"/>
                <a:cs typeface="Consolas" pitchFamily="34" charset="-120"/>
              </a:rPr>
              <a:t>10 passed (32.3s)</a:t>
            </a:r>
            <a:endParaRPr lang="en-US" sz="1200" dirty="0"/>
          </a:p>
        </p:txBody>
      </p:sp>
      <p:sp>
        <p:nvSpPr>
          <p:cNvPr id="39" name="Text 36"/>
          <p:cNvSpPr txBox="1"/>
          <p:nvPr/>
        </p:nvSpPr>
        <p:spPr>
          <a:xfrm>
            <a:off x="4956048" y="4645152"/>
            <a:ext cx="6577279" cy="839724"/>
          </a:xfrm>
          <a:prstGeom prst="rect">
            <a:avLst/>
          </a:prstGeom>
          <a:noFill/>
          <a:ln/>
        </p:spPr>
        <p:txBody>
          <a:bodyPr wrap="square" lIns="0" tIns="0" rIns="0" bIns="0" rtlCol="0" anchor="ctr"/>
          <a:lstStyle/>
          <a:p>
            <a:pPr algn="l" indent="0" marL="0">
              <a:lnSpc>
                <a:spcPct val="112000"/>
              </a:lnSpc>
              <a:buNone/>
            </a:pPr>
            <a:r>
              <a:rPr lang="en-US" sz="1160" dirty="0">
                <a:solidFill>
                  <a:srgbClr val="243B53"/>
                </a:solidFill>
                <a:latin typeface="Aptos" pitchFamily="34" charset="0"/>
                <a:ea typeface="Aptos" pitchFamily="34" charset="-122"/>
                <a:cs typeface="Aptos" pitchFamily="34" charset="-120"/>
              </a:rPr>
              <a:t>Una prueba inestable no se da por corregida porque pase una vez: la original también pasaba entre cinco y siete de cada diez. Se da por corregida cuando pasa muchas veces en las condiciones donde fallaba.</a:t>
            </a:r>
            <a:endParaRPr lang="en-US" sz="1160" dirty="0"/>
          </a:p>
        </p:txBody>
      </p:sp>
      <p:sp>
        <p:nvSpPr>
          <p:cNvPr id="40" name="Shape 37"/>
          <p:cNvSpPr/>
          <p:nvPr/>
        </p:nvSpPr>
        <p:spPr>
          <a:xfrm>
            <a:off x="658368" y="5650992"/>
            <a:ext cx="10874959" cy="548640"/>
          </a:xfrm>
          <a:prstGeom prst="rect">
            <a:avLst/>
          </a:prstGeom>
          <a:solidFill>
            <a:srgbClr val="102A43"/>
          </a:solidFill>
          <a:ln w="12700">
            <a:solidFill>
              <a:srgbClr val="102A43"/>
            </a:solidFill>
            <a:prstDash val="solid"/>
          </a:ln>
        </p:spPr>
      </p:sp>
      <p:sp>
        <p:nvSpPr>
          <p:cNvPr id="41" name="Text 3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Una afirmación sobre una prueba no se cree: se comprueba ejecutando.</a:t>
            </a:r>
            <a:endParaRPr lang="en-US" sz="13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explorar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prueba con espera fija pasa diez de diez en tu máquina. Un compañero concluye que está bien escrita y que el problema es el servidor que ejecuta las pruebas en cada cambio (integración continua), que es lento. ¿Tiene razón?</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Mira qué le pasó a la misma prueba cuando las respuestas tardaron distinto. ¿Quién garantiza que la red siempre será tan rápida?</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Otro compañero sube la espera de 400 a 2.000 milisegundos y la prueba pasa diez de diez con la demora activa. ¿La arregló?</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Calcula cuánto tarda cada ejecución aunque la respuesta llegue en diez milisegundos. ¿Y si una respuesta tarda tres segundos?</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El agente corrigió la prueba y declaró que no la había ejecutado. ¿Cuántas ejecuciones en verde necesitas para creerle, y en qué condiciones?</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La original pasaba entre cinco y siete de cada diez con demora, y diez de diez sin ella. ¿Qué habría demostrado una sola ejecución en verde?</a:t>
            </a:r>
            <a:endParaRPr lang="en-US" sz="114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NO TIENE RAZÓN</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La prueba mira a los 400 ms llegue o no la respuesta. El servidor lento no crea el defecto: lo revela.</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Diez de diez en una máquina rápida no dice nada sobre una red que tarda distinto.</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Culpar al entorno que muestra el defecto en vez de a la prueba que lo tiene.</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NO LA ARREGLÓ</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Ahora cada ejecución tarda 2 s siempre, y una respuesta de 3 s la vuelve a hacer fallar.</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Esperar más solo cambia la apuesta; sigue apostando sobre una máquina ajena.</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Medir la corrección por cuántas veces pasa en la máquina propia.</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MUCHAS, Y CON LA DEMORA ACTIVA</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Diez de diez con la demora, justo donde la original fallaba entre tres y cinco.</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Una sola ejecución en verde no distingue la prueba corregida de la original.</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Creer una corrección porque pasó una vez o porque la explicación suena bien.</a:t>
            </a:r>
            <a:endParaRPr lang="en-US" sz="10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30</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3 DE 4 · 30 MINUTOS</a:t>
            </a:r>
            <a:endParaRPr lang="en-US" sz="960" dirty="0"/>
          </a:p>
        </p:txBody>
      </p:sp>
      <p:sp>
        <p:nvSpPr>
          <p:cNvPr id="9" name="Text 6"/>
          <p:cNvSpPr txBox="1"/>
          <p:nvPr/>
        </p:nvSpPr>
        <p:spPr>
          <a:xfrm>
            <a:off x="658368" y="1810512"/>
            <a:ext cx="9784080" cy="137160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Aptos Display" pitchFamily="34" charset="0"/>
                <a:ea typeface="Aptos Display" pitchFamily="34" charset="-122"/>
                <a:cs typeface="Aptos Display" pitchFamily="34" charset="-120"/>
              </a:rPr>
              <a:t>Probar lo que nadie pensó en escribir</a:t>
            </a:r>
            <a:endParaRPr lang="en-US" sz="40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Una prueba escrita de antemano solo comprueba lo que a alguien se le ocurrió. La exploración busca lo demás, con método, y pone a prueba a un agente que entra por primera vez.</a:t>
            </a:r>
            <a:endParaRPr lang="en-US" sz="1500" dirty="0"/>
          </a:p>
        </p:txBody>
      </p:sp>
      <p:sp>
        <p:nvSpPr>
          <p:cNvPr id="12" name="Shape 9"/>
          <p:cNvSpPr/>
          <p:nvPr/>
        </p:nvSpPr>
        <p:spPr>
          <a:xfrm>
            <a:off x="658368" y="4901184"/>
            <a:ext cx="2622728" cy="786384"/>
          </a:xfrm>
          <a:prstGeom prst="rect">
            <a:avLst/>
          </a:prstGeom>
          <a:solidFill>
            <a:srgbClr val="1D3A57"/>
          </a:solidFill>
          <a:ln w="12700">
            <a:solidFill>
              <a:srgbClr val="1D3A5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ABRIR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Por donde lo usa una persona</a:t>
            </a:r>
            <a:endParaRPr lang="en-US" sz="920" dirty="0"/>
          </a:p>
        </p:txBody>
      </p:sp>
      <p:sp>
        <p:nvSpPr>
          <p:cNvPr id="16" name="Shape 13"/>
          <p:cNvSpPr/>
          <p:nvPr/>
        </p:nvSpPr>
        <p:spPr>
          <a:xfrm>
            <a:off x="3409112" y="4901184"/>
            <a:ext cx="2622728" cy="786384"/>
          </a:xfrm>
          <a:prstGeom prst="rect">
            <a:avLst/>
          </a:prstGeom>
          <a:solidFill>
            <a:srgbClr val="1D3A57"/>
          </a:solidFill>
          <a:ln w="12700">
            <a:solidFill>
              <a:srgbClr val="1D3A5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ESPERAR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Una condición, no un tiempo</a:t>
            </a:r>
            <a:endParaRPr lang="en-US" sz="920" dirty="0"/>
          </a:p>
        </p:txBody>
      </p:sp>
      <p:sp>
        <p:nvSpPr>
          <p:cNvPr id="20" name="Shape 17"/>
          <p:cNvSpPr/>
          <p:nvPr/>
        </p:nvSpPr>
        <p:spPr>
          <a:xfrm>
            <a:off x="6159856" y="4901184"/>
            <a:ext cx="2622728" cy="786384"/>
          </a:xfrm>
          <a:prstGeom prst="rect">
            <a:avLst/>
          </a:prstGeom>
          <a:solidFill>
            <a:srgbClr val="D62027"/>
          </a:solidFill>
          <a:ln w="12700">
            <a:solidFill>
              <a:srgbClr val="D6202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EXPLORAR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Lo que nadie pensó en escribir</a:t>
            </a:r>
            <a:endParaRPr lang="en-US" sz="920" dirty="0"/>
          </a:p>
        </p:txBody>
      </p:sp>
      <p:sp>
        <p:nvSpPr>
          <p:cNvPr id="24" name="Shape 21"/>
          <p:cNvSpPr/>
          <p:nvPr/>
        </p:nvSpPr>
        <p:spPr>
          <a:xfrm>
            <a:off x="8910599" y="4901184"/>
            <a:ext cx="2622728" cy="786384"/>
          </a:xfrm>
          <a:prstGeom prst="rect">
            <a:avLst/>
          </a:prstGeom>
          <a:solidFill>
            <a:srgbClr val="1D3A57"/>
          </a:solidFill>
          <a:ln w="12700">
            <a:solidFill>
              <a:srgbClr val="1D3A5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PRECISAR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Hasta que una prueba lo diga</a:t>
            </a:r>
            <a:endParaRPr lang="en-US" sz="9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LÍMITE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nadie imaginó queda afuera</a:t>
            </a:r>
            <a:endParaRPr lang="en-US" sz="3000" dirty="0"/>
          </a:p>
        </p:txBody>
      </p:sp>
      <p:sp>
        <p:nvSpPr>
          <p:cNvPr id="10" name="Shape 7"/>
          <p:cNvSpPr/>
          <p:nvPr/>
        </p:nvSpPr>
        <p:spPr>
          <a:xfrm>
            <a:off x="658368" y="1755648"/>
            <a:ext cx="10874959" cy="3712464"/>
          </a:xfrm>
          <a:prstGeom prst="rect">
            <a:avLst/>
          </a:prstGeom>
          <a:solidFill>
            <a:srgbClr val="FFFFFF"/>
          </a:solidFill>
          <a:ln w="12700">
            <a:solidFill>
              <a:srgbClr val="D8CFC4"/>
            </a:solidFill>
            <a:prstDash val="solid"/>
          </a:ln>
        </p:spPr>
      </p:sp>
      <p:sp>
        <p:nvSpPr>
          <p:cNvPr id="11" name="Text 8"/>
          <p:cNvSpPr txBox="1"/>
          <p:nvPr/>
        </p:nvSpPr>
        <p:spPr>
          <a:xfrm>
            <a:off x="932688" y="1920240"/>
            <a:ext cx="73152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LO QUE UNA PERSONA HACE CON LA INTERFAZ</a:t>
            </a:r>
            <a:endParaRPr lang="en-US" sz="960" dirty="0"/>
          </a:p>
        </p:txBody>
      </p:sp>
      <p:sp>
        <p:nvSpPr>
          <p:cNvPr id="12" name="Shape 9"/>
          <p:cNvSpPr/>
          <p:nvPr/>
        </p:nvSpPr>
        <p:spPr>
          <a:xfrm>
            <a:off x="932688" y="2286000"/>
            <a:ext cx="4572000" cy="2926080"/>
          </a:xfrm>
          <a:prstGeom prst="rect">
            <a:avLst/>
          </a:prstGeom>
          <a:solidFill>
            <a:srgbClr val="EDE6DA"/>
          </a:solidFill>
          <a:ln w="12700">
            <a:solidFill>
              <a:srgbClr val="EDE6DA"/>
            </a:solidFill>
            <a:prstDash val="solid"/>
          </a:ln>
        </p:spPr>
      </p:sp>
      <p:sp>
        <p:nvSpPr>
          <p:cNvPr id="13" name="Shape 10"/>
          <p:cNvSpPr/>
          <p:nvPr/>
        </p:nvSpPr>
        <p:spPr>
          <a:xfrm>
            <a:off x="932688" y="2286000"/>
            <a:ext cx="54864" cy="2926080"/>
          </a:xfrm>
          <a:prstGeom prst="rect">
            <a:avLst/>
          </a:prstGeom>
          <a:solidFill>
            <a:srgbClr val="102A43"/>
          </a:solidFill>
          <a:ln w="12700">
            <a:solidFill>
              <a:srgbClr val="102A43"/>
            </a:solidFill>
            <a:prstDash val="solid"/>
          </a:ln>
        </p:spPr>
      </p:sp>
      <p:sp>
        <p:nvSpPr>
          <p:cNvPr id="14" name="Text 11"/>
          <p:cNvSpPr txBox="1"/>
          <p:nvPr/>
        </p:nvSpPr>
        <p:spPr>
          <a:xfrm>
            <a:off x="1188720" y="2450592"/>
            <a:ext cx="420624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LO QUE LAS PRUEBAS ESCRITAS COMPRUEBAN</a:t>
            </a:r>
            <a:endParaRPr lang="en-US" sz="960" dirty="0"/>
          </a:p>
        </p:txBody>
      </p:sp>
      <p:sp>
        <p:nvSpPr>
          <p:cNvPr id="15" name="Shape 12"/>
          <p:cNvSpPr/>
          <p:nvPr/>
        </p:nvSpPr>
        <p:spPr>
          <a:xfrm>
            <a:off x="1188720" y="2779776"/>
            <a:ext cx="4059936" cy="402336"/>
          </a:xfrm>
          <a:prstGeom prst="rect">
            <a:avLst/>
          </a:prstGeom>
          <a:solidFill>
            <a:srgbClr val="FFFFFF"/>
          </a:solidFill>
          <a:ln w="12700">
            <a:solidFill>
              <a:srgbClr val="FFFFFF"/>
            </a:solidFill>
            <a:prstDash val="solid"/>
          </a:ln>
        </p:spPr>
      </p:sp>
      <p:sp>
        <p:nvSpPr>
          <p:cNvPr id="16" name="Text 13"/>
          <p:cNvSpPr txBox="1"/>
          <p:nvPr/>
        </p:nvSpPr>
        <p:spPr>
          <a:xfrm>
            <a:off x="1353312" y="2834640"/>
            <a:ext cx="3749040" cy="292608"/>
          </a:xfrm>
          <a:prstGeom prst="rect">
            <a:avLst/>
          </a:prstGeom>
          <a:noFill/>
          <a:ln/>
        </p:spPr>
        <p:txBody>
          <a:bodyPr wrap="square" lIns="0" tIns="0" rIns="0" bIns="0" rtlCol="0" anchor="ctr"/>
          <a:lstStyle/>
          <a:p>
            <a:pPr algn="l" indent="0" marL="0">
              <a:buNone/>
            </a:pPr>
            <a:r>
              <a:rPr lang="en-US" sz="1240" b="1" dirty="0">
                <a:solidFill>
                  <a:srgbClr val="243B53"/>
                </a:solidFill>
                <a:latin typeface="Aptos" pitchFamily="34" charset="0"/>
                <a:ea typeface="Aptos" pitchFamily="34" charset="-122"/>
                <a:cs typeface="Aptos" pitchFamily="34" charset="-120"/>
              </a:rPr>
              <a:t>El bloque 0</a:t>
            </a:r>
            <a:endParaRPr lang="en-US" sz="1240" dirty="0"/>
          </a:p>
        </p:txBody>
      </p:sp>
      <p:sp>
        <p:nvSpPr>
          <p:cNvPr id="17" name="Shape 14"/>
          <p:cNvSpPr/>
          <p:nvPr/>
        </p:nvSpPr>
        <p:spPr>
          <a:xfrm>
            <a:off x="1188720" y="3291840"/>
            <a:ext cx="4059936" cy="402336"/>
          </a:xfrm>
          <a:prstGeom prst="rect">
            <a:avLst/>
          </a:prstGeom>
          <a:solidFill>
            <a:srgbClr val="FFFFFF"/>
          </a:solidFill>
          <a:ln w="12700">
            <a:solidFill>
              <a:srgbClr val="FFFFFF"/>
            </a:solidFill>
            <a:prstDash val="solid"/>
          </a:ln>
        </p:spPr>
      </p:sp>
      <p:sp>
        <p:nvSpPr>
          <p:cNvPr id="18" name="Text 15"/>
          <p:cNvSpPr txBox="1"/>
          <p:nvPr/>
        </p:nvSpPr>
        <p:spPr>
          <a:xfrm>
            <a:off x="1353312" y="3346704"/>
            <a:ext cx="3749040" cy="292608"/>
          </a:xfrm>
          <a:prstGeom prst="rect">
            <a:avLst/>
          </a:prstGeom>
          <a:noFill/>
          <a:ln/>
        </p:spPr>
        <p:txBody>
          <a:bodyPr wrap="square" lIns="0" tIns="0" rIns="0" bIns="0" rtlCol="0" anchor="ctr"/>
          <a:lstStyle/>
          <a:p>
            <a:pPr algn="l" indent="0" marL="0">
              <a:buNone/>
            </a:pPr>
            <a:r>
              <a:rPr lang="en-US" sz="1240" b="1" dirty="0">
                <a:solidFill>
                  <a:srgbClr val="243B53"/>
                </a:solidFill>
                <a:latin typeface="Aptos" pitchFamily="34" charset="0"/>
                <a:ea typeface="Aptos" pitchFamily="34" charset="-122"/>
                <a:cs typeface="Aptos" pitchFamily="34" charset="-120"/>
              </a:rPr>
              <a:t>El campo vacío</a:t>
            </a:r>
            <a:endParaRPr lang="en-US" sz="1240" dirty="0"/>
          </a:p>
        </p:txBody>
      </p:sp>
      <p:sp>
        <p:nvSpPr>
          <p:cNvPr id="19" name="Shape 16"/>
          <p:cNvSpPr/>
          <p:nvPr/>
        </p:nvSpPr>
        <p:spPr>
          <a:xfrm>
            <a:off x="1188720" y="3803904"/>
            <a:ext cx="4059936" cy="402336"/>
          </a:xfrm>
          <a:prstGeom prst="rect">
            <a:avLst/>
          </a:prstGeom>
          <a:solidFill>
            <a:srgbClr val="FFFFFF"/>
          </a:solidFill>
          <a:ln w="12700">
            <a:solidFill>
              <a:srgbClr val="FFFFFF"/>
            </a:solidFill>
            <a:prstDash val="solid"/>
          </a:ln>
        </p:spPr>
      </p:sp>
      <p:sp>
        <p:nvSpPr>
          <p:cNvPr id="20" name="Text 17"/>
          <p:cNvSpPr txBox="1"/>
          <p:nvPr/>
        </p:nvSpPr>
        <p:spPr>
          <a:xfrm>
            <a:off x="1353312" y="3858768"/>
            <a:ext cx="3749040" cy="292608"/>
          </a:xfrm>
          <a:prstGeom prst="rect">
            <a:avLst/>
          </a:prstGeom>
          <a:noFill/>
          <a:ln/>
        </p:spPr>
        <p:txBody>
          <a:bodyPr wrap="square" lIns="0" tIns="0" rIns="0" bIns="0" rtlCol="0" anchor="ctr"/>
          <a:lstStyle/>
          <a:p>
            <a:pPr algn="l" indent="0" marL="0">
              <a:buNone/>
            </a:pPr>
            <a:r>
              <a:rPr lang="en-US" sz="1240" b="1" dirty="0">
                <a:solidFill>
                  <a:srgbClr val="243B53"/>
                </a:solidFill>
                <a:latin typeface="Aptos" pitchFamily="34" charset="0"/>
                <a:ea typeface="Aptos" pitchFamily="34" charset="-122"/>
                <a:cs typeface="Aptos" pitchFamily="34" charset="-120"/>
              </a:rPr>
              <a:t>La reserva repetida</a:t>
            </a:r>
            <a:endParaRPr lang="en-US" sz="1240" dirty="0"/>
          </a:p>
        </p:txBody>
      </p:sp>
      <p:sp>
        <p:nvSpPr>
          <p:cNvPr id="21" name="Text 18"/>
          <p:cNvSpPr txBox="1"/>
          <p:nvPr/>
        </p:nvSpPr>
        <p:spPr>
          <a:xfrm>
            <a:off x="1188720" y="4389120"/>
            <a:ext cx="4114800" cy="640080"/>
          </a:xfrm>
          <a:prstGeom prst="rect">
            <a:avLst/>
          </a:prstGeom>
          <a:noFill/>
          <a:ln/>
        </p:spPr>
        <p:txBody>
          <a:bodyPr wrap="square" lIns="0" tIns="0" rIns="0" bIns="0" rtlCol="0" anchor="t"/>
          <a:lstStyle/>
          <a:p>
            <a:pPr algn="l" indent="0" marL="0">
              <a:lnSpc>
                <a:spcPct val="110000"/>
              </a:lnSpc>
              <a:buNone/>
            </a:pPr>
            <a:r>
              <a:rPr lang="en-US" sz="1080" i="1" dirty="0">
                <a:solidFill>
                  <a:srgbClr val="52606D"/>
                </a:solidFill>
                <a:latin typeface="Aptos" pitchFamily="34" charset="0"/>
                <a:ea typeface="Aptos" pitchFamily="34" charset="-122"/>
                <a:cs typeface="Aptos" pitchFamily="34" charset="-120"/>
              </a:rPr>
              <a:t>Alguien pensó el caso, escribió qué debía ocurrir y después lo comprobó.</a:t>
            </a:r>
            <a:endParaRPr lang="en-US" sz="1080" dirty="0"/>
          </a:p>
        </p:txBody>
      </p:sp>
      <p:sp>
        <p:nvSpPr>
          <p:cNvPr id="22" name="Shape 19"/>
          <p:cNvSpPr/>
          <p:nvPr/>
        </p:nvSpPr>
        <p:spPr>
          <a:xfrm>
            <a:off x="5870448" y="2377440"/>
            <a:ext cx="2602840" cy="822960"/>
          </a:xfrm>
          <a:prstGeom prst="rect">
            <a:avLst/>
          </a:prstGeom>
          <a:solidFill>
            <a:srgbClr val="F2E7D9"/>
          </a:solidFill>
          <a:ln w="12700">
            <a:solidFill>
              <a:srgbClr val="F2E7D9"/>
            </a:solidFill>
            <a:prstDash val="solid"/>
          </a:ln>
        </p:spPr>
      </p:sp>
      <p:sp>
        <p:nvSpPr>
          <p:cNvPr id="23" name="Shape 20"/>
          <p:cNvSpPr/>
          <p:nvPr/>
        </p:nvSpPr>
        <p:spPr>
          <a:xfrm>
            <a:off x="5870448" y="2377440"/>
            <a:ext cx="54864" cy="822960"/>
          </a:xfrm>
          <a:prstGeom prst="rect">
            <a:avLst/>
          </a:prstGeom>
          <a:solidFill>
            <a:srgbClr val="B3181E"/>
          </a:solidFill>
          <a:ln w="12700">
            <a:solidFill>
              <a:srgbClr val="B3181E"/>
            </a:solidFill>
            <a:prstDash val="solid"/>
          </a:ln>
        </p:spPr>
      </p:sp>
      <p:sp>
        <p:nvSpPr>
          <p:cNvPr id="24" name="Text 21"/>
          <p:cNvSpPr txBox="1"/>
          <p:nvPr/>
        </p:nvSpPr>
        <p:spPr>
          <a:xfrm>
            <a:off x="6089904" y="2468880"/>
            <a:ext cx="2237080" cy="640080"/>
          </a:xfrm>
          <a:prstGeom prst="rect">
            <a:avLst/>
          </a:prstGeom>
          <a:noFill/>
          <a:ln/>
        </p:spPr>
        <p:txBody>
          <a:bodyPr wrap="square" lIns="0" tIns="0" rIns="0" bIns="0" rtlCol="0" anchor="ctr"/>
          <a:lstStyle/>
          <a:p>
            <a:pPr algn="l" indent="0" marL="0">
              <a:lnSpc>
                <a:spcPct val="108000"/>
              </a:lnSpc>
              <a:buNone/>
            </a:pPr>
            <a:r>
              <a:rPr lang="en-US" sz="1240" b="1" dirty="0">
                <a:solidFill>
                  <a:srgbClr val="243B53"/>
                </a:solidFill>
                <a:latin typeface="Aptos" pitchFamily="34" charset="0"/>
                <a:ea typeface="Aptos" pitchFamily="34" charset="-122"/>
                <a:cs typeface="Aptos" pitchFamily="34" charset="-120"/>
              </a:rPr>
              <a:t>Se equivoca de campo</a:t>
            </a:r>
            <a:endParaRPr lang="en-US" sz="1240" dirty="0"/>
          </a:p>
        </p:txBody>
      </p:sp>
      <p:sp>
        <p:nvSpPr>
          <p:cNvPr id="25" name="Shape 22"/>
          <p:cNvSpPr/>
          <p:nvPr/>
        </p:nvSpPr>
        <p:spPr>
          <a:xfrm>
            <a:off x="8656168" y="2377440"/>
            <a:ext cx="2602840" cy="822960"/>
          </a:xfrm>
          <a:prstGeom prst="rect">
            <a:avLst/>
          </a:prstGeom>
          <a:solidFill>
            <a:srgbClr val="F2E7D9"/>
          </a:solidFill>
          <a:ln w="12700">
            <a:solidFill>
              <a:srgbClr val="F2E7D9"/>
            </a:solidFill>
            <a:prstDash val="solid"/>
          </a:ln>
        </p:spPr>
      </p:sp>
      <p:sp>
        <p:nvSpPr>
          <p:cNvPr id="26" name="Shape 23"/>
          <p:cNvSpPr/>
          <p:nvPr/>
        </p:nvSpPr>
        <p:spPr>
          <a:xfrm>
            <a:off x="8656168" y="2377440"/>
            <a:ext cx="54864" cy="822960"/>
          </a:xfrm>
          <a:prstGeom prst="rect">
            <a:avLst/>
          </a:prstGeom>
          <a:solidFill>
            <a:srgbClr val="B3181E"/>
          </a:solidFill>
          <a:ln w="12700">
            <a:solidFill>
              <a:srgbClr val="B3181E"/>
            </a:solidFill>
            <a:prstDash val="solid"/>
          </a:ln>
        </p:spPr>
      </p:sp>
      <p:sp>
        <p:nvSpPr>
          <p:cNvPr id="27" name="Text 24"/>
          <p:cNvSpPr txBox="1"/>
          <p:nvPr/>
        </p:nvSpPr>
        <p:spPr>
          <a:xfrm>
            <a:off x="8875624" y="2468880"/>
            <a:ext cx="2237080" cy="640080"/>
          </a:xfrm>
          <a:prstGeom prst="rect">
            <a:avLst/>
          </a:prstGeom>
          <a:noFill/>
          <a:ln/>
        </p:spPr>
        <p:txBody>
          <a:bodyPr wrap="square" lIns="0" tIns="0" rIns="0" bIns="0" rtlCol="0" anchor="ctr"/>
          <a:lstStyle/>
          <a:p>
            <a:pPr algn="l" indent="0" marL="0">
              <a:lnSpc>
                <a:spcPct val="108000"/>
              </a:lnSpc>
              <a:buNone/>
            </a:pPr>
            <a:r>
              <a:rPr lang="en-US" sz="1240" b="1" dirty="0">
                <a:solidFill>
                  <a:srgbClr val="243B53"/>
                </a:solidFill>
                <a:latin typeface="Aptos" pitchFamily="34" charset="0"/>
                <a:ea typeface="Aptos" pitchFamily="34" charset="-122"/>
                <a:cs typeface="Aptos" pitchFamily="34" charset="-120"/>
              </a:rPr>
              <a:t>Aprieta el botón dos veces</a:t>
            </a:r>
            <a:endParaRPr lang="en-US" sz="1240" dirty="0"/>
          </a:p>
        </p:txBody>
      </p:sp>
      <p:sp>
        <p:nvSpPr>
          <p:cNvPr id="28" name="Shape 25"/>
          <p:cNvSpPr/>
          <p:nvPr/>
        </p:nvSpPr>
        <p:spPr>
          <a:xfrm>
            <a:off x="5870448" y="3364992"/>
            <a:ext cx="2602840" cy="822960"/>
          </a:xfrm>
          <a:prstGeom prst="rect">
            <a:avLst/>
          </a:prstGeom>
          <a:solidFill>
            <a:srgbClr val="F2E7D9"/>
          </a:solidFill>
          <a:ln w="12700">
            <a:solidFill>
              <a:srgbClr val="F2E7D9"/>
            </a:solidFill>
            <a:prstDash val="solid"/>
          </a:ln>
        </p:spPr>
      </p:sp>
      <p:sp>
        <p:nvSpPr>
          <p:cNvPr id="29" name="Shape 26"/>
          <p:cNvSpPr/>
          <p:nvPr/>
        </p:nvSpPr>
        <p:spPr>
          <a:xfrm>
            <a:off x="5870448" y="3364992"/>
            <a:ext cx="54864" cy="822960"/>
          </a:xfrm>
          <a:prstGeom prst="rect">
            <a:avLst/>
          </a:prstGeom>
          <a:solidFill>
            <a:srgbClr val="B3181E"/>
          </a:solidFill>
          <a:ln w="12700">
            <a:solidFill>
              <a:srgbClr val="B3181E"/>
            </a:solidFill>
            <a:prstDash val="solid"/>
          </a:ln>
        </p:spPr>
      </p:sp>
      <p:sp>
        <p:nvSpPr>
          <p:cNvPr id="30" name="Text 27"/>
          <p:cNvSpPr txBox="1"/>
          <p:nvPr/>
        </p:nvSpPr>
        <p:spPr>
          <a:xfrm>
            <a:off x="6089904" y="3456432"/>
            <a:ext cx="2237080" cy="640080"/>
          </a:xfrm>
          <a:prstGeom prst="rect">
            <a:avLst/>
          </a:prstGeom>
          <a:noFill/>
          <a:ln/>
        </p:spPr>
        <p:txBody>
          <a:bodyPr wrap="square" lIns="0" tIns="0" rIns="0" bIns="0" rtlCol="0" anchor="ctr"/>
          <a:lstStyle/>
          <a:p>
            <a:pPr algn="l" indent="0" marL="0">
              <a:lnSpc>
                <a:spcPct val="108000"/>
              </a:lnSpc>
              <a:buNone/>
            </a:pPr>
            <a:r>
              <a:rPr lang="en-US" sz="1240" b="1" dirty="0">
                <a:solidFill>
                  <a:srgbClr val="243B53"/>
                </a:solidFill>
                <a:latin typeface="Aptos" pitchFamily="34" charset="0"/>
                <a:ea typeface="Aptos" pitchFamily="34" charset="-122"/>
                <a:cs typeface="Aptos" pitchFamily="34" charset="-120"/>
              </a:rPr>
              <a:t>Deja algo a medias</a:t>
            </a:r>
            <a:endParaRPr lang="en-US" sz="1240" dirty="0"/>
          </a:p>
        </p:txBody>
      </p:sp>
      <p:sp>
        <p:nvSpPr>
          <p:cNvPr id="31" name="Shape 28"/>
          <p:cNvSpPr/>
          <p:nvPr/>
        </p:nvSpPr>
        <p:spPr>
          <a:xfrm>
            <a:off x="8656168" y="3364992"/>
            <a:ext cx="2602840" cy="822960"/>
          </a:xfrm>
          <a:prstGeom prst="rect">
            <a:avLst/>
          </a:prstGeom>
          <a:solidFill>
            <a:srgbClr val="F2E7D9"/>
          </a:solidFill>
          <a:ln w="12700">
            <a:solidFill>
              <a:srgbClr val="F2E7D9"/>
            </a:solidFill>
            <a:prstDash val="solid"/>
          </a:ln>
        </p:spPr>
      </p:sp>
      <p:sp>
        <p:nvSpPr>
          <p:cNvPr id="32" name="Shape 29"/>
          <p:cNvSpPr/>
          <p:nvPr/>
        </p:nvSpPr>
        <p:spPr>
          <a:xfrm>
            <a:off x="8656168" y="3364992"/>
            <a:ext cx="54864" cy="822960"/>
          </a:xfrm>
          <a:prstGeom prst="rect">
            <a:avLst/>
          </a:prstGeom>
          <a:solidFill>
            <a:srgbClr val="B3181E"/>
          </a:solidFill>
          <a:ln w="12700">
            <a:solidFill>
              <a:srgbClr val="B3181E"/>
            </a:solidFill>
            <a:prstDash val="solid"/>
          </a:ln>
        </p:spPr>
      </p:sp>
      <p:sp>
        <p:nvSpPr>
          <p:cNvPr id="33" name="Text 30"/>
          <p:cNvSpPr txBox="1"/>
          <p:nvPr/>
        </p:nvSpPr>
        <p:spPr>
          <a:xfrm>
            <a:off x="8875624" y="3456432"/>
            <a:ext cx="2237080" cy="640080"/>
          </a:xfrm>
          <a:prstGeom prst="rect">
            <a:avLst/>
          </a:prstGeom>
          <a:noFill/>
          <a:ln/>
        </p:spPr>
        <p:txBody>
          <a:bodyPr wrap="square" lIns="0" tIns="0" rIns="0" bIns="0" rtlCol="0" anchor="ctr"/>
          <a:lstStyle/>
          <a:p>
            <a:pPr algn="l" indent="0" marL="0">
              <a:lnSpc>
                <a:spcPct val="108000"/>
              </a:lnSpc>
              <a:buNone/>
            </a:pPr>
            <a:r>
              <a:rPr lang="en-US" sz="1240" b="1" dirty="0">
                <a:solidFill>
                  <a:srgbClr val="243B53"/>
                </a:solidFill>
                <a:latin typeface="Aptos" pitchFamily="34" charset="0"/>
                <a:ea typeface="Aptos" pitchFamily="34" charset="-122"/>
                <a:cs typeface="Aptos" pitchFamily="34" charset="-120"/>
              </a:rPr>
              <a:t>Vuelve a intentar con el mensaje anterior en pantalla</a:t>
            </a:r>
            <a:endParaRPr lang="en-US" sz="1240" dirty="0"/>
          </a:p>
        </p:txBody>
      </p:sp>
      <p:sp>
        <p:nvSpPr>
          <p:cNvPr id="34" name="Text 31"/>
          <p:cNvSpPr txBox="1"/>
          <p:nvPr/>
        </p:nvSpPr>
        <p:spPr>
          <a:xfrm>
            <a:off x="5870448" y="4480560"/>
            <a:ext cx="5388559" cy="548640"/>
          </a:xfrm>
          <a:prstGeom prst="rect">
            <a:avLst/>
          </a:prstGeom>
          <a:noFill/>
          <a:ln/>
        </p:spPr>
        <p:txBody>
          <a:bodyPr wrap="square" lIns="0" tIns="0" rIns="0" bIns="0" rtlCol="0" anchor="t"/>
          <a:lstStyle/>
          <a:p>
            <a:pPr algn="l" indent="0" marL="0">
              <a:lnSpc>
                <a:spcPct val="110000"/>
              </a:lnSpc>
              <a:buNone/>
            </a:pPr>
            <a:r>
              <a:rPr lang="en-US" sz="1140" i="1" dirty="0">
                <a:solidFill>
                  <a:srgbClr val="B3181E"/>
                </a:solidFill>
                <a:latin typeface="Aptos" pitchFamily="34" charset="0"/>
                <a:ea typeface="Aptos" pitchFamily="34" charset="-122"/>
                <a:cs typeface="Aptos" pitchFamily="34" charset="-120"/>
              </a:rPr>
              <a:t>Ninguna está en la lista: quien escribe las pruebas no suele hacer estas cosas.</a:t>
            </a:r>
            <a:endParaRPr lang="en-US" sz="1140" dirty="0"/>
          </a:p>
        </p:txBody>
      </p:sp>
      <p:sp>
        <p:nvSpPr>
          <p:cNvPr id="35" name="Shape 32"/>
          <p:cNvSpPr/>
          <p:nvPr/>
        </p:nvSpPr>
        <p:spPr>
          <a:xfrm>
            <a:off x="658368" y="5650992"/>
            <a:ext cx="10874959" cy="548640"/>
          </a:xfrm>
          <a:prstGeom prst="rect">
            <a:avLst/>
          </a:prstGeom>
          <a:solidFill>
            <a:srgbClr val="102A43"/>
          </a:solidFill>
          <a:ln w="12700">
            <a:solidFill>
              <a:srgbClr val="102A43"/>
            </a:solidFill>
            <a:prstDash val="solid"/>
          </a:ln>
        </p:spPr>
      </p:sp>
      <p:sp>
        <p:nvSpPr>
          <p:cNvPr id="36" name="Text 33"/>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Una prueba escrita de antemano solo comprueba lo que a alguien se le ocurrió comprobar.</a:t>
            </a:r>
            <a:endParaRPr lang="en-US" sz="13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DEFINICIÓN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Diseñar, ejecutar y evaluar a la vez</a:t>
            </a:r>
            <a:endParaRPr lang="en-US" sz="3000" dirty="0"/>
          </a:p>
        </p:txBody>
      </p:sp>
      <p:sp>
        <p:nvSpPr>
          <p:cNvPr id="10" name="Shape 7"/>
          <p:cNvSpPr/>
          <p:nvPr/>
        </p:nvSpPr>
        <p:spPr>
          <a:xfrm>
            <a:off x="658368" y="1737360"/>
            <a:ext cx="10874959" cy="987552"/>
          </a:xfrm>
          <a:prstGeom prst="rect">
            <a:avLst/>
          </a:prstGeom>
          <a:solidFill>
            <a:srgbClr val="EDE6DA"/>
          </a:solidFill>
          <a:ln w="12700">
            <a:solidFill>
              <a:srgbClr val="EDE6DA"/>
            </a:solidFill>
            <a:prstDash val="solid"/>
          </a:ln>
        </p:spPr>
      </p:sp>
      <p:sp>
        <p:nvSpPr>
          <p:cNvPr id="11" name="Shape 8"/>
          <p:cNvSpPr/>
          <p:nvPr/>
        </p:nvSpPr>
        <p:spPr>
          <a:xfrm>
            <a:off x="658368" y="1737360"/>
            <a:ext cx="54864" cy="987552"/>
          </a:xfrm>
          <a:prstGeom prst="rect">
            <a:avLst/>
          </a:prstGeom>
          <a:solidFill>
            <a:srgbClr val="102A43"/>
          </a:solidFill>
          <a:ln w="12700">
            <a:solidFill>
              <a:srgbClr val="102A43"/>
            </a:solidFill>
            <a:prstDash val="solid"/>
          </a:ln>
        </p:spPr>
      </p:sp>
      <p:sp>
        <p:nvSpPr>
          <p:cNvPr id="12" name="Text 9"/>
          <p:cNvSpPr txBox="1"/>
          <p:nvPr/>
        </p:nvSpPr>
        <p:spPr>
          <a:xfrm>
            <a:off x="914400" y="1865376"/>
            <a:ext cx="10362895" cy="548640"/>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«En la prueba exploratoria, las pruebas se diseñan, ejecutan y evalúan simultáneamente, mientras quien prueba aprende sobre el objeto de prueba.»</a:t>
            </a:r>
            <a:endParaRPr lang="en-US" sz="1180" dirty="0"/>
          </a:p>
        </p:txBody>
      </p:sp>
      <p:sp>
        <p:nvSpPr>
          <p:cNvPr id="13" name="Text 10"/>
          <p:cNvSpPr txBox="1"/>
          <p:nvPr/>
        </p:nvSpPr>
        <p:spPr>
          <a:xfrm>
            <a:off x="914400" y="2450592"/>
            <a:ext cx="10362895" cy="182880"/>
          </a:xfrm>
          <a:prstGeom prst="rect">
            <a:avLst/>
          </a:prstGeom>
          <a:noFill/>
          <a:ln/>
        </p:spPr>
        <p:txBody>
          <a:bodyPr wrap="square" lIns="0" tIns="0" rIns="0" bIns="0" rtlCol="0" anchor="t"/>
          <a:lstStyle/>
          <a:p>
            <a:pPr algn="l" indent="0" marL="0">
              <a:buNone/>
            </a:pPr>
            <a:r>
              <a:rPr lang="en-US" sz="900" b="1" dirty="0">
                <a:solidFill>
                  <a:srgbClr val="102A43"/>
                </a:solidFill>
                <a:latin typeface="Aptos" pitchFamily="34" charset="0"/>
                <a:ea typeface="Aptos" pitchFamily="34" charset="-122"/>
                <a:cs typeface="Aptos" pitchFamily="34" charset="-120"/>
              </a:rPr>
              <a:t>ISTQB Certified Tester Foundation Level v4.0.1, sección 4.4.2 · traducción del original en inglés</a:t>
            </a:r>
            <a:endParaRPr lang="en-US" sz="900" dirty="0"/>
          </a:p>
        </p:txBody>
      </p:sp>
      <p:sp>
        <p:nvSpPr>
          <p:cNvPr id="14" name="Text 11"/>
          <p:cNvSpPr txBox="1"/>
          <p:nvPr/>
        </p:nvSpPr>
        <p:spPr>
          <a:xfrm>
            <a:off x="658368" y="2761488"/>
            <a:ext cx="10874959" cy="201168"/>
          </a:xfrm>
          <a:prstGeom prst="rect">
            <a:avLst/>
          </a:prstGeom>
          <a:noFill/>
          <a:ln/>
        </p:spPr>
        <p:txBody>
          <a:bodyPr wrap="square" lIns="0" tIns="0" rIns="0" bIns="0" rtlCol="0" anchor="t"/>
          <a:lstStyle/>
          <a:p>
            <a:pPr algn="l" indent="0" marL="0">
              <a:buNone/>
            </a:pPr>
            <a:r>
              <a:rPr lang="en-US" sz="980" i="1" dirty="0">
                <a:solidFill>
                  <a:srgbClr val="52606D"/>
                </a:solidFill>
                <a:latin typeface="Aptos" pitchFamily="34" charset="0"/>
                <a:ea typeface="Aptos" pitchFamily="34" charset="-122"/>
                <a:cs typeface="Aptos" pitchFamily="34" charset="-120"/>
              </a:rPr>
              <a:t>Objeto de prueba: lo que se está probando; aquí, el sistema de reservas.</a:t>
            </a:r>
            <a:endParaRPr lang="en-US" sz="980" dirty="0"/>
          </a:p>
        </p:txBody>
      </p:sp>
      <p:sp>
        <p:nvSpPr>
          <p:cNvPr id="15" name="Text 12"/>
          <p:cNvSpPr txBox="1"/>
          <p:nvPr/>
        </p:nvSpPr>
        <p:spPr>
          <a:xfrm>
            <a:off x="658368" y="3054096"/>
            <a:ext cx="2286000" cy="457200"/>
          </a:xfrm>
          <a:prstGeom prst="rect">
            <a:avLst/>
          </a:prstGeom>
          <a:noFill/>
          <a:ln/>
        </p:spPr>
        <p:txBody>
          <a:bodyPr wrap="square" lIns="0" tIns="0" rIns="0" bIns="0" rtlCol="0" anchor="ctr"/>
          <a:lstStyle/>
          <a:p>
            <a:pPr algn="l" indent="0" marL="0">
              <a:buNone/>
            </a:pPr>
            <a:r>
              <a:rPr lang="en-US" sz="1300" b="1" dirty="0">
                <a:solidFill>
                  <a:srgbClr val="243B53"/>
                </a:solidFill>
                <a:latin typeface="Aptos" pitchFamily="34" charset="0"/>
                <a:ea typeface="Aptos" pitchFamily="34" charset="-122"/>
                <a:cs typeface="Aptos" pitchFamily="34" charset="-120"/>
              </a:rPr>
              <a:t>Una prueba escrita</a:t>
            </a:r>
            <a:endParaRPr lang="en-US" sz="1300" dirty="0"/>
          </a:p>
        </p:txBody>
      </p:sp>
      <p:sp>
        <p:nvSpPr>
          <p:cNvPr id="16" name="Shape 13"/>
          <p:cNvSpPr/>
          <p:nvPr/>
        </p:nvSpPr>
        <p:spPr>
          <a:xfrm>
            <a:off x="3127248" y="3017520"/>
            <a:ext cx="2103120" cy="512064"/>
          </a:xfrm>
          <a:prstGeom prst="rect">
            <a:avLst/>
          </a:prstGeom>
          <a:solidFill>
            <a:srgbClr val="FFFFFF"/>
          </a:solidFill>
          <a:ln w="12700">
            <a:solidFill>
              <a:srgbClr val="D8CFC4"/>
            </a:solidFill>
            <a:prstDash val="solid"/>
          </a:ln>
        </p:spPr>
      </p:sp>
      <p:sp>
        <p:nvSpPr>
          <p:cNvPr id="17" name="Text 14"/>
          <p:cNvSpPr txBox="1"/>
          <p:nvPr/>
        </p:nvSpPr>
        <p:spPr>
          <a:xfrm>
            <a:off x="3218688" y="3054096"/>
            <a:ext cx="1920240" cy="438912"/>
          </a:xfrm>
          <a:prstGeom prst="rect">
            <a:avLst/>
          </a:prstGeom>
          <a:noFill/>
          <a:ln/>
        </p:spPr>
        <p:txBody>
          <a:bodyPr wrap="square" lIns="0" tIns="0" rIns="0" bIns="0" rtlCol="0" anchor="ctr"/>
          <a:lstStyle/>
          <a:p>
            <a:pPr algn="ctr" indent="0" marL="0">
              <a:buNone/>
            </a:pPr>
            <a:r>
              <a:rPr lang="en-US" sz="1300" b="1" dirty="0">
                <a:solidFill>
                  <a:srgbClr val="243B53"/>
                </a:solidFill>
                <a:latin typeface="Aptos" pitchFamily="34" charset="0"/>
                <a:ea typeface="Aptos" pitchFamily="34" charset="-122"/>
                <a:cs typeface="Aptos" pitchFamily="34" charset="-120"/>
              </a:rPr>
              <a:t>Diseñar</a:t>
            </a:r>
            <a:endParaRPr lang="en-US" sz="1300" dirty="0"/>
          </a:p>
        </p:txBody>
      </p:sp>
      <p:sp>
        <p:nvSpPr>
          <p:cNvPr id="18" name="Shape 15"/>
          <p:cNvSpPr/>
          <p:nvPr/>
        </p:nvSpPr>
        <p:spPr>
          <a:xfrm>
            <a:off x="5303520" y="3273552"/>
            <a:ext cx="310896" cy="0"/>
          </a:xfrm>
          <a:prstGeom prst="line">
            <a:avLst/>
          </a:prstGeom>
          <a:noFill/>
          <a:ln w="12700">
            <a:solidFill>
              <a:srgbClr val="52606D"/>
            </a:solidFill>
            <a:prstDash val="solid"/>
            <a:headEnd type="none"/>
            <a:tailEnd type="triangle"/>
          </a:ln>
        </p:spPr>
      </p:sp>
      <p:sp>
        <p:nvSpPr>
          <p:cNvPr id="19" name="Shape 16"/>
          <p:cNvSpPr/>
          <p:nvPr/>
        </p:nvSpPr>
        <p:spPr>
          <a:xfrm>
            <a:off x="5687568" y="3017520"/>
            <a:ext cx="2103120" cy="512064"/>
          </a:xfrm>
          <a:prstGeom prst="rect">
            <a:avLst/>
          </a:prstGeom>
          <a:solidFill>
            <a:srgbClr val="FFFFFF"/>
          </a:solidFill>
          <a:ln w="12700">
            <a:solidFill>
              <a:srgbClr val="D8CFC4"/>
            </a:solidFill>
            <a:prstDash val="solid"/>
          </a:ln>
        </p:spPr>
      </p:sp>
      <p:sp>
        <p:nvSpPr>
          <p:cNvPr id="20" name="Text 17"/>
          <p:cNvSpPr txBox="1"/>
          <p:nvPr/>
        </p:nvSpPr>
        <p:spPr>
          <a:xfrm>
            <a:off x="5779008" y="3054096"/>
            <a:ext cx="1920240" cy="438912"/>
          </a:xfrm>
          <a:prstGeom prst="rect">
            <a:avLst/>
          </a:prstGeom>
          <a:noFill/>
          <a:ln/>
        </p:spPr>
        <p:txBody>
          <a:bodyPr wrap="square" lIns="0" tIns="0" rIns="0" bIns="0" rtlCol="0" anchor="ctr"/>
          <a:lstStyle/>
          <a:p>
            <a:pPr algn="ctr" indent="0" marL="0">
              <a:buNone/>
            </a:pPr>
            <a:r>
              <a:rPr lang="en-US" sz="1300" b="1" dirty="0">
                <a:solidFill>
                  <a:srgbClr val="243B53"/>
                </a:solidFill>
                <a:latin typeface="Aptos" pitchFamily="34" charset="0"/>
                <a:ea typeface="Aptos" pitchFamily="34" charset="-122"/>
                <a:cs typeface="Aptos" pitchFamily="34" charset="-120"/>
              </a:rPr>
              <a:t>Ejecutar</a:t>
            </a:r>
            <a:endParaRPr lang="en-US" sz="1300" dirty="0"/>
          </a:p>
        </p:txBody>
      </p:sp>
      <p:sp>
        <p:nvSpPr>
          <p:cNvPr id="21" name="Shape 18"/>
          <p:cNvSpPr/>
          <p:nvPr/>
        </p:nvSpPr>
        <p:spPr>
          <a:xfrm>
            <a:off x="7863840" y="3273552"/>
            <a:ext cx="310896" cy="0"/>
          </a:xfrm>
          <a:prstGeom prst="line">
            <a:avLst/>
          </a:prstGeom>
          <a:noFill/>
          <a:ln w="12700">
            <a:solidFill>
              <a:srgbClr val="52606D"/>
            </a:solidFill>
            <a:prstDash val="solid"/>
            <a:headEnd type="none"/>
            <a:tailEnd type="triangle"/>
          </a:ln>
        </p:spPr>
      </p:sp>
      <p:sp>
        <p:nvSpPr>
          <p:cNvPr id="22" name="Shape 19"/>
          <p:cNvSpPr/>
          <p:nvPr/>
        </p:nvSpPr>
        <p:spPr>
          <a:xfrm>
            <a:off x="8247888" y="3017520"/>
            <a:ext cx="2103120" cy="512064"/>
          </a:xfrm>
          <a:prstGeom prst="rect">
            <a:avLst/>
          </a:prstGeom>
          <a:solidFill>
            <a:srgbClr val="FFFFFF"/>
          </a:solidFill>
          <a:ln w="12700">
            <a:solidFill>
              <a:srgbClr val="D8CFC4"/>
            </a:solidFill>
            <a:prstDash val="solid"/>
          </a:ln>
        </p:spPr>
      </p:sp>
      <p:sp>
        <p:nvSpPr>
          <p:cNvPr id="23" name="Text 20"/>
          <p:cNvSpPr txBox="1"/>
          <p:nvPr/>
        </p:nvSpPr>
        <p:spPr>
          <a:xfrm>
            <a:off x="8339328" y="3054096"/>
            <a:ext cx="1920240" cy="438912"/>
          </a:xfrm>
          <a:prstGeom prst="rect">
            <a:avLst/>
          </a:prstGeom>
          <a:noFill/>
          <a:ln/>
        </p:spPr>
        <p:txBody>
          <a:bodyPr wrap="square" lIns="0" tIns="0" rIns="0" bIns="0" rtlCol="0" anchor="ctr"/>
          <a:lstStyle/>
          <a:p>
            <a:pPr algn="ctr" indent="0" marL="0">
              <a:buNone/>
            </a:pPr>
            <a:r>
              <a:rPr lang="en-US" sz="1300" b="1" dirty="0">
                <a:solidFill>
                  <a:srgbClr val="243B53"/>
                </a:solidFill>
                <a:latin typeface="Aptos" pitchFamily="34" charset="0"/>
                <a:ea typeface="Aptos" pitchFamily="34" charset="-122"/>
                <a:cs typeface="Aptos" pitchFamily="34" charset="-120"/>
              </a:rPr>
              <a:t>Evaluar</a:t>
            </a:r>
            <a:endParaRPr lang="en-US" sz="1300" dirty="0"/>
          </a:p>
        </p:txBody>
      </p:sp>
      <p:sp>
        <p:nvSpPr>
          <p:cNvPr id="24" name="Text 21"/>
          <p:cNvSpPr txBox="1"/>
          <p:nvPr/>
        </p:nvSpPr>
        <p:spPr>
          <a:xfrm>
            <a:off x="3127248" y="3621024"/>
            <a:ext cx="7223760" cy="237744"/>
          </a:xfrm>
          <a:prstGeom prst="rect">
            <a:avLst/>
          </a:prstGeom>
          <a:noFill/>
          <a:ln/>
        </p:spPr>
        <p:txBody>
          <a:bodyPr wrap="square" lIns="0" tIns="0" rIns="0" bIns="0" rtlCol="0" anchor="t"/>
          <a:lstStyle/>
          <a:p>
            <a:pPr algn="l" indent="0" marL="0">
              <a:buNone/>
            </a:pPr>
            <a:r>
              <a:rPr lang="en-US" sz="1080" i="1" dirty="0">
                <a:solidFill>
                  <a:srgbClr val="52606D"/>
                </a:solidFill>
                <a:latin typeface="Aptos" pitchFamily="34" charset="0"/>
                <a:ea typeface="Aptos" pitchFamily="34" charset="-122"/>
                <a:cs typeface="Aptos" pitchFamily="34" charset="-120"/>
              </a:rPr>
              <a:t>Primero se escribe la lista de casos, después se ejecuta, después se mira el resultado.</a:t>
            </a:r>
            <a:endParaRPr lang="en-US" sz="1080" dirty="0"/>
          </a:p>
        </p:txBody>
      </p:sp>
      <p:sp>
        <p:nvSpPr>
          <p:cNvPr id="25" name="Text 22"/>
          <p:cNvSpPr txBox="1"/>
          <p:nvPr/>
        </p:nvSpPr>
        <p:spPr>
          <a:xfrm>
            <a:off x="658368" y="4224528"/>
            <a:ext cx="2286000" cy="457200"/>
          </a:xfrm>
          <a:prstGeom prst="rect">
            <a:avLst/>
          </a:prstGeom>
          <a:noFill/>
          <a:ln/>
        </p:spPr>
        <p:txBody>
          <a:bodyPr wrap="square" lIns="0" tIns="0" rIns="0" bIns="0" rtlCol="0" anchor="ctr"/>
          <a:lstStyle/>
          <a:p>
            <a:pPr algn="l" indent="0" marL="0">
              <a:buNone/>
            </a:pPr>
            <a:r>
              <a:rPr lang="en-US" sz="1300" b="1" dirty="0">
                <a:solidFill>
                  <a:srgbClr val="2E7D4F"/>
                </a:solidFill>
                <a:latin typeface="Aptos" pitchFamily="34" charset="0"/>
                <a:ea typeface="Aptos" pitchFamily="34" charset="-122"/>
                <a:cs typeface="Aptos" pitchFamily="34" charset="-120"/>
              </a:rPr>
              <a:t>Exploratoria</a:t>
            </a:r>
            <a:endParaRPr lang="en-US" sz="1300" dirty="0"/>
          </a:p>
        </p:txBody>
      </p:sp>
      <p:sp>
        <p:nvSpPr>
          <p:cNvPr id="26" name="Shape 23"/>
          <p:cNvSpPr/>
          <p:nvPr/>
        </p:nvSpPr>
        <p:spPr>
          <a:xfrm>
            <a:off x="2980944" y="4059936"/>
            <a:ext cx="7516368" cy="786384"/>
          </a:xfrm>
          <a:prstGeom prst="rect">
            <a:avLst/>
          </a:prstGeom>
          <a:solidFill>
            <a:srgbClr val="1D3A57"/>
          </a:solidFill>
          <a:ln w="12700">
            <a:solidFill>
              <a:srgbClr val="1D3A57"/>
            </a:solidFill>
            <a:prstDash val="solid"/>
          </a:ln>
        </p:spPr>
      </p:sp>
      <p:sp>
        <p:nvSpPr>
          <p:cNvPr id="27" name="Shape 24"/>
          <p:cNvSpPr/>
          <p:nvPr/>
        </p:nvSpPr>
        <p:spPr>
          <a:xfrm>
            <a:off x="3127248" y="4206240"/>
            <a:ext cx="2103120" cy="493776"/>
          </a:xfrm>
          <a:prstGeom prst="rect">
            <a:avLst/>
          </a:prstGeom>
          <a:solidFill>
            <a:srgbClr val="102A43"/>
          </a:solidFill>
          <a:ln w="12700">
            <a:solidFill>
              <a:srgbClr val="102A43"/>
            </a:solidFill>
            <a:prstDash val="solid"/>
          </a:ln>
        </p:spPr>
      </p:sp>
      <p:sp>
        <p:nvSpPr>
          <p:cNvPr id="28" name="Text 25"/>
          <p:cNvSpPr txBox="1"/>
          <p:nvPr/>
        </p:nvSpPr>
        <p:spPr>
          <a:xfrm>
            <a:off x="3218688" y="4233672"/>
            <a:ext cx="192024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Diseñar</a:t>
            </a:r>
            <a:endParaRPr lang="en-US" sz="1300" dirty="0"/>
          </a:p>
        </p:txBody>
      </p:sp>
      <p:sp>
        <p:nvSpPr>
          <p:cNvPr id="29" name="Text 26"/>
          <p:cNvSpPr txBox="1"/>
          <p:nvPr/>
        </p:nvSpPr>
        <p:spPr>
          <a:xfrm>
            <a:off x="5321808" y="4233672"/>
            <a:ext cx="274320" cy="438912"/>
          </a:xfrm>
          <a:prstGeom prst="rect">
            <a:avLst/>
          </a:prstGeom>
          <a:noFill/>
          <a:ln/>
        </p:spPr>
        <p:txBody>
          <a:bodyPr wrap="square" lIns="0" tIns="0" rIns="0" bIns="0" rtlCol="0" anchor="ctr"/>
          <a:lstStyle/>
          <a:p>
            <a:pPr algn="ctr" indent="0" marL="0">
              <a:buNone/>
            </a:pPr>
            <a:r>
              <a:rPr lang="en-US" sz="1800" b="1" dirty="0">
                <a:solidFill>
                  <a:srgbClr val="E0BC5A"/>
                </a:solidFill>
                <a:latin typeface="Aptos" pitchFamily="34" charset="0"/>
                <a:ea typeface="Aptos" pitchFamily="34" charset="-122"/>
                <a:cs typeface="Aptos" pitchFamily="34" charset="-120"/>
              </a:rPr>
              <a:t>+</a:t>
            </a:r>
            <a:endParaRPr lang="en-US" sz="1800" dirty="0"/>
          </a:p>
        </p:txBody>
      </p:sp>
      <p:sp>
        <p:nvSpPr>
          <p:cNvPr id="30" name="Shape 27"/>
          <p:cNvSpPr/>
          <p:nvPr/>
        </p:nvSpPr>
        <p:spPr>
          <a:xfrm>
            <a:off x="5687568" y="4206240"/>
            <a:ext cx="2103120" cy="493776"/>
          </a:xfrm>
          <a:prstGeom prst="rect">
            <a:avLst/>
          </a:prstGeom>
          <a:solidFill>
            <a:srgbClr val="102A43"/>
          </a:solidFill>
          <a:ln w="12700">
            <a:solidFill>
              <a:srgbClr val="102A43"/>
            </a:solidFill>
            <a:prstDash val="solid"/>
          </a:ln>
        </p:spPr>
      </p:sp>
      <p:sp>
        <p:nvSpPr>
          <p:cNvPr id="31" name="Text 28"/>
          <p:cNvSpPr txBox="1"/>
          <p:nvPr/>
        </p:nvSpPr>
        <p:spPr>
          <a:xfrm>
            <a:off x="5779008" y="4233672"/>
            <a:ext cx="192024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Ejecutar</a:t>
            </a:r>
            <a:endParaRPr lang="en-US" sz="1300" dirty="0"/>
          </a:p>
        </p:txBody>
      </p:sp>
      <p:sp>
        <p:nvSpPr>
          <p:cNvPr id="32" name="Text 29"/>
          <p:cNvSpPr txBox="1"/>
          <p:nvPr/>
        </p:nvSpPr>
        <p:spPr>
          <a:xfrm>
            <a:off x="7882128" y="4233672"/>
            <a:ext cx="274320" cy="438912"/>
          </a:xfrm>
          <a:prstGeom prst="rect">
            <a:avLst/>
          </a:prstGeom>
          <a:noFill/>
          <a:ln/>
        </p:spPr>
        <p:txBody>
          <a:bodyPr wrap="square" lIns="0" tIns="0" rIns="0" bIns="0" rtlCol="0" anchor="ctr"/>
          <a:lstStyle/>
          <a:p>
            <a:pPr algn="ctr" indent="0" marL="0">
              <a:buNone/>
            </a:pPr>
            <a:r>
              <a:rPr lang="en-US" sz="1800" b="1" dirty="0">
                <a:solidFill>
                  <a:srgbClr val="E0BC5A"/>
                </a:solidFill>
                <a:latin typeface="Aptos" pitchFamily="34" charset="0"/>
                <a:ea typeface="Aptos" pitchFamily="34" charset="-122"/>
                <a:cs typeface="Aptos" pitchFamily="34" charset="-120"/>
              </a:rPr>
              <a:t>+</a:t>
            </a:r>
            <a:endParaRPr lang="en-US" sz="1800" dirty="0"/>
          </a:p>
        </p:txBody>
      </p:sp>
      <p:sp>
        <p:nvSpPr>
          <p:cNvPr id="33" name="Shape 30"/>
          <p:cNvSpPr/>
          <p:nvPr/>
        </p:nvSpPr>
        <p:spPr>
          <a:xfrm>
            <a:off x="8247888" y="4206240"/>
            <a:ext cx="2103120" cy="493776"/>
          </a:xfrm>
          <a:prstGeom prst="rect">
            <a:avLst/>
          </a:prstGeom>
          <a:solidFill>
            <a:srgbClr val="102A43"/>
          </a:solidFill>
          <a:ln w="12700">
            <a:solidFill>
              <a:srgbClr val="102A43"/>
            </a:solidFill>
            <a:prstDash val="solid"/>
          </a:ln>
        </p:spPr>
      </p:sp>
      <p:sp>
        <p:nvSpPr>
          <p:cNvPr id="34" name="Text 31"/>
          <p:cNvSpPr txBox="1"/>
          <p:nvPr/>
        </p:nvSpPr>
        <p:spPr>
          <a:xfrm>
            <a:off x="8339328" y="4233672"/>
            <a:ext cx="192024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Evaluar</a:t>
            </a:r>
            <a:endParaRPr lang="en-US" sz="1300" dirty="0"/>
          </a:p>
        </p:txBody>
      </p:sp>
      <p:sp>
        <p:nvSpPr>
          <p:cNvPr id="35" name="Text 32"/>
          <p:cNvSpPr txBox="1"/>
          <p:nvPr/>
        </p:nvSpPr>
        <p:spPr>
          <a:xfrm>
            <a:off x="3127248" y="4956048"/>
            <a:ext cx="7223760" cy="237744"/>
          </a:xfrm>
          <a:prstGeom prst="rect">
            <a:avLst/>
          </a:prstGeom>
          <a:noFill/>
          <a:ln/>
        </p:spPr>
        <p:txBody>
          <a:bodyPr wrap="square" lIns="0" tIns="0" rIns="0" bIns="0" rtlCol="0" anchor="t"/>
          <a:lstStyle/>
          <a:p>
            <a:pPr algn="l" indent="0" marL="0">
              <a:buNone/>
            </a:pPr>
            <a:r>
              <a:rPr lang="en-US" sz="1080" i="1" dirty="0">
                <a:solidFill>
                  <a:srgbClr val="2E7D4F"/>
                </a:solidFill>
                <a:latin typeface="Aptos" pitchFamily="34" charset="0"/>
                <a:ea typeface="Aptos" pitchFamily="34" charset="-122"/>
                <a:cs typeface="Aptos" pitchFamily="34" charset="-120"/>
              </a:rPr>
              <a:t>No hay lista escrita antes: cada prueba sale de lo que la anterior mostró.</a:t>
            </a:r>
            <a:endParaRPr lang="en-US" sz="1080" dirty="0"/>
          </a:p>
        </p:txBody>
      </p:sp>
      <p:sp>
        <p:nvSpPr>
          <p:cNvPr id="36" name="Shape 33"/>
          <p:cNvSpPr/>
          <p:nvPr/>
        </p:nvSpPr>
        <p:spPr>
          <a:xfrm>
            <a:off x="658368" y="5650992"/>
            <a:ext cx="10874959" cy="548640"/>
          </a:xfrm>
          <a:prstGeom prst="rect">
            <a:avLst/>
          </a:prstGeom>
          <a:solidFill>
            <a:srgbClr val="102A43"/>
          </a:solidFill>
          <a:ln w="12700">
            <a:solidFill>
              <a:srgbClr val="102A43"/>
            </a:solidFill>
            <a:prstDash val="solid"/>
          </a:ln>
        </p:spPr>
      </p:sp>
      <p:sp>
        <p:nvSpPr>
          <p:cNvPr id="37" name="Text 34"/>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palabra que la distingue es «simultáneamente». Y no significa probar al azar.</a:t>
            </a:r>
            <a:endParaRPr lang="en-US" sz="13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PRUEBA POR SESIONES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La sesión le da estructura a la exploración</a:t>
            </a:r>
            <a:endParaRPr lang="en-US" sz="2800" dirty="0"/>
          </a:p>
        </p:txBody>
      </p:sp>
      <p:sp>
        <p:nvSpPr>
          <p:cNvPr id="10" name="Text 7"/>
          <p:cNvSpPr txBox="1"/>
          <p:nvPr/>
        </p:nvSpPr>
        <p:spPr>
          <a:xfrm>
            <a:off x="658368" y="1792224"/>
            <a:ext cx="2609012" cy="201168"/>
          </a:xfrm>
          <a:prstGeom prst="rect">
            <a:avLst/>
          </a:prstGeom>
          <a:noFill/>
          <a:ln/>
        </p:spPr>
        <p:txBody>
          <a:bodyPr wrap="square" lIns="0" tIns="0" rIns="0" bIns="0" rtlCol="0" anchor="t"/>
          <a:lstStyle/>
          <a:p>
            <a:pPr algn="l" indent="0" marL="0">
              <a:buNone/>
            </a:pPr>
            <a:r>
              <a:rPr lang="en-US" sz="940" b="1" spc="120" kern="0" dirty="0">
                <a:solidFill>
                  <a:srgbClr val="52606D"/>
                </a:solidFill>
                <a:latin typeface="Aptos" pitchFamily="34" charset="0"/>
                <a:ea typeface="Aptos" pitchFamily="34" charset="-122"/>
                <a:cs typeface="Aptos" pitchFamily="34" charset="-120"/>
              </a:rPr>
              <a:t>ANTES</a:t>
            </a:r>
            <a:endParaRPr lang="en-US" sz="940" dirty="0"/>
          </a:p>
        </p:txBody>
      </p:sp>
      <p:sp>
        <p:nvSpPr>
          <p:cNvPr id="11" name="Shape 8"/>
          <p:cNvSpPr/>
          <p:nvPr/>
        </p:nvSpPr>
        <p:spPr>
          <a:xfrm>
            <a:off x="658368" y="2066544"/>
            <a:ext cx="2517572" cy="0"/>
          </a:xfrm>
          <a:prstGeom prst="line">
            <a:avLst/>
          </a:prstGeom>
          <a:noFill/>
          <a:ln w="12700">
            <a:solidFill>
              <a:srgbClr val="102A43"/>
            </a:solidFill>
            <a:prstDash val="solid"/>
            <a:headEnd type="none"/>
            <a:tailEnd type="none"/>
          </a:ln>
        </p:spPr>
      </p:sp>
      <p:sp>
        <p:nvSpPr>
          <p:cNvPr id="12" name="Shape 9"/>
          <p:cNvSpPr/>
          <p:nvPr/>
        </p:nvSpPr>
        <p:spPr>
          <a:xfrm>
            <a:off x="658368" y="2212848"/>
            <a:ext cx="2609012" cy="2743200"/>
          </a:xfrm>
          <a:prstGeom prst="rect">
            <a:avLst/>
          </a:prstGeom>
          <a:solidFill>
            <a:srgbClr val="FFFFFF"/>
          </a:solidFill>
          <a:ln w="12700">
            <a:solidFill>
              <a:srgbClr val="FFFFFF"/>
            </a:solidFill>
            <a:prstDash val="solid"/>
          </a:ln>
        </p:spPr>
      </p:sp>
      <p:sp>
        <p:nvSpPr>
          <p:cNvPr id="13" name="Text 10"/>
          <p:cNvSpPr txBox="1"/>
          <p:nvPr/>
        </p:nvSpPr>
        <p:spPr>
          <a:xfrm>
            <a:off x="877824" y="2340864"/>
            <a:ext cx="548640" cy="457200"/>
          </a:xfrm>
          <a:prstGeom prst="rect">
            <a:avLst/>
          </a:prstGeom>
          <a:noFill/>
          <a:ln/>
        </p:spPr>
        <p:txBody>
          <a:bodyPr wrap="square" lIns="0" tIns="0" rIns="0" bIns="0" rtlCol="0" anchor="t"/>
          <a:lstStyle/>
          <a:p>
            <a:pPr algn="l" indent="0" marL="0">
              <a:buNone/>
            </a:pPr>
            <a:r>
              <a:rPr lang="en-US" sz="2600" b="1" dirty="0">
                <a:solidFill>
                  <a:srgbClr val="102A43"/>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877824" y="2852928"/>
            <a:ext cx="2206676" cy="274320"/>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Carta de sesión</a:t>
            </a:r>
            <a:endParaRPr lang="en-US" sz="1400" dirty="0"/>
          </a:p>
        </p:txBody>
      </p:sp>
      <p:sp>
        <p:nvSpPr>
          <p:cNvPr id="15" name="Text 12"/>
          <p:cNvSpPr txBox="1"/>
          <p:nvPr/>
        </p:nvSpPr>
        <p:spPr>
          <a:xfrm>
            <a:off x="877824" y="3145536"/>
            <a:ext cx="2206676" cy="219456"/>
          </a:xfrm>
          <a:prstGeom prst="rect">
            <a:avLst/>
          </a:prstGeom>
          <a:noFill/>
          <a:ln/>
        </p:spPr>
        <p:txBody>
          <a:bodyPr wrap="square" lIns="0" tIns="0" rIns="0" bIns="0" rtlCol="0" anchor="t"/>
          <a:lstStyle/>
          <a:p>
            <a:pPr algn="l" indent="0" marL="0">
              <a:buNone/>
            </a:pPr>
            <a:r>
              <a:rPr lang="en-US" sz="1040" i="1" dirty="0">
                <a:solidFill>
                  <a:srgbClr val="52606D"/>
                </a:solidFill>
                <a:latin typeface="Aptos" pitchFamily="34" charset="0"/>
                <a:ea typeface="Aptos" pitchFamily="34" charset="-122"/>
                <a:cs typeface="Aptos" pitchFamily="34" charset="-120"/>
              </a:rPr>
              <a:t>test charter</a:t>
            </a:r>
            <a:endParaRPr lang="en-US" sz="1040" dirty="0"/>
          </a:p>
        </p:txBody>
      </p:sp>
      <p:sp>
        <p:nvSpPr>
          <p:cNvPr id="16" name="Text 13"/>
          <p:cNvSpPr txBox="1"/>
          <p:nvPr/>
        </p:nvSpPr>
        <p:spPr>
          <a:xfrm>
            <a:off x="877824" y="3493008"/>
            <a:ext cx="2206676" cy="1371600"/>
          </a:xfrm>
          <a:prstGeom prst="rect">
            <a:avLst/>
          </a:prstGeom>
          <a:noFill/>
          <a:ln/>
        </p:spPr>
        <p:txBody>
          <a:bodyPr wrap="square" lIns="0" tIns="0" rIns="0" bIns="0" rtlCol="0" anchor="t"/>
          <a:lstStyle/>
          <a:p>
            <a:pPr algn="l" indent="0" marL="0">
              <a:lnSpc>
                <a:spcPct val="116000"/>
              </a:lnSpc>
              <a:buNone/>
            </a:pPr>
            <a:r>
              <a:rPr lang="en-US" sz="1220" dirty="0">
                <a:solidFill>
                  <a:srgbClr val="243B53"/>
                </a:solidFill>
                <a:latin typeface="Aptos" pitchFamily="34" charset="0"/>
                <a:ea typeface="Aptos" pitchFamily="34" charset="-122"/>
                <a:cs typeface="Aptos" pitchFamily="34" charset="-120"/>
              </a:rPr>
              <a:t>Una o dos líneas: qué se explora y para qué. Dirige la sesión sin convertirla en un guion.</a:t>
            </a:r>
            <a:endParaRPr lang="en-US" sz="1220" dirty="0"/>
          </a:p>
        </p:txBody>
      </p:sp>
      <p:sp>
        <p:nvSpPr>
          <p:cNvPr id="17" name="Text 14"/>
          <p:cNvSpPr txBox="1"/>
          <p:nvPr/>
        </p:nvSpPr>
        <p:spPr>
          <a:xfrm>
            <a:off x="3413684" y="1792224"/>
            <a:ext cx="2609012" cy="201168"/>
          </a:xfrm>
          <a:prstGeom prst="rect">
            <a:avLst/>
          </a:prstGeom>
          <a:noFill/>
          <a:ln/>
        </p:spPr>
        <p:txBody>
          <a:bodyPr wrap="square" lIns="0" tIns="0" rIns="0" bIns="0" rtlCol="0" anchor="t"/>
          <a:lstStyle/>
          <a:p>
            <a:pPr algn="l" indent="0" marL="0">
              <a:buNone/>
            </a:pPr>
            <a:r>
              <a:rPr lang="en-US" sz="940" b="1" spc="120" kern="0" dirty="0">
                <a:solidFill>
                  <a:srgbClr val="52606D"/>
                </a:solidFill>
                <a:latin typeface="Aptos" pitchFamily="34" charset="0"/>
                <a:ea typeface="Aptos" pitchFamily="34" charset="-122"/>
                <a:cs typeface="Aptos" pitchFamily="34" charset="-120"/>
              </a:rPr>
              <a:t>DURANTE</a:t>
            </a:r>
            <a:endParaRPr lang="en-US" sz="940" dirty="0"/>
          </a:p>
        </p:txBody>
      </p:sp>
      <p:sp>
        <p:nvSpPr>
          <p:cNvPr id="18" name="Shape 15"/>
          <p:cNvSpPr/>
          <p:nvPr/>
        </p:nvSpPr>
        <p:spPr>
          <a:xfrm>
            <a:off x="3413684" y="2066544"/>
            <a:ext cx="2517572" cy="0"/>
          </a:xfrm>
          <a:prstGeom prst="line">
            <a:avLst/>
          </a:prstGeom>
          <a:noFill/>
          <a:ln w="12700">
            <a:solidFill>
              <a:srgbClr val="8A6A12"/>
            </a:solidFill>
            <a:prstDash val="solid"/>
            <a:headEnd type="none"/>
            <a:tailEnd type="none"/>
          </a:ln>
        </p:spPr>
      </p:sp>
      <p:sp>
        <p:nvSpPr>
          <p:cNvPr id="19" name="Shape 16"/>
          <p:cNvSpPr/>
          <p:nvPr/>
        </p:nvSpPr>
        <p:spPr>
          <a:xfrm>
            <a:off x="3413684" y="2212848"/>
            <a:ext cx="2609012" cy="2743200"/>
          </a:xfrm>
          <a:prstGeom prst="rect">
            <a:avLst/>
          </a:prstGeom>
          <a:solidFill>
            <a:srgbClr val="FFFFFF"/>
          </a:solidFill>
          <a:ln w="12700">
            <a:solidFill>
              <a:srgbClr val="FFFFFF"/>
            </a:solidFill>
            <a:prstDash val="solid"/>
          </a:ln>
        </p:spPr>
      </p:sp>
      <p:sp>
        <p:nvSpPr>
          <p:cNvPr id="20" name="Text 17"/>
          <p:cNvSpPr txBox="1"/>
          <p:nvPr/>
        </p:nvSpPr>
        <p:spPr>
          <a:xfrm>
            <a:off x="3633140" y="2340864"/>
            <a:ext cx="548640"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3633140" y="2852928"/>
            <a:ext cx="2206676" cy="274320"/>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Tiempo acotado</a:t>
            </a:r>
            <a:endParaRPr lang="en-US" sz="1400" dirty="0"/>
          </a:p>
        </p:txBody>
      </p:sp>
      <p:sp>
        <p:nvSpPr>
          <p:cNvPr id="22" name="Text 19"/>
          <p:cNvSpPr txBox="1"/>
          <p:nvPr/>
        </p:nvSpPr>
        <p:spPr>
          <a:xfrm>
            <a:off x="3633140" y="3145536"/>
            <a:ext cx="2206676" cy="219456"/>
          </a:xfrm>
          <a:prstGeom prst="rect">
            <a:avLst/>
          </a:prstGeom>
          <a:noFill/>
          <a:ln/>
        </p:spPr>
        <p:txBody>
          <a:bodyPr wrap="square" lIns="0" tIns="0" rIns="0" bIns="0" rtlCol="0" anchor="t"/>
          <a:lstStyle/>
          <a:p>
            <a:pPr algn="l" indent="0" marL="0">
              <a:buNone/>
            </a:pPr>
            <a:r>
              <a:rPr lang="en-US" sz="1040" i="1" dirty="0">
                <a:solidFill>
                  <a:srgbClr val="52606D"/>
                </a:solidFill>
                <a:latin typeface="Aptos" pitchFamily="34" charset="0"/>
                <a:ea typeface="Aptos" pitchFamily="34" charset="-122"/>
                <a:cs typeface="Aptos" pitchFamily="34" charset="-120"/>
              </a:rPr>
              <a:t>time box</a:t>
            </a:r>
            <a:endParaRPr lang="en-US" sz="1040" dirty="0"/>
          </a:p>
        </p:txBody>
      </p:sp>
      <p:sp>
        <p:nvSpPr>
          <p:cNvPr id="23" name="Text 20"/>
          <p:cNvSpPr txBox="1"/>
          <p:nvPr/>
        </p:nvSpPr>
        <p:spPr>
          <a:xfrm>
            <a:off x="3633140" y="3493008"/>
            <a:ext cx="2206676" cy="1371600"/>
          </a:xfrm>
          <a:prstGeom prst="rect">
            <a:avLst/>
          </a:prstGeom>
          <a:noFill/>
          <a:ln/>
        </p:spPr>
        <p:txBody>
          <a:bodyPr wrap="square" lIns="0" tIns="0" rIns="0" bIns="0" rtlCol="0" anchor="t"/>
          <a:lstStyle/>
          <a:p>
            <a:pPr algn="l" indent="0" marL="0">
              <a:lnSpc>
                <a:spcPct val="116000"/>
              </a:lnSpc>
              <a:buNone/>
            </a:pPr>
            <a:r>
              <a:rPr lang="en-US" sz="1220" dirty="0">
                <a:solidFill>
                  <a:srgbClr val="243B53"/>
                </a:solidFill>
                <a:latin typeface="Aptos" pitchFamily="34" charset="0"/>
                <a:ea typeface="Aptos" pitchFamily="34" charset="-122"/>
                <a:cs typeface="Aptos" pitchFamily="34" charset="-120"/>
              </a:rPr>
              <a:t>Un límite fijado de antemano. Evita que la exploración se extienda sin fin y permite comparar sesiones.</a:t>
            </a:r>
            <a:endParaRPr lang="en-US" sz="1220" dirty="0"/>
          </a:p>
        </p:txBody>
      </p:sp>
      <p:sp>
        <p:nvSpPr>
          <p:cNvPr id="24" name="Text 21"/>
          <p:cNvSpPr txBox="1"/>
          <p:nvPr/>
        </p:nvSpPr>
        <p:spPr>
          <a:xfrm>
            <a:off x="6169000" y="1792224"/>
            <a:ext cx="2609012" cy="201168"/>
          </a:xfrm>
          <a:prstGeom prst="rect">
            <a:avLst/>
          </a:prstGeom>
          <a:noFill/>
          <a:ln/>
        </p:spPr>
        <p:txBody>
          <a:bodyPr wrap="square" lIns="0" tIns="0" rIns="0" bIns="0" rtlCol="0" anchor="t"/>
          <a:lstStyle/>
          <a:p>
            <a:pPr algn="l" indent="0" marL="0">
              <a:buNone/>
            </a:pPr>
            <a:r>
              <a:rPr lang="en-US" sz="940" b="1" spc="120" kern="0" dirty="0">
                <a:solidFill>
                  <a:srgbClr val="52606D"/>
                </a:solidFill>
                <a:latin typeface="Aptos" pitchFamily="34" charset="0"/>
                <a:ea typeface="Aptos" pitchFamily="34" charset="-122"/>
                <a:cs typeface="Aptos" pitchFamily="34" charset="-120"/>
              </a:rPr>
              <a:t>DURANTE</a:t>
            </a:r>
            <a:endParaRPr lang="en-US" sz="940" dirty="0"/>
          </a:p>
        </p:txBody>
      </p:sp>
      <p:sp>
        <p:nvSpPr>
          <p:cNvPr id="25" name="Shape 22"/>
          <p:cNvSpPr/>
          <p:nvPr/>
        </p:nvSpPr>
        <p:spPr>
          <a:xfrm>
            <a:off x="6169000" y="2066544"/>
            <a:ext cx="2517572" cy="0"/>
          </a:xfrm>
          <a:prstGeom prst="line">
            <a:avLst/>
          </a:prstGeom>
          <a:noFill/>
          <a:ln w="12700">
            <a:solidFill>
              <a:srgbClr val="B3181E"/>
            </a:solidFill>
            <a:prstDash val="solid"/>
            <a:headEnd type="none"/>
            <a:tailEnd type="none"/>
          </a:ln>
        </p:spPr>
      </p:sp>
      <p:sp>
        <p:nvSpPr>
          <p:cNvPr id="26" name="Shape 23"/>
          <p:cNvSpPr/>
          <p:nvPr/>
        </p:nvSpPr>
        <p:spPr>
          <a:xfrm>
            <a:off x="6169000" y="2212848"/>
            <a:ext cx="2609012" cy="2743200"/>
          </a:xfrm>
          <a:prstGeom prst="rect">
            <a:avLst/>
          </a:prstGeom>
          <a:solidFill>
            <a:srgbClr val="F2E7D9"/>
          </a:solidFill>
          <a:ln w="12700">
            <a:solidFill>
              <a:srgbClr val="F2E7D9"/>
            </a:solidFill>
            <a:prstDash val="solid"/>
          </a:ln>
        </p:spPr>
      </p:sp>
      <p:sp>
        <p:nvSpPr>
          <p:cNvPr id="27" name="Text 24"/>
          <p:cNvSpPr txBox="1"/>
          <p:nvPr/>
        </p:nvSpPr>
        <p:spPr>
          <a:xfrm>
            <a:off x="6388456" y="2340864"/>
            <a:ext cx="548640"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6388456" y="2852928"/>
            <a:ext cx="2206676" cy="274320"/>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Registro de sesión</a:t>
            </a:r>
            <a:endParaRPr lang="en-US" sz="1400" dirty="0"/>
          </a:p>
        </p:txBody>
      </p:sp>
      <p:sp>
        <p:nvSpPr>
          <p:cNvPr id="29" name="Text 26"/>
          <p:cNvSpPr txBox="1"/>
          <p:nvPr/>
        </p:nvSpPr>
        <p:spPr>
          <a:xfrm>
            <a:off x="6388456" y="3145536"/>
            <a:ext cx="2206676" cy="219456"/>
          </a:xfrm>
          <a:prstGeom prst="rect">
            <a:avLst/>
          </a:prstGeom>
          <a:noFill/>
          <a:ln/>
        </p:spPr>
        <p:txBody>
          <a:bodyPr wrap="square" lIns="0" tIns="0" rIns="0" bIns="0" rtlCol="0" anchor="t"/>
          <a:lstStyle/>
          <a:p>
            <a:pPr algn="l" indent="0" marL="0">
              <a:buNone/>
            </a:pPr>
            <a:r>
              <a:rPr lang="en-US" sz="1040" i="1" dirty="0">
                <a:solidFill>
                  <a:srgbClr val="52606D"/>
                </a:solidFill>
                <a:latin typeface="Aptos" pitchFamily="34" charset="0"/>
                <a:ea typeface="Aptos" pitchFamily="34" charset="-122"/>
                <a:cs typeface="Aptos" pitchFamily="34" charset="-120"/>
              </a:rPr>
              <a:t>session sheet</a:t>
            </a:r>
            <a:endParaRPr lang="en-US" sz="1040" dirty="0"/>
          </a:p>
        </p:txBody>
      </p:sp>
      <p:sp>
        <p:nvSpPr>
          <p:cNvPr id="30" name="Text 27"/>
          <p:cNvSpPr txBox="1"/>
          <p:nvPr/>
        </p:nvSpPr>
        <p:spPr>
          <a:xfrm>
            <a:off x="6388456" y="3493008"/>
            <a:ext cx="2206676" cy="1371600"/>
          </a:xfrm>
          <a:prstGeom prst="rect">
            <a:avLst/>
          </a:prstGeom>
          <a:noFill/>
          <a:ln/>
        </p:spPr>
        <p:txBody>
          <a:bodyPr wrap="square" lIns="0" tIns="0" rIns="0" bIns="0" rtlCol="0" anchor="t"/>
          <a:lstStyle/>
          <a:p>
            <a:pPr algn="l" indent="0" marL="0">
              <a:lnSpc>
                <a:spcPct val="116000"/>
              </a:lnSpc>
              <a:buNone/>
            </a:pPr>
            <a:r>
              <a:rPr lang="en-US" sz="1220" dirty="0">
                <a:solidFill>
                  <a:srgbClr val="243B53"/>
                </a:solidFill>
                <a:latin typeface="Aptos" pitchFamily="34" charset="0"/>
                <a:ea typeface="Aptos" pitchFamily="34" charset="-122"/>
                <a:cs typeface="Aptos" pitchFamily="34" charset="-120"/>
              </a:rPr>
              <a:t>Lo que se probó, lo que apareció en pantalla y lo que se encontró. Vuelve auditable la exploración.</a:t>
            </a:r>
            <a:endParaRPr lang="en-US" sz="1220" dirty="0"/>
          </a:p>
        </p:txBody>
      </p:sp>
      <p:sp>
        <p:nvSpPr>
          <p:cNvPr id="31" name="Text 28"/>
          <p:cNvSpPr txBox="1"/>
          <p:nvPr/>
        </p:nvSpPr>
        <p:spPr>
          <a:xfrm>
            <a:off x="8924315" y="1792224"/>
            <a:ext cx="2609012" cy="201168"/>
          </a:xfrm>
          <a:prstGeom prst="rect">
            <a:avLst/>
          </a:prstGeom>
          <a:noFill/>
          <a:ln/>
        </p:spPr>
        <p:txBody>
          <a:bodyPr wrap="square" lIns="0" tIns="0" rIns="0" bIns="0" rtlCol="0" anchor="t"/>
          <a:lstStyle/>
          <a:p>
            <a:pPr algn="l" indent="0" marL="0">
              <a:buNone/>
            </a:pPr>
            <a:r>
              <a:rPr lang="en-US" sz="940" b="1" spc="120" kern="0" dirty="0">
                <a:solidFill>
                  <a:srgbClr val="52606D"/>
                </a:solidFill>
                <a:latin typeface="Aptos" pitchFamily="34" charset="0"/>
                <a:ea typeface="Aptos" pitchFamily="34" charset="-122"/>
                <a:cs typeface="Aptos" pitchFamily="34" charset="-120"/>
              </a:rPr>
              <a:t>DESPUÉS</a:t>
            </a:r>
            <a:endParaRPr lang="en-US" sz="940" dirty="0"/>
          </a:p>
        </p:txBody>
      </p:sp>
      <p:sp>
        <p:nvSpPr>
          <p:cNvPr id="32" name="Shape 29"/>
          <p:cNvSpPr/>
          <p:nvPr/>
        </p:nvSpPr>
        <p:spPr>
          <a:xfrm>
            <a:off x="8924315" y="2066544"/>
            <a:ext cx="2517572" cy="0"/>
          </a:xfrm>
          <a:prstGeom prst="line">
            <a:avLst/>
          </a:prstGeom>
          <a:noFill/>
          <a:ln w="12700">
            <a:solidFill>
              <a:srgbClr val="2E7D4F"/>
            </a:solidFill>
            <a:prstDash val="solid"/>
            <a:headEnd type="none"/>
            <a:tailEnd type="none"/>
          </a:ln>
        </p:spPr>
      </p:sp>
      <p:sp>
        <p:nvSpPr>
          <p:cNvPr id="33" name="Shape 30"/>
          <p:cNvSpPr/>
          <p:nvPr/>
        </p:nvSpPr>
        <p:spPr>
          <a:xfrm>
            <a:off x="8924315" y="2212848"/>
            <a:ext cx="2609012" cy="2743200"/>
          </a:xfrm>
          <a:prstGeom prst="rect">
            <a:avLst/>
          </a:prstGeom>
          <a:solidFill>
            <a:srgbClr val="FFFFFF"/>
          </a:solidFill>
          <a:ln w="12700">
            <a:solidFill>
              <a:srgbClr val="FFFFFF"/>
            </a:solidFill>
            <a:prstDash val="solid"/>
          </a:ln>
        </p:spPr>
      </p:sp>
      <p:sp>
        <p:nvSpPr>
          <p:cNvPr id="34" name="Text 31"/>
          <p:cNvSpPr txBox="1"/>
          <p:nvPr/>
        </p:nvSpPr>
        <p:spPr>
          <a:xfrm>
            <a:off x="9143771" y="2340864"/>
            <a:ext cx="548640" cy="457200"/>
          </a:xfrm>
          <a:prstGeom prst="rect">
            <a:avLst/>
          </a:prstGeom>
          <a:noFill/>
          <a:ln/>
        </p:spPr>
        <p:txBody>
          <a:bodyPr wrap="square" lIns="0" tIns="0" rIns="0" bIns="0" rtlCol="0" anchor="t"/>
          <a:lstStyle/>
          <a:p>
            <a:pPr algn="l" indent="0" marL="0">
              <a:buNone/>
            </a:pPr>
            <a:r>
              <a:rPr lang="en-US" sz="2600" b="1" dirty="0">
                <a:solidFill>
                  <a:srgbClr val="2E7D4F"/>
                </a:solidFill>
                <a:latin typeface="Aptos Display" pitchFamily="34" charset="0"/>
                <a:ea typeface="Aptos Display" pitchFamily="34" charset="-122"/>
                <a:cs typeface="Aptos Display" pitchFamily="34" charset="-120"/>
              </a:rPr>
              <a:t>4</a:t>
            </a:r>
            <a:endParaRPr lang="en-US" sz="2600" dirty="0"/>
          </a:p>
        </p:txBody>
      </p:sp>
      <p:sp>
        <p:nvSpPr>
          <p:cNvPr id="35" name="Text 32"/>
          <p:cNvSpPr txBox="1"/>
          <p:nvPr/>
        </p:nvSpPr>
        <p:spPr>
          <a:xfrm>
            <a:off x="9143771" y="2852928"/>
            <a:ext cx="2206676" cy="274320"/>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Reunión posterior</a:t>
            </a:r>
            <a:endParaRPr lang="en-US" sz="1400" dirty="0"/>
          </a:p>
        </p:txBody>
      </p:sp>
      <p:sp>
        <p:nvSpPr>
          <p:cNvPr id="36" name="Text 33"/>
          <p:cNvSpPr txBox="1"/>
          <p:nvPr/>
        </p:nvSpPr>
        <p:spPr>
          <a:xfrm>
            <a:off x="9143771" y="3145536"/>
            <a:ext cx="2206676" cy="219456"/>
          </a:xfrm>
          <a:prstGeom prst="rect">
            <a:avLst/>
          </a:prstGeom>
          <a:noFill/>
          <a:ln/>
        </p:spPr>
        <p:txBody>
          <a:bodyPr wrap="square" lIns="0" tIns="0" rIns="0" bIns="0" rtlCol="0" anchor="t"/>
          <a:lstStyle/>
          <a:p>
            <a:pPr algn="l" indent="0" marL="0">
              <a:buNone/>
            </a:pPr>
            <a:r>
              <a:rPr lang="en-US" sz="1040" i="1" dirty="0">
                <a:solidFill>
                  <a:srgbClr val="52606D"/>
                </a:solidFill>
                <a:latin typeface="Aptos" pitchFamily="34" charset="0"/>
                <a:ea typeface="Aptos" pitchFamily="34" charset="-122"/>
                <a:cs typeface="Aptos" pitchFamily="34" charset="-120"/>
              </a:rPr>
              <a:t>debriefing</a:t>
            </a:r>
            <a:endParaRPr lang="en-US" sz="1040" dirty="0"/>
          </a:p>
        </p:txBody>
      </p:sp>
      <p:sp>
        <p:nvSpPr>
          <p:cNvPr id="37" name="Text 34"/>
          <p:cNvSpPr txBox="1"/>
          <p:nvPr/>
        </p:nvSpPr>
        <p:spPr>
          <a:xfrm>
            <a:off x="9143771" y="3493008"/>
            <a:ext cx="2206676" cy="1371600"/>
          </a:xfrm>
          <a:prstGeom prst="rect">
            <a:avLst/>
          </a:prstGeom>
          <a:noFill/>
          <a:ln/>
        </p:spPr>
        <p:txBody>
          <a:bodyPr wrap="square" lIns="0" tIns="0" rIns="0" bIns="0" rtlCol="0" anchor="t"/>
          <a:lstStyle/>
          <a:p>
            <a:pPr algn="l" indent="0" marL="0">
              <a:lnSpc>
                <a:spcPct val="116000"/>
              </a:lnSpc>
              <a:buNone/>
            </a:pPr>
            <a:r>
              <a:rPr lang="en-US" sz="1220" dirty="0">
                <a:solidFill>
                  <a:srgbClr val="243B53"/>
                </a:solidFill>
                <a:latin typeface="Aptos" pitchFamily="34" charset="0"/>
                <a:ea typeface="Aptos" pitchFamily="34" charset="-122"/>
                <a:cs typeface="Aptos" pitchFamily="34" charset="-120"/>
              </a:rPr>
              <a:t>La conversación con quien tiene interés en el resultado, donde se decide qué hallazgo es un defecto.</a:t>
            </a:r>
            <a:endParaRPr lang="en-US" sz="1220" dirty="0"/>
          </a:p>
        </p:txBody>
      </p:sp>
      <p:sp>
        <p:nvSpPr>
          <p:cNvPr id="38" name="Shape 35"/>
          <p:cNvSpPr/>
          <p:nvPr/>
        </p:nvSpPr>
        <p:spPr>
          <a:xfrm>
            <a:off x="658368" y="5138928"/>
            <a:ext cx="45720" cy="182880"/>
          </a:xfrm>
          <a:prstGeom prst="rect">
            <a:avLst/>
          </a:prstGeom>
          <a:solidFill>
            <a:srgbClr val="8A6A12"/>
          </a:solidFill>
          <a:ln w="12700">
            <a:solidFill>
              <a:srgbClr val="8A6A12"/>
            </a:solidFill>
            <a:prstDash val="solid"/>
          </a:ln>
        </p:spPr>
      </p:sp>
      <p:sp>
        <p:nvSpPr>
          <p:cNvPr id="39" name="Text 36"/>
          <p:cNvSpPr txBox="1"/>
          <p:nvPr/>
        </p:nvSpPr>
        <p:spPr>
          <a:xfrm>
            <a:off x="804672" y="5129784"/>
            <a:ext cx="10692079" cy="201168"/>
          </a:xfrm>
          <a:prstGeom prst="rect">
            <a:avLst/>
          </a:prstGeom>
          <a:noFill/>
          <a:ln/>
        </p:spPr>
        <p:txBody>
          <a:bodyPr wrap="square" lIns="0" tIns="0" rIns="0" bIns="0" rtlCol="0" anchor="t"/>
          <a:lstStyle/>
          <a:p>
            <a:pPr algn="l" indent="0" marL="0">
              <a:buNone/>
            </a:pPr>
            <a:r>
              <a:rPr lang="en-US" sz="880" i="1" dirty="0">
                <a:solidFill>
                  <a:srgbClr val="52606D"/>
                </a:solidFill>
                <a:latin typeface="Aptos" pitchFamily="34" charset="0"/>
                <a:ea typeface="Aptos" pitchFamily="34" charset="-122"/>
                <a:cs typeface="Aptos" pitchFamily="34" charset="-120"/>
              </a:rPr>
              <a:t>ISTQB CTFL v4.0.1, 4.4.2. Según el sitio de James Bach, el método lo desarrollaron él y su hermano Jonathan en Hewlett-Packard.</a:t>
            </a:r>
            <a:endParaRPr lang="en-US" sz="880" dirty="0"/>
          </a:p>
        </p:txBody>
      </p:sp>
      <p:sp>
        <p:nvSpPr>
          <p:cNvPr id="40" name="Shape 37"/>
          <p:cNvSpPr/>
          <p:nvPr/>
        </p:nvSpPr>
        <p:spPr>
          <a:xfrm>
            <a:off x="658368" y="5650992"/>
            <a:ext cx="10874959" cy="548640"/>
          </a:xfrm>
          <a:prstGeom prst="rect">
            <a:avLst/>
          </a:prstGeom>
          <a:solidFill>
            <a:srgbClr val="102A43"/>
          </a:solidFill>
          <a:ln w="12700">
            <a:solidFill>
              <a:srgbClr val="102A43"/>
            </a:solidFill>
            <a:prstDash val="solid"/>
          </a:ln>
        </p:spPr>
      </p:sp>
      <p:sp>
        <p:nvSpPr>
          <p:cNvPr id="41" name="Text 3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registro es lo que vuelve auditable una exploración.</a:t>
            </a:r>
            <a:endParaRPr lang="en-US" sz="13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DOS FUENTES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ISTQB dice técnica. ISO dice práctica.</a:t>
            </a:r>
            <a:endParaRPr lang="en-US" sz="3000" dirty="0"/>
          </a:p>
        </p:txBody>
      </p:sp>
      <p:sp>
        <p:nvSpPr>
          <p:cNvPr id="10" name="Shape 7"/>
          <p:cNvSpPr/>
          <p:nvPr/>
        </p:nvSpPr>
        <p:spPr>
          <a:xfrm>
            <a:off x="658368" y="1755648"/>
            <a:ext cx="5394960" cy="877824"/>
          </a:xfrm>
          <a:prstGeom prst="rect">
            <a:avLst/>
          </a:prstGeom>
          <a:solidFill>
            <a:srgbClr val="FFFFFF"/>
          </a:solidFill>
          <a:ln w="12700">
            <a:solidFill>
              <a:srgbClr val="FFFFFF"/>
            </a:solidFill>
            <a:prstDash val="solid"/>
          </a:ln>
        </p:spPr>
      </p:sp>
      <p:sp>
        <p:nvSpPr>
          <p:cNvPr id="11" name="Shape 8"/>
          <p:cNvSpPr/>
          <p:nvPr/>
        </p:nvSpPr>
        <p:spPr>
          <a:xfrm>
            <a:off x="658368" y="1755648"/>
            <a:ext cx="54864" cy="877824"/>
          </a:xfrm>
          <a:prstGeom prst="rect">
            <a:avLst/>
          </a:prstGeom>
          <a:solidFill>
            <a:srgbClr val="102A43"/>
          </a:solidFill>
          <a:ln w="12700">
            <a:solidFill>
              <a:srgbClr val="102A43"/>
            </a:solidFill>
            <a:prstDash val="solid"/>
          </a:ln>
        </p:spPr>
      </p:sp>
      <p:sp>
        <p:nvSpPr>
          <p:cNvPr id="12" name="Text 9"/>
          <p:cNvSpPr txBox="1"/>
          <p:nvPr/>
        </p:nvSpPr>
        <p:spPr>
          <a:xfrm>
            <a:off x="896112" y="1883664"/>
            <a:ext cx="493776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ISTQB · PROGRAMA CTFL, SECCIÓN 4.4</a:t>
            </a:r>
            <a:endParaRPr lang="en-US" sz="960" dirty="0"/>
          </a:p>
        </p:txBody>
      </p:sp>
      <p:sp>
        <p:nvSpPr>
          <p:cNvPr id="13" name="Text 10"/>
          <p:cNvSpPr txBox="1"/>
          <p:nvPr/>
        </p:nvSpPr>
        <p:spPr>
          <a:xfrm>
            <a:off x="896112" y="2139696"/>
            <a:ext cx="4937760" cy="402336"/>
          </a:xfrm>
          <a:prstGeom prst="rect">
            <a:avLst/>
          </a:prstGeom>
          <a:noFill/>
          <a:ln/>
        </p:spPr>
        <p:txBody>
          <a:bodyPr wrap="square" lIns="0" tIns="0" rIns="0" bIns="0" rtlCol="0" anchor="t"/>
          <a:lstStyle/>
          <a:p>
            <a:pPr algn="l" indent="0" marL="0">
              <a:buNone/>
            </a:pPr>
            <a:r>
              <a:rPr lang="en-US" sz="1200" dirty="0">
                <a:solidFill>
                  <a:srgbClr val="243B53"/>
                </a:solidFill>
                <a:latin typeface="Aptos" pitchFamily="34" charset="0"/>
                <a:ea typeface="Aptos" pitchFamily="34" charset="-122"/>
                <a:cs typeface="Aptos" pitchFamily="34" charset="-120"/>
              </a:rPr>
              <a:t>La ubica entre las técnicas de prueba basadas en la experiencia.</a:t>
            </a:r>
            <a:endParaRPr lang="en-US" sz="1200" dirty="0"/>
          </a:p>
        </p:txBody>
      </p:sp>
      <p:sp>
        <p:nvSpPr>
          <p:cNvPr id="14" name="Shape 11"/>
          <p:cNvSpPr/>
          <p:nvPr/>
        </p:nvSpPr>
        <p:spPr>
          <a:xfrm>
            <a:off x="658368" y="2761488"/>
            <a:ext cx="5394960" cy="1536192"/>
          </a:xfrm>
          <a:prstGeom prst="rect">
            <a:avLst/>
          </a:prstGeom>
          <a:solidFill>
            <a:srgbClr val="EDE6DA"/>
          </a:solidFill>
          <a:ln w="12700">
            <a:solidFill>
              <a:srgbClr val="EDE6DA"/>
            </a:solidFill>
            <a:prstDash val="solid"/>
          </a:ln>
        </p:spPr>
      </p:sp>
      <p:sp>
        <p:nvSpPr>
          <p:cNvPr id="15" name="Shape 12"/>
          <p:cNvSpPr/>
          <p:nvPr/>
        </p:nvSpPr>
        <p:spPr>
          <a:xfrm>
            <a:off x="658368" y="2761488"/>
            <a:ext cx="54864" cy="1536192"/>
          </a:xfrm>
          <a:prstGeom prst="rect">
            <a:avLst/>
          </a:prstGeom>
          <a:solidFill>
            <a:srgbClr val="B3181E"/>
          </a:solidFill>
          <a:ln w="12700">
            <a:solidFill>
              <a:srgbClr val="B3181E"/>
            </a:solidFill>
            <a:prstDash val="solid"/>
          </a:ln>
        </p:spPr>
      </p:sp>
      <p:sp>
        <p:nvSpPr>
          <p:cNvPr id="16" name="Text 13"/>
          <p:cNvSpPr txBox="1"/>
          <p:nvPr/>
        </p:nvSpPr>
        <p:spPr>
          <a:xfrm>
            <a:off x="914400" y="2889504"/>
            <a:ext cx="4882896" cy="1097280"/>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«Las prácticas de prueba basadas en la experiencia, como la prueba exploratoria, no se definen en este documento, porque este documento solo describe técnicas para diseñar casos de prueba.»</a:t>
            </a:r>
            <a:endParaRPr lang="en-US" sz="1180" dirty="0"/>
          </a:p>
        </p:txBody>
      </p:sp>
      <p:sp>
        <p:nvSpPr>
          <p:cNvPr id="17" name="Text 14"/>
          <p:cNvSpPr txBox="1"/>
          <p:nvPr/>
        </p:nvSpPr>
        <p:spPr>
          <a:xfrm>
            <a:off x="914400" y="4023360"/>
            <a:ext cx="4882896" cy="182880"/>
          </a:xfrm>
          <a:prstGeom prst="rect">
            <a:avLst/>
          </a:prstGeom>
          <a:noFill/>
          <a:ln/>
        </p:spPr>
        <p:txBody>
          <a:bodyPr wrap="square" lIns="0" tIns="0" rIns="0" bIns="0" rtlCol="0" anchor="t"/>
          <a:lstStyle/>
          <a:p>
            <a:pPr algn="l" indent="0" marL="0">
              <a:buNone/>
            </a:pPr>
            <a:r>
              <a:rPr lang="en-US" sz="900" b="1" dirty="0">
                <a:solidFill>
                  <a:srgbClr val="B3181E"/>
                </a:solidFill>
                <a:latin typeface="Aptos" pitchFamily="34" charset="0"/>
                <a:ea typeface="Aptos" pitchFamily="34" charset="-122"/>
                <a:cs typeface="Aptos" pitchFamily="34" charset="-120"/>
              </a:rPr>
              <a:t>ISO/IEC/IEEE 29119-4:2021, introducción · traducción del original en inglés</a:t>
            </a:r>
            <a:endParaRPr lang="en-US" sz="900" dirty="0"/>
          </a:p>
        </p:txBody>
      </p:sp>
      <p:sp>
        <p:nvSpPr>
          <p:cNvPr id="18" name="Text 15"/>
          <p:cNvSpPr txBox="1"/>
          <p:nvPr/>
        </p:nvSpPr>
        <p:spPr>
          <a:xfrm>
            <a:off x="658368" y="4425696"/>
            <a:ext cx="5394960" cy="566928"/>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Su única técnica basada en la experiencia, en la cláusula 5.4, es la adivinación de errores: anticipar por experiencia dónde suelen equivocarse los programas.</a:t>
            </a:r>
            <a:endParaRPr lang="en-US" sz="1060" dirty="0"/>
          </a:p>
        </p:txBody>
      </p:sp>
      <p:sp>
        <p:nvSpPr>
          <p:cNvPr id="19" name="Shape 16"/>
          <p:cNvSpPr/>
          <p:nvPr/>
        </p:nvSpPr>
        <p:spPr>
          <a:xfrm>
            <a:off x="6382512" y="1755648"/>
            <a:ext cx="5150815" cy="3566160"/>
          </a:xfrm>
          <a:prstGeom prst="rect">
            <a:avLst/>
          </a:prstGeom>
          <a:solidFill>
            <a:srgbClr val="F2E7D9"/>
          </a:solidFill>
          <a:ln w="12700">
            <a:solidFill>
              <a:srgbClr val="8A6A12"/>
            </a:solidFill>
            <a:prstDash val="solid"/>
          </a:ln>
        </p:spPr>
      </p:sp>
      <p:sp>
        <p:nvSpPr>
          <p:cNvPr id="20" name="Text 17"/>
          <p:cNvSpPr txBox="1"/>
          <p:nvPr/>
        </p:nvSpPr>
        <p:spPr>
          <a:xfrm>
            <a:off x="6638544" y="1901952"/>
            <a:ext cx="4693615"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PRÁCTICA · ORGANIZA EL TRABAJO</a:t>
            </a:r>
            <a:endParaRPr lang="en-US" sz="960" dirty="0"/>
          </a:p>
        </p:txBody>
      </p:sp>
      <p:sp>
        <p:nvSpPr>
          <p:cNvPr id="21" name="Text 18"/>
          <p:cNvSpPr txBox="1"/>
          <p:nvPr/>
        </p:nvSpPr>
        <p:spPr>
          <a:xfrm>
            <a:off x="6638544" y="2157984"/>
            <a:ext cx="4693615" cy="329184"/>
          </a:xfrm>
          <a:prstGeom prst="rect">
            <a:avLst/>
          </a:prstGeom>
          <a:noFill/>
          <a:ln/>
        </p:spPr>
        <p:txBody>
          <a:bodyPr wrap="square" lIns="0" tIns="0" rIns="0" bIns="0" rtlCol="0" anchor="t"/>
          <a:lstStyle/>
          <a:p>
            <a:pPr algn="l" indent="0" marL="0">
              <a:buNone/>
            </a:pPr>
            <a:r>
              <a:rPr lang="en-US" sz="1700" b="1" dirty="0">
                <a:solidFill>
                  <a:srgbClr val="243B53"/>
                </a:solidFill>
                <a:latin typeface="Aptos Display" pitchFamily="34" charset="0"/>
                <a:ea typeface="Aptos Display" pitchFamily="34" charset="-122"/>
                <a:cs typeface="Aptos Display" pitchFamily="34" charset="-120"/>
              </a:rPr>
              <a:t>La sesión exploratoria</a:t>
            </a:r>
            <a:endParaRPr lang="en-US" sz="1700" dirty="0"/>
          </a:p>
        </p:txBody>
      </p:sp>
      <p:sp>
        <p:nvSpPr>
          <p:cNvPr id="22" name="Shape 19"/>
          <p:cNvSpPr/>
          <p:nvPr/>
        </p:nvSpPr>
        <p:spPr>
          <a:xfrm>
            <a:off x="6638544" y="2670048"/>
            <a:ext cx="4638751" cy="731520"/>
          </a:xfrm>
          <a:prstGeom prst="rect">
            <a:avLst/>
          </a:prstGeom>
          <a:solidFill>
            <a:srgbClr val="FFFFFF"/>
          </a:solidFill>
          <a:ln w="12700">
            <a:solidFill>
              <a:srgbClr val="FFFFFF"/>
            </a:solidFill>
            <a:prstDash val="solid"/>
          </a:ln>
        </p:spPr>
      </p:sp>
      <p:sp>
        <p:nvSpPr>
          <p:cNvPr id="23" name="Shape 20"/>
          <p:cNvSpPr/>
          <p:nvPr/>
        </p:nvSpPr>
        <p:spPr>
          <a:xfrm>
            <a:off x="6638544" y="2670048"/>
            <a:ext cx="54864" cy="731520"/>
          </a:xfrm>
          <a:prstGeom prst="rect">
            <a:avLst/>
          </a:prstGeom>
          <a:solidFill>
            <a:srgbClr val="102A43"/>
          </a:solidFill>
          <a:ln w="12700">
            <a:solidFill>
              <a:srgbClr val="102A43"/>
            </a:solidFill>
            <a:prstDash val="solid"/>
          </a:ln>
        </p:spPr>
      </p:sp>
      <p:sp>
        <p:nvSpPr>
          <p:cNvPr id="24" name="Text 21"/>
          <p:cNvSpPr txBox="1"/>
          <p:nvPr/>
        </p:nvSpPr>
        <p:spPr>
          <a:xfrm>
            <a:off x="6839712" y="2779776"/>
            <a:ext cx="4327855"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TÉCNICA · VALORES LÍMITE</a:t>
            </a:r>
            <a:endParaRPr lang="en-US" sz="960" dirty="0"/>
          </a:p>
        </p:txBody>
      </p:sp>
      <p:sp>
        <p:nvSpPr>
          <p:cNvPr id="25" name="Text 22"/>
          <p:cNvSpPr txBox="1"/>
          <p:nvPr/>
        </p:nvSpPr>
        <p:spPr>
          <a:xfrm>
            <a:off x="6839712" y="3017520"/>
            <a:ext cx="4327855" cy="329184"/>
          </a:xfrm>
          <a:prstGeom prst="rect">
            <a:avLst/>
          </a:prstGeom>
          <a:noFill/>
          <a:ln/>
        </p:spPr>
        <p:txBody>
          <a:bodyPr wrap="square" lIns="0" tIns="0" rIns="0" bIns="0" rtlCol="0" anchor="t"/>
          <a:lstStyle/>
          <a:p>
            <a:pPr algn="l" indent="0" marL="0">
              <a:buNone/>
            </a:pPr>
            <a:r>
              <a:rPr lang="en-US" sz="1080" dirty="0">
                <a:solidFill>
                  <a:srgbClr val="243B53"/>
                </a:solidFill>
                <a:latin typeface="Aptos" pitchFamily="34" charset="0"/>
                <a:ea typeface="Aptos" pitchFamily="34" charset="-122"/>
                <a:cs typeface="Aptos" pitchFamily="34" charset="-120"/>
              </a:rPr>
              <a:t>Probar justo en el borde de lo permitido: 30 y 31 personas.</a:t>
            </a:r>
            <a:endParaRPr lang="en-US" sz="1080" dirty="0"/>
          </a:p>
        </p:txBody>
      </p:sp>
      <p:sp>
        <p:nvSpPr>
          <p:cNvPr id="26" name="Shape 23"/>
          <p:cNvSpPr/>
          <p:nvPr/>
        </p:nvSpPr>
        <p:spPr>
          <a:xfrm>
            <a:off x="6638544" y="3529584"/>
            <a:ext cx="4638751" cy="731520"/>
          </a:xfrm>
          <a:prstGeom prst="rect">
            <a:avLst/>
          </a:prstGeom>
          <a:solidFill>
            <a:srgbClr val="FFFFFF"/>
          </a:solidFill>
          <a:ln w="12700">
            <a:solidFill>
              <a:srgbClr val="FFFFFF"/>
            </a:solidFill>
            <a:prstDash val="solid"/>
          </a:ln>
        </p:spPr>
      </p:sp>
      <p:sp>
        <p:nvSpPr>
          <p:cNvPr id="27" name="Shape 24"/>
          <p:cNvSpPr/>
          <p:nvPr/>
        </p:nvSpPr>
        <p:spPr>
          <a:xfrm>
            <a:off x="6638544" y="3529584"/>
            <a:ext cx="54864" cy="731520"/>
          </a:xfrm>
          <a:prstGeom prst="rect">
            <a:avLst/>
          </a:prstGeom>
          <a:solidFill>
            <a:srgbClr val="102A43"/>
          </a:solidFill>
          <a:ln w="12700">
            <a:solidFill>
              <a:srgbClr val="102A43"/>
            </a:solidFill>
            <a:prstDash val="solid"/>
          </a:ln>
        </p:spPr>
      </p:sp>
      <p:sp>
        <p:nvSpPr>
          <p:cNvPr id="28" name="Text 25"/>
          <p:cNvSpPr txBox="1"/>
          <p:nvPr/>
        </p:nvSpPr>
        <p:spPr>
          <a:xfrm>
            <a:off x="6839712" y="3639312"/>
            <a:ext cx="4327855"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TÉCNICA · PARTICIÓN DE EQUIVALENCIA</a:t>
            </a:r>
            <a:endParaRPr lang="en-US" sz="960" dirty="0"/>
          </a:p>
        </p:txBody>
      </p:sp>
      <p:sp>
        <p:nvSpPr>
          <p:cNvPr id="29" name="Text 26"/>
          <p:cNvSpPr txBox="1"/>
          <p:nvPr/>
        </p:nvSpPr>
        <p:spPr>
          <a:xfrm>
            <a:off x="6839712" y="3877056"/>
            <a:ext cx="4327855" cy="329184"/>
          </a:xfrm>
          <a:prstGeom prst="rect">
            <a:avLst/>
          </a:prstGeom>
          <a:noFill/>
          <a:ln/>
        </p:spPr>
        <p:txBody>
          <a:bodyPr wrap="square" lIns="0" tIns="0" rIns="0" bIns="0" rtlCol="0" anchor="t"/>
          <a:lstStyle/>
          <a:p>
            <a:pPr algn="l" indent="0" marL="0">
              <a:buNone/>
            </a:pPr>
            <a:r>
              <a:rPr lang="en-US" sz="1080" dirty="0">
                <a:solidFill>
                  <a:srgbClr val="243B53"/>
                </a:solidFill>
                <a:latin typeface="Aptos" pitchFamily="34" charset="0"/>
                <a:ea typeface="Aptos" pitchFamily="34" charset="-122"/>
                <a:cs typeface="Aptos" pitchFamily="34" charset="-120"/>
              </a:rPr>
              <a:t>Probar un caso de un grupo que debería rechazarse: un RUT sin formato.</a:t>
            </a:r>
            <a:endParaRPr lang="en-US" sz="1080" dirty="0"/>
          </a:p>
        </p:txBody>
      </p:sp>
      <p:sp>
        <p:nvSpPr>
          <p:cNvPr id="30" name="Text 27"/>
          <p:cNvSpPr txBox="1"/>
          <p:nvPr/>
        </p:nvSpPr>
        <p:spPr>
          <a:xfrm>
            <a:off x="6638544" y="4480560"/>
            <a:ext cx="4638751" cy="713232"/>
          </a:xfrm>
          <a:prstGeom prst="rect">
            <a:avLst/>
          </a:prstGeom>
          <a:noFill/>
          <a:ln/>
        </p:spPr>
        <p:txBody>
          <a:bodyPr wrap="square" lIns="0" tIns="0" rIns="0" bIns="0" rtlCol="0" anchor="t"/>
          <a:lstStyle/>
          <a:p>
            <a:pPr algn="l" indent="0" marL="0">
              <a:lnSpc>
                <a:spcPct val="112000"/>
              </a:lnSpc>
              <a:buNone/>
            </a:pPr>
            <a:r>
              <a:rPr lang="en-US" sz="1140" i="1" dirty="0">
                <a:solidFill>
                  <a:srgbClr val="243B53"/>
                </a:solidFill>
                <a:latin typeface="Aptos" pitchFamily="34" charset="0"/>
                <a:ea typeface="Aptos" pitchFamily="34" charset="-122"/>
                <a:cs typeface="Aptos" pitchFamily="34" charset="-120"/>
              </a:rPr>
              <a:t>Una técnica produce casos con un procedimiento. La práctica decide, sobre la marcha, cuándo aplicar cuál.</a:t>
            </a:r>
            <a:endParaRPr lang="en-US" sz="1140" dirty="0"/>
          </a:p>
        </p:txBody>
      </p:sp>
      <p:sp>
        <p:nvSpPr>
          <p:cNvPr id="31" name="Shape 28"/>
          <p:cNvSpPr/>
          <p:nvPr/>
        </p:nvSpPr>
        <p:spPr>
          <a:xfrm>
            <a:off x="658368" y="5650992"/>
            <a:ext cx="10874959" cy="548640"/>
          </a:xfrm>
          <a:prstGeom prst="rect">
            <a:avLst/>
          </a:prstGeom>
          <a:solidFill>
            <a:srgbClr val="102A43"/>
          </a:solidFill>
          <a:ln w="12700">
            <a:solidFill>
              <a:srgbClr val="102A43"/>
            </a:solidFill>
            <a:prstDash val="solid"/>
          </a:ln>
        </p:spPr>
      </p:sp>
      <p:sp>
        <p:nvSpPr>
          <p:cNvPr id="32" name="Text 2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Las dos coinciden en lo que importa: se diseña, se ejecuta y se evalúa a la vez, y se registra.</a:t>
            </a:r>
            <a:endParaRPr lang="en-US" sz="13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SESIÓN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Una carta, veinte minutos, seis pruebas</a:t>
            </a:r>
            <a:endParaRPr lang="en-US" sz="3000" dirty="0"/>
          </a:p>
        </p:txBody>
      </p:sp>
      <p:sp>
        <p:nvSpPr>
          <p:cNvPr id="10" name="Shape 7"/>
          <p:cNvSpPr/>
          <p:nvPr/>
        </p:nvSpPr>
        <p:spPr>
          <a:xfrm>
            <a:off x="658368" y="1737360"/>
            <a:ext cx="10874959" cy="877824"/>
          </a:xfrm>
          <a:prstGeom prst="rect">
            <a:avLst/>
          </a:prstGeom>
          <a:solidFill>
            <a:srgbClr val="1D3A57"/>
          </a:solidFill>
          <a:ln w="12700">
            <a:solidFill>
              <a:srgbClr val="1D3A57"/>
            </a:solidFill>
            <a:prstDash val="solid"/>
          </a:ln>
        </p:spPr>
      </p:sp>
      <p:sp>
        <p:nvSpPr>
          <p:cNvPr id="11" name="Text 8"/>
          <p:cNvSpPr txBox="1"/>
          <p:nvPr/>
        </p:nvSpPr>
        <p:spPr>
          <a:xfrm>
            <a:off x="932688" y="1847088"/>
            <a:ext cx="36576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CARTA · 20 MINUTOS</a:t>
            </a:r>
            <a:endParaRPr lang="en-US" sz="960" dirty="0"/>
          </a:p>
        </p:txBody>
      </p:sp>
      <p:sp>
        <p:nvSpPr>
          <p:cNvPr id="12" name="Text 9"/>
          <p:cNvSpPr txBox="1"/>
          <p:nvPr/>
        </p:nvSpPr>
        <p:spPr>
          <a:xfrm>
            <a:off x="932688" y="2084832"/>
            <a:ext cx="10326319" cy="475488"/>
          </a:xfrm>
          <a:prstGeom prst="rect">
            <a:avLst/>
          </a:prstGeom>
          <a:noFill/>
          <a:ln/>
        </p:spPr>
        <p:txBody>
          <a:bodyPr wrap="square" lIns="0" tIns="0" rIns="0" bIns="0" rtlCol="0" anchor="t"/>
          <a:lstStyle/>
          <a:p>
            <a:pPr algn="l" indent="0" marL="0">
              <a:lnSpc>
                <a:spcPct val="110000"/>
              </a:lnSpc>
              <a:buNone/>
            </a:pPr>
            <a:r>
              <a:rPr lang="en-US" sz="1220" dirty="0">
                <a:solidFill>
                  <a:srgbClr val="FFFFFF"/>
                </a:solidFill>
                <a:latin typeface="Aptos" pitchFamily="34" charset="0"/>
                <a:ea typeface="Aptos" pitchFamily="34" charset="-122"/>
                <a:cs typeface="Aptos" pitchFamily="34" charset="-120"/>
              </a:rPr>
              <a:t>Explorar la reserva de un bloque con datos incompletos, inválidos o repetidos, para encontrar situaciones en que una persona no logre reservar o no entienda qué pasó.</a:t>
            </a:r>
            <a:endParaRPr lang="en-US" sz="1220" dirty="0"/>
          </a:p>
        </p:txBody>
      </p:sp>
      <p:sp>
        <p:nvSpPr>
          <p:cNvPr id="13" name="Text 10"/>
          <p:cNvSpPr txBox="1"/>
          <p:nvPr/>
        </p:nvSpPr>
        <p:spPr>
          <a:xfrm>
            <a:off x="786384" y="2761488"/>
            <a:ext cx="274320" cy="201168"/>
          </a:xfrm>
          <a:prstGeom prst="rect">
            <a:avLst/>
          </a:prstGeom>
          <a:noFill/>
          <a:ln/>
        </p:spPr>
        <p:txBody>
          <a:bodyPr wrap="square" lIns="0" tIns="0" rIns="0" bIns="0" rtlCol="0" anchor="t"/>
          <a:lstStyle/>
          <a:p>
            <a:pPr algn="l" indent="0" marL="0">
              <a:buNone/>
            </a:pPr>
            <a:r>
              <a:rPr lang="en-US" sz="900" b="1" dirty="0">
                <a:solidFill>
                  <a:srgbClr val="52606D"/>
                </a:solidFill>
                <a:latin typeface="Aptos" pitchFamily="34" charset="0"/>
                <a:ea typeface="Aptos" pitchFamily="34" charset="-122"/>
                <a:cs typeface="Aptos" pitchFamily="34" charset="-120"/>
              </a:rPr>
              <a:t>#</a:t>
            </a:r>
            <a:endParaRPr lang="en-US" sz="900" dirty="0"/>
          </a:p>
        </p:txBody>
      </p:sp>
      <p:sp>
        <p:nvSpPr>
          <p:cNvPr id="14" name="Text 11"/>
          <p:cNvSpPr txBox="1"/>
          <p:nvPr/>
        </p:nvSpPr>
        <p:spPr>
          <a:xfrm>
            <a:off x="1115568" y="2761488"/>
            <a:ext cx="3017520" cy="201168"/>
          </a:xfrm>
          <a:prstGeom prst="rect">
            <a:avLst/>
          </a:prstGeom>
          <a:noFill/>
          <a:ln/>
        </p:spPr>
        <p:txBody>
          <a:bodyPr wrap="square" lIns="0" tIns="0" rIns="0" bIns="0" rtlCol="0" anchor="t"/>
          <a:lstStyle/>
          <a:p>
            <a:pPr algn="l" indent="0" marL="0">
              <a:buNone/>
            </a:pPr>
            <a:r>
              <a:rPr lang="en-US" sz="900" b="1" spc="100" kern="0" dirty="0">
                <a:solidFill>
                  <a:srgbClr val="52606D"/>
                </a:solidFill>
                <a:latin typeface="Aptos" pitchFamily="34" charset="0"/>
                <a:ea typeface="Aptos" pitchFamily="34" charset="-122"/>
                <a:cs typeface="Aptos" pitchFamily="34" charset="-120"/>
              </a:rPr>
              <a:t>QUÉ SE PROBÓ</a:t>
            </a:r>
            <a:endParaRPr lang="en-US" sz="900" dirty="0"/>
          </a:p>
        </p:txBody>
      </p:sp>
      <p:sp>
        <p:nvSpPr>
          <p:cNvPr id="15" name="Text 12"/>
          <p:cNvSpPr txBox="1"/>
          <p:nvPr/>
        </p:nvSpPr>
        <p:spPr>
          <a:xfrm>
            <a:off x="4133088" y="2761488"/>
            <a:ext cx="4572000" cy="201168"/>
          </a:xfrm>
          <a:prstGeom prst="rect">
            <a:avLst/>
          </a:prstGeom>
          <a:noFill/>
          <a:ln/>
        </p:spPr>
        <p:txBody>
          <a:bodyPr wrap="square" lIns="0" tIns="0" rIns="0" bIns="0" rtlCol="0" anchor="t"/>
          <a:lstStyle/>
          <a:p>
            <a:pPr algn="l" indent="0" marL="0">
              <a:buNone/>
            </a:pPr>
            <a:r>
              <a:rPr lang="en-US" sz="900" b="1" spc="100" kern="0" dirty="0">
                <a:solidFill>
                  <a:srgbClr val="52606D"/>
                </a:solidFill>
                <a:latin typeface="Aptos" pitchFamily="34" charset="0"/>
                <a:ea typeface="Aptos" pitchFamily="34" charset="-122"/>
                <a:cs typeface="Aptos" pitchFamily="34" charset="-120"/>
              </a:rPr>
              <a:t>QUÉ APARECIÓ EN PANTALLA, LITERAL</a:t>
            </a:r>
            <a:endParaRPr lang="en-US" sz="900" dirty="0"/>
          </a:p>
        </p:txBody>
      </p:sp>
      <p:sp>
        <p:nvSpPr>
          <p:cNvPr id="16" name="Shape 13"/>
          <p:cNvSpPr/>
          <p:nvPr/>
        </p:nvSpPr>
        <p:spPr>
          <a:xfrm>
            <a:off x="658368" y="3035808"/>
            <a:ext cx="10874959" cy="347472"/>
          </a:xfrm>
          <a:prstGeom prst="rect">
            <a:avLst/>
          </a:prstGeom>
          <a:solidFill>
            <a:srgbClr val="FFFFFF"/>
          </a:solidFill>
          <a:ln w="12700">
            <a:solidFill>
              <a:srgbClr val="FFFFFF"/>
            </a:solidFill>
            <a:prstDash val="solid"/>
          </a:ln>
        </p:spPr>
      </p:sp>
      <p:sp>
        <p:nvSpPr>
          <p:cNvPr id="17" name="Text 14"/>
          <p:cNvSpPr txBox="1"/>
          <p:nvPr/>
        </p:nvSpPr>
        <p:spPr>
          <a:xfrm>
            <a:off x="786384" y="3072384"/>
            <a:ext cx="274320" cy="274320"/>
          </a:xfrm>
          <a:prstGeom prst="rect">
            <a:avLst/>
          </a:prstGeom>
          <a:noFill/>
          <a:ln/>
        </p:spPr>
        <p:txBody>
          <a:bodyPr wrap="square" lIns="0" tIns="0" rIns="0" bIns="0" rtlCol="0" anchor="ctr"/>
          <a:lstStyle/>
          <a:p>
            <a:pPr algn="l" indent="0" marL="0">
              <a:buNone/>
            </a:pPr>
            <a:r>
              <a:rPr lang="en-US" sz="1100" b="1" dirty="0">
                <a:solidFill>
                  <a:srgbClr val="52606D"/>
                </a:solidFill>
                <a:latin typeface="Aptos" pitchFamily="34" charset="0"/>
                <a:ea typeface="Aptos" pitchFamily="34" charset="-122"/>
                <a:cs typeface="Aptos" pitchFamily="34" charset="-120"/>
              </a:rPr>
              <a:t>1</a:t>
            </a:r>
            <a:endParaRPr lang="en-US" sz="1100" dirty="0"/>
          </a:p>
        </p:txBody>
      </p:sp>
      <p:sp>
        <p:nvSpPr>
          <p:cNvPr id="18" name="Text 15"/>
          <p:cNvSpPr txBox="1"/>
          <p:nvPr/>
        </p:nvSpPr>
        <p:spPr>
          <a:xfrm>
            <a:off x="1115568" y="3072384"/>
            <a:ext cx="2926080" cy="274320"/>
          </a:xfrm>
          <a:prstGeom prst="rect">
            <a:avLst/>
          </a:prstGeom>
          <a:noFill/>
          <a:ln/>
        </p:spPr>
        <p:txBody>
          <a:bodyPr wrap="square" lIns="0" tIns="0" rIns="0" bIns="0" rtlCol="0" anchor="ctr"/>
          <a:lstStyle/>
          <a:p>
            <a:pPr algn="l" indent="0" marL="0">
              <a:buNone/>
            </a:pPr>
            <a:r>
              <a:rPr lang="en-US" sz="1100" dirty="0">
                <a:solidFill>
                  <a:srgbClr val="243B53"/>
                </a:solidFill>
                <a:latin typeface="Aptos" pitchFamily="34" charset="0"/>
                <a:ea typeface="Aptos" pitchFamily="34" charset="-122"/>
                <a:cs typeface="Aptos" pitchFamily="34" charset="-120"/>
              </a:rPr>
              <a:t>Todo completo menos el nombre</a:t>
            </a:r>
            <a:endParaRPr lang="en-US" sz="1100" dirty="0"/>
          </a:p>
        </p:txBody>
      </p:sp>
      <p:sp>
        <p:nvSpPr>
          <p:cNvPr id="19" name="Text 16"/>
          <p:cNvSpPr txBox="1"/>
          <p:nvPr/>
        </p:nvSpPr>
        <p:spPr>
          <a:xfrm>
            <a:off x="4133088" y="3072384"/>
            <a:ext cx="7272223" cy="274320"/>
          </a:xfrm>
          <a:prstGeom prst="rect">
            <a:avLst/>
          </a:prstGeom>
          <a:noFill/>
          <a:ln/>
        </p:spPr>
        <p:txBody>
          <a:bodyPr wrap="square" lIns="0" tIns="0" rIns="0" bIns="0" rtlCol="0" anchor="ctr"/>
          <a:lstStyle/>
          <a:p>
            <a:pPr algn="l" indent="0" marL="0">
              <a:buNone/>
            </a:pPr>
            <a:r>
              <a:rPr lang="en-US" sz="960" dirty="0">
                <a:solidFill>
                  <a:srgbClr val="243B53"/>
                </a:solidFill>
                <a:latin typeface="Consolas" pitchFamily="34" charset="0"/>
                <a:ea typeface="Consolas" pitchFamily="34" charset="-122"/>
                <a:cs typeface="Consolas" pitchFamily="34" charset="-120"/>
              </a:rPr>
              <a:t>Reserva confirmada.  | 11.111.111-1 | ana.rivas@ejemplo.cl | bloque 4</a:t>
            </a:r>
            <a:endParaRPr lang="en-US" sz="960" dirty="0"/>
          </a:p>
        </p:txBody>
      </p:sp>
      <p:sp>
        <p:nvSpPr>
          <p:cNvPr id="20" name="Shape 17"/>
          <p:cNvSpPr/>
          <p:nvPr/>
        </p:nvSpPr>
        <p:spPr>
          <a:xfrm>
            <a:off x="658368" y="3429000"/>
            <a:ext cx="10874959" cy="347472"/>
          </a:xfrm>
          <a:prstGeom prst="rect">
            <a:avLst/>
          </a:prstGeom>
          <a:solidFill>
            <a:srgbClr val="FFFFFF"/>
          </a:solidFill>
          <a:ln w="12700">
            <a:solidFill>
              <a:srgbClr val="FFFFFF"/>
            </a:solidFill>
            <a:prstDash val="solid"/>
          </a:ln>
        </p:spPr>
      </p:sp>
      <p:sp>
        <p:nvSpPr>
          <p:cNvPr id="21" name="Text 18"/>
          <p:cNvSpPr txBox="1"/>
          <p:nvPr/>
        </p:nvSpPr>
        <p:spPr>
          <a:xfrm>
            <a:off x="786384" y="3465576"/>
            <a:ext cx="274320" cy="274320"/>
          </a:xfrm>
          <a:prstGeom prst="rect">
            <a:avLst/>
          </a:prstGeom>
          <a:noFill/>
          <a:ln/>
        </p:spPr>
        <p:txBody>
          <a:bodyPr wrap="square" lIns="0" tIns="0" rIns="0" bIns="0" rtlCol="0" anchor="ctr"/>
          <a:lstStyle/>
          <a:p>
            <a:pPr algn="l" indent="0" marL="0">
              <a:buNone/>
            </a:pPr>
            <a:r>
              <a:rPr lang="en-US" sz="1100" b="1" dirty="0">
                <a:solidFill>
                  <a:srgbClr val="52606D"/>
                </a:solidFill>
                <a:latin typeface="Aptos" pitchFamily="34" charset="0"/>
                <a:ea typeface="Aptos" pitchFamily="34" charset="-122"/>
                <a:cs typeface="Aptos" pitchFamily="34" charset="-120"/>
              </a:rPr>
              <a:t>2</a:t>
            </a:r>
            <a:endParaRPr lang="en-US" sz="1100" dirty="0"/>
          </a:p>
        </p:txBody>
      </p:sp>
      <p:sp>
        <p:nvSpPr>
          <p:cNvPr id="22" name="Text 19"/>
          <p:cNvSpPr txBox="1"/>
          <p:nvPr/>
        </p:nvSpPr>
        <p:spPr>
          <a:xfrm>
            <a:off x="1115568" y="3465576"/>
            <a:ext cx="2926080" cy="274320"/>
          </a:xfrm>
          <a:prstGeom prst="rect">
            <a:avLst/>
          </a:prstGeom>
          <a:noFill/>
          <a:ln/>
        </p:spPr>
        <p:txBody>
          <a:bodyPr wrap="square" lIns="0" tIns="0" rIns="0" bIns="0" rtlCol="0" anchor="ctr"/>
          <a:lstStyle/>
          <a:p>
            <a:pPr algn="l" indent="0" marL="0">
              <a:buNone/>
            </a:pPr>
            <a:r>
              <a:rPr lang="en-US" sz="1100" dirty="0">
                <a:solidFill>
                  <a:srgbClr val="243B53"/>
                </a:solidFill>
                <a:latin typeface="Aptos" pitchFamily="34" charset="0"/>
                <a:ea typeface="Aptos" pitchFamily="34" charset="-122"/>
                <a:cs typeface="Aptos" pitchFamily="34" charset="-120"/>
              </a:rPr>
              <a:t>Reservar un bloque ya tomado</a:t>
            </a:r>
            <a:endParaRPr lang="en-US" sz="1100" dirty="0"/>
          </a:p>
        </p:txBody>
      </p:sp>
      <p:sp>
        <p:nvSpPr>
          <p:cNvPr id="23" name="Text 20"/>
          <p:cNvSpPr txBox="1"/>
          <p:nvPr/>
        </p:nvSpPr>
        <p:spPr>
          <a:xfrm>
            <a:off x="4133088" y="3465576"/>
            <a:ext cx="7272223" cy="274320"/>
          </a:xfrm>
          <a:prstGeom prst="rect">
            <a:avLst/>
          </a:prstGeom>
          <a:noFill/>
          <a:ln/>
        </p:spPr>
        <p:txBody>
          <a:bodyPr wrap="square" lIns="0" tIns="0" rIns="0" bIns="0" rtlCol="0" anchor="ctr"/>
          <a:lstStyle/>
          <a:p>
            <a:pPr algn="l" indent="0" marL="0">
              <a:buNone/>
            </a:pPr>
            <a:r>
              <a:rPr lang="en-US" sz="960" dirty="0">
                <a:solidFill>
                  <a:srgbClr val="243B53"/>
                </a:solidFill>
                <a:latin typeface="Consolas" pitchFamily="34" charset="0"/>
                <a:ea typeface="Consolas" pitchFamily="34" charset="-122"/>
                <a:cs typeface="Consolas" pitchFamily="34" charset="-120"/>
              </a:rPr>
              <a:t>La reserva no esta permitida</a:t>
            </a:r>
            <a:endParaRPr lang="en-US" sz="960" dirty="0"/>
          </a:p>
        </p:txBody>
      </p:sp>
      <p:sp>
        <p:nvSpPr>
          <p:cNvPr id="24" name="Shape 21"/>
          <p:cNvSpPr/>
          <p:nvPr/>
        </p:nvSpPr>
        <p:spPr>
          <a:xfrm>
            <a:off x="658368" y="3822192"/>
            <a:ext cx="10874959" cy="347472"/>
          </a:xfrm>
          <a:prstGeom prst="rect">
            <a:avLst/>
          </a:prstGeom>
          <a:solidFill>
            <a:srgbClr val="FFFFFF"/>
          </a:solidFill>
          <a:ln w="12700">
            <a:solidFill>
              <a:srgbClr val="FFFFFF"/>
            </a:solidFill>
            <a:prstDash val="solid"/>
          </a:ln>
        </p:spPr>
      </p:sp>
      <p:sp>
        <p:nvSpPr>
          <p:cNvPr id="25" name="Text 22"/>
          <p:cNvSpPr txBox="1"/>
          <p:nvPr/>
        </p:nvSpPr>
        <p:spPr>
          <a:xfrm>
            <a:off x="786384" y="3858768"/>
            <a:ext cx="274320" cy="274320"/>
          </a:xfrm>
          <a:prstGeom prst="rect">
            <a:avLst/>
          </a:prstGeom>
          <a:noFill/>
          <a:ln/>
        </p:spPr>
        <p:txBody>
          <a:bodyPr wrap="square" lIns="0" tIns="0" rIns="0" bIns="0" rtlCol="0" anchor="ctr"/>
          <a:lstStyle/>
          <a:p>
            <a:pPr algn="l" indent="0" marL="0">
              <a:buNone/>
            </a:pPr>
            <a:r>
              <a:rPr lang="en-US" sz="1100" b="1" dirty="0">
                <a:solidFill>
                  <a:srgbClr val="52606D"/>
                </a:solidFill>
                <a:latin typeface="Aptos" pitchFamily="34" charset="0"/>
                <a:ea typeface="Aptos" pitchFamily="34" charset="-122"/>
                <a:cs typeface="Aptos" pitchFamily="34" charset="-120"/>
              </a:rPr>
              <a:t>3</a:t>
            </a:r>
            <a:endParaRPr lang="en-US" sz="1100" dirty="0"/>
          </a:p>
        </p:txBody>
      </p:sp>
      <p:sp>
        <p:nvSpPr>
          <p:cNvPr id="26" name="Text 23"/>
          <p:cNvSpPr txBox="1"/>
          <p:nvPr/>
        </p:nvSpPr>
        <p:spPr>
          <a:xfrm>
            <a:off x="1115568" y="3858768"/>
            <a:ext cx="2926080" cy="274320"/>
          </a:xfrm>
          <a:prstGeom prst="rect">
            <a:avLst/>
          </a:prstGeom>
          <a:noFill/>
          <a:ln/>
        </p:spPr>
        <p:txBody>
          <a:bodyPr wrap="square" lIns="0" tIns="0" rIns="0" bIns="0" rtlCol="0" anchor="ctr"/>
          <a:lstStyle/>
          <a:p>
            <a:pPr algn="l" indent="0" marL="0">
              <a:buNone/>
            </a:pPr>
            <a:r>
              <a:rPr lang="en-US" sz="1100" dirty="0">
                <a:solidFill>
                  <a:srgbClr val="243B53"/>
                </a:solidFill>
                <a:latin typeface="Aptos" pitchFamily="34" charset="0"/>
                <a:ea typeface="Aptos" pitchFamily="34" charset="-122"/>
                <a:cs typeface="Aptos" pitchFamily="34" charset="-120"/>
              </a:rPr>
              <a:t>0 personas</a:t>
            </a:r>
            <a:endParaRPr lang="en-US" sz="1100" dirty="0"/>
          </a:p>
        </p:txBody>
      </p:sp>
      <p:sp>
        <p:nvSpPr>
          <p:cNvPr id="27" name="Text 24"/>
          <p:cNvSpPr txBox="1"/>
          <p:nvPr/>
        </p:nvSpPr>
        <p:spPr>
          <a:xfrm>
            <a:off x="4133088" y="3858768"/>
            <a:ext cx="7272223" cy="274320"/>
          </a:xfrm>
          <a:prstGeom prst="rect">
            <a:avLst/>
          </a:prstGeom>
          <a:noFill/>
          <a:ln/>
        </p:spPr>
        <p:txBody>
          <a:bodyPr wrap="square" lIns="0" tIns="0" rIns="0" bIns="0" rtlCol="0" anchor="ctr"/>
          <a:lstStyle/>
          <a:p>
            <a:pPr algn="l" indent="0" marL="0">
              <a:buNone/>
            </a:pPr>
            <a:r>
              <a:rPr lang="en-US" sz="960" dirty="0">
                <a:solidFill>
                  <a:srgbClr val="243B53"/>
                </a:solidFill>
                <a:latin typeface="Consolas" pitchFamily="34" charset="0"/>
                <a:ea typeface="Consolas" pitchFamily="34" charset="-122"/>
                <a:cs typeface="Consolas" pitchFamily="34" charset="-120"/>
              </a:rPr>
              <a:t>No se envía. Globo del navegador: Value must be greater than or equal to 1.</a:t>
            </a:r>
            <a:endParaRPr lang="en-US" sz="960" dirty="0"/>
          </a:p>
        </p:txBody>
      </p:sp>
      <p:sp>
        <p:nvSpPr>
          <p:cNvPr id="28" name="Shape 25"/>
          <p:cNvSpPr/>
          <p:nvPr/>
        </p:nvSpPr>
        <p:spPr>
          <a:xfrm>
            <a:off x="658368" y="4215384"/>
            <a:ext cx="10874959" cy="347472"/>
          </a:xfrm>
          <a:prstGeom prst="rect">
            <a:avLst/>
          </a:prstGeom>
          <a:solidFill>
            <a:srgbClr val="FFFFFF"/>
          </a:solidFill>
          <a:ln w="12700">
            <a:solidFill>
              <a:srgbClr val="FFFFFF"/>
            </a:solidFill>
            <a:prstDash val="solid"/>
          </a:ln>
        </p:spPr>
      </p:sp>
      <p:sp>
        <p:nvSpPr>
          <p:cNvPr id="29" name="Text 26"/>
          <p:cNvSpPr txBox="1"/>
          <p:nvPr/>
        </p:nvSpPr>
        <p:spPr>
          <a:xfrm>
            <a:off x="786384" y="4251960"/>
            <a:ext cx="274320" cy="274320"/>
          </a:xfrm>
          <a:prstGeom prst="rect">
            <a:avLst/>
          </a:prstGeom>
          <a:noFill/>
          <a:ln/>
        </p:spPr>
        <p:txBody>
          <a:bodyPr wrap="square" lIns="0" tIns="0" rIns="0" bIns="0" rtlCol="0" anchor="ctr"/>
          <a:lstStyle/>
          <a:p>
            <a:pPr algn="l" indent="0" marL="0">
              <a:buNone/>
            </a:pPr>
            <a:r>
              <a:rPr lang="en-US" sz="1100" b="1" dirty="0">
                <a:solidFill>
                  <a:srgbClr val="52606D"/>
                </a:solidFill>
                <a:latin typeface="Aptos" pitchFamily="34" charset="0"/>
                <a:ea typeface="Aptos" pitchFamily="34" charset="-122"/>
                <a:cs typeface="Aptos" pitchFamily="34" charset="-120"/>
              </a:rPr>
              <a:t>4</a:t>
            </a:r>
            <a:endParaRPr lang="en-US" sz="1100" dirty="0"/>
          </a:p>
        </p:txBody>
      </p:sp>
      <p:sp>
        <p:nvSpPr>
          <p:cNvPr id="30" name="Text 27"/>
          <p:cNvSpPr txBox="1"/>
          <p:nvPr/>
        </p:nvSpPr>
        <p:spPr>
          <a:xfrm>
            <a:off x="1115568" y="4251960"/>
            <a:ext cx="2926080" cy="274320"/>
          </a:xfrm>
          <a:prstGeom prst="rect">
            <a:avLst/>
          </a:prstGeom>
          <a:noFill/>
          <a:ln/>
        </p:spPr>
        <p:txBody>
          <a:bodyPr wrap="square" lIns="0" tIns="0" rIns="0" bIns="0" rtlCol="0" anchor="ctr"/>
          <a:lstStyle/>
          <a:p>
            <a:pPr algn="l" indent="0" marL="0">
              <a:buNone/>
            </a:pPr>
            <a:r>
              <a:rPr lang="en-US" sz="1100" dirty="0">
                <a:solidFill>
                  <a:srgbClr val="243B53"/>
                </a:solidFill>
                <a:latin typeface="Aptos" pitchFamily="34" charset="0"/>
                <a:ea typeface="Aptos" pitchFamily="34" charset="-122"/>
                <a:cs typeface="Aptos" pitchFamily="34" charset="-120"/>
              </a:rPr>
              <a:t>31 personas</a:t>
            </a:r>
            <a:endParaRPr lang="en-US" sz="1100" dirty="0"/>
          </a:p>
        </p:txBody>
      </p:sp>
      <p:sp>
        <p:nvSpPr>
          <p:cNvPr id="31" name="Text 28"/>
          <p:cNvSpPr txBox="1"/>
          <p:nvPr/>
        </p:nvSpPr>
        <p:spPr>
          <a:xfrm>
            <a:off x="4133088" y="4251960"/>
            <a:ext cx="7272223" cy="274320"/>
          </a:xfrm>
          <a:prstGeom prst="rect">
            <a:avLst/>
          </a:prstGeom>
          <a:noFill/>
          <a:ln/>
        </p:spPr>
        <p:txBody>
          <a:bodyPr wrap="square" lIns="0" tIns="0" rIns="0" bIns="0" rtlCol="0" anchor="ctr"/>
          <a:lstStyle/>
          <a:p>
            <a:pPr algn="l" indent="0" marL="0">
              <a:buNone/>
            </a:pPr>
            <a:r>
              <a:rPr lang="en-US" sz="960" dirty="0">
                <a:solidFill>
                  <a:srgbClr val="243B53"/>
                </a:solidFill>
                <a:latin typeface="Consolas" pitchFamily="34" charset="0"/>
                <a:ea typeface="Consolas" pitchFamily="34" charset="-122"/>
                <a:cs typeface="Consolas" pitchFamily="34" charset="-120"/>
              </a:rPr>
              <a:t>No se envía. Globo del navegador: Value must be less than or equal to 30.</a:t>
            </a:r>
            <a:endParaRPr lang="en-US" sz="960" dirty="0"/>
          </a:p>
        </p:txBody>
      </p:sp>
      <p:sp>
        <p:nvSpPr>
          <p:cNvPr id="32" name="Shape 29"/>
          <p:cNvSpPr/>
          <p:nvPr/>
        </p:nvSpPr>
        <p:spPr>
          <a:xfrm>
            <a:off x="658368" y="4608576"/>
            <a:ext cx="10874959" cy="347472"/>
          </a:xfrm>
          <a:prstGeom prst="rect">
            <a:avLst/>
          </a:prstGeom>
          <a:solidFill>
            <a:srgbClr val="F2E7D9"/>
          </a:solidFill>
          <a:ln w="12700">
            <a:solidFill>
              <a:srgbClr val="F2E7D9"/>
            </a:solidFill>
            <a:prstDash val="solid"/>
          </a:ln>
        </p:spPr>
      </p:sp>
      <p:sp>
        <p:nvSpPr>
          <p:cNvPr id="33" name="Shape 30"/>
          <p:cNvSpPr/>
          <p:nvPr/>
        </p:nvSpPr>
        <p:spPr>
          <a:xfrm>
            <a:off x="658368" y="4608576"/>
            <a:ext cx="54864" cy="347472"/>
          </a:xfrm>
          <a:prstGeom prst="rect">
            <a:avLst/>
          </a:prstGeom>
          <a:solidFill>
            <a:srgbClr val="B3181E"/>
          </a:solidFill>
          <a:ln w="12700">
            <a:solidFill>
              <a:srgbClr val="B3181E"/>
            </a:solidFill>
            <a:prstDash val="solid"/>
          </a:ln>
        </p:spPr>
      </p:sp>
      <p:sp>
        <p:nvSpPr>
          <p:cNvPr id="34" name="Text 31"/>
          <p:cNvSpPr txBox="1"/>
          <p:nvPr/>
        </p:nvSpPr>
        <p:spPr>
          <a:xfrm>
            <a:off x="786384" y="4645152"/>
            <a:ext cx="274320" cy="274320"/>
          </a:xfrm>
          <a:prstGeom prst="rect">
            <a:avLst/>
          </a:prstGeom>
          <a:noFill/>
          <a:ln/>
        </p:spPr>
        <p:txBody>
          <a:bodyPr wrap="square" lIns="0" tIns="0" rIns="0" bIns="0" rtlCol="0" anchor="ctr"/>
          <a:lstStyle/>
          <a:p>
            <a:pPr algn="l" indent="0" marL="0">
              <a:buNone/>
            </a:pPr>
            <a:r>
              <a:rPr lang="en-US" sz="1100" b="1" dirty="0">
                <a:solidFill>
                  <a:srgbClr val="B3181E"/>
                </a:solidFill>
                <a:latin typeface="Aptos" pitchFamily="34" charset="0"/>
                <a:ea typeface="Aptos" pitchFamily="34" charset="-122"/>
                <a:cs typeface="Aptos" pitchFamily="34" charset="-120"/>
              </a:rPr>
              <a:t>5</a:t>
            </a:r>
            <a:endParaRPr lang="en-US" sz="1100" dirty="0"/>
          </a:p>
        </p:txBody>
      </p:sp>
      <p:sp>
        <p:nvSpPr>
          <p:cNvPr id="35" name="Text 32"/>
          <p:cNvSpPr txBox="1"/>
          <p:nvPr/>
        </p:nvSpPr>
        <p:spPr>
          <a:xfrm>
            <a:off x="1115568" y="4645152"/>
            <a:ext cx="2926080" cy="274320"/>
          </a:xfrm>
          <a:prstGeom prst="rect">
            <a:avLst/>
          </a:prstGeom>
          <a:noFill/>
          <a:ln/>
        </p:spPr>
        <p:txBody>
          <a:bodyPr wrap="square" lIns="0" tIns="0" rIns="0" bIns="0" rtlCol="0" anchor="ctr"/>
          <a:lstStyle/>
          <a:p>
            <a:pPr algn="l" indent="0" marL="0">
              <a:buNone/>
            </a:pPr>
            <a:r>
              <a:rPr lang="en-US" sz="1100" b="1" dirty="0">
                <a:solidFill>
                  <a:srgbClr val="243B53"/>
                </a:solidFill>
                <a:latin typeface="Aptos" pitchFamily="34" charset="0"/>
                <a:ea typeface="Aptos" pitchFamily="34" charset="-122"/>
                <a:cs typeface="Aptos" pitchFamily="34" charset="-120"/>
              </a:rPr>
              <a:t>Doble clic rápido en «Reservar»</a:t>
            </a:r>
            <a:endParaRPr lang="en-US" sz="1100" dirty="0"/>
          </a:p>
        </p:txBody>
      </p:sp>
      <p:sp>
        <p:nvSpPr>
          <p:cNvPr id="36" name="Text 33"/>
          <p:cNvSpPr txBox="1"/>
          <p:nvPr/>
        </p:nvSpPr>
        <p:spPr>
          <a:xfrm>
            <a:off x="4133088" y="4645152"/>
            <a:ext cx="7272223" cy="274320"/>
          </a:xfrm>
          <a:prstGeom prst="rect">
            <a:avLst/>
          </a:prstGeom>
          <a:noFill/>
          <a:ln/>
        </p:spPr>
        <p:txBody>
          <a:bodyPr wrap="square" lIns="0" tIns="0" rIns="0" bIns="0" rtlCol="0" anchor="ctr"/>
          <a:lstStyle/>
          <a:p>
            <a:pPr algn="l" indent="0" marL="0">
              <a:buNone/>
            </a:pPr>
            <a:r>
              <a:rPr lang="en-US" sz="960" dirty="0">
                <a:solidFill>
                  <a:srgbClr val="B3181E"/>
                </a:solidFill>
                <a:latin typeface="Consolas" pitchFamily="34" charset="0"/>
                <a:ea typeface="Consolas" pitchFamily="34" charset="-122"/>
                <a:cs typeface="Consolas" pitchFamily="34" charset="-120"/>
              </a:rPr>
              <a:t>Ficha del bloque: Tomado · Mensaje final: La reserva no esta permitida</a:t>
            </a:r>
            <a:endParaRPr lang="en-US" sz="960" dirty="0"/>
          </a:p>
        </p:txBody>
      </p:sp>
      <p:sp>
        <p:nvSpPr>
          <p:cNvPr id="37" name="Shape 34"/>
          <p:cNvSpPr/>
          <p:nvPr/>
        </p:nvSpPr>
        <p:spPr>
          <a:xfrm>
            <a:off x="658368" y="5001768"/>
            <a:ext cx="10874959" cy="347472"/>
          </a:xfrm>
          <a:prstGeom prst="rect">
            <a:avLst/>
          </a:prstGeom>
          <a:solidFill>
            <a:srgbClr val="FFFFFF"/>
          </a:solidFill>
          <a:ln w="12700">
            <a:solidFill>
              <a:srgbClr val="FFFFFF"/>
            </a:solidFill>
            <a:prstDash val="solid"/>
          </a:ln>
        </p:spPr>
      </p:sp>
      <p:sp>
        <p:nvSpPr>
          <p:cNvPr id="38" name="Text 35"/>
          <p:cNvSpPr txBox="1"/>
          <p:nvPr/>
        </p:nvSpPr>
        <p:spPr>
          <a:xfrm>
            <a:off x="786384" y="5038344"/>
            <a:ext cx="274320" cy="274320"/>
          </a:xfrm>
          <a:prstGeom prst="rect">
            <a:avLst/>
          </a:prstGeom>
          <a:noFill/>
          <a:ln/>
        </p:spPr>
        <p:txBody>
          <a:bodyPr wrap="square" lIns="0" tIns="0" rIns="0" bIns="0" rtlCol="0" anchor="ctr"/>
          <a:lstStyle/>
          <a:p>
            <a:pPr algn="l" indent="0" marL="0">
              <a:buNone/>
            </a:pPr>
            <a:r>
              <a:rPr lang="en-US" sz="1100" b="1" dirty="0">
                <a:solidFill>
                  <a:srgbClr val="52606D"/>
                </a:solidFill>
                <a:latin typeface="Aptos" pitchFamily="34" charset="0"/>
                <a:ea typeface="Aptos" pitchFamily="34" charset="-122"/>
                <a:cs typeface="Aptos" pitchFamily="34" charset="-120"/>
              </a:rPr>
              <a:t>6</a:t>
            </a:r>
            <a:endParaRPr lang="en-US" sz="1100" dirty="0"/>
          </a:p>
        </p:txBody>
      </p:sp>
      <p:sp>
        <p:nvSpPr>
          <p:cNvPr id="39" name="Text 36"/>
          <p:cNvSpPr txBox="1"/>
          <p:nvPr/>
        </p:nvSpPr>
        <p:spPr>
          <a:xfrm>
            <a:off x="1115568" y="5038344"/>
            <a:ext cx="2926080" cy="274320"/>
          </a:xfrm>
          <a:prstGeom prst="rect">
            <a:avLst/>
          </a:prstGeom>
          <a:noFill/>
          <a:ln/>
        </p:spPr>
        <p:txBody>
          <a:bodyPr wrap="square" lIns="0" tIns="0" rIns="0" bIns="0" rtlCol="0" anchor="ctr"/>
          <a:lstStyle/>
          <a:p>
            <a:pPr algn="l" indent="0" marL="0">
              <a:buNone/>
            </a:pPr>
            <a:r>
              <a:rPr lang="en-US" sz="1100" dirty="0">
                <a:solidFill>
                  <a:srgbClr val="243B53"/>
                </a:solidFill>
                <a:latin typeface="Aptos" pitchFamily="34" charset="0"/>
                <a:ea typeface="Aptos" pitchFamily="34" charset="-122"/>
                <a:cs typeface="Aptos" pitchFamily="34" charset="-120"/>
              </a:rPr>
              <a:t>RUT escrito como «hola»</a:t>
            </a:r>
            <a:endParaRPr lang="en-US" sz="1100" dirty="0"/>
          </a:p>
        </p:txBody>
      </p:sp>
      <p:sp>
        <p:nvSpPr>
          <p:cNvPr id="40" name="Text 37"/>
          <p:cNvSpPr txBox="1"/>
          <p:nvPr/>
        </p:nvSpPr>
        <p:spPr>
          <a:xfrm>
            <a:off x="4133088" y="5038344"/>
            <a:ext cx="7272223" cy="274320"/>
          </a:xfrm>
          <a:prstGeom prst="rect">
            <a:avLst/>
          </a:prstGeom>
          <a:noFill/>
          <a:ln/>
        </p:spPr>
        <p:txBody>
          <a:bodyPr wrap="square" lIns="0" tIns="0" rIns="0" bIns="0" rtlCol="0" anchor="ctr"/>
          <a:lstStyle/>
          <a:p>
            <a:pPr algn="l" indent="0" marL="0">
              <a:buNone/>
            </a:pPr>
            <a:r>
              <a:rPr lang="en-US" sz="960" dirty="0">
                <a:solidFill>
                  <a:srgbClr val="243B53"/>
                </a:solidFill>
                <a:latin typeface="Consolas" pitchFamily="34" charset="0"/>
                <a:ea typeface="Consolas" pitchFamily="34" charset="-122"/>
                <a:cs typeface="Consolas" pitchFamily="34" charset="-120"/>
              </a:rPr>
              <a:t>Reserva confirmada. Ana Rivas | hola | ana.rivas@ejemplo.cl | bloque 4</a:t>
            </a:r>
            <a:endParaRPr lang="en-US" sz="960" dirty="0"/>
          </a:p>
        </p:txBody>
      </p:sp>
      <p:sp>
        <p:nvSpPr>
          <p:cNvPr id="41" name="Shape 38"/>
          <p:cNvSpPr/>
          <p:nvPr/>
        </p:nvSpPr>
        <p:spPr>
          <a:xfrm>
            <a:off x="658368" y="5650992"/>
            <a:ext cx="10874959" cy="548640"/>
          </a:xfrm>
          <a:prstGeom prst="rect">
            <a:avLst/>
          </a:prstGeom>
          <a:solidFill>
            <a:srgbClr val="102A43"/>
          </a:solidFill>
          <a:ln w="12700">
            <a:solidFill>
              <a:srgbClr val="102A43"/>
            </a:solidFill>
            <a:prstDash val="solid"/>
          </a:ln>
        </p:spPr>
      </p:sp>
      <p:sp>
        <p:nvSpPr>
          <p:cNvPr id="42" name="Text 3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prueba 5 es el hallazgo de la sesión, y nadie la habría escrito como caso de antemano.</a:t>
            </a:r>
            <a:endParaRPr lang="en-US" sz="13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HALLAZGO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La persona reservó, y la pantalla le dice que no</a:t>
            </a:r>
            <a:endParaRPr lang="en-US" sz="2800" dirty="0"/>
          </a:p>
        </p:txBody>
      </p:sp>
      <p:sp>
        <p:nvSpPr>
          <p:cNvPr id="10" name="Shape 7"/>
          <p:cNvSpPr/>
          <p:nvPr/>
        </p:nvSpPr>
        <p:spPr>
          <a:xfrm>
            <a:off x="658368" y="1755648"/>
            <a:ext cx="5760720" cy="3728272"/>
          </a:xfrm>
          <a:prstGeom prst="roundRect">
            <a:avLst>
              <a:gd name="adj" fmla="val 1472"/>
            </a:avLst>
          </a:prstGeom>
          <a:solidFill>
            <a:srgbClr val="FFFFFF"/>
          </a:solidFill>
          <a:ln w="12700">
            <a:solidFill>
              <a:srgbClr val="D8CFC4"/>
            </a:solidFill>
            <a:prstDash val="solid"/>
          </a:ln>
        </p:spPr>
      </p:sp>
      <p:sp>
        <p:nvSpPr>
          <p:cNvPr id="11" name="Shape 8"/>
          <p:cNvSpPr/>
          <p:nvPr/>
        </p:nvSpPr>
        <p:spPr>
          <a:xfrm>
            <a:off x="676656" y="2057400"/>
            <a:ext cx="5724144" cy="9144"/>
          </a:xfrm>
          <a:prstGeom prst="rect">
            <a:avLst/>
          </a:prstGeom>
          <a:solidFill>
            <a:srgbClr val="D8CFC4"/>
          </a:solidFill>
          <a:ln w="12700">
            <a:solidFill>
              <a:srgbClr val="D8CFC4"/>
            </a:solidFill>
            <a:prstDash val="solid"/>
          </a:ln>
        </p:spPr>
      </p:sp>
      <p:sp>
        <p:nvSpPr>
          <p:cNvPr id="12" name="Shape 9"/>
          <p:cNvSpPr/>
          <p:nvPr/>
        </p:nvSpPr>
        <p:spPr>
          <a:xfrm>
            <a:off x="800100" y="1869948"/>
            <a:ext cx="82296" cy="82296"/>
          </a:xfrm>
          <a:prstGeom prst="ellipse">
            <a:avLst/>
          </a:prstGeom>
          <a:solidFill>
            <a:srgbClr val="D8CFC4"/>
          </a:solidFill>
          <a:ln w="12700">
            <a:solidFill>
              <a:srgbClr val="D8CFC4"/>
            </a:solidFill>
            <a:prstDash val="solid"/>
          </a:ln>
        </p:spPr>
      </p:sp>
      <p:sp>
        <p:nvSpPr>
          <p:cNvPr id="13" name="Shape 10"/>
          <p:cNvSpPr/>
          <p:nvPr/>
        </p:nvSpPr>
        <p:spPr>
          <a:xfrm>
            <a:off x="946404" y="1869948"/>
            <a:ext cx="82296" cy="82296"/>
          </a:xfrm>
          <a:prstGeom prst="ellipse">
            <a:avLst/>
          </a:prstGeom>
          <a:solidFill>
            <a:srgbClr val="D8CFC4"/>
          </a:solidFill>
          <a:ln w="12700">
            <a:solidFill>
              <a:srgbClr val="D8CFC4"/>
            </a:solidFill>
            <a:prstDash val="solid"/>
          </a:ln>
        </p:spPr>
      </p:sp>
      <p:sp>
        <p:nvSpPr>
          <p:cNvPr id="14" name="Shape 11"/>
          <p:cNvSpPr/>
          <p:nvPr/>
        </p:nvSpPr>
        <p:spPr>
          <a:xfrm>
            <a:off x="1092708" y="1869948"/>
            <a:ext cx="82296" cy="82296"/>
          </a:xfrm>
          <a:prstGeom prst="ellipse">
            <a:avLst/>
          </a:prstGeom>
          <a:solidFill>
            <a:srgbClr val="D8CFC4"/>
          </a:solidFill>
          <a:ln w="12700">
            <a:solidFill>
              <a:srgbClr val="D8CFC4"/>
            </a:solidFill>
            <a:prstDash val="solid"/>
          </a:ln>
        </p:spPr>
      </p:sp>
      <p:sp>
        <p:nvSpPr>
          <p:cNvPr id="15" name="Shape 12"/>
          <p:cNvSpPr/>
          <p:nvPr/>
        </p:nvSpPr>
        <p:spPr>
          <a:xfrm>
            <a:off x="1389888" y="1819656"/>
            <a:ext cx="2926080" cy="182880"/>
          </a:xfrm>
          <a:prstGeom prst="roundRect">
            <a:avLst>
              <a:gd name="adj" fmla="val 50000"/>
            </a:avLst>
          </a:prstGeom>
          <a:solidFill>
            <a:srgbClr val="EDE6DA"/>
          </a:solidFill>
          <a:ln w="12700">
            <a:solidFill>
              <a:srgbClr val="EDE6DA"/>
            </a:solidFill>
            <a:prstDash val="solid"/>
          </a:ln>
        </p:spPr>
      </p:sp>
      <p:sp>
        <p:nvSpPr>
          <p:cNvPr id="16" name="Text 13"/>
          <p:cNvSpPr/>
          <p:nvPr/>
        </p:nvSpPr>
        <p:spPr>
          <a:xfrm>
            <a:off x="1499616" y="1828800"/>
            <a:ext cx="2743200" cy="164592"/>
          </a:xfrm>
          <a:prstGeom prst="rect">
            <a:avLst/>
          </a:prstGeom>
          <a:noFill/>
          <a:ln/>
        </p:spPr>
        <p:txBody>
          <a:bodyPr wrap="square" lIns="0" tIns="0" rIns="0" bIns="0" rtlCol="0" anchor="ctr"/>
          <a:lstStyle/>
          <a:p>
            <a:pPr indent="0" marL="0">
              <a:buNone/>
            </a:pPr>
            <a:r>
              <a:rPr lang="en-US" sz="840" dirty="0">
                <a:solidFill>
                  <a:srgbClr val="52606D"/>
                </a:solidFill>
                <a:latin typeface="Consolas" pitchFamily="34" charset="0"/>
                <a:ea typeface="Consolas" pitchFamily="34" charset="-122"/>
                <a:cs typeface="Consolas" pitchFamily="34" charset="-120"/>
              </a:rPr>
              <a:t>127.0.0.1:8000</a:t>
            </a:r>
            <a:endParaRPr lang="en-US" sz="840" dirty="0"/>
          </a:p>
        </p:txBody>
      </p:sp>
      <p:pic>
        <p:nvPicPr>
          <p:cNvPr id="17" name="Image 1" descr="C:\Users\Diego Obando\dev\pro402-taller-de-testing-2026\clases\semana-05\01\ppt\source\assets\interfaz-doble-clic.png">    </p:cNvPr>
          <p:cNvPicPr>
            <a:picLocks noChangeAspect="1"/>
          </p:cNvPicPr>
          <p:nvPr/>
        </p:nvPicPr>
        <p:blipFill>
          <a:blip r:embed="rId3"/>
          <a:stretch>
            <a:fillRect/>
          </a:stretch>
        </p:blipFill>
        <p:spPr>
          <a:xfrm>
            <a:off x="676656" y="2066544"/>
            <a:ext cx="5724144" cy="3399088"/>
          </a:xfrm>
          <a:prstGeom prst="rect">
            <a:avLst/>
          </a:prstGeom>
        </p:spPr>
      </p:pic>
      <p:sp>
        <p:nvSpPr>
          <p:cNvPr id="18" name="Shape 14"/>
          <p:cNvSpPr/>
          <p:nvPr/>
        </p:nvSpPr>
        <p:spPr>
          <a:xfrm>
            <a:off x="5682082" y="3375050"/>
            <a:ext cx="292608" cy="292608"/>
          </a:xfrm>
          <a:prstGeom prst="ellipse">
            <a:avLst/>
          </a:prstGeom>
          <a:solidFill>
            <a:srgbClr val="2E7D4F"/>
          </a:solidFill>
          <a:ln w="12700">
            <a:solidFill>
              <a:srgbClr val="2E7D4F"/>
            </a:solidFill>
            <a:prstDash val="solid"/>
          </a:ln>
        </p:spPr>
      </p:sp>
      <p:sp>
        <p:nvSpPr>
          <p:cNvPr id="19" name="Text 15"/>
          <p:cNvSpPr/>
          <p:nvPr/>
        </p:nvSpPr>
        <p:spPr>
          <a:xfrm>
            <a:off x="5691226" y="338419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20" name="Shape 16"/>
          <p:cNvSpPr/>
          <p:nvPr/>
        </p:nvSpPr>
        <p:spPr>
          <a:xfrm>
            <a:off x="2648285" y="4792470"/>
            <a:ext cx="292608" cy="292608"/>
          </a:xfrm>
          <a:prstGeom prst="ellipse">
            <a:avLst/>
          </a:prstGeom>
          <a:solidFill>
            <a:srgbClr val="B3181E"/>
          </a:solidFill>
          <a:ln w="12700">
            <a:solidFill>
              <a:srgbClr val="B3181E"/>
            </a:solidFill>
            <a:prstDash val="solid"/>
          </a:ln>
        </p:spPr>
      </p:sp>
      <p:sp>
        <p:nvSpPr>
          <p:cNvPr id="21" name="Text 17"/>
          <p:cNvSpPr/>
          <p:nvPr/>
        </p:nvSpPr>
        <p:spPr>
          <a:xfrm>
            <a:off x="2657429" y="480161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22" name="Text 18"/>
          <p:cNvSpPr txBox="1"/>
          <p:nvPr/>
        </p:nvSpPr>
        <p:spPr>
          <a:xfrm>
            <a:off x="6748272" y="1755648"/>
            <a:ext cx="4785055"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DOS CLICS, DOS SOLICITUDES</a:t>
            </a:r>
            <a:endParaRPr lang="en-US" sz="960" dirty="0"/>
          </a:p>
        </p:txBody>
      </p:sp>
      <p:sp>
        <p:nvSpPr>
          <p:cNvPr id="23" name="Shape 19"/>
          <p:cNvSpPr/>
          <p:nvPr/>
        </p:nvSpPr>
        <p:spPr>
          <a:xfrm>
            <a:off x="6748272" y="2048256"/>
            <a:ext cx="4785055" cy="822960"/>
          </a:xfrm>
          <a:prstGeom prst="rect">
            <a:avLst/>
          </a:prstGeom>
          <a:solidFill>
            <a:srgbClr val="FFFFFF"/>
          </a:solidFill>
          <a:ln w="12700">
            <a:solidFill>
              <a:srgbClr val="FFFFFF"/>
            </a:solidFill>
            <a:prstDash val="solid"/>
          </a:ln>
        </p:spPr>
      </p:sp>
      <p:sp>
        <p:nvSpPr>
          <p:cNvPr id="24" name="Shape 20"/>
          <p:cNvSpPr/>
          <p:nvPr/>
        </p:nvSpPr>
        <p:spPr>
          <a:xfrm>
            <a:off x="6894576" y="2176272"/>
            <a:ext cx="292608" cy="292608"/>
          </a:xfrm>
          <a:prstGeom prst="ellipse">
            <a:avLst/>
          </a:prstGeom>
          <a:solidFill>
            <a:srgbClr val="2E7D4F"/>
          </a:solidFill>
          <a:ln w="12700">
            <a:solidFill>
              <a:srgbClr val="2E7D4F"/>
            </a:solidFill>
            <a:prstDash val="solid"/>
          </a:ln>
        </p:spPr>
      </p:sp>
      <p:sp>
        <p:nvSpPr>
          <p:cNvPr id="25" name="Text 21"/>
          <p:cNvSpPr/>
          <p:nvPr/>
        </p:nvSpPr>
        <p:spPr>
          <a:xfrm>
            <a:off x="6903720" y="218541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26" name="Text 22"/>
          <p:cNvSpPr txBox="1"/>
          <p:nvPr/>
        </p:nvSpPr>
        <p:spPr>
          <a:xfrm>
            <a:off x="7315200" y="2176272"/>
            <a:ext cx="4053535" cy="274320"/>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La primera reserva el bloque</a:t>
            </a:r>
            <a:endParaRPr lang="en-US" sz="1220" dirty="0"/>
          </a:p>
        </p:txBody>
      </p:sp>
      <p:sp>
        <p:nvSpPr>
          <p:cNvPr id="27" name="Text 23"/>
          <p:cNvSpPr txBox="1"/>
          <p:nvPr/>
        </p:nvSpPr>
        <p:spPr>
          <a:xfrm>
            <a:off x="7315200" y="2468880"/>
            <a:ext cx="4053535" cy="329184"/>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La ficha queda «Tomado»: la reserva existe.</a:t>
            </a:r>
            <a:endParaRPr lang="en-US" sz="1060" dirty="0"/>
          </a:p>
        </p:txBody>
      </p:sp>
      <p:sp>
        <p:nvSpPr>
          <p:cNvPr id="28" name="Shape 24"/>
          <p:cNvSpPr/>
          <p:nvPr/>
        </p:nvSpPr>
        <p:spPr>
          <a:xfrm>
            <a:off x="6748272" y="2980944"/>
            <a:ext cx="4785055" cy="822960"/>
          </a:xfrm>
          <a:prstGeom prst="rect">
            <a:avLst/>
          </a:prstGeom>
          <a:solidFill>
            <a:srgbClr val="F2E7D9"/>
          </a:solidFill>
          <a:ln w="12700">
            <a:solidFill>
              <a:srgbClr val="F2E7D9"/>
            </a:solidFill>
            <a:prstDash val="solid"/>
          </a:ln>
        </p:spPr>
      </p:sp>
      <p:sp>
        <p:nvSpPr>
          <p:cNvPr id="29" name="Shape 25"/>
          <p:cNvSpPr/>
          <p:nvPr/>
        </p:nvSpPr>
        <p:spPr>
          <a:xfrm>
            <a:off x="6894576" y="3108960"/>
            <a:ext cx="292608" cy="292608"/>
          </a:xfrm>
          <a:prstGeom prst="ellipse">
            <a:avLst/>
          </a:prstGeom>
          <a:solidFill>
            <a:srgbClr val="B3181E"/>
          </a:solidFill>
          <a:ln w="12700">
            <a:solidFill>
              <a:srgbClr val="B3181E"/>
            </a:solidFill>
            <a:prstDash val="solid"/>
          </a:ln>
        </p:spPr>
      </p:sp>
      <p:sp>
        <p:nvSpPr>
          <p:cNvPr id="30" name="Text 26"/>
          <p:cNvSpPr/>
          <p:nvPr/>
        </p:nvSpPr>
        <p:spPr>
          <a:xfrm>
            <a:off x="6903720" y="31181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31" name="Text 27"/>
          <p:cNvSpPr txBox="1"/>
          <p:nvPr/>
        </p:nvSpPr>
        <p:spPr>
          <a:xfrm>
            <a:off x="7315200" y="3108960"/>
            <a:ext cx="4053535" cy="274320"/>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La segunda choca con esa misma reserva</a:t>
            </a:r>
            <a:endParaRPr lang="en-US" sz="1220" dirty="0"/>
          </a:p>
        </p:txBody>
      </p:sp>
      <p:sp>
        <p:nvSpPr>
          <p:cNvPr id="32" name="Text 28"/>
          <p:cNvSpPr txBox="1"/>
          <p:nvPr/>
        </p:nvSpPr>
        <p:spPr>
          <a:xfrm>
            <a:off x="7315200" y="3401568"/>
            <a:ext cx="4053535" cy="329184"/>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Su rechazo llega al último, y es lo que la página muestra.</a:t>
            </a:r>
            <a:endParaRPr lang="en-US" sz="1060" dirty="0"/>
          </a:p>
        </p:txBody>
      </p:sp>
      <p:sp>
        <p:nvSpPr>
          <p:cNvPr id="33" name="Shape 29"/>
          <p:cNvSpPr/>
          <p:nvPr/>
        </p:nvSpPr>
        <p:spPr>
          <a:xfrm>
            <a:off x="6748272" y="3986784"/>
            <a:ext cx="4785055" cy="1097280"/>
          </a:xfrm>
          <a:prstGeom prst="rect">
            <a:avLst/>
          </a:prstGeom>
          <a:solidFill>
            <a:srgbClr val="1D3A57"/>
          </a:solidFill>
          <a:ln w="12700">
            <a:solidFill>
              <a:srgbClr val="1D3A57"/>
            </a:solidFill>
            <a:prstDash val="solid"/>
          </a:ln>
        </p:spPr>
      </p:sp>
      <p:sp>
        <p:nvSpPr>
          <p:cNvPr id="34" name="Text 30"/>
          <p:cNvSpPr txBox="1"/>
          <p:nvPr/>
        </p:nvSpPr>
        <p:spPr>
          <a:xfrm>
            <a:off x="6986016" y="4114800"/>
            <a:ext cx="1828800" cy="822960"/>
          </a:xfrm>
          <a:prstGeom prst="rect">
            <a:avLst/>
          </a:prstGeom>
          <a:noFill/>
          <a:ln/>
        </p:spPr>
        <p:txBody>
          <a:bodyPr wrap="square" lIns="0" tIns="0" rIns="0" bIns="0" rtlCol="0" anchor="ctr"/>
          <a:lstStyle/>
          <a:p>
            <a:pPr algn="l" indent="0" marL="0">
              <a:buNone/>
            </a:pPr>
            <a:r>
              <a:rPr lang="en-US" sz="3400" b="1" dirty="0">
                <a:solidFill>
                  <a:srgbClr val="E0BC5A"/>
                </a:solidFill>
                <a:latin typeface="Aptos Display" pitchFamily="34" charset="0"/>
                <a:ea typeface="Aptos Display" pitchFamily="34" charset="-122"/>
                <a:cs typeface="Aptos Display" pitchFamily="34" charset="-120"/>
              </a:rPr>
              <a:t>10 / 10</a:t>
            </a:r>
            <a:endParaRPr lang="en-US" sz="3400" dirty="0"/>
          </a:p>
        </p:txBody>
      </p:sp>
      <p:sp>
        <p:nvSpPr>
          <p:cNvPr id="35" name="Text 31"/>
          <p:cNvSpPr txBox="1"/>
          <p:nvPr/>
        </p:nvSpPr>
        <p:spPr>
          <a:xfrm>
            <a:off x="8851392" y="4114800"/>
            <a:ext cx="2499055" cy="822960"/>
          </a:xfrm>
          <a:prstGeom prst="rect">
            <a:avLst/>
          </a:prstGeom>
          <a:noFill/>
          <a:ln/>
        </p:spPr>
        <p:txBody>
          <a:bodyPr wrap="square" lIns="0" tIns="0" rIns="0" bIns="0" rtlCol="0" anchor="ctr"/>
          <a:lstStyle/>
          <a:p>
            <a:pPr algn="l" indent="0" marL="0">
              <a:lnSpc>
                <a:spcPct val="112000"/>
              </a:lnSpc>
              <a:buNone/>
            </a:pPr>
            <a:r>
              <a:rPr lang="en-US" sz="1200" dirty="0">
                <a:solidFill>
                  <a:srgbClr val="FFFFFF"/>
                </a:solidFill>
                <a:latin typeface="Aptos" pitchFamily="34" charset="0"/>
                <a:ea typeface="Aptos" pitchFamily="34" charset="-122"/>
                <a:cs typeface="Aptos" pitchFamily="34" charset="-120"/>
              </a:rPr>
              <a:t>Repetido diez veces, el mensaje final fue el rechazo las diez.</a:t>
            </a:r>
            <a:endParaRPr lang="en-US" sz="1200" dirty="0"/>
          </a:p>
        </p:txBody>
      </p:sp>
      <p:sp>
        <p:nvSpPr>
          <p:cNvPr id="36" name="Shape 32"/>
          <p:cNvSpPr/>
          <p:nvPr/>
        </p:nvSpPr>
        <p:spPr>
          <a:xfrm>
            <a:off x="658368" y="5650992"/>
            <a:ext cx="10874959" cy="548640"/>
          </a:xfrm>
          <a:prstGeom prst="rect">
            <a:avLst/>
          </a:prstGeom>
          <a:solidFill>
            <a:srgbClr val="102A43"/>
          </a:solidFill>
          <a:ln w="12700">
            <a:solidFill>
              <a:srgbClr val="102A43"/>
            </a:solidFill>
            <a:prstDash val="solid"/>
          </a:ln>
        </p:spPr>
      </p:sp>
      <p:sp>
        <p:nvSpPr>
          <p:cNvPr id="37" name="Text 33"/>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defecto más grave de la sesión no estaba en ninguna lista de casos.</a:t>
            </a:r>
            <a:endParaRPr lang="en-US" sz="13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SESIÓN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Dos cosas que dependen de quién mira</a:t>
            </a:r>
            <a:endParaRPr lang="en-US" sz="3000" dirty="0"/>
          </a:p>
        </p:txBody>
      </p:sp>
      <p:sp>
        <p:nvSpPr>
          <p:cNvPr id="10" name="Shape 7"/>
          <p:cNvSpPr/>
          <p:nvPr/>
        </p:nvSpPr>
        <p:spPr>
          <a:xfrm>
            <a:off x="658368" y="1755648"/>
            <a:ext cx="5300320" cy="3712464"/>
          </a:xfrm>
          <a:prstGeom prst="rect">
            <a:avLst/>
          </a:prstGeom>
          <a:solidFill>
            <a:srgbClr val="FFFFFF"/>
          </a:solidFill>
          <a:ln w="12700">
            <a:solidFill>
              <a:srgbClr val="FFFFFF"/>
            </a:solidFill>
            <a:prstDash val="solid"/>
          </a:ln>
        </p:spPr>
      </p:sp>
      <p:sp>
        <p:nvSpPr>
          <p:cNvPr id="11" name="Shape 8"/>
          <p:cNvSpPr/>
          <p:nvPr/>
        </p:nvSpPr>
        <p:spPr>
          <a:xfrm>
            <a:off x="658368" y="1755648"/>
            <a:ext cx="5300320" cy="54864"/>
          </a:xfrm>
          <a:prstGeom prst="rect">
            <a:avLst/>
          </a:prstGeom>
          <a:solidFill>
            <a:srgbClr val="102A43"/>
          </a:solidFill>
          <a:ln w="12700">
            <a:solidFill>
              <a:srgbClr val="102A43"/>
            </a:solidFill>
            <a:prstDash val="solid"/>
          </a:ln>
        </p:spPr>
      </p:sp>
      <p:sp>
        <p:nvSpPr>
          <p:cNvPr id="12" name="Text 9"/>
          <p:cNvSpPr txBox="1"/>
          <p:nvPr/>
        </p:nvSpPr>
        <p:spPr>
          <a:xfrm>
            <a:off x="896112" y="1956816"/>
            <a:ext cx="484312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PRUEBAS 3 Y 4 · LA VALIDACIÓN NATIVA</a:t>
            </a:r>
            <a:endParaRPr lang="en-US" sz="960" dirty="0"/>
          </a:p>
        </p:txBody>
      </p:sp>
      <p:sp>
        <p:nvSpPr>
          <p:cNvPr id="13" name="Text 10"/>
          <p:cNvSpPr txBox="1"/>
          <p:nvPr/>
        </p:nvSpPr>
        <p:spPr>
          <a:xfrm>
            <a:off x="932688" y="2304288"/>
            <a:ext cx="1828800" cy="201168"/>
          </a:xfrm>
          <a:prstGeom prst="rect">
            <a:avLst/>
          </a:prstGeom>
          <a:noFill/>
          <a:ln/>
        </p:spPr>
        <p:txBody>
          <a:bodyPr wrap="square" lIns="0" tIns="0" rIns="0" bIns="0" rtlCol="0" anchor="t"/>
          <a:lstStyle/>
          <a:p>
            <a:pPr algn="l" indent="0" marL="0">
              <a:buNone/>
            </a:pPr>
            <a:r>
              <a:rPr lang="en-US" sz="1040" dirty="0">
                <a:solidFill>
                  <a:srgbClr val="52606D"/>
                </a:solidFill>
                <a:latin typeface="Aptos" pitchFamily="34" charset="0"/>
                <a:ea typeface="Aptos" pitchFamily="34" charset="-122"/>
                <a:cs typeface="Aptos" pitchFamily="34" charset="-120"/>
              </a:rPr>
              <a:t>Personas</a:t>
            </a:r>
            <a:endParaRPr lang="en-US" sz="1040" dirty="0"/>
          </a:p>
        </p:txBody>
      </p:sp>
      <p:sp>
        <p:nvSpPr>
          <p:cNvPr id="14" name="Shape 11"/>
          <p:cNvSpPr/>
          <p:nvPr/>
        </p:nvSpPr>
        <p:spPr>
          <a:xfrm>
            <a:off x="932688" y="2542032"/>
            <a:ext cx="2103120" cy="402336"/>
          </a:xfrm>
          <a:prstGeom prst="rect">
            <a:avLst/>
          </a:prstGeom>
          <a:solidFill>
            <a:srgbClr val="FFFFFF"/>
          </a:solidFill>
          <a:ln w="12700">
            <a:solidFill>
              <a:srgbClr val="D8CFC4"/>
            </a:solidFill>
            <a:prstDash val="solid"/>
          </a:ln>
        </p:spPr>
      </p:sp>
      <p:sp>
        <p:nvSpPr>
          <p:cNvPr id="15" name="Text 12"/>
          <p:cNvSpPr txBox="1"/>
          <p:nvPr/>
        </p:nvSpPr>
        <p:spPr>
          <a:xfrm>
            <a:off x="1060704" y="2578608"/>
            <a:ext cx="914400" cy="329184"/>
          </a:xfrm>
          <a:prstGeom prst="rect">
            <a:avLst/>
          </a:prstGeom>
          <a:noFill/>
          <a:ln/>
        </p:spPr>
        <p:txBody>
          <a:bodyPr wrap="square" lIns="0" tIns="0" rIns="0" bIns="0" rtlCol="0" anchor="ctr"/>
          <a:lstStyle/>
          <a:p>
            <a:pPr algn="l" indent="0" marL="0">
              <a:buNone/>
            </a:pPr>
            <a:r>
              <a:rPr lang="en-US" sz="1300" dirty="0">
                <a:solidFill>
                  <a:srgbClr val="243B53"/>
                </a:solidFill>
                <a:latin typeface="Aptos" pitchFamily="34" charset="0"/>
                <a:ea typeface="Aptos" pitchFamily="34" charset="-122"/>
                <a:cs typeface="Aptos" pitchFamily="34" charset="-120"/>
              </a:rPr>
              <a:t>31</a:t>
            </a:r>
            <a:endParaRPr lang="en-US" sz="1300" dirty="0"/>
          </a:p>
        </p:txBody>
      </p:sp>
      <p:sp>
        <p:nvSpPr>
          <p:cNvPr id="16" name="Shape 13"/>
          <p:cNvSpPr/>
          <p:nvPr/>
        </p:nvSpPr>
        <p:spPr>
          <a:xfrm>
            <a:off x="932688" y="3035808"/>
            <a:ext cx="4751680" cy="420624"/>
          </a:xfrm>
          <a:prstGeom prst="rect">
            <a:avLst/>
          </a:prstGeom>
          <a:solidFill>
            <a:srgbClr val="EDE6DA"/>
          </a:solidFill>
          <a:ln w="12700">
            <a:solidFill>
              <a:srgbClr val="D8CFC4"/>
            </a:solidFill>
            <a:prstDash val="solid"/>
          </a:ln>
        </p:spPr>
      </p:sp>
      <p:sp>
        <p:nvSpPr>
          <p:cNvPr id="17" name="Text 14"/>
          <p:cNvSpPr txBox="1"/>
          <p:nvPr/>
        </p:nvSpPr>
        <p:spPr>
          <a:xfrm>
            <a:off x="1060704" y="3072384"/>
            <a:ext cx="4477360" cy="347472"/>
          </a:xfrm>
          <a:prstGeom prst="rect">
            <a:avLst/>
          </a:prstGeom>
          <a:noFill/>
          <a:ln/>
        </p:spPr>
        <p:txBody>
          <a:bodyPr wrap="square" lIns="0" tIns="0" rIns="0" bIns="0" rtlCol="0" anchor="ctr"/>
          <a:lstStyle/>
          <a:p>
            <a:pPr algn="l" indent="0" marL="0">
              <a:buNone/>
            </a:pPr>
            <a:r>
              <a:rPr lang="en-US" sz="1140" dirty="0">
                <a:solidFill>
                  <a:srgbClr val="243B53"/>
                </a:solidFill>
                <a:latin typeface="Aptos" pitchFamily="34" charset="0"/>
                <a:ea typeface="Aptos" pitchFamily="34" charset="-122"/>
                <a:cs typeface="Aptos" pitchFamily="34" charset="-120"/>
              </a:rPr>
              <a:t>Value must be less than or equal to 30.</a:t>
            </a:r>
            <a:endParaRPr lang="en-US" sz="1140" dirty="0"/>
          </a:p>
        </p:txBody>
      </p:sp>
      <p:sp>
        <p:nvSpPr>
          <p:cNvPr id="18" name="Text 15"/>
          <p:cNvSpPr txBox="1"/>
          <p:nvPr/>
        </p:nvSpPr>
        <p:spPr>
          <a:xfrm>
            <a:off x="932688" y="3639312"/>
            <a:ext cx="4751680" cy="731520"/>
          </a:xfrm>
          <a:prstGeom prst="rect">
            <a:avLst/>
          </a:prstGeom>
          <a:noFill/>
          <a:ln/>
        </p:spPr>
        <p:txBody>
          <a:bodyPr wrap="square" lIns="0" tIns="0" rIns="0" bIns="0" rtlCol="0" anchor="t"/>
          <a:lstStyle/>
          <a:p>
            <a:pPr algn="l" indent="0" marL="0">
              <a:lnSpc>
                <a:spcPct val="112000"/>
              </a:lnSpc>
              <a:buNone/>
            </a:pPr>
            <a:r>
              <a:rPr lang="en-US" sz="1120" dirty="0">
                <a:solidFill>
                  <a:srgbClr val="243B53"/>
                </a:solidFill>
                <a:latin typeface="Aptos" pitchFamily="34" charset="0"/>
                <a:ea typeface="Aptos" pitchFamily="34" charset="-122"/>
                <a:cs typeface="Aptos" pitchFamily="34" charset="-120"/>
              </a:rPr>
              <a:t>El formulario nunca llega a la API: el navegador revisa el mínimo y el máximo que el campo declara (atributos min y max) antes de enviar, y muestra un globo sobre él.</a:t>
            </a:r>
            <a:endParaRPr lang="en-US" sz="1120" dirty="0"/>
          </a:p>
        </p:txBody>
      </p:sp>
      <p:sp>
        <p:nvSpPr>
          <p:cNvPr id="19" name="Text 16"/>
          <p:cNvSpPr txBox="1"/>
          <p:nvPr/>
        </p:nvSpPr>
        <p:spPr>
          <a:xfrm>
            <a:off x="932688" y="4425696"/>
            <a:ext cx="4751680" cy="822960"/>
          </a:xfrm>
          <a:prstGeom prst="rect">
            <a:avLst/>
          </a:prstGeom>
          <a:noFill/>
          <a:ln/>
        </p:spPr>
        <p:txBody>
          <a:bodyPr wrap="square" lIns="0" tIns="0" rIns="0" bIns="0" rtlCol="0" anchor="t"/>
          <a:lstStyle/>
          <a:p>
            <a:pPr algn="l" indent="0" marL="0">
              <a:lnSpc>
                <a:spcPct val="112000"/>
              </a:lnSpc>
              <a:buNone/>
            </a:pPr>
            <a:r>
              <a:rPr lang="en-US" sz="1120" i="1" dirty="0">
                <a:solidFill>
                  <a:srgbClr val="52606D"/>
                </a:solidFill>
                <a:latin typeface="Aptos" pitchFamily="34" charset="0"/>
                <a:ea typeface="Aptos" pitchFamily="34" charset="-122"/>
                <a:cs typeface="Aptos" pitchFamily="34" charset="-120"/>
              </a:rPr>
              <a:t>Sale en inglés porque el navegador de las pruebas está configurado en inglés. En uno configurado en español, saldría en español.</a:t>
            </a:r>
            <a:endParaRPr lang="en-US" sz="1120" dirty="0"/>
          </a:p>
        </p:txBody>
      </p:sp>
      <p:sp>
        <p:nvSpPr>
          <p:cNvPr id="20" name="Shape 17"/>
          <p:cNvSpPr/>
          <p:nvPr/>
        </p:nvSpPr>
        <p:spPr>
          <a:xfrm>
            <a:off x="6233008" y="1755648"/>
            <a:ext cx="5300320" cy="3712464"/>
          </a:xfrm>
          <a:prstGeom prst="rect">
            <a:avLst/>
          </a:prstGeom>
          <a:solidFill>
            <a:srgbClr val="FFFFFF"/>
          </a:solidFill>
          <a:ln w="12700">
            <a:solidFill>
              <a:srgbClr val="FFFFFF"/>
            </a:solidFill>
            <a:prstDash val="solid"/>
          </a:ln>
        </p:spPr>
      </p:sp>
      <p:sp>
        <p:nvSpPr>
          <p:cNvPr id="21" name="Shape 18"/>
          <p:cNvSpPr/>
          <p:nvPr/>
        </p:nvSpPr>
        <p:spPr>
          <a:xfrm>
            <a:off x="6233008" y="1755648"/>
            <a:ext cx="5300320" cy="54864"/>
          </a:xfrm>
          <a:prstGeom prst="rect">
            <a:avLst/>
          </a:prstGeom>
          <a:solidFill>
            <a:srgbClr val="B3181E"/>
          </a:solidFill>
          <a:ln w="12700">
            <a:solidFill>
              <a:srgbClr val="B3181E"/>
            </a:solidFill>
            <a:prstDash val="solid"/>
          </a:ln>
        </p:spPr>
      </p:sp>
      <p:sp>
        <p:nvSpPr>
          <p:cNvPr id="22" name="Text 19"/>
          <p:cNvSpPr txBox="1"/>
          <p:nvPr/>
        </p:nvSpPr>
        <p:spPr>
          <a:xfrm>
            <a:off x="6470752" y="1956816"/>
            <a:ext cx="484312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PRUEBA 1 · LA CONFIRMACIÓN</a:t>
            </a:r>
            <a:endParaRPr lang="en-US" sz="960" dirty="0"/>
          </a:p>
        </p:txBody>
      </p:sp>
      <p:sp>
        <p:nvSpPr>
          <p:cNvPr id="23" name="Shape 20"/>
          <p:cNvSpPr/>
          <p:nvPr/>
        </p:nvSpPr>
        <p:spPr>
          <a:xfrm>
            <a:off x="6507328" y="2322576"/>
            <a:ext cx="4751680" cy="1133856"/>
          </a:xfrm>
          <a:prstGeom prst="rect">
            <a:avLst/>
          </a:prstGeom>
          <a:solidFill>
            <a:srgbClr val="EDE6DA"/>
          </a:solidFill>
          <a:ln w="12700">
            <a:solidFill>
              <a:srgbClr val="EDE6DA"/>
            </a:solidFill>
            <a:prstDash val="solid"/>
          </a:ln>
        </p:spPr>
      </p:sp>
      <p:sp>
        <p:nvSpPr>
          <p:cNvPr id="24" name="Text 21"/>
          <p:cNvSpPr txBox="1"/>
          <p:nvPr/>
        </p:nvSpPr>
        <p:spPr>
          <a:xfrm>
            <a:off x="6653632" y="2414016"/>
            <a:ext cx="4477360" cy="237744"/>
          </a:xfrm>
          <a:prstGeom prst="rect">
            <a:avLst/>
          </a:prstGeom>
          <a:noFill/>
          <a:ln/>
        </p:spPr>
        <p:txBody>
          <a:bodyPr wrap="square" lIns="0" tIns="0" rIns="0" bIns="0" rtlCol="0" anchor="t"/>
          <a:lstStyle/>
          <a:p>
            <a:pPr algn="l" indent="0" marL="0">
              <a:buNone/>
            </a:pPr>
            <a:r>
              <a:rPr lang="en-US" sz="1140" dirty="0">
                <a:solidFill>
                  <a:srgbClr val="2E7D4F"/>
                </a:solidFill>
                <a:latin typeface="Aptos" pitchFamily="34" charset="0"/>
                <a:ea typeface="Aptos" pitchFamily="34" charset="-122"/>
                <a:cs typeface="Aptos" pitchFamily="34" charset="-120"/>
              </a:rPr>
              <a:t>Reserva confirmada.</a:t>
            </a:r>
            <a:endParaRPr lang="en-US" sz="1140" dirty="0"/>
          </a:p>
        </p:txBody>
      </p:sp>
      <p:sp>
        <p:nvSpPr>
          <p:cNvPr id="25" name="Text 22"/>
          <p:cNvSpPr txBox="1"/>
          <p:nvPr/>
        </p:nvSpPr>
        <p:spPr>
          <a:xfrm>
            <a:off x="6653632" y="2706624"/>
            <a:ext cx="822960" cy="274320"/>
          </a:xfrm>
          <a:prstGeom prst="rect">
            <a:avLst/>
          </a:prstGeom>
          <a:noFill/>
          <a:ln/>
        </p:spPr>
        <p:txBody>
          <a:bodyPr wrap="square" lIns="0" tIns="0" rIns="0" bIns="0" rtlCol="0" anchor="ctr"/>
          <a:lstStyle/>
          <a:p>
            <a:pPr algn="l" indent="0" marL="0">
              <a:buNone/>
            </a:pPr>
            <a:r>
              <a:rPr lang="en-US" sz="1000" b="1" dirty="0">
                <a:solidFill>
                  <a:srgbClr val="B3181E"/>
                </a:solidFill>
                <a:latin typeface="Aptos" pitchFamily="34" charset="0"/>
                <a:ea typeface="Aptos" pitchFamily="34" charset="-122"/>
                <a:cs typeface="Aptos" pitchFamily="34" charset="-120"/>
              </a:rPr>
              <a:t>RUT</a:t>
            </a:r>
            <a:endParaRPr lang="en-US" sz="1000" dirty="0"/>
          </a:p>
        </p:txBody>
      </p:sp>
      <p:sp>
        <p:nvSpPr>
          <p:cNvPr id="26" name="Shape 23"/>
          <p:cNvSpPr/>
          <p:nvPr/>
        </p:nvSpPr>
        <p:spPr>
          <a:xfrm>
            <a:off x="7513168" y="2706624"/>
            <a:ext cx="2651760" cy="274320"/>
          </a:xfrm>
          <a:prstGeom prst="rect">
            <a:avLst/>
          </a:prstGeom>
          <a:solidFill>
            <a:srgbClr val="F8E4E5"/>
          </a:solidFill>
          <a:ln w="12700">
            <a:solidFill>
              <a:srgbClr val="F8E4E5"/>
            </a:solidFill>
            <a:prstDash val="solid"/>
          </a:ln>
        </p:spPr>
      </p:sp>
      <p:sp>
        <p:nvSpPr>
          <p:cNvPr id="27" name="Text 24"/>
          <p:cNvSpPr txBox="1"/>
          <p:nvPr/>
        </p:nvSpPr>
        <p:spPr>
          <a:xfrm>
            <a:off x="7604608" y="2724912"/>
            <a:ext cx="2468880" cy="237744"/>
          </a:xfrm>
          <a:prstGeom prst="rect">
            <a:avLst/>
          </a:prstGeom>
          <a:noFill/>
          <a:ln/>
        </p:spPr>
        <p:txBody>
          <a:bodyPr wrap="square" lIns="0" tIns="0" rIns="0" bIns="0" rtlCol="0" anchor="ctr"/>
          <a:lstStyle/>
          <a:p>
            <a:pPr algn="l" indent="0" marL="0">
              <a:buNone/>
            </a:pPr>
            <a:r>
              <a:rPr lang="en-US" sz="1040" dirty="0">
                <a:solidFill>
                  <a:srgbClr val="243B53"/>
                </a:solidFill>
                <a:latin typeface="Consolas" pitchFamily="34" charset="0"/>
                <a:ea typeface="Consolas" pitchFamily="34" charset="-122"/>
                <a:cs typeface="Consolas" pitchFamily="34" charset="-120"/>
              </a:rPr>
              <a:t>11.111.111-1</a:t>
            </a:r>
            <a:endParaRPr lang="en-US" sz="1040" dirty="0"/>
          </a:p>
        </p:txBody>
      </p:sp>
      <p:sp>
        <p:nvSpPr>
          <p:cNvPr id="28" name="Text 25"/>
          <p:cNvSpPr txBox="1"/>
          <p:nvPr/>
        </p:nvSpPr>
        <p:spPr>
          <a:xfrm>
            <a:off x="6653632" y="3054096"/>
            <a:ext cx="822960" cy="274320"/>
          </a:xfrm>
          <a:prstGeom prst="rect">
            <a:avLst/>
          </a:prstGeom>
          <a:noFill/>
          <a:ln/>
        </p:spPr>
        <p:txBody>
          <a:bodyPr wrap="square" lIns="0" tIns="0" rIns="0" bIns="0" rtlCol="0" anchor="ctr"/>
          <a:lstStyle/>
          <a:p>
            <a:pPr algn="l" indent="0" marL="0">
              <a:buNone/>
            </a:pPr>
            <a:r>
              <a:rPr lang="en-US" sz="1000" b="1" dirty="0">
                <a:solidFill>
                  <a:srgbClr val="B3181E"/>
                </a:solidFill>
                <a:latin typeface="Aptos" pitchFamily="34" charset="0"/>
                <a:ea typeface="Aptos" pitchFamily="34" charset="-122"/>
                <a:cs typeface="Aptos" pitchFamily="34" charset="-120"/>
              </a:rPr>
              <a:t>Correo</a:t>
            </a:r>
            <a:endParaRPr lang="en-US" sz="1000" dirty="0"/>
          </a:p>
        </p:txBody>
      </p:sp>
      <p:sp>
        <p:nvSpPr>
          <p:cNvPr id="29" name="Shape 26"/>
          <p:cNvSpPr/>
          <p:nvPr/>
        </p:nvSpPr>
        <p:spPr>
          <a:xfrm>
            <a:off x="7513168" y="3054096"/>
            <a:ext cx="2651760" cy="274320"/>
          </a:xfrm>
          <a:prstGeom prst="rect">
            <a:avLst/>
          </a:prstGeom>
          <a:solidFill>
            <a:srgbClr val="F8E4E5"/>
          </a:solidFill>
          <a:ln w="12700">
            <a:solidFill>
              <a:srgbClr val="F8E4E5"/>
            </a:solidFill>
            <a:prstDash val="solid"/>
          </a:ln>
        </p:spPr>
      </p:sp>
      <p:sp>
        <p:nvSpPr>
          <p:cNvPr id="30" name="Text 27"/>
          <p:cNvSpPr txBox="1"/>
          <p:nvPr/>
        </p:nvSpPr>
        <p:spPr>
          <a:xfrm>
            <a:off x="7604608" y="3072384"/>
            <a:ext cx="2468880" cy="237744"/>
          </a:xfrm>
          <a:prstGeom prst="rect">
            <a:avLst/>
          </a:prstGeom>
          <a:noFill/>
          <a:ln/>
        </p:spPr>
        <p:txBody>
          <a:bodyPr wrap="square" lIns="0" tIns="0" rIns="0" bIns="0" rtlCol="0" anchor="ctr"/>
          <a:lstStyle/>
          <a:p>
            <a:pPr algn="l" indent="0" marL="0">
              <a:buNone/>
            </a:pPr>
            <a:r>
              <a:rPr lang="en-US" sz="1040" dirty="0">
                <a:solidFill>
                  <a:srgbClr val="243B53"/>
                </a:solidFill>
                <a:latin typeface="Consolas" pitchFamily="34" charset="0"/>
                <a:ea typeface="Consolas" pitchFamily="34" charset="-122"/>
                <a:cs typeface="Consolas" pitchFamily="34" charset="-120"/>
              </a:rPr>
              <a:t>ana.rivas@ejemplo.cl</a:t>
            </a:r>
            <a:endParaRPr lang="en-US" sz="1040" dirty="0"/>
          </a:p>
        </p:txBody>
      </p:sp>
      <p:sp>
        <p:nvSpPr>
          <p:cNvPr id="31" name="Text 28"/>
          <p:cNvSpPr txBox="1"/>
          <p:nvPr/>
        </p:nvSpPr>
        <p:spPr>
          <a:xfrm>
            <a:off x="6507328" y="3639312"/>
            <a:ext cx="4751680" cy="731520"/>
          </a:xfrm>
          <a:prstGeom prst="rect">
            <a:avLst/>
          </a:prstGeom>
          <a:noFill/>
          <a:ln/>
        </p:spPr>
        <p:txBody>
          <a:bodyPr wrap="square" lIns="0" tIns="0" rIns="0" bIns="0" rtlCol="0" anchor="t"/>
          <a:lstStyle/>
          <a:p>
            <a:pPr algn="l" indent="0" marL="0">
              <a:lnSpc>
                <a:spcPct val="112000"/>
              </a:lnSpc>
              <a:buNone/>
            </a:pPr>
            <a:r>
              <a:rPr lang="en-US" sz="1120" dirty="0">
                <a:solidFill>
                  <a:srgbClr val="243B53"/>
                </a:solidFill>
                <a:latin typeface="Aptos" pitchFamily="34" charset="0"/>
                <a:ea typeface="Aptos" pitchFamily="34" charset="-122"/>
                <a:cs typeface="Aptos" pitchFamily="34" charset="-120"/>
              </a:rPr>
              <a:t>La confirmación muestra el RUT y el correo completos en pantalla, a la vista de quien esté mirando.</a:t>
            </a:r>
            <a:endParaRPr lang="en-US" sz="1120" dirty="0"/>
          </a:p>
        </p:txBody>
      </p:sp>
      <p:sp>
        <p:nvSpPr>
          <p:cNvPr id="32" name="Text 29"/>
          <p:cNvSpPr txBox="1"/>
          <p:nvPr/>
        </p:nvSpPr>
        <p:spPr>
          <a:xfrm>
            <a:off x="6507328" y="4425696"/>
            <a:ext cx="4751680" cy="822960"/>
          </a:xfrm>
          <a:prstGeom prst="rect">
            <a:avLst/>
          </a:prstGeom>
          <a:noFill/>
          <a:ln/>
        </p:spPr>
        <p:txBody>
          <a:bodyPr wrap="square" lIns="0" tIns="0" rIns="0" bIns="0" rtlCol="0" anchor="t"/>
          <a:lstStyle/>
          <a:p>
            <a:pPr algn="l" indent="0" marL="0">
              <a:lnSpc>
                <a:spcPct val="112000"/>
              </a:lnSpc>
              <a:buNone/>
            </a:pPr>
            <a:r>
              <a:rPr lang="en-US" sz="1120" i="1" dirty="0">
                <a:solidFill>
                  <a:srgbClr val="52606D"/>
                </a:solidFill>
                <a:latin typeface="Aptos" pitchFamily="34" charset="0"/>
                <a:ea typeface="Aptos" pitchFamily="34" charset="-122"/>
                <a:cs typeface="Aptos" pitchFamily="34" charset="-120"/>
              </a:rPr>
              <a:t>No es de usabilidad. Si es aceptable, lo decide la finalidad escrita en el requisito, no la sesión.</a:t>
            </a:r>
            <a:endParaRPr lang="en-US" sz="1120" dirty="0"/>
          </a:p>
        </p:txBody>
      </p:sp>
      <p:sp>
        <p:nvSpPr>
          <p:cNvPr id="33" name="Shape 30"/>
          <p:cNvSpPr/>
          <p:nvPr/>
        </p:nvSpPr>
        <p:spPr>
          <a:xfrm>
            <a:off x="658368" y="5650992"/>
            <a:ext cx="10874959" cy="548640"/>
          </a:xfrm>
          <a:prstGeom prst="rect">
            <a:avLst/>
          </a:prstGeom>
          <a:solidFill>
            <a:srgbClr val="102A43"/>
          </a:solidFill>
          <a:ln w="12700">
            <a:solidFill>
              <a:srgbClr val="102A43"/>
            </a:solidFill>
            <a:prstDash val="solid"/>
          </a:ln>
        </p:spPr>
      </p:sp>
      <p:sp>
        <p:nvSpPr>
          <p:cNvPr id="34" name="Text 3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registro guarda lo que apareció. Decidir si es un defecto necesita algo más.</a:t>
            </a:r>
            <a:endParaRPr lang="en-US" sz="138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AGENTE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Un agente que entra por primera vez</a:t>
            </a:r>
            <a:endParaRPr lang="en-US" sz="3000" dirty="0"/>
          </a:p>
        </p:txBody>
      </p:sp>
      <p:sp>
        <p:nvSpPr>
          <p:cNvPr id="10" name="Shape 7"/>
          <p:cNvSpPr/>
          <p:nvPr/>
        </p:nvSpPr>
        <p:spPr>
          <a:xfrm>
            <a:off x="658368" y="1737360"/>
            <a:ext cx="10874959" cy="2056384"/>
          </a:xfrm>
          <a:prstGeom prst="roundRect">
            <a:avLst>
              <a:gd name="adj" fmla="val 2223"/>
            </a:avLst>
          </a:prstGeom>
          <a:solidFill>
            <a:srgbClr val="102A43"/>
          </a:solidFill>
          <a:ln w="12700">
            <a:solidFill>
              <a:srgbClr val="102A43"/>
            </a:solidFill>
            <a:prstDash val="solid"/>
          </a:ln>
        </p:spPr>
      </p:sp>
      <p:sp>
        <p:nvSpPr>
          <p:cNvPr id="11" name="Shape 8"/>
          <p:cNvSpPr/>
          <p:nvPr/>
        </p:nvSpPr>
        <p:spPr>
          <a:xfrm>
            <a:off x="713232" y="1870964"/>
            <a:ext cx="10362895" cy="165811"/>
          </a:xfrm>
          <a:prstGeom prst="rect">
            <a:avLst/>
          </a:prstGeom>
          <a:solidFill>
            <a:srgbClr val="B3181E">
              <a:alpha val="28000"/>
            </a:srgbClr>
          </a:solidFill>
          <a:ln w="12700">
            <a:solidFill>
              <a:srgbClr val="B3181E">
                <a:alpha val="0"/>
              </a:srgbClr>
            </a:solidFill>
            <a:prstDash val="solid"/>
          </a:ln>
        </p:spPr>
      </p:sp>
      <p:sp>
        <p:nvSpPr>
          <p:cNvPr id="12" name="Shape 9"/>
          <p:cNvSpPr/>
          <p:nvPr/>
        </p:nvSpPr>
        <p:spPr>
          <a:xfrm>
            <a:off x="713232" y="2734564"/>
            <a:ext cx="10362895" cy="165811"/>
          </a:xfrm>
          <a:prstGeom prst="rect">
            <a:avLst/>
          </a:prstGeom>
          <a:solidFill>
            <a:srgbClr val="E0BC5A">
              <a:alpha val="28000"/>
            </a:srgbClr>
          </a:solidFill>
          <a:ln w="12700">
            <a:solidFill>
              <a:srgbClr val="E0BC5A">
                <a:alpha val="0"/>
              </a:srgbClr>
            </a:solidFill>
            <a:prstDash val="solid"/>
          </a:ln>
        </p:spPr>
      </p:sp>
      <p:sp>
        <p:nvSpPr>
          <p:cNvPr id="13" name="Shape 10"/>
          <p:cNvSpPr/>
          <p:nvPr/>
        </p:nvSpPr>
        <p:spPr>
          <a:xfrm>
            <a:off x="713232" y="3425444"/>
            <a:ext cx="10362895" cy="165811"/>
          </a:xfrm>
          <a:prstGeom prst="rect">
            <a:avLst/>
          </a:prstGeom>
          <a:solidFill>
            <a:srgbClr val="2E7D4F">
              <a:alpha val="28000"/>
            </a:srgbClr>
          </a:solidFill>
          <a:ln w="12700">
            <a:solidFill>
              <a:srgbClr val="2E7D4F">
                <a:alpha val="0"/>
              </a:srgbClr>
            </a:solidFill>
            <a:prstDash val="solid"/>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1883664"/>
            <a:ext cx="10143439" cy="1782064"/>
          </a:xfrm>
          <a:prstGeom prst="rect">
            <a:avLst/>
          </a:prstGeom>
        </p:spPr>
      </p:pic>
      <p:sp>
        <p:nvSpPr>
          <p:cNvPr id="15" name="Shape 11"/>
          <p:cNvSpPr/>
          <p:nvPr/>
        </p:nvSpPr>
        <p:spPr>
          <a:xfrm>
            <a:off x="11225276" y="1867713"/>
            <a:ext cx="158902" cy="158902"/>
          </a:xfrm>
          <a:prstGeom prst="ellipse">
            <a:avLst/>
          </a:prstGeom>
          <a:solidFill>
            <a:srgbClr val="B3181E"/>
          </a:solidFill>
          <a:ln w="12700">
            <a:solidFill>
              <a:srgbClr val="B3181E"/>
            </a:solidFill>
            <a:prstDash val="solid"/>
          </a:ln>
        </p:spPr>
      </p:sp>
      <p:sp>
        <p:nvSpPr>
          <p:cNvPr id="16" name="Text 12"/>
          <p:cNvSpPr/>
          <p:nvPr/>
        </p:nvSpPr>
        <p:spPr>
          <a:xfrm>
            <a:off x="11234420" y="1876857"/>
            <a:ext cx="140614" cy="14061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1</a:t>
            </a:r>
            <a:endParaRPr lang="en-US" sz="940" dirty="0"/>
          </a:p>
        </p:txBody>
      </p:sp>
      <p:sp>
        <p:nvSpPr>
          <p:cNvPr id="17" name="Shape 13"/>
          <p:cNvSpPr/>
          <p:nvPr/>
        </p:nvSpPr>
        <p:spPr>
          <a:xfrm>
            <a:off x="11225276" y="2731313"/>
            <a:ext cx="158902" cy="158902"/>
          </a:xfrm>
          <a:prstGeom prst="ellipse">
            <a:avLst/>
          </a:prstGeom>
          <a:solidFill>
            <a:srgbClr val="E0BC5A"/>
          </a:solidFill>
          <a:ln w="12700">
            <a:solidFill>
              <a:srgbClr val="E0BC5A"/>
            </a:solidFill>
            <a:prstDash val="solid"/>
          </a:ln>
        </p:spPr>
      </p:sp>
      <p:sp>
        <p:nvSpPr>
          <p:cNvPr id="18" name="Text 14"/>
          <p:cNvSpPr/>
          <p:nvPr/>
        </p:nvSpPr>
        <p:spPr>
          <a:xfrm>
            <a:off x="11234420" y="2740457"/>
            <a:ext cx="140614" cy="14061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2</a:t>
            </a:r>
            <a:endParaRPr lang="en-US" sz="940" dirty="0"/>
          </a:p>
        </p:txBody>
      </p:sp>
      <p:sp>
        <p:nvSpPr>
          <p:cNvPr id="19" name="Shape 15"/>
          <p:cNvSpPr/>
          <p:nvPr/>
        </p:nvSpPr>
        <p:spPr>
          <a:xfrm>
            <a:off x="11225276" y="3422193"/>
            <a:ext cx="158902" cy="158902"/>
          </a:xfrm>
          <a:prstGeom prst="ellipse">
            <a:avLst/>
          </a:prstGeom>
          <a:solidFill>
            <a:srgbClr val="2E7D4F"/>
          </a:solidFill>
          <a:ln w="12700">
            <a:solidFill>
              <a:srgbClr val="2E7D4F"/>
            </a:solidFill>
            <a:prstDash val="solid"/>
          </a:ln>
        </p:spPr>
      </p:sp>
      <p:sp>
        <p:nvSpPr>
          <p:cNvPr id="20" name="Text 16"/>
          <p:cNvSpPr/>
          <p:nvPr/>
        </p:nvSpPr>
        <p:spPr>
          <a:xfrm>
            <a:off x="11234420" y="3431337"/>
            <a:ext cx="140614" cy="14061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3</a:t>
            </a:r>
            <a:endParaRPr lang="en-US" sz="940" dirty="0"/>
          </a:p>
        </p:txBody>
      </p:sp>
      <p:sp>
        <p:nvSpPr>
          <p:cNvPr id="21" name="Shape 17"/>
          <p:cNvSpPr/>
          <p:nvPr/>
        </p:nvSpPr>
        <p:spPr>
          <a:xfrm>
            <a:off x="658368" y="3940048"/>
            <a:ext cx="3527450" cy="1546352"/>
          </a:xfrm>
          <a:prstGeom prst="rect">
            <a:avLst/>
          </a:prstGeom>
          <a:solidFill>
            <a:srgbClr val="FFFFFF"/>
          </a:solidFill>
          <a:ln w="12700">
            <a:solidFill>
              <a:srgbClr val="FFFFFF"/>
            </a:solidFill>
            <a:prstDash val="solid"/>
          </a:ln>
        </p:spPr>
      </p:sp>
      <p:sp>
        <p:nvSpPr>
          <p:cNvPr id="22" name="Shape 18"/>
          <p:cNvSpPr/>
          <p:nvPr/>
        </p:nvSpPr>
        <p:spPr>
          <a:xfrm>
            <a:off x="658368" y="3940048"/>
            <a:ext cx="3527450" cy="54864"/>
          </a:xfrm>
          <a:prstGeom prst="rect">
            <a:avLst/>
          </a:prstGeom>
          <a:solidFill>
            <a:srgbClr val="B3181E"/>
          </a:solidFill>
          <a:ln w="12700">
            <a:solidFill>
              <a:srgbClr val="B3181E"/>
            </a:solidFill>
            <a:prstDash val="solid"/>
          </a:ln>
        </p:spPr>
      </p:sp>
      <p:sp>
        <p:nvSpPr>
          <p:cNvPr id="23" name="Shape 19"/>
          <p:cNvSpPr/>
          <p:nvPr/>
        </p:nvSpPr>
        <p:spPr>
          <a:xfrm>
            <a:off x="832104" y="4113784"/>
            <a:ext cx="274320" cy="274320"/>
          </a:xfrm>
          <a:prstGeom prst="ellipse">
            <a:avLst/>
          </a:prstGeom>
          <a:solidFill>
            <a:srgbClr val="B3181E"/>
          </a:solidFill>
          <a:ln w="12700">
            <a:solidFill>
              <a:srgbClr val="B3181E"/>
            </a:solidFill>
            <a:prstDash val="solid"/>
          </a:ln>
        </p:spPr>
      </p:sp>
      <p:sp>
        <p:nvSpPr>
          <p:cNvPr id="24" name="Text 20"/>
          <p:cNvSpPr/>
          <p:nvPr/>
        </p:nvSpPr>
        <p:spPr>
          <a:xfrm>
            <a:off x="841248" y="4122928"/>
            <a:ext cx="256032" cy="256032"/>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1</a:t>
            </a:r>
            <a:endParaRPr lang="en-US" sz="960" dirty="0"/>
          </a:p>
        </p:txBody>
      </p:sp>
      <p:sp>
        <p:nvSpPr>
          <p:cNvPr id="25" name="Text 21"/>
          <p:cNvSpPr txBox="1"/>
          <p:nvPr/>
        </p:nvSpPr>
        <p:spPr>
          <a:xfrm>
            <a:off x="1225296" y="4122928"/>
            <a:ext cx="2795930" cy="256032"/>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Sin acceso al código</a:t>
            </a:r>
            <a:endParaRPr lang="en-US" sz="1220" dirty="0"/>
          </a:p>
        </p:txBody>
      </p:sp>
      <p:sp>
        <p:nvSpPr>
          <p:cNvPr id="26" name="Text 22"/>
          <p:cNvSpPr txBox="1"/>
          <p:nvPr/>
        </p:nvSpPr>
        <p:spPr>
          <a:xfrm>
            <a:off x="859536" y="4488688"/>
            <a:ext cx="3125114" cy="924560"/>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En los bloques anteriores el agente leía el código. Aquí ve el sistema como alguien que llega sin saber nada.</a:t>
            </a:r>
            <a:endParaRPr lang="en-US" sz="1060" dirty="0"/>
          </a:p>
        </p:txBody>
      </p:sp>
      <p:sp>
        <p:nvSpPr>
          <p:cNvPr id="27" name="Shape 23"/>
          <p:cNvSpPr/>
          <p:nvPr/>
        </p:nvSpPr>
        <p:spPr>
          <a:xfrm>
            <a:off x="4332122" y="3940048"/>
            <a:ext cx="3527450" cy="1546352"/>
          </a:xfrm>
          <a:prstGeom prst="rect">
            <a:avLst/>
          </a:prstGeom>
          <a:solidFill>
            <a:srgbClr val="FFFFFF"/>
          </a:solidFill>
          <a:ln w="12700">
            <a:solidFill>
              <a:srgbClr val="FFFFFF"/>
            </a:solidFill>
            <a:prstDash val="solid"/>
          </a:ln>
        </p:spPr>
      </p:sp>
      <p:sp>
        <p:nvSpPr>
          <p:cNvPr id="28" name="Shape 24"/>
          <p:cNvSpPr/>
          <p:nvPr/>
        </p:nvSpPr>
        <p:spPr>
          <a:xfrm>
            <a:off x="4332122" y="3940048"/>
            <a:ext cx="3527450" cy="54864"/>
          </a:xfrm>
          <a:prstGeom prst="rect">
            <a:avLst/>
          </a:prstGeom>
          <a:solidFill>
            <a:srgbClr val="8A6A12"/>
          </a:solidFill>
          <a:ln w="12700">
            <a:solidFill>
              <a:srgbClr val="8A6A12"/>
            </a:solidFill>
            <a:prstDash val="solid"/>
          </a:ln>
        </p:spPr>
      </p:sp>
      <p:sp>
        <p:nvSpPr>
          <p:cNvPr id="29" name="Shape 25"/>
          <p:cNvSpPr/>
          <p:nvPr/>
        </p:nvSpPr>
        <p:spPr>
          <a:xfrm>
            <a:off x="4505858" y="4113784"/>
            <a:ext cx="274320" cy="274320"/>
          </a:xfrm>
          <a:prstGeom prst="ellipse">
            <a:avLst/>
          </a:prstGeom>
          <a:solidFill>
            <a:srgbClr val="E0BC5A"/>
          </a:solidFill>
          <a:ln w="12700">
            <a:solidFill>
              <a:srgbClr val="E0BC5A"/>
            </a:solidFill>
            <a:prstDash val="solid"/>
          </a:ln>
        </p:spPr>
      </p:sp>
      <p:sp>
        <p:nvSpPr>
          <p:cNvPr id="30" name="Text 26"/>
          <p:cNvSpPr/>
          <p:nvPr/>
        </p:nvSpPr>
        <p:spPr>
          <a:xfrm>
            <a:off x="4515002" y="4122928"/>
            <a:ext cx="256032" cy="256032"/>
          </a:xfrm>
          <a:prstGeom prst="rect">
            <a:avLst/>
          </a:prstGeom>
          <a:noFill/>
          <a:ln/>
        </p:spPr>
        <p:txBody>
          <a:bodyPr wrap="square" lIns="0" tIns="0" rIns="0" bIns="0" rtlCol="0" anchor="ctr"/>
          <a:lstStyle/>
          <a:p>
            <a:pPr algn="ctr" indent="0" marL="0">
              <a:buNone/>
            </a:pPr>
            <a:r>
              <a:rPr lang="en-US" sz="960" b="1" dirty="0">
                <a:solidFill>
                  <a:srgbClr val="102A43"/>
                </a:solidFill>
                <a:latin typeface="Aptos" pitchFamily="34" charset="0"/>
                <a:ea typeface="Aptos" pitchFamily="34" charset="-122"/>
                <a:cs typeface="Aptos" pitchFamily="34" charset="-120"/>
              </a:rPr>
              <a:t>2</a:t>
            </a:r>
            <a:endParaRPr lang="en-US" sz="960" dirty="0"/>
          </a:p>
        </p:txBody>
      </p:sp>
      <p:sp>
        <p:nvSpPr>
          <p:cNvPr id="31" name="Text 27"/>
          <p:cNvSpPr txBox="1"/>
          <p:nvPr/>
        </p:nvSpPr>
        <p:spPr>
          <a:xfrm>
            <a:off x="4899050" y="4122928"/>
            <a:ext cx="2795930" cy="256032"/>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Carta y presupuesto</a:t>
            </a:r>
            <a:endParaRPr lang="en-US" sz="1220" dirty="0"/>
          </a:p>
        </p:txBody>
      </p:sp>
      <p:sp>
        <p:nvSpPr>
          <p:cNvPr id="32" name="Text 28"/>
          <p:cNvSpPr txBox="1"/>
          <p:nvPr/>
        </p:nvSpPr>
        <p:spPr>
          <a:xfrm>
            <a:off x="4533290" y="4488688"/>
            <a:ext cx="3125114" cy="924560"/>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La misma forma de sesión. El tiempo acotado de una persona se traduce en treinta acciones.</a:t>
            </a:r>
            <a:endParaRPr lang="en-US" sz="1060" dirty="0"/>
          </a:p>
        </p:txBody>
      </p:sp>
      <p:sp>
        <p:nvSpPr>
          <p:cNvPr id="33" name="Shape 29"/>
          <p:cNvSpPr/>
          <p:nvPr/>
        </p:nvSpPr>
        <p:spPr>
          <a:xfrm>
            <a:off x="8005877" y="3940048"/>
            <a:ext cx="3527450" cy="1546352"/>
          </a:xfrm>
          <a:prstGeom prst="rect">
            <a:avLst/>
          </a:prstGeom>
          <a:solidFill>
            <a:srgbClr val="FFFFFF"/>
          </a:solidFill>
          <a:ln w="12700">
            <a:solidFill>
              <a:srgbClr val="FFFFFF"/>
            </a:solidFill>
            <a:prstDash val="solid"/>
          </a:ln>
        </p:spPr>
      </p:sp>
      <p:sp>
        <p:nvSpPr>
          <p:cNvPr id="34" name="Shape 30"/>
          <p:cNvSpPr/>
          <p:nvPr/>
        </p:nvSpPr>
        <p:spPr>
          <a:xfrm>
            <a:off x="8005877" y="3940048"/>
            <a:ext cx="3527450" cy="54864"/>
          </a:xfrm>
          <a:prstGeom prst="rect">
            <a:avLst/>
          </a:prstGeom>
          <a:solidFill>
            <a:srgbClr val="2E7D4F"/>
          </a:solidFill>
          <a:ln w="12700">
            <a:solidFill>
              <a:srgbClr val="2E7D4F"/>
            </a:solidFill>
            <a:prstDash val="solid"/>
          </a:ln>
        </p:spPr>
      </p:sp>
      <p:sp>
        <p:nvSpPr>
          <p:cNvPr id="35" name="Shape 31"/>
          <p:cNvSpPr/>
          <p:nvPr/>
        </p:nvSpPr>
        <p:spPr>
          <a:xfrm>
            <a:off x="8179613" y="4113784"/>
            <a:ext cx="274320" cy="274320"/>
          </a:xfrm>
          <a:prstGeom prst="ellipse">
            <a:avLst/>
          </a:prstGeom>
          <a:solidFill>
            <a:srgbClr val="2E7D4F"/>
          </a:solidFill>
          <a:ln w="12700">
            <a:solidFill>
              <a:srgbClr val="2E7D4F"/>
            </a:solidFill>
            <a:prstDash val="solid"/>
          </a:ln>
        </p:spPr>
      </p:sp>
      <p:sp>
        <p:nvSpPr>
          <p:cNvPr id="36" name="Text 32"/>
          <p:cNvSpPr/>
          <p:nvPr/>
        </p:nvSpPr>
        <p:spPr>
          <a:xfrm>
            <a:off x="8188757" y="4122928"/>
            <a:ext cx="256032" cy="256032"/>
          </a:xfrm>
          <a:prstGeom prst="rect">
            <a:avLst/>
          </a:prstGeom>
          <a:noFill/>
          <a:ln/>
        </p:spPr>
        <p:txBody>
          <a:bodyPr wrap="square" lIns="0" tIns="0" rIns="0" bIns="0" rtlCol="0" anchor="ctr"/>
          <a:lstStyle/>
          <a:p>
            <a:pPr algn="ctr" indent="0" marL="0">
              <a:buNone/>
            </a:pPr>
            <a:r>
              <a:rPr lang="en-US" sz="960" b="1" dirty="0">
                <a:solidFill>
                  <a:srgbClr val="FFFFFF"/>
                </a:solidFill>
                <a:latin typeface="Aptos" pitchFamily="34" charset="0"/>
                <a:ea typeface="Aptos" pitchFamily="34" charset="-122"/>
                <a:cs typeface="Aptos" pitchFamily="34" charset="-120"/>
              </a:rPr>
              <a:t>3</a:t>
            </a:r>
            <a:endParaRPr lang="en-US" sz="960" dirty="0"/>
          </a:p>
        </p:txBody>
      </p:sp>
      <p:sp>
        <p:nvSpPr>
          <p:cNvPr id="37" name="Text 33"/>
          <p:cNvSpPr txBox="1"/>
          <p:nvPr/>
        </p:nvSpPr>
        <p:spPr>
          <a:xfrm>
            <a:off x="8572805" y="4122928"/>
            <a:ext cx="2795930" cy="256032"/>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Solo el navegador</a:t>
            </a:r>
            <a:endParaRPr lang="en-US" sz="1220" dirty="0"/>
          </a:p>
        </p:txBody>
      </p:sp>
      <p:sp>
        <p:nvSpPr>
          <p:cNvPr id="38" name="Text 34"/>
          <p:cNvSpPr txBox="1"/>
          <p:nvPr/>
        </p:nvSpPr>
        <p:spPr>
          <a:xfrm>
            <a:off x="8207045" y="4488688"/>
            <a:ext cx="3125114" cy="924560"/>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claude -p le entrega el pedido al agente. Las dos opciones del final conectan la herramienta del navegador, descrita en mcp.json, y le permiten usar solo esa.</a:t>
            </a:r>
            <a:endParaRPr lang="en-US" sz="1060" dirty="0"/>
          </a:p>
        </p:txBody>
      </p:sp>
      <p:sp>
        <p:nvSpPr>
          <p:cNvPr id="39" name="Shape 35"/>
          <p:cNvSpPr/>
          <p:nvPr/>
        </p:nvSpPr>
        <p:spPr>
          <a:xfrm>
            <a:off x="658368" y="5650992"/>
            <a:ext cx="10874959" cy="548640"/>
          </a:xfrm>
          <a:prstGeom prst="rect">
            <a:avLst/>
          </a:prstGeom>
          <a:solidFill>
            <a:srgbClr val="102A43"/>
          </a:solidFill>
          <a:ln w="12700">
            <a:solidFill>
              <a:srgbClr val="102A43"/>
            </a:solidFill>
            <a:prstDash val="solid"/>
          </a:ln>
        </p:spPr>
      </p:sp>
      <p:sp>
        <p:nvSpPr>
          <p:cNvPr id="40" name="Text 3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Usó 29 de las 30 acciones, y declaró que cuatro se le fueron en errores propios.</a:t>
            </a:r>
            <a:endParaRPr lang="en-US" sz="13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SU REGISTRO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Nueve hallazgos, cada uno clasificado por él</a:t>
            </a:r>
            <a:endParaRPr lang="en-US" sz="3000" dirty="0"/>
          </a:p>
        </p:txBody>
      </p:sp>
      <p:sp>
        <p:nvSpPr>
          <p:cNvPr id="10" name="Shape 7"/>
          <p:cNvSpPr/>
          <p:nvPr/>
        </p:nvSpPr>
        <p:spPr>
          <a:xfrm>
            <a:off x="658368" y="1719072"/>
            <a:ext cx="10874959" cy="338328"/>
          </a:xfrm>
          <a:prstGeom prst="rect">
            <a:avLst/>
          </a:prstGeom>
          <a:solidFill>
            <a:srgbClr val="FFFFFF"/>
          </a:solidFill>
          <a:ln w="12700">
            <a:solidFill>
              <a:srgbClr val="FFFFFF"/>
            </a:solidFill>
            <a:prstDash val="solid"/>
          </a:ln>
        </p:spPr>
      </p:sp>
      <p:sp>
        <p:nvSpPr>
          <p:cNvPr id="11" name="Text 8"/>
          <p:cNvSpPr txBox="1"/>
          <p:nvPr/>
        </p:nvSpPr>
        <p:spPr>
          <a:xfrm>
            <a:off x="804672" y="1751076"/>
            <a:ext cx="274320" cy="274320"/>
          </a:xfrm>
          <a:prstGeom prst="rect">
            <a:avLst/>
          </a:prstGeom>
          <a:noFill/>
          <a:ln/>
        </p:spPr>
        <p:txBody>
          <a:bodyPr wrap="square" lIns="0" tIns="0" rIns="0" bIns="0" rtlCol="0" anchor="ctr"/>
          <a:lstStyle/>
          <a:p>
            <a:pPr algn="l" indent="0" marL="0">
              <a:buNone/>
            </a:pPr>
            <a:r>
              <a:rPr lang="en-US" sz="1140" b="1" dirty="0">
                <a:solidFill>
                  <a:srgbClr val="52606D"/>
                </a:solidFill>
                <a:latin typeface="Aptos" pitchFamily="34" charset="0"/>
                <a:ea typeface="Aptos" pitchFamily="34" charset="-122"/>
                <a:cs typeface="Aptos" pitchFamily="34" charset="-120"/>
              </a:rPr>
              <a:t>1</a:t>
            </a:r>
            <a:endParaRPr lang="en-US" sz="1140" dirty="0"/>
          </a:p>
        </p:txBody>
      </p:sp>
      <p:sp>
        <p:nvSpPr>
          <p:cNvPr id="12" name="Text 9"/>
          <p:cNvSpPr txBox="1"/>
          <p:nvPr/>
        </p:nvSpPr>
        <p:spPr>
          <a:xfrm>
            <a:off x="1170432" y="1751076"/>
            <a:ext cx="7857439" cy="274320"/>
          </a:xfrm>
          <a:prstGeom prst="rect">
            <a:avLst/>
          </a:prstGeom>
          <a:noFill/>
          <a:ln/>
        </p:spPr>
        <p:txBody>
          <a:bodyPr wrap="square" lIns="0" tIns="0" rIns="0" bIns="0" rtlCol="0" anchor="ctr"/>
          <a:lstStyle/>
          <a:p>
            <a:pPr algn="l" indent="0" marL="0">
              <a:buNone/>
            </a:pPr>
            <a:r>
              <a:rPr lang="en-US" sz="1080" dirty="0">
                <a:solidFill>
                  <a:srgbClr val="243B53"/>
                </a:solidFill>
                <a:latin typeface="Aptos" pitchFamily="34" charset="0"/>
                <a:ea typeface="Aptos" pitchFamily="34" charset="-122"/>
                <a:cs typeface="Aptos" pitchFamily="34" charset="-120"/>
              </a:rPr>
              <a:t>Con el formulario vacío sale [object Object].</a:t>
            </a:r>
            <a:endParaRPr lang="en-US" sz="1080" dirty="0"/>
          </a:p>
        </p:txBody>
      </p:sp>
      <p:sp>
        <p:nvSpPr>
          <p:cNvPr id="13" name="Shape 10"/>
          <p:cNvSpPr/>
          <p:nvPr/>
        </p:nvSpPr>
        <p:spPr>
          <a:xfrm>
            <a:off x="9155887" y="1769364"/>
            <a:ext cx="2286000" cy="237744"/>
          </a:xfrm>
          <a:prstGeom prst="rect">
            <a:avLst/>
          </a:prstGeom>
          <a:solidFill>
            <a:srgbClr val="B3181E"/>
          </a:solidFill>
          <a:ln w="12700">
            <a:solidFill>
              <a:srgbClr val="B3181E"/>
            </a:solidFill>
            <a:prstDash val="solid"/>
          </a:ln>
        </p:spPr>
      </p:sp>
      <p:sp>
        <p:nvSpPr>
          <p:cNvPr id="14" name="Text 11"/>
          <p:cNvSpPr txBox="1"/>
          <p:nvPr/>
        </p:nvSpPr>
        <p:spPr>
          <a:xfrm>
            <a:off x="9210751" y="1778508"/>
            <a:ext cx="2176272" cy="219456"/>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Defecto</a:t>
            </a:r>
            <a:endParaRPr lang="en-US" sz="940" dirty="0"/>
          </a:p>
        </p:txBody>
      </p:sp>
      <p:sp>
        <p:nvSpPr>
          <p:cNvPr id="15" name="Shape 12"/>
          <p:cNvSpPr/>
          <p:nvPr/>
        </p:nvSpPr>
        <p:spPr>
          <a:xfrm>
            <a:off x="658368" y="2103120"/>
            <a:ext cx="10874959" cy="338328"/>
          </a:xfrm>
          <a:prstGeom prst="rect">
            <a:avLst/>
          </a:prstGeom>
          <a:solidFill>
            <a:srgbClr val="FFFFFF"/>
          </a:solidFill>
          <a:ln w="12700">
            <a:solidFill>
              <a:srgbClr val="FFFFFF"/>
            </a:solidFill>
            <a:prstDash val="solid"/>
          </a:ln>
        </p:spPr>
      </p:sp>
      <p:sp>
        <p:nvSpPr>
          <p:cNvPr id="16" name="Text 13"/>
          <p:cNvSpPr txBox="1"/>
          <p:nvPr/>
        </p:nvSpPr>
        <p:spPr>
          <a:xfrm>
            <a:off x="804672" y="2135124"/>
            <a:ext cx="274320" cy="274320"/>
          </a:xfrm>
          <a:prstGeom prst="rect">
            <a:avLst/>
          </a:prstGeom>
          <a:noFill/>
          <a:ln/>
        </p:spPr>
        <p:txBody>
          <a:bodyPr wrap="square" lIns="0" tIns="0" rIns="0" bIns="0" rtlCol="0" anchor="ctr"/>
          <a:lstStyle/>
          <a:p>
            <a:pPr algn="l" indent="0" marL="0">
              <a:buNone/>
            </a:pPr>
            <a:r>
              <a:rPr lang="en-US" sz="1140" b="1" dirty="0">
                <a:solidFill>
                  <a:srgbClr val="52606D"/>
                </a:solidFill>
                <a:latin typeface="Aptos" pitchFamily="34" charset="0"/>
                <a:ea typeface="Aptos" pitchFamily="34" charset="-122"/>
                <a:cs typeface="Aptos" pitchFamily="34" charset="-120"/>
              </a:rPr>
              <a:t>2</a:t>
            </a:r>
            <a:endParaRPr lang="en-US" sz="1140" dirty="0"/>
          </a:p>
        </p:txBody>
      </p:sp>
      <p:sp>
        <p:nvSpPr>
          <p:cNvPr id="17" name="Text 14"/>
          <p:cNvSpPr txBox="1"/>
          <p:nvPr/>
        </p:nvSpPr>
        <p:spPr>
          <a:xfrm>
            <a:off x="1170432" y="2135124"/>
            <a:ext cx="7857439" cy="274320"/>
          </a:xfrm>
          <a:prstGeom prst="rect">
            <a:avLst/>
          </a:prstGeom>
          <a:noFill/>
          <a:ln/>
        </p:spPr>
        <p:txBody>
          <a:bodyPr wrap="square" lIns="0" tIns="0" rIns="0" bIns="0" rtlCol="0" anchor="ctr"/>
          <a:lstStyle/>
          <a:p>
            <a:pPr algn="l" indent="0" marL="0">
              <a:buNone/>
            </a:pPr>
            <a:r>
              <a:rPr lang="en-US" sz="1080" dirty="0">
                <a:solidFill>
                  <a:srgbClr val="243B53"/>
                </a:solidFill>
                <a:latin typeface="Aptos" pitchFamily="34" charset="0"/>
                <a:ea typeface="Aptos" pitchFamily="34" charset="-122"/>
                <a:cs typeface="Aptos" pitchFamily="34" charset="-120"/>
              </a:rPr>
              <a:t>«La reserva no esta permitida» no dice por qué, y es el mismo texto con el bloque tomado y con 50 personas.</a:t>
            </a:r>
            <a:endParaRPr lang="en-US" sz="1080" dirty="0"/>
          </a:p>
        </p:txBody>
      </p:sp>
      <p:sp>
        <p:nvSpPr>
          <p:cNvPr id="18" name="Shape 15"/>
          <p:cNvSpPr/>
          <p:nvPr/>
        </p:nvSpPr>
        <p:spPr>
          <a:xfrm>
            <a:off x="9155887" y="2153412"/>
            <a:ext cx="2286000" cy="237744"/>
          </a:xfrm>
          <a:prstGeom prst="rect">
            <a:avLst/>
          </a:prstGeom>
          <a:solidFill>
            <a:srgbClr val="B3181E"/>
          </a:solidFill>
          <a:ln w="12700">
            <a:solidFill>
              <a:srgbClr val="B3181E"/>
            </a:solidFill>
            <a:prstDash val="solid"/>
          </a:ln>
        </p:spPr>
      </p:sp>
      <p:sp>
        <p:nvSpPr>
          <p:cNvPr id="19" name="Text 16"/>
          <p:cNvSpPr txBox="1"/>
          <p:nvPr/>
        </p:nvSpPr>
        <p:spPr>
          <a:xfrm>
            <a:off x="9210751" y="2162556"/>
            <a:ext cx="2176272" cy="219456"/>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Defecto</a:t>
            </a:r>
            <a:endParaRPr lang="en-US" sz="940" dirty="0"/>
          </a:p>
        </p:txBody>
      </p:sp>
      <p:sp>
        <p:nvSpPr>
          <p:cNvPr id="20" name="Shape 17"/>
          <p:cNvSpPr/>
          <p:nvPr/>
        </p:nvSpPr>
        <p:spPr>
          <a:xfrm>
            <a:off x="658368" y="2487168"/>
            <a:ext cx="10874959" cy="338328"/>
          </a:xfrm>
          <a:prstGeom prst="rect">
            <a:avLst/>
          </a:prstGeom>
          <a:solidFill>
            <a:srgbClr val="FFFFFF"/>
          </a:solidFill>
          <a:ln w="12700">
            <a:solidFill>
              <a:srgbClr val="FFFFFF"/>
            </a:solidFill>
            <a:prstDash val="solid"/>
          </a:ln>
        </p:spPr>
      </p:sp>
      <p:sp>
        <p:nvSpPr>
          <p:cNvPr id="21" name="Text 18"/>
          <p:cNvSpPr txBox="1"/>
          <p:nvPr/>
        </p:nvSpPr>
        <p:spPr>
          <a:xfrm>
            <a:off x="804672" y="2519172"/>
            <a:ext cx="274320" cy="274320"/>
          </a:xfrm>
          <a:prstGeom prst="rect">
            <a:avLst/>
          </a:prstGeom>
          <a:noFill/>
          <a:ln/>
        </p:spPr>
        <p:txBody>
          <a:bodyPr wrap="square" lIns="0" tIns="0" rIns="0" bIns="0" rtlCol="0" anchor="ctr"/>
          <a:lstStyle/>
          <a:p>
            <a:pPr algn="l" indent="0" marL="0">
              <a:buNone/>
            </a:pPr>
            <a:r>
              <a:rPr lang="en-US" sz="1140" b="1" dirty="0">
                <a:solidFill>
                  <a:srgbClr val="52606D"/>
                </a:solidFill>
                <a:latin typeface="Aptos" pitchFamily="34" charset="0"/>
                <a:ea typeface="Aptos" pitchFamily="34" charset="-122"/>
                <a:cs typeface="Aptos" pitchFamily="34" charset="-120"/>
              </a:rPr>
              <a:t>3</a:t>
            </a:r>
            <a:endParaRPr lang="en-US" sz="1140" dirty="0"/>
          </a:p>
        </p:txBody>
      </p:sp>
      <p:sp>
        <p:nvSpPr>
          <p:cNvPr id="22" name="Text 19"/>
          <p:cNvSpPr txBox="1"/>
          <p:nvPr/>
        </p:nvSpPr>
        <p:spPr>
          <a:xfrm>
            <a:off x="1170432" y="2519172"/>
            <a:ext cx="7857439" cy="274320"/>
          </a:xfrm>
          <a:prstGeom prst="rect">
            <a:avLst/>
          </a:prstGeom>
          <a:noFill/>
          <a:ln/>
        </p:spPr>
        <p:txBody>
          <a:bodyPr wrap="square" lIns="0" tIns="0" rIns="0" bIns="0" rtlCol="0" anchor="ctr"/>
          <a:lstStyle/>
          <a:p>
            <a:pPr algn="l" indent="0" marL="0">
              <a:buNone/>
            </a:pPr>
            <a:r>
              <a:rPr lang="en-US" sz="1080" dirty="0">
                <a:solidFill>
                  <a:srgbClr val="243B53"/>
                </a:solidFill>
                <a:latin typeface="Aptos" pitchFamily="34" charset="0"/>
                <a:ea typeface="Aptos" pitchFamily="34" charset="-122"/>
                <a:cs typeface="Aptos" pitchFamily="34" charset="-120"/>
              </a:rPr>
              <a:t>El límite de personas no aparece en ninguna parte.</a:t>
            </a:r>
            <a:endParaRPr lang="en-US" sz="1080" dirty="0"/>
          </a:p>
        </p:txBody>
      </p:sp>
      <p:sp>
        <p:nvSpPr>
          <p:cNvPr id="23" name="Shape 20"/>
          <p:cNvSpPr/>
          <p:nvPr/>
        </p:nvSpPr>
        <p:spPr>
          <a:xfrm>
            <a:off x="9155887" y="2537460"/>
            <a:ext cx="2286000" cy="237744"/>
          </a:xfrm>
          <a:prstGeom prst="rect">
            <a:avLst/>
          </a:prstGeom>
          <a:solidFill>
            <a:srgbClr val="8A6A12"/>
          </a:solidFill>
          <a:ln w="12700">
            <a:solidFill>
              <a:srgbClr val="8A6A12"/>
            </a:solidFill>
            <a:prstDash val="solid"/>
          </a:ln>
        </p:spPr>
      </p:sp>
      <p:sp>
        <p:nvSpPr>
          <p:cNvPr id="24" name="Text 21"/>
          <p:cNvSpPr txBox="1"/>
          <p:nvPr/>
        </p:nvSpPr>
        <p:spPr>
          <a:xfrm>
            <a:off x="9210751" y="2546604"/>
            <a:ext cx="2176272" cy="219456"/>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Duda</a:t>
            </a:r>
            <a:endParaRPr lang="en-US" sz="940" dirty="0"/>
          </a:p>
        </p:txBody>
      </p:sp>
      <p:sp>
        <p:nvSpPr>
          <p:cNvPr id="25" name="Shape 22"/>
          <p:cNvSpPr/>
          <p:nvPr/>
        </p:nvSpPr>
        <p:spPr>
          <a:xfrm>
            <a:off x="658368" y="2871216"/>
            <a:ext cx="10874959" cy="338328"/>
          </a:xfrm>
          <a:prstGeom prst="rect">
            <a:avLst/>
          </a:prstGeom>
          <a:solidFill>
            <a:srgbClr val="FFFFFF"/>
          </a:solidFill>
          <a:ln w="12700">
            <a:solidFill>
              <a:srgbClr val="FFFFFF"/>
            </a:solidFill>
            <a:prstDash val="solid"/>
          </a:ln>
        </p:spPr>
      </p:sp>
      <p:sp>
        <p:nvSpPr>
          <p:cNvPr id="26" name="Shape 23"/>
          <p:cNvSpPr/>
          <p:nvPr/>
        </p:nvSpPr>
        <p:spPr>
          <a:xfrm>
            <a:off x="658368" y="2871216"/>
            <a:ext cx="64008" cy="338328"/>
          </a:xfrm>
          <a:prstGeom prst="rect">
            <a:avLst/>
          </a:prstGeom>
          <a:solidFill>
            <a:srgbClr val="2E7D4F"/>
          </a:solidFill>
          <a:ln w="12700">
            <a:solidFill>
              <a:srgbClr val="2E7D4F"/>
            </a:solidFill>
            <a:prstDash val="solid"/>
          </a:ln>
        </p:spPr>
      </p:sp>
      <p:sp>
        <p:nvSpPr>
          <p:cNvPr id="27" name="Text 24"/>
          <p:cNvSpPr txBox="1"/>
          <p:nvPr/>
        </p:nvSpPr>
        <p:spPr>
          <a:xfrm>
            <a:off x="804672" y="2903220"/>
            <a:ext cx="274320" cy="274320"/>
          </a:xfrm>
          <a:prstGeom prst="rect">
            <a:avLst/>
          </a:prstGeom>
          <a:noFill/>
          <a:ln/>
        </p:spPr>
        <p:txBody>
          <a:bodyPr wrap="square" lIns="0" tIns="0" rIns="0" bIns="0" rtlCol="0" anchor="ctr"/>
          <a:lstStyle/>
          <a:p>
            <a:pPr algn="l" indent="0" marL="0">
              <a:buNone/>
            </a:pPr>
            <a:r>
              <a:rPr lang="en-US" sz="1140" b="1" dirty="0">
                <a:solidFill>
                  <a:srgbClr val="2E7D4F"/>
                </a:solidFill>
                <a:latin typeface="Aptos" pitchFamily="34" charset="0"/>
                <a:ea typeface="Aptos" pitchFamily="34" charset="-122"/>
                <a:cs typeface="Aptos" pitchFamily="34" charset="-120"/>
              </a:rPr>
              <a:t>4</a:t>
            </a:r>
            <a:endParaRPr lang="en-US" sz="1140" dirty="0"/>
          </a:p>
        </p:txBody>
      </p:sp>
      <p:sp>
        <p:nvSpPr>
          <p:cNvPr id="28" name="Text 25"/>
          <p:cNvSpPr txBox="1"/>
          <p:nvPr/>
        </p:nvSpPr>
        <p:spPr>
          <a:xfrm>
            <a:off x="1170432" y="2903220"/>
            <a:ext cx="7857439" cy="274320"/>
          </a:xfrm>
          <a:prstGeom prst="rect">
            <a:avLst/>
          </a:prstGeom>
          <a:noFill/>
          <a:ln/>
        </p:spPr>
        <p:txBody>
          <a:bodyPr wrap="square" lIns="0" tIns="0" rIns="0" bIns="0" rtlCol="0" anchor="ctr"/>
          <a:lstStyle/>
          <a:p>
            <a:pPr algn="l" indent="0" marL="0">
              <a:buNone/>
            </a:pPr>
            <a:r>
              <a:rPr lang="en-US" sz="1080" dirty="0">
                <a:solidFill>
                  <a:srgbClr val="243B53"/>
                </a:solidFill>
                <a:latin typeface="Aptos" pitchFamily="34" charset="0"/>
                <a:ea typeface="Aptos" pitchFamily="34" charset="-122"/>
                <a:cs typeface="Aptos" pitchFamily="34" charset="-120"/>
              </a:rPr>
              <a:t>La lista de bloques deja elegir bloques ya tomados.</a:t>
            </a:r>
            <a:endParaRPr lang="en-US" sz="1080" dirty="0"/>
          </a:p>
        </p:txBody>
      </p:sp>
      <p:sp>
        <p:nvSpPr>
          <p:cNvPr id="29" name="Shape 26"/>
          <p:cNvSpPr/>
          <p:nvPr/>
        </p:nvSpPr>
        <p:spPr>
          <a:xfrm>
            <a:off x="9155887" y="2921508"/>
            <a:ext cx="2286000" cy="237744"/>
          </a:xfrm>
          <a:prstGeom prst="rect">
            <a:avLst/>
          </a:prstGeom>
          <a:solidFill>
            <a:srgbClr val="8A6A12"/>
          </a:solidFill>
          <a:ln w="12700">
            <a:solidFill>
              <a:srgbClr val="8A6A12"/>
            </a:solidFill>
            <a:prstDash val="solid"/>
          </a:ln>
        </p:spPr>
      </p:sp>
      <p:sp>
        <p:nvSpPr>
          <p:cNvPr id="30" name="Text 27"/>
          <p:cNvSpPr txBox="1"/>
          <p:nvPr/>
        </p:nvSpPr>
        <p:spPr>
          <a:xfrm>
            <a:off x="9210751" y="2930652"/>
            <a:ext cx="2176272" cy="219456"/>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Duda que roza el defecto</a:t>
            </a:r>
            <a:endParaRPr lang="en-US" sz="940" dirty="0"/>
          </a:p>
        </p:txBody>
      </p:sp>
      <p:sp>
        <p:nvSpPr>
          <p:cNvPr id="31" name="Shape 28"/>
          <p:cNvSpPr/>
          <p:nvPr/>
        </p:nvSpPr>
        <p:spPr>
          <a:xfrm>
            <a:off x="658368" y="3255264"/>
            <a:ext cx="10874959" cy="338328"/>
          </a:xfrm>
          <a:prstGeom prst="rect">
            <a:avLst/>
          </a:prstGeom>
          <a:solidFill>
            <a:srgbClr val="FFFFFF"/>
          </a:solidFill>
          <a:ln w="12700">
            <a:solidFill>
              <a:srgbClr val="FFFFFF"/>
            </a:solidFill>
            <a:prstDash val="solid"/>
          </a:ln>
        </p:spPr>
      </p:sp>
      <p:sp>
        <p:nvSpPr>
          <p:cNvPr id="32" name="Shape 29"/>
          <p:cNvSpPr/>
          <p:nvPr/>
        </p:nvSpPr>
        <p:spPr>
          <a:xfrm>
            <a:off x="658368" y="3255264"/>
            <a:ext cx="64008" cy="338328"/>
          </a:xfrm>
          <a:prstGeom prst="rect">
            <a:avLst/>
          </a:prstGeom>
          <a:solidFill>
            <a:srgbClr val="2E7D4F"/>
          </a:solidFill>
          <a:ln w="12700">
            <a:solidFill>
              <a:srgbClr val="2E7D4F"/>
            </a:solidFill>
            <a:prstDash val="solid"/>
          </a:ln>
        </p:spPr>
      </p:sp>
      <p:sp>
        <p:nvSpPr>
          <p:cNvPr id="33" name="Text 30"/>
          <p:cNvSpPr txBox="1"/>
          <p:nvPr/>
        </p:nvSpPr>
        <p:spPr>
          <a:xfrm>
            <a:off x="804672" y="3287268"/>
            <a:ext cx="274320" cy="274320"/>
          </a:xfrm>
          <a:prstGeom prst="rect">
            <a:avLst/>
          </a:prstGeom>
          <a:noFill/>
          <a:ln/>
        </p:spPr>
        <p:txBody>
          <a:bodyPr wrap="square" lIns="0" tIns="0" rIns="0" bIns="0" rtlCol="0" anchor="ctr"/>
          <a:lstStyle/>
          <a:p>
            <a:pPr algn="l" indent="0" marL="0">
              <a:buNone/>
            </a:pPr>
            <a:r>
              <a:rPr lang="en-US" sz="1140" b="1" dirty="0">
                <a:solidFill>
                  <a:srgbClr val="2E7D4F"/>
                </a:solidFill>
                <a:latin typeface="Aptos" pitchFamily="34" charset="0"/>
                <a:ea typeface="Aptos" pitchFamily="34" charset="-122"/>
                <a:cs typeface="Aptos" pitchFamily="34" charset="-120"/>
              </a:rPr>
              <a:t>5</a:t>
            </a:r>
            <a:endParaRPr lang="en-US" sz="1140" dirty="0"/>
          </a:p>
        </p:txBody>
      </p:sp>
      <p:sp>
        <p:nvSpPr>
          <p:cNvPr id="34" name="Text 31"/>
          <p:cNvSpPr txBox="1"/>
          <p:nvPr/>
        </p:nvSpPr>
        <p:spPr>
          <a:xfrm>
            <a:off x="1170432" y="3287268"/>
            <a:ext cx="7857439" cy="274320"/>
          </a:xfrm>
          <a:prstGeom prst="rect">
            <a:avLst/>
          </a:prstGeom>
          <a:noFill/>
          <a:ln/>
        </p:spPr>
        <p:txBody>
          <a:bodyPr wrap="square" lIns="0" tIns="0" rIns="0" bIns="0" rtlCol="0" anchor="ctr"/>
          <a:lstStyle/>
          <a:p>
            <a:pPr algn="l" indent="0" marL="0">
              <a:buNone/>
            </a:pPr>
            <a:r>
              <a:rPr lang="en-US" sz="1080" dirty="0">
                <a:solidFill>
                  <a:srgbClr val="243B53"/>
                </a:solidFill>
                <a:latin typeface="Aptos" pitchFamily="34" charset="0"/>
                <a:ea typeface="Aptos" pitchFamily="34" charset="-122"/>
                <a:cs typeface="Aptos" pitchFamily="34" charset="-120"/>
              </a:rPr>
              <a:t>Acepta cualquier dígito verificador del RUT, y el RUT de ejemplo 12.345.678-9 lo tiene mal: el correcto es 5.</a:t>
            </a:r>
            <a:endParaRPr lang="en-US" sz="1080" dirty="0"/>
          </a:p>
        </p:txBody>
      </p:sp>
      <p:sp>
        <p:nvSpPr>
          <p:cNvPr id="35" name="Shape 32"/>
          <p:cNvSpPr/>
          <p:nvPr/>
        </p:nvSpPr>
        <p:spPr>
          <a:xfrm>
            <a:off x="9155887" y="3305556"/>
            <a:ext cx="2286000" cy="237744"/>
          </a:xfrm>
          <a:prstGeom prst="rect">
            <a:avLst/>
          </a:prstGeom>
          <a:solidFill>
            <a:srgbClr val="8A6A12"/>
          </a:solidFill>
          <a:ln w="12700">
            <a:solidFill>
              <a:srgbClr val="8A6A12"/>
            </a:solidFill>
            <a:prstDash val="solid"/>
          </a:ln>
        </p:spPr>
      </p:sp>
      <p:sp>
        <p:nvSpPr>
          <p:cNvPr id="36" name="Text 33"/>
          <p:cNvSpPr txBox="1"/>
          <p:nvPr/>
        </p:nvSpPr>
        <p:spPr>
          <a:xfrm>
            <a:off x="9210751" y="3314700"/>
            <a:ext cx="2176272" cy="219456"/>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Duda</a:t>
            </a:r>
            <a:endParaRPr lang="en-US" sz="940" dirty="0"/>
          </a:p>
        </p:txBody>
      </p:sp>
      <p:sp>
        <p:nvSpPr>
          <p:cNvPr id="37" name="Shape 34"/>
          <p:cNvSpPr/>
          <p:nvPr/>
        </p:nvSpPr>
        <p:spPr>
          <a:xfrm>
            <a:off x="658368" y="3639312"/>
            <a:ext cx="10874959" cy="338328"/>
          </a:xfrm>
          <a:prstGeom prst="rect">
            <a:avLst/>
          </a:prstGeom>
          <a:solidFill>
            <a:srgbClr val="FFFFFF"/>
          </a:solidFill>
          <a:ln w="12700">
            <a:solidFill>
              <a:srgbClr val="FFFFFF"/>
            </a:solidFill>
            <a:prstDash val="solid"/>
          </a:ln>
        </p:spPr>
      </p:sp>
      <p:sp>
        <p:nvSpPr>
          <p:cNvPr id="38" name="Text 35"/>
          <p:cNvSpPr txBox="1"/>
          <p:nvPr/>
        </p:nvSpPr>
        <p:spPr>
          <a:xfrm>
            <a:off x="804672" y="3671316"/>
            <a:ext cx="274320" cy="274320"/>
          </a:xfrm>
          <a:prstGeom prst="rect">
            <a:avLst/>
          </a:prstGeom>
          <a:noFill/>
          <a:ln/>
        </p:spPr>
        <p:txBody>
          <a:bodyPr wrap="square" lIns="0" tIns="0" rIns="0" bIns="0" rtlCol="0" anchor="ctr"/>
          <a:lstStyle/>
          <a:p>
            <a:pPr algn="l" indent="0" marL="0">
              <a:buNone/>
            </a:pPr>
            <a:r>
              <a:rPr lang="en-US" sz="1140" b="1" dirty="0">
                <a:solidFill>
                  <a:srgbClr val="52606D"/>
                </a:solidFill>
                <a:latin typeface="Aptos" pitchFamily="34" charset="0"/>
                <a:ea typeface="Aptos" pitchFamily="34" charset="-122"/>
                <a:cs typeface="Aptos" pitchFamily="34" charset="-120"/>
              </a:rPr>
              <a:t>6</a:t>
            </a:r>
            <a:endParaRPr lang="en-US" sz="1140" dirty="0"/>
          </a:p>
        </p:txBody>
      </p:sp>
      <p:sp>
        <p:nvSpPr>
          <p:cNvPr id="39" name="Text 36"/>
          <p:cNvSpPr txBox="1"/>
          <p:nvPr/>
        </p:nvSpPr>
        <p:spPr>
          <a:xfrm>
            <a:off x="1170432" y="3671316"/>
            <a:ext cx="7857439" cy="274320"/>
          </a:xfrm>
          <a:prstGeom prst="rect">
            <a:avLst/>
          </a:prstGeom>
          <a:noFill/>
          <a:ln/>
        </p:spPr>
        <p:txBody>
          <a:bodyPr wrap="square" lIns="0" tIns="0" rIns="0" bIns="0" rtlCol="0" anchor="ctr"/>
          <a:lstStyle/>
          <a:p>
            <a:pPr algn="l" indent="0" marL="0">
              <a:buNone/>
            </a:pPr>
            <a:r>
              <a:rPr lang="en-US" sz="1080" dirty="0">
                <a:solidFill>
                  <a:srgbClr val="243B53"/>
                </a:solidFill>
                <a:latin typeface="Aptos" pitchFamily="34" charset="0"/>
                <a:ea typeface="Aptos" pitchFamily="34" charset="-122"/>
                <a:cs typeface="Aptos" pitchFamily="34" charset="-120"/>
              </a:rPr>
              <a:t>La confirmación no muestra la cantidad de personas.</a:t>
            </a:r>
            <a:endParaRPr lang="en-US" sz="1080" dirty="0"/>
          </a:p>
        </p:txBody>
      </p:sp>
      <p:sp>
        <p:nvSpPr>
          <p:cNvPr id="40" name="Shape 37"/>
          <p:cNvSpPr/>
          <p:nvPr/>
        </p:nvSpPr>
        <p:spPr>
          <a:xfrm>
            <a:off x="9155887" y="3689604"/>
            <a:ext cx="2286000" cy="237744"/>
          </a:xfrm>
          <a:prstGeom prst="rect">
            <a:avLst/>
          </a:prstGeom>
          <a:solidFill>
            <a:srgbClr val="8A6A12"/>
          </a:solidFill>
          <a:ln w="12700">
            <a:solidFill>
              <a:srgbClr val="8A6A12"/>
            </a:solidFill>
            <a:prstDash val="solid"/>
          </a:ln>
        </p:spPr>
      </p:sp>
      <p:sp>
        <p:nvSpPr>
          <p:cNvPr id="41" name="Text 38"/>
          <p:cNvSpPr txBox="1"/>
          <p:nvPr/>
        </p:nvSpPr>
        <p:spPr>
          <a:xfrm>
            <a:off x="9210751" y="3698748"/>
            <a:ext cx="2176272" cy="219456"/>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Duda</a:t>
            </a:r>
            <a:endParaRPr lang="en-US" sz="940" dirty="0"/>
          </a:p>
        </p:txBody>
      </p:sp>
      <p:sp>
        <p:nvSpPr>
          <p:cNvPr id="42" name="Shape 39"/>
          <p:cNvSpPr/>
          <p:nvPr/>
        </p:nvSpPr>
        <p:spPr>
          <a:xfrm>
            <a:off x="658368" y="4023360"/>
            <a:ext cx="10874959" cy="338328"/>
          </a:xfrm>
          <a:prstGeom prst="rect">
            <a:avLst/>
          </a:prstGeom>
          <a:solidFill>
            <a:srgbClr val="FFFFFF"/>
          </a:solidFill>
          <a:ln w="12700">
            <a:solidFill>
              <a:srgbClr val="FFFFFF"/>
            </a:solidFill>
            <a:prstDash val="solid"/>
          </a:ln>
        </p:spPr>
      </p:sp>
      <p:sp>
        <p:nvSpPr>
          <p:cNvPr id="43" name="Shape 40"/>
          <p:cNvSpPr/>
          <p:nvPr/>
        </p:nvSpPr>
        <p:spPr>
          <a:xfrm>
            <a:off x="658368" y="4023360"/>
            <a:ext cx="64008" cy="338328"/>
          </a:xfrm>
          <a:prstGeom prst="rect">
            <a:avLst/>
          </a:prstGeom>
          <a:solidFill>
            <a:srgbClr val="2E7D4F"/>
          </a:solidFill>
          <a:ln w="12700">
            <a:solidFill>
              <a:srgbClr val="2E7D4F"/>
            </a:solidFill>
            <a:prstDash val="solid"/>
          </a:ln>
        </p:spPr>
      </p:sp>
      <p:sp>
        <p:nvSpPr>
          <p:cNvPr id="44" name="Text 41"/>
          <p:cNvSpPr txBox="1"/>
          <p:nvPr/>
        </p:nvSpPr>
        <p:spPr>
          <a:xfrm>
            <a:off x="804672" y="4055364"/>
            <a:ext cx="274320" cy="274320"/>
          </a:xfrm>
          <a:prstGeom prst="rect">
            <a:avLst/>
          </a:prstGeom>
          <a:noFill/>
          <a:ln/>
        </p:spPr>
        <p:txBody>
          <a:bodyPr wrap="square" lIns="0" tIns="0" rIns="0" bIns="0" rtlCol="0" anchor="ctr"/>
          <a:lstStyle/>
          <a:p>
            <a:pPr algn="l" indent="0" marL="0">
              <a:buNone/>
            </a:pPr>
            <a:r>
              <a:rPr lang="en-US" sz="1140" b="1" dirty="0">
                <a:solidFill>
                  <a:srgbClr val="2E7D4F"/>
                </a:solidFill>
                <a:latin typeface="Aptos" pitchFamily="34" charset="0"/>
                <a:ea typeface="Aptos" pitchFamily="34" charset="-122"/>
                <a:cs typeface="Aptos" pitchFamily="34" charset="-120"/>
              </a:rPr>
              <a:t>7</a:t>
            </a:r>
            <a:endParaRPr lang="en-US" sz="1140" dirty="0"/>
          </a:p>
        </p:txBody>
      </p:sp>
      <p:sp>
        <p:nvSpPr>
          <p:cNvPr id="45" name="Text 42"/>
          <p:cNvSpPr txBox="1"/>
          <p:nvPr/>
        </p:nvSpPr>
        <p:spPr>
          <a:xfrm>
            <a:off x="1170432" y="4055364"/>
            <a:ext cx="7857439" cy="274320"/>
          </a:xfrm>
          <a:prstGeom prst="rect">
            <a:avLst/>
          </a:prstGeom>
          <a:noFill/>
          <a:ln/>
        </p:spPr>
        <p:txBody>
          <a:bodyPr wrap="square" lIns="0" tIns="0" rIns="0" bIns="0" rtlCol="0" anchor="ctr"/>
          <a:lstStyle/>
          <a:p>
            <a:pPr algn="l" indent="0" marL="0">
              <a:buNone/>
            </a:pPr>
            <a:r>
              <a:rPr lang="en-US" sz="1080" dirty="0">
                <a:solidFill>
                  <a:srgbClr val="243B53"/>
                </a:solidFill>
                <a:latin typeface="Aptos" pitchFamily="34" charset="0"/>
                <a:ea typeface="Aptos" pitchFamily="34" charset="-122"/>
                <a:cs typeface="Aptos" pitchFamily="34" charset="-120"/>
              </a:rPr>
              <a:t>Los bloques no muestran horario ni fecha.</a:t>
            </a:r>
            <a:endParaRPr lang="en-US" sz="1080" dirty="0"/>
          </a:p>
        </p:txBody>
      </p:sp>
      <p:sp>
        <p:nvSpPr>
          <p:cNvPr id="46" name="Shape 43"/>
          <p:cNvSpPr/>
          <p:nvPr/>
        </p:nvSpPr>
        <p:spPr>
          <a:xfrm>
            <a:off x="9155887" y="4073652"/>
            <a:ext cx="2286000" cy="237744"/>
          </a:xfrm>
          <a:prstGeom prst="rect">
            <a:avLst/>
          </a:prstGeom>
          <a:solidFill>
            <a:srgbClr val="8A6A12"/>
          </a:solidFill>
          <a:ln w="12700">
            <a:solidFill>
              <a:srgbClr val="8A6A12"/>
            </a:solidFill>
            <a:prstDash val="solid"/>
          </a:ln>
        </p:spPr>
      </p:sp>
      <p:sp>
        <p:nvSpPr>
          <p:cNvPr id="47" name="Text 44"/>
          <p:cNvSpPr txBox="1"/>
          <p:nvPr/>
        </p:nvSpPr>
        <p:spPr>
          <a:xfrm>
            <a:off x="9210751" y="4082796"/>
            <a:ext cx="2176272" cy="219456"/>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Duda</a:t>
            </a:r>
            <a:endParaRPr lang="en-US" sz="940" dirty="0"/>
          </a:p>
        </p:txBody>
      </p:sp>
      <p:sp>
        <p:nvSpPr>
          <p:cNvPr id="48" name="Shape 45"/>
          <p:cNvSpPr/>
          <p:nvPr/>
        </p:nvSpPr>
        <p:spPr>
          <a:xfrm>
            <a:off x="658368" y="4407408"/>
            <a:ext cx="10874959" cy="338328"/>
          </a:xfrm>
          <a:prstGeom prst="rect">
            <a:avLst/>
          </a:prstGeom>
          <a:solidFill>
            <a:srgbClr val="FFFFFF"/>
          </a:solidFill>
          <a:ln w="12700">
            <a:solidFill>
              <a:srgbClr val="FFFFFF"/>
            </a:solidFill>
            <a:prstDash val="solid"/>
          </a:ln>
        </p:spPr>
      </p:sp>
      <p:sp>
        <p:nvSpPr>
          <p:cNvPr id="49" name="Text 46"/>
          <p:cNvSpPr txBox="1"/>
          <p:nvPr/>
        </p:nvSpPr>
        <p:spPr>
          <a:xfrm>
            <a:off x="804672" y="4439412"/>
            <a:ext cx="274320" cy="274320"/>
          </a:xfrm>
          <a:prstGeom prst="rect">
            <a:avLst/>
          </a:prstGeom>
          <a:noFill/>
          <a:ln/>
        </p:spPr>
        <p:txBody>
          <a:bodyPr wrap="square" lIns="0" tIns="0" rIns="0" bIns="0" rtlCol="0" anchor="ctr"/>
          <a:lstStyle/>
          <a:p>
            <a:pPr algn="l" indent="0" marL="0">
              <a:buNone/>
            </a:pPr>
            <a:r>
              <a:rPr lang="en-US" sz="1140" b="1" dirty="0">
                <a:solidFill>
                  <a:srgbClr val="52606D"/>
                </a:solidFill>
                <a:latin typeface="Aptos" pitchFamily="34" charset="0"/>
                <a:ea typeface="Aptos" pitchFamily="34" charset="-122"/>
                <a:cs typeface="Aptos" pitchFamily="34" charset="-120"/>
              </a:rPr>
              <a:t>8</a:t>
            </a:r>
            <a:endParaRPr lang="en-US" sz="1140" dirty="0"/>
          </a:p>
        </p:txBody>
      </p:sp>
      <p:sp>
        <p:nvSpPr>
          <p:cNvPr id="50" name="Text 47"/>
          <p:cNvSpPr txBox="1"/>
          <p:nvPr/>
        </p:nvSpPr>
        <p:spPr>
          <a:xfrm>
            <a:off x="1170432" y="4439412"/>
            <a:ext cx="7857439" cy="274320"/>
          </a:xfrm>
          <a:prstGeom prst="rect">
            <a:avLst/>
          </a:prstGeom>
          <a:noFill/>
          <a:ln/>
        </p:spPr>
        <p:txBody>
          <a:bodyPr wrap="square" lIns="0" tIns="0" rIns="0" bIns="0" rtlCol="0" anchor="ctr"/>
          <a:lstStyle/>
          <a:p>
            <a:pPr algn="l" indent="0" marL="0">
              <a:buNone/>
            </a:pPr>
            <a:r>
              <a:rPr lang="en-US" sz="1080" dirty="0">
                <a:solidFill>
                  <a:srgbClr val="243B53"/>
                </a:solidFill>
                <a:latin typeface="Aptos" pitchFamily="34" charset="0"/>
                <a:ea typeface="Aptos" pitchFamily="34" charset="-122"/>
                <a:cs typeface="Aptos" pitchFamily="34" charset="-120"/>
              </a:rPr>
              <a:t>El mensaje no cambia entre dos intentos seguidos.</a:t>
            </a:r>
            <a:endParaRPr lang="en-US" sz="1080" dirty="0"/>
          </a:p>
        </p:txBody>
      </p:sp>
      <p:sp>
        <p:nvSpPr>
          <p:cNvPr id="51" name="Shape 48"/>
          <p:cNvSpPr/>
          <p:nvPr/>
        </p:nvSpPr>
        <p:spPr>
          <a:xfrm>
            <a:off x="9155887" y="4457700"/>
            <a:ext cx="2286000" cy="237744"/>
          </a:xfrm>
          <a:prstGeom prst="rect">
            <a:avLst/>
          </a:prstGeom>
          <a:solidFill>
            <a:srgbClr val="B3181E"/>
          </a:solidFill>
          <a:ln w="12700">
            <a:solidFill>
              <a:srgbClr val="B3181E"/>
            </a:solidFill>
            <a:prstDash val="solid"/>
          </a:ln>
        </p:spPr>
      </p:sp>
      <p:sp>
        <p:nvSpPr>
          <p:cNvPr id="52" name="Text 49"/>
          <p:cNvSpPr txBox="1"/>
          <p:nvPr/>
        </p:nvSpPr>
        <p:spPr>
          <a:xfrm>
            <a:off x="9210751" y="4466844"/>
            <a:ext cx="2176272" cy="219456"/>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Defecto menor</a:t>
            </a:r>
            <a:endParaRPr lang="en-US" sz="940" dirty="0"/>
          </a:p>
        </p:txBody>
      </p:sp>
      <p:sp>
        <p:nvSpPr>
          <p:cNvPr id="53" name="Shape 50"/>
          <p:cNvSpPr/>
          <p:nvPr/>
        </p:nvSpPr>
        <p:spPr>
          <a:xfrm>
            <a:off x="658368" y="4791456"/>
            <a:ext cx="10874959" cy="338328"/>
          </a:xfrm>
          <a:prstGeom prst="rect">
            <a:avLst/>
          </a:prstGeom>
          <a:solidFill>
            <a:srgbClr val="FFFFFF"/>
          </a:solidFill>
          <a:ln w="12700">
            <a:solidFill>
              <a:srgbClr val="FFFFFF"/>
            </a:solidFill>
            <a:prstDash val="solid"/>
          </a:ln>
        </p:spPr>
      </p:sp>
      <p:sp>
        <p:nvSpPr>
          <p:cNvPr id="54" name="Text 51"/>
          <p:cNvSpPr txBox="1"/>
          <p:nvPr/>
        </p:nvSpPr>
        <p:spPr>
          <a:xfrm>
            <a:off x="804672" y="4823460"/>
            <a:ext cx="274320" cy="274320"/>
          </a:xfrm>
          <a:prstGeom prst="rect">
            <a:avLst/>
          </a:prstGeom>
          <a:noFill/>
          <a:ln/>
        </p:spPr>
        <p:txBody>
          <a:bodyPr wrap="square" lIns="0" tIns="0" rIns="0" bIns="0" rtlCol="0" anchor="ctr"/>
          <a:lstStyle/>
          <a:p>
            <a:pPr algn="l" indent="0" marL="0">
              <a:buNone/>
            </a:pPr>
            <a:r>
              <a:rPr lang="en-US" sz="1140" b="1" dirty="0">
                <a:solidFill>
                  <a:srgbClr val="52606D"/>
                </a:solidFill>
                <a:latin typeface="Aptos" pitchFamily="34" charset="0"/>
                <a:ea typeface="Aptos" pitchFamily="34" charset="-122"/>
                <a:cs typeface="Aptos" pitchFamily="34" charset="-120"/>
              </a:rPr>
              <a:t>9</a:t>
            </a:r>
            <a:endParaRPr lang="en-US" sz="1140" dirty="0"/>
          </a:p>
        </p:txBody>
      </p:sp>
      <p:sp>
        <p:nvSpPr>
          <p:cNvPr id="55" name="Text 52"/>
          <p:cNvSpPr txBox="1"/>
          <p:nvPr/>
        </p:nvSpPr>
        <p:spPr>
          <a:xfrm>
            <a:off x="1170432" y="4823460"/>
            <a:ext cx="7857439" cy="274320"/>
          </a:xfrm>
          <a:prstGeom prst="rect">
            <a:avLst/>
          </a:prstGeom>
          <a:noFill/>
          <a:ln/>
        </p:spPr>
        <p:txBody>
          <a:bodyPr wrap="square" lIns="0" tIns="0" rIns="0" bIns="0" rtlCol="0" anchor="ctr"/>
          <a:lstStyle/>
          <a:p>
            <a:pPr algn="l" indent="0" marL="0">
              <a:buNone/>
            </a:pPr>
            <a:r>
              <a:rPr lang="en-US" sz="1080" dirty="0">
                <a:solidFill>
                  <a:srgbClr val="243B53"/>
                </a:solidFill>
                <a:latin typeface="Aptos" pitchFamily="34" charset="0"/>
                <a:ea typeface="Aptos" pitchFamily="34" charset="-122"/>
                <a:cs typeface="Aptos" pitchFamily="34" charset="-120"/>
              </a:rPr>
              <a:t>La consola del navegador, su registro interno de errores, marcó tres.</a:t>
            </a:r>
            <a:endParaRPr lang="en-US" sz="1080" dirty="0"/>
          </a:p>
        </p:txBody>
      </p:sp>
      <p:sp>
        <p:nvSpPr>
          <p:cNvPr id="56" name="Shape 53"/>
          <p:cNvSpPr/>
          <p:nvPr/>
        </p:nvSpPr>
        <p:spPr>
          <a:xfrm>
            <a:off x="9155887" y="4841748"/>
            <a:ext cx="2286000" cy="237744"/>
          </a:xfrm>
          <a:prstGeom prst="rect">
            <a:avLst/>
          </a:prstGeom>
          <a:solidFill>
            <a:srgbClr val="52606D"/>
          </a:solidFill>
          <a:ln w="12700">
            <a:solidFill>
              <a:srgbClr val="52606D"/>
            </a:solidFill>
            <a:prstDash val="solid"/>
          </a:ln>
        </p:spPr>
      </p:sp>
      <p:sp>
        <p:nvSpPr>
          <p:cNvPr id="57" name="Text 54"/>
          <p:cNvSpPr txBox="1"/>
          <p:nvPr/>
        </p:nvSpPr>
        <p:spPr>
          <a:xfrm>
            <a:off x="9210751" y="4850892"/>
            <a:ext cx="2176272" cy="219456"/>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Observación técnica</a:t>
            </a:r>
            <a:endParaRPr lang="en-US" sz="940" dirty="0"/>
          </a:p>
        </p:txBody>
      </p:sp>
      <p:sp>
        <p:nvSpPr>
          <p:cNvPr id="58" name="Text 55"/>
          <p:cNvSpPr txBox="1"/>
          <p:nvPr/>
        </p:nvSpPr>
        <p:spPr>
          <a:xfrm>
            <a:off x="658368" y="5230368"/>
            <a:ext cx="10874959" cy="237744"/>
          </a:xfrm>
          <a:prstGeom prst="rect">
            <a:avLst/>
          </a:prstGeom>
          <a:noFill/>
          <a:ln/>
        </p:spPr>
        <p:txBody>
          <a:bodyPr wrap="square" lIns="0" tIns="0" rIns="0" bIns="0" rtlCol="0" anchor="t"/>
          <a:lstStyle/>
          <a:p>
            <a:pPr algn="l" indent="0" marL="0">
              <a:buNone/>
            </a:pPr>
            <a:r>
              <a:rPr lang="en-US" sz="1060" i="1" dirty="0">
                <a:solidFill>
                  <a:srgbClr val="2E7D4F"/>
                </a:solidFill>
                <a:latin typeface="Aptos" pitchFamily="34" charset="0"/>
                <a:ea typeface="Aptos" pitchFamily="34" charset="-122"/>
                <a:cs typeface="Aptos" pitchFamily="34" charset="-120"/>
              </a:rPr>
              <a:t>En verde, los que la sesión con carta no había visto. El agente calculó el dígito verificador, y tiene razón.</a:t>
            </a:r>
            <a:endParaRPr lang="en-US" sz="1060" dirty="0"/>
          </a:p>
        </p:txBody>
      </p:sp>
      <p:sp>
        <p:nvSpPr>
          <p:cNvPr id="59" name="Shape 56"/>
          <p:cNvSpPr/>
          <p:nvPr/>
        </p:nvSpPr>
        <p:spPr>
          <a:xfrm>
            <a:off x="658368" y="5669280"/>
            <a:ext cx="10874959" cy="475488"/>
          </a:xfrm>
          <a:prstGeom prst="rect">
            <a:avLst/>
          </a:prstGeom>
          <a:solidFill>
            <a:srgbClr val="102A43"/>
          </a:solidFill>
          <a:ln w="12700">
            <a:solidFill>
              <a:srgbClr val="102A43"/>
            </a:solidFill>
            <a:prstDash val="solid"/>
          </a:ln>
        </p:spPr>
      </p:sp>
      <p:sp>
        <p:nvSpPr>
          <p:cNvPr id="60" name="Text 57"/>
          <p:cNvSpPr txBox="1"/>
          <p:nvPr/>
        </p:nvSpPr>
        <p:spPr>
          <a:xfrm>
            <a:off x="950976" y="5705856"/>
            <a:ext cx="10289743" cy="402336"/>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En amplitud y velocidad, el recorrido es bueno.</a:t>
            </a:r>
            <a:endParaRPr lang="en-US" sz="13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REPRODUCIR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Un hallazgo es una hipótesis: se reproduce</a:t>
            </a:r>
            <a:endParaRPr lang="en-US" sz="3000" dirty="0"/>
          </a:p>
        </p:txBody>
      </p:sp>
      <p:sp>
        <p:nvSpPr>
          <p:cNvPr id="10" name="Text 7"/>
          <p:cNvSpPr txBox="1"/>
          <p:nvPr/>
        </p:nvSpPr>
        <p:spPr>
          <a:xfrm>
            <a:off x="658368" y="1737360"/>
            <a:ext cx="10874959" cy="548640"/>
          </a:xfrm>
          <a:prstGeom prst="rect">
            <a:avLst/>
          </a:prstGeom>
          <a:noFill/>
          <a:ln/>
        </p:spPr>
        <p:txBody>
          <a:bodyPr wrap="square" lIns="0" tIns="0" rIns="0" bIns="0" rtlCol="0" anchor="t"/>
          <a:lstStyle/>
          <a:p>
            <a:pPr algn="l" indent="0" marL="0">
              <a:lnSpc>
                <a:spcPct val="112000"/>
              </a:lnSpc>
              <a:buNone/>
            </a:pPr>
            <a:r>
              <a:rPr lang="en-US" sz="1200" dirty="0">
                <a:solidFill>
                  <a:srgbClr val="52606D"/>
                </a:solidFill>
                <a:latin typeface="Aptos" pitchFamily="34" charset="0"/>
                <a:ea typeface="Aptos" pitchFamily="34" charset="-122"/>
                <a:cs typeface="Aptos" pitchFamily="34" charset="-120"/>
              </a:rPr>
              <a:t>El hallazgo 2 llamaba la atención: en la sesión con carta, con 31 personas, el formulario ni siquiera se había enviado. Se repitió su secuencia exacta —primero un bloque tomado, después el bloque 2 con 50 personas— observando además la red.</a:t>
            </a:r>
            <a:endParaRPr lang="en-US" sz="1200" dirty="0"/>
          </a:p>
        </p:txBody>
      </p:sp>
      <p:sp>
        <p:nvSpPr>
          <p:cNvPr id="11" name="Shape 8"/>
          <p:cNvSpPr/>
          <p:nvPr/>
        </p:nvSpPr>
        <p:spPr>
          <a:xfrm>
            <a:off x="658368" y="2414016"/>
            <a:ext cx="10874959" cy="1469644"/>
          </a:xfrm>
          <a:prstGeom prst="roundRect">
            <a:avLst>
              <a:gd name="adj" fmla="val 3111"/>
            </a:avLst>
          </a:prstGeom>
          <a:solidFill>
            <a:srgbClr val="0F1720"/>
          </a:solidFill>
          <a:ln w="12700">
            <a:solidFill>
              <a:srgbClr val="0F1720"/>
            </a:solidFill>
            <a:prstDash val="solid"/>
          </a:ln>
        </p:spPr>
      </p:sp>
      <p:sp>
        <p:nvSpPr>
          <p:cNvPr id="12" name="Shape 9"/>
          <p:cNvSpPr/>
          <p:nvPr/>
        </p:nvSpPr>
        <p:spPr>
          <a:xfrm>
            <a:off x="818388" y="2546604"/>
            <a:ext cx="82296" cy="82296"/>
          </a:xfrm>
          <a:prstGeom prst="ellipse">
            <a:avLst/>
          </a:prstGeom>
          <a:solidFill>
            <a:srgbClr val="52606D"/>
          </a:solidFill>
          <a:ln w="12700">
            <a:solidFill>
              <a:srgbClr val="52606D"/>
            </a:solidFill>
            <a:prstDash val="solid"/>
          </a:ln>
        </p:spPr>
      </p:sp>
      <p:sp>
        <p:nvSpPr>
          <p:cNvPr id="13" name="Shape 10"/>
          <p:cNvSpPr/>
          <p:nvPr/>
        </p:nvSpPr>
        <p:spPr>
          <a:xfrm>
            <a:off x="973836" y="2546604"/>
            <a:ext cx="82296" cy="82296"/>
          </a:xfrm>
          <a:prstGeom prst="ellipse">
            <a:avLst/>
          </a:prstGeom>
          <a:solidFill>
            <a:srgbClr val="52606D"/>
          </a:solidFill>
          <a:ln w="12700">
            <a:solidFill>
              <a:srgbClr val="52606D"/>
            </a:solidFill>
            <a:prstDash val="solid"/>
          </a:ln>
        </p:spPr>
      </p:sp>
      <p:sp>
        <p:nvSpPr>
          <p:cNvPr id="14" name="Shape 11"/>
          <p:cNvSpPr/>
          <p:nvPr/>
        </p:nvSpPr>
        <p:spPr>
          <a:xfrm>
            <a:off x="1129284" y="2546604"/>
            <a:ext cx="82296" cy="82296"/>
          </a:xfrm>
          <a:prstGeom prst="ellipse">
            <a:avLst/>
          </a:prstGeom>
          <a:solidFill>
            <a:srgbClr val="52606D"/>
          </a:solidFill>
          <a:ln w="12700">
            <a:solidFill>
              <a:srgbClr val="52606D"/>
            </a:solidFill>
            <a:prstDash val="solid"/>
          </a:ln>
        </p:spPr>
      </p:sp>
      <p:sp>
        <p:nvSpPr>
          <p:cNvPr id="15" name="Text 12"/>
          <p:cNvSpPr/>
          <p:nvPr/>
        </p:nvSpPr>
        <p:spPr>
          <a:xfrm>
            <a:off x="1353312" y="2496312"/>
            <a:ext cx="9997135"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Reproducción del hallazgo 2</a:t>
            </a:r>
            <a:endParaRPr lang="en-US" sz="940" dirty="0"/>
          </a:p>
        </p:txBody>
      </p:sp>
      <p:sp>
        <p:nvSpPr>
          <p:cNvPr id="16" name="Text 13"/>
          <p:cNvSpPr/>
          <p:nvPr/>
        </p:nvSpPr>
        <p:spPr>
          <a:xfrm>
            <a:off x="859536" y="2889504"/>
            <a:ext cx="10472623" cy="216535"/>
          </a:xfrm>
          <a:prstGeom prst="rect">
            <a:avLst/>
          </a:prstGeom>
          <a:noFill/>
          <a:ln/>
        </p:spPr>
        <p:txBody>
          <a:bodyPr wrap="square" lIns="0" tIns="0" rIns="0" bIns="0" rtlCol="0" anchor="ctr"/>
          <a:lstStyle/>
          <a:p>
            <a:pPr indent="0" marL="0">
              <a:buNone/>
            </a:pPr>
            <a:r>
              <a:rPr lang="en-US" sz="1100" dirty="0">
                <a:solidFill>
                  <a:srgbClr val="E6EEF7"/>
                </a:solidFill>
                <a:latin typeface="Consolas" pitchFamily="34" charset="0"/>
                <a:ea typeface="Consolas" pitchFamily="34" charset="-122"/>
                <a:cs typeface="Consolas" pitchFamily="34" charset="-120"/>
              </a:rPr>
              <a:t>[mensaje en pantalla] La reserva no esta permitida</a:t>
            </a:r>
            <a:endParaRPr lang="en-US" sz="1100" dirty="0"/>
          </a:p>
        </p:txBody>
      </p:sp>
      <p:sp>
        <p:nvSpPr>
          <p:cNvPr id="17" name="Text 14"/>
          <p:cNvSpPr/>
          <p:nvPr/>
        </p:nvSpPr>
        <p:spPr>
          <a:xfrm>
            <a:off x="859536" y="3106039"/>
            <a:ext cx="10472623" cy="216535"/>
          </a:xfrm>
          <a:prstGeom prst="rect">
            <a:avLst/>
          </a:prstGeom>
          <a:noFill/>
          <a:ln/>
        </p:spPr>
        <p:txBody>
          <a:bodyPr wrap="square" lIns="0" tIns="0" rIns="0" bIns="0" rtlCol="0" anchor="ctr"/>
          <a:lstStyle/>
          <a:p>
            <a:pPr indent="0" marL="0">
              <a:buNone/>
            </a:pPr>
            <a:r>
              <a:rPr lang="en-US" sz="1100" b="1" dirty="0">
                <a:solidFill>
                  <a:srgbClr val="D62027"/>
                </a:solidFill>
                <a:latin typeface="Consolas" pitchFamily="34" charset="0"/>
                <a:ea typeface="Consolas" pitchFamily="34" charset="-122"/>
                <a:cs typeface="Consolas" pitchFamily="34" charset="-120"/>
              </a:rPr>
              <a:t>[solicitudes enviadas por el segundo intento] 0</a:t>
            </a:r>
            <a:endParaRPr lang="en-US" sz="1100" dirty="0"/>
          </a:p>
        </p:txBody>
      </p:sp>
      <p:sp>
        <p:nvSpPr>
          <p:cNvPr id="18" name="Text 15"/>
          <p:cNvSpPr/>
          <p:nvPr/>
        </p:nvSpPr>
        <p:spPr>
          <a:xfrm>
            <a:off x="859536" y="3322574"/>
            <a:ext cx="10472623" cy="216535"/>
          </a:xfrm>
          <a:prstGeom prst="rect">
            <a:avLst/>
          </a:prstGeom>
          <a:noFill/>
          <a:ln/>
        </p:spPr>
        <p:txBody>
          <a:bodyPr wrap="square" lIns="0" tIns="0" rIns="0" bIns="0" rtlCol="0" anchor="ctr"/>
          <a:lstStyle/>
          <a:p>
            <a:pPr indent="0" marL="0">
              <a:buNone/>
            </a:pPr>
            <a:r>
              <a:rPr lang="en-US" sz="1100" dirty="0">
                <a:solidFill>
                  <a:srgbClr val="8AA0B6"/>
                </a:solidFill>
                <a:latin typeface="Consolas" pitchFamily="34" charset="0"/>
                <a:ea typeface="Consolas" pitchFamily="34" charset="-122"/>
                <a:cs typeface="Consolas" pitchFamily="34" charset="-120"/>
              </a:rPr>
              <a:t>[validación nativa del campo] Value must be less than or equal to 30.</a:t>
            </a:r>
            <a:endParaRPr lang="en-US" sz="1100" dirty="0"/>
          </a:p>
        </p:txBody>
      </p:sp>
      <p:sp>
        <p:nvSpPr>
          <p:cNvPr id="19" name="Text 16"/>
          <p:cNvSpPr/>
          <p:nvPr/>
        </p:nvSpPr>
        <p:spPr>
          <a:xfrm>
            <a:off x="859536" y="3539109"/>
            <a:ext cx="10472623" cy="216535"/>
          </a:xfrm>
          <a:prstGeom prst="rect">
            <a:avLst/>
          </a:prstGeom>
          <a:noFill/>
          <a:ln/>
        </p:spPr>
        <p:txBody>
          <a:bodyPr wrap="square" lIns="0" tIns="0" rIns="0" bIns="0" rtlCol="0" anchor="ctr"/>
          <a:lstStyle/>
          <a:p>
            <a:pPr indent="0" marL="0">
              <a:buNone/>
            </a:pPr>
            <a:r>
              <a:rPr lang="en-US" sz="1100" dirty="0">
                <a:solidFill>
                  <a:srgbClr val="8AA0B6"/>
                </a:solidFill>
                <a:latin typeface="Consolas" pitchFamily="34" charset="0"/>
                <a:ea typeface="Consolas" pitchFamily="34" charset="-122"/>
                <a:cs typeface="Consolas" pitchFamily="34" charset="-120"/>
              </a:rPr>
              <a:t>[la API, si recibiera 50 personas] 409 {"detail":"La sala no tiene ese cupo"}</a:t>
            </a:r>
            <a:endParaRPr lang="en-US" sz="1100" dirty="0"/>
          </a:p>
        </p:txBody>
      </p:sp>
      <p:sp>
        <p:nvSpPr>
          <p:cNvPr id="20" name="Shape 17"/>
          <p:cNvSpPr/>
          <p:nvPr/>
        </p:nvSpPr>
        <p:spPr>
          <a:xfrm>
            <a:off x="658368" y="3931920"/>
            <a:ext cx="3527450" cy="1536192"/>
          </a:xfrm>
          <a:prstGeom prst="rect">
            <a:avLst/>
          </a:prstGeom>
          <a:solidFill>
            <a:srgbClr val="FFFFFF"/>
          </a:solidFill>
          <a:ln w="12700">
            <a:solidFill>
              <a:srgbClr val="FFFFFF"/>
            </a:solidFill>
            <a:prstDash val="solid"/>
          </a:ln>
        </p:spPr>
      </p:sp>
      <p:sp>
        <p:nvSpPr>
          <p:cNvPr id="21" name="Shape 18"/>
          <p:cNvSpPr/>
          <p:nvPr/>
        </p:nvSpPr>
        <p:spPr>
          <a:xfrm>
            <a:off x="658368" y="3931920"/>
            <a:ext cx="3527450" cy="54864"/>
          </a:xfrm>
          <a:prstGeom prst="rect">
            <a:avLst/>
          </a:prstGeom>
          <a:solidFill>
            <a:srgbClr val="2E7D4F"/>
          </a:solidFill>
          <a:ln w="12700">
            <a:solidFill>
              <a:srgbClr val="2E7D4F"/>
            </a:solidFill>
            <a:prstDash val="solid"/>
          </a:ln>
        </p:spPr>
      </p:sp>
      <p:sp>
        <p:nvSpPr>
          <p:cNvPr id="22" name="Text 19"/>
          <p:cNvSpPr txBox="1"/>
          <p:nvPr/>
        </p:nvSpPr>
        <p:spPr>
          <a:xfrm>
            <a:off x="877824" y="4114800"/>
            <a:ext cx="3088538" cy="256032"/>
          </a:xfrm>
          <a:prstGeom prst="rect">
            <a:avLst/>
          </a:prstGeom>
          <a:noFill/>
          <a:ln/>
        </p:spPr>
        <p:txBody>
          <a:bodyPr wrap="square" lIns="0" tIns="0" rIns="0" bIns="0" rtlCol="0" anchor="t"/>
          <a:lstStyle/>
          <a:p>
            <a:pPr algn="l" indent="0" marL="0">
              <a:buNone/>
            </a:pPr>
            <a:r>
              <a:rPr lang="en-US" sz="1300" b="1" dirty="0">
                <a:solidFill>
                  <a:srgbClr val="2E7D4F"/>
                </a:solidFill>
                <a:latin typeface="Aptos" pitchFamily="34" charset="0"/>
                <a:ea typeface="Aptos" pitchFamily="34" charset="-122"/>
                <a:cs typeface="Aptos" pitchFamily="34" charset="-120"/>
              </a:rPr>
              <a:t>Mitad cierta</a:t>
            </a:r>
            <a:endParaRPr lang="en-US" sz="1300" dirty="0"/>
          </a:p>
        </p:txBody>
      </p:sp>
      <p:sp>
        <p:nvSpPr>
          <p:cNvPr id="23" name="Text 20"/>
          <p:cNvSpPr txBox="1"/>
          <p:nvPr/>
        </p:nvSpPr>
        <p:spPr>
          <a:xfrm>
            <a:off x="877824" y="4443984"/>
            <a:ext cx="3088538" cy="950976"/>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El rechazo por bloque tomado no dice por qué.</a:t>
            </a:r>
            <a:endParaRPr lang="en-US" sz="1100" dirty="0"/>
          </a:p>
        </p:txBody>
      </p:sp>
      <p:sp>
        <p:nvSpPr>
          <p:cNvPr id="24" name="Shape 21"/>
          <p:cNvSpPr/>
          <p:nvPr/>
        </p:nvSpPr>
        <p:spPr>
          <a:xfrm>
            <a:off x="4332122" y="3931920"/>
            <a:ext cx="3527450" cy="1536192"/>
          </a:xfrm>
          <a:prstGeom prst="rect">
            <a:avLst/>
          </a:prstGeom>
          <a:solidFill>
            <a:srgbClr val="F2E7D9"/>
          </a:solidFill>
          <a:ln w="12700">
            <a:solidFill>
              <a:srgbClr val="F2E7D9"/>
            </a:solidFill>
            <a:prstDash val="solid"/>
          </a:ln>
        </p:spPr>
      </p:sp>
      <p:sp>
        <p:nvSpPr>
          <p:cNvPr id="25" name="Shape 22"/>
          <p:cNvSpPr/>
          <p:nvPr/>
        </p:nvSpPr>
        <p:spPr>
          <a:xfrm>
            <a:off x="4332122" y="3931920"/>
            <a:ext cx="3527450" cy="54864"/>
          </a:xfrm>
          <a:prstGeom prst="rect">
            <a:avLst/>
          </a:prstGeom>
          <a:solidFill>
            <a:srgbClr val="B3181E"/>
          </a:solidFill>
          <a:ln w="12700">
            <a:solidFill>
              <a:srgbClr val="B3181E"/>
            </a:solidFill>
            <a:prstDash val="solid"/>
          </a:ln>
        </p:spPr>
      </p:sp>
      <p:sp>
        <p:nvSpPr>
          <p:cNvPr id="26" name="Text 23"/>
          <p:cNvSpPr txBox="1"/>
          <p:nvPr/>
        </p:nvSpPr>
        <p:spPr>
          <a:xfrm>
            <a:off x="4551578" y="4114800"/>
            <a:ext cx="3088538" cy="256032"/>
          </a:xfrm>
          <a:prstGeom prst="rect">
            <a:avLst/>
          </a:prstGeom>
          <a:noFill/>
          <a:ln/>
        </p:spPr>
        <p:txBody>
          <a:bodyPr wrap="square" lIns="0" tIns="0" rIns="0" bIns="0" rtlCol="0" anchor="t"/>
          <a:lstStyle/>
          <a:p>
            <a:pPr algn="l" indent="0" marL="0">
              <a:buNone/>
            </a:pPr>
            <a:r>
              <a:rPr lang="en-US" sz="1300" b="1" dirty="0">
                <a:solidFill>
                  <a:srgbClr val="B3181E"/>
                </a:solidFill>
                <a:latin typeface="Aptos" pitchFamily="34" charset="0"/>
                <a:ea typeface="Aptos" pitchFamily="34" charset="-122"/>
                <a:cs typeface="Aptos" pitchFamily="34" charset="-120"/>
              </a:rPr>
              <a:t>Mitad falsa</a:t>
            </a:r>
            <a:endParaRPr lang="en-US" sz="1300" dirty="0"/>
          </a:p>
        </p:txBody>
      </p:sp>
      <p:sp>
        <p:nvSpPr>
          <p:cNvPr id="27" name="Text 24"/>
          <p:cNvSpPr txBox="1"/>
          <p:nvPr/>
        </p:nvSpPr>
        <p:spPr>
          <a:xfrm>
            <a:off x="4551578" y="4443984"/>
            <a:ext cx="3088538" cy="950976"/>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El segundo intento no envió nada. El mensaje era el del intento anterior, que seguía en pantalla.</a:t>
            </a:r>
            <a:endParaRPr lang="en-US" sz="1100" dirty="0"/>
          </a:p>
        </p:txBody>
      </p:sp>
      <p:sp>
        <p:nvSpPr>
          <p:cNvPr id="28" name="Shape 25"/>
          <p:cNvSpPr/>
          <p:nvPr/>
        </p:nvSpPr>
        <p:spPr>
          <a:xfrm>
            <a:off x="8005877" y="3931920"/>
            <a:ext cx="3527450" cy="1536192"/>
          </a:xfrm>
          <a:prstGeom prst="rect">
            <a:avLst/>
          </a:prstGeom>
          <a:solidFill>
            <a:srgbClr val="FFFFFF"/>
          </a:solidFill>
          <a:ln w="12700">
            <a:solidFill>
              <a:srgbClr val="FFFFFF"/>
            </a:solidFill>
            <a:prstDash val="solid"/>
          </a:ln>
        </p:spPr>
      </p:sp>
      <p:sp>
        <p:nvSpPr>
          <p:cNvPr id="29" name="Shape 26"/>
          <p:cNvSpPr/>
          <p:nvPr/>
        </p:nvSpPr>
        <p:spPr>
          <a:xfrm>
            <a:off x="8005877" y="3931920"/>
            <a:ext cx="3527450" cy="54864"/>
          </a:xfrm>
          <a:prstGeom prst="rect">
            <a:avLst/>
          </a:prstGeom>
          <a:solidFill>
            <a:srgbClr val="8A6A12"/>
          </a:solidFill>
          <a:ln w="12700">
            <a:solidFill>
              <a:srgbClr val="8A6A12"/>
            </a:solidFill>
            <a:prstDash val="solid"/>
          </a:ln>
        </p:spPr>
      </p:sp>
      <p:sp>
        <p:nvSpPr>
          <p:cNvPr id="30" name="Text 27"/>
          <p:cNvSpPr txBox="1"/>
          <p:nvPr/>
        </p:nvSpPr>
        <p:spPr>
          <a:xfrm>
            <a:off x="8225333" y="4114800"/>
            <a:ext cx="3088538" cy="256032"/>
          </a:xfrm>
          <a:prstGeom prst="rect">
            <a:avLst/>
          </a:prstGeom>
          <a:noFill/>
          <a:ln/>
        </p:spPr>
        <p:txBody>
          <a:bodyPr wrap="square" lIns="0" tIns="0" rIns="0" bIns="0" rtlCol="0" anchor="t"/>
          <a:lstStyle/>
          <a:p>
            <a:pPr algn="l" indent="0" marL="0">
              <a:buNone/>
            </a:pPr>
            <a:r>
              <a:rPr lang="en-US" sz="1300" b="1" dirty="0">
                <a:solidFill>
                  <a:srgbClr val="8A6A12"/>
                </a:solidFill>
                <a:latin typeface="Aptos" pitchFamily="34" charset="0"/>
                <a:ea typeface="Aptos" pitchFamily="34" charset="-122"/>
                <a:cs typeface="Aptos" pitchFamily="34" charset="-120"/>
              </a:rPr>
              <a:t>La causa era el 8</a:t>
            </a:r>
            <a:endParaRPr lang="en-US" sz="1300" dirty="0"/>
          </a:p>
        </p:txBody>
      </p:sp>
      <p:sp>
        <p:nvSpPr>
          <p:cNvPr id="31" name="Text 28"/>
          <p:cNvSpPr txBox="1"/>
          <p:nvPr/>
        </p:nvSpPr>
        <p:spPr>
          <a:xfrm>
            <a:off x="8225333" y="4443984"/>
            <a:ext cx="3088538" cy="950976"/>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Cuando el navegador bloquea el envío, la página no borra el mensaje anterior. Vio el síntoma y no lo conectó.</a:t>
            </a:r>
            <a:endParaRPr lang="en-US" sz="1100" dirty="0"/>
          </a:p>
        </p:txBody>
      </p:sp>
      <p:sp>
        <p:nvSpPr>
          <p:cNvPr id="32" name="Shape 29"/>
          <p:cNvSpPr/>
          <p:nvPr/>
        </p:nvSpPr>
        <p:spPr>
          <a:xfrm>
            <a:off x="658368" y="5650992"/>
            <a:ext cx="10874959" cy="548640"/>
          </a:xfrm>
          <a:prstGeom prst="rect">
            <a:avLst/>
          </a:prstGeom>
          <a:solidFill>
            <a:srgbClr val="102A43"/>
          </a:solidFill>
          <a:ln w="12700">
            <a:solidFill>
              <a:srgbClr val="102A43"/>
            </a:solidFill>
            <a:prstDash val="solid"/>
          </a:ln>
        </p:spPr>
      </p:sp>
      <p:sp>
        <p:nvSpPr>
          <p:cNvPr id="33" name="Text 30"/>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Lo afirmó con la misma seguridad que el resto. El globo que detuvo el envío no está en su registro.</a:t>
            </a:r>
            <a:endParaRPr lang="en-US" sz="13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VEREDICTOS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Reproducidos, los nueve quedan así</a:t>
            </a:r>
            <a:endParaRPr lang="en-US" sz="3000" dirty="0"/>
          </a:p>
        </p:txBody>
      </p:sp>
      <p:sp>
        <p:nvSpPr>
          <p:cNvPr id="10" name="Shape 7"/>
          <p:cNvSpPr/>
          <p:nvPr/>
        </p:nvSpPr>
        <p:spPr>
          <a:xfrm>
            <a:off x="658368" y="1755648"/>
            <a:ext cx="2609012" cy="3694176"/>
          </a:xfrm>
          <a:prstGeom prst="rect">
            <a:avLst/>
          </a:prstGeom>
          <a:solidFill>
            <a:srgbClr val="FFFFFF"/>
          </a:solidFill>
          <a:ln w="12700">
            <a:solidFill>
              <a:srgbClr val="FFFFFF"/>
            </a:solidFill>
            <a:prstDash val="solid"/>
          </a:ln>
        </p:spPr>
      </p:sp>
      <p:sp>
        <p:nvSpPr>
          <p:cNvPr id="11" name="Shape 8"/>
          <p:cNvSpPr/>
          <p:nvPr/>
        </p:nvSpPr>
        <p:spPr>
          <a:xfrm>
            <a:off x="658368" y="1755648"/>
            <a:ext cx="2609012" cy="457200"/>
          </a:xfrm>
          <a:prstGeom prst="rect">
            <a:avLst/>
          </a:prstGeom>
          <a:solidFill>
            <a:srgbClr val="2E7D4F"/>
          </a:solidFill>
          <a:ln w="12700">
            <a:solidFill>
              <a:srgbClr val="2E7D4F"/>
            </a:solidFill>
            <a:prstDash val="solid"/>
          </a:ln>
        </p:spPr>
      </p:sp>
      <p:sp>
        <p:nvSpPr>
          <p:cNvPr id="12" name="Text 9"/>
          <p:cNvSpPr txBox="1"/>
          <p:nvPr/>
        </p:nvSpPr>
        <p:spPr>
          <a:xfrm>
            <a:off x="841248" y="1847088"/>
            <a:ext cx="1786052" cy="274320"/>
          </a:xfrm>
          <a:prstGeom prst="rect">
            <a:avLst/>
          </a:prstGeom>
          <a:noFill/>
          <a:ln/>
        </p:spPr>
        <p:txBody>
          <a:bodyPr wrap="square" lIns="0" tIns="0" rIns="0" bIns="0" rtlCol="0" anchor="ctr"/>
          <a:lstStyle/>
          <a:p>
            <a:pPr algn="l" indent="0" marL="0">
              <a:buNone/>
            </a:pPr>
            <a:r>
              <a:rPr lang="en-US" sz="1040" b="1" spc="90" kern="0" dirty="0">
                <a:solidFill>
                  <a:srgbClr val="FFFFFF"/>
                </a:solidFill>
                <a:latin typeface="Aptos" pitchFamily="34" charset="0"/>
                <a:ea typeface="Aptos" pitchFamily="34" charset="-122"/>
                <a:cs typeface="Aptos" pitchFamily="34" charset="-120"/>
              </a:rPr>
              <a:t>CONFIRMADO</a:t>
            </a:r>
            <a:endParaRPr lang="en-US" sz="1040" dirty="0"/>
          </a:p>
        </p:txBody>
      </p:sp>
      <p:sp>
        <p:nvSpPr>
          <p:cNvPr id="13" name="Text 10"/>
          <p:cNvSpPr txBox="1"/>
          <p:nvPr/>
        </p:nvSpPr>
        <p:spPr>
          <a:xfrm>
            <a:off x="2682164" y="1810512"/>
            <a:ext cx="420624" cy="347472"/>
          </a:xfrm>
          <a:prstGeom prst="rect">
            <a:avLst/>
          </a:prstGeom>
          <a:noFill/>
          <a:ln/>
        </p:spPr>
        <p:txBody>
          <a:bodyPr wrap="square" lIns="0" tIns="0" rIns="0" bIns="0" rtlCol="0" anchor="ctr"/>
          <a:lstStyle/>
          <a:p>
            <a:pPr algn="r" indent="0" marL="0">
              <a:buNone/>
            </a:pPr>
            <a:r>
              <a:rPr lang="en-US" sz="1800" b="1" dirty="0">
                <a:solidFill>
                  <a:srgbClr val="FFFFFF"/>
                </a:solidFill>
                <a:latin typeface="Aptos Display" pitchFamily="34" charset="0"/>
                <a:ea typeface="Aptos Display" pitchFamily="34" charset="-122"/>
                <a:cs typeface="Aptos Display" pitchFamily="34" charset="-120"/>
              </a:rPr>
              <a:t>3</a:t>
            </a:r>
            <a:endParaRPr lang="en-US" sz="1800" dirty="0"/>
          </a:p>
        </p:txBody>
      </p:sp>
      <p:sp>
        <p:nvSpPr>
          <p:cNvPr id="14" name="Shape 11"/>
          <p:cNvSpPr/>
          <p:nvPr/>
        </p:nvSpPr>
        <p:spPr>
          <a:xfrm>
            <a:off x="832104" y="2404872"/>
            <a:ext cx="310896" cy="310896"/>
          </a:xfrm>
          <a:prstGeom prst="ellipse">
            <a:avLst/>
          </a:prstGeom>
          <a:solidFill>
            <a:srgbClr val="2E7D4F"/>
          </a:solidFill>
          <a:ln w="12700">
            <a:solidFill>
              <a:srgbClr val="2E7D4F"/>
            </a:solidFill>
            <a:prstDash val="solid"/>
          </a:ln>
        </p:spPr>
      </p:sp>
      <p:sp>
        <p:nvSpPr>
          <p:cNvPr id="15" name="Text 12"/>
          <p:cNvSpPr/>
          <p:nvPr/>
        </p:nvSpPr>
        <p:spPr>
          <a:xfrm>
            <a:off x="841248" y="2414016"/>
            <a:ext cx="292608" cy="29260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1</a:t>
            </a:r>
            <a:endParaRPr lang="en-US" sz="1040" dirty="0"/>
          </a:p>
        </p:txBody>
      </p:sp>
      <p:sp>
        <p:nvSpPr>
          <p:cNvPr id="16" name="Text 13"/>
          <p:cNvSpPr txBox="1"/>
          <p:nvPr/>
        </p:nvSpPr>
        <p:spPr>
          <a:xfrm>
            <a:off x="1261872" y="2395728"/>
            <a:ext cx="1840916" cy="658368"/>
          </a:xfrm>
          <a:prstGeom prst="rect">
            <a:avLst/>
          </a:prstGeom>
          <a:noFill/>
          <a:ln/>
        </p:spPr>
        <p:txBody>
          <a:bodyPr wrap="square" lIns="0" tIns="0" rIns="0" bIns="0" rtlCol="0" anchor="t"/>
          <a:lstStyle/>
          <a:p>
            <a:pPr algn="l" indent="0" marL="0">
              <a:lnSpc>
                <a:spcPct val="108000"/>
              </a:lnSpc>
              <a:buNone/>
            </a:pPr>
            <a:r>
              <a:rPr lang="en-US" sz="1040" dirty="0">
                <a:solidFill>
                  <a:srgbClr val="243B53"/>
                </a:solidFill>
                <a:latin typeface="Aptos" pitchFamily="34" charset="0"/>
                <a:ea typeface="Aptos" pitchFamily="34" charset="-122"/>
                <a:cs typeface="Aptos" pitchFamily="34" charset="-120"/>
              </a:rPr>
              <a:t>El [object Object] del bloque 1.</a:t>
            </a:r>
            <a:endParaRPr lang="en-US" sz="1040" dirty="0"/>
          </a:p>
        </p:txBody>
      </p:sp>
      <p:sp>
        <p:nvSpPr>
          <p:cNvPr id="17" name="Shape 14"/>
          <p:cNvSpPr/>
          <p:nvPr/>
        </p:nvSpPr>
        <p:spPr>
          <a:xfrm>
            <a:off x="832104" y="3154680"/>
            <a:ext cx="310896" cy="310896"/>
          </a:xfrm>
          <a:prstGeom prst="ellipse">
            <a:avLst/>
          </a:prstGeom>
          <a:solidFill>
            <a:srgbClr val="2E7D4F"/>
          </a:solidFill>
          <a:ln w="12700">
            <a:solidFill>
              <a:srgbClr val="2E7D4F"/>
            </a:solidFill>
            <a:prstDash val="solid"/>
          </a:ln>
        </p:spPr>
      </p:sp>
      <p:sp>
        <p:nvSpPr>
          <p:cNvPr id="18" name="Text 15"/>
          <p:cNvSpPr/>
          <p:nvPr/>
        </p:nvSpPr>
        <p:spPr>
          <a:xfrm>
            <a:off x="841248" y="3163824"/>
            <a:ext cx="292608" cy="29260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4</a:t>
            </a:r>
            <a:endParaRPr lang="en-US" sz="1040" dirty="0"/>
          </a:p>
        </p:txBody>
      </p:sp>
      <p:sp>
        <p:nvSpPr>
          <p:cNvPr id="19" name="Text 16"/>
          <p:cNvSpPr txBox="1"/>
          <p:nvPr/>
        </p:nvSpPr>
        <p:spPr>
          <a:xfrm>
            <a:off x="1261872" y="3145536"/>
            <a:ext cx="1840916" cy="658368"/>
          </a:xfrm>
          <a:prstGeom prst="rect">
            <a:avLst/>
          </a:prstGeom>
          <a:noFill/>
          <a:ln/>
        </p:spPr>
        <p:txBody>
          <a:bodyPr wrap="square" lIns="0" tIns="0" rIns="0" bIns="0" rtlCol="0" anchor="t"/>
          <a:lstStyle/>
          <a:p>
            <a:pPr algn="l" indent="0" marL="0">
              <a:lnSpc>
                <a:spcPct val="108000"/>
              </a:lnSpc>
              <a:buNone/>
            </a:pPr>
            <a:r>
              <a:rPr lang="en-US" sz="1040" dirty="0">
                <a:solidFill>
                  <a:srgbClr val="243B53"/>
                </a:solidFill>
                <a:latin typeface="Aptos" pitchFamily="34" charset="0"/>
                <a:ea typeface="Aptos" pitchFamily="34" charset="-122"/>
                <a:cs typeface="Aptos" pitchFamily="34" charset="-120"/>
              </a:rPr>
              <a:t>La lista ofrece bloques que la grilla muestra tomados.</a:t>
            </a:r>
            <a:endParaRPr lang="en-US" sz="1040" dirty="0"/>
          </a:p>
        </p:txBody>
      </p:sp>
      <p:sp>
        <p:nvSpPr>
          <p:cNvPr id="20" name="Shape 17"/>
          <p:cNvSpPr/>
          <p:nvPr/>
        </p:nvSpPr>
        <p:spPr>
          <a:xfrm>
            <a:off x="832104" y="3904488"/>
            <a:ext cx="310896" cy="310896"/>
          </a:xfrm>
          <a:prstGeom prst="ellipse">
            <a:avLst/>
          </a:prstGeom>
          <a:solidFill>
            <a:srgbClr val="2E7D4F"/>
          </a:solidFill>
          <a:ln w="12700">
            <a:solidFill>
              <a:srgbClr val="2E7D4F"/>
            </a:solidFill>
            <a:prstDash val="solid"/>
          </a:ln>
        </p:spPr>
      </p:sp>
      <p:sp>
        <p:nvSpPr>
          <p:cNvPr id="21" name="Text 18"/>
          <p:cNvSpPr/>
          <p:nvPr/>
        </p:nvSpPr>
        <p:spPr>
          <a:xfrm>
            <a:off x="841248" y="3913632"/>
            <a:ext cx="292608" cy="29260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8</a:t>
            </a:r>
            <a:endParaRPr lang="en-US" sz="1040" dirty="0"/>
          </a:p>
        </p:txBody>
      </p:sp>
      <p:sp>
        <p:nvSpPr>
          <p:cNvPr id="22" name="Text 19"/>
          <p:cNvSpPr txBox="1"/>
          <p:nvPr/>
        </p:nvSpPr>
        <p:spPr>
          <a:xfrm>
            <a:off x="1261872" y="3895344"/>
            <a:ext cx="1840916" cy="658368"/>
          </a:xfrm>
          <a:prstGeom prst="rect">
            <a:avLst/>
          </a:prstGeom>
          <a:noFill/>
          <a:ln/>
        </p:spPr>
        <p:txBody>
          <a:bodyPr wrap="square" lIns="0" tIns="0" rIns="0" bIns="0" rtlCol="0" anchor="t"/>
          <a:lstStyle/>
          <a:p>
            <a:pPr algn="l" indent="0" marL="0">
              <a:lnSpc>
                <a:spcPct val="108000"/>
              </a:lnSpc>
              <a:buNone/>
            </a:pPr>
            <a:r>
              <a:rPr lang="en-US" sz="1040" dirty="0">
                <a:solidFill>
                  <a:srgbClr val="243B53"/>
                </a:solidFill>
                <a:latin typeface="Aptos" pitchFamily="34" charset="0"/>
                <a:ea typeface="Aptos" pitchFamily="34" charset="-122"/>
                <a:cs typeface="Aptos" pitchFamily="34" charset="-120"/>
              </a:rPr>
              <a:t>Y es la causa del error del 2.</a:t>
            </a:r>
            <a:endParaRPr lang="en-US" sz="1040" dirty="0"/>
          </a:p>
        </p:txBody>
      </p:sp>
      <p:sp>
        <p:nvSpPr>
          <p:cNvPr id="23" name="Shape 20"/>
          <p:cNvSpPr/>
          <p:nvPr/>
        </p:nvSpPr>
        <p:spPr>
          <a:xfrm>
            <a:off x="3413684" y="1755648"/>
            <a:ext cx="2609012" cy="3694176"/>
          </a:xfrm>
          <a:prstGeom prst="rect">
            <a:avLst/>
          </a:prstGeom>
          <a:solidFill>
            <a:srgbClr val="FFFFFF"/>
          </a:solidFill>
          <a:ln w="12700">
            <a:solidFill>
              <a:srgbClr val="FFFFFF"/>
            </a:solidFill>
            <a:prstDash val="solid"/>
          </a:ln>
        </p:spPr>
      </p:sp>
      <p:sp>
        <p:nvSpPr>
          <p:cNvPr id="24" name="Shape 21"/>
          <p:cNvSpPr/>
          <p:nvPr/>
        </p:nvSpPr>
        <p:spPr>
          <a:xfrm>
            <a:off x="3413684" y="1755648"/>
            <a:ext cx="2609012" cy="457200"/>
          </a:xfrm>
          <a:prstGeom prst="rect">
            <a:avLst/>
          </a:prstGeom>
          <a:solidFill>
            <a:srgbClr val="8A6A12"/>
          </a:solidFill>
          <a:ln w="12700">
            <a:solidFill>
              <a:srgbClr val="8A6A12"/>
            </a:solidFill>
            <a:prstDash val="solid"/>
          </a:ln>
        </p:spPr>
      </p:sp>
      <p:sp>
        <p:nvSpPr>
          <p:cNvPr id="25" name="Text 22"/>
          <p:cNvSpPr txBox="1"/>
          <p:nvPr/>
        </p:nvSpPr>
        <p:spPr>
          <a:xfrm>
            <a:off x="3596564" y="1847088"/>
            <a:ext cx="1786052" cy="274320"/>
          </a:xfrm>
          <a:prstGeom prst="rect">
            <a:avLst/>
          </a:prstGeom>
          <a:noFill/>
          <a:ln/>
        </p:spPr>
        <p:txBody>
          <a:bodyPr wrap="square" lIns="0" tIns="0" rIns="0" bIns="0" rtlCol="0" anchor="ctr"/>
          <a:lstStyle/>
          <a:p>
            <a:pPr algn="l" indent="0" marL="0">
              <a:buNone/>
            </a:pPr>
            <a:r>
              <a:rPr lang="en-US" sz="1040" b="1" spc="90" kern="0" dirty="0">
                <a:solidFill>
                  <a:srgbClr val="FFFFFF"/>
                </a:solidFill>
                <a:latin typeface="Aptos" pitchFamily="34" charset="0"/>
                <a:ea typeface="Aptos" pitchFamily="34" charset="-122"/>
                <a:cs typeface="Aptos" pitchFamily="34" charset="-120"/>
              </a:rPr>
              <a:t>EXIGE EL REQUISITO</a:t>
            </a:r>
            <a:endParaRPr lang="en-US" sz="1040" dirty="0"/>
          </a:p>
        </p:txBody>
      </p:sp>
      <p:sp>
        <p:nvSpPr>
          <p:cNvPr id="26" name="Text 23"/>
          <p:cNvSpPr txBox="1"/>
          <p:nvPr/>
        </p:nvSpPr>
        <p:spPr>
          <a:xfrm>
            <a:off x="5437480" y="1810512"/>
            <a:ext cx="420624" cy="347472"/>
          </a:xfrm>
          <a:prstGeom prst="rect">
            <a:avLst/>
          </a:prstGeom>
          <a:noFill/>
          <a:ln/>
        </p:spPr>
        <p:txBody>
          <a:bodyPr wrap="square" lIns="0" tIns="0" rIns="0" bIns="0" rtlCol="0" anchor="ctr"/>
          <a:lstStyle/>
          <a:p>
            <a:pPr algn="r" indent="0" marL="0">
              <a:buNone/>
            </a:pPr>
            <a:r>
              <a:rPr lang="en-US" sz="1800" b="1" dirty="0">
                <a:solidFill>
                  <a:srgbClr val="FFFFFF"/>
                </a:solidFill>
                <a:latin typeface="Aptos Display" pitchFamily="34" charset="0"/>
                <a:ea typeface="Aptos Display" pitchFamily="34" charset="-122"/>
                <a:cs typeface="Aptos Display" pitchFamily="34" charset="-120"/>
              </a:rPr>
              <a:t>4</a:t>
            </a:r>
            <a:endParaRPr lang="en-US" sz="1800" dirty="0"/>
          </a:p>
        </p:txBody>
      </p:sp>
      <p:sp>
        <p:nvSpPr>
          <p:cNvPr id="27" name="Shape 24"/>
          <p:cNvSpPr/>
          <p:nvPr/>
        </p:nvSpPr>
        <p:spPr>
          <a:xfrm>
            <a:off x="3587420" y="2404872"/>
            <a:ext cx="310896" cy="310896"/>
          </a:xfrm>
          <a:prstGeom prst="ellipse">
            <a:avLst/>
          </a:prstGeom>
          <a:solidFill>
            <a:srgbClr val="8A6A12"/>
          </a:solidFill>
          <a:ln w="12700">
            <a:solidFill>
              <a:srgbClr val="8A6A12"/>
            </a:solidFill>
            <a:prstDash val="solid"/>
          </a:ln>
        </p:spPr>
      </p:sp>
      <p:sp>
        <p:nvSpPr>
          <p:cNvPr id="28" name="Text 25"/>
          <p:cNvSpPr/>
          <p:nvPr/>
        </p:nvSpPr>
        <p:spPr>
          <a:xfrm>
            <a:off x="3596564" y="2414016"/>
            <a:ext cx="292608" cy="29260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3</a:t>
            </a:r>
            <a:endParaRPr lang="en-US" sz="1040" dirty="0"/>
          </a:p>
        </p:txBody>
      </p:sp>
      <p:sp>
        <p:nvSpPr>
          <p:cNvPr id="29" name="Text 26"/>
          <p:cNvSpPr txBox="1"/>
          <p:nvPr/>
        </p:nvSpPr>
        <p:spPr>
          <a:xfrm>
            <a:off x="4017188" y="2395728"/>
            <a:ext cx="1840916" cy="658368"/>
          </a:xfrm>
          <a:prstGeom prst="rect">
            <a:avLst/>
          </a:prstGeom>
          <a:noFill/>
          <a:ln/>
        </p:spPr>
        <p:txBody>
          <a:bodyPr wrap="square" lIns="0" tIns="0" rIns="0" bIns="0" rtlCol="0" anchor="t"/>
          <a:lstStyle/>
          <a:p>
            <a:pPr algn="l" indent="0" marL="0">
              <a:lnSpc>
                <a:spcPct val="108000"/>
              </a:lnSpc>
              <a:buNone/>
            </a:pPr>
            <a:r>
              <a:rPr lang="en-US" sz="1040" dirty="0">
                <a:solidFill>
                  <a:srgbClr val="243B53"/>
                </a:solidFill>
                <a:latin typeface="Aptos" pitchFamily="34" charset="0"/>
                <a:ea typeface="Aptos" pitchFamily="34" charset="-122"/>
                <a:cs typeface="Aptos" pitchFamily="34" charset="-120"/>
              </a:rPr>
              <a:t>Si el límite debe mostrarse lo decide quien define el producto.</a:t>
            </a:r>
            <a:endParaRPr lang="en-US" sz="1040" dirty="0"/>
          </a:p>
        </p:txBody>
      </p:sp>
      <p:sp>
        <p:nvSpPr>
          <p:cNvPr id="30" name="Shape 27"/>
          <p:cNvSpPr/>
          <p:nvPr/>
        </p:nvSpPr>
        <p:spPr>
          <a:xfrm>
            <a:off x="3587420" y="3154680"/>
            <a:ext cx="310896" cy="310896"/>
          </a:xfrm>
          <a:prstGeom prst="ellipse">
            <a:avLst/>
          </a:prstGeom>
          <a:solidFill>
            <a:srgbClr val="8A6A12"/>
          </a:solidFill>
          <a:ln w="12700">
            <a:solidFill>
              <a:srgbClr val="8A6A12"/>
            </a:solidFill>
            <a:prstDash val="solid"/>
          </a:ln>
        </p:spPr>
      </p:sp>
      <p:sp>
        <p:nvSpPr>
          <p:cNvPr id="31" name="Text 28"/>
          <p:cNvSpPr/>
          <p:nvPr/>
        </p:nvSpPr>
        <p:spPr>
          <a:xfrm>
            <a:off x="3596564" y="3163824"/>
            <a:ext cx="292608" cy="29260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5</a:t>
            </a:r>
            <a:endParaRPr lang="en-US" sz="1040" dirty="0"/>
          </a:p>
        </p:txBody>
      </p:sp>
      <p:sp>
        <p:nvSpPr>
          <p:cNvPr id="32" name="Text 29"/>
          <p:cNvSpPr txBox="1"/>
          <p:nvPr/>
        </p:nvSpPr>
        <p:spPr>
          <a:xfrm>
            <a:off x="4017188" y="3145536"/>
            <a:ext cx="1840916" cy="658368"/>
          </a:xfrm>
          <a:prstGeom prst="rect">
            <a:avLst/>
          </a:prstGeom>
          <a:noFill/>
          <a:ln/>
        </p:spPr>
        <p:txBody>
          <a:bodyPr wrap="square" lIns="0" tIns="0" rIns="0" bIns="0" rtlCol="0" anchor="t"/>
          <a:lstStyle/>
          <a:p>
            <a:pPr algn="l" indent="0" marL="0">
              <a:lnSpc>
                <a:spcPct val="108000"/>
              </a:lnSpc>
              <a:buNone/>
            </a:pPr>
            <a:r>
              <a:rPr lang="en-US" sz="1040" dirty="0">
                <a:solidFill>
                  <a:srgbClr val="243B53"/>
                </a:solidFill>
                <a:latin typeface="Aptos" pitchFamily="34" charset="0"/>
                <a:ea typeface="Aptos" pitchFamily="34" charset="-122"/>
                <a:cs typeface="Aptos" pitchFamily="34" charset="-120"/>
              </a:rPr>
              <a:t>Validar el dígito es una regla que el requisito debe declarar.</a:t>
            </a:r>
            <a:endParaRPr lang="en-US" sz="1040" dirty="0"/>
          </a:p>
        </p:txBody>
      </p:sp>
      <p:sp>
        <p:nvSpPr>
          <p:cNvPr id="33" name="Shape 30"/>
          <p:cNvSpPr/>
          <p:nvPr/>
        </p:nvSpPr>
        <p:spPr>
          <a:xfrm>
            <a:off x="3587420" y="3904488"/>
            <a:ext cx="310896" cy="310896"/>
          </a:xfrm>
          <a:prstGeom prst="ellipse">
            <a:avLst/>
          </a:prstGeom>
          <a:solidFill>
            <a:srgbClr val="8A6A12"/>
          </a:solidFill>
          <a:ln w="12700">
            <a:solidFill>
              <a:srgbClr val="8A6A12"/>
            </a:solidFill>
            <a:prstDash val="solid"/>
          </a:ln>
        </p:spPr>
      </p:sp>
      <p:sp>
        <p:nvSpPr>
          <p:cNvPr id="34" name="Text 31"/>
          <p:cNvSpPr/>
          <p:nvPr/>
        </p:nvSpPr>
        <p:spPr>
          <a:xfrm>
            <a:off x="3596564" y="3913632"/>
            <a:ext cx="292608" cy="29260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6</a:t>
            </a:r>
            <a:endParaRPr lang="en-US" sz="1040" dirty="0"/>
          </a:p>
        </p:txBody>
      </p:sp>
      <p:sp>
        <p:nvSpPr>
          <p:cNvPr id="35" name="Text 32"/>
          <p:cNvSpPr txBox="1"/>
          <p:nvPr/>
        </p:nvSpPr>
        <p:spPr>
          <a:xfrm>
            <a:off x="4017188" y="3895344"/>
            <a:ext cx="1840916" cy="658368"/>
          </a:xfrm>
          <a:prstGeom prst="rect">
            <a:avLst/>
          </a:prstGeom>
          <a:noFill/>
          <a:ln/>
        </p:spPr>
        <p:txBody>
          <a:bodyPr wrap="square" lIns="0" tIns="0" rIns="0" bIns="0" rtlCol="0" anchor="t"/>
          <a:lstStyle/>
          <a:p>
            <a:pPr algn="l" indent="0" marL="0">
              <a:lnSpc>
                <a:spcPct val="108000"/>
              </a:lnSpc>
              <a:buNone/>
            </a:pPr>
            <a:r>
              <a:rPr lang="en-US" sz="1040" dirty="0">
                <a:solidFill>
                  <a:srgbClr val="243B53"/>
                </a:solidFill>
                <a:latin typeface="Aptos" pitchFamily="34" charset="0"/>
                <a:ea typeface="Aptos" pitchFamily="34" charset="-122"/>
                <a:cs typeface="Aptos" pitchFamily="34" charset="-120"/>
              </a:rPr>
              <a:t>Qué muestra una confirmación lo decide el requisito.</a:t>
            </a:r>
            <a:endParaRPr lang="en-US" sz="1040" dirty="0"/>
          </a:p>
        </p:txBody>
      </p:sp>
      <p:sp>
        <p:nvSpPr>
          <p:cNvPr id="36" name="Shape 33"/>
          <p:cNvSpPr/>
          <p:nvPr/>
        </p:nvSpPr>
        <p:spPr>
          <a:xfrm>
            <a:off x="3587420" y="4654296"/>
            <a:ext cx="310896" cy="310896"/>
          </a:xfrm>
          <a:prstGeom prst="ellipse">
            <a:avLst/>
          </a:prstGeom>
          <a:solidFill>
            <a:srgbClr val="8A6A12"/>
          </a:solidFill>
          <a:ln w="12700">
            <a:solidFill>
              <a:srgbClr val="8A6A12"/>
            </a:solidFill>
            <a:prstDash val="solid"/>
          </a:ln>
        </p:spPr>
      </p:sp>
      <p:sp>
        <p:nvSpPr>
          <p:cNvPr id="37" name="Text 34"/>
          <p:cNvSpPr/>
          <p:nvPr/>
        </p:nvSpPr>
        <p:spPr>
          <a:xfrm>
            <a:off x="3596564" y="4663440"/>
            <a:ext cx="292608" cy="29260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7</a:t>
            </a:r>
            <a:endParaRPr lang="en-US" sz="1040" dirty="0"/>
          </a:p>
        </p:txBody>
      </p:sp>
      <p:sp>
        <p:nvSpPr>
          <p:cNvPr id="38" name="Text 35"/>
          <p:cNvSpPr txBox="1"/>
          <p:nvPr/>
        </p:nvSpPr>
        <p:spPr>
          <a:xfrm>
            <a:off x="4017188" y="4645152"/>
            <a:ext cx="1840916" cy="658368"/>
          </a:xfrm>
          <a:prstGeom prst="rect">
            <a:avLst/>
          </a:prstGeom>
          <a:noFill/>
          <a:ln/>
        </p:spPr>
        <p:txBody>
          <a:bodyPr wrap="square" lIns="0" tIns="0" rIns="0" bIns="0" rtlCol="0" anchor="t"/>
          <a:lstStyle/>
          <a:p>
            <a:pPr algn="l" indent="0" marL="0">
              <a:lnSpc>
                <a:spcPct val="108000"/>
              </a:lnSpc>
              <a:buNone/>
            </a:pPr>
            <a:r>
              <a:rPr lang="en-US" sz="1040" dirty="0">
                <a:solidFill>
                  <a:srgbClr val="243B53"/>
                </a:solidFill>
                <a:latin typeface="Aptos" pitchFamily="34" charset="0"/>
                <a:ea typeface="Aptos" pitchFamily="34" charset="-122"/>
                <a:cs typeface="Aptos" pitchFamily="34" charset="-120"/>
              </a:rPr>
              <a:t>Y apunta a algo más serio: la tabla de reservas no guarda fecha.</a:t>
            </a:r>
            <a:endParaRPr lang="en-US" sz="1040" dirty="0"/>
          </a:p>
        </p:txBody>
      </p:sp>
      <p:sp>
        <p:nvSpPr>
          <p:cNvPr id="39" name="Shape 36"/>
          <p:cNvSpPr/>
          <p:nvPr/>
        </p:nvSpPr>
        <p:spPr>
          <a:xfrm>
            <a:off x="6169000" y="1755648"/>
            <a:ext cx="2609012" cy="3694176"/>
          </a:xfrm>
          <a:prstGeom prst="rect">
            <a:avLst/>
          </a:prstGeom>
          <a:solidFill>
            <a:srgbClr val="FFFFFF"/>
          </a:solidFill>
          <a:ln w="12700">
            <a:solidFill>
              <a:srgbClr val="FFFFFF"/>
            </a:solidFill>
            <a:prstDash val="solid"/>
          </a:ln>
        </p:spPr>
      </p:sp>
      <p:sp>
        <p:nvSpPr>
          <p:cNvPr id="40" name="Shape 37"/>
          <p:cNvSpPr/>
          <p:nvPr/>
        </p:nvSpPr>
        <p:spPr>
          <a:xfrm>
            <a:off x="6169000" y="1755648"/>
            <a:ext cx="2609012" cy="457200"/>
          </a:xfrm>
          <a:prstGeom prst="rect">
            <a:avLst/>
          </a:prstGeom>
          <a:solidFill>
            <a:srgbClr val="B3181E"/>
          </a:solidFill>
          <a:ln w="12700">
            <a:solidFill>
              <a:srgbClr val="B3181E"/>
            </a:solidFill>
            <a:prstDash val="solid"/>
          </a:ln>
        </p:spPr>
      </p:sp>
      <p:sp>
        <p:nvSpPr>
          <p:cNvPr id="41" name="Text 38"/>
          <p:cNvSpPr txBox="1"/>
          <p:nvPr/>
        </p:nvSpPr>
        <p:spPr>
          <a:xfrm>
            <a:off x="6351880" y="1847088"/>
            <a:ext cx="1786052" cy="274320"/>
          </a:xfrm>
          <a:prstGeom prst="rect">
            <a:avLst/>
          </a:prstGeom>
          <a:noFill/>
          <a:ln/>
        </p:spPr>
        <p:txBody>
          <a:bodyPr wrap="square" lIns="0" tIns="0" rIns="0" bIns="0" rtlCol="0" anchor="ctr"/>
          <a:lstStyle/>
          <a:p>
            <a:pPr algn="l" indent="0" marL="0">
              <a:buNone/>
            </a:pPr>
            <a:r>
              <a:rPr lang="en-US" sz="1040" b="1" spc="90" kern="0" dirty="0">
                <a:solidFill>
                  <a:srgbClr val="FFFFFF"/>
                </a:solidFill>
                <a:latin typeface="Aptos" pitchFamily="34" charset="0"/>
                <a:ea typeface="Aptos" pitchFamily="34" charset="-122"/>
                <a:cs typeface="Aptos" pitchFamily="34" charset="-120"/>
              </a:rPr>
              <a:t>MITAD Y MITAD</a:t>
            </a:r>
            <a:endParaRPr lang="en-US" sz="1040" dirty="0"/>
          </a:p>
        </p:txBody>
      </p:sp>
      <p:sp>
        <p:nvSpPr>
          <p:cNvPr id="42" name="Text 39"/>
          <p:cNvSpPr txBox="1"/>
          <p:nvPr/>
        </p:nvSpPr>
        <p:spPr>
          <a:xfrm>
            <a:off x="8192795" y="1810512"/>
            <a:ext cx="420624" cy="347472"/>
          </a:xfrm>
          <a:prstGeom prst="rect">
            <a:avLst/>
          </a:prstGeom>
          <a:noFill/>
          <a:ln/>
        </p:spPr>
        <p:txBody>
          <a:bodyPr wrap="square" lIns="0" tIns="0" rIns="0" bIns="0" rtlCol="0" anchor="ctr"/>
          <a:lstStyle/>
          <a:p>
            <a:pPr algn="r" indent="0" marL="0">
              <a:buNone/>
            </a:pPr>
            <a:r>
              <a:rPr lang="en-US" sz="1800" b="1" dirty="0">
                <a:solidFill>
                  <a:srgbClr val="FFFFFF"/>
                </a:solidFill>
                <a:latin typeface="Aptos Display" pitchFamily="34" charset="0"/>
                <a:ea typeface="Aptos Display" pitchFamily="34" charset="-122"/>
                <a:cs typeface="Aptos Display" pitchFamily="34" charset="-120"/>
              </a:rPr>
              <a:t>1</a:t>
            </a:r>
            <a:endParaRPr lang="en-US" sz="1800" dirty="0"/>
          </a:p>
        </p:txBody>
      </p:sp>
      <p:sp>
        <p:nvSpPr>
          <p:cNvPr id="43" name="Shape 40"/>
          <p:cNvSpPr/>
          <p:nvPr/>
        </p:nvSpPr>
        <p:spPr>
          <a:xfrm>
            <a:off x="6342736" y="2404872"/>
            <a:ext cx="310896" cy="310896"/>
          </a:xfrm>
          <a:prstGeom prst="ellipse">
            <a:avLst/>
          </a:prstGeom>
          <a:solidFill>
            <a:srgbClr val="B3181E"/>
          </a:solidFill>
          <a:ln w="12700">
            <a:solidFill>
              <a:srgbClr val="B3181E"/>
            </a:solidFill>
            <a:prstDash val="solid"/>
          </a:ln>
        </p:spPr>
      </p:sp>
      <p:sp>
        <p:nvSpPr>
          <p:cNvPr id="44" name="Text 41"/>
          <p:cNvSpPr/>
          <p:nvPr/>
        </p:nvSpPr>
        <p:spPr>
          <a:xfrm>
            <a:off x="6351880" y="2414016"/>
            <a:ext cx="292608" cy="29260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2</a:t>
            </a:r>
            <a:endParaRPr lang="en-US" sz="1040" dirty="0"/>
          </a:p>
        </p:txBody>
      </p:sp>
      <p:sp>
        <p:nvSpPr>
          <p:cNvPr id="45" name="Text 42"/>
          <p:cNvSpPr txBox="1"/>
          <p:nvPr/>
        </p:nvSpPr>
        <p:spPr>
          <a:xfrm>
            <a:off x="6772504" y="2395728"/>
            <a:ext cx="1840916" cy="658368"/>
          </a:xfrm>
          <a:prstGeom prst="rect">
            <a:avLst/>
          </a:prstGeom>
          <a:noFill/>
          <a:ln/>
        </p:spPr>
        <p:txBody>
          <a:bodyPr wrap="square" lIns="0" tIns="0" rIns="0" bIns="0" rtlCol="0" anchor="t"/>
          <a:lstStyle/>
          <a:p>
            <a:pPr algn="l" indent="0" marL="0">
              <a:lnSpc>
                <a:spcPct val="108000"/>
              </a:lnSpc>
              <a:buNone/>
            </a:pPr>
            <a:r>
              <a:rPr lang="en-US" sz="1040" dirty="0">
                <a:solidFill>
                  <a:srgbClr val="243B53"/>
                </a:solidFill>
                <a:latin typeface="Aptos" pitchFamily="34" charset="0"/>
                <a:ea typeface="Aptos" pitchFamily="34" charset="-122"/>
                <a:cs typeface="Aptos" pitchFamily="34" charset="-120"/>
              </a:rPr>
              <a:t>El mensaje no dice por qué; pero con 50 personas no hubo solicitud.</a:t>
            </a:r>
            <a:endParaRPr lang="en-US" sz="1040" dirty="0"/>
          </a:p>
        </p:txBody>
      </p:sp>
      <p:sp>
        <p:nvSpPr>
          <p:cNvPr id="46" name="Shape 43"/>
          <p:cNvSpPr/>
          <p:nvPr/>
        </p:nvSpPr>
        <p:spPr>
          <a:xfrm>
            <a:off x="8924315" y="1755648"/>
            <a:ext cx="2609012" cy="3694176"/>
          </a:xfrm>
          <a:prstGeom prst="rect">
            <a:avLst/>
          </a:prstGeom>
          <a:solidFill>
            <a:srgbClr val="FFFFFF"/>
          </a:solidFill>
          <a:ln w="12700">
            <a:solidFill>
              <a:srgbClr val="FFFFFF"/>
            </a:solidFill>
            <a:prstDash val="solid"/>
          </a:ln>
        </p:spPr>
      </p:sp>
      <p:sp>
        <p:nvSpPr>
          <p:cNvPr id="47" name="Shape 44"/>
          <p:cNvSpPr/>
          <p:nvPr/>
        </p:nvSpPr>
        <p:spPr>
          <a:xfrm>
            <a:off x="8924315" y="1755648"/>
            <a:ext cx="2609012" cy="457200"/>
          </a:xfrm>
          <a:prstGeom prst="rect">
            <a:avLst/>
          </a:prstGeom>
          <a:solidFill>
            <a:srgbClr val="52606D"/>
          </a:solidFill>
          <a:ln w="12700">
            <a:solidFill>
              <a:srgbClr val="52606D"/>
            </a:solidFill>
            <a:prstDash val="solid"/>
          </a:ln>
        </p:spPr>
      </p:sp>
      <p:sp>
        <p:nvSpPr>
          <p:cNvPr id="48" name="Text 45"/>
          <p:cNvSpPr txBox="1"/>
          <p:nvPr/>
        </p:nvSpPr>
        <p:spPr>
          <a:xfrm>
            <a:off x="9107195" y="1847088"/>
            <a:ext cx="1786052" cy="274320"/>
          </a:xfrm>
          <a:prstGeom prst="rect">
            <a:avLst/>
          </a:prstGeom>
          <a:noFill/>
          <a:ln/>
        </p:spPr>
        <p:txBody>
          <a:bodyPr wrap="square" lIns="0" tIns="0" rIns="0" bIns="0" rtlCol="0" anchor="ctr"/>
          <a:lstStyle/>
          <a:p>
            <a:pPr algn="l" indent="0" marL="0">
              <a:buNone/>
            </a:pPr>
            <a:r>
              <a:rPr lang="en-US" sz="1040" b="1" spc="90" kern="0" dirty="0">
                <a:solidFill>
                  <a:srgbClr val="FFFFFF"/>
                </a:solidFill>
                <a:latin typeface="Aptos" pitchFamily="34" charset="0"/>
                <a:ea typeface="Aptos" pitchFamily="34" charset="-122"/>
                <a:cs typeface="Aptos" pitchFamily="34" charset="-120"/>
              </a:rPr>
              <a:t>NO ES DEFECTO</a:t>
            </a:r>
            <a:endParaRPr lang="en-US" sz="1040" dirty="0"/>
          </a:p>
        </p:txBody>
      </p:sp>
      <p:sp>
        <p:nvSpPr>
          <p:cNvPr id="49" name="Text 46"/>
          <p:cNvSpPr txBox="1"/>
          <p:nvPr/>
        </p:nvSpPr>
        <p:spPr>
          <a:xfrm>
            <a:off x="10948111" y="1810512"/>
            <a:ext cx="420624" cy="347472"/>
          </a:xfrm>
          <a:prstGeom prst="rect">
            <a:avLst/>
          </a:prstGeom>
          <a:noFill/>
          <a:ln/>
        </p:spPr>
        <p:txBody>
          <a:bodyPr wrap="square" lIns="0" tIns="0" rIns="0" bIns="0" rtlCol="0" anchor="ctr"/>
          <a:lstStyle/>
          <a:p>
            <a:pPr algn="r" indent="0" marL="0">
              <a:buNone/>
            </a:pPr>
            <a:r>
              <a:rPr lang="en-US" sz="1800" b="1" dirty="0">
                <a:solidFill>
                  <a:srgbClr val="FFFFFF"/>
                </a:solidFill>
                <a:latin typeface="Aptos Display" pitchFamily="34" charset="0"/>
                <a:ea typeface="Aptos Display" pitchFamily="34" charset="-122"/>
                <a:cs typeface="Aptos Display" pitchFamily="34" charset="-120"/>
              </a:rPr>
              <a:t>1</a:t>
            </a:r>
            <a:endParaRPr lang="en-US" sz="1800" dirty="0"/>
          </a:p>
        </p:txBody>
      </p:sp>
      <p:sp>
        <p:nvSpPr>
          <p:cNvPr id="50" name="Shape 47"/>
          <p:cNvSpPr/>
          <p:nvPr/>
        </p:nvSpPr>
        <p:spPr>
          <a:xfrm>
            <a:off x="9098051" y="2404872"/>
            <a:ext cx="310896" cy="310896"/>
          </a:xfrm>
          <a:prstGeom prst="ellipse">
            <a:avLst/>
          </a:prstGeom>
          <a:solidFill>
            <a:srgbClr val="52606D"/>
          </a:solidFill>
          <a:ln w="12700">
            <a:solidFill>
              <a:srgbClr val="52606D"/>
            </a:solidFill>
            <a:prstDash val="solid"/>
          </a:ln>
        </p:spPr>
      </p:sp>
      <p:sp>
        <p:nvSpPr>
          <p:cNvPr id="51" name="Text 48"/>
          <p:cNvSpPr/>
          <p:nvPr/>
        </p:nvSpPr>
        <p:spPr>
          <a:xfrm>
            <a:off x="9107195" y="2414016"/>
            <a:ext cx="292608" cy="292608"/>
          </a:xfrm>
          <a:prstGeom prst="rect">
            <a:avLst/>
          </a:prstGeom>
          <a:noFill/>
          <a:ln/>
        </p:spPr>
        <p:txBody>
          <a:bodyPr wrap="square" lIns="0" tIns="0" rIns="0" bIns="0" rtlCol="0" anchor="ctr"/>
          <a:lstStyle/>
          <a:p>
            <a:pPr algn="ctr" indent="0" marL="0">
              <a:buNone/>
            </a:pPr>
            <a:r>
              <a:rPr lang="en-US" sz="1040" b="1" dirty="0">
                <a:solidFill>
                  <a:srgbClr val="FFFFFF"/>
                </a:solidFill>
                <a:latin typeface="Aptos" pitchFamily="34" charset="0"/>
                <a:ea typeface="Aptos" pitchFamily="34" charset="-122"/>
                <a:cs typeface="Aptos" pitchFamily="34" charset="-120"/>
              </a:rPr>
              <a:t>9</a:t>
            </a:r>
            <a:endParaRPr lang="en-US" sz="1040" dirty="0"/>
          </a:p>
        </p:txBody>
      </p:sp>
      <p:sp>
        <p:nvSpPr>
          <p:cNvPr id="52" name="Text 49"/>
          <p:cNvSpPr txBox="1"/>
          <p:nvPr/>
        </p:nvSpPr>
        <p:spPr>
          <a:xfrm>
            <a:off x="9527819" y="2395728"/>
            <a:ext cx="1840916" cy="658368"/>
          </a:xfrm>
          <a:prstGeom prst="rect">
            <a:avLst/>
          </a:prstGeom>
          <a:noFill/>
          <a:ln/>
        </p:spPr>
        <p:txBody>
          <a:bodyPr wrap="square" lIns="0" tIns="0" rIns="0" bIns="0" rtlCol="0" anchor="t"/>
          <a:lstStyle/>
          <a:p>
            <a:pPr algn="l" indent="0" marL="0">
              <a:lnSpc>
                <a:spcPct val="108000"/>
              </a:lnSpc>
              <a:buNone/>
            </a:pPr>
            <a:r>
              <a:rPr lang="en-US" sz="1040" dirty="0">
                <a:solidFill>
                  <a:srgbClr val="243B53"/>
                </a:solidFill>
                <a:latin typeface="Aptos" pitchFamily="34" charset="0"/>
                <a:ea typeface="Aptos" pitchFamily="34" charset="-122"/>
                <a:cs typeface="Aptos" pitchFamily="34" charset="-120"/>
              </a:rPr>
              <a:t>El navegador registra las respuestas 409 y 422 como errores de carga.</a:t>
            </a:r>
            <a:endParaRPr lang="en-US" sz="1040" dirty="0"/>
          </a:p>
        </p:txBody>
      </p:sp>
      <p:sp>
        <p:nvSpPr>
          <p:cNvPr id="53" name="Shape 50"/>
          <p:cNvSpPr/>
          <p:nvPr/>
        </p:nvSpPr>
        <p:spPr>
          <a:xfrm>
            <a:off x="658368" y="5650992"/>
            <a:ext cx="10874959" cy="548640"/>
          </a:xfrm>
          <a:prstGeom prst="rect">
            <a:avLst/>
          </a:prstGeom>
          <a:solidFill>
            <a:srgbClr val="102A43"/>
          </a:solidFill>
          <a:ln w="12700">
            <a:solidFill>
              <a:srgbClr val="102A43"/>
            </a:solidFill>
            <a:prstDash val="solid"/>
          </a:ln>
        </p:spPr>
      </p:sp>
      <p:sp>
        <p:nvSpPr>
          <p:cNvPr id="54" name="Text 5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Cuatro de los nueve no se pueden resolver mirando la pantalla: exigen conocer el requisito.</a:t>
            </a:r>
            <a:endParaRPr lang="en-US" sz="13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LECTURA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Testigo, no juez</a:t>
            </a:r>
            <a:endParaRPr lang="en-US" sz="3000" dirty="0"/>
          </a:p>
        </p:txBody>
      </p:sp>
      <p:sp>
        <p:nvSpPr>
          <p:cNvPr id="10" name="Shape 7"/>
          <p:cNvSpPr/>
          <p:nvPr/>
        </p:nvSpPr>
        <p:spPr>
          <a:xfrm>
            <a:off x="658368" y="1737360"/>
            <a:ext cx="5300320" cy="1517904"/>
          </a:xfrm>
          <a:prstGeom prst="rect">
            <a:avLst/>
          </a:prstGeom>
          <a:solidFill>
            <a:srgbClr val="FFFFFF"/>
          </a:solidFill>
          <a:ln w="12700">
            <a:solidFill>
              <a:srgbClr val="FFFFFF"/>
            </a:solidFill>
            <a:prstDash val="solid"/>
          </a:ln>
        </p:spPr>
      </p:sp>
      <p:sp>
        <p:nvSpPr>
          <p:cNvPr id="11" name="Shape 8"/>
          <p:cNvSpPr/>
          <p:nvPr/>
        </p:nvSpPr>
        <p:spPr>
          <a:xfrm>
            <a:off x="658368" y="1737360"/>
            <a:ext cx="54864" cy="1517904"/>
          </a:xfrm>
          <a:prstGeom prst="rect">
            <a:avLst/>
          </a:prstGeom>
          <a:solidFill>
            <a:srgbClr val="102A43"/>
          </a:solidFill>
          <a:ln w="12700">
            <a:solidFill>
              <a:srgbClr val="102A43"/>
            </a:solidFill>
            <a:prstDash val="solid"/>
          </a:ln>
        </p:spPr>
      </p:sp>
      <p:sp>
        <p:nvSpPr>
          <p:cNvPr id="12" name="Text 9"/>
          <p:cNvSpPr txBox="1"/>
          <p:nvPr/>
        </p:nvSpPr>
        <p:spPr>
          <a:xfrm>
            <a:off x="896112" y="1847088"/>
            <a:ext cx="484312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SOLO LA SESIÓN CON CARTA</a:t>
            </a:r>
            <a:endParaRPr lang="en-US" sz="960" dirty="0"/>
          </a:p>
        </p:txBody>
      </p:sp>
      <p:sp>
        <p:nvSpPr>
          <p:cNvPr id="13" name="Shape 10"/>
          <p:cNvSpPr/>
          <p:nvPr/>
        </p:nvSpPr>
        <p:spPr>
          <a:xfrm>
            <a:off x="914400" y="2212848"/>
            <a:ext cx="82296" cy="82296"/>
          </a:xfrm>
          <a:prstGeom prst="rect">
            <a:avLst/>
          </a:prstGeom>
          <a:solidFill>
            <a:srgbClr val="102A43"/>
          </a:solidFill>
          <a:ln w="12700">
            <a:solidFill>
              <a:srgbClr val="102A43"/>
            </a:solidFill>
            <a:prstDash val="solid"/>
          </a:ln>
        </p:spPr>
      </p:sp>
      <p:sp>
        <p:nvSpPr>
          <p:cNvPr id="14" name="Text 11"/>
          <p:cNvSpPr txBox="1"/>
          <p:nvPr/>
        </p:nvSpPr>
        <p:spPr>
          <a:xfrm>
            <a:off x="1078992" y="2139696"/>
            <a:ext cx="4660240" cy="457200"/>
          </a:xfrm>
          <a:prstGeom prst="rect">
            <a:avLst/>
          </a:prstGeom>
          <a:noFill/>
          <a:ln/>
        </p:spPr>
        <p:txBody>
          <a:bodyPr wrap="square" lIns="0" tIns="0" rIns="0" bIns="0" rtlCol="0" anchor="t"/>
          <a:lstStyle/>
          <a:p>
            <a:pPr algn="l" indent="0" marL="0">
              <a:lnSpc>
                <a:spcPct val="106000"/>
              </a:lnSpc>
              <a:buNone/>
            </a:pPr>
            <a:r>
              <a:rPr lang="en-US" sz="1080" dirty="0">
                <a:solidFill>
                  <a:srgbClr val="243B53"/>
                </a:solidFill>
                <a:latin typeface="Aptos" pitchFamily="34" charset="0"/>
                <a:ea typeface="Aptos" pitchFamily="34" charset="-122"/>
                <a:cs typeface="Aptos" pitchFamily="34" charset="-120"/>
              </a:rPr>
              <a:t>El doble clic, el defecto más grave de los dos registros. El agente no lo intentó.</a:t>
            </a:r>
            <a:endParaRPr lang="en-US" sz="1080" dirty="0"/>
          </a:p>
        </p:txBody>
      </p:sp>
      <p:sp>
        <p:nvSpPr>
          <p:cNvPr id="15" name="Shape 12"/>
          <p:cNvSpPr/>
          <p:nvPr/>
        </p:nvSpPr>
        <p:spPr>
          <a:xfrm>
            <a:off x="914400" y="2724912"/>
            <a:ext cx="82296" cy="82296"/>
          </a:xfrm>
          <a:prstGeom prst="rect">
            <a:avLst/>
          </a:prstGeom>
          <a:solidFill>
            <a:srgbClr val="102A43"/>
          </a:solidFill>
          <a:ln w="12700">
            <a:solidFill>
              <a:srgbClr val="102A43"/>
            </a:solidFill>
            <a:prstDash val="solid"/>
          </a:ln>
        </p:spPr>
      </p:sp>
      <p:sp>
        <p:nvSpPr>
          <p:cNvPr id="16" name="Text 13"/>
          <p:cNvSpPr txBox="1"/>
          <p:nvPr/>
        </p:nvSpPr>
        <p:spPr>
          <a:xfrm>
            <a:off x="1078992" y="2651760"/>
            <a:ext cx="4660240" cy="457200"/>
          </a:xfrm>
          <a:prstGeom prst="rect">
            <a:avLst/>
          </a:prstGeom>
          <a:noFill/>
          <a:ln/>
        </p:spPr>
        <p:txBody>
          <a:bodyPr wrap="square" lIns="0" tIns="0" rIns="0" bIns="0" rtlCol="0" anchor="t"/>
          <a:lstStyle/>
          <a:p>
            <a:pPr algn="l" indent="0" marL="0">
              <a:lnSpc>
                <a:spcPct val="106000"/>
              </a:lnSpc>
              <a:buNone/>
            </a:pPr>
            <a:r>
              <a:rPr lang="en-US" sz="1080" dirty="0">
                <a:solidFill>
                  <a:srgbClr val="243B53"/>
                </a:solidFill>
                <a:latin typeface="Aptos" pitchFamily="34" charset="0"/>
                <a:ea typeface="Aptos" pitchFamily="34" charset="-122"/>
                <a:cs typeface="Aptos" pitchFamily="34" charset="-120"/>
              </a:rPr>
              <a:t>El RUT y el correo completos. El agente los copió en su tabla sin señalarlos.</a:t>
            </a:r>
            <a:endParaRPr lang="en-US" sz="1080" dirty="0"/>
          </a:p>
        </p:txBody>
      </p:sp>
      <p:sp>
        <p:nvSpPr>
          <p:cNvPr id="17" name="Shape 14"/>
          <p:cNvSpPr/>
          <p:nvPr/>
        </p:nvSpPr>
        <p:spPr>
          <a:xfrm>
            <a:off x="6233008" y="1737360"/>
            <a:ext cx="5300320" cy="1517904"/>
          </a:xfrm>
          <a:prstGeom prst="rect">
            <a:avLst/>
          </a:prstGeom>
          <a:solidFill>
            <a:srgbClr val="FFFFFF"/>
          </a:solidFill>
          <a:ln w="12700">
            <a:solidFill>
              <a:srgbClr val="FFFFFF"/>
            </a:solidFill>
            <a:prstDash val="solid"/>
          </a:ln>
        </p:spPr>
      </p:sp>
      <p:sp>
        <p:nvSpPr>
          <p:cNvPr id="18" name="Shape 15"/>
          <p:cNvSpPr/>
          <p:nvPr/>
        </p:nvSpPr>
        <p:spPr>
          <a:xfrm>
            <a:off x="6233008" y="1737360"/>
            <a:ext cx="54864" cy="1517904"/>
          </a:xfrm>
          <a:prstGeom prst="rect">
            <a:avLst/>
          </a:prstGeom>
          <a:solidFill>
            <a:srgbClr val="8A6A12"/>
          </a:solidFill>
          <a:ln w="12700">
            <a:solidFill>
              <a:srgbClr val="8A6A12"/>
            </a:solidFill>
            <a:prstDash val="solid"/>
          </a:ln>
        </p:spPr>
      </p:sp>
      <p:sp>
        <p:nvSpPr>
          <p:cNvPr id="19" name="Text 16"/>
          <p:cNvSpPr txBox="1"/>
          <p:nvPr/>
        </p:nvSpPr>
        <p:spPr>
          <a:xfrm>
            <a:off x="6470752" y="1847088"/>
            <a:ext cx="484312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SOLO EL AGENTE</a:t>
            </a:r>
            <a:endParaRPr lang="en-US" sz="960" dirty="0"/>
          </a:p>
        </p:txBody>
      </p:sp>
      <p:sp>
        <p:nvSpPr>
          <p:cNvPr id="20" name="Shape 17"/>
          <p:cNvSpPr/>
          <p:nvPr/>
        </p:nvSpPr>
        <p:spPr>
          <a:xfrm>
            <a:off x="6489040" y="2212848"/>
            <a:ext cx="82296" cy="82296"/>
          </a:xfrm>
          <a:prstGeom prst="rect">
            <a:avLst/>
          </a:prstGeom>
          <a:solidFill>
            <a:srgbClr val="8A6A12"/>
          </a:solidFill>
          <a:ln w="12700">
            <a:solidFill>
              <a:srgbClr val="8A6A12"/>
            </a:solidFill>
            <a:prstDash val="solid"/>
          </a:ln>
        </p:spPr>
      </p:sp>
      <p:sp>
        <p:nvSpPr>
          <p:cNvPr id="21" name="Text 18"/>
          <p:cNvSpPr txBox="1"/>
          <p:nvPr/>
        </p:nvSpPr>
        <p:spPr>
          <a:xfrm>
            <a:off x="6653632" y="2139696"/>
            <a:ext cx="4660240" cy="274320"/>
          </a:xfrm>
          <a:prstGeom prst="rect">
            <a:avLst/>
          </a:prstGeom>
          <a:noFill/>
          <a:ln/>
        </p:spPr>
        <p:txBody>
          <a:bodyPr wrap="square" lIns="0" tIns="0" rIns="0" bIns="0" rtlCol="0" anchor="t"/>
          <a:lstStyle/>
          <a:p>
            <a:pPr algn="l" indent="0" marL="0">
              <a:lnSpc>
                <a:spcPct val="106000"/>
              </a:lnSpc>
              <a:buNone/>
            </a:pPr>
            <a:r>
              <a:rPr lang="en-US" sz="1080" dirty="0">
                <a:solidFill>
                  <a:srgbClr val="243B53"/>
                </a:solidFill>
                <a:latin typeface="Aptos" pitchFamily="34" charset="0"/>
                <a:ea typeface="Aptos" pitchFamily="34" charset="-122"/>
                <a:cs typeface="Aptos" pitchFamily="34" charset="-120"/>
              </a:rPr>
              <a:t>La lista que ofrece bloques tomados.</a:t>
            </a:r>
            <a:endParaRPr lang="en-US" sz="1080" dirty="0"/>
          </a:p>
        </p:txBody>
      </p:sp>
      <p:sp>
        <p:nvSpPr>
          <p:cNvPr id="22" name="Shape 19"/>
          <p:cNvSpPr/>
          <p:nvPr/>
        </p:nvSpPr>
        <p:spPr>
          <a:xfrm>
            <a:off x="6489040" y="2560320"/>
            <a:ext cx="82296" cy="82296"/>
          </a:xfrm>
          <a:prstGeom prst="rect">
            <a:avLst/>
          </a:prstGeom>
          <a:solidFill>
            <a:srgbClr val="8A6A12"/>
          </a:solidFill>
          <a:ln w="12700">
            <a:solidFill>
              <a:srgbClr val="8A6A12"/>
            </a:solidFill>
            <a:prstDash val="solid"/>
          </a:ln>
        </p:spPr>
      </p:sp>
      <p:sp>
        <p:nvSpPr>
          <p:cNvPr id="23" name="Text 20"/>
          <p:cNvSpPr txBox="1"/>
          <p:nvPr/>
        </p:nvSpPr>
        <p:spPr>
          <a:xfrm>
            <a:off x="6653632" y="2487168"/>
            <a:ext cx="4660240" cy="274320"/>
          </a:xfrm>
          <a:prstGeom prst="rect">
            <a:avLst/>
          </a:prstGeom>
          <a:noFill/>
          <a:ln/>
        </p:spPr>
        <p:txBody>
          <a:bodyPr wrap="square" lIns="0" tIns="0" rIns="0" bIns="0" rtlCol="0" anchor="t"/>
          <a:lstStyle/>
          <a:p>
            <a:pPr algn="l" indent="0" marL="0">
              <a:lnSpc>
                <a:spcPct val="106000"/>
              </a:lnSpc>
              <a:buNone/>
            </a:pPr>
            <a:r>
              <a:rPr lang="en-US" sz="1080" dirty="0">
                <a:solidFill>
                  <a:srgbClr val="243B53"/>
                </a:solidFill>
                <a:latin typeface="Aptos" pitchFamily="34" charset="0"/>
                <a:ea typeface="Aptos" pitchFamily="34" charset="-122"/>
                <a:cs typeface="Aptos" pitchFamily="34" charset="-120"/>
              </a:rPr>
              <a:t>El dígito verificador del RUT de ejemplo.</a:t>
            </a:r>
            <a:endParaRPr lang="en-US" sz="1080" dirty="0"/>
          </a:p>
        </p:txBody>
      </p:sp>
      <p:sp>
        <p:nvSpPr>
          <p:cNvPr id="24" name="Shape 21"/>
          <p:cNvSpPr/>
          <p:nvPr/>
        </p:nvSpPr>
        <p:spPr>
          <a:xfrm>
            <a:off x="6489040" y="2907792"/>
            <a:ext cx="82296" cy="82296"/>
          </a:xfrm>
          <a:prstGeom prst="rect">
            <a:avLst/>
          </a:prstGeom>
          <a:solidFill>
            <a:srgbClr val="8A6A12"/>
          </a:solidFill>
          <a:ln w="12700">
            <a:solidFill>
              <a:srgbClr val="8A6A12"/>
            </a:solidFill>
            <a:prstDash val="solid"/>
          </a:ln>
        </p:spPr>
      </p:sp>
      <p:sp>
        <p:nvSpPr>
          <p:cNvPr id="25" name="Text 22"/>
          <p:cNvSpPr txBox="1"/>
          <p:nvPr/>
        </p:nvSpPr>
        <p:spPr>
          <a:xfrm>
            <a:off x="6653632" y="2834640"/>
            <a:ext cx="4660240" cy="274320"/>
          </a:xfrm>
          <a:prstGeom prst="rect">
            <a:avLst/>
          </a:prstGeom>
          <a:noFill/>
          <a:ln/>
        </p:spPr>
        <p:txBody>
          <a:bodyPr wrap="square" lIns="0" tIns="0" rIns="0" bIns="0" rtlCol="0" anchor="t"/>
          <a:lstStyle/>
          <a:p>
            <a:pPr algn="l" indent="0" marL="0">
              <a:lnSpc>
                <a:spcPct val="106000"/>
              </a:lnSpc>
              <a:buNone/>
            </a:pPr>
            <a:r>
              <a:rPr lang="en-US" sz="1080" dirty="0">
                <a:solidFill>
                  <a:srgbClr val="243B53"/>
                </a:solidFill>
                <a:latin typeface="Aptos" pitchFamily="34" charset="0"/>
                <a:ea typeface="Aptos" pitchFamily="34" charset="-122"/>
                <a:cs typeface="Aptos" pitchFamily="34" charset="-120"/>
              </a:rPr>
              <a:t>Los bloques sin horario ni fecha.</a:t>
            </a:r>
            <a:endParaRPr lang="en-US" sz="1080" dirty="0"/>
          </a:p>
        </p:txBody>
      </p:sp>
      <p:sp>
        <p:nvSpPr>
          <p:cNvPr id="26" name="Shape 23"/>
          <p:cNvSpPr/>
          <p:nvPr/>
        </p:nvSpPr>
        <p:spPr>
          <a:xfrm>
            <a:off x="658368" y="3401568"/>
            <a:ext cx="10874959" cy="932688"/>
          </a:xfrm>
          <a:prstGeom prst="rect">
            <a:avLst/>
          </a:prstGeom>
          <a:solidFill>
            <a:srgbClr val="1D3A57"/>
          </a:solidFill>
          <a:ln w="12700">
            <a:solidFill>
              <a:srgbClr val="1D3A57"/>
            </a:solidFill>
            <a:prstDash val="solid"/>
          </a:ln>
        </p:spPr>
      </p:sp>
      <p:sp>
        <p:nvSpPr>
          <p:cNvPr id="27" name="Text 24"/>
          <p:cNvSpPr txBox="1"/>
          <p:nvPr/>
        </p:nvSpPr>
        <p:spPr>
          <a:xfrm>
            <a:off x="969264" y="3493008"/>
            <a:ext cx="10253167" cy="749808"/>
          </a:xfrm>
          <a:prstGeom prst="rect">
            <a:avLst/>
          </a:prstGeom>
          <a:noFill/>
          <a:ln/>
        </p:spPr>
        <p:txBody>
          <a:bodyPr wrap="square" lIns="0" tIns="0" rIns="0" bIns="0" rtlCol="0" anchor="ctr"/>
          <a:lstStyle/>
          <a:p>
            <a:pPr algn="l" indent="0" marL="0">
              <a:lnSpc>
                <a:spcPct val="114000"/>
              </a:lnSpc>
              <a:buNone/>
            </a:pPr>
            <a:r>
              <a:rPr lang="en-US" sz="1300" b="1" dirty="0">
                <a:solidFill>
                  <a:srgbClr val="FFFFFF"/>
                </a:solidFill>
                <a:latin typeface="Aptos" pitchFamily="34" charset="0"/>
                <a:ea typeface="Aptos" pitchFamily="34" charset="-122"/>
                <a:cs typeface="Aptos" pitchFamily="34" charset="-120"/>
              </a:rPr>
              <a:t>Un hallazgo de exploración es una hipótesis. Se vuelve un defecto cuando se reproduce, y se vuelve un requisito cuando alguien con autoridad sobre el producto decide que el sistema debería comportarse de otra forma.</a:t>
            </a:r>
            <a:endParaRPr lang="en-US" sz="1300" dirty="0"/>
          </a:p>
        </p:txBody>
      </p:sp>
      <p:sp>
        <p:nvSpPr>
          <p:cNvPr id="28" name="Shape 25"/>
          <p:cNvSpPr/>
          <p:nvPr/>
        </p:nvSpPr>
        <p:spPr>
          <a:xfrm>
            <a:off x="658368" y="4480560"/>
            <a:ext cx="5300320" cy="1005840"/>
          </a:xfrm>
          <a:prstGeom prst="rect">
            <a:avLst/>
          </a:prstGeom>
          <a:solidFill>
            <a:srgbClr val="FFFFFF"/>
          </a:solidFill>
          <a:ln w="12700">
            <a:solidFill>
              <a:srgbClr val="FFFFFF"/>
            </a:solidFill>
            <a:prstDash val="solid"/>
          </a:ln>
        </p:spPr>
      </p:sp>
      <p:sp>
        <p:nvSpPr>
          <p:cNvPr id="29" name="Shape 26"/>
          <p:cNvSpPr/>
          <p:nvPr/>
        </p:nvSpPr>
        <p:spPr>
          <a:xfrm>
            <a:off x="658368" y="4480560"/>
            <a:ext cx="5300320" cy="54864"/>
          </a:xfrm>
          <a:prstGeom prst="rect">
            <a:avLst/>
          </a:prstGeom>
          <a:solidFill>
            <a:srgbClr val="2E7D4F"/>
          </a:solidFill>
          <a:ln w="12700">
            <a:solidFill>
              <a:srgbClr val="2E7D4F"/>
            </a:solidFill>
            <a:prstDash val="solid"/>
          </a:ln>
        </p:spPr>
      </p:sp>
      <p:sp>
        <p:nvSpPr>
          <p:cNvPr id="30" name="Text 27"/>
          <p:cNvSpPr txBox="1"/>
          <p:nvPr/>
        </p:nvSpPr>
        <p:spPr>
          <a:xfrm>
            <a:off x="877824" y="4590288"/>
            <a:ext cx="1828800" cy="256032"/>
          </a:xfrm>
          <a:prstGeom prst="rect">
            <a:avLst/>
          </a:prstGeom>
          <a:noFill/>
          <a:ln/>
        </p:spPr>
        <p:txBody>
          <a:bodyPr wrap="square" lIns="0" tIns="0" rIns="0" bIns="0" rtlCol="0" anchor="t"/>
          <a:lstStyle/>
          <a:p>
            <a:pPr algn="l" indent="0" marL="0">
              <a:buNone/>
            </a:pPr>
            <a:r>
              <a:rPr lang="en-US" sz="1300" b="1" dirty="0">
                <a:solidFill>
                  <a:srgbClr val="2E7D4F"/>
                </a:solidFill>
                <a:latin typeface="Aptos" pitchFamily="34" charset="0"/>
                <a:ea typeface="Aptos" pitchFamily="34" charset="-122"/>
                <a:cs typeface="Aptos" pitchFamily="34" charset="-120"/>
              </a:rPr>
              <a:t>Testigo</a:t>
            </a:r>
            <a:endParaRPr lang="en-US" sz="1300" dirty="0"/>
          </a:p>
        </p:txBody>
      </p:sp>
      <p:sp>
        <p:nvSpPr>
          <p:cNvPr id="31" name="Text 28"/>
          <p:cNvSpPr txBox="1"/>
          <p:nvPr/>
        </p:nvSpPr>
        <p:spPr>
          <a:xfrm>
            <a:off x="877824" y="4864608"/>
            <a:ext cx="4861408" cy="566928"/>
          </a:xfrm>
          <a:prstGeom prst="rect">
            <a:avLst/>
          </a:prstGeom>
          <a:noFill/>
          <a:ln/>
        </p:spPr>
        <p:txBody>
          <a:bodyPr wrap="square" lIns="0" tIns="0" rIns="0" bIns="0" rtlCol="0" anchor="t"/>
          <a:lstStyle/>
          <a:p>
            <a:pPr algn="l" indent="0" marL="0">
              <a:lnSpc>
                <a:spcPct val="110000"/>
              </a:lnSpc>
              <a:buNone/>
            </a:pPr>
            <a:r>
              <a:rPr lang="en-US" sz="1060" dirty="0">
                <a:solidFill>
                  <a:srgbClr val="243B53"/>
                </a:solidFill>
                <a:latin typeface="Aptos" pitchFamily="34" charset="0"/>
                <a:ea typeface="Aptos" pitchFamily="34" charset="-122"/>
                <a:cs typeface="Aptos" pitchFamily="34" charset="-120"/>
              </a:rPr>
              <a:t>Rápido y amplio: recorre en minutos lo que a una persona le toma una sesión, y ve lo que quien conoce el sistema ya dejó de ver.</a:t>
            </a:r>
            <a:endParaRPr lang="en-US" sz="1060" dirty="0"/>
          </a:p>
        </p:txBody>
      </p:sp>
      <p:sp>
        <p:nvSpPr>
          <p:cNvPr id="32" name="Shape 29"/>
          <p:cNvSpPr/>
          <p:nvPr/>
        </p:nvSpPr>
        <p:spPr>
          <a:xfrm>
            <a:off x="6233008" y="4480560"/>
            <a:ext cx="5300320" cy="1005840"/>
          </a:xfrm>
          <a:prstGeom prst="rect">
            <a:avLst/>
          </a:prstGeom>
          <a:solidFill>
            <a:srgbClr val="FFFFFF"/>
          </a:solidFill>
          <a:ln w="12700">
            <a:solidFill>
              <a:srgbClr val="FFFFFF"/>
            </a:solidFill>
            <a:prstDash val="solid"/>
          </a:ln>
        </p:spPr>
      </p:sp>
      <p:sp>
        <p:nvSpPr>
          <p:cNvPr id="33" name="Shape 30"/>
          <p:cNvSpPr/>
          <p:nvPr/>
        </p:nvSpPr>
        <p:spPr>
          <a:xfrm>
            <a:off x="6233008" y="4480560"/>
            <a:ext cx="5300320" cy="54864"/>
          </a:xfrm>
          <a:prstGeom prst="rect">
            <a:avLst/>
          </a:prstGeom>
          <a:solidFill>
            <a:srgbClr val="B3181E"/>
          </a:solidFill>
          <a:ln w="12700">
            <a:solidFill>
              <a:srgbClr val="B3181E"/>
            </a:solidFill>
            <a:prstDash val="solid"/>
          </a:ln>
        </p:spPr>
      </p:sp>
      <p:sp>
        <p:nvSpPr>
          <p:cNvPr id="34" name="Text 31"/>
          <p:cNvSpPr txBox="1"/>
          <p:nvPr/>
        </p:nvSpPr>
        <p:spPr>
          <a:xfrm>
            <a:off x="6452464" y="4590288"/>
            <a:ext cx="1828800" cy="256032"/>
          </a:xfrm>
          <a:prstGeom prst="rect">
            <a:avLst/>
          </a:prstGeom>
          <a:noFill/>
          <a:ln/>
        </p:spPr>
        <p:txBody>
          <a:bodyPr wrap="square" lIns="0" tIns="0" rIns="0" bIns="0" rtlCol="0" anchor="t"/>
          <a:lstStyle/>
          <a:p>
            <a:pPr algn="l" indent="0" marL="0">
              <a:buNone/>
            </a:pPr>
            <a:r>
              <a:rPr lang="en-US" sz="1300" b="1" dirty="0">
                <a:solidFill>
                  <a:srgbClr val="B3181E"/>
                </a:solidFill>
                <a:latin typeface="Aptos" pitchFamily="34" charset="0"/>
                <a:ea typeface="Aptos" pitchFamily="34" charset="-122"/>
                <a:cs typeface="Aptos" pitchFamily="34" charset="-120"/>
              </a:rPr>
              <a:t>No es juez</a:t>
            </a:r>
            <a:endParaRPr lang="en-US" sz="1300" dirty="0"/>
          </a:p>
        </p:txBody>
      </p:sp>
      <p:sp>
        <p:nvSpPr>
          <p:cNvPr id="35" name="Text 32"/>
          <p:cNvSpPr txBox="1"/>
          <p:nvPr/>
        </p:nvSpPr>
        <p:spPr>
          <a:xfrm>
            <a:off x="6452464" y="4864608"/>
            <a:ext cx="4861408" cy="566928"/>
          </a:xfrm>
          <a:prstGeom prst="rect">
            <a:avLst/>
          </a:prstGeom>
          <a:noFill/>
          <a:ln/>
        </p:spPr>
        <p:txBody>
          <a:bodyPr wrap="square" lIns="0" tIns="0" rIns="0" bIns="0" rtlCol="0" anchor="t"/>
          <a:lstStyle/>
          <a:p>
            <a:pPr algn="l" indent="0" marL="0">
              <a:lnSpc>
                <a:spcPct val="110000"/>
              </a:lnSpc>
              <a:buNone/>
            </a:pPr>
            <a:r>
              <a:rPr lang="en-US" sz="1060" dirty="0">
                <a:solidFill>
                  <a:srgbClr val="243B53"/>
                </a:solidFill>
                <a:latin typeface="Aptos" pitchFamily="34" charset="0"/>
                <a:ea typeface="Aptos" pitchFamily="34" charset="-122"/>
                <a:cs typeface="Aptos" pitchFamily="34" charset="-120"/>
              </a:rPr>
              <a:t>Afirma con la misma seguridad lo que observó y lo que dedujo. Separar una cosa de otra sigue siendo de quien conoce el requisito.</a:t>
            </a:r>
            <a:endParaRPr lang="en-US" sz="1060" dirty="0"/>
          </a:p>
        </p:txBody>
      </p:sp>
      <p:sp>
        <p:nvSpPr>
          <p:cNvPr id="36" name="Shape 33"/>
          <p:cNvSpPr/>
          <p:nvPr/>
        </p:nvSpPr>
        <p:spPr>
          <a:xfrm>
            <a:off x="658368" y="5650992"/>
            <a:ext cx="10874959" cy="548640"/>
          </a:xfrm>
          <a:prstGeom prst="rect">
            <a:avLst/>
          </a:prstGeom>
          <a:solidFill>
            <a:srgbClr val="102A43"/>
          </a:solidFill>
          <a:ln w="12700">
            <a:solidFill>
              <a:srgbClr val="102A43"/>
            </a:solidFill>
            <a:prstDash val="solid"/>
          </a:ln>
        </p:spPr>
      </p:sp>
      <p:sp>
        <p:nvSpPr>
          <p:cNvPr id="37" name="Text 34"/>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mensaje no dice por qué» es una observación. Para probarla, hay que decir qué sí debería decir.</a:t>
            </a:r>
            <a:endParaRPr lang="en-US" sz="13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precisar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Para ISTQB la exploratoria es una técnica y para ISO una práctica. Si en la sesión se usaron valores límite al probar 30 y 31 personas, ¿qué clasificación describe mejor lo que pasó?</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Revisa qué produce una técnica y qué organiza una práctica. ¿Los valores límite los aportó la exploración o los usó?</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El agente afirmó que el mismo mensaje sale con un bloque tomado y con demasiadas personas, y era falso. ¿Qué tendría que haber hecho, y por qué no basta con pedirle más cuidado?</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Mira cuántas solicitudes envió el segundo intento. ¿Qué necesitaba observar para saberlo, y alcanzaba con la pantalla?</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El agente vio tres cosas que la sesión no vio, y la sesión encontró el defecto más grave. Con veinte minutos para explorar tu sistema, ¿cómo repartirías el trabajo entre tú y un agente?</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Compara qué aporta cada uno en amplitud, en profundidad y en capacidad de reproducir. ¿Quién decide al final qué es un defecto?</a:t>
            </a:r>
            <a:endParaRPr lang="en-US" sz="114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LA DE ISO: UNA PRÁCTICA</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La exploración organizó la sesión y usó adentro una técnica, los valores límite.</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Las técnicas producen casos; la exploración decide sobre la marcha cuándo aplicar cuál.</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Creer que explorar reemplaza a las técnicas, o que es probar al azar.</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OBSERVAR LA RED</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Contar las solicitudes del segundo intento habría dado cero. Más cuidado no le da un dato que no ve.</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Lo que se ve en pantalla puede ser un resto del intento anterior.</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Tomar una afirmación segura como si fuera un hecho reproducido.</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AMPLITUD AL AGENTE, JUICIO A TI</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El agente recorre rápido y amplio; tú intentas lo incómodo, reproduces y decides con el requisito.</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Ninguno de los dos registros, por sí solo, tenía todos los hallazgos.</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Delegar también la decisión de qué es un defecto.</a:t>
            </a:r>
            <a:endParaRPr lang="en-US" sz="102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45</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4 DE 4 · 25 MINUTOS</a:t>
            </a:r>
            <a:endParaRPr lang="en-US" sz="960" dirty="0"/>
          </a:p>
        </p:txBody>
      </p:sp>
      <p:sp>
        <p:nvSpPr>
          <p:cNvPr id="9" name="Text 6"/>
          <p:cNvSpPr txBox="1"/>
          <p:nvPr/>
        </p:nvSpPr>
        <p:spPr>
          <a:xfrm>
            <a:off x="658368" y="1810512"/>
            <a:ext cx="9784080" cy="137160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Aptos Display" pitchFamily="34" charset="0"/>
                <a:ea typeface="Aptos Display" pitchFamily="34" charset="-122"/>
                <a:cs typeface="Aptos Display" pitchFamily="34" charset="-120"/>
              </a:rPr>
              <a:t>De un hallazgo a una prueba que puede fallar</a:t>
            </a:r>
            <a:endParaRPr lang="en-US" sz="40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El doble clic se convierte en un criterio con magnitud, método y umbral. Y no toda prueba bien redactada lo detecta: una de las dos pasa con el defecto presente.</a:t>
            </a:r>
            <a:endParaRPr lang="en-US" sz="1500" dirty="0"/>
          </a:p>
        </p:txBody>
      </p:sp>
      <p:sp>
        <p:nvSpPr>
          <p:cNvPr id="12" name="Shape 9"/>
          <p:cNvSpPr/>
          <p:nvPr/>
        </p:nvSpPr>
        <p:spPr>
          <a:xfrm>
            <a:off x="658368" y="4901184"/>
            <a:ext cx="2622728" cy="786384"/>
          </a:xfrm>
          <a:prstGeom prst="rect">
            <a:avLst/>
          </a:prstGeom>
          <a:solidFill>
            <a:srgbClr val="1D3A57"/>
          </a:solidFill>
          <a:ln w="12700">
            <a:solidFill>
              <a:srgbClr val="1D3A5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ABRIR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Por donde lo usa una persona</a:t>
            </a:r>
            <a:endParaRPr lang="en-US" sz="920" dirty="0"/>
          </a:p>
        </p:txBody>
      </p:sp>
      <p:sp>
        <p:nvSpPr>
          <p:cNvPr id="16" name="Shape 13"/>
          <p:cNvSpPr/>
          <p:nvPr/>
        </p:nvSpPr>
        <p:spPr>
          <a:xfrm>
            <a:off x="3409112" y="4901184"/>
            <a:ext cx="2622728" cy="786384"/>
          </a:xfrm>
          <a:prstGeom prst="rect">
            <a:avLst/>
          </a:prstGeom>
          <a:solidFill>
            <a:srgbClr val="1D3A57"/>
          </a:solidFill>
          <a:ln w="12700">
            <a:solidFill>
              <a:srgbClr val="1D3A5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ESPERAR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Una condición, no un tiempo</a:t>
            </a:r>
            <a:endParaRPr lang="en-US" sz="920" dirty="0"/>
          </a:p>
        </p:txBody>
      </p:sp>
      <p:sp>
        <p:nvSpPr>
          <p:cNvPr id="20" name="Shape 17"/>
          <p:cNvSpPr/>
          <p:nvPr/>
        </p:nvSpPr>
        <p:spPr>
          <a:xfrm>
            <a:off x="6159856" y="4901184"/>
            <a:ext cx="2622728" cy="786384"/>
          </a:xfrm>
          <a:prstGeom prst="rect">
            <a:avLst/>
          </a:prstGeom>
          <a:solidFill>
            <a:srgbClr val="1D3A57"/>
          </a:solidFill>
          <a:ln w="12700">
            <a:solidFill>
              <a:srgbClr val="1D3A5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EXPLORAR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Lo que nadie pensó en escribir</a:t>
            </a:r>
            <a:endParaRPr lang="en-US" sz="920" dirty="0"/>
          </a:p>
        </p:txBody>
      </p:sp>
      <p:sp>
        <p:nvSpPr>
          <p:cNvPr id="24" name="Shape 21"/>
          <p:cNvSpPr/>
          <p:nvPr/>
        </p:nvSpPr>
        <p:spPr>
          <a:xfrm>
            <a:off x="8910599" y="4901184"/>
            <a:ext cx="2622728" cy="786384"/>
          </a:xfrm>
          <a:prstGeom prst="rect">
            <a:avLst/>
          </a:prstGeom>
          <a:solidFill>
            <a:srgbClr val="D62027"/>
          </a:solidFill>
          <a:ln w="12700">
            <a:solidFill>
              <a:srgbClr val="D6202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PRECISAR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Hasta que una prueba lo diga</a:t>
            </a:r>
            <a:endParaRPr lang="en-US" sz="92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FORMA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«Confunde» no se puede cumplir ni incumplir</a:t>
            </a:r>
            <a:endParaRPr lang="en-US" sz="2800" dirty="0"/>
          </a:p>
        </p:txBody>
      </p:sp>
      <p:sp>
        <p:nvSpPr>
          <p:cNvPr id="10" name="Shape 7"/>
          <p:cNvSpPr/>
          <p:nvPr/>
        </p:nvSpPr>
        <p:spPr>
          <a:xfrm>
            <a:off x="658368" y="1755648"/>
            <a:ext cx="5300320" cy="1426464"/>
          </a:xfrm>
          <a:prstGeom prst="rect">
            <a:avLst/>
          </a:prstGeom>
          <a:solidFill>
            <a:srgbClr val="F2E7D9"/>
          </a:solidFill>
          <a:ln w="12700">
            <a:solidFill>
              <a:srgbClr val="F2E7D9"/>
            </a:solidFill>
            <a:prstDash val="solid"/>
          </a:ln>
        </p:spPr>
      </p:sp>
      <p:sp>
        <p:nvSpPr>
          <p:cNvPr id="11" name="Shape 8"/>
          <p:cNvSpPr/>
          <p:nvPr/>
        </p:nvSpPr>
        <p:spPr>
          <a:xfrm>
            <a:off x="658368" y="1755648"/>
            <a:ext cx="54864" cy="1426464"/>
          </a:xfrm>
          <a:prstGeom prst="rect">
            <a:avLst/>
          </a:prstGeom>
          <a:solidFill>
            <a:srgbClr val="8A6A12"/>
          </a:solidFill>
          <a:ln w="12700">
            <a:solidFill>
              <a:srgbClr val="8A6A12"/>
            </a:solidFill>
            <a:prstDash val="solid"/>
          </a:ln>
        </p:spPr>
      </p:sp>
      <p:sp>
        <p:nvSpPr>
          <p:cNvPr id="12" name="Text 9"/>
          <p:cNvSpPr txBox="1"/>
          <p:nvPr/>
        </p:nvSpPr>
        <p:spPr>
          <a:xfrm>
            <a:off x="914400" y="1883664"/>
            <a:ext cx="484312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UNA OBSERVACIÓN VERDADERA Y REPRODUCIBLE</a:t>
            </a:r>
            <a:endParaRPr lang="en-US" sz="960" dirty="0"/>
          </a:p>
        </p:txBody>
      </p:sp>
      <p:sp>
        <p:nvSpPr>
          <p:cNvPr id="13" name="Text 10"/>
          <p:cNvSpPr txBox="1"/>
          <p:nvPr/>
        </p:nvSpPr>
        <p:spPr>
          <a:xfrm>
            <a:off x="914400" y="2157984"/>
            <a:ext cx="4843120" cy="512064"/>
          </a:xfrm>
          <a:prstGeom prst="rect">
            <a:avLst/>
          </a:prstGeom>
          <a:noFill/>
          <a:ln/>
        </p:spPr>
        <p:txBody>
          <a:bodyPr wrap="square" lIns="0" tIns="0" rIns="0" bIns="0" rtlCol="0" anchor="t"/>
          <a:lstStyle/>
          <a:p>
            <a:pPr algn="l" indent="0" marL="0">
              <a:lnSpc>
                <a:spcPct val="110000"/>
              </a:lnSpc>
              <a:buNone/>
            </a:pPr>
            <a:r>
              <a:rPr lang="en-US" sz="1300" b="1" dirty="0">
                <a:solidFill>
                  <a:srgbClr val="243B53"/>
                </a:solidFill>
                <a:latin typeface="Aptos" pitchFamily="34" charset="0"/>
                <a:ea typeface="Aptos" pitchFamily="34" charset="-122"/>
                <a:cs typeface="Aptos" pitchFamily="34" charset="-120"/>
              </a:rPr>
              <a:t>La persona hace doble clic, reserva, y la pantalla le dice que no pudo.</a:t>
            </a:r>
            <a:endParaRPr lang="en-US" sz="1300" dirty="0"/>
          </a:p>
        </p:txBody>
      </p:sp>
      <p:sp>
        <p:nvSpPr>
          <p:cNvPr id="14" name="Text 11"/>
          <p:cNvSpPr txBox="1"/>
          <p:nvPr/>
        </p:nvSpPr>
        <p:spPr>
          <a:xfrm>
            <a:off x="914400" y="2743200"/>
            <a:ext cx="4843120" cy="274320"/>
          </a:xfrm>
          <a:prstGeom prst="rect">
            <a:avLst/>
          </a:prstGeom>
          <a:noFill/>
          <a:ln/>
        </p:spPr>
        <p:txBody>
          <a:bodyPr wrap="square" lIns="0" tIns="0" rIns="0" bIns="0" rtlCol="0" anchor="t"/>
          <a:lstStyle/>
          <a:p>
            <a:pPr algn="l" indent="0" marL="0">
              <a:buNone/>
            </a:pPr>
            <a:r>
              <a:rPr lang="en-US" sz="1100" i="1" dirty="0">
                <a:solidFill>
                  <a:srgbClr val="52606D"/>
                </a:solidFill>
                <a:latin typeface="Aptos" pitchFamily="34" charset="0"/>
                <a:ea typeface="Aptos" pitchFamily="34" charset="-122"/>
                <a:cs typeface="Aptos" pitchFamily="34" charset="-120"/>
              </a:rPr>
              <a:t>Todavía no dice qué debería pasar en su lugar.</a:t>
            </a:r>
            <a:endParaRPr lang="en-US" sz="1100" dirty="0"/>
          </a:p>
        </p:txBody>
      </p:sp>
      <p:sp>
        <p:nvSpPr>
          <p:cNvPr id="15" name="Shape 12"/>
          <p:cNvSpPr/>
          <p:nvPr/>
        </p:nvSpPr>
        <p:spPr>
          <a:xfrm>
            <a:off x="6233008" y="1755648"/>
            <a:ext cx="5300320" cy="1426464"/>
          </a:xfrm>
          <a:prstGeom prst="rect">
            <a:avLst/>
          </a:prstGeom>
          <a:solidFill>
            <a:srgbClr val="FFFFFF"/>
          </a:solidFill>
          <a:ln w="12700">
            <a:solidFill>
              <a:srgbClr val="FFFFFF"/>
            </a:solidFill>
            <a:prstDash val="solid"/>
          </a:ln>
        </p:spPr>
      </p:sp>
      <p:sp>
        <p:nvSpPr>
          <p:cNvPr id="16" name="Shape 13"/>
          <p:cNvSpPr/>
          <p:nvPr/>
        </p:nvSpPr>
        <p:spPr>
          <a:xfrm>
            <a:off x="6233008" y="1755648"/>
            <a:ext cx="54864" cy="1426464"/>
          </a:xfrm>
          <a:prstGeom prst="rect">
            <a:avLst/>
          </a:prstGeom>
          <a:solidFill>
            <a:srgbClr val="B3181E"/>
          </a:solidFill>
          <a:ln w="12700">
            <a:solidFill>
              <a:srgbClr val="B3181E"/>
            </a:solidFill>
            <a:prstDash val="solid"/>
          </a:ln>
        </p:spPr>
      </p:sp>
      <p:sp>
        <p:nvSpPr>
          <p:cNvPr id="17" name="Text 14"/>
          <p:cNvSpPr txBox="1"/>
          <p:nvPr/>
        </p:nvSpPr>
        <p:spPr>
          <a:xfrm>
            <a:off x="6489040" y="1883664"/>
            <a:ext cx="484312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UNA OPINIÓN</a:t>
            </a:r>
            <a:endParaRPr lang="en-US" sz="960" dirty="0"/>
          </a:p>
        </p:txBody>
      </p:sp>
      <p:sp>
        <p:nvSpPr>
          <p:cNvPr id="18" name="Text 15"/>
          <p:cNvSpPr txBox="1"/>
          <p:nvPr/>
        </p:nvSpPr>
        <p:spPr>
          <a:xfrm>
            <a:off x="6489040" y="2157984"/>
            <a:ext cx="4843120" cy="457200"/>
          </a:xfrm>
          <a:prstGeom prst="rect">
            <a:avLst/>
          </a:prstGeom>
          <a:noFill/>
          <a:ln/>
        </p:spPr>
        <p:txBody>
          <a:bodyPr wrap="square" lIns="0" tIns="0" rIns="0" bIns="0" rtlCol="0" anchor="t"/>
          <a:lstStyle/>
          <a:p>
            <a:pPr algn="l" indent="0" marL="0">
              <a:buNone/>
            </a:pPr>
            <a:r>
              <a:rPr lang="en-US" sz="2000" b="1" dirty="0">
                <a:solidFill>
                  <a:srgbClr val="243B53"/>
                </a:solidFill>
                <a:latin typeface="Aptos Display" pitchFamily="34" charset="0"/>
                <a:ea typeface="Aptos Display" pitchFamily="34" charset="-122"/>
                <a:cs typeface="Aptos Display" pitchFamily="34" charset="-120"/>
              </a:rPr>
              <a:t>«La interfaz confunde»</a:t>
            </a:r>
            <a:endParaRPr lang="en-US" sz="2000" dirty="0"/>
          </a:p>
        </p:txBody>
      </p:sp>
      <p:sp>
        <p:nvSpPr>
          <p:cNvPr id="19" name="Text 16"/>
          <p:cNvSpPr txBox="1"/>
          <p:nvPr/>
        </p:nvSpPr>
        <p:spPr>
          <a:xfrm>
            <a:off x="6489040" y="2743200"/>
            <a:ext cx="4843120" cy="274320"/>
          </a:xfrm>
          <a:prstGeom prst="rect">
            <a:avLst/>
          </a:prstGeom>
          <a:noFill/>
          <a:ln/>
        </p:spPr>
        <p:txBody>
          <a:bodyPr wrap="square" lIns="0" tIns="0" rIns="0" bIns="0" rtlCol="0" anchor="t"/>
          <a:lstStyle/>
          <a:p>
            <a:pPr algn="l" indent="0" marL="0">
              <a:buNone/>
            </a:pPr>
            <a:r>
              <a:rPr lang="en-US" sz="1100" i="1" dirty="0">
                <a:solidFill>
                  <a:srgbClr val="52606D"/>
                </a:solidFill>
                <a:latin typeface="Aptos" pitchFamily="34" charset="0"/>
                <a:ea typeface="Aptos" pitchFamily="34" charset="-122"/>
                <a:cs typeface="Aptos" pitchFamily="34" charset="-120"/>
              </a:rPr>
              <a:t>Nadie puede ejecutar algo que diga «confunde: sí» o «confunde: no».</a:t>
            </a:r>
            <a:endParaRPr lang="en-US" sz="1100" dirty="0"/>
          </a:p>
        </p:txBody>
      </p:sp>
      <p:sp>
        <p:nvSpPr>
          <p:cNvPr id="20" name="Text 17"/>
          <p:cNvSpPr txBox="1"/>
          <p:nvPr/>
        </p:nvSpPr>
        <p:spPr>
          <a:xfrm>
            <a:off x="658368" y="3401568"/>
            <a:ext cx="73152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LAS TRES PIEZAS DE UN CRITERIO VERIFICABLE</a:t>
            </a:r>
            <a:endParaRPr lang="en-US" sz="960" dirty="0"/>
          </a:p>
        </p:txBody>
      </p:sp>
      <p:sp>
        <p:nvSpPr>
          <p:cNvPr id="21" name="Shape 18"/>
          <p:cNvSpPr/>
          <p:nvPr/>
        </p:nvSpPr>
        <p:spPr>
          <a:xfrm>
            <a:off x="658368" y="3694176"/>
            <a:ext cx="2395728" cy="1737360"/>
          </a:xfrm>
          <a:prstGeom prst="rect">
            <a:avLst/>
          </a:prstGeom>
          <a:solidFill>
            <a:srgbClr val="FFFFFF"/>
          </a:solidFill>
          <a:ln w="12700">
            <a:solidFill>
              <a:srgbClr val="FFFFFF"/>
            </a:solidFill>
            <a:prstDash val="solid"/>
          </a:ln>
        </p:spPr>
      </p:sp>
      <p:sp>
        <p:nvSpPr>
          <p:cNvPr id="22" name="Shape 19"/>
          <p:cNvSpPr/>
          <p:nvPr/>
        </p:nvSpPr>
        <p:spPr>
          <a:xfrm>
            <a:off x="658368" y="3694176"/>
            <a:ext cx="2395728" cy="54864"/>
          </a:xfrm>
          <a:prstGeom prst="rect">
            <a:avLst/>
          </a:prstGeom>
          <a:solidFill>
            <a:srgbClr val="102A43"/>
          </a:solidFill>
          <a:ln w="12700">
            <a:solidFill>
              <a:srgbClr val="102A43"/>
            </a:solidFill>
            <a:prstDash val="solid"/>
          </a:ln>
        </p:spPr>
      </p:sp>
      <p:sp>
        <p:nvSpPr>
          <p:cNvPr id="23" name="Text 20"/>
          <p:cNvSpPr txBox="1"/>
          <p:nvPr/>
        </p:nvSpPr>
        <p:spPr>
          <a:xfrm>
            <a:off x="859536" y="3895344"/>
            <a:ext cx="2029968" cy="274320"/>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Magnitud observable</a:t>
            </a:r>
            <a:endParaRPr lang="en-US" sz="1300" dirty="0"/>
          </a:p>
        </p:txBody>
      </p:sp>
      <p:sp>
        <p:nvSpPr>
          <p:cNvPr id="24" name="Text 21"/>
          <p:cNvSpPr txBox="1"/>
          <p:nvPr/>
        </p:nvSpPr>
        <p:spPr>
          <a:xfrm>
            <a:off x="859536" y="4261104"/>
            <a:ext cx="2029968" cy="1005840"/>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Algo que se pueda contar, medir o detectar en el sistema.</a:t>
            </a:r>
            <a:endParaRPr lang="en-US" sz="1100" dirty="0"/>
          </a:p>
        </p:txBody>
      </p:sp>
      <p:sp>
        <p:nvSpPr>
          <p:cNvPr id="25" name="Text 22"/>
          <p:cNvSpPr txBox="1"/>
          <p:nvPr/>
        </p:nvSpPr>
        <p:spPr>
          <a:xfrm>
            <a:off x="3054096" y="4242816"/>
            <a:ext cx="329184" cy="548640"/>
          </a:xfrm>
          <a:prstGeom prst="rect">
            <a:avLst/>
          </a:prstGeom>
          <a:noFill/>
          <a:ln/>
        </p:spPr>
        <p:txBody>
          <a:bodyPr wrap="square" lIns="0" tIns="0" rIns="0" bIns="0" rtlCol="0" anchor="ctr"/>
          <a:lstStyle/>
          <a:p>
            <a:pPr algn="ctr" indent="0" marL="0">
              <a:buNone/>
            </a:pPr>
            <a:r>
              <a:rPr lang="en-US" sz="2200" b="1" dirty="0">
                <a:solidFill>
                  <a:srgbClr val="52606D"/>
                </a:solidFill>
                <a:latin typeface="Aptos Display" pitchFamily="34" charset="0"/>
                <a:ea typeface="Aptos Display" pitchFamily="34" charset="-122"/>
                <a:cs typeface="Aptos Display" pitchFamily="34" charset="-120"/>
              </a:rPr>
              <a:t>+</a:t>
            </a:r>
            <a:endParaRPr lang="en-US" sz="2200" dirty="0"/>
          </a:p>
        </p:txBody>
      </p:sp>
      <p:sp>
        <p:nvSpPr>
          <p:cNvPr id="26" name="Shape 23"/>
          <p:cNvSpPr/>
          <p:nvPr/>
        </p:nvSpPr>
        <p:spPr>
          <a:xfrm>
            <a:off x="3383280" y="3694176"/>
            <a:ext cx="2395728" cy="1737360"/>
          </a:xfrm>
          <a:prstGeom prst="rect">
            <a:avLst/>
          </a:prstGeom>
          <a:solidFill>
            <a:srgbClr val="FFFFFF"/>
          </a:solidFill>
          <a:ln w="12700">
            <a:solidFill>
              <a:srgbClr val="FFFFFF"/>
            </a:solidFill>
            <a:prstDash val="solid"/>
          </a:ln>
        </p:spPr>
      </p:sp>
      <p:sp>
        <p:nvSpPr>
          <p:cNvPr id="27" name="Shape 24"/>
          <p:cNvSpPr/>
          <p:nvPr/>
        </p:nvSpPr>
        <p:spPr>
          <a:xfrm>
            <a:off x="3383280" y="3694176"/>
            <a:ext cx="2395728" cy="54864"/>
          </a:xfrm>
          <a:prstGeom prst="rect">
            <a:avLst/>
          </a:prstGeom>
          <a:solidFill>
            <a:srgbClr val="102A43"/>
          </a:solidFill>
          <a:ln w="12700">
            <a:solidFill>
              <a:srgbClr val="102A43"/>
            </a:solidFill>
            <a:prstDash val="solid"/>
          </a:ln>
        </p:spPr>
      </p:sp>
      <p:sp>
        <p:nvSpPr>
          <p:cNvPr id="28" name="Text 25"/>
          <p:cNvSpPr txBox="1"/>
          <p:nvPr/>
        </p:nvSpPr>
        <p:spPr>
          <a:xfrm>
            <a:off x="3584448" y="3895344"/>
            <a:ext cx="2029968" cy="274320"/>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Método de medición</a:t>
            </a:r>
            <a:endParaRPr lang="en-US" sz="1300" dirty="0"/>
          </a:p>
        </p:txBody>
      </p:sp>
      <p:sp>
        <p:nvSpPr>
          <p:cNvPr id="29" name="Text 26"/>
          <p:cNvSpPr txBox="1"/>
          <p:nvPr/>
        </p:nvSpPr>
        <p:spPr>
          <a:xfrm>
            <a:off x="3584448" y="4261104"/>
            <a:ext cx="2029968" cy="1005840"/>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Cómo se obtiene, de modo que dos personas obtengan lo mismo.</a:t>
            </a:r>
            <a:endParaRPr lang="en-US" sz="1100" dirty="0"/>
          </a:p>
        </p:txBody>
      </p:sp>
      <p:sp>
        <p:nvSpPr>
          <p:cNvPr id="30" name="Text 27"/>
          <p:cNvSpPr txBox="1"/>
          <p:nvPr/>
        </p:nvSpPr>
        <p:spPr>
          <a:xfrm>
            <a:off x="5779008" y="4242816"/>
            <a:ext cx="329184" cy="548640"/>
          </a:xfrm>
          <a:prstGeom prst="rect">
            <a:avLst/>
          </a:prstGeom>
          <a:noFill/>
          <a:ln/>
        </p:spPr>
        <p:txBody>
          <a:bodyPr wrap="square" lIns="0" tIns="0" rIns="0" bIns="0" rtlCol="0" anchor="ctr"/>
          <a:lstStyle/>
          <a:p>
            <a:pPr algn="ctr" indent="0" marL="0">
              <a:buNone/>
            </a:pPr>
            <a:r>
              <a:rPr lang="en-US" sz="2200" b="1" dirty="0">
                <a:solidFill>
                  <a:srgbClr val="52606D"/>
                </a:solidFill>
                <a:latin typeface="Aptos Display" pitchFamily="34" charset="0"/>
                <a:ea typeface="Aptos Display" pitchFamily="34" charset="-122"/>
                <a:cs typeface="Aptos Display" pitchFamily="34" charset="-120"/>
              </a:rPr>
              <a:t>+</a:t>
            </a:r>
            <a:endParaRPr lang="en-US" sz="2200" dirty="0"/>
          </a:p>
        </p:txBody>
      </p:sp>
      <p:sp>
        <p:nvSpPr>
          <p:cNvPr id="31" name="Shape 28"/>
          <p:cNvSpPr/>
          <p:nvPr/>
        </p:nvSpPr>
        <p:spPr>
          <a:xfrm>
            <a:off x="6108192" y="3694176"/>
            <a:ext cx="2395728" cy="1737360"/>
          </a:xfrm>
          <a:prstGeom prst="rect">
            <a:avLst/>
          </a:prstGeom>
          <a:solidFill>
            <a:srgbClr val="FFFFFF"/>
          </a:solidFill>
          <a:ln w="12700">
            <a:solidFill>
              <a:srgbClr val="FFFFFF"/>
            </a:solidFill>
            <a:prstDash val="solid"/>
          </a:ln>
        </p:spPr>
      </p:sp>
      <p:sp>
        <p:nvSpPr>
          <p:cNvPr id="32" name="Shape 29"/>
          <p:cNvSpPr/>
          <p:nvPr/>
        </p:nvSpPr>
        <p:spPr>
          <a:xfrm>
            <a:off x="6108192" y="3694176"/>
            <a:ext cx="2395728" cy="54864"/>
          </a:xfrm>
          <a:prstGeom prst="rect">
            <a:avLst/>
          </a:prstGeom>
          <a:solidFill>
            <a:srgbClr val="102A43"/>
          </a:solidFill>
          <a:ln w="12700">
            <a:solidFill>
              <a:srgbClr val="102A43"/>
            </a:solidFill>
            <a:prstDash val="solid"/>
          </a:ln>
        </p:spPr>
      </p:sp>
      <p:sp>
        <p:nvSpPr>
          <p:cNvPr id="33" name="Text 30"/>
          <p:cNvSpPr txBox="1"/>
          <p:nvPr/>
        </p:nvSpPr>
        <p:spPr>
          <a:xfrm>
            <a:off x="6309360" y="3895344"/>
            <a:ext cx="2029968" cy="274320"/>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Umbral</a:t>
            </a:r>
            <a:endParaRPr lang="en-US" sz="1300" dirty="0"/>
          </a:p>
        </p:txBody>
      </p:sp>
      <p:sp>
        <p:nvSpPr>
          <p:cNvPr id="34" name="Text 31"/>
          <p:cNvSpPr txBox="1"/>
          <p:nvPr/>
        </p:nvSpPr>
        <p:spPr>
          <a:xfrm>
            <a:off x="6309360" y="4261104"/>
            <a:ext cx="2029968" cy="1005840"/>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El valor que separa lo aceptable de lo inaceptable.</a:t>
            </a:r>
            <a:endParaRPr lang="en-US" sz="1100" dirty="0"/>
          </a:p>
        </p:txBody>
      </p:sp>
      <p:sp>
        <p:nvSpPr>
          <p:cNvPr id="35" name="Text 32"/>
          <p:cNvSpPr txBox="1"/>
          <p:nvPr/>
        </p:nvSpPr>
        <p:spPr>
          <a:xfrm>
            <a:off x="8503920" y="4242816"/>
            <a:ext cx="329184" cy="548640"/>
          </a:xfrm>
          <a:prstGeom prst="rect">
            <a:avLst/>
          </a:prstGeom>
          <a:noFill/>
          <a:ln/>
        </p:spPr>
        <p:txBody>
          <a:bodyPr wrap="square" lIns="0" tIns="0" rIns="0" bIns="0" rtlCol="0" anchor="ctr"/>
          <a:lstStyle/>
          <a:p>
            <a:pPr algn="ctr" indent="0" marL="0">
              <a:buNone/>
            </a:pPr>
            <a:r>
              <a:rPr lang="en-US" sz="2200" b="1" dirty="0">
                <a:solidFill>
                  <a:srgbClr val="52606D"/>
                </a:solidFill>
                <a:latin typeface="Aptos Display" pitchFamily="34" charset="0"/>
                <a:ea typeface="Aptos Display" pitchFamily="34" charset="-122"/>
                <a:cs typeface="Aptos Display" pitchFamily="34" charset="-120"/>
              </a:rPr>
              <a:t>=</a:t>
            </a:r>
            <a:endParaRPr lang="en-US" sz="2200" dirty="0"/>
          </a:p>
        </p:txBody>
      </p:sp>
      <p:sp>
        <p:nvSpPr>
          <p:cNvPr id="36" name="Shape 33"/>
          <p:cNvSpPr/>
          <p:nvPr/>
        </p:nvSpPr>
        <p:spPr>
          <a:xfrm>
            <a:off x="8833104" y="3694176"/>
            <a:ext cx="2700223" cy="1737360"/>
          </a:xfrm>
          <a:prstGeom prst="rect">
            <a:avLst/>
          </a:prstGeom>
          <a:solidFill>
            <a:srgbClr val="2E7D4F"/>
          </a:solidFill>
          <a:ln w="12700">
            <a:solidFill>
              <a:srgbClr val="2E7D4F"/>
            </a:solidFill>
            <a:prstDash val="solid"/>
          </a:ln>
        </p:spPr>
      </p:sp>
      <p:sp>
        <p:nvSpPr>
          <p:cNvPr id="37" name="Text 34"/>
          <p:cNvSpPr txBox="1"/>
          <p:nvPr/>
        </p:nvSpPr>
        <p:spPr>
          <a:xfrm>
            <a:off x="9034272" y="3895344"/>
            <a:ext cx="2334463" cy="274320"/>
          </a:xfrm>
          <a:prstGeom prst="rect">
            <a:avLst/>
          </a:prstGeom>
          <a:noFill/>
          <a:ln/>
        </p:spPr>
        <p:txBody>
          <a:bodyPr wrap="square" lIns="0" tIns="0" rIns="0" bIns="0" rtlCol="0" anchor="t"/>
          <a:lstStyle/>
          <a:p>
            <a:pPr algn="l" indent="0" marL="0">
              <a:buNone/>
            </a:pPr>
            <a:r>
              <a:rPr lang="en-US" sz="1300" b="1" dirty="0">
                <a:solidFill>
                  <a:srgbClr val="FFFFFF"/>
                </a:solidFill>
                <a:latin typeface="Aptos" pitchFamily="34" charset="0"/>
                <a:ea typeface="Aptos" pitchFamily="34" charset="-122"/>
                <a:cs typeface="Aptos" pitchFamily="34" charset="-120"/>
              </a:rPr>
              <a:t>Criterio verificable</a:t>
            </a:r>
            <a:endParaRPr lang="en-US" sz="1300" dirty="0"/>
          </a:p>
        </p:txBody>
      </p:sp>
      <p:sp>
        <p:nvSpPr>
          <p:cNvPr id="38" name="Text 35"/>
          <p:cNvSpPr txBox="1"/>
          <p:nvPr/>
        </p:nvSpPr>
        <p:spPr>
          <a:xfrm>
            <a:off x="9034272" y="4261104"/>
            <a:ext cx="2334463" cy="1005840"/>
          </a:xfrm>
          <a:prstGeom prst="rect">
            <a:avLst/>
          </a:prstGeom>
          <a:noFill/>
          <a:ln/>
        </p:spPr>
        <p:txBody>
          <a:bodyPr wrap="square" lIns="0" tIns="0" rIns="0" bIns="0" rtlCol="0" anchor="t"/>
          <a:lstStyle/>
          <a:p>
            <a:pPr algn="l" indent="0" marL="0">
              <a:lnSpc>
                <a:spcPct val="112000"/>
              </a:lnSpc>
              <a:buNone/>
            </a:pPr>
            <a:r>
              <a:rPr lang="en-US" sz="1100" dirty="0">
                <a:solidFill>
                  <a:srgbClr val="FFFFFF"/>
                </a:solidFill>
                <a:latin typeface="Aptos" pitchFamily="34" charset="0"/>
                <a:ea typeface="Aptos" pitchFamily="34" charset="-122"/>
                <a:cs typeface="Aptos" pitchFamily="34" charset="-120"/>
              </a:rPr>
              <a:t>Se puede cumplir o incumplir, y una prueba lo puede comprobar.</a:t>
            </a:r>
            <a:endParaRPr lang="en-US" sz="1100" dirty="0"/>
          </a:p>
        </p:txBody>
      </p:sp>
      <p:sp>
        <p:nvSpPr>
          <p:cNvPr id="39" name="Shape 36"/>
          <p:cNvSpPr/>
          <p:nvPr/>
        </p:nvSpPr>
        <p:spPr>
          <a:xfrm>
            <a:off x="658368" y="5650992"/>
            <a:ext cx="10874959" cy="548640"/>
          </a:xfrm>
          <a:prstGeom prst="rect">
            <a:avLst/>
          </a:prstGeom>
          <a:solidFill>
            <a:srgbClr val="102A43"/>
          </a:solidFill>
          <a:ln w="12700">
            <a:solidFill>
              <a:srgbClr val="102A43"/>
            </a:solidFill>
            <a:prstDash val="solid"/>
          </a:ln>
        </p:spPr>
      </p:sp>
      <p:sp>
        <p:nvSpPr>
          <p:cNvPr id="40" name="Text 37"/>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Mientras una observación no tenga esa forma, es una opinión.</a:t>
            </a:r>
            <a:endParaRPr lang="en-US" sz="138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NORMA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Qué característica de calidad está en juego</a:t>
            </a:r>
            <a:endParaRPr lang="en-US" sz="2800" dirty="0"/>
          </a:p>
        </p:txBody>
      </p:sp>
      <p:sp>
        <p:nvSpPr>
          <p:cNvPr id="10" name="Shape 7"/>
          <p:cNvSpPr/>
          <p:nvPr/>
        </p:nvSpPr>
        <p:spPr>
          <a:xfrm>
            <a:off x="658368" y="1737360"/>
            <a:ext cx="10874959" cy="1097280"/>
          </a:xfrm>
          <a:prstGeom prst="rect">
            <a:avLst/>
          </a:prstGeom>
          <a:solidFill>
            <a:srgbClr val="EDE6DA"/>
          </a:solidFill>
          <a:ln w="12700">
            <a:solidFill>
              <a:srgbClr val="EDE6DA"/>
            </a:solidFill>
            <a:prstDash val="solid"/>
          </a:ln>
        </p:spPr>
      </p:sp>
      <p:sp>
        <p:nvSpPr>
          <p:cNvPr id="11" name="Shape 8"/>
          <p:cNvSpPr/>
          <p:nvPr/>
        </p:nvSpPr>
        <p:spPr>
          <a:xfrm>
            <a:off x="658368" y="1737360"/>
            <a:ext cx="54864" cy="1097280"/>
          </a:xfrm>
          <a:prstGeom prst="rect">
            <a:avLst/>
          </a:prstGeom>
          <a:solidFill>
            <a:srgbClr val="102A43"/>
          </a:solidFill>
          <a:ln w="12700">
            <a:solidFill>
              <a:srgbClr val="102A43"/>
            </a:solidFill>
            <a:prstDash val="solid"/>
          </a:ln>
        </p:spPr>
      </p:sp>
      <p:sp>
        <p:nvSpPr>
          <p:cNvPr id="12" name="Text 9"/>
          <p:cNvSpPr txBox="1"/>
          <p:nvPr/>
        </p:nvSpPr>
        <p:spPr>
          <a:xfrm>
            <a:off x="914400" y="1865376"/>
            <a:ext cx="10362895" cy="658368"/>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«Capacidad de interacción: capacidad de un producto de ser usado por usuarios determinados para intercambiar información con el sistema mediante su interfaz y completar la tarea prevista.»</a:t>
            </a:r>
            <a:endParaRPr lang="en-US" sz="1180" dirty="0"/>
          </a:p>
        </p:txBody>
      </p:sp>
      <p:sp>
        <p:nvSpPr>
          <p:cNvPr id="13" name="Text 10"/>
          <p:cNvSpPr txBox="1"/>
          <p:nvPr/>
        </p:nvSpPr>
        <p:spPr>
          <a:xfrm>
            <a:off x="914400" y="2560320"/>
            <a:ext cx="10362895" cy="182880"/>
          </a:xfrm>
          <a:prstGeom prst="rect">
            <a:avLst/>
          </a:prstGeom>
          <a:noFill/>
          <a:ln/>
        </p:spPr>
        <p:txBody>
          <a:bodyPr wrap="square" lIns="0" tIns="0" rIns="0" bIns="0" rtlCol="0" anchor="t"/>
          <a:lstStyle/>
          <a:p>
            <a:pPr algn="l" indent="0" marL="0">
              <a:buNone/>
            </a:pPr>
            <a:r>
              <a:rPr lang="en-US" sz="900" b="1" dirty="0">
                <a:solidFill>
                  <a:srgbClr val="102A43"/>
                </a:solidFill>
                <a:latin typeface="Aptos" pitchFamily="34" charset="0"/>
                <a:ea typeface="Aptos" pitchFamily="34" charset="-122"/>
                <a:cs typeface="Aptos" pitchFamily="34" charset="-120"/>
              </a:rPr>
              <a:t>ISO/IEC 25010:2023, cláusula 3.4 · interaction capability · traducción del original en inglés</a:t>
            </a:r>
            <a:endParaRPr lang="en-US" sz="900" dirty="0"/>
          </a:p>
        </p:txBody>
      </p:sp>
      <p:sp>
        <p:nvSpPr>
          <p:cNvPr id="14" name="Shape 11"/>
          <p:cNvSpPr/>
          <p:nvPr/>
        </p:nvSpPr>
        <p:spPr>
          <a:xfrm>
            <a:off x="658368" y="3127248"/>
            <a:ext cx="4297680" cy="2286000"/>
          </a:xfrm>
          <a:prstGeom prst="rect">
            <a:avLst/>
          </a:prstGeom>
          <a:solidFill>
            <a:srgbClr val="FFFFFF"/>
          </a:solidFill>
          <a:ln w="12700">
            <a:solidFill>
              <a:srgbClr val="FFFFFF"/>
            </a:solidFill>
            <a:prstDash val="solid"/>
          </a:ln>
        </p:spPr>
      </p:sp>
      <p:sp>
        <p:nvSpPr>
          <p:cNvPr id="15" name="Shape 12"/>
          <p:cNvSpPr/>
          <p:nvPr/>
        </p:nvSpPr>
        <p:spPr>
          <a:xfrm>
            <a:off x="658368" y="3127248"/>
            <a:ext cx="4297680" cy="54864"/>
          </a:xfrm>
          <a:prstGeom prst="rect">
            <a:avLst/>
          </a:prstGeom>
          <a:solidFill>
            <a:srgbClr val="2E7D4F"/>
          </a:solidFill>
          <a:ln w="12700">
            <a:solidFill>
              <a:srgbClr val="2E7D4F"/>
            </a:solidFill>
            <a:prstDash val="solid"/>
          </a:ln>
        </p:spPr>
      </p:sp>
      <p:sp>
        <p:nvSpPr>
          <p:cNvPr id="16" name="Text 13"/>
          <p:cNvSpPr txBox="1"/>
          <p:nvPr/>
        </p:nvSpPr>
        <p:spPr>
          <a:xfrm>
            <a:off x="896112" y="3346704"/>
            <a:ext cx="3840480" cy="329184"/>
          </a:xfrm>
          <a:prstGeom prst="rect">
            <a:avLst/>
          </a:prstGeom>
          <a:noFill/>
          <a:ln/>
        </p:spPr>
        <p:txBody>
          <a:bodyPr wrap="square" lIns="0" tIns="0" rIns="0" bIns="0" rtlCol="0" anchor="t"/>
          <a:lstStyle/>
          <a:p>
            <a:pPr algn="l" indent="0" marL="0">
              <a:buNone/>
            </a:pPr>
            <a:r>
              <a:rPr lang="en-US" sz="1700" b="1" dirty="0">
                <a:solidFill>
                  <a:srgbClr val="2E7D4F"/>
                </a:solidFill>
                <a:latin typeface="Aptos Display" pitchFamily="34" charset="0"/>
                <a:ea typeface="Aptos Display" pitchFamily="34" charset="-122"/>
                <a:cs typeface="Aptos Display" pitchFamily="34" charset="-120"/>
              </a:rPr>
              <a:t>Capacidad de interacción</a:t>
            </a:r>
            <a:endParaRPr lang="en-US" sz="1700" dirty="0"/>
          </a:p>
        </p:txBody>
      </p:sp>
      <p:sp>
        <p:nvSpPr>
          <p:cNvPr id="17" name="Text 14"/>
          <p:cNvSpPr txBox="1"/>
          <p:nvPr/>
        </p:nvSpPr>
        <p:spPr>
          <a:xfrm>
            <a:off x="896112" y="3822192"/>
            <a:ext cx="3840480" cy="640080"/>
          </a:xfrm>
          <a:prstGeom prst="rect">
            <a:avLst/>
          </a:prstGeom>
          <a:noFill/>
          <a:ln/>
        </p:spPr>
        <p:txBody>
          <a:bodyPr wrap="square" lIns="0" tIns="0" rIns="0" bIns="0" rtlCol="0" anchor="t"/>
          <a:lstStyle/>
          <a:p>
            <a:pPr algn="l" indent="0" marL="0">
              <a:lnSpc>
                <a:spcPct val="112000"/>
              </a:lnSpc>
              <a:buNone/>
            </a:pPr>
            <a:r>
              <a:rPr lang="en-US" sz="1240" dirty="0">
                <a:solidFill>
                  <a:srgbClr val="243B53"/>
                </a:solidFill>
                <a:latin typeface="Aptos" pitchFamily="34" charset="0"/>
                <a:ea typeface="Aptos" pitchFamily="34" charset="-122"/>
                <a:cs typeface="Aptos" pitchFamily="34" charset="-120"/>
              </a:rPr>
              <a:t>Una propiedad del producto.</a:t>
            </a:r>
            <a:endParaRPr lang="en-US" sz="1240" dirty="0"/>
          </a:p>
        </p:txBody>
      </p:sp>
      <p:sp>
        <p:nvSpPr>
          <p:cNvPr id="18" name="Text 15"/>
          <p:cNvSpPr txBox="1"/>
          <p:nvPr/>
        </p:nvSpPr>
        <p:spPr>
          <a:xfrm>
            <a:off x="896112" y="4553712"/>
            <a:ext cx="3840480" cy="640080"/>
          </a:xfrm>
          <a:prstGeom prst="rect">
            <a:avLst/>
          </a:prstGeom>
          <a:noFill/>
          <a:ln/>
        </p:spPr>
        <p:txBody>
          <a:bodyPr wrap="square" lIns="0" tIns="0" rIns="0" bIns="0" rtlCol="0" anchor="t"/>
          <a:lstStyle/>
          <a:p>
            <a:pPr algn="l" indent="0" marL="0">
              <a:lnSpc>
                <a:spcPct val="112000"/>
              </a:lnSpc>
              <a:buNone/>
            </a:pPr>
            <a:r>
              <a:rPr lang="en-US" sz="1140" i="1" dirty="0">
                <a:solidFill>
                  <a:srgbClr val="52606D"/>
                </a:solidFill>
                <a:latin typeface="Aptos" pitchFamily="34" charset="0"/>
                <a:ea typeface="Aptos" pitchFamily="34" charset="-122"/>
                <a:cs typeface="Aptos" pitchFamily="34" charset="-120"/>
              </a:rPr>
              <a:t>Por eso se puede comprobar con pruebas, como las de hoy.</a:t>
            </a:r>
            <a:endParaRPr lang="en-US" sz="1140" dirty="0"/>
          </a:p>
        </p:txBody>
      </p:sp>
      <p:sp>
        <p:nvSpPr>
          <p:cNvPr id="19" name="Shape 16"/>
          <p:cNvSpPr/>
          <p:nvPr/>
        </p:nvSpPr>
        <p:spPr>
          <a:xfrm>
            <a:off x="7235647" y="3127248"/>
            <a:ext cx="4297680" cy="2286000"/>
          </a:xfrm>
          <a:prstGeom prst="rect">
            <a:avLst/>
          </a:prstGeom>
          <a:solidFill>
            <a:srgbClr val="FFFFFF"/>
          </a:solidFill>
          <a:ln w="12700">
            <a:solidFill>
              <a:srgbClr val="FFFFFF"/>
            </a:solidFill>
            <a:prstDash val="solid"/>
          </a:ln>
        </p:spPr>
      </p:sp>
      <p:sp>
        <p:nvSpPr>
          <p:cNvPr id="20" name="Shape 17"/>
          <p:cNvSpPr/>
          <p:nvPr/>
        </p:nvSpPr>
        <p:spPr>
          <a:xfrm>
            <a:off x="7235647" y="3127248"/>
            <a:ext cx="4297680" cy="54864"/>
          </a:xfrm>
          <a:prstGeom prst="rect">
            <a:avLst/>
          </a:prstGeom>
          <a:solidFill>
            <a:srgbClr val="52606D"/>
          </a:solidFill>
          <a:ln w="12700">
            <a:solidFill>
              <a:srgbClr val="52606D"/>
            </a:solidFill>
            <a:prstDash val="solid"/>
          </a:ln>
        </p:spPr>
      </p:sp>
      <p:sp>
        <p:nvSpPr>
          <p:cNvPr id="21" name="Text 18"/>
          <p:cNvSpPr txBox="1"/>
          <p:nvPr/>
        </p:nvSpPr>
        <p:spPr>
          <a:xfrm>
            <a:off x="7473391" y="3346704"/>
            <a:ext cx="3840480" cy="329184"/>
          </a:xfrm>
          <a:prstGeom prst="rect">
            <a:avLst/>
          </a:prstGeom>
          <a:noFill/>
          <a:ln/>
        </p:spPr>
        <p:txBody>
          <a:bodyPr wrap="square" lIns="0" tIns="0" rIns="0" bIns="0" rtlCol="0" anchor="t"/>
          <a:lstStyle/>
          <a:p>
            <a:pPr algn="l" indent="0" marL="0">
              <a:buNone/>
            </a:pPr>
            <a:r>
              <a:rPr lang="en-US" sz="1700" b="1" dirty="0">
                <a:solidFill>
                  <a:srgbClr val="52606D"/>
                </a:solidFill>
                <a:latin typeface="Aptos Display" pitchFamily="34" charset="0"/>
                <a:ea typeface="Aptos Display" pitchFamily="34" charset="-122"/>
                <a:cs typeface="Aptos Display" pitchFamily="34" charset="-120"/>
              </a:rPr>
              <a:t>Usabilidad</a:t>
            </a:r>
            <a:endParaRPr lang="en-US" sz="1700" dirty="0"/>
          </a:p>
        </p:txBody>
      </p:sp>
      <p:sp>
        <p:nvSpPr>
          <p:cNvPr id="22" name="Text 19"/>
          <p:cNvSpPr txBox="1"/>
          <p:nvPr/>
        </p:nvSpPr>
        <p:spPr>
          <a:xfrm>
            <a:off x="7473391" y="3822192"/>
            <a:ext cx="3840480" cy="640080"/>
          </a:xfrm>
          <a:prstGeom prst="rect">
            <a:avLst/>
          </a:prstGeom>
          <a:noFill/>
          <a:ln/>
        </p:spPr>
        <p:txBody>
          <a:bodyPr wrap="square" lIns="0" tIns="0" rIns="0" bIns="0" rtlCol="0" anchor="t"/>
          <a:lstStyle/>
          <a:p>
            <a:pPr algn="l" indent="0" marL="0">
              <a:lnSpc>
                <a:spcPct val="112000"/>
              </a:lnSpc>
              <a:buNone/>
            </a:pPr>
            <a:r>
              <a:rPr lang="en-US" sz="1240" dirty="0">
                <a:solidFill>
                  <a:srgbClr val="243B53"/>
                </a:solidFill>
                <a:latin typeface="Aptos" pitchFamily="34" charset="0"/>
                <a:ea typeface="Aptos" pitchFamily="34" charset="-122"/>
                <a:cs typeface="Aptos" pitchFamily="34" charset="-120"/>
              </a:rPr>
              <a:t>Si las personas logran sus objetivos con eficacia, eficiencia y satisfacción.</a:t>
            </a:r>
            <a:endParaRPr lang="en-US" sz="1240" dirty="0"/>
          </a:p>
        </p:txBody>
      </p:sp>
      <p:sp>
        <p:nvSpPr>
          <p:cNvPr id="23" name="Text 20"/>
          <p:cNvSpPr txBox="1"/>
          <p:nvPr/>
        </p:nvSpPr>
        <p:spPr>
          <a:xfrm>
            <a:off x="7473391" y="4553712"/>
            <a:ext cx="3840480" cy="640080"/>
          </a:xfrm>
          <a:prstGeom prst="rect">
            <a:avLst/>
          </a:prstGeom>
          <a:noFill/>
          <a:ln/>
        </p:spPr>
        <p:txBody>
          <a:bodyPr wrap="square" lIns="0" tIns="0" rIns="0" bIns="0" rtlCol="0" anchor="t"/>
          <a:lstStyle/>
          <a:p>
            <a:pPr algn="l" indent="0" marL="0">
              <a:lnSpc>
                <a:spcPct val="112000"/>
              </a:lnSpc>
              <a:buNone/>
            </a:pPr>
            <a:r>
              <a:rPr lang="en-US" sz="1140" i="1" dirty="0">
                <a:solidFill>
                  <a:srgbClr val="52606D"/>
                </a:solidFill>
                <a:latin typeface="Aptos" pitchFamily="34" charset="0"/>
                <a:ea typeface="Aptos" pitchFamily="34" charset="-122"/>
                <a:cs typeface="Aptos" pitchFamily="34" charset="-120"/>
              </a:rPr>
              <a:t>Se mide con personas reales usando el sistema.</a:t>
            </a:r>
            <a:endParaRPr lang="en-US" sz="1140" dirty="0"/>
          </a:p>
        </p:txBody>
      </p:sp>
      <p:sp>
        <p:nvSpPr>
          <p:cNvPr id="24" name="Shape 21"/>
          <p:cNvSpPr/>
          <p:nvPr/>
        </p:nvSpPr>
        <p:spPr>
          <a:xfrm>
            <a:off x="5138928" y="4270248"/>
            <a:ext cx="1913839" cy="0"/>
          </a:xfrm>
          <a:prstGeom prst="line">
            <a:avLst/>
          </a:prstGeom>
          <a:noFill/>
          <a:ln w="12700">
            <a:solidFill>
              <a:srgbClr val="243B53"/>
            </a:solidFill>
            <a:prstDash val="solid"/>
            <a:headEnd type="none"/>
            <a:tailEnd type="triangle"/>
          </a:ln>
        </p:spPr>
      </p:sp>
      <p:sp>
        <p:nvSpPr>
          <p:cNvPr id="25" name="Text 22"/>
          <p:cNvSpPr txBox="1"/>
          <p:nvPr/>
        </p:nvSpPr>
        <p:spPr>
          <a:xfrm>
            <a:off x="5138928" y="3813048"/>
            <a:ext cx="1913839" cy="274320"/>
          </a:xfrm>
          <a:prstGeom prst="rect">
            <a:avLst/>
          </a:prstGeom>
          <a:noFill/>
          <a:ln/>
        </p:spPr>
        <p:txBody>
          <a:bodyPr wrap="square" lIns="0" tIns="0" rIns="0" bIns="0" rtlCol="0" anchor="t"/>
          <a:lstStyle/>
          <a:p>
            <a:pPr algn="ctr" indent="0" marL="0">
              <a:buNone/>
            </a:pPr>
            <a:r>
              <a:rPr lang="en-US" sz="1140" b="1" dirty="0">
                <a:solidFill>
                  <a:srgbClr val="243B53"/>
                </a:solidFill>
                <a:latin typeface="Aptos" pitchFamily="34" charset="0"/>
                <a:ea typeface="Aptos" pitchFamily="34" charset="-122"/>
                <a:cs typeface="Aptos" pitchFamily="34" charset="-120"/>
              </a:rPr>
              <a:t>es requisito previo de</a:t>
            </a:r>
            <a:endParaRPr lang="en-US" sz="1140" dirty="0"/>
          </a:p>
        </p:txBody>
      </p:sp>
      <p:sp>
        <p:nvSpPr>
          <p:cNvPr id="26" name="Text 23"/>
          <p:cNvSpPr txBox="1"/>
          <p:nvPr/>
        </p:nvSpPr>
        <p:spPr>
          <a:xfrm>
            <a:off x="5138928" y="4416552"/>
            <a:ext cx="1913839" cy="219456"/>
          </a:xfrm>
          <a:prstGeom prst="rect">
            <a:avLst/>
          </a:prstGeom>
          <a:noFill/>
          <a:ln/>
        </p:spPr>
        <p:txBody>
          <a:bodyPr wrap="square" lIns="0" tIns="0" rIns="0" bIns="0" rtlCol="0" anchor="t"/>
          <a:lstStyle/>
          <a:p>
            <a:pPr algn="ctr" indent="0" marL="0">
              <a:buNone/>
            </a:pPr>
            <a:r>
              <a:rPr lang="en-US" sz="960" i="1" dirty="0">
                <a:solidFill>
                  <a:srgbClr val="52606D"/>
                </a:solidFill>
                <a:latin typeface="Aptos" pitchFamily="34" charset="0"/>
                <a:ea typeface="Aptos" pitchFamily="34" charset="-122"/>
                <a:cs typeface="Aptos" pitchFamily="34" charset="-120"/>
              </a:rPr>
              <a:t>nota de la cláusula 3.4</a:t>
            </a:r>
            <a:endParaRPr lang="en-US" sz="960" dirty="0"/>
          </a:p>
        </p:txBody>
      </p:sp>
      <p:sp>
        <p:nvSpPr>
          <p:cNvPr id="27" name="Shape 24"/>
          <p:cNvSpPr/>
          <p:nvPr/>
        </p:nvSpPr>
        <p:spPr>
          <a:xfrm>
            <a:off x="658368" y="5650992"/>
            <a:ext cx="10874959" cy="548640"/>
          </a:xfrm>
          <a:prstGeom prst="rect">
            <a:avLst/>
          </a:prstGeom>
          <a:solidFill>
            <a:srgbClr val="102A43"/>
          </a:solidFill>
          <a:ln w="12700">
            <a:solidFill>
              <a:srgbClr val="102A43"/>
            </a:solidFill>
            <a:prstDash val="solid"/>
          </a:ln>
        </p:spPr>
      </p:sp>
      <p:sp>
        <p:nvSpPr>
          <p:cNvPr id="28" name="Text 25"/>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usabilidad se mide con personas. La capacidad de interacción, con pruebas.</a:t>
            </a:r>
            <a:endParaRPr lang="en-US" sz="138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NORMA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Una de las ocho corresponde al doble clic</a:t>
            </a:r>
            <a:endParaRPr lang="en-US" sz="3000" dirty="0"/>
          </a:p>
        </p:txBody>
      </p:sp>
      <p:sp>
        <p:nvSpPr>
          <p:cNvPr id="10" name="Shape 7"/>
          <p:cNvSpPr/>
          <p:nvPr/>
        </p:nvSpPr>
        <p:spPr>
          <a:xfrm>
            <a:off x="658368" y="1755648"/>
            <a:ext cx="2622728" cy="1188720"/>
          </a:xfrm>
          <a:prstGeom prst="rect">
            <a:avLst/>
          </a:prstGeom>
          <a:solidFill>
            <a:srgbClr val="FFFFFF"/>
          </a:solidFill>
          <a:ln w="12700">
            <a:solidFill>
              <a:srgbClr val="FFFFFF"/>
            </a:solidFill>
            <a:prstDash val="solid"/>
          </a:ln>
        </p:spPr>
      </p:sp>
      <p:sp>
        <p:nvSpPr>
          <p:cNvPr id="11" name="Shape 8"/>
          <p:cNvSpPr/>
          <p:nvPr/>
        </p:nvSpPr>
        <p:spPr>
          <a:xfrm>
            <a:off x="658368" y="1755648"/>
            <a:ext cx="2622728" cy="54864"/>
          </a:xfrm>
          <a:prstGeom prst="rect">
            <a:avLst/>
          </a:prstGeom>
          <a:solidFill>
            <a:srgbClr val="D8CFC4"/>
          </a:solidFill>
          <a:ln w="12700">
            <a:solidFill>
              <a:srgbClr val="D8CFC4"/>
            </a:solidFill>
            <a:prstDash val="solid"/>
          </a:ln>
        </p:spPr>
      </p:sp>
      <p:sp>
        <p:nvSpPr>
          <p:cNvPr id="12" name="Text 9"/>
          <p:cNvSpPr txBox="1"/>
          <p:nvPr/>
        </p:nvSpPr>
        <p:spPr>
          <a:xfrm>
            <a:off x="822960" y="1883664"/>
            <a:ext cx="274320" cy="201168"/>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1</a:t>
            </a:r>
            <a:endParaRPr lang="en-US" sz="1000" dirty="0"/>
          </a:p>
        </p:txBody>
      </p:sp>
      <p:sp>
        <p:nvSpPr>
          <p:cNvPr id="13" name="Text 10"/>
          <p:cNvSpPr txBox="1"/>
          <p:nvPr/>
        </p:nvSpPr>
        <p:spPr>
          <a:xfrm>
            <a:off x="1078992" y="1865376"/>
            <a:ext cx="2074088" cy="420624"/>
          </a:xfrm>
          <a:prstGeom prst="rect">
            <a:avLst/>
          </a:prstGeom>
          <a:noFill/>
          <a:ln/>
        </p:spPr>
        <p:txBody>
          <a:bodyPr wrap="square" lIns="0" tIns="0" rIns="0" bIns="0" rtlCol="0" anchor="t"/>
          <a:lstStyle/>
          <a:p>
            <a:pPr algn="l" indent="0" marL="0">
              <a:lnSpc>
                <a:spcPct val="102000"/>
              </a:lnSpc>
              <a:buNone/>
            </a:pPr>
            <a:r>
              <a:rPr lang="en-US" sz="1120" b="1" dirty="0">
                <a:solidFill>
                  <a:srgbClr val="243B53"/>
                </a:solidFill>
                <a:latin typeface="Aptos" pitchFamily="34" charset="0"/>
                <a:ea typeface="Aptos" pitchFamily="34" charset="-122"/>
                <a:cs typeface="Aptos" pitchFamily="34" charset="-120"/>
              </a:rPr>
              <a:t>Reconocibilidad de adecuación</a:t>
            </a:r>
            <a:endParaRPr lang="en-US" sz="1120" dirty="0"/>
          </a:p>
        </p:txBody>
      </p:sp>
      <p:sp>
        <p:nvSpPr>
          <p:cNvPr id="14" name="Text 11"/>
          <p:cNvSpPr txBox="1"/>
          <p:nvPr/>
        </p:nvSpPr>
        <p:spPr>
          <a:xfrm>
            <a:off x="822960" y="2322576"/>
            <a:ext cx="2330120" cy="365760"/>
          </a:xfrm>
          <a:prstGeom prst="rect">
            <a:avLst/>
          </a:prstGeom>
          <a:noFill/>
          <a:ln/>
        </p:spPr>
        <p:txBody>
          <a:bodyPr wrap="square" lIns="0" tIns="0" rIns="0" bIns="0" rtlCol="0" anchor="t"/>
          <a:lstStyle/>
          <a:p>
            <a:pPr algn="l" indent="0" marL="0">
              <a:lnSpc>
                <a:spcPct val="105000"/>
              </a:lnSpc>
              <a:buNone/>
            </a:pPr>
            <a:r>
              <a:rPr lang="en-US" sz="980" dirty="0">
                <a:solidFill>
                  <a:srgbClr val="52606D"/>
                </a:solidFill>
                <a:latin typeface="Aptos" pitchFamily="34" charset="0"/>
                <a:ea typeface="Aptos" pitchFamily="34" charset="-122"/>
                <a:cs typeface="Aptos" pitchFamily="34" charset="-120"/>
              </a:rPr>
              <a:t>Que la persona reconozca si el producto le sirve.</a:t>
            </a:r>
            <a:endParaRPr lang="en-US" sz="980" dirty="0"/>
          </a:p>
        </p:txBody>
      </p:sp>
      <p:sp>
        <p:nvSpPr>
          <p:cNvPr id="15" name="Shape 12"/>
          <p:cNvSpPr/>
          <p:nvPr/>
        </p:nvSpPr>
        <p:spPr>
          <a:xfrm>
            <a:off x="3409112" y="1755648"/>
            <a:ext cx="2622728" cy="1188720"/>
          </a:xfrm>
          <a:prstGeom prst="rect">
            <a:avLst/>
          </a:prstGeom>
          <a:solidFill>
            <a:srgbClr val="FFFFFF"/>
          </a:solidFill>
          <a:ln w="12700">
            <a:solidFill>
              <a:srgbClr val="FFFFFF"/>
            </a:solidFill>
            <a:prstDash val="solid"/>
          </a:ln>
        </p:spPr>
      </p:sp>
      <p:sp>
        <p:nvSpPr>
          <p:cNvPr id="16" name="Shape 13"/>
          <p:cNvSpPr/>
          <p:nvPr/>
        </p:nvSpPr>
        <p:spPr>
          <a:xfrm>
            <a:off x="3409112" y="1755648"/>
            <a:ext cx="2622728" cy="54864"/>
          </a:xfrm>
          <a:prstGeom prst="rect">
            <a:avLst/>
          </a:prstGeom>
          <a:solidFill>
            <a:srgbClr val="D8CFC4"/>
          </a:solidFill>
          <a:ln w="12700">
            <a:solidFill>
              <a:srgbClr val="D8CFC4"/>
            </a:solidFill>
            <a:prstDash val="solid"/>
          </a:ln>
        </p:spPr>
      </p:sp>
      <p:sp>
        <p:nvSpPr>
          <p:cNvPr id="17" name="Text 14"/>
          <p:cNvSpPr txBox="1"/>
          <p:nvPr/>
        </p:nvSpPr>
        <p:spPr>
          <a:xfrm>
            <a:off x="3573704" y="1883664"/>
            <a:ext cx="274320" cy="201168"/>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2</a:t>
            </a:r>
            <a:endParaRPr lang="en-US" sz="1000" dirty="0"/>
          </a:p>
        </p:txBody>
      </p:sp>
      <p:sp>
        <p:nvSpPr>
          <p:cNvPr id="18" name="Text 15"/>
          <p:cNvSpPr txBox="1"/>
          <p:nvPr/>
        </p:nvSpPr>
        <p:spPr>
          <a:xfrm>
            <a:off x="3829736" y="1865376"/>
            <a:ext cx="2074088" cy="420624"/>
          </a:xfrm>
          <a:prstGeom prst="rect">
            <a:avLst/>
          </a:prstGeom>
          <a:noFill/>
          <a:ln/>
        </p:spPr>
        <p:txBody>
          <a:bodyPr wrap="square" lIns="0" tIns="0" rIns="0" bIns="0" rtlCol="0" anchor="t"/>
          <a:lstStyle/>
          <a:p>
            <a:pPr algn="l" indent="0" marL="0">
              <a:lnSpc>
                <a:spcPct val="102000"/>
              </a:lnSpc>
              <a:buNone/>
            </a:pPr>
            <a:r>
              <a:rPr lang="en-US" sz="1120" b="1" dirty="0">
                <a:solidFill>
                  <a:srgbClr val="243B53"/>
                </a:solidFill>
                <a:latin typeface="Aptos" pitchFamily="34" charset="0"/>
                <a:ea typeface="Aptos" pitchFamily="34" charset="-122"/>
                <a:cs typeface="Aptos" pitchFamily="34" charset="-120"/>
              </a:rPr>
              <a:t>Aprendibilidad</a:t>
            </a:r>
            <a:endParaRPr lang="en-US" sz="1120" dirty="0"/>
          </a:p>
        </p:txBody>
      </p:sp>
      <p:sp>
        <p:nvSpPr>
          <p:cNvPr id="19" name="Text 16"/>
          <p:cNvSpPr txBox="1"/>
          <p:nvPr/>
        </p:nvSpPr>
        <p:spPr>
          <a:xfrm>
            <a:off x="3573704" y="2322576"/>
            <a:ext cx="2330120" cy="365760"/>
          </a:xfrm>
          <a:prstGeom prst="rect">
            <a:avLst/>
          </a:prstGeom>
          <a:noFill/>
          <a:ln/>
        </p:spPr>
        <p:txBody>
          <a:bodyPr wrap="square" lIns="0" tIns="0" rIns="0" bIns="0" rtlCol="0" anchor="t"/>
          <a:lstStyle/>
          <a:p>
            <a:pPr algn="l" indent="0" marL="0">
              <a:lnSpc>
                <a:spcPct val="105000"/>
              </a:lnSpc>
              <a:buNone/>
            </a:pPr>
            <a:r>
              <a:rPr lang="en-US" sz="980" dirty="0">
                <a:solidFill>
                  <a:srgbClr val="52606D"/>
                </a:solidFill>
                <a:latin typeface="Aptos" pitchFamily="34" charset="0"/>
                <a:ea typeface="Aptos" pitchFamily="34" charset="-122"/>
                <a:cs typeface="Aptos" pitchFamily="34" charset="-120"/>
              </a:rPr>
              <a:t>Que aprenda a usarlo en un tiempo determinado.</a:t>
            </a:r>
            <a:endParaRPr lang="en-US" sz="980" dirty="0"/>
          </a:p>
        </p:txBody>
      </p:sp>
      <p:sp>
        <p:nvSpPr>
          <p:cNvPr id="20" name="Shape 17"/>
          <p:cNvSpPr/>
          <p:nvPr/>
        </p:nvSpPr>
        <p:spPr>
          <a:xfrm>
            <a:off x="6159856" y="1755648"/>
            <a:ext cx="2622728" cy="1188720"/>
          </a:xfrm>
          <a:prstGeom prst="rect">
            <a:avLst/>
          </a:prstGeom>
          <a:solidFill>
            <a:srgbClr val="FFFFFF"/>
          </a:solidFill>
          <a:ln w="12700">
            <a:solidFill>
              <a:srgbClr val="FFFFFF"/>
            </a:solidFill>
            <a:prstDash val="solid"/>
          </a:ln>
        </p:spPr>
      </p:sp>
      <p:sp>
        <p:nvSpPr>
          <p:cNvPr id="21" name="Shape 18"/>
          <p:cNvSpPr/>
          <p:nvPr/>
        </p:nvSpPr>
        <p:spPr>
          <a:xfrm>
            <a:off x="6159856" y="1755648"/>
            <a:ext cx="2622728" cy="54864"/>
          </a:xfrm>
          <a:prstGeom prst="rect">
            <a:avLst/>
          </a:prstGeom>
          <a:solidFill>
            <a:srgbClr val="D8CFC4"/>
          </a:solidFill>
          <a:ln w="12700">
            <a:solidFill>
              <a:srgbClr val="D8CFC4"/>
            </a:solidFill>
            <a:prstDash val="solid"/>
          </a:ln>
        </p:spPr>
      </p:sp>
      <p:sp>
        <p:nvSpPr>
          <p:cNvPr id="22" name="Text 19"/>
          <p:cNvSpPr txBox="1"/>
          <p:nvPr/>
        </p:nvSpPr>
        <p:spPr>
          <a:xfrm>
            <a:off x="6324448" y="1883664"/>
            <a:ext cx="274320" cy="201168"/>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3</a:t>
            </a:r>
            <a:endParaRPr lang="en-US" sz="1000" dirty="0"/>
          </a:p>
        </p:txBody>
      </p:sp>
      <p:sp>
        <p:nvSpPr>
          <p:cNvPr id="23" name="Text 20"/>
          <p:cNvSpPr txBox="1"/>
          <p:nvPr/>
        </p:nvSpPr>
        <p:spPr>
          <a:xfrm>
            <a:off x="6580480" y="1865376"/>
            <a:ext cx="2074088" cy="420624"/>
          </a:xfrm>
          <a:prstGeom prst="rect">
            <a:avLst/>
          </a:prstGeom>
          <a:noFill/>
          <a:ln/>
        </p:spPr>
        <p:txBody>
          <a:bodyPr wrap="square" lIns="0" tIns="0" rIns="0" bIns="0" rtlCol="0" anchor="t"/>
          <a:lstStyle/>
          <a:p>
            <a:pPr algn="l" indent="0" marL="0">
              <a:lnSpc>
                <a:spcPct val="102000"/>
              </a:lnSpc>
              <a:buNone/>
            </a:pPr>
            <a:r>
              <a:rPr lang="en-US" sz="1120" b="1" dirty="0">
                <a:solidFill>
                  <a:srgbClr val="243B53"/>
                </a:solidFill>
                <a:latin typeface="Aptos" pitchFamily="34" charset="0"/>
                <a:ea typeface="Aptos" pitchFamily="34" charset="-122"/>
                <a:cs typeface="Aptos" pitchFamily="34" charset="-120"/>
              </a:rPr>
              <a:t>Operabilidad</a:t>
            </a:r>
            <a:endParaRPr lang="en-US" sz="1120" dirty="0"/>
          </a:p>
        </p:txBody>
      </p:sp>
      <p:sp>
        <p:nvSpPr>
          <p:cNvPr id="24" name="Text 21"/>
          <p:cNvSpPr txBox="1"/>
          <p:nvPr/>
        </p:nvSpPr>
        <p:spPr>
          <a:xfrm>
            <a:off x="6324448" y="2322576"/>
            <a:ext cx="2330120" cy="365760"/>
          </a:xfrm>
          <a:prstGeom prst="rect">
            <a:avLst/>
          </a:prstGeom>
          <a:noFill/>
          <a:ln/>
        </p:spPr>
        <p:txBody>
          <a:bodyPr wrap="square" lIns="0" tIns="0" rIns="0" bIns="0" rtlCol="0" anchor="t"/>
          <a:lstStyle/>
          <a:p>
            <a:pPr algn="l" indent="0" marL="0">
              <a:lnSpc>
                <a:spcPct val="105000"/>
              </a:lnSpc>
              <a:buNone/>
            </a:pPr>
            <a:r>
              <a:rPr lang="en-US" sz="980" dirty="0">
                <a:solidFill>
                  <a:srgbClr val="52606D"/>
                </a:solidFill>
                <a:latin typeface="Aptos" pitchFamily="34" charset="0"/>
                <a:ea typeface="Aptos" pitchFamily="34" charset="-122"/>
                <a:cs typeface="Aptos" pitchFamily="34" charset="-120"/>
              </a:rPr>
              <a:t>Que sea fácil de operar y controlar.</a:t>
            </a:r>
            <a:endParaRPr lang="en-US" sz="980" dirty="0"/>
          </a:p>
        </p:txBody>
      </p:sp>
      <p:sp>
        <p:nvSpPr>
          <p:cNvPr id="25" name="Shape 22"/>
          <p:cNvSpPr/>
          <p:nvPr/>
        </p:nvSpPr>
        <p:spPr>
          <a:xfrm>
            <a:off x="8910599" y="1755648"/>
            <a:ext cx="2622728" cy="1188720"/>
          </a:xfrm>
          <a:prstGeom prst="rect">
            <a:avLst/>
          </a:prstGeom>
          <a:solidFill>
            <a:srgbClr val="1D3A57"/>
          </a:solidFill>
          <a:ln w="12700">
            <a:solidFill>
              <a:srgbClr val="1D3A57"/>
            </a:solidFill>
            <a:prstDash val="solid"/>
          </a:ln>
        </p:spPr>
      </p:sp>
      <p:sp>
        <p:nvSpPr>
          <p:cNvPr id="26" name="Shape 23"/>
          <p:cNvSpPr/>
          <p:nvPr/>
        </p:nvSpPr>
        <p:spPr>
          <a:xfrm>
            <a:off x="8910599" y="1755648"/>
            <a:ext cx="2622728" cy="54864"/>
          </a:xfrm>
          <a:prstGeom prst="rect">
            <a:avLst/>
          </a:prstGeom>
          <a:solidFill>
            <a:srgbClr val="D62027"/>
          </a:solidFill>
          <a:ln w="12700">
            <a:solidFill>
              <a:srgbClr val="D62027"/>
            </a:solidFill>
            <a:prstDash val="solid"/>
          </a:ln>
        </p:spPr>
      </p:sp>
      <p:sp>
        <p:nvSpPr>
          <p:cNvPr id="27" name="Text 24"/>
          <p:cNvSpPr txBox="1"/>
          <p:nvPr/>
        </p:nvSpPr>
        <p:spPr>
          <a:xfrm>
            <a:off x="9075191" y="1883664"/>
            <a:ext cx="274320" cy="201168"/>
          </a:xfrm>
          <a:prstGeom prst="rect">
            <a:avLst/>
          </a:prstGeom>
          <a:noFill/>
          <a:ln/>
        </p:spPr>
        <p:txBody>
          <a:bodyPr wrap="square" lIns="0" tIns="0" rIns="0" bIns="0" rtlCol="0" anchor="t"/>
          <a:lstStyle/>
          <a:p>
            <a:pPr algn="l" indent="0" marL="0">
              <a:buNone/>
            </a:pPr>
            <a:r>
              <a:rPr lang="en-US" sz="1000" b="1" dirty="0">
                <a:solidFill>
                  <a:srgbClr val="E0BC5A"/>
                </a:solidFill>
                <a:latin typeface="Aptos" pitchFamily="34" charset="0"/>
                <a:ea typeface="Aptos" pitchFamily="34" charset="-122"/>
                <a:cs typeface="Aptos" pitchFamily="34" charset="-120"/>
              </a:rPr>
              <a:t>4</a:t>
            </a:r>
            <a:endParaRPr lang="en-US" sz="1000" dirty="0"/>
          </a:p>
        </p:txBody>
      </p:sp>
      <p:sp>
        <p:nvSpPr>
          <p:cNvPr id="28" name="Text 25"/>
          <p:cNvSpPr txBox="1"/>
          <p:nvPr/>
        </p:nvSpPr>
        <p:spPr>
          <a:xfrm>
            <a:off x="9331223" y="1865376"/>
            <a:ext cx="2074088" cy="420624"/>
          </a:xfrm>
          <a:prstGeom prst="rect">
            <a:avLst/>
          </a:prstGeom>
          <a:noFill/>
          <a:ln/>
        </p:spPr>
        <p:txBody>
          <a:bodyPr wrap="square" lIns="0" tIns="0" rIns="0" bIns="0" rtlCol="0" anchor="t"/>
          <a:lstStyle/>
          <a:p>
            <a:pPr algn="l" indent="0" marL="0">
              <a:lnSpc>
                <a:spcPct val="102000"/>
              </a:lnSpc>
              <a:buNone/>
            </a:pPr>
            <a:r>
              <a:rPr lang="en-US" sz="1120" b="1" dirty="0">
                <a:solidFill>
                  <a:srgbClr val="FFFFFF"/>
                </a:solidFill>
                <a:latin typeface="Aptos" pitchFamily="34" charset="0"/>
                <a:ea typeface="Aptos" pitchFamily="34" charset="-122"/>
                <a:cs typeface="Aptos" pitchFamily="34" charset="-120"/>
              </a:rPr>
              <a:t>Protección frente a errores del usuario</a:t>
            </a:r>
            <a:endParaRPr lang="en-US" sz="1120" dirty="0"/>
          </a:p>
        </p:txBody>
      </p:sp>
      <p:sp>
        <p:nvSpPr>
          <p:cNvPr id="29" name="Text 26"/>
          <p:cNvSpPr txBox="1"/>
          <p:nvPr/>
        </p:nvSpPr>
        <p:spPr>
          <a:xfrm>
            <a:off x="9075191" y="2322576"/>
            <a:ext cx="2330120" cy="365760"/>
          </a:xfrm>
          <a:prstGeom prst="rect">
            <a:avLst/>
          </a:prstGeom>
          <a:noFill/>
          <a:ln/>
        </p:spPr>
        <p:txBody>
          <a:bodyPr wrap="square" lIns="0" tIns="0" rIns="0" bIns="0" rtlCol="0" anchor="t"/>
          <a:lstStyle/>
          <a:p>
            <a:pPr algn="l" indent="0" marL="0">
              <a:lnSpc>
                <a:spcPct val="105000"/>
              </a:lnSpc>
              <a:buNone/>
            </a:pPr>
            <a:r>
              <a:rPr lang="en-US" sz="980" dirty="0">
                <a:solidFill>
                  <a:srgbClr val="EADFD0"/>
                </a:solidFill>
                <a:latin typeface="Aptos" pitchFamily="34" charset="0"/>
                <a:ea typeface="Aptos" pitchFamily="34" charset="-122"/>
                <a:cs typeface="Aptos" pitchFamily="34" charset="-120"/>
              </a:rPr>
              <a:t>Que prevenga los errores de operación.</a:t>
            </a:r>
            <a:endParaRPr lang="en-US" sz="980" dirty="0"/>
          </a:p>
        </p:txBody>
      </p:sp>
      <p:sp>
        <p:nvSpPr>
          <p:cNvPr id="30" name="Shape 27"/>
          <p:cNvSpPr/>
          <p:nvPr/>
        </p:nvSpPr>
        <p:spPr>
          <a:xfrm>
            <a:off x="658368" y="3072384"/>
            <a:ext cx="2622728" cy="1188720"/>
          </a:xfrm>
          <a:prstGeom prst="rect">
            <a:avLst/>
          </a:prstGeom>
          <a:solidFill>
            <a:srgbClr val="FFFFFF"/>
          </a:solidFill>
          <a:ln w="12700">
            <a:solidFill>
              <a:srgbClr val="FFFFFF"/>
            </a:solidFill>
            <a:prstDash val="solid"/>
          </a:ln>
        </p:spPr>
      </p:sp>
      <p:sp>
        <p:nvSpPr>
          <p:cNvPr id="31" name="Shape 28"/>
          <p:cNvSpPr/>
          <p:nvPr/>
        </p:nvSpPr>
        <p:spPr>
          <a:xfrm>
            <a:off x="658368" y="3072384"/>
            <a:ext cx="2622728" cy="54864"/>
          </a:xfrm>
          <a:prstGeom prst="rect">
            <a:avLst/>
          </a:prstGeom>
          <a:solidFill>
            <a:srgbClr val="D8CFC4"/>
          </a:solidFill>
          <a:ln w="12700">
            <a:solidFill>
              <a:srgbClr val="D8CFC4"/>
            </a:solidFill>
            <a:prstDash val="solid"/>
          </a:ln>
        </p:spPr>
      </p:sp>
      <p:sp>
        <p:nvSpPr>
          <p:cNvPr id="32" name="Text 29"/>
          <p:cNvSpPr txBox="1"/>
          <p:nvPr/>
        </p:nvSpPr>
        <p:spPr>
          <a:xfrm>
            <a:off x="822960" y="3200400"/>
            <a:ext cx="274320" cy="201168"/>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5</a:t>
            </a:r>
            <a:endParaRPr lang="en-US" sz="1000" dirty="0"/>
          </a:p>
        </p:txBody>
      </p:sp>
      <p:sp>
        <p:nvSpPr>
          <p:cNvPr id="33" name="Text 30"/>
          <p:cNvSpPr txBox="1"/>
          <p:nvPr/>
        </p:nvSpPr>
        <p:spPr>
          <a:xfrm>
            <a:off x="1078992" y="3182112"/>
            <a:ext cx="2074088" cy="420624"/>
          </a:xfrm>
          <a:prstGeom prst="rect">
            <a:avLst/>
          </a:prstGeom>
          <a:noFill/>
          <a:ln/>
        </p:spPr>
        <p:txBody>
          <a:bodyPr wrap="square" lIns="0" tIns="0" rIns="0" bIns="0" rtlCol="0" anchor="t"/>
          <a:lstStyle/>
          <a:p>
            <a:pPr algn="l" indent="0" marL="0">
              <a:lnSpc>
                <a:spcPct val="102000"/>
              </a:lnSpc>
              <a:buNone/>
            </a:pPr>
            <a:r>
              <a:rPr lang="en-US" sz="1120" b="1" dirty="0">
                <a:solidFill>
                  <a:srgbClr val="243B53"/>
                </a:solidFill>
                <a:latin typeface="Aptos" pitchFamily="34" charset="0"/>
                <a:ea typeface="Aptos" pitchFamily="34" charset="-122"/>
                <a:cs typeface="Aptos" pitchFamily="34" charset="-120"/>
              </a:rPr>
              <a:t>Compromiso del usuario</a:t>
            </a:r>
            <a:endParaRPr lang="en-US" sz="1120" dirty="0"/>
          </a:p>
        </p:txBody>
      </p:sp>
      <p:sp>
        <p:nvSpPr>
          <p:cNvPr id="34" name="Text 31"/>
          <p:cNvSpPr txBox="1"/>
          <p:nvPr/>
        </p:nvSpPr>
        <p:spPr>
          <a:xfrm>
            <a:off x="822960" y="3639312"/>
            <a:ext cx="2330120" cy="365760"/>
          </a:xfrm>
          <a:prstGeom prst="rect">
            <a:avLst/>
          </a:prstGeom>
          <a:noFill/>
          <a:ln/>
        </p:spPr>
        <p:txBody>
          <a:bodyPr wrap="square" lIns="0" tIns="0" rIns="0" bIns="0" rtlCol="0" anchor="t"/>
          <a:lstStyle/>
          <a:p>
            <a:pPr algn="l" indent="0" marL="0">
              <a:lnSpc>
                <a:spcPct val="105000"/>
              </a:lnSpc>
              <a:buNone/>
            </a:pPr>
            <a:r>
              <a:rPr lang="en-US" sz="980" dirty="0">
                <a:solidFill>
                  <a:srgbClr val="52606D"/>
                </a:solidFill>
                <a:latin typeface="Aptos" pitchFamily="34" charset="0"/>
                <a:ea typeface="Aptos" pitchFamily="34" charset="-122"/>
                <a:cs typeface="Aptos" pitchFamily="34" charset="-120"/>
              </a:rPr>
              <a:t>Reemplaza a la antigua estética de la interfaz.</a:t>
            </a:r>
            <a:endParaRPr lang="en-US" sz="980" dirty="0"/>
          </a:p>
        </p:txBody>
      </p:sp>
      <p:sp>
        <p:nvSpPr>
          <p:cNvPr id="35" name="Text 32"/>
          <p:cNvSpPr txBox="1"/>
          <p:nvPr/>
        </p:nvSpPr>
        <p:spPr>
          <a:xfrm>
            <a:off x="822960" y="4041648"/>
            <a:ext cx="2330120" cy="146304"/>
          </a:xfrm>
          <a:prstGeom prst="rect">
            <a:avLst/>
          </a:prstGeom>
          <a:noFill/>
          <a:ln/>
        </p:spPr>
        <p:txBody>
          <a:bodyPr wrap="square" lIns="0" tIns="0" rIns="0" bIns="0" rtlCol="0" anchor="t"/>
          <a:lstStyle/>
          <a:p>
            <a:pPr algn="l" indent="0" marL="0">
              <a:buNone/>
            </a:pPr>
            <a:r>
              <a:rPr lang="en-US" sz="740" b="1" spc="60" kern="0" dirty="0">
                <a:solidFill>
                  <a:srgbClr val="8A6A12"/>
                </a:solidFill>
                <a:latin typeface="Aptos" pitchFamily="34" charset="0"/>
                <a:ea typeface="Aptos" pitchFamily="34" charset="-122"/>
                <a:cs typeface="Aptos" pitchFamily="34" charset="-120"/>
              </a:rPr>
              <a:t>CAMBIÓ EN 2023</a:t>
            </a:r>
            <a:endParaRPr lang="en-US" sz="740" dirty="0"/>
          </a:p>
        </p:txBody>
      </p:sp>
      <p:sp>
        <p:nvSpPr>
          <p:cNvPr id="36" name="Shape 33"/>
          <p:cNvSpPr/>
          <p:nvPr/>
        </p:nvSpPr>
        <p:spPr>
          <a:xfrm>
            <a:off x="3409112" y="3072384"/>
            <a:ext cx="2622728" cy="1188720"/>
          </a:xfrm>
          <a:prstGeom prst="rect">
            <a:avLst/>
          </a:prstGeom>
          <a:solidFill>
            <a:srgbClr val="FFFFFF"/>
          </a:solidFill>
          <a:ln w="12700">
            <a:solidFill>
              <a:srgbClr val="FFFFFF"/>
            </a:solidFill>
            <a:prstDash val="solid"/>
          </a:ln>
        </p:spPr>
      </p:sp>
      <p:sp>
        <p:nvSpPr>
          <p:cNvPr id="37" name="Shape 34"/>
          <p:cNvSpPr/>
          <p:nvPr/>
        </p:nvSpPr>
        <p:spPr>
          <a:xfrm>
            <a:off x="3409112" y="3072384"/>
            <a:ext cx="2622728" cy="54864"/>
          </a:xfrm>
          <a:prstGeom prst="rect">
            <a:avLst/>
          </a:prstGeom>
          <a:solidFill>
            <a:srgbClr val="D8CFC4"/>
          </a:solidFill>
          <a:ln w="12700">
            <a:solidFill>
              <a:srgbClr val="D8CFC4"/>
            </a:solidFill>
            <a:prstDash val="solid"/>
          </a:ln>
        </p:spPr>
      </p:sp>
      <p:sp>
        <p:nvSpPr>
          <p:cNvPr id="38" name="Text 35"/>
          <p:cNvSpPr txBox="1"/>
          <p:nvPr/>
        </p:nvSpPr>
        <p:spPr>
          <a:xfrm>
            <a:off x="3573704" y="3200400"/>
            <a:ext cx="274320" cy="201168"/>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6</a:t>
            </a:r>
            <a:endParaRPr lang="en-US" sz="1000" dirty="0"/>
          </a:p>
        </p:txBody>
      </p:sp>
      <p:sp>
        <p:nvSpPr>
          <p:cNvPr id="39" name="Text 36"/>
          <p:cNvSpPr txBox="1"/>
          <p:nvPr/>
        </p:nvSpPr>
        <p:spPr>
          <a:xfrm>
            <a:off x="3829736" y="3182112"/>
            <a:ext cx="2074088" cy="420624"/>
          </a:xfrm>
          <a:prstGeom prst="rect">
            <a:avLst/>
          </a:prstGeom>
          <a:noFill/>
          <a:ln/>
        </p:spPr>
        <p:txBody>
          <a:bodyPr wrap="square" lIns="0" tIns="0" rIns="0" bIns="0" rtlCol="0" anchor="t"/>
          <a:lstStyle/>
          <a:p>
            <a:pPr algn="l" indent="0" marL="0">
              <a:lnSpc>
                <a:spcPct val="102000"/>
              </a:lnSpc>
              <a:buNone/>
            </a:pPr>
            <a:r>
              <a:rPr lang="en-US" sz="1120" b="1" dirty="0">
                <a:solidFill>
                  <a:srgbClr val="243B53"/>
                </a:solidFill>
                <a:latin typeface="Aptos" pitchFamily="34" charset="0"/>
                <a:ea typeface="Aptos" pitchFamily="34" charset="-122"/>
                <a:cs typeface="Aptos" pitchFamily="34" charset="-120"/>
              </a:rPr>
              <a:t>Inclusividad</a:t>
            </a:r>
            <a:endParaRPr lang="en-US" sz="1120" dirty="0"/>
          </a:p>
        </p:txBody>
      </p:sp>
      <p:sp>
        <p:nvSpPr>
          <p:cNvPr id="40" name="Text 37"/>
          <p:cNvSpPr txBox="1"/>
          <p:nvPr/>
        </p:nvSpPr>
        <p:spPr>
          <a:xfrm>
            <a:off x="3573704" y="3639312"/>
            <a:ext cx="2330120" cy="365760"/>
          </a:xfrm>
          <a:prstGeom prst="rect">
            <a:avLst/>
          </a:prstGeom>
          <a:noFill/>
          <a:ln/>
        </p:spPr>
        <p:txBody>
          <a:bodyPr wrap="square" lIns="0" tIns="0" rIns="0" bIns="0" rtlCol="0" anchor="t"/>
          <a:lstStyle/>
          <a:p>
            <a:pPr algn="l" indent="0" marL="0">
              <a:lnSpc>
                <a:spcPct val="105000"/>
              </a:lnSpc>
              <a:buNone/>
            </a:pPr>
            <a:r>
              <a:rPr lang="en-US" sz="980" dirty="0">
                <a:solidFill>
                  <a:srgbClr val="52606D"/>
                </a:solidFill>
                <a:latin typeface="Aptos" pitchFamily="34" charset="0"/>
                <a:ea typeface="Aptos" pitchFamily="34" charset="-122"/>
                <a:cs typeface="Aptos" pitchFamily="34" charset="-120"/>
              </a:rPr>
              <a:t>Que puedan usarlo personas diversas.</a:t>
            </a:r>
            <a:endParaRPr lang="en-US" sz="980" dirty="0"/>
          </a:p>
        </p:txBody>
      </p:sp>
      <p:sp>
        <p:nvSpPr>
          <p:cNvPr id="41" name="Text 38"/>
          <p:cNvSpPr txBox="1"/>
          <p:nvPr/>
        </p:nvSpPr>
        <p:spPr>
          <a:xfrm>
            <a:off x="3573704" y="4041648"/>
            <a:ext cx="2330120" cy="146304"/>
          </a:xfrm>
          <a:prstGeom prst="rect">
            <a:avLst/>
          </a:prstGeom>
          <a:noFill/>
          <a:ln/>
        </p:spPr>
        <p:txBody>
          <a:bodyPr wrap="square" lIns="0" tIns="0" rIns="0" bIns="0" rtlCol="0" anchor="t"/>
          <a:lstStyle/>
          <a:p>
            <a:pPr algn="l" indent="0" marL="0">
              <a:buNone/>
            </a:pPr>
            <a:r>
              <a:rPr lang="en-US" sz="740" b="1" spc="60" kern="0" dirty="0">
                <a:solidFill>
                  <a:srgbClr val="8A6A12"/>
                </a:solidFill>
                <a:latin typeface="Aptos" pitchFamily="34" charset="0"/>
                <a:ea typeface="Aptos" pitchFamily="34" charset="-122"/>
                <a:cs typeface="Aptos" pitchFamily="34" charset="-120"/>
              </a:rPr>
              <a:t>SALE DE DIVIDIR LA ACCESIBILIDAD</a:t>
            </a:r>
            <a:endParaRPr lang="en-US" sz="740" dirty="0"/>
          </a:p>
        </p:txBody>
      </p:sp>
      <p:sp>
        <p:nvSpPr>
          <p:cNvPr id="42" name="Shape 39"/>
          <p:cNvSpPr/>
          <p:nvPr/>
        </p:nvSpPr>
        <p:spPr>
          <a:xfrm>
            <a:off x="6159856" y="3072384"/>
            <a:ext cx="2622728" cy="1188720"/>
          </a:xfrm>
          <a:prstGeom prst="rect">
            <a:avLst/>
          </a:prstGeom>
          <a:solidFill>
            <a:srgbClr val="FFFFFF"/>
          </a:solidFill>
          <a:ln w="12700">
            <a:solidFill>
              <a:srgbClr val="FFFFFF"/>
            </a:solidFill>
            <a:prstDash val="solid"/>
          </a:ln>
        </p:spPr>
      </p:sp>
      <p:sp>
        <p:nvSpPr>
          <p:cNvPr id="43" name="Shape 40"/>
          <p:cNvSpPr/>
          <p:nvPr/>
        </p:nvSpPr>
        <p:spPr>
          <a:xfrm>
            <a:off x="6159856" y="3072384"/>
            <a:ext cx="2622728" cy="54864"/>
          </a:xfrm>
          <a:prstGeom prst="rect">
            <a:avLst/>
          </a:prstGeom>
          <a:solidFill>
            <a:srgbClr val="D8CFC4"/>
          </a:solidFill>
          <a:ln w="12700">
            <a:solidFill>
              <a:srgbClr val="D8CFC4"/>
            </a:solidFill>
            <a:prstDash val="solid"/>
          </a:ln>
        </p:spPr>
      </p:sp>
      <p:sp>
        <p:nvSpPr>
          <p:cNvPr id="44" name="Text 41"/>
          <p:cNvSpPr txBox="1"/>
          <p:nvPr/>
        </p:nvSpPr>
        <p:spPr>
          <a:xfrm>
            <a:off x="6324448" y="3200400"/>
            <a:ext cx="274320" cy="201168"/>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7</a:t>
            </a:r>
            <a:endParaRPr lang="en-US" sz="1000" dirty="0"/>
          </a:p>
        </p:txBody>
      </p:sp>
      <p:sp>
        <p:nvSpPr>
          <p:cNvPr id="45" name="Text 42"/>
          <p:cNvSpPr txBox="1"/>
          <p:nvPr/>
        </p:nvSpPr>
        <p:spPr>
          <a:xfrm>
            <a:off x="6580480" y="3182112"/>
            <a:ext cx="2074088" cy="420624"/>
          </a:xfrm>
          <a:prstGeom prst="rect">
            <a:avLst/>
          </a:prstGeom>
          <a:noFill/>
          <a:ln/>
        </p:spPr>
        <p:txBody>
          <a:bodyPr wrap="square" lIns="0" tIns="0" rIns="0" bIns="0" rtlCol="0" anchor="t"/>
          <a:lstStyle/>
          <a:p>
            <a:pPr algn="l" indent="0" marL="0">
              <a:lnSpc>
                <a:spcPct val="102000"/>
              </a:lnSpc>
              <a:buNone/>
            </a:pPr>
            <a:r>
              <a:rPr lang="en-US" sz="1120" b="1" dirty="0">
                <a:solidFill>
                  <a:srgbClr val="243B53"/>
                </a:solidFill>
                <a:latin typeface="Aptos" pitchFamily="34" charset="0"/>
                <a:ea typeface="Aptos" pitchFamily="34" charset="-122"/>
                <a:cs typeface="Aptos" pitchFamily="34" charset="-120"/>
              </a:rPr>
              <a:t>Asistencia al usuario</a:t>
            </a:r>
            <a:endParaRPr lang="en-US" sz="1120" dirty="0"/>
          </a:p>
        </p:txBody>
      </p:sp>
      <p:sp>
        <p:nvSpPr>
          <p:cNvPr id="46" name="Text 43"/>
          <p:cNvSpPr txBox="1"/>
          <p:nvPr/>
        </p:nvSpPr>
        <p:spPr>
          <a:xfrm>
            <a:off x="6324448" y="3639312"/>
            <a:ext cx="2330120" cy="365760"/>
          </a:xfrm>
          <a:prstGeom prst="rect">
            <a:avLst/>
          </a:prstGeom>
          <a:noFill/>
          <a:ln/>
        </p:spPr>
        <p:txBody>
          <a:bodyPr wrap="square" lIns="0" tIns="0" rIns="0" bIns="0" rtlCol="0" anchor="t"/>
          <a:lstStyle/>
          <a:p>
            <a:pPr algn="l" indent="0" marL="0">
              <a:lnSpc>
                <a:spcPct val="105000"/>
              </a:lnSpc>
              <a:buNone/>
            </a:pPr>
            <a:r>
              <a:rPr lang="en-US" sz="980" dirty="0">
                <a:solidFill>
                  <a:srgbClr val="52606D"/>
                </a:solidFill>
                <a:latin typeface="Aptos" pitchFamily="34" charset="0"/>
                <a:ea typeface="Aptos" pitchFamily="34" charset="-122"/>
                <a:cs typeface="Aptos" pitchFamily="34" charset="-120"/>
              </a:rPr>
              <a:t>Que la persona reciba ayuda.</a:t>
            </a:r>
            <a:endParaRPr lang="en-US" sz="980" dirty="0"/>
          </a:p>
        </p:txBody>
      </p:sp>
      <p:sp>
        <p:nvSpPr>
          <p:cNvPr id="47" name="Text 44"/>
          <p:cNvSpPr txBox="1"/>
          <p:nvPr/>
        </p:nvSpPr>
        <p:spPr>
          <a:xfrm>
            <a:off x="6324448" y="4041648"/>
            <a:ext cx="2330120" cy="146304"/>
          </a:xfrm>
          <a:prstGeom prst="rect">
            <a:avLst/>
          </a:prstGeom>
          <a:noFill/>
          <a:ln/>
        </p:spPr>
        <p:txBody>
          <a:bodyPr wrap="square" lIns="0" tIns="0" rIns="0" bIns="0" rtlCol="0" anchor="t"/>
          <a:lstStyle/>
          <a:p>
            <a:pPr algn="l" indent="0" marL="0">
              <a:buNone/>
            </a:pPr>
            <a:r>
              <a:rPr lang="en-US" sz="740" b="1" spc="60" kern="0" dirty="0">
                <a:solidFill>
                  <a:srgbClr val="8A6A12"/>
                </a:solidFill>
                <a:latin typeface="Aptos" pitchFamily="34" charset="0"/>
                <a:ea typeface="Aptos" pitchFamily="34" charset="-122"/>
                <a:cs typeface="Aptos" pitchFamily="34" charset="-120"/>
              </a:rPr>
              <a:t>SALE DE DIVIDIR LA ACCESIBILIDAD</a:t>
            </a:r>
            <a:endParaRPr lang="en-US" sz="740" dirty="0"/>
          </a:p>
        </p:txBody>
      </p:sp>
      <p:sp>
        <p:nvSpPr>
          <p:cNvPr id="48" name="Shape 45"/>
          <p:cNvSpPr/>
          <p:nvPr/>
        </p:nvSpPr>
        <p:spPr>
          <a:xfrm>
            <a:off x="8910599" y="3072384"/>
            <a:ext cx="2622728" cy="1188720"/>
          </a:xfrm>
          <a:prstGeom prst="rect">
            <a:avLst/>
          </a:prstGeom>
          <a:solidFill>
            <a:srgbClr val="FFFFFF"/>
          </a:solidFill>
          <a:ln w="12700">
            <a:solidFill>
              <a:srgbClr val="FFFFFF"/>
            </a:solidFill>
            <a:prstDash val="solid"/>
          </a:ln>
        </p:spPr>
      </p:sp>
      <p:sp>
        <p:nvSpPr>
          <p:cNvPr id="49" name="Shape 46"/>
          <p:cNvSpPr/>
          <p:nvPr/>
        </p:nvSpPr>
        <p:spPr>
          <a:xfrm>
            <a:off x="8910599" y="3072384"/>
            <a:ext cx="2622728" cy="54864"/>
          </a:xfrm>
          <a:prstGeom prst="rect">
            <a:avLst/>
          </a:prstGeom>
          <a:solidFill>
            <a:srgbClr val="D8CFC4"/>
          </a:solidFill>
          <a:ln w="12700">
            <a:solidFill>
              <a:srgbClr val="D8CFC4"/>
            </a:solidFill>
            <a:prstDash val="solid"/>
          </a:ln>
        </p:spPr>
      </p:sp>
      <p:sp>
        <p:nvSpPr>
          <p:cNvPr id="50" name="Text 47"/>
          <p:cNvSpPr txBox="1"/>
          <p:nvPr/>
        </p:nvSpPr>
        <p:spPr>
          <a:xfrm>
            <a:off x="9075191" y="3200400"/>
            <a:ext cx="274320" cy="201168"/>
          </a:xfrm>
          <a:prstGeom prst="rect">
            <a:avLst/>
          </a:prstGeom>
          <a:noFill/>
          <a:ln/>
        </p:spPr>
        <p:txBody>
          <a:bodyPr wrap="square" lIns="0" tIns="0" rIns="0" bIns="0" rtlCol="0" anchor="t"/>
          <a:lstStyle/>
          <a:p>
            <a:pPr algn="l" indent="0" marL="0">
              <a:buNone/>
            </a:pPr>
            <a:r>
              <a:rPr lang="en-US" sz="1000" b="1" dirty="0">
                <a:solidFill>
                  <a:srgbClr val="52606D"/>
                </a:solidFill>
                <a:latin typeface="Aptos" pitchFamily="34" charset="0"/>
                <a:ea typeface="Aptos" pitchFamily="34" charset="-122"/>
                <a:cs typeface="Aptos" pitchFamily="34" charset="-120"/>
              </a:rPr>
              <a:t>8</a:t>
            </a:r>
            <a:endParaRPr lang="en-US" sz="1000" dirty="0"/>
          </a:p>
        </p:txBody>
      </p:sp>
      <p:sp>
        <p:nvSpPr>
          <p:cNvPr id="51" name="Text 48"/>
          <p:cNvSpPr txBox="1"/>
          <p:nvPr/>
        </p:nvSpPr>
        <p:spPr>
          <a:xfrm>
            <a:off x="9331223" y="3182112"/>
            <a:ext cx="2074088" cy="420624"/>
          </a:xfrm>
          <a:prstGeom prst="rect">
            <a:avLst/>
          </a:prstGeom>
          <a:noFill/>
          <a:ln/>
        </p:spPr>
        <p:txBody>
          <a:bodyPr wrap="square" lIns="0" tIns="0" rIns="0" bIns="0" rtlCol="0" anchor="t"/>
          <a:lstStyle/>
          <a:p>
            <a:pPr algn="l" indent="0" marL="0">
              <a:lnSpc>
                <a:spcPct val="102000"/>
              </a:lnSpc>
              <a:buNone/>
            </a:pPr>
            <a:r>
              <a:rPr lang="en-US" sz="1120" b="1" dirty="0">
                <a:solidFill>
                  <a:srgbClr val="243B53"/>
                </a:solidFill>
                <a:latin typeface="Aptos" pitchFamily="34" charset="0"/>
                <a:ea typeface="Aptos" pitchFamily="34" charset="-122"/>
                <a:cs typeface="Aptos" pitchFamily="34" charset="-120"/>
              </a:rPr>
              <a:t>Autodescriptividad</a:t>
            </a:r>
            <a:endParaRPr lang="en-US" sz="1120" dirty="0"/>
          </a:p>
        </p:txBody>
      </p:sp>
      <p:sp>
        <p:nvSpPr>
          <p:cNvPr id="52" name="Text 49"/>
          <p:cNvSpPr txBox="1"/>
          <p:nvPr/>
        </p:nvSpPr>
        <p:spPr>
          <a:xfrm>
            <a:off x="9075191" y="3639312"/>
            <a:ext cx="2330120" cy="365760"/>
          </a:xfrm>
          <a:prstGeom prst="rect">
            <a:avLst/>
          </a:prstGeom>
          <a:noFill/>
          <a:ln/>
        </p:spPr>
        <p:txBody>
          <a:bodyPr wrap="square" lIns="0" tIns="0" rIns="0" bIns="0" rtlCol="0" anchor="t"/>
          <a:lstStyle/>
          <a:p>
            <a:pPr algn="l" indent="0" marL="0">
              <a:lnSpc>
                <a:spcPct val="105000"/>
              </a:lnSpc>
              <a:buNone/>
            </a:pPr>
            <a:r>
              <a:rPr lang="en-US" sz="980" dirty="0">
                <a:solidFill>
                  <a:srgbClr val="52606D"/>
                </a:solidFill>
                <a:latin typeface="Aptos" pitchFamily="34" charset="0"/>
                <a:ea typeface="Aptos" pitchFamily="34" charset="-122"/>
                <a:cs typeface="Aptos" pitchFamily="34" charset="-120"/>
              </a:rPr>
              <a:t>Que muestre por sí mismo lo que la persona necesita saber.</a:t>
            </a:r>
            <a:endParaRPr lang="en-US" sz="980" dirty="0"/>
          </a:p>
        </p:txBody>
      </p:sp>
      <p:sp>
        <p:nvSpPr>
          <p:cNvPr id="53" name="Text 50"/>
          <p:cNvSpPr txBox="1"/>
          <p:nvPr/>
        </p:nvSpPr>
        <p:spPr>
          <a:xfrm>
            <a:off x="9075191" y="4041648"/>
            <a:ext cx="2330120" cy="146304"/>
          </a:xfrm>
          <a:prstGeom prst="rect">
            <a:avLst/>
          </a:prstGeom>
          <a:noFill/>
          <a:ln/>
        </p:spPr>
        <p:txBody>
          <a:bodyPr wrap="square" lIns="0" tIns="0" rIns="0" bIns="0" rtlCol="0" anchor="t"/>
          <a:lstStyle/>
          <a:p>
            <a:pPr algn="l" indent="0" marL="0">
              <a:buNone/>
            </a:pPr>
            <a:r>
              <a:rPr lang="en-US" sz="740" b="1" spc="60" kern="0" dirty="0">
                <a:solidFill>
                  <a:srgbClr val="8A6A12"/>
                </a:solidFill>
                <a:latin typeface="Aptos" pitchFamily="34" charset="0"/>
                <a:ea typeface="Aptos" pitchFamily="34" charset="-122"/>
                <a:cs typeface="Aptos" pitchFamily="34" charset="-120"/>
              </a:rPr>
              <a:t>NUEVA EN 2023</a:t>
            </a:r>
            <a:endParaRPr lang="en-US" sz="740" dirty="0"/>
          </a:p>
        </p:txBody>
      </p:sp>
      <p:sp>
        <p:nvSpPr>
          <p:cNvPr id="54" name="Shape 51"/>
          <p:cNvSpPr/>
          <p:nvPr/>
        </p:nvSpPr>
        <p:spPr>
          <a:xfrm>
            <a:off x="658368" y="4425696"/>
            <a:ext cx="10874959" cy="950976"/>
          </a:xfrm>
          <a:prstGeom prst="rect">
            <a:avLst/>
          </a:prstGeom>
          <a:solidFill>
            <a:srgbClr val="EDE6DA"/>
          </a:solidFill>
          <a:ln w="12700">
            <a:solidFill>
              <a:srgbClr val="EDE6DA"/>
            </a:solidFill>
            <a:prstDash val="solid"/>
          </a:ln>
        </p:spPr>
      </p:sp>
      <p:sp>
        <p:nvSpPr>
          <p:cNvPr id="55" name="Shape 52"/>
          <p:cNvSpPr/>
          <p:nvPr/>
        </p:nvSpPr>
        <p:spPr>
          <a:xfrm>
            <a:off x="658368" y="4425696"/>
            <a:ext cx="54864" cy="950976"/>
          </a:xfrm>
          <a:prstGeom prst="rect">
            <a:avLst/>
          </a:prstGeom>
          <a:solidFill>
            <a:srgbClr val="B3181E"/>
          </a:solidFill>
          <a:ln w="12700">
            <a:solidFill>
              <a:srgbClr val="B3181E"/>
            </a:solidFill>
            <a:prstDash val="solid"/>
          </a:ln>
        </p:spPr>
      </p:sp>
      <p:sp>
        <p:nvSpPr>
          <p:cNvPr id="56" name="Text 53"/>
          <p:cNvSpPr txBox="1"/>
          <p:nvPr/>
        </p:nvSpPr>
        <p:spPr>
          <a:xfrm>
            <a:off x="914400" y="4553712"/>
            <a:ext cx="10362895" cy="512064"/>
          </a:xfrm>
          <a:prstGeom prst="rect">
            <a:avLst/>
          </a:prstGeom>
          <a:noFill/>
          <a:ln/>
        </p:spPr>
        <p:txBody>
          <a:bodyPr wrap="square" lIns="0" tIns="0" rIns="0" bIns="0" rtlCol="0" anchor="t"/>
          <a:lstStyle/>
          <a:p>
            <a:pPr algn="l" indent="0" marL="0">
              <a:lnSpc>
                <a:spcPct val="116000"/>
              </a:lnSpc>
              <a:buNone/>
            </a:pPr>
            <a:r>
              <a:rPr lang="en-US" sz="1180" i="1" dirty="0">
                <a:solidFill>
                  <a:srgbClr val="243B53"/>
                </a:solidFill>
                <a:latin typeface="Aptos" pitchFamily="34" charset="0"/>
                <a:ea typeface="Aptos" pitchFamily="34" charset="-122"/>
                <a:cs typeface="Aptos" pitchFamily="34" charset="-120"/>
              </a:rPr>
              <a:t>«Protección frente a errores del usuario: capacidad de un producto de prevenir errores de operación.»</a:t>
            </a:r>
            <a:endParaRPr lang="en-US" sz="1180" dirty="0"/>
          </a:p>
        </p:txBody>
      </p:sp>
      <p:sp>
        <p:nvSpPr>
          <p:cNvPr id="57" name="Text 54"/>
          <p:cNvSpPr txBox="1"/>
          <p:nvPr/>
        </p:nvSpPr>
        <p:spPr>
          <a:xfrm>
            <a:off x="914400" y="5102352"/>
            <a:ext cx="10362895" cy="182880"/>
          </a:xfrm>
          <a:prstGeom prst="rect">
            <a:avLst/>
          </a:prstGeom>
          <a:noFill/>
          <a:ln/>
        </p:spPr>
        <p:txBody>
          <a:bodyPr wrap="square" lIns="0" tIns="0" rIns="0" bIns="0" rtlCol="0" anchor="t"/>
          <a:lstStyle/>
          <a:p>
            <a:pPr algn="l" indent="0" marL="0">
              <a:buNone/>
            </a:pPr>
            <a:r>
              <a:rPr lang="en-US" sz="900" b="1" dirty="0">
                <a:solidFill>
                  <a:srgbClr val="B3181E"/>
                </a:solidFill>
                <a:latin typeface="Aptos" pitchFamily="34" charset="0"/>
                <a:ea typeface="Aptos" pitchFamily="34" charset="-122"/>
                <a:cs typeface="Aptos" pitchFamily="34" charset="-120"/>
              </a:rPr>
              <a:t>ISO/IEC 25010:2023, cláusula 3.4.4 · user error protection · traducción del original en inglés</a:t>
            </a:r>
            <a:endParaRPr lang="en-US" sz="900" dirty="0"/>
          </a:p>
        </p:txBody>
      </p:sp>
      <p:sp>
        <p:nvSpPr>
          <p:cNvPr id="58" name="Shape 55"/>
          <p:cNvSpPr/>
          <p:nvPr/>
        </p:nvSpPr>
        <p:spPr>
          <a:xfrm>
            <a:off x="658368" y="5650992"/>
            <a:ext cx="10874959" cy="548640"/>
          </a:xfrm>
          <a:prstGeom prst="rect">
            <a:avLst/>
          </a:prstGeom>
          <a:solidFill>
            <a:srgbClr val="102A43"/>
          </a:solidFill>
          <a:ln w="12700">
            <a:solidFill>
              <a:srgbClr val="102A43"/>
            </a:solidFill>
            <a:prstDash val="solid"/>
          </a:ln>
        </p:spPr>
      </p:sp>
      <p:sp>
        <p:nvSpPr>
          <p:cNvPr id="59" name="Text 5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Aptos" pitchFamily="34" charset="0"/>
                <a:ea typeface="Aptos" pitchFamily="34" charset="-122"/>
                <a:cs typeface="Aptos" pitchFamily="34" charset="-120"/>
              </a:rPr>
              <a:t>Apretar dos veces es un error de operación, y el producto no lo previene: lo convierte en dos solicitudes.</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DOS CRITERIOS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Del mismo hallazgo salen dos criterios distintos</a:t>
            </a:r>
            <a:endParaRPr lang="en-US" sz="2800" dirty="0"/>
          </a:p>
        </p:txBody>
      </p:sp>
      <p:sp>
        <p:nvSpPr>
          <p:cNvPr id="10" name="Shape 7"/>
          <p:cNvSpPr/>
          <p:nvPr/>
        </p:nvSpPr>
        <p:spPr>
          <a:xfrm>
            <a:off x="2359152" y="1755648"/>
            <a:ext cx="4513936" cy="420624"/>
          </a:xfrm>
          <a:prstGeom prst="rect">
            <a:avLst/>
          </a:prstGeom>
          <a:solidFill>
            <a:srgbClr val="102A43"/>
          </a:solidFill>
          <a:ln w="12700">
            <a:solidFill>
              <a:srgbClr val="102A43"/>
            </a:solidFill>
            <a:prstDash val="solid"/>
          </a:ln>
        </p:spPr>
      </p:sp>
      <p:sp>
        <p:nvSpPr>
          <p:cNvPr id="11" name="Text 8"/>
          <p:cNvSpPr txBox="1"/>
          <p:nvPr/>
        </p:nvSpPr>
        <p:spPr>
          <a:xfrm>
            <a:off x="2542032" y="1792224"/>
            <a:ext cx="4148176" cy="347472"/>
          </a:xfrm>
          <a:prstGeom prst="rect">
            <a:avLst/>
          </a:prstGeom>
          <a:noFill/>
          <a:ln/>
        </p:spPr>
        <p:txBody>
          <a:bodyPr wrap="square" lIns="0" tIns="0" rIns="0" bIns="0" rtlCol="0" anchor="ctr"/>
          <a:lstStyle/>
          <a:p>
            <a:pPr algn="l" indent="0" marL="0">
              <a:buNone/>
            </a:pPr>
            <a:r>
              <a:rPr lang="en-US" sz="1260" b="1" dirty="0">
                <a:solidFill>
                  <a:srgbClr val="FFFFFF"/>
                </a:solidFill>
                <a:latin typeface="Aptos" pitchFamily="34" charset="0"/>
                <a:ea typeface="Aptos" pitchFamily="34" charset="-122"/>
                <a:cs typeface="Aptos" pitchFamily="34" charset="-120"/>
              </a:rPr>
              <a:t>Criterio A · el mecanismo</a:t>
            </a:r>
            <a:endParaRPr lang="en-US" sz="1260" dirty="0"/>
          </a:p>
        </p:txBody>
      </p:sp>
      <p:sp>
        <p:nvSpPr>
          <p:cNvPr id="12" name="Shape 9"/>
          <p:cNvSpPr/>
          <p:nvPr/>
        </p:nvSpPr>
        <p:spPr>
          <a:xfrm>
            <a:off x="7019392" y="1755648"/>
            <a:ext cx="4513936" cy="420624"/>
          </a:xfrm>
          <a:prstGeom prst="rect">
            <a:avLst/>
          </a:prstGeom>
          <a:solidFill>
            <a:srgbClr val="8A6A12"/>
          </a:solidFill>
          <a:ln w="12700">
            <a:solidFill>
              <a:srgbClr val="8A6A12"/>
            </a:solidFill>
            <a:prstDash val="solid"/>
          </a:ln>
        </p:spPr>
      </p:sp>
      <p:sp>
        <p:nvSpPr>
          <p:cNvPr id="13" name="Text 10"/>
          <p:cNvSpPr txBox="1"/>
          <p:nvPr/>
        </p:nvSpPr>
        <p:spPr>
          <a:xfrm>
            <a:off x="7202272" y="1792224"/>
            <a:ext cx="4148176" cy="347472"/>
          </a:xfrm>
          <a:prstGeom prst="rect">
            <a:avLst/>
          </a:prstGeom>
          <a:noFill/>
          <a:ln/>
        </p:spPr>
        <p:txBody>
          <a:bodyPr wrap="square" lIns="0" tIns="0" rIns="0" bIns="0" rtlCol="0" anchor="ctr"/>
          <a:lstStyle/>
          <a:p>
            <a:pPr algn="l" indent="0" marL="0">
              <a:buNone/>
            </a:pPr>
            <a:r>
              <a:rPr lang="en-US" sz="1260" b="1" dirty="0">
                <a:solidFill>
                  <a:srgbClr val="FFFFFF"/>
                </a:solidFill>
                <a:latin typeface="Aptos" pitchFamily="34" charset="0"/>
                <a:ea typeface="Aptos" pitchFamily="34" charset="-122"/>
                <a:cs typeface="Aptos" pitchFamily="34" charset="-120"/>
              </a:rPr>
              <a:t>Criterio B · lo que la persona ve</a:t>
            </a:r>
            <a:endParaRPr lang="en-US" sz="1260" dirty="0"/>
          </a:p>
        </p:txBody>
      </p:sp>
      <p:sp>
        <p:nvSpPr>
          <p:cNvPr id="14" name="Text 11"/>
          <p:cNvSpPr txBox="1"/>
          <p:nvPr/>
        </p:nvSpPr>
        <p:spPr>
          <a:xfrm>
            <a:off x="658368" y="2340864"/>
            <a:ext cx="1554480" cy="548640"/>
          </a:xfrm>
          <a:prstGeom prst="rect">
            <a:avLst/>
          </a:prstGeom>
          <a:noFill/>
          <a:ln/>
        </p:spPr>
        <p:txBody>
          <a:bodyPr wrap="square" lIns="0" tIns="0" rIns="0" bIns="0" rtlCol="0" anchor="ctr"/>
          <a:lstStyle/>
          <a:p>
            <a:pPr algn="l" indent="0" marL="0">
              <a:buNone/>
            </a:pPr>
            <a:r>
              <a:rPr lang="en-US" sz="1000" b="1" spc="100" kern="0" dirty="0">
                <a:solidFill>
                  <a:srgbClr val="52606D"/>
                </a:solidFill>
                <a:latin typeface="Aptos" pitchFamily="34" charset="0"/>
                <a:ea typeface="Aptos" pitchFamily="34" charset="-122"/>
                <a:cs typeface="Aptos" pitchFamily="34" charset="-120"/>
              </a:rPr>
              <a:t>MAGNITUD</a:t>
            </a:r>
            <a:endParaRPr lang="en-US" sz="1000" dirty="0"/>
          </a:p>
        </p:txBody>
      </p:sp>
      <p:sp>
        <p:nvSpPr>
          <p:cNvPr id="15" name="Shape 12"/>
          <p:cNvSpPr/>
          <p:nvPr/>
        </p:nvSpPr>
        <p:spPr>
          <a:xfrm>
            <a:off x="2359152" y="2267712"/>
            <a:ext cx="4513936" cy="713232"/>
          </a:xfrm>
          <a:prstGeom prst="rect">
            <a:avLst/>
          </a:prstGeom>
          <a:solidFill>
            <a:srgbClr val="FFFFFF"/>
          </a:solidFill>
          <a:ln w="12700">
            <a:solidFill>
              <a:srgbClr val="FFFFFF"/>
            </a:solidFill>
            <a:prstDash val="solid"/>
          </a:ln>
        </p:spPr>
      </p:sp>
      <p:sp>
        <p:nvSpPr>
          <p:cNvPr id="16" name="Text 13"/>
          <p:cNvSpPr txBox="1"/>
          <p:nvPr/>
        </p:nvSpPr>
        <p:spPr>
          <a:xfrm>
            <a:off x="2542032" y="2340864"/>
            <a:ext cx="4148176" cy="566928"/>
          </a:xfrm>
          <a:prstGeom prst="rect">
            <a:avLst/>
          </a:prstGeom>
          <a:noFill/>
          <a:ln/>
        </p:spPr>
        <p:txBody>
          <a:bodyPr wrap="square" lIns="0" tIns="0" rIns="0" bIns="0" rtlCol="0" anchor="ctr"/>
          <a:lstStyle/>
          <a:p>
            <a:pPr algn="l" indent="0" marL="0">
              <a:lnSpc>
                <a:spcPct val="110000"/>
              </a:lnSpc>
              <a:buNone/>
            </a:pPr>
            <a:r>
              <a:rPr lang="en-US" sz="1160" dirty="0">
                <a:solidFill>
                  <a:srgbClr val="243B53"/>
                </a:solidFill>
                <a:latin typeface="Aptos" pitchFamily="34" charset="0"/>
                <a:ea typeface="Aptos" pitchFamily="34" charset="-122"/>
                <a:cs typeface="Aptos" pitchFamily="34" charset="-120"/>
              </a:rPr>
              <a:t>Cantidad de solicitudes de reserva que envía la página ante un doble clic.</a:t>
            </a:r>
            <a:endParaRPr lang="en-US" sz="1160" dirty="0"/>
          </a:p>
        </p:txBody>
      </p:sp>
      <p:sp>
        <p:nvSpPr>
          <p:cNvPr id="17" name="Shape 14"/>
          <p:cNvSpPr/>
          <p:nvPr/>
        </p:nvSpPr>
        <p:spPr>
          <a:xfrm>
            <a:off x="7019392" y="2267712"/>
            <a:ext cx="4513936" cy="713232"/>
          </a:xfrm>
          <a:prstGeom prst="rect">
            <a:avLst/>
          </a:prstGeom>
          <a:solidFill>
            <a:srgbClr val="FFFFFF"/>
          </a:solidFill>
          <a:ln w="12700">
            <a:solidFill>
              <a:srgbClr val="FFFFFF"/>
            </a:solidFill>
            <a:prstDash val="solid"/>
          </a:ln>
        </p:spPr>
      </p:sp>
      <p:sp>
        <p:nvSpPr>
          <p:cNvPr id="18" name="Text 15"/>
          <p:cNvSpPr txBox="1"/>
          <p:nvPr/>
        </p:nvSpPr>
        <p:spPr>
          <a:xfrm>
            <a:off x="7202272" y="2340864"/>
            <a:ext cx="4148176" cy="566928"/>
          </a:xfrm>
          <a:prstGeom prst="rect">
            <a:avLst/>
          </a:prstGeom>
          <a:noFill/>
          <a:ln/>
        </p:spPr>
        <p:txBody>
          <a:bodyPr wrap="square" lIns="0" tIns="0" rIns="0" bIns="0" rtlCol="0" anchor="ctr"/>
          <a:lstStyle/>
          <a:p>
            <a:pPr algn="l" indent="0" marL="0">
              <a:lnSpc>
                <a:spcPct val="110000"/>
              </a:lnSpc>
              <a:buNone/>
            </a:pPr>
            <a:r>
              <a:rPr lang="en-US" sz="1160" dirty="0">
                <a:solidFill>
                  <a:srgbClr val="243B53"/>
                </a:solidFill>
                <a:latin typeface="Aptos" pitchFamily="34" charset="0"/>
                <a:ea typeface="Aptos" pitchFamily="34" charset="-122"/>
                <a:cs typeface="Aptos" pitchFamily="34" charset="-120"/>
              </a:rPr>
              <a:t>Coincidencia entre el mensaje final y el estado real del bloque.</a:t>
            </a:r>
            <a:endParaRPr lang="en-US" sz="1160" dirty="0"/>
          </a:p>
        </p:txBody>
      </p:sp>
      <p:sp>
        <p:nvSpPr>
          <p:cNvPr id="19" name="Text 16"/>
          <p:cNvSpPr txBox="1"/>
          <p:nvPr/>
        </p:nvSpPr>
        <p:spPr>
          <a:xfrm>
            <a:off x="658368" y="3145536"/>
            <a:ext cx="1554480" cy="548640"/>
          </a:xfrm>
          <a:prstGeom prst="rect">
            <a:avLst/>
          </a:prstGeom>
          <a:noFill/>
          <a:ln/>
        </p:spPr>
        <p:txBody>
          <a:bodyPr wrap="square" lIns="0" tIns="0" rIns="0" bIns="0" rtlCol="0" anchor="ctr"/>
          <a:lstStyle/>
          <a:p>
            <a:pPr algn="l" indent="0" marL="0">
              <a:buNone/>
            </a:pPr>
            <a:r>
              <a:rPr lang="en-US" sz="1000" b="1" spc="100" kern="0" dirty="0">
                <a:solidFill>
                  <a:srgbClr val="52606D"/>
                </a:solidFill>
                <a:latin typeface="Aptos" pitchFamily="34" charset="0"/>
                <a:ea typeface="Aptos" pitchFamily="34" charset="-122"/>
                <a:cs typeface="Aptos" pitchFamily="34" charset="-120"/>
              </a:rPr>
              <a:t>MÉTODO</a:t>
            </a:r>
            <a:endParaRPr lang="en-US" sz="1000" dirty="0"/>
          </a:p>
        </p:txBody>
      </p:sp>
      <p:sp>
        <p:nvSpPr>
          <p:cNvPr id="20" name="Shape 17"/>
          <p:cNvSpPr/>
          <p:nvPr/>
        </p:nvSpPr>
        <p:spPr>
          <a:xfrm>
            <a:off x="2359152" y="3072384"/>
            <a:ext cx="4513936" cy="713232"/>
          </a:xfrm>
          <a:prstGeom prst="rect">
            <a:avLst/>
          </a:prstGeom>
          <a:solidFill>
            <a:srgbClr val="FFFFFF"/>
          </a:solidFill>
          <a:ln w="12700">
            <a:solidFill>
              <a:srgbClr val="FFFFFF"/>
            </a:solidFill>
            <a:prstDash val="solid"/>
          </a:ln>
        </p:spPr>
      </p:sp>
      <p:sp>
        <p:nvSpPr>
          <p:cNvPr id="21" name="Text 18"/>
          <p:cNvSpPr txBox="1"/>
          <p:nvPr/>
        </p:nvSpPr>
        <p:spPr>
          <a:xfrm>
            <a:off x="2542032" y="3145536"/>
            <a:ext cx="4148176" cy="566928"/>
          </a:xfrm>
          <a:prstGeom prst="rect">
            <a:avLst/>
          </a:prstGeom>
          <a:noFill/>
          <a:ln/>
        </p:spPr>
        <p:txBody>
          <a:bodyPr wrap="square" lIns="0" tIns="0" rIns="0" bIns="0" rtlCol="0" anchor="ctr"/>
          <a:lstStyle/>
          <a:p>
            <a:pPr algn="l" indent="0" marL="0">
              <a:lnSpc>
                <a:spcPct val="110000"/>
              </a:lnSpc>
              <a:buNone/>
            </a:pPr>
            <a:r>
              <a:rPr lang="en-US" sz="1160" dirty="0">
                <a:solidFill>
                  <a:srgbClr val="243B53"/>
                </a:solidFill>
                <a:latin typeface="Aptos" pitchFamily="34" charset="0"/>
                <a:ea typeface="Aptos" pitchFamily="34" charset="-122"/>
                <a:cs typeface="Aptos" pitchFamily="34" charset="-120"/>
              </a:rPr>
              <a:t>Registrar las solicitudes que salen de la página mientras se hace el doble clic.</a:t>
            </a:r>
            <a:endParaRPr lang="en-US" sz="1160" dirty="0"/>
          </a:p>
        </p:txBody>
      </p:sp>
      <p:sp>
        <p:nvSpPr>
          <p:cNvPr id="22" name="Shape 19"/>
          <p:cNvSpPr/>
          <p:nvPr/>
        </p:nvSpPr>
        <p:spPr>
          <a:xfrm>
            <a:off x="7019392" y="3072384"/>
            <a:ext cx="4513936" cy="713232"/>
          </a:xfrm>
          <a:prstGeom prst="rect">
            <a:avLst/>
          </a:prstGeom>
          <a:solidFill>
            <a:srgbClr val="FFFFFF"/>
          </a:solidFill>
          <a:ln w="12700">
            <a:solidFill>
              <a:srgbClr val="FFFFFF"/>
            </a:solidFill>
            <a:prstDash val="solid"/>
          </a:ln>
        </p:spPr>
      </p:sp>
      <p:sp>
        <p:nvSpPr>
          <p:cNvPr id="23" name="Text 20"/>
          <p:cNvSpPr txBox="1"/>
          <p:nvPr/>
        </p:nvSpPr>
        <p:spPr>
          <a:xfrm>
            <a:off x="7202272" y="3145536"/>
            <a:ext cx="4148176" cy="566928"/>
          </a:xfrm>
          <a:prstGeom prst="rect">
            <a:avLst/>
          </a:prstGeom>
          <a:noFill/>
          <a:ln/>
        </p:spPr>
        <p:txBody>
          <a:bodyPr wrap="square" lIns="0" tIns="0" rIns="0" bIns="0" rtlCol="0" anchor="ctr"/>
          <a:lstStyle/>
          <a:p>
            <a:pPr algn="l" indent="0" marL="0">
              <a:lnSpc>
                <a:spcPct val="110000"/>
              </a:lnSpc>
              <a:buNone/>
            </a:pPr>
            <a:r>
              <a:rPr lang="en-US" sz="1160" dirty="0">
                <a:solidFill>
                  <a:srgbClr val="243B53"/>
                </a:solidFill>
                <a:latin typeface="Aptos" pitchFamily="34" charset="0"/>
                <a:ea typeface="Aptos" pitchFamily="34" charset="-122"/>
                <a:cs typeface="Aptos" pitchFamily="34" charset="-120"/>
              </a:rPr>
              <a:t>Hacer el doble clic, esperar a que la ficha del bloque cambie y leer el mensaje.</a:t>
            </a:r>
            <a:endParaRPr lang="en-US" sz="1160" dirty="0"/>
          </a:p>
        </p:txBody>
      </p:sp>
      <p:sp>
        <p:nvSpPr>
          <p:cNvPr id="24" name="Text 21"/>
          <p:cNvSpPr txBox="1"/>
          <p:nvPr/>
        </p:nvSpPr>
        <p:spPr>
          <a:xfrm>
            <a:off x="658368" y="3950208"/>
            <a:ext cx="1554480" cy="548640"/>
          </a:xfrm>
          <a:prstGeom prst="rect">
            <a:avLst/>
          </a:prstGeom>
          <a:noFill/>
          <a:ln/>
        </p:spPr>
        <p:txBody>
          <a:bodyPr wrap="square" lIns="0" tIns="0" rIns="0" bIns="0" rtlCol="0" anchor="ctr"/>
          <a:lstStyle/>
          <a:p>
            <a:pPr algn="l" indent="0" marL="0">
              <a:buNone/>
            </a:pPr>
            <a:r>
              <a:rPr lang="en-US" sz="1000" b="1" spc="100" kern="0" dirty="0">
                <a:solidFill>
                  <a:srgbClr val="52606D"/>
                </a:solidFill>
                <a:latin typeface="Aptos" pitchFamily="34" charset="0"/>
                <a:ea typeface="Aptos" pitchFamily="34" charset="-122"/>
                <a:cs typeface="Aptos" pitchFamily="34" charset="-120"/>
              </a:rPr>
              <a:t>UMBRAL</a:t>
            </a:r>
            <a:endParaRPr lang="en-US" sz="1000" dirty="0"/>
          </a:p>
        </p:txBody>
      </p:sp>
      <p:sp>
        <p:nvSpPr>
          <p:cNvPr id="25" name="Shape 22"/>
          <p:cNvSpPr/>
          <p:nvPr/>
        </p:nvSpPr>
        <p:spPr>
          <a:xfrm>
            <a:off x="2359152" y="3877056"/>
            <a:ext cx="4513936" cy="713232"/>
          </a:xfrm>
          <a:prstGeom prst="rect">
            <a:avLst/>
          </a:prstGeom>
          <a:solidFill>
            <a:srgbClr val="FFFFFF"/>
          </a:solidFill>
          <a:ln w="12700">
            <a:solidFill>
              <a:srgbClr val="FFFFFF"/>
            </a:solidFill>
            <a:prstDash val="solid"/>
          </a:ln>
        </p:spPr>
      </p:sp>
      <p:sp>
        <p:nvSpPr>
          <p:cNvPr id="26" name="Text 23"/>
          <p:cNvSpPr txBox="1"/>
          <p:nvPr/>
        </p:nvSpPr>
        <p:spPr>
          <a:xfrm>
            <a:off x="2542032" y="3950208"/>
            <a:ext cx="4148176" cy="566928"/>
          </a:xfrm>
          <a:prstGeom prst="rect">
            <a:avLst/>
          </a:prstGeom>
          <a:noFill/>
          <a:ln/>
        </p:spPr>
        <p:txBody>
          <a:bodyPr wrap="square" lIns="0" tIns="0" rIns="0" bIns="0" rtlCol="0" anchor="ctr"/>
          <a:lstStyle/>
          <a:p>
            <a:pPr algn="l" indent="0" marL="0">
              <a:lnSpc>
                <a:spcPct val="110000"/>
              </a:lnSpc>
              <a:buNone/>
            </a:pPr>
            <a:r>
              <a:rPr lang="en-US" sz="1160" dirty="0">
                <a:solidFill>
                  <a:srgbClr val="243B53"/>
                </a:solidFill>
                <a:latin typeface="Aptos" pitchFamily="34" charset="0"/>
                <a:ea typeface="Aptos" pitchFamily="34" charset="-122"/>
                <a:cs typeface="Aptos" pitchFamily="34" charset="-120"/>
              </a:rPr>
              <a:t>Exactamente una.</a:t>
            </a:r>
            <a:endParaRPr lang="en-US" sz="1160" dirty="0"/>
          </a:p>
        </p:txBody>
      </p:sp>
      <p:sp>
        <p:nvSpPr>
          <p:cNvPr id="27" name="Shape 24"/>
          <p:cNvSpPr/>
          <p:nvPr/>
        </p:nvSpPr>
        <p:spPr>
          <a:xfrm>
            <a:off x="7019392" y="3877056"/>
            <a:ext cx="4513936" cy="713232"/>
          </a:xfrm>
          <a:prstGeom prst="rect">
            <a:avLst/>
          </a:prstGeom>
          <a:solidFill>
            <a:srgbClr val="FFFFFF"/>
          </a:solidFill>
          <a:ln w="12700">
            <a:solidFill>
              <a:srgbClr val="FFFFFF"/>
            </a:solidFill>
            <a:prstDash val="solid"/>
          </a:ln>
        </p:spPr>
      </p:sp>
      <p:sp>
        <p:nvSpPr>
          <p:cNvPr id="28" name="Text 25"/>
          <p:cNvSpPr txBox="1"/>
          <p:nvPr/>
        </p:nvSpPr>
        <p:spPr>
          <a:xfrm>
            <a:off x="7202272" y="3950208"/>
            <a:ext cx="4148176" cy="566928"/>
          </a:xfrm>
          <a:prstGeom prst="rect">
            <a:avLst/>
          </a:prstGeom>
          <a:noFill/>
          <a:ln/>
        </p:spPr>
        <p:txBody>
          <a:bodyPr wrap="square" lIns="0" tIns="0" rIns="0" bIns="0" rtlCol="0" anchor="ctr"/>
          <a:lstStyle/>
          <a:p>
            <a:pPr algn="l" indent="0" marL="0">
              <a:lnSpc>
                <a:spcPct val="110000"/>
              </a:lnSpc>
              <a:buNone/>
            </a:pPr>
            <a:r>
              <a:rPr lang="en-US" sz="1160" dirty="0">
                <a:solidFill>
                  <a:srgbClr val="243B53"/>
                </a:solidFill>
                <a:latin typeface="Aptos" pitchFamily="34" charset="0"/>
                <a:ea typeface="Aptos" pitchFamily="34" charset="-122"/>
                <a:cs typeface="Aptos" pitchFamily="34" charset="-120"/>
              </a:rPr>
              <a:t>Si la ficha dice «Tomado», el mensaje dice «Reserva confirmada».</a:t>
            </a:r>
            <a:endParaRPr lang="en-US" sz="1160" dirty="0"/>
          </a:p>
        </p:txBody>
      </p:sp>
      <p:sp>
        <p:nvSpPr>
          <p:cNvPr id="29" name="Text 26"/>
          <p:cNvSpPr txBox="1"/>
          <p:nvPr/>
        </p:nvSpPr>
        <p:spPr>
          <a:xfrm>
            <a:off x="658368" y="4754880"/>
            <a:ext cx="1554480" cy="548640"/>
          </a:xfrm>
          <a:prstGeom prst="rect">
            <a:avLst/>
          </a:prstGeom>
          <a:noFill/>
          <a:ln/>
        </p:spPr>
        <p:txBody>
          <a:bodyPr wrap="square" lIns="0" tIns="0" rIns="0" bIns="0" rtlCol="0" anchor="ctr"/>
          <a:lstStyle/>
          <a:p>
            <a:pPr algn="l" indent="0" marL="0">
              <a:buNone/>
            </a:pPr>
            <a:r>
              <a:rPr lang="en-US" sz="1000" b="1" spc="100" kern="0" dirty="0">
                <a:solidFill>
                  <a:srgbClr val="2E7D4F"/>
                </a:solidFill>
                <a:latin typeface="Aptos" pitchFamily="34" charset="0"/>
                <a:ea typeface="Aptos" pitchFamily="34" charset="-122"/>
                <a:cs typeface="Aptos" pitchFamily="34" charset="-120"/>
              </a:rPr>
              <a:t>CRITERIO</a:t>
            </a:r>
            <a:endParaRPr lang="en-US" sz="1000" dirty="0"/>
          </a:p>
        </p:txBody>
      </p:sp>
      <p:sp>
        <p:nvSpPr>
          <p:cNvPr id="30" name="Shape 27"/>
          <p:cNvSpPr/>
          <p:nvPr/>
        </p:nvSpPr>
        <p:spPr>
          <a:xfrm>
            <a:off x="2359152" y="4681728"/>
            <a:ext cx="4513936" cy="713232"/>
          </a:xfrm>
          <a:prstGeom prst="rect">
            <a:avLst/>
          </a:prstGeom>
          <a:solidFill>
            <a:srgbClr val="F2E7D9"/>
          </a:solidFill>
          <a:ln w="12700">
            <a:solidFill>
              <a:srgbClr val="F2E7D9"/>
            </a:solidFill>
            <a:prstDash val="solid"/>
          </a:ln>
        </p:spPr>
      </p:sp>
      <p:sp>
        <p:nvSpPr>
          <p:cNvPr id="31" name="Text 28"/>
          <p:cNvSpPr txBox="1"/>
          <p:nvPr/>
        </p:nvSpPr>
        <p:spPr>
          <a:xfrm>
            <a:off x="2542032" y="4754880"/>
            <a:ext cx="4148176" cy="566928"/>
          </a:xfrm>
          <a:prstGeom prst="rect">
            <a:avLst/>
          </a:prstGeom>
          <a:noFill/>
          <a:ln/>
        </p:spPr>
        <p:txBody>
          <a:bodyPr wrap="square" lIns="0" tIns="0" rIns="0" bIns="0" rtlCol="0" anchor="ctr"/>
          <a:lstStyle/>
          <a:p>
            <a:pPr algn="l" indent="0" marL="0">
              <a:lnSpc>
                <a:spcPct val="110000"/>
              </a:lnSpc>
              <a:buNone/>
            </a:pPr>
            <a:r>
              <a:rPr lang="en-US" sz="1160" b="1" i="1" dirty="0">
                <a:solidFill>
                  <a:srgbClr val="243B53"/>
                </a:solidFill>
                <a:latin typeface="Aptos" pitchFamily="34" charset="0"/>
                <a:ea typeface="Aptos" pitchFamily="34" charset="-122"/>
                <a:cs typeface="Aptos" pitchFamily="34" charset="-120"/>
              </a:rPr>
              <a:t>Un doble clic en «Reservar» envía una sola solicitud de reserva.</a:t>
            </a:r>
            <a:endParaRPr lang="en-US" sz="1160" dirty="0"/>
          </a:p>
        </p:txBody>
      </p:sp>
      <p:sp>
        <p:nvSpPr>
          <p:cNvPr id="32" name="Shape 29"/>
          <p:cNvSpPr/>
          <p:nvPr/>
        </p:nvSpPr>
        <p:spPr>
          <a:xfrm>
            <a:off x="7019392" y="4681728"/>
            <a:ext cx="4513936" cy="713232"/>
          </a:xfrm>
          <a:prstGeom prst="rect">
            <a:avLst/>
          </a:prstGeom>
          <a:solidFill>
            <a:srgbClr val="F2E7D9"/>
          </a:solidFill>
          <a:ln w="12700">
            <a:solidFill>
              <a:srgbClr val="F2E7D9"/>
            </a:solidFill>
            <a:prstDash val="solid"/>
          </a:ln>
        </p:spPr>
      </p:sp>
      <p:sp>
        <p:nvSpPr>
          <p:cNvPr id="33" name="Text 30"/>
          <p:cNvSpPr txBox="1"/>
          <p:nvPr/>
        </p:nvSpPr>
        <p:spPr>
          <a:xfrm>
            <a:off x="7202272" y="4754880"/>
            <a:ext cx="4148176" cy="566928"/>
          </a:xfrm>
          <a:prstGeom prst="rect">
            <a:avLst/>
          </a:prstGeom>
          <a:noFill/>
          <a:ln/>
        </p:spPr>
        <p:txBody>
          <a:bodyPr wrap="square" lIns="0" tIns="0" rIns="0" bIns="0" rtlCol="0" anchor="ctr"/>
          <a:lstStyle/>
          <a:p>
            <a:pPr algn="l" indent="0" marL="0">
              <a:lnSpc>
                <a:spcPct val="110000"/>
              </a:lnSpc>
              <a:buNone/>
            </a:pPr>
            <a:r>
              <a:rPr lang="en-US" sz="1160" b="1" i="1" dirty="0">
                <a:solidFill>
                  <a:srgbClr val="243B53"/>
                </a:solidFill>
                <a:latin typeface="Aptos" pitchFamily="34" charset="0"/>
                <a:ea typeface="Aptos" pitchFamily="34" charset="-122"/>
                <a:cs typeface="Aptos" pitchFamily="34" charset="-120"/>
              </a:rPr>
              <a:t>Tras un doble clic, el mensaje dice lo que realmente pasó.</a:t>
            </a:r>
            <a:endParaRPr lang="en-US" sz="1160" dirty="0"/>
          </a:p>
        </p:txBody>
      </p:sp>
      <p:sp>
        <p:nvSpPr>
          <p:cNvPr id="34" name="Shape 31"/>
          <p:cNvSpPr/>
          <p:nvPr/>
        </p:nvSpPr>
        <p:spPr>
          <a:xfrm>
            <a:off x="658368" y="5650992"/>
            <a:ext cx="10874959" cy="548640"/>
          </a:xfrm>
          <a:prstGeom prst="rect">
            <a:avLst/>
          </a:prstGeom>
          <a:solidFill>
            <a:srgbClr val="102A43"/>
          </a:solidFill>
          <a:ln w="12700">
            <a:solidFill>
              <a:srgbClr val="102A43"/>
            </a:solidFill>
            <a:prstDash val="solid"/>
          </a:ln>
        </p:spPr>
      </p:sp>
      <p:sp>
        <p:nvSpPr>
          <p:cNvPr id="35" name="Text 3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A mide la causa. B mide la consecuencia que sufre la persona: a primera vista, el más fiel.</a:t>
            </a:r>
            <a:endParaRPr lang="en-US" sz="138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PRUEBA 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criterio A, escrito como prueba</a:t>
            </a:r>
            <a:endParaRPr lang="en-US" sz="3000" dirty="0"/>
          </a:p>
        </p:txBody>
      </p:sp>
      <p:sp>
        <p:nvSpPr>
          <p:cNvPr id="10" name="Shape 7"/>
          <p:cNvSpPr/>
          <p:nvPr/>
        </p:nvSpPr>
        <p:spPr>
          <a:xfrm>
            <a:off x="658368" y="1737360"/>
            <a:ext cx="10874959" cy="2401824"/>
          </a:xfrm>
          <a:prstGeom prst="roundRect">
            <a:avLst>
              <a:gd name="adj" fmla="val 1904"/>
            </a:avLst>
          </a:prstGeom>
          <a:solidFill>
            <a:srgbClr val="102A43"/>
          </a:solidFill>
          <a:ln w="12700">
            <a:solidFill>
              <a:srgbClr val="102A43"/>
            </a:solidFill>
            <a:prstDash val="solid"/>
          </a:ln>
        </p:spPr>
      </p:sp>
      <p:sp>
        <p:nvSpPr>
          <p:cNvPr id="11" name="Shape 8"/>
          <p:cNvSpPr/>
          <p:nvPr/>
        </p:nvSpPr>
        <p:spPr>
          <a:xfrm>
            <a:off x="713232" y="2043684"/>
            <a:ext cx="10362895" cy="165811"/>
          </a:xfrm>
          <a:prstGeom prst="rect">
            <a:avLst/>
          </a:prstGeom>
          <a:solidFill>
            <a:srgbClr val="E0BC5A">
              <a:alpha val="28000"/>
            </a:srgbClr>
          </a:solidFill>
          <a:ln w="12700">
            <a:solidFill>
              <a:srgbClr val="E0BC5A">
                <a:alpha val="0"/>
              </a:srgbClr>
            </a:solidFill>
            <a:prstDash val="solid"/>
          </a:ln>
        </p:spPr>
      </p:sp>
      <p:sp>
        <p:nvSpPr>
          <p:cNvPr id="12" name="Shape 9"/>
          <p:cNvSpPr/>
          <p:nvPr/>
        </p:nvSpPr>
        <p:spPr>
          <a:xfrm>
            <a:off x="713232" y="2389124"/>
            <a:ext cx="10362895" cy="165811"/>
          </a:xfrm>
          <a:prstGeom prst="rect">
            <a:avLst/>
          </a:prstGeom>
          <a:solidFill>
            <a:srgbClr val="E0BC5A">
              <a:alpha val="28000"/>
            </a:srgbClr>
          </a:solidFill>
          <a:ln w="12700">
            <a:solidFill>
              <a:srgbClr val="E0BC5A">
                <a:alpha val="0"/>
              </a:srgbClr>
            </a:solidFill>
            <a:prstDash val="solid"/>
          </a:ln>
        </p:spPr>
      </p:sp>
      <p:sp>
        <p:nvSpPr>
          <p:cNvPr id="13" name="Shape 10"/>
          <p:cNvSpPr/>
          <p:nvPr/>
        </p:nvSpPr>
        <p:spPr>
          <a:xfrm>
            <a:off x="713232" y="3080004"/>
            <a:ext cx="10362895" cy="165811"/>
          </a:xfrm>
          <a:prstGeom prst="rect">
            <a:avLst/>
          </a:prstGeom>
          <a:solidFill>
            <a:srgbClr val="B3181E">
              <a:alpha val="28000"/>
            </a:srgbClr>
          </a:solidFill>
          <a:ln w="12700">
            <a:solidFill>
              <a:srgbClr val="B3181E">
                <a:alpha val="0"/>
              </a:srgbClr>
            </a:solidFill>
            <a:prstDash val="solid"/>
          </a:ln>
        </p:spPr>
      </p:sp>
      <p:sp>
        <p:nvSpPr>
          <p:cNvPr id="14" name="Shape 11"/>
          <p:cNvSpPr/>
          <p:nvPr/>
        </p:nvSpPr>
        <p:spPr>
          <a:xfrm>
            <a:off x="713232" y="3598164"/>
            <a:ext cx="10362895" cy="165811"/>
          </a:xfrm>
          <a:prstGeom prst="rect">
            <a:avLst/>
          </a:prstGeom>
          <a:solidFill>
            <a:srgbClr val="2E7D4F">
              <a:alpha val="28000"/>
            </a:srgbClr>
          </a:solidFill>
          <a:ln w="12700">
            <a:solidFill>
              <a:srgbClr val="2E7D4F">
                <a:alpha val="0"/>
              </a:srgbClr>
            </a:solidFill>
            <a:prstDash val="solid"/>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1883664"/>
            <a:ext cx="10143439" cy="2127504"/>
          </a:xfrm>
          <a:prstGeom prst="rect">
            <a:avLst/>
          </a:prstGeom>
        </p:spPr>
      </p:pic>
      <p:sp>
        <p:nvSpPr>
          <p:cNvPr id="16" name="Shape 12"/>
          <p:cNvSpPr/>
          <p:nvPr/>
        </p:nvSpPr>
        <p:spPr>
          <a:xfrm>
            <a:off x="11225276" y="2040433"/>
            <a:ext cx="158902" cy="158902"/>
          </a:xfrm>
          <a:prstGeom prst="ellipse">
            <a:avLst/>
          </a:prstGeom>
          <a:solidFill>
            <a:srgbClr val="E0BC5A"/>
          </a:solidFill>
          <a:ln w="12700">
            <a:solidFill>
              <a:srgbClr val="E0BC5A"/>
            </a:solidFill>
            <a:prstDash val="solid"/>
          </a:ln>
        </p:spPr>
      </p:sp>
      <p:sp>
        <p:nvSpPr>
          <p:cNvPr id="17" name="Text 13"/>
          <p:cNvSpPr/>
          <p:nvPr/>
        </p:nvSpPr>
        <p:spPr>
          <a:xfrm>
            <a:off x="11234420" y="2049577"/>
            <a:ext cx="140614" cy="14061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18" name="Shape 14"/>
          <p:cNvSpPr/>
          <p:nvPr/>
        </p:nvSpPr>
        <p:spPr>
          <a:xfrm>
            <a:off x="11225276" y="2385873"/>
            <a:ext cx="158902" cy="158902"/>
          </a:xfrm>
          <a:prstGeom prst="ellipse">
            <a:avLst/>
          </a:prstGeom>
          <a:solidFill>
            <a:srgbClr val="E0BC5A"/>
          </a:solidFill>
          <a:ln w="12700">
            <a:solidFill>
              <a:srgbClr val="E0BC5A"/>
            </a:solidFill>
            <a:prstDash val="solid"/>
          </a:ln>
        </p:spPr>
      </p:sp>
      <p:sp>
        <p:nvSpPr>
          <p:cNvPr id="19" name="Text 15"/>
          <p:cNvSpPr/>
          <p:nvPr/>
        </p:nvSpPr>
        <p:spPr>
          <a:xfrm>
            <a:off x="11234420" y="2395017"/>
            <a:ext cx="140614" cy="14061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2</a:t>
            </a:r>
            <a:endParaRPr lang="en-US" sz="940" dirty="0"/>
          </a:p>
        </p:txBody>
      </p:sp>
      <p:sp>
        <p:nvSpPr>
          <p:cNvPr id="20" name="Shape 16"/>
          <p:cNvSpPr/>
          <p:nvPr/>
        </p:nvSpPr>
        <p:spPr>
          <a:xfrm>
            <a:off x="11225276" y="3076753"/>
            <a:ext cx="158902" cy="158902"/>
          </a:xfrm>
          <a:prstGeom prst="ellipse">
            <a:avLst/>
          </a:prstGeom>
          <a:solidFill>
            <a:srgbClr val="B3181E"/>
          </a:solidFill>
          <a:ln w="12700">
            <a:solidFill>
              <a:srgbClr val="B3181E"/>
            </a:solidFill>
            <a:prstDash val="solid"/>
          </a:ln>
        </p:spPr>
      </p:sp>
      <p:sp>
        <p:nvSpPr>
          <p:cNvPr id="21" name="Text 17"/>
          <p:cNvSpPr/>
          <p:nvPr/>
        </p:nvSpPr>
        <p:spPr>
          <a:xfrm>
            <a:off x="11234420" y="3085897"/>
            <a:ext cx="140614" cy="14061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3</a:t>
            </a:r>
            <a:endParaRPr lang="en-US" sz="940" dirty="0"/>
          </a:p>
        </p:txBody>
      </p:sp>
      <p:sp>
        <p:nvSpPr>
          <p:cNvPr id="22" name="Shape 18"/>
          <p:cNvSpPr/>
          <p:nvPr/>
        </p:nvSpPr>
        <p:spPr>
          <a:xfrm>
            <a:off x="11225276" y="3594913"/>
            <a:ext cx="158902" cy="158902"/>
          </a:xfrm>
          <a:prstGeom prst="ellipse">
            <a:avLst/>
          </a:prstGeom>
          <a:solidFill>
            <a:srgbClr val="2E7D4F"/>
          </a:solidFill>
          <a:ln w="12700">
            <a:solidFill>
              <a:srgbClr val="2E7D4F"/>
            </a:solidFill>
            <a:prstDash val="solid"/>
          </a:ln>
        </p:spPr>
      </p:sp>
      <p:sp>
        <p:nvSpPr>
          <p:cNvPr id="23" name="Text 19"/>
          <p:cNvSpPr/>
          <p:nvPr/>
        </p:nvSpPr>
        <p:spPr>
          <a:xfrm>
            <a:off x="11234420" y="3604057"/>
            <a:ext cx="140614" cy="14061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4</a:t>
            </a:r>
            <a:endParaRPr lang="en-US" sz="940" dirty="0"/>
          </a:p>
        </p:txBody>
      </p:sp>
      <p:sp>
        <p:nvSpPr>
          <p:cNvPr id="24" name="Shape 20"/>
          <p:cNvSpPr/>
          <p:nvPr/>
        </p:nvSpPr>
        <p:spPr>
          <a:xfrm>
            <a:off x="658368" y="4285488"/>
            <a:ext cx="2622728" cy="1200912"/>
          </a:xfrm>
          <a:prstGeom prst="rect">
            <a:avLst/>
          </a:prstGeom>
          <a:solidFill>
            <a:srgbClr val="FFFFFF"/>
          </a:solidFill>
          <a:ln w="12700">
            <a:solidFill>
              <a:srgbClr val="FFFFFF"/>
            </a:solidFill>
            <a:prstDash val="solid"/>
          </a:ln>
        </p:spPr>
      </p:sp>
      <p:sp>
        <p:nvSpPr>
          <p:cNvPr id="25" name="Shape 21"/>
          <p:cNvSpPr/>
          <p:nvPr/>
        </p:nvSpPr>
        <p:spPr>
          <a:xfrm>
            <a:off x="658368" y="4285488"/>
            <a:ext cx="2622728" cy="54864"/>
          </a:xfrm>
          <a:prstGeom prst="rect">
            <a:avLst/>
          </a:prstGeom>
          <a:solidFill>
            <a:srgbClr val="8A6A12"/>
          </a:solidFill>
          <a:ln w="12700">
            <a:solidFill>
              <a:srgbClr val="8A6A12"/>
            </a:solidFill>
            <a:prstDash val="solid"/>
          </a:ln>
        </p:spPr>
      </p:sp>
      <p:sp>
        <p:nvSpPr>
          <p:cNvPr id="26" name="Shape 22"/>
          <p:cNvSpPr/>
          <p:nvPr/>
        </p:nvSpPr>
        <p:spPr>
          <a:xfrm>
            <a:off x="822960" y="4450080"/>
            <a:ext cx="256032" cy="256032"/>
          </a:xfrm>
          <a:prstGeom prst="ellipse">
            <a:avLst/>
          </a:prstGeom>
          <a:solidFill>
            <a:srgbClr val="E0BC5A"/>
          </a:solidFill>
          <a:ln w="12700">
            <a:solidFill>
              <a:srgbClr val="E0BC5A"/>
            </a:solidFill>
            <a:prstDash val="solid"/>
          </a:ln>
        </p:spPr>
      </p:sp>
      <p:sp>
        <p:nvSpPr>
          <p:cNvPr id="27" name="Text 23"/>
          <p:cNvSpPr/>
          <p:nvPr/>
        </p:nvSpPr>
        <p:spPr>
          <a:xfrm>
            <a:off x="832104" y="4459224"/>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28" name="Text 24"/>
          <p:cNvSpPr txBox="1"/>
          <p:nvPr/>
        </p:nvSpPr>
        <p:spPr>
          <a:xfrm>
            <a:off x="1170432" y="4450080"/>
            <a:ext cx="1982648" cy="256032"/>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llenarBloque4</a:t>
            </a:r>
            <a:endParaRPr lang="en-US" sz="1160" dirty="0"/>
          </a:p>
        </p:txBody>
      </p:sp>
      <p:sp>
        <p:nvSpPr>
          <p:cNvPr id="29" name="Text 25"/>
          <p:cNvSpPr txBox="1"/>
          <p:nvPr/>
        </p:nvSpPr>
        <p:spPr>
          <a:xfrm>
            <a:off x="841248" y="4779264"/>
            <a:ext cx="2293544" cy="652272"/>
          </a:xfrm>
          <a:prstGeom prst="rect">
            <a:avLst/>
          </a:prstGeom>
          <a:noFill/>
          <a:ln/>
        </p:spPr>
        <p:txBody>
          <a:bodyPr wrap="square" lIns="0" tIns="0" rIns="0" bIns="0" rtlCol="0" anchor="t"/>
          <a:lstStyle/>
          <a:p>
            <a:pPr algn="l" indent="0" marL="0">
              <a:lnSpc>
                <a:spcPct val="110000"/>
              </a:lnSpc>
              <a:buNone/>
            </a:pPr>
            <a:r>
              <a:rPr lang="en-US" sz="960" dirty="0">
                <a:solidFill>
                  <a:srgbClr val="52606D"/>
                </a:solidFill>
                <a:latin typeface="Aptos" pitchFamily="34" charset="0"/>
                <a:ea typeface="Aptos" pitchFamily="34" charset="-122"/>
                <a:cs typeface="Aptos" pitchFamily="34" charset="-120"/>
              </a:rPr>
              <a:t>Llena el formulario completo con el bloque 4, sin enviarlo.</a:t>
            </a:r>
            <a:endParaRPr lang="en-US" sz="960" dirty="0"/>
          </a:p>
        </p:txBody>
      </p:sp>
      <p:sp>
        <p:nvSpPr>
          <p:cNvPr id="30" name="Shape 26"/>
          <p:cNvSpPr/>
          <p:nvPr/>
        </p:nvSpPr>
        <p:spPr>
          <a:xfrm>
            <a:off x="3409112" y="4285488"/>
            <a:ext cx="2622728" cy="1200912"/>
          </a:xfrm>
          <a:prstGeom prst="rect">
            <a:avLst/>
          </a:prstGeom>
          <a:solidFill>
            <a:srgbClr val="FFFFFF"/>
          </a:solidFill>
          <a:ln w="12700">
            <a:solidFill>
              <a:srgbClr val="FFFFFF"/>
            </a:solidFill>
            <a:prstDash val="solid"/>
          </a:ln>
        </p:spPr>
      </p:sp>
      <p:sp>
        <p:nvSpPr>
          <p:cNvPr id="31" name="Shape 27"/>
          <p:cNvSpPr/>
          <p:nvPr/>
        </p:nvSpPr>
        <p:spPr>
          <a:xfrm>
            <a:off x="3409112" y="4285488"/>
            <a:ext cx="2622728" cy="54864"/>
          </a:xfrm>
          <a:prstGeom prst="rect">
            <a:avLst/>
          </a:prstGeom>
          <a:solidFill>
            <a:srgbClr val="8A6A12"/>
          </a:solidFill>
          <a:ln w="12700">
            <a:solidFill>
              <a:srgbClr val="8A6A12"/>
            </a:solidFill>
            <a:prstDash val="solid"/>
          </a:ln>
        </p:spPr>
      </p:sp>
      <p:sp>
        <p:nvSpPr>
          <p:cNvPr id="32" name="Shape 28"/>
          <p:cNvSpPr/>
          <p:nvPr/>
        </p:nvSpPr>
        <p:spPr>
          <a:xfrm>
            <a:off x="3573704" y="4450080"/>
            <a:ext cx="256032" cy="256032"/>
          </a:xfrm>
          <a:prstGeom prst="ellipse">
            <a:avLst/>
          </a:prstGeom>
          <a:solidFill>
            <a:srgbClr val="E0BC5A"/>
          </a:solidFill>
          <a:ln w="12700">
            <a:solidFill>
              <a:srgbClr val="E0BC5A"/>
            </a:solidFill>
            <a:prstDash val="solid"/>
          </a:ln>
        </p:spPr>
      </p:sp>
      <p:sp>
        <p:nvSpPr>
          <p:cNvPr id="33" name="Text 29"/>
          <p:cNvSpPr/>
          <p:nvPr/>
        </p:nvSpPr>
        <p:spPr>
          <a:xfrm>
            <a:off x="3582848" y="4459224"/>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2</a:t>
            </a:r>
            <a:endParaRPr lang="en-US" sz="940" dirty="0"/>
          </a:p>
        </p:txBody>
      </p:sp>
      <p:sp>
        <p:nvSpPr>
          <p:cNvPr id="34" name="Text 30"/>
          <p:cNvSpPr txBox="1"/>
          <p:nvPr/>
        </p:nvSpPr>
        <p:spPr>
          <a:xfrm>
            <a:off x="3921176" y="4450080"/>
            <a:ext cx="1982648" cy="256032"/>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Anotar lo que sale</a:t>
            </a:r>
            <a:endParaRPr lang="en-US" sz="1160" dirty="0"/>
          </a:p>
        </p:txBody>
      </p:sp>
      <p:sp>
        <p:nvSpPr>
          <p:cNvPr id="35" name="Text 31"/>
          <p:cNvSpPr txBox="1"/>
          <p:nvPr/>
        </p:nvSpPr>
        <p:spPr>
          <a:xfrm>
            <a:off x="3591992" y="4779264"/>
            <a:ext cx="2293544" cy="652272"/>
          </a:xfrm>
          <a:prstGeom prst="rect">
            <a:avLst/>
          </a:prstGeom>
          <a:noFill/>
          <a:ln/>
        </p:spPr>
        <p:txBody>
          <a:bodyPr wrap="square" lIns="0" tIns="0" rIns="0" bIns="0" rtlCol="0" anchor="t"/>
          <a:lstStyle/>
          <a:p>
            <a:pPr algn="l" indent="0" marL="0">
              <a:lnSpc>
                <a:spcPct val="110000"/>
              </a:lnSpc>
              <a:buNone/>
            </a:pPr>
            <a:r>
              <a:rPr lang="en-US" sz="960" dirty="0">
                <a:solidFill>
                  <a:srgbClr val="52606D"/>
                </a:solidFill>
                <a:latin typeface="Aptos" pitchFamily="34" charset="0"/>
                <a:ea typeface="Aptos" pitchFamily="34" charset="-122"/>
                <a:cs typeface="Aptos" pitchFamily="34" charset="-120"/>
              </a:rPr>
              <a:t>solicitudes es una lista de textos, vacía al inicio. page.on avisa cada solicitud r; las POST (envíos de datos) a /reservas se anotan.</a:t>
            </a:r>
            <a:endParaRPr lang="en-US" sz="960" dirty="0"/>
          </a:p>
        </p:txBody>
      </p:sp>
      <p:sp>
        <p:nvSpPr>
          <p:cNvPr id="36" name="Shape 32"/>
          <p:cNvSpPr/>
          <p:nvPr/>
        </p:nvSpPr>
        <p:spPr>
          <a:xfrm>
            <a:off x="6159856" y="4285488"/>
            <a:ext cx="2622728" cy="1200912"/>
          </a:xfrm>
          <a:prstGeom prst="rect">
            <a:avLst/>
          </a:prstGeom>
          <a:solidFill>
            <a:srgbClr val="FFFFFF"/>
          </a:solidFill>
          <a:ln w="12700">
            <a:solidFill>
              <a:srgbClr val="FFFFFF"/>
            </a:solidFill>
            <a:prstDash val="solid"/>
          </a:ln>
        </p:spPr>
      </p:sp>
      <p:sp>
        <p:nvSpPr>
          <p:cNvPr id="37" name="Shape 33"/>
          <p:cNvSpPr/>
          <p:nvPr/>
        </p:nvSpPr>
        <p:spPr>
          <a:xfrm>
            <a:off x="6159856" y="4285488"/>
            <a:ext cx="2622728" cy="54864"/>
          </a:xfrm>
          <a:prstGeom prst="rect">
            <a:avLst/>
          </a:prstGeom>
          <a:solidFill>
            <a:srgbClr val="B3181E"/>
          </a:solidFill>
          <a:ln w="12700">
            <a:solidFill>
              <a:srgbClr val="B3181E"/>
            </a:solidFill>
            <a:prstDash val="solid"/>
          </a:ln>
        </p:spPr>
      </p:sp>
      <p:sp>
        <p:nvSpPr>
          <p:cNvPr id="38" name="Shape 34"/>
          <p:cNvSpPr/>
          <p:nvPr/>
        </p:nvSpPr>
        <p:spPr>
          <a:xfrm>
            <a:off x="6324448" y="4450080"/>
            <a:ext cx="256032" cy="256032"/>
          </a:xfrm>
          <a:prstGeom prst="ellipse">
            <a:avLst/>
          </a:prstGeom>
          <a:solidFill>
            <a:srgbClr val="B3181E"/>
          </a:solidFill>
          <a:ln w="12700">
            <a:solidFill>
              <a:srgbClr val="B3181E"/>
            </a:solidFill>
            <a:prstDash val="solid"/>
          </a:ln>
        </p:spPr>
      </p:sp>
      <p:sp>
        <p:nvSpPr>
          <p:cNvPr id="39" name="Text 35"/>
          <p:cNvSpPr/>
          <p:nvPr/>
        </p:nvSpPr>
        <p:spPr>
          <a:xfrm>
            <a:off x="6333592" y="4459224"/>
            <a:ext cx="237744" cy="23774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3</a:t>
            </a:r>
            <a:endParaRPr lang="en-US" sz="940" dirty="0"/>
          </a:p>
        </p:txBody>
      </p:sp>
      <p:sp>
        <p:nvSpPr>
          <p:cNvPr id="40" name="Text 36"/>
          <p:cNvSpPr txBox="1"/>
          <p:nvPr/>
        </p:nvSpPr>
        <p:spPr>
          <a:xfrm>
            <a:off x="6671920" y="4450080"/>
            <a:ext cx="1982648" cy="256032"/>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El doble clic</a:t>
            </a:r>
            <a:endParaRPr lang="en-US" sz="1160" dirty="0"/>
          </a:p>
        </p:txBody>
      </p:sp>
      <p:sp>
        <p:nvSpPr>
          <p:cNvPr id="41" name="Text 37"/>
          <p:cNvSpPr txBox="1"/>
          <p:nvPr/>
        </p:nvSpPr>
        <p:spPr>
          <a:xfrm>
            <a:off x="6342736" y="4779264"/>
            <a:ext cx="2293544" cy="652272"/>
          </a:xfrm>
          <a:prstGeom prst="rect">
            <a:avLst/>
          </a:prstGeom>
          <a:noFill/>
          <a:ln/>
        </p:spPr>
        <p:txBody>
          <a:bodyPr wrap="square" lIns="0" tIns="0" rIns="0" bIns="0" rtlCol="0" anchor="t"/>
          <a:lstStyle/>
          <a:p>
            <a:pPr algn="l" indent="0" marL="0">
              <a:lnSpc>
                <a:spcPct val="110000"/>
              </a:lnSpc>
              <a:buNone/>
            </a:pPr>
            <a:r>
              <a:rPr lang="en-US" sz="960" dirty="0">
                <a:solidFill>
                  <a:srgbClr val="52606D"/>
                </a:solidFill>
                <a:latin typeface="Aptos" pitchFamily="34" charset="0"/>
                <a:ea typeface="Aptos" pitchFamily="34" charset="-122"/>
                <a:cs typeface="Aptos" pitchFamily="34" charset="-120"/>
              </a:rPr>
              <a:t>dblclick aprieta dos veces. La línea siguiente espera a que aparezca algún mensaje.</a:t>
            </a:r>
            <a:endParaRPr lang="en-US" sz="960" dirty="0"/>
          </a:p>
        </p:txBody>
      </p:sp>
      <p:sp>
        <p:nvSpPr>
          <p:cNvPr id="42" name="Shape 38"/>
          <p:cNvSpPr/>
          <p:nvPr/>
        </p:nvSpPr>
        <p:spPr>
          <a:xfrm>
            <a:off x="8910599" y="4285488"/>
            <a:ext cx="2622728" cy="1200912"/>
          </a:xfrm>
          <a:prstGeom prst="rect">
            <a:avLst/>
          </a:prstGeom>
          <a:solidFill>
            <a:srgbClr val="FFFFFF"/>
          </a:solidFill>
          <a:ln w="12700">
            <a:solidFill>
              <a:srgbClr val="FFFFFF"/>
            </a:solidFill>
            <a:prstDash val="solid"/>
          </a:ln>
        </p:spPr>
      </p:sp>
      <p:sp>
        <p:nvSpPr>
          <p:cNvPr id="43" name="Shape 39"/>
          <p:cNvSpPr/>
          <p:nvPr/>
        </p:nvSpPr>
        <p:spPr>
          <a:xfrm>
            <a:off x="8910599" y="4285488"/>
            <a:ext cx="2622728" cy="54864"/>
          </a:xfrm>
          <a:prstGeom prst="rect">
            <a:avLst/>
          </a:prstGeom>
          <a:solidFill>
            <a:srgbClr val="2E7D4F"/>
          </a:solidFill>
          <a:ln w="12700">
            <a:solidFill>
              <a:srgbClr val="2E7D4F"/>
            </a:solidFill>
            <a:prstDash val="solid"/>
          </a:ln>
        </p:spPr>
      </p:sp>
      <p:sp>
        <p:nvSpPr>
          <p:cNvPr id="44" name="Shape 40"/>
          <p:cNvSpPr/>
          <p:nvPr/>
        </p:nvSpPr>
        <p:spPr>
          <a:xfrm>
            <a:off x="9075191" y="4450080"/>
            <a:ext cx="256032" cy="256032"/>
          </a:xfrm>
          <a:prstGeom prst="ellipse">
            <a:avLst/>
          </a:prstGeom>
          <a:solidFill>
            <a:srgbClr val="2E7D4F"/>
          </a:solidFill>
          <a:ln w="12700">
            <a:solidFill>
              <a:srgbClr val="2E7D4F"/>
            </a:solidFill>
            <a:prstDash val="solid"/>
          </a:ln>
        </p:spPr>
      </p:sp>
      <p:sp>
        <p:nvSpPr>
          <p:cNvPr id="45" name="Text 41"/>
          <p:cNvSpPr/>
          <p:nvPr/>
        </p:nvSpPr>
        <p:spPr>
          <a:xfrm>
            <a:off x="9084335" y="4459224"/>
            <a:ext cx="237744" cy="23774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4</a:t>
            </a:r>
            <a:endParaRPr lang="en-US" sz="940" dirty="0"/>
          </a:p>
        </p:txBody>
      </p:sp>
      <p:sp>
        <p:nvSpPr>
          <p:cNvPr id="46" name="Text 42"/>
          <p:cNvSpPr txBox="1"/>
          <p:nvPr/>
        </p:nvSpPr>
        <p:spPr>
          <a:xfrm>
            <a:off x="9422663" y="4450080"/>
            <a:ext cx="1982648" cy="256032"/>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Exactamente una</a:t>
            </a:r>
            <a:endParaRPr lang="en-US" sz="1160" dirty="0"/>
          </a:p>
        </p:txBody>
      </p:sp>
      <p:sp>
        <p:nvSpPr>
          <p:cNvPr id="47" name="Text 43"/>
          <p:cNvSpPr txBox="1"/>
          <p:nvPr/>
        </p:nvSpPr>
        <p:spPr>
          <a:xfrm>
            <a:off x="9093479" y="4779264"/>
            <a:ext cx="2293544" cy="652272"/>
          </a:xfrm>
          <a:prstGeom prst="rect">
            <a:avLst/>
          </a:prstGeom>
          <a:noFill/>
          <a:ln/>
        </p:spPr>
        <p:txBody>
          <a:bodyPr wrap="square" lIns="0" tIns="0" rIns="0" bIns="0" rtlCol="0" anchor="t"/>
          <a:lstStyle/>
          <a:p>
            <a:pPr algn="l" indent="0" marL="0">
              <a:lnSpc>
                <a:spcPct val="110000"/>
              </a:lnSpc>
              <a:buNone/>
            </a:pPr>
            <a:r>
              <a:rPr lang="en-US" sz="960" dirty="0">
                <a:solidFill>
                  <a:srgbClr val="52606D"/>
                </a:solidFill>
                <a:latin typeface="Aptos" pitchFamily="34" charset="0"/>
                <a:ea typeface="Aptos" pitchFamily="34" charset="-122"/>
                <a:cs typeface="Aptos" pitchFamily="34" charset="-120"/>
              </a:rPr>
              <a:t>toHaveLength(1) afirma que la lista tiene un solo elemento.</a:t>
            </a:r>
            <a:endParaRPr lang="en-US" sz="960" dirty="0"/>
          </a:p>
        </p:txBody>
      </p:sp>
      <p:sp>
        <p:nvSpPr>
          <p:cNvPr id="48" name="Shape 44"/>
          <p:cNvSpPr/>
          <p:nvPr/>
        </p:nvSpPr>
        <p:spPr>
          <a:xfrm>
            <a:off x="658368" y="5650992"/>
            <a:ext cx="10874959" cy="548640"/>
          </a:xfrm>
          <a:prstGeom prst="rect">
            <a:avLst/>
          </a:prstGeom>
          <a:solidFill>
            <a:srgbClr val="102A43"/>
          </a:solidFill>
          <a:ln w="12700">
            <a:solidFill>
              <a:srgbClr val="102A43"/>
            </a:solidFill>
            <a:prstDash val="solid"/>
          </a:ln>
        </p:spPr>
      </p:sp>
      <p:sp>
        <p:nvSpPr>
          <p:cNvPr id="49" name="Text 45"/>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magnitud es una cantidad: se cuenta, no se interpreta.</a:t>
            </a:r>
            <a:endParaRPr lang="en-US" sz="138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EL RESULTADO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La A falla, como debía. La B pasa con el defecto.</a:t>
            </a:r>
            <a:endParaRPr lang="en-US" sz="2800" dirty="0"/>
          </a:p>
        </p:txBody>
      </p:sp>
      <p:sp>
        <p:nvSpPr>
          <p:cNvPr id="10" name="Shape 7"/>
          <p:cNvSpPr/>
          <p:nvPr/>
        </p:nvSpPr>
        <p:spPr>
          <a:xfrm>
            <a:off x="658368" y="1737360"/>
            <a:ext cx="10874959" cy="2113686"/>
          </a:xfrm>
          <a:prstGeom prst="roundRect">
            <a:avLst>
              <a:gd name="adj" fmla="val 2163"/>
            </a:avLst>
          </a:prstGeom>
          <a:solidFill>
            <a:srgbClr val="102A43"/>
          </a:solidFill>
          <a:ln w="12700">
            <a:solidFill>
              <a:srgbClr val="102A43"/>
            </a:solidFill>
            <a:prstDash val="solid"/>
          </a:ln>
        </p:spPr>
      </p:sp>
      <p:sp>
        <p:nvSpPr>
          <p:cNvPr id="11" name="Shape 8"/>
          <p:cNvSpPr/>
          <p:nvPr/>
        </p:nvSpPr>
        <p:spPr>
          <a:xfrm>
            <a:off x="658368" y="2093976"/>
            <a:ext cx="10874959" cy="9144"/>
          </a:xfrm>
          <a:prstGeom prst="rect">
            <a:avLst/>
          </a:prstGeom>
          <a:solidFill>
            <a:srgbClr val="284B75"/>
          </a:solidFill>
          <a:ln w="12700">
            <a:solidFill>
              <a:srgbClr val="284B75"/>
            </a:solidFill>
            <a:prstDash val="solid"/>
          </a:ln>
        </p:spPr>
      </p:sp>
      <p:sp>
        <p:nvSpPr>
          <p:cNvPr id="12" name="Text 9"/>
          <p:cNvSpPr/>
          <p:nvPr/>
        </p:nvSpPr>
        <p:spPr>
          <a:xfrm>
            <a:off x="841248" y="1828800"/>
            <a:ext cx="10509199"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El criterio B, escrito como prueba</a:t>
            </a:r>
            <a:endParaRPr lang="en-US" sz="960" dirty="0"/>
          </a:p>
        </p:txBody>
      </p:sp>
      <p:sp>
        <p:nvSpPr>
          <p:cNvPr id="13" name="Shape 10"/>
          <p:cNvSpPr/>
          <p:nvPr/>
        </p:nvSpPr>
        <p:spPr>
          <a:xfrm>
            <a:off x="713232" y="2936443"/>
            <a:ext cx="10362895" cy="172444"/>
          </a:xfrm>
          <a:prstGeom prst="rect">
            <a:avLst/>
          </a:prstGeom>
          <a:solidFill>
            <a:srgbClr val="E0BC5A">
              <a:alpha val="28000"/>
            </a:srgbClr>
          </a:solidFill>
          <a:ln w="12700">
            <a:solidFill>
              <a:srgbClr val="E0BC5A">
                <a:alpha val="0"/>
              </a:srgbClr>
            </a:solidFill>
            <a:prstDash val="solid"/>
          </a:ln>
        </p:spPr>
      </p:sp>
      <p:sp>
        <p:nvSpPr>
          <p:cNvPr id="14" name="Shape 11"/>
          <p:cNvSpPr/>
          <p:nvPr/>
        </p:nvSpPr>
        <p:spPr>
          <a:xfrm>
            <a:off x="713232" y="3295701"/>
            <a:ext cx="10362895" cy="172444"/>
          </a:xfrm>
          <a:prstGeom prst="rect">
            <a:avLst/>
          </a:prstGeom>
          <a:solidFill>
            <a:srgbClr val="2E7D4F">
              <a:alpha val="28000"/>
            </a:srgbClr>
          </a:solidFill>
          <a:ln w="12700">
            <a:solidFill>
              <a:srgbClr val="2E7D4F">
                <a:alpha val="0"/>
              </a:srgbClr>
            </a:solidFill>
            <a:prstDash val="solid"/>
          </a:ln>
        </p:spPr>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231136"/>
            <a:ext cx="10143439" cy="1491894"/>
          </a:xfrm>
          <a:prstGeom prst="rect">
            <a:avLst/>
          </a:prstGeom>
        </p:spPr>
      </p:pic>
      <p:sp>
        <p:nvSpPr>
          <p:cNvPr id="16" name="Shape 12"/>
          <p:cNvSpPr/>
          <p:nvPr/>
        </p:nvSpPr>
        <p:spPr>
          <a:xfrm>
            <a:off x="11222098" y="2933062"/>
            <a:ext cx="165258" cy="165258"/>
          </a:xfrm>
          <a:prstGeom prst="ellipse">
            <a:avLst/>
          </a:prstGeom>
          <a:solidFill>
            <a:srgbClr val="E0BC5A"/>
          </a:solidFill>
          <a:ln w="12700">
            <a:solidFill>
              <a:srgbClr val="E0BC5A"/>
            </a:solidFill>
            <a:prstDash val="solid"/>
          </a:ln>
        </p:spPr>
      </p:sp>
      <p:sp>
        <p:nvSpPr>
          <p:cNvPr id="17" name="Text 13"/>
          <p:cNvSpPr/>
          <p:nvPr/>
        </p:nvSpPr>
        <p:spPr>
          <a:xfrm>
            <a:off x="11231242" y="2942206"/>
            <a:ext cx="146970" cy="146970"/>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18" name="Shape 14"/>
          <p:cNvSpPr/>
          <p:nvPr/>
        </p:nvSpPr>
        <p:spPr>
          <a:xfrm>
            <a:off x="11222098" y="3292320"/>
            <a:ext cx="165258" cy="165258"/>
          </a:xfrm>
          <a:prstGeom prst="ellipse">
            <a:avLst/>
          </a:prstGeom>
          <a:solidFill>
            <a:srgbClr val="2E7D4F"/>
          </a:solidFill>
          <a:ln w="12700">
            <a:solidFill>
              <a:srgbClr val="2E7D4F"/>
            </a:solidFill>
            <a:prstDash val="solid"/>
          </a:ln>
        </p:spPr>
      </p:sp>
      <p:sp>
        <p:nvSpPr>
          <p:cNvPr id="19" name="Text 15"/>
          <p:cNvSpPr/>
          <p:nvPr/>
        </p:nvSpPr>
        <p:spPr>
          <a:xfrm>
            <a:off x="11231242" y="3301464"/>
            <a:ext cx="146970" cy="146970"/>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2</a:t>
            </a:r>
            <a:endParaRPr lang="en-US" sz="940" dirty="0"/>
          </a:p>
        </p:txBody>
      </p:sp>
      <p:sp>
        <p:nvSpPr>
          <p:cNvPr id="20" name="Shape 16"/>
          <p:cNvSpPr/>
          <p:nvPr/>
        </p:nvSpPr>
        <p:spPr>
          <a:xfrm>
            <a:off x="658368" y="4015638"/>
            <a:ext cx="7223760" cy="1568069"/>
          </a:xfrm>
          <a:prstGeom prst="roundRect">
            <a:avLst>
              <a:gd name="adj" fmla="val 2916"/>
            </a:avLst>
          </a:prstGeom>
          <a:solidFill>
            <a:srgbClr val="0F1720"/>
          </a:solidFill>
          <a:ln w="12700">
            <a:solidFill>
              <a:srgbClr val="0F1720"/>
            </a:solidFill>
            <a:prstDash val="solid"/>
          </a:ln>
        </p:spPr>
      </p:sp>
      <p:sp>
        <p:nvSpPr>
          <p:cNvPr id="21" name="Shape 17"/>
          <p:cNvSpPr/>
          <p:nvPr/>
        </p:nvSpPr>
        <p:spPr>
          <a:xfrm>
            <a:off x="818388" y="4148226"/>
            <a:ext cx="82296" cy="82296"/>
          </a:xfrm>
          <a:prstGeom prst="ellipse">
            <a:avLst/>
          </a:prstGeom>
          <a:solidFill>
            <a:srgbClr val="52606D"/>
          </a:solidFill>
          <a:ln w="12700">
            <a:solidFill>
              <a:srgbClr val="52606D"/>
            </a:solidFill>
            <a:prstDash val="solid"/>
          </a:ln>
        </p:spPr>
      </p:sp>
      <p:sp>
        <p:nvSpPr>
          <p:cNvPr id="22" name="Shape 18"/>
          <p:cNvSpPr/>
          <p:nvPr/>
        </p:nvSpPr>
        <p:spPr>
          <a:xfrm>
            <a:off x="973836" y="4148226"/>
            <a:ext cx="82296" cy="82296"/>
          </a:xfrm>
          <a:prstGeom prst="ellipse">
            <a:avLst/>
          </a:prstGeom>
          <a:solidFill>
            <a:srgbClr val="52606D"/>
          </a:solidFill>
          <a:ln w="12700">
            <a:solidFill>
              <a:srgbClr val="52606D"/>
            </a:solidFill>
            <a:prstDash val="solid"/>
          </a:ln>
        </p:spPr>
      </p:sp>
      <p:sp>
        <p:nvSpPr>
          <p:cNvPr id="23" name="Shape 19"/>
          <p:cNvSpPr/>
          <p:nvPr/>
        </p:nvSpPr>
        <p:spPr>
          <a:xfrm>
            <a:off x="1129284" y="4148226"/>
            <a:ext cx="82296" cy="82296"/>
          </a:xfrm>
          <a:prstGeom prst="ellipse">
            <a:avLst/>
          </a:prstGeom>
          <a:solidFill>
            <a:srgbClr val="52606D"/>
          </a:solidFill>
          <a:ln w="12700">
            <a:solidFill>
              <a:srgbClr val="52606D"/>
            </a:solidFill>
            <a:prstDash val="solid"/>
          </a:ln>
        </p:spPr>
      </p:sp>
      <p:sp>
        <p:nvSpPr>
          <p:cNvPr id="24" name="Text 20"/>
          <p:cNvSpPr/>
          <p:nvPr/>
        </p:nvSpPr>
        <p:spPr>
          <a:xfrm>
            <a:off x="1353312" y="4097934"/>
            <a:ext cx="6345936"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Contra la interfaz tal como está</a:t>
            </a:r>
            <a:endParaRPr lang="en-US" sz="940" dirty="0"/>
          </a:p>
        </p:txBody>
      </p:sp>
      <p:sp>
        <p:nvSpPr>
          <p:cNvPr id="25" name="Text 21"/>
          <p:cNvSpPr/>
          <p:nvPr/>
        </p:nvSpPr>
        <p:spPr>
          <a:xfrm>
            <a:off x="859536" y="4491126"/>
            <a:ext cx="6821424" cy="192913"/>
          </a:xfrm>
          <a:prstGeom prst="rect">
            <a:avLst/>
          </a:prstGeom>
          <a:noFill/>
          <a:ln/>
        </p:spPr>
        <p:txBody>
          <a:bodyPr wrap="square" lIns="0" tIns="0" rIns="0" bIns="0" rtlCol="0" anchor="ctr"/>
          <a:lstStyle/>
          <a:p>
            <a:pPr indent="0" marL="0">
              <a:buNone/>
            </a:pPr>
            <a:r>
              <a:rPr lang="en-US" sz="980" b="1" dirty="0">
                <a:solidFill>
                  <a:srgbClr val="D62027"/>
                </a:solidFill>
                <a:latin typeface="Consolas" pitchFamily="34" charset="0"/>
                <a:ea typeface="Consolas" pitchFamily="34" charset="-122"/>
                <a:cs typeface="Consolas" pitchFamily="34" charset="-120"/>
              </a:rPr>
              <a:t>x  1 un doble clic envía una sola solicitud de reserva</a:t>
            </a:r>
            <a:endParaRPr lang="en-US" sz="980" dirty="0"/>
          </a:p>
        </p:txBody>
      </p:sp>
      <p:sp>
        <p:nvSpPr>
          <p:cNvPr id="26" name="Text 22"/>
          <p:cNvSpPr/>
          <p:nvPr/>
        </p:nvSpPr>
        <p:spPr>
          <a:xfrm>
            <a:off x="859536" y="4684039"/>
            <a:ext cx="6821424" cy="192913"/>
          </a:xfrm>
          <a:prstGeom prst="rect">
            <a:avLst/>
          </a:prstGeom>
          <a:noFill/>
          <a:ln/>
        </p:spPr>
        <p:txBody>
          <a:bodyPr wrap="square" lIns="0" tIns="0" rIns="0" bIns="0" rtlCol="0" anchor="ctr"/>
          <a:lstStyle/>
          <a:p>
            <a:pPr indent="0" marL="0">
              <a:buNone/>
            </a:pPr>
            <a:r>
              <a:rPr lang="en-US" sz="980" b="1" dirty="0">
                <a:solidFill>
                  <a:srgbClr val="3FAE6A"/>
                </a:solidFill>
                <a:latin typeface="Consolas" pitchFamily="34" charset="0"/>
                <a:ea typeface="Consolas" pitchFamily="34" charset="-122"/>
                <a:cs typeface="Consolas" pitchFamily="34" charset="-120"/>
              </a:rPr>
              <a:t>ok 2 tras un doble clic, el mensaje dice lo que realmente pasó</a:t>
            </a:r>
            <a:endParaRPr lang="en-US" sz="980" dirty="0"/>
          </a:p>
        </p:txBody>
      </p:sp>
      <p:sp>
        <p:nvSpPr>
          <p:cNvPr id="27" name="Text 23"/>
          <p:cNvSpPr/>
          <p:nvPr/>
        </p:nvSpPr>
        <p:spPr>
          <a:xfrm>
            <a:off x="859536" y="4876952"/>
            <a:ext cx="6821424" cy="192913"/>
          </a:xfrm>
          <a:prstGeom prst="rect">
            <a:avLst/>
          </a:prstGeom>
          <a:noFill/>
          <a:ln/>
        </p:spPr>
        <p:txBody>
          <a:bodyPr wrap="square" lIns="0" tIns="0" rIns="0" bIns="0" rtlCol="0" anchor="ctr"/>
          <a:lstStyle/>
          <a:p>
            <a:pPr indent="0" marL="0">
              <a:buNone/>
            </a:pPr>
            <a:r>
              <a:rPr lang="en-US" sz="980" dirty="0">
                <a:solidFill>
                  <a:srgbClr val="8AA0B6"/>
                </a:solidFill>
                <a:latin typeface="Consolas" pitchFamily="34" charset="0"/>
                <a:ea typeface="Consolas" pitchFamily="34" charset="-122"/>
                <a:cs typeface="Consolas" pitchFamily="34" charset="-120"/>
              </a:rPr>
              <a:t>Expected length: 1</a:t>
            </a:r>
            <a:endParaRPr lang="en-US" sz="980" dirty="0"/>
          </a:p>
        </p:txBody>
      </p:sp>
      <p:sp>
        <p:nvSpPr>
          <p:cNvPr id="28" name="Text 24"/>
          <p:cNvSpPr/>
          <p:nvPr/>
        </p:nvSpPr>
        <p:spPr>
          <a:xfrm>
            <a:off x="859536" y="5069865"/>
            <a:ext cx="6821424" cy="192913"/>
          </a:xfrm>
          <a:prstGeom prst="rect">
            <a:avLst/>
          </a:prstGeom>
          <a:noFill/>
          <a:ln/>
        </p:spPr>
        <p:txBody>
          <a:bodyPr wrap="square" lIns="0" tIns="0" rIns="0" bIns="0" rtlCol="0" anchor="ctr"/>
          <a:lstStyle/>
          <a:p>
            <a:pPr indent="0" marL="0">
              <a:buNone/>
            </a:pPr>
            <a:r>
              <a:rPr lang="en-US" sz="980" b="1" dirty="0">
                <a:solidFill>
                  <a:srgbClr val="D62027"/>
                </a:solidFill>
                <a:latin typeface="Consolas" pitchFamily="34" charset="0"/>
                <a:ea typeface="Consolas" pitchFamily="34" charset="-122"/>
                <a:cs typeface="Consolas" pitchFamily="34" charset="-120"/>
              </a:rPr>
              <a:t>Received length: 2</a:t>
            </a:r>
            <a:endParaRPr lang="en-US" sz="980" dirty="0"/>
          </a:p>
        </p:txBody>
      </p:sp>
      <p:sp>
        <p:nvSpPr>
          <p:cNvPr id="29" name="Text 25"/>
          <p:cNvSpPr/>
          <p:nvPr/>
        </p:nvSpPr>
        <p:spPr>
          <a:xfrm>
            <a:off x="859536" y="5262778"/>
            <a:ext cx="6821424" cy="192913"/>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Received array:  ["http://127.0.0.1:8000/reservas", "http://127.0.0.1:8000/reservas"]</a:t>
            </a:r>
            <a:endParaRPr lang="en-US" sz="980" dirty="0"/>
          </a:p>
        </p:txBody>
      </p:sp>
      <p:sp>
        <p:nvSpPr>
          <p:cNvPr id="30" name="Shape 26"/>
          <p:cNvSpPr/>
          <p:nvPr/>
        </p:nvSpPr>
        <p:spPr>
          <a:xfrm>
            <a:off x="8065008" y="4015638"/>
            <a:ext cx="3468319" cy="530352"/>
          </a:xfrm>
          <a:prstGeom prst="rect">
            <a:avLst/>
          </a:prstGeom>
          <a:solidFill>
            <a:srgbClr val="FFFFFF"/>
          </a:solidFill>
          <a:ln w="12700">
            <a:solidFill>
              <a:srgbClr val="FFFFFF"/>
            </a:solidFill>
            <a:prstDash val="solid"/>
          </a:ln>
        </p:spPr>
      </p:sp>
      <p:sp>
        <p:nvSpPr>
          <p:cNvPr id="31" name="Shape 27"/>
          <p:cNvSpPr/>
          <p:nvPr/>
        </p:nvSpPr>
        <p:spPr>
          <a:xfrm>
            <a:off x="8211312" y="4152798"/>
            <a:ext cx="256032" cy="256032"/>
          </a:xfrm>
          <a:prstGeom prst="ellipse">
            <a:avLst/>
          </a:prstGeom>
          <a:solidFill>
            <a:srgbClr val="E0BC5A"/>
          </a:solidFill>
          <a:ln w="12700">
            <a:solidFill>
              <a:srgbClr val="E0BC5A"/>
            </a:solidFill>
            <a:prstDash val="solid"/>
          </a:ln>
        </p:spPr>
      </p:sp>
      <p:sp>
        <p:nvSpPr>
          <p:cNvPr id="32" name="Text 28"/>
          <p:cNvSpPr/>
          <p:nvPr/>
        </p:nvSpPr>
        <p:spPr>
          <a:xfrm>
            <a:off x="8220456" y="4161942"/>
            <a:ext cx="237744" cy="237744"/>
          </a:xfrm>
          <a:prstGeom prst="rect">
            <a:avLst/>
          </a:prstGeom>
          <a:noFill/>
          <a:ln/>
        </p:spPr>
        <p:txBody>
          <a:bodyPr wrap="square" lIns="0" tIns="0" rIns="0" bIns="0" rtlCol="0" anchor="ctr"/>
          <a:lstStyle/>
          <a:p>
            <a:pPr algn="ctr" indent="0" marL="0">
              <a:buNone/>
            </a:pPr>
            <a:r>
              <a:rPr lang="en-US" sz="940" b="1" dirty="0">
                <a:solidFill>
                  <a:srgbClr val="102A43"/>
                </a:solidFill>
                <a:latin typeface="Aptos" pitchFamily="34" charset="0"/>
                <a:ea typeface="Aptos" pitchFamily="34" charset="-122"/>
                <a:cs typeface="Aptos" pitchFamily="34" charset="-120"/>
              </a:rPr>
              <a:t>1</a:t>
            </a:r>
            <a:endParaRPr lang="en-US" sz="940" dirty="0"/>
          </a:p>
        </p:txBody>
      </p:sp>
      <p:sp>
        <p:nvSpPr>
          <p:cNvPr id="33" name="Text 29"/>
          <p:cNvSpPr txBox="1"/>
          <p:nvPr/>
        </p:nvSpPr>
        <p:spPr>
          <a:xfrm>
            <a:off x="8577072" y="4070502"/>
            <a:ext cx="2864815" cy="420624"/>
          </a:xfrm>
          <a:prstGeom prst="rect">
            <a:avLst/>
          </a:prstGeom>
          <a:noFill/>
          <a:ln/>
        </p:spPr>
        <p:txBody>
          <a:bodyPr wrap="square" lIns="0" tIns="0" rIns="0" bIns="0" rtlCol="0" anchor="ctr"/>
          <a:lstStyle/>
          <a:p>
            <a:pPr algn="l" indent="0" marL="0">
              <a:lnSpc>
                <a:spcPct val="105000"/>
              </a:lnSpc>
              <a:buNone/>
            </a:pPr>
            <a:r>
              <a:rPr lang="en-US" sz="1020" dirty="0">
                <a:solidFill>
                  <a:srgbClr val="243B53"/>
                </a:solidFill>
                <a:latin typeface="Aptos" pitchFamily="34" charset="0"/>
                <a:ea typeface="Aptos" pitchFamily="34" charset="-122"/>
                <a:cs typeface="Aptos" pitchFamily="34" charset="-120"/>
              </a:rPr>
              <a:t>Espera a que la ficha diga «Tomado»: la reserva ya existe.</a:t>
            </a:r>
            <a:endParaRPr lang="en-US" sz="1020" dirty="0"/>
          </a:p>
        </p:txBody>
      </p:sp>
      <p:sp>
        <p:nvSpPr>
          <p:cNvPr id="34" name="Shape 30"/>
          <p:cNvSpPr/>
          <p:nvPr/>
        </p:nvSpPr>
        <p:spPr>
          <a:xfrm>
            <a:off x="8065008" y="4619142"/>
            <a:ext cx="3468319" cy="530352"/>
          </a:xfrm>
          <a:prstGeom prst="rect">
            <a:avLst/>
          </a:prstGeom>
          <a:solidFill>
            <a:srgbClr val="FFFFFF"/>
          </a:solidFill>
          <a:ln w="12700">
            <a:solidFill>
              <a:srgbClr val="FFFFFF"/>
            </a:solidFill>
            <a:prstDash val="solid"/>
          </a:ln>
        </p:spPr>
      </p:sp>
      <p:sp>
        <p:nvSpPr>
          <p:cNvPr id="35" name="Shape 31"/>
          <p:cNvSpPr/>
          <p:nvPr/>
        </p:nvSpPr>
        <p:spPr>
          <a:xfrm>
            <a:off x="8211312" y="4756302"/>
            <a:ext cx="256032" cy="256032"/>
          </a:xfrm>
          <a:prstGeom prst="ellipse">
            <a:avLst/>
          </a:prstGeom>
          <a:solidFill>
            <a:srgbClr val="2E7D4F"/>
          </a:solidFill>
          <a:ln w="12700">
            <a:solidFill>
              <a:srgbClr val="2E7D4F"/>
            </a:solidFill>
            <a:prstDash val="solid"/>
          </a:ln>
        </p:spPr>
      </p:sp>
      <p:sp>
        <p:nvSpPr>
          <p:cNvPr id="36" name="Text 32"/>
          <p:cNvSpPr/>
          <p:nvPr/>
        </p:nvSpPr>
        <p:spPr>
          <a:xfrm>
            <a:off x="8220456" y="4765446"/>
            <a:ext cx="237744" cy="23774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2</a:t>
            </a:r>
            <a:endParaRPr lang="en-US" sz="940" dirty="0"/>
          </a:p>
        </p:txBody>
      </p:sp>
      <p:sp>
        <p:nvSpPr>
          <p:cNvPr id="37" name="Text 33"/>
          <p:cNvSpPr txBox="1"/>
          <p:nvPr/>
        </p:nvSpPr>
        <p:spPr>
          <a:xfrm>
            <a:off x="8577072" y="4674006"/>
            <a:ext cx="2864815" cy="420624"/>
          </a:xfrm>
          <a:prstGeom prst="rect">
            <a:avLst/>
          </a:prstGeom>
          <a:noFill/>
          <a:ln/>
        </p:spPr>
        <p:txBody>
          <a:bodyPr wrap="square" lIns="0" tIns="0" rIns="0" bIns="0" rtlCol="0" anchor="ctr"/>
          <a:lstStyle/>
          <a:p>
            <a:pPr algn="l" indent="0" marL="0">
              <a:lnSpc>
                <a:spcPct val="105000"/>
              </a:lnSpc>
              <a:buNone/>
            </a:pPr>
            <a:r>
              <a:rPr lang="en-US" sz="1020" dirty="0">
                <a:solidFill>
                  <a:srgbClr val="243B53"/>
                </a:solidFill>
                <a:latin typeface="Aptos" pitchFamily="34" charset="0"/>
                <a:ea typeface="Aptos" pitchFamily="34" charset="-122"/>
                <a:cs typeface="Aptos" pitchFamily="34" charset="-120"/>
              </a:rPr>
              <a:t>Afirma que el mensaje dice «Reserva confirmada».</a:t>
            </a:r>
            <a:endParaRPr lang="en-US" sz="1020" dirty="0"/>
          </a:p>
        </p:txBody>
      </p:sp>
      <p:sp>
        <p:nvSpPr>
          <p:cNvPr id="38" name="Text 34"/>
          <p:cNvSpPr txBox="1"/>
          <p:nvPr/>
        </p:nvSpPr>
        <p:spPr>
          <a:xfrm>
            <a:off x="8065008" y="5259222"/>
            <a:ext cx="3468319" cy="548640"/>
          </a:xfrm>
          <a:prstGeom prst="rect">
            <a:avLst/>
          </a:prstGeom>
          <a:noFill/>
          <a:ln/>
        </p:spPr>
        <p:txBody>
          <a:bodyPr wrap="square" lIns="0" tIns="0" rIns="0" bIns="0" rtlCol="0" anchor="t"/>
          <a:lstStyle/>
          <a:p>
            <a:pPr algn="l" indent="0" marL="0">
              <a:lnSpc>
                <a:spcPct val="110000"/>
              </a:lnSpc>
              <a:buNone/>
            </a:pPr>
            <a:r>
              <a:rPr lang="en-US" sz="1060" b="1" dirty="0">
                <a:solidFill>
                  <a:srgbClr val="B3181E"/>
                </a:solidFill>
                <a:latin typeface="Aptos" pitchFamily="34" charset="0"/>
                <a:ea typeface="Aptos" pitchFamily="34" charset="-122"/>
                <a:cs typeface="Aptos" pitchFamily="34" charset="-120"/>
              </a:rPr>
              <a:t>Salieron dos solicitudes. Y la B, la que parecía más fiel al problema, está en verde.</a:t>
            </a:r>
            <a:endParaRPr lang="en-US" sz="106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UN INSTANTE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La confirmación sí aparece, y dura un instante</a:t>
            </a:r>
            <a:endParaRPr lang="en-US" sz="2800" dirty="0"/>
          </a:p>
        </p:txBody>
      </p:sp>
      <p:sp>
        <p:nvSpPr>
          <p:cNvPr id="10" name="Text 7"/>
          <p:cNvSpPr txBox="1"/>
          <p:nvPr/>
        </p:nvSpPr>
        <p:spPr>
          <a:xfrm>
            <a:off x="658368" y="1737360"/>
            <a:ext cx="10874959" cy="256032"/>
          </a:xfrm>
          <a:prstGeom prst="rect">
            <a:avLst/>
          </a:prstGeom>
          <a:noFill/>
          <a:ln/>
        </p:spPr>
        <p:txBody>
          <a:bodyPr wrap="square" lIns="0" tIns="0" rIns="0" bIns="0" rtlCol="0" anchor="t"/>
          <a:lstStyle/>
          <a:p>
            <a:pPr algn="l" indent="0" marL="0">
              <a:buNone/>
            </a:pPr>
            <a:r>
              <a:rPr lang="en-US" sz="1200" dirty="0">
                <a:solidFill>
                  <a:srgbClr val="52606D"/>
                </a:solidFill>
                <a:latin typeface="Aptos" pitchFamily="34" charset="0"/>
                <a:ea typeface="Aptos" pitchFamily="34" charset="-122"/>
                <a:cs typeface="Aptos" pitchFamily="34" charset="-120"/>
              </a:rPr>
              <a:t>El párrafo de mensajes durante el doble clic, en tres ejecuciones, con el momento de cada cambio.</a:t>
            </a:r>
            <a:endParaRPr lang="en-US" sz="1200" dirty="0"/>
          </a:p>
        </p:txBody>
      </p:sp>
      <p:sp>
        <p:nvSpPr>
          <p:cNvPr id="11" name="Text 8"/>
          <p:cNvSpPr txBox="1"/>
          <p:nvPr/>
        </p:nvSpPr>
        <p:spPr>
          <a:xfrm>
            <a:off x="2011680" y="2139696"/>
            <a:ext cx="64008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0 ms</a:t>
            </a:r>
            <a:endParaRPr lang="en-US" sz="840" dirty="0"/>
          </a:p>
        </p:txBody>
      </p:sp>
      <p:sp>
        <p:nvSpPr>
          <p:cNvPr id="12" name="Text 9"/>
          <p:cNvSpPr txBox="1"/>
          <p:nvPr/>
        </p:nvSpPr>
        <p:spPr>
          <a:xfrm>
            <a:off x="3369303" y="2139696"/>
            <a:ext cx="64008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100 ms</a:t>
            </a:r>
            <a:endParaRPr lang="en-US" sz="840" dirty="0"/>
          </a:p>
        </p:txBody>
      </p:sp>
      <p:sp>
        <p:nvSpPr>
          <p:cNvPr id="13" name="Text 10"/>
          <p:cNvSpPr txBox="1"/>
          <p:nvPr/>
        </p:nvSpPr>
        <p:spPr>
          <a:xfrm>
            <a:off x="4726925" y="2139696"/>
            <a:ext cx="64008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200 ms</a:t>
            </a:r>
            <a:endParaRPr lang="en-US" sz="840" dirty="0"/>
          </a:p>
        </p:txBody>
      </p:sp>
      <p:sp>
        <p:nvSpPr>
          <p:cNvPr id="14" name="Text 11"/>
          <p:cNvSpPr txBox="1"/>
          <p:nvPr/>
        </p:nvSpPr>
        <p:spPr>
          <a:xfrm>
            <a:off x="6084548" y="2139696"/>
            <a:ext cx="64008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300 ms</a:t>
            </a:r>
            <a:endParaRPr lang="en-US" sz="840" dirty="0"/>
          </a:p>
        </p:txBody>
      </p:sp>
      <p:sp>
        <p:nvSpPr>
          <p:cNvPr id="15" name="Text 12"/>
          <p:cNvSpPr txBox="1"/>
          <p:nvPr/>
        </p:nvSpPr>
        <p:spPr>
          <a:xfrm>
            <a:off x="7442171" y="2139696"/>
            <a:ext cx="64008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400 ms</a:t>
            </a:r>
            <a:endParaRPr lang="en-US" sz="840" dirty="0"/>
          </a:p>
        </p:txBody>
      </p:sp>
      <p:sp>
        <p:nvSpPr>
          <p:cNvPr id="16" name="Text 13"/>
          <p:cNvSpPr txBox="1"/>
          <p:nvPr/>
        </p:nvSpPr>
        <p:spPr>
          <a:xfrm>
            <a:off x="8799794" y="2139696"/>
            <a:ext cx="64008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500 ms</a:t>
            </a:r>
            <a:endParaRPr lang="en-US" sz="840" dirty="0"/>
          </a:p>
        </p:txBody>
      </p:sp>
      <p:sp>
        <p:nvSpPr>
          <p:cNvPr id="17" name="Text 14"/>
          <p:cNvSpPr txBox="1"/>
          <p:nvPr/>
        </p:nvSpPr>
        <p:spPr>
          <a:xfrm>
            <a:off x="10157416" y="2139696"/>
            <a:ext cx="640080" cy="164592"/>
          </a:xfrm>
          <a:prstGeom prst="rect">
            <a:avLst/>
          </a:prstGeom>
          <a:noFill/>
          <a:ln/>
        </p:spPr>
        <p:txBody>
          <a:bodyPr wrap="square" lIns="0" tIns="0" rIns="0" bIns="0" rtlCol="0" anchor="t"/>
          <a:lstStyle/>
          <a:p>
            <a:pPr algn="l" indent="0" marL="0">
              <a:buNone/>
            </a:pPr>
            <a:r>
              <a:rPr lang="en-US" sz="840" dirty="0">
                <a:solidFill>
                  <a:srgbClr val="52606D"/>
                </a:solidFill>
                <a:latin typeface="Consolas" pitchFamily="34" charset="0"/>
                <a:ea typeface="Consolas" pitchFamily="34" charset="-122"/>
                <a:cs typeface="Consolas" pitchFamily="34" charset="-120"/>
              </a:rPr>
              <a:t>600 ms</a:t>
            </a:r>
            <a:endParaRPr lang="en-US" sz="840" dirty="0"/>
          </a:p>
        </p:txBody>
      </p:sp>
      <p:sp>
        <p:nvSpPr>
          <p:cNvPr id="18" name="Shape 15"/>
          <p:cNvSpPr/>
          <p:nvPr/>
        </p:nvSpPr>
        <p:spPr>
          <a:xfrm>
            <a:off x="2029968" y="2359152"/>
            <a:ext cx="9503359" cy="0"/>
          </a:xfrm>
          <a:prstGeom prst="line">
            <a:avLst/>
          </a:prstGeom>
          <a:noFill/>
          <a:ln w="12700">
            <a:solidFill>
              <a:srgbClr val="D8CFC4"/>
            </a:solidFill>
            <a:prstDash val="solid"/>
            <a:headEnd type="none"/>
            <a:tailEnd type="none"/>
          </a:ln>
        </p:spPr>
      </p:sp>
      <p:sp>
        <p:nvSpPr>
          <p:cNvPr id="19" name="Text 16"/>
          <p:cNvSpPr txBox="1"/>
          <p:nvPr/>
        </p:nvSpPr>
        <p:spPr>
          <a:xfrm>
            <a:off x="658368" y="2560320"/>
            <a:ext cx="1280160" cy="274320"/>
          </a:xfrm>
          <a:prstGeom prst="rect">
            <a:avLst/>
          </a:prstGeom>
          <a:noFill/>
          <a:ln/>
        </p:spPr>
        <p:txBody>
          <a:bodyPr wrap="square" lIns="0" tIns="0" rIns="0" bIns="0" rtlCol="0" anchor="ctr"/>
          <a:lstStyle/>
          <a:p>
            <a:pPr algn="l" indent="0" marL="0">
              <a:buNone/>
            </a:pPr>
            <a:r>
              <a:rPr lang="en-US" sz="1140" b="1" dirty="0">
                <a:solidFill>
                  <a:srgbClr val="243B53"/>
                </a:solidFill>
                <a:latin typeface="Aptos" pitchFamily="34" charset="0"/>
                <a:ea typeface="Aptos" pitchFamily="34" charset="-122"/>
                <a:cs typeface="Aptos" pitchFamily="34" charset="-120"/>
              </a:rPr>
              <a:t>Corrida 1</a:t>
            </a:r>
            <a:endParaRPr lang="en-US" sz="1140" dirty="0"/>
          </a:p>
        </p:txBody>
      </p:sp>
      <p:sp>
        <p:nvSpPr>
          <p:cNvPr id="20" name="Shape 17"/>
          <p:cNvSpPr/>
          <p:nvPr/>
        </p:nvSpPr>
        <p:spPr>
          <a:xfrm>
            <a:off x="2029968" y="2505456"/>
            <a:ext cx="1954977" cy="384048"/>
          </a:xfrm>
          <a:prstGeom prst="rect">
            <a:avLst/>
          </a:prstGeom>
          <a:solidFill>
            <a:srgbClr val="EDE6DA"/>
          </a:solidFill>
          <a:ln w="12700">
            <a:solidFill>
              <a:srgbClr val="EDE6DA"/>
            </a:solidFill>
            <a:prstDash val="solid"/>
          </a:ln>
        </p:spPr>
      </p:sp>
      <p:sp>
        <p:nvSpPr>
          <p:cNvPr id="21" name="Shape 18"/>
          <p:cNvSpPr/>
          <p:nvPr/>
        </p:nvSpPr>
        <p:spPr>
          <a:xfrm>
            <a:off x="3984945" y="2505456"/>
            <a:ext cx="1805638" cy="384048"/>
          </a:xfrm>
          <a:prstGeom prst="rect">
            <a:avLst/>
          </a:prstGeom>
          <a:solidFill>
            <a:srgbClr val="2E7D4F"/>
          </a:solidFill>
          <a:ln w="12700">
            <a:solidFill>
              <a:srgbClr val="2E7D4F"/>
            </a:solidFill>
            <a:prstDash val="solid"/>
          </a:ln>
        </p:spPr>
      </p:sp>
      <p:sp>
        <p:nvSpPr>
          <p:cNvPr id="22" name="Text 19"/>
          <p:cNvSpPr txBox="1"/>
          <p:nvPr/>
        </p:nvSpPr>
        <p:spPr>
          <a:xfrm>
            <a:off x="4058097" y="2560320"/>
            <a:ext cx="1695910" cy="274320"/>
          </a:xfrm>
          <a:prstGeom prst="rect">
            <a:avLst/>
          </a:prstGeom>
          <a:noFill/>
          <a:ln/>
        </p:spPr>
        <p:txBody>
          <a:bodyPr wrap="square" lIns="0" tIns="0" rIns="0" bIns="0" rtlCol="0" anchor="ctr"/>
          <a:lstStyle/>
          <a:p>
            <a:pPr algn="l" indent="0" marL="0">
              <a:buNone/>
            </a:pPr>
            <a:r>
              <a:rPr lang="en-US" sz="1040" b="1" dirty="0">
                <a:solidFill>
                  <a:srgbClr val="FFFFFF"/>
                </a:solidFill>
                <a:latin typeface="Aptos" pitchFamily="34" charset="0"/>
                <a:ea typeface="Aptos" pitchFamily="34" charset="-122"/>
                <a:cs typeface="Aptos" pitchFamily="34" charset="-120"/>
              </a:rPr>
              <a:t>133 ms</a:t>
            </a:r>
            <a:endParaRPr lang="en-US" sz="1040" dirty="0"/>
          </a:p>
        </p:txBody>
      </p:sp>
      <p:sp>
        <p:nvSpPr>
          <p:cNvPr id="23" name="Shape 20"/>
          <p:cNvSpPr/>
          <p:nvPr/>
        </p:nvSpPr>
        <p:spPr>
          <a:xfrm>
            <a:off x="5790583" y="2505456"/>
            <a:ext cx="5742744" cy="384048"/>
          </a:xfrm>
          <a:prstGeom prst="rect">
            <a:avLst/>
          </a:prstGeom>
          <a:solidFill>
            <a:srgbClr val="B3181E"/>
          </a:solidFill>
          <a:ln w="12700">
            <a:solidFill>
              <a:srgbClr val="B3181E"/>
            </a:solidFill>
            <a:prstDash val="solid"/>
          </a:ln>
        </p:spPr>
      </p:sp>
      <p:sp>
        <p:nvSpPr>
          <p:cNvPr id="24" name="Text 21"/>
          <p:cNvSpPr txBox="1"/>
          <p:nvPr/>
        </p:nvSpPr>
        <p:spPr>
          <a:xfrm>
            <a:off x="5882023" y="2560320"/>
            <a:ext cx="5596440" cy="274320"/>
          </a:xfrm>
          <a:prstGeom prst="rect">
            <a:avLst/>
          </a:prstGeom>
          <a:noFill/>
          <a:ln/>
        </p:spPr>
        <p:txBody>
          <a:bodyPr wrap="square" lIns="0" tIns="0" rIns="0" bIns="0" rtlCol="0" anchor="ctr"/>
          <a:lstStyle/>
          <a:p>
            <a:pPr algn="l" indent="0" marL="0">
              <a:buNone/>
            </a:pPr>
            <a:r>
              <a:rPr lang="en-US" sz="1040" b="1" dirty="0">
                <a:solidFill>
                  <a:srgbClr val="FFFFFF"/>
                </a:solidFill>
                <a:latin typeface="Aptos" pitchFamily="34" charset="0"/>
                <a:ea typeface="Aptos" pitchFamily="34" charset="-122"/>
                <a:cs typeface="Aptos" pitchFamily="34" charset="-120"/>
              </a:rPr>
              <a:t>La reserva no esta permitida</a:t>
            </a:r>
            <a:endParaRPr lang="en-US" sz="1040" dirty="0"/>
          </a:p>
        </p:txBody>
      </p:sp>
      <p:sp>
        <p:nvSpPr>
          <p:cNvPr id="25" name="Text 22"/>
          <p:cNvSpPr txBox="1"/>
          <p:nvPr/>
        </p:nvSpPr>
        <p:spPr>
          <a:xfrm>
            <a:off x="658368" y="3127248"/>
            <a:ext cx="1280160" cy="274320"/>
          </a:xfrm>
          <a:prstGeom prst="rect">
            <a:avLst/>
          </a:prstGeom>
          <a:noFill/>
          <a:ln/>
        </p:spPr>
        <p:txBody>
          <a:bodyPr wrap="square" lIns="0" tIns="0" rIns="0" bIns="0" rtlCol="0" anchor="ctr"/>
          <a:lstStyle/>
          <a:p>
            <a:pPr algn="l" indent="0" marL="0">
              <a:buNone/>
            </a:pPr>
            <a:r>
              <a:rPr lang="en-US" sz="1140" b="1" dirty="0">
                <a:solidFill>
                  <a:srgbClr val="243B53"/>
                </a:solidFill>
                <a:latin typeface="Aptos" pitchFamily="34" charset="0"/>
                <a:ea typeface="Aptos" pitchFamily="34" charset="-122"/>
                <a:cs typeface="Aptos" pitchFamily="34" charset="-120"/>
              </a:rPr>
              <a:t>Corrida 2</a:t>
            </a:r>
            <a:endParaRPr lang="en-US" sz="1140" dirty="0"/>
          </a:p>
        </p:txBody>
      </p:sp>
      <p:sp>
        <p:nvSpPr>
          <p:cNvPr id="26" name="Shape 23"/>
          <p:cNvSpPr/>
          <p:nvPr/>
        </p:nvSpPr>
        <p:spPr>
          <a:xfrm>
            <a:off x="2029968" y="3072384"/>
            <a:ext cx="3271871" cy="384048"/>
          </a:xfrm>
          <a:prstGeom prst="rect">
            <a:avLst/>
          </a:prstGeom>
          <a:solidFill>
            <a:srgbClr val="EDE6DA"/>
          </a:solidFill>
          <a:ln w="12700">
            <a:solidFill>
              <a:srgbClr val="EDE6DA"/>
            </a:solidFill>
            <a:prstDash val="solid"/>
          </a:ln>
        </p:spPr>
      </p:sp>
      <p:sp>
        <p:nvSpPr>
          <p:cNvPr id="27" name="Shape 24"/>
          <p:cNvSpPr/>
          <p:nvPr/>
        </p:nvSpPr>
        <p:spPr>
          <a:xfrm>
            <a:off x="5301839" y="3072384"/>
            <a:ext cx="2443721" cy="384048"/>
          </a:xfrm>
          <a:prstGeom prst="rect">
            <a:avLst/>
          </a:prstGeom>
          <a:solidFill>
            <a:srgbClr val="2E7D4F"/>
          </a:solidFill>
          <a:ln w="12700">
            <a:solidFill>
              <a:srgbClr val="2E7D4F"/>
            </a:solidFill>
            <a:prstDash val="solid"/>
          </a:ln>
        </p:spPr>
      </p:sp>
      <p:sp>
        <p:nvSpPr>
          <p:cNvPr id="28" name="Text 25"/>
          <p:cNvSpPr txBox="1"/>
          <p:nvPr/>
        </p:nvSpPr>
        <p:spPr>
          <a:xfrm>
            <a:off x="5374991" y="3127248"/>
            <a:ext cx="2333993" cy="274320"/>
          </a:xfrm>
          <a:prstGeom prst="rect">
            <a:avLst/>
          </a:prstGeom>
          <a:noFill/>
          <a:ln/>
        </p:spPr>
        <p:txBody>
          <a:bodyPr wrap="square" lIns="0" tIns="0" rIns="0" bIns="0" rtlCol="0" anchor="ctr"/>
          <a:lstStyle/>
          <a:p>
            <a:pPr algn="l" indent="0" marL="0">
              <a:buNone/>
            </a:pPr>
            <a:r>
              <a:rPr lang="en-US" sz="1040" b="1" dirty="0">
                <a:solidFill>
                  <a:srgbClr val="FFFFFF"/>
                </a:solidFill>
                <a:latin typeface="Aptos" pitchFamily="34" charset="0"/>
                <a:ea typeface="Aptos" pitchFamily="34" charset="-122"/>
                <a:cs typeface="Aptos" pitchFamily="34" charset="-120"/>
              </a:rPr>
              <a:t>180 ms</a:t>
            </a:r>
            <a:endParaRPr lang="en-US" sz="1040" dirty="0"/>
          </a:p>
        </p:txBody>
      </p:sp>
      <p:sp>
        <p:nvSpPr>
          <p:cNvPr id="29" name="Shape 26"/>
          <p:cNvSpPr/>
          <p:nvPr/>
        </p:nvSpPr>
        <p:spPr>
          <a:xfrm>
            <a:off x="7745560" y="3072384"/>
            <a:ext cx="3787767" cy="384048"/>
          </a:xfrm>
          <a:prstGeom prst="rect">
            <a:avLst/>
          </a:prstGeom>
          <a:solidFill>
            <a:srgbClr val="B3181E"/>
          </a:solidFill>
          <a:ln w="12700">
            <a:solidFill>
              <a:srgbClr val="B3181E"/>
            </a:solidFill>
            <a:prstDash val="solid"/>
          </a:ln>
        </p:spPr>
      </p:sp>
      <p:sp>
        <p:nvSpPr>
          <p:cNvPr id="30" name="Text 27"/>
          <p:cNvSpPr txBox="1"/>
          <p:nvPr/>
        </p:nvSpPr>
        <p:spPr>
          <a:xfrm>
            <a:off x="7837000" y="3127248"/>
            <a:ext cx="3641463" cy="274320"/>
          </a:xfrm>
          <a:prstGeom prst="rect">
            <a:avLst/>
          </a:prstGeom>
          <a:noFill/>
          <a:ln/>
        </p:spPr>
        <p:txBody>
          <a:bodyPr wrap="square" lIns="0" tIns="0" rIns="0" bIns="0" rtlCol="0" anchor="ctr"/>
          <a:lstStyle/>
          <a:p>
            <a:pPr algn="l" indent="0" marL="0">
              <a:buNone/>
            </a:pPr>
            <a:r>
              <a:rPr lang="en-US" sz="1040" b="1" dirty="0">
                <a:solidFill>
                  <a:srgbClr val="FFFFFF"/>
                </a:solidFill>
                <a:latin typeface="Aptos" pitchFamily="34" charset="0"/>
                <a:ea typeface="Aptos" pitchFamily="34" charset="-122"/>
                <a:cs typeface="Aptos" pitchFamily="34" charset="-120"/>
              </a:rPr>
              <a:t>La reserva no esta permitida</a:t>
            </a:r>
            <a:endParaRPr lang="en-US" sz="1040" dirty="0"/>
          </a:p>
        </p:txBody>
      </p:sp>
      <p:sp>
        <p:nvSpPr>
          <p:cNvPr id="31" name="Text 28"/>
          <p:cNvSpPr txBox="1"/>
          <p:nvPr/>
        </p:nvSpPr>
        <p:spPr>
          <a:xfrm>
            <a:off x="658368" y="3694176"/>
            <a:ext cx="1280160" cy="274320"/>
          </a:xfrm>
          <a:prstGeom prst="rect">
            <a:avLst/>
          </a:prstGeom>
          <a:noFill/>
          <a:ln/>
        </p:spPr>
        <p:txBody>
          <a:bodyPr wrap="square" lIns="0" tIns="0" rIns="0" bIns="0" rtlCol="0" anchor="ctr"/>
          <a:lstStyle/>
          <a:p>
            <a:pPr algn="l" indent="0" marL="0">
              <a:buNone/>
            </a:pPr>
            <a:r>
              <a:rPr lang="en-US" sz="1140" b="1" dirty="0">
                <a:solidFill>
                  <a:srgbClr val="243B53"/>
                </a:solidFill>
                <a:latin typeface="Aptos" pitchFamily="34" charset="0"/>
                <a:ea typeface="Aptos" pitchFamily="34" charset="-122"/>
                <a:cs typeface="Aptos" pitchFamily="34" charset="-120"/>
              </a:rPr>
              <a:t>Corrida 3</a:t>
            </a:r>
            <a:endParaRPr lang="en-US" sz="1140" dirty="0"/>
          </a:p>
        </p:txBody>
      </p:sp>
      <p:sp>
        <p:nvSpPr>
          <p:cNvPr id="32" name="Shape 29"/>
          <p:cNvSpPr/>
          <p:nvPr/>
        </p:nvSpPr>
        <p:spPr>
          <a:xfrm>
            <a:off x="2029968" y="3639312"/>
            <a:ext cx="2402992" cy="384048"/>
          </a:xfrm>
          <a:prstGeom prst="rect">
            <a:avLst/>
          </a:prstGeom>
          <a:solidFill>
            <a:srgbClr val="EDE6DA"/>
          </a:solidFill>
          <a:ln w="12700">
            <a:solidFill>
              <a:srgbClr val="EDE6DA"/>
            </a:solidFill>
            <a:prstDash val="solid"/>
          </a:ln>
        </p:spPr>
      </p:sp>
      <p:sp>
        <p:nvSpPr>
          <p:cNvPr id="33" name="Shape 30"/>
          <p:cNvSpPr/>
          <p:nvPr/>
        </p:nvSpPr>
        <p:spPr>
          <a:xfrm>
            <a:off x="4432960" y="3639312"/>
            <a:ext cx="4154326" cy="384048"/>
          </a:xfrm>
          <a:prstGeom prst="rect">
            <a:avLst/>
          </a:prstGeom>
          <a:solidFill>
            <a:srgbClr val="2E7D4F"/>
          </a:solidFill>
          <a:ln w="12700">
            <a:solidFill>
              <a:srgbClr val="2E7D4F"/>
            </a:solidFill>
            <a:prstDash val="solid"/>
          </a:ln>
        </p:spPr>
      </p:sp>
      <p:sp>
        <p:nvSpPr>
          <p:cNvPr id="34" name="Text 31"/>
          <p:cNvSpPr txBox="1"/>
          <p:nvPr/>
        </p:nvSpPr>
        <p:spPr>
          <a:xfrm>
            <a:off x="4506112" y="3694176"/>
            <a:ext cx="4044598" cy="274320"/>
          </a:xfrm>
          <a:prstGeom prst="rect">
            <a:avLst/>
          </a:prstGeom>
          <a:noFill/>
          <a:ln/>
        </p:spPr>
        <p:txBody>
          <a:bodyPr wrap="square" lIns="0" tIns="0" rIns="0" bIns="0" rtlCol="0" anchor="ctr"/>
          <a:lstStyle/>
          <a:p>
            <a:pPr algn="l" indent="0" marL="0">
              <a:buNone/>
            </a:pPr>
            <a:r>
              <a:rPr lang="en-US" sz="1040" b="1" dirty="0">
                <a:solidFill>
                  <a:srgbClr val="FFFFFF"/>
                </a:solidFill>
                <a:latin typeface="Aptos" pitchFamily="34" charset="0"/>
                <a:ea typeface="Aptos" pitchFamily="34" charset="-122"/>
                <a:cs typeface="Aptos" pitchFamily="34" charset="-120"/>
              </a:rPr>
              <a:t>306 ms</a:t>
            </a:r>
            <a:endParaRPr lang="en-US" sz="1040" dirty="0"/>
          </a:p>
        </p:txBody>
      </p:sp>
      <p:sp>
        <p:nvSpPr>
          <p:cNvPr id="35" name="Shape 32"/>
          <p:cNvSpPr/>
          <p:nvPr/>
        </p:nvSpPr>
        <p:spPr>
          <a:xfrm>
            <a:off x="8587286" y="3639312"/>
            <a:ext cx="2946041" cy="384048"/>
          </a:xfrm>
          <a:prstGeom prst="rect">
            <a:avLst/>
          </a:prstGeom>
          <a:solidFill>
            <a:srgbClr val="B3181E"/>
          </a:solidFill>
          <a:ln w="12700">
            <a:solidFill>
              <a:srgbClr val="B3181E"/>
            </a:solidFill>
            <a:prstDash val="solid"/>
          </a:ln>
        </p:spPr>
      </p:sp>
      <p:sp>
        <p:nvSpPr>
          <p:cNvPr id="36" name="Text 33"/>
          <p:cNvSpPr txBox="1"/>
          <p:nvPr/>
        </p:nvSpPr>
        <p:spPr>
          <a:xfrm>
            <a:off x="8678726" y="3694176"/>
            <a:ext cx="2799737" cy="274320"/>
          </a:xfrm>
          <a:prstGeom prst="rect">
            <a:avLst/>
          </a:prstGeom>
          <a:noFill/>
          <a:ln/>
        </p:spPr>
        <p:txBody>
          <a:bodyPr wrap="square" lIns="0" tIns="0" rIns="0" bIns="0" rtlCol="0" anchor="ctr"/>
          <a:lstStyle/>
          <a:p>
            <a:pPr algn="l" indent="0" marL="0">
              <a:buNone/>
            </a:pPr>
            <a:r>
              <a:rPr lang="en-US" sz="1040" b="1" dirty="0">
                <a:solidFill>
                  <a:srgbClr val="FFFFFF"/>
                </a:solidFill>
                <a:latin typeface="Aptos" pitchFamily="34" charset="0"/>
                <a:ea typeface="Aptos" pitchFamily="34" charset="-122"/>
                <a:cs typeface="Aptos" pitchFamily="34" charset="-120"/>
              </a:rPr>
              <a:t>La reserva no esta permitida</a:t>
            </a:r>
            <a:endParaRPr lang="en-US" sz="1040" dirty="0"/>
          </a:p>
        </p:txBody>
      </p:sp>
      <p:sp>
        <p:nvSpPr>
          <p:cNvPr id="37" name="Shape 34"/>
          <p:cNvSpPr/>
          <p:nvPr/>
        </p:nvSpPr>
        <p:spPr>
          <a:xfrm>
            <a:off x="658368" y="4288536"/>
            <a:ext cx="219456" cy="164592"/>
          </a:xfrm>
          <a:prstGeom prst="rect">
            <a:avLst/>
          </a:prstGeom>
          <a:solidFill>
            <a:srgbClr val="EDE6DA"/>
          </a:solidFill>
          <a:ln w="12700">
            <a:solidFill>
              <a:srgbClr val="D8CFC4"/>
            </a:solidFill>
            <a:prstDash val="solid"/>
          </a:ln>
        </p:spPr>
      </p:sp>
      <p:sp>
        <p:nvSpPr>
          <p:cNvPr id="38" name="Text 35"/>
          <p:cNvSpPr txBox="1"/>
          <p:nvPr/>
        </p:nvSpPr>
        <p:spPr>
          <a:xfrm>
            <a:off x="969264" y="4242816"/>
            <a:ext cx="2103120" cy="256032"/>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Todavía no hay mensaje.</a:t>
            </a:r>
            <a:endParaRPr lang="en-US" sz="1040" dirty="0"/>
          </a:p>
        </p:txBody>
      </p:sp>
      <p:sp>
        <p:nvSpPr>
          <p:cNvPr id="39" name="Shape 36"/>
          <p:cNvSpPr/>
          <p:nvPr/>
        </p:nvSpPr>
        <p:spPr>
          <a:xfrm>
            <a:off x="3127248" y="4288536"/>
            <a:ext cx="219456" cy="164592"/>
          </a:xfrm>
          <a:prstGeom prst="rect">
            <a:avLst/>
          </a:prstGeom>
          <a:solidFill>
            <a:srgbClr val="2E7D4F"/>
          </a:solidFill>
          <a:ln w="12700">
            <a:solidFill>
              <a:srgbClr val="2E7D4F"/>
            </a:solidFill>
            <a:prstDash val="solid"/>
          </a:ln>
        </p:spPr>
      </p:sp>
      <p:sp>
        <p:nvSpPr>
          <p:cNvPr id="40" name="Text 37"/>
          <p:cNvSpPr txBox="1"/>
          <p:nvPr/>
        </p:nvSpPr>
        <p:spPr>
          <a:xfrm>
            <a:off x="3438144" y="4242816"/>
            <a:ext cx="4206240" cy="256032"/>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Reserva confirmada: llegó la respuesta de la primera solicitud.</a:t>
            </a:r>
            <a:endParaRPr lang="en-US" sz="1040" dirty="0"/>
          </a:p>
        </p:txBody>
      </p:sp>
      <p:sp>
        <p:nvSpPr>
          <p:cNvPr id="41" name="Shape 38"/>
          <p:cNvSpPr/>
          <p:nvPr/>
        </p:nvSpPr>
        <p:spPr>
          <a:xfrm>
            <a:off x="7424928" y="4288536"/>
            <a:ext cx="219456" cy="164592"/>
          </a:xfrm>
          <a:prstGeom prst="rect">
            <a:avLst/>
          </a:prstGeom>
          <a:solidFill>
            <a:srgbClr val="B3181E"/>
          </a:solidFill>
          <a:ln w="12700">
            <a:solidFill>
              <a:srgbClr val="B3181E"/>
            </a:solidFill>
            <a:prstDash val="solid"/>
          </a:ln>
        </p:spPr>
      </p:sp>
      <p:sp>
        <p:nvSpPr>
          <p:cNvPr id="42" name="Text 39"/>
          <p:cNvSpPr txBox="1"/>
          <p:nvPr/>
        </p:nvSpPr>
        <p:spPr>
          <a:xfrm>
            <a:off x="7735824" y="4242816"/>
            <a:ext cx="4023360" cy="256032"/>
          </a:xfrm>
          <a:prstGeom prst="rect">
            <a:avLst/>
          </a:prstGeom>
          <a:noFill/>
          <a:ln/>
        </p:spPr>
        <p:txBody>
          <a:bodyPr wrap="square" lIns="0" tIns="0" rIns="0" bIns="0" rtlCol="0" anchor="t"/>
          <a:lstStyle/>
          <a:p>
            <a:pPr algn="l" indent="0" marL="0">
              <a:buNone/>
            </a:pPr>
            <a:r>
              <a:rPr lang="en-US" sz="1040" dirty="0">
                <a:solidFill>
                  <a:srgbClr val="243B53"/>
                </a:solidFill>
                <a:latin typeface="Aptos" pitchFamily="34" charset="0"/>
                <a:ea typeface="Aptos" pitchFamily="34" charset="-122"/>
                <a:cs typeface="Aptos" pitchFamily="34" charset="-120"/>
              </a:rPr>
              <a:t>Rechazo: llegó la de la segunda, lo reemplazó, y queda.</a:t>
            </a:r>
            <a:endParaRPr lang="en-US" sz="1040" dirty="0"/>
          </a:p>
        </p:txBody>
      </p:sp>
      <p:sp>
        <p:nvSpPr>
          <p:cNvPr id="43" name="Shape 40"/>
          <p:cNvSpPr/>
          <p:nvPr/>
        </p:nvSpPr>
        <p:spPr>
          <a:xfrm>
            <a:off x="658368" y="4645152"/>
            <a:ext cx="10874959" cy="822960"/>
          </a:xfrm>
          <a:prstGeom prst="rect">
            <a:avLst/>
          </a:prstGeom>
          <a:solidFill>
            <a:srgbClr val="1D3A57"/>
          </a:solidFill>
          <a:ln w="12700">
            <a:solidFill>
              <a:srgbClr val="1D3A57"/>
            </a:solidFill>
            <a:prstDash val="solid"/>
          </a:ln>
        </p:spPr>
      </p:sp>
      <p:sp>
        <p:nvSpPr>
          <p:cNvPr id="44" name="Text 41"/>
          <p:cNvSpPr txBox="1"/>
          <p:nvPr/>
        </p:nvSpPr>
        <p:spPr>
          <a:xfrm>
            <a:off x="969264" y="4700016"/>
            <a:ext cx="10253167" cy="713232"/>
          </a:xfrm>
          <a:prstGeom prst="rect">
            <a:avLst/>
          </a:prstGeom>
          <a:noFill/>
          <a:ln/>
        </p:spPr>
        <p:txBody>
          <a:bodyPr wrap="square" lIns="0" tIns="0" rIns="0" bIns="0" rtlCol="0" anchor="ctr"/>
          <a:lstStyle/>
          <a:p>
            <a:pPr algn="l" indent="0" marL="0">
              <a:lnSpc>
                <a:spcPct val="112000"/>
              </a:lnSpc>
              <a:buNone/>
            </a:pPr>
            <a:r>
              <a:rPr lang="en-US" sz="1240" dirty="0">
                <a:solidFill>
                  <a:srgbClr val="FFFFFF"/>
                </a:solidFill>
                <a:latin typeface="Aptos" pitchFamily="34" charset="0"/>
                <a:ea typeface="Aptos" pitchFamily="34" charset="-122"/>
                <a:cs typeface="Aptos" pitchFamily="34" charset="-120"/>
              </a:rPr>
              <a:t>La aserción de la prueba B reintenta, y encontró «Reserva confirmada» durante ese instante. En ese momento la condición era cierta, y la prueba se dio por satisfecha.</a:t>
            </a:r>
            <a:endParaRPr lang="en-US" sz="1240" dirty="0"/>
          </a:p>
        </p:txBody>
      </p:sp>
      <p:sp>
        <p:nvSpPr>
          <p:cNvPr id="45" name="Shape 42"/>
          <p:cNvSpPr/>
          <p:nvPr/>
        </p:nvSpPr>
        <p:spPr>
          <a:xfrm>
            <a:off x="658368" y="5650992"/>
            <a:ext cx="10874959" cy="548640"/>
          </a:xfrm>
          <a:prstGeom prst="rect">
            <a:avLst/>
          </a:prstGeom>
          <a:solidFill>
            <a:srgbClr val="102A43"/>
          </a:solidFill>
          <a:ln w="12700">
            <a:solidFill>
              <a:srgbClr val="102A43"/>
            </a:solidFill>
            <a:prstDash val="solid"/>
          </a:ln>
        </p:spPr>
      </p:sp>
      <p:sp>
        <p:nvSpPr>
          <p:cNvPr id="46" name="Text 43"/>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Una aserción que reintenta pregunta si algo llegó a ser cierto, no si terminó siendo cierto.</a:t>
            </a:r>
            <a:endParaRPr lang="en-US" sz="138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DECISIÓN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A la suite va el criterio A</a:t>
            </a:r>
            <a:endParaRPr lang="en-US" sz="3000" dirty="0"/>
          </a:p>
        </p:txBody>
      </p:sp>
      <p:sp>
        <p:nvSpPr>
          <p:cNvPr id="10" name="Text 7"/>
          <p:cNvSpPr txBox="1"/>
          <p:nvPr/>
        </p:nvSpPr>
        <p:spPr>
          <a:xfrm>
            <a:off x="3236976" y="1792224"/>
            <a:ext cx="210312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CON EL DEFECTO</a:t>
            </a:r>
            <a:endParaRPr lang="en-US" sz="960" dirty="0"/>
          </a:p>
        </p:txBody>
      </p:sp>
      <p:sp>
        <p:nvSpPr>
          <p:cNvPr id="11" name="Text 8"/>
          <p:cNvSpPr txBox="1"/>
          <p:nvPr/>
        </p:nvSpPr>
        <p:spPr>
          <a:xfrm>
            <a:off x="5449824" y="1792224"/>
            <a:ext cx="210312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YA CORREGIDO</a:t>
            </a:r>
            <a:endParaRPr lang="en-US" sz="960" dirty="0"/>
          </a:p>
        </p:txBody>
      </p:sp>
      <p:sp>
        <p:nvSpPr>
          <p:cNvPr id="12" name="Text 9"/>
          <p:cNvSpPr txBox="1"/>
          <p:nvPr/>
        </p:nvSpPr>
        <p:spPr>
          <a:xfrm>
            <a:off x="658368" y="2249424"/>
            <a:ext cx="2468880" cy="274320"/>
          </a:xfrm>
          <a:prstGeom prst="rect">
            <a:avLst/>
          </a:prstGeom>
          <a:noFill/>
          <a:ln/>
        </p:spPr>
        <p:txBody>
          <a:bodyPr wrap="square" lIns="0" tIns="0" rIns="0" bIns="0" rtlCol="0" anchor="t"/>
          <a:lstStyle/>
          <a:p>
            <a:pPr algn="l" indent="0" marL="0">
              <a:buNone/>
            </a:pPr>
            <a:r>
              <a:rPr lang="en-US" sz="1340" b="1" dirty="0">
                <a:solidFill>
                  <a:srgbClr val="243B53"/>
                </a:solidFill>
                <a:latin typeface="Aptos" pitchFamily="34" charset="0"/>
                <a:ea typeface="Aptos" pitchFamily="34" charset="-122"/>
                <a:cs typeface="Aptos" pitchFamily="34" charset="-120"/>
              </a:rPr>
              <a:t>Prueba A</a:t>
            </a:r>
            <a:endParaRPr lang="en-US" sz="1340" dirty="0"/>
          </a:p>
        </p:txBody>
      </p:sp>
      <p:sp>
        <p:nvSpPr>
          <p:cNvPr id="13" name="Text 10"/>
          <p:cNvSpPr txBox="1"/>
          <p:nvPr/>
        </p:nvSpPr>
        <p:spPr>
          <a:xfrm>
            <a:off x="658368" y="2542032"/>
            <a:ext cx="2468880" cy="237744"/>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cantidad de solicitudes</a:t>
            </a:r>
            <a:endParaRPr lang="en-US" sz="1060" dirty="0"/>
          </a:p>
        </p:txBody>
      </p:sp>
      <p:sp>
        <p:nvSpPr>
          <p:cNvPr id="14" name="Shape 11"/>
          <p:cNvSpPr/>
          <p:nvPr/>
        </p:nvSpPr>
        <p:spPr>
          <a:xfrm>
            <a:off x="3236976" y="2121408"/>
            <a:ext cx="2103120" cy="914400"/>
          </a:xfrm>
          <a:prstGeom prst="rect">
            <a:avLst/>
          </a:prstGeom>
          <a:solidFill>
            <a:srgbClr val="B3181E"/>
          </a:solidFill>
          <a:ln w="12700">
            <a:solidFill>
              <a:srgbClr val="B3181E"/>
            </a:solidFill>
            <a:prstDash val="solid"/>
          </a:ln>
        </p:spPr>
      </p:sp>
      <p:sp>
        <p:nvSpPr>
          <p:cNvPr id="15" name="Text 12"/>
          <p:cNvSpPr txBox="1"/>
          <p:nvPr/>
        </p:nvSpPr>
        <p:spPr>
          <a:xfrm>
            <a:off x="3328416" y="2304288"/>
            <a:ext cx="19202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ptos Display" pitchFamily="34" charset="0"/>
                <a:ea typeface="Aptos Display" pitchFamily="34" charset="-122"/>
                <a:cs typeface="Aptos Display" pitchFamily="34" charset="-120"/>
              </a:rPr>
              <a:t>Falla</a:t>
            </a:r>
            <a:endParaRPr lang="en-US" sz="2000" dirty="0"/>
          </a:p>
        </p:txBody>
      </p:sp>
      <p:sp>
        <p:nvSpPr>
          <p:cNvPr id="16" name="Shape 13"/>
          <p:cNvSpPr/>
          <p:nvPr/>
        </p:nvSpPr>
        <p:spPr>
          <a:xfrm>
            <a:off x="5449824" y="2121408"/>
            <a:ext cx="2103120" cy="914400"/>
          </a:xfrm>
          <a:prstGeom prst="rect">
            <a:avLst/>
          </a:prstGeom>
          <a:solidFill>
            <a:srgbClr val="2E7D4F"/>
          </a:solidFill>
          <a:ln w="12700">
            <a:solidFill>
              <a:srgbClr val="2E7D4F"/>
            </a:solidFill>
            <a:prstDash val="solid"/>
          </a:ln>
        </p:spPr>
      </p:sp>
      <p:sp>
        <p:nvSpPr>
          <p:cNvPr id="17" name="Text 14"/>
          <p:cNvSpPr txBox="1"/>
          <p:nvPr/>
        </p:nvSpPr>
        <p:spPr>
          <a:xfrm>
            <a:off x="5541264" y="2304288"/>
            <a:ext cx="19202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ptos Display" pitchFamily="34" charset="0"/>
                <a:ea typeface="Aptos Display" pitchFamily="34" charset="-122"/>
                <a:cs typeface="Aptos Display" pitchFamily="34" charset="-120"/>
              </a:rPr>
              <a:t>Pasa</a:t>
            </a:r>
            <a:endParaRPr lang="en-US" sz="2000" dirty="0"/>
          </a:p>
        </p:txBody>
      </p:sp>
      <p:sp>
        <p:nvSpPr>
          <p:cNvPr id="18" name="Text 15"/>
          <p:cNvSpPr txBox="1"/>
          <p:nvPr/>
        </p:nvSpPr>
        <p:spPr>
          <a:xfrm>
            <a:off x="658368" y="3346704"/>
            <a:ext cx="2468880" cy="274320"/>
          </a:xfrm>
          <a:prstGeom prst="rect">
            <a:avLst/>
          </a:prstGeom>
          <a:noFill/>
          <a:ln/>
        </p:spPr>
        <p:txBody>
          <a:bodyPr wrap="square" lIns="0" tIns="0" rIns="0" bIns="0" rtlCol="0" anchor="t"/>
          <a:lstStyle/>
          <a:p>
            <a:pPr algn="l" indent="0" marL="0">
              <a:buNone/>
            </a:pPr>
            <a:r>
              <a:rPr lang="en-US" sz="1340" b="1" dirty="0">
                <a:solidFill>
                  <a:srgbClr val="243B53"/>
                </a:solidFill>
                <a:latin typeface="Aptos" pitchFamily="34" charset="0"/>
                <a:ea typeface="Aptos" pitchFamily="34" charset="-122"/>
                <a:cs typeface="Aptos" pitchFamily="34" charset="-120"/>
              </a:rPr>
              <a:t>Prueba B</a:t>
            </a:r>
            <a:endParaRPr lang="en-US" sz="1340" dirty="0"/>
          </a:p>
        </p:txBody>
      </p:sp>
      <p:sp>
        <p:nvSpPr>
          <p:cNvPr id="19" name="Text 16"/>
          <p:cNvSpPr txBox="1"/>
          <p:nvPr/>
        </p:nvSpPr>
        <p:spPr>
          <a:xfrm>
            <a:off x="658368" y="3639312"/>
            <a:ext cx="2468880" cy="237744"/>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mensaje final</a:t>
            </a:r>
            <a:endParaRPr lang="en-US" sz="1060" dirty="0"/>
          </a:p>
        </p:txBody>
      </p:sp>
      <p:sp>
        <p:nvSpPr>
          <p:cNvPr id="20" name="Shape 17"/>
          <p:cNvSpPr/>
          <p:nvPr/>
        </p:nvSpPr>
        <p:spPr>
          <a:xfrm>
            <a:off x="3236976" y="3218688"/>
            <a:ext cx="2103120" cy="914400"/>
          </a:xfrm>
          <a:prstGeom prst="rect">
            <a:avLst/>
          </a:prstGeom>
          <a:solidFill>
            <a:srgbClr val="2E7D4F"/>
          </a:solidFill>
          <a:ln w="12700">
            <a:solidFill>
              <a:srgbClr val="2E7D4F"/>
            </a:solidFill>
            <a:prstDash val="solid"/>
          </a:ln>
        </p:spPr>
      </p:sp>
      <p:sp>
        <p:nvSpPr>
          <p:cNvPr id="21" name="Text 18"/>
          <p:cNvSpPr txBox="1"/>
          <p:nvPr/>
        </p:nvSpPr>
        <p:spPr>
          <a:xfrm>
            <a:off x="3328416" y="3401568"/>
            <a:ext cx="19202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ptos Display" pitchFamily="34" charset="0"/>
                <a:ea typeface="Aptos Display" pitchFamily="34" charset="-122"/>
                <a:cs typeface="Aptos Display" pitchFamily="34" charset="-120"/>
              </a:rPr>
              <a:t>Pasa</a:t>
            </a:r>
            <a:endParaRPr lang="en-US" sz="2000" dirty="0"/>
          </a:p>
        </p:txBody>
      </p:sp>
      <p:sp>
        <p:nvSpPr>
          <p:cNvPr id="22" name="Shape 19"/>
          <p:cNvSpPr/>
          <p:nvPr/>
        </p:nvSpPr>
        <p:spPr>
          <a:xfrm>
            <a:off x="5449824" y="3218688"/>
            <a:ext cx="2103120" cy="914400"/>
          </a:xfrm>
          <a:prstGeom prst="rect">
            <a:avLst/>
          </a:prstGeom>
          <a:solidFill>
            <a:srgbClr val="2E7D4F"/>
          </a:solidFill>
          <a:ln w="12700">
            <a:solidFill>
              <a:srgbClr val="2E7D4F"/>
            </a:solidFill>
            <a:prstDash val="solid"/>
          </a:ln>
        </p:spPr>
      </p:sp>
      <p:sp>
        <p:nvSpPr>
          <p:cNvPr id="23" name="Text 20"/>
          <p:cNvSpPr txBox="1"/>
          <p:nvPr/>
        </p:nvSpPr>
        <p:spPr>
          <a:xfrm>
            <a:off x="5541264" y="3401568"/>
            <a:ext cx="19202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ptos Display" pitchFamily="34" charset="0"/>
                <a:ea typeface="Aptos Display" pitchFamily="34" charset="-122"/>
                <a:cs typeface="Aptos Display" pitchFamily="34" charset="-120"/>
              </a:rPr>
              <a:t>Pasa</a:t>
            </a:r>
            <a:endParaRPr lang="en-US" sz="2000" dirty="0"/>
          </a:p>
        </p:txBody>
      </p:sp>
      <p:sp>
        <p:nvSpPr>
          <p:cNvPr id="24" name="Text 21"/>
          <p:cNvSpPr txBox="1"/>
          <p:nvPr/>
        </p:nvSpPr>
        <p:spPr>
          <a:xfrm>
            <a:off x="658368" y="4407408"/>
            <a:ext cx="6894576" cy="731520"/>
          </a:xfrm>
          <a:prstGeom prst="rect">
            <a:avLst/>
          </a:prstGeom>
          <a:noFill/>
          <a:ln/>
        </p:spPr>
        <p:txBody>
          <a:bodyPr wrap="square" lIns="0" tIns="0" rIns="0" bIns="0" rtlCol="0" anchor="t"/>
          <a:lstStyle/>
          <a:p>
            <a:pPr algn="l" indent="0" marL="0">
              <a:lnSpc>
                <a:spcPct val="112000"/>
              </a:lnSpc>
              <a:buNone/>
            </a:pPr>
            <a:r>
              <a:rPr lang="en-US" sz="1160" b="1" dirty="0">
                <a:solidFill>
                  <a:srgbClr val="B3181E"/>
                </a:solidFill>
                <a:latin typeface="Aptos" pitchFamily="34" charset="0"/>
                <a:ea typeface="Aptos" pitchFamily="34" charset="-122"/>
                <a:cs typeface="Aptos" pitchFamily="34" charset="-120"/>
              </a:rPr>
              <a:t>La B da el mismo resultado con el defecto y sin él: no distingue entre los dos, que es la definición de una prueba que no detecta nada.</a:t>
            </a:r>
            <a:endParaRPr lang="en-US" sz="1160" dirty="0"/>
          </a:p>
        </p:txBody>
      </p:sp>
      <p:sp>
        <p:nvSpPr>
          <p:cNvPr id="25" name="Shape 22"/>
          <p:cNvSpPr/>
          <p:nvPr/>
        </p:nvSpPr>
        <p:spPr>
          <a:xfrm>
            <a:off x="7918704" y="1792224"/>
            <a:ext cx="3614623" cy="1572768"/>
          </a:xfrm>
          <a:prstGeom prst="rect">
            <a:avLst/>
          </a:prstGeom>
          <a:solidFill>
            <a:srgbClr val="FFFFFF"/>
          </a:solidFill>
          <a:ln w="12700">
            <a:solidFill>
              <a:srgbClr val="FFFFFF"/>
            </a:solidFill>
            <a:prstDash val="solid"/>
          </a:ln>
        </p:spPr>
      </p:sp>
      <p:sp>
        <p:nvSpPr>
          <p:cNvPr id="26" name="Shape 23"/>
          <p:cNvSpPr/>
          <p:nvPr/>
        </p:nvSpPr>
        <p:spPr>
          <a:xfrm>
            <a:off x="7918704" y="1792224"/>
            <a:ext cx="54864" cy="1572768"/>
          </a:xfrm>
          <a:prstGeom prst="rect">
            <a:avLst/>
          </a:prstGeom>
          <a:solidFill>
            <a:srgbClr val="2E7D4F"/>
          </a:solidFill>
          <a:ln w="12700">
            <a:solidFill>
              <a:srgbClr val="2E7D4F"/>
            </a:solidFill>
            <a:prstDash val="solid"/>
          </a:ln>
        </p:spPr>
      </p:sp>
      <p:sp>
        <p:nvSpPr>
          <p:cNvPr id="27" name="Text 24"/>
          <p:cNvSpPr txBox="1"/>
          <p:nvPr/>
        </p:nvSpPr>
        <p:spPr>
          <a:xfrm>
            <a:off x="8156448" y="1938528"/>
            <a:ext cx="3212287" cy="274320"/>
          </a:xfrm>
          <a:prstGeom prst="rect">
            <a:avLst/>
          </a:prstGeom>
          <a:noFill/>
          <a:ln/>
        </p:spPr>
        <p:txBody>
          <a:bodyPr wrap="square" lIns="0" tIns="0" rIns="0" bIns="0" rtlCol="0" anchor="t"/>
          <a:lstStyle/>
          <a:p>
            <a:pPr algn="l" indent="0" marL="0">
              <a:buNone/>
            </a:pPr>
            <a:r>
              <a:rPr lang="en-US" sz="1260" b="1" dirty="0">
                <a:solidFill>
                  <a:srgbClr val="2E7D4F"/>
                </a:solidFill>
                <a:latin typeface="Aptos" pitchFamily="34" charset="0"/>
                <a:ea typeface="Aptos" pitchFamily="34" charset="-122"/>
                <a:cs typeface="Aptos" pitchFamily="34" charset="-120"/>
              </a:rPr>
              <a:t>Una medición estable</a:t>
            </a:r>
            <a:endParaRPr lang="en-US" sz="1260" dirty="0"/>
          </a:p>
        </p:txBody>
      </p:sp>
      <p:sp>
        <p:nvSpPr>
          <p:cNvPr id="28" name="Text 25"/>
          <p:cNvSpPr txBox="1"/>
          <p:nvPr/>
        </p:nvSpPr>
        <p:spPr>
          <a:xfrm>
            <a:off x="8156448" y="2267712"/>
            <a:ext cx="3212287" cy="1005840"/>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Una cantidad de solicitudes no cambia de valor según el instante en que se mira.</a:t>
            </a:r>
            <a:endParaRPr lang="en-US" sz="1100" dirty="0"/>
          </a:p>
        </p:txBody>
      </p:sp>
      <p:sp>
        <p:nvSpPr>
          <p:cNvPr id="29" name="Shape 26"/>
          <p:cNvSpPr/>
          <p:nvPr/>
        </p:nvSpPr>
        <p:spPr>
          <a:xfrm>
            <a:off x="7918704" y="3493008"/>
            <a:ext cx="3614623" cy="1572768"/>
          </a:xfrm>
          <a:prstGeom prst="rect">
            <a:avLst/>
          </a:prstGeom>
          <a:solidFill>
            <a:srgbClr val="FFFFFF"/>
          </a:solidFill>
          <a:ln w="12700">
            <a:solidFill>
              <a:srgbClr val="FFFFFF"/>
            </a:solidFill>
            <a:prstDash val="solid"/>
          </a:ln>
        </p:spPr>
      </p:sp>
      <p:sp>
        <p:nvSpPr>
          <p:cNvPr id="30" name="Shape 27"/>
          <p:cNvSpPr/>
          <p:nvPr/>
        </p:nvSpPr>
        <p:spPr>
          <a:xfrm>
            <a:off x="7918704" y="3493008"/>
            <a:ext cx="54864" cy="1572768"/>
          </a:xfrm>
          <a:prstGeom prst="rect">
            <a:avLst/>
          </a:prstGeom>
          <a:solidFill>
            <a:srgbClr val="8A6A12"/>
          </a:solidFill>
          <a:ln w="12700">
            <a:solidFill>
              <a:srgbClr val="8A6A12"/>
            </a:solidFill>
            <a:prstDash val="solid"/>
          </a:ln>
        </p:spPr>
      </p:sp>
      <p:sp>
        <p:nvSpPr>
          <p:cNvPr id="31" name="Text 28"/>
          <p:cNvSpPr txBox="1"/>
          <p:nvPr/>
        </p:nvSpPr>
        <p:spPr>
          <a:xfrm>
            <a:off x="8156448" y="3639312"/>
            <a:ext cx="3212287" cy="274320"/>
          </a:xfrm>
          <a:prstGeom prst="rect">
            <a:avLst/>
          </a:prstGeom>
          <a:noFill/>
          <a:ln/>
        </p:spPr>
        <p:txBody>
          <a:bodyPr wrap="square" lIns="0" tIns="0" rIns="0" bIns="0" rtlCol="0" anchor="t"/>
          <a:lstStyle/>
          <a:p>
            <a:pPr algn="l" indent="0" marL="0">
              <a:buNone/>
            </a:pPr>
            <a:r>
              <a:rPr lang="en-US" sz="1260" b="1" dirty="0">
                <a:solidFill>
                  <a:srgbClr val="8A6A12"/>
                </a:solidFill>
                <a:latin typeface="Aptos" pitchFamily="34" charset="0"/>
                <a:ea typeface="Aptos" pitchFamily="34" charset="-122"/>
                <a:cs typeface="Aptos" pitchFamily="34" charset="-120"/>
              </a:rPr>
              <a:t>Una señal que no existe</a:t>
            </a:r>
            <a:endParaRPr lang="en-US" sz="1260" dirty="0"/>
          </a:p>
        </p:txBody>
      </p:sp>
      <p:sp>
        <p:nvSpPr>
          <p:cNvPr id="32" name="Text 29"/>
          <p:cNvSpPr txBox="1"/>
          <p:nvPr/>
        </p:nvSpPr>
        <p:spPr>
          <a:xfrm>
            <a:off x="8156448" y="3968496"/>
            <a:ext cx="3212287" cy="1005840"/>
          </a:xfrm>
          <a:prstGeom prst="rect">
            <a:avLst/>
          </a:prstGeom>
          <a:noFill/>
          <a:ln/>
        </p:spPr>
        <p:txBody>
          <a:bodyPr wrap="square" lIns="0" tIns="0" rIns="0" bIns="0" rtlCol="0" anchor="t"/>
          <a:lstStyle/>
          <a:p>
            <a:pPr algn="l" indent="0" marL="0">
              <a:lnSpc>
                <a:spcPct val="112000"/>
              </a:lnSpc>
              <a:buNone/>
            </a:pPr>
            <a:r>
              <a:rPr lang="en-US" sz="1100" dirty="0">
                <a:solidFill>
                  <a:srgbClr val="243B53"/>
                </a:solidFill>
                <a:latin typeface="Aptos" pitchFamily="34" charset="0"/>
                <a:ea typeface="Aptos" pitchFamily="34" charset="-122"/>
                <a:cs typeface="Aptos" pitchFamily="34" charset="-120"/>
              </a:rPr>
              <a:t>Para medir el mensaje final, la página tendría que avisar que terminó de responder. No lo hace, y la persona tampoco sabe cuándo terminó.</a:t>
            </a:r>
            <a:endParaRPr lang="en-US" sz="1100" dirty="0"/>
          </a:p>
        </p:txBody>
      </p:sp>
      <p:sp>
        <p:nvSpPr>
          <p:cNvPr id="33" name="Shape 30"/>
          <p:cNvSpPr/>
          <p:nvPr/>
        </p:nvSpPr>
        <p:spPr>
          <a:xfrm>
            <a:off x="658368" y="5650992"/>
            <a:ext cx="10874959" cy="548640"/>
          </a:xfrm>
          <a:prstGeom prst="rect">
            <a:avLst/>
          </a:prstGeom>
          <a:solidFill>
            <a:srgbClr val="102A43"/>
          </a:solidFill>
          <a:ln w="12700">
            <a:solidFill>
              <a:srgbClr val="102A43"/>
            </a:solidFill>
            <a:prstDash val="solid"/>
          </a:ln>
        </p:spPr>
      </p:sp>
      <p:sp>
        <p:nvSpPr>
          <p:cNvPr id="34" name="Text 3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No porque la causa importe más que la consecuencia, sino porque su medición es estable.</a:t>
            </a:r>
            <a:endParaRPr lang="en-US" sz="138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CORRECCIÓN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Deshabilitar el botón mientras responde</a:t>
            </a:r>
            <a:endParaRPr lang="en-US" sz="3000" dirty="0"/>
          </a:p>
        </p:txBody>
      </p:sp>
      <p:sp>
        <p:nvSpPr>
          <p:cNvPr id="10" name="Shape 7"/>
          <p:cNvSpPr/>
          <p:nvPr/>
        </p:nvSpPr>
        <p:spPr>
          <a:xfrm>
            <a:off x="658368" y="1737360"/>
            <a:ext cx="6492240" cy="4562856"/>
          </a:xfrm>
          <a:prstGeom prst="roundRect">
            <a:avLst>
              <a:gd name="adj" fmla="val 1002"/>
            </a:avLst>
          </a:prstGeom>
          <a:solidFill>
            <a:srgbClr val="102A43"/>
          </a:solidFill>
          <a:ln w="12700">
            <a:solidFill>
              <a:srgbClr val="102A43"/>
            </a:solidFill>
            <a:prstDash val="solid"/>
          </a:ln>
        </p:spPr>
      </p:sp>
      <p:sp>
        <p:nvSpPr>
          <p:cNvPr id="11" name="Shape 8"/>
          <p:cNvSpPr/>
          <p:nvPr/>
        </p:nvSpPr>
        <p:spPr>
          <a:xfrm>
            <a:off x="658368" y="2093976"/>
            <a:ext cx="6492240" cy="9144"/>
          </a:xfrm>
          <a:prstGeom prst="rect">
            <a:avLst/>
          </a:prstGeom>
          <a:solidFill>
            <a:srgbClr val="284B75"/>
          </a:solidFill>
          <a:ln w="12700">
            <a:solidFill>
              <a:srgbClr val="284B75"/>
            </a:solidFill>
            <a:prstDash val="solid"/>
          </a:ln>
        </p:spPr>
      </p:sp>
      <p:sp>
        <p:nvSpPr>
          <p:cNvPr id="12" name="Text 9"/>
          <p:cNvSpPr/>
          <p:nvPr/>
        </p:nvSpPr>
        <p:spPr>
          <a:xfrm>
            <a:off x="841248" y="1828800"/>
            <a:ext cx="6126480" cy="201168"/>
          </a:xfrm>
          <a:prstGeom prst="rect">
            <a:avLst/>
          </a:prstGeom>
          <a:noFill/>
          <a:ln/>
        </p:spPr>
        <p:txBody>
          <a:bodyPr wrap="square" lIns="0" tIns="0" rIns="0" bIns="0" rtlCol="0" anchor="ctr"/>
          <a:lstStyle/>
          <a:p>
            <a:pPr indent="0" marL="0">
              <a:buNone/>
            </a:pPr>
            <a:r>
              <a:rPr lang="en-US" sz="960" b="1" dirty="0">
                <a:solidFill>
                  <a:srgbClr val="E6EEF7"/>
                </a:solidFill>
                <a:latin typeface="Aptos" pitchFamily="34" charset="0"/>
                <a:ea typeface="Aptos" pitchFamily="34" charset="-122"/>
                <a:cs typeface="Aptos" pitchFamily="34" charset="-120"/>
              </a:rPr>
              <a:t>app.js · el manejador, corregido</a:t>
            </a:r>
            <a:endParaRPr lang="en-US" sz="960" dirty="0"/>
          </a:p>
        </p:txBody>
      </p:sp>
      <p:sp>
        <p:nvSpPr>
          <p:cNvPr id="13" name="Shape 10"/>
          <p:cNvSpPr/>
          <p:nvPr/>
        </p:nvSpPr>
        <p:spPr>
          <a:xfrm>
            <a:off x="713232" y="2530602"/>
            <a:ext cx="5980176" cy="149230"/>
          </a:xfrm>
          <a:prstGeom prst="rect">
            <a:avLst/>
          </a:prstGeom>
          <a:solidFill>
            <a:srgbClr val="2E7D4F">
              <a:alpha val="28000"/>
            </a:srgbClr>
          </a:solidFill>
          <a:ln w="12700">
            <a:solidFill>
              <a:srgbClr val="2E7D4F">
                <a:alpha val="0"/>
              </a:srgbClr>
            </a:solidFill>
            <a:prstDash val="solid"/>
          </a:ln>
        </p:spPr>
      </p:sp>
      <p:sp>
        <p:nvSpPr>
          <p:cNvPr id="14" name="Shape 11"/>
          <p:cNvSpPr/>
          <p:nvPr/>
        </p:nvSpPr>
        <p:spPr>
          <a:xfrm>
            <a:off x="713232" y="2686050"/>
            <a:ext cx="5980176" cy="149230"/>
          </a:xfrm>
          <a:prstGeom prst="rect">
            <a:avLst/>
          </a:prstGeom>
          <a:solidFill>
            <a:srgbClr val="2E7D4F">
              <a:alpha val="28000"/>
            </a:srgbClr>
          </a:solidFill>
          <a:ln w="12700">
            <a:solidFill>
              <a:srgbClr val="2E7D4F">
                <a:alpha val="0"/>
              </a:srgbClr>
            </a:solidFill>
            <a:prstDash val="solid"/>
          </a:ln>
        </p:spPr>
      </p:sp>
      <p:sp>
        <p:nvSpPr>
          <p:cNvPr id="15" name="Shape 12"/>
          <p:cNvSpPr/>
          <p:nvPr/>
        </p:nvSpPr>
        <p:spPr>
          <a:xfrm>
            <a:off x="713232" y="2841498"/>
            <a:ext cx="5980176" cy="149230"/>
          </a:xfrm>
          <a:prstGeom prst="rect">
            <a:avLst/>
          </a:prstGeom>
          <a:solidFill>
            <a:srgbClr val="2E7D4F">
              <a:alpha val="28000"/>
            </a:srgbClr>
          </a:solidFill>
          <a:ln w="12700">
            <a:solidFill>
              <a:srgbClr val="2E7D4F">
                <a:alpha val="0"/>
              </a:srgbClr>
            </a:solidFill>
            <a:prstDash val="solid"/>
          </a:ln>
        </p:spPr>
      </p:sp>
      <p:sp>
        <p:nvSpPr>
          <p:cNvPr id="16" name="Shape 13"/>
          <p:cNvSpPr/>
          <p:nvPr/>
        </p:nvSpPr>
        <p:spPr>
          <a:xfrm>
            <a:off x="713232" y="5795010"/>
            <a:ext cx="5980176" cy="149230"/>
          </a:xfrm>
          <a:prstGeom prst="rect">
            <a:avLst/>
          </a:prstGeom>
          <a:solidFill>
            <a:srgbClr val="2E7D4F">
              <a:alpha val="28000"/>
            </a:srgbClr>
          </a:solidFill>
          <a:ln w="12700">
            <a:solidFill>
              <a:srgbClr val="2E7D4F">
                <a:alpha val="0"/>
              </a:srgbClr>
            </a:solidFill>
            <a:prstDash val="solid"/>
          </a:ln>
        </p:spPr>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960" y="2231136"/>
            <a:ext cx="5760720" cy="3941064"/>
          </a:xfrm>
          <a:prstGeom prst="rect">
            <a:avLst/>
          </a:prstGeom>
        </p:spPr>
      </p:pic>
      <p:sp>
        <p:nvSpPr>
          <p:cNvPr id="18" name="Shape 14"/>
          <p:cNvSpPr/>
          <p:nvPr/>
        </p:nvSpPr>
        <p:spPr>
          <a:xfrm>
            <a:off x="6850502" y="2527676"/>
            <a:ext cx="143012" cy="143012"/>
          </a:xfrm>
          <a:prstGeom prst="ellipse">
            <a:avLst/>
          </a:prstGeom>
          <a:solidFill>
            <a:srgbClr val="2E7D4F"/>
          </a:solidFill>
          <a:ln w="12700">
            <a:solidFill>
              <a:srgbClr val="2E7D4F"/>
            </a:solidFill>
            <a:prstDash val="solid"/>
          </a:ln>
        </p:spPr>
      </p:sp>
      <p:sp>
        <p:nvSpPr>
          <p:cNvPr id="19" name="Text 15"/>
          <p:cNvSpPr/>
          <p:nvPr/>
        </p:nvSpPr>
        <p:spPr>
          <a:xfrm>
            <a:off x="6859646" y="2536820"/>
            <a:ext cx="124724" cy="12472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1</a:t>
            </a:r>
            <a:endParaRPr lang="en-US" sz="940" dirty="0"/>
          </a:p>
        </p:txBody>
      </p:sp>
      <p:sp>
        <p:nvSpPr>
          <p:cNvPr id="20" name="Shape 16"/>
          <p:cNvSpPr/>
          <p:nvPr/>
        </p:nvSpPr>
        <p:spPr>
          <a:xfrm>
            <a:off x="6850502" y="2683124"/>
            <a:ext cx="143012" cy="143012"/>
          </a:xfrm>
          <a:prstGeom prst="ellipse">
            <a:avLst/>
          </a:prstGeom>
          <a:solidFill>
            <a:srgbClr val="2E7D4F"/>
          </a:solidFill>
          <a:ln w="12700">
            <a:solidFill>
              <a:srgbClr val="2E7D4F"/>
            </a:solidFill>
            <a:prstDash val="solid"/>
          </a:ln>
        </p:spPr>
      </p:sp>
      <p:sp>
        <p:nvSpPr>
          <p:cNvPr id="21" name="Text 17"/>
          <p:cNvSpPr/>
          <p:nvPr/>
        </p:nvSpPr>
        <p:spPr>
          <a:xfrm>
            <a:off x="6859646" y="2692268"/>
            <a:ext cx="124724" cy="12472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2</a:t>
            </a:r>
            <a:endParaRPr lang="en-US" sz="940" dirty="0"/>
          </a:p>
        </p:txBody>
      </p:sp>
      <p:sp>
        <p:nvSpPr>
          <p:cNvPr id="22" name="Shape 18"/>
          <p:cNvSpPr/>
          <p:nvPr/>
        </p:nvSpPr>
        <p:spPr>
          <a:xfrm>
            <a:off x="6850502" y="2838572"/>
            <a:ext cx="143012" cy="143012"/>
          </a:xfrm>
          <a:prstGeom prst="ellipse">
            <a:avLst/>
          </a:prstGeom>
          <a:solidFill>
            <a:srgbClr val="2E7D4F"/>
          </a:solidFill>
          <a:ln w="12700">
            <a:solidFill>
              <a:srgbClr val="2E7D4F"/>
            </a:solidFill>
            <a:prstDash val="solid"/>
          </a:ln>
        </p:spPr>
      </p:sp>
      <p:sp>
        <p:nvSpPr>
          <p:cNvPr id="23" name="Text 19"/>
          <p:cNvSpPr/>
          <p:nvPr/>
        </p:nvSpPr>
        <p:spPr>
          <a:xfrm>
            <a:off x="6859646" y="2847716"/>
            <a:ext cx="124724" cy="12472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3</a:t>
            </a:r>
            <a:endParaRPr lang="en-US" sz="940" dirty="0"/>
          </a:p>
        </p:txBody>
      </p:sp>
      <p:sp>
        <p:nvSpPr>
          <p:cNvPr id="24" name="Shape 20"/>
          <p:cNvSpPr/>
          <p:nvPr/>
        </p:nvSpPr>
        <p:spPr>
          <a:xfrm>
            <a:off x="6850502" y="5792084"/>
            <a:ext cx="143012" cy="143012"/>
          </a:xfrm>
          <a:prstGeom prst="ellipse">
            <a:avLst/>
          </a:prstGeom>
          <a:solidFill>
            <a:srgbClr val="2E7D4F"/>
          </a:solidFill>
          <a:ln w="12700">
            <a:solidFill>
              <a:srgbClr val="2E7D4F"/>
            </a:solidFill>
            <a:prstDash val="solid"/>
          </a:ln>
        </p:spPr>
      </p:sp>
      <p:sp>
        <p:nvSpPr>
          <p:cNvPr id="25" name="Text 21"/>
          <p:cNvSpPr/>
          <p:nvPr/>
        </p:nvSpPr>
        <p:spPr>
          <a:xfrm>
            <a:off x="6859646" y="5801228"/>
            <a:ext cx="124724" cy="12472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4</a:t>
            </a:r>
            <a:endParaRPr lang="en-US" sz="940" dirty="0"/>
          </a:p>
        </p:txBody>
      </p:sp>
      <p:sp>
        <p:nvSpPr>
          <p:cNvPr id="26" name="Shape 22"/>
          <p:cNvSpPr/>
          <p:nvPr/>
        </p:nvSpPr>
        <p:spPr>
          <a:xfrm>
            <a:off x="7424928" y="1737360"/>
            <a:ext cx="4108399" cy="493776"/>
          </a:xfrm>
          <a:prstGeom prst="rect">
            <a:avLst/>
          </a:prstGeom>
          <a:solidFill>
            <a:srgbClr val="FFFFFF"/>
          </a:solidFill>
          <a:ln w="12700">
            <a:solidFill>
              <a:srgbClr val="FFFFFF"/>
            </a:solidFill>
            <a:prstDash val="solid"/>
          </a:ln>
        </p:spPr>
      </p:sp>
      <p:sp>
        <p:nvSpPr>
          <p:cNvPr id="27" name="Shape 23"/>
          <p:cNvSpPr/>
          <p:nvPr/>
        </p:nvSpPr>
        <p:spPr>
          <a:xfrm>
            <a:off x="7571232" y="1856232"/>
            <a:ext cx="256032" cy="256032"/>
          </a:xfrm>
          <a:prstGeom prst="ellipse">
            <a:avLst/>
          </a:prstGeom>
          <a:solidFill>
            <a:srgbClr val="2E7D4F"/>
          </a:solidFill>
          <a:ln w="12700">
            <a:solidFill>
              <a:srgbClr val="2E7D4F"/>
            </a:solidFill>
            <a:prstDash val="solid"/>
          </a:ln>
        </p:spPr>
      </p:sp>
      <p:sp>
        <p:nvSpPr>
          <p:cNvPr id="28" name="Text 24"/>
          <p:cNvSpPr/>
          <p:nvPr/>
        </p:nvSpPr>
        <p:spPr>
          <a:xfrm>
            <a:off x="7580376" y="1865376"/>
            <a:ext cx="237744" cy="23774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1</a:t>
            </a:r>
            <a:endParaRPr lang="en-US" sz="940" dirty="0"/>
          </a:p>
        </p:txBody>
      </p:sp>
      <p:sp>
        <p:nvSpPr>
          <p:cNvPr id="29" name="Text 25"/>
          <p:cNvSpPr txBox="1"/>
          <p:nvPr/>
        </p:nvSpPr>
        <p:spPr>
          <a:xfrm>
            <a:off x="7936992" y="1773936"/>
            <a:ext cx="3504895" cy="420624"/>
          </a:xfrm>
          <a:prstGeom prst="rect">
            <a:avLst/>
          </a:prstGeom>
          <a:noFill/>
          <a:ln/>
        </p:spPr>
        <p:txBody>
          <a:bodyPr wrap="square" lIns="0" tIns="0" rIns="0" bIns="0" rtlCol="0" anchor="ctr"/>
          <a:lstStyle/>
          <a:p>
            <a:pPr algn="l" indent="0" marL="0">
              <a:lnSpc>
                <a:spcPct val="105000"/>
              </a:lnSpc>
              <a:buNone/>
            </a:pPr>
            <a:r>
              <a:rPr lang="en-US" sz="1060" dirty="0">
                <a:solidFill>
                  <a:srgbClr val="243B53"/>
                </a:solidFill>
                <a:latin typeface="Aptos" pitchFamily="34" charset="0"/>
                <a:ea typeface="Aptos" pitchFamily="34" charset="-122"/>
                <a:cs typeface="Aptos" pitchFamily="34" charset="-120"/>
              </a:rPr>
              <a:t>Busca el botón del formulario.</a:t>
            </a:r>
            <a:endParaRPr lang="en-US" sz="1060" dirty="0"/>
          </a:p>
        </p:txBody>
      </p:sp>
      <p:sp>
        <p:nvSpPr>
          <p:cNvPr id="30" name="Shape 26"/>
          <p:cNvSpPr/>
          <p:nvPr/>
        </p:nvSpPr>
        <p:spPr>
          <a:xfrm>
            <a:off x="7424928" y="2304288"/>
            <a:ext cx="4108399" cy="493776"/>
          </a:xfrm>
          <a:prstGeom prst="rect">
            <a:avLst/>
          </a:prstGeom>
          <a:solidFill>
            <a:srgbClr val="FFFFFF"/>
          </a:solidFill>
          <a:ln w="12700">
            <a:solidFill>
              <a:srgbClr val="FFFFFF"/>
            </a:solidFill>
            <a:prstDash val="solid"/>
          </a:ln>
        </p:spPr>
      </p:sp>
      <p:sp>
        <p:nvSpPr>
          <p:cNvPr id="31" name="Shape 27"/>
          <p:cNvSpPr/>
          <p:nvPr/>
        </p:nvSpPr>
        <p:spPr>
          <a:xfrm>
            <a:off x="7571232" y="2423160"/>
            <a:ext cx="256032" cy="256032"/>
          </a:xfrm>
          <a:prstGeom prst="ellipse">
            <a:avLst/>
          </a:prstGeom>
          <a:solidFill>
            <a:srgbClr val="2E7D4F"/>
          </a:solidFill>
          <a:ln w="12700">
            <a:solidFill>
              <a:srgbClr val="2E7D4F"/>
            </a:solidFill>
            <a:prstDash val="solid"/>
          </a:ln>
        </p:spPr>
      </p:sp>
      <p:sp>
        <p:nvSpPr>
          <p:cNvPr id="32" name="Text 28"/>
          <p:cNvSpPr/>
          <p:nvPr/>
        </p:nvSpPr>
        <p:spPr>
          <a:xfrm>
            <a:off x="7580376" y="2432304"/>
            <a:ext cx="237744" cy="23774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2</a:t>
            </a:r>
            <a:endParaRPr lang="en-US" sz="940" dirty="0"/>
          </a:p>
        </p:txBody>
      </p:sp>
      <p:sp>
        <p:nvSpPr>
          <p:cNvPr id="33" name="Text 29"/>
          <p:cNvSpPr txBox="1"/>
          <p:nvPr/>
        </p:nvSpPr>
        <p:spPr>
          <a:xfrm>
            <a:off x="7936992" y="2340864"/>
            <a:ext cx="3504895" cy="420624"/>
          </a:xfrm>
          <a:prstGeom prst="rect">
            <a:avLst/>
          </a:prstGeom>
          <a:noFill/>
          <a:ln/>
        </p:spPr>
        <p:txBody>
          <a:bodyPr wrap="square" lIns="0" tIns="0" rIns="0" bIns="0" rtlCol="0" anchor="ctr"/>
          <a:lstStyle/>
          <a:p>
            <a:pPr algn="l" indent="0" marL="0">
              <a:lnSpc>
                <a:spcPct val="105000"/>
              </a:lnSpc>
              <a:buNone/>
            </a:pPr>
            <a:r>
              <a:rPr lang="en-US" sz="1060" dirty="0">
                <a:solidFill>
                  <a:srgbClr val="243B53"/>
                </a:solidFill>
                <a:latin typeface="Aptos" pitchFamily="34" charset="0"/>
                <a:ea typeface="Aptos" pitchFamily="34" charset="-122"/>
                <a:cs typeface="Aptos" pitchFamily="34" charset="-120"/>
              </a:rPr>
              <a:t>Si ya está deshabilitado, hay una solicitud en curso: no hace nada.</a:t>
            </a:r>
            <a:endParaRPr lang="en-US" sz="1060" dirty="0"/>
          </a:p>
        </p:txBody>
      </p:sp>
      <p:sp>
        <p:nvSpPr>
          <p:cNvPr id="34" name="Shape 30"/>
          <p:cNvSpPr/>
          <p:nvPr/>
        </p:nvSpPr>
        <p:spPr>
          <a:xfrm>
            <a:off x="7424928" y="2871216"/>
            <a:ext cx="4108399" cy="493776"/>
          </a:xfrm>
          <a:prstGeom prst="rect">
            <a:avLst/>
          </a:prstGeom>
          <a:solidFill>
            <a:srgbClr val="FFFFFF"/>
          </a:solidFill>
          <a:ln w="12700">
            <a:solidFill>
              <a:srgbClr val="FFFFFF"/>
            </a:solidFill>
            <a:prstDash val="solid"/>
          </a:ln>
        </p:spPr>
      </p:sp>
      <p:sp>
        <p:nvSpPr>
          <p:cNvPr id="35" name="Shape 31"/>
          <p:cNvSpPr/>
          <p:nvPr/>
        </p:nvSpPr>
        <p:spPr>
          <a:xfrm>
            <a:off x="7571232" y="2990088"/>
            <a:ext cx="256032" cy="256032"/>
          </a:xfrm>
          <a:prstGeom prst="ellipse">
            <a:avLst/>
          </a:prstGeom>
          <a:solidFill>
            <a:srgbClr val="2E7D4F"/>
          </a:solidFill>
          <a:ln w="12700">
            <a:solidFill>
              <a:srgbClr val="2E7D4F"/>
            </a:solidFill>
            <a:prstDash val="solid"/>
          </a:ln>
        </p:spPr>
      </p:sp>
      <p:sp>
        <p:nvSpPr>
          <p:cNvPr id="36" name="Text 32"/>
          <p:cNvSpPr/>
          <p:nvPr/>
        </p:nvSpPr>
        <p:spPr>
          <a:xfrm>
            <a:off x="7580376" y="2999232"/>
            <a:ext cx="237744" cy="23774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3</a:t>
            </a:r>
            <a:endParaRPr lang="en-US" sz="940" dirty="0"/>
          </a:p>
        </p:txBody>
      </p:sp>
      <p:sp>
        <p:nvSpPr>
          <p:cNvPr id="37" name="Text 33"/>
          <p:cNvSpPr txBox="1"/>
          <p:nvPr/>
        </p:nvSpPr>
        <p:spPr>
          <a:xfrm>
            <a:off x="7936992" y="2907792"/>
            <a:ext cx="3504895" cy="420624"/>
          </a:xfrm>
          <a:prstGeom prst="rect">
            <a:avLst/>
          </a:prstGeom>
          <a:noFill/>
          <a:ln/>
        </p:spPr>
        <p:txBody>
          <a:bodyPr wrap="square" lIns="0" tIns="0" rIns="0" bIns="0" rtlCol="0" anchor="ctr"/>
          <a:lstStyle/>
          <a:p>
            <a:pPr algn="l" indent="0" marL="0">
              <a:lnSpc>
                <a:spcPct val="105000"/>
              </a:lnSpc>
              <a:buNone/>
            </a:pPr>
            <a:r>
              <a:rPr lang="en-US" sz="1060" dirty="0">
                <a:solidFill>
                  <a:srgbClr val="243B53"/>
                </a:solidFill>
                <a:latin typeface="Aptos" pitchFamily="34" charset="0"/>
                <a:ea typeface="Aptos" pitchFamily="34" charset="-122"/>
                <a:cs typeface="Aptos" pitchFamily="34" charset="-120"/>
              </a:rPr>
              <a:t>Si no, lo deshabilita antes de enviar.</a:t>
            </a:r>
            <a:endParaRPr lang="en-US" sz="1060" dirty="0"/>
          </a:p>
        </p:txBody>
      </p:sp>
      <p:sp>
        <p:nvSpPr>
          <p:cNvPr id="38" name="Shape 34"/>
          <p:cNvSpPr/>
          <p:nvPr/>
        </p:nvSpPr>
        <p:spPr>
          <a:xfrm>
            <a:off x="7424928" y="3438144"/>
            <a:ext cx="4108399" cy="493776"/>
          </a:xfrm>
          <a:prstGeom prst="rect">
            <a:avLst/>
          </a:prstGeom>
          <a:solidFill>
            <a:srgbClr val="FFFFFF"/>
          </a:solidFill>
          <a:ln w="12700">
            <a:solidFill>
              <a:srgbClr val="FFFFFF"/>
            </a:solidFill>
            <a:prstDash val="solid"/>
          </a:ln>
        </p:spPr>
      </p:sp>
      <p:sp>
        <p:nvSpPr>
          <p:cNvPr id="39" name="Shape 35"/>
          <p:cNvSpPr/>
          <p:nvPr/>
        </p:nvSpPr>
        <p:spPr>
          <a:xfrm>
            <a:off x="7571232" y="3557016"/>
            <a:ext cx="256032" cy="256032"/>
          </a:xfrm>
          <a:prstGeom prst="ellipse">
            <a:avLst/>
          </a:prstGeom>
          <a:solidFill>
            <a:srgbClr val="2E7D4F"/>
          </a:solidFill>
          <a:ln w="12700">
            <a:solidFill>
              <a:srgbClr val="2E7D4F"/>
            </a:solidFill>
            <a:prstDash val="solid"/>
          </a:ln>
        </p:spPr>
      </p:sp>
      <p:sp>
        <p:nvSpPr>
          <p:cNvPr id="40" name="Text 36"/>
          <p:cNvSpPr/>
          <p:nvPr/>
        </p:nvSpPr>
        <p:spPr>
          <a:xfrm>
            <a:off x="7580376" y="3566160"/>
            <a:ext cx="237744" cy="237744"/>
          </a:xfrm>
          <a:prstGeom prst="rect">
            <a:avLst/>
          </a:prstGeom>
          <a:noFill/>
          <a:ln/>
        </p:spPr>
        <p:txBody>
          <a:bodyPr wrap="square" lIns="0" tIns="0" rIns="0" bIns="0" rtlCol="0" anchor="ctr"/>
          <a:lstStyle/>
          <a:p>
            <a:pPr algn="ctr" indent="0" marL="0">
              <a:buNone/>
            </a:pPr>
            <a:r>
              <a:rPr lang="en-US" sz="940" b="1" dirty="0">
                <a:solidFill>
                  <a:srgbClr val="FFFFFF"/>
                </a:solidFill>
                <a:latin typeface="Aptos" pitchFamily="34" charset="0"/>
                <a:ea typeface="Aptos" pitchFamily="34" charset="-122"/>
                <a:cs typeface="Aptos" pitchFamily="34" charset="-120"/>
              </a:rPr>
              <a:t>4</a:t>
            </a:r>
            <a:endParaRPr lang="en-US" sz="940" dirty="0"/>
          </a:p>
        </p:txBody>
      </p:sp>
      <p:sp>
        <p:nvSpPr>
          <p:cNvPr id="41" name="Text 37"/>
          <p:cNvSpPr txBox="1"/>
          <p:nvPr/>
        </p:nvSpPr>
        <p:spPr>
          <a:xfrm>
            <a:off x="7936992" y="3474720"/>
            <a:ext cx="3504895" cy="420624"/>
          </a:xfrm>
          <a:prstGeom prst="rect">
            <a:avLst/>
          </a:prstGeom>
          <a:noFill/>
          <a:ln/>
        </p:spPr>
        <p:txBody>
          <a:bodyPr wrap="square" lIns="0" tIns="0" rIns="0" bIns="0" rtlCol="0" anchor="ctr"/>
          <a:lstStyle/>
          <a:p>
            <a:pPr algn="l" indent="0" marL="0">
              <a:lnSpc>
                <a:spcPct val="105000"/>
              </a:lnSpc>
              <a:buNone/>
            </a:pPr>
            <a:r>
              <a:rPr lang="en-US" sz="1060" dirty="0">
                <a:solidFill>
                  <a:srgbClr val="243B53"/>
                </a:solidFill>
                <a:latin typeface="Aptos" pitchFamily="34" charset="0"/>
                <a:ea typeface="Aptos" pitchFamily="34" charset="-122"/>
                <a:cs typeface="Aptos" pitchFamily="34" charset="-120"/>
              </a:rPr>
              <a:t>Al terminar de mostrar la respuesta, lo vuelve a habilitar.</a:t>
            </a:r>
            <a:endParaRPr lang="en-US" sz="1060" dirty="0"/>
          </a:p>
        </p:txBody>
      </p:sp>
      <p:sp>
        <p:nvSpPr>
          <p:cNvPr id="42" name="Text 38"/>
          <p:cNvSpPr txBox="1"/>
          <p:nvPr/>
        </p:nvSpPr>
        <p:spPr>
          <a:xfrm>
            <a:off x="7424928" y="4078224"/>
            <a:ext cx="4108399" cy="475488"/>
          </a:xfrm>
          <a:prstGeom prst="rect">
            <a:avLst/>
          </a:prstGeom>
          <a:noFill/>
          <a:ln/>
        </p:spPr>
        <p:txBody>
          <a:bodyPr wrap="square" lIns="0" tIns="0" rIns="0" bIns="0" rtlCol="0" anchor="t"/>
          <a:lstStyle/>
          <a:p>
            <a:pPr algn="l" indent="0" marL="0">
              <a:lnSpc>
                <a:spcPct val="110000"/>
              </a:lnSpc>
              <a:buNone/>
            </a:pPr>
            <a:r>
              <a:rPr lang="en-US" sz="1140" b="1" dirty="0">
                <a:solidFill>
                  <a:srgbClr val="243B53"/>
                </a:solidFill>
                <a:latin typeface="Aptos" pitchFamily="34" charset="0"/>
                <a:ea typeface="Aptos" pitchFamily="34" charset="-122"/>
                <a:cs typeface="Aptos" pitchFamily="34" charset="-120"/>
              </a:rPr>
              <a:t>Un botón deshabilitado no responde al segundo clic, así que sale una sola solicitud.</a:t>
            </a:r>
            <a:endParaRPr lang="en-US" sz="1140" dirty="0"/>
          </a:p>
        </p:txBody>
      </p:sp>
      <p:sp>
        <p:nvSpPr>
          <p:cNvPr id="43" name="Shape 39"/>
          <p:cNvSpPr/>
          <p:nvPr/>
        </p:nvSpPr>
        <p:spPr>
          <a:xfrm>
            <a:off x="7424928" y="4663440"/>
            <a:ext cx="4108399" cy="839724"/>
          </a:xfrm>
          <a:prstGeom prst="roundRect">
            <a:avLst>
              <a:gd name="adj" fmla="val 5445"/>
            </a:avLst>
          </a:prstGeom>
          <a:solidFill>
            <a:srgbClr val="0F1720"/>
          </a:solidFill>
          <a:ln w="12700">
            <a:solidFill>
              <a:srgbClr val="0F1720"/>
            </a:solidFill>
            <a:prstDash val="solid"/>
          </a:ln>
        </p:spPr>
      </p:sp>
      <p:sp>
        <p:nvSpPr>
          <p:cNvPr id="44" name="Shape 40"/>
          <p:cNvSpPr/>
          <p:nvPr/>
        </p:nvSpPr>
        <p:spPr>
          <a:xfrm>
            <a:off x="7584948" y="4796028"/>
            <a:ext cx="82296" cy="82296"/>
          </a:xfrm>
          <a:prstGeom prst="ellipse">
            <a:avLst/>
          </a:prstGeom>
          <a:solidFill>
            <a:srgbClr val="52606D"/>
          </a:solidFill>
          <a:ln w="12700">
            <a:solidFill>
              <a:srgbClr val="52606D"/>
            </a:solidFill>
            <a:prstDash val="solid"/>
          </a:ln>
        </p:spPr>
      </p:sp>
      <p:sp>
        <p:nvSpPr>
          <p:cNvPr id="45" name="Shape 41"/>
          <p:cNvSpPr/>
          <p:nvPr/>
        </p:nvSpPr>
        <p:spPr>
          <a:xfrm>
            <a:off x="7740396" y="4796028"/>
            <a:ext cx="82296" cy="82296"/>
          </a:xfrm>
          <a:prstGeom prst="ellipse">
            <a:avLst/>
          </a:prstGeom>
          <a:solidFill>
            <a:srgbClr val="52606D"/>
          </a:solidFill>
          <a:ln w="12700">
            <a:solidFill>
              <a:srgbClr val="52606D"/>
            </a:solidFill>
            <a:prstDash val="solid"/>
          </a:ln>
        </p:spPr>
      </p:sp>
      <p:sp>
        <p:nvSpPr>
          <p:cNvPr id="46" name="Shape 42"/>
          <p:cNvSpPr/>
          <p:nvPr/>
        </p:nvSpPr>
        <p:spPr>
          <a:xfrm>
            <a:off x="7895844" y="4796028"/>
            <a:ext cx="82296" cy="82296"/>
          </a:xfrm>
          <a:prstGeom prst="ellipse">
            <a:avLst/>
          </a:prstGeom>
          <a:solidFill>
            <a:srgbClr val="52606D"/>
          </a:solidFill>
          <a:ln w="12700">
            <a:solidFill>
              <a:srgbClr val="52606D"/>
            </a:solidFill>
            <a:prstDash val="solid"/>
          </a:ln>
        </p:spPr>
      </p:sp>
      <p:sp>
        <p:nvSpPr>
          <p:cNvPr id="47" name="Text 43"/>
          <p:cNvSpPr/>
          <p:nvPr/>
        </p:nvSpPr>
        <p:spPr>
          <a:xfrm>
            <a:off x="8119872" y="4745736"/>
            <a:ext cx="3230575"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Doble clic, diez veces cada prueba</a:t>
            </a:r>
            <a:endParaRPr lang="en-US" sz="940" dirty="0"/>
          </a:p>
        </p:txBody>
      </p:sp>
      <p:sp>
        <p:nvSpPr>
          <p:cNvPr id="48" name="Text 44"/>
          <p:cNvSpPr/>
          <p:nvPr/>
        </p:nvSpPr>
        <p:spPr>
          <a:xfrm>
            <a:off x="7626096" y="5138928"/>
            <a:ext cx="3706063" cy="236220"/>
          </a:xfrm>
          <a:prstGeom prst="rect">
            <a:avLst/>
          </a:prstGeom>
          <a:noFill/>
          <a:ln/>
        </p:spPr>
        <p:txBody>
          <a:bodyPr wrap="square" lIns="0" tIns="0" rIns="0" bIns="0" rtlCol="0" anchor="ctr"/>
          <a:lstStyle/>
          <a:p>
            <a:pPr indent="0" marL="0">
              <a:buNone/>
            </a:pPr>
            <a:r>
              <a:rPr lang="en-US" sz="1200" b="1" dirty="0">
                <a:solidFill>
                  <a:srgbClr val="3FAE6A"/>
                </a:solidFill>
                <a:latin typeface="Consolas" pitchFamily="34" charset="0"/>
                <a:ea typeface="Consolas" pitchFamily="34" charset="-122"/>
                <a:cs typeface="Consolas" pitchFamily="34" charset="-120"/>
              </a:rPr>
              <a:t>20 passed (55.6s)</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SUITE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Así queda la suite al terminar la sesión</a:t>
            </a:r>
            <a:endParaRPr lang="en-US" sz="3000" dirty="0"/>
          </a:p>
        </p:txBody>
      </p:sp>
      <p:sp>
        <p:nvSpPr>
          <p:cNvPr id="10" name="Shape 7"/>
          <p:cNvSpPr/>
          <p:nvPr/>
        </p:nvSpPr>
        <p:spPr>
          <a:xfrm>
            <a:off x="658368" y="1755648"/>
            <a:ext cx="6583680" cy="2209800"/>
          </a:xfrm>
          <a:prstGeom prst="roundRect">
            <a:avLst>
              <a:gd name="adj" fmla="val 2069"/>
            </a:avLst>
          </a:prstGeom>
          <a:solidFill>
            <a:srgbClr val="0F1720"/>
          </a:solidFill>
          <a:ln w="12700">
            <a:solidFill>
              <a:srgbClr val="0F1720"/>
            </a:solidFill>
            <a:prstDash val="solid"/>
          </a:ln>
        </p:spPr>
      </p:sp>
      <p:sp>
        <p:nvSpPr>
          <p:cNvPr id="11" name="Shape 8"/>
          <p:cNvSpPr/>
          <p:nvPr/>
        </p:nvSpPr>
        <p:spPr>
          <a:xfrm>
            <a:off x="818388" y="1888236"/>
            <a:ext cx="82296" cy="82296"/>
          </a:xfrm>
          <a:prstGeom prst="ellipse">
            <a:avLst/>
          </a:prstGeom>
          <a:solidFill>
            <a:srgbClr val="52606D"/>
          </a:solidFill>
          <a:ln w="12700">
            <a:solidFill>
              <a:srgbClr val="52606D"/>
            </a:solidFill>
            <a:prstDash val="solid"/>
          </a:ln>
        </p:spPr>
      </p:sp>
      <p:sp>
        <p:nvSpPr>
          <p:cNvPr id="12" name="Shape 9"/>
          <p:cNvSpPr/>
          <p:nvPr/>
        </p:nvSpPr>
        <p:spPr>
          <a:xfrm>
            <a:off x="973836" y="1888236"/>
            <a:ext cx="82296" cy="82296"/>
          </a:xfrm>
          <a:prstGeom prst="ellipse">
            <a:avLst/>
          </a:prstGeom>
          <a:solidFill>
            <a:srgbClr val="52606D"/>
          </a:solidFill>
          <a:ln w="12700">
            <a:solidFill>
              <a:srgbClr val="52606D"/>
            </a:solidFill>
            <a:prstDash val="solid"/>
          </a:ln>
        </p:spPr>
      </p:sp>
      <p:sp>
        <p:nvSpPr>
          <p:cNvPr id="13" name="Shape 10"/>
          <p:cNvSpPr/>
          <p:nvPr/>
        </p:nvSpPr>
        <p:spPr>
          <a:xfrm>
            <a:off x="1129284" y="1888236"/>
            <a:ext cx="82296" cy="82296"/>
          </a:xfrm>
          <a:prstGeom prst="ellipse">
            <a:avLst/>
          </a:prstGeom>
          <a:solidFill>
            <a:srgbClr val="52606D"/>
          </a:solidFill>
          <a:ln w="12700">
            <a:solidFill>
              <a:srgbClr val="52606D"/>
            </a:solidFill>
            <a:prstDash val="solid"/>
          </a:ln>
        </p:spPr>
      </p:sp>
      <p:sp>
        <p:nvSpPr>
          <p:cNvPr id="14" name="Text 11"/>
          <p:cNvSpPr/>
          <p:nvPr/>
        </p:nvSpPr>
        <p:spPr>
          <a:xfrm>
            <a:off x="1353312" y="1837944"/>
            <a:ext cx="5705856"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La suite de extremo a extremo</a:t>
            </a:r>
            <a:endParaRPr lang="en-US" sz="940" dirty="0"/>
          </a:p>
        </p:txBody>
      </p:sp>
      <p:sp>
        <p:nvSpPr>
          <p:cNvPr id="15" name="Text 12"/>
          <p:cNvSpPr/>
          <p:nvPr/>
        </p:nvSpPr>
        <p:spPr>
          <a:xfrm>
            <a:off x="859536" y="2231136"/>
            <a:ext cx="6181344" cy="200787"/>
          </a:xfrm>
          <a:prstGeom prst="rect">
            <a:avLst/>
          </a:prstGeom>
          <a:noFill/>
          <a:ln/>
        </p:spPr>
        <p:txBody>
          <a:bodyPr wrap="square" lIns="0" tIns="0" rIns="0" bIns="0" rtlCol="0" anchor="ctr"/>
          <a:lstStyle/>
          <a:p>
            <a:pPr indent="0" marL="0">
              <a:buNone/>
            </a:pPr>
            <a:r>
              <a:rPr lang="en-US" sz="1020" b="1" dirty="0">
                <a:solidFill>
                  <a:srgbClr val="3FAE6A"/>
                </a:solidFill>
                <a:latin typeface="Consolas" pitchFamily="34" charset="0"/>
                <a:ea typeface="Consolas" pitchFamily="34" charset="-122"/>
                <a:cs typeface="Consolas" pitchFamily="34" charset="-120"/>
              </a:rPr>
              <a:t>ok 1 un doble clic envía una sola solicitud de reserva</a:t>
            </a:r>
            <a:endParaRPr lang="en-US" sz="1020" dirty="0"/>
          </a:p>
        </p:txBody>
      </p:sp>
      <p:sp>
        <p:nvSpPr>
          <p:cNvPr id="16" name="Text 13"/>
          <p:cNvSpPr/>
          <p:nvPr/>
        </p:nvSpPr>
        <p:spPr>
          <a:xfrm>
            <a:off x="859536" y="2431923"/>
            <a:ext cx="6181344" cy="200787"/>
          </a:xfrm>
          <a:prstGeom prst="rect">
            <a:avLst/>
          </a:prstGeom>
          <a:noFill/>
          <a:ln/>
        </p:spPr>
        <p:txBody>
          <a:bodyPr wrap="square" lIns="0" tIns="0" rIns="0" bIns="0" rtlCol="0" anchor="ctr"/>
          <a:lstStyle/>
          <a:p>
            <a:pPr indent="0" marL="0">
              <a:buNone/>
            </a:pPr>
            <a:r>
              <a:rPr lang="en-US" sz="1020" b="1" dirty="0">
                <a:solidFill>
                  <a:srgbClr val="3FAE6A"/>
                </a:solidFill>
                <a:latin typeface="Consolas" pitchFamily="34" charset="0"/>
                <a:ea typeface="Consolas" pitchFamily="34" charset="-122"/>
                <a:cs typeface="Consolas" pitchFamily="34" charset="-120"/>
              </a:rPr>
              <a:t>ok 2 tras un doble clic, el mensaje dice lo que realmente pasó</a:t>
            </a:r>
            <a:endParaRPr lang="en-US" sz="1020" dirty="0"/>
          </a:p>
        </p:txBody>
      </p:sp>
      <p:sp>
        <p:nvSpPr>
          <p:cNvPr id="17" name="Text 14"/>
          <p:cNvSpPr/>
          <p:nvPr/>
        </p:nvSpPr>
        <p:spPr>
          <a:xfrm>
            <a:off x="859536" y="2632710"/>
            <a:ext cx="6181344" cy="200787"/>
          </a:xfrm>
          <a:prstGeom prst="rect">
            <a:avLst/>
          </a:prstGeom>
          <a:noFill/>
          <a:ln/>
        </p:spPr>
        <p:txBody>
          <a:bodyPr wrap="square" lIns="0" tIns="0" rIns="0" bIns="0" rtlCol="0" anchor="ctr"/>
          <a:lstStyle/>
          <a:p>
            <a:pPr indent="0" marL="0">
              <a:buNone/>
            </a:pPr>
            <a:r>
              <a:rPr lang="en-US" sz="1020" b="1" dirty="0">
                <a:solidFill>
                  <a:srgbClr val="3FAE6A"/>
                </a:solidFill>
                <a:latin typeface="Consolas" pitchFamily="34" charset="0"/>
                <a:ea typeface="Consolas" pitchFamily="34" charset="-122"/>
                <a:cs typeface="Consolas" pitchFamily="34" charset="-120"/>
              </a:rPr>
              <a:t>ok 3 tras reservar, el bloque 4 aparece tomado · espera una condición</a:t>
            </a:r>
            <a:endParaRPr lang="en-US" sz="1020" dirty="0"/>
          </a:p>
        </p:txBody>
      </p:sp>
      <p:sp>
        <p:nvSpPr>
          <p:cNvPr id="18" name="Text 15"/>
          <p:cNvSpPr/>
          <p:nvPr/>
        </p:nvSpPr>
        <p:spPr>
          <a:xfrm>
            <a:off x="859536" y="2833497"/>
            <a:ext cx="6181344" cy="200787"/>
          </a:xfrm>
          <a:prstGeom prst="rect">
            <a:avLst/>
          </a:prstGeom>
          <a:noFill/>
          <a:ln/>
        </p:spPr>
        <p:txBody>
          <a:bodyPr wrap="square" lIns="0" tIns="0" rIns="0" bIns="0" rtlCol="0" anchor="ctr"/>
          <a:lstStyle/>
          <a:p>
            <a:pPr indent="0" marL="0">
              <a:buNone/>
            </a:pPr>
            <a:r>
              <a:rPr lang="en-US" sz="1020" b="1" dirty="0">
                <a:solidFill>
                  <a:srgbClr val="3FAE6A"/>
                </a:solidFill>
                <a:latin typeface="Consolas" pitchFamily="34" charset="0"/>
                <a:ea typeface="Consolas" pitchFamily="34" charset="-122"/>
                <a:cs typeface="Consolas" pitchFamily="34" charset="-120"/>
              </a:rPr>
              <a:t>ok 4 una reserva completa se confirma en pantalla</a:t>
            </a:r>
            <a:endParaRPr lang="en-US" sz="1020" dirty="0"/>
          </a:p>
        </p:txBody>
      </p:sp>
      <p:sp>
        <p:nvSpPr>
          <p:cNvPr id="19" name="Text 16"/>
          <p:cNvSpPr/>
          <p:nvPr/>
        </p:nvSpPr>
        <p:spPr>
          <a:xfrm>
            <a:off x="859536" y="3034284"/>
            <a:ext cx="6181344" cy="200787"/>
          </a:xfrm>
          <a:prstGeom prst="rect">
            <a:avLst/>
          </a:prstGeom>
          <a:noFill/>
          <a:ln/>
        </p:spPr>
        <p:txBody>
          <a:bodyPr wrap="square" lIns="0" tIns="0" rIns="0" bIns="0" rtlCol="0" anchor="ctr"/>
          <a:lstStyle/>
          <a:p>
            <a:pPr indent="0" marL="0">
              <a:buNone/>
            </a:pPr>
            <a:r>
              <a:rPr lang="en-US" sz="1020" b="1" dirty="0">
                <a:solidFill>
                  <a:srgbClr val="D62027"/>
                </a:solidFill>
                <a:latin typeface="Consolas" pitchFamily="34" charset="0"/>
                <a:ea typeface="Consolas" pitchFamily="34" charset="-122"/>
                <a:cs typeface="Consolas" pitchFamily="34" charset="-120"/>
              </a:rPr>
              <a:t>x  5 si falta un dato, la pantalla dice cuál corregir</a:t>
            </a:r>
            <a:endParaRPr lang="en-US" sz="1020" dirty="0"/>
          </a:p>
        </p:txBody>
      </p:sp>
      <p:sp>
        <p:nvSpPr>
          <p:cNvPr id="20" name="Text 17"/>
          <p:cNvSpPr/>
          <p:nvPr/>
        </p:nvSpPr>
        <p:spPr>
          <a:xfrm>
            <a:off x="859536" y="3235071"/>
            <a:ext cx="6181344" cy="200787"/>
          </a:xfrm>
          <a:prstGeom prst="rect">
            <a:avLst/>
          </a:prstGeom>
          <a:noFill/>
          <a:ln/>
        </p:spPr>
        <p:txBody>
          <a:bodyPr wrap="square" lIns="0" tIns="0" rIns="0" bIns="0" rtlCol="0" anchor="ctr"/>
          <a:lstStyle/>
          <a:p>
            <a:pPr indent="0" marL="0">
              <a:buNone/>
            </a:pPr>
            <a:endParaRPr lang="en-US" sz="1020" dirty="0"/>
          </a:p>
        </p:txBody>
      </p:sp>
      <p:sp>
        <p:nvSpPr>
          <p:cNvPr id="21" name="Text 18"/>
          <p:cNvSpPr/>
          <p:nvPr/>
        </p:nvSpPr>
        <p:spPr>
          <a:xfrm>
            <a:off x="859536" y="3435858"/>
            <a:ext cx="6181344" cy="200787"/>
          </a:xfrm>
          <a:prstGeom prst="rect">
            <a:avLst/>
          </a:prstGeom>
          <a:noFill/>
          <a:ln/>
        </p:spPr>
        <p:txBody>
          <a:bodyPr wrap="square" lIns="0" tIns="0" rIns="0" bIns="0" rtlCol="0" anchor="ctr"/>
          <a:lstStyle/>
          <a:p>
            <a:pPr indent="0" marL="0">
              <a:buNone/>
            </a:pPr>
            <a:r>
              <a:rPr lang="en-US" sz="1020" b="1" dirty="0">
                <a:solidFill>
                  <a:srgbClr val="D62027"/>
                </a:solidFill>
                <a:latin typeface="Consolas" pitchFamily="34" charset="0"/>
                <a:ea typeface="Consolas" pitchFamily="34" charset="-122"/>
                <a:cs typeface="Consolas" pitchFamily="34" charset="-120"/>
              </a:rPr>
              <a:t>1 failed</a:t>
            </a:r>
            <a:endParaRPr lang="en-US" sz="1020" dirty="0"/>
          </a:p>
        </p:txBody>
      </p:sp>
      <p:sp>
        <p:nvSpPr>
          <p:cNvPr id="22" name="Text 19"/>
          <p:cNvSpPr/>
          <p:nvPr/>
        </p:nvSpPr>
        <p:spPr>
          <a:xfrm>
            <a:off x="859536" y="3636645"/>
            <a:ext cx="6181344" cy="200787"/>
          </a:xfrm>
          <a:prstGeom prst="rect">
            <a:avLst/>
          </a:prstGeom>
          <a:noFill/>
          <a:ln/>
        </p:spPr>
        <p:txBody>
          <a:bodyPr wrap="square" lIns="0" tIns="0" rIns="0" bIns="0" rtlCol="0" anchor="ctr"/>
          <a:lstStyle/>
          <a:p>
            <a:pPr indent="0" marL="0">
              <a:buNone/>
            </a:pPr>
            <a:r>
              <a:rPr lang="en-US" sz="1020" b="1" dirty="0">
                <a:solidFill>
                  <a:srgbClr val="3FAE6A"/>
                </a:solidFill>
                <a:latin typeface="Consolas" pitchFamily="34" charset="0"/>
                <a:ea typeface="Consolas" pitchFamily="34" charset="-122"/>
                <a:cs typeface="Consolas" pitchFamily="34" charset="-120"/>
              </a:rPr>
              <a:t>4 passed (17.0s)</a:t>
            </a:r>
            <a:endParaRPr lang="en-US" sz="1020" dirty="0"/>
          </a:p>
        </p:txBody>
      </p:sp>
      <p:sp>
        <p:nvSpPr>
          <p:cNvPr id="23" name="Shape 20"/>
          <p:cNvSpPr/>
          <p:nvPr/>
        </p:nvSpPr>
        <p:spPr>
          <a:xfrm>
            <a:off x="658368" y="4114800"/>
            <a:ext cx="6583680" cy="820039"/>
          </a:xfrm>
          <a:prstGeom prst="roundRect">
            <a:avLst>
              <a:gd name="adj" fmla="val 5575"/>
            </a:avLst>
          </a:prstGeom>
          <a:solidFill>
            <a:srgbClr val="0F1720"/>
          </a:solidFill>
          <a:ln w="12700">
            <a:solidFill>
              <a:srgbClr val="0F1720"/>
            </a:solidFill>
            <a:prstDash val="solid"/>
          </a:ln>
        </p:spPr>
      </p:sp>
      <p:sp>
        <p:nvSpPr>
          <p:cNvPr id="24" name="Shape 21"/>
          <p:cNvSpPr/>
          <p:nvPr/>
        </p:nvSpPr>
        <p:spPr>
          <a:xfrm>
            <a:off x="818388" y="4247388"/>
            <a:ext cx="82296" cy="82296"/>
          </a:xfrm>
          <a:prstGeom prst="ellipse">
            <a:avLst/>
          </a:prstGeom>
          <a:solidFill>
            <a:srgbClr val="52606D"/>
          </a:solidFill>
          <a:ln w="12700">
            <a:solidFill>
              <a:srgbClr val="52606D"/>
            </a:solidFill>
            <a:prstDash val="solid"/>
          </a:ln>
        </p:spPr>
      </p:sp>
      <p:sp>
        <p:nvSpPr>
          <p:cNvPr id="25" name="Shape 22"/>
          <p:cNvSpPr/>
          <p:nvPr/>
        </p:nvSpPr>
        <p:spPr>
          <a:xfrm>
            <a:off x="973836" y="4247388"/>
            <a:ext cx="82296" cy="82296"/>
          </a:xfrm>
          <a:prstGeom prst="ellipse">
            <a:avLst/>
          </a:prstGeom>
          <a:solidFill>
            <a:srgbClr val="52606D"/>
          </a:solidFill>
          <a:ln w="12700">
            <a:solidFill>
              <a:srgbClr val="52606D"/>
            </a:solidFill>
            <a:prstDash val="solid"/>
          </a:ln>
        </p:spPr>
      </p:sp>
      <p:sp>
        <p:nvSpPr>
          <p:cNvPr id="26" name="Shape 23"/>
          <p:cNvSpPr/>
          <p:nvPr/>
        </p:nvSpPr>
        <p:spPr>
          <a:xfrm>
            <a:off x="1129284" y="4247388"/>
            <a:ext cx="82296" cy="82296"/>
          </a:xfrm>
          <a:prstGeom prst="ellipse">
            <a:avLst/>
          </a:prstGeom>
          <a:solidFill>
            <a:srgbClr val="52606D"/>
          </a:solidFill>
          <a:ln w="12700">
            <a:solidFill>
              <a:srgbClr val="52606D"/>
            </a:solidFill>
            <a:prstDash val="solid"/>
          </a:ln>
        </p:spPr>
      </p:sp>
      <p:sp>
        <p:nvSpPr>
          <p:cNvPr id="27" name="Text 24"/>
          <p:cNvSpPr/>
          <p:nvPr/>
        </p:nvSpPr>
        <p:spPr>
          <a:xfrm>
            <a:off x="1353312" y="4197096"/>
            <a:ext cx="5705856" cy="182880"/>
          </a:xfrm>
          <a:prstGeom prst="rect">
            <a:avLst/>
          </a:prstGeom>
          <a:noFill/>
          <a:ln/>
        </p:spPr>
        <p:txBody>
          <a:bodyPr wrap="square" lIns="0" tIns="0" rIns="0" bIns="0" rtlCol="0" anchor="ctr"/>
          <a:lstStyle/>
          <a:p>
            <a:pPr indent="0" marL="0">
              <a:buNone/>
            </a:pPr>
            <a:r>
              <a:rPr lang="en-US" sz="940" b="1" dirty="0">
                <a:solidFill>
                  <a:srgbClr val="8AA0B6"/>
                </a:solidFill>
                <a:latin typeface="Aptos" pitchFamily="34" charset="0"/>
                <a:ea typeface="Aptos" pitchFamily="34" charset="-122"/>
                <a:cs typeface="Aptos" pitchFamily="34" charset="-120"/>
              </a:rPr>
              <a:t>La suite de pytest, mientras tanto</a:t>
            </a:r>
            <a:endParaRPr lang="en-US" sz="940" dirty="0"/>
          </a:p>
        </p:txBody>
      </p:sp>
      <p:sp>
        <p:nvSpPr>
          <p:cNvPr id="28" name="Text 25"/>
          <p:cNvSpPr/>
          <p:nvPr/>
        </p:nvSpPr>
        <p:spPr>
          <a:xfrm>
            <a:off x="859536" y="4590288"/>
            <a:ext cx="6181344" cy="216535"/>
          </a:xfrm>
          <a:prstGeom prst="rect">
            <a:avLst/>
          </a:prstGeom>
          <a:noFill/>
          <a:ln/>
        </p:spPr>
        <p:txBody>
          <a:bodyPr wrap="square" lIns="0" tIns="0" rIns="0" bIns="0" rtlCol="0" anchor="ctr"/>
          <a:lstStyle/>
          <a:p>
            <a:pPr indent="0" marL="0">
              <a:buNone/>
            </a:pPr>
            <a:r>
              <a:rPr lang="en-US" sz="1100" b="1" dirty="0">
                <a:solidFill>
                  <a:srgbClr val="3FAE6A"/>
                </a:solidFill>
                <a:latin typeface="Consolas" pitchFamily="34" charset="0"/>
                <a:ea typeface="Consolas" pitchFamily="34" charset="-122"/>
                <a:cs typeface="Consolas" pitchFamily="34" charset="-120"/>
              </a:rPr>
              <a:t>20 passed in 0.78s</a:t>
            </a:r>
            <a:endParaRPr lang="en-US" sz="1100" dirty="0"/>
          </a:p>
        </p:txBody>
      </p:sp>
      <p:sp>
        <p:nvSpPr>
          <p:cNvPr id="29" name="Text 26"/>
          <p:cNvSpPr txBox="1"/>
          <p:nvPr/>
        </p:nvSpPr>
        <p:spPr>
          <a:xfrm>
            <a:off x="7516368" y="1755648"/>
            <a:ext cx="4016959" cy="548640"/>
          </a:xfrm>
          <a:prstGeom prst="rect">
            <a:avLst/>
          </a:prstGeom>
          <a:noFill/>
          <a:ln/>
        </p:spPr>
        <p:txBody>
          <a:bodyPr wrap="square" lIns="0" tIns="0" rIns="0" bIns="0" rtlCol="0" anchor="t"/>
          <a:lstStyle/>
          <a:p>
            <a:pPr algn="l" indent="0" marL="0">
              <a:lnSpc>
                <a:spcPct val="110000"/>
              </a:lnSpc>
              <a:buNone/>
            </a:pPr>
            <a:r>
              <a:rPr lang="en-US" sz="1200" b="1" dirty="0">
                <a:solidFill>
                  <a:srgbClr val="243B53"/>
                </a:solidFill>
                <a:latin typeface="Aptos" pitchFamily="34" charset="0"/>
                <a:ea typeface="Aptos" pitchFamily="34" charset="-122"/>
                <a:cs typeface="Aptos" pitchFamily="34" charset="-120"/>
              </a:rPr>
              <a:t>La que queda en rojo es la del [object Object]: nadie lo corrigió.</a:t>
            </a:r>
            <a:endParaRPr lang="en-US" sz="1200" dirty="0"/>
          </a:p>
        </p:txBody>
      </p:sp>
      <p:sp>
        <p:nvSpPr>
          <p:cNvPr id="30" name="Shape 27"/>
          <p:cNvSpPr/>
          <p:nvPr/>
        </p:nvSpPr>
        <p:spPr>
          <a:xfrm>
            <a:off x="7516368" y="2468880"/>
            <a:ext cx="4016959" cy="1353312"/>
          </a:xfrm>
          <a:prstGeom prst="rect">
            <a:avLst/>
          </a:prstGeom>
          <a:solidFill>
            <a:srgbClr val="FFFFFF"/>
          </a:solidFill>
          <a:ln w="12700">
            <a:solidFill>
              <a:srgbClr val="FFFFFF"/>
            </a:solidFill>
            <a:prstDash val="solid"/>
          </a:ln>
        </p:spPr>
      </p:sp>
      <p:sp>
        <p:nvSpPr>
          <p:cNvPr id="31" name="Shape 28"/>
          <p:cNvSpPr/>
          <p:nvPr/>
        </p:nvSpPr>
        <p:spPr>
          <a:xfrm>
            <a:off x="7516368" y="2468880"/>
            <a:ext cx="54864" cy="1353312"/>
          </a:xfrm>
          <a:prstGeom prst="rect">
            <a:avLst/>
          </a:prstGeom>
          <a:solidFill>
            <a:srgbClr val="2E7D4F"/>
          </a:solidFill>
          <a:ln w="12700">
            <a:solidFill>
              <a:srgbClr val="2E7D4F"/>
            </a:solidFill>
            <a:prstDash val="solid"/>
          </a:ln>
        </p:spPr>
      </p:sp>
      <p:sp>
        <p:nvSpPr>
          <p:cNvPr id="32" name="Text 29"/>
          <p:cNvSpPr txBox="1"/>
          <p:nvPr/>
        </p:nvSpPr>
        <p:spPr>
          <a:xfrm>
            <a:off x="7754112" y="2596896"/>
            <a:ext cx="3614623" cy="256032"/>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Este rojo</a:t>
            </a:r>
            <a:endParaRPr lang="en-US" sz="1240" dirty="0"/>
          </a:p>
        </p:txBody>
      </p:sp>
      <p:sp>
        <p:nvSpPr>
          <p:cNvPr id="33" name="Text 30"/>
          <p:cNvSpPr txBox="1"/>
          <p:nvPr/>
        </p:nvSpPr>
        <p:spPr>
          <a:xfrm>
            <a:off x="7754112" y="2889504"/>
            <a:ext cx="3614623" cy="548640"/>
          </a:xfrm>
          <a:prstGeom prst="rect">
            <a:avLst/>
          </a:prstGeom>
          <a:noFill/>
          <a:ln/>
        </p:spPr>
        <p:txBody>
          <a:bodyPr wrap="square" lIns="0" tIns="0" rIns="0" bIns="0" rtlCol="0" anchor="t"/>
          <a:lstStyle/>
          <a:p>
            <a:pPr algn="l" indent="0" marL="0">
              <a:lnSpc>
                <a:spcPct val="110000"/>
              </a:lnSpc>
              <a:buNone/>
            </a:pPr>
            <a:r>
              <a:rPr lang="en-US" sz="1080" dirty="0">
                <a:solidFill>
                  <a:srgbClr val="52606D"/>
                </a:solidFill>
                <a:latin typeface="Aptos" pitchFamily="34" charset="0"/>
                <a:ea typeface="Aptos" pitchFamily="34" charset="-122"/>
                <a:cs typeface="Aptos" pitchFamily="34" charset="-120"/>
              </a:rPr>
              <a:t>Aparece siempre, por la misma razón, y nombra un defecto conocido.</a:t>
            </a:r>
            <a:endParaRPr lang="en-US" sz="1080" dirty="0"/>
          </a:p>
        </p:txBody>
      </p:sp>
      <p:sp>
        <p:nvSpPr>
          <p:cNvPr id="34" name="Text 31"/>
          <p:cNvSpPr txBox="1"/>
          <p:nvPr/>
        </p:nvSpPr>
        <p:spPr>
          <a:xfrm>
            <a:off x="7754112" y="3456432"/>
            <a:ext cx="3614623" cy="256032"/>
          </a:xfrm>
          <a:prstGeom prst="rect">
            <a:avLst/>
          </a:prstGeom>
          <a:noFill/>
          <a:ln/>
        </p:spPr>
        <p:txBody>
          <a:bodyPr wrap="square" lIns="0" tIns="0" rIns="0" bIns="0" rtlCol="0" anchor="t"/>
          <a:lstStyle/>
          <a:p>
            <a:pPr algn="l" indent="0" marL="0">
              <a:buNone/>
            </a:pPr>
            <a:r>
              <a:rPr lang="en-US" sz="1240" b="1" dirty="0">
                <a:solidFill>
                  <a:srgbClr val="2E7D4F"/>
                </a:solidFill>
                <a:latin typeface="Aptos" pitchFamily="34" charset="0"/>
                <a:ea typeface="Aptos" pitchFamily="34" charset="-122"/>
                <a:cs typeface="Aptos" pitchFamily="34" charset="-120"/>
              </a:rPr>
              <a:t>Es evidencia</a:t>
            </a:r>
            <a:endParaRPr lang="en-US" sz="1240" dirty="0"/>
          </a:p>
        </p:txBody>
      </p:sp>
      <p:sp>
        <p:nvSpPr>
          <p:cNvPr id="35" name="Shape 32"/>
          <p:cNvSpPr/>
          <p:nvPr/>
        </p:nvSpPr>
        <p:spPr>
          <a:xfrm>
            <a:off x="7516368" y="3950208"/>
            <a:ext cx="4016959" cy="1353312"/>
          </a:xfrm>
          <a:prstGeom prst="rect">
            <a:avLst/>
          </a:prstGeom>
          <a:solidFill>
            <a:srgbClr val="FFFFFF"/>
          </a:solidFill>
          <a:ln w="12700">
            <a:solidFill>
              <a:srgbClr val="FFFFFF"/>
            </a:solidFill>
            <a:prstDash val="solid"/>
          </a:ln>
        </p:spPr>
      </p:sp>
      <p:sp>
        <p:nvSpPr>
          <p:cNvPr id="36" name="Shape 33"/>
          <p:cNvSpPr/>
          <p:nvPr/>
        </p:nvSpPr>
        <p:spPr>
          <a:xfrm>
            <a:off x="7516368" y="3950208"/>
            <a:ext cx="54864" cy="1353312"/>
          </a:xfrm>
          <a:prstGeom prst="rect">
            <a:avLst/>
          </a:prstGeom>
          <a:solidFill>
            <a:srgbClr val="B3181E"/>
          </a:solidFill>
          <a:ln w="12700">
            <a:solidFill>
              <a:srgbClr val="B3181E"/>
            </a:solidFill>
            <a:prstDash val="solid"/>
          </a:ln>
        </p:spPr>
      </p:sp>
      <p:sp>
        <p:nvSpPr>
          <p:cNvPr id="37" name="Text 34"/>
          <p:cNvSpPr txBox="1"/>
          <p:nvPr/>
        </p:nvSpPr>
        <p:spPr>
          <a:xfrm>
            <a:off x="7754112" y="4078224"/>
            <a:ext cx="3614623" cy="256032"/>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El de la espera fija</a:t>
            </a:r>
            <a:endParaRPr lang="en-US" sz="1240" dirty="0"/>
          </a:p>
        </p:txBody>
      </p:sp>
      <p:sp>
        <p:nvSpPr>
          <p:cNvPr id="38" name="Text 35"/>
          <p:cNvSpPr txBox="1"/>
          <p:nvPr/>
        </p:nvSpPr>
        <p:spPr>
          <a:xfrm>
            <a:off x="7754112" y="4370832"/>
            <a:ext cx="3614623" cy="548640"/>
          </a:xfrm>
          <a:prstGeom prst="rect">
            <a:avLst/>
          </a:prstGeom>
          <a:noFill/>
          <a:ln/>
        </p:spPr>
        <p:txBody>
          <a:bodyPr wrap="square" lIns="0" tIns="0" rIns="0" bIns="0" rtlCol="0" anchor="t"/>
          <a:lstStyle/>
          <a:p>
            <a:pPr algn="l" indent="0" marL="0">
              <a:lnSpc>
                <a:spcPct val="110000"/>
              </a:lnSpc>
              <a:buNone/>
            </a:pPr>
            <a:r>
              <a:rPr lang="en-US" sz="1080" dirty="0">
                <a:solidFill>
                  <a:srgbClr val="52606D"/>
                </a:solidFill>
                <a:latin typeface="Aptos" pitchFamily="34" charset="0"/>
                <a:ea typeface="Aptos" pitchFamily="34" charset="-122"/>
                <a:cs typeface="Aptos" pitchFamily="34" charset="-120"/>
              </a:rPr>
              <a:t>Aparecía a veces, sin que nada cambiara, y no decía nada del sistema.</a:t>
            </a:r>
            <a:endParaRPr lang="en-US" sz="1080" dirty="0"/>
          </a:p>
        </p:txBody>
      </p:sp>
      <p:sp>
        <p:nvSpPr>
          <p:cNvPr id="39" name="Text 36"/>
          <p:cNvSpPr txBox="1"/>
          <p:nvPr/>
        </p:nvSpPr>
        <p:spPr>
          <a:xfrm>
            <a:off x="7754112" y="4937760"/>
            <a:ext cx="3614623" cy="256032"/>
          </a:xfrm>
          <a:prstGeom prst="rect">
            <a:avLst/>
          </a:prstGeom>
          <a:noFill/>
          <a:ln/>
        </p:spPr>
        <p:txBody>
          <a:bodyPr wrap="square" lIns="0" tIns="0" rIns="0" bIns="0" rtlCol="0" anchor="t"/>
          <a:lstStyle/>
          <a:p>
            <a:pPr algn="l" indent="0" marL="0">
              <a:buNone/>
            </a:pPr>
            <a:r>
              <a:rPr lang="en-US" sz="1240" b="1" dirty="0">
                <a:solidFill>
                  <a:srgbClr val="B3181E"/>
                </a:solidFill>
                <a:latin typeface="Aptos" pitchFamily="34" charset="0"/>
                <a:ea typeface="Aptos" pitchFamily="34" charset="-122"/>
                <a:cs typeface="Aptos" pitchFamily="34" charset="-120"/>
              </a:rPr>
              <a:t>Era ruido</a:t>
            </a:r>
            <a:endParaRPr lang="en-US" sz="1240" dirty="0"/>
          </a:p>
        </p:txBody>
      </p:sp>
      <p:sp>
        <p:nvSpPr>
          <p:cNvPr id="40" name="Shape 37"/>
          <p:cNvSpPr/>
          <p:nvPr/>
        </p:nvSpPr>
        <p:spPr>
          <a:xfrm>
            <a:off x="658368" y="5650992"/>
            <a:ext cx="10874959" cy="548640"/>
          </a:xfrm>
          <a:prstGeom prst="rect">
            <a:avLst/>
          </a:prstGeom>
          <a:solidFill>
            <a:srgbClr val="102A43"/>
          </a:solidFill>
          <a:ln w="12700">
            <a:solidFill>
              <a:srgbClr val="102A43"/>
            </a:solidFill>
            <a:prstDash val="solid"/>
          </a:ln>
        </p:spPr>
      </p:sp>
      <p:sp>
        <p:nvSpPr>
          <p:cNvPr id="41" name="Text 3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 rojo que siempre aparece por la misma razón es evidencia. Uno que aparece a veces es ruido.</a:t>
            </a:r>
            <a:endParaRPr lang="en-US" sz="138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EL AGENTE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umbral no se delega</a:t>
            </a:r>
            <a:endParaRPr lang="en-US" sz="3000" dirty="0"/>
          </a:p>
        </p:txBody>
      </p:sp>
      <p:sp>
        <p:nvSpPr>
          <p:cNvPr id="10" name="Text 7"/>
          <p:cNvSpPr txBox="1"/>
          <p:nvPr/>
        </p:nvSpPr>
        <p:spPr>
          <a:xfrm>
            <a:off x="658368" y="1755648"/>
            <a:ext cx="73152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EL AGENTE DEL BLOQUE 3 YA LO HABÍA RECONOCIDO</a:t>
            </a:r>
            <a:endParaRPr lang="en-US" sz="960" dirty="0"/>
          </a:p>
        </p:txBody>
      </p:sp>
      <p:sp>
        <p:nvSpPr>
          <p:cNvPr id="11" name="Shape 8"/>
          <p:cNvSpPr/>
          <p:nvPr/>
        </p:nvSpPr>
        <p:spPr>
          <a:xfrm>
            <a:off x="658368" y="2029968"/>
            <a:ext cx="2622728" cy="512064"/>
          </a:xfrm>
          <a:prstGeom prst="rect">
            <a:avLst/>
          </a:prstGeom>
          <a:solidFill>
            <a:srgbClr val="EDE6DA"/>
          </a:solidFill>
          <a:ln w="12700">
            <a:solidFill>
              <a:srgbClr val="EDE6DA"/>
            </a:solidFill>
            <a:prstDash val="solid"/>
          </a:ln>
        </p:spPr>
      </p:sp>
      <p:sp>
        <p:nvSpPr>
          <p:cNvPr id="12" name="Shape 9"/>
          <p:cNvSpPr/>
          <p:nvPr/>
        </p:nvSpPr>
        <p:spPr>
          <a:xfrm>
            <a:off x="658368" y="2029968"/>
            <a:ext cx="54864" cy="512064"/>
          </a:xfrm>
          <a:prstGeom prst="rect">
            <a:avLst/>
          </a:prstGeom>
          <a:solidFill>
            <a:srgbClr val="8A6A12"/>
          </a:solidFill>
          <a:ln w="12700">
            <a:solidFill>
              <a:srgbClr val="8A6A12"/>
            </a:solidFill>
            <a:prstDash val="solid"/>
          </a:ln>
        </p:spPr>
      </p:sp>
      <p:sp>
        <p:nvSpPr>
          <p:cNvPr id="13" name="Text 10"/>
          <p:cNvSpPr txBox="1"/>
          <p:nvPr/>
        </p:nvSpPr>
        <p:spPr>
          <a:xfrm>
            <a:off x="841248" y="2066544"/>
            <a:ext cx="2348408" cy="438912"/>
          </a:xfrm>
          <a:prstGeom prst="rect">
            <a:avLst/>
          </a:prstGeom>
          <a:noFill/>
          <a:ln/>
        </p:spPr>
        <p:txBody>
          <a:bodyPr wrap="square" lIns="0" tIns="0" rIns="0" bIns="0" rtlCol="0" anchor="ctr"/>
          <a:lstStyle/>
          <a:p>
            <a:pPr algn="l" indent="0" marL="0">
              <a:buNone/>
            </a:pPr>
            <a:r>
              <a:rPr lang="en-US" sz="1160" b="1" dirty="0">
                <a:solidFill>
                  <a:srgbClr val="243B53"/>
                </a:solidFill>
                <a:latin typeface="Aptos" pitchFamily="34" charset="0"/>
                <a:ea typeface="Aptos" pitchFamily="34" charset="-122"/>
                <a:cs typeface="Aptos" pitchFamily="34" charset="-120"/>
              </a:rPr>
              <a:t>El límite de personas</a:t>
            </a:r>
            <a:endParaRPr lang="en-US" sz="1160" dirty="0"/>
          </a:p>
        </p:txBody>
      </p:sp>
      <p:sp>
        <p:nvSpPr>
          <p:cNvPr id="14" name="Shape 11"/>
          <p:cNvSpPr/>
          <p:nvPr/>
        </p:nvSpPr>
        <p:spPr>
          <a:xfrm>
            <a:off x="3409112" y="2029968"/>
            <a:ext cx="2622728" cy="512064"/>
          </a:xfrm>
          <a:prstGeom prst="rect">
            <a:avLst/>
          </a:prstGeom>
          <a:solidFill>
            <a:srgbClr val="EDE6DA"/>
          </a:solidFill>
          <a:ln w="12700">
            <a:solidFill>
              <a:srgbClr val="EDE6DA"/>
            </a:solidFill>
            <a:prstDash val="solid"/>
          </a:ln>
        </p:spPr>
      </p:sp>
      <p:sp>
        <p:nvSpPr>
          <p:cNvPr id="15" name="Shape 12"/>
          <p:cNvSpPr/>
          <p:nvPr/>
        </p:nvSpPr>
        <p:spPr>
          <a:xfrm>
            <a:off x="3409112" y="2029968"/>
            <a:ext cx="54864" cy="512064"/>
          </a:xfrm>
          <a:prstGeom prst="rect">
            <a:avLst/>
          </a:prstGeom>
          <a:solidFill>
            <a:srgbClr val="8A6A12"/>
          </a:solidFill>
          <a:ln w="12700">
            <a:solidFill>
              <a:srgbClr val="8A6A12"/>
            </a:solidFill>
            <a:prstDash val="solid"/>
          </a:ln>
        </p:spPr>
      </p:sp>
      <p:sp>
        <p:nvSpPr>
          <p:cNvPr id="16" name="Text 13"/>
          <p:cNvSpPr txBox="1"/>
          <p:nvPr/>
        </p:nvSpPr>
        <p:spPr>
          <a:xfrm>
            <a:off x="3591992" y="2066544"/>
            <a:ext cx="2348408" cy="438912"/>
          </a:xfrm>
          <a:prstGeom prst="rect">
            <a:avLst/>
          </a:prstGeom>
          <a:noFill/>
          <a:ln/>
        </p:spPr>
        <p:txBody>
          <a:bodyPr wrap="square" lIns="0" tIns="0" rIns="0" bIns="0" rtlCol="0" anchor="ctr"/>
          <a:lstStyle/>
          <a:p>
            <a:pPr algn="l" indent="0" marL="0">
              <a:buNone/>
            </a:pPr>
            <a:r>
              <a:rPr lang="en-US" sz="1160" b="1" dirty="0">
                <a:solidFill>
                  <a:srgbClr val="243B53"/>
                </a:solidFill>
                <a:latin typeface="Aptos" pitchFamily="34" charset="0"/>
                <a:ea typeface="Aptos" pitchFamily="34" charset="-122"/>
                <a:cs typeface="Aptos" pitchFamily="34" charset="-120"/>
              </a:rPr>
              <a:t>El dígito verificador</a:t>
            </a:r>
            <a:endParaRPr lang="en-US" sz="1160" dirty="0"/>
          </a:p>
        </p:txBody>
      </p:sp>
      <p:sp>
        <p:nvSpPr>
          <p:cNvPr id="17" name="Shape 14"/>
          <p:cNvSpPr/>
          <p:nvPr/>
        </p:nvSpPr>
        <p:spPr>
          <a:xfrm>
            <a:off x="6159856" y="2029968"/>
            <a:ext cx="2622728" cy="512064"/>
          </a:xfrm>
          <a:prstGeom prst="rect">
            <a:avLst/>
          </a:prstGeom>
          <a:solidFill>
            <a:srgbClr val="EDE6DA"/>
          </a:solidFill>
          <a:ln w="12700">
            <a:solidFill>
              <a:srgbClr val="EDE6DA"/>
            </a:solidFill>
            <a:prstDash val="solid"/>
          </a:ln>
        </p:spPr>
      </p:sp>
      <p:sp>
        <p:nvSpPr>
          <p:cNvPr id="18" name="Shape 15"/>
          <p:cNvSpPr/>
          <p:nvPr/>
        </p:nvSpPr>
        <p:spPr>
          <a:xfrm>
            <a:off x="6159856" y="2029968"/>
            <a:ext cx="54864" cy="512064"/>
          </a:xfrm>
          <a:prstGeom prst="rect">
            <a:avLst/>
          </a:prstGeom>
          <a:solidFill>
            <a:srgbClr val="8A6A12"/>
          </a:solidFill>
          <a:ln w="12700">
            <a:solidFill>
              <a:srgbClr val="8A6A12"/>
            </a:solidFill>
            <a:prstDash val="solid"/>
          </a:ln>
        </p:spPr>
      </p:sp>
      <p:sp>
        <p:nvSpPr>
          <p:cNvPr id="19" name="Text 16"/>
          <p:cNvSpPr txBox="1"/>
          <p:nvPr/>
        </p:nvSpPr>
        <p:spPr>
          <a:xfrm>
            <a:off x="6342736" y="2066544"/>
            <a:ext cx="2348408" cy="438912"/>
          </a:xfrm>
          <a:prstGeom prst="rect">
            <a:avLst/>
          </a:prstGeom>
          <a:noFill/>
          <a:ln/>
        </p:spPr>
        <p:txBody>
          <a:bodyPr wrap="square" lIns="0" tIns="0" rIns="0" bIns="0" rtlCol="0" anchor="ctr"/>
          <a:lstStyle/>
          <a:p>
            <a:pPr algn="l" indent="0" marL="0">
              <a:buNone/>
            </a:pPr>
            <a:r>
              <a:rPr lang="en-US" sz="1160" b="1" dirty="0">
                <a:solidFill>
                  <a:srgbClr val="243B53"/>
                </a:solidFill>
                <a:latin typeface="Aptos" pitchFamily="34" charset="0"/>
                <a:ea typeface="Aptos" pitchFamily="34" charset="-122"/>
                <a:cs typeface="Aptos" pitchFamily="34" charset="-120"/>
              </a:rPr>
              <a:t>Qué muestra la confirmación</a:t>
            </a:r>
            <a:endParaRPr lang="en-US" sz="1160" dirty="0"/>
          </a:p>
        </p:txBody>
      </p:sp>
      <p:sp>
        <p:nvSpPr>
          <p:cNvPr id="20" name="Shape 17"/>
          <p:cNvSpPr/>
          <p:nvPr/>
        </p:nvSpPr>
        <p:spPr>
          <a:xfrm>
            <a:off x="8910599" y="2029968"/>
            <a:ext cx="2622728" cy="512064"/>
          </a:xfrm>
          <a:prstGeom prst="rect">
            <a:avLst/>
          </a:prstGeom>
          <a:solidFill>
            <a:srgbClr val="EDE6DA"/>
          </a:solidFill>
          <a:ln w="12700">
            <a:solidFill>
              <a:srgbClr val="EDE6DA"/>
            </a:solidFill>
            <a:prstDash val="solid"/>
          </a:ln>
        </p:spPr>
      </p:sp>
      <p:sp>
        <p:nvSpPr>
          <p:cNvPr id="21" name="Shape 18"/>
          <p:cNvSpPr/>
          <p:nvPr/>
        </p:nvSpPr>
        <p:spPr>
          <a:xfrm>
            <a:off x="8910599" y="2029968"/>
            <a:ext cx="54864" cy="512064"/>
          </a:xfrm>
          <a:prstGeom prst="rect">
            <a:avLst/>
          </a:prstGeom>
          <a:solidFill>
            <a:srgbClr val="8A6A12"/>
          </a:solidFill>
          <a:ln w="12700">
            <a:solidFill>
              <a:srgbClr val="8A6A12"/>
            </a:solidFill>
            <a:prstDash val="solid"/>
          </a:ln>
        </p:spPr>
      </p:sp>
      <p:sp>
        <p:nvSpPr>
          <p:cNvPr id="22" name="Text 19"/>
          <p:cNvSpPr txBox="1"/>
          <p:nvPr/>
        </p:nvSpPr>
        <p:spPr>
          <a:xfrm>
            <a:off x="9093479" y="2066544"/>
            <a:ext cx="2348408" cy="438912"/>
          </a:xfrm>
          <a:prstGeom prst="rect">
            <a:avLst/>
          </a:prstGeom>
          <a:noFill/>
          <a:ln/>
        </p:spPr>
        <p:txBody>
          <a:bodyPr wrap="square" lIns="0" tIns="0" rIns="0" bIns="0" rtlCol="0" anchor="ctr"/>
          <a:lstStyle/>
          <a:p>
            <a:pPr algn="l" indent="0" marL="0">
              <a:buNone/>
            </a:pPr>
            <a:r>
              <a:rPr lang="en-US" sz="1160" b="1" dirty="0">
                <a:solidFill>
                  <a:srgbClr val="243B53"/>
                </a:solidFill>
                <a:latin typeface="Aptos" pitchFamily="34" charset="0"/>
                <a:ea typeface="Aptos" pitchFamily="34" charset="-122"/>
                <a:cs typeface="Aptos" pitchFamily="34" charset="-120"/>
              </a:rPr>
              <a:t>El horario de los bloques</a:t>
            </a:r>
            <a:endParaRPr lang="en-US" sz="1160" dirty="0"/>
          </a:p>
        </p:txBody>
      </p:sp>
      <p:sp>
        <p:nvSpPr>
          <p:cNvPr id="23" name="Text 20"/>
          <p:cNvSpPr txBox="1"/>
          <p:nvPr/>
        </p:nvSpPr>
        <p:spPr>
          <a:xfrm>
            <a:off x="658368" y="2651760"/>
            <a:ext cx="10874959" cy="457200"/>
          </a:xfrm>
          <a:prstGeom prst="rect">
            <a:avLst/>
          </a:prstGeom>
          <a:noFill/>
          <a:ln/>
        </p:spPr>
        <p:txBody>
          <a:bodyPr wrap="square" lIns="0" tIns="0" rIns="0" bIns="0" rtlCol="0" anchor="t"/>
          <a:lstStyle/>
          <a:p>
            <a:pPr algn="l" indent="0" marL="0">
              <a:lnSpc>
                <a:spcPct val="110000"/>
              </a:lnSpc>
              <a:buNone/>
            </a:pPr>
            <a:r>
              <a:rPr lang="en-US" sz="1140" i="1" dirty="0">
                <a:solidFill>
                  <a:srgbClr val="52606D"/>
                </a:solidFill>
                <a:latin typeface="Aptos" pitchFamily="34" charset="0"/>
                <a:ea typeface="Aptos" pitchFamily="34" charset="-122"/>
                <a:cs typeface="Aptos" pitchFamily="34" charset="-120"/>
              </a:rPr>
              <a:t>Las cuatro, en sus palabras: «una duda que alguien con el requisito debería resolver». Podía observar el sistema; no podía decidir qué debía hacer.</a:t>
            </a:r>
            <a:endParaRPr lang="en-US" sz="1140" dirty="0"/>
          </a:p>
        </p:txBody>
      </p:sp>
      <p:sp>
        <p:nvSpPr>
          <p:cNvPr id="24" name="Shape 21"/>
          <p:cNvSpPr/>
          <p:nvPr/>
        </p:nvSpPr>
        <p:spPr>
          <a:xfrm>
            <a:off x="658368" y="3291840"/>
            <a:ext cx="2834640" cy="2194560"/>
          </a:xfrm>
          <a:prstGeom prst="rect">
            <a:avLst/>
          </a:prstGeom>
          <a:solidFill>
            <a:srgbClr val="FFFFFF"/>
          </a:solidFill>
          <a:ln w="12700">
            <a:solidFill>
              <a:srgbClr val="FFFFFF"/>
            </a:solidFill>
            <a:prstDash val="solid"/>
          </a:ln>
        </p:spPr>
      </p:sp>
      <p:sp>
        <p:nvSpPr>
          <p:cNvPr id="25" name="Shape 22"/>
          <p:cNvSpPr/>
          <p:nvPr/>
        </p:nvSpPr>
        <p:spPr>
          <a:xfrm>
            <a:off x="658368" y="3291840"/>
            <a:ext cx="2834640" cy="54864"/>
          </a:xfrm>
          <a:prstGeom prst="rect">
            <a:avLst/>
          </a:prstGeom>
          <a:solidFill>
            <a:srgbClr val="2E7D4F"/>
          </a:solidFill>
          <a:ln w="12700">
            <a:solidFill>
              <a:srgbClr val="2E7D4F"/>
            </a:solidFill>
            <a:prstDash val="solid"/>
          </a:ln>
        </p:spPr>
      </p:sp>
      <p:sp>
        <p:nvSpPr>
          <p:cNvPr id="26" name="Text 23"/>
          <p:cNvSpPr txBox="1"/>
          <p:nvPr/>
        </p:nvSpPr>
        <p:spPr>
          <a:xfrm>
            <a:off x="877824" y="3493008"/>
            <a:ext cx="2432304" cy="329184"/>
          </a:xfrm>
          <a:prstGeom prst="rect">
            <a:avLst/>
          </a:prstGeom>
          <a:noFill/>
          <a:ln/>
        </p:spPr>
        <p:txBody>
          <a:bodyPr wrap="square" lIns="0" tIns="0" rIns="0" bIns="0" rtlCol="0" anchor="t"/>
          <a:lstStyle/>
          <a:p>
            <a:pPr algn="l" indent="0" marL="0">
              <a:buNone/>
            </a:pPr>
            <a:r>
              <a:rPr lang="en-US" sz="1700" b="1" dirty="0">
                <a:solidFill>
                  <a:srgbClr val="243B53"/>
                </a:solidFill>
                <a:latin typeface="Aptos Display" pitchFamily="34" charset="0"/>
                <a:ea typeface="Aptos Display" pitchFamily="34" charset="-122"/>
                <a:cs typeface="Aptos Display" pitchFamily="34" charset="-120"/>
              </a:rPr>
              <a:t>Magnitud</a:t>
            </a:r>
            <a:endParaRPr lang="en-US" sz="1700" dirty="0"/>
          </a:p>
        </p:txBody>
      </p:sp>
      <p:sp>
        <p:nvSpPr>
          <p:cNvPr id="27" name="Text 24"/>
          <p:cNvSpPr txBox="1"/>
          <p:nvPr/>
        </p:nvSpPr>
        <p:spPr>
          <a:xfrm>
            <a:off x="877824" y="3950208"/>
            <a:ext cx="2432304" cy="1426464"/>
          </a:xfrm>
          <a:prstGeom prst="rect">
            <a:avLst/>
          </a:prstGeom>
          <a:noFill/>
          <a:ln/>
        </p:spPr>
        <p:txBody>
          <a:bodyPr wrap="square" lIns="0" tIns="0" rIns="0" bIns="0" rtlCol="0" anchor="t"/>
          <a:lstStyle/>
          <a:p>
            <a:pPr algn="l" indent="0" marL="0">
              <a:lnSpc>
                <a:spcPct val="114000"/>
              </a:lnSpc>
              <a:buNone/>
            </a:pPr>
            <a:r>
              <a:rPr lang="en-US" sz="1300" dirty="0">
                <a:solidFill>
                  <a:srgbClr val="52606D"/>
                </a:solidFill>
                <a:latin typeface="Aptos" pitchFamily="34" charset="0"/>
                <a:ea typeface="Aptos" pitchFamily="34" charset="-122"/>
                <a:cs typeface="Aptos" pitchFamily="34" charset="-120"/>
              </a:rPr>
              <a:t>Un agente puede proponerla.</a:t>
            </a:r>
            <a:endParaRPr lang="en-US" sz="1300" dirty="0"/>
          </a:p>
        </p:txBody>
      </p:sp>
      <p:sp>
        <p:nvSpPr>
          <p:cNvPr id="28" name="Shape 25"/>
          <p:cNvSpPr/>
          <p:nvPr/>
        </p:nvSpPr>
        <p:spPr>
          <a:xfrm>
            <a:off x="3621024" y="3291840"/>
            <a:ext cx="2834640" cy="2194560"/>
          </a:xfrm>
          <a:prstGeom prst="rect">
            <a:avLst/>
          </a:prstGeom>
          <a:solidFill>
            <a:srgbClr val="FFFFFF"/>
          </a:solidFill>
          <a:ln w="12700">
            <a:solidFill>
              <a:srgbClr val="FFFFFF"/>
            </a:solidFill>
            <a:prstDash val="solid"/>
          </a:ln>
        </p:spPr>
      </p:sp>
      <p:sp>
        <p:nvSpPr>
          <p:cNvPr id="29" name="Shape 26"/>
          <p:cNvSpPr/>
          <p:nvPr/>
        </p:nvSpPr>
        <p:spPr>
          <a:xfrm>
            <a:off x="3621024" y="3291840"/>
            <a:ext cx="2834640" cy="54864"/>
          </a:xfrm>
          <a:prstGeom prst="rect">
            <a:avLst/>
          </a:prstGeom>
          <a:solidFill>
            <a:srgbClr val="2E7D4F"/>
          </a:solidFill>
          <a:ln w="12700">
            <a:solidFill>
              <a:srgbClr val="2E7D4F"/>
            </a:solidFill>
            <a:prstDash val="solid"/>
          </a:ln>
        </p:spPr>
      </p:sp>
      <p:sp>
        <p:nvSpPr>
          <p:cNvPr id="30" name="Text 27"/>
          <p:cNvSpPr txBox="1"/>
          <p:nvPr/>
        </p:nvSpPr>
        <p:spPr>
          <a:xfrm>
            <a:off x="3840480" y="3493008"/>
            <a:ext cx="2432304" cy="329184"/>
          </a:xfrm>
          <a:prstGeom prst="rect">
            <a:avLst/>
          </a:prstGeom>
          <a:noFill/>
          <a:ln/>
        </p:spPr>
        <p:txBody>
          <a:bodyPr wrap="square" lIns="0" tIns="0" rIns="0" bIns="0" rtlCol="0" anchor="t"/>
          <a:lstStyle/>
          <a:p>
            <a:pPr algn="l" indent="0" marL="0">
              <a:buNone/>
            </a:pPr>
            <a:r>
              <a:rPr lang="en-US" sz="1700" b="1" dirty="0">
                <a:solidFill>
                  <a:srgbClr val="243B53"/>
                </a:solidFill>
                <a:latin typeface="Aptos Display" pitchFamily="34" charset="0"/>
                <a:ea typeface="Aptos Display" pitchFamily="34" charset="-122"/>
                <a:cs typeface="Aptos Display" pitchFamily="34" charset="-120"/>
              </a:rPr>
              <a:t>Método</a:t>
            </a:r>
            <a:endParaRPr lang="en-US" sz="1700" dirty="0"/>
          </a:p>
        </p:txBody>
      </p:sp>
      <p:sp>
        <p:nvSpPr>
          <p:cNvPr id="31" name="Text 28"/>
          <p:cNvSpPr txBox="1"/>
          <p:nvPr/>
        </p:nvSpPr>
        <p:spPr>
          <a:xfrm>
            <a:off x="3840480" y="3950208"/>
            <a:ext cx="2432304" cy="1426464"/>
          </a:xfrm>
          <a:prstGeom prst="rect">
            <a:avLst/>
          </a:prstGeom>
          <a:noFill/>
          <a:ln/>
        </p:spPr>
        <p:txBody>
          <a:bodyPr wrap="square" lIns="0" tIns="0" rIns="0" bIns="0" rtlCol="0" anchor="t"/>
          <a:lstStyle/>
          <a:p>
            <a:pPr algn="l" indent="0" marL="0">
              <a:lnSpc>
                <a:spcPct val="114000"/>
              </a:lnSpc>
              <a:buNone/>
            </a:pPr>
            <a:r>
              <a:rPr lang="en-US" sz="1300" dirty="0">
                <a:solidFill>
                  <a:srgbClr val="52606D"/>
                </a:solidFill>
                <a:latin typeface="Aptos" pitchFamily="34" charset="0"/>
                <a:ea typeface="Aptos" pitchFamily="34" charset="-122"/>
                <a:cs typeface="Aptos" pitchFamily="34" charset="-120"/>
              </a:rPr>
              <a:t>Un agente puede proponerlo, y escribir la prueba con soltura.</a:t>
            </a:r>
            <a:endParaRPr lang="en-US" sz="1300" dirty="0"/>
          </a:p>
        </p:txBody>
      </p:sp>
      <p:sp>
        <p:nvSpPr>
          <p:cNvPr id="32" name="Shape 29"/>
          <p:cNvSpPr/>
          <p:nvPr/>
        </p:nvSpPr>
        <p:spPr>
          <a:xfrm>
            <a:off x="6583680" y="3291840"/>
            <a:ext cx="4949647" cy="2194560"/>
          </a:xfrm>
          <a:prstGeom prst="rect">
            <a:avLst/>
          </a:prstGeom>
          <a:solidFill>
            <a:srgbClr val="1D3A57"/>
          </a:solidFill>
          <a:ln w="12700">
            <a:solidFill>
              <a:srgbClr val="1D3A57"/>
            </a:solidFill>
            <a:prstDash val="solid"/>
          </a:ln>
        </p:spPr>
      </p:sp>
      <p:sp>
        <p:nvSpPr>
          <p:cNvPr id="33" name="Shape 30"/>
          <p:cNvSpPr/>
          <p:nvPr/>
        </p:nvSpPr>
        <p:spPr>
          <a:xfrm>
            <a:off x="6583680" y="3291840"/>
            <a:ext cx="4949647" cy="54864"/>
          </a:xfrm>
          <a:prstGeom prst="rect">
            <a:avLst/>
          </a:prstGeom>
          <a:solidFill>
            <a:srgbClr val="B3181E"/>
          </a:solidFill>
          <a:ln w="12700">
            <a:solidFill>
              <a:srgbClr val="B3181E"/>
            </a:solidFill>
            <a:prstDash val="solid"/>
          </a:ln>
        </p:spPr>
      </p:sp>
      <p:sp>
        <p:nvSpPr>
          <p:cNvPr id="34" name="Text 31"/>
          <p:cNvSpPr txBox="1"/>
          <p:nvPr/>
        </p:nvSpPr>
        <p:spPr>
          <a:xfrm>
            <a:off x="6803136" y="3493008"/>
            <a:ext cx="4547311" cy="329184"/>
          </a:xfrm>
          <a:prstGeom prst="rect">
            <a:avLst/>
          </a:prstGeom>
          <a:noFill/>
          <a:ln/>
        </p:spPr>
        <p:txBody>
          <a:bodyPr wrap="square" lIns="0" tIns="0" rIns="0" bIns="0" rtlCol="0" anchor="t"/>
          <a:lstStyle/>
          <a:p>
            <a:pPr algn="l" indent="0" marL="0">
              <a:buNone/>
            </a:pPr>
            <a:r>
              <a:rPr lang="en-US" sz="1700" b="1" dirty="0">
                <a:solidFill>
                  <a:srgbClr val="FFFFFF"/>
                </a:solidFill>
                <a:latin typeface="Aptos Display" pitchFamily="34" charset="0"/>
                <a:ea typeface="Aptos Display" pitchFamily="34" charset="-122"/>
                <a:cs typeface="Aptos Display" pitchFamily="34" charset="-120"/>
              </a:rPr>
              <a:t>Umbral</a:t>
            </a:r>
            <a:endParaRPr lang="en-US" sz="1700" dirty="0"/>
          </a:p>
        </p:txBody>
      </p:sp>
      <p:sp>
        <p:nvSpPr>
          <p:cNvPr id="35" name="Text 32"/>
          <p:cNvSpPr txBox="1"/>
          <p:nvPr/>
        </p:nvSpPr>
        <p:spPr>
          <a:xfrm>
            <a:off x="6803136" y="3950208"/>
            <a:ext cx="4547311" cy="1426464"/>
          </a:xfrm>
          <a:prstGeom prst="rect">
            <a:avLst/>
          </a:prstGeom>
          <a:noFill/>
          <a:ln/>
        </p:spPr>
        <p:txBody>
          <a:bodyPr wrap="square" lIns="0" tIns="0" rIns="0" bIns="0" rtlCol="0" anchor="t"/>
          <a:lstStyle/>
          <a:p>
            <a:pPr algn="l" indent="0" marL="0">
              <a:lnSpc>
                <a:spcPct val="114000"/>
              </a:lnSpc>
              <a:buNone/>
            </a:pPr>
            <a:r>
              <a:rPr lang="en-US" sz="1300" dirty="0">
                <a:solidFill>
                  <a:srgbClr val="EADFD0"/>
                </a:solidFill>
                <a:latin typeface="Aptos" pitchFamily="34" charset="0"/>
                <a:ea typeface="Aptos" pitchFamily="34" charset="-122"/>
                <a:cs typeface="Aptos" pitchFamily="34" charset="-120"/>
              </a:rPr>
              <a:t>Una solicitud y no dos. Un mensaje que nombra el campo. Un límite que se muestra. Es una decisión sobre lo que el producto le debe a una persona, y no está en el código ni en la pantalla.</a:t>
            </a:r>
            <a:endParaRPr lang="en-US" sz="1300" dirty="0"/>
          </a:p>
        </p:txBody>
      </p:sp>
      <p:sp>
        <p:nvSpPr>
          <p:cNvPr id="36" name="Shape 33"/>
          <p:cNvSpPr/>
          <p:nvPr/>
        </p:nvSpPr>
        <p:spPr>
          <a:xfrm>
            <a:off x="658368" y="5650992"/>
            <a:ext cx="10874959" cy="548640"/>
          </a:xfrm>
          <a:prstGeom prst="rect">
            <a:avLst/>
          </a:prstGeom>
          <a:solidFill>
            <a:srgbClr val="102A43"/>
          </a:solidFill>
          <a:ln w="12700">
            <a:solidFill>
              <a:srgbClr val="102A43"/>
            </a:solidFill>
            <a:prstDash val="solid"/>
          </a:ln>
        </p:spPr>
      </p:sp>
      <p:sp>
        <p:nvSpPr>
          <p:cNvPr id="37" name="Text 34"/>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 agente escribe la prueba. Qué debe exigir esa prueba lo decide quien conoce el requisito.</a:t>
            </a:r>
            <a:endParaRPr lang="en-US" sz="138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cerrar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prueba del criterio B pasó con el defecto presente y también pasa sin él. Un compañero dice que entonces está bien, porque nunca falla. ¿Qué le responderías?</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¿Qué información da una prueba que resulta igual con el defecto y sin él? Recuerda qué significa que una prueba detecte algo.</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El criterio A mide la cantidad de solicitudes, algo que la persona nunca ve. ¿Cómo puede ser una prueba de capacidad de interacción si no mira la pantalla?</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Lee otra vez la definición de 3.4.4. ¿Se puede comprobar la prevención de un error por su causa, y qué ventaja tiene?</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Al terminar, la suite de extremo a extremo tiene una prueba en rojo. ¿En qué se diferencia ese rojo del que producía la prueba con espera fija?</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Compara si cada uno aparece siempre o a veces, y si cada uno dice algo sobre el sistema o sobre la prueba.</a:t>
            </a:r>
            <a:endParaRPr lang="en-US" sz="114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QUE NO DETECTA NADA</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Da el mismo resultado con el defecto y sin él: no distingue entre los dos.</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Una prueba vale por lo que puede contradecir, no por no fallar nunca.</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Leer un verde permanente como señal de calidad.</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LA COMPRUEBA POR SU CAUSA</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Prevenir el error es una propiedad del producto: una sola solicitud ante un doble clic.</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Medir la causa da una medición estable, que no depende del instante.</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Creer que solo lo que se ve en pantalla cuenta como interacción.</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SIEMPRE, Y POR LA MISMA RAZÓN</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El rojo final aparece siempre y nombra un defecto conocido; el de la espera fija aparecía a veces.</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Un rojo constante informa sobre el sistema; uno intermitente, sobre la prueba.</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Tratar todos los rojos como si significaran lo mismo.</a:t>
            </a:r>
            <a:endParaRPr lang="en-US" sz="102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Cuatro testigos, cuatro afirmaciones distintas</a:t>
            </a:r>
            <a:endParaRPr lang="en-US" sz="2800" dirty="0"/>
          </a:p>
        </p:txBody>
      </p:sp>
      <p:sp>
        <p:nvSpPr>
          <p:cNvPr id="10" name="Text 7"/>
          <p:cNvSpPr txBox="1"/>
          <p:nvPr/>
        </p:nvSpPr>
        <p:spPr>
          <a:xfrm>
            <a:off x="3438144" y="1755648"/>
            <a:ext cx="3983584"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QUÉ PUEDE AFIRMAR</a:t>
            </a:r>
            <a:endParaRPr lang="en-US" sz="960" dirty="0"/>
          </a:p>
        </p:txBody>
      </p:sp>
      <p:sp>
        <p:nvSpPr>
          <p:cNvPr id="11" name="Text 8"/>
          <p:cNvSpPr txBox="1"/>
          <p:nvPr/>
        </p:nvSpPr>
        <p:spPr>
          <a:xfrm>
            <a:off x="7549744" y="1755648"/>
            <a:ext cx="3983584"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QUÉ NO PUEDE AFIRMAR</a:t>
            </a:r>
            <a:endParaRPr lang="en-US" sz="960" dirty="0"/>
          </a:p>
        </p:txBody>
      </p:sp>
      <p:sp>
        <p:nvSpPr>
          <p:cNvPr id="12" name="Shape 9"/>
          <p:cNvSpPr/>
          <p:nvPr/>
        </p:nvSpPr>
        <p:spPr>
          <a:xfrm>
            <a:off x="658368" y="2048256"/>
            <a:ext cx="2651760" cy="731520"/>
          </a:xfrm>
          <a:prstGeom prst="rect">
            <a:avLst/>
          </a:prstGeom>
          <a:solidFill>
            <a:srgbClr val="102A43"/>
          </a:solidFill>
          <a:ln w="12700">
            <a:solidFill>
              <a:srgbClr val="102A43"/>
            </a:solidFill>
            <a:prstDash val="solid"/>
          </a:ln>
        </p:spPr>
      </p:sp>
      <p:sp>
        <p:nvSpPr>
          <p:cNvPr id="13" name="Text 10"/>
          <p:cNvSpPr txBox="1"/>
          <p:nvPr/>
        </p:nvSpPr>
        <p:spPr>
          <a:xfrm>
            <a:off x="841248" y="2121408"/>
            <a:ext cx="2377440" cy="585216"/>
          </a:xfrm>
          <a:prstGeom prst="rect">
            <a:avLst/>
          </a:prstGeom>
          <a:noFill/>
          <a:ln/>
        </p:spPr>
        <p:txBody>
          <a:bodyPr wrap="square" lIns="0" tIns="0" rIns="0" bIns="0" rtlCol="0" anchor="ctr"/>
          <a:lstStyle/>
          <a:p>
            <a:pPr algn="l" indent="0" marL="0">
              <a:buNone/>
            </a:pPr>
            <a:r>
              <a:rPr lang="en-US" sz="1260" b="1" dirty="0">
                <a:solidFill>
                  <a:srgbClr val="FFFFFF"/>
                </a:solidFill>
                <a:latin typeface="Aptos" pitchFamily="34" charset="0"/>
                <a:ea typeface="Aptos" pitchFamily="34" charset="-122"/>
                <a:cs typeface="Aptos" pitchFamily="34" charset="-120"/>
              </a:rPr>
              <a:t>Prueba unitaria</a:t>
            </a:r>
            <a:endParaRPr lang="en-US" sz="1260" dirty="0"/>
          </a:p>
        </p:txBody>
      </p:sp>
      <p:sp>
        <p:nvSpPr>
          <p:cNvPr id="14" name="Shape 11"/>
          <p:cNvSpPr/>
          <p:nvPr/>
        </p:nvSpPr>
        <p:spPr>
          <a:xfrm>
            <a:off x="3438144" y="2048256"/>
            <a:ext cx="3983584" cy="731520"/>
          </a:xfrm>
          <a:prstGeom prst="rect">
            <a:avLst/>
          </a:prstGeom>
          <a:solidFill>
            <a:srgbClr val="FFFFFF"/>
          </a:solidFill>
          <a:ln w="12700">
            <a:solidFill>
              <a:srgbClr val="FFFFFF"/>
            </a:solidFill>
            <a:prstDash val="solid"/>
          </a:ln>
        </p:spPr>
      </p:sp>
      <p:sp>
        <p:nvSpPr>
          <p:cNvPr id="15" name="Text 12"/>
          <p:cNvSpPr txBox="1"/>
          <p:nvPr/>
        </p:nvSpPr>
        <p:spPr>
          <a:xfrm>
            <a:off x="3621024" y="2121408"/>
            <a:ext cx="3617824" cy="585216"/>
          </a:xfrm>
          <a:prstGeom prst="rect">
            <a:avLst/>
          </a:prstGeom>
          <a:noFill/>
          <a:ln/>
        </p:spPr>
        <p:txBody>
          <a:bodyPr wrap="square" lIns="0" tIns="0" rIns="0" bIns="0" rtlCol="0" anchor="ctr"/>
          <a:lstStyle/>
          <a:p>
            <a:pPr algn="l" indent="0" marL="0">
              <a:lnSpc>
                <a:spcPct val="108000"/>
              </a:lnSpc>
              <a:buNone/>
            </a:pPr>
            <a:r>
              <a:rPr lang="en-US" sz="1120" dirty="0">
                <a:solidFill>
                  <a:srgbClr val="243B53"/>
                </a:solidFill>
                <a:latin typeface="Aptos" pitchFamily="34" charset="0"/>
                <a:ea typeface="Aptos" pitchFamily="34" charset="-122"/>
                <a:cs typeface="Aptos" pitchFamily="34" charset="-120"/>
              </a:rPr>
              <a:t>Que una función decide bien con los datos que recibe.</a:t>
            </a:r>
            <a:endParaRPr lang="en-US" sz="1120" dirty="0"/>
          </a:p>
        </p:txBody>
      </p:sp>
      <p:sp>
        <p:nvSpPr>
          <p:cNvPr id="16" name="Shape 13"/>
          <p:cNvSpPr/>
          <p:nvPr/>
        </p:nvSpPr>
        <p:spPr>
          <a:xfrm>
            <a:off x="7549744" y="2048256"/>
            <a:ext cx="3983584" cy="731520"/>
          </a:xfrm>
          <a:prstGeom prst="rect">
            <a:avLst/>
          </a:prstGeom>
          <a:solidFill>
            <a:srgbClr val="FFFFFF"/>
          </a:solidFill>
          <a:ln w="12700">
            <a:solidFill>
              <a:srgbClr val="FFFFFF"/>
            </a:solidFill>
            <a:prstDash val="solid"/>
          </a:ln>
        </p:spPr>
      </p:sp>
      <p:sp>
        <p:nvSpPr>
          <p:cNvPr id="17" name="Text 14"/>
          <p:cNvSpPr txBox="1"/>
          <p:nvPr/>
        </p:nvSpPr>
        <p:spPr>
          <a:xfrm>
            <a:off x="7732624" y="2121408"/>
            <a:ext cx="3617824" cy="585216"/>
          </a:xfrm>
          <a:prstGeom prst="rect">
            <a:avLst/>
          </a:prstGeom>
          <a:noFill/>
          <a:ln/>
        </p:spPr>
        <p:txBody>
          <a:bodyPr wrap="square" lIns="0" tIns="0" rIns="0" bIns="0" rtlCol="0" anchor="ctr"/>
          <a:lstStyle/>
          <a:p>
            <a:pPr algn="l" indent="0" marL="0">
              <a:lnSpc>
                <a:spcPct val="108000"/>
              </a:lnSpc>
              <a:buNone/>
            </a:pPr>
            <a:r>
              <a:rPr lang="en-US" sz="1120" dirty="0">
                <a:solidFill>
                  <a:srgbClr val="52606D"/>
                </a:solidFill>
                <a:latin typeface="Aptos" pitchFamily="34" charset="0"/>
                <a:ea typeface="Aptos" pitchFamily="34" charset="-122"/>
                <a:cs typeface="Aptos" pitchFamily="34" charset="-120"/>
              </a:rPr>
              <a:t>Que alguien la llame, ni que la llamen con los datos correctos.</a:t>
            </a:r>
            <a:endParaRPr lang="en-US" sz="1120" dirty="0"/>
          </a:p>
        </p:txBody>
      </p:sp>
      <p:sp>
        <p:nvSpPr>
          <p:cNvPr id="18" name="Shape 15"/>
          <p:cNvSpPr/>
          <p:nvPr/>
        </p:nvSpPr>
        <p:spPr>
          <a:xfrm>
            <a:off x="658368" y="2889504"/>
            <a:ext cx="2651760" cy="731520"/>
          </a:xfrm>
          <a:prstGeom prst="rect">
            <a:avLst/>
          </a:prstGeom>
          <a:solidFill>
            <a:srgbClr val="8A6A12"/>
          </a:solidFill>
          <a:ln w="12700">
            <a:solidFill>
              <a:srgbClr val="8A6A12"/>
            </a:solidFill>
            <a:prstDash val="solid"/>
          </a:ln>
        </p:spPr>
      </p:sp>
      <p:sp>
        <p:nvSpPr>
          <p:cNvPr id="19" name="Text 16"/>
          <p:cNvSpPr txBox="1"/>
          <p:nvPr/>
        </p:nvSpPr>
        <p:spPr>
          <a:xfrm>
            <a:off x="841248" y="2962656"/>
            <a:ext cx="2377440" cy="585216"/>
          </a:xfrm>
          <a:prstGeom prst="rect">
            <a:avLst/>
          </a:prstGeom>
          <a:noFill/>
          <a:ln/>
        </p:spPr>
        <p:txBody>
          <a:bodyPr wrap="square" lIns="0" tIns="0" rIns="0" bIns="0" rtlCol="0" anchor="ctr"/>
          <a:lstStyle/>
          <a:p>
            <a:pPr algn="l" indent="0" marL="0">
              <a:buNone/>
            </a:pPr>
            <a:r>
              <a:rPr lang="en-US" sz="1260" b="1" dirty="0">
                <a:solidFill>
                  <a:srgbClr val="FFFFFF"/>
                </a:solidFill>
                <a:latin typeface="Aptos" pitchFamily="34" charset="0"/>
                <a:ea typeface="Aptos" pitchFamily="34" charset="-122"/>
                <a:cs typeface="Aptos" pitchFamily="34" charset="-120"/>
              </a:rPr>
              <a:t>Prueba de integración</a:t>
            </a:r>
            <a:endParaRPr lang="en-US" sz="1260" dirty="0"/>
          </a:p>
        </p:txBody>
      </p:sp>
      <p:sp>
        <p:nvSpPr>
          <p:cNvPr id="20" name="Shape 17"/>
          <p:cNvSpPr/>
          <p:nvPr/>
        </p:nvSpPr>
        <p:spPr>
          <a:xfrm>
            <a:off x="3438144" y="2889504"/>
            <a:ext cx="3983584" cy="731520"/>
          </a:xfrm>
          <a:prstGeom prst="rect">
            <a:avLst/>
          </a:prstGeom>
          <a:solidFill>
            <a:srgbClr val="FFFFFF"/>
          </a:solidFill>
          <a:ln w="12700">
            <a:solidFill>
              <a:srgbClr val="FFFFFF"/>
            </a:solidFill>
            <a:prstDash val="solid"/>
          </a:ln>
        </p:spPr>
      </p:sp>
      <p:sp>
        <p:nvSpPr>
          <p:cNvPr id="21" name="Text 18"/>
          <p:cNvSpPr txBox="1"/>
          <p:nvPr/>
        </p:nvSpPr>
        <p:spPr>
          <a:xfrm>
            <a:off x="3621024" y="2962656"/>
            <a:ext cx="3617824" cy="585216"/>
          </a:xfrm>
          <a:prstGeom prst="rect">
            <a:avLst/>
          </a:prstGeom>
          <a:noFill/>
          <a:ln/>
        </p:spPr>
        <p:txBody>
          <a:bodyPr wrap="square" lIns="0" tIns="0" rIns="0" bIns="0" rtlCol="0" anchor="ctr"/>
          <a:lstStyle/>
          <a:p>
            <a:pPr algn="l" indent="0" marL="0">
              <a:lnSpc>
                <a:spcPct val="108000"/>
              </a:lnSpc>
              <a:buNone/>
            </a:pPr>
            <a:r>
              <a:rPr lang="en-US" sz="1120" dirty="0">
                <a:solidFill>
                  <a:srgbClr val="243B53"/>
                </a:solidFill>
                <a:latin typeface="Aptos" pitchFamily="34" charset="0"/>
                <a:ea typeface="Aptos" pitchFamily="34" charset="-122"/>
                <a:cs typeface="Aptos" pitchFamily="34" charset="-120"/>
              </a:rPr>
              <a:t>Que las piezas se entienden entre sí y el contrato se cumple.</a:t>
            </a:r>
            <a:endParaRPr lang="en-US" sz="1120" dirty="0"/>
          </a:p>
        </p:txBody>
      </p:sp>
      <p:sp>
        <p:nvSpPr>
          <p:cNvPr id="22" name="Shape 19"/>
          <p:cNvSpPr/>
          <p:nvPr/>
        </p:nvSpPr>
        <p:spPr>
          <a:xfrm>
            <a:off x="7549744" y="2889504"/>
            <a:ext cx="3983584" cy="731520"/>
          </a:xfrm>
          <a:prstGeom prst="rect">
            <a:avLst/>
          </a:prstGeom>
          <a:solidFill>
            <a:srgbClr val="FFFFFF"/>
          </a:solidFill>
          <a:ln w="12700">
            <a:solidFill>
              <a:srgbClr val="FFFFFF"/>
            </a:solidFill>
            <a:prstDash val="solid"/>
          </a:ln>
        </p:spPr>
      </p:sp>
      <p:sp>
        <p:nvSpPr>
          <p:cNvPr id="23" name="Text 20"/>
          <p:cNvSpPr txBox="1"/>
          <p:nvPr/>
        </p:nvSpPr>
        <p:spPr>
          <a:xfrm>
            <a:off x="7732624" y="2962656"/>
            <a:ext cx="3617824" cy="585216"/>
          </a:xfrm>
          <a:prstGeom prst="rect">
            <a:avLst/>
          </a:prstGeom>
          <a:noFill/>
          <a:ln/>
        </p:spPr>
        <p:txBody>
          <a:bodyPr wrap="square" lIns="0" tIns="0" rIns="0" bIns="0" rtlCol="0" anchor="ctr"/>
          <a:lstStyle/>
          <a:p>
            <a:pPr algn="l" indent="0" marL="0">
              <a:lnSpc>
                <a:spcPct val="108000"/>
              </a:lnSpc>
              <a:buNone/>
            </a:pPr>
            <a:r>
              <a:rPr lang="en-US" sz="1120" dirty="0">
                <a:solidFill>
                  <a:srgbClr val="52606D"/>
                </a:solidFill>
                <a:latin typeface="Aptos" pitchFamily="34" charset="0"/>
                <a:ea typeface="Aptos" pitchFamily="34" charset="-122"/>
                <a:cs typeface="Aptos" pitchFamily="34" charset="-120"/>
              </a:rPr>
              <a:t>Qué ve una persona cuando el contrato se cumple.</a:t>
            </a:r>
            <a:endParaRPr lang="en-US" sz="1120" dirty="0"/>
          </a:p>
        </p:txBody>
      </p:sp>
      <p:sp>
        <p:nvSpPr>
          <p:cNvPr id="24" name="Shape 21"/>
          <p:cNvSpPr/>
          <p:nvPr/>
        </p:nvSpPr>
        <p:spPr>
          <a:xfrm>
            <a:off x="658368" y="3730752"/>
            <a:ext cx="2651760" cy="731520"/>
          </a:xfrm>
          <a:prstGeom prst="rect">
            <a:avLst/>
          </a:prstGeom>
          <a:solidFill>
            <a:srgbClr val="2E7D4F"/>
          </a:solidFill>
          <a:ln w="12700">
            <a:solidFill>
              <a:srgbClr val="2E7D4F"/>
            </a:solidFill>
            <a:prstDash val="solid"/>
          </a:ln>
        </p:spPr>
      </p:sp>
      <p:sp>
        <p:nvSpPr>
          <p:cNvPr id="25" name="Text 22"/>
          <p:cNvSpPr txBox="1"/>
          <p:nvPr/>
        </p:nvSpPr>
        <p:spPr>
          <a:xfrm>
            <a:off x="841248" y="3803904"/>
            <a:ext cx="2377440" cy="585216"/>
          </a:xfrm>
          <a:prstGeom prst="rect">
            <a:avLst/>
          </a:prstGeom>
          <a:noFill/>
          <a:ln/>
        </p:spPr>
        <p:txBody>
          <a:bodyPr wrap="square" lIns="0" tIns="0" rIns="0" bIns="0" rtlCol="0" anchor="ctr"/>
          <a:lstStyle/>
          <a:p>
            <a:pPr algn="l" indent="0" marL="0">
              <a:buNone/>
            </a:pPr>
            <a:r>
              <a:rPr lang="en-US" sz="1260" b="1" dirty="0">
                <a:solidFill>
                  <a:srgbClr val="FFFFFF"/>
                </a:solidFill>
                <a:latin typeface="Aptos" pitchFamily="34" charset="0"/>
                <a:ea typeface="Aptos" pitchFamily="34" charset="-122"/>
                <a:cs typeface="Aptos" pitchFamily="34" charset="-120"/>
              </a:rPr>
              <a:t>Prueba de extremo a extremo</a:t>
            </a:r>
            <a:endParaRPr lang="en-US" sz="1260" dirty="0"/>
          </a:p>
        </p:txBody>
      </p:sp>
      <p:sp>
        <p:nvSpPr>
          <p:cNvPr id="26" name="Shape 23"/>
          <p:cNvSpPr/>
          <p:nvPr/>
        </p:nvSpPr>
        <p:spPr>
          <a:xfrm>
            <a:off x="3438144" y="3730752"/>
            <a:ext cx="3983584" cy="731520"/>
          </a:xfrm>
          <a:prstGeom prst="rect">
            <a:avLst/>
          </a:prstGeom>
          <a:solidFill>
            <a:srgbClr val="FFFFFF"/>
          </a:solidFill>
          <a:ln w="12700">
            <a:solidFill>
              <a:srgbClr val="FFFFFF"/>
            </a:solidFill>
            <a:prstDash val="solid"/>
          </a:ln>
        </p:spPr>
      </p:sp>
      <p:sp>
        <p:nvSpPr>
          <p:cNvPr id="27" name="Text 24"/>
          <p:cNvSpPr txBox="1"/>
          <p:nvPr/>
        </p:nvSpPr>
        <p:spPr>
          <a:xfrm>
            <a:off x="3621024" y="3803904"/>
            <a:ext cx="3617824" cy="585216"/>
          </a:xfrm>
          <a:prstGeom prst="rect">
            <a:avLst/>
          </a:prstGeom>
          <a:noFill/>
          <a:ln/>
        </p:spPr>
        <p:txBody>
          <a:bodyPr wrap="square" lIns="0" tIns="0" rIns="0" bIns="0" rtlCol="0" anchor="ctr"/>
          <a:lstStyle/>
          <a:p>
            <a:pPr algn="l" indent="0" marL="0">
              <a:lnSpc>
                <a:spcPct val="108000"/>
              </a:lnSpc>
              <a:buNone/>
            </a:pPr>
            <a:r>
              <a:rPr lang="en-US" sz="1120" dirty="0">
                <a:solidFill>
                  <a:srgbClr val="243B53"/>
                </a:solidFill>
                <a:latin typeface="Aptos" pitchFamily="34" charset="0"/>
                <a:ea typeface="Aptos" pitchFamily="34" charset="-122"/>
                <a:cs typeface="Aptos" pitchFamily="34" charset="-120"/>
              </a:rPr>
              <a:t>Que una persona puede completar la tarea por la pantalla.</a:t>
            </a:r>
            <a:endParaRPr lang="en-US" sz="1120" dirty="0"/>
          </a:p>
        </p:txBody>
      </p:sp>
      <p:sp>
        <p:nvSpPr>
          <p:cNvPr id="28" name="Shape 25"/>
          <p:cNvSpPr/>
          <p:nvPr/>
        </p:nvSpPr>
        <p:spPr>
          <a:xfrm>
            <a:off x="7549744" y="3730752"/>
            <a:ext cx="3983584" cy="731520"/>
          </a:xfrm>
          <a:prstGeom prst="rect">
            <a:avLst/>
          </a:prstGeom>
          <a:solidFill>
            <a:srgbClr val="FFFFFF"/>
          </a:solidFill>
          <a:ln w="12700">
            <a:solidFill>
              <a:srgbClr val="FFFFFF"/>
            </a:solidFill>
            <a:prstDash val="solid"/>
          </a:ln>
        </p:spPr>
      </p:sp>
      <p:sp>
        <p:nvSpPr>
          <p:cNvPr id="29" name="Text 26"/>
          <p:cNvSpPr txBox="1"/>
          <p:nvPr/>
        </p:nvSpPr>
        <p:spPr>
          <a:xfrm>
            <a:off x="7732624" y="3803904"/>
            <a:ext cx="3617824" cy="585216"/>
          </a:xfrm>
          <a:prstGeom prst="rect">
            <a:avLst/>
          </a:prstGeom>
          <a:noFill/>
          <a:ln/>
        </p:spPr>
        <p:txBody>
          <a:bodyPr wrap="square" lIns="0" tIns="0" rIns="0" bIns="0" rtlCol="0" anchor="ctr"/>
          <a:lstStyle/>
          <a:p>
            <a:pPr algn="l" indent="0" marL="0">
              <a:lnSpc>
                <a:spcPct val="108000"/>
              </a:lnSpc>
              <a:buNone/>
            </a:pPr>
            <a:r>
              <a:rPr lang="en-US" sz="1120" dirty="0">
                <a:solidFill>
                  <a:srgbClr val="52606D"/>
                </a:solidFill>
                <a:latin typeface="Aptos" pitchFamily="34" charset="0"/>
                <a:ea typeface="Aptos" pitchFamily="34" charset="-122"/>
                <a:cs typeface="Aptos" pitchFamily="34" charset="-120"/>
              </a:rPr>
              <a:t>Lo que nadie pensó en escribir como caso.</a:t>
            </a:r>
            <a:endParaRPr lang="en-US" sz="1120" dirty="0"/>
          </a:p>
        </p:txBody>
      </p:sp>
      <p:sp>
        <p:nvSpPr>
          <p:cNvPr id="30" name="Shape 27"/>
          <p:cNvSpPr/>
          <p:nvPr/>
        </p:nvSpPr>
        <p:spPr>
          <a:xfrm>
            <a:off x="658368" y="4572000"/>
            <a:ext cx="2651760" cy="731520"/>
          </a:xfrm>
          <a:prstGeom prst="rect">
            <a:avLst/>
          </a:prstGeom>
          <a:solidFill>
            <a:srgbClr val="B3181E"/>
          </a:solidFill>
          <a:ln w="12700">
            <a:solidFill>
              <a:srgbClr val="B3181E"/>
            </a:solidFill>
            <a:prstDash val="solid"/>
          </a:ln>
        </p:spPr>
      </p:sp>
      <p:sp>
        <p:nvSpPr>
          <p:cNvPr id="31" name="Text 28"/>
          <p:cNvSpPr txBox="1"/>
          <p:nvPr/>
        </p:nvSpPr>
        <p:spPr>
          <a:xfrm>
            <a:off x="841248" y="4645152"/>
            <a:ext cx="2377440" cy="585216"/>
          </a:xfrm>
          <a:prstGeom prst="rect">
            <a:avLst/>
          </a:prstGeom>
          <a:noFill/>
          <a:ln/>
        </p:spPr>
        <p:txBody>
          <a:bodyPr wrap="square" lIns="0" tIns="0" rIns="0" bIns="0" rtlCol="0" anchor="ctr"/>
          <a:lstStyle/>
          <a:p>
            <a:pPr algn="l" indent="0" marL="0">
              <a:buNone/>
            </a:pPr>
            <a:r>
              <a:rPr lang="en-US" sz="1260" b="1" dirty="0">
                <a:solidFill>
                  <a:srgbClr val="FFFFFF"/>
                </a:solidFill>
                <a:latin typeface="Aptos" pitchFamily="34" charset="0"/>
                <a:ea typeface="Aptos" pitchFamily="34" charset="-122"/>
                <a:cs typeface="Aptos" pitchFamily="34" charset="-120"/>
              </a:rPr>
              <a:t>Exploración</a:t>
            </a:r>
            <a:endParaRPr lang="en-US" sz="1260" dirty="0"/>
          </a:p>
        </p:txBody>
      </p:sp>
      <p:sp>
        <p:nvSpPr>
          <p:cNvPr id="32" name="Shape 29"/>
          <p:cNvSpPr/>
          <p:nvPr/>
        </p:nvSpPr>
        <p:spPr>
          <a:xfrm>
            <a:off x="3438144" y="4572000"/>
            <a:ext cx="3983584" cy="731520"/>
          </a:xfrm>
          <a:prstGeom prst="rect">
            <a:avLst/>
          </a:prstGeom>
          <a:solidFill>
            <a:srgbClr val="FFFFFF"/>
          </a:solidFill>
          <a:ln w="12700">
            <a:solidFill>
              <a:srgbClr val="FFFFFF"/>
            </a:solidFill>
            <a:prstDash val="solid"/>
          </a:ln>
        </p:spPr>
      </p:sp>
      <p:sp>
        <p:nvSpPr>
          <p:cNvPr id="33" name="Text 30"/>
          <p:cNvSpPr txBox="1"/>
          <p:nvPr/>
        </p:nvSpPr>
        <p:spPr>
          <a:xfrm>
            <a:off x="3621024" y="4645152"/>
            <a:ext cx="3617824" cy="585216"/>
          </a:xfrm>
          <a:prstGeom prst="rect">
            <a:avLst/>
          </a:prstGeom>
          <a:noFill/>
          <a:ln/>
        </p:spPr>
        <p:txBody>
          <a:bodyPr wrap="square" lIns="0" tIns="0" rIns="0" bIns="0" rtlCol="0" anchor="ctr"/>
          <a:lstStyle/>
          <a:p>
            <a:pPr algn="l" indent="0" marL="0">
              <a:lnSpc>
                <a:spcPct val="108000"/>
              </a:lnSpc>
              <a:buNone/>
            </a:pPr>
            <a:r>
              <a:rPr lang="en-US" sz="1120" dirty="0">
                <a:solidFill>
                  <a:srgbClr val="243B53"/>
                </a:solidFill>
                <a:latin typeface="Aptos" pitchFamily="34" charset="0"/>
                <a:ea typeface="Aptos" pitchFamily="34" charset="-122"/>
                <a:cs typeface="Aptos" pitchFamily="34" charset="-120"/>
              </a:rPr>
              <a:t>Lo que apareció cuando alguien se salió del camino previsto.</a:t>
            </a:r>
            <a:endParaRPr lang="en-US" sz="1120" dirty="0"/>
          </a:p>
        </p:txBody>
      </p:sp>
      <p:sp>
        <p:nvSpPr>
          <p:cNvPr id="34" name="Shape 31"/>
          <p:cNvSpPr/>
          <p:nvPr/>
        </p:nvSpPr>
        <p:spPr>
          <a:xfrm>
            <a:off x="7549744" y="4572000"/>
            <a:ext cx="3983584" cy="731520"/>
          </a:xfrm>
          <a:prstGeom prst="rect">
            <a:avLst/>
          </a:prstGeom>
          <a:solidFill>
            <a:srgbClr val="F2E7D9"/>
          </a:solidFill>
          <a:ln w="12700">
            <a:solidFill>
              <a:srgbClr val="F2E7D9"/>
            </a:solidFill>
            <a:prstDash val="solid"/>
          </a:ln>
        </p:spPr>
      </p:sp>
      <p:sp>
        <p:nvSpPr>
          <p:cNvPr id="35" name="Text 32"/>
          <p:cNvSpPr txBox="1"/>
          <p:nvPr/>
        </p:nvSpPr>
        <p:spPr>
          <a:xfrm>
            <a:off x="7732624" y="4645152"/>
            <a:ext cx="3617824" cy="585216"/>
          </a:xfrm>
          <a:prstGeom prst="rect">
            <a:avLst/>
          </a:prstGeom>
          <a:noFill/>
          <a:ln/>
        </p:spPr>
        <p:txBody>
          <a:bodyPr wrap="square" lIns="0" tIns="0" rIns="0" bIns="0" rtlCol="0" anchor="ctr"/>
          <a:lstStyle/>
          <a:p>
            <a:pPr algn="l" indent="0" marL="0">
              <a:lnSpc>
                <a:spcPct val="108000"/>
              </a:lnSpc>
              <a:buNone/>
            </a:pPr>
            <a:r>
              <a:rPr lang="en-US" sz="1120" b="1" dirty="0">
                <a:solidFill>
                  <a:srgbClr val="B3181E"/>
                </a:solidFill>
                <a:latin typeface="Aptos" pitchFamily="34" charset="0"/>
                <a:ea typeface="Aptos" pitchFamily="34" charset="-122"/>
                <a:cs typeface="Aptos" pitchFamily="34" charset="-120"/>
              </a:rPr>
              <a:t>Nada, hasta que se reproduce.</a:t>
            </a:r>
            <a:endParaRPr lang="en-US" sz="1120" dirty="0"/>
          </a:p>
        </p:txBody>
      </p:sp>
      <p:sp>
        <p:nvSpPr>
          <p:cNvPr id="36" name="Shape 33"/>
          <p:cNvSpPr/>
          <p:nvPr/>
        </p:nvSpPr>
        <p:spPr>
          <a:xfrm>
            <a:off x="658368" y="5650992"/>
            <a:ext cx="10874959" cy="548640"/>
          </a:xfrm>
          <a:prstGeom prst="rect">
            <a:avLst/>
          </a:prstGeom>
          <a:solidFill>
            <a:srgbClr val="102A43"/>
          </a:solidFill>
          <a:ln w="12700">
            <a:solidFill>
              <a:srgbClr val="102A43"/>
            </a:solidFill>
            <a:prstDash val="solid"/>
          </a:ln>
        </p:spPr>
      </p:sp>
      <p:sp>
        <p:nvSpPr>
          <p:cNvPr id="37" name="Text 34"/>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Una exploración produce hallazgos, no afirmaciones. Pasan a serlo cuando una prueba los reproduce.</a:t>
            </a:r>
            <a:endParaRPr lang="en-US" sz="138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hoy se puede sostener</a:t>
            </a:r>
            <a:endParaRPr lang="en-US" sz="3000" dirty="0"/>
          </a:p>
        </p:txBody>
      </p:sp>
      <p:sp>
        <p:nvSpPr>
          <p:cNvPr id="10" name="Shape 7"/>
          <p:cNvSpPr/>
          <p:nvPr/>
        </p:nvSpPr>
        <p:spPr>
          <a:xfrm>
            <a:off x="658368" y="1755648"/>
            <a:ext cx="6766560" cy="786384"/>
          </a:xfrm>
          <a:prstGeom prst="rect">
            <a:avLst/>
          </a:prstGeom>
          <a:solidFill>
            <a:srgbClr val="FFFFFF"/>
          </a:solidFill>
          <a:ln w="12700">
            <a:solidFill>
              <a:srgbClr val="FFFFFF"/>
            </a:solidFill>
            <a:prstDash val="solid"/>
          </a:ln>
        </p:spPr>
      </p:sp>
      <p:sp>
        <p:nvSpPr>
          <p:cNvPr id="11" name="Shape 8"/>
          <p:cNvSpPr/>
          <p:nvPr/>
        </p:nvSpPr>
        <p:spPr>
          <a:xfrm>
            <a:off x="658368" y="1755648"/>
            <a:ext cx="54864" cy="786384"/>
          </a:xfrm>
          <a:prstGeom prst="rect">
            <a:avLst/>
          </a:prstGeom>
          <a:solidFill>
            <a:srgbClr val="2E7D4F"/>
          </a:solidFill>
          <a:ln w="12700">
            <a:solidFill>
              <a:srgbClr val="2E7D4F"/>
            </a:solidFill>
            <a:prstDash val="solid"/>
          </a:ln>
        </p:spPr>
      </p:sp>
      <p:sp>
        <p:nvSpPr>
          <p:cNvPr id="12" name="Text 9"/>
          <p:cNvSpPr txBox="1"/>
          <p:nvPr/>
        </p:nvSpPr>
        <p:spPr>
          <a:xfrm>
            <a:off x="859536" y="1883664"/>
            <a:ext cx="365760" cy="512064"/>
          </a:xfrm>
          <a:prstGeom prst="rect">
            <a:avLst/>
          </a:prstGeom>
          <a:noFill/>
          <a:ln/>
        </p:spPr>
        <p:txBody>
          <a:bodyPr wrap="square" lIns="0" tIns="0" rIns="0" bIns="0" rtlCol="0" anchor="ctr"/>
          <a:lstStyle/>
          <a:p>
            <a:pPr algn="l" indent="0" marL="0">
              <a:buNone/>
            </a:pPr>
            <a:r>
              <a:rPr lang="en-US" sz="2200" b="1" dirty="0">
                <a:solidFill>
                  <a:srgbClr val="2E7D4F"/>
                </a:solidFill>
                <a:latin typeface="Aptos Display" pitchFamily="34" charset="0"/>
                <a:ea typeface="Aptos Display" pitchFamily="34" charset="-122"/>
                <a:cs typeface="Aptos Display" pitchFamily="34" charset="-120"/>
              </a:rPr>
              <a:t>1</a:t>
            </a:r>
            <a:endParaRPr lang="en-US" sz="2200" dirty="0"/>
          </a:p>
        </p:txBody>
      </p:sp>
      <p:sp>
        <p:nvSpPr>
          <p:cNvPr id="13" name="Text 10"/>
          <p:cNvSpPr txBox="1"/>
          <p:nvPr/>
        </p:nvSpPr>
        <p:spPr>
          <a:xfrm>
            <a:off x="1335024" y="1847088"/>
            <a:ext cx="5888736" cy="603504"/>
          </a:xfrm>
          <a:prstGeom prst="rect">
            <a:avLst/>
          </a:prstGeom>
          <a:noFill/>
          <a:ln/>
        </p:spPr>
        <p:txBody>
          <a:bodyPr wrap="square" lIns="0" tIns="0" rIns="0" bIns="0" rtlCol="0" anchor="ctr"/>
          <a:lstStyle/>
          <a:p>
            <a:pPr algn="l" indent="0" marL="0">
              <a:lnSpc>
                <a:spcPct val="110000"/>
              </a:lnSpc>
              <a:buNone/>
            </a:pPr>
            <a:r>
              <a:rPr lang="en-US" sz="1180" dirty="0">
                <a:solidFill>
                  <a:srgbClr val="243B53"/>
                </a:solidFill>
                <a:latin typeface="Aptos" pitchFamily="34" charset="0"/>
                <a:ea typeface="Aptos" pitchFamily="34" charset="-122"/>
                <a:cs typeface="Aptos" pitchFamily="34" charset="-120"/>
              </a:rPr>
              <a:t>Una persona puede completar la reserva por la pantalla, y hay una prueba con un navegador real que lo comprueba.</a:t>
            </a:r>
            <a:endParaRPr lang="en-US" sz="1180" dirty="0"/>
          </a:p>
        </p:txBody>
      </p:sp>
      <p:sp>
        <p:nvSpPr>
          <p:cNvPr id="14" name="Shape 11"/>
          <p:cNvSpPr/>
          <p:nvPr/>
        </p:nvSpPr>
        <p:spPr>
          <a:xfrm>
            <a:off x="658368" y="2651760"/>
            <a:ext cx="6766560" cy="786384"/>
          </a:xfrm>
          <a:prstGeom prst="rect">
            <a:avLst/>
          </a:prstGeom>
          <a:solidFill>
            <a:srgbClr val="FFFFFF"/>
          </a:solidFill>
          <a:ln w="12700">
            <a:solidFill>
              <a:srgbClr val="FFFFFF"/>
            </a:solidFill>
            <a:prstDash val="solid"/>
          </a:ln>
        </p:spPr>
      </p:sp>
      <p:sp>
        <p:nvSpPr>
          <p:cNvPr id="15" name="Shape 12"/>
          <p:cNvSpPr/>
          <p:nvPr/>
        </p:nvSpPr>
        <p:spPr>
          <a:xfrm>
            <a:off x="658368" y="2651760"/>
            <a:ext cx="54864" cy="786384"/>
          </a:xfrm>
          <a:prstGeom prst="rect">
            <a:avLst/>
          </a:prstGeom>
          <a:solidFill>
            <a:srgbClr val="2E7D4F"/>
          </a:solidFill>
          <a:ln w="12700">
            <a:solidFill>
              <a:srgbClr val="2E7D4F"/>
            </a:solidFill>
            <a:prstDash val="solid"/>
          </a:ln>
        </p:spPr>
      </p:sp>
      <p:sp>
        <p:nvSpPr>
          <p:cNvPr id="16" name="Text 13"/>
          <p:cNvSpPr txBox="1"/>
          <p:nvPr/>
        </p:nvSpPr>
        <p:spPr>
          <a:xfrm>
            <a:off x="859536" y="2779776"/>
            <a:ext cx="365760" cy="512064"/>
          </a:xfrm>
          <a:prstGeom prst="rect">
            <a:avLst/>
          </a:prstGeom>
          <a:noFill/>
          <a:ln/>
        </p:spPr>
        <p:txBody>
          <a:bodyPr wrap="square" lIns="0" tIns="0" rIns="0" bIns="0" rtlCol="0" anchor="ctr"/>
          <a:lstStyle/>
          <a:p>
            <a:pPr algn="l" indent="0" marL="0">
              <a:buNone/>
            </a:pPr>
            <a:r>
              <a:rPr lang="en-US" sz="2200" b="1" dirty="0">
                <a:solidFill>
                  <a:srgbClr val="2E7D4F"/>
                </a:solidFill>
                <a:latin typeface="Aptos Display" pitchFamily="34" charset="0"/>
                <a:ea typeface="Aptos Display" pitchFamily="34" charset="-122"/>
                <a:cs typeface="Aptos Display" pitchFamily="34" charset="-120"/>
              </a:rPr>
              <a:t>2</a:t>
            </a:r>
            <a:endParaRPr lang="en-US" sz="2200" dirty="0"/>
          </a:p>
        </p:txBody>
      </p:sp>
      <p:sp>
        <p:nvSpPr>
          <p:cNvPr id="17" name="Text 14"/>
          <p:cNvSpPr txBox="1"/>
          <p:nvPr/>
        </p:nvSpPr>
        <p:spPr>
          <a:xfrm>
            <a:off x="1335024" y="2743200"/>
            <a:ext cx="5888736" cy="603504"/>
          </a:xfrm>
          <a:prstGeom prst="rect">
            <a:avLst/>
          </a:prstGeom>
          <a:noFill/>
          <a:ln/>
        </p:spPr>
        <p:txBody>
          <a:bodyPr wrap="square" lIns="0" tIns="0" rIns="0" bIns="0" rtlCol="0" anchor="ctr"/>
          <a:lstStyle/>
          <a:p>
            <a:pPr algn="l" indent="0" marL="0">
              <a:lnSpc>
                <a:spcPct val="110000"/>
              </a:lnSpc>
              <a:buNone/>
            </a:pPr>
            <a:r>
              <a:rPr lang="en-US" sz="1180" dirty="0">
                <a:solidFill>
                  <a:srgbClr val="243B53"/>
                </a:solidFill>
                <a:latin typeface="Aptos" pitchFamily="34" charset="0"/>
                <a:ea typeface="Aptos" pitchFamily="34" charset="-122"/>
                <a:cs typeface="Aptos" pitchFamily="34" charset="-120"/>
              </a:rPr>
              <a:t>Las pruebas esperan condiciones y no tiempos, y se comprobó ejecutándolas muchas veces con la red lenta.</a:t>
            </a:r>
            <a:endParaRPr lang="en-US" sz="1180" dirty="0"/>
          </a:p>
        </p:txBody>
      </p:sp>
      <p:sp>
        <p:nvSpPr>
          <p:cNvPr id="18" name="Shape 15"/>
          <p:cNvSpPr/>
          <p:nvPr/>
        </p:nvSpPr>
        <p:spPr>
          <a:xfrm>
            <a:off x="658368" y="3547872"/>
            <a:ext cx="6766560" cy="786384"/>
          </a:xfrm>
          <a:prstGeom prst="rect">
            <a:avLst/>
          </a:prstGeom>
          <a:solidFill>
            <a:srgbClr val="FFFFFF"/>
          </a:solidFill>
          <a:ln w="12700">
            <a:solidFill>
              <a:srgbClr val="FFFFFF"/>
            </a:solidFill>
            <a:prstDash val="solid"/>
          </a:ln>
        </p:spPr>
      </p:sp>
      <p:sp>
        <p:nvSpPr>
          <p:cNvPr id="19" name="Shape 16"/>
          <p:cNvSpPr/>
          <p:nvPr/>
        </p:nvSpPr>
        <p:spPr>
          <a:xfrm>
            <a:off x="658368" y="3547872"/>
            <a:ext cx="54864" cy="786384"/>
          </a:xfrm>
          <a:prstGeom prst="rect">
            <a:avLst/>
          </a:prstGeom>
          <a:solidFill>
            <a:srgbClr val="2E7D4F"/>
          </a:solidFill>
          <a:ln w="12700">
            <a:solidFill>
              <a:srgbClr val="2E7D4F"/>
            </a:solidFill>
            <a:prstDash val="solid"/>
          </a:ln>
        </p:spPr>
      </p:sp>
      <p:sp>
        <p:nvSpPr>
          <p:cNvPr id="20" name="Text 17"/>
          <p:cNvSpPr txBox="1"/>
          <p:nvPr/>
        </p:nvSpPr>
        <p:spPr>
          <a:xfrm>
            <a:off x="859536" y="3675888"/>
            <a:ext cx="365760" cy="512064"/>
          </a:xfrm>
          <a:prstGeom prst="rect">
            <a:avLst/>
          </a:prstGeom>
          <a:noFill/>
          <a:ln/>
        </p:spPr>
        <p:txBody>
          <a:bodyPr wrap="square" lIns="0" tIns="0" rIns="0" bIns="0" rtlCol="0" anchor="ctr"/>
          <a:lstStyle/>
          <a:p>
            <a:pPr algn="l" indent="0" marL="0">
              <a:buNone/>
            </a:pPr>
            <a:r>
              <a:rPr lang="en-US" sz="2200" b="1" dirty="0">
                <a:solidFill>
                  <a:srgbClr val="2E7D4F"/>
                </a:solidFill>
                <a:latin typeface="Aptos Display" pitchFamily="34" charset="0"/>
                <a:ea typeface="Aptos Display" pitchFamily="34" charset="-122"/>
                <a:cs typeface="Aptos Display" pitchFamily="34" charset="-120"/>
              </a:rPr>
              <a:t>3</a:t>
            </a:r>
            <a:endParaRPr lang="en-US" sz="2200" dirty="0"/>
          </a:p>
        </p:txBody>
      </p:sp>
      <p:sp>
        <p:nvSpPr>
          <p:cNvPr id="21" name="Text 18"/>
          <p:cNvSpPr txBox="1"/>
          <p:nvPr/>
        </p:nvSpPr>
        <p:spPr>
          <a:xfrm>
            <a:off x="1335024" y="3639312"/>
            <a:ext cx="5888736" cy="603504"/>
          </a:xfrm>
          <a:prstGeom prst="rect">
            <a:avLst/>
          </a:prstGeom>
          <a:noFill/>
          <a:ln/>
        </p:spPr>
        <p:txBody>
          <a:bodyPr wrap="square" lIns="0" tIns="0" rIns="0" bIns="0" rtlCol="0" anchor="ctr"/>
          <a:lstStyle/>
          <a:p>
            <a:pPr algn="l" indent="0" marL="0">
              <a:lnSpc>
                <a:spcPct val="110000"/>
              </a:lnSpc>
              <a:buNone/>
            </a:pPr>
            <a:r>
              <a:rPr lang="en-US" sz="1180" dirty="0">
                <a:solidFill>
                  <a:srgbClr val="243B53"/>
                </a:solidFill>
                <a:latin typeface="Aptos" pitchFamily="34" charset="0"/>
                <a:ea typeface="Aptos" pitchFamily="34" charset="-122"/>
                <a:cs typeface="Aptos" pitchFamily="34" charset="-120"/>
              </a:rPr>
              <a:t>Se exploró con carta y registro, y cada hallazgo declarado como defecto se reprodujo.</a:t>
            </a:r>
            <a:endParaRPr lang="en-US" sz="1180" dirty="0"/>
          </a:p>
        </p:txBody>
      </p:sp>
      <p:sp>
        <p:nvSpPr>
          <p:cNvPr id="22" name="Shape 19"/>
          <p:cNvSpPr/>
          <p:nvPr/>
        </p:nvSpPr>
        <p:spPr>
          <a:xfrm>
            <a:off x="658368" y="4443984"/>
            <a:ext cx="6766560" cy="786384"/>
          </a:xfrm>
          <a:prstGeom prst="rect">
            <a:avLst/>
          </a:prstGeom>
          <a:solidFill>
            <a:srgbClr val="FFFFFF"/>
          </a:solidFill>
          <a:ln w="12700">
            <a:solidFill>
              <a:srgbClr val="FFFFFF"/>
            </a:solidFill>
            <a:prstDash val="solid"/>
          </a:ln>
        </p:spPr>
      </p:sp>
      <p:sp>
        <p:nvSpPr>
          <p:cNvPr id="23" name="Shape 20"/>
          <p:cNvSpPr/>
          <p:nvPr/>
        </p:nvSpPr>
        <p:spPr>
          <a:xfrm>
            <a:off x="658368" y="4443984"/>
            <a:ext cx="54864" cy="786384"/>
          </a:xfrm>
          <a:prstGeom prst="rect">
            <a:avLst/>
          </a:prstGeom>
          <a:solidFill>
            <a:srgbClr val="2E7D4F"/>
          </a:solidFill>
          <a:ln w="12700">
            <a:solidFill>
              <a:srgbClr val="2E7D4F"/>
            </a:solidFill>
            <a:prstDash val="solid"/>
          </a:ln>
        </p:spPr>
      </p:sp>
      <p:sp>
        <p:nvSpPr>
          <p:cNvPr id="24" name="Text 21"/>
          <p:cNvSpPr txBox="1"/>
          <p:nvPr/>
        </p:nvSpPr>
        <p:spPr>
          <a:xfrm>
            <a:off x="859536" y="4572000"/>
            <a:ext cx="365760" cy="512064"/>
          </a:xfrm>
          <a:prstGeom prst="rect">
            <a:avLst/>
          </a:prstGeom>
          <a:noFill/>
          <a:ln/>
        </p:spPr>
        <p:txBody>
          <a:bodyPr wrap="square" lIns="0" tIns="0" rIns="0" bIns="0" rtlCol="0" anchor="ctr"/>
          <a:lstStyle/>
          <a:p>
            <a:pPr algn="l" indent="0" marL="0">
              <a:buNone/>
            </a:pPr>
            <a:r>
              <a:rPr lang="en-US" sz="2200" b="1" dirty="0">
                <a:solidFill>
                  <a:srgbClr val="2E7D4F"/>
                </a:solidFill>
                <a:latin typeface="Aptos Display" pitchFamily="34" charset="0"/>
                <a:ea typeface="Aptos Display" pitchFamily="34" charset="-122"/>
                <a:cs typeface="Aptos Display" pitchFamily="34" charset="-120"/>
              </a:rPr>
              <a:t>4</a:t>
            </a:r>
            <a:endParaRPr lang="en-US" sz="2200" dirty="0"/>
          </a:p>
        </p:txBody>
      </p:sp>
      <p:sp>
        <p:nvSpPr>
          <p:cNvPr id="25" name="Text 22"/>
          <p:cNvSpPr txBox="1"/>
          <p:nvPr/>
        </p:nvSpPr>
        <p:spPr>
          <a:xfrm>
            <a:off x="1335024" y="4535424"/>
            <a:ext cx="5888736" cy="603504"/>
          </a:xfrm>
          <a:prstGeom prst="rect">
            <a:avLst/>
          </a:prstGeom>
          <a:noFill/>
          <a:ln/>
        </p:spPr>
        <p:txBody>
          <a:bodyPr wrap="square" lIns="0" tIns="0" rIns="0" bIns="0" rtlCol="0" anchor="ctr"/>
          <a:lstStyle/>
          <a:p>
            <a:pPr algn="l" indent="0" marL="0">
              <a:lnSpc>
                <a:spcPct val="110000"/>
              </a:lnSpc>
              <a:buNone/>
            </a:pPr>
            <a:r>
              <a:rPr lang="en-US" sz="1180" dirty="0">
                <a:solidFill>
                  <a:srgbClr val="243B53"/>
                </a:solidFill>
                <a:latin typeface="Aptos" pitchFamily="34" charset="0"/>
                <a:ea typeface="Aptos" pitchFamily="34" charset="-122"/>
                <a:cs typeface="Aptos" pitchFamily="34" charset="-120"/>
              </a:rPr>
              <a:t>De lo encontrado, hay una prueba que hoy falla y dice exactamente qué falta corregir.</a:t>
            </a:r>
            <a:endParaRPr lang="en-US" sz="1180" dirty="0"/>
          </a:p>
        </p:txBody>
      </p:sp>
      <p:sp>
        <p:nvSpPr>
          <p:cNvPr id="26" name="Shape 23"/>
          <p:cNvSpPr/>
          <p:nvPr/>
        </p:nvSpPr>
        <p:spPr>
          <a:xfrm>
            <a:off x="7699248" y="1755648"/>
            <a:ext cx="3834079" cy="3474720"/>
          </a:xfrm>
          <a:prstGeom prst="rect">
            <a:avLst/>
          </a:prstGeom>
          <a:solidFill>
            <a:srgbClr val="1D3A57"/>
          </a:solidFill>
          <a:ln w="12700">
            <a:solidFill>
              <a:srgbClr val="1D3A57"/>
            </a:solidFill>
            <a:prstDash val="solid"/>
          </a:ln>
        </p:spPr>
      </p:sp>
      <p:sp>
        <p:nvSpPr>
          <p:cNvPr id="27" name="Text 24"/>
          <p:cNvSpPr txBox="1"/>
          <p:nvPr/>
        </p:nvSpPr>
        <p:spPr>
          <a:xfrm>
            <a:off x="7973568" y="1938528"/>
            <a:ext cx="3285439"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LO QUE SIGUE SIN PODER AFIRMARSE</a:t>
            </a:r>
            <a:endParaRPr lang="en-US" sz="960" dirty="0"/>
          </a:p>
        </p:txBody>
      </p:sp>
      <p:sp>
        <p:nvSpPr>
          <p:cNvPr id="28" name="Text 25"/>
          <p:cNvSpPr txBox="1"/>
          <p:nvPr/>
        </p:nvSpPr>
        <p:spPr>
          <a:xfrm>
            <a:off x="7973568" y="2249424"/>
            <a:ext cx="3285439" cy="822960"/>
          </a:xfrm>
          <a:prstGeom prst="rect">
            <a:avLst/>
          </a:prstGeom>
          <a:noFill/>
          <a:ln/>
        </p:spPr>
        <p:txBody>
          <a:bodyPr wrap="square" lIns="0" tIns="0" rIns="0" bIns="0" rtlCol="0" anchor="t"/>
          <a:lstStyle/>
          <a:p>
            <a:pPr algn="l" indent="0" marL="0">
              <a:lnSpc>
                <a:spcPct val="108000"/>
              </a:lnSpc>
              <a:buNone/>
            </a:pPr>
            <a:r>
              <a:rPr lang="en-US" sz="1800" b="1" dirty="0">
                <a:solidFill>
                  <a:srgbClr val="FFFFFF"/>
                </a:solidFill>
                <a:latin typeface="Aptos Display" pitchFamily="34" charset="0"/>
                <a:ea typeface="Aptos Display" pitchFamily="34" charset="-122"/>
                <a:cs typeface="Aptos Display" pitchFamily="34" charset="-120"/>
              </a:rPr>
              <a:t>Cómo se comporta mientras lo hace.</a:t>
            </a:r>
            <a:endParaRPr lang="en-US" sz="1800" dirty="0"/>
          </a:p>
        </p:txBody>
      </p:sp>
      <p:sp>
        <p:nvSpPr>
          <p:cNvPr id="29" name="Text 26"/>
          <p:cNvSpPr txBox="1"/>
          <p:nvPr/>
        </p:nvSpPr>
        <p:spPr>
          <a:xfrm>
            <a:off x="7973568" y="3218688"/>
            <a:ext cx="3285439" cy="1097280"/>
          </a:xfrm>
          <a:prstGeom prst="rect">
            <a:avLst/>
          </a:prstGeom>
          <a:noFill/>
          <a:ln/>
        </p:spPr>
        <p:txBody>
          <a:bodyPr wrap="square" lIns="0" tIns="0" rIns="0" bIns="0" rtlCol="0" anchor="t"/>
          <a:lstStyle/>
          <a:p>
            <a:pPr algn="l" indent="0" marL="0">
              <a:lnSpc>
                <a:spcPct val="114000"/>
              </a:lnSpc>
              <a:buNone/>
            </a:pPr>
            <a:r>
              <a:rPr lang="en-US" sz="1200" dirty="0">
                <a:solidFill>
                  <a:srgbClr val="EADFD0"/>
                </a:solidFill>
                <a:latin typeface="Aptos" pitchFamily="34" charset="0"/>
                <a:ea typeface="Aptos" pitchFamily="34" charset="-122"/>
                <a:cs typeface="Aptos" pitchFamily="34" charset="-120"/>
              </a:rPr>
              <a:t>Cada prueba de hoy comprueba qué hace el sistema. Ninguna dice cuánto aguanta con cien personas a la vez, a quién deja entrar, ni si lo puede usar alguien que no ve bien la pantalla.</a:t>
            </a:r>
            <a:endParaRPr lang="en-US" sz="1200" dirty="0"/>
          </a:p>
        </p:txBody>
      </p:sp>
      <p:sp>
        <p:nvSpPr>
          <p:cNvPr id="30" name="Shape 27"/>
          <p:cNvSpPr/>
          <p:nvPr/>
        </p:nvSpPr>
        <p:spPr>
          <a:xfrm>
            <a:off x="658368" y="5650992"/>
            <a:ext cx="10874959" cy="548640"/>
          </a:xfrm>
          <a:prstGeom prst="rect">
            <a:avLst/>
          </a:prstGeom>
          <a:solidFill>
            <a:srgbClr val="102A43"/>
          </a:solidFill>
          <a:ln w="12700">
            <a:solidFill>
              <a:srgbClr val="102A43"/>
            </a:solidFill>
            <a:prstDash val="solid"/>
          </a:ln>
        </p:spPr>
      </p:sp>
      <p:sp>
        <p:nvSpPr>
          <p:cNvPr id="31" name="Text 2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260" b="1" dirty="0">
                <a:solidFill>
                  <a:srgbClr val="FFFFFF"/>
                </a:solidFill>
                <a:latin typeface="Aptos" pitchFamily="34" charset="0"/>
                <a:ea typeface="Aptos" pitchFamily="34" charset="-122"/>
                <a:cs typeface="Aptos" pitchFamily="34" charset="-120"/>
              </a:rPr>
              <a:t>A lo que se podía defender de cada función y cada colaboración, hoy se agrega una capa que habla de las personas.</a:t>
            </a:r>
            <a:endParaRPr lang="en-US" sz="126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5\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61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HOY · 11:00 · CLASE 15 · LABORATORIO DE REDES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Funciona, pero ¿cómo lo hace?</a:t>
            </a:r>
            <a:endParaRPr lang="en-US" sz="3000" dirty="0"/>
          </a:p>
        </p:txBody>
      </p:sp>
      <p:sp>
        <p:nvSpPr>
          <p:cNvPr id="10" name="Text 7"/>
          <p:cNvSpPr txBox="1"/>
          <p:nvPr/>
        </p:nvSpPr>
        <p:spPr>
          <a:xfrm>
            <a:off x="658368" y="1737360"/>
            <a:ext cx="10874959" cy="512064"/>
          </a:xfrm>
          <a:prstGeom prst="rect">
            <a:avLst/>
          </a:prstGeom>
          <a:noFill/>
          <a:ln/>
        </p:spPr>
        <p:txBody>
          <a:bodyPr wrap="square" lIns="0" tIns="0" rIns="0" bIns="0" rtlCol="0" anchor="t"/>
          <a:lstStyle/>
          <a:p>
            <a:pPr algn="l" indent="0" marL="0">
              <a:lnSpc>
                <a:spcPct val="114000"/>
              </a:lnSpc>
              <a:buNone/>
            </a:pPr>
            <a:r>
              <a:rPr lang="en-US" sz="1260" dirty="0">
                <a:solidFill>
                  <a:srgbClr val="52606D"/>
                </a:solidFill>
                <a:latin typeface="Aptos" pitchFamily="34" charset="0"/>
                <a:ea typeface="Aptos" pitchFamily="34" charset="-122"/>
                <a:cs typeface="Aptos" pitchFamily="34" charset="-120"/>
              </a:rPr>
              <a:t>Todas las pruebas del módulo hasta ahora son funcionales: comprueban qué hace el sistema. A las 11:00, las no funcionales: las que comprueban cómo lo hace.</a:t>
            </a:r>
            <a:endParaRPr lang="en-US" sz="1260" dirty="0"/>
          </a:p>
        </p:txBody>
      </p:sp>
      <p:sp>
        <p:nvSpPr>
          <p:cNvPr id="11" name="Shape 8"/>
          <p:cNvSpPr/>
          <p:nvPr/>
        </p:nvSpPr>
        <p:spPr>
          <a:xfrm>
            <a:off x="658368" y="2432304"/>
            <a:ext cx="3527450" cy="1243584"/>
          </a:xfrm>
          <a:prstGeom prst="rect">
            <a:avLst/>
          </a:prstGeom>
          <a:solidFill>
            <a:srgbClr val="FFFFFF"/>
          </a:solidFill>
          <a:ln w="12700">
            <a:solidFill>
              <a:srgbClr val="FFFFFF"/>
            </a:solidFill>
            <a:prstDash val="solid"/>
          </a:ln>
        </p:spPr>
      </p:sp>
      <p:sp>
        <p:nvSpPr>
          <p:cNvPr id="12" name="Shape 9"/>
          <p:cNvSpPr/>
          <p:nvPr/>
        </p:nvSpPr>
        <p:spPr>
          <a:xfrm>
            <a:off x="658368" y="2432304"/>
            <a:ext cx="3527450" cy="54864"/>
          </a:xfrm>
          <a:prstGeom prst="rect">
            <a:avLst/>
          </a:prstGeom>
          <a:solidFill>
            <a:srgbClr val="102A43"/>
          </a:solidFill>
          <a:ln w="12700">
            <a:solidFill>
              <a:srgbClr val="102A43"/>
            </a:solidFill>
            <a:prstDash val="solid"/>
          </a:ln>
        </p:spPr>
      </p:sp>
      <p:sp>
        <p:nvSpPr>
          <p:cNvPr id="13" name="Text 10"/>
          <p:cNvSpPr txBox="1"/>
          <p:nvPr/>
        </p:nvSpPr>
        <p:spPr>
          <a:xfrm>
            <a:off x="896112" y="2615184"/>
            <a:ext cx="3070250" cy="365760"/>
          </a:xfrm>
          <a:prstGeom prst="rect">
            <a:avLst/>
          </a:prstGeom>
          <a:noFill/>
          <a:ln/>
        </p:spPr>
        <p:txBody>
          <a:bodyPr wrap="square" lIns="0" tIns="0" rIns="0" bIns="0" rtlCol="0" anchor="t"/>
          <a:lstStyle/>
          <a:p>
            <a:pPr algn="l" indent="0" marL="0">
              <a:buNone/>
            </a:pPr>
            <a:r>
              <a:rPr lang="en-US" sz="1700" b="1" dirty="0">
                <a:solidFill>
                  <a:srgbClr val="102A43"/>
                </a:solidFill>
                <a:latin typeface="Aptos Display" pitchFamily="34" charset="0"/>
                <a:ea typeface="Aptos Display" pitchFamily="34" charset="-122"/>
                <a:cs typeface="Aptos Display" pitchFamily="34" charset="-120"/>
              </a:rPr>
              <a:t>¿Cuánto aguanta?</a:t>
            </a:r>
            <a:endParaRPr lang="en-US" sz="1700" dirty="0"/>
          </a:p>
        </p:txBody>
      </p:sp>
      <p:sp>
        <p:nvSpPr>
          <p:cNvPr id="14" name="Text 11"/>
          <p:cNvSpPr txBox="1"/>
          <p:nvPr/>
        </p:nvSpPr>
        <p:spPr>
          <a:xfrm>
            <a:off x="896112" y="3072384"/>
            <a:ext cx="3070250" cy="457200"/>
          </a:xfrm>
          <a:prstGeom prst="rect">
            <a:avLst/>
          </a:prstGeom>
          <a:noFill/>
          <a:ln/>
        </p:spPr>
        <p:txBody>
          <a:bodyPr wrap="square" lIns="0" tIns="0" rIns="0" bIns="0" rtlCol="0" anchor="t"/>
          <a:lstStyle/>
          <a:p>
            <a:pPr algn="l" indent="0" marL="0">
              <a:lnSpc>
                <a:spcPct val="110000"/>
              </a:lnSpc>
              <a:buNone/>
            </a:pPr>
            <a:r>
              <a:rPr lang="en-US" sz="1160" dirty="0">
                <a:solidFill>
                  <a:srgbClr val="52606D"/>
                </a:solidFill>
                <a:latin typeface="Aptos" pitchFamily="34" charset="0"/>
                <a:ea typeface="Aptos" pitchFamily="34" charset="-122"/>
                <a:cs typeface="Aptos" pitchFamily="34" charset="-120"/>
              </a:rPr>
              <a:t>Con muchas personas usándolo a la vez.</a:t>
            </a:r>
            <a:endParaRPr lang="en-US" sz="1160" dirty="0"/>
          </a:p>
        </p:txBody>
      </p:sp>
      <p:sp>
        <p:nvSpPr>
          <p:cNvPr id="15" name="Shape 12"/>
          <p:cNvSpPr/>
          <p:nvPr/>
        </p:nvSpPr>
        <p:spPr>
          <a:xfrm>
            <a:off x="4332122" y="2432304"/>
            <a:ext cx="3527450" cy="1243584"/>
          </a:xfrm>
          <a:prstGeom prst="rect">
            <a:avLst/>
          </a:prstGeom>
          <a:solidFill>
            <a:srgbClr val="FFFFFF"/>
          </a:solidFill>
          <a:ln w="12700">
            <a:solidFill>
              <a:srgbClr val="FFFFFF"/>
            </a:solidFill>
            <a:prstDash val="solid"/>
          </a:ln>
        </p:spPr>
      </p:sp>
      <p:sp>
        <p:nvSpPr>
          <p:cNvPr id="16" name="Shape 13"/>
          <p:cNvSpPr/>
          <p:nvPr/>
        </p:nvSpPr>
        <p:spPr>
          <a:xfrm>
            <a:off x="4332122" y="2432304"/>
            <a:ext cx="3527450" cy="54864"/>
          </a:xfrm>
          <a:prstGeom prst="rect">
            <a:avLst/>
          </a:prstGeom>
          <a:solidFill>
            <a:srgbClr val="B3181E"/>
          </a:solidFill>
          <a:ln w="12700">
            <a:solidFill>
              <a:srgbClr val="B3181E"/>
            </a:solidFill>
            <a:prstDash val="solid"/>
          </a:ln>
        </p:spPr>
      </p:sp>
      <p:sp>
        <p:nvSpPr>
          <p:cNvPr id="17" name="Text 14"/>
          <p:cNvSpPr txBox="1"/>
          <p:nvPr/>
        </p:nvSpPr>
        <p:spPr>
          <a:xfrm>
            <a:off x="4569866" y="2615184"/>
            <a:ext cx="3070250" cy="365760"/>
          </a:xfrm>
          <a:prstGeom prst="rect">
            <a:avLst/>
          </a:prstGeom>
          <a:noFill/>
          <a:ln/>
        </p:spPr>
        <p:txBody>
          <a:bodyPr wrap="square" lIns="0" tIns="0" rIns="0" bIns="0" rtlCol="0" anchor="t"/>
          <a:lstStyle/>
          <a:p>
            <a:pPr algn="l" indent="0" marL="0">
              <a:buNone/>
            </a:pPr>
            <a:r>
              <a:rPr lang="en-US" sz="1700" b="1" dirty="0">
                <a:solidFill>
                  <a:srgbClr val="B3181E"/>
                </a:solidFill>
                <a:latin typeface="Aptos Display" pitchFamily="34" charset="0"/>
                <a:ea typeface="Aptos Display" pitchFamily="34" charset="-122"/>
                <a:cs typeface="Aptos Display" pitchFamily="34" charset="-120"/>
              </a:rPr>
              <a:t>¿A quién deja entrar?</a:t>
            </a:r>
            <a:endParaRPr lang="en-US" sz="1700" dirty="0"/>
          </a:p>
        </p:txBody>
      </p:sp>
      <p:sp>
        <p:nvSpPr>
          <p:cNvPr id="18" name="Text 15"/>
          <p:cNvSpPr txBox="1"/>
          <p:nvPr/>
        </p:nvSpPr>
        <p:spPr>
          <a:xfrm>
            <a:off x="4569866" y="3072384"/>
            <a:ext cx="3070250" cy="457200"/>
          </a:xfrm>
          <a:prstGeom prst="rect">
            <a:avLst/>
          </a:prstGeom>
          <a:noFill/>
          <a:ln/>
        </p:spPr>
        <p:txBody>
          <a:bodyPr wrap="square" lIns="0" tIns="0" rIns="0" bIns="0" rtlCol="0" anchor="t"/>
          <a:lstStyle/>
          <a:p>
            <a:pPr algn="l" indent="0" marL="0">
              <a:lnSpc>
                <a:spcPct val="110000"/>
              </a:lnSpc>
              <a:buNone/>
            </a:pPr>
            <a:r>
              <a:rPr lang="en-US" sz="1160" dirty="0">
                <a:solidFill>
                  <a:srgbClr val="52606D"/>
                </a:solidFill>
                <a:latin typeface="Aptos" pitchFamily="34" charset="0"/>
                <a:ea typeface="Aptos" pitchFamily="34" charset="-122"/>
                <a:cs typeface="Aptos" pitchFamily="34" charset="-120"/>
              </a:rPr>
              <a:t>Y qué puede hacer alguien que no debería.</a:t>
            </a:r>
            <a:endParaRPr lang="en-US" sz="1160" dirty="0"/>
          </a:p>
        </p:txBody>
      </p:sp>
      <p:sp>
        <p:nvSpPr>
          <p:cNvPr id="19" name="Shape 16"/>
          <p:cNvSpPr/>
          <p:nvPr/>
        </p:nvSpPr>
        <p:spPr>
          <a:xfrm>
            <a:off x="8005877" y="2432304"/>
            <a:ext cx="3527450" cy="1243584"/>
          </a:xfrm>
          <a:prstGeom prst="rect">
            <a:avLst/>
          </a:prstGeom>
          <a:solidFill>
            <a:srgbClr val="FFFFFF"/>
          </a:solidFill>
          <a:ln w="12700">
            <a:solidFill>
              <a:srgbClr val="FFFFFF"/>
            </a:solidFill>
            <a:prstDash val="solid"/>
          </a:ln>
        </p:spPr>
      </p:sp>
      <p:sp>
        <p:nvSpPr>
          <p:cNvPr id="20" name="Shape 17"/>
          <p:cNvSpPr/>
          <p:nvPr/>
        </p:nvSpPr>
        <p:spPr>
          <a:xfrm>
            <a:off x="8005877" y="2432304"/>
            <a:ext cx="3527450" cy="54864"/>
          </a:xfrm>
          <a:prstGeom prst="rect">
            <a:avLst/>
          </a:prstGeom>
          <a:solidFill>
            <a:srgbClr val="2E7D4F"/>
          </a:solidFill>
          <a:ln w="12700">
            <a:solidFill>
              <a:srgbClr val="2E7D4F"/>
            </a:solidFill>
            <a:prstDash val="solid"/>
          </a:ln>
        </p:spPr>
      </p:sp>
      <p:sp>
        <p:nvSpPr>
          <p:cNvPr id="21" name="Text 18"/>
          <p:cNvSpPr txBox="1"/>
          <p:nvPr/>
        </p:nvSpPr>
        <p:spPr>
          <a:xfrm>
            <a:off x="8243621" y="2615184"/>
            <a:ext cx="3070250" cy="365760"/>
          </a:xfrm>
          <a:prstGeom prst="rect">
            <a:avLst/>
          </a:prstGeom>
          <a:noFill/>
          <a:ln/>
        </p:spPr>
        <p:txBody>
          <a:bodyPr wrap="square" lIns="0" tIns="0" rIns="0" bIns="0" rtlCol="0" anchor="t"/>
          <a:lstStyle/>
          <a:p>
            <a:pPr algn="l" indent="0" marL="0">
              <a:buNone/>
            </a:pPr>
            <a:r>
              <a:rPr lang="en-US" sz="1700" b="1" dirty="0">
                <a:solidFill>
                  <a:srgbClr val="2E7D4F"/>
                </a:solidFill>
                <a:latin typeface="Aptos Display" pitchFamily="34" charset="0"/>
                <a:ea typeface="Aptos Display" pitchFamily="34" charset="-122"/>
                <a:cs typeface="Aptos Display" pitchFamily="34" charset="-120"/>
              </a:rPr>
              <a:t>¿Para quién sirve?</a:t>
            </a:r>
            <a:endParaRPr lang="en-US" sz="1700" dirty="0"/>
          </a:p>
        </p:txBody>
      </p:sp>
      <p:sp>
        <p:nvSpPr>
          <p:cNvPr id="22" name="Text 19"/>
          <p:cNvSpPr txBox="1"/>
          <p:nvPr/>
        </p:nvSpPr>
        <p:spPr>
          <a:xfrm>
            <a:off x="8243621" y="3072384"/>
            <a:ext cx="3070250" cy="457200"/>
          </a:xfrm>
          <a:prstGeom prst="rect">
            <a:avLst/>
          </a:prstGeom>
          <a:noFill/>
          <a:ln/>
        </p:spPr>
        <p:txBody>
          <a:bodyPr wrap="square" lIns="0" tIns="0" rIns="0" bIns="0" rtlCol="0" anchor="t"/>
          <a:lstStyle/>
          <a:p>
            <a:pPr algn="l" indent="0" marL="0">
              <a:lnSpc>
                <a:spcPct val="110000"/>
              </a:lnSpc>
              <a:buNone/>
            </a:pPr>
            <a:r>
              <a:rPr lang="en-US" sz="1160" dirty="0">
                <a:solidFill>
                  <a:srgbClr val="52606D"/>
                </a:solidFill>
                <a:latin typeface="Aptos" pitchFamily="34" charset="0"/>
                <a:ea typeface="Aptos" pitchFamily="34" charset="-122"/>
                <a:cs typeface="Aptos" pitchFamily="34" charset="-120"/>
              </a:rPr>
              <a:t>Sin mouse, con poca visión, en otro navegador.</a:t>
            </a:r>
            <a:endParaRPr lang="en-US" sz="1160" dirty="0"/>
          </a:p>
        </p:txBody>
      </p:sp>
      <p:sp>
        <p:nvSpPr>
          <p:cNvPr id="23" name="Shape 20"/>
          <p:cNvSpPr/>
          <p:nvPr/>
        </p:nvSpPr>
        <p:spPr>
          <a:xfrm>
            <a:off x="658368" y="3913632"/>
            <a:ext cx="10874959" cy="1499616"/>
          </a:xfrm>
          <a:prstGeom prst="rect">
            <a:avLst/>
          </a:prstGeom>
          <a:solidFill>
            <a:srgbClr val="1D3A57"/>
          </a:solidFill>
          <a:ln w="12700">
            <a:solidFill>
              <a:srgbClr val="1D3A57"/>
            </a:solidFill>
            <a:prstDash val="solid"/>
          </a:ln>
        </p:spPr>
      </p:sp>
      <p:sp>
        <p:nvSpPr>
          <p:cNvPr id="24" name="Text 21"/>
          <p:cNvSpPr txBox="1"/>
          <p:nvPr/>
        </p:nvSpPr>
        <p:spPr>
          <a:xfrm>
            <a:off x="969264" y="4078224"/>
            <a:ext cx="54864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LLEGA CON ESTA PREGUNTA</a:t>
            </a:r>
            <a:endParaRPr lang="en-US" sz="960" dirty="0"/>
          </a:p>
        </p:txBody>
      </p:sp>
      <p:sp>
        <p:nvSpPr>
          <p:cNvPr id="25" name="Text 22"/>
          <p:cNvSpPr txBox="1"/>
          <p:nvPr/>
        </p:nvSpPr>
        <p:spPr>
          <a:xfrm>
            <a:off x="969264" y="4370832"/>
            <a:ext cx="10253167" cy="914400"/>
          </a:xfrm>
          <a:prstGeom prst="rect">
            <a:avLst/>
          </a:prstGeom>
          <a:noFill/>
          <a:ln/>
        </p:spPr>
        <p:txBody>
          <a:bodyPr wrap="square" lIns="0" tIns="0" rIns="0" bIns="0" rtlCol="0" anchor="t"/>
          <a:lstStyle/>
          <a:p>
            <a:pPr algn="l" indent="0" marL="0">
              <a:lnSpc>
                <a:spcPct val="116000"/>
              </a:lnSpc>
              <a:buNone/>
            </a:pPr>
            <a:r>
              <a:rPr lang="en-US" sz="1500" b="1" dirty="0">
                <a:solidFill>
                  <a:srgbClr val="FFFFFF"/>
                </a:solidFill>
                <a:latin typeface="Aptos" pitchFamily="34" charset="0"/>
                <a:ea typeface="Aptos" pitchFamily="34" charset="-122"/>
                <a:cs typeface="Aptos" pitchFamily="34" charset="-120"/>
              </a:rPr>
              <a:t>La prueba de hoy confirma que una persona puede completar la reserva. ¿Sigue siendo cierto si cien personas reservan al mismo tiempo?</a:t>
            </a:r>
            <a:endParaRPr lang="en-US" sz="1500" dirty="0"/>
          </a:p>
        </p:txBody>
      </p:sp>
      <p:sp>
        <p:nvSpPr>
          <p:cNvPr id="26" name="Shape 23"/>
          <p:cNvSpPr/>
          <p:nvPr/>
        </p:nvSpPr>
        <p:spPr>
          <a:xfrm>
            <a:off x="658368" y="5650992"/>
            <a:ext cx="10874959" cy="548640"/>
          </a:xfrm>
          <a:prstGeom prst="rect">
            <a:avLst/>
          </a:prstGeom>
          <a:solidFill>
            <a:srgbClr val="102A43"/>
          </a:solidFill>
          <a:ln w="12700">
            <a:solidFill>
              <a:srgbClr val="102A43"/>
            </a:solidFill>
            <a:prstDash val="solid"/>
          </a:ln>
        </p:spPr>
      </p:sp>
      <p:sp>
        <p:nvSpPr>
          <p:cNvPr id="27" name="Text 24"/>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Hoy se probó qué hace el sistema. A las 11:00, cómo lo hace.</a:t>
            </a:r>
            <a:endParaRPr lang="en-US" sz="138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5\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62</a:t>
            </a:r>
            <a:endParaRPr lang="en-US" sz="1400" dirty="0"/>
          </a:p>
        </p:txBody>
      </p:sp>
      <p:sp>
        <p:nvSpPr>
          <p:cNvPr id="8" name="Text 5"/>
          <p:cNvSpPr txBox="1"/>
          <p:nvPr/>
        </p:nvSpPr>
        <p:spPr>
          <a:xfrm>
            <a:off x="658368" y="82296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MENSAJE FINAL</a:t>
            </a:r>
            <a:endParaRPr lang="en-US" sz="960" dirty="0"/>
          </a:p>
        </p:txBody>
      </p:sp>
      <p:sp>
        <p:nvSpPr>
          <p:cNvPr id="9" name="Shape 6"/>
          <p:cNvSpPr/>
          <p:nvPr/>
        </p:nvSpPr>
        <p:spPr>
          <a:xfrm>
            <a:off x="658368" y="1188720"/>
            <a:ext cx="2622728" cy="822960"/>
          </a:xfrm>
          <a:prstGeom prst="rect">
            <a:avLst/>
          </a:prstGeom>
          <a:solidFill>
            <a:srgbClr val="1D3A57"/>
          </a:solidFill>
          <a:ln w="12700">
            <a:solidFill>
              <a:srgbClr val="1D3A57"/>
            </a:solidFill>
            <a:prstDash val="solid"/>
          </a:ln>
        </p:spPr>
      </p:sp>
      <p:sp>
        <p:nvSpPr>
          <p:cNvPr id="10" name="Shape 7"/>
          <p:cNvSpPr/>
          <p:nvPr/>
        </p:nvSpPr>
        <p:spPr>
          <a:xfrm>
            <a:off x="658368" y="1188720"/>
            <a:ext cx="2622728" cy="45720"/>
          </a:xfrm>
          <a:prstGeom prst="rect">
            <a:avLst/>
          </a:prstGeom>
          <a:solidFill>
            <a:srgbClr val="E0BC5A"/>
          </a:solidFill>
          <a:ln w="12700">
            <a:solidFill>
              <a:srgbClr val="E0BC5A"/>
            </a:solidFill>
            <a:prstDash val="solid"/>
          </a:ln>
        </p:spPr>
      </p:sp>
      <p:sp>
        <p:nvSpPr>
          <p:cNvPr id="11" name="Text 8"/>
          <p:cNvSpPr txBox="1"/>
          <p:nvPr/>
        </p:nvSpPr>
        <p:spPr>
          <a:xfrm>
            <a:off x="822960" y="1280160"/>
            <a:ext cx="2330120" cy="676656"/>
          </a:xfrm>
          <a:prstGeom prst="rect">
            <a:avLst/>
          </a:prstGeom>
          <a:noFill/>
          <a:ln/>
        </p:spPr>
        <p:txBody>
          <a:bodyPr wrap="square" lIns="0" tIns="0" rIns="0" bIns="0" rtlCol="0" anchor="t"/>
          <a:lstStyle/>
          <a:p>
            <a:pPr algn="l" indent="0" marL="0">
              <a:lnSpc>
                <a:spcPct val="110000"/>
              </a:lnSpc>
              <a:buNone/>
            </a:pPr>
            <a:r>
              <a:rPr lang="en-US" sz="1060" dirty="0">
                <a:solidFill>
                  <a:srgbClr val="EADFD0"/>
                </a:solidFill>
                <a:latin typeface="Aptos" pitchFamily="34" charset="0"/>
                <a:ea typeface="Aptos" pitchFamily="34" charset="-122"/>
                <a:cs typeface="Aptos" pitchFamily="34" charset="-120"/>
              </a:rPr>
              <a:t>La API respondió el campo exacto, y la pantalla mostró [object Object].</a:t>
            </a:r>
            <a:endParaRPr lang="en-US" sz="1060" dirty="0"/>
          </a:p>
        </p:txBody>
      </p:sp>
      <p:sp>
        <p:nvSpPr>
          <p:cNvPr id="12" name="Shape 9"/>
          <p:cNvSpPr/>
          <p:nvPr/>
        </p:nvSpPr>
        <p:spPr>
          <a:xfrm>
            <a:off x="3409112" y="1188720"/>
            <a:ext cx="2622728" cy="822960"/>
          </a:xfrm>
          <a:prstGeom prst="rect">
            <a:avLst/>
          </a:prstGeom>
          <a:solidFill>
            <a:srgbClr val="1D3A57"/>
          </a:solidFill>
          <a:ln w="12700">
            <a:solidFill>
              <a:srgbClr val="1D3A57"/>
            </a:solidFill>
            <a:prstDash val="solid"/>
          </a:ln>
        </p:spPr>
      </p:sp>
      <p:sp>
        <p:nvSpPr>
          <p:cNvPr id="13" name="Shape 10"/>
          <p:cNvSpPr/>
          <p:nvPr/>
        </p:nvSpPr>
        <p:spPr>
          <a:xfrm>
            <a:off x="3409112" y="1188720"/>
            <a:ext cx="2622728" cy="45720"/>
          </a:xfrm>
          <a:prstGeom prst="rect">
            <a:avLst/>
          </a:prstGeom>
          <a:solidFill>
            <a:srgbClr val="E0BC5A"/>
          </a:solidFill>
          <a:ln w="12700">
            <a:solidFill>
              <a:srgbClr val="E0BC5A"/>
            </a:solidFill>
            <a:prstDash val="solid"/>
          </a:ln>
        </p:spPr>
      </p:sp>
      <p:sp>
        <p:nvSpPr>
          <p:cNvPr id="14" name="Text 11"/>
          <p:cNvSpPr txBox="1"/>
          <p:nvPr/>
        </p:nvSpPr>
        <p:spPr>
          <a:xfrm>
            <a:off x="3573704" y="1280160"/>
            <a:ext cx="2330120" cy="676656"/>
          </a:xfrm>
          <a:prstGeom prst="rect">
            <a:avLst/>
          </a:prstGeom>
          <a:noFill/>
          <a:ln/>
        </p:spPr>
        <p:txBody>
          <a:bodyPr wrap="square" lIns="0" tIns="0" rIns="0" bIns="0" rtlCol="0" anchor="t"/>
          <a:lstStyle/>
          <a:p>
            <a:pPr algn="l" indent="0" marL="0">
              <a:lnSpc>
                <a:spcPct val="110000"/>
              </a:lnSpc>
              <a:buNone/>
            </a:pPr>
            <a:r>
              <a:rPr lang="en-US" sz="1060" dirty="0">
                <a:solidFill>
                  <a:srgbClr val="EADFD0"/>
                </a:solidFill>
                <a:latin typeface="Aptos" pitchFamily="34" charset="0"/>
                <a:ea typeface="Aptos" pitchFamily="34" charset="-122"/>
                <a:cs typeface="Aptos" pitchFamily="34" charset="-120"/>
              </a:rPr>
              <a:t>La espera fija pasaba diez de diez en una máquina, y fallaba en otra.</a:t>
            </a:r>
            <a:endParaRPr lang="en-US" sz="1060" dirty="0"/>
          </a:p>
        </p:txBody>
      </p:sp>
      <p:sp>
        <p:nvSpPr>
          <p:cNvPr id="15" name="Shape 12"/>
          <p:cNvSpPr/>
          <p:nvPr/>
        </p:nvSpPr>
        <p:spPr>
          <a:xfrm>
            <a:off x="6159856" y="1188720"/>
            <a:ext cx="2622728" cy="822960"/>
          </a:xfrm>
          <a:prstGeom prst="rect">
            <a:avLst/>
          </a:prstGeom>
          <a:solidFill>
            <a:srgbClr val="1D3A57"/>
          </a:solidFill>
          <a:ln w="12700">
            <a:solidFill>
              <a:srgbClr val="1D3A57"/>
            </a:solidFill>
            <a:prstDash val="solid"/>
          </a:ln>
        </p:spPr>
      </p:sp>
      <p:sp>
        <p:nvSpPr>
          <p:cNvPr id="16" name="Shape 13"/>
          <p:cNvSpPr/>
          <p:nvPr/>
        </p:nvSpPr>
        <p:spPr>
          <a:xfrm>
            <a:off x="6159856" y="1188720"/>
            <a:ext cx="2622728" cy="45720"/>
          </a:xfrm>
          <a:prstGeom prst="rect">
            <a:avLst/>
          </a:prstGeom>
          <a:solidFill>
            <a:srgbClr val="E0BC5A"/>
          </a:solidFill>
          <a:ln w="12700">
            <a:solidFill>
              <a:srgbClr val="E0BC5A"/>
            </a:solidFill>
            <a:prstDash val="solid"/>
          </a:ln>
        </p:spPr>
      </p:sp>
      <p:sp>
        <p:nvSpPr>
          <p:cNvPr id="17" name="Text 14"/>
          <p:cNvSpPr txBox="1"/>
          <p:nvPr/>
        </p:nvSpPr>
        <p:spPr>
          <a:xfrm>
            <a:off x="6324448" y="1280160"/>
            <a:ext cx="2330120" cy="676656"/>
          </a:xfrm>
          <a:prstGeom prst="rect">
            <a:avLst/>
          </a:prstGeom>
          <a:noFill/>
          <a:ln/>
        </p:spPr>
        <p:txBody>
          <a:bodyPr wrap="square" lIns="0" tIns="0" rIns="0" bIns="0" rtlCol="0" anchor="t"/>
          <a:lstStyle/>
          <a:p>
            <a:pPr algn="l" indent="0" marL="0">
              <a:lnSpc>
                <a:spcPct val="110000"/>
              </a:lnSpc>
              <a:buNone/>
            </a:pPr>
            <a:r>
              <a:rPr lang="en-US" sz="1060" dirty="0">
                <a:solidFill>
                  <a:srgbClr val="EADFD0"/>
                </a:solidFill>
                <a:latin typeface="Aptos" pitchFamily="34" charset="0"/>
                <a:ea typeface="Aptos" pitchFamily="34" charset="-122"/>
                <a:cs typeface="Aptos" pitchFamily="34" charset="-120"/>
              </a:rPr>
              <a:t>El agente afirmó con seguridad un comportamiento que el sistema no tiene.</a:t>
            </a:r>
            <a:endParaRPr lang="en-US" sz="1060" dirty="0"/>
          </a:p>
        </p:txBody>
      </p:sp>
      <p:sp>
        <p:nvSpPr>
          <p:cNvPr id="18" name="Shape 15"/>
          <p:cNvSpPr/>
          <p:nvPr/>
        </p:nvSpPr>
        <p:spPr>
          <a:xfrm>
            <a:off x="8910599" y="1188720"/>
            <a:ext cx="2622728" cy="822960"/>
          </a:xfrm>
          <a:prstGeom prst="rect">
            <a:avLst/>
          </a:prstGeom>
          <a:solidFill>
            <a:srgbClr val="1D3A57"/>
          </a:solidFill>
          <a:ln w="12700">
            <a:solidFill>
              <a:srgbClr val="1D3A57"/>
            </a:solidFill>
            <a:prstDash val="solid"/>
          </a:ln>
        </p:spPr>
      </p:sp>
      <p:sp>
        <p:nvSpPr>
          <p:cNvPr id="19" name="Shape 16"/>
          <p:cNvSpPr/>
          <p:nvPr/>
        </p:nvSpPr>
        <p:spPr>
          <a:xfrm>
            <a:off x="8910599" y="1188720"/>
            <a:ext cx="2622728" cy="45720"/>
          </a:xfrm>
          <a:prstGeom prst="rect">
            <a:avLst/>
          </a:prstGeom>
          <a:solidFill>
            <a:srgbClr val="E0BC5A"/>
          </a:solidFill>
          <a:ln w="12700">
            <a:solidFill>
              <a:srgbClr val="E0BC5A"/>
            </a:solidFill>
            <a:prstDash val="solid"/>
          </a:ln>
        </p:spPr>
      </p:sp>
      <p:sp>
        <p:nvSpPr>
          <p:cNvPr id="20" name="Text 17"/>
          <p:cNvSpPr txBox="1"/>
          <p:nvPr/>
        </p:nvSpPr>
        <p:spPr>
          <a:xfrm>
            <a:off x="9075191" y="1280160"/>
            <a:ext cx="2330120" cy="676656"/>
          </a:xfrm>
          <a:prstGeom prst="rect">
            <a:avLst/>
          </a:prstGeom>
          <a:noFill/>
          <a:ln/>
        </p:spPr>
        <p:txBody>
          <a:bodyPr wrap="square" lIns="0" tIns="0" rIns="0" bIns="0" rtlCol="0" anchor="t"/>
          <a:lstStyle/>
          <a:p>
            <a:pPr algn="l" indent="0" marL="0">
              <a:lnSpc>
                <a:spcPct val="110000"/>
              </a:lnSpc>
              <a:buNone/>
            </a:pPr>
            <a:r>
              <a:rPr lang="en-US" sz="1060" dirty="0">
                <a:solidFill>
                  <a:srgbClr val="EADFD0"/>
                </a:solidFill>
                <a:latin typeface="Aptos" pitchFamily="34" charset="0"/>
                <a:ea typeface="Aptos" pitchFamily="34" charset="-122"/>
                <a:cs typeface="Aptos" pitchFamily="34" charset="-120"/>
              </a:rPr>
              <a:t>La prueba del mensaje pasó leyendo una confirmación que duró un instante.</a:t>
            </a:r>
            <a:endParaRPr lang="en-US" sz="1060" dirty="0"/>
          </a:p>
        </p:txBody>
      </p:sp>
      <p:sp>
        <p:nvSpPr>
          <p:cNvPr id="21" name="Text 18"/>
          <p:cNvSpPr txBox="1"/>
          <p:nvPr/>
        </p:nvSpPr>
        <p:spPr>
          <a:xfrm>
            <a:off x="658368" y="2194560"/>
            <a:ext cx="10874959" cy="274320"/>
          </a:xfrm>
          <a:prstGeom prst="rect">
            <a:avLst/>
          </a:prstGeom>
          <a:noFill/>
          <a:ln/>
        </p:spPr>
        <p:txBody>
          <a:bodyPr wrap="square" lIns="0" tIns="0" rIns="0" bIns="0" rtlCol="0" anchor="t"/>
          <a:lstStyle/>
          <a:p>
            <a:pPr algn="l" indent="0" marL="0">
              <a:buNone/>
            </a:pPr>
            <a:r>
              <a:rPr lang="en-US" sz="1300" b="1" dirty="0">
                <a:solidFill>
                  <a:srgbClr val="E0BC5A"/>
                </a:solidFill>
                <a:latin typeface="Aptos" pitchFamily="34" charset="0"/>
                <a:ea typeface="Aptos" pitchFamily="34" charset="-122"/>
                <a:cs typeface="Aptos" pitchFamily="34" charset="-120"/>
              </a:rPr>
              <a:t>En todos los casos, lo que se veía en un instante no era lo que ocurría.</a:t>
            </a:r>
            <a:endParaRPr lang="en-US" sz="1300" dirty="0"/>
          </a:p>
        </p:txBody>
      </p:sp>
      <p:sp>
        <p:nvSpPr>
          <p:cNvPr id="22" name="Shape 19"/>
          <p:cNvSpPr/>
          <p:nvPr/>
        </p:nvSpPr>
        <p:spPr>
          <a:xfrm>
            <a:off x="658368" y="2907792"/>
            <a:ext cx="3840480" cy="0"/>
          </a:xfrm>
          <a:prstGeom prst="line">
            <a:avLst/>
          </a:prstGeom>
          <a:noFill/>
          <a:ln w="12700">
            <a:solidFill>
              <a:srgbClr val="E0BC5A"/>
            </a:solidFill>
            <a:prstDash val="solid"/>
            <a:headEnd type="none"/>
            <a:tailEnd type="none"/>
          </a:ln>
        </p:spPr>
      </p:sp>
      <p:sp>
        <p:nvSpPr>
          <p:cNvPr id="23" name="Text 20"/>
          <p:cNvSpPr txBox="1"/>
          <p:nvPr/>
        </p:nvSpPr>
        <p:spPr>
          <a:xfrm>
            <a:off x="658368" y="3108960"/>
            <a:ext cx="10874959" cy="1554480"/>
          </a:xfrm>
          <a:prstGeom prst="rect">
            <a:avLst/>
          </a:prstGeom>
          <a:noFill/>
          <a:ln/>
        </p:spPr>
        <p:txBody>
          <a:bodyPr wrap="square" lIns="0" tIns="0" rIns="0" bIns="0" rtlCol="0" anchor="t"/>
          <a:lstStyle/>
          <a:p>
            <a:pPr algn="l" indent="0" marL="0">
              <a:lnSpc>
                <a:spcPct val="118000"/>
              </a:lnSpc>
              <a:buNone/>
            </a:pPr>
            <a:r>
              <a:rPr lang="en-US" sz="1900" b="1" dirty="0">
                <a:solidFill>
                  <a:srgbClr val="FFFFFF"/>
                </a:solidFill>
                <a:latin typeface="Aptos Display" pitchFamily="34" charset="0"/>
                <a:ea typeface="Aptos Display" pitchFamily="34" charset="-122"/>
                <a:cs typeface="Aptos Display" pitchFamily="34" charset="-120"/>
              </a:rPr>
              <a:t>Una persona no lee el contrato de un sistema: lee lo que la pantalla le muestra, en el momento en que se lo muestra. Probar desde ese lugar exige esperar lo que todavía no llega, desconfiar de lo que se vio una sola vez, y convertir cada «confunde» en algo que una prueba pueda contradecir.</a:t>
            </a:r>
            <a:endParaRPr lang="en-US" sz="1900" dirty="0"/>
          </a:p>
        </p:txBody>
      </p:sp>
      <p:sp>
        <p:nvSpPr>
          <p:cNvPr id="24" name="Text 21"/>
          <p:cNvSpPr txBox="1"/>
          <p:nvPr/>
        </p:nvSpPr>
        <p:spPr>
          <a:xfrm>
            <a:off x="658368" y="4846320"/>
            <a:ext cx="10874959" cy="731520"/>
          </a:xfrm>
          <a:prstGeom prst="rect">
            <a:avLst/>
          </a:prstGeom>
          <a:noFill/>
          <a:ln/>
        </p:spPr>
        <p:txBody>
          <a:bodyPr wrap="square" lIns="0" tIns="0" rIns="0" bIns="0" rtlCol="0" anchor="t"/>
          <a:lstStyle/>
          <a:p>
            <a:pPr algn="l" indent="0" marL="0">
              <a:lnSpc>
                <a:spcPct val="118000"/>
              </a:lnSpc>
              <a:buNone/>
            </a:pPr>
            <a:r>
              <a:rPr lang="en-US" sz="1500" dirty="0">
                <a:solidFill>
                  <a:srgbClr val="EADFD0"/>
                </a:solidFill>
                <a:latin typeface="Aptos" pitchFamily="34" charset="0"/>
                <a:ea typeface="Aptos" pitchFamily="34" charset="-122"/>
                <a:cs typeface="Aptos" pitchFamily="34" charset="-120"/>
              </a:rPr>
              <a:t>Un agente recorre la pantalla más rápido que cualquiera. Decidir qué le debe el sistema a quien la usa sigue siendo trabajo de quien firma.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AIEP Osorno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persona no lee el contrato</dc:title>
  <dc:subject>PRO402 · Clase 13</dc:subject>
  <dc:creator>Diego Obando</dc:creator>
  <cp:lastModifiedBy>Diego Obando</cp:lastModifiedBy>
  <cp:revision>1</cp:revision>
  <dcterms:created xsi:type="dcterms:W3CDTF">2026-09-26T00:00:55Z</dcterms:created>
  <dcterms:modified xsi:type="dcterms:W3CDTF">2026-09-26T00:00:55Z</dcterms:modified>
</cp:coreProperties>
</file>