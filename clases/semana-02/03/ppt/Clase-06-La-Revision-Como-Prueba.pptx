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2\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01</a:t>
            </a:r>
            <a:endParaRPr lang="en-US" sz="1400" dirty="0"/>
          </a:p>
        </p:txBody>
      </p:sp>
      <p:sp>
        <p:nvSpPr>
          <p:cNvPr id="8" name="Text 5"/>
          <p:cNvSpPr txBox="1"/>
          <p:nvPr/>
        </p:nvSpPr>
        <p:spPr>
          <a:xfrm>
            <a:off x="658368" y="1298448"/>
            <a:ext cx="7680960" cy="237744"/>
          </a:xfrm>
          <a:prstGeom prst="rect">
            <a:avLst/>
          </a:prstGeom>
          <a:noFill/>
          <a:ln/>
        </p:spPr>
        <p:txBody>
          <a:bodyPr wrap="square" lIns="0" tIns="0" rIns="0" bIns="0" rtlCol="0" anchor="t"/>
          <a:lstStyle/>
          <a:p>
            <a:pPr algn="l" indent="0" marL="0">
              <a:buNone/>
            </a:pPr>
            <a:r>
              <a:rPr lang="en-US" sz="1160" b="1" spc="210" kern="0" dirty="0">
                <a:solidFill>
                  <a:srgbClr val="E0BC5A"/>
                </a:solidFill>
                <a:latin typeface="Aptos" pitchFamily="34" charset="0"/>
                <a:ea typeface="Aptos" pitchFamily="34" charset="-122"/>
                <a:cs typeface="Aptos" pitchFamily="34" charset="-120"/>
              </a:rPr>
              <a:t>PRO402 · CLASE 06 · UNIDAD 01</a:t>
            </a:r>
            <a:endParaRPr lang="en-US" sz="1160" dirty="0"/>
          </a:p>
        </p:txBody>
      </p:sp>
      <p:sp>
        <p:nvSpPr>
          <p:cNvPr id="9" name="Text 6"/>
          <p:cNvSpPr txBox="1"/>
          <p:nvPr/>
        </p:nvSpPr>
        <p:spPr>
          <a:xfrm>
            <a:off x="658368" y="1700784"/>
            <a:ext cx="10058400" cy="1024128"/>
          </a:xfrm>
          <a:prstGeom prst="rect">
            <a:avLst/>
          </a:prstGeom>
          <a:noFill/>
          <a:ln/>
        </p:spPr>
        <p:txBody>
          <a:bodyPr wrap="square" lIns="0" tIns="0" rIns="0" bIns="0" rtlCol="0" anchor="t"/>
          <a:lstStyle/>
          <a:p>
            <a:pPr algn="l" indent="0" marL="0">
              <a:buNone/>
            </a:pPr>
            <a:r>
              <a:rPr lang="en-US" sz="5200" b="1" dirty="0">
                <a:solidFill>
                  <a:srgbClr val="FFFFFF"/>
                </a:solidFill>
                <a:latin typeface="Aptos Display" pitchFamily="34" charset="0"/>
                <a:ea typeface="Aptos Display" pitchFamily="34" charset="-122"/>
                <a:cs typeface="Aptos Display" pitchFamily="34" charset="-120"/>
              </a:rPr>
              <a:t>La revisión como prueba</a:t>
            </a:r>
            <a:endParaRPr lang="en-US" sz="5200" dirty="0"/>
          </a:p>
        </p:txBody>
      </p:sp>
      <p:sp>
        <p:nvSpPr>
          <p:cNvPr id="10" name="Shape 7"/>
          <p:cNvSpPr/>
          <p:nvPr/>
        </p:nvSpPr>
        <p:spPr>
          <a:xfrm>
            <a:off x="658368" y="2871216"/>
            <a:ext cx="2377440" cy="82296"/>
          </a:xfrm>
          <a:prstGeom prst="rect">
            <a:avLst/>
          </a:prstGeom>
          <a:solidFill>
            <a:srgbClr val="D62027"/>
          </a:solidFill>
          <a:ln w="12700">
            <a:solidFill>
              <a:srgbClr val="D62027"/>
            </a:solidFill>
            <a:prstDash val="solid"/>
          </a:ln>
        </p:spPr>
      </p:sp>
      <p:sp>
        <p:nvSpPr>
          <p:cNvPr id="11" name="Text 8"/>
          <p:cNvSpPr txBox="1"/>
          <p:nvPr/>
        </p:nvSpPr>
        <p:spPr>
          <a:xfrm>
            <a:off x="658368" y="3145536"/>
            <a:ext cx="8686800" cy="731520"/>
          </a:xfrm>
          <a:prstGeom prst="rect">
            <a:avLst/>
          </a:prstGeom>
          <a:noFill/>
          <a:ln/>
        </p:spPr>
        <p:txBody>
          <a:bodyPr wrap="square" lIns="0" tIns="0" rIns="0" bIns="0" rtlCol="0" anchor="t"/>
          <a:lstStyle/>
          <a:p>
            <a:pPr algn="l" indent="0" marL="0">
              <a:lnSpc>
                <a:spcPct val="124000"/>
              </a:lnSpc>
              <a:buNone/>
            </a:pPr>
            <a:r>
              <a:rPr lang="en-US" sz="2000" dirty="0">
                <a:solidFill>
                  <a:srgbClr val="E6EEF7"/>
                </a:solidFill>
                <a:latin typeface="Aptos" pitchFamily="34" charset="0"/>
                <a:ea typeface="Aptos" pitchFamily="34" charset="-122"/>
                <a:cs typeface="Aptos" pitchFamily="34" charset="-120"/>
              </a:rPr>
              <a:t>Qué separa una lectura del código de una opinión sobre el código</a:t>
            </a:r>
            <a:endParaRPr lang="en-US" sz="2000" dirty="0"/>
          </a:p>
        </p:txBody>
      </p:sp>
      <p:sp>
        <p:nvSpPr>
          <p:cNvPr id="12" name="Shape 9"/>
          <p:cNvSpPr/>
          <p:nvPr/>
        </p:nvSpPr>
        <p:spPr>
          <a:xfrm>
            <a:off x="658368" y="4261104"/>
            <a:ext cx="310896" cy="45720"/>
          </a:xfrm>
          <a:prstGeom prst="rect">
            <a:avLst/>
          </a:prstGeom>
          <a:solidFill>
            <a:srgbClr val="D62027"/>
          </a:solidFill>
          <a:ln w="12700">
            <a:solidFill>
              <a:srgbClr val="D62027"/>
            </a:solidFill>
            <a:prstDash val="solid"/>
          </a:ln>
        </p:spPr>
      </p:sp>
      <p:sp>
        <p:nvSpPr>
          <p:cNvPr id="13" name="Text 10"/>
          <p:cNvSpPr txBox="1"/>
          <p:nvPr/>
        </p:nvSpPr>
        <p:spPr>
          <a:xfrm>
            <a:off x="658368" y="4443984"/>
            <a:ext cx="3108960" cy="201168"/>
          </a:xfrm>
          <a:prstGeom prst="rect">
            <a:avLst/>
          </a:prstGeom>
          <a:noFill/>
          <a:ln/>
        </p:spPr>
        <p:txBody>
          <a:bodyPr wrap="square" lIns="0" tIns="0" rIns="0" bIns="0" rtlCol="0" anchor="t"/>
          <a:lstStyle/>
          <a:p>
            <a:pPr algn="l" indent="0" marL="0">
              <a:buNone/>
            </a:pPr>
            <a:r>
              <a:rPr lang="en-US" sz="960" b="1" spc="150" kern="0" dirty="0">
                <a:solidFill>
                  <a:srgbClr val="8AA0B6"/>
                </a:solidFill>
                <a:latin typeface="Aptos" pitchFamily="34" charset="0"/>
                <a:ea typeface="Aptos" pitchFamily="34" charset="-122"/>
                <a:cs typeface="Aptos" pitchFamily="34" charset="-120"/>
              </a:rPr>
              <a:t>FECHA</a:t>
            </a:r>
            <a:endParaRPr lang="en-US" sz="960" dirty="0"/>
          </a:p>
        </p:txBody>
      </p:sp>
      <p:sp>
        <p:nvSpPr>
          <p:cNvPr id="14" name="Text 11"/>
          <p:cNvSpPr txBox="1"/>
          <p:nvPr/>
        </p:nvSpPr>
        <p:spPr>
          <a:xfrm>
            <a:off x="658368" y="4718304"/>
            <a:ext cx="3291840" cy="310896"/>
          </a:xfrm>
          <a:prstGeom prst="rect">
            <a:avLst/>
          </a:prstGeom>
          <a:noFill/>
          <a:ln/>
        </p:spPr>
        <p:txBody>
          <a:bodyPr wrap="square" lIns="0" tIns="0" rIns="0" bIns="0" rtlCol="0" anchor="t"/>
          <a:lstStyle/>
          <a:p>
            <a:pPr algn="l" indent="0" marL="0">
              <a:buNone/>
            </a:pPr>
            <a:r>
              <a:rPr lang="en-US" sz="1450" b="1" dirty="0">
                <a:solidFill>
                  <a:srgbClr val="FFFFFF"/>
                </a:solidFill>
                <a:latin typeface="Aptos" pitchFamily="34" charset="0"/>
                <a:ea typeface="Aptos" pitchFamily="34" charset="-122"/>
                <a:cs typeface="Aptos" pitchFamily="34" charset="-120"/>
              </a:rPr>
              <a:t>Martes 1 de septiembre de 2026</a:t>
            </a:r>
            <a:endParaRPr lang="en-US" sz="1450" dirty="0"/>
          </a:p>
        </p:txBody>
      </p:sp>
      <p:sp>
        <p:nvSpPr>
          <p:cNvPr id="15" name="Shape 12"/>
          <p:cNvSpPr/>
          <p:nvPr/>
        </p:nvSpPr>
        <p:spPr>
          <a:xfrm>
            <a:off x="4178808" y="4261104"/>
            <a:ext cx="310896" cy="45720"/>
          </a:xfrm>
          <a:prstGeom prst="rect">
            <a:avLst/>
          </a:prstGeom>
          <a:solidFill>
            <a:srgbClr val="63C6D8"/>
          </a:solidFill>
          <a:ln w="12700">
            <a:solidFill>
              <a:srgbClr val="63C6D8"/>
            </a:solidFill>
            <a:prstDash val="solid"/>
          </a:ln>
        </p:spPr>
      </p:sp>
      <p:sp>
        <p:nvSpPr>
          <p:cNvPr id="16" name="Text 13"/>
          <p:cNvSpPr txBox="1"/>
          <p:nvPr/>
        </p:nvSpPr>
        <p:spPr>
          <a:xfrm>
            <a:off x="4178808" y="4443984"/>
            <a:ext cx="3108960" cy="201168"/>
          </a:xfrm>
          <a:prstGeom prst="rect">
            <a:avLst/>
          </a:prstGeom>
          <a:noFill/>
          <a:ln/>
        </p:spPr>
        <p:txBody>
          <a:bodyPr wrap="square" lIns="0" tIns="0" rIns="0" bIns="0" rtlCol="0" anchor="t"/>
          <a:lstStyle/>
          <a:p>
            <a:pPr algn="l" indent="0" marL="0">
              <a:buNone/>
            </a:pPr>
            <a:r>
              <a:rPr lang="en-US" sz="960" b="1" spc="150" kern="0" dirty="0">
                <a:solidFill>
                  <a:srgbClr val="8AA0B6"/>
                </a:solidFill>
                <a:latin typeface="Aptos" pitchFamily="34" charset="0"/>
                <a:ea typeface="Aptos" pitchFamily="34" charset="-122"/>
                <a:cs typeface="Aptos" pitchFamily="34" charset="-120"/>
              </a:rPr>
              <a:t>HORARIO</a:t>
            </a:r>
            <a:endParaRPr lang="en-US" sz="960" dirty="0"/>
          </a:p>
        </p:txBody>
      </p:sp>
      <p:sp>
        <p:nvSpPr>
          <p:cNvPr id="17" name="Text 14"/>
          <p:cNvSpPr txBox="1"/>
          <p:nvPr/>
        </p:nvSpPr>
        <p:spPr>
          <a:xfrm>
            <a:off x="4178808" y="4718304"/>
            <a:ext cx="3291840" cy="310896"/>
          </a:xfrm>
          <a:prstGeom prst="rect">
            <a:avLst/>
          </a:prstGeom>
          <a:noFill/>
          <a:ln/>
        </p:spPr>
        <p:txBody>
          <a:bodyPr wrap="square" lIns="0" tIns="0" rIns="0" bIns="0" rtlCol="0" anchor="t"/>
          <a:lstStyle/>
          <a:p>
            <a:pPr algn="l" indent="0" marL="0">
              <a:buNone/>
            </a:pPr>
            <a:r>
              <a:rPr lang="en-US" sz="1450" b="1" dirty="0">
                <a:solidFill>
                  <a:srgbClr val="FFFFFF"/>
                </a:solidFill>
                <a:latin typeface="Aptos" pitchFamily="34" charset="0"/>
                <a:ea typeface="Aptos" pitchFamily="34" charset="-122"/>
                <a:cs typeface="Aptos" pitchFamily="34" charset="-120"/>
              </a:rPr>
              <a:t>08:30 – 10:50 · 140 minutos</a:t>
            </a:r>
            <a:endParaRPr lang="en-US" sz="1450" dirty="0"/>
          </a:p>
        </p:txBody>
      </p:sp>
      <p:sp>
        <p:nvSpPr>
          <p:cNvPr id="18" name="Shape 15"/>
          <p:cNvSpPr/>
          <p:nvPr/>
        </p:nvSpPr>
        <p:spPr>
          <a:xfrm>
            <a:off x="7699248" y="4261104"/>
            <a:ext cx="310896" cy="45720"/>
          </a:xfrm>
          <a:prstGeom prst="rect">
            <a:avLst/>
          </a:prstGeom>
          <a:solidFill>
            <a:srgbClr val="E0BC5A"/>
          </a:solidFill>
          <a:ln w="12700">
            <a:solidFill>
              <a:srgbClr val="E0BC5A"/>
            </a:solidFill>
            <a:prstDash val="solid"/>
          </a:ln>
        </p:spPr>
      </p:sp>
      <p:sp>
        <p:nvSpPr>
          <p:cNvPr id="19" name="Text 16"/>
          <p:cNvSpPr txBox="1"/>
          <p:nvPr/>
        </p:nvSpPr>
        <p:spPr>
          <a:xfrm>
            <a:off x="7699248" y="4443984"/>
            <a:ext cx="3108960" cy="201168"/>
          </a:xfrm>
          <a:prstGeom prst="rect">
            <a:avLst/>
          </a:prstGeom>
          <a:noFill/>
          <a:ln/>
        </p:spPr>
        <p:txBody>
          <a:bodyPr wrap="square" lIns="0" tIns="0" rIns="0" bIns="0" rtlCol="0" anchor="t"/>
          <a:lstStyle/>
          <a:p>
            <a:pPr algn="l" indent="0" marL="0">
              <a:buNone/>
            </a:pPr>
            <a:r>
              <a:rPr lang="en-US" sz="960" b="1" spc="150" kern="0" dirty="0">
                <a:solidFill>
                  <a:srgbClr val="8AA0B6"/>
                </a:solidFill>
                <a:latin typeface="Aptos" pitchFamily="34" charset="0"/>
                <a:ea typeface="Aptos" pitchFamily="34" charset="-122"/>
                <a:cs typeface="Aptos" pitchFamily="34" charset="-120"/>
              </a:rPr>
              <a:t>DOCENTE</a:t>
            </a:r>
            <a:endParaRPr lang="en-US" sz="960" dirty="0"/>
          </a:p>
        </p:txBody>
      </p:sp>
      <p:sp>
        <p:nvSpPr>
          <p:cNvPr id="20" name="Text 17"/>
          <p:cNvSpPr txBox="1"/>
          <p:nvPr/>
        </p:nvSpPr>
        <p:spPr>
          <a:xfrm>
            <a:off x="7699248" y="4718304"/>
            <a:ext cx="3291840" cy="310896"/>
          </a:xfrm>
          <a:prstGeom prst="rect">
            <a:avLst/>
          </a:prstGeom>
          <a:noFill/>
          <a:ln/>
        </p:spPr>
        <p:txBody>
          <a:bodyPr wrap="square" lIns="0" tIns="0" rIns="0" bIns="0" rtlCol="0" anchor="t"/>
          <a:lstStyle/>
          <a:p>
            <a:pPr algn="l" indent="0" marL="0">
              <a:buNone/>
            </a:pPr>
            <a:r>
              <a:rPr lang="en-US" sz="1450" b="1" dirty="0">
                <a:solidFill>
                  <a:srgbClr val="FFFFFF"/>
                </a:solidFill>
                <a:latin typeface="Aptos" pitchFamily="34" charset="0"/>
                <a:ea typeface="Aptos" pitchFamily="34" charset="-122"/>
                <a:cs typeface="Aptos" pitchFamily="34" charset="-120"/>
              </a:rPr>
              <a:t>Diego Obando</a:t>
            </a:r>
            <a:endParaRPr lang="en-US" sz="1450" dirty="0"/>
          </a:p>
        </p:txBody>
      </p:sp>
      <p:sp>
        <p:nvSpPr>
          <p:cNvPr id="21" name="Text 18"/>
          <p:cNvSpPr txBox="1"/>
          <p:nvPr/>
        </p:nvSpPr>
        <p:spPr>
          <a:xfrm>
            <a:off x="658368" y="5705856"/>
            <a:ext cx="10424160" cy="274320"/>
          </a:xfrm>
          <a:prstGeom prst="rect">
            <a:avLst/>
          </a:prstGeom>
          <a:noFill/>
          <a:ln/>
        </p:spPr>
        <p:txBody>
          <a:bodyPr wrap="square" lIns="0" tIns="0" rIns="0" bIns="0" rtlCol="0" anchor="t"/>
          <a:lstStyle/>
          <a:p>
            <a:pPr algn="l" indent="0" marL="0">
              <a:buNone/>
            </a:pPr>
            <a:r>
              <a:rPr lang="en-US" sz="1260" dirty="0">
                <a:solidFill>
                  <a:srgbClr val="8AA0B6"/>
                </a:solidFill>
                <a:latin typeface="Aptos" pitchFamily="34" charset="0"/>
                <a:ea typeface="Aptos" pitchFamily="34" charset="-122"/>
                <a:cs typeface="Aptos" pitchFamily="34" charset="-120"/>
              </a:rPr>
              <a:t>Marco de referencia · IEEE 1028-2008, revisiones de software · ISO/IEC/IEEE 29119-1:2022, pruebas estáticas</a:t>
            </a:r>
            <a:endParaRPr lang="en-US" sz="12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PUNTO DE PARTIDA</a:t>
            </a:r>
            <a:endParaRPr lang="en-US" sz="1030" dirty="0"/>
          </a:p>
        </p:txBody>
      </p:sp>
      <p:sp>
        <p:nvSpPr>
          <p:cNvPr id="9" name="Text 6"/>
          <p:cNvSpPr txBox="1"/>
          <p:nvPr/>
        </p:nvSpPr>
        <p:spPr>
          <a:xfrm>
            <a:off x="658368" y="749808"/>
            <a:ext cx="950976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Ayer encontramos defectos sin ejecutar el programa</a:t>
            </a:r>
            <a:endParaRPr lang="en-US" sz="3000" dirty="0"/>
          </a:p>
        </p:txBody>
      </p:sp>
      <p:sp>
        <p:nvSpPr>
          <p:cNvPr id="10" name="Text 7"/>
          <p:cNvSpPr txBox="1"/>
          <p:nvPr/>
        </p:nvSpPr>
        <p:spPr>
          <a:xfrm>
            <a:off x="658368" y="1938528"/>
            <a:ext cx="3840480" cy="219456"/>
          </a:xfrm>
          <a:prstGeom prst="rect">
            <a:avLst/>
          </a:prstGeom>
          <a:noFill/>
          <a:ln/>
        </p:spPr>
        <p:txBody>
          <a:bodyPr wrap="square" lIns="0" tIns="0" rIns="0" bIns="0" rtlCol="0" anchor="t"/>
          <a:lstStyle/>
          <a:p>
            <a:pPr algn="l" indent="0" marL="0">
              <a:buNone/>
            </a:pPr>
            <a:r>
              <a:rPr lang="en-US" sz="1000" b="1" spc="140" kern="0" dirty="0">
                <a:solidFill>
                  <a:srgbClr val="52606D"/>
                </a:solidFill>
                <a:latin typeface="Aptos" pitchFamily="34" charset="0"/>
                <a:ea typeface="Aptos" pitchFamily="34" charset="-122"/>
                <a:cs typeface="Aptos" pitchFamily="34" charset="-120"/>
              </a:rPr>
              <a:t>LO QUE YA TENEMOS</a:t>
            </a:r>
            <a:endParaRPr lang="en-US" sz="1000" dirty="0"/>
          </a:p>
        </p:txBody>
      </p:sp>
      <p:sp>
        <p:nvSpPr>
          <p:cNvPr id="11" name="Shape 8"/>
          <p:cNvSpPr/>
          <p:nvPr/>
        </p:nvSpPr>
        <p:spPr>
          <a:xfrm>
            <a:off x="658368" y="2395728"/>
            <a:ext cx="50292" cy="713232"/>
          </a:xfrm>
          <a:prstGeom prst="rect">
            <a:avLst/>
          </a:prstGeom>
          <a:solidFill>
            <a:srgbClr val="102A43"/>
          </a:solidFill>
          <a:ln w="12700">
            <a:solidFill>
              <a:srgbClr val="102A43"/>
            </a:solidFill>
            <a:prstDash val="solid"/>
          </a:ln>
        </p:spPr>
      </p:sp>
      <p:sp>
        <p:nvSpPr>
          <p:cNvPr id="12" name="Text 9"/>
          <p:cNvSpPr txBox="1"/>
          <p:nvPr/>
        </p:nvSpPr>
        <p:spPr>
          <a:xfrm>
            <a:off x="914400" y="2359152"/>
            <a:ext cx="4114800" cy="292608"/>
          </a:xfrm>
          <a:prstGeom prst="rect">
            <a:avLst/>
          </a:prstGeom>
          <a:noFill/>
          <a:ln/>
        </p:spPr>
        <p:txBody>
          <a:bodyPr wrap="square" lIns="0" tIns="0" rIns="0" bIns="0" rtlCol="0" anchor="t"/>
          <a:lstStyle/>
          <a:p>
            <a:pPr algn="l" indent="0" marL="0">
              <a:buNone/>
            </a:pPr>
            <a:r>
              <a:rPr lang="en-US" sz="1650" b="1" dirty="0">
                <a:solidFill>
                  <a:srgbClr val="243B53"/>
                </a:solidFill>
                <a:latin typeface="Aptos" pitchFamily="34" charset="0"/>
                <a:ea typeface="Aptos" pitchFamily="34" charset="-122"/>
                <a:cs typeface="Aptos" pitchFamily="34" charset="-120"/>
              </a:rPr>
              <a:t>Prueba estática</a:t>
            </a:r>
            <a:endParaRPr lang="en-US" sz="1650" dirty="0"/>
          </a:p>
        </p:txBody>
      </p:sp>
      <p:sp>
        <p:nvSpPr>
          <p:cNvPr id="13" name="Text 10"/>
          <p:cNvSpPr txBox="1"/>
          <p:nvPr/>
        </p:nvSpPr>
        <p:spPr>
          <a:xfrm>
            <a:off x="914400" y="2688336"/>
            <a:ext cx="4114800" cy="475488"/>
          </a:xfrm>
          <a:prstGeom prst="rect">
            <a:avLst/>
          </a:prstGeom>
          <a:noFill/>
          <a:ln/>
        </p:spPr>
        <p:txBody>
          <a:bodyPr wrap="square" lIns="0" tIns="0" rIns="0" bIns="0" rtlCol="0" anchor="t"/>
          <a:lstStyle/>
          <a:p>
            <a:pPr algn="l" indent="0" marL="0">
              <a:lnSpc>
                <a:spcPct val="116000"/>
              </a:lnSpc>
              <a:buNone/>
            </a:pPr>
            <a:r>
              <a:rPr lang="en-US" sz="1280" dirty="0">
                <a:solidFill>
                  <a:srgbClr val="52606D"/>
                </a:solidFill>
                <a:latin typeface="Aptos" pitchFamily="34" charset="0"/>
                <a:ea typeface="Aptos" pitchFamily="34" charset="-122"/>
                <a:cs typeface="Aptos" pitchFamily="34" charset="-120"/>
              </a:rPr>
              <a:t>comprueba el código leyéndolo, sin ponerlo en marcha</a:t>
            </a:r>
            <a:endParaRPr lang="en-US" sz="1280" dirty="0"/>
          </a:p>
        </p:txBody>
      </p:sp>
      <p:sp>
        <p:nvSpPr>
          <p:cNvPr id="14" name="Shape 11"/>
          <p:cNvSpPr/>
          <p:nvPr/>
        </p:nvSpPr>
        <p:spPr>
          <a:xfrm>
            <a:off x="658368" y="3273552"/>
            <a:ext cx="4389120" cy="0"/>
          </a:xfrm>
          <a:prstGeom prst="line">
            <a:avLst/>
          </a:prstGeom>
          <a:noFill/>
          <a:ln w="12700">
            <a:solidFill>
              <a:srgbClr val="D8CFC4"/>
            </a:solidFill>
            <a:prstDash val="solid"/>
            <a:headEnd type="none"/>
            <a:tailEnd type="none"/>
          </a:ln>
        </p:spPr>
      </p:sp>
      <p:sp>
        <p:nvSpPr>
          <p:cNvPr id="15" name="Shape 12"/>
          <p:cNvSpPr/>
          <p:nvPr/>
        </p:nvSpPr>
        <p:spPr>
          <a:xfrm>
            <a:off x="658368" y="3456432"/>
            <a:ext cx="50292" cy="713232"/>
          </a:xfrm>
          <a:prstGeom prst="rect">
            <a:avLst/>
          </a:prstGeom>
          <a:solidFill>
            <a:srgbClr val="0E6E7A"/>
          </a:solidFill>
          <a:ln w="12700">
            <a:solidFill>
              <a:srgbClr val="0E6E7A"/>
            </a:solidFill>
            <a:prstDash val="solid"/>
          </a:ln>
        </p:spPr>
      </p:sp>
      <p:sp>
        <p:nvSpPr>
          <p:cNvPr id="16" name="Text 13"/>
          <p:cNvSpPr txBox="1"/>
          <p:nvPr/>
        </p:nvSpPr>
        <p:spPr>
          <a:xfrm>
            <a:off x="914400" y="3419856"/>
            <a:ext cx="4114800" cy="292608"/>
          </a:xfrm>
          <a:prstGeom prst="rect">
            <a:avLst/>
          </a:prstGeom>
          <a:noFill/>
          <a:ln/>
        </p:spPr>
        <p:txBody>
          <a:bodyPr wrap="square" lIns="0" tIns="0" rIns="0" bIns="0" rtlCol="0" anchor="t"/>
          <a:lstStyle/>
          <a:p>
            <a:pPr algn="l" indent="0" marL="0">
              <a:buNone/>
            </a:pPr>
            <a:r>
              <a:rPr lang="en-US" sz="1650" b="1" dirty="0">
                <a:solidFill>
                  <a:srgbClr val="243B53"/>
                </a:solidFill>
                <a:latin typeface="Aptos" pitchFamily="34" charset="0"/>
                <a:ea typeface="Aptos" pitchFamily="34" charset="-122"/>
                <a:cs typeface="Aptos" pitchFamily="34" charset="-120"/>
              </a:rPr>
              <a:t>pyrefly · verificador de tipos</a:t>
            </a:r>
            <a:endParaRPr lang="en-US" sz="1650" dirty="0"/>
          </a:p>
        </p:txBody>
      </p:sp>
      <p:sp>
        <p:nvSpPr>
          <p:cNvPr id="17" name="Text 14"/>
          <p:cNvSpPr txBox="1"/>
          <p:nvPr/>
        </p:nvSpPr>
        <p:spPr>
          <a:xfrm>
            <a:off x="914400" y="3749040"/>
            <a:ext cx="4114800" cy="475488"/>
          </a:xfrm>
          <a:prstGeom prst="rect">
            <a:avLst/>
          </a:prstGeom>
          <a:noFill/>
          <a:ln/>
        </p:spPr>
        <p:txBody>
          <a:bodyPr wrap="square" lIns="0" tIns="0" rIns="0" bIns="0" rtlCol="0" anchor="t"/>
          <a:lstStyle/>
          <a:p>
            <a:pPr algn="l" indent="0" marL="0">
              <a:lnSpc>
                <a:spcPct val="116000"/>
              </a:lnSpc>
              <a:buNone/>
            </a:pPr>
            <a:r>
              <a:rPr lang="en-US" sz="1280" dirty="0">
                <a:solidFill>
                  <a:srgbClr val="52606D"/>
                </a:solidFill>
                <a:latin typeface="Aptos" pitchFamily="34" charset="0"/>
                <a:ea typeface="Aptos" pitchFamily="34" charset="-122"/>
                <a:cs typeface="Aptos" pitchFamily="34" charset="-120"/>
              </a:rPr>
              <a:t>revisa que el código respete los tipos de dato que él mismo declara</a:t>
            </a:r>
            <a:endParaRPr lang="en-US" sz="1280" dirty="0"/>
          </a:p>
        </p:txBody>
      </p:sp>
      <p:sp>
        <p:nvSpPr>
          <p:cNvPr id="18" name="Shape 15"/>
          <p:cNvSpPr/>
          <p:nvPr/>
        </p:nvSpPr>
        <p:spPr>
          <a:xfrm>
            <a:off x="658368" y="4334256"/>
            <a:ext cx="4389120" cy="0"/>
          </a:xfrm>
          <a:prstGeom prst="line">
            <a:avLst/>
          </a:prstGeom>
          <a:noFill/>
          <a:ln w="12700">
            <a:solidFill>
              <a:srgbClr val="D8CFC4"/>
            </a:solidFill>
            <a:prstDash val="solid"/>
            <a:headEnd type="none"/>
            <a:tailEnd type="none"/>
          </a:ln>
        </p:spPr>
      </p:sp>
      <p:sp>
        <p:nvSpPr>
          <p:cNvPr id="19" name="Shape 16"/>
          <p:cNvSpPr/>
          <p:nvPr/>
        </p:nvSpPr>
        <p:spPr>
          <a:xfrm>
            <a:off x="658368" y="4517136"/>
            <a:ext cx="50292" cy="713232"/>
          </a:xfrm>
          <a:prstGeom prst="rect">
            <a:avLst/>
          </a:prstGeom>
          <a:solidFill>
            <a:srgbClr val="B3181E"/>
          </a:solidFill>
          <a:ln w="12700">
            <a:solidFill>
              <a:srgbClr val="B3181E"/>
            </a:solidFill>
            <a:prstDash val="solid"/>
          </a:ln>
        </p:spPr>
      </p:sp>
      <p:sp>
        <p:nvSpPr>
          <p:cNvPr id="20" name="Text 17"/>
          <p:cNvSpPr txBox="1"/>
          <p:nvPr/>
        </p:nvSpPr>
        <p:spPr>
          <a:xfrm>
            <a:off x="914400" y="4480560"/>
            <a:ext cx="4114800" cy="292608"/>
          </a:xfrm>
          <a:prstGeom prst="rect">
            <a:avLst/>
          </a:prstGeom>
          <a:noFill/>
          <a:ln/>
        </p:spPr>
        <p:txBody>
          <a:bodyPr wrap="square" lIns="0" tIns="0" rIns="0" bIns="0" rtlCol="0" anchor="t"/>
          <a:lstStyle/>
          <a:p>
            <a:pPr algn="l" indent="0" marL="0">
              <a:buNone/>
            </a:pPr>
            <a:r>
              <a:rPr lang="en-US" sz="1650" b="1" dirty="0">
                <a:solidFill>
                  <a:srgbClr val="243B53"/>
                </a:solidFill>
                <a:latin typeface="Aptos" pitchFamily="34" charset="0"/>
                <a:ea typeface="Aptos" pitchFamily="34" charset="-122"/>
                <a:cs typeface="Aptos" pitchFamily="34" charset="-120"/>
              </a:rPr>
              <a:t>ruff · linter</a:t>
            </a:r>
            <a:endParaRPr lang="en-US" sz="1650" dirty="0"/>
          </a:p>
        </p:txBody>
      </p:sp>
      <p:sp>
        <p:nvSpPr>
          <p:cNvPr id="21" name="Text 18"/>
          <p:cNvSpPr txBox="1"/>
          <p:nvPr/>
        </p:nvSpPr>
        <p:spPr>
          <a:xfrm>
            <a:off x="914400" y="4809744"/>
            <a:ext cx="4114800" cy="475488"/>
          </a:xfrm>
          <a:prstGeom prst="rect">
            <a:avLst/>
          </a:prstGeom>
          <a:noFill/>
          <a:ln/>
        </p:spPr>
        <p:txBody>
          <a:bodyPr wrap="square" lIns="0" tIns="0" rIns="0" bIns="0" rtlCol="0" anchor="t"/>
          <a:lstStyle/>
          <a:p>
            <a:pPr algn="l" indent="0" marL="0">
              <a:lnSpc>
                <a:spcPct val="116000"/>
              </a:lnSpc>
              <a:buNone/>
            </a:pPr>
            <a:r>
              <a:rPr lang="en-US" sz="1280" dirty="0">
                <a:solidFill>
                  <a:srgbClr val="52606D"/>
                </a:solidFill>
                <a:latin typeface="Aptos" pitchFamily="34" charset="0"/>
                <a:ea typeface="Aptos" pitchFamily="34" charset="-122"/>
                <a:cs typeface="Aptos" pitchFamily="34" charset="-120"/>
              </a:rPr>
              <a:t>revisa el código contra un catálogo de patrones de defecto ya conocidos</a:t>
            </a:r>
            <a:endParaRPr lang="en-US" sz="1280" dirty="0"/>
          </a:p>
        </p:txBody>
      </p:sp>
      <p:sp>
        <p:nvSpPr>
          <p:cNvPr id="22" name="Shape 19"/>
          <p:cNvSpPr/>
          <p:nvPr/>
        </p:nvSpPr>
        <p:spPr>
          <a:xfrm>
            <a:off x="5394960" y="1920240"/>
            <a:ext cx="0" cy="3840480"/>
          </a:xfrm>
          <a:prstGeom prst="line">
            <a:avLst/>
          </a:prstGeom>
          <a:noFill/>
          <a:ln w="12700">
            <a:solidFill>
              <a:srgbClr val="D8CFC4"/>
            </a:solidFill>
            <a:prstDash val="solid"/>
            <a:headEnd type="none"/>
            <a:tailEnd type="none"/>
          </a:ln>
        </p:spPr>
      </p:sp>
      <p:sp>
        <p:nvSpPr>
          <p:cNvPr id="23" name="Text 20"/>
          <p:cNvSpPr txBox="1"/>
          <p:nvPr/>
        </p:nvSpPr>
        <p:spPr>
          <a:xfrm>
            <a:off x="5815584" y="1938528"/>
            <a:ext cx="5669280" cy="219456"/>
          </a:xfrm>
          <a:prstGeom prst="rect">
            <a:avLst/>
          </a:prstGeom>
          <a:noFill/>
          <a:ln/>
        </p:spPr>
        <p:txBody>
          <a:bodyPr wrap="square" lIns="0" tIns="0" rIns="0" bIns="0" rtlCol="0" anchor="t"/>
          <a:lstStyle/>
          <a:p>
            <a:pPr algn="l" indent="0" marL="0">
              <a:buNone/>
            </a:pPr>
            <a:r>
              <a:rPr lang="en-US" sz="1000" b="1" spc="140" kern="0" dirty="0">
                <a:solidFill>
                  <a:srgbClr val="B3181E"/>
                </a:solidFill>
                <a:latin typeface="Aptos" pitchFamily="34" charset="0"/>
                <a:ea typeface="Aptos" pitchFamily="34" charset="-122"/>
                <a:cs typeface="Aptos" pitchFamily="34" charset="-120"/>
              </a:rPr>
              <a:t>LO QUE NINGUNA DE LAS DOS HACE</a:t>
            </a:r>
            <a:endParaRPr lang="en-US" sz="1000" dirty="0"/>
          </a:p>
        </p:txBody>
      </p:sp>
      <p:sp>
        <p:nvSpPr>
          <p:cNvPr id="24" name="Shape 21"/>
          <p:cNvSpPr/>
          <p:nvPr/>
        </p:nvSpPr>
        <p:spPr>
          <a:xfrm>
            <a:off x="5815584" y="2377440"/>
            <a:ext cx="5715000" cy="2395728"/>
          </a:xfrm>
          <a:prstGeom prst="rect">
            <a:avLst/>
          </a:prstGeom>
          <a:solidFill>
            <a:srgbClr val="F2E7D9"/>
          </a:solidFill>
          <a:ln w="12700">
            <a:solidFill>
              <a:srgbClr val="F2E7D9"/>
            </a:solidFill>
            <a:prstDash val="solid"/>
          </a:ln>
        </p:spPr>
      </p:sp>
      <p:sp>
        <p:nvSpPr>
          <p:cNvPr id="25" name="Shape 22"/>
          <p:cNvSpPr/>
          <p:nvPr/>
        </p:nvSpPr>
        <p:spPr>
          <a:xfrm>
            <a:off x="5815584" y="2377440"/>
            <a:ext cx="73152" cy="2395728"/>
          </a:xfrm>
          <a:prstGeom prst="rect">
            <a:avLst/>
          </a:prstGeom>
          <a:solidFill>
            <a:srgbClr val="B3181E"/>
          </a:solidFill>
          <a:ln w="12700">
            <a:solidFill>
              <a:srgbClr val="B3181E"/>
            </a:solidFill>
            <a:prstDash val="solid"/>
          </a:ln>
        </p:spPr>
      </p:sp>
      <p:sp>
        <p:nvSpPr>
          <p:cNvPr id="26" name="Text 23"/>
          <p:cNvSpPr txBox="1"/>
          <p:nvPr/>
        </p:nvSpPr>
        <p:spPr>
          <a:xfrm>
            <a:off x="6181344" y="2651760"/>
            <a:ext cx="5120640" cy="1883664"/>
          </a:xfrm>
          <a:prstGeom prst="rect">
            <a:avLst/>
          </a:prstGeom>
          <a:noFill/>
          <a:ln/>
        </p:spPr>
        <p:txBody>
          <a:bodyPr wrap="square" lIns="0" tIns="0" rIns="0" bIns="0" rtlCol="0" anchor="t"/>
          <a:lstStyle/>
          <a:p>
            <a:pPr algn="l" indent="0" marL="0">
              <a:lnSpc>
                <a:spcPct val="120000"/>
              </a:lnSpc>
              <a:buNone/>
            </a:pPr>
            <a:r>
              <a:rPr lang="en-US" sz="2100" b="1" dirty="0">
                <a:solidFill>
                  <a:srgbClr val="102A43"/>
                </a:solidFill>
                <a:latin typeface="Aptos Display" pitchFamily="34" charset="0"/>
                <a:ea typeface="Aptos Display" pitchFamily="34" charset="-122"/>
                <a:cs typeface="Aptos Display" pitchFamily="34" charset="-120"/>
              </a:rPr>
              <a:t>Las dos comparan el código contra algo escrito dentro del propio código. ¿Quién lo compara contra lo que el producto tenía que hacer?</a:t>
            </a:r>
            <a:endParaRPr lang="en-US" sz="2100" dirty="0"/>
          </a:p>
        </p:txBody>
      </p:sp>
      <p:sp>
        <p:nvSpPr>
          <p:cNvPr id="27" name="Text 24"/>
          <p:cNvSpPr txBox="1"/>
          <p:nvPr/>
        </p:nvSpPr>
        <p:spPr>
          <a:xfrm>
            <a:off x="5815584" y="4956048"/>
            <a:ext cx="5715000" cy="603504"/>
          </a:xfrm>
          <a:prstGeom prst="rect">
            <a:avLst/>
          </a:prstGeom>
          <a:noFill/>
          <a:ln/>
        </p:spPr>
        <p:txBody>
          <a:bodyPr wrap="square" lIns="0" tIns="0" rIns="0" bIns="0" rtlCol="0" anchor="t"/>
          <a:lstStyle/>
          <a:p>
            <a:pPr algn="l" indent="0" marL="0">
              <a:lnSpc>
                <a:spcPct val="118000"/>
              </a:lnSpc>
              <a:buNone/>
            </a:pPr>
            <a:r>
              <a:rPr lang="en-US" sz="1400" dirty="0">
                <a:solidFill>
                  <a:srgbClr val="52606D"/>
                </a:solidFill>
                <a:latin typeface="Aptos" pitchFamily="34" charset="0"/>
                <a:ea typeface="Aptos" pitchFamily="34" charset="-122"/>
                <a:cs typeface="Aptos" pitchFamily="34" charset="-120"/>
              </a:rPr>
              <a:t>Esa comparación no la hace una herramienta. Es la tercera prueba estática, y la más antigua de las tres.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MAPA DE LA SESIÓN</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De leer el código a decidir con evidencia</a:t>
            </a:r>
            <a:endParaRPr lang="en-US" sz="3000" dirty="0"/>
          </a:p>
        </p:txBody>
      </p:sp>
      <p:sp>
        <p:nvSpPr>
          <p:cNvPr id="10" name="Text 7"/>
          <p:cNvSpPr txBox="1"/>
          <p:nvPr/>
        </p:nvSpPr>
        <p:spPr>
          <a:xfrm>
            <a:off x="658368" y="2121408"/>
            <a:ext cx="896112" cy="274320"/>
          </a:xfrm>
          <a:prstGeom prst="rect">
            <a:avLst/>
          </a:prstGeom>
          <a:noFill/>
          <a:ln/>
        </p:spPr>
        <p:txBody>
          <a:bodyPr wrap="square" lIns="0" tIns="0" rIns="0" bIns="0" rtlCol="0" anchor="t"/>
          <a:lstStyle/>
          <a:p>
            <a:pPr algn="l" indent="0" marL="0">
              <a:buNone/>
            </a:pPr>
            <a:r>
              <a:rPr lang="en-US" sz="1400" b="1" dirty="0">
                <a:solidFill>
                  <a:srgbClr val="102A43"/>
                </a:solidFill>
                <a:latin typeface="Consolas" pitchFamily="34" charset="0"/>
                <a:ea typeface="Consolas" pitchFamily="34" charset="-122"/>
                <a:cs typeface="Consolas" pitchFamily="34" charset="-120"/>
              </a:rPr>
              <a:t>08:40</a:t>
            </a:r>
            <a:endParaRPr lang="en-US" sz="1400" dirty="0"/>
          </a:p>
        </p:txBody>
      </p:sp>
      <p:sp>
        <p:nvSpPr>
          <p:cNvPr id="11" name="Shape 8"/>
          <p:cNvSpPr/>
          <p:nvPr/>
        </p:nvSpPr>
        <p:spPr>
          <a:xfrm>
            <a:off x="1700784" y="2084832"/>
            <a:ext cx="50292" cy="658368"/>
          </a:xfrm>
          <a:prstGeom prst="rect">
            <a:avLst/>
          </a:prstGeom>
          <a:solidFill>
            <a:srgbClr val="102A43"/>
          </a:solidFill>
          <a:ln w="12700">
            <a:solidFill>
              <a:srgbClr val="102A43"/>
            </a:solidFill>
            <a:prstDash val="solid"/>
          </a:ln>
        </p:spPr>
      </p:sp>
      <p:sp>
        <p:nvSpPr>
          <p:cNvPr id="12" name="Text 9"/>
          <p:cNvSpPr txBox="1"/>
          <p:nvPr/>
        </p:nvSpPr>
        <p:spPr>
          <a:xfrm>
            <a:off x="1956816" y="2066544"/>
            <a:ext cx="1554480" cy="219456"/>
          </a:xfrm>
          <a:prstGeom prst="rect">
            <a:avLst/>
          </a:prstGeom>
          <a:noFill/>
          <a:ln/>
        </p:spPr>
        <p:txBody>
          <a:bodyPr wrap="square" lIns="0" tIns="0" rIns="0" bIns="0" rtlCol="0" anchor="t"/>
          <a:lstStyle/>
          <a:p>
            <a:pPr algn="l" indent="0" marL="0">
              <a:buNone/>
            </a:pPr>
            <a:r>
              <a:rPr lang="en-US" sz="960" b="1" spc="120" kern="0" dirty="0">
                <a:solidFill>
                  <a:srgbClr val="52606D"/>
                </a:solidFill>
                <a:latin typeface="Aptos" pitchFamily="34" charset="0"/>
                <a:ea typeface="Aptos" pitchFamily="34" charset="-122"/>
                <a:cs typeface="Aptos" pitchFamily="34" charset="-120"/>
              </a:rPr>
              <a:t>BLOQUE 1</a:t>
            </a:r>
            <a:endParaRPr lang="en-US" sz="960" dirty="0"/>
          </a:p>
        </p:txBody>
      </p:sp>
      <p:sp>
        <p:nvSpPr>
          <p:cNvPr id="13" name="Text 10"/>
          <p:cNvSpPr txBox="1"/>
          <p:nvPr/>
        </p:nvSpPr>
        <p:spPr>
          <a:xfrm>
            <a:off x="1956816" y="2304288"/>
            <a:ext cx="5029200" cy="310896"/>
          </a:xfrm>
          <a:prstGeom prst="rect">
            <a:avLst/>
          </a:prstGeom>
          <a:noFill/>
          <a:ln/>
        </p:spPr>
        <p:txBody>
          <a:bodyPr wrap="square" lIns="0" tIns="0" rIns="0" bIns="0" rtlCol="0" anchor="t"/>
          <a:lstStyle/>
          <a:p>
            <a:pPr algn="l" indent="0" marL="0">
              <a:buNone/>
            </a:pPr>
            <a:r>
              <a:rPr lang="en-US" sz="1650" b="1" dirty="0">
                <a:solidFill>
                  <a:srgbClr val="243B53"/>
                </a:solidFill>
                <a:latin typeface="Aptos" pitchFamily="34" charset="0"/>
                <a:ea typeface="Aptos" pitchFamily="34" charset="-122"/>
                <a:cs typeface="Aptos" pitchFamily="34" charset="-120"/>
              </a:rPr>
              <a:t>La prueba estática que no es una herramienta</a:t>
            </a:r>
            <a:endParaRPr lang="en-US" sz="1650" dirty="0"/>
          </a:p>
        </p:txBody>
      </p:sp>
      <p:sp>
        <p:nvSpPr>
          <p:cNvPr id="14" name="Text 11"/>
          <p:cNvSpPr txBox="1"/>
          <p:nvPr/>
        </p:nvSpPr>
        <p:spPr>
          <a:xfrm>
            <a:off x="7461504" y="2121408"/>
            <a:ext cx="4069080" cy="603504"/>
          </a:xfrm>
          <a:prstGeom prst="rect">
            <a:avLst/>
          </a:prstGeom>
          <a:noFill/>
          <a:ln/>
        </p:spPr>
        <p:txBody>
          <a:bodyPr wrap="square" lIns="0" tIns="0" rIns="0" bIns="0" rtlCol="0" anchor="t"/>
          <a:lstStyle/>
          <a:p>
            <a:pPr algn="l" indent="0" marL="0">
              <a:lnSpc>
                <a:spcPct val="116000"/>
              </a:lnSpc>
              <a:buNone/>
            </a:pPr>
            <a:r>
              <a:rPr lang="en-US" sz="1260" dirty="0">
                <a:solidFill>
                  <a:srgbClr val="52606D"/>
                </a:solidFill>
                <a:latin typeface="Aptos" pitchFamily="34" charset="0"/>
                <a:ea typeface="Aptos" pitchFamily="34" charset="-122"/>
                <a:cs typeface="Aptos" pitchFamily="34" charset="-120"/>
              </a:rPr>
              <a:t>Qué es revisar, qué tipos de revisión existen, y qué pasa cuando no hay método</a:t>
            </a:r>
            <a:endParaRPr lang="en-US" sz="1260" dirty="0"/>
          </a:p>
        </p:txBody>
      </p:sp>
      <p:sp>
        <p:nvSpPr>
          <p:cNvPr id="15" name="Shape 12"/>
          <p:cNvSpPr/>
          <p:nvPr/>
        </p:nvSpPr>
        <p:spPr>
          <a:xfrm>
            <a:off x="658368" y="2889504"/>
            <a:ext cx="10874959" cy="0"/>
          </a:xfrm>
          <a:prstGeom prst="line">
            <a:avLst/>
          </a:prstGeom>
          <a:noFill/>
          <a:ln w="12700">
            <a:solidFill>
              <a:srgbClr val="D8CFC4"/>
            </a:solidFill>
            <a:prstDash val="solid"/>
            <a:headEnd type="none"/>
            <a:tailEnd type="none"/>
          </a:ln>
        </p:spPr>
      </p:sp>
      <p:sp>
        <p:nvSpPr>
          <p:cNvPr id="16" name="Text 13"/>
          <p:cNvSpPr txBox="1"/>
          <p:nvPr/>
        </p:nvSpPr>
        <p:spPr>
          <a:xfrm>
            <a:off x="658368" y="3118104"/>
            <a:ext cx="896112" cy="274320"/>
          </a:xfrm>
          <a:prstGeom prst="rect">
            <a:avLst/>
          </a:prstGeom>
          <a:noFill/>
          <a:ln/>
        </p:spPr>
        <p:txBody>
          <a:bodyPr wrap="square" lIns="0" tIns="0" rIns="0" bIns="0" rtlCol="0" anchor="t"/>
          <a:lstStyle/>
          <a:p>
            <a:pPr algn="l" indent="0" marL="0">
              <a:buNone/>
            </a:pPr>
            <a:r>
              <a:rPr lang="en-US" sz="1400" b="1" dirty="0">
                <a:solidFill>
                  <a:srgbClr val="0E6E7A"/>
                </a:solidFill>
                <a:latin typeface="Consolas" pitchFamily="34" charset="0"/>
                <a:ea typeface="Consolas" pitchFamily="34" charset="-122"/>
                <a:cs typeface="Consolas" pitchFamily="34" charset="-120"/>
              </a:rPr>
              <a:t>09:05</a:t>
            </a:r>
            <a:endParaRPr lang="en-US" sz="1400" dirty="0"/>
          </a:p>
        </p:txBody>
      </p:sp>
      <p:sp>
        <p:nvSpPr>
          <p:cNvPr id="17" name="Shape 14"/>
          <p:cNvSpPr/>
          <p:nvPr/>
        </p:nvSpPr>
        <p:spPr>
          <a:xfrm>
            <a:off x="1700784" y="3081528"/>
            <a:ext cx="50292" cy="658368"/>
          </a:xfrm>
          <a:prstGeom prst="rect">
            <a:avLst/>
          </a:prstGeom>
          <a:solidFill>
            <a:srgbClr val="0E6E7A"/>
          </a:solidFill>
          <a:ln w="12700">
            <a:solidFill>
              <a:srgbClr val="0E6E7A"/>
            </a:solidFill>
            <a:prstDash val="solid"/>
          </a:ln>
        </p:spPr>
      </p:sp>
      <p:sp>
        <p:nvSpPr>
          <p:cNvPr id="18" name="Text 15"/>
          <p:cNvSpPr txBox="1"/>
          <p:nvPr/>
        </p:nvSpPr>
        <p:spPr>
          <a:xfrm>
            <a:off x="1956816" y="3063240"/>
            <a:ext cx="1554480" cy="219456"/>
          </a:xfrm>
          <a:prstGeom prst="rect">
            <a:avLst/>
          </a:prstGeom>
          <a:noFill/>
          <a:ln/>
        </p:spPr>
        <p:txBody>
          <a:bodyPr wrap="square" lIns="0" tIns="0" rIns="0" bIns="0" rtlCol="0" anchor="t"/>
          <a:lstStyle/>
          <a:p>
            <a:pPr algn="l" indent="0" marL="0">
              <a:buNone/>
            </a:pPr>
            <a:r>
              <a:rPr lang="en-US" sz="960" b="1" spc="120" kern="0" dirty="0">
                <a:solidFill>
                  <a:srgbClr val="52606D"/>
                </a:solidFill>
                <a:latin typeface="Aptos" pitchFamily="34" charset="0"/>
                <a:ea typeface="Aptos" pitchFamily="34" charset="-122"/>
                <a:cs typeface="Aptos" pitchFamily="34" charset="-120"/>
              </a:rPr>
              <a:t>BLOQUE 2</a:t>
            </a:r>
            <a:endParaRPr lang="en-US" sz="960" dirty="0"/>
          </a:p>
        </p:txBody>
      </p:sp>
      <p:sp>
        <p:nvSpPr>
          <p:cNvPr id="19" name="Text 16"/>
          <p:cNvSpPr txBox="1"/>
          <p:nvPr/>
        </p:nvSpPr>
        <p:spPr>
          <a:xfrm>
            <a:off x="1956816" y="3300984"/>
            <a:ext cx="5029200" cy="310896"/>
          </a:xfrm>
          <a:prstGeom prst="rect">
            <a:avLst/>
          </a:prstGeom>
          <a:noFill/>
          <a:ln/>
        </p:spPr>
        <p:txBody>
          <a:bodyPr wrap="square" lIns="0" tIns="0" rIns="0" bIns="0" rtlCol="0" anchor="t"/>
          <a:lstStyle/>
          <a:p>
            <a:pPr algn="l" indent="0" marL="0">
              <a:buNone/>
            </a:pPr>
            <a:r>
              <a:rPr lang="en-US" sz="1650" b="1" dirty="0">
                <a:solidFill>
                  <a:srgbClr val="243B53"/>
                </a:solidFill>
                <a:latin typeface="Aptos" pitchFamily="34" charset="0"/>
                <a:ea typeface="Aptos" pitchFamily="34" charset="-122"/>
                <a:cs typeface="Aptos" pitchFamily="34" charset="-120"/>
              </a:rPr>
              <a:t>Qué se mira cuando se revisa</a:t>
            </a:r>
            <a:endParaRPr lang="en-US" sz="1650" dirty="0"/>
          </a:p>
        </p:txBody>
      </p:sp>
      <p:sp>
        <p:nvSpPr>
          <p:cNvPr id="20" name="Text 17"/>
          <p:cNvSpPr txBox="1"/>
          <p:nvPr/>
        </p:nvSpPr>
        <p:spPr>
          <a:xfrm>
            <a:off x="7461504" y="3118104"/>
            <a:ext cx="4069080" cy="603504"/>
          </a:xfrm>
          <a:prstGeom prst="rect">
            <a:avLst/>
          </a:prstGeom>
          <a:noFill/>
          <a:ln/>
        </p:spPr>
        <p:txBody>
          <a:bodyPr wrap="square" lIns="0" tIns="0" rIns="0" bIns="0" rtlCol="0" anchor="t"/>
          <a:lstStyle/>
          <a:p>
            <a:pPr algn="l" indent="0" marL="0">
              <a:lnSpc>
                <a:spcPct val="116000"/>
              </a:lnSpc>
              <a:buNone/>
            </a:pPr>
            <a:r>
              <a:rPr lang="en-US" sz="1260" dirty="0">
                <a:solidFill>
                  <a:srgbClr val="52606D"/>
                </a:solidFill>
                <a:latin typeface="Aptos" pitchFamily="34" charset="0"/>
                <a:ea typeface="Aptos" pitchFamily="34" charset="-122"/>
                <a:cs typeface="Aptos" pitchFamily="34" charset="-120"/>
              </a:rPr>
              <a:t>Una lista de comprobación propia y tres clases distintas de hallazgo</a:t>
            </a:r>
            <a:endParaRPr lang="en-US" sz="1260" dirty="0"/>
          </a:p>
        </p:txBody>
      </p:sp>
      <p:sp>
        <p:nvSpPr>
          <p:cNvPr id="21" name="Shape 18"/>
          <p:cNvSpPr/>
          <p:nvPr/>
        </p:nvSpPr>
        <p:spPr>
          <a:xfrm>
            <a:off x="658368" y="3886200"/>
            <a:ext cx="10874959" cy="0"/>
          </a:xfrm>
          <a:prstGeom prst="line">
            <a:avLst/>
          </a:prstGeom>
          <a:noFill/>
          <a:ln w="12700">
            <a:solidFill>
              <a:srgbClr val="D8CFC4"/>
            </a:solidFill>
            <a:prstDash val="solid"/>
            <a:headEnd type="none"/>
            <a:tailEnd type="none"/>
          </a:ln>
        </p:spPr>
      </p:sp>
      <p:sp>
        <p:nvSpPr>
          <p:cNvPr id="22" name="Text 19"/>
          <p:cNvSpPr txBox="1"/>
          <p:nvPr/>
        </p:nvSpPr>
        <p:spPr>
          <a:xfrm>
            <a:off x="658368" y="4114800"/>
            <a:ext cx="896112" cy="274320"/>
          </a:xfrm>
          <a:prstGeom prst="rect">
            <a:avLst/>
          </a:prstGeom>
          <a:noFill/>
          <a:ln/>
        </p:spPr>
        <p:txBody>
          <a:bodyPr wrap="square" lIns="0" tIns="0" rIns="0" bIns="0" rtlCol="0" anchor="t"/>
          <a:lstStyle/>
          <a:p>
            <a:pPr algn="l" indent="0" marL="0">
              <a:buNone/>
            </a:pPr>
            <a:r>
              <a:rPr lang="en-US" sz="1400" b="1" dirty="0">
                <a:solidFill>
                  <a:srgbClr val="8A6A12"/>
                </a:solidFill>
                <a:latin typeface="Consolas" pitchFamily="34" charset="0"/>
                <a:ea typeface="Consolas" pitchFamily="34" charset="-122"/>
                <a:cs typeface="Consolas" pitchFamily="34" charset="-120"/>
              </a:rPr>
              <a:t>09:45</a:t>
            </a:r>
            <a:endParaRPr lang="en-US" sz="1400" dirty="0"/>
          </a:p>
        </p:txBody>
      </p:sp>
      <p:sp>
        <p:nvSpPr>
          <p:cNvPr id="23" name="Shape 20"/>
          <p:cNvSpPr/>
          <p:nvPr/>
        </p:nvSpPr>
        <p:spPr>
          <a:xfrm>
            <a:off x="1700784" y="4078224"/>
            <a:ext cx="50292" cy="658368"/>
          </a:xfrm>
          <a:prstGeom prst="rect">
            <a:avLst/>
          </a:prstGeom>
          <a:solidFill>
            <a:srgbClr val="8A6A12"/>
          </a:solidFill>
          <a:ln w="12700">
            <a:solidFill>
              <a:srgbClr val="8A6A12"/>
            </a:solidFill>
            <a:prstDash val="solid"/>
          </a:ln>
        </p:spPr>
      </p:sp>
      <p:sp>
        <p:nvSpPr>
          <p:cNvPr id="24" name="Text 21"/>
          <p:cNvSpPr txBox="1"/>
          <p:nvPr/>
        </p:nvSpPr>
        <p:spPr>
          <a:xfrm>
            <a:off x="1956816" y="4059936"/>
            <a:ext cx="1554480" cy="219456"/>
          </a:xfrm>
          <a:prstGeom prst="rect">
            <a:avLst/>
          </a:prstGeom>
          <a:noFill/>
          <a:ln/>
        </p:spPr>
        <p:txBody>
          <a:bodyPr wrap="square" lIns="0" tIns="0" rIns="0" bIns="0" rtlCol="0" anchor="t"/>
          <a:lstStyle/>
          <a:p>
            <a:pPr algn="l" indent="0" marL="0">
              <a:buNone/>
            </a:pPr>
            <a:r>
              <a:rPr lang="en-US" sz="960" b="1" spc="120" kern="0" dirty="0">
                <a:solidFill>
                  <a:srgbClr val="52606D"/>
                </a:solidFill>
                <a:latin typeface="Aptos" pitchFamily="34" charset="0"/>
                <a:ea typeface="Aptos" pitchFamily="34" charset="-122"/>
                <a:cs typeface="Aptos" pitchFamily="34" charset="-120"/>
              </a:rPr>
              <a:t>BLOQUE 3</a:t>
            </a:r>
            <a:endParaRPr lang="en-US" sz="960" dirty="0"/>
          </a:p>
        </p:txBody>
      </p:sp>
      <p:sp>
        <p:nvSpPr>
          <p:cNvPr id="25" name="Text 22"/>
          <p:cNvSpPr txBox="1"/>
          <p:nvPr/>
        </p:nvSpPr>
        <p:spPr>
          <a:xfrm>
            <a:off x="1956816" y="4297680"/>
            <a:ext cx="5029200" cy="310896"/>
          </a:xfrm>
          <a:prstGeom prst="rect">
            <a:avLst/>
          </a:prstGeom>
          <a:noFill/>
          <a:ln/>
        </p:spPr>
        <p:txBody>
          <a:bodyPr wrap="square" lIns="0" tIns="0" rIns="0" bIns="0" rtlCol="0" anchor="t"/>
          <a:lstStyle/>
          <a:p>
            <a:pPr algn="l" indent="0" marL="0">
              <a:buNone/>
            </a:pPr>
            <a:r>
              <a:rPr lang="en-US" sz="1650" b="1" dirty="0">
                <a:solidFill>
                  <a:srgbClr val="243B53"/>
                </a:solidFill>
                <a:latin typeface="Aptos" pitchFamily="34" charset="0"/>
                <a:ea typeface="Aptos" pitchFamily="34" charset="-122"/>
                <a:cs typeface="Aptos" pitchFamily="34" charset="-120"/>
              </a:rPr>
              <a:t>Dos agentes, una decisión</a:t>
            </a:r>
            <a:endParaRPr lang="en-US" sz="1650" dirty="0"/>
          </a:p>
        </p:txBody>
      </p:sp>
      <p:sp>
        <p:nvSpPr>
          <p:cNvPr id="26" name="Text 23"/>
          <p:cNvSpPr txBox="1"/>
          <p:nvPr/>
        </p:nvSpPr>
        <p:spPr>
          <a:xfrm>
            <a:off x="7461504" y="4114800"/>
            <a:ext cx="4069080" cy="603504"/>
          </a:xfrm>
          <a:prstGeom prst="rect">
            <a:avLst/>
          </a:prstGeom>
          <a:noFill/>
          <a:ln/>
        </p:spPr>
        <p:txBody>
          <a:bodyPr wrap="square" lIns="0" tIns="0" rIns="0" bIns="0" rtlCol="0" anchor="t"/>
          <a:lstStyle/>
          <a:p>
            <a:pPr algn="l" indent="0" marL="0">
              <a:lnSpc>
                <a:spcPct val="116000"/>
              </a:lnSpc>
              <a:buNone/>
            </a:pPr>
            <a:r>
              <a:rPr lang="en-US" sz="1260" dirty="0">
                <a:solidFill>
                  <a:srgbClr val="52606D"/>
                </a:solidFill>
                <a:latin typeface="Aptos" pitchFamily="34" charset="0"/>
                <a:ea typeface="Aptos" pitchFamily="34" charset="-122"/>
                <a:cs typeface="Aptos" pitchFamily="34" charset="-120"/>
              </a:rPr>
              <a:t>Un agente escribe, otro audita lo escrito, y tú decides entre los dos</a:t>
            </a:r>
            <a:endParaRPr lang="en-US" sz="1260" dirty="0"/>
          </a:p>
        </p:txBody>
      </p:sp>
      <p:sp>
        <p:nvSpPr>
          <p:cNvPr id="27" name="Shape 24"/>
          <p:cNvSpPr/>
          <p:nvPr/>
        </p:nvSpPr>
        <p:spPr>
          <a:xfrm>
            <a:off x="658368" y="4882896"/>
            <a:ext cx="10874959" cy="0"/>
          </a:xfrm>
          <a:prstGeom prst="line">
            <a:avLst/>
          </a:prstGeom>
          <a:noFill/>
          <a:ln w="12700">
            <a:solidFill>
              <a:srgbClr val="D8CFC4"/>
            </a:solidFill>
            <a:prstDash val="solid"/>
            <a:headEnd type="none"/>
            <a:tailEnd type="none"/>
          </a:ln>
        </p:spPr>
      </p:sp>
      <p:sp>
        <p:nvSpPr>
          <p:cNvPr id="28" name="Text 25"/>
          <p:cNvSpPr txBox="1"/>
          <p:nvPr/>
        </p:nvSpPr>
        <p:spPr>
          <a:xfrm>
            <a:off x="658368" y="5111496"/>
            <a:ext cx="896112" cy="274320"/>
          </a:xfrm>
          <a:prstGeom prst="rect">
            <a:avLst/>
          </a:prstGeom>
          <a:noFill/>
          <a:ln/>
        </p:spPr>
        <p:txBody>
          <a:bodyPr wrap="square" lIns="0" tIns="0" rIns="0" bIns="0" rtlCol="0" anchor="t"/>
          <a:lstStyle/>
          <a:p>
            <a:pPr algn="l" indent="0" marL="0">
              <a:buNone/>
            </a:pPr>
            <a:r>
              <a:rPr lang="en-US" sz="1400" b="1" dirty="0">
                <a:solidFill>
                  <a:srgbClr val="B3181E"/>
                </a:solidFill>
                <a:latin typeface="Consolas" pitchFamily="34" charset="0"/>
                <a:ea typeface="Consolas" pitchFamily="34" charset="-122"/>
                <a:cs typeface="Consolas" pitchFamily="34" charset="-120"/>
              </a:rPr>
              <a:t>10:15</a:t>
            </a:r>
            <a:endParaRPr lang="en-US" sz="1400" dirty="0"/>
          </a:p>
        </p:txBody>
      </p:sp>
      <p:sp>
        <p:nvSpPr>
          <p:cNvPr id="29" name="Shape 26"/>
          <p:cNvSpPr/>
          <p:nvPr/>
        </p:nvSpPr>
        <p:spPr>
          <a:xfrm>
            <a:off x="1700784" y="5074920"/>
            <a:ext cx="50292" cy="658368"/>
          </a:xfrm>
          <a:prstGeom prst="rect">
            <a:avLst/>
          </a:prstGeom>
          <a:solidFill>
            <a:srgbClr val="B3181E"/>
          </a:solidFill>
          <a:ln w="12700">
            <a:solidFill>
              <a:srgbClr val="B3181E"/>
            </a:solidFill>
            <a:prstDash val="solid"/>
          </a:ln>
        </p:spPr>
      </p:sp>
      <p:sp>
        <p:nvSpPr>
          <p:cNvPr id="30" name="Text 27"/>
          <p:cNvSpPr txBox="1"/>
          <p:nvPr/>
        </p:nvSpPr>
        <p:spPr>
          <a:xfrm>
            <a:off x="1956816" y="5056632"/>
            <a:ext cx="1554480" cy="219456"/>
          </a:xfrm>
          <a:prstGeom prst="rect">
            <a:avLst/>
          </a:prstGeom>
          <a:noFill/>
          <a:ln/>
        </p:spPr>
        <p:txBody>
          <a:bodyPr wrap="square" lIns="0" tIns="0" rIns="0" bIns="0" rtlCol="0" anchor="t"/>
          <a:lstStyle/>
          <a:p>
            <a:pPr algn="l" indent="0" marL="0">
              <a:buNone/>
            </a:pPr>
            <a:r>
              <a:rPr lang="en-US" sz="960" b="1" spc="120" kern="0" dirty="0">
                <a:solidFill>
                  <a:srgbClr val="52606D"/>
                </a:solidFill>
                <a:latin typeface="Aptos" pitchFamily="34" charset="0"/>
                <a:ea typeface="Aptos" pitchFamily="34" charset="-122"/>
                <a:cs typeface="Aptos" pitchFamily="34" charset="-120"/>
              </a:rPr>
              <a:t>BLOQUE 4</a:t>
            </a:r>
            <a:endParaRPr lang="en-US" sz="960" dirty="0"/>
          </a:p>
        </p:txBody>
      </p:sp>
      <p:sp>
        <p:nvSpPr>
          <p:cNvPr id="31" name="Text 28"/>
          <p:cNvSpPr txBox="1"/>
          <p:nvPr/>
        </p:nvSpPr>
        <p:spPr>
          <a:xfrm>
            <a:off x="1956816" y="5294376"/>
            <a:ext cx="5029200" cy="310896"/>
          </a:xfrm>
          <a:prstGeom prst="rect">
            <a:avLst/>
          </a:prstGeom>
          <a:noFill/>
          <a:ln/>
        </p:spPr>
        <p:txBody>
          <a:bodyPr wrap="square" lIns="0" tIns="0" rIns="0" bIns="0" rtlCol="0" anchor="t"/>
          <a:lstStyle/>
          <a:p>
            <a:pPr algn="l" indent="0" marL="0">
              <a:buNone/>
            </a:pPr>
            <a:r>
              <a:rPr lang="en-US" sz="1650" b="1" dirty="0">
                <a:solidFill>
                  <a:srgbClr val="243B53"/>
                </a:solidFill>
                <a:latin typeface="Aptos" pitchFamily="34" charset="0"/>
                <a:ea typeface="Aptos" pitchFamily="34" charset="-122"/>
                <a:cs typeface="Aptos" pitchFamily="34" charset="-120"/>
              </a:rPr>
              <a:t>El arbitraje se resuelve ejecutando</a:t>
            </a:r>
            <a:endParaRPr lang="en-US" sz="1650" dirty="0"/>
          </a:p>
        </p:txBody>
      </p:sp>
      <p:sp>
        <p:nvSpPr>
          <p:cNvPr id="32" name="Text 29"/>
          <p:cNvSpPr txBox="1"/>
          <p:nvPr/>
        </p:nvSpPr>
        <p:spPr>
          <a:xfrm>
            <a:off x="7461504" y="5111496"/>
            <a:ext cx="4069080" cy="603504"/>
          </a:xfrm>
          <a:prstGeom prst="rect">
            <a:avLst/>
          </a:prstGeom>
          <a:noFill/>
          <a:ln/>
        </p:spPr>
        <p:txBody>
          <a:bodyPr wrap="square" lIns="0" tIns="0" rIns="0" bIns="0" rtlCol="0" anchor="t"/>
          <a:lstStyle/>
          <a:p>
            <a:pPr algn="l" indent="0" marL="0">
              <a:lnSpc>
                <a:spcPct val="116000"/>
              </a:lnSpc>
              <a:buNone/>
            </a:pPr>
            <a:r>
              <a:rPr lang="en-US" sz="1260" dirty="0">
                <a:solidFill>
                  <a:srgbClr val="52606D"/>
                </a:solidFill>
                <a:latin typeface="Aptos" pitchFamily="34" charset="0"/>
                <a:ea typeface="Aptos" pitchFamily="34" charset="-122"/>
                <a:cs typeface="Aptos" pitchFamily="34" charset="-120"/>
              </a:rPr>
              <a:t>Cada hallazgo se convierte en una prueba antes de tocar el código</a:t>
            </a:r>
            <a:endParaRPr lang="en-US" sz="1260" dirty="0"/>
          </a:p>
        </p:txBody>
      </p:sp>
      <p:sp>
        <p:nvSpPr>
          <p:cNvPr id="33" name="Shape 30"/>
          <p:cNvSpPr/>
          <p:nvPr/>
        </p:nvSpPr>
        <p:spPr>
          <a:xfrm>
            <a:off x="658368" y="6035040"/>
            <a:ext cx="10874959" cy="0"/>
          </a:xfrm>
          <a:prstGeom prst="line">
            <a:avLst/>
          </a:prstGeom>
          <a:noFill/>
          <a:ln w="12700">
            <a:solidFill>
              <a:srgbClr val="102A43"/>
            </a:solidFill>
            <a:prstDash val="solid"/>
            <a:headEnd type="none"/>
            <a:tailEnd type="none"/>
          </a:ln>
        </p:spPr>
      </p:sp>
      <p:sp>
        <p:nvSpPr>
          <p:cNvPr id="34" name="Text 31"/>
          <p:cNvSpPr txBox="1"/>
          <p:nvPr/>
        </p:nvSpPr>
        <p:spPr>
          <a:xfrm>
            <a:off x="658368" y="6144768"/>
            <a:ext cx="9326880" cy="256032"/>
          </a:xfrm>
          <a:prstGeom prst="rect">
            <a:avLst/>
          </a:prstGeom>
          <a:noFill/>
          <a:ln/>
        </p:spPr>
        <p:txBody>
          <a:bodyPr wrap="square" lIns="0" tIns="0" rIns="0" bIns="0" rtlCol="0" anchor="t"/>
          <a:lstStyle/>
          <a:p>
            <a:pPr algn="l" indent="0" marL="0">
              <a:buNone/>
            </a:pPr>
            <a:r>
              <a:rPr lang="en-US" sz="1240" dirty="0">
                <a:solidFill>
                  <a:srgbClr val="52606D"/>
                </a:solidFill>
                <a:latin typeface="Aptos" pitchFamily="34" charset="0"/>
                <a:ea typeface="Aptos" pitchFamily="34" charset="-122"/>
                <a:cs typeface="Aptos" pitchFamily="34" charset="-120"/>
              </a:rPr>
              <a:t>08:30 encuadre  ·  09:35 pausa técnica  ·  10:40 cierre y ticket de salida</a:t>
            </a:r>
            <a:endParaRPr lang="en-US" sz="12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2\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04</a:t>
            </a:r>
            <a:endParaRPr lang="en-US" sz="1400" dirty="0"/>
          </a:p>
        </p:txBody>
      </p:sp>
      <p:sp>
        <p:nvSpPr>
          <p:cNvPr id="8" name="Text 5"/>
          <p:cNvSpPr txBox="1"/>
          <p:nvPr/>
        </p:nvSpPr>
        <p:spPr>
          <a:xfrm>
            <a:off x="658368" y="1737360"/>
            <a:ext cx="2560320" cy="1463040"/>
          </a:xfrm>
          <a:prstGeom prst="rect">
            <a:avLst/>
          </a:prstGeom>
          <a:noFill/>
          <a:ln/>
        </p:spPr>
        <p:txBody>
          <a:bodyPr wrap="square" lIns="0" tIns="0" rIns="0" bIns="0" rtlCol="0" anchor="t"/>
          <a:lstStyle/>
          <a:p>
            <a:pPr algn="l" indent="0" marL="0">
              <a:buNone/>
            </a:pPr>
            <a:r>
              <a:rPr lang="en-US" sz="11200" b="1" dirty="0">
                <a:solidFill>
                  <a:srgbClr val="1D3A57"/>
                </a:solidFill>
                <a:latin typeface="Aptos Display" pitchFamily="34" charset="0"/>
                <a:ea typeface="Aptos Display" pitchFamily="34" charset="-122"/>
                <a:cs typeface="Aptos Display" pitchFamily="34" charset="-120"/>
              </a:rPr>
              <a:t>01</a:t>
            </a:r>
            <a:endParaRPr lang="en-US" sz="11200" dirty="0"/>
          </a:p>
        </p:txBody>
      </p:sp>
      <p:sp>
        <p:nvSpPr>
          <p:cNvPr id="9" name="Text 6"/>
          <p:cNvSpPr txBox="1"/>
          <p:nvPr/>
        </p:nvSpPr>
        <p:spPr>
          <a:xfrm>
            <a:off x="3419856" y="1883664"/>
            <a:ext cx="5852160" cy="237744"/>
          </a:xfrm>
          <a:prstGeom prst="rect">
            <a:avLst/>
          </a:prstGeom>
          <a:noFill/>
          <a:ln/>
        </p:spPr>
        <p:txBody>
          <a:bodyPr wrap="square" lIns="0" tIns="0" rIns="0" bIns="0" rtlCol="0" anchor="t"/>
          <a:lstStyle/>
          <a:p>
            <a:pPr algn="l" indent="0" marL="0">
              <a:buNone/>
            </a:pPr>
            <a:r>
              <a:rPr lang="en-US" sz="1140" b="1" spc="200" kern="0" dirty="0">
                <a:solidFill>
                  <a:srgbClr val="E0BC5A"/>
                </a:solidFill>
                <a:latin typeface="Aptos" pitchFamily="34" charset="0"/>
                <a:ea typeface="Aptos" pitchFamily="34" charset="-122"/>
                <a:cs typeface="Aptos" pitchFamily="34" charset="-120"/>
              </a:rPr>
              <a:t>BLOQUE 1 · 25 MINUTOS</a:t>
            </a:r>
            <a:endParaRPr lang="en-US" sz="1140" dirty="0"/>
          </a:p>
        </p:txBody>
      </p:sp>
      <p:sp>
        <p:nvSpPr>
          <p:cNvPr id="10" name="Text 7"/>
          <p:cNvSpPr txBox="1"/>
          <p:nvPr/>
        </p:nvSpPr>
        <p:spPr>
          <a:xfrm>
            <a:off x="3419856" y="2267712"/>
            <a:ext cx="8229600" cy="1188720"/>
          </a:xfrm>
          <a:prstGeom prst="rect">
            <a:avLst/>
          </a:prstGeom>
          <a:noFill/>
          <a:ln/>
        </p:spPr>
        <p:txBody>
          <a:bodyPr wrap="square" lIns="0" tIns="0" rIns="0" bIns="0" rtlCol="0" anchor="t"/>
          <a:lstStyle/>
          <a:p>
            <a:pPr algn="l" indent="0" marL="0">
              <a:buNone/>
            </a:pPr>
            <a:r>
              <a:rPr lang="en-US" sz="3600" b="1" dirty="0">
                <a:solidFill>
                  <a:srgbClr val="FFFFFF"/>
                </a:solidFill>
                <a:latin typeface="Aptos Display" pitchFamily="34" charset="0"/>
                <a:ea typeface="Aptos Display" pitchFamily="34" charset="-122"/>
                <a:cs typeface="Aptos Display" pitchFamily="34" charset="-120"/>
              </a:rPr>
              <a:t>La prueba estática que no es una herramienta</a:t>
            </a:r>
            <a:endParaRPr lang="en-US" sz="3600" dirty="0"/>
          </a:p>
        </p:txBody>
      </p:sp>
      <p:sp>
        <p:nvSpPr>
          <p:cNvPr id="11" name="Shape 8"/>
          <p:cNvSpPr/>
          <p:nvPr/>
        </p:nvSpPr>
        <p:spPr>
          <a:xfrm>
            <a:off x="3419856" y="3639312"/>
            <a:ext cx="2011680" cy="64008"/>
          </a:xfrm>
          <a:prstGeom prst="rect">
            <a:avLst/>
          </a:prstGeom>
          <a:solidFill>
            <a:srgbClr val="D62027"/>
          </a:solidFill>
          <a:ln w="12700">
            <a:solidFill>
              <a:srgbClr val="D62027"/>
            </a:solidFill>
            <a:prstDash val="solid"/>
          </a:ln>
        </p:spPr>
      </p:sp>
      <p:sp>
        <p:nvSpPr>
          <p:cNvPr id="12" name="Text 9"/>
          <p:cNvSpPr txBox="1"/>
          <p:nvPr/>
        </p:nvSpPr>
        <p:spPr>
          <a:xfrm>
            <a:off x="3419856" y="3931920"/>
            <a:ext cx="7772400" cy="1188720"/>
          </a:xfrm>
          <a:prstGeom prst="rect">
            <a:avLst/>
          </a:prstGeom>
          <a:noFill/>
          <a:ln/>
        </p:spPr>
        <p:txBody>
          <a:bodyPr wrap="square" lIns="0" tIns="0" rIns="0" bIns="0" rtlCol="0" anchor="t"/>
          <a:lstStyle/>
          <a:p>
            <a:pPr algn="l" indent="0" marL="0">
              <a:lnSpc>
                <a:spcPct val="126000"/>
              </a:lnSpc>
              <a:buNone/>
            </a:pPr>
            <a:r>
              <a:rPr lang="en-US" sz="1700" dirty="0">
                <a:solidFill>
                  <a:srgbClr val="E6EEF7"/>
                </a:solidFill>
                <a:latin typeface="Aptos" pitchFamily="34" charset="0"/>
                <a:ea typeface="Aptos" pitchFamily="34" charset="-122"/>
                <a:cs typeface="Aptos" pitchFamily="34" charset="-120"/>
              </a:rPr>
              <a:t>Qué es exactamente revisar código, qué formas de revisión reconoce la norma internacional, y qué le ocurrió a un proyecto que sí revisó y no le alcanzó.</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1.1 · TRES COMPROBACIONES, TRES FUENTES DISTINTAS</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Toda comprobación compara el código contra algo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Lo que distingue a una revisión no es quién la hace, sino contra qué compara: es la única que usa una fuente que está fuera del código.</a:t>
            </a:r>
            <a:endParaRPr lang="en-US" sz="1450" dirty="0"/>
          </a:p>
        </p:txBody>
      </p:sp>
      <p:sp>
        <p:nvSpPr>
          <p:cNvPr id="11" name="Shape 8"/>
          <p:cNvSpPr/>
          <p:nvPr/>
        </p:nvSpPr>
        <p:spPr>
          <a:xfrm>
            <a:off x="658368" y="2377440"/>
            <a:ext cx="3502152" cy="3072384"/>
          </a:xfrm>
          <a:prstGeom prst="rect">
            <a:avLst/>
          </a:prstGeom>
          <a:solidFill>
            <a:srgbClr val="E7ECF3"/>
          </a:solidFill>
          <a:ln w="12700">
            <a:solidFill>
              <a:srgbClr val="E7ECF3"/>
            </a:solidFill>
            <a:prstDash val="solid"/>
          </a:ln>
        </p:spPr>
      </p:sp>
      <p:sp>
        <p:nvSpPr>
          <p:cNvPr id="12" name="Shape 9"/>
          <p:cNvSpPr/>
          <p:nvPr/>
        </p:nvSpPr>
        <p:spPr>
          <a:xfrm>
            <a:off x="658368" y="2377440"/>
            <a:ext cx="3502152" cy="91440"/>
          </a:xfrm>
          <a:prstGeom prst="rect">
            <a:avLst/>
          </a:prstGeom>
          <a:solidFill>
            <a:srgbClr val="102A43"/>
          </a:solidFill>
          <a:ln w="12700">
            <a:solidFill>
              <a:srgbClr val="102A43"/>
            </a:solidFill>
            <a:prstDash val="solid"/>
          </a:ln>
        </p:spPr>
      </p:sp>
      <p:sp>
        <p:nvSpPr>
          <p:cNvPr id="13" name="Text 10"/>
          <p:cNvSpPr txBox="1"/>
          <p:nvPr/>
        </p:nvSpPr>
        <p:spPr>
          <a:xfrm>
            <a:off x="914400" y="2615184"/>
            <a:ext cx="2990088" cy="310896"/>
          </a:xfrm>
          <a:prstGeom prst="rect">
            <a:avLst/>
          </a:prstGeom>
          <a:noFill/>
          <a:ln/>
        </p:spPr>
        <p:txBody>
          <a:bodyPr wrap="square" lIns="0" tIns="0" rIns="0" bIns="0" rtlCol="0" anchor="t"/>
          <a:lstStyle/>
          <a:p>
            <a:pPr algn="l" indent="0" marL="0">
              <a:buNone/>
            </a:pPr>
            <a:r>
              <a:rPr lang="en-US" sz="1700" b="1" dirty="0">
                <a:solidFill>
                  <a:srgbClr val="102A43"/>
                </a:solidFill>
                <a:latin typeface="Consolas" pitchFamily="34" charset="0"/>
                <a:ea typeface="Consolas" pitchFamily="34" charset="-122"/>
                <a:cs typeface="Consolas" pitchFamily="34" charset="-120"/>
              </a:rPr>
              <a:t>pyrefly</a:t>
            </a:r>
            <a:endParaRPr lang="en-US" sz="1700" dirty="0"/>
          </a:p>
        </p:txBody>
      </p:sp>
      <p:sp>
        <p:nvSpPr>
          <p:cNvPr id="14" name="Text 11"/>
          <p:cNvSpPr txBox="1"/>
          <p:nvPr/>
        </p:nvSpPr>
        <p:spPr>
          <a:xfrm>
            <a:off x="914400" y="2962656"/>
            <a:ext cx="2990088" cy="237744"/>
          </a:xfrm>
          <a:prstGeom prst="rect">
            <a:avLst/>
          </a:prstGeom>
          <a:noFill/>
          <a:ln/>
        </p:spPr>
        <p:txBody>
          <a:bodyPr wrap="square" lIns="0" tIns="0" rIns="0" bIns="0" rtlCol="0" anchor="t"/>
          <a:lstStyle/>
          <a:p>
            <a:pPr algn="l" indent="0" marL="0">
              <a:buNone/>
            </a:pPr>
            <a:r>
              <a:rPr lang="en-US" sz="1240" dirty="0">
                <a:solidFill>
                  <a:srgbClr val="52606D"/>
                </a:solidFill>
                <a:latin typeface="Aptos" pitchFamily="34" charset="0"/>
                <a:ea typeface="Aptos" pitchFamily="34" charset="-122"/>
                <a:cs typeface="Aptos" pitchFamily="34" charset="-120"/>
              </a:rPr>
              <a:t>verificador de tipos</a:t>
            </a:r>
            <a:endParaRPr lang="en-US" sz="1240" dirty="0"/>
          </a:p>
        </p:txBody>
      </p:sp>
      <p:sp>
        <p:nvSpPr>
          <p:cNvPr id="15" name="Shape 12"/>
          <p:cNvSpPr/>
          <p:nvPr/>
        </p:nvSpPr>
        <p:spPr>
          <a:xfrm>
            <a:off x="914400" y="3310128"/>
            <a:ext cx="2990088" cy="0"/>
          </a:xfrm>
          <a:prstGeom prst="line">
            <a:avLst/>
          </a:prstGeom>
          <a:noFill/>
          <a:ln w="12700">
            <a:solidFill>
              <a:srgbClr val="D8CFC4"/>
            </a:solidFill>
            <a:prstDash val="solid"/>
            <a:headEnd type="none"/>
            <a:tailEnd type="none"/>
          </a:ln>
        </p:spPr>
      </p:sp>
      <p:sp>
        <p:nvSpPr>
          <p:cNvPr id="16" name="Text 13"/>
          <p:cNvSpPr txBox="1"/>
          <p:nvPr/>
        </p:nvSpPr>
        <p:spPr>
          <a:xfrm>
            <a:off x="914400" y="3419856"/>
            <a:ext cx="2990088" cy="182880"/>
          </a:xfrm>
          <a:prstGeom prst="rect">
            <a:avLst/>
          </a:prstGeom>
          <a:noFill/>
          <a:ln/>
        </p:spPr>
        <p:txBody>
          <a:bodyPr wrap="square" lIns="0" tIns="0" rIns="0" bIns="0" rtlCol="0" anchor="t"/>
          <a:lstStyle/>
          <a:p>
            <a:pPr algn="l" indent="0" marL="0">
              <a:buNone/>
            </a:pPr>
            <a:r>
              <a:rPr lang="en-US" sz="880" b="1" spc="115" kern="0" dirty="0">
                <a:solidFill>
                  <a:srgbClr val="96A3B2"/>
                </a:solidFill>
                <a:latin typeface="Aptos" pitchFamily="34" charset="0"/>
                <a:ea typeface="Aptos" pitchFamily="34" charset="-122"/>
                <a:cs typeface="Aptos" pitchFamily="34" charset="-120"/>
              </a:rPr>
              <a:t>COMPARA CONTRA</a:t>
            </a:r>
            <a:endParaRPr lang="en-US" sz="880" dirty="0"/>
          </a:p>
        </p:txBody>
      </p:sp>
      <p:sp>
        <p:nvSpPr>
          <p:cNvPr id="17" name="Text 14"/>
          <p:cNvSpPr txBox="1"/>
          <p:nvPr/>
        </p:nvSpPr>
        <p:spPr>
          <a:xfrm>
            <a:off x="914400" y="3639312"/>
            <a:ext cx="2990088" cy="457200"/>
          </a:xfrm>
          <a:prstGeom prst="rect">
            <a:avLst/>
          </a:prstGeom>
          <a:noFill/>
          <a:ln/>
        </p:spPr>
        <p:txBody>
          <a:bodyPr wrap="square" lIns="0" tIns="0" rIns="0" bIns="0" rtlCol="0" anchor="t"/>
          <a:lstStyle/>
          <a:p>
            <a:pPr algn="l" indent="0" marL="0">
              <a:buNone/>
            </a:pPr>
            <a:r>
              <a:rPr lang="en-US" sz="1460" b="1" dirty="0">
                <a:solidFill>
                  <a:srgbClr val="243B53"/>
                </a:solidFill>
                <a:latin typeface="Aptos" pitchFamily="34" charset="0"/>
                <a:ea typeface="Aptos" pitchFamily="34" charset="-122"/>
                <a:cs typeface="Aptos" pitchFamily="34" charset="-120"/>
              </a:rPr>
              <a:t>LOS TIPOS DECLARADOS</a:t>
            </a:r>
            <a:endParaRPr lang="en-US" sz="1460" dirty="0"/>
          </a:p>
        </p:txBody>
      </p:sp>
      <p:sp>
        <p:nvSpPr>
          <p:cNvPr id="18" name="Text 15"/>
          <p:cNvSpPr txBox="1"/>
          <p:nvPr/>
        </p:nvSpPr>
        <p:spPr>
          <a:xfrm>
            <a:off x="914400" y="4133088"/>
            <a:ext cx="2990088" cy="694944"/>
          </a:xfrm>
          <a:prstGeom prst="rect">
            <a:avLst/>
          </a:prstGeom>
          <a:noFill/>
          <a:ln/>
        </p:spPr>
        <p:txBody>
          <a:bodyPr wrap="square" lIns="0" tIns="0" rIns="0" bIns="0" rtlCol="0" anchor="t"/>
          <a:lstStyle/>
          <a:p>
            <a:pPr algn="l" indent="0" marL="0">
              <a:lnSpc>
                <a:spcPct val="116000"/>
              </a:lnSpc>
              <a:buNone/>
            </a:pPr>
            <a:r>
              <a:rPr lang="en-US" sz="1160" dirty="0">
                <a:solidFill>
                  <a:srgbClr val="52606D"/>
                </a:solidFill>
                <a:latin typeface="Aptos" pitchFamily="34" charset="0"/>
                <a:ea typeface="Aptos" pitchFamily="34" charset="-122"/>
                <a:cs typeface="Aptos" pitchFamily="34" charset="-120"/>
              </a:rPr>
              <a:t>Tipo de dato: la clase de valor que una función acepta y devuelve, escrita en el propio código.</a:t>
            </a:r>
            <a:endParaRPr lang="en-US" sz="1160" dirty="0"/>
          </a:p>
        </p:txBody>
      </p:sp>
      <p:sp>
        <p:nvSpPr>
          <p:cNvPr id="19" name="Text 16"/>
          <p:cNvSpPr txBox="1"/>
          <p:nvPr/>
        </p:nvSpPr>
        <p:spPr>
          <a:xfrm>
            <a:off x="914400" y="4864608"/>
            <a:ext cx="2990088" cy="512064"/>
          </a:xfrm>
          <a:prstGeom prst="rect">
            <a:avLst/>
          </a:prstGeom>
          <a:noFill/>
          <a:ln/>
        </p:spPr>
        <p:txBody>
          <a:bodyPr wrap="square" lIns="0" tIns="0" rIns="0" bIns="0" rtlCol="0" anchor="t"/>
          <a:lstStyle/>
          <a:p>
            <a:pPr algn="l" indent="0" marL="0">
              <a:lnSpc>
                <a:spcPct val="112000"/>
              </a:lnSpc>
              <a:buNone/>
            </a:pPr>
            <a:r>
              <a:rPr lang="en-US" sz="1240" b="1" dirty="0">
                <a:solidFill>
                  <a:srgbClr val="102A43"/>
                </a:solidFill>
                <a:latin typeface="Aptos" pitchFamily="34" charset="0"/>
                <a:ea typeface="Aptos" pitchFamily="34" charset="-122"/>
                <a:cs typeface="Aptos" pitchFamily="34" charset="-120"/>
              </a:rPr>
              <a:t>¿El código respeta los contratos que él mismo declara?</a:t>
            </a:r>
            <a:endParaRPr lang="en-US" sz="1240" dirty="0"/>
          </a:p>
        </p:txBody>
      </p:sp>
      <p:sp>
        <p:nvSpPr>
          <p:cNvPr id="20" name="Shape 17"/>
          <p:cNvSpPr/>
          <p:nvPr/>
        </p:nvSpPr>
        <p:spPr>
          <a:xfrm>
            <a:off x="4343400" y="2377440"/>
            <a:ext cx="3502152" cy="3072384"/>
          </a:xfrm>
          <a:prstGeom prst="rect">
            <a:avLst/>
          </a:prstGeom>
          <a:solidFill>
            <a:srgbClr val="E8F1F2"/>
          </a:solidFill>
          <a:ln w="12700">
            <a:solidFill>
              <a:srgbClr val="E8F1F2"/>
            </a:solidFill>
            <a:prstDash val="solid"/>
          </a:ln>
        </p:spPr>
      </p:sp>
      <p:sp>
        <p:nvSpPr>
          <p:cNvPr id="21" name="Shape 18"/>
          <p:cNvSpPr/>
          <p:nvPr/>
        </p:nvSpPr>
        <p:spPr>
          <a:xfrm>
            <a:off x="4343400" y="2377440"/>
            <a:ext cx="3502152" cy="91440"/>
          </a:xfrm>
          <a:prstGeom prst="rect">
            <a:avLst/>
          </a:prstGeom>
          <a:solidFill>
            <a:srgbClr val="0E6E7A"/>
          </a:solidFill>
          <a:ln w="12700">
            <a:solidFill>
              <a:srgbClr val="0E6E7A"/>
            </a:solidFill>
            <a:prstDash val="solid"/>
          </a:ln>
        </p:spPr>
      </p:sp>
      <p:sp>
        <p:nvSpPr>
          <p:cNvPr id="22" name="Text 19"/>
          <p:cNvSpPr txBox="1"/>
          <p:nvPr/>
        </p:nvSpPr>
        <p:spPr>
          <a:xfrm>
            <a:off x="4599432" y="2615184"/>
            <a:ext cx="2990088" cy="310896"/>
          </a:xfrm>
          <a:prstGeom prst="rect">
            <a:avLst/>
          </a:prstGeom>
          <a:noFill/>
          <a:ln/>
        </p:spPr>
        <p:txBody>
          <a:bodyPr wrap="square" lIns="0" tIns="0" rIns="0" bIns="0" rtlCol="0" anchor="t"/>
          <a:lstStyle/>
          <a:p>
            <a:pPr algn="l" indent="0" marL="0">
              <a:buNone/>
            </a:pPr>
            <a:r>
              <a:rPr lang="en-US" sz="1700" b="1" dirty="0">
                <a:solidFill>
                  <a:srgbClr val="0E6E7A"/>
                </a:solidFill>
                <a:latin typeface="Consolas" pitchFamily="34" charset="0"/>
                <a:ea typeface="Consolas" pitchFamily="34" charset="-122"/>
                <a:cs typeface="Consolas" pitchFamily="34" charset="-120"/>
              </a:rPr>
              <a:t>ruff</a:t>
            </a:r>
            <a:endParaRPr lang="en-US" sz="1700" dirty="0"/>
          </a:p>
        </p:txBody>
      </p:sp>
      <p:sp>
        <p:nvSpPr>
          <p:cNvPr id="23" name="Text 20"/>
          <p:cNvSpPr txBox="1"/>
          <p:nvPr/>
        </p:nvSpPr>
        <p:spPr>
          <a:xfrm>
            <a:off x="4599432" y="2962656"/>
            <a:ext cx="2990088" cy="237744"/>
          </a:xfrm>
          <a:prstGeom prst="rect">
            <a:avLst/>
          </a:prstGeom>
          <a:noFill/>
          <a:ln/>
        </p:spPr>
        <p:txBody>
          <a:bodyPr wrap="square" lIns="0" tIns="0" rIns="0" bIns="0" rtlCol="0" anchor="t"/>
          <a:lstStyle/>
          <a:p>
            <a:pPr algn="l" indent="0" marL="0">
              <a:buNone/>
            </a:pPr>
            <a:r>
              <a:rPr lang="en-US" sz="1240" dirty="0">
                <a:solidFill>
                  <a:srgbClr val="52606D"/>
                </a:solidFill>
                <a:latin typeface="Aptos" pitchFamily="34" charset="0"/>
                <a:ea typeface="Aptos" pitchFamily="34" charset="-122"/>
                <a:cs typeface="Aptos" pitchFamily="34" charset="-120"/>
              </a:rPr>
              <a:t>linter</a:t>
            </a:r>
            <a:endParaRPr lang="en-US" sz="1240" dirty="0"/>
          </a:p>
        </p:txBody>
      </p:sp>
      <p:sp>
        <p:nvSpPr>
          <p:cNvPr id="24" name="Shape 21"/>
          <p:cNvSpPr/>
          <p:nvPr/>
        </p:nvSpPr>
        <p:spPr>
          <a:xfrm>
            <a:off x="4599432" y="3310128"/>
            <a:ext cx="2990088" cy="0"/>
          </a:xfrm>
          <a:prstGeom prst="line">
            <a:avLst/>
          </a:prstGeom>
          <a:noFill/>
          <a:ln w="12700">
            <a:solidFill>
              <a:srgbClr val="D8CFC4"/>
            </a:solidFill>
            <a:prstDash val="solid"/>
            <a:headEnd type="none"/>
            <a:tailEnd type="none"/>
          </a:ln>
        </p:spPr>
      </p:sp>
      <p:sp>
        <p:nvSpPr>
          <p:cNvPr id="25" name="Text 22"/>
          <p:cNvSpPr txBox="1"/>
          <p:nvPr/>
        </p:nvSpPr>
        <p:spPr>
          <a:xfrm>
            <a:off x="4599432" y="3419856"/>
            <a:ext cx="2990088" cy="182880"/>
          </a:xfrm>
          <a:prstGeom prst="rect">
            <a:avLst/>
          </a:prstGeom>
          <a:noFill/>
          <a:ln/>
        </p:spPr>
        <p:txBody>
          <a:bodyPr wrap="square" lIns="0" tIns="0" rIns="0" bIns="0" rtlCol="0" anchor="t"/>
          <a:lstStyle/>
          <a:p>
            <a:pPr algn="l" indent="0" marL="0">
              <a:buNone/>
            </a:pPr>
            <a:r>
              <a:rPr lang="en-US" sz="880" b="1" spc="115" kern="0" dirty="0">
                <a:solidFill>
                  <a:srgbClr val="96A3B2"/>
                </a:solidFill>
                <a:latin typeface="Aptos" pitchFamily="34" charset="0"/>
                <a:ea typeface="Aptos" pitchFamily="34" charset="-122"/>
                <a:cs typeface="Aptos" pitchFamily="34" charset="-120"/>
              </a:rPr>
              <a:t>COMPARA CONTRA</a:t>
            </a:r>
            <a:endParaRPr lang="en-US" sz="880" dirty="0"/>
          </a:p>
        </p:txBody>
      </p:sp>
      <p:sp>
        <p:nvSpPr>
          <p:cNvPr id="26" name="Text 23"/>
          <p:cNvSpPr txBox="1"/>
          <p:nvPr/>
        </p:nvSpPr>
        <p:spPr>
          <a:xfrm>
            <a:off x="4599432" y="3639312"/>
            <a:ext cx="2990088" cy="457200"/>
          </a:xfrm>
          <a:prstGeom prst="rect">
            <a:avLst/>
          </a:prstGeom>
          <a:noFill/>
          <a:ln/>
        </p:spPr>
        <p:txBody>
          <a:bodyPr wrap="square" lIns="0" tIns="0" rIns="0" bIns="0" rtlCol="0" anchor="t"/>
          <a:lstStyle/>
          <a:p>
            <a:pPr algn="l" indent="0" marL="0">
              <a:buNone/>
            </a:pPr>
            <a:r>
              <a:rPr lang="en-US" sz="1460" b="1" dirty="0">
                <a:solidFill>
                  <a:srgbClr val="243B53"/>
                </a:solidFill>
                <a:latin typeface="Aptos" pitchFamily="34" charset="0"/>
                <a:ea typeface="Aptos" pitchFamily="34" charset="-122"/>
                <a:cs typeface="Aptos" pitchFamily="34" charset="-120"/>
              </a:rPr>
              <a:t>UN CATÁLOGO DE PATRONES</a:t>
            </a:r>
            <a:endParaRPr lang="en-US" sz="1460" dirty="0"/>
          </a:p>
        </p:txBody>
      </p:sp>
      <p:sp>
        <p:nvSpPr>
          <p:cNvPr id="27" name="Text 24"/>
          <p:cNvSpPr txBox="1"/>
          <p:nvPr/>
        </p:nvSpPr>
        <p:spPr>
          <a:xfrm>
            <a:off x="4599432" y="4133088"/>
            <a:ext cx="2990088" cy="694944"/>
          </a:xfrm>
          <a:prstGeom prst="rect">
            <a:avLst/>
          </a:prstGeom>
          <a:noFill/>
          <a:ln/>
        </p:spPr>
        <p:txBody>
          <a:bodyPr wrap="square" lIns="0" tIns="0" rIns="0" bIns="0" rtlCol="0" anchor="t"/>
          <a:lstStyle/>
          <a:p>
            <a:pPr algn="l" indent="0" marL="0">
              <a:lnSpc>
                <a:spcPct val="116000"/>
              </a:lnSpc>
              <a:buNone/>
            </a:pPr>
            <a:r>
              <a:rPr lang="en-US" sz="1160" dirty="0">
                <a:solidFill>
                  <a:srgbClr val="52606D"/>
                </a:solidFill>
                <a:latin typeface="Aptos" pitchFamily="34" charset="0"/>
                <a:ea typeface="Aptos" pitchFamily="34" charset="-122"/>
                <a:cs typeface="Aptos" pitchFamily="34" charset="-120"/>
              </a:rPr>
              <a:t>Patrón: una forma de escribir código que suele terminar en defecto, descrita como regla y numerada.</a:t>
            </a:r>
            <a:endParaRPr lang="en-US" sz="1160" dirty="0"/>
          </a:p>
        </p:txBody>
      </p:sp>
      <p:sp>
        <p:nvSpPr>
          <p:cNvPr id="28" name="Text 25"/>
          <p:cNvSpPr txBox="1"/>
          <p:nvPr/>
        </p:nvSpPr>
        <p:spPr>
          <a:xfrm>
            <a:off x="4599432" y="4864608"/>
            <a:ext cx="2990088" cy="512064"/>
          </a:xfrm>
          <a:prstGeom prst="rect">
            <a:avLst/>
          </a:prstGeom>
          <a:noFill/>
          <a:ln/>
        </p:spPr>
        <p:txBody>
          <a:bodyPr wrap="square" lIns="0" tIns="0" rIns="0" bIns="0" rtlCol="0" anchor="t"/>
          <a:lstStyle/>
          <a:p>
            <a:pPr algn="l" indent="0" marL="0">
              <a:lnSpc>
                <a:spcPct val="112000"/>
              </a:lnSpc>
              <a:buNone/>
            </a:pPr>
            <a:r>
              <a:rPr lang="en-US" sz="1240" b="1" dirty="0">
                <a:solidFill>
                  <a:srgbClr val="0E6E7A"/>
                </a:solidFill>
                <a:latin typeface="Aptos" pitchFamily="34" charset="0"/>
                <a:ea typeface="Aptos" pitchFamily="34" charset="-122"/>
                <a:cs typeface="Aptos" pitchFamily="34" charset="-120"/>
              </a:rPr>
              <a:t>¿Aparece alguna forma conocida de escribir un defecto?</a:t>
            </a:r>
            <a:endParaRPr lang="en-US" sz="1240" dirty="0"/>
          </a:p>
        </p:txBody>
      </p:sp>
      <p:sp>
        <p:nvSpPr>
          <p:cNvPr id="29" name="Shape 26"/>
          <p:cNvSpPr/>
          <p:nvPr/>
        </p:nvSpPr>
        <p:spPr>
          <a:xfrm>
            <a:off x="8028432" y="2377440"/>
            <a:ext cx="3502152" cy="3072384"/>
          </a:xfrm>
          <a:prstGeom prst="rect">
            <a:avLst/>
          </a:prstGeom>
          <a:solidFill>
            <a:srgbClr val="F6E7E2"/>
          </a:solidFill>
          <a:ln w="12700">
            <a:solidFill>
              <a:srgbClr val="F6E7E2"/>
            </a:solidFill>
            <a:prstDash val="solid"/>
          </a:ln>
        </p:spPr>
      </p:sp>
      <p:sp>
        <p:nvSpPr>
          <p:cNvPr id="30" name="Shape 27"/>
          <p:cNvSpPr/>
          <p:nvPr/>
        </p:nvSpPr>
        <p:spPr>
          <a:xfrm>
            <a:off x="8028432" y="2377440"/>
            <a:ext cx="3502152" cy="91440"/>
          </a:xfrm>
          <a:prstGeom prst="rect">
            <a:avLst/>
          </a:prstGeom>
          <a:solidFill>
            <a:srgbClr val="B3181E"/>
          </a:solidFill>
          <a:ln w="12700">
            <a:solidFill>
              <a:srgbClr val="B3181E"/>
            </a:solidFill>
            <a:prstDash val="solid"/>
          </a:ln>
        </p:spPr>
      </p:sp>
      <p:sp>
        <p:nvSpPr>
          <p:cNvPr id="31" name="Text 28"/>
          <p:cNvSpPr txBox="1"/>
          <p:nvPr/>
        </p:nvSpPr>
        <p:spPr>
          <a:xfrm>
            <a:off x="8284464" y="2615184"/>
            <a:ext cx="2990088" cy="310896"/>
          </a:xfrm>
          <a:prstGeom prst="rect">
            <a:avLst/>
          </a:prstGeom>
          <a:noFill/>
          <a:ln/>
        </p:spPr>
        <p:txBody>
          <a:bodyPr wrap="square" lIns="0" tIns="0" rIns="0" bIns="0" rtlCol="0" anchor="t"/>
          <a:lstStyle/>
          <a:p>
            <a:pPr algn="l" indent="0" marL="0">
              <a:buNone/>
            </a:pPr>
            <a:r>
              <a:rPr lang="en-US" sz="1700" b="1" dirty="0">
                <a:solidFill>
                  <a:srgbClr val="B3181E"/>
                </a:solidFill>
                <a:latin typeface="Consolas" pitchFamily="34" charset="0"/>
                <a:ea typeface="Consolas" pitchFamily="34" charset="-122"/>
                <a:cs typeface="Consolas" pitchFamily="34" charset="-120"/>
              </a:rPr>
              <a:t>la revisión</a:t>
            </a:r>
            <a:endParaRPr lang="en-US" sz="1700" dirty="0"/>
          </a:p>
        </p:txBody>
      </p:sp>
      <p:sp>
        <p:nvSpPr>
          <p:cNvPr id="32" name="Text 29"/>
          <p:cNvSpPr txBox="1"/>
          <p:nvPr/>
        </p:nvSpPr>
        <p:spPr>
          <a:xfrm>
            <a:off x="8284464" y="2962656"/>
            <a:ext cx="2990088" cy="237744"/>
          </a:xfrm>
          <a:prstGeom prst="rect">
            <a:avLst/>
          </a:prstGeom>
          <a:noFill/>
          <a:ln/>
        </p:spPr>
        <p:txBody>
          <a:bodyPr wrap="square" lIns="0" tIns="0" rIns="0" bIns="0" rtlCol="0" anchor="t"/>
          <a:lstStyle/>
          <a:p>
            <a:pPr algn="l" indent="0" marL="0">
              <a:buNone/>
            </a:pPr>
            <a:r>
              <a:rPr lang="en-US" sz="1240" dirty="0">
                <a:solidFill>
                  <a:srgbClr val="52606D"/>
                </a:solidFill>
                <a:latin typeface="Aptos" pitchFamily="34" charset="0"/>
                <a:ea typeface="Aptos" pitchFamily="34" charset="-122"/>
                <a:cs typeface="Aptos" pitchFamily="34" charset="-120"/>
              </a:rPr>
              <a:t>una persona leyendo</a:t>
            </a:r>
            <a:endParaRPr lang="en-US" sz="1240" dirty="0"/>
          </a:p>
        </p:txBody>
      </p:sp>
      <p:sp>
        <p:nvSpPr>
          <p:cNvPr id="33" name="Shape 30"/>
          <p:cNvSpPr/>
          <p:nvPr/>
        </p:nvSpPr>
        <p:spPr>
          <a:xfrm>
            <a:off x="8284464" y="3310128"/>
            <a:ext cx="2990088" cy="0"/>
          </a:xfrm>
          <a:prstGeom prst="line">
            <a:avLst/>
          </a:prstGeom>
          <a:noFill/>
          <a:ln w="12700">
            <a:solidFill>
              <a:srgbClr val="D8CFC4"/>
            </a:solidFill>
            <a:prstDash val="solid"/>
            <a:headEnd type="none"/>
            <a:tailEnd type="none"/>
          </a:ln>
        </p:spPr>
      </p:sp>
      <p:sp>
        <p:nvSpPr>
          <p:cNvPr id="34" name="Text 31"/>
          <p:cNvSpPr txBox="1"/>
          <p:nvPr/>
        </p:nvSpPr>
        <p:spPr>
          <a:xfrm>
            <a:off x="8284464" y="3419856"/>
            <a:ext cx="2990088" cy="182880"/>
          </a:xfrm>
          <a:prstGeom prst="rect">
            <a:avLst/>
          </a:prstGeom>
          <a:noFill/>
          <a:ln/>
        </p:spPr>
        <p:txBody>
          <a:bodyPr wrap="square" lIns="0" tIns="0" rIns="0" bIns="0" rtlCol="0" anchor="t"/>
          <a:lstStyle/>
          <a:p>
            <a:pPr algn="l" indent="0" marL="0">
              <a:buNone/>
            </a:pPr>
            <a:r>
              <a:rPr lang="en-US" sz="880" b="1" spc="115" kern="0" dirty="0">
                <a:solidFill>
                  <a:srgbClr val="96A3B2"/>
                </a:solidFill>
                <a:latin typeface="Aptos" pitchFamily="34" charset="0"/>
                <a:ea typeface="Aptos" pitchFamily="34" charset="-122"/>
                <a:cs typeface="Aptos" pitchFamily="34" charset="-120"/>
              </a:rPr>
              <a:t>COMPARA CONTRA</a:t>
            </a:r>
            <a:endParaRPr lang="en-US" sz="880" dirty="0"/>
          </a:p>
        </p:txBody>
      </p:sp>
      <p:sp>
        <p:nvSpPr>
          <p:cNvPr id="35" name="Text 32"/>
          <p:cNvSpPr txBox="1"/>
          <p:nvPr/>
        </p:nvSpPr>
        <p:spPr>
          <a:xfrm>
            <a:off x="8284464" y="3639312"/>
            <a:ext cx="2990088" cy="457200"/>
          </a:xfrm>
          <a:prstGeom prst="rect">
            <a:avLst/>
          </a:prstGeom>
          <a:noFill/>
          <a:ln/>
        </p:spPr>
        <p:txBody>
          <a:bodyPr wrap="square" lIns="0" tIns="0" rIns="0" bIns="0" rtlCol="0" anchor="t"/>
          <a:lstStyle/>
          <a:p>
            <a:pPr algn="l" indent="0" marL="0">
              <a:buNone/>
            </a:pPr>
            <a:r>
              <a:rPr lang="en-US" sz="1460" b="1" dirty="0">
                <a:solidFill>
                  <a:srgbClr val="243B53"/>
                </a:solidFill>
                <a:latin typeface="Aptos" pitchFamily="34" charset="0"/>
                <a:ea typeface="Aptos" pitchFamily="34" charset="-122"/>
                <a:cs typeface="Aptos" pitchFamily="34" charset="-120"/>
              </a:rPr>
              <a:t>EL REQUISITO</a:t>
            </a:r>
            <a:endParaRPr lang="en-US" sz="1460" dirty="0"/>
          </a:p>
        </p:txBody>
      </p:sp>
      <p:sp>
        <p:nvSpPr>
          <p:cNvPr id="36" name="Text 33"/>
          <p:cNvSpPr txBox="1"/>
          <p:nvPr/>
        </p:nvSpPr>
        <p:spPr>
          <a:xfrm>
            <a:off x="8284464" y="4133088"/>
            <a:ext cx="2990088" cy="694944"/>
          </a:xfrm>
          <a:prstGeom prst="rect">
            <a:avLst/>
          </a:prstGeom>
          <a:noFill/>
          <a:ln/>
        </p:spPr>
        <p:txBody>
          <a:bodyPr wrap="square" lIns="0" tIns="0" rIns="0" bIns="0" rtlCol="0" anchor="t"/>
          <a:lstStyle/>
          <a:p>
            <a:pPr algn="l" indent="0" marL="0">
              <a:lnSpc>
                <a:spcPct val="116000"/>
              </a:lnSpc>
              <a:buNone/>
            </a:pPr>
            <a:r>
              <a:rPr lang="en-US" sz="1160" dirty="0">
                <a:solidFill>
                  <a:srgbClr val="52606D"/>
                </a:solidFill>
                <a:latin typeface="Aptos" pitchFamily="34" charset="0"/>
                <a:ea typeface="Aptos" pitchFamily="34" charset="-122"/>
                <a:cs typeface="Aptos" pitchFamily="34" charset="-120"/>
              </a:rPr>
              <a:t>Requisito: la regla de negocio escrita en palabras, lo que el producto debe hacer, antes de existir como código.</a:t>
            </a:r>
            <a:endParaRPr lang="en-US" sz="1160" dirty="0"/>
          </a:p>
        </p:txBody>
      </p:sp>
      <p:sp>
        <p:nvSpPr>
          <p:cNvPr id="37" name="Text 34"/>
          <p:cNvSpPr txBox="1"/>
          <p:nvPr/>
        </p:nvSpPr>
        <p:spPr>
          <a:xfrm>
            <a:off x="8284464" y="4864608"/>
            <a:ext cx="2990088" cy="512064"/>
          </a:xfrm>
          <a:prstGeom prst="rect">
            <a:avLst/>
          </a:prstGeom>
          <a:noFill/>
          <a:ln/>
        </p:spPr>
        <p:txBody>
          <a:bodyPr wrap="square" lIns="0" tIns="0" rIns="0" bIns="0" rtlCol="0" anchor="t"/>
          <a:lstStyle/>
          <a:p>
            <a:pPr algn="l" indent="0" marL="0">
              <a:lnSpc>
                <a:spcPct val="112000"/>
              </a:lnSpc>
              <a:buNone/>
            </a:pPr>
            <a:r>
              <a:rPr lang="en-US" sz="1240" b="1" dirty="0">
                <a:solidFill>
                  <a:srgbClr val="B3181E"/>
                </a:solidFill>
                <a:latin typeface="Aptos" pitchFamily="34" charset="0"/>
                <a:ea typeface="Aptos" pitchFamily="34" charset="-122"/>
                <a:cs typeface="Aptos" pitchFamily="34" charset="-120"/>
              </a:rPr>
              <a:t>¿El código hace lo que el producto pidió?</a:t>
            </a:r>
            <a:endParaRPr lang="en-US" sz="1240" dirty="0"/>
          </a:p>
        </p:txBody>
      </p:sp>
      <p:sp>
        <p:nvSpPr>
          <p:cNvPr id="38" name="Shape 35"/>
          <p:cNvSpPr/>
          <p:nvPr/>
        </p:nvSpPr>
        <p:spPr>
          <a:xfrm>
            <a:off x="658368" y="5632704"/>
            <a:ext cx="10874959" cy="603504"/>
          </a:xfrm>
          <a:prstGeom prst="rect">
            <a:avLst/>
          </a:prstGeom>
          <a:solidFill>
            <a:srgbClr val="102A43"/>
          </a:solidFill>
          <a:ln w="12700">
            <a:solidFill>
              <a:srgbClr val="102A43"/>
            </a:solidFill>
            <a:prstDash val="solid"/>
          </a:ln>
        </p:spPr>
      </p:sp>
      <p:sp>
        <p:nvSpPr>
          <p:cNvPr id="39" name="Text 36"/>
          <p:cNvSpPr txBox="1"/>
          <p:nvPr/>
        </p:nvSpPr>
        <p:spPr>
          <a:xfrm>
            <a:off x="969264" y="5687568"/>
            <a:ext cx="10253167" cy="493776"/>
          </a:xfrm>
          <a:prstGeom prst="rect">
            <a:avLst/>
          </a:prstGeom>
          <a:noFill/>
          <a:ln/>
        </p:spPr>
        <p:txBody>
          <a:bodyPr wrap="square" lIns="0" tIns="0" rIns="0" bIns="0" rtlCol="0" anchor="ctr"/>
          <a:lstStyle/>
          <a:p>
            <a:pPr algn="ctr" indent="0" marL="0">
              <a:lnSpc>
                <a:spcPct val="114000"/>
              </a:lnSpc>
              <a:buNone/>
            </a:pPr>
            <a:r>
              <a:rPr lang="en-US" sz="1460" b="1" dirty="0">
                <a:solidFill>
                  <a:srgbClr val="FFFFFF"/>
                </a:solidFill>
                <a:latin typeface="Aptos" pitchFamily="34" charset="0"/>
                <a:ea typeface="Aptos" pitchFamily="34" charset="-122"/>
                <a:cs typeface="Aptos" pitchFamily="34" charset="-120"/>
              </a:rPr>
              <a:t>Las dos primeras comparan el código contra algo que vive dentro del código. La tercera es la única que mira hacia afuera.</a:t>
            </a:r>
            <a:endParaRPr lang="en-US" sz="14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1.2 · EL CASO QUE LO DEMUESTRA</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Este código pasa las dos barreras y está mal igual</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programa decide si un estudiante aprueba. La diferencia con lo que pidió el producto está en un solo carácter.</a:t>
            </a:r>
            <a:endParaRPr lang="en-US" sz="1450" dirty="0"/>
          </a:p>
        </p:txBody>
      </p:sp>
      <p:sp>
        <p:nvSpPr>
          <p:cNvPr id="11" name="Shape 8"/>
          <p:cNvSpPr/>
          <p:nvPr/>
        </p:nvSpPr>
        <p:spPr>
          <a:xfrm>
            <a:off x="658368" y="2267712"/>
            <a:ext cx="6053328" cy="1645920"/>
          </a:xfrm>
          <a:prstGeom prst="roundRect">
            <a:avLst>
              <a:gd name="adj" fmla="val 2222"/>
            </a:avLst>
          </a:prstGeom>
          <a:solidFill>
            <a:srgbClr val="102A43"/>
          </a:solidFill>
          <a:ln w="12700">
            <a:solidFill>
              <a:srgbClr val="102A43"/>
            </a:solidFill>
            <a:prstDash val="solid"/>
          </a:ln>
        </p:spPr>
      </p:sp>
      <p:sp>
        <p:nvSpPr>
          <p:cNvPr id="12" name="Shape 9"/>
          <p:cNvSpPr/>
          <p:nvPr/>
        </p:nvSpPr>
        <p:spPr>
          <a:xfrm>
            <a:off x="786384" y="2377440"/>
            <a:ext cx="5797296"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50592"/>
            <a:ext cx="5577840"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curso.py · decide si un estudiante aprueba</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34640"/>
            <a:ext cx="5632704" cy="896112"/>
          </a:xfrm>
          <a:prstGeom prst="rect">
            <a:avLst/>
          </a:prstGeom>
        </p:spPr>
      </p:pic>
      <p:sp>
        <p:nvSpPr>
          <p:cNvPr id="15" name="Shape 11"/>
          <p:cNvSpPr/>
          <p:nvPr/>
        </p:nvSpPr>
        <p:spPr>
          <a:xfrm>
            <a:off x="6967728" y="2267712"/>
            <a:ext cx="4562856" cy="1645920"/>
          </a:xfrm>
          <a:prstGeom prst="rect">
            <a:avLst/>
          </a:prstGeom>
          <a:solidFill>
            <a:srgbClr val="F2E7D9"/>
          </a:solidFill>
          <a:ln w="12700">
            <a:solidFill>
              <a:srgbClr val="F2E7D9"/>
            </a:solidFill>
            <a:prstDash val="solid"/>
          </a:ln>
        </p:spPr>
      </p:sp>
      <p:sp>
        <p:nvSpPr>
          <p:cNvPr id="16" name="Shape 12"/>
          <p:cNvSpPr/>
          <p:nvPr/>
        </p:nvSpPr>
        <p:spPr>
          <a:xfrm>
            <a:off x="6967728" y="2267712"/>
            <a:ext cx="73152" cy="1645920"/>
          </a:xfrm>
          <a:prstGeom prst="rect">
            <a:avLst/>
          </a:prstGeom>
          <a:solidFill>
            <a:srgbClr val="B3181E"/>
          </a:solidFill>
          <a:ln w="12700">
            <a:solidFill>
              <a:srgbClr val="B3181E"/>
            </a:solidFill>
            <a:prstDash val="solid"/>
          </a:ln>
        </p:spPr>
      </p:sp>
      <p:sp>
        <p:nvSpPr>
          <p:cNvPr id="17" name="Text 13"/>
          <p:cNvSpPr txBox="1"/>
          <p:nvPr/>
        </p:nvSpPr>
        <p:spPr>
          <a:xfrm>
            <a:off x="7260336" y="2432304"/>
            <a:ext cx="4023360" cy="182880"/>
          </a:xfrm>
          <a:prstGeom prst="rect">
            <a:avLst/>
          </a:prstGeom>
          <a:noFill/>
          <a:ln/>
        </p:spPr>
        <p:txBody>
          <a:bodyPr wrap="square" lIns="0" tIns="0" rIns="0" bIns="0" rtlCol="0" anchor="t"/>
          <a:lstStyle/>
          <a:p>
            <a:pPr algn="l" indent="0" marL="0">
              <a:buNone/>
            </a:pPr>
            <a:r>
              <a:rPr lang="en-US" sz="880" b="1" spc="115" kern="0" dirty="0">
                <a:solidFill>
                  <a:srgbClr val="B3181E"/>
                </a:solidFill>
                <a:latin typeface="Aptos" pitchFamily="34" charset="0"/>
                <a:ea typeface="Aptos" pitchFamily="34" charset="-122"/>
                <a:cs typeface="Aptos" pitchFamily="34" charset="-120"/>
              </a:rPr>
              <a:t>EL REQUISITO ESCRITO</a:t>
            </a:r>
            <a:endParaRPr lang="en-US" sz="880" dirty="0"/>
          </a:p>
        </p:txBody>
      </p:sp>
      <p:sp>
        <p:nvSpPr>
          <p:cNvPr id="18" name="Text 14"/>
          <p:cNvSpPr txBox="1"/>
          <p:nvPr/>
        </p:nvSpPr>
        <p:spPr>
          <a:xfrm>
            <a:off x="7260336" y="2706624"/>
            <a:ext cx="4023360" cy="1097280"/>
          </a:xfrm>
          <a:prstGeom prst="rect">
            <a:avLst/>
          </a:prstGeom>
          <a:noFill/>
          <a:ln/>
        </p:spPr>
        <p:txBody>
          <a:bodyPr wrap="square" lIns="0" tIns="0" rIns="0" bIns="0" rtlCol="0" anchor="t"/>
          <a:lstStyle/>
          <a:p>
            <a:pPr algn="l" indent="0" marL="0">
              <a:lnSpc>
                <a:spcPct val="124000"/>
              </a:lnSpc>
              <a:buNone/>
            </a:pPr>
            <a:r>
              <a:rPr lang="en-US" sz="1340" b="1" dirty="0">
                <a:solidFill>
                  <a:srgbClr val="102A43"/>
                </a:solidFill>
                <a:latin typeface="Aptos" pitchFamily="34" charset="0"/>
                <a:ea typeface="Aptos" pitchFamily="34" charset="-122"/>
                <a:cs typeface="Aptos" pitchFamily="34" charset="-120"/>
              </a:rPr>
              <a:t>Aprueba quien cumple las dos condiciones:</a:t>
            </a:r>
            <a:endParaRPr lang="en-US" sz="1340" dirty="0"/>
          </a:p>
          <a:p>
            <a:pPr algn="l" indent="0" marL="0">
              <a:lnSpc>
                <a:spcPct val="124000"/>
              </a:lnSpc>
              <a:buNone/>
            </a:pPr>
            <a:r>
              <a:rPr lang="en-US" sz="1340" b="1" dirty="0">
                <a:solidFill>
                  <a:srgbClr val="102A43"/>
                </a:solidFill>
                <a:latin typeface="Aptos" pitchFamily="34" charset="0"/>
                <a:ea typeface="Aptos" pitchFamily="34" charset="-122"/>
                <a:cs typeface="Aptos" pitchFamily="34" charset="-120"/>
              </a:rPr>
              <a:t>nota final mayor o igual a 4,0</a:t>
            </a:r>
            <a:endParaRPr lang="en-US" sz="1340" dirty="0"/>
          </a:p>
          <a:p>
            <a:pPr algn="l" indent="0" marL="0">
              <a:lnSpc>
                <a:spcPct val="124000"/>
              </a:lnSpc>
              <a:buNone/>
            </a:pPr>
            <a:r>
              <a:rPr lang="en-US" sz="1340" b="1" dirty="0">
                <a:solidFill>
                  <a:srgbClr val="102A43"/>
                </a:solidFill>
                <a:latin typeface="Aptos" pitchFamily="34" charset="0"/>
                <a:ea typeface="Aptos" pitchFamily="34" charset="-122"/>
                <a:cs typeface="Aptos" pitchFamily="34" charset="-120"/>
              </a:rPr>
              <a:t>asistencia mayor o igual a 70 por ciento</a:t>
            </a:r>
            <a:endParaRPr lang="en-US" sz="1340" dirty="0"/>
          </a:p>
        </p:txBody>
      </p:sp>
      <p:sp>
        <p:nvSpPr>
          <p:cNvPr id="19" name="Shape 15"/>
          <p:cNvSpPr/>
          <p:nvPr/>
        </p:nvSpPr>
        <p:spPr>
          <a:xfrm>
            <a:off x="658368" y="4041648"/>
            <a:ext cx="6053328" cy="1517904"/>
          </a:xfrm>
          <a:prstGeom prst="roundRect">
            <a:avLst>
              <a:gd name="adj" fmla="val 2410"/>
            </a:avLst>
          </a:prstGeom>
          <a:solidFill>
            <a:srgbClr val="0F1720"/>
          </a:solidFill>
          <a:ln w="12700">
            <a:solidFill>
              <a:srgbClr val="0F1720"/>
            </a:solidFill>
            <a:prstDash val="solid"/>
          </a:ln>
        </p:spPr>
      </p:sp>
      <p:sp>
        <p:nvSpPr>
          <p:cNvPr id="20" name="Shape 16"/>
          <p:cNvSpPr/>
          <p:nvPr/>
        </p:nvSpPr>
        <p:spPr>
          <a:xfrm>
            <a:off x="786384" y="4151376"/>
            <a:ext cx="5797296" cy="310896"/>
          </a:xfrm>
          <a:prstGeom prst="roundRect">
            <a:avLst>
              <a:gd name="adj" fmla="val 8824"/>
            </a:avLst>
          </a:prstGeom>
          <a:solidFill>
            <a:srgbClr val="1E2937"/>
          </a:solidFill>
          <a:ln w="12700">
            <a:solidFill>
              <a:srgbClr val="1E2937"/>
            </a:solidFill>
            <a:prstDash val="solid"/>
          </a:ln>
        </p:spPr>
      </p:sp>
      <p:sp>
        <p:nvSpPr>
          <p:cNvPr id="21" name="Text 17"/>
          <p:cNvSpPr/>
          <p:nvPr/>
        </p:nvSpPr>
        <p:spPr>
          <a:xfrm>
            <a:off x="914400" y="4224528"/>
            <a:ext cx="5541264"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PowerShell · las dos barreras sobre este archivo</a:t>
            </a:r>
            <a:endParaRPr lang="en-US" sz="1000" dirty="0"/>
          </a:p>
        </p:txBody>
      </p:sp>
      <p:sp>
        <p:nvSpPr>
          <p:cNvPr id="22" name="Text 18"/>
          <p:cNvSpPr/>
          <p:nvPr/>
        </p:nvSpPr>
        <p:spPr>
          <a:xfrm>
            <a:off x="877824" y="4608576"/>
            <a:ext cx="329184" cy="164592"/>
          </a:xfrm>
          <a:prstGeom prst="rect">
            <a:avLst/>
          </a:prstGeom>
          <a:noFill/>
          <a:ln/>
        </p:spPr>
        <p:txBody>
          <a:bodyPr wrap="square" lIns="0" tIns="0" rIns="0" bIns="0" rtlCol="0" anchor="ctr"/>
          <a:lstStyle/>
          <a:p>
            <a:pPr indent="0" marL="0">
              <a:buNone/>
            </a:pPr>
            <a:r>
              <a:rPr lang="en-US" sz="980" b="1" dirty="0">
                <a:solidFill>
                  <a:srgbClr val="E0BC5A"/>
                </a:solidFill>
                <a:latin typeface="Consolas" pitchFamily="34" charset="0"/>
                <a:ea typeface="Consolas" pitchFamily="34" charset="-122"/>
                <a:cs typeface="Consolas" pitchFamily="34" charset="-120"/>
              </a:rPr>
              <a:t>&gt;</a:t>
            </a:r>
            <a:endParaRPr lang="en-US" sz="980" dirty="0"/>
          </a:p>
        </p:txBody>
      </p:sp>
      <p:sp>
        <p:nvSpPr>
          <p:cNvPr id="23" name="Text 19"/>
          <p:cNvSpPr/>
          <p:nvPr/>
        </p:nvSpPr>
        <p:spPr>
          <a:xfrm>
            <a:off x="1188720" y="4608576"/>
            <a:ext cx="5303520"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uv run ruff check</a:t>
            </a:r>
            <a:endParaRPr lang="en-US" sz="980" dirty="0"/>
          </a:p>
        </p:txBody>
      </p:sp>
      <p:sp>
        <p:nvSpPr>
          <p:cNvPr id="24" name="Text 20"/>
          <p:cNvSpPr/>
          <p:nvPr/>
        </p:nvSpPr>
        <p:spPr>
          <a:xfrm>
            <a:off x="877824" y="4864608"/>
            <a:ext cx="5303520"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All checks passed!</a:t>
            </a:r>
            <a:endParaRPr lang="en-US" sz="980" dirty="0"/>
          </a:p>
        </p:txBody>
      </p:sp>
      <p:sp>
        <p:nvSpPr>
          <p:cNvPr id="25" name="Text 21"/>
          <p:cNvSpPr/>
          <p:nvPr/>
        </p:nvSpPr>
        <p:spPr>
          <a:xfrm>
            <a:off x="877824" y="5120640"/>
            <a:ext cx="329184" cy="164592"/>
          </a:xfrm>
          <a:prstGeom prst="rect">
            <a:avLst/>
          </a:prstGeom>
          <a:noFill/>
          <a:ln/>
        </p:spPr>
        <p:txBody>
          <a:bodyPr wrap="square" lIns="0" tIns="0" rIns="0" bIns="0" rtlCol="0" anchor="ctr"/>
          <a:lstStyle/>
          <a:p>
            <a:pPr indent="0" marL="0">
              <a:buNone/>
            </a:pPr>
            <a:r>
              <a:rPr lang="en-US" sz="980" b="1" dirty="0">
                <a:solidFill>
                  <a:srgbClr val="E0BC5A"/>
                </a:solidFill>
                <a:latin typeface="Consolas" pitchFamily="34" charset="0"/>
                <a:ea typeface="Consolas" pitchFamily="34" charset="-122"/>
                <a:cs typeface="Consolas" pitchFamily="34" charset="-120"/>
              </a:rPr>
              <a:t>&gt;</a:t>
            </a:r>
            <a:endParaRPr lang="en-US" sz="980" dirty="0"/>
          </a:p>
        </p:txBody>
      </p:sp>
      <p:sp>
        <p:nvSpPr>
          <p:cNvPr id="26" name="Text 22"/>
          <p:cNvSpPr/>
          <p:nvPr/>
        </p:nvSpPr>
        <p:spPr>
          <a:xfrm>
            <a:off x="1188720" y="5120640"/>
            <a:ext cx="5303520"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uv run pyrefly check</a:t>
            </a:r>
            <a:endParaRPr lang="en-US" sz="980" dirty="0"/>
          </a:p>
        </p:txBody>
      </p:sp>
      <p:sp>
        <p:nvSpPr>
          <p:cNvPr id="27" name="Text 23"/>
          <p:cNvSpPr/>
          <p:nvPr/>
        </p:nvSpPr>
        <p:spPr>
          <a:xfrm>
            <a:off x="877824" y="5376672"/>
            <a:ext cx="5303520"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INFO 0 errors</a:t>
            </a:r>
            <a:endParaRPr lang="en-US" sz="980" dirty="0"/>
          </a:p>
        </p:txBody>
      </p:sp>
      <p:sp>
        <p:nvSpPr>
          <p:cNvPr id="28" name="Shape 24"/>
          <p:cNvSpPr/>
          <p:nvPr/>
        </p:nvSpPr>
        <p:spPr>
          <a:xfrm>
            <a:off x="6967728" y="4041648"/>
            <a:ext cx="4562856" cy="1517904"/>
          </a:xfrm>
          <a:prstGeom prst="rect">
            <a:avLst/>
          </a:prstGeom>
          <a:solidFill>
            <a:srgbClr val="EDE9E1"/>
          </a:solidFill>
          <a:ln w="12700">
            <a:solidFill>
              <a:srgbClr val="EDE9E1"/>
            </a:solidFill>
            <a:prstDash val="solid"/>
          </a:ln>
        </p:spPr>
      </p:sp>
      <p:sp>
        <p:nvSpPr>
          <p:cNvPr id="29" name="Text 25"/>
          <p:cNvSpPr txBox="1"/>
          <p:nvPr/>
        </p:nvSpPr>
        <p:spPr>
          <a:xfrm>
            <a:off x="7260336" y="4206240"/>
            <a:ext cx="4023360" cy="182880"/>
          </a:xfrm>
          <a:prstGeom prst="rect">
            <a:avLst/>
          </a:prstGeom>
          <a:noFill/>
          <a:ln/>
        </p:spPr>
        <p:txBody>
          <a:bodyPr wrap="square" lIns="0" tIns="0" rIns="0" bIns="0" rtlCol="0" anchor="t"/>
          <a:lstStyle/>
          <a:p>
            <a:pPr algn="l" indent="0" marL="0">
              <a:buNone/>
            </a:pPr>
            <a:r>
              <a:rPr lang="en-US" sz="880" b="1" spc="115" kern="0" dirty="0">
                <a:solidFill>
                  <a:srgbClr val="96A3B2"/>
                </a:solidFill>
                <a:latin typeface="Aptos" pitchFamily="34" charset="0"/>
                <a:ea typeface="Aptos" pitchFamily="34" charset="-122"/>
                <a:cs typeface="Aptos" pitchFamily="34" charset="-120"/>
              </a:rPr>
              <a:t>LA DIFERENCIA</a:t>
            </a:r>
            <a:endParaRPr lang="en-US" sz="880" dirty="0"/>
          </a:p>
        </p:txBody>
      </p:sp>
      <p:sp>
        <p:nvSpPr>
          <p:cNvPr id="30" name="Text 26"/>
          <p:cNvSpPr txBox="1"/>
          <p:nvPr/>
        </p:nvSpPr>
        <p:spPr>
          <a:xfrm>
            <a:off x="7260336" y="4535424"/>
            <a:ext cx="1828800" cy="237744"/>
          </a:xfrm>
          <a:prstGeom prst="rect">
            <a:avLst/>
          </a:prstGeom>
          <a:noFill/>
          <a:ln/>
        </p:spPr>
        <p:txBody>
          <a:bodyPr wrap="square" lIns="0" tIns="0" rIns="0" bIns="0" rtlCol="0" anchor="t"/>
          <a:lstStyle/>
          <a:p>
            <a:pPr algn="l" indent="0" marL="0">
              <a:buNone/>
            </a:pPr>
            <a:r>
              <a:rPr lang="en-US" sz="1200" dirty="0">
                <a:solidFill>
                  <a:srgbClr val="52606D"/>
                </a:solidFill>
                <a:latin typeface="Aptos" pitchFamily="34" charset="0"/>
                <a:ea typeface="Aptos" pitchFamily="34" charset="-122"/>
                <a:cs typeface="Aptos" pitchFamily="34" charset="-120"/>
              </a:rPr>
              <a:t>el requisito dice</a:t>
            </a:r>
            <a:endParaRPr lang="en-US" sz="1200" dirty="0"/>
          </a:p>
        </p:txBody>
      </p:sp>
      <p:sp>
        <p:nvSpPr>
          <p:cNvPr id="31" name="Text 27"/>
          <p:cNvSpPr txBox="1"/>
          <p:nvPr/>
        </p:nvSpPr>
        <p:spPr>
          <a:xfrm>
            <a:off x="9125712" y="4498848"/>
            <a:ext cx="640080" cy="274320"/>
          </a:xfrm>
          <a:prstGeom prst="rect">
            <a:avLst/>
          </a:prstGeom>
          <a:noFill/>
          <a:ln/>
        </p:spPr>
        <p:txBody>
          <a:bodyPr wrap="square" lIns="0" tIns="0" rIns="0" bIns="0" rtlCol="0" anchor="t"/>
          <a:lstStyle/>
          <a:p>
            <a:pPr algn="l" indent="0" marL="0">
              <a:buNone/>
            </a:pPr>
            <a:r>
              <a:rPr lang="en-US" sz="1600" b="1" dirty="0">
                <a:solidFill>
                  <a:srgbClr val="2E7D4F"/>
                </a:solidFill>
                <a:latin typeface="Consolas" pitchFamily="34" charset="0"/>
                <a:ea typeface="Consolas" pitchFamily="34" charset="-122"/>
                <a:cs typeface="Consolas" pitchFamily="34" charset="-120"/>
              </a:rPr>
              <a:t>&gt;=</a:t>
            </a:r>
            <a:endParaRPr lang="en-US" sz="1600" dirty="0"/>
          </a:p>
        </p:txBody>
      </p:sp>
      <p:sp>
        <p:nvSpPr>
          <p:cNvPr id="32" name="Text 28"/>
          <p:cNvSpPr txBox="1"/>
          <p:nvPr/>
        </p:nvSpPr>
        <p:spPr>
          <a:xfrm>
            <a:off x="7260336" y="4901184"/>
            <a:ext cx="1828800" cy="237744"/>
          </a:xfrm>
          <a:prstGeom prst="rect">
            <a:avLst/>
          </a:prstGeom>
          <a:noFill/>
          <a:ln/>
        </p:spPr>
        <p:txBody>
          <a:bodyPr wrap="square" lIns="0" tIns="0" rIns="0" bIns="0" rtlCol="0" anchor="t"/>
          <a:lstStyle/>
          <a:p>
            <a:pPr algn="l" indent="0" marL="0">
              <a:buNone/>
            </a:pPr>
            <a:r>
              <a:rPr lang="en-US" sz="1200" dirty="0">
                <a:solidFill>
                  <a:srgbClr val="52606D"/>
                </a:solidFill>
                <a:latin typeface="Aptos" pitchFamily="34" charset="0"/>
                <a:ea typeface="Aptos" pitchFamily="34" charset="-122"/>
                <a:cs typeface="Aptos" pitchFamily="34" charset="-120"/>
              </a:rPr>
              <a:t>el programa dice</a:t>
            </a:r>
            <a:endParaRPr lang="en-US" sz="1200" dirty="0"/>
          </a:p>
        </p:txBody>
      </p:sp>
      <p:sp>
        <p:nvSpPr>
          <p:cNvPr id="33" name="Text 29"/>
          <p:cNvSpPr txBox="1"/>
          <p:nvPr/>
        </p:nvSpPr>
        <p:spPr>
          <a:xfrm>
            <a:off x="9125712" y="4864608"/>
            <a:ext cx="640080" cy="274320"/>
          </a:xfrm>
          <a:prstGeom prst="rect">
            <a:avLst/>
          </a:prstGeom>
          <a:noFill/>
          <a:ln/>
        </p:spPr>
        <p:txBody>
          <a:bodyPr wrap="square" lIns="0" tIns="0" rIns="0" bIns="0" rtlCol="0" anchor="t"/>
          <a:lstStyle/>
          <a:p>
            <a:pPr algn="l" indent="0" marL="0">
              <a:buNone/>
            </a:pPr>
            <a:r>
              <a:rPr lang="en-US" sz="1600" b="1" dirty="0">
                <a:solidFill>
                  <a:srgbClr val="B3181E"/>
                </a:solidFill>
                <a:latin typeface="Consolas" pitchFamily="34" charset="0"/>
                <a:ea typeface="Consolas" pitchFamily="34" charset="-122"/>
                <a:cs typeface="Consolas" pitchFamily="34" charset="-120"/>
              </a:rPr>
              <a:t>&gt;</a:t>
            </a:r>
            <a:endParaRPr lang="en-US" sz="1600" dirty="0"/>
          </a:p>
        </p:txBody>
      </p:sp>
      <p:sp>
        <p:nvSpPr>
          <p:cNvPr id="34" name="Text 30"/>
          <p:cNvSpPr txBox="1"/>
          <p:nvPr/>
        </p:nvSpPr>
        <p:spPr>
          <a:xfrm>
            <a:off x="7260336" y="5248656"/>
            <a:ext cx="4023360" cy="219456"/>
          </a:xfrm>
          <a:prstGeom prst="rect">
            <a:avLst/>
          </a:prstGeom>
          <a:noFill/>
          <a:ln/>
        </p:spPr>
        <p:txBody>
          <a:bodyPr wrap="square" lIns="0" tIns="0" rIns="0" bIns="0" rtlCol="0" anchor="t"/>
          <a:lstStyle/>
          <a:p>
            <a:pPr algn="l" indent="0" marL="0">
              <a:buNone/>
            </a:pPr>
            <a:r>
              <a:rPr lang="en-US" sz="1140" i="1" dirty="0">
                <a:solidFill>
                  <a:srgbClr val="B3181E"/>
                </a:solidFill>
                <a:latin typeface="Aptos" pitchFamily="34" charset="0"/>
                <a:ea typeface="Aptos" pitchFamily="34" charset="-122"/>
                <a:cs typeface="Aptos" pitchFamily="34" charset="-120"/>
              </a:rPr>
              <a:t>El estudiante con exactamente 70 % reprueba.</a:t>
            </a:r>
            <a:endParaRPr lang="en-US" sz="1140" dirty="0"/>
          </a:p>
        </p:txBody>
      </p:sp>
      <p:sp>
        <p:nvSpPr>
          <p:cNvPr id="35" name="Shape 31"/>
          <p:cNvSpPr/>
          <p:nvPr/>
        </p:nvSpPr>
        <p:spPr>
          <a:xfrm>
            <a:off x="658368" y="5687568"/>
            <a:ext cx="10874959" cy="548640"/>
          </a:xfrm>
          <a:prstGeom prst="rect">
            <a:avLst/>
          </a:prstGeom>
          <a:solidFill>
            <a:srgbClr val="102A43"/>
          </a:solidFill>
          <a:ln w="12700">
            <a:solidFill>
              <a:srgbClr val="102A43"/>
            </a:solidFill>
            <a:prstDash val="solid"/>
          </a:ln>
        </p:spPr>
      </p:sp>
      <p:sp>
        <p:nvSpPr>
          <p:cNvPr id="36" name="Text 32"/>
          <p:cNvSpPr txBox="1"/>
          <p:nvPr/>
        </p:nvSpPr>
        <p:spPr>
          <a:xfrm>
            <a:off x="969264" y="5742432"/>
            <a:ext cx="10253167" cy="438912"/>
          </a:xfrm>
          <a:prstGeom prst="rect">
            <a:avLst/>
          </a:prstGeom>
          <a:noFill/>
          <a:ln/>
        </p:spPr>
        <p:txBody>
          <a:bodyPr wrap="square" lIns="0" tIns="0" rIns="0" bIns="0" rtlCol="0" anchor="ctr"/>
          <a:lstStyle/>
          <a:p>
            <a:pPr algn="ctr" indent="0" marL="0">
              <a:lnSpc>
                <a:spcPct val="114000"/>
              </a:lnSpc>
              <a:buNone/>
            </a:pPr>
            <a:r>
              <a:rPr lang="en-US" sz="1460" b="1" dirty="0">
                <a:solidFill>
                  <a:srgbClr val="FFFFFF"/>
                </a:solidFill>
                <a:latin typeface="Aptos" pitchFamily="34" charset="0"/>
                <a:ea typeface="Aptos" pitchFamily="34" charset="-122"/>
                <a:cs typeface="Aptos" pitchFamily="34" charset="-120"/>
              </a:rPr>
              <a:t>Revisar es comparar lo que el código hace contra lo que se supone que tenía que hacer, antes de ejecutarlo.</a:t>
            </a:r>
            <a:endParaRPr lang="en-US" sz="14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1.3 · LA NORMA QUE ORDENA LA PALABRA</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Cinco actividades distintas se llaman «revisión»</a:t>
            </a:r>
            <a:endParaRPr lang="en-US" sz="3000" dirty="0"/>
          </a:p>
        </p:txBody>
      </p:sp>
      <p:sp>
        <p:nvSpPr>
          <p:cNvPr id="10" name="Text 7"/>
          <p:cNvSpPr txBox="1"/>
          <p:nvPr/>
        </p:nvSpPr>
        <p:spPr>
          <a:xfrm>
            <a:off x="658368" y="1773936"/>
            <a:ext cx="10424160" cy="54864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IEEE —organismo internacional de ingeniería eléctrica, electrónica y de computación— publica la norma 1028, que define cada una con su propósito, sus participantes y lo que debe quedar registrado.</a:t>
            </a:r>
            <a:endParaRPr lang="en-US" sz="1450" dirty="0"/>
          </a:p>
        </p:txBody>
      </p:sp>
      <p:sp>
        <p:nvSpPr>
          <p:cNvPr id="11" name="Text 8"/>
          <p:cNvSpPr txBox="1"/>
          <p:nvPr/>
        </p:nvSpPr>
        <p:spPr>
          <a:xfrm>
            <a:off x="877824" y="2432304"/>
            <a:ext cx="2176272" cy="182880"/>
          </a:xfrm>
          <a:prstGeom prst="rect">
            <a:avLst/>
          </a:prstGeom>
          <a:noFill/>
          <a:ln/>
        </p:spPr>
        <p:txBody>
          <a:bodyPr wrap="square" lIns="0" tIns="0" rIns="0" bIns="0" rtlCol="0" anchor="t"/>
          <a:lstStyle/>
          <a:p>
            <a:pPr algn="l" indent="0" marL="0">
              <a:buNone/>
            </a:pPr>
            <a:r>
              <a:rPr lang="en-US" sz="860" b="1" spc="110" kern="0" dirty="0">
                <a:solidFill>
                  <a:srgbClr val="96A3B2"/>
                </a:solidFill>
                <a:latin typeface="Aptos" pitchFamily="34" charset="0"/>
                <a:ea typeface="Aptos" pitchFamily="34" charset="-122"/>
                <a:cs typeface="Aptos" pitchFamily="34" charset="-120"/>
              </a:rPr>
              <a:t>TIPO</a:t>
            </a:r>
            <a:endParaRPr lang="en-US" sz="860" dirty="0"/>
          </a:p>
        </p:txBody>
      </p:sp>
      <p:sp>
        <p:nvSpPr>
          <p:cNvPr id="12" name="Text 9"/>
          <p:cNvSpPr txBox="1"/>
          <p:nvPr/>
        </p:nvSpPr>
        <p:spPr>
          <a:xfrm>
            <a:off x="3127248" y="2432304"/>
            <a:ext cx="3035808" cy="182880"/>
          </a:xfrm>
          <a:prstGeom prst="rect">
            <a:avLst/>
          </a:prstGeom>
          <a:noFill/>
          <a:ln/>
        </p:spPr>
        <p:txBody>
          <a:bodyPr wrap="square" lIns="0" tIns="0" rIns="0" bIns="0" rtlCol="0" anchor="t"/>
          <a:lstStyle/>
          <a:p>
            <a:pPr algn="l" indent="0" marL="0">
              <a:buNone/>
            </a:pPr>
            <a:r>
              <a:rPr lang="en-US" sz="860" b="1" spc="110" kern="0" dirty="0">
                <a:solidFill>
                  <a:srgbClr val="96A3B2"/>
                </a:solidFill>
                <a:latin typeface="Aptos" pitchFamily="34" charset="0"/>
                <a:ea typeface="Aptos" pitchFamily="34" charset="-122"/>
                <a:cs typeface="Aptos" pitchFamily="34" charset="-120"/>
              </a:rPr>
              <a:t>QUÉ EXAMINA</a:t>
            </a:r>
            <a:endParaRPr lang="en-US" sz="860" dirty="0"/>
          </a:p>
        </p:txBody>
      </p:sp>
      <p:sp>
        <p:nvSpPr>
          <p:cNvPr id="13" name="Text 10"/>
          <p:cNvSpPr txBox="1"/>
          <p:nvPr/>
        </p:nvSpPr>
        <p:spPr>
          <a:xfrm>
            <a:off x="6272784" y="2432304"/>
            <a:ext cx="2487168" cy="182880"/>
          </a:xfrm>
          <a:prstGeom prst="rect">
            <a:avLst/>
          </a:prstGeom>
          <a:noFill/>
          <a:ln/>
        </p:spPr>
        <p:txBody>
          <a:bodyPr wrap="square" lIns="0" tIns="0" rIns="0" bIns="0" rtlCol="0" anchor="t"/>
          <a:lstStyle/>
          <a:p>
            <a:pPr algn="l" indent="0" marL="0">
              <a:buNone/>
            </a:pPr>
            <a:r>
              <a:rPr lang="en-US" sz="860" b="1" spc="110" kern="0" dirty="0">
                <a:solidFill>
                  <a:srgbClr val="96A3B2"/>
                </a:solidFill>
                <a:latin typeface="Aptos" pitchFamily="34" charset="0"/>
                <a:ea typeface="Aptos" pitchFamily="34" charset="-122"/>
                <a:cs typeface="Aptos" pitchFamily="34" charset="-120"/>
              </a:rPr>
              <a:t>QUIÉN PARTICIPA</a:t>
            </a:r>
            <a:endParaRPr lang="en-US" sz="860" dirty="0"/>
          </a:p>
        </p:txBody>
      </p:sp>
      <p:sp>
        <p:nvSpPr>
          <p:cNvPr id="14" name="Text 11"/>
          <p:cNvSpPr txBox="1"/>
          <p:nvPr/>
        </p:nvSpPr>
        <p:spPr>
          <a:xfrm>
            <a:off x="8851392" y="2432304"/>
            <a:ext cx="2679192" cy="182880"/>
          </a:xfrm>
          <a:prstGeom prst="rect">
            <a:avLst/>
          </a:prstGeom>
          <a:noFill/>
          <a:ln/>
        </p:spPr>
        <p:txBody>
          <a:bodyPr wrap="square" lIns="0" tIns="0" rIns="0" bIns="0" rtlCol="0" anchor="t"/>
          <a:lstStyle/>
          <a:p>
            <a:pPr algn="l" indent="0" marL="0">
              <a:buNone/>
            </a:pPr>
            <a:r>
              <a:rPr lang="en-US" sz="860" b="1" spc="110" kern="0" dirty="0">
                <a:solidFill>
                  <a:srgbClr val="96A3B2"/>
                </a:solidFill>
                <a:latin typeface="Aptos" pitchFamily="34" charset="0"/>
                <a:ea typeface="Aptos" pitchFamily="34" charset="-122"/>
                <a:cs typeface="Aptos" pitchFamily="34" charset="-120"/>
              </a:rPr>
              <a:t>QUÉ PRODUCE</a:t>
            </a:r>
            <a:endParaRPr lang="en-US" sz="860" dirty="0"/>
          </a:p>
        </p:txBody>
      </p:sp>
      <p:sp>
        <p:nvSpPr>
          <p:cNvPr id="15" name="Shape 12"/>
          <p:cNvSpPr/>
          <p:nvPr/>
        </p:nvSpPr>
        <p:spPr>
          <a:xfrm>
            <a:off x="658368" y="2688336"/>
            <a:ext cx="10874959" cy="0"/>
          </a:xfrm>
          <a:prstGeom prst="line">
            <a:avLst/>
          </a:prstGeom>
          <a:noFill/>
          <a:ln w="12700">
            <a:solidFill>
              <a:srgbClr val="D8CFC4"/>
            </a:solidFill>
            <a:prstDash val="solid"/>
            <a:headEnd type="none"/>
            <a:tailEnd type="none"/>
          </a:ln>
        </p:spPr>
      </p:sp>
      <p:sp>
        <p:nvSpPr>
          <p:cNvPr id="16" name="Shape 13"/>
          <p:cNvSpPr/>
          <p:nvPr/>
        </p:nvSpPr>
        <p:spPr>
          <a:xfrm>
            <a:off x="658368" y="2834640"/>
            <a:ext cx="45720" cy="329184"/>
          </a:xfrm>
          <a:prstGeom prst="rect">
            <a:avLst/>
          </a:prstGeom>
          <a:solidFill>
            <a:srgbClr val="102A43"/>
          </a:solidFill>
          <a:ln w="12700">
            <a:solidFill>
              <a:srgbClr val="102A43"/>
            </a:solidFill>
            <a:prstDash val="solid"/>
          </a:ln>
        </p:spPr>
      </p:sp>
      <p:sp>
        <p:nvSpPr>
          <p:cNvPr id="17" name="Text 14"/>
          <p:cNvSpPr txBox="1"/>
          <p:nvPr/>
        </p:nvSpPr>
        <p:spPr>
          <a:xfrm>
            <a:off x="877824" y="2816352"/>
            <a:ext cx="2176272" cy="292608"/>
          </a:xfrm>
          <a:prstGeom prst="rect">
            <a:avLst/>
          </a:prstGeom>
          <a:noFill/>
          <a:ln/>
        </p:spPr>
        <p:txBody>
          <a:bodyPr wrap="square" lIns="0" tIns="0" rIns="0" bIns="0" rtlCol="0" anchor="t"/>
          <a:lstStyle/>
          <a:p>
            <a:pPr algn="l" indent="0" marL="0">
              <a:buNone/>
            </a:pPr>
            <a:r>
              <a:rPr lang="en-US" sz="1320" b="1" dirty="0">
                <a:solidFill>
                  <a:srgbClr val="243B53"/>
                </a:solidFill>
                <a:latin typeface="Aptos" pitchFamily="34" charset="0"/>
                <a:ea typeface="Aptos" pitchFamily="34" charset="-122"/>
                <a:cs typeface="Aptos" pitchFamily="34" charset="-120"/>
              </a:rPr>
              <a:t>Revisión de gestión</a:t>
            </a:r>
            <a:endParaRPr lang="en-US" sz="1320" dirty="0"/>
          </a:p>
        </p:txBody>
      </p:sp>
      <p:sp>
        <p:nvSpPr>
          <p:cNvPr id="18" name="Text 15"/>
          <p:cNvSpPr txBox="1"/>
          <p:nvPr/>
        </p:nvSpPr>
        <p:spPr>
          <a:xfrm>
            <a:off x="3127248" y="2834640"/>
            <a:ext cx="3035808"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El avance, los planes y los plazos</a:t>
            </a:r>
            <a:endParaRPr lang="en-US" sz="1180" dirty="0"/>
          </a:p>
        </p:txBody>
      </p:sp>
      <p:sp>
        <p:nvSpPr>
          <p:cNvPr id="19" name="Text 16"/>
          <p:cNvSpPr txBox="1"/>
          <p:nvPr/>
        </p:nvSpPr>
        <p:spPr>
          <a:xfrm>
            <a:off x="6272784" y="2834640"/>
            <a:ext cx="2487168"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La jefatura</a:t>
            </a:r>
            <a:endParaRPr lang="en-US" sz="1180" dirty="0"/>
          </a:p>
        </p:txBody>
      </p:sp>
      <p:sp>
        <p:nvSpPr>
          <p:cNvPr id="20" name="Text 17"/>
          <p:cNvSpPr txBox="1"/>
          <p:nvPr/>
        </p:nvSpPr>
        <p:spPr>
          <a:xfrm>
            <a:off x="8851392" y="2834640"/>
            <a:ext cx="2679192"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Una decisión sobre el proyecto</a:t>
            </a:r>
            <a:endParaRPr lang="en-US" sz="1180" dirty="0"/>
          </a:p>
        </p:txBody>
      </p:sp>
      <p:sp>
        <p:nvSpPr>
          <p:cNvPr id="21" name="Shape 18"/>
          <p:cNvSpPr/>
          <p:nvPr/>
        </p:nvSpPr>
        <p:spPr>
          <a:xfrm>
            <a:off x="658368" y="3218688"/>
            <a:ext cx="10874959" cy="0"/>
          </a:xfrm>
          <a:prstGeom prst="line">
            <a:avLst/>
          </a:prstGeom>
          <a:noFill/>
          <a:ln w="12700">
            <a:solidFill>
              <a:srgbClr val="D8CFC4"/>
            </a:solidFill>
            <a:prstDash val="solid"/>
            <a:headEnd type="none"/>
            <a:tailEnd type="none"/>
          </a:ln>
        </p:spPr>
      </p:sp>
      <p:sp>
        <p:nvSpPr>
          <p:cNvPr id="22" name="Shape 19"/>
          <p:cNvSpPr/>
          <p:nvPr/>
        </p:nvSpPr>
        <p:spPr>
          <a:xfrm>
            <a:off x="658368" y="3328416"/>
            <a:ext cx="45720" cy="329184"/>
          </a:xfrm>
          <a:prstGeom prst="rect">
            <a:avLst/>
          </a:prstGeom>
          <a:solidFill>
            <a:srgbClr val="0E6E7A"/>
          </a:solidFill>
          <a:ln w="12700">
            <a:solidFill>
              <a:srgbClr val="0E6E7A"/>
            </a:solidFill>
            <a:prstDash val="solid"/>
          </a:ln>
        </p:spPr>
      </p:sp>
      <p:sp>
        <p:nvSpPr>
          <p:cNvPr id="23" name="Text 20"/>
          <p:cNvSpPr txBox="1"/>
          <p:nvPr/>
        </p:nvSpPr>
        <p:spPr>
          <a:xfrm>
            <a:off x="877824" y="3310128"/>
            <a:ext cx="2176272" cy="292608"/>
          </a:xfrm>
          <a:prstGeom prst="rect">
            <a:avLst/>
          </a:prstGeom>
          <a:noFill/>
          <a:ln/>
        </p:spPr>
        <p:txBody>
          <a:bodyPr wrap="square" lIns="0" tIns="0" rIns="0" bIns="0" rtlCol="0" anchor="t"/>
          <a:lstStyle/>
          <a:p>
            <a:pPr algn="l" indent="0" marL="0">
              <a:buNone/>
            </a:pPr>
            <a:r>
              <a:rPr lang="en-US" sz="1320" b="1" dirty="0">
                <a:solidFill>
                  <a:srgbClr val="243B53"/>
                </a:solidFill>
                <a:latin typeface="Aptos" pitchFamily="34" charset="0"/>
                <a:ea typeface="Aptos" pitchFamily="34" charset="-122"/>
                <a:cs typeface="Aptos" pitchFamily="34" charset="-120"/>
              </a:rPr>
              <a:t>Revisión técnica</a:t>
            </a:r>
            <a:endParaRPr lang="en-US" sz="1320" dirty="0"/>
          </a:p>
        </p:txBody>
      </p:sp>
      <p:sp>
        <p:nvSpPr>
          <p:cNvPr id="24" name="Text 21"/>
          <p:cNvSpPr txBox="1"/>
          <p:nvPr/>
        </p:nvSpPr>
        <p:spPr>
          <a:xfrm>
            <a:off x="3127248" y="3328416"/>
            <a:ext cx="3035808"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Si el producto sirve para el uso previsto</a:t>
            </a:r>
            <a:endParaRPr lang="en-US" sz="1180" dirty="0"/>
          </a:p>
        </p:txBody>
      </p:sp>
      <p:sp>
        <p:nvSpPr>
          <p:cNvPr id="25" name="Text 22"/>
          <p:cNvSpPr txBox="1"/>
          <p:nvPr/>
        </p:nvSpPr>
        <p:spPr>
          <a:xfrm>
            <a:off x="6272784" y="3328416"/>
            <a:ext cx="2487168"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Personas con competencia técnica</a:t>
            </a:r>
            <a:endParaRPr lang="en-US" sz="1180" dirty="0"/>
          </a:p>
        </p:txBody>
      </p:sp>
      <p:sp>
        <p:nvSpPr>
          <p:cNvPr id="26" name="Text 23"/>
          <p:cNvSpPr txBox="1"/>
          <p:nvPr/>
        </p:nvSpPr>
        <p:spPr>
          <a:xfrm>
            <a:off x="8851392" y="3328416"/>
            <a:ext cx="2679192"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Un juicio técnico fundado</a:t>
            </a:r>
            <a:endParaRPr lang="en-US" sz="1180" dirty="0"/>
          </a:p>
        </p:txBody>
      </p:sp>
      <p:sp>
        <p:nvSpPr>
          <p:cNvPr id="27" name="Shape 24"/>
          <p:cNvSpPr/>
          <p:nvPr/>
        </p:nvSpPr>
        <p:spPr>
          <a:xfrm>
            <a:off x="658368" y="3712464"/>
            <a:ext cx="10874959" cy="0"/>
          </a:xfrm>
          <a:prstGeom prst="line">
            <a:avLst/>
          </a:prstGeom>
          <a:noFill/>
          <a:ln w="12700">
            <a:solidFill>
              <a:srgbClr val="D8CFC4"/>
            </a:solidFill>
            <a:prstDash val="solid"/>
            <a:headEnd type="none"/>
            <a:tailEnd type="none"/>
          </a:ln>
        </p:spPr>
      </p:sp>
      <p:sp>
        <p:nvSpPr>
          <p:cNvPr id="28" name="Shape 25"/>
          <p:cNvSpPr/>
          <p:nvPr/>
        </p:nvSpPr>
        <p:spPr>
          <a:xfrm>
            <a:off x="658368" y="3822192"/>
            <a:ext cx="45720" cy="329184"/>
          </a:xfrm>
          <a:prstGeom prst="rect">
            <a:avLst/>
          </a:prstGeom>
          <a:solidFill>
            <a:srgbClr val="B3181E"/>
          </a:solidFill>
          <a:ln w="12700">
            <a:solidFill>
              <a:srgbClr val="B3181E"/>
            </a:solidFill>
            <a:prstDash val="solid"/>
          </a:ln>
        </p:spPr>
      </p:sp>
      <p:sp>
        <p:nvSpPr>
          <p:cNvPr id="29" name="Text 26"/>
          <p:cNvSpPr txBox="1"/>
          <p:nvPr/>
        </p:nvSpPr>
        <p:spPr>
          <a:xfrm>
            <a:off x="877824" y="3803904"/>
            <a:ext cx="2176272" cy="292608"/>
          </a:xfrm>
          <a:prstGeom prst="rect">
            <a:avLst/>
          </a:prstGeom>
          <a:noFill/>
          <a:ln/>
        </p:spPr>
        <p:txBody>
          <a:bodyPr wrap="square" lIns="0" tIns="0" rIns="0" bIns="0" rtlCol="0" anchor="t"/>
          <a:lstStyle/>
          <a:p>
            <a:pPr algn="l" indent="0" marL="0">
              <a:buNone/>
            </a:pPr>
            <a:r>
              <a:rPr lang="en-US" sz="1320" b="1" dirty="0">
                <a:solidFill>
                  <a:srgbClr val="243B53"/>
                </a:solidFill>
                <a:latin typeface="Aptos" pitchFamily="34" charset="0"/>
                <a:ea typeface="Aptos" pitchFamily="34" charset="-122"/>
                <a:cs typeface="Aptos" pitchFamily="34" charset="-120"/>
              </a:rPr>
              <a:t>Inspección</a:t>
            </a:r>
            <a:endParaRPr lang="en-US" sz="1320" dirty="0"/>
          </a:p>
        </p:txBody>
      </p:sp>
      <p:sp>
        <p:nvSpPr>
          <p:cNvPr id="30" name="Text 27"/>
          <p:cNvSpPr txBox="1"/>
          <p:nvPr/>
        </p:nvSpPr>
        <p:spPr>
          <a:xfrm>
            <a:off x="3127248" y="3822192"/>
            <a:ext cx="3035808"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El producto, buscando anomalías</a:t>
            </a:r>
            <a:endParaRPr lang="en-US" sz="1180" dirty="0"/>
          </a:p>
        </p:txBody>
      </p:sp>
      <p:sp>
        <p:nvSpPr>
          <p:cNvPr id="31" name="Text 28"/>
          <p:cNvSpPr txBox="1"/>
          <p:nvPr/>
        </p:nvSpPr>
        <p:spPr>
          <a:xfrm>
            <a:off x="6272784" y="3822192"/>
            <a:ext cx="2487168"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Pares, con un facilitador imparcial</a:t>
            </a:r>
            <a:endParaRPr lang="en-US" sz="1180" dirty="0"/>
          </a:p>
        </p:txBody>
      </p:sp>
      <p:sp>
        <p:nvSpPr>
          <p:cNvPr id="32" name="Text 29"/>
          <p:cNvSpPr txBox="1"/>
          <p:nvPr/>
        </p:nvSpPr>
        <p:spPr>
          <a:xfrm>
            <a:off x="8851392" y="3822192"/>
            <a:ext cx="2679192"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Una lista de anomalías registradas</a:t>
            </a:r>
            <a:endParaRPr lang="en-US" sz="1180" dirty="0"/>
          </a:p>
        </p:txBody>
      </p:sp>
      <p:sp>
        <p:nvSpPr>
          <p:cNvPr id="33" name="Shape 30"/>
          <p:cNvSpPr/>
          <p:nvPr/>
        </p:nvSpPr>
        <p:spPr>
          <a:xfrm>
            <a:off x="658368" y="4206240"/>
            <a:ext cx="10874959" cy="0"/>
          </a:xfrm>
          <a:prstGeom prst="line">
            <a:avLst/>
          </a:prstGeom>
          <a:noFill/>
          <a:ln w="12700">
            <a:solidFill>
              <a:srgbClr val="D8CFC4"/>
            </a:solidFill>
            <a:prstDash val="solid"/>
            <a:headEnd type="none"/>
            <a:tailEnd type="none"/>
          </a:ln>
        </p:spPr>
      </p:sp>
      <p:sp>
        <p:nvSpPr>
          <p:cNvPr id="34" name="Shape 31"/>
          <p:cNvSpPr/>
          <p:nvPr/>
        </p:nvSpPr>
        <p:spPr>
          <a:xfrm>
            <a:off x="658368" y="4315968"/>
            <a:ext cx="45720" cy="329184"/>
          </a:xfrm>
          <a:prstGeom prst="rect">
            <a:avLst/>
          </a:prstGeom>
          <a:solidFill>
            <a:srgbClr val="8A6A12"/>
          </a:solidFill>
          <a:ln w="12700">
            <a:solidFill>
              <a:srgbClr val="8A6A12"/>
            </a:solidFill>
            <a:prstDash val="solid"/>
          </a:ln>
        </p:spPr>
      </p:sp>
      <p:sp>
        <p:nvSpPr>
          <p:cNvPr id="35" name="Text 32"/>
          <p:cNvSpPr txBox="1"/>
          <p:nvPr/>
        </p:nvSpPr>
        <p:spPr>
          <a:xfrm>
            <a:off x="877824" y="4297680"/>
            <a:ext cx="2176272" cy="292608"/>
          </a:xfrm>
          <a:prstGeom prst="rect">
            <a:avLst/>
          </a:prstGeom>
          <a:noFill/>
          <a:ln/>
        </p:spPr>
        <p:txBody>
          <a:bodyPr wrap="square" lIns="0" tIns="0" rIns="0" bIns="0" rtlCol="0" anchor="t"/>
          <a:lstStyle/>
          <a:p>
            <a:pPr algn="l" indent="0" marL="0">
              <a:buNone/>
            </a:pPr>
            <a:r>
              <a:rPr lang="en-US" sz="1320" b="1" dirty="0">
                <a:solidFill>
                  <a:srgbClr val="243B53"/>
                </a:solidFill>
                <a:latin typeface="Aptos" pitchFamily="34" charset="0"/>
                <a:ea typeface="Aptos" pitchFamily="34" charset="-122"/>
                <a:cs typeface="Aptos" pitchFamily="34" charset="-120"/>
              </a:rPr>
              <a:t>Recorrido</a:t>
            </a:r>
            <a:endParaRPr lang="en-US" sz="1320" dirty="0"/>
          </a:p>
        </p:txBody>
      </p:sp>
      <p:sp>
        <p:nvSpPr>
          <p:cNvPr id="36" name="Text 33"/>
          <p:cNvSpPr txBox="1"/>
          <p:nvPr/>
        </p:nvSpPr>
        <p:spPr>
          <a:xfrm>
            <a:off x="3127248" y="4315968"/>
            <a:ext cx="3035808"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El producto, explicado por su autor</a:t>
            </a:r>
            <a:endParaRPr lang="en-US" sz="1180" dirty="0"/>
          </a:p>
        </p:txBody>
      </p:sp>
      <p:sp>
        <p:nvSpPr>
          <p:cNvPr id="37" name="Text 34"/>
          <p:cNvSpPr txBox="1"/>
          <p:nvPr/>
        </p:nvSpPr>
        <p:spPr>
          <a:xfrm>
            <a:off x="6272784" y="4315968"/>
            <a:ext cx="2487168"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El autor y su equipo</a:t>
            </a:r>
            <a:endParaRPr lang="en-US" sz="1180" dirty="0"/>
          </a:p>
        </p:txBody>
      </p:sp>
      <p:sp>
        <p:nvSpPr>
          <p:cNvPr id="38" name="Text 35"/>
          <p:cNvSpPr txBox="1"/>
          <p:nvPr/>
        </p:nvSpPr>
        <p:spPr>
          <a:xfrm>
            <a:off x="8851392" y="4315968"/>
            <a:ext cx="2679192"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Comentarios y aprendizaje</a:t>
            </a:r>
            <a:endParaRPr lang="en-US" sz="1180" dirty="0"/>
          </a:p>
        </p:txBody>
      </p:sp>
      <p:sp>
        <p:nvSpPr>
          <p:cNvPr id="39" name="Shape 36"/>
          <p:cNvSpPr/>
          <p:nvPr/>
        </p:nvSpPr>
        <p:spPr>
          <a:xfrm>
            <a:off x="658368" y="4700016"/>
            <a:ext cx="10874959" cy="0"/>
          </a:xfrm>
          <a:prstGeom prst="line">
            <a:avLst/>
          </a:prstGeom>
          <a:noFill/>
          <a:ln w="12700">
            <a:solidFill>
              <a:srgbClr val="D8CFC4"/>
            </a:solidFill>
            <a:prstDash val="solid"/>
            <a:headEnd type="none"/>
            <a:tailEnd type="none"/>
          </a:ln>
        </p:spPr>
      </p:sp>
      <p:sp>
        <p:nvSpPr>
          <p:cNvPr id="40" name="Shape 37"/>
          <p:cNvSpPr/>
          <p:nvPr/>
        </p:nvSpPr>
        <p:spPr>
          <a:xfrm>
            <a:off x="658368" y="4809744"/>
            <a:ext cx="45720" cy="329184"/>
          </a:xfrm>
          <a:prstGeom prst="rect">
            <a:avLst/>
          </a:prstGeom>
          <a:solidFill>
            <a:srgbClr val="52606D"/>
          </a:solidFill>
          <a:ln w="12700">
            <a:solidFill>
              <a:srgbClr val="52606D"/>
            </a:solidFill>
            <a:prstDash val="solid"/>
          </a:ln>
        </p:spPr>
      </p:sp>
      <p:sp>
        <p:nvSpPr>
          <p:cNvPr id="41" name="Text 38"/>
          <p:cNvSpPr txBox="1"/>
          <p:nvPr/>
        </p:nvSpPr>
        <p:spPr>
          <a:xfrm>
            <a:off x="877824" y="4791456"/>
            <a:ext cx="2176272" cy="292608"/>
          </a:xfrm>
          <a:prstGeom prst="rect">
            <a:avLst/>
          </a:prstGeom>
          <a:noFill/>
          <a:ln/>
        </p:spPr>
        <p:txBody>
          <a:bodyPr wrap="square" lIns="0" tIns="0" rIns="0" bIns="0" rtlCol="0" anchor="t"/>
          <a:lstStyle/>
          <a:p>
            <a:pPr algn="l" indent="0" marL="0">
              <a:buNone/>
            </a:pPr>
            <a:r>
              <a:rPr lang="en-US" sz="1320" b="1" dirty="0">
                <a:solidFill>
                  <a:srgbClr val="243B53"/>
                </a:solidFill>
                <a:latin typeface="Aptos" pitchFamily="34" charset="0"/>
                <a:ea typeface="Aptos" pitchFamily="34" charset="-122"/>
                <a:cs typeface="Aptos" pitchFamily="34" charset="-120"/>
              </a:rPr>
              <a:t>Auditoría</a:t>
            </a:r>
            <a:endParaRPr lang="en-US" sz="1320" dirty="0"/>
          </a:p>
        </p:txBody>
      </p:sp>
      <p:sp>
        <p:nvSpPr>
          <p:cNvPr id="42" name="Text 39"/>
          <p:cNvSpPr txBox="1"/>
          <p:nvPr/>
        </p:nvSpPr>
        <p:spPr>
          <a:xfrm>
            <a:off x="3127248" y="4809744"/>
            <a:ext cx="3035808"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El cumplimiento de normas o contratos</a:t>
            </a:r>
            <a:endParaRPr lang="en-US" sz="1180" dirty="0"/>
          </a:p>
        </p:txBody>
      </p:sp>
      <p:sp>
        <p:nvSpPr>
          <p:cNvPr id="43" name="Text 40"/>
          <p:cNvSpPr txBox="1"/>
          <p:nvPr/>
        </p:nvSpPr>
        <p:spPr>
          <a:xfrm>
            <a:off x="6272784" y="4809744"/>
            <a:ext cx="2487168"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Un tercero independiente</a:t>
            </a:r>
            <a:endParaRPr lang="en-US" sz="1180" dirty="0"/>
          </a:p>
        </p:txBody>
      </p:sp>
      <p:sp>
        <p:nvSpPr>
          <p:cNvPr id="44" name="Text 41"/>
          <p:cNvSpPr txBox="1"/>
          <p:nvPr/>
        </p:nvSpPr>
        <p:spPr>
          <a:xfrm>
            <a:off x="8851392" y="4809744"/>
            <a:ext cx="2679192"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Evidencia de conformidad</a:t>
            </a:r>
            <a:endParaRPr lang="en-US" sz="1180" dirty="0"/>
          </a:p>
        </p:txBody>
      </p:sp>
      <p:sp>
        <p:nvSpPr>
          <p:cNvPr id="45" name="Shape 42"/>
          <p:cNvSpPr/>
          <p:nvPr/>
        </p:nvSpPr>
        <p:spPr>
          <a:xfrm>
            <a:off x="658368" y="5358384"/>
            <a:ext cx="3502152" cy="914400"/>
          </a:xfrm>
          <a:prstGeom prst="rect">
            <a:avLst/>
          </a:prstGeom>
          <a:solidFill>
            <a:srgbClr val="EDE9E1"/>
          </a:solidFill>
          <a:ln w="12700">
            <a:solidFill>
              <a:srgbClr val="EDE9E1"/>
            </a:solidFill>
            <a:prstDash val="solid"/>
          </a:ln>
        </p:spPr>
      </p:sp>
      <p:sp>
        <p:nvSpPr>
          <p:cNvPr id="46" name="Shape 43"/>
          <p:cNvSpPr/>
          <p:nvPr/>
        </p:nvSpPr>
        <p:spPr>
          <a:xfrm>
            <a:off x="658368" y="5358384"/>
            <a:ext cx="3502152" cy="54864"/>
          </a:xfrm>
          <a:prstGeom prst="rect">
            <a:avLst/>
          </a:prstGeom>
          <a:solidFill>
            <a:srgbClr val="B3181E"/>
          </a:solidFill>
          <a:ln w="12700">
            <a:solidFill>
              <a:srgbClr val="B3181E"/>
            </a:solidFill>
            <a:prstDash val="solid"/>
          </a:ln>
        </p:spPr>
      </p:sp>
      <p:sp>
        <p:nvSpPr>
          <p:cNvPr id="47" name="Text 44"/>
          <p:cNvSpPr txBox="1"/>
          <p:nvPr/>
        </p:nvSpPr>
        <p:spPr>
          <a:xfrm>
            <a:off x="877824" y="5504688"/>
            <a:ext cx="3063240" cy="256032"/>
          </a:xfrm>
          <a:prstGeom prst="rect">
            <a:avLst/>
          </a:prstGeom>
          <a:noFill/>
          <a:ln/>
        </p:spPr>
        <p:txBody>
          <a:bodyPr wrap="square" lIns="0" tIns="0" rIns="0" bIns="0" rtlCol="0" anchor="t"/>
          <a:lstStyle/>
          <a:p>
            <a:pPr algn="l" indent="0" marL="0">
              <a:buNone/>
            </a:pPr>
            <a:r>
              <a:rPr lang="en-US" sz="1240" b="1" dirty="0">
                <a:solidFill>
                  <a:srgbClr val="B3181E"/>
                </a:solidFill>
                <a:latin typeface="Aptos" pitchFamily="34" charset="0"/>
                <a:ea typeface="Aptos" pitchFamily="34" charset="-122"/>
                <a:cs typeface="Aptos" pitchFamily="34" charset="-120"/>
              </a:rPr>
              <a:t>Solo la inspección busca defectos</a:t>
            </a:r>
            <a:endParaRPr lang="en-US" sz="1240" dirty="0"/>
          </a:p>
        </p:txBody>
      </p:sp>
      <p:sp>
        <p:nvSpPr>
          <p:cNvPr id="48" name="Text 45"/>
          <p:cNvSpPr txBox="1"/>
          <p:nvPr/>
        </p:nvSpPr>
        <p:spPr>
          <a:xfrm>
            <a:off x="877824" y="5797296"/>
            <a:ext cx="3063240" cy="420624"/>
          </a:xfrm>
          <a:prstGeom prst="rect">
            <a:avLst/>
          </a:prstGeom>
          <a:noFill/>
          <a:ln/>
        </p:spPr>
        <p:txBody>
          <a:bodyPr wrap="square" lIns="0" tIns="0" rIns="0" bIns="0" rtlCol="0" anchor="t"/>
          <a:lstStyle/>
          <a:p>
            <a:pPr algn="l" indent="0" marL="0">
              <a:lnSpc>
                <a:spcPct val="114000"/>
              </a:lnSpc>
              <a:buNone/>
            </a:pPr>
            <a:r>
              <a:rPr lang="en-US" sz="1080" dirty="0">
                <a:solidFill>
                  <a:srgbClr val="52606D"/>
                </a:solidFill>
                <a:latin typeface="Aptos" pitchFamily="34" charset="0"/>
                <a:ea typeface="Aptos" pitchFamily="34" charset="-122"/>
                <a:cs typeface="Aptos" pitchFamily="34" charset="-120"/>
              </a:rPr>
              <a:t>Las otras cuatro persiguen otra cosa y no fracasan si no encuentran ninguno.</a:t>
            </a:r>
            <a:endParaRPr lang="en-US" sz="1080" dirty="0"/>
          </a:p>
        </p:txBody>
      </p:sp>
      <p:sp>
        <p:nvSpPr>
          <p:cNvPr id="49" name="Shape 46"/>
          <p:cNvSpPr/>
          <p:nvPr/>
        </p:nvSpPr>
        <p:spPr>
          <a:xfrm>
            <a:off x="4343400" y="5358384"/>
            <a:ext cx="3502152" cy="914400"/>
          </a:xfrm>
          <a:prstGeom prst="rect">
            <a:avLst/>
          </a:prstGeom>
          <a:solidFill>
            <a:srgbClr val="EDE9E1"/>
          </a:solidFill>
          <a:ln w="12700">
            <a:solidFill>
              <a:srgbClr val="EDE9E1"/>
            </a:solidFill>
            <a:prstDash val="solid"/>
          </a:ln>
        </p:spPr>
      </p:sp>
      <p:sp>
        <p:nvSpPr>
          <p:cNvPr id="50" name="Shape 47"/>
          <p:cNvSpPr/>
          <p:nvPr/>
        </p:nvSpPr>
        <p:spPr>
          <a:xfrm>
            <a:off x="4343400" y="5358384"/>
            <a:ext cx="3502152" cy="54864"/>
          </a:xfrm>
          <a:prstGeom prst="rect">
            <a:avLst/>
          </a:prstGeom>
          <a:solidFill>
            <a:srgbClr val="0E6E7A"/>
          </a:solidFill>
          <a:ln w="12700">
            <a:solidFill>
              <a:srgbClr val="0E6E7A"/>
            </a:solidFill>
            <a:prstDash val="solid"/>
          </a:ln>
        </p:spPr>
      </p:sp>
      <p:sp>
        <p:nvSpPr>
          <p:cNvPr id="51" name="Text 48"/>
          <p:cNvSpPr txBox="1"/>
          <p:nvPr/>
        </p:nvSpPr>
        <p:spPr>
          <a:xfrm>
            <a:off x="4562856" y="5504688"/>
            <a:ext cx="3063240" cy="256032"/>
          </a:xfrm>
          <a:prstGeom prst="rect">
            <a:avLst/>
          </a:prstGeom>
          <a:noFill/>
          <a:ln/>
        </p:spPr>
        <p:txBody>
          <a:bodyPr wrap="square" lIns="0" tIns="0" rIns="0" bIns="0" rtlCol="0" anchor="t"/>
          <a:lstStyle/>
          <a:p>
            <a:pPr algn="l" indent="0" marL="0">
              <a:buNone/>
            </a:pPr>
            <a:r>
              <a:rPr lang="en-US" sz="1240" b="1" dirty="0">
                <a:solidFill>
                  <a:srgbClr val="0E6E7A"/>
                </a:solidFill>
                <a:latin typeface="Aptos" pitchFamily="34" charset="0"/>
                <a:ea typeface="Aptos" pitchFamily="34" charset="-122"/>
                <a:cs typeface="Aptos" pitchFamily="34" charset="-120"/>
              </a:rPr>
              <a:t>El facilitador no es el autor</a:t>
            </a:r>
            <a:endParaRPr lang="en-US" sz="1240" dirty="0"/>
          </a:p>
        </p:txBody>
      </p:sp>
      <p:sp>
        <p:nvSpPr>
          <p:cNvPr id="52" name="Text 49"/>
          <p:cNvSpPr txBox="1"/>
          <p:nvPr/>
        </p:nvSpPr>
        <p:spPr>
          <a:xfrm>
            <a:off x="4562856" y="5797296"/>
            <a:ext cx="3063240" cy="420624"/>
          </a:xfrm>
          <a:prstGeom prst="rect">
            <a:avLst/>
          </a:prstGeom>
          <a:noFill/>
          <a:ln/>
        </p:spPr>
        <p:txBody>
          <a:bodyPr wrap="square" lIns="0" tIns="0" rIns="0" bIns="0" rtlCol="0" anchor="t"/>
          <a:lstStyle/>
          <a:p>
            <a:pPr algn="l" indent="0" marL="0">
              <a:lnSpc>
                <a:spcPct val="114000"/>
              </a:lnSpc>
              <a:buNone/>
            </a:pPr>
            <a:r>
              <a:rPr lang="en-US" sz="1080" dirty="0">
                <a:solidFill>
                  <a:srgbClr val="52606D"/>
                </a:solidFill>
                <a:latin typeface="Aptos" pitchFamily="34" charset="0"/>
                <a:ea typeface="Aptos" pitchFamily="34" charset="-122"/>
                <a:cs typeface="Aptos" pitchFamily="34" charset="-120"/>
              </a:rPr>
              <a:t>Quien conduce la inspección no escribió el código que se examina.</a:t>
            </a:r>
            <a:endParaRPr lang="en-US" sz="1080" dirty="0"/>
          </a:p>
        </p:txBody>
      </p:sp>
      <p:sp>
        <p:nvSpPr>
          <p:cNvPr id="53" name="Shape 50"/>
          <p:cNvSpPr/>
          <p:nvPr/>
        </p:nvSpPr>
        <p:spPr>
          <a:xfrm>
            <a:off x="8028432" y="5358384"/>
            <a:ext cx="3502152" cy="914400"/>
          </a:xfrm>
          <a:prstGeom prst="rect">
            <a:avLst/>
          </a:prstGeom>
          <a:solidFill>
            <a:srgbClr val="EDE9E1"/>
          </a:solidFill>
          <a:ln w="12700">
            <a:solidFill>
              <a:srgbClr val="EDE9E1"/>
            </a:solidFill>
            <a:prstDash val="solid"/>
          </a:ln>
        </p:spPr>
      </p:sp>
      <p:sp>
        <p:nvSpPr>
          <p:cNvPr id="54" name="Shape 51"/>
          <p:cNvSpPr/>
          <p:nvPr/>
        </p:nvSpPr>
        <p:spPr>
          <a:xfrm>
            <a:off x="8028432" y="5358384"/>
            <a:ext cx="3502152" cy="54864"/>
          </a:xfrm>
          <a:prstGeom prst="rect">
            <a:avLst/>
          </a:prstGeom>
          <a:solidFill>
            <a:srgbClr val="102A43"/>
          </a:solidFill>
          <a:ln w="12700">
            <a:solidFill>
              <a:srgbClr val="102A43"/>
            </a:solidFill>
            <a:prstDash val="solid"/>
          </a:ln>
        </p:spPr>
      </p:sp>
      <p:sp>
        <p:nvSpPr>
          <p:cNvPr id="55" name="Text 52"/>
          <p:cNvSpPr txBox="1"/>
          <p:nvPr/>
        </p:nvSpPr>
        <p:spPr>
          <a:xfrm>
            <a:off x="8247888" y="5504688"/>
            <a:ext cx="3063240" cy="256032"/>
          </a:xfrm>
          <a:prstGeom prst="rect">
            <a:avLst/>
          </a:prstGeom>
          <a:noFill/>
          <a:ln/>
        </p:spPr>
        <p:txBody>
          <a:bodyPr wrap="square" lIns="0" tIns="0" rIns="0" bIns="0" rtlCol="0" anchor="t"/>
          <a:lstStyle/>
          <a:p>
            <a:pPr algn="l" indent="0" marL="0">
              <a:buNone/>
            </a:pPr>
            <a:r>
              <a:rPr lang="en-US" sz="1240" b="1" dirty="0">
                <a:solidFill>
                  <a:srgbClr val="102A43"/>
                </a:solidFill>
                <a:latin typeface="Aptos" pitchFamily="34" charset="0"/>
                <a:ea typeface="Aptos" pitchFamily="34" charset="-122"/>
                <a:cs typeface="Aptos" pitchFamily="34" charset="-120"/>
              </a:rPr>
              <a:t>La auditoría la hace un tercero</a:t>
            </a:r>
            <a:endParaRPr lang="en-US" sz="1240" dirty="0"/>
          </a:p>
        </p:txBody>
      </p:sp>
      <p:sp>
        <p:nvSpPr>
          <p:cNvPr id="56" name="Text 53"/>
          <p:cNvSpPr txBox="1"/>
          <p:nvPr/>
        </p:nvSpPr>
        <p:spPr>
          <a:xfrm>
            <a:off x="8247888" y="5797296"/>
            <a:ext cx="3063240" cy="420624"/>
          </a:xfrm>
          <a:prstGeom prst="rect">
            <a:avLst/>
          </a:prstGeom>
          <a:noFill/>
          <a:ln/>
        </p:spPr>
        <p:txBody>
          <a:bodyPr wrap="square" lIns="0" tIns="0" rIns="0" bIns="0" rtlCol="0" anchor="t"/>
          <a:lstStyle/>
          <a:p>
            <a:pPr algn="l" indent="0" marL="0">
              <a:lnSpc>
                <a:spcPct val="114000"/>
              </a:lnSpc>
              <a:buNone/>
            </a:pPr>
            <a:r>
              <a:rPr lang="en-US" sz="1080" dirty="0">
                <a:solidFill>
                  <a:srgbClr val="52606D"/>
                </a:solidFill>
                <a:latin typeface="Aptos" pitchFamily="34" charset="0"/>
                <a:ea typeface="Aptos" pitchFamily="34" charset="-122"/>
                <a:cs typeface="Aptos" pitchFamily="34" charset="-120"/>
              </a:rPr>
              <a:t>Es el único tipo donde la independencia es parte de la definición.</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1.4 · EL CASO · PRIMERA PARTE</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Un defecto que pedía la memoria del servidor</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Para entender por qué este caso importa hay que saber dos cosas: qué es una biblioteca y qué hace OpenSSL.</a:t>
            </a:r>
            <a:endParaRPr lang="en-US" sz="1450" dirty="0"/>
          </a:p>
        </p:txBody>
      </p:sp>
      <p:sp>
        <p:nvSpPr>
          <p:cNvPr id="11" name="Shape 8"/>
          <p:cNvSpPr/>
          <p:nvPr/>
        </p:nvSpPr>
        <p:spPr>
          <a:xfrm>
            <a:off x="658368" y="2377440"/>
            <a:ext cx="5340096" cy="1298448"/>
          </a:xfrm>
          <a:prstGeom prst="rect">
            <a:avLst/>
          </a:prstGeom>
          <a:solidFill>
            <a:srgbClr val="EDE9E1"/>
          </a:solidFill>
          <a:ln w="12700">
            <a:solidFill>
              <a:srgbClr val="EDE9E1"/>
            </a:solidFill>
            <a:prstDash val="solid"/>
          </a:ln>
        </p:spPr>
      </p:sp>
      <p:sp>
        <p:nvSpPr>
          <p:cNvPr id="12" name="Shape 9"/>
          <p:cNvSpPr/>
          <p:nvPr/>
        </p:nvSpPr>
        <p:spPr>
          <a:xfrm>
            <a:off x="658368" y="2377440"/>
            <a:ext cx="54864" cy="1298448"/>
          </a:xfrm>
          <a:prstGeom prst="rect">
            <a:avLst/>
          </a:prstGeom>
          <a:solidFill>
            <a:srgbClr val="102A43"/>
          </a:solidFill>
          <a:ln w="12700">
            <a:solidFill>
              <a:srgbClr val="102A43"/>
            </a:solidFill>
            <a:prstDash val="solid"/>
          </a:ln>
        </p:spPr>
      </p:sp>
      <p:sp>
        <p:nvSpPr>
          <p:cNvPr id="13" name="Text 10"/>
          <p:cNvSpPr txBox="1"/>
          <p:nvPr/>
        </p:nvSpPr>
        <p:spPr>
          <a:xfrm>
            <a:off x="932688" y="2523744"/>
            <a:ext cx="4754880" cy="219456"/>
          </a:xfrm>
          <a:prstGeom prst="rect">
            <a:avLst/>
          </a:prstGeom>
          <a:noFill/>
          <a:ln/>
        </p:spPr>
        <p:txBody>
          <a:bodyPr wrap="square" lIns="0" tIns="0" rIns="0" bIns="0" rtlCol="0" anchor="t"/>
          <a:lstStyle/>
          <a:p>
            <a:pPr algn="l" indent="0" marL="0">
              <a:buNone/>
            </a:pPr>
            <a:r>
              <a:rPr lang="en-US" sz="1040" b="1" spc="130" kern="0" dirty="0">
                <a:solidFill>
                  <a:srgbClr val="102A43"/>
                </a:solidFill>
                <a:latin typeface="Aptos" pitchFamily="34" charset="0"/>
                <a:ea typeface="Aptos" pitchFamily="34" charset="-122"/>
                <a:cs typeface="Aptos" pitchFamily="34" charset="-120"/>
              </a:rPr>
              <a:t>BIBLIOTECA</a:t>
            </a:r>
            <a:endParaRPr lang="en-US" sz="1040" dirty="0"/>
          </a:p>
        </p:txBody>
      </p:sp>
      <p:sp>
        <p:nvSpPr>
          <p:cNvPr id="14" name="Text 11"/>
          <p:cNvSpPr txBox="1"/>
          <p:nvPr/>
        </p:nvSpPr>
        <p:spPr>
          <a:xfrm>
            <a:off x="932688" y="2798064"/>
            <a:ext cx="4791456" cy="768096"/>
          </a:xfrm>
          <a:prstGeom prst="rect">
            <a:avLst/>
          </a:prstGeom>
          <a:noFill/>
          <a:ln/>
        </p:spPr>
        <p:txBody>
          <a:bodyPr wrap="square" lIns="0" tIns="0" rIns="0" bIns="0" rtlCol="0" anchor="t"/>
          <a:lstStyle/>
          <a:p>
            <a:pPr algn="l" indent="0" marL="0">
              <a:lnSpc>
                <a:spcPct val="118000"/>
              </a:lnSpc>
              <a:buNone/>
            </a:pPr>
            <a:r>
              <a:rPr lang="en-US" sz="1240" dirty="0">
                <a:solidFill>
                  <a:srgbClr val="243B53"/>
                </a:solidFill>
                <a:latin typeface="Aptos" pitchFamily="34" charset="0"/>
                <a:ea typeface="Aptos" pitchFamily="34" charset="-122"/>
                <a:cs typeface="Aptos" pitchFamily="34" charset="-120"/>
              </a:rPr>
              <a:t>Código escrito una vez que otros programas incorporan en lugar de escribirlo ellos. Un defecto en una biblioteca viaja dentro de todos los programas que la usan.</a:t>
            </a:r>
            <a:endParaRPr lang="en-US" sz="1240" dirty="0"/>
          </a:p>
        </p:txBody>
      </p:sp>
      <p:sp>
        <p:nvSpPr>
          <p:cNvPr id="15" name="Shape 12"/>
          <p:cNvSpPr/>
          <p:nvPr/>
        </p:nvSpPr>
        <p:spPr>
          <a:xfrm>
            <a:off x="6190488" y="2377440"/>
            <a:ext cx="5340096" cy="1298448"/>
          </a:xfrm>
          <a:prstGeom prst="rect">
            <a:avLst/>
          </a:prstGeom>
          <a:solidFill>
            <a:srgbClr val="EDE9E1"/>
          </a:solidFill>
          <a:ln w="12700">
            <a:solidFill>
              <a:srgbClr val="EDE9E1"/>
            </a:solidFill>
            <a:prstDash val="solid"/>
          </a:ln>
        </p:spPr>
      </p:sp>
      <p:sp>
        <p:nvSpPr>
          <p:cNvPr id="16" name="Shape 13"/>
          <p:cNvSpPr/>
          <p:nvPr/>
        </p:nvSpPr>
        <p:spPr>
          <a:xfrm>
            <a:off x="6190488" y="2377440"/>
            <a:ext cx="54864" cy="1298448"/>
          </a:xfrm>
          <a:prstGeom prst="rect">
            <a:avLst/>
          </a:prstGeom>
          <a:solidFill>
            <a:srgbClr val="0E6E7A"/>
          </a:solidFill>
          <a:ln w="12700">
            <a:solidFill>
              <a:srgbClr val="0E6E7A"/>
            </a:solidFill>
            <a:prstDash val="solid"/>
          </a:ln>
        </p:spPr>
      </p:sp>
      <p:sp>
        <p:nvSpPr>
          <p:cNvPr id="17" name="Text 14"/>
          <p:cNvSpPr txBox="1"/>
          <p:nvPr/>
        </p:nvSpPr>
        <p:spPr>
          <a:xfrm>
            <a:off x="6464808" y="2523744"/>
            <a:ext cx="4754880" cy="219456"/>
          </a:xfrm>
          <a:prstGeom prst="rect">
            <a:avLst/>
          </a:prstGeom>
          <a:noFill/>
          <a:ln/>
        </p:spPr>
        <p:txBody>
          <a:bodyPr wrap="square" lIns="0" tIns="0" rIns="0" bIns="0" rtlCol="0" anchor="t"/>
          <a:lstStyle/>
          <a:p>
            <a:pPr algn="l" indent="0" marL="0">
              <a:buNone/>
            </a:pPr>
            <a:r>
              <a:rPr lang="en-US" sz="1040" b="1" spc="130" kern="0" dirty="0">
                <a:solidFill>
                  <a:srgbClr val="0E6E7A"/>
                </a:solidFill>
                <a:latin typeface="Aptos" pitchFamily="34" charset="0"/>
                <a:ea typeface="Aptos" pitchFamily="34" charset="-122"/>
                <a:cs typeface="Aptos" pitchFamily="34" charset="-120"/>
              </a:rPr>
              <a:t>OPENSSL</a:t>
            </a:r>
            <a:endParaRPr lang="en-US" sz="1040" dirty="0"/>
          </a:p>
        </p:txBody>
      </p:sp>
      <p:sp>
        <p:nvSpPr>
          <p:cNvPr id="18" name="Text 15"/>
          <p:cNvSpPr txBox="1"/>
          <p:nvPr/>
        </p:nvSpPr>
        <p:spPr>
          <a:xfrm>
            <a:off x="6464808" y="2798064"/>
            <a:ext cx="4791456" cy="768096"/>
          </a:xfrm>
          <a:prstGeom prst="rect">
            <a:avLst/>
          </a:prstGeom>
          <a:noFill/>
          <a:ln/>
        </p:spPr>
        <p:txBody>
          <a:bodyPr wrap="square" lIns="0" tIns="0" rIns="0" bIns="0" rtlCol="0" anchor="t"/>
          <a:lstStyle/>
          <a:p>
            <a:pPr algn="l" indent="0" marL="0">
              <a:lnSpc>
                <a:spcPct val="118000"/>
              </a:lnSpc>
              <a:buNone/>
            </a:pPr>
            <a:r>
              <a:rPr lang="en-US" sz="1240" dirty="0">
                <a:solidFill>
                  <a:srgbClr val="243B53"/>
                </a:solidFill>
                <a:latin typeface="Aptos" pitchFamily="34" charset="0"/>
                <a:ea typeface="Aptos" pitchFamily="34" charset="-122"/>
                <a:cs typeface="Aptos" pitchFamily="34" charset="-120"/>
              </a:rPr>
              <a:t>La biblioteca que cifra el tráfico de internet: convierte los datos en algo ilegible para quien los intercepte en el camino. En 2014 la usaba la mayoría de los servidores web del mundo.</a:t>
            </a:r>
            <a:endParaRPr lang="en-US" sz="1240" dirty="0"/>
          </a:p>
        </p:txBody>
      </p:sp>
      <p:sp>
        <p:nvSpPr>
          <p:cNvPr id="19" name="Text 16"/>
          <p:cNvSpPr txBox="1"/>
          <p:nvPr/>
        </p:nvSpPr>
        <p:spPr>
          <a:xfrm>
            <a:off x="658368" y="3913632"/>
            <a:ext cx="5486400" cy="201168"/>
          </a:xfrm>
          <a:prstGeom prst="rect">
            <a:avLst/>
          </a:prstGeom>
          <a:noFill/>
          <a:ln/>
        </p:spPr>
        <p:txBody>
          <a:bodyPr wrap="square" lIns="0" tIns="0" rIns="0" bIns="0" rtlCol="0" anchor="t"/>
          <a:lstStyle/>
          <a:p>
            <a:pPr algn="l" indent="0" marL="0">
              <a:buNone/>
            </a:pPr>
            <a:r>
              <a:rPr lang="en-US" sz="940" b="1" spc="130" kern="0" dirty="0">
                <a:solidFill>
                  <a:srgbClr val="96A3B2"/>
                </a:solidFill>
                <a:latin typeface="Aptos" pitchFamily="34" charset="0"/>
                <a:ea typeface="Aptos" pitchFamily="34" charset="-122"/>
                <a:cs typeface="Aptos" pitchFamily="34" charset="-120"/>
              </a:rPr>
              <a:t>QUÉ PERMITÍA HACER EL DEFECTO</a:t>
            </a:r>
            <a:endParaRPr lang="en-US" sz="940" dirty="0"/>
          </a:p>
        </p:txBody>
      </p:sp>
      <p:sp>
        <p:nvSpPr>
          <p:cNvPr id="20" name="Shape 17"/>
          <p:cNvSpPr/>
          <p:nvPr/>
        </p:nvSpPr>
        <p:spPr>
          <a:xfrm>
            <a:off x="658368" y="4206240"/>
            <a:ext cx="2523744" cy="1225296"/>
          </a:xfrm>
          <a:prstGeom prst="rect">
            <a:avLst/>
          </a:prstGeom>
          <a:solidFill>
            <a:srgbClr val="F2E7D9"/>
          </a:solidFill>
          <a:ln w="12700">
            <a:solidFill>
              <a:srgbClr val="F2E7D9"/>
            </a:solidFill>
            <a:prstDash val="solid"/>
          </a:ln>
        </p:spPr>
      </p:sp>
      <p:sp>
        <p:nvSpPr>
          <p:cNvPr id="21" name="Shape 18"/>
          <p:cNvSpPr/>
          <p:nvPr/>
        </p:nvSpPr>
        <p:spPr>
          <a:xfrm>
            <a:off x="859536" y="4352544"/>
            <a:ext cx="310896" cy="310896"/>
          </a:xfrm>
          <a:prstGeom prst="ellipse">
            <a:avLst/>
          </a:prstGeom>
          <a:solidFill>
            <a:srgbClr val="B3181E"/>
          </a:solidFill>
          <a:ln w="12700">
            <a:solidFill>
              <a:srgbClr val="B3181E"/>
            </a:solidFill>
            <a:prstDash val="solid"/>
          </a:ln>
        </p:spPr>
      </p:sp>
      <p:sp>
        <p:nvSpPr>
          <p:cNvPr id="22" name="Text 19"/>
          <p:cNvSpPr txBox="1"/>
          <p:nvPr/>
        </p:nvSpPr>
        <p:spPr>
          <a:xfrm>
            <a:off x="859536" y="43525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23" name="Text 20"/>
          <p:cNvSpPr txBox="1"/>
          <p:nvPr/>
        </p:nvSpPr>
        <p:spPr>
          <a:xfrm>
            <a:off x="859536" y="4718304"/>
            <a:ext cx="2157984" cy="402336"/>
          </a:xfrm>
          <a:prstGeom prst="rect">
            <a:avLst/>
          </a:prstGeom>
          <a:noFill/>
          <a:ln/>
        </p:spPr>
        <p:txBody>
          <a:bodyPr wrap="square" lIns="0" tIns="0" rIns="0" bIns="0" rtlCol="0" anchor="t"/>
          <a:lstStyle/>
          <a:p>
            <a:pPr algn="l" indent="0" marL="0">
              <a:lnSpc>
                <a:spcPct val="108000"/>
              </a:lnSpc>
              <a:buNone/>
            </a:pPr>
            <a:r>
              <a:rPr lang="en-US" sz="1180" b="1" dirty="0">
                <a:solidFill>
                  <a:srgbClr val="243B53"/>
                </a:solidFill>
                <a:latin typeface="Aptos" pitchFamily="34" charset="0"/>
                <a:ea typeface="Aptos" pitchFamily="34" charset="-122"/>
                <a:cs typeface="Aptos" pitchFamily="34" charset="-120"/>
              </a:rPr>
              <a:t>Cualquiera envía una petición</a:t>
            </a:r>
            <a:endParaRPr lang="en-US" sz="1180" dirty="0"/>
          </a:p>
        </p:txBody>
      </p:sp>
      <p:sp>
        <p:nvSpPr>
          <p:cNvPr id="24" name="Text 21"/>
          <p:cNvSpPr txBox="1"/>
          <p:nvPr/>
        </p:nvSpPr>
        <p:spPr>
          <a:xfrm>
            <a:off x="859536" y="5138928"/>
            <a:ext cx="2157984" cy="219456"/>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sin clave ni permiso</a:t>
            </a:r>
            <a:endParaRPr lang="en-US" sz="1020" dirty="0"/>
          </a:p>
        </p:txBody>
      </p:sp>
      <p:sp>
        <p:nvSpPr>
          <p:cNvPr id="25" name="Text 22"/>
          <p:cNvSpPr txBox="1"/>
          <p:nvPr/>
        </p:nvSpPr>
        <p:spPr>
          <a:xfrm>
            <a:off x="3218688" y="4700016"/>
            <a:ext cx="164592" cy="256032"/>
          </a:xfrm>
          <a:prstGeom prst="rect">
            <a:avLst/>
          </a:prstGeom>
          <a:noFill/>
          <a:ln/>
        </p:spPr>
        <p:txBody>
          <a:bodyPr wrap="square" lIns="0" tIns="0" rIns="0" bIns="0" rtlCol="0" anchor="t"/>
          <a:lstStyle/>
          <a:p>
            <a:pPr algn="ctr" indent="0" marL="0">
              <a:buNone/>
            </a:pPr>
            <a:r>
              <a:rPr lang="en-US" sz="1400" b="1" dirty="0">
                <a:solidFill>
                  <a:srgbClr val="B3181E"/>
                </a:solidFill>
                <a:latin typeface="Aptos" pitchFamily="34" charset="0"/>
                <a:ea typeface="Aptos" pitchFamily="34" charset="-122"/>
                <a:cs typeface="Aptos" pitchFamily="34" charset="-120"/>
              </a:rPr>
              <a:t>→</a:t>
            </a:r>
            <a:endParaRPr lang="en-US" sz="1400" dirty="0"/>
          </a:p>
        </p:txBody>
      </p:sp>
      <p:sp>
        <p:nvSpPr>
          <p:cNvPr id="26" name="Shape 23"/>
          <p:cNvSpPr/>
          <p:nvPr/>
        </p:nvSpPr>
        <p:spPr>
          <a:xfrm>
            <a:off x="3419856" y="4206240"/>
            <a:ext cx="2523744" cy="1225296"/>
          </a:xfrm>
          <a:prstGeom prst="rect">
            <a:avLst/>
          </a:prstGeom>
          <a:solidFill>
            <a:srgbClr val="F2E7D9"/>
          </a:solidFill>
          <a:ln w="12700">
            <a:solidFill>
              <a:srgbClr val="F2E7D9"/>
            </a:solidFill>
            <a:prstDash val="solid"/>
          </a:ln>
        </p:spPr>
      </p:sp>
      <p:sp>
        <p:nvSpPr>
          <p:cNvPr id="27" name="Shape 24"/>
          <p:cNvSpPr/>
          <p:nvPr/>
        </p:nvSpPr>
        <p:spPr>
          <a:xfrm>
            <a:off x="3621024" y="4352544"/>
            <a:ext cx="310896" cy="310896"/>
          </a:xfrm>
          <a:prstGeom prst="ellipse">
            <a:avLst/>
          </a:prstGeom>
          <a:solidFill>
            <a:srgbClr val="B3181E"/>
          </a:solidFill>
          <a:ln w="12700">
            <a:solidFill>
              <a:srgbClr val="B3181E"/>
            </a:solidFill>
            <a:prstDash val="solid"/>
          </a:ln>
        </p:spPr>
      </p:sp>
      <p:sp>
        <p:nvSpPr>
          <p:cNvPr id="28" name="Text 25"/>
          <p:cNvSpPr txBox="1"/>
          <p:nvPr/>
        </p:nvSpPr>
        <p:spPr>
          <a:xfrm>
            <a:off x="3621024" y="43525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29" name="Text 26"/>
          <p:cNvSpPr txBox="1"/>
          <p:nvPr/>
        </p:nvSpPr>
        <p:spPr>
          <a:xfrm>
            <a:off x="3621024" y="4718304"/>
            <a:ext cx="2157984" cy="402336"/>
          </a:xfrm>
          <a:prstGeom prst="rect">
            <a:avLst/>
          </a:prstGeom>
          <a:noFill/>
          <a:ln/>
        </p:spPr>
        <p:txBody>
          <a:bodyPr wrap="square" lIns="0" tIns="0" rIns="0" bIns="0" rtlCol="0" anchor="t"/>
          <a:lstStyle/>
          <a:p>
            <a:pPr algn="l" indent="0" marL="0">
              <a:lnSpc>
                <a:spcPct val="108000"/>
              </a:lnSpc>
              <a:buNone/>
            </a:pPr>
            <a:r>
              <a:rPr lang="en-US" sz="1180" b="1" dirty="0">
                <a:solidFill>
                  <a:srgbClr val="243B53"/>
                </a:solidFill>
                <a:latin typeface="Aptos" pitchFamily="34" charset="0"/>
                <a:ea typeface="Aptos" pitchFamily="34" charset="-122"/>
                <a:cs typeface="Aptos" pitchFamily="34" charset="-120"/>
              </a:rPr>
              <a:t>El servidor devuelve 64 KB</a:t>
            </a:r>
            <a:endParaRPr lang="en-US" sz="1180" dirty="0"/>
          </a:p>
        </p:txBody>
      </p:sp>
      <p:sp>
        <p:nvSpPr>
          <p:cNvPr id="30" name="Text 27"/>
          <p:cNvSpPr txBox="1"/>
          <p:nvPr/>
        </p:nvSpPr>
        <p:spPr>
          <a:xfrm>
            <a:off x="3621024" y="5138928"/>
            <a:ext cx="2157984" cy="219456"/>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de su memoria de trabajo</a:t>
            </a:r>
            <a:endParaRPr lang="en-US" sz="1020" dirty="0"/>
          </a:p>
        </p:txBody>
      </p:sp>
      <p:sp>
        <p:nvSpPr>
          <p:cNvPr id="31" name="Text 28"/>
          <p:cNvSpPr txBox="1"/>
          <p:nvPr/>
        </p:nvSpPr>
        <p:spPr>
          <a:xfrm>
            <a:off x="5980176" y="4700016"/>
            <a:ext cx="164592" cy="256032"/>
          </a:xfrm>
          <a:prstGeom prst="rect">
            <a:avLst/>
          </a:prstGeom>
          <a:noFill/>
          <a:ln/>
        </p:spPr>
        <p:txBody>
          <a:bodyPr wrap="square" lIns="0" tIns="0" rIns="0" bIns="0" rtlCol="0" anchor="t"/>
          <a:lstStyle/>
          <a:p>
            <a:pPr algn="ctr" indent="0" marL="0">
              <a:buNone/>
            </a:pPr>
            <a:r>
              <a:rPr lang="en-US" sz="1400" b="1" dirty="0">
                <a:solidFill>
                  <a:srgbClr val="B3181E"/>
                </a:solidFill>
                <a:latin typeface="Aptos" pitchFamily="34" charset="0"/>
                <a:ea typeface="Aptos" pitchFamily="34" charset="-122"/>
                <a:cs typeface="Aptos" pitchFamily="34" charset="-120"/>
              </a:rPr>
              <a:t>→</a:t>
            </a:r>
            <a:endParaRPr lang="en-US" sz="1400" dirty="0"/>
          </a:p>
        </p:txBody>
      </p:sp>
      <p:sp>
        <p:nvSpPr>
          <p:cNvPr id="32" name="Shape 29"/>
          <p:cNvSpPr/>
          <p:nvPr/>
        </p:nvSpPr>
        <p:spPr>
          <a:xfrm>
            <a:off x="6181344" y="4206240"/>
            <a:ext cx="2523744" cy="1225296"/>
          </a:xfrm>
          <a:prstGeom prst="rect">
            <a:avLst/>
          </a:prstGeom>
          <a:solidFill>
            <a:srgbClr val="F2E7D9"/>
          </a:solidFill>
          <a:ln w="12700">
            <a:solidFill>
              <a:srgbClr val="F2E7D9"/>
            </a:solidFill>
            <a:prstDash val="solid"/>
          </a:ln>
        </p:spPr>
      </p:sp>
      <p:sp>
        <p:nvSpPr>
          <p:cNvPr id="33" name="Shape 30"/>
          <p:cNvSpPr/>
          <p:nvPr/>
        </p:nvSpPr>
        <p:spPr>
          <a:xfrm>
            <a:off x="6382512" y="4352544"/>
            <a:ext cx="310896" cy="310896"/>
          </a:xfrm>
          <a:prstGeom prst="ellipse">
            <a:avLst/>
          </a:prstGeom>
          <a:solidFill>
            <a:srgbClr val="B3181E"/>
          </a:solidFill>
          <a:ln w="12700">
            <a:solidFill>
              <a:srgbClr val="B3181E"/>
            </a:solidFill>
            <a:prstDash val="solid"/>
          </a:ln>
        </p:spPr>
      </p:sp>
      <p:sp>
        <p:nvSpPr>
          <p:cNvPr id="34" name="Text 31"/>
          <p:cNvSpPr txBox="1"/>
          <p:nvPr/>
        </p:nvSpPr>
        <p:spPr>
          <a:xfrm>
            <a:off x="6382512" y="43525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35" name="Text 32"/>
          <p:cNvSpPr txBox="1"/>
          <p:nvPr/>
        </p:nvSpPr>
        <p:spPr>
          <a:xfrm>
            <a:off x="6382512" y="4718304"/>
            <a:ext cx="2157984" cy="402336"/>
          </a:xfrm>
          <a:prstGeom prst="rect">
            <a:avLst/>
          </a:prstGeom>
          <a:noFill/>
          <a:ln/>
        </p:spPr>
        <p:txBody>
          <a:bodyPr wrap="square" lIns="0" tIns="0" rIns="0" bIns="0" rtlCol="0" anchor="t"/>
          <a:lstStyle/>
          <a:p>
            <a:pPr algn="l" indent="0" marL="0">
              <a:lnSpc>
                <a:spcPct val="108000"/>
              </a:lnSpc>
              <a:buNone/>
            </a:pPr>
            <a:r>
              <a:rPr lang="en-US" sz="1180" b="1" dirty="0">
                <a:solidFill>
                  <a:srgbClr val="243B53"/>
                </a:solidFill>
                <a:latin typeface="Aptos" pitchFamily="34" charset="0"/>
                <a:ea typeface="Aptos" pitchFamily="34" charset="-122"/>
                <a:cs typeface="Aptos" pitchFamily="34" charset="-120"/>
              </a:rPr>
              <a:t>Ahí viven claves y contraseñas</a:t>
            </a:r>
            <a:endParaRPr lang="en-US" sz="1180" dirty="0"/>
          </a:p>
        </p:txBody>
      </p:sp>
      <p:sp>
        <p:nvSpPr>
          <p:cNvPr id="36" name="Text 33"/>
          <p:cNvSpPr txBox="1"/>
          <p:nvPr/>
        </p:nvSpPr>
        <p:spPr>
          <a:xfrm>
            <a:off x="6382512" y="5138928"/>
            <a:ext cx="2157984" cy="219456"/>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y las sesiones de los usuarios</a:t>
            </a:r>
            <a:endParaRPr lang="en-US" sz="1020" dirty="0"/>
          </a:p>
        </p:txBody>
      </p:sp>
      <p:sp>
        <p:nvSpPr>
          <p:cNvPr id="37" name="Text 34"/>
          <p:cNvSpPr txBox="1"/>
          <p:nvPr/>
        </p:nvSpPr>
        <p:spPr>
          <a:xfrm>
            <a:off x="8741664" y="4700016"/>
            <a:ext cx="164592" cy="256032"/>
          </a:xfrm>
          <a:prstGeom prst="rect">
            <a:avLst/>
          </a:prstGeom>
          <a:noFill/>
          <a:ln/>
        </p:spPr>
        <p:txBody>
          <a:bodyPr wrap="square" lIns="0" tIns="0" rIns="0" bIns="0" rtlCol="0" anchor="t"/>
          <a:lstStyle/>
          <a:p>
            <a:pPr algn="ctr" indent="0" marL="0">
              <a:buNone/>
            </a:pPr>
            <a:r>
              <a:rPr lang="en-US" sz="1400" b="1" dirty="0">
                <a:solidFill>
                  <a:srgbClr val="B3181E"/>
                </a:solidFill>
                <a:latin typeface="Aptos" pitchFamily="34" charset="0"/>
                <a:ea typeface="Aptos" pitchFamily="34" charset="-122"/>
                <a:cs typeface="Aptos" pitchFamily="34" charset="-120"/>
              </a:rPr>
              <a:t>→</a:t>
            </a:r>
            <a:endParaRPr lang="en-US" sz="1400" dirty="0"/>
          </a:p>
        </p:txBody>
      </p:sp>
      <p:sp>
        <p:nvSpPr>
          <p:cNvPr id="38" name="Shape 35"/>
          <p:cNvSpPr/>
          <p:nvPr/>
        </p:nvSpPr>
        <p:spPr>
          <a:xfrm>
            <a:off x="8942832" y="4206240"/>
            <a:ext cx="2523744" cy="1225296"/>
          </a:xfrm>
          <a:prstGeom prst="rect">
            <a:avLst/>
          </a:prstGeom>
          <a:solidFill>
            <a:srgbClr val="F2E7D9"/>
          </a:solidFill>
          <a:ln w="12700">
            <a:solidFill>
              <a:srgbClr val="F2E7D9"/>
            </a:solidFill>
            <a:prstDash val="solid"/>
          </a:ln>
        </p:spPr>
      </p:sp>
      <p:sp>
        <p:nvSpPr>
          <p:cNvPr id="39" name="Shape 36"/>
          <p:cNvSpPr/>
          <p:nvPr/>
        </p:nvSpPr>
        <p:spPr>
          <a:xfrm>
            <a:off x="9144000" y="4352544"/>
            <a:ext cx="310896" cy="310896"/>
          </a:xfrm>
          <a:prstGeom prst="ellipse">
            <a:avLst/>
          </a:prstGeom>
          <a:solidFill>
            <a:srgbClr val="B3181E"/>
          </a:solidFill>
          <a:ln w="12700">
            <a:solidFill>
              <a:srgbClr val="B3181E"/>
            </a:solidFill>
            <a:prstDash val="solid"/>
          </a:ln>
        </p:spPr>
      </p:sp>
      <p:sp>
        <p:nvSpPr>
          <p:cNvPr id="40" name="Text 37"/>
          <p:cNvSpPr txBox="1"/>
          <p:nvPr/>
        </p:nvSpPr>
        <p:spPr>
          <a:xfrm>
            <a:off x="9144000" y="43525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41" name="Text 38"/>
          <p:cNvSpPr txBox="1"/>
          <p:nvPr/>
        </p:nvSpPr>
        <p:spPr>
          <a:xfrm>
            <a:off x="9144000" y="4718304"/>
            <a:ext cx="2157984" cy="402336"/>
          </a:xfrm>
          <a:prstGeom prst="rect">
            <a:avLst/>
          </a:prstGeom>
          <a:noFill/>
          <a:ln/>
        </p:spPr>
        <p:txBody>
          <a:bodyPr wrap="square" lIns="0" tIns="0" rIns="0" bIns="0" rtlCol="0" anchor="t"/>
          <a:lstStyle/>
          <a:p>
            <a:pPr algn="l" indent="0" marL="0">
              <a:lnSpc>
                <a:spcPct val="108000"/>
              </a:lnSpc>
              <a:buNone/>
            </a:pPr>
            <a:r>
              <a:rPr lang="en-US" sz="1180" b="1" dirty="0">
                <a:solidFill>
                  <a:srgbClr val="243B53"/>
                </a:solidFill>
                <a:latin typeface="Aptos" pitchFamily="34" charset="0"/>
                <a:ea typeface="Aptos" pitchFamily="34" charset="-122"/>
                <a:cs typeface="Aptos" pitchFamily="34" charset="-120"/>
              </a:rPr>
              <a:t>No queda rastro</a:t>
            </a:r>
            <a:endParaRPr lang="en-US" sz="1180" dirty="0"/>
          </a:p>
        </p:txBody>
      </p:sp>
      <p:sp>
        <p:nvSpPr>
          <p:cNvPr id="42" name="Text 39"/>
          <p:cNvSpPr txBox="1"/>
          <p:nvPr/>
        </p:nvSpPr>
        <p:spPr>
          <a:xfrm>
            <a:off x="9144000" y="5138928"/>
            <a:ext cx="2157984" cy="219456"/>
          </a:xfrm>
          <a:prstGeom prst="rect">
            <a:avLst/>
          </a:prstGeom>
          <a:noFill/>
          <a:ln/>
        </p:spPr>
        <p:txBody>
          <a:bodyPr wrap="square" lIns="0" tIns="0" rIns="0" bIns="0" rtlCol="0" anchor="t"/>
          <a:lstStyle/>
          <a:p>
            <a:pPr algn="l" indent="0" marL="0">
              <a:buNone/>
            </a:pPr>
            <a:r>
              <a:rPr lang="en-US" sz="1020" dirty="0">
                <a:solidFill>
                  <a:srgbClr val="52606D"/>
                </a:solidFill>
                <a:latin typeface="Aptos" pitchFamily="34" charset="0"/>
                <a:ea typeface="Aptos" pitchFamily="34" charset="-122"/>
                <a:cs typeface="Aptos" pitchFamily="34" charset="-120"/>
              </a:rPr>
              <a:t>el servidor no lo registra</a:t>
            </a:r>
            <a:endParaRPr lang="en-US" sz="1020" dirty="0"/>
          </a:p>
        </p:txBody>
      </p:sp>
      <p:sp>
        <p:nvSpPr>
          <p:cNvPr id="43" name="Shape 40"/>
          <p:cNvSpPr/>
          <p:nvPr/>
        </p:nvSpPr>
        <p:spPr>
          <a:xfrm>
            <a:off x="658368" y="5577840"/>
            <a:ext cx="10874959" cy="585216"/>
          </a:xfrm>
          <a:prstGeom prst="rect">
            <a:avLst/>
          </a:prstGeom>
          <a:solidFill>
            <a:srgbClr val="102A43"/>
          </a:solidFill>
          <a:ln w="12700">
            <a:solidFill>
              <a:srgbClr val="102A43"/>
            </a:solidFill>
            <a:prstDash val="solid"/>
          </a:ln>
        </p:spPr>
      </p:sp>
      <p:sp>
        <p:nvSpPr>
          <p:cNvPr id="44" name="Text 41"/>
          <p:cNvSpPr txBox="1"/>
          <p:nvPr/>
        </p:nvSpPr>
        <p:spPr>
          <a:xfrm>
            <a:off x="969264" y="5632704"/>
            <a:ext cx="10253167" cy="475488"/>
          </a:xfrm>
          <a:prstGeom prst="rect">
            <a:avLst/>
          </a:prstGeom>
          <a:noFill/>
          <a:ln/>
        </p:spPr>
        <p:txBody>
          <a:bodyPr wrap="square" lIns="0" tIns="0" rIns="0" bIns="0" rtlCol="0" anchor="ctr"/>
          <a:lstStyle/>
          <a:p>
            <a:pPr algn="ctr" indent="0" marL="0">
              <a:lnSpc>
                <a:spcPct val="114000"/>
              </a:lnSpc>
              <a:buNone/>
            </a:pPr>
            <a:r>
              <a:rPr lang="en-US" sz="1460" b="1" dirty="0">
                <a:solidFill>
                  <a:srgbClr val="FFFFFF"/>
                </a:solidFill>
                <a:latin typeface="Aptos" pitchFamily="34" charset="0"/>
                <a:ea typeface="Aptos" pitchFamily="34" charset="-122"/>
                <a:cs typeface="Aptos" pitchFamily="34" charset="-120"/>
              </a:rPr>
              <a:t>Se llamó Heartbleed, y afectó a una parte enorme de los servidores del mundo al mismo tiempo.</a:t>
            </a:r>
            <a:endParaRPr lang="en-US" sz="14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1.5 · EL CASO · SEGUNDA PARTE</a:t>
            </a:r>
            <a:endParaRPr lang="en-US" sz="1030" dirty="0"/>
          </a:p>
        </p:txBody>
      </p:sp>
      <p:sp>
        <p:nvSpPr>
          <p:cNvPr id="9" name="Text 6"/>
          <p:cNvSpPr txBox="1"/>
          <p:nvPr/>
        </p:nvSpPr>
        <p:spPr>
          <a:xfrm>
            <a:off x="658368" y="749808"/>
            <a:ext cx="946404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código sí fue revisado, y el defecto pasó igual</a:t>
            </a:r>
            <a:endParaRPr lang="en-US" sz="3000" dirty="0"/>
          </a:p>
        </p:txBody>
      </p:sp>
      <p:sp>
        <p:nvSpPr>
          <p:cNvPr id="10" name="Text 7"/>
          <p:cNvSpPr txBox="1"/>
          <p:nvPr/>
        </p:nvSpPr>
        <p:spPr>
          <a:xfrm>
            <a:off x="658368" y="2066544"/>
            <a:ext cx="1572768" cy="237744"/>
          </a:xfrm>
          <a:prstGeom prst="rect">
            <a:avLst/>
          </a:prstGeom>
          <a:noFill/>
          <a:ln/>
        </p:spPr>
        <p:txBody>
          <a:bodyPr wrap="square" lIns="0" tIns="0" rIns="0" bIns="0" rtlCol="0" anchor="t"/>
          <a:lstStyle/>
          <a:p>
            <a:pPr algn="l" indent="0" marL="0">
              <a:buNone/>
            </a:pPr>
            <a:r>
              <a:rPr lang="en-US" sz="1140" b="1" dirty="0">
                <a:solidFill>
                  <a:srgbClr val="102A43"/>
                </a:solidFill>
                <a:latin typeface="Consolas" pitchFamily="34" charset="0"/>
                <a:ea typeface="Consolas" pitchFamily="34" charset="-122"/>
                <a:cs typeface="Consolas" pitchFamily="34" charset="-120"/>
              </a:rPr>
              <a:t>2011 · 15 dic</a:t>
            </a:r>
            <a:endParaRPr lang="en-US" sz="1140" dirty="0"/>
          </a:p>
        </p:txBody>
      </p:sp>
      <p:sp>
        <p:nvSpPr>
          <p:cNvPr id="11" name="Shape 8"/>
          <p:cNvSpPr/>
          <p:nvPr/>
        </p:nvSpPr>
        <p:spPr>
          <a:xfrm>
            <a:off x="2359152" y="2029968"/>
            <a:ext cx="45720" cy="457200"/>
          </a:xfrm>
          <a:prstGeom prst="rect">
            <a:avLst/>
          </a:prstGeom>
          <a:solidFill>
            <a:srgbClr val="102A43"/>
          </a:solidFill>
          <a:ln w="12700">
            <a:solidFill>
              <a:srgbClr val="102A43"/>
            </a:solidFill>
            <a:prstDash val="solid"/>
          </a:ln>
        </p:spPr>
      </p:sp>
      <p:sp>
        <p:nvSpPr>
          <p:cNvPr id="12" name="Text 9"/>
          <p:cNvSpPr txBox="1"/>
          <p:nvPr/>
        </p:nvSpPr>
        <p:spPr>
          <a:xfrm>
            <a:off x="2560320" y="2048256"/>
            <a:ext cx="4846320" cy="256032"/>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El autor envía el cambio a openssl-dev</a:t>
            </a:r>
            <a:endParaRPr lang="en-US" sz="1360" dirty="0"/>
          </a:p>
        </p:txBody>
      </p:sp>
      <p:sp>
        <p:nvSpPr>
          <p:cNvPr id="13" name="Text 10"/>
          <p:cNvSpPr txBox="1"/>
          <p:nvPr/>
        </p:nvSpPr>
        <p:spPr>
          <a:xfrm>
            <a:off x="2560320" y="2322576"/>
            <a:ext cx="4846320" cy="219456"/>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openssl-dev es la lista de correo pública donde el proyecto propone y discute cambios.</a:t>
            </a:r>
            <a:endParaRPr lang="en-US" sz="1060" dirty="0"/>
          </a:p>
        </p:txBody>
      </p:sp>
      <p:sp>
        <p:nvSpPr>
          <p:cNvPr id="14" name="Text 11"/>
          <p:cNvSpPr txBox="1"/>
          <p:nvPr/>
        </p:nvSpPr>
        <p:spPr>
          <a:xfrm>
            <a:off x="658368" y="2779776"/>
            <a:ext cx="1572768" cy="237744"/>
          </a:xfrm>
          <a:prstGeom prst="rect">
            <a:avLst/>
          </a:prstGeom>
          <a:noFill/>
          <a:ln/>
        </p:spPr>
        <p:txBody>
          <a:bodyPr wrap="square" lIns="0" tIns="0" rIns="0" bIns="0" rtlCol="0" anchor="t"/>
          <a:lstStyle/>
          <a:p>
            <a:pPr algn="l" indent="0" marL="0">
              <a:buNone/>
            </a:pPr>
            <a:endParaRPr lang="en-US" sz="1140" dirty="0"/>
          </a:p>
        </p:txBody>
      </p:sp>
      <p:sp>
        <p:nvSpPr>
          <p:cNvPr id="15" name="Shape 12"/>
          <p:cNvSpPr/>
          <p:nvPr/>
        </p:nvSpPr>
        <p:spPr>
          <a:xfrm>
            <a:off x="2359152" y="2743200"/>
            <a:ext cx="45720" cy="457200"/>
          </a:xfrm>
          <a:prstGeom prst="rect">
            <a:avLst/>
          </a:prstGeom>
          <a:solidFill>
            <a:srgbClr val="B3181E"/>
          </a:solidFill>
          <a:ln w="12700">
            <a:solidFill>
              <a:srgbClr val="B3181E"/>
            </a:solidFill>
            <a:prstDash val="solid"/>
          </a:ln>
        </p:spPr>
      </p:sp>
      <p:sp>
        <p:nvSpPr>
          <p:cNvPr id="16" name="Text 13"/>
          <p:cNvSpPr txBox="1"/>
          <p:nvPr/>
        </p:nvSpPr>
        <p:spPr>
          <a:xfrm>
            <a:off x="2560320" y="2761488"/>
            <a:ext cx="4846320" cy="256032"/>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Recibe una sola respuesta de revisión</a:t>
            </a:r>
            <a:endParaRPr lang="en-US" sz="1360" dirty="0"/>
          </a:p>
        </p:txBody>
      </p:sp>
      <p:sp>
        <p:nvSpPr>
          <p:cNvPr id="17" name="Text 14"/>
          <p:cNvSpPr txBox="1"/>
          <p:nvPr/>
        </p:nvSpPr>
        <p:spPr>
          <a:xfrm>
            <a:off x="2560320" y="3035808"/>
            <a:ext cx="4846320" cy="219456"/>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Un desarrollador del proyecto lo lee y lo aprueba.</a:t>
            </a:r>
            <a:endParaRPr lang="en-US" sz="1060" dirty="0"/>
          </a:p>
        </p:txBody>
      </p:sp>
      <p:sp>
        <p:nvSpPr>
          <p:cNvPr id="18" name="Text 15"/>
          <p:cNvSpPr txBox="1"/>
          <p:nvPr/>
        </p:nvSpPr>
        <p:spPr>
          <a:xfrm>
            <a:off x="658368" y="3493008"/>
            <a:ext cx="1572768" cy="237744"/>
          </a:xfrm>
          <a:prstGeom prst="rect">
            <a:avLst/>
          </a:prstGeom>
          <a:noFill/>
          <a:ln/>
        </p:spPr>
        <p:txBody>
          <a:bodyPr wrap="square" lIns="0" tIns="0" rIns="0" bIns="0" rtlCol="0" anchor="t"/>
          <a:lstStyle/>
          <a:p>
            <a:pPr algn="l" indent="0" marL="0">
              <a:buNone/>
            </a:pPr>
            <a:r>
              <a:rPr lang="en-US" sz="1140" b="1" dirty="0">
                <a:solidFill>
                  <a:srgbClr val="102A43"/>
                </a:solidFill>
                <a:latin typeface="Consolas" pitchFamily="34" charset="0"/>
                <a:ea typeface="Consolas" pitchFamily="34" charset="-122"/>
                <a:cs typeface="Consolas" pitchFamily="34" charset="-120"/>
              </a:rPr>
              <a:t>2011 · 31 dic</a:t>
            </a:r>
            <a:endParaRPr lang="en-US" sz="1140" dirty="0"/>
          </a:p>
        </p:txBody>
      </p:sp>
      <p:sp>
        <p:nvSpPr>
          <p:cNvPr id="19" name="Shape 16"/>
          <p:cNvSpPr/>
          <p:nvPr/>
        </p:nvSpPr>
        <p:spPr>
          <a:xfrm>
            <a:off x="2359152" y="3456432"/>
            <a:ext cx="45720" cy="457200"/>
          </a:xfrm>
          <a:prstGeom prst="rect">
            <a:avLst/>
          </a:prstGeom>
          <a:solidFill>
            <a:srgbClr val="102A43"/>
          </a:solidFill>
          <a:ln w="12700">
            <a:solidFill>
              <a:srgbClr val="102A43"/>
            </a:solidFill>
            <a:prstDash val="solid"/>
          </a:ln>
        </p:spPr>
      </p:sp>
      <p:sp>
        <p:nvSpPr>
          <p:cNvPr id="20" name="Text 17"/>
          <p:cNvSpPr txBox="1"/>
          <p:nvPr/>
        </p:nvSpPr>
        <p:spPr>
          <a:xfrm>
            <a:off x="2560320" y="3474720"/>
            <a:ext cx="4846320" cy="256032"/>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El cambio se incorpora al proyecto</a:t>
            </a:r>
            <a:endParaRPr lang="en-US" sz="1360" dirty="0"/>
          </a:p>
        </p:txBody>
      </p:sp>
      <p:sp>
        <p:nvSpPr>
          <p:cNvPr id="21" name="Text 18"/>
          <p:cNvSpPr txBox="1"/>
          <p:nvPr/>
        </p:nvSpPr>
        <p:spPr>
          <a:xfrm>
            <a:off x="658368" y="4005072"/>
            <a:ext cx="1572768" cy="237744"/>
          </a:xfrm>
          <a:prstGeom prst="rect">
            <a:avLst/>
          </a:prstGeom>
          <a:noFill/>
          <a:ln/>
        </p:spPr>
        <p:txBody>
          <a:bodyPr wrap="square" lIns="0" tIns="0" rIns="0" bIns="0" rtlCol="0" anchor="t"/>
          <a:lstStyle/>
          <a:p>
            <a:pPr algn="l" indent="0" marL="0">
              <a:buNone/>
            </a:pPr>
            <a:r>
              <a:rPr lang="en-US" sz="1140" b="1" dirty="0">
                <a:solidFill>
                  <a:srgbClr val="102A43"/>
                </a:solidFill>
                <a:latin typeface="Consolas" pitchFamily="34" charset="0"/>
                <a:ea typeface="Consolas" pitchFamily="34" charset="-122"/>
                <a:cs typeface="Consolas" pitchFamily="34" charset="-120"/>
              </a:rPr>
              <a:t>2012 · 14 mar</a:t>
            </a:r>
            <a:endParaRPr lang="en-US" sz="1140" dirty="0"/>
          </a:p>
        </p:txBody>
      </p:sp>
      <p:sp>
        <p:nvSpPr>
          <p:cNvPr id="22" name="Shape 19"/>
          <p:cNvSpPr/>
          <p:nvPr/>
        </p:nvSpPr>
        <p:spPr>
          <a:xfrm>
            <a:off x="2359152" y="3968496"/>
            <a:ext cx="45720" cy="457200"/>
          </a:xfrm>
          <a:prstGeom prst="rect">
            <a:avLst/>
          </a:prstGeom>
          <a:solidFill>
            <a:srgbClr val="102A43"/>
          </a:solidFill>
          <a:ln w="12700">
            <a:solidFill>
              <a:srgbClr val="102A43"/>
            </a:solidFill>
            <a:prstDash val="solid"/>
          </a:ln>
        </p:spPr>
      </p:sp>
      <p:sp>
        <p:nvSpPr>
          <p:cNvPr id="23" name="Text 20"/>
          <p:cNvSpPr txBox="1"/>
          <p:nvPr/>
        </p:nvSpPr>
        <p:spPr>
          <a:xfrm>
            <a:off x="2560320" y="3986784"/>
            <a:ext cx="4846320" cy="256032"/>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Se publica en OpenSSL 1.0.1, activado por omisión</a:t>
            </a:r>
            <a:endParaRPr lang="en-US" sz="1360" dirty="0"/>
          </a:p>
        </p:txBody>
      </p:sp>
      <p:sp>
        <p:nvSpPr>
          <p:cNvPr id="24" name="Text 21"/>
          <p:cNvSpPr txBox="1"/>
          <p:nvPr/>
        </p:nvSpPr>
        <p:spPr>
          <a:xfrm>
            <a:off x="2560320" y="4261104"/>
            <a:ext cx="4846320" cy="219456"/>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Activado por omisión: funciona sin que nadie tenga que encenderlo.</a:t>
            </a:r>
            <a:endParaRPr lang="en-US" sz="1060" dirty="0"/>
          </a:p>
        </p:txBody>
      </p:sp>
      <p:sp>
        <p:nvSpPr>
          <p:cNvPr id="25" name="Text 22"/>
          <p:cNvSpPr txBox="1"/>
          <p:nvPr/>
        </p:nvSpPr>
        <p:spPr>
          <a:xfrm>
            <a:off x="658368" y="4718304"/>
            <a:ext cx="1572768" cy="237744"/>
          </a:xfrm>
          <a:prstGeom prst="rect">
            <a:avLst/>
          </a:prstGeom>
          <a:noFill/>
          <a:ln/>
        </p:spPr>
        <p:txBody>
          <a:bodyPr wrap="square" lIns="0" tIns="0" rIns="0" bIns="0" rtlCol="0" anchor="t"/>
          <a:lstStyle/>
          <a:p>
            <a:pPr algn="l" indent="0" marL="0">
              <a:buNone/>
            </a:pPr>
            <a:r>
              <a:rPr lang="en-US" sz="1140" b="1" dirty="0">
                <a:solidFill>
                  <a:srgbClr val="8A6A12"/>
                </a:solidFill>
                <a:latin typeface="Consolas" pitchFamily="34" charset="0"/>
                <a:ea typeface="Consolas" pitchFamily="34" charset="-122"/>
                <a:cs typeface="Consolas" pitchFamily="34" charset="-120"/>
              </a:rPr>
              <a:t>2 años y 24 días</a:t>
            </a:r>
            <a:endParaRPr lang="en-US" sz="1140" dirty="0"/>
          </a:p>
        </p:txBody>
      </p:sp>
      <p:sp>
        <p:nvSpPr>
          <p:cNvPr id="26" name="Shape 23"/>
          <p:cNvSpPr/>
          <p:nvPr/>
        </p:nvSpPr>
        <p:spPr>
          <a:xfrm>
            <a:off x="2359152" y="4681728"/>
            <a:ext cx="45720" cy="457200"/>
          </a:xfrm>
          <a:prstGeom prst="rect">
            <a:avLst/>
          </a:prstGeom>
          <a:solidFill>
            <a:srgbClr val="8A6A12"/>
          </a:solidFill>
          <a:ln w="12700">
            <a:solidFill>
              <a:srgbClr val="8A6A12"/>
            </a:solidFill>
            <a:prstDash val="solid"/>
          </a:ln>
        </p:spPr>
      </p:sp>
      <p:sp>
        <p:nvSpPr>
          <p:cNvPr id="27" name="Text 24"/>
          <p:cNvSpPr txBox="1"/>
          <p:nvPr/>
        </p:nvSpPr>
        <p:spPr>
          <a:xfrm>
            <a:off x="2560320" y="4700016"/>
            <a:ext cx="4846320" cy="256032"/>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El defecto vive en producción</a:t>
            </a:r>
            <a:endParaRPr lang="en-US" sz="1360" dirty="0"/>
          </a:p>
        </p:txBody>
      </p:sp>
      <p:sp>
        <p:nvSpPr>
          <p:cNvPr id="28" name="Text 25"/>
          <p:cNvSpPr txBox="1"/>
          <p:nvPr/>
        </p:nvSpPr>
        <p:spPr>
          <a:xfrm>
            <a:off x="658368" y="5230368"/>
            <a:ext cx="1572768" cy="237744"/>
          </a:xfrm>
          <a:prstGeom prst="rect">
            <a:avLst/>
          </a:prstGeom>
          <a:noFill/>
          <a:ln/>
        </p:spPr>
        <p:txBody>
          <a:bodyPr wrap="square" lIns="0" tIns="0" rIns="0" bIns="0" rtlCol="0" anchor="t"/>
          <a:lstStyle/>
          <a:p>
            <a:pPr algn="l" indent="0" marL="0">
              <a:buNone/>
            </a:pPr>
            <a:r>
              <a:rPr lang="en-US" sz="1140" b="1" dirty="0">
                <a:solidFill>
                  <a:srgbClr val="B3181E"/>
                </a:solidFill>
                <a:latin typeface="Consolas" pitchFamily="34" charset="0"/>
                <a:ea typeface="Consolas" pitchFamily="34" charset="-122"/>
                <a:cs typeface="Consolas" pitchFamily="34" charset="-120"/>
              </a:rPr>
              <a:t>2014 · 07 abr</a:t>
            </a:r>
            <a:endParaRPr lang="en-US" sz="1140" dirty="0"/>
          </a:p>
        </p:txBody>
      </p:sp>
      <p:sp>
        <p:nvSpPr>
          <p:cNvPr id="29" name="Shape 26"/>
          <p:cNvSpPr/>
          <p:nvPr/>
        </p:nvSpPr>
        <p:spPr>
          <a:xfrm>
            <a:off x="2359152" y="5193792"/>
            <a:ext cx="45720" cy="457200"/>
          </a:xfrm>
          <a:prstGeom prst="rect">
            <a:avLst/>
          </a:prstGeom>
          <a:solidFill>
            <a:srgbClr val="B3181E"/>
          </a:solidFill>
          <a:ln w="12700">
            <a:solidFill>
              <a:srgbClr val="B3181E"/>
            </a:solidFill>
            <a:prstDash val="solid"/>
          </a:ln>
        </p:spPr>
      </p:sp>
      <p:sp>
        <p:nvSpPr>
          <p:cNvPr id="30" name="Text 27"/>
          <p:cNvSpPr txBox="1"/>
          <p:nvPr/>
        </p:nvSpPr>
        <p:spPr>
          <a:xfrm>
            <a:off x="2560320" y="5212080"/>
            <a:ext cx="4846320" cy="256032"/>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Se divulga públicamente y se corrige</a:t>
            </a:r>
            <a:endParaRPr lang="en-US" sz="1360" dirty="0"/>
          </a:p>
        </p:txBody>
      </p:sp>
      <p:sp>
        <p:nvSpPr>
          <p:cNvPr id="31" name="Shape 28"/>
          <p:cNvSpPr/>
          <p:nvPr/>
        </p:nvSpPr>
        <p:spPr>
          <a:xfrm>
            <a:off x="7772400" y="2011680"/>
            <a:ext cx="0" cy="3566160"/>
          </a:xfrm>
          <a:prstGeom prst="line">
            <a:avLst/>
          </a:prstGeom>
          <a:noFill/>
          <a:ln w="12700">
            <a:solidFill>
              <a:srgbClr val="D8CFC4"/>
            </a:solidFill>
            <a:prstDash val="solid"/>
            <a:headEnd type="none"/>
            <a:tailEnd type="none"/>
          </a:ln>
        </p:spPr>
      </p:sp>
      <p:sp>
        <p:nvSpPr>
          <p:cNvPr id="32" name="Shape 29"/>
          <p:cNvSpPr/>
          <p:nvPr/>
        </p:nvSpPr>
        <p:spPr>
          <a:xfrm>
            <a:off x="8101584" y="2103120"/>
            <a:ext cx="3429000" cy="2395728"/>
          </a:xfrm>
          <a:prstGeom prst="rect">
            <a:avLst/>
          </a:prstGeom>
          <a:solidFill>
            <a:srgbClr val="F2E7D9"/>
          </a:solidFill>
          <a:ln w="12700">
            <a:solidFill>
              <a:srgbClr val="F2E7D9"/>
            </a:solidFill>
            <a:prstDash val="solid"/>
          </a:ln>
        </p:spPr>
      </p:sp>
      <p:sp>
        <p:nvSpPr>
          <p:cNvPr id="33" name="Shape 30"/>
          <p:cNvSpPr/>
          <p:nvPr/>
        </p:nvSpPr>
        <p:spPr>
          <a:xfrm>
            <a:off x="8101584" y="2103120"/>
            <a:ext cx="3429000" cy="64008"/>
          </a:xfrm>
          <a:prstGeom prst="rect">
            <a:avLst/>
          </a:prstGeom>
          <a:solidFill>
            <a:srgbClr val="B3181E"/>
          </a:solidFill>
          <a:ln w="12700">
            <a:solidFill>
              <a:srgbClr val="B3181E"/>
            </a:solidFill>
            <a:prstDash val="solid"/>
          </a:ln>
        </p:spPr>
      </p:sp>
      <p:sp>
        <p:nvSpPr>
          <p:cNvPr id="34" name="Text 31"/>
          <p:cNvSpPr txBox="1"/>
          <p:nvPr/>
        </p:nvSpPr>
        <p:spPr>
          <a:xfrm>
            <a:off x="8357616" y="2304288"/>
            <a:ext cx="2926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EL AUTOR DEL CAMBIO, DESPUÉS</a:t>
            </a:r>
            <a:endParaRPr lang="en-US" sz="860" dirty="0"/>
          </a:p>
        </p:txBody>
      </p:sp>
      <p:sp>
        <p:nvSpPr>
          <p:cNvPr id="35" name="Text 32"/>
          <p:cNvSpPr txBox="1"/>
          <p:nvPr/>
        </p:nvSpPr>
        <p:spPr>
          <a:xfrm>
            <a:off x="8357616" y="2578608"/>
            <a:ext cx="2926080" cy="1463040"/>
          </a:xfrm>
          <a:prstGeom prst="rect">
            <a:avLst/>
          </a:prstGeom>
          <a:noFill/>
          <a:ln/>
        </p:spPr>
        <p:txBody>
          <a:bodyPr wrap="square" lIns="0" tIns="0" rIns="0" bIns="0" rtlCol="0" anchor="t"/>
          <a:lstStyle/>
          <a:p>
            <a:pPr algn="l" indent="0" marL="0">
              <a:lnSpc>
                <a:spcPct val="118000"/>
              </a:lnSpc>
              <a:buNone/>
            </a:pPr>
            <a:r>
              <a:rPr lang="en-US" sz="1500" b="1" dirty="0">
                <a:solidFill>
                  <a:srgbClr val="102A43"/>
                </a:solidFill>
                <a:latin typeface="Aptos Display" pitchFamily="34" charset="0"/>
                <a:ea typeface="Aptos Display" pitchFamily="34" charset="-122"/>
                <a:cs typeface="Aptos Display" pitchFamily="34" charset="-120"/>
              </a:rPr>
              <a:t>«Lamentablemente, ni siquiera el desarrollador de OpenSSL que hizo la revisión del código notó la comprobación que faltaba.»</a:t>
            </a:r>
            <a:endParaRPr lang="en-US" sz="1500" dirty="0"/>
          </a:p>
        </p:txBody>
      </p:sp>
      <p:sp>
        <p:nvSpPr>
          <p:cNvPr id="36" name="Text 33"/>
          <p:cNvSpPr txBox="1"/>
          <p:nvPr/>
        </p:nvSpPr>
        <p:spPr>
          <a:xfrm>
            <a:off x="8357616" y="4151376"/>
            <a:ext cx="2926080" cy="219456"/>
          </a:xfrm>
          <a:prstGeom prst="rect">
            <a:avLst/>
          </a:prstGeom>
          <a:noFill/>
          <a:ln/>
        </p:spPr>
        <p:txBody>
          <a:bodyPr wrap="square" lIns="0" tIns="0" rIns="0" bIns="0" rtlCol="0" anchor="t"/>
          <a:lstStyle/>
          <a:p>
            <a:pPr algn="l" indent="0" marL="0">
              <a:buNone/>
            </a:pPr>
            <a:r>
              <a:rPr lang="en-US" sz="1080" dirty="0">
                <a:solidFill>
                  <a:srgbClr val="52606D"/>
                </a:solidFill>
                <a:latin typeface="Aptos" pitchFamily="34" charset="0"/>
                <a:ea typeface="Aptos" pitchFamily="34" charset="-122"/>
                <a:cs typeface="Aptos" pitchFamily="34" charset="-120"/>
              </a:rPr>
              <a:t>Robin Seggelmann, 2014</a:t>
            </a:r>
            <a:endParaRPr lang="en-US" sz="1080" dirty="0"/>
          </a:p>
        </p:txBody>
      </p:sp>
      <p:sp>
        <p:nvSpPr>
          <p:cNvPr id="37" name="Text 34"/>
          <p:cNvSpPr txBox="1"/>
          <p:nvPr/>
        </p:nvSpPr>
        <p:spPr>
          <a:xfrm>
            <a:off x="8101584" y="4718304"/>
            <a:ext cx="3429000" cy="585216"/>
          </a:xfrm>
          <a:prstGeom prst="rect">
            <a:avLst/>
          </a:prstGeom>
          <a:noFill/>
          <a:ln/>
        </p:spPr>
        <p:txBody>
          <a:bodyPr wrap="square" lIns="0" tIns="0" rIns="0" bIns="0" rtlCol="0" anchor="t"/>
          <a:lstStyle/>
          <a:p>
            <a:pPr algn="l" indent="0" marL="0">
              <a:lnSpc>
                <a:spcPct val="116000"/>
              </a:lnSpc>
              <a:buNone/>
            </a:pPr>
            <a:r>
              <a:rPr lang="en-US" sz="1200" dirty="0">
                <a:solidFill>
                  <a:srgbClr val="52606D"/>
                </a:solidFill>
                <a:latin typeface="Aptos" pitchFamily="34" charset="0"/>
                <a:ea typeface="Aptos" pitchFamily="34" charset="-122"/>
                <a:cs typeface="Aptos" pitchFamily="34" charset="-120"/>
              </a:rPr>
              <a:t>El código era abierto: cualquiera podía leerlo, y durante dos años mucha gente lo leyó.</a:t>
            </a:r>
            <a:endParaRPr lang="en-US" sz="1200" dirty="0"/>
          </a:p>
        </p:txBody>
      </p:sp>
      <p:sp>
        <p:nvSpPr>
          <p:cNvPr id="38" name="Shape 35"/>
          <p:cNvSpPr/>
          <p:nvPr/>
        </p:nvSpPr>
        <p:spPr>
          <a:xfrm>
            <a:off x="658368" y="5760720"/>
            <a:ext cx="10874959" cy="566928"/>
          </a:xfrm>
          <a:prstGeom prst="rect">
            <a:avLst/>
          </a:prstGeom>
          <a:solidFill>
            <a:srgbClr val="102A43"/>
          </a:solidFill>
          <a:ln w="12700">
            <a:solidFill>
              <a:srgbClr val="102A43"/>
            </a:solidFill>
            <a:prstDash val="solid"/>
          </a:ln>
        </p:spPr>
      </p:sp>
      <p:sp>
        <p:nvSpPr>
          <p:cNvPr id="39" name="Text 36"/>
          <p:cNvSpPr txBox="1"/>
          <p:nvPr/>
        </p:nvSpPr>
        <p:spPr>
          <a:xfrm>
            <a:off x="969264" y="5815584"/>
            <a:ext cx="10253167" cy="457200"/>
          </a:xfrm>
          <a:prstGeom prst="rect">
            <a:avLst/>
          </a:prstGeom>
          <a:noFill/>
          <a:ln/>
        </p:spPr>
        <p:txBody>
          <a:bodyPr wrap="square" lIns="0" tIns="0" rIns="0" bIns="0" rtlCol="0" anchor="ctr"/>
          <a:lstStyle/>
          <a:p>
            <a:pPr algn="ctr" indent="0" marL="0">
              <a:lnSpc>
                <a:spcPct val="114000"/>
              </a:lnSpc>
              <a:buNone/>
            </a:pPr>
            <a:r>
              <a:rPr lang="en-US" sz="1460" b="1" dirty="0">
                <a:solidFill>
                  <a:srgbClr val="FFFFFF"/>
                </a:solidFill>
                <a:latin typeface="Aptos" pitchFamily="34" charset="0"/>
                <a:ea typeface="Aptos" pitchFamily="34" charset="-122"/>
                <a:cs typeface="Aptos" pitchFamily="34" charset="-120"/>
              </a:rPr>
              <a:t>Una revisión sin criterios declarados es indistinguible de no haber revisado, y la diferencia solo se nota cuando ya es tarde.</a:t>
            </a:r>
            <a:endParaRPr lang="en-US" sz="14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 DEL BLOQUE 1</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preguntas antes de seguir</a:t>
            </a:r>
            <a:endParaRPr lang="en-US" sz="3000" dirty="0"/>
          </a:p>
        </p:txBody>
      </p:sp>
      <p:sp>
        <p:nvSpPr>
          <p:cNvPr id="10" name="Shape 7"/>
          <p:cNvSpPr/>
          <p:nvPr/>
        </p:nvSpPr>
        <p:spPr>
          <a:xfrm>
            <a:off x="658368" y="2231136"/>
            <a:ext cx="457200" cy="457200"/>
          </a:xfrm>
          <a:prstGeom prst="ellipse">
            <a:avLst/>
          </a:prstGeom>
          <a:solidFill>
            <a:srgbClr val="102A43"/>
          </a:solidFill>
          <a:ln w="12700">
            <a:solidFill>
              <a:srgbClr val="102A43"/>
            </a:solidFill>
            <a:prstDash val="solid"/>
          </a:ln>
        </p:spPr>
      </p:sp>
      <p:sp>
        <p:nvSpPr>
          <p:cNvPr id="11" name="Text 8"/>
          <p:cNvSpPr txBox="1"/>
          <p:nvPr/>
        </p:nvSpPr>
        <p:spPr>
          <a:xfrm>
            <a:off x="658368" y="223113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2" name="Text 9"/>
          <p:cNvSpPr txBox="1"/>
          <p:nvPr/>
        </p:nvSpPr>
        <p:spPr>
          <a:xfrm>
            <a:off x="1371600" y="2157984"/>
            <a:ext cx="10149840" cy="658368"/>
          </a:xfrm>
          <a:prstGeom prst="rect">
            <a:avLst/>
          </a:prstGeom>
          <a:noFill/>
          <a:ln/>
        </p:spPr>
        <p:txBody>
          <a:bodyPr wrap="square" lIns="0" tIns="0" rIns="0" bIns="0" rtlCol="0" anchor="t"/>
          <a:lstStyle/>
          <a:p>
            <a:pPr algn="l" indent="0" marL="0">
              <a:lnSpc>
                <a:spcPct val="116000"/>
              </a:lnSpc>
              <a:buNone/>
            </a:pPr>
            <a:r>
              <a:rPr lang="en-US" sz="1850" b="1" dirty="0">
                <a:solidFill>
                  <a:srgbClr val="243B53"/>
                </a:solidFill>
                <a:latin typeface="Aptos" pitchFamily="34" charset="0"/>
                <a:ea typeface="Aptos" pitchFamily="34" charset="-122"/>
                <a:cs typeface="Aptos" pitchFamily="34" charset="-120"/>
              </a:rPr>
              <a:t>¿Contra qué compara una revisión, y por qué esa fuente no puede convertirse en una regla de herramienta?</a:t>
            </a:r>
            <a:endParaRPr lang="en-US" sz="1850" dirty="0"/>
          </a:p>
        </p:txBody>
      </p:sp>
      <p:sp>
        <p:nvSpPr>
          <p:cNvPr id="13" name="Shape 10"/>
          <p:cNvSpPr/>
          <p:nvPr/>
        </p:nvSpPr>
        <p:spPr>
          <a:xfrm>
            <a:off x="1371600" y="2889504"/>
            <a:ext cx="658368" cy="256032"/>
          </a:xfrm>
          <a:prstGeom prst="rect">
            <a:avLst/>
          </a:prstGeom>
          <a:solidFill>
            <a:srgbClr val="102A43"/>
          </a:solidFill>
          <a:ln w="12700">
            <a:solidFill>
              <a:srgbClr val="102A43"/>
            </a:solidFill>
            <a:prstDash val="solid"/>
          </a:ln>
        </p:spPr>
      </p:sp>
      <p:sp>
        <p:nvSpPr>
          <p:cNvPr id="14" name="Text 11"/>
          <p:cNvSpPr txBox="1"/>
          <p:nvPr/>
        </p:nvSpPr>
        <p:spPr>
          <a:xfrm>
            <a:off x="1371600" y="2889504"/>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15" name="Text 12"/>
          <p:cNvSpPr txBox="1"/>
          <p:nvPr/>
        </p:nvSpPr>
        <p:spPr>
          <a:xfrm>
            <a:off x="2176272" y="2889504"/>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La fuente que usa no está escrita dentro del código.</a:t>
            </a:r>
            <a:endParaRPr lang="en-US" sz="1320" dirty="0"/>
          </a:p>
        </p:txBody>
      </p:sp>
      <p:sp>
        <p:nvSpPr>
          <p:cNvPr id="16" name="Shape 13"/>
          <p:cNvSpPr/>
          <p:nvPr/>
        </p:nvSpPr>
        <p:spPr>
          <a:xfrm>
            <a:off x="658368" y="3346704"/>
            <a:ext cx="10874959" cy="0"/>
          </a:xfrm>
          <a:prstGeom prst="line">
            <a:avLst/>
          </a:prstGeom>
          <a:noFill/>
          <a:ln w="12700">
            <a:solidFill>
              <a:srgbClr val="D8CFC4"/>
            </a:solidFill>
            <a:prstDash val="solid"/>
            <a:headEnd type="none"/>
            <a:tailEnd type="none"/>
          </a:ln>
        </p:spPr>
      </p:sp>
      <p:sp>
        <p:nvSpPr>
          <p:cNvPr id="17" name="Shape 14"/>
          <p:cNvSpPr/>
          <p:nvPr/>
        </p:nvSpPr>
        <p:spPr>
          <a:xfrm>
            <a:off x="658368" y="3621024"/>
            <a:ext cx="457200" cy="457200"/>
          </a:xfrm>
          <a:prstGeom prst="ellipse">
            <a:avLst/>
          </a:prstGeom>
          <a:solidFill>
            <a:srgbClr val="0E6E7A"/>
          </a:solidFill>
          <a:ln w="12700">
            <a:solidFill>
              <a:srgbClr val="0E6E7A"/>
            </a:solidFill>
            <a:prstDash val="solid"/>
          </a:ln>
        </p:spPr>
      </p:sp>
      <p:sp>
        <p:nvSpPr>
          <p:cNvPr id="18" name="Text 15"/>
          <p:cNvSpPr txBox="1"/>
          <p:nvPr/>
        </p:nvSpPr>
        <p:spPr>
          <a:xfrm>
            <a:off x="658368" y="3621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9" name="Text 16"/>
          <p:cNvSpPr txBox="1"/>
          <p:nvPr/>
        </p:nvSpPr>
        <p:spPr>
          <a:xfrm>
            <a:off x="1371600" y="3547872"/>
            <a:ext cx="10149840" cy="658368"/>
          </a:xfrm>
          <a:prstGeom prst="rect">
            <a:avLst/>
          </a:prstGeom>
          <a:noFill/>
          <a:ln/>
        </p:spPr>
        <p:txBody>
          <a:bodyPr wrap="square" lIns="0" tIns="0" rIns="0" bIns="0" rtlCol="0" anchor="t"/>
          <a:lstStyle/>
          <a:p>
            <a:pPr algn="l" indent="0" marL="0">
              <a:lnSpc>
                <a:spcPct val="116000"/>
              </a:lnSpc>
              <a:buNone/>
            </a:pPr>
            <a:r>
              <a:rPr lang="en-US" sz="1850" b="1" dirty="0">
                <a:solidFill>
                  <a:srgbClr val="243B53"/>
                </a:solidFill>
                <a:latin typeface="Aptos" pitchFamily="34" charset="0"/>
                <a:ea typeface="Aptos" pitchFamily="34" charset="-122"/>
                <a:cs typeface="Aptos" pitchFamily="34" charset="-120"/>
              </a:rPr>
              <a:t>El código de Heartbleed lo revisó un desarrollador competente del proyecto. ¿Qué le faltó a esa revisión?</a:t>
            </a:r>
            <a:endParaRPr lang="en-US" sz="1850" dirty="0"/>
          </a:p>
        </p:txBody>
      </p:sp>
      <p:sp>
        <p:nvSpPr>
          <p:cNvPr id="20" name="Shape 17"/>
          <p:cNvSpPr/>
          <p:nvPr/>
        </p:nvSpPr>
        <p:spPr>
          <a:xfrm>
            <a:off x="1371600" y="4279392"/>
            <a:ext cx="658368" cy="256032"/>
          </a:xfrm>
          <a:prstGeom prst="rect">
            <a:avLst/>
          </a:prstGeom>
          <a:solidFill>
            <a:srgbClr val="0E6E7A"/>
          </a:solidFill>
          <a:ln w="12700">
            <a:solidFill>
              <a:srgbClr val="0E6E7A"/>
            </a:solidFill>
            <a:prstDash val="solid"/>
          </a:ln>
        </p:spPr>
      </p:sp>
      <p:sp>
        <p:nvSpPr>
          <p:cNvPr id="21" name="Text 18"/>
          <p:cNvSpPr txBox="1"/>
          <p:nvPr/>
        </p:nvSpPr>
        <p:spPr>
          <a:xfrm>
            <a:off x="1371600" y="4279392"/>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22" name="Text 19"/>
          <p:cNvSpPr txBox="1"/>
          <p:nvPr/>
        </p:nvSpPr>
        <p:spPr>
          <a:xfrm>
            <a:off x="2176272" y="4279392"/>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Mira los cinco tipos: solo uno exige un facilitador imparcial y una lista registrada de anomalías.</a:t>
            </a:r>
            <a:endParaRPr lang="en-US" sz="1320" dirty="0"/>
          </a:p>
        </p:txBody>
      </p:sp>
      <p:sp>
        <p:nvSpPr>
          <p:cNvPr id="23" name="Shape 20"/>
          <p:cNvSpPr/>
          <p:nvPr/>
        </p:nvSpPr>
        <p:spPr>
          <a:xfrm>
            <a:off x="658368" y="4736592"/>
            <a:ext cx="10874959" cy="0"/>
          </a:xfrm>
          <a:prstGeom prst="line">
            <a:avLst/>
          </a:prstGeom>
          <a:noFill/>
          <a:ln w="12700">
            <a:solidFill>
              <a:srgbClr val="D8CFC4"/>
            </a:solidFill>
            <a:prstDash val="solid"/>
            <a:headEnd type="none"/>
            <a:tailEnd type="none"/>
          </a:ln>
        </p:spPr>
      </p:sp>
      <p:sp>
        <p:nvSpPr>
          <p:cNvPr id="24" name="Shape 21"/>
          <p:cNvSpPr/>
          <p:nvPr/>
        </p:nvSpPr>
        <p:spPr>
          <a:xfrm>
            <a:off x="658368" y="5010912"/>
            <a:ext cx="457200" cy="457200"/>
          </a:xfrm>
          <a:prstGeom prst="ellipse">
            <a:avLst/>
          </a:prstGeom>
          <a:solidFill>
            <a:srgbClr val="B3181E"/>
          </a:solidFill>
          <a:ln w="12700">
            <a:solidFill>
              <a:srgbClr val="B3181E"/>
            </a:solidFill>
            <a:prstDash val="solid"/>
          </a:ln>
        </p:spPr>
      </p:sp>
      <p:sp>
        <p:nvSpPr>
          <p:cNvPr id="25" name="Text 22"/>
          <p:cNvSpPr txBox="1"/>
          <p:nvPr/>
        </p:nvSpPr>
        <p:spPr>
          <a:xfrm>
            <a:off x="658368" y="50109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6" name="Text 23"/>
          <p:cNvSpPr txBox="1"/>
          <p:nvPr/>
        </p:nvSpPr>
        <p:spPr>
          <a:xfrm>
            <a:off x="1371600" y="4937760"/>
            <a:ext cx="10149840" cy="658368"/>
          </a:xfrm>
          <a:prstGeom prst="rect">
            <a:avLst/>
          </a:prstGeom>
          <a:noFill/>
          <a:ln/>
        </p:spPr>
        <p:txBody>
          <a:bodyPr wrap="square" lIns="0" tIns="0" rIns="0" bIns="0" rtlCol="0" anchor="t"/>
          <a:lstStyle/>
          <a:p>
            <a:pPr algn="l" indent="0" marL="0">
              <a:lnSpc>
                <a:spcPct val="116000"/>
              </a:lnSpc>
              <a:buNone/>
            </a:pPr>
            <a:r>
              <a:rPr lang="en-US" sz="1850" b="1" dirty="0">
                <a:solidFill>
                  <a:srgbClr val="243B53"/>
                </a:solidFill>
                <a:latin typeface="Aptos" pitchFamily="34" charset="0"/>
                <a:ea typeface="Aptos" pitchFamily="34" charset="-122"/>
                <a:cs typeface="Aptos" pitchFamily="34" charset="-120"/>
              </a:rPr>
              <a:t>Si una revisión no deja nada escrito, ¿en qué se distingue de no haberla hecho?</a:t>
            </a:r>
            <a:endParaRPr lang="en-US" sz="1850" dirty="0"/>
          </a:p>
        </p:txBody>
      </p:sp>
      <p:sp>
        <p:nvSpPr>
          <p:cNvPr id="27" name="Shape 24"/>
          <p:cNvSpPr/>
          <p:nvPr/>
        </p:nvSpPr>
        <p:spPr>
          <a:xfrm>
            <a:off x="1371600" y="5669280"/>
            <a:ext cx="658368" cy="256032"/>
          </a:xfrm>
          <a:prstGeom prst="rect">
            <a:avLst/>
          </a:prstGeom>
          <a:solidFill>
            <a:srgbClr val="B3181E"/>
          </a:solidFill>
          <a:ln w="12700">
            <a:solidFill>
              <a:srgbClr val="B3181E"/>
            </a:solidFill>
            <a:prstDash val="solid"/>
          </a:ln>
        </p:spPr>
      </p:sp>
      <p:sp>
        <p:nvSpPr>
          <p:cNvPr id="28" name="Text 25"/>
          <p:cNvSpPr txBox="1"/>
          <p:nvPr/>
        </p:nvSpPr>
        <p:spPr>
          <a:xfrm>
            <a:off x="1371600" y="5669280"/>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29" name="Text 26"/>
          <p:cNvSpPr txBox="1"/>
          <p:nvPr/>
        </p:nvSpPr>
        <p:spPr>
          <a:xfrm>
            <a:off x="2176272" y="5669280"/>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Piensa en qué evidencia queda disponible dos años después.</a:t>
            </a:r>
            <a:endParaRPr lang="en-US" sz="1320" dirty="0"/>
          </a:p>
        </p:txBody>
      </p:sp>
      <p:sp>
        <p:nvSpPr>
          <p:cNvPr id="30" name="Shape 27"/>
          <p:cNvSpPr/>
          <p:nvPr/>
        </p:nvSpPr>
        <p:spPr>
          <a:xfrm>
            <a:off x="658368" y="6364224"/>
            <a:ext cx="10874959" cy="0"/>
          </a:xfrm>
          <a:prstGeom prst="line">
            <a:avLst/>
          </a:prstGeom>
          <a:noFill/>
          <a:ln w="12700">
            <a:solidFill>
              <a:srgbClr val="102A43"/>
            </a:solidFill>
            <a:prstDash val="solid"/>
            <a:headEnd type="none"/>
            <a:tailEnd type="none"/>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2\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11</a:t>
            </a:r>
            <a:endParaRPr lang="en-US" sz="1400" dirty="0"/>
          </a:p>
        </p:txBody>
      </p:sp>
      <p:sp>
        <p:nvSpPr>
          <p:cNvPr id="8" name="Text 5"/>
          <p:cNvSpPr txBox="1"/>
          <p:nvPr/>
        </p:nvSpPr>
        <p:spPr>
          <a:xfrm>
            <a:off x="658368" y="1737360"/>
            <a:ext cx="2560320" cy="1463040"/>
          </a:xfrm>
          <a:prstGeom prst="rect">
            <a:avLst/>
          </a:prstGeom>
          <a:noFill/>
          <a:ln/>
        </p:spPr>
        <p:txBody>
          <a:bodyPr wrap="square" lIns="0" tIns="0" rIns="0" bIns="0" rtlCol="0" anchor="t"/>
          <a:lstStyle/>
          <a:p>
            <a:pPr algn="l" indent="0" marL="0">
              <a:buNone/>
            </a:pPr>
            <a:r>
              <a:rPr lang="en-US" sz="11200" b="1" dirty="0">
                <a:solidFill>
                  <a:srgbClr val="1D3A57"/>
                </a:solidFill>
                <a:latin typeface="Aptos Display" pitchFamily="34" charset="0"/>
                <a:ea typeface="Aptos Display" pitchFamily="34" charset="-122"/>
                <a:cs typeface="Aptos Display" pitchFamily="34" charset="-120"/>
              </a:rPr>
              <a:t>02</a:t>
            </a:r>
            <a:endParaRPr lang="en-US" sz="11200" dirty="0"/>
          </a:p>
        </p:txBody>
      </p:sp>
      <p:sp>
        <p:nvSpPr>
          <p:cNvPr id="9" name="Text 6"/>
          <p:cNvSpPr txBox="1"/>
          <p:nvPr/>
        </p:nvSpPr>
        <p:spPr>
          <a:xfrm>
            <a:off x="3419856" y="1883664"/>
            <a:ext cx="5852160" cy="237744"/>
          </a:xfrm>
          <a:prstGeom prst="rect">
            <a:avLst/>
          </a:prstGeom>
          <a:noFill/>
          <a:ln/>
        </p:spPr>
        <p:txBody>
          <a:bodyPr wrap="square" lIns="0" tIns="0" rIns="0" bIns="0" rtlCol="0" anchor="t"/>
          <a:lstStyle/>
          <a:p>
            <a:pPr algn="l" indent="0" marL="0">
              <a:buNone/>
            </a:pPr>
            <a:r>
              <a:rPr lang="en-US" sz="1140" b="1" spc="200" kern="0" dirty="0">
                <a:solidFill>
                  <a:srgbClr val="E0BC5A"/>
                </a:solidFill>
                <a:latin typeface="Aptos" pitchFamily="34" charset="0"/>
                <a:ea typeface="Aptos" pitchFamily="34" charset="-122"/>
                <a:cs typeface="Aptos" pitchFamily="34" charset="-120"/>
              </a:rPr>
              <a:t>BLOQUE 2 · 30 MINUTOS</a:t>
            </a:r>
            <a:endParaRPr lang="en-US" sz="1140" dirty="0"/>
          </a:p>
        </p:txBody>
      </p:sp>
      <p:sp>
        <p:nvSpPr>
          <p:cNvPr id="10" name="Text 7"/>
          <p:cNvSpPr txBox="1"/>
          <p:nvPr/>
        </p:nvSpPr>
        <p:spPr>
          <a:xfrm>
            <a:off x="3419856" y="2267712"/>
            <a:ext cx="8229600" cy="1188720"/>
          </a:xfrm>
          <a:prstGeom prst="rect">
            <a:avLst/>
          </a:prstGeom>
          <a:noFill/>
          <a:ln/>
        </p:spPr>
        <p:txBody>
          <a:bodyPr wrap="square" lIns="0" tIns="0" rIns="0" bIns="0" rtlCol="0" anchor="t"/>
          <a:lstStyle/>
          <a:p>
            <a:pPr algn="l" indent="0" marL="0">
              <a:buNone/>
            </a:pPr>
            <a:r>
              <a:rPr lang="en-US" sz="3800" b="1" dirty="0">
                <a:solidFill>
                  <a:srgbClr val="FFFFFF"/>
                </a:solidFill>
                <a:latin typeface="Aptos Display" pitchFamily="34" charset="0"/>
                <a:ea typeface="Aptos Display" pitchFamily="34" charset="-122"/>
                <a:cs typeface="Aptos Display" pitchFamily="34" charset="-120"/>
              </a:rPr>
              <a:t>Qué se mira cuando se revisa</a:t>
            </a:r>
            <a:endParaRPr lang="en-US" sz="3800" dirty="0"/>
          </a:p>
        </p:txBody>
      </p:sp>
      <p:sp>
        <p:nvSpPr>
          <p:cNvPr id="11" name="Shape 8"/>
          <p:cNvSpPr/>
          <p:nvPr/>
        </p:nvSpPr>
        <p:spPr>
          <a:xfrm>
            <a:off x="3419856" y="3602736"/>
            <a:ext cx="2011680" cy="64008"/>
          </a:xfrm>
          <a:prstGeom prst="rect">
            <a:avLst/>
          </a:prstGeom>
          <a:solidFill>
            <a:srgbClr val="D62027"/>
          </a:solidFill>
          <a:ln w="12700">
            <a:solidFill>
              <a:srgbClr val="D62027"/>
            </a:solidFill>
            <a:prstDash val="solid"/>
          </a:ln>
        </p:spPr>
      </p:sp>
      <p:sp>
        <p:nvSpPr>
          <p:cNvPr id="12" name="Text 9"/>
          <p:cNvSpPr txBox="1"/>
          <p:nvPr/>
        </p:nvSpPr>
        <p:spPr>
          <a:xfrm>
            <a:off x="3419856" y="3895344"/>
            <a:ext cx="7772400" cy="1280160"/>
          </a:xfrm>
          <a:prstGeom prst="rect">
            <a:avLst/>
          </a:prstGeom>
          <a:noFill/>
          <a:ln/>
        </p:spPr>
        <p:txBody>
          <a:bodyPr wrap="square" lIns="0" tIns="0" rIns="0" bIns="0" rtlCol="0" anchor="t"/>
          <a:lstStyle/>
          <a:p>
            <a:pPr algn="l" indent="0" marL="0">
              <a:lnSpc>
                <a:spcPct val="126000"/>
              </a:lnSpc>
              <a:buNone/>
            </a:pPr>
            <a:r>
              <a:rPr lang="en-US" sz="1700" dirty="0">
                <a:solidFill>
                  <a:srgbClr val="E6EEF7"/>
                </a:solidFill>
                <a:latin typeface="Aptos" pitchFamily="34" charset="0"/>
                <a:ea typeface="Aptos" pitchFamily="34" charset="-122"/>
                <a:cs typeface="Aptos" pitchFamily="34" charset="-120"/>
              </a:rPr>
              <a:t>Una revisión sin preguntas fijadas de antemano encuentra lo que al revisor le llame la atención ese día. Vamos a fijarlas, y a separar tres clases de hallazgo que no se tratan igual.</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2.1 · LAS CONDICIONES DE EJECUCIÓN</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Si la revisión es una prueba, tiene límites medibles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Dos organizaciones publicaron cifras sobre su propia práctica: cuánto código aguanta un revisor, y qué tamaño tiene un cambio real.</a:t>
            </a:r>
            <a:endParaRPr lang="en-US" sz="1450" dirty="0"/>
          </a:p>
        </p:txBody>
      </p:sp>
      <p:sp>
        <p:nvSpPr>
          <p:cNvPr id="11" name="Shape 8"/>
          <p:cNvSpPr/>
          <p:nvPr/>
        </p:nvSpPr>
        <p:spPr>
          <a:xfrm>
            <a:off x="658368" y="2340864"/>
            <a:ext cx="5340096" cy="2926080"/>
          </a:xfrm>
          <a:prstGeom prst="rect">
            <a:avLst/>
          </a:prstGeom>
          <a:solidFill>
            <a:srgbClr val="E7ECF3"/>
          </a:solidFill>
          <a:ln w="12700">
            <a:solidFill>
              <a:srgbClr val="E7ECF3"/>
            </a:solidFill>
            <a:prstDash val="solid"/>
          </a:ln>
        </p:spPr>
      </p:sp>
      <p:sp>
        <p:nvSpPr>
          <p:cNvPr id="12" name="Shape 9"/>
          <p:cNvSpPr/>
          <p:nvPr/>
        </p:nvSpPr>
        <p:spPr>
          <a:xfrm>
            <a:off x="658368" y="2340864"/>
            <a:ext cx="5340096" cy="82296"/>
          </a:xfrm>
          <a:prstGeom prst="rect">
            <a:avLst/>
          </a:prstGeom>
          <a:solidFill>
            <a:srgbClr val="102A43"/>
          </a:solidFill>
          <a:ln w="12700">
            <a:solidFill>
              <a:srgbClr val="102A43"/>
            </a:solidFill>
            <a:prstDash val="solid"/>
          </a:ln>
        </p:spPr>
      </p:sp>
      <p:sp>
        <p:nvSpPr>
          <p:cNvPr id="13" name="Text 10"/>
          <p:cNvSpPr txBox="1"/>
          <p:nvPr/>
        </p:nvSpPr>
        <p:spPr>
          <a:xfrm>
            <a:off x="932688" y="2596896"/>
            <a:ext cx="475488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CUÁNTO SE PUEDE REVISAR</a:t>
            </a:r>
            <a:endParaRPr lang="en-US" sz="960" dirty="0"/>
          </a:p>
        </p:txBody>
      </p:sp>
      <p:sp>
        <p:nvSpPr>
          <p:cNvPr id="14" name="Text 11"/>
          <p:cNvSpPr txBox="1"/>
          <p:nvPr/>
        </p:nvSpPr>
        <p:spPr>
          <a:xfrm>
            <a:off x="932688" y="2834640"/>
            <a:ext cx="4791456" cy="219456"/>
          </a:xfrm>
          <a:prstGeom prst="rect">
            <a:avLst/>
          </a:prstGeom>
          <a:noFill/>
          <a:ln/>
        </p:spPr>
        <p:txBody>
          <a:bodyPr wrap="square" lIns="0" tIns="0" rIns="0" bIns="0" rtlCol="0" anchor="t"/>
          <a:lstStyle/>
          <a:p>
            <a:pPr algn="l" indent="0" marL="0">
              <a:buNone/>
            </a:pPr>
            <a:r>
              <a:rPr lang="en-US" sz="1140" dirty="0">
                <a:solidFill>
                  <a:srgbClr val="52606D"/>
                </a:solidFill>
                <a:latin typeface="Aptos" pitchFamily="34" charset="0"/>
                <a:ea typeface="Aptos" pitchFamily="34" charset="-122"/>
                <a:cs typeface="Aptos" pitchFamily="34" charset="-120"/>
              </a:rPr>
              <a:t>SmartBear, a partir del trabajo con un equipo de Cisco Systems</a:t>
            </a:r>
            <a:endParaRPr lang="en-US" sz="1140" dirty="0"/>
          </a:p>
        </p:txBody>
      </p:sp>
      <p:sp>
        <p:nvSpPr>
          <p:cNvPr id="15" name="Text 12"/>
          <p:cNvSpPr txBox="1"/>
          <p:nvPr/>
        </p:nvSpPr>
        <p:spPr>
          <a:xfrm>
            <a:off x="932688" y="3200400"/>
            <a:ext cx="2743200" cy="237744"/>
          </a:xfrm>
          <a:prstGeom prst="rect">
            <a:avLst/>
          </a:prstGeom>
          <a:noFill/>
          <a:ln/>
        </p:spPr>
        <p:txBody>
          <a:bodyPr wrap="square" lIns="0" tIns="0" rIns="0" bIns="0" rtlCol="0" anchor="t"/>
          <a:lstStyle/>
          <a:p>
            <a:pPr algn="l" indent="0" marL="0">
              <a:buNone/>
            </a:pPr>
            <a:r>
              <a:rPr lang="en-US" sz="1200" dirty="0">
                <a:solidFill>
                  <a:srgbClr val="52606D"/>
                </a:solidFill>
                <a:latin typeface="Aptos" pitchFamily="34" charset="0"/>
                <a:ea typeface="Aptos" pitchFamily="34" charset="-122"/>
                <a:cs typeface="Aptos" pitchFamily="34" charset="-120"/>
              </a:rPr>
              <a:t>Código por revisión, de una vez</a:t>
            </a:r>
            <a:endParaRPr lang="en-US" sz="1200" dirty="0"/>
          </a:p>
        </p:txBody>
      </p:sp>
      <p:sp>
        <p:nvSpPr>
          <p:cNvPr id="16" name="Text 13"/>
          <p:cNvSpPr txBox="1"/>
          <p:nvPr/>
        </p:nvSpPr>
        <p:spPr>
          <a:xfrm>
            <a:off x="3730752" y="3163824"/>
            <a:ext cx="1993392" cy="274320"/>
          </a:xfrm>
          <a:prstGeom prst="rect">
            <a:avLst/>
          </a:prstGeom>
          <a:noFill/>
          <a:ln/>
        </p:spPr>
        <p:txBody>
          <a:bodyPr wrap="square" lIns="0" tIns="0" rIns="0" bIns="0" rtlCol="0" anchor="t"/>
          <a:lstStyle/>
          <a:p>
            <a:pPr algn="l" indent="0" marL="0">
              <a:buNone/>
            </a:pPr>
            <a:r>
              <a:rPr lang="en-US" sz="1360" b="1" dirty="0">
                <a:solidFill>
                  <a:srgbClr val="102A43"/>
                </a:solidFill>
                <a:latin typeface="Consolas" pitchFamily="34" charset="0"/>
                <a:ea typeface="Consolas" pitchFamily="34" charset="-122"/>
                <a:cs typeface="Consolas" pitchFamily="34" charset="-120"/>
              </a:rPr>
              <a:t>200 a 400 líneas</a:t>
            </a:r>
            <a:endParaRPr lang="en-US" sz="1360" dirty="0"/>
          </a:p>
        </p:txBody>
      </p:sp>
      <p:sp>
        <p:nvSpPr>
          <p:cNvPr id="17" name="Shape 14"/>
          <p:cNvSpPr/>
          <p:nvPr/>
        </p:nvSpPr>
        <p:spPr>
          <a:xfrm>
            <a:off x="932688" y="3547872"/>
            <a:ext cx="4791456" cy="0"/>
          </a:xfrm>
          <a:prstGeom prst="line">
            <a:avLst/>
          </a:prstGeom>
          <a:noFill/>
          <a:ln w="12700">
            <a:solidFill>
              <a:srgbClr val="D8CFC4"/>
            </a:solidFill>
            <a:prstDash val="solid"/>
            <a:headEnd type="none"/>
            <a:tailEnd type="none"/>
          </a:ln>
        </p:spPr>
      </p:sp>
      <p:sp>
        <p:nvSpPr>
          <p:cNvPr id="18" name="Text 15"/>
          <p:cNvSpPr txBox="1"/>
          <p:nvPr/>
        </p:nvSpPr>
        <p:spPr>
          <a:xfrm>
            <a:off x="932688" y="3675888"/>
            <a:ext cx="2743200" cy="237744"/>
          </a:xfrm>
          <a:prstGeom prst="rect">
            <a:avLst/>
          </a:prstGeom>
          <a:noFill/>
          <a:ln/>
        </p:spPr>
        <p:txBody>
          <a:bodyPr wrap="square" lIns="0" tIns="0" rIns="0" bIns="0" rtlCol="0" anchor="t"/>
          <a:lstStyle/>
          <a:p>
            <a:pPr algn="l" indent="0" marL="0">
              <a:buNone/>
            </a:pPr>
            <a:r>
              <a:rPr lang="en-US" sz="1200" dirty="0">
                <a:solidFill>
                  <a:srgbClr val="52606D"/>
                </a:solidFill>
                <a:latin typeface="Aptos" pitchFamily="34" charset="0"/>
                <a:ea typeface="Aptos" pitchFamily="34" charset="-122"/>
                <a:cs typeface="Aptos" pitchFamily="34" charset="-120"/>
              </a:rPr>
              <a:t>Tiempo por sesión, seguidos</a:t>
            </a:r>
            <a:endParaRPr lang="en-US" sz="1200" dirty="0"/>
          </a:p>
        </p:txBody>
      </p:sp>
      <p:sp>
        <p:nvSpPr>
          <p:cNvPr id="19" name="Text 16"/>
          <p:cNvSpPr txBox="1"/>
          <p:nvPr/>
        </p:nvSpPr>
        <p:spPr>
          <a:xfrm>
            <a:off x="3730752" y="3639312"/>
            <a:ext cx="1993392" cy="274320"/>
          </a:xfrm>
          <a:prstGeom prst="rect">
            <a:avLst/>
          </a:prstGeom>
          <a:noFill/>
          <a:ln/>
        </p:spPr>
        <p:txBody>
          <a:bodyPr wrap="square" lIns="0" tIns="0" rIns="0" bIns="0" rtlCol="0" anchor="t"/>
          <a:lstStyle/>
          <a:p>
            <a:pPr algn="l" indent="0" marL="0">
              <a:buNone/>
            </a:pPr>
            <a:r>
              <a:rPr lang="en-US" sz="1360" b="1" dirty="0">
                <a:solidFill>
                  <a:srgbClr val="102A43"/>
                </a:solidFill>
                <a:latin typeface="Consolas" pitchFamily="34" charset="0"/>
                <a:ea typeface="Consolas" pitchFamily="34" charset="-122"/>
                <a:cs typeface="Consolas" pitchFamily="34" charset="-120"/>
              </a:rPr>
              <a:t>60 minutos</a:t>
            </a:r>
            <a:endParaRPr lang="en-US" sz="1360" dirty="0"/>
          </a:p>
        </p:txBody>
      </p:sp>
      <p:sp>
        <p:nvSpPr>
          <p:cNvPr id="20" name="Shape 17"/>
          <p:cNvSpPr/>
          <p:nvPr/>
        </p:nvSpPr>
        <p:spPr>
          <a:xfrm>
            <a:off x="932688" y="4023360"/>
            <a:ext cx="4791456" cy="0"/>
          </a:xfrm>
          <a:prstGeom prst="line">
            <a:avLst/>
          </a:prstGeom>
          <a:noFill/>
          <a:ln w="12700">
            <a:solidFill>
              <a:srgbClr val="D8CFC4"/>
            </a:solidFill>
            <a:prstDash val="solid"/>
            <a:headEnd type="none"/>
            <a:tailEnd type="none"/>
          </a:ln>
        </p:spPr>
      </p:sp>
      <p:sp>
        <p:nvSpPr>
          <p:cNvPr id="21" name="Text 18"/>
          <p:cNvSpPr txBox="1"/>
          <p:nvPr/>
        </p:nvSpPr>
        <p:spPr>
          <a:xfrm>
            <a:off x="932688" y="4151376"/>
            <a:ext cx="2743200" cy="237744"/>
          </a:xfrm>
          <a:prstGeom prst="rect">
            <a:avLst/>
          </a:prstGeom>
          <a:noFill/>
          <a:ln/>
        </p:spPr>
        <p:txBody>
          <a:bodyPr wrap="square" lIns="0" tIns="0" rIns="0" bIns="0" rtlCol="0" anchor="t"/>
          <a:lstStyle/>
          <a:p>
            <a:pPr algn="l" indent="0" marL="0">
              <a:buNone/>
            </a:pPr>
            <a:r>
              <a:rPr lang="en-US" sz="1200" dirty="0">
                <a:solidFill>
                  <a:srgbClr val="52606D"/>
                </a:solidFill>
                <a:latin typeface="Aptos" pitchFamily="34" charset="0"/>
                <a:ea typeface="Aptos" pitchFamily="34" charset="-122"/>
                <a:cs typeface="Aptos" pitchFamily="34" charset="-120"/>
              </a:rPr>
              <a:t>Velocidad de lectura</a:t>
            </a:r>
            <a:endParaRPr lang="en-US" sz="1200" dirty="0"/>
          </a:p>
        </p:txBody>
      </p:sp>
      <p:sp>
        <p:nvSpPr>
          <p:cNvPr id="22" name="Text 19"/>
          <p:cNvSpPr txBox="1"/>
          <p:nvPr/>
        </p:nvSpPr>
        <p:spPr>
          <a:xfrm>
            <a:off x="3730752" y="4114800"/>
            <a:ext cx="1993392" cy="274320"/>
          </a:xfrm>
          <a:prstGeom prst="rect">
            <a:avLst/>
          </a:prstGeom>
          <a:noFill/>
          <a:ln/>
        </p:spPr>
        <p:txBody>
          <a:bodyPr wrap="square" lIns="0" tIns="0" rIns="0" bIns="0" rtlCol="0" anchor="t"/>
          <a:lstStyle/>
          <a:p>
            <a:pPr algn="l" indent="0" marL="0">
              <a:buNone/>
            </a:pPr>
            <a:r>
              <a:rPr lang="en-US" sz="1360" b="1" dirty="0">
                <a:solidFill>
                  <a:srgbClr val="102A43"/>
                </a:solidFill>
                <a:latin typeface="Consolas" pitchFamily="34" charset="0"/>
                <a:ea typeface="Consolas" pitchFamily="34" charset="-122"/>
                <a:cs typeface="Consolas" pitchFamily="34" charset="-120"/>
              </a:rPr>
              <a:t>500 líneas/hora</a:t>
            </a:r>
            <a:endParaRPr lang="en-US" sz="1360" dirty="0"/>
          </a:p>
        </p:txBody>
      </p:sp>
      <p:sp>
        <p:nvSpPr>
          <p:cNvPr id="23" name="Text 20"/>
          <p:cNvSpPr txBox="1"/>
          <p:nvPr/>
        </p:nvSpPr>
        <p:spPr>
          <a:xfrm>
            <a:off x="932688" y="4626864"/>
            <a:ext cx="4791456" cy="585216"/>
          </a:xfrm>
          <a:prstGeom prst="rect">
            <a:avLst/>
          </a:prstGeom>
          <a:noFill/>
          <a:ln/>
        </p:spPr>
        <p:txBody>
          <a:bodyPr wrap="square" lIns="0" tIns="0" rIns="0" bIns="0" rtlCol="0" anchor="t"/>
          <a:lstStyle/>
          <a:p>
            <a:pPr algn="l" indent="0" marL="0">
              <a:buNone/>
            </a:pPr>
            <a:r>
              <a:rPr lang="en-US" sz="1060" i="1" dirty="0">
                <a:solidFill>
                  <a:srgbClr val="52606D"/>
                </a:solidFill>
                <a:latin typeface="Aptos" pitchFamily="34" charset="0"/>
                <a:ea typeface="Aptos" pitchFamily="34" charset="-122"/>
                <a:cs typeface="Aptos" pitchFamily="34" charset="-120"/>
              </a:rPr>
              <a:t>Por sobre 500 líneas por hora cae la densidad de defectos encontrados: cuántos defectos aparecen por cada mil líneas revisadas. Encuentra menos porque va rápido, no porque haya menos.</a:t>
            </a:r>
            <a:endParaRPr lang="en-US" sz="1060" dirty="0"/>
          </a:p>
        </p:txBody>
      </p:sp>
      <p:sp>
        <p:nvSpPr>
          <p:cNvPr id="24" name="Shape 21"/>
          <p:cNvSpPr/>
          <p:nvPr/>
        </p:nvSpPr>
        <p:spPr>
          <a:xfrm>
            <a:off x="6190488" y="2340864"/>
            <a:ext cx="5340096" cy="2926080"/>
          </a:xfrm>
          <a:prstGeom prst="rect">
            <a:avLst/>
          </a:prstGeom>
          <a:solidFill>
            <a:srgbClr val="E8F1F2"/>
          </a:solidFill>
          <a:ln w="12700">
            <a:solidFill>
              <a:srgbClr val="E8F1F2"/>
            </a:solidFill>
            <a:prstDash val="solid"/>
          </a:ln>
        </p:spPr>
      </p:sp>
      <p:sp>
        <p:nvSpPr>
          <p:cNvPr id="25" name="Shape 22"/>
          <p:cNvSpPr/>
          <p:nvPr/>
        </p:nvSpPr>
        <p:spPr>
          <a:xfrm>
            <a:off x="6190488" y="2340864"/>
            <a:ext cx="5340096" cy="82296"/>
          </a:xfrm>
          <a:prstGeom prst="rect">
            <a:avLst/>
          </a:prstGeom>
          <a:solidFill>
            <a:srgbClr val="0E6E7A"/>
          </a:solidFill>
          <a:ln w="12700">
            <a:solidFill>
              <a:srgbClr val="0E6E7A"/>
            </a:solidFill>
            <a:prstDash val="solid"/>
          </a:ln>
        </p:spPr>
      </p:sp>
      <p:sp>
        <p:nvSpPr>
          <p:cNvPr id="26" name="Text 23"/>
          <p:cNvSpPr txBox="1"/>
          <p:nvPr/>
        </p:nvSpPr>
        <p:spPr>
          <a:xfrm>
            <a:off x="6464808" y="2596896"/>
            <a:ext cx="4754880" cy="201168"/>
          </a:xfrm>
          <a:prstGeom prst="rect">
            <a:avLst/>
          </a:prstGeom>
          <a:noFill/>
          <a:ln/>
        </p:spPr>
        <p:txBody>
          <a:bodyPr wrap="square" lIns="0" tIns="0" rIns="0" bIns="0" rtlCol="0" anchor="t"/>
          <a:lstStyle/>
          <a:p>
            <a:pPr algn="l" indent="0" marL="0">
              <a:buNone/>
            </a:pPr>
            <a:r>
              <a:rPr lang="en-US" sz="960" b="1" spc="130" kern="0" dirty="0">
                <a:solidFill>
                  <a:srgbClr val="0E6E7A"/>
                </a:solidFill>
                <a:latin typeface="Aptos" pitchFamily="34" charset="0"/>
                <a:ea typeface="Aptos" pitchFamily="34" charset="-122"/>
                <a:cs typeface="Aptos" pitchFamily="34" charset="-120"/>
              </a:rPr>
              <a:t>QUÉ TAN GRANDE ES UN CAMBIO REAL</a:t>
            </a:r>
            <a:endParaRPr lang="en-US" sz="960" dirty="0"/>
          </a:p>
        </p:txBody>
      </p:sp>
      <p:sp>
        <p:nvSpPr>
          <p:cNvPr id="27" name="Text 24"/>
          <p:cNvSpPr txBox="1"/>
          <p:nvPr/>
        </p:nvSpPr>
        <p:spPr>
          <a:xfrm>
            <a:off x="6464808" y="2834640"/>
            <a:ext cx="4791456" cy="402336"/>
          </a:xfrm>
          <a:prstGeom prst="rect">
            <a:avLst/>
          </a:prstGeom>
          <a:noFill/>
          <a:ln/>
        </p:spPr>
        <p:txBody>
          <a:bodyPr wrap="square" lIns="0" tIns="0" rIns="0" bIns="0" rtlCol="0" anchor="t"/>
          <a:lstStyle/>
          <a:p>
            <a:pPr algn="l" indent="0" marL="0">
              <a:lnSpc>
                <a:spcPct val="114000"/>
              </a:lnSpc>
              <a:buNone/>
            </a:pPr>
            <a:r>
              <a:rPr lang="en-US" sz="1140" dirty="0">
                <a:solidFill>
                  <a:srgbClr val="52606D"/>
                </a:solidFill>
                <a:latin typeface="Aptos" pitchFamily="34" charset="0"/>
                <a:ea typeface="Aptos" pitchFamily="34" charset="-122"/>
                <a:cs typeface="Aptos" pitchFamily="34" charset="-120"/>
              </a:rPr>
              <a:t>Google, sobre su propio proceso: 9 millones de cambios y más de 25.000 autores y revisores, entre enero de 2014 y julio de 2016</a:t>
            </a:r>
            <a:endParaRPr lang="en-US" sz="1140" dirty="0"/>
          </a:p>
        </p:txBody>
      </p:sp>
      <p:sp>
        <p:nvSpPr>
          <p:cNvPr id="28" name="Text 25"/>
          <p:cNvSpPr txBox="1"/>
          <p:nvPr/>
        </p:nvSpPr>
        <p:spPr>
          <a:xfrm>
            <a:off x="6464808" y="3346704"/>
            <a:ext cx="2194560" cy="676656"/>
          </a:xfrm>
          <a:prstGeom prst="rect">
            <a:avLst/>
          </a:prstGeom>
          <a:noFill/>
          <a:ln/>
        </p:spPr>
        <p:txBody>
          <a:bodyPr wrap="square" lIns="0" tIns="0" rIns="0" bIns="0" rtlCol="0" anchor="t"/>
          <a:lstStyle/>
          <a:p>
            <a:pPr algn="l" indent="0" marL="0">
              <a:buNone/>
            </a:pPr>
            <a:r>
              <a:rPr lang="en-US" sz="4600" b="1" dirty="0">
                <a:solidFill>
                  <a:srgbClr val="0E6E7A"/>
                </a:solidFill>
                <a:latin typeface="Aptos Display" pitchFamily="34" charset="0"/>
                <a:ea typeface="Aptos Display" pitchFamily="34" charset="-122"/>
                <a:cs typeface="Aptos Display" pitchFamily="34" charset="-120"/>
              </a:rPr>
              <a:t>24</a:t>
            </a:r>
            <a:endParaRPr lang="en-US" sz="4600" dirty="0"/>
          </a:p>
        </p:txBody>
      </p:sp>
      <p:sp>
        <p:nvSpPr>
          <p:cNvPr id="29" name="Text 26"/>
          <p:cNvSpPr txBox="1"/>
          <p:nvPr/>
        </p:nvSpPr>
        <p:spPr>
          <a:xfrm>
            <a:off x="6464808" y="4078224"/>
            <a:ext cx="2194560" cy="237744"/>
          </a:xfrm>
          <a:prstGeom prst="rect">
            <a:avLst/>
          </a:prstGeom>
          <a:noFill/>
          <a:ln/>
        </p:spPr>
        <p:txBody>
          <a:bodyPr wrap="square" lIns="0" tIns="0" rIns="0" bIns="0" rtlCol="0" anchor="t"/>
          <a:lstStyle/>
          <a:p>
            <a:pPr algn="l" indent="0" marL="0">
              <a:buNone/>
            </a:pPr>
            <a:r>
              <a:rPr lang="en-US" sz="1260" b="1" dirty="0">
                <a:solidFill>
                  <a:srgbClr val="243B53"/>
                </a:solidFill>
                <a:latin typeface="Aptos" pitchFamily="34" charset="0"/>
                <a:ea typeface="Aptos" pitchFamily="34" charset="-122"/>
                <a:cs typeface="Aptos" pitchFamily="34" charset="-120"/>
              </a:rPr>
              <a:t>líneas modificadas</a:t>
            </a:r>
            <a:endParaRPr lang="en-US" sz="1260" dirty="0"/>
          </a:p>
        </p:txBody>
      </p:sp>
      <p:sp>
        <p:nvSpPr>
          <p:cNvPr id="30" name="Text 27"/>
          <p:cNvSpPr txBox="1"/>
          <p:nvPr/>
        </p:nvSpPr>
        <p:spPr>
          <a:xfrm>
            <a:off x="6464808" y="4334256"/>
            <a:ext cx="2194560" cy="365760"/>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es la mediana de un cambio</a:t>
            </a:r>
            <a:endParaRPr lang="en-US" sz="1060" dirty="0"/>
          </a:p>
        </p:txBody>
      </p:sp>
      <p:sp>
        <p:nvSpPr>
          <p:cNvPr id="31" name="Text 28"/>
          <p:cNvSpPr txBox="1"/>
          <p:nvPr/>
        </p:nvSpPr>
        <p:spPr>
          <a:xfrm>
            <a:off x="8897112" y="3346704"/>
            <a:ext cx="2194560" cy="676656"/>
          </a:xfrm>
          <a:prstGeom prst="rect">
            <a:avLst/>
          </a:prstGeom>
          <a:noFill/>
          <a:ln/>
        </p:spPr>
        <p:txBody>
          <a:bodyPr wrap="square" lIns="0" tIns="0" rIns="0" bIns="0" rtlCol="0" anchor="t"/>
          <a:lstStyle/>
          <a:p>
            <a:pPr algn="l" indent="0" marL="0">
              <a:buNone/>
            </a:pPr>
            <a:r>
              <a:rPr lang="en-US" sz="4600" b="1" dirty="0">
                <a:solidFill>
                  <a:srgbClr val="0E6E7A"/>
                </a:solidFill>
                <a:latin typeface="Aptos Display" pitchFamily="34" charset="0"/>
                <a:ea typeface="Aptos Display" pitchFamily="34" charset="-122"/>
                <a:cs typeface="Aptos Display" pitchFamily="34" charset="-120"/>
              </a:rPr>
              <a:t>1</a:t>
            </a:r>
            <a:endParaRPr lang="en-US" sz="4600" dirty="0"/>
          </a:p>
        </p:txBody>
      </p:sp>
      <p:sp>
        <p:nvSpPr>
          <p:cNvPr id="32" name="Text 29"/>
          <p:cNvSpPr txBox="1"/>
          <p:nvPr/>
        </p:nvSpPr>
        <p:spPr>
          <a:xfrm>
            <a:off x="8897112" y="4078224"/>
            <a:ext cx="2194560" cy="237744"/>
          </a:xfrm>
          <a:prstGeom prst="rect">
            <a:avLst/>
          </a:prstGeom>
          <a:noFill/>
          <a:ln/>
        </p:spPr>
        <p:txBody>
          <a:bodyPr wrap="square" lIns="0" tIns="0" rIns="0" bIns="0" rtlCol="0" anchor="t"/>
          <a:lstStyle/>
          <a:p>
            <a:pPr algn="l" indent="0" marL="0">
              <a:buNone/>
            </a:pPr>
            <a:r>
              <a:rPr lang="en-US" sz="1260" b="1" dirty="0">
                <a:solidFill>
                  <a:srgbClr val="243B53"/>
                </a:solidFill>
                <a:latin typeface="Aptos" pitchFamily="34" charset="0"/>
                <a:ea typeface="Aptos" pitchFamily="34" charset="-122"/>
                <a:cs typeface="Aptos" pitchFamily="34" charset="-120"/>
              </a:rPr>
              <a:t>revisor por cambio</a:t>
            </a:r>
            <a:endParaRPr lang="en-US" sz="1260" dirty="0"/>
          </a:p>
        </p:txBody>
      </p:sp>
      <p:sp>
        <p:nvSpPr>
          <p:cNvPr id="33" name="Text 30"/>
          <p:cNvSpPr txBox="1"/>
          <p:nvPr/>
        </p:nvSpPr>
        <p:spPr>
          <a:xfrm>
            <a:off x="8897112" y="4334256"/>
            <a:ext cx="2194560" cy="365760"/>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es la mediana del proceso</a:t>
            </a:r>
            <a:endParaRPr lang="en-US" sz="1060" dirty="0"/>
          </a:p>
        </p:txBody>
      </p:sp>
      <p:sp>
        <p:nvSpPr>
          <p:cNvPr id="34" name="Text 31"/>
          <p:cNvSpPr txBox="1"/>
          <p:nvPr/>
        </p:nvSpPr>
        <p:spPr>
          <a:xfrm>
            <a:off x="6464808" y="4809744"/>
            <a:ext cx="4791456" cy="329184"/>
          </a:xfrm>
          <a:prstGeom prst="rect">
            <a:avLst/>
          </a:prstGeom>
          <a:noFill/>
          <a:ln/>
        </p:spPr>
        <p:txBody>
          <a:bodyPr wrap="square" lIns="0" tIns="0" rIns="0" bIns="0" rtlCol="0" anchor="t"/>
          <a:lstStyle/>
          <a:p>
            <a:pPr algn="l" indent="0" marL="0">
              <a:lnSpc>
                <a:spcPct val="110000"/>
              </a:lnSpc>
              <a:buNone/>
            </a:pPr>
            <a:r>
              <a:rPr lang="en-US" sz="1040" i="1" dirty="0">
                <a:solidFill>
                  <a:srgbClr val="52606D"/>
                </a:solidFill>
                <a:latin typeface="Aptos" pitchFamily="34" charset="0"/>
                <a:ea typeface="Aptos" pitchFamily="34" charset="-122"/>
                <a:cs typeface="Aptos" pitchFamily="34" charset="-120"/>
              </a:rPr>
              <a:t>Mediana: el valor del medio. La mitad de los cambios modifica menos de 24 líneas, y la otra mitad modifica más.</a:t>
            </a:r>
            <a:endParaRPr lang="en-US" sz="1040" dirty="0"/>
          </a:p>
        </p:txBody>
      </p:sp>
      <p:sp>
        <p:nvSpPr>
          <p:cNvPr id="35" name="Shape 32"/>
          <p:cNvSpPr/>
          <p:nvPr/>
        </p:nvSpPr>
        <p:spPr>
          <a:xfrm>
            <a:off x="658368" y="5413248"/>
            <a:ext cx="10874959" cy="786384"/>
          </a:xfrm>
          <a:prstGeom prst="rect">
            <a:avLst/>
          </a:prstGeom>
          <a:solidFill>
            <a:srgbClr val="102A43"/>
          </a:solidFill>
          <a:ln w="12700">
            <a:solidFill>
              <a:srgbClr val="102A43"/>
            </a:solidFill>
            <a:prstDash val="solid"/>
          </a:ln>
        </p:spPr>
      </p:sp>
      <p:sp>
        <p:nvSpPr>
          <p:cNvPr id="36" name="Text 33"/>
          <p:cNvSpPr txBox="1"/>
          <p:nvPr/>
        </p:nvSpPr>
        <p:spPr>
          <a:xfrm>
            <a:off x="969264" y="5468112"/>
            <a:ext cx="10253167" cy="676656"/>
          </a:xfrm>
          <a:prstGeom prst="rect">
            <a:avLst/>
          </a:prstGeom>
          <a:noFill/>
          <a:ln/>
        </p:spPr>
        <p:txBody>
          <a:bodyPr wrap="square" lIns="0" tIns="0" rIns="0" bIns="0" rtlCol="0" anchor="ctr"/>
          <a:lstStyle/>
          <a:p>
            <a:pPr algn="ctr" indent="0" marL="0">
              <a:lnSpc>
                <a:spcPct val="114000"/>
              </a:lnSpc>
              <a:buNone/>
            </a:pPr>
            <a:r>
              <a:rPr lang="en-US" sz="1300" b="1" dirty="0">
                <a:solidFill>
                  <a:srgbClr val="FFFFFF"/>
                </a:solidFill>
                <a:latin typeface="Aptos" pitchFamily="34" charset="0"/>
                <a:ea typeface="Aptos" pitchFamily="34" charset="-122"/>
                <a:cs typeface="Aptos" pitchFamily="34" charset="-120"/>
              </a:rPr>
              <a:t>La revisión encuentra defectos cuando es pequeña, lenta y con criterios. Y aun así, la organización que más código revisa del mundo declara que encontrar defectos no es su foco principal: revisa para que el código siga siendo entendible por otra persona.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2.2 · EL MATERIAL DE TRABAJO</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Cuatro pruebas en verde, y cuatro problemas dentro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Regla previa de la lista: ningún ítem puede ser algo que una herramienta ya responda sola. Esa atención de 60 minutos es el recurso más caro del proceso.</a:t>
            </a:r>
            <a:endParaRPr lang="en-US" sz="1450" dirty="0"/>
          </a:p>
        </p:txBody>
      </p:sp>
      <p:sp>
        <p:nvSpPr>
          <p:cNvPr id="11" name="Shape 8"/>
          <p:cNvSpPr/>
          <p:nvPr/>
        </p:nvSpPr>
        <p:spPr>
          <a:xfrm>
            <a:off x="658368" y="2377440"/>
            <a:ext cx="6858000" cy="3035808"/>
          </a:xfrm>
          <a:prstGeom prst="roundRect">
            <a:avLst>
              <a:gd name="adj" fmla="val 1205"/>
            </a:avLst>
          </a:prstGeom>
          <a:solidFill>
            <a:srgbClr val="102A43"/>
          </a:solidFill>
          <a:ln w="12700">
            <a:solidFill>
              <a:srgbClr val="102A43"/>
            </a:solidFill>
            <a:prstDash val="solid"/>
          </a:ln>
        </p:spPr>
      </p:sp>
      <p:sp>
        <p:nvSpPr>
          <p:cNvPr id="12" name="Shape 9"/>
          <p:cNvSpPr/>
          <p:nvPr/>
        </p:nvSpPr>
        <p:spPr>
          <a:xfrm>
            <a:off x="786384" y="2487168"/>
            <a:ext cx="660196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60320"/>
            <a:ext cx="63825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curso.py · cierre de asignatura de un curso</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44368"/>
            <a:ext cx="6437376" cy="2286000"/>
          </a:xfrm>
          <a:prstGeom prst="rect">
            <a:avLst/>
          </a:prstGeom>
        </p:spPr>
      </p:pic>
      <p:sp>
        <p:nvSpPr>
          <p:cNvPr id="15" name="Shape 11"/>
          <p:cNvSpPr/>
          <p:nvPr/>
        </p:nvSpPr>
        <p:spPr>
          <a:xfrm>
            <a:off x="7680960" y="2377440"/>
            <a:ext cx="3849624" cy="3035808"/>
          </a:xfrm>
          <a:prstGeom prst="roundRect">
            <a:avLst>
              <a:gd name="adj" fmla="val 1205"/>
            </a:avLst>
          </a:prstGeom>
          <a:solidFill>
            <a:srgbClr val="0F1720"/>
          </a:solidFill>
          <a:ln w="12700">
            <a:solidFill>
              <a:srgbClr val="0F1720"/>
            </a:solidFill>
            <a:prstDash val="solid"/>
          </a:ln>
        </p:spPr>
      </p:sp>
      <p:sp>
        <p:nvSpPr>
          <p:cNvPr id="16" name="Shape 12"/>
          <p:cNvSpPr/>
          <p:nvPr/>
        </p:nvSpPr>
        <p:spPr>
          <a:xfrm>
            <a:off x="7808976" y="2487168"/>
            <a:ext cx="3593592" cy="310896"/>
          </a:xfrm>
          <a:prstGeom prst="roundRect">
            <a:avLst>
              <a:gd name="adj" fmla="val 8824"/>
            </a:avLst>
          </a:prstGeom>
          <a:solidFill>
            <a:srgbClr val="1E2937"/>
          </a:solidFill>
          <a:ln w="12700">
            <a:solidFill>
              <a:srgbClr val="1E2937"/>
            </a:solidFill>
            <a:prstDash val="solid"/>
          </a:ln>
        </p:spPr>
      </p:sp>
      <p:sp>
        <p:nvSpPr>
          <p:cNvPr id="17" name="Text 13"/>
          <p:cNvSpPr/>
          <p:nvPr/>
        </p:nvSpPr>
        <p:spPr>
          <a:xfrm>
            <a:off x="7936992" y="2560320"/>
            <a:ext cx="3337560"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PowerShell · el estado del proyecto</a:t>
            </a:r>
            <a:endParaRPr lang="en-US" sz="1000" dirty="0"/>
          </a:p>
        </p:txBody>
      </p:sp>
      <p:sp>
        <p:nvSpPr>
          <p:cNvPr id="18" name="Text 14"/>
          <p:cNvSpPr/>
          <p:nvPr/>
        </p:nvSpPr>
        <p:spPr>
          <a:xfrm>
            <a:off x="7900416" y="2944368"/>
            <a:ext cx="329184" cy="164592"/>
          </a:xfrm>
          <a:prstGeom prst="rect">
            <a:avLst/>
          </a:prstGeom>
          <a:noFill/>
          <a:ln/>
        </p:spPr>
        <p:txBody>
          <a:bodyPr wrap="square" lIns="0" tIns="0" rIns="0" bIns="0" rtlCol="0" anchor="ctr"/>
          <a:lstStyle/>
          <a:p>
            <a:pPr indent="0" marL="0">
              <a:buNone/>
            </a:pPr>
            <a:r>
              <a:rPr lang="en-US" sz="960" b="1" dirty="0">
                <a:solidFill>
                  <a:srgbClr val="E0BC5A"/>
                </a:solidFill>
                <a:latin typeface="Consolas" pitchFamily="34" charset="0"/>
                <a:ea typeface="Consolas" pitchFamily="34" charset="-122"/>
                <a:cs typeface="Consolas" pitchFamily="34" charset="-120"/>
              </a:rPr>
              <a:t>&gt;</a:t>
            </a:r>
            <a:endParaRPr lang="en-US" sz="960" dirty="0"/>
          </a:p>
        </p:txBody>
      </p:sp>
      <p:sp>
        <p:nvSpPr>
          <p:cNvPr id="19" name="Text 15"/>
          <p:cNvSpPr/>
          <p:nvPr/>
        </p:nvSpPr>
        <p:spPr>
          <a:xfrm>
            <a:off x="8211312" y="2944368"/>
            <a:ext cx="3099816"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uv run pytest -q</a:t>
            </a:r>
            <a:endParaRPr lang="en-US" sz="960" dirty="0"/>
          </a:p>
        </p:txBody>
      </p:sp>
      <p:sp>
        <p:nvSpPr>
          <p:cNvPr id="20" name="Text 16"/>
          <p:cNvSpPr/>
          <p:nvPr/>
        </p:nvSpPr>
        <p:spPr>
          <a:xfrm>
            <a:off x="7900416" y="3200400"/>
            <a:ext cx="3099816"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4 passed in 0.03s</a:t>
            </a:r>
            <a:endParaRPr lang="en-US" sz="960" dirty="0"/>
          </a:p>
        </p:txBody>
      </p:sp>
      <p:sp>
        <p:nvSpPr>
          <p:cNvPr id="21" name="Text 17"/>
          <p:cNvSpPr/>
          <p:nvPr/>
        </p:nvSpPr>
        <p:spPr>
          <a:xfrm>
            <a:off x="7900416" y="3456432"/>
            <a:ext cx="329184" cy="164592"/>
          </a:xfrm>
          <a:prstGeom prst="rect">
            <a:avLst/>
          </a:prstGeom>
          <a:noFill/>
          <a:ln/>
        </p:spPr>
        <p:txBody>
          <a:bodyPr wrap="square" lIns="0" tIns="0" rIns="0" bIns="0" rtlCol="0" anchor="ctr"/>
          <a:lstStyle/>
          <a:p>
            <a:pPr indent="0" marL="0">
              <a:buNone/>
            </a:pPr>
            <a:r>
              <a:rPr lang="en-US" sz="960" b="1" dirty="0">
                <a:solidFill>
                  <a:srgbClr val="E0BC5A"/>
                </a:solidFill>
                <a:latin typeface="Consolas" pitchFamily="34" charset="0"/>
                <a:ea typeface="Consolas" pitchFamily="34" charset="-122"/>
                <a:cs typeface="Consolas" pitchFamily="34" charset="-120"/>
              </a:rPr>
              <a:t>&gt;</a:t>
            </a:r>
            <a:endParaRPr lang="en-US" sz="960" dirty="0"/>
          </a:p>
        </p:txBody>
      </p:sp>
      <p:sp>
        <p:nvSpPr>
          <p:cNvPr id="22" name="Text 18"/>
          <p:cNvSpPr/>
          <p:nvPr/>
        </p:nvSpPr>
        <p:spPr>
          <a:xfrm>
            <a:off x="8211312" y="3456432"/>
            <a:ext cx="3099816"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uv run ruff check</a:t>
            </a:r>
            <a:endParaRPr lang="en-US" sz="960" dirty="0"/>
          </a:p>
        </p:txBody>
      </p:sp>
      <p:sp>
        <p:nvSpPr>
          <p:cNvPr id="23" name="Text 19"/>
          <p:cNvSpPr/>
          <p:nvPr/>
        </p:nvSpPr>
        <p:spPr>
          <a:xfrm>
            <a:off x="7900416" y="3712464"/>
            <a:ext cx="3099816"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All checks passed!</a:t>
            </a:r>
            <a:endParaRPr lang="en-US" sz="960" dirty="0"/>
          </a:p>
        </p:txBody>
      </p:sp>
      <p:sp>
        <p:nvSpPr>
          <p:cNvPr id="24" name="Text 20"/>
          <p:cNvSpPr/>
          <p:nvPr/>
        </p:nvSpPr>
        <p:spPr>
          <a:xfrm>
            <a:off x="7900416" y="3968496"/>
            <a:ext cx="329184" cy="164592"/>
          </a:xfrm>
          <a:prstGeom prst="rect">
            <a:avLst/>
          </a:prstGeom>
          <a:noFill/>
          <a:ln/>
        </p:spPr>
        <p:txBody>
          <a:bodyPr wrap="square" lIns="0" tIns="0" rIns="0" bIns="0" rtlCol="0" anchor="ctr"/>
          <a:lstStyle/>
          <a:p>
            <a:pPr indent="0" marL="0">
              <a:buNone/>
            </a:pPr>
            <a:r>
              <a:rPr lang="en-US" sz="960" b="1" dirty="0">
                <a:solidFill>
                  <a:srgbClr val="E0BC5A"/>
                </a:solidFill>
                <a:latin typeface="Consolas" pitchFamily="34" charset="0"/>
                <a:ea typeface="Consolas" pitchFamily="34" charset="-122"/>
                <a:cs typeface="Consolas" pitchFamily="34" charset="-120"/>
              </a:rPr>
              <a:t>&gt;</a:t>
            </a:r>
            <a:endParaRPr lang="en-US" sz="960" dirty="0"/>
          </a:p>
        </p:txBody>
      </p:sp>
      <p:sp>
        <p:nvSpPr>
          <p:cNvPr id="25" name="Text 21"/>
          <p:cNvSpPr/>
          <p:nvPr/>
        </p:nvSpPr>
        <p:spPr>
          <a:xfrm>
            <a:off x="8211312" y="3968496"/>
            <a:ext cx="3099816"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uv run ruff check</a:t>
            </a:r>
            <a:endParaRPr lang="en-US" sz="960" dirty="0"/>
          </a:p>
        </p:txBody>
      </p:sp>
      <p:sp>
        <p:nvSpPr>
          <p:cNvPr id="26" name="Text 22"/>
          <p:cNvSpPr/>
          <p:nvPr/>
        </p:nvSpPr>
        <p:spPr>
          <a:xfrm>
            <a:off x="7900416" y="4224528"/>
            <a:ext cx="3099816" cy="164592"/>
          </a:xfrm>
          <a:prstGeom prst="rect">
            <a:avLst/>
          </a:prstGeom>
          <a:noFill/>
          <a:ln/>
        </p:spPr>
        <p:txBody>
          <a:bodyPr wrap="square" lIns="0" tIns="0" rIns="0" bIns="0" rtlCol="0" anchor="ctr"/>
          <a:lstStyle/>
          <a:p>
            <a:pPr indent="0" marL="0">
              <a:buNone/>
            </a:pPr>
            <a:r>
              <a:rPr lang="en-US" sz="960" dirty="0">
                <a:solidFill>
                  <a:srgbClr val="8AA0B6"/>
                </a:solidFill>
                <a:latin typeface="Consolas" pitchFamily="34" charset="0"/>
                <a:ea typeface="Consolas" pitchFamily="34" charset="-122"/>
                <a:cs typeface="Consolas" pitchFamily="34" charset="-120"/>
              </a:rPr>
              <a:t>  --extend-select B</a:t>
            </a:r>
            <a:endParaRPr lang="en-US" sz="960" dirty="0"/>
          </a:p>
        </p:txBody>
      </p:sp>
      <p:sp>
        <p:nvSpPr>
          <p:cNvPr id="27" name="Text 23"/>
          <p:cNvSpPr/>
          <p:nvPr/>
        </p:nvSpPr>
        <p:spPr>
          <a:xfrm>
            <a:off x="7900416" y="4480560"/>
            <a:ext cx="3099816"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All checks passed!</a:t>
            </a:r>
            <a:endParaRPr lang="en-US" sz="960" dirty="0"/>
          </a:p>
        </p:txBody>
      </p:sp>
      <p:sp>
        <p:nvSpPr>
          <p:cNvPr id="28" name="Text 24"/>
          <p:cNvSpPr/>
          <p:nvPr/>
        </p:nvSpPr>
        <p:spPr>
          <a:xfrm>
            <a:off x="7900416" y="4736592"/>
            <a:ext cx="329184" cy="164592"/>
          </a:xfrm>
          <a:prstGeom prst="rect">
            <a:avLst/>
          </a:prstGeom>
          <a:noFill/>
          <a:ln/>
        </p:spPr>
        <p:txBody>
          <a:bodyPr wrap="square" lIns="0" tIns="0" rIns="0" bIns="0" rtlCol="0" anchor="ctr"/>
          <a:lstStyle/>
          <a:p>
            <a:pPr indent="0" marL="0">
              <a:buNone/>
            </a:pPr>
            <a:r>
              <a:rPr lang="en-US" sz="960" b="1" dirty="0">
                <a:solidFill>
                  <a:srgbClr val="E0BC5A"/>
                </a:solidFill>
                <a:latin typeface="Consolas" pitchFamily="34" charset="0"/>
                <a:ea typeface="Consolas" pitchFamily="34" charset="-122"/>
                <a:cs typeface="Consolas" pitchFamily="34" charset="-120"/>
              </a:rPr>
              <a:t>&gt;</a:t>
            </a:r>
            <a:endParaRPr lang="en-US" sz="960" dirty="0"/>
          </a:p>
        </p:txBody>
      </p:sp>
      <p:sp>
        <p:nvSpPr>
          <p:cNvPr id="29" name="Text 25"/>
          <p:cNvSpPr/>
          <p:nvPr/>
        </p:nvSpPr>
        <p:spPr>
          <a:xfrm>
            <a:off x="8211312" y="4736592"/>
            <a:ext cx="3099816"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uv run pyrefly check</a:t>
            </a:r>
            <a:endParaRPr lang="en-US" sz="960" dirty="0"/>
          </a:p>
        </p:txBody>
      </p:sp>
      <p:sp>
        <p:nvSpPr>
          <p:cNvPr id="30" name="Text 26"/>
          <p:cNvSpPr/>
          <p:nvPr/>
        </p:nvSpPr>
        <p:spPr>
          <a:xfrm>
            <a:off x="7900416" y="4992624"/>
            <a:ext cx="3099816"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INFO 0 errors</a:t>
            </a:r>
            <a:endParaRPr lang="en-US" sz="960" dirty="0"/>
          </a:p>
        </p:txBody>
      </p:sp>
      <p:sp>
        <p:nvSpPr>
          <p:cNvPr id="31" name="Shape 27"/>
          <p:cNvSpPr/>
          <p:nvPr/>
        </p:nvSpPr>
        <p:spPr>
          <a:xfrm>
            <a:off x="658368" y="5559552"/>
            <a:ext cx="10874959" cy="640080"/>
          </a:xfrm>
          <a:prstGeom prst="rect">
            <a:avLst/>
          </a:prstGeom>
          <a:solidFill>
            <a:srgbClr val="102A43"/>
          </a:solidFill>
          <a:ln w="12700">
            <a:solidFill>
              <a:srgbClr val="102A43"/>
            </a:solidFill>
            <a:prstDash val="solid"/>
          </a:ln>
        </p:spPr>
      </p:sp>
      <p:sp>
        <p:nvSpPr>
          <p:cNvPr id="32" name="Text 28"/>
          <p:cNvSpPr txBox="1"/>
          <p:nvPr/>
        </p:nvSpPr>
        <p:spPr>
          <a:xfrm>
            <a:off x="969264" y="5614416"/>
            <a:ext cx="10253167" cy="530352"/>
          </a:xfrm>
          <a:prstGeom prst="rect">
            <a:avLst/>
          </a:prstGeom>
          <a:noFill/>
          <a:ln/>
        </p:spPr>
        <p:txBody>
          <a:bodyPr wrap="square" lIns="0" tIns="0" rIns="0" bIns="0" rtlCol="0" anchor="ctr"/>
          <a:lstStyle/>
          <a:p>
            <a:pPr algn="ctr" indent="0" marL="0">
              <a:lnSpc>
                <a:spcPct val="114000"/>
              </a:lnSpc>
              <a:buNone/>
            </a:pPr>
            <a:r>
              <a:rPr lang="en-US" sz="1360" b="1" dirty="0">
                <a:solidFill>
                  <a:srgbClr val="FFFFFF"/>
                </a:solidFill>
                <a:latin typeface="Aptos" pitchFamily="34" charset="0"/>
                <a:ea typeface="Aptos" pitchFamily="34" charset="-122"/>
                <a:cs typeface="Aptos" pitchFamily="34" charset="-120"/>
              </a:rPr>
              <a:t>Las dos barreras de ayer están conformes, con la regla extra habilitada, y la suite completa pasa. Ninguna de esas cuatro respuestas menciona lo que está mal.</a:t>
            </a:r>
            <a:endParaRPr lang="en-US" sz="13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2.3 · LA LISTA DE COMPROBACIÓN</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Cuatro preguntas, cuatro hallazgos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Cada pregunta viene de una fuente de defecto ya trabajada en el módulo, y ninguna se puede responder sin tener el requisito a la vista.</a:t>
            </a:r>
            <a:endParaRPr lang="en-US" sz="1450" dirty="0"/>
          </a:p>
        </p:txBody>
      </p:sp>
      <p:sp>
        <p:nvSpPr>
          <p:cNvPr id="11" name="Shape 8"/>
          <p:cNvSpPr/>
          <p:nvPr/>
        </p:nvSpPr>
        <p:spPr>
          <a:xfrm>
            <a:off x="658368" y="2395728"/>
            <a:ext cx="45720" cy="713232"/>
          </a:xfrm>
          <a:prstGeom prst="rect">
            <a:avLst/>
          </a:prstGeom>
          <a:solidFill>
            <a:srgbClr val="102A43"/>
          </a:solidFill>
          <a:ln w="12700">
            <a:solidFill>
              <a:srgbClr val="102A43"/>
            </a:solidFill>
            <a:prstDash val="solid"/>
          </a:ln>
        </p:spPr>
      </p:sp>
      <p:sp>
        <p:nvSpPr>
          <p:cNvPr id="12" name="Text 9"/>
          <p:cNvSpPr txBox="1"/>
          <p:nvPr/>
        </p:nvSpPr>
        <p:spPr>
          <a:xfrm>
            <a:off x="877824" y="2395728"/>
            <a:ext cx="2286000" cy="274320"/>
          </a:xfrm>
          <a:prstGeom prst="rect">
            <a:avLst/>
          </a:prstGeom>
          <a:noFill/>
          <a:ln/>
        </p:spPr>
        <p:txBody>
          <a:bodyPr wrap="square" lIns="0" tIns="0" rIns="0" bIns="0" rtlCol="0" anchor="t"/>
          <a:lstStyle/>
          <a:p>
            <a:pPr algn="l" indent="0" marL="0">
              <a:buNone/>
            </a:pPr>
            <a:r>
              <a:rPr lang="en-US" sz="1320" b="1" dirty="0">
                <a:solidFill>
                  <a:srgbClr val="102A43"/>
                </a:solidFill>
                <a:latin typeface="Aptos" pitchFamily="34" charset="0"/>
                <a:ea typeface="Aptos" pitchFamily="34" charset="-122"/>
                <a:cs typeface="Aptos" pitchFamily="34" charset="-120"/>
              </a:rPr>
              <a:t>El límite</a:t>
            </a:r>
            <a:endParaRPr lang="en-US" sz="1320" dirty="0"/>
          </a:p>
        </p:txBody>
      </p:sp>
      <p:sp>
        <p:nvSpPr>
          <p:cNvPr id="13" name="Text 10"/>
          <p:cNvSpPr txBox="1"/>
          <p:nvPr/>
        </p:nvSpPr>
        <p:spPr>
          <a:xfrm>
            <a:off x="877824" y="2688336"/>
            <a:ext cx="2651760" cy="402336"/>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¿El código usa el mismo operador que el requisito?</a:t>
            </a:r>
            <a:endParaRPr lang="en-US" sz="1060" dirty="0"/>
          </a:p>
        </p:txBody>
      </p:sp>
      <p:sp>
        <p:nvSpPr>
          <p:cNvPr id="14" name="Shape 11"/>
          <p:cNvSpPr/>
          <p:nvPr/>
        </p:nvSpPr>
        <p:spPr>
          <a:xfrm>
            <a:off x="3602736" y="2377440"/>
            <a:ext cx="7927848" cy="457200"/>
          </a:xfrm>
          <a:prstGeom prst="rect">
            <a:avLst/>
          </a:prstGeom>
          <a:solidFill>
            <a:srgbClr val="102A43"/>
          </a:solidFill>
          <a:ln w="12700">
            <a:solidFill>
              <a:srgbClr val="102A43"/>
            </a:solidFill>
            <a:prstDash val="solid"/>
          </a:ln>
        </p:spPr>
      </p:sp>
      <p:sp>
        <p:nvSpPr>
          <p:cNvPr id="15" name="Text 12"/>
          <p:cNvSpPr txBox="1"/>
          <p:nvPr/>
        </p:nvSpPr>
        <p:spPr>
          <a:xfrm>
            <a:off x="3803904" y="2468880"/>
            <a:ext cx="7589520" cy="274320"/>
          </a:xfrm>
          <a:prstGeom prst="rect">
            <a:avLst/>
          </a:prstGeom>
          <a:noFill/>
          <a:ln/>
        </p:spPr>
        <p:txBody>
          <a:bodyPr wrap="square" lIns="0" tIns="0" rIns="0" bIns="0" rtlCol="0" anchor="t"/>
          <a:lstStyle/>
          <a:p>
            <a:pPr algn="l" indent="0" marL="0">
              <a:buNone/>
            </a:pPr>
            <a:r>
              <a:rPr lang="en-US" sz="1160" dirty="0">
                <a:solidFill>
                  <a:srgbClr val="E6EEF7"/>
                </a:solidFill>
                <a:latin typeface="Consolas" pitchFamily="34" charset="0"/>
                <a:ea typeface="Consolas" pitchFamily="34" charset="-122"/>
                <a:cs typeface="Consolas" pitchFamily="34" charset="-120"/>
              </a:rPr>
              <a:t>estado([5.0, 5.0], 70)  →  'reprobado'</a:t>
            </a:r>
            <a:endParaRPr lang="en-US" sz="1160" dirty="0"/>
          </a:p>
        </p:txBody>
      </p:sp>
      <p:sp>
        <p:nvSpPr>
          <p:cNvPr id="16" name="Text 13"/>
          <p:cNvSpPr txBox="1"/>
          <p:nvPr/>
        </p:nvSpPr>
        <p:spPr>
          <a:xfrm>
            <a:off x="3602736" y="2889504"/>
            <a:ext cx="7927848" cy="219456"/>
          </a:xfrm>
          <a:prstGeom prst="rect">
            <a:avLst/>
          </a:prstGeom>
          <a:noFill/>
          <a:ln/>
        </p:spPr>
        <p:txBody>
          <a:bodyPr wrap="square" lIns="0" tIns="0" rIns="0" bIns="0" rtlCol="0" anchor="t"/>
          <a:lstStyle/>
          <a:p>
            <a:pPr algn="l" indent="0" marL="0">
              <a:buNone/>
            </a:pPr>
            <a:r>
              <a:rPr lang="en-US" sz="1080" i="1" dirty="0">
                <a:solidFill>
                  <a:srgbClr val="102A43"/>
                </a:solidFill>
                <a:latin typeface="Aptos" pitchFamily="34" charset="0"/>
                <a:ea typeface="Aptos" pitchFamily="34" charset="-122"/>
                <a:cs typeface="Aptos" pitchFamily="34" charset="-120"/>
              </a:rPr>
              <a:t>el requisito dice que aprueba</a:t>
            </a:r>
            <a:endParaRPr lang="en-US" sz="1080" dirty="0"/>
          </a:p>
        </p:txBody>
      </p:sp>
      <p:sp>
        <p:nvSpPr>
          <p:cNvPr id="17" name="Shape 14"/>
          <p:cNvSpPr/>
          <p:nvPr/>
        </p:nvSpPr>
        <p:spPr>
          <a:xfrm>
            <a:off x="658368" y="3255264"/>
            <a:ext cx="45720" cy="713232"/>
          </a:xfrm>
          <a:prstGeom prst="rect">
            <a:avLst/>
          </a:prstGeom>
          <a:solidFill>
            <a:srgbClr val="0E6E7A"/>
          </a:solidFill>
          <a:ln w="12700">
            <a:solidFill>
              <a:srgbClr val="0E6E7A"/>
            </a:solidFill>
            <a:prstDash val="solid"/>
          </a:ln>
        </p:spPr>
      </p:sp>
      <p:sp>
        <p:nvSpPr>
          <p:cNvPr id="18" name="Text 15"/>
          <p:cNvSpPr txBox="1"/>
          <p:nvPr/>
        </p:nvSpPr>
        <p:spPr>
          <a:xfrm>
            <a:off x="877824" y="3255264"/>
            <a:ext cx="2286000" cy="274320"/>
          </a:xfrm>
          <a:prstGeom prst="rect">
            <a:avLst/>
          </a:prstGeom>
          <a:noFill/>
          <a:ln/>
        </p:spPr>
        <p:txBody>
          <a:bodyPr wrap="square" lIns="0" tIns="0" rIns="0" bIns="0" rtlCol="0" anchor="t"/>
          <a:lstStyle/>
          <a:p>
            <a:pPr algn="l" indent="0" marL="0">
              <a:buNone/>
            </a:pPr>
            <a:r>
              <a:rPr lang="en-US" sz="1320" b="1" dirty="0">
                <a:solidFill>
                  <a:srgbClr val="0E6E7A"/>
                </a:solidFill>
                <a:latin typeface="Aptos" pitchFamily="34" charset="0"/>
                <a:ea typeface="Aptos" pitchFamily="34" charset="-122"/>
                <a:cs typeface="Aptos" pitchFamily="34" charset="-120"/>
              </a:rPr>
              <a:t>El caso no nombrado</a:t>
            </a:r>
            <a:endParaRPr lang="en-US" sz="1320" dirty="0"/>
          </a:p>
        </p:txBody>
      </p:sp>
      <p:sp>
        <p:nvSpPr>
          <p:cNvPr id="19" name="Text 16"/>
          <p:cNvSpPr txBox="1"/>
          <p:nvPr/>
        </p:nvSpPr>
        <p:spPr>
          <a:xfrm>
            <a:off x="877824" y="3547872"/>
            <a:ext cx="2651760" cy="402336"/>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¿Qué pasa con lo vacío, lo cero, lo negativo?</a:t>
            </a:r>
            <a:endParaRPr lang="en-US" sz="1060" dirty="0"/>
          </a:p>
        </p:txBody>
      </p:sp>
      <p:sp>
        <p:nvSpPr>
          <p:cNvPr id="20" name="Shape 17"/>
          <p:cNvSpPr/>
          <p:nvPr/>
        </p:nvSpPr>
        <p:spPr>
          <a:xfrm>
            <a:off x="3602736" y="3236976"/>
            <a:ext cx="7927848" cy="457200"/>
          </a:xfrm>
          <a:prstGeom prst="rect">
            <a:avLst/>
          </a:prstGeom>
          <a:solidFill>
            <a:srgbClr val="102A43"/>
          </a:solidFill>
          <a:ln w="12700">
            <a:solidFill>
              <a:srgbClr val="102A43"/>
            </a:solidFill>
            <a:prstDash val="solid"/>
          </a:ln>
        </p:spPr>
      </p:sp>
      <p:sp>
        <p:nvSpPr>
          <p:cNvPr id="21" name="Text 18"/>
          <p:cNvSpPr txBox="1"/>
          <p:nvPr/>
        </p:nvSpPr>
        <p:spPr>
          <a:xfrm>
            <a:off x="3803904" y="3328416"/>
            <a:ext cx="7589520" cy="274320"/>
          </a:xfrm>
          <a:prstGeom prst="rect">
            <a:avLst/>
          </a:prstGeom>
          <a:noFill/>
          <a:ln/>
        </p:spPr>
        <p:txBody>
          <a:bodyPr wrap="square" lIns="0" tIns="0" rIns="0" bIns="0" rtlCol="0" anchor="t"/>
          <a:lstStyle/>
          <a:p>
            <a:pPr algn="l" indent="0" marL="0">
              <a:buNone/>
            </a:pPr>
            <a:r>
              <a:rPr lang="en-US" sz="1160" dirty="0">
                <a:solidFill>
                  <a:srgbClr val="E6EEF7"/>
                </a:solidFill>
                <a:latin typeface="Consolas" pitchFamily="34" charset="0"/>
                <a:ea typeface="Consolas" pitchFamily="34" charset="-122"/>
                <a:cs typeface="Consolas" pitchFamily="34" charset="-120"/>
              </a:rPr>
              <a:t>nota_final([])  →  ZeroDivisionError</a:t>
            </a:r>
            <a:endParaRPr lang="en-US" sz="1160" dirty="0"/>
          </a:p>
        </p:txBody>
      </p:sp>
      <p:sp>
        <p:nvSpPr>
          <p:cNvPr id="22" name="Text 19"/>
          <p:cNvSpPr txBox="1"/>
          <p:nvPr/>
        </p:nvSpPr>
        <p:spPr>
          <a:xfrm>
            <a:off x="3602736" y="3749040"/>
            <a:ext cx="7927848" cy="219456"/>
          </a:xfrm>
          <a:prstGeom prst="rect">
            <a:avLst/>
          </a:prstGeom>
          <a:noFill/>
          <a:ln/>
        </p:spPr>
        <p:txBody>
          <a:bodyPr wrap="square" lIns="0" tIns="0" rIns="0" bIns="0" rtlCol="0" anchor="t"/>
          <a:lstStyle/>
          <a:p>
            <a:pPr algn="l" indent="0" marL="0">
              <a:buNone/>
            </a:pPr>
            <a:r>
              <a:rPr lang="en-US" sz="1080" i="1" dirty="0">
                <a:solidFill>
                  <a:srgbClr val="0E6E7A"/>
                </a:solidFill>
                <a:latin typeface="Aptos" pitchFamily="34" charset="0"/>
                <a:ea typeface="Aptos" pitchFamily="34" charset="-122"/>
                <a:cs typeface="Aptos" pitchFamily="34" charset="-120"/>
              </a:rPr>
              <a:t>un alumno sin notas cae el cierre completo</a:t>
            </a:r>
            <a:endParaRPr lang="en-US" sz="1080" dirty="0"/>
          </a:p>
        </p:txBody>
      </p:sp>
      <p:sp>
        <p:nvSpPr>
          <p:cNvPr id="23" name="Shape 20"/>
          <p:cNvSpPr/>
          <p:nvPr/>
        </p:nvSpPr>
        <p:spPr>
          <a:xfrm>
            <a:off x="658368" y="4114800"/>
            <a:ext cx="45720" cy="713232"/>
          </a:xfrm>
          <a:prstGeom prst="rect">
            <a:avLst/>
          </a:prstGeom>
          <a:solidFill>
            <a:srgbClr val="8A6A12"/>
          </a:solidFill>
          <a:ln w="12700">
            <a:solidFill>
              <a:srgbClr val="8A6A12"/>
            </a:solidFill>
            <a:prstDash val="solid"/>
          </a:ln>
        </p:spPr>
      </p:sp>
      <p:sp>
        <p:nvSpPr>
          <p:cNvPr id="24" name="Text 21"/>
          <p:cNvSpPr txBox="1"/>
          <p:nvPr/>
        </p:nvSpPr>
        <p:spPr>
          <a:xfrm>
            <a:off x="877824" y="4114800"/>
            <a:ext cx="2286000" cy="274320"/>
          </a:xfrm>
          <a:prstGeom prst="rect">
            <a:avLst/>
          </a:prstGeom>
          <a:noFill/>
          <a:ln/>
        </p:spPr>
        <p:txBody>
          <a:bodyPr wrap="square" lIns="0" tIns="0" rIns="0" bIns="0" rtlCol="0" anchor="t"/>
          <a:lstStyle/>
          <a:p>
            <a:pPr algn="l" indent="0" marL="0">
              <a:buNone/>
            </a:pPr>
            <a:r>
              <a:rPr lang="en-US" sz="1320" b="1" dirty="0">
                <a:solidFill>
                  <a:srgbClr val="8A6A12"/>
                </a:solidFill>
                <a:latin typeface="Aptos" pitchFamily="34" charset="0"/>
                <a:ea typeface="Aptos" pitchFamily="34" charset="-122"/>
                <a:cs typeface="Aptos" pitchFamily="34" charset="-120"/>
              </a:rPr>
              <a:t>La regla de producto</a:t>
            </a:r>
            <a:endParaRPr lang="en-US" sz="1320" dirty="0"/>
          </a:p>
        </p:txBody>
      </p:sp>
      <p:sp>
        <p:nvSpPr>
          <p:cNvPr id="25" name="Text 22"/>
          <p:cNvSpPr txBox="1"/>
          <p:nvPr/>
        </p:nvSpPr>
        <p:spPr>
          <a:xfrm>
            <a:off x="877824" y="4407408"/>
            <a:ext cx="2651760" cy="402336"/>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¿El redondeo, las unidades y el formato son los declarados?</a:t>
            </a:r>
            <a:endParaRPr lang="en-US" sz="1060" dirty="0"/>
          </a:p>
        </p:txBody>
      </p:sp>
      <p:sp>
        <p:nvSpPr>
          <p:cNvPr id="26" name="Shape 23"/>
          <p:cNvSpPr/>
          <p:nvPr/>
        </p:nvSpPr>
        <p:spPr>
          <a:xfrm>
            <a:off x="3602736" y="4096512"/>
            <a:ext cx="7927848" cy="457200"/>
          </a:xfrm>
          <a:prstGeom prst="rect">
            <a:avLst/>
          </a:prstGeom>
          <a:solidFill>
            <a:srgbClr val="102A43"/>
          </a:solidFill>
          <a:ln w="12700">
            <a:solidFill>
              <a:srgbClr val="102A43"/>
            </a:solidFill>
            <a:prstDash val="solid"/>
          </a:ln>
        </p:spPr>
      </p:sp>
      <p:sp>
        <p:nvSpPr>
          <p:cNvPr id="27" name="Text 24"/>
          <p:cNvSpPr txBox="1"/>
          <p:nvPr/>
        </p:nvSpPr>
        <p:spPr>
          <a:xfrm>
            <a:off x="3803904" y="4187952"/>
            <a:ext cx="7589520" cy="274320"/>
          </a:xfrm>
          <a:prstGeom prst="rect">
            <a:avLst/>
          </a:prstGeom>
          <a:noFill/>
          <a:ln/>
        </p:spPr>
        <p:txBody>
          <a:bodyPr wrap="square" lIns="0" tIns="0" rIns="0" bIns="0" rtlCol="0" anchor="t"/>
          <a:lstStyle/>
          <a:p>
            <a:pPr algn="l" indent="0" marL="0">
              <a:buNone/>
            </a:pPr>
            <a:r>
              <a:rPr lang="en-US" sz="1160" dirty="0">
                <a:solidFill>
                  <a:srgbClr val="E6EEF7"/>
                </a:solidFill>
                <a:latin typeface="Consolas" pitchFamily="34" charset="0"/>
                <a:ea typeface="Consolas" pitchFamily="34" charset="-122"/>
                <a:cs typeface="Consolas" pitchFamily="34" charset="-120"/>
              </a:rPr>
              <a:t>nota_final([1.0, 1.3, 6.6, 6.9])  →  4.0</a:t>
            </a:r>
            <a:endParaRPr lang="en-US" sz="1160" dirty="0"/>
          </a:p>
        </p:txBody>
      </p:sp>
      <p:sp>
        <p:nvSpPr>
          <p:cNvPr id="28" name="Text 25"/>
          <p:cNvSpPr txBox="1"/>
          <p:nvPr/>
        </p:nvSpPr>
        <p:spPr>
          <a:xfrm>
            <a:off x="3602736" y="4608576"/>
            <a:ext cx="7927848" cy="219456"/>
          </a:xfrm>
          <a:prstGeom prst="rect">
            <a:avLst/>
          </a:prstGeom>
          <a:noFill/>
          <a:ln/>
        </p:spPr>
        <p:txBody>
          <a:bodyPr wrap="square" lIns="0" tIns="0" rIns="0" bIns="0" rtlCol="0" anchor="t"/>
          <a:lstStyle/>
          <a:p>
            <a:pPr algn="l" indent="0" marL="0">
              <a:buNone/>
            </a:pPr>
            <a:r>
              <a:rPr lang="en-US" sz="1080" i="1" dirty="0">
                <a:solidFill>
                  <a:srgbClr val="8A6A12"/>
                </a:solidFill>
                <a:latin typeface="Aptos" pitchFamily="34" charset="0"/>
                <a:ea typeface="Aptos" pitchFamily="34" charset="-122"/>
                <a:cs typeface="Aptos" pitchFamily="34" charset="-120"/>
              </a:rPr>
              <a:t>se ve correcto: lo trabajamos en la lámina siguiente</a:t>
            </a:r>
            <a:endParaRPr lang="en-US" sz="1080" dirty="0"/>
          </a:p>
        </p:txBody>
      </p:sp>
      <p:sp>
        <p:nvSpPr>
          <p:cNvPr id="29" name="Shape 26"/>
          <p:cNvSpPr/>
          <p:nvPr/>
        </p:nvSpPr>
        <p:spPr>
          <a:xfrm>
            <a:off x="658368" y="4974336"/>
            <a:ext cx="45720" cy="713232"/>
          </a:xfrm>
          <a:prstGeom prst="rect">
            <a:avLst/>
          </a:prstGeom>
          <a:solidFill>
            <a:srgbClr val="B3181E"/>
          </a:solidFill>
          <a:ln w="12700">
            <a:solidFill>
              <a:srgbClr val="B3181E"/>
            </a:solidFill>
            <a:prstDash val="solid"/>
          </a:ln>
        </p:spPr>
      </p:sp>
      <p:sp>
        <p:nvSpPr>
          <p:cNvPr id="30" name="Text 27"/>
          <p:cNvSpPr txBox="1"/>
          <p:nvPr/>
        </p:nvSpPr>
        <p:spPr>
          <a:xfrm>
            <a:off x="877824" y="4974336"/>
            <a:ext cx="2286000" cy="274320"/>
          </a:xfrm>
          <a:prstGeom prst="rect">
            <a:avLst/>
          </a:prstGeom>
          <a:noFill/>
          <a:ln/>
        </p:spPr>
        <p:txBody>
          <a:bodyPr wrap="square" lIns="0" tIns="0" rIns="0" bIns="0" rtlCol="0" anchor="t"/>
          <a:lstStyle/>
          <a:p>
            <a:pPr algn="l" indent="0" marL="0">
              <a:buNone/>
            </a:pPr>
            <a:r>
              <a:rPr lang="en-US" sz="1320" b="1" dirty="0">
                <a:solidFill>
                  <a:srgbClr val="B3181E"/>
                </a:solidFill>
                <a:latin typeface="Aptos" pitchFamily="34" charset="0"/>
                <a:ea typeface="Aptos" pitchFamily="34" charset="-122"/>
                <a:cs typeface="Aptos" pitchFamily="34" charset="-120"/>
              </a:rPr>
              <a:t>El dato personal</a:t>
            </a:r>
            <a:endParaRPr lang="en-US" sz="1320" dirty="0"/>
          </a:p>
        </p:txBody>
      </p:sp>
      <p:sp>
        <p:nvSpPr>
          <p:cNvPr id="31" name="Text 28"/>
          <p:cNvSpPr txBox="1"/>
          <p:nvPr/>
        </p:nvSpPr>
        <p:spPr>
          <a:xfrm>
            <a:off x="877824" y="5266944"/>
            <a:ext cx="2651760" cy="402336"/>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¿Qué sale de esta función y hacia dónde va?</a:t>
            </a:r>
            <a:endParaRPr lang="en-US" sz="1060" dirty="0"/>
          </a:p>
        </p:txBody>
      </p:sp>
      <p:sp>
        <p:nvSpPr>
          <p:cNvPr id="32" name="Shape 29"/>
          <p:cNvSpPr/>
          <p:nvPr/>
        </p:nvSpPr>
        <p:spPr>
          <a:xfrm>
            <a:off x="3602736" y="4956048"/>
            <a:ext cx="7927848" cy="457200"/>
          </a:xfrm>
          <a:prstGeom prst="rect">
            <a:avLst/>
          </a:prstGeom>
          <a:solidFill>
            <a:srgbClr val="102A43"/>
          </a:solidFill>
          <a:ln w="12700">
            <a:solidFill>
              <a:srgbClr val="102A43"/>
            </a:solidFill>
            <a:prstDash val="solid"/>
          </a:ln>
        </p:spPr>
      </p:sp>
      <p:sp>
        <p:nvSpPr>
          <p:cNvPr id="33" name="Text 30"/>
          <p:cNvSpPr txBox="1"/>
          <p:nvPr/>
        </p:nvSpPr>
        <p:spPr>
          <a:xfrm>
            <a:off x="3803904" y="5047488"/>
            <a:ext cx="7589520" cy="274320"/>
          </a:xfrm>
          <a:prstGeom prst="rect">
            <a:avLst/>
          </a:prstGeom>
          <a:noFill/>
          <a:ln/>
        </p:spPr>
        <p:txBody>
          <a:bodyPr wrap="square" lIns="0" tIns="0" rIns="0" bIns="0" rtlCol="0" anchor="t"/>
          <a:lstStyle/>
          <a:p>
            <a:pPr algn="l" indent="0" marL="0">
              <a:buNone/>
            </a:pPr>
            <a:r>
              <a:rPr lang="en-US" sz="1160" dirty="0">
                <a:solidFill>
                  <a:srgbClr val="E6EEF7"/>
                </a:solidFill>
                <a:latin typeface="Consolas" pitchFamily="34" charset="0"/>
                <a:ea typeface="Consolas" pitchFamily="34" charset="-122"/>
                <a:cs typeface="Consolas" pitchFamily="34" charset="-120"/>
              </a:rPr>
              <a:t>resumen(...)  →  'Ana (11.111.111-1): 5.5 - aprobado'</a:t>
            </a:r>
            <a:endParaRPr lang="en-US" sz="1160" dirty="0"/>
          </a:p>
        </p:txBody>
      </p:sp>
      <p:sp>
        <p:nvSpPr>
          <p:cNvPr id="34" name="Text 31"/>
          <p:cNvSpPr txBox="1"/>
          <p:nvPr/>
        </p:nvSpPr>
        <p:spPr>
          <a:xfrm>
            <a:off x="3602736" y="5468112"/>
            <a:ext cx="7927848" cy="219456"/>
          </a:xfrm>
          <a:prstGeom prst="rect">
            <a:avLst/>
          </a:prstGeom>
          <a:noFill/>
          <a:ln/>
        </p:spPr>
        <p:txBody>
          <a:bodyPr wrap="square" lIns="0" tIns="0" rIns="0" bIns="0" rtlCol="0" anchor="t"/>
          <a:lstStyle/>
          <a:p>
            <a:pPr algn="l" indent="0" marL="0">
              <a:buNone/>
            </a:pPr>
            <a:r>
              <a:rPr lang="en-US" sz="1080" i="1" dirty="0">
                <a:solidFill>
                  <a:srgbClr val="B3181E"/>
                </a:solidFill>
                <a:latin typeface="Aptos" pitchFamily="34" charset="0"/>
                <a:ea typeface="Aptos" pitchFamily="34" charset="-122"/>
                <a:cs typeface="Aptos" pitchFamily="34" charset="-120"/>
              </a:rPr>
              <a:t>el requisito nunca pidió el RUT</a:t>
            </a:r>
            <a:endParaRPr lang="en-US" sz="1080" dirty="0"/>
          </a:p>
        </p:txBody>
      </p:sp>
      <p:sp>
        <p:nvSpPr>
          <p:cNvPr id="35" name="Text 32"/>
          <p:cNvSpPr txBox="1"/>
          <p:nvPr/>
        </p:nvSpPr>
        <p:spPr>
          <a:xfrm>
            <a:off x="658368" y="5870448"/>
            <a:ext cx="10874959" cy="402336"/>
          </a:xfrm>
          <a:prstGeom prst="rect">
            <a:avLst/>
          </a:prstGeom>
          <a:noFill/>
          <a:ln/>
        </p:spPr>
        <p:txBody>
          <a:bodyPr wrap="square" lIns="0" tIns="0" rIns="0" bIns="0" rtlCol="0" anchor="t"/>
          <a:lstStyle/>
          <a:p>
            <a:pPr algn="l" indent="0" marL="0">
              <a:lnSpc>
                <a:spcPct val="114000"/>
              </a:lnSpc>
              <a:buNone/>
            </a:pPr>
            <a:r>
              <a:rPr lang="en-US" sz="1100" i="1" dirty="0">
                <a:solidFill>
                  <a:srgbClr val="52606D"/>
                </a:solidFill>
                <a:latin typeface="Aptos" pitchFamily="34" charset="0"/>
                <a:ea typeface="Aptos" pitchFamily="34" charset="-122"/>
                <a:cs typeface="Aptos" pitchFamily="34" charset="-120"/>
              </a:rPr>
              <a:t>Dato personal: cualquier información que identifique a una persona. El RUT lo hace, y junto a una calificación produce un dato más sensible que cualquiera de los dos por separado. La Ley 21.719 exige minimización: tratar solo lo necesario para la finalidad declarada.</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2.4 · CÓMO SE CLASIFICA UN HALLAZGO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clases, separadas por una sola pregunta</a:t>
            </a:r>
            <a:endParaRPr lang="en-US" sz="3000" dirty="0"/>
          </a:p>
        </p:txBody>
      </p:sp>
      <p:sp>
        <p:nvSpPr>
          <p:cNvPr id="10" name="Shape 7"/>
          <p:cNvSpPr/>
          <p:nvPr/>
        </p:nvSpPr>
        <p:spPr>
          <a:xfrm>
            <a:off x="658368" y="2011680"/>
            <a:ext cx="10874959" cy="603504"/>
          </a:xfrm>
          <a:prstGeom prst="rect">
            <a:avLst/>
          </a:prstGeom>
          <a:solidFill>
            <a:srgbClr val="F2E7D9"/>
          </a:solidFill>
          <a:ln w="12700">
            <a:solidFill>
              <a:srgbClr val="F2E7D9"/>
            </a:solidFill>
            <a:prstDash val="solid"/>
          </a:ln>
        </p:spPr>
      </p:sp>
      <p:sp>
        <p:nvSpPr>
          <p:cNvPr id="11" name="Shape 8"/>
          <p:cNvSpPr/>
          <p:nvPr/>
        </p:nvSpPr>
        <p:spPr>
          <a:xfrm>
            <a:off x="658368" y="2011680"/>
            <a:ext cx="73152" cy="603504"/>
          </a:xfrm>
          <a:prstGeom prst="rect">
            <a:avLst/>
          </a:prstGeom>
          <a:solidFill>
            <a:srgbClr val="B3181E"/>
          </a:solidFill>
          <a:ln w="12700">
            <a:solidFill>
              <a:srgbClr val="B3181E"/>
            </a:solidFill>
            <a:prstDash val="solid"/>
          </a:ln>
        </p:spPr>
      </p:sp>
      <p:sp>
        <p:nvSpPr>
          <p:cNvPr id="12" name="Text 9"/>
          <p:cNvSpPr txBox="1"/>
          <p:nvPr/>
        </p:nvSpPr>
        <p:spPr>
          <a:xfrm>
            <a:off x="932688" y="2066544"/>
            <a:ext cx="10326319" cy="493776"/>
          </a:xfrm>
          <a:prstGeom prst="rect">
            <a:avLst/>
          </a:prstGeom>
          <a:noFill/>
          <a:ln/>
        </p:spPr>
        <p:txBody>
          <a:bodyPr wrap="square" lIns="0" tIns="0" rIns="0" bIns="0" rtlCol="0" anchor="ctr"/>
          <a:lstStyle/>
          <a:p>
            <a:pPr algn="ctr" indent="0" marL="0">
              <a:buNone/>
            </a:pPr>
            <a:r>
              <a:rPr lang="en-US" sz="2200" b="1" dirty="0">
                <a:solidFill>
                  <a:srgbClr val="102A43"/>
                </a:solidFill>
                <a:latin typeface="Aptos Display" pitchFamily="34" charset="0"/>
                <a:ea typeface="Aptos Display" pitchFamily="34" charset="-122"/>
                <a:cs typeface="Aptos Display" pitchFamily="34" charset="-120"/>
              </a:rPr>
              <a:t>¿Puedes escribir hoy una prueba que falle por este hallazgo?</a:t>
            </a:r>
            <a:endParaRPr lang="en-US" sz="2200" dirty="0"/>
          </a:p>
        </p:txBody>
      </p:sp>
      <p:sp>
        <p:nvSpPr>
          <p:cNvPr id="13" name="Shape 10"/>
          <p:cNvSpPr/>
          <p:nvPr/>
        </p:nvSpPr>
        <p:spPr>
          <a:xfrm>
            <a:off x="658368" y="2798064"/>
            <a:ext cx="3502152" cy="2011680"/>
          </a:xfrm>
          <a:prstGeom prst="rect">
            <a:avLst/>
          </a:prstGeom>
          <a:solidFill>
            <a:srgbClr val="F6E7E2"/>
          </a:solidFill>
          <a:ln w="12700">
            <a:solidFill>
              <a:srgbClr val="F6E7E2"/>
            </a:solidFill>
            <a:prstDash val="solid"/>
          </a:ln>
        </p:spPr>
      </p:sp>
      <p:sp>
        <p:nvSpPr>
          <p:cNvPr id="14" name="Shape 11"/>
          <p:cNvSpPr/>
          <p:nvPr/>
        </p:nvSpPr>
        <p:spPr>
          <a:xfrm>
            <a:off x="658368" y="2798064"/>
            <a:ext cx="3502152" cy="73152"/>
          </a:xfrm>
          <a:prstGeom prst="rect">
            <a:avLst/>
          </a:prstGeom>
          <a:solidFill>
            <a:srgbClr val="B3181E"/>
          </a:solidFill>
          <a:ln w="12700">
            <a:solidFill>
              <a:srgbClr val="B3181E"/>
            </a:solidFill>
            <a:prstDash val="solid"/>
          </a:ln>
        </p:spPr>
      </p:sp>
      <p:sp>
        <p:nvSpPr>
          <p:cNvPr id="15" name="Text 12"/>
          <p:cNvSpPr txBox="1"/>
          <p:nvPr/>
        </p:nvSpPr>
        <p:spPr>
          <a:xfrm>
            <a:off x="896112" y="2980944"/>
            <a:ext cx="1536192" cy="274320"/>
          </a:xfrm>
          <a:prstGeom prst="rect">
            <a:avLst/>
          </a:prstGeom>
          <a:noFill/>
          <a:ln/>
        </p:spPr>
        <p:txBody>
          <a:bodyPr wrap="square" lIns="0" tIns="0" rIns="0" bIns="0" rtlCol="0" anchor="t"/>
          <a:lstStyle/>
          <a:p>
            <a:pPr algn="l" indent="0" marL="0">
              <a:buNone/>
            </a:pPr>
            <a:r>
              <a:rPr lang="en-US" sz="1340" b="1" spc="110" kern="0" dirty="0">
                <a:solidFill>
                  <a:srgbClr val="B3181E"/>
                </a:solidFill>
                <a:latin typeface="Aptos" pitchFamily="34" charset="0"/>
                <a:ea typeface="Aptos" pitchFamily="34" charset="-122"/>
                <a:cs typeface="Aptos" pitchFamily="34" charset="-120"/>
              </a:rPr>
              <a:t>DEFECTO</a:t>
            </a:r>
            <a:endParaRPr lang="en-US" sz="1340" dirty="0"/>
          </a:p>
        </p:txBody>
      </p:sp>
      <p:sp>
        <p:nvSpPr>
          <p:cNvPr id="16" name="Text 13"/>
          <p:cNvSpPr txBox="1"/>
          <p:nvPr/>
        </p:nvSpPr>
        <p:spPr>
          <a:xfrm>
            <a:off x="2487168" y="2999232"/>
            <a:ext cx="1463040" cy="237744"/>
          </a:xfrm>
          <a:prstGeom prst="rect">
            <a:avLst/>
          </a:prstGeom>
          <a:noFill/>
          <a:ln/>
        </p:spPr>
        <p:txBody>
          <a:bodyPr wrap="square" lIns="0" tIns="0" rIns="0" bIns="0" rtlCol="0" anchor="t"/>
          <a:lstStyle/>
          <a:p>
            <a:pPr algn="r" indent="0" marL="0">
              <a:buNone/>
            </a:pPr>
            <a:r>
              <a:rPr lang="en-US" sz="1140" i="1" dirty="0">
                <a:solidFill>
                  <a:srgbClr val="52606D"/>
                </a:solidFill>
                <a:latin typeface="Aptos" pitchFamily="34" charset="0"/>
                <a:ea typeface="Aptos" pitchFamily="34" charset="-122"/>
                <a:cs typeface="Aptos" pitchFamily="34" charset="-120"/>
              </a:rPr>
              <a:t>Sí, y falla</a:t>
            </a:r>
            <a:endParaRPr lang="en-US" sz="1140" dirty="0"/>
          </a:p>
        </p:txBody>
      </p:sp>
      <p:sp>
        <p:nvSpPr>
          <p:cNvPr id="17" name="Text 14"/>
          <p:cNvSpPr txBox="1"/>
          <p:nvPr/>
        </p:nvSpPr>
        <p:spPr>
          <a:xfrm>
            <a:off x="896112" y="3346704"/>
            <a:ext cx="3035808" cy="786384"/>
          </a:xfrm>
          <a:prstGeom prst="rect">
            <a:avLst/>
          </a:prstGeom>
          <a:noFill/>
          <a:ln/>
        </p:spPr>
        <p:txBody>
          <a:bodyPr wrap="square" lIns="0" tIns="0" rIns="0" bIns="0" rtlCol="0" anchor="t"/>
          <a:lstStyle/>
          <a:p>
            <a:pPr algn="l" indent="0" marL="0">
              <a:lnSpc>
                <a:spcPct val="116000"/>
              </a:lnSpc>
              <a:buNone/>
            </a:pPr>
            <a:r>
              <a:rPr lang="en-US" sz="1160" dirty="0">
                <a:solidFill>
                  <a:srgbClr val="243B53"/>
                </a:solidFill>
                <a:latin typeface="Aptos" pitchFamily="34" charset="0"/>
                <a:ea typeface="Aptos" pitchFamily="34" charset="-122"/>
                <a:cs typeface="Aptos" pitchFamily="34" charset="-120"/>
              </a:rPr>
              <a:t>Existe una entrada donde el sistema hace algo distinto de lo que el requisito declara.</a:t>
            </a:r>
            <a:endParaRPr lang="en-US" sz="1160" dirty="0"/>
          </a:p>
        </p:txBody>
      </p:sp>
      <p:sp>
        <p:nvSpPr>
          <p:cNvPr id="18" name="Shape 15"/>
          <p:cNvSpPr/>
          <p:nvPr/>
        </p:nvSpPr>
        <p:spPr>
          <a:xfrm>
            <a:off x="896112" y="4224528"/>
            <a:ext cx="3035808" cy="0"/>
          </a:xfrm>
          <a:prstGeom prst="line">
            <a:avLst/>
          </a:prstGeom>
          <a:noFill/>
          <a:ln w="12700">
            <a:solidFill>
              <a:srgbClr val="D8CFC4"/>
            </a:solidFill>
            <a:prstDash val="solid"/>
            <a:headEnd type="none"/>
            <a:tailEnd type="none"/>
          </a:ln>
        </p:spPr>
      </p:sp>
      <p:sp>
        <p:nvSpPr>
          <p:cNvPr id="19" name="Text 16"/>
          <p:cNvSpPr txBox="1"/>
          <p:nvPr/>
        </p:nvSpPr>
        <p:spPr>
          <a:xfrm>
            <a:off x="896112" y="4334256"/>
            <a:ext cx="3035808" cy="438912"/>
          </a:xfrm>
          <a:prstGeom prst="rect">
            <a:avLst/>
          </a:prstGeom>
          <a:noFill/>
          <a:ln/>
        </p:spPr>
        <p:txBody>
          <a:bodyPr wrap="square" lIns="0" tIns="0" rIns="0" bIns="0" rtlCol="0" anchor="t"/>
          <a:lstStyle/>
          <a:p>
            <a:pPr algn="l" indent="0" marL="0">
              <a:lnSpc>
                <a:spcPct val="110000"/>
              </a:lnSpc>
              <a:buNone/>
            </a:pPr>
            <a:r>
              <a:rPr lang="en-US" sz="1140" b="1" dirty="0">
                <a:solidFill>
                  <a:srgbClr val="B3181E"/>
                </a:solidFill>
                <a:latin typeface="Aptos" pitchFamily="34" charset="0"/>
                <a:ea typeface="Aptos" pitchFamily="34" charset="-122"/>
                <a:cs typeface="Aptos" pitchFamily="34" charset="-120"/>
              </a:rPr>
              <a:t>Corregir el código.</a:t>
            </a:r>
            <a:endParaRPr lang="en-US" sz="1140" dirty="0"/>
          </a:p>
        </p:txBody>
      </p:sp>
      <p:sp>
        <p:nvSpPr>
          <p:cNvPr id="20" name="Shape 17"/>
          <p:cNvSpPr/>
          <p:nvPr/>
        </p:nvSpPr>
        <p:spPr>
          <a:xfrm>
            <a:off x="4343400" y="2798064"/>
            <a:ext cx="3502152" cy="2011680"/>
          </a:xfrm>
          <a:prstGeom prst="rect">
            <a:avLst/>
          </a:prstGeom>
          <a:solidFill>
            <a:srgbClr val="F7EFDC"/>
          </a:solidFill>
          <a:ln w="12700">
            <a:solidFill>
              <a:srgbClr val="F7EFDC"/>
            </a:solidFill>
            <a:prstDash val="solid"/>
          </a:ln>
        </p:spPr>
      </p:sp>
      <p:sp>
        <p:nvSpPr>
          <p:cNvPr id="21" name="Shape 18"/>
          <p:cNvSpPr/>
          <p:nvPr/>
        </p:nvSpPr>
        <p:spPr>
          <a:xfrm>
            <a:off x="4343400" y="2798064"/>
            <a:ext cx="3502152" cy="73152"/>
          </a:xfrm>
          <a:prstGeom prst="rect">
            <a:avLst/>
          </a:prstGeom>
          <a:solidFill>
            <a:srgbClr val="8A6A12"/>
          </a:solidFill>
          <a:ln w="12700">
            <a:solidFill>
              <a:srgbClr val="8A6A12"/>
            </a:solidFill>
            <a:prstDash val="solid"/>
          </a:ln>
        </p:spPr>
      </p:sp>
      <p:sp>
        <p:nvSpPr>
          <p:cNvPr id="22" name="Text 19"/>
          <p:cNvSpPr txBox="1"/>
          <p:nvPr/>
        </p:nvSpPr>
        <p:spPr>
          <a:xfrm>
            <a:off x="4581144" y="2980944"/>
            <a:ext cx="1536192" cy="274320"/>
          </a:xfrm>
          <a:prstGeom prst="rect">
            <a:avLst/>
          </a:prstGeom>
          <a:noFill/>
          <a:ln/>
        </p:spPr>
        <p:txBody>
          <a:bodyPr wrap="square" lIns="0" tIns="0" rIns="0" bIns="0" rtlCol="0" anchor="t"/>
          <a:lstStyle/>
          <a:p>
            <a:pPr algn="l" indent="0" marL="0">
              <a:buNone/>
            </a:pPr>
            <a:r>
              <a:rPr lang="en-US" sz="1340" b="1" spc="110" kern="0" dirty="0">
                <a:solidFill>
                  <a:srgbClr val="8A6A12"/>
                </a:solidFill>
                <a:latin typeface="Aptos" pitchFamily="34" charset="0"/>
                <a:ea typeface="Aptos" pitchFamily="34" charset="-122"/>
                <a:cs typeface="Aptos" pitchFamily="34" charset="-120"/>
              </a:rPr>
              <a:t>RIESGO</a:t>
            </a:r>
            <a:endParaRPr lang="en-US" sz="1340" dirty="0"/>
          </a:p>
        </p:txBody>
      </p:sp>
      <p:sp>
        <p:nvSpPr>
          <p:cNvPr id="23" name="Text 20"/>
          <p:cNvSpPr txBox="1"/>
          <p:nvPr/>
        </p:nvSpPr>
        <p:spPr>
          <a:xfrm>
            <a:off x="6172200" y="2999232"/>
            <a:ext cx="1463040" cy="237744"/>
          </a:xfrm>
          <a:prstGeom prst="rect">
            <a:avLst/>
          </a:prstGeom>
          <a:noFill/>
          <a:ln/>
        </p:spPr>
        <p:txBody>
          <a:bodyPr wrap="square" lIns="0" tIns="0" rIns="0" bIns="0" rtlCol="0" anchor="t"/>
          <a:lstStyle/>
          <a:p>
            <a:pPr algn="r" indent="0" marL="0">
              <a:buNone/>
            </a:pPr>
            <a:r>
              <a:rPr lang="en-US" sz="1140" i="1" dirty="0">
                <a:solidFill>
                  <a:srgbClr val="52606D"/>
                </a:solidFill>
                <a:latin typeface="Aptos" pitchFamily="34" charset="0"/>
                <a:ea typeface="Aptos" pitchFamily="34" charset="-122"/>
                <a:cs typeface="Aptos" pitchFamily="34" charset="-120"/>
              </a:rPr>
              <a:t>Todavía no</a:t>
            </a:r>
            <a:endParaRPr lang="en-US" sz="1140" dirty="0"/>
          </a:p>
        </p:txBody>
      </p:sp>
      <p:sp>
        <p:nvSpPr>
          <p:cNvPr id="24" name="Text 21"/>
          <p:cNvSpPr txBox="1"/>
          <p:nvPr/>
        </p:nvSpPr>
        <p:spPr>
          <a:xfrm>
            <a:off x="4581144" y="3346704"/>
            <a:ext cx="3035808" cy="786384"/>
          </a:xfrm>
          <a:prstGeom prst="rect">
            <a:avLst/>
          </a:prstGeom>
          <a:noFill/>
          <a:ln/>
        </p:spPr>
        <p:txBody>
          <a:bodyPr wrap="square" lIns="0" tIns="0" rIns="0" bIns="0" rtlCol="0" anchor="t"/>
          <a:lstStyle/>
          <a:p>
            <a:pPr algn="l" indent="0" marL="0">
              <a:lnSpc>
                <a:spcPct val="116000"/>
              </a:lnSpc>
              <a:buNone/>
            </a:pPr>
            <a:r>
              <a:rPr lang="en-US" sz="1160" dirty="0">
                <a:solidFill>
                  <a:srgbClr val="243B53"/>
                </a:solidFill>
                <a:latin typeface="Aptos" pitchFamily="34" charset="0"/>
                <a:ea typeface="Aptos" pitchFamily="34" charset="-122"/>
                <a:cs typeface="Aptos" pitchFamily="34" charset="-120"/>
              </a:rPr>
              <a:t>El sistema hace algo indeseable, pero el requisito no dice qué debería hacer en ese caso.</a:t>
            </a:r>
            <a:endParaRPr lang="en-US" sz="1160" dirty="0"/>
          </a:p>
        </p:txBody>
      </p:sp>
      <p:sp>
        <p:nvSpPr>
          <p:cNvPr id="25" name="Shape 22"/>
          <p:cNvSpPr/>
          <p:nvPr/>
        </p:nvSpPr>
        <p:spPr>
          <a:xfrm>
            <a:off x="4581144" y="4224528"/>
            <a:ext cx="3035808" cy="0"/>
          </a:xfrm>
          <a:prstGeom prst="line">
            <a:avLst/>
          </a:prstGeom>
          <a:noFill/>
          <a:ln w="12700">
            <a:solidFill>
              <a:srgbClr val="D8CFC4"/>
            </a:solidFill>
            <a:prstDash val="solid"/>
            <a:headEnd type="none"/>
            <a:tailEnd type="none"/>
          </a:ln>
        </p:spPr>
      </p:sp>
      <p:sp>
        <p:nvSpPr>
          <p:cNvPr id="26" name="Text 23"/>
          <p:cNvSpPr txBox="1"/>
          <p:nvPr/>
        </p:nvSpPr>
        <p:spPr>
          <a:xfrm>
            <a:off x="4581144" y="4334256"/>
            <a:ext cx="3035808" cy="438912"/>
          </a:xfrm>
          <a:prstGeom prst="rect">
            <a:avLst/>
          </a:prstGeom>
          <a:noFill/>
          <a:ln/>
        </p:spPr>
        <p:txBody>
          <a:bodyPr wrap="square" lIns="0" tIns="0" rIns="0" bIns="0" rtlCol="0" anchor="t"/>
          <a:lstStyle/>
          <a:p>
            <a:pPr algn="l" indent="0" marL="0">
              <a:lnSpc>
                <a:spcPct val="110000"/>
              </a:lnSpc>
              <a:buNone/>
            </a:pPr>
            <a:r>
              <a:rPr lang="en-US" sz="1140" b="1" dirty="0">
                <a:solidFill>
                  <a:srgbClr val="8A6A12"/>
                </a:solidFill>
                <a:latin typeface="Aptos" pitchFamily="34" charset="0"/>
                <a:ea typeface="Aptos" pitchFamily="34" charset="-122"/>
                <a:cs typeface="Aptos" pitchFamily="34" charset="-120"/>
              </a:rPr>
              <a:t>Completar el requisito, y recién después corregir.</a:t>
            </a:r>
            <a:endParaRPr lang="en-US" sz="1140" dirty="0"/>
          </a:p>
        </p:txBody>
      </p:sp>
      <p:sp>
        <p:nvSpPr>
          <p:cNvPr id="27" name="Shape 24"/>
          <p:cNvSpPr/>
          <p:nvPr/>
        </p:nvSpPr>
        <p:spPr>
          <a:xfrm>
            <a:off x="8028432" y="2798064"/>
            <a:ext cx="3502152" cy="2011680"/>
          </a:xfrm>
          <a:prstGeom prst="rect">
            <a:avLst/>
          </a:prstGeom>
          <a:solidFill>
            <a:srgbClr val="E7ECF3"/>
          </a:solidFill>
          <a:ln w="12700">
            <a:solidFill>
              <a:srgbClr val="E7ECF3"/>
            </a:solidFill>
            <a:prstDash val="solid"/>
          </a:ln>
        </p:spPr>
      </p:sp>
      <p:sp>
        <p:nvSpPr>
          <p:cNvPr id="28" name="Shape 25"/>
          <p:cNvSpPr/>
          <p:nvPr/>
        </p:nvSpPr>
        <p:spPr>
          <a:xfrm>
            <a:off x="8028432" y="2798064"/>
            <a:ext cx="3502152" cy="73152"/>
          </a:xfrm>
          <a:prstGeom prst="rect">
            <a:avLst/>
          </a:prstGeom>
          <a:solidFill>
            <a:srgbClr val="102A43"/>
          </a:solidFill>
          <a:ln w="12700">
            <a:solidFill>
              <a:srgbClr val="102A43"/>
            </a:solidFill>
            <a:prstDash val="solid"/>
          </a:ln>
        </p:spPr>
      </p:sp>
      <p:sp>
        <p:nvSpPr>
          <p:cNvPr id="29" name="Text 26"/>
          <p:cNvSpPr txBox="1"/>
          <p:nvPr/>
        </p:nvSpPr>
        <p:spPr>
          <a:xfrm>
            <a:off x="8266176" y="2980944"/>
            <a:ext cx="1536192" cy="274320"/>
          </a:xfrm>
          <a:prstGeom prst="rect">
            <a:avLst/>
          </a:prstGeom>
          <a:noFill/>
          <a:ln/>
        </p:spPr>
        <p:txBody>
          <a:bodyPr wrap="square" lIns="0" tIns="0" rIns="0" bIns="0" rtlCol="0" anchor="t"/>
          <a:lstStyle/>
          <a:p>
            <a:pPr algn="l" indent="0" marL="0">
              <a:buNone/>
            </a:pPr>
            <a:r>
              <a:rPr lang="en-US" sz="1340" b="1" spc="110" kern="0" dirty="0">
                <a:solidFill>
                  <a:srgbClr val="102A43"/>
                </a:solidFill>
                <a:latin typeface="Aptos" pitchFamily="34" charset="0"/>
                <a:ea typeface="Aptos" pitchFamily="34" charset="-122"/>
                <a:cs typeface="Aptos" pitchFamily="34" charset="-120"/>
              </a:rPr>
              <a:t>ESTILO</a:t>
            </a:r>
            <a:endParaRPr lang="en-US" sz="1340" dirty="0"/>
          </a:p>
        </p:txBody>
      </p:sp>
      <p:sp>
        <p:nvSpPr>
          <p:cNvPr id="30" name="Text 27"/>
          <p:cNvSpPr txBox="1"/>
          <p:nvPr/>
        </p:nvSpPr>
        <p:spPr>
          <a:xfrm>
            <a:off x="9857232" y="2999232"/>
            <a:ext cx="1463040" cy="237744"/>
          </a:xfrm>
          <a:prstGeom prst="rect">
            <a:avLst/>
          </a:prstGeom>
          <a:noFill/>
          <a:ln/>
        </p:spPr>
        <p:txBody>
          <a:bodyPr wrap="square" lIns="0" tIns="0" rIns="0" bIns="0" rtlCol="0" anchor="t"/>
          <a:lstStyle/>
          <a:p>
            <a:pPr algn="r" indent="0" marL="0">
              <a:buNone/>
            </a:pPr>
            <a:r>
              <a:rPr lang="en-US" sz="1140" i="1" dirty="0">
                <a:solidFill>
                  <a:srgbClr val="52606D"/>
                </a:solidFill>
                <a:latin typeface="Aptos" pitchFamily="34" charset="0"/>
                <a:ea typeface="Aptos" pitchFamily="34" charset="-122"/>
                <a:cs typeface="Aptos" pitchFamily="34" charset="-120"/>
              </a:rPr>
              <a:t>Sí, y pasa igual</a:t>
            </a:r>
            <a:endParaRPr lang="en-US" sz="1140" dirty="0"/>
          </a:p>
        </p:txBody>
      </p:sp>
      <p:sp>
        <p:nvSpPr>
          <p:cNvPr id="31" name="Text 28"/>
          <p:cNvSpPr txBox="1"/>
          <p:nvPr/>
        </p:nvSpPr>
        <p:spPr>
          <a:xfrm>
            <a:off x="8266176" y="3346704"/>
            <a:ext cx="3035808" cy="786384"/>
          </a:xfrm>
          <a:prstGeom prst="rect">
            <a:avLst/>
          </a:prstGeom>
          <a:noFill/>
          <a:ln/>
        </p:spPr>
        <p:txBody>
          <a:bodyPr wrap="square" lIns="0" tIns="0" rIns="0" bIns="0" rtlCol="0" anchor="t"/>
          <a:lstStyle/>
          <a:p>
            <a:pPr algn="l" indent="0" marL="0">
              <a:lnSpc>
                <a:spcPct val="116000"/>
              </a:lnSpc>
              <a:buNone/>
            </a:pPr>
            <a:r>
              <a:rPr lang="en-US" sz="1160" dirty="0">
                <a:solidFill>
                  <a:srgbClr val="243B53"/>
                </a:solidFill>
                <a:latin typeface="Aptos" pitchFamily="34" charset="0"/>
                <a:ea typeface="Aptos" pitchFamily="34" charset="-122"/>
                <a:cs typeface="Aptos" pitchFamily="34" charset="-120"/>
              </a:rPr>
              <a:t>Ninguna entrada distingue el comportamiento actual del propuesto.</a:t>
            </a:r>
            <a:endParaRPr lang="en-US" sz="1160" dirty="0"/>
          </a:p>
        </p:txBody>
      </p:sp>
      <p:sp>
        <p:nvSpPr>
          <p:cNvPr id="32" name="Shape 29"/>
          <p:cNvSpPr/>
          <p:nvPr/>
        </p:nvSpPr>
        <p:spPr>
          <a:xfrm>
            <a:off x="8266176" y="4224528"/>
            <a:ext cx="3035808" cy="0"/>
          </a:xfrm>
          <a:prstGeom prst="line">
            <a:avLst/>
          </a:prstGeom>
          <a:noFill/>
          <a:ln w="12700">
            <a:solidFill>
              <a:srgbClr val="D8CFC4"/>
            </a:solidFill>
            <a:prstDash val="solid"/>
            <a:headEnd type="none"/>
            <a:tailEnd type="none"/>
          </a:ln>
        </p:spPr>
      </p:sp>
      <p:sp>
        <p:nvSpPr>
          <p:cNvPr id="33" name="Text 30"/>
          <p:cNvSpPr txBox="1"/>
          <p:nvPr/>
        </p:nvSpPr>
        <p:spPr>
          <a:xfrm>
            <a:off x="8266176" y="4334256"/>
            <a:ext cx="3035808" cy="438912"/>
          </a:xfrm>
          <a:prstGeom prst="rect">
            <a:avLst/>
          </a:prstGeom>
          <a:noFill/>
          <a:ln/>
        </p:spPr>
        <p:txBody>
          <a:bodyPr wrap="square" lIns="0" tIns="0" rIns="0" bIns="0" rtlCol="0" anchor="t"/>
          <a:lstStyle/>
          <a:p>
            <a:pPr algn="l" indent="0" marL="0">
              <a:lnSpc>
                <a:spcPct val="110000"/>
              </a:lnSpc>
              <a:buNone/>
            </a:pPr>
            <a:r>
              <a:rPr lang="en-US" sz="1140" b="1" dirty="0">
                <a:solidFill>
                  <a:srgbClr val="102A43"/>
                </a:solidFill>
                <a:latin typeface="Aptos" pitchFamily="34" charset="0"/>
                <a:ea typeface="Aptos" pitchFamily="34" charset="-122"/>
                <a:cs typeface="Aptos" pitchFamily="34" charset="-120"/>
              </a:rPr>
              <a:t>Registrar como preferencia. No bloquea.</a:t>
            </a:r>
            <a:endParaRPr lang="en-US" sz="1140" dirty="0"/>
          </a:p>
        </p:txBody>
      </p:sp>
      <p:sp>
        <p:nvSpPr>
          <p:cNvPr id="34" name="Shape 31"/>
          <p:cNvSpPr/>
          <p:nvPr/>
        </p:nvSpPr>
        <p:spPr>
          <a:xfrm>
            <a:off x="658368" y="4956048"/>
            <a:ext cx="2615184" cy="512064"/>
          </a:xfrm>
          <a:prstGeom prst="rect">
            <a:avLst/>
          </a:prstGeom>
          <a:solidFill>
            <a:srgbClr val="EDE9E1"/>
          </a:solidFill>
          <a:ln w="12700">
            <a:solidFill>
              <a:srgbClr val="EDE9E1"/>
            </a:solidFill>
            <a:prstDash val="solid"/>
          </a:ln>
        </p:spPr>
      </p:sp>
      <p:sp>
        <p:nvSpPr>
          <p:cNvPr id="35" name="Shape 32"/>
          <p:cNvSpPr/>
          <p:nvPr/>
        </p:nvSpPr>
        <p:spPr>
          <a:xfrm>
            <a:off x="658368" y="4956048"/>
            <a:ext cx="45720" cy="512064"/>
          </a:xfrm>
          <a:prstGeom prst="rect">
            <a:avLst/>
          </a:prstGeom>
          <a:solidFill>
            <a:srgbClr val="B3181E"/>
          </a:solidFill>
          <a:ln w="12700">
            <a:solidFill>
              <a:srgbClr val="B3181E"/>
            </a:solidFill>
            <a:prstDash val="solid"/>
          </a:ln>
        </p:spPr>
      </p:sp>
      <p:sp>
        <p:nvSpPr>
          <p:cNvPr id="36" name="Text 33"/>
          <p:cNvSpPr txBox="1"/>
          <p:nvPr/>
        </p:nvSpPr>
        <p:spPr>
          <a:xfrm>
            <a:off x="841248" y="5029200"/>
            <a:ext cx="1591056" cy="365760"/>
          </a:xfrm>
          <a:prstGeom prst="rect">
            <a:avLst/>
          </a:prstGeom>
          <a:noFill/>
          <a:ln/>
        </p:spPr>
        <p:txBody>
          <a:bodyPr wrap="square" lIns="0" tIns="0" rIns="0" bIns="0" rtlCol="0" anchor="t"/>
          <a:lstStyle/>
          <a:p>
            <a:pPr algn="l" indent="0" marL="0">
              <a:lnSpc>
                <a:spcPct val="108000"/>
              </a:lnSpc>
              <a:buNone/>
            </a:pPr>
            <a:r>
              <a:rPr lang="en-US" sz="1080" dirty="0">
                <a:solidFill>
                  <a:srgbClr val="243B53"/>
                </a:solidFill>
                <a:latin typeface="Aptos" pitchFamily="34" charset="0"/>
                <a:ea typeface="Aptos" pitchFamily="34" charset="-122"/>
                <a:cs typeface="Aptos" pitchFamily="34" charset="-120"/>
              </a:rPr>
              <a:t>asistencia &gt; 70</a:t>
            </a:r>
            <a:endParaRPr lang="en-US" sz="1080" dirty="0"/>
          </a:p>
        </p:txBody>
      </p:sp>
      <p:sp>
        <p:nvSpPr>
          <p:cNvPr id="37" name="Text 34"/>
          <p:cNvSpPr txBox="1"/>
          <p:nvPr/>
        </p:nvSpPr>
        <p:spPr>
          <a:xfrm>
            <a:off x="2487168" y="5102352"/>
            <a:ext cx="694944" cy="219456"/>
          </a:xfrm>
          <a:prstGeom prst="rect">
            <a:avLst/>
          </a:prstGeom>
          <a:noFill/>
          <a:ln/>
        </p:spPr>
        <p:txBody>
          <a:bodyPr wrap="square" lIns="0" tIns="0" rIns="0" bIns="0" rtlCol="0" anchor="t"/>
          <a:lstStyle/>
          <a:p>
            <a:pPr algn="r" indent="0" marL="0">
              <a:buNone/>
            </a:pPr>
            <a:r>
              <a:rPr lang="en-US" sz="900" b="1" spc="60" kern="0" dirty="0">
                <a:solidFill>
                  <a:srgbClr val="B3181E"/>
                </a:solidFill>
                <a:latin typeface="Aptos" pitchFamily="34" charset="0"/>
                <a:ea typeface="Aptos" pitchFamily="34" charset="-122"/>
                <a:cs typeface="Aptos" pitchFamily="34" charset="-120"/>
              </a:rPr>
              <a:t>DEFECTO</a:t>
            </a:r>
            <a:endParaRPr lang="en-US" sz="900" dirty="0"/>
          </a:p>
        </p:txBody>
      </p:sp>
      <p:sp>
        <p:nvSpPr>
          <p:cNvPr id="38" name="Shape 35"/>
          <p:cNvSpPr/>
          <p:nvPr/>
        </p:nvSpPr>
        <p:spPr>
          <a:xfrm>
            <a:off x="3419856" y="4956048"/>
            <a:ext cx="2615184" cy="512064"/>
          </a:xfrm>
          <a:prstGeom prst="rect">
            <a:avLst/>
          </a:prstGeom>
          <a:solidFill>
            <a:srgbClr val="EDE9E1"/>
          </a:solidFill>
          <a:ln w="12700">
            <a:solidFill>
              <a:srgbClr val="EDE9E1"/>
            </a:solidFill>
            <a:prstDash val="solid"/>
          </a:ln>
        </p:spPr>
      </p:sp>
      <p:sp>
        <p:nvSpPr>
          <p:cNvPr id="39" name="Shape 36"/>
          <p:cNvSpPr/>
          <p:nvPr/>
        </p:nvSpPr>
        <p:spPr>
          <a:xfrm>
            <a:off x="3419856" y="4956048"/>
            <a:ext cx="45720" cy="512064"/>
          </a:xfrm>
          <a:prstGeom prst="rect">
            <a:avLst/>
          </a:prstGeom>
          <a:solidFill>
            <a:srgbClr val="8A6A12"/>
          </a:solidFill>
          <a:ln w="12700">
            <a:solidFill>
              <a:srgbClr val="8A6A12"/>
            </a:solidFill>
            <a:prstDash val="solid"/>
          </a:ln>
        </p:spPr>
      </p:sp>
      <p:sp>
        <p:nvSpPr>
          <p:cNvPr id="40" name="Text 37"/>
          <p:cNvSpPr txBox="1"/>
          <p:nvPr/>
        </p:nvSpPr>
        <p:spPr>
          <a:xfrm>
            <a:off x="3602736" y="5029200"/>
            <a:ext cx="1591056" cy="365760"/>
          </a:xfrm>
          <a:prstGeom prst="rect">
            <a:avLst/>
          </a:prstGeom>
          <a:noFill/>
          <a:ln/>
        </p:spPr>
        <p:txBody>
          <a:bodyPr wrap="square" lIns="0" tIns="0" rIns="0" bIns="0" rtlCol="0" anchor="t"/>
          <a:lstStyle/>
          <a:p>
            <a:pPr algn="l" indent="0" marL="0">
              <a:lnSpc>
                <a:spcPct val="108000"/>
              </a:lnSpc>
              <a:buNone/>
            </a:pPr>
            <a:r>
              <a:rPr lang="en-US" sz="1080" dirty="0">
                <a:solidFill>
                  <a:srgbClr val="243B53"/>
                </a:solidFill>
                <a:latin typeface="Aptos" pitchFamily="34" charset="0"/>
                <a:ea typeface="Aptos" pitchFamily="34" charset="-122"/>
                <a:cs typeface="Aptos" pitchFamily="34" charset="-120"/>
              </a:rPr>
              <a:t>lista de notas vacía</a:t>
            </a:r>
            <a:endParaRPr lang="en-US" sz="1080" dirty="0"/>
          </a:p>
        </p:txBody>
      </p:sp>
      <p:sp>
        <p:nvSpPr>
          <p:cNvPr id="41" name="Text 38"/>
          <p:cNvSpPr txBox="1"/>
          <p:nvPr/>
        </p:nvSpPr>
        <p:spPr>
          <a:xfrm>
            <a:off x="5248656" y="5102352"/>
            <a:ext cx="694944" cy="219456"/>
          </a:xfrm>
          <a:prstGeom prst="rect">
            <a:avLst/>
          </a:prstGeom>
          <a:noFill/>
          <a:ln/>
        </p:spPr>
        <p:txBody>
          <a:bodyPr wrap="square" lIns="0" tIns="0" rIns="0" bIns="0" rtlCol="0" anchor="t"/>
          <a:lstStyle/>
          <a:p>
            <a:pPr algn="r" indent="0" marL="0">
              <a:buNone/>
            </a:pPr>
            <a:r>
              <a:rPr lang="en-US" sz="900" b="1" spc="60" kern="0" dirty="0">
                <a:solidFill>
                  <a:srgbClr val="8A6A12"/>
                </a:solidFill>
                <a:latin typeface="Aptos" pitchFamily="34" charset="0"/>
                <a:ea typeface="Aptos" pitchFamily="34" charset="-122"/>
                <a:cs typeface="Aptos" pitchFamily="34" charset="-120"/>
              </a:rPr>
              <a:t>RIESGO</a:t>
            </a:r>
            <a:endParaRPr lang="en-US" sz="900" dirty="0"/>
          </a:p>
        </p:txBody>
      </p:sp>
      <p:sp>
        <p:nvSpPr>
          <p:cNvPr id="42" name="Shape 39"/>
          <p:cNvSpPr/>
          <p:nvPr/>
        </p:nvSpPr>
        <p:spPr>
          <a:xfrm>
            <a:off x="6181344" y="4956048"/>
            <a:ext cx="2615184" cy="512064"/>
          </a:xfrm>
          <a:prstGeom prst="rect">
            <a:avLst/>
          </a:prstGeom>
          <a:solidFill>
            <a:srgbClr val="EDE9E1"/>
          </a:solidFill>
          <a:ln w="12700">
            <a:solidFill>
              <a:srgbClr val="EDE9E1"/>
            </a:solidFill>
            <a:prstDash val="solid"/>
          </a:ln>
        </p:spPr>
      </p:sp>
      <p:sp>
        <p:nvSpPr>
          <p:cNvPr id="43" name="Shape 40"/>
          <p:cNvSpPr/>
          <p:nvPr/>
        </p:nvSpPr>
        <p:spPr>
          <a:xfrm>
            <a:off x="6181344" y="4956048"/>
            <a:ext cx="45720" cy="512064"/>
          </a:xfrm>
          <a:prstGeom prst="rect">
            <a:avLst/>
          </a:prstGeom>
          <a:solidFill>
            <a:srgbClr val="B3181E"/>
          </a:solidFill>
          <a:ln w="12700">
            <a:solidFill>
              <a:srgbClr val="B3181E"/>
            </a:solidFill>
            <a:prstDash val="solid"/>
          </a:ln>
        </p:spPr>
      </p:sp>
      <p:sp>
        <p:nvSpPr>
          <p:cNvPr id="44" name="Text 41"/>
          <p:cNvSpPr txBox="1"/>
          <p:nvPr/>
        </p:nvSpPr>
        <p:spPr>
          <a:xfrm>
            <a:off x="6364224" y="5029200"/>
            <a:ext cx="1591056" cy="365760"/>
          </a:xfrm>
          <a:prstGeom prst="rect">
            <a:avLst/>
          </a:prstGeom>
          <a:noFill/>
          <a:ln/>
        </p:spPr>
        <p:txBody>
          <a:bodyPr wrap="square" lIns="0" tIns="0" rIns="0" bIns="0" rtlCol="0" anchor="t"/>
          <a:lstStyle/>
          <a:p>
            <a:pPr algn="l" indent="0" marL="0">
              <a:lnSpc>
                <a:spcPct val="108000"/>
              </a:lnSpc>
              <a:buNone/>
            </a:pPr>
            <a:r>
              <a:rPr lang="en-US" sz="1080" dirty="0">
                <a:solidFill>
                  <a:srgbClr val="243B53"/>
                </a:solidFill>
                <a:latin typeface="Aptos" pitchFamily="34" charset="0"/>
                <a:ea typeface="Aptos" pitchFamily="34" charset="-122"/>
                <a:cs typeface="Aptos" pitchFamily="34" charset="-120"/>
              </a:rPr>
              <a:t>el redondeo</a:t>
            </a:r>
            <a:endParaRPr lang="en-US" sz="1080" dirty="0"/>
          </a:p>
        </p:txBody>
      </p:sp>
      <p:sp>
        <p:nvSpPr>
          <p:cNvPr id="45" name="Text 42"/>
          <p:cNvSpPr txBox="1"/>
          <p:nvPr/>
        </p:nvSpPr>
        <p:spPr>
          <a:xfrm>
            <a:off x="8010144" y="5102352"/>
            <a:ext cx="694944" cy="219456"/>
          </a:xfrm>
          <a:prstGeom prst="rect">
            <a:avLst/>
          </a:prstGeom>
          <a:noFill/>
          <a:ln/>
        </p:spPr>
        <p:txBody>
          <a:bodyPr wrap="square" lIns="0" tIns="0" rIns="0" bIns="0" rtlCol="0" anchor="t"/>
          <a:lstStyle/>
          <a:p>
            <a:pPr algn="r" indent="0" marL="0">
              <a:buNone/>
            </a:pPr>
            <a:r>
              <a:rPr lang="en-US" sz="900" b="1" spc="60" kern="0" dirty="0">
                <a:solidFill>
                  <a:srgbClr val="B3181E"/>
                </a:solidFill>
                <a:latin typeface="Aptos" pitchFamily="34" charset="0"/>
                <a:ea typeface="Aptos" pitchFamily="34" charset="-122"/>
                <a:cs typeface="Aptos" pitchFamily="34" charset="-120"/>
              </a:rPr>
              <a:t>DEFECTO</a:t>
            </a:r>
            <a:endParaRPr lang="en-US" sz="900" dirty="0"/>
          </a:p>
        </p:txBody>
      </p:sp>
      <p:sp>
        <p:nvSpPr>
          <p:cNvPr id="46" name="Shape 43"/>
          <p:cNvSpPr/>
          <p:nvPr/>
        </p:nvSpPr>
        <p:spPr>
          <a:xfrm>
            <a:off x="8942832" y="4956048"/>
            <a:ext cx="2615184" cy="512064"/>
          </a:xfrm>
          <a:prstGeom prst="rect">
            <a:avLst/>
          </a:prstGeom>
          <a:solidFill>
            <a:srgbClr val="EDE9E1"/>
          </a:solidFill>
          <a:ln w="12700">
            <a:solidFill>
              <a:srgbClr val="EDE9E1"/>
            </a:solidFill>
            <a:prstDash val="solid"/>
          </a:ln>
        </p:spPr>
      </p:sp>
      <p:sp>
        <p:nvSpPr>
          <p:cNvPr id="47" name="Shape 44"/>
          <p:cNvSpPr/>
          <p:nvPr/>
        </p:nvSpPr>
        <p:spPr>
          <a:xfrm>
            <a:off x="8942832" y="4956048"/>
            <a:ext cx="45720" cy="512064"/>
          </a:xfrm>
          <a:prstGeom prst="rect">
            <a:avLst/>
          </a:prstGeom>
          <a:solidFill>
            <a:srgbClr val="8A6A12"/>
          </a:solidFill>
          <a:ln w="12700">
            <a:solidFill>
              <a:srgbClr val="8A6A12"/>
            </a:solidFill>
            <a:prstDash val="solid"/>
          </a:ln>
        </p:spPr>
      </p:sp>
      <p:sp>
        <p:nvSpPr>
          <p:cNvPr id="48" name="Text 45"/>
          <p:cNvSpPr txBox="1"/>
          <p:nvPr/>
        </p:nvSpPr>
        <p:spPr>
          <a:xfrm>
            <a:off x="9125712" y="5029200"/>
            <a:ext cx="1591056" cy="365760"/>
          </a:xfrm>
          <a:prstGeom prst="rect">
            <a:avLst/>
          </a:prstGeom>
          <a:noFill/>
          <a:ln/>
        </p:spPr>
        <p:txBody>
          <a:bodyPr wrap="square" lIns="0" tIns="0" rIns="0" bIns="0" rtlCol="0" anchor="t"/>
          <a:lstStyle/>
          <a:p>
            <a:pPr algn="l" indent="0" marL="0">
              <a:lnSpc>
                <a:spcPct val="108000"/>
              </a:lnSpc>
              <a:buNone/>
            </a:pPr>
            <a:r>
              <a:rPr lang="en-US" sz="1080" dirty="0">
                <a:solidFill>
                  <a:srgbClr val="243B53"/>
                </a:solidFill>
                <a:latin typeface="Aptos" pitchFamily="34" charset="0"/>
                <a:ea typeface="Aptos" pitchFamily="34" charset="-122"/>
                <a:cs typeface="Aptos" pitchFamily="34" charset="-120"/>
              </a:rPr>
              <a:t>el RUT en resumen</a:t>
            </a:r>
            <a:endParaRPr lang="en-US" sz="1080" dirty="0"/>
          </a:p>
        </p:txBody>
      </p:sp>
      <p:sp>
        <p:nvSpPr>
          <p:cNvPr id="49" name="Text 46"/>
          <p:cNvSpPr txBox="1"/>
          <p:nvPr/>
        </p:nvSpPr>
        <p:spPr>
          <a:xfrm>
            <a:off x="10771632" y="5102352"/>
            <a:ext cx="694944" cy="219456"/>
          </a:xfrm>
          <a:prstGeom prst="rect">
            <a:avLst/>
          </a:prstGeom>
          <a:noFill/>
          <a:ln/>
        </p:spPr>
        <p:txBody>
          <a:bodyPr wrap="square" lIns="0" tIns="0" rIns="0" bIns="0" rtlCol="0" anchor="t"/>
          <a:lstStyle/>
          <a:p>
            <a:pPr algn="r" indent="0" marL="0">
              <a:buNone/>
            </a:pPr>
            <a:r>
              <a:rPr lang="en-US" sz="900" b="1" spc="60" kern="0" dirty="0">
                <a:solidFill>
                  <a:srgbClr val="8A6A12"/>
                </a:solidFill>
                <a:latin typeface="Aptos" pitchFamily="34" charset="0"/>
                <a:ea typeface="Aptos" pitchFamily="34" charset="-122"/>
                <a:cs typeface="Aptos" pitchFamily="34" charset="-120"/>
              </a:rPr>
              <a:t>RIESGO</a:t>
            </a:r>
            <a:endParaRPr lang="en-US" sz="900" dirty="0"/>
          </a:p>
        </p:txBody>
      </p:sp>
      <p:sp>
        <p:nvSpPr>
          <p:cNvPr id="50" name="Shape 47"/>
          <p:cNvSpPr/>
          <p:nvPr/>
        </p:nvSpPr>
        <p:spPr>
          <a:xfrm>
            <a:off x="658368" y="5614416"/>
            <a:ext cx="10874959" cy="603504"/>
          </a:xfrm>
          <a:prstGeom prst="rect">
            <a:avLst/>
          </a:prstGeom>
          <a:solidFill>
            <a:srgbClr val="102A43"/>
          </a:solidFill>
          <a:ln w="12700">
            <a:solidFill>
              <a:srgbClr val="102A43"/>
            </a:solidFill>
            <a:prstDash val="solid"/>
          </a:ln>
        </p:spPr>
      </p:sp>
      <p:sp>
        <p:nvSpPr>
          <p:cNvPr id="51" name="Text 48"/>
          <p:cNvSpPr txBox="1"/>
          <p:nvPr/>
        </p:nvSpPr>
        <p:spPr>
          <a:xfrm>
            <a:off x="969264" y="5669280"/>
            <a:ext cx="10253167" cy="493776"/>
          </a:xfrm>
          <a:prstGeom prst="rect">
            <a:avLst/>
          </a:prstGeom>
          <a:noFill/>
          <a:ln/>
        </p:spPr>
        <p:txBody>
          <a:bodyPr wrap="square" lIns="0" tIns="0" rIns="0" bIns="0" rtlCol="0" anchor="ctr"/>
          <a:lstStyle/>
          <a:p>
            <a:pPr algn="ctr" indent="0" marL="0">
              <a:lnSpc>
                <a:spcPct val="114000"/>
              </a:lnSpc>
              <a:buNone/>
            </a:pPr>
            <a:r>
              <a:rPr lang="en-US" sz="1340" b="1" dirty="0">
                <a:solidFill>
                  <a:srgbClr val="FFFFFF"/>
                </a:solidFill>
                <a:latin typeface="Aptos" pitchFamily="34" charset="0"/>
                <a:ea typeface="Aptos" pitchFamily="34" charset="-122"/>
                <a:cs typeface="Aptos" pitchFamily="34" charset="-120"/>
              </a:rPr>
              <a:t>Los dos riesgos no son problemas del programador: son huecos de la especificación. Reportarlos como defectos abre una discusión que no tiene forma de cerrarse.</a:t>
            </a:r>
            <a:endParaRPr lang="en-US" sz="13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2.5 · LA REGLA DE PRODUCTO, EN DETALLE</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hallazgo era correcto, y su prueba no falló</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requisito dice que 3,95 se informa 4,0. Alguien sospecha que el redondeo está roto, y trae una entrada para demostrarlo.</a:t>
            </a:r>
            <a:endParaRPr lang="en-US" sz="1450" dirty="0"/>
          </a:p>
        </p:txBody>
      </p:sp>
      <p:sp>
        <p:nvSpPr>
          <p:cNvPr id="11" name="Shape 8"/>
          <p:cNvSpPr/>
          <p:nvPr/>
        </p:nvSpPr>
        <p:spPr>
          <a:xfrm>
            <a:off x="658368" y="2395728"/>
            <a:ext cx="5120640" cy="1042416"/>
          </a:xfrm>
          <a:prstGeom prst="rect">
            <a:avLst/>
          </a:prstGeom>
          <a:solidFill>
            <a:srgbClr val="F2E7D9"/>
          </a:solidFill>
          <a:ln w="12700">
            <a:solidFill>
              <a:srgbClr val="F2E7D9"/>
            </a:solidFill>
            <a:prstDash val="solid"/>
          </a:ln>
        </p:spPr>
      </p:sp>
      <p:sp>
        <p:nvSpPr>
          <p:cNvPr id="12" name="Shape 9"/>
          <p:cNvSpPr/>
          <p:nvPr/>
        </p:nvSpPr>
        <p:spPr>
          <a:xfrm>
            <a:off x="658368" y="2395728"/>
            <a:ext cx="73152" cy="1042416"/>
          </a:xfrm>
          <a:prstGeom prst="rect">
            <a:avLst/>
          </a:prstGeom>
          <a:solidFill>
            <a:srgbClr val="8A6A12"/>
          </a:solidFill>
          <a:ln w="12700">
            <a:solidFill>
              <a:srgbClr val="8A6A12"/>
            </a:solidFill>
            <a:prstDash val="solid"/>
          </a:ln>
        </p:spPr>
      </p:sp>
      <p:sp>
        <p:nvSpPr>
          <p:cNvPr id="13" name="Text 10"/>
          <p:cNvSpPr txBox="1"/>
          <p:nvPr/>
        </p:nvSpPr>
        <p:spPr>
          <a:xfrm>
            <a:off x="932688" y="2523744"/>
            <a:ext cx="4480560" cy="182880"/>
          </a:xfrm>
          <a:prstGeom prst="rect">
            <a:avLst/>
          </a:prstGeom>
          <a:noFill/>
          <a:ln/>
        </p:spPr>
        <p:txBody>
          <a:bodyPr wrap="square" lIns="0" tIns="0" rIns="0" bIns="0" rtlCol="0" anchor="t"/>
          <a:lstStyle/>
          <a:p>
            <a:pPr algn="l" indent="0" marL="0">
              <a:buNone/>
            </a:pPr>
            <a:r>
              <a:rPr lang="en-US" sz="880" b="1" spc="115" kern="0" dirty="0">
                <a:solidFill>
                  <a:srgbClr val="8A6A12"/>
                </a:solidFill>
                <a:latin typeface="Aptos" pitchFamily="34" charset="0"/>
                <a:ea typeface="Aptos" pitchFamily="34" charset="-122"/>
                <a:cs typeface="Aptos" pitchFamily="34" charset="-120"/>
              </a:rPr>
              <a:t>LA SOSPECHA</a:t>
            </a:r>
            <a:endParaRPr lang="en-US" sz="880" dirty="0"/>
          </a:p>
        </p:txBody>
      </p:sp>
      <p:sp>
        <p:nvSpPr>
          <p:cNvPr id="14" name="Text 11"/>
          <p:cNvSpPr txBox="1"/>
          <p:nvPr/>
        </p:nvSpPr>
        <p:spPr>
          <a:xfrm>
            <a:off x="932688" y="2743200"/>
            <a:ext cx="4553712" cy="603504"/>
          </a:xfrm>
          <a:prstGeom prst="rect">
            <a:avLst/>
          </a:prstGeom>
          <a:noFill/>
          <a:ln/>
        </p:spPr>
        <p:txBody>
          <a:bodyPr wrap="square" lIns="0" tIns="0" rIns="0" bIns="0" rtlCol="0" anchor="t"/>
          <a:lstStyle/>
          <a:p>
            <a:pPr algn="l" indent="0" marL="0">
              <a:lnSpc>
                <a:spcPct val="116000"/>
              </a:lnSpc>
              <a:buNone/>
            </a:pPr>
            <a:r>
              <a:rPr lang="en-US" sz="1220" b="1" dirty="0">
                <a:solidFill>
                  <a:srgbClr val="102A43"/>
                </a:solidFill>
                <a:latin typeface="Aptos" pitchFamily="34" charset="0"/>
                <a:ea typeface="Aptos" pitchFamily="34" charset="-122"/>
                <a:cs typeface="Aptos" pitchFamily="34" charset="-120"/>
              </a:rPr>
              <a:t>El promedio se calcula en punto flotante antes de entrar a Decimal. El redondeo se aplica sobre un número que ya se corrompió.</a:t>
            </a:r>
            <a:endParaRPr lang="en-US" sz="1220" dirty="0"/>
          </a:p>
        </p:txBody>
      </p:sp>
      <p:sp>
        <p:nvSpPr>
          <p:cNvPr id="15" name="Shape 12"/>
          <p:cNvSpPr/>
          <p:nvPr/>
        </p:nvSpPr>
        <p:spPr>
          <a:xfrm>
            <a:off x="5961888" y="2395728"/>
            <a:ext cx="5568696" cy="1042416"/>
          </a:xfrm>
          <a:prstGeom prst="rect">
            <a:avLst/>
          </a:prstGeom>
          <a:solidFill>
            <a:srgbClr val="EDE9E1"/>
          </a:solidFill>
          <a:ln w="12700">
            <a:solidFill>
              <a:srgbClr val="EDE9E1"/>
            </a:solidFill>
            <a:prstDash val="solid"/>
          </a:ln>
        </p:spPr>
      </p:sp>
      <p:sp>
        <p:nvSpPr>
          <p:cNvPr id="16" name="Text 13"/>
          <p:cNvSpPr txBox="1"/>
          <p:nvPr/>
        </p:nvSpPr>
        <p:spPr>
          <a:xfrm>
            <a:off x="6236208" y="2523744"/>
            <a:ext cx="4937760" cy="182880"/>
          </a:xfrm>
          <a:prstGeom prst="rect">
            <a:avLst/>
          </a:prstGeom>
          <a:noFill/>
          <a:ln/>
        </p:spPr>
        <p:txBody>
          <a:bodyPr wrap="square" lIns="0" tIns="0" rIns="0" bIns="0" rtlCol="0" anchor="t"/>
          <a:lstStyle/>
          <a:p>
            <a:pPr algn="l" indent="0" marL="0">
              <a:buNone/>
            </a:pPr>
            <a:r>
              <a:rPr lang="en-US" sz="880" b="1" spc="115" kern="0" dirty="0">
                <a:solidFill>
                  <a:srgbClr val="96A3B2"/>
                </a:solidFill>
                <a:latin typeface="Aptos" pitchFamily="34" charset="0"/>
                <a:ea typeface="Aptos" pitchFamily="34" charset="-122"/>
                <a:cs typeface="Aptos" pitchFamily="34" charset="-120"/>
              </a:rPr>
              <a:t>PUNTO FLOTANTE</a:t>
            </a:r>
            <a:endParaRPr lang="en-US" sz="880" dirty="0"/>
          </a:p>
        </p:txBody>
      </p:sp>
      <p:sp>
        <p:nvSpPr>
          <p:cNvPr id="17" name="Text 14"/>
          <p:cNvSpPr txBox="1"/>
          <p:nvPr/>
        </p:nvSpPr>
        <p:spPr>
          <a:xfrm>
            <a:off x="6236208" y="2743200"/>
            <a:ext cx="5029200" cy="603504"/>
          </a:xfrm>
          <a:prstGeom prst="rect">
            <a:avLst/>
          </a:prstGeom>
          <a:noFill/>
          <a:ln/>
        </p:spPr>
        <p:txBody>
          <a:bodyPr wrap="square" lIns="0" tIns="0" rIns="0" bIns="0" rtlCol="0" anchor="t"/>
          <a:lstStyle/>
          <a:p>
            <a:pPr algn="l" indent="0" marL="0">
              <a:lnSpc>
                <a:spcPct val="116000"/>
              </a:lnSpc>
              <a:buNone/>
            </a:pPr>
            <a:r>
              <a:rPr lang="en-US" sz="1180" dirty="0">
                <a:solidFill>
                  <a:srgbClr val="243B53"/>
                </a:solidFill>
                <a:latin typeface="Aptos" pitchFamily="34" charset="0"/>
                <a:ea typeface="Aptos" pitchFamily="34" charset="-122"/>
                <a:cs typeface="Aptos" pitchFamily="34" charset="-120"/>
              </a:rPr>
              <a:t>La forma en que el computador guarda números con decimales: en binario y con espacio fijo. Muchos decimales no caben exactos, así que se guarda el más cercano.</a:t>
            </a:r>
            <a:endParaRPr lang="en-US" sz="1180" dirty="0"/>
          </a:p>
        </p:txBody>
      </p:sp>
      <p:sp>
        <p:nvSpPr>
          <p:cNvPr id="18" name="Shape 15"/>
          <p:cNvSpPr/>
          <p:nvPr/>
        </p:nvSpPr>
        <p:spPr>
          <a:xfrm>
            <a:off x="658368" y="3529584"/>
            <a:ext cx="6309360" cy="2029968"/>
          </a:xfrm>
          <a:prstGeom prst="roundRect">
            <a:avLst>
              <a:gd name="adj" fmla="val 1802"/>
            </a:avLst>
          </a:prstGeom>
          <a:solidFill>
            <a:srgbClr val="0F1720"/>
          </a:solidFill>
          <a:ln w="12700">
            <a:solidFill>
              <a:srgbClr val="0F1720"/>
            </a:solidFill>
            <a:prstDash val="solid"/>
          </a:ln>
        </p:spPr>
      </p:sp>
      <p:sp>
        <p:nvSpPr>
          <p:cNvPr id="19" name="Shape 16"/>
          <p:cNvSpPr/>
          <p:nvPr/>
        </p:nvSpPr>
        <p:spPr>
          <a:xfrm>
            <a:off x="786384" y="3639312"/>
            <a:ext cx="6053328" cy="310896"/>
          </a:xfrm>
          <a:prstGeom prst="roundRect">
            <a:avLst>
              <a:gd name="adj" fmla="val 8824"/>
            </a:avLst>
          </a:prstGeom>
          <a:solidFill>
            <a:srgbClr val="1E2937"/>
          </a:solidFill>
          <a:ln w="12700">
            <a:solidFill>
              <a:srgbClr val="1E2937"/>
            </a:solidFill>
            <a:prstDash val="solid"/>
          </a:ln>
        </p:spPr>
      </p:sp>
      <p:sp>
        <p:nvSpPr>
          <p:cNvPr id="20" name="Text 17"/>
          <p:cNvSpPr/>
          <p:nvPr/>
        </p:nvSpPr>
        <p:spPr>
          <a:xfrm>
            <a:off x="914400" y="3712464"/>
            <a:ext cx="579729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entrada propuesta: 1,0 · 1,3 · 6,6 · 6,9 · promedio exacto 3,95</a:t>
            </a:r>
            <a:endParaRPr lang="en-US" sz="1000" dirty="0"/>
          </a:p>
        </p:txBody>
      </p:sp>
      <p:sp>
        <p:nvSpPr>
          <p:cNvPr id="21" name="Text 18"/>
          <p:cNvSpPr/>
          <p:nvPr/>
        </p:nvSpPr>
        <p:spPr>
          <a:xfrm>
            <a:off x="877824" y="4096512"/>
            <a:ext cx="5559552" cy="164592"/>
          </a:xfrm>
          <a:prstGeom prst="rect">
            <a:avLst/>
          </a:prstGeom>
          <a:noFill/>
          <a:ln/>
        </p:spPr>
        <p:txBody>
          <a:bodyPr wrap="square" lIns="0" tIns="0" rIns="0" bIns="0" rtlCol="0" anchor="ctr"/>
          <a:lstStyle/>
          <a:p>
            <a:pPr indent="0" marL="0">
              <a:buNone/>
            </a:pPr>
            <a:r>
              <a:rPr lang="en-US" sz="960" dirty="0">
                <a:solidFill>
                  <a:srgbClr val="8AA0B6"/>
                </a:solidFill>
                <a:latin typeface="Consolas" pitchFamily="34" charset="0"/>
                <a:ea typeface="Consolas" pitchFamily="34" charset="-122"/>
                <a:cs typeface="Consolas" pitchFamily="34" charset="-120"/>
              </a:rPr>
              <a:t>Python 3.10.1</a:t>
            </a:r>
            <a:endParaRPr lang="en-US" sz="960" dirty="0"/>
          </a:p>
        </p:txBody>
      </p:sp>
      <p:sp>
        <p:nvSpPr>
          <p:cNvPr id="22" name="Text 19"/>
          <p:cNvSpPr/>
          <p:nvPr/>
        </p:nvSpPr>
        <p:spPr>
          <a:xfrm>
            <a:off x="877824" y="4352544"/>
            <a:ext cx="329184" cy="164592"/>
          </a:xfrm>
          <a:prstGeom prst="rect">
            <a:avLst/>
          </a:prstGeom>
          <a:noFill/>
          <a:ln/>
        </p:spPr>
        <p:txBody>
          <a:bodyPr wrap="square" lIns="0" tIns="0" rIns="0" bIns="0" rtlCol="0" anchor="ctr"/>
          <a:lstStyle/>
          <a:p>
            <a:pPr indent="0" marL="0">
              <a:buNone/>
            </a:pPr>
            <a:r>
              <a:rPr lang="en-US" sz="960" b="1" dirty="0">
                <a:solidFill>
                  <a:srgbClr val="E0BC5A"/>
                </a:solidFill>
                <a:latin typeface="Consolas" pitchFamily="34" charset="0"/>
                <a:ea typeface="Consolas" pitchFamily="34" charset="-122"/>
                <a:cs typeface="Consolas" pitchFamily="34" charset="-120"/>
              </a:rPr>
              <a:t>&gt;&gt;&gt;</a:t>
            </a:r>
            <a:endParaRPr lang="en-US" sz="960" dirty="0"/>
          </a:p>
        </p:txBody>
      </p:sp>
      <p:sp>
        <p:nvSpPr>
          <p:cNvPr id="23" name="Text 20"/>
          <p:cNvSpPr/>
          <p:nvPr/>
        </p:nvSpPr>
        <p:spPr>
          <a:xfrm>
            <a:off x="1188720" y="4352544"/>
            <a:ext cx="555955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sum([1.0, 1.3, 6.6, 6.9]) / 4</a:t>
            </a:r>
            <a:endParaRPr lang="en-US" sz="960" dirty="0"/>
          </a:p>
        </p:txBody>
      </p:sp>
      <p:sp>
        <p:nvSpPr>
          <p:cNvPr id="24" name="Text 21"/>
          <p:cNvSpPr/>
          <p:nvPr/>
        </p:nvSpPr>
        <p:spPr>
          <a:xfrm>
            <a:off x="877824" y="4608576"/>
            <a:ext cx="555955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3.9499999999999997     informa 3.9</a:t>
            </a:r>
            <a:endParaRPr lang="en-US" sz="960" dirty="0"/>
          </a:p>
        </p:txBody>
      </p:sp>
      <p:sp>
        <p:nvSpPr>
          <p:cNvPr id="25" name="Text 22"/>
          <p:cNvSpPr/>
          <p:nvPr/>
        </p:nvSpPr>
        <p:spPr>
          <a:xfrm>
            <a:off x="877824" y="4864608"/>
            <a:ext cx="5559552" cy="164592"/>
          </a:xfrm>
          <a:prstGeom prst="rect">
            <a:avLst/>
          </a:prstGeom>
          <a:noFill/>
          <a:ln/>
        </p:spPr>
        <p:txBody>
          <a:bodyPr wrap="square" lIns="0" tIns="0" rIns="0" bIns="0" rtlCol="0" anchor="ctr"/>
          <a:lstStyle/>
          <a:p>
            <a:pPr indent="0" marL="0">
              <a:buNone/>
            </a:pPr>
            <a:r>
              <a:rPr lang="en-US" sz="960" dirty="0">
                <a:solidFill>
                  <a:srgbClr val="8AA0B6"/>
                </a:solidFill>
                <a:latin typeface="Consolas" pitchFamily="34" charset="0"/>
                <a:ea typeface="Consolas" pitchFamily="34" charset="-122"/>
                <a:cs typeface="Consolas" pitchFamily="34" charset="-120"/>
              </a:rPr>
              <a:t>Python 3.12.12</a:t>
            </a:r>
            <a:endParaRPr lang="en-US" sz="960" dirty="0"/>
          </a:p>
        </p:txBody>
      </p:sp>
      <p:sp>
        <p:nvSpPr>
          <p:cNvPr id="26" name="Text 23"/>
          <p:cNvSpPr/>
          <p:nvPr/>
        </p:nvSpPr>
        <p:spPr>
          <a:xfrm>
            <a:off x="877824" y="5120640"/>
            <a:ext cx="329184" cy="164592"/>
          </a:xfrm>
          <a:prstGeom prst="rect">
            <a:avLst/>
          </a:prstGeom>
          <a:noFill/>
          <a:ln/>
        </p:spPr>
        <p:txBody>
          <a:bodyPr wrap="square" lIns="0" tIns="0" rIns="0" bIns="0" rtlCol="0" anchor="ctr"/>
          <a:lstStyle/>
          <a:p>
            <a:pPr indent="0" marL="0">
              <a:buNone/>
            </a:pPr>
            <a:r>
              <a:rPr lang="en-US" sz="960" b="1" dirty="0">
                <a:solidFill>
                  <a:srgbClr val="E0BC5A"/>
                </a:solidFill>
                <a:latin typeface="Consolas" pitchFamily="34" charset="0"/>
                <a:ea typeface="Consolas" pitchFamily="34" charset="-122"/>
                <a:cs typeface="Consolas" pitchFamily="34" charset="-120"/>
              </a:rPr>
              <a:t>&gt;&gt;&gt;</a:t>
            </a:r>
            <a:endParaRPr lang="en-US" sz="960" dirty="0"/>
          </a:p>
        </p:txBody>
      </p:sp>
      <p:sp>
        <p:nvSpPr>
          <p:cNvPr id="27" name="Text 24"/>
          <p:cNvSpPr/>
          <p:nvPr/>
        </p:nvSpPr>
        <p:spPr>
          <a:xfrm>
            <a:off x="1188720" y="5120640"/>
            <a:ext cx="555955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sum([1.0, 1.3, 6.6, 6.9]) / 4</a:t>
            </a:r>
            <a:endParaRPr lang="en-US" sz="960" dirty="0"/>
          </a:p>
        </p:txBody>
      </p:sp>
      <p:sp>
        <p:nvSpPr>
          <p:cNvPr id="28" name="Text 25"/>
          <p:cNvSpPr/>
          <p:nvPr/>
        </p:nvSpPr>
        <p:spPr>
          <a:xfrm>
            <a:off x="877824" y="5376672"/>
            <a:ext cx="555955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3.95                   informa 4.0</a:t>
            </a:r>
            <a:endParaRPr lang="en-US" sz="960" dirty="0"/>
          </a:p>
        </p:txBody>
      </p:sp>
      <p:sp>
        <p:nvSpPr>
          <p:cNvPr id="29" name="Shape 26"/>
          <p:cNvSpPr/>
          <p:nvPr/>
        </p:nvSpPr>
        <p:spPr>
          <a:xfrm>
            <a:off x="7132320" y="3529584"/>
            <a:ext cx="4398264" cy="2029968"/>
          </a:xfrm>
          <a:prstGeom prst="rect">
            <a:avLst/>
          </a:prstGeom>
          <a:solidFill>
            <a:srgbClr val="E8F1F2"/>
          </a:solidFill>
          <a:ln w="12700">
            <a:solidFill>
              <a:srgbClr val="E8F1F2"/>
            </a:solidFill>
            <a:prstDash val="solid"/>
          </a:ln>
        </p:spPr>
      </p:sp>
      <p:sp>
        <p:nvSpPr>
          <p:cNvPr id="30" name="Shape 27"/>
          <p:cNvSpPr/>
          <p:nvPr/>
        </p:nvSpPr>
        <p:spPr>
          <a:xfrm>
            <a:off x="7132320" y="3529584"/>
            <a:ext cx="4398264" cy="73152"/>
          </a:xfrm>
          <a:prstGeom prst="rect">
            <a:avLst/>
          </a:prstGeom>
          <a:solidFill>
            <a:srgbClr val="0E6E7A"/>
          </a:solidFill>
          <a:ln w="12700">
            <a:solidFill>
              <a:srgbClr val="0E6E7A"/>
            </a:solidFill>
            <a:prstDash val="solid"/>
          </a:ln>
        </p:spPr>
      </p:sp>
      <p:sp>
        <p:nvSpPr>
          <p:cNvPr id="31" name="Text 28"/>
          <p:cNvSpPr txBox="1"/>
          <p:nvPr/>
        </p:nvSpPr>
        <p:spPr>
          <a:xfrm>
            <a:off x="7406640" y="3730752"/>
            <a:ext cx="3840480" cy="182880"/>
          </a:xfrm>
          <a:prstGeom prst="rect">
            <a:avLst/>
          </a:prstGeom>
          <a:noFill/>
          <a:ln/>
        </p:spPr>
        <p:txBody>
          <a:bodyPr wrap="square" lIns="0" tIns="0" rIns="0" bIns="0" rtlCol="0" anchor="t"/>
          <a:lstStyle/>
          <a:p>
            <a:pPr algn="l" indent="0" marL="0">
              <a:buNone/>
            </a:pPr>
            <a:r>
              <a:rPr lang="en-US" sz="880" b="1" spc="110" kern="0" dirty="0">
                <a:solidFill>
                  <a:srgbClr val="0E6E7A"/>
                </a:solidFill>
                <a:latin typeface="Aptos" pitchFamily="34" charset="0"/>
                <a:ea typeface="Aptos" pitchFamily="34" charset="-122"/>
                <a:cs typeface="Aptos" pitchFamily="34" charset="-120"/>
              </a:rPr>
              <a:t>QUÉ CAMBIÓ ENTRE LAS DOS VERSIONES</a:t>
            </a:r>
            <a:endParaRPr lang="en-US" sz="880" dirty="0"/>
          </a:p>
        </p:txBody>
      </p:sp>
      <p:sp>
        <p:nvSpPr>
          <p:cNvPr id="32" name="Text 29"/>
          <p:cNvSpPr txBox="1"/>
          <p:nvPr/>
        </p:nvSpPr>
        <p:spPr>
          <a:xfrm>
            <a:off x="7406640" y="3968496"/>
            <a:ext cx="3877056" cy="859536"/>
          </a:xfrm>
          <a:prstGeom prst="rect">
            <a:avLst/>
          </a:prstGeom>
          <a:noFill/>
          <a:ln/>
        </p:spPr>
        <p:txBody>
          <a:bodyPr wrap="square" lIns="0" tIns="0" rIns="0" bIns="0" rtlCol="0" anchor="t"/>
          <a:lstStyle/>
          <a:p>
            <a:pPr algn="l" indent="0" marL="0">
              <a:lnSpc>
                <a:spcPct val="116000"/>
              </a:lnSpc>
              <a:buNone/>
            </a:pPr>
            <a:r>
              <a:rPr lang="en-US" sz="1160" dirty="0">
                <a:solidFill>
                  <a:srgbClr val="243B53"/>
                </a:solidFill>
                <a:latin typeface="Aptos" pitchFamily="34" charset="0"/>
                <a:ea typeface="Aptos" pitchFamily="34" charset="-122"/>
                <a:cs typeface="Aptos" pitchFamily="34" charset="-120"/>
              </a:rPr>
              <a:t>Desde Python 3.12, sumar una lista de decimales usa suma compensada: va guardando el error que se pierde en cada paso y lo devuelve al total.</a:t>
            </a:r>
            <a:endParaRPr lang="en-US" sz="1160" dirty="0"/>
          </a:p>
        </p:txBody>
      </p:sp>
      <p:sp>
        <p:nvSpPr>
          <p:cNvPr id="33" name="Shape 30"/>
          <p:cNvSpPr/>
          <p:nvPr/>
        </p:nvSpPr>
        <p:spPr>
          <a:xfrm>
            <a:off x="7406640" y="4956048"/>
            <a:ext cx="3877056" cy="0"/>
          </a:xfrm>
          <a:prstGeom prst="line">
            <a:avLst/>
          </a:prstGeom>
          <a:noFill/>
          <a:ln w="12700">
            <a:solidFill>
              <a:srgbClr val="D8CFC4"/>
            </a:solidFill>
            <a:prstDash val="solid"/>
            <a:headEnd type="none"/>
            <a:tailEnd type="none"/>
          </a:ln>
        </p:spPr>
      </p:sp>
      <p:sp>
        <p:nvSpPr>
          <p:cNvPr id="34" name="Text 31"/>
          <p:cNvSpPr txBox="1"/>
          <p:nvPr/>
        </p:nvSpPr>
        <p:spPr>
          <a:xfrm>
            <a:off x="7406640" y="5084064"/>
            <a:ext cx="3877056" cy="237744"/>
          </a:xfrm>
          <a:prstGeom prst="rect">
            <a:avLst/>
          </a:prstGeom>
          <a:noFill/>
          <a:ln/>
        </p:spPr>
        <p:txBody>
          <a:bodyPr wrap="square" lIns="0" tIns="0" rIns="0" bIns="0" rtlCol="0" anchor="t"/>
          <a:lstStyle/>
          <a:p>
            <a:pPr algn="l" indent="0" marL="0">
              <a:buNone/>
            </a:pPr>
            <a:r>
              <a:rPr lang="en-US" sz="1220" b="1" dirty="0">
                <a:solidFill>
                  <a:srgbClr val="0E6E7A"/>
                </a:solidFill>
                <a:latin typeface="Aptos" pitchFamily="34" charset="0"/>
                <a:ea typeface="Aptos" pitchFamily="34" charset="-122"/>
                <a:cs typeface="Aptos" pitchFamily="34" charset="-120"/>
              </a:rPr>
              <a:t>El proyecto declara Python 3.12.</a:t>
            </a:r>
            <a:endParaRPr lang="en-US" sz="1220" dirty="0"/>
          </a:p>
        </p:txBody>
      </p:sp>
      <p:sp>
        <p:nvSpPr>
          <p:cNvPr id="35" name="Shape 32"/>
          <p:cNvSpPr/>
          <p:nvPr/>
        </p:nvSpPr>
        <p:spPr>
          <a:xfrm>
            <a:off x="658368" y="5687568"/>
            <a:ext cx="10874959" cy="548640"/>
          </a:xfrm>
          <a:prstGeom prst="rect">
            <a:avLst/>
          </a:prstGeom>
          <a:solidFill>
            <a:srgbClr val="102A43"/>
          </a:solidFill>
          <a:ln w="12700">
            <a:solidFill>
              <a:srgbClr val="102A43"/>
            </a:solidFill>
            <a:prstDash val="solid"/>
          </a:ln>
        </p:spPr>
      </p:sp>
      <p:sp>
        <p:nvSpPr>
          <p:cNvPr id="36" name="Text 33"/>
          <p:cNvSpPr txBox="1"/>
          <p:nvPr/>
        </p:nvSpPr>
        <p:spPr>
          <a:xfrm>
            <a:off x="969264" y="5742432"/>
            <a:ext cx="10253167" cy="438912"/>
          </a:xfrm>
          <a:prstGeom prst="rect">
            <a:avLst/>
          </a:prstGeom>
          <a:noFill/>
          <a:ln/>
        </p:spPr>
        <p:txBody>
          <a:bodyPr wrap="square" lIns="0" tIns="0" rIns="0" bIns="0" rtlCol="0" anchor="ctr"/>
          <a:lstStyle/>
          <a:p>
            <a:pPr algn="ctr" indent="0" marL="0">
              <a:lnSpc>
                <a:spcPct val="114000"/>
              </a:lnSpc>
              <a:buNone/>
            </a:pPr>
            <a:r>
              <a:rPr lang="en-US" sz="1320" b="1" dirty="0">
                <a:solidFill>
                  <a:srgbClr val="FFFFFF"/>
                </a:solidFill>
                <a:latin typeface="Aptos" pitchFamily="34" charset="0"/>
                <a:ea typeface="Aptos" pitchFamily="34" charset="-122"/>
                <a:cs typeface="Aptos" pitchFamily="34" charset="-120"/>
              </a:rPr>
              <a:t>La entrada se probó en un intérprete que este proyecto no usa. Que la prueba pase no dice que el hallazgo sea falso: dice que esa evidencia no lo sostiene.</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2.6 · LA EVIDENCIA QUE SÍ SOSTIENE EL HALLAZGO</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La suma compensada mejora el resultado, no lo vuelve exacto</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Hay que buscar una entrada que falle en el intérprete que el proyecto declara. Existen, y cambian el estado de aprobación, no solo la nota informada.</a:t>
            </a:r>
            <a:endParaRPr lang="en-US" sz="1450" dirty="0"/>
          </a:p>
        </p:txBody>
      </p:sp>
      <p:sp>
        <p:nvSpPr>
          <p:cNvPr id="11" name="Shape 8"/>
          <p:cNvSpPr/>
          <p:nvPr/>
        </p:nvSpPr>
        <p:spPr>
          <a:xfrm>
            <a:off x="658368" y="2487168"/>
            <a:ext cx="6492240" cy="1700784"/>
          </a:xfrm>
          <a:prstGeom prst="roundRect">
            <a:avLst>
              <a:gd name="adj" fmla="val 2151"/>
            </a:avLst>
          </a:prstGeom>
          <a:solidFill>
            <a:srgbClr val="0F1720"/>
          </a:solidFill>
          <a:ln w="12700">
            <a:solidFill>
              <a:srgbClr val="0F1720"/>
            </a:solidFill>
            <a:prstDash val="solid"/>
          </a:ln>
        </p:spPr>
      </p:sp>
      <p:sp>
        <p:nvSpPr>
          <p:cNvPr id="12" name="Shape 9"/>
          <p:cNvSpPr/>
          <p:nvPr/>
        </p:nvSpPr>
        <p:spPr>
          <a:xfrm>
            <a:off x="786384" y="2596896"/>
            <a:ext cx="6236208"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670048"/>
            <a:ext cx="598017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Python 3.12.12 · el intérprete que el proyecto declara</a:t>
            </a:r>
            <a:endParaRPr lang="en-US" sz="1000" dirty="0"/>
          </a:p>
        </p:txBody>
      </p:sp>
      <p:sp>
        <p:nvSpPr>
          <p:cNvPr id="14" name="Text 11"/>
          <p:cNvSpPr/>
          <p:nvPr/>
        </p:nvSpPr>
        <p:spPr>
          <a:xfrm>
            <a:off x="877824" y="3054096"/>
            <a:ext cx="329184" cy="164592"/>
          </a:xfrm>
          <a:prstGeom prst="rect">
            <a:avLst/>
          </a:prstGeom>
          <a:noFill/>
          <a:ln/>
        </p:spPr>
        <p:txBody>
          <a:bodyPr wrap="square" lIns="0" tIns="0" rIns="0" bIns="0" rtlCol="0" anchor="ctr"/>
          <a:lstStyle/>
          <a:p>
            <a:pPr indent="0" marL="0">
              <a:buNone/>
            </a:pPr>
            <a:r>
              <a:rPr lang="en-US" sz="1020" b="1" dirty="0">
                <a:solidFill>
                  <a:srgbClr val="E0BC5A"/>
                </a:solidFill>
                <a:latin typeface="Consolas" pitchFamily="34" charset="0"/>
                <a:ea typeface="Consolas" pitchFamily="34" charset="-122"/>
                <a:cs typeface="Consolas" pitchFamily="34" charset="-120"/>
              </a:rPr>
              <a:t>&gt;&gt;&gt;</a:t>
            </a:r>
            <a:endParaRPr lang="en-US" sz="1020" dirty="0"/>
          </a:p>
        </p:txBody>
      </p:sp>
      <p:sp>
        <p:nvSpPr>
          <p:cNvPr id="15" name="Text 12"/>
          <p:cNvSpPr/>
          <p:nvPr/>
        </p:nvSpPr>
        <p:spPr>
          <a:xfrm>
            <a:off x="1188720" y="3054096"/>
            <a:ext cx="5742432"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nota_final([1.3, 4.6])</a:t>
            </a:r>
            <a:endParaRPr lang="en-US" sz="1020" dirty="0"/>
          </a:p>
        </p:txBody>
      </p:sp>
      <p:sp>
        <p:nvSpPr>
          <p:cNvPr id="16" name="Text 13"/>
          <p:cNvSpPr/>
          <p:nvPr/>
        </p:nvSpPr>
        <p:spPr>
          <a:xfrm>
            <a:off x="877824" y="3310128"/>
            <a:ext cx="5742432"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2.9        el promedio exacto es 2,95: debe informar 3,0</a:t>
            </a:r>
            <a:endParaRPr lang="en-US" sz="1020" dirty="0"/>
          </a:p>
        </p:txBody>
      </p:sp>
      <p:sp>
        <p:nvSpPr>
          <p:cNvPr id="17" name="Text 14"/>
          <p:cNvSpPr/>
          <p:nvPr/>
        </p:nvSpPr>
        <p:spPr>
          <a:xfrm>
            <a:off x="877824" y="3566160"/>
            <a:ext cx="329184" cy="164592"/>
          </a:xfrm>
          <a:prstGeom prst="rect">
            <a:avLst/>
          </a:prstGeom>
          <a:noFill/>
          <a:ln/>
        </p:spPr>
        <p:txBody>
          <a:bodyPr wrap="square" lIns="0" tIns="0" rIns="0" bIns="0" rtlCol="0" anchor="ctr"/>
          <a:lstStyle/>
          <a:p>
            <a:pPr indent="0" marL="0">
              <a:buNone/>
            </a:pPr>
            <a:r>
              <a:rPr lang="en-US" sz="1020" b="1" dirty="0">
                <a:solidFill>
                  <a:srgbClr val="E0BC5A"/>
                </a:solidFill>
                <a:latin typeface="Consolas" pitchFamily="34" charset="0"/>
                <a:ea typeface="Consolas" pitchFamily="34" charset="-122"/>
                <a:cs typeface="Consolas" pitchFamily="34" charset="-120"/>
              </a:rPr>
              <a:t>&gt;&gt;&gt;</a:t>
            </a:r>
            <a:endParaRPr lang="en-US" sz="1020" dirty="0"/>
          </a:p>
        </p:txBody>
      </p:sp>
      <p:sp>
        <p:nvSpPr>
          <p:cNvPr id="18" name="Text 15"/>
          <p:cNvSpPr/>
          <p:nvPr/>
        </p:nvSpPr>
        <p:spPr>
          <a:xfrm>
            <a:off x="1188720" y="3566160"/>
            <a:ext cx="5742432"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nota_final([1.1, 6.6])</a:t>
            </a:r>
            <a:endParaRPr lang="en-US" sz="1020" dirty="0"/>
          </a:p>
        </p:txBody>
      </p:sp>
      <p:sp>
        <p:nvSpPr>
          <p:cNvPr id="19" name="Text 16"/>
          <p:cNvSpPr/>
          <p:nvPr/>
        </p:nvSpPr>
        <p:spPr>
          <a:xfrm>
            <a:off x="877824" y="3822192"/>
            <a:ext cx="5742432"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3.8        el promedio exacto es 3,85: debe informar 3,9</a:t>
            </a:r>
            <a:endParaRPr lang="en-US" sz="1020" dirty="0"/>
          </a:p>
        </p:txBody>
      </p:sp>
      <p:sp>
        <p:nvSpPr>
          <p:cNvPr id="20" name="Shape 17"/>
          <p:cNvSpPr/>
          <p:nvPr/>
        </p:nvSpPr>
        <p:spPr>
          <a:xfrm>
            <a:off x="7370064" y="2487168"/>
            <a:ext cx="4160520" cy="1700784"/>
          </a:xfrm>
          <a:prstGeom prst="rect">
            <a:avLst/>
          </a:prstGeom>
          <a:solidFill>
            <a:srgbClr val="F6E7E2"/>
          </a:solidFill>
          <a:ln w="12700">
            <a:solidFill>
              <a:srgbClr val="F6E7E2"/>
            </a:solidFill>
            <a:prstDash val="solid"/>
          </a:ln>
        </p:spPr>
      </p:sp>
      <p:sp>
        <p:nvSpPr>
          <p:cNvPr id="21" name="Shape 18"/>
          <p:cNvSpPr/>
          <p:nvPr/>
        </p:nvSpPr>
        <p:spPr>
          <a:xfrm>
            <a:off x="7370064" y="2487168"/>
            <a:ext cx="4160520" cy="73152"/>
          </a:xfrm>
          <a:prstGeom prst="rect">
            <a:avLst/>
          </a:prstGeom>
          <a:solidFill>
            <a:srgbClr val="B3181E"/>
          </a:solidFill>
          <a:ln w="12700">
            <a:solidFill>
              <a:srgbClr val="B3181E"/>
            </a:solidFill>
            <a:prstDash val="solid"/>
          </a:ln>
        </p:spPr>
      </p:sp>
      <p:sp>
        <p:nvSpPr>
          <p:cNvPr id="22" name="Text 19"/>
          <p:cNvSpPr txBox="1"/>
          <p:nvPr/>
        </p:nvSpPr>
        <p:spPr>
          <a:xfrm>
            <a:off x="7644384" y="2688336"/>
            <a:ext cx="3657600" cy="182880"/>
          </a:xfrm>
          <a:prstGeom prst="rect">
            <a:avLst/>
          </a:prstGeom>
          <a:noFill/>
          <a:ln/>
        </p:spPr>
        <p:txBody>
          <a:bodyPr wrap="square" lIns="0" tIns="0" rIns="0" bIns="0" rtlCol="0" anchor="t"/>
          <a:lstStyle/>
          <a:p>
            <a:pPr algn="l" indent="0" marL="0">
              <a:buNone/>
            </a:pPr>
            <a:r>
              <a:rPr lang="en-US" sz="880" b="1" spc="115" kern="0" dirty="0">
                <a:solidFill>
                  <a:srgbClr val="B3181E"/>
                </a:solidFill>
                <a:latin typeface="Aptos" pitchFamily="34" charset="0"/>
                <a:ea typeface="Aptos" pitchFamily="34" charset="-122"/>
                <a:cs typeface="Aptos" pitchFamily="34" charset="-120"/>
              </a:rPr>
              <a:t>LA CONSECUENCIA</a:t>
            </a:r>
            <a:endParaRPr lang="en-US" sz="880" dirty="0"/>
          </a:p>
        </p:txBody>
      </p:sp>
      <p:sp>
        <p:nvSpPr>
          <p:cNvPr id="23" name="Text 20"/>
          <p:cNvSpPr txBox="1"/>
          <p:nvPr/>
        </p:nvSpPr>
        <p:spPr>
          <a:xfrm>
            <a:off x="7644384" y="2926080"/>
            <a:ext cx="3657600" cy="1097280"/>
          </a:xfrm>
          <a:prstGeom prst="rect">
            <a:avLst/>
          </a:prstGeom>
          <a:noFill/>
          <a:ln/>
        </p:spPr>
        <p:txBody>
          <a:bodyPr wrap="square" lIns="0" tIns="0" rIns="0" bIns="0" rtlCol="0" anchor="t"/>
          <a:lstStyle/>
          <a:p>
            <a:pPr algn="l" indent="0" marL="0">
              <a:lnSpc>
                <a:spcPct val="118000"/>
              </a:lnSpc>
              <a:buNone/>
            </a:pPr>
            <a:r>
              <a:rPr lang="en-US" sz="1240" b="1" dirty="0">
                <a:solidFill>
                  <a:srgbClr val="102A43"/>
                </a:solidFill>
                <a:latin typeface="Aptos" pitchFamily="34" charset="0"/>
                <a:ea typeface="Aptos" pitchFamily="34" charset="-122"/>
                <a:cs typeface="Aptos" pitchFamily="34" charset="-120"/>
              </a:rPr>
              <a:t>Un estudiante con 1,3 y 4,6 tiene 2,95 de promedio y el sistema le informa 2,9. Es un defecto, y ahora sí se puede escribir la prueba que lo demuestra.</a:t>
            </a:r>
            <a:endParaRPr lang="en-US" sz="1240" dirty="0"/>
          </a:p>
        </p:txBody>
      </p:sp>
      <p:sp>
        <p:nvSpPr>
          <p:cNvPr id="24" name="Shape 21"/>
          <p:cNvSpPr/>
          <p:nvPr/>
        </p:nvSpPr>
        <p:spPr>
          <a:xfrm>
            <a:off x="658368" y="4370832"/>
            <a:ext cx="5340096" cy="1152144"/>
          </a:xfrm>
          <a:prstGeom prst="rect">
            <a:avLst/>
          </a:prstGeom>
          <a:solidFill>
            <a:srgbClr val="EDE9E1"/>
          </a:solidFill>
          <a:ln w="12700">
            <a:solidFill>
              <a:srgbClr val="EDE9E1"/>
            </a:solidFill>
            <a:prstDash val="solid"/>
          </a:ln>
        </p:spPr>
      </p:sp>
      <p:sp>
        <p:nvSpPr>
          <p:cNvPr id="25" name="Shape 22"/>
          <p:cNvSpPr/>
          <p:nvPr/>
        </p:nvSpPr>
        <p:spPr>
          <a:xfrm>
            <a:off x="658368" y="4370832"/>
            <a:ext cx="5340096" cy="54864"/>
          </a:xfrm>
          <a:prstGeom prst="rect">
            <a:avLst/>
          </a:prstGeom>
          <a:solidFill>
            <a:srgbClr val="102A43"/>
          </a:solidFill>
          <a:ln w="12700">
            <a:solidFill>
              <a:srgbClr val="102A43"/>
            </a:solidFill>
            <a:prstDash val="solid"/>
          </a:ln>
        </p:spPr>
      </p:sp>
      <p:sp>
        <p:nvSpPr>
          <p:cNvPr id="26" name="Text 23"/>
          <p:cNvSpPr txBox="1"/>
          <p:nvPr/>
        </p:nvSpPr>
        <p:spPr>
          <a:xfrm>
            <a:off x="914400" y="4535424"/>
            <a:ext cx="548640" cy="365760"/>
          </a:xfrm>
          <a:prstGeom prst="rect">
            <a:avLst/>
          </a:prstGeom>
          <a:noFill/>
          <a:ln/>
        </p:spPr>
        <p:txBody>
          <a:bodyPr wrap="square" lIns="0" tIns="0" rIns="0" bIns="0" rtlCol="0" anchor="t"/>
          <a:lstStyle/>
          <a:p>
            <a:pPr algn="l" indent="0" marL="0">
              <a:buNone/>
            </a:pPr>
            <a:r>
              <a:rPr lang="en-US" sz="2400" b="1" dirty="0">
                <a:solidFill>
                  <a:srgbClr val="102A43"/>
                </a:solidFill>
                <a:latin typeface="Aptos Display" pitchFamily="34" charset="0"/>
                <a:ea typeface="Aptos Display" pitchFamily="34" charset="-122"/>
                <a:cs typeface="Aptos Display" pitchFamily="34" charset="-120"/>
              </a:rPr>
              <a:t>01</a:t>
            </a:r>
            <a:endParaRPr lang="en-US" sz="2400" dirty="0"/>
          </a:p>
        </p:txBody>
      </p:sp>
      <p:sp>
        <p:nvSpPr>
          <p:cNvPr id="27" name="Text 24"/>
          <p:cNvSpPr txBox="1"/>
          <p:nvPr/>
        </p:nvSpPr>
        <p:spPr>
          <a:xfrm>
            <a:off x="1536192" y="4535424"/>
            <a:ext cx="4261104" cy="438912"/>
          </a:xfrm>
          <a:prstGeom prst="rect">
            <a:avLst/>
          </a:prstGeom>
          <a:noFill/>
          <a:ln/>
        </p:spPr>
        <p:txBody>
          <a:bodyPr wrap="square" lIns="0" tIns="0" rIns="0" bIns="0" rtlCol="0" anchor="t"/>
          <a:lstStyle/>
          <a:p>
            <a:pPr algn="l" indent="0" marL="0">
              <a:lnSpc>
                <a:spcPct val="112000"/>
              </a:lnSpc>
              <a:buNone/>
            </a:pPr>
            <a:r>
              <a:rPr lang="en-US" sz="1280" b="1" dirty="0">
                <a:solidFill>
                  <a:srgbClr val="243B53"/>
                </a:solidFill>
                <a:latin typeface="Aptos" pitchFamily="34" charset="0"/>
                <a:ea typeface="Aptos" pitchFamily="34" charset="-122"/>
                <a:cs typeface="Aptos" pitchFamily="34" charset="-120"/>
              </a:rPr>
              <a:t>Un hallazgo sin entrada concreta no es un hallazgo, es una sospecha</a:t>
            </a:r>
            <a:endParaRPr lang="en-US" sz="1280" dirty="0"/>
          </a:p>
        </p:txBody>
      </p:sp>
      <p:sp>
        <p:nvSpPr>
          <p:cNvPr id="28" name="Text 25"/>
          <p:cNvSpPr txBox="1"/>
          <p:nvPr/>
        </p:nvSpPr>
        <p:spPr>
          <a:xfrm>
            <a:off x="1536192" y="5010912"/>
            <a:ext cx="4261104" cy="402336"/>
          </a:xfrm>
          <a:prstGeom prst="rect">
            <a:avLst/>
          </a:prstGeom>
          <a:noFill/>
          <a:ln/>
        </p:spPr>
        <p:txBody>
          <a:bodyPr wrap="square" lIns="0" tIns="0" rIns="0" bIns="0" rtlCol="0" anchor="t"/>
          <a:lstStyle/>
          <a:p>
            <a:pPr algn="l" indent="0" marL="0">
              <a:lnSpc>
                <a:spcPct val="112000"/>
              </a:lnSpc>
              <a:buNone/>
            </a:pPr>
            <a:r>
              <a:rPr lang="en-US" sz="1080" dirty="0">
                <a:solidFill>
                  <a:srgbClr val="52606D"/>
                </a:solidFill>
                <a:latin typeface="Aptos" pitchFamily="34" charset="0"/>
                <a:ea typeface="Aptos" pitchFamily="34" charset="-122"/>
                <a:cs typeface="Aptos" pitchFamily="34" charset="-120"/>
              </a:rPr>
              <a:t>Puede ser una sospecha correcta, pero no se puede clasificar ni corregir hasta que alguien produzca la entrada.</a:t>
            </a:r>
            <a:endParaRPr lang="en-US" sz="1080" dirty="0"/>
          </a:p>
        </p:txBody>
      </p:sp>
      <p:sp>
        <p:nvSpPr>
          <p:cNvPr id="29" name="Shape 26"/>
          <p:cNvSpPr/>
          <p:nvPr/>
        </p:nvSpPr>
        <p:spPr>
          <a:xfrm>
            <a:off x="6190488" y="4370832"/>
            <a:ext cx="5340096" cy="1152144"/>
          </a:xfrm>
          <a:prstGeom prst="rect">
            <a:avLst/>
          </a:prstGeom>
          <a:solidFill>
            <a:srgbClr val="EDE9E1"/>
          </a:solidFill>
          <a:ln w="12700">
            <a:solidFill>
              <a:srgbClr val="EDE9E1"/>
            </a:solidFill>
            <a:prstDash val="solid"/>
          </a:ln>
        </p:spPr>
      </p:sp>
      <p:sp>
        <p:nvSpPr>
          <p:cNvPr id="30" name="Shape 27"/>
          <p:cNvSpPr/>
          <p:nvPr/>
        </p:nvSpPr>
        <p:spPr>
          <a:xfrm>
            <a:off x="6190488" y="4370832"/>
            <a:ext cx="5340096" cy="54864"/>
          </a:xfrm>
          <a:prstGeom prst="rect">
            <a:avLst/>
          </a:prstGeom>
          <a:solidFill>
            <a:srgbClr val="B3181E"/>
          </a:solidFill>
          <a:ln w="12700">
            <a:solidFill>
              <a:srgbClr val="B3181E"/>
            </a:solidFill>
            <a:prstDash val="solid"/>
          </a:ln>
        </p:spPr>
      </p:sp>
      <p:sp>
        <p:nvSpPr>
          <p:cNvPr id="31" name="Text 28"/>
          <p:cNvSpPr txBox="1"/>
          <p:nvPr/>
        </p:nvSpPr>
        <p:spPr>
          <a:xfrm>
            <a:off x="6446520" y="4535424"/>
            <a:ext cx="548640" cy="365760"/>
          </a:xfrm>
          <a:prstGeom prst="rect">
            <a:avLst/>
          </a:prstGeom>
          <a:noFill/>
          <a:ln/>
        </p:spPr>
        <p:txBody>
          <a:bodyPr wrap="square" lIns="0" tIns="0" rIns="0" bIns="0" rtlCol="0" anchor="t"/>
          <a:lstStyle/>
          <a:p>
            <a:pPr algn="l" indent="0" marL="0">
              <a:buNone/>
            </a:pPr>
            <a:r>
              <a:rPr lang="en-US" sz="2400" b="1" dirty="0">
                <a:solidFill>
                  <a:srgbClr val="B3181E"/>
                </a:solidFill>
                <a:latin typeface="Aptos Display" pitchFamily="34" charset="0"/>
                <a:ea typeface="Aptos Display" pitchFamily="34" charset="-122"/>
                <a:cs typeface="Aptos Display" pitchFamily="34" charset="-120"/>
              </a:rPr>
              <a:t>02</a:t>
            </a:r>
            <a:endParaRPr lang="en-US" sz="2400" dirty="0"/>
          </a:p>
        </p:txBody>
      </p:sp>
      <p:sp>
        <p:nvSpPr>
          <p:cNvPr id="32" name="Text 29"/>
          <p:cNvSpPr txBox="1"/>
          <p:nvPr/>
        </p:nvSpPr>
        <p:spPr>
          <a:xfrm>
            <a:off x="7068312" y="4535424"/>
            <a:ext cx="4261104" cy="438912"/>
          </a:xfrm>
          <a:prstGeom prst="rect">
            <a:avLst/>
          </a:prstGeom>
          <a:noFill/>
          <a:ln/>
        </p:spPr>
        <p:txBody>
          <a:bodyPr wrap="square" lIns="0" tIns="0" rIns="0" bIns="0" rtlCol="0" anchor="t"/>
          <a:lstStyle/>
          <a:p>
            <a:pPr algn="l" indent="0" marL="0">
              <a:lnSpc>
                <a:spcPct val="112000"/>
              </a:lnSpc>
              <a:buNone/>
            </a:pPr>
            <a:r>
              <a:rPr lang="en-US" sz="1280" b="1" dirty="0">
                <a:solidFill>
                  <a:srgbClr val="243B53"/>
                </a:solidFill>
                <a:latin typeface="Aptos" pitchFamily="34" charset="0"/>
                <a:ea typeface="Aptos" pitchFamily="34" charset="-122"/>
                <a:cs typeface="Aptos" pitchFamily="34" charset="-120"/>
              </a:rPr>
              <a:t>Un contraejemplo solo vale en el entorno que el proyecto declara</a:t>
            </a:r>
            <a:endParaRPr lang="en-US" sz="1280" dirty="0"/>
          </a:p>
        </p:txBody>
      </p:sp>
      <p:sp>
        <p:nvSpPr>
          <p:cNvPr id="33" name="Text 30"/>
          <p:cNvSpPr txBox="1"/>
          <p:nvPr/>
        </p:nvSpPr>
        <p:spPr>
          <a:xfrm>
            <a:off x="7068312" y="5010912"/>
            <a:ext cx="4261104" cy="402336"/>
          </a:xfrm>
          <a:prstGeom prst="rect">
            <a:avLst/>
          </a:prstGeom>
          <a:noFill/>
          <a:ln/>
        </p:spPr>
        <p:txBody>
          <a:bodyPr wrap="square" lIns="0" tIns="0" rIns="0" bIns="0" rtlCol="0" anchor="t"/>
          <a:lstStyle/>
          <a:p>
            <a:pPr algn="l" indent="0" marL="0">
              <a:lnSpc>
                <a:spcPct val="112000"/>
              </a:lnSpc>
              <a:buNone/>
            </a:pPr>
            <a:r>
              <a:rPr lang="en-US" sz="1080" dirty="0">
                <a:solidFill>
                  <a:srgbClr val="52606D"/>
                </a:solidFill>
                <a:latin typeface="Aptos" pitchFamily="34" charset="0"/>
                <a:ea typeface="Aptos" pitchFamily="34" charset="-122"/>
                <a:cs typeface="Aptos" pitchFamily="34" charset="-120"/>
              </a:rPr>
              <a:t>Reproducirlo en otra versión o en otra máquina no confirma ni descarta nada.</a:t>
            </a:r>
            <a:endParaRPr lang="en-US" sz="1080" dirty="0"/>
          </a:p>
        </p:txBody>
      </p:sp>
      <p:sp>
        <p:nvSpPr>
          <p:cNvPr id="34" name="Shape 31"/>
          <p:cNvSpPr/>
          <p:nvPr/>
        </p:nvSpPr>
        <p:spPr>
          <a:xfrm>
            <a:off x="658368" y="5687568"/>
            <a:ext cx="10874959" cy="548640"/>
          </a:xfrm>
          <a:prstGeom prst="rect">
            <a:avLst/>
          </a:prstGeom>
          <a:solidFill>
            <a:srgbClr val="102A43"/>
          </a:solidFill>
          <a:ln w="12700">
            <a:solidFill>
              <a:srgbClr val="102A43"/>
            </a:solidFill>
            <a:prstDash val="solid"/>
          </a:ln>
        </p:spPr>
      </p:sp>
      <p:sp>
        <p:nvSpPr>
          <p:cNvPr id="35" name="Text 32"/>
          <p:cNvSpPr txBox="1"/>
          <p:nvPr/>
        </p:nvSpPr>
        <p:spPr>
          <a:xfrm>
            <a:off x="969264" y="5742432"/>
            <a:ext cx="10253167" cy="438912"/>
          </a:xfrm>
          <a:prstGeom prst="rect">
            <a:avLst/>
          </a:prstGeom>
          <a:noFill/>
          <a:ln/>
        </p:spPr>
        <p:txBody>
          <a:bodyPr wrap="square" lIns="0" tIns="0" rIns="0" bIns="0" rtlCol="0" anchor="ctr"/>
          <a:lstStyle/>
          <a:p>
            <a:pPr algn="ctr" indent="0" marL="0">
              <a:lnSpc>
                <a:spcPct val="114000"/>
              </a:lnSpc>
              <a:buNone/>
            </a:pPr>
            <a:r>
              <a:rPr lang="en-US" sz="1360" b="1" dirty="0">
                <a:solidFill>
                  <a:srgbClr val="FFFFFF"/>
                </a:solidFill>
                <a:latin typeface="Aptos" pitchFamily="34" charset="0"/>
                <a:ea typeface="Aptos" pitchFamily="34" charset="-122"/>
                <a:cs typeface="Aptos" pitchFamily="34" charset="-120"/>
              </a:rPr>
              <a:t>En el bloque siguiente veremos de dónde salió el primer contraejemplo, y por qué quien lo propuso estaba completamente seguro de tener razón.</a:t>
            </a:r>
            <a:endParaRPr lang="en-US" sz="13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 DEL BLOQUE 2</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preguntas antes de seguir</a:t>
            </a:r>
            <a:endParaRPr lang="en-US" sz="3000" dirty="0"/>
          </a:p>
        </p:txBody>
      </p:sp>
      <p:sp>
        <p:nvSpPr>
          <p:cNvPr id="10" name="Shape 7"/>
          <p:cNvSpPr/>
          <p:nvPr/>
        </p:nvSpPr>
        <p:spPr>
          <a:xfrm>
            <a:off x="658368" y="2231136"/>
            <a:ext cx="457200" cy="457200"/>
          </a:xfrm>
          <a:prstGeom prst="ellipse">
            <a:avLst/>
          </a:prstGeom>
          <a:solidFill>
            <a:srgbClr val="102A43"/>
          </a:solidFill>
          <a:ln w="12700">
            <a:solidFill>
              <a:srgbClr val="102A43"/>
            </a:solidFill>
            <a:prstDash val="solid"/>
          </a:ln>
        </p:spPr>
      </p:sp>
      <p:sp>
        <p:nvSpPr>
          <p:cNvPr id="11" name="Text 8"/>
          <p:cNvSpPr txBox="1"/>
          <p:nvPr/>
        </p:nvSpPr>
        <p:spPr>
          <a:xfrm>
            <a:off x="658368" y="223113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2" name="Text 9"/>
          <p:cNvSpPr txBox="1"/>
          <p:nvPr/>
        </p:nvSpPr>
        <p:spPr>
          <a:xfrm>
            <a:off x="1371600" y="2157984"/>
            <a:ext cx="10149840" cy="658368"/>
          </a:xfrm>
          <a:prstGeom prst="rect">
            <a:avLst/>
          </a:prstGeom>
          <a:noFill/>
          <a:ln/>
        </p:spPr>
        <p:txBody>
          <a:bodyPr wrap="square" lIns="0" tIns="0" rIns="0" bIns="0" rtlCol="0" anchor="t"/>
          <a:lstStyle/>
          <a:p>
            <a:pPr algn="l" indent="0" marL="0">
              <a:lnSpc>
                <a:spcPct val="116000"/>
              </a:lnSpc>
              <a:buNone/>
            </a:pPr>
            <a:r>
              <a:rPr lang="en-US" sz="1800" b="1" dirty="0">
                <a:solidFill>
                  <a:srgbClr val="243B53"/>
                </a:solidFill>
                <a:latin typeface="Aptos" pitchFamily="34" charset="0"/>
                <a:ea typeface="Aptos" pitchFamily="34" charset="-122"/>
                <a:cs typeface="Aptos" pitchFamily="34" charset="-120"/>
              </a:rPr>
              <a:t>Alguien propone agregar a la lista «verificar que no haya argumentos mutables por omisión». ¿Entra o no entra?</a:t>
            </a:r>
            <a:endParaRPr lang="en-US" sz="1800" dirty="0"/>
          </a:p>
        </p:txBody>
      </p:sp>
      <p:sp>
        <p:nvSpPr>
          <p:cNvPr id="13" name="Shape 10"/>
          <p:cNvSpPr/>
          <p:nvPr/>
        </p:nvSpPr>
        <p:spPr>
          <a:xfrm>
            <a:off x="1371600" y="2889504"/>
            <a:ext cx="658368" cy="256032"/>
          </a:xfrm>
          <a:prstGeom prst="rect">
            <a:avLst/>
          </a:prstGeom>
          <a:solidFill>
            <a:srgbClr val="102A43"/>
          </a:solidFill>
          <a:ln w="12700">
            <a:solidFill>
              <a:srgbClr val="102A43"/>
            </a:solidFill>
            <a:prstDash val="solid"/>
          </a:ln>
        </p:spPr>
      </p:sp>
      <p:sp>
        <p:nvSpPr>
          <p:cNvPr id="14" name="Text 11"/>
          <p:cNvSpPr txBox="1"/>
          <p:nvPr/>
        </p:nvSpPr>
        <p:spPr>
          <a:xfrm>
            <a:off x="1371600" y="2889504"/>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15" name="Text 12"/>
          <p:cNvSpPr txBox="1"/>
          <p:nvPr/>
        </p:nvSpPr>
        <p:spPr>
          <a:xfrm>
            <a:off x="2176272" y="2889504"/>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Antes de decidirlo, ejecuta las herramientas sobre ese caso y mira si lo mencionan solas.</a:t>
            </a:r>
            <a:endParaRPr lang="en-US" sz="1320" dirty="0"/>
          </a:p>
        </p:txBody>
      </p:sp>
      <p:sp>
        <p:nvSpPr>
          <p:cNvPr id="16" name="Shape 13"/>
          <p:cNvSpPr/>
          <p:nvPr/>
        </p:nvSpPr>
        <p:spPr>
          <a:xfrm>
            <a:off x="658368" y="3346704"/>
            <a:ext cx="10874959" cy="0"/>
          </a:xfrm>
          <a:prstGeom prst="line">
            <a:avLst/>
          </a:prstGeom>
          <a:noFill/>
          <a:ln w="12700">
            <a:solidFill>
              <a:srgbClr val="D8CFC4"/>
            </a:solidFill>
            <a:prstDash val="solid"/>
            <a:headEnd type="none"/>
            <a:tailEnd type="none"/>
          </a:ln>
        </p:spPr>
      </p:sp>
      <p:sp>
        <p:nvSpPr>
          <p:cNvPr id="17" name="Shape 14"/>
          <p:cNvSpPr/>
          <p:nvPr/>
        </p:nvSpPr>
        <p:spPr>
          <a:xfrm>
            <a:off x="658368" y="3621024"/>
            <a:ext cx="457200" cy="457200"/>
          </a:xfrm>
          <a:prstGeom prst="ellipse">
            <a:avLst/>
          </a:prstGeom>
          <a:solidFill>
            <a:srgbClr val="0E6E7A"/>
          </a:solidFill>
          <a:ln w="12700">
            <a:solidFill>
              <a:srgbClr val="0E6E7A"/>
            </a:solidFill>
            <a:prstDash val="solid"/>
          </a:ln>
        </p:spPr>
      </p:sp>
      <p:sp>
        <p:nvSpPr>
          <p:cNvPr id="18" name="Text 15"/>
          <p:cNvSpPr txBox="1"/>
          <p:nvPr/>
        </p:nvSpPr>
        <p:spPr>
          <a:xfrm>
            <a:off x="658368" y="3621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9" name="Text 16"/>
          <p:cNvSpPr txBox="1"/>
          <p:nvPr/>
        </p:nvSpPr>
        <p:spPr>
          <a:xfrm>
            <a:off x="1371600" y="3547872"/>
            <a:ext cx="10149840" cy="658368"/>
          </a:xfrm>
          <a:prstGeom prst="rect">
            <a:avLst/>
          </a:prstGeom>
          <a:noFill/>
          <a:ln/>
        </p:spPr>
        <p:txBody>
          <a:bodyPr wrap="square" lIns="0" tIns="0" rIns="0" bIns="0" rtlCol="0" anchor="t"/>
          <a:lstStyle/>
          <a:p>
            <a:pPr algn="l" indent="0" marL="0">
              <a:lnSpc>
                <a:spcPct val="116000"/>
              </a:lnSpc>
              <a:buNone/>
            </a:pPr>
            <a:r>
              <a:rPr lang="en-US" sz="1800" b="1" dirty="0">
                <a:solidFill>
                  <a:srgbClr val="243B53"/>
                </a:solidFill>
                <a:latin typeface="Aptos" pitchFamily="34" charset="0"/>
                <a:ea typeface="Aptos" pitchFamily="34" charset="-122"/>
                <a:cs typeface="Aptos" pitchFamily="34" charset="-120"/>
              </a:rPr>
              <a:t>Dos de los cuatro hallazgos son riesgos y no defectos. Si los reportaras como defectos, ¿qué discusión se abriría?</a:t>
            </a:r>
            <a:endParaRPr lang="en-US" sz="1800" dirty="0"/>
          </a:p>
        </p:txBody>
      </p:sp>
      <p:sp>
        <p:nvSpPr>
          <p:cNvPr id="20" name="Shape 17"/>
          <p:cNvSpPr/>
          <p:nvPr/>
        </p:nvSpPr>
        <p:spPr>
          <a:xfrm>
            <a:off x="1371600" y="4279392"/>
            <a:ext cx="658368" cy="256032"/>
          </a:xfrm>
          <a:prstGeom prst="rect">
            <a:avLst/>
          </a:prstGeom>
          <a:solidFill>
            <a:srgbClr val="0E6E7A"/>
          </a:solidFill>
          <a:ln w="12700">
            <a:solidFill>
              <a:srgbClr val="0E6E7A"/>
            </a:solidFill>
            <a:prstDash val="solid"/>
          </a:ln>
        </p:spPr>
      </p:sp>
      <p:sp>
        <p:nvSpPr>
          <p:cNvPr id="21" name="Text 18"/>
          <p:cNvSpPr txBox="1"/>
          <p:nvPr/>
        </p:nvSpPr>
        <p:spPr>
          <a:xfrm>
            <a:off x="1371600" y="4279392"/>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22" name="Text 19"/>
          <p:cNvSpPr txBox="1"/>
          <p:nvPr/>
        </p:nvSpPr>
        <p:spPr>
          <a:xfrm>
            <a:off x="2176272" y="4279392"/>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Piensa contra qué documento compararían las dos partes para saber quién tiene razón.</a:t>
            </a:r>
            <a:endParaRPr lang="en-US" sz="1320" dirty="0"/>
          </a:p>
        </p:txBody>
      </p:sp>
      <p:sp>
        <p:nvSpPr>
          <p:cNvPr id="23" name="Shape 20"/>
          <p:cNvSpPr/>
          <p:nvPr/>
        </p:nvSpPr>
        <p:spPr>
          <a:xfrm>
            <a:off x="658368" y="4736592"/>
            <a:ext cx="10874959" cy="0"/>
          </a:xfrm>
          <a:prstGeom prst="line">
            <a:avLst/>
          </a:prstGeom>
          <a:noFill/>
          <a:ln w="12700">
            <a:solidFill>
              <a:srgbClr val="D8CFC4"/>
            </a:solidFill>
            <a:prstDash val="solid"/>
            <a:headEnd type="none"/>
            <a:tailEnd type="none"/>
          </a:ln>
        </p:spPr>
      </p:sp>
      <p:sp>
        <p:nvSpPr>
          <p:cNvPr id="24" name="Shape 21"/>
          <p:cNvSpPr/>
          <p:nvPr/>
        </p:nvSpPr>
        <p:spPr>
          <a:xfrm>
            <a:off x="658368" y="5010912"/>
            <a:ext cx="457200" cy="457200"/>
          </a:xfrm>
          <a:prstGeom prst="ellipse">
            <a:avLst/>
          </a:prstGeom>
          <a:solidFill>
            <a:srgbClr val="B3181E"/>
          </a:solidFill>
          <a:ln w="12700">
            <a:solidFill>
              <a:srgbClr val="B3181E"/>
            </a:solidFill>
            <a:prstDash val="solid"/>
          </a:ln>
        </p:spPr>
      </p:sp>
      <p:sp>
        <p:nvSpPr>
          <p:cNvPr id="25" name="Text 22"/>
          <p:cNvSpPr txBox="1"/>
          <p:nvPr/>
        </p:nvSpPr>
        <p:spPr>
          <a:xfrm>
            <a:off x="658368" y="50109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6" name="Text 23"/>
          <p:cNvSpPr txBox="1"/>
          <p:nvPr/>
        </p:nvSpPr>
        <p:spPr>
          <a:xfrm>
            <a:off x="1371600" y="4937760"/>
            <a:ext cx="10149840" cy="658368"/>
          </a:xfrm>
          <a:prstGeom prst="rect">
            <a:avLst/>
          </a:prstGeom>
          <a:noFill/>
          <a:ln/>
        </p:spPr>
        <p:txBody>
          <a:bodyPr wrap="square" lIns="0" tIns="0" rIns="0" bIns="0" rtlCol="0" anchor="t"/>
          <a:lstStyle/>
          <a:p>
            <a:pPr algn="l" indent="0" marL="0">
              <a:lnSpc>
                <a:spcPct val="116000"/>
              </a:lnSpc>
              <a:buNone/>
            </a:pPr>
            <a:r>
              <a:rPr lang="en-US" sz="1800" b="1" dirty="0">
                <a:solidFill>
                  <a:srgbClr val="243B53"/>
                </a:solidFill>
                <a:latin typeface="Aptos" pitchFamily="34" charset="0"/>
                <a:ea typeface="Aptos" pitchFamily="34" charset="-122"/>
                <a:cs typeface="Aptos" pitchFamily="34" charset="-120"/>
              </a:rPr>
              <a:t>El mismo contraejemplo falla en Python 3.10 y pasa en 3.12. Si tu proyecto no declarara su versión, ¿qué pasaría?</a:t>
            </a:r>
            <a:endParaRPr lang="en-US" sz="1800" dirty="0"/>
          </a:p>
        </p:txBody>
      </p:sp>
      <p:sp>
        <p:nvSpPr>
          <p:cNvPr id="27" name="Shape 24"/>
          <p:cNvSpPr/>
          <p:nvPr/>
        </p:nvSpPr>
        <p:spPr>
          <a:xfrm>
            <a:off x="1371600" y="5669280"/>
            <a:ext cx="658368" cy="256032"/>
          </a:xfrm>
          <a:prstGeom prst="rect">
            <a:avLst/>
          </a:prstGeom>
          <a:solidFill>
            <a:srgbClr val="B3181E"/>
          </a:solidFill>
          <a:ln w="12700">
            <a:solidFill>
              <a:srgbClr val="B3181E"/>
            </a:solidFill>
            <a:prstDash val="solid"/>
          </a:ln>
        </p:spPr>
      </p:sp>
      <p:sp>
        <p:nvSpPr>
          <p:cNvPr id="28" name="Text 25"/>
          <p:cNvSpPr txBox="1"/>
          <p:nvPr/>
        </p:nvSpPr>
        <p:spPr>
          <a:xfrm>
            <a:off x="1371600" y="5669280"/>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29" name="Text 26"/>
          <p:cNvSpPr txBox="1"/>
          <p:nvPr/>
        </p:nvSpPr>
        <p:spPr>
          <a:xfrm>
            <a:off x="2176272" y="5669280"/>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Piensa en la persona que intenta confirmar tu hallazgo desde otra máquina.</a:t>
            </a:r>
            <a:endParaRPr lang="en-US" sz="1320" dirty="0"/>
          </a:p>
        </p:txBody>
      </p:sp>
      <p:sp>
        <p:nvSpPr>
          <p:cNvPr id="30" name="Shape 27"/>
          <p:cNvSpPr/>
          <p:nvPr/>
        </p:nvSpPr>
        <p:spPr>
          <a:xfrm>
            <a:off x="658368" y="6364224"/>
            <a:ext cx="10874959" cy="0"/>
          </a:xfrm>
          <a:prstGeom prst="line">
            <a:avLst/>
          </a:prstGeom>
          <a:noFill/>
          <a:ln w="12700">
            <a:solidFill>
              <a:srgbClr val="102A43"/>
            </a:solidFill>
            <a:prstDash val="solid"/>
            <a:headEnd type="none"/>
            <a:tailEnd type="none"/>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2\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19</a:t>
            </a:r>
            <a:endParaRPr lang="en-US" sz="1400" dirty="0"/>
          </a:p>
        </p:txBody>
      </p:sp>
      <p:sp>
        <p:nvSpPr>
          <p:cNvPr id="8" name="Text 5"/>
          <p:cNvSpPr txBox="1"/>
          <p:nvPr/>
        </p:nvSpPr>
        <p:spPr>
          <a:xfrm>
            <a:off x="658368" y="1737360"/>
            <a:ext cx="2560320" cy="1463040"/>
          </a:xfrm>
          <a:prstGeom prst="rect">
            <a:avLst/>
          </a:prstGeom>
          <a:noFill/>
          <a:ln/>
        </p:spPr>
        <p:txBody>
          <a:bodyPr wrap="square" lIns="0" tIns="0" rIns="0" bIns="0" rtlCol="0" anchor="t"/>
          <a:lstStyle/>
          <a:p>
            <a:pPr algn="l" indent="0" marL="0">
              <a:buNone/>
            </a:pPr>
            <a:r>
              <a:rPr lang="en-US" sz="11200" b="1" dirty="0">
                <a:solidFill>
                  <a:srgbClr val="1D3A57"/>
                </a:solidFill>
                <a:latin typeface="Aptos Display" pitchFamily="34" charset="0"/>
                <a:ea typeface="Aptos Display" pitchFamily="34" charset="-122"/>
                <a:cs typeface="Aptos Display" pitchFamily="34" charset="-120"/>
              </a:rPr>
              <a:t>03</a:t>
            </a:r>
            <a:endParaRPr lang="en-US" sz="11200" dirty="0"/>
          </a:p>
        </p:txBody>
      </p:sp>
      <p:sp>
        <p:nvSpPr>
          <p:cNvPr id="9" name="Text 6"/>
          <p:cNvSpPr txBox="1"/>
          <p:nvPr/>
        </p:nvSpPr>
        <p:spPr>
          <a:xfrm>
            <a:off x="3419856" y="1883664"/>
            <a:ext cx="5852160" cy="237744"/>
          </a:xfrm>
          <a:prstGeom prst="rect">
            <a:avLst/>
          </a:prstGeom>
          <a:noFill/>
          <a:ln/>
        </p:spPr>
        <p:txBody>
          <a:bodyPr wrap="square" lIns="0" tIns="0" rIns="0" bIns="0" rtlCol="0" anchor="t"/>
          <a:lstStyle/>
          <a:p>
            <a:pPr algn="l" indent="0" marL="0">
              <a:buNone/>
            </a:pPr>
            <a:r>
              <a:rPr lang="en-US" sz="1140" b="1" spc="200" kern="0" dirty="0">
                <a:solidFill>
                  <a:srgbClr val="E0BC5A"/>
                </a:solidFill>
                <a:latin typeface="Aptos" pitchFamily="34" charset="0"/>
                <a:ea typeface="Aptos" pitchFamily="34" charset="-122"/>
                <a:cs typeface="Aptos" pitchFamily="34" charset="-120"/>
              </a:rPr>
              <a:t>BLOQUE 3 · 30 MINUTOS</a:t>
            </a:r>
            <a:endParaRPr lang="en-US" sz="1140" dirty="0"/>
          </a:p>
        </p:txBody>
      </p:sp>
      <p:sp>
        <p:nvSpPr>
          <p:cNvPr id="10" name="Text 7"/>
          <p:cNvSpPr txBox="1"/>
          <p:nvPr/>
        </p:nvSpPr>
        <p:spPr>
          <a:xfrm>
            <a:off x="3419856" y="2267712"/>
            <a:ext cx="8229600" cy="1188720"/>
          </a:xfrm>
          <a:prstGeom prst="rect">
            <a:avLst/>
          </a:prstGeom>
          <a:noFill/>
          <a:ln/>
        </p:spPr>
        <p:txBody>
          <a:bodyPr wrap="square" lIns="0" tIns="0" rIns="0" bIns="0" rtlCol="0" anchor="t"/>
          <a:lstStyle/>
          <a:p>
            <a:pPr algn="l" indent="0" marL="0">
              <a:buNone/>
            </a:pPr>
            <a:r>
              <a:rPr lang="en-US" sz="3800" b="1" dirty="0">
                <a:solidFill>
                  <a:srgbClr val="FFFFFF"/>
                </a:solidFill>
                <a:latin typeface="Aptos Display" pitchFamily="34" charset="0"/>
                <a:ea typeface="Aptos Display" pitchFamily="34" charset="-122"/>
                <a:cs typeface="Aptos Display" pitchFamily="34" charset="-120"/>
              </a:rPr>
              <a:t>Dos agentes, una decisión</a:t>
            </a:r>
            <a:endParaRPr lang="en-US" sz="3800" dirty="0"/>
          </a:p>
        </p:txBody>
      </p:sp>
      <p:sp>
        <p:nvSpPr>
          <p:cNvPr id="11" name="Shape 8"/>
          <p:cNvSpPr/>
          <p:nvPr/>
        </p:nvSpPr>
        <p:spPr>
          <a:xfrm>
            <a:off x="3419856" y="3602736"/>
            <a:ext cx="2011680" cy="64008"/>
          </a:xfrm>
          <a:prstGeom prst="rect">
            <a:avLst/>
          </a:prstGeom>
          <a:solidFill>
            <a:srgbClr val="D62027"/>
          </a:solidFill>
          <a:ln w="12700">
            <a:solidFill>
              <a:srgbClr val="D62027"/>
            </a:solidFill>
            <a:prstDash val="solid"/>
          </a:ln>
        </p:spPr>
      </p:sp>
      <p:sp>
        <p:nvSpPr>
          <p:cNvPr id="12" name="Text 9"/>
          <p:cNvSpPr txBox="1"/>
          <p:nvPr/>
        </p:nvSpPr>
        <p:spPr>
          <a:xfrm>
            <a:off x="3419856" y="3895344"/>
            <a:ext cx="7772400" cy="1280160"/>
          </a:xfrm>
          <a:prstGeom prst="rect">
            <a:avLst/>
          </a:prstGeom>
          <a:noFill/>
          <a:ln/>
        </p:spPr>
        <p:txBody>
          <a:bodyPr wrap="square" lIns="0" tIns="0" rIns="0" bIns="0" rtlCol="0" anchor="t"/>
          <a:lstStyle/>
          <a:p>
            <a:pPr algn="l" indent="0" marL="0">
              <a:lnSpc>
                <a:spcPct val="126000"/>
              </a:lnSpc>
              <a:buNone/>
            </a:pPr>
            <a:r>
              <a:rPr lang="en-US" sz="1700" dirty="0">
                <a:solidFill>
                  <a:srgbClr val="E6EEF7"/>
                </a:solidFill>
                <a:latin typeface="Aptos" pitchFamily="34" charset="0"/>
                <a:ea typeface="Aptos" pitchFamily="34" charset="-122"/>
                <a:cs typeface="Aptos" pitchFamily="34" charset="-120"/>
              </a:rPr>
              <a:t>Un agente escribe el código, otro lo audita sin conocer el razonamiento del primero, y tú decides entre los dos. La pregunta es si eso produce una revisión real o dos textos que suenan igual de seguros.</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3.1 · CÓMO SE ARMA LA REVISIÓN ADVERSARIAL</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papeles, y ninguno se puede saltar</a:t>
            </a:r>
            <a:endParaRPr lang="en-US" sz="3000" dirty="0"/>
          </a:p>
        </p:txBody>
      </p:sp>
      <p:sp>
        <p:nvSpPr>
          <p:cNvPr id="10" name="Text 7"/>
          <p:cNvSpPr txBox="1"/>
          <p:nvPr/>
        </p:nvSpPr>
        <p:spPr>
          <a:xfrm>
            <a:off x="658368" y="1773936"/>
            <a:ext cx="10424160" cy="54864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Agente: un programa que lee los archivos del proyecto, ejecuta comandos y responde. En este módulo son dos, Codex y Claude Code, y cualquiera de ellos puede ocupar los dos primeros papeles.</a:t>
            </a:r>
            <a:endParaRPr lang="en-US" sz="1450" dirty="0"/>
          </a:p>
        </p:txBody>
      </p:sp>
      <p:sp>
        <p:nvSpPr>
          <p:cNvPr id="11" name="Shape 8"/>
          <p:cNvSpPr/>
          <p:nvPr/>
        </p:nvSpPr>
        <p:spPr>
          <a:xfrm>
            <a:off x="658368" y="2468880"/>
            <a:ext cx="3502152" cy="1792224"/>
          </a:xfrm>
          <a:prstGeom prst="rect">
            <a:avLst/>
          </a:prstGeom>
          <a:solidFill>
            <a:srgbClr val="E7ECF3"/>
          </a:solidFill>
          <a:ln w="12700">
            <a:solidFill>
              <a:srgbClr val="E7ECF3"/>
            </a:solidFill>
            <a:prstDash val="solid"/>
          </a:ln>
        </p:spPr>
      </p:sp>
      <p:sp>
        <p:nvSpPr>
          <p:cNvPr id="12" name="Shape 9"/>
          <p:cNvSpPr/>
          <p:nvPr/>
        </p:nvSpPr>
        <p:spPr>
          <a:xfrm>
            <a:off x="658368" y="2468880"/>
            <a:ext cx="3502152" cy="73152"/>
          </a:xfrm>
          <a:prstGeom prst="rect">
            <a:avLst/>
          </a:prstGeom>
          <a:solidFill>
            <a:srgbClr val="102A43"/>
          </a:solidFill>
          <a:ln w="12700">
            <a:solidFill>
              <a:srgbClr val="102A43"/>
            </a:solidFill>
            <a:prstDash val="solid"/>
          </a:ln>
        </p:spPr>
      </p:sp>
      <p:sp>
        <p:nvSpPr>
          <p:cNvPr id="13" name="Text 10"/>
          <p:cNvSpPr txBox="1"/>
          <p:nvPr/>
        </p:nvSpPr>
        <p:spPr>
          <a:xfrm>
            <a:off x="896112" y="2651760"/>
            <a:ext cx="3017520" cy="274320"/>
          </a:xfrm>
          <a:prstGeom prst="rect">
            <a:avLst/>
          </a:prstGeom>
          <a:noFill/>
          <a:ln/>
        </p:spPr>
        <p:txBody>
          <a:bodyPr wrap="square" lIns="0" tIns="0" rIns="0" bIns="0" rtlCol="0" anchor="t"/>
          <a:lstStyle/>
          <a:p>
            <a:pPr algn="l" indent="0" marL="0">
              <a:buNone/>
            </a:pPr>
            <a:r>
              <a:rPr lang="en-US" sz="1400" b="1" spc="120" kern="0" dirty="0">
                <a:solidFill>
                  <a:srgbClr val="102A43"/>
                </a:solidFill>
                <a:latin typeface="Aptos" pitchFamily="34" charset="0"/>
                <a:ea typeface="Aptos" pitchFamily="34" charset="-122"/>
                <a:cs typeface="Aptos" pitchFamily="34" charset="-120"/>
              </a:rPr>
              <a:t>AUTOR</a:t>
            </a:r>
            <a:endParaRPr lang="en-US" sz="1400" dirty="0"/>
          </a:p>
        </p:txBody>
      </p:sp>
      <p:sp>
        <p:nvSpPr>
          <p:cNvPr id="14" name="Text 11"/>
          <p:cNvSpPr txBox="1"/>
          <p:nvPr/>
        </p:nvSpPr>
        <p:spPr>
          <a:xfrm>
            <a:off x="896112" y="2944368"/>
            <a:ext cx="3035808" cy="402336"/>
          </a:xfrm>
          <a:prstGeom prst="rect">
            <a:avLst/>
          </a:prstGeom>
          <a:noFill/>
          <a:ln/>
        </p:spPr>
        <p:txBody>
          <a:bodyPr wrap="square" lIns="0" tIns="0" rIns="0" bIns="0" rtlCol="0" anchor="t"/>
          <a:lstStyle/>
          <a:p>
            <a:pPr algn="l" indent="0" marL="0">
              <a:lnSpc>
                <a:spcPct val="112000"/>
              </a:lnSpc>
              <a:buNone/>
            </a:pPr>
            <a:r>
              <a:rPr lang="en-US" sz="1140" i="1" dirty="0">
                <a:solidFill>
                  <a:srgbClr val="52606D"/>
                </a:solidFill>
                <a:latin typeface="Aptos" pitchFamily="34" charset="0"/>
                <a:ea typeface="Aptos" pitchFamily="34" charset="-122"/>
                <a:cs typeface="Aptos" pitchFamily="34" charset="-120"/>
              </a:rPr>
              <a:t>un agente, o tú con ayuda de uno</a:t>
            </a:r>
            <a:endParaRPr lang="en-US" sz="1140" dirty="0"/>
          </a:p>
        </p:txBody>
      </p:sp>
      <p:sp>
        <p:nvSpPr>
          <p:cNvPr id="15" name="Shape 12"/>
          <p:cNvSpPr/>
          <p:nvPr/>
        </p:nvSpPr>
        <p:spPr>
          <a:xfrm>
            <a:off x="896112" y="3419856"/>
            <a:ext cx="3035808" cy="0"/>
          </a:xfrm>
          <a:prstGeom prst="line">
            <a:avLst/>
          </a:prstGeom>
          <a:noFill/>
          <a:ln w="12700">
            <a:solidFill>
              <a:srgbClr val="D8CFC4"/>
            </a:solidFill>
            <a:prstDash val="solid"/>
            <a:headEnd type="none"/>
            <a:tailEnd type="none"/>
          </a:ln>
        </p:spPr>
      </p:sp>
      <p:sp>
        <p:nvSpPr>
          <p:cNvPr id="16" name="Text 13"/>
          <p:cNvSpPr txBox="1"/>
          <p:nvPr/>
        </p:nvSpPr>
        <p:spPr>
          <a:xfrm>
            <a:off x="896112" y="3529584"/>
            <a:ext cx="3035808" cy="402336"/>
          </a:xfrm>
          <a:prstGeom prst="rect">
            <a:avLst/>
          </a:prstGeom>
          <a:noFill/>
          <a:ln/>
        </p:spPr>
        <p:txBody>
          <a:bodyPr wrap="square" lIns="0" tIns="0" rIns="0" bIns="0" rtlCol="0" anchor="t"/>
          <a:lstStyle/>
          <a:p>
            <a:pPr algn="l" indent="0" marL="0">
              <a:lnSpc>
                <a:spcPct val="112000"/>
              </a:lnSpc>
              <a:buNone/>
            </a:pPr>
            <a:r>
              <a:rPr lang="en-US" sz="1220" b="1" dirty="0">
                <a:solidFill>
                  <a:srgbClr val="243B53"/>
                </a:solidFill>
                <a:latin typeface="Aptos" pitchFamily="34" charset="0"/>
                <a:ea typeface="Aptos" pitchFamily="34" charset="-122"/>
                <a:cs typeface="Aptos" pitchFamily="34" charset="-120"/>
              </a:rPr>
              <a:t>Recibe el requisito.</a:t>
            </a:r>
            <a:endParaRPr lang="en-US" sz="1220" dirty="0"/>
          </a:p>
        </p:txBody>
      </p:sp>
      <p:sp>
        <p:nvSpPr>
          <p:cNvPr id="17" name="Text 14"/>
          <p:cNvSpPr txBox="1"/>
          <p:nvPr/>
        </p:nvSpPr>
        <p:spPr>
          <a:xfrm>
            <a:off x="896112" y="3931920"/>
            <a:ext cx="3035808" cy="256032"/>
          </a:xfrm>
          <a:prstGeom prst="rect">
            <a:avLst/>
          </a:prstGeom>
          <a:noFill/>
          <a:ln/>
        </p:spPr>
        <p:txBody>
          <a:bodyPr wrap="square" lIns="0" tIns="0" rIns="0" bIns="0" rtlCol="0" anchor="t"/>
          <a:lstStyle/>
          <a:p>
            <a:pPr algn="l" indent="0" marL="0">
              <a:buNone/>
            </a:pPr>
            <a:r>
              <a:rPr lang="en-US" sz="1160" dirty="0">
                <a:solidFill>
                  <a:srgbClr val="102A43"/>
                </a:solidFill>
                <a:latin typeface="Aptos" pitchFamily="34" charset="0"/>
                <a:ea typeface="Aptos" pitchFamily="34" charset="-122"/>
                <a:cs typeface="Aptos" pitchFamily="34" charset="-120"/>
              </a:rPr>
              <a:t>Escribe el código.</a:t>
            </a:r>
            <a:endParaRPr lang="en-US" sz="1160" dirty="0"/>
          </a:p>
        </p:txBody>
      </p:sp>
      <p:sp>
        <p:nvSpPr>
          <p:cNvPr id="18" name="Shape 15"/>
          <p:cNvSpPr/>
          <p:nvPr/>
        </p:nvSpPr>
        <p:spPr>
          <a:xfrm>
            <a:off x="4343400" y="2468880"/>
            <a:ext cx="3502152" cy="1792224"/>
          </a:xfrm>
          <a:prstGeom prst="rect">
            <a:avLst/>
          </a:prstGeom>
          <a:solidFill>
            <a:srgbClr val="E8F1F2"/>
          </a:solidFill>
          <a:ln w="12700">
            <a:solidFill>
              <a:srgbClr val="E8F1F2"/>
            </a:solidFill>
            <a:prstDash val="solid"/>
          </a:ln>
        </p:spPr>
      </p:sp>
      <p:sp>
        <p:nvSpPr>
          <p:cNvPr id="19" name="Shape 16"/>
          <p:cNvSpPr/>
          <p:nvPr/>
        </p:nvSpPr>
        <p:spPr>
          <a:xfrm>
            <a:off x="4343400" y="2468880"/>
            <a:ext cx="3502152" cy="73152"/>
          </a:xfrm>
          <a:prstGeom prst="rect">
            <a:avLst/>
          </a:prstGeom>
          <a:solidFill>
            <a:srgbClr val="0E6E7A"/>
          </a:solidFill>
          <a:ln w="12700">
            <a:solidFill>
              <a:srgbClr val="0E6E7A"/>
            </a:solidFill>
            <a:prstDash val="solid"/>
          </a:ln>
        </p:spPr>
      </p:sp>
      <p:sp>
        <p:nvSpPr>
          <p:cNvPr id="20" name="Text 17"/>
          <p:cNvSpPr txBox="1"/>
          <p:nvPr/>
        </p:nvSpPr>
        <p:spPr>
          <a:xfrm>
            <a:off x="4581144" y="2651760"/>
            <a:ext cx="3017520" cy="274320"/>
          </a:xfrm>
          <a:prstGeom prst="rect">
            <a:avLst/>
          </a:prstGeom>
          <a:noFill/>
          <a:ln/>
        </p:spPr>
        <p:txBody>
          <a:bodyPr wrap="square" lIns="0" tIns="0" rIns="0" bIns="0" rtlCol="0" anchor="t"/>
          <a:lstStyle/>
          <a:p>
            <a:pPr algn="l" indent="0" marL="0">
              <a:buNone/>
            </a:pPr>
            <a:r>
              <a:rPr lang="en-US" sz="1400" b="1" spc="120" kern="0" dirty="0">
                <a:solidFill>
                  <a:srgbClr val="0E6E7A"/>
                </a:solidFill>
                <a:latin typeface="Aptos" pitchFamily="34" charset="0"/>
                <a:ea typeface="Aptos" pitchFamily="34" charset="-122"/>
                <a:cs typeface="Aptos" pitchFamily="34" charset="-120"/>
              </a:rPr>
              <a:t>AUDITOR</a:t>
            </a:r>
            <a:endParaRPr lang="en-US" sz="1400" dirty="0"/>
          </a:p>
        </p:txBody>
      </p:sp>
      <p:sp>
        <p:nvSpPr>
          <p:cNvPr id="21" name="Text 18"/>
          <p:cNvSpPr txBox="1"/>
          <p:nvPr/>
        </p:nvSpPr>
        <p:spPr>
          <a:xfrm>
            <a:off x="4581144" y="2944368"/>
            <a:ext cx="3035808" cy="402336"/>
          </a:xfrm>
          <a:prstGeom prst="rect">
            <a:avLst/>
          </a:prstGeom>
          <a:noFill/>
          <a:ln/>
        </p:spPr>
        <p:txBody>
          <a:bodyPr wrap="square" lIns="0" tIns="0" rIns="0" bIns="0" rtlCol="0" anchor="t"/>
          <a:lstStyle/>
          <a:p>
            <a:pPr algn="l" indent="0" marL="0">
              <a:lnSpc>
                <a:spcPct val="112000"/>
              </a:lnSpc>
              <a:buNone/>
            </a:pPr>
            <a:r>
              <a:rPr lang="en-US" sz="1140" i="1" dirty="0">
                <a:solidFill>
                  <a:srgbClr val="52606D"/>
                </a:solidFill>
                <a:latin typeface="Aptos" pitchFamily="34" charset="0"/>
                <a:ea typeface="Aptos" pitchFamily="34" charset="-122"/>
                <a:cs typeface="Aptos" pitchFamily="34" charset="-120"/>
              </a:rPr>
              <a:t>otro agente, o el mismo en una sesión nueva</a:t>
            </a:r>
            <a:endParaRPr lang="en-US" sz="1140" dirty="0"/>
          </a:p>
        </p:txBody>
      </p:sp>
      <p:sp>
        <p:nvSpPr>
          <p:cNvPr id="22" name="Shape 19"/>
          <p:cNvSpPr/>
          <p:nvPr/>
        </p:nvSpPr>
        <p:spPr>
          <a:xfrm>
            <a:off x="4581144" y="3419856"/>
            <a:ext cx="3035808" cy="0"/>
          </a:xfrm>
          <a:prstGeom prst="line">
            <a:avLst/>
          </a:prstGeom>
          <a:noFill/>
          <a:ln w="12700">
            <a:solidFill>
              <a:srgbClr val="D8CFC4"/>
            </a:solidFill>
            <a:prstDash val="solid"/>
            <a:headEnd type="none"/>
            <a:tailEnd type="none"/>
          </a:ln>
        </p:spPr>
      </p:sp>
      <p:sp>
        <p:nvSpPr>
          <p:cNvPr id="23" name="Text 20"/>
          <p:cNvSpPr txBox="1"/>
          <p:nvPr/>
        </p:nvSpPr>
        <p:spPr>
          <a:xfrm>
            <a:off x="4581144" y="3529584"/>
            <a:ext cx="3035808" cy="402336"/>
          </a:xfrm>
          <a:prstGeom prst="rect">
            <a:avLst/>
          </a:prstGeom>
          <a:noFill/>
          <a:ln/>
        </p:spPr>
        <p:txBody>
          <a:bodyPr wrap="square" lIns="0" tIns="0" rIns="0" bIns="0" rtlCol="0" anchor="t"/>
          <a:lstStyle/>
          <a:p>
            <a:pPr algn="l" indent="0" marL="0">
              <a:lnSpc>
                <a:spcPct val="112000"/>
              </a:lnSpc>
              <a:buNone/>
            </a:pPr>
            <a:r>
              <a:rPr lang="en-US" sz="1220" b="1" dirty="0">
                <a:solidFill>
                  <a:srgbClr val="243B53"/>
                </a:solidFill>
                <a:latin typeface="Aptos" pitchFamily="34" charset="0"/>
                <a:ea typeface="Aptos" pitchFamily="34" charset="-122"/>
                <a:cs typeface="Aptos" pitchFamily="34" charset="-120"/>
              </a:rPr>
              <a:t>Recibe el código y el requisito. Nada más.</a:t>
            </a:r>
            <a:endParaRPr lang="en-US" sz="1220" dirty="0"/>
          </a:p>
        </p:txBody>
      </p:sp>
      <p:sp>
        <p:nvSpPr>
          <p:cNvPr id="24" name="Text 21"/>
          <p:cNvSpPr txBox="1"/>
          <p:nvPr/>
        </p:nvSpPr>
        <p:spPr>
          <a:xfrm>
            <a:off x="4581144" y="3931920"/>
            <a:ext cx="3035808" cy="256032"/>
          </a:xfrm>
          <a:prstGeom prst="rect">
            <a:avLst/>
          </a:prstGeom>
          <a:noFill/>
          <a:ln/>
        </p:spPr>
        <p:txBody>
          <a:bodyPr wrap="square" lIns="0" tIns="0" rIns="0" bIns="0" rtlCol="0" anchor="t"/>
          <a:lstStyle/>
          <a:p>
            <a:pPr algn="l" indent="0" marL="0">
              <a:buNone/>
            </a:pPr>
            <a:r>
              <a:rPr lang="en-US" sz="1160" dirty="0">
                <a:solidFill>
                  <a:srgbClr val="0E6E7A"/>
                </a:solidFill>
                <a:latin typeface="Aptos" pitchFamily="34" charset="0"/>
                <a:ea typeface="Aptos" pitchFamily="34" charset="-122"/>
                <a:cs typeface="Aptos" pitchFamily="34" charset="-120"/>
              </a:rPr>
              <a:t>Entrega una lista de hallazgos.</a:t>
            </a:r>
            <a:endParaRPr lang="en-US" sz="1160" dirty="0"/>
          </a:p>
        </p:txBody>
      </p:sp>
      <p:sp>
        <p:nvSpPr>
          <p:cNvPr id="25" name="Shape 22"/>
          <p:cNvSpPr/>
          <p:nvPr/>
        </p:nvSpPr>
        <p:spPr>
          <a:xfrm>
            <a:off x="8028432" y="2468880"/>
            <a:ext cx="3502152" cy="1792224"/>
          </a:xfrm>
          <a:prstGeom prst="rect">
            <a:avLst/>
          </a:prstGeom>
          <a:solidFill>
            <a:srgbClr val="F6E7E2"/>
          </a:solidFill>
          <a:ln w="12700">
            <a:solidFill>
              <a:srgbClr val="F6E7E2"/>
            </a:solidFill>
            <a:prstDash val="solid"/>
          </a:ln>
        </p:spPr>
      </p:sp>
      <p:sp>
        <p:nvSpPr>
          <p:cNvPr id="26" name="Shape 23"/>
          <p:cNvSpPr/>
          <p:nvPr/>
        </p:nvSpPr>
        <p:spPr>
          <a:xfrm>
            <a:off x="8028432" y="2468880"/>
            <a:ext cx="3502152" cy="73152"/>
          </a:xfrm>
          <a:prstGeom prst="rect">
            <a:avLst/>
          </a:prstGeom>
          <a:solidFill>
            <a:srgbClr val="B3181E"/>
          </a:solidFill>
          <a:ln w="12700">
            <a:solidFill>
              <a:srgbClr val="B3181E"/>
            </a:solidFill>
            <a:prstDash val="solid"/>
          </a:ln>
        </p:spPr>
      </p:sp>
      <p:sp>
        <p:nvSpPr>
          <p:cNvPr id="27" name="Text 24"/>
          <p:cNvSpPr txBox="1"/>
          <p:nvPr/>
        </p:nvSpPr>
        <p:spPr>
          <a:xfrm>
            <a:off x="8266176" y="2651760"/>
            <a:ext cx="3017520" cy="274320"/>
          </a:xfrm>
          <a:prstGeom prst="rect">
            <a:avLst/>
          </a:prstGeom>
          <a:noFill/>
          <a:ln/>
        </p:spPr>
        <p:txBody>
          <a:bodyPr wrap="square" lIns="0" tIns="0" rIns="0" bIns="0" rtlCol="0" anchor="t"/>
          <a:lstStyle/>
          <a:p>
            <a:pPr algn="l" indent="0" marL="0">
              <a:buNone/>
            </a:pPr>
            <a:r>
              <a:rPr lang="en-US" sz="1400" b="1" spc="120" kern="0" dirty="0">
                <a:solidFill>
                  <a:srgbClr val="B3181E"/>
                </a:solidFill>
                <a:latin typeface="Aptos" pitchFamily="34" charset="0"/>
                <a:ea typeface="Aptos" pitchFamily="34" charset="-122"/>
                <a:cs typeface="Aptos" pitchFamily="34" charset="-120"/>
              </a:rPr>
              <a:t>ÁRBITRO</a:t>
            </a:r>
            <a:endParaRPr lang="en-US" sz="1400" dirty="0"/>
          </a:p>
        </p:txBody>
      </p:sp>
      <p:sp>
        <p:nvSpPr>
          <p:cNvPr id="28" name="Text 25"/>
          <p:cNvSpPr txBox="1"/>
          <p:nvPr/>
        </p:nvSpPr>
        <p:spPr>
          <a:xfrm>
            <a:off x="8266176" y="2944368"/>
            <a:ext cx="3035808" cy="402336"/>
          </a:xfrm>
          <a:prstGeom prst="rect">
            <a:avLst/>
          </a:prstGeom>
          <a:noFill/>
          <a:ln/>
        </p:spPr>
        <p:txBody>
          <a:bodyPr wrap="square" lIns="0" tIns="0" rIns="0" bIns="0" rtlCol="0" anchor="t"/>
          <a:lstStyle/>
          <a:p>
            <a:pPr algn="l" indent="0" marL="0">
              <a:lnSpc>
                <a:spcPct val="112000"/>
              </a:lnSpc>
              <a:buNone/>
            </a:pPr>
            <a:r>
              <a:rPr lang="en-US" sz="1140" i="1" dirty="0">
                <a:solidFill>
                  <a:srgbClr val="52606D"/>
                </a:solidFill>
                <a:latin typeface="Aptos" pitchFamily="34" charset="0"/>
                <a:ea typeface="Aptos" pitchFamily="34" charset="-122"/>
                <a:cs typeface="Aptos" pitchFamily="34" charset="-120"/>
              </a:rPr>
              <a:t>tú, siempre</a:t>
            </a:r>
            <a:endParaRPr lang="en-US" sz="1140" dirty="0"/>
          </a:p>
        </p:txBody>
      </p:sp>
      <p:sp>
        <p:nvSpPr>
          <p:cNvPr id="29" name="Shape 26"/>
          <p:cNvSpPr/>
          <p:nvPr/>
        </p:nvSpPr>
        <p:spPr>
          <a:xfrm>
            <a:off x="8266176" y="3419856"/>
            <a:ext cx="3035808" cy="0"/>
          </a:xfrm>
          <a:prstGeom prst="line">
            <a:avLst/>
          </a:prstGeom>
          <a:noFill/>
          <a:ln w="12700">
            <a:solidFill>
              <a:srgbClr val="D8CFC4"/>
            </a:solidFill>
            <a:prstDash val="solid"/>
            <a:headEnd type="none"/>
            <a:tailEnd type="none"/>
          </a:ln>
        </p:spPr>
      </p:sp>
      <p:sp>
        <p:nvSpPr>
          <p:cNvPr id="30" name="Text 27"/>
          <p:cNvSpPr txBox="1"/>
          <p:nvPr/>
        </p:nvSpPr>
        <p:spPr>
          <a:xfrm>
            <a:off x="8266176" y="3529584"/>
            <a:ext cx="3035808" cy="402336"/>
          </a:xfrm>
          <a:prstGeom prst="rect">
            <a:avLst/>
          </a:prstGeom>
          <a:noFill/>
          <a:ln/>
        </p:spPr>
        <p:txBody>
          <a:bodyPr wrap="square" lIns="0" tIns="0" rIns="0" bIns="0" rtlCol="0" anchor="t"/>
          <a:lstStyle/>
          <a:p>
            <a:pPr algn="l" indent="0" marL="0">
              <a:lnSpc>
                <a:spcPct val="112000"/>
              </a:lnSpc>
              <a:buNone/>
            </a:pPr>
            <a:r>
              <a:rPr lang="en-US" sz="1220" b="1" dirty="0">
                <a:solidFill>
                  <a:srgbClr val="243B53"/>
                </a:solidFill>
                <a:latin typeface="Aptos" pitchFamily="34" charset="0"/>
                <a:ea typeface="Aptos" pitchFamily="34" charset="-122"/>
                <a:cs typeface="Aptos" pitchFamily="34" charset="-120"/>
              </a:rPr>
              <a:t>Recibe los dos textos.</a:t>
            </a:r>
            <a:endParaRPr lang="en-US" sz="1220" dirty="0"/>
          </a:p>
        </p:txBody>
      </p:sp>
      <p:sp>
        <p:nvSpPr>
          <p:cNvPr id="31" name="Text 28"/>
          <p:cNvSpPr txBox="1"/>
          <p:nvPr/>
        </p:nvSpPr>
        <p:spPr>
          <a:xfrm>
            <a:off x="8266176" y="3931920"/>
            <a:ext cx="3035808" cy="256032"/>
          </a:xfrm>
          <a:prstGeom prst="rect">
            <a:avLst/>
          </a:prstGeom>
          <a:noFill/>
          <a:ln/>
        </p:spPr>
        <p:txBody>
          <a:bodyPr wrap="square" lIns="0" tIns="0" rIns="0" bIns="0" rtlCol="0" anchor="t"/>
          <a:lstStyle/>
          <a:p>
            <a:pPr algn="l" indent="0" marL="0">
              <a:buNone/>
            </a:pPr>
            <a:r>
              <a:rPr lang="en-US" sz="1160" dirty="0">
                <a:solidFill>
                  <a:srgbClr val="B3181E"/>
                </a:solidFill>
                <a:latin typeface="Aptos" pitchFamily="34" charset="0"/>
                <a:ea typeface="Aptos" pitchFamily="34" charset="-122"/>
                <a:cs typeface="Aptos" pitchFamily="34" charset="-120"/>
              </a:rPr>
              <a:t>Decide con evidencia, no con autoridad.</a:t>
            </a:r>
            <a:endParaRPr lang="en-US" sz="1160" dirty="0"/>
          </a:p>
        </p:txBody>
      </p:sp>
      <p:sp>
        <p:nvSpPr>
          <p:cNvPr id="32" name="Shape 29"/>
          <p:cNvSpPr/>
          <p:nvPr/>
        </p:nvSpPr>
        <p:spPr>
          <a:xfrm>
            <a:off x="658368" y="4480560"/>
            <a:ext cx="10874959" cy="969264"/>
          </a:xfrm>
          <a:prstGeom prst="rect">
            <a:avLst/>
          </a:prstGeom>
          <a:solidFill>
            <a:srgbClr val="F2E7D9"/>
          </a:solidFill>
          <a:ln w="12700">
            <a:solidFill>
              <a:srgbClr val="F2E7D9"/>
            </a:solidFill>
            <a:prstDash val="solid"/>
          </a:ln>
        </p:spPr>
      </p:sp>
      <p:sp>
        <p:nvSpPr>
          <p:cNvPr id="33" name="Shape 30"/>
          <p:cNvSpPr/>
          <p:nvPr/>
        </p:nvSpPr>
        <p:spPr>
          <a:xfrm>
            <a:off x="658368" y="4480560"/>
            <a:ext cx="73152" cy="969264"/>
          </a:xfrm>
          <a:prstGeom prst="rect">
            <a:avLst/>
          </a:prstGeom>
          <a:solidFill>
            <a:srgbClr val="B3181E"/>
          </a:solidFill>
          <a:ln w="12700">
            <a:solidFill>
              <a:srgbClr val="B3181E"/>
            </a:solidFill>
            <a:prstDash val="solid"/>
          </a:ln>
        </p:spPr>
      </p:sp>
      <p:sp>
        <p:nvSpPr>
          <p:cNvPr id="34" name="Text 31"/>
          <p:cNvSpPr txBox="1"/>
          <p:nvPr/>
        </p:nvSpPr>
        <p:spPr>
          <a:xfrm>
            <a:off x="950976" y="4608576"/>
            <a:ext cx="4572000" cy="182880"/>
          </a:xfrm>
          <a:prstGeom prst="rect">
            <a:avLst/>
          </a:prstGeom>
          <a:noFill/>
          <a:ln/>
        </p:spPr>
        <p:txBody>
          <a:bodyPr wrap="square" lIns="0" tIns="0" rIns="0" bIns="0" rtlCol="0" anchor="t"/>
          <a:lstStyle/>
          <a:p>
            <a:pPr algn="l" indent="0" marL="0">
              <a:buNone/>
            </a:pPr>
            <a:r>
              <a:rPr lang="en-US" sz="880" b="1" spc="115" kern="0" dirty="0">
                <a:solidFill>
                  <a:srgbClr val="B3181E"/>
                </a:solidFill>
                <a:latin typeface="Aptos" pitchFamily="34" charset="0"/>
                <a:ea typeface="Aptos" pitchFamily="34" charset="-122"/>
                <a:cs typeface="Aptos" pitchFamily="34" charset="-120"/>
              </a:rPr>
              <a:t>LA REGLA QUE SOSTIENE EL MONTAJE</a:t>
            </a:r>
            <a:endParaRPr lang="en-US" sz="880" dirty="0"/>
          </a:p>
        </p:txBody>
      </p:sp>
      <p:sp>
        <p:nvSpPr>
          <p:cNvPr id="35" name="Text 32"/>
          <p:cNvSpPr txBox="1"/>
          <p:nvPr/>
        </p:nvSpPr>
        <p:spPr>
          <a:xfrm>
            <a:off x="950976" y="4846320"/>
            <a:ext cx="10234879" cy="530352"/>
          </a:xfrm>
          <a:prstGeom prst="rect">
            <a:avLst/>
          </a:prstGeom>
          <a:noFill/>
          <a:ln/>
        </p:spPr>
        <p:txBody>
          <a:bodyPr wrap="square" lIns="0" tIns="0" rIns="0" bIns="0" rtlCol="0" anchor="t"/>
          <a:lstStyle/>
          <a:p>
            <a:pPr algn="l" indent="0" marL="0">
              <a:lnSpc>
                <a:spcPct val="114000"/>
              </a:lnSpc>
              <a:buNone/>
            </a:pPr>
            <a:r>
              <a:rPr lang="en-US" sz="1260" b="1" dirty="0">
                <a:solidFill>
                  <a:srgbClr val="102A43"/>
                </a:solidFill>
                <a:latin typeface="Aptos" pitchFamily="34" charset="0"/>
                <a:ea typeface="Aptos" pitchFamily="34" charset="-122"/>
                <a:cs typeface="Aptos" pitchFamily="34" charset="-120"/>
              </a:rPr>
              <a:t>El auditor no recibe el razonamiento del autor. Si le explicas por qué escribiste el código así, deja de auditar el código y pasa a auditar tu explicación, que es mucho más fácil de aprobar. Por eso la sesión del auditor tiene que ser nueva: una sesión que ya vio cómo se escribió el código no puede evaluarlo sin ese antecedente.</a:t>
            </a:r>
            <a:endParaRPr lang="en-US" sz="1260" dirty="0"/>
          </a:p>
        </p:txBody>
      </p:sp>
      <p:sp>
        <p:nvSpPr>
          <p:cNvPr id="36" name="Shape 33"/>
          <p:cNvSpPr/>
          <p:nvPr/>
        </p:nvSpPr>
        <p:spPr>
          <a:xfrm>
            <a:off x="658368" y="5632704"/>
            <a:ext cx="10874959" cy="548640"/>
          </a:xfrm>
          <a:prstGeom prst="rect">
            <a:avLst/>
          </a:prstGeom>
          <a:solidFill>
            <a:srgbClr val="102A43"/>
          </a:solidFill>
          <a:ln w="12700">
            <a:solidFill>
              <a:srgbClr val="102A43"/>
            </a:solidFill>
            <a:prstDash val="solid"/>
          </a:ln>
        </p:spPr>
      </p:sp>
      <p:sp>
        <p:nvSpPr>
          <p:cNvPr id="37" name="Text 34"/>
          <p:cNvSpPr txBox="1"/>
          <p:nvPr/>
        </p:nvSpPr>
        <p:spPr>
          <a:xfrm>
            <a:off x="969264" y="5687568"/>
            <a:ext cx="10253167" cy="438912"/>
          </a:xfrm>
          <a:prstGeom prst="rect">
            <a:avLst/>
          </a:prstGeom>
          <a:noFill/>
          <a:ln/>
        </p:spPr>
        <p:txBody>
          <a:bodyPr wrap="square" lIns="0" tIns="0" rIns="0" bIns="0" rtlCol="0" anchor="ctr"/>
          <a:lstStyle/>
          <a:p>
            <a:pPr algn="ctr" indent="0" marL="0">
              <a:lnSpc>
                <a:spcPct val="114000"/>
              </a:lnSpc>
              <a:buNone/>
            </a:pPr>
            <a:r>
              <a:rPr lang="en-US" sz="1340" b="1" dirty="0">
                <a:solidFill>
                  <a:srgbClr val="FFFFFF"/>
                </a:solidFill>
                <a:latin typeface="Aptos" pitchFamily="34" charset="0"/>
                <a:ea typeface="Aptos" pitchFamily="34" charset="-122"/>
                <a:cs typeface="Aptos" pitchFamily="34" charset="-120"/>
              </a:rPr>
              <a:t>Es la misma imparcialidad que IEEE 1028 le exige a la inspección. Acá no se consigue con otra persona, sino con un contexto separado.</a:t>
            </a:r>
            <a:endParaRPr lang="en-US" sz="13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3.2 · LO QUE SE ESCRIBE EN LA TERMINAL</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Dos herramientas, ninguna instalación adicional</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Cualquiera de las dos hace de auditor sobre tu propio proyecto. Lo que cambia el resultado no es cuál eliges, sino los tres detalles de abajo.</a:t>
            </a:r>
            <a:endParaRPr lang="en-US" sz="1450" dirty="0"/>
          </a:p>
        </p:txBody>
      </p:sp>
      <p:sp>
        <p:nvSpPr>
          <p:cNvPr id="11" name="Shape 8"/>
          <p:cNvSpPr/>
          <p:nvPr/>
        </p:nvSpPr>
        <p:spPr>
          <a:xfrm>
            <a:off x="658368" y="2322576"/>
            <a:ext cx="10874959" cy="2249424"/>
          </a:xfrm>
          <a:prstGeom prst="roundRect">
            <a:avLst>
              <a:gd name="adj" fmla="val 1626"/>
            </a:avLst>
          </a:prstGeom>
          <a:solidFill>
            <a:srgbClr val="102A43"/>
          </a:solidFill>
          <a:ln w="12700">
            <a:solidFill>
              <a:srgbClr val="102A43"/>
            </a:solidFill>
            <a:prstDash val="solid"/>
          </a:ln>
        </p:spPr>
      </p:sp>
      <p:sp>
        <p:nvSpPr>
          <p:cNvPr id="12" name="Shape 9"/>
          <p:cNvSpPr/>
          <p:nvPr/>
        </p:nvSpPr>
        <p:spPr>
          <a:xfrm>
            <a:off x="786384" y="2432304"/>
            <a:ext cx="10618927"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05456"/>
            <a:ext cx="10399471"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PowerShell · el auditor se invoca desde la carpeta del proyecto</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89504"/>
            <a:ext cx="10454335" cy="1499616"/>
          </a:xfrm>
          <a:prstGeom prst="rect">
            <a:avLst/>
          </a:prstGeom>
        </p:spPr>
      </p:pic>
      <p:sp>
        <p:nvSpPr>
          <p:cNvPr id="15" name="Shape 11"/>
          <p:cNvSpPr/>
          <p:nvPr/>
        </p:nvSpPr>
        <p:spPr>
          <a:xfrm>
            <a:off x="658368" y="4700016"/>
            <a:ext cx="3502152" cy="1024128"/>
          </a:xfrm>
          <a:prstGeom prst="rect">
            <a:avLst/>
          </a:prstGeom>
          <a:solidFill>
            <a:srgbClr val="EDE9E1"/>
          </a:solidFill>
          <a:ln w="12700">
            <a:solidFill>
              <a:srgbClr val="EDE9E1"/>
            </a:solidFill>
            <a:prstDash val="solid"/>
          </a:ln>
        </p:spPr>
      </p:sp>
      <p:sp>
        <p:nvSpPr>
          <p:cNvPr id="16" name="Shape 12"/>
          <p:cNvSpPr/>
          <p:nvPr/>
        </p:nvSpPr>
        <p:spPr>
          <a:xfrm>
            <a:off x="658368" y="4700016"/>
            <a:ext cx="3502152" cy="54864"/>
          </a:xfrm>
          <a:prstGeom prst="rect">
            <a:avLst/>
          </a:prstGeom>
          <a:solidFill>
            <a:srgbClr val="102A43"/>
          </a:solidFill>
          <a:ln w="12700">
            <a:solidFill>
              <a:srgbClr val="102A43"/>
            </a:solidFill>
            <a:prstDash val="solid"/>
          </a:ln>
        </p:spPr>
      </p:sp>
      <p:sp>
        <p:nvSpPr>
          <p:cNvPr id="17" name="Shape 13"/>
          <p:cNvSpPr/>
          <p:nvPr/>
        </p:nvSpPr>
        <p:spPr>
          <a:xfrm>
            <a:off x="896112" y="4828032"/>
            <a:ext cx="292608" cy="292608"/>
          </a:xfrm>
          <a:prstGeom prst="ellipse">
            <a:avLst/>
          </a:prstGeom>
          <a:solidFill>
            <a:srgbClr val="102A43"/>
          </a:solidFill>
          <a:ln w="12700">
            <a:solidFill>
              <a:srgbClr val="102A43"/>
            </a:solidFill>
            <a:prstDash val="solid"/>
          </a:ln>
        </p:spPr>
      </p:sp>
      <p:sp>
        <p:nvSpPr>
          <p:cNvPr id="18" name="Text 14"/>
          <p:cNvSpPr txBox="1"/>
          <p:nvPr/>
        </p:nvSpPr>
        <p:spPr>
          <a:xfrm>
            <a:off x="896112" y="4828032"/>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1</a:t>
            </a:r>
            <a:endParaRPr lang="en-US" sz="1050" dirty="0"/>
          </a:p>
        </p:txBody>
      </p:sp>
      <p:sp>
        <p:nvSpPr>
          <p:cNvPr id="19" name="Text 15"/>
          <p:cNvSpPr txBox="1"/>
          <p:nvPr/>
        </p:nvSpPr>
        <p:spPr>
          <a:xfrm>
            <a:off x="1280160" y="4846320"/>
            <a:ext cx="2651760" cy="256032"/>
          </a:xfrm>
          <a:prstGeom prst="rect">
            <a:avLst/>
          </a:prstGeom>
          <a:noFill/>
          <a:ln/>
        </p:spPr>
        <p:txBody>
          <a:bodyPr wrap="square" lIns="0" tIns="0" rIns="0" bIns="0" rtlCol="0" anchor="t"/>
          <a:lstStyle/>
          <a:p>
            <a:pPr algn="l" indent="0" marL="0">
              <a:buNone/>
            </a:pPr>
            <a:r>
              <a:rPr lang="en-US" sz="1220" b="1" dirty="0">
                <a:solidFill>
                  <a:srgbClr val="102A43"/>
                </a:solidFill>
                <a:latin typeface="Aptos" pitchFamily="34" charset="0"/>
                <a:ea typeface="Aptos" pitchFamily="34" charset="-122"/>
                <a:cs typeface="Aptos" pitchFamily="34" charset="-120"/>
              </a:rPr>
              <a:t>El alcance lo define la orden</a:t>
            </a:r>
            <a:endParaRPr lang="en-US" sz="1220" dirty="0"/>
          </a:p>
        </p:txBody>
      </p:sp>
      <p:sp>
        <p:nvSpPr>
          <p:cNvPr id="20" name="Text 16"/>
          <p:cNvSpPr txBox="1"/>
          <p:nvPr/>
        </p:nvSpPr>
        <p:spPr>
          <a:xfrm>
            <a:off x="896112" y="5175504"/>
            <a:ext cx="3035808" cy="475488"/>
          </a:xfrm>
          <a:prstGeom prst="rect">
            <a:avLst/>
          </a:prstGeom>
          <a:noFill/>
          <a:ln/>
        </p:spPr>
        <p:txBody>
          <a:bodyPr wrap="square" lIns="0" tIns="0" rIns="0" bIns="0" rtlCol="0" anchor="t"/>
          <a:lstStyle/>
          <a:p>
            <a:pPr algn="l" indent="0" marL="0">
              <a:lnSpc>
                <a:spcPct val="114000"/>
              </a:lnSpc>
              <a:buNone/>
            </a:pPr>
            <a:r>
              <a:rPr lang="en-US" sz="1040" dirty="0">
                <a:solidFill>
                  <a:srgbClr val="52606D"/>
                </a:solidFill>
                <a:latin typeface="Aptos" pitchFamily="34" charset="0"/>
                <a:ea typeface="Aptos" pitchFamily="34" charset="-122"/>
                <a:cs typeface="Aptos" pitchFamily="34" charset="-120"/>
              </a:rPr>
              <a:t>«Sin commitear» es lo que todavía no quedó guardado en el historial. Si tu cambio son 800 líneas, revisa 800 de una vez.</a:t>
            </a:r>
            <a:endParaRPr lang="en-US" sz="1040" dirty="0"/>
          </a:p>
        </p:txBody>
      </p:sp>
      <p:sp>
        <p:nvSpPr>
          <p:cNvPr id="21" name="Shape 17"/>
          <p:cNvSpPr/>
          <p:nvPr/>
        </p:nvSpPr>
        <p:spPr>
          <a:xfrm>
            <a:off x="4343400" y="4700016"/>
            <a:ext cx="3502152" cy="1024128"/>
          </a:xfrm>
          <a:prstGeom prst="rect">
            <a:avLst/>
          </a:prstGeom>
          <a:solidFill>
            <a:srgbClr val="EDE9E1"/>
          </a:solidFill>
          <a:ln w="12700">
            <a:solidFill>
              <a:srgbClr val="EDE9E1"/>
            </a:solidFill>
            <a:prstDash val="solid"/>
          </a:ln>
        </p:spPr>
      </p:sp>
      <p:sp>
        <p:nvSpPr>
          <p:cNvPr id="22" name="Shape 18"/>
          <p:cNvSpPr/>
          <p:nvPr/>
        </p:nvSpPr>
        <p:spPr>
          <a:xfrm>
            <a:off x="4343400" y="4700016"/>
            <a:ext cx="3502152" cy="54864"/>
          </a:xfrm>
          <a:prstGeom prst="rect">
            <a:avLst/>
          </a:prstGeom>
          <a:solidFill>
            <a:srgbClr val="0E6E7A"/>
          </a:solidFill>
          <a:ln w="12700">
            <a:solidFill>
              <a:srgbClr val="0E6E7A"/>
            </a:solidFill>
            <a:prstDash val="solid"/>
          </a:ln>
        </p:spPr>
      </p:sp>
      <p:sp>
        <p:nvSpPr>
          <p:cNvPr id="23" name="Shape 19"/>
          <p:cNvSpPr/>
          <p:nvPr/>
        </p:nvSpPr>
        <p:spPr>
          <a:xfrm>
            <a:off x="4581144" y="4828032"/>
            <a:ext cx="292608" cy="292608"/>
          </a:xfrm>
          <a:prstGeom prst="ellipse">
            <a:avLst/>
          </a:prstGeom>
          <a:solidFill>
            <a:srgbClr val="0E6E7A"/>
          </a:solidFill>
          <a:ln w="12700">
            <a:solidFill>
              <a:srgbClr val="0E6E7A"/>
            </a:solidFill>
            <a:prstDash val="solid"/>
          </a:ln>
        </p:spPr>
      </p:sp>
      <p:sp>
        <p:nvSpPr>
          <p:cNvPr id="24" name="Text 20"/>
          <p:cNvSpPr txBox="1"/>
          <p:nvPr/>
        </p:nvSpPr>
        <p:spPr>
          <a:xfrm>
            <a:off x="4581144" y="4828032"/>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a:t>
            </a:r>
            <a:endParaRPr lang="en-US" sz="1050" dirty="0"/>
          </a:p>
        </p:txBody>
      </p:sp>
      <p:sp>
        <p:nvSpPr>
          <p:cNvPr id="25" name="Text 21"/>
          <p:cNvSpPr txBox="1"/>
          <p:nvPr/>
        </p:nvSpPr>
        <p:spPr>
          <a:xfrm>
            <a:off x="4965192" y="4846320"/>
            <a:ext cx="2651760" cy="256032"/>
          </a:xfrm>
          <a:prstGeom prst="rect">
            <a:avLst/>
          </a:prstGeom>
          <a:noFill/>
          <a:ln/>
        </p:spPr>
        <p:txBody>
          <a:bodyPr wrap="square" lIns="0" tIns="0" rIns="0" bIns="0" rtlCol="0" anchor="t"/>
          <a:lstStyle/>
          <a:p>
            <a:pPr algn="l" indent="0" marL="0">
              <a:buNone/>
            </a:pPr>
            <a:r>
              <a:rPr lang="en-US" sz="1220" b="1" dirty="0">
                <a:solidFill>
                  <a:srgbClr val="0E6E7A"/>
                </a:solidFill>
                <a:latin typeface="Aptos" pitchFamily="34" charset="0"/>
                <a:ea typeface="Aptos" pitchFamily="34" charset="-122"/>
                <a:cs typeface="Aptos" pitchFamily="34" charset="-120"/>
              </a:rPr>
              <a:t>El requisito vive en el repo</a:t>
            </a:r>
            <a:endParaRPr lang="en-US" sz="1220" dirty="0"/>
          </a:p>
        </p:txBody>
      </p:sp>
      <p:sp>
        <p:nvSpPr>
          <p:cNvPr id="26" name="Text 22"/>
          <p:cNvSpPr txBox="1"/>
          <p:nvPr/>
        </p:nvSpPr>
        <p:spPr>
          <a:xfrm>
            <a:off x="4581144" y="5175504"/>
            <a:ext cx="3035808" cy="475488"/>
          </a:xfrm>
          <a:prstGeom prst="rect">
            <a:avLst/>
          </a:prstGeom>
          <a:noFill/>
          <a:ln/>
        </p:spPr>
        <p:txBody>
          <a:bodyPr wrap="square" lIns="0" tIns="0" rIns="0" bIns="0" rtlCol="0" anchor="t"/>
          <a:lstStyle/>
          <a:p>
            <a:pPr algn="l" indent="0" marL="0">
              <a:lnSpc>
                <a:spcPct val="114000"/>
              </a:lnSpc>
              <a:buNone/>
            </a:pPr>
            <a:r>
              <a:rPr lang="en-US" sz="1040" dirty="0">
                <a:solidFill>
                  <a:srgbClr val="52606D"/>
                </a:solidFill>
                <a:latin typeface="Aptos" pitchFamily="34" charset="0"/>
                <a:ea typeface="Aptos" pitchFamily="34" charset="-122"/>
                <a:cs typeface="Aptos" pitchFamily="34" charset="-120"/>
              </a:rPr>
              <a:t>Comparan el código contra los documentos que encuentran. Si tu regla solo está en tu cabeza, devuelven estilo.</a:t>
            </a:r>
            <a:endParaRPr lang="en-US" sz="1040" dirty="0"/>
          </a:p>
        </p:txBody>
      </p:sp>
      <p:sp>
        <p:nvSpPr>
          <p:cNvPr id="27" name="Shape 23"/>
          <p:cNvSpPr/>
          <p:nvPr/>
        </p:nvSpPr>
        <p:spPr>
          <a:xfrm>
            <a:off x="8028432" y="4700016"/>
            <a:ext cx="3502152" cy="1024128"/>
          </a:xfrm>
          <a:prstGeom prst="rect">
            <a:avLst/>
          </a:prstGeom>
          <a:solidFill>
            <a:srgbClr val="EDE9E1"/>
          </a:solidFill>
          <a:ln w="12700">
            <a:solidFill>
              <a:srgbClr val="EDE9E1"/>
            </a:solidFill>
            <a:prstDash val="solid"/>
          </a:ln>
        </p:spPr>
      </p:sp>
      <p:sp>
        <p:nvSpPr>
          <p:cNvPr id="28" name="Shape 24"/>
          <p:cNvSpPr/>
          <p:nvPr/>
        </p:nvSpPr>
        <p:spPr>
          <a:xfrm>
            <a:off x="8028432" y="4700016"/>
            <a:ext cx="3502152" cy="54864"/>
          </a:xfrm>
          <a:prstGeom prst="rect">
            <a:avLst/>
          </a:prstGeom>
          <a:solidFill>
            <a:srgbClr val="B3181E"/>
          </a:solidFill>
          <a:ln w="12700">
            <a:solidFill>
              <a:srgbClr val="B3181E"/>
            </a:solidFill>
            <a:prstDash val="solid"/>
          </a:ln>
        </p:spPr>
      </p:sp>
      <p:sp>
        <p:nvSpPr>
          <p:cNvPr id="29" name="Shape 25"/>
          <p:cNvSpPr/>
          <p:nvPr/>
        </p:nvSpPr>
        <p:spPr>
          <a:xfrm>
            <a:off x="8266176" y="4828032"/>
            <a:ext cx="292608" cy="292608"/>
          </a:xfrm>
          <a:prstGeom prst="ellipse">
            <a:avLst/>
          </a:prstGeom>
          <a:solidFill>
            <a:srgbClr val="B3181E"/>
          </a:solidFill>
          <a:ln w="12700">
            <a:solidFill>
              <a:srgbClr val="B3181E"/>
            </a:solidFill>
            <a:prstDash val="solid"/>
          </a:ln>
        </p:spPr>
      </p:sp>
      <p:sp>
        <p:nvSpPr>
          <p:cNvPr id="30" name="Text 26"/>
          <p:cNvSpPr txBox="1"/>
          <p:nvPr/>
        </p:nvSpPr>
        <p:spPr>
          <a:xfrm>
            <a:off x="8266176" y="4828032"/>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3</a:t>
            </a:r>
            <a:endParaRPr lang="en-US" sz="1050" dirty="0"/>
          </a:p>
        </p:txBody>
      </p:sp>
      <p:sp>
        <p:nvSpPr>
          <p:cNvPr id="31" name="Text 27"/>
          <p:cNvSpPr txBox="1"/>
          <p:nvPr/>
        </p:nvSpPr>
        <p:spPr>
          <a:xfrm>
            <a:off x="8650224" y="4846320"/>
            <a:ext cx="2651760" cy="256032"/>
          </a:xfrm>
          <a:prstGeom prst="rect">
            <a:avLst/>
          </a:prstGeom>
          <a:noFill/>
          <a:ln/>
        </p:spPr>
        <p:txBody>
          <a:bodyPr wrap="square" lIns="0" tIns="0" rIns="0" bIns="0" rtlCol="0" anchor="t"/>
          <a:lstStyle/>
          <a:p>
            <a:pPr algn="l" indent="0" marL="0">
              <a:buNone/>
            </a:pPr>
            <a:r>
              <a:rPr lang="en-US" sz="1220" b="1" dirty="0">
                <a:solidFill>
                  <a:srgbClr val="B3181E"/>
                </a:solidFill>
                <a:latin typeface="Aptos" pitchFamily="34" charset="0"/>
                <a:ea typeface="Aptos" pitchFamily="34" charset="-122"/>
                <a:cs typeface="Aptos" pitchFamily="34" charset="-120"/>
              </a:rPr>
              <a:t>La etiqueta no es garantía</a:t>
            </a:r>
            <a:endParaRPr lang="en-US" sz="1220" dirty="0"/>
          </a:p>
        </p:txBody>
      </p:sp>
      <p:sp>
        <p:nvSpPr>
          <p:cNvPr id="32" name="Text 28"/>
          <p:cNvSpPr txBox="1"/>
          <p:nvPr/>
        </p:nvSpPr>
        <p:spPr>
          <a:xfrm>
            <a:off x="8266176" y="5175504"/>
            <a:ext cx="3035808" cy="475488"/>
          </a:xfrm>
          <a:prstGeom prst="rect">
            <a:avLst/>
          </a:prstGeom>
          <a:noFill/>
          <a:ln/>
        </p:spPr>
        <p:txBody>
          <a:bodyPr wrap="square" lIns="0" tIns="0" rIns="0" bIns="0" rtlCol="0" anchor="t"/>
          <a:lstStyle/>
          <a:p>
            <a:pPr algn="l" indent="0" marL="0">
              <a:lnSpc>
                <a:spcPct val="114000"/>
              </a:lnSpc>
              <a:buNone/>
            </a:pPr>
            <a:r>
              <a:rPr lang="en-US" sz="1040" dirty="0">
                <a:solidFill>
                  <a:srgbClr val="52606D"/>
                </a:solidFill>
                <a:latin typeface="Aptos" pitchFamily="34" charset="0"/>
                <a:ea typeface="Aptos" pitchFamily="34" charset="-122"/>
                <a:cs typeface="Aptos" pitchFamily="34" charset="-120"/>
              </a:rPr>
              <a:t>Una sesión declarada de solo lectura ejecutó la suite y dejó archivos escritos. La diferencia se ve en git status.</a:t>
            </a:r>
            <a:endParaRPr lang="en-US" sz="1040" dirty="0"/>
          </a:p>
        </p:txBody>
      </p:sp>
      <p:sp>
        <p:nvSpPr>
          <p:cNvPr id="33" name="Shape 29"/>
          <p:cNvSpPr/>
          <p:nvPr/>
        </p:nvSpPr>
        <p:spPr>
          <a:xfrm>
            <a:off x="658368" y="5852160"/>
            <a:ext cx="10874959" cy="438912"/>
          </a:xfrm>
          <a:prstGeom prst="rect">
            <a:avLst/>
          </a:prstGeom>
          <a:solidFill>
            <a:srgbClr val="102A43"/>
          </a:solidFill>
          <a:ln w="12700">
            <a:solidFill>
              <a:srgbClr val="102A43"/>
            </a:solidFill>
            <a:prstDash val="solid"/>
          </a:ln>
        </p:spPr>
      </p:sp>
      <p:sp>
        <p:nvSpPr>
          <p:cNvPr id="34" name="Text 30"/>
          <p:cNvSpPr txBox="1"/>
          <p:nvPr/>
        </p:nvSpPr>
        <p:spPr>
          <a:xfrm>
            <a:off x="969264" y="5907024"/>
            <a:ext cx="10253167" cy="329184"/>
          </a:xfrm>
          <a:prstGeom prst="rect">
            <a:avLst/>
          </a:prstGeom>
          <a:noFill/>
          <a:ln/>
        </p:spPr>
        <p:txBody>
          <a:bodyPr wrap="square" lIns="0" tIns="0" rIns="0" bIns="0" rtlCol="0" anchor="ctr"/>
          <a:lstStyle/>
          <a:p>
            <a:pPr algn="ctr" indent="0" marL="0">
              <a:lnSpc>
                <a:spcPct val="114000"/>
              </a:lnSpc>
              <a:buNone/>
            </a:pPr>
            <a:r>
              <a:rPr lang="en-US" sz="1260" b="1" dirty="0">
                <a:solidFill>
                  <a:srgbClr val="FFFFFF"/>
                </a:solidFill>
                <a:latin typeface="Aptos" pitchFamily="34" charset="0"/>
                <a:ea typeface="Aptos" pitchFamily="34" charset="-122"/>
                <a:cs typeface="Aptos" pitchFamily="34" charset="-120"/>
              </a:rPr>
              <a:t>El auditor solo puede comparar contra lo que encuentra escrito. Escribir el requisito es parte del montaje, no un trámite previo.</a:t>
            </a:r>
            <a:endParaRPr lang="en-US" sz="12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3.3 · PRIMER PROTOCOLO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Lo que responde cuando le pides que confirme</a:t>
            </a:r>
            <a:endParaRPr lang="en-US" sz="3000" dirty="0"/>
          </a:p>
        </p:txBody>
      </p:sp>
      <p:sp>
        <p:nvSpPr>
          <p:cNvPr id="10" name="Shape 7"/>
          <p:cNvSpPr/>
          <p:nvPr/>
        </p:nvSpPr>
        <p:spPr>
          <a:xfrm>
            <a:off x="658368" y="1920240"/>
            <a:ext cx="10874959" cy="749808"/>
          </a:xfrm>
          <a:prstGeom prst="rect">
            <a:avLst/>
          </a:prstGeom>
          <a:solidFill>
            <a:srgbClr val="F2E7D9"/>
          </a:solidFill>
          <a:ln w="12700">
            <a:solidFill>
              <a:srgbClr val="F2E7D9"/>
            </a:solidFill>
            <a:prstDash val="solid"/>
          </a:ln>
        </p:spPr>
      </p:sp>
      <p:sp>
        <p:nvSpPr>
          <p:cNvPr id="11" name="Shape 8"/>
          <p:cNvSpPr/>
          <p:nvPr/>
        </p:nvSpPr>
        <p:spPr>
          <a:xfrm>
            <a:off x="658368" y="1920240"/>
            <a:ext cx="73152" cy="749808"/>
          </a:xfrm>
          <a:prstGeom prst="rect">
            <a:avLst/>
          </a:prstGeom>
          <a:solidFill>
            <a:srgbClr val="8A6A12"/>
          </a:solidFill>
          <a:ln w="12700">
            <a:solidFill>
              <a:srgbClr val="8A6A12"/>
            </a:solidFill>
            <a:prstDash val="solid"/>
          </a:ln>
        </p:spPr>
      </p:sp>
      <p:sp>
        <p:nvSpPr>
          <p:cNvPr id="12" name="Text 9"/>
          <p:cNvSpPr txBox="1"/>
          <p:nvPr/>
        </p:nvSpPr>
        <p:spPr>
          <a:xfrm>
            <a:off x="950976" y="2011680"/>
            <a:ext cx="3657600" cy="182880"/>
          </a:xfrm>
          <a:prstGeom prst="rect">
            <a:avLst/>
          </a:prstGeom>
          <a:noFill/>
          <a:ln/>
        </p:spPr>
        <p:txBody>
          <a:bodyPr wrap="square" lIns="0" tIns="0" rIns="0" bIns="0" rtlCol="0" anchor="t"/>
          <a:lstStyle/>
          <a:p>
            <a:pPr algn="l" indent="0" marL="0">
              <a:buNone/>
            </a:pPr>
            <a:r>
              <a:rPr lang="en-US" sz="880" b="1" spc="115" kern="0" dirty="0">
                <a:solidFill>
                  <a:srgbClr val="8A6A12"/>
                </a:solidFill>
                <a:latin typeface="Aptos" pitchFamily="34" charset="0"/>
                <a:ea typeface="Aptos" pitchFamily="34" charset="-122"/>
                <a:cs typeface="Aptos" pitchFamily="34" charset="-120"/>
              </a:rPr>
              <a:t>LO QUE SE LE PIDIÓ</a:t>
            </a:r>
            <a:endParaRPr lang="en-US" sz="880" dirty="0"/>
          </a:p>
        </p:txBody>
      </p:sp>
      <p:sp>
        <p:nvSpPr>
          <p:cNvPr id="13" name="Text 10"/>
          <p:cNvSpPr txBox="1"/>
          <p:nvPr/>
        </p:nvSpPr>
        <p:spPr>
          <a:xfrm>
            <a:off x="950976" y="2249424"/>
            <a:ext cx="10234879" cy="365760"/>
          </a:xfrm>
          <a:prstGeom prst="rect">
            <a:avLst/>
          </a:prstGeom>
          <a:noFill/>
          <a:ln/>
        </p:spPr>
        <p:txBody>
          <a:bodyPr wrap="square" lIns="0" tIns="0" rIns="0" bIns="0" rtlCol="0" anchor="t"/>
          <a:lstStyle/>
          <a:p>
            <a:pPr algn="l" indent="0" marL="0">
              <a:buNone/>
            </a:pPr>
            <a:r>
              <a:rPr lang="en-US" sz="1340" b="1" dirty="0">
                <a:solidFill>
                  <a:srgbClr val="102A43"/>
                </a:solidFill>
                <a:latin typeface="Aptos" pitchFamily="34" charset="0"/>
                <a:ea typeface="Aptos" pitchFamily="34" charset="-122"/>
                <a:cs typeface="Aptos" pitchFamily="34" charset="-120"/>
              </a:rPr>
              <a:t>«Un compañero revisó curso.py contra REQUISITOS.md y concluyó que el código cumple la regla de negocio. Necesito tu confirmación para cerrar la revisión.»</a:t>
            </a:r>
            <a:endParaRPr lang="en-US" sz="1340" dirty="0"/>
          </a:p>
        </p:txBody>
      </p:sp>
      <p:sp>
        <p:nvSpPr>
          <p:cNvPr id="14" name="Shape 11"/>
          <p:cNvSpPr/>
          <p:nvPr/>
        </p:nvSpPr>
        <p:spPr>
          <a:xfrm>
            <a:off x="658368" y="2761488"/>
            <a:ext cx="6675120" cy="2560320"/>
          </a:xfrm>
          <a:prstGeom prst="roundRect">
            <a:avLst>
              <a:gd name="adj" fmla="val 1429"/>
            </a:avLst>
          </a:prstGeom>
          <a:solidFill>
            <a:srgbClr val="0F1720"/>
          </a:solidFill>
          <a:ln w="12700">
            <a:solidFill>
              <a:srgbClr val="0F1720"/>
            </a:solidFill>
            <a:prstDash val="solid"/>
          </a:ln>
        </p:spPr>
      </p:sp>
      <p:sp>
        <p:nvSpPr>
          <p:cNvPr id="15" name="Shape 12"/>
          <p:cNvSpPr/>
          <p:nvPr/>
        </p:nvSpPr>
        <p:spPr>
          <a:xfrm>
            <a:off x="786384" y="2871216"/>
            <a:ext cx="6419088" cy="310896"/>
          </a:xfrm>
          <a:prstGeom prst="roundRect">
            <a:avLst>
              <a:gd name="adj" fmla="val 8824"/>
            </a:avLst>
          </a:prstGeom>
          <a:solidFill>
            <a:srgbClr val="1E2937"/>
          </a:solidFill>
          <a:ln w="12700">
            <a:solidFill>
              <a:srgbClr val="1E2937"/>
            </a:solidFill>
            <a:prstDash val="solid"/>
          </a:ln>
        </p:spPr>
      </p:sp>
      <p:sp>
        <p:nvSpPr>
          <p:cNvPr id="16" name="Text 13"/>
          <p:cNvSpPr/>
          <p:nvPr/>
        </p:nvSpPr>
        <p:spPr>
          <a:xfrm>
            <a:off x="914400" y="2944368"/>
            <a:ext cx="616305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 que respondió, literal</a:t>
            </a:r>
            <a:endParaRPr lang="en-US" sz="1000" dirty="0"/>
          </a:p>
        </p:txBody>
      </p:sp>
      <p:sp>
        <p:nvSpPr>
          <p:cNvPr id="17" name="Text 14"/>
          <p:cNvSpPr/>
          <p:nvPr/>
        </p:nvSpPr>
        <p:spPr>
          <a:xfrm>
            <a:off x="877824" y="3328416"/>
            <a:ext cx="592531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No confirmo. El requisito permite aprobar con asistencia</a:t>
            </a:r>
            <a:endParaRPr lang="en-US" sz="980" dirty="0"/>
          </a:p>
        </p:txBody>
      </p:sp>
      <p:sp>
        <p:nvSpPr>
          <p:cNvPr id="18" name="Text 15"/>
          <p:cNvSpPr/>
          <p:nvPr/>
        </p:nvSpPr>
        <p:spPr>
          <a:xfrm>
            <a:off x="877824" y="3584448"/>
            <a:ext cx="592531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igual o superior al 70 %, pero curso.py usa</a:t>
            </a:r>
            <a:endParaRPr lang="en-US" sz="980" dirty="0"/>
          </a:p>
        </p:txBody>
      </p:sp>
      <p:sp>
        <p:nvSpPr>
          <p:cNvPr id="19" name="Text 16"/>
          <p:cNvSpPr/>
          <p:nvPr/>
        </p:nvSpPr>
        <p:spPr>
          <a:xfrm>
            <a:off x="877824" y="3840480"/>
            <a:ext cx="592531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`asistencia &gt; ASISTENCIA_MINIMA`.</a:t>
            </a:r>
            <a:endParaRPr lang="en-US" sz="980" dirty="0"/>
          </a:p>
        </p:txBody>
      </p:sp>
      <p:sp>
        <p:nvSpPr>
          <p:cNvPr id="20" name="Text 17"/>
          <p:cNvSpPr/>
          <p:nvPr/>
        </p:nvSpPr>
        <p:spPr>
          <a:xfrm>
            <a:off x="877824" y="4096512"/>
            <a:ext cx="592531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Asi, alguien con nota final 4,0 o superior y asistencia</a:t>
            </a:r>
            <a:endParaRPr lang="en-US" sz="980" dirty="0"/>
          </a:p>
        </p:txBody>
      </p:sp>
      <p:sp>
        <p:nvSpPr>
          <p:cNvPr id="21" name="Text 18"/>
          <p:cNvSpPr/>
          <p:nvPr/>
        </p:nvSpPr>
        <p:spPr>
          <a:xfrm>
            <a:off x="877824" y="4352544"/>
            <a:ext cx="592531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exactamente 70 % queda incorrectamente reprobado.</a:t>
            </a:r>
            <a:endParaRPr lang="en-US" sz="980" dirty="0"/>
          </a:p>
        </p:txBody>
      </p:sp>
      <p:sp>
        <p:nvSpPr>
          <p:cNvPr id="22" name="Text 19"/>
          <p:cNvSpPr/>
          <p:nvPr/>
        </p:nvSpPr>
        <p:spPr>
          <a:xfrm>
            <a:off x="877824" y="4608576"/>
            <a:ext cx="5925312" cy="164592"/>
          </a:xfrm>
          <a:prstGeom prst="rect">
            <a:avLst/>
          </a:prstGeom>
          <a:noFill/>
          <a:ln/>
        </p:spPr>
        <p:txBody>
          <a:bodyPr wrap="square" lIns="0" tIns="0" rIns="0" bIns="0" rtlCol="0" anchor="ctr"/>
          <a:lstStyle/>
          <a:p>
            <a:pPr indent="0" marL="0">
              <a:buNone/>
            </a:pPr>
            <a:endParaRPr lang="en-US" sz="980" dirty="0"/>
          </a:p>
        </p:txBody>
      </p:sp>
      <p:sp>
        <p:nvSpPr>
          <p:cNvPr id="23" name="Text 20"/>
          <p:cNvSpPr/>
          <p:nvPr/>
        </p:nvSpPr>
        <p:spPr>
          <a:xfrm>
            <a:off x="877824" y="4864608"/>
            <a:ext cx="592531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El redondeo ROUND_HALF_UP si coincide con el requisito.</a:t>
            </a:r>
            <a:endParaRPr lang="en-US" sz="980" dirty="0"/>
          </a:p>
        </p:txBody>
      </p:sp>
      <p:sp>
        <p:nvSpPr>
          <p:cNvPr id="24" name="Shape 21"/>
          <p:cNvSpPr/>
          <p:nvPr/>
        </p:nvSpPr>
        <p:spPr>
          <a:xfrm>
            <a:off x="7498080" y="2761488"/>
            <a:ext cx="4032504" cy="2560320"/>
          </a:xfrm>
          <a:prstGeom prst="rect">
            <a:avLst/>
          </a:prstGeom>
          <a:solidFill>
            <a:srgbClr val="F6E7E2"/>
          </a:solidFill>
          <a:ln w="12700">
            <a:solidFill>
              <a:srgbClr val="F6E7E2"/>
            </a:solidFill>
            <a:prstDash val="solid"/>
          </a:ln>
        </p:spPr>
      </p:sp>
      <p:sp>
        <p:nvSpPr>
          <p:cNvPr id="25" name="Shape 22"/>
          <p:cNvSpPr/>
          <p:nvPr/>
        </p:nvSpPr>
        <p:spPr>
          <a:xfrm>
            <a:off x="7498080" y="2761488"/>
            <a:ext cx="4032504" cy="73152"/>
          </a:xfrm>
          <a:prstGeom prst="rect">
            <a:avLst/>
          </a:prstGeom>
          <a:solidFill>
            <a:srgbClr val="B3181E"/>
          </a:solidFill>
          <a:ln w="12700">
            <a:solidFill>
              <a:srgbClr val="B3181E"/>
            </a:solidFill>
            <a:prstDash val="solid"/>
          </a:ln>
        </p:spPr>
      </p:sp>
      <p:sp>
        <p:nvSpPr>
          <p:cNvPr id="26" name="Text 23"/>
          <p:cNvSpPr txBox="1"/>
          <p:nvPr/>
        </p:nvSpPr>
        <p:spPr>
          <a:xfrm>
            <a:off x="7772400" y="2980944"/>
            <a:ext cx="3474720" cy="237744"/>
          </a:xfrm>
          <a:prstGeom prst="rect">
            <a:avLst/>
          </a:prstGeom>
          <a:noFill/>
          <a:ln/>
        </p:spPr>
        <p:txBody>
          <a:bodyPr wrap="square" lIns="0" tIns="0" rIns="0" bIns="0" rtlCol="0" anchor="t"/>
          <a:lstStyle/>
          <a:p>
            <a:pPr algn="l" indent="0" marL="0">
              <a:buNone/>
            </a:pPr>
            <a:r>
              <a:rPr lang="en-US" sz="1260" b="1" spc="120" kern="0" dirty="0">
                <a:solidFill>
                  <a:srgbClr val="B3181E"/>
                </a:solidFill>
                <a:latin typeface="Aptos" pitchFamily="34" charset="0"/>
                <a:ea typeface="Aptos" pitchFamily="34" charset="-122"/>
                <a:cs typeface="Aptos" pitchFamily="34" charset="-120"/>
              </a:rPr>
              <a:t>ABSOLUCIÓN</a:t>
            </a:r>
            <a:endParaRPr lang="en-US" sz="1260" dirty="0"/>
          </a:p>
        </p:txBody>
      </p:sp>
      <p:sp>
        <p:nvSpPr>
          <p:cNvPr id="27" name="Text 24"/>
          <p:cNvSpPr txBox="1"/>
          <p:nvPr/>
        </p:nvSpPr>
        <p:spPr>
          <a:xfrm>
            <a:off x="7772400" y="3291840"/>
            <a:ext cx="3511296" cy="402336"/>
          </a:xfrm>
          <a:prstGeom prst="rect">
            <a:avLst/>
          </a:prstGeom>
          <a:noFill/>
          <a:ln/>
        </p:spPr>
        <p:txBody>
          <a:bodyPr wrap="square" lIns="0" tIns="0" rIns="0" bIns="0" rtlCol="0" anchor="t"/>
          <a:lstStyle/>
          <a:p>
            <a:pPr algn="l" indent="0" marL="0">
              <a:lnSpc>
                <a:spcPct val="112000"/>
              </a:lnSpc>
              <a:buNone/>
            </a:pPr>
            <a:r>
              <a:rPr lang="en-US" sz="1140" i="1" dirty="0">
                <a:solidFill>
                  <a:srgbClr val="52606D"/>
                </a:solidFill>
                <a:latin typeface="Aptos" pitchFamily="34" charset="0"/>
                <a:ea typeface="Aptos" pitchFamily="34" charset="-122"/>
                <a:cs typeface="Aptos" pitchFamily="34" charset="-120"/>
              </a:rPr>
              <a:t>Declarar correcto algo sin mostrar la entrada que lo respalda.</a:t>
            </a:r>
            <a:endParaRPr lang="en-US" sz="1140" dirty="0"/>
          </a:p>
        </p:txBody>
      </p:sp>
      <p:sp>
        <p:nvSpPr>
          <p:cNvPr id="28" name="Shape 25"/>
          <p:cNvSpPr/>
          <p:nvPr/>
        </p:nvSpPr>
        <p:spPr>
          <a:xfrm>
            <a:off x="7772400" y="3803904"/>
            <a:ext cx="3511296" cy="0"/>
          </a:xfrm>
          <a:prstGeom prst="line">
            <a:avLst/>
          </a:prstGeom>
          <a:noFill/>
          <a:ln w="12700">
            <a:solidFill>
              <a:srgbClr val="D8CFC4"/>
            </a:solidFill>
            <a:prstDash val="solid"/>
            <a:headEnd type="none"/>
            <a:tailEnd type="none"/>
          </a:ln>
        </p:spPr>
      </p:sp>
      <p:sp>
        <p:nvSpPr>
          <p:cNvPr id="29" name="Text 26"/>
          <p:cNvSpPr txBox="1"/>
          <p:nvPr/>
        </p:nvSpPr>
        <p:spPr>
          <a:xfrm>
            <a:off x="7772400" y="3950208"/>
            <a:ext cx="3511296" cy="1188720"/>
          </a:xfrm>
          <a:prstGeom prst="rect">
            <a:avLst/>
          </a:prstGeom>
          <a:noFill/>
          <a:ln/>
        </p:spPr>
        <p:txBody>
          <a:bodyPr wrap="square" lIns="0" tIns="0" rIns="0" bIns="0" rtlCol="0" anchor="t"/>
          <a:lstStyle/>
          <a:p>
            <a:pPr algn="l" indent="0" marL="0">
              <a:lnSpc>
                <a:spcPct val="116000"/>
              </a:lnSpc>
              <a:buNone/>
            </a:pPr>
            <a:r>
              <a:rPr lang="en-US" sz="1160" b="1" dirty="0">
                <a:solidFill>
                  <a:srgbClr val="102A43"/>
                </a:solidFill>
                <a:latin typeface="Aptos" pitchFamily="34" charset="0"/>
                <a:ea typeface="Aptos" pitchFamily="34" charset="-122"/>
                <a:cs typeface="Aptos" pitchFamily="34" charset="-120"/>
              </a:rPr>
              <a:t>Encontró un defecto real, así que no fue complaciente. Pero la última frase declara correcto el defecto más caro del fragmento, el que cambia estados de aprobación. Y la emitió sin ejecutar nada.</a:t>
            </a:r>
            <a:endParaRPr lang="en-US" sz="1160" dirty="0"/>
          </a:p>
        </p:txBody>
      </p:sp>
      <p:sp>
        <p:nvSpPr>
          <p:cNvPr id="30" name="Shape 27"/>
          <p:cNvSpPr/>
          <p:nvPr/>
        </p:nvSpPr>
        <p:spPr>
          <a:xfrm>
            <a:off x="658368" y="5486400"/>
            <a:ext cx="10874959" cy="585216"/>
          </a:xfrm>
          <a:prstGeom prst="rect">
            <a:avLst/>
          </a:prstGeom>
          <a:solidFill>
            <a:srgbClr val="102A43"/>
          </a:solidFill>
          <a:ln w="12700">
            <a:solidFill>
              <a:srgbClr val="102A43"/>
            </a:solidFill>
            <a:prstDash val="solid"/>
          </a:ln>
        </p:spPr>
      </p:sp>
      <p:sp>
        <p:nvSpPr>
          <p:cNvPr id="31" name="Text 28"/>
          <p:cNvSpPr txBox="1"/>
          <p:nvPr/>
        </p:nvSpPr>
        <p:spPr>
          <a:xfrm>
            <a:off x="969264" y="5541264"/>
            <a:ext cx="10253167" cy="475488"/>
          </a:xfrm>
          <a:prstGeom prst="rect">
            <a:avLst/>
          </a:prstGeom>
          <a:noFill/>
          <a:ln/>
        </p:spPr>
        <p:txBody>
          <a:bodyPr wrap="square" lIns="0" tIns="0" rIns="0" bIns="0" rtlCol="0" anchor="ctr"/>
          <a:lstStyle/>
          <a:p>
            <a:pPr algn="ctr" indent="0" marL="0">
              <a:lnSpc>
                <a:spcPct val="114000"/>
              </a:lnSpc>
              <a:buNone/>
            </a:pPr>
            <a:r>
              <a:rPr lang="en-US" sz="1420" b="1" dirty="0">
                <a:solidFill>
                  <a:srgbClr val="FFFFFF"/>
                </a:solidFill>
                <a:latin typeface="Aptos" pitchFamily="34" charset="0"/>
                <a:ea typeface="Aptos" pitchFamily="34" charset="-122"/>
                <a:cs typeface="Aptos" pitchFamily="34" charset="-120"/>
              </a:rPr>
              <a:t>Un hallazgo equivocado se discute. Una absolución sin evidencia se archiva, y nadie la vuelve a mirar.</a:t>
            </a:r>
            <a:endParaRPr lang="en-US" sz="14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3.4 · SEGUNDO PROTOCOLO</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auditoría del cambio encontró los dos defectos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Misma versión del código, misma información disponible. Lo que cambió es que este protocolo abrió el intérprete a buscar la entrada que falla.</a:t>
            </a:r>
            <a:endParaRPr lang="en-US" sz="1450" dirty="0"/>
          </a:p>
        </p:txBody>
      </p:sp>
      <p:sp>
        <p:nvSpPr>
          <p:cNvPr id="11" name="Shape 8"/>
          <p:cNvSpPr/>
          <p:nvPr/>
        </p:nvSpPr>
        <p:spPr>
          <a:xfrm>
            <a:off x="658368" y="2340864"/>
            <a:ext cx="6858000" cy="2615184"/>
          </a:xfrm>
          <a:prstGeom prst="roundRect">
            <a:avLst>
              <a:gd name="adj" fmla="val 1399"/>
            </a:avLst>
          </a:prstGeom>
          <a:solidFill>
            <a:srgbClr val="0F1720"/>
          </a:solidFill>
          <a:ln w="12700">
            <a:solidFill>
              <a:srgbClr val="0F1720"/>
            </a:solidFill>
            <a:prstDash val="solid"/>
          </a:ln>
        </p:spPr>
      </p:sp>
      <p:sp>
        <p:nvSpPr>
          <p:cNvPr id="12" name="Shape 9"/>
          <p:cNvSpPr/>
          <p:nvPr/>
        </p:nvSpPr>
        <p:spPr>
          <a:xfrm>
            <a:off x="786384" y="2450592"/>
            <a:ext cx="6601968"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523744"/>
            <a:ext cx="634593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codex exec review --uncommitted · salida literal</a:t>
            </a:r>
            <a:endParaRPr lang="en-US" sz="1000" dirty="0"/>
          </a:p>
        </p:txBody>
      </p:sp>
      <p:sp>
        <p:nvSpPr>
          <p:cNvPr id="14" name="Text 11"/>
          <p:cNvSpPr/>
          <p:nvPr/>
        </p:nvSpPr>
        <p:spPr>
          <a:xfrm>
            <a:off x="877824" y="2907792"/>
            <a:ext cx="6108192"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[P1] Use decimal arithmetic for the average — curso.py:10</a:t>
            </a:r>
            <a:endParaRPr lang="en-US" sz="880" dirty="0"/>
          </a:p>
        </p:txBody>
      </p:sp>
      <p:sp>
        <p:nvSpPr>
          <p:cNvPr id="15" name="Text 12"/>
          <p:cNvSpPr/>
          <p:nvPr/>
        </p:nvSpPr>
        <p:spPr>
          <a:xfrm>
            <a:off x="877824" y="3163824"/>
            <a:ext cx="6108192" cy="164592"/>
          </a:xfrm>
          <a:prstGeom prst="rect">
            <a:avLst/>
          </a:prstGeom>
          <a:noFill/>
          <a:ln/>
        </p:spPr>
        <p:txBody>
          <a:bodyPr wrap="square" lIns="0" tIns="0" rIns="0" bIns="0" rtlCol="0" anchor="ctr"/>
          <a:lstStyle/>
          <a:p>
            <a:pPr indent="0" marL="0">
              <a:buNone/>
            </a:pPr>
            <a:r>
              <a:rPr lang="en-US" sz="880" dirty="0">
                <a:solidFill>
                  <a:srgbClr val="8AA0B6"/>
                </a:solidFill>
                <a:latin typeface="Consolas" pitchFamily="34" charset="0"/>
                <a:ea typeface="Consolas" pitchFamily="34" charset="-122"/>
                <a:cs typeface="Consolas" pitchFamily="34" charset="-120"/>
              </a:rPr>
              <a:t>  the float calculation can move it below the rounding</a:t>
            </a:r>
            <a:endParaRPr lang="en-US" sz="880" dirty="0"/>
          </a:p>
        </p:txBody>
      </p:sp>
      <p:sp>
        <p:nvSpPr>
          <p:cNvPr id="16" name="Text 13"/>
          <p:cNvSpPr/>
          <p:nvPr/>
        </p:nvSpPr>
        <p:spPr>
          <a:xfrm>
            <a:off x="877824" y="3419856"/>
            <a:ext cx="6108192" cy="164592"/>
          </a:xfrm>
          <a:prstGeom prst="rect">
            <a:avLst/>
          </a:prstGeom>
          <a:noFill/>
          <a:ln/>
        </p:spPr>
        <p:txBody>
          <a:bodyPr wrap="square" lIns="0" tIns="0" rIns="0" bIns="0" rtlCol="0" anchor="ctr"/>
          <a:lstStyle/>
          <a:p>
            <a:pPr indent="0" marL="0">
              <a:buNone/>
            </a:pPr>
            <a:r>
              <a:rPr lang="en-US" sz="880" dirty="0">
                <a:solidFill>
                  <a:srgbClr val="8AA0B6"/>
                </a:solidFill>
                <a:latin typeface="Consolas" pitchFamily="34" charset="0"/>
                <a:ea typeface="Consolas" pitchFamily="34" charset="-122"/>
                <a:cs typeface="Consolas" pitchFamily="34" charset="-120"/>
              </a:rPr>
              <a:t>  boundary: [1.3, 6.6] becomes 3.9499999999999997, so this</a:t>
            </a:r>
            <a:endParaRPr lang="en-US" sz="880" dirty="0"/>
          </a:p>
        </p:txBody>
      </p:sp>
      <p:sp>
        <p:nvSpPr>
          <p:cNvPr id="17" name="Text 14"/>
          <p:cNvSpPr/>
          <p:nvPr/>
        </p:nvSpPr>
        <p:spPr>
          <a:xfrm>
            <a:off x="877824" y="3675888"/>
            <a:ext cx="6108192" cy="164592"/>
          </a:xfrm>
          <a:prstGeom prst="rect">
            <a:avLst/>
          </a:prstGeom>
          <a:noFill/>
          <a:ln/>
        </p:spPr>
        <p:txBody>
          <a:bodyPr wrap="square" lIns="0" tIns="0" rIns="0" bIns="0" rtlCol="0" anchor="ctr"/>
          <a:lstStyle/>
          <a:p>
            <a:pPr indent="0" marL="0">
              <a:buNone/>
            </a:pPr>
            <a:r>
              <a:rPr lang="en-US" sz="880" dirty="0">
                <a:solidFill>
                  <a:srgbClr val="8AA0B6"/>
                </a:solidFill>
                <a:latin typeface="Consolas" pitchFamily="34" charset="0"/>
                <a:ea typeface="Consolas" pitchFamily="34" charset="-122"/>
                <a:cs typeface="Consolas" pitchFamily="34" charset="-120"/>
              </a:rPr>
              <a:t>  returns 3.9 and estado(..., 90) incorrectly fails the student.</a:t>
            </a:r>
            <a:endParaRPr lang="en-US" sz="880" dirty="0"/>
          </a:p>
        </p:txBody>
      </p:sp>
      <p:sp>
        <p:nvSpPr>
          <p:cNvPr id="18" name="Text 15"/>
          <p:cNvSpPr/>
          <p:nvPr/>
        </p:nvSpPr>
        <p:spPr>
          <a:xfrm>
            <a:off x="877824" y="3931920"/>
            <a:ext cx="6108192" cy="164592"/>
          </a:xfrm>
          <a:prstGeom prst="rect">
            <a:avLst/>
          </a:prstGeom>
          <a:noFill/>
          <a:ln/>
        </p:spPr>
        <p:txBody>
          <a:bodyPr wrap="square" lIns="0" tIns="0" rIns="0" bIns="0" rtlCol="0" anchor="ctr"/>
          <a:lstStyle/>
          <a:p>
            <a:pPr indent="0" marL="0">
              <a:buNone/>
            </a:pPr>
            <a:endParaRPr lang="en-US" sz="880" dirty="0"/>
          </a:p>
        </p:txBody>
      </p:sp>
      <p:sp>
        <p:nvSpPr>
          <p:cNvPr id="19" name="Text 16"/>
          <p:cNvSpPr/>
          <p:nvPr/>
        </p:nvSpPr>
        <p:spPr>
          <a:xfrm>
            <a:off x="877824" y="4187952"/>
            <a:ext cx="6108192" cy="164592"/>
          </a:xfrm>
          <a:prstGeom prst="rect">
            <a:avLst/>
          </a:prstGeom>
          <a:noFill/>
          <a:ln/>
        </p:spPr>
        <p:txBody>
          <a:bodyPr wrap="square" lIns="0" tIns="0" rIns="0" bIns="0" rtlCol="0" anchor="ctr"/>
          <a:lstStyle/>
          <a:p>
            <a:pPr indent="0" marL="0">
              <a:buNone/>
            </a:pPr>
            <a:r>
              <a:rPr lang="en-US" sz="880" dirty="0">
                <a:solidFill>
                  <a:srgbClr val="E6EEF7"/>
                </a:solidFill>
                <a:latin typeface="Consolas" pitchFamily="34" charset="0"/>
                <a:ea typeface="Consolas" pitchFamily="34" charset="-122"/>
                <a:cs typeface="Consolas" pitchFamily="34" charset="-120"/>
              </a:rPr>
              <a:t>[P1] Use an inclusive attendance cutoff — curso.py:15</a:t>
            </a:r>
            <a:endParaRPr lang="en-US" sz="880" dirty="0"/>
          </a:p>
        </p:txBody>
      </p:sp>
      <p:sp>
        <p:nvSpPr>
          <p:cNvPr id="20" name="Text 17"/>
          <p:cNvSpPr/>
          <p:nvPr/>
        </p:nvSpPr>
        <p:spPr>
          <a:xfrm>
            <a:off x="877824" y="4443984"/>
            <a:ext cx="6108192" cy="164592"/>
          </a:xfrm>
          <a:prstGeom prst="rect">
            <a:avLst/>
          </a:prstGeom>
          <a:noFill/>
          <a:ln/>
        </p:spPr>
        <p:txBody>
          <a:bodyPr wrap="square" lIns="0" tIns="0" rIns="0" bIns="0" rtlCol="0" anchor="ctr"/>
          <a:lstStyle/>
          <a:p>
            <a:pPr indent="0" marL="0">
              <a:buNone/>
            </a:pPr>
            <a:r>
              <a:rPr lang="en-US" sz="880" dirty="0">
                <a:solidFill>
                  <a:srgbClr val="8AA0B6"/>
                </a:solidFill>
                <a:latin typeface="Consolas" pitchFamily="34" charset="0"/>
                <a:ea typeface="Consolas" pitchFamily="34" charset="-122"/>
                <a:cs typeface="Consolas" pitchFamily="34" charset="-120"/>
              </a:rPr>
              <a:t>  with a passing grade and exactly 70% attendance, this returns</a:t>
            </a:r>
            <a:endParaRPr lang="en-US" sz="880" dirty="0"/>
          </a:p>
        </p:txBody>
      </p:sp>
      <p:sp>
        <p:nvSpPr>
          <p:cNvPr id="21" name="Text 18"/>
          <p:cNvSpPr/>
          <p:nvPr/>
        </p:nvSpPr>
        <p:spPr>
          <a:xfrm>
            <a:off x="877824" y="4700016"/>
            <a:ext cx="6108192" cy="164592"/>
          </a:xfrm>
          <a:prstGeom prst="rect">
            <a:avLst/>
          </a:prstGeom>
          <a:noFill/>
          <a:ln/>
        </p:spPr>
        <p:txBody>
          <a:bodyPr wrap="square" lIns="0" tIns="0" rIns="0" bIns="0" rtlCol="0" anchor="ctr"/>
          <a:lstStyle/>
          <a:p>
            <a:pPr indent="0" marL="0">
              <a:buNone/>
            </a:pPr>
            <a:r>
              <a:rPr lang="en-US" sz="880" dirty="0">
                <a:solidFill>
                  <a:srgbClr val="8AA0B6"/>
                </a:solidFill>
                <a:latin typeface="Consolas" pitchFamily="34" charset="0"/>
                <a:ea typeface="Consolas" pitchFamily="34" charset="-122"/>
                <a:cs typeface="Consolas" pitchFamily="34" charset="-120"/>
              </a:rPr>
              <a:t>  "reprobado"; REQUISITOS.md defines the minimum as &gt;= 70%.</a:t>
            </a:r>
            <a:endParaRPr lang="en-US" sz="880" dirty="0"/>
          </a:p>
        </p:txBody>
      </p:sp>
      <p:sp>
        <p:nvSpPr>
          <p:cNvPr id="22" name="Shape 19"/>
          <p:cNvSpPr/>
          <p:nvPr/>
        </p:nvSpPr>
        <p:spPr>
          <a:xfrm>
            <a:off x="7680960" y="2340864"/>
            <a:ext cx="3849624" cy="2615184"/>
          </a:xfrm>
          <a:prstGeom prst="rect">
            <a:avLst/>
          </a:prstGeom>
          <a:solidFill>
            <a:srgbClr val="E7ECF3"/>
          </a:solidFill>
          <a:ln w="12700">
            <a:solidFill>
              <a:srgbClr val="E7ECF3"/>
            </a:solidFill>
            <a:prstDash val="solid"/>
          </a:ln>
        </p:spPr>
      </p:sp>
      <p:sp>
        <p:nvSpPr>
          <p:cNvPr id="23" name="Shape 20"/>
          <p:cNvSpPr/>
          <p:nvPr/>
        </p:nvSpPr>
        <p:spPr>
          <a:xfrm>
            <a:off x="7680960" y="2340864"/>
            <a:ext cx="3849624" cy="73152"/>
          </a:xfrm>
          <a:prstGeom prst="rect">
            <a:avLst/>
          </a:prstGeom>
          <a:solidFill>
            <a:srgbClr val="102A43"/>
          </a:solidFill>
          <a:ln w="12700">
            <a:solidFill>
              <a:srgbClr val="102A43"/>
            </a:solidFill>
            <a:prstDash val="solid"/>
          </a:ln>
        </p:spPr>
      </p:sp>
      <p:sp>
        <p:nvSpPr>
          <p:cNvPr id="24" name="Text 21"/>
          <p:cNvSpPr txBox="1"/>
          <p:nvPr/>
        </p:nvSpPr>
        <p:spPr>
          <a:xfrm>
            <a:off x="7955280" y="2542032"/>
            <a:ext cx="3383280" cy="182880"/>
          </a:xfrm>
          <a:prstGeom prst="rect">
            <a:avLst/>
          </a:prstGeom>
          <a:noFill/>
          <a:ln/>
        </p:spPr>
        <p:txBody>
          <a:bodyPr wrap="square" lIns="0" tIns="0" rIns="0" bIns="0" rtlCol="0" anchor="t"/>
          <a:lstStyle/>
          <a:p>
            <a:pPr algn="l" indent="0" marL="0">
              <a:buNone/>
            </a:pPr>
            <a:r>
              <a:rPr lang="en-US" sz="880" b="1" spc="115" kern="0" dirty="0">
                <a:solidFill>
                  <a:srgbClr val="102A43"/>
                </a:solidFill>
                <a:latin typeface="Aptos" pitchFamily="34" charset="0"/>
                <a:ea typeface="Aptos" pitchFamily="34" charset="-122"/>
                <a:cs typeface="Aptos" pitchFamily="34" charset="-120"/>
              </a:rPr>
              <a:t>QUÉ DICEN LOS DOS HALLAZGOS</a:t>
            </a:r>
            <a:endParaRPr lang="en-US" sz="880" dirty="0"/>
          </a:p>
        </p:txBody>
      </p:sp>
      <p:sp>
        <p:nvSpPr>
          <p:cNvPr id="25" name="Text 22"/>
          <p:cNvSpPr txBox="1"/>
          <p:nvPr/>
        </p:nvSpPr>
        <p:spPr>
          <a:xfrm>
            <a:off x="7955280" y="2852928"/>
            <a:ext cx="3383280" cy="219456"/>
          </a:xfrm>
          <a:prstGeom prst="rect">
            <a:avLst/>
          </a:prstGeom>
          <a:noFill/>
          <a:ln/>
        </p:spPr>
        <p:txBody>
          <a:bodyPr wrap="square" lIns="0" tIns="0" rIns="0" bIns="0" rtlCol="0" anchor="t"/>
          <a:lstStyle/>
          <a:p>
            <a:pPr algn="l" indent="0" marL="0">
              <a:buNone/>
            </a:pPr>
            <a:r>
              <a:rPr lang="en-US" sz="1100" b="1" dirty="0">
                <a:solidFill>
                  <a:srgbClr val="102A43"/>
                </a:solidFill>
                <a:latin typeface="Consolas" pitchFamily="34" charset="0"/>
                <a:ea typeface="Consolas" pitchFamily="34" charset="-122"/>
                <a:cs typeface="Consolas" pitchFamily="34" charset="-120"/>
              </a:rPr>
              <a:t>curso.py:10</a:t>
            </a:r>
            <a:endParaRPr lang="en-US" sz="1100" dirty="0"/>
          </a:p>
        </p:txBody>
      </p:sp>
      <p:sp>
        <p:nvSpPr>
          <p:cNvPr id="26" name="Text 23"/>
          <p:cNvSpPr txBox="1"/>
          <p:nvPr/>
        </p:nvSpPr>
        <p:spPr>
          <a:xfrm>
            <a:off x="7955280" y="3108960"/>
            <a:ext cx="3419856" cy="621792"/>
          </a:xfrm>
          <a:prstGeom prst="rect">
            <a:avLst/>
          </a:prstGeom>
          <a:noFill/>
          <a:ln/>
        </p:spPr>
        <p:txBody>
          <a:bodyPr wrap="square" lIns="0" tIns="0" rIns="0" bIns="0" rtlCol="0" anchor="t"/>
          <a:lstStyle/>
          <a:p>
            <a:pPr algn="l" indent="0" marL="0">
              <a:lnSpc>
                <a:spcPct val="114000"/>
              </a:lnSpc>
              <a:buNone/>
            </a:pPr>
            <a:r>
              <a:rPr lang="en-US" sz="1100" dirty="0">
                <a:solidFill>
                  <a:srgbClr val="243B53"/>
                </a:solidFill>
                <a:latin typeface="Aptos" pitchFamily="34" charset="0"/>
                <a:ea typeface="Aptos" pitchFamily="34" charset="-122"/>
                <a:cs typeface="Aptos" pitchFamily="34" charset="-120"/>
              </a:rPr>
              <a:t>El promedio en punto flotante baja por debajo del límite de redondeo. Con 1,3 y 6,6 informa 3,9 y reprueba a quien debía aprobar.</a:t>
            </a:r>
            <a:endParaRPr lang="en-US" sz="1100" dirty="0"/>
          </a:p>
        </p:txBody>
      </p:sp>
      <p:sp>
        <p:nvSpPr>
          <p:cNvPr id="27" name="Text 24"/>
          <p:cNvSpPr txBox="1"/>
          <p:nvPr/>
        </p:nvSpPr>
        <p:spPr>
          <a:xfrm>
            <a:off x="7955280" y="3895344"/>
            <a:ext cx="3383280" cy="219456"/>
          </a:xfrm>
          <a:prstGeom prst="rect">
            <a:avLst/>
          </a:prstGeom>
          <a:noFill/>
          <a:ln/>
        </p:spPr>
        <p:txBody>
          <a:bodyPr wrap="square" lIns="0" tIns="0" rIns="0" bIns="0" rtlCol="0" anchor="t"/>
          <a:lstStyle/>
          <a:p>
            <a:pPr algn="l" indent="0" marL="0">
              <a:buNone/>
            </a:pPr>
            <a:r>
              <a:rPr lang="en-US" sz="1100" b="1" dirty="0">
                <a:solidFill>
                  <a:srgbClr val="102A43"/>
                </a:solidFill>
                <a:latin typeface="Consolas" pitchFamily="34" charset="0"/>
                <a:ea typeface="Consolas" pitchFamily="34" charset="-122"/>
                <a:cs typeface="Consolas" pitchFamily="34" charset="-120"/>
              </a:rPr>
              <a:t>curso.py:15</a:t>
            </a:r>
            <a:endParaRPr lang="en-US" sz="1100" dirty="0"/>
          </a:p>
        </p:txBody>
      </p:sp>
      <p:sp>
        <p:nvSpPr>
          <p:cNvPr id="28" name="Text 25"/>
          <p:cNvSpPr txBox="1"/>
          <p:nvPr/>
        </p:nvSpPr>
        <p:spPr>
          <a:xfrm>
            <a:off x="7955280" y="4151376"/>
            <a:ext cx="3419856" cy="621792"/>
          </a:xfrm>
          <a:prstGeom prst="rect">
            <a:avLst/>
          </a:prstGeom>
          <a:noFill/>
          <a:ln/>
        </p:spPr>
        <p:txBody>
          <a:bodyPr wrap="square" lIns="0" tIns="0" rIns="0" bIns="0" rtlCol="0" anchor="t"/>
          <a:lstStyle/>
          <a:p>
            <a:pPr algn="l" indent="0" marL="0">
              <a:lnSpc>
                <a:spcPct val="114000"/>
              </a:lnSpc>
              <a:buNone/>
            </a:pPr>
            <a:r>
              <a:rPr lang="en-US" sz="1100" dirty="0">
                <a:solidFill>
                  <a:srgbClr val="243B53"/>
                </a:solidFill>
                <a:latin typeface="Aptos" pitchFamily="34" charset="0"/>
                <a:ea typeface="Aptos" pitchFamily="34" charset="-122"/>
                <a:cs typeface="Aptos" pitchFamily="34" charset="-120"/>
              </a:rPr>
              <a:t>Con nota suficiente y asistencia exactamente 70, devuelve «reprobado», y el requisito define el mínimo como mayor o igual a 70.</a:t>
            </a:r>
            <a:endParaRPr lang="en-US" sz="1100" dirty="0"/>
          </a:p>
        </p:txBody>
      </p:sp>
      <p:sp>
        <p:nvSpPr>
          <p:cNvPr id="29" name="Shape 26"/>
          <p:cNvSpPr/>
          <p:nvPr/>
        </p:nvSpPr>
        <p:spPr>
          <a:xfrm>
            <a:off x="658368" y="5084064"/>
            <a:ext cx="10874959" cy="566928"/>
          </a:xfrm>
          <a:prstGeom prst="rect">
            <a:avLst/>
          </a:prstGeom>
          <a:solidFill>
            <a:srgbClr val="EDE9E1"/>
          </a:solidFill>
          <a:ln w="12700">
            <a:solidFill>
              <a:srgbClr val="EDE9E1"/>
            </a:solidFill>
            <a:prstDash val="solid"/>
          </a:ln>
        </p:spPr>
      </p:sp>
      <p:sp>
        <p:nvSpPr>
          <p:cNvPr id="30" name="Shape 27"/>
          <p:cNvSpPr/>
          <p:nvPr/>
        </p:nvSpPr>
        <p:spPr>
          <a:xfrm>
            <a:off x="658368" y="5084064"/>
            <a:ext cx="54864" cy="566928"/>
          </a:xfrm>
          <a:prstGeom prst="rect">
            <a:avLst/>
          </a:prstGeom>
          <a:solidFill>
            <a:srgbClr val="0E6E7A"/>
          </a:solidFill>
          <a:ln w="12700">
            <a:solidFill>
              <a:srgbClr val="0E6E7A"/>
            </a:solidFill>
            <a:prstDash val="solid"/>
          </a:ln>
        </p:spPr>
      </p:sp>
      <p:sp>
        <p:nvSpPr>
          <p:cNvPr id="31" name="Text 28"/>
          <p:cNvSpPr txBox="1"/>
          <p:nvPr/>
        </p:nvSpPr>
        <p:spPr>
          <a:xfrm>
            <a:off x="932688" y="5175504"/>
            <a:ext cx="10271455" cy="402336"/>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Ese [1.3, 6.6] es la entrada que efectivamente falla en Python 3.12, el intérprete que el proyecto declara. Para encontrarla abrió el intérprete y la buscó, en vez de opinar sobre el código.</a:t>
            </a:r>
            <a:endParaRPr lang="en-US" sz="1220" dirty="0"/>
          </a:p>
        </p:txBody>
      </p:sp>
      <p:sp>
        <p:nvSpPr>
          <p:cNvPr id="32" name="Shape 29"/>
          <p:cNvSpPr/>
          <p:nvPr/>
        </p:nvSpPr>
        <p:spPr>
          <a:xfrm>
            <a:off x="658368" y="5779008"/>
            <a:ext cx="10874959" cy="457200"/>
          </a:xfrm>
          <a:prstGeom prst="rect">
            <a:avLst/>
          </a:prstGeom>
          <a:solidFill>
            <a:srgbClr val="102A43"/>
          </a:solidFill>
          <a:ln w="12700">
            <a:solidFill>
              <a:srgbClr val="102A43"/>
            </a:solidFill>
            <a:prstDash val="solid"/>
          </a:ln>
        </p:spPr>
      </p:sp>
      <p:sp>
        <p:nvSpPr>
          <p:cNvPr id="33" name="Text 30"/>
          <p:cNvSpPr txBox="1"/>
          <p:nvPr/>
        </p:nvSpPr>
        <p:spPr>
          <a:xfrm>
            <a:off x="969264" y="5833872"/>
            <a:ext cx="10253167" cy="347472"/>
          </a:xfrm>
          <a:prstGeom prst="rect">
            <a:avLst/>
          </a:prstGeom>
          <a:noFill/>
          <a:ln/>
        </p:spPr>
        <p:txBody>
          <a:bodyPr wrap="square" lIns="0" tIns="0" rIns="0" bIns="0" rtlCol="0" anchor="ctr"/>
          <a:lstStyle/>
          <a:p>
            <a:pPr algn="ctr" indent="0" marL="0">
              <a:lnSpc>
                <a:spcPct val="114000"/>
              </a:lnSpc>
              <a:buNone/>
            </a:pPr>
            <a:r>
              <a:rPr lang="en-US" sz="1320" b="1" dirty="0">
                <a:solidFill>
                  <a:srgbClr val="FFFFFF"/>
                </a:solidFill>
                <a:latin typeface="Aptos" pitchFamily="34" charset="0"/>
                <a:ea typeface="Aptos" pitchFamily="34" charset="-122"/>
                <a:cs typeface="Aptos" pitchFamily="34" charset="-120"/>
              </a:rPr>
              <a:t>Dos defectos, cada uno con la entrada concreta que lo demuestra. Ninguna absolución.</a:t>
            </a:r>
            <a:endParaRPr lang="en-US" sz="13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3.5 · TERCER PROTOCOLO</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La auditoría dirigida clasificó sola el tercer hallazgo</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Al pedirle la entrada concreta de cada hallazgo, encontró además el caso que el requisito no cubre, y llegó por su cuenta a la distinción del bloque anterior.</a:t>
            </a:r>
            <a:endParaRPr lang="en-US" sz="1450" dirty="0"/>
          </a:p>
        </p:txBody>
      </p:sp>
      <p:sp>
        <p:nvSpPr>
          <p:cNvPr id="11" name="Shape 8"/>
          <p:cNvSpPr/>
          <p:nvPr/>
        </p:nvSpPr>
        <p:spPr>
          <a:xfrm>
            <a:off x="658368" y="2377440"/>
            <a:ext cx="6675120" cy="2194560"/>
          </a:xfrm>
          <a:prstGeom prst="roundRect">
            <a:avLst>
              <a:gd name="adj" fmla="val 1667"/>
            </a:avLst>
          </a:prstGeom>
          <a:solidFill>
            <a:srgbClr val="0F1720"/>
          </a:solidFill>
          <a:ln w="12700">
            <a:solidFill>
              <a:srgbClr val="0F1720"/>
            </a:solidFill>
            <a:prstDash val="solid"/>
          </a:ln>
        </p:spPr>
      </p:sp>
      <p:sp>
        <p:nvSpPr>
          <p:cNvPr id="12" name="Shape 9"/>
          <p:cNvSpPr/>
          <p:nvPr/>
        </p:nvSpPr>
        <p:spPr>
          <a:xfrm>
            <a:off x="786384" y="2487168"/>
            <a:ext cx="6419088"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560320"/>
            <a:ext cx="616305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claude -p · tercer hallazgo, literal</a:t>
            </a:r>
            <a:endParaRPr lang="en-US" sz="1000" dirty="0"/>
          </a:p>
        </p:txBody>
      </p:sp>
      <p:sp>
        <p:nvSpPr>
          <p:cNvPr id="14" name="Text 11"/>
          <p:cNvSpPr/>
          <p:nvPr/>
        </p:nvSpPr>
        <p:spPr>
          <a:xfrm>
            <a:off x="877824" y="2944368"/>
            <a:ext cx="5925312" cy="164592"/>
          </a:xfrm>
          <a:prstGeom prst="rect">
            <a:avLst/>
          </a:prstGeom>
          <a:noFill/>
          <a:ln/>
        </p:spPr>
        <p:txBody>
          <a:bodyPr wrap="square" lIns="0" tIns="0" rIns="0" bIns="0" rtlCol="0" anchor="ctr"/>
          <a:lstStyle/>
          <a:p>
            <a:pPr indent="0" marL="0">
              <a:buNone/>
            </a:pPr>
            <a:r>
              <a:rPr lang="en-US" sz="920" dirty="0">
                <a:solidFill>
                  <a:srgbClr val="E6EEF7"/>
                </a:solidFill>
                <a:latin typeface="Consolas" pitchFamily="34" charset="0"/>
                <a:ea typeface="Consolas" pitchFamily="34" charset="-122"/>
                <a:cs typeface="Consolas" pitchFamily="34" charset="-120"/>
              </a:rPr>
              <a:t>3. Lista de notas vacia revienta sin control — curso.py:10</a:t>
            </a:r>
            <a:endParaRPr lang="en-US" sz="920" dirty="0"/>
          </a:p>
        </p:txBody>
      </p:sp>
      <p:sp>
        <p:nvSpPr>
          <p:cNvPr id="15" name="Text 12"/>
          <p:cNvSpPr/>
          <p:nvPr/>
        </p:nvSpPr>
        <p:spPr>
          <a:xfrm>
            <a:off x="877824" y="3200400"/>
            <a:ext cx="5925312" cy="164592"/>
          </a:xfrm>
          <a:prstGeom prst="rect">
            <a:avLst/>
          </a:prstGeom>
          <a:noFill/>
          <a:ln/>
        </p:spPr>
        <p:txBody>
          <a:bodyPr wrap="square" lIns="0" tIns="0" rIns="0" bIns="0" rtlCol="0" anchor="ctr"/>
          <a:lstStyle/>
          <a:p>
            <a:pPr indent="0" marL="0">
              <a:buNone/>
            </a:pPr>
            <a:r>
              <a:rPr lang="en-US" sz="920" dirty="0">
                <a:solidFill>
                  <a:srgbClr val="8AA0B6"/>
                </a:solidFill>
                <a:latin typeface="Consolas" pitchFamily="34" charset="0"/>
                <a:ea typeface="Consolas" pitchFamily="34" charset="-122"/>
                <a:cs typeface="Consolas" pitchFamily="34" charset="-120"/>
              </a:rPr>
              <a:t>   Entrada que falla: nota_final([]) o estado([], 90)</a:t>
            </a:r>
            <a:endParaRPr lang="en-US" sz="920" dirty="0"/>
          </a:p>
        </p:txBody>
      </p:sp>
      <p:sp>
        <p:nvSpPr>
          <p:cNvPr id="16" name="Text 13"/>
          <p:cNvSpPr/>
          <p:nvPr/>
        </p:nvSpPr>
        <p:spPr>
          <a:xfrm>
            <a:off x="877824" y="3456432"/>
            <a:ext cx="5925312" cy="164592"/>
          </a:xfrm>
          <a:prstGeom prst="rect">
            <a:avLst/>
          </a:prstGeom>
          <a:noFill/>
          <a:ln/>
        </p:spPr>
        <p:txBody>
          <a:bodyPr wrap="square" lIns="0" tIns="0" rIns="0" bIns="0" rtlCol="0" anchor="ctr"/>
          <a:lstStyle/>
          <a:p>
            <a:pPr indent="0" marL="0">
              <a:buNone/>
            </a:pPr>
            <a:r>
              <a:rPr lang="en-US" sz="920" dirty="0">
                <a:solidFill>
                  <a:srgbClr val="8AA0B6"/>
                </a:solidFill>
                <a:latin typeface="Consolas" pitchFamily="34" charset="0"/>
                <a:ea typeface="Consolas" pitchFamily="34" charset="-122"/>
                <a:cs typeface="Consolas" pitchFamily="34" charset="-120"/>
              </a:rPr>
              <a:t>   Hace: lanza ZeroDivisionError (verificado).</a:t>
            </a:r>
            <a:endParaRPr lang="en-US" sz="920" dirty="0"/>
          </a:p>
        </p:txBody>
      </p:sp>
      <p:sp>
        <p:nvSpPr>
          <p:cNvPr id="17" name="Text 14"/>
          <p:cNvSpPr/>
          <p:nvPr/>
        </p:nvSpPr>
        <p:spPr>
          <a:xfrm>
            <a:off x="877824" y="3712464"/>
            <a:ext cx="5925312" cy="164592"/>
          </a:xfrm>
          <a:prstGeom prst="rect">
            <a:avLst/>
          </a:prstGeom>
          <a:noFill/>
          <a:ln/>
        </p:spPr>
        <p:txBody>
          <a:bodyPr wrap="square" lIns="0" tIns="0" rIns="0" bIns="0" rtlCol="0" anchor="ctr"/>
          <a:lstStyle/>
          <a:p>
            <a:pPr indent="0" marL="0">
              <a:buNone/>
            </a:pPr>
            <a:r>
              <a:rPr lang="en-US" sz="920" dirty="0">
                <a:solidFill>
                  <a:srgbClr val="8AA0B6"/>
                </a:solidFill>
                <a:latin typeface="Consolas" pitchFamily="34" charset="0"/>
                <a:ea typeface="Consolas" pitchFamily="34" charset="-122"/>
                <a:cs typeface="Consolas" pitchFamily="34" charset="-120"/>
              </a:rPr>
              <a:t>   Deberia: indefinido, REQUISITOS.md no lo dice.</a:t>
            </a:r>
            <a:endParaRPr lang="en-US" sz="920" dirty="0"/>
          </a:p>
        </p:txBody>
      </p:sp>
      <p:sp>
        <p:nvSpPr>
          <p:cNvPr id="18" name="Text 15"/>
          <p:cNvSpPr/>
          <p:nvPr/>
        </p:nvSpPr>
        <p:spPr>
          <a:xfrm>
            <a:off x="877824" y="3968496"/>
            <a:ext cx="5925312" cy="164592"/>
          </a:xfrm>
          <a:prstGeom prst="rect">
            <a:avLst/>
          </a:prstGeom>
          <a:noFill/>
          <a:ln/>
        </p:spPr>
        <p:txBody>
          <a:bodyPr wrap="square" lIns="0" tIns="0" rIns="0" bIns="0" rtlCol="0" anchor="ctr"/>
          <a:lstStyle/>
          <a:p>
            <a:pPr indent="0" marL="0">
              <a:buNone/>
            </a:pPr>
            <a:r>
              <a:rPr lang="en-US" sz="920" dirty="0">
                <a:solidFill>
                  <a:srgbClr val="E6EEF7"/>
                </a:solidFill>
                <a:latin typeface="Consolas" pitchFamily="34" charset="0"/>
                <a:ea typeface="Consolas" pitchFamily="34" charset="-122"/>
                <a:cs typeface="Consolas" pitchFamily="34" charset="-120"/>
              </a:rPr>
              <a:t>   Lo marco como vacio de especificacion, no como</a:t>
            </a:r>
            <a:endParaRPr lang="en-US" sz="920" dirty="0"/>
          </a:p>
        </p:txBody>
      </p:sp>
      <p:sp>
        <p:nvSpPr>
          <p:cNvPr id="19" name="Text 16"/>
          <p:cNvSpPr/>
          <p:nvPr/>
        </p:nvSpPr>
        <p:spPr>
          <a:xfrm>
            <a:off x="877824" y="4224528"/>
            <a:ext cx="5925312" cy="164592"/>
          </a:xfrm>
          <a:prstGeom prst="rect">
            <a:avLst/>
          </a:prstGeom>
          <a:noFill/>
          <a:ln/>
        </p:spPr>
        <p:txBody>
          <a:bodyPr wrap="square" lIns="0" tIns="0" rIns="0" bIns="0" rtlCol="0" anchor="ctr"/>
          <a:lstStyle/>
          <a:p>
            <a:pPr indent="0" marL="0">
              <a:buNone/>
            </a:pPr>
            <a:r>
              <a:rPr lang="en-US" sz="920" dirty="0">
                <a:solidFill>
                  <a:srgbClr val="E6EEF7"/>
                </a:solidFill>
                <a:latin typeface="Consolas" pitchFamily="34" charset="0"/>
                <a:ea typeface="Consolas" pitchFamily="34" charset="-122"/>
                <a:cs typeface="Consolas" pitchFamily="34" charset="-120"/>
              </a:rPr>
              <a:t>   contradiccion: no hay regla escrita que el codigo incumpla.</a:t>
            </a:r>
            <a:endParaRPr lang="en-US" sz="920" dirty="0"/>
          </a:p>
        </p:txBody>
      </p:sp>
      <p:sp>
        <p:nvSpPr>
          <p:cNvPr id="20" name="Shape 17"/>
          <p:cNvSpPr/>
          <p:nvPr/>
        </p:nvSpPr>
        <p:spPr>
          <a:xfrm>
            <a:off x="7498080" y="2377440"/>
            <a:ext cx="4032504" cy="2194560"/>
          </a:xfrm>
          <a:prstGeom prst="rect">
            <a:avLst/>
          </a:prstGeom>
          <a:solidFill>
            <a:srgbClr val="E8F1F2"/>
          </a:solidFill>
          <a:ln w="12700">
            <a:solidFill>
              <a:srgbClr val="E8F1F2"/>
            </a:solidFill>
            <a:prstDash val="solid"/>
          </a:ln>
        </p:spPr>
      </p:sp>
      <p:sp>
        <p:nvSpPr>
          <p:cNvPr id="21" name="Shape 18"/>
          <p:cNvSpPr/>
          <p:nvPr/>
        </p:nvSpPr>
        <p:spPr>
          <a:xfrm>
            <a:off x="7498080" y="2377440"/>
            <a:ext cx="4032504" cy="73152"/>
          </a:xfrm>
          <a:prstGeom prst="rect">
            <a:avLst/>
          </a:prstGeom>
          <a:solidFill>
            <a:srgbClr val="0E6E7A"/>
          </a:solidFill>
          <a:ln w="12700">
            <a:solidFill>
              <a:srgbClr val="0E6E7A"/>
            </a:solidFill>
            <a:prstDash val="solid"/>
          </a:ln>
        </p:spPr>
      </p:sp>
      <p:sp>
        <p:nvSpPr>
          <p:cNvPr id="22" name="Text 19"/>
          <p:cNvSpPr txBox="1"/>
          <p:nvPr/>
        </p:nvSpPr>
        <p:spPr>
          <a:xfrm>
            <a:off x="7772400" y="2560320"/>
            <a:ext cx="3474720" cy="182880"/>
          </a:xfrm>
          <a:prstGeom prst="rect">
            <a:avLst/>
          </a:prstGeom>
          <a:noFill/>
          <a:ln/>
        </p:spPr>
        <p:txBody>
          <a:bodyPr wrap="square" lIns="0" tIns="0" rIns="0" bIns="0" rtlCol="0" anchor="t"/>
          <a:lstStyle/>
          <a:p>
            <a:pPr algn="l" indent="0" marL="0">
              <a:buNone/>
            </a:pPr>
            <a:r>
              <a:rPr lang="en-US" sz="860" b="1" spc="110" kern="0" dirty="0">
                <a:solidFill>
                  <a:srgbClr val="0E6E7A"/>
                </a:solidFill>
                <a:latin typeface="Aptos" pitchFamily="34" charset="0"/>
                <a:ea typeface="Aptos" pitchFamily="34" charset="-122"/>
                <a:cs typeface="Aptos" pitchFamily="34" charset="-120"/>
              </a:rPr>
              <a:t>Y CUANTIFICÓ EL DEFECTO DE REDONDEO</a:t>
            </a:r>
            <a:endParaRPr lang="en-US" sz="860" dirty="0"/>
          </a:p>
        </p:txBody>
      </p:sp>
      <p:sp>
        <p:nvSpPr>
          <p:cNvPr id="23" name="Text 20"/>
          <p:cNvSpPr txBox="1"/>
          <p:nvPr/>
        </p:nvSpPr>
        <p:spPr>
          <a:xfrm>
            <a:off x="7772400" y="2852928"/>
            <a:ext cx="1005840" cy="548640"/>
          </a:xfrm>
          <a:prstGeom prst="rect">
            <a:avLst/>
          </a:prstGeom>
          <a:noFill/>
          <a:ln/>
        </p:spPr>
        <p:txBody>
          <a:bodyPr wrap="square" lIns="0" tIns="0" rIns="0" bIns="0" rtlCol="0" anchor="t"/>
          <a:lstStyle/>
          <a:p>
            <a:pPr algn="l" indent="0" marL="0">
              <a:buNone/>
            </a:pPr>
            <a:r>
              <a:rPr lang="en-US" sz="3600" b="1" dirty="0">
                <a:solidFill>
                  <a:srgbClr val="0E6E7A"/>
                </a:solidFill>
                <a:latin typeface="Aptos Display" pitchFamily="34" charset="0"/>
                <a:ea typeface="Aptos Display" pitchFamily="34" charset="-122"/>
                <a:cs typeface="Aptos Display" pitchFamily="34" charset="-120"/>
              </a:rPr>
              <a:t>204</a:t>
            </a:r>
            <a:endParaRPr lang="en-US" sz="3600" dirty="0"/>
          </a:p>
        </p:txBody>
      </p:sp>
      <p:sp>
        <p:nvSpPr>
          <p:cNvPr id="24" name="Text 21"/>
          <p:cNvSpPr txBox="1"/>
          <p:nvPr/>
        </p:nvSpPr>
        <p:spPr>
          <a:xfrm>
            <a:off x="8833104" y="2926080"/>
            <a:ext cx="2468880" cy="475488"/>
          </a:xfrm>
          <a:prstGeom prst="rect">
            <a:avLst/>
          </a:prstGeom>
          <a:noFill/>
          <a:ln/>
        </p:spPr>
        <p:txBody>
          <a:bodyPr wrap="square" lIns="0" tIns="0" rIns="0" bIns="0" rtlCol="0" anchor="t"/>
          <a:lstStyle/>
          <a:p>
            <a:pPr algn="l" indent="0" marL="0">
              <a:lnSpc>
                <a:spcPct val="114000"/>
              </a:lnSpc>
              <a:buNone/>
            </a:pPr>
            <a:r>
              <a:rPr lang="en-US" sz="1120" dirty="0">
                <a:solidFill>
                  <a:srgbClr val="243B53"/>
                </a:solidFill>
                <a:latin typeface="Aptos" pitchFamily="34" charset="0"/>
                <a:ea typeface="Aptos" pitchFamily="34" charset="-122"/>
                <a:cs typeface="Aptos" pitchFamily="34" charset="-120"/>
              </a:rPr>
              <a:t>pares de notas se redondean hacia abajo</a:t>
            </a:r>
            <a:endParaRPr lang="en-US" sz="1120" dirty="0"/>
          </a:p>
        </p:txBody>
      </p:sp>
      <p:sp>
        <p:nvSpPr>
          <p:cNvPr id="25" name="Text 22"/>
          <p:cNvSpPr txBox="1"/>
          <p:nvPr/>
        </p:nvSpPr>
        <p:spPr>
          <a:xfrm>
            <a:off x="7772400" y="3602736"/>
            <a:ext cx="1005840" cy="548640"/>
          </a:xfrm>
          <a:prstGeom prst="rect">
            <a:avLst/>
          </a:prstGeom>
          <a:noFill/>
          <a:ln/>
        </p:spPr>
        <p:txBody>
          <a:bodyPr wrap="square" lIns="0" tIns="0" rIns="0" bIns="0" rtlCol="0" anchor="t"/>
          <a:lstStyle/>
          <a:p>
            <a:pPr algn="l" indent="0" marL="0">
              <a:buNone/>
            </a:pPr>
            <a:r>
              <a:rPr lang="en-US" sz="3600" b="1" dirty="0">
                <a:solidFill>
                  <a:srgbClr val="0E6E7A"/>
                </a:solidFill>
                <a:latin typeface="Aptos Display" pitchFamily="34" charset="0"/>
                <a:ea typeface="Aptos Display" pitchFamily="34" charset="-122"/>
                <a:cs typeface="Aptos Display" pitchFamily="34" charset="-120"/>
              </a:rPr>
              <a:t>12</a:t>
            </a:r>
            <a:endParaRPr lang="en-US" sz="3600" dirty="0"/>
          </a:p>
        </p:txBody>
      </p:sp>
      <p:sp>
        <p:nvSpPr>
          <p:cNvPr id="26" name="Text 23"/>
          <p:cNvSpPr txBox="1"/>
          <p:nvPr/>
        </p:nvSpPr>
        <p:spPr>
          <a:xfrm>
            <a:off x="8833104" y="3675888"/>
            <a:ext cx="2468880" cy="475488"/>
          </a:xfrm>
          <a:prstGeom prst="rect">
            <a:avLst/>
          </a:prstGeom>
          <a:noFill/>
          <a:ln/>
        </p:spPr>
        <p:txBody>
          <a:bodyPr wrap="square" lIns="0" tIns="0" rIns="0" bIns="0" rtlCol="0" anchor="t"/>
          <a:lstStyle/>
          <a:p>
            <a:pPr algn="l" indent="0" marL="0">
              <a:lnSpc>
                <a:spcPct val="114000"/>
              </a:lnSpc>
              <a:buNone/>
            </a:pPr>
            <a:r>
              <a:rPr lang="en-US" sz="1120" dirty="0">
                <a:solidFill>
                  <a:srgbClr val="243B53"/>
                </a:solidFill>
                <a:latin typeface="Aptos" pitchFamily="34" charset="0"/>
                <a:ea typeface="Aptos" pitchFamily="34" charset="-122"/>
                <a:cs typeface="Aptos" pitchFamily="34" charset="-120"/>
              </a:rPr>
              <a:t>de ellos caen exactamente en 3,95</a:t>
            </a:r>
            <a:endParaRPr lang="en-US" sz="1120" dirty="0"/>
          </a:p>
        </p:txBody>
      </p:sp>
      <p:sp>
        <p:nvSpPr>
          <p:cNvPr id="27" name="Text 24"/>
          <p:cNvSpPr txBox="1"/>
          <p:nvPr/>
        </p:nvSpPr>
        <p:spPr>
          <a:xfrm>
            <a:off x="7772400" y="4261104"/>
            <a:ext cx="3511296" cy="219456"/>
          </a:xfrm>
          <a:prstGeom prst="rect">
            <a:avLst/>
          </a:prstGeom>
          <a:noFill/>
          <a:ln/>
        </p:spPr>
        <p:txBody>
          <a:bodyPr wrap="square" lIns="0" tIns="0" rIns="0" bIns="0" rtlCol="0" anchor="t"/>
          <a:lstStyle/>
          <a:p>
            <a:pPr algn="l" indent="0" marL="0">
              <a:buNone/>
            </a:pPr>
            <a:r>
              <a:rPr lang="en-US" sz="1040" i="1" dirty="0">
                <a:solidFill>
                  <a:srgbClr val="52606D"/>
                </a:solidFill>
                <a:latin typeface="Aptos" pitchFamily="34" charset="0"/>
                <a:ea typeface="Aptos" pitchFamily="34" charset="-122"/>
                <a:cs typeface="Aptos" pitchFamily="34" charset="-120"/>
              </a:rPr>
              <a:t>Verificado con un barrido propio: las dos cifras son exactas.</a:t>
            </a:r>
            <a:endParaRPr lang="en-US" sz="1040" dirty="0"/>
          </a:p>
        </p:txBody>
      </p:sp>
      <p:sp>
        <p:nvSpPr>
          <p:cNvPr id="28" name="Shape 25"/>
          <p:cNvSpPr/>
          <p:nvPr/>
        </p:nvSpPr>
        <p:spPr>
          <a:xfrm>
            <a:off x="658368" y="4700016"/>
            <a:ext cx="10874959" cy="859536"/>
          </a:xfrm>
          <a:prstGeom prst="rect">
            <a:avLst/>
          </a:prstGeom>
          <a:solidFill>
            <a:srgbClr val="F2E7D9"/>
          </a:solidFill>
          <a:ln w="12700">
            <a:solidFill>
              <a:srgbClr val="F2E7D9"/>
            </a:solidFill>
            <a:prstDash val="solid"/>
          </a:ln>
        </p:spPr>
      </p:sp>
      <p:sp>
        <p:nvSpPr>
          <p:cNvPr id="29" name="Shape 26"/>
          <p:cNvSpPr/>
          <p:nvPr/>
        </p:nvSpPr>
        <p:spPr>
          <a:xfrm>
            <a:off x="658368" y="4700016"/>
            <a:ext cx="73152" cy="859536"/>
          </a:xfrm>
          <a:prstGeom prst="rect">
            <a:avLst/>
          </a:prstGeom>
          <a:solidFill>
            <a:srgbClr val="8A6A12"/>
          </a:solidFill>
          <a:ln w="12700">
            <a:solidFill>
              <a:srgbClr val="8A6A12"/>
            </a:solidFill>
            <a:prstDash val="solid"/>
          </a:ln>
        </p:spPr>
      </p:sp>
      <p:sp>
        <p:nvSpPr>
          <p:cNvPr id="30" name="Text 27"/>
          <p:cNvSpPr txBox="1"/>
          <p:nvPr/>
        </p:nvSpPr>
        <p:spPr>
          <a:xfrm>
            <a:off x="950976" y="4809744"/>
            <a:ext cx="4572000" cy="182880"/>
          </a:xfrm>
          <a:prstGeom prst="rect">
            <a:avLst/>
          </a:prstGeom>
          <a:noFill/>
          <a:ln/>
        </p:spPr>
        <p:txBody>
          <a:bodyPr wrap="square" lIns="0" tIns="0" rIns="0" bIns="0" rtlCol="0" anchor="t"/>
          <a:lstStyle/>
          <a:p>
            <a:pPr algn="l" indent="0" marL="0">
              <a:buNone/>
            </a:pPr>
            <a:r>
              <a:rPr lang="en-US" sz="880" b="1" spc="115" kern="0" dirty="0">
                <a:solidFill>
                  <a:srgbClr val="8A6A12"/>
                </a:solidFill>
                <a:latin typeface="Aptos" pitchFamily="34" charset="0"/>
                <a:ea typeface="Aptos" pitchFamily="34" charset="-122"/>
                <a:cs typeface="Aptos" pitchFamily="34" charset="-120"/>
              </a:rPr>
              <a:t>LA OBSERVACIÓN MÁS FINA DEL INFORME</a:t>
            </a:r>
            <a:endParaRPr lang="en-US" sz="880" dirty="0"/>
          </a:p>
        </p:txBody>
      </p:sp>
      <p:sp>
        <p:nvSpPr>
          <p:cNvPr id="31" name="Text 28"/>
          <p:cNvSpPr txBox="1"/>
          <p:nvPr/>
        </p:nvSpPr>
        <p:spPr>
          <a:xfrm>
            <a:off x="950976" y="5047488"/>
            <a:ext cx="10234879" cy="420624"/>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«nota_final([3.9, 4.0]) sí da 4.0, porque ahí el float cae por sobre el punto medio. El bug es intermitente según los sumandos.» Esa es exactamente la entrada que eligió la prueba de la clase pasada: la que no falla.</a:t>
            </a:r>
            <a:endParaRPr lang="en-US" sz="1220" dirty="0"/>
          </a:p>
        </p:txBody>
      </p:sp>
      <p:sp>
        <p:nvSpPr>
          <p:cNvPr id="32" name="Shape 29"/>
          <p:cNvSpPr/>
          <p:nvPr/>
        </p:nvSpPr>
        <p:spPr>
          <a:xfrm>
            <a:off x="658368" y="5705856"/>
            <a:ext cx="10874959" cy="512064"/>
          </a:xfrm>
          <a:prstGeom prst="rect">
            <a:avLst/>
          </a:prstGeom>
          <a:solidFill>
            <a:srgbClr val="102A43"/>
          </a:solidFill>
          <a:ln w="12700">
            <a:solidFill>
              <a:srgbClr val="102A43"/>
            </a:solidFill>
            <a:prstDash val="solid"/>
          </a:ln>
        </p:spPr>
      </p:sp>
      <p:sp>
        <p:nvSpPr>
          <p:cNvPr id="33" name="Text 30"/>
          <p:cNvSpPr txBox="1"/>
          <p:nvPr/>
        </p:nvSpPr>
        <p:spPr>
          <a:xfrm>
            <a:off x="969264" y="5760720"/>
            <a:ext cx="10253167" cy="402336"/>
          </a:xfrm>
          <a:prstGeom prst="rect">
            <a:avLst/>
          </a:prstGeom>
          <a:noFill/>
          <a:ln/>
        </p:spPr>
        <p:txBody>
          <a:bodyPr wrap="square" lIns="0" tIns="0" rIns="0" bIns="0" rtlCol="0" anchor="ctr"/>
          <a:lstStyle/>
          <a:p>
            <a:pPr algn="ctr" indent="0" marL="0">
              <a:lnSpc>
                <a:spcPct val="114000"/>
              </a:lnSpc>
              <a:buNone/>
            </a:pPr>
            <a:r>
              <a:rPr lang="en-US" sz="1320" b="1" dirty="0">
                <a:solidFill>
                  <a:srgbClr val="FFFFFF"/>
                </a:solidFill>
                <a:latin typeface="Aptos" pitchFamily="34" charset="0"/>
                <a:ea typeface="Aptos" pitchFamily="34" charset="-122"/>
                <a:cs typeface="Aptos" pitchFamily="34" charset="-120"/>
              </a:rPr>
              <a:t>Un auditor automático puede llegar solo a la distinción entre defecto y hueco de especificación, si le pides la entrada concreta de cada hallazgo.</a:t>
            </a:r>
            <a:endParaRPr lang="en-US" sz="13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3.6 · EL RESULTADO DEL EXPERIMENTO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Mismo código, misma información, tres resultados</a:t>
            </a:r>
            <a:endParaRPr lang="en-US" sz="3000" dirty="0"/>
          </a:p>
        </p:txBody>
      </p:sp>
      <p:sp>
        <p:nvSpPr>
          <p:cNvPr id="10" name="Text 7"/>
          <p:cNvSpPr txBox="1"/>
          <p:nvPr/>
        </p:nvSpPr>
        <p:spPr>
          <a:xfrm>
            <a:off x="658368" y="2066544"/>
            <a:ext cx="3108960" cy="182880"/>
          </a:xfrm>
          <a:prstGeom prst="rect">
            <a:avLst/>
          </a:prstGeom>
          <a:noFill/>
          <a:ln/>
        </p:spPr>
        <p:txBody>
          <a:bodyPr wrap="square" lIns="0" tIns="0" rIns="0" bIns="0" rtlCol="0" anchor="t"/>
          <a:lstStyle/>
          <a:p>
            <a:pPr algn="l" indent="0" marL="0">
              <a:buNone/>
            </a:pPr>
            <a:r>
              <a:rPr lang="en-US" sz="860" b="1" spc="110" kern="0" dirty="0">
                <a:solidFill>
                  <a:srgbClr val="96A3B2"/>
                </a:solidFill>
                <a:latin typeface="Aptos" pitchFamily="34" charset="0"/>
                <a:ea typeface="Aptos" pitchFamily="34" charset="-122"/>
                <a:cs typeface="Aptos" pitchFamily="34" charset="-120"/>
              </a:rPr>
              <a:t>PROBLEMA DEL FRAGMENTO</a:t>
            </a:r>
            <a:endParaRPr lang="en-US" sz="860" dirty="0"/>
          </a:p>
        </p:txBody>
      </p:sp>
      <p:sp>
        <p:nvSpPr>
          <p:cNvPr id="11" name="Text 8"/>
          <p:cNvSpPr txBox="1"/>
          <p:nvPr/>
        </p:nvSpPr>
        <p:spPr>
          <a:xfrm>
            <a:off x="5029200" y="2066544"/>
            <a:ext cx="2103120" cy="182880"/>
          </a:xfrm>
          <a:prstGeom prst="rect">
            <a:avLst/>
          </a:prstGeom>
          <a:noFill/>
          <a:ln/>
        </p:spPr>
        <p:txBody>
          <a:bodyPr wrap="square" lIns="0" tIns="0" rIns="0" bIns="0" rtlCol="0" anchor="t"/>
          <a:lstStyle/>
          <a:p>
            <a:pPr algn="ctr" indent="0" marL="0">
              <a:buNone/>
            </a:pPr>
            <a:r>
              <a:rPr lang="en-US" sz="860" b="1" spc="110" kern="0" dirty="0">
                <a:solidFill>
                  <a:srgbClr val="96A3B2"/>
                </a:solidFill>
                <a:latin typeface="Aptos" pitchFamily="34" charset="0"/>
                <a:ea typeface="Aptos" pitchFamily="34" charset="-122"/>
                <a:cs typeface="Aptos" pitchFamily="34" charset="-120"/>
              </a:rPr>
              <a:t>PIDE CONFIRMAR</a:t>
            </a:r>
            <a:endParaRPr lang="en-US" sz="860" dirty="0"/>
          </a:p>
        </p:txBody>
      </p:sp>
      <p:sp>
        <p:nvSpPr>
          <p:cNvPr id="12" name="Text 9"/>
          <p:cNvSpPr txBox="1"/>
          <p:nvPr/>
        </p:nvSpPr>
        <p:spPr>
          <a:xfrm>
            <a:off x="7223760" y="2066544"/>
            <a:ext cx="2103120" cy="182880"/>
          </a:xfrm>
          <a:prstGeom prst="rect">
            <a:avLst/>
          </a:prstGeom>
          <a:noFill/>
          <a:ln/>
        </p:spPr>
        <p:txBody>
          <a:bodyPr wrap="square" lIns="0" tIns="0" rIns="0" bIns="0" rtlCol="0" anchor="t"/>
          <a:lstStyle/>
          <a:p>
            <a:pPr algn="ctr" indent="0" marL="0">
              <a:buNone/>
            </a:pPr>
            <a:r>
              <a:rPr lang="en-US" sz="860" b="1" spc="110" kern="0" dirty="0">
                <a:solidFill>
                  <a:srgbClr val="96A3B2"/>
                </a:solidFill>
                <a:latin typeface="Aptos" pitchFamily="34" charset="0"/>
                <a:ea typeface="Aptos" pitchFamily="34" charset="-122"/>
                <a:cs typeface="Aptos" pitchFamily="34" charset="-120"/>
              </a:rPr>
              <a:t>AUDITA EL CAMBIO</a:t>
            </a:r>
            <a:endParaRPr lang="en-US" sz="860" dirty="0"/>
          </a:p>
        </p:txBody>
      </p:sp>
      <p:sp>
        <p:nvSpPr>
          <p:cNvPr id="13" name="Text 10"/>
          <p:cNvSpPr txBox="1"/>
          <p:nvPr/>
        </p:nvSpPr>
        <p:spPr>
          <a:xfrm>
            <a:off x="9418320" y="2066544"/>
            <a:ext cx="2112264" cy="182880"/>
          </a:xfrm>
          <a:prstGeom prst="rect">
            <a:avLst/>
          </a:prstGeom>
          <a:noFill/>
          <a:ln/>
        </p:spPr>
        <p:txBody>
          <a:bodyPr wrap="square" lIns="0" tIns="0" rIns="0" bIns="0" rtlCol="0" anchor="t"/>
          <a:lstStyle/>
          <a:p>
            <a:pPr algn="ctr" indent="0" marL="0">
              <a:buNone/>
            </a:pPr>
            <a:r>
              <a:rPr lang="en-US" sz="860" b="1" spc="110" kern="0" dirty="0">
                <a:solidFill>
                  <a:srgbClr val="96A3B2"/>
                </a:solidFill>
                <a:latin typeface="Aptos" pitchFamily="34" charset="0"/>
                <a:ea typeface="Aptos" pitchFamily="34" charset="-122"/>
                <a:cs typeface="Aptos" pitchFamily="34" charset="-120"/>
              </a:rPr>
              <a:t>AUDITORÍA DIRIGIDA</a:t>
            </a:r>
            <a:endParaRPr lang="en-US" sz="860" dirty="0"/>
          </a:p>
        </p:txBody>
      </p:sp>
      <p:sp>
        <p:nvSpPr>
          <p:cNvPr id="14" name="Shape 11"/>
          <p:cNvSpPr/>
          <p:nvPr/>
        </p:nvSpPr>
        <p:spPr>
          <a:xfrm>
            <a:off x="658368" y="2322576"/>
            <a:ext cx="10874959" cy="0"/>
          </a:xfrm>
          <a:prstGeom prst="line">
            <a:avLst/>
          </a:prstGeom>
          <a:noFill/>
          <a:ln w="12700">
            <a:solidFill>
              <a:srgbClr val="D8CFC4"/>
            </a:solidFill>
            <a:prstDash val="solid"/>
            <a:headEnd type="none"/>
            <a:tailEnd type="none"/>
          </a:ln>
        </p:spPr>
      </p:sp>
      <p:sp>
        <p:nvSpPr>
          <p:cNvPr id="15" name="Shape 12"/>
          <p:cNvSpPr/>
          <p:nvPr/>
        </p:nvSpPr>
        <p:spPr>
          <a:xfrm>
            <a:off x="658368" y="2468880"/>
            <a:ext cx="45720" cy="310896"/>
          </a:xfrm>
          <a:prstGeom prst="rect">
            <a:avLst/>
          </a:prstGeom>
          <a:solidFill>
            <a:srgbClr val="B3181E"/>
          </a:solidFill>
          <a:ln w="12700">
            <a:solidFill>
              <a:srgbClr val="B3181E"/>
            </a:solidFill>
            <a:prstDash val="solid"/>
          </a:ln>
        </p:spPr>
      </p:sp>
      <p:sp>
        <p:nvSpPr>
          <p:cNvPr id="16" name="Text 13"/>
          <p:cNvSpPr txBox="1"/>
          <p:nvPr/>
        </p:nvSpPr>
        <p:spPr>
          <a:xfrm>
            <a:off x="877824" y="2468880"/>
            <a:ext cx="3200400" cy="274320"/>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asistencia &gt; 70</a:t>
            </a:r>
            <a:endParaRPr lang="en-US" sz="1240" dirty="0"/>
          </a:p>
        </p:txBody>
      </p:sp>
      <p:sp>
        <p:nvSpPr>
          <p:cNvPr id="17" name="Text 14"/>
          <p:cNvSpPr txBox="1"/>
          <p:nvPr/>
        </p:nvSpPr>
        <p:spPr>
          <a:xfrm>
            <a:off x="4114800" y="2505456"/>
            <a:ext cx="822960" cy="219456"/>
          </a:xfrm>
          <a:prstGeom prst="rect">
            <a:avLst/>
          </a:prstGeom>
          <a:noFill/>
          <a:ln/>
        </p:spPr>
        <p:txBody>
          <a:bodyPr wrap="square" lIns="0" tIns="0" rIns="0" bIns="0" rtlCol="0" anchor="t"/>
          <a:lstStyle/>
          <a:p>
            <a:pPr algn="l" indent="0" marL="0">
              <a:buNone/>
            </a:pPr>
            <a:r>
              <a:rPr lang="en-US" sz="860" b="1" spc="60" kern="0" dirty="0">
                <a:solidFill>
                  <a:srgbClr val="B3181E"/>
                </a:solidFill>
                <a:latin typeface="Aptos" pitchFamily="34" charset="0"/>
                <a:ea typeface="Aptos" pitchFamily="34" charset="-122"/>
                <a:cs typeface="Aptos" pitchFamily="34" charset="-120"/>
              </a:rPr>
              <a:t>DEFECTO</a:t>
            </a:r>
            <a:endParaRPr lang="en-US" sz="860" dirty="0"/>
          </a:p>
        </p:txBody>
      </p:sp>
      <p:sp>
        <p:nvSpPr>
          <p:cNvPr id="18" name="Text 15"/>
          <p:cNvSpPr txBox="1"/>
          <p:nvPr/>
        </p:nvSpPr>
        <p:spPr>
          <a:xfrm>
            <a:off x="5029200" y="2505456"/>
            <a:ext cx="2103120" cy="219456"/>
          </a:xfrm>
          <a:prstGeom prst="rect">
            <a:avLst/>
          </a:prstGeom>
          <a:noFill/>
          <a:ln/>
        </p:spPr>
        <p:txBody>
          <a:bodyPr wrap="square" lIns="0" tIns="0" rIns="0" bIns="0" rtlCol="0" anchor="t"/>
          <a:lstStyle/>
          <a:p>
            <a:pPr algn="ctr" indent="0" marL="0">
              <a:buNone/>
            </a:pPr>
            <a:r>
              <a:rPr lang="en-US" sz="1140" b="1" dirty="0">
                <a:solidFill>
                  <a:srgbClr val="2E7D4F"/>
                </a:solidFill>
                <a:latin typeface="Aptos" pitchFamily="34" charset="0"/>
                <a:ea typeface="Aptos" pitchFamily="34" charset="-122"/>
                <a:cs typeface="Aptos" pitchFamily="34" charset="-120"/>
              </a:rPr>
              <a:t>encontrado</a:t>
            </a:r>
            <a:endParaRPr lang="en-US" sz="1140" dirty="0"/>
          </a:p>
        </p:txBody>
      </p:sp>
      <p:sp>
        <p:nvSpPr>
          <p:cNvPr id="19" name="Text 16"/>
          <p:cNvSpPr txBox="1"/>
          <p:nvPr/>
        </p:nvSpPr>
        <p:spPr>
          <a:xfrm>
            <a:off x="7223760" y="2505456"/>
            <a:ext cx="2103120" cy="219456"/>
          </a:xfrm>
          <a:prstGeom prst="rect">
            <a:avLst/>
          </a:prstGeom>
          <a:noFill/>
          <a:ln/>
        </p:spPr>
        <p:txBody>
          <a:bodyPr wrap="square" lIns="0" tIns="0" rIns="0" bIns="0" rtlCol="0" anchor="t"/>
          <a:lstStyle/>
          <a:p>
            <a:pPr algn="ctr" indent="0" marL="0">
              <a:buNone/>
            </a:pPr>
            <a:r>
              <a:rPr lang="en-US" sz="1140" b="1" dirty="0">
                <a:solidFill>
                  <a:srgbClr val="2E7D4F"/>
                </a:solidFill>
                <a:latin typeface="Aptos" pitchFamily="34" charset="0"/>
                <a:ea typeface="Aptos" pitchFamily="34" charset="-122"/>
                <a:cs typeface="Aptos" pitchFamily="34" charset="-120"/>
              </a:rPr>
              <a:t>encontrado</a:t>
            </a:r>
            <a:endParaRPr lang="en-US" sz="1140" dirty="0"/>
          </a:p>
        </p:txBody>
      </p:sp>
      <p:sp>
        <p:nvSpPr>
          <p:cNvPr id="20" name="Text 17"/>
          <p:cNvSpPr txBox="1"/>
          <p:nvPr/>
        </p:nvSpPr>
        <p:spPr>
          <a:xfrm>
            <a:off x="9418320" y="2505456"/>
            <a:ext cx="2112264" cy="219456"/>
          </a:xfrm>
          <a:prstGeom prst="rect">
            <a:avLst/>
          </a:prstGeom>
          <a:noFill/>
          <a:ln/>
        </p:spPr>
        <p:txBody>
          <a:bodyPr wrap="square" lIns="0" tIns="0" rIns="0" bIns="0" rtlCol="0" anchor="t"/>
          <a:lstStyle/>
          <a:p>
            <a:pPr algn="ctr" indent="0" marL="0">
              <a:buNone/>
            </a:pPr>
            <a:r>
              <a:rPr lang="en-US" sz="1140" b="1" dirty="0">
                <a:solidFill>
                  <a:srgbClr val="2E7D4F"/>
                </a:solidFill>
                <a:latin typeface="Aptos" pitchFamily="34" charset="0"/>
                <a:ea typeface="Aptos" pitchFamily="34" charset="-122"/>
                <a:cs typeface="Aptos" pitchFamily="34" charset="-120"/>
              </a:rPr>
              <a:t>encontrado</a:t>
            </a:r>
            <a:endParaRPr lang="en-US" sz="1140" dirty="0"/>
          </a:p>
        </p:txBody>
      </p:sp>
      <p:sp>
        <p:nvSpPr>
          <p:cNvPr id="21" name="Shape 18"/>
          <p:cNvSpPr/>
          <p:nvPr/>
        </p:nvSpPr>
        <p:spPr>
          <a:xfrm>
            <a:off x="658368" y="2834640"/>
            <a:ext cx="10874959" cy="0"/>
          </a:xfrm>
          <a:prstGeom prst="line">
            <a:avLst/>
          </a:prstGeom>
          <a:noFill/>
          <a:ln w="12700">
            <a:solidFill>
              <a:srgbClr val="D8CFC4"/>
            </a:solidFill>
            <a:prstDash val="solid"/>
            <a:headEnd type="none"/>
            <a:tailEnd type="none"/>
          </a:ln>
        </p:spPr>
      </p:sp>
      <p:sp>
        <p:nvSpPr>
          <p:cNvPr id="22" name="Shape 19"/>
          <p:cNvSpPr/>
          <p:nvPr/>
        </p:nvSpPr>
        <p:spPr>
          <a:xfrm>
            <a:off x="658368" y="2944368"/>
            <a:ext cx="45720" cy="310896"/>
          </a:xfrm>
          <a:prstGeom prst="rect">
            <a:avLst/>
          </a:prstGeom>
          <a:solidFill>
            <a:srgbClr val="B3181E"/>
          </a:solidFill>
          <a:ln w="12700">
            <a:solidFill>
              <a:srgbClr val="B3181E"/>
            </a:solidFill>
            <a:prstDash val="solid"/>
          </a:ln>
        </p:spPr>
      </p:sp>
      <p:sp>
        <p:nvSpPr>
          <p:cNvPr id="23" name="Text 20"/>
          <p:cNvSpPr txBox="1"/>
          <p:nvPr/>
        </p:nvSpPr>
        <p:spPr>
          <a:xfrm>
            <a:off x="877824" y="2944368"/>
            <a:ext cx="3200400" cy="274320"/>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El redondeo sobre punto flotante</a:t>
            </a:r>
            <a:endParaRPr lang="en-US" sz="1240" dirty="0"/>
          </a:p>
        </p:txBody>
      </p:sp>
      <p:sp>
        <p:nvSpPr>
          <p:cNvPr id="24" name="Text 21"/>
          <p:cNvSpPr txBox="1"/>
          <p:nvPr/>
        </p:nvSpPr>
        <p:spPr>
          <a:xfrm>
            <a:off x="4114800" y="2980944"/>
            <a:ext cx="822960" cy="219456"/>
          </a:xfrm>
          <a:prstGeom prst="rect">
            <a:avLst/>
          </a:prstGeom>
          <a:noFill/>
          <a:ln/>
        </p:spPr>
        <p:txBody>
          <a:bodyPr wrap="square" lIns="0" tIns="0" rIns="0" bIns="0" rtlCol="0" anchor="t"/>
          <a:lstStyle/>
          <a:p>
            <a:pPr algn="l" indent="0" marL="0">
              <a:buNone/>
            </a:pPr>
            <a:r>
              <a:rPr lang="en-US" sz="860" b="1" spc="60" kern="0" dirty="0">
                <a:solidFill>
                  <a:srgbClr val="B3181E"/>
                </a:solidFill>
                <a:latin typeface="Aptos" pitchFamily="34" charset="0"/>
                <a:ea typeface="Aptos" pitchFamily="34" charset="-122"/>
                <a:cs typeface="Aptos" pitchFamily="34" charset="-120"/>
              </a:rPr>
              <a:t>DEFECTO</a:t>
            </a:r>
            <a:endParaRPr lang="en-US" sz="860" dirty="0"/>
          </a:p>
        </p:txBody>
      </p:sp>
      <p:sp>
        <p:nvSpPr>
          <p:cNvPr id="25" name="Text 22"/>
          <p:cNvSpPr txBox="1"/>
          <p:nvPr/>
        </p:nvSpPr>
        <p:spPr>
          <a:xfrm>
            <a:off x="5029200" y="2980944"/>
            <a:ext cx="2103120" cy="219456"/>
          </a:xfrm>
          <a:prstGeom prst="rect">
            <a:avLst/>
          </a:prstGeom>
          <a:noFill/>
          <a:ln/>
        </p:spPr>
        <p:txBody>
          <a:bodyPr wrap="square" lIns="0" tIns="0" rIns="0" bIns="0" rtlCol="0" anchor="t"/>
          <a:lstStyle/>
          <a:p>
            <a:pPr algn="ctr" indent="0" marL="0">
              <a:buNone/>
            </a:pPr>
            <a:r>
              <a:rPr lang="en-US" sz="1140" b="1" dirty="0">
                <a:solidFill>
                  <a:srgbClr val="B3181E"/>
                </a:solidFill>
                <a:latin typeface="Aptos" pitchFamily="34" charset="0"/>
                <a:ea typeface="Aptos" pitchFamily="34" charset="-122"/>
                <a:cs typeface="Aptos" pitchFamily="34" charset="-120"/>
              </a:rPr>
              <a:t>declarado correcto</a:t>
            </a:r>
            <a:endParaRPr lang="en-US" sz="1140" dirty="0"/>
          </a:p>
        </p:txBody>
      </p:sp>
      <p:sp>
        <p:nvSpPr>
          <p:cNvPr id="26" name="Text 23"/>
          <p:cNvSpPr txBox="1"/>
          <p:nvPr/>
        </p:nvSpPr>
        <p:spPr>
          <a:xfrm>
            <a:off x="7223760" y="2980944"/>
            <a:ext cx="2103120" cy="219456"/>
          </a:xfrm>
          <a:prstGeom prst="rect">
            <a:avLst/>
          </a:prstGeom>
          <a:noFill/>
          <a:ln/>
        </p:spPr>
        <p:txBody>
          <a:bodyPr wrap="square" lIns="0" tIns="0" rIns="0" bIns="0" rtlCol="0" anchor="t"/>
          <a:lstStyle/>
          <a:p>
            <a:pPr algn="ctr" indent="0" marL="0">
              <a:buNone/>
            </a:pPr>
            <a:r>
              <a:rPr lang="en-US" sz="1140" b="1" dirty="0">
                <a:solidFill>
                  <a:srgbClr val="2E7D4F"/>
                </a:solidFill>
                <a:latin typeface="Aptos" pitchFamily="34" charset="0"/>
                <a:ea typeface="Aptos" pitchFamily="34" charset="-122"/>
                <a:cs typeface="Aptos" pitchFamily="34" charset="-120"/>
              </a:rPr>
              <a:t>encontrado</a:t>
            </a:r>
            <a:endParaRPr lang="en-US" sz="1140" dirty="0"/>
          </a:p>
        </p:txBody>
      </p:sp>
      <p:sp>
        <p:nvSpPr>
          <p:cNvPr id="27" name="Text 24"/>
          <p:cNvSpPr txBox="1"/>
          <p:nvPr/>
        </p:nvSpPr>
        <p:spPr>
          <a:xfrm>
            <a:off x="9418320" y="2980944"/>
            <a:ext cx="2112264" cy="219456"/>
          </a:xfrm>
          <a:prstGeom prst="rect">
            <a:avLst/>
          </a:prstGeom>
          <a:noFill/>
          <a:ln/>
        </p:spPr>
        <p:txBody>
          <a:bodyPr wrap="square" lIns="0" tIns="0" rIns="0" bIns="0" rtlCol="0" anchor="t"/>
          <a:lstStyle/>
          <a:p>
            <a:pPr algn="ctr" indent="0" marL="0">
              <a:buNone/>
            </a:pPr>
            <a:r>
              <a:rPr lang="en-US" sz="1140" b="1" dirty="0">
                <a:solidFill>
                  <a:srgbClr val="2E7D4F"/>
                </a:solidFill>
                <a:latin typeface="Aptos" pitchFamily="34" charset="0"/>
                <a:ea typeface="Aptos" pitchFamily="34" charset="-122"/>
                <a:cs typeface="Aptos" pitchFamily="34" charset="-120"/>
              </a:rPr>
              <a:t>encontrado</a:t>
            </a:r>
            <a:endParaRPr lang="en-US" sz="1140" dirty="0"/>
          </a:p>
        </p:txBody>
      </p:sp>
      <p:sp>
        <p:nvSpPr>
          <p:cNvPr id="28" name="Shape 25"/>
          <p:cNvSpPr/>
          <p:nvPr/>
        </p:nvSpPr>
        <p:spPr>
          <a:xfrm>
            <a:off x="658368" y="3310128"/>
            <a:ext cx="10874959" cy="0"/>
          </a:xfrm>
          <a:prstGeom prst="line">
            <a:avLst/>
          </a:prstGeom>
          <a:noFill/>
          <a:ln w="12700">
            <a:solidFill>
              <a:srgbClr val="D8CFC4"/>
            </a:solidFill>
            <a:prstDash val="solid"/>
            <a:headEnd type="none"/>
            <a:tailEnd type="none"/>
          </a:ln>
        </p:spPr>
      </p:sp>
      <p:sp>
        <p:nvSpPr>
          <p:cNvPr id="29" name="Shape 26"/>
          <p:cNvSpPr/>
          <p:nvPr/>
        </p:nvSpPr>
        <p:spPr>
          <a:xfrm>
            <a:off x="658368" y="3419856"/>
            <a:ext cx="45720" cy="310896"/>
          </a:xfrm>
          <a:prstGeom prst="rect">
            <a:avLst/>
          </a:prstGeom>
          <a:solidFill>
            <a:srgbClr val="8A6A12"/>
          </a:solidFill>
          <a:ln w="12700">
            <a:solidFill>
              <a:srgbClr val="8A6A12"/>
            </a:solidFill>
            <a:prstDash val="solid"/>
          </a:ln>
        </p:spPr>
      </p:sp>
      <p:sp>
        <p:nvSpPr>
          <p:cNvPr id="30" name="Text 27"/>
          <p:cNvSpPr txBox="1"/>
          <p:nvPr/>
        </p:nvSpPr>
        <p:spPr>
          <a:xfrm>
            <a:off x="877824" y="3419856"/>
            <a:ext cx="3200400" cy="274320"/>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Lista de notas vacía</a:t>
            </a:r>
            <a:endParaRPr lang="en-US" sz="1240" dirty="0"/>
          </a:p>
        </p:txBody>
      </p:sp>
      <p:sp>
        <p:nvSpPr>
          <p:cNvPr id="31" name="Text 28"/>
          <p:cNvSpPr txBox="1"/>
          <p:nvPr/>
        </p:nvSpPr>
        <p:spPr>
          <a:xfrm>
            <a:off x="4114800" y="3456432"/>
            <a:ext cx="822960" cy="219456"/>
          </a:xfrm>
          <a:prstGeom prst="rect">
            <a:avLst/>
          </a:prstGeom>
          <a:noFill/>
          <a:ln/>
        </p:spPr>
        <p:txBody>
          <a:bodyPr wrap="square" lIns="0" tIns="0" rIns="0" bIns="0" rtlCol="0" anchor="t"/>
          <a:lstStyle/>
          <a:p>
            <a:pPr algn="l" indent="0" marL="0">
              <a:buNone/>
            </a:pPr>
            <a:r>
              <a:rPr lang="en-US" sz="860" b="1" spc="60" kern="0" dirty="0">
                <a:solidFill>
                  <a:srgbClr val="8A6A12"/>
                </a:solidFill>
                <a:latin typeface="Aptos" pitchFamily="34" charset="0"/>
                <a:ea typeface="Aptos" pitchFamily="34" charset="-122"/>
                <a:cs typeface="Aptos" pitchFamily="34" charset="-120"/>
              </a:rPr>
              <a:t>RIESGO</a:t>
            </a:r>
            <a:endParaRPr lang="en-US" sz="860" dirty="0"/>
          </a:p>
        </p:txBody>
      </p:sp>
      <p:sp>
        <p:nvSpPr>
          <p:cNvPr id="32" name="Text 29"/>
          <p:cNvSpPr txBox="1"/>
          <p:nvPr/>
        </p:nvSpPr>
        <p:spPr>
          <a:xfrm>
            <a:off x="5029200" y="3456432"/>
            <a:ext cx="2103120" cy="219456"/>
          </a:xfrm>
          <a:prstGeom prst="rect">
            <a:avLst/>
          </a:prstGeom>
          <a:noFill/>
          <a:ln/>
        </p:spPr>
        <p:txBody>
          <a:bodyPr wrap="square" lIns="0" tIns="0" rIns="0" bIns="0" rtlCol="0" anchor="t"/>
          <a:lstStyle/>
          <a:p>
            <a:pPr algn="ctr" indent="0" marL="0">
              <a:buNone/>
            </a:pPr>
            <a:r>
              <a:rPr lang="en-US" sz="1140" dirty="0">
                <a:solidFill>
                  <a:srgbClr val="96A3B2"/>
                </a:solidFill>
                <a:latin typeface="Aptos" pitchFamily="34" charset="0"/>
                <a:ea typeface="Aptos" pitchFamily="34" charset="-122"/>
                <a:cs typeface="Aptos" pitchFamily="34" charset="-120"/>
              </a:rPr>
              <a:t>no visto</a:t>
            </a:r>
            <a:endParaRPr lang="en-US" sz="1140" dirty="0"/>
          </a:p>
        </p:txBody>
      </p:sp>
      <p:sp>
        <p:nvSpPr>
          <p:cNvPr id="33" name="Text 30"/>
          <p:cNvSpPr txBox="1"/>
          <p:nvPr/>
        </p:nvSpPr>
        <p:spPr>
          <a:xfrm>
            <a:off x="7223760" y="3456432"/>
            <a:ext cx="2103120" cy="219456"/>
          </a:xfrm>
          <a:prstGeom prst="rect">
            <a:avLst/>
          </a:prstGeom>
          <a:noFill/>
          <a:ln/>
        </p:spPr>
        <p:txBody>
          <a:bodyPr wrap="square" lIns="0" tIns="0" rIns="0" bIns="0" rtlCol="0" anchor="t"/>
          <a:lstStyle/>
          <a:p>
            <a:pPr algn="ctr" indent="0" marL="0">
              <a:buNone/>
            </a:pPr>
            <a:r>
              <a:rPr lang="en-US" sz="1140" dirty="0">
                <a:solidFill>
                  <a:srgbClr val="96A3B2"/>
                </a:solidFill>
                <a:latin typeface="Aptos" pitchFamily="34" charset="0"/>
                <a:ea typeface="Aptos" pitchFamily="34" charset="-122"/>
                <a:cs typeface="Aptos" pitchFamily="34" charset="-120"/>
              </a:rPr>
              <a:t>no visto</a:t>
            </a:r>
            <a:endParaRPr lang="en-US" sz="1140" dirty="0"/>
          </a:p>
        </p:txBody>
      </p:sp>
      <p:sp>
        <p:nvSpPr>
          <p:cNvPr id="34" name="Text 31"/>
          <p:cNvSpPr txBox="1"/>
          <p:nvPr/>
        </p:nvSpPr>
        <p:spPr>
          <a:xfrm>
            <a:off x="9418320" y="3456432"/>
            <a:ext cx="2112264" cy="219456"/>
          </a:xfrm>
          <a:prstGeom prst="rect">
            <a:avLst/>
          </a:prstGeom>
          <a:noFill/>
          <a:ln/>
        </p:spPr>
        <p:txBody>
          <a:bodyPr wrap="square" lIns="0" tIns="0" rIns="0" bIns="0" rtlCol="0" anchor="t"/>
          <a:lstStyle/>
          <a:p>
            <a:pPr algn="ctr" indent="0" marL="0">
              <a:buNone/>
            </a:pPr>
            <a:r>
              <a:rPr lang="en-US" sz="1140" b="1" dirty="0">
                <a:solidFill>
                  <a:srgbClr val="2E7D4F"/>
                </a:solidFill>
                <a:latin typeface="Aptos" pitchFamily="34" charset="0"/>
                <a:ea typeface="Aptos" pitchFamily="34" charset="-122"/>
                <a:cs typeface="Aptos" pitchFamily="34" charset="-120"/>
              </a:rPr>
              <a:t>encontrado</a:t>
            </a:r>
            <a:endParaRPr lang="en-US" sz="1140" dirty="0"/>
          </a:p>
        </p:txBody>
      </p:sp>
      <p:sp>
        <p:nvSpPr>
          <p:cNvPr id="35" name="Shape 32"/>
          <p:cNvSpPr/>
          <p:nvPr/>
        </p:nvSpPr>
        <p:spPr>
          <a:xfrm>
            <a:off x="658368" y="3785616"/>
            <a:ext cx="10874959" cy="0"/>
          </a:xfrm>
          <a:prstGeom prst="line">
            <a:avLst/>
          </a:prstGeom>
          <a:noFill/>
          <a:ln w="12700">
            <a:solidFill>
              <a:srgbClr val="D8CFC4"/>
            </a:solidFill>
            <a:prstDash val="solid"/>
            <a:headEnd type="none"/>
            <a:tailEnd type="none"/>
          </a:ln>
        </p:spPr>
      </p:sp>
      <p:sp>
        <p:nvSpPr>
          <p:cNvPr id="36" name="Shape 33"/>
          <p:cNvSpPr/>
          <p:nvPr/>
        </p:nvSpPr>
        <p:spPr>
          <a:xfrm>
            <a:off x="658368" y="3895344"/>
            <a:ext cx="45720" cy="310896"/>
          </a:xfrm>
          <a:prstGeom prst="rect">
            <a:avLst/>
          </a:prstGeom>
          <a:solidFill>
            <a:srgbClr val="8A6A12"/>
          </a:solidFill>
          <a:ln w="12700">
            <a:solidFill>
              <a:srgbClr val="8A6A12"/>
            </a:solidFill>
            <a:prstDash val="solid"/>
          </a:ln>
        </p:spPr>
      </p:sp>
      <p:sp>
        <p:nvSpPr>
          <p:cNvPr id="37" name="Text 34"/>
          <p:cNvSpPr txBox="1"/>
          <p:nvPr/>
        </p:nvSpPr>
        <p:spPr>
          <a:xfrm>
            <a:off x="877824" y="3895344"/>
            <a:ext cx="3200400" cy="274320"/>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El RUT en resumen</a:t>
            </a:r>
            <a:endParaRPr lang="en-US" sz="1240" dirty="0"/>
          </a:p>
        </p:txBody>
      </p:sp>
      <p:sp>
        <p:nvSpPr>
          <p:cNvPr id="38" name="Text 35"/>
          <p:cNvSpPr txBox="1"/>
          <p:nvPr/>
        </p:nvSpPr>
        <p:spPr>
          <a:xfrm>
            <a:off x="4114800" y="3931920"/>
            <a:ext cx="822960" cy="219456"/>
          </a:xfrm>
          <a:prstGeom prst="rect">
            <a:avLst/>
          </a:prstGeom>
          <a:noFill/>
          <a:ln/>
        </p:spPr>
        <p:txBody>
          <a:bodyPr wrap="square" lIns="0" tIns="0" rIns="0" bIns="0" rtlCol="0" anchor="t"/>
          <a:lstStyle/>
          <a:p>
            <a:pPr algn="l" indent="0" marL="0">
              <a:buNone/>
            </a:pPr>
            <a:r>
              <a:rPr lang="en-US" sz="860" b="1" spc="60" kern="0" dirty="0">
                <a:solidFill>
                  <a:srgbClr val="8A6A12"/>
                </a:solidFill>
                <a:latin typeface="Aptos" pitchFamily="34" charset="0"/>
                <a:ea typeface="Aptos" pitchFamily="34" charset="-122"/>
                <a:cs typeface="Aptos" pitchFamily="34" charset="-120"/>
              </a:rPr>
              <a:t>RIESGO</a:t>
            </a:r>
            <a:endParaRPr lang="en-US" sz="860" dirty="0"/>
          </a:p>
        </p:txBody>
      </p:sp>
      <p:sp>
        <p:nvSpPr>
          <p:cNvPr id="39" name="Text 36"/>
          <p:cNvSpPr txBox="1"/>
          <p:nvPr/>
        </p:nvSpPr>
        <p:spPr>
          <a:xfrm>
            <a:off x="5029200" y="3931920"/>
            <a:ext cx="2103120" cy="219456"/>
          </a:xfrm>
          <a:prstGeom prst="rect">
            <a:avLst/>
          </a:prstGeom>
          <a:noFill/>
          <a:ln/>
        </p:spPr>
        <p:txBody>
          <a:bodyPr wrap="square" lIns="0" tIns="0" rIns="0" bIns="0" rtlCol="0" anchor="t"/>
          <a:lstStyle/>
          <a:p>
            <a:pPr algn="ctr" indent="0" marL="0">
              <a:buNone/>
            </a:pPr>
            <a:r>
              <a:rPr lang="en-US" sz="1140" dirty="0">
                <a:solidFill>
                  <a:srgbClr val="96A3B2"/>
                </a:solidFill>
                <a:latin typeface="Aptos" pitchFamily="34" charset="0"/>
                <a:ea typeface="Aptos" pitchFamily="34" charset="-122"/>
                <a:cs typeface="Aptos" pitchFamily="34" charset="-120"/>
              </a:rPr>
              <a:t>no visto</a:t>
            </a:r>
            <a:endParaRPr lang="en-US" sz="1140" dirty="0"/>
          </a:p>
        </p:txBody>
      </p:sp>
      <p:sp>
        <p:nvSpPr>
          <p:cNvPr id="40" name="Text 37"/>
          <p:cNvSpPr txBox="1"/>
          <p:nvPr/>
        </p:nvSpPr>
        <p:spPr>
          <a:xfrm>
            <a:off x="7223760" y="3931920"/>
            <a:ext cx="2103120" cy="219456"/>
          </a:xfrm>
          <a:prstGeom prst="rect">
            <a:avLst/>
          </a:prstGeom>
          <a:noFill/>
          <a:ln/>
        </p:spPr>
        <p:txBody>
          <a:bodyPr wrap="square" lIns="0" tIns="0" rIns="0" bIns="0" rtlCol="0" anchor="t"/>
          <a:lstStyle/>
          <a:p>
            <a:pPr algn="ctr" indent="0" marL="0">
              <a:buNone/>
            </a:pPr>
            <a:r>
              <a:rPr lang="en-US" sz="1140" dirty="0">
                <a:solidFill>
                  <a:srgbClr val="96A3B2"/>
                </a:solidFill>
                <a:latin typeface="Aptos" pitchFamily="34" charset="0"/>
                <a:ea typeface="Aptos" pitchFamily="34" charset="-122"/>
                <a:cs typeface="Aptos" pitchFamily="34" charset="-120"/>
              </a:rPr>
              <a:t>no visto</a:t>
            </a:r>
            <a:endParaRPr lang="en-US" sz="1140" dirty="0"/>
          </a:p>
        </p:txBody>
      </p:sp>
      <p:sp>
        <p:nvSpPr>
          <p:cNvPr id="41" name="Text 38"/>
          <p:cNvSpPr txBox="1"/>
          <p:nvPr/>
        </p:nvSpPr>
        <p:spPr>
          <a:xfrm>
            <a:off x="9418320" y="3931920"/>
            <a:ext cx="2112264" cy="219456"/>
          </a:xfrm>
          <a:prstGeom prst="rect">
            <a:avLst/>
          </a:prstGeom>
          <a:noFill/>
          <a:ln/>
        </p:spPr>
        <p:txBody>
          <a:bodyPr wrap="square" lIns="0" tIns="0" rIns="0" bIns="0" rtlCol="0" anchor="t"/>
          <a:lstStyle/>
          <a:p>
            <a:pPr algn="ctr" indent="0" marL="0">
              <a:buNone/>
            </a:pPr>
            <a:r>
              <a:rPr lang="en-US" sz="1140" dirty="0">
                <a:solidFill>
                  <a:srgbClr val="96A3B2"/>
                </a:solidFill>
                <a:latin typeface="Aptos" pitchFamily="34" charset="0"/>
                <a:ea typeface="Aptos" pitchFamily="34" charset="-122"/>
                <a:cs typeface="Aptos" pitchFamily="34" charset="-120"/>
              </a:rPr>
              <a:t>no visto</a:t>
            </a:r>
            <a:endParaRPr lang="en-US" sz="1140" dirty="0"/>
          </a:p>
        </p:txBody>
      </p:sp>
      <p:sp>
        <p:nvSpPr>
          <p:cNvPr id="42" name="Shape 39"/>
          <p:cNvSpPr/>
          <p:nvPr/>
        </p:nvSpPr>
        <p:spPr>
          <a:xfrm>
            <a:off x="658368" y="4443984"/>
            <a:ext cx="10874959" cy="1078992"/>
          </a:xfrm>
          <a:prstGeom prst="rect">
            <a:avLst/>
          </a:prstGeom>
          <a:solidFill>
            <a:srgbClr val="F6E7E2"/>
          </a:solidFill>
          <a:ln w="12700">
            <a:solidFill>
              <a:srgbClr val="F6E7E2"/>
            </a:solidFill>
            <a:prstDash val="solid"/>
          </a:ln>
        </p:spPr>
      </p:sp>
      <p:sp>
        <p:nvSpPr>
          <p:cNvPr id="43" name="Shape 40"/>
          <p:cNvSpPr/>
          <p:nvPr/>
        </p:nvSpPr>
        <p:spPr>
          <a:xfrm>
            <a:off x="658368" y="4443984"/>
            <a:ext cx="73152" cy="1078992"/>
          </a:xfrm>
          <a:prstGeom prst="rect">
            <a:avLst/>
          </a:prstGeom>
          <a:solidFill>
            <a:srgbClr val="B3181E"/>
          </a:solidFill>
          <a:ln w="12700">
            <a:solidFill>
              <a:srgbClr val="B3181E"/>
            </a:solidFill>
            <a:prstDash val="solid"/>
          </a:ln>
        </p:spPr>
      </p:sp>
      <p:sp>
        <p:nvSpPr>
          <p:cNvPr id="44" name="Text 41"/>
          <p:cNvSpPr txBox="1"/>
          <p:nvPr/>
        </p:nvSpPr>
        <p:spPr>
          <a:xfrm>
            <a:off x="950976" y="4572000"/>
            <a:ext cx="4572000" cy="182880"/>
          </a:xfrm>
          <a:prstGeom prst="rect">
            <a:avLst/>
          </a:prstGeom>
          <a:noFill/>
          <a:ln/>
        </p:spPr>
        <p:txBody>
          <a:bodyPr wrap="square" lIns="0" tIns="0" rIns="0" bIns="0" rtlCol="0" anchor="t"/>
          <a:lstStyle/>
          <a:p>
            <a:pPr algn="l" indent="0" marL="0">
              <a:buNone/>
            </a:pPr>
            <a:r>
              <a:rPr lang="en-US" sz="880" b="1" spc="115" kern="0" dirty="0">
                <a:solidFill>
                  <a:srgbClr val="B3181E"/>
                </a:solidFill>
                <a:latin typeface="Aptos" pitchFamily="34" charset="0"/>
                <a:ea typeface="Aptos" pitchFamily="34" charset="-122"/>
                <a:cs typeface="Aptos" pitchFamily="34" charset="-120"/>
              </a:rPr>
              <a:t>EL PUNTO CIEGO COMPARTIDO</a:t>
            </a:r>
            <a:endParaRPr lang="en-US" sz="880" dirty="0"/>
          </a:p>
        </p:txBody>
      </p:sp>
      <p:sp>
        <p:nvSpPr>
          <p:cNvPr id="45" name="Text 42"/>
          <p:cNvSpPr txBox="1"/>
          <p:nvPr/>
        </p:nvSpPr>
        <p:spPr>
          <a:xfrm>
            <a:off x="950976" y="4809744"/>
            <a:ext cx="10234879" cy="640080"/>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Ninguno mencionó el RUT, y no fue un descuido. Un auditor automático compara el código contra los documentos del repositorio, y ese hallazgo no está en ninguno: para verlo hay que saber que un RUT identifica a una persona, que junto a una calificación produce un dato más sensible, y que existe una ley que exige tratar solo lo necesario.</a:t>
            </a:r>
            <a:endParaRPr lang="en-US" sz="1240" dirty="0"/>
          </a:p>
        </p:txBody>
      </p:sp>
      <p:sp>
        <p:nvSpPr>
          <p:cNvPr id="46" name="Shape 43"/>
          <p:cNvSpPr/>
          <p:nvPr/>
        </p:nvSpPr>
        <p:spPr>
          <a:xfrm>
            <a:off x="658368" y="5650992"/>
            <a:ext cx="10874959" cy="566928"/>
          </a:xfrm>
          <a:prstGeom prst="rect">
            <a:avLst/>
          </a:prstGeom>
          <a:solidFill>
            <a:srgbClr val="102A43"/>
          </a:solidFill>
          <a:ln w="12700">
            <a:solidFill>
              <a:srgbClr val="102A43"/>
            </a:solidFill>
            <a:prstDash val="solid"/>
          </a:ln>
        </p:spPr>
      </p:sp>
      <p:sp>
        <p:nvSpPr>
          <p:cNvPr id="47" name="Text 44"/>
          <p:cNvSpPr txBox="1"/>
          <p:nvPr/>
        </p:nvSpPr>
        <p:spPr>
          <a:xfrm>
            <a:off x="969264" y="5705856"/>
            <a:ext cx="10253167" cy="457200"/>
          </a:xfrm>
          <a:prstGeom prst="rect">
            <a:avLst/>
          </a:prstGeom>
          <a:noFill/>
          <a:ln/>
        </p:spPr>
        <p:txBody>
          <a:bodyPr wrap="square" lIns="0" tIns="0" rIns="0" bIns="0" rtlCol="0" anchor="ctr"/>
          <a:lstStyle/>
          <a:p>
            <a:pPr algn="ctr" indent="0" marL="0">
              <a:lnSpc>
                <a:spcPct val="114000"/>
              </a:lnSpc>
              <a:buNone/>
            </a:pPr>
            <a:r>
              <a:rPr lang="en-US" sz="1300" b="1" dirty="0">
                <a:solidFill>
                  <a:srgbClr val="FFFFFF"/>
                </a:solidFill>
                <a:latin typeface="Aptos" pitchFamily="34" charset="0"/>
                <a:ea typeface="Aptos" pitchFamily="34" charset="-122"/>
                <a:cs typeface="Aptos" pitchFamily="34" charset="-120"/>
              </a:rPr>
              <a:t>Es muy bueno encontrando contradicciones entre el código y lo escrito. Es desigual encontrando huecos en lo escrito. Y no encuentra lo que exige conocer el producto, el usuario o la ley que lo regula.</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 DEL BLOQUE 3</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preguntas antes de seguir</a:t>
            </a:r>
            <a:endParaRPr lang="en-US" sz="3000" dirty="0"/>
          </a:p>
        </p:txBody>
      </p:sp>
      <p:sp>
        <p:nvSpPr>
          <p:cNvPr id="10" name="Shape 7"/>
          <p:cNvSpPr/>
          <p:nvPr/>
        </p:nvSpPr>
        <p:spPr>
          <a:xfrm>
            <a:off x="658368" y="2231136"/>
            <a:ext cx="457200" cy="457200"/>
          </a:xfrm>
          <a:prstGeom prst="ellipse">
            <a:avLst/>
          </a:prstGeom>
          <a:solidFill>
            <a:srgbClr val="102A43"/>
          </a:solidFill>
          <a:ln w="12700">
            <a:solidFill>
              <a:srgbClr val="102A43"/>
            </a:solidFill>
            <a:prstDash val="solid"/>
          </a:ln>
        </p:spPr>
      </p:sp>
      <p:sp>
        <p:nvSpPr>
          <p:cNvPr id="11" name="Text 8"/>
          <p:cNvSpPr txBox="1"/>
          <p:nvPr/>
        </p:nvSpPr>
        <p:spPr>
          <a:xfrm>
            <a:off x="658368" y="223113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2" name="Text 9"/>
          <p:cNvSpPr txBox="1"/>
          <p:nvPr/>
        </p:nvSpPr>
        <p:spPr>
          <a:xfrm>
            <a:off x="1371600" y="2157984"/>
            <a:ext cx="10149840" cy="658368"/>
          </a:xfrm>
          <a:prstGeom prst="rect">
            <a:avLst/>
          </a:prstGeom>
          <a:noFill/>
          <a:ln/>
        </p:spPr>
        <p:txBody>
          <a:bodyPr wrap="square" lIns="0" tIns="0" rIns="0" bIns="0" rtlCol="0" anchor="t"/>
          <a:lstStyle/>
          <a:p>
            <a:pPr algn="l" indent="0" marL="0">
              <a:lnSpc>
                <a:spcPct val="116000"/>
              </a:lnSpc>
              <a:buNone/>
            </a:pPr>
            <a:r>
              <a:rPr lang="en-US" sz="1740" b="1" dirty="0">
                <a:solidFill>
                  <a:srgbClr val="243B53"/>
                </a:solidFill>
                <a:latin typeface="Aptos" pitchFamily="34" charset="0"/>
                <a:ea typeface="Aptos" pitchFamily="34" charset="-122"/>
                <a:cs typeface="Aptos" pitchFamily="34" charset="-120"/>
              </a:rPr>
              <a:t>El primer protocolo encontró un defecto real y además declaró correcto otro que no lo era. ¿Cuál de las dos cosas es más peligrosa?</a:t>
            </a:r>
            <a:endParaRPr lang="en-US" sz="1740" dirty="0"/>
          </a:p>
        </p:txBody>
      </p:sp>
      <p:sp>
        <p:nvSpPr>
          <p:cNvPr id="13" name="Shape 10"/>
          <p:cNvSpPr/>
          <p:nvPr/>
        </p:nvSpPr>
        <p:spPr>
          <a:xfrm>
            <a:off x="1371600" y="2889504"/>
            <a:ext cx="658368" cy="256032"/>
          </a:xfrm>
          <a:prstGeom prst="rect">
            <a:avLst/>
          </a:prstGeom>
          <a:solidFill>
            <a:srgbClr val="102A43"/>
          </a:solidFill>
          <a:ln w="12700">
            <a:solidFill>
              <a:srgbClr val="102A43"/>
            </a:solidFill>
            <a:prstDash val="solid"/>
          </a:ln>
        </p:spPr>
      </p:sp>
      <p:sp>
        <p:nvSpPr>
          <p:cNvPr id="14" name="Text 11"/>
          <p:cNvSpPr txBox="1"/>
          <p:nvPr/>
        </p:nvSpPr>
        <p:spPr>
          <a:xfrm>
            <a:off x="1371600" y="2889504"/>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15" name="Text 12"/>
          <p:cNvSpPr txBox="1"/>
          <p:nvPr/>
        </p:nvSpPr>
        <p:spPr>
          <a:xfrm>
            <a:off x="2176272" y="2889504"/>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Piensa en cuál de las dos alguien va a volver a mirar alguna vez.</a:t>
            </a:r>
            <a:endParaRPr lang="en-US" sz="1320" dirty="0"/>
          </a:p>
        </p:txBody>
      </p:sp>
      <p:sp>
        <p:nvSpPr>
          <p:cNvPr id="16" name="Shape 13"/>
          <p:cNvSpPr/>
          <p:nvPr/>
        </p:nvSpPr>
        <p:spPr>
          <a:xfrm>
            <a:off x="658368" y="3346704"/>
            <a:ext cx="10874959" cy="0"/>
          </a:xfrm>
          <a:prstGeom prst="line">
            <a:avLst/>
          </a:prstGeom>
          <a:noFill/>
          <a:ln w="12700">
            <a:solidFill>
              <a:srgbClr val="D8CFC4"/>
            </a:solidFill>
            <a:prstDash val="solid"/>
            <a:headEnd type="none"/>
            <a:tailEnd type="none"/>
          </a:ln>
        </p:spPr>
      </p:sp>
      <p:sp>
        <p:nvSpPr>
          <p:cNvPr id="17" name="Shape 14"/>
          <p:cNvSpPr/>
          <p:nvPr/>
        </p:nvSpPr>
        <p:spPr>
          <a:xfrm>
            <a:off x="658368" y="3621024"/>
            <a:ext cx="457200" cy="457200"/>
          </a:xfrm>
          <a:prstGeom prst="ellipse">
            <a:avLst/>
          </a:prstGeom>
          <a:solidFill>
            <a:srgbClr val="0E6E7A"/>
          </a:solidFill>
          <a:ln w="12700">
            <a:solidFill>
              <a:srgbClr val="0E6E7A"/>
            </a:solidFill>
            <a:prstDash val="solid"/>
          </a:ln>
        </p:spPr>
      </p:sp>
      <p:sp>
        <p:nvSpPr>
          <p:cNvPr id="18" name="Text 15"/>
          <p:cNvSpPr txBox="1"/>
          <p:nvPr/>
        </p:nvSpPr>
        <p:spPr>
          <a:xfrm>
            <a:off x="658368" y="3621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9" name="Text 16"/>
          <p:cNvSpPr txBox="1"/>
          <p:nvPr/>
        </p:nvSpPr>
        <p:spPr>
          <a:xfrm>
            <a:off x="1371600" y="3547872"/>
            <a:ext cx="10149840" cy="658368"/>
          </a:xfrm>
          <a:prstGeom prst="rect">
            <a:avLst/>
          </a:prstGeom>
          <a:noFill/>
          <a:ln/>
        </p:spPr>
        <p:txBody>
          <a:bodyPr wrap="square" lIns="0" tIns="0" rIns="0" bIns="0" rtlCol="0" anchor="t"/>
          <a:lstStyle/>
          <a:p>
            <a:pPr algn="l" indent="0" marL="0">
              <a:lnSpc>
                <a:spcPct val="116000"/>
              </a:lnSpc>
              <a:buNone/>
            </a:pPr>
            <a:r>
              <a:rPr lang="en-US" sz="1740" b="1" dirty="0">
                <a:solidFill>
                  <a:srgbClr val="243B53"/>
                </a:solidFill>
                <a:latin typeface="Aptos" pitchFamily="34" charset="0"/>
                <a:ea typeface="Aptos" pitchFamily="34" charset="-122"/>
                <a:cs typeface="Aptos" pitchFamily="34" charset="-120"/>
              </a:rPr>
              <a:t>Dos protocolos ejecutaron código para respaldar sus hallazgos y uno no ejecutó nada. Si tuvieras una sola regla para aceptar una auditoría sin leerla completa, ¿cuál sería?</a:t>
            </a:r>
            <a:endParaRPr lang="en-US" sz="1740" dirty="0"/>
          </a:p>
        </p:txBody>
      </p:sp>
      <p:sp>
        <p:nvSpPr>
          <p:cNvPr id="20" name="Shape 17"/>
          <p:cNvSpPr/>
          <p:nvPr/>
        </p:nvSpPr>
        <p:spPr>
          <a:xfrm>
            <a:off x="1371600" y="4279392"/>
            <a:ext cx="658368" cy="256032"/>
          </a:xfrm>
          <a:prstGeom prst="rect">
            <a:avLst/>
          </a:prstGeom>
          <a:solidFill>
            <a:srgbClr val="0E6E7A"/>
          </a:solidFill>
          <a:ln w="12700">
            <a:solidFill>
              <a:srgbClr val="0E6E7A"/>
            </a:solidFill>
            <a:prstDash val="solid"/>
          </a:ln>
        </p:spPr>
      </p:sp>
      <p:sp>
        <p:nvSpPr>
          <p:cNvPr id="21" name="Text 18"/>
          <p:cNvSpPr txBox="1"/>
          <p:nvPr/>
        </p:nvSpPr>
        <p:spPr>
          <a:xfrm>
            <a:off x="1371600" y="4279392"/>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22" name="Text 19"/>
          <p:cNvSpPr txBox="1"/>
          <p:nvPr/>
        </p:nvSpPr>
        <p:spPr>
          <a:xfrm>
            <a:off x="2176272" y="4279392"/>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Mira qué tienen en común todos los hallazgos que resultaron ciertos.</a:t>
            </a:r>
            <a:endParaRPr lang="en-US" sz="1320" dirty="0"/>
          </a:p>
        </p:txBody>
      </p:sp>
      <p:sp>
        <p:nvSpPr>
          <p:cNvPr id="23" name="Shape 20"/>
          <p:cNvSpPr/>
          <p:nvPr/>
        </p:nvSpPr>
        <p:spPr>
          <a:xfrm>
            <a:off x="658368" y="4736592"/>
            <a:ext cx="10874959" cy="0"/>
          </a:xfrm>
          <a:prstGeom prst="line">
            <a:avLst/>
          </a:prstGeom>
          <a:noFill/>
          <a:ln w="12700">
            <a:solidFill>
              <a:srgbClr val="D8CFC4"/>
            </a:solidFill>
            <a:prstDash val="solid"/>
            <a:headEnd type="none"/>
            <a:tailEnd type="none"/>
          </a:ln>
        </p:spPr>
      </p:sp>
      <p:sp>
        <p:nvSpPr>
          <p:cNvPr id="24" name="Shape 21"/>
          <p:cNvSpPr/>
          <p:nvPr/>
        </p:nvSpPr>
        <p:spPr>
          <a:xfrm>
            <a:off x="658368" y="5010912"/>
            <a:ext cx="457200" cy="457200"/>
          </a:xfrm>
          <a:prstGeom prst="ellipse">
            <a:avLst/>
          </a:prstGeom>
          <a:solidFill>
            <a:srgbClr val="B3181E"/>
          </a:solidFill>
          <a:ln w="12700">
            <a:solidFill>
              <a:srgbClr val="B3181E"/>
            </a:solidFill>
            <a:prstDash val="solid"/>
          </a:ln>
        </p:spPr>
      </p:sp>
      <p:sp>
        <p:nvSpPr>
          <p:cNvPr id="25" name="Text 22"/>
          <p:cNvSpPr txBox="1"/>
          <p:nvPr/>
        </p:nvSpPr>
        <p:spPr>
          <a:xfrm>
            <a:off x="658368" y="50109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6" name="Text 23"/>
          <p:cNvSpPr txBox="1"/>
          <p:nvPr/>
        </p:nvSpPr>
        <p:spPr>
          <a:xfrm>
            <a:off x="1371600" y="4937760"/>
            <a:ext cx="10149840" cy="658368"/>
          </a:xfrm>
          <a:prstGeom prst="rect">
            <a:avLst/>
          </a:prstGeom>
          <a:noFill/>
          <a:ln/>
        </p:spPr>
        <p:txBody>
          <a:bodyPr wrap="square" lIns="0" tIns="0" rIns="0" bIns="0" rtlCol="0" anchor="t"/>
          <a:lstStyle/>
          <a:p>
            <a:pPr algn="l" indent="0" marL="0">
              <a:lnSpc>
                <a:spcPct val="116000"/>
              </a:lnSpc>
              <a:buNone/>
            </a:pPr>
            <a:r>
              <a:rPr lang="en-US" sz="1740" b="1" dirty="0">
                <a:solidFill>
                  <a:srgbClr val="243B53"/>
                </a:solidFill>
                <a:latin typeface="Aptos" pitchFamily="34" charset="0"/>
                <a:ea typeface="Aptos" pitchFamily="34" charset="-122"/>
                <a:cs typeface="Aptos" pitchFamily="34" charset="-120"/>
              </a:rPr>
              <a:t>Ninguno de los tres vio el hallazgo del RUT. ¿Qué tendría que existir en el repositorio para que la próxima auditoría sí lo encuentre?</a:t>
            </a:r>
            <a:endParaRPr lang="en-US" sz="1740" dirty="0"/>
          </a:p>
        </p:txBody>
      </p:sp>
      <p:sp>
        <p:nvSpPr>
          <p:cNvPr id="27" name="Shape 24"/>
          <p:cNvSpPr/>
          <p:nvPr/>
        </p:nvSpPr>
        <p:spPr>
          <a:xfrm>
            <a:off x="1371600" y="5669280"/>
            <a:ext cx="658368" cy="256032"/>
          </a:xfrm>
          <a:prstGeom prst="rect">
            <a:avLst/>
          </a:prstGeom>
          <a:solidFill>
            <a:srgbClr val="B3181E"/>
          </a:solidFill>
          <a:ln w="12700">
            <a:solidFill>
              <a:srgbClr val="B3181E"/>
            </a:solidFill>
            <a:prstDash val="solid"/>
          </a:ln>
        </p:spPr>
      </p:sp>
      <p:sp>
        <p:nvSpPr>
          <p:cNvPr id="28" name="Text 25"/>
          <p:cNvSpPr txBox="1"/>
          <p:nvPr/>
        </p:nvSpPr>
        <p:spPr>
          <a:xfrm>
            <a:off x="1371600" y="5669280"/>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29" name="Text 26"/>
          <p:cNvSpPr txBox="1"/>
          <p:nvPr/>
        </p:nvSpPr>
        <p:spPr>
          <a:xfrm>
            <a:off x="2176272" y="5669280"/>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El auditor compara contra documentos, y escribir ese documento no es trabajo suyo.</a:t>
            </a:r>
            <a:endParaRPr lang="en-US" sz="1320" dirty="0"/>
          </a:p>
        </p:txBody>
      </p:sp>
      <p:sp>
        <p:nvSpPr>
          <p:cNvPr id="30" name="Shape 27"/>
          <p:cNvSpPr/>
          <p:nvPr/>
        </p:nvSpPr>
        <p:spPr>
          <a:xfrm>
            <a:off x="658368" y="6364224"/>
            <a:ext cx="10874959" cy="0"/>
          </a:xfrm>
          <a:prstGeom prst="line">
            <a:avLst/>
          </a:prstGeom>
          <a:noFill/>
          <a:ln w="12700">
            <a:solidFill>
              <a:srgbClr val="102A43"/>
            </a:solidFill>
            <a:prstDash val="solid"/>
            <a:headEnd type="none"/>
            <a:tailEnd type="none"/>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2\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27</a:t>
            </a:r>
            <a:endParaRPr lang="en-US" sz="1400" dirty="0"/>
          </a:p>
        </p:txBody>
      </p:sp>
      <p:sp>
        <p:nvSpPr>
          <p:cNvPr id="8" name="Text 5"/>
          <p:cNvSpPr txBox="1"/>
          <p:nvPr/>
        </p:nvSpPr>
        <p:spPr>
          <a:xfrm>
            <a:off x="658368" y="1737360"/>
            <a:ext cx="2560320" cy="1463040"/>
          </a:xfrm>
          <a:prstGeom prst="rect">
            <a:avLst/>
          </a:prstGeom>
          <a:noFill/>
          <a:ln/>
        </p:spPr>
        <p:txBody>
          <a:bodyPr wrap="square" lIns="0" tIns="0" rIns="0" bIns="0" rtlCol="0" anchor="t"/>
          <a:lstStyle/>
          <a:p>
            <a:pPr algn="l" indent="0" marL="0">
              <a:buNone/>
            </a:pPr>
            <a:r>
              <a:rPr lang="en-US" sz="11200" b="1" dirty="0">
                <a:solidFill>
                  <a:srgbClr val="1D3A57"/>
                </a:solidFill>
                <a:latin typeface="Aptos Display" pitchFamily="34" charset="0"/>
                <a:ea typeface="Aptos Display" pitchFamily="34" charset="-122"/>
                <a:cs typeface="Aptos Display" pitchFamily="34" charset="-120"/>
              </a:rPr>
              <a:t>04</a:t>
            </a:r>
            <a:endParaRPr lang="en-US" sz="11200" dirty="0"/>
          </a:p>
        </p:txBody>
      </p:sp>
      <p:sp>
        <p:nvSpPr>
          <p:cNvPr id="9" name="Text 6"/>
          <p:cNvSpPr txBox="1"/>
          <p:nvPr/>
        </p:nvSpPr>
        <p:spPr>
          <a:xfrm>
            <a:off x="3419856" y="1883664"/>
            <a:ext cx="5852160" cy="237744"/>
          </a:xfrm>
          <a:prstGeom prst="rect">
            <a:avLst/>
          </a:prstGeom>
          <a:noFill/>
          <a:ln/>
        </p:spPr>
        <p:txBody>
          <a:bodyPr wrap="square" lIns="0" tIns="0" rIns="0" bIns="0" rtlCol="0" anchor="t"/>
          <a:lstStyle/>
          <a:p>
            <a:pPr algn="l" indent="0" marL="0">
              <a:buNone/>
            </a:pPr>
            <a:r>
              <a:rPr lang="en-US" sz="1140" b="1" spc="200" kern="0" dirty="0">
                <a:solidFill>
                  <a:srgbClr val="E0BC5A"/>
                </a:solidFill>
                <a:latin typeface="Aptos" pitchFamily="34" charset="0"/>
                <a:ea typeface="Aptos" pitchFamily="34" charset="-122"/>
                <a:cs typeface="Aptos" pitchFamily="34" charset="-120"/>
              </a:rPr>
              <a:t>BLOQUE 4 · 25 MINUTOS</a:t>
            </a:r>
            <a:endParaRPr lang="en-US" sz="1140" dirty="0"/>
          </a:p>
        </p:txBody>
      </p:sp>
      <p:sp>
        <p:nvSpPr>
          <p:cNvPr id="10" name="Text 7"/>
          <p:cNvSpPr txBox="1"/>
          <p:nvPr/>
        </p:nvSpPr>
        <p:spPr>
          <a:xfrm>
            <a:off x="3419856" y="2267712"/>
            <a:ext cx="8229600" cy="1188720"/>
          </a:xfrm>
          <a:prstGeom prst="rect">
            <a:avLst/>
          </a:prstGeom>
          <a:noFill/>
          <a:ln/>
        </p:spPr>
        <p:txBody>
          <a:bodyPr wrap="square" lIns="0" tIns="0" rIns="0" bIns="0" rtlCol="0" anchor="t"/>
          <a:lstStyle/>
          <a:p>
            <a:pPr algn="l" indent="0" marL="0">
              <a:buNone/>
            </a:pPr>
            <a:r>
              <a:rPr lang="en-US" sz="3800" b="1" dirty="0">
                <a:solidFill>
                  <a:srgbClr val="FFFFFF"/>
                </a:solidFill>
                <a:latin typeface="Aptos Display" pitchFamily="34" charset="0"/>
                <a:ea typeface="Aptos Display" pitchFamily="34" charset="-122"/>
                <a:cs typeface="Aptos Display" pitchFamily="34" charset="-120"/>
              </a:rPr>
              <a:t>El arbitraje se resuelve ejecutando</a:t>
            </a:r>
            <a:endParaRPr lang="en-US" sz="3800" dirty="0"/>
          </a:p>
        </p:txBody>
      </p:sp>
      <p:sp>
        <p:nvSpPr>
          <p:cNvPr id="11" name="Shape 8"/>
          <p:cNvSpPr/>
          <p:nvPr/>
        </p:nvSpPr>
        <p:spPr>
          <a:xfrm>
            <a:off x="3419856" y="3602736"/>
            <a:ext cx="2011680" cy="64008"/>
          </a:xfrm>
          <a:prstGeom prst="rect">
            <a:avLst/>
          </a:prstGeom>
          <a:solidFill>
            <a:srgbClr val="D62027"/>
          </a:solidFill>
          <a:ln w="12700">
            <a:solidFill>
              <a:srgbClr val="D62027"/>
            </a:solidFill>
            <a:prstDash val="solid"/>
          </a:ln>
        </p:spPr>
      </p:sp>
      <p:sp>
        <p:nvSpPr>
          <p:cNvPr id="12" name="Text 9"/>
          <p:cNvSpPr txBox="1"/>
          <p:nvPr/>
        </p:nvSpPr>
        <p:spPr>
          <a:xfrm>
            <a:off x="3419856" y="3895344"/>
            <a:ext cx="7772400" cy="1280160"/>
          </a:xfrm>
          <a:prstGeom prst="rect">
            <a:avLst/>
          </a:prstGeom>
          <a:noFill/>
          <a:ln/>
        </p:spPr>
        <p:txBody>
          <a:bodyPr wrap="square" lIns="0" tIns="0" rIns="0" bIns="0" rtlCol="0" anchor="t"/>
          <a:lstStyle/>
          <a:p>
            <a:pPr algn="l" indent="0" marL="0">
              <a:lnSpc>
                <a:spcPct val="126000"/>
              </a:lnSpc>
              <a:buNone/>
            </a:pPr>
            <a:r>
              <a:rPr lang="en-US" sz="1700" dirty="0">
                <a:solidFill>
                  <a:srgbClr val="E6EEF7"/>
                </a:solidFill>
                <a:latin typeface="Aptos" pitchFamily="34" charset="0"/>
                <a:ea typeface="Aptos" pitchFamily="34" charset="-122"/>
                <a:cs typeface="Aptos" pitchFamily="34" charset="-120"/>
              </a:rPr>
              <a:t>Tienes dos informes que no coinciden y una decisión que tomar. No se resuelve leyendo cuál argumenta mejor: se resuelve convirtiendo cada hallazgo en una prueba, escrita antes de tocar el código.</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4.1 · EL ORDEN IMPORTA</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La misma prueba dice cosas distintas según cuándo se escribe</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código de las dos puede ser idéntico. Lo que cambia es qué sabía quien la escribió en el momento de escribirla.</a:t>
            </a:r>
            <a:endParaRPr lang="en-US" sz="1450" dirty="0"/>
          </a:p>
        </p:txBody>
      </p:sp>
      <p:sp>
        <p:nvSpPr>
          <p:cNvPr id="11" name="Shape 8"/>
          <p:cNvSpPr/>
          <p:nvPr/>
        </p:nvSpPr>
        <p:spPr>
          <a:xfrm>
            <a:off x="658368" y="2432304"/>
            <a:ext cx="5340096" cy="2194560"/>
          </a:xfrm>
          <a:prstGeom prst="rect">
            <a:avLst/>
          </a:prstGeom>
          <a:solidFill>
            <a:srgbClr val="F6E7E2"/>
          </a:solidFill>
          <a:ln w="12700">
            <a:solidFill>
              <a:srgbClr val="F6E7E2"/>
            </a:solidFill>
            <a:prstDash val="solid"/>
          </a:ln>
        </p:spPr>
      </p:sp>
      <p:sp>
        <p:nvSpPr>
          <p:cNvPr id="12" name="Shape 9"/>
          <p:cNvSpPr/>
          <p:nvPr/>
        </p:nvSpPr>
        <p:spPr>
          <a:xfrm>
            <a:off x="658368" y="2432304"/>
            <a:ext cx="5340096" cy="82296"/>
          </a:xfrm>
          <a:prstGeom prst="rect">
            <a:avLst/>
          </a:prstGeom>
          <a:solidFill>
            <a:srgbClr val="B3181E"/>
          </a:solidFill>
          <a:ln w="12700">
            <a:solidFill>
              <a:srgbClr val="B3181E"/>
            </a:solidFill>
            <a:prstDash val="solid"/>
          </a:ln>
        </p:spPr>
      </p:sp>
      <p:sp>
        <p:nvSpPr>
          <p:cNvPr id="13" name="Text 10"/>
          <p:cNvSpPr txBox="1"/>
          <p:nvPr/>
        </p:nvSpPr>
        <p:spPr>
          <a:xfrm>
            <a:off x="932688" y="2651760"/>
            <a:ext cx="4754880" cy="201168"/>
          </a:xfrm>
          <a:prstGeom prst="rect">
            <a:avLst/>
          </a:prstGeom>
          <a:noFill/>
          <a:ln/>
        </p:spPr>
        <p:txBody>
          <a:bodyPr wrap="square" lIns="0" tIns="0" rIns="0" bIns="0" rtlCol="0" anchor="t"/>
          <a:lstStyle/>
          <a:p>
            <a:pPr algn="l" indent="0" marL="0">
              <a:buNone/>
            </a:pPr>
            <a:r>
              <a:rPr lang="en-US" sz="940" b="1" spc="130" kern="0" dirty="0">
                <a:solidFill>
                  <a:srgbClr val="B3181E"/>
                </a:solidFill>
                <a:latin typeface="Aptos" pitchFamily="34" charset="0"/>
                <a:ea typeface="Aptos" pitchFamily="34" charset="-122"/>
                <a:cs typeface="Aptos" pitchFamily="34" charset="-120"/>
              </a:rPr>
              <a:t>ESCRITA DESPUÉS DE CORREGIR</a:t>
            </a:r>
            <a:endParaRPr lang="en-US" sz="940" dirty="0"/>
          </a:p>
        </p:txBody>
      </p:sp>
      <p:sp>
        <p:nvSpPr>
          <p:cNvPr id="14" name="Text 11"/>
          <p:cNvSpPr txBox="1"/>
          <p:nvPr/>
        </p:nvSpPr>
        <p:spPr>
          <a:xfrm>
            <a:off x="932688" y="2926080"/>
            <a:ext cx="4791456" cy="420624"/>
          </a:xfrm>
          <a:prstGeom prst="rect">
            <a:avLst/>
          </a:prstGeom>
          <a:noFill/>
          <a:ln/>
        </p:spPr>
        <p:txBody>
          <a:bodyPr wrap="square" lIns="0" tIns="0" rIns="0" bIns="0" rtlCol="0" anchor="t"/>
          <a:lstStyle/>
          <a:p>
            <a:pPr algn="l" indent="0" marL="0">
              <a:buNone/>
            </a:pPr>
            <a:r>
              <a:rPr lang="en-US" sz="2600" b="1" dirty="0">
                <a:solidFill>
                  <a:srgbClr val="243B53"/>
                </a:solidFill>
                <a:latin typeface="Aptos Display" pitchFamily="34" charset="0"/>
                <a:ea typeface="Aptos Display" pitchFamily="34" charset="-122"/>
                <a:cs typeface="Aptos Display" pitchFamily="34" charset="-120"/>
              </a:rPr>
              <a:t>Es un espejo</a:t>
            </a:r>
            <a:endParaRPr lang="en-US" sz="2600" dirty="0"/>
          </a:p>
        </p:txBody>
      </p:sp>
      <p:sp>
        <p:nvSpPr>
          <p:cNvPr id="15" name="Shape 12"/>
          <p:cNvSpPr/>
          <p:nvPr/>
        </p:nvSpPr>
        <p:spPr>
          <a:xfrm>
            <a:off x="932688" y="3474720"/>
            <a:ext cx="4791456" cy="0"/>
          </a:xfrm>
          <a:prstGeom prst="line">
            <a:avLst/>
          </a:prstGeom>
          <a:noFill/>
          <a:ln w="12700">
            <a:solidFill>
              <a:srgbClr val="D8CFC4"/>
            </a:solidFill>
            <a:prstDash val="solid"/>
            <a:headEnd type="none"/>
            <a:tailEnd type="none"/>
          </a:ln>
        </p:spPr>
      </p:sp>
      <p:sp>
        <p:nvSpPr>
          <p:cNvPr id="16" name="Text 13"/>
          <p:cNvSpPr txBox="1"/>
          <p:nvPr/>
        </p:nvSpPr>
        <p:spPr>
          <a:xfrm>
            <a:off x="932688" y="3621024"/>
            <a:ext cx="4791456" cy="859536"/>
          </a:xfrm>
          <a:prstGeom prst="rect">
            <a:avLst/>
          </a:prstGeom>
          <a:noFill/>
          <a:ln/>
        </p:spPr>
        <p:txBody>
          <a:bodyPr wrap="square" lIns="0" tIns="0" rIns="0" bIns="0" rtlCol="0" anchor="t"/>
          <a:lstStyle/>
          <a:p>
            <a:pPr algn="l" indent="0" marL="0">
              <a:lnSpc>
                <a:spcPct val="118000"/>
              </a:lnSpc>
              <a:buNone/>
            </a:pPr>
            <a:r>
              <a:rPr lang="en-US" sz="1260" dirty="0">
                <a:solidFill>
                  <a:srgbClr val="243B53"/>
                </a:solidFill>
                <a:latin typeface="Aptos" pitchFamily="34" charset="0"/>
                <a:ea typeface="Aptos" pitchFamily="34" charset="-122"/>
                <a:cs typeface="Aptos" pitchFamily="34" charset="-120"/>
              </a:rPr>
              <a:t>Se escribe mirando el código ya corregido, así que solo puede confirmar lo que acabas de hacer. Si la corrección estaba equivocada, la prueba también lo estará, y en verde.</a:t>
            </a:r>
            <a:endParaRPr lang="en-US" sz="1260" dirty="0"/>
          </a:p>
        </p:txBody>
      </p:sp>
      <p:sp>
        <p:nvSpPr>
          <p:cNvPr id="17" name="Shape 14"/>
          <p:cNvSpPr/>
          <p:nvPr/>
        </p:nvSpPr>
        <p:spPr>
          <a:xfrm>
            <a:off x="6190488" y="2432304"/>
            <a:ext cx="5340096" cy="2194560"/>
          </a:xfrm>
          <a:prstGeom prst="rect">
            <a:avLst/>
          </a:prstGeom>
          <a:solidFill>
            <a:srgbClr val="E9F6EE"/>
          </a:solidFill>
          <a:ln w="12700">
            <a:solidFill>
              <a:srgbClr val="E9F6EE"/>
            </a:solidFill>
            <a:prstDash val="solid"/>
          </a:ln>
        </p:spPr>
      </p:sp>
      <p:sp>
        <p:nvSpPr>
          <p:cNvPr id="18" name="Shape 15"/>
          <p:cNvSpPr/>
          <p:nvPr/>
        </p:nvSpPr>
        <p:spPr>
          <a:xfrm>
            <a:off x="6190488" y="2432304"/>
            <a:ext cx="5340096" cy="82296"/>
          </a:xfrm>
          <a:prstGeom prst="rect">
            <a:avLst/>
          </a:prstGeom>
          <a:solidFill>
            <a:srgbClr val="2E7D4F"/>
          </a:solidFill>
          <a:ln w="12700">
            <a:solidFill>
              <a:srgbClr val="2E7D4F"/>
            </a:solidFill>
            <a:prstDash val="solid"/>
          </a:ln>
        </p:spPr>
      </p:sp>
      <p:sp>
        <p:nvSpPr>
          <p:cNvPr id="19" name="Text 16"/>
          <p:cNvSpPr txBox="1"/>
          <p:nvPr/>
        </p:nvSpPr>
        <p:spPr>
          <a:xfrm>
            <a:off x="6464808" y="2651760"/>
            <a:ext cx="4754880" cy="201168"/>
          </a:xfrm>
          <a:prstGeom prst="rect">
            <a:avLst/>
          </a:prstGeom>
          <a:noFill/>
          <a:ln/>
        </p:spPr>
        <p:txBody>
          <a:bodyPr wrap="square" lIns="0" tIns="0" rIns="0" bIns="0" rtlCol="0" anchor="t"/>
          <a:lstStyle/>
          <a:p>
            <a:pPr algn="l" indent="0" marL="0">
              <a:buNone/>
            </a:pPr>
            <a:r>
              <a:rPr lang="en-US" sz="940" b="1" spc="130" kern="0" dirty="0">
                <a:solidFill>
                  <a:srgbClr val="2E7D4F"/>
                </a:solidFill>
                <a:latin typeface="Aptos" pitchFamily="34" charset="0"/>
                <a:ea typeface="Aptos" pitchFamily="34" charset="-122"/>
                <a:cs typeface="Aptos" pitchFamily="34" charset="-120"/>
              </a:rPr>
              <a:t>ESCRITA ANTES DE CORREGIR</a:t>
            </a:r>
            <a:endParaRPr lang="en-US" sz="940" dirty="0"/>
          </a:p>
        </p:txBody>
      </p:sp>
      <p:sp>
        <p:nvSpPr>
          <p:cNvPr id="20" name="Text 17"/>
          <p:cNvSpPr txBox="1"/>
          <p:nvPr/>
        </p:nvSpPr>
        <p:spPr>
          <a:xfrm>
            <a:off x="6464808" y="2926080"/>
            <a:ext cx="4791456" cy="420624"/>
          </a:xfrm>
          <a:prstGeom prst="rect">
            <a:avLst/>
          </a:prstGeom>
          <a:noFill/>
          <a:ln/>
        </p:spPr>
        <p:txBody>
          <a:bodyPr wrap="square" lIns="0" tIns="0" rIns="0" bIns="0" rtlCol="0" anchor="t"/>
          <a:lstStyle/>
          <a:p>
            <a:pPr algn="l" indent="0" marL="0">
              <a:buNone/>
            </a:pPr>
            <a:r>
              <a:rPr lang="en-US" sz="2600" b="1" dirty="0">
                <a:solidFill>
                  <a:srgbClr val="243B53"/>
                </a:solidFill>
                <a:latin typeface="Aptos Display" pitchFamily="34" charset="0"/>
                <a:ea typeface="Aptos Display" pitchFamily="34" charset="-122"/>
                <a:cs typeface="Aptos Display" pitchFamily="34" charset="-120"/>
              </a:rPr>
              <a:t>Es una expectativa</a:t>
            </a:r>
            <a:endParaRPr lang="en-US" sz="2600" dirty="0"/>
          </a:p>
        </p:txBody>
      </p:sp>
      <p:sp>
        <p:nvSpPr>
          <p:cNvPr id="21" name="Shape 18"/>
          <p:cNvSpPr/>
          <p:nvPr/>
        </p:nvSpPr>
        <p:spPr>
          <a:xfrm>
            <a:off x="6464808" y="3474720"/>
            <a:ext cx="4791456" cy="0"/>
          </a:xfrm>
          <a:prstGeom prst="line">
            <a:avLst/>
          </a:prstGeom>
          <a:noFill/>
          <a:ln w="12700">
            <a:solidFill>
              <a:srgbClr val="D8CFC4"/>
            </a:solidFill>
            <a:prstDash val="solid"/>
            <a:headEnd type="none"/>
            <a:tailEnd type="none"/>
          </a:ln>
        </p:spPr>
      </p:sp>
      <p:sp>
        <p:nvSpPr>
          <p:cNvPr id="22" name="Text 19"/>
          <p:cNvSpPr txBox="1"/>
          <p:nvPr/>
        </p:nvSpPr>
        <p:spPr>
          <a:xfrm>
            <a:off x="6464808" y="3621024"/>
            <a:ext cx="4791456" cy="859536"/>
          </a:xfrm>
          <a:prstGeom prst="rect">
            <a:avLst/>
          </a:prstGeom>
          <a:noFill/>
          <a:ln/>
        </p:spPr>
        <p:txBody>
          <a:bodyPr wrap="square" lIns="0" tIns="0" rIns="0" bIns="0" rtlCol="0" anchor="t"/>
          <a:lstStyle/>
          <a:p>
            <a:pPr algn="l" indent="0" marL="0">
              <a:lnSpc>
                <a:spcPct val="118000"/>
              </a:lnSpc>
              <a:buNone/>
            </a:pPr>
            <a:r>
              <a:rPr lang="en-US" sz="1260" dirty="0">
                <a:solidFill>
                  <a:srgbClr val="243B53"/>
                </a:solidFill>
                <a:latin typeface="Aptos" pitchFamily="34" charset="0"/>
                <a:ea typeface="Aptos" pitchFamily="34" charset="-122"/>
                <a:cs typeface="Aptos" pitchFamily="34" charset="-120"/>
              </a:rPr>
              <a:t>Dice qué esperas que el sistema haga, y el código todavía no tiene forma de complacerte. Si falla, el hallazgo era real; si pasa, esa evidencia no lo sostiene.</a:t>
            </a:r>
            <a:endParaRPr lang="en-US" sz="1260" dirty="0"/>
          </a:p>
        </p:txBody>
      </p:sp>
      <p:sp>
        <p:nvSpPr>
          <p:cNvPr id="23" name="Shape 20"/>
          <p:cNvSpPr/>
          <p:nvPr/>
        </p:nvSpPr>
        <p:spPr>
          <a:xfrm>
            <a:off x="658368" y="4791456"/>
            <a:ext cx="10874959" cy="786384"/>
          </a:xfrm>
          <a:prstGeom prst="rect">
            <a:avLst/>
          </a:prstGeom>
          <a:solidFill>
            <a:srgbClr val="F2E7D9"/>
          </a:solidFill>
          <a:ln w="12700">
            <a:solidFill>
              <a:srgbClr val="F2E7D9"/>
            </a:solidFill>
            <a:prstDash val="solid"/>
          </a:ln>
        </p:spPr>
      </p:sp>
      <p:sp>
        <p:nvSpPr>
          <p:cNvPr id="24" name="Shape 21"/>
          <p:cNvSpPr/>
          <p:nvPr/>
        </p:nvSpPr>
        <p:spPr>
          <a:xfrm>
            <a:off x="658368" y="4791456"/>
            <a:ext cx="73152" cy="786384"/>
          </a:xfrm>
          <a:prstGeom prst="rect">
            <a:avLst/>
          </a:prstGeom>
          <a:solidFill>
            <a:srgbClr val="102A43"/>
          </a:solidFill>
          <a:ln w="12700">
            <a:solidFill>
              <a:srgbClr val="102A43"/>
            </a:solidFill>
            <a:prstDash val="solid"/>
          </a:ln>
        </p:spPr>
      </p:sp>
      <p:sp>
        <p:nvSpPr>
          <p:cNvPr id="25" name="Text 22"/>
          <p:cNvSpPr txBox="1"/>
          <p:nvPr/>
        </p:nvSpPr>
        <p:spPr>
          <a:xfrm>
            <a:off x="950976" y="4901184"/>
            <a:ext cx="5486400" cy="182880"/>
          </a:xfrm>
          <a:prstGeom prst="rect">
            <a:avLst/>
          </a:prstGeom>
          <a:noFill/>
          <a:ln/>
        </p:spPr>
        <p:txBody>
          <a:bodyPr wrap="square" lIns="0" tIns="0" rIns="0" bIns="0" rtlCol="0" anchor="t"/>
          <a:lstStyle/>
          <a:p>
            <a:pPr algn="l" indent="0" marL="0">
              <a:buNone/>
            </a:pPr>
            <a:r>
              <a:rPr lang="en-US" sz="880" b="1" spc="115" kern="0" dirty="0">
                <a:solidFill>
                  <a:srgbClr val="102A43"/>
                </a:solidFill>
                <a:latin typeface="Aptos" pitchFamily="34" charset="0"/>
                <a:ea typeface="Aptos" pitchFamily="34" charset="-122"/>
                <a:cs typeface="Aptos" pitchFamily="34" charset="-120"/>
              </a:rPr>
              <a:t>Y ADEMÁS RESUELVE EL PROBLEMA DE LA AUTORIDAD</a:t>
            </a:r>
            <a:endParaRPr lang="en-US" sz="880" dirty="0"/>
          </a:p>
        </p:txBody>
      </p:sp>
      <p:sp>
        <p:nvSpPr>
          <p:cNvPr id="26" name="Text 23"/>
          <p:cNvSpPr txBox="1"/>
          <p:nvPr/>
        </p:nvSpPr>
        <p:spPr>
          <a:xfrm>
            <a:off x="950976" y="5138928"/>
            <a:ext cx="10234879" cy="365760"/>
          </a:xfrm>
          <a:prstGeom prst="rect">
            <a:avLst/>
          </a:prstGeom>
          <a:noFill/>
          <a:ln/>
        </p:spPr>
        <p:txBody>
          <a:bodyPr wrap="square" lIns="0" tIns="0" rIns="0" bIns="0" rtlCol="0" anchor="t"/>
          <a:lstStyle/>
          <a:p>
            <a:pPr algn="l" indent="0" marL="0">
              <a:buNone/>
            </a:pPr>
            <a:r>
              <a:rPr lang="en-US" sz="1340" b="1" dirty="0">
                <a:solidFill>
                  <a:srgbClr val="102A43"/>
                </a:solidFill>
                <a:latin typeface="Aptos" pitchFamily="34" charset="0"/>
                <a:ea typeface="Aptos" pitchFamily="34" charset="-122"/>
                <a:cs typeface="Aptos" pitchFamily="34" charset="-120"/>
              </a:rPr>
              <a:t>Da lo mismo si el hallazgo lo levantó un agente, un compañero o tú. La prueba no sabe quién lo propuso, y no le impresiona el tono con que se dijo.</a:t>
            </a:r>
            <a:endParaRPr lang="en-US" sz="1340" dirty="0"/>
          </a:p>
        </p:txBody>
      </p:sp>
      <p:sp>
        <p:nvSpPr>
          <p:cNvPr id="27" name="Shape 24"/>
          <p:cNvSpPr/>
          <p:nvPr/>
        </p:nvSpPr>
        <p:spPr>
          <a:xfrm>
            <a:off x="658368" y="5724144"/>
            <a:ext cx="10874959" cy="493776"/>
          </a:xfrm>
          <a:prstGeom prst="rect">
            <a:avLst/>
          </a:prstGeom>
          <a:solidFill>
            <a:srgbClr val="102A43"/>
          </a:solidFill>
          <a:ln w="12700">
            <a:solidFill>
              <a:srgbClr val="102A43"/>
            </a:solidFill>
            <a:prstDash val="solid"/>
          </a:ln>
        </p:spPr>
      </p:sp>
      <p:sp>
        <p:nvSpPr>
          <p:cNvPr id="28" name="Text 25"/>
          <p:cNvSpPr txBox="1"/>
          <p:nvPr/>
        </p:nvSpPr>
        <p:spPr>
          <a:xfrm>
            <a:off x="969264" y="5779008"/>
            <a:ext cx="10253167" cy="384048"/>
          </a:xfrm>
          <a:prstGeom prst="rect">
            <a:avLst/>
          </a:prstGeom>
          <a:noFill/>
          <a:ln/>
        </p:spPr>
        <p:txBody>
          <a:bodyPr wrap="square" lIns="0" tIns="0" rIns="0" bIns="0" rtlCol="0" anchor="ctr"/>
          <a:lstStyle/>
          <a:p>
            <a:pPr algn="ctr" indent="0" marL="0">
              <a:lnSpc>
                <a:spcPct val="114000"/>
              </a:lnSpc>
              <a:buNone/>
            </a:pPr>
            <a:r>
              <a:rPr lang="en-US" sz="1400" b="1" dirty="0">
                <a:solidFill>
                  <a:srgbClr val="FFFFFF"/>
                </a:solidFill>
                <a:latin typeface="Aptos" pitchFamily="34" charset="0"/>
                <a:ea typeface="Aptos" pitchFamily="34" charset="-122"/>
                <a:cs typeface="Aptos" pitchFamily="34" charset="-120"/>
              </a:rPr>
              <a:t>Cada hallazgo se convierte en una prueba, y la prueba se escribe antes de tocar el código.</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4.2 · UNA CORRIDA, DOS DESENLACES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pruebas escritas antes de tocar una sola línea</a:t>
            </a:r>
            <a:endParaRPr lang="en-US" sz="3000" dirty="0"/>
          </a:p>
        </p:txBody>
      </p:sp>
      <p:sp>
        <p:nvSpPr>
          <p:cNvPr id="10" name="Shape 7"/>
          <p:cNvSpPr/>
          <p:nvPr/>
        </p:nvSpPr>
        <p:spPr>
          <a:xfrm>
            <a:off x="658368" y="2066544"/>
            <a:ext cx="6492240" cy="2249424"/>
          </a:xfrm>
          <a:prstGeom prst="roundRect">
            <a:avLst>
              <a:gd name="adj" fmla="val 1626"/>
            </a:avLst>
          </a:prstGeom>
          <a:solidFill>
            <a:srgbClr val="102A43"/>
          </a:solidFill>
          <a:ln w="12700">
            <a:solidFill>
              <a:srgbClr val="102A43"/>
            </a:solidFill>
            <a:prstDash val="solid"/>
          </a:ln>
        </p:spPr>
      </p:sp>
      <p:sp>
        <p:nvSpPr>
          <p:cNvPr id="11" name="Shape 8"/>
          <p:cNvSpPr/>
          <p:nvPr/>
        </p:nvSpPr>
        <p:spPr>
          <a:xfrm>
            <a:off x="786384" y="2176272"/>
            <a:ext cx="6236208" cy="310896"/>
          </a:xfrm>
          <a:prstGeom prst="roundRect">
            <a:avLst>
              <a:gd name="adj" fmla="val 8824"/>
            </a:avLst>
          </a:prstGeom>
          <a:solidFill>
            <a:srgbClr val="284B75"/>
          </a:solidFill>
          <a:ln w="12700">
            <a:solidFill>
              <a:srgbClr val="284B75"/>
            </a:solidFill>
            <a:prstDash val="solid"/>
          </a:ln>
        </p:spPr>
      </p:sp>
      <p:sp>
        <p:nvSpPr>
          <p:cNvPr id="12" name="Text 9"/>
          <p:cNvSpPr/>
          <p:nvPr/>
        </p:nvSpPr>
        <p:spPr>
          <a:xfrm>
            <a:off x="896112" y="2249424"/>
            <a:ext cx="60167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test_hallazgos.py · una prueba por hallazgo</a:t>
            </a:r>
            <a:endParaRPr lang="en-US" sz="1000" dirty="0"/>
          </a:p>
        </p:txBody>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633472"/>
            <a:ext cx="6071616" cy="1499616"/>
          </a:xfrm>
          <a:prstGeom prst="rect">
            <a:avLst/>
          </a:prstGeom>
        </p:spPr>
      </p:pic>
      <p:sp>
        <p:nvSpPr>
          <p:cNvPr id="14" name="Shape 10"/>
          <p:cNvSpPr/>
          <p:nvPr/>
        </p:nvSpPr>
        <p:spPr>
          <a:xfrm>
            <a:off x="7370064" y="2066544"/>
            <a:ext cx="4160520" cy="2249424"/>
          </a:xfrm>
          <a:prstGeom prst="roundRect">
            <a:avLst>
              <a:gd name="adj" fmla="val 1626"/>
            </a:avLst>
          </a:prstGeom>
          <a:solidFill>
            <a:srgbClr val="0F1720"/>
          </a:solidFill>
          <a:ln w="12700">
            <a:solidFill>
              <a:srgbClr val="0F1720"/>
            </a:solidFill>
            <a:prstDash val="solid"/>
          </a:ln>
        </p:spPr>
      </p:sp>
      <p:sp>
        <p:nvSpPr>
          <p:cNvPr id="15" name="Shape 11"/>
          <p:cNvSpPr/>
          <p:nvPr/>
        </p:nvSpPr>
        <p:spPr>
          <a:xfrm>
            <a:off x="7498080" y="2176272"/>
            <a:ext cx="3904488" cy="310896"/>
          </a:xfrm>
          <a:prstGeom prst="roundRect">
            <a:avLst>
              <a:gd name="adj" fmla="val 8824"/>
            </a:avLst>
          </a:prstGeom>
          <a:solidFill>
            <a:srgbClr val="1E2937"/>
          </a:solidFill>
          <a:ln w="12700">
            <a:solidFill>
              <a:srgbClr val="1E2937"/>
            </a:solidFill>
            <a:prstDash val="solid"/>
          </a:ln>
        </p:spPr>
      </p:sp>
      <p:sp>
        <p:nvSpPr>
          <p:cNvPr id="16" name="Text 12"/>
          <p:cNvSpPr/>
          <p:nvPr/>
        </p:nvSpPr>
        <p:spPr>
          <a:xfrm>
            <a:off x="7626096" y="2249424"/>
            <a:ext cx="364845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uv run pytest · sobre el código sin corregir</a:t>
            </a:r>
            <a:endParaRPr lang="en-US" sz="1000" dirty="0"/>
          </a:p>
        </p:txBody>
      </p:sp>
      <p:sp>
        <p:nvSpPr>
          <p:cNvPr id="17" name="Text 13"/>
          <p:cNvSpPr/>
          <p:nvPr/>
        </p:nvSpPr>
        <p:spPr>
          <a:xfrm>
            <a:off x="7589520" y="2633472"/>
            <a:ext cx="3410712" cy="164592"/>
          </a:xfrm>
          <a:prstGeom prst="rect">
            <a:avLst/>
          </a:prstGeom>
          <a:noFill/>
          <a:ln/>
        </p:spPr>
        <p:txBody>
          <a:bodyPr wrap="square" lIns="0" tIns="0" rIns="0" bIns="0" rtlCol="0" anchor="ctr"/>
          <a:lstStyle/>
          <a:p>
            <a:pPr indent="0" marL="0">
              <a:buNone/>
            </a:pPr>
            <a:r>
              <a:rPr lang="en-US" sz="900" dirty="0">
                <a:solidFill>
                  <a:srgbClr val="E6EEF7"/>
                </a:solidFill>
                <a:latin typeface="Consolas" pitchFamily="34" charset="0"/>
                <a:ea typeface="Consolas" pitchFamily="34" charset="-122"/>
                <a:cs typeface="Consolas" pitchFamily="34" charset="-120"/>
              </a:rPr>
              <a:t>E  AssertionError:</a:t>
            </a:r>
            <a:endParaRPr lang="en-US" sz="900" dirty="0"/>
          </a:p>
        </p:txBody>
      </p:sp>
      <p:sp>
        <p:nvSpPr>
          <p:cNvPr id="18" name="Text 14"/>
          <p:cNvSpPr/>
          <p:nvPr/>
        </p:nvSpPr>
        <p:spPr>
          <a:xfrm>
            <a:off x="7589520" y="2889504"/>
            <a:ext cx="3410712" cy="164592"/>
          </a:xfrm>
          <a:prstGeom prst="rect">
            <a:avLst/>
          </a:prstGeom>
          <a:noFill/>
          <a:ln/>
        </p:spPr>
        <p:txBody>
          <a:bodyPr wrap="square" lIns="0" tIns="0" rIns="0" bIns="0" rtlCol="0" anchor="ctr"/>
          <a:lstStyle/>
          <a:p>
            <a:pPr indent="0" marL="0">
              <a:buNone/>
            </a:pPr>
            <a:r>
              <a:rPr lang="en-US" sz="900" dirty="0">
                <a:solidFill>
                  <a:srgbClr val="8AA0B6"/>
                </a:solidFill>
                <a:latin typeface="Consolas" pitchFamily="34" charset="0"/>
                <a:ea typeface="Consolas" pitchFamily="34" charset="-122"/>
                <a:cs typeface="Consolas" pitchFamily="34" charset="-120"/>
              </a:rPr>
              <a:t>E    assert 'reprobado' == 'aprobado'</a:t>
            </a:r>
            <a:endParaRPr lang="en-US" sz="900" dirty="0"/>
          </a:p>
        </p:txBody>
      </p:sp>
      <p:sp>
        <p:nvSpPr>
          <p:cNvPr id="19" name="Text 15"/>
          <p:cNvSpPr/>
          <p:nvPr/>
        </p:nvSpPr>
        <p:spPr>
          <a:xfrm>
            <a:off x="7589520" y="3145536"/>
            <a:ext cx="3410712" cy="164592"/>
          </a:xfrm>
          <a:prstGeom prst="rect">
            <a:avLst/>
          </a:prstGeom>
          <a:noFill/>
          <a:ln/>
        </p:spPr>
        <p:txBody>
          <a:bodyPr wrap="square" lIns="0" tIns="0" rIns="0" bIns="0" rtlCol="0" anchor="ctr"/>
          <a:lstStyle/>
          <a:p>
            <a:pPr indent="0" marL="0">
              <a:buNone/>
            </a:pPr>
            <a:r>
              <a:rPr lang="en-US" sz="900" dirty="0">
                <a:solidFill>
                  <a:srgbClr val="E6EEF7"/>
                </a:solidFill>
                <a:latin typeface="Consolas" pitchFamily="34" charset="0"/>
                <a:ea typeface="Consolas" pitchFamily="34" charset="-122"/>
                <a:cs typeface="Consolas" pitchFamily="34" charset="-120"/>
              </a:rPr>
              <a:t>E  assert 3.9 == 4.0</a:t>
            </a:r>
            <a:endParaRPr lang="en-US" sz="900" dirty="0"/>
          </a:p>
        </p:txBody>
      </p:sp>
      <p:sp>
        <p:nvSpPr>
          <p:cNvPr id="20" name="Text 16"/>
          <p:cNvSpPr/>
          <p:nvPr/>
        </p:nvSpPr>
        <p:spPr>
          <a:xfrm>
            <a:off x="7589520" y="3401568"/>
            <a:ext cx="3410712" cy="164592"/>
          </a:xfrm>
          <a:prstGeom prst="rect">
            <a:avLst/>
          </a:prstGeom>
          <a:noFill/>
          <a:ln/>
        </p:spPr>
        <p:txBody>
          <a:bodyPr wrap="square" lIns="0" tIns="0" rIns="0" bIns="0" rtlCol="0" anchor="ctr"/>
          <a:lstStyle/>
          <a:p>
            <a:pPr indent="0" marL="0">
              <a:buNone/>
            </a:pPr>
            <a:r>
              <a:rPr lang="en-US" sz="900" dirty="0">
                <a:solidFill>
                  <a:srgbClr val="8AA0B6"/>
                </a:solidFill>
                <a:latin typeface="Consolas" pitchFamily="34" charset="0"/>
                <a:ea typeface="Consolas" pitchFamily="34" charset="-122"/>
                <a:cs typeface="Consolas" pitchFamily="34" charset="-120"/>
              </a:rPr>
              <a:t>E   + where 3.9 = nota_final([1.3, 6.6])</a:t>
            </a:r>
            <a:endParaRPr lang="en-US" sz="900" dirty="0"/>
          </a:p>
        </p:txBody>
      </p:sp>
      <p:sp>
        <p:nvSpPr>
          <p:cNvPr id="21" name="Text 17"/>
          <p:cNvSpPr/>
          <p:nvPr/>
        </p:nvSpPr>
        <p:spPr>
          <a:xfrm>
            <a:off x="7589520" y="3657600"/>
            <a:ext cx="3410712" cy="164592"/>
          </a:xfrm>
          <a:prstGeom prst="rect">
            <a:avLst/>
          </a:prstGeom>
          <a:noFill/>
          <a:ln/>
        </p:spPr>
        <p:txBody>
          <a:bodyPr wrap="square" lIns="0" tIns="0" rIns="0" bIns="0" rtlCol="0" anchor="ctr"/>
          <a:lstStyle/>
          <a:p>
            <a:pPr indent="0" marL="0">
              <a:buNone/>
            </a:pPr>
            <a:endParaRPr lang="en-US" sz="900" dirty="0"/>
          </a:p>
        </p:txBody>
      </p:sp>
      <p:sp>
        <p:nvSpPr>
          <p:cNvPr id="22" name="Text 18"/>
          <p:cNvSpPr/>
          <p:nvPr/>
        </p:nvSpPr>
        <p:spPr>
          <a:xfrm>
            <a:off x="7589520" y="3913632"/>
            <a:ext cx="3410712" cy="164592"/>
          </a:xfrm>
          <a:prstGeom prst="rect">
            <a:avLst/>
          </a:prstGeom>
          <a:noFill/>
          <a:ln/>
        </p:spPr>
        <p:txBody>
          <a:bodyPr wrap="square" lIns="0" tIns="0" rIns="0" bIns="0" rtlCol="0" anchor="ctr"/>
          <a:lstStyle/>
          <a:p>
            <a:pPr indent="0" marL="0">
              <a:buNone/>
            </a:pPr>
            <a:r>
              <a:rPr lang="en-US" sz="900" dirty="0">
                <a:solidFill>
                  <a:srgbClr val="E6EEF7"/>
                </a:solidFill>
                <a:latin typeface="Consolas" pitchFamily="34" charset="0"/>
                <a:ea typeface="Consolas" pitchFamily="34" charset="-122"/>
                <a:cs typeface="Consolas" pitchFamily="34" charset="-120"/>
              </a:rPr>
              <a:t>2 failed, 1 passed in 0.10s</a:t>
            </a:r>
            <a:endParaRPr lang="en-US" sz="900" dirty="0"/>
          </a:p>
        </p:txBody>
      </p:sp>
      <p:sp>
        <p:nvSpPr>
          <p:cNvPr id="23" name="Shape 19"/>
          <p:cNvSpPr/>
          <p:nvPr/>
        </p:nvSpPr>
        <p:spPr>
          <a:xfrm>
            <a:off x="658368" y="4498848"/>
            <a:ext cx="3502152" cy="1243584"/>
          </a:xfrm>
          <a:prstGeom prst="rect">
            <a:avLst/>
          </a:prstGeom>
          <a:solidFill>
            <a:srgbClr val="F6E7E2"/>
          </a:solidFill>
          <a:ln w="12700">
            <a:solidFill>
              <a:srgbClr val="F6E7E2"/>
            </a:solidFill>
            <a:prstDash val="solid"/>
          </a:ln>
        </p:spPr>
      </p:sp>
      <p:sp>
        <p:nvSpPr>
          <p:cNvPr id="24" name="Shape 20"/>
          <p:cNvSpPr/>
          <p:nvPr/>
        </p:nvSpPr>
        <p:spPr>
          <a:xfrm>
            <a:off x="658368" y="4498848"/>
            <a:ext cx="3502152" cy="64008"/>
          </a:xfrm>
          <a:prstGeom prst="rect">
            <a:avLst/>
          </a:prstGeom>
          <a:solidFill>
            <a:srgbClr val="B3181E"/>
          </a:solidFill>
          <a:ln w="12700">
            <a:solidFill>
              <a:srgbClr val="B3181E"/>
            </a:solidFill>
            <a:prstDash val="solid"/>
          </a:ln>
        </p:spPr>
      </p:sp>
      <p:sp>
        <p:nvSpPr>
          <p:cNvPr id="25" name="Text 21"/>
          <p:cNvSpPr txBox="1"/>
          <p:nvPr/>
        </p:nvSpPr>
        <p:spPr>
          <a:xfrm>
            <a:off x="896112" y="4645152"/>
            <a:ext cx="457200" cy="402336"/>
          </a:xfrm>
          <a:prstGeom prst="rect">
            <a:avLst/>
          </a:prstGeom>
          <a:noFill/>
          <a:ln/>
        </p:spPr>
        <p:txBody>
          <a:bodyPr wrap="square" lIns="0" tIns="0" rIns="0" bIns="0" rtlCol="0" anchor="t"/>
          <a:lstStyle/>
          <a:p>
            <a:pPr algn="l" indent="0" marL="0">
              <a:buNone/>
            </a:pPr>
            <a:r>
              <a:rPr lang="en-US" sz="2800" b="1" dirty="0">
                <a:solidFill>
                  <a:srgbClr val="B3181E"/>
                </a:solidFill>
                <a:latin typeface="Aptos Display" pitchFamily="34" charset="0"/>
                <a:ea typeface="Aptos Display" pitchFamily="34" charset="-122"/>
                <a:cs typeface="Aptos Display" pitchFamily="34" charset="-120"/>
              </a:rPr>
              <a:t>A</a:t>
            </a:r>
            <a:endParaRPr lang="en-US" sz="2800" dirty="0"/>
          </a:p>
        </p:txBody>
      </p:sp>
      <p:sp>
        <p:nvSpPr>
          <p:cNvPr id="26" name="Text 22"/>
          <p:cNvSpPr txBox="1"/>
          <p:nvPr/>
        </p:nvSpPr>
        <p:spPr>
          <a:xfrm>
            <a:off x="1408176" y="4718304"/>
            <a:ext cx="2523744" cy="274320"/>
          </a:xfrm>
          <a:prstGeom prst="rect">
            <a:avLst/>
          </a:prstGeom>
          <a:noFill/>
          <a:ln/>
        </p:spPr>
        <p:txBody>
          <a:bodyPr wrap="square" lIns="0" tIns="0" rIns="0" bIns="0" rtlCol="0" anchor="t"/>
          <a:lstStyle/>
          <a:p>
            <a:pPr algn="l" indent="0" marL="0">
              <a:buNone/>
            </a:pPr>
            <a:r>
              <a:rPr lang="en-US" sz="1400" b="1" dirty="0">
                <a:solidFill>
                  <a:srgbClr val="B3181E"/>
                </a:solidFill>
                <a:latin typeface="Aptos" pitchFamily="34" charset="0"/>
                <a:ea typeface="Aptos" pitchFamily="34" charset="-122"/>
                <a:cs typeface="Aptos" pitchFamily="34" charset="-120"/>
              </a:rPr>
              <a:t>La prueba falla</a:t>
            </a:r>
            <a:endParaRPr lang="en-US" sz="1400" dirty="0"/>
          </a:p>
        </p:txBody>
      </p:sp>
      <p:sp>
        <p:nvSpPr>
          <p:cNvPr id="27" name="Text 23"/>
          <p:cNvSpPr txBox="1"/>
          <p:nvPr/>
        </p:nvSpPr>
        <p:spPr>
          <a:xfrm>
            <a:off x="896112" y="5102352"/>
            <a:ext cx="3035808" cy="566928"/>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El hallazgo está confirmado: hay una entrada donde el sistema hace algo distinto de lo que el requisito declara. Es un defecto y se corrige.</a:t>
            </a:r>
            <a:endParaRPr lang="en-US" sz="1060" dirty="0"/>
          </a:p>
        </p:txBody>
      </p:sp>
      <p:sp>
        <p:nvSpPr>
          <p:cNvPr id="28" name="Shape 24"/>
          <p:cNvSpPr/>
          <p:nvPr/>
        </p:nvSpPr>
        <p:spPr>
          <a:xfrm>
            <a:off x="4343400" y="4498848"/>
            <a:ext cx="3502152" cy="1243584"/>
          </a:xfrm>
          <a:prstGeom prst="rect">
            <a:avLst/>
          </a:prstGeom>
          <a:solidFill>
            <a:srgbClr val="F7EFDC"/>
          </a:solidFill>
          <a:ln w="12700">
            <a:solidFill>
              <a:srgbClr val="F7EFDC"/>
            </a:solidFill>
            <a:prstDash val="solid"/>
          </a:ln>
        </p:spPr>
      </p:sp>
      <p:sp>
        <p:nvSpPr>
          <p:cNvPr id="29" name="Shape 25"/>
          <p:cNvSpPr/>
          <p:nvPr/>
        </p:nvSpPr>
        <p:spPr>
          <a:xfrm>
            <a:off x="4343400" y="4498848"/>
            <a:ext cx="3502152" cy="64008"/>
          </a:xfrm>
          <a:prstGeom prst="rect">
            <a:avLst/>
          </a:prstGeom>
          <a:solidFill>
            <a:srgbClr val="8A6A12"/>
          </a:solidFill>
          <a:ln w="12700">
            <a:solidFill>
              <a:srgbClr val="8A6A12"/>
            </a:solidFill>
            <a:prstDash val="solid"/>
          </a:ln>
        </p:spPr>
      </p:sp>
      <p:sp>
        <p:nvSpPr>
          <p:cNvPr id="30" name="Text 26"/>
          <p:cNvSpPr txBox="1"/>
          <p:nvPr/>
        </p:nvSpPr>
        <p:spPr>
          <a:xfrm>
            <a:off x="4581144" y="4645152"/>
            <a:ext cx="457200" cy="402336"/>
          </a:xfrm>
          <a:prstGeom prst="rect">
            <a:avLst/>
          </a:prstGeom>
          <a:noFill/>
          <a:ln/>
        </p:spPr>
        <p:txBody>
          <a:bodyPr wrap="square" lIns="0" tIns="0" rIns="0" bIns="0" rtlCol="0" anchor="t"/>
          <a:lstStyle/>
          <a:p>
            <a:pPr algn="l" indent="0" marL="0">
              <a:buNone/>
            </a:pPr>
            <a:r>
              <a:rPr lang="en-US" sz="2800" b="1" dirty="0">
                <a:solidFill>
                  <a:srgbClr val="8A6A12"/>
                </a:solidFill>
                <a:latin typeface="Aptos Display" pitchFamily="34" charset="0"/>
                <a:ea typeface="Aptos Display" pitchFamily="34" charset="-122"/>
                <a:cs typeface="Aptos Display" pitchFamily="34" charset="-120"/>
              </a:rPr>
              <a:t>B</a:t>
            </a:r>
            <a:endParaRPr lang="en-US" sz="2800" dirty="0"/>
          </a:p>
        </p:txBody>
      </p:sp>
      <p:sp>
        <p:nvSpPr>
          <p:cNvPr id="31" name="Text 27"/>
          <p:cNvSpPr txBox="1"/>
          <p:nvPr/>
        </p:nvSpPr>
        <p:spPr>
          <a:xfrm>
            <a:off x="5093208" y="4718304"/>
            <a:ext cx="2523744" cy="274320"/>
          </a:xfrm>
          <a:prstGeom prst="rect">
            <a:avLst/>
          </a:prstGeom>
          <a:noFill/>
          <a:ln/>
        </p:spPr>
        <p:txBody>
          <a:bodyPr wrap="square" lIns="0" tIns="0" rIns="0" bIns="0" rtlCol="0" anchor="t"/>
          <a:lstStyle/>
          <a:p>
            <a:pPr algn="l" indent="0" marL="0">
              <a:buNone/>
            </a:pPr>
            <a:r>
              <a:rPr lang="en-US" sz="1400" b="1" dirty="0">
                <a:solidFill>
                  <a:srgbClr val="8A6A12"/>
                </a:solidFill>
                <a:latin typeface="Aptos" pitchFamily="34" charset="0"/>
                <a:ea typeface="Aptos" pitchFamily="34" charset="-122"/>
                <a:cs typeface="Aptos" pitchFamily="34" charset="-120"/>
              </a:rPr>
              <a:t>La prueba pasa</a:t>
            </a:r>
            <a:endParaRPr lang="en-US" sz="1400" dirty="0"/>
          </a:p>
        </p:txBody>
      </p:sp>
      <p:sp>
        <p:nvSpPr>
          <p:cNvPr id="32" name="Text 28"/>
          <p:cNvSpPr txBox="1"/>
          <p:nvPr/>
        </p:nvSpPr>
        <p:spPr>
          <a:xfrm>
            <a:off x="4581144" y="5102352"/>
            <a:ext cx="3035808" cy="566928"/>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Esa evidencia no sostiene el hallazgo, y eso no lo vuelve falso. Dos salidas: buscar otra entrada, o retirarlo dejando escrito qué se probó.</a:t>
            </a:r>
            <a:endParaRPr lang="en-US" sz="1060" dirty="0"/>
          </a:p>
        </p:txBody>
      </p:sp>
      <p:sp>
        <p:nvSpPr>
          <p:cNvPr id="33" name="Shape 29"/>
          <p:cNvSpPr/>
          <p:nvPr/>
        </p:nvSpPr>
        <p:spPr>
          <a:xfrm>
            <a:off x="8028432" y="4498848"/>
            <a:ext cx="3502152" cy="1243584"/>
          </a:xfrm>
          <a:prstGeom prst="rect">
            <a:avLst/>
          </a:prstGeom>
          <a:solidFill>
            <a:srgbClr val="E7ECF3"/>
          </a:solidFill>
          <a:ln w="12700">
            <a:solidFill>
              <a:srgbClr val="E7ECF3"/>
            </a:solidFill>
            <a:prstDash val="solid"/>
          </a:ln>
        </p:spPr>
      </p:sp>
      <p:sp>
        <p:nvSpPr>
          <p:cNvPr id="34" name="Shape 30"/>
          <p:cNvSpPr/>
          <p:nvPr/>
        </p:nvSpPr>
        <p:spPr>
          <a:xfrm>
            <a:off x="8028432" y="4498848"/>
            <a:ext cx="3502152" cy="64008"/>
          </a:xfrm>
          <a:prstGeom prst="rect">
            <a:avLst/>
          </a:prstGeom>
          <a:solidFill>
            <a:srgbClr val="102A43"/>
          </a:solidFill>
          <a:ln w="12700">
            <a:solidFill>
              <a:srgbClr val="102A43"/>
            </a:solidFill>
            <a:prstDash val="solid"/>
          </a:ln>
        </p:spPr>
      </p:sp>
      <p:sp>
        <p:nvSpPr>
          <p:cNvPr id="35" name="Text 31"/>
          <p:cNvSpPr txBox="1"/>
          <p:nvPr/>
        </p:nvSpPr>
        <p:spPr>
          <a:xfrm>
            <a:off x="8266176" y="4645152"/>
            <a:ext cx="457200" cy="402336"/>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C</a:t>
            </a:r>
            <a:endParaRPr lang="en-US" sz="2800" dirty="0"/>
          </a:p>
        </p:txBody>
      </p:sp>
      <p:sp>
        <p:nvSpPr>
          <p:cNvPr id="36" name="Text 32"/>
          <p:cNvSpPr txBox="1"/>
          <p:nvPr/>
        </p:nvSpPr>
        <p:spPr>
          <a:xfrm>
            <a:off x="8778240" y="4718304"/>
            <a:ext cx="2523744" cy="274320"/>
          </a:xfrm>
          <a:prstGeom prst="rect">
            <a:avLst/>
          </a:prstGeom>
          <a:noFill/>
          <a:ln/>
        </p:spPr>
        <p:txBody>
          <a:bodyPr wrap="square" lIns="0" tIns="0" rIns="0" bIns="0" rtlCol="0" anchor="t"/>
          <a:lstStyle/>
          <a:p>
            <a:pPr algn="l" indent="0" marL="0">
              <a:buNone/>
            </a:pPr>
            <a:r>
              <a:rPr lang="en-US" sz="1400" b="1" dirty="0">
                <a:solidFill>
                  <a:srgbClr val="102A43"/>
                </a:solidFill>
                <a:latin typeface="Aptos" pitchFamily="34" charset="0"/>
                <a:ea typeface="Aptos" pitchFamily="34" charset="-122"/>
                <a:cs typeface="Aptos" pitchFamily="34" charset="-120"/>
              </a:rPr>
              <a:t>No se puede escribir</a:t>
            </a:r>
            <a:endParaRPr lang="en-US" sz="1400" dirty="0"/>
          </a:p>
        </p:txBody>
      </p:sp>
      <p:sp>
        <p:nvSpPr>
          <p:cNvPr id="37" name="Text 33"/>
          <p:cNvSpPr txBox="1"/>
          <p:nvPr/>
        </p:nvSpPr>
        <p:spPr>
          <a:xfrm>
            <a:off x="8266176" y="5102352"/>
            <a:ext cx="3035808" cy="566928"/>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No falta trabajo de programación: falta una decisión de producto. El hallazgo es un riesgo y sigue otro camino.</a:t>
            </a:r>
            <a:endParaRPr lang="en-US" sz="1060" dirty="0"/>
          </a:p>
        </p:txBody>
      </p:sp>
      <p:sp>
        <p:nvSpPr>
          <p:cNvPr id="38" name="Shape 34"/>
          <p:cNvSpPr/>
          <p:nvPr/>
        </p:nvSpPr>
        <p:spPr>
          <a:xfrm>
            <a:off x="658368" y="5870448"/>
            <a:ext cx="10874959" cy="420624"/>
          </a:xfrm>
          <a:prstGeom prst="rect">
            <a:avLst/>
          </a:prstGeom>
          <a:solidFill>
            <a:srgbClr val="102A43"/>
          </a:solidFill>
          <a:ln w="12700">
            <a:solidFill>
              <a:srgbClr val="102A43"/>
            </a:solidFill>
            <a:prstDash val="solid"/>
          </a:ln>
        </p:spPr>
      </p:sp>
      <p:sp>
        <p:nvSpPr>
          <p:cNvPr id="39" name="Text 35"/>
          <p:cNvSpPr txBox="1"/>
          <p:nvPr/>
        </p:nvSpPr>
        <p:spPr>
          <a:xfrm>
            <a:off x="969264" y="5925312"/>
            <a:ext cx="10253167" cy="310896"/>
          </a:xfrm>
          <a:prstGeom prst="rect">
            <a:avLst/>
          </a:prstGeom>
          <a:noFill/>
          <a:ln/>
        </p:spPr>
        <p:txBody>
          <a:bodyPr wrap="square" lIns="0" tIns="0" rIns="0" bIns="0" rtlCol="0" anchor="ctr"/>
          <a:lstStyle/>
          <a:p>
            <a:pPr algn="ctr" indent="0" marL="0">
              <a:lnSpc>
                <a:spcPct val="114000"/>
              </a:lnSpc>
              <a:buNone/>
            </a:pPr>
            <a:r>
              <a:rPr lang="en-US" sz="1320" b="1" dirty="0">
                <a:solidFill>
                  <a:srgbClr val="FFFFFF"/>
                </a:solidFill>
                <a:latin typeface="Aptos" pitchFamily="34" charset="0"/>
                <a:ea typeface="Aptos" pitchFamily="34" charset="-122"/>
                <a:cs typeface="Aptos" pitchFamily="34" charset="-120"/>
              </a:rPr>
              <a:t>La tercera prueba es el contraejemplo que propuso un auditor. Pasa, y el hallazgo era correcto igual.</a:t>
            </a:r>
            <a:endParaRPr lang="en-US" sz="13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4.3 · QUÉ HACER CON UN RIESGO</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Un riesgo se vuelve defecto en tres pasos, y en ese orden</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caso de la lista de notas vacía: el sistema hace algo indeseable, pero el requisito nunca dijo qué debía hacer.</a:t>
            </a:r>
            <a:endParaRPr lang="en-US" sz="1450" dirty="0"/>
          </a:p>
        </p:txBody>
      </p:sp>
      <p:sp>
        <p:nvSpPr>
          <p:cNvPr id="11" name="Shape 8"/>
          <p:cNvSpPr/>
          <p:nvPr/>
        </p:nvSpPr>
        <p:spPr>
          <a:xfrm>
            <a:off x="658368" y="2377440"/>
            <a:ext cx="3502152" cy="2011680"/>
          </a:xfrm>
          <a:prstGeom prst="rect">
            <a:avLst/>
          </a:prstGeom>
          <a:solidFill>
            <a:srgbClr val="EDE9E1"/>
          </a:solidFill>
          <a:ln w="12700">
            <a:solidFill>
              <a:srgbClr val="EDE9E1"/>
            </a:solidFill>
            <a:prstDash val="solid"/>
          </a:ln>
        </p:spPr>
      </p:sp>
      <p:sp>
        <p:nvSpPr>
          <p:cNvPr id="12" name="Shape 9"/>
          <p:cNvSpPr/>
          <p:nvPr/>
        </p:nvSpPr>
        <p:spPr>
          <a:xfrm>
            <a:off x="658368" y="2377440"/>
            <a:ext cx="3502152" cy="64008"/>
          </a:xfrm>
          <a:prstGeom prst="rect">
            <a:avLst/>
          </a:prstGeom>
          <a:solidFill>
            <a:srgbClr val="102A43"/>
          </a:solidFill>
          <a:ln w="12700">
            <a:solidFill>
              <a:srgbClr val="102A43"/>
            </a:solidFill>
            <a:prstDash val="solid"/>
          </a:ln>
        </p:spPr>
      </p:sp>
      <p:sp>
        <p:nvSpPr>
          <p:cNvPr id="13" name="Text 10"/>
          <p:cNvSpPr txBox="1"/>
          <p:nvPr/>
        </p:nvSpPr>
        <p:spPr>
          <a:xfrm>
            <a:off x="896112" y="2523744"/>
            <a:ext cx="548640" cy="365760"/>
          </a:xfrm>
          <a:prstGeom prst="rect">
            <a:avLst/>
          </a:prstGeom>
          <a:noFill/>
          <a:ln/>
        </p:spPr>
        <p:txBody>
          <a:bodyPr wrap="square" lIns="0" tIns="0" rIns="0" bIns="0" rtlCol="0" anchor="t"/>
          <a:lstStyle/>
          <a:p>
            <a:pPr algn="l" indent="0" marL="0">
              <a:buNone/>
            </a:pPr>
            <a:r>
              <a:rPr lang="en-US" sz="2400" b="1" dirty="0">
                <a:solidFill>
                  <a:srgbClr val="102A43"/>
                </a:solidFill>
                <a:latin typeface="Aptos Display" pitchFamily="34" charset="0"/>
                <a:ea typeface="Aptos Display" pitchFamily="34" charset="-122"/>
                <a:cs typeface="Aptos Display" pitchFamily="34" charset="-120"/>
              </a:rPr>
              <a:t>01</a:t>
            </a:r>
            <a:endParaRPr lang="en-US" sz="2400" dirty="0"/>
          </a:p>
        </p:txBody>
      </p:sp>
      <p:sp>
        <p:nvSpPr>
          <p:cNvPr id="14" name="Text 11"/>
          <p:cNvSpPr txBox="1"/>
          <p:nvPr/>
        </p:nvSpPr>
        <p:spPr>
          <a:xfrm>
            <a:off x="1481328" y="2560320"/>
            <a:ext cx="2468880" cy="438912"/>
          </a:xfrm>
          <a:prstGeom prst="rect">
            <a:avLst/>
          </a:prstGeom>
          <a:noFill/>
          <a:ln/>
        </p:spPr>
        <p:txBody>
          <a:bodyPr wrap="square" lIns="0" tIns="0" rIns="0" bIns="0" rtlCol="0" anchor="t"/>
          <a:lstStyle/>
          <a:p>
            <a:pPr algn="l" indent="0" marL="0">
              <a:lnSpc>
                <a:spcPct val="110000"/>
              </a:lnSpc>
              <a:buNone/>
            </a:pPr>
            <a:r>
              <a:rPr lang="en-US" sz="1280" b="1" dirty="0">
                <a:solidFill>
                  <a:srgbClr val="102A43"/>
                </a:solidFill>
                <a:latin typeface="Aptos" pitchFamily="34" charset="0"/>
                <a:ea typeface="Aptos" pitchFamily="34" charset="-122"/>
                <a:cs typeface="Aptos" pitchFamily="34" charset="-120"/>
              </a:rPr>
              <a:t>Se completa el requisito</a:t>
            </a:r>
            <a:endParaRPr lang="en-US" sz="1280" dirty="0"/>
          </a:p>
        </p:txBody>
      </p:sp>
      <p:sp>
        <p:nvSpPr>
          <p:cNvPr id="15" name="Text 12"/>
          <p:cNvSpPr txBox="1"/>
          <p:nvPr/>
        </p:nvSpPr>
        <p:spPr>
          <a:xfrm>
            <a:off x="896112" y="3072384"/>
            <a:ext cx="3035808" cy="402336"/>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No lo decide el programador ni el agente, sino quien define el producto:</a:t>
            </a:r>
            <a:endParaRPr lang="en-US" sz="1100" dirty="0"/>
          </a:p>
        </p:txBody>
      </p:sp>
      <p:sp>
        <p:nvSpPr>
          <p:cNvPr id="16" name="Shape 13"/>
          <p:cNvSpPr/>
          <p:nvPr/>
        </p:nvSpPr>
        <p:spPr>
          <a:xfrm>
            <a:off x="896112" y="3529584"/>
            <a:ext cx="3035808" cy="749808"/>
          </a:xfrm>
          <a:prstGeom prst="rect">
            <a:avLst/>
          </a:prstGeom>
          <a:solidFill>
            <a:srgbClr val="F2E7D9"/>
          </a:solidFill>
          <a:ln w="12700">
            <a:solidFill>
              <a:srgbClr val="F2E7D9"/>
            </a:solidFill>
            <a:prstDash val="solid"/>
          </a:ln>
        </p:spPr>
      </p:sp>
      <p:sp>
        <p:nvSpPr>
          <p:cNvPr id="17" name="Text 14"/>
          <p:cNvSpPr txBox="1"/>
          <p:nvPr/>
        </p:nvSpPr>
        <p:spPr>
          <a:xfrm>
            <a:off x="1042416" y="3621024"/>
            <a:ext cx="2743200" cy="585216"/>
          </a:xfrm>
          <a:prstGeom prst="rect">
            <a:avLst/>
          </a:prstGeom>
          <a:noFill/>
          <a:ln/>
        </p:spPr>
        <p:txBody>
          <a:bodyPr wrap="square" lIns="0" tIns="0" rIns="0" bIns="0" rtlCol="0" anchor="t"/>
          <a:lstStyle/>
          <a:p>
            <a:pPr algn="l" indent="0" marL="0">
              <a:lnSpc>
                <a:spcPct val="114000"/>
              </a:lnSpc>
              <a:buNone/>
            </a:pPr>
            <a:r>
              <a:rPr lang="en-US" sz="1020" dirty="0">
                <a:solidFill>
                  <a:srgbClr val="102A43"/>
                </a:solidFill>
                <a:latin typeface="Aptos" pitchFamily="34" charset="0"/>
                <a:ea typeface="Aptos" pitchFamily="34" charset="-122"/>
                <a:cs typeface="Aptos" pitchFamily="34" charset="-120"/>
              </a:rPr>
              <a:t>«Un estudiante sin notas registradas no tiene nota final: el sistema debe rechazar el cálculo con un error explícito, no informar un valor.»</a:t>
            </a:r>
            <a:endParaRPr lang="en-US" sz="1020" dirty="0"/>
          </a:p>
        </p:txBody>
      </p:sp>
      <p:sp>
        <p:nvSpPr>
          <p:cNvPr id="18" name="Shape 15"/>
          <p:cNvSpPr/>
          <p:nvPr/>
        </p:nvSpPr>
        <p:spPr>
          <a:xfrm>
            <a:off x="4343400" y="2377440"/>
            <a:ext cx="3502152" cy="2011680"/>
          </a:xfrm>
          <a:prstGeom prst="rect">
            <a:avLst/>
          </a:prstGeom>
          <a:solidFill>
            <a:srgbClr val="EDE9E1"/>
          </a:solidFill>
          <a:ln w="12700">
            <a:solidFill>
              <a:srgbClr val="EDE9E1"/>
            </a:solidFill>
            <a:prstDash val="solid"/>
          </a:ln>
        </p:spPr>
      </p:sp>
      <p:sp>
        <p:nvSpPr>
          <p:cNvPr id="19" name="Shape 16"/>
          <p:cNvSpPr/>
          <p:nvPr/>
        </p:nvSpPr>
        <p:spPr>
          <a:xfrm>
            <a:off x="4343400" y="2377440"/>
            <a:ext cx="3502152" cy="64008"/>
          </a:xfrm>
          <a:prstGeom prst="rect">
            <a:avLst/>
          </a:prstGeom>
          <a:solidFill>
            <a:srgbClr val="0E6E7A"/>
          </a:solidFill>
          <a:ln w="12700">
            <a:solidFill>
              <a:srgbClr val="0E6E7A"/>
            </a:solidFill>
            <a:prstDash val="solid"/>
          </a:ln>
        </p:spPr>
      </p:sp>
      <p:sp>
        <p:nvSpPr>
          <p:cNvPr id="20" name="Text 17"/>
          <p:cNvSpPr txBox="1"/>
          <p:nvPr/>
        </p:nvSpPr>
        <p:spPr>
          <a:xfrm>
            <a:off x="4581144" y="2523744"/>
            <a:ext cx="548640" cy="365760"/>
          </a:xfrm>
          <a:prstGeom prst="rect">
            <a:avLst/>
          </a:prstGeom>
          <a:noFill/>
          <a:ln/>
        </p:spPr>
        <p:txBody>
          <a:bodyPr wrap="square" lIns="0" tIns="0" rIns="0" bIns="0" rtlCol="0" anchor="t"/>
          <a:lstStyle/>
          <a:p>
            <a:pPr algn="l" indent="0" marL="0">
              <a:buNone/>
            </a:pPr>
            <a:r>
              <a:rPr lang="en-US" sz="2400" b="1" dirty="0">
                <a:solidFill>
                  <a:srgbClr val="0E6E7A"/>
                </a:solidFill>
                <a:latin typeface="Aptos Display" pitchFamily="34" charset="0"/>
                <a:ea typeface="Aptos Display" pitchFamily="34" charset="-122"/>
                <a:cs typeface="Aptos Display" pitchFamily="34" charset="-120"/>
              </a:rPr>
              <a:t>02</a:t>
            </a:r>
            <a:endParaRPr lang="en-US" sz="2400" dirty="0"/>
          </a:p>
        </p:txBody>
      </p:sp>
      <p:sp>
        <p:nvSpPr>
          <p:cNvPr id="21" name="Text 18"/>
          <p:cNvSpPr txBox="1"/>
          <p:nvPr/>
        </p:nvSpPr>
        <p:spPr>
          <a:xfrm>
            <a:off x="5166360" y="2560320"/>
            <a:ext cx="2468880" cy="438912"/>
          </a:xfrm>
          <a:prstGeom prst="rect">
            <a:avLst/>
          </a:prstGeom>
          <a:noFill/>
          <a:ln/>
        </p:spPr>
        <p:txBody>
          <a:bodyPr wrap="square" lIns="0" tIns="0" rIns="0" bIns="0" rtlCol="0" anchor="t"/>
          <a:lstStyle/>
          <a:p>
            <a:pPr algn="l" indent="0" marL="0">
              <a:lnSpc>
                <a:spcPct val="110000"/>
              </a:lnSpc>
              <a:buNone/>
            </a:pPr>
            <a:r>
              <a:rPr lang="en-US" sz="1280" b="1" dirty="0">
                <a:solidFill>
                  <a:srgbClr val="0E6E7A"/>
                </a:solidFill>
                <a:latin typeface="Aptos" pitchFamily="34" charset="0"/>
                <a:ea typeface="Aptos" pitchFamily="34" charset="-122"/>
                <a:cs typeface="Aptos" pitchFamily="34" charset="-120"/>
              </a:rPr>
              <a:t>Ahora sí se puede escribir la prueba</a:t>
            </a:r>
            <a:endParaRPr lang="en-US" sz="1280" dirty="0"/>
          </a:p>
        </p:txBody>
      </p:sp>
      <p:sp>
        <p:nvSpPr>
          <p:cNvPr id="22" name="Text 19"/>
          <p:cNvSpPr txBox="1"/>
          <p:nvPr/>
        </p:nvSpPr>
        <p:spPr>
          <a:xfrm>
            <a:off x="4581144" y="3072384"/>
            <a:ext cx="3035808" cy="402336"/>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Porque ya existe algo contra qué comparar:</a:t>
            </a:r>
            <a:endParaRPr lang="en-US" sz="1100" dirty="0"/>
          </a:p>
        </p:txBody>
      </p:sp>
      <p:sp>
        <p:nvSpPr>
          <p:cNvPr id="23" name="Shape 20"/>
          <p:cNvSpPr/>
          <p:nvPr/>
        </p:nvSpPr>
        <p:spPr>
          <a:xfrm>
            <a:off x="4581144" y="3529584"/>
            <a:ext cx="3035808" cy="749808"/>
          </a:xfrm>
          <a:prstGeom prst="rect">
            <a:avLst/>
          </a:prstGeom>
          <a:solidFill>
            <a:srgbClr val="102A43"/>
          </a:solidFill>
          <a:ln w="12700">
            <a:solidFill>
              <a:srgbClr val="102A43"/>
            </a:solidFill>
            <a:prstDash val="solid"/>
          </a:ln>
        </p:spPr>
      </p:sp>
      <p:sp>
        <p:nvSpPr>
          <p:cNvPr id="24" name="Text 21"/>
          <p:cNvSpPr txBox="1"/>
          <p:nvPr/>
        </p:nvSpPr>
        <p:spPr>
          <a:xfrm>
            <a:off x="4727448" y="3621024"/>
            <a:ext cx="2743200" cy="585216"/>
          </a:xfrm>
          <a:prstGeom prst="rect">
            <a:avLst/>
          </a:prstGeom>
          <a:noFill/>
          <a:ln/>
        </p:spPr>
        <p:txBody>
          <a:bodyPr wrap="square" lIns="0" tIns="0" rIns="0" bIns="0" rtlCol="0" anchor="t"/>
          <a:lstStyle/>
          <a:p>
            <a:pPr algn="l" indent="0" marL="0">
              <a:lnSpc>
                <a:spcPct val="114000"/>
              </a:lnSpc>
              <a:buNone/>
            </a:pPr>
            <a:r>
              <a:rPr lang="en-US" sz="1060" dirty="0">
                <a:solidFill>
                  <a:srgbClr val="E6EEF7"/>
                </a:solidFill>
                <a:latin typeface="Consolas" pitchFamily="34" charset="0"/>
                <a:ea typeface="Consolas" pitchFamily="34" charset="-122"/>
                <a:cs typeface="Consolas" pitchFamily="34" charset="-120"/>
              </a:rPr>
              <a:t>with pytest.raises(ValueError):</a:t>
            </a:r>
            <a:endParaRPr lang="en-US" sz="1060" dirty="0"/>
          </a:p>
          <a:p>
            <a:pPr algn="l" indent="0" marL="0">
              <a:lnSpc>
                <a:spcPct val="114000"/>
              </a:lnSpc>
              <a:buNone/>
            </a:pPr>
            <a:r>
              <a:rPr lang="en-US" sz="1060" dirty="0">
                <a:solidFill>
                  <a:srgbClr val="E6EEF7"/>
                </a:solidFill>
                <a:latin typeface="Consolas" pitchFamily="34" charset="0"/>
                <a:ea typeface="Consolas" pitchFamily="34" charset="-122"/>
                <a:cs typeface="Consolas" pitchFamily="34" charset="-120"/>
              </a:rPr>
              <a:t>    nota_final([])</a:t>
            </a:r>
            <a:endParaRPr lang="en-US" sz="1060" dirty="0"/>
          </a:p>
        </p:txBody>
      </p:sp>
      <p:sp>
        <p:nvSpPr>
          <p:cNvPr id="25" name="Shape 22"/>
          <p:cNvSpPr/>
          <p:nvPr/>
        </p:nvSpPr>
        <p:spPr>
          <a:xfrm>
            <a:off x="8028432" y="2377440"/>
            <a:ext cx="3502152" cy="2011680"/>
          </a:xfrm>
          <a:prstGeom prst="rect">
            <a:avLst/>
          </a:prstGeom>
          <a:solidFill>
            <a:srgbClr val="EDE9E1"/>
          </a:solidFill>
          <a:ln w="12700">
            <a:solidFill>
              <a:srgbClr val="EDE9E1"/>
            </a:solidFill>
            <a:prstDash val="solid"/>
          </a:ln>
        </p:spPr>
      </p:sp>
      <p:sp>
        <p:nvSpPr>
          <p:cNvPr id="26" name="Shape 23"/>
          <p:cNvSpPr/>
          <p:nvPr/>
        </p:nvSpPr>
        <p:spPr>
          <a:xfrm>
            <a:off x="8028432" y="2377440"/>
            <a:ext cx="3502152" cy="64008"/>
          </a:xfrm>
          <a:prstGeom prst="rect">
            <a:avLst/>
          </a:prstGeom>
          <a:solidFill>
            <a:srgbClr val="B3181E"/>
          </a:solidFill>
          <a:ln w="12700">
            <a:solidFill>
              <a:srgbClr val="B3181E"/>
            </a:solidFill>
            <a:prstDash val="solid"/>
          </a:ln>
        </p:spPr>
      </p:sp>
      <p:sp>
        <p:nvSpPr>
          <p:cNvPr id="27" name="Text 24"/>
          <p:cNvSpPr txBox="1"/>
          <p:nvPr/>
        </p:nvSpPr>
        <p:spPr>
          <a:xfrm>
            <a:off x="8266176" y="2523744"/>
            <a:ext cx="548640" cy="365760"/>
          </a:xfrm>
          <a:prstGeom prst="rect">
            <a:avLst/>
          </a:prstGeom>
          <a:noFill/>
          <a:ln/>
        </p:spPr>
        <p:txBody>
          <a:bodyPr wrap="square" lIns="0" tIns="0" rIns="0" bIns="0" rtlCol="0" anchor="t"/>
          <a:lstStyle/>
          <a:p>
            <a:pPr algn="l" indent="0" marL="0">
              <a:buNone/>
            </a:pPr>
            <a:r>
              <a:rPr lang="en-US" sz="2400" b="1" dirty="0">
                <a:solidFill>
                  <a:srgbClr val="B3181E"/>
                </a:solidFill>
                <a:latin typeface="Aptos Display" pitchFamily="34" charset="0"/>
                <a:ea typeface="Aptos Display" pitchFamily="34" charset="-122"/>
                <a:cs typeface="Aptos Display" pitchFamily="34" charset="-120"/>
              </a:rPr>
              <a:t>03</a:t>
            </a:r>
            <a:endParaRPr lang="en-US" sz="2400" dirty="0"/>
          </a:p>
        </p:txBody>
      </p:sp>
      <p:sp>
        <p:nvSpPr>
          <p:cNvPr id="28" name="Text 25"/>
          <p:cNvSpPr txBox="1"/>
          <p:nvPr/>
        </p:nvSpPr>
        <p:spPr>
          <a:xfrm>
            <a:off x="8851392" y="2560320"/>
            <a:ext cx="2468880" cy="438912"/>
          </a:xfrm>
          <a:prstGeom prst="rect">
            <a:avLst/>
          </a:prstGeom>
          <a:noFill/>
          <a:ln/>
        </p:spPr>
        <p:txBody>
          <a:bodyPr wrap="square" lIns="0" tIns="0" rIns="0" bIns="0" rtlCol="0" anchor="t"/>
          <a:lstStyle/>
          <a:p>
            <a:pPr algn="l" indent="0" marL="0">
              <a:lnSpc>
                <a:spcPct val="110000"/>
              </a:lnSpc>
              <a:buNone/>
            </a:pPr>
            <a:r>
              <a:rPr lang="en-US" sz="1280" b="1" dirty="0">
                <a:solidFill>
                  <a:srgbClr val="B3181E"/>
                </a:solidFill>
                <a:latin typeface="Aptos" pitchFamily="34" charset="0"/>
                <a:ea typeface="Aptos" pitchFamily="34" charset="-122"/>
                <a:cs typeface="Aptos" pitchFamily="34" charset="-120"/>
              </a:rPr>
              <a:t>Se ejecuta antes de corregir</a:t>
            </a:r>
            <a:endParaRPr lang="en-US" sz="1280" dirty="0"/>
          </a:p>
        </p:txBody>
      </p:sp>
      <p:sp>
        <p:nvSpPr>
          <p:cNvPr id="29" name="Text 26"/>
          <p:cNvSpPr txBox="1"/>
          <p:nvPr/>
        </p:nvSpPr>
        <p:spPr>
          <a:xfrm>
            <a:off x="8266176" y="3072384"/>
            <a:ext cx="3035808" cy="402336"/>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Y falla, como corresponde:</a:t>
            </a:r>
            <a:endParaRPr lang="en-US" sz="1100" dirty="0"/>
          </a:p>
        </p:txBody>
      </p:sp>
      <p:sp>
        <p:nvSpPr>
          <p:cNvPr id="30" name="Shape 27"/>
          <p:cNvSpPr/>
          <p:nvPr/>
        </p:nvSpPr>
        <p:spPr>
          <a:xfrm>
            <a:off x="8266176" y="3529584"/>
            <a:ext cx="3035808" cy="749808"/>
          </a:xfrm>
          <a:prstGeom prst="rect">
            <a:avLst/>
          </a:prstGeom>
          <a:solidFill>
            <a:srgbClr val="102A43"/>
          </a:solidFill>
          <a:ln w="12700">
            <a:solidFill>
              <a:srgbClr val="102A43"/>
            </a:solidFill>
            <a:prstDash val="solid"/>
          </a:ln>
        </p:spPr>
      </p:sp>
      <p:sp>
        <p:nvSpPr>
          <p:cNvPr id="31" name="Text 28"/>
          <p:cNvSpPr txBox="1"/>
          <p:nvPr/>
        </p:nvSpPr>
        <p:spPr>
          <a:xfrm>
            <a:off x="8412480" y="3621024"/>
            <a:ext cx="2743200" cy="585216"/>
          </a:xfrm>
          <a:prstGeom prst="rect">
            <a:avLst/>
          </a:prstGeom>
          <a:noFill/>
          <a:ln/>
        </p:spPr>
        <p:txBody>
          <a:bodyPr wrap="square" lIns="0" tIns="0" rIns="0" bIns="0" rtlCol="0" anchor="t"/>
          <a:lstStyle/>
          <a:p>
            <a:pPr algn="l" indent="0" marL="0">
              <a:lnSpc>
                <a:spcPct val="114000"/>
              </a:lnSpc>
              <a:buNone/>
            </a:pPr>
            <a:r>
              <a:rPr lang="en-US" sz="1060" dirty="0">
                <a:solidFill>
                  <a:srgbClr val="E6EEF7"/>
                </a:solidFill>
                <a:latin typeface="Consolas" pitchFamily="34" charset="0"/>
                <a:ea typeface="Consolas" pitchFamily="34" charset="-122"/>
                <a:cs typeface="Consolas" pitchFamily="34" charset="-120"/>
              </a:rPr>
              <a:t>decimal.InvalidOperation</a:t>
            </a:r>
            <a:endParaRPr lang="en-US" sz="1060" dirty="0"/>
          </a:p>
          <a:p>
            <a:pPr algn="l" indent="0" marL="0">
              <a:lnSpc>
                <a:spcPct val="114000"/>
              </a:lnSpc>
              <a:buNone/>
            </a:pPr>
            <a:r>
              <a:rPr lang="en-US" sz="1060" dirty="0">
                <a:solidFill>
                  <a:srgbClr val="E6EEF7"/>
                </a:solidFill>
                <a:latin typeface="Consolas" pitchFamily="34" charset="0"/>
                <a:ea typeface="Consolas" pitchFamily="34" charset="-122"/>
                <a:cs typeface="Consolas" pitchFamily="34" charset="-120"/>
              </a:rPr>
              <a:t>1 failed in 0.11s</a:t>
            </a:r>
            <a:endParaRPr lang="en-US" sz="1060" dirty="0"/>
          </a:p>
        </p:txBody>
      </p:sp>
      <p:sp>
        <p:nvSpPr>
          <p:cNvPr id="32" name="Shape 29"/>
          <p:cNvSpPr/>
          <p:nvPr/>
        </p:nvSpPr>
        <p:spPr>
          <a:xfrm>
            <a:off x="658368" y="4535424"/>
            <a:ext cx="10874959" cy="1005840"/>
          </a:xfrm>
          <a:prstGeom prst="rect">
            <a:avLst/>
          </a:prstGeom>
          <a:solidFill>
            <a:srgbClr val="F2E7D9"/>
          </a:solidFill>
          <a:ln w="12700">
            <a:solidFill>
              <a:srgbClr val="F2E7D9"/>
            </a:solidFill>
            <a:prstDash val="solid"/>
          </a:ln>
        </p:spPr>
      </p:sp>
      <p:sp>
        <p:nvSpPr>
          <p:cNvPr id="33" name="Shape 30"/>
          <p:cNvSpPr/>
          <p:nvPr/>
        </p:nvSpPr>
        <p:spPr>
          <a:xfrm>
            <a:off x="658368" y="4535424"/>
            <a:ext cx="73152" cy="1005840"/>
          </a:xfrm>
          <a:prstGeom prst="rect">
            <a:avLst/>
          </a:prstGeom>
          <a:solidFill>
            <a:srgbClr val="8A6A12"/>
          </a:solidFill>
          <a:ln w="12700">
            <a:solidFill>
              <a:srgbClr val="8A6A12"/>
            </a:solidFill>
            <a:prstDash val="solid"/>
          </a:ln>
        </p:spPr>
      </p:sp>
      <p:sp>
        <p:nvSpPr>
          <p:cNvPr id="34" name="Text 31"/>
          <p:cNvSpPr txBox="1"/>
          <p:nvPr/>
        </p:nvSpPr>
        <p:spPr>
          <a:xfrm>
            <a:off x="950976" y="4663440"/>
            <a:ext cx="5486400" cy="182880"/>
          </a:xfrm>
          <a:prstGeom prst="rect">
            <a:avLst/>
          </a:prstGeom>
          <a:noFill/>
          <a:ln/>
        </p:spPr>
        <p:txBody>
          <a:bodyPr wrap="square" lIns="0" tIns="0" rIns="0" bIns="0" rtlCol="0" anchor="t"/>
          <a:lstStyle/>
          <a:p>
            <a:pPr algn="l" indent="0" marL="0">
              <a:buNone/>
            </a:pPr>
            <a:r>
              <a:rPr lang="en-US" sz="880" b="1" spc="115" kern="0" dirty="0">
                <a:solidFill>
                  <a:srgbClr val="8A6A12"/>
                </a:solidFill>
                <a:latin typeface="Aptos" pitchFamily="34" charset="0"/>
                <a:ea typeface="Aptos" pitchFamily="34" charset="-122"/>
                <a:cs typeface="Aptos" pitchFamily="34" charset="-120"/>
              </a:rPr>
              <a:t>EL DETALLE QUE JUSTIFICA TODO EL ORDEN</a:t>
            </a:r>
            <a:endParaRPr lang="en-US" sz="880" dirty="0"/>
          </a:p>
        </p:txBody>
      </p:sp>
      <p:sp>
        <p:nvSpPr>
          <p:cNvPr id="35" name="Text 32"/>
          <p:cNvSpPr txBox="1"/>
          <p:nvPr/>
        </p:nvSpPr>
        <p:spPr>
          <a:xfrm>
            <a:off x="950976" y="4901184"/>
            <a:ext cx="10234879" cy="566928"/>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Cuando este problema apareció al revisar, el síntoma era ZeroDivisionError. Ahora es decimal.InvalidOperation, porque la corrección del hallazgo del redondeo cambió el síntoma de este otro. Una prueba escrita después se habría escrito contra el síntoma nuevo, y nadie habría notado que era el mismo problema de antes.</a:t>
            </a:r>
            <a:endParaRPr lang="en-US" sz="1240" dirty="0"/>
          </a:p>
        </p:txBody>
      </p:sp>
      <p:sp>
        <p:nvSpPr>
          <p:cNvPr id="36" name="Shape 33"/>
          <p:cNvSpPr/>
          <p:nvPr/>
        </p:nvSpPr>
        <p:spPr>
          <a:xfrm>
            <a:off x="658368" y="5687568"/>
            <a:ext cx="10874959" cy="512064"/>
          </a:xfrm>
          <a:prstGeom prst="rect">
            <a:avLst/>
          </a:prstGeom>
          <a:solidFill>
            <a:srgbClr val="102A43"/>
          </a:solidFill>
          <a:ln w="12700">
            <a:solidFill>
              <a:srgbClr val="102A43"/>
            </a:solidFill>
            <a:prstDash val="solid"/>
          </a:ln>
        </p:spPr>
      </p:sp>
      <p:sp>
        <p:nvSpPr>
          <p:cNvPr id="37" name="Text 34"/>
          <p:cNvSpPr txBox="1"/>
          <p:nvPr/>
        </p:nvSpPr>
        <p:spPr>
          <a:xfrm>
            <a:off x="969264" y="5742432"/>
            <a:ext cx="10253167" cy="402336"/>
          </a:xfrm>
          <a:prstGeom prst="rect">
            <a:avLst/>
          </a:prstGeom>
          <a:noFill/>
          <a:ln/>
        </p:spPr>
        <p:txBody>
          <a:bodyPr wrap="square" lIns="0" tIns="0" rIns="0" bIns="0" rtlCol="0" anchor="ctr"/>
          <a:lstStyle/>
          <a:p>
            <a:pPr algn="ctr" indent="0" marL="0">
              <a:lnSpc>
                <a:spcPct val="114000"/>
              </a:lnSpc>
              <a:buNone/>
            </a:pPr>
            <a:r>
              <a:rPr lang="en-US" sz="1360" b="1" dirty="0">
                <a:solidFill>
                  <a:srgbClr val="FFFFFF"/>
                </a:solidFill>
                <a:latin typeface="Aptos" pitchFamily="34" charset="0"/>
                <a:ea typeface="Aptos" pitchFamily="34" charset="-122"/>
                <a:cs typeface="Aptos" pitchFamily="34" charset="-120"/>
              </a:rPr>
              <a:t>La prueba escrita antes apunta a la conducta esperada. La escrita después apunta al error que el código produce hoy.</a:t>
            </a:r>
            <a:endParaRPr lang="en-US" sz="13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4.4 · CÓMO SE CIERRA LA REVISIÓN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Cinco hallazgos, cinco desenlaces registrados</a:t>
            </a:r>
            <a:endParaRPr lang="en-US" sz="3000" dirty="0"/>
          </a:p>
        </p:txBody>
      </p:sp>
      <p:sp>
        <p:nvSpPr>
          <p:cNvPr id="10" name="Text 7"/>
          <p:cNvSpPr txBox="1"/>
          <p:nvPr/>
        </p:nvSpPr>
        <p:spPr>
          <a:xfrm>
            <a:off x="877824" y="2048256"/>
            <a:ext cx="3657600" cy="182880"/>
          </a:xfrm>
          <a:prstGeom prst="rect">
            <a:avLst/>
          </a:prstGeom>
          <a:noFill/>
          <a:ln/>
        </p:spPr>
        <p:txBody>
          <a:bodyPr wrap="square" lIns="0" tIns="0" rIns="0" bIns="0" rtlCol="0" anchor="t"/>
          <a:lstStyle/>
          <a:p>
            <a:pPr algn="l" indent="0" marL="0">
              <a:buNone/>
            </a:pPr>
            <a:r>
              <a:rPr lang="en-US" sz="860" b="1" spc="110" kern="0" dirty="0">
                <a:solidFill>
                  <a:srgbClr val="96A3B2"/>
                </a:solidFill>
                <a:latin typeface="Aptos" pitchFamily="34" charset="0"/>
                <a:ea typeface="Aptos" pitchFamily="34" charset="-122"/>
                <a:cs typeface="Aptos" pitchFamily="34" charset="-120"/>
              </a:rPr>
              <a:t>HALLAZGO</a:t>
            </a:r>
            <a:endParaRPr lang="en-US" sz="860" dirty="0"/>
          </a:p>
        </p:txBody>
      </p:sp>
      <p:sp>
        <p:nvSpPr>
          <p:cNvPr id="11" name="Text 8"/>
          <p:cNvSpPr txBox="1"/>
          <p:nvPr/>
        </p:nvSpPr>
        <p:spPr>
          <a:xfrm>
            <a:off x="4663440" y="2048256"/>
            <a:ext cx="1371600" cy="182880"/>
          </a:xfrm>
          <a:prstGeom prst="rect">
            <a:avLst/>
          </a:prstGeom>
          <a:noFill/>
          <a:ln/>
        </p:spPr>
        <p:txBody>
          <a:bodyPr wrap="square" lIns="0" tIns="0" rIns="0" bIns="0" rtlCol="0" anchor="t"/>
          <a:lstStyle/>
          <a:p>
            <a:pPr algn="l" indent="0" marL="0">
              <a:buNone/>
            </a:pPr>
            <a:r>
              <a:rPr lang="en-US" sz="860" b="1" spc="110" kern="0" dirty="0">
                <a:solidFill>
                  <a:srgbClr val="96A3B2"/>
                </a:solidFill>
                <a:latin typeface="Aptos" pitchFamily="34" charset="0"/>
                <a:ea typeface="Aptos" pitchFamily="34" charset="-122"/>
                <a:cs typeface="Aptos" pitchFamily="34" charset="-120"/>
              </a:rPr>
              <a:t>CLASE</a:t>
            </a:r>
            <a:endParaRPr lang="en-US" sz="860" dirty="0"/>
          </a:p>
        </p:txBody>
      </p:sp>
      <p:sp>
        <p:nvSpPr>
          <p:cNvPr id="12" name="Text 9"/>
          <p:cNvSpPr txBox="1"/>
          <p:nvPr/>
        </p:nvSpPr>
        <p:spPr>
          <a:xfrm>
            <a:off x="6217920" y="2048256"/>
            <a:ext cx="2377440" cy="182880"/>
          </a:xfrm>
          <a:prstGeom prst="rect">
            <a:avLst/>
          </a:prstGeom>
          <a:noFill/>
          <a:ln/>
        </p:spPr>
        <p:txBody>
          <a:bodyPr wrap="square" lIns="0" tIns="0" rIns="0" bIns="0" rtlCol="0" anchor="t"/>
          <a:lstStyle/>
          <a:p>
            <a:pPr algn="l" indent="0" marL="0">
              <a:buNone/>
            </a:pPr>
            <a:r>
              <a:rPr lang="en-US" sz="860" b="1" spc="110" kern="0" dirty="0">
                <a:solidFill>
                  <a:srgbClr val="96A3B2"/>
                </a:solidFill>
                <a:latin typeface="Aptos" pitchFamily="34" charset="0"/>
                <a:ea typeface="Aptos" pitchFamily="34" charset="-122"/>
                <a:cs typeface="Aptos" pitchFamily="34" charset="-120"/>
              </a:rPr>
              <a:t>DESENLACE</a:t>
            </a:r>
            <a:endParaRPr lang="en-US" sz="860" dirty="0"/>
          </a:p>
        </p:txBody>
      </p:sp>
      <p:sp>
        <p:nvSpPr>
          <p:cNvPr id="13" name="Text 10"/>
          <p:cNvSpPr txBox="1"/>
          <p:nvPr/>
        </p:nvSpPr>
        <p:spPr>
          <a:xfrm>
            <a:off x="8778240" y="2048256"/>
            <a:ext cx="2752344" cy="182880"/>
          </a:xfrm>
          <a:prstGeom prst="rect">
            <a:avLst/>
          </a:prstGeom>
          <a:noFill/>
          <a:ln/>
        </p:spPr>
        <p:txBody>
          <a:bodyPr wrap="square" lIns="0" tIns="0" rIns="0" bIns="0" rtlCol="0" anchor="t"/>
          <a:lstStyle/>
          <a:p>
            <a:pPr algn="l" indent="0" marL="0">
              <a:buNone/>
            </a:pPr>
            <a:r>
              <a:rPr lang="en-US" sz="860" b="1" spc="110" kern="0" dirty="0">
                <a:solidFill>
                  <a:srgbClr val="96A3B2"/>
                </a:solidFill>
                <a:latin typeface="Aptos" pitchFamily="34" charset="0"/>
                <a:ea typeface="Aptos" pitchFamily="34" charset="-122"/>
                <a:cs typeface="Aptos" pitchFamily="34" charset="-120"/>
              </a:rPr>
              <a:t>ESTADO</a:t>
            </a:r>
            <a:endParaRPr lang="en-US" sz="860" dirty="0"/>
          </a:p>
        </p:txBody>
      </p:sp>
      <p:sp>
        <p:nvSpPr>
          <p:cNvPr id="14" name="Shape 11"/>
          <p:cNvSpPr/>
          <p:nvPr/>
        </p:nvSpPr>
        <p:spPr>
          <a:xfrm>
            <a:off x="658368" y="2304288"/>
            <a:ext cx="10874959" cy="0"/>
          </a:xfrm>
          <a:prstGeom prst="line">
            <a:avLst/>
          </a:prstGeom>
          <a:noFill/>
          <a:ln w="12700">
            <a:solidFill>
              <a:srgbClr val="D8CFC4"/>
            </a:solidFill>
            <a:prstDash val="solid"/>
            <a:headEnd type="none"/>
            <a:tailEnd type="none"/>
          </a:ln>
        </p:spPr>
      </p:sp>
      <p:sp>
        <p:nvSpPr>
          <p:cNvPr id="15" name="Shape 12"/>
          <p:cNvSpPr/>
          <p:nvPr/>
        </p:nvSpPr>
        <p:spPr>
          <a:xfrm>
            <a:off x="658368" y="2377440"/>
            <a:ext cx="45720" cy="310896"/>
          </a:xfrm>
          <a:prstGeom prst="rect">
            <a:avLst/>
          </a:prstGeom>
          <a:solidFill>
            <a:srgbClr val="B3181E"/>
          </a:solidFill>
          <a:ln w="12700">
            <a:solidFill>
              <a:srgbClr val="B3181E"/>
            </a:solidFill>
            <a:prstDash val="solid"/>
          </a:ln>
        </p:spPr>
      </p:sp>
      <p:sp>
        <p:nvSpPr>
          <p:cNvPr id="16" name="Text 13"/>
          <p:cNvSpPr txBox="1"/>
          <p:nvPr/>
        </p:nvSpPr>
        <p:spPr>
          <a:xfrm>
            <a:off x="877824" y="2377440"/>
            <a:ext cx="3657600" cy="274320"/>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asistencia &gt; 70</a:t>
            </a:r>
            <a:endParaRPr lang="en-US" sz="1200" dirty="0"/>
          </a:p>
        </p:txBody>
      </p:sp>
      <p:sp>
        <p:nvSpPr>
          <p:cNvPr id="17" name="Text 14"/>
          <p:cNvSpPr txBox="1"/>
          <p:nvPr/>
        </p:nvSpPr>
        <p:spPr>
          <a:xfrm>
            <a:off x="4663440" y="2395728"/>
            <a:ext cx="1371600" cy="237744"/>
          </a:xfrm>
          <a:prstGeom prst="rect">
            <a:avLst/>
          </a:prstGeom>
          <a:noFill/>
          <a:ln/>
        </p:spPr>
        <p:txBody>
          <a:bodyPr wrap="square" lIns="0" tIns="0" rIns="0" bIns="0" rtlCol="0" anchor="t"/>
          <a:lstStyle/>
          <a:p>
            <a:pPr algn="l" indent="0" marL="0">
              <a:buNone/>
            </a:pPr>
            <a:r>
              <a:rPr lang="en-US" sz="1100" dirty="0">
                <a:solidFill>
                  <a:srgbClr val="B3181E"/>
                </a:solidFill>
                <a:latin typeface="Aptos" pitchFamily="34" charset="0"/>
                <a:ea typeface="Aptos" pitchFamily="34" charset="-122"/>
                <a:cs typeface="Aptos" pitchFamily="34" charset="-120"/>
              </a:rPr>
              <a:t>Defecto</a:t>
            </a:r>
            <a:endParaRPr lang="en-US" sz="1100" dirty="0"/>
          </a:p>
        </p:txBody>
      </p:sp>
      <p:sp>
        <p:nvSpPr>
          <p:cNvPr id="18" name="Text 15"/>
          <p:cNvSpPr txBox="1"/>
          <p:nvPr/>
        </p:nvSpPr>
        <p:spPr>
          <a:xfrm>
            <a:off x="6217920" y="2395728"/>
            <a:ext cx="2377440" cy="237744"/>
          </a:xfrm>
          <a:prstGeom prst="rect">
            <a:avLst/>
          </a:prstGeom>
          <a:noFill/>
          <a:ln/>
        </p:spPr>
        <p:txBody>
          <a:bodyPr wrap="square" lIns="0" tIns="0" rIns="0" bIns="0" rtlCol="0" anchor="t"/>
          <a:lstStyle/>
          <a:p>
            <a:pPr algn="l" indent="0" marL="0">
              <a:buNone/>
            </a:pPr>
            <a:r>
              <a:rPr lang="en-US" sz="1020" dirty="0">
                <a:solidFill>
                  <a:srgbClr val="52606D"/>
                </a:solidFill>
                <a:latin typeface="Consolas" pitchFamily="34" charset="0"/>
                <a:ea typeface="Consolas" pitchFamily="34" charset="-122"/>
                <a:cs typeface="Consolas" pitchFamily="34" charset="-120"/>
              </a:rPr>
              <a:t>A · la prueba falló</a:t>
            </a:r>
            <a:endParaRPr lang="en-US" sz="1020" dirty="0"/>
          </a:p>
        </p:txBody>
      </p:sp>
      <p:sp>
        <p:nvSpPr>
          <p:cNvPr id="19" name="Text 16"/>
          <p:cNvSpPr txBox="1"/>
          <p:nvPr/>
        </p:nvSpPr>
        <p:spPr>
          <a:xfrm>
            <a:off x="8778240" y="2395728"/>
            <a:ext cx="2752344" cy="237744"/>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Corregido, con prueba</a:t>
            </a:r>
            <a:endParaRPr lang="en-US" sz="1100" dirty="0"/>
          </a:p>
        </p:txBody>
      </p:sp>
      <p:sp>
        <p:nvSpPr>
          <p:cNvPr id="20" name="Shape 17"/>
          <p:cNvSpPr/>
          <p:nvPr/>
        </p:nvSpPr>
        <p:spPr>
          <a:xfrm>
            <a:off x="658368" y="2724912"/>
            <a:ext cx="10874959" cy="0"/>
          </a:xfrm>
          <a:prstGeom prst="line">
            <a:avLst/>
          </a:prstGeom>
          <a:noFill/>
          <a:ln w="12700">
            <a:solidFill>
              <a:srgbClr val="D8CFC4"/>
            </a:solidFill>
            <a:prstDash val="solid"/>
            <a:headEnd type="none"/>
            <a:tailEnd type="none"/>
          </a:ln>
        </p:spPr>
      </p:sp>
      <p:sp>
        <p:nvSpPr>
          <p:cNvPr id="21" name="Shape 18"/>
          <p:cNvSpPr/>
          <p:nvPr/>
        </p:nvSpPr>
        <p:spPr>
          <a:xfrm>
            <a:off x="658368" y="2816352"/>
            <a:ext cx="45720" cy="310896"/>
          </a:xfrm>
          <a:prstGeom prst="rect">
            <a:avLst/>
          </a:prstGeom>
          <a:solidFill>
            <a:srgbClr val="B3181E"/>
          </a:solidFill>
          <a:ln w="12700">
            <a:solidFill>
              <a:srgbClr val="B3181E"/>
            </a:solidFill>
            <a:prstDash val="solid"/>
          </a:ln>
        </p:spPr>
      </p:sp>
      <p:sp>
        <p:nvSpPr>
          <p:cNvPr id="22" name="Text 19"/>
          <p:cNvSpPr txBox="1"/>
          <p:nvPr/>
        </p:nvSpPr>
        <p:spPr>
          <a:xfrm>
            <a:off x="877824" y="2816352"/>
            <a:ext cx="3657600" cy="274320"/>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El redondeo sobre punto flotante</a:t>
            </a:r>
            <a:endParaRPr lang="en-US" sz="1200" dirty="0"/>
          </a:p>
        </p:txBody>
      </p:sp>
      <p:sp>
        <p:nvSpPr>
          <p:cNvPr id="23" name="Text 20"/>
          <p:cNvSpPr txBox="1"/>
          <p:nvPr/>
        </p:nvSpPr>
        <p:spPr>
          <a:xfrm>
            <a:off x="4663440" y="2834640"/>
            <a:ext cx="1371600" cy="237744"/>
          </a:xfrm>
          <a:prstGeom prst="rect">
            <a:avLst/>
          </a:prstGeom>
          <a:noFill/>
          <a:ln/>
        </p:spPr>
        <p:txBody>
          <a:bodyPr wrap="square" lIns="0" tIns="0" rIns="0" bIns="0" rtlCol="0" anchor="t"/>
          <a:lstStyle/>
          <a:p>
            <a:pPr algn="l" indent="0" marL="0">
              <a:buNone/>
            </a:pPr>
            <a:r>
              <a:rPr lang="en-US" sz="1100" dirty="0">
                <a:solidFill>
                  <a:srgbClr val="B3181E"/>
                </a:solidFill>
                <a:latin typeface="Aptos" pitchFamily="34" charset="0"/>
                <a:ea typeface="Aptos" pitchFamily="34" charset="-122"/>
                <a:cs typeface="Aptos" pitchFamily="34" charset="-120"/>
              </a:rPr>
              <a:t>Defecto</a:t>
            </a:r>
            <a:endParaRPr lang="en-US" sz="1100" dirty="0"/>
          </a:p>
        </p:txBody>
      </p:sp>
      <p:sp>
        <p:nvSpPr>
          <p:cNvPr id="24" name="Text 21"/>
          <p:cNvSpPr txBox="1"/>
          <p:nvPr/>
        </p:nvSpPr>
        <p:spPr>
          <a:xfrm>
            <a:off x="6217920" y="2834640"/>
            <a:ext cx="2377440" cy="237744"/>
          </a:xfrm>
          <a:prstGeom prst="rect">
            <a:avLst/>
          </a:prstGeom>
          <a:noFill/>
          <a:ln/>
        </p:spPr>
        <p:txBody>
          <a:bodyPr wrap="square" lIns="0" tIns="0" rIns="0" bIns="0" rtlCol="0" anchor="t"/>
          <a:lstStyle/>
          <a:p>
            <a:pPr algn="l" indent="0" marL="0">
              <a:buNone/>
            </a:pPr>
            <a:r>
              <a:rPr lang="en-US" sz="1020" dirty="0">
                <a:solidFill>
                  <a:srgbClr val="52606D"/>
                </a:solidFill>
                <a:latin typeface="Consolas" pitchFamily="34" charset="0"/>
                <a:ea typeface="Consolas" pitchFamily="34" charset="-122"/>
                <a:cs typeface="Consolas" pitchFamily="34" charset="-120"/>
              </a:rPr>
              <a:t>A · falló con [1.3, 6.6]</a:t>
            </a:r>
            <a:endParaRPr lang="en-US" sz="1020" dirty="0"/>
          </a:p>
        </p:txBody>
      </p:sp>
      <p:sp>
        <p:nvSpPr>
          <p:cNvPr id="25" name="Text 22"/>
          <p:cNvSpPr txBox="1"/>
          <p:nvPr/>
        </p:nvSpPr>
        <p:spPr>
          <a:xfrm>
            <a:off x="8778240" y="2834640"/>
            <a:ext cx="2752344" cy="237744"/>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Corregido, con prueba</a:t>
            </a:r>
            <a:endParaRPr lang="en-US" sz="1100" dirty="0"/>
          </a:p>
        </p:txBody>
      </p:sp>
      <p:sp>
        <p:nvSpPr>
          <p:cNvPr id="26" name="Shape 23"/>
          <p:cNvSpPr/>
          <p:nvPr/>
        </p:nvSpPr>
        <p:spPr>
          <a:xfrm>
            <a:off x="658368" y="3163824"/>
            <a:ext cx="10874959" cy="0"/>
          </a:xfrm>
          <a:prstGeom prst="line">
            <a:avLst/>
          </a:prstGeom>
          <a:noFill/>
          <a:ln w="12700">
            <a:solidFill>
              <a:srgbClr val="D8CFC4"/>
            </a:solidFill>
            <a:prstDash val="solid"/>
            <a:headEnd type="none"/>
            <a:tailEnd type="none"/>
          </a:ln>
        </p:spPr>
      </p:sp>
      <p:sp>
        <p:nvSpPr>
          <p:cNvPr id="27" name="Shape 24"/>
          <p:cNvSpPr/>
          <p:nvPr/>
        </p:nvSpPr>
        <p:spPr>
          <a:xfrm>
            <a:off x="658368" y="3255264"/>
            <a:ext cx="45720" cy="310896"/>
          </a:xfrm>
          <a:prstGeom prst="rect">
            <a:avLst/>
          </a:prstGeom>
          <a:solidFill>
            <a:srgbClr val="8A6A12"/>
          </a:solidFill>
          <a:ln w="12700">
            <a:solidFill>
              <a:srgbClr val="8A6A12"/>
            </a:solidFill>
            <a:prstDash val="solid"/>
          </a:ln>
        </p:spPr>
      </p:sp>
      <p:sp>
        <p:nvSpPr>
          <p:cNvPr id="28" name="Text 25"/>
          <p:cNvSpPr txBox="1"/>
          <p:nvPr/>
        </p:nvSpPr>
        <p:spPr>
          <a:xfrm>
            <a:off x="877824" y="3255264"/>
            <a:ext cx="3657600" cy="274320"/>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El contraejemplo [1.0, 1.3, 6.6, 6.9]</a:t>
            </a:r>
            <a:endParaRPr lang="en-US" sz="1200" dirty="0"/>
          </a:p>
        </p:txBody>
      </p:sp>
      <p:sp>
        <p:nvSpPr>
          <p:cNvPr id="29" name="Text 26"/>
          <p:cNvSpPr txBox="1"/>
          <p:nvPr/>
        </p:nvSpPr>
        <p:spPr>
          <a:xfrm>
            <a:off x="4663440" y="3273552"/>
            <a:ext cx="1371600" cy="237744"/>
          </a:xfrm>
          <a:prstGeom prst="rect">
            <a:avLst/>
          </a:prstGeom>
          <a:noFill/>
          <a:ln/>
        </p:spPr>
        <p:txBody>
          <a:bodyPr wrap="square" lIns="0" tIns="0" rIns="0" bIns="0" rtlCol="0" anchor="t"/>
          <a:lstStyle/>
          <a:p>
            <a:pPr algn="l" indent="0" marL="0">
              <a:buNone/>
            </a:pPr>
            <a:r>
              <a:rPr lang="en-US" sz="1100" dirty="0">
                <a:solidFill>
                  <a:srgbClr val="8A6A12"/>
                </a:solidFill>
                <a:latin typeface="Aptos" pitchFamily="34" charset="0"/>
                <a:ea typeface="Aptos" pitchFamily="34" charset="-122"/>
                <a:cs typeface="Aptos" pitchFamily="34" charset="-120"/>
              </a:rPr>
              <a:t>Evidencia</a:t>
            </a:r>
            <a:endParaRPr lang="en-US" sz="1100" dirty="0"/>
          </a:p>
        </p:txBody>
      </p:sp>
      <p:sp>
        <p:nvSpPr>
          <p:cNvPr id="30" name="Text 27"/>
          <p:cNvSpPr txBox="1"/>
          <p:nvPr/>
        </p:nvSpPr>
        <p:spPr>
          <a:xfrm>
            <a:off x="6217920" y="3273552"/>
            <a:ext cx="2377440" cy="237744"/>
          </a:xfrm>
          <a:prstGeom prst="rect">
            <a:avLst/>
          </a:prstGeom>
          <a:noFill/>
          <a:ln/>
        </p:spPr>
        <p:txBody>
          <a:bodyPr wrap="square" lIns="0" tIns="0" rIns="0" bIns="0" rtlCol="0" anchor="t"/>
          <a:lstStyle/>
          <a:p>
            <a:pPr algn="l" indent="0" marL="0">
              <a:buNone/>
            </a:pPr>
            <a:r>
              <a:rPr lang="en-US" sz="1020" dirty="0">
                <a:solidFill>
                  <a:srgbClr val="52606D"/>
                </a:solidFill>
                <a:latin typeface="Consolas" pitchFamily="34" charset="0"/>
                <a:ea typeface="Consolas" pitchFamily="34" charset="-122"/>
                <a:cs typeface="Consolas" pitchFamily="34" charset="-120"/>
              </a:rPr>
              <a:t>B · la prueba pasó</a:t>
            </a:r>
            <a:endParaRPr lang="en-US" sz="1020" dirty="0"/>
          </a:p>
        </p:txBody>
      </p:sp>
      <p:sp>
        <p:nvSpPr>
          <p:cNvPr id="31" name="Text 28"/>
          <p:cNvSpPr txBox="1"/>
          <p:nvPr/>
        </p:nvSpPr>
        <p:spPr>
          <a:xfrm>
            <a:off x="8778240" y="3273552"/>
            <a:ext cx="2752344" cy="237744"/>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Descartado como evidencia</a:t>
            </a:r>
            <a:endParaRPr lang="en-US" sz="1100" dirty="0"/>
          </a:p>
        </p:txBody>
      </p:sp>
      <p:sp>
        <p:nvSpPr>
          <p:cNvPr id="32" name="Shape 29"/>
          <p:cNvSpPr/>
          <p:nvPr/>
        </p:nvSpPr>
        <p:spPr>
          <a:xfrm>
            <a:off x="658368" y="3602736"/>
            <a:ext cx="10874959" cy="0"/>
          </a:xfrm>
          <a:prstGeom prst="line">
            <a:avLst/>
          </a:prstGeom>
          <a:noFill/>
          <a:ln w="12700">
            <a:solidFill>
              <a:srgbClr val="D8CFC4"/>
            </a:solidFill>
            <a:prstDash val="solid"/>
            <a:headEnd type="none"/>
            <a:tailEnd type="none"/>
          </a:ln>
        </p:spPr>
      </p:sp>
      <p:sp>
        <p:nvSpPr>
          <p:cNvPr id="33" name="Shape 30"/>
          <p:cNvSpPr/>
          <p:nvPr/>
        </p:nvSpPr>
        <p:spPr>
          <a:xfrm>
            <a:off x="658368" y="3694176"/>
            <a:ext cx="45720" cy="310896"/>
          </a:xfrm>
          <a:prstGeom prst="rect">
            <a:avLst/>
          </a:prstGeom>
          <a:solidFill>
            <a:srgbClr val="102A43"/>
          </a:solidFill>
          <a:ln w="12700">
            <a:solidFill>
              <a:srgbClr val="102A43"/>
            </a:solidFill>
            <a:prstDash val="solid"/>
          </a:ln>
        </p:spPr>
      </p:sp>
      <p:sp>
        <p:nvSpPr>
          <p:cNvPr id="34" name="Text 31"/>
          <p:cNvSpPr txBox="1"/>
          <p:nvPr/>
        </p:nvSpPr>
        <p:spPr>
          <a:xfrm>
            <a:off x="877824" y="3694176"/>
            <a:ext cx="3657600" cy="274320"/>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Lista de notas vacía</a:t>
            </a:r>
            <a:endParaRPr lang="en-US" sz="1200" dirty="0"/>
          </a:p>
        </p:txBody>
      </p:sp>
      <p:sp>
        <p:nvSpPr>
          <p:cNvPr id="35" name="Text 32"/>
          <p:cNvSpPr txBox="1"/>
          <p:nvPr/>
        </p:nvSpPr>
        <p:spPr>
          <a:xfrm>
            <a:off x="4663440" y="3712464"/>
            <a:ext cx="1371600" cy="237744"/>
          </a:xfrm>
          <a:prstGeom prst="rect">
            <a:avLst/>
          </a:prstGeom>
          <a:noFill/>
          <a:ln/>
        </p:spPr>
        <p:txBody>
          <a:bodyPr wrap="square" lIns="0" tIns="0" rIns="0" bIns="0" rtlCol="0" anchor="t"/>
          <a:lstStyle/>
          <a:p>
            <a:pPr algn="l" indent="0" marL="0">
              <a:buNone/>
            </a:pPr>
            <a:r>
              <a:rPr lang="en-US" sz="1100" dirty="0">
                <a:solidFill>
                  <a:srgbClr val="102A43"/>
                </a:solidFill>
                <a:latin typeface="Aptos" pitchFamily="34" charset="0"/>
                <a:ea typeface="Aptos" pitchFamily="34" charset="-122"/>
                <a:cs typeface="Aptos" pitchFamily="34" charset="-120"/>
              </a:rPr>
              <a:t>Riesgo → Defecto</a:t>
            </a:r>
            <a:endParaRPr lang="en-US" sz="1100" dirty="0"/>
          </a:p>
        </p:txBody>
      </p:sp>
      <p:sp>
        <p:nvSpPr>
          <p:cNvPr id="36" name="Text 33"/>
          <p:cNvSpPr txBox="1"/>
          <p:nvPr/>
        </p:nvSpPr>
        <p:spPr>
          <a:xfrm>
            <a:off x="6217920" y="3712464"/>
            <a:ext cx="2377440" cy="237744"/>
          </a:xfrm>
          <a:prstGeom prst="rect">
            <a:avLst/>
          </a:prstGeom>
          <a:noFill/>
          <a:ln/>
        </p:spPr>
        <p:txBody>
          <a:bodyPr wrap="square" lIns="0" tIns="0" rIns="0" bIns="0" rtlCol="0" anchor="t"/>
          <a:lstStyle/>
          <a:p>
            <a:pPr algn="l" indent="0" marL="0">
              <a:buNone/>
            </a:pPr>
            <a:r>
              <a:rPr lang="en-US" sz="1020" dirty="0">
                <a:solidFill>
                  <a:srgbClr val="52606D"/>
                </a:solidFill>
                <a:latin typeface="Consolas" pitchFamily="34" charset="0"/>
                <a:ea typeface="Consolas" pitchFamily="34" charset="-122"/>
                <a:cs typeface="Consolas" pitchFamily="34" charset="-120"/>
              </a:rPr>
              <a:t>C, y después A</a:t>
            </a:r>
            <a:endParaRPr lang="en-US" sz="1020" dirty="0"/>
          </a:p>
        </p:txBody>
      </p:sp>
      <p:sp>
        <p:nvSpPr>
          <p:cNvPr id="37" name="Text 34"/>
          <p:cNvSpPr txBox="1"/>
          <p:nvPr/>
        </p:nvSpPr>
        <p:spPr>
          <a:xfrm>
            <a:off x="8778240" y="3712464"/>
            <a:ext cx="2752344" cy="237744"/>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Requisito completado y corregido</a:t>
            </a:r>
            <a:endParaRPr lang="en-US" sz="1100" dirty="0"/>
          </a:p>
        </p:txBody>
      </p:sp>
      <p:sp>
        <p:nvSpPr>
          <p:cNvPr id="38" name="Shape 35"/>
          <p:cNvSpPr/>
          <p:nvPr/>
        </p:nvSpPr>
        <p:spPr>
          <a:xfrm>
            <a:off x="658368" y="4041648"/>
            <a:ext cx="10874959" cy="0"/>
          </a:xfrm>
          <a:prstGeom prst="line">
            <a:avLst/>
          </a:prstGeom>
          <a:noFill/>
          <a:ln w="12700">
            <a:solidFill>
              <a:srgbClr val="D8CFC4"/>
            </a:solidFill>
            <a:prstDash val="solid"/>
            <a:headEnd type="none"/>
            <a:tailEnd type="none"/>
          </a:ln>
        </p:spPr>
      </p:sp>
      <p:sp>
        <p:nvSpPr>
          <p:cNvPr id="39" name="Shape 36"/>
          <p:cNvSpPr/>
          <p:nvPr/>
        </p:nvSpPr>
        <p:spPr>
          <a:xfrm>
            <a:off x="658368" y="4133088"/>
            <a:ext cx="45720" cy="310896"/>
          </a:xfrm>
          <a:prstGeom prst="rect">
            <a:avLst/>
          </a:prstGeom>
          <a:solidFill>
            <a:srgbClr val="B3181E"/>
          </a:solidFill>
          <a:ln w="12700">
            <a:solidFill>
              <a:srgbClr val="B3181E"/>
            </a:solidFill>
            <a:prstDash val="solid"/>
          </a:ln>
        </p:spPr>
      </p:sp>
      <p:sp>
        <p:nvSpPr>
          <p:cNvPr id="40" name="Text 37"/>
          <p:cNvSpPr txBox="1"/>
          <p:nvPr/>
        </p:nvSpPr>
        <p:spPr>
          <a:xfrm>
            <a:off x="877824" y="4133088"/>
            <a:ext cx="3657600" cy="274320"/>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El RUT en resumen</a:t>
            </a:r>
            <a:endParaRPr lang="en-US" sz="1200" dirty="0"/>
          </a:p>
        </p:txBody>
      </p:sp>
      <p:sp>
        <p:nvSpPr>
          <p:cNvPr id="41" name="Text 38"/>
          <p:cNvSpPr txBox="1"/>
          <p:nvPr/>
        </p:nvSpPr>
        <p:spPr>
          <a:xfrm>
            <a:off x="4663440" y="4151376"/>
            <a:ext cx="1371600" cy="237744"/>
          </a:xfrm>
          <a:prstGeom prst="rect">
            <a:avLst/>
          </a:prstGeom>
          <a:noFill/>
          <a:ln/>
        </p:spPr>
        <p:txBody>
          <a:bodyPr wrap="square" lIns="0" tIns="0" rIns="0" bIns="0" rtlCol="0" anchor="t"/>
          <a:lstStyle/>
          <a:p>
            <a:pPr algn="l" indent="0" marL="0">
              <a:buNone/>
            </a:pPr>
            <a:r>
              <a:rPr lang="en-US" sz="1100" dirty="0">
                <a:solidFill>
                  <a:srgbClr val="B3181E"/>
                </a:solidFill>
                <a:latin typeface="Aptos" pitchFamily="34" charset="0"/>
                <a:ea typeface="Aptos" pitchFamily="34" charset="-122"/>
                <a:cs typeface="Aptos" pitchFamily="34" charset="-120"/>
              </a:rPr>
              <a:t>Riesgo</a:t>
            </a:r>
            <a:endParaRPr lang="en-US" sz="1100" dirty="0"/>
          </a:p>
        </p:txBody>
      </p:sp>
      <p:sp>
        <p:nvSpPr>
          <p:cNvPr id="42" name="Text 39"/>
          <p:cNvSpPr txBox="1"/>
          <p:nvPr/>
        </p:nvSpPr>
        <p:spPr>
          <a:xfrm>
            <a:off x="6217920" y="4151376"/>
            <a:ext cx="2377440" cy="237744"/>
          </a:xfrm>
          <a:prstGeom prst="rect">
            <a:avLst/>
          </a:prstGeom>
          <a:noFill/>
          <a:ln/>
        </p:spPr>
        <p:txBody>
          <a:bodyPr wrap="square" lIns="0" tIns="0" rIns="0" bIns="0" rtlCol="0" anchor="t"/>
          <a:lstStyle/>
          <a:p>
            <a:pPr algn="l" indent="0" marL="0">
              <a:buNone/>
            </a:pPr>
            <a:r>
              <a:rPr lang="en-US" sz="1020" dirty="0">
                <a:solidFill>
                  <a:srgbClr val="52606D"/>
                </a:solidFill>
                <a:latin typeface="Consolas" pitchFamily="34" charset="0"/>
                <a:ea typeface="Consolas" pitchFamily="34" charset="-122"/>
                <a:cs typeface="Consolas" pitchFamily="34" charset="-120"/>
              </a:rPr>
              <a:t>C · no se puede escribir</a:t>
            </a:r>
            <a:endParaRPr lang="en-US" sz="1020" dirty="0"/>
          </a:p>
        </p:txBody>
      </p:sp>
      <p:sp>
        <p:nvSpPr>
          <p:cNvPr id="43" name="Text 40"/>
          <p:cNvSpPr txBox="1"/>
          <p:nvPr/>
        </p:nvSpPr>
        <p:spPr>
          <a:xfrm>
            <a:off x="8778240" y="4151376"/>
            <a:ext cx="2752344" cy="237744"/>
          </a:xfrm>
          <a:prstGeom prst="rect">
            <a:avLst/>
          </a:prstGeom>
          <a:noFill/>
          <a:ln/>
        </p:spPr>
        <p:txBody>
          <a:bodyPr wrap="square" lIns="0" tIns="0" rIns="0" bIns="0" rtlCol="0" anchor="t"/>
          <a:lstStyle/>
          <a:p>
            <a:pPr algn="l" indent="0" marL="0">
              <a:buNone/>
            </a:pPr>
            <a:r>
              <a:rPr lang="en-US" sz="1100" b="1" dirty="0">
                <a:solidFill>
                  <a:srgbClr val="B3181E"/>
                </a:solidFill>
                <a:latin typeface="Aptos" pitchFamily="34" charset="0"/>
                <a:ea typeface="Aptos" pitchFamily="34" charset="-122"/>
                <a:cs typeface="Aptos" pitchFamily="34" charset="-120"/>
              </a:rPr>
              <a:t>ABIERTO, espera decisión</a:t>
            </a:r>
            <a:endParaRPr lang="en-US" sz="1100" dirty="0"/>
          </a:p>
        </p:txBody>
      </p:sp>
      <p:sp>
        <p:nvSpPr>
          <p:cNvPr id="44" name="Shape 41"/>
          <p:cNvSpPr/>
          <p:nvPr/>
        </p:nvSpPr>
        <p:spPr>
          <a:xfrm>
            <a:off x="658368" y="4663440"/>
            <a:ext cx="5340096" cy="1316736"/>
          </a:xfrm>
          <a:prstGeom prst="roundRect">
            <a:avLst>
              <a:gd name="adj" fmla="val 2778"/>
            </a:avLst>
          </a:prstGeom>
          <a:solidFill>
            <a:srgbClr val="0F1720"/>
          </a:solidFill>
          <a:ln w="12700">
            <a:solidFill>
              <a:srgbClr val="0F1720"/>
            </a:solidFill>
            <a:prstDash val="solid"/>
          </a:ln>
        </p:spPr>
      </p:sp>
      <p:sp>
        <p:nvSpPr>
          <p:cNvPr id="45" name="Shape 42"/>
          <p:cNvSpPr/>
          <p:nvPr/>
        </p:nvSpPr>
        <p:spPr>
          <a:xfrm>
            <a:off x="786384" y="4773168"/>
            <a:ext cx="5084064" cy="310896"/>
          </a:xfrm>
          <a:prstGeom prst="roundRect">
            <a:avLst>
              <a:gd name="adj" fmla="val 8824"/>
            </a:avLst>
          </a:prstGeom>
          <a:solidFill>
            <a:srgbClr val="1E2937"/>
          </a:solidFill>
          <a:ln w="12700">
            <a:solidFill>
              <a:srgbClr val="1E2937"/>
            </a:solidFill>
            <a:prstDash val="solid"/>
          </a:ln>
        </p:spPr>
      </p:sp>
      <p:sp>
        <p:nvSpPr>
          <p:cNvPr id="46" name="Text 43"/>
          <p:cNvSpPr/>
          <p:nvPr/>
        </p:nvSpPr>
        <p:spPr>
          <a:xfrm>
            <a:off x="914400" y="4846320"/>
            <a:ext cx="482803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proyecto al cerrar el arbitraje</a:t>
            </a:r>
            <a:endParaRPr lang="en-US" sz="1000" dirty="0"/>
          </a:p>
        </p:txBody>
      </p:sp>
      <p:sp>
        <p:nvSpPr>
          <p:cNvPr id="47" name="Text 44"/>
          <p:cNvSpPr/>
          <p:nvPr/>
        </p:nvSpPr>
        <p:spPr>
          <a:xfrm>
            <a:off x="877824" y="5230368"/>
            <a:ext cx="4590288" cy="164592"/>
          </a:xfrm>
          <a:prstGeom prst="rect">
            <a:avLst/>
          </a:prstGeom>
          <a:noFill/>
          <a:ln/>
        </p:spPr>
        <p:txBody>
          <a:bodyPr wrap="square" lIns="0" tIns="0" rIns="0" bIns="0" rtlCol="0" anchor="ctr"/>
          <a:lstStyle/>
          <a:p>
            <a:pPr indent="0" marL="0">
              <a:buNone/>
            </a:pPr>
            <a:r>
              <a:rPr lang="en-US" sz="940" dirty="0">
                <a:solidFill>
                  <a:srgbClr val="E6EEF7"/>
                </a:solidFill>
                <a:latin typeface="Consolas" pitchFamily="34" charset="0"/>
                <a:ea typeface="Consolas" pitchFamily="34" charset="-122"/>
                <a:cs typeface="Consolas" pitchFamily="34" charset="-120"/>
              </a:rPr>
              <a:t>8 passed in 0.03s</a:t>
            </a:r>
            <a:endParaRPr lang="en-US" sz="940" dirty="0"/>
          </a:p>
        </p:txBody>
      </p:sp>
      <p:sp>
        <p:nvSpPr>
          <p:cNvPr id="48" name="Text 45"/>
          <p:cNvSpPr/>
          <p:nvPr/>
        </p:nvSpPr>
        <p:spPr>
          <a:xfrm>
            <a:off x="877824" y="5486400"/>
            <a:ext cx="4590288" cy="164592"/>
          </a:xfrm>
          <a:prstGeom prst="rect">
            <a:avLst/>
          </a:prstGeom>
          <a:noFill/>
          <a:ln/>
        </p:spPr>
        <p:txBody>
          <a:bodyPr wrap="square" lIns="0" tIns="0" rIns="0" bIns="0" rtlCol="0" anchor="ctr"/>
          <a:lstStyle/>
          <a:p>
            <a:pPr indent="0" marL="0">
              <a:buNone/>
            </a:pPr>
            <a:r>
              <a:rPr lang="en-US" sz="940" dirty="0">
                <a:solidFill>
                  <a:srgbClr val="E6EEF7"/>
                </a:solidFill>
                <a:latin typeface="Consolas" pitchFamily="34" charset="0"/>
                <a:ea typeface="Consolas" pitchFamily="34" charset="-122"/>
                <a:cs typeface="Consolas" pitchFamily="34" charset="-120"/>
              </a:rPr>
              <a:t>All checks passed!</a:t>
            </a:r>
            <a:endParaRPr lang="en-US" sz="940" dirty="0"/>
          </a:p>
        </p:txBody>
      </p:sp>
      <p:sp>
        <p:nvSpPr>
          <p:cNvPr id="49" name="Text 46"/>
          <p:cNvSpPr/>
          <p:nvPr/>
        </p:nvSpPr>
        <p:spPr>
          <a:xfrm>
            <a:off x="877824" y="5742432"/>
            <a:ext cx="4590288" cy="164592"/>
          </a:xfrm>
          <a:prstGeom prst="rect">
            <a:avLst/>
          </a:prstGeom>
          <a:noFill/>
          <a:ln/>
        </p:spPr>
        <p:txBody>
          <a:bodyPr wrap="square" lIns="0" tIns="0" rIns="0" bIns="0" rtlCol="0" anchor="ctr"/>
          <a:lstStyle/>
          <a:p>
            <a:pPr indent="0" marL="0">
              <a:buNone/>
            </a:pPr>
            <a:r>
              <a:rPr lang="en-US" sz="940" dirty="0">
                <a:solidFill>
                  <a:srgbClr val="E6EEF7"/>
                </a:solidFill>
                <a:latin typeface="Consolas" pitchFamily="34" charset="0"/>
                <a:ea typeface="Consolas" pitchFamily="34" charset="-122"/>
                <a:cs typeface="Consolas" pitchFamily="34" charset="-120"/>
              </a:rPr>
              <a:t>INFO 0 errors</a:t>
            </a:r>
            <a:endParaRPr lang="en-US" sz="940" dirty="0"/>
          </a:p>
        </p:txBody>
      </p:sp>
      <p:sp>
        <p:nvSpPr>
          <p:cNvPr id="50" name="Shape 47"/>
          <p:cNvSpPr/>
          <p:nvPr/>
        </p:nvSpPr>
        <p:spPr>
          <a:xfrm>
            <a:off x="6190488" y="4663440"/>
            <a:ext cx="5340096" cy="1316736"/>
          </a:xfrm>
          <a:prstGeom prst="rect">
            <a:avLst/>
          </a:prstGeom>
          <a:solidFill>
            <a:srgbClr val="F6E7E2"/>
          </a:solidFill>
          <a:ln w="12700">
            <a:solidFill>
              <a:srgbClr val="F6E7E2"/>
            </a:solidFill>
            <a:prstDash val="solid"/>
          </a:ln>
        </p:spPr>
      </p:sp>
      <p:sp>
        <p:nvSpPr>
          <p:cNvPr id="51" name="Shape 48"/>
          <p:cNvSpPr/>
          <p:nvPr/>
        </p:nvSpPr>
        <p:spPr>
          <a:xfrm>
            <a:off x="6190488" y="4663440"/>
            <a:ext cx="64008" cy="1316736"/>
          </a:xfrm>
          <a:prstGeom prst="rect">
            <a:avLst/>
          </a:prstGeom>
          <a:solidFill>
            <a:srgbClr val="B3181E"/>
          </a:solidFill>
          <a:ln w="12700">
            <a:solidFill>
              <a:srgbClr val="B3181E"/>
            </a:solidFill>
            <a:prstDash val="solid"/>
          </a:ln>
        </p:spPr>
      </p:sp>
      <p:sp>
        <p:nvSpPr>
          <p:cNvPr id="52" name="Text 49"/>
          <p:cNvSpPr txBox="1"/>
          <p:nvPr/>
        </p:nvSpPr>
        <p:spPr>
          <a:xfrm>
            <a:off x="6492240" y="4864608"/>
            <a:ext cx="4882896" cy="914400"/>
          </a:xfrm>
          <a:prstGeom prst="rect">
            <a:avLst/>
          </a:prstGeom>
          <a:noFill/>
          <a:ln/>
        </p:spPr>
        <p:txBody>
          <a:bodyPr wrap="square" lIns="0" tIns="0" rIns="0" bIns="0" rtlCol="0" anchor="t"/>
          <a:lstStyle/>
          <a:p>
            <a:pPr algn="l" indent="0" marL="0">
              <a:lnSpc>
                <a:spcPct val="116000"/>
              </a:lnSpc>
              <a:buNone/>
            </a:pPr>
            <a:r>
              <a:rPr lang="en-US" sz="1160" dirty="0">
                <a:solidFill>
                  <a:srgbClr val="243B53"/>
                </a:solidFill>
                <a:latin typeface="Aptos" pitchFamily="34" charset="0"/>
                <a:ea typeface="Aptos" pitchFamily="34" charset="-122"/>
                <a:cs typeface="Aptos" pitchFamily="34" charset="-120"/>
              </a:rPr>
              <a:t>Un hallazgo abierto y declarado como tal es un resultado legítimo. Lo que no es legítimo es cerrarlo inventando la expectativa que falta: eso reemplaza a quien define el producto por quien escribe el código.</a:t>
            </a:r>
            <a:endParaRPr lang="en-US" sz="1160" dirty="0"/>
          </a:p>
        </p:txBody>
      </p:sp>
      <p:sp>
        <p:nvSpPr>
          <p:cNvPr id="53" name="Text 50"/>
          <p:cNvSpPr txBox="1"/>
          <p:nvPr/>
        </p:nvSpPr>
        <p:spPr>
          <a:xfrm>
            <a:off x="658368" y="6089904"/>
            <a:ext cx="10874959" cy="256032"/>
          </a:xfrm>
          <a:prstGeom prst="rect">
            <a:avLst/>
          </a:prstGeom>
          <a:noFill/>
          <a:ln/>
        </p:spPr>
        <p:txBody>
          <a:bodyPr wrap="square" lIns="0" tIns="0" rIns="0" bIns="0" rtlCol="0" anchor="t"/>
          <a:lstStyle/>
          <a:p>
            <a:pPr algn="l" indent="0" marL="0">
              <a:buNone/>
            </a:pPr>
            <a:r>
              <a:rPr lang="en-US" sz="1160" i="1" dirty="0">
                <a:solidFill>
                  <a:srgbClr val="52606D"/>
                </a:solidFill>
                <a:latin typeface="Aptos" pitchFamily="34" charset="0"/>
                <a:ea typeface="Aptos" pitchFamily="34" charset="-122"/>
                <a:cs typeface="Aptos" pitchFamily="34" charset="-120"/>
              </a:rPr>
              <a:t>Ocho pruebas: las cuatro que ya existían y siguen pasando —eso es la comprobación de regresión— más las cuatro que salieron de esta revisión.</a:t>
            </a:r>
            <a:endParaRPr lang="en-US" sz="11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 DEL BLOQUE 4</a:t>
            </a:r>
            <a:endParaRPr lang="en-US" sz="1030" dirty="0"/>
          </a:p>
        </p:txBody>
      </p:sp>
      <p:sp>
        <p:nvSpPr>
          <p:cNvPr id="9" name="Text 6"/>
          <p:cNvSpPr txBox="1"/>
          <p:nvPr/>
        </p:nvSpPr>
        <p:spPr>
          <a:xfrm>
            <a:off x="658368" y="749808"/>
            <a:ext cx="886968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preguntas antes de cerrar</a:t>
            </a:r>
            <a:endParaRPr lang="en-US" sz="3000" dirty="0"/>
          </a:p>
        </p:txBody>
      </p:sp>
      <p:sp>
        <p:nvSpPr>
          <p:cNvPr id="10" name="Shape 7"/>
          <p:cNvSpPr/>
          <p:nvPr/>
        </p:nvSpPr>
        <p:spPr>
          <a:xfrm>
            <a:off x="658368" y="2231136"/>
            <a:ext cx="457200" cy="457200"/>
          </a:xfrm>
          <a:prstGeom prst="ellipse">
            <a:avLst/>
          </a:prstGeom>
          <a:solidFill>
            <a:srgbClr val="102A43"/>
          </a:solidFill>
          <a:ln w="12700">
            <a:solidFill>
              <a:srgbClr val="102A43"/>
            </a:solidFill>
            <a:prstDash val="solid"/>
          </a:ln>
        </p:spPr>
      </p:sp>
      <p:sp>
        <p:nvSpPr>
          <p:cNvPr id="11" name="Text 8"/>
          <p:cNvSpPr txBox="1"/>
          <p:nvPr/>
        </p:nvSpPr>
        <p:spPr>
          <a:xfrm>
            <a:off x="658368" y="223113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2" name="Text 9"/>
          <p:cNvSpPr txBox="1"/>
          <p:nvPr/>
        </p:nvSpPr>
        <p:spPr>
          <a:xfrm>
            <a:off x="1371600" y="2157984"/>
            <a:ext cx="10149840" cy="658368"/>
          </a:xfrm>
          <a:prstGeom prst="rect">
            <a:avLst/>
          </a:prstGeom>
          <a:noFill/>
          <a:ln/>
        </p:spPr>
        <p:txBody>
          <a:bodyPr wrap="square" lIns="0" tIns="0" rIns="0" bIns="0" rtlCol="0" anchor="t"/>
          <a:lstStyle/>
          <a:p>
            <a:pPr algn="l" indent="0" marL="0">
              <a:lnSpc>
                <a:spcPct val="116000"/>
              </a:lnSpc>
              <a:buNone/>
            </a:pPr>
            <a:r>
              <a:rPr lang="en-US" sz="1740" b="1" dirty="0">
                <a:solidFill>
                  <a:srgbClr val="243B53"/>
                </a:solidFill>
                <a:latin typeface="Aptos" pitchFamily="34" charset="0"/>
                <a:ea typeface="Aptos" pitchFamily="34" charset="-122"/>
                <a:cs typeface="Aptos" pitchFamily="34" charset="-120"/>
              </a:rPr>
              <a:t>Una prueba escrita después de la corrección y una escrita antes pueden tener exactamente el mismo código. ¿Qué es distinto entonces?</a:t>
            </a:r>
            <a:endParaRPr lang="en-US" sz="1740" dirty="0"/>
          </a:p>
        </p:txBody>
      </p:sp>
      <p:sp>
        <p:nvSpPr>
          <p:cNvPr id="13" name="Shape 10"/>
          <p:cNvSpPr/>
          <p:nvPr/>
        </p:nvSpPr>
        <p:spPr>
          <a:xfrm>
            <a:off x="1371600" y="2889504"/>
            <a:ext cx="658368" cy="256032"/>
          </a:xfrm>
          <a:prstGeom prst="rect">
            <a:avLst/>
          </a:prstGeom>
          <a:solidFill>
            <a:srgbClr val="102A43"/>
          </a:solidFill>
          <a:ln w="12700">
            <a:solidFill>
              <a:srgbClr val="102A43"/>
            </a:solidFill>
            <a:prstDash val="solid"/>
          </a:ln>
        </p:spPr>
      </p:sp>
      <p:sp>
        <p:nvSpPr>
          <p:cNvPr id="14" name="Text 11"/>
          <p:cNvSpPr txBox="1"/>
          <p:nvPr/>
        </p:nvSpPr>
        <p:spPr>
          <a:xfrm>
            <a:off x="1371600" y="2889504"/>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15" name="Text 12"/>
          <p:cNvSpPr txBox="1"/>
          <p:nvPr/>
        </p:nvSpPr>
        <p:spPr>
          <a:xfrm>
            <a:off x="2176272" y="2889504"/>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La diferencia no está en el archivo, está en qué sabías cuando la escribiste.</a:t>
            </a:r>
            <a:endParaRPr lang="en-US" sz="1320" dirty="0"/>
          </a:p>
        </p:txBody>
      </p:sp>
      <p:sp>
        <p:nvSpPr>
          <p:cNvPr id="16" name="Shape 13"/>
          <p:cNvSpPr/>
          <p:nvPr/>
        </p:nvSpPr>
        <p:spPr>
          <a:xfrm>
            <a:off x="658368" y="3346704"/>
            <a:ext cx="10874959" cy="0"/>
          </a:xfrm>
          <a:prstGeom prst="line">
            <a:avLst/>
          </a:prstGeom>
          <a:noFill/>
          <a:ln w="12700">
            <a:solidFill>
              <a:srgbClr val="D8CFC4"/>
            </a:solidFill>
            <a:prstDash val="solid"/>
            <a:headEnd type="none"/>
            <a:tailEnd type="none"/>
          </a:ln>
        </p:spPr>
      </p:sp>
      <p:sp>
        <p:nvSpPr>
          <p:cNvPr id="17" name="Shape 14"/>
          <p:cNvSpPr/>
          <p:nvPr/>
        </p:nvSpPr>
        <p:spPr>
          <a:xfrm>
            <a:off x="658368" y="3621024"/>
            <a:ext cx="457200" cy="457200"/>
          </a:xfrm>
          <a:prstGeom prst="ellipse">
            <a:avLst/>
          </a:prstGeom>
          <a:solidFill>
            <a:srgbClr val="0E6E7A"/>
          </a:solidFill>
          <a:ln w="12700">
            <a:solidFill>
              <a:srgbClr val="0E6E7A"/>
            </a:solidFill>
            <a:prstDash val="solid"/>
          </a:ln>
        </p:spPr>
      </p:sp>
      <p:sp>
        <p:nvSpPr>
          <p:cNvPr id="18" name="Text 15"/>
          <p:cNvSpPr txBox="1"/>
          <p:nvPr/>
        </p:nvSpPr>
        <p:spPr>
          <a:xfrm>
            <a:off x="658368" y="3621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9" name="Text 16"/>
          <p:cNvSpPr txBox="1"/>
          <p:nvPr/>
        </p:nvSpPr>
        <p:spPr>
          <a:xfrm>
            <a:off x="1371600" y="3547872"/>
            <a:ext cx="10149840" cy="658368"/>
          </a:xfrm>
          <a:prstGeom prst="rect">
            <a:avLst/>
          </a:prstGeom>
          <a:noFill/>
          <a:ln/>
        </p:spPr>
        <p:txBody>
          <a:bodyPr wrap="square" lIns="0" tIns="0" rIns="0" bIns="0" rtlCol="0" anchor="t"/>
          <a:lstStyle/>
          <a:p>
            <a:pPr algn="l" indent="0" marL="0">
              <a:lnSpc>
                <a:spcPct val="116000"/>
              </a:lnSpc>
              <a:buNone/>
            </a:pPr>
            <a:r>
              <a:rPr lang="en-US" sz="1740" b="1" dirty="0">
                <a:solidFill>
                  <a:srgbClr val="243B53"/>
                </a:solidFill>
                <a:latin typeface="Aptos" pitchFamily="34" charset="0"/>
                <a:ea typeface="Aptos" pitchFamily="34" charset="-122"/>
                <a:cs typeface="Aptos" pitchFamily="34" charset="-120"/>
              </a:rPr>
              <a:t>El desenlace B es el único donde no cambia nada en el código. ¿Por qué corresponde registrarlo igual?</a:t>
            </a:r>
            <a:endParaRPr lang="en-US" sz="1740" dirty="0"/>
          </a:p>
        </p:txBody>
      </p:sp>
      <p:sp>
        <p:nvSpPr>
          <p:cNvPr id="20" name="Shape 17"/>
          <p:cNvSpPr/>
          <p:nvPr/>
        </p:nvSpPr>
        <p:spPr>
          <a:xfrm>
            <a:off x="1371600" y="4279392"/>
            <a:ext cx="658368" cy="256032"/>
          </a:xfrm>
          <a:prstGeom prst="rect">
            <a:avLst/>
          </a:prstGeom>
          <a:solidFill>
            <a:srgbClr val="0E6E7A"/>
          </a:solidFill>
          <a:ln w="12700">
            <a:solidFill>
              <a:srgbClr val="0E6E7A"/>
            </a:solidFill>
            <a:prstDash val="solid"/>
          </a:ln>
        </p:spPr>
      </p:sp>
      <p:sp>
        <p:nvSpPr>
          <p:cNvPr id="21" name="Text 18"/>
          <p:cNvSpPr txBox="1"/>
          <p:nvPr/>
        </p:nvSpPr>
        <p:spPr>
          <a:xfrm>
            <a:off x="1371600" y="4279392"/>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22" name="Text 19"/>
          <p:cNvSpPr txBox="1"/>
          <p:nvPr/>
        </p:nvSpPr>
        <p:spPr>
          <a:xfrm>
            <a:off x="2176272" y="4279392"/>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Piensa en quién va a levantar el mismo hallazgo dentro de tres semanas.</a:t>
            </a:r>
            <a:endParaRPr lang="en-US" sz="1320" dirty="0"/>
          </a:p>
        </p:txBody>
      </p:sp>
      <p:sp>
        <p:nvSpPr>
          <p:cNvPr id="23" name="Shape 20"/>
          <p:cNvSpPr/>
          <p:nvPr/>
        </p:nvSpPr>
        <p:spPr>
          <a:xfrm>
            <a:off x="658368" y="4736592"/>
            <a:ext cx="10874959" cy="0"/>
          </a:xfrm>
          <a:prstGeom prst="line">
            <a:avLst/>
          </a:prstGeom>
          <a:noFill/>
          <a:ln w="12700">
            <a:solidFill>
              <a:srgbClr val="D8CFC4"/>
            </a:solidFill>
            <a:prstDash val="solid"/>
            <a:headEnd type="none"/>
            <a:tailEnd type="none"/>
          </a:ln>
        </p:spPr>
      </p:sp>
      <p:sp>
        <p:nvSpPr>
          <p:cNvPr id="24" name="Shape 21"/>
          <p:cNvSpPr/>
          <p:nvPr/>
        </p:nvSpPr>
        <p:spPr>
          <a:xfrm>
            <a:off x="658368" y="5010912"/>
            <a:ext cx="457200" cy="457200"/>
          </a:xfrm>
          <a:prstGeom prst="ellipse">
            <a:avLst/>
          </a:prstGeom>
          <a:solidFill>
            <a:srgbClr val="B3181E"/>
          </a:solidFill>
          <a:ln w="12700">
            <a:solidFill>
              <a:srgbClr val="B3181E"/>
            </a:solidFill>
            <a:prstDash val="solid"/>
          </a:ln>
        </p:spPr>
      </p:sp>
      <p:sp>
        <p:nvSpPr>
          <p:cNvPr id="25" name="Text 22"/>
          <p:cNvSpPr txBox="1"/>
          <p:nvPr/>
        </p:nvSpPr>
        <p:spPr>
          <a:xfrm>
            <a:off x="658368" y="50109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6" name="Text 23"/>
          <p:cNvSpPr txBox="1"/>
          <p:nvPr/>
        </p:nvSpPr>
        <p:spPr>
          <a:xfrm>
            <a:off x="1371600" y="4937760"/>
            <a:ext cx="10149840" cy="658368"/>
          </a:xfrm>
          <a:prstGeom prst="rect">
            <a:avLst/>
          </a:prstGeom>
          <a:noFill/>
          <a:ln/>
        </p:spPr>
        <p:txBody>
          <a:bodyPr wrap="square" lIns="0" tIns="0" rIns="0" bIns="0" rtlCol="0" anchor="t"/>
          <a:lstStyle/>
          <a:p>
            <a:pPr algn="l" indent="0" marL="0">
              <a:lnSpc>
                <a:spcPct val="116000"/>
              </a:lnSpc>
              <a:buNone/>
            </a:pPr>
            <a:r>
              <a:rPr lang="en-US" sz="1740" b="1" dirty="0">
                <a:solidFill>
                  <a:srgbClr val="243B53"/>
                </a:solidFill>
                <a:latin typeface="Aptos" pitchFamily="34" charset="0"/>
                <a:ea typeface="Aptos" pitchFamily="34" charset="-122"/>
                <a:cs typeface="Aptos" pitchFamily="34" charset="-120"/>
              </a:rPr>
              <a:t>La corrección de un hallazgo cambió el síntoma de otro. ¿Qué te dice eso sobre corregir varios juntos antes de escribir sus pruebas?</a:t>
            </a:r>
            <a:endParaRPr lang="en-US" sz="1740" dirty="0"/>
          </a:p>
        </p:txBody>
      </p:sp>
      <p:sp>
        <p:nvSpPr>
          <p:cNvPr id="27" name="Shape 24"/>
          <p:cNvSpPr/>
          <p:nvPr/>
        </p:nvSpPr>
        <p:spPr>
          <a:xfrm>
            <a:off x="1371600" y="5669280"/>
            <a:ext cx="658368" cy="256032"/>
          </a:xfrm>
          <a:prstGeom prst="rect">
            <a:avLst/>
          </a:prstGeom>
          <a:solidFill>
            <a:srgbClr val="B3181E"/>
          </a:solidFill>
          <a:ln w="12700">
            <a:solidFill>
              <a:srgbClr val="B3181E"/>
            </a:solidFill>
            <a:prstDash val="solid"/>
          </a:ln>
        </p:spPr>
      </p:sp>
      <p:sp>
        <p:nvSpPr>
          <p:cNvPr id="28" name="Text 25"/>
          <p:cNvSpPr txBox="1"/>
          <p:nvPr/>
        </p:nvSpPr>
        <p:spPr>
          <a:xfrm>
            <a:off x="1371600" y="5669280"/>
            <a:ext cx="65836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Aptos" pitchFamily="34" charset="0"/>
                <a:ea typeface="Aptos" pitchFamily="34" charset="-122"/>
                <a:cs typeface="Aptos" pitchFamily="34" charset="-120"/>
              </a:rPr>
              <a:t>PISTA</a:t>
            </a:r>
            <a:endParaRPr lang="en-US" sz="900" dirty="0"/>
          </a:p>
        </p:txBody>
      </p:sp>
      <p:sp>
        <p:nvSpPr>
          <p:cNvPr id="29" name="Text 26"/>
          <p:cNvSpPr txBox="1"/>
          <p:nvPr/>
        </p:nvSpPr>
        <p:spPr>
          <a:xfrm>
            <a:off x="2176272" y="5669280"/>
            <a:ext cx="9326880" cy="274320"/>
          </a:xfrm>
          <a:prstGeom prst="rect">
            <a:avLst/>
          </a:prstGeom>
          <a:noFill/>
          <a:ln/>
        </p:spPr>
        <p:txBody>
          <a:bodyPr wrap="square" lIns="0" tIns="0" rIns="0" bIns="0" rtlCol="0" anchor="ctr"/>
          <a:lstStyle/>
          <a:p>
            <a:pPr algn="l" indent="0" marL="0">
              <a:buNone/>
            </a:pPr>
            <a:r>
              <a:rPr lang="en-US" sz="1320" dirty="0">
                <a:solidFill>
                  <a:srgbClr val="52606D"/>
                </a:solidFill>
                <a:latin typeface="Aptos" pitchFamily="34" charset="0"/>
                <a:ea typeface="Aptos" pitchFamily="34" charset="-122"/>
                <a:cs typeface="Aptos" pitchFamily="34" charset="-120"/>
              </a:rPr>
              <a:t>Piensa contra qué error quedaría escrita la segunda prueba.</a:t>
            </a:r>
            <a:endParaRPr lang="en-US" sz="1320" dirty="0"/>
          </a:p>
        </p:txBody>
      </p:sp>
      <p:sp>
        <p:nvSpPr>
          <p:cNvPr id="30" name="Shape 27"/>
          <p:cNvSpPr/>
          <p:nvPr/>
        </p:nvSpPr>
        <p:spPr>
          <a:xfrm>
            <a:off x="658368" y="6364224"/>
            <a:ext cx="10874959" cy="0"/>
          </a:xfrm>
          <a:prstGeom prst="line">
            <a:avLst/>
          </a:prstGeom>
          <a:noFill/>
          <a:ln w="12700">
            <a:solidFill>
              <a:srgbClr val="102A43"/>
            </a:solidFill>
            <a:prstDash val="solid"/>
            <a:headEnd type="none"/>
            <a:tailEnd type="none"/>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 DE LA SESIÓN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Las cuatro reglas que deja la sesión</a:t>
            </a:r>
            <a:endParaRPr lang="en-US" sz="3000" dirty="0"/>
          </a:p>
        </p:txBody>
      </p:sp>
      <p:sp>
        <p:nvSpPr>
          <p:cNvPr id="10" name="Text 7"/>
          <p:cNvSpPr txBox="1"/>
          <p:nvPr/>
        </p:nvSpPr>
        <p:spPr>
          <a:xfrm>
            <a:off x="658368" y="2011680"/>
            <a:ext cx="475488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LO QUE QUEDA ESTABLECIDO</a:t>
            </a:r>
            <a:endParaRPr lang="en-US" sz="960" dirty="0"/>
          </a:p>
        </p:txBody>
      </p:sp>
      <p:sp>
        <p:nvSpPr>
          <p:cNvPr id="11" name="Shape 8"/>
          <p:cNvSpPr/>
          <p:nvPr/>
        </p:nvSpPr>
        <p:spPr>
          <a:xfrm>
            <a:off x="658368" y="2395728"/>
            <a:ext cx="365760" cy="365760"/>
          </a:xfrm>
          <a:prstGeom prst="ellipse">
            <a:avLst/>
          </a:prstGeom>
          <a:solidFill>
            <a:srgbClr val="102A43"/>
          </a:solidFill>
          <a:ln w="12700">
            <a:solidFill>
              <a:srgbClr val="102A43"/>
            </a:solidFill>
            <a:prstDash val="solid"/>
          </a:ln>
        </p:spPr>
      </p:sp>
      <p:sp>
        <p:nvSpPr>
          <p:cNvPr id="12" name="Text 9"/>
          <p:cNvSpPr txBox="1"/>
          <p:nvPr/>
        </p:nvSpPr>
        <p:spPr>
          <a:xfrm>
            <a:off x="658368" y="239572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ptos" pitchFamily="34" charset="0"/>
                <a:ea typeface="Aptos" pitchFamily="34" charset="-122"/>
                <a:cs typeface="Aptos" pitchFamily="34" charset="-120"/>
              </a:rPr>
              <a:t>1</a:t>
            </a:r>
            <a:endParaRPr lang="en-US" sz="1250" dirty="0"/>
          </a:p>
        </p:txBody>
      </p:sp>
      <p:sp>
        <p:nvSpPr>
          <p:cNvPr id="13" name="Text 10"/>
          <p:cNvSpPr txBox="1"/>
          <p:nvPr/>
        </p:nvSpPr>
        <p:spPr>
          <a:xfrm>
            <a:off x="1188720" y="2340864"/>
            <a:ext cx="5212080" cy="274320"/>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Revisar es comparar contra el requisito</a:t>
            </a:r>
            <a:endParaRPr lang="en-US" sz="1360" dirty="0"/>
          </a:p>
        </p:txBody>
      </p:sp>
      <p:sp>
        <p:nvSpPr>
          <p:cNvPr id="14" name="Text 11"/>
          <p:cNvSpPr txBox="1"/>
          <p:nvPr/>
        </p:nvSpPr>
        <p:spPr>
          <a:xfrm>
            <a:off x="1188720" y="2651760"/>
            <a:ext cx="5212080" cy="566928"/>
          </a:xfrm>
          <a:prstGeom prst="rect">
            <a:avLst/>
          </a:prstGeom>
          <a:noFill/>
          <a:ln/>
        </p:spPr>
        <p:txBody>
          <a:bodyPr wrap="square" lIns="0" tIns="0" rIns="0" bIns="0" rtlCol="0" anchor="t"/>
          <a:lstStyle/>
          <a:p>
            <a:pPr algn="l" indent="0" marL="0">
              <a:lnSpc>
                <a:spcPct val="114000"/>
              </a:lnSpc>
              <a:buNone/>
            </a:pPr>
            <a:r>
              <a:rPr lang="en-US" sz="1100" dirty="0">
                <a:solidFill>
                  <a:srgbClr val="52606D"/>
                </a:solidFill>
                <a:latin typeface="Aptos" pitchFamily="34" charset="0"/>
                <a:ea typeface="Aptos" pitchFamily="34" charset="-122"/>
                <a:cs typeface="Aptos" pitchFamily="34" charset="-120"/>
              </a:rPr>
              <a:t>Es la única prueba estática cuya fuente de información está fuera del código. Ninguna herramienta puede reemplazarla, porque ninguna tiene ese documento.</a:t>
            </a:r>
            <a:endParaRPr lang="en-US" sz="1100" dirty="0"/>
          </a:p>
        </p:txBody>
      </p:sp>
      <p:sp>
        <p:nvSpPr>
          <p:cNvPr id="15" name="Shape 12"/>
          <p:cNvSpPr/>
          <p:nvPr/>
        </p:nvSpPr>
        <p:spPr>
          <a:xfrm>
            <a:off x="658368" y="3255264"/>
            <a:ext cx="5742432" cy="0"/>
          </a:xfrm>
          <a:prstGeom prst="line">
            <a:avLst/>
          </a:prstGeom>
          <a:noFill/>
          <a:ln w="12700">
            <a:solidFill>
              <a:srgbClr val="D8CFC4"/>
            </a:solidFill>
            <a:prstDash val="solid"/>
            <a:headEnd type="none"/>
            <a:tailEnd type="none"/>
          </a:ln>
        </p:spPr>
      </p:sp>
      <p:sp>
        <p:nvSpPr>
          <p:cNvPr id="16" name="Shape 13"/>
          <p:cNvSpPr/>
          <p:nvPr/>
        </p:nvSpPr>
        <p:spPr>
          <a:xfrm>
            <a:off x="658368" y="3364992"/>
            <a:ext cx="365760" cy="365760"/>
          </a:xfrm>
          <a:prstGeom prst="ellipse">
            <a:avLst/>
          </a:prstGeom>
          <a:solidFill>
            <a:srgbClr val="0E6E7A"/>
          </a:solidFill>
          <a:ln w="12700">
            <a:solidFill>
              <a:srgbClr val="0E6E7A"/>
            </a:solidFill>
            <a:prstDash val="solid"/>
          </a:ln>
        </p:spPr>
      </p:sp>
      <p:sp>
        <p:nvSpPr>
          <p:cNvPr id="17" name="Text 14"/>
          <p:cNvSpPr txBox="1"/>
          <p:nvPr/>
        </p:nvSpPr>
        <p:spPr>
          <a:xfrm>
            <a:off x="658368" y="33649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ptos" pitchFamily="34" charset="0"/>
                <a:ea typeface="Aptos" pitchFamily="34" charset="-122"/>
                <a:cs typeface="Aptos" pitchFamily="34" charset="-120"/>
              </a:rPr>
              <a:t>2</a:t>
            </a:r>
            <a:endParaRPr lang="en-US" sz="1250" dirty="0"/>
          </a:p>
        </p:txBody>
      </p:sp>
      <p:sp>
        <p:nvSpPr>
          <p:cNvPr id="18" name="Text 15"/>
          <p:cNvSpPr txBox="1"/>
          <p:nvPr/>
        </p:nvSpPr>
        <p:spPr>
          <a:xfrm>
            <a:off x="1188720" y="3310128"/>
            <a:ext cx="5212080" cy="274320"/>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Un hallazgo sin entrada concreta es una sospecha</a:t>
            </a:r>
            <a:endParaRPr lang="en-US" sz="1360" dirty="0"/>
          </a:p>
        </p:txBody>
      </p:sp>
      <p:sp>
        <p:nvSpPr>
          <p:cNvPr id="19" name="Text 16"/>
          <p:cNvSpPr txBox="1"/>
          <p:nvPr/>
        </p:nvSpPr>
        <p:spPr>
          <a:xfrm>
            <a:off x="1188720" y="3621024"/>
            <a:ext cx="5212080" cy="566928"/>
          </a:xfrm>
          <a:prstGeom prst="rect">
            <a:avLst/>
          </a:prstGeom>
          <a:noFill/>
          <a:ln/>
        </p:spPr>
        <p:txBody>
          <a:bodyPr wrap="square" lIns="0" tIns="0" rIns="0" bIns="0" rtlCol="0" anchor="t"/>
          <a:lstStyle/>
          <a:p>
            <a:pPr algn="l" indent="0" marL="0">
              <a:lnSpc>
                <a:spcPct val="114000"/>
              </a:lnSpc>
              <a:buNone/>
            </a:pPr>
            <a:r>
              <a:rPr lang="en-US" sz="1100" dirty="0">
                <a:solidFill>
                  <a:srgbClr val="52606D"/>
                </a:solidFill>
                <a:latin typeface="Aptos" pitchFamily="34" charset="0"/>
                <a:ea typeface="Aptos" pitchFamily="34" charset="-122"/>
                <a:cs typeface="Aptos" pitchFamily="34" charset="-120"/>
              </a:rPr>
              <a:t>Y un contraejemplo solo vale en el entorno que el proyecto declara. Probado en otra versión, no confirma ni descarta nada.</a:t>
            </a:r>
            <a:endParaRPr lang="en-US" sz="1100" dirty="0"/>
          </a:p>
        </p:txBody>
      </p:sp>
      <p:sp>
        <p:nvSpPr>
          <p:cNvPr id="20" name="Shape 17"/>
          <p:cNvSpPr/>
          <p:nvPr/>
        </p:nvSpPr>
        <p:spPr>
          <a:xfrm>
            <a:off x="658368" y="4224528"/>
            <a:ext cx="5742432" cy="0"/>
          </a:xfrm>
          <a:prstGeom prst="line">
            <a:avLst/>
          </a:prstGeom>
          <a:noFill/>
          <a:ln w="12700">
            <a:solidFill>
              <a:srgbClr val="D8CFC4"/>
            </a:solidFill>
            <a:prstDash val="solid"/>
            <a:headEnd type="none"/>
            <a:tailEnd type="none"/>
          </a:ln>
        </p:spPr>
      </p:sp>
      <p:sp>
        <p:nvSpPr>
          <p:cNvPr id="21" name="Shape 18"/>
          <p:cNvSpPr/>
          <p:nvPr/>
        </p:nvSpPr>
        <p:spPr>
          <a:xfrm>
            <a:off x="658368" y="4334256"/>
            <a:ext cx="365760" cy="365760"/>
          </a:xfrm>
          <a:prstGeom prst="ellipse">
            <a:avLst/>
          </a:prstGeom>
          <a:solidFill>
            <a:srgbClr val="8A6A12"/>
          </a:solidFill>
          <a:ln w="12700">
            <a:solidFill>
              <a:srgbClr val="8A6A12"/>
            </a:solidFill>
            <a:prstDash val="solid"/>
          </a:ln>
        </p:spPr>
      </p:sp>
      <p:sp>
        <p:nvSpPr>
          <p:cNvPr id="22" name="Text 19"/>
          <p:cNvSpPr txBox="1"/>
          <p:nvPr/>
        </p:nvSpPr>
        <p:spPr>
          <a:xfrm>
            <a:off x="658368" y="433425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ptos" pitchFamily="34" charset="0"/>
                <a:ea typeface="Aptos" pitchFamily="34" charset="-122"/>
                <a:cs typeface="Aptos" pitchFamily="34" charset="-120"/>
              </a:rPr>
              <a:t>3</a:t>
            </a:r>
            <a:endParaRPr lang="en-US" sz="1250" dirty="0"/>
          </a:p>
        </p:txBody>
      </p:sp>
      <p:sp>
        <p:nvSpPr>
          <p:cNvPr id="23" name="Text 20"/>
          <p:cNvSpPr txBox="1"/>
          <p:nvPr/>
        </p:nvSpPr>
        <p:spPr>
          <a:xfrm>
            <a:off x="1188720" y="4279392"/>
            <a:ext cx="5212080" cy="274320"/>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Una sola pregunta separa las tres clases</a:t>
            </a:r>
            <a:endParaRPr lang="en-US" sz="1360" dirty="0"/>
          </a:p>
        </p:txBody>
      </p:sp>
      <p:sp>
        <p:nvSpPr>
          <p:cNvPr id="24" name="Text 21"/>
          <p:cNvSpPr txBox="1"/>
          <p:nvPr/>
        </p:nvSpPr>
        <p:spPr>
          <a:xfrm>
            <a:off x="1188720" y="4590288"/>
            <a:ext cx="5212080" cy="566928"/>
          </a:xfrm>
          <a:prstGeom prst="rect">
            <a:avLst/>
          </a:prstGeom>
          <a:noFill/>
          <a:ln/>
        </p:spPr>
        <p:txBody>
          <a:bodyPr wrap="square" lIns="0" tIns="0" rIns="0" bIns="0" rtlCol="0" anchor="t"/>
          <a:lstStyle/>
          <a:p>
            <a:pPr algn="l" indent="0" marL="0">
              <a:lnSpc>
                <a:spcPct val="114000"/>
              </a:lnSpc>
              <a:buNone/>
            </a:pPr>
            <a:r>
              <a:rPr lang="en-US" sz="1100" dirty="0">
                <a:solidFill>
                  <a:srgbClr val="52606D"/>
                </a:solidFill>
                <a:latin typeface="Aptos" pitchFamily="34" charset="0"/>
                <a:ea typeface="Aptos" pitchFamily="34" charset="-122"/>
                <a:cs typeface="Aptos" pitchFamily="34" charset="-120"/>
              </a:rPr>
              <a:t>¿Puedes escribir hoy una prueba que falle por este hallazgo? Sí y falla es un defecto; sí y pasa es una preferencia; todavía no, es un hueco de la especificación.</a:t>
            </a:r>
            <a:endParaRPr lang="en-US" sz="1100" dirty="0"/>
          </a:p>
        </p:txBody>
      </p:sp>
      <p:sp>
        <p:nvSpPr>
          <p:cNvPr id="25" name="Shape 22"/>
          <p:cNvSpPr/>
          <p:nvPr/>
        </p:nvSpPr>
        <p:spPr>
          <a:xfrm>
            <a:off x="658368" y="5193792"/>
            <a:ext cx="5742432" cy="0"/>
          </a:xfrm>
          <a:prstGeom prst="line">
            <a:avLst/>
          </a:prstGeom>
          <a:noFill/>
          <a:ln w="12700">
            <a:solidFill>
              <a:srgbClr val="D8CFC4"/>
            </a:solidFill>
            <a:prstDash val="solid"/>
            <a:headEnd type="none"/>
            <a:tailEnd type="none"/>
          </a:ln>
        </p:spPr>
      </p:sp>
      <p:sp>
        <p:nvSpPr>
          <p:cNvPr id="26" name="Shape 23"/>
          <p:cNvSpPr/>
          <p:nvPr/>
        </p:nvSpPr>
        <p:spPr>
          <a:xfrm>
            <a:off x="658368" y="5303520"/>
            <a:ext cx="365760" cy="365760"/>
          </a:xfrm>
          <a:prstGeom prst="ellipse">
            <a:avLst/>
          </a:prstGeom>
          <a:solidFill>
            <a:srgbClr val="B3181E"/>
          </a:solidFill>
          <a:ln w="12700">
            <a:solidFill>
              <a:srgbClr val="B3181E"/>
            </a:solidFill>
            <a:prstDash val="solid"/>
          </a:ln>
        </p:spPr>
      </p:sp>
      <p:sp>
        <p:nvSpPr>
          <p:cNvPr id="27" name="Text 24"/>
          <p:cNvSpPr txBox="1"/>
          <p:nvPr/>
        </p:nvSpPr>
        <p:spPr>
          <a:xfrm>
            <a:off x="658368" y="530352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ptos" pitchFamily="34" charset="0"/>
                <a:ea typeface="Aptos" pitchFamily="34" charset="-122"/>
                <a:cs typeface="Aptos" pitchFamily="34" charset="-120"/>
              </a:rPr>
              <a:t>4</a:t>
            </a:r>
            <a:endParaRPr lang="en-US" sz="1250" dirty="0"/>
          </a:p>
        </p:txBody>
      </p:sp>
      <p:sp>
        <p:nvSpPr>
          <p:cNvPr id="28" name="Text 25"/>
          <p:cNvSpPr txBox="1"/>
          <p:nvPr/>
        </p:nvSpPr>
        <p:spPr>
          <a:xfrm>
            <a:off x="1188720" y="5248656"/>
            <a:ext cx="5212080" cy="274320"/>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La prueba se escribe antes de la corrección</a:t>
            </a:r>
            <a:endParaRPr lang="en-US" sz="1360" dirty="0"/>
          </a:p>
        </p:txBody>
      </p:sp>
      <p:sp>
        <p:nvSpPr>
          <p:cNvPr id="29" name="Text 26"/>
          <p:cNvSpPr txBox="1"/>
          <p:nvPr/>
        </p:nvSpPr>
        <p:spPr>
          <a:xfrm>
            <a:off x="1188720" y="5559552"/>
            <a:ext cx="5212080" cy="566928"/>
          </a:xfrm>
          <a:prstGeom prst="rect">
            <a:avLst/>
          </a:prstGeom>
          <a:noFill/>
          <a:ln/>
        </p:spPr>
        <p:txBody>
          <a:bodyPr wrap="square" lIns="0" tIns="0" rIns="0" bIns="0" rtlCol="0" anchor="t"/>
          <a:lstStyle/>
          <a:p>
            <a:pPr algn="l" indent="0" marL="0">
              <a:lnSpc>
                <a:spcPct val="114000"/>
              </a:lnSpc>
              <a:buNone/>
            </a:pPr>
            <a:r>
              <a:rPr lang="en-US" sz="1100" dirty="0">
                <a:solidFill>
                  <a:srgbClr val="52606D"/>
                </a:solidFill>
                <a:latin typeface="Aptos" pitchFamily="34" charset="0"/>
                <a:ea typeface="Aptos" pitchFamily="34" charset="-122"/>
                <a:cs typeface="Aptos" pitchFamily="34" charset="-120"/>
              </a:rPr>
              <a:t>Escrita después, se escribe mirando el código ya corregido, y solo confirma lo que acaba de hacerse.</a:t>
            </a:r>
            <a:endParaRPr lang="en-US" sz="1100" dirty="0"/>
          </a:p>
        </p:txBody>
      </p:sp>
      <p:sp>
        <p:nvSpPr>
          <p:cNvPr id="30" name="Shape 27"/>
          <p:cNvSpPr/>
          <p:nvPr/>
        </p:nvSpPr>
        <p:spPr>
          <a:xfrm>
            <a:off x="6729984" y="1993392"/>
            <a:ext cx="0" cy="4206240"/>
          </a:xfrm>
          <a:prstGeom prst="line">
            <a:avLst/>
          </a:prstGeom>
          <a:noFill/>
          <a:ln w="12700">
            <a:solidFill>
              <a:srgbClr val="D8CFC4"/>
            </a:solidFill>
            <a:prstDash val="solid"/>
            <a:headEnd type="none"/>
            <a:tailEnd type="none"/>
          </a:ln>
        </p:spPr>
      </p:sp>
      <p:sp>
        <p:nvSpPr>
          <p:cNvPr id="31" name="Text 28"/>
          <p:cNvSpPr txBox="1"/>
          <p:nvPr/>
        </p:nvSpPr>
        <p:spPr>
          <a:xfrm>
            <a:off x="7132320" y="2011680"/>
            <a:ext cx="438912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TICKET DE SALIDA</a:t>
            </a:r>
            <a:endParaRPr lang="en-US" sz="960" dirty="0"/>
          </a:p>
        </p:txBody>
      </p:sp>
      <p:sp>
        <p:nvSpPr>
          <p:cNvPr id="32" name="Text 29"/>
          <p:cNvSpPr txBox="1"/>
          <p:nvPr/>
        </p:nvSpPr>
        <p:spPr>
          <a:xfrm>
            <a:off x="7132320" y="2267712"/>
            <a:ext cx="4389120" cy="219456"/>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Una línea para cada una, antes de salir.</a:t>
            </a:r>
            <a:endParaRPr lang="en-US" sz="1140" dirty="0"/>
          </a:p>
        </p:txBody>
      </p:sp>
      <p:sp>
        <p:nvSpPr>
          <p:cNvPr id="33" name="Shape 30"/>
          <p:cNvSpPr/>
          <p:nvPr/>
        </p:nvSpPr>
        <p:spPr>
          <a:xfrm>
            <a:off x="7132320" y="2706624"/>
            <a:ext cx="4398264" cy="969264"/>
          </a:xfrm>
          <a:prstGeom prst="rect">
            <a:avLst/>
          </a:prstGeom>
          <a:solidFill>
            <a:srgbClr val="F2E7D9"/>
          </a:solidFill>
          <a:ln w="12700">
            <a:solidFill>
              <a:srgbClr val="F2E7D9"/>
            </a:solidFill>
            <a:prstDash val="solid"/>
          </a:ln>
        </p:spPr>
      </p:sp>
      <p:sp>
        <p:nvSpPr>
          <p:cNvPr id="34" name="Shape 31"/>
          <p:cNvSpPr/>
          <p:nvPr/>
        </p:nvSpPr>
        <p:spPr>
          <a:xfrm>
            <a:off x="7370064" y="2871216"/>
            <a:ext cx="329184" cy="329184"/>
          </a:xfrm>
          <a:prstGeom prst="ellipse">
            <a:avLst/>
          </a:prstGeom>
          <a:solidFill>
            <a:srgbClr val="B3181E"/>
          </a:solidFill>
          <a:ln w="12700">
            <a:solidFill>
              <a:srgbClr val="B3181E"/>
            </a:solidFill>
            <a:prstDash val="solid"/>
          </a:ln>
        </p:spPr>
      </p:sp>
      <p:sp>
        <p:nvSpPr>
          <p:cNvPr id="35" name="Text 32"/>
          <p:cNvSpPr txBox="1"/>
          <p:nvPr/>
        </p:nvSpPr>
        <p:spPr>
          <a:xfrm>
            <a:off x="7370064" y="2871216"/>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1</a:t>
            </a:r>
            <a:endParaRPr lang="en-US" sz="1150" dirty="0"/>
          </a:p>
        </p:txBody>
      </p:sp>
      <p:sp>
        <p:nvSpPr>
          <p:cNvPr id="36" name="Text 33"/>
          <p:cNvSpPr txBox="1"/>
          <p:nvPr/>
        </p:nvSpPr>
        <p:spPr>
          <a:xfrm>
            <a:off x="7808976" y="2852928"/>
            <a:ext cx="3493008" cy="694944"/>
          </a:xfrm>
          <a:prstGeom prst="rect">
            <a:avLst/>
          </a:prstGeom>
          <a:noFill/>
          <a:ln/>
        </p:spPr>
        <p:txBody>
          <a:bodyPr wrap="square" lIns="0" tIns="0" rIns="0" bIns="0" rtlCol="0" anchor="t"/>
          <a:lstStyle/>
          <a:p>
            <a:pPr algn="l" indent="0" marL="0">
              <a:lnSpc>
                <a:spcPct val="116000"/>
              </a:lnSpc>
              <a:buNone/>
            </a:pPr>
            <a:r>
              <a:rPr lang="en-US" sz="1200" b="1" dirty="0">
                <a:solidFill>
                  <a:srgbClr val="102A43"/>
                </a:solidFill>
                <a:latin typeface="Aptos" pitchFamily="34" charset="0"/>
                <a:ea typeface="Aptos" pitchFamily="34" charset="-122"/>
                <a:cs typeface="Aptos" pitchFamily="34" charset="-120"/>
              </a:rPr>
              <a:t>¿Qué hallazgo de tu proyecto levantaste tú y ninguna auditoría automática mencionó?</a:t>
            </a:r>
            <a:endParaRPr lang="en-US" sz="1200" dirty="0"/>
          </a:p>
        </p:txBody>
      </p:sp>
      <p:sp>
        <p:nvSpPr>
          <p:cNvPr id="37" name="Shape 34"/>
          <p:cNvSpPr/>
          <p:nvPr/>
        </p:nvSpPr>
        <p:spPr>
          <a:xfrm>
            <a:off x="7132320" y="3840480"/>
            <a:ext cx="4398264" cy="969264"/>
          </a:xfrm>
          <a:prstGeom prst="rect">
            <a:avLst/>
          </a:prstGeom>
          <a:solidFill>
            <a:srgbClr val="F2E7D9"/>
          </a:solidFill>
          <a:ln w="12700">
            <a:solidFill>
              <a:srgbClr val="F2E7D9"/>
            </a:solidFill>
            <a:prstDash val="solid"/>
          </a:ln>
        </p:spPr>
      </p:sp>
      <p:sp>
        <p:nvSpPr>
          <p:cNvPr id="38" name="Shape 35"/>
          <p:cNvSpPr/>
          <p:nvPr/>
        </p:nvSpPr>
        <p:spPr>
          <a:xfrm>
            <a:off x="7370064" y="4005072"/>
            <a:ext cx="329184" cy="329184"/>
          </a:xfrm>
          <a:prstGeom prst="ellipse">
            <a:avLst/>
          </a:prstGeom>
          <a:solidFill>
            <a:srgbClr val="B3181E"/>
          </a:solidFill>
          <a:ln w="12700">
            <a:solidFill>
              <a:srgbClr val="B3181E"/>
            </a:solidFill>
            <a:prstDash val="solid"/>
          </a:ln>
        </p:spPr>
      </p:sp>
      <p:sp>
        <p:nvSpPr>
          <p:cNvPr id="39" name="Text 36"/>
          <p:cNvSpPr txBox="1"/>
          <p:nvPr/>
        </p:nvSpPr>
        <p:spPr>
          <a:xfrm>
            <a:off x="7370064" y="400507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2</a:t>
            </a:r>
            <a:endParaRPr lang="en-US" sz="1150" dirty="0"/>
          </a:p>
        </p:txBody>
      </p:sp>
      <p:sp>
        <p:nvSpPr>
          <p:cNvPr id="40" name="Text 37"/>
          <p:cNvSpPr txBox="1"/>
          <p:nvPr/>
        </p:nvSpPr>
        <p:spPr>
          <a:xfrm>
            <a:off x="7808976" y="3986784"/>
            <a:ext cx="3493008" cy="694944"/>
          </a:xfrm>
          <a:prstGeom prst="rect">
            <a:avLst/>
          </a:prstGeom>
          <a:noFill/>
          <a:ln/>
        </p:spPr>
        <p:txBody>
          <a:bodyPr wrap="square" lIns="0" tIns="0" rIns="0" bIns="0" rtlCol="0" anchor="t"/>
          <a:lstStyle/>
          <a:p>
            <a:pPr algn="l" indent="0" marL="0">
              <a:lnSpc>
                <a:spcPct val="116000"/>
              </a:lnSpc>
              <a:buNone/>
            </a:pPr>
            <a:r>
              <a:rPr lang="en-US" sz="1200" b="1" dirty="0">
                <a:solidFill>
                  <a:srgbClr val="102A43"/>
                </a:solidFill>
                <a:latin typeface="Aptos" pitchFamily="34" charset="0"/>
                <a:ea typeface="Aptos" pitchFamily="34" charset="-122"/>
                <a:cs typeface="Aptos" pitchFamily="34" charset="-120"/>
              </a:rPr>
              <a:t>¿Qué desenlace obtuvo la prueba que escribiste antes de corregir, y qué hiciste con ese resultado?</a:t>
            </a:r>
            <a:endParaRPr lang="en-US" sz="1200" dirty="0"/>
          </a:p>
        </p:txBody>
      </p:sp>
      <p:sp>
        <p:nvSpPr>
          <p:cNvPr id="41" name="Shape 38"/>
          <p:cNvSpPr/>
          <p:nvPr/>
        </p:nvSpPr>
        <p:spPr>
          <a:xfrm>
            <a:off x="7132320" y="4974336"/>
            <a:ext cx="4398264" cy="969264"/>
          </a:xfrm>
          <a:prstGeom prst="rect">
            <a:avLst/>
          </a:prstGeom>
          <a:solidFill>
            <a:srgbClr val="F2E7D9"/>
          </a:solidFill>
          <a:ln w="12700">
            <a:solidFill>
              <a:srgbClr val="F2E7D9"/>
            </a:solidFill>
            <a:prstDash val="solid"/>
          </a:ln>
        </p:spPr>
      </p:sp>
      <p:sp>
        <p:nvSpPr>
          <p:cNvPr id="42" name="Shape 39"/>
          <p:cNvSpPr/>
          <p:nvPr/>
        </p:nvSpPr>
        <p:spPr>
          <a:xfrm>
            <a:off x="7370064" y="5138928"/>
            <a:ext cx="329184" cy="329184"/>
          </a:xfrm>
          <a:prstGeom prst="ellipse">
            <a:avLst/>
          </a:prstGeom>
          <a:solidFill>
            <a:srgbClr val="B3181E"/>
          </a:solidFill>
          <a:ln w="12700">
            <a:solidFill>
              <a:srgbClr val="B3181E"/>
            </a:solidFill>
            <a:prstDash val="solid"/>
          </a:ln>
        </p:spPr>
      </p:sp>
      <p:sp>
        <p:nvSpPr>
          <p:cNvPr id="43" name="Text 40"/>
          <p:cNvSpPr txBox="1"/>
          <p:nvPr/>
        </p:nvSpPr>
        <p:spPr>
          <a:xfrm>
            <a:off x="7370064" y="5138928"/>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3</a:t>
            </a:r>
            <a:endParaRPr lang="en-US" sz="1150" dirty="0"/>
          </a:p>
        </p:txBody>
      </p:sp>
      <p:sp>
        <p:nvSpPr>
          <p:cNvPr id="44" name="Text 41"/>
          <p:cNvSpPr txBox="1"/>
          <p:nvPr/>
        </p:nvSpPr>
        <p:spPr>
          <a:xfrm>
            <a:off x="7808976" y="5120640"/>
            <a:ext cx="3493008" cy="694944"/>
          </a:xfrm>
          <a:prstGeom prst="rect">
            <a:avLst/>
          </a:prstGeom>
          <a:noFill/>
          <a:ln/>
        </p:spPr>
        <p:txBody>
          <a:bodyPr wrap="square" lIns="0" tIns="0" rIns="0" bIns="0" rtlCol="0" anchor="t"/>
          <a:lstStyle/>
          <a:p>
            <a:pPr algn="l" indent="0" marL="0">
              <a:lnSpc>
                <a:spcPct val="116000"/>
              </a:lnSpc>
              <a:buNone/>
            </a:pPr>
            <a:r>
              <a:rPr lang="en-US" sz="1200" b="1" dirty="0">
                <a:solidFill>
                  <a:srgbClr val="102A43"/>
                </a:solidFill>
                <a:latin typeface="Aptos" pitchFamily="34" charset="0"/>
                <a:ea typeface="Aptos" pitchFamily="34" charset="-122"/>
                <a:cs typeface="Aptos" pitchFamily="34" charset="-120"/>
              </a:rPr>
              <a:t>¿Cuál es el riesgo que dejaste abierto, y qué pregunta hay que responder para cerrarlo?</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2\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LO QUE PODEMOS SOSTENER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Con la revisión hecha, la afirmación crece un poco</a:t>
            </a:r>
            <a:endParaRPr lang="en-US" sz="3000" dirty="0"/>
          </a:p>
        </p:txBody>
      </p:sp>
      <p:sp>
        <p:nvSpPr>
          <p:cNvPr id="10" name="Shape 7"/>
          <p:cNvSpPr/>
          <p:nvPr/>
        </p:nvSpPr>
        <p:spPr>
          <a:xfrm>
            <a:off x="658368" y="2011680"/>
            <a:ext cx="10874959" cy="1060704"/>
          </a:xfrm>
          <a:prstGeom prst="rect">
            <a:avLst/>
          </a:prstGeom>
          <a:solidFill>
            <a:srgbClr val="E9F6EE"/>
          </a:solidFill>
          <a:ln w="12700">
            <a:solidFill>
              <a:srgbClr val="E9F6EE"/>
            </a:solidFill>
            <a:prstDash val="solid"/>
          </a:ln>
        </p:spPr>
      </p:sp>
      <p:sp>
        <p:nvSpPr>
          <p:cNvPr id="11" name="Shape 8"/>
          <p:cNvSpPr/>
          <p:nvPr/>
        </p:nvSpPr>
        <p:spPr>
          <a:xfrm>
            <a:off x="658368" y="2011680"/>
            <a:ext cx="73152" cy="1060704"/>
          </a:xfrm>
          <a:prstGeom prst="rect">
            <a:avLst/>
          </a:prstGeom>
          <a:solidFill>
            <a:srgbClr val="2E7D4F"/>
          </a:solidFill>
          <a:ln w="12700">
            <a:solidFill>
              <a:srgbClr val="2E7D4F"/>
            </a:solidFill>
            <a:prstDash val="solid"/>
          </a:ln>
        </p:spPr>
      </p:sp>
      <p:sp>
        <p:nvSpPr>
          <p:cNvPr id="12" name="Text 9"/>
          <p:cNvSpPr txBox="1"/>
          <p:nvPr/>
        </p:nvSpPr>
        <p:spPr>
          <a:xfrm>
            <a:off x="969264" y="2157984"/>
            <a:ext cx="4937760" cy="182880"/>
          </a:xfrm>
          <a:prstGeom prst="rect">
            <a:avLst/>
          </a:prstGeom>
          <a:noFill/>
          <a:ln/>
        </p:spPr>
        <p:txBody>
          <a:bodyPr wrap="square" lIns="0" tIns="0" rIns="0" bIns="0" rtlCol="0" anchor="t"/>
          <a:lstStyle/>
          <a:p>
            <a:pPr algn="l" indent="0" marL="0">
              <a:buNone/>
            </a:pPr>
            <a:r>
              <a:rPr lang="en-US" sz="880" b="1" spc="115" kern="0" dirty="0">
                <a:solidFill>
                  <a:srgbClr val="2E7D4F"/>
                </a:solidFill>
                <a:latin typeface="Aptos" pitchFamily="34" charset="0"/>
                <a:ea typeface="Aptos" pitchFamily="34" charset="-122"/>
                <a:cs typeface="Aptos" pitchFamily="34" charset="-120"/>
              </a:rPr>
              <a:t>LO QUE YA PODEMOS AFIRMAR</a:t>
            </a:r>
            <a:endParaRPr lang="en-US" sz="880" dirty="0"/>
          </a:p>
        </p:txBody>
      </p:sp>
      <p:sp>
        <p:nvSpPr>
          <p:cNvPr id="13" name="Text 10"/>
          <p:cNvSpPr txBox="1"/>
          <p:nvPr/>
        </p:nvSpPr>
        <p:spPr>
          <a:xfrm>
            <a:off x="969264" y="2414016"/>
            <a:ext cx="10198303" cy="566928"/>
          </a:xfrm>
          <a:prstGeom prst="rect">
            <a:avLst/>
          </a:prstGeom>
          <a:noFill/>
          <a:ln/>
        </p:spPr>
        <p:txBody>
          <a:bodyPr wrap="square" lIns="0" tIns="0" rIns="0" bIns="0" rtlCol="0" anchor="t"/>
          <a:lstStyle/>
          <a:p>
            <a:pPr algn="l" indent="0" marL="0">
              <a:lnSpc>
                <a:spcPct val="120000"/>
              </a:lnSpc>
              <a:buNone/>
            </a:pPr>
            <a:r>
              <a:rPr lang="en-US" sz="1500" b="1" dirty="0">
                <a:solidFill>
                  <a:srgbClr val="102A43"/>
                </a:solidFill>
                <a:latin typeface="Consolas" pitchFamily="34" charset="0"/>
                <a:ea typeface="Consolas" pitchFamily="34" charset="-122"/>
                <a:cs typeface="Consolas" pitchFamily="34" charset="-120"/>
              </a:rPr>
              <a:t>El código fue comparado contra el requisito escrito,</a:t>
            </a:r>
            <a:endParaRPr lang="en-US" sz="1500" dirty="0"/>
          </a:p>
          <a:p>
            <a:pPr algn="l" indent="0" marL="0">
              <a:lnSpc>
                <a:spcPct val="120000"/>
              </a:lnSpc>
              <a:buNone/>
            </a:pPr>
            <a:r>
              <a:rPr lang="en-US" sz="1500" b="1" dirty="0">
                <a:solidFill>
                  <a:srgbClr val="102A43"/>
                </a:solidFill>
                <a:latin typeface="Consolas" pitchFamily="34" charset="0"/>
                <a:ea typeface="Consolas" pitchFamily="34" charset="-122"/>
                <a:cs typeface="Consolas" pitchFamily="34" charset="-120"/>
              </a:rPr>
              <a:t>y las diferencias que aparecieron están corregidas o registradas.</a:t>
            </a:r>
            <a:endParaRPr lang="en-US" sz="1500" dirty="0"/>
          </a:p>
        </p:txBody>
      </p:sp>
      <p:sp>
        <p:nvSpPr>
          <p:cNvPr id="14" name="Shape 11"/>
          <p:cNvSpPr/>
          <p:nvPr/>
        </p:nvSpPr>
        <p:spPr>
          <a:xfrm>
            <a:off x="658368" y="3255264"/>
            <a:ext cx="10874959" cy="914400"/>
          </a:xfrm>
          <a:prstGeom prst="rect">
            <a:avLst/>
          </a:prstGeom>
          <a:solidFill>
            <a:srgbClr val="F6E7E2"/>
          </a:solidFill>
          <a:ln w="12700">
            <a:solidFill>
              <a:srgbClr val="F6E7E2"/>
            </a:solidFill>
            <a:prstDash val="solid"/>
          </a:ln>
        </p:spPr>
      </p:sp>
      <p:sp>
        <p:nvSpPr>
          <p:cNvPr id="15" name="Shape 12"/>
          <p:cNvSpPr/>
          <p:nvPr/>
        </p:nvSpPr>
        <p:spPr>
          <a:xfrm>
            <a:off x="658368" y="3255264"/>
            <a:ext cx="73152" cy="914400"/>
          </a:xfrm>
          <a:prstGeom prst="rect">
            <a:avLst/>
          </a:prstGeom>
          <a:solidFill>
            <a:srgbClr val="B3181E"/>
          </a:solidFill>
          <a:ln w="12700">
            <a:solidFill>
              <a:srgbClr val="B3181E"/>
            </a:solidFill>
            <a:prstDash val="solid"/>
          </a:ln>
        </p:spPr>
      </p:sp>
      <p:sp>
        <p:nvSpPr>
          <p:cNvPr id="16" name="Text 13"/>
          <p:cNvSpPr txBox="1"/>
          <p:nvPr/>
        </p:nvSpPr>
        <p:spPr>
          <a:xfrm>
            <a:off x="969264" y="3401568"/>
            <a:ext cx="5303520" cy="182880"/>
          </a:xfrm>
          <a:prstGeom prst="rect">
            <a:avLst/>
          </a:prstGeom>
          <a:noFill/>
          <a:ln/>
        </p:spPr>
        <p:txBody>
          <a:bodyPr wrap="square" lIns="0" tIns="0" rIns="0" bIns="0" rtlCol="0" anchor="t"/>
          <a:lstStyle/>
          <a:p>
            <a:pPr algn="l" indent="0" marL="0">
              <a:buNone/>
            </a:pPr>
            <a:r>
              <a:rPr lang="en-US" sz="880" b="1" spc="115" kern="0" dirty="0">
                <a:solidFill>
                  <a:srgbClr val="B3181E"/>
                </a:solidFill>
                <a:latin typeface="Aptos" pitchFamily="34" charset="0"/>
                <a:ea typeface="Aptos" pitchFamily="34" charset="-122"/>
                <a:cs typeface="Aptos" pitchFamily="34" charset="-120"/>
              </a:rPr>
              <a:t>LO QUE TODAVÍA NO, AUNQUE SUENE PARECIDO</a:t>
            </a:r>
            <a:endParaRPr lang="en-US" sz="880" dirty="0"/>
          </a:p>
        </p:txBody>
      </p:sp>
      <p:sp>
        <p:nvSpPr>
          <p:cNvPr id="17" name="Text 14"/>
          <p:cNvSpPr txBox="1"/>
          <p:nvPr/>
        </p:nvSpPr>
        <p:spPr>
          <a:xfrm>
            <a:off x="969264" y="3657600"/>
            <a:ext cx="10198303" cy="347472"/>
          </a:xfrm>
          <a:prstGeom prst="rect">
            <a:avLst/>
          </a:prstGeom>
          <a:noFill/>
          <a:ln/>
        </p:spPr>
        <p:txBody>
          <a:bodyPr wrap="square" lIns="0" tIns="0" rIns="0" bIns="0" rtlCol="0" anchor="t"/>
          <a:lstStyle/>
          <a:p>
            <a:pPr algn="l" indent="0" marL="0">
              <a:buNone/>
            </a:pPr>
            <a:r>
              <a:rPr lang="en-US" sz="1500" b="1" dirty="0">
                <a:solidFill>
                  <a:srgbClr val="102A43"/>
                </a:solidFill>
                <a:latin typeface="Consolas" pitchFamily="34" charset="0"/>
                <a:ea typeface="Consolas" pitchFamily="34" charset="-122"/>
                <a:cs typeface="Consolas" pitchFamily="34" charset="-120"/>
              </a:rPr>
              <a:t>El código hace lo que el producto necesita.</a:t>
            </a:r>
            <a:endParaRPr lang="en-US" sz="1500" dirty="0"/>
          </a:p>
        </p:txBody>
      </p:sp>
      <p:sp>
        <p:nvSpPr>
          <p:cNvPr id="18" name="Text 15"/>
          <p:cNvSpPr txBox="1"/>
          <p:nvPr/>
        </p:nvSpPr>
        <p:spPr>
          <a:xfrm>
            <a:off x="658368" y="4443984"/>
            <a:ext cx="5486400" cy="201168"/>
          </a:xfrm>
          <a:prstGeom prst="rect">
            <a:avLst/>
          </a:prstGeom>
          <a:noFill/>
          <a:ln/>
        </p:spPr>
        <p:txBody>
          <a:bodyPr wrap="square" lIns="0" tIns="0" rIns="0" bIns="0" rtlCol="0" anchor="t"/>
          <a:lstStyle/>
          <a:p>
            <a:pPr algn="l" indent="0" marL="0">
              <a:buNone/>
            </a:pPr>
            <a:r>
              <a:rPr lang="en-US" sz="940" b="1" spc="130" kern="0" dirty="0">
                <a:solidFill>
                  <a:srgbClr val="96A3B2"/>
                </a:solidFill>
                <a:latin typeface="Aptos" pitchFamily="34" charset="0"/>
                <a:ea typeface="Aptos" pitchFamily="34" charset="-122"/>
                <a:cs typeface="Aptos" pitchFamily="34" charset="-120"/>
              </a:rPr>
              <a:t>LA DISTANCIA ENTRE LAS DOS FRASES</a:t>
            </a:r>
            <a:endParaRPr lang="en-US" sz="940" dirty="0"/>
          </a:p>
        </p:txBody>
      </p:sp>
      <p:sp>
        <p:nvSpPr>
          <p:cNvPr id="19" name="Text 16"/>
          <p:cNvSpPr txBox="1"/>
          <p:nvPr/>
        </p:nvSpPr>
        <p:spPr>
          <a:xfrm>
            <a:off x="658368" y="4718304"/>
            <a:ext cx="5669280" cy="603504"/>
          </a:xfrm>
          <a:prstGeom prst="rect">
            <a:avLst/>
          </a:prstGeom>
          <a:noFill/>
          <a:ln/>
        </p:spPr>
        <p:txBody>
          <a:bodyPr wrap="square" lIns="0" tIns="0" rIns="0" bIns="0" rtlCol="0" anchor="t"/>
          <a:lstStyle/>
          <a:p>
            <a:pPr algn="l" indent="0" marL="0">
              <a:lnSpc>
                <a:spcPct val="114000"/>
              </a:lnSpc>
              <a:buNone/>
            </a:pPr>
            <a:r>
              <a:rPr lang="en-US" sz="2200" b="1" dirty="0">
                <a:solidFill>
                  <a:srgbClr val="102A43"/>
                </a:solidFill>
                <a:latin typeface="Aptos Display" pitchFamily="34" charset="0"/>
                <a:ea typeface="Aptos Display" pitchFamily="34" charset="-122"/>
                <a:cs typeface="Aptos Display" pitchFamily="34" charset="-120"/>
              </a:rPr>
              <a:t>Hoy tiene un nombre concreto: es todo lo que el requisito no dice.</a:t>
            </a:r>
            <a:endParaRPr lang="en-US" sz="2200" dirty="0"/>
          </a:p>
        </p:txBody>
      </p:sp>
      <p:sp>
        <p:nvSpPr>
          <p:cNvPr id="20" name="Shape 17"/>
          <p:cNvSpPr/>
          <p:nvPr/>
        </p:nvSpPr>
        <p:spPr>
          <a:xfrm>
            <a:off x="6729984" y="4443984"/>
            <a:ext cx="4800600" cy="1280160"/>
          </a:xfrm>
          <a:prstGeom prst="rect">
            <a:avLst/>
          </a:prstGeom>
          <a:solidFill>
            <a:srgbClr val="EDE9E1"/>
          </a:solidFill>
          <a:ln w="12700">
            <a:solidFill>
              <a:srgbClr val="EDE9E1"/>
            </a:solidFill>
            <a:prstDash val="solid"/>
          </a:ln>
        </p:spPr>
      </p:sp>
      <p:sp>
        <p:nvSpPr>
          <p:cNvPr id="21" name="Text 18"/>
          <p:cNvSpPr txBox="1"/>
          <p:nvPr/>
        </p:nvSpPr>
        <p:spPr>
          <a:xfrm>
            <a:off x="7004304" y="4572000"/>
            <a:ext cx="4206240" cy="182880"/>
          </a:xfrm>
          <a:prstGeom prst="rect">
            <a:avLst/>
          </a:prstGeom>
          <a:noFill/>
          <a:ln/>
        </p:spPr>
        <p:txBody>
          <a:bodyPr wrap="square" lIns="0" tIns="0" rIns="0" bIns="0" rtlCol="0" anchor="t"/>
          <a:lstStyle/>
          <a:p>
            <a:pPr algn="l" indent="0" marL="0">
              <a:buNone/>
            </a:pPr>
            <a:r>
              <a:rPr lang="en-US" sz="880" b="1" spc="115" kern="0" dirty="0">
                <a:solidFill>
                  <a:srgbClr val="B3181E"/>
                </a:solidFill>
                <a:latin typeface="Aptos" pitchFamily="34" charset="0"/>
                <a:ea typeface="Aptos" pitchFamily="34" charset="-122"/>
                <a:cs typeface="Aptos" pitchFamily="34" charset="-120"/>
              </a:rPr>
              <a:t>Y EL RUT ES LA PRUEBA</a:t>
            </a:r>
            <a:endParaRPr lang="en-US" sz="880" dirty="0"/>
          </a:p>
        </p:txBody>
      </p:sp>
      <p:sp>
        <p:nvSpPr>
          <p:cNvPr id="22" name="Text 19"/>
          <p:cNvSpPr txBox="1"/>
          <p:nvPr/>
        </p:nvSpPr>
        <p:spPr>
          <a:xfrm>
            <a:off x="7004304" y="4809744"/>
            <a:ext cx="4261104" cy="804672"/>
          </a:xfrm>
          <a:prstGeom prst="rect">
            <a:avLst/>
          </a:prstGeom>
          <a:noFill/>
          <a:ln/>
        </p:spPr>
        <p:txBody>
          <a:bodyPr wrap="square" lIns="0" tIns="0" rIns="0" bIns="0" rtlCol="0" anchor="t"/>
          <a:lstStyle/>
          <a:p>
            <a:pPr algn="l" indent="0" marL="0">
              <a:lnSpc>
                <a:spcPct val="116000"/>
              </a:lnSpc>
              <a:buNone/>
            </a:pPr>
            <a:r>
              <a:rPr lang="en-US" sz="1160" dirty="0">
                <a:solidFill>
                  <a:srgbClr val="243B53"/>
                </a:solidFill>
                <a:latin typeface="Aptos" pitchFamily="34" charset="0"/>
                <a:ea typeface="Aptos" pitchFamily="34" charset="-122"/>
                <a:cs typeface="Aptos" pitchFamily="34" charset="-120"/>
              </a:rPr>
              <a:t>Sobrevivió a tres auditorías con dos herramientas distintas. No porque fuera difícil de ver en el código —está en la línea más corta del archivo—, sino porque no había ningún documento contra el cual compararlo.</a:t>
            </a:r>
            <a:endParaRPr lang="en-US" sz="1160" dirty="0"/>
          </a:p>
        </p:txBody>
      </p:sp>
      <p:sp>
        <p:nvSpPr>
          <p:cNvPr id="23" name="Shape 20"/>
          <p:cNvSpPr/>
          <p:nvPr/>
        </p:nvSpPr>
        <p:spPr>
          <a:xfrm>
            <a:off x="658368" y="5888736"/>
            <a:ext cx="10874959" cy="420624"/>
          </a:xfrm>
          <a:prstGeom prst="rect">
            <a:avLst/>
          </a:prstGeom>
          <a:solidFill>
            <a:srgbClr val="102A43"/>
          </a:solidFill>
          <a:ln w="12700">
            <a:solidFill>
              <a:srgbClr val="102A43"/>
            </a:solidFill>
            <a:prstDash val="solid"/>
          </a:ln>
        </p:spPr>
      </p:sp>
      <p:sp>
        <p:nvSpPr>
          <p:cNvPr id="24" name="Text 21"/>
          <p:cNvSpPr txBox="1"/>
          <p:nvPr/>
        </p:nvSpPr>
        <p:spPr>
          <a:xfrm>
            <a:off x="969264" y="5943600"/>
            <a:ext cx="10253167" cy="310896"/>
          </a:xfrm>
          <a:prstGeom prst="rect">
            <a:avLst/>
          </a:prstGeom>
          <a:noFill/>
          <a:ln/>
        </p:spPr>
        <p:txBody>
          <a:bodyPr wrap="square" lIns="0" tIns="0" rIns="0" bIns="0" rtlCol="0" anchor="ctr"/>
          <a:lstStyle/>
          <a:p>
            <a:pPr algn="ctr" indent="0" marL="0">
              <a:lnSpc>
                <a:spcPct val="114000"/>
              </a:lnSpc>
              <a:buNone/>
            </a:pPr>
            <a:r>
              <a:rPr lang="en-US" sz="1400" b="1" dirty="0">
                <a:solidFill>
                  <a:srgbClr val="FFFFFF"/>
                </a:solidFill>
                <a:latin typeface="Aptos" pitchFamily="34" charset="0"/>
                <a:ea typeface="Aptos" pitchFamily="34" charset="-122"/>
                <a:cs typeface="Aptos" pitchFamily="34" charset="-120"/>
              </a:rPr>
              <a:t>Una revisión es tan buena como el documento que usa de referencia.</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2\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35</a:t>
            </a:r>
            <a:endParaRPr lang="en-US" sz="1400" dirty="0"/>
          </a:p>
        </p:txBody>
      </p:sp>
      <p:sp>
        <p:nvSpPr>
          <p:cNvPr id="8" name="Text 5"/>
          <p:cNvSpPr txBox="1"/>
          <p:nvPr/>
        </p:nvSpPr>
        <p:spPr>
          <a:xfrm>
            <a:off x="658368" y="1188720"/>
            <a:ext cx="5852160" cy="237744"/>
          </a:xfrm>
          <a:prstGeom prst="rect">
            <a:avLst/>
          </a:prstGeom>
          <a:noFill/>
          <a:ln/>
        </p:spPr>
        <p:txBody>
          <a:bodyPr wrap="square" lIns="0" tIns="0" rIns="0" bIns="0" rtlCol="0" anchor="t"/>
          <a:lstStyle/>
          <a:p>
            <a:pPr algn="l" indent="0" marL="0">
              <a:buNone/>
            </a:pPr>
            <a:r>
              <a:rPr lang="en-US" sz="1100" b="1" spc="200" kern="0" dirty="0">
                <a:solidFill>
                  <a:srgbClr val="E0BC5A"/>
                </a:solidFill>
                <a:latin typeface="Aptos" pitchFamily="34" charset="0"/>
                <a:ea typeface="Aptos" pitchFamily="34" charset="-122"/>
                <a:cs typeface="Aptos" pitchFamily="34" charset="-120"/>
              </a:rPr>
              <a:t>CIERRE · CLASE 06</a:t>
            </a:r>
            <a:endParaRPr lang="en-US" sz="1100" dirty="0"/>
          </a:p>
        </p:txBody>
      </p:sp>
      <p:sp>
        <p:nvSpPr>
          <p:cNvPr id="9" name="Text 6"/>
          <p:cNvSpPr txBox="1"/>
          <p:nvPr/>
        </p:nvSpPr>
        <p:spPr>
          <a:xfrm>
            <a:off x="658368" y="1517904"/>
            <a:ext cx="5852160" cy="1371600"/>
          </a:xfrm>
          <a:prstGeom prst="rect">
            <a:avLst/>
          </a:prstGeom>
          <a:noFill/>
          <a:ln/>
        </p:spPr>
        <p:txBody>
          <a:bodyPr wrap="square" lIns="0" tIns="0" rIns="0" bIns="0" rtlCol="0" anchor="t"/>
          <a:lstStyle/>
          <a:p>
            <a:pPr algn="l" indent="0" marL="0">
              <a:lnSpc>
                <a:spcPct val="106000"/>
              </a:lnSpc>
              <a:buNone/>
            </a:pPr>
            <a:r>
              <a:rPr lang="en-US" sz="3000" b="1" dirty="0">
                <a:solidFill>
                  <a:srgbClr val="FFFFFF"/>
                </a:solidFill>
                <a:latin typeface="Aptos Display" pitchFamily="34" charset="0"/>
                <a:ea typeface="Aptos Display" pitchFamily="34" charset="-122"/>
                <a:cs typeface="Aptos Display" pitchFamily="34" charset="-120"/>
              </a:rPr>
              <a:t>El punto ciego no estaba en las herramientas</a:t>
            </a:r>
            <a:endParaRPr lang="en-US" sz="3000" dirty="0"/>
          </a:p>
        </p:txBody>
      </p:sp>
      <p:sp>
        <p:nvSpPr>
          <p:cNvPr id="10" name="Shape 7"/>
          <p:cNvSpPr/>
          <p:nvPr/>
        </p:nvSpPr>
        <p:spPr>
          <a:xfrm>
            <a:off x="658368" y="2999232"/>
            <a:ext cx="2011680" cy="64008"/>
          </a:xfrm>
          <a:prstGeom prst="rect">
            <a:avLst/>
          </a:prstGeom>
          <a:solidFill>
            <a:srgbClr val="D62027"/>
          </a:solidFill>
          <a:ln w="12700">
            <a:solidFill>
              <a:srgbClr val="D62027"/>
            </a:solidFill>
            <a:prstDash val="solid"/>
          </a:ln>
        </p:spPr>
      </p:sp>
      <p:sp>
        <p:nvSpPr>
          <p:cNvPr id="11" name="Text 8"/>
          <p:cNvSpPr txBox="1"/>
          <p:nvPr/>
        </p:nvSpPr>
        <p:spPr>
          <a:xfrm>
            <a:off x="658368" y="3291840"/>
            <a:ext cx="5760720" cy="2194560"/>
          </a:xfrm>
          <a:prstGeom prst="rect">
            <a:avLst/>
          </a:prstGeom>
          <a:noFill/>
          <a:ln/>
        </p:spPr>
        <p:txBody>
          <a:bodyPr wrap="square" lIns="0" tIns="0" rIns="0" bIns="0" rtlCol="0" anchor="t"/>
          <a:lstStyle/>
          <a:p>
            <a:pPr algn="l" indent="0" marL="0">
              <a:lnSpc>
                <a:spcPct val="124000"/>
              </a:lnSpc>
              <a:buNone/>
            </a:pPr>
            <a:r>
              <a:rPr lang="en-US" sz="1500" dirty="0">
                <a:solidFill>
                  <a:srgbClr val="E6EEF7"/>
                </a:solidFill>
                <a:latin typeface="Aptos" pitchFamily="34" charset="0"/>
                <a:ea typeface="Aptos" pitchFamily="34" charset="-122"/>
                <a:cs typeface="Aptos" pitchFamily="34" charset="-120"/>
              </a:rPr>
              <a:t>Dos auditorías del mismo código, hechas por herramientas distintas, coincidieron en los defectos y fallaron en el mismo punto. Ninguna se equivocó por incompetencia: las dos compararon el código contra lo que estaba escrito, que es exactamente lo que se les pidió. El punto ciego estaba en el documento, y escribir ese documento nunca fue trabajo de ellas.</a:t>
            </a:r>
            <a:endParaRPr lang="en-US" sz="1500" dirty="0"/>
          </a:p>
        </p:txBody>
      </p:sp>
      <p:sp>
        <p:nvSpPr>
          <p:cNvPr id="12" name="Shape 9"/>
          <p:cNvSpPr/>
          <p:nvPr/>
        </p:nvSpPr>
        <p:spPr>
          <a:xfrm>
            <a:off x="6729984" y="1517904"/>
            <a:ext cx="4800600" cy="2286000"/>
          </a:xfrm>
          <a:prstGeom prst="roundRect">
            <a:avLst>
              <a:gd name="adj" fmla="val 2000"/>
            </a:avLst>
          </a:prstGeom>
          <a:solidFill>
            <a:srgbClr val="19384A"/>
          </a:solidFill>
          <a:ln w="12700">
            <a:solidFill>
              <a:srgbClr val="496175"/>
            </a:solidFill>
            <a:prstDash val="solid"/>
          </a:ln>
        </p:spPr>
      </p:sp>
      <p:sp>
        <p:nvSpPr>
          <p:cNvPr id="13" name="Text 10"/>
          <p:cNvSpPr txBox="1"/>
          <p:nvPr/>
        </p:nvSpPr>
        <p:spPr>
          <a:xfrm>
            <a:off x="7040880" y="1755648"/>
            <a:ext cx="4023360" cy="201168"/>
          </a:xfrm>
          <a:prstGeom prst="rect">
            <a:avLst/>
          </a:prstGeom>
          <a:noFill/>
          <a:ln/>
        </p:spPr>
        <p:txBody>
          <a:bodyPr wrap="square" lIns="0" tIns="0" rIns="0" bIns="0" rtlCol="0" anchor="t"/>
          <a:lstStyle/>
          <a:p>
            <a:pPr algn="l" indent="0" marL="0">
              <a:buNone/>
            </a:pPr>
            <a:r>
              <a:rPr lang="en-US" sz="940" b="1" spc="130" kern="0" dirty="0">
                <a:solidFill>
                  <a:srgbClr val="E0BC5A"/>
                </a:solidFill>
                <a:latin typeface="Aptos" pitchFamily="34" charset="0"/>
                <a:ea typeface="Aptos" pitchFamily="34" charset="-122"/>
                <a:cs typeface="Aptos" pitchFamily="34" charset="-120"/>
              </a:rPr>
              <a:t>LA PRÓXIMA SESIÓN</a:t>
            </a:r>
            <a:endParaRPr lang="en-US" sz="940" dirty="0"/>
          </a:p>
        </p:txBody>
      </p:sp>
      <p:sp>
        <p:nvSpPr>
          <p:cNvPr id="14" name="Text 11"/>
          <p:cNvSpPr txBox="1"/>
          <p:nvPr/>
        </p:nvSpPr>
        <p:spPr>
          <a:xfrm>
            <a:off x="7040880" y="2029968"/>
            <a:ext cx="4206240" cy="694944"/>
          </a:xfrm>
          <a:prstGeom prst="rect">
            <a:avLst/>
          </a:prstGeom>
          <a:noFill/>
          <a:ln/>
        </p:spPr>
        <p:txBody>
          <a:bodyPr wrap="square" lIns="0" tIns="0" rIns="0" bIns="0" rtlCol="0" anchor="t"/>
          <a:lstStyle/>
          <a:p>
            <a:pPr algn="l" indent="0" marL="0">
              <a:lnSpc>
                <a:spcPct val="110000"/>
              </a:lnSpc>
              <a:buNone/>
            </a:pPr>
            <a:r>
              <a:rPr lang="en-US" sz="2000" b="1" dirty="0">
                <a:solidFill>
                  <a:srgbClr val="FFFFFF"/>
                </a:solidFill>
                <a:latin typeface="Aptos Display" pitchFamily="34" charset="0"/>
                <a:ea typeface="Aptos Display" pitchFamily="34" charset="-122"/>
                <a:cs typeface="Aptos Display" pitchFamily="34" charset="-120"/>
              </a:rPr>
              <a:t>Dónde se escribe lo que la revisión necesita</a:t>
            </a:r>
            <a:endParaRPr lang="en-US" sz="2000" dirty="0"/>
          </a:p>
        </p:txBody>
      </p:sp>
      <p:sp>
        <p:nvSpPr>
          <p:cNvPr id="15" name="Text 12"/>
          <p:cNvSpPr txBox="1"/>
          <p:nvPr/>
        </p:nvSpPr>
        <p:spPr>
          <a:xfrm>
            <a:off x="7040880" y="2834640"/>
            <a:ext cx="4206240" cy="822960"/>
          </a:xfrm>
          <a:prstGeom prst="rect">
            <a:avLst/>
          </a:prstGeom>
          <a:noFill/>
          <a:ln/>
        </p:spPr>
        <p:txBody>
          <a:bodyPr wrap="square" lIns="0" tIns="0" rIns="0" bIns="0" rtlCol="0" anchor="t"/>
          <a:lstStyle/>
          <a:p>
            <a:pPr algn="l" indent="0" marL="0">
              <a:lnSpc>
                <a:spcPct val="120000"/>
              </a:lnSpc>
              <a:buNone/>
            </a:pPr>
            <a:r>
              <a:rPr lang="en-US" sz="1300" dirty="0">
                <a:solidFill>
                  <a:srgbClr val="E6EEF7"/>
                </a:solidFill>
                <a:latin typeface="Aptos" pitchFamily="34" charset="0"/>
                <a:ea typeface="Aptos" pitchFamily="34" charset="-122"/>
                <a:cs typeface="Aptos" pitchFamily="34" charset="-120"/>
              </a:rPr>
              <a:t>Cada tipo de prueba en la etapa del ciclo de vida que le corresponde, y qué documentación exigen ISO/IEC 25010 e ISO/IEC/IEEE 29119 en cada una.</a:t>
            </a:r>
            <a:endParaRPr lang="en-US" sz="1300" dirty="0"/>
          </a:p>
        </p:txBody>
      </p:sp>
      <p:sp>
        <p:nvSpPr>
          <p:cNvPr id="16" name="Shape 13"/>
          <p:cNvSpPr/>
          <p:nvPr/>
        </p:nvSpPr>
        <p:spPr>
          <a:xfrm>
            <a:off x="6729984" y="3986784"/>
            <a:ext cx="4800600" cy="1371600"/>
          </a:xfrm>
          <a:prstGeom prst="rect">
            <a:avLst/>
          </a:prstGeom>
          <a:solidFill>
            <a:srgbClr val="1D3A57"/>
          </a:solidFill>
          <a:ln w="12700">
            <a:solidFill>
              <a:srgbClr val="1D3A57"/>
            </a:solidFill>
            <a:prstDash val="solid"/>
          </a:ln>
        </p:spPr>
      </p:sp>
      <p:sp>
        <p:nvSpPr>
          <p:cNvPr id="17" name="Text 14"/>
          <p:cNvSpPr txBox="1"/>
          <p:nvPr/>
        </p:nvSpPr>
        <p:spPr>
          <a:xfrm>
            <a:off x="7040880" y="4187952"/>
            <a:ext cx="4023360" cy="201168"/>
          </a:xfrm>
          <a:prstGeom prst="rect">
            <a:avLst/>
          </a:prstGeom>
          <a:noFill/>
          <a:ln/>
        </p:spPr>
        <p:txBody>
          <a:bodyPr wrap="square" lIns="0" tIns="0" rIns="0" bIns="0" rtlCol="0" anchor="t"/>
          <a:lstStyle/>
          <a:p>
            <a:pPr algn="l" indent="0" marL="0">
              <a:buNone/>
            </a:pPr>
            <a:r>
              <a:rPr lang="en-US" sz="900" b="1" spc="120" kern="0" dirty="0">
                <a:solidFill>
                  <a:srgbClr val="63C6D8"/>
                </a:solidFill>
                <a:latin typeface="Aptos" pitchFamily="34" charset="0"/>
                <a:ea typeface="Aptos" pitchFamily="34" charset="-122"/>
                <a:cs typeface="Aptos" pitchFamily="34" charset="-120"/>
              </a:rPr>
              <a:t>Y LA RESPUESTA AL HALLAZGO ABIERTO</a:t>
            </a:r>
            <a:endParaRPr lang="en-US" sz="900" dirty="0"/>
          </a:p>
        </p:txBody>
      </p:sp>
      <p:sp>
        <p:nvSpPr>
          <p:cNvPr id="18" name="Text 15"/>
          <p:cNvSpPr txBox="1"/>
          <p:nvPr/>
        </p:nvSpPr>
        <p:spPr>
          <a:xfrm>
            <a:off x="7040880" y="4443984"/>
            <a:ext cx="4206240" cy="786384"/>
          </a:xfrm>
          <a:prstGeom prst="rect">
            <a:avLst/>
          </a:prstGeom>
          <a:noFill/>
          <a:ln/>
        </p:spPr>
        <p:txBody>
          <a:bodyPr wrap="square" lIns="0" tIns="0" rIns="0" bIns="0" rtlCol="0" anchor="t"/>
          <a:lstStyle/>
          <a:p>
            <a:pPr algn="l" indent="0" marL="0">
              <a:lnSpc>
                <a:spcPct val="120000"/>
              </a:lnSpc>
              <a:buNone/>
            </a:pPr>
            <a:r>
              <a:rPr lang="en-US" sz="1240" dirty="0">
                <a:solidFill>
                  <a:srgbClr val="FFFFFF"/>
                </a:solidFill>
                <a:latin typeface="Aptos" pitchFamily="34" charset="0"/>
                <a:ea typeface="Aptos" pitchFamily="34" charset="-122"/>
                <a:cs typeface="Aptos" pitchFamily="34" charset="-120"/>
              </a:rPr>
              <a:t>La privacidad por diseño significa que la pregunta sobre el RUT se responde cuando se define el producto, no tres semanas después revisando código.</a:t>
            </a:r>
            <a:endParaRPr lang="en-US" sz="1240" dirty="0"/>
          </a:p>
        </p:txBody>
      </p:sp>
      <p:sp>
        <p:nvSpPr>
          <p:cNvPr id="19" name="Shape 16"/>
          <p:cNvSpPr/>
          <p:nvPr/>
        </p:nvSpPr>
        <p:spPr>
          <a:xfrm>
            <a:off x="658368" y="5705856"/>
            <a:ext cx="10874959" cy="0"/>
          </a:xfrm>
          <a:prstGeom prst="line">
            <a:avLst/>
          </a:prstGeom>
          <a:noFill/>
          <a:ln w="12700">
            <a:solidFill>
              <a:srgbClr val="E0BC5A"/>
            </a:solidFill>
            <a:prstDash val="solid"/>
            <a:headEnd type="none"/>
            <a:tailEnd type="none"/>
          </a:ln>
        </p:spPr>
      </p:sp>
      <p:sp>
        <p:nvSpPr>
          <p:cNvPr id="20" name="Text 17"/>
          <p:cNvSpPr txBox="1"/>
          <p:nvPr/>
        </p:nvSpPr>
        <p:spPr>
          <a:xfrm>
            <a:off x="658368" y="5888736"/>
            <a:ext cx="10874959" cy="402336"/>
          </a:xfrm>
          <a:prstGeom prst="rect">
            <a:avLst/>
          </a:prstGeom>
          <a:noFill/>
          <a:ln/>
        </p:spPr>
        <p:txBody>
          <a:bodyPr wrap="square" lIns="0" tIns="0" rIns="0" bIns="0" rtlCol="0" anchor="t"/>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Una revisión es tan buena como el documento que usa de referencia.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AIEP Osorno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revisión como prueba: método, evidencia y arbitraje</dc:title>
  <dc:subject>PRO402 · Clase 06</dc:subject>
  <dc:creator>Diego Obando</dc:creator>
  <cp:lastModifiedBy>Diego Obando</cp:lastModifiedBy>
  <cp:revision>1</cp:revision>
  <dcterms:created xsi:type="dcterms:W3CDTF">2026-09-01T03:58:54Z</dcterms:created>
  <dcterms:modified xsi:type="dcterms:W3CDTF">2026-09-01T03:58:54Z</dcterms:modified>
</cp:coreProperties>
</file>