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2984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2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CLASE 05 · UNIDAD 01</a:t>
            </a:r>
            <a:endParaRPr lang="en-US" sz="11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700784"/>
            <a:ext cx="9692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ejecutar nada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658368" y="2871216"/>
            <a:ext cx="2377440" cy="82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314553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0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cambian las pruebas en un proyecto real, y por qué las primeras no ejecutan el código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58368" y="4261104"/>
            <a:ext cx="310896" cy="45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4443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5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47183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 31 de agosto de 2026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178808" y="4261104"/>
            <a:ext cx="310896" cy="45720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78808" y="4443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5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HORARIO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4178808" y="47183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08:30 – 10:50 · 140 minutos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699248" y="4261104"/>
            <a:ext cx="310896" cy="45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99248" y="4443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5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7699248" y="47183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Diego Obando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7058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de referencia · ISO/IEC/IEEE 29119-1:2022 · pruebas estáticas y dinámicas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052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anterior cerró con algo sin responder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38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IDEAS QUE YA TENEMOS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50292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359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883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responde contra la especificación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" y="3236976"/>
            <a:ext cx="39867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58368" y="3456432"/>
            <a:ext cx="50292" cy="65836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419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4904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responde contra la necesidad real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4297680"/>
            <a:ext cx="39867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658368" y="4517136"/>
            <a:ext cx="50292" cy="65836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en verde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8097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las pruebas automatizadas pasan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193792" y="1920240"/>
            <a:ext cx="0" cy="3785616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5632704" y="193852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NUEVA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632704" y="2377440"/>
            <a:ext cx="5897880" cy="267004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32704" y="2377440"/>
            <a:ext cx="73152" cy="267004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98464" y="2670048"/>
            <a:ext cx="5266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todas las pruebas pasan, pero podrían comprobar una regla equivocada, ¿qué cambia realmente al tenerlas?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5632704" y="5230368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no saldrá de una opinión: observaremos un proyecto real antes y después de fortalecer sus pruebas.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LA SESIÓN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evidencia del proyecto a la auditoría del agente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214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08:40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700784" y="2084832"/>
            <a:ext cx="50292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56816" y="20665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1956816" y="2304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estados del mismo proyecto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7461504" y="213969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señales visibles para comparar el antes y el después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658368" y="2889504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658368" y="311810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700784" y="3081528"/>
            <a:ext cx="50292" cy="65836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956816" y="30632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1956816" y="33009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prueba no ejecuta el programa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7461504" y="31363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Tipado: contratos sobre qué datos acepta y devuelve el código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658368" y="3886200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658368" y="41148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700784" y="4078224"/>
            <a:ext cx="50292" cy="65836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956816" y="40599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1956816" y="4297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segunda barrera, y el techo de las dos</a:t>
            </a:r>
            <a:endParaRPr lang="en-US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7461504" y="41330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Linter: reglas que examinan el código sin ponerlo en marcha</a:t>
            </a:r>
            <a:endParaRPr lang="en-US" sz="1280" dirty="0"/>
          </a:p>
        </p:txBody>
      </p:sp>
      <p:sp>
        <p:nvSpPr>
          <p:cNvPr id="27" name="Shape 24"/>
          <p:cNvSpPr/>
          <p:nvPr/>
        </p:nvSpPr>
        <p:spPr>
          <a:xfrm>
            <a:off x="658368" y="4882896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658368" y="511149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10:15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700784" y="5074920"/>
            <a:ext cx="50292" cy="65836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956816" y="50566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960" dirty="0"/>
          </a:p>
        </p:txBody>
      </p:sp>
      <p:sp>
        <p:nvSpPr>
          <p:cNvPr id="31" name="Text 28"/>
          <p:cNvSpPr txBox="1"/>
          <p:nvPr/>
        </p:nvSpPr>
        <p:spPr>
          <a:xfrm>
            <a:off x="1956816" y="52943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lo arregló… ¿o lo hizo desaparecer?</a:t>
            </a:r>
            <a:endParaRPr lang="en-US" sz="1650" dirty="0"/>
          </a:p>
        </p:txBody>
      </p:sp>
      <p:sp>
        <p:nvSpPr>
          <p:cNvPr id="32" name="Text 29"/>
          <p:cNvSpPr txBox="1"/>
          <p:nvPr/>
        </p:nvSpPr>
        <p:spPr>
          <a:xfrm>
            <a:off x="7461504" y="512978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una corrección de IA con evidencia, no con apariencia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658368" y="6035040"/>
            <a:ext cx="10872216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658368" y="61447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08:30 encuadre  ·  09:35 pausa técnica  ·  10:40 cierre y ticket de salida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737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0" b="1" dirty="0">
                <a:solidFill>
                  <a:srgbClr val="1D3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1200" dirty="0"/>
          </a:p>
        </p:txBody>
      </p:sp>
      <p:sp>
        <p:nvSpPr>
          <p:cNvPr id="9" name="Text 6"/>
          <p:cNvSpPr txBox="1"/>
          <p:nvPr/>
        </p:nvSpPr>
        <p:spPr>
          <a:xfrm>
            <a:off x="3419856" y="188366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spc="2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25 MINUTOS</a:t>
            </a:r>
            <a:endParaRPr lang="en-US" sz="1140" dirty="0"/>
          </a:p>
        </p:txBody>
      </p:sp>
      <p:sp>
        <p:nvSpPr>
          <p:cNvPr id="10" name="Text 7"/>
          <p:cNvSpPr txBox="1"/>
          <p:nvPr/>
        </p:nvSpPr>
        <p:spPr>
          <a:xfrm>
            <a:off x="3419856" y="2267712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estados del mismo proyecto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3419856" y="3602736"/>
            <a:ext cx="2011680" cy="64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19856" y="3895344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el antes y el después de un proyecto que fortaleció sus pruebas, sin confundir una coincidencia temporal con una causa demostrada.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· EL INSTRUMENTO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indicadores en vez de una opinión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indicador responde una pregunta concreta y deja una huella que otra persona puede revisar.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50592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450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261872" y="2414016"/>
            <a:ext cx="4572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99616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Proporción de prueba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1499616" y="2706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código comprueba el producto por cada línea que se entrega?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24140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MIRA EN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de producto y de pruebas</a:t>
            </a:r>
            <a:endParaRPr lang="en-US" sz="1360" dirty="0"/>
          </a:p>
        </p:txBody>
      </p:sp>
      <p:sp>
        <p:nvSpPr>
          <p:cNvPr id="18" name="Shape 15"/>
          <p:cNvSpPr/>
          <p:nvPr/>
        </p:nvSpPr>
        <p:spPr>
          <a:xfrm>
            <a:off x="658368" y="3108960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658368" y="3310128"/>
            <a:ext cx="402336" cy="402336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261872" y="3273552"/>
            <a:ext cx="45720" cy="5669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499616" y="32552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de defectos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1499616" y="35661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¿Cuántos errores se reportaron y cómo terminó cada reporte?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3273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MIRA EN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donde se abren y cierran errores</a:t>
            </a:r>
            <a:endParaRPr lang="en-US" sz="1360" dirty="0"/>
          </a:p>
        </p:txBody>
      </p:sp>
      <p:sp>
        <p:nvSpPr>
          <p:cNvPr id="26" name="Shape 23"/>
          <p:cNvSpPr/>
          <p:nvPr/>
        </p:nvSpPr>
        <p:spPr>
          <a:xfrm>
            <a:off x="658368" y="3968496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658368" y="4169664"/>
            <a:ext cx="402336" cy="402336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261872" y="4133088"/>
            <a:ext cx="45720" cy="5669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499616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Vida de un defecto</a:t>
            </a:r>
            <a:endParaRPr lang="en-US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1499616" y="4425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pasó desde que el error entró hasta que fue detectado?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4133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MIRA EN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Commits —cambios registrados— y fechas</a:t>
            </a:r>
            <a:endParaRPr lang="en-US" sz="1360" dirty="0"/>
          </a:p>
        </p:txBody>
      </p:sp>
      <p:sp>
        <p:nvSpPr>
          <p:cNvPr id="34" name="Shape 31"/>
          <p:cNvSpPr/>
          <p:nvPr/>
        </p:nvSpPr>
        <p:spPr>
          <a:xfrm>
            <a:off x="658368" y="4828032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658368" y="5029200"/>
            <a:ext cx="402336" cy="402336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8368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261872" y="4992624"/>
            <a:ext cx="45720" cy="5669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499616" y="4974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de un cambio</a:t>
            </a:r>
            <a:endParaRPr lang="en-US" sz="1650" dirty="0"/>
          </a:p>
        </p:txBody>
      </p:sp>
      <p:sp>
        <p:nvSpPr>
          <p:cNvPr id="39" name="Text 36"/>
          <p:cNvSpPr txBox="1"/>
          <p:nvPr/>
        </p:nvSpPr>
        <p:spPr>
          <a:xfrm>
            <a:off x="1499616" y="52852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controles debe superar una modificación antes de publicarse?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229600" y="49926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MIRA EN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229600" y="5230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de revisión y publicación</a:t>
            </a:r>
            <a:endParaRPr lang="en-US" sz="1360" dirty="0"/>
          </a:p>
        </p:txBody>
      </p:sp>
      <p:sp>
        <p:nvSpPr>
          <p:cNvPr id="42" name="Shape 39"/>
          <p:cNvSpPr/>
          <p:nvPr/>
        </p:nvSpPr>
        <p:spPr>
          <a:xfrm>
            <a:off x="658368" y="5724144"/>
            <a:ext cx="10872216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9264" y="57241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prueban que el software «sea bueno»: muestran qué afirmaciones puede respaldar con evidencia.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EL DISEÑO DE LA COMPARACIÓN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Comparar un proyecto consigo mismo reduce diferencias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antes y después de reforzar sus pruebas es una comparación más justa, pero el tiempo también cambia otras cosas.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95728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PROYECTOS DISTINTOS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" y="2688336"/>
            <a:ext cx="5138928" cy="2267712"/>
          </a:xfrm>
          <a:prstGeom prst="rect">
            <a:avLst/>
          </a:prstGeom>
          <a:solidFill>
            <a:srgbClr val="F3EAE1"/>
          </a:solidFill>
          <a:ln w="12700">
            <a:solidFill>
              <a:srgbClr val="F3EA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2907792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2907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316736" y="2889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y dominio</a:t>
            </a:r>
            <a:endParaRPr lang="en-US" sz="1420" dirty="0"/>
          </a:p>
        </p:txBody>
      </p:sp>
      <p:sp>
        <p:nvSpPr>
          <p:cNvPr id="16" name="Text 13"/>
          <p:cNvSpPr txBox="1"/>
          <p:nvPr/>
        </p:nvSpPr>
        <p:spPr>
          <a:xfrm>
            <a:off x="4133088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4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</a:t>
            </a:r>
            <a:endParaRPr lang="en-US" sz="1240" dirty="0"/>
          </a:p>
        </p:txBody>
      </p:sp>
      <p:sp>
        <p:nvSpPr>
          <p:cNvPr id="17" name="Shape 14"/>
          <p:cNvSpPr/>
          <p:nvPr/>
        </p:nvSpPr>
        <p:spPr>
          <a:xfrm>
            <a:off x="932688" y="3328416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316736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</a:t>
            </a:r>
            <a:endParaRPr lang="en-US" sz="1420" dirty="0"/>
          </a:p>
        </p:txBody>
      </p:sp>
      <p:sp>
        <p:nvSpPr>
          <p:cNvPr id="20" name="Text 17"/>
          <p:cNvSpPr txBox="1"/>
          <p:nvPr/>
        </p:nvSpPr>
        <p:spPr>
          <a:xfrm>
            <a:off x="4133088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4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932688" y="3749040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2688" y="3749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16736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Tamaño y complejidad</a:t>
            </a:r>
            <a:endParaRPr lang="en-US" sz="1420" dirty="0"/>
          </a:p>
        </p:txBody>
      </p:sp>
      <p:sp>
        <p:nvSpPr>
          <p:cNvPr id="24" name="Text 21"/>
          <p:cNvSpPr txBox="1"/>
          <p:nvPr/>
        </p:nvSpPr>
        <p:spPr>
          <a:xfrm>
            <a:off x="4133088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4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</a:t>
            </a:r>
            <a:endParaRPr lang="en-US" sz="1240" dirty="0"/>
          </a:p>
        </p:txBody>
      </p:sp>
      <p:sp>
        <p:nvSpPr>
          <p:cNvPr id="25" name="Shape 22"/>
          <p:cNvSpPr/>
          <p:nvPr/>
        </p:nvSpPr>
        <p:spPr>
          <a:xfrm>
            <a:off x="932688" y="416966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316736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Antigüedad</a:t>
            </a:r>
            <a:endParaRPr lang="en-US" sz="1420" dirty="0"/>
          </a:p>
        </p:txBody>
      </p:sp>
      <p:sp>
        <p:nvSpPr>
          <p:cNvPr id="28" name="Text 25"/>
          <p:cNvSpPr txBox="1"/>
          <p:nvPr/>
        </p:nvSpPr>
        <p:spPr>
          <a:xfrm>
            <a:off x="4133088" y="4151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4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</a:t>
            </a:r>
            <a:endParaRPr lang="en-US" sz="1240" dirty="0"/>
          </a:p>
        </p:txBody>
      </p:sp>
      <p:sp>
        <p:nvSpPr>
          <p:cNvPr id="29" name="Shape 26"/>
          <p:cNvSpPr/>
          <p:nvPr/>
        </p:nvSpPr>
        <p:spPr>
          <a:xfrm>
            <a:off x="932688" y="4590288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2688" y="4590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316736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pruebas</a:t>
            </a:r>
            <a:endParaRPr lang="en-US" sz="1420" dirty="0"/>
          </a:p>
        </p:txBody>
      </p:sp>
      <p:sp>
        <p:nvSpPr>
          <p:cNvPr id="32" name="Text 29"/>
          <p:cNvSpPr txBox="1"/>
          <p:nvPr/>
        </p:nvSpPr>
        <p:spPr>
          <a:xfrm>
            <a:off x="4133088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4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</a:t>
            </a:r>
            <a:endParaRPr lang="en-US" sz="1240" dirty="0"/>
          </a:p>
        </p:txBody>
      </p:sp>
      <p:sp>
        <p:nvSpPr>
          <p:cNvPr id="33" name="Text 30"/>
          <p:cNvSpPr txBox="1"/>
          <p:nvPr/>
        </p:nvSpPr>
        <p:spPr>
          <a:xfrm>
            <a:off x="658368" y="5102352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diferencias compiten para explicar el resultado.</a:t>
            </a:r>
            <a:endParaRPr lang="en-US" sz="1340" dirty="0"/>
          </a:p>
        </p:txBody>
      </p:sp>
      <p:sp>
        <p:nvSpPr>
          <p:cNvPr id="34" name="Text 31"/>
          <p:cNvSpPr txBox="1"/>
          <p:nvPr/>
        </p:nvSpPr>
        <p:spPr>
          <a:xfrm>
            <a:off x="6400800" y="2395728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PROYECTO, ANTES Y DESPUÉS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00800" y="2688336"/>
            <a:ext cx="5138928" cy="2267712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75120" y="2926080"/>
            <a:ext cx="237744" cy="237744"/>
          </a:xfrm>
          <a:prstGeom prst="ellipse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67512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059168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y propósito</a:t>
            </a:r>
            <a:endParaRPr lang="en-US" sz="1380" dirty="0"/>
          </a:p>
        </p:txBody>
      </p:sp>
      <p:sp>
        <p:nvSpPr>
          <p:cNvPr id="39" name="Text 36"/>
          <p:cNvSpPr txBox="1"/>
          <p:nvPr/>
        </p:nvSpPr>
        <p:spPr>
          <a:xfrm>
            <a:off x="9290304" y="29077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reconocen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675120" y="3438144"/>
            <a:ext cx="237744" cy="237744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675120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7059168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pruebas</a:t>
            </a:r>
            <a:endParaRPr lang="en-US" sz="1380" dirty="0"/>
          </a:p>
        </p:txBody>
      </p:sp>
      <p:sp>
        <p:nvSpPr>
          <p:cNvPr id="43" name="Text 40"/>
          <p:cNvSpPr txBox="1"/>
          <p:nvPr/>
        </p:nvSpPr>
        <p:spPr>
          <a:xfrm>
            <a:off x="9290304" y="3419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y queda documentado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675120" y="3950208"/>
            <a:ext cx="237744" cy="237744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675120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059168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y equipo</a:t>
            </a:r>
            <a:endParaRPr lang="en-US" sz="1380" dirty="0"/>
          </a:p>
        </p:txBody>
      </p:sp>
      <p:sp>
        <p:nvSpPr>
          <p:cNvPr id="47" name="Text 44"/>
          <p:cNvSpPr txBox="1"/>
          <p:nvPr/>
        </p:nvSpPr>
        <p:spPr>
          <a:xfrm>
            <a:off x="9290304" y="39319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evolucionan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675120" y="4462272"/>
            <a:ext cx="237744" cy="237744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675120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7059168" y="4443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Madurez y experiencia</a:t>
            </a:r>
            <a:endParaRPr lang="en-US" sz="1380" dirty="0"/>
          </a:p>
        </p:txBody>
      </p:sp>
      <p:sp>
        <p:nvSpPr>
          <p:cNvPr id="51" name="Text 48"/>
          <p:cNvSpPr txBox="1"/>
          <p:nvPr/>
        </p:nvSpPr>
        <p:spPr>
          <a:xfrm>
            <a:off x="9290304" y="444398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crecen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6400800" y="5102352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4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reduce diferencias, pero no las elimina.</a:t>
            </a:r>
            <a:endParaRPr lang="en-US" sz="1340" dirty="0"/>
          </a:p>
        </p:txBody>
      </p:sp>
      <p:sp>
        <p:nvSpPr>
          <p:cNvPr id="53" name="Shape 50"/>
          <p:cNvSpPr/>
          <p:nvPr/>
        </p:nvSpPr>
        <p:spPr>
          <a:xfrm>
            <a:off x="658368" y="5596128"/>
            <a:ext cx="10872216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2688" y="57058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EXPERIMENTO CONTROLADO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3474720" y="5669280"/>
            <a:ext cx="7699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cambia el factor estudiado; aquí no ocurre eso. El caso permite observar una relación, no probar una causa.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EL CASO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326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llevó sus pruebas hasta una exigencia aeronáutica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es una base de datos incrustada dentro de aplicaciones y dispositivos; no funciona como un servidor aparte.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841248" y="2816352"/>
            <a:ext cx="10058400" cy="0"/>
          </a:xfrm>
          <a:prstGeom prst="line">
            <a:avLst/>
          </a:prstGeom>
          <a:noFill/>
          <a:ln w="12700">
            <a:solidFill>
              <a:srgbClr val="2C4E70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722376" y="2697480"/>
            <a:ext cx="237744" cy="23774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2008-09-25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3108960"/>
            <a:ext cx="3310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Nace TH3, su tercer sistema propio de pruebas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4608576" y="2697480"/>
            <a:ext cx="237744" cy="237744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36008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3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2009-07-25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636008" y="3108960"/>
            <a:ext cx="3310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TH3 alcanza 100% de cobertura MC/DC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8494776" y="2697480"/>
            <a:ext cx="237744" cy="23774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22208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2009-08-10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22208" y="3108960"/>
            <a:ext cx="3310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la versión 3.6.17, cada entrega pasa ese estándar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1207008" y="2770632"/>
            <a:ext cx="4023360" cy="9144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07008" y="24140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MESES DE TRABAJO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37856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08176" y="3767328"/>
            <a:ext cx="947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banco de pruebas creado por SQLite para comprobar combinaciones y decisiones internas del motor.</a:t>
            </a:r>
            <a:endParaRPr lang="en-US" sz="1330" dirty="0"/>
          </a:p>
        </p:txBody>
      </p:sp>
      <p:sp>
        <p:nvSpPr>
          <p:cNvPr id="25" name="Shape 22"/>
          <p:cNvSpPr/>
          <p:nvPr/>
        </p:nvSpPr>
        <p:spPr>
          <a:xfrm>
            <a:off x="658368" y="4315968"/>
            <a:ext cx="10872216" cy="0"/>
          </a:xfrm>
          <a:prstGeom prst="line">
            <a:avLst/>
          </a:prstGeom>
          <a:noFill/>
          <a:ln w="12700">
            <a:solidFill>
              <a:srgbClr val="2C4E70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658368" y="45171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MC/DC SUBE LA EXIGENCIA PASO A PASO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" y="4882896"/>
            <a:ext cx="3346704" cy="54864"/>
          </a:xfrm>
          <a:prstGeom prst="rect">
            <a:avLst/>
          </a:prstGeom>
          <a:solidFill>
            <a:srgbClr val="2C4E70"/>
          </a:solidFill>
          <a:ln w="12700">
            <a:solidFill>
              <a:srgbClr val="2C4E7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0292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Líneas</a:t>
            </a:r>
            <a:endParaRPr lang="en-US" sz="1440" dirty="0"/>
          </a:p>
        </p:txBody>
      </p:sp>
      <p:sp>
        <p:nvSpPr>
          <p:cNvPr id="29" name="Text 26"/>
          <p:cNvSpPr txBox="1"/>
          <p:nvPr/>
        </p:nvSpPr>
        <p:spPr>
          <a:xfrm>
            <a:off x="658368" y="5340096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línea se ejecutó al menos una vez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4297680" y="4882896"/>
            <a:ext cx="3346704" cy="54864"/>
          </a:xfrm>
          <a:prstGeom prst="rect">
            <a:avLst/>
          </a:prstGeom>
          <a:solidFill>
            <a:srgbClr val="3E6B8F"/>
          </a:solidFill>
          <a:ln w="12700">
            <a:solidFill>
              <a:srgbClr val="3E6B8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297680" y="50292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Ramas</a:t>
            </a:r>
            <a:endParaRPr lang="en-US" sz="1440" dirty="0"/>
          </a:p>
        </p:txBody>
      </p:sp>
      <p:sp>
        <p:nvSpPr>
          <p:cNvPr id="32" name="Text 29"/>
          <p:cNvSpPr txBox="1"/>
          <p:nvPr/>
        </p:nvSpPr>
        <p:spPr>
          <a:xfrm>
            <a:off x="4297680" y="5340096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decisión recorrió su salida verdadera y falsa</a:t>
            </a:r>
            <a:endParaRPr lang="en-US" sz="1180" dirty="0"/>
          </a:p>
        </p:txBody>
      </p:sp>
      <p:sp>
        <p:nvSpPr>
          <p:cNvPr id="33" name="Shape 30"/>
          <p:cNvSpPr/>
          <p:nvPr/>
        </p:nvSpPr>
        <p:spPr>
          <a:xfrm>
            <a:off x="7936992" y="4882896"/>
            <a:ext cx="3346704" cy="54864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36992" y="50292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Condiciones</a:t>
            </a:r>
            <a:endParaRPr lang="en-US" sz="1440" dirty="0"/>
          </a:p>
        </p:txBody>
      </p:sp>
      <p:sp>
        <p:nvSpPr>
          <p:cNvPr id="35" name="Text 32"/>
          <p:cNvSpPr txBox="1"/>
          <p:nvPr/>
        </p:nvSpPr>
        <p:spPr>
          <a:xfrm>
            <a:off x="7936992" y="5340096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condición cambió por sí sola el resultado de la decisión</a:t>
            </a:r>
            <a:endParaRPr lang="en-US" sz="1180" dirty="0"/>
          </a:p>
        </p:txBody>
      </p:sp>
      <p:sp>
        <p:nvSpPr>
          <p:cNvPr id="36" name="Text 33"/>
          <p:cNvSpPr txBox="1"/>
          <p:nvPr/>
        </p:nvSpPr>
        <p:spPr>
          <a:xfrm>
            <a:off x="658368" y="599846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i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MC/DC = Modified Condition/Decision Coverage. La norma aeronáutica DO-178B lo usa para software crítico de vuelo.</a:t>
            </a:r>
            <a:endParaRPr lang="en-US" sz="13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LOS INDICADORES APLICADOS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590× describe esfuerzo de prueba, no calidad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KSLOC significa miles de líneas de código fuente: la K equivale a mil. Datos de SQLite 3.42.0 (2023).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774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DEL PRODUCTO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" y="2651760"/>
            <a:ext cx="384048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25296" y="26517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155,8 KSLOC  ≈  155.800 líneas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3101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Y SCRIPTS QUE COMPRUEBAN EL PRODUCTO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8368" y="3584448"/>
            <a:ext cx="11533327" cy="31089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" y="35844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92.053,1 KSLOC  ≈  92 millones de líneas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35844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60" i="1" dirty="0">
                <a:solidFill>
                  <a:srgbClr val="F6D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proporción real continúa fuera del lienzo  →</a:t>
            </a:r>
            <a:endParaRPr lang="en-US" sz="126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4059936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590×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2944368" y="413308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92.053,1 ÷ 155,8  ≈  590</a:t>
            </a:r>
            <a:endParaRPr lang="en-US" sz="156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prueba que producto</a:t>
            </a:r>
            <a:endParaRPr lang="en-US" sz="1560" dirty="0"/>
          </a:p>
        </p:txBody>
      </p:sp>
      <p:sp>
        <p:nvSpPr>
          <p:cNvPr id="20" name="Shape 17"/>
          <p:cNvSpPr/>
          <p:nvPr/>
        </p:nvSpPr>
        <p:spPr>
          <a:xfrm>
            <a:off x="7772400" y="4041648"/>
            <a:ext cx="3758184" cy="82296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73568" y="4114800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se distribuye dentro de muchísimos dispositivos. Corregir cada copia después de publicarla es difícil; por eso invierte tanto antes.</a:t>
            </a:r>
            <a:endParaRPr lang="en-US" sz="1160" dirty="0"/>
          </a:p>
        </p:txBody>
      </p:sp>
      <p:sp>
        <p:nvSpPr>
          <p:cNvPr id="22" name="Shape 19"/>
          <p:cNvSpPr/>
          <p:nvPr/>
        </p:nvSpPr>
        <p:spPr>
          <a:xfrm>
            <a:off x="658368" y="5138928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658368" y="5358384"/>
            <a:ext cx="45720" cy="65836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7824" y="5340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sí muestra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" y="5614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de comprobación es mucho mayor que el producto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97680" y="5358384"/>
            <a:ext cx="45720" cy="65836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17136" y="5340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demuestra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17136" y="5614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SQLite no tenga defectos o que 590× sea una receta universal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36992" y="5358384"/>
            <a:ext cx="45720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56448" y="5340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transferible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156448" y="5614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riesgo exige más evidencia antes de publicar un cambio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15214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QUE DECLARA EL RESPONSABLE DEL PROYECTO</a:t>
            </a:r>
            <a:endParaRPr lang="en-US" sz="1040" dirty="0"/>
          </a:p>
        </p:txBody>
      </p:sp>
      <p:sp>
        <p:nvSpPr>
          <p:cNvPr id="9" name="Shape 6"/>
          <p:cNvSpPr/>
          <p:nvPr/>
        </p:nvSpPr>
        <p:spPr>
          <a:xfrm>
            <a:off x="658368" y="1664208"/>
            <a:ext cx="82296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78992" y="1664208"/>
            <a:ext cx="10058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400" dirty="0">
                <a:solidFill>
                  <a:srgbClr val="E6EE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«Eso tomó un año de semanas de 60 horas. Fue trabajo duro, durísimo. Metía jornadas de 12 horas todos los días.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078992" y="2779776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vez que llegamos a ese punto, dejamos de recibir reportes de error desde Android.»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1078992" y="4114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RICHARD HIPP · CREADOR Y MANTENEDOR DE SQLITE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4718304"/>
            <a:ext cx="10872216" cy="0"/>
          </a:xfrm>
          <a:prstGeom prst="line">
            <a:avLst/>
          </a:prstGeom>
          <a:noFill/>
          <a:ln w="12700">
            <a:solidFill>
              <a:srgbClr val="2C4E70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658368" y="49560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Mantenedor = responsable técnico de sostener y publicar el proyecto.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303520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hecho citado no es «SQLite quedó sin defectos». Es más preciso: dejaron de llegar reportes desde Android. Puede haber defectos que nadie encuentre, nadie reporte o que ocurran fuera de Android.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EL EXAMEN DE LA EVIDENCIA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ocurra después no significa que el hecho anterior lo causó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Correlación temporal: dos hechos aparecen en secuencia. Causalidad: uno produce el otro.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408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5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OBSERVAMOS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" y="2670048"/>
            <a:ext cx="5266944" cy="1371600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889504"/>
            <a:ext cx="1609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TH3 alcanza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MC/DC</a:t>
            </a:r>
            <a:endParaRPr lang="en-US" sz="162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301752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98064" y="3273552"/>
            <a:ext cx="713232" cy="310896"/>
          </a:xfrm>
          <a:prstGeom prst="chevron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85616" y="2871216"/>
            <a:ext cx="1883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Dejan de llegar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 desde Android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925312" y="29077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≠</a:t>
            </a:r>
            <a:endParaRPr lang="en-US" sz="4200" dirty="0"/>
          </a:p>
        </p:txBody>
      </p:sp>
      <p:sp>
        <p:nvSpPr>
          <p:cNvPr id="18" name="Text 15"/>
          <p:cNvSpPr txBox="1"/>
          <p:nvPr/>
        </p:nvSpPr>
        <p:spPr>
          <a:xfrm>
            <a:off x="6748272" y="2340864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FALTARÍA PARA PROBAR LA CAUSA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48272" y="2724912"/>
            <a:ext cx="274320" cy="27432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48272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168896" y="271576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SQLite paralelo que no adopte TH3.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6748272" y="3163824"/>
            <a:ext cx="274320" cy="27432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48272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168896" y="315468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iguales código, equipo y madurez.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6748272" y="3602736"/>
            <a:ext cx="274320" cy="27432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48272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168896" y="359359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medición independiente del testimonio de Hipp.</a:t>
            </a:r>
            <a:endParaRPr lang="en-US" sz="128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424281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secuencia está documentada; el vínculo causal no quedó aislado.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4700016"/>
            <a:ext cx="10872216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" y="4846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14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EVIDENCIA, DOS REDACCIONES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969264" y="5358384"/>
            <a:ext cx="45720" cy="36576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207008" y="5230368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Alcanzar MC/DC coincidió con la desaparición de los reportes desde producción, según su mantenedor.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969264" y="5797296"/>
            <a:ext cx="45720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207008" y="577900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6A9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eliminan los errores.</a:t>
            </a:r>
            <a:endParaRPr lang="en-US" sz="1440" dirty="0"/>
          </a:p>
        </p:txBody>
      </p:sp>
      <p:sp>
        <p:nvSpPr>
          <p:cNvPr id="35" name="Text 32"/>
          <p:cNvSpPr txBox="1"/>
          <p:nvPr/>
        </p:nvSpPr>
        <p:spPr>
          <a:xfrm>
            <a:off x="5852160" y="57972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40" i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cómoda de repetir · no la sostiene ningún dato</a:t>
            </a:r>
            <a:endParaRPr lang="en-US" sz="12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BLOQUE 1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seguir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15798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590 veces más código de prueba que de producto no es una meta razonable para cualquier proyecto?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176272" y="288950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qué cambia según dónde y cómo se despliegue el software.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658368" y="3346704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658368" y="3621024"/>
            <a:ext cx="457200" cy="457200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54787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nadie reporta defectos, ¿significa que no los hay?</a:t>
            </a:r>
            <a:endParaRPr lang="en-US" sz="1850" dirty="0"/>
          </a:p>
        </p:txBody>
      </p:sp>
      <p:sp>
        <p:nvSpPr>
          <p:cNvPr id="20" name="Shape 17"/>
          <p:cNvSpPr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176272" y="427939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indicador mide reportes, no defectos. Considera qué otras causas producen silencio.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658368" y="4736592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658368" y="5010912"/>
            <a:ext cx="457200" cy="45720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71600" y="49377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faltaría para afirmar que TH3 causó la disminución de reportes?</a:t>
            </a:r>
            <a:endParaRPr lang="en-US" sz="1850" dirty="0"/>
          </a:p>
        </p:txBody>
      </p:sp>
      <p:sp>
        <p:nvSpPr>
          <p:cNvPr id="27" name="Shape 24"/>
          <p:cNvSpPr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176272" y="56692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una comparación donde el sistema de pruebas sea lo único que cambie.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658368" y="6364224"/>
            <a:ext cx="10872216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737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0" b="1" dirty="0">
                <a:solidFill>
                  <a:srgbClr val="1D3A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1200" dirty="0"/>
          </a:p>
        </p:txBody>
      </p:sp>
      <p:sp>
        <p:nvSpPr>
          <p:cNvPr id="9" name="Text 6"/>
          <p:cNvSpPr txBox="1"/>
          <p:nvPr/>
        </p:nvSpPr>
        <p:spPr>
          <a:xfrm>
            <a:off x="3419856" y="188366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spc="20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30 MINUTOS</a:t>
            </a:r>
            <a:endParaRPr lang="en-US" sz="1140" dirty="0"/>
          </a:p>
        </p:txBody>
      </p:sp>
      <p:sp>
        <p:nvSpPr>
          <p:cNvPr id="10" name="Text 7"/>
          <p:cNvSpPr txBox="1"/>
          <p:nvPr/>
        </p:nvSpPr>
        <p:spPr>
          <a:xfrm>
            <a:off x="3419856" y="2267712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primera prueba no ejecuta el programa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3419856" y="3602736"/>
            <a:ext cx="2011680" cy="64008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19856" y="3895344"/>
            <a:ext cx="78181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estática lee el código sin ponerlo en marcha. Puede detectar contradicciones entre lo que declaramos y la forma en que usamos los datos.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19856" y="52303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= qué recibe una función y qué promete devolver. La herramienta no lo adivina: alguien debe declararlo.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DOS FAMILIAS DE PRUEBA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diferencia es de dónde sale la evidencia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norma separa las pruebas por una pregunta concreta: ¿el programa se ejecuta durante la comprobación?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5175504" cy="3310128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22576"/>
            <a:ext cx="5175504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786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ESTÁTICA</a:t>
            </a:r>
            <a:endParaRPr lang="en-US" sz="1040" dirty="0"/>
          </a:p>
        </p:txBody>
      </p:sp>
      <p:sp>
        <p:nvSpPr>
          <p:cNvPr id="14" name="Text 11"/>
          <p:cNvSpPr txBox="1"/>
          <p:nvPr/>
        </p:nvSpPr>
        <p:spPr>
          <a:xfrm>
            <a:off x="3813048" y="25237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EJECUTA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 EVIDENCIA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9264" y="3310128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código, estructura y declaraciones.</a:t>
            </a:r>
            <a:endParaRPr lang="en-US" sz="1520" dirty="0"/>
          </a:p>
        </p:txBody>
      </p:sp>
      <p:sp>
        <p:nvSpPr>
          <p:cNvPr id="17" name="Shape 14"/>
          <p:cNvSpPr/>
          <p:nvPr/>
        </p:nvSpPr>
        <p:spPr>
          <a:xfrm>
            <a:off x="969264" y="3858768"/>
            <a:ext cx="45537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969264" y="4059936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 · verificador de tipos: contrasta declaraciones con usos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· linter: busca patrones y reglas en el código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501091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código es consistente con lo que declara?</a:t>
            </a:r>
            <a:endParaRPr lang="en-US" sz="1430" dirty="0"/>
          </a:p>
        </p:txBody>
      </p:sp>
      <p:sp>
        <p:nvSpPr>
          <p:cNvPr id="20" name="Shape 17"/>
          <p:cNvSpPr/>
          <p:nvPr/>
        </p:nvSpPr>
        <p:spPr>
          <a:xfrm>
            <a:off x="6382512" y="2322576"/>
            <a:ext cx="5148072" cy="3310128"/>
          </a:xfrm>
          <a:prstGeom prst="rect">
            <a:avLst/>
          </a:prstGeom>
          <a:solidFill>
            <a:srgbClr val="F3EAE1"/>
          </a:solidFill>
          <a:ln w="12700">
            <a:solidFill>
              <a:srgbClr val="F3EA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2322576"/>
            <a:ext cx="5148072" cy="914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93408" y="25786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15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DINÁMICA</a:t>
            </a:r>
            <a:endParaRPr lang="en-US" sz="1040" dirty="0"/>
          </a:p>
        </p:txBody>
      </p:sp>
      <p:sp>
        <p:nvSpPr>
          <p:cNvPr id="23" name="Text 20"/>
          <p:cNvSpPr txBox="1"/>
          <p:nvPr/>
        </p:nvSpPr>
        <p:spPr>
          <a:xfrm>
            <a:off x="9537192" y="25237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EJECUTA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693408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15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 EVIDENCIA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693408" y="331012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el comportamiento mientras corre.</a:t>
            </a:r>
            <a:endParaRPr lang="en-US" sz="1520" dirty="0"/>
          </a:p>
        </p:txBody>
      </p:sp>
      <p:sp>
        <p:nvSpPr>
          <p:cNvPr id="26" name="Shape 23"/>
          <p:cNvSpPr/>
          <p:nvPr/>
        </p:nvSpPr>
        <p:spPr>
          <a:xfrm>
            <a:off x="6693408" y="3858768"/>
            <a:ext cx="452628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6693408" y="4059936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ejecutor de pruebas: entrega entradas y compara resultados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693408" y="50109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ocurrió cuando el programa se ejecutó?</a:t>
            </a:r>
            <a:endParaRPr lang="en-US" sz="1430" dirty="0"/>
          </a:p>
        </p:txBody>
      </p:sp>
      <p:sp>
        <p:nvSpPr>
          <p:cNvPr id="29" name="Text 26"/>
          <p:cNvSpPr txBox="1"/>
          <p:nvPr/>
        </p:nvSpPr>
        <p:spPr>
          <a:xfrm>
            <a:off x="658368" y="5925312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dos nombres para lo mismo: cada familia puede detectar problemas que la otra no observa.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POR QUÉ SUMAR OTRA BARRERA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proyecto con muchas pruebas todavía encontró más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Zulip es una aplicación web de código abierto; su backend —la lógica que corre en el servidor— está escrito en Python.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3273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87168"/>
            <a:ext cx="73152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7249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30175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de pruebas</a:t>
            </a:r>
            <a:endParaRPr lang="en-US" sz="172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«inusualmente alta»</a:t>
            </a:r>
            <a:endParaRPr lang="en-US" sz="1720" dirty="0"/>
          </a:p>
        </p:txBody>
      </p:sp>
      <p:sp>
        <p:nvSpPr>
          <p:cNvPr id="15" name="Shape 12"/>
          <p:cNvSpPr/>
          <p:nvPr/>
        </p:nvSpPr>
        <p:spPr>
          <a:xfrm>
            <a:off x="4005072" y="2999232"/>
            <a:ext cx="310896" cy="402336"/>
          </a:xfrm>
          <a:prstGeom prst="chevron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34256" y="2487168"/>
            <a:ext cx="3273552" cy="1444752"/>
          </a:xfrm>
          <a:prstGeom prst="roundRect">
            <a:avLst>
              <a:gd name="adj" fmla="val 3797"/>
            </a:avLst>
          </a:prstGeom>
          <a:solidFill>
            <a:srgbClr val="E8F1F2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34256" y="2487168"/>
            <a:ext cx="73152" cy="144475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45152" y="27249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645152" y="30175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del backend</a:t>
            </a:r>
            <a:endParaRPr lang="en-US" sz="172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anotado con tipos</a:t>
            </a:r>
            <a:endParaRPr lang="en-US" sz="1720" dirty="0"/>
          </a:p>
        </p:txBody>
      </p:sp>
      <p:sp>
        <p:nvSpPr>
          <p:cNvPr id="20" name="Shape 17"/>
          <p:cNvSpPr/>
          <p:nvPr/>
        </p:nvSpPr>
        <p:spPr>
          <a:xfrm>
            <a:off x="7680960" y="2999232"/>
            <a:ext cx="310896" cy="402336"/>
          </a:xfrm>
          <a:prstGeom prst="chevron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10144" y="2487168"/>
            <a:ext cx="3273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0144" y="2487168"/>
            <a:ext cx="73152" cy="14447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21040" y="27249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0175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Decenas de defectos</a:t>
            </a:r>
            <a:endParaRPr lang="en-US" sz="172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latentes señalados</a:t>
            </a:r>
            <a:endParaRPr lang="en-US" sz="1720" dirty="0"/>
          </a:p>
        </p:txBody>
      </p:sp>
      <p:sp>
        <p:nvSpPr>
          <p:cNvPr id="25" name="Text 22"/>
          <p:cNvSpPr txBox="1"/>
          <p:nvPr/>
        </p:nvSpPr>
        <p:spPr>
          <a:xfrm>
            <a:off x="658368" y="43525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50.000</a:t>
            </a:r>
            <a:endParaRPr lang="en-US" sz="3600" dirty="0"/>
          </a:p>
        </p:txBody>
      </p:sp>
      <p:sp>
        <p:nvSpPr>
          <p:cNvPr id="26" name="Text 23"/>
          <p:cNvSpPr txBox="1"/>
          <p:nvPr/>
        </p:nvSpPr>
        <p:spPr>
          <a:xfrm>
            <a:off x="3474720" y="4425696"/>
            <a:ext cx="4096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de Python en el backend recibieron contratos de tipos.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699248" y="4169664"/>
            <a:ext cx="3831336" cy="10058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73568" y="435254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2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LATENTE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973568" y="462686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existe en el código, pero todavía no se manifestó ni fue reportado.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658368" y="5449824"/>
            <a:ext cx="10872216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" y="5559552"/>
            <a:ext cx="10241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lectura correcta no es «las pruebas fallaron». Es: el tipado y la ejecución observan clases distintas de problema.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EL VERIFICADOR SE QUEDA CALLADO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tipos declarados hay poco que comparar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puede fallar y, aun así, el verificador puede informar cero errores.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5596128" cy="1993392"/>
          </a:xfrm>
          <a:prstGeom prst="roundRect">
            <a:avLst>
              <a:gd name="adj" fmla="val 18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14016"/>
            <a:ext cx="53400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87168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función sin anotaciones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71216"/>
            <a:ext cx="5175504" cy="12435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65392" y="2304288"/>
            <a:ext cx="4965192" cy="1993392"/>
          </a:xfrm>
          <a:prstGeom prst="roundRect">
            <a:avLst>
              <a:gd name="adj" fmla="val 183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93408" y="2414016"/>
            <a:ext cx="47091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21424" y="2487168"/>
            <a:ext cx="4453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configuración y revisión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84848" y="28712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9" name="Text 15"/>
          <p:cNvSpPr/>
          <p:nvPr/>
        </p:nvSpPr>
        <p:spPr>
          <a:xfrm>
            <a:off x="7095744" y="2871216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init</a:t>
            </a:r>
            <a:endParaRPr lang="en-US" sz="1060" dirty="0"/>
          </a:p>
        </p:txBody>
      </p:sp>
      <p:sp>
        <p:nvSpPr>
          <p:cNvPr id="20" name="Text 16"/>
          <p:cNvSpPr/>
          <p:nvPr/>
        </p:nvSpPr>
        <p:spPr>
          <a:xfrm>
            <a:off x="6784848" y="3127248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 [tool.pyrefly] en pyproject.toml</a:t>
            </a:r>
            <a:endParaRPr lang="en-US" sz="1060" dirty="0"/>
          </a:p>
        </p:txBody>
      </p:sp>
      <p:sp>
        <p:nvSpPr>
          <p:cNvPr id="21" name="Text 17"/>
          <p:cNvSpPr/>
          <p:nvPr/>
        </p:nvSpPr>
        <p:spPr>
          <a:xfrm>
            <a:off x="6784848" y="33832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22" name="Text 18"/>
          <p:cNvSpPr/>
          <p:nvPr/>
        </p:nvSpPr>
        <p:spPr>
          <a:xfrm>
            <a:off x="7095744" y="3383280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060" dirty="0"/>
          </a:p>
        </p:txBody>
      </p:sp>
      <p:sp>
        <p:nvSpPr>
          <p:cNvPr id="23" name="Text 19"/>
          <p:cNvSpPr/>
          <p:nvPr/>
        </p:nvSpPr>
        <p:spPr>
          <a:xfrm>
            <a:off x="6784848" y="3639312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0 errors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658368" y="4608576"/>
            <a:ext cx="2542032" cy="694944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41248" y="471830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1682496" y="469087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no declarado</a:t>
            </a:r>
            <a:endParaRPr lang="en-US" sz="1120" dirty="0"/>
          </a:p>
        </p:txBody>
      </p:sp>
      <p:sp>
        <p:nvSpPr>
          <p:cNvPr id="27" name="Shape 23"/>
          <p:cNvSpPr/>
          <p:nvPr/>
        </p:nvSpPr>
        <p:spPr>
          <a:xfrm>
            <a:off x="3511296" y="4608576"/>
            <a:ext cx="2542032" cy="694944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694176" y="471830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4535424" y="469087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no declarado</a:t>
            </a:r>
            <a:endParaRPr lang="en-US" sz="1120" dirty="0"/>
          </a:p>
        </p:txBody>
      </p:sp>
      <p:sp>
        <p:nvSpPr>
          <p:cNvPr id="30" name="Shape 26"/>
          <p:cNvSpPr/>
          <p:nvPr/>
        </p:nvSpPr>
        <p:spPr>
          <a:xfrm>
            <a:off x="6364224" y="4608576"/>
            <a:ext cx="2542032" cy="694944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547104" y="471830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7388352" y="469087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sin contrato</a:t>
            </a:r>
            <a:endParaRPr lang="en-US" sz="1120" dirty="0"/>
          </a:p>
        </p:txBody>
      </p:sp>
      <p:sp>
        <p:nvSpPr>
          <p:cNvPr id="33" name="Text 29"/>
          <p:cNvSpPr txBox="1"/>
          <p:nvPr/>
        </p:nvSpPr>
        <p:spPr>
          <a:xfrm>
            <a:off x="9253728" y="464515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9765792" y="46268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errores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658368" y="5596128"/>
            <a:ext cx="10872216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69264" y="568756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«0 errores» significa «no encontré contradicciones con lo declarado». Aquí casi nada fue declarado.</a:t>
            </a:r>
            <a:endParaRPr lang="en-US" sz="14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ANOTAR NO CORRIGE: REVELA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lógica queda igual; aparece un contrato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contrato de tipos declara qué recibe una función y qué promete devolver.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5614416" cy="2523744"/>
          </a:xfrm>
          <a:prstGeom prst="roundRect">
            <a:avLst>
              <a:gd name="adj" fmla="val 144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95728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68880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misma lógica, tipos declarados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52928"/>
            <a:ext cx="5193792" cy="17739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65392" y="2286000"/>
            <a:ext cx="4965192" cy="2523744"/>
          </a:xfrm>
          <a:prstGeom prst="roundRect">
            <a:avLst>
              <a:gd name="adj" fmla="val 144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93408" y="2395728"/>
            <a:ext cx="47091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21424" y="2468880"/>
            <a:ext cx="4453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 · diagnóstico real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84848" y="28529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70" dirty="0"/>
          </a:p>
        </p:txBody>
      </p:sp>
      <p:sp>
        <p:nvSpPr>
          <p:cNvPr id="19" name="Text 15"/>
          <p:cNvSpPr/>
          <p:nvPr/>
        </p:nvSpPr>
        <p:spPr>
          <a:xfrm>
            <a:off x="7095744" y="2852928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970" dirty="0"/>
          </a:p>
        </p:txBody>
      </p:sp>
      <p:sp>
        <p:nvSpPr>
          <p:cNvPr id="20" name="Text 16"/>
          <p:cNvSpPr/>
          <p:nvPr/>
        </p:nvSpPr>
        <p:spPr>
          <a:xfrm>
            <a:off x="6784848" y="3108960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list[float] | None no puede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6784848" y="3364992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entregarse donde se exige list[float]</a:t>
            </a:r>
            <a:endParaRPr lang="en-US" sz="970" dirty="0"/>
          </a:p>
        </p:txBody>
      </p:sp>
      <p:sp>
        <p:nvSpPr>
          <p:cNvPr id="22" name="Text 18"/>
          <p:cNvSpPr/>
          <p:nvPr/>
        </p:nvSpPr>
        <p:spPr>
          <a:xfrm>
            <a:off x="6784848" y="3621024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| return nota_final(notas)</a:t>
            </a:r>
            <a:endParaRPr lang="en-US" sz="970" dirty="0"/>
          </a:p>
        </p:txBody>
      </p:sp>
      <p:sp>
        <p:nvSpPr>
          <p:cNvPr id="23" name="Text 19"/>
          <p:cNvSpPr/>
          <p:nvPr/>
        </p:nvSpPr>
        <p:spPr>
          <a:xfrm>
            <a:off x="6784848" y="3877056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tipo declarado no permite None.</a:t>
            </a:r>
            <a:endParaRPr lang="en-US" sz="970" dirty="0"/>
          </a:p>
        </p:txBody>
      </p:sp>
      <p:sp>
        <p:nvSpPr>
          <p:cNvPr id="24" name="Text 20"/>
          <p:cNvSpPr/>
          <p:nvPr/>
        </p:nvSpPr>
        <p:spPr>
          <a:xfrm>
            <a:off x="6784848" y="4133088"/>
            <a:ext cx="4215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1 error</a:t>
            </a:r>
            <a:endParaRPr lang="en-US" sz="970" dirty="0"/>
          </a:p>
        </p:txBody>
      </p:sp>
      <p:sp>
        <p:nvSpPr>
          <p:cNvPr id="25" name="Shape 21"/>
          <p:cNvSpPr/>
          <p:nvPr/>
        </p:nvSpPr>
        <p:spPr>
          <a:xfrm>
            <a:off x="658368" y="5065776"/>
            <a:ext cx="54864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77824" y="50474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alumno: str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77824" y="534009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debe ser texto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4256" y="5065776"/>
            <a:ext cx="54864" cy="6400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53712" y="50474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 list[float]]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553712" y="534009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nombre apunta a una lista de notas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010144" y="5065776"/>
            <a:ext cx="54864" cy="6400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229600" y="50474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float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229600" y="534009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promete devolver una nota decimal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658368" y="5961888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cambió la declaración. El defecto ya estaba en la función anterior.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INTERPRETAR EL DIAGNÓSTICO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verificador encontró una decisión que nadie tomó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significa ausencia de valor: aparece cuando el nombre buscado no existe en el registro.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0872216" cy="658368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5054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registro.get("Ana")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27248" y="2468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50545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list[float]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85232" y="24688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742432" y="25054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nota_final(lista)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381744" y="249631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1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" y="3200400"/>
            <a:ext cx="10872216" cy="658368"/>
          </a:xfrm>
          <a:prstGeom prst="rect">
            <a:avLst/>
          </a:prstGeom>
          <a:solidFill>
            <a:srgbClr val="F3EAE1"/>
          </a:solidFill>
          <a:ln w="12700">
            <a:solidFill>
              <a:srgbClr val="F3EA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registro.get("X")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127248" y="33284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36499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285232" y="33284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742432" y="33649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nota_final(None)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1744" y="33558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spc="11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" y="4169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HACER EL PRODUCTO SI EL ALUMNO NO EXISTE?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58368" y="4553712"/>
            <a:ext cx="327355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4553712"/>
            <a:ext cx="73152" cy="107899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2688" y="471830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explícito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932688" y="502920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Detenerse y explicar qué alumno no existe.</a:t>
            </a:r>
            <a:endParaRPr lang="en-US" sz="1160" dirty="0"/>
          </a:p>
        </p:txBody>
      </p:sp>
      <p:sp>
        <p:nvSpPr>
          <p:cNvPr id="30" name="Shape 27"/>
          <p:cNvSpPr/>
          <p:nvPr/>
        </p:nvSpPr>
        <p:spPr>
          <a:xfrm>
            <a:off x="4334256" y="4553712"/>
            <a:ext cx="327355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34256" y="4553712"/>
            <a:ext cx="73152" cy="107899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08576" y="471830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cero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4608576" y="502920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la ausencia como una calificación válida.</a:t>
            </a:r>
            <a:endParaRPr lang="en-US" sz="1160" dirty="0"/>
          </a:p>
        </p:txBody>
      </p:sp>
      <p:sp>
        <p:nvSpPr>
          <p:cNvPr id="34" name="Shape 31"/>
          <p:cNvSpPr/>
          <p:nvPr/>
        </p:nvSpPr>
        <p:spPr>
          <a:xfrm>
            <a:off x="8010144" y="4553712"/>
            <a:ext cx="327355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10144" y="4553712"/>
            <a:ext cx="73152" cy="107899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84464" y="471830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ausente</a:t>
            </a:r>
            <a:endParaRPr lang="en-US" sz="1450" dirty="0"/>
          </a:p>
        </p:txBody>
      </p:sp>
      <p:sp>
        <p:nvSpPr>
          <p:cNvPr id="37" name="Text 34"/>
          <p:cNvSpPr txBox="1"/>
          <p:nvPr/>
        </p:nvSpPr>
        <p:spPr>
          <a:xfrm>
            <a:off x="8284464" y="502920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Devolver None y obligar a quien llama a decidir.</a:t>
            </a:r>
            <a:endParaRPr lang="en-US" sz="1160" dirty="0"/>
          </a:p>
        </p:txBody>
      </p:sp>
      <p:sp>
        <p:nvSpPr>
          <p:cNvPr id="38" name="Shape 35"/>
          <p:cNvSpPr/>
          <p:nvPr/>
        </p:nvSpPr>
        <p:spPr>
          <a:xfrm>
            <a:off x="658368" y="5852160"/>
            <a:ext cx="10872216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14400" y="5888736"/>
            <a:ext cx="10351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tres opciones pueden escribirse; ninguna herramienta puede autorizar cuál corresponde al producto.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BLOQUE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seguir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457200" cy="457200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15798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anotar los tipos no cambia la lógica, ¿por qué aparecen errores que antes no aparecían?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176272" y="288950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no había contrato contra el cual comparar; después sí.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658368" y="3346704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658368" y="3621024"/>
            <a:ext cx="457200" cy="457200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54787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 error de tipos puede revelar una decisión de producto pendiente?</a:t>
            </a:r>
            <a:endParaRPr lang="en-US" sz="1850" dirty="0"/>
          </a:p>
        </p:txBody>
      </p:sp>
      <p:sp>
        <p:nvSpPr>
          <p:cNvPr id="20" name="Shape 17"/>
          <p:cNvSpPr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176272" y="427939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qué debe ocurrir en el caso que el tipo dejó al descubierto.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658368" y="4736592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658368" y="5010912"/>
            <a:ext cx="457200" cy="45720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71600" y="49377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exactamente que una herramienta estática no reporte nada?</a:t>
            </a:r>
            <a:endParaRPr lang="en-US" sz="1850" dirty="0"/>
          </a:p>
        </p:txBody>
      </p:sp>
      <p:sp>
        <p:nvSpPr>
          <p:cNvPr id="27" name="Shape 24"/>
          <p:cNvSpPr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176272" y="56692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«no hay problemas» de «no puedo afirmar nada con lo declarado».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658368" y="6364224"/>
            <a:ext cx="10872216" cy="0"/>
          </a:xfrm>
          <a:prstGeom prst="line">
            <a:avLst/>
          </a:prstGeom>
          <a:noFill/>
          <a:ln w="12700">
            <a:solidFill>
              <a:srgbClr val="0E6E7A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2252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536192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2743200" y="1261872"/>
            <a:ext cx="0" cy="438912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3127248" y="1261872"/>
            <a:ext cx="7452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segunda barrera,</a:t>
            </a:r>
            <a:endParaRPr lang="en-US" sz="37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el techo de las dos</a:t>
            </a:r>
            <a:endParaRPr lang="en-US" sz="3700" dirty="0"/>
          </a:p>
        </p:txBody>
      </p:sp>
      <p:sp>
        <p:nvSpPr>
          <p:cNvPr id="12" name="Text 9"/>
          <p:cNvSpPr txBox="1"/>
          <p:nvPr/>
        </p:nvSpPr>
        <p:spPr>
          <a:xfrm>
            <a:off x="3145536" y="2944368"/>
            <a:ext cx="7818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detecta patrones riesgosos; Pyrefly comprueba contratos. Ninguno conoce por sí solo el resultado que el producto necesita.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4315968"/>
            <a:ext cx="3310128" cy="1078992"/>
          </a:xfrm>
          <a:prstGeom prst="roundRect">
            <a:avLst>
              <a:gd name="adj" fmla="val 5085"/>
            </a:avLst>
          </a:prstGeom>
          <a:solidFill>
            <a:srgbClr val="163247"/>
          </a:solidFill>
          <a:ln w="12700">
            <a:solidFill>
              <a:srgbClr val="49617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4553712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499616" y="446227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visible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1499616" y="479145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que zip() descarta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4334256" y="4315968"/>
            <a:ext cx="3310128" cy="1078992"/>
          </a:xfrm>
          <a:prstGeom prst="roundRect">
            <a:avLst>
              <a:gd name="adj" fmla="val 5085"/>
            </a:avLst>
          </a:prstGeom>
          <a:solidFill>
            <a:srgbClr val="19384A"/>
          </a:solidFill>
          <a:ln w="12700">
            <a:solidFill>
              <a:srgbClr val="49617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53712" y="4553712"/>
            <a:ext cx="457200" cy="457200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53712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175504" y="446227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5175504" y="479145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B905 en Ruff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8010144" y="4315968"/>
            <a:ext cx="3310128" cy="1078992"/>
          </a:xfrm>
          <a:prstGeom prst="roundRect">
            <a:avLst>
              <a:gd name="adj" fmla="val 5085"/>
            </a:avLst>
          </a:prstGeom>
          <a:solidFill>
            <a:srgbClr val="163247"/>
          </a:solidFill>
          <a:ln w="12700">
            <a:solidFill>
              <a:srgbClr val="49617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29600" y="4553712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851392" y="446227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Encontrar el techo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8851392" y="479145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resultado incorrecto</a:t>
            </a:r>
            <a:endParaRPr lang="en-US" sz="118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59253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MINUTOS · DEMOSTRACIÓN Y ANÁLISIS INDIVIDUAL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EL DEFECTO QUE PARECE UN RESULTADO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zip() se detiene sin avisar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zip() empareja posiciones y termina cuando se acaba la secuencia más corta.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5806440" cy="2999232"/>
          </a:xfrm>
          <a:prstGeom prst="roundRect">
            <a:avLst>
              <a:gd name="adj" fmla="val 12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95728"/>
            <a:ext cx="55504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68880"/>
            <a:ext cx="5330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función completa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52928"/>
            <a:ext cx="5385816" cy="22494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84848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 ENTRADA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784848" y="2651760"/>
            <a:ext cx="960120" cy="438912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84848" y="2724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845552" y="272491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47888" y="2651760"/>
            <a:ext cx="960120" cy="438912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47888" y="27249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400032" y="2724912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3.0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784848" y="3310128"/>
            <a:ext cx="960120" cy="438912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84848" y="33832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845552" y="33832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247888" y="3310128"/>
            <a:ext cx="960120" cy="438912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47888" y="33832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9400032" y="338328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2.5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784848" y="3968496"/>
            <a:ext cx="960120" cy="438912"/>
          </a:xfrm>
          <a:prstGeom prst="rect">
            <a:avLst/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784848" y="40416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7845552" y="404164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247888" y="3968496"/>
            <a:ext cx="960120" cy="438912"/>
          </a:xfrm>
          <a:prstGeom prst="rect">
            <a:avLst/>
          </a:prstGeom>
          <a:solidFill>
            <a:srgbClr val="F3EAE1"/>
          </a:solidFill>
          <a:ln w="12700">
            <a:solidFill>
              <a:srgbClr val="F3EAE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247888" y="40416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9400032" y="404164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IGNORADA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784848" y="4736592"/>
            <a:ext cx="4736592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059168" y="4864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5.5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8997696" y="488289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plausible, pero incorrecto</a:t>
            </a:r>
            <a:endParaRPr lang="en-US" sz="1180" dirty="0"/>
          </a:p>
        </p:txBody>
      </p:sp>
      <p:sp>
        <p:nvSpPr>
          <p:cNvPr id="37" name="Shape 33"/>
          <p:cNvSpPr/>
          <p:nvPr/>
        </p:nvSpPr>
        <p:spPr>
          <a:xfrm>
            <a:off x="658368" y="5596128"/>
            <a:ext cx="2651760" cy="530352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41248" y="57241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2157984" y="572414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errores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3566160" y="5596128"/>
            <a:ext cx="2651760" cy="530352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749040" y="572414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por defecto</a:t>
            </a:r>
            <a:endParaRPr lang="en-US" sz="1150" dirty="0"/>
          </a:p>
        </p:txBody>
      </p:sp>
      <p:sp>
        <p:nvSpPr>
          <p:cNvPr id="42" name="Text 38"/>
          <p:cNvSpPr txBox="1"/>
          <p:nvPr/>
        </p:nvSpPr>
        <p:spPr>
          <a:xfrm>
            <a:off x="5065776" y="572414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alertas</a:t>
            </a:r>
            <a:endParaRPr lang="en-US" sz="1150" dirty="0"/>
          </a:p>
        </p:txBody>
      </p:sp>
      <p:sp>
        <p:nvSpPr>
          <p:cNvPr id="43" name="Text 39"/>
          <p:cNvSpPr txBox="1"/>
          <p:nvPr/>
        </p:nvSpPr>
        <p:spPr>
          <a:xfrm>
            <a:off x="6784848" y="5650992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no significa correcto: el 4.0 desapareció del cálculo.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LA CONFIGURACIÓN TAMBIÉN DECIDE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 ve lo que le pedimos que vea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B905 pertenece a la familia B de flake8-bugbear, que no está activa por defecto.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3749040" cy="1371600"/>
          </a:xfrm>
          <a:prstGeom prst="roundRect">
            <a:avLst>
              <a:gd name="adj" fmla="val 2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14016"/>
            <a:ext cx="34930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87168"/>
            <a:ext cx="3273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pyproject.toml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71216"/>
            <a:ext cx="3328416" cy="6217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58368" y="385876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extend-select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" y="416966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una familia de reglas a las que Ruff ya tenía activas; no reemplaza la selección anterior.</a:t>
            </a:r>
            <a:endParaRPr lang="en-US" sz="1320" dirty="0"/>
          </a:p>
        </p:txBody>
      </p:sp>
      <p:sp>
        <p:nvSpPr>
          <p:cNvPr id="17" name="Shape 13"/>
          <p:cNvSpPr/>
          <p:nvPr/>
        </p:nvSpPr>
        <p:spPr>
          <a:xfrm>
            <a:off x="4736592" y="2304288"/>
            <a:ext cx="6793992" cy="2578608"/>
          </a:xfrm>
          <a:prstGeom prst="roundRect">
            <a:avLst>
              <a:gd name="adj" fmla="val 141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64608" y="2414016"/>
            <a:ext cx="65379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92624" y="2487168"/>
            <a:ext cx="6281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Ruff después de activar B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956048" y="28712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5266944" y="2871216"/>
            <a:ext cx="6044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4956048" y="3127248"/>
            <a:ext cx="6044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B905 `zip()` without an explicit `strict=` parameter</a:t>
            </a:r>
            <a:endParaRPr lang="en-US" sz="1120" dirty="0"/>
          </a:p>
        </p:txBody>
      </p:sp>
      <p:sp>
        <p:nvSpPr>
          <p:cNvPr id="23" name="Text 19"/>
          <p:cNvSpPr/>
          <p:nvPr/>
        </p:nvSpPr>
        <p:spPr>
          <a:xfrm>
            <a:off x="4956048" y="3383280"/>
            <a:ext cx="6044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--&gt; notas.py:18:35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4956048" y="3639312"/>
            <a:ext cx="6044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help: Add explicit value for parameter `strict=`</a:t>
            </a:r>
            <a:endParaRPr lang="en-US" sz="1120" dirty="0"/>
          </a:p>
        </p:txBody>
      </p:sp>
      <p:sp>
        <p:nvSpPr>
          <p:cNvPr id="25" name="Text 21"/>
          <p:cNvSpPr/>
          <p:nvPr/>
        </p:nvSpPr>
        <p:spPr>
          <a:xfrm>
            <a:off x="4956048" y="3895344"/>
            <a:ext cx="6044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error.</a:t>
            </a:r>
            <a:endParaRPr lang="en-US" sz="1120" dirty="0"/>
          </a:p>
        </p:txBody>
      </p:sp>
      <p:sp>
        <p:nvSpPr>
          <p:cNvPr id="26" name="Shape 22"/>
          <p:cNvSpPr/>
          <p:nvPr/>
        </p:nvSpPr>
        <p:spPr>
          <a:xfrm>
            <a:off x="658368" y="5285232"/>
            <a:ext cx="5157216" cy="804672"/>
          </a:xfrm>
          <a:prstGeom prst="rect">
            <a:avLst/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77824" y="5449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792224" y="5394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desactivada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3529584" y="53949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181344" y="5285232"/>
            <a:ext cx="5157216" cy="804672"/>
          </a:xfrm>
          <a:prstGeom prst="rect">
            <a:avLst/>
          </a:prstGeom>
          <a:solidFill>
            <a:srgbClr val="F3EAE1"/>
          </a:solidFill>
          <a:ln w="12700">
            <a:solidFill>
              <a:srgbClr val="F3EAE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0800" y="5449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7315200" y="5394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activada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9052560" y="53949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B905 encontrado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658368" y="6199632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cobertura del linter depende de una decisión registrada en la configuración.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DE INVISIBLE A RUIDOSO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strict=True impide perder datos en silencio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 no inventa pesos: obliga a resolver la inconsistencia antes de calcular.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10872216" cy="1152144"/>
          </a:xfrm>
          <a:prstGeom prst="roundRect">
            <a:avLst>
              <a:gd name="adj" fmla="val 31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95728"/>
            <a:ext cx="106161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68880"/>
            <a:ext cx="10396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mínimo en la comprensión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52928"/>
            <a:ext cx="10451592" cy="4023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8368" y="3767328"/>
            <a:ext cx="5349240" cy="1627632"/>
          </a:xfrm>
          <a:prstGeom prst="roundRect">
            <a:avLst>
              <a:gd name="adj" fmla="val 2809"/>
            </a:avLst>
          </a:prstGeom>
          <a:solidFill>
            <a:srgbClr val="E9F2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4400" y="39502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LONGITUD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4315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notas + 3 pesos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560320" y="42793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2962656" y="4297680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zip() forma 3 pares</a:t>
            </a:r>
            <a:endParaRPr lang="en-US" sz="1270" dirty="0"/>
          </a:p>
        </p:txBody>
      </p:sp>
      <p:sp>
        <p:nvSpPr>
          <p:cNvPr id="20" name="Shape 16"/>
          <p:cNvSpPr/>
          <p:nvPr/>
        </p:nvSpPr>
        <p:spPr>
          <a:xfrm>
            <a:off x="914400" y="4754880"/>
            <a:ext cx="48463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1" name="Text 17"/>
          <p:cNvSpPr txBox="1"/>
          <p:nvPr/>
        </p:nvSpPr>
        <p:spPr>
          <a:xfrm>
            <a:off x="914400" y="4937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continúa el cálculo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181344" y="3767328"/>
            <a:ext cx="5349240" cy="1627632"/>
          </a:xfrm>
          <a:prstGeom prst="roundRect">
            <a:avLst>
              <a:gd name="adj" fmla="val 2809"/>
            </a:avLst>
          </a:prstGeom>
          <a:solidFill>
            <a:srgbClr val="F3EAE1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37376" y="39502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 DISTINTA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6437376" y="431596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notas + 2 pesos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083296" y="42793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8485632" y="4297680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zip() detecta el desfase</a:t>
            </a:r>
            <a:endParaRPr lang="en-US" sz="1270" dirty="0"/>
          </a:p>
        </p:txBody>
      </p:sp>
      <p:sp>
        <p:nvSpPr>
          <p:cNvPr id="27" name="Shape 23"/>
          <p:cNvSpPr/>
          <p:nvPr/>
        </p:nvSpPr>
        <p:spPr>
          <a:xfrm>
            <a:off x="6437376" y="4754880"/>
            <a:ext cx="484632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8" name="Text 24"/>
          <p:cNvSpPr txBox="1"/>
          <p:nvPr/>
        </p:nvSpPr>
        <p:spPr>
          <a:xfrm>
            <a:off x="6437376" y="4937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lanza ValueError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58368" y="5705856"/>
            <a:ext cx="10872216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32688" y="5815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lo advierte leyendo el código; strict=True hace que Python lo detenga cuando se ejecuta.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NO TODAS LAS REGLAS PESAN IGUAL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Estilo y defecto exigen decisiones distintas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linter puede uniformar la escritura y también advertir patrones que cambian el comportamiento.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534924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95728"/>
            <a:ext cx="5349240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688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35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ESTILO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3090672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E501 · línea demasiado larga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3657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incumple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363931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queda menos legible o menos uniforme.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32688" y="4315968"/>
            <a:ext cx="477316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932688" y="4553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silencia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4517136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Silenciarla es una convención de equipo: se explica el criterio.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81344" y="2395728"/>
            <a:ext cx="534924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81344" y="2395728"/>
            <a:ext cx="5349240" cy="1097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55664" y="2688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3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DEFECTO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455664" y="3090672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B905 · zip() sin strict=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455664" y="3657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incumple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808976" y="363931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 puede producir un resultado imprevisto.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55664" y="4315968"/>
            <a:ext cx="477316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6455664" y="45537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silencia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808976" y="4517136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Silenciarla acepta un riesgo conocido: exige un argumento escrito.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8368" y="5705856"/>
            <a:ext cx="10872216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815584"/>
            <a:ext cx="1035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 hasta que el mensaje desaparezca no es una decisión técnica.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COMPLEMENTARIAS, NO INTERCAMBIABLES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dos barreras no se solapan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 compara contratos de tipos; Ruff reconoce patrones riesgosos y reglas de calidad.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5989320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468880"/>
            <a:ext cx="566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47688" y="2359152"/>
            <a:ext cx="2011680" cy="512064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24688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59368" y="2359152"/>
            <a:ext cx="2011680" cy="5120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23960" y="246888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2871216"/>
            <a:ext cx="5989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47688" y="287121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59368" y="287121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301752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zip() descarta elementos · B905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647688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659368" y="300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SÍ, con B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8368" y="3438144"/>
            <a:ext cx="5989320" cy="566928"/>
          </a:xfrm>
          <a:prstGeom prst="rect">
            <a:avLst/>
          </a:prstGeom>
          <a:solidFill>
            <a:srgbClr val="EDF1F3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47688" y="3438144"/>
            <a:ext cx="2011680" cy="566928"/>
          </a:xfrm>
          <a:prstGeom prst="rect">
            <a:avLst/>
          </a:prstGeom>
          <a:solidFill>
            <a:srgbClr val="EDF1F3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59368" y="3438144"/>
            <a:ext cx="2011680" cy="566928"/>
          </a:xfrm>
          <a:prstGeom prst="rect">
            <a:avLst/>
          </a:prstGeom>
          <a:solidFill>
            <a:srgbClr val="EDF1F3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" y="358444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donde se espera list[float]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647688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8659368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58368" y="4005072"/>
            <a:ext cx="5989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47688" y="400507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59368" y="400507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" y="4151376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float y devuelve str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647688" y="4142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8659368" y="4142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58368" y="4572000"/>
            <a:ext cx="5989320" cy="566928"/>
          </a:xfrm>
          <a:prstGeom prst="rect">
            <a:avLst/>
          </a:prstGeom>
          <a:solidFill>
            <a:srgbClr val="EDF1F3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47688" y="4572000"/>
            <a:ext cx="2011680" cy="566928"/>
          </a:xfrm>
          <a:prstGeom prst="rect">
            <a:avLst/>
          </a:prstGeom>
          <a:solidFill>
            <a:srgbClr val="EDF1F3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59368" y="4572000"/>
            <a:ext cx="2011680" cy="566928"/>
          </a:xfrm>
          <a:prstGeom prst="rect">
            <a:avLst/>
          </a:prstGeom>
          <a:solidFill>
            <a:srgbClr val="EDF1F3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1248" y="4718304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asignada y no usada · F841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6647688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8659368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58368" y="5138928"/>
            <a:ext cx="5989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647688" y="513892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59368" y="513892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41248" y="5285232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sin zona horaria · DTZ005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647688" y="5276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8659368" y="5276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658368" y="5907024"/>
            <a:ext cx="10872216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59536" y="5961888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verde juntas: el código respetó los contratos declarados y las reglas activas. Nada más.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EXPERIMENTO FINAL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verdes y un resultado incorrecto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Restauramos a propósito un redondeo que incumple la regla del producto: 3,95 debe informarse como 4,0.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4919472" cy="1572768"/>
          </a:xfrm>
          <a:prstGeom prst="roundRect">
            <a:avLst>
              <a:gd name="adj" fmla="val 23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32304"/>
            <a:ext cx="466344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05456"/>
            <a:ext cx="4443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versión ingenua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89504"/>
            <a:ext cx="4498848" cy="8229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8368" y="4114800"/>
            <a:ext cx="4919472" cy="1719072"/>
          </a:xfrm>
          <a:prstGeom prst="roundRect">
            <a:avLst>
              <a:gd name="adj" fmla="val 212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4224528"/>
            <a:ext cx="466344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4297680"/>
            <a:ext cx="4407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ejecución real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77824" y="46817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70" dirty="0"/>
          </a:p>
        </p:txBody>
      </p:sp>
      <p:sp>
        <p:nvSpPr>
          <p:cNvPr id="19" name="Text 15"/>
          <p:cNvSpPr/>
          <p:nvPr/>
        </p:nvSpPr>
        <p:spPr>
          <a:xfrm>
            <a:off x="1188720" y="4681728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970" dirty="0"/>
          </a:p>
        </p:txBody>
      </p:sp>
      <p:sp>
        <p:nvSpPr>
          <p:cNvPr id="20" name="Text 16"/>
          <p:cNvSpPr/>
          <p:nvPr/>
        </p:nvSpPr>
        <p:spPr>
          <a:xfrm>
            <a:off x="877824" y="4937760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nota_final([3.8, 4.1, 3.95]) == 4.0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877824" y="5193792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assert 3.9 == 4.0</a:t>
            </a:r>
            <a:endParaRPr lang="en-US" sz="970" dirty="0"/>
          </a:p>
        </p:txBody>
      </p:sp>
      <p:sp>
        <p:nvSpPr>
          <p:cNvPr id="22" name="Text 18"/>
          <p:cNvSpPr/>
          <p:nvPr/>
        </p:nvSpPr>
        <p:spPr>
          <a:xfrm>
            <a:off x="877824" y="5449824"/>
            <a:ext cx="4169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1 passed in 0.09s</a:t>
            </a:r>
            <a:endParaRPr lang="en-US" sz="970" dirty="0"/>
          </a:p>
        </p:txBody>
      </p:sp>
      <p:sp>
        <p:nvSpPr>
          <p:cNvPr id="23" name="Shape 19"/>
          <p:cNvSpPr/>
          <p:nvPr/>
        </p:nvSpPr>
        <p:spPr>
          <a:xfrm>
            <a:off x="5870448" y="2322576"/>
            <a:ext cx="5650992" cy="932688"/>
          </a:xfrm>
          <a:prstGeom prst="roundRect">
            <a:avLst>
              <a:gd name="adj" fmla="val 3922"/>
            </a:avLst>
          </a:prstGeom>
          <a:solidFill>
            <a:srgbClr val="E9F2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26480" y="2487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260336" y="245059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· 0 errores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126480" y="279806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tipos coinciden: entra list[float] y sale float.</a:t>
            </a:r>
            <a:endParaRPr lang="en-US" sz="1230" dirty="0"/>
          </a:p>
        </p:txBody>
      </p:sp>
      <p:sp>
        <p:nvSpPr>
          <p:cNvPr id="27" name="Shape 23"/>
          <p:cNvSpPr/>
          <p:nvPr/>
        </p:nvSpPr>
        <p:spPr>
          <a:xfrm>
            <a:off x="5870448" y="3456432"/>
            <a:ext cx="5650992" cy="932688"/>
          </a:xfrm>
          <a:prstGeom prst="roundRect">
            <a:avLst>
              <a:gd name="adj" fmla="val 3922"/>
            </a:avLst>
          </a:prstGeom>
          <a:solidFill>
            <a:srgbClr val="E9F2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26480" y="36210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260336" y="358444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 · sin alertas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126480" y="393192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 del código respeta las reglas activas.</a:t>
            </a:r>
            <a:endParaRPr lang="en-US" sz="1230" dirty="0"/>
          </a:p>
        </p:txBody>
      </p:sp>
      <p:sp>
        <p:nvSpPr>
          <p:cNvPr id="31" name="Shape 27"/>
          <p:cNvSpPr/>
          <p:nvPr/>
        </p:nvSpPr>
        <p:spPr>
          <a:xfrm>
            <a:off x="5870448" y="4590288"/>
            <a:ext cx="5650992" cy="932688"/>
          </a:xfrm>
          <a:prstGeom prst="roundRect">
            <a:avLst>
              <a:gd name="adj" fmla="val 3922"/>
            </a:avLst>
          </a:prstGeom>
          <a:solidFill>
            <a:srgbClr val="F3EAE1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126480" y="4754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7260336" y="471830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· falla la prueba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6126480" y="5065776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ejecutar aparece 3,9; el producto exige 4,0.</a:t>
            </a:r>
            <a:endParaRPr lang="en-US" sz="1230" dirty="0"/>
          </a:p>
        </p:txBody>
      </p:sp>
      <p:sp>
        <p:nvSpPr>
          <p:cNvPr id="35" name="Shape 31"/>
          <p:cNvSpPr/>
          <p:nvPr/>
        </p:nvSpPr>
        <p:spPr>
          <a:xfrm>
            <a:off x="5870448" y="5742432"/>
            <a:ext cx="5650992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108192" y="5833872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3,95 → 4,0 vive en el acuerdo del producto, no en los tipos ni en el estilo.</a:t>
            </a:r>
            <a:endParaRPr lang="en-US" sz="12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BLOQUE 3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seguir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457200" cy="457200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15798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desactivar una regla de defecto exige un argumento escrito?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176272" y="288950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qué riesgo se acepta cuando ese diagnóstico deja de aparecer.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658368" y="3346704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658368" y="3621024"/>
            <a:ext cx="457200" cy="457200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54787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Pyrefly y Ruff están en verde, ¿qué puedes afirmar sobre el proyecto?</a:t>
            </a:r>
            <a:endParaRPr lang="en-US" sz="1850" dirty="0"/>
          </a:p>
        </p:txBody>
      </p:sp>
      <p:sp>
        <p:nvSpPr>
          <p:cNvPr id="20" name="Shape 17"/>
          <p:cNvSpPr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176272" y="427939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Enuncia una afirmación acotada: contratos declarados y reglas activas.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658368" y="4736592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658368" y="5010912"/>
            <a:ext cx="457200" cy="45720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71600" y="49377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defecto de redondeo no se detecta leyendo el código?</a:t>
            </a:r>
            <a:endParaRPr lang="en-US" sz="1850" dirty="0"/>
          </a:p>
        </p:txBody>
      </p:sp>
      <p:sp>
        <p:nvSpPr>
          <p:cNvPr id="27" name="Shape 24"/>
          <p:cNvSpPr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176272" y="56692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dónde está escrita la regla que exige informar 3,95 como 4,0.</a:t>
            </a:r>
            <a:endParaRPr lang="en-US" sz="13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18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99616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2743200" y="1225296"/>
            <a:ext cx="0" cy="449884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3127248" y="1225296"/>
            <a:ext cx="77724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lo arregló…</a:t>
            </a:r>
            <a:endParaRPr lang="en-US" sz="3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¿o lo hizo desaparecer?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3145536" y="2980944"/>
            <a:ext cx="7644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corrección se audita con el caso que dejó de fallar, no con el silencio de la herramienta.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8368" y="4224528"/>
            <a:ext cx="4224528" cy="1170432"/>
          </a:xfrm>
          <a:prstGeom prst="roundRect">
            <a:avLst>
              <a:gd name="adj" fmla="val 4688"/>
            </a:avLst>
          </a:prstGeom>
          <a:solidFill>
            <a:srgbClr val="163247"/>
          </a:solidFill>
          <a:ln w="12700">
            <a:solidFill>
              <a:srgbClr val="4961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44622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PROPONE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4809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forma de dejar el análisis en verde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084064" y="451713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5980176" y="4224528"/>
            <a:ext cx="5550408" cy="1170432"/>
          </a:xfrm>
          <a:prstGeom prst="roundRect">
            <a:avLst>
              <a:gd name="adj" fmla="val 4688"/>
            </a:avLst>
          </a:prstGeom>
          <a:solidFill>
            <a:srgbClr val="19384A"/>
          </a:solidFill>
          <a:ln w="12700">
            <a:solidFill>
              <a:srgbClr val="4961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72784" y="44622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TÚ AUDITAS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72784" y="480974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comportamiento cambió y qué prueba lo demuestra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59253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MINUTOS · DEMOSTRACIÓN Y AUDITORÍA CON EVIDENCIA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EL ENCARGO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instrucción ya viene incompleta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diagnóstico técnico es claro; la decisión de producto todavía no existe.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4791456" cy="2578608"/>
          </a:xfrm>
          <a:prstGeom prst="roundRect">
            <a:avLst>
              <a:gd name="adj" fmla="val 14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14016"/>
            <a:ext cx="45354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87168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 · diagnóstico abierto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71216"/>
            <a:ext cx="4370832" cy="18288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724144" y="2304288"/>
            <a:ext cx="58064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24144" y="2304288"/>
            <a:ext cx="82296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53328" y="2523744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«Este código produce el siguiente error de tipos. Corrígelo.»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724144" y="3401568"/>
            <a:ext cx="5806440" cy="1481328"/>
          </a:xfrm>
          <a:prstGeom prst="roundRect">
            <a:avLst>
              <a:gd name="adj" fmla="val 246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52160" y="3511296"/>
            <a:ext cx="555040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80176" y="3584448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 · la salida rápida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943600" y="3968496"/>
            <a:ext cx="5056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errors. We can add suppression comments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943600" y="4224528"/>
            <a:ext cx="5056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silence them for you.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943600" y="4480560"/>
            <a:ext cx="5056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Would you like to suppress them? (y/N):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658368" y="5230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3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ENCARGO NO DICE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58368" y="5541264"/>
            <a:ext cx="10872216" cy="62179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32688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ocurrir cuando el alumno no existe?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5705856" y="568756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esa respuesta, el agente solo puede elegir por nosotros.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TRES DESENLACES POSIBLES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mensaje desaparece en los tres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Pyrefly son equivalentes; para el producto, no.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24528" y="2322576"/>
            <a:ext cx="3749040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24528" y="2505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95144" y="2962656"/>
            <a:ext cx="0" cy="530352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58368" y="3493008"/>
            <a:ext cx="327355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730752"/>
            <a:ext cx="530352" cy="5303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730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591056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Silenciar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261104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advertencia se tapa; el caso sigue fallando.</a:t>
            </a:r>
            <a:endParaRPr lang="en-US" sz="1330" dirty="0"/>
          </a:p>
        </p:txBody>
      </p:sp>
      <p:sp>
        <p:nvSpPr>
          <p:cNvPr id="19" name="Shape 16"/>
          <p:cNvSpPr/>
          <p:nvPr/>
        </p:nvSpPr>
        <p:spPr>
          <a:xfrm>
            <a:off x="932688" y="4919472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932688" y="5102352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INTACTO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98464" y="2962656"/>
            <a:ext cx="0" cy="530352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361688" y="3493008"/>
            <a:ext cx="327355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3730752"/>
            <a:ext cx="530352" cy="53035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17720" y="3730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294376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Complacer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636008" y="4261104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lógica cambia para satisfacer el tipo.</a:t>
            </a:r>
            <a:endParaRPr lang="en-US" sz="1330" dirty="0"/>
          </a:p>
        </p:txBody>
      </p:sp>
      <p:sp>
        <p:nvSpPr>
          <p:cNvPr id="27" name="Shape 24"/>
          <p:cNvSpPr/>
          <p:nvPr/>
        </p:nvSpPr>
        <p:spPr>
          <a:xfrm>
            <a:off x="4636008" y="4919472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4636008" y="5102352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EMPEORAR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701784" y="2962656"/>
            <a:ext cx="0" cy="530352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065008" y="3493008"/>
            <a:ext cx="3273552" cy="1993392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21040" y="3730752"/>
            <a:ext cx="530352" cy="53035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3730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997696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8339328" y="4261104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ausente recibe un comportamiento explícito.</a:t>
            </a:r>
            <a:endParaRPr lang="en-US" sz="1330" dirty="0"/>
          </a:p>
        </p:txBody>
      </p:sp>
      <p:sp>
        <p:nvSpPr>
          <p:cNvPr id="35" name="Shape 32"/>
          <p:cNvSpPr/>
          <p:nvPr/>
        </p:nvSpPr>
        <p:spPr>
          <a:xfrm>
            <a:off x="8339328" y="4919472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8339328" y="5102352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RESUELTO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96112" y="5888736"/>
            <a:ext cx="10396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no está en el color del análisis: está en el comportamiento que quedó después.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DOS FALSOS VERDES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tapa el aviso; B mueve el fallo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Ambas versiones dejan Pyrefly conforme sin decidir qué debe pasar con un alumno inexistente.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5266944" cy="2578608"/>
          </a:xfrm>
          <a:prstGeom prst="roundRect">
            <a:avLst>
              <a:gd name="adj" fmla="val 14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32304"/>
            <a:ext cx="50109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0545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Silenciar el diagnóstico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89504"/>
            <a:ext cx="4846320" cy="18288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54496" y="2322576"/>
            <a:ext cx="5276088" cy="2578608"/>
          </a:xfrm>
          <a:prstGeom prst="roundRect">
            <a:avLst>
              <a:gd name="adj" fmla="val 141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2432304"/>
            <a:ext cx="50200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2505456"/>
            <a:ext cx="4800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Complacer al verificador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3952" y="2889504"/>
            <a:ext cx="4855464" cy="1828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58368" y="5212080"/>
            <a:ext cx="5266944" cy="877824"/>
          </a:xfrm>
          <a:prstGeom prst="roundRect">
            <a:avLst>
              <a:gd name="adj" fmla="val 4167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77824" y="5394960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 ausente → None → falla en nota_final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77824" y="5742432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mensaje se fue; nada fue corregido.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54496" y="5212080"/>
            <a:ext cx="5276088" cy="877824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73952" y="5394960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 ausente → [] → división por cero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6473952" y="574243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peor: falla más lejos y con menos contexto.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LA CORRECCIÓN AUDITABLE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se escribe; la prueba la comprueba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Elegimos un error explícito para el alumno ausente y verificamos ese comportamiento al ejecutar.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5522976" cy="3017520"/>
          </a:xfrm>
          <a:prstGeom prst="roundRect">
            <a:avLst>
              <a:gd name="adj" fmla="val 121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14016"/>
            <a:ext cx="526694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487168"/>
            <a:ext cx="5047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· Decisión explícita en notas.py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871216"/>
            <a:ext cx="5102352" cy="22677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37376" y="2304288"/>
            <a:ext cx="5093208" cy="1993392"/>
          </a:xfrm>
          <a:prstGeom prst="roundRect">
            <a:avLst>
              <a:gd name="adj" fmla="val 18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65392" y="2414016"/>
            <a:ext cx="48371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75120" y="248716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test_notas.py · expectativa ejecutable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832" y="2871216"/>
            <a:ext cx="4672584" cy="12435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37376" y="4517136"/>
            <a:ext cx="5093208" cy="804672"/>
          </a:xfrm>
          <a:prstGeom prst="roundRect">
            <a:avLst>
              <a:gd name="adj" fmla="val 454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65392" y="4626864"/>
            <a:ext cx="483717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693408" y="4700016"/>
            <a:ext cx="4581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evidencia verde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56832" y="508406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70" dirty="0"/>
          </a:p>
        </p:txBody>
      </p:sp>
      <p:sp>
        <p:nvSpPr>
          <p:cNvPr id="23" name="Text 18"/>
          <p:cNvSpPr/>
          <p:nvPr/>
        </p:nvSpPr>
        <p:spPr>
          <a:xfrm>
            <a:off x="6967728" y="5084064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   →   3 passed in 0.08s</a:t>
            </a:r>
            <a:endParaRPr lang="en-US" sz="970" dirty="0"/>
          </a:p>
        </p:txBody>
      </p:sp>
      <p:sp>
        <p:nvSpPr>
          <p:cNvPr id="24" name="Shape 19"/>
          <p:cNvSpPr/>
          <p:nvPr/>
        </p:nvSpPr>
        <p:spPr>
          <a:xfrm>
            <a:off x="658368" y="5596128"/>
            <a:ext cx="10872216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96112" y="579729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AUDITORÍA</a:t>
            </a:r>
            <a:endParaRPr lang="en-US" sz="980" dirty="0"/>
          </a:p>
        </p:txBody>
      </p:sp>
      <p:sp>
        <p:nvSpPr>
          <p:cNvPr id="26" name="Text 21"/>
          <p:cNvSpPr txBox="1"/>
          <p:nvPr/>
        </p:nvSpPr>
        <p:spPr>
          <a:xfrm>
            <a:off x="2560320" y="5742432"/>
            <a:ext cx="8668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qué caso concreto dejó de fallar. Si solo desapareció el mensaje, el defecto está tapado.</a:t>
            </a:r>
            <a:endParaRPr lang="en-US" sz="13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BLOQUE 4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cerrar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457200" cy="457200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15798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usar registro.get(alumno, []) puede dejar el sistema peor?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71600" y="28895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176272" y="288950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dónde falla cada versión y cuánta información entrega.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658368" y="3346704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658368" y="3621024"/>
            <a:ext cx="457200" cy="457200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54787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del problema no podía decidir el agente?</a:t>
            </a:r>
            <a:endParaRPr lang="en-US" sz="1850" dirty="0"/>
          </a:p>
        </p:txBody>
      </p:sp>
      <p:sp>
        <p:nvSpPr>
          <p:cNvPr id="20" name="Shape 17"/>
          <p:cNvSpPr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71600" y="42793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176272" y="427939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quién es la fuente de verdad del comportamiento esperado.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658368" y="4736592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658368" y="5010912"/>
            <a:ext cx="457200" cy="45720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71600" y="49377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la expectativa debe fijarse antes de ver la corrección?</a:t>
            </a:r>
            <a:endParaRPr lang="en-US" sz="1850" dirty="0"/>
          </a:p>
        </p:txBody>
      </p:sp>
      <p:sp>
        <p:nvSpPr>
          <p:cNvPr id="27" name="Shape 24"/>
          <p:cNvSpPr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71600" y="56692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176272" y="56692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solución razonable puede cambiar el criterio con el que luego la juzgas.</a:t>
            </a:r>
            <a:endParaRPr lang="en-US" sz="13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CLASE · RECORRIDO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hoy quedó registrado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avanzó desde evidencia de proyecto hasta evidencia sobre una corrección propuesta por un agente.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2816352" y="2889504"/>
            <a:ext cx="49377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58368" y="2615184"/>
            <a:ext cx="548640" cy="548640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90779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5577840" y="2889504"/>
            <a:ext cx="49377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419856" y="2615184"/>
            <a:ext cx="548640" cy="54864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19856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133088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133088" y="290779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8339328" y="2889504"/>
            <a:ext cx="49377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181344" y="2615184"/>
            <a:ext cx="548640" cy="54864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81344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894576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94576" y="290779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8942832" y="2615184"/>
            <a:ext cx="548640" cy="548640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42832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656064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656064" y="290779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658368" y="3419856"/>
            <a:ext cx="1087221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 txBox="1"/>
          <p:nvPr/>
        </p:nvSpPr>
        <p:spPr>
          <a:xfrm>
            <a:off x="658368" y="3730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13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MÍNIMA DE SALIDA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58368" y="4187952"/>
            <a:ext cx="292608" cy="292608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8368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097280" y="4206240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indicadores aplicados al repositorio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58368" y="4791456"/>
            <a:ext cx="292608" cy="292608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8368" y="4791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97280" y="4809744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función anotada y sus diagnósticos clasificados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" y="5394960"/>
            <a:ext cx="292608" cy="292608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097280" y="541324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 y Ruff configurados con decisiones justificadas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400800" y="4187952"/>
            <a:ext cx="292608" cy="29260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0080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839712" y="4206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herramientas frente al defecto de redondeo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400800" y="4791456"/>
            <a:ext cx="292608" cy="29260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00800" y="4791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839712" y="4809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corrección de agente auditada con una prueba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CLASE · ALCANCE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frases parecidas; solo una está demostrada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estáticas entregan evidencia real, pero acotada.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225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PODEMOS AFIRMAR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" y="2688336"/>
            <a:ext cx="10872216" cy="1097280"/>
          </a:xfrm>
          <a:prstGeom prst="roundRect">
            <a:avLst>
              <a:gd name="adj" fmla="val 4167"/>
            </a:avLst>
          </a:prstGeom>
          <a:solidFill>
            <a:srgbClr val="E9F6E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78992" y="2907792"/>
            <a:ext cx="10030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es consistente con los contratos que declaramos,</a:t>
            </a:r>
            <a:endParaRPr lang="en-US" sz="2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no contiene los patrones de defecto que decidimos vigilar.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4206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PODEMOS AFIRMAR TODAVÍA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4572000"/>
            <a:ext cx="10872216" cy="859536"/>
          </a:xfrm>
          <a:prstGeom prst="roundRect">
            <a:avLst>
              <a:gd name="adj" fmla="val 531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78992" y="4791456"/>
            <a:ext cx="10030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hace lo que el producto necesita.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579729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distancia entre ambas frases es la Unidad 2 completa.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2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5669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CLASE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914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salir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58368" y="1828800"/>
            <a:ext cx="438912" cy="438912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16736" y="1810512"/>
            <a:ext cx="4718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diagnóstico apareció solo después de anotar y qué caso haría fallar?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" y="2798064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16736" y="2779776"/>
            <a:ext cx="4718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regla habilitaste en el linter y por qué esa?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8368" y="3767328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16736" y="3749040"/>
            <a:ext cx="4718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dijeron Pyrefly y Ruff sobre el defecto de redondeo?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08192" y="1005840"/>
            <a:ext cx="0" cy="431596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6510528" y="987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CLASE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510528" y="1389888"/>
            <a:ext cx="4617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la revisión</a:t>
            </a:r>
            <a:endParaRPr lang="en-US" sz="27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también es una prueba</a:t>
            </a:r>
            <a:endParaRPr lang="en-US" sz="2700" dirty="0"/>
          </a:p>
        </p:txBody>
      </p:sp>
      <p:sp>
        <p:nvSpPr>
          <p:cNvPr id="22" name="Text 19"/>
          <p:cNvSpPr txBox="1"/>
          <p:nvPr/>
        </p:nvSpPr>
        <p:spPr>
          <a:xfrm>
            <a:off x="6510528" y="2651760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escribe, otro audita y tú arbitras entre ambos con criterios verificables.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10528" y="3657600"/>
            <a:ext cx="4608576" cy="1225296"/>
          </a:xfrm>
          <a:prstGeom prst="roundRect">
            <a:avLst>
              <a:gd name="adj" fmla="val 3731"/>
            </a:avLst>
          </a:prstGeom>
          <a:solidFill>
            <a:srgbClr val="19384A"/>
          </a:solidFill>
          <a:ln w="12700">
            <a:solidFill>
              <a:srgbClr val="49617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84848" y="3877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que sigue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784848" y="4224528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¿Dos modelos revisándose producen una revisión real o dos opiniones seguras?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58368" y="5321808"/>
            <a:ext cx="1087221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024128" y="5559552"/>
            <a:ext cx="10140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solo puedes mostrar que el mensaje desapareció, no está corregido: está tapado.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Antes de ejecutar nada: pruebas estáticas y evidencia de proyecto</dc:title>
  <dc:subject>PRO402 · Clase 05</dc:subject>
  <dc:creator>Diego Obando</dc:creator>
  <cp:lastModifiedBy>Diego Obando</cp:lastModifiedBy>
  <cp:revision>1</cp:revision>
  <dcterms:created xsi:type="dcterms:W3CDTF">2026-08-31T05:00:00Z</dcterms:created>
  <dcterms:modified xsi:type="dcterms:W3CDTF">2026-08-31T05:00:00Z</dcterms:modified>
</cp:coreProperties>
</file>