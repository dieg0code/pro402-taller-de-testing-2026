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583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SEMANA 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53312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</a:t>
            </a:r>
            <a:endParaRPr lang="en-US" sz="4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57984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validación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00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bien el producto y construir el producto correcto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8404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25 de agosto de 2026 · Laboratorio PC · Diego Obando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01584" y="1316736"/>
            <a:ext cx="3383280" cy="4315968"/>
          </a:xfrm>
          <a:prstGeom prst="roundRect">
            <a:avLst>
              <a:gd name="adj" fmla="val 2162"/>
            </a:avLst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49056" y="168249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DOS PREGUNTAS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85632" y="2103120"/>
            <a:ext cx="2615184" cy="1170432"/>
          </a:xfrm>
          <a:prstGeom prst="roundRect">
            <a:avLst>
              <a:gd name="adj" fmla="val 468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0" y="224942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0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25603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¿cumple lo especificado?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485632" y="3438144"/>
            <a:ext cx="2615184" cy="1170432"/>
          </a:xfrm>
          <a:prstGeom prst="roundRect">
            <a:avLst>
              <a:gd name="adj" fmla="val 468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95360" y="358444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94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389534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¿era lo que se necesitaba?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485632" y="4882896"/>
            <a:ext cx="2615184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8449056" y="508406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una tiene respuesta en la consola.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03 cerró con tres criterios verificables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uno quedó redactado como una condición observable, con su evidencia planificada.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364992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336499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2578608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25786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6883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correcto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331012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promedio se calcula con la regla declarada para el curso.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32688" y="4315968"/>
            <a:ext cx="281635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932688" y="444398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PLANIFICADA</a:t>
            </a:r>
            <a:endParaRPr lang="en-US" sz="88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46451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automatizada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407408" y="2249424"/>
            <a:ext cx="3364992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07408" y="2249424"/>
            <a:ext cx="336499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81728" y="2578608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81728" y="25786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340096" y="26883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inválida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681728" y="331012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lista vacía informa el error en lugar de devolver un número.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4681728" y="4315968"/>
            <a:ext cx="281635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4681728" y="444398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PLANIFICADA</a:t>
            </a:r>
            <a:endParaRPr lang="en-US" sz="880" dirty="0"/>
          </a:p>
        </p:txBody>
      </p:sp>
      <p:sp>
        <p:nvSpPr>
          <p:cNvPr id="28" name="Text 25"/>
          <p:cNvSpPr txBox="1"/>
          <p:nvPr/>
        </p:nvSpPr>
        <p:spPr>
          <a:xfrm>
            <a:off x="4681728" y="46451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del error declarado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8156448" y="2249424"/>
            <a:ext cx="3364992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56448" y="2249424"/>
            <a:ext cx="3364992" cy="1097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30768" y="2578608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30768" y="25786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089136" y="26883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seguro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8430768" y="331012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la regla no rompe el resto del cálculo sin avisar.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8430768" y="4315968"/>
            <a:ext cx="281635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 txBox="1"/>
          <p:nvPr/>
        </p:nvSpPr>
        <p:spPr>
          <a:xfrm>
            <a:off x="8430768" y="444398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PLANIFICADA</a:t>
            </a:r>
            <a:endParaRPr lang="en-US" sz="880" dirty="0"/>
          </a:p>
        </p:txBody>
      </p:sp>
      <p:sp>
        <p:nvSpPr>
          <p:cNvPr id="37" name="Text 34"/>
          <p:cNvSpPr txBox="1"/>
          <p:nvPr/>
        </p:nvSpPr>
        <p:spPr>
          <a:xfrm>
            <a:off x="8430768" y="46451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y suite existente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2084832" y="5358384"/>
            <a:ext cx="8028432" cy="548640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40864" y="5358384"/>
            <a:ext cx="7516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Sabemos qué comprobar. Hoy preguntamos otra cosa: de dónde salió cada criterio.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DE HOY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98448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criterio impecable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93392"/>
            <a:ext cx="9784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ser el criterio equivocado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58368" y="3310128"/>
            <a:ext cx="170078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" y="33101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ESCRITO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2505456" y="3310128"/>
            <a:ext cx="170078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15184" y="33101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ESCRITA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4352544" y="3310128"/>
            <a:ext cx="170078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62272" y="33101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EN VERDE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6108192" y="3300984"/>
            <a:ext cx="84124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60336" y="2962656"/>
            <a:ext cx="407822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43216" y="2962656"/>
            <a:ext cx="3712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¿y si la regla nunca fue esa?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207008" y="48646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técnica demuestra que el producto hace lo que le pedimos. No dice de dónde salió lo que le pedimos.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mismo criterio admite dos preguntas distintas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cambia no es la técnica: es contra qué se compara el resultado.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956048" y="2212848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56048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CRITERIO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99048" y="2670048"/>
            <a:ext cx="0" cy="18288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3218688" y="2852928"/>
            <a:ext cx="548640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3218688" y="2852928"/>
            <a:ext cx="0" cy="18288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8705088" y="2852928"/>
            <a:ext cx="0" cy="18288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658368" y="3035808"/>
            <a:ext cx="512064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035808"/>
            <a:ext cx="5120640" cy="109728"/>
          </a:xfrm>
          <a:prstGeom prst="rect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" y="3310128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69264" y="3602736"/>
            <a:ext cx="4498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¿El producto cumple lo especificado?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969264" y="4407408"/>
            <a:ext cx="449884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969264" y="45171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COMPARA CONTRA</a:t>
            </a:r>
            <a:endParaRPr lang="en-US" sz="860" dirty="0"/>
          </a:p>
        </p:txBody>
      </p:sp>
      <p:sp>
        <p:nvSpPr>
          <p:cNvPr id="23" name="Text 20"/>
          <p:cNvSpPr txBox="1"/>
          <p:nvPr/>
        </p:nvSpPr>
        <p:spPr>
          <a:xfrm>
            <a:off x="969264" y="47183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especificación escrita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273552" y="4517136"/>
            <a:ext cx="0" cy="768096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 txBox="1"/>
          <p:nvPr/>
        </p:nvSpPr>
        <p:spPr>
          <a:xfrm>
            <a:off x="3456432" y="4517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RESPONDE</a:t>
            </a:r>
            <a:endParaRPr lang="en-US" sz="860" dirty="0"/>
          </a:p>
        </p:txBody>
      </p:sp>
      <p:sp>
        <p:nvSpPr>
          <p:cNvPr id="26" name="Text 23"/>
          <p:cNvSpPr txBox="1"/>
          <p:nvPr/>
        </p:nvSpPr>
        <p:spPr>
          <a:xfrm>
            <a:off x="3456432" y="4718304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técnico, con evidencia reproducible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44768" y="3035808"/>
            <a:ext cx="512064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44768" y="3035808"/>
            <a:ext cx="5120640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55664" y="3310128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455664" y="3602736"/>
            <a:ext cx="4498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¿Lo especificado responde a la necesidad?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6455664" y="4407408"/>
            <a:ext cx="449884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2" name="Text 29"/>
          <p:cNvSpPr txBox="1"/>
          <p:nvPr/>
        </p:nvSpPr>
        <p:spPr>
          <a:xfrm>
            <a:off x="6455664" y="45171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COMPARA CONTRA</a:t>
            </a:r>
            <a:endParaRPr lang="en-US" sz="860" dirty="0"/>
          </a:p>
        </p:txBody>
      </p:sp>
      <p:sp>
        <p:nvSpPr>
          <p:cNvPr id="33" name="Text 30"/>
          <p:cNvSpPr txBox="1"/>
          <p:nvPr/>
        </p:nvSpPr>
        <p:spPr>
          <a:xfrm>
            <a:off x="6455664" y="47183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necesidad real del producto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759952" y="4517136"/>
            <a:ext cx="0" cy="768096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5" name="Text 32"/>
          <p:cNvSpPr txBox="1"/>
          <p:nvPr/>
        </p:nvSpPr>
        <p:spPr>
          <a:xfrm>
            <a:off x="8942832" y="4517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RESPONDE</a:t>
            </a:r>
            <a:endParaRPr lang="en-US" sz="860" dirty="0"/>
          </a:p>
        </p:txBody>
      </p:sp>
      <p:sp>
        <p:nvSpPr>
          <p:cNvPr id="36" name="Text 33"/>
          <p:cNvSpPr txBox="1"/>
          <p:nvPr/>
        </p:nvSpPr>
        <p:spPr>
          <a:xfrm>
            <a:off x="8942832" y="4718304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Quien tiene autoridad sobre la regla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2304288" y="5870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de las dos sustituye a la otra.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movimientos organizan la sesión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vocabulario a los casos, y de los casos al propio proyecto.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1087221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86000"/>
            <a:ext cx="128016" cy="9875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0704" y="2542032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0704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719072" y="2578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40" kern="0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DISTINGUIR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4700016" y="256032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las dos preguntas y nombrar la fuente de verdad que responde cada una.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802368" y="2560320"/>
            <a:ext cx="1572768" cy="438912"/>
          </a:xfrm>
          <a:prstGeom prst="roundRect">
            <a:avLst>
              <a:gd name="adj" fmla="val 10417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02368" y="256032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3419856"/>
            <a:ext cx="1087221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419856"/>
            <a:ext cx="128016" cy="987552"/>
          </a:xfrm>
          <a:prstGeom prst="rect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3675888"/>
            <a:ext cx="475488" cy="475488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60704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719072" y="37124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40" kern="0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DIAGNOSTICAR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4700016" y="369417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tres fallas históricas y señalar con precisión la pregunta que faltó.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802368" y="3694176"/>
            <a:ext cx="1572768" cy="438912"/>
          </a:xfrm>
          <a:prstGeom prst="roundRect">
            <a:avLst>
              <a:gd name="adj" fmla="val 10417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02368" y="3694176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reales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4553712"/>
            <a:ext cx="1087221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" y="4553712"/>
            <a:ext cx="128016" cy="9875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60704" y="4809744"/>
            <a:ext cx="475488" cy="47548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60704" y="4809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719072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40" kern="0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TRAZAR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4700016" y="482803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necesidad, criterio y evidencia sobre el producto en el que trabajamos.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9802368" y="4828032"/>
            <a:ext cx="1572768" cy="438912"/>
          </a:xfrm>
          <a:prstGeom prst="roundRect">
            <a:avLst>
              <a:gd name="adj" fmla="val 10417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802368" y="482803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 propia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847088" y="5815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cierre: qué quedó verificado, qué quedó validado y qué sigue sin respaldo.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avanza la sesión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 minutos, con trabajo individual sobre el proyecto propio en la segunda mitad.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106070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155448" y="27432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08:30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6384" y="3182112"/>
            <a:ext cx="256032" cy="25603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5448" y="36393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55448" y="395020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criterios que ya tenemos</a:t>
            </a:r>
            <a:endParaRPr lang="en-US" sz="1180" dirty="0"/>
          </a:p>
        </p:txBody>
      </p:sp>
      <p:sp>
        <p:nvSpPr>
          <p:cNvPr id="16" name="Text 13"/>
          <p:cNvSpPr txBox="1"/>
          <p:nvPr/>
        </p:nvSpPr>
        <p:spPr>
          <a:xfrm>
            <a:off x="1755648" y="27432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08:40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386584" y="3182112"/>
            <a:ext cx="256032" cy="25603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55648" y="36393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1755648" y="395020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dos preguntas y su fuente</a:t>
            </a:r>
            <a:endParaRPr lang="en-US" sz="1180" dirty="0"/>
          </a:p>
        </p:txBody>
      </p:sp>
      <p:sp>
        <p:nvSpPr>
          <p:cNvPr id="20" name="Text 17"/>
          <p:cNvSpPr txBox="1"/>
          <p:nvPr/>
        </p:nvSpPr>
        <p:spPr>
          <a:xfrm>
            <a:off x="3355848" y="27432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986784" y="3182112"/>
            <a:ext cx="256032" cy="256032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55848" y="36393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3355848" y="395020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fallas históricas</a:t>
            </a:r>
            <a:endParaRPr lang="en-US" sz="1180" dirty="0"/>
          </a:p>
        </p:txBody>
      </p:sp>
      <p:sp>
        <p:nvSpPr>
          <p:cNvPr id="24" name="Text 21"/>
          <p:cNvSpPr txBox="1"/>
          <p:nvPr/>
        </p:nvSpPr>
        <p:spPr>
          <a:xfrm>
            <a:off x="4956048" y="27432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586984" y="3182112"/>
            <a:ext cx="256032" cy="256032"/>
          </a:xfrm>
          <a:prstGeom prst="ellipse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56048" y="36393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4956048" y="395020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Descanso técnico</a:t>
            </a:r>
            <a:endParaRPr lang="en-US" sz="1180" dirty="0"/>
          </a:p>
        </p:txBody>
      </p:sp>
      <p:sp>
        <p:nvSpPr>
          <p:cNvPr id="28" name="Text 25"/>
          <p:cNvSpPr txBox="1"/>
          <p:nvPr/>
        </p:nvSpPr>
        <p:spPr>
          <a:xfrm>
            <a:off x="6556248" y="27432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09:45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187184" y="3182112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56248" y="36393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6556248" y="395020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en el proyecto</a:t>
            </a:r>
            <a:endParaRPr lang="en-US" sz="1180" dirty="0"/>
          </a:p>
        </p:txBody>
      </p:sp>
      <p:sp>
        <p:nvSpPr>
          <p:cNvPr id="32" name="Text 29"/>
          <p:cNvSpPr txBox="1"/>
          <p:nvPr/>
        </p:nvSpPr>
        <p:spPr>
          <a:xfrm>
            <a:off x="8156448" y="27432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10:15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8787384" y="3182112"/>
            <a:ext cx="256032" cy="25603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156448" y="36393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450" dirty="0"/>
          </a:p>
        </p:txBody>
      </p:sp>
      <p:sp>
        <p:nvSpPr>
          <p:cNvPr id="35" name="Text 32"/>
          <p:cNvSpPr txBox="1"/>
          <p:nvPr/>
        </p:nvSpPr>
        <p:spPr>
          <a:xfrm>
            <a:off x="8156448" y="395020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al agente</a:t>
            </a:r>
            <a:endParaRPr lang="en-US" sz="1180" dirty="0"/>
          </a:p>
        </p:txBody>
      </p:sp>
      <p:sp>
        <p:nvSpPr>
          <p:cNvPr id="36" name="Text 33"/>
          <p:cNvSpPr txBox="1"/>
          <p:nvPr/>
        </p:nvSpPr>
        <p:spPr>
          <a:xfrm>
            <a:off x="9756648" y="27432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10:40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10387584" y="3182112"/>
            <a:ext cx="256032" cy="25603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56648" y="36393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450" dirty="0"/>
          </a:p>
        </p:txBody>
      </p:sp>
      <p:sp>
        <p:nvSpPr>
          <p:cNvPr id="39" name="Text 36"/>
          <p:cNvSpPr txBox="1"/>
          <p:nvPr/>
        </p:nvSpPr>
        <p:spPr>
          <a:xfrm>
            <a:off x="9756648" y="395020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proporcional</a:t>
            </a:r>
            <a:endParaRPr lang="en-US" sz="1180" dirty="0"/>
          </a:p>
        </p:txBody>
      </p:sp>
      <p:sp>
        <p:nvSpPr>
          <p:cNvPr id="40" name="Shape 37"/>
          <p:cNvSpPr/>
          <p:nvPr/>
        </p:nvSpPr>
        <p:spPr>
          <a:xfrm>
            <a:off x="1481328" y="5029200"/>
            <a:ext cx="9235440" cy="877824"/>
          </a:xfrm>
          <a:prstGeom prst="roundRect">
            <a:avLst>
              <a:gd name="adj" fmla="val 625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737360" y="5175504"/>
            <a:ext cx="8723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avanza de la distinción al caso, y del caso al producto propio.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1737360" y="5504688"/>
            <a:ext cx="8723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bloques 3 y 4 producen evidencia que queda en el repositorio de cada estudiante.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palabras que hoy dejan de ser sinónimos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ellas se redactan los hallazgos y la conclusión final de la sesión.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084832" cy="29260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084832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spc="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ESPECIFICACIÓN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77824" y="3712464"/>
            <a:ext cx="16459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877824" y="38404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declaramos que el producto debe hacer.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852928" y="2249424"/>
            <a:ext cx="2084832" cy="29260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52928" y="2249424"/>
            <a:ext cx="20848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72384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3072384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spc="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3072384" y="3712464"/>
            <a:ext cx="16459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3072384" y="38404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producto debe lograr para quien lo usa.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47488" y="2249424"/>
            <a:ext cx="2084832" cy="29260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47488" y="2249424"/>
            <a:ext cx="2084832" cy="91440"/>
          </a:xfrm>
          <a:prstGeom prst="rect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66944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5266944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spc="3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5266944" y="3712464"/>
            <a:ext cx="16459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 txBox="1"/>
          <p:nvPr/>
        </p:nvSpPr>
        <p:spPr>
          <a:xfrm>
            <a:off x="5266944" y="38404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o qué documento autoriza un criterio.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242048" y="2249424"/>
            <a:ext cx="2084832" cy="29260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42048" y="2249424"/>
            <a:ext cx="2084832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61504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7461504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spc="3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CORRESPONDENCIA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7461504" y="3712464"/>
            <a:ext cx="16459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7461504" y="38404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lo verificado sea lo que está operando.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9436608" y="2249424"/>
            <a:ext cx="2084832" cy="29260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436608" y="2249424"/>
            <a:ext cx="2084832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56064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9656064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spc="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20" dirty="0"/>
          </a:p>
        </p:txBody>
      </p:sp>
      <p:sp>
        <p:nvSpPr>
          <p:cNvPr id="39" name="Shape 36"/>
          <p:cNvSpPr/>
          <p:nvPr/>
        </p:nvSpPr>
        <p:spPr>
          <a:xfrm>
            <a:off x="9656064" y="3712464"/>
            <a:ext cx="16459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0" name="Text 37"/>
          <p:cNvSpPr txBox="1"/>
          <p:nvPr/>
        </p:nvSpPr>
        <p:spPr>
          <a:xfrm>
            <a:off x="9656064" y="38404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que permite sostener una afirmación.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2084832" y="5541264"/>
            <a:ext cx="8028432" cy="512064"/>
          </a:xfrm>
          <a:prstGeom prst="roundRect">
            <a:avLst>
              <a:gd name="adj" fmla="val 89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340864" y="5541264"/>
            <a:ext cx="7516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ticket de salida se escribe con estas cinco palabras y ninguna más.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30 MINUTOS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6304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preguntas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31136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no se responden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852928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la misma evidencia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58368" y="3803904"/>
            <a:ext cx="29260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658368" y="404164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terminar el bloque podrás explicar por qué una prueba en verde puede estar defendiendo una regla equivocada.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1572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15544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y su origen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772400" y="2286000"/>
            <a:ext cx="3566160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7772400" y="2578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25603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y validación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7772400" y="3291840"/>
            <a:ext cx="3566160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7772400" y="35844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35661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certifica un error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7772400" y="4297680"/>
            <a:ext cx="3566160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7772400" y="45902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457200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cuatro escenarios posibles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7772400" y="5303520"/>
            <a:ext cx="3566160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· EL CRITERIO Y SU ORIGEN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criterio bien redactado no dice de dónde salió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ficha que trajimos de la clase anterior tiene un campo que nunca completamos.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6126480" cy="3584448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505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1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 DE CRITERIO · 01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2761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correcto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69264" y="3218688"/>
            <a:ext cx="55046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969264" y="3401568"/>
            <a:ext cx="91440" cy="5303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25296" y="33649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OBSERVABLE</a:t>
            </a:r>
            <a:endParaRPr lang="en-US" sz="880" dirty="0"/>
          </a:p>
        </p:txBody>
      </p:sp>
      <p:sp>
        <p:nvSpPr>
          <p:cNvPr id="17" name="Text 14"/>
          <p:cNvSpPr txBox="1"/>
          <p:nvPr/>
        </p:nvSpPr>
        <p:spPr>
          <a:xfrm>
            <a:off x="1225296" y="3584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promedio se calcula con la regla declarada.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69264" y="4187952"/>
            <a:ext cx="91440" cy="5303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25296" y="41513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9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PLANIFICADA</a:t>
            </a:r>
            <a:endParaRPr lang="en-US" sz="880" dirty="0"/>
          </a:p>
        </p:txBody>
      </p:sp>
      <p:sp>
        <p:nvSpPr>
          <p:cNvPr id="20" name="Text 17"/>
          <p:cNvSpPr txBox="1"/>
          <p:nvPr/>
        </p:nvSpPr>
        <p:spPr>
          <a:xfrm>
            <a:off x="1225296" y="4370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automatizada sobre casos del curso.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69264" y="4956048"/>
            <a:ext cx="5504688" cy="786384"/>
          </a:xfrm>
          <a:prstGeom prst="roundRect">
            <a:avLst>
              <a:gd name="adj" fmla="val 5814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1207008" y="51023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QUE LO AUTORIZA</a:t>
            </a:r>
            <a:endParaRPr lang="en-US" sz="880" dirty="0"/>
          </a:p>
        </p:txBody>
      </p:sp>
      <p:sp>
        <p:nvSpPr>
          <p:cNvPr id="23" name="Text 20"/>
          <p:cNvSpPr txBox="1"/>
          <p:nvPr/>
        </p:nvSpPr>
        <p:spPr>
          <a:xfrm>
            <a:off x="1207008" y="53218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registrar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114032" y="2395728"/>
            <a:ext cx="442569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14032" y="2395728"/>
            <a:ext cx="109728" cy="148132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43216" y="26334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Esto sí lo comprobamos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443216" y="3054096"/>
            <a:ext cx="3877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condición es observable y la evidencia es reproducible por cualquiera del equipo.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114032" y="4114800"/>
            <a:ext cx="442569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14032" y="4114800"/>
            <a:ext cx="109728" cy="14813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43216" y="43525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Esto nunca lo preguntamos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7443216" y="4773168"/>
            <a:ext cx="3877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registró qué documento o qué persona autoriza la regla que estamos verificando.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· ALCANCE DE LA EVIDENCIA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consola responde una de las dos preguntas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otra no tiene salida posible, por más controles que ejecutemos.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943600" cy="2377440"/>
          </a:xfrm>
          <a:prstGeom prst="roundRect">
            <a:avLst>
              <a:gd name="adj" fmla="val 153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568756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32304"/>
            <a:ext cx="5431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controles del proyecto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60" dirty="0"/>
          </a:p>
        </p:txBody>
      </p:sp>
      <p:sp>
        <p:nvSpPr>
          <p:cNvPr id="15" name="Text 12"/>
          <p:cNvSpPr/>
          <p:nvPr/>
        </p:nvSpPr>
        <p:spPr>
          <a:xfrm>
            <a:off x="1188720" y="2816352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160" dirty="0"/>
          </a:p>
        </p:txBody>
      </p:sp>
      <p:sp>
        <p:nvSpPr>
          <p:cNvPr id="16" name="Text 13"/>
          <p:cNvSpPr/>
          <p:nvPr/>
        </p:nvSpPr>
        <p:spPr>
          <a:xfrm>
            <a:off x="877824" y="3072384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77824" y="33284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60" dirty="0"/>
          </a:p>
        </p:txBody>
      </p:sp>
      <p:sp>
        <p:nvSpPr>
          <p:cNvPr id="18" name="Text 15"/>
          <p:cNvSpPr/>
          <p:nvPr/>
        </p:nvSpPr>
        <p:spPr>
          <a:xfrm>
            <a:off x="1188720" y="3328416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1160" dirty="0"/>
          </a:p>
        </p:txBody>
      </p:sp>
      <p:sp>
        <p:nvSpPr>
          <p:cNvPr id="19" name="Text 16"/>
          <p:cNvSpPr/>
          <p:nvPr/>
        </p:nvSpPr>
        <p:spPr>
          <a:xfrm>
            <a:off x="877824" y="35844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errors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877824" y="38404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1188720" y="3840480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160" dirty="0"/>
          </a:p>
        </p:txBody>
      </p:sp>
      <p:sp>
        <p:nvSpPr>
          <p:cNvPr id="22" name="Text 19"/>
          <p:cNvSpPr/>
          <p:nvPr/>
        </p:nvSpPr>
        <p:spPr>
          <a:xfrm>
            <a:off x="877824" y="4096512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[100%]   3 passed</a:t>
            </a:r>
            <a:endParaRPr lang="en-US" sz="1160" dirty="0"/>
          </a:p>
        </p:txBody>
      </p:sp>
      <p:sp>
        <p:nvSpPr>
          <p:cNvPr id="23" name="Shape 20"/>
          <p:cNvSpPr/>
          <p:nvPr/>
        </p:nvSpPr>
        <p:spPr>
          <a:xfrm>
            <a:off x="658368" y="4809744"/>
            <a:ext cx="5943600" cy="932688"/>
          </a:xfrm>
          <a:prstGeom prst="roundRect">
            <a:avLst>
              <a:gd name="adj" fmla="val 5882"/>
            </a:avLst>
          </a:prstGeom>
          <a:solidFill>
            <a:srgbClr val="E9F6EE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9743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RESPONDIDA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2120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producto cumple lo especificado?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58000" y="2249424"/>
            <a:ext cx="4681728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68896" y="25054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SEGUNDA PREGUNTA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168896" y="2761488"/>
            <a:ext cx="4059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¿Era ese el criterio correcto para este producto?</a:t>
            </a:r>
            <a:endParaRPr lang="en-US" sz="1850" dirty="0"/>
          </a:p>
        </p:txBody>
      </p:sp>
      <p:sp>
        <p:nvSpPr>
          <p:cNvPr id="29" name="Shape 26"/>
          <p:cNvSpPr/>
          <p:nvPr/>
        </p:nvSpPr>
        <p:spPr>
          <a:xfrm>
            <a:off x="7168896" y="3840480"/>
            <a:ext cx="4059936" cy="640080"/>
          </a:xfrm>
          <a:prstGeom prst="roundRect">
            <a:avLst>
              <a:gd name="adj" fmla="val 7143"/>
            </a:avLst>
          </a:prstGeom>
          <a:solidFill>
            <a:srgbClr val="F8F3EC"/>
          </a:solidFill>
          <a:ln w="12700">
            <a:solidFill>
              <a:srgbClr val="96A3B2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7168896" y="3840480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6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salida en consola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858000" y="4809744"/>
            <a:ext cx="4681728" cy="932688"/>
          </a:xfrm>
          <a:prstGeom prst="roundRect">
            <a:avLst>
              <a:gd name="adj" fmla="val 58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14032" y="4809744"/>
            <a:ext cx="41696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herramienta conoce el reglamento del curso.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LA FORMULACIÓN CLÁSICA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1517904"/>
            <a:ext cx="128016" cy="1371600"/>
          </a:xfrm>
          <a:prstGeom prst="rect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42416" y="1554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42416" y="1883664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¿Estamos construyendo bien el producto?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658368" y="3310128"/>
            <a:ext cx="128016" cy="13716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3346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" y="3675888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¿Estamos construyendo el producto correcto?</a:t>
            </a:r>
            <a:endParaRPr lang="en-US" sz="3300" dirty="0"/>
          </a:p>
        </p:txBody>
      </p:sp>
      <p:sp>
        <p:nvSpPr>
          <p:cNvPr id="15" name="Shape 12"/>
          <p:cNvSpPr/>
          <p:nvPr/>
        </p:nvSpPr>
        <p:spPr>
          <a:xfrm>
            <a:off x="658368" y="5029200"/>
            <a:ext cx="10872216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658368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Barry Boehm · 1979 y 1981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5212080"/>
            <a:ext cx="5861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frases casi idénticas que separan dos oficios distintos.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NORMA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ISO/IEC/IEEE 12207:2017 las define como procesos separados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dos nombres para la misma actividad: son dos procesos del ciclo de vida.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7221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834640" cy="1371600"/>
          </a:xfrm>
          <a:prstGeom prst="roundRect">
            <a:avLst>
              <a:gd name="adj" fmla="val 4667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2249424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785616" y="248716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Confirmar que se cumplen los requisitos especificados.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785616" y="31638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requisito ya existe y se toma como dado.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368" y="3803904"/>
            <a:ext cx="1087221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803904"/>
            <a:ext cx="2834640" cy="1371600"/>
          </a:xfrm>
          <a:prstGeom prst="roundRect">
            <a:avLst>
              <a:gd name="adj" fmla="val 4667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3803904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785616" y="404164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Confirmar que se cumplen los requisitos para el uso previsto.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3785616" y="47183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uso previsto vive fuera del proyecto y hay que ir a buscarlo.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084832" y="5541264"/>
            <a:ext cx="8028432" cy="548640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340864" y="5541264"/>
            <a:ext cx="7516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decisiva está en contra qué se compara el resultado.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COMPARACIÓN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diferencias que conviene tener a mano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fila se lee distinto según la columna en que se responda.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944368" y="2194560"/>
            <a:ext cx="4261104" cy="457200"/>
          </a:xfrm>
          <a:prstGeom prst="roundRect">
            <a:avLst>
              <a:gd name="adj" fmla="val 10000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44368" y="219456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3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60336" y="2194560"/>
            <a:ext cx="4261104" cy="457200"/>
          </a:xfrm>
          <a:prstGeom prst="roundRect">
            <a:avLst>
              <a:gd name="adj" fmla="val 10000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60336" y="219456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3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" y="2743200"/>
            <a:ext cx="10872216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276148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145536" y="2761488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¿Cumple lo especificado?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461504" y="2761488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¿Lo especificado responde a la necesidad?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34564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fuente de verdad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145536" y="3456432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especificación y el contrato de la función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61504" y="3456432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del negocio y quien la autoriza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8368" y="4133088"/>
            <a:ext cx="10872216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15137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responde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145536" y="4151376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técnico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61504" y="4151376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Usuario, docente, reglamento o cliente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" y="48463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típica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3145536" y="4846320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Pruebas, análisis estático, revisión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61504" y="4846320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Confrontación con el documento o el uso real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5522976"/>
            <a:ext cx="10872216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9808" y="554126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que detecta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3145536" y="5541264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implementación no corresponde a lo definido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461504" y="5541264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definido no corresponde a lo necesario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168896" y="2194560"/>
            <a:ext cx="0" cy="402336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2852928" y="2194560"/>
            <a:ext cx="0" cy="402336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ALCANCE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de las dos preguntas obliga a salir del proyecto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lo que necesitamos para verificar cabe dentro del repositorio. La necesidad, no.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612648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4871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1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 DEL PROYECTO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969264" y="2761488"/>
            <a:ext cx="91440" cy="38404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61872" y="27614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fuente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69264" y="3218688"/>
            <a:ext cx="91440" cy="38404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61872" y="32186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automatizadas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69264" y="3675888"/>
            <a:ext cx="91440" cy="38404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61872" y="36758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del linter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69264" y="4133088"/>
            <a:ext cx="91440" cy="38404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61872" y="4133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de tipos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69264" y="4590288"/>
            <a:ext cx="91440" cy="38404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1872" y="45902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escritos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69264" y="4974336"/>
            <a:ext cx="5504688" cy="45720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" y="4974336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vive toda la verificación posible.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06640" y="2249424"/>
            <a:ext cx="4114800" cy="3401568"/>
          </a:xfrm>
          <a:prstGeom prst="roundRect">
            <a:avLst>
              <a:gd name="adj" fmla="val 2151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80960" y="2487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FUERA DEL PROYECTO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7680960" y="2761488"/>
            <a:ext cx="91440" cy="38404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73568" y="2761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Reglamento de evaluación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680960" y="3218688"/>
            <a:ext cx="91440" cy="38404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73568" y="32186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Quien usa la herramienta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680960" y="3675888"/>
            <a:ext cx="91440" cy="38404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73568" y="3675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norma que aplica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680960" y="4133088"/>
            <a:ext cx="91440" cy="38404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73568" y="41330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del cliente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7680960" y="4974336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680960" y="49743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vive la validación.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876288" y="3602736"/>
            <a:ext cx="457200" cy="420624"/>
          </a:xfrm>
          <a:prstGeom prst="chevron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847088" y="58704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es cruzar este borde. No hay comando que lo haga por nosotros.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CONSECUENCIA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72768"/>
            <a:ext cx="10058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Podemos verificar solos.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87168"/>
            <a:ext cx="10058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podemos validar solos.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658368" y="3639312"/>
            <a:ext cx="38404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58368" y="393192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necesidad vive fuera del código y alguien con autoridad tiene que declararla. Mientras eso no ocurra, el criterio es una decisión del equipo, no una regla del producto.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918704" y="3785616"/>
            <a:ext cx="3566160" cy="1700784"/>
          </a:xfrm>
          <a:prstGeom prst="roundRect">
            <a:avLst>
              <a:gd name="adj" fmla="val 376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74736" y="404164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</a:t>
            </a:r>
            <a:endParaRPr lang="en-US" sz="940" dirty="0"/>
          </a:p>
        </p:txBody>
      </p:sp>
      <p:sp>
        <p:nvSpPr>
          <p:cNvPr id="15" name="Text 12"/>
          <p:cNvSpPr txBox="1"/>
          <p:nvPr/>
        </p:nvSpPr>
        <p:spPr>
          <a:xfrm>
            <a:off x="8174736" y="4370832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nadie fuera del equipo puede confirmarlo, todavía no está validado.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ANTECEDENTE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la Clase 02 la verificación funcionó exactamente como debía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implementación no correspondía a la expectativa y la prueba lo demostró.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456432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2523744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5237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609344" y="2633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ROJA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" y="3255264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expectativa escrita no coincidía con el resultado obtenido.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69664" y="3108960"/>
            <a:ext cx="164592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0832" y="2249424"/>
            <a:ext cx="3456432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523744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63440" y="25237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321808" y="2633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9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3255264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mensaje señaló valor esperado, valor obtenido y línea.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882128" y="3108960"/>
            <a:ext cx="164592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83296" y="2249424"/>
            <a:ext cx="3456432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75904" y="2523744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75904" y="25237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034272" y="2633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375904" y="3255264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 quedó respaldada por una ejecución repetible.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58368" y="4754880"/>
            <a:ext cx="10872216" cy="1042416"/>
          </a:xfrm>
          <a:prstGeom prst="roundRect">
            <a:avLst>
              <a:gd name="adj" fmla="val 5263"/>
            </a:avLst>
          </a:prstGeom>
          <a:solidFill>
            <a:srgbClr val="E9F6EE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24128" y="4937760"/>
            <a:ext cx="1014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ciclo respondió la primera pregunta: el producto cumple lo que la prueba especifica.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24128" y="5376672"/>
            <a:ext cx="1014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segunda pregunta no participó en ningún momento de ese ciclo.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EL CÓDIGO DE HOY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prueba impecable sobre una decisión que nadie tomó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el archivo es correcto. El problema no está en ninguna línea mal escrita.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6547104" cy="3566160"/>
          </a:xfrm>
          <a:prstGeom prst="roundRect">
            <a:avLst>
              <a:gd name="adj" fmla="val 10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62910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32304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versión vigente del proyecto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16352"/>
            <a:ext cx="6126480" cy="28163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882128" y="2249424"/>
            <a:ext cx="3639312" cy="3566160"/>
          </a:xfrm>
          <a:prstGeom prst="roundRect">
            <a:avLst>
              <a:gd name="adj" fmla="val 179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19872" y="2487168"/>
            <a:ext cx="73152" cy="2560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39328" y="250545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MIRAR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2084" y="3235010"/>
            <a:ext cx="219456" cy="219456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323501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119872" y="3054096"/>
            <a:ext cx="292608" cy="292608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19872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8522208" y="3099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· DECISIÓN SIN AUTOR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119872" y="3438144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simple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8119872" y="384048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Reparte el mismo peso a las tres evaluaciones. Nadie lo autorizó.</a:t>
            </a:r>
            <a:endParaRPr lang="en-US" sz="1240" dirty="0"/>
          </a:p>
        </p:txBody>
      </p:sp>
      <p:sp>
        <p:nvSpPr>
          <p:cNvPr id="25" name="Shape 21"/>
          <p:cNvSpPr/>
          <p:nvPr/>
        </p:nvSpPr>
        <p:spPr>
          <a:xfrm>
            <a:off x="672084" y="4275140"/>
            <a:ext cx="219456" cy="21945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84" y="42751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8119872" y="4279392"/>
            <a:ext cx="3163824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119872" y="4425696"/>
            <a:ext cx="292608" cy="29260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11987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8522208" y="44714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L8 · COMPORTAMIENTO DOCUMENTADO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8119872" y="4809744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pasa</a:t>
            </a: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8119872" y="521208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Fija 3,9 como resultado esperado y la implementación lo cumple sin objeciones.</a:t>
            </a:r>
            <a:endParaRPr lang="en-US" sz="1260" dirty="0"/>
          </a:p>
        </p:txBody>
      </p:sp>
      <p:sp>
        <p:nvSpPr>
          <p:cNvPr id="33" name="Text 29"/>
          <p:cNvSpPr txBox="1"/>
          <p:nvPr/>
        </p:nvSpPr>
        <p:spPr>
          <a:xfrm>
            <a:off x="1847088" y="59436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defecto no está en el código: está en el supuesto que el código convirtió en regla.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ESTADO DE LOS CONTROLES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señales conformes y una casilla que nadie revisa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responden lo que saben responder, y lo hacen bien.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066544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254203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2004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LINTER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34930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hallazgos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871216" y="2249424"/>
            <a:ext cx="2066544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71216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71216" y="254203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2871216" y="32004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2999232" y="34930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contradicciones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84064" y="2249424"/>
            <a:ext cx="2066544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84064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84064" y="254203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5084064" y="32004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34930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passed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296912" y="2249424"/>
            <a:ext cx="2066544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96912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96912" y="254203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3400" dirty="0"/>
          </a:p>
        </p:txBody>
      </p:sp>
      <p:sp>
        <p:nvSpPr>
          <p:cNvPr id="29" name="Text 26"/>
          <p:cNvSpPr txBox="1"/>
          <p:nvPr/>
        </p:nvSpPr>
        <p:spPr>
          <a:xfrm>
            <a:off x="7296912" y="32004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424928" y="34930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legible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509760" y="2249424"/>
            <a:ext cx="2029968" cy="192024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9509760" y="254203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3400" dirty="0"/>
          </a:p>
        </p:txBody>
      </p:sp>
      <p:sp>
        <p:nvSpPr>
          <p:cNvPr id="33" name="Text 30"/>
          <p:cNvSpPr txBox="1"/>
          <p:nvPr/>
        </p:nvSpPr>
        <p:spPr>
          <a:xfrm>
            <a:off x="9509760" y="32004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9601200" y="349300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la revisa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58368" y="4626864"/>
            <a:ext cx="10872216" cy="1133856"/>
          </a:xfrm>
          <a:prstGeom prst="roundRect">
            <a:avLst>
              <a:gd name="adj" fmla="val 483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60704" y="4828032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cuatro primeras columnas comparan el producto con lo que está escrito.</a:t>
            </a:r>
            <a:endParaRPr lang="en-US" sz="1650" dirty="0"/>
          </a:p>
        </p:txBody>
      </p:sp>
      <p:sp>
        <p:nvSpPr>
          <p:cNvPr id="37" name="Text 34"/>
          <p:cNvSpPr txBox="1"/>
          <p:nvPr/>
        </p:nvSpPr>
        <p:spPr>
          <a:xfrm>
            <a:off x="1060704" y="5248656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quinta compara lo escrito con la realidad, y ninguna herramienta la ejecuta.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LA PREGUNTA QUE NINGUNA HERRAMIENTA HACE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62763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¿Quién autorizó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615184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las tres evaluaciones pesaran lo mismo?</a:t>
            </a:r>
            <a:endParaRPr lang="en-US" sz="3500" dirty="0"/>
          </a:p>
        </p:txBody>
      </p:sp>
      <p:sp>
        <p:nvSpPr>
          <p:cNvPr id="11" name="Shape 8"/>
          <p:cNvSpPr/>
          <p:nvPr/>
        </p:nvSpPr>
        <p:spPr>
          <a:xfrm>
            <a:off x="658368" y="3931920"/>
            <a:ext cx="47548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58368" y="42245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calcula un promedio simple porque así se escribió, no porque alguien lo haya decidido.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58368" y="4956048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510235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 / len(notas)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449824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hace el código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89904" y="4956048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510235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30 % · 30 % · 40 %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5449824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podría exigir el reglamento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EL CÁLCULO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mismas notas, dos reglas, dos calificaciones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de las dos operaciones está mal hecha. Solo una está autorizada.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49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1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 DE UN ESTUDIANTE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658368" y="2523744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25237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3,5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499616" y="2523744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99616" y="25237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3,5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340864" y="2523744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40864" y="25237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4,8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3566160" y="2432304"/>
            <a:ext cx="797356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66160" y="2432304"/>
            <a:ext cx="109728" cy="14813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877056" y="26334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SIMPLE</a:t>
            </a:r>
            <a:endParaRPr lang="en-US" sz="960" dirty="0"/>
          </a:p>
        </p:txBody>
      </p:sp>
      <p:sp>
        <p:nvSpPr>
          <p:cNvPr id="21" name="Text 18"/>
          <p:cNvSpPr txBox="1"/>
          <p:nvPr/>
        </p:nvSpPr>
        <p:spPr>
          <a:xfrm>
            <a:off x="3877056" y="2944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(3,5 + 3,5 + 4,8) ÷ 3  =  3,93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3877056" y="3383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lo que hace hoy el código.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84464" y="2651760"/>
            <a:ext cx="0" cy="1042416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8449056" y="270662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3,9</a:t>
            </a:r>
            <a:endParaRPr lang="en-US" sz="4000" dirty="0"/>
          </a:p>
        </p:txBody>
      </p:sp>
      <p:sp>
        <p:nvSpPr>
          <p:cNvPr id="25" name="Shape 22"/>
          <p:cNvSpPr/>
          <p:nvPr/>
        </p:nvSpPr>
        <p:spPr>
          <a:xfrm>
            <a:off x="9930384" y="2907792"/>
            <a:ext cx="1371600" cy="530352"/>
          </a:xfrm>
          <a:prstGeom prst="roundRect">
            <a:avLst>
              <a:gd name="adj" fmla="val 8621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930384" y="29077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REPRUEBA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566160" y="4059936"/>
            <a:ext cx="797356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4059936"/>
            <a:ext cx="109728" cy="14813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877056" y="4261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PONDERADO 30 · 30 · 40</a:t>
            </a:r>
            <a:endParaRPr lang="en-US" sz="960" dirty="0"/>
          </a:p>
        </p:txBody>
      </p:sp>
      <p:sp>
        <p:nvSpPr>
          <p:cNvPr id="30" name="Text 27"/>
          <p:cNvSpPr txBox="1"/>
          <p:nvPr/>
        </p:nvSpPr>
        <p:spPr>
          <a:xfrm>
            <a:off x="3877056" y="4572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1,05 + 1,05 + 1,92  =  4,02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3877056" y="5010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lo que podría exigir el reglamento.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284464" y="4279392"/>
            <a:ext cx="0" cy="1042416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 txBox="1"/>
          <p:nvPr/>
        </p:nvSpPr>
        <p:spPr>
          <a:xfrm>
            <a:off x="8449056" y="433425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4,0</a:t>
            </a:r>
            <a:endParaRPr lang="en-US" sz="4000" dirty="0"/>
          </a:p>
        </p:txBody>
      </p:sp>
      <p:sp>
        <p:nvSpPr>
          <p:cNvPr id="34" name="Shape 31"/>
          <p:cNvSpPr/>
          <p:nvPr/>
        </p:nvSpPr>
        <p:spPr>
          <a:xfrm>
            <a:off x="9930384" y="4535424"/>
            <a:ext cx="1371600" cy="530352"/>
          </a:xfrm>
          <a:prstGeom prst="roundRect">
            <a:avLst>
              <a:gd name="adj" fmla="val 862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930384" y="45354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APRUEBA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481328" y="5797296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puede comprobar cualquiera de las dos. Elegir cuál corresponde no es una tarea técnica.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EL PATRÓN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 caso aislado: la regla decide en ambos sentidos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centro del rango las dos reglas coinciden. Cerca del umbral, no.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10872216" cy="493776"/>
          </a:xfrm>
          <a:prstGeom prst="roundRect">
            <a:avLst>
              <a:gd name="adj" fmla="val 925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23113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 del estudiante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041648" y="22311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simple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236208" y="223113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Ponderado 30·30·40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2231136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decide la regla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2798064"/>
            <a:ext cx="1087221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2798064"/>
            <a:ext cx="91440" cy="84124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" y="279806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3,5 · 3,5 · 4,8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041648" y="279806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3,9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236208" y="279806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4,0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8613648" y="2798064"/>
            <a:ext cx="2734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Reprueba con una y aprueba con la otra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8368" y="3730752"/>
            <a:ext cx="1087221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730752"/>
            <a:ext cx="91440" cy="84124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2688" y="373075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4,5 · 4,5 · 3,0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041648" y="373075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4,0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236208" y="3730752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3,9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8613648" y="3730752"/>
            <a:ext cx="2734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Aprueba con una y reprueba con la otra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58368" y="4663440"/>
            <a:ext cx="1087221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4663440"/>
            <a:ext cx="91440" cy="84124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2688" y="466344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 · 4,0 · 3,0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041648" y="4663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3,7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236208" y="466344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3,6</a:t>
            </a:r>
            <a:endParaRPr lang="en-US" sz="2600" dirty="0"/>
          </a:p>
        </p:txBody>
      </p:sp>
      <p:sp>
        <p:nvSpPr>
          <p:cNvPr id="33" name="Text 30"/>
          <p:cNvSpPr txBox="1"/>
          <p:nvPr/>
        </p:nvSpPr>
        <p:spPr>
          <a:xfrm>
            <a:off x="8613648" y="4663440"/>
            <a:ext cx="2734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dos coinciden en la decisión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481328" y="5669280"/>
            <a:ext cx="9235440" cy="548640"/>
          </a:xfrm>
          <a:prstGeom prst="roundRect">
            <a:avLst>
              <a:gd name="adj" fmla="val 8333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737360" y="5669280"/>
            <a:ext cx="8723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dos de los tres casos, la regla no autorizada decide si un estudiante aprueba.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IDEA CENTRAL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prueba es una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95728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especificación ejecutable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4930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Hereda todo lo bueno y todo lo equivocado de la expectativa que la originó.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22960" y="4261104"/>
            <a:ext cx="3291840" cy="1316736"/>
          </a:xfrm>
          <a:prstGeom prst="roundRect">
            <a:avLst>
              <a:gd name="adj" fmla="val 486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4517136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9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</a:t>
            </a:r>
            <a:endParaRPr lang="en-US" sz="98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" y="484632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decide qué se espera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169664" y="4718304"/>
            <a:ext cx="2011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4261104"/>
            <a:ext cx="3291840" cy="1316736"/>
          </a:xfrm>
          <a:prstGeom prst="roundRect">
            <a:avLst>
              <a:gd name="adj" fmla="val 486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0016" y="4517136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80" dirty="0"/>
          </a:p>
        </p:txBody>
      </p:sp>
      <p:sp>
        <p:nvSpPr>
          <p:cNvPr id="18" name="Text 15"/>
          <p:cNvSpPr txBox="1"/>
          <p:nvPr/>
        </p:nvSpPr>
        <p:spPr>
          <a:xfrm>
            <a:off x="4700016" y="484632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expectativa queda ejecutable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7827264" y="4718304"/>
            <a:ext cx="2011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38160" y="4261104"/>
            <a:ext cx="3291840" cy="1316736"/>
          </a:xfrm>
          <a:prstGeom prst="roundRect">
            <a:avLst>
              <a:gd name="adj" fmla="val 486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57616" y="4517136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357616" y="484632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 la cumple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CONSECUENCIA PRÁCTICA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la expectativa es incorrecta, la suite protege el error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mecanismo que evita regresiones también conserva una regla que nadie autorizó.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596896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505456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1272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escribe el criterio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22192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decide un comportamiento razonable.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91840" y="3200400"/>
            <a:ext cx="128016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19856" y="2249424"/>
            <a:ext cx="2596896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75888" y="2505456"/>
            <a:ext cx="457200" cy="457200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75888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3675888" y="31272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 lo fija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675888" y="3822192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expectativa queda registrada y ejecutable.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53328" y="3200400"/>
            <a:ext cx="128016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81344" y="2249424"/>
            <a:ext cx="2596896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37376" y="2505456"/>
            <a:ext cx="457200" cy="457200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37376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60" dirty="0"/>
          </a:p>
        </p:txBody>
      </p:sp>
      <p:sp>
        <p:nvSpPr>
          <p:cNvPr id="26" name="Text 23"/>
          <p:cNvSpPr txBox="1"/>
          <p:nvPr/>
        </p:nvSpPr>
        <p:spPr>
          <a:xfrm>
            <a:off x="6437376" y="31272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criterio se corrige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37376" y="3822192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descubre que la regla real era otra.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14816" y="3200400"/>
            <a:ext cx="128016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942832" y="2249424"/>
            <a:ext cx="2596896" cy="2432304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98864" y="2505456"/>
            <a:ext cx="457200" cy="45720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98864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60" dirty="0"/>
          </a:p>
        </p:txBody>
      </p:sp>
      <p:sp>
        <p:nvSpPr>
          <p:cNvPr id="32" name="Text 29"/>
          <p:cNvSpPr txBox="1"/>
          <p:nvPr/>
        </p:nvSpPr>
        <p:spPr>
          <a:xfrm>
            <a:off x="9198864" y="31272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 se rompe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9198864" y="3822192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 aparece como una falla del producto.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58368" y="5029200"/>
            <a:ext cx="10872216" cy="786384"/>
          </a:xfrm>
          <a:prstGeom prst="roundRect">
            <a:avLst>
              <a:gd name="adj" fmla="val 697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24128" y="5029200"/>
            <a:ext cx="10140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Cuanto más tarde se descubre, más caro sale: hay que cambiar el código y además todas las pruebas que defendían la regla equivocada.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CÓMO SE REGISTRA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 defecto: es un criterio que nadie validó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distinción cambia quién debe actuar, no solo cómo se llama el hallazgo.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120640" cy="3054096"/>
          </a:xfrm>
          <a:prstGeom prst="roundRect">
            <a:avLst>
              <a:gd name="adj" fmla="val 20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5120640" cy="1097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23744"/>
            <a:ext cx="4498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2871216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programa no hace lo que se le pidió.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969264" y="3840480"/>
            <a:ext cx="449884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969264" y="398678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Actúa el equipo técnico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969264" y="4352544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corrige en el código y se comprueba con una prueba.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44768" y="2249424"/>
            <a:ext cx="5120640" cy="3054096"/>
          </a:xfrm>
          <a:prstGeom prst="roundRect">
            <a:avLst>
              <a:gd name="adj" fmla="val 20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44768" y="2249424"/>
            <a:ext cx="5120640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55664" y="2523744"/>
            <a:ext cx="4498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DE VALIDACIÓN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2871216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programa hace exactamente lo que se le pidió, y aun así el resultado no sirve.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6455664" y="3840480"/>
            <a:ext cx="449884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6455664" y="398678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Actúa quien tiene autoridad sobre la regla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455664" y="4352544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resuelve consultando la fuente y recién después se programa.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481328" y="5541264"/>
            <a:ext cx="9235440" cy="548640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737360" y="5541264"/>
            <a:ext cx="8723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Confundirlos lleva a corregir código que no estaba mal, o a esperar una decisión que nadie tiene que tomar.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· LOS CUATRO ESCENARIOS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Cruzar ambas preguntas deja solo un cuadrante aceptable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uno se detecta de una forma distinta, y uno de ellos se parece al éxito.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3054096" y="228600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· ¿era el criterio correcto?</a:t>
            </a:r>
            <a:endParaRPr lang="en-US" sz="960" dirty="0"/>
          </a:p>
        </p:txBody>
      </p:sp>
      <p:sp>
        <p:nvSpPr>
          <p:cNvPr id="12" name="Text 9"/>
          <p:cNvSpPr txBox="1"/>
          <p:nvPr/>
        </p:nvSpPr>
        <p:spPr>
          <a:xfrm>
            <a:off x="3054096" y="2523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260336" y="2523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5237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96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7614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¿cumple el criterio?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3392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14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4873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14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054096" y="2798064"/>
            <a:ext cx="4151376" cy="1426464"/>
          </a:xfrm>
          <a:prstGeom prst="roundRect">
            <a:avLst>
              <a:gd name="adj" fmla="val 3205"/>
            </a:avLst>
          </a:prstGeom>
          <a:solidFill>
            <a:srgbClr val="E9F6EE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10128" y="2980944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 adecuado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310128" y="360273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Cumple un criterio que además responde a la necesidad.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260336" y="2798064"/>
            <a:ext cx="4151376" cy="1426464"/>
          </a:xfrm>
          <a:prstGeom prst="roundRect">
            <a:avLst>
              <a:gd name="adj" fmla="val 3205"/>
            </a:avLst>
          </a:prstGeom>
          <a:solidFill>
            <a:srgbClr val="F2E7D9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16368" y="2980944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ejecutado con precisión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516368" y="360273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en verde sobre una regla que nadie autorizó.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3054096" y="4279392"/>
            <a:ext cx="4151376" cy="1426464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10128" y="446227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Defecto clásico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3310128" y="5084064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sabía qué hacer y la implementación no lo cumple.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260336" y="4279392"/>
            <a:ext cx="4151376" cy="1426464"/>
          </a:xfrm>
          <a:prstGeom prst="roundRect">
            <a:avLst>
              <a:gd name="adj" fmla="val 3205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16368" y="446227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Doble fallo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516368" y="5084064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definió bien y nadie lo comprobó.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658368" y="5943600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el cuadrante superior izquierdo permite una conclusión positiva proporcional a la evidencia.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· EL CUADRANTE PELIGROSO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36192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Verificado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40864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no validado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40156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más difícil de detectar porque se parece al éxito: el tablero está entero en verde y nadie tiene motivos para mirar dos veces.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4590288"/>
            <a:ext cx="31089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658368" y="4828032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hallazgo aparece cuando alguien confronta el criterio con su fuente, no cuando ejecuta la suite.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0" y="1536192"/>
            <a:ext cx="3712464" cy="4078224"/>
          </a:xfrm>
          <a:prstGeom prst="roundRect">
            <a:avLst>
              <a:gd name="adj" fmla="val 1970"/>
            </a:avLst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182880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VE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83296" y="2212848"/>
            <a:ext cx="3090672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93024" y="221284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       ✓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83296" y="2761488"/>
            <a:ext cx="3090672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93024" y="276148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      ✓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83296" y="3310128"/>
            <a:ext cx="3090672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93024" y="331012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     ✓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83296" y="3858768"/>
            <a:ext cx="3090672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93024" y="385876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cobertura  ✓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083296" y="4626864"/>
            <a:ext cx="309067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 txBox="1"/>
          <p:nvPr/>
        </p:nvSpPr>
        <p:spPr>
          <a:xfrm>
            <a:off x="8046720" y="48463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la regla sigue sin autorizar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· LÍMITE DE LA COBERTURA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pruebas mueven el producto en un solo eje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equipo puede subir su cobertura durante semanas sin acercarse al otro.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3017520"/>
            <a:ext cx="7680960" cy="13716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32186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 DE LA VERIFICACIÓN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35112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casos · más cobertura · más ejecuciones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913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esto ocurre dentro del proyecto.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09360" y="3493008"/>
            <a:ext cx="1920240" cy="420624"/>
          </a:xfrm>
          <a:prstGeom prst="chevron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31936" y="2249424"/>
            <a:ext cx="2907792" cy="3291840"/>
          </a:xfrm>
          <a:prstGeom prst="roundRect">
            <a:avLst>
              <a:gd name="adj" fmla="val 1887"/>
            </a:avLst>
          </a:prstGeom>
          <a:solidFill>
            <a:srgbClr val="F2E7D9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887968" y="24688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 DE LA VALIDACIÓN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9857232" y="2798064"/>
            <a:ext cx="457200" cy="1097280"/>
          </a:xfrm>
          <a:prstGeom prst="downArrow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87968" y="4078224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sola pregunta a la fuente correcta mueve el producto más que cien casos nuevos.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" y="4864608"/>
            <a:ext cx="7680960" cy="786384"/>
          </a:xfrm>
          <a:prstGeom prst="roundRect">
            <a:avLst>
              <a:gd name="adj" fmla="val 58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2688" y="4864608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cobertura no responde de dónde salió la expectativa que cubre.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PREGUNTAS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nombrando la fuente de verdad que corresponde; la pista solo desbloquea el razonamiento.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30352" cy="53035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40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249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la verificación puede hacerse dentro del equipo y la validación no?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2889504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81328" y="2889504"/>
            <a:ext cx="73152" cy="4572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00784" y="2889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28895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dónde vive la especificación y dónde vive la necesidad.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675888"/>
            <a:ext cx="530352" cy="530352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675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58444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prueba en verde puede estar equivocada, ¿qué la vuelve confiable?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481328" y="4224528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81328" y="4224528"/>
            <a:ext cx="73152" cy="4572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00784" y="4224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42245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la herramienta que la ejecuta, sino el origen de la expectativa que afirma.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58368" y="5010912"/>
            <a:ext cx="530352" cy="53035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481328" y="4919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«verificado pero no validado» es el cuadrante más difícil de detectar?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481328" y="5559552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81328" y="5559552"/>
            <a:ext cx="73152" cy="4572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700784" y="5559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2523744" y="55595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qué señales entrega el proyecto en ese estado y a qué se parecen.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SÍNTESIS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Verificar compara el producto con lo que se especificó.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5915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compara lo especificado con lo que había que lograr.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55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segunda comparación no la entrega ninguna herramienta.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" y="3767328"/>
            <a:ext cx="10872216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658368" y="3986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SIGUE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658368" y="4334256"/>
            <a:ext cx="3383280" cy="1207008"/>
          </a:xfrm>
          <a:prstGeom prst="roundRect">
            <a:avLst>
              <a:gd name="adj" fmla="val 530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6112" y="455371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1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ARIANE 5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96112" y="488289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Verificado para otro cohete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15968" y="4334256"/>
            <a:ext cx="3383280" cy="1207008"/>
          </a:xfrm>
          <a:prstGeom prst="roundRect">
            <a:avLst>
              <a:gd name="adj" fmla="val 530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3712" y="455371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1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KNIGHT CAPITAL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53712" y="488289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verificado no fue lo desplegado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73568" y="4334256"/>
            <a:ext cx="3383280" cy="1207008"/>
          </a:xfrm>
          <a:prstGeom prst="roundRect">
            <a:avLst>
              <a:gd name="adj" fmla="val 530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455371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1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THERAC-25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488289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necesario nunca se programó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57058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sistemas donde faltó exactamente una de estas dos preguntas.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25 MINUTOS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17904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desastres,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14016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que faltaron</a:t>
            </a:r>
            <a:endParaRPr lang="en-US" sz="4600" dirty="0"/>
          </a:p>
        </p:txBody>
      </p:sp>
      <p:sp>
        <p:nvSpPr>
          <p:cNvPr id="11" name="Shape 8"/>
          <p:cNvSpPr/>
          <p:nvPr/>
        </p:nvSpPr>
        <p:spPr>
          <a:xfrm>
            <a:off x="658368" y="3456432"/>
            <a:ext cx="42062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58368" y="36941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los tres hubo trabajo técnico serio, gente competente y pruebas realizadas. Lo que faltó fue una pregunta específica, y esa pregunta se puede nombrar.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58368" y="4626864"/>
            <a:ext cx="2542032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4809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5084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matriz para leer fallas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401568" y="4626864"/>
            <a:ext cx="2542032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21024" y="4809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621024" y="5084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Ariane 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44768" y="4626864"/>
            <a:ext cx="2542032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64224" y="4809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364224" y="5084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Knight Capital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887968" y="4626864"/>
            <a:ext cx="2542032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07424" y="4809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07424" y="5084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Therac-25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EL INSTRUMENTO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misma matriz para leer cualquier falla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preguntas en orden: de lo que se prometió a lo que habría hecho falta.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04288"/>
            <a:ext cx="91440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3042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499616" y="2304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especificó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90288" y="230428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comportamiento que el sistema declaraba cumplir.</a:t>
            </a:r>
            <a:endParaRPr lang="en-US" sz="1280" dirty="0"/>
          </a:p>
        </p:txBody>
      </p:sp>
      <p:sp>
        <p:nvSpPr>
          <p:cNvPr id="16" name="Shape 13"/>
          <p:cNvSpPr/>
          <p:nvPr/>
        </p:nvSpPr>
        <p:spPr>
          <a:xfrm>
            <a:off x="1225296" y="3017520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25296" y="3017520"/>
            <a:ext cx="91440" cy="603504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99616" y="30175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2066544" y="30175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verificó de verdad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157216" y="30175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qué artefacto y contra qué referencia se comprobó.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1792224" y="3730752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92224" y="3730752"/>
            <a:ext cx="91440" cy="60350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66544" y="373075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2633472" y="373075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supuesto nunca se validó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724144" y="373075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condición que se dio por cierta sin confrontarla.</a:t>
            </a:r>
            <a:endParaRPr lang="en-US" sz="1280" dirty="0"/>
          </a:p>
        </p:txBody>
      </p:sp>
      <p:sp>
        <p:nvSpPr>
          <p:cNvPr id="26" name="Shape 23"/>
          <p:cNvSpPr/>
          <p:nvPr/>
        </p:nvSpPr>
        <p:spPr>
          <a:xfrm>
            <a:off x="2359152" y="4443984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359152" y="4443984"/>
            <a:ext cx="91440" cy="60350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33472" y="444398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3200400" y="444398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se rompió la correspondencia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291072" y="444398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lo probado y lo operando dejaron de ser lo mismo.</a:t>
            </a:r>
            <a:endParaRPr lang="en-US" sz="1280" dirty="0"/>
          </a:p>
        </p:txBody>
      </p:sp>
      <p:sp>
        <p:nvSpPr>
          <p:cNvPr id="31" name="Shape 28"/>
          <p:cNvSpPr/>
          <p:nvPr/>
        </p:nvSpPr>
        <p:spPr>
          <a:xfrm>
            <a:off x="2926080" y="5157216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926080" y="5157216"/>
            <a:ext cx="91440" cy="6035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00400" y="51572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3767328" y="515721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evidencia lo habría revelado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515721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comprobación concreta que faltaba ejecutar.</a:t>
            </a:r>
            <a:endParaRPr lang="en-US" sz="1280" dirty="0"/>
          </a:p>
        </p:txBody>
      </p:sp>
      <p:sp>
        <p:nvSpPr>
          <p:cNvPr id="36" name="Text 33"/>
          <p:cNvSpPr txBox="1"/>
          <p:nvPr/>
        </p:nvSpPr>
        <p:spPr>
          <a:xfrm>
            <a:off x="658368" y="5925312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mismas cinco filas, tres veces, para poder comparar los casos entre sí.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LA CUARTA COLUMNA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con verificar y validar bien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que asegurar además que lo verificado sea exactamente lo que está operando.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484632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4846320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5237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VERIFICÓ</a:t>
            </a:r>
            <a:endParaRPr lang="en-US" sz="920" dirty="0"/>
          </a:p>
        </p:txBody>
      </p:sp>
      <p:sp>
        <p:nvSpPr>
          <p:cNvPr id="14" name="Text 11"/>
          <p:cNvSpPr txBox="1"/>
          <p:nvPr/>
        </p:nvSpPr>
        <p:spPr>
          <a:xfrm>
            <a:off x="950976" y="2798064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artefacto probado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" y="3456432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versión sobre la que se ejecutaron las pruebas, en el entorno del equipo.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93408" y="2249424"/>
            <a:ext cx="484632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93408" y="2249424"/>
            <a:ext cx="4846320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86016" y="25237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ESTÁ OPERANDO</a:t>
            </a:r>
            <a:endParaRPr lang="en-US" sz="920" dirty="0"/>
          </a:p>
        </p:txBody>
      </p:sp>
      <p:sp>
        <p:nvSpPr>
          <p:cNvPr id="19" name="Text 16"/>
          <p:cNvSpPr txBox="1"/>
          <p:nvPr/>
        </p:nvSpPr>
        <p:spPr>
          <a:xfrm>
            <a:off x="6986016" y="2798064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artefacto en producción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6986016" y="3456432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versión que efectivamente recibe las peticiones de las personas reales.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687568" y="3054096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87568" y="30540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3000" dirty="0"/>
          </a:p>
        </p:txBody>
      </p:sp>
      <p:sp>
        <p:nvSpPr>
          <p:cNvPr id="23" name="Shape 20"/>
          <p:cNvSpPr/>
          <p:nvPr/>
        </p:nvSpPr>
        <p:spPr>
          <a:xfrm>
            <a:off x="658368" y="4864608"/>
            <a:ext cx="10872216" cy="1060704"/>
          </a:xfrm>
          <a:prstGeom prst="roundRect">
            <a:avLst>
              <a:gd name="adj" fmla="val 517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60704" y="5047488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el signo se mantiene, la evidencia acumulada sirve para hablar del sistema real.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060704" y="5468112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deja de mantenerse, toda esa evidencia describe un sistema que ya no existe.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ARIANE 5, VUELO 501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71600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Treinta y nueve segundos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140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de junio de 1996 · Kourou, Guayana Francesa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9260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cohete diseñado durante diez años y con una carga científica irremplazable se destruyó antes de dejar de verse desde la plataforma.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4059936"/>
            <a:ext cx="6309360" cy="1371600"/>
          </a:xfrm>
          <a:prstGeom prst="roundRect">
            <a:avLst>
              <a:gd name="adj" fmla="val 466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4059936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pérdida material se estimó en cientos de millones de dólares. No hubo víctimas: el vuelo no era tripulado.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321040" y="1371600"/>
            <a:ext cx="0" cy="411480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8193024" y="1371600"/>
            <a:ext cx="256032" cy="25603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0" y="1316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H0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Despegue nominal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193024" y="2834640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0" y="27797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 s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el sistema de referencia inercial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193024" y="4297680"/>
            <a:ext cx="256032" cy="25603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0" y="42428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 s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Destrucción del lanzador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QUÉ OCURRIÓ TÉCNICAMENTE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número que no cabía en el tipo de destino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causa inmediata: convertir un decimal de 64 bits a un entero con signo de 16 bits.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72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24323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1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 · decimal de 64 bits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950976" y="2706624"/>
            <a:ext cx="10104120" cy="329184"/>
          </a:xfrm>
          <a:prstGeom prst="roundRect">
            <a:avLst>
              <a:gd name="adj" fmla="val 11111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15568" y="270662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suficiente para la velocidad horizontal real del vehículo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70448" y="3438144"/>
            <a:ext cx="457200" cy="566928"/>
          </a:xfrm>
          <a:prstGeom prst="downArrow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3584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conversión sin protección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58368" y="4169664"/>
            <a:ext cx="10872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43159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 · entero con signo de 16 bits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950976" y="4590288"/>
            <a:ext cx="2377440" cy="329184"/>
          </a:xfrm>
          <a:prstGeom prst="roundRect">
            <a:avLst>
              <a:gd name="adj" fmla="val 11111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50976" y="4590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-32.768  a  32.767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64992" y="4590288"/>
            <a:ext cx="7653528" cy="329184"/>
          </a:xfrm>
          <a:prstGeom prst="roundRect">
            <a:avLst>
              <a:gd name="adj" fmla="val 11111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3364992" y="4590288"/>
            <a:ext cx="7653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real caía fuera de este rango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5358384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60704" y="5358384"/>
            <a:ext cx="10067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erróneo salió del sistema inercial y la computadora de vuelo lo interpretó como dato de trayectoria.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LOS HECHOS QUE IMPORTAN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decisiones razonables que juntas produjeron la falla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de ellas fue un descuido: todas tenían una justificación en su momento.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860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316736" y="2304288"/>
            <a:ext cx="91440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27632" y="224942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módulo venía del Ariane 4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24942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Cumplía su especificación, verificada durante años de vuelos exitosos.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3090672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658368" y="325526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316736" y="3273552"/>
            <a:ext cx="91440" cy="62179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627632" y="32186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protección se omitió a propósito</a:t>
            </a:r>
            <a:endParaRPr lang="en-US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321868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análisis demostraba que el desborde era imposible, con datos de trayectoria del Ariane 4.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" y="4059936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 txBox="1"/>
          <p:nvPr/>
        </p:nvSpPr>
        <p:spPr>
          <a:xfrm>
            <a:off x="658368" y="42245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1316736" y="4242816"/>
            <a:ext cx="91440" cy="62179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27632" y="41879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cálculo ya no servía para nada</a:t>
            </a:r>
            <a:endParaRPr lang="en-US" sz="16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418795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Correspondía a una función de alineamiento sin utilidad operativa después del despegue.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8368" y="5029200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658368" y="519379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1316736" y="5212080"/>
            <a:ext cx="91440" cy="62179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627632" y="515721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redundancia era idéntica</a:t>
            </a:r>
            <a:endParaRPr lang="en-US" sz="16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0" y="5157216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de respaldo ejecutaba el mismo software con los mismos datos, y falló primero.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DIAGNÓSTICO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Ariane 5 en la matriz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verificación fue correcta. Lo era para otro cohete.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743200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651760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ARIANE 5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49300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Vuelo 501 · 4 de junio de 1996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32688" y="4059936"/>
            <a:ext cx="21945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932688" y="4261104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 del código no es absoluta: es relativa a un contexto y a unos supuestos.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66160" y="23774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224942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ESPECIFICÓ</a:t>
            </a:r>
            <a:endParaRPr lang="en-US" sz="1120" dirty="0"/>
          </a:p>
        </p:txBody>
      </p:sp>
      <p:sp>
        <p:nvSpPr>
          <p:cNvPr id="20" name="Text 17"/>
          <p:cNvSpPr txBox="1"/>
          <p:nvPr/>
        </p:nvSpPr>
        <p:spPr>
          <a:xfrm>
            <a:off x="6364224" y="224942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comportamiento del sistema inercial en el perfil de vuelo del Ariane 4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3566160" y="2926080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3566160" y="30906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114800" y="29626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VERIFICÓ</a:t>
            </a:r>
            <a:endParaRPr lang="en-US" sz="112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96265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implementación cumpliera esa especificación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3566160" y="3639312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3566160" y="380390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6616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114800" y="36758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VALIDÓ</a:t>
            </a:r>
            <a:endParaRPr lang="en-US" sz="1120" dirty="0"/>
          </a:p>
        </p:txBody>
      </p:sp>
      <p:sp>
        <p:nvSpPr>
          <p:cNvPr id="30" name="Text 27"/>
          <p:cNvSpPr txBox="1"/>
          <p:nvPr/>
        </p:nvSpPr>
        <p:spPr>
          <a:xfrm>
            <a:off x="6364224" y="36758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perfil de vuelo del Ariane 5 estuviera dentro de los supuestos heredados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3566160" y="4352544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3566160" y="45171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566160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114800" y="43891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CORRESPONDENCIA</a:t>
            </a:r>
            <a:endParaRPr lang="en-US" sz="1120" dirty="0"/>
          </a:p>
        </p:txBody>
      </p:sp>
      <p:sp>
        <p:nvSpPr>
          <p:cNvPr id="35" name="Text 32"/>
          <p:cNvSpPr txBox="1"/>
          <p:nvPr/>
        </p:nvSpPr>
        <p:spPr>
          <a:xfrm>
            <a:off x="6364224" y="43891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Intacta: el software probado era el que voló, en un vehículo distinto</a:t>
            </a:r>
            <a:endParaRPr lang="en-US" sz="1450" dirty="0"/>
          </a:p>
        </p:txBody>
      </p:sp>
      <p:sp>
        <p:nvSpPr>
          <p:cNvPr id="36" name="Shape 33"/>
          <p:cNvSpPr/>
          <p:nvPr/>
        </p:nvSpPr>
        <p:spPr>
          <a:xfrm>
            <a:off x="3566160" y="5065776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Shape 34"/>
          <p:cNvSpPr/>
          <p:nvPr/>
        </p:nvSpPr>
        <p:spPr>
          <a:xfrm>
            <a:off x="3566160" y="523036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56616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4114800" y="51023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FALTANTE</a:t>
            </a:r>
            <a:endParaRPr lang="en-US" sz="1120" dirty="0"/>
          </a:p>
        </p:txBody>
      </p:sp>
      <p:sp>
        <p:nvSpPr>
          <p:cNvPr id="40" name="Text 37"/>
          <p:cNvSpPr txBox="1"/>
          <p:nvPr/>
        </p:nvSpPr>
        <p:spPr>
          <a:xfrm>
            <a:off x="6364224" y="510235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de integración alimentada con la trayectoria real del Ariane 5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LA LECCIÓN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99616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ejecuciones del mismo error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7744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son dos evidencias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658368" y="35661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284B7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376732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0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ACTIVO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877824" y="40782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software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44074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mismos datos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498848" y="35661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284B7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18304" y="376732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0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RESPALDO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4718304" y="40782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software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718304" y="44074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mismos datos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503920" y="356616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0" y="35661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misma falla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52303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redundancia duplicó el componente, no el supuesto. Para que un respaldo aporte evidencia nueva tiene que poder fallar de otra manera.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KNIGHT CAPITAL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5331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de agosto de 2012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031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firma de trading despliega código nuevo en sus servidores de ejecución de órdenes, minutos antes de la apertura del mercado.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6200" dirty="0"/>
          </a:p>
        </p:txBody>
      </p:sp>
      <p:sp>
        <p:nvSpPr>
          <p:cNvPr id="12" name="Text 9"/>
          <p:cNvSpPr txBox="1"/>
          <p:nvPr/>
        </p:nvSpPr>
        <p:spPr>
          <a:xfrm>
            <a:off x="3218688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minutos de operación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44805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440</a:t>
            </a:r>
            <a:endParaRPr lang="en-US" sz="6200" dirty="0"/>
          </a:p>
        </p:txBody>
      </p:sp>
      <p:sp>
        <p:nvSpPr>
          <p:cNvPr id="14" name="Text 11"/>
          <p:cNvSpPr txBox="1"/>
          <p:nvPr/>
        </p:nvSpPr>
        <p:spPr>
          <a:xfrm>
            <a:off x="3218688" y="47914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millones de dólares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589520" y="1353312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82128" y="1664208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QUEDÓ DESPUÉS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7882128" y="2048256"/>
            <a:ext cx="33467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empresa dejó de ser viable y fue absorbida meses después.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882128" y="3200400"/>
            <a:ext cx="3346704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7882128" y="3438144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desplegado había sido probado. El problema fue dónde quedó instalado y dónde no.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EL DESPLIEGUE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Siete servidores recibieron el código nuevo. Uno no.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actualización se copió de forma manual, sin una comprobación que confirmara el resultado.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280160" cy="1828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1280160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2542032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9536" y="2798064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9536" y="3054096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37307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nueva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002536" y="2249424"/>
            <a:ext cx="1280160" cy="1828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02536" y="2249424"/>
            <a:ext cx="1280160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03704" y="2542032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03704" y="2798064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03704" y="3054096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02536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057400" y="37307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nueva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346704" y="2249424"/>
            <a:ext cx="1280160" cy="1828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46704" y="2249424"/>
            <a:ext cx="1280160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47872" y="2542032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47872" y="2798064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47872" y="3054096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346704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3401568" y="37307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nueva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690872" y="2249424"/>
            <a:ext cx="1280160" cy="1828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90872" y="2249424"/>
            <a:ext cx="1280160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92040" y="2542032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92040" y="2798064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92040" y="3054096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690872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745736" y="37307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nueva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35040" y="2249424"/>
            <a:ext cx="1280160" cy="1828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35040" y="2249424"/>
            <a:ext cx="1280160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236208" y="2542032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236208" y="2798064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236208" y="3054096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035040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089904" y="37307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nueva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379208" y="2249424"/>
            <a:ext cx="1280160" cy="1828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379208" y="2249424"/>
            <a:ext cx="1280160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580376" y="2542032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580376" y="2798064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580376" y="3054096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379208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S6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7434072" y="37307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nueva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8723376" y="2249424"/>
            <a:ext cx="1280160" cy="1828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723376" y="2249424"/>
            <a:ext cx="1280160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924544" y="2542032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924544" y="2798064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924544" y="3054096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723376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S7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8778240" y="37307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nueva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0067544" y="2249424"/>
            <a:ext cx="1280160" cy="1828800"/>
          </a:xfrm>
          <a:prstGeom prst="roundRect">
            <a:avLst>
              <a:gd name="adj" fmla="val 4286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067544" y="2249424"/>
            <a:ext cx="1280160" cy="9144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268712" y="2542032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268712" y="2798064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268712" y="3054096"/>
            <a:ext cx="877824" cy="164592"/>
          </a:xfrm>
          <a:prstGeom prst="roundRect">
            <a:avLst>
              <a:gd name="adj" fmla="val 1111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10067544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S8</a:t>
            </a:r>
            <a:endParaRPr lang="en-US" sz="1400" dirty="0"/>
          </a:p>
        </p:txBody>
      </p:sp>
      <p:sp>
        <p:nvSpPr>
          <p:cNvPr id="66" name="Text 63"/>
          <p:cNvSpPr txBox="1"/>
          <p:nvPr/>
        </p:nvSpPr>
        <p:spPr>
          <a:xfrm>
            <a:off x="10122408" y="37307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de 2003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658368" y="444398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E9F6EE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32688" y="4626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siete servidores</a:t>
            </a:r>
            <a:endParaRPr lang="en-US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932688" y="49560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indicador reutilizado activaba el componente nuevo, tal como se había probado.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6236208" y="444398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6510528" y="4626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octavo</a:t>
            </a:r>
            <a:endParaRPr lang="en-US" sz="1500" dirty="0"/>
          </a:p>
        </p:txBody>
      </p:sp>
      <p:sp>
        <p:nvSpPr>
          <p:cNvPr id="72" name="Text 69"/>
          <p:cNvSpPr txBox="1"/>
          <p:nvPr/>
        </p:nvSpPr>
        <p:spPr>
          <a:xfrm>
            <a:off x="6510528" y="49560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mismo indicador despertó código inactivo desde hacía años, sin control de posiciones.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LA CAUSA DE FONDO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indicador significaba dos cosas distintas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especificaciones incompatibles convivían en el mismo sistema, separadas por nueve años.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3410712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341071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indicador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749040" y="2249424"/>
            <a:ext cx="77906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49040" y="2249424"/>
            <a:ext cx="109728" cy="13716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41648" y="25237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358384" y="250545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un componente de enrutamiento que ya nadie usaba.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358384" y="29992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muerto, nunca retirado del sistema.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749040" y="4114800"/>
            <a:ext cx="77906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49040" y="4114800"/>
            <a:ext cx="109728" cy="137160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41648" y="4389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5358384" y="43708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el componente nuevo que acababa de desplegarse.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358384" y="48646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Especificación vigente, verificada por el equipo.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2944368" y="3867912"/>
            <a:ext cx="4389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3383280" y="2935224"/>
            <a:ext cx="0" cy="18653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3383280" y="2935224"/>
            <a:ext cx="36576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3383280" y="4800600"/>
            <a:ext cx="36576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481328" y="5797296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Reutilizar un nombre disponible es barato. Volver a comprobar qué despierta ese nombre en cada servidor, no.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DIAGNÓSTICO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Knight Capital en la matriz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la falla no está en lo verificado, sino en la fila que las otras dos tienen intacta.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743200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651760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KNIGHT CAPITAL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49300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de agosto de 2012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32688" y="4059936"/>
            <a:ext cx="21945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932688" y="4261104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suite perfecta sobre un artefacto que no está corriendo no demuestra nada del sistema real.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66160" y="23774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224942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ESPECIFICÓ</a:t>
            </a:r>
            <a:endParaRPr lang="en-US" sz="1120" dirty="0"/>
          </a:p>
        </p:txBody>
      </p:sp>
      <p:sp>
        <p:nvSpPr>
          <p:cNvPr id="20" name="Text 17"/>
          <p:cNvSpPr txBox="1"/>
          <p:nvPr/>
        </p:nvSpPr>
        <p:spPr>
          <a:xfrm>
            <a:off x="6364224" y="224942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comportamiento del nuevo componente de ejecución de órdenes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3566160" y="2926080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3566160" y="30906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114800" y="29626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VERIFICÓ</a:t>
            </a:r>
            <a:endParaRPr lang="en-US" sz="112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96265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componente, en un entorno donde sí estaba instalado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3566160" y="3639312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3566160" y="380390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6616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114800" y="36758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VALIDÓ</a:t>
            </a:r>
            <a:endParaRPr lang="en-US" sz="1120" dirty="0"/>
          </a:p>
        </p:txBody>
      </p:sp>
      <p:sp>
        <p:nvSpPr>
          <p:cNvPr id="30" name="Text 27"/>
          <p:cNvSpPr txBox="1"/>
          <p:nvPr/>
        </p:nvSpPr>
        <p:spPr>
          <a:xfrm>
            <a:off x="6364224" y="36758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reutilizar un indicador antiguo fuera seguro con código muerto presente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3566160" y="4352544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3566160" y="4389120"/>
            <a:ext cx="7964424" cy="658368"/>
          </a:xfrm>
          <a:prstGeom prst="roundRect">
            <a:avLst>
              <a:gd name="adj" fmla="val 694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66160" y="45171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566160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114800" y="43891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CORRESPONDENCIA</a:t>
            </a:r>
            <a:endParaRPr lang="en-US" sz="1120" dirty="0"/>
          </a:p>
        </p:txBody>
      </p:sp>
      <p:sp>
        <p:nvSpPr>
          <p:cNvPr id="36" name="Text 33"/>
          <p:cNvSpPr txBox="1"/>
          <p:nvPr/>
        </p:nvSpPr>
        <p:spPr>
          <a:xfrm>
            <a:off x="6364224" y="43891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ROTA: siete servidores ejecutaban lo verificado y uno ejecutaba otra cosa</a:t>
            </a:r>
            <a:endParaRPr lang="en-US" sz="1450" dirty="0"/>
          </a:p>
        </p:txBody>
      </p:sp>
      <p:sp>
        <p:nvSpPr>
          <p:cNvPr id="37" name="Shape 34"/>
          <p:cNvSpPr/>
          <p:nvPr/>
        </p:nvSpPr>
        <p:spPr>
          <a:xfrm>
            <a:off x="3566160" y="5065776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>
            <a:off x="3566160" y="523036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56616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114800" y="51023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FALTANTE</a:t>
            </a:r>
            <a:endParaRPr lang="en-US" sz="1120" dirty="0"/>
          </a:p>
        </p:txBody>
      </p:sp>
      <p:sp>
        <p:nvSpPr>
          <p:cNvPr id="41" name="Text 38"/>
          <p:cNvSpPr txBox="1"/>
          <p:nvPr/>
        </p:nvSpPr>
        <p:spPr>
          <a:xfrm>
            <a:off x="6364224" y="510235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comprobación automática de que los ocho nodos ejecutan la misma versión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THERAC-25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71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1985 - 1987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762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Máquina de radioterapia en uso clínico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7432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operador corregía la pantalla con suficiente rapidez, el equipo quedaba en un estado inconsistente y aplicaba una dosis cientos de veces superior a la indicada.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4023360"/>
            <a:ext cx="38404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658368" y="426110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menos seis sobredosis masivas documentadas, con varias muertes.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0" y="1371600"/>
            <a:ext cx="3749040" cy="4114800"/>
          </a:xfrm>
          <a:prstGeom prst="roundRect">
            <a:avLst>
              <a:gd name="adj" fmla="val 195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65008" y="1682496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CAUSA INMEDIATA</a:t>
            </a:r>
            <a:endParaRPr lang="en-US" sz="94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201168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condición de carrera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065008" y="2889504"/>
            <a:ext cx="3163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tareas que compartían estado sin sincronización, en una secuencia de edición rápida que nadie había previsto como caso de prueba.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065008" y="4517136"/>
            <a:ext cx="3163824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8065008" y="4736592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esa no es la parte que faltó validar.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EL CAMBIO DE DISEÑO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anterior tenía una barrera que el nuevo eliminó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software se consideró confiable porque venía de un equipo donde nunca había sido la única protección.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494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80" kern="0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THERAC-20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58368" y="2670048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670048"/>
            <a:ext cx="109728" cy="9144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9264" y="2834640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ENCLAVAMIENTO MECÁNICO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127248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Impide físicamente la combinación peligrosa.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368" y="3730752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730752"/>
            <a:ext cx="109728" cy="9144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9264" y="389534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9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DE CONTROL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4187952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mismos defectos que tendría el modelo siguiente.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" y="4846320"/>
            <a:ext cx="5120640" cy="713232"/>
          </a:xfrm>
          <a:prstGeom prst="roundRect">
            <a:avLst>
              <a:gd name="adj" fmla="val 6410"/>
            </a:avLst>
          </a:prstGeom>
          <a:solidFill>
            <a:srgbClr val="E9F6EE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7824" y="4846320"/>
            <a:ext cx="4681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defectos existían y el hardware los contenía.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6144768" y="22494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80" kern="0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THERAC-25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144768" y="2670048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8F3EC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6455664" y="2834640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BARRERA FÍSICA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55664" y="3127248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enclavamiento se retiró para abaratar el equipo.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44768" y="3730752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44768" y="3730752"/>
            <a:ext cx="109728" cy="9144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55664" y="389534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9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DE CONTROL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455664" y="4187952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es la única protección del paciente.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44768" y="4846320"/>
            <a:ext cx="5120640" cy="713232"/>
          </a:xfrm>
          <a:prstGeom prst="roundRect">
            <a:avLst>
              <a:gd name="adj" fmla="val 6410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64224" y="4846320"/>
            <a:ext cx="4681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mismos defectos, ya sin nada que los detenga.</a:t>
            </a:r>
            <a:endParaRPr lang="en-US" sz="1450" dirty="0"/>
          </a:p>
        </p:txBody>
      </p:sp>
      <p:sp>
        <p:nvSpPr>
          <p:cNvPr id="32" name="Text 29"/>
          <p:cNvSpPr txBox="1"/>
          <p:nvPr/>
        </p:nvSpPr>
        <p:spPr>
          <a:xfrm>
            <a:off x="1481328" y="5797296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años el hardware estuvo ocultando defectos de software que nadie sabía que existían.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DIAGNÓSTICO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Therac-25 en la matriz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software hacía lo que se le pidió. El problema es lo que se le pidió.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743200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651760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THERAC-25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49300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1985 - 1987 · uso clínico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32688" y="4059936"/>
            <a:ext cx="21945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932688" y="4261104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análisis de riesgos asignó al fallo de software una probabilidad baja, sin evidencia que la respaldara.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66160" y="23774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224942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ESPECIFICÓ</a:t>
            </a:r>
            <a:endParaRPr lang="en-US" sz="1120" dirty="0"/>
          </a:p>
        </p:txBody>
      </p:sp>
      <p:sp>
        <p:nvSpPr>
          <p:cNvPr id="20" name="Text 17"/>
          <p:cNvSpPr txBox="1"/>
          <p:nvPr/>
        </p:nvSpPr>
        <p:spPr>
          <a:xfrm>
            <a:off x="6364224" y="224942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equipo aplicara la dosis indicada en pantalla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3566160" y="2926080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3566160" y="30906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114800" y="29626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VERIFICÓ</a:t>
            </a:r>
            <a:endParaRPr lang="en-US" sz="112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96265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comportamiento del software en las secuencias de uso previstas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3566160" y="3639312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3566160" y="380390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6616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114800" y="36758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VALIDÓ</a:t>
            </a:r>
            <a:endParaRPr lang="en-US" sz="1120" dirty="0"/>
          </a:p>
        </p:txBody>
      </p:sp>
      <p:sp>
        <p:nvSpPr>
          <p:cNvPr id="30" name="Text 27"/>
          <p:cNvSpPr txBox="1"/>
          <p:nvPr/>
        </p:nvSpPr>
        <p:spPr>
          <a:xfrm>
            <a:off x="6364224" y="36758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software solo bastara como barrera de seguridad sin respaldo físico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3566160" y="4352544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3566160" y="45171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566160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114800" y="43891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CORRESPONDENCIA</a:t>
            </a:r>
            <a:endParaRPr lang="en-US" sz="1120" dirty="0"/>
          </a:p>
        </p:txBody>
      </p:sp>
      <p:sp>
        <p:nvSpPr>
          <p:cNvPr id="35" name="Text 32"/>
          <p:cNvSpPr txBox="1"/>
          <p:nvPr/>
        </p:nvSpPr>
        <p:spPr>
          <a:xfrm>
            <a:off x="6364224" y="43891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Intacta: operaba el software que se había probado</a:t>
            </a:r>
            <a:endParaRPr lang="en-US" sz="1450" dirty="0"/>
          </a:p>
        </p:txBody>
      </p:sp>
      <p:sp>
        <p:nvSpPr>
          <p:cNvPr id="36" name="Shape 33"/>
          <p:cNvSpPr/>
          <p:nvPr/>
        </p:nvSpPr>
        <p:spPr>
          <a:xfrm>
            <a:off x="3566160" y="5065776"/>
            <a:ext cx="7964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Shape 34"/>
          <p:cNvSpPr/>
          <p:nvPr/>
        </p:nvSpPr>
        <p:spPr>
          <a:xfrm>
            <a:off x="3566160" y="523036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56616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4114800" y="51023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6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FALTANTE</a:t>
            </a:r>
            <a:endParaRPr lang="en-US" sz="1120" dirty="0"/>
          </a:p>
        </p:txBody>
      </p:sp>
      <p:sp>
        <p:nvSpPr>
          <p:cNvPr id="40" name="Text 37"/>
          <p:cNvSpPr txBox="1"/>
          <p:nvPr/>
        </p:nvSpPr>
        <p:spPr>
          <a:xfrm>
            <a:off x="6364224" y="510235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análisis de riesgos del sistema completo, con la interacción del operador</a:t>
            </a:r>
            <a:endParaRPr lang="en-US" sz="14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LA DISTANCIA ENTRE DOS CRITERIOS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1517904"/>
            <a:ext cx="128016" cy="1280160"/>
          </a:xfrm>
          <a:prstGeom prst="rect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42416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PROGRAMADO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42416" y="1883664"/>
            <a:ext cx="9692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«Aplicar lo que el operador indicó»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658368" y="3200400"/>
            <a:ext cx="128016" cy="12801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32369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NECESARIO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" y="3566160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«No aplicar nunca una dosis capaz de dañar al paciente»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658368" y="4791456"/>
            <a:ext cx="10872216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658368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distancia entre ambos no es un error de programación: es un criterio que nadie confrontó con la necesidad real del producto.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COMPARACIÓN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casos caen en el mismo cuadrante y el tercero no cabe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la matriz de la clase necesita una quinta pregunta además de las dos originales.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773936" y="234086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940" dirty="0"/>
          </a:p>
        </p:txBody>
      </p:sp>
      <p:sp>
        <p:nvSpPr>
          <p:cNvPr id="12" name="Text 9"/>
          <p:cNvSpPr txBox="1"/>
          <p:nvPr/>
        </p:nvSpPr>
        <p:spPr>
          <a:xfrm>
            <a:off x="1773936" y="2560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425696" y="2560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560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4645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773936" y="2798064"/>
            <a:ext cx="2596896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920240" y="2798064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adecuado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425696" y="2798064"/>
            <a:ext cx="2596896" cy="1261872"/>
          </a:xfrm>
          <a:prstGeom prst="roundRect">
            <a:avLst>
              <a:gd name="adj" fmla="val 3623"/>
            </a:avLst>
          </a:prstGeom>
          <a:solidFill>
            <a:srgbClr val="F2E7D9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0" y="2798064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ARIANE 5 · THERAC-25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773936" y="4114800"/>
            <a:ext cx="2596896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920240" y="4114800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 clásico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425696" y="4114800"/>
            <a:ext cx="2596896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0" y="4114800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Doble fallo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773936" y="55961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Verificados contra su especificación, con un supuesto que nadie confrontó.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223760" y="2249424"/>
            <a:ext cx="4315968" cy="3145536"/>
          </a:xfrm>
          <a:prstGeom prst="roundRect">
            <a:avLst>
              <a:gd name="adj" fmla="val 2035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16368" y="2487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FUERA DE LA MATRIZ</a:t>
            </a:r>
            <a:endParaRPr lang="en-US" sz="940" dirty="0"/>
          </a:p>
        </p:txBody>
      </p:sp>
      <p:sp>
        <p:nvSpPr>
          <p:cNvPr id="28" name="Text 25"/>
          <p:cNvSpPr txBox="1"/>
          <p:nvPr/>
        </p:nvSpPr>
        <p:spPr>
          <a:xfrm>
            <a:off x="7516368" y="27614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KNIGHT CAPITAL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7516368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puede ubicar preguntando si cumplió el criterio, porque el servidor que falló nunca recibió el código evaluado.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516368" y="4315968"/>
            <a:ext cx="3749040" cy="0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  <a:headEnd type="none"/>
            <a:tailEnd type="none"/>
          </a:ln>
        </p:spPr>
      </p:sp>
      <p:sp>
        <p:nvSpPr>
          <p:cNvPr id="31" name="Text 28"/>
          <p:cNvSpPr txBox="1"/>
          <p:nvPr/>
        </p:nvSpPr>
        <p:spPr>
          <a:xfrm>
            <a:off x="7516368" y="451713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que lo detecta es la correspondencia: ¿lo verificado es lo que está operando?</a:t>
            </a:r>
            <a:endParaRPr lang="en-US" sz="14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EL LÍMITE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Ninguno de los tres se evitaba con más pruebas unitarias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los tres, el problema estaba fuera del componente que fallaba, no dentro.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72216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109728" cy="82296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4128" y="22494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9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ARIANE 5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2249424"/>
            <a:ext cx="7461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de integración con datos reales del vehículo nuevo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3182112"/>
            <a:ext cx="10872216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82112"/>
            <a:ext cx="109728" cy="82296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24128" y="31821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KNIGHT CAPITAL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931920" y="3182112"/>
            <a:ext cx="7461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comprobación de que todos los nodos ejecutan la versión verificada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" y="4114800"/>
            <a:ext cx="10872216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4114800"/>
            <a:ext cx="109728" cy="8229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24128" y="4114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9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THERAC-25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4114800"/>
            <a:ext cx="7461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análisis de riesgos del sistema completo, con el operador incluido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" y="5175504"/>
            <a:ext cx="10872216" cy="91440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60704" y="5358384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pedirle la causa a un agente, la respuesta suele detenerse en la línea técnica.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60704" y="5724144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parte que ya estaba verificada: el supuesto no validado no está escrito en el código.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PREGUNTAS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por caso; responde nombrando la fila de la matriz que corresponde.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30352" cy="53035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40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249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la redundancia del Ariane 5 no funcionó como protección?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2889504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81328" y="2889504"/>
            <a:ext cx="73152" cy="4572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00784" y="2889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28895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qué se duplicó y qué no se duplicó.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675888"/>
            <a:ext cx="530352" cy="530352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675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58444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 que un despliegue parcial invalide la evidencia acumulada?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481328" y="4224528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81328" y="4224528"/>
            <a:ext cx="73152" cy="4572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00784" y="4224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42245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Pregúntate sobre qué artefacto se ejecutaron las pruebas y cuál estaba operando.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58368" y="5010912"/>
            <a:ext cx="530352" cy="53035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481328" y="4919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que el hardware del Therac-20 estuviera «ocultando» defectos de software?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481328" y="5559552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81328" y="5559552"/>
            <a:ext cx="73152" cy="4572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700784" y="5559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2523744" y="55595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defecto sin barrera que lo contenga no es un defecto nuevo: es uno que se vuelve visible.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SÍNTESIS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los tres casos hubo trabajo técnico verificado.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77440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faltó fue confrontar un supuesto, o comprobar que lo verificado siguiera operando.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658368" y="3456432"/>
            <a:ext cx="10872216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58368" y="3675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SIGUE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395020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Ninguno de estos sistemas se parece al proyecto propio en tamaño. Los tres comparten su estructura de error.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406640" y="3675888"/>
            <a:ext cx="4114800" cy="2011680"/>
          </a:xfrm>
          <a:prstGeom prst="roundRect">
            <a:avLst>
              <a:gd name="adj" fmla="val 31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99248" y="3895344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699248" y="4187952"/>
            <a:ext cx="3529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Buscar esos mismos vacíos en el producto propio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699248" y="528523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 ventaja de poder corregirlos.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30 MINUTOS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17904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vacío,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14016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nuestro propio proyecto</a:t>
            </a:r>
            <a:endParaRPr lang="en-US" sz="4600" dirty="0"/>
          </a:p>
        </p:txBody>
      </p:sp>
      <p:sp>
        <p:nvSpPr>
          <p:cNvPr id="11" name="Shape 8"/>
          <p:cNvSpPr/>
          <p:nvPr/>
        </p:nvSpPr>
        <p:spPr>
          <a:xfrm>
            <a:off x="658368" y="3456432"/>
            <a:ext cx="42062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58368" y="36941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Ninguno de esos sistemas se parece al nuestro en tamaño. La diferencia es que en el nuestro todavía estamos a tiempo.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58368" y="4626864"/>
            <a:ext cx="2011680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9536" y="4809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50840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origen de cada criterio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852928" y="4626864"/>
            <a:ext cx="2011680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54096" y="4809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054096" y="50840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de trazabilidad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47488" y="4626864"/>
            <a:ext cx="2011680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48656" y="4809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248656" y="50840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patologías frecuentes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242048" y="4626864"/>
            <a:ext cx="2011680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43216" y="4809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443216" y="50840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que aprueba igual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436608" y="4626864"/>
            <a:ext cx="2011680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37776" y="4809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9637776" y="50840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el hallazgo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EL SALTO DE EXIGENCIA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un criterio ya no le basta con ser observable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anterior pedía una condición comprobable. Hoy pedimos además quién la autoriza.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12064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5120640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23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2816352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observable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456432"/>
            <a:ext cx="4517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condición que puede comprobarse con una prueba, una medición o una revisión.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969264" y="437083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CUMPLIDO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44768" y="2249424"/>
            <a:ext cx="512064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44768" y="2249424"/>
            <a:ext cx="5120640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55664" y="2523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2816352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autorizado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3456432"/>
            <a:ext cx="4517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misma condición, más el documento o la persona que la declara obligatoria.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455664" y="437083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55664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824728" y="3529584"/>
            <a:ext cx="274320" cy="420624"/>
          </a:xfrm>
          <a:prstGeom prst="chevron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5504688"/>
            <a:ext cx="10872216" cy="548640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60704" y="5504688"/>
            <a:ext cx="1006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criterio sin autor es una decisión del equipo disfrazada de regla del producto.</a:t>
            </a:r>
            <a:endParaRPr lang="en-US" sz="15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EL INTERROGATORIO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que todo criterio debe poder responder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dos primeras suelen tener respuesta. La tercera es la que queda en blanco.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12064" cy="51206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249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907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necesidad expresa este criterio?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58368" y="3877056"/>
            <a:ext cx="3200400" cy="0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658368" y="40416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calificación refleje el rendimiento real del estudiante.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07408" y="2249424"/>
            <a:ext cx="512064" cy="51206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07408" y="2249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407408" y="2907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¿Quién declaró esa necesidad?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4407408" y="3877056"/>
            <a:ext cx="3200400" cy="0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4407408" y="40416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brief de la iteración, acordado al inicio.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156448" y="2249424"/>
            <a:ext cx="512064" cy="51206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56448" y="2249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156448" y="2907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¿Dónde está registrada esa declaración?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8156448" y="3877056"/>
            <a:ext cx="3200400" cy="1005840"/>
          </a:xfrm>
          <a:prstGeom prst="roundRect">
            <a:avLst>
              <a:gd name="adj" fmla="val 4545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8156448" y="3877056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blanco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5358384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«Lo decidimos nosotros porque parecía razonable» es una respuesta honesta, y deja el criterio sin validar.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UN ESTADO LEGÍTIMO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17904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«Sin validar»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14016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significa «mal»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52958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criterio sin fuente puede estar perfectamente bien elegido. Lo que falta no es acierto: es respaldo, y mientras falte hay que decirlo.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4352544"/>
            <a:ext cx="3383280" cy="1225296"/>
          </a:xfrm>
          <a:prstGeom prst="roundRect">
            <a:avLst>
              <a:gd name="adj" fmla="val 52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4352544"/>
            <a:ext cx="3383280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45720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4882896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contradice la regla real del producto.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315968" y="4352544"/>
            <a:ext cx="3383280" cy="1225296"/>
          </a:xfrm>
          <a:prstGeom prst="roundRect">
            <a:avLst>
              <a:gd name="adj" fmla="val 52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15968" y="4352544"/>
            <a:ext cx="3383280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3712" y="45720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VALIDAR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53712" y="4882896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podría ser correcto y nadie lo ha confirmado.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973568" y="4352544"/>
            <a:ext cx="3383280" cy="1225296"/>
          </a:xfrm>
          <a:prstGeom prst="roundRect">
            <a:avLst>
              <a:gd name="adj" fmla="val 52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73568" y="4352544"/>
            <a:ext cx="3383280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11312" y="45720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VALIDADO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11312" y="4882896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tiene una fuente que lo declara obligatorio.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EL INSTRUMENTO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trazabilidad conecta cada necesidad con sus dos evidencias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columnas agrupadas en cuatro zonas, de la necesidad al estado.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108960" cy="402336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24942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DÓNDE VIENE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58368" y="2834640"/>
            <a:ext cx="31089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2834640"/>
            <a:ext cx="3108960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30540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3511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producto debe lograr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" y="4041648"/>
            <a:ext cx="31089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4041648"/>
            <a:ext cx="3108960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" y="42611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" y="4718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lo declara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950208" y="2249424"/>
            <a:ext cx="2286000" cy="402336"/>
          </a:xfrm>
          <a:prstGeom prst="roundRect">
            <a:avLst>
              <a:gd name="adj" fmla="val 9091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41648" y="22494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EXIGE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3950208" y="2834640"/>
            <a:ext cx="228600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50208" y="2834640"/>
            <a:ext cx="2286000" cy="7315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33088" y="30540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observable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133088" y="3511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condición comprobable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19088" y="2249424"/>
            <a:ext cx="3566160" cy="402336"/>
          </a:xfrm>
          <a:prstGeom prst="roundRect">
            <a:avLst>
              <a:gd name="adj" fmla="val 9091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10528" y="22494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COMPRUEBA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6419088" y="2834640"/>
            <a:ext cx="35661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19088" y="2834640"/>
            <a:ext cx="3566160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01968" y="30540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verificación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601968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 al proyecto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419088" y="4041648"/>
            <a:ext cx="35661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19088" y="4041648"/>
            <a:ext cx="3566160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01968" y="42611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validación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601968" y="4718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 al proyecto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10149840" y="2249424"/>
            <a:ext cx="1380744" cy="402336"/>
          </a:xfrm>
          <a:prstGeom prst="roundRect">
            <a:avLst>
              <a:gd name="adj" fmla="val 909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41280" y="2249424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940" dirty="0"/>
          </a:p>
        </p:txBody>
      </p:sp>
      <p:sp>
        <p:nvSpPr>
          <p:cNvPr id="39" name="Shape 36"/>
          <p:cNvSpPr/>
          <p:nvPr/>
        </p:nvSpPr>
        <p:spPr>
          <a:xfrm>
            <a:off x="10149840" y="2834640"/>
            <a:ext cx="1380744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149840" y="2834640"/>
            <a:ext cx="1380744" cy="7315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332720" y="3054096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0332720" y="3511296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marca vigente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658368" y="5358384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fila por necesidad. Si una columna queda vacía, eso mismo es el hallazgo.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LA TABLA EN USO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Así se ven dos filas completas del producto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todavía espera una confirmación externa; la segunda ya la tiene.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1087221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" y="223113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880" dirty="0"/>
          </a:p>
        </p:txBody>
      </p:sp>
      <p:sp>
        <p:nvSpPr>
          <p:cNvPr id="13" name="Text 10"/>
          <p:cNvSpPr txBox="1"/>
          <p:nvPr/>
        </p:nvSpPr>
        <p:spPr>
          <a:xfrm>
            <a:off x="3054096" y="223113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880" dirty="0"/>
          </a:p>
        </p:txBody>
      </p:sp>
      <p:sp>
        <p:nvSpPr>
          <p:cNvPr id="14" name="Text 11"/>
          <p:cNvSpPr txBox="1"/>
          <p:nvPr/>
        </p:nvSpPr>
        <p:spPr>
          <a:xfrm>
            <a:off x="4425696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OBSERVABLE</a:t>
            </a:r>
            <a:endParaRPr lang="en-US" sz="880" dirty="0"/>
          </a:p>
        </p:txBody>
      </p:sp>
      <p:sp>
        <p:nvSpPr>
          <p:cNvPr id="15" name="Text 12"/>
          <p:cNvSpPr txBox="1"/>
          <p:nvPr/>
        </p:nvSpPr>
        <p:spPr>
          <a:xfrm>
            <a:off x="6803136" y="223113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EV. DE VERIFICACIÓN</a:t>
            </a:r>
            <a:endParaRPr lang="en-US" sz="880" dirty="0"/>
          </a:p>
        </p:txBody>
      </p:sp>
      <p:sp>
        <p:nvSpPr>
          <p:cNvPr id="16" name="Text 13"/>
          <p:cNvSpPr txBox="1"/>
          <p:nvPr/>
        </p:nvSpPr>
        <p:spPr>
          <a:xfrm>
            <a:off x="8631936" y="223113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EV. DE VALIDACIÓN</a:t>
            </a:r>
            <a:endParaRPr lang="en-US" sz="880" dirty="0"/>
          </a:p>
        </p:txBody>
      </p:sp>
      <p:sp>
        <p:nvSpPr>
          <p:cNvPr id="17" name="Text 14"/>
          <p:cNvSpPr txBox="1"/>
          <p:nvPr/>
        </p:nvSpPr>
        <p:spPr>
          <a:xfrm>
            <a:off x="10552176" y="223113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58368" y="2779776"/>
            <a:ext cx="10872216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2779776"/>
            <a:ext cx="91440" cy="12801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" y="2889504"/>
            <a:ext cx="19568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calificación refleja el rendimiento según la regla vigente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127248" y="2889504"/>
            <a:ext cx="10424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Reglamento de evaluación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44368" y="2926080"/>
            <a:ext cx="0" cy="98755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4498848" y="2889504"/>
            <a:ext cx="20482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promedio se calcula con la ponderación que declara el reglamento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315968" y="2926080"/>
            <a:ext cx="0" cy="98755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 txBox="1"/>
          <p:nvPr/>
        </p:nvSpPr>
        <p:spPr>
          <a:xfrm>
            <a:off x="6876288" y="2889504"/>
            <a:ext cx="14996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automatizada sobre casos que cruzan el umbral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693408" y="2926080"/>
            <a:ext cx="0" cy="98755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8705088" y="2889504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Confrontación del criterio con el texto del reglamento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522208" y="2926080"/>
            <a:ext cx="0" cy="98755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10552176" y="3182112"/>
            <a:ext cx="868680" cy="475488"/>
          </a:xfrm>
          <a:prstGeom prst="roundRect">
            <a:avLst>
              <a:gd name="adj" fmla="val 9615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552176" y="318211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VALIDAR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658368" y="4151376"/>
            <a:ext cx="10872216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151376"/>
            <a:ext cx="91440" cy="1280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1248" y="4261104"/>
            <a:ext cx="19568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entrada inválida no produce una calificación engañosa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3127248" y="4261104"/>
            <a:ext cx="10424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de la iteración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2944368" y="4297680"/>
            <a:ext cx="0" cy="98755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 txBox="1"/>
          <p:nvPr/>
        </p:nvSpPr>
        <p:spPr>
          <a:xfrm>
            <a:off x="4498848" y="4261104"/>
            <a:ext cx="20482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 una lista vacía, la función informa el error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315968" y="4297680"/>
            <a:ext cx="0" cy="98755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8" name="Text 35"/>
          <p:cNvSpPr txBox="1"/>
          <p:nvPr/>
        </p:nvSpPr>
        <p:spPr>
          <a:xfrm>
            <a:off x="6876288" y="4261104"/>
            <a:ext cx="14996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que espera el error declarado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693408" y="4297680"/>
            <a:ext cx="0" cy="98755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0" name="Text 37"/>
          <p:cNvSpPr txBox="1"/>
          <p:nvPr/>
        </p:nvSpPr>
        <p:spPr>
          <a:xfrm>
            <a:off x="8705088" y="4261104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Confirmación de quien usa la herramienta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522208" y="4297680"/>
            <a:ext cx="0" cy="98755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2" name="Shape 39"/>
          <p:cNvSpPr/>
          <p:nvPr/>
        </p:nvSpPr>
        <p:spPr>
          <a:xfrm>
            <a:off x="10552176" y="4553712"/>
            <a:ext cx="868680" cy="475488"/>
          </a:xfrm>
          <a:prstGeom prst="roundRect">
            <a:avLst>
              <a:gd name="adj" fmla="val 9615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552176" y="455371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VERIFICADO</a:t>
            </a:r>
            <a:endParaRPr lang="en-US" sz="840" dirty="0"/>
          </a:p>
        </p:txBody>
      </p:sp>
      <p:sp>
        <p:nvSpPr>
          <p:cNvPr id="44" name="Text 41"/>
          <p:cNvSpPr txBox="1"/>
          <p:nvPr/>
        </p:nvSpPr>
        <p:spPr>
          <a:xfrm>
            <a:off x="658368" y="566928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no describe la calidad del criterio: describe cuánta evidencia lo respalda hoy.</a:t>
            </a:r>
            <a:endParaRPr lang="en-US" sz="15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DOS EVIDENCIAS DISTINTAS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se ejecuta; la otra se cita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Producen artefactos de naturaleza distinta y ninguna reemplaza a la otra.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4942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VERIFICACIÓN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5120640" cy="1371600"/>
          </a:xfrm>
          <a:prstGeom prst="roundRect">
            <a:avLst>
              <a:gd name="adj" fmla="val 266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" y="2688336"/>
            <a:ext cx="486460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61488"/>
            <a:ext cx="4608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reproducible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7824" y="3145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1188720" y="3145536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877824" y="340156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[100%]   3 passed</a:t>
            </a:r>
            <a:endParaRPr lang="en-US" sz="114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41148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produce el equipo, se repite cuando se quiera y queda en el repositorio.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327648" y="224942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VALIDACIÓN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27648" y="2578608"/>
            <a:ext cx="5202936" cy="13716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27648" y="2578608"/>
            <a:ext cx="109728" cy="13716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38544" y="2578608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«Reglamento de evaluación, artículo 12: el promedio final se calcula con las ponderaciones publicadas al inicio del período.»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327648" y="41148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produce una fuente externa, se cita con su nombre y su fecha, y nadie del equipo puede escribirla.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58368" y="4956048"/>
            <a:ext cx="10872216" cy="1005840"/>
          </a:xfrm>
          <a:prstGeom prst="roundRect">
            <a:avLst>
              <a:gd name="adj" fmla="val 545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60704" y="5138928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 ejecuciones en verde no producen ni una línea de la columna derecha.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060704" y="5522976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una cita del reglamento tampoco demuestra que el código la cumpla.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EL ESTADO REAL DE UN CRITERIO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54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la columna de validación vacía,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957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criterio deja de ser una conclusión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36976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pasa a ser una hipótesis de trabajo.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58368" y="4315968"/>
            <a:ext cx="4937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658368" y="45720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siendo útil: se puede implementar, probar y discutir. Lo que no se puede es presentarlo como si alguien lo hubiera aprobado.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772400" y="4261104"/>
            <a:ext cx="3749040" cy="1371600"/>
          </a:xfrm>
          <a:prstGeom prst="roundRect">
            <a:avLst>
              <a:gd name="adj" fmla="val 466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4261104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el proyecto tiene que mostrarlo, no esconderlo.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PRIMERA PATOLOGÍA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huérfano: hay criterio, hay prueba, no hay fuente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caso más común, y también el más fácil de confundir con un trabajo terminado.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Declarada en el brief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5292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301752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96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existe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4748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47488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1208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6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Escrito y observable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24204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42048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0664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EV. VERIFICACIÓN</a:t>
            </a:r>
            <a:endParaRPr lang="en-US" sz="96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en verde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43660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960120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EV. VALIDACIÓN</a:t>
            </a:r>
            <a:endParaRPr lang="en-US" sz="960" dirty="0"/>
          </a:p>
        </p:txBody>
      </p:sp>
      <p:sp>
        <p:nvSpPr>
          <p:cNvPr id="28" name="Text 25"/>
          <p:cNvSpPr txBox="1"/>
          <p:nvPr/>
        </p:nvSpPr>
        <p:spPr>
          <a:xfrm>
            <a:off x="960120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existe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3913632"/>
            <a:ext cx="10872216" cy="1207008"/>
          </a:xfrm>
          <a:prstGeom prst="roundRect">
            <a:avLst>
              <a:gd name="adj" fmla="val 45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60704" y="4133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Therac-25 en miniatura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1060704" y="4572000"/>
            <a:ext cx="10067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programó y se verificó un criterio que nadie autorizó. La diferencia es que aquí el hallazgo aparece antes de que el producto se use.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658368" y="5358384"/>
            <a:ext cx="10872216" cy="512064"/>
          </a:xfrm>
          <a:prstGeom prst="roundRect">
            <a:avLst>
              <a:gd name="adj" fmla="val 8929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" y="5358384"/>
            <a:ext cx="10872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marca POR VALIDAR y se registra la pregunta pendiente. No se borra el criterio ni se inventa la fuente.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SEGUNDA PATOLOGÍA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Necesidad sin criterio: nadie tradujo lo que se esperaba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no hay nada que verificar, porque nunca se definió qué habría que comprobar.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Declarada en el brief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5292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52928" y="2249424"/>
            <a:ext cx="2066544" cy="914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960" dirty="0"/>
          </a:p>
        </p:txBody>
      </p:sp>
      <p:sp>
        <p:nvSpPr>
          <p:cNvPr id="18" name="Text 15"/>
          <p:cNvSpPr txBox="1"/>
          <p:nvPr/>
        </p:nvSpPr>
        <p:spPr>
          <a:xfrm>
            <a:off x="301752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brief de la iteración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4748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8A6A12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521208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6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definir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24204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8A6A1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40664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EV. VERIFICACIÓN</a:t>
            </a:r>
            <a:endParaRPr lang="en-US" sz="96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definir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436608" y="2249424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8A6A12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9601200" y="2487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EV. VALIDACIÓN</a:t>
            </a:r>
            <a:endParaRPr lang="en-US" sz="960" dirty="0"/>
          </a:p>
        </p:txBody>
      </p:sp>
      <p:sp>
        <p:nvSpPr>
          <p:cNvPr id="27" name="Text 24"/>
          <p:cNvSpPr txBox="1"/>
          <p:nvPr/>
        </p:nvSpPr>
        <p:spPr>
          <a:xfrm>
            <a:off x="9601200" y="28895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definir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58368" y="3913632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" y="41330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TÍPICO</a:t>
            </a:r>
            <a:endParaRPr lang="en-US" sz="960" dirty="0"/>
          </a:p>
        </p:txBody>
      </p:sp>
      <p:sp>
        <p:nvSpPr>
          <p:cNvPr id="30" name="Text 27"/>
          <p:cNvSpPr txBox="1"/>
          <p:nvPr/>
        </p:nvSpPr>
        <p:spPr>
          <a:xfrm>
            <a:off x="950976" y="44256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«El sistema debe ser fácil de usar para el docente.»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950976" y="50840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 en el brief, nadie lo tradujo a una condición comprobable y por eso ninguna prueba lo cubre.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236208" y="3913632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28816" y="41330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MARCA</a:t>
            </a:r>
            <a:endParaRPr lang="en-US" sz="960" dirty="0"/>
          </a:p>
        </p:txBody>
      </p:sp>
      <p:sp>
        <p:nvSpPr>
          <p:cNvPr id="34" name="Text 31"/>
          <p:cNvSpPr txBox="1"/>
          <p:nvPr/>
        </p:nvSpPr>
        <p:spPr>
          <a:xfrm>
            <a:off x="6528816" y="44256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CRITERIO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528816" y="50109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se registra qué falta decidir. Es una decisión pendiente, no una tarea de programación.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CÓMO SE REGISTRAN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proyecto profesional no es el que no tiene huecos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que puede mostrarlos con precisión, en vez de descubrirlos cuando el producto ya está en uso.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12064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" y="2560320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603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VALIDAR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33467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</a:t>
            </a:r>
            <a:endParaRPr lang="en-US" sz="94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566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existe el criterio pero no su fuente.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69264" y="4114800"/>
            <a:ext cx="448056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969264" y="424281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SIGUIENTE</a:t>
            </a:r>
            <a:endParaRPr lang="en-US" sz="94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4462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Preguntar a quien tiene autoridad sobre la regla.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44768" y="2249424"/>
            <a:ext cx="512064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55664" y="2560320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55664" y="25603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CRITERIO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33467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</a:t>
            </a:r>
            <a:endParaRPr lang="en-US" sz="940" dirty="0"/>
          </a:p>
        </p:txBody>
      </p:sp>
      <p:sp>
        <p:nvSpPr>
          <p:cNvPr id="23" name="Text 20"/>
          <p:cNvSpPr txBox="1"/>
          <p:nvPr/>
        </p:nvSpPr>
        <p:spPr>
          <a:xfrm>
            <a:off x="6455664" y="3566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existe la necesidad pero nadie la tradujo.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455664" y="4114800"/>
            <a:ext cx="448056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 txBox="1"/>
          <p:nvPr/>
        </p:nvSpPr>
        <p:spPr>
          <a:xfrm>
            <a:off x="6455664" y="424281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SIGUIENTE</a:t>
            </a:r>
            <a:endParaRPr lang="en-US" sz="940" dirty="0"/>
          </a:p>
        </p:txBody>
      </p:sp>
      <p:sp>
        <p:nvSpPr>
          <p:cNvPr id="26" name="Text 23"/>
          <p:cNvSpPr txBox="1"/>
          <p:nvPr/>
        </p:nvSpPr>
        <p:spPr>
          <a:xfrm>
            <a:off x="6455664" y="4462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qué condición observable la representa.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58368" y="5175504"/>
            <a:ext cx="10872216" cy="786384"/>
          </a:xfrm>
          <a:prstGeom prst="roundRect">
            <a:avLst>
              <a:gd name="adj" fmla="val 697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0704" y="5175504"/>
            <a:ext cx="100675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de las dos marcas es una falla del equipo: las dos son trabajo de análisis bien hecho.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DÓNDE PROBAR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umbral es donde la regla revela su definición real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centro del rango casi cualquier implementación coincide con cualquier otra.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280160" y="3017520"/>
            <a:ext cx="9692640" cy="548640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0304" y="3017520"/>
            <a:ext cx="1453896" cy="548640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26480" y="2871216"/>
            <a:ext cx="0" cy="841248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5029200" y="2596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UMBRAL DE APROBACIÓN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658368" y="4114800"/>
            <a:ext cx="5120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4114800"/>
            <a:ext cx="109728" cy="14630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9264" y="4315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centro del rango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69264" y="4754880"/>
            <a:ext cx="4517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6,2 sigue siendo 6,2 con promedio simple o con ponderación. Las reglas coinciden y la prueba no distingue nada.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144768" y="4114800"/>
            <a:ext cx="5120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4114800"/>
            <a:ext cx="109728" cy="146304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55664" y="4315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Cerca del umbral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455664" y="4754880"/>
            <a:ext cx="4517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décima decide aprobación o reprobación. Ahí es donde dos reglas legítimas entregan resultados distintos.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5760720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los casos de prueba se eligen en el límite y no en el promedio cómodo.</a:t>
            </a:r>
            <a:endParaRPr lang="en-US" sz="15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EL CÓDIGO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prueba que recorre el umbral en tres casos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Parametrizada para no repetir la función, y con comparación tolerante entre decimales.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6858000" cy="3602736"/>
          </a:xfrm>
          <a:prstGeom prst="roundRect">
            <a:avLst>
              <a:gd name="adj" fmla="val 101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66019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32304"/>
            <a:ext cx="6382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test_notas.py · casos en el umbral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16352"/>
            <a:ext cx="6437376" cy="28529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790688" y="2249424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90688" y="2249424"/>
            <a:ext cx="109728" cy="109728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01584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parametrize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101584" y="2724912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casos, una sola función. Agregar un caso es agregar una línea.</a:t>
            </a:r>
            <a:endParaRPr lang="en-US" sz="1280" dirty="0"/>
          </a:p>
        </p:txBody>
      </p:sp>
      <p:sp>
        <p:nvSpPr>
          <p:cNvPr id="19" name="Shape 15"/>
          <p:cNvSpPr/>
          <p:nvPr/>
        </p:nvSpPr>
        <p:spPr>
          <a:xfrm>
            <a:off x="7790688" y="3493008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90688" y="3493008"/>
            <a:ext cx="109728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101584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approx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101584" y="396849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decimales con tolerancia: 3.9 nunca es exactamente 3.9 en binario.</a:t>
            </a:r>
            <a:endParaRPr lang="en-US" sz="1280" dirty="0"/>
          </a:p>
        </p:txBody>
      </p:sp>
      <p:sp>
        <p:nvSpPr>
          <p:cNvPr id="23" name="Shape 19"/>
          <p:cNvSpPr/>
          <p:nvPr/>
        </p:nvSpPr>
        <p:spPr>
          <a:xfrm>
            <a:off x="7790688" y="4736592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90688" y="4736592"/>
            <a:ext cx="109728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101584" y="4882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8101584" y="5212080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valor es la regla vigente puesta por escrito, no una observación del resultado.</a:t>
            </a:r>
            <a:endParaRPr lang="en-US" sz="1280" dirty="0"/>
          </a:p>
        </p:txBody>
      </p:sp>
      <p:sp>
        <p:nvSpPr>
          <p:cNvPr id="27" name="Text 23"/>
          <p:cNvSpPr txBox="1"/>
          <p:nvPr/>
        </p:nvSpPr>
        <p:spPr>
          <a:xfrm>
            <a:off x="658368" y="5943600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tres casos cruzan el umbral en las dos direcciones y uno queda en zona donde ambas reglas coinciden.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LA EJECUCIÓN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Verde, y la pregunta sigue abierta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responde con precisión aquello que la prueba afirma, y nada más.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72216" cy="1371600"/>
          </a:xfrm>
          <a:prstGeom prst="roundRect">
            <a:avLst>
              <a:gd name="adj" fmla="val 266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10616184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32304"/>
            <a:ext cx="10360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proyecto de calificaciones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1188720" y="2816352"/>
            <a:ext cx="10122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877824" y="3072384"/>
            <a:ext cx="10122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                                            [100%]   3 passed</a:t>
            </a:r>
            <a:endParaRPr lang="en-US" sz="1240" dirty="0"/>
          </a:p>
        </p:txBody>
      </p:sp>
      <p:sp>
        <p:nvSpPr>
          <p:cNvPr id="17" name="Shape 14"/>
          <p:cNvSpPr/>
          <p:nvPr/>
        </p:nvSpPr>
        <p:spPr>
          <a:xfrm>
            <a:off x="658368" y="3931920"/>
            <a:ext cx="51206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931920"/>
            <a:ext cx="5120640" cy="10972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" y="416966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ESTE VERDE DEMUESTRA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969264" y="4590288"/>
            <a:ext cx="91440" cy="18288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07008" y="4480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implementación calcula el promedio simple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69264" y="4992624"/>
            <a:ext cx="91440" cy="18288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207008" y="48828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lo redondea como el criterio declara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69264" y="5394960"/>
            <a:ext cx="91440" cy="18288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207008" y="5285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los tres casos ejecutados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44768" y="3931920"/>
            <a:ext cx="51206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44768" y="3931920"/>
            <a:ext cx="5120640" cy="1097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55664" y="416966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TOCA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6455664" y="4590288"/>
            <a:ext cx="91440" cy="1828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93408" y="4480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promedio debía ser simple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55664" y="4992624"/>
            <a:ext cx="91440" cy="1828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93408" y="48828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reglamento exige ponderaciones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455664" y="5394960"/>
            <a:ext cx="91440" cy="1828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93408" y="5285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aprobar en 4,0 es la regla vigente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EL LÍMITE DE LA PRUEBA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645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Ninguna prueba elige la regla.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61518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Solo puede fijar la que ya se eligió.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658368" y="3840480"/>
            <a:ext cx="4937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58368" y="4114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puede comprobar el promedio simple o el ponderado con la misma facilidad. Escribirla no es tomar la decisión: es dejarla escrita.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8368" y="5029200"/>
            <a:ext cx="10872216" cy="786384"/>
          </a:xfrm>
          <a:prstGeom prst="roundRect">
            <a:avLst>
              <a:gd name="adj" fmla="val 697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0704" y="5029200"/>
            <a:ext cx="100675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Quien decide qué regla rige es el reglamento. Nuestro trabajo es preguntarlo y dejar constancia de la respuesta.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 · EL REGISTRO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criterio sin fuente se anota con este formato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como defecto: el programa hace exactamente lo que se le pidió.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6858000" cy="3602736"/>
          </a:xfrm>
          <a:prstGeom prst="roundRect">
            <a:avLst>
              <a:gd name="adj" fmla="val 20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6858000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7552" y="25237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HALLAZGO DE VALIDACIÓN  ·  V-01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87552" y="2889504"/>
            <a:ext cx="6199632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987552" y="30175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afectado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493008" y="3017520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promedio se calcula como promedio simple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" y="34747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declarada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493008" y="3474720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39319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pendiente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493008" y="3931920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ponderación establece el reglamento vigente?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87552" y="43891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puede responderla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3493008" y="4389120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Coordinación académica del curso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87552" y="48463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si la respuesta es distinta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4846320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altera la aprobación de estudiantes en el umbral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87552" y="53766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493008" y="53766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93008" y="53766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VALIDAR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90688" y="2249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ES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7790688" y="2523744"/>
            <a:ext cx="3749040" cy="0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7790688" y="2651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defecto. El código no está mal escrito ni incumple lo que se le pidió.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790688" y="3493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SÍ ES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7790688" y="3767328"/>
            <a:ext cx="3749040" cy="0"/>
          </a:xfrm>
          <a:prstGeom prst="line">
            <a:avLst/>
          </a:prstGeom>
          <a:noFill/>
          <a:ln w="12700">
            <a:solidFill>
              <a:srgbClr val="8A6A12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 txBox="1"/>
          <p:nvPr/>
        </p:nvSpPr>
        <p:spPr>
          <a:xfrm>
            <a:off x="7790688" y="389534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pregunta abierta que el equipo técnico no puede responderse a sí mismo.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790688" y="4736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DESBLOQUEA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7790688" y="5010912"/>
            <a:ext cx="3749040" cy="0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 txBox="1"/>
          <p:nvPr/>
        </p:nvSpPr>
        <p:spPr>
          <a:xfrm>
            <a:off x="7790688" y="51389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 respuesta llega el criterio correcto, y recién ahí se programa.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PREGUNTAS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pensando en tu propia tabla, no en el ejemplo de la clase.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30352" cy="53035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40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249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 criterio sin fuente no es lo mismo que un criterio incorrecto?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2889504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81328" y="2889504"/>
            <a:ext cx="73152" cy="4572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00784" y="2889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28895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Uno puede estar bien y el otro mal; lo que falta en ambos es el respaldo que permita saberlo.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675888"/>
            <a:ext cx="530352" cy="530352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675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58444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los valores en el límite revelan la definición real de una regla?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481328" y="4224528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81328" y="4224528"/>
            <a:ext cx="73152" cy="4572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00784" y="4224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42245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centro del rango casi cualquier implementación coincide.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58368" y="5010912"/>
            <a:ext cx="530352" cy="53035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481328" y="4919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haces si la fuente que debería validar un criterio todavía no existe?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481328" y="5559552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81328" y="5559552"/>
            <a:ext cx="73152" cy="4572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700784" y="5559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2523744" y="55595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el estado y la pregunta es una respuesta profesional; inventar la regla no lo es.</a:t>
            </a:r>
            <a:endParaRPr lang="en-US" sz="13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SÍNTESIS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63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trazabilidad convierte una lista de criterios en un mapa.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505456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cada uno muestra si fue comprobado, si fue autorizado y qué falta para afirmarlo.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658368" y="3493008"/>
            <a:ext cx="10872216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58368" y="3657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QUEDA EN EL PROYECTO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58368" y="3986784"/>
            <a:ext cx="3383280" cy="1152144"/>
          </a:xfrm>
          <a:prstGeom prst="roundRect">
            <a:avLst>
              <a:gd name="adj" fmla="val 555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451713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Necesidad, criterio y las dos evidencias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315968" y="3986784"/>
            <a:ext cx="3383280" cy="1152144"/>
          </a:xfrm>
          <a:prstGeom prst="roundRect">
            <a:avLst>
              <a:gd name="adj" fmla="val 555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3712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53712" y="451713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que cruzan el umbral, en verde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973568" y="3986784"/>
            <a:ext cx="3383280" cy="1152144"/>
          </a:xfrm>
          <a:prstGeom prst="roundRect">
            <a:avLst>
              <a:gd name="adj" fmla="val 555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11312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211312" y="451713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pregunta con responsable posible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35838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bloque siguiente contrasta este trabajo con la clasificación que propone un agente, para descubrir dónde empieza a inventar la autoridad que no tiene.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25 MINUTOS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17904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clasifica bien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14016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declara autoridad que no tiene</a:t>
            </a:r>
            <a:endParaRPr lang="en-US" sz="4200" dirty="0"/>
          </a:p>
        </p:txBody>
      </p:sp>
      <p:sp>
        <p:nvSpPr>
          <p:cNvPr id="11" name="Shape 8"/>
          <p:cNvSpPr/>
          <p:nvPr/>
        </p:nvSpPr>
        <p:spPr>
          <a:xfrm>
            <a:off x="658368" y="3456432"/>
            <a:ext cx="42062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58368" y="36941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Vamos a contrastar nuestra clasificación con la suya y a encontrar el punto exacto en que deja de ser confiable.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58368" y="4626864"/>
            <a:ext cx="2542032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4809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5084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y límites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401568" y="4626864"/>
            <a:ext cx="2542032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21024" y="4809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621024" y="5084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ayuda y dónde no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44768" y="4626864"/>
            <a:ext cx="2542032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64224" y="4809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364224" y="5084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la propuesta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887968" y="4626864"/>
            <a:ext cx="2542032" cy="969264"/>
          </a:xfrm>
          <a:prstGeom prst="roundRect">
            <a:avLst>
              <a:gd name="adj" fmla="val 660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07424" y="4809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07424" y="5084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Consolidar la ficha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ANTES DE PEDIR NADA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clasifica mejor cuando recibe el material real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le pide que adivine el producto: se le entrega lo que el equipo ya tiene escrito.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45643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3456432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5054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50976" y="30175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tres criterios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" y="36576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 como quedaron redactados en la clase anterior.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70832" y="2249424"/>
            <a:ext cx="345643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0832" y="2249424"/>
            <a:ext cx="3456432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25054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0175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brief de la iteración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36576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única fuente autorizada que existe hoy en el proyecto.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83296" y="2249424"/>
            <a:ext cx="345643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83296" y="2249424"/>
            <a:ext cx="3456432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75904" y="25054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375904" y="30175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tabla iniciada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8375904" y="36576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las columnas vacías marcadas como vacías, sin rellenar.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58368" y="4882896"/>
            <a:ext cx="10872216" cy="1005840"/>
          </a:xfrm>
          <a:prstGeom prst="roundRect">
            <a:avLst>
              <a:gd name="adj" fmla="val 545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60704" y="5065776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material real, el agente ordena y amplía.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60704" y="5449824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material real, completa los espacios vacíos, que es exactamente lo que hace bien.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LA PETICIÓN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 entrega, qué se pide y qué no está autorizado a decidir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restricciones no son cortesía: son lo que impide que rellene la columna de la fuente.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6949440" cy="3621024"/>
          </a:xfrm>
          <a:prstGeom prst="roundRect">
            <a:avLst>
              <a:gd name="adj" fmla="val 1768"/>
            </a:avLst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432304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Contexto:</a:t>
            </a:r>
            <a:endParaRPr lang="en-US" sz="114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2638958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 de cálculo de calificaciones. Te entrego tres</a:t>
            </a:r>
            <a:endParaRPr lang="en-US" sz="114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2845613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criterios de calidad y el brief de la iteración.</a:t>
            </a:r>
            <a:endParaRPr lang="en-US" sz="114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25892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Tarea:</a:t>
            </a:r>
            <a:endParaRPr lang="en-US" sz="1140" dirty="0"/>
          </a:p>
        </p:txBody>
      </p:sp>
      <p:sp>
        <p:nvSpPr>
          <p:cNvPr id="16" name="Text 13"/>
          <p:cNvSpPr txBox="1"/>
          <p:nvPr/>
        </p:nvSpPr>
        <p:spPr>
          <a:xfrm>
            <a:off x="969264" y="3465576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 cada criterio como VERIFICACIÓN o VALIDACIÓN</a:t>
            </a:r>
            <a:endParaRPr lang="en-US" sz="1140" dirty="0"/>
          </a:p>
        </p:txBody>
      </p:sp>
      <p:sp>
        <p:nvSpPr>
          <p:cNvPr id="17" name="Text 14"/>
          <p:cNvSpPr txBox="1"/>
          <p:nvPr/>
        </p:nvSpPr>
        <p:spPr>
          <a:xfrm>
            <a:off x="969264" y="3672230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indica qué evidencia respondería esa pregunta.</a:t>
            </a:r>
            <a:endParaRPr lang="en-US" sz="114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4085539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Restricciones:</a:t>
            </a:r>
            <a:endParaRPr lang="en-US" sz="114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4292194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63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Declara la fuente que autoriza cada criterio.</a:t>
            </a:r>
            <a:endParaRPr lang="en-US" sz="1140" dirty="0"/>
          </a:p>
        </p:txBody>
      </p:sp>
      <p:sp>
        <p:nvSpPr>
          <p:cNvPr id="20" name="Text 17"/>
          <p:cNvSpPr txBox="1"/>
          <p:nvPr/>
        </p:nvSpPr>
        <p:spPr>
          <a:xfrm>
            <a:off x="969264" y="4498848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63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 no aparece en el material, escribe FUENTE NO DISPONIBLE.</a:t>
            </a:r>
            <a:endParaRPr lang="en-US" sz="1140" dirty="0"/>
          </a:p>
        </p:txBody>
      </p:sp>
      <p:sp>
        <p:nvSpPr>
          <p:cNvPr id="21" name="Text 18"/>
          <p:cNvSpPr txBox="1"/>
          <p:nvPr/>
        </p:nvSpPr>
        <p:spPr>
          <a:xfrm>
            <a:off x="969264" y="470550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63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propongas umbrales ni reglas que no estén en el material.</a:t>
            </a:r>
            <a:endParaRPr lang="en-US" sz="1140" dirty="0"/>
          </a:p>
        </p:txBody>
      </p:sp>
      <p:sp>
        <p:nvSpPr>
          <p:cNvPr id="22" name="Text 19"/>
          <p:cNvSpPr txBox="1"/>
          <p:nvPr/>
        </p:nvSpPr>
        <p:spPr>
          <a:xfrm>
            <a:off x="969264" y="4912157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63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asumas normativas ni prácticas del sector.</a:t>
            </a:r>
            <a:endParaRPr lang="en-US" sz="1140" dirty="0"/>
          </a:p>
        </p:txBody>
      </p:sp>
      <p:sp>
        <p:nvSpPr>
          <p:cNvPr id="23" name="Text 20"/>
          <p:cNvSpPr txBox="1"/>
          <p:nvPr/>
        </p:nvSpPr>
        <p:spPr>
          <a:xfrm>
            <a:off x="969264" y="5325466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Salida:</a:t>
            </a:r>
            <a:endParaRPr lang="en-US" sz="1140" dirty="0"/>
          </a:p>
        </p:txBody>
      </p:sp>
      <p:sp>
        <p:nvSpPr>
          <p:cNvPr id="24" name="Text 21"/>
          <p:cNvSpPr txBox="1"/>
          <p:nvPr/>
        </p:nvSpPr>
        <p:spPr>
          <a:xfrm>
            <a:off x="969264" y="5532120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con criterio, clasificación, fuente y evidencia.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7882128" y="2249424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82128" y="2249424"/>
            <a:ext cx="109728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93024" y="2414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ENTREGA</a:t>
            </a:r>
            <a:endParaRPr lang="en-US" sz="960" dirty="0"/>
          </a:p>
        </p:txBody>
      </p:sp>
      <p:sp>
        <p:nvSpPr>
          <p:cNvPr id="28" name="Text 25"/>
          <p:cNvSpPr txBox="1"/>
          <p:nvPr/>
        </p:nvSpPr>
        <p:spPr>
          <a:xfrm>
            <a:off x="8193024" y="2706624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real del proyecto, no una descripción general.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882128" y="3493008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882128" y="3493008"/>
            <a:ext cx="109728" cy="109728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93024" y="3657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0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PIDE</a:t>
            </a:r>
            <a:endParaRPr lang="en-US" sz="960" dirty="0"/>
          </a:p>
        </p:txBody>
      </p:sp>
      <p:sp>
        <p:nvSpPr>
          <p:cNvPr id="32" name="Text 29"/>
          <p:cNvSpPr txBox="1"/>
          <p:nvPr/>
        </p:nvSpPr>
        <p:spPr>
          <a:xfrm>
            <a:off x="8193024" y="395020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clasificación con su evidencia, en formato de tabla.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7882128" y="4736592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82128" y="4736592"/>
            <a:ext cx="109728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193024" y="4901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PROHÍBE</a:t>
            </a:r>
            <a:endParaRPr lang="en-US" sz="960" dirty="0"/>
          </a:p>
        </p:txBody>
      </p:sp>
      <p:sp>
        <p:nvSpPr>
          <p:cNvPr id="36" name="Text 33"/>
          <p:cNvSpPr txBox="1"/>
          <p:nvPr/>
        </p:nvSpPr>
        <p:spPr>
          <a:xfrm>
            <a:off x="8193024" y="51937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 fuentes, umbrales, normativas o convenciones.</a:t>
            </a:r>
            <a:endParaRPr lang="en-US" sz="13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POR QUÉ ESAS TRES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restricción bloquea una forma distinta de rellenar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ellas, la respuesta llega igual de ordenada y con datos que nadie escribió.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176272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HARÍA SIN LA RESTRICCIÓN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35424" y="21762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BARRERA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626096" y="217627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QUEDA EN SU LUGAR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407408" y="2432304"/>
            <a:ext cx="0" cy="320040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7479792" y="2432304"/>
            <a:ext cx="0" cy="320040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658368" y="2487168"/>
            <a:ext cx="3803904" cy="877824"/>
          </a:xfrm>
          <a:prstGeom prst="roundRect">
            <a:avLst>
              <a:gd name="adj" fmla="val 5208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877824" y="2487168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 un documento o una autoridad que no existe.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35424" y="2633472"/>
            <a:ext cx="2651760" cy="585216"/>
          </a:xfrm>
          <a:prstGeom prst="roundRect">
            <a:avLst>
              <a:gd name="adj" fmla="val 7813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08576" y="2633472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 NO DISPONIBLE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626096" y="2487168"/>
            <a:ext cx="3904488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26096" y="2487168"/>
            <a:ext cx="91440" cy="87782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82128" y="2487168"/>
            <a:ext cx="3474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hueco queda visible, que es justo lo que buscamos.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8368" y="3547872"/>
            <a:ext cx="3803904" cy="877824"/>
          </a:xfrm>
          <a:prstGeom prst="roundRect">
            <a:avLst>
              <a:gd name="adj" fmla="val 5208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877824" y="3547872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números sin respaldo: 200 ms, 95 %, 5 segundos.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535424" y="3694176"/>
            <a:ext cx="2651760" cy="585216"/>
          </a:xfrm>
          <a:prstGeom prst="roundRect">
            <a:avLst>
              <a:gd name="adj" fmla="val 7813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08576" y="3694176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umbrales nuevos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626096" y="3547872"/>
            <a:ext cx="3904488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26096" y="3547872"/>
            <a:ext cx="91440" cy="87782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82128" y="3547872"/>
            <a:ext cx="3474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umbral lo define quien conoce el uso real del producto.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58368" y="4608576"/>
            <a:ext cx="3803904" cy="877824"/>
          </a:xfrm>
          <a:prstGeom prst="roundRect">
            <a:avLst>
              <a:gd name="adj" fmla="val 5208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dash"/>
          </a:ln>
        </p:spPr>
      </p:sp>
      <p:sp>
        <p:nvSpPr>
          <p:cNvPr id="31" name="Text 28"/>
          <p:cNvSpPr txBox="1"/>
          <p:nvPr/>
        </p:nvSpPr>
        <p:spPr>
          <a:xfrm>
            <a:off x="877824" y="4608576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Apelar a «la normativa vigente» o «el estándar del sector».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535424" y="4754880"/>
            <a:ext cx="2651760" cy="585216"/>
          </a:xfrm>
          <a:prstGeom prst="roundRect">
            <a:avLst>
              <a:gd name="adj" fmla="val 7813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08576" y="4754880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normativas asumidas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626096" y="4608576"/>
            <a:ext cx="3904488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626096" y="4608576"/>
            <a:ext cx="91440" cy="87782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882128" y="4608576"/>
            <a:ext cx="3474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norma aplica, alguien la nombra con su número.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58368" y="5742432"/>
            <a:ext cx="10872216" cy="512064"/>
          </a:xfrm>
          <a:prstGeom prst="roundRect">
            <a:avLst>
              <a:gd name="adj" fmla="val 89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8368" y="5742432"/>
            <a:ext cx="10872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útil de un agente incluye decir qué no puede responder.</a:t>
            </a:r>
            <a:endParaRPr lang="en-US" sz="15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EL TERRENO PROPIO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contexto suficiente, hay cuatro cosas que hace muy bien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son trabajo de ordenamiento y ampliación, y ahí conviene aprovecharlo.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3492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109728" cy="122529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4128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Ordenar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" y="29077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dispersos en una estructura comparable.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81344" y="2249424"/>
            <a:ext cx="53492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81344" y="2249424"/>
            <a:ext cx="109728" cy="122529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47104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Detectar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547104" y="29077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redactados sin una condición observable.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621024"/>
            <a:ext cx="53492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621024"/>
            <a:ext cx="109728" cy="122529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24128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Ampliar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024128" y="42793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validación que el equipo no había formulado.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181344" y="3621024"/>
            <a:ext cx="53492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81344" y="3621024"/>
            <a:ext cx="109728" cy="122529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47104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Cruzar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6547104" y="42793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Necesidades del brief que ninguna fila del proyecto recoge.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658368" y="5102352"/>
            <a:ext cx="10872216" cy="859536"/>
          </a:xfrm>
          <a:prstGeom prst="roundRect">
            <a:avLst>
              <a:gd name="adj" fmla="val 638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0704" y="5102352"/>
            <a:ext cx="10067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estas cuatro tareas el agente ahorra tiempo real y mejora el resultado del equipo.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DÓNDE DEJA DE SER CONFIABLE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72768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a verificar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32304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E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 una especificación disponible.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346704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puede validar una necesidad.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658368" y="4407408"/>
            <a:ext cx="4937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658368" y="46634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validación exige una autoridad sobre el producto, y esa autoridad no está en el texto que el modelo procesa. No es una limitación técnica que se arregle con más contexto.</a:t>
            </a:r>
            <a:endParaRPr lang="en-US" sz="17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LA SEÑAL DE ALARMA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le falta la fuente, rara vez responde «no lo sé»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una frase que tiene la forma de un respaldo, sin serlo.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24942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«según la práctica habitual»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58368" y="3035808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9264" y="303580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«por convención en sistemas académicos»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58368" y="3822192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" y="38221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«de acuerdo con la normativa vigente»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858000" y="2249424"/>
            <a:ext cx="4681728" cy="2231136"/>
          </a:xfrm>
          <a:prstGeom prst="roundRect">
            <a:avLst>
              <a:gd name="adj" fmla="val 28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68896" y="24871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NOMBRA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7168896" y="2944368"/>
            <a:ext cx="91440" cy="2194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24928" y="28529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documento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7168896" y="3456432"/>
            <a:ext cx="91440" cy="2194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24928" y="33649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versión o una fecha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7168896" y="3968496"/>
            <a:ext cx="91440" cy="2194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24928" y="38770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persona responsable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658368" y="5029200"/>
            <a:ext cx="10872216" cy="914400"/>
          </a:xfrm>
          <a:prstGeom prst="roundRect">
            <a:avLst>
              <a:gd name="adj" fmla="val 600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60704" y="5029200"/>
            <a:ext cx="1006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fuente verificable se puede abrir, citar y fechar. Una frase con forma de respaldo no se puede ni contradecir.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LA PROPUESTA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Así llega la respuesta, ordenada y con buena presencia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criterios clasificados, cada uno con la fuente que el agente declara.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1087221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231136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2231136"/>
            <a:ext cx="479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PROPUESTO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223113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</a:t>
            </a:r>
            <a:endParaRPr lang="en-US" sz="94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2231136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QUE DECLARA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658368" y="2798064"/>
            <a:ext cx="1087221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2798064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promedio se redondea a un decimal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2798064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9144000" y="2798064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Convención estándar en sistemas académicos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58368" y="3584448"/>
            <a:ext cx="1087221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" y="3730752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3584448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 una lista vacía, la función informa el error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766560" y="3584448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3584448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declarado de la función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58368" y="4370832"/>
            <a:ext cx="1087221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1248" y="4517136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" y="4517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645920" y="4370832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cálculo responde en menos de 200 ms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4370832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9144000" y="4370832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Buenas prácticas de rendimiento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58368" y="5157216"/>
            <a:ext cx="1087221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1248" y="5303520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645920" y="5157216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notas registradas están entre 1,0 y 7,0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6766560" y="5157216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9144000" y="5157216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de calificaciones vigente</a:t>
            </a:r>
            <a:endParaRPr lang="en-US" sz="1350" dirty="0"/>
          </a:p>
        </p:txBody>
      </p:sp>
      <p:sp>
        <p:nvSpPr>
          <p:cNvPr id="40" name="Text 37"/>
          <p:cNvSpPr txBox="1"/>
          <p:nvPr/>
        </p:nvSpPr>
        <p:spPr>
          <a:xfrm>
            <a:off x="658368" y="6035040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es impecable. El problema está concentrado en una sola columna.</a:t>
            </a:r>
            <a:endParaRPr lang="en-US" sz="15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LA AUDITORÍA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tabla, con el veredicto de cada fila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de las cuatro fuentes no resisten una comprobación simple.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834640" cy="3602736"/>
          </a:xfrm>
          <a:prstGeom prst="roundRect">
            <a:avLst>
              <a:gd name="adj" fmla="val 25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2834640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542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283464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de 4</a:t>
            </a:r>
            <a:endParaRPr lang="en-US" sz="46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37124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no resisten una comprobación simple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32688" y="4553712"/>
            <a:ext cx="228600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932688" y="4718304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la única que se sostiene apunta a un documento del propio proyecto.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803904" y="2249424"/>
            <a:ext cx="77266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03904" y="2249424"/>
            <a:ext cx="91440" cy="80467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41648" y="2441448"/>
            <a:ext cx="420624" cy="420624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41648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626864" y="23225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Convención estándar en sistemas académicos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626864" y="26700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clasificación es correcta, pero esa convención no existe como documento: debía decir FUENTE NO DISPONIBLE.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802368" y="24231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02368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REFORMULAR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803904" y="3163824"/>
            <a:ext cx="77266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03904" y="3163824"/>
            <a:ext cx="91440" cy="80467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41648" y="3355848"/>
            <a:ext cx="420624" cy="4206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41648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626864" y="32369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declarado de la función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626864" y="35844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fuente está dentro del material entregado y es verificable por cualquiera del equipo.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802368" y="33375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02368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803904" y="4078224"/>
            <a:ext cx="77266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803904" y="4078224"/>
            <a:ext cx="91440" cy="80467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41648" y="4270248"/>
            <a:ext cx="420624" cy="42062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04164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626864" y="41513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Buenas prácticas de rendimiento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4626864" y="44988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umbral es inventado y además decidir cuánto puede demorar el cálculo es una pregunta de validación.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9802368" y="42519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802368" y="4251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803904" y="4992624"/>
            <a:ext cx="77266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03904" y="4992624"/>
            <a:ext cx="91440" cy="80467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041648" y="5184648"/>
            <a:ext cx="420624" cy="420624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041648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4626864" y="50657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de calificaciones vigente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4626864" y="54132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fuente externa sí existe, pero hay que nombrar el documento exacto y confirmar que aplica.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9802368" y="51663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802368" y="5166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REFORMULAR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EL CASO MÁS PELIGROSO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número inventado es peor que una respuesta vacía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respuesta vacía se nota. Un número específico se copia y sigue viaje.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468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 ms</a:t>
            </a:r>
            <a:endParaRPr lang="en-US" sz="5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lo pidió, nadie lo midió, nadie lo autorizó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023360" y="2249424"/>
            <a:ext cx="7498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3360" y="2249424"/>
            <a:ext cx="109728" cy="10058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15968" y="2414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974336" y="24323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lo propone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974336" y="28163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Suena razonable y llena el vacío de la respuesta.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023360" y="3346704"/>
            <a:ext cx="7498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23360" y="3346704"/>
            <a:ext cx="109728" cy="10058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15968" y="35112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974336" y="3529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lo copia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974336" y="39136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 al criterio sin que nadie pregunte de dónde salió.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023360" y="4443984"/>
            <a:ext cx="7498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23360" y="4443984"/>
            <a:ext cx="109728" cy="100584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15968" y="4608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974336" y="4626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lo fija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974336" y="50109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ahí es la especificación, y romperlo es «una falla».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58368" y="5650992"/>
            <a:ext cx="10872216" cy="548640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60704" y="5650992"/>
            <a:ext cx="1006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pasos después, un número que nadie decidió se defiende como si fuera la regla del producto.</a:t>
            </a:r>
            <a:endParaRPr lang="en-US" sz="15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CÓMO SE AUDITA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marcas, y cada una obliga a escribir por qué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 sin justificación es tan poco profesional como aceptar sin leer.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86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CONSERVA TAL CUAL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872984" y="2286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ENTRA AL PROYECTO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8368" y="2578608"/>
            <a:ext cx="2681478" cy="676656"/>
          </a:xfrm>
          <a:prstGeom prst="roundRect">
            <a:avLst>
              <a:gd name="adj" fmla="val 5405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578608"/>
            <a:ext cx="268147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" y="3621024"/>
            <a:ext cx="2388870" cy="0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658368" y="3785616"/>
            <a:ext cx="23888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se sostiene con el material entregado.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376422" y="2578608"/>
            <a:ext cx="2681478" cy="676656"/>
          </a:xfrm>
          <a:prstGeom prst="roundRect">
            <a:avLst>
              <a:gd name="adj" fmla="val 5405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76422" y="2578608"/>
            <a:ext cx="268147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REFORMULAR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376422" y="3621024"/>
            <a:ext cx="2388870" cy="0"/>
          </a:xfrm>
          <a:prstGeom prst="line">
            <a:avLst/>
          </a:prstGeom>
          <a:noFill/>
          <a:ln w="12700">
            <a:solidFill>
              <a:srgbClr val="8A6A12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3376422" y="3785616"/>
            <a:ext cx="23888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sirve, pero hay que corregir la fuente o el alcance.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94476" y="2578608"/>
            <a:ext cx="2681478" cy="676656"/>
          </a:xfrm>
          <a:prstGeom prst="roundRect">
            <a:avLst>
              <a:gd name="adj" fmla="val 5405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94476" y="2578608"/>
            <a:ext cx="268147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POSPONER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94476" y="3621024"/>
            <a:ext cx="2388870" cy="0"/>
          </a:xfrm>
          <a:prstGeom prst="line">
            <a:avLst/>
          </a:prstGeom>
          <a:noFill/>
          <a:ln w="12700">
            <a:solidFill>
              <a:srgbClr val="0E6E7A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6094476" y="3785616"/>
            <a:ext cx="23888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pregunta válida que todavía no se puede responder.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812530" y="2578608"/>
            <a:ext cx="2681478" cy="676656"/>
          </a:xfrm>
          <a:prstGeom prst="roundRect">
            <a:avLst>
              <a:gd name="adj" fmla="val 5405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12530" y="2578608"/>
            <a:ext cx="268147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812530" y="3621024"/>
            <a:ext cx="2388870" cy="0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 txBox="1"/>
          <p:nvPr/>
        </p:nvSpPr>
        <p:spPr>
          <a:xfrm>
            <a:off x="8812530" y="3785616"/>
            <a:ext cx="23888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datos, reglas o autoridades que nadie declaró.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5212080"/>
            <a:ext cx="10872216" cy="786384"/>
          </a:xfrm>
          <a:prstGeom prst="roundRect">
            <a:avLst>
              <a:gd name="adj" fmla="val 697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60704" y="5212080"/>
            <a:ext cx="100675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ficha final conserva al menos una propuesta aceptada y una rechazada, cada una con su justificación escrita.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EL PATRÓN QUE CONVIENE RETENER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72768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Acierta en la clasificación.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68880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Falla en la columna de la fuente.</a:t>
            </a:r>
            <a:endParaRPr lang="en-US" sz="4200" dirty="0"/>
          </a:p>
        </p:txBody>
      </p:sp>
      <p:sp>
        <p:nvSpPr>
          <p:cNvPr id="11" name="Shape 8"/>
          <p:cNvSpPr/>
          <p:nvPr/>
        </p:nvSpPr>
        <p:spPr>
          <a:xfrm>
            <a:off x="658368" y="365760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3895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4224528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tarea de estructura: se resuelve con el texto a la vista.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969264" y="4882896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9264" y="48828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81344" y="365760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3895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DECLARAR AUTORIDAD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224528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tarea de contexto institucional: no está en el texto.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6492240" y="4882896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48828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563270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la auditoría se concentra donde el modelo es débil, no donde ya es bueno.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EL REGISTRO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conserva un registro de validación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cosas, y ninguna de ellas es una conclusión definitiva sobre la calidad del producto.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108960" cy="3566160"/>
          </a:xfrm>
          <a:prstGeom prst="roundRect">
            <a:avLst>
              <a:gd name="adj" fmla="val 23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3108960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6151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registro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01752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cierra el tema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932688" y="3950208"/>
            <a:ext cx="256032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932688" y="4133088"/>
            <a:ext cx="25968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 constancia de qué se comprobó, qué se decidió y qué sigue esperando una respuesta que el equipo no puede darse a sí mismo.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23774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1480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249424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trazabilidad entre necesidad, criterio y evidencia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4114800" y="2926080"/>
            <a:ext cx="74066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4114800" y="30906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1480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296265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clasificación de cada criterio, con su fuente o su ausencia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4114800" y="3639312"/>
            <a:ext cx="74066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4114800" y="380390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1480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367588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hallazgos de validación, con su pregunta y su responsable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4114800" y="4352544"/>
            <a:ext cx="74066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4114800" y="45171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114800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438912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decisiones tomadas sobre lo que propuso el agente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4114800" y="5065776"/>
            <a:ext cx="74066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4114800" y="523036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11480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663440" y="51023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preguntas abiertas para quien tiene autoridad</a:t>
            </a:r>
            <a:endParaRPr lang="en-US" sz="15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PREGUNTAS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pensando en la propuesta que auditaste, no en el ejemplo de la clase.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30352" cy="53035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40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249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detectar un criterio sin fuente no autoriza a inventarle una?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2889504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81328" y="2889504"/>
            <a:ext cx="73152" cy="4572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00784" y="2889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28895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quién tiene la potestad de declarar la regla del producto.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675888"/>
            <a:ext cx="530352" cy="530352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675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58444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una fuente verificable de «según la práctica habitual»?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481328" y="4224528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81328" y="4224528"/>
            <a:ext cx="73152" cy="4572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00784" y="4224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42245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se puede abrir, citar y fechar; la otra no se puede ni contradecir.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58368" y="5010912"/>
            <a:ext cx="530352" cy="53035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481328" y="4919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parte de este bloque el criterio humano fue insustituible?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481328" y="5559552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81328" y="5559552"/>
            <a:ext cx="73152" cy="4572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700784" y="5559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2523744" y="55595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la columna que el agente resolvió bien con la que tuviste que resolver tú.</a:t>
            </a:r>
            <a:endParaRPr lang="en-US" sz="13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SÍNTESIS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63040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ordena, amplía y clasifica.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22576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autoridad sobre la necesidad sigue siendo humana.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4015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riesgo no es que se equivoque de categoría, sino que rellene la fuente con una frase que suena a respaldo.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4133088"/>
            <a:ext cx="10872216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658368" y="43525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 FICHA EN MANO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462686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podemos afirmar algo acotado sobre el producto. El cierre reúne lo verificado, lo validado y lo pendiente en una sola conclusión proporcional a la evidencia.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CLASE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está comprobado y qué está solo decidido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sesión empezó con tres criterios bien redactados y termina sabiendo cuáles podemos sostener.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32688" y="23591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71600" y="22494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observables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97280" y="2688336"/>
            <a:ext cx="0" cy="2743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932688" y="29626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71600" y="2852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preguntas con fuentes distintas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097280" y="3291840"/>
            <a:ext cx="0" cy="2743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932688" y="35661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71600" y="34564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fallas y la pregunta que faltó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097280" y="3895344"/>
            <a:ext cx="0" cy="2743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932688" y="416966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71600" y="405993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necesidad-criterio-evidencia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097280" y="4498848"/>
            <a:ext cx="0" cy="2743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932688" y="47731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71600" y="46634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de validación registrados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1097280" y="5102352"/>
            <a:ext cx="0" cy="2743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932688" y="53766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71600" y="52669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proporcional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7589520" y="2249424"/>
            <a:ext cx="3950208" cy="3383280"/>
          </a:xfrm>
          <a:prstGeom prst="roundRect">
            <a:avLst>
              <a:gd name="adj" fmla="val 21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82128" y="252374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VERIFICACIÓN NO PERDIÓ IMPORTANCIA</a:t>
            </a:r>
            <a:endParaRPr lang="en-US" sz="960" dirty="0"/>
          </a:p>
        </p:txBody>
      </p:sp>
      <p:sp>
        <p:nvSpPr>
          <p:cNvPr id="30" name="Text 27"/>
          <p:cNvSpPr txBox="1"/>
          <p:nvPr/>
        </p:nvSpPr>
        <p:spPr>
          <a:xfrm>
            <a:off x="7882128" y="3072384"/>
            <a:ext cx="3419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Cambió de estatus: dejó de ser la única pregunta y pasó a ser una de dos.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7882128" y="4297680"/>
            <a:ext cx="33832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2" name="Text 29"/>
          <p:cNvSpPr txBox="1"/>
          <p:nvPr/>
        </p:nvSpPr>
        <p:spPr>
          <a:xfrm>
            <a:off x="7882128" y="4498848"/>
            <a:ext cx="3419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 ventaja de que ahora sabemos cuál de las dos responde cada herramienta que ejecutamos.</a:t>
            </a:r>
            <a:endParaRPr lang="en-US" sz="14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LA CONCLUSIÓN DE HOY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1463040"/>
            <a:ext cx="128016" cy="3108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15568" y="1481328"/>
            <a:ext cx="10058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proyecto cumple los criterios que tiene escritos, y esa correspondencia está demostrada con pruebas ejecutables.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" y="2615184"/>
            <a:ext cx="10058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E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esos criterios, algunos tienen una fuente que los autoriza y otros quedaron registrados como decisiones del equipo todavía sin validar.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3767328"/>
            <a:ext cx="10058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producto está verificado en su alcance actual y validado solo parcialmente.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658368" y="4937760"/>
            <a:ext cx="10872216" cy="914400"/>
          </a:xfrm>
          <a:prstGeom prst="roundRect">
            <a:avLst>
              <a:gd name="adj" fmla="val 6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0704" y="4937760"/>
            <a:ext cx="1006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frase es más corta que «funciona bien» y dice muchísimo más, porque cada parte se puede comprobar.</a:t>
            </a:r>
            <a:endParaRPr lang="en-US" sz="16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LOS LÍMITES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esto queda explícitamente fuera de lo que podemos decir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Nombrar el límite de una conclusión es parte de sostenerla.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72216" cy="749808"/>
          </a:xfrm>
          <a:prstGeom prst="roundRect">
            <a:avLst>
              <a:gd name="adj" fmla="val 6098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2494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792224" y="2395728"/>
            <a:ext cx="0" cy="457200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2029968" y="2249424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los criterios escritos sean los correctos para el producto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3108960"/>
            <a:ext cx="10872216" cy="749808"/>
          </a:xfrm>
          <a:prstGeom prst="roundRect">
            <a:avLst>
              <a:gd name="adj" fmla="val 6098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" y="310896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792224" y="3255264"/>
            <a:ext cx="0" cy="457200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2029968" y="3108960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una suite en verde compense la ausencia de una fuente autorizada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" y="3968496"/>
            <a:ext cx="10872216" cy="749808"/>
          </a:xfrm>
          <a:prstGeom prst="roundRect">
            <a:avLst>
              <a:gd name="adj" fmla="val 6098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9264" y="396849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792224" y="4114800"/>
            <a:ext cx="0" cy="457200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2029968" y="3968496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comportamiento probado en nuestro computador sea el que operaría en otro contexto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" y="4828032"/>
            <a:ext cx="10872216" cy="749808"/>
          </a:xfrm>
          <a:prstGeom prst="roundRect">
            <a:avLst>
              <a:gd name="adj" fmla="val 6098"/>
            </a:avLst>
          </a:prstGeom>
          <a:solidFill>
            <a:srgbClr val="F8E4E5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" y="482803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1792224" y="4974336"/>
            <a:ext cx="0" cy="457200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2029968" y="4828032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clasificación de un agente reemplace a quien tiene autoridad sobre la regla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" y="5797296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Ninguno de estos límites es un fracaso de la sesión: son el trabajo que viene después.</a:t>
            </a:r>
            <a:endParaRPr lang="en-US" sz="15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SÍNTESIS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entera cabe en cuatro frases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el vocabulario exacto: especificación, necesidad, fuente, correspondencia y evidencia.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7221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109728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0704" y="2249424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es comparar el producto con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249424"/>
            <a:ext cx="5358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especificación que se declaró.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8368" y="3127248"/>
            <a:ext cx="1087221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27248"/>
            <a:ext cx="109728" cy="786384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60704" y="312724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es comparar la especificación con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3127248"/>
            <a:ext cx="5358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necesidad que había que satisfacer.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8368" y="4005072"/>
            <a:ext cx="1087221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4005072"/>
            <a:ext cx="109728" cy="7863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60704" y="4005072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en verde puede estar equivocada cuando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4005072"/>
            <a:ext cx="5358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expectativa que afirma nunca fue autorizada.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8368" y="4882896"/>
            <a:ext cx="1087221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4882896"/>
            <a:ext cx="109728" cy="7863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60704" y="4882896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Marcamos un criterio como POR VALIDAR cuando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035040" y="4882896"/>
            <a:ext cx="5358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podemos nombrar la fuente que lo respalda.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58368" y="5779008"/>
            <a:ext cx="10872216" cy="438912"/>
          </a:xfrm>
          <a:prstGeom prst="roundRect">
            <a:avLst>
              <a:gd name="adj" fmla="val 104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779008"/>
            <a:ext cx="10872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estas cuatro frases se pueden completar sin dudar, la clase cumplió su objetivo.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SESIÓN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con pruebas y software sin pruebas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Salimos del producto pequeño y miramos repositorios reales y maduros.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34924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109728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4128" y="24323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Cobertura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" y="285292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porcentaje del código toca la suite, y qué no dice ese número.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81344" y="2249424"/>
            <a:ext cx="534924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81344" y="2249424"/>
            <a:ext cx="109728" cy="1152144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47104" y="24323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Historial de defectos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6547104" y="285292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cambia el registro de fallas cuando existe una suite.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8368" y="3547872"/>
            <a:ext cx="534924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547872"/>
            <a:ext cx="109728" cy="115214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24128" y="37307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Ritmo de cambios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024128" y="415137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Cuántas veces se toca el código y con qué confianza.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81344" y="3547872"/>
            <a:ext cx="534924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81344" y="3547872"/>
            <a:ext cx="109728" cy="115214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47104" y="37307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Capacidad de modificar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6547104" y="415137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puede cambiar sin romper lo que ya funcionaba.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8368" y="5029200"/>
            <a:ext cx="10872216" cy="969264"/>
          </a:xfrm>
          <a:prstGeom prst="roundRect">
            <a:avLst>
              <a:gd name="adj" fmla="val 566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0704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que llevamos: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60704" y="5504688"/>
            <a:ext cx="10067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las pruebas no garantizan que los criterios sean correctos, ¿qué es exactamente lo que sí cambian?</a:t>
            </a:r>
            <a:endParaRPr lang="en-US" sz="17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MENSAJE FINAL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71600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sistema puede hacer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57984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exactamente lo que le pedimos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9443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aun así estar equivocado.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804672" y="4114800"/>
            <a:ext cx="2468880" cy="1188720"/>
          </a:xfrm>
          <a:prstGeom prst="roundRect">
            <a:avLst>
              <a:gd name="adj" fmla="val 538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4128" y="437083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</a:t>
            </a:r>
            <a:endParaRPr lang="en-US" sz="98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" y="47183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la decide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28416" y="449884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02736" y="4114800"/>
            <a:ext cx="2468880" cy="1188720"/>
          </a:xfrm>
          <a:prstGeom prst="roundRect">
            <a:avLst>
              <a:gd name="adj" fmla="val 538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22192" y="437083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980" dirty="0"/>
          </a:p>
        </p:txBody>
      </p:sp>
      <p:sp>
        <p:nvSpPr>
          <p:cNvPr id="18" name="Text 15"/>
          <p:cNvSpPr txBox="1"/>
          <p:nvPr/>
        </p:nvSpPr>
        <p:spPr>
          <a:xfrm>
            <a:off x="3822192" y="47183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la autoriza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449884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4114800"/>
            <a:ext cx="2468880" cy="1188720"/>
          </a:xfrm>
          <a:prstGeom prst="roundRect">
            <a:avLst>
              <a:gd name="adj" fmla="val 538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0256" y="437083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8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6620256" y="47183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la produce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924544" y="449884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98864" y="4114800"/>
            <a:ext cx="24688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418320" y="437083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980" dirty="0"/>
          </a:p>
        </p:txBody>
      </p:sp>
      <p:sp>
        <p:nvSpPr>
          <p:cNvPr id="26" name="Text 23"/>
          <p:cNvSpPr txBox="1"/>
          <p:nvPr/>
        </p:nvSpPr>
        <p:spPr>
          <a:xfrm>
            <a:off x="9418320" y="47183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respeta el límite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" y="554126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entre descubrirlo a tiempo y descubrirlo en producción no es la cantidad de pruebas: es haber preguntado de dónde salió cada expectativa que esas pruebas defienden.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1" descr="C:\Users\Diego Obando\dev\pro402-taller-de-testing-2026\clases\semana-02\01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Verificación y validación: construir bien y construir lo correcto</dc:title>
  <dc:subject>PRO402 · Clase 04</dc:subject>
  <dc:creator>Diego Obando</dc:creator>
  <cp:lastModifiedBy>Diego Obando</cp:lastModifiedBy>
  <cp:revision>1</cp:revision>
  <dcterms:created xsi:type="dcterms:W3CDTF">2026-08-25T03:45:41Z</dcterms:created>
  <dcterms:modified xsi:type="dcterms:W3CDTF">2026-08-25T03:45:41Z</dcterms:modified>
</cp:coreProperties>
</file>