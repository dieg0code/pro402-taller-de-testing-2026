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notesMasterIdLst>
    <p:notesMasterId r:id="rId4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notesMaster" Target="notesMasters/notes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image" Target="../media/image-12-3.png"/><Relationship Id="rId4" Type="http://schemas.openxmlformats.org/officeDocument/2006/relationships/image" Target="../media/image-12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svg"/><Relationship Id="rId3" Type="http://schemas.openxmlformats.org/officeDocument/2006/relationships/image" Target="../media/image-18-3.png"/><Relationship Id="rId4" Type="http://schemas.openxmlformats.org/officeDocument/2006/relationships/image" Target="../media/image-18-4.svg"/><Relationship Id="rId5" Type="http://schemas.openxmlformats.org/officeDocument/2006/relationships/image" Target="../media/image-18-5.png"/><Relationship Id="rId6" Type="http://schemas.openxmlformats.org/officeDocument/2006/relationships/image" Target="../media/image-18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svg"/><Relationship Id="rId3" Type="http://schemas.openxmlformats.org/officeDocument/2006/relationships/image" Target="../media/image-22-3.png"/><Relationship Id="rId4" Type="http://schemas.openxmlformats.org/officeDocument/2006/relationships/image" Target="../media/image-22-4.svg"/><Relationship Id="rId5" Type="http://schemas.openxmlformats.org/officeDocument/2006/relationships/image" Target="../media/image-22-5.png"/><Relationship Id="rId6" Type="http://schemas.openxmlformats.org/officeDocument/2006/relationships/image" Target="../media/image-22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svg"/><Relationship Id="rId3" Type="http://schemas.openxmlformats.org/officeDocument/2006/relationships/image" Target="../media/image-28-3.png"/><Relationship Id="rId4" Type="http://schemas.openxmlformats.org/officeDocument/2006/relationships/image" Target="../media/image-28-4.svg"/><Relationship Id="rId5" Type="http://schemas.openxmlformats.org/officeDocument/2006/relationships/image" Target="../media/image-28-5.png"/><Relationship Id="rId6" Type="http://schemas.openxmlformats.org/officeDocument/2006/relationships/image" Target="../media/image-28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svg"/><Relationship Id="rId3" Type="http://schemas.openxmlformats.org/officeDocument/2006/relationships/image" Target="../media/image-29-3.png"/><Relationship Id="rId4" Type="http://schemas.openxmlformats.org/officeDocument/2006/relationships/image" Target="../media/image-29-4.svg"/><Relationship Id="rId5" Type="http://schemas.openxmlformats.org/officeDocument/2006/relationships/image" Target="../media/image-29-5.png"/><Relationship Id="rId6" Type="http://schemas.openxmlformats.org/officeDocument/2006/relationships/image" Target="../media/image-29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svg"/><Relationship Id="rId3" Type="http://schemas.openxmlformats.org/officeDocument/2006/relationships/image" Target="../media/image-30-3.png"/><Relationship Id="rId4" Type="http://schemas.openxmlformats.org/officeDocument/2006/relationships/image" Target="../media/image-30-4.svg"/><Relationship Id="rId5" Type="http://schemas.openxmlformats.org/officeDocument/2006/relationships/image" Target="../media/image-30-5.png"/><Relationship Id="rId6" Type="http://schemas.openxmlformats.org/officeDocument/2006/relationships/image" Target="../media/image-30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svg"/><Relationship Id="rId3" Type="http://schemas.openxmlformats.org/officeDocument/2006/relationships/image" Target="../media/image-36-3.png"/><Relationship Id="rId4" Type="http://schemas.openxmlformats.org/officeDocument/2006/relationships/image" Target="../media/image-36-4.svg"/><Relationship Id="rId5" Type="http://schemas.openxmlformats.org/officeDocument/2006/relationships/image" Target="../media/image-36-5.png"/><Relationship Id="rId6" Type="http://schemas.openxmlformats.org/officeDocument/2006/relationships/image" Target="../media/image-36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svg"/><Relationship Id="rId3" Type="http://schemas.openxmlformats.org/officeDocument/2006/relationships/image" Target="../media/image-37-3.png"/><Relationship Id="rId4" Type="http://schemas.openxmlformats.org/officeDocument/2006/relationships/image" Target="../media/image-37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svg"/><Relationship Id="rId3" Type="http://schemas.openxmlformats.org/officeDocument/2006/relationships/image" Target="../media/image-38-3.png"/><Relationship Id="rId4" Type="http://schemas.openxmlformats.org/officeDocument/2006/relationships/image" Target="../media/image-38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image" Target="../media/image-4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image" Target="../media/image-4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C:\Users\Diego Obando\dev\pro402-taller-de-testing-2026\clases\semana-04\02\ppt\source\assets\logo-aie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307150"/>
            <a:ext cx="1335024" cy="46469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135331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spc="13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CLASE 11 · UNIDAD 2</a:t>
            </a:r>
            <a:endParaRPr lang="en-US" sz="96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1737360"/>
            <a:ext cx="98755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Primero el rojo</a:t>
            </a:r>
            <a:endParaRPr lang="en-US" sz="5400" dirty="0"/>
          </a:p>
        </p:txBody>
      </p:sp>
      <p:sp>
        <p:nvSpPr>
          <p:cNvPr id="10" name="Shape 7"/>
          <p:cNvSpPr/>
          <p:nvPr/>
        </p:nvSpPr>
        <p:spPr>
          <a:xfrm>
            <a:off x="658368" y="2926080"/>
            <a:ext cx="3840480" cy="0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  <a:headEnd type="none"/>
            <a:tailEnd type="none"/>
          </a:ln>
        </p:spPr>
      </p:sp>
      <p:sp>
        <p:nvSpPr>
          <p:cNvPr id="11" name="Text 8"/>
          <p:cNvSpPr txBox="1"/>
          <p:nvPr/>
        </p:nvSpPr>
        <p:spPr>
          <a:xfrm>
            <a:off x="658368" y="3182112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Desarrollo guiado por pruebas, verde mínimo y refactor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658368" y="3822192"/>
            <a:ext cx="91440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6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TDD no es otro nombre para «hacer pruebas». Es un orden de trabajo: escribir una prueba que expresa el resultado esperado, verla fallar por la razón prevista y recién entonces cambiar el código del sistema.</a:t>
            </a:r>
            <a:endParaRPr lang="en-US" sz="1460" dirty="0"/>
          </a:p>
        </p:txBody>
      </p:sp>
      <p:sp>
        <p:nvSpPr>
          <p:cNvPr id="13" name="Shape 10"/>
          <p:cNvSpPr/>
          <p:nvPr/>
        </p:nvSpPr>
        <p:spPr>
          <a:xfrm>
            <a:off x="658368" y="5010912"/>
            <a:ext cx="10874959" cy="0"/>
          </a:xfrm>
          <a:prstGeom prst="line">
            <a:avLst/>
          </a:prstGeom>
          <a:noFill/>
          <a:ln w="12700">
            <a:solidFill>
              <a:srgbClr val="2C4A66"/>
            </a:solidFill>
            <a:prstDash val="solid"/>
            <a:headEnd type="none"/>
            <a:tailEnd type="none"/>
          </a:ln>
        </p:spPr>
      </p:sp>
      <p:sp>
        <p:nvSpPr>
          <p:cNvPr id="14" name="Text 11"/>
          <p:cNvSpPr txBox="1"/>
          <p:nvPr/>
        </p:nvSpPr>
        <p:spPr>
          <a:xfrm>
            <a:off x="658368" y="519379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Martes 22 de septiembre de 2026 · 08:30 – 10:50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6583680" y="519379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Diego Obando · AIEP Osorno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4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 ABRIR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509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Dos pruebas terminan en verde. ¿Entregan la misma evidencia?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664208"/>
            <a:ext cx="10424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4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ambos casos, verde significa que la prueba terminó sin fallar. La diferencia está en lo que se observó antes.</a:t>
            </a:r>
            <a:endParaRPr lang="en-US" sz="1420" dirty="0"/>
          </a:p>
        </p:txBody>
      </p:sp>
      <p:sp>
        <p:nvSpPr>
          <p:cNvPr id="11" name="Shape 8"/>
          <p:cNvSpPr/>
          <p:nvPr/>
        </p:nvSpPr>
        <p:spPr>
          <a:xfrm>
            <a:off x="658368" y="2414016"/>
            <a:ext cx="5175504" cy="18470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8368" y="2414016"/>
            <a:ext cx="5175504" cy="640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14400" y="265176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spc="130" kern="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CÓDIGO PRIMERO</a:t>
            </a:r>
            <a:endParaRPr lang="en-US" sz="960" dirty="0"/>
          </a:p>
        </p:txBody>
      </p:sp>
      <p:sp>
        <p:nvSpPr>
          <p:cNvPr id="14" name="Text 11"/>
          <p:cNvSpPr txBox="1"/>
          <p:nvPr/>
        </p:nvSpPr>
        <p:spPr>
          <a:xfrm>
            <a:off x="932688" y="3035808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1371600" y="3035808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implementa la regla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932688" y="3474720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1371600" y="3474720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escribe la prueba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932688" y="3913632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1371600" y="3913632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prueba nace verde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914400" y="4279392"/>
            <a:ext cx="4663440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21" name="Text 18"/>
          <p:cNvSpPr txBox="1"/>
          <p:nvPr/>
        </p:nvSpPr>
        <p:spPr>
          <a:xfrm>
            <a:off x="914400" y="4407408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Sabemos que acepta esta implementación.</a:t>
            </a:r>
            <a:endParaRPr lang="en-US" sz="1220" dirty="0"/>
          </a:p>
        </p:txBody>
      </p:sp>
      <p:sp>
        <p:nvSpPr>
          <p:cNvPr id="22" name="Shape 19"/>
          <p:cNvSpPr/>
          <p:nvPr/>
        </p:nvSpPr>
        <p:spPr>
          <a:xfrm>
            <a:off x="6364224" y="2414016"/>
            <a:ext cx="5175504" cy="18470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364224" y="2414016"/>
            <a:ext cx="5175504" cy="64008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620256" y="265176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spc="130" kern="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 PRIMERO</a:t>
            </a:r>
            <a:endParaRPr lang="en-US" sz="960" dirty="0"/>
          </a:p>
        </p:txBody>
      </p:sp>
      <p:sp>
        <p:nvSpPr>
          <p:cNvPr id="25" name="Text 22"/>
          <p:cNvSpPr txBox="1"/>
          <p:nvPr/>
        </p:nvSpPr>
        <p:spPr>
          <a:xfrm>
            <a:off x="6638544" y="3035808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7077456" y="3035808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escribe la prueba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6638544" y="3474720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7077456" y="3474720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observa el rojo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6638544" y="3913632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7077456" y="3913632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código la vuelve verde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6620256" y="4279392"/>
            <a:ext cx="4663440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32" name="Text 29"/>
          <p:cNvSpPr txBox="1"/>
          <p:nvPr/>
        </p:nvSpPr>
        <p:spPr>
          <a:xfrm>
            <a:off x="6620256" y="4407408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Sabemos que reaccionó sin el comportamiento.</a:t>
            </a:r>
            <a:endParaRPr lang="en-US" sz="1220" dirty="0"/>
          </a:p>
        </p:txBody>
      </p:sp>
      <p:sp>
        <p:nvSpPr>
          <p:cNvPr id="33" name="Shape 30"/>
          <p:cNvSpPr/>
          <p:nvPr/>
        </p:nvSpPr>
        <p:spPr>
          <a:xfrm>
            <a:off x="658368" y="5065776"/>
            <a:ext cx="10874959" cy="5669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950976" y="5102352"/>
            <a:ext cx="1028974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salida final puede ser idéntica. La historia que permite defender cada proceso no lo es.</a:t>
            </a:r>
            <a:endParaRPr lang="en-US" sz="13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4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HILO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509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Tres clases, tres preguntas distintas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664208"/>
            <a:ext cx="10515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4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técnicas anteriores siguen vigentes. Hoy cambia la pregunta: no buscamos más casos ni una métrica nueva; cambiamos el orden en que nace cada incremento.</a:t>
            </a:r>
            <a:endParaRPr lang="en-US" sz="1420" dirty="0"/>
          </a:p>
        </p:txBody>
      </p:sp>
      <p:sp>
        <p:nvSpPr>
          <p:cNvPr id="11" name="Shape 8"/>
          <p:cNvSpPr/>
          <p:nvPr/>
        </p:nvSpPr>
        <p:spPr>
          <a:xfrm>
            <a:off x="658368" y="2468880"/>
            <a:ext cx="3401568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8368" y="2468880"/>
            <a:ext cx="3401568" cy="640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14400" y="2724912"/>
            <a:ext cx="6766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09</a:t>
            </a:r>
            <a:endParaRPr lang="en-US" sz="3400" dirty="0"/>
          </a:p>
        </p:txBody>
      </p:sp>
      <p:sp>
        <p:nvSpPr>
          <p:cNvPr id="14" name="Text 11"/>
          <p:cNvSpPr txBox="1"/>
          <p:nvPr/>
        </p:nvSpPr>
        <p:spPr>
          <a:xfrm>
            <a:off x="1664208" y="276148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Elegir casos</a:t>
            </a:r>
            <a:endParaRPr lang="en-US" sz="1420" dirty="0"/>
          </a:p>
        </p:txBody>
      </p:sp>
      <p:sp>
        <p:nvSpPr>
          <p:cNvPr id="15" name="Shape 12"/>
          <p:cNvSpPr/>
          <p:nvPr/>
        </p:nvSpPr>
        <p:spPr>
          <a:xfrm>
            <a:off x="914400" y="3383280"/>
            <a:ext cx="2889504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16" name="Text 13"/>
          <p:cNvSpPr txBox="1"/>
          <p:nvPr/>
        </p:nvSpPr>
        <p:spPr>
          <a:xfrm>
            <a:off x="914400" y="3566160"/>
            <a:ext cx="28712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3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ejemplos representan bien el requisito?</a:t>
            </a:r>
            <a:endParaRPr lang="en-US" sz="132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4370832"/>
            <a:ext cx="2871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Particiones, límites y tablas de decisión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4425696" y="2468880"/>
            <a:ext cx="3401568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425696" y="2468880"/>
            <a:ext cx="3401568" cy="64008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681728" y="2724912"/>
            <a:ext cx="6766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8A6A1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</a:t>
            </a:r>
            <a:endParaRPr lang="en-US" sz="3400" dirty="0"/>
          </a:p>
        </p:txBody>
      </p:sp>
      <p:sp>
        <p:nvSpPr>
          <p:cNvPr id="21" name="Text 18"/>
          <p:cNvSpPr txBox="1"/>
          <p:nvPr/>
        </p:nvSpPr>
        <p:spPr>
          <a:xfrm>
            <a:off x="5431536" y="276148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Medir sensibilidad</a:t>
            </a:r>
            <a:endParaRPr lang="en-US" sz="1420" dirty="0"/>
          </a:p>
        </p:txBody>
      </p:sp>
      <p:sp>
        <p:nvSpPr>
          <p:cNvPr id="22" name="Shape 19"/>
          <p:cNvSpPr/>
          <p:nvPr/>
        </p:nvSpPr>
        <p:spPr>
          <a:xfrm>
            <a:off x="4681728" y="3383280"/>
            <a:ext cx="2889504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23" name="Text 20"/>
          <p:cNvSpPr txBox="1"/>
          <p:nvPr/>
        </p:nvSpPr>
        <p:spPr>
          <a:xfrm>
            <a:off x="4681728" y="3566160"/>
            <a:ext cx="28712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3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ejecuta el conjunto de pruebas (suite) y qué cambios detecta?</a:t>
            </a:r>
            <a:endParaRPr lang="en-US" sz="1320" dirty="0"/>
          </a:p>
        </p:txBody>
      </p:sp>
      <p:sp>
        <p:nvSpPr>
          <p:cNvPr id="24" name="Text 21"/>
          <p:cNvSpPr txBox="1"/>
          <p:nvPr/>
        </p:nvSpPr>
        <p:spPr>
          <a:xfrm>
            <a:off x="4681728" y="4370832"/>
            <a:ext cx="2871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Cobertura, comprobaciones y alteraciones controladas</a:t>
            </a:r>
            <a:endParaRPr lang="en-US" sz="1120" dirty="0"/>
          </a:p>
        </p:txBody>
      </p:sp>
      <p:sp>
        <p:nvSpPr>
          <p:cNvPr id="25" name="Shape 22"/>
          <p:cNvSpPr/>
          <p:nvPr/>
        </p:nvSpPr>
        <p:spPr>
          <a:xfrm>
            <a:off x="8193024" y="2468880"/>
            <a:ext cx="3401568" cy="248716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193024" y="2468880"/>
            <a:ext cx="3401568" cy="64008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449056" y="2724912"/>
            <a:ext cx="6766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B318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</a:t>
            </a:r>
            <a:endParaRPr lang="en-US" sz="3400" dirty="0"/>
          </a:p>
        </p:txBody>
      </p:sp>
      <p:sp>
        <p:nvSpPr>
          <p:cNvPr id="28" name="Text 25"/>
          <p:cNvSpPr txBox="1"/>
          <p:nvPr/>
        </p:nvSpPr>
        <p:spPr>
          <a:xfrm>
            <a:off x="9198864" y="276148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Cambiar el orden</a:t>
            </a:r>
            <a:endParaRPr lang="en-US" sz="1420" dirty="0"/>
          </a:p>
        </p:txBody>
      </p:sp>
      <p:sp>
        <p:nvSpPr>
          <p:cNvPr id="29" name="Shape 26"/>
          <p:cNvSpPr/>
          <p:nvPr/>
        </p:nvSpPr>
        <p:spPr>
          <a:xfrm>
            <a:off x="8449056" y="3383280"/>
            <a:ext cx="2889504" cy="0"/>
          </a:xfrm>
          <a:prstGeom prst="line">
            <a:avLst/>
          </a:prstGeom>
          <a:noFill/>
          <a:ln w="12700">
            <a:solidFill>
              <a:srgbClr val="2C4A66"/>
            </a:solidFill>
            <a:prstDash val="solid"/>
            <a:headEnd type="none"/>
            <a:tailEnd type="none"/>
          </a:ln>
        </p:spPr>
      </p:sp>
      <p:sp>
        <p:nvSpPr>
          <p:cNvPr id="30" name="Text 27"/>
          <p:cNvSpPr txBox="1"/>
          <p:nvPr/>
        </p:nvSpPr>
        <p:spPr>
          <a:xfrm>
            <a:off x="8449056" y="3566160"/>
            <a:ext cx="28712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320" b="1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¿La prueba falló antes de implementar el comportamiento?</a:t>
            </a:r>
            <a:endParaRPr lang="en-US" sz="1320" dirty="0"/>
          </a:p>
        </p:txBody>
      </p:sp>
      <p:sp>
        <p:nvSpPr>
          <p:cNvPr id="31" name="Text 28"/>
          <p:cNvSpPr txBox="1"/>
          <p:nvPr/>
        </p:nvSpPr>
        <p:spPr>
          <a:xfrm>
            <a:off x="8449056" y="4370832"/>
            <a:ext cx="2871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2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Rojo → verde → refactor</a:t>
            </a:r>
            <a:endParaRPr lang="en-US" sz="1120" dirty="0"/>
          </a:p>
        </p:txBody>
      </p:sp>
      <p:sp>
        <p:nvSpPr>
          <p:cNvPr id="32" name="Shape 29"/>
          <p:cNvSpPr/>
          <p:nvPr/>
        </p:nvSpPr>
        <p:spPr>
          <a:xfrm>
            <a:off x="658368" y="5285232"/>
            <a:ext cx="10874959" cy="53035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950976" y="5321808"/>
            <a:ext cx="102897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TDD complementa el diseño y la evaluación de pruebas; no reemplaza ninguno de los dos.</a:t>
            </a:r>
            <a:endParaRPr lang="en-US" sz="13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4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META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509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podrás afirmar al terminar la sesión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664208"/>
            <a:ext cx="10241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4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afirmación importante no será «usé pytest» ni «mis pruebas pasan», sino una afirmación respaldada por una secuencia observable.</a:t>
            </a:r>
            <a:endParaRPr lang="en-US" sz="1420" dirty="0"/>
          </a:p>
        </p:txBody>
      </p:sp>
      <p:sp>
        <p:nvSpPr>
          <p:cNvPr id="11" name="Text 8"/>
          <p:cNvSpPr txBox="1"/>
          <p:nvPr/>
        </p:nvSpPr>
        <p:spPr>
          <a:xfrm>
            <a:off x="658368" y="2304288"/>
            <a:ext cx="10874959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20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«Escribí una expectativa para una conducta que faltaba, vi que fallaba por la causa prevista, agregué solo lo necesario para hacerla pasar y mejoré la estructura con una suite que seguía verde.»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2432304" y="3255264"/>
            <a:ext cx="7315200" cy="0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  <a:headEnd type="none"/>
            <a:tailEnd type="none"/>
          </a:ln>
        </p:spPr>
      </p:sp>
      <p:sp>
        <p:nvSpPr>
          <p:cNvPr id="13" name="Shape 10"/>
          <p:cNvSpPr/>
          <p:nvPr/>
        </p:nvSpPr>
        <p:spPr>
          <a:xfrm>
            <a:off x="658368" y="3547872"/>
            <a:ext cx="2542032" cy="12252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58368" y="3547872"/>
            <a:ext cx="54864" cy="122529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96112" y="3675888"/>
            <a:ext cx="2084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20" b="1" spc="110" kern="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</a:t>
            </a:r>
            <a:endParaRPr lang="en-US" sz="920" dirty="0"/>
          </a:p>
        </p:txBody>
      </p:sp>
      <p:sp>
        <p:nvSpPr>
          <p:cNvPr id="16" name="Text 13"/>
          <p:cNvSpPr txBox="1"/>
          <p:nvPr/>
        </p:nvSpPr>
        <p:spPr>
          <a:xfrm>
            <a:off x="896112" y="3931920"/>
            <a:ext cx="20848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2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Caso automatizado que ejecuta una expectativa sobre un resultado observable.</a:t>
            </a:r>
            <a:endParaRPr lang="en-US" sz="1210" dirty="0"/>
          </a:p>
        </p:txBody>
      </p:sp>
      <p:sp>
        <p:nvSpPr>
          <p:cNvPr id="17" name="Shape 14"/>
          <p:cNvSpPr/>
          <p:nvPr/>
        </p:nvSpPr>
        <p:spPr>
          <a:xfrm>
            <a:off x="3456432" y="3547872"/>
            <a:ext cx="2542032" cy="12252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456432" y="3547872"/>
            <a:ext cx="54864" cy="1225296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694176" y="3675888"/>
            <a:ext cx="2084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20" b="1" spc="110" kern="0" dirty="0">
                <a:solidFill>
                  <a:srgbClr val="8A6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SUITE</a:t>
            </a:r>
            <a:endParaRPr lang="en-US" sz="920" dirty="0"/>
          </a:p>
        </p:txBody>
      </p:sp>
      <p:sp>
        <p:nvSpPr>
          <p:cNvPr id="20" name="Text 17"/>
          <p:cNvSpPr txBox="1"/>
          <p:nvPr/>
        </p:nvSpPr>
        <p:spPr>
          <a:xfrm>
            <a:off x="3694176" y="3931920"/>
            <a:ext cx="20848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2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Conjunto de pruebas automatizadas que se ejecutan como una unidad.</a:t>
            </a:r>
            <a:endParaRPr lang="en-US" sz="1210" dirty="0"/>
          </a:p>
        </p:txBody>
      </p:sp>
      <p:sp>
        <p:nvSpPr>
          <p:cNvPr id="21" name="Shape 18"/>
          <p:cNvSpPr/>
          <p:nvPr/>
        </p:nvSpPr>
        <p:spPr>
          <a:xfrm>
            <a:off x="6254496" y="3547872"/>
            <a:ext cx="2542032" cy="12252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254496" y="3547872"/>
            <a:ext cx="54864" cy="1225296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492240" y="3675888"/>
            <a:ext cx="2084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20" b="1" spc="110" kern="0" dirty="0">
                <a:solidFill>
                  <a:srgbClr val="2E7D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COMPORTAMIENTO</a:t>
            </a:r>
            <a:endParaRPr lang="en-US" sz="920" dirty="0"/>
          </a:p>
        </p:txBody>
      </p:sp>
      <p:sp>
        <p:nvSpPr>
          <p:cNvPr id="24" name="Text 21"/>
          <p:cNvSpPr txBox="1"/>
          <p:nvPr/>
        </p:nvSpPr>
        <p:spPr>
          <a:xfrm>
            <a:off x="6492240" y="3931920"/>
            <a:ext cx="20848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2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 que alguien puede observar desde fuera de la implementación.</a:t>
            </a:r>
            <a:endParaRPr lang="en-US" sz="1210" dirty="0"/>
          </a:p>
        </p:txBody>
      </p:sp>
      <p:sp>
        <p:nvSpPr>
          <p:cNvPr id="25" name="Shape 22"/>
          <p:cNvSpPr/>
          <p:nvPr/>
        </p:nvSpPr>
        <p:spPr>
          <a:xfrm>
            <a:off x="9052560" y="3547872"/>
            <a:ext cx="2478024" cy="12252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9052560" y="3547872"/>
            <a:ext cx="54864" cy="1225296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290304" y="3675888"/>
            <a:ext cx="2020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20" b="1" spc="110" kern="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</a:t>
            </a:r>
            <a:endParaRPr lang="en-US" sz="920" dirty="0"/>
          </a:p>
        </p:txBody>
      </p:sp>
      <p:sp>
        <p:nvSpPr>
          <p:cNvPr id="28" name="Text 25"/>
          <p:cNvSpPr txBox="1"/>
          <p:nvPr/>
        </p:nvSpPr>
        <p:spPr>
          <a:xfrm>
            <a:off x="9290304" y="3931920"/>
            <a:ext cx="20208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2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Salida o registro que permite sostener una afirmación concreta.</a:t>
            </a:r>
            <a:endParaRPr lang="en-US" sz="1210" dirty="0"/>
          </a:p>
        </p:txBody>
      </p:sp>
      <p:sp>
        <p:nvSpPr>
          <p:cNvPr id="29" name="Shape 26"/>
          <p:cNvSpPr/>
          <p:nvPr/>
        </p:nvSpPr>
        <p:spPr>
          <a:xfrm>
            <a:off x="658368" y="5212080"/>
            <a:ext cx="10874959" cy="5669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50976" y="5248656"/>
            <a:ext cx="1028974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prueba no es una demostración absoluta de corrección: aporta evidencia sobre el caso que ejecutó.</a:t>
            </a:r>
            <a:endParaRPr lang="en-US" sz="13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C:\Users\Diego Obando\dev\pro402-taller-de-testing-2026\clases\semana-04\02\ppt\source\assets\logo-aie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307150"/>
            <a:ext cx="1335024" cy="46469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RECORRIDO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509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Cuatro bloques, cuatro decisiones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664208"/>
            <a:ext cx="10241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42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bloque completa una parte del método y conserva la evidencia que permite pasar al siguiente.</a:t>
            </a:r>
            <a:endParaRPr lang="en-US" sz="1420" dirty="0"/>
          </a:p>
        </p:txBody>
      </p:sp>
      <p:sp>
        <p:nvSpPr>
          <p:cNvPr id="11" name="Shape 8"/>
          <p:cNvSpPr/>
          <p:nvPr/>
        </p:nvSpPr>
        <p:spPr>
          <a:xfrm>
            <a:off x="658368" y="2304288"/>
            <a:ext cx="10874959" cy="603504"/>
          </a:xfrm>
          <a:prstGeom prst="rect">
            <a:avLst/>
          </a:prstGeom>
          <a:solidFill>
            <a:srgbClr val="1D3A57"/>
          </a:solidFill>
          <a:ln w="12700">
            <a:solidFill>
              <a:srgbClr val="1D3A5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8368" y="2304288"/>
            <a:ext cx="54864" cy="6035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14400" y="2395728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1481328" y="248716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08:40</a:t>
            </a:r>
            <a:endParaRPr lang="en-US" sz="1140" dirty="0"/>
          </a:p>
        </p:txBody>
      </p:sp>
      <p:sp>
        <p:nvSpPr>
          <p:cNvPr id="15" name="Text 12"/>
          <p:cNvSpPr txBox="1"/>
          <p:nvPr/>
        </p:nvSpPr>
        <p:spPr>
          <a:xfrm>
            <a:off x="2377440" y="23774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rojo que hay que ver</a:t>
            </a:r>
            <a:endParaRPr lang="en-US" sz="1340" dirty="0"/>
          </a:p>
        </p:txBody>
      </p:sp>
      <p:sp>
        <p:nvSpPr>
          <p:cNvPr id="16" name="Text 13"/>
          <p:cNvSpPr txBox="1"/>
          <p:nvPr/>
        </p:nvSpPr>
        <p:spPr>
          <a:xfrm>
            <a:off x="5705856" y="240487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2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Distinguir un error que impide ejecutar de una falla de comportamiento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658368" y="3017520"/>
            <a:ext cx="10874959" cy="6035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58368" y="3017520"/>
            <a:ext cx="54864" cy="60350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14400" y="3108960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2400" dirty="0"/>
          </a:p>
        </p:txBody>
      </p:sp>
      <p:sp>
        <p:nvSpPr>
          <p:cNvPr id="20" name="Text 17"/>
          <p:cNvSpPr txBox="1"/>
          <p:nvPr/>
        </p:nvSpPr>
        <p:spPr>
          <a:xfrm>
            <a:off x="1481328" y="320040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09:10</a:t>
            </a:r>
            <a:endParaRPr lang="en-US" sz="1140" dirty="0"/>
          </a:p>
        </p:txBody>
      </p:sp>
      <p:sp>
        <p:nvSpPr>
          <p:cNvPr id="21" name="Text 18"/>
          <p:cNvSpPr txBox="1"/>
          <p:nvPr/>
        </p:nvSpPr>
        <p:spPr>
          <a:xfrm>
            <a:off x="2377440" y="309067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Verde mínimo y refactor</a:t>
            </a:r>
            <a:endParaRPr lang="en-US" sz="1340" dirty="0"/>
          </a:p>
        </p:txBody>
      </p:sp>
      <p:sp>
        <p:nvSpPr>
          <p:cNvPr id="22" name="Text 19"/>
          <p:cNvSpPr txBox="1"/>
          <p:nvPr/>
        </p:nvSpPr>
        <p:spPr>
          <a:xfrm>
            <a:off x="5705856" y="3118104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2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Hacer pasar el ejemplo actual; mejorar estructura solo con la suite verde</a:t>
            </a:r>
            <a:endParaRPr lang="en-US" sz="1120" dirty="0"/>
          </a:p>
        </p:txBody>
      </p:sp>
      <p:sp>
        <p:nvSpPr>
          <p:cNvPr id="23" name="Shape 20"/>
          <p:cNvSpPr/>
          <p:nvPr/>
        </p:nvSpPr>
        <p:spPr>
          <a:xfrm>
            <a:off x="658368" y="3730752"/>
            <a:ext cx="10874959" cy="603504"/>
          </a:xfrm>
          <a:prstGeom prst="rect">
            <a:avLst/>
          </a:prstGeom>
          <a:solidFill>
            <a:srgbClr val="1D3A57"/>
          </a:solidFill>
          <a:ln w="12700">
            <a:solidFill>
              <a:srgbClr val="1D3A57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58368" y="3730752"/>
            <a:ext cx="54864" cy="60350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914400" y="3822192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2400" dirty="0"/>
          </a:p>
        </p:txBody>
      </p:sp>
      <p:sp>
        <p:nvSpPr>
          <p:cNvPr id="26" name="Text 23"/>
          <p:cNvSpPr txBox="1"/>
          <p:nvPr/>
        </p:nvSpPr>
        <p:spPr>
          <a:xfrm>
            <a:off x="1481328" y="391363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09:45</a:t>
            </a:r>
            <a:endParaRPr lang="en-US" sz="1140" dirty="0"/>
          </a:p>
        </p:txBody>
      </p:sp>
      <p:sp>
        <p:nvSpPr>
          <p:cNvPr id="27" name="Text 24"/>
          <p:cNvSpPr txBox="1"/>
          <p:nvPr/>
        </p:nvSpPr>
        <p:spPr>
          <a:xfrm>
            <a:off x="2377440" y="38039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Tres vueltas y diseño emergente</a:t>
            </a:r>
            <a:endParaRPr lang="en-US" sz="1340" dirty="0"/>
          </a:p>
        </p:txBody>
      </p:sp>
      <p:sp>
        <p:nvSpPr>
          <p:cNvPr id="28" name="Text 25"/>
          <p:cNvSpPr txBox="1"/>
          <p:nvPr/>
        </p:nvSpPr>
        <p:spPr>
          <a:xfrm>
            <a:off x="5705856" y="383133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2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Agregar ejemplos pequeños y leer la cobertura como consecuencia</a:t>
            </a:r>
            <a:endParaRPr lang="en-US" sz="1120" dirty="0"/>
          </a:p>
        </p:txBody>
      </p:sp>
      <p:sp>
        <p:nvSpPr>
          <p:cNvPr id="29" name="Shape 26"/>
          <p:cNvSpPr/>
          <p:nvPr/>
        </p:nvSpPr>
        <p:spPr>
          <a:xfrm>
            <a:off x="658368" y="4443984"/>
            <a:ext cx="10874959" cy="6035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58368" y="4443984"/>
            <a:ext cx="54864" cy="60350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914400" y="4535424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2400" dirty="0"/>
          </a:p>
        </p:txBody>
      </p:sp>
      <p:sp>
        <p:nvSpPr>
          <p:cNvPr id="32" name="Text 29"/>
          <p:cNvSpPr txBox="1"/>
          <p:nvPr/>
        </p:nvSpPr>
        <p:spPr>
          <a:xfrm>
            <a:off x="1481328" y="462686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10:15</a:t>
            </a:r>
            <a:endParaRPr lang="en-US" sz="1140" dirty="0"/>
          </a:p>
        </p:txBody>
      </p:sp>
      <p:sp>
        <p:nvSpPr>
          <p:cNvPr id="33" name="Text 30"/>
          <p:cNvSpPr txBox="1"/>
          <p:nvPr/>
        </p:nvSpPr>
        <p:spPr>
          <a:xfrm>
            <a:off x="2377440" y="451713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Transferencia y auditoría</a:t>
            </a:r>
            <a:endParaRPr lang="en-US" sz="1340" dirty="0"/>
          </a:p>
        </p:txBody>
      </p:sp>
      <p:sp>
        <p:nvSpPr>
          <p:cNvPr id="34" name="Text 31"/>
          <p:cNvSpPr txBox="1"/>
          <p:nvPr/>
        </p:nvSpPr>
        <p:spPr>
          <a:xfrm>
            <a:off x="5705856" y="454456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2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Repetir el ciclo en Vitest y evaluar una entrega nacida en verde</a:t>
            </a:r>
            <a:endParaRPr lang="en-US" sz="1120" dirty="0"/>
          </a:p>
        </p:txBody>
      </p:sp>
      <p:sp>
        <p:nvSpPr>
          <p:cNvPr id="35" name="Shape 32"/>
          <p:cNvSpPr/>
          <p:nvPr/>
        </p:nvSpPr>
        <p:spPr>
          <a:xfrm>
            <a:off x="658368" y="5321808"/>
            <a:ext cx="10874959" cy="530352"/>
          </a:xfrm>
          <a:prstGeom prst="rect">
            <a:avLst/>
          </a:prstGeom>
          <a:solidFill>
            <a:srgbClr val="1D3A57"/>
          </a:solidFill>
          <a:ln w="12700">
            <a:solidFill>
              <a:srgbClr val="1D3A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914400" y="5449824"/>
            <a:ext cx="103628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Pausa: 09:35 – 09:45 · Cierre: 10:40 – 10:50</a:t>
            </a:r>
            <a:endParaRPr lang="en-US" sz="12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C:\Users\Diego Obando\dev\pro402-taller-de-testing-2026\clases\semana-04\02\ppt\source\assets\logo-aie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307150"/>
            <a:ext cx="1335024" cy="46469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06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144475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spc="13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DE 4 · 30 MINUTOS</a:t>
            </a:r>
            <a:endParaRPr lang="en-US" sz="96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1901952"/>
            <a:ext cx="9784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rojo que hay que ver</a:t>
            </a:r>
            <a:endParaRPr lang="en-US" sz="4200" dirty="0"/>
          </a:p>
        </p:txBody>
      </p:sp>
      <p:sp>
        <p:nvSpPr>
          <p:cNvPr id="10" name="Shape 7"/>
          <p:cNvSpPr/>
          <p:nvPr/>
        </p:nvSpPr>
        <p:spPr>
          <a:xfrm>
            <a:off x="658368" y="2907792"/>
            <a:ext cx="3291840" cy="0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  <a:headEnd type="none"/>
            <a:tailEnd type="none"/>
          </a:ln>
        </p:spPr>
      </p:sp>
      <p:sp>
        <p:nvSpPr>
          <p:cNvPr id="11" name="Text 8"/>
          <p:cNvSpPr txBox="1"/>
          <p:nvPr/>
        </p:nvSpPr>
        <p:spPr>
          <a:xfrm>
            <a:off x="658368" y="3182112"/>
            <a:ext cx="95097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i="1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toda salida roja prueba lo mismo. Primero haremos ejecutable la prueba; después exigiremos que la comprobación automática —la línea assert— compare el valor observado con el esperado.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658368" y="4681728"/>
            <a:ext cx="3401568" cy="841248"/>
          </a:xfrm>
          <a:prstGeom prst="rect">
            <a:avLst/>
          </a:prstGeom>
          <a:solidFill>
            <a:srgbClr val="1D3A57"/>
          </a:solidFill>
          <a:ln w="12700">
            <a:solidFill>
              <a:srgbClr val="1D3A5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41248" y="4855464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1353312" y="478231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Definir TDD</a:t>
            </a:r>
            <a:endParaRPr lang="en-US" sz="1220" dirty="0"/>
          </a:p>
        </p:txBody>
      </p:sp>
      <p:sp>
        <p:nvSpPr>
          <p:cNvPr id="15" name="Text 12"/>
          <p:cNvSpPr txBox="1"/>
          <p:nvPr/>
        </p:nvSpPr>
        <p:spPr>
          <a:xfrm>
            <a:off x="1353312" y="504748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orden de operaciones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425696" y="4681728"/>
            <a:ext cx="3401568" cy="841248"/>
          </a:xfrm>
          <a:prstGeom prst="rect">
            <a:avLst/>
          </a:prstGeom>
          <a:solidFill>
            <a:srgbClr val="1D3A57"/>
          </a:solidFill>
          <a:ln w="12700">
            <a:solidFill>
              <a:srgbClr val="1D3A5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608576" y="4855464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5120640" y="478231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Leer el primer rojo</a:t>
            </a:r>
            <a:endParaRPr lang="en-US" sz="1220" dirty="0"/>
          </a:p>
        </p:txBody>
      </p:sp>
      <p:sp>
        <p:nvSpPr>
          <p:cNvPr id="19" name="Text 16"/>
          <p:cNvSpPr txBox="1"/>
          <p:nvPr/>
        </p:nvSpPr>
        <p:spPr>
          <a:xfrm>
            <a:off x="5120640" y="504748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prueba todavía no se ejecuta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8193024" y="4681728"/>
            <a:ext cx="3401568" cy="841248"/>
          </a:xfrm>
          <a:prstGeom prst="rect">
            <a:avLst/>
          </a:prstGeom>
          <a:solidFill>
            <a:srgbClr val="1D3A57"/>
          </a:solidFill>
          <a:ln w="12700">
            <a:solidFill>
              <a:srgbClr val="1D3A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375904" y="4855464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19"/>
          <p:cNvSpPr txBox="1"/>
          <p:nvPr/>
        </p:nvSpPr>
        <p:spPr>
          <a:xfrm>
            <a:off x="8887968" y="478231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Obtener el rojo útil</a:t>
            </a:r>
            <a:endParaRPr lang="en-US" sz="1220" dirty="0"/>
          </a:p>
        </p:txBody>
      </p:sp>
      <p:sp>
        <p:nvSpPr>
          <p:cNvPr id="23" name="Text 20"/>
          <p:cNvSpPr txBox="1"/>
          <p:nvPr/>
        </p:nvSpPr>
        <p:spPr>
          <a:xfrm>
            <a:off x="8887968" y="504748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línea assert observa y distingue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4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07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· DEFINICIÓN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509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TDD no significa solamente «tener pruebas»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664208"/>
            <a:ext cx="10332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4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TDD es desarrollo guiado por pruebas: la prueba del siguiente comportamiento se escribe antes que el código que lo implementa.</a:t>
            </a:r>
            <a:endParaRPr lang="en-US" sz="1420" dirty="0"/>
          </a:p>
        </p:txBody>
      </p:sp>
      <p:sp>
        <p:nvSpPr>
          <p:cNvPr id="11" name="Text 8"/>
          <p:cNvSpPr txBox="1"/>
          <p:nvPr/>
        </p:nvSpPr>
        <p:spPr>
          <a:xfrm>
            <a:off x="658368" y="250545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spc="130" kern="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PRUEBAS DESPUÉS</a:t>
            </a:r>
            <a:endParaRPr lang="en-US" sz="960" dirty="0"/>
          </a:p>
        </p:txBody>
      </p:sp>
      <p:sp>
        <p:nvSpPr>
          <p:cNvPr id="12" name="Shape 9"/>
          <p:cNvSpPr/>
          <p:nvPr/>
        </p:nvSpPr>
        <p:spPr>
          <a:xfrm>
            <a:off x="2670048" y="2395728"/>
            <a:ext cx="1901952" cy="5669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670048" y="2505456"/>
            <a:ext cx="1901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b="1" spc="8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CÓDIGO</a:t>
            </a:r>
            <a:endParaRPr lang="en-US" sz="1220" dirty="0"/>
          </a:p>
        </p:txBody>
      </p:sp>
      <p:sp>
        <p:nvSpPr>
          <p:cNvPr id="14" name="Shape 11"/>
          <p:cNvSpPr/>
          <p:nvPr/>
        </p:nvSpPr>
        <p:spPr>
          <a:xfrm>
            <a:off x="4645152" y="2679192"/>
            <a:ext cx="256032" cy="0"/>
          </a:xfrm>
          <a:prstGeom prst="line">
            <a:avLst/>
          </a:prstGeom>
          <a:noFill/>
          <a:ln w="12700">
            <a:solidFill>
              <a:srgbClr val="52606D"/>
            </a:solidFill>
            <a:prstDash val="solid"/>
            <a:headEnd type="none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4956048" y="2395728"/>
            <a:ext cx="1901952" cy="566928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956048" y="2505456"/>
            <a:ext cx="1901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b="1" spc="8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</a:t>
            </a:r>
            <a:endParaRPr lang="en-US" sz="1220" dirty="0"/>
          </a:p>
        </p:txBody>
      </p:sp>
      <p:sp>
        <p:nvSpPr>
          <p:cNvPr id="17" name="Shape 14"/>
          <p:cNvSpPr/>
          <p:nvPr/>
        </p:nvSpPr>
        <p:spPr>
          <a:xfrm>
            <a:off x="6931152" y="2679192"/>
            <a:ext cx="256032" cy="0"/>
          </a:xfrm>
          <a:prstGeom prst="line">
            <a:avLst/>
          </a:prstGeom>
          <a:noFill/>
          <a:ln w="12700">
            <a:solidFill>
              <a:srgbClr val="52606D"/>
            </a:solidFill>
            <a:prstDash val="solid"/>
            <a:headEnd type="none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7242048" y="2395728"/>
            <a:ext cx="1901952" cy="566928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242048" y="2505456"/>
            <a:ext cx="1901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b="1" spc="8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VERDE</a:t>
            </a:r>
            <a:endParaRPr lang="en-US" sz="1220" dirty="0"/>
          </a:p>
        </p:txBody>
      </p:sp>
      <p:sp>
        <p:nvSpPr>
          <p:cNvPr id="20" name="Text 17"/>
          <p:cNvSpPr txBox="1"/>
          <p:nvPr/>
        </p:nvSpPr>
        <p:spPr>
          <a:xfrm>
            <a:off x="2670048" y="3108960"/>
            <a:ext cx="6437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prueba acepta la implementación existente.</a:t>
            </a:r>
            <a:endParaRPr lang="en-US" sz="1160" dirty="0"/>
          </a:p>
        </p:txBody>
      </p:sp>
      <p:sp>
        <p:nvSpPr>
          <p:cNvPr id="21" name="Text 18"/>
          <p:cNvSpPr txBox="1"/>
          <p:nvPr/>
        </p:nvSpPr>
        <p:spPr>
          <a:xfrm>
            <a:off x="658368" y="396849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spc="130" kern="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TDD</a:t>
            </a:r>
            <a:endParaRPr lang="en-US" sz="960" dirty="0"/>
          </a:p>
        </p:txBody>
      </p:sp>
      <p:sp>
        <p:nvSpPr>
          <p:cNvPr id="22" name="Shape 19"/>
          <p:cNvSpPr/>
          <p:nvPr/>
        </p:nvSpPr>
        <p:spPr>
          <a:xfrm>
            <a:off x="2670048" y="3858768"/>
            <a:ext cx="1517904" cy="566928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2670048" y="3968496"/>
            <a:ext cx="1517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b="1" spc="8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</a:t>
            </a:r>
            <a:endParaRPr lang="en-US" sz="1220" dirty="0"/>
          </a:p>
        </p:txBody>
      </p:sp>
      <p:sp>
        <p:nvSpPr>
          <p:cNvPr id="24" name="Shape 21"/>
          <p:cNvSpPr/>
          <p:nvPr/>
        </p:nvSpPr>
        <p:spPr>
          <a:xfrm>
            <a:off x="4261104" y="4142232"/>
            <a:ext cx="256032" cy="0"/>
          </a:xfrm>
          <a:prstGeom prst="line">
            <a:avLst/>
          </a:prstGeom>
          <a:noFill/>
          <a:ln w="12700">
            <a:solidFill>
              <a:srgbClr val="52606D"/>
            </a:solidFill>
            <a:prstDash val="solid"/>
            <a:headEnd type="none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4572000" y="3858768"/>
            <a:ext cx="1517904" cy="566928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572000" y="3968496"/>
            <a:ext cx="1517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b="1" spc="8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ROJO</a:t>
            </a:r>
            <a:endParaRPr lang="en-US" sz="1220" dirty="0"/>
          </a:p>
        </p:txBody>
      </p:sp>
      <p:sp>
        <p:nvSpPr>
          <p:cNvPr id="27" name="Shape 24"/>
          <p:cNvSpPr/>
          <p:nvPr/>
        </p:nvSpPr>
        <p:spPr>
          <a:xfrm>
            <a:off x="6163056" y="4142232"/>
            <a:ext cx="256032" cy="0"/>
          </a:xfrm>
          <a:prstGeom prst="line">
            <a:avLst/>
          </a:prstGeom>
          <a:noFill/>
          <a:ln w="12700">
            <a:solidFill>
              <a:srgbClr val="52606D"/>
            </a:solidFill>
            <a:prstDash val="solid"/>
            <a:headEnd type="none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6473952" y="3858768"/>
            <a:ext cx="1517904" cy="5669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473952" y="3968496"/>
            <a:ext cx="1517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b="1" spc="8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CÓDIGO</a:t>
            </a:r>
            <a:endParaRPr lang="en-US" sz="1220" dirty="0"/>
          </a:p>
        </p:txBody>
      </p:sp>
      <p:sp>
        <p:nvSpPr>
          <p:cNvPr id="30" name="Shape 27"/>
          <p:cNvSpPr/>
          <p:nvPr/>
        </p:nvSpPr>
        <p:spPr>
          <a:xfrm>
            <a:off x="8065008" y="4142232"/>
            <a:ext cx="256032" cy="0"/>
          </a:xfrm>
          <a:prstGeom prst="line">
            <a:avLst/>
          </a:prstGeom>
          <a:noFill/>
          <a:ln w="12700">
            <a:solidFill>
              <a:srgbClr val="52606D"/>
            </a:solidFill>
            <a:prstDash val="solid"/>
            <a:headEnd type="none"/>
            <a:tailEnd type="triangle"/>
          </a:ln>
        </p:spPr>
      </p:sp>
      <p:sp>
        <p:nvSpPr>
          <p:cNvPr id="31" name="Shape 28"/>
          <p:cNvSpPr/>
          <p:nvPr/>
        </p:nvSpPr>
        <p:spPr>
          <a:xfrm>
            <a:off x="8375904" y="3858768"/>
            <a:ext cx="1517904" cy="566928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375904" y="3968496"/>
            <a:ext cx="1517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b="1" spc="8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VERDE</a:t>
            </a:r>
            <a:endParaRPr lang="en-US" sz="1220" dirty="0"/>
          </a:p>
        </p:txBody>
      </p:sp>
      <p:sp>
        <p:nvSpPr>
          <p:cNvPr id="33" name="Text 30"/>
          <p:cNvSpPr txBox="1"/>
          <p:nvPr/>
        </p:nvSpPr>
        <p:spPr>
          <a:xfrm>
            <a:off x="2670048" y="457200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60" b="1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prueba rechazó el sistema sin la conducta y luego aceptó el cambio.</a:t>
            </a:r>
            <a:endParaRPr lang="en-US" sz="1160" dirty="0"/>
          </a:p>
        </p:txBody>
      </p:sp>
      <p:sp>
        <p:nvSpPr>
          <p:cNvPr id="34" name="Shape 31"/>
          <p:cNvSpPr/>
          <p:nvPr/>
        </p:nvSpPr>
        <p:spPr>
          <a:xfrm>
            <a:off x="658368" y="5138928"/>
            <a:ext cx="10874959" cy="5669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950976" y="5175504"/>
            <a:ext cx="1028974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garantía es pequeña y precisa: la prueba reaccionó ante la ausencia o la respuesta incorrecta que motivó el cambio.</a:t>
            </a:r>
            <a:endParaRPr lang="en-US" sz="1340" dirty="0"/>
          </a:p>
        </p:txBody>
      </p:sp>
      <p:sp>
        <p:nvSpPr>
          <p:cNvPr id="36" name="Shape 33"/>
          <p:cNvSpPr/>
          <p:nvPr/>
        </p:nvSpPr>
        <p:spPr>
          <a:xfrm>
            <a:off x="658368" y="5897880"/>
            <a:ext cx="45720" cy="182880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804672" y="5888736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i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Kent Beck · Test-Driven Development: By Example · regla inicial de TDD</a:t>
            </a:r>
            <a:endParaRPr lang="en-US" sz="8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4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08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· EL CICLO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509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Cada color autoriza una acción distinta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664208"/>
            <a:ext cx="10332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4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ciclo es breve y se repite. Saltar de color cambia el método, aunque al final todas las pruebas estén verdes.</a:t>
            </a:r>
            <a:endParaRPr lang="en-US" sz="1420" dirty="0"/>
          </a:p>
        </p:txBody>
      </p:sp>
      <p:sp>
        <p:nvSpPr>
          <p:cNvPr id="11" name="Shape 8"/>
          <p:cNvSpPr/>
          <p:nvPr/>
        </p:nvSpPr>
        <p:spPr>
          <a:xfrm>
            <a:off x="658368" y="2450592"/>
            <a:ext cx="3401568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8368" y="2450592"/>
            <a:ext cx="3401568" cy="54864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59536" y="2633472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318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1444752" y="2596896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ROJO</a:t>
            </a:r>
            <a:endParaRPr lang="en-US" sz="1320" dirty="0"/>
          </a:p>
        </p:txBody>
      </p:sp>
      <p:sp>
        <p:nvSpPr>
          <p:cNvPr id="15" name="Text 12"/>
          <p:cNvSpPr txBox="1"/>
          <p:nvPr/>
        </p:nvSpPr>
        <p:spPr>
          <a:xfrm>
            <a:off x="1444752" y="2889504"/>
            <a:ext cx="241401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1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Escribir una prueba para una conducta que falta. Ejecutarla y entender por qué falla.</a:t>
            </a:r>
            <a:endParaRPr lang="en-US" sz="1110" dirty="0"/>
          </a:p>
        </p:txBody>
      </p:sp>
      <p:sp>
        <p:nvSpPr>
          <p:cNvPr id="16" name="Shape 13"/>
          <p:cNvSpPr/>
          <p:nvPr/>
        </p:nvSpPr>
        <p:spPr>
          <a:xfrm>
            <a:off x="4133088" y="3236976"/>
            <a:ext cx="237744" cy="0"/>
          </a:xfrm>
          <a:prstGeom prst="line">
            <a:avLst/>
          </a:prstGeom>
          <a:noFill/>
          <a:ln w="12700">
            <a:solidFill>
              <a:srgbClr val="8A6A12"/>
            </a:solidFill>
            <a:prstDash val="solid"/>
            <a:headEnd type="none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4425696" y="2450592"/>
            <a:ext cx="3401568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425696" y="2450592"/>
            <a:ext cx="3401568" cy="54864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626864" y="2633472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7D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2600" dirty="0"/>
          </a:p>
        </p:txBody>
      </p:sp>
      <p:sp>
        <p:nvSpPr>
          <p:cNvPr id="20" name="Text 17"/>
          <p:cNvSpPr txBox="1"/>
          <p:nvPr/>
        </p:nvSpPr>
        <p:spPr>
          <a:xfrm>
            <a:off x="5212080" y="2596896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VERDE</a:t>
            </a:r>
            <a:endParaRPr lang="en-US" sz="1320" dirty="0"/>
          </a:p>
        </p:txBody>
      </p:sp>
      <p:sp>
        <p:nvSpPr>
          <p:cNvPr id="21" name="Text 18"/>
          <p:cNvSpPr txBox="1"/>
          <p:nvPr/>
        </p:nvSpPr>
        <p:spPr>
          <a:xfrm>
            <a:off x="5212080" y="2889504"/>
            <a:ext cx="241401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1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Escribir la menor cantidad de código de producción que hace pasar esa prueba.</a:t>
            </a:r>
            <a:endParaRPr lang="en-US" sz="1110" dirty="0"/>
          </a:p>
        </p:txBody>
      </p:sp>
      <p:sp>
        <p:nvSpPr>
          <p:cNvPr id="22" name="Shape 19"/>
          <p:cNvSpPr/>
          <p:nvPr/>
        </p:nvSpPr>
        <p:spPr>
          <a:xfrm>
            <a:off x="7900416" y="3236976"/>
            <a:ext cx="237744" cy="0"/>
          </a:xfrm>
          <a:prstGeom prst="line">
            <a:avLst/>
          </a:prstGeom>
          <a:noFill/>
          <a:ln w="12700">
            <a:solidFill>
              <a:srgbClr val="8A6A12"/>
            </a:solidFill>
            <a:prstDash val="solid"/>
            <a:headEnd type="none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8193024" y="2450592"/>
            <a:ext cx="3401568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193024" y="2450592"/>
            <a:ext cx="3401568" cy="5486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394192" y="2633472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2600" dirty="0"/>
          </a:p>
        </p:txBody>
      </p:sp>
      <p:sp>
        <p:nvSpPr>
          <p:cNvPr id="26" name="Text 23"/>
          <p:cNvSpPr txBox="1"/>
          <p:nvPr/>
        </p:nvSpPr>
        <p:spPr>
          <a:xfrm>
            <a:off x="8979408" y="2596896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REFACTOR</a:t>
            </a:r>
            <a:endParaRPr lang="en-US" sz="1320" dirty="0"/>
          </a:p>
        </p:txBody>
      </p:sp>
      <p:sp>
        <p:nvSpPr>
          <p:cNvPr id="27" name="Text 24"/>
          <p:cNvSpPr txBox="1"/>
          <p:nvPr/>
        </p:nvSpPr>
        <p:spPr>
          <a:xfrm>
            <a:off x="8979408" y="2889504"/>
            <a:ext cx="241401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1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Mejorar nombres, estructura o duplicación sin cambiar la conducta observable.</a:t>
            </a:r>
            <a:endParaRPr lang="en-US" sz="1110" dirty="0"/>
          </a:p>
        </p:txBody>
      </p:sp>
      <p:sp>
        <p:nvSpPr>
          <p:cNvPr id="28" name="Shape 25"/>
          <p:cNvSpPr/>
          <p:nvPr/>
        </p:nvSpPr>
        <p:spPr>
          <a:xfrm>
            <a:off x="658368" y="4370832"/>
            <a:ext cx="10874959" cy="877824"/>
          </a:xfrm>
          <a:prstGeom prst="rect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32688" y="45720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40" b="1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rojo</a:t>
            </a:r>
            <a:endParaRPr lang="en-US" sz="1240" dirty="0"/>
          </a:p>
        </p:txBody>
      </p:sp>
      <p:sp>
        <p:nvSpPr>
          <p:cNvPr id="30" name="Text 27"/>
          <p:cNvSpPr txBox="1"/>
          <p:nvPr/>
        </p:nvSpPr>
        <p:spPr>
          <a:xfrm>
            <a:off x="1938528" y="4572000"/>
            <a:ext cx="3767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entender la falla; todavía no diseñar la solución completa</a:t>
            </a:r>
            <a:endParaRPr lang="en-US" sz="1180" dirty="0"/>
          </a:p>
        </p:txBody>
      </p:sp>
      <p:sp>
        <p:nvSpPr>
          <p:cNvPr id="31" name="Text 28"/>
          <p:cNvSpPr txBox="1"/>
          <p:nvPr/>
        </p:nvSpPr>
        <p:spPr>
          <a:xfrm>
            <a:off x="6236208" y="45720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40" b="1" dirty="0">
                <a:solidFill>
                  <a:srgbClr val="2E7D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verde</a:t>
            </a:r>
            <a:endParaRPr lang="en-US" sz="1240" dirty="0"/>
          </a:p>
        </p:txBody>
      </p:sp>
      <p:sp>
        <p:nvSpPr>
          <p:cNvPr id="32" name="Text 29"/>
          <p:cNvSpPr txBox="1"/>
          <p:nvPr/>
        </p:nvSpPr>
        <p:spPr>
          <a:xfrm>
            <a:off x="7278624" y="4572000"/>
            <a:ext cx="3922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agregar otra conducta: iniciar otra vuelta con otra prueba</a:t>
            </a:r>
            <a:endParaRPr lang="en-US" sz="1180" dirty="0"/>
          </a:p>
        </p:txBody>
      </p:sp>
      <p:sp>
        <p:nvSpPr>
          <p:cNvPr id="33" name="Shape 30"/>
          <p:cNvSpPr/>
          <p:nvPr/>
        </p:nvSpPr>
        <p:spPr>
          <a:xfrm>
            <a:off x="658368" y="5504688"/>
            <a:ext cx="10874959" cy="53035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950976" y="5541264"/>
            <a:ext cx="102897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Refactorizar solo es seguro cuando la suite está verde y ya mostró que puede reaccionar.</a:t>
            </a:r>
            <a:endParaRPr lang="en-US" sz="13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4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09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· LA PRIMERA VUELTA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509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regla pequeña, un ejemplo observable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664208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4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proyecto de reserva incorpora una conducta que todavía no existe. No se diseña toda la política de capacidad: se elige el ejemplo que inicia la vuelta.</a:t>
            </a:r>
            <a:endParaRPr lang="en-US" sz="1420" dirty="0"/>
          </a:p>
        </p:txBody>
      </p:sp>
      <p:sp>
        <p:nvSpPr>
          <p:cNvPr id="11" name="Shape 8"/>
          <p:cNvSpPr/>
          <p:nvPr/>
        </p:nvSpPr>
        <p:spPr>
          <a:xfrm>
            <a:off x="658368" y="2377440"/>
            <a:ext cx="6675120" cy="199339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50976" y="263347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spc="13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REQUISITO</a:t>
            </a:r>
            <a:endParaRPr lang="en-US" sz="960" dirty="0"/>
          </a:p>
        </p:txBody>
      </p:sp>
      <p:sp>
        <p:nvSpPr>
          <p:cNvPr id="13" name="Text 10"/>
          <p:cNvSpPr txBox="1"/>
          <p:nvPr/>
        </p:nvSpPr>
        <p:spPr>
          <a:xfrm>
            <a:off x="950976" y="2999232"/>
            <a:ext cx="60899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reserva debe rechazarse cuando la cantidad de personas supera la capacidad de la sala.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7626096" y="2377440"/>
            <a:ext cx="3904488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918704" y="263347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spc="130" kern="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PRIMER EJEMPLO</a:t>
            </a:r>
            <a:endParaRPr lang="en-US" sz="960" dirty="0"/>
          </a:p>
        </p:txBody>
      </p:sp>
      <p:sp>
        <p:nvSpPr>
          <p:cNvPr id="16" name="Text 13"/>
          <p:cNvSpPr txBox="1"/>
          <p:nvPr/>
        </p:nvSpPr>
        <p:spPr>
          <a:xfrm>
            <a:off x="7918704" y="2962656"/>
            <a:ext cx="73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B318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31</a:t>
            </a:r>
            <a:endParaRPr lang="en-US" sz="4200" dirty="0"/>
          </a:p>
        </p:txBody>
      </p:sp>
      <p:sp>
        <p:nvSpPr>
          <p:cNvPr id="17" name="Text 14"/>
          <p:cNvSpPr txBox="1"/>
          <p:nvPr/>
        </p:nvSpPr>
        <p:spPr>
          <a:xfrm>
            <a:off x="8668512" y="3200400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personas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9546336" y="3035808"/>
            <a:ext cx="329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A6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&gt;</a:t>
            </a:r>
            <a:endParaRPr lang="en-US" sz="2800" dirty="0"/>
          </a:p>
        </p:txBody>
      </p:sp>
      <p:sp>
        <p:nvSpPr>
          <p:cNvPr id="19" name="Text 16"/>
          <p:cNvSpPr txBox="1"/>
          <p:nvPr/>
        </p:nvSpPr>
        <p:spPr>
          <a:xfrm>
            <a:off x="10003536" y="2962656"/>
            <a:ext cx="73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30</a:t>
            </a:r>
            <a:endParaRPr lang="en-US" sz="4200" dirty="0"/>
          </a:p>
        </p:txBody>
      </p:sp>
      <p:sp>
        <p:nvSpPr>
          <p:cNvPr id="20" name="Text 17"/>
          <p:cNvSpPr txBox="1"/>
          <p:nvPr/>
        </p:nvSpPr>
        <p:spPr>
          <a:xfrm>
            <a:off x="10753344" y="3200400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cupos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7918704" y="3730752"/>
            <a:ext cx="3310128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22" name="Text 19"/>
          <p:cNvSpPr txBox="1"/>
          <p:nvPr/>
        </p:nvSpPr>
        <p:spPr>
          <a:xfrm>
            <a:off x="7918704" y="3877056"/>
            <a:ext cx="3310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318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resultado esperado: False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4736592"/>
            <a:ext cx="3419856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58368" y="4736592"/>
            <a:ext cx="54864" cy="859536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96112" y="4864608"/>
            <a:ext cx="2962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20" b="1" spc="110" kern="0" dirty="0">
                <a:solidFill>
                  <a:srgbClr val="2E7D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OBSERVABLE</a:t>
            </a:r>
            <a:endParaRPr lang="en-US" sz="920" dirty="0"/>
          </a:p>
        </p:txBody>
      </p:sp>
      <p:sp>
        <p:nvSpPr>
          <p:cNvPr id="26" name="Text 23"/>
          <p:cNvSpPr txBox="1"/>
          <p:nvPr/>
        </p:nvSpPr>
        <p:spPr>
          <a:xfrm>
            <a:off x="896112" y="5120640"/>
            <a:ext cx="2962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2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Alguien puede ver el resultado sin conocer la implementación.</a:t>
            </a:r>
            <a:endParaRPr lang="en-US" sz="1210" dirty="0"/>
          </a:p>
        </p:txBody>
      </p:sp>
      <p:sp>
        <p:nvSpPr>
          <p:cNvPr id="27" name="Shape 24"/>
          <p:cNvSpPr/>
          <p:nvPr/>
        </p:nvSpPr>
        <p:spPr>
          <a:xfrm>
            <a:off x="4425696" y="4736592"/>
            <a:ext cx="3419856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425696" y="4736592"/>
            <a:ext cx="54864" cy="859536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663440" y="4864608"/>
            <a:ext cx="2962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20" b="1" spc="110" kern="0" dirty="0">
                <a:solidFill>
                  <a:srgbClr val="8A6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PEQUEÑO</a:t>
            </a:r>
            <a:endParaRPr lang="en-US" sz="920" dirty="0"/>
          </a:p>
        </p:txBody>
      </p:sp>
      <p:sp>
        <p:nvSpPr>
          <p:cNvPr id="30" name="Text 27"/>
          <p:cNvSpPr txBox="1"/>
          <p:nvPr/>
        </p:nvSpPr>
        <p:spPr>
          <a:xfrm>
            <a:off x="4663440" y="5120640"/>
            <a:ext cx="2962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2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Exige una sola respuesta concreta; no toda la política futura.</a:t>
            </a:r>
            <a:endParaRPr lang="en-US" sz="1210" dirty="0"/>
          </a:p>
        </p:txBody>
      </p:sp>
      <p:sp>
        <p:nvSpPr>
          <p:cNvPr id="31" name="Shape 28"/>
          <p:cNvSpPr/>
          <p:nvPr/>
        </p:nvSpPr>
        <p:spPr>
          <a:xfrm>
            <a:off x="8193024" y="4736592"/>
            <a:ext cx="333756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8193024" y="4736592"/>
            <a:ext cx="54864" cy="859536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8430768" y="4864608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20" b="1" spc="110" kern="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PENDIENTE</a:t>
            </a:r>
            <a:endParaRPr lang="en-US" sz="920" dirty="0"/>
          </a:p>
        </p:txBody>
      </p:sp>
      <p:sp>
        <p:nvSpPr>
          <p:cNvPr id="34" name="Text 31"/>
          <p:cNvSpPr txBox="1"/>
          <p:nvPr/>
        </p:nvSpPr>
        <p:spPr>
          <a:xfrm>
            <a:off x="8430768" y="512064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2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sistema todavía no produce esa respuesta.</a:t>
            </a:r>
            <a:endParaRPr lang="en-US" sz="1210" dirty="0"/>
          </a:p>
        </p:txBody>
      </p:sp>
      <p:sp>
        <p:nvSpPr>
          <p:cNvPr id="35" name="Shape 32"/>
          <p:cNvSpPr/>
          <p:nvPr/>
        </p:nvSpPr>
        <p:spPr>
          <a:xfrm>
            <a:off x="658368" y="5779008"/>
            <a:ext cx="10874959" cy="43891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950976" y="5815584"/>
            <a:ext cx="1028974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prueba que sigue convertirá este ejemplo en una interfaz ejecutable.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4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· LA PRUEBA PRIMERO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509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prueba decide cómo se usará la función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664208"/>
            <a:ext cx="10332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4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Todavía no existe capacidad.py. Aun así, la prueba ya fija el nombre de la operación, sus entradas y el resultado que debe poder observarse.</a:t>
            </a:r>
            <a:endParaRPr lang="en-US" sz="1420" dirty="0"/>
          </a:p>
        </p:txBody>
      </p:sp>
      <p:sp>
        <p:nvSpPr>
          <p:cNvPr id="11" name="Shape 8"/>
          <p:cNvSpPr/>
          <p:nvPr/>
        </p:nvSpPr>
        <p:spPr>
          <a:xfrm>
            <a:off x="658368" y="2359152"/>
            <a:ext cx="6858000" cy="2304288"/>
          </a:xfrm>
          <a:prstGeom prst="roundRect">
            <a:avLst>
              <a:gd name="adj" fmla="val 158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86384" y="2468880"/>
            <a:ext cx="6601968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96112" y="2542032"/>
            <a:ext cx="63825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tests/test_capacidad.py</a:t>
            </a:r>
            <a:endParaRPr lang="en-US" sz="10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7824" y="2926080"/>
            <a:ext cx="6437376" cy="155448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7735824" y="2359152"/>
            <a:ext cx="379476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735824" y="2359152"/>
            <a:ext cx="54864" cy="69494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7973568" y="2450592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spc="90" kern="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NOMBRE</a:t>
            </a:r>
            <a:endParaRPr lang="en-US" sz="840" dirty="0"/>
          </a:p>
        </p:txBody>
      </p:sp>
      <p:sp>
        <p:nvSpPr>
          <p:cNvPr id="18" name="Text 14"/>
          <p:cNvSpPr txBox="1"/>
          <p:nvPr/>
        </p:nvSpPr>
        <p:spPr>
          <a:xfrm>
            <a:off x="8851392" y="243230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cabe_en_sala</a:t>
            </a:r>
            <a:endParaRPr lang="en-US" sz="1120" dirty="0"/>
          </a:p>
        </p:txBody>
      </p:sp>
      <p:sp>
        <p:nvSpPr>
          <p:cNvPr id="19" name="Text 15"/>
          <p:cNvSpPr txBox="1"/>
          <p:nvPr/>
        </p:nvSpPr>
        <p:spPr>
          <a:xfrm>
            <a:off x="7973568" y="268833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operación se expresa como una pregunta que devuelve sí o no.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7735824" y="3163824"/>
            <a:ext cx="379476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7735824" y="3163824"/>
            <a:ext cx="54864" cy="694944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7973568" y="3255264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spc="90" kern="0" dirty="0">
                <a:solidFill>
                  <a:srgbClr val="8A6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ENTRADAS</a:t>
            </a:r>
            <a:endParaRPr lang="en-US" sz="840" dirty="0"/>
          </a:p>
        </p:txBody>
      </p:sp>
      <p:sp>
        <p:nvSpPr>
          <p:cNvPr id="23" name="Text 19"/>
          <p:cNvSpPr txBox="1"/>
          <p:nvPr/>
        </p:nvSpPr>
        <p:spPr>
          <a:xfrm>
            <a:off x="8851392" y="323697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personas · capacidad</a:t>
            </a:r>
            <a:endParaRPr lang="en-US" sz="1120" dirty="0"/>
          </a:p>
        </p:txBody>
      </p:sp>
      <p:sp>
        <p:nvSpPr>
          <p:cNvPr id="24" name="Text 20"/>
          <p:cNvSpPr txBox="1"/>
          <p:nvPr/>
        </p:nvSpPr>
        <p:spPr>
          <a:xfrm>
            <a:off x="7973568" y="34930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argumentos nombrados explican qué representa cada número.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7735824" y="3968496"/>
            <a:ext cx="379476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7735824" y="3968496"/>
            <a:ext cx="54864" cy="694944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7973568" y="4059936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spc="90" kern="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SALIDA</a:t>
            </a:r>
            <a:endParaRPr lang="en-US" sz="840" dirty="0"/>
          </a:p>
        </p:txBody>
      </p:sp>
      <p:sp>
        <p:nvSpPr>
          <p:cNvPr id="28" name="Text 24"/>
          <p:cNvSpPr txBox="1"/>
          <p:nvPr/>
        </p:nvSpPr>
        <p:spPr>
          <a:xfrm>
            <a:off x="8851392" y="404164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bool: False</a:t>
            </a:r>
            <a:endParaRPr lang="en-US" sz="1120" dirty="0"/>
          </a:p>
        </p:txBody>
      </p:sp>
      <p:sp>
        <p:nvSpPr>
          <p:cNvPr id="29" name="Text 25"/>
          <p:cNvSpPr txBox="1"/>
          <p:nvPr/>
        </p:nvSpPr>
        <p:spPr>
          <a:xfrm>
            <a:off x="7973568" y="42976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booleano admite dos valores: True o False. Aquí, False expresa el rechazo.</a:t>
            </a:r>
            <a:endParaRPr lang="en-US" sz="1050" dirty="0"/>
          </a:p>
        </p:txBody>
      </p:sp>
      <p:sp>
        <p:nvSpPr>
          <p:cNvPr id="30" name="Shape 26"/>
          <p:cNvSpPr/>
          <p:nvPr/>
        </p:nvSpPr>
        <p:spPr>
          <a:xfrm>
            <a:off x="658368" y="5010912"/>
            <a:ext cx="10874959" cy="53035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950976" y="5047488"/>
            <a:ext cx="102897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implementación aún no existe, pero su interfaz pública —nombre, entradas y salida observable— ya tiene una primera forma.</a:t>
            </a:r>
            <a:endParaRPr lang="en-US" sz="1380" dirty="0"/>
          </a:p>
        </p:txBody>
      </p:sp>
      <p:sp>
        <p:nvSpPr>
          <p:cNvPr id="32" name="Shape 28"/>
          <p:cNvSpPr/>
          <p:nvPr/>
        </p:nvSpPr>
        <p:spPr>
          <a:xfrm>
            <a:off x="658368" y="5760720"/>
            <a:ext cx="45720" cy="182880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804672" y="5751576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i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pytest · Anatomy of a test · una aserción compara el resultado observado con la expectativa</a:t>
            </a:r>
            <a:endParaRPr lang="en-US" sz="8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4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· PRIMERA EJECUCIÓN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5097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Primer rojo: pytest no pudo ejecutar la prueba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55648"/>
            <a:ext cx="10424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4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prueba se lanza desde la raíz del proyecto. Como capacidad.py no existe, pytest se detiene antes de entrar al cuerpo de la función de prueba.</a:t>
            </a:r>
            <a:endParaRPr lang="en-US" sz="1420" dirty="0"/>
          </a:p>
        </p:txBody>
      </p:sp>
      <p:sp>
        <p:nvSpPr>
          <p:cNvPr id="11" name="Shape 8"/>
          <p:cNvSpPr/>
          <p:nvPr/>
        </p:nvSpPr>
        <p:spPr>
          <a:xfrm>
            <a:off x="658368" y="2359152"/>
            <a:ext cx="6876288" cy="2212848"/>
          </a:xfrm>
          <a:prstGeom prst="roundRect">
            <a:avLst>
              <a:gd name="adj" fmla="val 1653"/>
            </a:avLst>
          </a:prstGeom>
          <a:solidFill>
            <a:srgbClr val="0F1720"/>
          </a:solidFill>
          <a:ln w="12700">
            <a:solidFill>
              <a:srgbClr val="0F172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86384" y="2468880"/>
            <a:ext cx="6620256" cy="310896"/>
          </a:xfrm>
          <a:prstGeom prst="roundRect">
            <a:avLst>
              <a:gd name="adj" fmla="val 8824"/>
            </a:avLst>
          </a:prstGeom>
          <a:solidFill>
            <a:srgbClr val="1E2937"/>
          </a:solidFill>
          <a:ln w="12700">
            <a:solidFill>
              <a:srgbClr val="1E293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14400" y="2542032"/>
            <a:ext cx="63642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Primera ejecución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877824" y="2926080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20" dirty="0"/>
          </a:p>
        </p:txBody>
      </p:sp>
      <p:sp>
        <p:nvSpPr>
          <p:cNvPr id="15" name="Text 12"/>
          <p:cNvSpPr/>
          <p:nvPr/>
        </p:nvSpPr>
        <p:spPr>
          <a:xfrm>
            <a:off x="1188720" y="2926080"/>
            <a:ext cx="6126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--with pytest python -m pytest -q</a:t>
            </a:r>
            <a:endParaRPr lang="en-US" sz="1020" dirty="0"/>
          </a:p>
        </p:txBody>
      </p:sp>
      <p:sp>
        <p:nvSpPr>
          <p:cNvPr id="16" name="Text 13"/>
          <p:cNvSpPr/>
          <p:nvPr/>
        </p:nvSpPr>
        <p:spPr>
          <a:xfrm>
            <a:off x="877824" y="3182112"/>
            <a:ext cx="6126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 collecting tests/test_capacidad.py</a:t>
            </a:r>
            <a:endParaRPr lang="en-US" sz="1020" dirty="0"/>
          </a:p>
        </p:txBody>
      </p:sp>
      <p:sp>
        <p:nvSpPr>
          <p:cNvPr id="17" name="Text 14"/>
          <p:cNvSpPr/>
          <p:nvPr/>
        </p:nvSpPr>
        <p:spPr>
          <a:xfrm>
            <a:off x="877824" y="3438144"/>
            <a:ext cx="6126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   ModuleNotFoundError: No module named 'capacidad'</a:t>
            </a:r>
            <a:endParaRPr lang="en-US" sz="1020" dirty="0"/>
          </a:p>
        </p:txBody>
      </p:sp>
      <p:sp>
        <p:nvSpPr>
          <p:cNvPr id="18" name="Text 15"/>
          <p:cNvSpPr/>
          <p:nvPr/>
        </p:nvSpPr>
        <p:spPr>
          <a:xfrm>
            <a:off x="877824" y="3694176"/>
            <a:ext cx="6126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8AA0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Interrupted: 1 error during collection</a:t>
            </a:r>
            <a:endParaRPr lang="en-US" sz="1020" dirty="0"/>
          </a:p>
        </p:txBody>
      </p:sp>
      <p:sp>
        <p:nvSpPr>
          <p:cNvPr id="19" name="Shape 16"/>
          <p:cNvSpPr/>
          <p:nvPr/>
        </p:nvSpPr>
        <p:spPr>
          <a:xfrm>
            <a:off x="7772400" y="2359152"/>
            <a:ext cx="3758184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772400" y="2359152"/>
            <a:ext cx="54864" cy="10607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010144" y="2487168"/>
            <a:ext cx="3300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20" b="1" spc="110" kern="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RECOLECCIÓN</a:t>
            </a:r>
            <a:endParaRPr lang="en-US" sz="920" dirty="0"/>
          </a:p>
        </p:txBody>
      </p:sp>
      <p:sp>
        <p:nvSpPr>
          <p:cNvPr id="22" name="Text 19"/>
          <p:cNvSpPr txBox="1"/>
          <p:nvPr/>
        </p:nvSpPr>
        <p:spPr>
          <a:xfrm>
            <a:off x="8010144" y="2743200"/>
            <a:ext cx="3300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2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Fase en que pytest descubre e importa los archivos de prueba antes de ejecutar sus funciones.</a:t>
            </a:r>
            <a:endParaRPr lang="en-US" sz="1210" dirty="0"/>
          </a:p>
        </p:txBody>
      </p:sp>
      <p:sp>
        <p:nvSpPr>
          <p:cNvPr id="23" name="Shape 20"/>
          <p:cNvSpPr/>
          <p:nvPr/>
        </p:nvSpPr>
        <p:spPr>
          <a:xfrm>
            <a:off x="7772400" y="3584448"/>
            <a:ext cx="3758184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772400" y="3584448"/>
            <a:ext cx="54864" cy="987552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010144" y="3712464"/>
            <a:ext cx="3300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20" b="1" spc="110" kern="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DEMUESTRA</a:t>
            </a:r>
            <a:endParaRPr lang="en-US" sz="920" dirty="0"/>
          </a:p>
        </p:txBody>
      </p:sp>
      <p:sp>
        <p:nvSpPr>
          <p:cNvPr id="26" name="Text 23"/>
          <p:cNvSpPr txBox="1"/>
          <p:nvPr/>
        </p:nvSpPr>
        <p:spPr>
          <a:xfrm>
            <a:off x="8010144" y="3968496"/>
            <a:ext cx="33009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2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Falta el archivo o módulo que se intenta importar. No demuestra que el assert distinga True de False.</a:t>
            </a:r>
            <a:endParaRPr lang="en-US" sz="1210" dirty="0"/>
          </a:p>
        </p:txBody>
      </p:sp>
      <p:sp>
        <p:nvSpPr>
          <p:cNvPr id="27" name="Shape 24"/>
          <p:cNvSpPr/>
          <p:nvPr/>
        </p:nvSpPr>
        <p:spPr>
          <a:xfrm>
            <a:off x="658368" y="4882896"/>
            <a:ext cx="10874959" cy="676656"/>
          </a:xfrm>
          <a:prstGeom prst="rect">
            <a:avLst/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50976" y="50292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línea assert no llegó a ejecutarse</a:t>
            </a:r>
            <a:endParaRPr lang="en-US" sz="1320" dirty="0"/>
          </a:p>
        </p:txBody>
      </p:sp>
      <p:sp>
        <p:nvSpPr>
          <p:cNvPr id="29" name="Text 26"/>
          <p:cNvSpPr txBox="1"/>
          <p:nvPr/>
        </p:nvSpPr>
        <p:spPr>
          <a:xfrm>
            <a:off x="4242816" y="5029200"/>
            <a:ext cx="6903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color es rojo, pero la causa está en una precondición para arrancar: el archivo importado no existe.</a:t>
            </a:r>
            <a:endParaRPr lang="en-US" sz="1220" dirty="0"/>
          </a:p>
        </p:txBody>
      </p:sp>
      <p:sp>
        <p:nvSpPr>
          <p:cNvPr id="30" name="Shape 27"/>
          <p:cNvSpPr/>
          <p:nvPr/>
        </p:nvSpPr>
        <p:spPr>
          <a:xfrm>
            <a:off x="658368" y="5833872"/>
            <a:ext cx="45720" cy="182880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04672" y="5824728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i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pytest · import mechanisms and sys.path/PYTHONPATH · importación durante la recolección</a:t>
            </a:r>
            <a:endParaRPr lang="en-US" sz="8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4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· QUITAR EL OBSTÁCULO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509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Hacer ejecutable la prueba no es implementar la regla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664208"/>
            <a:ext cx="10378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4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crea solo la firma exigida por la prueba. La respuesta True es deliberadamente insuficiente: acepta todas las reservas y debe fallar para 31 personas en una sala de 30.</a:t>
            </a:r>
            <a:endParaRPr lang="en-US" sz="1420" dirty="0"/>
          </a:p>
        </p:txBody>
      </p:sp>
      <p:sp>
        <p:nvSpPr>
          <p:cNvPr id="11" name="Shape 8"/>
          <p:cNvSpPr/>
          <p:nvPr/>
        </p:nvSpPr>
        <p:spPr>
          <a:xfrm>
            <a:off x="658368" y="2414016"/>
            <a:ext cx="6327648" cy="1517904"/>
          </a:xfrm>
          <a:prstGeom prst="roundRect">
            <a:avLst>
              <a:gd name="adj" fmla="val 241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86384" y="2523744"/>
            <a:ext cx="6071616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96112" y="2596896"/>
            <a:ext cx="5852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capacidad.py · implementación provisional completa</a:t>
            </a:r>
            <a:endParaRPr lang="en-US" sz="10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7824" y="2980944"/>
            <a:ext cx="5907024" cy="768096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7315200" y="2414016"/>
            <a:ext cx="4215384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315200" y="2414016"/>
            <a:ext cx="54864" cy="15179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7552944" y="2542032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20" b="1" spc="110" kern="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FIRMA</a:t>
            </a:r>
            <a:endParaRPr lang="en-US" sz="920" dirty="0"/>
          </a:p>
        </p:txBody>
      </p:sp>
      <p:sp>
        <p:nvSpPr>
          <p:cNvPr id="18" name="Text 14"/>
          <p:cNvSpPr txBox="1"/>
          <p:nvPr/>
        </p:nvSpPr>
        <p:spPr>
          <a:xfrm>
            <a:off x="7552944" y="2798064"/>
            <a:ext cx="375818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2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Nombre de la función, nombres y tipos de sus parámetros y tipo de retorno. Permite importarla y llamarla; todavía no resuelve la regla.</a:t>
            </a:r>
            <a:endParaRPr lang="en-US" sz="1210" dirty="0"/>
          </a:p>
        </p:txBody>
      </p:sp>
      <p:sp>
        <p:nvSpPr>
          <p:cNvPr id="19" name="Shape 15"/>
          <p:cNvSpPr/>
          <p:nvPr/>
        </p:nvSpPr>
        <p:spPr>
          <a:xfrm>
            <a:off x="658368" y="4297680"/>
            <a:ext cx="3401568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58368" y="4297680"/>
            <a:ext cx="54864" cy="841248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877824" y="4425696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0" b="1" spc="90" kern="0" dirty="0">
                <a:solidFill>
                  <a:srgbClr val="2E7D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SÍ CAMBIA</a:t>
            </a:r>
            <a:endParaRPr lang="en-US" sz="860" dirty="0"/>
          </a:p>
        </p:txBody>
      </p:sp>
      <p:sp>
        <p:nvSpPr>
          <p:cNvPr id="22" name="Text 18"/>
          <p:cNvSpPr txBox="1"/>
          <p:nvPr/>
        </p:nvSpPr>
        <p:spPr>
          <a:xfrm>
            <a:off x="877824" y="464515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Existe capacidad.py y puede importarse cabe_en_sala().</a:t>
            </a:r>
            <a:endParaRPr lang="en-US" sz="1110" dirty="0"/>
          </a:p>
        </p:txBody>
      </p:sp>
      <p:sp>
        <p:nvSpPr>
          <p:cNvPr id="23" name="Shape 19"/>
          <p:cNvSpPr/>
          <p:nvPr/>
        </p:nvSpPr>
        <p:spPr>
          <a:xfrm>
            <a:off x="4425696" y="4297680"/>
            <a:ext cx="3401568" cy="841248"/>
          </a:xfrm>
          <a:prstGeom prst="rect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4425696" y="4297680"/>
            <a:ext cx="54864" cy="841248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4645152" y="4425696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0" b="1" spc="90" kern="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CAMBIA</a:t>
            </a:r>
            <a:endParaRPr lang="en-US" sz="860" dirty="0"/>
          </a:p>
        </p:txBody>
      </p:sp>
      <p:sp>
        <p:nvSpPr>
          <p:cNvPr id="26" name="Text 22"/>
          <p:cNvSpPr txBox="1"/>
          <p:nvPr/>
        </p:nvSpPr>
        <p:spPr>
          <a:xfrm>
            <a:off x="4645152" y="464515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función sigue aceptando el caso que debería rechazar.</a:t>
            </a:r>
            <a:endParaRPr lang="en-US" sz="1110" dirty="0"/>
          </a:p>
        </p:txBody>
      </p:sp>
      <p:sp>
        <p:nvSpPr>
          <p:cNvPr id="27" name="Shape 23"/>
          <p:cNvSpPr/>
          <p:nvPr/>
        </p:nvSpPr>
        <p:spPr>
          <a:xfrm>
            <a:off x="8193024" y="4297680"/>
            <a:ext cx="3401568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8193024" y="4297680"/>
            <a:ext cx="54864" cy="841248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8412480" y="4425696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0" b="1" spc="90" kern="0" dirty="0">
                <a:solidFill>
                  <a:srgbClr val="8A6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PROPÓSITO</a:t>
            </a:r>
            <a:endParaRPr lang="en-US" sz="860" dirty="0"/>
          </a:p>
        </p:txBody>
      </p:sp>
      <p:sp>
        <p:nvSpPr>
          <p:cNvPr id="30" name="Text 26"/>
          <p:cNvSpPr txBox="1"/>
          <p:nvPr/>
        </p:nvSpPr>
        <p:spPr>
          <a:xfrm>
            <a:off x="8412480" y="464515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Permitir que pytest alcance y ejecute la aserción.</a:t>
            </a:r>
            <a:endParaRPr lang="en-US" sz="1110" dirty="0"/>
          </a:p>
        </p:txBody>
      </p:sp>
      <p:sp>
        <p:nvSpPr>
          <p:cNvPr id="31" name="Shape 27"/>
          <p:cNvSpPr/>
          <p:nvPr/>
        </p:nvSpPr>
        <p:spPr>
          <a:xfrm>
            <a:off x="658368" y="5468112"/>
            <a:ext cx="10874959" cy="53035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950976" y="5504688"/>
            <a:ext cx="102897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Corregir el import solo permite observar el comportamiento; todavía no autoriza la solución definitiva.</a:t>
            </a:r>
            <a:endParaRPr lang="en-US" sz="13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4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13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· SEGUNDA EJECUCIÓN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509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Ahora sí: la aserción observó y comparó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66420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4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archivo existe, la función se importa y la prueba se ejecuta. El fallo ya no habla de infraestructura: muestra una diferencia entre el valor obtenido y el esperado.</a:t>
            </a:r>
            <a:endParaRPr lang="en-US" sz="1420" dirty="0"/>
          </a:p>
        </p:txBody>
      </p:sp>
      <p:sp>
        <p:nvSpPr>
          <p:cNvPr id="11" name="Shape 8"/>
          <p:cNvSpPr/>
          <p:nvPr/>
        </p:nvSpPr>
        <p:spPr>
          <a:xfrm>
            <a:off x="658368" y="2359152"/>
            <a:ext cx="6967728" cy="2487168"/>
          </a:xfrm>
          <a:prstGeom prst="roundRect">
            <a:avLst>
              <a:gd name="adj" fmla="val 1471"/>
            </a:avLst>
          </a:prstGeom>
          <a:solidFill>
            <a:srgbClr val="0F1720"/>
          </a:solidFill>
          <a:ln w="12700">
            <a:solidFill>
              <a:srgbClr val="0F172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86384" y="2468880"/>
            <a:ext cx="6711696" cy="310896"/>
          </a:xfrm>
          <a:prstGeom prst="roundRect">
            <a:avLst>
              <a:gd name="adj" fmla="val 8824"/>
            </a:avLst>
          </a:prstGeom>
          <a:solidFill>
            <a:srgbClr val="1E2937"/>
          </a:solidFill>
          <a:ln w="12700">
            <a:solidFill>
              <a:srgbClr val="1E293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14400" y="2542032"/>
            <a:ext cx="64556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Segunda ejecución · salida relevante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877824" y="2926080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970" dirty="0"/>
          </a:p>
        </p:txBody>
      </p:sp>
      <p:sp>
        <p:nvSpPr>
          <p:cNvPr id="15" name="Text 12"/>
          <p:cNvSpPr/>
          <p:nvPr/>
        </p:nvSpPr>
        <p:spPr>
          <a:xfrm>
            <a:off x="1188720" y="2926080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--with pytest python -m pytest -q</a:t>
            </a:r>
            <a:endParaRPr lang="en-US" sz="970" dirty="0"/>
          </a:p>
        </p:txBody>
      </p:sp>
      <p:sp>
        <p:nvSpPr>
          <p:cNvPr id="16" name="Text 13"/>
          <p:cNvSpPr/>
          <p:nvPr/>
        </p:nvSpPr>
        <p:spPr>
          <a:xfrm>
            <a:off x="877824" y="3182112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                                                   [100%]</a:t>
            </a:r>
            <a:endParaRPr lang="en-US" sz="970" dirty="0"/>
          </a:p>
        </p:txBody>
      </p:sp>
      <p:sp>
        <p:nvSpPr>
          <p:cNvPr id="17" name="Text 14"/>
          <p:cNvSpPr/>
          <p:nvPr/>
        </p:nvSpPr>
        <p:spPr>
          <a:xfrm>
            <a:off x="877824" y="3438144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  assert cabe_en_sala(personas=31, capacidad=30) is False</a:t>
            </a:r>
            <a:endParaRPr lang="en-US" sz="970" dirty="0"/>
          </a:p>
        </p:txBody>
      </p:sp>
      <p:sp>
        <p:nvSpPr>
          <p:cNvPr id="18" name="Text 15"/>
          <p:cNvSpPr/>
          <p:nvPr/>
        </p:nvSpPr>
        <p:spPr>
          <a:xfrm>
            <a:off x="877824" y="3694176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   assert True is False</a:t>
            </a:r>
            <a:endParaRPr lang="en-US" sz="970" dirty="0"/>
          </a:p>
        </p:txBody>
      </p:sp>
      <p:sp>
        <p:nvSpPr>
          <p:cNvPr id="19" name="Text 16"/>
          <p:cNvSpPr/>
          <p:nvPr/>
        </p:nvSpPr>
        <p:spPr>
          <a:xfrm>
            <a:off x="877824" y="395020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FAILED tests/test_capacidad.py::test_rechaza_reserva_que_supera_el_cupo</a:t>
            </a:r>
            <a:endParaRPr lang="en-US" sz="970" dirty="0"/>
          </a:p>
        </p:txBody>
      </p:sp>
      <p:sp>
        <p:nvSpPr>
          <p:cNvPr id="20" name="Text 17"/>
          <p:cNvSpPr/>
          <p:nvPr/>
        </p:nvSpPr>
        <p:spPr>
          <a:xfrm>
            <a:off x="877824" y="4206240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8AA0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failed</a:t>
            </a:r>
            <a:endParaRPr lang="en-US" sz="970" dirty="0"/>
          </a:p>
        </p:txBody>
      </p:sp>
      <p:sp>
        <p:nvSpPr>
          <p:cNvPr id="21" name="Shape 18"/>
          <p:cNvSpPr/>
          <p:nvPr/>
        </p:nvSpPr>
        <p:spPr>
          <a:xfrm>
            <a:off x="7882128" y="2359152"/>
            <a:ext cx="3648456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882128" y="2359152"/>
            <a:ext cx="54864" cy="69494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138160" y="2487168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8979408" y="246888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prueba fue recogida y ejecutada.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7882128" y="3182112"/>
            <a:ext cx="3648456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882128" y="3182112"/>
            <a:ext cx="54864" cy="694944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138160" y="3310128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318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8979408" y="329184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Valor observado: la función aceptó la reserva.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7882128" y="4005072"/>
            <a:ext cx="3648456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882128" y="4005072"/>
            <a:ext cx="54864" cy="694944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138160" y="4133088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7D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8979408" y="411480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Valor esperado: el requisito exige rechazarla.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58368" y="5175504"/>
            <a:ext cx="10874959" cy="54864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950976" y="5212080"/>
            <a:ext cx="1028974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Rojo por comportamiento: la prueba ejecutó su assert y distinguió la respuesta actual de la requerida.</a:t>
            </a:r>
            <a:endParaRPr lang="en-US" sz="1320" dirty="0"/>
          </a:p>
        </p:txBody>
      </p:sp>
      <p:sp>
        <p:nvSpPr>
          <p:cNvPr id="35" name="Shape 32"/>
          <p:cNvSpPr/>
          <p:nvPr/>
        </p:nvSpPr>
        <p:spPr>
          <a:xfrm>
            <a:off x="658368" y="5916168"/>
            <a:ext cx="45720" cy="182880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04672" y="5907024"/>
            <a:ext cx="9509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i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pytest · How to write and report assertions in tests · valores observados y esperados</a:t>
            </a:r>
            <a:endParaRPr lang="en-US" sz="8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4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14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· CRITERIO DE SALIDA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509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basta con recordar que la terminal estuvo roja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664208"/>
            <a:ext cx="10332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4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 de avanzar al verde, hay que explicar qué falló y demostrar que la prueba llegó al comportamiento que declara observar.</a:t>
            </a:r>
            <a:endParaRPr lang="en-US" sz="1420" dirty="0"/>
          </a:p>
        </p:txBody>
      </p:sp>
      <p:sp>
        <p:nvSpPr>
          <p:cNvPr id="11" name="Shape 8"/>
          <p:cNvSpPr/>
          <p:nvPr/>
        </p:nvSpPr>
        <p:spPr>
          <a:xfrm>
            <a:off x="658368" y="2322576"/>
            <a:ext cx="687628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8368" y="2322576"/>
            <a:ext cx="54864" cy="65836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77824" y="2432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1463040" y="241401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prueba se ejecutó</a:t>
            </a:r>
            <a:endParaRPr lang="en-US" sz="1240" dirty="0"/>
          </a:p>
        </p:txBody>
      </p:sp>
      <p:sp>
        <p:nvSpPr>
          <p:cNvPr id="15" name="Text 12"/>
          <p:cNvSpPr txBox="1"/>
          <p:nvPr/>
        </p:nvSpPr>
        <p:spPr>
          <a:xfrm>
            <a:off x="3584448" y="2423160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pytest muestra FAILED y el nombre completo de la prueba.</a:t>
            </a:r>
            <a:endParaRPr lang="en-US" sz="1120" dirty="0"/>
          </a:p>
        </p:txBody>
      </p:sp>
      <p:sp>
        <p:nvSpPr>
          <p:cNvPr id="16" name="Shape 13"/>
          <p:cNvSpPr/>
          <p:nvPr/>
        </p:nvSpPr>
        <p:spPr>
          <a:xfrm>
            <a:off x="658368" y="3090672"/>
            <a:ext cx="6876288" cy="658368"/>
          </a:xfrm>
          <a:prstGeom prst="rect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58368" y="3090672"/>
            <a:ext cx="54864" cy="658368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77824" y="3200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318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1463040" y="318211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causa era la prevista</a:t>
            </a:r>
            <a:endParaRPr lang="en-US" sz="1240" dirty="0"/>
          </a:p>
        </p:txBody>
      </p:sp>
      <p:sp>
        <p:nvSpPr>
          <p:cNvPr id="20" name="Text 17"/>
          <p:cNvSpPr txBox="1"/>
          <p:nvPr/>
        </p:nvSpPr>
        <p:spPr>
          <a:xfrm>
            <a:off x="3584448" y="3191256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mensaje compara el valor observado con el esperado.</a:t>
            </a:r>
            <a:endParaRPr lang="en-US" sz="1120" dirty="0"/>
          </a:p>
        </p:txBody>
      </p:sp>
      <p:sp>
        <p:nvSpPr>
          <p:cNvPr id="21" name="Shape 18"/>
          <p:cNvSpPr/>
          <p:nvPr/>
        </p:nvSpPr>
        <p:spPr>
          <a:xfrm>
            <a:off x="658368" y="3858768"/>
            <a:ext cx="687628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58368" y="3858768"/>
            <a:ext cx="54864" cy="658368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77824" y="3968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Text 21"/>
          <p:cNvSpPr txBox="1"/>
          <p:nvPr/>
        </p:nvSpPr>
        <p:spPr>
          <a:xfrm>
            <a:off x="1463040" y="395020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caso se entiende</a:t>
            </a:r>
            <a:endParaRPr lang="en-US" sz="1240" dirty="0"/>
          </a:p>
        </p:txBody>
      </p:sp>
      <p:sp>
        <p:nvSpPr>
          <p:cNvPr id="25" name="Text 22"/>
          <p:cNvSpPr txBox="1"/>
          <p:nvPr/>
        </p:nvSpPr>
        <p:spPr>
          <a:xfrm>
            <a:off x="3584448" y="3959352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nombre de la prueba y sus datos se relacionan con el requisito.</a:t>
            </a:r>
            <a:endParaRPr lang="en-US" sz="1120" dirty="0"/>
          </a:p>
        </p:txBody>
      </p:sp>
      <p:sp>
        <p:nvSpPr>
          <p:cNvPr id="26" name="Shape 23"/>
          <p:cNvSpPr/>
          <p:nvPr/>
        </p:nvSpPr>
        <p:spPr>
          <a:xfrm>
            <a:off x="7845552" y="2322576"/>
            <a:ext cx="3685032" cy="1078992"/>
          </a:xfrm>
          <a:prstGeom prst="rect">
            <a:avLst/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101584" y="248716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spc="130" kern="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ROJO POR AUSENCIA</a:t>
            </a:r>
            <a:endParaRPr lang="en-US" sz="960" dirty="0"/>
          </a:p>
        </p:txBody>
      </p:sp>
      <p:sp>
        <p:nvSpPr>
          <p:cNvPr id="28" name="Text 25"/>
          <p:cNvSpPr txBox="1"/>
          <p:nvPr/>
        </p:nvSpPr>
        <p:spPr>
          <a:xfrm>
            <a:off x="8101584" y="2761488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Algo impide ejecutar la prueba: import, símbolo, dependencia, sintaxis o configuración.</a:t>
            </a:r>
            <a:endParaRPr lang="en-US" sz="1120" dirty="0"/>
          </a:p>
        </p:txBody>
      </p:sp>
      <p:sp>
        <p:nvSpPr>
          <p:cNvPr id="29" name="Shape 26"/>
          <p:cNvSpPr/>
          <p:nvPr/>
        </p:nvSpPr>
        <p:spPr>
          <a:xfrm>
            <a:off x="7845552" y="3602736"/>
            <a:ext cx="3685032" cy="1078992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101584" y="376732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spc="130" kern="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ROJO POR COMPORTAMIENTO</a:t>
            </a:r>
            <a:endParaRPr lang="en-US" sz="960" dirty="0"/>
          </a:p>
        </p:txBody>
      </p:sp>
      <p:sp>
        <p:nvSpPr>
          <p:cNvPr id="31" name="Text 28"/>
          <p:cNvSpPr txBox="1"/>
          <p:nvPr/>
        </p:nvSpPr>
        <p:spPr>
          <a:xfrm>
            <a:off x="8101584" y="4041648"/>
            <a:ext cx="31729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prueba se ejecuta y la aserción rechaza el resultado actual.</a:t>
            </a:r>
            <a:endParaRPr lang="en-US" sz="1120" dirty="0"/>
          </a:p>
        </p:txBody>
      </p:sp>
      <p:sp>
        <p:nvSpPr>
          <p:cNvPr id="32" name="Shape 29"/>
          <p:cNvSpPr/>
          <p:nvPr/>
        </p:nvSpPr>
        <p:spPr>
          <a:xfrm>
            <a:off x="658368" y="5084064"/>
            <a:ext cx="10874959" cy="5669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950976" y="5120640"/>
            <a:ext cx="1028974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SyntaxError, ModuleNotFoundError o un nombre mal escrito se corrigen hasta alcanzar un rojo que hable del comportamiento.</a:t>
            </a:r>
            <a:endParaRPr lang="en-US" sz="131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4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· CIERRE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509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Tres preguntas antes de escribir el verde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664208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4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Tres preguntas para comprobar la idea central antes de seguir.</a:t>
            </a:r>
            <a:endParaRPr lang="en-US" sz="1420" dirty="0"/>
          </a:p>
        </p:txBody>
      </p:sp>
      <p:sp>
        <p:nvSpPr>
          <p:cNvPr id="11" name="Shape 8"/>
          <p:cNvSpPr/>
          <p:nvPr/>
        </p:nvSpPr>
        <p:spPr>
          <a:xfrm>
            <a:off x="658368" y="2139696"/>
            <a:ext cx="10874959" cy="1097280"/>
          </a:xfrm>
          <a:prstGeom prst="rect">
            <a:avLst/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8368" y="2139696"/>
            <a:ext cx="54864" cy="1097280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14400" y="2286000"/>
            <a:ext cx="493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318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1591056" y="2267712"/>
            <a:ext cx="96496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3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¿Por qué ModuleNotFoundError no demuestra que el assert sea sensible al comportamiento?</a:t>
            </a:r>
            <a:endParaRPr lang="en-US" sz="1340" dirty="0"/>
          </a:p>
        </p:txBody>
      </p:sp>
      <p:sp>
        <p:nvSpPr>
          <p:cNvPr id="15" name="Shape 12"/>
          <p:cNvSpPr/>
          <p:nvPr/>
        </p:nvSpPr>
        <p:spPr>
          <a:xfrm>
            <a:off x="1591056" y="2798064"/>
            <a:ext cx="9649663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16" name="Text 13"/>
          <p:cNvSpPr txBox="1"/>
          <p:nvPr/>
        </p:nvSpPr>
        <p:spPr>
          <a:xfrm>
            <a:off x="1591056" y="2889504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spc="110" kern="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</a:t>
            </a:r>
            <a:endParaRPr lang="en-US" sz="840" dirty="0"/>
          </a:p>
        </p:txBody>
      </p:sp>
      <p:sp>
        <p:nvSpPr>
          <p:cNvPr id="17" name="Text 14"/>
          <p:cNvSpPr txBox="1"/>
          <p:nvPr/>
        </p:nvSpPr>
        <p:spPr>
          <a:xfrm>
            <a:off x="2286000" y="2862072"/>
            <a:ext cx="89547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40" i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Ubica en qué fase se interrumpió pytest y si el cuerpo de la prueba alcanzó a correr.</a:t>
            </a:r>
            <a:endParaRPr lang="en-US" sz="1140" dirty="0"/>
          </a:p>
        </p:txBody>
      </p:sp>
      <p:sp>
        <p:nvSpPr>
          <p:cNvPr id="18" name="Shape 15"/>
          <p:cNvSpPr/>
          <p:nvPr/>
        </p:nvSpPr>
        <p:spPr>
          <a:xfrm>
            <a:off x="658368" y="3364992"/>
            <a:ext cx="10874959" cy="1097280"/>
          </a:xfrm>
          <a:prstGeom prst="rect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58368" y="3364992"/>
            <a:ext cx="54864" cy="109728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14400" y="3511296"/>
            <a:ext cx="493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2600" dirty="0"/>
          </a:p>
        </p:txBody>
      </p:sp>
      <p:sp>
        <p:nvSpPr>
          <p:cNvPr id="21" name="Text 18"/>
          <p:cNvSpPr txBox="1"/>
          <p:nvPr/>
        </p:nvSpPr>
        <p:spPr>
          <a:xfrm>
            <a:off x="1591056" y="3493008"/>
            <a:ext cx="96496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3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tendría de sospechoso que la primera ejecución de una prueba nueva apareciera verde?</a:t>
            </a:r>
            <a:endParaRPr lang="en-US" sz="1340" dirty="0"/>
          </a:p>
        </p:txBody>
      </p:sp>
      <p:sp>
        <p:nvSpPr>
          <p:cNvPr id="22" name="Shape 19"/>
          <p:cNvSpPr/>
          <p:nvPr/>
        </p:nvSpPr>
        <p:spPr>
          <a:xfrm>
            <a:off x="1591056" y="4023360"/>
            <a:ext cx="9649663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23" name="Text 20"/>
          <p:cNvSpPr txBox="1"/>
          <p:nvPr/>
        </p:nvSpPr>
        <p:spPr>
          <a:xfrm>
            <a:off x="1591056" y="411480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spc="110" kern="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</a:t>
            </a:r>
            <a:endParaRPr lang="en-US" sz="840" dirty="0"/>
          </a:p>
        </p:txBody>
      </p:sp>
      <p:sp>
        <p:nvSpPr>
          <p:cNvPr id="24" name="Text 21"/>
          <p:cNvSpPr txBox="1"/>
          <p:nvPr/>
        </p:nvSpPr>
        <p:spPr>
          <a:xfrm>
            <a:off x="2286000" y="4087368"/>
            <a:ext cx="89547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40" i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comportamiento puede existir ya, o la prueba podría no estar observando lo que declara.</a:t>
            </a:r>
            <a:endParaRPr lang="en-US" sz="1140" dirty="0"/>
          </a:p>
        </p:txBody>
      </p:sp>
      <p:sp>
        <p:nvSpPr>
          <p:cNvPr id="25" name="Shape 22"/>
          <p:cNvSpPr/>
          <p:nvPr/>
        </p:nvSpPr>
        <p:spPr>
          <a:xfrm>
            <a:off x="658368" y="4590288"/>
            <a:ext cx="10874959" cy="1097280"/>
          </a:xfrm>
          <a:prstGeom prst="rect">
            <a:avLst/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58368" y="4590288"/>
            <a:ext cx="54864" cy="1097280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14400" y="4736592"/>
            <a:ext cx="493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A6A1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2600" dirty="0"/>
          </a:p>
        </p:txBody>
      </p:sp>
      <p:sp>
        <p:nvSpPr>
          <p:cNvPr id="28" name="Text 25"/>
          <p:cNvSpPr txBox="1"/>
          <p:nvPr/>
        </p:nvSpPr>
        <p:spPr>
          <a:xfrm>
            <a:off x="1591056" y="4718304"/>
            <a:ext cx="96496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3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parte de la interfaz de cabe_en_sala decidió la prueba antes que la implementación?</a:t>
            </a:r>
            <a:endParaRPr lang="en-US" sz="1340" dirty="0"/>
          </a:p>
        </p:txBody>
      </p:sp>
      <p:sp>
        <p:nvSpPr>
          <p:cNvPr id="29" name="Shape 26"/>
          <p:cNvSpPr/>
          <p:nvPr/>
        </p:nvSpPr>
        <p:spPr>
          <a:xfrm>
            <a:off x="1591056" y="5248656"/>
            <a:ext cx="9649663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30" name="Text 27"/>
          <p:cNvSpPr txBox="1"/>
          <p:nvPr/>
        </p:nvSpPr>
        <p:spPr>
          <a:xfrm>
            <a:off x="1591056" y="5340096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spc="110" kern="0" dirty="0">
                <a:solidFill>
                  <a:srgbClr val="8A6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</a:t>
            </a:r>
            <a:endParaRPr lang="en-US" sz="840" dirty="0"/>
          </a:p>
        </p:txBody>
      </p:sp>
      <p:sp>
        <p:nvSpPr>
          <p:cNvPr id="31" name="Text 28"/>
          <p:cNvSpPr txBox="1"/>
          <p:nvPr/>
        </p:nvSpPr>
        <p:spPr>
          <a:xfrm>
            <a:off x="2286000" y="5312664"/>
            <a:ext cx="89547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40" i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Revisa el nombre, los parámetros nombrados y el tipo de resultado exigido por el assert.</a:t>
            </a:r>
            <a:endParaRPr lang="en-US" sz="114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4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16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· CONTRASTE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509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 que tenía que aparecer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664208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4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respuestas conservan el mismo orden y color que las preguntas.</a:t>
            </a:r>
            <a:endParaRPr lang="en-US" sz="1420" dirty="0"/>
          </a:p>
        </p:txBody>
      </p:sp>
      <p:sp>
        <p:nvSpPr>
          <p:cNvPr id="11" name="Shape 8"/>
          <p:cNvSpPr/>
          <p:nvPr/>
        </p:nvSpPr>
        <p:spPr>
          <a:xfrm>
            <a:off x="658368" y="2139696"/>
            <a:ext cx="10874959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8368" y="2139696"/>
            <a:ext cx="54864" cy="1243584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96112" y="2304288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B318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2700" dirty="0"/>
          </a:p>
        </p:txBody>
      </p:sp>
      <p:sp>
        <p:nvSpPr>
          <p:cNvPr id="14" name="Text 11"/>
          <p:cNvSpPr txBox="1"/>
          <p:nvPr/>
        </p:nvSpPr>
        <p:spPr>
          <a:xfrm>
            <a:off x="1591056" y="2249424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30" b="1" spc="100" kern="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ASSERT NO SE EJECUTÓ</a:t>
            </a:r>
            <a:endParaRPr lang="en-US" sz="830" dirty="0"/>
          </a:p>
        </p:txBody>
      </p:sp>
      <p:sp>
        <p:nvSpPr>
          <p:cNvPr id="15" name="Text 12"/>
          <p:cNvSpPr txBox="1"/>
          <p:nvPr/>
        </p:nvSpPr>
        <p:spPr>
          <a:xfrm>
            <a:off x="1591056" y="2468880"/>
            <a:ext cx="964966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pytest se detuvo durante la recolección al no poder importar capacidad; el cuerpo de la prueba nunca corrió.</a:t>
            </a:r>
            <a:endParaRPr lang="en-US" sz="1240" dirty="0"/>
          </a:p>
        </p:txBody>
      </p:sp>
      <p:sp>
        <p:nvSpPr>
          <p:cNvPr id="16" name="Shape 13"/>
          <p:cNvSpPr/>
          <p:nvPr/>
        </p:nvSpPr>
        <p:spPr>
          <a:xfrm>
            <a:off x="1591056" y="2871216"/>
            <a:ext cx="9649663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17" name="Text 14"/>
          <p:cNvSpPr txBox="1"/>
          <p:nvPr/>
        </p:nvSpPr>
        <p:spPr>
          <a:xfrm>
            <a:off x="1591056" y="2962656"/>
            <a:ext cx="1188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90" kern="0" dirty="0">
                <a:solidFill>
                  <a:srgbClr val="2E7D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REVELA</a:t>
            </a:r>
            <a:endParaRPr lang="en-US" sz="800" dirty="0"/>
          </a:p>
        </p:txBody>
      </p:sp>
      <p:sp>
        <p:nvSpPr>
          <p:cNvPr id="18" name="Text 15"/>
          <p:cNvSpPr txBox="1"/>
          <p:nvPr/>
        </p:nvSpPr>
        <p:spPr>
          <a:xfrm>
            <a:off x="2743200" y="293522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Ese rojo solo prueba que falta infraestructura necesaria.</a:t>
            </a:r>
            <a:endParaRPr lang="en-US" sz="1020" dirty="0"/>
          </a:p>
        </p:txBody>
      </p:sp>
      <p:sp>
        <p:nvSpPr>
          <p:cNvPr id="19" name="Text 16"/>
          <p:cNvSpPr txBox="1"/>
          <p:nvPr/>
        </p:nvSpPr>
        <p:spPr>
          <a:xfrm>
            <a:off x="6784848" y="2962656"/>
            <a:ext cx="1325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90" kern="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 FRECUENTE</a:t>
            </a:r>
            <a:endParaRPr lang="en-US" sz="800" dirty="0"/>
          </a:p>
        </p:txBody>
      </p:sp>
      <p:sp>
        <p:nvSpPr>
          <p:cNvPr id="20" name="Text 17"/>
          <p:cNvSpPr txBox="1"/>
          <p:nvPr/>
        </p:nvSpPr>
        <p:spPr>
          <a:xfrm>
            <a:off x="8138160" y="2935224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20" i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«Todo rojo demuestra que la prueba funciona.»</a:t>
            </a:r>
            <a:endParaRPr lang="en-US" sz="1020" dirty="0"/>
          </a:p>
        </p:txBody>
      </p:sp>
      <p:sp>
        <p:nvSpPr>
          <p:cNvPr id="21" name="Shape 18"/>
          <p:cNvSpPr/>
          <p:nvPr/>
        </p:nvSpPr>
        <p:spPr>
          <a:xfrm>
            <a:off x="658368" y="3493008"/>
            <a:ext cx="10874959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58368" y="3493008"/>
            <a:ext cx="54864" cy="124358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96112" y="3657600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2700" dirty="0"/>
          </a:p>
        </p:txBody>
      </p:sp>
      <p:sp>
        <p:nvSpPr>
          <p:cNvPr id="24" name="Text 21"/>
          <p:cNvSpPr txBox="1"/>
          <p:nvPr/>
        </p:nvSpPr>
        <p:spPr>
          <a:xfrm>
            <a:off x="1591056" y="3602736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30" b="1" spc="100" kern="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VERDE INICIAL ADMITE DOS EXPLICACIONES</a:t>
            </a:r>
            <a:endParaRPr lang="en-US" sz="830" dirty="0"/>
          </a:p>
        </p:txBody>
      </p:sp>
      <p:sp>
        <p:nvSpPr>
          <p:cNvPr id="25" name="Text 22"/>
          <p:cNvSpPr txBox="1"/>
          <p:nvPr/>
        </p:nvSpPr>
        <p:spPr>
          <a:xfrm>
            <a:off x="1591056" y="3822192"/>
            <a:ext cx="964966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conducta ya existía o la prueba no la observa. Hay que distinguirlas antes de continuar.</a:t>
            </a:r>
            <a:endParaRPr lang="en-US" sz="1240" dirty="0"/>
          </a:p>
        </p:txBody>
      </p:sp>
      <p:sp>
        <p:nvSpPr>
          <p:cNvPr id="26" name="Shape 23"/>
          <p:cNvSpPr/>
          <p:nvPr/>
        </p:nvSpPr>
        <p:spPr>
          <a:xfrm>
            <a:off x="1591056" y="4224528"/>
            <a:ext cx="9649663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27" name="Text 24"/>
          <p:cNvSpPr txBox="1"/>
          <p:nvPr/>
        </p:nvSpPr>
        <p:spPr>
          <a:xfrm>
            <a:off x="1591056" y="4315968"/>
            <a:ext cx="1188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90" kern="0" dirty="0">
                <a:solidFill>
                  <a:srgbClr val="2E7D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REVELA</a:t>
            </a:r>
            <a:endParaRPr lang="en-US" sz="800" dirty="0"/>
          </a:p>
        </p:txBody>
      </p:sp>
      <p:sp>
        <p:nvSpPr>
          <p:cNvPr id="28" name="Text 25"/>
          <p:cNvSpPr txBox="1"/>
          <p:nvPr/>
        </p:nvSpPr>
        <p:spPr>
          <a:xfrm>
            <a:off x="2743200" y="428853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 un rojo esperado no consta que la prueba detecte la ausencia que motivó el cambio.</a:t>
            </a:r>
            <a:endParaRPr lang="en-US" sz="1020" dirty="0"/>
          </a:p>
        </p:txBody>
      </p:sp>
      <p:sp>
        <p:nvSpPr>
          <p:cNvPr id="29" name="Text 26"/>
          <p:cNvSpPr txBox="1"/>
          <p:nvPr/>
        </p:nvSpPr>
        <p:spPr>
          <a:xfrm>
            <a:off x="6784848" y="4315968"/>
            <a:ext cx="1325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90" kern="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 FRECUENTE</a:t>
            </a:r>
            <a:endParaRPr lang="en-US" sz="800" dirty="0"/>
          </a:p>
        </p:txBody>
      </p:sp>
      <p:sp>
        <p:nvSpPr>
          <p:cNvPr id="30" name="Text 27"/>
          <p:cNvSpPr txBox="1"/>
          <p:nvPr/>
        </p:nvSpPr>
        <p:spPr>
          <a:xfrm>
            <a:off x="8138160" y="4288536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20" i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«Si pasó a la primera, la prueba está bien.»</a:t>
            </a:r>
            <a:endParaRPr lang="en-US" sz="1020" dirty="0"/>
          </a:p>
        </p:txBody>
      </p:sp>
      <p:sp>
        <p:nvSpPr>
          <p:cNvPr id="31" name="Shape 28"/>
          <p:cNvSpPr/>
          <p:nvPr/>
        </p:nvSpPr>
        <p:spPr>
          <a:xfrm>
            <a:off x="658368" y="4846320"/>
            <a:ext cx="10874959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58368" y="4846320"/>
            <a:ext cx="54864" cy="1243584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896112" y="5010912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8A6A1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2700" dirty="0"/>
          </a:p>
        </p:txBody>
      </p:sp>
      <p:sp>
        <p:nvSpPr>
          <p:cNvPr id="34" name="Text 31"/>
          <p:cNvSpPr txBox="1"/>
          <p:nvPr/>
        </p:nvSpPr>
        <p:spPr>
          <a:xfrm>
            <a:off x="1591056" y="495604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30" b="1" spc="100" kern="0" dirty="0">
                <a:solidFill>
                  <a:srgbClr val="8A6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NOMBRE, ENTRADAS Y TIPO DE SALIDA</a:t>
            </a:r>
            <a:endParaRPr lang="en-US" sz="830" dirty="0"/>
          </a:p>
        </p:txBody>
      </p:sp>
      <p:sp>
        <p:nvSpPr>
          <p:cNvPr id="35" name="Text 32"/>
          <p:cNvSpPr txBox="1"/>
          <p:nvPr/>
        </p:nvSpPr>
        <p:spPr>
          <a:xfrm>
            <a:off x="1591056" y="5175504"/>
            <a:ext cx="964966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prueba fijó cabe_en_sala, los parámetros personas y capacidad, y un resultado booleano que debe ser False.</a:t>
            </a:r>
            <a:endParaRPr lang="en-US" sz="1240" dirty="0"/>
          </a:p>
        </p:txBody>
      </p:sp>
      <p:sp>
        <p:nvSpPr>
          <p:cNvPr id="36" name="Shape 33"/>
          <p:cNvSpPr/>
          <p:nvPr/>
        </p:nvSpPr>
        <p:spPr>
          <a:xfrm>
            <a:off x="1591056" y="5577840"/>
            <a:ext cx="9649663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37" name="Text 34"/>
          <p:cNvSpPr txBox="1"/>
          <p:nvPr/>
        </p:nvSpPr>
        <p:spPr>
          <a:xfrm>
            <a:off x="1591056" y="5669280"/>
            <a:ext cx="1188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90" kern="0" dirty="0">
                <a:solidFill>
                  <a:srgbClr val="2E7D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REVELA</a:t>
            </a:r>
            <a:endParaRPr lang="en-US" sz="800" dirty="0"/>
          </a:p>
        </p:txBody>
      </p:sp>
      <p:sp>
        <p:nvSpPr>
          <p:cNvPr id="38" name="Text 35"/>
          <p:cNvSpPr txBox="1"/>
          <p:nvPr/>
        </p:nvSpPr>
        <p:spPr>
          <a:xfrm>
            <a:off x="2743200" y="564184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prueba escrita primero también participa en el diseño de la interfaz pública.</a:t>
            </a:r>
            <a:endParaRPr lang="en-US" sz="1020" dirty="0"/>
          </a:p>
        </p:txBody>
      </p:sp>
      <p:sp>
        <p:nvSpPr>
          <p:cNvPr id="39" name="Text 36"/>
          <p:cNvSpPr txBox="1"/>
          <p:nvPr/>
        </p:nvSpPr>
        <p:spPr>
          <a:xfrm>
            <a:off x="6784848" y="5669280"/>
            <a:ext cx="1325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90" kern="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 FRECUENTE</a:t>
            </a:r>
            <a:endParaRPr lang="en-US" sz="800" dirty="0"/>
          </a:p>
        </p:txBody>
      </p:sp>
      <p:sp>
        <p:nvSpPr>
          <p:cNvPr id="40" name="Text 37"/>
          <p:cNvSpPr txBox="1"/>
          <p:nvPr/>
        </p:nvSpPr>
        <p:spPr>
          <a:xfrm>
            <a:off x="8138160" y="5641848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20" i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«La interfaz la decide solo la implementación.»</a:t>
            </a:r>
            <a:endParaRPr lang="en-US" sz="102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C:\Users\Diego Obando\dev\pro402-taller-de-testing-2026\clases\semana-04\02\ppt\source\assets\logo-aie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307150"/>
            <a:ext cx="1335024" cy="46469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17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144475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spc="13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DE 4 · 25 MINUTOS</a:t>
            </a:r>
            <a:endParaRPr lang="en-US" sz="96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1901952"/>
            <a:ext cx="10058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Verde mínimo y refactor</a:t>
            </a:r>
            <a:endParaRPr lang="en-US" sz="4200" dirty="0"/>
          </a:p>
        </p:txBody>
      </p:sp>
      <p:sp>
        <p:nvSpPr>
          <p:cNvPr id="10" name="Shape 7"/>
          <p:cNvSpPr/>
          <p:nvPr/>
        </p:nvSpPr>
        <p:spPr>
          <a:xfrm>
            <a:off x="658368" y="2907792"/>
            <a:ext cx="3291840" cy="0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  <a:headEnd type="none"/>
            <a:tailEnd type="none"/>
          </a:ln>
        </p:spPr>
      </p:sp>
      <p:sp>
        <p:nvSpPr>
          <p:cNvPr id="11" name="Text 8"/>
          <p:cNvSpPr txBox="1"/>
          <p:nvPr/>
        </p:nvSpPr>
        <p:spPr>
          <a:xfrm>
            <a:off x="658368" y="3182112"/>
            <a:ext cx="96012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i="1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rojo ya tiene una causa conocida. Ahora cambiaremos solo lo necesario para hacerlo pasar y separaremos ese cambio de cualquier mejora estructural posterior.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658368" y="4681728"/>
            <a:ext cx="3401568" cy="841248"/>
          </a:xfrm>
          <a:prstGeom prst="rect">
            <a:avLst/>
          </a:prstGeom>
          <a:solidFill>
            <a:srgbClr val="1D3A57"/>
          </a:solidFill>
          <a:ln w="12700">
            <a:solidFill>
              <a:srgbClr val="1D3A5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41248" y="4855464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FAE6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1353312" y="478231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Llegar a verde</a:t>
            </a:r>
            <a:endParaRPr lang="en-US" sz="1220" dirty="0"/>
          </a:p>
        </p:txBody>
      </p:sp>
      <p:sp>
        <p:nvSpPr>
          <p:cNvPr id="15" name="Text 12"/>
          <p:cNvSpPr txBox="1"/>
          <p:nvPr/>
        </p:nvSpPr>
        <p:spPr>
          <a:xfrm>
            <a:off x="1353312" y="504748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Satisfacer el ejemplo actual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425696" y="4681728"/>
            <a:ext cx="3401568" cy="841248"/>
          </a:xfrm>
          <a:prstGeom prst="rect">
            <a:avLst/>
          </a:prstGeom>
          <a:solidFill>
            <a:srgbClr val="1D3A57"/>
          </a:solidFill>
          <a:ln w="12700">
            <a:solidFill>
              <a:srgbClr val="1D3A5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608576" y="4855464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5120640" y="478231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Clasificar el cambio</a:t>
            </a:r>
            <a:endParaRPr lang="en-US" sz="1220" dirty="0"/>
          </a:p>
        </p:txBody>
      </p:sp>
      <p:sp>
        <p:nvSpPr>
          <p:cNvPr id="19" name="Text 16"/>
          <p:cNvSpPr txBox="1"/>
          <p:nvPr/>
        </p:nvSpPr>
        <p:spPr>
          <a:xfrm>
            <a:off x="5120640" y="504748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Comportamiento nuevo o estructura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8193024" y="4681728"/>
            <a:ext cx="3401568" cy="841248"/>
          </a:xfrm>
          <a:prstGeom prst="rect">
            <a:avLst/>
          </a:prstGeom>
          <a:solidFill>
            <a:srgbClr val="1D3A57"/>
          </a:solidFill>
          <a:ln w="12700">
            <a:solidFill>
              <a:srgbClr val="1D3A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375904" y="4855464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19"/>
          <p:cNvSpPr txBox="1"/>
          <p:nvPr/>
        </p:nvSpPr>
        <p:spPr>
          <a:xfrm>
            <a:off x="8887968" y="478231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Refactorizar con respaldo</a:t>
            </a:r>
            <a:endParaRPr lang="en-US" sz="1220" dirty="0"/>
          </a:p>
        </p:txBody>
      </p:sp>
      <p:sp>
        <p:nvSpPr>
          <p:cNvPr id="23" name="Text 20"/>
          <p:cNvSpPr txBox="1"/>
          <p:nvPr/>
        </p:nvSpPr>
        <p:spPr>
          <a:xfrm>
            <a:off x="8887968" y="504748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Conservar respuestas observables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4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18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· PASO VERDE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509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cambio mínimo satisface la evidencia disponible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664208"/>
            <a:ext cx="10424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4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prueba actual exige una sola respuesta: 31 personas no caben en una sala con capacidad 30. El paso verde todavía no generaliza la regla.</a:t>
            </a:r>
            <a:endParaRPr lang="en-US" sz="1420" dirty="0"/>
          </a:p>
        </p:txBody>
      </p:sp>
      <p:sp>
        <p:nvSpPr>
          <p:cNvPr id="11" name="Shape 8"/>
          <p:cNvSpPr/>
          <p:nvPr/>
        </p:nvSpPr>
        <p:spPr>
          <a:xfrm>
            <a:off x="658368" y="2377440"/>
            <a:ext cx="4773168" cy="1481328"/>
          </a:xfrm>
          <a:prstGeom prst="roundRect">
            <a:avLst>
              <a:gd name="adj" fmla="val 2469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86384" y="2487168"/>
            <a:ext cx="4517136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96112" y="2560320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 · rojo por comportamiento</a:t>
            </a:r>
            <a:endParaRPr lang="en-US" sz="10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7824" y="2944368"/>
            <a:ext cx="4352544" cy="73152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5577840" y="3108960"/>
            <a:ext cx="896112" cy="0"/>
          </a:xfrm>
          <a:prstGeom prst="line">
            <a:avLst/>
          </a:prstGeom>
          <a:noFill/>
          <a:ln w="12700">
            <a:solidFill>
              <a:srgbClr val="8A6A12"/>
            </a:solidFill>
            <a:prstDash val="solid"/>
            <a:headEnd type="none"/>
            <a:tailEnd type="triangle"/>
          </a:ln>
        </p:spPr>
      </p:sp>
      <p:sp>
        <p:nvSpPr>
          <p:cNvPr id="16" name="Text 12"/>
          <p:cNvSpPr txBox="1"/>
          <p:nvPr/>
        </p:nvSpPr>
        <p:spPr>
          <a:xfrm>
            <a:off x="5541264" y="2743200"/>
            <a:ext cx="98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8A6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token</a:t>
            </a:r>
            <a:endParaRPr lang="en-US" sz="940" dirty="0"/>
          </a:p>
        </p:txBody>
      </p:sp>
      <p:sp>
        <p:nvSpPr>
          <p:cNvPr id="17" name="Shape 13"/>
          <p:cNvSpPr/>
          <p:nvPr/>
        </p:nvSpPr>
        <p:spPr>
          <a:xfrm>
            <a:off x="6656832" y="2377440"/>
            <a:ext cx="4873752" cy="1481328"/>
          </a:xfrm>
          <a:prstGeom prst="roundRect">
            <a:avLst>
              <a:gd name="adj" fmla="val 2469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784848" y="2487168"/>
            <a:ext cx="4617720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894576" y="2560320"/>
            <a:ext cx="4398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Después · primer verde</a:t>
            </a:r>
            <a:endParaRPr lang="en-US" sz="10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76288" y="2944368"/>
            <a:ext cx="4453128" cy="731520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658368" y="4224528"/>
            <a:ext cx="10874959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58368" y="4224528"/>
            <a:ext cx="64008" cy="1024128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969264" y="4425696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10" kern="0" dirty="0">
                <a:solidFill>
                  <a:srgbClr val="2E7D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VERDE MÍNIMO</a:t>
            </a:r>
            <a:endParaRPr lang="en-US" sz="1100" dirty="0"/>
          </a:p>
        </p:txBody>
      </p:sp>
      <p:sp>
        <p:nvSpPr>
          <p:cNvPr id="24" name="Text 19"/>
          <p:cNvSpPr txBox="1"/>
          <p:nvPr/>
        </p:nvSpPr>
        <p:spPr>
          <a:xfrm>
            <a:off x="2898648" y="4361688"/>
            <a:ext cx="829635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3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menor cambio que satisface la prueba actual sin romper las anteriores. No significa código descuidado ni una solución lista para producción.</a:t>
            </a:r>
            <a:endParaRPr lang="en-US" sz="1330" dirty="0"/>
          </a:p>
        </p:txBody>
      </p:sp>
      <p:sp>
        <p:nvSpPr>
          <p:cNvPr id="25" name="Text 20"/>
          <p:cNvSpPr txBox="1"/>
          <p:nvPr/>
        </p:nvSpPr>
        <p:spPr>
          <a:xfrm>
            <a:off x="2898648" y="4882896"/>
            <a:ext cx="829635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i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constante False es provisional y explícita. El siguiente ejemplo mostrará qué comportamiento todavía falta.</a:t>
            </a:r>
            <a:endParaRPr lang="en-US" sz="1120" dirty="0"/>
          </a:p>
        </p:txBody>
      </p:sp>
      <p:sp>
        <p:nvSpPr>
          <p:cNvPr id="26" name="Shape 21"/>
          <p:cNvSpPr/>
          <p:nvPr/>
        </p:nvSpPr>
        <p:spPr>
          <a:xfrm>
            <a:off x="658368" y="5504688"/>
            <a:ext cx="10874959" cy="53035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950976" y="5541264"/>
            <a:ext cx="102897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Código de producción significa código del sistema. Agregarle casos que ninguna prueba pidió devuelve el proceso al código primero.</a:t>
            </a:r>
            <a:endParaRPr lang="en-US" sz="128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4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19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· EJECUCIÓN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509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verde también se lee, no solo se celebra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664208"/>
            <a:ext cx="10332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4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salida confirma que la prueba fue recogida, ejecutada y aprobada. El tiempo puede variar entre equipos; los indicadores relevantes no cambian.</a:t>
            </a:r>
            <a:endParaRPr lang="en-US" sz="1420" dirty="0"/>
          </a:p>
        </p:txBody>
      </p:sp>
      <p:sp>
        <p:nvSpPr>
          <p:cNvPr id="11" name="Shape 8"/>
          <p:cNvSpPr/>
          <p:nvPr/>
        </p:nvSpPr>
        <p:spPr>
          <a:xfrm>
            <a:off x="658368" y="2359152"/>
            <a:ext cx="6858000" cy="2322576"/>
          </a:xfrm>
          <a:prstGeom prst="roundRect">
            <a:avLst>
              <a:gd name="adj" fmla="val 1575"/>
            </a:avLst>
          </a:prstGeom>
          <a:solidFill>
            <a:srgbClr val="0F1720"/>
          </a:solidFill>
          <a:ln w="12700">
            <a:solidFill>
              <a:srgbClr val="0F172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86384" y="2468880"/>
            <a:ext cx="6601968" cy="310896"/>
          </a:xfrm>
          <a:prstGeom prst="roundRect">
            <a:avLst>
              <a:gd name="adj" fmla="val 8824"/>
            </a:avLst>
          </a:prstGeom>
          <a:solidFill>
            <a:srgbClr val="1E2937"/>
          </a:solidFill>
          <a:ln w="12700">
            <a:solidFill>
              <a:srgbClr val="1E293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14400" y="2542032"/>
            <a:ext cx="63459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Ejecución después de return False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877824" y="2926080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20" dirty="0"/>
          </a:p>
        </p:txBody>
      </p:sp>
      <p:sp>
        <p:nvSpPr>
          <p:cNvPr id="15" name="Text 12"/>
          <p:cNvSpPr/>
          <p:nvPr/>
        </p:nvSpPr>
        <p:spPr>
          <a:xfrm>
            <a:off x="1188720" y="2926080"/>
            <a:ext cx="6108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--with pytest python -m pytest -q</a:t>
            </a:r>
            <a:endParaRPr lang="en-US" sz="1020" dirty="0"/>
          </a:p>
        </p:txBody>
      </p:sp>
      <p:sp>
        <p:nvSpPr>
          <p:cNvPr id="16" name="Text 13"/>
          <p:cNvSpPr/>
          <p:nvPr/>
        </p:nvSpPr>
        <p:spPr>
          <a:xfrm>
            <a:off x="877824" y="3182112"/>
            <a:ext cx="6108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                                                    [100%]</a:t>
            </a:r>
            <a:endParaRPr lang="en-US" sz="1020" dirty="0"/>
          </a:p>
        </p:txBody>
      </p:sp>
      <p:sp>
        <p:nvSpPr>
          <p:cNvPr id="17" name="Text 14"/>
          <p:cNvSpPr/>
          <p:nvPr/>
        </p:nvSpPr>
        <p:spPr>
          <a:xfrm>
            <a:off x="877824" y="3438144"/>
            <a:ext cx="6108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passed in 0.02s</a:t>
            </a:r>
            <a:endParaRPr lang="en-US" sz="1020" dirty="0"/>
          </a:p>
        </p:txBody>
      </p:sp>
      <p:sp>
        <p:nvSpPr>
          <p:cNvPr id="18" name="Text 15"/>
          <p:cNvSpPr/>
          <p:nvPr/>
        </p:nvSpPr>
        <p:spPr>
          <a:xfrm>
            <a:off x="877824" y="3694176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20" dirty="0"/>
          </a:p>
        </p:txBody>
      </p:sp>
      <p:sp>
        <p:nvSpPr>
          <p:cNvPr id="19" name="Text 16"/>
          <p:cNvSpPr/>
          <p:nvPr/>
        </p:nvSpPr>
        <p:spPr>
          <a:xfrm>
            <a:off x="1188720" y="3694176"/>
            <a:ext cx="6108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$LASTEXITCODE</a:t>
            </a:r>
            <a:endParaRPr lang="en-US" sz="1020" dirty="0"/>
          </a:p>
        </p:txBody>
      </p:sp>
      <p:sp>
        <p:nvSpPr>
          <p:cNvPr id="20" name="Text 17"/>
          <p:cNvSpPr/>
          <p:nvPr/>
        </p:nvSpPr>
        <p:spPr>
          <a:xfrm>
            <a:off x="877824" y="3950208"/>
            <a:ext cx="6108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020" dirty="0"/>
          </a:p>
        </p:txBody>
      </p:sp>
      <p:sp>
        <p:nvSpPr>
          <p:cNvPr id="21" name="Shape 18"/>
          <p:cNvSpPr/>
          <p:nvPr/>
        </p:nvSpPr>
        <p:spPr>
          <a:xfrm>
            <a:off x="7754112" y="2359152"/>
            <a:ext cx="3776472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754112" y="2359152"/>
            <a:ext cx="54864" cy="676656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010144" y="248716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7D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8979408" y="245059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prueba aprobada</a:t>
            </a:r>
            <a:endParaRPr lang="en-US" sz="1160" dirty="0"/>
          </a:p>
        </p:txBody>
      </p:sp>
      <p:sp>
        <p:nvSpPr>
          <p:cNvPr id="25" name="Text 22"/>
          <p:cNvSpPr txBox="1"/>
          <p:nvPr/>
        </p:nvSpPr>
        <p:spPr>
          <a:xfrm>
            <a:off x="8979408" y="2688336"/>
            <a:ext cx="2304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99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punto representa una prueba que terminó sin fallar.</a:t>
            </a:r>
            <a:endParaRPr lang="en-US" sz="990" dirty="0"/>
          </a:p>
        </p:txBody>
      </p:sp>
      <p:sp>
        <p:nvSpPr>
          <p:cNvPr id="26" name="Shape 23"/>
          <p:cNvSpPr/>
          <p:nvPr/>
        </p:nvSpPr>
        <p:spPr>
          <a:xfrm>
            <a:off x="7754112" y="3145536"/>
            <a:ext cx="3776472" cy="676656"/>
          </a:xfrm>
          <a:prstGeom prst="rect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754112" y="3145536"/>
            <a:ext cx="54864" cy="67665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010144" y="3273552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passed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8979408" y="323697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Conteo de la suite</a:t>
            </a:r>
            <a:endParaRPr lang="en-US" sz="1160" dirty="0"/>
          </a:p>
        </p:txBody>
      </p:sp>
      <p:sp>
        <p:nvSpPr>
          <p:cNvPr id="30" name="Text 27"/>
          <p:cNvSpPr txBox="1"/>
          <p:nvPr/>
        </p:nvSpPr>
        <p:spPr>
          <a:xfrm>
            <a:off x="8979408" y="3474720"/>
            <a:ext cx="2304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99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pytest recogió una prueba y la única prueba pasó.</a:t>
            </a:r>
            <a:endParaRPr lang="en-US" sz="990" dirty="0"/>
          </a:p>
        </p:txBody>
      </p:sp>
      <p:sp>
        <p:nvSpPr>
          <p:cNvPr id="31" name="Shape 28"/>
          <p:cNvSpPr/>
          <p:nvPr/>
        </p:nvSpPr>
        <p:spPr>
          <a:xfrm>
            <a:off x="7754112" y="3931920"/>
            <a:ext cx="3776472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7754112" y="3931920"/>
            <a:ext cx="54864" cy="676656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8010144" y="4059936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A6A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500" dirty="0"/>
          </a:p>
        </p:txBody>
      </p:sp>
      <p:sp>
        <p:nvSpPr>
          <p:cNvPr id="34" name="Text 31"/>
          <p:cNvSpPr txBox="1"/>
          <p:nvPr/>
        </p:nvSpPr>
        <p:spPr>
          <a:xfrm>
            <a:off x="8979408" y="402336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Código de salida</a:t>
            </a:r>
            <a:endParaRPr lang="en-US" sz="1160" dirty="0"/>
          </a:p>
        </p:txBody>
      </p:sp>
      <p:sp>
        <p:nvSpPr>
          <p:cNvPr id="35" name="Text 32"/>
          <p:cNvSpPr txBox="1"/>
          <p:nvPr/>
        </p:nvSpPr>
        <p:spPr>
          <a:xfrm>
            <a:off x="8979408" y="4261104"/>
            <a:ext cx="2304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99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proceso comunica éxito a la terminal y a otras herramientas.</a:t>
            </a:r>
            <a:endParaRPr lang="en-US" sz="990" dirty="0"/>
          </a:p>
        </p:txBody>
      </p:sp>
      <p:sp>
        <p:nvSpPr>
          <p:cNvPr id="36" name="Shape 33"/>
          <p:cNvSpPr/>
          <p:nvPr/>
        </p:nvSpPr>
        <p:spPr>
          <a:xfrm>
            <a:off x="658368" y="5065776"/>
            <a:ext cx="10874959" cy="54864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950976" y="5102352"/>
            <a:ext cx="1028974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verde actual importa porque antes se observó la misma prueba fallando con assert True is False.</a:t>
            </a:r>
            <a:endParaRPr lang="en-US" sz="1320" dirty="0"/>
          </a:p>
        </p:txBody>
      </p:sp>
      <p:sp>
        <p:nvSpPr>
          <p:cNvPr id="38" name="Shape 35"/>
          <p:cNvSpPr/>
          <p:nvPr/>
        </p:nvSpPr>
        <p:spPr>
          <a:xfrm>
            <a:off x="658368" y="5815584"/>
            <a:ext cx="45720" cy="182880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804672" y="5806440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i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pytest · Managing pytest's output y Exit codes · punto, conteo aprobado y código 0</a:t>
            </a:r>
            <a:endParaRPr lang="en-US" sz="88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4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· ESTRATEGIAS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509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Tres formas de administrar el riesgo del paso verde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66420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4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son niveles de calidad. Cada estrategia decide cuánto comportamiento incorporar en la vuelta actual y cuánta evidencia pedir antes de generalizar.</a:t>
            </a:r>
            <a:endParaRPr lang="en-US" sz="1420" dirty="0"/>
          </a:p>
        </p:txBody>
      </p:sp>
      <p:sp>
        <p:nvSpPr>
          <p:cNvPr id="11" name="Text 8"/>
          <p:cNvSpPr txBox="1"/>
          <p:nvPr/>
        </p:nvSpPr>
        <p:spPr>
          <a:xfrm>
            <a:off x="658368" y="2468880"/>
            <a:ext cx="4937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318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3000" dirty="0"/>
          </a:p>
        </p:txBody>
      </p:sp>
      <p:sp>
        <p:nvSpPr>
          <p:cNvPr id="12" name="Shape 9"/>
          <p:cNvSpPr/>
          <p:nvPr/>
        </p:nvSpPr>
        <p:spPr>
          <a:xfrm>
            <a:off x="1371600" y="2359152"/>
            <a:ext cx="2907792" cy="804672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609344" y="2487168"/>
            <a:ext cx="2432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Fake It · usar una constante</a:t>
            </a:r>
            <a:endParaRPr lang="en-US" sz="1240" dirty="0"/>
          </a:p>
        </p:txBody>
      </p:sp>
      <p:sp>
        <p:nvSpPr>
          <p:cNvPr id="14" name="Text 11"/>
          <p:cNvSpPr txBox="1"/>
          <p:nvPr/>
        </p:nvSpPr>
        <p:spPr>
          <a:xfrm>
            <a:off x="1609344" y="2788920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False</a:t>
            </a:r>
            <a:endParaRPr lang="en-US" sz="980" dirty="0"/>
          </a:p>
        </p:txBody>
      </p:sp>
      <p:sp>
        <p:nvSpPr>
          <p:cNvPr id="15" name="Text 12"/>
          <p:cNvSpPr txBox="1"/>
          <p:nvPr/>
        </p:nvSpPr>
        <p:spPr>
          <a:xfrm>
            <a:off x="4572000" y="2432304"/>
            <a:ext cx="3749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Satisface el ejemplo actual sin inventar una regla general. Es la estrategia usada en esta vuelta.</a:t>
            </a:r>
            <a:endParaRPr lang="en-US" sz="1140" dirty="0"/>
          </a:p>
        </p:txBody>
      </p:sp>
      <p:sp>
        <p:nvSpPr>
          <p:cNvPr id="16" name="Text 13"/>
          <p:cNvSpPr txBox="1"/>
          <p:nvPr/>
        </p:nvSpPr>
        <p:spPr>
          <a:xfrm>
            <a:off x="8540496" y="2432304"/>
            <a:ext cx="2907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80" i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Útil cuando todavía hay varias generalizaciones posibles.</a:t>
            </a:r>
            <a:endParaRPr lang="en-US" sz="1080" dirty="0"/>
          </a:p>
        </p:txBody>
      </p:sp>
      <p:sp>
        <p:nvSpPr>
          <p:cNvPr id="17" name="Shape 14"/>
          <p:cNvSpPr/>
          <p:nvPr/>
        </p:nvSpPr>
        <p:spPr>
          <a:xfrm>
            <a:off x="1371600" y="3255264"/>
            <a:ext cx="10161727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18" name="Text 15"/>
          <p:cNvSpPr txBox="1"/>
          <p:nvPr/>
        </p:nvSpPr>
        <p:spPr>
          <a:xfrm>
            <a:off x="658368" y="3456432"/>
            <a:ext cx="4937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3000" dirty="0"/>
          </a:p>
        </p:txBody>
      </p:sp>
      <p:sp>
        <p:nvSpPr>
          <p:cNvPr id="19" name="Shape 16"/>
          <p:cNvSpPr/>
          <p:nvPr/>
        </p:nvSpPr>
        <p:spPr>
          <a:xfrm>
            <a:off x="1371600" y="3346704"/>
            <a:ext cx="2907792" cy="80467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609344" y="3474720"/>
            <a:ext cx="2432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Implementación obvia</a:t>
            </a:r>
            <a:endParaRPr lang="en-US" sz="1240" dirty="0"/>
          </a:p>
        </p:txBody>
      </p:sp>
      <p:sp>
        <p:nvSpPr>
          <p:cNvPr id="21" name="Text 18"/>
          <p:cNvSpPr txBox="1"/>
          <p:nvPr/>
        </p:nvSpPr>
        <p:spPr>
          <a:xfrm>
            <a:off x="1609344" y="3776472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personas &lt;= capacidad</a:t>
            </a:r>
            <a:endParaRPr lang="en-US" sz="980" dirty="0"/>
          </a:p>
        </p:txBody>
      </p:sp>
      <p:sp>
        <p:nvSpPr>
          <p:cNvPr id="22" name="Text 19"/>
          <p:cNvSpPr txBox="1"/>
          <p:nvPr/>
        </p:nvSpPr>
        <p:spPr>
          <a:xfrm>
            <a:off x="4572000" y="3419856"/>
            <a:ext cx="3749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Escribe directamente una solución simple que se comprende con seguridad.</a:t>
            </a:r>
            <a:endParaRPr lang="en-US" sz="1140" dirty="0"/>
          </a:p>
        </p:txBody>
      </p:sp>
      <p:sp>
        <p:nvSpPr>
          <p:cNvPr id="23" name="Text 20"/>
          <p:cNvSpPr txBox="1"/>
          <p:nvPr/>
        </p:nvSpPr>
        <p:spPr>
          <a:xfrm>
            <a:off x="8540496" y="3419856"/>
            <a:ext cx="2907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80" i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Útil cuando la regla es inequívoca y el salto es pequeño.</a:t>
            </a:r>
            <a:endParaRPr lang="en-US" sz="1080" dirty="0"/>
          </a:p>
        </p:txBody>
      </p:sp>
      <p:sp>
        <p:nvSpPr>
          <p:cNvPr id="24" name="Shape 21"/>
          <p:cNvSpPr/>
          <p:nvPr/>
        </p:nvSpPr>
        <p:spPr>
          <a:xfrm>
            <a:off x="1371600" y="4242816"/>
            <a:ext cx="10161727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25" name="Text 22"/>
          <p:cNvSpPr txBox="1"/>
          <p:nvPr/>
        </p:nvSpPr>
        <p:spPr>
          <a:xfrm>
            <a:off x="658368" y="4443984"/>
            <a:ext cx="4937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7D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3000" dirty="0"/>
          </a:p>
        </p:txBody>
      </p:sp>
      <p:sp>
        <p:nvSpPr>
          <p:cNvPr id="26" name="Shape 23"/>
          <p:cNvSpPr/>
          <p:nvPr/>
        </p:nvSpPr>
        <p:spPr>
          <a:xfrm>
            <a:off x="1371600" y="4334256"/>
            <a:ext cx="2907792" cy="804672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609344" y="4462272"/>
            <a:ext cx="2432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Triangulación</a:t>
            </a:r>
            <a:endParaRPr lang="en-US" sz="1240" dirty="0"/>
          </a:p>
        </p:txBody>
      </p:sp>
      <p:sp>
        <p:nvSpPr>
          <p:cNvPr id="28" name="Text 25"/>
          <p:cNvSpPr txBox="1"/>
          <p:nvPr/>
        </p:nvSpPr>
        <p:spPr>
          <a:xfrm>
            <a:off x="1609344" y="4764024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otro ejemplo fuerza la regla</a:t>
            </a:r>
            <a:endParaRPr lang="en-US" sz="980" dirty="0"/>
          </a:p>
        </p:txBody>
      </p:sp>
      <p:sp>
        <p:nvSpPr>
          <p:cNvPr id="29" name="Text 26"/>
          <p:cNvSpPr txBox="1"/>
          <p:nvPr/>
        </p:nvSpPr>
        <p:spPr>
          <a:xfrm>
            <a:off x="4572000" y="4407408"/>
            <a:ext cx="3749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Agrega un caso que hace fallar la constante y obliga a distinguir dos respuestas.</a:t>
            </a:r>
            <a:endParaRPr lang="en-US" sz="1140" dirty="0"/>
          </a:p>
        </p:txBody>
      </p:sp>
      <p:sp>
        <p:nvSpPr>
          <p:cNvPr id="30" name="Text 27"/>
          <p:cNvSpPr txBox="1"/>
          <p:nvPr/>
        </p:nvSpPr>
        <p:spPr>
          <a:xfrm>
            <a:off x="8540496" y="4407408"/>
            <a:ext cx="2907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80" i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Útil cuando un solo dato no justifica la generalización.</a:t>
            </a:r>
            <a:endParaRPr lang="en-US" sz="1080" dirty="0"/>
          </a:p>
        </p:txBody>
      </p:sp>
      <p:sp>
        <p:nvSpPr>
          <p:cNvPr id="31" name="Shape 28"/>
          <p:cNvSpPr/>
          <p:nvPr/>
        </p:nvSpPr>
        <p:spPr>
          <a:xfrm>
            <a:off x="658368" y="5413248"/>
            <a:ext cx="10874959" cy="53035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50976" y="5449824"/>
            <a:ext cx="102897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esta clase, el segundo ejemplo hará visible la limitación de return False antes de generalizar.</a:t>
            </a:r>
            <a:endParaRPr lang="en-US" sz="1320" dirty="0"/>
          </a:p>
        </p:txBody>
      </p:sp>
      <p:sp>
        <p:nvSpPr>
          <p:cNvPr id="33" name="Shape 30"/>
          <p:cNvSpPr/>
          <p:nvPr/>
        </p:nvSpPr>
        <p:spPr>
          <a:xfrm>
            <a:off x="658368" y="6080760"/>
            <a:ext cx="45720" cy="182880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04672" y="6071616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i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Kent Beck · Test-Driven Development: By Example y Equality for All</a:t>
            </a:r>
            <a:endParaRPr lang="en-US" sz="88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4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· DISTINCIÓN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509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Refactor significa conservar el comportamiento observable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664208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4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refactor cambia la estructura interna para facilitar la comprensión o la modificación. Si alguna entrada obtiene una respuesta distinta, el cambio pertenece a otra categoría.</a:t>
            </a:r>
            <a:endParaRPr lang="en-US" sz="1420" dirty="0"/>
          </a:p>
        </p:txBody>
      </p:sp>
      <p:sp>
        <p:nvSpPr>
          <p:cNvPr id="11" name="Shape 8"/>
          <p:cNvSpPr/>
          <p:nvPr/>
        </p:nvSpPr>
        <p:spPr>
          <a:xfrm>
            <a:off x="658368" y="2395728"/>
            <a:ext cx="10874959" cy="69494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50976" y="25877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Criterio decisivo</a:t>
            </a:r>
            <a:endParaRPr lang="en-US" sz="1220" dirty="0"/>
          </a:p>
        </p:txBody>
      </p:sp>
      <p:sp>
        <p:nvSpPr>
          <p:cNvPr id="13" name="Text 10"/>
          <p:cNvSpPr txBox="1"/>
          <p:nvPr/>
        </p:nvSpPr>
        <p:spPr>
          <a:xfrm>
            <a:off x="2779776" y="2542032"/>
            <a:ext cx="8183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¿Las mismas entradas conservan las mismas respuestas antes y después?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658368" y="3346704"/>
            <a:ext cx="10874959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58368" y="3346704"/>
            <a:ext cx="45720" cy="438912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77824" y="3419856"/>
            <a:ext cx="3785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1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True  →  return False</a:t>
            </a:r>
            <a:endParaRPr lang="en-US" sz="1010" dirty="0"/>
          </a:p>
        </p:txBody>
      </p:sp>
      <p:sp>
        <p:nvSpPr>
          <p:cNvPr id="17" name="Text 14"/>
          <p:cNvSpPr txBox="1"/>
          <p:nvPr/>
        </p:nvSpPr>
        <p:spPr>
          <a:xfrm>
            <a:off x="4828032" y="3429000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20" b="1" spc="70" kern="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IMPLEMENTACIÓN</a:t>
            </a:r>
            <a:endParaRPr lang="en-US" sz="920" dirty="0"/>
          </a:p>
        </p:txBody>
      </p:sp>
      <p:sp>
        <p:nvSpPr>
          <p:cNvPr id="18" name="Text 15"/>
          <p:cNvSpPr txBox="1"/>
          <p:nvPr/>
        </p:nvSpPr>
        <p:spPr>
          <a:xfrm>
            <a:off x="7022592" y="3419856"/>
            <a:ext cx="4187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Cambia la respuesta del caso 31/30 para hacer pasar la prueba.</a:t>
            </a:r>
            <a:endParaRPr lang="en-US" sz="1040" dirty="0"/>
          </a:p>
        </p:txBody>
      </p:sp>
      <p:sp>
        <p:nvSpPr>
          <p:cNvPr id="19" name="Shape 16"/>
          <p:cNvSpPr/>
          <p:nvPr/>
        </p:nvSpPr>
        <p:spPr>
          <a:xfrm>
            <a:off x="658368" y="3858768"/>
            <a:ext cx="10874959" cy="438912"/>
          </a:xfrm>
          <a:prstGeom prst="rect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58368" y="3858768"/>
            <a:ext cx="45720" cy="438912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77824" y="3931920"/>
            <a:ext cx="3785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1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False  →  personas &lt;= capacidad</a:t>
            </a:r>
            <a:endParaRPr lang="en-US" sz="1010" dirty="0"/>
          </a:p>
        </p:txBody>
      </p:sp>
      <p:sp>
        <p:nvSpPr>
          <p:cNvPr id="22" name="Text 19"/>
          <p:cNvSpPr txBox="1"/>
          <p:nvPr/>
        </p:nvSpPr>
        <p:spPr>
          <a:xfrm>
            <a:off x="4828032" y="3941064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20" b="1" spc="70" kern="0" dirty="0">
                <a:solidFill>
                  <a:srgbClr val="8A6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NUEVO COMPORTAMIENTO</a:t>
            </a:r>
            <a:endParaRPr lang="en-US" sz="920" dirty="0"/>
          </a:p>
        </p:txBody>
      </p:sp>
      <p:sp>
        <p:nvSpPr>
          <p:cNvPr id="23" name="Text 20"/>
          <p:cNvSpPr txBox="1"/>
          <p:nvPr/>
        </p:nvSpPr>
        <p:spPr>
          <a:xfrm>
            <a:off x="7022592" y="3931920"/>
            <a:ext cx="4187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También cambia las respuestas de 30/30 y 1/30, todavía sin pruebas.</a:t>
            </a:r>
            <a:endParaRPr lang="en-US" sz="1040" dirty="0"/>
          </a:p>
        </p:txBody>
      </p:sp>
      <p:sp>
        <p:nvSpPr>
          <p:cNvPr id="24" name="Shape 21"/>
          <p:cNvSpPr/>
          <p:nvPr/>
        </p:nvSpPr>
        <p:spPr>
          <a:xfrm>
            <a:off x="658368" y="4370832"/>
            <a:ext cx="10874959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58368" y="4370832"/>
            <a:ext cx="45720" cy="438912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77824" y="4443984"/>
            <a:ext cx="3785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1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 ... is False  →  assert ... is True</a:t>
            </a:r>
            <a:endParaRPr lang="en-US" sz="1010" dirty="0"/>
          </a:p>
        </p:txBody>
      </p:sp>
      <p:sp>
        <p:nvSpPr>
          <p:cNvPr id="27" name="Text 24"/>
          <p:cNvSpPr txBox="1"/>
          <p:nvPr/>
        </p:nvSpPr>
        <p:spPr>
          <a:xfrm>
            <a:off x="4828032" y="4453128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20" b="1" spc="70" kern="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ESPECIFICACIÓN ALTERADA</a:t>
            </a:r>
            <a:endParaRPr lang="en-US" sz="920" dirty="0"/>
          </a:p>
        </p:txBody>
      </p:sp>
      <p:sp>
        <p:nvSpPr>
          <p:cNvPr id="28" name="Text 25"/>
          <p:cNvSpPr txBox="1"/>
          <p:nvPr/>
        </p:nvSpPr>
        <p:spPr>
          <a:xfrm>
            <a:off x="7022592" y="4443984"/>
            <a:ext cx="4187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Hace verde la suite cambiando lo esperado, no cumpliéndolo.</a:t>
            </a:r>
            <a:endParaRPr lang="en-US" sz="1040" dirty="0"/>
          </a:p>
        </p:txBody>
      </p:sp>
      <p:sp>
        <p:nvSpPr>
          <p:cNvPr id="29" name="Shape 26"/>
          <p:cNvSpPr/>
          <p:nvPr/>
        </p:nvSpPr>
        <p:spPr>
          <a:xfrm>
            <a:off x="658368" y="4882896"/>
            <a:ext cx="10874959" cy="438912"/>
          </a:xfrm>
          <a:prstGeom prst="rect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58368" y="4882896"/>
            <a:ext cx="45720" cy="438912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77824" y="4956048"/>
            <a:ext cx="3785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1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Renombrar una variable sin cambiar su valor</a:t>
            </a:r>
            <a:endParaRPr lang="en-US" sz="1010" dirty="0"/>
          </a:p>
        </p:txBody>
      </p:sp>
      <p:sp>
        <p:nvSpPr>
          <p:cNvPr id="32" name="Text 29"/>
          <p:cNvSpPr txBox="1"/>
          <p:nvPr/>
        </p:nvSpPr>
        <p:spPr>
          <a:xfrm>
            <a:off x="4828032" y="4965192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20" b="1" spc="70" kern="0" dirty="0">
                <a:solidFill>
                  <a:srgbClr val="2E7D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REFACTOR</a:t>
            </a:r>
            <a:endParaRPr lang="en-US" sz="920" dirty="0"/>
          </a:p>
        </p:txBody>
      </p:sp>
      <p:sp>
        <p:nvSpPr>
          <p:cNvPr id="33" name="Text 30"/>
          <p:cNvSpPr txBox="1"/>
          <p:nvPr/>
        </p:nvSpPr>
        <p:spPr>
          <a:xfrm>
            <a:off x="7022592" y="4956048"/>
            <a:ext cx="4187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Mejora la lectura y conserva todas las respuestas observables.</a:t>
            </a:r>
            <a:endParaRPr lang="en-US" sz="1040" dirty="0"/>
          </a:p>
        </p:txBody>
      </p:sp>
      <p:sp>
        <p:nvSpPr>
          <p:cNvPr id="34" name="Shape 31"/>
          <p:cNvSpPr/>
          <p:nvPr/>
        </p:nvSpPr>
        <p:spPr>
          <a:xfrm>
            <a:off x="658368" y="5596128"/>
            <a:ext cx="10874959" cy="51206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950976" y="5632704"/>
            <a:ext cx="1028974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intención no basta: la clasificación depende de lo que el sistema responde después del cambio.</a:t>
            </a:r>
            <a:endParaRPr lang="en-US" sz="1310" dirty="0"/>
          </a:p>
        </p:txBody>
      </p:sp>
      <p:sp>
        <p:nvSpPr>
          <p:cNvPr id="36" name="Shape 33"/>
          <p:cNvSpPr/>
          <p:nvPr/>
        </p:nvSpPr>
        <p:spPr>
          <a:xfrm>
            <a:off x="658368" y="6245352"/>
            <a:ext cx="45720" cy="182880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804672" y="623620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i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Martin Fowler · Definition of Refactoring y Refactoring Boundary</a:t>
            </a:r>
            <a:endParaRPr lang="en-US" sz="88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4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22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· EJEMPLO DE REFACTOR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509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prueba cambia de forma y conserva la misma observación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664208"/>
            <a:ext cx="10469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4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versión extensa separa preparación, acción y aserción. Solo conviene conservarla si esos nombres aclaran la intención; más líneas no significan automáticamente mejor código.</a:t>
            </a:r>
            <a:endParaRPr lang="en-US" sz="1420" dirty="0"/>
          </a:p>
        </p:txBody>
      </p:sp>
      <p:sp>
        <p:nvSpPr>
          <p:cNvPr id="11" name="Shape 8"/>
          <p:cNvSpPr/>
          <p:nvPr/>
        </p:nvSpPr>
        <p:spPr>
          <a:xfrm>
            <a:off x="658368" y="2414016"/>
            <a:ext cx="4617720" cy="2871216"/>
          </a:xfrm>
          <a:prstGeom prst="roundRect">
            <a:avLst>
              <a:gd name="adj" fmla="val 1274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86384" y="2523744"/>
            <a:ext cx="4361688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96112" y="2596896"/>
            <a:ext cx="4142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 · versión breve</a:t>
            </a:r>
            <a:endParaRPr lang="en-US" sz="10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7824" y="2980944"/>
            <a:ext cx="4197096" cy="2121408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5449824" y="3694176"/>
            <a:ext cx="566928" cy="0"/>
          </a:xfrm>
          <a:prstGeom prst="line">
            <a:avLst/>
          </a:prstGeom>
          <a:noFill/>
          <a:ln w="12700">
            <a:solidFill>
              <a:srgbClr val="8A6A12"/>
            </a:solidFill>
            <a:prstDash val="solid"/>
            <a:headEnd type="none"/>
            <a:tailEnd type="triangle"/>
          </a:ln>
        </p:spPr>
      </p:sp>
      <p:sp>
        <p:nvSpPr>
          <p:cNvPr id="16" name="Text 12"/>
          <p:cNvSpPr txBox="1"/>
          <p:nvPr/>
        </p:nvSpPr>
        <p:spPr>
          <a:xfrm>
            <a:off x="5285232" y="3273552"/>
            <a:ext cx="896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8A6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misma respuesta</a:t>
            </a:r>
            <a:endParaRPr lang="en-US" sz="910" dirty="0"/>
          </a:p>
        </p:txBody>
      </p:sp>
      <p:sp>
        <p:nvSpPr>
          <p:cNvPr id="17" name="Shape 13"/>
          <p:cNvSpPr/>
          <p:nvPr/>
        </p:nvSpPr>
        <p:spPr>
          <a:xfrm>
            <a:off x="6199632" y="2414016"/>
            <a:ext cx="5330952" cy="2871216"/>
          </a:xfrm>
          <a:prstGeom prst="roundRect">
            <a:avLst>
              <a:gd name="adj" fmla="val 1274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327648" y="2523744"/>
            <a:ext cx="5074920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437376" y="2596896"/>
            <a:ext cx="48554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Después · preparación, acción y aserción</a:t>
            </a:r>
            <a:endParaRPr lang="en-US" sz="10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19088" y="2980944"/>
            <a:ext cx="4910328" cy="2121408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658368" y="5449824"/>
            <a:ext cx="3401568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58368" y="5449824"/>
            <a:ext cx="45720" cy="58521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859536" y="5559552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30" b="1" spc="80" kern="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ENTRADAS</a:t>
            </a:r>
            <a:endParaRPr lang="en-US" sz="830" dirty="0"/>
          </a:p>
        </p:txBody>
      </p:sp>
      <p:sp>
        <p:nvSpPr>
          <p:cNvPr id="24" name="Text 19"/>
          <p:cNvSpPr txBox="1"/>
          <p:nvPr/>
        </p:nvSpPr>
        <p:spPr>
          <a:xfrm>
            <a:off x="2286000" y="5532120"/>
            <a:ext cx="1517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31 personas · capacidad 30</a:t>
            </a:r>
            <a:endParaRPr lang="en-US" sz="1080" dirty="0"/>
          </a:p>
        </p:txBody>
      </p:sp>
      <p:sp>
        <p:nvSpPr>
          <p:cNvPr id="25" name="Shape 20"/>
          <p:cNvSpPr/>
          <p:nvPr/>
        </p:nvSpPr>
        <p:spPr>
          <a:xfrm>
            <a:off x="4425696" y="5449824"/>
            <a:ext cx="3401568" cy="585216"/>
          </a:xfrm>
          <a:prstGeom prst="rect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4425696" y="5449824"/>
            <a:ext cx="45720" cy="585216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4626864" y="5559552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30" b="1" spc="80" kern="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 ESPERADO</a:t>
            </a:r>
            <a:endParaRPr lang="en-US" sz="830" dirty="0"/>
          </a:p>
        </p:txBody>
      </p:sp>
      <p:sp>
        <p:nvSpPr>
          <p:cNvPr id="28" name="Text 23"/>
          <p:cNvSpPr txBox="1"/>
          <p:nvPr/>
        </p:nvSpPr>
        <p:spPr>
          <a:xfrm>
            <a:off x="6053328" y="5532120"/>
            <a:ext cx="1517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080" dirty="0"/>
          </a:p>
        </p:txBody>
      </p:sp>
      <p:sp>
        <p:nvSpPr>
          <p:cNvPr id="29" name="Shape 24"/>
          <p:cNvSpPr/>
          <p:nvPr/>
        </p:nvSpPr>
        <p:spPr>
          <a:xfrm>
            <a:off x="8193024" y="5449824"/>
            <a:ext cx="3401568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8193024" y="5449824"/>
            <a:ext cx="45720" cy="585216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8394192" y="5559552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30" b="1" spc="80" kern="0" dirty="0">
                <a:solidFill>
                  <a:srgbClr val="2E7D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SALIDA DE PYTEST</a:t>
            </a:r>
            <a:endParaRPr lang="en-US" sz="830" dirty="0"/>
          </a:p>
        </p:txBody>
      </p:sp>
      <p:sp>
        <p:nvSpPr>
          <p:cNvPr id="32" name="Text 27"/>
          <p:cNvSpPr txBox="1"/>
          <p:nvPr/>
        </p:nvSpPr>
        <p:spPr>
          <a:xfrm>
            <a:off x="9820656" y="5532120"/>
            <a:ext cx="1517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passed</a:t>
            </a:r>
            <a:endParaRPr lang="en-US" sz="108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4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23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· PUERTA DE SEGURIDAD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509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Cinco condiciones antes de tocar la estructura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664208"/>
            <a:ext cx="10378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4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suite verde sirve como red de seguridad cuando existe evidencia previa de que puede reaccionar y cuando las respuestas que debe conservar están claras.</a:t>
            </a:r>
            <a:endParaRPr lang="en-US" sz="1420" dirty="0"/>
          </a:p>
        </p:txBody>
      </p:sp>
      <p:sp>
        <p:nvSpPr>
          <p:cNvPr id="11" name="Shape 8"/>
          <p:cNvSpPr/>
          <p:nvPr/>
        </p:nvSpPr>
        <p:spPr>
          <a:xfrm>
            <a:off x="658368" y="2340864"/>
            <a:ext cx="6903720" cy="4663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8368" y="2340864"/>
            <a:ext cx="45720" cy="466344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59536" y="2414016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7D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1353312" y="2414016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Verde</a:t>
            </a:r>
            <a:endParaRPr lang="en-US" sz="1120" dirty="0"/>
          </a:p>
        </p:txBody>
      </p:sp>
      <p:sp>
        <p:nvSpPr>
          <p:cNvPr id="15" name="Text 12"/>
          <p:cNvSpPr txBox="1"/>
          <p:nvPr/>
        </p:nvSpPr>
        <p:spPr>
          <a:xfrm>
            <a:off x="3383280" y="2414016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pruebas relevantes pasan antes del cambio estructural.</a:t>
            </a:r>
            <a:endParaRPr lang="en-US" sz="1030" dirty="0"/>
          </a:p>
        </p:txBody>
      </p:sp>
      <p:sp>
        <p:nvSpPr>
          <p:cNvPr id="16" name="Shape 13"/>
          <p:cNvSpPr/>
          <p:nvPr/>
        </p:nvSpPr>
        <p:spPr>
          <a:xfrm>
            <a:off x="658368" y="2898648"/>
            <a:ext cx="6903720" cy="466344"/>
          </a:xfrm>
          <a:prstGeom prst="rect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58368" y="2898648"/>
            <a:ext cx="45720" cy="466344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59536" y="297180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318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1353312" y="2971800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Sensibilidad conocida</a:t>
            </a:r>
            <a:endParaRPr lang="en-US" sz="1120" dirty="0"/>
          </a:p>
        </p:txBody>
      </p:sp>
      <p:sp>
        <p:nvSpPr>
          <p:cNvPr id="20" name="Text 17"/>
          <p:cNvSpPr txBox="1"/>
          <p:nvPr/>
        </p:nvSpPr>
        <p:spPr>
          <a:xfrm>
            <a:off x="3383280" y="2971800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prueba relacionada ya fue observada en rojo por la causa prevista.</a:t>
            </a:r>
            <a:endParaRPr lang="en-US" sz="1030" dirty="0"/>
          </a:p>
        </p:txBody>
      </p:sp>
      <p:sp>
        <p:nvSpPr>
          <p:cNvPr id="21" name="Shape 18"/>
          <p:cNvSpPr/>
          <p:nvPr/>
        </p:nvSpPr>
        <p:spPr>
          <a:xfrm>
            <a:off x="658368" y="3456432"/>
            <a:ext cx="6903720" cy="4663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58368" y="3456432"/>
            <a:ext cx="45720" cy="46634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59536" y="3529584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1353312" y="3529584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Respuestas fijadas</a:t>
            </a:r>
            <a:endParaRPr lang="en-US" sz="1120" dirty="0"/>
          </a:p>
        </p:txBody>
      </p:sp>
      <p:sp>
        <p:nvSpPr>
          <p:cNvPr id="25" name="Text 22"/>
          <p:cNvSpPr txBox="1"/>
          <p:nvPr/>
        </p:nvSpPr>
        <p:spPr>
          <a:xfrm>
            <a:off x="3383280" y="3529584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pueden nombrar las respuestas que deben permanecer iguales.</a:t>
            </a:r>
            <a:endParaRPr lang="en-US" sz="1030" dirty="0"/>
          </a:p>
        </p:txBody>
      </p:sp>
      <p:sp>
        <p:nvSpPr>
          <p:cNvPr id="26" name="Shape 23"/>
          <p:cNvSpPr/>
          <p:nvPr/>
        </p:nvSpPr>
        <p:spPr>
          <a:xfrm>
            <a:off x="658368" y="4014216"/>
            <a:ext cx="6903720" cy="466344"/>
          </a:xfrm>
          <a:prstGeom prst="rect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58368" y="4014216"/>
            <a:ext cx="45720" cy="466344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59536" y="4087368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A6A1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1800" dirty="0"/>
          </a:p>
        </p:txBody>
      </p:sp>
      <p:sp>
        <p:nvSpPr>
          <p:cNvPr id="29" name="Text 26"/>
          <p:cNvSpPr txBox="1"/>
          <p:nvPr/>
        </p:nvSpPr>
        <p:spPr>
          <a:xfrm>
            <a:off x="1353312" y="4087368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Paso pequeño</a:t>
            </a:r>
            <a:endParaRPr lang="en-US" sz="1120" dirty="0"/>
          </a:p>
        </p:txBody>
      </p:sp>
      <p:sp>
        <p:nvSpPr>
          <p:cNvPr id="30" name="Text 27"/>
          <p:cNvSpPr txBox="1"/>
          <p:nvPr/>
        </p:nvSpPr>
        <p:spPr>
          <a:xfrm>
            <a:off x="3383280" y="4087368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realiza una transformación estructural por vez.</a:t>
            </a:r>
            <a:endParaRPr lang="en-US" sz="1030" dirty="0"/>
          </a:p>
        </p:txBody>
      </p:sp>
      <p:sp>
        <p:nvSpPr>
          <p:cNvPr id="31" name="Shape 28"/>
          <p:cNvSpPr/>
          <p:nvPr/>
        </p:nvSpPr>
        <p:spPr>
          <a:xfrm>
            <a:off x="658368" y="4572000"/>
            <a:ext cx="6903720" cy="4663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58368" y="4572000"/>
            <a:ext cx="45720" cy="466344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859536" y="464515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7D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lang="en-US" sz="1800" dirty="0"/>
          </a:p>
        </p:txBody>
      </p:sp>
      <p:sp>
        <p:nvSpPr>
          <p:cNvPr id="34" name="Text 31"/>
          <p:cNvSpPr txBox="1"/>
          <p:nvPr/>
        </p:nvSpPr>
        <p:spPr>
          <a:xfrm>
            <a:off x="1353312" y="4645152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Verificación inmediata</a:t>
            </a:r>
            <a:endParaRPr lang="en-US" sz="1120" dirty="0"/>
          </a:p>
        </p:txBody>
      </p:sp>
      <p:sp>
        <p:nvSpPr>
          <p:cNvPr id="35" name="Text 32"/>
          <p:cNvSpPr txBox="1"/>
          <p:nvPr/>
        </p:nvSpPr>
        <p:spPr>
          <a:xfrm>
            <a:off x="3383280" y="4645152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suite se ejecuta después de cada transformación.</a:t>
            </a:r>
            <a:endParaRPr lang="en-US" sz="1030" dirty="0"/>
          </a:p>
        </p:txBody>
      </p:sp>
      <p:sp>
        <p:nvSpPr>
          <p:cNvPr id="36" name="Shape 33"/>
          <p:cNvSpPr/>
          <p:nvPr/>
        </p:nvSpPr>
        <p:spPr>
          <a:xfrm>
            <a:off x="7882128" y="2340864"/>
            <a:ext cx="3648456" cy="128016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8156448" y="2542032"/>
            <a:ext cx="3072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spc="13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PUEDE TERMINAR SIN CAMBIOS</a:t>
            </a:r>
            <a:endParaRPr lang="en-US" sz="960" dirty="0"/>
          </a:p>
        </p:txBody>
      </p:sp>
      <p:sp>
        <p:nvSpPr>
          <p:cNvPr id="38" name="Text 35"/>
          <p:cNvSpPr txBox="1"/>
          <p:nvPr/>
        </p:nvSpPr>
        <p:spPr>
          <a:xfrm>
            <a:off x="8156448" y="2816352"/>
            <a:ext cx="30906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9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función de una línea sin duplicación puede no necesitar refactor todavía. La fase ofrece una oportunidad; no exige crear una estructura más general.</a:t>
            </a:r>
            <a:endParaRPr lang="en-US" sz="1090" dirty="0"/>
          </a:p>
        </p:txBody>
      </p:sp>
      <p:sp>
        <p:nvSpPr>
          <p:cNvPr id="39" name="Shape 36"/>
          <p:cNvSpPr/>
          <p:nvPr/>
        </p:nvSpPr>
        <p:spPr>
          <a:xfrm>
            <a:off x="7882128" y="3730752"/>
            <a:ext cx="3648456" cy="13990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156448" y="393192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spc="130" kern="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EL CAMBIO LO PROPONE UN AGENTE</a:t>
            </a:r>
            <a:endParaRPr lang="en-US" sz="960" dirty="0"/>
          </a:p>
        </p:txBody>
      </p:sp>
      <p:sp>
        <p:nvSpPr>
          <p:cNvPr id="41" name="Text 38"/>
          <p:cNvSpPr txBox="1"/>
          <p:nvPr/>
        </p:nvSpPr>
        <p:spPr>
          <a:xfrm>
            <a:off x="8156448" y="4224528"/>
            <a:ext cx="3090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validación humana revisa tres hechos. El diff, o comparación de líneas modificadas, no agrega comportamiento. La prueba que mostró rojo sigue presente y pytest terminó con código 0, es decir, sin error.</a:t>
            </a:r>
            <a:endParaRPr lang="en-US" sz="1060" dirty="0"/>
          </a:p>
        </p:txBody>
      </p:sp>
      <p:sp>
        <p:nvSpPr>
          <p:cNvPr id="42" name="Shape 39"/>
          <p:cNvSpPr/>
          <p:nvPr/>
        </p:nvSpPr>
        <p:spPr>
          <a:xfrm>
            <a:off x="658368" y="5449824"/>
            <a:ext cx="10874959" cy="53035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950976" y="5486400"/>
            <a:ext cx="102897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Rojo conocido  →  diff mínimo  →  verde  →  refactor opcional  →  verde</a:t>
            </a:r>
            <a:endParaRPr lang="en-US" sz="134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4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24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· CIERRE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509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Tres preguntas antes de la segunda vuelta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664208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4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Tres preguntas para comprobar la idea central antes de seguir.</a:t>
            </a:r>
            <a:endParaRPr lang="en-US" sz="1420" dirty="0"/>
          </a:p>
        </p:txBody>
      </p:sp>
      <p:sp>
        <p:nvSpPr>
          <p:cNvPr id="11" name="Shape 8"/>
          <p:cNvSpPr/>
          <p:nvPr/>
        </p:nvSpPr>
        <p:spPr>
          <a:xfrm>
            <a:off x="658368" y="2139696"/>
            <a:ext cx="10874959" cy="1097280"/>
          </a:xfrm>
          <a:prstGeom prst="rect">
            <a:avLst/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8368" y="2139696"/>
            <a:ext cx="54864" cy="1097280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14400" y="2286000"/>
            <a:ext cx="493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318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1591056" y="2267712"/>
            <a:ext cx="96496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3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¿Por qué return False es aceptable en esta vuelta aunque todavía no sea la solución final?</a:t>
            </a:r>
            <a:endParaRPr lang="en-US" sz="1340" dirty="0"/>
          </a:p>
        </p:txBody>
      </p:sp>
      <p:sp>
        <p:nvSpPr>
          <p:cNvPr id="15" name="Shape 12"/>
          <p:cNvSpPr/>
          <p:nvPr/>
        </p:nvSpPr>
        <p:spPr>
          <a:xfrm>
            <a:off x="1591056" y="2798064"/>
            <a:ext cx="9649663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16" name="Text 13"/>
          <p:cNvSpPr txBox="1"/>
          <p:nvPr/>
        </p:nvSpPr>
        <p:spPr>
          <a:xfrm>
            <a:off x="1591056" y="2889504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spc="110" kern="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</a:t>
            </a:r>
            <a:endParaRPr lang="en-US" sz="840" dirty="0"/>
          </a:p>
        </p:txBody>
      </p:sp>
      <p:sp>
        <p:nvSpPr>
          <p:cNvPr id="17" name="Text 14"/>
          <p:cNvSpPr txBox="1"/>
          <p:nvPr/>
        </p:nvSpPr>
        <p:spPr>
          <a:xfrm>
            <a:off x="2286000" y="2862072"/>
            <a:ext cx="89547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40" i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 lo que exige el único ejemplo actual de lo que se supone informalmente sobre el problema real.</a:t>
            </a:r>
            <a:endParaRPr lang="en-US" sz="1140" dirty="0"/>
          </a:p>
        </p:txBody>
      </p:sp>
      <p:sp>
        <p:nvSpPr>
          <p:cNvPr id="18" name="Shape 15"/>
          <p:cNvSpPr/>
          <p:nvPr/>
        </p:nvSpPr>
        <p:spPr>
          <a:xfrm>
            <a:off x="658368" y="3364992"/>
            <a:ext cx="10874959" cy="1097280"/>
          </a:xfrm>
          <a:prstGeom prst="rect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58368" y="3364992"/>
            <a:ext cx="54864" cy="109728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14400" y="3511296"/>
            <a:ext cx="493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2600" dirty="0"/>
          </a:p>
        </p:txBody>
      </p:sp>
      <p:sp>
        <p:nvSpPr>
          <p:cNvPr id="21" name="Text 18"/>
          <p:cNvSpPr txBox="1"/>
          <p:nvPr/>
        </p:nvSpPr>
        <p:spPr>
          <a:xfrm>
            <a:off x="1591056" y="3493008"/>
            <a:ext cx="96496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3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¿Por qué cambiar a return personas &lt;= capacidad todavía no cuenta como refactor?</a:t>
            </a:r>
            <a:endParaRPr lang="en-US" sz="1340" dirty="0"/>
          </a:p>
        </p:txBody>
      </p:sp>
      <p:sp>
        <p:nvSpPr>
          <p:cNvPr id="22" name="Shape 19"/>
          <p:cNvSpPr/>
          <p:nvPr/>
        </p:nvSpPr>
        <p:spPr>
          <a:xfrm>
            <a:off x="1591056" y="4023360"/>
            <a:ext cx="9649663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23" name="Text 20"/>
          <p:cNvSpPr txBox="1"/>
          <p:nvPr/>
        </p:nvSpPr>
        <p:spPr>
          <a:xfrm>
            <a:off x="1591056" y="411480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spc="110" kern="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</a:t>
            </a:r>
            <a:endParaRPr lang="en-US" sz="840" dirty="0"/>
          </a:p>
        </p:txBody>
      </p:sp>
      <p:sp>
        <p:nvSpPr>
          <p:cNvPr id="24" name="Text 21"/>
          <p:cNvSpPr txBox="1"/>
          <p:nvPr/>
        </p:nvSpPr>
        <p:spPr>
          <a:xfrm>
            <a:off x="2286000" y="4087368"/>
            <a:ext cx="89547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40" i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 mentalmente entradas distintas de 31/30 y observa si alguna respuesta cambia.</a:t>
            </a:r>
            <a:endParaRPr lang="en-US" sz="1140" dirty="0"/>
          </a:p>
        </p:txBody>
      </p:sp>
      <p:sp>
        <p:nvSpPr>
          <p:cNvPr id="25" name="Shape 22"/>
          <p:cNvSpPr/>
          <p:nvPr/>
        </p:nvSpPr>
        <p:spPr>
          <a:xfrm>
            <a:off x="658368" y="4590288"/>
            <a:ext cx="10874959" cy="1097280"/>
          </a:xfrm>
          <a:prstGeom prst="rect">
            <a:avLst/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58368" y="4590288"/>
            <a:ext cx="54864" cy="1097280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14400" y="4736592"/>
            <a:ext cx="493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A6A1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2600" dirty="0"/>
          </a:p>
        </p:txBody>
      </p:sp>
      <p:sp>
        <p:nvSpPr>
          <p:cNvPr id="28" name="Text 25"/>
          <p:cNvSpPr txBox="1"/>
          <p:nvPr/>
        </p:nvSpPr>
        <p:spPr>
          <a:xfrm>
            <a:off x="1591056" y="4718304"/>
            <a:ext cx="96496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3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evidencia convierte el verde actual en una red más confiable que una prueba nacida en verde?</a:t>
            </a:r>
            <a:endParaRPr lang="en-US" sz="1340" dirty="0"/>
          </a:p>
        </p:txBody>
      </p:sp>
      <p:sp>
        <p:nvSpPr>
          <p:cNvPr id="29" name="Shape 26"/>
          <p:cNvSpPr/>
          <p:nvPr/>
        </p:nvSpPr>
        <p:spPr>
          <a:xfrm>
            <a:off x="1591056" y="5248656"/>
            <a:ext cx="9649663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30" name="Text 27"/>
          <p:cNvSpPr txBox="1"/>
          <p:nvPr/>
        </p:nvSpPr>
        <p:spPr>
          <a:xfrm>
            <a:off x="1591056" y="5340096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spc="110" kern="0" dirty="0">
                <a:solidFill>
                  <a:srgbClr val="8A6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</a:t>
            </a:r>
            <a:endParaRPr lang="en-US" sz="840" dirty="0"/>
          </a:p>
        </p:txBody>
      </p:sp>
      <p:sp>
        <p:nvSpPr>
          <p:cNvPr id="31" name="Text 28"/>
          <p:cNvSpPr txBox="1"/>
          <p:nvPr/>
        </p:nvSpPr>
        <p:spPr>
          <a:xfrm>
            <a:off x="2286000" y="5312664"/>
            <a:ext cx="89547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40" i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Recupera la salida assert True is False observada antes del cambio de producción.</a:t>
            </a:r>
            <a:endParaRPr lang="en-US" sz="114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4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· CONTRASTE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509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 que tenía que aparecer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664208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4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respuestas conservan el mismo orden y color que las preguntas.</a:t>
            </a:r>
            <a:endParaRPr lang="en-US" sz="1420" dirty="0"/>
          </a:p>
        </p:txBody>
      </p:sp>
      <p:sp>
        <p:nvSpPr>
          <p:cNvPr id="11" name="Shape 8"/>
          <p:cNvSpPr/>
          <p:nvPr/>
        </p:nvSpPr>
        <p:spPr>
          <a:xfrm>
            <a:off x="658368" y="2139696"/>
            <a:ext cx="10874959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8368" y="2139696"/>
            <a:ext cx="54864" cy="1243584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96112" y="2304288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B318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2700" dirty="0"/>
          </a:p>
        </p:txBody>
      </p:sp>
      <p:sp>
        <p:nvSpPr>
          <p:cNvPr id="14" name="Text 11"/>
          <p:cNvSpPr txBox="1"/>
          <p:nvPr/>
        </p:nvSpPr>
        <p:spPr>
          <a:xfrm>
            <a:off x="1591056" y="2249424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30" b="1" spc="100" kern="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SATISFACE EXACTAMENTE LA PRUEBA ACTUAL</a:t>
            </a:r>
            <a:endParaRPr lang="en-US" sz="830" dirty="0"/>
          </a:p>
        </p:txBody>
      </p:sp>
      <p:sp>
        <p:nvSpPr>
          <p:cNvPr id="15" name="Text 12"/>
          <p:cNvSpPr txBox="1"/>
          <p:nvPr/>
        </p:nvSpPr>
        <p:spPr>
          <a:xfrm>
            <a:off x="1591056" y="2468880"/>
            <a:ext cx="964966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único ejemplo exige rechazar 31/30. La constante False cumple ese caso sin adelantar respuestas que ninguna prueba solicitó.</a:t>
            </a:r>
            <a:endParaRPr lang="en-US" sz="1240" dirty="0"/>
          </a:p>
        </p:txBody>
      </p:sp>
      <p:sp>
        <p:nvSpPr>
          <p:cNvPr id="16" name="Shape 13"/>
          <p:cNvSpPr/>
          <p:nvPr/>
        </p:nvSpPr>
        <p:spPr>
          <a:xfrm>
            <a:off x="1591056" y="2871216"/>
            <a:ext cx="9649663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17" name="Text 14"/>
          <p:cNvSpPr txBox="1"/>
          <p:nvPr/>
        </p:nvSpPr>
        <p:spPr>
          <a:xfrm>
            <a:off x="1591056" y="2962656"/>
            <a:ext cx="1188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90" kern="0" dirty="0">
                <a:solidFill>
                  <a:srgbClr val="2E7D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REVELA</a:t>
            </a:r>
            <a:endParaRPr lang="en-US" sz="800" dirty="0"/>
          </a:p>
        </p:txBody>
      </p:sp>
      <p:sp>
        <p:nvSpPr>
          <p:cNvPr id="18" name="Text 15"/>
          <p:cNvSpPr txBox="1"/>
          <p:nvPr/>
        </p:nvSpPr>
        <p:spPr>
          <a:xfrm>
            <a:off x="2743200" y="293522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paso mínimo limita el comportamiento nuevo a la evidencia disponible.</a:t>
            </a:r>
            <a:endParaRPr lang="en-US" sz="1020" dirty="0"/>
          </a:p>
        </p:txBody>
      </p:sp>
      <p:sp>
        <p:nvSpPr>
          <p:cNvPr id="19" name="Text 16"/>
          <p:cNvSpPr txBox="1"/>
          <p:nvPr/>
        </p:nvSpPr>
        <p:spPr>
          <a:xfrm>
            <a:off x="6784848" y="2962656"/>
            <a:ext cx="1325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90" kern="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 FRECUENTE</a:t>
            </a:r>
            <a:endParaRPr lang="en-US" sz="800" dirty="0"/>
          </a:p>
        </p:txBody>
      </p:sp>
      <p:sp>
        <p:nvSpPr>
          <p:cNvPr id="20" name="Text 17"/>
          <p:cNvSpPr txBox="1"/>
          <p:nvPr/>
        </p:nvSpPr>
        <p:spPr>
          <a:xfrm>
            <a:off x="8138160" y="2935224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20" i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«El verde mínimo es código malo o incompleto por accidente.»</a:t>
            </a:r>
            <a:endParaRPr lang="en-US" sz="1020" dirty="0"/>
          </a:p>
        </p:txBody>
      </p:sp>
      <p:sp>
        <p:nvSpPr>
          <p:cNvPr id="21" name="Shape 18"/>
          <p:cNvSpPr/>
          <p:nvPr/>
        </p:nvSpPr>
        <p:spPr>
          <a:xfrm>
            <a:off x="658368" y="3493008"/>
            <a:ext cx="10874959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58368" y="3493008"/>
            <a:ext cx="54864" cy="124358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96112" y="3657600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2700" dirty="0"/>
          </a:p>
        </p:txBody>
      </p:sp>
      <p:sp>
        <p:nvSpPr>
          <p:cNvPr id="24" name="Text 21"/>
          <p:cNvSpPr txBox="1"/>
          <p:nvPr/>
        </p:nvSpPr>
        <p:spPr>
          <a:xfrm>
            <a:off x="1591056" y="3602736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30" b="1" spc="100" kern="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CAMBIA RESPUESTAS OBSERVABLES</a:t>
            </a:r>
            <a:endParaRPr lang="en-US" sz="830" dirty="0"/>
          </a:p>
        </p:txBody>
      </p:sp>
      <p:sp>
        <p:nvSpPr>
          <p:cNvPr id="25" name="Text 22"/>
          <p:cNvSpPr txBox="1"/>
          <p:nvPr/>
        </p:nvSpPr>
        <p:spPr>
          <a:xfrm>
            <a:off x="1591056" y="3822192"/>
            <a:ext cx="964966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comparación también acepta 30/30 y 1/30. Es comportamiento nuevo, aunque para el dominio parezca obvio.</a:t>
            </a:r>
            <a:endParaRPr lang="en-US" sz="1240" dirty="0"/>
          </a:p>
        </p:txBody>
      </p:sp>
      <p:sp>
        <p:nvSpPr>
          <p:cNvPr id="26" name="Shape 23"/>
          <p:cNvSpPr/>
          <p:nvPr/>
        </p:nvSpPr>
        <p:spPr>
          <a:xfrm>
            <a:off x="1591056" y="4224528"/>
            <a:ext cx="9649663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27" name="Text 24"/>
          <p:cNvSpPr txBox="1"/>
          <p:nvPr/>
        </p:nvSpPr>
        <p:spPr>
          <a:xfrm>
            <a:off x="1591056" y="4315968"/>
            <a:ext cx="1188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90" kern="0" dirty="0">
                <a:solidFill>
                  <a:srgbClr val="2E7D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REVELA</a:t>
            </a:r>
            <a:endParaRPr lang="en-US" sz="800" dirty="0"/>
          </a:p>
        </p:txBody>
      </p:sp>
      <p:sp>
        <p:nvSpPr>
          <p:cNvPr id="28" name="Text 25"/>
          <p:cNvSpPr txBox="1"/>
          <p:nvPr/>
        </p:nvSpPr>
        <p:spPr>
          <a:xfrm>
            <a:off x="2743200" y="428853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refactor conserva resultados; esta expresión generaliza la regla.</a:t>
            </a:r>
            <a:endParaRPr lang="en-US" sz="1020" dirty="0"/>
          </a:p>
        </p:txBody>
      </p:sp>
      <p:sp>
        <p:nvSpPr>
          <p:cNvPr id="29" name="Text 26"/>
          <p:cNvSpPr txBox="1"/>
          <p:nvPr/>
        </p:nvSpPr>
        <p:spPr>
          <a:xfrm>
            <a:off x="6784848" y="4315968"/>
            <a:ext cx="1325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90" kern="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 FRECUENTE</a:t>
            </a:r>
            <a:endParaRPr lang="en-US" sz="800" dirty="0"/>
          </a:p>
        </p:txBody>
      </p:sp>
      <p:sp>
        <p:nvSpPr>
          <p:cNvPr id="30" name="Text 27"/>
          <p:cNvSpPr txBox="1"/>
          <p:nvPr/>
        </p:nvSpPr>
        <p:spPr>
          <a:xfrm>
            <a:off x="8138160" y="4288536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20" i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«Si el código queda más correcto, entonces fue refactor.»</a:t>
            </a:r>
            <a:endParaRPr lang="en-US" sz="1020" dirty="0"/>
          </a:p>
        </p:txBody>
      </p:sp>
      <p:sp>
        <p:nvSpPr>
          <p:cNvPr id="31" name="Shape 28"/>
          <p:cNvSpPr/>
          <p:nvPr/>
        </p:nvSpPr>
        <p:spPr>
          <a:xfrm>
            <a:off x="658368" y="4846320"/>
            <a:ext cx="10874959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58368" y="4846320"/>
            <a:ext cx="54864" cy="1243584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896112" y="5010912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8A6A1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2700" dirty="0"/>
          </a:p>
        </p:txBody>
      </p:sp>
      <p:sp>
        <p:nvSpPr>
          <p:cNvPr id="34" name="Text 31"/>
          <p:cNvSpPr txBox="1"/>
          <p:nvPr/>
        </p:nvSpPr>
        <p:spPr>
          <a:xfrm>
            <a:off x="1591056" y="495604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30" b="1" spc="100" kern="0" dirty="0">
                <a:solidFill>
                  <a:srgbClr val="8A6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MISMA PRUEBA YA REACCIONÓ EN ROJO</a:t>
            </a:r>
            <a:endParaRPr lang="en-US" sz="830" dirty="0"/>
          </a:p>
        </p:txBody>
      </p:sp>
      <p:sp>
        <p:nvSpPr>
          <p:cNvPr id="35" name="Text 32"/>
          <p:cNvSpPr txBox="1"/>
          <p:nvPr/>
        </p:nvSpPr>
        <p:spPr>
          <a:xfrm>
            <a:off x="1591056" y="5175504"/>
            <a:ext cx="964966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 de return False, pytest ejecutó el assert y mostró True is False. El verde apareció después del cambio de producción.</a:t>
            </a:r>
            <a:endParaRPr lang="en-US" sz="1240" dirty="0"/>
          </a:p>
        </p:txBody>
      </p:sp>
      <p:sp>
        <p:nvSpPr>
          <p:cNvPr id="36" name="Shape 33"/>
          <p:cNvSpPr/>
          <p:nvPr/>
        </p:nvSpPr>
        <p:spPr>
          <a:xfrm>
            <a:off x="1591056" y="5577840"/>
            <a:ext cx="9649663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37" name="Text 34"/>
          <p:cNvSpPr txBox="1"/>
          <p:nvPr/>
        </p:nvSpPr>
        <p:spPr>
          <a:xfrm>
            <a:off x="1591056" y="5669280"/>
            <a:ext cx="1188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90" kern="0" dirty="0">
                <a:solidFill>
                  <a:srgbClr val="2E7D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REVELA</a:t>
            </a:r>
            <a:endParaRPr lang="en-US" sz="800" dirty="0"/>
          </a:p>
        </p:txBody>
      </p:sp>
      <p:sp>
        <p:nvSpPr>
          <p:cNvPr id="38" name="Text 35"/>
          <p:cNvSpPr txBox="1"/>
          <p:nvPr/>
        </p:nvSpPr>
        <p:spPr>
          <a:xfrm>
            <a:off x="2743200" y="564184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Existe una relación observada entre el cambio y el resultado de la prueba.</a:t>
            </a:r>
            <a:endParaRPr lang="en-US" sz="1020" dirty="0"/>
          </a:p>
        </p:txBody>
      </p:sp>
      <p:sp>
        <p:nvSpPr>
          <p:cNvPr id="39" name="Text 36"/>
          <p:cNvSpPr txBox="1"/>
          <p:nvPr/>
        </p:nvSpPr>
        <p:spPr>
          <a:xfrm>
            <a:off x="6784848" y="5669280"/>
            <a:ext cx="1325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90" kern="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 FRECUENTE</a:t>
            </a:r>
            <a:endParaRPr lang="en-US" sz="800" dirty="0"/>
          </a:p>
        </p:txBody>
      </p:sp>
      <p:sp>
        <p:nvSpPr>
          <p:cNvPr id="40" name="Text 37"/>
          <p:cNvSpPr txBox="1"/>
          <p:nvPr/>
        </p:nvSpPr>
        <p:spPr>
          <a:xfrm>
            <a:off x="8138160" y="5641848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20" i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«Una prueba verde siempre es una red suficiente.»</a:t>
            </a:r>
            <a:endParaRPr lang="en-US" sz="102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C:\Users\Diego Obando\dev\pro402-taller-de-testing-2026\clases\semana-04\02\ppt\source\assets\logo-aie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307150"/>
            <a:ext cx="1335024" cy="46469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26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144475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spc="13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DE 4 · 30 MINUTOS</a:t>
            </a:r>
            <a:endParaRPr lang="en-US" sz="96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1847088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Tres vueltas, una regla que emerge</a:t>
            </a:r>
            <a:endParaRPr lang="en-US" sz="4100" dirty="0"/>
          </a:p>
        </p:txBody>
      </p:sp>
      <p:sp>
        <p:nvSpPr>
          <p:cNvPr id="10" name="Shape 7"/>
          <p:cNvSpPr/>
          <p:nvPr/>
        </p:nvSpPr>
        <p:spPr>
          <a:xfrm>
            <a:off x="658368" y="3017520"/>
            <a:ext cx="3291840" cy="0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  <a:headEnd type="none"/>
            <a:tailEnd type="none"/>
          </a:ln>
        </p:spPr>
      </p:sp>
      <p:sp>
        <p:nvSpPr>
          <p:cNvPr id="11" name="Text 8"/>
          <p:cNvSpPr txBox="1"/>
          <p:nvPr/>
        </p:nvSpPr>
        <p:spPr>
          <a:xfrm>
            <a:off x="658368" y="3273552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i="1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ejemplo contradice una versión todavía demasiado simple. La implementación crece solo lo necesario para explicar la evidencia acumulada.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658368" y="4645152"/>
            <a:ext cx="3401568" cy="877824"/>
          </a:xfrm>
          <a:prstGeom prst="rect">
            <a:avLst/>
          </a:prstGeom>
          <a:solidFill>
            <a:srgbClr val="1D3A57"/>
          </a:solidFill>
          <a:ln w="12700">
            <a:solidFill>
              <a:srgbClr val="1D3A5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2960" y="4828032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2300" dirty="0"/>
          </a:p>
        </p:txBody>
      </p:sp>
      <p:sp>
        <p:nvSpPr>
          <p:cNvPr id="14" name="Text 11"/>
          <p:cNvSpPr txBox="1"/>
          <p:nvPr/>
        </p:nvSpPr>
        <p:spPr>
          <a:xfrm>
            <a:off x="1371600" y="473659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 / 30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1371600" y="5029200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6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rechazar el sobrecupo</a:t>
            </a:r>
            <a:endParaRPr lang="en-US" sz="1060" dirty="0"/>
          </a:p>
        </p:txBody>
      </p:sp>
      <p:sp>
        <p:nvSpPr>
          <p:cNvPr id="16" name="Shape 13"/>
          <p:cNvSpPr/>
          <p:nvPr/>
        </p:nvSpPr>
        <p:spPr>
          <a:xfrm>
            <a:off x="4425696" y="4645152"/>
            <a:ext cx="3401568" cy="877824"/>
          </a:xfrm>
          <a:prstGeom prst="rect">
            <a:avLst/>
          </a:prstGeom>
          <a:solidFill>
            <a:srgbClr val="1D3A57"/>
          </a:solidFill>
          <a:ln w="12700">
            <a:solidFill>
              <a:srgbClr val="1D3A5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590288" y="4828032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2300" dirty="0"/>
          </a:p>
        </p:txBody>
      </p:sp>
      <p:sp>
        <p:nvSpPr>
          <p:cNvPr id="18" name="Text 15"/>
          <p:cNvSpPr txBox="1"/>
          <p:nvPr/>
        </p:nvSpPr>
        <p:spPr>
          <a:xfrm>
            <a:off x="5138928" y="473659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 / 30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5138928" y="5029200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6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aceptar el límite exacto</a:t>
            </a:r>
            <a:endParaRPr lang="en-US" sz="1060" dirty="0"/>
          </a:p>
        </p:txBody>
      </p:sp>
      <p:sp>
        <p:nvSpPr>
          <p:cNvPr id="20" name="Shape 17"/>
          <p:cNvSpPr/>
          <p:nvPr/>
        </p:nvSpPr>
        <p:spPr>
          <a:xfrm>
            <a:off x="8193024" y="4645152"/>
            <a:ext cx="3401568" cy="877824"/>
          </a:xfrm>
          <a:prstGeom prst="rect">
            <a:avLst/>
          </a:prstGeom>
          <a:solidFill>
            <a:srgbClr val="1D3A57"/>
          </a:solidFill>
          <a:ln w="12700">
            <a:solidFill>
              <a:srgbClr val="1D3A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357616" y="4828032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3FAE6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2300" dirty="0"/>
          </a:p>
        </p:txBody>
      </p:sp>
      <p:sp>
        <p:nvSpPr>
          <p:cNvPr id="22" name="Text 19"/>
          <p:cNvSpPr txBox="1"/>
          <p:nvPr/>
        </p:nvSpPr>
        <p:spPr>
          <a:xfrm>
            <a:off x="8906256" y="473659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/ 30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8906256" y="5029200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6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exigir al menos una persona</a:t>
            </a:r>
            <a:endParaRPr lang="en-US" sz="106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4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27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MÉTODO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509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Triangulación: otro ejemplo obliga a abandonar la constante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664208"/>
            <a:ext cx="10469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4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segundo ejemplo varía un dato significativo. Si la misma respuesta constante ya no puede satisfacer ambos casos, el código debe generalizarse lo suficiente para explicarlos.</a:t>
            </a:r>
            <a:endParaRPr lang="en-US" sz="1420" dirty="0"/>
          </a:p>
        </p:txBody>
      </p:sp>
      <p:sp>
        <p:nvSpPr>
          <p:cNvPr id="11" name="Shape 8"/>
          <p:cNvSpPr/>
          <p:nvPr/>
        </p:nvSpPr>
        <p:spPr>
          <a:xfrm>
            <a:off x="658368" y="2340864"/>
            <a:ext cx="10874959" cy="65836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32688" y="254203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FRONTERA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2048256" y="2487168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Valor donde la respuesta esperada cambia. En esta regla, 30/30 pertenece al lado aceptado y 31/30 al rechazado.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658368" y="3310128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30" b="1" spc="80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VUELTA</a:t>
            </a:r>
            <a:endParaRPr lang="en-US" sz="830" dirty="0"/>
          </a:p>
        </p:txBody>
      </p:sp>
      <p:sp>
        <p:nvSpPr>
          <p:cNvPr id="15" name="Text 12"/>
          <p:cNvSpPr txBox="1"/>
          <p:nvPr/>
        </p:nvSpPr>
        <p:spPr>
          <a:xfrm>
            <a:off x="1499616" y="3310128"/>
            <a:ext cx="1078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30" b="1" spc="80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EJEMPLO</a:t>
            </a:r>
            <a:endParaRPr lang="en-US" sz="830" dirty="0"/>
          </a:p>
        </p:txBody>
      </p:sp>
      <p:sp>
        <p:nvSpPr>
          <p:cNvPr id="16" name="Text 13"/>
          <p:cNvSpPr txBox="1"/>
          <p:nvPr/>
        </p:nvSpPr>
        <p:spPr>
          <a:xfrm>
            <a:off x="2688336" y="331012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30" b="1" spc="80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ESPERADO</a:t>
            </a:r>
            <a:endParaRPr lang="en-US" sz="830" dirty="0"/>
          </a:p>
        </p:txBody>
      </p:sp>
      <p:sp>
        <p:nvSpPr>
          <p:cNvPr id="17" name="Text 14"/>
          <p:cNvSpPr txBox="1"/>
          <p:nvPr/>
        </p:nvSpPr>
        <p:spPr>
          <a:xfrm>
            <a:off x="3904488" y="3310128"/>
            <a:ext cx="1847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30" b="1" spc="80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ROJO OBSERVADO</a:t>
            </a:r>
            <a:endParaRPr lang="en-US" sz="830" dirty="0"/>
          </a:p>
        </p:txBody>
      </p:sp>
      <p:sp>
        <p:nvSpPr>
          <p:cNvPr id="18" name="Text 15"/>
          <p:cNvSpPr txBox="1"/>
          <p:nvPr/>
        </p:nvSpPr>
        <p:spPr>
          <a:xfrm>
            <a:off x="5888736" y="3310128"/>
            <a:ext cx="2258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30" b="1" spc="80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VERDE MÍNIMO</a:t>
            </a:r>
            <a:endParaRPr lang="en-US" sz="830" dirty="0"/>
          </a:p>
        </p:txBody>
      </p:sp>
      <p:sp>
        <p:nvSpPr>
          <p:cNvPr id="19" name="Text 16"/>
          <p:cNvSpPr txBox="1"/>
          <p:nvPr/>
        </p:nvSpPr>
        <p:spPr>
          <a:xfrm>
            <a:off x="8293608" y="3310128"/>
            <a:ext cx="3236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30" b="1" spc="80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DECISIÓN</a:t>
            </a:r>
            <a:endParaRPr lang="en-US" sz="830" dirty="0"/>
          </a:p>
        </p:txBody>
      </p:sp>
      <p:sp>
        <p:nvSpPr>
          <p:cNvPr id="20" name="Shape 17"/>
          <p:cNvSpPr/>
          <p:nvPr/>
        </p:nvSpPr>
        <p:spPr>
          <a:xfrm>
            <a:off x="658368" y="3602736"/>
            <a:ext cx="10874959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58368" y="3602736"/>
            <a:ext cx="54864" cy="548640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68096" y="372160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20" dirty="0"/>
          </a:p>
        </p:txBody>
      </p:sp>
      <p:sp>
        <p:nvSpPr>
          <p:cNvPr id="23" name="Text 20"/>
          <p:cNvSpPr txBox="1"/>
          <p:nvPr/>
        </p:nvSpPr>
        <p:spPr>
          <a:xfrm>
            <a:off x="1572768" y="3721608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 / 30</a:t>
            </a:r>
            <a:endParaRPr lang="en-US" sz="1020" dirty="0"/>
          </a:p>
        </p:txBody>
      </p:sp>
      <p:sp>
        <p:nvSpPr>
          <p:cNvPr id="24" name="Text 21"/>
          <p:cNvSpPr txBox="1"/>
          <p:nvPr/>
        </p:nvSpPr>
        <p:spPr>
          <a:xfrm>
            <a:off x="2761488" y="3721608"/>
            <a:ext cx="950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020" dirty="0"/>
          </a:p>
        </p:txBody>
      </p:sp>
      <p:sp>
        <p:nvSpPr>
          <p:cNvPr id="25" name="Text 22"/>
          <p:cNvSpPr txBox="1"/>
          <p:nvPr/>
        </p:nvSpPr>
        <p:spPr>
          <a:xfrm>
            <a:off x="3977640" y="3721608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 is False</a:t>
            </a:r>
            <a:endParaRPr lang="en-US" sz="1020" dirty="0"/>
          </a:p>
        </p:txBody>
      </p:sp>
      <p:sp>
        <p:nvSpPr>
          <p:cNvPr id="26" name="Text 23"/>
          <p:cNvSpPr txBox="1"/>
          <p:nvPr/>
        </p:nvSpPr>
        <p:spPr>
          <a:xfrm>
            <a:off x="5961888" y="3721608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False</a:t>
            </a:r>
            <a:endParaRPr lang="en-US" sz="920" dirty="0"/>
          </a:p>
        </p:txBody>
      </p:sp>
      <p:sp>
        <p:nvSpPr>
          <p:cNvPr id="27" name="Text 24"/>
          <p:cNvSpPr txBox="1"/>
          <p:nvPr/>
        </p:nvSpPr>
        <p:spPr>
          <a:xfrm>
            <a:off x="8366760" y="372160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sobrecupo se rechaza</a:t>
            </a:r>
            <a:endParaRPr lang="en-US" sz="1020" dirty="0"/>
          </a:p>
        </p:txBody>
      </p:sp>
      <p:sp>
        <p:nvSpPr>
          <p:cNvPr id="28" name="Shape 25"/>
          <p:cNvSpPr/>
          <p:nvPr/>
        </p:nvSpPr>
        <p:spPr>
          <a:xfrm>
            <a:off x="658368" y="4242816"/>
            <a:ext cx="10874959" cy="548640"/>
          </a:xfrm>
          <a:prstGeom prst="rect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58368" y="4242816"/>
            <a:ext cx="54864" cy="548640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68096" y="436168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8A6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20" dirty="0"/>
          </a:p>
        </p:txBody>
      </p:sp>
      <p:sp>
        <p:nvSpPr>
          <p:cNvPr id="31" name="Text 28"/>
          <p:cNvSpPr txBox="1"/>
          <p:nvPr/>
        </p:nvSpPr>
        <p:spPr>
          <a:xfrm>
            <a:off x="1572768" y="4361688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 / 30</a:t>
            </a:r>
            <a:endParaRPr lang="en-US" sz="1020" dirty="0"/>
          </a:p>
        </p:txBody>
      </p:sp>
      <p:sp>
        <p:nvSpPr>
          <p:cNvPr id="32" name="Text 29"/>
          <p:cNvSpPr txBox="1"/>
          <p:nvPr/>
        </p:nvSpPr>
        <p:spPr>
          <a:xfrm>
            <a:off x="2761488" y="4361688"/>
            <a:ext cx="950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020" dirty="0"/>
          </a:p>
        </p:txBody>
      </p:sp>
      <p:sp>
        <p:nvSpPr>
          <p:cNvPr id="33" name="Text 30"/>
          <p:cNvSpPr txBox="1"/>
          <p:nvPr/>
        </p:nvSpPr>
        <p:spPr>
          <a:xfrm>
            <a:off x="3977640" y="4361688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 is True</a:t>
            </a:r>
            <a:endParaRPr lang="en-US" sz="1020" dirty="0"/>
          </a:p>
        </p:txBody>
      </p:sp>
      <p:sp>
        <p:nvSpPr>
          <p:cNvPr id="34" name="Text 31"/>
          <p:cNvSpPr txBox="1"/>
          <p:nvPr/>
        </p:nvSpPr>
        <p:spPr>
          <a:xfrm>
            <a:off x="5961888" y="4361688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personas &lt;= capacidad</a:t>
            </a:r>
            <a:endParaRPr lang="en-US" sz="920" dirty="0"/>
          </a:p>
        </p:txBody>
      </p:sp>
      <p:sp>
        <p:nvSpPr>
          <p:cNvPr id="35" name="Text 32"/>
          <p:cNvSpPr txBox="1"/>
          <p:nvPr/>
        </p:nvSpPr>
        <p:spPr>
          <a:xfrm>
            <a:off x="8366760" y="436168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igualdad se acepta</a:t>
            </a:r>
            <a:endParaRPr lang="en-US" sz="1020" dirty="0"/>
          </a:p>
        </p:txBody>
      </p:sp>
      <p:sp>
        <p:nvSpPr>
          <p:cNvPr id="36" name="Shape 33"/>
          <p:cNvSpPr/>
          <p:nvPr/>
        </p:nvSpPr>
        <p:spPr>
          <a:xfrm>
            <a:off x="658368" y="4882896"/>
            <a:ext cx="10874959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58368" y="4882896"/>
            <a:ext cx="54864" cy="548640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768096" y="500176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E7D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20" dirty="0"/>
          </a:p>
        </p:txBody>
      </p:sp>
      <p:sp>
        <p:nvSpPr>
          <p:cNvPr id="39" name="Text 36"/>
          <p:cNvSpPr txBox="1"/>
          <p:nvPr/>
        </p:nvSpPr>
        <p:spPr>
          <a:xfrm>
            <a:off x="1572768" y="5001768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/ 30</a:t>
            </a:r>
            <a:endParaRPr lang="en-US" sz="1020" dirty="0"/>
          </a:p>
        </p:txBody>
      </p:sp>
      <p:sp>
        <p:nvSpPr>
          <p:cNvPr id="40" name="Text 37"/>
          <p:cNvSpPr txBox="1"/>
          <p:nvPr/>
        </p:nvSpPr>
        <p:spPr>
          <a:xfrm>
            <a:off x="2761488" y="5001768"/>
            <a:ext cx="950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020" dirty="0"/>
          </a:p>
        </p:txBody>
      </p:sp>
      <p:sp>
        <p:nvSpPr>
          <p:cNvPr id="41" name="Text 38"/>
          <p:cNvSpPr txBox="1"/>
          <p:nvPr/>
        </p:nvSpPr>
        <p:spPr>
          <a:xfrm>
            <a:off x="3977640" y="5001768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 is False</a:t>
            </a:r>
            <a:endParaRPr lang="en-US" sz="1020" dirty="0"/>
          </a:p>
        </p:txBody>
      </p:sp>
      <p:sp>
        <p:nvSpPr>
          <p:cNvPr id="42" name="Text 39"/>
          <p:cNvSpPr txBox="1"/>
          <p:nvPr/>
        </p:nvSpPr>
        <p:spPr>
          <a:xfrm>
            <a:off x="5961888" y="5001768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&lt;= personas &lt;= capacidad</a:t>
            </a:r>
            <a:endParaRPr lang="en-US" sz="920" dirty="0"/>
          </a:p>
        </p:txBody>
      </p:sp>
      <p:sp>
        <p:nvSpPr>
          <p:cNvPr id="43" name="Text 40"/>
          <p:cNvSpPr txBox="1"/>
          <p:nvPr/>
        </p:nvSpPr>
        <p:spPr>
          <a:xfrm>
            <a:off x="8366760" y="500176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exige al menos una persona</a:t>
            </a:r>
            <a:endParaRPr lang="en-US" sz="1020" dirty="0"/>
          </a:p>
        </p:txBody>
      </p:sp>
      <p:sp>
        <p:nvSpPr>
          <p:cNvPr id="44" name="Shape 41"/>
          <p:cNvSpPr/>
          <p:nvPr/>
        </p:nvSpPr>
        <p:spPr>
          <a:xfrm>
            <a:off x="658368" y="5742432"/>
            <a:ext cx="10874959" cy="49377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950976" y="5779008"/>
            <a:ext cx="1028974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ejemplos no confirman una fórmula elegida de antemano. Cada rojo obliga a revisar la versión actual.</a:t>
            </a:r>
            <a:endParaRPr lang="en-US" sz="1310" dirty="0"/>
          </a:p>
        </p:txBody>
      </p:sp>
      <p:sp>
        <p:nvSpPr>
          <p:cNvPr id="46" name="Shape 43"/>
          <p:cNvSpPr/>
          <p:nvPr/>
        </p:nvSpPr>
        <p:spPr>
          <a:xfrm>
            <a:off x="658368" y="6263640"/>
            <a:ext cx="45720" cy="182880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804672" y="6254496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i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Kent Beck · Equality for All · triangulación mediante ejemplos que exigen respuestas distintas</a:t>
            </a:r>
            <a:endParaRPr lang="en-US" sz="88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4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28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VUELTA 2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509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límite exacto vuelve roja la constante False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664208"/>
            <a:ext cx="10424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4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Treinta personas ocupan exactamente treinta cupos. Este caso debe aceptarse y contradice la respuesta constante de la primera vuelta.</a:t>
            </a:r>
            <a:endParaRPr lang="en-US" sz="1420" dirty="0"/>
          </a:p>
        </p:txBody>
      </p:sp>
      <p:sp>
        <p:nvSpPr>
          <p:cNvPr id="11" name="Shape 8"/>
          <p:cNvSpPr/>
          <p:nvPr/>
        </p:nvSpPr>
        <p:spPr>
          <a:xfrm>
            <a:off x="658368" y="2322576"/>
            <a:ext cx="5303520" cy="1481328"/>
          </a:xfrm>
          <a:prstGeom prst="roundRect">
            <a:avLst>
              <a:gd name="adj" fmla="val 2469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86384" y="2432304"/>
            <a:ext cx="5047488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96112" y="2505456"/>
            <a:ext cx="4828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Nueva prueba · escrita antes del cambio</a:t>
            </a:r>
            <a:endParaRPr lang="en-US" sz="10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7824" y="2889504"/>
            <a:ext cx="4882896" cy="73152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6199632" y="2322576"/>
            <a:ext cx="5330952" cy="1481328"/>
          </a:xfrm>
          <a:prstGeom prst="roundRect">
            <a:avLst>
              <a:gd name="adj" fmla="val 2469"/>
            </a:avLst>
          </a:prstGeom>
          <a:solidFill>
            <a:srgbClr val="0F1720"/>
          </a:solidFill>
          <a:ln w="12700">
            <a:solidFill>
              <a:srgbClr val="0F172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327648" y="2432304"/>
            <a:ext cx="5074920" cy="310896"/>
          </a:xfrm>
          <a:prstGeom prst="roundRect">
            <a:avLst>
              <a:gd name="adj" fmla="val 8824"/>
            </a:avLst>
          </a:prstGeom>
          <a:solidFill>
            <a:srgbClr val="1E2937"/>
          </a:solidFill>
          <a:ln w="12700">
            <a:solidFill>
              <a:srgbClr val="1E2937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455664" y="2505456"/>
            <a:ext cx="48188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Rojo esperado con return False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6419088" y="2889504"/>
            <a:ext cx="4581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.F                                             [100%]</a:t>
            </a:r>
            <a:endParaRPr lang="en-US" sz="930" dirty="0"/>
          </a:p>
        </p:txBody>
      </p:sp>
      <p:sp>
        <p:nvSpPr>
          <p:cNvPr id="19" name="Text 15"/>
          <p:cNvSpPr/>
          <p:nvPr/>
        </p:nvSpPr>
        <p:spPr>
          <a:xfrm>
            <a:off x="6419088" y="3145536"/>
            <a:ext cx="4581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   assert False is True</a:t>
            </a:r>
            <a:endParaRPr lang="en-US" sz="930" dirty="0"/>
          </a:p>
        </p:txBody>
      </p:sp>
      <p:sp>
        <p:nvSpPr>
          <p:cNvPr id="20" name="Text 16"/>
          <p:cNvSpPr/>
          <p:nvPr/>
        </p:nvSpPr>
        <p:spPr>
          <a:xfrm>
            <a:off x="6419088" y="3401568"/>
            <a:ext cx="4581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8AA0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failed, 1 passed</a:t>
            </a:r>
            <a:endParaRPr lang="en-US" sz="930" dirty="0"/>
          </a:p>
        </p:txBody>
      </p:sp>
      <p:sp>
        <p:nvSpPr>
          <p:cNvPr id="21" name="Shape 17"/>
          <p:cNvSpPr/>
          <p:nvPr/>
        </p:nvSpPr>
        <p:spPr>
          <a:xfrm>
            <a:off x="658368" y="4096512"/>
            <a:ext cx="2926080" cy="1060704"/>
          </a:xfrm>
          <a:prstGeom prst="rect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914400" y="427939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spc="130" kern="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CONSTANTE YA NO ALCANZA</a:t>
            </a:r>
            <a:endParaRPr lang="en-US" sz="960" dirty="0"/>
          </a:p>
        </p:txBody>
      </p:sp>
      <p:sp>
        <p:nvSpPr>
          <p:cNvPr id="23" name="Text 19"/>
          <p:cNvSpPr txBox="1"/>
          <p:nvPr/>
        </p:nvSpPr>
        <p:spPr>
          <a:xfrm>
            <a:off x="914400" y="4572000"/>
            <a:ext cx="2432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primera prueba sigue verde. La nueva localiza lo que falta: aceptar la igualdad.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3822192" y="4096512"/>
            <a:ext cx="4407408" cy="1060704"/>
          </a:xfrm>
          <a:prstGeom prst="roundRect">
            <a:avLst>
              <a:gd name="adj" fmla="val 3448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3950208" y="4206240"/>
            <a:ext cx="4151376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059936" y="4279392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Generalización autorizada por dos ejemplos</a:t>
            </a:r>
            <a:endParaRPr lang="en-US" sz="1000" dirty="0"/>
          </a:p>
        </p:txBody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041648" y="4663440"/>
            <a:ext cx="3986784" cy="310896"/>
          </a:xfrm>
          <a:prstGeom prst="rect">
            <a:avLst/>
          </a:prstGeom>
        </p:spPr>
      </p:pic>
      <p:sp>
        <p:nvSpPr>
          <p:cNvPr id="28" name="Shape 23"/>
          <p:cNvSpPr/>
          <p:nvPr/>
        </p:nvSpPr>
        <p:spPr>
          <a:xfrm>
            <a:off x="8485632" y="4096512"/>
            <a:ext cx="3044952" cy="1060704"/>
          </a:xfrm>
          <a:prstGeom prst="roundRect">
            <a:avLst>
              <a:gd name="adj" fmla="val 3448"/>
            </a:avLst>
          </a:prstGeom>
          <a:solidFill>
            <a:srgbClr val="0F1720"/>
          </a:solidFill>
          <a:ln w="12700">
            <a:solidFill>
              <a:srgbClr val="0F1720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8613648" y="4206240"/>
            <a:ext cx="2788920" cy="310896"/>
          </a:xfrm>
          <a:prstGeom prst="roundRect">
            <a:avLst>
              <a:gd name="adj" fmla="val 8824"/>
            </a:avLst>
          </a:prstGeom>
          <a:solidFill>
            <a:srgbClr val="1E2937"/>
          </a:solidFill>
          <a:ln w="12700">
            <a:solidFill>
              <a:srgbClr val="1E2937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8741664" y="4279392"/>
            <a:ext cx="25328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Nuevo verde</a:t>
            </a:r>
            <a:endParaRPr lang="en-US" sz="1000" dirty="0"/>
          </a:p>
        </p:txBody>
      </p:sp>
      <p:sp>
        <p:nvSpPr>
          <p:cNvPr id="31" name="Text 26"/>
          <p:cNvSpPr/>
          <p:nvPr/>
        </p:nvSpPr>
        <p:spPr>
          <a:xfrm>
            <a:off x="8705088" y="4663440"/>
            <a:ext cx="2295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                [100%]</a:t>
            </a:r>
            <a:endParaRPr lang="en-US" sz="950" dirty="0"/>
          </a:p>
        </p:txBody>
      </p:sp>
      <p:sp>
        <p:nvSpPr>
          <p:cNvPr id="32" name="Text 27"/>
          <p:cNvSpPr/>
          <p:nvPr/>
        </p:nvSpPr>
        <p:spPr>
          <a:xfrm>
            <a:off x="8705088" y="4919472"/>
            <a:ext cx="2295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passed</a:t>
            </a:r>
            <a:endParaRPr lang="en-US" sz="950" dirty="0"/>
          </a:p>
        </p:txBody>
      </p:sp>
      <p:sp>
        <p:nvSpPr>
          <p:cNvPr id="33" name="Shape 28"/>
          <p:cNvSpPr/>
          <p:nvPr/>
        </p:nvSpPr>
        <p:spPr>
          <a:xfrm>
            <a:off x="658368" y="5468112"/>
            <a:ext cx="10874959" cy="53035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4" name="Text 29"/>
          <p:cNvSpPr txBox="1"/>
          <p:nvPr/>
        </p:nvSpPr>
        <p:spPr>
          <a:xfrm>
            <a:off x="950976" y="5504688"/>
            <a:ext cx="102897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operador &lt;= expresa una decisión concreta: la igualdad pertenece al lado aceptado de la frontera.</a:t>
            </a:r>
            <a:endParaRPr lang="en-US" sz="132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4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29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VUELTA 3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509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Cero personas revela una generalización incompleta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66420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4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comparación personas &lt;= capacidad también acepta cero. La tercera prueba introduce el mínimo válido de la regla de negocio: una reserva requiere al menos una persona.</a:t>
            </a:r>
            <a:endParaRPr lang="en-US" sz="1420" dirty="0"/>
          </a:p>
        </p:txBody>
      </p:sp>
      <p:sp>
        <p:nvSpPr>
          <p:cNvPr id="11" name="Shape 8"/>
          <p:cNvSpPr/>
          <p:nvPr/>
        </p:nvSpPr>
        <p:spPr>
          <a:xfrm>
            <a:off x="658368" y="2340864"/>
            <a:ext cx="5248656" cy="1389888"/>
          </a:xfrm>
          <a:prstGeom prst="roundRect">
            <a:avLst>
              <a:gd name="adj" fmla="val 2632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86384" y="2450592"/>
            <a:ext cx="4992624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96112" y="2523744"/>
            <a:ext cx="4773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Nueva prueba</a:t>
            </a:r>
            <a:endParaRPr lang="en-US" sz="10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7824" y="2907792"/>
            <a:ext cx="4828032" cy="64008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658368" y="3913632"/>
            <a:ext cx="5248656" cy="1261872"/>
          </a:xfrm>
          <a:prstGeom prst="roundRect">
            <a:avLst>
              <a:gd name="adj" fmla="val 2899"/>
            </a:avLst>
          </a:prstGeom>
          <a:solidFill>
            <a:srgbClr val="0F1720"/>
          </a:solidFill>
          <a:ln w="12700">
            <a:solidFill>
              <a:srgbClr val="0F172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86384" y="4023360"/>
            <a:ext cx="4992624" cy="310896"/>
          </a:xfrm>
          <a:prstGeom prst="roundRect">
            <a:avLst>
              <a:gd name="adj" fmla="val 8824"/>
            </a:avLst>
          </a:prstGeom>
          <a:solidFill>
            <a:srgbClr val="1E2937"/>
          </a:solidFill>
          <a:ln w="12700">
            <a:solidFill>
              <a:srgbClr val="1E2937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914400" y="4096512"/>
            <a:ext cx="4736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Rojo que expone el defecto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877824" y="4480560"/>
            <a:ext cx="4498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..F                                            [100%]</a:t>
            </a:r>
            <a:endParaRPr lang="en-US" sz="920" dirty="0"/>
          </a:p>
        </p:txBody>
      </p:sp>
      <p:sp>
        <p:nvSpPr>
          <p:cNvPr id="19" name="Text 15"/>
          <p:cNvSpPr/>
          <p:nvPr/>
        </p:nvSpPr>
        <p:spPr>
          <a:xfrm>
            <a:off x="877824" y="4736592"/>
            <a:ext cx="4498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   assert True is False</a:t>
            </a:r>
            <a:endParaRPr lang="en-US" sz="920" dirty="0"/>
          </a:p>
        </p:txBody>
      </p:sp>
      <p:sp>
        <p:nvSpPr>
          <p:cNvPr id="20" name="Text 16"/>
          <p:cNvSpPr/>
          <p:nvPr/>
        </p:nvSpPr>
        <p:spPr>
          <a:xfrm>
            <a:off x="877824" y="4992624"/>
            <a:ext cx="4498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8AA0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failed, 2 passed</a:t>
            </a:r>
            <a:endParaRPr lang="en-US" sz="920" dirty="0"/>
          </a:p>
        </p:txBody>
      </p:sp>
      <p:sp>
        <p:nvSpPr>
          <p:cNvPr id="21" name="Shape 17"/>
          <p:cNvSpPr/>
          <p:nvPr/>
        </p:nvSpPr>
        <p:spPr>
          <a:xfrm>
            <a:off x="6199632" y="2340864"/>
            <a:ext cx="5330952" cy="694944"/>
          </a:xfrm>
          <a:prstGeom prst="rect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6455664" y="2523744"/>
            <a:ext cx="1335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Regla anterior</a:t>
            </a:r>
            <a:endParaRPr lang="en-US" sz="1000" dirty="0"/>
          </a:p>
        </p:txBody>
      </p:sp>
      <p:sp>
        <p:nvSpPr>
          <p:cNvPr id="23" name="Text 19"/>
          <p:cNvSpPr txBox="1"/>
          <p:nvPr/>
        </p:nvSpPr>
        <p:spPr>
          <a:xfrm>
            <a:off x="7808976" y="2487168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318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personas &lt;= capacidad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6547104" y="3584448"/>
            <a:ext cx="4498848" cy="0"/>
          </a:xfrm>
          <a:prstGeom prst="line">
            <a:avLst/>
          </a:prstGeom>
          <a:noFill/>
          <a:ln w="12700">
            <a:solidFill>
              <a:srgbClr val="52606D"/>
            </a:solidFill>
            <a:prstDash val="solid"/>
            <a:headEnd type="none"/>
            <a:tailEnd type="none"/>
          </a:ln>
        </p:spPr>
      </p:sp>
      <p:sp>
        <p:nvSpPr>
          <p:cNvPr id="25" name="Shape 21"/>
          <p:cNvSpPr/>
          <p:nvPr/>
        </p:nvSpPr>
        <p:spPr>
          <a:xfrm>
            <a:off x="6455664" y="3493008"/>
            <a:ext cx="182880" cy="182880"/>
          </a:xfrm>
          <a:prstGeom prst="ellipse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6327648" y="3749040"/>
            <a:ext cx="438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318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050" dirty="0"/>
          </a:p>
        </p:txBody>
      </p:sp>
      <p:sp>
        <p:nvSpPr>
          <p:cNvPr id="27" name="Text 23"/>
          <p:cNvSpPr txBox="1"/>
          <p:nvPr/>
        </p:nvSpPr>
        <p:spPr>
          <a:xfrm>
            <a:off x="6126480" y="4005072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rechazado</a:t>
            </a:r>
            <a:endParaRPr lang="en-US" sz="820" dirty="0"/>
          </a:p>
        </p:txBody>
      </p:sp>
      <p:sp>
        <p:nvSpPr>
          <p:cNvPr id="28" name="Shape 24"/>
          <p:cNvSpPr/>
          <p:nvPr/>
        </p:nvSpPr>
        <p:spPr>
          <a:xfrm>
            <a:off x="7534656" y="3493008"/>
            <a:ext cx="182880" cy="182880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7406640" y="3749040"/>
            <a:ext cx="438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7D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50" dirty="0"/>
          </a:p>
        </p:txBody>
      </p:sp>
      <p:sp>
        <p:nvSpPr>
          <p:cNvPr id="30" name="Text 26"/>
          <p:cNvSpPr txBox="1"/>
          <p:nvPr/>
        </p:nvSpPr>
        <p:spPr>
          <a:xfrm>
            <a:off x="7205472" y="4005072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0" dirty="0">
                <a:solidFill>
                  <a:srgbClr val="2E7D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aceptado</a:t>
            </a:r>
            <a:endParaRPr lang="en-US" sz="820" dirty="0"/>
          </a:p>
        </p:txBody>
      </p:sp>
      <p:sp>
        <p:nvSpPr>
          <p:cNvPr id="31" name="Shape 27"/>
          <p:cNvSpPr/>
          <p:nvPr/>
        </p:nvSpPr>
        <p:spPr>
          <a:xfrm>
            <a:off x="9802368" y="3493008"/>
            <a:ext cx="182880" cy="182880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9674352" y="3749040"/>
            <a:ext cx="438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7D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1050" dirty="0"/>
          </a:p>
        </p:txBody>
      </p:sp>
      <p:sp>
        <p:nvSpPr>
          <p:cNvPr id="33" name="Text 29"/>
          <p:cNvSpPr txBox="1"/>
          <p:nvPr/>
        </p:nvSpPr>
        <p:spPr>
          <a:xfrm>
            <a:off x="9473184" y="4005072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0" dirty="0">
                <a:solidFill>
                  <a:srgbClr val="2E7D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aceptado</a:t>
            </a:r>
            <a:endParaRPr lang="en-US" sz="820" dirty="0"/>
          </a:p>
        </p:txBody>
      </p:sp>
      <p:sp>
        <p:nvSpPr>
          <p:cNvPr id="34" name="Shape 30"/>
          <p:cNvSpPr/>
          <p:nvPr/>
        </p:nvSpPr>
        <p:spPr>
          <a:xfrm>
            <a:off x="10954512" y="3493008"/>
            <a:ext cx="182880" cy="182880"/>
          </a:xfrm>
          <a:prstGeom prst="ellipse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10826496" y="3749040"/>
            <a:ext cx="438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318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</a:t>
            </a:r>
            <a:endParaRPr lang="en-US" sz="1050" dirty="0"/>
          </a:p>
        </p:txBody>
      </p:sp>
      <p:sp>
        <p:nvSpPr>
          <p:cNvPr id="36" name="Text 32"/>
          <p:cNvSpPr txBox="1"/>
          <p:nvPr/>
        </p:nvSpPr>
        <p:spPr>
          <a:xfrm>
            <a:off x="10625328" y="4005072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rechazado</a:t>
            </a:r>
            <a:endParaRPr lang="en-US" sz="820" dirty="0"/>
          </a:p>
        </p:txBody>
      </p:sp>
      <p:sp>
        <p:nvSpPr>
          <p:cNvPr id="37" name="Shape 33"/>
          <p:cNvSpPr/>
          <p:nvPr/>
        </p:nvSpPr>
        <p:spPr>
          <a:xfrm>
            <a:off x="6199632" y="4443984"/>
            <a:ext cx="5330952" cy="1060704"/>
          </a:xfrm>
          <a:prstGeom prst="roundRect">
            <a:avLst>
              <a:gd name="adj" fmla="val 3448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6327648" y="4553712"/>
            <a:ext cx="5074920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6437376" y="4626864"/>
            <a:ext cx="48554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Cambio mínimo · dos límites explícitos</a:t>
            </a:r>
            <a:endParaRPr lang="en-US" sz="1000" dirty="0"/>
          </a:p>
        </p:txBody>
      </p:sp>
      <p:pic>
        <p:nvPicPr>
          <p:cNvPr id="4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19088" y="5010912"/>
            <a:ext cx="4910328" cy="310896"/>
          </a:xfrm>
          <a:prstGeom prst="rect">
            <a:avLst/>
          </a:prstGeom>
        </p:spPr>
      </p:pic>
      <p:sp>
        <p:nvSpPr>
          <p:cNvPr id="41" name="Shape 36"/>
          <p:cNvSpPr/>
          <p:nvPr/>
        </p:nvSpPr>
        <p:spPr>
          <a:xfrm>
            <a:off x="658368" y="5760720"/>
            <a:ext cx="10874959" cy="45720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2" name="Text 37"/>
          <p:cNvSpPr txBox="1"/>
          <p:nvPr/>
        </p:nvSpPr>
        <p:spPr>
          <a:xfrm>
            <a:off x="950976" y="5797296"/>
            <a:ext cx="1028974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tercera vuelta termina con 3 passed: las tres decisiones quedan separadas y localizables.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4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30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RESULTADO ACUMULADO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509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código final conserva la historia de tres decisiones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664208"/>
            <a:ext cx="10378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4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Diseño emergente significa que la forma del código se decidió cuando los ejemplos volvieron necesarias nuevas respuestas. No significa diseño automático ni improvisación.</a:t>
            </a:r>
            <a:endParaRPr lang="en-US" sz="1420" dirty="0"/>
          </a:p>
        </p:txBody>
      </p:sp>
      <p:sp>
        <p:nvSpPr>
          <p:cNvPr id="11" name="Shape 8"/>
          <p:cNvSpPr/>
          <p:nvPr/>
        </p:nvSpPr>
        <p:spPr>
          <a:xfrm>
            <a:off x="658368" y="2340864"/>
            <a:ext cx="6565392" cy="3054096"/>
          </a:xfrm>
          <a:prstGeom prst="roundRect">
            <a:avLst>
              <a:gd name="adj" fmla="val 1198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86384" y="2450592"/>
            <a:ext cx="6309360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96112" y="2523744"/>
            <a:ext cx="60899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tests/test_capacidad.py · tres decisiones localizables</a:t>
            </a:r>
            <a:endParaRPr lang="en-US" sz="10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7824" y="2907792"/>
            <a:ext cx="6144768" cy="2304288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7479792" y="2340864"/>
            <a:ext cx="4050792" cy="1207008"/>
          </a:xfrm>
          <a:prstGeom prst="roundRect">
            <a:avLst>
              <a:gd name="adj" fmla="val 303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607808" y="2450592"/>
            <a:ext cx="3794760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717536" y="2523744"/>
            <a:ext cx="3575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capacidad.py · implementación completa</a:t>
            </a:r>
            <a:endParaRPr lang="en-US" sz="10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99248" y="2907792"/>
            <a:ext cx="3630168" cy="45720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7479792" y="3730752"/>
            <a:ext cx="405079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479792" y="3730752"/>
            <a:ext cx="45720" cy="45720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7699248" y="3803904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0" b="1" spc="70" kern="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INTERFAZ</a:t>
            </a:r>
            <a:endParaRPr lang="en-US" sz="820" dirty="0"/>
          </a:p>
        </p:txBody>
      </p:sp>
      <p:sp>
        <p:nvSpPr>
          <p:cNvPr id="22" name="Text 17"/>
          <p:cNvSpPr txBox="1"/>
          <p:nvPr/>
        </p:nvSpPr>
        <p:spPr>
          <a:xfrm>
            <a:off x="8979408" y="380390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cabe_en_sala(personas, capacidad) → bool</a:t>
            </a:r>
            <a:endParaRPr lang="en-US" sz="980" dirty="0"/>
          </a:p>
        </p:txBody>
      </p:sp>
      <p:sp>
        <p:nvSpPr>
          <p:cNvPr id="23" name="Shape 18"/>
          <p:cNvSpPr/>
          <p:nvPr/>
        </p:nvSpPr>
        <p:spPr>
          <a:xfrm>
            <a:off x="7479792" y="4261104"/>
            <a:ext cx="4050792" cy="457200"/>
          </a:xfrm>
          <a:prstGeom prst="rect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7479792" y="4261104"/>
            <a:ext cx="45720" cy="457200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7699248" y="4334256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0" b="1" spc="70" kern="0" dirty="0">
                <a:solidFill>
                  <a:srgbClr val="8A6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FRONTERA SUPERIOR</a:t>
            </a:r>
            <a:endParaRPr lang="en-US" sz="820" dirty="0"/>
          </a:p>
        </p:txBody>
      </p:sp>
      <p:sp>
        <p:nvSpPr>
          <p:cNvPr id="26" name="Text 21"/>
          <p:cNvSpPr txBox="1"/>
          <p:nvPr/>
        </p:nvSpPr>
        <p:spPr>
          <a:xfrm>
            <a:off x="8979408" y="433425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 se acepta; 31 se rechaza</a:t>
            </a:r>
            <a:endParaRPr lang="en-US" sz="980" dirty="0"/>
          </a:p>
        </p:txBody>
      </p:sp>
      <p:sp>
        <p:nvSpPr>
          <p:cNvPr id="27" name="Shape 22"/>
          <p:cNvSpPr/>
          <p:nvPr/>
        </p:nvSpPr>
        <p:spPr>
          <a:xfrm>
            <a:off x="7479792" y="4791456"/>
            <a:ext cx="405079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7479792" y="4791456"/>
            <a:ext cx="45720" cy="457200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7699248" y="4864608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0" b="1" spc="70" kern="0" dirty="0">
                <a:solidFill>
                  <a:srgbClr val="2E7D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FRONTERA INFERIOR</a:t>
            </a:r>
            <a:endParaRPr lang="en-US" sz="820" dirty="0"/>
          </a:p>
        </p:txBody>
      </p:sp>
      <p:sp>
        <p:nvSpPr>
          <p:cNvPr id="30" name="Text 25"/>
          <p:cNvSpPr txBox="1"/>
          <p:nvPr/>
        </p:nvSpPr>
        <p:spPr>
          <a:xfrm>
            <a:off x="8979408" y="48646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se rechaza; el mínimo válido es 1</a:t>
            </a:r>
            <a:endParaRPr lang="en-US" sz="980" dirty="0"/>
          </a:p>
        </p:txBody>
      </p:sp>
      <p:sp>
        <p:nvSpPr>
          <p:cNvPr id="31" name="Shape 26"/>
          <p:cNvSpPr/>
          <p:nvPr/>
        </p:nvSpPr>
        <p:spPr>
          <a:xfrm>
            <a:off x="658368" y="5632704"/>
            <a:ext cx="10874959" cy="5669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932688" y="579729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Agente</a:t>
            </a:r>
            <a:endParaRPr lang="en-US" sz="1060" dirty="0"/>
          </a:p>
        </p:txBody>
      </p:sp>
      <p:sp>
        <p:nvSpPr>
          <p:cNvPr id="33" name="Text 28"/>
          <p:cNvSpPr txBox="1"/>
          <p:nvPr/>
        </p:nvSpPr>
        <p:spPr>
          <a:xfrm>
            <a:off x="1792224" y="5797296"/>
            <a:ext cx="212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edita, ejecuta y reporta</a:t>
            </a:r>
            <a:endParaRPr lang="en-US" sz="1120" dirty="0"/>
          </a:p>
        </p:txBody>
      </p:sp>
      <p:sp>
        <p:nvSpPr>
          <p:cNvPr id="34" name="Text 29"/>
          <p:cNvSpPr txBox="1"/>
          <p:nvPr/>
        </p:nvSpPr>
        <p:spPr>
          <a:xfrm>
            <a:off x="4352544" y="579729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Persona</a:t>
            </a:r>
            <a:endParaRPr lang="en-US" sz="1060" dirty="0"/>
          </a:p>
        </p:txBody>
      </p:sp>
      <p:sp>
        <p:nvSpPr>
          <p:cNvPr id="35" name="Text 30"/>
          <p:cNvSpPr txBox="1"/>
          <p:nvPr/>
        </p:nvSpPr>
        <p:spPr>
          <a:xfrm>
            <a:off x="5321808" y="5751576"/>
            <a:ext cx="5815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elige el siguiente comportamiento y juzga si la evidencia realmente lo demuestra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4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EVIDENCIA POSTERIOR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509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Cobertura y sensibilidad responden preguntas distintas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664208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4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cobertura se mide después de completar las vueltas. Registra qué código se ejecutó. Las alteraciones controladas muestran qué decisiones equivocadas hacen fallar la suite.</a:t>
            </a:r>
            <a:endParaRPr lang="en-US" sz="1420" dirty="0"/>
          </a:p>
        </p:txBody>
      </p:sp>
      <p:sp>
        <p:nvSpPr>
          <p:cNvPr id="11" name="Shape 8"/>
          <p:cNvSpPr/>
          <p:nvPr/>
        </p:nvSpPr>
        <p:spPr>
          <a:xfrm>
            <a:off x="658368" y="2340864"/>
            <a:ext cx="6537960" cy="2103120"/>
          </a:xfrm>
          <a:prstGeom prst="roundRect">
            <a:avLst>
              <a:gd name="adj" fmla="val 1739"/>
            </a:avLst>
          </a:prstGeom>
          <a:solidFill>
            <a:srgbClr val="0F1720"/>
          </a:solidFill>
          <a:ln w="12700">
            <a:solidFill>
              <a:srgbClr val="0F172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86384" y="2450592"/>
            <a:ext cx="6281928" cy="310896"/>
          </a:xfrm>
          <a:prstGeom prst="roundRect">
            <a:avLst>
              <a:gd name="adj" fmla="val 8824"/>
            </a:avLst>
          </a:prstGeom>
          <a:solidFill>
            <a:srgbClr val="1E2937"/>
          </a:solidFill>
          <a:ln w="12700">
            <a:solidFill>
              <a:srgbClr val="1E293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14400" y="2523744"/>
            <a:ext cx="6025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Cobertura después de las tres vueltas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877824" y="2907792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870" dirty="0"/>
          </a:p>
        </p:txBody>
      </p:sp>
      <p:sp>
        <p:nvSpPr>
          <p:cNvPr id="15" name="Text 12"/>
          <p:cNvSpPr/>
          <p:nvPr/>
        </p:nvSpPr>
        <p:spPr>
          <a:xfrm>
            <a:off x="1188720" y="2907792"/>
            <a:ext cx="5788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--with pytest --with pytest-cov python -m pytest --cov=capacidad --cov-report=term-missing -q</a:t>
            </a:r>
            <a:endParaRPr lang="en-US" sz="870" dirty="0"/>
          </a:p>
        </p:txBody>
      </p:sp>
      <p:sp>
        <p:nvSpPr>
          <p:cNvPr id="16" name="Text 13"/>
          <p:cNvSpPr/>
          <p:nvPr/>
        </p:nvSpPr>
        <p:spPr>
          <a:xfrm>
            <a:off x="877824" y="3163824"/>
            <a:ext cx="5788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                                                  [100%]</a:t>
            </a:r>
            <a:endParaRPr lang="en-US" sz="870" dirty="0"/>
          </a:p>
        </p:txBody>
      </p:sp>
      <p:sp>
        <p:nvSpPr>
          <p:cNvPr id="17" name="Text 14"/>
          <p:cNvSpPr/>
          <p:nvPr/>
        </p:nvSpPr>
        <p:spPr>
          <a:xfrm>
            <a:off x="877824" y="3419856"/>
            <a:ext cx="5788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8AA0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          Stmts   Miss  Cover</a:t>
            </a:r>
            <a:endParaRPr lang="en-US" sz="870" dirty="0"/>
          </a:p>
        </p:txBody>
      </p:sp>
      <p:sp>
        <p:nvSpPr>
          <p:cNvPr id="18" name="Text 15"/>
          <p:cNvSpPr/>
          <p:nvPr/>
        </p:nvSpPr>
        <p:spPr>
          <a:xfrm>
            <a:off x="877824" y="3675888"/>
            <a:ext cx="5788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capacidad.py       2      0   100%</a:t>
            </a:r>
            <a:endParaRPr lang="en-US" sz="870" dirty="0"/>
          </a:p>
        </p:txBody>
      </p:sp>
      <p:sp>
        <p:nvSpPr>
          <p:cNvPr id="19" name="Text 16"/>
          <p:cNvSpPr/>
          <p:nvPr/>
        </p:nvSpPr>
        <p:spPr>
          <a:xfrm>
            <a:off x="877824" y="3931920"/>
            <a:ext cx="5788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             2      0   100%</a:t>
            </a:r>
            <a:endParaRPr lang="en-US" sz="870" dirty="0"/>
          </a:p>
        </p:txBody>
      </p:sp>
      <p:sp>
        <p:nvSpPr>
          <p:cNvPr id="20" name="Text 17"/>
          <p:cNvSpPr/>
          <p:nvPr/>
        </p:nvSpPr>
        <p:spPr>
          <a:xfrm>
            <a:off x="877824" y="4187952"/>
            <a:ext cx="5788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passed</a:t>
            </a:r>
            <a:endParaRPr lang="en-US" sz="870" dirty="0"/>
          </a:p>
        </p:txBody>
      </p:sp>
      <p:sp>
        <p:nvSpPr>
          <p:cNvPr id="21" name="Shape 18"/>
          <p:cNvSpPr/>
          <p:nvPr/>
        </p:nvSpPr>
        <p:spPr>
          <a:xfrm>
            <a:off x="7443216" y="2340864"/>
            <a:ext cx="4087368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443216" y="2340864"/>
            <a:ext cx="54864" cy="932688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680960" y="2468880"/>
            <a:ext cx="3630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20" b="1" spc="110" kern="0" dirty="0">
                <a:solidFill>
                  <a:srgbClr val="8A6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COBERTURA</a:t>
            </a:r>
            <a:endParaRPr lang="en-US" sz="920" dirty="0"/>
          </a:p>
        </p:txBody>
      </p:sp>
      <p:sp>
        <p:nvSpPr>
          <p:cNvPr id="24" name="Text 21"/>
          <p:cNvSpPr txBox="1"/>
          <p:nvPr/>
        </p:nvSpPr>
        <p:spPr>
          <a:xfrm>
            <a:off x="7680960" y="2724912"/>
            <a:ext cx="3630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2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Proporción del código que se ejecutó mientras corrieron las pruebas. No evalúa por sí sola si los resultados son correctos.</a:t>
            </a:r>
            <a:endParaRPr lang="en-US" sz="1210" dirty="0"/>
          </a:p>
        </p:txBody>
      </p:sp>
      <p:sp>
        <p:nvSpPr>
          <p:cNvPr id="25" name="Shape 22"/>
          <p:cNvSpPr/>
          <p:nvPr/>
        </p:nvSpPr>
        <p:spPr>
          <a:xfrm>
            <a:off x="7443216" y="3456432"/>
            <a:ext cx="4087368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443216" y="3456432"/>
            <a:ext cx="54864" cy="987552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680960" y="3584448"/>
            <a:ext cx="3630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20" b="1" spc="110" kern="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ALTERACIÓN CONTROLADA</a:t>
            </a:r>
            <a:endParaRPr lang="en-US" sz="920" dirty="0"/>
          </a:p>
        </p:txBody>
      </p:sp>
      <p:sp>
        <p:nvSpPr>
          <p:cNvPr id="28" name="Text 25"/>
          <p:cNvSpPr txBox="1"/>
          <p:nvPr/>
        </p:nvSpPr>
        <p:spPr>
          <a:xfrm>
            <a:off x="7680960" y="3840480"/>
            <a:ext cx="36301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2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Cambio temporal y deliberado del código para comprobar qué prueba reacciona. Después se restaura la implementación correcta.</a:t>
            </a:r>
            <a:endParaRPr lang="en-US" sz="1210" dirty="0"/>
          </a:p>
        </p:txBody>
      </p:sp>
      <p:sp>
        <p:nvSpPr>
          <p:cNvPr id="29" name="Shape 26"/>
          <p:cNvSpPr/>
          <p:nvPr/>
        </p:nvSpPr>
        <p:spPr>
          <a:xfrm>
            <a:off x="658368" y="4736592"/>
            <a:ext cx="10874959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58368" y="4736592"/>
            <a:ext cx="45720" cy="420624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77824" y="481888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1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&lt;= personas &lt; capacidad</a:t>
            </a:r>
            <a:endParaRPr lang="en-US" sz="1010" dirty="0"/>
          </a:p>
        </p:txBody>
      </p:sp>
      <p:sp>
        <p:nvSpPr>
          <p:cNvPr id="32" name="Text 29"/>
          <p:cNvSpPr txBox="1"/>
          <p:nvPr/>
        </p:nvSpPr>
        <p:spPr>
          <a:xfrm>
            <a:off x="3931920" y="481888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Falla el caso 30/30</a:t>
            </a:r>
            <a:endParaRPr lang="en-US" sz="1060" dirty="0"/>
          </a:p>
        </p:txBody>
      </p:sp>
      <p:sp>
        <p:nvSpPr>
          <p:cNvPr id="33" name="Text 30"/>
          <p:cNvSpPr txBox="1"/>
          <p:nvPr/>
        </p:nvSpPr>
        <p:spPr>
          <a:xfrm>
            <a:off x="7991856" y="4809744"/>
            <a:ext cx="3182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40" b="1" dirty="0">
                <a:solidFill>
                  <a:srgbClr val="8A6A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 is True</a:t>
            </a:r>
            <a:endParaRPr lang="en-US" sz="1040" dirty="0"/>
          </a:p>
        </p:txBody>
      </p:sp>
      <p:sp>
        <p:nvSpPr>
          <p:cNvPr id="34" name="Shape 31"/>
          <p:cNvSpPr/>
          <p:nvPr/>
        </p:nvSpPr>
        <p:spPr>
          <a:xfrm>
            <a:off x="658368" y="5239512"/>
            <a:ext cx="10874959" cy="420624"/>
          </a:xfrm>
          <a:prstGeom prst="rect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58368" y="5239512"/>
            <a:ext cx="45720" cy="420624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77824" y="532180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1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&lt;= personas &lt;= capacidad</a:t>
            </a:r>
            <a:endParaRPr lang="en-US" sz="1010" dirty="0"/>
          </a:p>
        </p:txBody>
      </p:sp>
      <p:sp>
        <p:nvSpPr>
          <p:cNvPr id="37" name="Text 34"/>
          <p:cNvSpPr txBox="1"/>
          <p:nvPr/>
        </p:nvSpPr>
        <p:spPr>
          <a:xfrm>
            <a:off x="3931920" y="532180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Falla el caso 0/30</a:t>
            </a:r>
            <a:endParaRPr lang="en-US" sz="1060" dirty="0"/>
          </a:p>
        </p:txBody>
      </p:sp>
      <p:sp>
        <p:nvSpPr>
          <p:cNvPr id="38" name="Text 35"/>
          <p:cNvSpPr txBox="1"/>
          <p:nvPr/>
        </p:nvSpPr>
        <p:spPr>
          <a:xfrm>
            <a:off x="7991856" y="5312664"/>
            <a:ext cx="3182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40" b="1" dirty="0">
                <a:solidFill>
                  <a:srgbClr val="B318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 is False</a:t>
            </a:r>
            <a:endParaRPr lang="en-US" sz="1040" dirty="0"/>
          </a:p>
        </p:txBody>
      </p:sp>
      <p:sp>
        <p:nvSpPr>
          <p:cNvPr id="39" name="Shape 36"/>
          <p:cNvSpPr/>
          <p:nvPr/>
        </p:nvSpPr>
        <p:spPr>
          <a:xfrm>
            <a:off x="658368" y="5815584"/>
            <a:ext cx="10874959" cy="43891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950976" y="5852160"/>
            <a:ext cx="1028974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cobertura indica dónde se ejecutó. Los rojos indican qué decisiones puede vigilar la suite.</a:t>
            </a:r>
            <a:endParaRPr lang="en-US" sz="1300" dirty="0"/>
          </a:p>
        </p:txBody>
      </p:sp>
      <p:sp>
        <p:nvSpPr>
          <p:cNvPr id="41" name="Shape 38"/>
          <p:cNvSpPr/>
          <p:nvPr/>
        </p:nvSpPr>
        <p:spPr>
          <a:xfrm>
            <a:off x="658368" y="6281928"/>
            <a:ext cx="45720" cy="182880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04672" y="6272784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i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Coverage.py · documentación oficial y How coverage.py works</a:t>
            </a:r>
            <a:endParaRPr lang="en-US" sz="88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4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32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CIERRE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509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Tres preguntas antes de cambiar de lenguaje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664208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4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Tres preguntas para comprobar la idea central antes de seguir.</a:t>
            </a:r>
            <a:endParaRPr lang="en-US" sz="1420" dirty="0"/>
          </a:p>
        </p:txBody>
      </p:sp>
      <p:sp>
        <p:nvSpPr>
          <p:cNvPr id="11" name="Shape 8"/>
          <p:cNvSpPr/>
          <p:nvPr/>
        </p:nvSpPr>
        <p:spPr>
          <a:xfrm>
            <a:off x="658368" y="2139696"/>
            <a:ext cx="10874959" cy="1097280"/>
          </a:xfrm>
          <a:prstGeom prst="rect">
            <a:avLst/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8368" y="2139696"/>
            <a:ext cx="54864" cy="1097280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14400" y="2286000"/>
            <a:ext cx="493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318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1591056" y="2267712"/>
            <a:ext cx="96496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3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¿Por qué 30/30 aporta más información que repetir otro sobrecupo como 40/30?</a:t>
            </a:r>
            <a:endParaRPr lang="en-US" sz="1340" dirty="0"/>
          </a:p>
        </p:txBody>
      </p:sp>
      <p:sp>
        <p:nvSpPr>
          <p:cNvPr id="15" name="Shape 12"/>
          <p:cNvSpPr/>
          <p:nvPr/>
        </p:nvSpPr>
        <p:spPr>
          <a:xfrm>
            <a:off x="1591056" y="2798064"/>
            <a:ext cx="9649663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16" name="Text 13"/>
          <p:cNvSpPr txBox="1"/>
          <p:nvPr/>
        </p:nvSpPr>
        <p:spPr>
          <a:xfrm>
            <a:off x="1591056" y="2889504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spc="110" kern="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</a:t>
            </a:r>
            <a:endParaRPr lang="en-US" sz="840" dirty="0"/>
          </a:p>
        </p:txBody>
      </p:sp>
      <p:sp>
        <p:nvSpPr>
          <p:cNvPr id="17" name="Text 14"/>
          <p:cNvSpPr txBox="1"/>
          <p:nvPr/>
        </p:nvSpPr>
        <p:spPr>
          <a:xfrm>
            <a:off x="2286000" y="2862072"/>
            <a:ext cx="89547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40" i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Identifica cuál de los dos ejemplos obliga a abandonar la constante return False.</a:t>
            </a:r>
            <a:endParaRPr lang="en-US" sz="1140" dirty="0"/>
          </a:p>
        </p:txBody>
      </p:sp>
      <p:sp>
        <p:nvSpPr>
          <p:cNvPr id="18" name="Shape 15"/>
          <p:cNvSpPr/>
          <p:nvPr/>
        </p:nvSpPr>
        <p:spPr>
          <a:xfrm>
            <a:off x="658368" y="3364992"/>
            <a:ext cx="10874959" cy="1097280"/>
          </a:xfrm>
          <a:prstGeom prst="rect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58368" y="3364992"/>
            <a:ext cx="54864" cy="109728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14400" y="3511296"/>
            <a:ext cx="493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2600" dirty="0"/>
          </a:p>
        </p:txBody>
      </p:sp>
      <p:sp>
        <p:nvSpPr>
          <p:cNvPr id="21" name="Text 18"/>
          <p:cNvSpPr txBox="1"/>
          <p:nvPr/>
        </p:nvSpPr>
        <p:spPr>
          <a:xfrm>
            <a:off x="1591056" y="3493008"/>
            <a:ext cx="96496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3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defecto conserva personas &lt;= capacidad aunque las dos primeras pruebas pasen?</a:t>
            </a:r>
            <a:endParaRPr lang="en-US" sz="1340" dirty="0"/>
          </a:p>
        </p:txBody>
      </p:sp>
      <p:sp>
        <p:nvSpPr>
          <p:cNvPr id="22" name="Shape 19"/>
          <p:cNvSpPr/>
          <p:nvPr/>
        </p:nvSpPr>
        <p:spPr>
          <a:xfrm>
            <a:off x="1591056" y="4023360"/>
            <a:ext cx="9649663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23" name="Text 20"/>
          <p:cNvSpPr txBox="1"/>
          <p:nvPr/>
        </p:nvSpPr>
        <p:spPr>
          <a:xfrm>
            <a:off x="1591056" y="411480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spc="110" kern="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</a:t>
            </a:r>
            <a:endParaRPr lang="en-US" sz="840" dirty="0"/>
          </a:p>
        </p:txBody>
      </p:sp>
      <p:sp>
        <p:nvSpPr>
          <p:cNvPr id="24" name="Text 21"/>
          <p:cNvSpPr txBox="1"/>
          <p:nvPr/>
        </p:nvSpPr>
        <p:spPr>
          <a:xfrm>
            <a:off x="2286000" y="4087368"/>
            <a:ext cx="89547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40" i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 mentalmente el valor inmediatamente anterior al mínimo válido.</a:t>
            </a:r>
            <a:endParaRPr lang="en-US" sz="1140" dirty="0"/>
          </a:p>
        </p:txBody>
      </p:sp>
      <p:sp>
        <p:nvSpPr>
          <p:cNvPr id="25" name="Shape 22"/>
          <p:cNvSpPr/>
          <p:nvPr/>
        </p:nvSpPr>
        <p:spPr>
          <a:xfrm>
            <a:off x="658368" y="4590288"/>
            <a:ext cx="10874959" cy="1097280"/>
          </a:xfrm>
          <a:prstGeom prst="rect">
            <a:avLst/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58368" y="4590288"/>
            <a:ext cx="54864" cy="1097280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14400" y="4736592"/>
            <a:ext cx="493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A6A1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2600" dirty="0"/>
          </a:p>
        </p:txBody>
      </p:sp>
      <p:sp>
        <p:nvSpPr>
          <p:cNvPr id="28" name="Text 25"/>
          <p:cNvSpPr txBox="1"/>
          <p:nvPr/>
        </p:nvSpPr>
        <p:spPr>
          <a:xfrm>
            <a:off x="1591056" y="4718304"/>
            <a:ext cx="96496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3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¿Por qué 100 % de cobertura no vuelve innecesaria una alteración controlada?</a:t>
            </a:r>
            <a:endParaRPr lang="en-US" sz="1340" dirty="0"/>
          </a:p>
        </p:txBody>
      </p:sp>
      <p:sp>
        <p:nvSpPr>
          <p:cNvPr id="29" name="Shape 26"/>
          <p:cNvSpPr/>
          <p:nvPr/>
        </p:nvSpPr>
        <p:spPr>
          <a:xfrm>
            <a:off x="1591056" y="5248656"/>
            <a:ext cx="9649663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30" name="Text 27"/>
          <p:cNvSpPr txBox="1"/>
          <p:nvPr/>
        </p:nvSpPr>
        <p:spPr>
          <a:xfrm>
            <a:off x="1591056" y="5340096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spc="110" kern="0" dirty="0">
                <a:solidFill>
                  <a:srgbClr val="8A6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</a:t>
            </a:r>
            <a:endParaRPr lang="en-US" sz="840" dirty="0"/>
          </a:p>
        </p:txBody>
      </p:sp>
      <p:sp>
        <p:nvSpPr>
          <p:cNvPr id="31" name="Text 28"/>
          <p:cNvSpPr txBox="1"/>
          <p:nvPr/>
        </p:nvSpPr>
        <p:spPr>
          <a:xfrm>
            <a:off x="2286000" y="5312664"/>
            <a:ext cx="89547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40" i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Cobertura registra ejecución; la alteración pregunta si una decisión equivocada sería detectada.</a:t>
            </a:r>
            <a:endParaRPr lang="en-US" sz="114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4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33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CONTRASTE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509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 que tenía que aparecer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664208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4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respuestas conservan el mismo orden y color que las preguntas.</a:t>
            </a:r>
            <a:endParaRPr lang="en-US" sz="1420" dirty="0"/>
          </a:p>
        </p:txBody>
      </p:sp>
      <p:sp>
        <p:nvSpPr>
          <p:cNvPr id="11" name="Shape 8"/>
          <p:cNvSpPr/>
          <p:nvPr/>
        </p:nvSpPr>
        <p:spPr>
          <a:xfrm>
            <a:off x="658368" y="2139696"/>
            <a:ext cx="10874959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8368" y="2139696"/>
            <a:ext cx="54864" cy="1243584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96112" y="2304288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B318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2700" dirty="0"/>
          </a:p>
        </p:txBody>
      </p:sp>
      <p:sp>
        <p:nvSpPr>
          <p:cNvPr id="14" name="Text 11"/>
          <p:cNvSpPr txBox="1"/>
          <p:nvPr/>
        </p:nvSpPr>
        <p:spPr>
          <a:xfrm>
            <a:off x="1591056" y="2249424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30" b="1" spc="100" kern="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30/30 EXIGE UNA RESPUESTA DISTINTA</a:t>
            </a:r>
            <a:endParaRPr lang="en-US" sz="830" dirty="0"/>
          </a:p>
        </p:txBody>
      </p:sp>
      <p:sp>
        <p:nvSpPr>
          <p:cNvPr id="15" name="Text 12"/>
          <p:cNvSpPr txBox="1"/>
          <p:nvPr/>
        </p:nvSpPr>
        <p:spPr>
          <a:xfrm>
            <a:off x="1591056" y="2468880"/>
            <a:ext cx="964966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 False también rechaza 40/30, así que ese caso no cambia el código. En cambio, 30/30 debe ser True y rompe la constante.</a:t>
            </a:r>
            <a:endParaRPr lang="en-US" sz="1240" dirty="0"/>
          </a:p>
        </p:txBody>
      </p:sp>
      <p:sp>
        <p:nvSpPr>
          <p:cNvPr id="16" name="Shape 13"/>
          <p:cNvSpPr/>
          <p:nvPr/>
        </p:nvSpPr>
        <p:spPr>
          <a:xfrm>
            <a:off x="1591056" y="2871216"/>
            <a:ext cx="9649663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17" name="Text 14"/>
          <p:cNvSpPr txBox="1"/>
          <p:nvPr/>
        </p:nvSpPr>
        <p:spPr>
          <a:xfrm>
            <a:off x="1591056" y="2962656"/>
            <a:ext cx="1188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90" kern="0" dirty="0">
                <a:solidFill>
                  <a:srgbClr val="2E7D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REVELA</a:t>
            </a:r>
            <a:endParaRPr lang="en-US" sz="800" dirty="0"/>
          </a:p>
        </p:txBody>
      </p:sp>
      <p:sp>
        <p:nvSpPr>
          <p:cNvPr id="18" name="Text 15"/>
          <p:cNvSpPr txBox="1"/>
          <p:nvPr/>
        </p:nvSpPr>
        <p:spPr>
          <a:xfrm>
            <a:off x="2743200" y="293522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ejemplo informa más cuando contradice la implementación actual.</a:t>
            </a:r>
            <a:endParaRPr lang="en-US" sz="1020" dirty="0"/>
          </a:p>
        </p:txBody>
      </p:sp>
      <p:sp>
        <p:nvSpPr>
          <p:cNvPr id="19" name="Text 16"/>
          <p:cNvSpPr txBox="1"/>
          <p:nvPr/>
        </p:nvSpPr>
        <p:spPr>
          <a:xfrm>
            <a:off x="6784848" y="2962656"/>
            <a:ext cx="1325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90" kern="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 FRECUENTE</a:t>
            </a:r>
            <a:endParaRPr lang="en-US" sz="800" dirty="0"/>
          </a:p>
        </p:txBody>
      </p:sp>
      <p:sp>
        <p:nvSpPr>
          <p:cNvPr id="20" name="Text 17"/>
          <p:cNvSpPr txBox="1"/>
          <p:nvPr/>
        </p:nvSpPr>
        <p:spPr>
          <a:xfrm>
            <a:off x="8138160" y="2935224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20" i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«Más datos siempre significan más información.»</a:t>
            </a:r>
            <a:endParaRPr lang="en-US" sz="1020" dirty="0"/>
          </a:p>
        </p:txBody>
      </p:sp>
      <p:sp>
        <p:nvSpPr>
          <p:cNvPr id="21" name="Shape 18"/>
          <p:cNvSpPr/>
          <p:nvPr/>
        </p:nvSpPr>
        <p:spPr>
          <a:xfrm>
            <a:off x="658368" y="3493008"/>
            <a:ext cx="10874959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58368" y="3493008"/>
            <a:ext cx="54864" cy="124358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96112" y="3657600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2700" dirty="0"/>
          </a:p>
        </p:txBody>
      </p:sp>
      <p:sp>
        <p:nvSpPr>
          <p:cNvPr id="24" name="Text 21"/>
          <p:cNvSpPr txBox="1"/>
          <p:nvPr/>
        </p:nvSpPr>
        <p:spPr>
          <a:xfrm>
            <a:off x="1591056" y="3602736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30" b="1" spc="100" kern="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ACEPTA CERO PERSONAS</a:t>
            </a:r>
            <a:endParaRPr lang="en-US" sz="830" dirty="0"/>
          </a:p>
        </p:txBody>
      </p:sp>
      <p:sp>
        <p:nvSpPr>
          <p:cNvPr id="25" name="Text 22"/>
          <p:cNvSpPr txBox="1"/>
          <p:nvPr/>
        </p:nvSpPr>
        <p:spPr>
          <a:xfrm>
            <a:off x="1591056" y="3822192"/>
            <a:ext cx="964966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comparación considera válido cualquier número menor o igual que la capacidad. Sin un límite inferior, 0/30 produce True.</a:t>
            </a:r>
            <a:endParaRPr lang="en-US" sz="1240" dirty="0"/>
          </a:p>
        </p:txBody>
      </p:sp>
      <p:sp>
        <p:nvSpPr>
          <p:cNvPr id="26" name="Shape 23"/>
          <p:cNvSpPr/>
          <p:nvPr/>
        </p:nvSpPr>
        <p:spPr>
          <a:xfrm>
            <a:off x="1591056" y="4224528"/>
            <a:ext cx="9649663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27" name="Text 24"/>
          <p:cNvSpPr txBox="1"/>
          <p:nvPr/>
        </p:nvSpPr>
        <p:spPr>
          <a:xfrm>
            <a:off x="1591056" y="4315968"/>
            <a:ext cx="1188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90" kern="0" dirty="0">
                <a:solidFill>
                  <a:srgbClr val="2E7D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REVELA</a:t>
            </a:r>
            <a:endParaRPr lang="en-US" sz="800" dirty="0"/>
          </a:p>
        </p:txBody>
      </p:sp>
      <p:sp>
        <p:nvSpPr>
          <p:cNvPr id="28" name="Text 25"/>
          <p:cNvSpPr txBox="1"/>
          <p:nvPr/>
        </p:nvSpPr>
        <p:spPr>
          <a:xfrm>
            <a:off x="2743200" y="428853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tercera prueba agrega una decisión de la regla de negocio que la fórmula anterior no expresaba.</a:t>
            </a:r>
            <a:endParaRPr lang="en-US" sz="1020" dirty="0"/>
          </a:p>
        </p:txBody>
      </p:sp>
      <p:sp>
        <p:nvSpPr>
          <p:cNvPr id="29" name="Text 26"/>
          <p:cNvSpPr txBox="1"/>
          <p:nvPr/>
        </p:nvSpPr>
        <p:spPr>
          <a:xfrm>
            <a:off x="6784848" y="4315968"/>
            <a:ext cx="1325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90" kern="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 FRECUENTE</a:t>
            </a:r>
            <a:endParaRPr lang="en-US" sz="800" dirty="0"/>
          </a:p>
        </p:txBody>
      </p:sp>
      <p:sp>
        <p:nvSpPr>
          <p:cNvPr id="30" name="Text 27"/>
          <p:cNvSpPr txBox="1"/>
          <p:nvPr/>
        </p:nvSpPr>
        <p:spPr>
          <a:xfrm>
            <a:off x="8138160" y="4288536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20" i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«Si cubre el máximo, la regla ya está completa.»</a:t>
            </a:r>
            <a:endParaRPr lang="en-US" sz="1020" dirty="0"/>
          </a:p>
        </p:txBody>
      </p:sp>
      <p:sp>
        <p:nvSpPr>
          <p:cNvPr id="31" name="Shape 28"/>
          <p:cNvSpPr/>
          <p:nvPr/>
        </p:nvSpPr>
        <p:spPr>
          <a:xfrm>
            <a:off x="658368" y="4846320"/>
            <a:ext cx="10874959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58368" y="4846320"/>
            <a:ext cx="54864" cy="1243584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896112" y="5010912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8A6A1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2700" dirty="0"/>
          </a:p>
        </p:txBody>
      </p:sp>
      <p:sp>
        <p:nvSpPr>
          <p:cNvPr id="34" name="Text 31"/>
          <p:cNvSpPr txBox="1"/>
          <p:nvPr/>
        </p:nvSpPr>
        <p:spPr>
          <a:xfrm>
            <a:off x="1591056" y="495604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30" b="1" spc="100" kern="0" dirty="0">
                <a:solidFill>
                  <a:srgbClr val="8A6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EJECUCIÓN Y SENSIBILIDAD NO SON EQUIVALENTES</a:t>
            </a:r>
            <a:endParaRPr lang="en-US" sz="830" dirty="0"/>
          </a:p>
        </p:txBody>
      </p:sp>
      <p:sp>
        <p:nvSpPr>
          <p:cNvPr id="35" name="Text 32"/>
          <p:cNvSpPr txBox="1"/>
          <p:nvPr/>
        </p:nvSpPr>
        <p:spPr>
          <a:xfrm>
            <a:off x="1591056" y="5175504"/>
            <a:ext cx="964966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100 % confirma que se ejecutaron las dos sentencias. La alteración comprueba si una decisión incorrecta provoca un rojo.</a:t>
            </a:r>
            <a:endParaRPr lang="en-US" sz="1240" dirty="0"/>
          </a:p>
        </p:txBody>
      </p:sp>
      <p:sp>
        <p:nvSpPr>
          <p:cNvPr id="36" name="Shape 33"/>
          <p:cNvSpPr/>
          <p:nvPr/>
        </p:nvSpPr>
        <p:spPr>
          <a:xfrm>
            <a:off x="1591056" y="5577840"/>
            <a:ext cx="9649663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37" name="Text 34"/>
          <p:cNvSpPr txBox="1"/>
          <p:nvPr/>
        </p:nvSpPr>
        <p:spPr>
          <a:xfrm>
            <a:off x="1591056" y="5669280"/>
            <a:ext cx="1188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90" kern="0" dirty="0">
                <a:solidFill>
                  <a:srgbClr val="2E7D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REVELA</a:t>
            </a:r>
            <a:endParaRPr lang="en-US" sz="800" dirty="0"/>
          </a:p>
        </p:txBody>
      </p:sp>
      <p:sp>
        <p:nvSpPr>
          <p:cNvPr id="38" name="Text 35"/>
          <p:cNvSpPr txBox="1"/>
          <p:nvPr/>
        </p:nvSpPr>
        <p:spPr>
          <a:xfrm>
            <a:off x="2743200" y="564184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suite puede recorrer una línea sin vigilar todas las decisiones que contiene.</a:t>
            </a:r>
            <a:endParaRPr lang="en-US" sz="1020" dirty="0"/>
          </a:p>
        </p:txBody>
      </p:sp>
      <p:sp>
        <p:nvSpPr>
          <p:cNvPr id="39" name="Text 36"/>
          <p:cNvSpPr txBox="1"/>
          <p:nvPr/>
        </p:nvSpPr>
        <p:spPr>
          <a:xfrm>
            <a:off x="6784848" y="5669280"/>
            <a:ext cx="1325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90" kern="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 FRECUENTE</a:t>
            </a:r>
            <a:endParaRPr lang="en-US" sz="800" dirty="0"/>
          </a:p>
        </p:txBody>
      </p:sp>
      <p:sp>
        <p:nvSpPr>
          <p:cNvPr id="40" name="Text 37"/>
          <p:cNvSpPr txBox="1"/>
          <p:nvPr/>
        </p:nvSpPr>
        <p:spPr>
          <a:xfrm>
            <a:off x="8138160" y="5641848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20" i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«100 % de cobertura demuestra corrección.»</a:t>
            </a:r>
            <a:endParaRPr lang="en-US" sz="102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C:\Users\Diego Obando\dev\pro402-taller-de-testing-2026\clases\semana-04\02\ppt\source\assets\logo-aie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307150"/>
            <a:ext cx="1335024" cy="46469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34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1408176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spc="13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 DE 4 · 25 MINUTOS</a:t>
            </a:r>
            <a:endParaRPr lang="en-US" sz="96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1810512"/>
            <a:ext cx="1024128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método cambia de idioma, no de disciplina</a:t>
            </a:r>
            <a:endParaRPr lang="en-US" sz="3900" dirty="0"/>
          </a:p>
        </p:txBody>
      </p:sp>
      <p:sp>
        <p:nvSpPr>
          <p:cNvPr id="10" name="Shape 7"/>
          <p:cNvSpPr/>
          <p:nvPr/>
        </p:nvSpPr>
        <p:spPr>
          <a:xfrm>
            <a:off x="658368" y="3035808"/>
            <a:ext cx="3310128" cy="0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  <a:headEnd type="none"/>
            <a:tailEnd type="none"/>
          </a:ln>
        </p:spPr>
      </p:sp>
      <p:sp>
        <p:nvSpPr>
          <p:cNvPr id="11" name="Text 8"/>
          <p:cNvSpPr txBox="1"/>
          <p:nvPr/>
        </p:nvSpPr>
        <p:spPr>
          <a:xfrm>
            <a:off x="658368" y="3273552"/>
            <a:ext cx="9875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650" i="1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Vitest permite repetir rojo–verde–refactor en TypeScript. Después aparece una pregunta distinta: ¿qué demuestra una entrega si prueba y código llegaron juntos y ya estaban verdes?</a:t>
            </a:r>
            <a:endParaRPr lang="en-US" sz="1650" dirty="0"/>
          </a:p>
        </p:txBody>
      </p:sp>
      <p:sp>
        <p:nvSpPr>
          <p:cNvPr id="12" name="Shape 9"/>
          <p:cNvSpPr/>
          <p:nvPr/>
        </p:nvSpPr>
        <p:spPr>
          <a:xfrm>
            <a:off x="658368" y="4572000"/>
            <a:ext cx="3401568" cy="1024128"/>
          </a:xfrm>
          <a:prstGeom prst="rect">
            <a:avLst/>
          </a:prstGeom>
          <a:solidFill>
            <a:srgbClr val="1D3A57"/>
          </a:solidFill>
          <a:ln w="12700">
            <a:solidFill>
              <a:srgbClr val="1D3A5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2960" y="4837176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2300" dirty="0"/>
          </a:p>
        </p:txBody>
      </p:sp>
      <p:sp>
        <p:nvSpPr>
          <p:cNvPr id="14" name="Text 11"/>
          <p:cNvSpPr txBox="1"/>
          <p:nvPr/>
        </p:nvSpPr>
        <p:spPr>
          <a:xfrm>
            <a:off x="1371600" y="4727448"/>
            <a:ext cx="239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Transferir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1371600" y="5010912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7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Reconocer el mismo ciclo detrás de otra sintaxis.</a:t>
            </a:r>
            <a:endParaRPr lang="en-US" sz="970" dirty="0"/>
          </a:p>
        </p:txBody>
      </p:sp>
      <p:sp>
        <p:nvSpPr>
          <p:cNvPr id="16" name="Shape 13"/>
          <p:cNvSpPr/>
          <p:nvPr/>
        </p:nvSpPr>
        <p:spPr>
          <a:xfrm>
            <a:off x="4425696" y="4572000"/>
            <a:ext cx="3401568" cy="1024128"/>
          </a:xfrm>
          <a:prstGeom prst="rect">
            <a:avLst/>
          </a:prstGeom>
          <a:solidFill>
            <a:srgbClr val="1D3A57"/>
          </a:solidFill>
          <a:ln w="12700">
            <a:solidFill>
              <a:srgbClr val="1D3A5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590288" y="4837176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2300" dirty="0"/>
          </a:p>
        </p:txBody>
      </p:sp>
      <p:sp>
        <p:nvSpPr>
          <p:cNvPr id="18" name="Text 15"/>
          <p:cNvSpPr txBox="1"/>
          <p:nvPr/>
        </p:nvSpPr>
        <p:spPr>
          <a:xfrm>
            <a:off x="5138928" y="4727448"/>
            <a:ext cx="239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Ejecutar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5138928" y="5010912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7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Leer un rojo y producir el verde mínimo con Vitest.</a:t>
            </a:r>
            <a:endParaRPr lang="en-US" sz="970" dirty="0"/>
          </a:p>
        </p:txBody>
      </p:sp>
      <p:sp>
        <p:nvSpPr>
          <p:cNvPr id="20" name="Shape 17"/>
          <p:cNvSpPr/>
          <p:nvPr/>
        </p:nvSpPr>
        <p:spPr>
          <a:xfrm>
            <a:off x="8193024" y="4572000"/>
            <a:ext cx="3401568" cy="1024128"/>
          </a:xfrm>
          <a:prstGeom prst="rect">
            <a:avLst/>
          </a:prstGeom>
          <a:solidFill>
            <a:srgbClr val="1D3A57"/>
          </a:solidFill>
          <a:ln w="12700">
            <a:solidFill>
              <a:srgbClr val="1D3A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357616" y="4837176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3FAE6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2300" dirty="0"/>
          </a:p>
        </p:txBody>
      </p:sp>
      <p:sp>
        <p:nvSpPr>
          <p:cNvPr id="22" name="Text 19"/>
          <p:cNvSpPr txBox="1"/>
          <p:nvPr/>
        </p:nvSpPr>
        <p:spPr>
          <a:xfrm>
            <a:off x="8906256" y="4727448"/>
            <a:ext cx="239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Auditar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8906256" y="5010912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7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Separar sensibilidad actual de historia del proceso.</a:t>
            </a:r>
            <a:endParaRPr lang="en-US" sz="97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4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35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 · TRANSFERENCIA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509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Runner distinto; preguntas del ciclo intactas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664208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4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ejecutor de pruebas —también llamado runner— descubre casos, los ejecuta y reporta resultados. pytest y Vitest cambian la sintaxis y el comando, pero no el orden de razonamiento.</a:t>
            </a:r>
            <a:endParaRPr lang="en-US" sz="1420" dirty="0"/>
          </a:p>
        </p:txBody>
      </p:sp>
      <p:sp>
        <p:nvSpPr>
          <p:cNvPr id="11" name="Shape 8"/>
          <p:cNvSpPr/>
          <p:nvPr/>
        </p:nvSpPr>
        <p:spPr>
          <a:xfrm>
            <a:off x="658368" y="2286000"/>
            <a:ext cx="2487168" cy="420624"/>
          </a:xfrm>
          <a:prstGeom prst="rect">
            <a:avLst/>
          </a:prstGeom>
          <a:solidFill>
            <a:srgbClr val="2C4A66"/>
          </a:solidFill>
          <a:ln w="12700">
            <a:solidFill>
              <a:srgbClr val="2C4A6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04672" y="240487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70" b="1" spc="7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PYTEST · PYTHON</a:t>
            </a:r>
            <a:endParaRPr lang="en-US" sz="870" dirty="0"/>
          </a:p>
        </p:txBody>
      </p:sp>
      <p:sp>
        <p:nvSpPr>
          <p:cNvPr id="13" name="Shape 10"/>
          <p:cNvSpPr/>
          <p:nvPr/>
        </p:nvSpPr>
        <p:spPr>
          <a:xfrm>
            <a:off x="3401568" y="2286000"/>
            <a:ext cx="2615184" cy="420624"/>
          </a:xfrm>
          <a:prstGeom prst="rect">
            <a:avLst/>
          </a:prstGeom>
          <a:solidFill>
            <a:srgbClr val="2C4A66"/>
          </a:solidFill>
          <a:ln w="12700">
            <a:solidFill>
              <a:srgbClr val="2C4A6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547872" y="2404872"/>
            <a:ext cx="23225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70" b="1" spc="7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VITEST · TYPESCRIPT</a:t>
            </a:r>
            <a:endParaRPr lang="en-US" sz="870" dirty="0"/>
          </a:p>
        </p:txBody>
      </p:sp>
      <p:sp>
        <p:nvSpPr>
          <p:cNvPr id="15" name="Shape 12"/>
          <p:cNvSpPr/>
          <p:nvPr/>
        </p:nvSpPr>
        <p:spPr>
          <a:xfrm>
            <a:off x="6272784" y="2286000"/>
            <a:ext cx="5257800" cy="42062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19088" y="2404872"/>
            <a:ext cx="4965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70" b="1" spc="7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FUNCIÓN EN EL PROCESO</a:t>
            </a:r>
            <a:endParaRPr lang="en-US" sz="870" dirty="0"/>
          </a:p>
        </p:txBody>
      </p:sp>
      <p:sp>
        <p:nvSpPr>
          <p:cNvPr id="17" name="Shape 14"/>
          <p:cNvSpPr/>
          <p:nvPr/>
        </p:nvSpPr>
        <p:spPr>
          <a:xfrm>
            <a:off x="658368" y="2761488"/>
            <a:ext cx="10874959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04672" y="287121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70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test_*</a:t>
            </a:r>
            <a:endParaRPr lang="en-US" sz="970" dirty="0"/>
          </a:p>
        </p:txBody>
      </p:sp>
      <p:sp>
        <p:nvSpPr>
          <p:cNvPr id="19" name="Text 16"/>
          <p:cNvSpPr txBox="1"/>
          <p:nvPr/>
        </p:nvSpPr>
        <p:spPr>
          <a:xfrm>
            <a:off x="3547872" y="2871216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7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it(...) o test(...)</a:t>
            </a:r>
            <a:endParaRPr lang="en-US" sz="970" dirty="0"/>
          </a:p>
        </p:txBody>
      </p:sp>
      <p:sp>
        <p:nvSpPr>
          <p:cNvPr id="20" name="Text 17"/>
          <p:cNvSpPr txBox="1"/>
          <p:nvPr/>
        </p:nvSpPr>
        <p:spPr>
          <a:xfrm>
            <a:off x="6419088" y="2871216"/>
            <a:ext cx="4965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Declara un caso ejecutable y le asigna un nombre.</a:t>
            </a:r>
            <a:endParaRPr lang="en-US" sz="1060" dirty="0"/>
          </a:p>
        </p:txBody>
      </p:sp>
      <p:sp>
        <p:nvSpPr>
          <p:cNvPr id="21" name="Shape 18"/>
          <p:cNvSpPr/>
          <p:nvPr/>
        </p:nvSpPr>
        <p:spPr>
          <a:xfrm>
            <a:off x="658368" y="3383280"/>
            <a:ext cx="10874959" cy="530352"/>
          </a:xfrm>
          <a:prstGeom prst="rect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04672" y="34930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70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test_*.py</a:t>
            </a:r>
            <a:endParaRPr lang="en-US" sz="970" dirty="0"/>
          </a:p>
        </p:txBody>
      </p:sp>
      <p:sp>
        <p:nvSpPr>
          <p:cNvPr id="23" name="Text 20"/>
          <p:cNvSpPr txBox="1"/>
          <p:nvPr/>
        </p:nvSpPr>
        <p:spPr>
          <a:xfrm>
            <a:off x="3547872" y="3493008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7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*.test.ts o *.spec.ts</a:t>
            </a:r>
            <a:endParaRPr lang="en-US" sz="970" dirty="0"/>
          </a:p>
        </p:txBody>
      </p:sp>
      <p:sp>
        <p:nvSpPr>
          <p:cNvPr id="24" name="Text 21"/>
          <p:cNvSpPr txBox="1"/>
          <p:nvPr/>
        </p:nvSpPr>
        <p:spPr>
          <a:xfrm>
            <a:off x="6419088" y="3493008"/>
            <a:ext cx="4965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Permite que el runner descubra el archivo de pruebas.</a:t>
            </a:r>
            <a:endParaRPr lang="en-US" sz="1060" dirty="0"/>
          </a:p>
        </p:txBody>
      </p:sp>
      <p:sp>
        <p:nvSpPr>
          <p:cNvPr id="25" name="Shape 22"/>
          <p:cNvSpPr/>
          <p:nvPr/>
        </p:nvSpPr>
        <p:spPr>
          <a:xfrm>
            <a:off x="658368" y="4005072"/>
            <a:ext cx="10874959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04672" y="41148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70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 ... is True</a:t>
            </a:r>
            <a:endParaRPr lang="en-US" sz="970" dirty="0"/>
          </a:p>
        </p:txBody>
      </p:sp>
      <p:sp>
        <p:nvSpPr>
          <p:cNvPr id="27" name="Text 24"/>
          <p:cNvSpPr txBox="1"/>
          <p:nvPr/>
        </p:nvSpPr>
        <p:spPr>
          <a:xfrm>
            <a:off x="3547872" y="4114800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7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expect(...).toBe(true)</a:t>
            </a:r>
            <a:endParaRPr lang="en-US" sz="970" dirty="0"/>
          </a:p>
        </p:txBody>
      </p:sp>
      <p:sp>
        <p:nvSpPr>
          <p:cNvPr id="28" name="Text 25"/>
          <p:cNvSpPr txBox="1"/>
          <p:nvPr/>
        </p:nvSpPr>
        <p:spPr>
          <a:xfrm>
            <a:off x="6419088" y="4114800"/>
            <a:ext cx="4965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Compara el valor observado con el valor esperado.</a:t>
            </a:r>
            <a:endParaRPr lang="en-US" sz="1060" dirty="0"/>
          </a:p>
        </p:txBody>
      </p:sp>
      <p:sp>
        <p:nvSpPr>
          <p:cNvPr id="29" name="Shape 26"/>
          <p:cNvSpPr/>
          <p:nvPr/>
        </p:nvSpPr>
        <p:spPr>
          <a:xfrm>
            <a:off x="658368" y="4626864"/>
            <a:ext cx="10874959" cy="530352"/>
          </a:xfrm>
          <a:prstGeom prst="rect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04672" y="47365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70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pytest -q</a:t>
            </a:r>
            <a:endParaRPr lang="en-US" sz="970" dirty="0"/>
          </a:p>
        </p:txBody>
      </p:sp>
      <p:sp>
        <p:nvSpPr>
          <p:cNvPr id="31" name="Text 28"/>
          <p:cNvSpPr txBox="1"/>
          <p:nvPr/>
        </p:nvSpPr>
        <p:spPr>
          <a:xfrm>
            <a:off x="3547872" y="4736592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7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test</a:t>
            </a:r>
            <a:endParaRPr lang="en-US" sz="970" dirty="0"/>
          </a:p>
        </p:txBody>
      </p:sp>
      <p:sp>
        <p:nvSpPr>
          <p:cNvPr id="32" name="Text 29"/>
          <p:cNvSpPr txBox="1"/>
          <p:nvPr/>
        </p:nvSpPr>
        <p:spPr>
          <a:xfrm>
            <a:off x="6419088" y="4736592"/>
            <a:ext cx="4965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Ejecuta la suite preparada y termina con un resultado.</a:t>
            </a:r>
            <a:endParaRPr lang="en-US" sz="1060" dirty="0"/>
          </a:p>
        </p:txBody>
      </p:sp>
      <p:sp>
        <p:nvSpPr>
          <p:cNvPr id="33" name="Shape 30"/>
          <p:cNvSpPr/>
          <p:nvPr/>
        </p:nvSpPr>
        <p:spPr>
          <a:xfrm>
            <a:off x="658368" y="5413248"/>
            <a:ext cx="54864" cy="749808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58368" y="5413248"/>
            <a:ext cx="10874959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35" name="Shape 32"/>
          <p:cNvSpPr/>
          <p:nvPr/>
        </p:nvSpPr>
        <p:spPr>
          <a:xfrm>
            <a:off x="658368" y="6163056"/>
            <a:ext cx="10874959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36" name="Text 33"/>
          <p:cNvSpPr txBox="1"/>
          <p:nvPr/>
        </p:nvSpPr>
        <p:spPr>
          <a:xfrm>
            <a:off x="914400" y="5632704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CONFUNDIR</a:t>
            </a:r>
            <a:endParaRPr lang="en-US" sz="900" dirty="0"/>
          </a:p>
        </p:txBody>
      </p:sp>
      <p:sp>
        <p:nvSpPr>
          <p:cNvPr id="37" name="Text 34"/>
          <p:cNvSpPr txBox="1"/>
          <p:nvPr/>
        </p:nvSpPr>
        <p:spPr>
          <a:xfrm>
            <a:off x="2212848" y="5559552"/>
            <a:ext cx="9784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7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Vitest transforma TypeScript para ejecutar las pruebas, pero eso no equivale al tipado estático: comprobar sin ejecutar que los tipos declarados sean coherentes. Son controles diferentes.</a:t>
            </a:r>
            <a:endParaRPr lang="en-US" sz="1070" dirty="0"/>
          </a:p>
        </p:txBody>
      </p:sp>
      <p:sp>
        <p:nvSpPr>
          <p:cNvPr id="38" name="Shape 35"/>
          <p:cNvSpPr/>
          <p:nvPr/>
        </p:nvSpPr>
        <p:spPr>
          <a:xfrm>
            <a:off x="658368" y="6263640"/>
            <a:ext cx="45720" cy="182880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804672" y="6254496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i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Vitest · Getting Started, Writing Tests, Test API y Expect API</a:t>
            </a:r>
            <a:endParaRPr lang="en-US" sz="88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4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36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 · UNA VUELTA EN VITEST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509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7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límite exacto produce el mismo aprendizaje en TypeScript</a:t>
            </a:r>
            <a:endParaRPr lang="en-US" sz="27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664208"/>
            <a:ext cx="10424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4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implementación inicial devuelve false. Primero se expresa que 30 personas sí caben en una sala de capacidad 30; después se observa el rojo y se cambia lo mínimo.</a:t>
            </a:r>
            <a:endParaRPr lang="en-US" sz="1420" dirty="0"/>
          </a:p>
        </p:txBody>
      </p:sp>
      <p:sp>
        <p:nvSpPr>
          <p:cNvPr id="11" name="Shape 8"/>
          <p:cNvSpPr/>
          <p:nvPr/>
        </p:nvSpPr>
        <p:spPr>
          <a:xfrm>
            <a:off x="658368" y="2340864"/>
            <a:ext cx="5440680" cy="1874520"/>
          </a:xfrm>
          <a:prstGeom prst="roundRect">
            <a:avLst>
              <a:gd name="adj" fmla="val 1951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86384" y="2450592"/>
            <a:ext cx="5184648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96112" y="2523744"/>
            <a:ext cx="49651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· capacidad.test.ts · expectativa primero</a:t>
            </a:r>
            <a:endParaRPr lang="en-US" sz="10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7824" y="2907792"/>
            <a:ext cx="5020056" cy="1124712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6345936" y="2340864"/>
            <a:ext cx="5184648" cy="1874520"/>
          </a:xfrm>
          <a:prstGeom prst="roundRect">
            <a:avLst>
              <a:gd name="adj" fmla="val 1951"/>
            </a:avLst>
          </a:prstGeom>
          <a:solidFill>
            <a:srgbClr val="0F1720"/>
          </a:solidFill>
          <a:ln w="12700">
            <a:solidFill>
              <a:srgbClr val="0F172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473952" y="2450592"/>
            <a:ext cx="4928616" cy="310896"/>
          </a:xfrm>
          <a:prstGeom prst="roundRect">
            <a:avLst>
              <a:gd name="adj" fmla="val 8824"/>
            </a:avLst>
          </a:prstGeom>
          <a:solidFill>
            <a:srgbClr val="1E2937"/>
          </a:solidFill>
          <a:ln w="12700">
            <a:solidFill>
              <a:srgbClr val="1E2937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601968" y="2523744"/>
            <a:ext cx="467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· rojo leído · la causa coincide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6565392" y="2907792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6876288" y="2907792"/>
            <a:ext cx="4434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test -- --reporter=verbose</a:t>
            </a:r>
            <a:endParaRPr lang="en-US" sz="850" dirty="0"/>
          </a:p>
        </p:txBody>
      </p:sp>
      <p:sp>
        <p:nvSpPr>
          <p:cNvPr id="20" name="Text 16"/>
          <p:cNvSpPr/>
          <p:nvPr/>
        </p:nvSpPr>
        <p:spPr>
          <a:xfrm>
            <a:off x="6565392" y="3163824"/>
            <a:ext cx="4434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 acepta una reserva que ocupa el cupo exacto</a:t>
            </a:r>
            <a:endParaRPr lang="en-US" sz="850" dirty="0"/>
          </a:p>
        </p:txBody>
      </p:sp>
      <p:sp>
        <p:nvSpPr>
          <p:cNvPr id="21" name="Text 17"/>
          <p:cNvSpPr/>
          <p:nvPr/>
        </p:nvSpPr>
        <p:spPr>
          <a:xfrm>
            <a:off x="6565392" y="3419856"/>
            <a:ext cx="4434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expected false to be true</a:t>
            </a:r>
            <a:endParaRPr lang="en-US" sz="850" dirty="0"/>
          </a:p>
        </p:txBody>
      </p:sp>
      <p:sp>
        <p:nvSpPr>
          <p:cNvPr id="22" name="Text 18"/>
          <p:cNvSpPr/>
          <p:nvPr/>
        </p:nvSpPr>
        <p:spPr>
          <a:xfrm>
            <a:off x="6565392" y="3675888"/>
            <a:ext cx="4434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A0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 Files  1 failed (1)</a:t>
            </a:r>
            <a:endParaRPr lang="en-US" sz="850" dirty="0"/>
          </a:p>
        </p:txBody>
      </p:sp>
      <p:sp>
        <p:nvSpPr>
          <p:cNvPr id="23" name="Text 19"/>
          <p:cNvSpPr/>
          <p:nvPr/>
        </p:nvSpPr>
        <p:spPr>
          <a:xfrm>
            <a:off x="6565392" y="3931920"/>
            <a:ext cx="4434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A0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Tests       1 failed (1)</a:t>
            </a:r>
            <a:endParaRPr lang="en-US" sz="850" dirty="0"/>
          </a:p>
        </p:txBody>
      </p:sp>
      <p:sp>
        <p:nvSpPr>
          <p:cNvPr id="24" name="Shape 20"/>
          <p:cNvSpPr/>
          <p:nvPr/>
        </p:nvSpPr>
        <p:spPr>
          <a:xfrm>
            <a:off x="658368" y="4443984"/>
            <a:ext cx="5852160" cy="1060704"/>
          </a:xfrm>
          <a:prstGeom prst="roundRect">
            <a:avLst>
              <a:gd name="adj" fmla="val 3448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786384" y="4553712"/>
            <a:ext cx="5596128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896112" y="4626864"/>
            <a:ext cx="5376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· capacidad.ts · cambio mínimo</a:t>
            </a:r>
            <a:endParaRPr lang="en-US" sz="1000" dirty="0"/>
          </a:p>
        </p:txBody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77824" y="5010912"/>
            <a:ext cx="5431536" cy="310896"/>
          </a:xfrm>
          <a:prstGeom prst="rect">
            <a:avLst/>
          </a:prstGeom>
        </p:spPr>
      </p:pic>
      <p:sp>
        <p:nvSpPr>
          <p:cNvPr id="28" name="Shape 23"/>
          <p:cNvSpPr/>
          <p:nvPr/>
        </p:nvSpPr>
        <p:spPr>
          <a:xfrm>
            <a:off x="6748272" y="4443984"/>
            <a:ext cx="4782312" cy="1060704"/>
          </a:xfrm>
          <a:prstGeom prst="roundRect">
            <a:avLst>
              <a:gd name="adj" fmla="val 3448"/>
            </a:avLst>
          </a:prstGeom>
          <a:solidFill>
            <a:srgbClr val="0F1720"/>
          </a:solidFill>
          <a:ln w="12700">
            <a:solidFill>
              <a:srgbClr val="0F1720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6876288" y="4553712"/>
            <a:ext cx="4526280" cy="310896"/>
          </a:xfrm>
          <a:prstGeom prst="roundRect">
            <a:avLst>
              <a:gd name="adj" fmla="val 8824"/>
            </a:avLst>
          </a:prstGeom>
          <a:solidFill>
            <a:srgbClr val="1E2937"/>
          </a:solidFill>
          <a:ln w="12700">
            <a:solidFill>
              <a:srgbClr val="1E2937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7004304" y="4626864"/>
            <a:ext cx="42702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· verde comprobado</a:t>
            </a:r>
            <a:endParaRPr lang="en-US" sz="1000" dirty="0"/>
          </a:p>
        </p:txBody>
      </p:sp>
      <p:sp>
        <p:nvSpPr>
          <p:cNvPr id="31" name="Text 26"/>
          <p:cNvSpPr/>
          <p:nvPr/>
        </p:nvSpPr>
        <p:spPr>
          <a:xfrm>
            <a:off x="6967728" y="5010912"/>
            <a:ext cx="4032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acepta una reserva que ocupa el cupo exacto</a:t>
            </a:r>
            <a:endParaRPr lang="en-US" sz="920" dirty="0"/>
          </a:p>
        </p:txBody>
      </p:sp>
      <p:sp>
        <p:nvSpPr>
          <p:cNvPr id="32" name="Text 27"/>
          <p:cNvSpPr/>
          <p:nvPr/>
        </p:nvSpPr>
        <p:spPr>
          <a:xfrm>
            <a:off x="6967728" y="5266944"/>
            <a:ext cx="4032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passed</a:t>
            </a:r>
            <a:endParaRPr lang="en-US" sz="920" dirty="0"/>
          </a:p>
        </p:txBody>
      </p:sp>
      <p:sp>
        <p:nvSpPr>
          <p:cNvPr id="33" name="Shape 28"/>
          <p:cNvSpPr/>
          <p:nvPr/>
        </p:nvSpPr>
        <p:spPr>
          <a:xfrm>
            <a:off x="658368" y="5742432"/>
            <a:ext cx="10874959" cy="47548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4" name="Text 29"/>
          <p:cNvSpPr txBox="1"/>
          <p:nvPr/>
        </p:nvSpPr>
        <p:spPr>
          <a:xfrm>
            <a:off x="950976" y="5779008"/>
            <a:ext cx="1028974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Refactor: no hay una mejora estructural necesaria en esta función de una línea. Inspeccionar y no cambiar también completa la fase.</a:t>
            </a:r>
            <a:endParaRPr lang="en-US" sz="12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4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37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 · ENTREGA AGÉNTICA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509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7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Prueba y código en verde muestran compatibilidad, no historia</a:t>
            </a:r>
            <a:endParaRPr lang="en-US" sz="27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664208"/>
            <a:ext cx="10469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4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entrega agéntica es un cambio producido total o parcialmente por un agente de software. Si los archivos llegan juntos, el estado final no revela por sí solo qué existió primero.</a:t>
            </a:r>
            <a:endParaRPr lang="en-US" sz="1420" dirty="0"/>
          </a:p>
        </p:txBody>
      </p:sp>
      <p:sp>
        <p:nvSpPr>
          <p:cNvPr id="11" name="Shape 8"/>
          <p:cNvSpPr/>
          <p:nvPr/>
        </p:nvSpPr>
        <p:spPr>
          <a:xfrm>
            <a:off x="658368" y="2359152"/>
            <a:ext cx="5632704" cy="1444752"/>
          </a:xfrm>
          <a:prstGeom prst="roundRect">
            <a:avLst>
              <a:gd name="adj" fmla="val 2532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86384" y="2468880"/>
            <a:ext cx="5376672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96112" y="2542032"/>
            <a:ext cx="51572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Implementación recibida</a:t>
            </a:r>
            <a:endParaRPr lang="en-US" sz="10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7824" y="2926080"/>
            <a:ext cx="5212080" cy="694944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6547104" y="2359152"/>
            <a:ext cx="4983480" cy="1444752"/>
          </a:xfrm>
          <a:prstGeom prst="roundRect">
            <a:avLst>
              <a:gd name="adj" fmla="val 2532"/>
            </a:avLst>
          </a:prstGeom>
          <a:solidFill>
            <a:srgbClr val="0F1720"/>
          </a:solidFill>
          <a:ln w="12700">
            <a:solidFill>
              <a:srgbClr val="0F172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675120" y="2468880"/>
            <a:ext cx="4727448" cy="310896"/>
          </a:xfrm>
          <a:prstGeom prst="roundRect">
            <a:avLst>
              <a:gd name="adj" fmla="val 8824"/>
            </a:avLst>
          </a:prstGeom>
          <a:solidFill>
            <a:srgbClr val="1E2937"/>
          </a:solidFill>
          <a:ln w="12700">
            <a:solidFill>
              <a:srgbClr val="1E2937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803136" y="2542032"/>
            <a:ext cx="44714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Suite recibida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6766560" y="2926080"/>
            <a:ext cx="4233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 Files  1 passed (1)</a:t>
            </a:r>
            <a:endParaRPr lang="en-US" sz="940" dirty="0"/>
          </a:p>
        </p:txBody>
      </p:sp>
      <p:sp>
        <p:nvSpPr>
          <p:cNvPr id="19" name="Text 15"/>
          <p:cNvSpPr/>
          <p:nvPr/>
        </p:nvSpPr>
        <p:spPr>
          <a:xfrm>
            <a:off x="6766560" y="3182112"/>
            <a:ext cx="4233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Tests       3 passed (3)</a:t>
            </a:r>
            <a:endParaRPr lang="en-US" sz="940" dirty="0"/>
          </a:p>
        </p:txBody>
      </p:sp>
      <p:sp>
        <p:nvSpPr>
          <p:cNvPr id="20" name="Shape 16"/>
          <p:cNvSpPr/>
          <p:nvPr/>
        </p:nvSpPr>
        <p:spPr>
          <a:xfrm>
            <a:off x="658368" y="4096512"/>
            <a:ext cx="5294376" cy="585216"/>
          </a:xfrm>
          <a:prstGeom prst="rect">
            <a:avLst/>
          </a:prstGeom>
          <a:solidFill>
            <a:srgbClr val="E9F6EE"/>
          </a:solidFill>
          <a:ln w="12700">
            <a:solidFill>
              <a:srgbClr val="E9F6EE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58368" y="4096512"/>
            <a:ext cx="54864" cy="585216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896112" y="4206240"/>
            <a:ext cx="1225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30" b="1" spc="80" kern="0" dirty="0">
                <a:solidFill>
                  <a:srgbClr val="2E7D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SÍ DEMUESTRA</a:t>
            </a:r>
            <a:endParaRPr lang="en-US" sz="830" dirty="0"/>
          </a:p>
        </p:txBody>
      </p:sp>
      <p:sp>
        <p:nvSpPr>
          <p:cNvPr id="23" name="Text 19"/>
          <p:cNvSpPr txBox="1"/>
          <p:nvPr/>
        </p:nvSpPr>
        <p:spPr>
          <a:xfrm>
            <a:off x="2157984" y="4187952"/>
            <a:ext cx="3547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código actual satisface las expectativas que la suite ejecutó.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6236208" y="4096512"/>
            <a:ext cx="5294376" cy="585216"/>
          </a:xfrm>
          <a:prstGeom prst="rect">
            <a:avLst/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6236208" y="4096512"/>
            <a:ext cx="54864" cy="585216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6473952" y="4206240"/>
            <a:ext cx="1225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30" b="1" spc="80" kern="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DEMUESTRA</a:t>
            </a:r>
            <a:endParaRPr lang="en-US" sz="830" dirty="0"/>
          </a:p>
        </p:txBody>
      </p:sp>
      <p:sp>
        <p:nvSpPr>
          <p:cNvPr id="27" name="Text 23"/>
          <p:cNvSpPr txBox="1"/>
          <p:nvPr/>
        </p:nvSpPr>
        <p:spPr>
          <a:xfrm>
            <a:off x="7735824" y="4187952"/>
            <a:ext cx="3547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 las pruebas puedan rechazar cada defecto relevante.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658368" y="4791456"/>
            <a:ext cx="5294376" cy="585216"/>
          </a:xfrm>
          <a:prstGeom prst="rect">
            <a:avLst/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658368" y="4791456"/>
            <a:ext cx="54864" cy="585216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896112" y="4901184"/>
            <a:ext cx="1225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30" b="1" spc="80" kern="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DEMUESTRA</a:t>
            </a:r>
            <a:endParaRPr lang="en-US" sz="830" dirty="0"/>
          </a:p>
        </p:txBody>
      </p:sp>
      <p:sp>
        <p:nvSpPr>
          <p:cNvPr id="31" name="Text 27"/>
          <p:cNvSpPr txBox="1"/>
          <p:nvPr/>
        </p:nvSpPr>
        <p:spPr>
          <a:xfrm>
            <a:off x="2157984" y="4882896"/>
            <a:ext cx="3547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 la prueba existiera y fallara antes de implementar.</a:t>
            </a:r>
            <a:endParaRPr lang="en-US" sz="1050" dirty="0"/>
          </a:p>
        </p:txBody>
      </p:sp>
      <p:sp>
        <p:nvSpPr>
          <p:cNvPr id="32" name="Shape 28"/>
          <p:cNvSpPr/>
          <p:nvPr/>
        </p:nvSpPr>
        <p:spPr>
          <a:xfrm>
            <a:off x="6236208" y="4791456"/>
            <a:ext cx="5294376" cy="585216"/>
          </a:xfrm>
          <a:prstGeom prst="rect">
            <a:avLst/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6236208" y="4791456"/>
            <a:ext cx="54864" cy="585216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6473952" y="4901184"/>
            <a:ext cx="1225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30" b="1" spc="80" kern="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DEMUESTRA</a:t>
            </a:r>
            <a:endParaRPr lang="en-US" sz="830" dirty="0"/>
          </a:p>
        </p:txBody>
      </p:sp>
      <p:sp>
        <p:nvSpPr>
          <p:cNvPr id="35" name="Text 31"/>
          <p:cNvSpPr txBox="1"/>
          <p:nvPr/>
        </p:nvSpPr>
        <p:spPr>
          <a:xfrm>
            <a:off x="7735824" y="4882896"/>
            <a:ext cx="3547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 las expectativas representen correctamente el requisito.</a:t>
            </a:r>
            <a:endParaRPr lang="en-US" sz="1050" dirty="0"/>
          </a:p>
        </p:txBody>
      </p:sp>
      <p:sp>
        <p:nvSpPr>
          <p:cNvPr id="36" name="Shape 32"/>
          <p:cNvSpPr/>
          <p:nvPr/>
        </p:nvSpPr>
        <p:spPr>
          <a:xfrm>
            <a:off x="658368" y="5669280"/>
            <a:ext cx="10874959" cy="51206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950976" y="5705856"/>
            <a:ext cx="1028974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Estado actual: qué coincide ahora. Historia del proceso: en qué orden se produjo y qué evidencia se observó en cada paso.</a:t>
            </a:r>
            <a:endParaRPr lang="en-US" sz="128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4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38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 · AUDITORÍA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509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alteración dirigida reconstruye sensibilidad actual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664208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4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Alterar significa introducir temporalmente una decisión defectuosa sin tocar las pruebas. El objetivo es comprobar qué expectativas pueden detectar ese defecto concreto.</a:t>
            </a:r>
            <a:endParaRPr lang="en-US" sz="1420" dirty="0"/>
          </a:p>
        </p:txBody>
      </p:sp>
      <p:sp>
        <p:nvSpPr>
          <p:cNvPr id="11" name="Shape 8"/>
          <p:cNvSpPr/>
          <p:nvPr/>
        </p:nvSpPr>
        <p:spPr>
          <a:xfrm>
            <a:off x="658368" y="2322576"/>
            <a:ext cx="5138928" cy="1207008"/>
          </a:xfrm>
          <a:prstGeom prst="roundRect">
            <a:avLst>
              <a:gd name="adj" fmla="val 303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86384" y="2432304"/>
            <a:ext cx="4882896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96112" y="2505456"/>
            <a:ext cx="4663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Cambio temporal · deliberadamente incorrecto</a:t>
            </a:r>
            <a:endParaRPr lang="en-US" sz="10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7824" y="2889504"/>
            <a:ext cx="4718304" cy="45720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6053328" y="2322576"/>
            <a:ext cx="5477256" cy="2048256"/>
          </a:xfrm>
          <a:prstGeom prst="roundRect">
            <a:avLst>
              <a:gd name="adj" fmla="val 1786"/>
            </a:avLst>
          </a:prstGeom>
          <a:solidFill>
            <a:srgbClr val="0F1720"/>
          </a:solidFill>
          <a:ln w="12700">
            <a:solidFill>
              <a:srgbClr val="0F172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181344" y="2432304"/>
            <a:ext cx="5221224" cy="310896"/>
          </a:xfrm>
          <a:prstGeom prst="roundRect">
            <a:avLst>
              <a:gd name="adj" fmla="val 8824"/>
            </a:avLst>
          </a:prstGeom>
          <a:solidFill>
            <a:srgbClr val="1E2937"/>
          </a:solidFill>
          <a:ln w="12700">
            <a:solidFill>
              <a:srgbClr val="1E2937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309360" y="2505456"/>
            <a:ext cx="49651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suite reacciona de forma localizada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6272784" y="2889504"/>
            <a:ext cx="4727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 rechaza una reserva que supera el cupo</a:t>
            </a:r>
            <a:endParaRPr lang="en-US" sz="840" dirty="0"/>
          </a:p>
        </p:txBody>
      </p:sp>
      <p:sp>
        <p:nvSpPr>
          <p:cNvPr id="19" name="Text 15"/>
          <p:cNvSpPr/>
          <p:nvPr/>
        </p:nvSpPr>
        <p:spPr>
          <a:xfrm>
            <a:off x="6272784" y="3145536"/>
            <a:ext cx="4727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expected true to be false</a:t>
            </a:r>
            <a:endParaRPr lang="en-US" sz="840" dirty="0"/>
          </a:p>
        </p:txBody>
      </p:sp>
      <p:sp>
        <p:nvSpPr>
          <p:cNvPr id="20" name="Text 16"/>
          <p:cNvSpPr/>
          <p:nvPr/>
        </p:nvSpPr>
        <p:spPr>
          <a:xfrm>
            <a:off x="6272784" y="3401568"/>
            <a:ext cx="4727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acepta una reserva que ocupa el cupo exacto</a:t>
            </a:r>
            <a:endParaRPr lang="en-US" sz="840" dirty="0"/>
          </a:p>
        </p:txBody>
      </p:sp>
      <p:sp>
        <p:nvSpPr>
          <p:cNvPr id="21" name="Text 17"/>
          <p:cNvSpPr/>
          <p:nvPr/>
        </p:nvSpPr>
        <p:spPr>
          <a:xfrm>
            <a:off x="6272784" y="3657600"/>
            <a:ext cx="4727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 rechaza una reserva sin personas</a:t>
            </a:r>
            <a:endParaRPr lang="en-US" sz="840" dirty="0"/>
          </a:p>
        </p:txBody>
      </p:sp>
      <p:sp>
        <p:nvSpPr>
          <p:cNvPr id="22" name="Text 18"/>
          <p:cNvSpPr/>
          <p:nvPr/>
        </p:nvSpPr>
        <p:spPr>
          <a:xfrm>
            <a:off x="6272784" y="3913632"/>
            <a:ext cx="4727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expected true to be false</a:t>
            </a:r>
            <a:endParaRPr lang="en-US" sz="840" dirty="0"/>
          </a:p>
        </p:txBody>
      </p:sp>
      <p:sp>
        <p:nvSpPr>
          <p:cNvPr id="23" name="Text 19"/>
          <p:cNvSpPr/>
          <p:nvPr/>
        </p:nvSpPr>
        <p:spPr>
          <a:xfrm>
            <a:off x="6272784" y="4169664"/>
            <a:ext cx="4727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8AA0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failed | 1 passed</a:t>
            </a:r>
            <a:endParaRPr lang="en-US" sz="840" dirty="0"/>
          </a:p>
        </p:txBody>
      </p:sp>
      <p:sp>
        <p:nvSpPr>
          <p:cNvPr id="24" name="Shape 20"/>
          <p:cNvSpPr/>
          <p:nvPr/>
        </p:nvSpPr>
        <p:spPr>
          <a:xfrm>
            <a:off x="658368" y="4663440"/>
            <a:ext cx="2542032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658368" y="4663440"/>
            <a:ext cx="2542032" cy="5486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859536" y="4846320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2600" dirty="0"/>
          </a:p>
        </p:txBody>
      </p:sp>
      <p:sp>
        <p:nvSpPr>
          <p:cNvPr id="27" name="Text 23"/>
          <p:cNvSpPr txBox="1"/>
          <p:nvPr/>
        </p:nvSpPr>
        <p:spPr>
          <a:xfrm>
            <a:off x="1444752" y="480974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Línea base</a:t>
            </a:r>
            <a:endParaRPr lang="en-US" sz="1320" dirty="0"/>
          </a:p>
        </p:txBody>
      </p:sp>
      <p:sp>
        <p:nvSpPr>
          <p:cNvPr id="28" name="Text 24"/>
          <p:cNvSpPr txBox="1"/>
          <p:nvPr/>
        </p:nvSpPr>
        <p:spPr>
          <a:xfrm>
            <a:off x="1444752" y="510235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1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Ejecutar sin modificar: 3 passed.</a:t>
            </a:r>
            <a:endParaRPr lang="en-US" sz="1110" dirty="0"/>
          </a:p>
        </p:txBody>
      </p:sp>
      <p:sp>
        <p:nvSpPr>
          <p:cNvPr id="29" name="Shape 25"/>
          <p:cNvSpPr/>
          <p:nvPr/>
        </p:nvSpPr>
        <p:spPr>
          <a:xfrm>
            <a:off x="3456432" y="4663440"/>
            <a:ext cx="2542032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3456432" y="4663440"/>
            <a:ext cx="2542032" cy="54864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3657600" y="4846320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318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2600" dirty="0"/>
          </a:p>
        </p:txBody>
      </p:sp>
      <p:sp>
        <p:nvSpPr>
          <p:cNvPr id="32" name="Text 28"/>
          <p:cNvSpPr txBox="1"/>
          <p:nvPr/>
        </p:nvSpPr>
        <p:spPr>
          <a:xfrm>
            <a:off x="4242816" y="480974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Alterar</a:t>
            </a:r>
            <a:endParaRPr lang="en-US" sz="1320" dirty="0"/>
          </a:p>
        </p:txBody>
      </p:sp>
      <p:sp>
        <p:nvSpPr>
          <p:cNvPr id="33" name="Text 29"/>
          <p:cNvSpPr txBox="1"/>
          <p:nvPr/>
        </p:nvSpPr>
        <p:spPr>
          <a:xfrm>
            <a:off x="4242816" y="510235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1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Cambiar solo producción: return true.</a:t>
            </a:r>
            <a:endParaRPr lang="en-US" sz="1110" dirty="0"/>
          </a:p>
        </p:txBody>
      </p:sp>
      <p:sp>
        <p:nvSpPr>
          <p:cNvPr id="34" name="Shape 30"/>
          <p:cNvSpPr/>
          <p:nvPr/>
        </p:nvSpPr>
        <p:spPr>
          <a:xfrm>
            <a:off x="6254496" y="4663440"/>
            <a:ext cx="2542032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6254496" y="4663440"/>
            <a:ext cx="2542032" cy="54864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6455664" y="4846320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A6A1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2600" dirty="0"/>
          </a:p>
        </p:txBody>
      </p:sp>
      <p:sp>
        <p:nvSpPr>
          <p:cNvPr id="37" name="Text 33"/>
          <p:cNvSpPr txBox="1"/>
          <p:nvPr/>
        </p:nvSpPr>
        <p:spPr>
          <a:xfrm>
            <a:off x="7040880" y="480974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Exigir rojo</a:t>
            </a:r>
            <a:endParaRPr lang="en-US" sz="1320" dirty="0"/>
          </a:p>
        </p:txBody>
      </p:sp>
      <p:sp>
        <p:nvSpPr>
          <p:cNvPr id="38" name="Text 34"/>
          <p:cNvSpPr txBox="1"/>
          <p:nvPr/>
        </p:nvSpPr>
        <p:spPr>
          <a:xfrm>
            <a:off x="7040880" y="510235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1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Identificar qué decisión vigila cada fallo.</a:t>
            </a:r>
            <a:endParaRPr lang="en-US" sz="1110" dirty="0"/>
          </a:p>
        </p:txBody>
      </p:sp>
      <p:sp>
        <p:nvSpPr>
          <p:cNvPr id="39" name="Shape 35"/>
          <p:cNvSpPr/>
          <p:nvPr/>
        </p:nvSpPr>
        <p:spPr>
          <a:xfrm>
            <a:off x="9052560" y="4663440"/>
            <a:ext cx="2542032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9052560" y="4663440"/>
            <a:ext cx="2542032" cy="54864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41" name="Text 37"/>
          <p:cNvSpPr txBox="1"/>
          <p:nvPr/>
        </p:nvSpPr>
        <p:spPr>
          <a:xfrm>
            <a:off x="9253728" y="4846320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7D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2600" dirty="0"/>
          </a:p>
        </p:txBody>
      </p:sp>
      <p:sp>
        <p:nvSpPr>
          <p:cNvPr id="42" name="Text 38"/>
          <p:cNvSpPr txBox="1"/>
          <p:nvPr/>
        </p:nvSpPr>
        <p:spPr>
          <a:xfrm>
            <a:off x="9838944" y="480974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Restaurar</a:t>
            </a:r>
            <a:endParaRPr lang="en-US" sz="1320" dirty="0"/>
          </a:p>
        </p:txBody>
      </p:sp>
      <p:sp>
        <p:nvSpPr>
          <p:cNvPr id="43" name="Text 39"/>
          <p:cNvSpPr txBox="1"/>
          <p:nvPr/>
        </p:nvSpPr>
        <p:spPr>
          <a:xfrm>
            <a:off x="9838944" y="510235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1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Eliminar el cambio y recuperar 3 passed.</a:t>
            </a:r>
            <a:endParaRPr lang="en-US" sz="1110" dirty="0"/>
          </a:p>
        </p:txBody>
      </p:sp>
      <p:sp>
        <p:nvSpPr>
          <p:cNvPr id="44" name="Shape 40"/>
          <p:cNvSpPr/>
          <p:nvPr/>
        </p:nvSpPr>
        <p:spPr>
          <a:xfrm>
            <a:off x="658368" y="5724144"/>
            <a:ext cx="10874959" cy="49377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5" name="Text 41"/>
          <p:cNvSpPr txBox="1"/>
          <p:nvPr/>
        </p:nvSpPr>
        <p:spPr>
          <a:xfrm>
            <a:off x="950976" y="5760720"/>
            <a:ext cx="1028974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prueba 30/30 queda verde porque return true todavía satisface ese caso. Una alteración solo debe afectar las expectativas que contradice.</a:t>
            </a:r>
            <a:endParaRPr lang="en-US" sz="12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4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39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 · ALCANCE DE LA AUDITORÍA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509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auditoría recupera sensibilidad; no reescribe el pasado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664208"/>
            <a:ext cx="10241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4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Conviene separar lo que puede medirse ahora de lo que depende de registros creados durante el trabajo.</a:t>
            </a:r>
            <a:endParaRPr lang="en-US" sz="1420" dirty="0"/>
          </a:p>
        </p:txBody>
      </p:sp>
      <p:sp>
        <p:nvSpPr>
          <p:cNvPr id="11" name="Shape 8"/>
          <p:cNvSpPr/>
          <p:nvPr/>
        </p:nvSpPr>
        <p:spPr>
          <a:xfrm>
            <a:off x="658368" y="2157984"/>
            <a:ext cx="5340096" cy="42062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04672" y="2276856"/>
            <a:ext cx="5047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0" b="1" spc="75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</a:t>
            </a:r>
            <a:endParaRPr lang="en-US" sz="860" dirty="0"/>
          </a:p>
        </p:txBody>
      </p:sp>
      <p:sp>
        <p:nvSpPr>
          <p:cNvPr id="13" name="Shape 10"/>
          <p:cNvSpPr/>
          <p:nvPr/>
        </p:nvSpPr>
        <p:spPr>
          <a:xfrm>
            <a:off x="6254496" y="2157984"/>
            <a:ext cx="1920240" cy="42062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00800" y="2276856"/>
            <a:ext cx="1627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60" b="1" spc="75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¿DESPUÉS?</a:t>
            </a:r>
            <a:endParaRPr lang="en-US" sz="860" dirty="0"/>
          </a:p>
        </p:txBody>
      </p:sp>
      <p:sp>
        <p:nvSpPr>
          <p:cNvPr id="15" name="Shape 12"/>
          <p:cNvSpPr/>
          <p:nvPr/>
        </p:nvSpPr>
        <p:spPr>
          <a:xfrm>
            <a:off x="8394192" y="2157984"/>
            <a:ext cx="3794760" cy="42062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540496" y="2276856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0" b="1" spc="75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ALCANCE PRECISO</a:t>
            </a:r>
            <a:endParaRPr lang="en-US" sz="860" dirty="0"/>
          </a:p>
        </p:txBody>
      </p:sp>
      <p:sp>
        <p:nvSpPr>
          <p:cNvPr id="17" name="Shape 14"/>
          <p:cNvSpPr/>
          <p:nvPr/>
        </p:nvSpPr>
        <p:spPr>
          <a:xfrm>
            <a:off x="658368" y="2633472"/>
            <a:ext cx="45720" cy="448056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58368" y="3081528"/>
            <a:ext cx="10874959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19" name="Text 16"/>
          <p:cNvSpPr txBox="1"/>
          <p:nvPr/>
        </p:nvSpPr>
        <p:spPr>
          <a:xfrm>
            <a:off x="822960" y="2724912"/>
            <a:ext cx="50109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suite recibida está verde</a:t>
            </a:r>
            <a:endParaRPr lang="en-US" sz="1010" dirty="0"/>
          </a:p>
        </p:txBody>
      </p:sp>
      <p:sp>
        <p:nvSpPr>
          <p:cNvPr id="20" name="Text 17"/>
          <p:cNvSpPr txBox="1"/>
          <p:nvPr/>
        </p:nvSpPr>
        <p:spPr>
          <a:xfrm>
            <a:off x="6419088" y="2724912"/>
            <a:ext cx="15910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2E7D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Sí</a:t>
            </a:r>
            <a:endParaRPr lang="en-US" sz="940" dirty="0"/>
          </a:p>
        </p:txBody>
      </p:sp>
      <p:sp>
        <p:nvSpPr>
          <p:cNvPr id="21" name="Text 18"/>
          <p:cNvSpPr txBox="1"/>
          <p:nvPr/>
        </p:nvSpPr>
        <p:spPr>
          <a:xfrm>
            <a:off x="8558784" y="2724912"/>
            <a:ext cx="34655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Código y pruebas actuales coinciden</a:t>
            </a:r>
            <a:endParaRPr lang="en-US" sz="1010" dirty="0"/>
          </a:p>
        </p:txBody>
      </p:sp>
      <p:sp>
        <p:nvSpPr>
          <p:cNvPr id="22" name="Shape 19"/>
          <p:cNvSpPr/>
          <p:nvPr/>
        </p:nvSpPr>
        <p:spPr>
          <a:xfrm>
            <a:off x="658368" y="3154680"/>
            <a:ext cx="45720" cy="448056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58368" y="3602736"/>
            <a:ext cx="10874959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24" name="Text 21"/>
          <p:cNvSpPr txBox="1"/>
          <p:nvPr/>
        </p:nvSpPr>
        <p:spPr>
          <a:xfrm>
            <a:off x="822960" y="3246120"/>
            <a:ext cx="50109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pruebas reaccionan a alteraciones elegidas</a:t>
            </a:r>
            <a:endParaRPr lang="en-US" sz="1010" dirty="0"/>
          </a:p>
        </p:txBody>
      </p:sp>
      <p:sp>
        <p:nvSpPr>
          <p:cNvPr id="25" name="Text 22"/>
          <p:cNvSpPr txBox="1"/>
          <p:nvPr/>
        </p:nvSpPr>
        <p:spPr>
          <a:xfrm>
            <a:off x="6419088" y="3246120"/>
            <a:ext cx="15910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2E7D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Sí</a:t>
            </a:r>
            <a:endParaRPr lang="en-US" sz="940" dirty="0"/>
          </a:p>
        </p:txBody>
      </p:sp>
      <p:sp>
        <p:nvSpPr>
          <p:cNvPr id="26" name="Text 23"/>
          <p:cNvSpPr txBox="1"/>
          <p:nvPr/>
        </p:nvSpPr>
        <p:spPr>
          <a:xfrm>
            <a:off x="8558784" y="3246120"/>
            <a:ext cx="34655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Sensibilidad frente a esos defectos</a:t>
            </a:r>
            <a:endParaRPr lang="en-US" sz="1010" dirty="0"/>
          </a:p>
        </p:txBody>
      </p:sp>
      <p:sp>
        <p:nvSpPr>
          <p:cNvPr id="27" name="Shape 24"/>
          <p:cNvSpPr/>
          <p:nvPr/>
        </p:nvSpPr>
        <p:spPr>
          <a:xfrm>
            <a:off x="658368" y="3675888"/>
            <a:ext cx="45720" cy="448056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58368" y="4123944"/>
            <a:ext cx="10874959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29" name="Text 26"/>
          <p:cNvSpPr txBox="1"/>
          <p:nvPr/>
        </p:nvSpPr>
        <p:spPr>
          <a:xfrm>
            <a:off x="822960" y="3767328"/>
            <a:ext cx="50109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requisito elegido es correcto</a:t>
            </a:r>
            <a:endParaRPr lang="en-US" sz="1010" dirty="0"/>
          </a:p>
        </p:txBody>
      </p:sp>
      <p:sp>
        <p:nvSpPr>
          <p:cNvPr id="30" name="Text 27"/>
          <p:cNvSpPr txBox="1"/>
          <p:nvPr/>
        </p:nvSpPr>
        <p:spPr>
          <a:xfrm>
            <a:off x="6419088" y="3767328"/>
            <a:ext cx="15910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8A6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automática</a:t>
            </a:r>
            <a:endParaRPr lang="en-US" sz="940" dirty="0"/>
          </a:p>
        </p:txBody>
      </p:sp>
      <p:sp>
        <p:nvSpPr>
          <p:cNvPr id="31" name="Text 28"/>
          <p:cNvSpPr txBox="1"/>
          <p:nvPr/>
        </p:nvSpPr>
        <p:spPr>
          <a:xfrm>
            <a:off x="8558784" y="3767328"/>
            <a:ext cx="34655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Exige criterio de producto o del área del problema</a:t>
            </a:r>
            <a:endParaRPr lang="en-US" sz="1010" dirty="0"/>
          </a:p>
        </p:txBody>
      </p:sp>
      <p:sp>
        <p:nvSpPr>
          <p:cNvPr id="32" name="Shape 29"/>
          <p:cNvSpPr/>
          <p:nvPr/>
        </p:nvSpPr>
        <p:spPr>
          <a:xfrm>
            <a:off x="658368" y="4197096"/>
            <a:ext cx="45720" cy="448056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58368" y="4645152"/>
            <a:ext cx="10874959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34" name="Text 31"/>
          <p:cNvSpPr txBox="1"/>
          <p:nvPr/>
        </p:nvSpPr>
        <p:spPr>
          <a:xfrm>
            <a:off x="822960" y="4288536"/>
            <a:ext cx="50109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prueba existió antes que el código</a:t>
            </a:r>
            <a:endParaRPr lang="en-US" sz="1010" dirty="0"/>
          </a:p>
        </p:txBody>
      </p:sp>
      <p:sp>
        <p:nvSpPr>
          <p:cNvPr id="35" name="Text 32"/>
          <p:cNvSpPr txBox="1"/>
          <p:nvPr/>
        </p:nvSpPr>
        <p:spPr>
          <a:xfrm>
            <a:off x="6419088" y="4288536"/>
            <a:ext cx="15910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sin registro</a:t>
            </a:r>
            <a:endParaRPr lang="en-US" sz="940" dirty="0"/>
          </a:p>
        </p:txBody>
      </p:sp>
      <p:sp>
        <p:nvSpPr>
          <p:cNvPr id="36" name="Text 33"/>
          <p:cNvSpPr txBox="1"/>
          <p:nvPr/>
        </p:nvSpPr>
        <p:spPr>
          <a:xfrm>
            <a:off x="8558784" y="4288536"/>
            <a:ext cx="34655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 historia del proceso</a:t>
            </a:r>
            <a:endParaRPr lang="en-US" sz="1010" dirty="0"/>
          </a:p>
        </p:txBody>
      </p:sp>
      <p:sp>
        <p:nvSpPr>
          <p:cNvPr id="37" name="Shape 34"/>
          <p:cNvSpPr/>
          <p:nvPr/>
        </p:nvSpPr>
        <p:spPr>
          <a:xfrm>
            <a:off x="658368" y="4718304"/>
            <a:ext cx="45720" cy="448056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658368" y="5166360"/>
            <a:ext cx="10874959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39" name="Text 36"/>
          <p:cNvSpPr txBox="1"/>
          <p:nvPr/>
        </p:nvSpPr>
        <p:spPr>
          <a:xfrm>
            <a:off x="822960" y="4809744"/>
            <a:ext cx="50109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prueba influyó en el diseño</a:t>
            </a:r>
            <a:endParaRPr lang="en-US" sz="1010" dirty="0"/>
          </a:p>
        </p:txBody>
      </p:sp>
      <p:sp>
        <p:nvSpPr>
          <p:cNvPr id="40" name="Text 37"/>
          <p:cNvSpPr txBox="1"/>
          <p:nvPr/>
        </p:nvSpPr>
        <p:spPr>
          <a:xfrm>
            <a:off x="6419088" y="4809744"/>
            <a:ext cx="15910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después</a:t>
            </a:r>
            <a:endParaRPr lang="en-US" sz="940" dirty="0"/>
          </a:p>
        </p:txBody>
      </p:sp>
      <p:sp>
        <p:nvSpPr>
          <p:cNvPr id="41" name="Text 38"/>
          <p:cNvSpPr txBox="1"/>
          <p:nvPr/>
        </p:nvSpPr>
        <p:spPr>
          <a:xfrm>
            <a:off x="8558784" y="4809744"/>
            <a:ext cx="34655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Debe observarse o registrarse la secuencia</a:t>
            </a:r>
            <a:endParaRPr lang="en-US" sz="1010" dirty="0"/>
          </a:p>
        </p:txBody>
      </p:sp>
      <p:sp>
        <p:nvSpPr>
          <p:cNvPr id="42" name="Shape 39"/>
          <p:cNvSpPr/>
          <p:nvPr/>
        </p:nvSpPr>
        <p:spPr>
          <a:xfrm>
            <a:off x="658368" y="5239512"/>
            <a:ext cx="45720" cy="448056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658368" y="5687568"/>
            <a:ext cx="10874959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44" name="Text 41"/>
          <p:cNvSpPr txBox="1"/>
          <p:nvPr/>
        </p:nvSpPr>
        <p:spPr>
          <a:xfrm>
            <a:off x="822960" y="5330952"/>
            <a:ext cx="50109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suite detectará cualquier defecto futuro</a:t>
            </a:r>
            <a:endParaRPr lang="en-US" sz="1010" dirty="0"/>
          </a:p>
        </p:txBody>
      </p:sp>
      <p:sp>
        <p:nvSpPr>
          <p:cNvPr id="45" name="Text 42"/>
          <p:cNvSpPr txBox="1"/>
          <p:nvPr/>
        </p:nvSpPr>
        <p:spPr>
          <a:xfrm>
            <a:off x="6419088" y="5330952"/>
            <a:ext cx="15910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</a:t>
            </a:r>
            <a:endParaRPr lang="en-US" sz="940" dirty="0"/>
          </a:p>
        </p:txBody>
      </p:sp>
      <p:sp>
        <p:nvSpPr>
          <p:cNvPr id="46" name="Text 43"/>
          <p:cNvSpPr txBox="1"/>
          <p:nvPr/>
        </p:nvSpPr>
        <p:spPr>
          <a:xfrm>
            <a:off x="8558784" y="5330952"/>
            <a:ext cx="34655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Ninguna suite finita ofrece esa garantía</a:t>
            </a:r>
            <a:endParaRPr lang="en-US" sz="1010" dirty="0"/>
          </a:p>
        </p:txBody>
      </p:sp>
      <p:sp>
        <p:nvSpPr>
          <p:cNvPr id="47" name="Shape 44"/>
          <p:cNvSpPr/>
          <p:nvPr/>
        </p:nvSpPr>
        <p:spPr>
          <a:xfrm>
            <a:off x="658368" y="5870448"/>
            <a:ext cx="10874959" cy="40233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950976" y="5907024"/>
            <a:ext cx="1028974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 preservar el orden: commits separados, salidas de ejecución o un agente obligado a detenerse y reportar después del rojo.</a:t>
            </a:r>
            <a:endParaRPr lang="en-US" sz="12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4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40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 · CRITERIO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509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agente acelera el ciclo; no decide qué evidencia basta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664208"/>
            <a:ext cx="10424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4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ingeniería agéntica combina intención explícita, tareas pequeñas, fuentes de verdad accesibles y validaciones ejecutables. La velocidad no convierte una expectativa en requisito correcto.</a:t>
            </a:r>
            <a:endParaRPr lang="en-US" sz="1420" dirty="0"/>
          </a:p>
        </p:txBody>
      </p:sp>
      <p:sp>
        <p:nvSpPr>
          <p:cNvPr id="11" name="Shape 8"/>
          <p:cNvSpPr/>
          <p:nvPr/>
        </p:nvSpPr>
        <p:spPr>
          <a:xfrm>
            <a:off x="658368" y="2450592"/>
            <a:ext cx="2523744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8368" y="2450592"/>
            <a:ext cx="2523744" cy="64008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77824" y="2688336"/>
            <a:ext cx="2084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40" b="1" spc="100" kern="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PERSONA</a:t>
            </a:r>
            <a:endParaRPr lang="en-US" sz="940" dirty="0"/>
          </a:p>
        </p:txBody>
      </p:sp>
      <p:sp>
        <p:nvSpPr>
          <p:cNvPr id="14" name="Text 11"/>
          <p:cNvSpPr txBox="1"/>
          <p:nvPr/>
        </p:nvSpPr>
        <p:spPr>
          <a:xfrm>
            <a:off x="877824" y="3026664"/>
            <a:ext cx="20848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el comportamiento esperado y sus límites.</a:t>
            </a:r>
            <a:endParaRPr lang="en-US" sz="1060" dirty="0"/>
          </a:p>
        </p:txBody>
      </p:sp>
      <p:sp>
        <p:nvSpPr>
          <p:cNvPr id="15" name="Shape 12"/>
          <p:cNvSpPr/>
          <p:nvPr/>
        </p:nvSpPr>
        <p:spPr>
          <a:xfrm>
            <a:off x="3200400" y="3127248"/>
            <a:ext cx="219456" cy="0"/>
          </a:xfrm>
          <a:prstGeom prst="line">
            <a:avLst/>
          </a:prstGeom>
          <a:noFill/>
          <a:ln w="12700">
            <a:solidFill>
              <a:srgbClr val="52606D"/>
            </a:solidFill>
            <a:prstDash val="solid"/>
            <a:headEnd type="none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3456432" y="2450592"/>
            <a:ext cx="2523744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456432" y="2450592"/>
            <a:ext cx="2523744" cy="640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675888" y="2688336"/>
            <a:ext cx="2084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40" b="1" spc="100" kern="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AGENTE</a:t>
            </a:r>
            <a:endParaRPr lang="en-US" sz="940" dirty="0"/>
          </a:p>
        </p:txBody>
      </p:sp>
      <p:sp>
        <p:nvSpPr>
          <p:cNvPr id="19" name="Text 16"/>
          <p:cNvSpPr txBox="1"/>
          <p:nvPr/>
        </p:nvSpPr>
        <p:spPr>
          <a:xfrm>
            <a:off x="3675888" y="3026664"/>
            <a:ext cx="20848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Escribe, ejecuta, informa y conserva artefactos.</a:t>
            </a:r>
            <a:endParaRPr lang="en-US" sz="1060" dirty="0"/>
          </a:p>
        </p:txBody>
      </p:sp>
      <p:sp>
        <p:nvSpPr>
          <p:cNvPr id="20" name="Shape 17"/>
          <p:cNvSpPr/>
          <p:nvPr/>
        </p:nvSpPr>
        <p:spPr>
          <a:xfrm>
            <a:off x="5998464" y="3127248"/>
            <a:ext cx="219456" cy="0"/>
          </a:xfrm>
          <a:prstGeom prst="line">
            <a:avLst/>
          </a:prstGeom>
          <a:noFill/>
          <a:ln w="12700">
            <a:solidFill>
              <a:srgbClr val="52606D"/>
            </a:solidFill>
            <a:prstDash val="solid"/>
            <a:headEnd type="none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6254496" y="2450592"/>
            <a:ext cx="2523744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254496" y="2450592"/>
            <a:ext cx="2523744" cy="64008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473952" y="2688336"/>
            <a:ext cx="2084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40" b="1" spc="100" kern="0" dirty="0">
                <a:solidFill>
                  <a:srgbClr val="8A6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REPOSITORIO</a:t>
            </a:r>
            <a:endParaRPr lang="en-US" sz="940" dirty="0"/>
          </a:p>
        </p:txBody>
      </p:sp>
      <p:sp>
        <p:nvSpPr>
          <p:cNvPr id="24" name="Text 21"/>
          <p:cNvSpPr txBox="1"/>
          <p:nvPr/>
        </p:nvSpPr>
        <p:spPr>
          <a:xfrm>
            <a:off x="6473952" y="3026664"/>
            <a:ext cx="20848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Registra código, pruebas, comandos e historial.</a:t>
            </a:r>
            <a:endParaRPr lang="en-US" sz="1060" dirty="0"/>
          </a:p>
        </p:txBody>
      </p:sp>
      <p:sp>
        <p:nvSpPr>
          <p:cNvPr id="25" name="Shape 22"/>
          <p:cNvSpPr/>
          <p:nvPr/>
        </p:nvSpPr>
        <p:spPr>
          <a:xfrm>
            <a:off x="8796528" y="3127248"/>
            <a:ext cx="219456" cy="0"/>
          </a:xfrm>
          <a:prstGeom prst="line">
            <a:avLst/>
          </a:prstGeom>
          <a:noFill/>
          <a:ln w="12700">
            <a:solidFill>
              <a:srgbClr val="52606D"/>
            </a:solidFill>
            <a:prstDash val="solid"/>
            <a:headEnd type="none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9052560" y="2450592"/>
            <a:ext cx="2523744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9052560" y="2450592"/>
            <a:ext cx="2523744" cy="64008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272016" y="2688336"/>
            <a:ext cx="2084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40" b="1" spc="100" kern="0" dirty="0">
                <a:solidFill>
                  <a:srgbClr val="2E7D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PERSONA</a:t>
            </a:r>
            <a:endParaRPr lang="en-US" sz="940" dirty="0"/>
          </a:p>
        </p:txBody>
      </p:sp>
      <p:sp>
        <p:nvSpPr>
          <p:cNvPr id="29" name="Text 26"/>
          <p:cNvSpPr txBox="1"/>
          <p:nvPr/>
        </p:nvSpPr>
        <p:spPr>
          <a:xfrm>
            <a:off x="9272016" y="3026664"/>
            <a:ext cx="20848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Juzga si el rojo, el verde y el alcance son suficientes.</a:t>
            </a:r>
            <a:endParaRPr lang="en-US" sz="1060" dirty="0"/>
          </a:p>
        </p:txBody>
      </p:sp>
      <p:sp>
        <p:nvSpPr>
          <p:cNvPr id="30" name="Shape 27"/>
          <p:cNvSpPr/>
          <p:nvPr/>
        </p:nvSpPr>
        <p:spPr>
          <a:xfrm>
            <a:off x="658368" y="4169664"/>
            <a:ext cx="10874959" cy="1078992"/>
          </a:xfrm>
          <a:prstGeom prst="rect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932688" y="437083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spc="130" kern="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TDD ES UNA PRÁCTICA CONTEXTUAL, NO UNA ETIQUETA OBLIGATORIA</a:t>
            </a:r>
            <a:endParaRPr lang="en-US" sz="960" dirty="0"/>
          </a:p>
        </p:txBody>
      </p:sp>
      <p:sp>
        <p:nvSpPr>
          <p:cNvPr id="32" name="Text 29"/>
          <p:cNvSpPr txBox="1"/>
          <p:nvPr/>
        </p:nvSpPr>
        <p:spPr>
          <a:xfrm>
            <a:off x="932688" y="4663440"/>
            <a:ext cx="10533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También son legítimas las pruebas escritas después, las pruebas exploratorias, las pruebas de integración y las pruebas de extremo a extremo (E2E). Lo importante es nombrar con precisión qué evidencia produjo cada proceso.</a:t>
            </a:r>
            <a:endParaRPr lang="en-US" sz="1130" dirty="0"/>
          </a:p>
        </p:txBody>
      </p:sp>
      <p:sp>
        <p:nvSpPr>
          <p:cNvPr id="33" name="Shape 30"/>
          <p:cNvSpPr/>
          <p:nvPr/>
        </p:nvSpPr>
        <p:spPr>
          <a:xfrm>
            <a:off x="658368" y="5522976"/>
            <a:ext cx="10874959" cy="51206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950976" y="5559552"/>
            <a:ext cx="1028974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Delegar la ejecución no delega la responsabilidad sobre el requisito ni sobre la interpretación de los resultados.</a:t>
            </a:r>
            <a:endParaRPr lang="en-US" sz="1280" dirty="0"/>
          </a:p>
        </p:txBody>
      </p:sp>
      <p:sp>
        <p:nvSpPr>
          <p:cNvPr id="35" name="Shape 32"/>
          <p:cNvSpPr/>
          <p:nvPr/>
        </p:nvSpPr>
        <p:spPr>
          <a:xfrm>
            <a:off x="658368" y="6263640"/>
            <a:ext cx="45720" cy="182880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04672" y="6254496"/>
            <a:ext cx="9784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i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OpenAI · Harness engineering (2026); Fowler · Is TDD Dead?; Hansson · TDD is dead. Long live testing.</a:t>
            </a:r>
            <a:endParaRPr lang="en-US" sz="88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4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 · CIERRE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509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Tres preguntas antes de cerrar la clase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664208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4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Tres preguntas para comprobar la idea central antes de seguir.</a:t>
            </a:r>
            <a:endParaRPr lang="en-US" sz="1420" dirty="0"/>
          </a:p>
        </p:txBody>
      </p:sp>
      <p:sp>
        <p:nvSpPr>
          <p:cNvPr id="11" name="Shape 8"/>
          <p:cNvSpPr/>
          <p:nvPr/>
        </p:nvSpPr>
        <p:spPr>
          <a:xfrm>
            <a:off x="658368" y="2139696"/>
            <a:ext cx="10874959" cy="1097280"/>
          </a:xfrm>
          <a:prstGeom prst="rect">
            <a:avLst/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8368" y="2139696"/>
            <a:ext cx="54864" cy="1097280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14400" y="2286000"/>
            <a:ext cx="493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318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1591056" y="2267712"/>
            <a:ext cx="96496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3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cambió al pasar de pytest a Vitest y qué parte del método permaneció intacta?</a:t>
            </a:r>
            <a:endParaRPr lang="en-US" sz="1340" dirty="0"/>
          </a:p>
        </p:txBody>
      </p:sp>
      <p:sp>
        <p:nvSpPr>
          <p:cNvPr id="15" name="Shape 12"/>
          <p:cNvSpPr/>
          <p:nvPr/>
        </p:nvSpPr>
        <p:spPr>
          <a:xfrm>
            <a:off x="1591056" y="2798064"/>
            <a:ext cx="9649663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16" name="Text 13"/>
          <p:cNvSpPr txBox="1"/>
          <p:nvPr/>
        </p:nvSpPr>
        <p:spPr>
          <a:xfrm>
            <a:off x="1591056" y="2889504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spc="110" kern="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</a:t>
            </a:r>
            <a:endParaRPr lang="en-US" sz="840" dirty="0"/>
          </a:p>
        </p:txBody>
      </p:sp>
      <p:sp>
        <p:nvSpPr>
          <p:cNvPr id="17" name="Text 14"/>
          <p:cNvSpPr txBox="1"/>
          <p:nvPr/>
        </p:nvSpPr>
        <p:spPr>
          <a:xfrm>
            <a:off x="2286000" y="2862072"/>
            <a:ext cx="89547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40" i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 sintaxis, archivos y comandos del orden rojo–verde–refactor.</a:t>
            </a:r>
            <a:endParaRPr lang="en-US" sz="1140" dirty="0"/>
          </a:p>
        </p:txBody>
      </p:sp>
      <p:sp>
        <p:nvSpPr>
          <p:cNvPr id="18" name="Shape 15"/>
          <p:cNvSpPr/>
          <p:nvPr/>
        </p:nvSpPr>
        <p:spPr>
          <a:xfrm>
            <a:off x="658368" y="3364992"/>
            <a:ext cx="10874959" cy="1097280"/>
          </a:xfrm>
          <a:prstGeom prst="rect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58368" y="3364992"/>
            <a:ext cx="54864" cy="109728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14400" y="3511296"/>
            <a:ext cx="493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2600" dirty="0"/>
          </a:p>
        </p:txBody>
      </p:sp>
      <p:sp>
        <p:nvSpPr>
          <p:cNvPr id="21" name="Text 18"/>
          <p:cNvSpPr txBox="1"/>
          <p:nvPr/>
        </p:nvSpPr>
        <p:spPr>
          <a:xfrm>
            <a:off x="1591056" y="3493008"/>
            <a:ext cx="96496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3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¿Por qué tres pruebas verdes generadas junto al código no demuestran que hubo TDD?</a:t>
            </a:r>
            <a:endParaRPr lang="en-US" sz="1340" dirty="0"/>
          </a:p>
        </p:txBody>
      </p:sp>
      <p:sp>
        <p:nvSpPr>
          <p:cNvPr id="22" name="Shape 19"/>
          <p:cNvSpPr/>
          <p:nvPr/>
        </p:nvSpPr>
        <p:spPr>
          <a:xfrm>
            <a:off x="1591056" y="4023360"/>
            <a:ext cx="9649663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23" name="Text 20"/>
          <p:cNvSpPr txBox="1"/>
          <p:nvPr/>
        </p:nvSpPr>
        <p:spPr>
          <a:xfrm>
            <a:off x="1591056" y="411480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spc="110" kern="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</a:t>
            </a:r>
            <a:endParaRPr lang="en-US" sz="840" dirty="0"/>
          </a:p>
        </p:txBody>
      </p:sp>
      <p:sp>
        <p:nvSpPr>
          <p:cNvPr id="24" name="Text 21"/>
          <p:cNvSpPr txBox="1"/>
          <p:nvPr/>
        </p:nvSpPr>
        <p:spPr>
          <a:xfrm>
            <a:off x="2286000" y="4087368"/>
            <a:ext cx="89547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40" i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Distingue el estado actual de los archivos del orden histórico en que se produjeron.</a:t>
            </a:r>
            <a:endParaRPr lang="en-US" sz="1140" dirty="0"/>
          </a:p>
        </p:txBody>
      </p:sp>
      <p:sp>
        <p:nvSpPr>
          <p:cNvPr id="25" name="Shape 22"/>
          <p:cNvSpPr/>
          <p:nvPr/>
        </p:nvSpPr>
        <p:spPr>
          <a:xfrm>
            <a:off x="658368" y="4590288"/>
            <a:ext cx="10874959" cy="1097280"/>
          </a:xfrm>
          <a:prstGeom prst="rect">
            <a:avLst/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58368" y="4590288"/>
            <a:ext cx="54864" cy="1097280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14400" y="4736592"/>
            <a:ext cx="493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A6A1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2600" dirty="0"/>
          </a:p>
        </p:txBody>
      </p:sp>
      <p:sp>
        <p:nvSpPr>
          <p:cNvPr id="28" name="Text 25"/>
          <p:cNvSpPr txBox="1"/>
          <p:nvPr/>
        </p:nvSpPr>
        <p:spPr>
          <a:xfrm>
            <a:off x="1591056" y="4718304"/>
            <a:ext cx="96496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3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¿Por qué 30/30 continúa verde cuando la implementación temporal es return true?</a:t>
            </a:r>
            <a:endParaRPr lang="en-US" sz="1340" dirty="0"/>
          </a:p>
        </p:txBody>
      </p:sp>
      <p:sp>
        <p:nvSpPr>
          <p:cNvPr id="29" name="Shape 26"/>
          <p:cNvSpPr/>
          <p:nvPr/>
        </p:nvSpPr>
        <p:spPr>
          <a:xfrm>
            <a:off x="1591056" y="5248656"/>
            <a:ext cx="9649663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30" name="Text 27"/>
          <p:cNvSpPr txBox="1"/>
          <p:nvPr/>
        </p:nvSpPr>
        <p:spPr>
          <a:xfrm>
            <a:off x="1591056" y="5340096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spc="110" kern="0" dirty="0">
                <a:solidFill>
                  <a:srgbClr val="8A6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</a:t>
            </a:r>
            <a:endParaRPr lang="en-US" sz="840" dirty="0"/>
          </a:p>
        </p:txBody>
      </p:sp>
      <p:sp>
        <p:nvSpPr>
          <p:cNvPr id="31" name="Text 28"/>
          <p:cNvSpPr txBox="1"/>
          <p:nvPr/>
        </p:nvSpPr>
        <p:spPr>
          <a:xfrm>
            <a:off x="2286000" y="5312664"/>
            <a:ext cx="89547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40" i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 si esa alteración contradice específicamente la expectativa del caso 30/30.</a:t>
            </a:r>
            <a:endParaRPr lang="en-US" sz="114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4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42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 · CONTRASTE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509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 que tenía que aparecer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664208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4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respuestas conservan el mismo orden y color que las preguntas.</a:t>
            </a:r>
            <a:endParaRPr lang="en-US" sz="1420" dirty="0"/>
          </a:p>
        </p:txBody>
      </p:sp>
      <p:sp>
        <p:nvSpPr>
          <p:cNvPr id="11" name="Shape 8"/>
          <p:cNvSpPr/>
          <p:nvPr/>
        </p:nvSpPr>
        <p:spPr>
          <a:xfrm>
            <a:off x="658368" y="2139696"/>
            <a:ext cx="10874959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8368" y="2139696"/>
            <a:ext cx="54864" cy="1243584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96112" y="2304288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B318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2700" dirty="0"/>
          </a:p>
        </p:txBody>
      </p:sp>
      <p:sp>
        <p:nvSpPr>
          <p:cNvPr id="14" name="Text 11"/>
          <p:cNvSpPr txBox="1"/>
          <p:nvPr/>
        </p:nvSpPr>
        <p:spPr>
          <a:xfrm>
            <a:off x="1591056" y="2249424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30" b="1" spc="100" kern="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CAMBIÓ LA HERRAMIENTA; NO EL ORDEN</a:t>
            </a:r>
            <a:endParaRPr lang="en-US" sz="830" dirty="0"/>
          </a:p>
        </p:txBody>
      </p:sp>
      <p:sp>
        <p:nvSpPr>
          <p:cNvPr id="15" name="Text 12"/>
          <p:cNvSpPr txBox="1"/>
          <p:nvPr/>
        </p:nvSpPr>
        <p:spPr>
          <a:xfrm>
            <a:off x="1591056" y="2468880"/>
            <a:ext cx="964966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Cambian la sintaxis, el descubrimiento y el comando. Se conserva expresar una expectativa, observar el rojo, cambiar lo mínimo, comprobar verde y revisar estructura.</a:t>
            </a:r>
            <a:endParaRPr lang="en-US" sz="1240" dirty="0"/>
          </a:p>
        </p:txBody>
      </p:sp>
      <p:sp>
        <p:nvSpPr>
          <p:cNvPr id="16" name="Shape 13"/>
          <p:cNvSpPr/>
          <p:nvPr/>
        </p:nvSpPr>
        <p:spPr>
          <a:xfrm>
            <a:off x="1591056" y="2871216"/>
            <a:ext cx="9649663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17" name="Text 14"/>
          <p:cNvSpPr txBox="1"/>
          <p:nvPr/>
        </p:nvSpPr>
        <p:spPr>
          <a:xfrm>
            <a:off x="1591056" y="2962656"/>
            <a:ext cx="1188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90" kern="0" dirty="0">
                <a:solidFill>
                  <a:srgbClr val="2E7D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REVELA</a:t>
            </a:r>
            <a:endParaRPr lang="en-US" sz="800" dirty="0"/>
          </a:p>
        </p:txBody>
      </p:sp>
      <p:sp>
        <p:nvSpPr>
          <p:cNvPr id="18" name="Text 15"/>
          <p:cNvSpPr txBox="1"/>
          <p:nvPr/>
        </p:nvSpPr>
        <p:spPr>
          <a:xfrm>
            <a:off x="2743200" y="293522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ciclo es transferible entre lenguajes y runners.</a:t>
            </a:r>
            <a:endParaRPr lang="en-US" sz="1020" dirty="0"/>
          </a:p>
        </p:txBody>
      </p:sp>
      <p:sp>
        <p:nvSpPr>
          <p:cNvPr id="19" name="Text 16"/>
          <p:cNvSpPr txBox="1"/>
          <p:nvPr/>
        </p:nvSpPr>
        <p:spPr>
          <a:xfrm>
            <a:off x="6784848" y="2962656"/>
            <a:ext cx="1325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90" kern="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 FRECUENTE</a:t>
            </a:r>
            <a:endParaRPr lang="en-US" sz="800" dirty="0"/>
          </a:p>
        </p:txBody>
      </p:sp>
      <p:sp>
        <p:nvSpPr>
          <p:cNvPr id="20" name="Text 17"/>
          <p:cNvSpPr txBox="1"/>
          <p:nvPr/>
        </p:nvSpPr>
        <p:spPr>
          <a:xfrm>
            <a:off x="8138160" y="2935224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20" i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«Vitest aplica un TDD diferente.»</a:t>
            </a:r>
            <a:endParaRPr lang="en-US" sz="1020" dirty="0"/>
          </a:p>
        </p:txBody>
      </p:sp>
      <p:sp>
        <p:nvSpPr>
          <p:cNvPr id="21" name="Shape 18"/>
          <p:cNvSpPr/>
          <p:nvPr/>
        </p:nvSpPr>
        <p:spPr>
          <a:xfrm>
            <a:off x="658368" y="3493008"/>
            <a:ext cx="10874959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58368" y="3493008"/>
            <a:ext cx="54864" cy="124358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96112" y="3657600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2700" dirty="0"/>
          </a:p>
        </p:txBody>
      </p:sp>
      <p:sp>
        <p:nvSpPr>
          <p:cNvPr id="24" name="Text 21"/>
          <p:cNvSpPr txBox="1"/>
          <p:nvPr/>
        </p:nvSpPr>
        <p:spPr>
          <a:xfrm>
            <a:off x="1591056" y="3602736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30" b="1" spc="100" kern="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VERDE NO CONTIENE LA HISTORIA</a:t>
            </a:r>
            <a:endParaRPr lang="en-US" sz="830" dirty="0"/>
          </a:p>
        </p:txBody>
      </p:sp>
      <p:sp>
        <p:nvSpPr>
          <p:cNvPr id="25" name="Text 22"/>
          <p:cNvSpPr txBox="1"/>
          <p:nvPr/>
        </p:nvSpPr>
        <p:spPr>
          <a:xfrm>
            <a:off x="1591056" y="3822192"/>
            <a:ext cx="964966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resultado prueba compatibilidad actual entre código y pruebas. Sin commits, salidas u otro registro, no revela cuál existió primero ni si se observó un rojo.</a:t>
            </a:r>
            <a:endParaRPr lang="en-US" sz="1240" dirty="0"/>
          </a:p>
        </p:txBody>
      </p:sp>
      <p:sp>
        <p:nvSpPr>
          <p:cNvPr id="26" name="Shape 23"/>
          <p:cNvSpPr/>
          <p:nvPr/>
        </p:nvSpPr>
        <p:spPr>
          <a:xfrm>
            <a:off x="1591056" y="4224528"/>
            <a:ext cx="9649663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27" name="Text 24"/>
          <p:cNvSpPr txBox="1"/>
          <p:nvPr/>
        </p:nvSpPr>
        <p:spPr>
          <a:xfrm>
            <a:off x="1591056" y="4315968"/>
            <a:ext cx="1188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90" kern="0" dirty="0">
                <a:solidFill>
                  <a:srgbClr val="2E7D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REVELA</a:t>
            </a:r>
            <a:endParaRPr lang="en-US" sz="800" dirty="0"/>
          </a:p>
        </p:txBody>
      </p:sp>
      <p:sp>
        <p:nvSpPr>
          <p:cNvPr id="28" name="Text 25"/>
          <p:cNvSpPr txBox="1"/>
          <p:nvPr/>
        </p:nvSpPr>
        <p:spPr>
          <a:xfrm>
            <a:off x="2743200" y="428853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TDD describe un proceso verificable, no solo un estado final.</a:t>
            </a:r>
            <a:endParaRPr lang="en-US" sz="1020" dirty="0"/>
          </a:p>
        </p:txBody>
      </p:sp>
      <p:sp>
        <p:nvSpPr>
          <p:cNvPr id="29" name="Text 26"/>
          <p:cNvSpPr txBox="1"/>
          <p:nvPr/>
        </p:nvSpPr>
        <p:spPr>
          <a:xfrm>
            <a:off x="6784848" y="4315968"/>
            <a:ext cx="1325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90" kern="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 FRECUENTE</a:t>
            </a:r>
            <a:endParaRPr lang="en-US" sz="800" dirty="0"/>
          </a:p>
        </p:txBody>
      </p:sp>
      <p:sp>
        <p:nvSpPr>
          <p:cNvPr id="30" name="Text 27"/>
          <p:cNvSpPr txBox="1"/>
          <p:nvPr/>
        </p:nvSpPr>
        <p:spPr>
          <a:xfrm>
            <a:off x="8138160" y="4288536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20" i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«Si hay tests, entonces hubo TDD.»</a:t>
            </a:r>
            <a:endParaRPr lang="en-US" sz="1020" dirty="0"/>
          </a:p>
        </p:txBody>
      </p:sp>
      <p:sp>
        <p:nvSpPr>
          <p:cNvPr id="31" name="Shape 28"/>
          <p:cNvSpPr/>
          <p:nvPr/>
        </p:nvSpPr>
        <p:spPr>
          <a:xfrm>
            <a:off x="658368" y="4846320"/>
            <a:ext cx="10874959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58368" y="4846320"/>
            <a:ext cx="54864" cy="1243584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896112" y="5010912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8A6A1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2700" dirty="0"/>
          </a:p>
        </p:txBody>
      </p:sp>
      <p:sp>
        <p:nvSpPr>
          <p:cNvPr id="34" name="Text 31"/>
          <p:cNvSpPr txBox="1"/>
          <p:nvPr/>
        </p:nvSpPr>
        <p:spPr>
          <a:xfrm>
            <a:off x="1591056" y="495604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30" b="1" spc="100" kern="0" dirty="0">
                <a:solidFill>
                  <a:srgbClr val="8A6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ALTERACIÓN NO CONTRADICE ESE CASO</a:t>
            </a:r>
            <a:endParaRPr lang="en-US" sz="830" dirty="0"/>
          </a:p>
        </p:txBody>
      </p:sp>
      <p:sp>
        <p:nvSpPr>
          <p:cNvPr id="35" name="Text 32"/>
          <p:cNvSpPr txBox="1"/>
          <p:nvPr/>
        </p:nvSpPr>
        <p:spPr>
          <a:xfrm>
            <a:off x="1591056" y="5175504"/>
            <a:ext cx="964966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30/30 espera true y return true todavía lo entrega. Fallan los casos que esperaban false: sobrecupo y cero personas.</a:t>
            </a:r>
            <a:endParaRPr lang="en-US" sz="1240" dirty="0"/>
          </a:p>
        </p:txBody>
      </p:sp>
      <p:sp>
        <p:nvSpPr>
          <p:cNvPr id="36" name="Shape 33"/>
          <p:cNvSpPr/>
          <p:nvPr/>
        </p:nvSpPr>
        <p:spPr>
          <a:xfrm>
            <a:off x="1591056" y="5577840"/>
            <a:ext cx="9649663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37" name="Text 34"/>
          <p:cNvSpPr txBox="1"/>
          <p:nvPr/>
        </p:nvSpPr>
        <p:spPr>
          <a:xfrm>
            <a:off x="1591056" y="5669280"/>
            <a:ext cx="1188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90" kern="0" dirty="0">
                <a:solidFill>
                  <a:srgbClr val="2E7D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REVELA</a:t>
            </a:r>
            <a:endParaRPr lang="en-US" sz="800" dirty="0"/>
          </a:p>
        </p:txBody>
      </p:sp>
      <p:sp>
        <p:nvSpPr>
          <p:cNvPr id="38" name="Text 35"/>
          <p:cNvSpPr txBox="1"/>
          <p:nvPr/>
        </p:nvSpPr>
        <p:spPr>
          <a:xfrm>
            <a:off x="2743200" y="564184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prueba sensible no tiene que fallar ante defectos ajenos a su decisión.</a:t>
            </a:r>
            <a:endParaRPr lang="en-US" sz="1020" dirty="0"/>
          </a:p>
        </p:txBody>
      </p:sp>
      <p:sp>
        <p:nvSpPr>
          <p:cNvPr id="39" name="Text 36"/>
          <p:cNvSpPr txBox="1"/>
          <p:nvPr/>
        </p:nvSpPr>
        <p:spPr>
          <a:xfrm>
            <a:off x="6784848" y="5669280"/>
            <a:ext cx="1325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90" kern="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 FRECUENTE</a:t>
            </a:r>
            <a:endParaRPr lang="en-US" sz="800" dirty="0"/>
          </a:p>
        </p:txBody>
      </p:sp>
      <p:sp>
        <p:nvSpPr>
          <p:cNvPr id="40" name="Text 37"/>
          <p:cNvSpPr txBox="1"/>
          <p:nvPr/>
        </p:nvSpPr>
        <p:spPr>
          <a:xfrm>
            <a:off x="8138160" y="5641848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20" i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«Toda alteración debe hacer fallar toda la suite.»</a:t>
            </a:r>
            <a:endParaRPr lang="en-US" sz="102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4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43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 · SÍNTESIS VERIFICABLE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509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Cada evidencia autoriza una afirmación y limita otras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66420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4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conclusión técnica es precisa cuando no promete más de lo que el proceso observó.</a:t>
            </a:r>
            <a:endParaRPr lang="en-US" sz="1420" dirty="0"/>
          </a:p>
        </p:txBody>
      </p:sp>
      <p:sp>
        <p:nvSpPr>
          <p:cNvPr id="11" name="Shape 8"/>
          <p:cNvSpPr/>
          <p:nvPr/>
        </p:nvSpPr>
        <p:spPr>
          <a:xfrm>
            <a:off x="658368" y="2121408"/>
            <a:ext cx="3511296" cy="47548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86384" y="2258568"/>
            <a:ext cx="325526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40" b="1" spc="65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 OBSERVADA</a:t>
            </a:r>
            <a:endParaRPr lang="en-US" sz="840" dirty="0"/>
          </a:p>
        </p:txBody>
      </p:sp>
      <p:sp>
        <p:nvSpPr>
          <p:cNvPr id="13" name="Shape 10"/>
          <p:cNvSpPr/>
          <p:nvPr/>
        </p:nvSpPr>
        <p:spPr>
          <a:xfrm>
            <a:off x="4407408" y="2121408"/>
            <a:ext cx="3666744" cy="47548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35424" y="2258568"/>
            <a:ext cx="34107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40" b="1" spc="65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SÍ PERMITE AFIRMAR</a:t>
            </a:r>
            <a:endParaRPr lang="en-US" sz="840" dirty="0"/>
          </a:p>
        </p:txBody>
      </p:sp>
      <p:sp>
        <p:nvSpPr>
          <p:cNvPr id="15" name="Shape 12"/>
          <p:cNvSpPr/>
          <p:nvPr/>
        </p:nvSpPr>
        <p:spPr>
          <a:xfrm>
            <a:off x="8311896" y="2121408"/>
            <a:ext cx="3877056" cy="475488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2258568"/>
            <a:ext cx="362102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40" b="1" spc="65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TODAVÍA NO PERMITE AFIRMAR</a:t>
            </a:r>
            <a:endParaRPr lang="en-US" sz="840" dirty="0"/>
          </a:p>
        </p:txBody>
      </p:sp>
      <p:sp>
        <p:nvSpPr>
          <p:cNvPr id="17" name="Shape 14"/>
          <p:cNvSpPr/>
          <p:nvPr/>
        </p:nvSpPr>
        <p:spPr>
          <a:xfrm>
            <a:off x="658368" y="3118104"/>
            <a:ext cx="10874959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18" name="Text 15"/>
          <p:cNvSpPr txBox="1"/>
          <p:nvPr/>
        </p:nvSpPr>
        <p:spPr>
          <a:xfrm>
            <a:off x="804672" y="2743200"/>
            <a:ext cx="321868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96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Rojo por la razón esperada</a:t>
            </a:r>
            <a:endParaRPr lang="en-US" sz="960" dirty="0"/>
          </a:p>
        </p:txBody>
      </p:sp>
      <p:sp>
        <p:nvSpPr>
          <p:cNvPr id="19" name="Text 16"/>
          <p:cNvSpPr txBox="1"/>
          <p:nvPr/>
        </p:nvSpPr>
        <p:spPr>
          <a:xfrm>
            <a:off x="4553712" y="2743200"/>
            <a:ext cx="33741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9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Detecta el estado sin el comportamiento</a:t>
            </a:r>
            <a:endParaRPr lang="en-US" sz="960" dirty="0"/>
          </a:p>
        </p:txBody>
      </p:sp>
      <p:sp>
        <p:nvSpPr>
          <p:cNvPr id="20" name="Text 17"/>
          <p:cNvSpPr txBox="1"/>
          <p:nvPr/>
        </p:nvSpPr>
        <p:spPr>
          <a:xfrm>
            <a:off x="8458200" y="2743200"/>
            <a:ext cx="35844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96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 cubre todos los defectos</a:t>
            </a:r>
            <a:endParaRPr lang="en-US" sz="960" dirty="0"/>
          </a:p>
        </p:txBody>
      </p:sp>
      <p:sp>
        <p:nvSpPr>
          <p:cNvPr id="21" name="Shape 18"/>
          <p:cNvSpPr/>
          <p:nvPr/>
        </p:nvSpPr>
        <p:spPr>
          <a:xfrm>
            <a:off x="658368" y="3639312"/>
            <a:ext cx="10874959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22" name="Text 19"/>
          <p:cNvSpPr txBox="1"/>
          <p:nvPr/>
        </p:nvSpPr>
        <p:spPr>
          <a:xfrm>
            <a:off x="804672" y="3264408"/>
            <a:ext cx="321868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96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Cambio mínimo → verde</a:t>
            </a:r>
            <a:endParaRPr lang="en-US" sz="960" dirty="0"/>
          </a:p>
        </p:txBody>
      </p:sp>
      <p:sp>
        <p:nvSpPr>
          <p:cNvPr id="23" name="Text 20"/>
          <p:cNvSpPr txBox="1"/>
          <p:nvPr/>
        </p:nvSpPr>
        <p:spPr>
          <a:xfrm>
            <a:off x="4553712" y="3264408"/>
            <a:ext cx="33741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9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ejemplo actual quedó satisfecho</a:t>
            </a:r>
            <a:endParaRPr lang="en-US" sz="960" dirty="0"/>
          </a:p>
        </p:txBody>
      </p:sp>
      <p:sp>
        <p:nvSpPr>
          <p:cNvPr id="24" name="Text 21"/>
          <p:cNvSpPr txBox="1"/>
          <p:nvPr/>
        </p:nvSpPr>
        <p:spPr>
          <a:xfrm>
            <a:off x="8458200" y="3264408"/>
            <a:ext cx="35844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96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 el producto completo es correcto</a:t>
            </a:r>
            <a:endParaRPr lang="en-US" sz="960" dirty="0"/>
          </a:p>
        </p:txBody>
      </p:sp>
      <p:sp>
        <p:nvSpPr>
          <p:cNvPr id="25" name="Shape 22"/>
          <p:cNvSpPr/>
          <p:nvPr/>
        </p:nvSpPr>
        <p:spPr>
          <a:xfrm>
            <a:off x="658368" y="4160520"/>
            <a:ext cx="10874959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26" name="Text 23"/>
          <p:cNvSpPr txBox="1"/>
          <p:nvPr/>
        </p:nvSpPr>
        <p:spPr>
          <a:xfrm>
            <a:off x="804672" y="3785616"/>
            <a:ext cx="321868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96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Verde durante el refactor</a:t>
            </a:r>
            <a:endParaRPr lang="en-US" sz="960" dirty="0"/>
          </a:p>
        </p:txBody>
      </p:sp>
      <p:sp>
        <p:nvSpPr>
          <p:cNvPr id="27" name="Text 24"/>
          <p:cNvSpPr txBox="1"/>
          <p:nvPr/>
        </p:nvSpPr>
        <p:spPr>
          <a:xfrm>
            <a:off x="4553712" y="3785616"/>
            <a:ext cx="33741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9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casos cubiertos no cambiaron</a:t>
            </a:r>
            <a:endParaRPr lang="en-US" sz="960" dirty="0"/>
          </a:p>
        </p:txBody>
      </p:sp>
      <p:sp>
        <p:nvSpPr>
          <p:cNvPr id="28" name="Text 25"/>
          <p:cNvSpPr txBox="1"/>
          <p:nvPr/>
        </p:nvSpPr>
        <p:spPr>
          <a:xfrm>
            <a:off x="8458200" y="3785616"/>
            <a:ext cx="35844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96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 toda conducta externa es idéntica</a:t>
            </a:r>
            <a:endParaRPr lang="en-US" sz="960" dirty="0"/>
          </a:p>
        </p:txBody>
      </p:sp>
      <p:sp>
        <p:nvSpPr>
          <p:cNvPr id="29" name="Shape 26"/>
          <p:cNvSpPr/>
          <p:nvPr/>
        </p:nvSpPr>
        <p:spPr>
          <a:xfrm>
            <a:off x="658368" y="4681728"/>
            <a:ext cx="10874959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30" name="Text 27"/>
          <p:cNvSpPr txBox="1"/>
          <p:nvPr/>
        </p:nvSpPr>
        <p:spPr>
          <a:xfrm>
            <a:off x="804672" y="4306824"/>
            <a:ext cx="321868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96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100 % de cobertura</a:t>
            </a:r>
            <a:endParaRPr lang="en-US" sz="960" dirty="0"/>
          </a:p>
        </p:txBody>
      </p:sp>
      <p:sp>
        <p:nvSpPr>
          <p:cNvPr id="31" name="Text 28"/>
          <p:cNvSpPr txBox="1"/>
          <p:nvPr/>
        </p:nvSpPr>
        <p:spPr>
          <a:xfrm>
            <a:off x="4553712" y="4306824"/>
            <a:ext cx="33741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9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ejecutaron las sentencias medidas</a:t>
            </a:r>
            <a:endParaRPr lang="en-US" sz="960" dirty="0"/>
          </a:p>
        </p:txBody>
      </p:sp>
      <p:sp>
        <p:nvSpPr>
          <p:cNvPr id="32" name="Text 29"/>
          <p:cNvSpPr txBox="1"/>
          <p:nvPr/>
        </p:nvSpPr>
        <p:spPr>
          <a:xfrm>
            <a:off x="8458200" y="4306824"/>
            <a:ext cx="35844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96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 todas las decisiones fueron probadas</a:t>
            </a:r>
            <a:endParaRPr lang="en-US" sz="960" dirty="0"/>
          </a:p>
        </p:txBody>
      </p:sp>
      <p:sp>
        <p:nvSpPr>
          <p:cNvPr id="33" name="Shape 30"/>
          <p:cNvSpPr/>
          <p:nvPr/>
        </p:nvSpPr>
        <p:spPr>
          <a:xfrm>
            <a:off x="658368" y="5202936"/>
            <a:ext cx="10874959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34" name="Text 31"/>
          <p:cNvSpPr txBox="1"/>
          <p:nvPr/>
        </p:nvSpPr>
        <p:spPr>
          <a:xfrm>
            <a:off x="804672" y="4828032"/>
            <a:ext cx="321868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96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Alteración dirigida → rojo</a:t>
            </a:r>
            <a:endParaRPr lang="en-US" sz="960" dirty="0"/>
          </a:p>
        </p:txBody>
      </p:sp>
      <p:sp>
        <p:nvSpPr>
          <p:cNvPr id="35" name="Text 32"/>
          <p:cNvSpPr txBox="1"/>
          <p:nvPr/>
        </p:nvSpPr>
        <p:spPr>
          <a:xfrm>
            <a:off x="4553712" y="4828032"/>
            <a:ext cx="33741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9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Hay sensibilidad a ese defecto</a:t>
            </a:r>
            <a:endParaRPr lang="en-US" sz="960" dirty="0"/>
          </a:p>
        </p:txBody>
      </p:sp>
      <p:sp>
        <p:nvSpPr>
          <p:cNvPr id="36" name="Text 33"/>
          <p:cNvSpPr txBox="1"/>
          <p:nvPr/>
        </p:nvSpPr>
        <p:spPr>
          <a:xfrm>
            <a:off x="8458200" y="4828032"/>
            <a:ext cx="35844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96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 la prueba fue escrita primero</a:t>
            </a:r>
            <a:endParaRPr lang="en-US" sz="960" dirty="0"/>
          </a:p>
        </p:txBody>
      </p:sp>
      <p:sp>
        <p:nvSpPr>
          <p:cNvPr id="37" name="Shape 34"/>
          <p:cNvSpPr/>
          <p:nvPr/>
        </p:nvSpPr>
        <p:spPr>
          <a:xfrm>
            <a:off x="658368" y="5724144"/>
            <a:ext cx="10874959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38" name="Text 35"/>
          <p:cNvSpPr txBox="1"/>
          <p:nvPr/>
        </p:nvSpPr>
        <p:spPr>
          <a:xfrm>
            <a:off x="804672" y="5349240"/>
            <a:ext cx="321868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96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Historial conserva rojo antes</a:t>
            </a:r>
            <a:endParaRPr lang="en-US" sz="960" dirty="0"/>
          </a:p>
        </p:txBody>
      </p:sp>
      <p:sp>
        <p:nvSpPr>
          <p:cNvPr id="39" name="Text 36"/>
          <p:cNvSpPr txBox="1"/>
          <p:nvPr/>
        </p:nvSpPr>
        <p:spPr>
          <a:xfrm>
            <a:off x="4553712" y="5349240"/>
            <a:ext cx="33741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9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Existe evidencia del orden registrado</a:t>
            </a:r>
            <a:endParaRPr lang="en-US" sz="960" dirty="0"/>
          </a:p>
        </p:txBody>
      </p:sp>
      <p:sp>
        <p:nvSpPr>
          <p:cNvPr id="40" name="Text 37"/>
          <p:cNvSpPr txBox="1"/>
          <p:nvPr/>
        </p:nvSpPr>
        <p:spPr>
          <a:xfrm>
            <a:off x="8458200" y="5349240"/>
            <a:ext cx="35844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96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 la expectativa sea el requisito correcto</a:t>
            </a:r>
            <a:endParaRPr lang="en-US" sz="960" dirty="0"/>
          </a:p>
        </p:txBody>
      </p:sp>
      <p:sp>
        <p:nvSpPr>
          <p:cNvPr id="41" name="Shape 38"/>
          <p:cNvSpPr/>
          <p:nvPr/>
        </p:nvSpPr>
        <p:spPr>
          <a:xfrm>
            <a:off x="658368" y="5870448"/>
            <a:ext cx="10874959" cy="40233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950976" y="5907024"/>
            <a:ext cx="1028974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frase «todo funciona» excede la evidencia. Una conclusión válida nombra el caso, la salida observada y el límite que permanece abierto.</a:t>
            </a:r>
            <a:endParaRPr lang="en-US" sz="121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C:\Users\Diego Obando\dev\pro402-taller-de-testing-2026\clases\semana-04\02\ppt\source\assets\logo-aie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307150"/>
            <a:ext cx="1335024" cy="46469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44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 · MAPA DE LA CLASE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509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cadena comienza y termina con criterio humano</a:t>
            </a:r>
            <a:endParaRPr lang="en-US" sz="29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664208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42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herramientas ejecutan y registran. La persona decide qué comportamiento importa y si la evidencia alcanza.</a:t>
            </a:r>
            <a:endParaRPr lang="en-US" sz="1420" dirty="0"/>
          </a:p>
        </p:txBody>
      </p:sp>
      <p:sp>
        <p:nvSpPr>
          <p:cNvPr id="11" name="Shape 8"/>
          <p:cNvSpPr/>
          <p:nvPr/>
        </p:nvSpPr>
        <p:spPr>
          <a:xfrm>
            <a:off x="658368" y="2359152"/>
            <a:ext cx="3401568" cy="1042416"/>
          </a:xfrm>
          <a:prstGeom prst="rect">
            <a:avLst/>
          </a:prstGeom>
          <a:solidFill>
            <a:srgbClr val="1D3A57"/>
          </a:solidFill>
          <a:ln w="12700">
            <a:solidFill>
              <a:srgbClr val="1D3A5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41248" y="2624328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2300" dirty="0"/>
          </a:p>
        </p:txBody>
      </p:sp>
      <p:sp>
        <p:nvSpPr>
          <p:cNvPr id="13" name="Text 10"/>
          <p:cNvSpPr txBox="1"/>
          <p:nvPr/>
        </p:nvSpPr>
        <p:spPr>
          <a:xfrm>
            <a:off x="1426464" y="2542032"/>
            <a:ext cx="2340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Criterio humano</a:t>
            </a:r>
            <a:endParaRPr lang="en-US" sz="1180" dirty="0"/>
          </a:p>
        </p:txBody>
      </p:sp>
      <p:sp>
        <p:nvSpPr>
          <p:cNvPr id="14" name="Text 11"/>
          <p:cNvSpPr txBox="1"/>
          <p:nvPr/>
        </p:nvSpPr>
        <p:spPr>
          <a:xfrm>
            <a:off x="1426464" y="2843784"/>
            <a:ext cx="2322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7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la decisión de la regla de negocio</a:t>
            </a:r>
            <a:endParaRPr lang="en-US" sz="970" dirty="0"/>
          </a:p>
        </p:txBody>
      </p:sp>
      <p:sp>
        <p:nvSpPr>
          <p:cNvPr id="15" name="Shape 12"/>
          <p:cNvSpPr/>
          <p:nvPr/>
        </p:nvSpPr>
        <p:spPr>
          <a:xfrm>
            <a:off x="4078224" y="2880360"/>
            <a:ext cx="256032" cy="0"/>
          </a:xfrm>
          <a:prstGeom prst="line">
            <a:avLst/>
          </a:prstGeom>
          <a:noFill/>
          <a:ln w="12700">
            <a:solidFill>
              <a:srgbClr val="E6EEF7"/>
            </a:solidFill>
            <a:prstDash val="solid"/>
            <a:headEnd type="none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4425696" y="2359152"/>
            <a:ext cx="3401568" cy="1042416"/>
          </a:xfrm>
          <a:prstGeom prst="rect">
            <a:avLst/>
          </a:prstGeom>
          <a:solidFill>
            <a:srgbClr val="1D3A57"/>
          </a:solidFill>
          <a:ln w="12700">
            <a:solidFill>
              <a:srgbClr val="1D3A5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608576" y="2624328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2300" dirty="0"/>
          </a:p>
        </p:txBody>
      </p:sp>
      <p:sp>
        <p:nvSpPr>
          <p:cNvPr id="18" name="Text 15"/>
          <p:cNvSpPr txBox="1"/>
          <p:nvPr/>
        </p:nvSpPr>
        <p:spPr>
          <a:xfrm>
            <a:off x="5193792" y="2542032"/>
            <a:ext cx="2340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Ejemplo ejecutable</a:t>
            </a:r>
            <a:endParaRPr lang="en-US" sz="1180" dirty="0"/>
          </a:p>
        </p:txBody>
      </p:sp>
      <p:sp>
        <p:nvSpPr>
          <p:cNvPr id="19" name="Text 16"/>
          <p:cNvSpPr txBox="1"/>
          <p:nvPr/>
        </p:nvSpPr>
        <p:spPr>
          <a:xfrm>
            <a:off x="5193792" y="2843784"/>
            <a:ext cx="2322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7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Convierte la decisión en una expectativa</a:t>
            </a:r>
            <a:endParaRPr lang="en-US" sz="970" dirty="0"/>
          </a:p>
        </p:txBody>
      </p:sp>
      <p:sp>
        <p:nvSpPr>
          <p:cNvPr id="20" name="Shape 17"/>
          <p:cNvSpPr/>
          <p:nvPr/>
        </p:nvSpPr>
        <p:spPr>
          <a:xfrm>
            <a:off x="7845552" y="2880360"/>
            <a:ext cx="256032" cy="0"/>
          </a:xfrm>
          <a:prstGeom prst="line">
            <a:avLst/>
          </a:prstGeom>
          <a:noFill/>
          <a:ln w="12700">
            <a:solidFill>
              <a:srgbClr val="E6EEF7"/>
            </a:solidFill>
            <a:prstDash val="solid"/>
            <a:headEnd type="none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8193024" y="2359152"/>
            <a:ext cx="3401568" cy="1042416"/>
          </a:xfrm>
          <a:prstGeom prst="rect">
            <a:avLst/>
          </a:prstGeom>
          <a:solidFill>
            <a:srgbClr val="1D3A57"/>
          </a:solidFill>
          <a:ln w="12700">
            <a:solidFill>
              <a:srgbClr val="1D3A5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375904" y="2624328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2300" dirty="0"/>
          </a:p>
        </p:txBody>
      </p:sp>
      <p:sp>
        <p:nvSpPr>
          <p:cNvPr id="23" name="Text 20"/>
          <p:cNvSpPr txBox="1"/>
          <p:nvPr/>
        </p:nvSpPr>
        <p:spPr>
          <a:xfrm>
            <a:off x="8961120" y="2542032"/>
            <a:ext cx="2340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Rojo esperado</a:t>
            </a:r>
            <a:endParaRPr lang="en-US" sz="1180" dirty="0"/>
          </a:p>
        </p:txBody>
      </p:sp>
      <p:sp>
        <p:nvSpPr>
          <p:cNvPr id="24" name="Text 21"/>
          <p:cNvSpPr txBox="1"/>
          <p:nvPr/>
        </p:nvSpPr>
        <p:spPr>
          <a:xfrm>
            <a:off x="8961120" y="2843784"/>
            <a:ext cx="2322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7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Demuestra que falta ese comportamiento</a:t>
            </a:r>
            <a:endParaRPr lang="en-US" sz="970" dirty="0"/>
          </a:p>
        </p:txBody>
      </p:sp>
      <p:sp>
        <p:nvSpPr>
          <p:cNvPr id="25" name="Shape 22"/>
          <p:cNvSpPr/>
          <p:nvPr/>
        </p:nvSpPr>
        <p:spPr>
          <a:xfrm>
            <a:off x="658368" y="3749040"/>
            <a:ext cx="3401568" cy="1042416"/>
          </a:xfrm>
          <a:prstGeom prst="rect">
            <a:avLst/>
          </a:prstGeom>
          <a:solidFill>
            <a:srgbClr val="1D3A57"/>
          </a:solidFill>
          <a:ln w="12700">
            <a:solidFill>
              <a:srgbClr val="1D3A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41248" y="4014216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3FAE6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2300" dirty="0"/>
          </a:p>
        </p:txBody>
      </p:sp>
      <p:sp>
        <p:nvSpPr>
          <p:cNvPr id="27" name="Text 24"/>
          <p:cNvSpPr txBox="1"/>
          <p:nvPr/>
        </p:nvSpPr>
        <p:spPr>
          <a:xfrm>
            <a:off x="1426464" y="3931920"/>
            <a:ext cx="2340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Verde mínimo</a:t>
            </a:r>
            <a:endParaRPr lang="en-US" sz="1180" dirty="0"/>
          </a:p>
        </p:txBody>
      </p:sp>
      <p:sp>
        <p:nvSpPr>
          <p:cNvPr id="28" name="Text 25"/>
          <p:cNvSpPr txBox="1"/>
          <p:nvPr/>
        </p:nvSpPr>
        <p:spPr>
          <a:xfrm>
            <a:off x="1426464" y="4233672"/>
            <a:ext cx="2322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7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Satisface el ejemplo sin anticiparse</a:t>
            </a:r>
            <a:endParaRPr lang="en-US" sz="970" dirty="0"/>
          </a:p>
        </p:txBody>
      </p:sp>
      <p:sp>
        <p:nvSpPr>
          <p:cNvPr id="29" name="Shape 26"/>
          <p:cNvSpPr/>
          <p:nvPr/>
        </p:nvSpPr>
        <p:spPr>
          <a:xfrm>
            <a:off x="4078224" y="4270248"/>
            <a:ext cx="256032" cy="0"/>
          </a:xfrm>
          <a:prstGeom prst="line">
            <a:avLst/>
          </a:prstGeom>
          <a:noFill/>
          <a:ln w="12700">
            <a:solidFill>
              <a:srgbClr val="E6EEF7"/>
            </a:solidFill>
            <a:prstDash val="solid"/>
            <a:headEnd type="none"/>
            <a:tailEnd type="triangle"/>
          </a:ln>
        </p:spPr>
      </p:sp>
      <p:sp>
        <p:nvSpPr>
          <p:cNvPr id="30" name="Shape 27"/>
          <p:cNvSpPr/>
          <p:nvPr/>
        </p:nvSpPr>
        <p:spPr>
          <a:xfrm>
            <a:off x="4425696" y="3749040"/>
            <a:ext cx="3401568" cy="1042416"/>
          </a:xfrm>
          <a:prstGeom prst="rect">
            <a:avLst/>
          </a:prstGeom>
          <a:solidFill>
            <a:srgbClr val="1D3A57"/>
          </a:solidFill>
          <a:ln w="12700">
            <a:solidFill>
              <a:srgbClr val="1D3A57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4608576" y="4014216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lang="en-US" sz="2300" dirty="0"/>
          </a:p>
        </p:txBody>
      </p:sp>
      <p:sp>
        <p:nvSpPr>
          <p:cNvPr id="32" name="Text 29"/>
          <p:cNvSpPr txBox="1"/>
          <p:nvPr/>
        </p:nvSpPr>
        <p:spPr>
          <a:xfrm>
            <a:off x="5193792" y="3931920"/>
            <a:ext cx="2340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Refactor</a:t>
            </a:r>
            <a:endParaRPr lang="en-US" sz="1180" dirty="0"/>
          </a:p>
        </p:txBody>
      </p:sp>
      <p:sp>
        <p:nvSpPr>
          <p:cNvPr id="33" name="Text 30"/>
          <p:cNvSpPr txBox="1"/>
          <p:nvPr/>
        </p:nvSpPr>
        <p:spPr>
          <a:xfrm>
            <a:off x="5193792" y="4233672"/>
            <a:ext cx="2322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7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Mejora estructura con la suite verde</a:t>
            </a:r>
            <a:endParaRPr lang="en-US" sz="970" dirty="0"/>
          </a:p>
        </p:txBody>
      </p:sp>
      <p:sp>
        <p:nvSpPr>
          <p:cNvPr id="34" name="Shape 31"/>
          <p:cNvSpPr/>
          <p:nvPr/>
        </p:nvSpPr>
        <p:spPr>
          <a:xfrm>
            <a:off x="7845552" y="4270248"/>
            <a:ext cx="256032" cy="0"/>
          </a:xfrm>
          <a:prstGeom prst="line">
            <a:avLst/>
          </a:prstGeom>
          <a:noFill/>
          <a:ln w="12700">
            <a:solidFill>
              <a:srgbClr val="E6EEF7"/>
            </a:solidFill>
            <a:prstDash val="solid"/>
            <a:headEnd type="none"/>
            <a:tailEnd type="triangle"/>
          </a:ln>
        </p:spPr>
      </p:sp>
      <p:sp>
        <p:nvSpPr>
          <p:cNvPr id="35" name="Shape 32"/>
          <p:cNvSpPr/>
          <p:nvPr/>
        </p:nvSpPr>
        <p:spPr>
          <a:xfrm>
            <a:off x="8193024" y="3749040"/>
            <a:ext cx="3401568" cy="1042416"/>
          </a:xfrm>
          <a:prstGeom prst="rect">
            <a:avLst/>
          </a:prstGeom>
          <a:solidFill>
            <a:srgbClr val="1D3A57"/>
          </a:solidFill>
          <a:ln w="12700">
            <a:solidFill>
              <a:srgbClr val="1D3A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375904" y="4014216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E6EE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</a:t>
            </a:r>
            <a:endParaRPr lang="en-US" sz="2300" dirty="0"/>
          </a:p>
        </p:txBody>
      </p:sp>
      <p:sp>
        <p:nvSpPr>
          <p:cNvPr id="37" name="Text 34"/>
          <p:cNvSpPr txBox="1"/>
          <p:nvPr/>
        </p:nvSpPr>
        <p:spPr>
          <a:xfrm>
            <a:off x="8961120" y="3931920"/>
            <a:ext cx="2340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Siguiente ejemplo</a:t>
            </a:r>
            <a:endParaRPr lang="en-US" sz="1180" dirty="0"/>
          </a:p>
        </p:txBody>
      </p:sp>
      <p:sp>
        <p:nvSpPr>
          <p:cNvPr id="38" name="Text 35"/>
          <p:cNvSpPr txBox="1"/>
          <p:nvPr/>
        </p:nvSpPr>
        <p:spPr>
          <a:xfrm>
            <a:off x="8961120" y="4233672"/>
            <a:ext cx="2322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7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Busca la próxima decisión no expresada</a:t>
            </a:r>
            <a:endParaRPr lang="en-US" sz="970" dirty="0"/>
          </a:p>
        </p:txBody>
      </p:sp>
      <p:sp>
        <p:nvSpPr>
          <p:cNvPr id="39" name="Shape 36"/>
          <p:cNvSpPr/>
          <p:nvPr/>
        </p:nvSpPr>
        <p:spPr>
          <a:xfrm>
            <a:off x="658368" y="5358384"/>
            <a:ext cx="10874959" cy="658368"/>
          </a:xfrm>
          <a:prstGeom prst="rect">
            <a:avLst/>
          </a:prstGeom>
          <a:solidFill>
            <a:srgbClr val="2C4A66"/>
          </a:solidFill>
          <a:ln w="12700">
            <a:solidFill>
              <a:srgbClr val="2C4A66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932688" y="5577840"/>
            <a:ext cx="768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20" b="1" spc="10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AGENTE</a:t>
            </a:r>
            <a:endParaRPr lang="en-US" sz="920" dirty="0"/>
          </a:p>
        </p:txBody>
      </p:sp>
      <p:sp>
        <p:nvSpPr>
          <p:cNvPr id="41" name="Text 38"/>
          <p:cNvSpPr txBox="1"/>
          <p:nvPr/>
        </p:nvSpPr>
        <p:spPr>
          <a:xfrm>
            <a:off x="1755648" y="5550408"/>
            <a:ext cx="2999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puede editar, ejecutar y reportar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5285232" y="5577840"/>
            <a:ext cx="896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20" b="1" spc="10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PERSONA</a:t>
            </a:r>
            <a:endParaRPr lang="en-US" sz="920" dirty="0"/>
          </a:p>
        </p:txBody>
      </p:sp>
      <p:sp>
        <p:nvSpPr>
          <p:cNvPr id="43" name="Text 40"/>
          <p:cNvSpPr txBox="1"/>
          <p:nvPr/>
        </p:nvSpPr>
        <p:spPr>
          <a:xfrm>
            <a:off x="6272784" y="5513832"/>
            <a:ext cx="4974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selecciona el comportamiento y juzga el alcance de la evidencia</a:t>
            </a:r>
            <a:endParaRPr lang="en-US" sz="108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4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45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 · PRÓXIMA FRONTERA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509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pieza aislada puede estar verde y fallar al conectarse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664208"/>
            <a:ext cx="10469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4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pruebas de esta clase ejecutaron funciones sin HTTP, base de datos ni estado compartido. Eso entrega retroalimentación rápida, pero no verifica la colaboración entre componentes.</a:t>
            </a:r>
            <a:endParaRPr lang="en-US" sz="1420" dirty="0"/>
          </a:p>
        </p:txBody>
      </p:sp>
      <p:sp>
        <p:nvSpPr>
          <p:cNvPr id="11" name="Shape 8"/>
          <p:cNvSpPr/>
          <p:nvPr/>
        </p:nvSpPr>
        <p:spPr>
          <a:xfrm>
            <a:off x="658368" y="2395728"/>
            <a:ext cx="3401568" cy="12252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8368" y="2395728"/>
            <a:ext cx="54864" cy="122529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96112" y="2523744"/>
            <a:ext cx="294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20" b="1" spc="110" kern="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 UNITARIA</a:t>
            </a:r>
            <a:endParaRPr lang="en-US" sz="920" dirty="0"/>
          </a:p>
        </p:txBody>
      </p:sp>
      <p:sp>
        <p:nvSpPr>
          <p:cNvPr id="14" name="Text 11"/>
          <p:cNvSpPr txBox="1"/>
          <p:nvPr/>
        </p:nvSpPr>
        <p:spPr>
          <a:xfrm>
            <a:off x="896112" y="2779776"/>
            <a:ext cx="29443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2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Comprueba una unidad pequeña de comportamiento de forma rápida y con pocas dependencias reales.</a:t>
            </a:r>
            <a:endParaRPr lang="en-US" sz="1210" dirty="0"/>
          </a:p>
        </p:txBody>
      </p:sp>
      <p:sp>
        <p:nvSpPr>
          <p:cNvPr id="15" name="Shape 12"/>
          <p:cNvSpPr/>
          <p:nvPr/>
        </p:nvSpPr>
        <p:spPr>
          <a:xfrm>
            <a:off x="4425696" y="2395728"/>
            <a:ext cx="3401568" cy="12252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425696" y="2395728"/>
            <a:ext cx="54864" cy="1225296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663440" y="2523744"/>
            <a:ext cx="294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20" b="1" spc="110" kern="0" dirty="0">
                <a:solidFill>
                  <a:srgbClr val="8A6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 DE INTEGRACIÓN</a:t>
            </a:r>
            <a:endParaRPr lang="en-US" sz="920" dirty="0"/>
          </a:p>
        </p:txBody>
      </p:sp>
      <p:sp>
        <p:nvSpPr>
          <p:cNvPr id="18" name="Text 15"/>
          <p:cNvSpPr txBox="1"/>
          <p:nvPr/>
        </p:nvSpPr>
        <p:spPr>
          <a:xfrm>
            <a:off x="4663440" y="2779776"/>
            <a:ext cx="29443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2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Comprueba que dos o más componentes reales colaboren correctamente a través de sus interfaces.</a:t>
            </a:r>
            <a:endParaRPr lang="en-US" sz="1210" dirty="0"/>
          </a:p>
        </p:txBody>
      </p:sp>
      <p:sp>
        <p:nvSpPr>
          <p:cNvPr id="19" name="Shape 16"/>
          <p:cNvSpPr/>
          <p:nvPr/>
        </p:nvSpPr>
        <p:spPr>
          <a:xfrm>
            <a:off x="8193024" y="2395728"/>
            <a:ext cx="3337560" cy="12252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193024" y="2395728"/>
            <a:ext cx="54864" cy="1225296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30768" y="2523744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20" b="1" spc="110" kern="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DOBLE DE PRUEBA</a:t>
            </a:r>
            <a:endParaRPr lang="en-US" sz="920" dirty="0"/>
          </a:p>
        </p:txBody>
      </p:sp>
      <p:sp>
        <p:nvSpPr>
          <p:cNvPr id="22" name="Text 19"/>
          <p:cNvSpPr txBox="1"/>
          <p:nvPr/>
        </p:nvSpPr>
        <p:spPr>
          <a:xfrm>
            <a:off x="8430768" y="2779776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2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Reemplazo controlado de una dependencia. Ayuda a aislar, pero puede ocultar la colaboración real que interesa.</a:t>
            </a:r>
            <a:endParaRPr lang="en-US" sz="1210" dirty="0"/>
          </a:p>
        </p:txBody>
      </p:sp>
      <p:sp>
        <p:nvSpPr>
          <p:cNvPr id="23" name="Shape 20"/>
          <p:cNvSpPr/>
          <p:nvPr/>
        </p:nvSpPr>
        <p:spPr>
          <a:xfrm>
            <a:off x="658368" y="3968496"/>
            <a:ext cx="10874959" cy="115214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987552" y="418795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spc="13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 DE LA SIGUIENTE CLASE</a:t>
            </a:r>
            <a:endParaRPr lang="en-US" sz="960" dirty="0"/>
          </a:p>
        </p:txBody>
      </p:sp>
      <p:sp>
        <p:nvSpPr>
          <p:cNvPr id="25" name="Text 22"/>
          <p:cNvSpPr txBox="1"/>
          <p:nvPr/>
        </p:nvSpPr>
        <p:spPr>
          <a:xfrm>
            <a:off x="987552" y="4526280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pieza funciona sola. ¿Qué evidencia demuestra que funciona cuando se conecta con las demás?</a:t>
            </a:r>
            <a:endParaRPr lang="en-US" sz="1720" dirty="0"/>
          </a:p>
        </p:txBody>
      </p:sp>
      <p:sp>
        <p:nvSpPr>
          <p:cNvPr id="26" name="Shape 23"/>
          <p:cNvSpPr/>
          <p:nvPr/>
        </p:nvSpPr>
        <p:spPr>
          <a:xfrm>
            <a:off x="658368" y="5522976"/>
            <a:ext cx="10874959" cy="5669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50976" y="5559552"/>
            <a:ext cx="1028974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 final: una buena prueba no elimina la incertidumbre; convierte una parte concreta de ella en evidencia observable.</a:t>
            </a:r>
            <a:endParaRPr lang="en-US" sz="1410" dirty="0"/>
          </a:p>
        </p:txBody>
      </p:sp>
      <p:sp>
        <p:nvSpPr>
          <p:cNvPr id="28" name="Shape 25"/>
          <p:cNvSpPr/>
          <p:nvPr/>
        </p:nvSpPr>
        <p:spPr>
          <a:xfrm>
            <a:off x="658368" y="6263640"/>
            <a:ext cx="45720" cy="182880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804672" y="6254496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i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Próxima clase: integración con FastAPI, fixtures, datos y límites de los dobles de prueba</a:t>
            </a:r>
            <a:endParaRPr lang="en-US" sz="8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</vt:vector>
  </TitlesOfParts>
  <Company>AIEP Osorno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Primero el rojo</dc:title>
  <dc:subject>PRO402 · Clase 11</dc:subject>
  <dc:creator>Diego Obando</dc:creator>
  <cp:lastModifiedBy>Diego Obando</cp:lastModifiedBy>
  <cp:revision>1</cp:revision>
  <dcterms:created xsi:type="dcterms:W3CDTF">2026-09-22T04:01:25Z</dcterms:created>
  <dcterms:modified xsi:type="dcterms:W3CDTF">2026-09-22T04:01:25Z</dcterms:modified>
</cp:coreProperties>
</file>