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image" Target="../media/image-32-5.png"/><Relationship Id="rId6" Type="http://schemas.openxmlformats.org/officeDocument/2006/relationships/image" Target="../media/image-32-6.sv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image" Target="../media/image-36-3.png"/><Relationship Id="rId4" Type="http://schemas.openxmlformats.org/officeDocument/2006/relationships/image" Target="../media/image-36-4.sv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image" Target="../media/image-49-3.png"/><Relationship Id="rId4" Type="http://schemas.openxmlformats.org/officeDocument/2006/relationships/image" Target="../media/image-49-4.sv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sv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svg"/><Relationship Id="rId3" Type="http://schemas.openxmlformats.org/officeDocument/2006/relationships/image" Target="../media/image-52-3.png"/><Relationship Id="rId4" Type="http://schemas.openxmlformats.org/officeDocument/2006/relationships/image" Target="../media/image-52-4.svg"/><Relationship Id="rId5" Type="http://schemas.openxmlformats.org/officeDocument/2006/relationships/slideLayout" Target="../slideLayouts/slideLayout1.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svg"/><Relationship Id="rId3" Type="http://schemas.openxmlformats.org/officeDocument/2006/relationships/image" Target="../media/image-53-3.png"/><Relationship Id="rId4" Type="http://schemas.openxmlformats.org/officeDocument/2006/relationships/image" Target="../media/image-53-4.svg"/><Relationship Id="rId5" Type="http://schemas.openxmlformats.org/officeDocument/2006/relationships/image" Target="../media/image-53-5.png"/><Relationship Id="rId6" Type="http://schemas.openxmlformats.org/officeDocument/2006/relationships/image" Target="../media/image-53-6.svg"/><Relationship Id="rId7" Type="http://schemas.openxmlformats.org/officeDocument/2006/relationships/slideLayout" Target="../slideLayouts/slideLayout1.xml"/><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svg"/><Relationship Id="rId3" Type="http://schemas.openxmlformats.org/officeDocument/2006/relationships/image" Target="../media/image-54-3.png"/><Relationship Id="rId4" Type="http://schemas.openxmlformats.org/officeDocument/2006/relationships/image" Target="../media/image-54-4.svg"/><Relationship Id="rId5" Type="http://schemas.openxmlformats.org/officeDocument/2006/relationships/image" Target="../media/image-54-5.png"/><Relationship Id="rId6" Type="http://schemas.openxmlformats.org/officeDocument/2006/relationships/image" Target="../media/image-54-6.svg"/><Relationship Id="rId7" Type="http://schemas.openxmlformats.org/officeDocument/2006/relationships/slideLayout" Target="../slideLayouts/slideLayout1.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svg"/><Relationship Id="rId3" Type="http://schemas.openxmlformats.org/officeDocument/2006/relationships/image" Target="../media/image-55-3.png"/><Relationship Id="rId4" Type="http://schemas.openxmlformats.org/officeDocument/2006/relationships/image" Target="../media/image-55-4.sv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sv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svg"/><Relationship Id="rId3" Type="http://schemas.openxmlformats.org/officeDocument/2006/relationships/image" Target="../media/image-58-3.png"/><Relationship Id="rId4" Type="http://schemas.openxmlformats.org/officeDocument/2006/relationships/image" Target="../media/image-58-4.svg"/><Relationship Id="rId5" Type="http://schemas.openxmlformats.org/officeDocument/2006/relationships/slideLayout" Target="../slideLayouts/slideLayout1.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svg"/><Relationship Id="rId3" Type="http://schemas.openxmlformats.org/officeDocument/2006/relationships/image" Target="../media/image-60-3.png"/><Relationship Id="rId4" Type="http://schemas.openxmlformats.org/officeDocument/2006/relationships/image" Target="../media/image-60-4.svg"/><Relationship Id="rId5" Type="http://schemas.openxmlformats.org/officeDocument/2006/relationships/slideLayout" Target="../slideLayouts/slideLayout1.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sv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sv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sv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sv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svg"/><Relationship Id="rId3" Type="http://schemas.openxmlformats.org/officeDocument/2006/relationships/image" Target="../media/image-67-3.png"/><Relationship Id="rId4" Type="http://schemas.openxmlformats.org/officeDocument/2006/relationships/image" Target="../media/image-67-4.svg"/><Relationship Id="rId5" Type="http://schemas.openxmlformats.org/officeDocument/2006/relationships/slideLayout" Target="../slideLayouts/slideLayout1.xml"/><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sv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svg"/><Relationship Id="rId3" Type="http://schemas.openxmlformats.org/officeDocument/2006/relationships/image" Target="../media/image-70-3.png"/><Relationship Id="rId4" Type="http://schemas.openxmlformats.org/officeDocument/2006/relationships/image" Target="../media/image-70-4.svg"/><Relationship Id="rId5" Type="http://schemas.openxmlformats.org/officeDocument/2006/relationships/image" Target="../media/image-70-5.png"/><Relationship Id="rId6" Type="http://schemas.openxmlformats.org/officeDocument/2006/relationships/image" Target="../media/image-70-6.svg"/><Relationship Id="rId7" Type="http://schemas.openxmlformats.org/officeDocument/2006/relationships/slideLayout" Target="../slideLayouts/slideLayout1.xml"/><Relationship Id="rId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sv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sv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svg"/><Relationship Id="rId3" Type="http://schemas.openxmlformats.org/officeDocument/2006/relationships/image" Target="../media/image-74-3.png"/><Relationship Id="rId4" Type="http://schemas.openxmlformats.org/officeDocument/2006/relationships/image" Target="../media/image-74-4.svg"/><Relationship Id="rId5" Type="http://schemas.openxmlformats.org/officeDocument/2006/relationships/slideLayout" Target="../slideLayouts/slideLayout1.xml"/><Relationship Id="rI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sv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sv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sv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sv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sv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sv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371600"/>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PRO402 · CLASE 10 · UNIDAD 2</a:t>
            </a:r>
            <a:endParaRPr lang="en-US" sz="960" dirty="0"/>
          </a:p>
        </p:txBody>
      </p:sp>
      <p:sp>
        <p:nvSpPr>
          <p:cNvPr id="9" name="Text 6"/>
          <p:cNvSpPr txBox="1"/>
          <p:nvPr/>
        </p:nvSpPr>
        <p:spPr>
          <a:xfrm>
            <a:off x="658368" y="1755648"/>
            <a:ext cx="10241280" cy="1097280"/>
          </a:xfrm>
          <a:prstGeom prst="rect">
            <a:avLst/>
          </a:prstGeom>
          <a:noFill/>
          <a:ln/>
        </p:spPr>
        <p:txBody>
          <a:bodyPr wrap="square" lIns="0" tIns="0" rIns="0" bIns="0" rtlCol="0" anchor="t"/>
          <a:lstStyle/>
          <a:p>
            <a:pPr algn="l" indent="0" marL="0">
              <a:buNone/>
            </a:pPr>
            <a:r>
              <a:rPr lang="en-US" sz="5400" b="1" dirty="0">
                <a:solidFill>
                  <a:srgbClr val="FFFFFF"/>
                </a:solidFill>
                <a:latin typeface="Aptos Display" pitchFamily="34" charset="0"/>
                <a:ea typeface="Aptos Display" pitchFamily="34" charset="-122"/>
                <a:cs typeface="Aptos Display" pitchFamily="34" charset="-120"/>
              </a:rPr>
              <a:t>Recorrer no es verificar</a:t>
            </a:r>
            <a:endParaRPr lang="en-US" sz="5400" dirty="0"/>
          </a:p>
        </p:txBody>
      </p:sp>
      <p:sp>
        <p:nvSpPr>
          <p:cNvPr id="10" name="Shape 7"/>
          <p:cNvSpPr/>
          <p:nvPr/>
        </p:nvSpPr>
        <p:spPr>
          <a:xfrm>
            <a:off x="658368" y="2999232"/>
            <a:ext cx="3840480" cy="0"/>
          </a:xfrm>
          <a:prstGeom prst="line">
            <a:avLst/>
          </a:prstGeom>
          <a:noFill/>
          <a:ln w="12700">
            <a:solidFill>
              <a:srgbClr val="D62027"/>
            </a:solidFill>
            <a:prstDash val="solid"/>
            <a:headEnd type="none"/>
            <a:tailEnd type="none"/>
          </a:ln>
        </p:spPr>
      </p:sp>
      <p:sp>
        <p:nvSpPr>
          <p:cNvPr id="11" name="Text 8"/>
          <p:cNvSpPr txBox="1"/>
          <p:nvPr/>
        </p:nvSpPr>
        <p:spPr>
          <a:xfrm>
            <a:off x="658368" y="3255264"/>
            <a:ext cx="9692640" cy="457200"/>
          </a:xfrm>
          <a:prstGeom prst="rect">
            <a:avLst/>
          </a:prstGeom>
          <a:noFill/>
          <a:ln/>
        </p:spPr>
        <p:txBody>
          <a:bodyPr wrap="square" lIns="0" tIns="0" rIns="0" bIns="0" rtlCol="0" anchor="t"/>
          <a:lstStyle/>
          <a:p>
            <a:pPr algn="l" indent="0" marL="0">
              <a:buNone/>
            </a:pPr>
            <a:r>
              <a:rPr lang="en-US" sz="2000" dirty="0">
                <a:solidFill>
                  <a:srgbClr val="E6EEF7"/>
                </a:solidFill>
                <a:latin typeface="Aptos" pitchFamily="34" charset="0"/>
                <a:ea typeface="Aptos" pitchFamily="34" charset="-122"/>
                <a:cs typeface="Aptos" pitchFamily="34" charset="-120"/>
              </a:rPr>
              <a:t>Cobertura, dobles de prueba y el verde que no significa nada</a:t>
            </a:r>
            <a:endParaRPr lang="en-US" sz="2000" dirty="0"/>
          </a:p>
        </p:txBody>
      </p:sp>
      <p:sp>
        <p:nvSpPr>
          <p:cNvPr id="12" name="Text 9"/>
          <p:cNvSpPr txBox="1"/>
          <p:nvPr/>
        </p:nvSpPr>
        <p:spPr>
          <a:xfrm>
            <a:off x="658368" y="3913632"/>
            <a:ext cx="8961120" cy="731520"/>
          </a:xfrm>
          <a:prstGeom prst="rect">
            <a:avLst/>
          </a:prstGeom>
          <a:noFill/>
          <a:ln/>
        </p:spPr>
        <p:txBody>
          <a:bodyPr wrap="square" lIns="0" tIns="0" rIns="0" bIns="0" rtlCol="0" anchor="t"/>
          <a:lstStyle/>
          <a:p>
            <a:pPr algn="l" indent="0" marL="0">
              <a:lnSpc>
                <a:spcPct val="120000"/>
              </a:lnSpc>
              <a:buNone/>
            </a:pPr>
            <a:r>
              <a:rPr lang="en-US" sz="1450" dirty="0">
                <a:solidFill>
                  <a:srgbClr val="EADFD0"/>
                </a:solidFill>
                <a:latin typeface="Aptos" pitchFamily="34" charset="0"/>
                <a:ea typeface="Aptos" pitchFamily="34" charset="-122"/>
                <a:cs typeface="Aptos" pitchFamily="34" charset="-120"/>
              </a:rPr>
              <a:t>Una suite es el conjunto de pruebas. Puede ejecutar el 100 % del código y terminar en verde —todas pasan— sin haber comprobado nada.</a:t>
            </a:r>
            <a:endParaRPr lang="en-US" sz="1450" dirty="0"/>
          </a:p>
          <a:p>
            <a:pPr algn="l" indent="0" marL="0">
              <a:lnSpc>
                <a:spcPct val="120000"/>
              </a:lnSpc>
              <a:buNone/>
            </a:pPr>
            <a:r>
              <a:rPr lang="en-US" sz="1450" dirty="0">
                <a:solidFill>
                  <a:srgbClr val="EADFD0"/>
                </a:solidFill>
                <a:latin typeface="Aptos" pitchFamily="34" charset="0"/>
                <a:ea typeface="Aptos" pitchFamily="34" charset="-122"/>
                <a:cs typeface="Aptos" pitchFamily="34" charset="-120"/>
              </a:rPr>
              <a:t>Hoy se distingue cobertura —qué se ejecutó— de verificación —qué resultado se comprobó—.</a:t>
            </a:r>
            <a:endParaRPr lang="en-US" sz="1450" dirty="0"/>
          </a:p>
        </p:txBody>
      </p:sp>
      <p:sp>
        <p:nvSpPr>
          <p:cNvPr id="13" name="Shape 10"/>
          <p:cNvSpPr/>
          <p:nvPr/>
        </p:nvSpPr>
        <p:spPr>
          <a:xfrm>
            <a:off x="658368" y="5029200"/>
            <a:ext cx="10874959" cy="0"/>
          </a:xfrm>
          <a:prstGeom prst="line">
            <a:avLst/>
          </a:prstGeom>
          <a:noFill/>
          <a:ln w="12700">
            <a:solidFill>
              <a:srgbClr val="2C4A66"/>
            </a:solidFill>
            <a:prstDash val="solid"/>
            <a:headEnd type="none"/>
            <a:tailEnd type="none"/>
          </a:ln>
        </p:spPr>
      </p:sp>
      <p:sp>
        <p:nvSpPr>
          <p:cNvPr id="14" name="Text 11"/>
          <p:cNvSpPr txBox="1"/>
          <p:nvPr/>
        </p:nvSpPr>
        <p:spPr>
          <a:xfrm>
            <a:off x="658368" y="5212080"/>
            <a:ext cx="5852160" cy="274320"/>
          </a:xfrm>
          <a:prstGeom prst="rect">
            <a:avLst/>
          </a:prstGeom>
          <a:noFill/>
          <a:ln/>
        </p:spPr>
        <p:txBody>
          <a:bodyPr wrap="square" lIns="0" tIns="0" rIns="0" bIns="0" rtlCol="0" anchor="t"/>
          <a:lstStyle/>
          <a:p>
            <a:pPr algn="l" indent="0" marL="0">
              <a:buNone/>
            </a:pPr>
            <a:r>
              <a:rPr lang="en-US" sz="1300" dirty="0">
                <a:solidFill>
                  <a:srgbClr val="EADFD0"/>
                </a:solidFill>
                <a:latin typeface="Aptos" pitchFamily="34" charset="0"/>
                <a:ea typeface="Aptos" pitchFamily="34" charset="-122"/>
                <a:cs typeface="Aptos" pitchFamily="34" charset="-120"/>
              </a:rPr>
              <a:t>Lunes 21 de septiembre de 2026 · 08:30 – 10:50</a:t>
            </a:r>
            <a:endParaRPr lang="en-US" sz="1300" dirty="0"/>
          </a:p>
        </p:txBody>
      </p:sp>
      <p:sp>
        <p:nvSpPr>
          <p:cNvPr id="15" name="Text 12"/>
          <p:cNvSpPr txBox="1"/>
          <p:nvPr/>
        </p:nvSpPr>
        <p:spPr>
          <a:xfrm>
            <a:off x="6583680" y="5212080"/>
            <a:ext cx="4937760" cy="274320"/>
          </a:xfrm>
          <a:prstGeom prst="rect">
            <a:avLst/>
          </a:prstGeom>
          <a:noFill/>
          <a:ln/>
        </p:spPr>
        <p:txBody>
          <a:bodyPr wrap="square" lIns="0" tIns="0" rIns="0" bIns="0" rtlCol="0" anchor="t"/>
          <a:lstStyle/>
          <a:p>
            <a:pPr algn="r" indent="0" marL="0">
              <a:buNone/>
            </a:pPr>
            <a:r>
              <a:rPr lang="en-US" sz="1300" dirty="0">
                <a:solidFill>
                  <a:srgbClr val="EADFD0"/>
                </a:solidFill>
                <a:latin typeface="Aptos" pitchFamily="34" charset="0"/>
                <a:ea typeface="Aptos" pitchFamily="34" charset="-122"/>
                <a:cs typeface="Aptos" pitchFamily="34" charset="-120"/>
              </a:rPr>
              <a:t>Diego Obando · AIEP Osorno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PARA ABRIR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suites sobre el mismo proyecto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Las dos terminan en verde: todas sus pruebas pasan. Una deja vivo un defecto que inutiliza un octavo de la jornada del laboratorio. Cobertura es la proporción del código que la suite ejecutó.</a:t>
            </a:r>
            <a:endParaRPr lang="en-US" sz="1450" dirty="0"/>
          </a:p>
        </p:txBody>
      </p:sp>
      <p:sp>
        <p:nvSpPr>
          <p:cNvPr id="11" name="Shape 8"/>
          <p:cNvSpPr/>
          <p:nvPr/>
        </p:nvSpPr>
        <p:spPr>
          <a:xfrm>
            <a:off x="658368" y="2377440"/>
            <a:ext cx="5175504" cy="2157984"/>
          </a:xfrm>
          <a:prstGeom prst="rect">
            <a:avLst/>
          </a:prstGeom>
          <a:solidFill>
            <a:srgbClr val="FFFFFF"/>
          </a:solidFill>
          <a:ln w="12700">
            <a:solidFill>
              <a:srgbClr val="FFFFFF"/>
            </a:solidFill>
            <a:prstDash val="solid"/>
          </a:ln>
        </p:spPr>
      </p:sp>
      <p:sp>
        <p:nvSpPr>
          <p:cNvPr id="12" name="Shape 9"/>
          <p:cNvSpPr/>
          <p:nvPr/>
        </p:nvSpPr>
        <p:spPr>
          <a:xfrm>
            <a:off x="658368" y="2377440"/>
            <a:ext cx="5175504" cy="64008"/>
          </a:xfrm>
          <a:prstGeom prst="rect">
            <a:avLst/>
          </a:prstGeom>
          <a:solidFill>
            <a:srgbClr val="102A43"/>
          </a:solidFill>
          <a:ln w="12700">
            <a:solidFill>
              <a:srgbClr val="102A43"/>
            </a:solidFill>
            <a:prstDash val="solid"/>
          </a:ln>
        </p:spPr>
      </p:sp>
      <p:sp>
        <p:nvSpPr>
          <p:cNvPr id="13" name="Text 10"/>
          <p:cNvSpPr txBox="1"/>
          <p:nvPr/>
        </p:nvSpPr>
        <p:spPr>
          <a:xfrm>
            <a:off x="914400" y="2578608"/>
            <a:ext cx="27432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SUITE A</a:t>
            </a:r>
            <a:endParaRPr lang="en-US" sz="960" dirty="0"/>
          </a:p>
        </p:txBody>
      </p:sp>
      <p:sp>
        <p:nvSpPr>
          <p:cNvPr id="14" name="Text 11"/>
          <p:cNvSpPr txBox="1"/>
          <p:nvPr/>
        </p:nvSpPr>
        <p:spPr>
          <a:xfrm>
            <a:off x="914400" y="2834640"/>
            <a:ext cx="2011680" cy="694944"/>
          </a:xfrm>
          <a:prstGeom prst="rect">
            <a:avLst/>
          </a:prstGeom>
          <a:noFill/>
          <a:ln/>
        </p:spPr>
        <p:txBody>
          <a:bodyPr wrap="square" lIns="0" tIns="0" rIns="0" bIns="0" rtlCol="0" anchor="t"/>
          <a:lstStyle/>
          <a:p>
            <a:pPr algn="l" indent="0" marL="0">
              <a:buNone/>
            </a:pPr>
            <a:r>
              <a:rPr lang="en-US" sz="4600" b="1" dirty="0">
                <a:solidFill>
                  <a:srgbClr val="102A43"/>
                </a:solidFill>
                <a:latin typeface="Aptos Display" pitchFamily="34" charset="0"/>
                <a:ea typeface="Aptos Display" pitchFamily="34" charset="-122"/>
                <a:cs typeface="Aptos Display" pitchFamily="34" charset="-120"/>
              </a:rPr>
              <a:t>88 %</a:t>
            </a:r>
            <a:endParaRPr lang="en-US" sz="4600" dirty="0"/>
          </a:p>
        </p:txBody>
      </p:sp>
      <p:sp>
        <p:nvSpPr>
          <p:cNvPr id="15" name="Text 12"/>
          <p:cNvSpPr txBox="1"/>
          <p:nvPr/>
        </p:nvSpPr>
        <p:spPr>
          <a:xfrm>
            <a:off x="2999232" y="3035808"/>
            <a:ext cx="2377440" cy="256032"/>
          </a:xfrm>
          <a:prstGeom prst="rect">
            <a:avLst/>
          </a:prstGeom>
          <a:noFill/>
          <a:ln/>
        </p:spPr>
        <p:txBody>
          <a:bodyPr wrap="square" lIns="0" tIns="0" rIns="0" bIns="0" rtlCol="0" anchor="t"/>
          <a:lstStyle/>
          <a:p>
            <a:pPr algn="l" indent="0" marL="0">
              <a:buNone/>
            </a:pPr>
            <a:r>
              <a:rPr lang="en-US" sz="1500" b="1" dirty="0">
                <a:solidFill>
                  <a:srgbClr val="52606D"/>
                </a:solidFill>
                <a:latin typeface="Aptos" pitchFamily="34" charset="0"/>
                <a:ea typeface="Aptos" pitchFamily="34" charset="-122"/>
                <a:cs typeface="Aptos" pitchFamily="34" charset="-120"/>
              </a:rPr>
              <a:t>de cobertura</a:t>
            </a:r>
            <a:endParaRPr lang="en-US" sz="1500" dirty="0"/>
          </a:p>
        </p:txBody>
      </p:sp>
      <p:sp>
        <p:nvSpPr>
          <p:cNvPr id="16" name="Text 13"/>
          <p:cNvSpPr txBox="1"/>
          <p:nvPr/>
        </p:nvSpPr>
        <p:spPr>
          <a:xfrm>
            <a:off x="2999232" y="3310128"/>
            <a:ext cx="2377440" cy="237744"/>
          </a:xfrm>
          <a:prstGeom prst="rect">
            <a:avLst/>
          </a:prstGeom>
          <a:noFill/>
          <a:ln/>
        </p:spPr>
        <p:txBody>
          <a:bodyPr wrap="square" lIns="0" tIns="0" rIns="0" bIns="0" rtlCol="0" anchor="t"/>
          <a:lstStyle/>
          <a:p>
            <a:pPr algn="l" indent="0" marL="0">
              <a:buNone/>
            </a:pPr>
            <a:r>
              <a:rPr lang="en-US" sz="1300" dirty="0">
                <a:solidFill>
                  <a:srgbClr val="52606D"/>
                </a:solidFill>
                <a:latin typeface="Aptos" pitchFamily="34" charset="0"/>
                <a:ea typeface="Aptos" pitchFamily="34" charset="-122"/>
                <a:cs typeface="Aptos" pitchFamily="34" charset="-120"/>
              </a:rPr>
              <a:t>12 pruebas</a:t>
            </a:r>
            <a:endParaRPr lang="en-US" sz="1300" dirty="0"/>
          </a:p>
        </p:txBody>
      </p:sp>
      <p:sp>
        <p:nvSpPr>
          <p:cNvPr id="17" name="Text 14"/>
          <p:cNvSpPr txBox="1"/>
          <p:nvPr/>
        </p:nvSpPr>
        <p:spPr>
          <a:xfrm>
            <a:off x="914400" y="3785616"/>
            <a:ext cx="4663440" cy="548640"/>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Cada prueba compara un resultado contra lo que el requisito exige.</a:t>
            </a:r>
            <a:endParaRPr lang="en-US" sz="1260" dirty="0"/>
          </a:p>
        </p:txBody>
      </p:sp>
      <p:sp>
        <p:nvSpPr>
          <p:cNvPr id="18" name="Shape 15"/>
          <p:cNvSpPr/>
          <p:nvPr/>
        </p:nvSpPr>
        <p:spPr>
          <a:xfrm>
            <a:off x="6364224" y="2377440"/>
            <a:ext cx="5175504" cy="2157984"/>
          </a:xfrm>
          <a:prstGeom prst="rect">
            <a:avLst/>
          </a:prstGeom>
          <a:solidFill>
            <a:srgbClr val="FFFFFF"/>
          </a:solidFill>
          <a:ln w="12700">
            <a:solidFill>
              <a:srgbClr val="FFFFFF"/>
            </a:solidFill>
            <a:prstDash val="solid"/>
          </a:ln>
        </p:spPr>
      </p:sp>
      <p:sp>
        <p:nvSpPr>
          <p:cNvPr id="19" name="Shape 16"/>
          <p:cNvSpPr/>
          <p:nvPr/>
        </p:nvSpPr>
        <p:spPr>
          <a:xfrm>
            <a:off x="6364224" y="2377440"/>
            <a:ext cx="5175504" cy="64008"/>
          </a:xfrm>
          <a:prstGeom prst="rect">
            <a:avLst/>
          </a:prstGeom>
          <a:solidFill>
            <a:srgbClr val="B3181E"/>
          </a:solidFill>
          <a:ln w="12700">
            <a:solidFill>
              <a:srgbClr val="B3181E"/>
            </a:solidFill>
            <a:prstDash val="solid"/>
          </a:ln>
        </p:spPr>
      </p:sp>
      <p:sp>
        <p:nvSpPr>
          <p:cNvPr id="20" name="Text 17"/>
          <p:cNvSpPr txBox="1"/>
          <p:nvPr/>
        </p:nvSpPr>
        <p:spPr>
          <a:xfrm>
            <a:off x="6620256" y="2578608"/>
            <a:ext cx="27432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SUITE B</a:t>
            </a:r>
            <a:endParaRPr lang="en-US" sz="960" dirty="0"/>
          </a:p>
        </p:txBody>
      </p:sp>
      <p:sp>
        <p:nvSpPr>
          <p:cNvPr id="21" name="Text 18"/>
          <p:cNvSpPr txBox="1"/>
          <p:nvPr/>
        </p:nvSpPr>
        <p:spPr>
          <a:xfrm>
            <a:off x="6620256" y="2834640"/>
            <a:ext cx="2011680" cy="694944"/>
          </a:xfrm>
          <a:prstGeom prst="rect">
            <a:avLst/>
          </a:prstGeom>
          <a:noFill/>
          <a:ln/>
        </p:spPr>
        <p:txBody>
          <a:bodyPr wrap="square" lIns="0" tIns="0" rIns="0" bIns="0" rtlCol="0" anchor="t"/>
          <a:lstStyle/>
          <a:p>
            <a:pPr algn="l" indent="0" marL="0">
              <a:buNone/>
            </a:pPr>
            <a:r>
              <a:rPr lang="en-US" sz="4600" b="1" dirty="0">
                <a:solidFill>
                  <a:srgbClr val="B3181E"/>
                </a:solidFill>
                <a:latin typeface="Aptos Display" pitchFamily="34" charset="0"/>
                <a:ea typeface="Aptos Display" pitchFamily="34" charset="-122"/>
                <a:cs typeface="Aptos Display" pitchFamily="34" charset="-120"/>
              </a:rPr>
              <a:t>100 %</a:t>
            </a:r>
            <a:endParaRPr lang="en-US" sz="4600" dirty="0"/>
          </a:p>
        </p:txBody>
      </p:sp>
      <p:sp>
        <p:nvSpPr>
          <p:cNvPr id="22" name="Text 19"/>
          <p:cNvSpPr txBox="1"/>
          <p:nvPr/>
        </p:nvSpPr>
        <p:spPr>
          <a:xfrm>
            <a:off x="8705088" y="3035808"/>
            <a:ext cx="2377440" cy="256032"/>
          </a:xfrm>
          <a:prstGeom prst="rect">
            <a:avLst/>
          </a:prstGeom>
          <a:noFill/>
          <a:ln/>
        </p:spPr>
        <p:txBody>
          <a:bodyPr wrap="square" lIns="0" tIns="0" rIns="0" bIns="0" rtlCol="0" anchor="t"/>
          <a:lstStyle/>
          <a:p>
            <a:pPr algn="l" indent="0" marL="0">
              <a:buNone/>
            </a:pPr>
            <a:r>
              <a:rPr lang="en-US" sz="1500" b="1" dirty="0">
                <a:solidFill>
                  <a:srgbClr val="52606D"/>
                </a:solidFill>
                <a:latin typeface="Aptos" pitchFamily="34" charset="0"/>
                <a:ea typeface="Aptos" pitchFamily="34" charset="-122"/>
                <a:cs typeface="Aptos" pitchFamily="34" charset="-120"/>
              </a:rPr>
              <a:t>de cobertura</a:t>
            </a:r>
            <a:endParaRPr lang="en-US" sz="1500" dirty="0"/>
          </a:p>
        </p:txBody>
      </p:sp>
      <p:sp>
        <p:nvSpPr>
          <p:cNvPr id="23" name="Text 20"/>
          <p:cNvSpPr txBox="1"/>
          <p:nvPr/>
        </p:nvSpPr>
        <p:spPr>
          <a:xfrm>
            <a:off x="8705088" y="3310128"/>
            <a:ext cx="2377440" cy="237744"/>
          </a:xfrm>
          <a:prstGeom prst="rect">
            <a:avLst/>
          </a:prstGeom>
          <a:noFill/>
          <a:ln/>
        </p:spPr>
        <p:txBody>
          <a:bodyPr wrap="square" lIns="0" tIns="0" rIns="0" bIns="0" rtlCol="0" anchor="t"/>
          <a:lstStyle/>
          <a:p>
            <a:pPr algn="l" indent="0" marL="0">
              <a:buNone/>
            </a:pPr>
            <a:r>
              <a:rPr lang="en-US" sz="1300" dirty="0">
                <a:solidFill>
                  <a:srgbClr val="52606D"/>
                </a:solidFill>
                <a:latin typeface="Aptos" pitchFamily="34" charset="0"/>
                <a:ea typeface="Aptos" pitchFamily="34" charset="-122"/>
                <a:cs typeface="Aptos" pitchFamily="34" charset="-120"/>
              </a:rPr>
              <a:t>1 prueba</a:t>
            </a:r>
            <a:endParaRPr lang="en-US" sz="1300" dirty="0"/>
          </a:p>
        </p:txBody>
      </p:sp>
      <p:sp>
        <p:nvSpPr>
          <p:cNvPr id="24" name="Text 21"/>
          <p:cNvSpPr txBox="1"/>
          <p:nvPr/>
        </p:nvSpPr>
        <p:spPr>
          <a:xfrm>
            <a:off x="6620256" y="3785616"/>
            <a:ext cx="4663440" cy="548640"/>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Llama a todas las funciones del proyecto y no compara ningún resultado.</a:t>
            </a:r>
            <a:endParaRPr lang="en-US" sz="1260" dirty="0"/>
          </a:p>
        </p:txBody>
      </p:sp>
      <p:sp>
        <p:nvSpPr>
          <p:cNvPr id="25" name="Text 22"/>
          <p:cNvSpPr txBox="1"/>
          <p:nvPr/>
        </p:nvSpPr>
        <p:spPr>
          <a:xfrm>
            <a:off x="658368" y="4809744"/>
            <a:ext cx="10874959" cy="365760"/>
          </a:xfrm>
          <a:prstGeom prst="rect">
            <a:avLst/>
          </a:prstGeom>
          <a:noFill/>
          <a:ln/>
        </p:spPr>
        <p:txBody>
          <a:bodyPr wrap="square" lIns="0" tIns="0" rIns="0" bIns="0" rtlCol="0" anchor="t"/>
          <a:lstStyle/>
          <a:p>
            <a:pPr algn="ctr" indent="0" marL="0">
              <a:buNone/>
            </a:pPr>
            <a:r>
              <a:rPr lang="en-US" sz="2100" b="1" dirty="0">
                <a:solidFill>
                  <a:srgbClr val="243B53"/>
                </a:solidFill>
                <a:latin typeface="Aptos Display" pitchFamily="34" charset="0"/>
                <a:ea typeface="Aptos Display" pitchFamily="34" charset="-122"/>
                <a:cs typeface="Aptos Display" pitchFamily="34" charset="-120"/>
              </a:rPr>
              <a:t>¿Cuál de las dos preferirías heredar, y con qué argumento?</a:t>
            </a:r>
            <a:endParaRPr lang="en-US" sz="2100" dirty="0"/>
          </a:p>
        </p:txBody>
      </p:sp>
      <p:sp>
        <p:nvSpPr>
          <p:cNvPr id="26" name="Shape 23"/>
          <p:cNvSpPr/>
          <p:nvPr/>
        </p:nvSpPr>
        <p:spPr>
          <a:xfrm>
            <a:off x="658368" y="5358384"/>
            <a:ext cx="10874959" cy="530352"/>
          </a:xfrm>
          <a:prstGeom prst="rect">
            <a:avLst/>
          </a:prstGeom>
          <a:solidFill>
            <a:srgbClr val="102A43"/>
          </a:solidFill>
          <a:ln w="12700">
            <a:solidFill>
              <a:srgbClr val="102A43"/>
            </a:solidFill>
            <a:prstDash val="solid"/>
          </a:ln>
        </p:spPr>
      </p:sp>
      <p:sp>
        <p:nvSpPr>
          <p:cNvPr id="27" name="Text 24"/>
          <p:cNvSpPr txBox="1"/>
          <p:nvPr/>
        </p:nvSpPr>
        <p:spPr>
          <a:xfrm>
            <a:off x="969264" y="5394960"/>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Si el argumento es el porcentaje, hoy cambia. Las dos cifras son reales y están medidas sobre el mismo código.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EL HILO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 que quedó abierto la sesión pasada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Tres técnicas produjeron una muestra defendible de casos. Quedó una pregunta sin responder.</a:t>
            </a:r>
            <a:endParaRPr lang="en-US" sz="1450" dirty="0"/>
          </a:p>
        </p:txBody>
      </p:sp>
      <p:sp>
        <p:nvSpPr>
          <p:cNvPr id="11" name="Shape 8"/>
          <p:cNvSpPr/>
          <p:nvPr/>
        </p:nvSpPr>
        <p:spPr>
          <a:xfrm>
            <a:off x="658368" y="2340864"/>
            <a:ext cx="6858000" cy="603504"/>
          </a:xfrm>
          <a:prstGeom prst="rect">
            <a:avLst/>
          </a:prstGeom>
          <a:solidFill>
            <a:srgbClr val="F2E7D9"/>
          </a:solidFill>
          <a:ln w="12700">
            <a:solidFill>
              <a:srgbClr val="F2E7D9"/>
            </a:solidFill>
            <a:prstDash val="solid"/>
          </a:ln>
        </p:spPr>
      </p:sp>
      <p:sp>
        <p:nvSpPr>
          <p:cNvPr id="12" name="Shape 9"/>
          <p:cNvSpPr/>
          <p:nvPr/>
        </p:nvSpPr>
        <p:spPr>
          <a:xfrm>
            <a:off x="658368" y="2340864"/>
            <a:ext cx="54864" cy="603504"/>
          </a:xfrm>
          <a:prstGeom prst="rect">
            <a:avLst/>
          </a:prstGeom>
          <a:solidFill>
            <a:srgbClr val="102A43"/>
          </a:solidFill>
          <a:ln w="12700">
            <a:solidFill>
              <a:srgbClr val="102A43"/>
            </a:solidFill>
            <a:prstDash val="solid"/>
          </a:ln>
        </p:spPr>
      </p:sp>
      <p:sp>
        <p:nvSpPr>
          <p:cNvPr id="13" name="Text 10"/>
          <p:cNvSpPr txBox="1"/>
          <p:nvPr/>
        </p:nvSpPr>
        <p:spPr>
          <a:xfrm>
            <a:off x="932688" y="2414016"/>
            <a:ext cx="3017520" cy="237744"/>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Partición de equivalencia</a:t>
            </a:r>
            <a:endParaRPr lang="en-US" sz="1340" dirty="0"/>
          </a:p>
        </p:txBody>
      </p:sp>
      <p:sp>
        <p:nvSpPr>
          <p:cNvPr id="14" name="Text 11"/>
          <p:cNvSpPr txBox="1"/>
          <p:nvPr/>
        </p:nvSpPr>
        <p:spPr>
          <a:xfrm>
            <a:off x="932688" y="2670048"/>
            <a:ext cx="6309360" cy="219456"/>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Agrupar entradas que esperamos que reciban el mismo trato</a:t>
            </a:r>
            <a:endParaRPr lang="en-US" sz="1140" dirty="0"/>
          </a:p>
        </p:txBody>
      </p:sp>
      <p:sp>
        <p:nvSpPr>
          <p:cNvPr id="15" name="Shape 12"/>
          <p:cNvSpPr/>
          <p:nvPr/>
        </p:nvSpPr>
        <p:spPr>
          <a:xfrm>
            <a:off x="658368" y="3054096"/>
            <a:ext cx="6858000" cy="603504"/>
          </a:xfrm>
          <a:prstGeom prst="rect">
            <a:avLst/>
          </a:prstGeom>
          <a:solidFill>
            <a:srgbClr val="EDE6DA"/>
          </a:solidFill>
          <a:ln w="12700">
            <a:solidFill>
              <a:srgbClr val="EDE6DA"/>
            </a:solidFill>
            <a:prstDash val="solid"/>
          </a:ln>
        </p:spPr>
      </p:sp>
      <p:sp>
        <p:nvSpPr>
          <p:cNvPr id="16" name="Shape 13"/>
          <p:cNvSpPr/>
          <p:nvPr/>
        </p:nvSpPr>
        <p:spPr>
          <a:xfrm>
            <a:off x="658368" y="3054096"/>
            <a:ext cx="54864" cy="603504"/>
          </a:xfrm>
          <a:prstGeom prst="rect">
            <a:avLst/>
          </a:prstGeom>
          <a:solidFill>
            <a:srgbClr val="102A43"/>
          </a:solidFill>
          <a:ln w="12700">
            <a:solidFill>
              <a:srgbClr val="102A43"/>
            </a:solidFill>
            <a:prstDash val="solid"/>
          </a:ln>
        </p:spPr>
      </p:sp>
      <p:sp>
        <p:nvSpPr>
          <p:cNvPr id="17" name="Text 14"/>
          <p:cNvSpPr txBox="1"/>
          <p:nvPr/>
        </p:nvSpPr>
        <p:spPr>
          <a:xfrm>
            <a:off x="932688" y="3127248"/>
            <a:ext cx="3017520" cy="237744"/>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Análisis de valores límite</a:t>
            </a:r>
            <a:endParaRPr lang="en-US" sz="1340" dirty="0"/>
          </a:p>
        </p:txBody>
      </p:sp>
      <p:sp>
        <p:nvSpPr>
          <p:cNvPr id="18" name="Text 15"/>
          <p:cNvSpPr txBox="1"/>
          <p:nvPr/>
        </p:nvSpPr>
        <p:spPr>
          <a:xfrm>
            <a:off x="932688" y="3383280"/>
            <a:ext cx="6309360" cy="219456"/>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Mirar los bordes de cada partición, donde cambia la regla</a:t>
            </a:r>
            <a:endParaRPr lang="en-US" sz="1140" dirty="0"/>
          </a:p>
        </p:txBody>
      </p:sp>
      <p:sp>
        <p:nvSpPr>
          <p:cNvPr id="19" name="Shape 16"/>
          <p:cNvSpPr/>
          <p:nvPr/>
        </p:nvSpPr>
        <p:spPr>
          <a:xfrm>
            <a:off x="658368" y="3767328"/>
            <a:ext cx="6858000" cy="603504"/>
          </a:xfrm>
          <a:prstGeom prst="rect">
            <a:avLst/>
          </a:prstGeom>
          <a:solidFill>
            <a:srgbClr val="F2E7D9"/>
          </a:solidFill>
          <a:ln w="12700">
            <a:solidFill>
              <a:srgbClr val="F2E7D9"/>
            </a:solidFill>
            <a:prstDash val="solid"/>
          </a:ln>
        </p:spPr>
      </p:sp>
      <p:sp>
        <p:nvSpPr>
          <p:cNvPr id="20" name="Shape 17"/>
          <p:cNvSpPr/>
          <p:nvPr/>
        </p:nvSpPr>
        <p:spPr>
          <a:xfrm>
            <a:off x="658368" y="3767328"/>
            <a:ext cx="54864" cy="603504"/>
          </a:xfrm>
          <a:prstGeom prst="rect">
            <a:avLst/>
          </a:prstGeom>
          <a:solidFill>
            <a:srgbClr val="102A43"/>
          </a:solidFill>
          <a:ln w="12700">
            <a:solidFill>
              <a:srgbClr val="102A43"/>
            </a:solidFill>
            <a:prstDash val="solid"/>
          </a:ln>
        </p:spPr>
      </p:sp>
      <p:sp>
        <p:nvSpPr>
          <p:cNvPr id="21" name="Text 18"/>
          <p:cNvSpPr txBox="1"/>
          <p:nvPr/>
        </p:nvSpPr>
        <p:spPr>
          <a:xfrm>
            <a:off x="932688" y="3840480"/>
            <a:ext cx="3017520" cy="237744"/>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Tabla de decisión</a:t>
            </a:r>
            <a:endParaRPr lang="en-US" sz="1340" dirty="0"/>
          </a:p>
        </p:txBody>
      </p:sp>
      <p:sp>
        <p:nvSpPr>
          <p:cNvPr id="22" name="Text 19"/>
          <p:cNvSpPr txBox="1"/>
          <p:nvPr/>
        </p:nvSpPr>
        <p:spPr>
          <a:xfrm>
            <a:off x="932688" y="4096512"/>
            <a:ext cx="6309360" cy="219456"/>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Combinar reglas que actúan juntas y reducir sin perder cobertura</a:t>
            </a:r>
            <a:endParaRPr lang="en-US" sz="1140" dirty="0"/>
          </a:p>
        </p:txBody>
      </p:sp>
      <p:sp>
        <p:nvSpPr>
          <p:cNvPr id="23" name="Shape 20"/>
          <p:cNvSpPr/>
          <p:nvPr/>
        </p:nvSpPr>
        <p:spPr>
          <a:xfrm>
            <a:off x="7790688" y="2340864"/>
            <a:ext cx="3739896" cy="2029968"/>
          </a:xfrm>
          <a:prstGeom prst="rect">
            <a:avLst/>
          </a:prstGeom>
          <a:solidFill>
            <a:srgbClr val="102A43"/>
          </a:solidFill>
          <a:ln w="12700">
            <a:solidFill>
              <a:srgbClr val="102A43"/>
            </a:solidFill>
            <a:prstDash val="solid"/>
          </a:ln>
        </p:spPr>
      </p:sp>
      <p:sp>
        <p:nvSpPr>
          <p:cNvPr id="24" name="Text 21"/>
          <p:cNvSpPr txBox="1"/>
          <p:nvPr/>
        </p:nvSpPr>
        <p:spPr>
          <a:xfrm>
            <a:off x="8046720" y="2542032"/>
            <a:ext cx="329184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LAS TRES MIRAN EL REQUISITO</a:t>
            </a:r>
            <a:endParaRPr lang="en-US" sz="960" dirty="0"/>
          </a:p>
        </p:txBody>
      </p:sp>
      <p:sp>
        <p:nvSpPr>
          <p:cNvPr id="25" name="Text 22"/>
          <p:cNvSpPr txBox="1"/>
          <p:nvPr/>
        </p:nvSpPr>
        <p:spPr>
          <a:xfrm>
            <a:off x="8046720" y="2816352"/>
            <a:ext cx="3246120" cy="822960"/>
          </a:xfrm>
          <a:prstGeom prst="rect">
            <a:avLst/>
          </a:prstGeom>
          <a:noFill/>
          <a:ln/>
        </p:spPr>
        <p:txBody>
          <a:bodyPr wrap="square" lIns="0" tIns="0" rIns="0" bIns="0" rtlCol="0" anchor="t"/>
          <a:lstStyle/>
          <a:p>
            <a:pPr algn="l" indent="0" marL="0">
              <a:lnSpc>
                <a:spcPct val="118000"/>
              </a:lnSpc>
              <a:buNone/>
            </a:pPr>
            <a:r>
              <a:rPr lang="en-US" sz="1260" dirty="0">
                <a:solidFill>
                  <a:srgbClr val="FFFFFF"/>
                </a:solidFill>
                <a:latin typeface="Aptos" pitchFamily="34" charset="0"/>
                <a:ea typeface="Aptos" pitchFamily="34" charset="-122"/>
                <a:cs typeface="Aptos" pitchFamily="34" charset="-120"/>
              </a:rPr>
              <a:t>Ninguna de las tres abre el programa. Todas derivan sus casos del documento y tratan el código como una caja cerrada.</a:t>
            </a:r>
            <a:endParaRPr lang="en-US" sz="1260" dirty="0"/>
          </a:p>
        </p:txBody>
      </p:sp>
      <p:sp>
        <p:nvSpPr>
          <p:cNvPr id="26" name="Shape 23"/>
          <p:cNvSpPr/>
          <p:nvPr/>
        </p:nvSpPr>
        <p:spPr>
          <a:xfrm>
            <a:off x="8046720" y="3712464"/>
            <a:ext cx="3246120" cy="0"/>
          </a:xfrm>
          <a:prstGeom prst="line">
            <a:avLst/>
          </a:prstGeom>
          <a:noFill/>
          <a:ln w="12700">
            <a:solidFill>
              <a:srgbClr val="2C4A66"/>
            </a:solidFill>
            <a:prstDash val="solid"/>
            <a:headEnd type="none"/>
            <a:tailEnd type="none"/>
          </a:ln>
        </p:spPr>
      </p:sp>
      <p:sp>
        <p:nvSpPr>
          <p:cNvPr id="27" name="Text 24"/>
          <p:cNvSpPr txBox="1"/>
          <p:nvPr/>
        </p:nvSpPr>
        <p:spPr>
          <a:xfrm>
            <a:off x="8046720" y="3840480"/>
            <a:ext cx="3246120" cy="402336"/>
          </a:xfrm>
          <a:prstGeom prst="rect">
            <a:avLst/>
          </a:prstGeom>
          <a:noFill/>
          <a:ln/>
        </p:spPr>
        <p:txBody>
          <a:bodyPr wrap="square" lIns="0" tIns="0" rIns="0" bIns="0" rtlCol="0" anchor="t"/>
          <a:lstStyle/>
          <a:p>
            <a:pPr algn="l" indent="0" marL="0">
              <a:lnSpc>
                <a:spcPct val="114000"/>
              </a:lnSpc>
              <a:buNone/>
            </a:pPr>
            <a:r>
              <a:rPr lang="en-US" sz="1200" i="1" dirty="0">
                <a:solidFill>
                  <a:srgbClr val="EADFD0"/>
                </a:solidFill>
                <a:latin typeface="Aptos" pitchFamily="34" charset="0"/>
                <a:ea typeface="Aptos" pitchFamily="34" charset="-122"/>
                <a:cs typeface="Aptos" pitchFamily="34" charset="-120"/>
              </a:rPr>
              <a:t>Funcionaron: encontraron el defecto del bloque 8.</a:t>
            </a:r>
            <a:endParaRPr lang="en-US" sz="1200" dirty="0"/>
          </a:p>
        </p:txBody>
      </p:sp>
      <p:sp>
        <p:nvSpPr>
          <p:cNvPr id="28" name="Shape 25"/>
          <p:cNvSpPr/>
          <p:nvPr/>
        </p:nvSpPr>
        <p:spPr>
          <a:xfrm>
            <a:off x="658368" y="4626864"/>
            <a:ext cx="10874959" cy="530352"/>
          </a:xfrm>
          <a:prstGeom prst="rect">
            <a:avLst/>
          </a:prstGeom>
          <a:solidFill>
            <a:srgbClr val="102A43"/>
          </a:solidFill>
          <a:ln w="12700">
            <a:solidFill>
              <a:srgbClr val="102A43"/>
            </a:solidFill>
            <a:prstDash val="solid"/>
          </a:ln>
        </p:spPr>
      </p:sp>
      <p:sp>
        <p:nvSpPr>
          <p:cNvPr id="29" name="Text 26"/>
          <p:cNvSpPr txBox="1"/>
          <p:nvPr/>
        </p:nvSpPr>
        <p:spPr>
          <a:xfrm>
            <a:off x="969264" y="4663440"/>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pregunta que quedó en pie: ¿qué evidencia adicional aporta mirar hacia adentro del programa?</a:t>
            </a:r>
            <a:endParaRPr lang="en-US" sz="1400" dirty="0"/>
          </a:p>
        </p:txBody>
      </p:sp>
      <p:sp>
        <p:nvSpPr>
          <p:cNvPr id="30" name="Shape 27"/>
          <p:cNvSpPr/>
          <p:nvPr/>
        </p:nvSpPr>
        <p:spPr>
          <a:xfrm>
            <a:off x="658368" y="5340096"/>
            <a:ext cx="45720" cy="182880"/>
          </a:xfrm>
          <a:prstGeom prst="rect">
            <a:avLst/>
          </a:prstGeom>
          <a:solidFill>
            <a:srgbClr val="8A6A12"/>
          </a:solidFill>
          <a:ln w="12700">
            <a:solidFill>
              <a:srgbClr val="8A6A12"/>
            </a:solidFill>
            <a:prstDash val="solid"/>
          </a:ln>
        </p:spPr>
      </p:sp>
      <p:sp>
        <p:nvSpPr>
          <p:cNvPr id="31" name="Text 28"/>
          <p:cNvSpPr txBox="1"/>
          <p:nvPr/>
        </p:nvSpPr>
        <p:spPr>
          <a:xfrm>
            <a:off x="804672" y="5330952"/>
            <a:ext cx="8686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Clase 09 · ISO/IEC/IEEE 29119-4:2021, cláusula 5.2 · técnicas basadas en la especificación</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EL MATERIAL DE HOY</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mismo proyecto, ahora con una dependencia externa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sistema de reserva del laboratorio ya no termina en sí mismo: al aceptar una reserva, manda el comprobante a un servicio ajeno.</a:t>
            </a:r>
            <a:endParaRPr lang="en-US" sz="1450" dirty="0"/>
          </a:p>
        </p:txBody>
      </p:sp>
      <p:sp>
        <p:nvSpPr>
          <p:cNvPr id="11" name="Shape 8"/>
          <p:cNvSpPr/>
          <p:nvPr/>
        </p:nvSpPr>
        <p:spPr>
          <a:xfrm>
            <a:off x="658368" y="2340864"/>
            <a:ext cx="6492240" cy="1993392"/>
          </a:xfrm>
          <a:prstGeom prst="roundRect">
            <a:avLst>
              <a:gd name="adj" fmla="val 1835"/>
            </a:avLst>
          </a:prstGeom>
          <a:solidFill>
            <a:srgbClr val="102A43"/>
          </a:solidFill>
          <a:ln w="12700">
            <a:solidFill>
              <a:srgbClr val="102A43"/>
            </a:solidFill>
            <a:prstDash val="solid"/>
          </a:ln>
        </p:spPr>
      </p:sp>
      <p:sp>
        <p:nvSpPr>
          <p:cNvPr id="12" name="Shape 9"/>
          <p:cNvSpPr/>
          <p:nvPr/>
        </p:nvSpPr>
        <p:spPr>
          <a:xfrm>
            <a:off x="786384" y="2450592"/>
            <a:ext cx="62362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23744"/>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reservas.py · las cuatro funciones del proyecto</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07792"/>
            <a:ext cx="6071616" cy="1243584"/>
          </a:xfrm>
          <a:prstGeom prst="rect">
            <a:avLst/>
          </a:prstGeom>
        </p:spPr>
      </p:pic>
      <p:sp>
        <p:nvSpPr>
          <p:cNvPr id="15" name="Shape 11"/>
          <p:cNvSpPr/>
          <p:nvPr/>
        </p:nvSpPr>
        <p:spPr>
          <a:xfrm>
            <a:off x="7333488" y="2340864"/>
            <a:ext cx="4197096" cy="1993392"/>
          </a:xfrm>
          <a:prstGeom prst="rect">
            <a:avLst/>
          </a:prstGeom>
          <a:solidFill>
            <a:srgbClr val="102A43"/>
          </a:solidFill>
          <a:ln w="12700">
            <a:solidFill>
              <a:srgbClr val="102A43"/>
            </a:solidFill>
            <a:prstDash val="solid"/>
          </a:ln>
        </p:spPr>
      </p:sp>
      <p:sp>
        <p:nvSpPr>
          <p:cNvPr id="16" name="Text 12"/>
          <p:cNvSpPr txBox="1"/>
          <p:nvPr/>
        </p:nvSpPr>
        <p:spPr>
          <a:xfrm>
            <a:off x="7589520" y="2523744"/>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LO NUEVO</a:t>
            </a:r>
            <a:endParaRPr lang="en-US" sz="960" dirty="0"/>
          </a:p>
        </p:txBody>
      </p:sp>
      <p:sp>
        <p:nvSpPr>
          <p:cNvPr id="17" name="Text 13"/>
          <p:cNvSpPr txBox="1"/>
          <p:nvPr/>
        </p:nvSpPr>
        <p:spPr>
          <a:xfrm>
            <a:off x="7589520" y="2779776"/>
            <a:ext cx="3703320" cy="274320"/>
          </a:xfrm>
          <a:prstGeom prst="rect">
            <a:avLst/>
          </a:prstGeom>
          <a:noFill/>
          <a:ln/>
        </p:spPr>
        <p:txBody>
          <a:bodyPr wrap="square" lIns="0" tIns="0" rIns="0" bIns="0" rtlCol="0" anchor="t"/>
          <a:lstStyle/>
          <a:p>
            <a:pPr algn="l" indent="0" marL="0">
              <a:buNone/>
            </a:pPr>
            <a:r>
              <a:rPr lang="en-US" sz="1400" b="1" dirty="0">
                <a:solidFill>
                  <a:srgbClr val="FFFFFF"/>
                </a:solidFill>
                <a:latin typeface="Consolas" pitchFamily="34" charset="0"/>
                <a:ea typeface="Consolas" pitchFamily="34" charset="-122"/>
                <a:cs typeface="Consolas" pitchFamily="34" charset="-120"/>
              </a:rPr>
              <a:t>notificaciones.py</a:t>
            </a:r>
            <a:endParaRPr lang="en-US" sz="1400" dirty="0"/>
          </a:p>
        </p:txBody>
      </p:sp>
      <p:sp>
        <p:nvSpPr>
          <p:cNvPr id="18" name="Text 14"/>
          <p:cNvSpPr txBox="1"/>
          <p:nvPr/>
        </p:nvSpPr>
        <p:spPr>
          <a:xfrm>
            <a:off x="7589520" y="3127248"/>
            <a:ext cx="3703320" cy="1060704"/>
          </a:xfrm>
          <a:prstGeom prst="rect">
            <a:avLst/>
          </a:prstGeom>
          <a:noFill/>
          <a:ln/>
        </p:spPr>
        <p:txBody>
          <a:bodyPr wrap="square" lIns="0" tIns="0" rIns="0" bIns="0" rtlCol="0" anchor="t"/>
          <a:lstStyle/>
          <a:p>
            <a:pPr algn="l" indent="0" marL="0">
              <a:lnSpc>
                <a:spcPct val="116000"/>
              </a:lnSpc>
              <a:buNone/>
            </a:pPr>
            <a:r>
              <a:rPr lang="en-US" sz="1180" dirty="0">
                <a:solidFill>
                  <a:srgbClr val="E6EEF7"/>
                </a:solidFill>
                <a:latin typeface="Aptos" pitchFamily="34" charset="0"/>
                <a:ea typeface="Aptos" pitchFamily="34" charset="-122"/>
                <a:cs typeface="Aptos" pitchFamily="34" charset="-120"/>
              </a:rPr>
              <a:t>enviar_confirmacion(correo, cuerpo) habla por red con el servicio de correo institucional.</a:t>
            </a:r>
            <a:endParaRPr lang="en-US" sz="1180" dirty="0"/>
          </a:p>
          <a:p>
            <a:pPr algn="l" indent="0" marL="0">
              <a:lnSpc>
                <a:spcPct val="116000"/>
              </a:lnSpc>
              <a:buNone/>
            </a:pPr>
            <a:endParaRPr lang="en-US" sz="1180" dirty="0"/>
          </a:p>
          <a:p>
            <a:pPr algn="l" indent="0" marL="0">
              <a:lnSpc>
                <a:spcPct val="116000"/>
              </a:lnSpc>
              <a:buNone/>
            </a:pPr>
            <a:r>
              <a:rPr lang="en-US" sz="1180" dirty="0">
                <a:solidFill>
                  <a:srgbClr val="E6EEF7"/>
                </a:solidFill>
                <a:latin typeface="Aptos" pitchFamily="34" charset="0"/>
                <a:ea typeface="Aptos" pitchFamily="34" charset="-122"/>
                <a:cs typeface="Aptos" pitchFamily="34" charset="-120"/>
              </a:rPr>
              <a:t>No es parte del proyecto: es una máquina ajena que puede estar caída, tardar, o mandar correos de verdad.</a:t>
            </a:r>
            <a:endParaRPr lang="en-US" sz="1180" dirty="0"/>
          </a:p>
        </p:txBody>
      </p:sp>
      <p:sp>
        <p:nvSpPr>
          <p:cNvPr id="19" name="Shape 15"/>
          <p:cNvSpPr/>
          <p:nvPr/>
        </p:nvSpPr>
        <p:spPr>
          <a:xfrm>
            <a:off x="658368" y="4535424"/>
            <a:ext cx="10874959" cy="530352"/>
          </a:xfrm>
          <a:prstGeom prst="rect">
            <a:avLst/>
          </a:prstGeom>
          <a:solidFill>
            <a:srgbClr val="102A43"/>
          </a:solidFill>
          <a:ln w="12700">
            <a:solidFill>
              <a:srgbClr val="102A43"/>
            </a:solidFill>
            <a:prstDash val="solid"/>
          </a:ln>
        </p:spPr>
      </p:sp>
      <p:sp>
        <p:nvSpPr>
          <p:cNvPr id="20" name="Text 16"/>
          <p:cNvSpPr txBox="1"/>
          <p:nvPr/>
        </p:nvSpPr>
        <p:spPr>
          <a:xfrm>
            <a:off x="969264" y="4572000"/>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Esa dependencia es la que va a obligar a sustituirla por un doble, y la que va a mostrar dónde el doble deja de ayudar.</a:t>
            </a:r>
            <a:endParaRPr lang="en-US" sz="1400" dirty="0"/>
          </a:p>
        </p:txBody>
      </p:sp>
      <p:sp>
        <p:nvSpPr>
          <p:cNvPr id="21" name="Shape 17"/>
          <p:cNvSpPr/>
          <p:nvPr/>
        </p:nvSpPr>
        <p:spPr>
          <a:xfrm>
            <a:off x="658368" y="5248656"/>
            <a:ext cx="45720" cy="182880"/>
          </a:xfrm>
          <a:prstGeom prst="rect">
            <a:avLst/>
          </a:prstGeom>
          <a:solidFill>
            <a:srgbClr val="8A6A12"/>
          </a:solidFill>
          <a:ln w="12700">
            <a:solidFill>
              <a:srgbClr val="8A6A12"/>
            </a:solidFill>
            <a:prstDash val="solid"/>
          </a:ln>
        </p:spPr>
      </p:sp>
      <p:sp>
        <p:nvSpPr>
          <p:cNvPr id="22" name="Text 18"/>
          <p:cNvSpPr txBox="1"/>
          <p:nvPr/>
        </p:nvSpPr>
        <p:spPr>
          <a:xfrm>
            <a:off x="804672" y="5239512"/>
            <a:ext cx="8686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Proyecto de reserva de laboratorio · clases 08, 09 y 10 · Python 3.12.12</a:t>
            </a:r>
            <a:endParaRPr lang="en-US" sz="9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ANTES DE EMPEZAR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Cómo se lee una llamada de este proyecto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Los argumentos van en el orden de la firma. Un número suelto no dice nada hasta que se traduce a una frase.</a:t>
            </a:r>
            <a:endParaRPr lang="en-US" sz="1450" dirty="0"/>
          </a:p>
        </p:txBody>
      </p:sp>
      <p:sp>
        <p:nvSpPr>
          <p:cNvPr id="11" name="Shape 8"/>
          <p:cNvSpPr/>
          <p:nvPr/>
        </p:nvSpPr>
        <p:spPr>
          <a:xfrm>
            <a:off x="658368" y="2377440"/>
            <a:ext cx="10872216" cy="1188720"/>
          </a:xfrm>
          <a:prstGeom prst="roundRect">
            <a:avLst>
              <a:gd name="adj" fmla="val 3077"/>
            </a:avLst>
          </a:prstGeom>
          <a:solidFill>
            <a:srgbClr val="102A43"/>
          </a:solidFill>
          <a:ln w="12700">
            <a:solidFill>
              <a:srgbClr val="102A43"/>
            </a:solidFill>
            <a:prstDash val="solid"/>
          </a:ln>
        </p:spPr>
      </p:sp>
      <p:sp>
        <p:nvSpPr>
          <p:cNvPr id="12" name="Shape 9"/>
          <p:cNvSpPr/>
          <p:nvPr/>
        </p:nvSpPr>
        <p:spPr>
          <a:xfrm>
            <a:off x="786384" y="2487168"/>
            <a:ext cx="10616184"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60320"/>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firma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44368"/>
            <a:ext cx="10451592" cy="438912"/>
          </a:xfrm>
          <a:prstGeom prst="rect">
            <a:avLst/>
          </a:prstGeom>
        </p:spPr>
      </p:pic>
      <p:sp>
        <p:nvSpPr>
          <p:cNvPr id="15" name="Shape 11"/>
          <p:cNvSpPr/>
          <p:nvPr/>
        </p:nvSpPr>
        <p:spPr>
          <a:xfrm>
            <a:off x="658368" y="3712464"/>
            <a:ext cx="10874959" cy="512064"/>
          </a:xfrm>
          <a:prstGeom prst="rect">
            <a:avLst/>
          </a:prstGeom>
          <a:solidFill>
            <a:srgbClr val="FFFFFF"/>
          </a:solidFill>
          <a:ln w="12700">
            <a:solidFill>
              <a:srgbClr val="FFFFFF"/>
            </a:solidFill>
            <a:prstDash val="solid"/>
          </a:ln>
        </p:spPr>
      </p:sp>
      <p:sp>
        <p:nvSpPr>
          <p:cNvPr id="16" name="Shape 12"/>
          <p:cNvSpPr/>
          <p:nvPr/>
        </p:nvSpPr>
        <p:spPr>
          <a:xfrm>
            <a:off x="658368" y="3712464"/>
            <a:ext cx="54864" cy="512064"/>
          </a:xfrm>
          <a:prstGeom prst="rect">
            <a:avLst/>
          </a:prstGeom>
          <a:solidFill>
            <a:srgbClr val="2E7D4F"/>
          </a:solidFill>
          <a:ln w="12700">
            <a:solidFill>
              <a:srgbClr val="2E7D4F"/>
            </a:solidFill>
            <a:prstDash val="solid"/>
          </a:ln>
        </p:spPr>
      </p:sp>
      <p:sp>
        <p:nvSpPr>
          <p:cNvPr id="17" name="Text 13"/>
          <p:cNvSpPr txBox="1"/>
          <p:nvPr/>
        </p:nvSpPr>
        <p:spPr>
          <a:xfrm>
            <a:off x="914400" y="3840480"/>
            <a:ext cx="4114800" cy="256032"/>
          </a:xfrm>
          <a:prstGeom prst="rect">
            <a:avLst/>
          </a:prstGeom>
          <a:noFill/>
          <a:ln/>
        </p:spPr>
        <p:txBody>
          <a:bodyPr wrap="square" lIns="0" tIns="0" rIns="0" bIns="0" rtlCol="0" anchor="t"/>
          <a:lstStyle/>
          <a:p>
            <a:pPr algn="l" indent="0" marL="0">
              <a:buNone/>
            </a:pPr>
            <a:r>
              <a:rPr lang="en-US" sz="1160" b="1" dirty="0">
                <a:solidFill>
                  <a:srgbClr val="243B53"/>
                </a:solidFill>
                <a:latin typeface="Consolas" pitchFamily="34" charset="0"/>
                <a:ea typeface="Consolas" pitchFamily="34" charset="-122"/>
                <a:cs typeface="Consolas" pitchFamily="34" charset="-120"/>
              </a:rPr>
              <a:t>puede_reservar(0, 3, tomado=False)</a:t>
            </a:r>
            <a:endParaRPr lang="en-US" sz="1160" dirty="0"/>
          </a:p>
        </p:txBody>
      </p:sp>
      <p:sp>
        <p:nvSpPr>
          <p:cNvPr id="18" name="Text 14"/>
          <p:cNvSpPr txBox="1"/>
          <p:nvPr/>
        </p:nvSpPr>
        <p:spPr>
          <a:xfrm>
            <a:off x="5230368" y="3849624"/>
            <a:ext cx="6028639" cy="256032"/>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Alguien sin ninguna reserva esta semana pide el bloque 3, que está libre.</a:t>
            </a:r>
            <a:endParaRPr lang="en-US" sz="1240" dirty="0"/>
          </a:p>
        </p:txBody>
      </p:sp>
      <p:sp>
        <p:nvSpPr>
          <p:cNvPr id="19" name="Shape 15"/>
          <p:cNvSpPr/>
          <p:nvPr/>
        </p:nvSpPr>
        <p:spPr>
          <a:xfrm>
            <a:off x="658368" y="4315968"/>
            <a:ext cx="10874959" cy="512064"/>
          </a:xfrm>
          <a:prstGeom prst="rect">
            <a:avLst/>
          </a:prstGeom>
          <a:solidFill>
            <a:srgbClr val="EDE6DA"/>
          </a:solidFill>
          <a:ln w="12700">
            <a:solidFill>
              <a:srgbClr val="EDE6DA"/>
            </a:solidFill>
            <a:prstDash val="solid"/>
          </a:ln>
        </p:spPr>
      </p:sp>
      <p:sp>
        <p:nvSpPr>
          <p:cNvPr id="20" name="Shape 16"/>
          <p:cNvSpPr/>
          <p:nvPr/>
        </p:nvSpPr>
        <p:spPr>
          <a:xfrm>
            <a:off x="658368" y="4315968"/>
            <a:ext cx="54864" cy="512064"/>
          </a:xfrm>
          <a:prstGeom prst="rect">
            <a:avLst/>
          </a:prstGeom>
          <a:solidFill>
            <a:srgbClr val="B3181E"/>
          </a:solidFill>
          <a:ln w="12700">
            <a:solidFill>
              <a:srgbClr val="B3181E"/>
            </a:solidFill>
            <a:prstDash val="solid"/>
          </a:ln>
        </p:spPr>
      </p:sp>
      <p:sp>
        <p:nvSpPr>
          <p:cNvPr id="21" name="Text 17"/>
          <p:cNvSpPr txBox="1"/>
          <p:nvPr/>
        </p:nvSpPr>
        <p:spPr>
          <a:xfrm>
            <a:off x="914400" y="4443984"/>
            <a:ext cx="4114800" cy="256032"/>
          </a:xfrm>
          <a:prstGeom prst="rect">
            <a:avLst/>
          </a:prstGeom>
          <a:noFill/>
          <a:ln/>
        </p:spPr>
        <p:txBody>
          <a:bodyPr wrap="square" lIns="0" tIns="0" rIns="0" bIns="0" rtlCol="0" anchor="t"/>
          <a:lstStyle/>
          <a:p>
            <a:pPr algn="l" indent="0" marL="0">
              <a:buNone/>
            </a:pPr>
            <a:r>
              <a:rPr lang="en-US" sz="1160" b="1" dirty="0">
                <a:solidFill>
                  <a:srgbClr val="243B53"/>
                </a:solidFill>
                <a:latin typeface="Consolas" pitchFamily="34" charset="0"/>
                <a:ea typeface="Consolas" pitchFamily="34" charset="-122"/>
                <a:cs typeface="Consolas" pitchFamily="34" charset="-120"/>
              </a:rPr>
              <a:t>puede_reservar(3, 3, tomado=False)</a:t>
            </a:r>
            <a:endParaRPr lang="en-US" sz="1160" dirty="0"/>
          </a:p>
        </p:txBody>
      </p:sp>
      <p:sp>
        <p:nvSpPr>
          <p:cNvPr id="22" name="Text 18"/>
          <p:cNvSpPr txBox="1"/>
          <p:nvPr/>
        </p:nvSpPr>
        <p:spPr>
          <a:xfrm>
            <a:off x="5230368" y="4453128"/>
            <a:ext cx="6028639" cy="256032"/>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Alguien que ya tiene 3 reservas —el máximo— pide el bloque 3 libre.</a:t>
            </a:r>
            <a:endParaRPr lang="en-US" sz="1240" dirty="0"/>
          </a:p>
        </p:txBody>
      </p:sp>
      <p:sp>
        <p:nvSpPr>
          <p:cNvPr id="23" name="Shape 19"/>
          <p:cNvSpPr/>
          <p:nvPr/>
        </p:nvSpPr>
        <p:spPr>
          <a:xfrm>
            <a:off x="658368" y="4919472"/>
            <a:ext cx="10874959" cy="512064"/>
          </a:xfrm>
          <a:prstGeom prst="rect">
            <a:avLst/>
          </a:prstGeom>
          <a:solidFill>
            <a:srgbClr val="FFFFFF"/>
          </a:solidFill>
          <a:ln w="12700">
            <a:solidFill>
              <a:srgbClr val="FFFFFF"/>
            </a:solidFill>
            <a:prstDash val="solid"/>
          </a:ln>
        </p:spPr>
      </p:sp>
      <p:sp>
        <p:nvSpPr>
          <p:cNvPr id="24" name="Shape 20"/>
          <p:cNvSpPr/>
          <p:nvPr/>
        </p:nvSpPr>
        <p:spPr>
          <a:xfrm>
            <a:off x="658368" y="4919472"/>
            <a:ext cx="54864" cy="512064"/>
          </a:xfrm>
          <a:prstGeom prst="rect">
            <a:avLst/>
          </a:prstGeom>
          <a:solidFill>
            <a:srgbClr val="B3181E"/>
          </a:solidFill>
          <a:ln w="12700">
            <a:solidFill>
              <a:srgbClr val="B3181E"/>
            </a:solidFill>
            <a:prstDash val="solid"/>
          </a:ln>
        </p:spPr>
      </p:sp>
      <p:sp>
        <p:nvSpPr>
          <p:cNvPr id="25" name="Text 21"/>
          <p:cNvSpPr txBox="1"/>
          <p:nvPr/>
        </p:nvSpPr>
        <p:spPr>
          <a:xfrm>
            <a:off x="914400" y="5047488"/>
            <a:ext cx="4114800" cy="256032"/>
          </a:xfrm>
          <a:prstGeom prst="rect">
            <a:avLst/>
          </a:prstGeom>
          <a:noFill/>
          <a:ln/>
        </p:spPr>
        <p:txBody>
          <a:bodyPr wrap="square" lIns="0" tIns="0" rIns="0" bIns="0" rtlCol="0" anchor="t"/>
          <a:lstStyle/>
          <a:p>
            <a:pPr algn="l" indent="0" marL="0">
              <a:buNone/>
            </a:pPr>
            <a:r>
              <a:rPr lang="en-US" sz="1160" b="1" dirty="0">
                <a:solidFill>
                  <a:srgbClr val="243B53"/>
                </a:solidFill>
                <a:latin typeface="Consolas" pitchFamily="34" charset="0"/>
                <a:ea typeface="Consolas" pitchFamily="34" charset="-122"/>
                <a:cs typeface="Consolas" pitchFamily="34" charset="-120"/>
              </a:rPr>
              <a:t>puede_reservar(0, 3, tomado=True)</a:t>
            </a:r>
            <a:endParaRPr lang="en-US" sz="1160" dirty="0"/>
          </a:p>
        </p:txBody>
      </p:sp>
      <p:sp>
        <p:nvSpPr>
          <p:cNvPr id="26" name="Text 22"/>
          <p:cNvSpPr txBox="1"/>
          <p:nvPr/>
        </p:nvSpPr>
        <p:spPr>
          <a:xfrm>
            <a:off x="5230368" y="5056632"/>
            <a:ext cx="6028639" cy="256032"/>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Alguien sin reservas pide el bloque 3, pero ya lo tomó otra persona.</a:t>
            </a:r>
            <a:endParaRPr lang="en-US" sz="1240" dirty="0"/>
          </a:p>
        </p:txBody>
      </p:sp>
      <p:sp>
        <p:nvSpPr>
          <p:cNvPr id="27" name="Shape 23"/>
          <p:cNvSpPr/>
          <p:nvPr/>
        </p:nvSpPr>
        <p:spPr>
          <a:xfrm>
            <a:off x="658368" y="5596128"/>
            <a:ext cx="10874959" cy="512064"/>
          </a:xfrm>
          <a:prstGeom prst="rect">
            <a:avLst/>
          </a:prstGeom>
          <a:solidFill>
            <a:srgbClr val="102A43"/>
          </a:solidFill>
          <a:ln w="12700">
            <a:solidFill>
              <a:srgbClr val="102A43"/>
            </a:solidFill>
            <a:prstDash val="solid"/>
          </a:ln>
        </p:spPr>
      </p:sp>
      <p:sp>
        <p:nvSpPr>
          <p:cNvPr id="28" name="Text 24"/>
          <p:cNvSpPr txBox="1"/>
          <p:nvPr/>
        </p:nvSpPr>
        <p:spPr>
          <a:xfrm>
            <a:off x="969264" y="5632704"/>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Regla de la sesión: toda llamada que aparezca en pantalla se lee en voz alta como una frase antes de discutirla.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EL RECORRIDO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Cuatro bloques, tres preguntas</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Cada bloque interroga una de las tres preguntas que se le pueden hacer a una prueba. El último las junta.</a:t>
            </a:r>
            <a:endParaRPr lang="en-US" sz="1450" dirty="0"/>
          </a:p>
        </p:txBody>
      </p:sp>
      <p:sp>
        <p:nvSpPr>
          <p:cNvPr id="11" name="Shape 8"/>
          <p:cNvSpPr/>
          <p:nvPr/>
        </p:nvSpPr>
        <p:spPr>
          <a:xfrm>
            <a:off x="658368" y="2267712"/>
            <a:ext cx="10874959" cy="603504"/>
          </a:xfrm>
          <a:prstGeom prst="rect">
            <a:avLst/>
          </a:prstGeom>
          <a:solidFill>
            <a:srgbClr val="1D3A57"/>
          </a:solidFill>
          <a:ln w="12700">
            <a:solidFill>
              <a:srgbClr val="1D3A57"/>
            </a:solidFill>
            <a:prstDash val="solid"/>
          </a:ln>
        </p:spPr>
      </p:sp>
      <p:sp>
        <p:nvSpPr>
          <p:cNvPr id="12" name="Shape 9"/>
          <p:cNvSpPr/>
          <p:nvPr/>
        </p:nvSpPr>
        <p:spPr>
          <a:xfrm>
            <a:off x="658368" y="2267712"/>
            <a:ext cx="54864" cy="603504"/>
          </a:xfrm>
          <a:prstGeom prst="rect">
            <a:avLst/>
          </a:prstGeom>
          <a:solidFill>
            <a:srgbClr val="E0BC5A"/>
          </a:solidFill>
          <a:ln w="12700">
            <a:solidFill>
              <a:srgbClr val="E0BC5A"/>
            </a:solidFill>
            <a:prstDash val="solid"/>
          </a:ln>
        </p:spPr>
      </p:sp>
      <p:sp>
        <p:nvSpPr>
          <p:cNvPr id="13" name="Text 10"/>
          <p:cNvSpPr txBox="1"/>
          <p:nvPr/>
        </p:nvSpPr>
        <p:spPr>
          <a:xfrm>
            <a:off x="932688" y="2377440"/>
            <a:ext cx="365760" cy="402336"/>
          </a:xfrm>
          <a:prstGeom prst="rect">
            <a:avLst/>
          </a:prstGeom>
          <a:noFill/>
          <a:ln/>
        </p:spPr>
        <p:txBody>
          <a:bodyPr wrap="square" lIns="0" tIns="0" rIns="0" bIns="0" rtlCol="0" anchor="t"/>
          <a:lstStyle/>
          <a:p>
            <a:pPr algn="l" indent="0" marL="0">
              <a:buNone/>
            </a:pPr>
            <a:r>
              <a:rPr lang="en-US" sz="2400" b="1" dirty="0">
                <a:solidFill>
                  <a:srgbClr val="E0BC5A"/>
                </a:solidFill>
                <a:latin typeface="Aptos Display" pitchFamily="34" charset="0"/>
                <a:ea typeface="Aptos Display" pitchFamily="34" charset="-122"/>
                <a:cs typeface="Aptos Display" pitchFamily="34" charset="-120"/>
              </a:rPr>
              <a:t>1</a:t>
            </a:r>
            <a:endParaRPr lang="en-US" sz="2400" dirty="0"/>
          </a:p>
        </p:txBody>
      </p:sp>
      <p:sp>
        <p:nvSpPr>
          <p:cNvPr id="14" name="Text 11"/>
          <p:cNvSpPr txBox="1"/>
          <p:nvPr/>
        </p:nvSpPr>
        <p:spPr>
          <a:xfrm>
            <a:off x="1444752" y="2450592"/>
            <a:ext cx="731520" cy="237744"/>
          </a:xfrm>
          <a:prstGeom prst="rect">
            <a:avLst/>
          </a:prstGeom>
          <a:noFill/>
          <a:ln/>
        </p:spPr>
        <p:txBody>
          <a:bodyPr wrap="square" lIns="0" tIns="0" rIns="0" bIns="0" rtlCol="0" anchor="t"/>
          <a:lstStyle/>
          <a:p>
            <a:pPr algn="l" indent="0" marL="0">
              <a:buNone/>
            </a:pPr>
            <a:r>
              <a:rPr lang="en-US" sz="1140" b="1" dirty="0">
                <a:solidFill>
                  <a:srgbClr val="EADFD0"/>
                </a:solidFill>
                <a:latin typeface="Aptos" pitchFamily="34" charset="0"/>
                <a:ea typeface="Aptos" pitchFamily="34" charset="-122"/>
                <a:cs typeface="Aptos" pitchFamily="34" charset="-120"/>
              </a:rPr>
              <a:t>08:40</a:t>
            </a:r>
            <a:endParaRPr lang="en-US" sz="1140" dirty="0"/>
          </a:p>
        </p:txBody>
      </p:sp>
      <p:sp>
        <p:nvSpPr>
          <p:cNvPr id="15" name="Text 12"/>
          <p:cNvSpPr txBox="1"/>
          <p:nvPr/>
        </p:nvSpPr>
        <p:spPr>
          <a:xfrm>
            <a:off x="2340864" y="2340864"/>
            <a:ext cx="4572000" cy="256032"/>
          </a:xfrm>
          <a:prstGeom prst="rect">
            <a:avLst/>
          </a:prstGeom>
          <a:noFill/>
          <a:ln/>
        </p:spPr>
        <p:txBody>
          <a:bodyPr wrap="square" lIns="0" tIns="0" rIns="0" bIns="0" rtlCol="0" anchor="t"/>
          <a:lstStyle/>
          <a:p>
            <a:pPr algn="l" indent="0" marL="0">
              <a:buNone/>
            </a:pPr>
            <a:r>
              <a:rPr lang="en-US" sz="1340" b="1" dirty="0">
                <a:solidFill>
                  <a:srgbClr val="FFFFFF"/>
                </a:solidFill>
                <a:latin typeface="Aptos" pitchFamily="34" charset="0"/>
                <a:ea typeface="Aptos" pitchFamily="34" charset="-122"/>
                <a:cs typeface="Aptos" pitchFamily="34" charset="-120"/>
              </a:rPr>
              <a:t>Dos preguntas sobre la misma prueba</a:t>
            </a:r>
            <a:endParaRPr lang="en-US" sz="1340" dirty="0"/>
          </a:p>
        </p:txBody>
      </p:sp>
      <p:sp>
        <p:nvSpPr>
          <p:cNvPr id="16" name="Text 13"/>
          <p:cNvSpPr txBox="1"/>
          <p:nvPr/>
        </p:nvSpPr>
        <p:spPr>
          <a:xfrm>
            <a:off x="2340864" y="2596896"/>
            <a:ext cx="8778240" cy="219456"/>
          </a:xfrm>
          <a:prstGeom prst="rect">
            <a:avLst/>
          </a:prstGeom>
          <a:noFill/>
          <a:ln/>
        </p:spPr>
        <p:txBody>
          <a:bodyPr wrap="square" lIns="0" tIns="0" rIns="0" bIns="0" rtlCol="0" anchor="t"/>
          <a:lstStyle/>
          <a:p>
            <a:pPr algn="l" indent="0" marL="0">
              <a:buNone/>
            </a:pPr>
            <a:r>
              <a:rPr lang="en-US" sz="1120" dirty="0">
                <a:solidFill>
                  <a:srgbClr val="E6EEF7"/>
                </a:solidFill>
                <a:latin typeface="Aptos" pitchFamily="34" charset="0"/>
                <a:ea typeface="Aptos" pitchFamily="34" charset="-122"/>
                <a:cs typeface="Aptos" pitchFamily="34" charset="-120"/>
              </a:rPr>
              <a:t>De qué modelo salió el caso, y qué recorrió la suite</a:t>
            </a:r>
            <a:endParaRPr lang="en-US" sz="1120" dirty="0"/>
          </a:p>
        </p:txBody>
      </p:sp>
      <p:sp>
        <p:nvSpPr>
          <p:cNvPr id="17" name="Shape 14"/>
          <p:cNvSpPr/>
          <p:nvPr/>
        </p:nvSpPr>
        <p:spPr>
          <a:xfrm>
            <a:off x="658368" y="2980944"/>
            <a:ext cx="10874959" cy="603504"/>
          </a:xfrm>
          <a:prstGeom prst="rect">
            <a:avLst/>
          </a:prstGeom>
          <a:solidFill>
            <a:srgbClr val="102A43"/>
          </a:solidFill>
          <a:ln w="12700">
            <a:solidFill>
              <a:srgbClr val="102A43"/>
            </a:solidFill>
            <a:prstDash val="solid"/>
          </a:ln>
        </p:spPr>
      </p:sp>
      <p:sp>
        <p:nvSpPr>
          <p:cNvPr id="18" name="Shape 15"/>
          <p:cNvSpPr/>
          <p:nvPr/>
        </p:nvSpPr>
        <p:spPr>
          <a:xfrm>
            <a:off x="658368" y="2980944"/>
            <a:ext cx="54864" cy="603504"/>
          </a:xfrm>
          <a:prstGeom prst="rect">
            <a:avLst/>
          </a:prstGeom>
          <a:solidFill>
            <a:srgbClr val="E0BC5A"/>
          </a:solidFill>
          <a:ln w="12700">
            <a:solidFill>
              <a:srgbClr val="E0BC5A"/>
            </a:solidFill>
            <a:prstDash val="solid"/>
          </a:ln>
        </p:spPr>
      </p:sp>
      <p:sp>
        <p:nvSpPr>
          <p:cNvPr id="19" name="Text 16"/>
          <p:cNvSpPr txBox="1"/>
          <p:nvPr/>
        </p:nvSpPr>
        <p:spPr>
          <a:xfrm>
            <a:off x="932688" y="3090672"/>
            <a:ext cx="365760" cy="402336"/>
          </a:xfrm>
          <a:prstGeom prst="rect">
            <a:avLst/>
          </a:prstGeom>
          <a:noFill/>
          <a:ln/>
        </p:spPr>
        <p:txBody>
          <a:bodyPr wrap="square" lIns="0" tIns="0" rIns="0" bIns="0" rtlCol="0" anchor="t"/>
          <a:lstStyle/>
          <a:p>
            <a:pPr algn="l" indent="0" marL="0">
              <a:buNone/>
            </a:pPr>
            <a:r>
              <a:rPr lang="en-US" sz="2400" b="1" dirty="0">
                <a:solidFill>
                  <a:srgbClr val="E0BC5A"/>
                </a:solidFill>
                <a:latin typeface="Aptos Display" pitchFamily="34" charset="0"/>
                <a:ea typeface="Aptos Display" pitchFamily="34" charset="-122"/>
                <a:cs typeface="Aptos Display" pitchFamily="34" charset="-120"/>
              </a:rPr>
              <a:t>2</a:t>
            </a:r>
            <a:endParaRPr lang="en-US" sz="2400" dirty="0"/>
          </a:p>
        </p:txBody>
      </p:sp>
      <p:sp>
        <p:nvSpPr>
          <p:cNvPr id="20" name="Text 17"/>
          <p:cNvSpPr txBox="1"/>
          <p:nvPr/>
        </p:nvSpPr>
        <p:spPr>
          <a:xfrm>
            <a:off x="1444752" y="3163824"/>
            <a:ext cx="731520" cy="237744"/>
          </a:xfrm>
          <a:prstGeom prst="rect">
            <a:avLst/>
          </a:prstGeom>
          <a:noFill/>
          <a:ln/>
        </p:spPr>
        <p:txBody>
          <a:bodyPr wrap="square" lIns="0" tIns="0" rIns="0" bIns="0" rtlCol="0" anchor="t"/>
          <a:lstStyle/>
          <a:p>
            <a:pPr algn="l" indent="0" marL="0">
              <a:buNone/>
            </a:pPr>
            <a:r>
              <a:rPr lang="en-US" sz="1140" b="1" dirty="0">
                <a:solidFill>
                  <a:srgbClr val="EADFD0"/>
                </a:solidFill>
                <a:latin typeface="Aptos" pitchFamily="34" charset="0"/>
                <a:ea typeface="Aptos" pitchFamily="34" charset="-122"/>
                <a:cs typeface="Aptos" pitchFamily="34" charset="-120"/>
              </a:rPr>
              <a:t>09:10</a:t>
            </a:r>
            <a:endParaRPr lang="en-US" sz="1140" dirty="0"/>
          </a:p>
        </p:txBody>
      </p:sp>
      <p:sp>
        <p:nvSpPr>
          <p:cNvPr id="21" name="Text 18"/>
          <p:cNvSpPr txBox="1"/>
          <p:nvPr/>
        </p:nvSpPr>
        <p:spPr>
          <a:xfrm>
            <a:off x="2340864" y="3054096"/>
            <a:ext cx="4572000" cy="256032"/>
          </a:xfrm>
          <a:prstGeom prst="rect">
            <a:avLst/>
          </a:prstGeom>
          <a:noFill/>
          <a:ln/>
        </p:spPr>
        <p:txBody>
          <a:bodyPr wrap="square" lIns="0" tIns="0" rIns="0" bIns="0" rtlCol="0" anchor="t"/>
          <a:lstStyle/>
          <a:p>
            <a:pPr algn="l" indent="0" marL="0">
              <a:buNone/>
            </a:pPr>
            <a:r>
              <a:rPr lang="en-US" sz="1340" b="1" dirty="0">
                <a:solidFill>
                  <a:srgbClr val="FFFFFF"/>
                </a:solidFill>
                <a:latin typeface="Aptos" pitchFamily="34" charset="0"/>
                <a:ea typeface="Aptos" pitchFamily="34" charset="-122"/>
                <a:cs typeface="Aptos" pitchFamily="34" charset="-120"/>
              </a:rPr>
              <a:t>El 100 % que no verifica nada</a:t>
            </a:r>
            <a:endParaRPr lang="en-US" sz="1340" dirty="0"/>
          </a:p>
        </p:txBody>
      </p:sp>
      <p:sp>
        <p:nvSpPr>
          <p:cNvPr id="22" name="Text 19"/>
          <p:cNvSpPr txBox="1"/>
          <p:nvPr/>
        </p:nvSpPr>
        <p:spPr>
          <a:xfrm>
            <a:off x="2340864" y="3310128"/>
            <a:ext cx="8778240" cy="219456"/>
          </a:xfrm>
          <a:prstGeom prst="rect">
            <a:avLst/>
          </a:prstGeom>
          <a:noFill/>
          <a:ln/>
        </p:spPr>
        <p:txBody>
          <a:bodyPr wrap="square" lIns="0" tIns="0" rIns="0" bIns="0" rtlCol="0" anchor="t"/>
          <a:lstStyle/>
          <a:p>
            <a:pPr algn="l" indent="0" marL="0">
              <a:buNone/>
            </a:pPr>
            <a:r>
              <a:rPr lang="en-US" sz="1120" dirty="0">
                <a:solidFill>
                  <a:srgbClr val="E6EEF7"/>
                </a:solidFill>
                <a:latin typeface="Aptos" pitchFamily="34" charset="0"/>
                <a:ea typeface="Aptos" pitchFamily="34" charset="-122"/>
                <a:cs typeface="Aptos" pitchFamily="34" charset="-120"/>
              </a:rPr>
              <a:t>Sentencias y ramas, y la prueba que recorre sin afirmar</a:t>
            </a:r>
            <a:endParaRPr lang="en-US" sz="1120" dirty="0"/>
          </a:p>
        </p:txBody>
      </p:sp>
      <p:sp>
        <p:nvSpPr>
          <p:cNvPr id="23" name="Shape 20"/>
          <p:cNvSpPr/>
          <p:nvPr/>
        </p:nvSpPr>
        <p:spPr>
          <a:xfrm>
            <a:off x="658368" y="3694176"/>
            <a:ext cx="10874959" cy="603504"/>
          </a:xfrm>
          <a:prstGeom prst="rect">
            <a:avLst/>
          </a:prstGeom>
          <a:solidFill>
            <a:srgbClr val="1D3A57"/>
          </a:solidFill>
          <a:ln w="12700">
            <a:solidFill>
              <a:srgbClr val="1D3A57"/>
            </a:solidFill>
            <a:prstDash val="solid"/>
          </a:ln>
        </p:spPr>
      </p:sp>
      <p:sp>
        <p:nvSpPr>
          <p:cNvPr id="24" name="Shape 21"/>
          <p:cNvSpPr/>
          <p:nvPr/>
        </p:nvSpPr>
        <p:spPr>
          <a:xfrm>
            <a:off x="658368" y="3694176"/>
            <a:ext cx="54864" cy="603504"/>
          </a:xfrm>
          <a:prstGeom prst="rect">
            <a:avLst/>
          </a:prstGeom>
          <a:solidFill>
            <a:srgbClr val="E0BC5A"/>
          </a:solidFill>
          <a:ln w="12700">
            <a:solidFill>
              <a:srgbClr val="E0BC5A"/>
            </a:solidFill>
            <a:prstDash val="solid"/>
          </a:ln>
        </p:spPr>
      </p:sp>
      <p:sp>
        <p:nvSpPr>
          <p:cNvPr id="25" name="Text 22"/>
          <p:cNvSpPr txBox="1"/>
          <p:nvPr/>
        </p:nvSpPr>
        <p:spPr>
          <a:xfrm>
            <a:off x="932688" y="3803904"/>
            <a:ext cx="365760" cy="402336"/>
          </a:xfrm>
          <a:prstGeom prst="rect">
            <a:avLst/>
          </a:prstGeom>
          <a:noFill/>
          <a:ln/>
        </p:spPr>
        <p:txBody>
          <a:bodyPr wrap="square" lIns="0" tIns="0" rIns="0" bIns="0" rtlCol="0" anchor="t"/>
          <a:lstStyle/>
          <a:p>
            <a:pPr algn="l" indent="0" marL="0">
              <a:buNone/>
            </a:pPr>
            <a:r>
              <a:rPr lang="en-US" sz="2400" b="1" dirty="0">
                <a:solidFill>
                  <a:srgbClr val="E0BC5A"/>
                </a:solidFill>
                <a:latin typeface="Aptos Display" pitchFamily="34" charset="0"/>
                <a:ea typeface="Aptos Display" pitchFamily="34" charset="-122"/>
                <a:cs typeface="Aptos Display" pitchFamily="34" charset="-120"/>
              </a:rPr>
              <a:t>3</a:t>
            </a:r>
            <a:endParaRPr lang="en-US" sz="2400" dirty="0"/>
          </a:p>
        </p:txBody>
      </p:sp>
      <p:sp>
        <p:nvSpPr>
          <p:cNvPr id="26" name="Text 23"/>
          <p:cNvSpPr txBox="1"/>
          <p:nvPr/>
        </p:nvSpPr>
        <p:spPr>
          <a:xfrm>
            <a:off x="1444752" y="3877056"/>
            <a:ext cx="731520" cy="237744"/>
          </a:xfrm>
          <a:prstGeom prst="rect">
            <a:avLst/>
          </a:prstGeom>
          <a:noFill/>
          <a:ln/>
        </p:spPr>
        <p:txBody>
          <a:bodyPr wrap="square" lIns="0" tIns="0" rIns="0" bIns="0" rtlCol="0" anchor="t"/>
          <a:lstStyle/>
          <a:p>
            <a:pPr algn="l" indent="0" marL="0">
              <a:buNone/>
            </a:pPr>
            <a:r>
              <a:rPr lang="en-US" sz="1140" b="1" dirty="0">
                <a:solidFill>
                  <a:srgbClr val="EADFD0"/>
                </a:solidFill>
                <a:latin typeface="Aptos" pitchFamily="34" charset="0"/>
                <a:ea typeface="Aptos" pitchFamily="34" charset="-122"/>
                <a:cs typeface="Aptos" pitchFamily="34" charset="-120"/>
              </a:rPr>
              <a:t>09:45</a:t>
            </a:r>
            <a:endParaRPr lang="en-US" sz="1140" dirty="0"/>
          </a:p>
        </p:txBody>
      </p:sp>
      <p:sp>
        <p:nvSpPr>
          <p:cNvPr id="27" name="Text 24"/>
          <p:cNvSpPr txBox="1"/>
          <p:nvPr/>
        </p:nvSpPr>
        <p:spPr>
          <a:xfrm>
            <a:off x="2340864" y="3767328"/>
            <a:ext cx="4572000" cy="256032"/>
          </a:xfrm>
          <a:prstGeom prst="rect">
            <a:avLst/>
          </a:prstGeom>
          <a:noFill/>
          <a:ln/>
        </p:spPr>
        <p:txBody>
          <a:bodyPr wrap="square" lIns="0" tIns="0" rIns="0" bIns="0" rtlCol="0" anchor="t"/>
          <a:lstStyle/>
          <a:p>
            <a:pPr algn="l" indent="0" marL="0">
              <a:buNone/>
            </a:pPr>
            <a:r>
              <a:rPr lang="en-US" sz="1340" b="1" dirty="0">
                <a:solidFill>
                  <a:srgbClr val="FFFFFF"/>
                </a:solidFill>
                <a:latin typeface="Aptos" pitchFamily="34" charset="0"/>
                <a:ea typeface="Aptos" pitchFamily="34" charset="-122"/>
                <a:cs typeface="Aptos" pitchFamily="34" charset="-120"/>
              </a:rPr>
              <a:t>El sustituto que ocupa el lugar</a:t>
            </a:r>
            <a:endParaRPr lang="en-US" sz="1340" dirty="0"/>
          </a:p>
        </p:txBody>
      </p:sp>
      <p:sp>
        <p:nvSpPr>
          <p:cNvPr id="28" name="Text 25"/>
          <p:cNvSpPr txBox="1"/>
          <p:nvPr/>
        </p:nvSpPr>
        <p:spPr>
          <a:xfrm>
            <a:off x="2340864" y="4023360"/>
            <a:ext cx="8778240" cy="219456"/>
          </a:xfrm>
          <a:prstGeom prst="rect">
            <a:avLst/>
          </a:prstGeom>
          <a:noFill/>
          <a:ln/>
        </p:spPr>
        <p:txBody>
          <a:bodyPr wrap="square" lIns="0" tIns="0" rIns="0" bIns="0" rtlCol="0" anchor="t"/>
          <a:lstStyle/>
          <a:p>
            <a:pPr algn="l" indent="0" marL="0">
              <a:buNone/>
            </a:pPr>
            <a:r>
              <a:rPr lang="en-US" sz="1120" dirty="0">
                <a:solidFill>
                  <a:srgbClr val="E6EEF7"/>
                </a:solidFill>
                <a:latin typeface="Aptos" pitchFamily="34" charset="0"/>
                <a:ea typeface="Aptos" pitchFamily="34" charset="-122"/>
                <a:cs typeface="Aptos" pitchFamily="34" charset="-120"/>
              </a:rPr>
              <a:t>Los cinco dobles, y dónde dejan de representar</a:t>
            </a:r>
            <a:endParaRPr lang="en-US" sz="1120" dirty="0"/>
          </a:p>
        </p:txBody>
      </p:sp>
      <p:sp>
        <p:nvSpPr>
          <p:cNvPr id="29" name="Shape 26"/>
          <p:cNvSpPr/>
          <p:nvPr/>
        </p:nvSpPr>
        <p:spPr>
          <a:xfrm>
            <a:off x="658368" y="4407408"/>
            <a:ext cx="10874959" cy="603504"/>
          </a:xfrm>
          <a:prstGeom prst="rect">
            <a:avLst/>
          </a:prstGeom>
          <a:solidFill>
            <a:srgbClr val="102A43"/>
          </a:solidFill>
          <a:ln w="12700">
            <a:solidFill>
              <a:srgbClr val="102A43"/>
            </a:solidFill>
            <a:prstDash val="solid"/>
          </a:ln>
        </p:spPr>
      </p:sp>
      <p:sp>
        <p:nvSpPr>
          <p:cNvPr id="30" name="Shape 27"/>
          <p:cNvSpPr/>
          <p:nvPr/>
        </p:nvSpPr>
        <p:spPr>
          <a:xfrm>
            <a:off x="658368" y="4407408"/>
            <a:ext cx="54864" cy="603504"/>
          </a:xfrm>
          <a:prstGeom prst="rect">
            <a:avLst/>
          </a:prstGeom>
          <a:solidFill>
            <a:srgbClr val="E0BC5A"/>
          </a:solidFill>
          <a:ln w="12700">
            <a:solidFill>
              <a:srgbClr val="E0BC5A"/>
            </a:solidFill>
            <a:prstDash val="solid"/>
          </a:ln>
        </p:spPr>
      </p:sp>
      <p:sp>
        <p:nvSpPr>
          <p:cNvPr id="31" name="Text 28"/>
          <p:cNvSpPr txBox="1"/>
          <p:nvPr/>
        </p:nvSpPr>
        <p:spPr>
          <a:xfrm>
            <a:off x="932688" y="4517136"/>
            <a:ext cx="365760" cy="402336"/>
          </a:xfrm>
          <a:prstGeom prst="rect">
            <a:avLst/>
          </a:prstGeom>
          <a:noFill/>
          <a:ln/>
        </p:spPr>
        <p:txBody>
          <a:bodyPr wrap="square" lIns="0" tIns="0" rIns="0" bIns="0" rtlCol="0" anchor="t"/>
          <a:lstStyle/>
          <a:p>
            <a:pPr algn="l" indent="0" marL="0">
              <a:buNone/>
            </a:pPr>
            <a:r>
              <a:rPr lang="en-US" sz="2400" b="1" dirty="0">
                <a:solidFill>
                  <a:srgbClr val="E0BC5A"/>
                </a:solidFill>
                <a:latin typeface="Aptos Display" pitchFamily="34" charset="0"/>
                <a:ea typeface="Aptos Display" pitchFamily="34" charset="-122"/>
                <a:cs typeface="Aptos Display" pitchFamily="34" charset="-120"/>
              </a:rPr>
              <a:t>4</a:t>
            </a:r>
            <a:endParaRPr lang="en-US" sz="2400" dirty="0"/>
          </a:p>
        </p:txBody>
      </p:sp>
      <p:sp>
        <p:nvSpPr>
          <p:cNvPr id="32" name="Text 29"/>
          <p:cNvSpPr txBox="1"/>
          <p:nvPr/>
        </p:nvSpPr>
        <p:spPr>
          <a:xfrm>
            <a:off x="1444752" y="4590288"/>
            <a:ext cx="731520" cy="237744"/>
          </a:xfrm>
          <a:prstGeom prst="rect">
            <a:avLst/>
          </a:prstGeom>
          <a:noFill/>
          <a:ln/>
        </p:spPr>
        <p:txBody>
          <a:bodyPr wrap="square" lIns="0" tIns="0" rIns="0" bIns="0" rtlCol="0" anchor="t"/>
          <a:lstStyle/>
          <a:p>
            <a:pPr algn="l" indent="0" marL="0">
              <a:buNone/>
            </a:pPr>
            <a:r>
              <a:rPr lang="en-US" sz="1140" b="1" dirty="0">
                <a:solidFill>
                  <a:srgbClr val="EADFD0"/>
                </a:solidFill>
                <a:latin typeface="Aptos" pitchFamily="34" charset="0"/>
                <a:ea typeface="Aptos" pitchFamily="34" charset="-122"/>
                <a:cs typeface="Aptos" pitchFamily="34" charset="-120"/>
              </a:rPr>
              <a:t>10:15</a:t>
            </a:r>
            <a:endParaRPr lang="en-US" sz="1140" dirty="0"/>
          </a:p>
        </p:txBody>
      </p:sp>
      <p:sp>
        <p:nvSpPr>
          <p:cNvPr id="33" name="Text 30"/>
          <p:cNvSpPr txBox="1"/>
          <p:nvPr/>
        </p:nvSpPr>
        <p:spPr>
          <a:xfrm>
            <a:off x="2340864" y="4480560"/>
            <a:ext cx="4572000" cy="256032"/>
          </a:xfrm>
          <a:prstGeom prst="rect">
            <a:avLst/>
          </a:prstGeom>
          <a:noFill/>
          <a:ln/>
        </p:spPr>
        <p:txBody>
          <a:bodyPr wrap="square" lIns="0" tIns="0" rIns="0" bIns="0" rtlCol="0" anchor="t"/>
          <a:lstStyle/>
          <a:p>
            <a:pPr algn="l" indent="0" marL="0">
              <a:buNone/>
            </a:pPr>
            <a:r>
              <a:rPr lang="en-US" sz="1340" b="1" dirty="0">
                <a:solidFill>
                  <a:srgbClr val="FFFFFF"/>
                </a:solidFill>
                <a:latin typeface="Aptos" pitchFamily="34" charset="0"/>
                <a:ea typeface="Aptos" pitchFamily="34" charset="-122"/>
                <a:cs typeface="Aptos" pitchFamily="34" charset="-120"/>
              </a:rPr>
              <a:t>Auditar una suite que uno no escribió</a:t>
            </a:r>
            <a:endParaRPr lang="en-US" sz="1340" dirty="0"/>
          </a:p>
        </p:txBody>
      </p:sp>
      <p:sp>
        <p:nvSpPr>
          <p:cNvPr id="34" name="Text 31"/>
          <p:cNvSpPr txBox="1"/>
          <p:nvPr/>
        </p:nvSpPr>
        <p:spPr>
          <a:xfrm>
            <a:off x="2340864" y="4736592"/>
            <a:ext cx="8778240" cy="219456"/>
          </a:xfrm>
          <a:prstGeom prst="rect">
            <a:avLst/>
          </a:prstGeom>
          <a:noFill/>
          <a:ln/>
        </p:spPr>
        <p:txBody>
          <a:bodyPr wrap="square" lIns="0" tIns="0" rIns="0" bIns="0" rtlCol="0" anchor="t"/>
          <a:lstStyle/>
          <a:p>
            <a:pPr algn="l" indent="0" marL="0">
              <a:buNone/>
            </a:pPr>
            <a:r>
              <a:rPr lang="en-US" sz="1120" dirty="0">
                <a:solidFill>
                  <a:srgbClr val="E6EEF7"/>
                </a:solidFill>
                <a:latin typeface="Aptos" pitchFamily="34" charset="0"/>
                <a:ea typeface="Aptos" pitchFamily="34" charset="-122"/>
                <a:cs typeface="Aptos" pitchFamily="34" charset="-120"/>
              </a:rPr>
              <a:t>Tres criterios y cuatro decisiones</a:t>
            </a:r>
            <a:endParaRPr lang="en-US" sz="1120" dirty="0"/>
          </a:p>
        </p:txBody>
      </p:sp>
      <p:sp>
        <p:nvSpPr>
          <p:cNvPr id="35" name="Shape 32"/>
          <p:cNvSpPr/>
          <p:nvPr/>
        </p:nvSpPr>
        <p:spPr>
          <a:xfrm>
            <a:off x="658368" y="5175504"/>
            <a:ext cx="10874959" cy="566928"/>
          </a:xfrm>
          <a:prstGeom prst="rect">
            <a:avLst/>
          </a:prstGeom>
          <a:solidFill>
            <a:srgbClr val="1D3A57"/>
          </a:solidFill>
          <a:ln w="12700">
            <a:solidFill>
              <a:srgbClr val="1D3A57"/>
            </a:solidFill>
            <a:prstDash val="solid"/>
          </a:ln>
        </p:spPr>
      </p:sp>
      <p:sp>
        <p:nvSpPr>
          <p:cNvPr id="36" name="Text 33"/>
          <p:cNvSpPr txBox="1"/>
          <p:nvPr/>
        </p:nvSpPr>
        <p:spPr>
          <a:xfrm>
            <a:off x="932688" y="5285232"/>
            <a:ext cx="10326319" cy="365760"/>
          </a:xfrm>
          <a:prstGeom prst="rect">
            <a:avLst/>
          </a:prstGeom>
          <a:noFill/>
          <a:ln/>
        </p:spPr>
        <p:txBody>
          <a:bodyPr wrap="square" lIns="0" tIns="0" rIns="0" bIns="0" rtlCol="0" anchor="ctr"/>
          <a:lstStyle/>
          <a:p>
            <a:pPr algn="l" indent="0" marL="0">
              <a:buNone/>
            </a:pPr>
            <a:r>
              <a:rPr lang="en-US" sz="1260" b="1" dirty="0">
                <a:solidFill>
                  <a:srgbClr val="E0BC5A"/>
                </a:solidFill>
                <a:latin typeface="Aptos" pitchFamily="34" charset="0"/>
                <a:ea typeface="Aptos" pitchFamily="34" charset="-122"/>
                <a:cs typeface="Aptos" pitchFamily="34" charset="-120"/>
              </a:rPr>
              <a:t>Hoy además cierra el plazo de envío de la Evaluación Parcial 1. Es fecha de entrega, no ocupa sesión.</a:t>
            </a:r>
            <a:endParaRPr lang="en-US" sz="12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ANTES DE EMPEZAR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Los tres paneles que van a aparecer</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Conviene reconocerlos de entrada, porque toda la sesión se apoya en leerlos.</a:t>
            </a:r>
            <a:endParaRPr lang="en-US" sz="1450" dirty="0"/>
          </a:p>
        </p:txBody>
      </p:sp>
      <p:sp>
        <p:nvSpPr>
          <p:cNvPr id="11" name="Shape 8"/>
          <p:cNvSpPr/>
          <p:nvPr/>
        </p:nvSpPr>
        <p:spPr>
          <a:xfrm>
            <a:off x="658368" y="2377440"/>
            <a:ext cx="3108960" cy="1188720"/>
          </a:xfrm>
          <a:prstGeom prst="roundRect">
            <a:avLst>
              <a:gd name="adj" fmla="val 3077"/>
            </a:avLst>
          </a:prstGeom>
          <a:solidFill>
            <a:srgbClr val="102A43"/>
          </a:solidFill>
          <a:ln w="12700">
            <a:solidFill>
              <a:srgbClr val="102A43"/>
            </a:solidFill>
            <a:prstDash val="solid"/>
          </a:ln>
        </p:spPr>
      </p:sp>
      <p:sp>
        <p:nvSpPr>
          <p:cNvPr id="12" name="Shape 9"/>
          <p:cNvSpPr/>
          <p:nvPr/>
        </p:nvSpPr>
        <p:spPr>
          <a:xfrm>
            <a:off x="786384" y="2487168"/>
            <a:ext cx="285292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60320"/>
            <a:ext cx="263347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Panel de código</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44368"/>
            <a:ext cx="2688336" cy="438912"/>
          </a:xfrm>
          <a:prstGeom prst="rect">
            <a:avLst/>
          </a:prstGeom>
        </p:spPr>
      </p:pic>
      <p:sp>
        <p:nvSpPr>
          <p:cNvPr id="15" name="Shape 11"/>
          <p:cNvSpPr/>
          <p:nvPr/>
        </p:nvSpPr>
        <p:spPr>
          <a:xfrm>
            <a:off x="3968496" y="2377440"/>
            <a:ext cx="3108960" cy="1188720"/>
          </a:xfrm>
          <a:prstGeom prst="roundRect">
            <a:avLst>
              <a:gd name="adj" fmla="val 3077"/>
            </a:avLst>
          </a:prstGeom>
          <a:solidFill>
            <a:srgbClr val="0F1720"/>
          </a:solidFill>
          <a:ln w="12700">
            <a:solidFill>
              <a:srgbClr val="0F1720"/>
            </a:solidFill>
            <a:prstDash val="solid"/>
          </a:ln>
        </p:spPr>
      </p:sp>
      <p:sp>
        <p:nvSpPr>
          <p:cNvPr id="16" name="Shape 12"/>
          <p:cNvSpPr/>
          <p:nvPr/>
        </p:nvSpPr>
        <p:spPr>
          <a:xfrm>
            <a:off x="4096512" y="2487168"/>
            <a:ext cx="2852928"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4224528" y="2560320"/>
            <a:ext cx="259689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Panel de terminal</a:t>
            </a:r>
            <a:endParaRPr lang="en-US" sz="1000" dirty="0"/>
          </a:p>
        </p:txBody>
      </p:sp>
      <p:sp>
        <p:nvSpPr>
          <p:cNvPr id="18" name="Text 14"/>
          <p:cNvSpPr/>
          <p:nvPr/>
        </p:nvSpPr>
        <p:spPr>
          <a:xfrm>
            <a:off x="4187952" y="2944368"/>
            <a:ext cx="329184" cy="164592"/>
          </a:xfrm>
          <a:prstGeom prst="rect">
            <a:avLst/>
          </a:prstGeom>
          <a:noFill/>
          <a:ln/>
        </p:spPr>
        <p:txBody>
          <a:bodyPr wrap="square" lIns="0" tIns="0" rIns="0" bIns="0" rtlCol="0" anchor="ctr"/>
          <a:lstStyle/>
          <a:p>
            <a:pPr indent="0" marL="0">
              <a:buNone/>
            </a:pPr>
            <a:r>
              <a:rPr lang="en-US" sz="980" b="1" dirty="0">
                <a:solidFill>
                  <a:srgbClr val="E0BC5A"/>
                </a:solidFill>
                <a:latin typeface="Consolas" pitchFamily="34" charset="0"/>
                <a:ea typeface="Consolas" pitchFamily="34" charset="-122"/>
                <a:cs typeface="Consolas" pitchFamily="34" charset="-120"/>
              </a:rPr>
              <a:t>&gt;</a:t>
            </a:r>
            <a:endParaRPr lang="en-US" sz="980" dirty="0"/>
          </a:p>
        </p:txBody>
      </p:sp>
      <p:sp>
        <p:nvSpPr>
          <p:cNvPr id="19" name="Text 15"/>
          <p:cNvSpPr/>
          <p:nvPr/>
        </p:nvSpPr>
        <p:spPr>
          <a:xfrm>
            <a:off x="4498848" y="2944368"/>
            <a:ext cx="23591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uv run pytest -q</a:t>
            </a:r>
            <a:endParaRPr lang="en-US" sz="980" dirty="0"/>
          </a:p>
        </p:txBody>
      </p:sp>
      <p:sp>
        <p:nvSpPr>
          <p:cNvPr id="20" name="Text 16"/>
          <p:cNvSpPr/>
          <p:nvPr/>
        </p:nvSpPr>
        <p:spPr>
          <a:xfrm>
            <a:off x="4187952" y="3200400"/>
            <a:ext cx="23591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12 passed in 0.04s</a:t>
            </a:r>
            <a:endParaRPr lang="en-US" sz="980" dirty="0"/>
          </a:p>
        </p:txBody>
      </p:sp>
      <p:sp>
        <p:nvSpPr>
          <p:cNvPr id="21" name="Shape 17"/>
          <p:cNvSpPr/>
          <p:nvPr/>
        </p:nvSpPr>
        <p:spPr>
          <a:xfrm>
            <a:off x="7936992" y="2377440"/>
            <a:ext cx="3593592" cy="1188720"/>
          </a:xfrm>
          <a:prstGeom prst="rect">
            <a:avLst/>
          </a:prstGeom>
          <a:solidFill>
            <a:srgbClr val="0F1720"/>
          </a:solidFill>
          <a:ln w="12700">
            <a:solidFill>
              <a:srgbClr val="0F1720"/>
            </a:solidFill>
            <a:prstDash val="solid"/>
          </a:ln>
        </p:spPr>
      </p:sp>
      <p:sp>
        <p:nvSpPr>
          <p:cNvPr id="22" name="Shape 18"/>
          <p:cNvSpPr/>
          <p:nvPr/>
        </p:nvSpPr>
        <p:spPr>
          <a:xfrm>
            <a:off x="7936992" y="2377440"/>
            <a:ext cx="3593592" cy="292608"/>
          </a:xfrm>
          <a:prstGeom prst="rect">
            <a:avLst/>
          </a:prstGeom>
          <a:solidFill>
            <a:srgbClr val="1D3A57"/>
          </a:solidFill>
          <a:ln w="12700">
            <a:solidFill>
              <a:srgbClr val="1D3A57"/>
            </a:solidFill>
            <a:prstDash val="solid"/>
          </a:ln>
        </p:spPr>
      </p:sp>
      <p:sp>
        <p:nvSpPr>
          <p:cNvPr id="23" name="Text 19"/>
          <p:cNvSpPr txBox="1"/>
          <p:nvPr/>
        </p:nvSpPr>
        <p:spPr>
          <a:xfrm>
            <a:off x="8138160" y="2423160"/>
            <a:ext cx="3191256" cy="201168"/>
          </a:xfrm>
          <a:prstGeom prst="rect">
            <a:avLst/>
          </a:prstGeom>
          <a:noFill/>
          <a:ln/>
        </p:spPr>
        <p:txBody>
          <a:bodyPr wrap="square" lIns="0" tIns="0" rIns="0" bIns="0" rtlCol="0" anchor="t"/>
          <a:lstStyle/>
          <a:p>
            <a:pPr algn="l" indent="0" marL="0">
              <a:buNone/>
            </a:pPr>
            <a:r>
              <a:rPr lang="en-US" sz="940" b="1" spc="60" kern="0" dirty="0">
                <a:solidFill>
                  <a:srgbClr val="EADFD0"/>
                </a:solidFill>
                <a:latin typeface="Aptos" pitchFamily="34" charset="0"/>
                <a:ea typeface="Aptos" pitchFamily="34" charset="-122"/>
                <a:cs typeface="Aptos" pitchFamily="34" charset="-120"/>
              </a:rPr>
              <a:t>Informe de cobertura</a:t>
            </a:r>
            <a:endParaRPr lang="en-US" sz="940" dirty="0"/>
          </a:p>
        </p:txBody>
      </p:sp>
      <p:sp>
        <p:nvSpPr>
          <p:cNvPr id="24" name="Text 20"/>
          <p:cNvSpPr txBox="1"/>
          <p:nvPr/>
        </p:nvSpPr>
        <p:spPr>
          <a:xfrm>
            <a:off x="8138160" y="2779776"/>
            <a:ext cx="1261872" cy="219456"/>
          </a:xfrm>
          <a:prstGeom prst="rect">
            <a:avLst/>
          </a:prstGeom>
          <a:noFill/>
          <a:ln/>
        </p:spPr>
        <p:txBody>
          <a:bodyPr wrap="square" lIns="0" tIns="0" rIns="0" bIns="0" rtlCol="0" anchor="t"/>
          <a:lstStyle/>
          <a:p>
            <a:pPr algn="l" indent="0" marL="0">
              <a:buNone/>
            </a:pPr>
            <a:r>
              <a:rPr lang="en-US" sz="980" b="1" dirty="0">
                <a:solidFill>
                  <a:srgbClr val="8AA0B6"/>
                </a:solidFill>
                <a:latin typeface="Consolas" pitchFamily="34" charset="0"/>
                <a:ea typeface="Consolas" pitchFamily="34" charset="-122"/>
                <a:cs typeface="Consolas" pitchFamily="34" charset="-120"/>
              </a:rPr>
              <a:t>Name</a:t>
            </a:r>
            <a:endParaRPr lang="en-US" sz="980" dirty="0"/>
          </a:p>
        </p:txBody>
      </p:sp>
      <p:sp>
        <p:nvSpPr>
          <p:cNvPr id="25" name="Text 21"/>
          <p:cNvSpPr txBox="1"/>
          <p:nvPr/>
        </p:nvSpPr>
        <p:spPr>
          <a:xfrm>
            <a:off x="9454896" y="2779776"/>
            <a:ext cx="493776" cy="219456"/>
          </a:xfrm>
          <a:prstGeom prst="rect">
            <a:avLst/>
          </a:prstGeom>
          <a:noFill/>
          <a:ln/>
        </p:spPr>
        <p:txBody>
          <a:bodyPr wrap="square" lIns="0" tIns="0" rIns="0" bIns="0" rtlCol="0" anchor="t"/>
          <a:lstStyle/>
          <a:p>
            <a:pPr algn="r" indent="0" marL="0">
              <a:buNone/>
            </a:pPr>
            <a:r>
              <a:rPr lang="en-US" sz="980" b="1" dirty="0">
                <a:solidFill>
                  <a:srgbClr val="8AA0B6"/>
                </a:solidFill>
                <a:latin typeface="Consolas" pitchFamily="34" charset="0"/>
                <a:ea typeface="Consolas" pitchFamily="34" charset="-122"/>
                <a:cs typeface="Consolas" pitchFamily="34" charset="-120"/>
              </a:rPr>
              <a:t>Stmts</a:t>
            </a:r>
            <a:endParaRPr lang="en-US" sz="980" dirty="0"/>
          </a:p>
        </p:txBody>
      </p:sp>
      <p:sp>
        <p:nvSpPr>
          <p:cNvPr id="26" name="Text 22"/>
          <p:cNvSpPr txBox="1"/>
          <p:nvPr/>
        </p:nvSpPr>
        <p:spPr>
          <a:xfrm>
            <a:off x="10204704" y="2779776"/>
            <a:ext cx="402336" cy="219456"/>
          </a:xfrm>
          <a:prstGeom prst="rect">
            <a:avLst/>
          </a:prstGeom>
          <a:noFill/>
          <a:ln/>
        </p:spPr>
        <p:txBody>
          <a:bodyPr wrap="square" lIns="0" tIns="0" rIns="0" bIns="0" rtlCol="0" anchor="t"/>
          <a:lstStyle/>
          <a:p>
            <a:pPr algn="r" indent="0" marL="0">
              <a:buNone/>
            </a:pPr>
            <a:r>
              <a:rPr lang="en-US" sz="980" b="1" dirty="0">
                <a:solidFill>
                  <a:srgbClr val="8AA0B6"/>
                </a:solidFill>
                <a:latin typeface="Consolas" pitchFamily="34" charset="0"/>
                <a:ea typeface="Consolas" pitchFamily="34" charset="-122"/>
                <a:cs typeface="Consolas" pitchFamily="34" charset="-120"/>
              </a:rPr>
              <a:t>Miss</a:t>
            </a:r>
            <a:endParaRPr lang="en-US" sz="980" dirty="0"/>
          </a:p>
        </p:txBody>
      </p:sp>
      <p:sp>
        <p:nvSpPr>
          <p:cNvPr id="27" name="Text 23"/>
          <p:cNvSpPr txBox="1"/>
          <p:nvPr/>
        </p:nvSpPr>
        <p:spPr>
          <a:xfrm>
            <a:off x="10863072" y="2779776"/>
            <a:ext cx="411480" cy="219456"/>
          </a:xfrm>
          <a:prstGeom prst="rect">
            <a:avLst/>
          </a:prstGeom>
          <a:noFill/>
          <a:ln/>
        </p:spPr>
        <p:txBody>
          <a:bodyPr wrap="square" lIns="0" tIns="0" rIns="0" bIns="0" rtlCol="0" anchor="t"/>
          <a:lstStyle/>
          <a:p>
            <a:pPr algn="r" indent="0" marL="0">
              <a:buNone/>
            </a:pPr>
            <a:r>
              <a:rPr lang="en-US" sz="980" b="1" dirty="0">
                <a:solidFill>
                  <a:srgbClr val="8AA0B6"/>
                </a:solidFill>
                <a:latin typeface="Consolas" pitchFamily="34" charset="0"/>
                <a:ea typeface="Consolas" pitchFamily="34" charset="-122"/>
                <a:cs typeface="Consolas" pitchFamily="34" charset="-120"/>
              </a:rPr>
              <a:t>Cover</a:t>
            </a:r>
            <a:endParaRPr lang="en-US" sz="980" dirty="0"/>
          </a:p>
        </p:txBody>
      </p:sp>
      <p:sp>
        <p:nvSpPr>
          <p:cNvPr id="28" name="Shape 24"/>
          <p:cNvSpPr/>
          <p:nvPr/>
        </p:nvSpPr>
        <p:spPr>
          <a:xfrm>
            <a:off x="8138160" y="3035808"/>
            <a:ext cx="3191256" cy="0"/>
          </a:xfrm>
          <a:prstGeom prst="line">
            <a:avLst/>
          </a:prstGeom>
          <a:noFill/>
          <a:ln w="12700">
            <a:solidFill>
              <a:srgbClr val="2C4A66"/>
            </a:solidFill>
            <a:prstDash val="solid"/>
            <a:headEnd type="none"/>
            <a:tailEnd type="none"/>
          </a:ln>
        </p:spPr>
      </p:sp>
      <p:sp>
        <p:nvSpPr>
          <p:cNvPr id="29" name="Text 25"/>
          <p:cNvSpPr txBox="1"/>
          <p:nvPr/>
        </p:nvSpPr>
        <p:spPr>
          <a:xfrm>
            <a:off x="8138160" y="3108960"/>
            <a:ext cx="1261872" cy="237744"/>
          </a:xfrm>
          <a:prstGeom prst="rect">
            <a:avLst/>
          </a:prstGeom>
          <a:noFill/>
          <a:ln/>
        </p:spPr>
        <p:txBody>
          <a:bodyPr wrap="square" lIns="0" tIns="0" rIns="0" bIns="0" rtlCol="0" anchor="t"/>
          <a:lstStyle/>
          <a:p>
            <a:pPr algn="l" indent="0" marL="0">
              <a:buNone/>
            </a:pPr>
            <a:r>
              <a:rPr lang="en-US" sz="980" dirty="0">
                <a:solidFill>
                  <a:srgbClr val="E6EEF7"/>
                </a:solidFill>
                <a:latin typeface="Consolas" pitchFamily="34" charset="0"/>
                <a:ea typeface="Consolas" pitchFamily="34" charset="-122"/>
                <a:cs typeface="Consolas" pitchFamily="34" charset="-120"/>
              </a:rPr>
              <a:t>reservas.py</a:t>
            </a:r>
            <a:endParaRPr lang="en-US" sz="980" dirty="0"/>
          </a:p>
        </p:txBody>
      </p:sp>
      <p:sp>
        <p:nvSpPr>
          <p:cNvPr id="30" name="Text 26"/>
          <p:cNvSpPr txBox="1"/>
          <p:nvPr/>
        </p:nvSpPr>
        <p:spPr>
          <a:xfrm>
            <a:off x="9454896" y="3108960"/>
            <a:ext cx="493776" cy="237744"/>
          </a:xfrm>
          <a:prstGeom prst="rect">
            <a:avLst/>
          </a:prstGeom>
          <a:noFill/>
          <a:ln/>
        </p:spPr>
        <p:txBody>
          <a:bodyPr wrap="square" lIns="0" tIns="0" rIns="0" bIns="0" rtlCol="0" anchor="t"/>
          <a:lstStyle/>
          <a:p>
            <a:pPr algn="r" indent="0" marL="0">
              <a:buNone/>
            </a:pPr>
            <a:r>
              <a:rPr lang="en-US" sz="980" dirty="0">
                <a:solidFill>
                  <a:srgbClr val="E6EEF7"/>
                </a:solidFill>
                <a:latin typeface="Consolas" pitchFamily="34" charset="0"/>
                <a:ea typeface="Consolas" pitchFamily="34" charset="-122"/>
                <a:cs typeface="Consolas" pitchFamily="34" charset="-120"/>
              </a:rPr>
              <a:t>17</a:t>
            </a:r>
            <a:endParaRPr lang="en-US" sz="980" dirty="0"/>
          </a:p>
        </p:txBody>
      </p:sp>
      <p:sp>
        <p:nvSpPr>
          <p:cNvPr id="31" name="Text 27"/>
          <p:cNvSpPr txBox="1"/>
          <p:nvPr/>
        </p:nvSpPr>
        <p:spPr>
          <a:xfrm>
            <a:off x="10204704" y="3108960"/>
            <a:ext cx="402336" cy="237744"/>
          </a:xfrm>
          <a:prstGeom prst="rect">
            <a:avLst/>
          </a:prstGeom>
          <a:noFill/>
          <a:ln/>
        </p:spPr>
        <p:txBody>
          <a:bodyPr wrap="square" lIns="0" tIns="0" rIns="0" bIns="0" rtlCol="0" anchor="t"/>
          <a:lstStyle/>
          <a:p>
            <a:pPr algn="r" indent="0" marL="0">
              <a:buNone/>
            </a:pPr>
            <a:r>
              <a:rPr lang="en-US" sz="980" dirty="0">
                <a:solidFill>
                  <a:srgbClr val="E6EEF7"/>
                </a:solidFill>
                <a:latin typeface="Consolas" pitchFamily="34" charset="0"/>
                <a:ea typeface="Consolas" pitchFamily="34" charset="-122"/>
                <a:cs typeface="Consolas" pitchFamily="34" charset="-120"/>
              </a:rPr>
              <a:t>2</a:t>
            </a:r>
            <a:endParaRPr lang="en-US" sz="980" dirty="0"/>
          </a:p>
        </p:txBody>
      </p:sp>
      <p:sp>
        <p:nvSpPr>
          <p:cNvPr id="32" name="Text 28"/>
          <p:cNvSpPr txBox="1"/>
          <p:nvPr/>
        </p:nvSpPr>
        <p:spPr>
          <a:xfrm>
            <a:off x="10863072" y="3108960"/>
            <a:ext cx="411480" cy="237744"/>
          </a:xfrm>
          <a:prstGeom prst="rect">
            <a:avLst/>
          </a:prstGeom>
          <a:noFill/>
          <a:ln/>
        </p:spPr>
        <p:txBody>
          <a:bodyPr wrap="square" lIns="0" tIns="0" rIns="0" bIns="0" rtlCol="0" anchor="t"/>
          <a:lstStyle/>
          <a:p>
            <a:pPr algn="r" indent="0" marL="0">
              <a:buNone/>
            </a:pPr>
            <a:r>
              <a:rPr lang="en-US" sz="980" dirty="0">
                <a:solidFill>
                  <a:srgbClr val="E6EEF7"/>
                </a:solidFill>
                <a:latin typeface="Consolas" pitchFamily="34" charset="0"/>
                <a:ea typeface="Consolas" pitchFamily="34" charset="-122"/>
                <a:cs typeface="Consolas" pitchFamily="34" charset="-120"/>
              </a:rPr>
              <a:t>88%</a:t>
            </a:r>
            <a:endParaRPr lang="en-US" sz="980" dirty="0"/>
          </a:p>
        </p:txBody>
      </p:sp>
      <p:sp>
        <p:nvSpPr>
          <p:cNvPr id="33" name="Shape 29"/>
          <p:cNvSpPr/>
          <p:nvPr/>
        </p:nvSpPr>
        <p:spPr>
          <a:xfrm>
            <a:off x="658368" y="3803904"/>
            <a:ext cx="3108960" cy="822960"/>
          </a:xfrm>
          <a:prstGeom prst="rect">
            <a:avLst/>
          </a:prstGeom>
          <a:solidFill>
            <a:srgbClr val="FFFFFF"/>
          </a:solidFill>
          <a:ln w="12700">
            <a:solidFill>
              <a:srgbClr val="FFFFFF"/>
            </a:solidFill>
            <a:prstDash val="solid"/>
          </a:ln>
        </p:spPr>
      </p:sp>
      <p:sp>
        <p:nvSpPr>
          <p:cNvPr id="34" name="Shape 30"/>
          <p:cNvSpPr/>
          <p:nvPr/>
        </p:nvSpPr>
        <p:spPr>
          <a:xfrm>
            <a:off x="658368" y="3803904"/>
            <a:ext cx="54864" cy="822960"/>
          </a:xfrm>
          <a:prstGeom prst="rect">
            <a:avLst/>
          </a:prstGeom>
          <a:solidFill>
            <a:srgbClr val="102A43"/>
          </a:solidFill>
          <a:ln w="12700">
            <a:solidFill>
              <a:srgbClr val="102A43"/>
            </a:solidFill>
            <a:prstDash val="solid"/>
          </a:ln>
        </p:spPr>
      </p:sp>
      <p:sp>
        <p:nvSpPr>
          <p:cNvPr id="35" name="Text 31"/>
          <p:cNvSpPr txBox="1"/>
          <p:nvPr/>
        </p:nvSpPr>
        <p:spPr>
          <a:xfrm>
            <a:off x="877824" y="3895344"/>
            <a:ext cx="2706624" cy="219456"/>
          </a:xfrm>
          <a:prstGeom prst="rect">
            <a:avLst/>
          </a:prstGeom>
          <a:noFill/>
          <a:ln/>
        </p:spPr>
        <p:txBody>
          <a:bodyPr wrap="square" lIns="0" tIns="0" rIns="0" bIns="0" rtlCol="0" anchor="t"/>
          <a:lstStyle/>
          <a:p>
            <a:pPr algn="l" indent="0" marL="0">
              <a:buNone/>
            </a:pPr>
            <a:r>
              <a:rPr lang="en-US" sz="1200" b="1" dirty="0">
                <a:solidFill>
                  <a:srgbClr val="102A43"/>
                </a:solidFill>
                <a:latin typeface="Aptos" pitchFamily="34" charset="0"/>
                <a:ea typeface="Aptos" pitchFamily="34" charset="-122"/>
                <a:cs typeface="Aptos" pitchFamily="34" charset="-120"/>
              </a:rPr>
              <a:t>Panel de código</a:t>
            </a:r>
            <a:endParaRPr lang="en-US" sz="1200" dirty="0"/>
          </a:p>
        </p:txBody>
      </p:sp>
      <p:sp>
        <p:nvSpPr>
          <p:cNvPr id="36" name="Text 32"/>
          <p:cNvSpPr txBox="1"/>
          <p:nvPr/>
        </p:nvSpPr>
        <p:spPr>
          <a:xfrm>
            <a:off x="877824" y="4133088"/>
            <a:ext cx="2706624" cy="420624"/>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Lo que está escrito en el proyecto. Se lee antes de ejecutar nada.</a:t>
            </a:r>
            <a:endParaRPr lang="en-US" sz="1100" dirty="0"/>
          </a:p>
        </p:txBody>
      </p:sp>
      <p:sp>
        <p:nvSpPr>
          <p:cNvPr id="37" name="Shape 33"/>
          <p:cNvSpPr/>
          <p:nvPr/>
        </p:nvSpPr>
        <p:spPr>
          <a:xfrm>
            <a:off x="3968496" y="3803904"/>
            <a:ext cx="3108960" cy="822960"/>
          </a:xfrm>
          <a:prstGeom prst="rect">
            <a:avLst/>
          </a:prstGeom>
          <a:solidFill>
            <a:srgbClr val="FFFFFF"/>
          </a:solidFill>
          <a:ln w="12700">
            <a:solidFill>
              <a:srgbClr val="FFFFFF"/>
            </a:solidFill>
            <a:prstDash val="solid"/>
          </a:ln>
        </p:spPr>
      </p:sp>
      <p:sp>
        <p:nvSpPr>
          <p:cNvPr id="38" name="Shape 34"/>
          <p:cNvSpPr/>
          <p:nvPr/>
        </p:nvSpPr>
        <p:spPr>
          <a:xfrm>
            <a:off x="3968496" y="3803904"/>
            <a:ext cx="54864" cy="822960"/>
          </a:xfrm>
          <a:prstGeom prst="rect">
            <a:avLst/>
          </a:prstGeom>
          <a:solidFill>
            <a:srgbClr val="2E7D4F"/>
          </a:solidFill>
          <a:ln w="12700">
            <a:solidFill>
              <a:srgbClr val="2E7D4F"/>
            </a:solidFill>
            <a:prstDash val="solid"/>
          </a:ln>
        </p:spPr>
      </p:sp>
      <p:sp>
        <p:nvSpPr>
          <p:cNvPr id="39" name="Text 35"/>
          <p:cNvSpPr txBox="1"/>
          <p:nvPr/>
        </p:nvSpPr>
        <p:spPr>
          <a:xfrm>
            <a:off x="4187952" y="3895344"/>
            <a:ext cx="2706624" cy="219456"/>
          </a:xfrm>
          <a:prstGeom prst="rect">
            <a:avLst/>
          </a:prstGeom>
          <a:noFill/>
          <a:ln/>
        </p:spPr>
        <p:txBody>
          <a:bodyPr wrap="square" lIns="0" tIns="0" rIns="0" bIns="0" rtlCol="0" anchor="t"/>
          <a:lstStyle/>
          <a:p>
            <a:pPr algn="l" indent="0" marL="0">
              <a:buNone/>
            </a:pPr>
            <a:r>
              <a:rPr lang="en-US" sz="1200" b="1" dirty="0">
                <a:solidFill>
                  <a:srgbClr val="2E7D4F"/>
                </a:solidFill>
                <a:latin typeface="Aptos" pitchFamily="34" charset="0"/>
                <a:ea typeface="Aptos" pitchFamily="34" charset="-122"/>
                <a:cs typeface="Aptos" pitchFamily="34" charset="-120"/>
              </a:rPr>
              <a:t>Panel de terminal</a:t>
            </a:r>
            <a:endParaRPr lang="en-US" sz="1200" dirty="0"/>
          </a:p>
        </p:txBody>
      </p:sp>
      <p:sp>
        <p:nvSpPr>
          <p:cNvPr id="40" name="Text 36"/>
          <p:cNvSpPr txBox="1"/>
          <p:nvPr/>
        </p:nvSpPr>
        <p:spPr>
          <a:xfrm>
            <a:off x="4187952" y="4133088"/>
            <a:ext cx="2706624" cy="420624"/>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Lo que la máquina contestó. Siempre es salida literal, nunca inventada.</a:t>
            </a:r>
            <a:endParaRPr lang="en-US" sz="1100" dirty="0"/>
          </a:p>
        </p:txBody>
      </p:sp>
      <p:sp>
        <p:nvSpPr>
          <p:cNvPr id="41" name="Shape 37"/>
          <p:cNvSpPr/>
          <p:nvPr/>
        </p:nvSpPr>
        <p:spPr>
          <a:xfrm>
            <a:off x="7936992" y="3803904"/>
            <a:ext cx="3593592" cy="822960"/>
          </a:xfrm>
          <a:prstGeom prst="rect">
            <a:avLst/>
          </a:prstGeom>
          <a:solidFill>
            <a:srgbClr val="FFFFFF"/>
          </a:solidFill>
          <a:ln w="12700">
            <a:solidFill>
              <a:srgbClr val="FFFFFF"/>
            </a:solidFill>
            <a:prstDash val="solid"/>
          </a:ln>
        </p:spPr>
      </p:sp>
      <p:sp>
        <p:nvSpPr>
          <p:cNvPr id="42" name="Shape 38"/>
          <p:cNvSpPr/>
          <p:nvPr/>
        </p:nvSpPr>
        <p:spPr>
          <a:xfrm>
            <a:off x="7936992" y="3803904"/>
            <a:ext cx="54864" cy="822960"/>
          </a:xfrm>
          <a:prstGeom prst="rect">
            <a:avLst/>
          </a:prstGeom>
          <a:solidFill>
            <a:srgbClr val="8A6A12"/>
          </a:solidFill>
          <a:ln w="12700">
            <a:solidFill>
              <a:srgbClr val="8A6A12"/>
            </a:solidFill>
            <a:prstDash val="solid"/>
          </a:ln>
        </p:spPr>
      </p:sp>
      <p:sp>
        <p:nvSpPr>
          <p:cNvPr id="43" name="Text 39"/>
          <p:cNvSpPr txBox="1"/>
          <p:nvPr/>
        </p:nvSpPr>
        <p:spPr>
          <a:xfrm>
            <a:off x="8156448" y="3895344"/>
            <a:ext cx="3191256" cy="219456"/>
          </a:xfrm>
          <a:prstGeom prst="rect">
            <a:avLst/>
          </a:prstGeom>
          <a:noFill/>
          <a:ln/>
        </p:spPr>
        <p:txBody>
          <a:bodyPr wrap="square" lIns="0" tIns="0" rIns="0" bIns="0" rtlCol="0" anchor="t"/>
          <a:lstStyle/>
          <a:p>
            <a:pPr algn="l" indent="0" marL="0">
              <a:buNone/>
            </a:pPr>
            <a:r>
              <a:rPr lang="en-US" sz="1200" b="1" dirty="0">
                <a:solidFill>
                  <a:srgbClr val="8A6A12"/>
                </a:solidFill>
                <a:latin typeface="Aptos" pitchFamily="34" charset="0"/>
                <a:ea typeface="Aptos" pitchFamily="34" charset="-122"/>
                <a:cs typeface="Aptos" pitchFamily="34" charset="-120"/>
              </a:rPr>
              <a:t>Informe de cobertura</a:t>
            </a:r>
            <a:endParaRPr lang="en-US" sz="1200" dirty="0"/>
          </a:p>
        </p:txBody>
      </p:sp>
      <p:sp>
        <p:nvSpPr>
          <p:cNvPr id="44" name="Text 40"/>
          <p:cNvSpPr txBox="1"/>
          <p:nvPr/>
        </p:nvSpPr>
        <p:spPr>
          <a:xfrm>
            <a:off x="8156448" y="4133088"/>
            <a:ext cx="3191256" cy="420624"/>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Lo que se ejecutó mientras las pruebas corrían. Es nuevo en esta sesión.</a:t>
            </a:r>
            <a:endParaRPr lang="en-US" sz="1100" dirty="0"/>
          </a:p>
        </p:txBody>
      </p:sp>
      <p:sp>
        <p:nvSpPr>
          <p:cNvPr id="45" name="Shape 41"/>
          <p:cNvSpPr/>
          <p:nvPr/>
        </p:nvSpPr>
        <p:spPr>
          <a:xfrm>
            <a:off x="658368" y="4846320"/>
            <a:ext cx="1371600" cy="274320"/>
          </a:xfrm>
          <a:prstGeom prst="rect">
            <a:avLst/>
          </a:prstGeom>
          <a:solidFill>
            <a:srgbClr val="102A43"/>
          </a:solidFill>
          <a:ln w="12700">
            <a:solidFill>
              <a:srgbClr val="102A43"/>
            </a:solidFill>
            <a:prstDash val="solid"/>
          </a:ln>
        </p:spPr>
      </p:sp>
      <p:sp>
        <p:nvSpPr>
          <p:cNvPr id="46" name="Text 42"/>
          <p:cNvSpPr txBox="1"/>
          <p:nvPr/>
        </p:nvSpPr>
        <p:spPr>
          <a:xfrm>
            <a:off x="658368" y="4855464"/>
            <a:ext cx="1371600"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Leer</a:t>
            </a:r>
            <a:endParaRPr lang="en-US" sz="940" dirty="0"/>
          </a:p>
        </p:txBody>
      </p:sp>
      <p:sp>
        <p:nvSpPr>
          <p:cNvPr id="47" name="Shape 43"/>
          <p:cNvSpPr/>
          <p:nvPr/>
        </p:nvSpPr>
        <p:spPr>
          <a:xfrm>
            <a:off x="2121408" y="4846320"/>
            <a:ext cx="1371600" cy="274320"/>
          </a:xfrm>
          <a:prstGeom prst="rect">
            <a:avLst/>
          </a:prstGeom>
          <a:solidFill>
            <a:srgbClr val="EDE6DA"/>
          </a:solidFill>
          <a:ln w="12700">
            <a:solidFill>
              <a:srgbClr val="EDE6DA"/>
            </a:solidFill>
            <a:prstDash val="solid"/>
          </a:ln>
        </p:spPr>
      </p:sp>
      <p:sp>
        <p:nvSpPr>
          <p:cNvPr id="48" name="Text 44"/>
          <p:cNvSpPr txBox="1"/>
          <p:nvPr/>
        </p:nvSpPr>
        <p:spPr>
          <a:xfrm>
            <a:off x="2121408" y="4855464"/>
            <a:ext cx="1371600"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49" name="Shape 45"/>
          <p:cNvSpPr/>
          <p:nvPr/>
        </p:nvSpPr>
        <p:spPr>
          <a:xfrm>
            <a:off x="3584448" y="4846320"/>
            <a:ext cx="1371600" cy="274320"/>
          </a:xfrm>
          <a:prstGeom prst="rect">
            <a:avLst/>
          </a:prstGeom>
          <a:solidFill>
            <a:srgbClr val="EDE6DA"/>
          </a:solidFill>
          <a:ln w="12700">
            <a:solidFill>
              <a:srgbClr val="EDE6DA"/>
            </a:solidFill>
            <a:prstDash val="solid"/>
          </a:ln>
        </p:spPr>
      </p:sp>
      <p:sp>
        <p:nvSpPr>
          <p:cNvPr id="50" name="Text 46"/>
          <p:cNvSpPr txBox="1"/>
          <p:nvPr/>
        </p:nvSpPr>
        <p:spPr>
          <a:xfrm>
            <a:off x="3584448" y="4855464"/>
            <a:ext cx="1371600"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51" name="Text 47"/>
          <p:cNvSpPr txBox="1"/>
          <p:nvPr/>
        </p:nvSpPr>
        <p:spPr>
          <a:xfrm>
            <a:off x="5230368" y="4846320"/>
            <a:ext cx="6302959" cy="274320"/>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El orden de trabajo con cualquier panel de código: leerlo, anticipar qué va a pasar, y recién entonces ejecutar.</a:t>
            </a:r>
            <a:endParaRPr lang="en-US" sz="1240" dirty="0"/>
          </a:p>
        </p:txBody>
      </p:sp>
      <p:sp>
        <p:nvSpPr>
          <p:cNvPr id="52" name="Shape 48"/>
          <p:cNvSpPr/>
          <p:nvPr/>
        </p:nvSpPr>
        <p:spPr>
          <a:xfrm>
            <a:off x="658368" y="5376672"/>
            <a:ext cx="10874959" cy="530352"/>
          </a:xfrm>
          <a:prstGeom prst="rect">
            <a:avLst/>
          </a:prstGeom>
          <a:solidFill>
            <a:srgbClr val="102A43"/>
          </a:solidFill>
          <a:ln w="12700">
            <a:solidFill>
              <a:srgbClr val="102A43"/>
            </a:solidFill>
            <a:prstDash val="solid"/>
          </a:ln>
        </p:spPr>
      </p:sp>
      <p:sp>
        <p:nvSpPr>
          <p:cNvPr id="53" name="Text 49"/>
          <p:cNvSpPr txBox="1"/>
          <p:nvPr/>
        </p:nvSpPr>
        <p:spPr>
          <a:xfrm>
            <a:off x="969264" y="5413248"/>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Ninguna cifra de este deck es de memoria: todas salieron de ejecutar el proyecto con Python 3.12.12 y pytest 9.1.1.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1 DE 4</a:t>
            </a:r>
            <a:endParaRPr lang="en-US" sz="960" dirty="0"/>
          </a:p>
        </p:txBody>
      </p:sp>
      <p:sp>
        <p:nvSpPr>
          <p:cNvPr id="9" name="Text 6"/>
          <p:cNvSpPr txBox="1"/>
          <p:nvPr/>
        </p:nvSpPr>
        <p:spPr>
          <a:xfrm>
            <a:off x="658368" y="1920240"/>
            <a:ext cx="9692640" cy="1133856"/>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Dos preguntas sobre</a:t>
            </a:r>
            <a:endParaRPr lang="en-US" sz="4000" dirty="0"/>
          </a:p>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la misma prueba</a:t>
            </a:r>
            <a:endParaRPr lang="en-US" sz="4000" dirty="0"/>
          </a:p>
        </p:txBody>
      </p:sp>
      <p:sp>
        <p:nvSpPr>
          <p:cNvPr id="10" name="Shape 7"/>
          <p:cNvSpPr/>
          <p:nvPr/>
        </p:nvSpPr>
        <p:spPr>
          <a:xfrm>
            <a:off x="658368" y="321868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47472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Una prueba se puede mirar por lo que comprueba o por lo que recorre. No son la misma pregunta, y hasta hoy solo se trabajó la primera.</a:t>
            </a:r>
            <a:endParaRPr lang="en-US" sz="1700" dirty="0"/>
          </a:p>
        </p:txBody>
      </p:sp>
      <p:sp>
        <p:nvSpPr>
          <p:cNvPr id="12" name="Text 9"/>
          <p:cNvSpPr txBox="1"/>
          <p:nvPr/>
        </p:nvSpPr>
        <p:spPr>
          <a:xfrm>
            <a:off x="658368" y="4846320"/>
            <a:ext cx="54864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QUÉ PREGUNTA INTERROGA ESTE BLOQUE</a:t>
            </a:r>
            <a:endParaRPr lang="en-US" sz="960" dirty="0"/>
          </a:p>
        </p:txBody>
      </p:sp>
      <p:sp>
        <p:nvSpPr>
          <p:cNvPr id="13" name="Shape 10"/>
          <p:cNvSpPr/>
          <p:nvPr/>
        </p:nvSpPr>
        <p:spPr>
          <a:xfrm>
            <a:off x="658368" y="5120640"/>
            <a:ext cx="3493008" cy="566928"/>
          </a:xfrm>
          <a:prstGeom prst="rect">
            <a:avLst/>
          </a:prstGeom>
          <a:solidFill>
            <a:srgbClr val="1D3A57"/>
          </a:solidFill>
          <a:ln w="12700">
            <a:solidFill>
              <a:srgbClr val="1D3A57"/>
            </a:solidFill>
            <a:prstDash val="solid"/>
          </a:ln>
        </p:spPr>
      </p:sp>
      <p:sp>
        <p:nvSpPr>
          <p:cNvPr id="14" name="Text 11"/>
          <p:cNvSpPr txBox="1"/>
          <p:nvPr/>
        </p:nvSpPr>
        <p:spPr>
          <a:xfrm>
            <a:off x="841248" y="5184648"/>
            <a:ext cx="3127248" cy="237744"/>
          </a:xfrm>
          <a:prstGeom prst="rect">
            <a:avLst/>
          </a:prstGeom>
          <a:noFill/>
          <a:ln/>
        </p:spPr>
        <p:txBody>
          <a:bodyPr wrap="square" lIns="0" tIns="0" rIns="0" bIns="0" rtlCol="0" anchor="t"/>
          <a:lstStyle/>
          <a:p>
            <a:pPr algn="l" indent="0" marL="0">
              <a:buNone/>
            </a:pPr>
            <a:r>
              <a:rPr lang="en-US" sz="1160" b="1" dirty="0">
                <a:solidFill>
                  <a:srgbClr val="EADFD0"/>
                </a:solidFill>
                <a:latin typeface="Aptos" pitchFamily="34" charset="0"/>
                <a:ea typeface="Aptos" pitchFamily="34" charset="-122"/>
                <a:cs typeface="Aptos" pitchFamily="34" charset="-120"/>
              </a:rPr>
              <a:t>¿Qué recorrió?</a:t>
            </a:r>
            <a:endParaRPr lang="en-US" sz="1160" dirty="0"/>
          </a:p>
        </p:txBody>
      </p:sp>
      <p:sp>
        <p:nvSpPr>
          <p:cNvPr id="15" name="Text 12"/>
          <p:cNvSpPr txBox="1"/>
          <p:nvPr/>
        </p:nvSpPr>
        <p:spPr>
          <a:xfrm>
            <a:off x="841248" y="5431536"/>
            <a:ext cx="3127248" cy="201168"/>
          </a:xfrm>
          <a:prstGeom prst="rect">
            <a:avLst/>
          </a:prstGeom>
          <a:noFill/>
          <a:ln/>
        </p:spPr>
        <p:txBody>
          <a:bodyPr wrap="square" lIns="0" tIns="0" rIns="0" bIns="0" rtlCol="0" anchor="t"/>
          <a:lstStyle/>
          <a:p>
            <a:pPr algn="l" indent="0" marL="0">
              <a:buNone/>
            </a:pPr>
            <a:r>
              <a:rPr lang="en-US" sz="980" dirty="0">
                <a:solidFill>
                  <a:srgbClr val="8AA0B6"/>
                </a:solidFill>
                <a:latin typeface="Aptos" pitchFamily="34" charset="0"/>
                <a:ea typeface="Aptos" pitchFamily="34" charset="-122"/>
                <a:cs typeface="Aptos" pitchFamily="34" charset="-120"/>
              </a:rPr>
              <a:t>La cobertura lo mide</a:t>
            </a:r>
            <a:endParaRPr lang="en-US" sz="980" dirty="0"/>
          </a:p>
        </p:txBody>
      </p:sp>
      <p:sp>
        <p:nvSpPr>
          <p:cNvPr id="16" name="Shape 13"/>
          <p:cNvSpPr/>
          <p:nvPr/>
        </p:nvSpPr>
        <p:spPr>
          <a:xfrm>
            <a:off x="4206240" y="5404104"/>
            <a:ext cx="219456" cy="0"/>
          </a:xfrm>
          <a:prstGeom prst="line">
            <a:avLst/>
          </a:prstGeom>
          <a:noFill/>
          <a:ln w="12700">
            <a:solidFill>
              <a:srgbClr val="EADFD0"/>
            </a:solidFill>
            <a:prstDash val="solid"/>
            <a:headEnd type="none"/>
            <a:tailEnd type="triangle"/>
          </a:ln>
        </p:spPr>
      </p:sp>
      <p:sp>
        <p:nvSpPr>
          <p:cNvPr id="17" name="Shape 14"/>
          <p:cNvSpPr/>
          <p:nvPr/>
        </p:nvSpPr>
        <p:spPr>
          <a:xfrm>
            <a:off x="4480560" y="5120640"/>
            <a:ext cx="3493008" cy="566928"/>
          </a:xfrm>
          <a:prstGeom prst="rect">
            <a:avLst/>
          </a:prstGeom>
          <a:solidFill>
            <a:srgbClr val="1D3A57"/>
          </a:solidFill>
          <a:ln w="12700">
            <a:solidFill>
              <a:srgbClr val="1D3A57"/>
            </a:solidFill>
            <a:prstDash val="solid"/>
          </a:ln>
        </p:spPr>
      </p:sp>
      <p:sp>
        <p:nvSpPr>
          <p:cNvPr id="18" name="Text 15"/>
          <p:cNvSpPr txBox="1"/>
          <p:nvPr/>
        </p:nvSpPr>
        <p:spPr>
          <a:xfrm>
            <a:off x="4663440" y="5184648"/>
            <a:ext cx="3127248" cy="237744"/>
          </a:xfrm>
          <a:prstGeom prst="rect">
            <a:avLst/>
          </a:prstGeom>
          <a:noFill/>
          <a:ln/>
        </p:spPr>
        <p:txBody>
          <a:bodyPr wrap="square" lIns="0" tIns="0" rIns="0" bIns="0" rtlCol="0" anchor="t"/>
          <a:lstStyle/>
          <a:p>
            <a:pPr algn="l" indent="0" marL="0">
              <a:buNone/>
            </a:pPr>
            <a:r>
              <a:rPr lang="en-US" sz="1160" b="1" dirty="0">
                <a:solidFill>
                  <a:srgbClr val="EADFD0"/>
                </a:solidFill>
                <a:latin typeface="Aptos" pitchFamily="34" charset="0"/>
                <a:ea typeface="Aptos" pitchFamily="34" charset="-122"/>
                <a:cs typeface="Aptos" pitchFamily="34" charset="-120"/>
              </a:rPr>
              <a:t>¿Qué comprobó?</a:t>
            </a:r>
            <a:endParaRPr lang="en-US" sz="1160" dirty="0"/>
          </a:p>
        </p:txBody>
      </p:sp>
      <p:sp>
        <p:nvSpPr>
          <p:cNvPr id="19" name="Text 16"/>
          <p:cNvSpPr txBox="1"/>
          <p:nvPr/>
        </p:nvSpPr>
        <p:spPr>
          <a:xfrm>
            <a:off x="4663440" y="5431536"/>
            <a:ext cx="3127248" cy="201168"/>
          </a:xfrm>
          <a:prstGeom prst="rect">
            <a:avLst/>
          </a:prstGeom>
          <a:noFill/>
          <a:ln/>
        </p:spPr>
        <p:txBody>
          <a:bodyPr wrap="square" lIns="0" tIns="0" rIns="0" bIns="0" rtlCol="0" anchor="t"/>
          <a:lstStyle/>
          <a:p>
            <a:pPr algn="l" indent="0" marL="0">
              <a:buNone/>
            </a:pPr>
            <a:r>
              <a:rPr lang="en-US" sz="980" dirty="0">
                <a:solidFill>
                  <a:srgbClr val="8AA0B6"/>
                </a:solidFill>
                <a:latin typeface="Aptos" pitchFamily="34" charset="0"/>
                <a:ea typeface="Aptos" pitchFamily="34" charset="-122"/>
                <a:cs typeface="Aptos" pitchFamily="34" charset="-120"/>
              </a:rPr>
              <a:t>Solo la aserción lo dice</a:t>
            </a:r>
            <a:endParaRPr lang="en-US" sz="980" dirty="0"/>
          </a:p>
        </p:txBody>
      </p:sp>
      <p:sp>
        <p:nvSpPr>
          <p:cNvPr id="20" name="Shape 17"/>
          <p:cNvSpPr/>
          <p:nvPr/>
        </p:nvSpPr>
        <p:spPr>
          <a:xfrm>
            <a:off x="8028432" y="5404104"/>
            <a:ext cx="219456" cy="0"/>
          </a:xfrm>
          <a:prstGeom prst="line">
            <a:avLst/>
          </a:prstGeom>
          <a:noFill/>
          <a:ln w="12700">
            <a:solidFill>
              <a:srgbClr val="EADFD0"/>
            </a:solidFill>
            <a:prstDash val="solid"/>
            <a:headEnd type="none"/>
            <a:tailEnd type="triangle"/>
          </a:ln>
        </p:spPr>
      </p:sp>
      <p:sp>
        <p:nvSpPr>
          <p:cNvPr id="21" name="Shape 18"/>
          <p:cNvSpPr/>
          <p:nvPr/>
        </p:nvSpPr>
        <p:spPr>
          <a:xfrm>
            <a:off x="8302752" y="5120640"/>
            <a:ext cx="3493008" cy="566928"/>
          </a:xfrm>
          <a:prstGeom prst="rect">
            <a:avLst/>
          </a:prstGeom>
          <a:solidFill>
            <a:srgbClr val="E0BC5A"/>
          </a:solidFill>
          <a:ln w="12700">
            <a:solidFill>
              <a:srgbClr val="E0BC5A"/>
            </a:solidFill>
            <a:prstDash val="solid"/>
          </a:ln>
        </p:spPr>
      </p:sp>
      <p:sp>
        <p:nvSpPr>
          <p:cNvPr id="22" name="Text 19"/>
          <p:cNvSpPr txBox="1"/>
          <p:nvPr/>
        </p:nvSpPr>
        <p:spPr>
          <a:xfrm>
            <a:off x="8485632" y="5184648"/>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¿Contra qué?</a:t>
            </a:r>
            <a:endParaRPr lang="en-US" sz="1300" dirty="0"/>
          </a:p>
        </p:txBody>
      </p:sp>
      <p:sp>
        <p:nvSpPr>
          <p:cNvPr id="23" name="Text 20"/>
          <p:cNvSpPr txBox="1"/>
          <p:nvPr/>
        </p:nvSpPr>
        <p:spPr>
          <a:xfrm>
            <a:off x="8485632" y="5431536"/>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El requisito, o un supuesto</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1 · EL PUNTO DE PARTIDA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La frase que quedó sin responder</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Dijkstra, después de calcular que probar un multiplicador de 27 bits por fuerza bruta tomaría diez mil años:</a:t>
            </a:r>
            <a:endParaRPr lang="en-US" sz="1450" dirty="0"/>
          </a:p>
        </p:txBody>
      </p:sp>
      <p:sp>
        <p:nvSpPr>
          <p:cNvPr id="11" name="Shape 8"/>
          <p:cNvSpPr/>
          <p:nvPr/>
        </p:nvSpPr>
        <p:spPr>
          <a:xfrm>
            <a:off x="658368" y="2395728"/>
            <a:ext cx="10874959" cy="877824"/>
          </a:xfrm>
          <a:prstGeom prst="rect">
            <a:avLst/>
          </a:prstGeom>
          <a:solidFill>
            <a:srgbClr val="1D3A57"/>
          </a:solidFill>
          <a:ln w="12700">
            <a:solidFill>
              <a:srgbClr val="1D3A57"/>
            </a:solidFill>
            <a:prstDash val="solid"/>
          </a:ln>
        </p:spPr>
      </p:sp>
      <p:sp>
        <p:nvSpPr>
          <p:cNvPr id="12" name="Shape 9"/>
          <p:cNvSpPr/>
          <p:nvPr/>
        </p:nvSpPr>
        <p:spPr>
          <a:xfrm>
            <a:off x="658368" y="2395728"/>
            <a:ext cx="64008" cy="877824"/>
          </a:xfrm>
          <a:prstGeom prst="rect">
            <a:avLst/>
          </a:prstGeom>
          <a:solidFill>
            <a:srgbClr val="E0BC5A"/>
          </a:solidFill>
          <a:ln w="12700">
            <a:solidFill>
              <a:srgbClr val="E0BC5A"/>
            </a:solidFill>
            <a:prstDash val="solid"/>
          </a:ln>
        </p:spPr>
      </p:sp>
      <p:sp>
        <p:nvSpPr>
          <p:cNvPr id="13" name="Text 10"/>
          <p:cNvSpPr txBox="1"/>
          <p:nvPr/>
        </p:nvSpPr>
        <p:spPr>
          <a:xfrm>
            <a:off x="969264" y="2505456"/>
            <a:ext cx="10308031" cy="658368"/>
          </a:xfrm>
          <a:prstGeom prst="rect">
            <a:avLst/>
          </a:prstGeom>
          <a:noFill/>
          <a:ln/>
        </p:spPr>
        <p:txBody>
          <a:bodyPr wrap="square" lIns="0" tIns="0" rIns="0" bIns="0" rtlCol="0" anchor="ctr"/>
          <a:lstStyle/>
          <a:p>
            <a:pPr algn="l" indent="0" marL="0">
              <a:lnSpc>
                <a:spcPct val="118000"/>
              </a:lnSpc>
              <a:buNone/>
            </a:pPr>
            <a:r>
              <a:rPr lang="en-US" sz="1340" i="1" dirty="0">
                <a:solidFill>
                  <a:srgbClr val="FFFFFF"/>
                </a:solidFill>
                <a:latin typeface="Aptos" pitchFamily="34" charset="0"/>
                <a:ea typeface="Aptos" pitchFamily="34" charset="-122"/>
                <a:cs typeface="Aptos" pitchFamily="34" charset="-120"/>
              </a:rPr>
              <a:t>“A convincing demonstration of correctness being impossible as long as the mechanism is regarded as a black box, our only hope lies in not regarding the mechanism as a black box.”</a:t>
            </a:r>
            <a:endParaRPr lang="en-US" sz="1340" dirty="0"/>
          </a:p>
        </p:txBody>
      </p:sp>
      <p:sp>
        <p:nvSpPr>
          <p:cNvPr id="14" name="Shape 11"/>
          <p:cNvSpPr/>
          <p:nvPr/>
        </p:nvSpPr>
        <p:spPr>
          <a:xfrm>
            <a:off x="658368" y="3419856"/>
            <a:ext cx="10874959" cy="786384"/>
          </a:xfrm>
          <a:prstGeom prst="rect">
            <a:avLst/>
          </a:prstGeom>
          <a:solidFill>
            <a:srgbClr val="102A43"/>
          </a:solidFill>
          <a:ln w="12700">
            <a:solidFill>
              <a:srgbClr val="102A43"/>
            </a:solidFill>
            <a:prstDash val="solid"/>
          </a:ln>
        </p:spPr>
      </p:sp>
      <p:sp>
        <p:nvSpPr>
          <p:cNvPr id="15" name="Shape 12"/>
          <p:cNvSpPr/>
          <p:nvPr/>
        </p:nvSpPr>
        <p:spPr>
          <a:xfrm>
            <a:off x="658368" y="3419856"/>
            <a:ext cx="64008" cy="786384"/>
          </a:xfrm>
          <a:prstGeom prst="rect">
            <a:avLst/>
          </a:prstGeom>
          <a:solidFill>
            <a:srgbClr val="EADFD0"/>
          </a:solidFill>
          <a:ln w="12700">
            <a:solidFill>
              <a:srgbClr val="EADFD0"/>
            </a:solidFill>
            <a:prstDash val="solid"/>
          </a:ln>
        </p:spPr>
      </p:sp>
      <p:sp>
        <p:nvSpPr>
          <p:cNvPr id="16" name="Text 13"/>
          <p:cNvSpPr txBox="1"/>
          <p:nvPr/>
        </p:nvSpPr>
        <p:spPr>
          <a:xfrm>
            <a:off x="969264" y="3529584"/>
            <a:ext cx="10308031" cy="566928"/>
          </a:xfrm>
          <a:prstGeom prst="rect">
            <a:avLst/>
          </a:prstGeom>
          <a:noFill/>
          <a:ln/>
        </p:spPr>
        <p:txBody>
          <a:bodyPr wrap="square" lIns="0" tIns="0" rIns="0" bIns="0" rtlCol="0" anchor="ctr"/>
          <a:lstStyle/>
          <a:p>
            <a:pPr algn="l" indent="0" marL="0">
              <a:lnSpc>
                <a:spcPct val="118000"/>
              </a:lnSpc>
              <a:buNone/>
            </a:pPr>
            <a:r>
              <a:rPr lang="en-US" sz="1280" i="1" dirty="0">
                <a:solidFill>
                  <a:srgbClr val="EADFD0"/>
                </a:solidFill>
                <a:latin typeface="Aptos" pitchFamily="34" charset="0"/>
                <a:ea typeface="Aptos" pitchFamily="34" charset="-122"/>
                <a:cs typeface="Aptos" pitchFamily="34" charset="-120"/>
              </a:rPr>
              <a:t>“Siendo imposible una demostración convincente de corrección mientras el mecanismo se considere una caja negra, nuestra única esperanza está en no considerarlo una caja negra.”</a:t>
            </a:r>
            <a:endParaRPr lang="en-US" sz="1280" dirty="0"/>
          </a:p>
        </p:txBody>
      </p:sp>
      <p:sp>
        <p:nvSpPr>
          <p:cNvPr id="17" name="Shape 14"/>
          <p:cNvSpPr/>
          <p:nvPr/>
        </p:nvSpPr>
        <p:spPr>
          <a:xfrm>
            <a:off x="658368" y="4370832"/>
            <a:ext cx="10874959" cy="713232"/>
          </a:xfrm>
          <a:prstGeom prst="rect">
            <a:avLst/>
          </a:prstGeom>
          <a:solidFill>
            <a:srgbClr val="1D3A57"/>
          </a:solidFill>
          <a:ln w="12700">
            <a:solidFill>
              <a:srgbClr val="1D3A57"/>
            </a:solidFill>
            <a:prstDash val="solid"/>
          </a:ln>
        </p:spPr>
      </p:sp>
      <p:sp>
        <p:nvSpPr>
          <p:cNvPr id="18" name="Text 15"/>
          <p:cNvSpPr txBox="1"/>
          <p:nvPr/>
        </p:nvSpPr>
        <p:spPr>
          <a:xfrm>
            <a:off x="932688" y="4480560"/>
            <a:ext cx="10326319" cy="512064"/>
          </a:xfrm>
          <a:prstGeom prst="rect">
            <a:avLst/>
          </a:prstGeom>
          <a:noFill/>
          <a:ln/>
        </p:spPr>
        <p:txBody>
          <a:bodyPr wrap="square" lIns="0" tIns="0" rIns="0" bIns="0" rtlCol="0" anchor="ctr"/>
          <a:lstStyle/>
          <a:p>
            <a:pPr algn="l" indent="0" marL="0">
              <a:lnSpc>
                <a:spcPct val="114000"/>
              </a:lnSpc>
              <a:buNone/>
            </a:pPr>
            <a:r>
              <a:rPr lang="en-US" sz="1300" dirty="0">
                <a:solidFill>
                  <a:srgbClr val="FFFFFF"/>
                </a:solidFill>
                <a:latin typeface="Aptos" pitchFamily="34" charset="0"/>
                <a:ea typeface="Aptos" pitchFamily="34" charset="-122"/>
                <a:cs typeface="Aptos" pitchFamily="34" charset="-120"/>
              </a:rPr>
              <a:t>Las tres técnicas de la sesión pasada hacen exactamente lo contrario de lo que Dijkstra recomienda: tratan el programa como una caja cerrada. Funcionaron. La frase, en cambio, sigue en pie.</a:t>
            </a:r>
            <a:endParaRPr lang="en-US" sz="1300" dirty="0"/>
          </a:p>
        </p:txBody>
      </p:sp>
      <p:sp>
        <p:nvSpPr>
          <p:cNvPr id="19" name="Shape 16"/>
          <p:cNvSpPr/>
          <p:nvPr/>
        </p:nvSpPr>
        <p:spPr>
          <a:xfrm>
            <a:off x="658368" y="5285232"/>
            <a:ext cx="45720" cy="182880"/>
          </a:xfrm>
          <a:prstGeom prst="rect">
            <a:avLst/>
          </a:prstGeom>
          <a:solidFill>
            <a:srgbClr val="E0BC5A"/>
          </a:solidFill>
          <a:ln w="12700">
            <a:solidFill>
              <a:srgbClr val="E0BC5A"/>
            </a:solidFill>
            <a:prstDash val="solid"/>
          </a:ln>
        </p:spPr>
      </p:sp>
      <p:sp>
        <p:nvSpPr>
          <p:cNvPr id="20" name="Text 17"/>
          <p:cNvSpPr txBox="1"/>
          <p:nvPr/>
        </p:nvSpPr>
        <p:spPr>
          <a:xfrm>
            <a:off x="804672" y="5276088"/>
            <a:ext cx="77724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Edsger W. Dijkstra · Notes on Structured Programming (EWD249), 1970</a:t>
            </a:r>
            <a:endParaRPr lang="en-US" sz="9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DÓNDE ESTAMOS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proyecto llega corregido y la suite, en verde</a:t>
            </a:r>
            <a:endParaRPr lang="en-US" sz="3000" dirty="0"/>
          </a:p>
        </p:txBody>
      </p:sp>
      <p:sp>
        <p:nvSpPr>
          <p:cNvPr id="10" name="Text 7"/>
          <p:cNvSpPr txBox="1"/>
          <p:nvPr/>
        </p:nvSpPr>
        <p:spPr>
          <a:xfrm>
            <a:off x="658368" y="1773936"/>
            <a:ext cx="72237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defecto del bloque 8 se arregló: bloque_valido() ahora compara con &lt;= y la jornada del 1 al 8 quedó completa.</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EDE6DA"/>
          </a:solidFill>
          <a:ln w="12700">
            <a:solidFill>
              <a:srgbClr val="EDE6DA"/>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102A43"/>
          </a:solidFill>
          <a:ln w="12700">
            <a:solidFill>
              <a:srgbClr val="102A43"/>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340864"/>
            <a:ext cx="6858000" cy="1792224"/>
          </a:xfrm>
          <a:prstGeom prst="roundRect">
            <a:avLst>
              <a:gd name="adj" fmla="val 2041"/>
            </a:avLst>
          </a:prstGeom>
          <a:solidFill>
            <a:srgbClr val="102A43"/>
          </a:solidFill>
          <a:ln w="12700">
            <a:solidFill>
              <a:srgbClr val="102A43"/>
            </a:solidFill>
            <a:prstDash val="solid"/>
          </a:ln>
        </p:spPr>
      </p:sp>
      <p:sp>
        <p:nvSpPr>
          <p:cNvPr id="18" name="Shape 15"/>
          <p:cNvSpPr/>
          <p:nvPr/>
        </p:nvSpPr>
        <p:spPr>
          <a:xfrm>
            <a:off x="786384" y="2450592"/>
            <a:ext cx="660196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523744"/>
            <a:ext cx="63825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reservas.py · la corrección</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07792"/>
            <a:ext cx="6437376" cy="1042416"/>
          </a:xfrm>
          <a:prstGeom prst="rect">
            <a:avLst/>
          </a:prstGeom>
        </p:spPr>
      </p:pic>
      <p:sp>
        <p:nvSpPr>
          <p:cNvPr id="21" name="Shape 17"/>
          <p:cNvSpPr/>
          <p:nvPr/>
        </p:nvSpPr>
        <p:spPr>
          <a:xfrm>
            <a:off x="7699248" y="2340864"/>
            <a:ext cx="3831336" cy="1389888"/>
          </a:xfrm>
          <a:prstGeom prst="roundRect">
            <a:avLst>
              <a:gd name="adj" fmla="val 2632"/>
            </a:avLst>
          </a:prstGeom>
          <a:solidFill>
            <a:srgbClr val="0F1720"/>
          </a:solidFill>
          <a:ln w="12700">
            <a:solidFill>
              <a:srgbClr val="0F1720"/>
            </a:solidFill>
            <a:prstDash val="solid"/>
          </a:ln>
        </p:spPr>
      </p:sp>
      <p:sp>
        <p:nvSpPr>
          <p:cNvPr id="22" name="Shape 18"/>
          <p:cNvSpPr/>
          <p:nvPr/>
        </p:nvSpPr>
        <p:spPr>
          <a:xfrm>
            <a:off x="7827264" y="2450592"/>
            <a:ext cx="3575304" cy="310896"/>
          </a:xfrm>
          <a:prstGeom prst="roundRect">
            <a:avLst>
              <a:gd name="adj" fmla="val 8824"/>
            </a:avLst>
          </a:prstGeom>
          <a:solidFill>
            <a:srgbClr val="1E2937"/>
          </a:solidFill>
          <a:ln w="12700">
            <a:solidFill>
              <a:srgbClr val="1E2937"/>
            </a:solidFill>
            <a:prstDash val="solid"/>
          </a:ln>
        </p:spPr>
      </p:sp>
      <p:sp>
        <p:nvSpPr>
          <p:cNvPr id="23" name="Text 19"/>
          <p:cNvSpPr/>
          <p:nvPr/>
        </p:nvSpPr>
        <p:spPr>
          <a:xfrm>
            <a:off x="7955280" y="2523744"/>
            <a:ext cx="331927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suite de la sesión pasada</a:t>
            </a:r>
            <a:endParaRPr lang="en-US" sz="1000" dirty="0"/>
          </a:p>
        </p:txBody>
      </p:sp>
      <p:sp>
        <p:nvSpPr>
          <p:cNvPr id="24" name="Text 20"/>
          <p:cNvSpPr/>
          <p:nvPr/>
        </p:nvSpPr>
        <p:spPr>
          <a:xfrm>
            <a:off x="7918704" y="2907792"/>
            <a:ext cx="329184" cy="164592"/>
          </a:xfrm>
          <a:prstGeom prst="rect">
            <a:avLst/>
          </a:prstGeom>
          <a:noFill/>
          <a:ln/>
        </p:spPr>
        <p:txBody>
          <a:bodyPr wrap="square" lIns="0" tIns="0" rIns="0" bIns="0" rtlCol="0" anchor="ctr"/>
          <a:lstStyle/>
          <a:p>
            <a:pPr indent="0" marL="0">
              <a:buNone/>
            </a:pPr>
            <a:r>
              <a:rPr lang="en-US" sz="1000" b="1" dirty="0">
                <a:solidFill>
                  <a:srgbClr val="E0BC5A"/>
                </a:solidFill>
                <a:latin typeface="Consolas" pitchFamily="34" charset="0"/>
                <a:ea typeface="Consolas" pitchFamily="34" charset="-122"/>
                <a:cs typeface="Consolas" pitchFamily="34" charset="-120"/>
              </a:rPr>
              <a:t>&gt;</a:t>
            </a:r>
            <a:endParaRPr lang="en-US" sz="1000" dirty="0"/>
          </a:p>
        </p:txBody>
      </p:sp>
      <p:sp>
        <p:nvSpPr>
          <p:cNvPr id="25" name="Text 21"/>
          <p:cNvSpPr/>
          <p:nvPr/>
        </p:nvSpPr>
        <p:spPr>
          <a:xfrm>
            <a:off x="8229600" y="2907792"/>
            <a:ext cx="3081528"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uv run pytest -q</a:t>
            </a:r>
            <a:endParaRPr lang="en-US" sz="1000" dirty="0"/>
          </a:p>
        </p:txBody>
      </p:sp>
      <p:sp>
        <p:nvSpPr>
          <p:cNvPr id="26" name="Text 22"/>
          <p:cNvSpPr/>
          <p:nvPr/>
        </p:nvSpPr>
        <p:spPr>
          <a:xfrm>
            <a:off x="7918704" y="3163824"/>
            <a:ext cx="3081528" cy="164592"/>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     [100%]</a:t>
            </a:r>
            <a:endParaRPr lang="en-US" sz="1000" dirty="0"/>
          </a:p>
        </p:txBody>
      </p:sp>
      <p:sp>
        <p:nvSpPr>
          <p:cNvPr id="27" name="Text 23"/>
          <p:cNvSpPr/>
          <p:nvPr/>
        </p:nvSpPr>
        <p:spPr>
          <a:xfrm>
            <a:off x="7918704" y="3419856"/>
            <a:ext cx="3081528"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12 passed in 0.04s</a:t>
            </a:r>
            <a:endParaRPr lang="en-US" sz="1000" dirty="0"/>
          </a:p>
        </p:txBody>
      </p:sp>
      <p:sp>
        <p:nvSpPr>
          <p:cNvPr id="28" name="Shape 24"/>
          <p:cNvSpPr/>
          <p:nvPr/>
        </p:nvSpPr>
        <p:spPr>
          <a:xfrm>
            <a:off x="7699248" y="3858768"/>
            <a:ext cx="3831336" cy="274320"/>
          </a:xfrm>
          <a:prstGeom prst="rect">
            <a:avLst/>
          </a:prstGeom>
          <a:solidFill>
            <a:srgbClr val="E6EEF7"/>
          </a:solidFill>
          <a:ln w="12700">
            <a:solidFill>
              <a:srgbClr val="E6EEF7"/>
            </a:solidFill>
            <a:prstDash val="solid"/>
          </a:ln>
        </p:spPr>
      </p:sp>
      <p:sp>
        <p:nvSpPr>
          <p:cNvPr id="29" name="Text 25"/>
          <p:cNvSpPr txBox="1"/>
          <p:nvPr/>
        </p:nvSpPr>
        <p:spPr>
          <a:xfrm>
            <a:off x="7863840" y="3877056"/>
            <a:ext cx="3566160" cy="237744"/>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3 particiones · 4 límites · 5 de tabla de decisión</a:t>
            </a:r>
            <a:endParaRPr lang="en-US" sz="1080" dirty="0"/>
          </a:p>
        </p:txBody>
      </p:sp>
      <p:sp>
        <p:nvSpPr>
          <p:cNvPr id="30" name="Shape 26"/>
          <p:cNvSpPr/>
          <p:nvPr/>
        </p:nvSpPr>
        <p:spPr>
          <a:xfrm>
            <a:off x="658368" y="4370832"/>
            <a:ext cx="10874959" cy="512064"/>
          </a:xfrm>
          <a:prstGeom prst="rect">
            <a:avLst/>
          </a:prstGeom>
          <a:solidFill>
            <a:srgbClr val="102A43"/>
          </a:solidFill>
          <a:ln w="12700">
            <a:solidFill>
              <a:srgbClr val="102A43"/>
            </a:solidFill>
            <a:prstDash val="solid"/>
          </a:ln>
        </p:spPr>
      </p:sp>
      <p:sp>
        <p:nvSpPr>
          <p:cNvPr id="31" name="Text 27"/>
          <p:cNvSpPr txBox="1"/>
          <p:nvPr/>
        </p:nvSpPr>
        <p:spPr>
          <a:xfrm>
            <a:off x="969264" y="4407408"/>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Doce casos y los doce pasan. Desde aquí, decir que la suite está «en verde» solo significa que ninguna prueba falló.</a:t>
            </a:r>
            <a:endParaRPr lang="en-US" sz="1400" dirty="0"/>
          </a:p>
        </p:txBody>
      </p:sp>
      <p:sp>
        <p:nvSpPr>
          <p:cNvPr id="32" name="Text 28"/>
          <p:cNvSpPr txBox="1"/>
          <p:nvPr/>
        </p:nvSpPr>
        <p:spPr>
          <a:xfrm>
            <a:off x="658368" y="5047488"/>
            <a:ext cx="10874959" cy="548640"/>
          </a:xfrm>
          <a:prstGeom prst="rect">
            <a:avLst/>
          </a:prstGeom>
          <a:noFill/>
          <a:ln/>
        </p:spPr>
        <p:txBody>
          <a:bodyPr wrap="square" lIns="0" tIns="0" rIns="0" bIns="0" rtlCol="0" anchor="t"/>
          <a:lstStyle/>
          <a:p>
            <a:pPr algn="l" indent="0" marL="0">
              <a:lnSpc>
                <a:spcPct val="118000"/>
              </a:lnSpc>
              <a:buNone/>
            </a:pPr>
            <a:r>
              <a:rPr lang="en-US" sz="1400" dirty="0">
                <a:solidFill>
                  <a:srgbClr val="243B53"/>
                </a:solidFill>
                <a:latin typeface="Aptos" pitchFamily="34" charset="0"/>
                <a:ea typeface="Aptos" pitchFamily="34" charset="-122"/>
                <a:cs typeface="Aptos" pitchFamily="34" charset="-120"/>
              </a:rPr>
              <a:t>La pregunta que sigue no es cuántas pruebas hay ni si pasan, sino qué partes del programa se ejecutaron mientras pasaban. Eso no se puede responder leyendo la suite: hay que medirla.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VOCABULARIO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palabras que van a trabajar todo el día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Se usan desde la primera clase, pero hoy hay que tenerlas exactas: la diferencia entre ambas es la tesis de la sesión.</a:t>
            </a:r>
            <a:endParaRPr lang="en-US" sz="1450" dirty="0"/>
          </a:p>
        </p:txBody>
      </p:sp>
      <p:sp>
        <p:nvSpPr>
          <p:cNvPr id="11" name="Shape 8"/>
          <p:cNvSpPr/>
          <p:nvPr/>
        </p:nvSpPr>
        <p:spPr>
          <a:xfrm>
            <a:off x="658368" y="2377440"/>
            <a:ext cx="5394960" cy="1042416"/>
          </a:xfrm>
          <a:prstGeom prst="rect">
            <a:avLst/>
          </a:prstGeom>
          <a:solidFill>
            <a:srgbClr val="FFFFFF"/>
          </a:solidFill>
          <a:ln w="12700">
            <a:solidFill>
              <a:srgbClr val="FFFFFF"/>
            </a:solidFill>
            <a:prstDash val="solid"/>
          </a:ln>
        </p:spPr>
      </p:sp>
      <p:sp>
        <p:nvSpPr>
          <p:cNvPr id="12" name="Shape 9"/>
          <p:cNvSpPr/>
          <p:nvPr/>
        </p:nvSpPr>
        <p:spPr>
          <a:xfrm>
            <a:off x="658368" y="2377440"/>
            <a:ext cx="64008" cy="1042416"/>
          </a:xfrm>
          <a:prstGeom prst="rect">
            <a:avLst/>
          </a:prstGeom>
          <a:solidFill>
            <a:srgbClr val="102A43"/>
          </a:solidFill>
          <a:ln w="12700">
            <a:solidFill>
              <a:srgbClr val="102A43"/>
            </a:solidFill>
            <a:prstDash val="solid"/>
          </a:ln>
        </p:spPr>
      </p:sp>
      <p:sp>
        <p:nvSpPr>
          <p:cNvPr id="13" name="Text 10"/>
          <p:cNvSpPr txBox="1"/>
          <p:nvPr/>
        </p:nvSpPr>
        <p:spPr>
          <a:xfrm>
            <a:off x="932688" y="2487168"/>
            <a:ext cx="484632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SUITE</a:t>
            </a:r>
            <a:endParaRPr lang="en-US" sz="960" dirty="0"/>
          </a:p>
        </p:txBody>
      </p:sp>
      <p:sp>
        <p:nvSpPr>
          <p:cNvPr id="14" name="Text 11"/>
          <p:cNvSpPr txBox="1"/>
          <p:nvPr/>
        </p:nvSpPr>
        <p:spPr>
          <a:xfrm>
            <a:off x="932688" y="2743200"/>
            <a:ext cx="4846320" cy="566928"/>
          </a:xfrm>
          <a:prstGeom prst="rect">
            <a:avLst/>
          </a:prstGeom>
          <a:noFill/>
          <a:ln/>
        </p:spPr>
        <p:txBody>
          <a:bodyPr wrap="square" lIns="0" tIns="0" rIns="0" bIns="0" rtlCol="0" anchor="t"/>
          <a:lstStyle/>
          <a:p>
            <a:pPr algn="l" indent="0" marL="0">
              <a:lnSpc>
                <a:spcPct val="116000"/>
              </a:lnSpc>
              <a:buNone/>
            </a:pPr>
            <a:r>
              <a:rPr lang="en-US" sz="1300" dirty="0">
                <a:solidFill>
                  <a:srgbClr val="243B53"/>
                </a:solidFill>
                <a:latin typeface="Aptos" pitchFamily="34" charset="0"/>
                <a:ea typeface="Aptos" pitchFamily="34" charset="-122"/>
                <a:cs typeface="Aptos" pitchFamily="34" charset="-120"/>
              </a:rPr>
              <a:t>El conjunto completo de pruebas que se ejecutan juntas. Los doce casos del proyecto son una suite.</a:t>
            </a:r>
            <a:endParaRPr lang="en-US" sz="1300" dirty="0"/>
          </a:p>
        </p:txBody>
      </p:sp>
      <p:sp>
        <p:nvSpPr>
          <p:cNvPr id="15" name="Shape 12"/>
          <p:cNvSpPr/>
          <p:nvPr/>
        </p:nvSpPr>
        <p:spPr>
          <a:xfrm>
            <a:off x="6199632" y="2377440"/>
            <a:ext cx="5330952" cy="1042416"/>
          </a:xfrm>
          <a:prstGeom prst="rect">
            <a:avLst/>
          </a:prstGeom>
          <a:solidFill>
            <a:srgbClr val="FFFFFF"/>
          </a:solidFill>
          <a:ln w="12700">
            <a:solidFill>
              <a:srgbClr val="FFFFFF"/>
            </a:solidFill>
            <a:prstDash val="solid"/>
          </a:ln>
        </p:spPr>
      </p:sp>
      <p:sp>
        <p:nvSpPr>
          <p:cNvPr id="16" name="Shape 13"/>
          <p:cNvSpPr/>
          <p:nvPr/>
        </p:nvSpPr>
        <p:spPr>
          <a:xfrm>
            <a:off x="6199632" y="2377440"/>
            <a:ext cx="64008" cy="1042416"/>
          </a:xfrm>
          <a:prstGeom prst="rect">
            <a:avLst/>
          </a:prstGeom>
          <a:solidFill>
            <a:srgbClr val="8A6A12"/>
          </a:solidFill>
          <a:ln w="12700">
            <a:solidFill>
              <a:srgbClr val="8A6A12"/>
            </a:solidFill>
            <a:prstDash val="solid"/>
          </a:ln>
        </p:spPr>
      </p:sp>
      <p:sp>
        <p:nvSpPr>
          <p:cNvPr id="17" name="Text 14"/>
          <p:cNvSpPr txBox="1"/>
          <p:nvPr/>
        </p:nvSpPr>
        <p:spPr>
          <a:xfrm>
            <a:off x="6473952" y="2487168"/>
            <a:ext cx="4782312"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ASERCIÓN</a:t>
            </a:r>
            <a:endParaRPr lang="en-US" sz="960" dirty="0"/>
          </a:p>
        </p:txBody>
      </p:sp>
      <p:sp>
        <p:nvSpPr>
          <p:cNvPr id="18" name="Text 15"/>
          <p:cNvSpPr txBox="1"/>
          <p:nvPr/>
        </p:nvSpPr>
        <p:spPr>
          <a:xfrm>
            <a:off x="6473952" y="2743200"/>
            <a:ext cx="4782312" cy="566928"/>
          </a:xfrm>
          <a:prstGeom prst="rect">
            <a:avLst/>
          </a:prstGeom>
          <a:noFill/>
          <a:ln/>
        </p:spPr>
        <p:txBody>
          <a:bodyPr wrap="square" lIns="0" tIns="0" rIns="0" bIns="0" rtlCol="0" anchor="t"/>
          <a:lstStyle/>
          <a:p>
            <a:pPr algn="l" indent="0" marL="0">
              <a:lnSpc>
                <a:spcPct val="116000"/>
              </a:lnSpc>
              <a:buNone/>
            </a:pPr>
            <a:r>
              <a:rPr lang="en-US" sz="1300" dirty="0">
                <a:solidFill>
                  <a:srgbClr val="243B53"/>
                </a:solidFill>
                <a:latin typeface="Aptos" pitchFamily="34" charset="0"/>
                <a:ea typeface="Aptos" pitchFamily="34" charset="-122"/>
                <a:cs typeface="Aptos" pitchFamily="34" charset="-120"/>
              </a:rPr>
              <a:t>La línea que compara lo obtenido con lo esperado y decide si la prueba pasa o falla. En Python, la que empieza con assert.</a:t>
            </a:r>
            <a:endParaRPr lang="en-US" sz="1300" dirty="0"/>
          </a:p>
        </p:txBody>
      </p:sp>
      <p:sp>
        <p:nvSpPr>
          <p:cNvPr id="19" name="Shape 16"/>
          <p:cNvSpPr/>
          <p:nvPr/>
        </p:nvSpPr>
        <p:spPr>
          <a:xfrm>
            <a:off x="658368" y="3657600"/>
            <a:ext cx="10872216" cy="1188720"/>
          </a:xfrm>
          <a:prstGeom prst="roundRect">
            <a:avLst>
              <a:gd name="adj" fmla="val 3077"/>
            </a:avLst>
          </a:prstGeom>
          <a:solidFill>
            <a:srgbClr val="102A43"/>
          </a:solidFill>
          <a:ln w="12700">
            <a:solidFill>
              <a:srgbClr val="102A43"/>
            </a:solidFill>
            <a:prstDash val="solid"/>
          </a:ln>
        </p:spPr>
      </p:sp>
      <p:sp>
        <p:nvSpPr>
          <p:cNvPr id="20" name="Shape 17"/>
          <p:cNvSpPr/>
          <p:nvPr/>
        </p:nvSpPr>
        <p:spPr>
          <a:xfrm>
            <a:off x="786384" y="3767328"/>
            <a:ext cx="10616184" cy="310896"/>
          </a:xfrm>
          <a:prstGeom prst="roundRect">
            <a:avLst>
              <a:gd name="adj" fmla="val 8824"/>
            </a:avLst>
          </a:prstGeom>
          <a:solidFill>
            <a:srgbClr val="284B75"/>
          </a:solidFill>
          <a:ln w="12700">
            <a:solidFill>
              <a:srgbClr val="284B75"/>
            </a:solidFill>
            <a:prstDash val="solid"/>
          </a:ln>
        </p:spPr>
      </p:sp>
      <p:sp>
        <p:nvSpPr>
          <p:cNvPr id="21" name="Text 18"/>
          <p:cNvSpPr/>
          <p:nvPr/>
        </p:nvSpPr>
        <p:spPr>
          <a:xfrm>
            <a:off x="896112" y="3840480"/>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Una prueba, y dentro de ella su aserción</a:t>
            </a:r>
            <a:endParaRPr lang="en-US" sz="1000" dirty="0"/>
          </a:p>
        </p:txBody>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4224528"/>
            <a:ext cx="10451592" cy="438912"/>
          </a:xfrm>
          <a:prstGeom prst="rect">
            <a:avLst/>
          </a:prstGeom>
        </p:spPr>
      </p:pic>
      <p:sp>
        <p:nvSpPr>
          <p:cNvPr id="23" name="Shape 19"/>
          <p:cNvSpPr/>
          <p:nvPr/>
        </p:nvSpPr>
        <p:spPr>
          <a:xfrm>
            <a:off x="658368" y="4992624"/>
            <a:ext cx="10874959" cy="603504"/>
          </a:xfrm>
          <a:prstGeom prst="rect">
            <a:avLst/>
          </a:prstGeom>
          <a:solidFill>
            <a:srgbClr val="F8E4E5"/>
          </a:solidFill>
          <a:ln w="12700">
            <a:solidFill>
              <a:srgbClr val="F8E4E5"/>
            </a:solidFill>
            <a:prstDash val="solid"/>
          </a:ln>
        </p:spPr>
      </p:sp>
      <p:sp>
        <p:nvSpPr>
          <p:cNvPr id="24" name="Shape 20"/>
          <p:cNvSpPr/>
          <p:nvPr/>
        </p:nvSpPr>
        <p:spPr>
          <a:xfrm>
            <a:off x="658368" y="4992624"/>
            <a:ext cx="54864" cy="603504"/>
          </a:xfrm>
          <a:prstGeom prst="rect">
            <a:avLst/>
          </a:prstGeom>
          <a:solidFill>
            <a:srgbClr val="B3181E"/>
          </a:solidFill>
          <a:ln w="12700">
            <a:solidFill>
              <a:srgbClr val="B3181E"/>
            </a:solidFill>
            <a:prstDash val="solid"/>
          </a:ln>
        </p:spPr>
      </p:sp>
      <p:sp>
        <p:nvSpPr>
          <p:cNvPr id="25" name="Text 21"/>
          <p:cNvSpPr txBox="1"/>
          <p:nvPr/>
        </p:nvSpPr>
        <p:spPr>
          <a:xfrm>
            <a:off x="932688" y="5084064"/>
            <a:ext cx="10326319" cy="438912"/>
          </a:xfrm>
          <a:prstGeom prst="rect">
            <a:avLst/>
          </a:prstGeom>
          <a:noFill/>
          <a:ln/>
        </p:spPr>
        <p:txBody>
          <a:bodyPr wrap="square" lIns="0" tIns="0" rIns="0" bIns="0" rtlCol="0" anchor="ctr"/>
          <a:lstStyle/>
          <a:p>
            <a:pPr algn="l" indent="0" marL="0">
              <a:lnSpc>
                <a:spcPct val="112000"/>
              </a:lnSpc>
              <a:buNone/>
            </a:pPr>
            <a:r>
              <a:rPr lang="en-US" sz="1360" b="1" dirty="0">
                <a:solidFill>
                  <a:srgbClr val="243B53"/>
                </a:solidFill>
                <a:latin typeface="Aptos" pitchFamily="34" charset="0"/>
                <a:ea typeface="Aptos" pitchFamily="34" charset="-122"/>
                <a:cs typeface="Aptos" pitchFamily="34" charset="-120"/>
              </a:rPr>
              <a:t>De ahí se sigue algo que parece obvio y no lo es: una prueba SIN aserción se ejecuta igual que las demás, pero no tiene con qué fallar.</a:t>
            </a:r>
            <a:endParaRPr lang="en-US" sz="1360" dirty="0"/>
          </a:p>
        </p:txBody>
      </p:sp>
      <p:sp>
        <p:nvSpPr>
          <p:cNvPr id="26" name="Shape 22"/>
          <p:cNvSpPr/>
          <p:nvPr/>
        </p:nvSpPr>
        <p:spPr>
          <a:xfrm>
            <a:off x="658368" y="5742432"/>
            <a:ext cx="10874959" cy="457200"/>
          </a:xfrm>
          <a:prstGeom prst="rect">
            <a:avLst/>
          </a:prstGeom>
          <a:solidFill>
            <a:srgbClr val="102A43"/>
          </a:solidFill>
          <a:ln w="12700">
            <a:solidFill>
              <a:srgbClr val="102A43"/>
            </a:solidFill>
            <a:prstDash val="solid"/>
          </a:ln>
        </p:spPr>
      </p:sp>
      <p:sp>
        <p:nvSpPr>
          <p:cNvPr id="27" name="Text 23"/>
          <p:cNvSpPr txBox="1"/>
          <p:nvPr/>
        </p:nvSpPr>
        <p:spPr>
          <a:xfrm>
            <a:off x="969264" y="5779008"/>
            <a:ext cx="10253167" cy="38404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Esa frase es el eje del Bloque 2. Por ahora basta con que quede escrita.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LO QUE SE SUELE ENSEÑAR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tabla de dos columnas</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Casi todo el material de testing enseña esta dicotomía, y con frecuencia le agrega dos afirmaciones más.</a:t>
            </a:r>
            <a:endParaRPr lang="en-US" sz="1450" dirty="0"/>
          </a:p>
        </p:txBody>
      </p:sp>
      <p:sp>
        <p:nvSpPr>
          <p:cNvPr id="11" name="Shape 8"/>
          <p:cNvSpPr/>
          <p:nvPr/>
        </p:nvSpPr>
        <p:spPr>
          <a:xfrm>
            <a:off x="658368" y="2377440"/>
            <a:ext cx="5175504" cy="1207008"/>
          </a:xfrm>
          <a:prstGeom prst="rect">
            <a:avLst/>
          </a:prstGeom>
          <a:solidFill>
            <a:srgbClr val="FFFFFF"/>
          </a:solidFill>
          <a:ln w="12700">
            <a:solidFill>
              <a:srgbClr val="FFFFFF"/>
            </a:solidFill>
            <a:prstDash val="solid"/>
          </a:ln>
        </p:spPr>
      </p:sp>
      <p:sp>
        <p:nvSpPr>
          <p:cNvPr id="12" name="Shape 9"/>
          <p:cNvSpPr/>
          <p:nvPr/>
        </p:nvSpPr>
        <p:spPr>
          <a:xfrm>
            <a:off x="658368" y="2377440"/>
            <a:ext cx="5175504" cy="54864"/>
          </a:xfrm>
          <a:prstGeom prst="rect">
            <a:avLst/>
          </a:prstGeom>
          <a:solidFill>
            <a:srgbClr val="102A43"/>
          </a:solidFill>
          <a:ln w="12700">
            <a:solidFill>
              <a:srgbClr val="102A43"/>
            </a:solidFill>
            <a:prstDash val="solid"/>
          </a:ln>
        </p:spPr>
      </p:sp>
      <p:sp>
        <p:nvSpPr>
          <p:cNvPr id="13" name="Text 10"/>
          <p:cNvSpPr txBox="1"/>
          <p:nvPr/>
        </p:nvSpPr>
        <p:spPr>
          <a:xfrm>
            <a:off x="914400" y="2542032"/>
            <a:ext cx="4663440" cy="310896"/>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Caja negra</a:t>
            </a:r>
            <a:endParaRPr lang="en-US" sz="2200" dirty="0"/>
          </a:p>
        </p:txBody>
      </p:sp>
      <p:sp>
        <p:nvSpPr>
          <p:cNvPr id="14" name="Text 11"/>
          <p:cNvSpPr txBox="1"/>
          <p:nvPr/>
        </p:nvSpPr>
        <p:spPr>
          <a:xfrm>
            <a:off x="914400" y="2926080"/>
            <a:ext cx="4663440" cy="512064"/>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No se mira el código. Se prueban entradas y salidas contra lo que el sistema debe hacer.</a:t>
            </a:r>
            <a:endParaRPr lang="en-US" sz="1260" dirty="0"/>
          </a:p>
        </p:txBody>
      </p:sp>
      <p:sp>
        <p:nvSpPr>
          <p:cNvPr id="15" name="Shape 12"/>
          <p:cNvSpPr/>
          <p:nvPr/>
        </p:nvSpPr>
        <p:spPr>
          <a:xfrm>
            <a:off x="6364224" y="2377440"/>
            <a:ext cx="5175504" cy="1207008"/>
          </a:xfrm>
          <a:prstGeom prst="rect">
            <a:avLst/>
          </a:prstGeom>
          <a:solidFill>
            <a:srgbClr val="FFFFFF"/>
          </a:solidFill>
          <a:ln w="12700">
            <a:solidFill>
              <a:srgbClr val="FFFFFF"/>
            </a:solidFill>
            <a:prstDash val="solid"/>
          </a:ln>
        </p:spPr>
      </p:sp>
      <p:sp>
        <p:nvSpPr>
          <p:cNvPr id="16" name="Shape 13"/>
          <p:cNvSpPr/>
          <p:nvPr/>
        </p:nvSpPr>
        <p:spPr>
          <a:xfrm>
            <a:off x="6364224" y="2377440"/>
            <a:ext cx="5175504" cy="54864"/>
          </a:xfrm>
          <a:prstGeom prst="rect">
            <a:avLst/>
          </a:prstGeom>
          <a:solidFill>
            <a:srgbClr val="8A6A12"/>
          </a:solidFill>
          <a:ln w="12700">
            <a:solidFill>
              <a:srgbClr val="8A6A12"/>
            </a:solidFill>
            <a:prstDash val="solid"/>
          </a:ln>
        </p:spPr>
      </p:sp>
      <p:sp>
        <p:nvSpPr>
          <p:cNvPr id="17" name="Text 14"/>
          <p:cNvSpPr txBox="1"/>
          <p:nvPr/>
        </p:nvSpPr>
        <p:spPr>
          <a:xfrm>
            <a:off x="6620256" y="2542032"/>
            <a:ext cx="4663440" cy="310896"/>
          </a:xfrm>
          <a:prstGeom prst="rect">
            <a:avLst/>
          </a:prstGeom>
          <a:noFill/>
          <a:ln/>
        </p:spPr>
        <p:txBody>
          <a:bodyPr wrap="square" lIns="0" tIns="0" rIns="0" bIns="0" rtlCol="0" anchor="t"/>
          <a:lstStyle/>
          <a:p>
            <a:pPr algn="l" indent="0" marL="0">
              <a:buNone/>
            </a:pPr>
            <a:r>
              <a:rPr lang="en-US" sz="2200" b="1" dirty="0">
                <a:solidFill>
                  <a:srgbClr val="8A6A12"/>
                </a:solidFill>
                <a:latin typeface="Aptos Display" pitchFamily="34" charset="0"/>
                <a:ea typeface="Aptos Display" pitchFamily="34" charset="-122"/>
                <a:cs typeface="Aptos Display" pitchFamily="34" charset="-120"/>
              </a:rPr>
              <a:t>Caja blanca</a:t>
            </a:r>
            <a:endParaRPr lang="en-US" sz="2200" dirty="0"/>
          </a:p>
        </p:txBody>
      </p:sp>
      <p:sp>
        <p:nvSpPr>
          <p:cNvPr id="18" name="Text 15"/>
          <p:cNvSpPr txBox="1"/>
          <p:nvPr/>
        </p:nvSpPr>
        <p:spPr>
          <a:xfrm>
            <a:off x="6620256" y="2926080"/>
            <a:ext cx="4663440" cy="512064"/>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Se mira el código por dentro. Se prueban sus caminos, sus condiciones, sus ramas.</a:t>
            </a:r>
            <a:endParaRPr lang="en-US" sz="1260" dirty="0"/>
          </a:p>
        </p:txBody>
      </p:sp>
      <p:sp>
        <p:nvSpPr>
          <p:cNvPr id="19" name="Text 16"/>
          <p:cNvSpPr txBox="1"/>
          <p:nvPr/>
        </p:nvSpPr>
        <p:spPr>
          <a:xfrm>
            <a:off x="658368" y="3785616"/>
            <a:ext cx="64008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LAS DOS AFIRMACIONES QUE SUELEN VENIR DE REGALO</a:t>
            </a:r>
            <a:endParaRPr lang="en-US" sz="960" dirty="0"/>
          </a:p>
        </p:txBody>
      </p:sp>
      <p:sp>
        <p:nvSpPr>
          <p:cNvPr id="20" name="Shape 17"/>
          <p:cNvSpPr/>
          <p:nvPr/>
        </p:nvSpPr>
        <p:spPr>
          <a:xfrm>
            <a:off x="658368" y="4059936"/>
            <a:ext cx="10874959" cy="457200"/>
          </a:xfrm>
          <a:prstGeom prst="rect">
            <a:avLst/>
          </a:prstGeom>
          <a:solidFill>
            <a:srgbClr val="F8E4E5"/>
          </a:solidFill>
          <a:ln w="12700">
            <a:solidFill>
              <a:srgbClr val="F8E4E5"/>
            </a:solidFill>
            <a:prstDash val="solid"/>
          </a:ln>
        </p:spPr>
      </p:sp>
      <p:sp>
        <p:nvSpPr>
          <p:cNvPr id="21" name="Shape 18"/>
          <p:cNvSpPr/>
          <p:nvPr/>
        </p:nvSpPr>
        <p:spPr>
          <a:xfrm>
            <a:off x="658368" y="4059936"/>
            <a:ext cx="54864" cy="457200"/>
          </a:xfrm>
          <a:prstGeom prst="rect">
            <a:avLst/>
          </a:prstGeom>
          <a:solidFill>
            <a:srgbClr val="B3181E"/>
          </a:solidFill>
          <a:ln w="12700">
            <a:solidFill>
              <a:srgbClr val="B3181E"/>
            </a:solidFill>
            <a:prstDash val="solid"/>
          </a:ln>
        </p:spPr>
      </p:sp>
      <p:sp>
        <p:nvSpPr>
          <p:cNvPr id="22" name="Text 19"/>
          <p:cNvSpPr txBox="1"/>
          <p:nvPr/>
        </p:nvSpPr>
        <p:spPr>
          <a:xfrm>
            <a:off x="932688" y="4096512"/>
            <a:ext cx="10326319" cy="384048"/>
          </a:xfrm>
          <a:prstGeom prst="rect">
            <a:avLst/>
          </a:prstGeom>
          <a:noFill/>
          <a:ln/>
        </p:spPr>
        <p:txBody>
          <a:bodyPr wrap="square" lIns="0" tIns="0" rIns="0" bIns="0" rtlCol="0" anchor="ctr"/>
          <a:lstStyle/>
          <a:p>
            <a:pPr algn="l" indent="0" marL="0">
              <a:buNone/>
            </a:pPr>
            <a:r>
              <a:rPr lang="en-US" sz="1300" i="1" dirty="0">
                <a:solidFill>
                  <a:srgbClr val="243B53"/>
                </a:solidFill>
                <a:latin typeface="Aptos" pitchFamily="34" charset="0"/>
                <a:ea typeface="Aptos" pitchFamily="34" charset="-122"/>
                <a:cs typeface="Aptos" pitchFamily="34" charset="-120"/>
              </a:rPr>
              <a:t>«Las de caja negra las hace el área de pruebas; las de caja blanca, el programador.»</a:t>
            </a:r>
            <a:endParaRPr lang="en-US" sz="1300" dirty="0"/>
          </a:p>
        </p:txBody>
      </p:sp>
      <p:sp>
        <p:nvSpPr>
          <p:cNvPr id="23" name="Shape 20"/>
          <p:cNvSpPr/>
          <p:nvPr/>
        </p:nvSpPr>
        <p:spPr>
          <a:xfrm>
            <a:off x="658368" y="4608576"/>
            <a:ext cx="10874959" cy="457200"/>
          </a:xfrm>
          <a:prstGeom prst="rect">
            <a:avLst/>
          </a:prstGeom>
          <a:solidFill>
            <a:srgbClr val="F8E4E5"/>
          </a:solidFill>
          <a:ln w="12700">
            <a:solidFill>
              <a:srgbClr val="F8E4E5"/>
            </a:solidFill>
            <a:prstDash val="solid"/>
          </a:ln>
        </p:spPr>
      </p:sp>
      <p:sp>
        <p:nvSpPr>
          <p:cNvPr id="24" name="Shape 21"/>
          <p:cNvSpPr/>
          <p:nvPr/>
        </p:nvSpPr>
        <p:spPr>
          <a:xfrm>
            <a:off x="658368" y="4608576"/>
            <a:ext cx="54864" cy="457200"/>
          </a:xfrm>
          <a:prstGeom prst="rect">
            <a:avLst/>
          </a:prstGeom>
          <a:solidFill>
            <a:srgbClr val="B3181E"/>
          </a:solidFill>
          <a:ln w="12700">
            <a:solidFill>
              <a:srgbClr val="B3181E"/>
            </a:solidFill>
            <a:prstDash val="solid"/>
          </a:ln>
        </p:spPr>
      </p:sp>
      <p:sp>
        <p:nvSpPr>
          <p:cNvPr id="25" name="Text 22"/>
          <p:cNvSpPr txBox="1"/>
          <p:nvPr/>
        </p:nvSpPr>
        <p:spPr>
          <a:xfrm>
            <a:off x="932688" y="4645152"/>
            <a:ext cx="10326319" cy="384048"/>
          </a:xfrm>
          <a:prstGeom prst="rect">
            <a:avLst/>
          </a:prstGeom>
          <a:noFill/>
          <a:ln/>
        </p:spPr>
        <p:txBody>
          <a:bodyPr wrap="square" lIns="0" tIns="0" rIns="0" bIns="0" rtlCol="0" anchor="ctr"/>
          <a:lstStyle/>
          <a:p>
            <a:pPr algn="l" indent="0" marL="0">
              <a:buNone/>
            </a:pPr>
            <a:r>
              <a:rPr lang="en-US" sz="1300" i="1" dirty="0">
                <a:solidFill>
                  <a:srgbClr val="243B53"/>
                </a:solidFill>
                <a:latin typeface="Aptos" pitchFamily="34" charset="0"/>
                <a:ea typeface="Aptos" pitchFamily="34" charset="-122"/>
                <a:cs typeface="Aptos" pitchFamily="34" charset="-120"/>
              </a:rPr>
              <a:t>«Son dos tipos de prueba distintos.»</a:t>
            </a:r>
            <a:endParaRPr lang="en-US" sz="1300" dirty="0"/>
          </a:p>
        </p:txBody>
      </p:sp>
      <p:sp>
        <p:nvSpPr>
          <p:cNvPr id="26" name="Shape 23"/>
          <p:cNvSpPr/>
          <p:nvPr/>
        </p:nvSpPr>
        <p:spPr>
          <a:xfrm>
            <a:off x="658368" y="5266944"/>
            <a:ext cx="10874959" cy="530352"/>
          </a:xfrm>
          <a:prstGeom prst="rect">
            <a:avLst/>
          </a:prstGeom>
          <a:solidFill>
            <a:srgbClr val="102A43"/>
          </a:solidFill>
          <a:ln w="12700">
            <a:solidFill>
              <a:srgbClr val="102A43"/>
            </a:solidFill>
            <a:prstDash val="solid"/>
          </a:ln>
        </p:spPr>
      </p:sp>
      <p:sp>
        <p:nvSpPr>
          <p:cNvPr id="27" name="Text 24"/>
          <p:cNvSpPr txBox="1"/>
          <p:nvPr/>
        </p:nvSpPr>
        <p:spPr>
          <a:xfrm>
            <a:off x="969264" y="5303520"/>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Antes de repetirlo: las dos afirmaciones no aparecen en ninguna de las dos fuentes que definen esto. Vamos a verlas.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HALLAZGO 1 DE 3</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Los dos vocabularios nombran lo mismo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ISTQB es el organismo internacional de certificación de testers: su glosario es el vocabulario de uso corriente en la industria.</a:t>
            </a:r>
            <a:endParaRPr lang="en-US" sz="1450" dirty="0"/>
          </a:p>
        </p:txBody>
      </p:sp>
      <p:sp>
        <p:nvSpPr>
          <p:cNvPr id="11" name="Shape 8"/>
          <p:cNvSpPr/>
          <p:nvPr/>
        </p:nvSpPr>
        <p:spPr>
          <a:xfrm>
            <a:off x="658368" y="2377440"/>
            <a:ext cx="10874959" cy="786384"/>
          </a:xfrm>
          <a:prstGeom prst="rect">
            <a:avLst/>
          </a:prstGeom>
          <a:solidFill>
            <a:srgbClr val="F2E7D9"/>
          </a:solidFill>
          <a:ln w="12700">
            <a:solidFill>
              <a:srgbClr val="F2E7D9"/>
            </a:solidFill>
            <a:prstDash val="solid"/>
          </a:ln>
        </p:spPr>
      </p:sp>
      <p:sp>
        <p:nvSpPr>
          <p:cNvPr id="12" name="Shape 9"/>
          <p:cNvSpPr/>
          <p:nvPr/>
        </p:nvSpPr>
        <p:spPr>
          <a:xfrm>
            <a:off x="658368" y="2377440"/>
            <a:ext cx="64008" cy="786384"/>
          </a:xfrm>
          <a:prstGeom prst="rect">
            <a:avLst/>
          </a:prstGeom>
          <a:solidFill>
            <a:srgbClr val="102A43"/>
          </a:solidFill>
          <a:ln w="12700">
            <a:solidFill>
              <a:srgbClr val="102A43"/>
            </a:solidFill>
            <a:prstDash val="solid"/>
          </a:ln>
        </p:spPr>
      </p:sp>
      <p:sp>
        <p:nvSpPr>
          <p:cNvPr id="13" name="Text 10"/>
          <p:cNvSpPr txBox="1"/>
          <p:nvPr/>
        </p:nvSpPr>
        <p:spPr>
          <a:xfrm>
            <a:off x="969264" y="2487168"/>
            <a:ext cx="10308031" cy="566928"/>
          </a:xfrm>
          <a:prstGeom prst="rect">
            <a:avLst/>
          </a:prstGeom>
          <a:noFill/>
          <a:ln/>
        </p:spPr>
        <p:txBody>
          <a:bodyPr wrap="square" lIns="0" tIns="0" rIns="0" bIns="0" rtlCol="0" anchor="ctr"/>
          <a:lstStyle/>
          <a:p>
            <a:pPr algn="l" indent="0" marL="0">
              <a:lnSpc>
                <a:spcPct val="118000"/>
              </a:lnSpc>
              <a:buNone/>
            </a:pPr>
            <a:r>
              <a:rPr lang="en-US" sz="1240" i="1" dirty="0">
                <a:solidFill>
                  <a:srgbClr val="243B53"/>
                </a:solidFill>
                <a:latin typeface="Aptos" pitchFamily="34" charset="0"/>
                <a:ea typeface="Aptos" pitchFamily="34" charset="-122"/>
                <a:cs typeface="Aptos" pitchFamily="34" charset="-120"/>
              </a:rPr>
              <a:t>“a procedure to derive and/or select test cases based on an analysis of the specification, either functional or non-functional, of a component or system without reference to its internal structure”</a:t>
            </a:r>
            <a:endParaRPr lang="en-US" sz="1240" dirty="0"/>
          </a:p>
        </p:txBody>
      </p:sp>
      <p:sp>
        <p:nvSpPr>
          <p:cNvPr id="14" name="Shape 11"/>
          <p:cNvSpPr/>
          <p:nvPr/>
        </p:nvSpPr>
        <p:spPr>
          <a:xfrm>
            <a:off x="658368" y="3273552"/>
            <a:ext cx="10874959" cy="786384"/>
          </a:xfrm>
          <a:prstGeom prst="rect">
            <a:avLst/>
          </a:prstGeom>
          <a:solidFill>
            <a:srgbClr val="EDE6DA"/>
          </a:solidFill>
          <a:ln w="12700">
            <a:solidFill>
              <a:srgbClr val="EDE6DA"/>
            </a:solidFill>
            <a:prstDash val="solid"/>
          </a:ln>
        </p:spPr>
      </p:sp>
      <p:sp>
        <p:nvSpPr>
          <p:cNvPr id="15" name="Shape 12"/>
          <p:cNvSpPr/>
          <p:nvPr/>
        </p:nvSpPr>
        <p:spPr>
          <a:xfrm>
            <a:off x="658368" y="3273552"/>
            <a:ext cx="64008" cy="786384"/>
          </a:xfrm>
          <a:prstGeom prst="rect">
            <a:avLst/>
          </a:prstGeom>
          <a:solidFill>
            <a:srgbClr val="52606D"/>
          </a:solidFill>
          <a:ln w="12700">
            <a:solidFill>
              <a:srgbClr val="52606D"/>
            </a:solidFill>
            <a:prstDash val="solid"/>
          </a:ln>
        </p:spPr>
      </p:sp>
      <p:sp>
        <p:nvSpPr>
          <p:cNvPr id="16" name="Text 13"/>
          <p:cNvSpPr txBox="1"/>
          <p:nvPr/>
        </p:nvSpPr>
        <p:spPr>
          <a:xfrm>
            <a:off x="969264" y="3383280"/>
            <a:ext cx="10308031" cy="566928"/>
          </a:xfrm>
          <a:prstGeom prst="rect">
            <a:avLst/>
          </a:prstGeom>
          <a:noFill/>
          <a:ln/>
        </p:spPr>
        <p:txBody>
          <a:bodyPr wrap="square" lIns="0" tIns="0" rIns="0" bIns="0" rtlCol="0" anchor="ctr"/>
          <a:lstStyle/>
          <a:p>
            <a:pPr algn="l" indent="0" marL="0">
              <a:lnSpc>
                <a:spcPct val="118000"/>
              </a:lnSpc>
              <a:buNone/>
            </a:pPr>
            <a:r>
              <a:rPr lang="en-US" sz="1240" i="1" dirty="0">
                <a:solidFill>
                  <a:srgbClr val="243B53"/>
                </a:solidFill>
                <a:latin typeface="Aptos" pitchFamily="34" charset="0"/>
                <a:ea typeface="Aptos" pitchFamily="34" charset="-122"/>
                <a:cs typeface="Aptos" pitchFamily="34" charset="-120"/>
              </a:rPr>
              <a:t>“un procedimiento para derivar y/o seleccionar casos de prueba a partir del análisis de la especificación, funcional o no funcional, de un componente o sistema, sin referencia a su estructura interna”</a:t>
            </a:r>
            <a:endParaRPr lang="en-US" sz="1240" dirty="0"/>
          </a:p>
        </p:txBody>
      </p:sp>
      <p:sp>
        <p:nvSpPr>
          <p:cNvPr id="17" name="Shape 14"/>
          <p:cNvSpPr/>
          <p:nvPr/>
        </p:nvSpPr>
        <p:spPr>
          <a:xfrm>
            <a:off x="658368" y="4224528"/>
            <a:ext cx="10874959" cy="713232"/>
          </a:xfrm>
          <a:prstGeom prst="rect">
            <a:avLst/>
          </a:prstGeom>
          <a:solidFill>
            <a:srgbClr val="FFFFFF"/>
          </a:solidFill>
          <a:ln w="12700">
            <a:solidFill>
              <a:srgbClr val="FFFFFF"/>
            </a:solidFill>
            <a:prstDash val="solid"/>
          </a:ln>
        </p:spPr>
      </p:sp>
      <p:sp>
        <p:nvSpPr>
          <p:cNvPr id="18" name="Text 15"/>
          <p:cNvSpPr txBox="1"/>
          <p:nvPr/>
        </p:nvSpPr>
        <p:spPr>
          <a:xfrm>
            <a:off x="932688" y="4352544"/>
            <a:ext cx="3108960" cy="274320"/>
          </a:xfrm>
          <a:prstGeom prst="rect">
            <a:avLst/>
          </a:prstGeom>
          <a:noFill/>
          <a:ln/>
        </p:spPr>
        <p:txBody>
          <a:bodyPr wrap="square" lIns="0" tIns="0" rIns="0" bIns="0" rtlCol="0" anchor="t"/>
          <a:lstStyle/>
          <a:p>
            <a:pPr algn="l" indent="0" marL="0">
              <a:buNone/>
            </a:pPr>
            <a:r>
              <a:rPr lang="en-US" sz="1300" b="1" dirty="0">
                <a:solidFill>
                  <a:srgbClr val="102A43"/>
                </a:solidFill>
                <a:latin typeface="Consolas" pitchFamily="34" charset="0"/>
                <a:ea typeface="Consolas" pitchFamily="34" charset="-122"/>
                <a:cs typeface="Consolas" pitchFamily="34" charset="-120"/>
              </a:rPr>
              <a:t>black-box test technique</a:t>
            </a:r>
            <a:endParaRPr lang="en-US" sz="1300" dirty="0"/>
          </a:p>
        </p:txBody>
      </p:sp>
      <p:sp>
        <p:nvSpPr>
          <p:cNvPr id="19" name="Text 16"/>
          <p:cNvSpPr txBox="1"/>
          <p:nvPr/>
        </p:nvSpPr>
        <p:spPr>
          <a:xfrm>
            <a:off x="4133088" y="4315968"/>
            <a:ext cx="365760" cy="329184"/>
          </a:xfrm>
          <a:prstGeom prst="rect">
            <a:avLst/>
          </a:prstGeom>
          <a:noFill/>
          <a:ln/>
        </p:spPr>
        <p:txBody>
          <a:bodyPr wrap="square" lIns="0" tIns="0" rIns="0" bIns="0" rtlCol="0" anchor="t"/>
          <a:lstStyle/>
          <a:p>
            <a:pPr algn="ctr" indent="0" marL="0">
              <a:buNone/>
            </a:pPr>
            <a:r>
              <a:rPr lang="en-US" sz="2200" b="1" dirty="0">
                <a:solidFill>
                  <a:srgbClr val="8A6A12"/>
                </a:solidFill>
                <a:latin typeface="Aptos Display" pitchFamily="34" charset="0"/>
                <a:ea typeface="Aptos Display" pitchFamily="34" charset="-122"/>
                <a:cs typeface="Aptos Display" pitchFamily="34" charset="-120"/>
              </a:rPr>
              <a:t>=</a:t>
            </a:r>
            <a:endParaRPr lang="en-US" sz="2200" dirty="0"/>
          </a:p>
        </p:txBody>
      </p:sp>
      <p:sp>
        <p:nvSpPr>
          <p:cNvPr id="20" name="Text 17"/>
          <p:cNvSpPr txBox="1"/>
          <p:nvPr/>
        </p:nvSpPr>
        <p:spPr>
          <a:xfrm>
            <a:off x="4590288" y="4352544"/>
            <a:ext cx="3840480" cy="274320"/>
          </a:xfrm>
          <a:prstGeom prst="rect">
            <a:avLst/>
          </a:prstGeom>
          <a:noFill/>
          <a:ln/>
        </p:spPr>
        <p:txBody>
          <a:bodyPr wrap="square" lIns="0" tIns="0" rIns="0" bIns="0" rtlCol="0" anchor="t"/>
          <a:lstStyle/>
          <a:p>
            <a:pPr algn="l" indent="0" marL="0">
              <a:buNone/>
            </a:pPr>
            <a:r>
              <a:rPr lang="en-US" sz="1300" b="1" dirty="0">
                <a:solidFill>
                  <a:srgbClr val="102A43"/>
                </a:solidFill>
                <a:latin typeface="Consolas" pitchFamily="34" charset="0"/>
                <a:ea typeface="Consolas" pitchFamily="34" charset="-122"/>
                <a:cs typeface="Consolas" pitchFamily="34" charset="-120"/>
              </a:rPr>
              <a:t>specification-based test technique</a:t>
            </a:r>
            <a:endParaRPr lang="en-US" sz="1300" dirty="0"/>
          </a:p>
        </p:txBody>
      </p:sp>
      <p:sp>
        <p:nvSpPr>
          <p:cNvPr id="21" name="Text 18"/>
          <p:cNvSpPr txBox="1"/>
          <p:nvPr/>
        </p:nvSpPr>
        <p:spPr>
          <a:xfrm>
            <a:off x="8613648" y="4370832"/>
            <a:ext cx="2743200"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registrados como sinónimos</a:t>
            </a:r>
            <a:endParaRPr lang="en-US" sz="1140" dirty="0"/>
          </a:p>
        </p:txBody>
      </p:sp>
      <p:sp>
        <p:nvSpPr>
          <p:cNvPr id="22" name="Shape 19"/>
          <p:cNvSpPr/>
          <p:nvPr/>
        </p:nvSpPr>
        <p:spPr>
          <a:xfrm>
            <a:off x="658368" y="5138928"/>
            <a:ext cx="10874959" cy="530352"/>
          </a:xfrm>
          <a:prstGeom prst="rect">
            <a:avLst/>
          </a:prstGeom>
          <a:solidFill>
            <a:srgbClr val="102A43"/>
          </a:solidFill>
          <a:ln w="12700">
            <a:solidFill>
              <a:srgbClr val="102A43"/>
            </a:solidFill>
            <a:prstDash val="solid"/>
          </a:ln>
        </p:spPr>
      </p:sp>
      <p:sp>
        <p:nvSpPr>
          <p:cNvPr id="23" name="Text 20"/>
          <p:cNvSpPr txBox="1"/>
          <p:nvPr/>
        </p:nvSpPr>
        <p:spPr>
          <a:xfrm>
            <a:off x="969264" y="5175504"/>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No son dos clasificaciones distintas: «caja negra» y «basada en la especificación» son dos nombres del mismo grupo.</a:t>
            </a:r>
            <a:endParaRPr lang="en-US" sz="1400" dirty="0"/>
          </a:p>
        </p:txBody>
      </p:sp>
      <p:sp>
        <p:nvSpPr>
          <p:cNvPr id="24" name="Shape 21"/>
          <p:cNvSpPr/>
          <p:nvPr/>
        </p:nvSpPr>
        <p:spPr>
          <a:xfrm>
            <a:off x="658368" y="5852160"/>
            <a:ext cx="45720" cy="182880"/>
          </a:xfrm>
          <a:prstGeom prst="rect">
            <a:avLst/>
          </a:prstGeom>
          <a:solidFill>
            <a:srgbClr val="8A6A12"/>
          </a:solidFill>
          <a:ln w="12700">
            <a:solidFill>
              <a:srgbClr val="8A6A12"/>
            </a:solidFill>
            <a:prstDash val="solid"/>
          </a:ln>
        </p:spPr>
      </p:sp>
      <p:sp>
        <p:nvSpPr>
          <p:cNvPr id="25" name="Text 22"/>
          <p:cNvSpPr txBox="1"/>
          <p:nvPr/>
        </p:nvSpPr>
        <p:spPr>
          <a:xfrm>
            <a:off x="804672" y="5843016"/>
            <a:ext cx="68580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Glosario de ISTQB · black-box test technique</a:t>
            </a:r>
            <a:endParaRPr lang="en-US" sz="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HALLAZGO 2 DE 3</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clasificación no tiene dos categorías: tiene tres</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cláusula 5 de la norma que rige el diseño de casos de prueba se divide así.</a:t>
            </a:r>
            <a:endParaRPr lang="en-US" sz="1450" dirty="0"/>
          </a:p>
        </p:txBody>
      </p:sp>
      <p:sp>
        <p:nvSpPr>
          <p:cNvPr id="11" name="Shape 8"/>
          <p:cNvSpPr/>
          <p:nvPr/>
        </p:nvSpPr>
        <p:spPr>
          <a:xfrm>
            <a:off x="658368" y="2340864"/>
            <a:ext cx="10874959" cy="841248"/>
          </a:xfrm>
          <a:prstGeom prst="rect">
            <a:avLst/>
          </a:prstGeom>
          <a:solidFill>
            <a:srgbClr val="FFFFFF"/>
          </a:solidFill>
          <a:ln w="12700">
            <a:solidFill>
              <a:srgbClr val="FFFFFF"/>
            </a:solidFill>
            <a:prstDash val="solid"/>
          </a:ln>
        </p:spPr>
      </p:sp>
      <p:sp>
        <p:nvSpPr>
          <p:cNvPr id="12" name="Shape 9"/>
          <p:cNvSpPr/>
          <p:nvPr/>
        </p:nvSpPr>
        <p:spPr>
          <a:xfrm>
            <a:off x="658368" y="2340864"/>
            <a:ext cx="54864" cy="841248"/>
          </a:xfrm>
          <a:prstGeom prst="rect">
            <a:avLst/>
          </a:prstGeom>
          <a:solidFill>
            <a:srgbClr val="102A43"/>
          </a:solidFill>
          <a:ln w="12700">
            <a:solidFill>
              <a:srgbClr val="102A43"/>
            </a:solidFill>
            <a:prstDash val="solid"/>
          </a:ln>
        </p:spPr>
      </p:sp>
      <p:sp>
        <p:nvSpPr>
          <p:cNvPr id="13" name="Text 10"/>
          <p:cNvSpPr txBox="1"/>
          <p:nvPr/>
        </p:nvSpPr>
        <p:spPr>
          <a:xfrm>
            <a:off x="932688" y="2468880"/>
            <a:ext cx="640080" cy="329184"/>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5.2</a:t>
            </a:r>
            <a:endParaRPr lang="en-US" sz="2200" dirty="0"/>
          </a:p>
        </p:txBody>
      </p:sp>
      <p:sp>
        <p:nvSpPr>
          <p:cNvPr id="14" name="Text 11"/>
          <p:cNvSpPr txBox="1"/>
          <p:nvPr/>
        </p:nvSpPr>
        <p:spPr>
          <a:xfrm>
            <a:off x="1755648" y="2450592"/>
            <a:ext cx="3200400" cy="237744"/>
          </a:xfrm>
          <a:prstGeom prst="rect">
            <a:avLst/>
          </a:prstGeom>
          <a:noFill/>
          <a:ln/>
        </p:spPr>
        <p:txBody>
          <a:bodyPr wrap="square" lIns="0" tIns="0" rIns="0" bIns="0" rtlCol="0" anchor="t"/>
          <a:lstStyle/>
          <a:p>
            <a:pPr algn="l" indent="0" marL="0">
              <a:buNone/>
            </a:pPr>
            <a:r>
              <a:rPr lang="en-US" sz="1160" i="1" dirty="0">
                <a:solidFill>
                  <a:srgbClr val="52606D"/>
                </a:solidFill>
                <a:latin typeface="Consolas" pitchFamily="34" charset="0"/>
                <a:ea typeface="Consolas" pitchFamily="34" charset="-122"/>
                <a:cs typeface="Consolas" pitchFamily="34" charset="-120"/>
              </a:rPr>
              <a:t>Specification-based</a:t>
            </a:r>
            <a:endParaRPr lang="en-US" sz="1160" dirty="0"/>
          </a:p>
        </p:txBody>
      </p:sp>
      <p:sp>
        <p:nvSpPr>
          <p:cNvPr id="15" name="Text 12"/>
          <p:cNvSpPr txBox="1"/>
          <p:nvPr/>
        </p:nvSpPr>
        <p:spPr>
          <a:xfrm>
            <a:off x="1755648" y="2724912"/>
            <a:ext cx="3200400" cy="274320"/>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Basadas en la especificación</a:t>
            </a:r>
            <a:endParaRPr lang="en-US" sz="1360" dirty="0"/>
          </a:p>
        </p:txBody>
      </p:sp>
      <p:sp>
        <p:nvSpPr>
          <p:cNvPr id="16" name="Text 13"/>
          <p:cNvSpPr txBox="1"/>
          <p:nvPr/>
        </p:nvSpPr>
        <p:spPr>
          <a:xfrm>
            <a:off x="5230368" y="2523744"/>
            <a:ext cx="6028639" cy="493776"/>
          </a:xfrm>
          <a:prstGeom prst="rect">
            <a:avLst/>
          </a:prstGeom>
          <a:noFill/>
          <a:ln/>
        </p:spPr>
        <p:txBody>
          <a:bodyPr wrap="square" lIns="0" tIns="0" rIns="0" bIns="0" rtlCol="0" anchor="t"/>
          <a:lstStyle/>
          <a:p>
            <a:pPr algn="l" indent="0" marL="0">
              <a:lnSpc>
                <a:spcPct val="114000"/>
              </a:lnSpc>
              <a:buNone/>
            </a:pPr>
            <a:r>
              <a:rPr lang="en-US" sz="1220" dirty="0">
                <a:solidFill>
                  <a:srgbClr val="52606D"/>
                </a:solidFill>
                <a:latin typeface="Aptos" pitchFamily="34" charset="0"/>
                <a:ea typeface="Aptos" pitchFamily="34" charset="-122"/>
                <a:cs typeface="Aptos" pitchFamily="34" charset="-120"/>
              </a:rPr>
              <a:t>Partición, valores límite, tabla de decisión, transición de estados y otras: doce técnicas</a:t>
            </a:r>
            <a:endParaRPr lang="en-US" sz="1220" dirty="0"/>
          </a:p>
        </p:txBody>
      </p:sp>
      <p:sp>
        <p:nvSpPr>
          <p:cNvPr id="17" name="Shape 14"/>
          <p:cNvSpPr/>
          <p:nvPr/>
        </p:nvSpPr>
        <p:spPr>
          <a:xfrm>
            <a:off x="658368" y="3291840"/>
            <a:ext cx="10874959" cy="841248"/>
          </a:xfrm>
          <a:prstGeom prst="rect">
            <a:avLst/>
          </a:prstGeom>
          <a:solidFill>
            <a:srgbClr val="FFFFFF"/>
          </a:solidFill>
          <a:ln w="12700">
            <a:solidFill>
              <a:srgbClr val="FFFFFF"/>
            </a:solidFill>
            <a:prstDash val="solid"/>
          </a:ln>
        </p:spPr>
      </p:sp>
      <p:sp>
        <p:nvSpPr>
          <p:cNvPr id="18" name="Shape 15"/>
          <p:cNvSpPr/>
          <p:nvPr/>
        </p:nvSpPr>
        <p:spPr>
          <a:xfrm>
            <a:off x="658368" y="3291840"/>
            <a:ext cx="54864" cy="841248"/>
          </a:xfrm>
          <a:prstGeom prst="rect">
            <a:avLst/>
          </a:prstGeom>
          <a:solidFill>
            <a:srgbClr val="8A6A12"/>
          </a:solidFill>
          <a:ln w="12700">
            <a:solidFill>
              <a:srgbClr val="8A6A12"/>
            </a:solidFill>
            <a:prstDash val="solid"/>
          </a:ln>
        </p:spPr>
      </p:sp>
      <p:sp>
        <p:nvSpPr>
          <p:cNvPr id="19" name="Text 16"/>
          <p:cNvSpPr txBox="1"/>
          <p:nvPr/>
        </p:nvSpPr>
        <p:spPr>
          <a:xfrm>
            <a:off x="932688" y="3419856"/>
            <a:ext cx="640080" cy="329184"/>
          </a:xfrm>
          <a:prstGeom prst="rect">
            <a:avLst/>
          </a:prstGeom>
          <a:noFill/>
          <a:ln/>
        </p:spPr>
        <p:txBody>
          <a:bodyPr wrap="square" lIns="0" tIns="0" rIns="0" bIns="0" rtlCol="0" anchor="t"/>
          <a:lstStyle/>
          <a:p>
            <a:pPr algn="l" indent="0" marL="0">
              <a:buNone/>
            </a:pPr>
            <a:r>
              <a:rPr lang="en-US" sz="2200" b="1" dirty="0">
                <a:solidFill>
                  <a:srgbClr val="8A6A12"/>
                </a:solidFill>
                <a:latin typeface="Aptos Display" pitchFamily="34" charset="0"/>
                <a:ea typeface="Aptos Display" pitchFamily="34" charset="-122"/>
                <a:cs typeface="Aptos Display" pitchFamily="34" charset="-120"/>
              </a:rPr>
              <a:t>5.3</a:t>
            </a:r>
            <a:endParaRPr lang="en-US" sz="2200" dirty="0"/>
          </a:p>
        </p:txBody>
      </p:sp>
      <p:sp>
        <p:nvSpPr>
          <p:cNvPr id="20" name="Text 17"/>
          <p:cNvSpPr txBox="1"/>
          <p:nvPr/>
        </p:nvSpPr>
        <p:spPr>
          <a:xfrm>
            <a:off x="1755648" y="3401568"/>
            <a:ext cx="3200400" cy="237744"/>
          </a:xfrm>
          <a:prstGeom prst="rect">
            <a:avLst/>
          </a:prstGeom>
          <a:noFill/>
          <a:ln/>
        </p:spPr>
        <p:txBody>
          <a:bodyPr wrap="square" lIns="0" tIns="0" rIns="0" bIns="0" rtlCol="0" anchor="t"/>
          <a:lstStyle/>
          <a:p>
            <a:pPr algn="l" indent="0" marL="0">
              <a:buNone/>
            </a:pPr>
            <a:r>
              <a:rPr lang="en-US" sz="1160" i="1" dirty="0">
                <a:solidFill>
                  <a:srgbClr val="52606D"/>
                </a:solidFill>
                <a:latin typeface="Consolas" pitchFamily="34" charset="0"/>
                <a:ea typeface="Consolas" pitchFamily="34" charset="-122"/>
                <a:cs typeface="Consolas" pitchFamily="34" charset="-120"/>
              </a:rPr>
              <a:t>Structure-based</a:t>
            </a:r>
            <a:endParaRPr lang="en-US" sz="1160" dirty="0"/>
          </a:p>
        </p:txBody>
      </p:sp>
      <p:sp>
        <p:nvSpPr>
          <p:cNvPr id="21" name="Text 18"/>
          <p:cNvSpPr txBox="1"/>
          <p:nvPr/>
        </p:nvSpPr>
        <p:spPr>
          <a:xfrm>
            <a:off x="1755648" y="3675888"/>
            <a:ext cx="3200400" cy="274320"/>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Basadas en la estructura</a:t>
            </a:r>
            <a:endParaRPr lang="en-US" sz="1360" dirty="0"/>
          </a:p>
        </p:txBody>
      </p:sp>
      <p:sp>
        <p:nvSpPr>
          <p:cNvPr id="22" name="Text 19"/>
          <p:cNvSpPr txBox="1"/>
          <p:nvPr/>
        </p:nvSpPr>
        <p:spPr>
          <a:xfrm>
            <a:off x="5230368" y="3474720"/>
            <a:ext cx="6028639" cy="493776"/>
          </a:xfrm>
          <a:prstGeom prst="rect">
            <a:avLst/>
          </a:prstGeom>
          <a:noFill/>
          <a:ln/>
        </p:spPr>
        <p:txBody>
          <a:bodyPr wrap="square" lIns="0" tIns="0" rIns="0" bIns="0" rtlCol="0" anchor="t"/>
          <a:lstStyle/>
          <a:p>
            <a:pPr algn="l" indent="0" marL="0">
              <a:lnSpc>
                <a:spcPct val="114000"/>
              </a:lnSpc>
              <a:buNone/>
            </a:pPr>
            <a:r>
              <a:rPr lang="en-US" sz="1220" dirty="0">
                <a:solidFill>
                  <a:srgbClr val="52606D"/>
                </a:solidFill>
                <a:latin typeface="Aptos" pitchFamily="34" charset="0"/>
                <a:ea typeface="Aptos" pitchFamily="34" charset="-122"/>
                <a:cs typeface="Aptos" pitchFamily="34" charset="-120"/>
              </a:rPr>
              <a:t>Pruebas de sentencias, ramas y decisiones, más otras cuatro: siete técnicas</a:t>
            </a:r>
            <a:endParaRPr lang="en-US" sz="1220" dirty="0"/>
          </a:p>
        </p:txBody>
      </p:sp>
      <p:sp>
        <p:nvSpPr>
          <p:cNvPr id="23" name="Shape 20"/>
          <p:cNvSpPr/>
          <p:nvPr/>
        </p:nvSpPr>
        <p:spPr>
          <a:xfrm>
            <a:off x="658368" y="4242816"/>
            <a:ext cx="10874959" cy="841248"/>
          </a:xfrm>
          <a:prstGeom prst="rect">
            <a:avLst/>
          </a:prstGeom>
          <a:solidFill>
            <a:srgbClr val="F8E4E5"/>
          </a:solidFill>
          <a:ln w="12700">
            <a:solidFill>
              <a:srgbClr val="F8E4E5"/>
            </a:solidFill>
            <a:prstDash val="solid"/>
          </a:ln>
        </p:spPr>
      </p:sp>
      <p:sp>
        <p:nvSpPr>
          <p:cNvPr id="24" name="Shape 21"/>
          <p:cNvSpPr/>
          <p:nvPr/>
        </p:nvSpPr>
        <p:spPr>
          <a:xfrm>
            <a:off x="658368" y="4242816"/>
            <a:ext cx="54864" cy="841248"/>
          </a:xfrm>
          <a:prstGeom prst="rect">
            <a:avLst/>
          </a:prstGeom>
          <a:solidFill>
            <a:srgbClr val="B3181E"/>
          </a:solidFill>
          <a:ln w="12700">
            <a:solidFill>
              <a:srgbClr val="B3181E"/>
            </a:solidFill>
            <a:prstDash val="solid"/>
          </a:ln>
        </p:spPr>
      </p:sp>
      <p:sp>
        <p:nvSpPr>
          <p:cNvPr id="25" name="Text 22"/>
          <p:cNvSpPr txBox="1"/>
          <p:nvPr/>
        </p:nvSpPr>
        <p:spPr>
          <a:xfrm>
            <a:off x="932688" y="4370832"/>
            <a:ext cx="640080" cy="329184"/>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5.4</a:t>
            </a:r>
            <a:endParaRPr lang="en-US" sz="2200" dirty="0"/>
          </a:p>
        </p:txBody>
      </p:sp>
      <p:sp>
        <p:nvSpPr>
          <p:cNvPr id="26" name="Text 23"/>
          <p:cNvSpPr txBox="1"/>
          <p:nvPr/>
        </p:nvSpPr>
        <p:spPr>
          <a:xfrm>
            <a:off x="1755648" y="4352544"/>
            <a:ext cx="3200400" cy="237744"/>
          </a:xfrm>
          <a:prstGeom prst="rect">
            <a:avLst/>
          </a:prstGeom>
          <a:noFill/>
          <a:ln/>
        </p:spPr>
        <p:txBody>
          <a:bodyPr wrap="square" lIns="0" tIns="0" rIns="0" bIns="0" rtlCol="0" anchor="t"/>
          <a:lstStyle/>
          <a:p>
            <a:pPr algn="l" indent="0" marL="0">
              <a:buNone/>
            </a:pPr>
            <a:r>
              <a:rPr lang="en-US" sz="1160" i="1" dirty="0">
                <a:solidFill>
                  <a:srgbClr val="52606D"/>
                </a:solidFill>
                <a:latin typeface="Consolas" pitchFamily="34" charset="0"/>
                <a:ea typeface="Consolas" pitchFamily="34" charset="-122"/>
                <a:cs typeface="Consolas" pitchFamily="34" charset="-120"/>
              </a:rPr>
              <a:t>Experience-based</a:t>
            </a:r>
            <a:endParaRPr lang="en-US" sz="1160" dirty="0"/>
          </a:p>
        </p:txBody>
      </p:sp>
      <p:sp>
        <p:nvSpPr>
          <p:cNvPr id="27" name="Text 24"/>
          <p:cNvSpPr txBox="1"/>
          <p:nvPr/>
        </p:nvSpPr>
        <p:spPr>
          <a:xfrm>
            <a:off x="1755648" y="4626864"/>
            <a:ext cx="3200400" cy="274320"/>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Basadas en la experiencia</a:t>
            </a:r>
            <a:endParaRPr lang="en-US" sz="1360" dirty="0"/>
          </a:p>
        </p:txBody>
      </p:sp>
      <p:sp>
        <p:nvSpPr>
          <p:cNvPr id="28" name="Text 25"/>
          <p:cNvSpPr txBox="1"/>
          <p:nvPr/>
        </p:nvSpPr>
        <p:spPr>
          <a:xfrm>
            <a:off x="5230368" y="4425696"/>
            <a:ext cx="6028639" cy="493776"/>
          </a:xfrm>
          <a:prstGeom prst="rect">
            <a:avLst/>
          </a:prstGeom>
          <a:noFill/>
          <a:ln/>
        </p:spPr>
        <p:txBody>
          <a:bodyPr wrap="square" lIns="0" tIns="0" rIns="0" bIns="0" rtlCol="0" anchor="t"/>
          <a:lstStyle/>
          <a:p>
            <a:pPr algn="l" indent="0" marL="0">
              <a:lnSpc>
                <a:spcPct val="114000"/>
              </a:lnSpc>
              <a:buNone/>
            </a:pPr>
            <a:r>
              <a:rPr lang="en-US" sz="1220" dirty="0">
                <a:solidFill>
                  <a:srgbClr val="52606D"/>
                </a:solidFill>
                <a:latin typeface="Aptos" pitchFamily="34" charset="0"/>
                <a:ea typeface="Aptos" pitchFamily="34" charset="-122"/>
                <a:cs typeface="Aptos" pitchFamily="34" charset="-120"/>
              </a:rPr>
              <a:t>Conjetura de errores: anticipar dónde es probable que haya un error</a:t>
            </a:r>
            <a:endParaRPr lang="en-US" sz="1220" dirty="0"/>
          </a:p>
        </p:txBody>
      </p:sp>
      <p:sp>
        <p:nvSpPr>
          <p:cNvPr id="29" name="Shape 26"/>
          <p:cNvSpPr/>
          <p:nvPr/>
        </p:nvSpPr>
        <p:spPr>
          <a:xfrm>
            <a:off x="658368" y="5248656"/>
            <a:ext cx="10874959" cy="512064"/>
          </a:xfrm>
          <a:prstGeom prst="rect">
            <a:avLst/>
          </a:prstGeom>
          <a:solidFill>
            <a:srgbClr val="102A43"/>
          </a:solidFill>
          <a:ln w="12700">
            <a:solidFill>
              <a:srgbClr val="102A43"/>
            </a:solidFill>
            <a:prstDash val="solid"/>
          </a:ln>
        </p:spPr>
      </p:sp>
      <p:sp>
        <p:nvSpPr>
          <p:cNvPr id="30" name="Text 27"/>
          <p:cNvSpPr txBox="1"/>
          <p:nvPr/>
        </p:nvSpPr>
        <p:spPr>
          <a:xfrm>
            <a:off x="932688" y="5321808"/>
            <a:ext cx="10326319" cy="365760"/>
          </a:xfrm>
          <a:prstGeom prst="rect">
            <a:avLst/>
          </a:prstGeom>
          <a:noFill/>
          <a:ln/>
        </p:spPr>
        <p:txBody>
          <a:bodyPr wrap="square" lIns="0" tIns="0" rIns="0" bIns="0" rtlCol="0" anchor="ctr"/>
          <a:lstStyle/>
          <a:p>
            <a:pPr algn="l" indent="0" marL="0">
              <a:buNone/>
            </a:pPr>
            <a:r>
              <a:rPr lang="en-US" sz="1400" b="1" dirty="0">
                <a:solidFill>
                  <a:srgbClr val="E0BC5A"/>
                </a:solidFill>
                <a:latin typeface="Aptos" pitchFamily="34" charset="0"/>
                <a:ea typeface="Aptos" pitchFamily="34" charset="-122"/>
                <a:cs typeface="Aptos" pitchFamily="34" charset="-120"/>
              </a:rPr>
              <a:t>La tercera familia NO TIENE COLOR. Y ahí vive buena parte del trabajo real de prueba.</a:t>
            </a:r>
            <a:endParaRPr lang="en-US" sz="1400" dirty="0"/>
          </a:p>
        </p:txBody>
      </p:sp>
      <p:sp>
        <p:nvSpPr>
          <p:cNvPr id="31" name="Shape 28"/>
          <p:cNvSpPr/>
          <p:nvPr/>
        </p:nvSpPr>
        <p:spPr>
          <a:xfrm>
            <a:off x="658368" y="5980176"/>
            <a:ext cx="45720" cy="182880"/>
          </a:xfrm>
          <a:prstGeom prst="rect">
            <a:avLst/>
          </a:prstGeom>
          <a:solidFill>
            <a:srgbClr val="8A6A12"/>
          </a:solidFill>
          <a:ln w="12700">
            <a:solidFill>
              <a:srgbClr val="8A6A12"/>
            </a:solidFill>
            <a:prstDash val="solid"/>
          </a:ln>
        </p:spPr>
      </p:sp>
      <p:sp>
        <p:nvSpPr>
          <p:cNvPr id="32" name="Text 29"/>
          <p:cNvSpPr txBox="1"/>
          <p:nvPr/>
        </p:nvSpPr>
        <p:spPr>
          <a:xfrm>
            <a:off x="804672" y="5971032"/>
            <a:ext cx="8686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29119-4:2021, cláusula 5 · el programa Foundation de ISTQB clasifica igual</a:t>
            </a:r>
            <a:endParaRPr lang="en-US" sz="9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1 · HALLAZGO 3 DE 3</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Y la propia norma agrega una caja más</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La misma ISO/IEC/IEEE 29119-4:2021 que clasifica las tres familias cierra con ocho anexos. El quinto se titula así:</a:t>
            </a:r>
            <a:endParaRPr lang="en-US" sz="1450" dirty="0"/>
          </a:p>
        </p:txBody>
      </p:sp>
      <p:sp>
        <p:nvSpPr>
          <p:cNvPr id="11" name="Shape 8"/>
          <p:cNvSpPr/>
          <p:nvPr/>
        </p:nvSpPr>
        <p:spPr>
          <a:xfrm>
            <a:off x="658368" y="2286000"/>
            <a:ext cx="10874959" cy="1371600"/>
          </a:xfrm>
          <a:prstGeom prst="rect">
            <a:avLst/>
          </a:prstGeom>
          <a:solidFill>
            <a:srgbClr val="1D3A57"/>
          </a:solidFill>
          <a:ln w="12700">
            <a:solidFill>
              <a:srgbClr val="1D3A57"/>
            </a:solidFill>
            <a:prstDash val="solid"/>
          </a:ln>
        </p:spPr>
      </p:sp>
      <p:sp>
        <p:nvSpPr>
          <p:cNvPr id="12" name="Shape 9"/>
          <p:cNvSpPr/>
          <p:nvPr/>
        </p:nvSpPr>
        <p:spPr>
          <a:xfrm>
            <a:off x="658368" y="2286000"/>
            <a:ext cx="64008" cy="1371600"/>
          </a:xfrm>
          <a:prstGeom prst="rect">
            <a:avLst/>
          </a:prstGeom>
          <a:solidFill>
            <a:srgbClr val="E0BC5A"/>
          </a:solidFill>
          <a:ln w="12700">
            <a:solidFill>
              <a:srgbClr val="E0BC5A"/>
            </a:solidFill>
            <a:prstDash val="solid"/>
          </a:ln>
        </p:spPr>
      </p:sp>
      <p:sp>
        <p:nvSpPr>
          <p:cNvPr id="13" name="Text 10"/>
          <p:cNvSpPr txBox="1"/>
          <p:nvPr/>
        </p:nvSpPr>
        <p:spPr>
          <a:xfrm>
            <a:off x="969264" y="2450592"/>
            <a:ext cx="2103120" cy="420624"/>
          </a:xfrm>
          <a:prstGeom prst="rect">
            <a:avLst/>
          </a:prstGeom>
          <a:noFill/>
          <a:ln/>
        </p:spPr>
        <p:txBody>
          <a:bodyPr wrap="square" lIns="0" tIns="0" rIns="0" bIns="0" rtlCol="0" anchor="t"/>
          <a:lstStyle/>
          <a:p>
            <a:pPr algn="l" indent="0" marL="0">
              <a:buNone/>
            </a:pPr>
            <a:r>
              <a:rPr lang="en-US" sz="3000" b="1" dirty="0">
                <a:solidFill>
                  <a:srgbClr val="E0BC5A"/>
                </a:solidFill>
                <a:latin typeface="Aptos Display" pitchFamily="34" charset="0"/>
                <a:ea typeface="Aptos Display" pitchFamily="34" charset="-122"/>
                <a:cs typeface="Aptos Display" pitchFamily="34" charset="-120"/>
              </a:rPr>
              <a:t>Anexo E</a:t>
            </a:r>
            <a:endParaRPr lang="en-US" sz="3000" dirty="0"/>
          </a:p>
        </p:txBody>
      </p:sp>
      <p:sp>
        <p:nvSpPr>
          <p:cNvPr id="14" name="Text 11"/>
          <p:cNvSpPr txBox="1"/>
          <p:nvPr/>
        </p:nvSpPr>
        <p:spPr>
          <a:xfrm>
            <a:off x="969264" y="2889504"/>
            <a:ext cx="2103120" cy="237744"/>
          </a:xfrm>
          <a:prstGeom prst="rect">
            <a:avLst/>
          </a:prstGeom>
          <a:noFill/>
          <a:ln/>
        </p:spPr>
        <p:txBody>
          <a:bodyPr wrap="square" lIns="0" tIns="0" rIns="0" bIns="0" rtlCol="0" anchor="t"/>
          <a:lstStyle/>
          <a:p>
            <a:pPr algn="l" indent="0" marL="0">
              <a:buNone/>
            </a:pPr>
            <a:r>
              <a:rPr lang="en-US" sz="1140" i="1" dirty="0">
                <a:solidFill>
                  <a:srgbClr val="8AA0B6"/>
                </a:solidFill>
                <a:latin typeface="Aptos" pitchFamily="34" charset="0"/>
                <a:ea typeface="Aptos" pitchFamily="34" charset="-122"/>
                <a:cs typeface="Aptos" pitchFamily="34" charset="-120"/>
              </a:rPr>
              <a:t>(informativo)</a:t>
            </a:r>
            <a:endParaRPr lang="en-US" sz="1140" dirty="0"/>
          </a:p>
        </p:txBody>
      </p:sp>
      <p:sp>
        <p:nvSpPr>
          <p:cNvPr id="15" name="Text 12"/>
          <p:cNvSpPr txBox="1"/>
          <p:nvPr/>
        </p:nvSpPr>
        <p:spPr>
          <a:xfrm>
            <a:off x="3401568" y="2468880"/>
            <a:ext cx="7772400" cy="512064"/>
          </a:xfrm>
          <a:prstGeom prst="rect">
            <a:avLst/>
          </a:prstGeom>
          <a:noFill/>
          <a:ln/>
        </p:spPr>
        <p:txBody>
          <a:bodyPr wrap="square" lIns="0" tIns="0" rIns="0" bIns="0" rtlCol="0" anchor="t"/>
          <a:lstStyle/>
          <a:p>
            <a:pPr algn="l" indent="0" marL="0">
              <a:lnSpc>
                <a:spcPct val="120000"/>
              </a:lnSpc>
              <a:buNone/>
            </a:pPr>
            <a:r>
              <a:rPr lang="en-US" sz="1400" b="1" dirty="0">
                <a:solidFill>
                  <a:srgbClr val="FFFFFF"/>
                </a:solidFill>
                <a:latin typeface="Consolas" pitchFamily="34" charset="0"/>
                <a:ea typeface="Consolas" pitchFamily="34" charset="-122"/>
                <a:cs typeface="Consolas" pitchFamily="34" charset="-120"/>
              </a:rPr>
              <a:t>Guidelines and examples for the application of grey-box test design techniques</a:t>
            </a:r>
            <a:endParaRPr lang="en-US" sz="1400" dirty="0"/>
          </a:p>
        </p:txBody>
      </p:sp>
      <p:sp>
        <p:nvSpPr>
          <p:cNvPr id="16" name="Shape 13"/>
          <p:cNvSpPr/>
          <p:nvPr/>
        </p:nvSpPr>
        <p:spPr>
          <a:xfrm>
            <a:off x="3401568" y="2907792"/>
            <a:ext cx="7772400" cy="0"/>
          </a:xfrm>
          <a:prstGeom prst="line">
            <a:avLst/>
          </a:prstGeom>
          <a:noFill/>
          <a:ln w="12700">
            <a:solidFill>
              <a:srgbClr val="2C4A66"/>
            </a:solidFill>
            <a:prstDash val="solid"/>
            <a:headEnd type="none"/>
            <a:tailEnd type="none"/>
          </a:ln>
        </p:spPr>
      </p:sp>
      <p:sp>
        <p:nvSpPr>
          <p:cNvPr id="17" name="Text 14"/>
          <p:cNvSpPr txBox="1"/>
          <p:nvPr/>
        </p:nvSpPr>
        <p:spPr>
          <a:xfrm>
            <a:off x="3401568" y="3035808"/>
            <a:ext cx="7772400" cy="475488"/>
          </a:xfrm>
          <a:prstGeom prst="rect">
            <a:avLst/>
          </a:prstGeom>
          <a:noFill/>
          <a:ln/>
        </p:spPr>
        <p:txBody>
          <a:bodyPr wrap="square" lIns="0" tIns="0" rIns="0" bIns="0" rtlCol="0" anchor="t"/>
          <a:lstStyle/>
          <a:p>
            <a:pPr algn="l" indent="0" marL="0">
              <a:lnSpc>
                <a:spcPct val="116000"/>
              </a:lnSpc>
              <a:buNone/>
            </a:pPr>
            <a:r>
              <a:rPr lang="en-US" sz="1320" b="1" dirty="0">
                <a:solidFill>
                  <a:srgbClr val="E0BC5A"/>
                </a:solidFill>
                <a:latin typeface="Aptos" pitchFamily="34" charset="0"/>
                <a:ea typeface="Aptos" pitchFamily="34" charset="-122"/>
                <a:cs typeface="Aptos" pitchFamily="34" charset="-120"/>
              </a:rPr>
              <a:t>Directrices y ejemplos para aplicar técnicas de diseño de pruebas de CAJA GRIS.</a:t>
            </a:r>
            <a:endParaRPr lang="en-US" sz="1320" dirty="0"/>
          </a:p>
        </p:txBody>
      </p:sp>
      <p:sp>
        <p:nvSpPr>
          <p:cNvPr id="18" name="Text 15"/>
          <p:cNvSpPr txBox="1"/>
          <p:nvPr/>
        </p:nvSpPr>
        <p:spPr>
          <a:xfrm>
            <a:off x="658368" y="3767328"/>
            <a:ext cx="10424160" cy="256032"/>
          </a:xfrm>
          <a:prstGeom prst="rect">
            <a:avLst/>
          </a:prstGeom>
          <a:noFill/>
          <a:ln/>
        </p:spPr>
        <p:txBody>
          <a:bodyPr wrap="square" lIns="0" tIns="0" rIns="0" bIns="0" rtlCol="0" anchor="t"/>
          <a:lstStyle/>
          <a:p>
            <a:pPr algn="l" indent="0" marL="0">
              <a:buNone/>
            </a:pPr>
            <a:r>
              <a:rPr lang="en-US" sz="1200" i="1" dirty="0">
                <a:solidFill>
                  <a:srgbClr val="EADFD0"/>
                </a:solidFill>
                <a:latin typeface="Aptos" pitchFamily="34" charset="0"/>
                <a:ea typeface="Aptos" pitchFamily="34" charset="-122"/>
                <a:cs typeface="Aptos" pitchFamily="34" charset="-120"/>
              </a:rPr>
              <a:t>«Informativo» quiere decir que el anexo orienta pero no obliga: lo exigible de la norma son las cláusulas 5 y 6.</a:t>
            </a:r>
            <a:endParaRPr lang="en-US" sz="1200" dirty="0"/>
          </a:p>
        </p:txBody>
      </p:sp>
      <p:sp>
        <p:nvSpPr>
          <p:cNvPr id="19" name="Shape 16"/>
          <p:cNvSpPr/>
          <p:nvPr/>
        </p:nvSpPr>
        <p:spPr>
          <a:xfrm>
            <a:off x="658368" y="4114800"/>
            <a:ext cx="45720" cy="182880"/>
          </a:xfrm>
          <a:prstGeom prst="rect">
            <a:avLst/>
          </a:prstGeom>
          <a:solidFill>
            <a:srgbClr val="E0BC5A"/>
          </a:solidFill>
          <a:ln w="12700">
            <a:solidFill>
              <a:srgbClr val="E0BC5A"/>
            </a:solidFill>
            <a:prstDash val="solid"/>
          </a:ln>
        </p:spPr>
      </p:sp>
      <p:sp>
        <p:nvSpPr>
          <p:cNvPr id="20" name="Text 17"/>
          <p:cNvSpPr txBox="1"/>
          <p:nvPr/>
        </p:nvSpPr>
        <p:spPr>
          <a:xfrm>
            <a:off x="804672" y="4105656"/>
            <a:ext cx="68580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ISO/IEC/IEEE 29119-4:2021 · índice de anexos · Anexo E</a:t>
            </a:r>
            <a:endParaRPr lang="en-US" sz="920" dirty="0"/>
          </a:p>
        </p:txBody>
      </p:sp>
      <p:sp>
        <p:nvSpPr>
          <p:cNvPr id="21" name="Text 18"/>
          <p:cNvSpPr txBox="1"/>
          <p:nvPr/>
        </p:nvSpPr>
        <p:spPr>
          <a:xfrm>
            <a:off x="658368" y="4553712"/>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EL VEREDICTO</a:t>
            </a:r>
            <a:endParaRPr lang="en-US" sz="960" dirty="0"/>
          </a:p>
        </p:txBody>
      </p:sp>
      <p:sp>
        <p:nvSpPr>
          <p:cNvPr id="22" name="Text 19"/>
          <p:cNvSpPr txBox="1"/>
          <p:nvPr/>
        </p:nvSpPr>
        <p:spPr>
          <a:xfrm>
            <a:off x="658368" y="4791456"/>
            <a:ext cx="10241280" cy="457200"/>
          </a:xfrm>
          <a:prstGeom prst="rect">
            <a:avLst/>
          </a:prstGeom>
          <a:noFill/>
          <a:ln/>
        </p:spPr>
        <p:txBody>
          <a:bodyPr wrap="square" lIns="0" tIns="0" rIns="0" bIns="0" rtlCol="0" anchor="t"/>
          <a:lstStyle/>
          <a:p>
            <a:pPr algn="l" indent="0" marL="0">
              <a:buNone/>
            </a:pPr>
            <a:r>
              <a:rPr lang="en-US" sz="2800" b="1" dirty="0">
                <a:solidFill>
                  <a:srgbClr val="FFFFFF"/>
                </a:solidFill>
                <a:latin typeface="Aptos Display" pitchFamily="34" charset="0"/>
                <a:ea typeface="Aptos Display" pitchFamily="34" charset="-122"/>
                <a:cs typeface="Aptos Display" pitchFamily="34" charset="-120"/>
              </a:rPr>
              <a:t>La dicotomía no es falsa. Es incompleta.</a:t>
            </a:r>
            <a:endParaRPr lang="en-US" sz="2800" dirty="0"/>
          </a:p>
        </p:txBody>
      </p:sp>
      <p:sp>
        <p:nvSpPr>
          <p:cNvPr id="23" name="Text 20"/>
          <p:cNvSpPr txBox="1"/>
          <p:nvPr/>
        </p:nvSpPr>
        <p:spPr>
          <a:xfrm>
            <a:off x="658368" y="5303520"/>
            <a:ext cx="10424160" cy="566928"/>
          </a:xfrm>
          <a:prstGeom prst="rect">
            <a:avLst/>
          </a:prstGeom>
          <a:noFill/>
          <a:ln/>
        </p:spPr>
        <p:txBody>
          <a:bodyPr wrap="square" lIns="0" tIns="0" rIns="0" bIns="0" rtlCol="0" anchor="t"/>
          <a:lstStyle/>
          <a:p>
            <a:pPr algn="l" indent="0" marL="0">
              <a:lnSpc>
                <a:spcPct val="116000"/>
              </a:lnSpc>
              <a:buNone/>
            </a:pPr>
            <a:r>
              <a:rPr lang="en-US" sz="1340" dirty="0">
                <a:solidFill>
                  <a:srgbClr val="E6EEF7"/>
                </a:solidFill>
                <a:latin typeface="Aptos" pitchFamily="34" charset="0"/>
                <a:ea typeface="Aptos" pitchFamily="34" charset="-122"/>
                <a:cs typeface="Aptos" pitchFamily="34" charset="-120"/>
              </a:rPr>
              <a:t>Hay una tercera familia sin color, y una cuarta caja que ni siquiera es blanca ni negra. Quien aprendió la tabla de dos columnas como la clasificación completa tiene un hueco justo donde viven las técnicas que dependen del criterio de quien prueba.</a:t>
            </a:r>
            <a:endParaRPr lang="en-US" sz="1340" dirty="0"/>
          </a:p>
        </p:txBody>
      </p:sp>
      <p:sp>
        <p:nvSpPr>
          <p:cNvPr id="24" name="Shape 21"/>
          <p:cNvSpPr/>
          <p:nvPr/>
        </p:nvSpPr>
        <p:spPr>
          <a:xfrm>
            <a:off x="658368" y="5943600"/>
            <a:ext cx="10874959" cy="0"/>
          </a:xfrm>
          <a:prstGeom prst="line">
            <a:avLst/>
          </a:prstGeom>
          <a:noFill/>
          <a:ln w="12700">
            <a:solidFill>
              <a:srgbClr val="2C4A66"/>
            </a:solidFill>
            <a:prstDash val="solid"/>
            <a:headEnd type="none"/>
            <a:tailEnd type="none"/>
          </a:ln>
        </p:spPr>
      </p:sp>
      <p:sp>
        <p:nvSpPr>
          <p:cNvPr id="25" name="Text 22"/>
          <p:cNvSpPr txBox="1"/>
          <p:nvPr/>
        </p:nvSpPr>
        <p:spPr>
          <a:xfrm>
            <a:off x="658368" y="6053328"/>
            <a:ext cx="10424160" cy="256032"/>
          </a:xfrm>
          <a:prstGeom prst="rect">
            <a:avLst/>
          </a:prstGeom>
          <a:noFill/>
          <a:ln/>
        </p:spPr>
        <p:txBody>
          <a:bodyPr wrap="square" lIns="0" tIns="0" rIns="0" bIns="0" rtlCol="0" anchor="t"/>
          <a:lstStyle/>
          <a:p>
            <a:pPr algn="l" indent="0" marL="0">
              <a:buNone/>
            </a:pPr>
            <a:r>
              <a:rPr lang="en-US" sz="1240" i="1" dirty="0">
                <a:solidFill>
                  <a:srgbClr val="EADFD0"/>
                </a:solidFill>
                <a:latin typeface="Aptos" pitchFamily="34" charset="0"/>
                <a:ea typeface="Aptos" pitchFamily="34" charset="-122"/>
                <a:cs typeface="Aptos" pitchFamily="34" charset="-120"/>
              </a:rPr>
              <a:t>Ni la norma ni el glosario dicen quién ejecuta cada técnica, ni en qué etapa, ni las presentan como dos tipos de prueba.</a:t>
            </a:r>
            <a:endParaRPr lang="en-US" sz="12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DISTINCIÓN QUE SÍ SOBREVIVE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Un modelo de prueba es aquello que se mira para inventar los casos</a:t>
            </a:r>
            <a:endParaRPr lang="en-US" sz="26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Si no es quién la escribe ni cuándo se ejecuta, ¿qué separa una familia de la otra? La norma lo responde con un término propio.</a:t>
            </a:r>
            <a:endParaRPr lang="en-US" sz="1450" dirty="0"/>
          </a:p>
        </p:txBody>
      </p:sp>
      <p:sp>
        <p:nvSpPr>
          <p:cNvPr id="11" name="Shape 8"/>
          <p:cNvSpPr/>
          <p:nvPr/>
        </p:nvSpPr>
        <p:spPr>
          <a:xfrm>
            <a:off x="658368" y="2377440"/>
            <a:ext cx="10874959" cy="548640"/>
          </a:xfrm>
          <a:prstGeom prst="rect">
            <a:avLst/>
          </a:prstGeom>
          <a:solidFill>
            <a:srgbClr val="F2E7D9"/>
          </a:solidFill>
          <a:ln w="12700">
            <a:solidFill>
              <a:srgbClr val="F2E7D9"/>
            </a:solidFill>
            <a:prstDash val="solid"/>
          </a:ln>
        </p:spPr>
      </p:sp>
      <p:sp>
        <p:nvSpPr>
          <p:cNvPr id="12" name="Shape 9"/>
          <p:cNvSpPr/>
          <p:nvPr/>
        </p:nvSpPr>
        <p:spPr>
          <a:xfrm>
            <a:off x="658368" y="2377440"/>
            <a:ext cx="64008" cy="548640"/>
          </a:xfrm>
          <a:prstGeom prst="rect">
            <a:avLst/>
          </a:prstGeom>
          <a:solidFill>
            <a:srgbClr val="102A43"/>
          </a:solidFill>
          <a:ln w="12700">
            <a:solidFill>
              <a:srgbClr val="102A43"/>
            </a:solidFill>
            <a:prstDash val="solid"/>
          </a:ln>
        </p:spPr>
      </p:sp>
      <p:sp>
        <p:nvSpPr>
          <p:cNvPr id="13" name="Text 10"/>
          <p:cNvSpPr txBox="1"/>
          <p:nvPr/>
        </p:nvSpPr>
        <p:spPr>
          <a:xfrm>
            <a:off x="969264" y="2487168"/>
            <a:ext cx="10308031" cy="329184"/>
          </a:xfrm>
          <a:prstGeom prst="rect">
            <a:avLst/>
          </a:prstGeom>
          <a:noFill/>
          <a:ln/>
        </p:spPr>
        <p:txBody>
          <a:bodyPr wrap="square" lIns="0" tIns="0" rIns="0" bIns="0" rtlCol="0" anchor="ctr"/>
          <a:lstStyle/>
          <a:p>
            <a:pPr algn="l" indent="0" marL="0">
              <a:lnSpc>
                <a:spcPct val="118000"/>
              </a:lnSpc>
              <a:buNone/>
            </a:pPr>
            <a:r>
              <a:rPr lang="en-US" sz="1280" i="1" dirty="0">
                <a:solidFill>
                  <a:srgbClr val="243B53"/>
                </a:solidFill>
                <a:latin typeface="Aptos" pitchFamily="34" charset="0"/>
                <a:ea typeface="Aptos" pitchFamily="34" charset="-122"/>
                <a:cs typeface="Aptos" pitchFamily="34" charset="-120"/>
              </a:rPr>
              <a:t>“representación del elemento sometido a prueba, que permite enfocar la prueba en características o cualidades particulares”</a:t>
            </a:r>
            <a:endParaRPr lang="en-US" sz="1280" dirty="0"/>
          </a:p>
        </p:txBody>
      </p:sp>
      <p:sp>
        <p:nvSpPr>
          <p:cNvPr id="14" name="Shape 11"/>
          <p:cNvSpPr/>
          <p:nvPr/>
        </p:nvSpPr>
        <p:spPr>
          <a:xfrm>
            <a:off x="658368" y="2999232"/>
            <a:ext cx="45720" cy="182880"/>
          </a:xfrm>
          <a:prstGeom prst="rect">
            <a:avLst/>
          </a:prstGeom>
          <a:solidFill>
            <a:srgbClr val="8A6A12"/>
          </a:solidFill>
          <a:ln w="12700">
            <a:solidFill>
              <a:srgbClr val="8A6A12"/>
            </a:solidFill>
            <a:prstDash val="solid"/>
          </a:ln>
        </p:spPr>
      </p:sp>
      <p:sp>
        <p:nvSpPr>
          <p:cNvPr id="15" name="Text 12"/>
          <p:cNvSpPr txBox="1"/>
          <p:nvPr/>
        </p:nvSpPr>
        <p:spPr>
          <a:xfrm>
            <a:off x="804672" y="2990088"/>
            <a:ext cx="59436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29119-4:2021, cláusula 3.54 · test model</a:t>
            </a:r>
            <a:endParaRPr lang="en-US" sz="920" dirty="0"/>
          </a:p>
        </p:txBody>
      </p:sp>
      <p:sp>
        <p:nvSpPr>
          <p:cNvPr id="16" name="Text 13"/>
          <p:cNvSpPr txBox="1"/>
          <p:nvPr/>
        </p:nvSpPr>
        <p:spPr>
          <a:xfrm>
            <a:off x="658368" y="3364992"/>
            <a:ext cx="54864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LOS EJEMPLOS QUE DA LA PROPIA NORMA</a:t>
            </a:r>
            <a:endParaRPr lang="en-US" sz="960" dirty="0"/>
          </a:p>
        </p:txBody>
      </p:sp>
      <p:sp>
        <p:nvSpPr>
          <p:cNvPr id="17" name="Shape 14"/>
          <p:cNvSpPr/>
          <p:nvPr/>
        </p:nvSpPr>
        <p:spPr>
          <a:xfrm>
            <a:off x="658368" y="3657600"/>
            <a:ext cx="2615184" cy="420624"/>
          </a:xfrm>
          <a:prstGeom prst="rect">
            <a:avLst/>
          </a:prstGeom>
          <a:solidFill>
            <a:srgbClr val="FFFFFF"/>
          </a:solidFill>
          <a:ln w="12700">
            <a:solidFill>
              <a:srgbClr val="FFFFFF"/>
            </a:solidFill>
            <a:prstDash val="solid"/>
          </a:ln>
        </p:spPr>
      </p:sp>
      <p:sp>
        <p:nvSpPr>
          <p:cNvPr id="18" name="Shape 15"/>
          <p:cNvSpPr/>
          <p:nvPr/>
        </p:nvSpPr>
        <p:spPr>
          <a:xfrm>
            <a:off x="658368" y="3657600"/>
            <a:ext cx="45720" cy="420624"/>
          </a:xfrm>
          <a:prstGeom prst="rect">
            <a:avLst/>
          </a:prstGeom>
          <a:solidFill>
            <a:srgbClr val="102A43"/>
          </a:solidFill>
          <a:ln w="12700">
            <a:solidFill>
              <a:srgbClr val="102A43"/>
            </a:solidFill>
            <a:prstDash val="solid"/>
          </a:ln>
        </p:spPr>
      </p:sp>
      <p:sp>
        <p:nvSpPr>
          <p:cNvPr id="19" name="Text 16"/>
          <p:cNvSpPr txBox="1"/>
          <p:nvPr/>
        </p:nvSpPr>
        <p:spPr>
          <a:xfrm>
            <a:off x="841248" y="3685032"/>
            <a:ext cx="2340864" cy="365760"/>
          </a:xfrm>
          <a:prstGeom prst="rect">
            <a:avLst/>
          </a:prstGeom>
          <a:noFill/>
          <a:ln/>
        </p:spPr>
        <p:txBody>
          <a:bodyPr wrap="square" lIns="0" tIns="0" rIns="0" bIns="0" rtlCol="0" anchor="ctr"/>
          <a:lstStyle/>
          <a:p>
            <a:pPr algn="l" indent="0" marL="0">
              <a:buNone/>
            </a:pPr>
            <a:r>
              <a:rPr lang="en-US" sz="1120" dirty="0">
                <a:solidFill>
                  <a:srgbClr val="243B53"/>
                </a:solidFill>
                <a:latin typeface="Aptos" pitchFamily="34" charset="0"/>
                <a:ea typeface="Aptos" pitchFamily="34" charset="-122"/>
                <a:cs typeface="Aptos" pitchFamily="34" charset="-120"/>
              </a:rPr>
              <a:t>Enunciados de requisitos</a:t>
            </a:r>
            <a:endParaRPr lang="en-US" sz="1120" dirty="0"/>
          </a:p>
        </p:txBody>
      </p:sp>
      <p:sp>
        <p:nvSpPr>
          <p:cNvPr id="20" name="Shape 17"/>
          <p:cNvSpPr/>
          <p:nvPr/>
        </p:nvSpPr>
        <p:spPr>
          <a:xfrm>
            <a:off x="3419856" y="3657600"/>
            <a:ext cx="2615184" cy="420624"/>
          </a:xfrm>
          <a:prstGeom prst="rect">
            <a:avLst/>
          </a:prstGeom>
          <a:solidFill>
            <a:srgbClr val="FFFFFF"/>
          </a:solidFill>
          <a:ln w="12700">
            <a:solidFill>
              <a:srgbClr val="FFFFFF"/>
            </a:solidFill>
            <a:prstDash val="solid"/>
          </a:ln>
        </p:spPr>
      </p:sp>
      <p:sp>
        <p:nvSpPr>
          <p:cNvPr id="21" name="Shape 18"/>
          <p:cNvSpPr/>
          <p:nvPr/>
        </p:nvSpPr>
        <p:spPr>
          <a:xfrm>
            <a:off x="3419856" y="3657600"/>
            <a:ext cx="45720" cy="420624"/>
          </a:xfrm>
          <a:prstGeom prst="rect">
            <a:avLst/>
          </a:prstGeom>
          <a:solidFill>
            <a:srgbClr val="102A43"/>
          </a:solidFill>
          <a:ln w="12700">
            <a:solidFill>
              <a:srgbClr val="102A43"/>
            </a:solidFill>
            <a:prstDash val="solid"/>
          </a:ln>
        </p:spPr>
      </p:sp>
      <p:sp>
        <p:nvSpPr>
          <p:cNvPr id="22" name="Text 19"/>
          <p:cNvSpPr txBox="1"/>
          <p:nvPr/>
        </p:nvSpPr>
        <p:spPr>
          <a:xfrm>
            <a:off x="3602736" y="3685032"/>
            <a:ext cx="2340864" cy="365760"/>
          </a:xfrm>
          <a:prstGeom prst="rect">
            <a:avLst/>
          </a:prstGeom>
          <a:noFill/>
          <a:ln/>
        </p:spPr>
        <p:txBody>
          <a:bodyPr wrap="square" lIns="0" tIns="0" rIns="0" bIns="0" rtlCol="0" anchor="ctr"/>
          <a:lstStyle/>
          <a:p>
            <a:pPr algn="l" indent="0" marL="0">
              <a:buNone/>
            </a:pPr>
            <a:r>
              <a:rPr lang="en-US" sz="1120" dirty="0">
                <a:solidFill>
                  <a:srgbClr val="243B53"/>
                </a:solidFill>
                <a:latin typeface="Aptos" pitchFamily="34" charset="0"/>
                <a:ea typeface="Aptos" pitchFamily="34" charset="-122"/>
                <a:cs typeface="Aptos" pitchFamily="34" charset="-120"/>
              </a:rPr>
              <a:t>Particiones de equivalencia</a:t>
            </a:r>
            <a:endParaRPr lang="en-US" sz="1120" dirty="0"/>
          </a:p>
        </p:txBody>
      </p:sp>
      <p:sp>
        <p:nvSpPr>
          <p:cNvPr id="23" name="Shape 20"/>
          <p:cNvSpPr/>
          <p:nvPr/>
        </p:nvSpPr>
        <p:spPr>
          <a:xfrm>
            <a:off x="6181344" y="3657600"/>
            <a:ext cx="2615184" cy="420624"/>
          </a:xfrm>
          <a:prstGeom prst="rect">
            <a:avLst/>
          </a:prstGeom>
          <a:solidFill>
            <a:srgbClr val="FFFFFF"/>
          </a:solidFill>
          <a:ln w="12700">
            <a:solidFill>
              <a:srgbClr val="FFFFFF"/>
            </a:solidFill>
            <a:prstDash val="solid"/>
          </a:ln>
        </p:spPr>
      </p:sp>
      <p:sp>
        <p:nvSpPr>
          <p:cNvPr id="24" name="Shape 21"/>
          <p:cNvSpPr/>
          <p:nvPr/>
        </p:nvSpPr>
        <p:spPr>
          <a:xfrm>
            <a:off x="6181344" y="3657600"/>
            <a:ext cx="45720" cy="420624"/>
          </a:xfrm>
          <a:prstGeom prst="rect">
            <a:avLst/>
          </a:prstGeom>
          <a:solidFill>
            <a:srgbClr val="102A43"/>
          </a:solidFill>
          <a:ln w="12700">
            <a:solidFill>
              <a:srgbClr val="102A43"/>
            </a:solidFill>
            <a:prstDash val="solid"/>
          </a:ln>
        </p:spPr>
      </p:sp>
      <p:sp>
        <p:nvSpPr>
          <p:cNvPr id="25" name="Text 22"/>
          <p:cNvSpPr txBox="1"/>
          <p:nvPr/>
        </p:nvSpPr>
        <p:spPr>
          <a:xfrm>
            <a:off x="6364224" y="3685032"/>
            <a:ext cx="2340864" cy="365760"/>
          </a:xfrm>
          <a:prstGeom prst="rect">
            <a:avLst/>
          </a:prstGeom>
          <a:noFill/>
          <a:ln/>
        </p:spPr>
        <p:txBody>
          <a:bodyPr wrap="square" lIns="0" tIns="0" rIns="0" bIns="0" rtlCol="0" anchor="ctr"/>
          <a:lstStyle/>
          <a:p>
            <a:pPr algn="l" indent="0" marL="0">
              <a:buNone/>
            </a:pPr>
            <a:r>
              <a:rPr lang="en-US" sz="1120" dirty="0">
                <a:solidFill>
                  <a:srgbClr val="243B53"/>
                </a:solidFill>
                <a:latin typeface="Aptos" pitchFamily="34" charset="0"/>
                <a:ea typeface="Aptos" pitchFamily="34" charset="-122"/>
                <a:cs typeface="Aptos" pitchFamily="34" charset="-120"/>
              </a:rPr>
              <a:t>Diagrama de transición de estados</a:t>
            </a:r>
            <a:endParaRPr lang="en-US" sz="1120" dirty="0"/>
          </a:p>
        </p:txBody>
      </p:sp>
      <p:sp>
        <p:nvSpPr>
          <p:cNvPr id="26" name="Shape 23"/>
          <p:cNvSpPr/>
          <p:nvPr/>
        </p:nvSpPr>
        <p:spPr>
          <a:xfrm>
            <a:off x="8942832" y="3657600"/>
            <a:ext cx="2615184" cy="420624"/>
          </a:xfrm>
          <a:prstGeom prst="rect">
            <a:avLst/>
          </a:prstGeom>
          <a:solidFill>
            <a:srgbClr val="FFFFFF"/>
          </a:solidFill>
          <a:ln w="12700">
            <a:solidFill>
              <a:srgbClr val="FFFFFF"/>
            </a:solidFill>
            <a:prstDash val="solid"/>
          </a:ln>
        </p:spPr>
      </p:sp>
      <p:sp>
        <p:nvSpPr>
          <p:cNvPr id="27" name="Shape 24"/>
          <p:cNvSpPr/>
          <p:nvPr/>
        </p:nvSpPr>
        <p:spPr>
          <a:xfrm>
            <a:off x="8942832" y="3657600"/>
            <a:ext cx="45720" cy="420624"/>
          </a:xfrm>
          <a:prstGeom prst="rect">
            <a:avLst/>
          </a:prstGeom>
          <a:solidFill>
            <a:srgbClr val="102A43"/>
          </a:solidFill>
          <a:ln w="12700">
            <a:solidFill>
              <a:srgbClr val="102A43"/>
            </a:solidFill>
            <a:prstDash val="solid"/>
          </a:ln>
        </p:spPr>
      </p:sp>
      <p:sp>
        <p:nvSpPr>
          <p:cNvPr id="28" name="Text 25"/>
          <p:cNvSpPr txBox="1"/>
          <p:nvPr/>
        </p:nvSpPr>
        <p:spPr>
          <a:xfrm>
            <a:off x="9125712" y="3685032"/>
            <a:ext cx="2340864" cy="365760"/>
          </a:xfrm>
          <a:prstGeom prst="rect">
            <a:avLst/>
          </a:prstGeom>
          <a:noFill/>
          <a:ln/>
        </p:spPr>
        <p:txBody>
          <a:bodyPr wrap="square" lIns="0" tIns="0" rIns="0" bIns="0" rtlCol="0" anchor="ctr"/>
          <a:lstStyle/>
          <a:p>
            <a:pPr algn="l" indent="0" marL="0">
              <a:buNone/>
            </a:pPr>
            <a:r>
              <a:rPr lang="en-US" sz="1120" dirty="0">
                <a:solidFill>
                  <a:srgbClr val="243B53"/>
                </a:solidFill>
                <a:latin typeface="Aptos" pitchFamily="34" charset="0"/>
                <a:ea typeface="Aptos" pitchFamily="34" charset="-122"/>
                <a:cs typeface="Aptos" pitchFamily="34" charset="-120"/>
              </a:rPr>
              <a:t>Tabla de decisión</a:t>
            </a:r>
            <a:endParaRPr lang="en-US" sz="1120" dirty="0"/>
          </a:p>
        </p:txBody>
      </p:sp>
      <p:sp>
        <p:nvSpPr>
          <p:cNvPr id="29" name="Shape 26"/>
          <p:cNvSpPr/>
          <p:nvPr/>
        </p:nvSpPr>
        <p:spPr>
          <a:xfrm>
            <a:off x="658368" y="4169664"/>
            <a:ext cx="2615184" cy="420624"/>
          </a:xfrm>
          <a:prstGeom prst="rect">
            <a:avLst/>
          </a:prstGeom>
          <a:solidFill>
            <a:srgbClr val="F8E4E5"/>
          </a:solidFill>
          <a:ln w="12700">
            <a:solidFill>
              <a:srgbClr val="F8E4E5"/>
            </a:solidFill>
            <a:prstDash val="solid"/>
          </a:ln>
        </p:spPr>
      </p:sp>
      <p:sp>
        <p:nvSpPr>
          <p:cNvPr id="30" name="Shape 27"/>
          <p:cNvSpPr/>
          <p:nvPr/>
        </p:nvSpPr>
        <p:spPr>
          <a:xfrm>
            <a:off x="658368" y="4169664"/>
            <a:ext cx="45720" cy="420624"/>
          </a:xfrm>
          <a:prstGeom prst="rect">
            <a:avLst/>
          </a:prstGeom>
          <a:solidFill>
            <a:srgbClr val="B3181E"/>
          </a:solidFill>
          <a:ln w="12700">
            <a:solidFill>
              <a:srgbClr val="B3181E"/>
            </a:solidFill>
            <a:prstDash val="solid"/>
          </a:ln>
        </p:spPr>
      </p:sp>
      <p:sp>
        <p:nvSpPr>
          <p:cNvPr id="31" name="Text 28"/>
          <p:cNvSpPr txBox="1"/>
          <p:nvPr/>
        </p:nvSpPr>
        <p:spPr>
          <a:xfrm>
            <a:off x="841248" y="4197096"/>
            <a:ext cx="2340864" cy="365760"/>
          </a:xfrm>
          <a:prstGeom prst="rect">
            <a:avLst/>
          </a:prstGeom>
          <a:noFill/>
          <a:ln/>
        </p:spPr>
        <p:txBody>
          <a:bodyPr wrap="square" lIns="0" tIns="0" rIns="0" bIns="0" rtlCol="0" anchor="ctr"/>
          <a:lstStyle/>
          <a:p>
            <a:pPr algn="l" indent="0" marL="0">
              <a:buNone/>
            </a:pPr>
            <a:r>
              <a:rPr lang="en-US" sz="1120" b="1" dirty="0">
                <a:solidFill>
                  <a:srgbClr val="243B53"/>
                </a:solidFill>
                <a:latin typeface="Aptos" pitchFamily="34" charset="0"/>
                <a:ea typeface="Aptos" pitchFamily="34" charset="-122"/>
                <a:cs typeface="Aptos" pitchFamily="34" charset="-120"/>
              </a:rPr>
              <a:t>Código fuente</a:t>
            </a:r>
            <a:endParaRPr lang="en-US" sz="1120" dirty="0"/>
          </a:p>
        </p:txBody>
      </p:sp>
      <p:sp>
        <p:nvSpPr>
          <p:cNvPr id="32" name="Shape 29"/>
          <p:cNvSpPr/>
          <p:nvPr/>
        </p:nvSpPr>
        <p:spPr>
          <a:xfrm>
            <a:off x="3419856" y="4169664"/>
            <a:ext cx="2615184" cy="420624"/>
          </a:xfrm>
          <a:prstGeom prst="rect">
            <a:avLst/>
          </a:prstGeom>
          <a:solidFill>
            <a:srgbClr val="F8E4E5"/>
          </a:solidFill>
          <a:ln w="12700">
            <a:solidFill>
              <a:srgbClr val="F8E4E5"/>
            </a:solidFill>
            <a:prstDash val="solid"/>
          </a:ln>
        </p:spPr>
      </p:sp>
      <p:sp>
        <p:nvSpPr>
          <p:cNvPr id="33" name="Shape 30"/>
          <p:cNvSpPr/>
          <p:nvPr/>
        </p:nvSpPr>
        <p:spPr>
          <a:xfrm>
            <a:off x="3419856" y="4169664"/>
            <a:ext cx="45720" cy="420624"/>
          </a:xfrm>
          <a:prstGeom prst="rect">
            <a:avLst/>
          </a:prstGeom>
          <a:solidFill>
            <a:srgbClr val="B3181E"/>
          </a:solidFill>
          <a:ln w="12700">
            <a:solidFill>
              <a:srgbClr val="B3181E"/>
            </a:solidFill>
            <a:prstDash val="solid"/>
          </a:ln>
        </p:spPr>
      </p:sp>
      <p:sp>
        <p:nvSpPr>
          <p:cNvPr id="34" name="Text 31"/>
          <p:cNvSpPr txBox="1"/>
          <p:nvPr/>
        </p:nvSpPr>
        <p:spPr>
          <a:xfrm>
            <a:off x="3602736" y="4197096"/>
            <a:ext cx="2340864" cy="365760"/>
          </a:xfrm>
          <a:prstGeom prst="rect">
            <a:avLst/>
          </a:prstGeom>
          <a:noFill/>
          <a:ln/>
        </p:spPr>
        <p:txBody>
          <a:bodyPr wrap="square" lIns="0" tIns="0" rIns="0" bIns="0" rtlCol="0" anchor="ctr"/>
          <a:lstStyle/>
          <a:p>
            <a:pPr algn="l" indent="0" marL="0">
              <a:buNone/>
            </a:pPr>
            <a:r>
              <a:rPr lang="en-US" sz="1120" b="1" dirty="0">
                <a:solidFill>
                  <a:srgbClr val="243B53"/>
                </a:solidFill>
                <a:latin typeface="Aptos" pitchFamily="34" charset="0"/>
                <a:ea typeface="Aptos" pitchFamily="34" charset="-122"/>
                <a:cs typeface="Aptos" pitchFamily="34" charset="-120"/>
              </a:rPr>
              <a:t>Grafo de flujo de control</a:t>
            </a:r>
            <a:endParaRPr lang="en-US" sz="1120" dirty="0"/>
          </a:p>
        </p:txBody>
      </p:sp>
      <p:sp>
        <p:nvSpPr>
          <p:cNvPr id="35" name="Shape 32"/>
          <p:cNvSpPr/>
          <p:nvPr/>
        </p:nvSpPr>
        <p:spPr>
          <a:xfrm>
            <a:off x="6181344" y="4169664"/>
            <a:ext cx="2615184" cy="420624"/>
          </a:xfrm>
          <a:prstGeom prst="rect">
            <a:avLst/>
          </a:prstGeom>
          <a:solidFill>
            <a:srgbClr val="FFFFFF"/>
          </a:solidFill>
          <a:ln w="12700">
            <a:solidFill>
              <a:srgbClr val="FFFFFF"/>
            </a:solidFill>
            <a:prstDash val="solid"/>
          </a:ln>
        </p:spPr>
      </p:sp>
      <p:sp>
        <p:nvSpPr>
          <p:cNvPr id="36" name="Shape 33"/>
          <p:cNvSpPr/>
          <p:nvPr/>
        </p:nvSpPr>
        <p:spPr>
          <a:xfrm>
            <a:off x="6181344" y="4169664"/>
            <a:ext cx="45720" cy="420624"/>
          </a:xfrm>
          <a:prstGeom prst="rect">
            <a:avLst/>
          </a:prstGeom>
          <a:solidFill>
            <a:srgbClr val="102A43"/>
          </a:solidFill>
          <a:ln w="12700">
            <a:solidFill>
              <a:srgbClr val="102A43"/>
            </a:solidFill>
            <a:prstDash val="solid"/>
          </a:ln>
        </p:spPr>
      </p:sp>
      <p:sp>
        <p:nvSpPr>
          <p:cNvPr id="37" name="Text 34"/>
          <p:cNvSpPr txBox="1"/>
          <p:nvPr/>
        </p:nvSpPr>
        <p:spPr>
          <a:xfrm>
            <a:off x="6364224" y="4197096"/>
            <a:ext cx="2340864" cy="365760"/>
          </a:xfrm>
          <a:prstGeom prst="rect">
            <a:avLst/>
          </a:prstGeom>
          <a:noFill/>
          <a:ln/>
        </p:spPr>
        <p:txBody>
          <a:bodyPr wrap="square" lIns="0" tIns="0" rIns="0" bIns="0" rtlCol="0" anchor="ctr"/>
          <a:lstStyle/>
          <a:p>
            <a:pPr algn="l" indent="0" marL="0">
              <a:buNone/>
            </a:pPr>
            <a:r>
              <a:rPr lang="en-US" sz="1120" dirty="0">
                <a:solidFill>
                  <a:srgbClr val="243B53"/>
                </a:solidFill>
                <a:latin typeface="Aptos" pitchFamily="34" charset="0"/>
                <a:ea typeface="Aptos" pitchFamily="34" charset="-122"/>
                <a:cs typeface="Aptos" pitchFamily="34" charset="-120"/>
              </a:rPr>
              <a:t>Parámetros y valores</a:t>
            </a:r>
            <a:endParaRPr lang="en-US" sz="1120" dirty="0"/>
          </a:p>
        </p:txBody>
      </p:sp>
      <p:sp>
        <p:nvSpPr>
          <p:cNvPr id="38" name="Shape 35"/>
          <p:cNvSpPr/>
          <p:nvPr/>
        </p:nvSpPr>
        <p:spPr>
          <a:xfrm>
            <a:off x="8942832" y="4169664"/>
            <a:ext cx="2615184" cy="420624"/>
          </a:xfrm>
          <a:prstGeom prst="rect">
            <a:avLst/>
          </a:prstGeom>
          <a:solidFill>
            <a:srgbClr val="FFFFFF"/>
          </a:solidFill>
          <a:ln w="12700">
            <a:solidFill>
              <a:srgbClr val="FFFFFF"/>
            </a:solidFill>
            <a:prstDash val="solid"/>
          </a:ln>
        </p:spPr>
      </p:sp>
      <p:sp>
        <p:nvSpPr>
          <p:cNvPr id="39" name="Shape 36"/>
          <p:cNvSpPr/>
          <p:nvPr/>
        </p:nvSpPr>
        <p:spPr>
          <a:xfrm>
            <a:off x="8942832" y="4169664"/>
            <a:ext cx="45720" cy="420624"/>
          </a:xfrm>
          <a:prstGeom prst="rect">
            <a:avLst/>
          </a:prstGeom>
          <a:solidFill>
            <a:srgbClr val="102A43"/>
          </a:solidFill>
          <a:ln w="12700">
            <a:solidFill>
              <a:srgbClr val="102A43"/>
            </a:solidFill>
            <a:prstDash val="solid"/>
          </a:ln>
        </p:spPr>
      </p:sp>
      <p:sp>
        <p:nvSpPr>
          <p:cNvPr id="40" name="Text 37"/>
          <p:cNvSpPr txBox="1"/>
          <p:nvPr/>
        </p:nvSpPr>
        <p:spPr>
          <a:xfrm>
            <a:off x="9125712" y="4197096"/>
            <a:ext cx="2340864" cy="365760"/>
          </a:xfrm>
          <a:prstGeom prst="rect">
            <a:avLst/>
          </a:prstGeom>
          <a:noFill/>
          <a:ln/>
        </p:spPr>
        <p:txBody>
          <a:bodyPr wrap="square" lIns="0" tIns="0" rIns="0" bIns="0" rtlCol="0" anchor="ctr"/>
          <a:lstStyle/>
          <a:p>
            <a:pPr algn="l" indent="0" marL="0">
              <a:buNone/>
            </a:pPr>
            <a:r>
              <a:rPr lang="en-US" sz="1120" dirty="0">
                <a:solidFill>
                  <a:srgbClr val="243B53"/>
                </a:solidFill>
                <a:latin typeface="Aptos" pitchFamily="34" charset="0"/>
                <a:ea typeface="Aptos" pitchFamily="34" charset="-122"/>
                <a:cs typeface="Aptos" pitchFamily="34" charset="-120"/>
              </a:rPr>
              <a:t>Árbol de clasificación</a:t>
            </a:r>
            <a:endParaRPr lang="en-US" sz="1120" dirty="0"/>
          </a:p>
        </p:txBody>
      </p:sp>
      <p:sp>
        <p:nvSpPr>
          <p:cNvPr id="41" name="Shape 38"/>
          <p:cNvSpPr/>
          <p:nvPr/>
        </p:nvSpPr>
        <p:spPr>
          <a:xfrm>
            <a:off x="658368" y="4846320"/>
            <a:ext cx="10874959" cy="566928"/>
          </a:xfrm>
          <a:prstGeom prst="rect">
            <a:avLst/>
          </a:prstGeom>
          <a:solidFill>
            <a:srgbClr val="F2E7D9"/>
          </a:solidFill>
          <a:ln w="12700">
            <a:solidFill>
              <a:srgbClr val="F2E7D9"/>
            </a:solidFill>
            <a:prstDash val="solid"/>
          </a:ln>
        </p:spPr>
      </p:sp>
      <p:sp>
        <p:nvSpPr>
          <p:cNvPr id="42" name="Shape 39"/>
          <p:cNvSpPr/>
          <p:nvPr/>
        </p:nvSpPr>
        <p:spPr>
          <a:xfrm>
            <a:off x="658368" y="4846320"/>
            <a:ext cx="54864" cy="566928"/>
          </a:xfrm>
          <a:prstGeom prst="rect">
            <a:avLst/>
          </a:prstGeom>
          <a:solidFill>
            <a:srgbClr val="8A6A12"/>
          </a:solidFill>
          <a:ln w="12700">
            <a:solidFill>
              <a:srgbClr val="8A6A12"/>
            </a:solidFill>
            <a:prstDash val="solid"/>
          </a:ln>
        </p:spPr>
      </p:sp>
      <p:sp>
        <p:nvSpPr>
          <p:cNvPr id="43" name="Text 40"/>
          <p:cNvSpPr txBox="1"/>
          <p:nvPr/>
        </p:nvSpPr>
        <p:spPr>
          <a:xfrm>
            <a:off x="932688" y="4937760"/>
            <a:ext cx="10326319" cy="402336"/>
          </a:xfrm>
          <a:prstGeom prst="rect">
            <a:avLst/>
          </a:prstGeom>
          <a:noFill/>
          <a:ln/>
        </p:spPr>
        <p:txBody>
          <a:bodyPr wrap="square" lIns="0" tIns="0" rIns="0" bIns="0" rtlCol="0" anchor="ctr"/>
          <a:lstStyle/>
          <a:p>
            <a:pPr algn="l" indent="0" marL="0">
              <a:lnSpc>
                <a:spcPct val="112000"/>
              </a:lnSpc>
              <a:buNone/>
            </a:pPr>
            <a:r>
              <a:rPr lang="en-US" sz="1300" dirty="0">
                <a:solidFill>
                  <a:srgbClr val="243B53"/>
                </a:solidFill>
                <a:latin typeface="Aptos" pitchFamily="34" charset="0"/>
                <a:ea typeface="Aptos" pitchFamily="34" charset="-122"/>
                <a:cs typeface="Aptos" pitchFamily="34" charset="-120"/>
              </a:rPr>
              <a:t>En la misma lista conviven los enunciados de requisitos y el código fuente: los dos son modelos legítimos. Lo que cambia entre las familias es CUÁL DE LOS DOS se usó para derivar el caso.</a:t>
            </a:r>
            <a:endParaRPr lang="en-US" sz="1300" dirty="0"/>
          </a:p>
        </p:txBody>
      </p:sp>
      <p:sp>
        <p:nvSpPr>
          <p:cNvPr id="44" name="Shape 41"/>
          <p:cNvSpPr/>
          <p:nvPr/>
        </p:nvSpPr>
        <p:spPr>
          <a:xfrm>
            <a:off x="658368" y="5596128"/>
            <a:ext cx="10874959" cy="512064"/>
          </a:xfrm>
          <a:prstGeom prst="rect">
            <a:avLst/>
          </a:prstGeom>
          <a:solidFill>
            <a:srgbClr val="102A43"/>
          </a:solidFill>
          <a:ln w="12700">
            <a:solidFill>
              <a:srgbClr val="102A43"/>
            </a:solidFill>
            <a:prstDash val="solid"/>
          </a:ln>
        </p:spPr>
      </p:sp>
      <p:sp>
        <p:nvSpPr>
          <p:cNvPr id="45" name="Text 42"/>
          <p:cNvSpPr txBox="1"/>
          <p:nvPr/>
        </p:nvSpPr>
        <p:spPr>
          <a:xfrm>
            <a:off x="969264" y="5632704"/>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Caja negra y caja blanca no describen dos calidades de prueba: describen de dónde salió el caso.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LAS DEFINICIONES, UNA POR UNA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Cada técnica declara de qué modelo deriva</a:t>
            </a:r>
            <a:endParaRPr lang="en-US" sz="30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Dos términos antes de leerlas: «test item» es el elemento sometido a prueba —aquí, una función—, y «exercising» es ejercitar, hacer pasar la ejecución por algo.</a:t>
            </a:r>
            <a:endParaRPr lang="en-US" sz="1450" dirty="0"/>
          </a:p>
        </p:txBody>
      </p:sp>
      <p:sp>
        <p:nvSpPr>
          <p:cNvPr id="11" name="Shape 8"/>
          <p:cNvSpPr/>
          <p:nvPr/>
        </p:nvSpPr>
        <p:spPr>
          <a:xfrm>
            <a:off x="658368" y="2395728"/>
            <a:ext cx="10874959" cy="950976"/>
          </a:xfrm>
          <a:prstGeom prst="rect">
            <a:avLst/>
          </a:prstGeom>
          <a:solidFill>
            <a:srgbClr val="FFFFFF"/>
          </a:solidFill>
          <a:ln w="12700">
            <a:solidFill>
              <a:srgbClr val="FFFFFF"/>
            </a:solidFill>
            <a:prstDash val="solid"/>
          </a:ln>
        </p:spPr>
      </p:sp>
      <p:sp>
        <p:nvSpPr>
          <p:cNvPr id="12" name="Shape 9"/>
          <p:cNvSpPr/>
          <p:nvPr/>
        </p:nvSpPr>
        <p:spPr>
          <a:xfrm>
            <a:off x="658368" y="2395728"/>
            <a:ext cx="54864" cy="950976"/>
          </a:xfrm>
          <a:prstGeom prst="rect">
            <a:avLst/>
          </a:prstGeom>
          <a:solidFill>
            <a:srgbClr val="102A43"/>
          </a:solidFill>
          <a:ln w="12700">
            <a:solidFill>
              <a:srgbClr val="102A43"/>
            </a:solidFill>
            <a:prstDash val="solid"/>
          </a:ln>
        </p:spPr>
      </p:sp>
      <p:sp>
        <p:nvSpPr>
          <p:cNvPr id="13" name="Text 10"/>
          <p:cNvSpPr txBox="1"/>
          <p:nvPr/>
        </p:nvSpPr>
        <p:spPr>
          <a:xfrm>
            <a:off x="932688" y="2487168"/>
            <a:ext cx="3291840" cy="237744"/>
          </a:xfrm>
          <a:prstGeom prst="rect">
            <a:avLst/>
          </a:prstGeom>
          <a:noFill/>
          <a:ln/>
        </p:spPr>
        <p:txBody>
          <a:bodyPr wrap="square" lIns="0" tIns="0" rIns="0" bIns="0" rtlCol="0" anchor="t"/>
          <a:lstStyle/>
          <a:p>
            <a:pPr algn="l" indent="0" marL="0">
              <a:buNone/>
            </a:pPr>
            <a:r>
              <a:rPr lang="en-US" sz="1240" b="1" dirty="0">
                <a:solidFill>
                  <a:srgbClr val="102A43"/>
                </a:solidFill>
                <a:latin typeface="Aptos" pitchFamily="34" charset="0"/>
                <a:ea typeface="Aptos" pitchFamily="34" charset="-122"/>
                <a:cs typeface="Aptos" pitchFamily="34" charset="-120"/>
              </a:rPr>
              <a:t>3.29 · Partición de equivalencia</a:t>
            </a:r>
            <a:endParaRPr lang="en-US" sz="1240" dirty="0"/>
          </a:p>
        </p:txBody>
      </p:sp>
      <p:sp>
        <p:nvSpPr>
          <p:cNvPr id="14" name="Text 11"/>
          <p:cNvSpPr txBox="1"/>
          <p:nvPr/>
        </p:nvSpPr>
        <p:spPr>
          <a:xfrm>
            <a:off x="932688" y="2761488"/>
            <a:ext cx="6583680" cy="493776"/>
          </a:xfrm>
          <a:prstGeom prst="rect">
            <a:avLst/>
          </a:prstGeom>
          <a:noFill/>
          <a:ln/>
        </p:spPr>
        <p:txBody>
          <a:bodyPr wrap="square" lIns="0" tIns="0" rIns="0" bIns="0" rtlCol="0" anchor="t"/>
          <a:lstStyle/>
          <a:p>
            <a:pPr algn="l" indent="0" marL="0">
              <a:lnSpc>
                <a:spcPct val="112000"/>
              </a:lnSpc>
              <a:buNone/>
            </a:pPr>
            <a:r>
              <a:rPr lang="en-US" sz="1080" i="1" dirty="0">
                <a:solidFill>
                  <a:srgbClr val="52606D"/>
                </a:solidFill>
                <a:latin typeface="Aptos" pitchFamily="34" charset="0"/>
                <a:ea typeface="Aptos" pitchFamily="34" charset="-122"/>
                <a:cs typeface="Aptos" pitchFamily="34" charset="-120"/>
              </a:rPr>
              <a:t>“specification-based test case design technique based on exercising equivalence partitions”</a:t>
            </a:r>
            <a:endParaRPr lang="en-US" sz="1080" dirty="0"/>
          </a:p>
        </p:txBody>
      </p:sp>
      <p:sp>
        <p:nvSpPr>
          <p:cNvPr id="15" name="Shape 12"/>
          <p:cNvSpPr/>
          <p:nvPr/>
        </p:nvSpPr>
        <p:spPr>
          <a:xfrm>
            <a:off x="7717536" y="2523744"/>
            <a:ext cx="0" cy="694944"/>
          </a:xfrm>
          <a:prstGeom prst="line">
            <a:avLst/>
          </a:prstGeom>
          <a:noFill/>
          <a:ln w="12700">
            <a:solidFill>
              <a:srgbClr val="D8CFC4"/>
            </a:solidFill>
            <a:prstDash val="solid"/>
            <a:headEnd type="none"/>
            <a:tailEnd type="none"/>
          </a:ln>
        </p:spPr>
      </p:sp>
      <p:sp>
        <p:nvSpPr>
          <p:cNvPr id="16" name="Text 13"/>
          <p:cNvSpPr txBox="1"/>
          <p:nvPr/>
        </p:nvSpPr>
        <p:spPr>
          <a:xfrm>
            <a:off x="7918704" y="2615184"/>
            <a:ext cx="3340303" cy="548640"/>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Técnica de diseño de casos basada en la ESPECIFICACIÓN, que ejercita particiones de equivalencia</a:t>
            </a:r>
            <a:endParaRPr lang="en-US" sz="1200" dirty="0"/>
          </a:p>
        </p:txBody>
      </p:sp>
      <p:sp>
        <p:nvSpPr>
          <p:cNvPr id="17" name="Shape 14"/>
          <p:cNvSpPr/>
          <p:nvPr/>
        </p:nvSpPr>
        <p:spPr>
          <a:xfrm>
            <a:off x="658368" y="3456432"/>
            <a:ext cx="10874959" cy="950976"/>
          </a:xfrm>
          <a:prstGeom prst="rect">
            <a:avLst/>
          </a:prstGeom>
          <a:solidFill>
            <a:srgbClr val="FFFFFF"/>
          </a:solidFill>
          <a:ln w="12700">
            <a:solidFill>
              <a:srgbClr val="FFFFFF"/>
            </a:solidFill>
            <a:prstDash val="solid"/>
          </a:ln>
        </p:spPr>
      </p:sp>
      <p:sp>
        <p:nvSpPr>
          <p:cNvPr id="18" name="Shape 15"/>
          <p:cNvSpPr/>
          <p:nvPr/>
        </p:nvSpPr>
        <p:spPr>
          <a:xfrm>
            <a:off x="658368" y="3456432"/>
            <a:ext cx="54864" cy="950976"/>
          </a:xfrm>
          <a:prstGeom prst="rect">
            <a:avLst/>
          </a:prstGeom>
          <a:solidFill>
            <a:srgbClr val="8A6A12"/>
          </a:solidFill>
          <a:ln w="12700">
            <a:solidFill>
              <a:srgbClr val="8A6A12"/>
            </a:solidFill>
            <a:prstDash val="solid"/>
          </a:ln>
        </p:spPr>
      </p:sp>
      <p:sp>
        <p:nvSpPr>
          <p:cNvPr id="19" name="Text 16"/>
          <p:cNvSpPr txBox="1"/>
          <p:nvPr/>
        </p:nvSpPr>
        <p:spPr>
          <a:xfrm>
            <a:off x="932688" y="3547872"/>
            <a:ext cx="3291840" cy="237744"/>
          </a:xfrm>
          <a:prstGeom prst="rect">
            <a:avLst/>
          </a:prstGeom>
          <a:noFill/>
          <a:ln/>
        </p:spPr>
        <p:txBody>
          <a:bodyPr wrap="square" lIns="0" tIns="0" rIns="0" bIns="0" rtlCol="0" anchor="t"/>
          <a:lstStyle/>
          <a:p>
            <a:pPr algn="l" indent="0" marL="0">
              <a:buNone/>
            </a:pPr>
            <a:r>
              <a:rPr lang="en-US" sz="1240" b="1" dirty="0">
                <a:solidFill>
                  <a:srgbClr val="8A6A12"/>
                </a:solidFill>
                <a:latin typeface="Aptos" pitchFamily="34" charset="0"/>
                <a:ea typeface="Aptos" pitchFamily="34" charset="-122"/>
                <a:cs typeface="Aptos" pitchFamily="34" charset="-120"/>
              </a:rPr>
              <a:t>3.45 · Statement testing</a:t>
            </a:r>
            <a:endParaRPr lang="en-US" sz="1240" dirty="0"/>
          </a:p>
        </p:txBody>
      </p:sp>
      <p:sp>
        <p:nvSpPr>
          <p:cNvPr id="20" name="Text 17"/>
          <p:cNvSpPr txBox="1"/>
          <p:nvPr/>
        </p:nvSpPr>
        <p:spPr>
          <a:xfrm>
            <a:off x="932688" y="3822192"/>
            <a:ext cx="6583680" cy="493776"/>
          </a:xfrm>
          <a:prstGeom prst="rect">
            <a:avLst/>
          </a:prstGeom>
          <a:noFill/>
          <a:ln/>
        </p:spPr>
        <p:txBody>
          <a:bodyPr wrap="square" lIns="0" tIns="0" rIns="0" bIns="0" rtlCol="0" anchor="t"/>
          <a:lstStyle/>
          <a:p>
            <a:pPr algn="l" indent="0" marL="0">
              <a:lnSpc>
                <a:spcPct val="112000"/>
              </a:lnSpc>
              <a:buNone/>
            </a:pPr>
            <a:r>
              <a:rPr lang="en-US" sz="1080" i="1" dirty="0">
                <a:solidFill>
                  <a:srgbClr val="52606D"/>
                </a:solidFill>
                <a:latin typeface="Aptos" pitchFamily="34" charset="0"/>
                <a:ea typeface="Aptos" pitchFamily="34" charset="-122"/>
                <a:cs typeface="Aptos" pitchFamily="34" charset="-120"/>
              </a:rPr>
              <a:t>“structure-based test case design technique based on exercising executable statements in the source code of the test item”</a:t>
            </a:r>
            <a:endParaRPr lang="en-US" sz="1080" dirty="0"/>
          </a:p>
        </p:txBody>
      </p:sp>
      <p:sp>
        <p:nvSpPr>
          <p:cNvPr id="21" name="Shape 18"/>
          <p:cNvSpPr/>
          <p:nvPr/>
        </p:nvSpPr>
        <p:spPr>
          <a:xfrm>
            <a:off x="7717536" y="3584448"/>
            <a:ext cx="0" cy="694944"/>
          </a:xfrm>
          <a:prstGeom prst="line">
            <a:avLst/>
          </a:prstGeom>
          <a:noFill/>
          <a:ln w="12700">
            <a:solidFill>
              <a:srgbClr val="D8CFC4"/>
            </a:solidFill>
            <a:prstDash val="solid"/>
            <a:headEnd type="none"/>
            <a:tailEnd type="none"/>
          </a:ln>
        </p:spPr>
      </p:sp>
      <p:sp>
        <p:nvSpPr>
          <p:cNvPr id="22" name="Text 19"/>
          <p:cNvSpPr txBox="1"/>
          <p:nvPr/>
        </p:nvSpPr>
        <p:spPr>
          <a:xfrm>
            <a:off x="7918704" y="3675888"/>
            <a:ext cx="3340303" cy="548640"/>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Técnica basada en la ESTRUCTURA, que ejercita las sentencias ejecutables DEL CÓDIGO FUENTE del elemento sometido a prueba</a:t>
            </a:r>
            <a:endParaRPr lang="en-US" sz="1200" dirty="0"/>
          </a:p>
        </p:txBody>
      </p:sp>
      <p:sp>
        <p:nvSpPr>
          <p:cNvPr id="23" name="Shape 20"/>
          <p:cNvSpPr/>
          <p:nvPr/>
        </p:nvSpPr>
        <p:spPr>
          <a:xfrm>
            <a:off x="658368" y="4517136"/>
            <a:ext cx="10874959" cy="950976"/>
          </a:xfrm>
          <a:prstGeom prst="rect">
            <a:avLst/>
          </a:prstGeom>
          <a:solidFill>
            <a:srgbClr val="FFFFFF"/>
          </a:solidFill>
          <a:ln w="12700">
            <a:solidFill>
              <a:srgbClr val="FFFFFF"/>
            </a:solidFill>
            <a:prstDash val="solid"/>
          </a:ln>
        </p:spPr>
      </p:sp>
      <p:sp>
        <p:nvSpPr>
          <p:cNvPr id="24" name="Shape 21"/>
          <p:cNvSpPr/>
          <p:nvPr/>
        </p:nvSpPr>
        <p:spPr>
          <a:xfrm>
            <a:off x="658368" y="4517136"/>
            <a:ext cx="54864" cy="950976"/>
          </a:xfrm>
          <a:prstGeom prst="rect">
            <a:avLst/>
          </a:prstGeom>
          <a:solidFill>
            <a:srgbClr val="8A6A12"/>
          </a:solidFill>
          <a:ln w="12700">
            <a:solidFill>
              <a:srgbClr val="8A6A12"/>
            </a:solidFill>
            <a:prstDash val="solid"/>
          </a:ln>
        </p:spPr>
      </p:sp>
      <p:sp>
        <p:nvSpPr>
          <p:cNvPr id="25" name="Text 22"/>
          <p:cNvSpPr txBox="1"/>
          <p:nvPr/>
        </p:nvSpPr>
        <p:spPr>
          <a:xfrm>
            <a:off x="932688" y="4608576"/>
            <a:ext cx="3291840" cy="237744"/>
          </a:xfrm>
          <a:prstGeom prst="rect">
            <a:avLst/>
          </a:prstGeom>
          <a:noFill/>
          <a:ln/>
        </p:spPr>
        <p:txBody>
          <a:bodyPr wrap="square" lIns="0" tIns="0" rIns="0" bIns="0" rtlCol="0" anchor="t"/>
          <a:lstStyle/>
          <a:p>
            <a:pPr algn="l" indent="0" marL="0">
              <a:buNone/>
            </a:pPr>
            <a:r>
              <a:rPr lang="en-US" sz="1240" b="1" dirty="0">
                <a:solidFill>
                  <a:srgbClr val="8A6A12"/>
                </a:solidFill>
                <a:latin typeface="Aptos" pitchFamily="34" charset="0"/>
                <a:ea typeface="Aptos" pitchFamily="34" charset="-122"/>
                <a:cs typeface="Aptos" pitchFamily="34" charset="-120"/>
              </a:rPr>
              <a:t>3.6 · Branch testing</a:t>
            </a:r>
            <a:endParaRPr lang="en-US" sz="1240" dirty="0"/>
          </a:p>
        </p:txBody>
      </p:sp>
      <p:sp>
        <p:nvSpPr>
          <p:cNvPr id="26" name="Text 23"/>
          <p:cNvSpPr txBox="1"/>
          <p:nvPr/>
        </p:nvSpPr>
        <p:spPr>
          <a:xfrm>
            <a:off x="932688" y="4882896"/>
            <a:ext cx="6583680" cy="493776"/>
          </a:xfrm>
          <a:prstGeom prst="rect">
            <a:avLst/>
          </a:prstGeom>
          <a:noFill/>
          <a:ln/>
        </p:spPr>
        <p:txBody>
          <a:bodyPr wrap="square" lIns="0" tIns="0" rIns="0" bIns="0" rtlCol="0" anchor="t"/>
          <a:lstStyle/>
          <a:p>
            <a:pPr algn="l" indent="0" marL="0">
              <a:lnSpc>
                <a:spcPct val="112000"/>
              </a:lnSpc>
              <a:buNone/>
            </a:pPr>
            <a:r>
              <a:rPr lang="en-US" sz="1080" i="1" dirty="0">
                <a:solidFill>
                  <a:srgbClr val="52606D"/>
                </a:solidFill>
                <a:latin typeface="Aptos" pitchFamily="34" charset="0"/>
                <a:ea typeface="Aptos" pitchFamily="34" charset="-122"/>
                <a:cs typeface="Aptos" pitchFamily="34" charset="-120"/>
              </a:rPr>
              <a:t>“structure-based test case design technique based on exercising branches in the control flow of the test item”</a:t>
            </a:r>
            <a:endParaRPr lang="en-US" sz="1080" dirty="0"/>
          </a:p>
        </p:txBody>
      </p:sp>
      <p:sp>
        <p:nvSpPr>
          <p:cNvPr id="27" name="Shape 24"/>
          <p:cNvSpPr/>
          <p:nvPr/>
        </p:nvSpPr>
        <p:spPr>
          <a:xfrm>
            <a:off x="7717536" y="4645152"/>
            <a:ext cx="0" cy="694944"/>
          </a:xfrm>
          <a:prstGeom prst="line">
            <a:avLst/>
          </a:prstGeom>
          <a:noFill/>
          <a:ln w="12700">
            <a:solidFill>
              <a:srgbClr val="D8CFC4"/>
            </a:solidFill>
            <a:prstDash val="solid"/>
            <a:headEnd type="none"/>
            <a:tailEnd type="none"/>
          </a:ln>
        </p:spPr>
      </p:sp>
      <p:sp>
        <p:nvSpPr>
          <p:cNvPr id="28" name="Text 25"/>
          <p:cNvSpPr txBox="1"/>
          <p:nvPr/>
        </p:nvSpPr>
        <p:spPr>
          <a:xfrm>
            <a:off x="7918704" y="4736592"/>
            <a:ext cx="3340303" cy="548640"/>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Técnica basada en la ESTRUCTURA, que ejercita las RAMAS del flujo de control del elemento sometido a prueba</a:t>
            </a:r>
            <a:endParaRPr lang="en-US" sz="1200" dirty="0"/>
          </a:p>
        </p:txBody>
      </p:sp>
      <p:sp>
        <p:nvSpPr>
          <p:cNvPr id="29" name="Shape 26"/>
          <p:cNvSpPr/>
          <p:nvPr/>
        </p:nvSpPr>
        <p:spPr>
          <a:xfrm>
            <a:off x="658368" y="5632704"/>
            <a:ext cx="10874959" cy="512064"/>
          </a:xfrm>
          <a:prstGeom prst="rect">
            <a:avLst/>
          </a:prstGeom>
          <a:solidFill>
            <a:srgbClr val="102A43"/>
          </a:solidFill>
          <a:ln w="12700">
            <a:solidFill>
              <a:srgbClr val="102A43"/>
            </a:solidFill>
            <a:prstDash val="solid"/>
          </a:ln>
        </p:spPr>
      </p:sp>
      <p:sp>
        <p:nvSpPr>
          <p:cNvPr id="30" name="Text 27"/>
          <p:cNvSpPr txBox="1"/>
          <p:nvPr/>
        </p:nvSpPr>
        <p:spPr>
          <a:xfrm>
            <a:off x="969264" y="5669280"/>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Una familia mira el documento. La otra mira el código. Esa es toda la diferencia.</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TRAMPA QUE DEJA ABIERTA LA NORMA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De dónde puede salir un resultado esperado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cláusula 3.32 define el resultado esperado, y en el medio deja una puerta.</a:t>
            </a:r>
            <a:endParaRPr lang="en-US" sz="1450" dirty="0"/>
          </a:p>
        </p:txBody>
      </p:sp>
      <p:sp>
        <p:nvSpPr>
          <p:cNvPr id="11" name="Shape 8"/>
          <p:cNvSpPr/>
          <p:nvPr/>
        </p:nvSpPr>
        <p:spPr>
          <a:xfrm>
            <a:off x="658368" y="2267712"/>
            <a:ext cx="10874959" cy="512064"/>
          </a:xfrm>
          <a:prstGeom prst="rect">
            <a:avLst/>
          </a:prstGeom>
          <a:solidFill>
            <a:srgbClr val="F2E7D9"/>
          </a:solidFill>
          <a:ln w="12700">
            <a:solidFill>
              <a:srgbClr val="F2E7D9"/>
            </a:solidFill>
            <a:prstDash val="solid"/>
          </a:ln>
        </p:spPr>
      </p:sp>
      <p:sp>
        <p:nvSpPr>
          <p:cNvPr id="12" name="Shape 9"/>
          <p:cNvSpPr/>
          <p:nvPr/>
        </p:nvSpPr>
        <p:spPr>
          <a:xfrm>
            <a:off x="658368" y="2267712"/>
            <a:ext cx="64008" cy="512064"/>
          </a:xfrm>
          <a:prstGeom prst="rect">
            <a:avLst/>
          </a:prstGeom>
          <a:solidFill>
            <a:srgbClr val="102A43"/>
          </a:solidFill>
          <a:ln w="12700">
            <a:solidFill>
              <a:srgbClr val="102A43"/>
            </a:solidFill>
            <a:prstDash val="solid"/>
          </a:ln>
        </p:spPr>
      </p:sp>
      <p:sp>
        <p:nvSpPr>
          <p:cNvPr id="13" name="Text 10"/>
          <p:cNvSpPr txBox="1"/>
          <p:nvPr/>
        </p:nvSpPr>
        <p:spPr>
          <a:xfrm>
            <a:off x="969264" y="2377440"/>
            <a:ext cx="10308031" cy="292608"/>
          </a:xfrm>
          <a:prstGeom prst="rect">
            <a:avLst/>
          </a:prstGeom>
          <a:noFill/>
          <a:ln/>
        </p:spPr>
        <p:txBody>
          <a:bodyPr wrap="square" lIns="0" tIns="0" rIns="0" bIns="0" rtlCol="0" anchor="ctr"/>
          <a:lstStyle/>
          <a:p>
            <a:pPr algn="l" indent="0" marL="0">
              <a:lnSpc>
                <a:spcPct val="118000"/>
              </a:lnSpc>
              <a:buNone/>
            </a:pPr>
            <a:r>
              <a:rPr lang="en-US" sz="1240" i="1" dirty="0">
                <a:solidFill>
                  <a:srgbClr val="243B53"/>
                </a:solidFill>
                <a:latin typeface="Aptos" pitchFamily="34" charset="0"/>
                <a:ea typeface="Aptos" pitchFamily="34" charset="-122"/>
                <a:cs typeface="Aptos" pitchFamily="34" charset="-120"/>
              </a:rPr>
              <a:t>“observable predicted behaviour of the test item under specified conditions based on its specification or another source”</a:t>
            </a:r>
            <a:endParaRPr lang="en-US" sz="1240" dirty="0"/>
          </a:p>
        </p:txBody>
      </p:sp>
      <p:sp>
        <p:nvSpPr>
          <p:cNvPr id="14" name="Shape 11"/>
          <p:cNvSpPr/>
          <p:nvPr/>
        </p:nvSpPr>
        <p:spPr>
          <a:xfrm>
            <a:off x="658368" y="2834640"/>
            <a:ext cx="10874959" cy="512064"/>
          </a:xfrm>
          <a:prstGeom prst="rect">
            <a:avLst/>
          </a:prstGeom>
          <a:solidFill>
            <a:srgbClr val="EDE6DA"/>
          </a:solidFill>
          <a:ln w="12700">
            <a:solidFill>
              <a:srgbClr val="EDE6DA"/>
            </a:solidFill>
            <a:prstDash val="solid"/>
          </a:ln>
        </p:spPr>
      </p:sp>
      <p:sp>
        <p:nvSpPr>
          <p:cNvPr id="15" name="Shape 12"/>
          <p:cNvSpPr/>
          <p:nvPr/>
        </p:nvSpPr>
        <p:spPr>
          <a:xfrm>
            <a:off x="658368" y="2834640"/>
            <a:ext cx="64008" cy="512064"/>
          </a:xfrm>
          <a:prstGeom prst="rect">
            <a:avLst/>
          </a:prstGeom>
          <a:solidFill>
            <a:srgbClr val="52606D"/>
          </a:solidFill>
          <a:ln w="12700">
            <a:solidFill>
              <a:srgbClr val="52606D"/>
            </a:solidFill>
            <a:prstDash val="solid"/>
          </a:ln>
        </p:spPr>
      </p:sp>
      <p:sp>
        <p:nvSpPr>
          <p:cNvPr id="16" name="Text 13"/>
          <p:cNvSpPr txBox="1"/>
          <p:nvPr/>
        </p:nvSpPr>
        <p:spPr>
          <a:xfrm>
            <a:off x="969264" y="2944368"/>
            <a:ext cx="10308031" cy="292608"/>
          </a:xfrm>
          <a:prstGeom prst="rect">
            <a:avLst/>
          </a:prstGeom>
          <a:noFill/>
          <a:ln/>
        </p:spPr>
        <p:txBody>
          <a:bodyPr wrap="square" lIns="0" tIns="0" rIns="0" bIns="0" rtlCol="0" anchor="ctr"/>
          <a:lstStyle/>
          <a:p>
            <a:pPr algn="l" indent="0" marL="0">
              <a:lnSpc>
                <a:spcPct val="118000"/>
              </a:lnSpc>
              <a:buNone/>
            </a:pPr>
            <a:r>
              <a:rPr lang="en-US" sz="1240" i="1" dirty="0">
                <a:solidFill>
                  <a:srgbClr val="243B53"/>
                </a:solidFill>
                <a:latin typeface="Aptos" pitchFamily="34" charset="0"/>
                <a:ea typeface="Aptos" pitchFamily="34" charset="-122"/>
                <a:cs typeface="Aptos" pitchFamily="34" charset="-120"/>
              </a:rPr>
              <a:t>“comportamiento observable y predicho del elemento sometido a prueba, bajo condiciones especificadas, basado en su especificación O EN OTRA FUENTE”</a:t>
            </a:r>
            <a:endParaRPr lang="en-US" sz="1240" dirty="0"/>
          </a:p>
        </p:txBody>
      </p:sp>
      <p:sp>
        <p:nvSpPr>
          <p:cNvPr id="17" name="Shape 14"/>
          <p:cNvSpPr/>
          <p:nvPr/>
        </p:nvSpPr>
        <p:spPr>
          <a:xfrm>
            <a:off x="6766560" y="3456432"/>
            <a:ext cx="4764024" cy="384048"/>
          </a:xfrm>
          <a:prstGeom prst="rect">
            <a:avLst/>
          </a:prstGeom>
          <a:solidFill>
            <a:srgbClr val="F8E4E5"/>
          </a:solidFill>
          <a:ln w="12700">
            <a:solidFill>
              <a:srgbClr val="F8E4E5"/>
            </a:solidFill>
            <a:prstDash val="solid"/>
          </a:ln>
        </p:spPr>
      </p:sp>
      <p:sp>
        <p:nvSpPr>
          <p:cNvPr id="18" name="Text 15"/>
          <p:cNvSpPr txBox="1"/>
          <p:nvPr/>
        </p:nvSpPr>
        <p:spPr>
          <a:xfrm>
            <a:off x="6949440" y="3474720"/>
            <a:ext cx="4480560" cy="347472"/>
          </a:xfrm>
          <a:prstGeom prst="rect">
            <a:avLst/>
          </a:prstGeom>
          <a:noFill/>
          <a:ln/>
        </p:spPr>
        <p:txBody>
          <a:bodyPr wrap="square" lIns="0" tIns="0" rIns="0" bIns="0" rtlCol="0" anchor="ctr"/>
          <a:lstStyle/>
          <a:p>
            <a:pPr algn="l" indent="0" marL="0">
              <a:buNone/>
            </a:pPr>
            <a:r>
              <a:rPr lang="en-US" sz="1240" b="1" dirty="0">
                <a:solidFill>
                  <a:srgbClr val="B3181E"/>
                </a:solidFill>
                <a:latin typeface="Aptos" pitchFamily="34" charset="0"/>
                <a:ea typeface="Aptos" pitchFamily="34" charset="-122"/>
                <a:cs typeface="Aptos" pitchFamily="34" charset="-120"/>
              </a:rPr>
              <a:t>«or another source»  ·  u otra fuente</a:t>
            </a:r>
            <a:endParaRPr lang="en-US" sz="1240" dirty="0"/>
          </a:p>
        </p:txBody>
      </p:sp>
      <p:sp>
        <p:nvSpPr>
          <p:cNvPr id="19" name="Shape 16"/>
          <p:cNvSpPr/>
          <p:nvPr/>
        </p:nvSpPr>
        <p:spPr>
          <a:xfrm>
            <a:off x="658368" y="3986784"/>
            <a:ext cx="5175504" cy="969264"/>
          </a:xfrm>
          <a:prstGeom prst="rect">
            <a:avLst/>
          </a:prstGeom>
          <a:solidFill>
            <a:srgbClr val="FFFFFF"/>
          </a:solidFill>
          <a:ln w="12700">
            <a:solidFill>
              <a:srgbClr val="FFFFFF"/>
            </a:solidFill>
            <a:prstDash val="solid"/>
          </a:ln>
        </p:spPr>
      </p:sp>
      <p:sp>
        <p:nvSpPr>
          <p:cNvPr id="20" name="Shape 17"/>
          <p:cNvSpPr/>
          <p:nvPr/>
        </p:nvSpPr>
        <p:spPr>
          <a:xfrm>
            <a:off x="658368" y="3986784"/>
            <a:ext cx="5175504" cy="54864"/>
          </a:xfrm>
          <a:prstGeom prst="rect">
            <a:avLst/>
          </a:prstGeom>
          <a:solidFill>
            <a:srgbClr val="2E7D4F"/>
          </a:solidFill>
          <a:ln w="12700">
            <a:solidFill>
              <a:srgbClr val="2E7D4F"/>
            </a:solidFill>
            <a:prstDash val="solid"/>
          </a:ln>
        </p:spPr>
      </p:sp>
      <p:sp>
        <p:nvSpPr>
          <p:cNvPr id="21" name="Text 18"/>
          <p:cNvSpPr txBox="1"/>
          <p:nvPr/>
        </p:nvSpPr>
        <p:spPr>
          <a:xfrm>
            <a:off x="914400" y="4133088"/>
            <a:ext cx="4663440" cy="256032"/>
          </a:xfrm>
          <a:prstGeom prst="rect">
            <a:avLst/>
          </a:prstGeom>
          <a:noFill/>
          <a:ln/>
        </p:spPr>
        <p:txBody>
          <a:bodyPr wrap="square" lIns="0" tIns="0" rIns="0" bIns="0" rtlCol="0" anchor="t"/>
          <a:lstStyle/>
          <a:p>
            <a:pPr algn="l" indent="0" marL="0">
              <a:buNone/>
            </a:pPr>
            <a:r>
              <a:rPr lang="en-US" sz="1260" b="1" dirty="0">
                <a:solidFill>
                  <a:srgbClr val="2E7D4F"/>
                </a:solidFill>
                <a:latin typeface="Aptos" pitchFamily="34" charset="0"/>
                <a:ea typeface="Aptos" pitchFamily="34" charset="-122"/>
                <a:cs typeface="Aptos" pitchFamily="34" charset="-120"/>
              </a:rPr>
              <a:t>Si el esperado sale del REQUISITO</a:t>
            </a:r>
            <a:endParaRPr lang="en-US" sz="1260" dirty="0"/>
          </a:p>
        </p:txBody>
      </p:sp>
      <p:sp>
        <p:nvSpPr>
          <p:cNvPr id="22" name="Text 19"/>
          <p:cNvSpPr txBox="1"/>
          <p:nvPr/>
        </p:nvSpPr>
        <p:spPr>
          <a:xfrm>
            <a:off x="914400" y="4425696"/>
            <a:ext cx="4663440" cy="45720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 prueba puede refutar la implementación. Si el código está mal, la prueba falla.</a:t>
            </a:r>
            <a:endParaRPr lang="en-US" sz="1220" dirty="0"/>
          </a:p>
        </p:txBody>
      </p:sp>
      <p:sp>
        <p:nvSpPr>
          <p:cNvPr id="23" name="Shape 20"/>
          <p:cNvSpPr/>
          <p:nvPr/>
        </p:nvSpPr>
        <p:spPr>
          <a:xfrm>
            <a:off x="6364224" y="3986784"/>
            <a:ext cx="5175504" cy="969264"/>
          </a:xfrm>
          <a:prstGeom prst="rect">
            <a:avLst/>
          </a:prstGeom>
          <a:solidFill>
            <a:srgbClr val="FFFFFF"/>
          </a:solidFill>
          <a:ln w="12700">
            <a:solidFill>
              <a:srgbClr val="FFFFFF"/>
            </a:solidFill>
            <a:prstDash val="solid"/>
          </a:ln>
        </p:spPr>
      </p:sp>
      <p:sp>
        <p:nvSpPr>
          <p:cNvPr id="24" name="Shape 21"/>
          <p:cNvSpPr/>
          <p:nvPr/>
        </p:nvSpPr>
        <p:spPr>
          <a:xfrm>
            <a:off x="6364224" y="3986784"/>
            <a:ext cx="5175504" cy="54864"/>
          </a:xfrm>
          <a:prstGeom prst="rect">
            <a:avLst/>
          </a:prstGeom>
          <a:solidFill>
            <a:srgbClr val="B3181E"/>
          </a:solidFill>
          <a:ln w="12700">
            <a:solidFill>
              <a:srgbClr val="B3181E"/>
            </a:solidFill>
            <a:prstDash val="solid"/>
          </a:ln>
        </p:spPr>
      </p:sp>
      <p:sp>
        <p:nvSpPr>
          <p:cNvPr id="25" name="Text 22"/>
          <p:cNvSpPr txBox="1"/>
          <p:nvPr/>
        </p:nvSpPr>
        <p:spPr>
          <a:xfrm>
            <a:off x="6620256" y="4133088"/>
            <a:ext cx="4663440" cy="256032"/>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Si el esperado sale del CÓDIGO</a:t>
            </a:r>
            <a:endParaRPr lang="en-US" sz="1260" dirty="0"/>
          </a:p>
        </p:txBody>
      </p:sp>
      <p:sp>
        <p:nvSpPr>
          <p:cNvPr id="26" name="Text 23"/>
          <p:cNvSpPr txBox="1"/>
          <p:nvPr/>
        </p:nvSpPr>
        <p:spPr>
          <a:xfrm>
            <a:off x="6620256" y="4425696"/>
            <a:ext cx="4663440" cy="45720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 prueba confirma la implementación. Si el código está mal, la prueba también.</a:t>
            </a:r>
            <a:endParaRPr lang="en-US" sz="1220" dirty="0"/>
          </a:p>
        </p:txBody>
      </p:sp>
      <p:sp>
        <p:nvSpPr>
          <p:cNvPr id="27" name="Shape 24"/>
          <p:cNvSpPr/>
          <p:nvPr/>
        </p:nvSpPr>
        <p:spPr>
          <a:xfrm>
            <a:off x="658368" y="5120640"/>
            <a:ext cx="10874959" cy="457200"/>
          </a:xfrm>
          <a:prstGeom prst="rect">
            <a:avLst/>
          </a:prstGeom>
          <a:solidFill>
            <a:srgbClr val="F2E7D9"/>
          </a:solidFill>
          <a:ln w="12700">
            <a:solidFill>
              <a:srgbClr val="F2E7D9"/>
            </a:solidFill>
            <a:prstDash val="solid"/>
          </a:ln>
        </p:spPr>
      </p:sp>
      <p:sp>
        <p:nvSpPr>
          <p:cNvPr id="28" name="Shape 25"/>
          <p:cNvSpPr/>
          <p:nvPr/>
        </p:nvSpPr>
        <p:spPr>
          <a:xfrm>
            <a:off x="658368" y="5120640"/>
            <a:ext cx="54864" cy="457200"/>
          </a:xfrm>
          <a:prstGeom prst="rect">
            <a:avLst/>
          </a:prstGeom>
          <a:solidFill>
            <a:srgbClr val="8A6A12"/>
          </a:solidFill>
          <a:ln w="12700">
            <a:solidFill>
              <a:srgbClr val="8A6A12"/>
            </a:solidFill>
            <a:prstDash val="solid"/>
          </a:ln>
        </p:spPr>
      </p:sp>
      <p:sp>
        <p:nvSpPr>
          <p:cNvPr id="29" name="Text 26"/>
          <p:cNvSpPr txBox="1"/>
          <p:nvPr/>
        </p:nvSpPr>
        <p:spPr>
          <a:xfrm>
            <a:off x="932688" y="5175504"/>
            <a:ext cx="10326319" cy="347472"/>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Ya se vio en la sesión pasada: cuando los límites y sus esperados se copiaron del código, la prueba confirmó el defecto en lugar de encontrarlo.</a:t>
            </a:r>
            <a:endParaRPr lang="en-US" sz="1240" dirty="0"/>
          </a:p>
        </p:txBody>
      </p:sp>
      <p:sp>
        <p:nvSpPr>
          <p:cNvPr id="30" name="Shape 27"/>
          <p:cNvSpPr/>
          <p:nvPr/>
        </p:nvSpPr>
        <p:spPr>
          <a:xfrm>
            <a:off x="658368" y="5705856"/>
            <a:ext cx="10874959" cy="512064"/>
          </a:xfrm>
          <a:prstGeom prst="rect">
            <a:avLst/>
          </a:prstGeom>
          <a:solidFill>
            <a:srgbClr val="102A43"/>
          </a:solidFill>
          <a:ln w="12700">
            <a:solidFill>
              <a:srgbClr val="102A43"/>
            </a:solidFill>
            <a:prstDash val="solid"/>
          </a:ln>
        </p:spPr>
      </p:sp>
      <p:sp>
        <p:nvSpPr>
          <p:cNvPr id="31" name="Text 28"/>
          <p:cNvSpPr txBox="1"/>
          <p:nvPr/>
        </p:nvSpPr>
        <p:spPr>
          <a:xfrm>
            <a:off x="969264" y="5742432"/>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Derivar el CASO del código es legítimo y tiene una familia entera dedicada. Derivar el ESPERADO del código es lo que anula la prueba.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CRITERIO, COMPLETO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Qué puede afirmar cada familia, y qué no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Esta tabla es la herramienta que se va a usar para auditar cualquier prueba del resto de la sesión.</a:t>
            </a:r>
            <a:endParaRPr lang="en-US" sz="1450" dirty="0"/>
          </a:p>
        </p:txBody>
      </p:sp>
      <p:sp>
        <p:nvSpPr>
          <p:cNvPr id="11" name="Shape 8"/>
          <p:cNvSpPr/>
          <p:nvPr/>
        </p:nvSpPr>
        <p:spPr>
          <a:xfrm>
            <a:off x="3675888" y="2340864"/>
            <a:ext cx="4114800" cy="384048"/>
          </a:xfrm>
          <a:prstGeom prst="rect">
            <a:avLst/>
          </a:prstGeom>
          <a:solidFill>
            <a:srgbClr val="102A43"/>
          </a:solidFill>
          <a:ln w="12700">
            <a:solidFill>
              <a:srgbClr val="102A43"/>
            </a:solidFill>
            <a:prstDash val="solid"/>
          </a:ln>
        </p:spPr>
      </p:sp>
      <p:sp>
        <p:nvSpPr>
          <p:cNvPr id="12" name="Text 9"/>
          <p:cNvSpPr txBox="1"/>
          <p:nvPr/>
        </p:nvSpPr>
        <p:spPr>
          <a:xfrm>
            <a:off x="3858768" y="2377440"/>
            <a:ext cx="3749040" cy="310896"/>
          </a:xfrm>
          <a:prstGeom prst="rect">
            <a:avLst/>
          </a:prstGeom>
          <a:noFill/>
          <a:ln/>
        </p:spPr>
        <p:txBody>
          <a:bodyPr wrap="square" lIns="0" tIns="0" rIns="0" bIns="0" rtlCol="0" anchor="ctr"/>
          <a:lstStyle/>
          <a:p>
            <a:pPr algn="l" indent="0" marL="0">
              <a:buNone/>
            </a:pPr>
            <a:r>
              <a:rPr lang="en-US" sz="1240" b="1" dirty="0">
                <a:solidFill>
                  <a:srgbClr val="FFFFFF"/>
                </a:solidFill>
                <a:latin typeface="Aptos" pitchFamily="34" charset="0"/>
                <a:ea typeface="Aptos" pitchFamily="34" charset="-122"/>
                <a:cs typeface="Aptos" pitchFamily="34" charset="-120"/>
              </a:rPr>
              <a:t>Derivada de la especificación</a:t>
            </a:r>
            <a:endParaRPr lang="en-US" sz="1240" dirty="0"/>
          </a:p>
        </p:txBody>
      </p:sp>
      <p:sp>
        <p:nvSpPr>
          <p:cNvPr id="13" name="Shape 10"/>
          <p:cNvSpPr/>
          <p:nvPr/>
        </p:nvSpPr>
        <p:spPr>
          <a:xfrm>
            <a:off x="7882128" y="2340864"/>
            <a:ext cx="3657600" cy="384048"/>
          </a:xfrm>
          <a:prstGeom prst="rect">
            <a:avLst/>
          </a:prstGeom>
          <a:solidFill>
            <a:srgbClr val="8A6A12"/>
          </a:solidFill>
          <a:ln w="12700">
            <a:solidFill>
              <a:srgbClr val="8A6A12"/>
            </a:solidFill>
            <a:prstDash val="solid"/>
          </a:ln>
        </p:spPr>
      </p:sp>
      <p:sp>
        <p:nvSpPr>
          <p:cNvPr id="14" name="Text 11"/>
          <p:cNvSpPr txBox="1"/>
          <p:nvPr/>
        </p:nvSpPr>
        <p:spPr>
          <a:xfrm>
            <a:off x="8065008" y="2377440"/>
            <a:ext cx="3291840" cy="310896"/>
          </a:xfrm>
          <a:prstGeom prst="rect">
            <a:avLst/>
          </a:prstGeom>
          <a:noFill/>
          <a:ln/>
        </p:spPr>
        <p:txBody>
          <a:bodyPr wrap="square" lIns="0" tIns="0" rIns="0" bIns="0" rtlCol="0" anchor="ctr"/>
          <a:lstStyle/>
          <a:p>
            <a:pPr algn="l" indent="0" marL="0">
              <a:buNone/>
            </a:pPr>
            <a:r>
              <a:rPr lang="en-US" sz="1240" b="1" dirty="0">
                <a:solidFill>
                  <a:srgbClr val="FFFFFF"/>
                </a:solidFill>
                <a:latin typeface="Aptos" pitchFamily="34" charset="0"/>
                <a:ea typeface="Aptos" pitchFamily="34" charset="-122"/>
                <a:cs typeface="Aptos" pitchFamily="34" charset="-120"/>
              </a:rPr>
              <a:t>Derivada de la estructura</a:t>
            </a:r>
            <a:endParaRPr lang="en-US" sz="1240" dirty="0"/>
          </a:p>
        </p:txBody>
      </p:sp>
      <p:sp>
        <p:nvSpPr>
          <p:cNvPr id="15" name="Shape 12"/>
          <p:cNvSpPr/>
          <p:nvPr/>
        </p:nvSpPr>
        <p:spPr>
          <a:xfrm>
            <a:off x="658368" y="2798064"/>
            <a:ext cx="10874959" cy="603504"/>
          </a:xfrm>
          <a:prstGeom prst="rect">
            <a:avLst/>
          </a:prstGeom>
          <a:solidFill>
            <a:srgbClr val="FFFFFF"/>
          </a:solidFill>
          <a:ln w="12700">
            <a:solidFill>
              <a:srgbClr val="FFFFFF"/>
            </a:solidFill>
            <a:prstDash val="solid"/>
          </a:ln>
        </p:spPr>
      </p:sp>
      <p:sp>
        <p:nvSpPr>
          <p:cNvPr id="16" name="Text 13"/>
          <p:cNvSpPr txBox="1"/>
          <p:nvPr/>
        </p:nvSpPr>
        <p:spPr>
          <a:xfrm>
            <a:off x="877824" y="2871216"/>
            <a:ext cx="2743200" cy="457200"/>
          </a:xfrm>
          <a:prstGeom prst="rect">
            <a:avLst/>
          </a:prstGeom>
          <a:noFill/>
          <a:ln/>
        </p:spPr>
        <p:txBody>
          <a:bodyPr wrap="square" lIns="0" tIns="0" rIns="0" bIns="0" rtlCol="0" anchor="ctr"/>
          <a:lstStyle/>
          <a:p>
            <a:pPr algn="l" indent="0" marL="0">
              <a:buNone/>
            </a:pPr>
            <a:r>
              <a:rPr lang="en-US" sz="1200" b="1" dirty="0">
                <a:solidFill>
                  <a:srgbClr val="52606D"/>
                </a:solidFill>
                <a:latin typeface="Aptos" pitchFamily="34" charset="0"/>
                <a:ea typeface="Aptos" pitchFamily="34" charset="-122"/>
                <a:cs typeface="Aptos" pitchFamily="34" charset="-120"/>
              </a:rPr>
              <a:t>Modelo de prueba</a:t>
            </a:r>
            <a:endParaRPr lang="en-US" sz="1200" dirty="0"/>
          </a:p>
        </p:txBody>
      </p:sp>
      <p:sp>
        <p:nvSpPr>
          <p:cNvPr id="17" name="Text 14"/>
          <p:cNvSpPr txBox="1"/>
          <p:nvPr/>
        </p:nvSpPr>
        <p:spPr>
          <a:xfrm>
            <a:off x="3858768" y="2871216"/>
            <a:ext cx="3840480" cy="457200"/>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El requisito, la tabla de decisión, el diagrama de estados</a:t>
            </a:r>
            <a:endParaRPr lang="en-US" sz="1180" dirty="0"/>
          </a:p>
        </p:txBody>
      </p:sp>
      <p:sp>
        <p:nvSpPr>
          <p:cNvPr id="18" name="Text 15"/>
          <p:cNvSpPr txBox="1"/>
          <p:nvPr/>
        </p:nvSpPr>
        <p:spPr>
          <a:xfrm>
            <a:off x="8065008" y="2871216"/>
            <a:ext cx="3383280" cy="457200"/>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El código fuente, el grafo de flujo de control</a:t>
            </a:r>
            <a:endParaRPr lang="en-US" sz="1180" dirty="0"/>
          </a:p>
        </p:txBody>
      </p:sp>
      <p:sp>
        <p:nvSpPr>
          <p:cNvPr id="19" name="Shape 16"/>
          <p:cNvSpPr/>
          <p:nvPr/>
        </p:nvSpPr>
        <p:spPr>
          <a:xfrm>
            <a:off x="3675888" y="2798064"/>
            <a:ext cx="0" cy="603504"/>
          </a:xfrm>
          <a:prstGeom prst="line">
            <a:avLst/>
          </a:prstGeom>
          <a:noFill/>
          <a:ln w="12700">
            <a:solidFill>
              <a:srgbClr val="D8CFC4"/>
            </a:solidFill>
            <a:prstDash val="solid"/>
            <a:headEnd type="none"/>
            <a:tailEnd type="none"/>
          </a:ln>
        </p:spPr>
      </p:sp>
      <p:sp>
        <p:nvSpPr>
          <p:cNvPr id="20" name="Shape 17"/>
          <p:cNvSpPr/>
          <p:nvPr/>
        </p:nvSpPr>
        <p:spPr>
          <a:xfrm>
            <a:off x="7882128" y="2798064"/>
            <a:ext cx="0" cy="603504"/>
          </a:xfrm>
          <a:prstGeom prst="line">
            <a:avLst/>
          </a:prstGeom>
          <a:noFill/>
          <a:ln w="12700">
            <a:solidFill>
              <a:srgbClr val="D8CFC4"/>
            </a:solidFill>
            <a:prstDash val="solid"/>
            <a:headEnd type="none"/>
            <a:tailEnd type="none"/>
          </a:ln>
        </p:spPr>
      </p:sp>
      <p:sp>
        <p:nvSpPr>
          <p:cNvPr id="21" name="Shape 18"/>
          <p:cNvSpPr/>
          <p:nvPr/>
        </p:nvSpPr>
        <p:spPr>
          <a:xfrm>
            <a:off x="658368" y="3474720"/>
            <a:ext cx="10874959" cy="603504"/>
          </a:xfrm>
          <a:prstGeom prst="rect">
            <a:avLst/>
          </a:prstGeom>
          <a:solidFill>
            <a:srgbClr val="EDE6DA"/>
          </a:solidFill>
          <a:ln w="12700">
            <a:solidFill>
              <a:srgbClr val="EDE6DA"/>
            </a:solidFill>
            <a:prstDash val="solid"/>
          </a:ln>
        </p:spPr>
      </p:sp>
      <p:sp>
        <p:nvSpPr>
          <p:cNvPr id="22" name="Text 19"/>
          <p:cNvSpPr txBox="1"/>
          <p:nvPr/>
        </p:nvSpPr>
        <p:spPr>
          <a:xfrm>
            <a:off x="877824" y="3547872"/>
            <a:ext cx="2743200" cy="457200"/>
          </a:xfrm>
          <a:prstGeom prst="rect">
            <a:avLst/>
          </a:prstGeom>
          <a:noFill/>
          <a:ln/>
        </p:spPr>
        <p:txBody>
          <a:bodyPr wrap="square" lIns="0" tIns="0" rIns="0" bIns="0" rtlCol="0" anchor="ctr"/>
          <a:lstStyle/>
          <a:p>
            <a:pPr algn="l" indent="0" marL="0">
              <a:buNone/>
            </a:pPr>
            <a:r>
              <a:rPr lang="en-US" sz="1200" b="1" dirty="0">
                <a:solidFill>
                  <a:srgbClr val="52606D"/>
                </a:solidFill>
                <a:latin typeface="Aptos" pitchFamily="34" charset="0"/>
                <a:ea typeface="Aptos" pitchFamily="34" charset="-122"/>
                <a:cs typeface="Aptos" pitchFamily="34" charset="-120"/>
              </a:rPr>
              <a:t>Qué puede afirmar</a:t>
            </a:r>
            <a:endParaRPr lang="en-US" sz="1200" dirty="0"/>
          </a:p>
        </p:txBody>
      </p:sp>
      <p:sp>
        <p:nvSpPr>
          <p:cNvPr id="23" name="Text 20"/>
          <p:cNvSpPr txBox="1"/>
          <p:nvPr/>
        </p:nvSpPr>
        <p:spPr>
          <a:xfrm>
            <a:off x="3858768" y="3547872"/>
            <a:ext cx="3840480" cy="457200"/>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Que el comportamiento exigido ocurre</a:t>
            </a:r>
            <a:endParaRPr lang="en-US" sz="1180" dirty="0"/>
          </a:p>
        </p:txBody>
      </p:sp>
      <p:sp>
        <p:nvSpPr>
          <p:cNvPr id="24" name="Text 21"/>
          <p:cNvSpPr txBox="1"/>
          <p:nvPr/>
        </p:nvSpPr>
        <p:spPr>
          <a:xfrm>
            <a:off x="8065008" y="3547872"/>
            <a:ext cx="3383280" cy="457200"/>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Que ese camino del programa se ejecutó</a:t>
            </a:r>
            <a:endParaRPr lang="en-US" sz="1180" dirty="0"/>
          </a:p>
        </p:txBody>
      </p:sp>
      <p:sp>
        <p:nvSpPr>
          <p:cNvPr id="25" name="Shape 22"/>
          <p:cNvSpPr/>
          <p:nvPr/>
        </p:nvSpPr>
        <p:spPr>
          <a:xfrm>
            <a:off x="3675888" y="3474720"/>
            <a:ext cx="0" cy="603504"/>
          </a:xfrm>
          <a:prstGeom prst="line">
            <a:avLst/>
          </a:prstGeom>
          <a:noFill/>
          <a:ln w="12700">
            <a:solidFill>
              <a:srgbClr val="D8CFC4"/>
            </a:solidFill>
            <a:prstDash val="solid"/>
            <a:headEnd type="none"/>
            <a:tailEnd type="none"/>
          </a:ln>
        </p:spPr>
      </p:sp>
      <p:sp>
        <p:nvSpPr>
          <p:cNvPr id="26" name="Shape 23"/>
          <p:cNvSpPr/>
          <p:nvPr/>
        </p:nvSpPr>
        <p:spPr>
          <a:xfrm>
            <a:off x="7882128" y="3474720"/>
            <a:ext cx="0" cy="603504"/>
          </a:xfrm>
          <a:prstGeom prst="line">
            <a:avLst/>
          </a:prstGeom>
          <a:noFill/>
          <a:ln w="12700">
            <a:solidFill>
              <a:srgbClr val="D8CFC4"/>
            </a:solidFill>
            <a:prstDash val="solid"/>
            <a:headEnd type="none"/>
            <a:tailEnd type="none"/>
          </a:ln>
        </p:spPr>
      </p:sp>
      <p:sp>
        <p:nvSpPr>
          <p:cNvPr id="27" name="Shape 24"/>
          <p:cNvSpPr/>
          <p:nvPr/>
        </p:nvSpPr>
        <p:spPr>
          <a:xfrm>
            <a:off x="658368" y="4151376"/>
            <a:ext cx="10874959" cy="603504"/>
          </a:xfrm>
          <a:prstGeom prst="rect">
            <a:avLst/>
          </a:prstGeom>
          <a:solidFill>
            <a:srgbClr val="FFFFFF"/>
          </a:solidFill>
          <a:ln w="12700">
            <a:solidFill>
              <a:srgbClr val="FFFFFF"/>
            </a:solidFill>
            <a:prstDash val="solid"/>
          </a:ln>
        </p:spPr>
      </p:sp>
      <p:sp>
        <p:nvSpPr>
          <p:cNvPr id="28" name="Text 25"/>
          <p:cNvSpPr txBox="1"/>
          <p:nvPr/>
        </p:nvSpPr>
        <p:spPr>
          <a:xfrm>
            <a:off x="877824" y="4224528"/>
            <a:ext cx="2743200" cy="457200"/>
          </a:xfrm>
          <a:prstGeom prst="rect">
            <a:avLst/>
          </a:prstGeom>
          <a:noFill/>
          <a:ln/>
        </p:spPr>
        <p:txBody>
          <a:bodyPr wrap="square" lIns="0" tIns="0" rIns="0" bIns="0" rtlCol="0" anchor="ctr"/>
          <a:lstStyle/>
          <a:p>
            <a:pPr algn="l" indent="0" marL="0">
              <a:buNone/>
            </a:pPr>
            <a:r>
              <a:rPr lang="en-US" sz="1200" b="1" dirty="0">
                <a:solidFill>
                  <a:srgbClr val="52606D"/>
                </a:solidFill>
                <a:latin typeface="Aptos" pitchFamily="34" charset="0"/>
                <a:ea typeface="Aptos" pitchFamily="34" charset="-122"/>
                <a:cs typeface="Aptos" pitchFamily="34" charset="-120"/>
              </a:rPr>
              <a:t>Qué no detecta</a:t>
            </a:r>
            <a:endParaRPr lang="en-US" sz="1200" dirty="0"/>
          </a:p>
        </p:txBody>
      </p:sp>
      <p:sp>
        <p:nvSpPr>
          <p:cNvPr id="29" name="Text 26"/>
          <p:cNvSpPr txBox="1"/>
          <p:nvPr/>
        </p:nvSpPr>
        <p:spPr>
          <a:xfrm>
            <a:off x="3858768" y="4224528"/>
            <a:ext cx="3840480" cy="457200"/>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Código que el requisito no menciona y que nadie recorrió</a:t>
            </a:r>
            <a:endParaRPr lang="en-US" sz="1180" dirty="0"/>
          </a:p>
        </p:txBody>
      </p:sp>
      <p:sp>
        <p:nvSpPr>
          <p:cNvPr id="30" name="Text 27"/>
          <p:cNvSpPr txBox="1"/>
          <p:nvPr/>
        </p:nvSpPr>
        <p:spPr>
          <a:xfrm>
            <a:off x="8065008" y="4224528"/>
            <a:ext cx="3383280" cy="457200"/>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Un requisito que el código nunca implementó</a:t>
            </a:r>
            <a:endParaRPr lang="en-US" sz="1180" dirty="0"/>
          </a:p>
        </p:txBody>
      </p:sp>
      <p:sp>
        <p:nvSpPr>
          <p:cNvPr id="31" name="Shape 28"/>
          <p:cNvSpPr/>
          <p:nvPr/>
        </p:nvSpPr>
        <p:spPr>
          <a:xfrm>
            <a:off x="3675888" y="4151376"/>
            <a:ext cx="0" cy="603504"/>
          </a:xfrm>
          <a:prstGeom prst="line">
            <a:avLst/>
          </a:prstGeom>
          <a:noFill/>
          <a:ln w="12700">
            <a:solidFill>
              <a:srgbClr val="D8CFC4"/>
            </a:solidFill>
            <a:prstDash val="solid"/>
            <a:headEnd type="none"/>
            <a:tailEnd type="none"/>
          </a:ln>
        </p:spPr>
      </p:sp>
      <p:sp>
        <p:nvSpPr>
          <p:cNvPr id="32" name="Shape 29"/>
          <p:cNvSpPr/>
          <p:nvPr/>
        </p:nvSpPr>
        <p:spPr>
          <a:xfrm>
            <a:off x="7882128" y="4151376"/>
            <a:ext cx="0" cy="603504"/>
          </a:xfrm>
          <a:prstGeom prst="line">
            <a:avLst/>
          </a:prstGeom>
          <a:noFill/>
          <a:ln w="12700">
            <a:solidFill>
              <a:srgbClr val="D8CFC4"/>
            </a:solidFill>
            <a:prstDash val="solid"/>
            <a:headEnd type="none"/>
            <a:tailEnd type="none"/>
          </a:ln>
        </p:spPr>
      </p:sp>
      <p:sp>
        <p:nvSpPr>
          <p:cNvPr id="33" name="Shape 30"/>
          <p:cNvSpPr/>
          <p:nvPr/>
        </p:nvSpPr>
        <p:spPr>
          <a:xfrm>
            <a:off x="658368" y="4828032"/>
            <a:ext cx="10874959" cy="603504"/>
          </a:xfrm>
          <a:prstGeom prst="rect">
            <a:avLst/>
          </a:prstGeom>
          <a:solidFill>
            <a:srgbClr val="F2E7D9"/>
          </a:solidFill>
          <a:ln w="12700">
            <a:solidFill>
              <a:srgbClr val="F2E7D9"/>
            </a:solidFill>
            <a:prstDash val="solid"/>
          </a:ln>
        </p:spPr>
      </p:sp>
      <p:sp>
        <p:nvSpPr>
          <p:cNvPr id="34" name="Text 31"/>
          <p:cNvSpPr txBox="1"/>
          <p:nvPr/>
        </p:nvSpPr>
        <p:spPr>
          <a:xfrm>
            <a:off x="877824" y="4901184"/>
            <a:ext cx="2743200" cy="457200"/>
          </a:xfrm>
          <a:prstGeom prst="rect">
            <a:avLst/>
          </a:prstGeom>
          <a:noFill/>
          <a:ln/>
        </p:spPr>
        <p:txBody>
          <a:bodyPr wrap="square" lIns="0" tIns="0" rIns="0" bIns="0" rtlCol="0" anchor="ctr"/>
          <a:lstStyle/>
          <a:p>
            <a:pPr algn="l" indent="0" marL="0">
              <a:buNone/>
            </a:pPr>
            <a:r>
              <a:rPr lang="en-US" sz="1200" b="1" dirty="0">
                <a:solidFill>
                  <a:srgbClr val="52606D"/>
                </a:solidFill>
                <a:latin typeface="Aptos" pitchFamily="34" charset="0"/>
                <a:ea typeface="Aptos" pitchFamily="34" charset="-122"/>
                <a:cs typeface="Aptos" pitchFamily="34" charset="-120"/>
              </a:rPr>
              <a:t>De dónde sale el esperado</a:t>
            </a:r>
            <a:endParaRPr lang="en-US" sz="1200" dirty="0"/>
          </a:p>
        </p:txBody>
      </p:sp>
      <p:sp>
        <p:nvSpPr>
          <p:cNvPr id="35" name="Text 32"/>
          <p:cNvSpPr txBox="1"/>
          <p:nvPr/>
        </p:nvSpPr>
        <p:spPr>
          <a:xfrm>
            <a:off x="3858768" y="4901184"/>
            <a:ext cx="3840480" cy="457200"/>
          </a:xfrm>
          <a:prstGeom prst="rect">
            <a:avLst/>
          </a:prstGeom>
          <a:noFill/>
          <a:ln/>
        </p:spPr>
        <p:txBody>
          <a:bodyPr wrap="square" lIns="0" tIns="0" rIns="0" bIns="0" rtlCol="0" anchor="ctr"/>
          <a:lstStyle/>
          <a:p>
            <a:pPr algn="l" indent="0" marL="0">
              <a:lnSpc>
                <a:spcPct val="110000"/>
              </a:lnSpc>
              <a:buNone/>
            </a:pPr>
            <a:r>
              <a:rPr lang="en-US" sz="1180" b="1" dirty="0">
                <a:solidFill>
                  <a:srgbClr val="243B53"/>
                </a:solidFill>
                <a:latin typeface="Aptos" pitchFamily="34" charset="0"/>
                <a:ea typeface="Aptos" pitchFamily="34" charset="-122"/>
                <a:cs typeface="Aptos" pitchFamily="34" charset="-120"/>
              </a:rPr>
              <a:t>Del requisito</a:t>
            </a:r>
            <a:endParaRPr lang="en-US" sz="1180" dirty="0"/>
          </a:p>
        </p:txBody>
      </p:sp>
      <p:sp>
        <p:nvSpPr>
          <p:cNvPr id="36" name="Text 33"/>
          <p:cNvSpPr txBox="1"/>
          <p:nvPr/>
        </p:nvSpPr>
        <p:spPr>
          <a:xfrm>
            <a:off x="8065008" y="4901184"/>
            <a:ext cx="3383280" cy="457200"/>
          </a:xfrm>
          <a:prstGeom prst="rect">
            <a:avLst/>
          </a:prstGeom>
          <a:noFill/>
          <a:ln/>
        </p:spPr>
        <p:txBody>
          <a:bodyPr wrap="square" lIns="0" tIns="0" rIns="0" bIns="0" rtlCol="0" anchor="ctr"/>
          <a:lstStyle/>
          <a:p>
            <a:pPr algn="l" indent="0" marL="0">
              <a:lnSpc>
                <a:spcPct val="110000"/>
              </a:lnSpc>
              <a:buNone/>
            </a:pPr>
            <a:r>
              <a:rPr lang="en-US" sz="1180" b="1" dirty="0">
                <a:solidFill>
                  <a:srgbClr val="243B53"/>
                </a:solidFill>
                <a:latin typeface="Aptos" pitchFamily="34" charset="0"/>
                <a:ea typeface="Aptos" pitchFamily="34" charset="-122"/>
                <a:cs typeface="Aptos" pitchFamily="34" charset="-120"/>
              </a:rPr>
              <a:t>Del requisito, también</a:t>
            </a:r>
            <a:endParaRPr lang="en-US" sz="1180" dirty="0"/>
          </a:p>
        </p:txBody>
      </p:sp>
      <p:sp>
        <p:nvSpPr>
          <p:cNvPr id="37" name="Shape 34"/>
          <p:cNvSpPr/>
          <p:nvPr/>
        </p:nvSpPr>
        <p:spPr>
          <a:xfrm>
            <a:off x="3675888" y="4828032"/>
            <a:ext cx="0" cy="603504"/>
          </a:xfrm>
          <a:prstGeom prst="line">
            <a:avLst/>
          </a:prstGeom>
          <a:noFill/>
          <a:ln w="12700">
            <a:solidFill>
              <a:srgbClr val="D8CFC4"/>
            </a:solidFill>
            <a:prstDash val="solid"/>
            <a:headEnd type="none"/>
            <a:tailEnd type="none"/>
          </a:ln>
        </p:spPr>
      </p:sp>
      <p:sp>
        <p:nvSpPr>
          <p:cNvPr id="38" name="Shape 35"/>
          <p:cNvSpPr/>
          <p:nvPr/>
        </p:nvSpPr>
        <p:spPr>
          <a:xfrm>
            <a:off x="7882128" y="4828032"/>
            <a:ext cx="0" cy="603504"/>
          </a:xfrm>
          <a:prstGeom prst="line">
            <a:avLst/>
          </a:prstGeom>
          <a:noFill/>
          <a:ln w="12700">
            <a:solidFill>
              <a:srgbClr val="D8CFC4"/>
            </a:solidFill>
            <a:prstDash val="solid"/>
            <a:headEnd type="none"/>
            <a:tailEnd type="none"/>
          </a:ln>
        </p:spPr>
      </p:sp>
      <p:sp>
        <p:nvSpPr>
          <p:cNvPr id="39" name="Shape 36"/>
          <p:cNvSpPr/>
          <p:nvPr/>
        </p:nvSpPr>
        <p:spPr>
          <a:xfrm>
            <a:off x="658368" y="5596128"/>
            <a:ext cx="10874959" cy="548640"/>
          </a:xfrm>
          <a:prstGeom prst="rect">
            <a:avLst/>
          </a:prstGeom>
          <a:solidFill>
            <a:srgbClr val="102A43"/>
          </a:solidFill>
          <a:ln w="12700">
            <a:solidFill>
              <a:srgbClr val="102A43"/>
            </a:solidFill>
            <a:prstDash val="solid"/>
          </a:ln>
        </p:spPr>
      </p:sp>
      <p:sp>
        <p:nvSpPr>
          <p:cNvPr id="40" name="Text 37"/>
          <p:cNvSpPr txBox="1"/>
          <p:nvPr/>
        </p:nvSpPr>
        <p:spPr>
          <a:xfrm>
            <a:off x="969264" y="5632704"/>
            <a:ext cx="10253167" cy="475488"/>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La última fila es la que más cuesta: una prueba estructural sigue necesitando un esperado de origen externo. El código dice qué caminos existen, no cuál es el resultado correcto.</a:t>
            </a:r>
            <a:endParaRPr lang="en-US" sz="13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PRIMERA MEDICIÓN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Qué hace exactamente cada parte del comando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pytest ejecuta las pruebas. Su extensión pytest-cov mide qué código recorrieron y aplica la medida de cobertura de sentencias descrita en la cláusula 6.3.1 de la norma.</a:t>
            </a:r>
            <a:endParaRPr lang="en-US" sz="1450" dirty="0"/>
          </a:p>
        </p:txBody>
      </p:sp>
      <p:sp>
        <p:nvSpPr>
          <p:cNvPr id="11" name="Shape 8"/>
          <p:cNvSpPr/>
          <p:nvPr/>
        </p:nvSpPr>
        <p:spPr>
          <a:xfrm>
            <a:off x="658368" y="2340864"/>
            <a:ext cx="10872216" cy="1188720"/>
          </a:xfrm>
          <a:prstGeom prst="roundRect">
            <a:avLst>
              <a:gd name="adj" fmla="val 3077"/>
            </a:avLst>
          </a:prstGeom>
          <a:solidFill>
            <a:srgbClr val="0F1720"/>
          </a:solidFill>
          <a:ln w="12700">
            <a:solidFill>
              <a:srgbClr val="0F1720"/>
            </a:solidFill>
            <a:prstDash val="solid"/>
          </a:ln>
        </p:spPr>
      </p:sp>
      <p:sp>
        <p:nvSpPr>
          <p:cNvPr id="12" name="Shape 9"/>
          <p:cNvSpPr/>
          <p:nvPr/>
        </p:nvSpPr>
        <p:spPr>
          <a:xfrm>
            <a:off x="786384" y="2450592"/>
            <a:ext cx="10616184"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23744"/>
            <a:ext cx="1036015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Instalar y medir</a:t>
            </a:r>
            <a:endParaRPr lang="en-US" sz="1000" dirty="0"/>
          </a:p>
        </p:txBody>
      </p:sp>
      <p:sp>
        <p:nvSpPr>
          <p:cNvPr id="14" name="Text 11"/>
          <p:cNvSpPr/>
          <p:nvPr/>
        </p:nvSpPr>
        <p:spPr>
          <a:xfrm>
            <a:off x="877824" y="2907792"/>
            <a:ext cx="329184" cy="164592"/>
          </a:xfrm>
          <a:prstGeom prst="rect">
            <a:avLst/>
          </a:prstGeom>
          <a:noFill/>
          <a:ln/>
        </p:spPr>
        <p:txBody>
          <a:bodyPr wrap="square" lIns="0" tIns="0" rIns="0" bIns="0" rtlCol="0" anchor="ctr"/>
          <a:lstStyle/>
          <a:p>
            <a:pPr indent="0" marL="0">
              <a:buNone/>
            </a:pPr>
            <a:r>
              <a:rPr lang="en-US" sz="1150" b="1" dirty="0">
                <a:solidFill>
                  <a:srgbClr val="E0BC5A"/>
                </a:solidFill>
                <a:latin typeface="Consolas" pitchFamily="34" charset="0"/>
                <a:ea typeface="Consolas" pitchFamily="34" charset="-122"/>
                <a:cs typeface="Consolas" pitchFamily="34" charset="-120"/>
              </a:rPr>
              <a:t>&gt;</a:t>
            </a:r>
            <a:endParaRPr lang="en-US" sz="1150" dirty="0"/>
          </a:p>
        </p:txBody>
      </p:sp>
      <p:sp>
        <p:nvSpPr>
          <p:cNvPr id="15" name="Text 12"/>
          <p:cNvSpPr/>
          <p:nvPr/>
        </p:nvSpPr>
        <p:spPr>
          <a:xfrm>
            <a:off x="1188720" y="2907792"/>
            <a:ext cx="10122408" cy="164592"/>
          </a:xfrm>
          <a:prstGeom prst="rect">
            <a:avLst/>
          </a:prstGeom>
          <a:noFill/>
          <a:ln/>
        </p:spPr>
        <p:txBody>
          <a:bodyPr wrap="square" lIns="0" tIns="0" rIns="0" bIns="0" rtlCol="0" anchor="ctr"/>
          <a:lstStyle/>
          <a:p>
            <a:pPr indent="0" marL="0">
              <a:buNone/>
            </a:pPr>
            <a:r>
              <a:rPr lang="en-US" sz="1150" dirty="0">
                <a:solidFill>
                  <a:srgbClr val="E6EEF7"/>
                </a:solidFill>
                <a:latin typeface="Consolas" pitchFamily="34" charset="0"/>
                <a:ea typeface="Consolas" pitchFamily="34" charset="-122"/>
                <a:cs typeface="Consolas" pitchFamily="34" charset="-120"/>
              </a:rPr>
              <a:t>uv add --dev pytest pytest-cov</a:t>
            </a:r>
            <a:endParaRPr lang="en-US" sz="1150" dirty="0"/>
          </a:p>
        </p:txBody>
      </p:sp>
      <p:sp>
        <p:nvSpPr>
          <p:cNvPr id="16" name="Text 13"/>
          <p:cNvSpPr/>
          <p:nvPr/>
        </p:nvSpPr>
        <p:spPr>
          <a:xfrm>
            <a:off x="877824" y="3163824"/>
            <a:ext cx="329184" cy="164592"/>
          </a:xfrm>
          <a:prstGeom prst="rect">
            <a:avLst/>
          </a:prstGeom>
          <a:noFill/>
          <a:ln/>
        </p:spPr>
        <p:txBody>
          <a:bodyPr wrap="square" lIns="0" tIns="0" rIns="0" bIns="0" rtlCol="0" anchor="ctr"/>
          <a:lstStyle/>
          <a:p>
            <a:pPr indent="0" marL="0">
              <a:buNone/>
            </a:pPr>
            <a:r>
              <a:rPr lang="en-US" sz="1150" b="1" dirty="0">
                <a:solidFill>
                  <a:srgbClr val="E0BC5A"/>
                </a:solidFill>
                <a:latin typeface="Consolas" pitchFamily="34" charset="0"/>
                <a:ea typeface="Consolas" pitchFamily="34" charset="-122"/>
                <a:cs typeface="Consolas" pitchFamily="34" charset="-120"/>
              </a:rPr>
              <a:t>&gt;</a:t>
            </a:r>
            <a:endParaRPr lang="en-US" sz="1150" dirty="0"/>
          </a:p>
        </p:txBody>
      </p:sp>
      <p:sp>
        <p:nvSpPr>
          <p:cNvPr id="17" name="Text 14"/>
          <p:cNvSpPr/>
          <p:nvPr/>
        </p:nvSpPr>
        <p:spPr>
          <a:xfrm>
            <a:off x="1188720" y="3163824"/>
            <a:ext cx="10122408" cy="164592"/>
          </a:xfrm>
          <a:prstGeom prst="rect">
            <a:avLst/>
          </a:prstGeom>
          <a:noFill/>
          <a:ln/>
        </p:spPr>
        <p:txBody>
          <a:bodyPr wrap="square" lIns="0" tIns="0" rIns="0" bIns="0" rtlCol="0" anchor="ctr"/>
          <a:lstStyle/>
          <a:p>
            <a:pPr indent="0" marL="0">
              <a:buNone/>
            </a:pPr>
            <a:r>
              <a:rPr lang="en-US" sz="1150" dirty="0">
                <a:solidFill>
                  <a:srgbClr val="E6EEF7"/>
                </a:solidFill>
                <a:latin typeface="Consolas" pitchFamily="34" charset="0"/>
                <a:ea typeface="Consolas" pitchFamily="34" charset="-122"/>
                <a:cs typeface="Consolas" pitchFamily="34" charset="-120"/>
              </a:rPr>
              <a:t>uv run pytest --cov=reservas --cov-report=term-missing -q</a:t>
            </a:r>
            <a:endParaRPr lang="en-US" sz="1150" dirty="0"/>
          </a:p>
        </p:txBody>
      </p:sp>
      <p:sp>
        <p:nvSpPr>
          <p:cNvPr id="18" name="Shape 15"/>
          <p:cNvSpPr/>
          <p:nvPr/>
        </p:nvSpPr>
        <p:spPr>
          <a:xfrm>
            <a:off x="658368" y="3675888"/>
            <a:ext cx="10874959" cy="457200"/>
          </a:xfrm>
          <a:prstGeom prst="rect">
            <a:avLst/>
          </a:prstGeom>
          <a:solidFill>
            <a:srgbClr val="FFFFFF"/>
          </a:solidFill>
          <a:ln w="12700">
            <a:solidFill>
              <a:srgbClr val="FFFFFF"/>
            </a:solidFill>
            <a:prstDash val="solid"/>
          </a:ln>
        </p:spPr>
      </p:sp>
      <p:sp>
        <p:nvSpPr>
          <p:cNvPr id="19" name="Shape 16"/>
          <p:cNvSpPr/>
          <p:nvPr/>
        </p:nvSpPr>
        <p:spPr>
          <a:xfrm>
            <a:off x="658368" y="3675888"/>
            <a:ext cx="45720" cy="457200"/>
          </a:xfrm>
          <a:prstGeom prst="rect">
            <a:avLst/>
          </a:prstGeom>
          <a:solidFill>
            <a:srgbClr val="102A43"/>
          </a:solidFill>
          <a:ln w="12700">
            <a:solidFill>
              <a:srgbClr val="102A43"/>
            </a:solidFill>
            <a:prstDash val="solid"/>
          </a:ln>
        </p:spPr>
      </p:sp>
      <p:sp>
        <p:nvSpPr>
          <p:cNvPr id="20" name="Text 17"/>
          <p:cNvSpPr txBox="1"/>
          <p:nvPr/>
        </p:nvSpPr>
        <p:spPr>
          <a:xfrm>
            <a:off x="877824" y="3712464"/>
            <a:ext cx="2834640" cy="384048"/>
          </a:xfrm>
          <a:prstGeom prst="rect">
            <a:avLst/>
          </a:prstGeom>
          <a:noFill/>
          <a:ln/>
        </p:spPr>
        <p:txBody>
          <a:bodyPr wrap="square" lIns="0" tIns="0" rIns="0" bIns="0" rtlCol="0" anchor="ctr"/>
          <a:lstStyle/>
          <a:p>
            <a:pPr algn="l" indent="0" marL="0">
              <a:buNone/>
            </a:pPr>
            <a:r>
              <a:rPr lang="en-US" sz="1140" b="1" dirty="0">
                <a:solidFill>
                  <a:srgbClr val="102A43"/>
                </a:solidFill>
                <a:latin typeface="Consolas" pitchFamily="34" charset="0"/>
                <a:ea typeface="Consolas" pitchFamily="34" charset="-122"/>
                <a:cs typeface="Consolas" pitchFamily="34" charset="-120"/>
              </a:rPr>
              <a:t>uv add --dev</a:t>
            </a:r>
            <a:endParaRPr lang="en-US" sz="1140" dirty="0"/>
          </a:p>
        </p:txBody>
      </p:sp>
      <p:sp>
        <p:nvSpPr>
          <p:cNvPr id="21" name="Text 18"/>
          <p:cNvSpPr txBox="1"/>
          <p:nvPr/>
        </p:nvSpPr>
        <p:spPr>
          <a:xfrm>
            <a:off x="3858768" y="3712464"/>
            <a:ext cx="740023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Instala el paquete como dependencia DE DESARROLLO: hace falta para probar, no para que el proyecto funcione.</a:t>
            </a:r>
            <a:endParaRPr lang="en-US" sz="1180" dirty="0"/>
          </a:p>
        </p:txBody>
      </p:sp>
      <p:sp>
        <p:nvSpPr>
          <p:cNvPr id="22" name="Shape 19"/>
          <p:cNvSpPr/>
          <p:nvPr/>
        </p:nvSpPr>
        <p:spPr>
          <a:xfrm>
            <a:off x="658368" y="4206240"/>
            <a:ext cx="10874959" cy="457200"/>
          </a:xfrm>
          <a:prstGeom prst="rect">
            <a:avLst/>
          </a:prstGeom>
          <a:solidFill>
            <a:srgbClr val="EDE6DA"/>
          </a:solidFill>
          <a:ln w="12700">
            <a:solidFill>
              <a:srgbClr val="EDE6DA"/>
            </a:solidFill>
            <a:prstDash val="solid"/>
          </a:ln>
        </p:spPr>
      </p:sp>
      <p:sp>
        <p:nvSpPr>
          <p:cNvPr id="23" name="Shape 20"/>
          <p:cNvSpPr/>
          <p:nvPr/>
        </p:nvSpPr>
        <p:spPr>
          <a:xfrm>
            <a:off x="658368" y="4206240"/>
            <a:ext cx="45720" cy="457200"/>
          </a:xfrm>
          <a:prstGeom prst="rect">
            <a:avLst/>
          </a:prstGeom>
          <a:solidFill>
            <a:srgbClr val="102A43"/>
          </a:solidFill>
          <a:ln w="12700">
            <a:solidFill>
              <a:srgbClr val="102A43"/>
            </a:solidFill>
            <a:prstDash val="solid"/>
          </a:ln>
        </p:spPr>
      </p:sp>
      <p:sp>
        <p:nvSpPr>
          <p:cNvPr id="24" name="Text 21"/>
          <p:cNvSpPr txBox="1"/>
          <p:nvPr/>
        </p:nvSpPr>
        <p:spPr>
          <a:xfrm>
            <a:off x="877824" y="4242816"/>
            <a:ext cx="2834640" cy="384048"/>
          </a:xfrm>
          <a:prstGeom prst="rect">
            <a:avLst/>
          </a:prstGeom>
          <a:noFill/>
          <a:ln/>
        </p:spPr>
        <p:txBody>
          <a:bodyPr wrap="square" lIns="0" tIns="0" rIns="0" bIns="0" rtlCol="0" anchor="ctr"/>
          <a:lstStyle/>
          <a:p>
            <a:pPr algn="l" indent="0" marL="0">
              <a:buNone/>
            </a:pPr>
            <a:r>
              <a:rPr lang="en-US" sz="1140" b="1" dirty="0">
                <a:solidFill>
                  <a:srgbClr val="102A43"/>
                </a:solidFill>
                <a:latin typeface="Consolas" pitchFamily="34" charset="0"/>
                <a:ea typeface="Consolas" pitchFamily="34" charset="-122"/>
                <a:cs typeface="Consolas" pitchFamily="34" charset="-120"/>
              </a:rPr>
              <a:t>--cov=reservas</a:t>
            </a:r>
            <a:endParaRPr lang="en-US" sz="1140" dirty="0"/>
          </a:p>
        </p:txBody>
      </p:sp>
      <p:sp>
        <p:nvSpPr>
          <p:cNvPr id="25" name="Text 22"/>
          <p:cNvSpPr txBox="1"/>
          <p:nvPr/>
        </p:nvSpPr>
        <p:spPr>
          <a:xfrm>
            <a:off x="3858768" y="4242816"/>
            <a:ext cx="740023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Qué módulo medir. Sin esto mediría también las bibliotecas ajenas y el número no diría nada.</a:t>
            </a:r>
            <a:endParaRPr lang="en-US" sz="1180" dirty="0"/>
          </a:p>
        </p:txBody>
      </p:sp>
      <p:sp>
        <p:nvSpPr>
          <p:cNvPr id="26" name="Shape 23"/>
          <p:cNvSpPr/>
          <p:nvPr/>
        </p:nvSpPr>
        <p:spPr>
          <a:xfrm>
            <a:off x="658368" y="4736592"/>
            <a:ext cx="10874959" cy="457200"/>
          </a:xfrm>
          <a:prstGeom prst="rect">
            <a:avLst/>
          </a:prstGeom>
          <a:solidFill>
            <a:srgbClr val="FFFFFF"/>
          </a:solidFill>
          <a:ln w="12700">
            <a:solidFill>
              <a:srgbClr val="FFFFFF"/>
            </a:solidFill>
            <a:prstDash val="solid"/>
          </a:ln>
        </p:spPr>
      </p:sp>
      <p:sp>
        <p:nvSpPr>
          <p:cNvPr id="27" name="Shape 24"/>
          <p:cNvSpPr/>
          <p:nvPr/>
        </p:nvSpPr>
        <p:spPr>
          <a:xfrm>
            <a:off x="658368" y="4736592"/>
            <a:ext cx="45720" cy="457200"/>
          </a:xfrm>
          <a:prstGeom prst="rect">
            <a:avLst/>
          </a:prstGeom>
          <a:solidFill>
            <a:srgbClr val="8A6A12"/>
          </a:solidFill>
          <a:ln w="12700">
            <a:solidFill>
              <a:srgbClr val="8A6A12"/>
            </a:solidFill>
            <a:prstDash val="solid"/>
          </a:ln>
        </p:spPr>
      </p:sp>
      <p:sp>
        <p:nvSpPr>
          <p:cNvPr id="28" name="Text 25"/>
          <p:cNvSpPr txBox="1"/>
          <p:nvPr/>
        </p:nvSpPr>
        <p:spPr>
          <a:xfrm>
            <a:off x="877824" y="4773168"/>
            <a:ext cx="2834640" cy="384048"/>
          </a:xfrm>
          <a:prstGeom prst="rect">
            <a:avLst/>
          </a:prstGeom>
          <a:noFill/>
          <a:ln/>
        </p:spPr>
        <p:txBody>
          <a:bodyPr wrap="square" lIns="0" tIns="0" rIns="0" bIns="0" rtlCol="0" anchor="ctr"/>
          <a:lstStyle/>
          <a:p>
            <a:pPr algn="l" indent="0" marL="0">
              <a:buNone/>
            </a:pPr>
            <a:r>
              <a:rPr lang="en-US" sz="1140" b="1" dirty="0">
                <a:solidFill>
                  <a:srgbClr val="8A6A12"/>
                </a:solidFill>
                <a:latin typeface="Consolas" pitchFamily="34" charset="0"/>
                <a:ea typeface="Consolas" pitchFamily="34" charset="-122"/>
                <a:cs typeface="Consolas" pitchFamily="34" charset="-120"/>
              </a:rPr>
              <a:t>--cov-report=term-missing</a:t>
            </a:r>
            <a:endParaRPr lang="en-US" sz="1140" dirty="0"/>
          </a:p>
        </p:txBody>
      </p:sp>
      <p:sp>
        <p:nvSpPr>
          <p:cNvPr id="29" name="Text 26"/>
          <p:cNvSpPr txBox="1"/>
          <p:nvPr/>
        </p:nvSpPr>
        <p:spPr>
          <a:xfrm>
            <a:off x="3858768" y="4773168"/>
            <a:ext cx="740023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Qué informe imprimir: en el terminal, incluyendo LA LISTA DE LÍNEAS NO CUBIERTAS.</a:t>
            </a:r>
            <a:endParaRPr lang="en-US" sz="1180" dirty="0"/>
          </a:p>
        </p:txBody>
      </p:sp>
      <p:sp>
        <p:nvSpPr>
          <p:cNvPr id="30" name="Shape 27"/>
          <p:cNvSpPr/>
          <p:nvPr/>
        </p:nvSpPr>
        <p:spPr>
          <a:xfrm>
            <a:off x="658368" y="5266944"/>
            <a:ext cx="10874959" cy="457200"/>
          </a:xfrm>
          <a:prstGeom prst="rect">
            <a:avLst/>
          </a:prstGeom>
          <a:solidFill>
            <a:srgbClr val="EDE6DA"/>
          </a:solidFill>
          <a:ln w="12700">
            <a:solidFill>
              <a:srgbClr val="EDE6DA"/>
            </a:solidFill>
            <a:prstDash val="solid"/>
          </a:ln>
        </p:spPr>
      </p:sp>
      <p:sp>
        <p:nvSpPr>
          <p:cNvPr id="31" name="Shape 28"/>
          <p:cNvSpPr/>
          <p:nvPr/>
        </p:nvSpPr>
        <p:spPr>
          <a:xfrm>
            <a:off x="658368" y="5266944"/>
            <a:ext cx="45720" cy="457200"/>
          </a:xfrm>
          <a:prstGeom prst="rect">
            <a:avLst/>
          </a:prstGeom>
          <a:solidFill>
            <a:srgbClr val="102A43"/>
          </a:solidFill>
          <a:ln w="12700">
            <a:solidFill>
              <a:srgbClr val="102A43"/>
            </a:solidFill>
            <a:prstDash val="solid"/>
          </a:ln>
        </p:spPr>
      </p:sp>
      <p:sp>
        <p:nvSpPr>
          <p:cNvPr id="32" name="Text 29"/>
          <p:cNvSpPr txBox="1"/>
          <p:nvPr/>
        </p:nvSpPr>
        <p:spPr>
          <a:xfrm>
            <a:off x="877824" y="5303520"/>
            <a:ext cx="2834640" cy="384048"/>
          </a:xfrm>
          <a:prstGeom prst="rect">
            <a:avLst/>
          </a:prstGeom>
          <a:noFill/>
          <a:ln/>
        </p:spPr>
        <p:txBody>
          <a:bodyPr wrap="square" lIns="0" tIns="0" rIns="0" bIns="0" rtlCol="0" anchor="ctr"/>
          <a:lstStyle/>
          <a:p>
            <a:pPr algn="l" indent="0" marL="0">
              <a:buNone/>
            </a:pPr>
            <a:r>
              <a:rPr lang="en-US" sz="1140" b="1" dirty="0">
                <a:solidFill>
                  <a:srgbClr val="102A43"/>
                </a:solidFill>
                <a:latin typeface="Consolas" pitchFamily="34" charset="0"/>
                <a:ea typeface="Consolas" pitchFamily="34" charset="-122"/>
                <a:cs typeface="Consolas" pitchFamily="34" charset="-120"/>
              </a:rPr>
              <a:t>-q</a:t>
            </a:r>
            <a:endParaRPr lang="en-US" sz="1140" dirty="0"/>
          </a:p>
        </p:txBody>
      </p:sp>
      <p:sp>
        <p:nvSpPr>
          <p:cNvPr id="33" name="Text 30"/>
          <p:cNvSpPr txBox="1"/>
          <p:nvPr/>
        </p:nvSpPr>
        <p:spPr>
          <a:xfrm>
            <a:off x="3858768" y="5303520"/>
            <a:ext cx="740023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Modo silencioso: acorta la salida de pytest para que el informe se lea sin ruido.</a:t>
            </a:r>
            <a:endParaRPr lang="en-US" sz="1180" dirty="0"/>
          </a:p>
        </p:txBody>
      </p:sp>
      <p:sp>
        <p:nvSpPr>
          <p:cNvPr id="34" name="Shape 31"/>
          <p:cNvSpPr/>
          <p:nvPr/>
        </p:nvSpPr>
        <p:spPr>
          <a:xfrm>
            <a:off x="658368" y="5870448"/>
            <a:ext cx="10874959" cy="457200"/>
          </a:xfrm>
          <a:prstGeom prst="rect">
            <a:avLst/>
          </a:prstGeom>
          <a:solidFill>
            <a:srgbClr val="102A43"/>
          </a:solidFill>
          <a:ln w="12700">
            <a:solidFill>
              <a:srgbClr val="102A43"/>
            </a:solidFill>
            <a:prstDash val="solid"/>
          </a:ln>
        </p:spPr>
      </p:sp>
      <p:sp>
        <p:nvSpPr>
          <p:cNvPr id="35" name="Text 32"/>
          <p:cNvSpPr txBox="1"/>
          <p:nvPr/>
        </p:nvSpPr>
        <p:spPr>
          <a:xfrm>
            <a:off x="969264" y="5907024"/>
            <a:ext cx="10253167" cy="38404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term-missing no es un detalle de formato: es la diferencia entre ver un porcentaje y ver qué código quedó sin probar.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LEER EL INFORME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Cinco columnas: cada una mide algo distinto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Salida literal de la medición sobre el proyecto de reserva, con la suite de doce casos.</a:t>
            </a:r>
            <a:endParaRPr lang="en-US" sz="1450" dirty="0"/>
          </a:p>
        </p:txBody>
      </p:sp>
      <p:sp>
        <p:nvSpPr>
          <p:cNvPr id="11" name="Shape 8"/>
          <p:cNvSpPr/>
          <p:nvPr/>
        </p:nvSpPr>
        <p:spPr>
          <a:xfrm>
            <a:off x="658368" y="2286000"/>
            <a:ext cx="10872216" cy="1152144"/>
          </a:xfrm>
          <a:prstGeom prst="rect">
            <a:avLst/>
          </a:prstGeom>
          <a:solidFill>
            <a:srgbClr val="0F1720"/>
          </a:solidFill>
          <a:ln w="12700">
            <a:solidFill>
              <a:srgbClr val="0F1720"/>
            </a:solidFill>
            <a:prstDash val="solid"/>
          </a:ln>
        </p:spPr>
      </p:sp>
      <p:sp>
        <p:nvSpPr>
          <p:cNvPr id="12" name="Shape 9"/>
          <p:cNvSpPr/>
          <p:nvPr/>
        </p:nvSpPr>
        <p:spPr>
          <a:xfrm>
            <a:off x="8247888" y="2340864"/>
            <a:ext cx="2743200" cy="1042416"/>
          </a:xfrm>
          <a:prstGeom prst="rect">
            <a:avLst/>
          </a:prstGeom>
          <a:solidFill>
            <a:srgbClr val="1D3A57"/>
          </a:solidFill>
          <a:ln w="12700">
            <a:solidFill>
              <a:srgbClr val="1D3A57"/>
            </a:solidFill>
            <a:prstDash val="solid"/>
          </a:ln>
        </p:spPr>
      </p:sp>
      <p:sp>
        <p:nvSpPr>
          <p:cNvPr id="13" name="Text 10"/>
          <p:cNvSpPr txBox="1"/>
          <p:nvPr/>
        </p:nvSpPr>
        <p:spPr>
          <a:xfrm>
            <a:off x="859536" y="2395728"/>
            <a:ext cx="2962656" cy="219456"/>
          </a:xfrm>
          <a:prstGeom prst="rect">
            <a:avLst/>
          </a:prstGeom>
          <a:noFill/>
          <a:ln/>
        </p:spPr>
        <p:txBody>
          <a:bodyPr wrap="square" lIns="0" tIns="0" rIns="0" bIns="0" rtlCol="0" anchor="t"/>
          <a:lstStyle/>
          <a:p>
            <a:pPr algn="l" indent="0" marL="0">
              <a:buNone/>
            </a:pPr>
            <a:r>
              <a:rPr lang="en-US" sz="1300" b="1" dirty="0">
                <a:solidFill>
                  <a:srgbClr val="8AA0B6"/>
                </a:solidFill>
                <a:latin typeface="Consolas" pitchFamily="34" charset="0"/>
                <a:ea typeface="Consolas" pitchFamily="34" charset="-122"/>
                <a:cs typeface="Consolas" pitchFamily="34" charset="-120"/>
              </a:rPr>
              <a:t>Name</a:t>
            </a:r>
            <a:endParaRPr lang="en-US" sz="1300" dirty="0"/>
          </a:p>
        </p:txBody>
      </p:sp>
      <p:sp>
        <p:nvSpPr>
          <p:cNvPr id="14" name="Text 11"/>
          <p:cNvSpPr txBox="1"/>
          <p:nvPr/>
        </p:nvSpPr>
        <p:spPr>
          <a:xfrm>
            <a:off x="3877056" y="2395728"/>
            <a:ext cx="1069848" cy="219456"/>
          </a:xfrm>
          <a:prstGeom prst="rect">
            <a:avLst/>
          </a:prstGeom>
          <a:noFill/>
          <a:ln/>
        </p:spPr>
        <p:txBody>
          <a:bodyPr wrap="square" lIns="0" tIns="0" rIns="0" bIns="0" rtlCol="0" anchor="t"/>
          <a:lstStyle/>
          <a:p>
            <a:pPr algn="r" indent="0" marL="0">
              <a:buNone/>
            </a:pPr>
            <a:r>
              <a:rPr lang="en-US" sz="1300" b="1" dirty="0">
                <a:solidFill>
                  <a:srgbClr val="8AA0B6"/>
                </a:solidFill>
                <a:latin typeface="Consolas" pitchFamily="34" charset="0"/>
                <a:ea typeface="Consolas" pitchFamily="34" charset="-122"/>
                <a:cs typeface="Consolas" pitchFamily="34" charset="-120"/>
              </a:rPr>
              <a:t>Stmts</a:t>
            </a:r>
            <a:endParaRPr lang="en-US" sz="1300" dirty="0"/>
          </a:p>
        </p:txBody>
      </p:sp>
      <p:sp>
        <p:nvSpPr>
          <p:cNvPr id="15" name="Text 12"/>
          <p:cNvSpPr txBox="1"/>
          <p:nvPr/>
        </p:nvSpPr>
        <p:spPr>
          <a:xfrm>
            <a:off x="5202936" y="2395728"/>
            <a:ext cx="1069848" cy="219456"/>
          </a:xfrm>
          <a:prstGeom prst="rect">
            <a:avLst/>
          </a:prstGeom>
          <a:noFill/>
          <a:ln/>
        </p:spPr>
        <p:txBody>
          <a:bodyPr wrap="square" lIns="0" tIns="0" rIns="0" bIns="0" rtlCol="0" anchor="t"/>
          <a:lstStyle/>
          <a:p>
            <a:pPr algn="r" indent="0" marL="0">
              <a:buNone/>
            </a:pPr>
            <a:r>
              <a:rPr lang="en-US" sz="1300" b="1" dirty="0">
                <a:solidFill>
                  <a:srgbClr val="8AA0B6"/>
                </a:solidFill>
                <a:latin typeface="Consolas" pitchFamily="34" charset="0"/>
                <a:ea typeface="Consolas" pitchFamily="34" charset="-122"/>
                <a:cs typeface="Consolas" pitchFamily="34" charset="-120"/>
              </a:rPr>
              <a:t>Miss</a:t>
            </a:r>
            <a:endParaRPr lang="en-US" sz="1300" dirty="0"/>
          </a:p>
        </p:txBody>
      </p:sp>
      <p:sp>
        <p:nvSpPr>
          <p:cNvPr id="16" name="Text 13"/>
          <p:cNvSpPr txBox="1"/>
          <p:nvPr/>
        </p:nvSpPr>
        <p:spPr>
          <a:xfrm>
            <a:off x="6528816" y="2395728"/>
            <a:ext cx="1481328" cy="219456"/>
          </a:xfrm>
          <a:prstGeom prst="rect">
            <a:avLst/>
          </a:prstGeom>
          <a:noFill/>
          <a:ln/>
        </p:spPr>
        <p:txBody>
          <a:bodyPr wrap="square" lIns="0" tIns="0" rIns="0" bIns="0" rtlCol="0" anchor="t"/>
          <a:lstStyle/>
          <a:p>
            <a:pPr algn="r" indent="0" marL="0">
              <a:buNone/>
            </a:pPr>
            <a:r>
              <a:rPr lang="en-US" sz="1300" b="1" dirty="0">
                <a:solidFill>
                  <a:srgbClr val="8AA0B6"/>
                </a:solidFill>
                <a:latin typeface="Consolas" pitchFamily="34" charset="0"/>
                <a:ea typeface="Consolas" pitchFamily="34" charset="-122"/>
                <a:cs typeface="Consolas" pitchFamily="34" charset="-120"/>
              </a:rPr>
              <a:t>Cover</a:t>
            </a:r>
            <a:endParaRPr lang="en-US" sz="1300" dirty="0"/>
          </a:p>
        </p:txBody>
      </p:sp>
      <p:sp>
        <p:nvSpPr>
          <p:cNvPr id="17" name="Text 14"/>
          <p:cNvSpPr txBox="1"/>
          <p:nvPr/>
        </p:nvSpPr>
        <p:spPr>
          <a:xfrm>
            <a:off x="8266176" y="2395728"/>
            <a:ext cx="2688336" cy="219456"/>
          </a:xfrm>
          <a:prstGeom prst="rect">
            <a:avLst/>
          </a:prstGeom>
          <a:noFill/>
          <a:ln/>
        </p:spPr>
        <p:txBody>
          <a:bodyPr wrap="square" lIns="0" tIns="0" rIns="0" bIns="0" rtlCol="0" anchor="t"/>
          <a:lstStyle/>
          <a:p>
            <a:pPr algn="l" indent="0" marL="0">
              <a:buNone/>
            </a:pPr>
            <a:r>
              <a:rPr lang="en-US" sz="1300" b="1" dirty="0">
                <a:solidFill>
                  <a:srgbClr val="E0BC5A"/>
                </a:solidFill>
                <a:latin typeface="Consolas" pitchFamily="34" charset="0"/>
                <a:ea typeface="Consolas" pitchFamily="34" charset="-122"/>
                <a:cs typeface="Consolas" pitchFamily="34" charset="-120"/>
              </a:rPr>
              <a:t>Missing</a:t>
            </a:r>
            <a:endParaRPr lang="en-US" sz="1300" dirty="0"/>
          </a:p>
        </p:txBody>
      </p:sp>
      <p:sp>
        <p:nvSpPr>
          <p:cNvPr id="18" name="Shape 15"/>
          <p:cNvSpPr/>
          <p:nvPr/>
        </p:nvSpPr>
        <p:spPr>
          <a:xfrm>
            <a:off x="859536" y="2651760"/>
            <a:ext cx="10469880" cy="0"/>
          </a:xfrm>
          <a:prstGeom prst="line">
            <a:avLst/>
          </a:prstGeom>
          <a:noFill/>
          <a:ln w="12700">
            <a:solidFill>
              <a:srgbClr val="2C4A66"/>
            </a:solidFill>
            <a:prstDash val="solid"/>
            <a:headEnd type="none"/>
            <a:tailEnd type="none"/>
          </a:ln>
        </p:spPr>
      </p:sp>
      <p:sp>
        <p:nvSpPr>
          <p:cNvPr id="19" name="Text 16"/>
          <p:cNvSpPr txBox="1"/>
          <p:nvPr/>
        </p:nvSpPr>
        <p:spPr>
          <a:xfrm>
            <a:off x="859536" y="2724912"/>
            <a:ext cx="2962656" cy="292608"/>
          </a:xfrm>
          <a:prstGeom prst="rect">
            <a:avLst/>
          </a:prstGeom>
          <a:noFill/>
          <a:ln/>
        </p:spPr>
        <p:txBody>
          <a:bodyPr wrap="square" lIns="0" tIns="0" rIns="0" bIns="0" rtlCol="0" anchor="t"/>
          <a:lstStyle/>
          <a:p>
            <a:pPr algn="l" indent="0" marL="0">
              <a:buNone/>
            </a:pPr>
            <a:r>
              <a:rPr lang="en-US" sz="1300" dirty="0">
                <a:solidFill>
                  <a:srgbClr val="E6EEF7"/>
                </a:solidFill>
                <a:latin typeface="Consolas" pitchFamily="34" charset="0"/>
                <a:ea typeface="Consolas" pitchFamily="34" charset="-122"/>
                <a:cs typeface="Consolas" pitchFamily="34" charset="-120"/>
              </a:rPr>
              <a:t>reservas.py</a:t>
            </a:r>
            <a:endParaRPr lang="en-US" sz="1300" dirty="0"/>
          </a:p>
        </p:txBody>
      </p:sp>
      <p:sp>
        <p:nvSpPr>
          <p:cNvPr id="20" name="Text 17"/>
          <p:cNvSpPr txBox="1"/>
          <p:nvPr/>
        </p:nvSpPr>
        <p:spPr>
          <a:xfrm>
            <a:off x="3877056" y="2724912"/>
            <a:ext cx="1069848" cy="292608"/>
          </a:xfrm>
          <a:prstGeom prst="rect">
            <a:avLst/>
          </a:prstGeom>
          <a:noFill/>
          <a:ln/>
        </p:spPr>
        <p:txBody>
          <a:bodyPr wrap="square" lIns="0" tIns="0" rIns="0" bIns="0" rtlCol="0" anchor="t"/>
          <a:lstStyle/>
          <a:p>
            <a:pPr algn="r" indent="0" marL="0">
              <a:buNone/>
            </a:pPr>
            <a:r>
              <a:rPr lang="en-US" sz="1300" dirty="0">
                <a:solidFill>
                  <a:srgbClr val="E6EEF7"/>
                </a:solidFill>
                <a:latin typeface="Consolas" pitchFamily="34" charset="0"/>
                <a:ea typeface="Consolas" pitchFamily="34" charset="-122"/>
                <a:cs typeface="Consolas" pitchFamily="34" charset="-120"/>
              </a:rPr>
              <a:t>17</a:t>
            </a:r>
            <a:endParaRPr lang="en-US" sz="1300" dirty="0"/>
          </a:p>
        </p:txBody>
      </p:sp>
      <p:sp>
        <p:nvSpPr>
          <p:cNvPr id="21" name="Text 18"/>
          <p:cNvSpPr txBox="1"/>
          <p:nvPr/>
        </p:nvSpPr>
        <p:spPr>
          <a:xfrm>
            <a:off x="5202936" y="2724912"/>
            <a:ext cx="1069848" cy="292608"/>
          </a:xfrm>
          <a:prstGeom prst="rect">
            <a:avLst/>
          </a:prstGeom>
          <a:noFill/>
          <a:ln/>
        </p:spPr>
        <p:txBody>
          <a:bodyPr wrap="square" lIns="0" tIns="0" rIns="0" bIns="0" rtlCol="0" anchor="t"/>
          <a:lstStyle/>
          <a:p>
            <a:pPr algn="r" indent="0" marL="0">
              <a:buNone/>
            </a:pPr>
            <a:r>
              <a:rPr lang="en-US" sz="1300" dirty="0">
                <a:solidFill>
                  <a:srgbClr val="E6EEF7"/>
                </a:solidFill>
                <a:latin typeface="Consolas" pitchFamily="34" charset="0"/>
                <a:ea typeface="Consolas" pitchFamily="34" charset="-122"/>
                <a:cs typeface="Consolas" pitchFamily="34" charset="-120"/>
              </a:rPr>
              <a:t>2</a:t>
            </a:r>
            <a:endParaRPr lang="en-US" sz="1300" dirty="0"/>
          </a:p>
        </p:txBody>
      </p:sp>
      <p:sp>
        <p:nvSpPr>
          <p:cNvPr id="22" name="Text 19"/>
          <p:cNvSpPr txBox="1"/>
          <p:nvPr/>
        </p:nvSpPr>
        <p:spPr>
          <a:xfrm>
            <a:off x="6528816" y="2724912"/>
            <a:ext cx="1481328" cy="292608"/>
          </a:xfrm>
          <a:prstGeom prst="rect">
            <a:avLst/>
          </a:prstGeom>
          <a:noFill/>
          <a:ln/>
        </p:spPr>
        <p:txBody>
          <a:bodyPr wrap="square" lIns="0" tIns="0" rIns="0" bIns="0" rtlCol="0" anchor="t"/>
          <a:lstStyle/>
          <a:p>
            <a:pPr algn="r" indent="0" marL="0">
              <a:buNone/>
            </a:pPr>
            <a:r>
              <a:rPr lang="en-US" sz="1300" dirty="0">
                <a:solidFill>
                  <a:srgbClr val="E6EEF7"/>
                </a:solidFill>
                <a:latin typeface="Consolas" pitchFamily="34" charset="0"/>
                <a:ea typeface="Consolas" pitchFamily="34" charset="-122"/>
                <a:cs typeface="Consolas" pitchFamily="34" charset="-120"/>
              </a:rPr>
              <a:t>88%</a:t>
            </a:r>
            <a:endParaRPr lang="en-US" sz="1300" dirty="0"/>
          </a:p>
        </p:txBody>
      </p:sp>
      <p:sp>
        <p:nvSpPr>
          <p:cNvPr id="23" name="Text 20"/>
          <p:cNvSpPr txBox="1"/>
          <p:nvPr/>
        </p:nvSpPr>
        <p:spPr>
          <a:xfrm>
            <a:off x="8266176" y="2724912"/>
            <a:ext cx="2688336" cy="292608"/>
          </a:xfrm>
          <a:prstGeom prst="rect">
            <a:avLst/>
          </a:prstGeom>
          <a:noFill/>
          <a:ln/>
        </p:spPr>
        <p:txBody>
          <a:bodyPr wrap="square" lIns="0" tIns="0" rIns="0" bIns="0" rtlCol="0" anchor="t"/>
          <a:lstStyle/>
          <a:p>
            <a:pPr algn="l" indent="0" marL="0">
              <a:buNone/>
            </a:pPr>
            <a:r>
              <a:rPr lang="en-US" sz="1300" b="1" dirty="0">
                <a:solidFill>
                  <a:srgbClr val="E0BC5A"/>
                </a:solidFill>
                <a:latin typeface="Consolas" pitchFamily="34" charset="0"/>
                <a:ea typeface="Consolas" pitchFamily="34" charset="-122"/>
                <a:cs typeface="Consolas" pitchFamily="34" charset="-120"/>
              </a:rPr>
              <a:t>22, 26</a:t>
            </a:r>
            <a:endParaRPr lang="en-US" sz="1300" dirty="0"/>
          </a:p>
        </p:txBody>
      </p:sp>
      <p:sp>
        <p:nvSpPr>
          <p:cNvPr id="24" name="Text 21"/>
          <p:cNvSpPr txBox="1"/>
          <p:nvPr/>
        </p:nvSpPr>
        <p:spPr>
          <a:xfrm>
            <a:off x="859536" y="3035808"/>
            <a:ext cx="2962656" cy="292608"/>
          </a:xfrm>
          <a:prstGeom prst="rect">
            <a:avLst/>
          </a:prstGeom>
          <a:noFill/>
          <a:ln/>
        </p:spPr>
        <p:txBody>
          <a:bodyPr wrap="square" lIns="0" tIns="0" rIns="0" bIns="0" rtlCol="0" anchor="t"/>
          <a:lstStyle/>
          <a:p>
            <a:pPr algn="l" indent="0" marL="0">
              <a:buNone/>
            </a:pPr>
            <a:r>
              <a:rPr lang="en-US" sz="1300" dirty="0">
                <a:solidFill>
                  <a:srgbClr val="E6EEF7"/>
                </a:solidFill>
                <a:latin typeface="Consolas" pitchFamily="34" charset="0"/>
                <a:ea typeface="Consolas" pitchFamily="34" charset="-122"/>
                <a:cs typeface="Consolas" pitchFamily="34" charset="-120"/>
              </a:rPr>
              <a:t>TOTAL</a:t>
            </a:r>
            <a:endParaRPr lang="en-US" sz="1300" dirty="0"/>
          </a:p>
        </p:txBody>
      </p:sp>
      <p:sp>
        <p:nvSpPr>
          <p:cNvPr id="25" name="Text 22"/>
          <p:cNvSpPr txBox="1"/>
          <p:nvPr/>
        </p:nvSpPr>
        <p:spPr>
          <a:xfrm>
            <a:off x="3877056" y="3035808"/>
            <a:ext cx="1069848" cy="292608"/>
          </a:xfrm>
          <a:prstGeom prst="rect">
            <a:avLst/>
          </a:prstGeom>
          <a:noFill/>
          <a:ln/>
        </p:spPr>
        <p:txBody>
          <a:bodyPr wrap="square" lIns="0" tIns="0" rIns="0" bIns="0" rtlCol="0" anchor="t"/>
          <a:lstStyle/>
          <a:p>
            <a:pPr algn="r" indent="0" marL="0">
              <a:buNone/>
            </a:pPr>
            <a:r>
              <a:rPr lang="en-US" sz="1300" dirty="0">
                <a:solidFill>
                  <a:srgbClr val="E6EEF7"/>
                </a:solidFill>
                <a:latin typeface="Consolas" pitchFamily="34" charset="0"/>
                <a:ea typeface="Consolas" pitchFamily="34" charset="-122"/>
                <a:cs typeface="Consolas" pitchFamily="34" charset="-120"/>
              </a:rPr>
              <a:t>17</a:t>
            </a:r>
            <a:endParaRPr lang="en-US" sz="1300" dirty="0"/>
          </a:p>
        </p:txBody>
      </p:sp>
      <p:sp>
        <p:nvSpPr>
          <p:cNvPr id="26" name="Text 23"/>
          <p:cNvSpPr txBox="1"/>
          <p:nvPr/>
        </p:nvSpPr>
        <p:spPr>
          <a:xfrm>
            <a:off x="5202936" y="3035808"/>
            <a:ext cx="1069848" cy="292608"/>
          </a:xfrm>
          <a:prstGeom prst="rect">
            <a:avLst/>
          </a:prstGeom>
          <a:noFill/>
          <a:ln/>
        </p:spPr>
        <p:txBody>
          <a:bodyPr wrap="square" lIns="0" tIns="0" rIns="0" bIns="0" rtlCol="0" anchor="t"/>
          <a:lstStyle/>
          <a:p>
            <a:pPr algn="r" indent="0" marL="0">
              <a:buNone/>
            </a:pPr>
            <a:r>
              <a:rPr lang="en-US" sz="1300" dirty="0">
                <a:solidFill>
                  <a:srgbClr val="E6EEF7"/>
                </a:solidFill>
                <a:latin typeface="Consolas" pitchFamily="34" charset="0"/>
                <a:ea typeface="Consolas" pitchFamily="34" charset="-122"/>
                <a:cs typeface="Consolas" pitchFamily="34" charset="-120"/>
              </a:rPr>
              <a:t>2</a:t>
            </a:r>
            <a:endParaRPr lang="en-US" sz="1300" dirty="0"/>
          </a:p>
        </p:txBody>
      </p:sp>
      <p:sp>
        <p:nvSpPr>
          <p:cNvPr id="27" name="Text 24"/>
          <p:cNvSpPr txBox="1"/>
          <p:nvPr/>
        </p:nvSpPr>
        <p:spPr>
          <a:xfrm>
            <a:off x="6528816" y="3035808"/>
            <a:ext cx="1481328" cy="292608"/>
          </a:xfrm>
          <a:prstGeom prst="rect">
            <a:avLst/>
          </a:prstGeom>
          <a:noFill/>
          <a:ln/>
        </p:spPr>
        <p:txBody>
          <a:bodyPr wrap="square" lIns="0" tIns="0" rIns="0" bIns="0" rtlCol="0" anchor="t"/>
          <a:lstStyle/>
          <a:p>
            <a:pPr algn="r" indent="0" marL="0">
              <a:buNone/>
            </a:pPr>
            <a:r>
              <a:rPr lang="en-US" sz="1300" dirty="0">
                <a:solidFill>
                  <a:srgbClr val="E6EEF7"/>
                </a:solidFill>
                <a:latin typeface="Consolas" pitchFamily="34" charset="0"/>
                <a:ea typeface="Consolas" pitchFamily="34" charset="-122"/>
                <a:cs typeface="Consolas" pitchFamily="34" charset="-120"/>
              </a:rPr>
              <a:t>88%</a:t>
            </a:r>
            <a:endParaRPr lang="en-US" sz="1300" dirty="0"/>
          </a:p>
        </p:txBody>
      </p:sp>
      <p:sp>
        <p:nvSpPr>
          <p:cNvPr id="28" name="Text 25"/>
          <p:cNvSpPr txBox="1"/>
          <p:nvPr/>
        </p:nvSpPr>
        <p:spPr>
          <a:xfrm>
            <a:off x="8266176" y="3035808"/>
            <a:ext cx="2688336" cy="292608"/>
          </a:xfrm>
          <a:prstGeom prst="rect">
            <a:avLst/>
          </a:prstGeom>
          <a:noFill/>
          <a:ln/>
        </p:spPr>
        <p:txBody>
          <a:bodyPr wrap="square" lIns="0" tIns="0" rIns="0" bIns="0" rtlCol="0" anchor="t"/>
          <a:lstStyle/>
          <a:p>
            <a:pPr algn="l" indent="0" marL="0">
              <a:buNone/>
            </a:pPr>
            <a:endParaRPr lang="en-US" sz="1300" dirty="0"/>
          </a:p>
        </p:txBody>
      </p:sp>
      <p:sp>
        <p:nvSpPr>
          <p:cNvPr id="29" name="Shape 26"/>
          <p:cNvSpPr/>
          <p:nvPr/>
        </p:nvSpPr>
        <p:spPr>
          <a:xfrm>
            <a:off x="658368" y="3913632"/>
            <a:ext cx="2596896" cy="1042416"/>
          </a:xfrm>
          <a:prstGeom prst="rect">
            <a:avLst/>
          </a:prstGeom>
          <a:solidFill>
            <a:srgbClr val="FFFFFF"/>
          </a:solidFill>
          <a:ln w="12700">
            <a:solidFill>
              <a:srgbClr val="FFFFFF"/>
            </a:solidFill>
            <a:prstDash val="solid"/>
          </a:ln>
        </p:spPr>
      </p:sp>
      <p:sp>
        <p:nvSpPr>
          <p:cNvPr id="30" name="Shape 27"/>
          <p:cNvSpPr/>
          <p:nvPr/>
        </p:nvSpPr>
        <p:spPr>
          <a:xfrm>
            <a:off x="658368" y="3913632"/>
            <a:ext cx="45720" cy="1042416"/>
          </a:xfrm>
          <a:prstGeom prst="rect">
            <a:avLst/>
          </a:prstGeom>
          <a:solidFill>
            <a:srgbClr val="D8CFC4"/>
          </a:solidFill>
          <a:ln w="12700">
            <a:solidFill>
              <a:srgbClr val="D8CFC4"/>
            </a:solidFill>
            <a:prstDash val="solid"/>
          </a:ln>
        </p:spPr>
      </p:sp>
      <p:sp>
        <p:nvSpPr>
          <p:cNvPr id="31" name="Text 28"/>
          <p:cNvSpPr txBox="1"/>
          <p:nvPr/>
        </p:nvSpPr>
        <p:spPr>
          <a:xfrm>
            <a:off x="859536" y="4023360"/>
            <a:ext cx="22860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Consolas" pitchFamily="34" charset="0"/>
                <a:ea typeface="Consolas" pitchFamily="34" charset="-122"/>
                <a:cs typeface="Consolas" pitchFamily="34" charset="-120"/>
              </a:rPr>
              <a:t>Stmts</a:t>
            </a:r>
            <a:endParaRPr lang="en-US" sz="1240" dirty="0"/>
          </a:p>
        </p:txBody>
      </p:sp>
      <p:sp>
        <p:nvSpPr>
          <p:cNvPr id="32" name="Text 29"/>
          <p:cNvSpPr txBox="1"/>
          <p:nvPr/>
        </p:nvSpPr>
        <p:spPr>
          <a:xfrm>
            <a:off x="859536" y="4297680"/>
            <a:ext cx="2286000" cy="566928"/>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Sentencias ejecutables del archivo: 17. No son las 26 líneas del archivo.</a:t>
            </a:r>
            <a:endParaRPr lang="en-US" sz="1100" dirty="0"/>
          </a:p>
        </p:txBody>
      </p:sp>
      <p:sp>
        <p:nvSpPr>
          <p:cNvPr id="33" name="Shape 30"/>
          <p:cNvSpPr/>
          <p:nvPr/>
        </p:nvSpPr>
        <p:spPr>
          <a:xfrm>
            <a:off x="3401568" y="3913632"/>
            <a:ext cx="2596896" cy="1042416"/>
          </a:xfrm>
          <a:prstGeom prst="rect">
            <a:avLst/>
          </a:prstGeom>
          <a:solidFill>
            <a:srgbClr val="FFFFFF"/>
          </a:solidFill>
          <a:ln w="12700">
            <a:solidFill>
              <a:srgbClr val="FFFFFF"/>
            </a:solidFill>
            <a:prstDash val="solid"/>
          </a:ln>
        </p:spPr>
      </p:sp>
      <p:sp>
        <p:nvSpPr>
          <p:cNvPr id="34" name="Shape 31"/>
          <p:cNvSpPr/>
          <p:nvPr/>
        </p:nvSpPr>
        <p:spPr>
          <a:xfrm>
            <a:off x="3401568" y="3913632"/>
            <a:ext cx="45720" cy="1042416"/>
          </a:xfrm>
          <a:prstGeom prst="rect">
            <a:avLst/>
          </a:prstGeom>
          <a:solidFill>
            <a:srgbClr val="D8CFC4"/>
          </a:solidFill>
          <a:ln w="12700">
            <a:solidFill>
              <a:srgbClr val="D8CFC4"/>
            </a:solidFill>
            <a:prstDash val="solid"/>
          </a:ln>
        </p:spPr>
      </p:sp>
      <p:sp>
        <p:nvSpPr>
          <p:cNvPr id="35" name="Text 32"/>
          <p:cNvSpPr txBox="1"/>
          <p:nvPr/>
        </p:nvSpPr>
        <p:spPr>
          <a:xfrm>
            <a:off x="3602736" y="4023360"/>
            <a:ext cx="22860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Consolas" pitchFamily="34" charset="0"/>
                <a:ea typeface="Consolas" pitchFamily="34" charset="-122"/>
                <a:cs typeface="Consolas" pitchFamily="34" charset="-120"/>
              </a:rPr>
              <a:t>Miss</a:t>
            </a:r>
            <a:endParaRPr lang="en-US" sz="1240" dirty="0"/>
          </a:p>
        </p:txBody>
      </p:sp>
      <p:sp>
        <p:nvSpPr>
          <p:cNvPr id="36" name="Text 33"/>
          <p:cNvSpPr txBox="1"/>
          <p:nvPr/>
        </p:nvSpPr>
        <p:spPr>
          <a:xfrm>
            <a:off x="3602736" y="4297680"/>
            <a:ext cx="2286000" cy="566928"/>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Sentencias que NINGUNA de las 12 pruebas ejecutó: 2.</a:t>
            </a:r>
            <a:endParaRPr lang="en-US" sz="1100" dirty="0"/>
          </a:p>
        </p:txBody>
      </p:sp>
      <p:sp>
        <p:nvSpPr>
          <p:cNvPr id="37" name="Shape 34"/>
          <p:cNvSpPr/>
          <p:nvPr/>
        </p:nvSpPr>
        <p:spPr>
          <a:xfrm>
            <a:off x="6144768" y="3913632"/>
            <a:ext cx="2596896" cy="1042416"/>
          </a:xfrm>
          <a:prstGeom prst="rect">
            <a:avLst/>
          </a:prstGeom>
          <a:solidFill>
            <a:srgbClr val="FFFFFF"/>
          </a:solidFill>
          <a:ln w="12700">
            <a:solidFill>
              <a:srgbClr val="FFFFFF"/>
            </a:solidFill>
            <a:prstDash val="solid"/>
          </a:ln>
        </p:spPr>
      </p:sp>
      <p:sp>
        <p:nvSpPr>
          <p:cNvPr id="38" name="Shape 35"/>
          <p:cNvSpPr/>
          <p:nvPr/>
        </p:nvSpPr>
        <p:spPr>
          <a:xfrm>
            <a:off x="6144768" y="3913632"/>
            <a:ext cx="45720" cy="1042416"/>
          </a:xfrm>
          <a:prstGeom prst="rect">
            <a:avLst/>
          </a:prstGeom>
          <a:solidFill>
            <a:srgbClr val="D8CFC4"/>
          </a:solidFill>
          <a:ln w="12700">
            <a:solidFill>
              <a:srgbClr val="D8CFC4"/>
            </a:solidFill>
            <a:prstDash val="solid"/>
          </a:ln>
        </p:spPr>
      </p:sp>
      <p:sp>
        <p:nvSpPr>
          <p:cNvPr id="39" name="Text 36"/>
          <p:cNvSpPr txBox="1"/>
          <p:nvPr/>
        </p:nvSpPr>
        <p:spPr>
          <a:xfrm>
            <a:off x="6345936" y="4023360"/>
            <a:ext cx="22860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Consolas" pitchFamily="34" charset="0"/>
                <a:ea typeface="Consolas" pitchFamily="34" charset="-122"/>
                <a:cs typeface="Consolas" pitchFamily="34" charset="-120"/>
              </a:rPr>
              <a:t>Cover</a:t>
            </a:r>
            <a:endParaRPr lang="en-US" sz="1240" dirty="0"/>
          </a:p>
        </p:txBody>
      </p:sp>
      <p:sp>
        <p:nvSpPr>
          <p:cNvPr id="40" name="Text 37"/>
          <p:cNvSpPr txBox="1"/>
          <p:nvPr/>
        </p:nvSpPr>
        <p:spPr>
          <a:xfrm>
            <a:off x="6345936" y="4297680"/>
            <a:ext cx="2286000" cy="566928"/>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El cociente: 15 de 17, redondeado a 88 %.</a:t>
            </a:r>
            <a:endParaRPr lang="en-US" sz="1100" dirty="0"/>
          </a:p>
        </p:txBody>
      </p:sp>
      <p:sp>
        <p:nvSpPr>
          <p:cNvPr id="41" name="Shape 38"/>
          <p:cNvSpPr/>
          <p:nvPr/>
        </p:nvSpPr>
        <p:spPr>
          <a:xfrm>
            <a:off x="8887968" y="3913632"/>
            <a:ext cx="2596896" cy="1042416"/>
          </a:xfrm>
          <a:prstGeom prst="rect">
            <a:avLst/>
          </a:prstGeom>
          <a:solidFill>
            <a:srgbClr val="F2E7D9"/>
          </a:solidFill>
          <a:ln w="12700">
            <a:solidFill>
              <a:srgbClr val="F2E7D9"/>
            </a:solidFill>
            <a:prstDash val="solid"/>
          </a:ln>
        </p:spPr>
      </p:sp>
      <p:sp>
        <p:nvSpPr>
          <p:cNvPr id="42" name="Shape 39"/>
          <p:cNvSpPr/>
          <p:nvPr/>
        </p:nvSpPr>
        <p:spPr>
          <a:xfrm>
            <a:off x="8887968" y="3913632"/>
            <a:ext cx="45720" cy="1042416"/>
          </a:xfrm>
          <a:prstGeom prst="rect">
            <a:avLst/>
          </a:prstGeom>
          <a:solidFill>
            <a:srgbClr val="8A6A12"/>
          </a:solidFill>
          <a:ln w="12700">
            <a:solidFill>
              <a:srgbClr val="8A6A12"/>
            </a:solidFill>
            <a:prstDash val="solid"/>
          </a:ln>
        </p:spPr>
      </p:sp>
      <p:sp>
        <p:nvSpPr>
          <p:cNvPr id="43" name="Text 40"/>
          <p:cNvSpPr txBox="1"/>
          <p:nvPr/>
        </p:nvSpPr>
        <p:spPr>
          <a:xfrm>
            <a:off x="9089136" y="4023360"/>
            <a:ext cx="2286000" cy="237744"/>
          </a:xfrm>
          <a:prstGeom prst="rect">
            <a:avLst/>
          </a:prstGeom>
          <a:noFill/>
          <a:ln/>
        </p:spPr>
        <p:txBody>
          <a:bodyPr wrap="square" lIns="0" tIns="0" rIns="0" bIns="0" rtlCol="0" anchor="t"/>
          <a:lstStyle/>
          <a:p>
            <a:pPr algn="l" indent="0" marL="0">
              <a:buNone/>
            </a:pPr>
            <a:r>
              <a:rPr lang="en-US" sz="1240" b="1" dirty="0">
                <a:solidFill>
                  <a:srgbClr val="8A6A12"/>
                </a:solidFill>
                <a:latin typeface="Consolas" pitchFamily="34" charset="0"/>
                <a:ea typeface="Consolas" pitchFamily="34" charset="-122"/>
                <a:cs typeface="Consolas" pitchFamily="34" charset="-120"/>
              </a:rPr>
              <a:t>Missing</a:t>
            </a:r>
            <a:endParaRPr lang="en-US" sz="1240" dirty="0"/>
          </a:p>
        </p:txBody>
      </p:sp>
      <p:sp>
        <p:nvSpPr>
          <p:cNvPr id="44" name="Text 41"/>
          <p:cNvSpPr txBox="1"/>
          <p:nvPr/>
        </p:nvSpPr>
        <p:spPr>
          <a:xfrm>
            <a:off x="9089136" y="4297680"/>
            <a:ext cx="2286000" cy="566928"/>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Los números de línea de esas dos sentencias. La única columna con la que se puede hacer algo.</a:t>
            </a:r>
            <a:endParaRPr lang="en-US" sz="1100" dirty="0"/>
          </a:p>
        </p:txBody>
      </p:sp>
      <p:sp>
        <p:nvSpPr>
          <p:cNvPr id="45" name="Shape 42"/>
          <p:cNvSpPr/>
          <p:nvPr/>
        </p:nvSpPr>
        <p:spPr>
          <a:xfrm>
            <a:off x="658368" y="5138928"/>
            <a:ext cx="10874959" cy="493776"/>
          </a:xfrm>
          <a:prstGeom prst="rect">
            <a:avLst/>
          </a:prstGeom>
          <a:solidFill>
            <a:srgbClr val="102A43"/>
          </a:solidFill>
          <a:ln w="12700">
            <a:solidFill>
              <a:srgbClr val="102A43"/>
            </a:solidFill>
            <a:prstDash val="solid"/>
          </a:ln>
        </p:spPr>
      </p:sp>
      <p:sp>
        <p:nvSpPr>
          <p:cNvPr id="46" name="Text 43"/>
          <p:cNvSpPr txBox="1"/>
          <p:nvPr/>
        </p:nvSpPr>
        <p:spPr>
          <a:xfrm>
            <a:off x="969264" y="5175504"/>
            <a:ext cx="10253167" cy="420624"/>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El porcentaje es un subproducto. El hallazgo es la lista de líneas.</a:t>
            </a:r>
            <a:endParaRPr lang="en-US" sz="1400" dirty="0"/>
          </a:p>
        </p:txBody>
      </p:sp>
      <p:sp>
        <p:nvSpPr>
          <p:cNvPr id="47" name="Shape 44"/>
          <p:cNvSpPr/>
          <p:nvPr/>
        </p:nvSpPr>
        <p:spPr>
          <a:xfrm>
            <a:off x="658368" y="5760720"/>
            <a:ext cx="45720" cy="182880"/>
          </a:xfrm>
          <a:prstGeom prst="rect">
            <a:avLst/>
          </a:prstGeom>
          <a:solidFill>
            <a:srgbClr val="8A6A12"/>
          </a:solidFill>
          <a:ln w="12700">
            <a:solidFill>
              <a:srgbClr val="8A6A12"/>
            </a:solidFill>
            <a:prstDash val="solid"/>
          </a:ln>
        </p:spPr>
      </p:sp>
      <p:sp>
        <p:nvSpPr>
          <p:cNvPr id="48" name="Text 45"/>
          <p:cNvSpPr txBox="1"/>
          <p:nvPr/>
        </p:nvSpPr>
        <p:spPr>
          <a:xfrm>
            <a:off x="804672" y="5751576"/>
            <a:ext cx="8686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Ejecución propia · Python 3.12.12 · pytest 9.1.1 · pytest-cov 7.1.0 · coverage 7.16.1</a:t>
            </a:r>
            <a:endParaRPr lang="en-US" sz="9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QUÉ SON 22 Y 26</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Las dos líneas no ejecutadas tienen nombre</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columna Missing decía «22, 26». Eso en el archivo es esto:</a:t>
            </a:r>
            <a:endParaRPr lang="en-US" sz="1450" dirty="0"/>
          </a:p>
        </p:txBody>
      </p:sp>
      <p:sp>
        <p:nvSpPr>
          <p:cNvPr id="11" name="Shape 8"/>
          <p:cNvSpPr/>
          <p:nvPr/>
        </p:nvSpPr>
        <p:spPr>
          <a:xfrm>
            <a:off x="658368" y="2286000"/>
            <a:ext cx="6858000" cy="1792224"/>
          </a:xfrm>
          <a:prstGeom prst="roundRect">
            <a:avLst>
              <a:gd name="adj" fmla="val 2041"/>
            </a:avLst>
          </a:prstGeom>
          <a:solidFill>
            <a:srgbClr val="102A43"/>
          </a:solidFill>
          <a:ln w="12700">
            <a:solidFill>
              <a:srgbClr val="102A43"/>
            </a:solidFill>
            <a:prstDash val="solid"/>
          </a:ln>
        </p:spPr>
      </p:sp>
      <p:sp>
        <p:nvSpPr>
          <p:cNvPr id="12" name="Shape 9"/>
          <p:cNvSpPr/>
          <p:nvPr/>
        </p:nvSpPr>
        <p:spPr>
          <a:xfrm>
            <a:off x="786384" y="2395728"/>
            <a:ext cx="66019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63825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reservas.py · líneas 21 a 26</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6437376" cy="1042416"/>
          </a:xfrm>
          <a:prstGeom prst="rect">
            <a:avLst/>
          </a:prstGeom>
        </p:spPr>
      </p:pic>
      <p:sp>
        <p:nvSpPr>
          <p:cNvPr id="15" name="Shape 11"/>
          <p:cNvSpPr/>
          <p:nvPr/>
        </p:nvSpPr>
        <p:spPr>
          <a:xfrm>
            <a:off x="7699248" y="2286000"/>
            <a:ext cx="3831336" cy="1792224"/>
          </a:xfrm>
          <a:prstGeom prst="rect">
            <a:avLst/>
          </a:prstGeom>
          <a:solidFill>
            <a:srgbClr val="F8E4E5"/>
          </a:solidFill>
          <a:ln w="12700">
            <a:solidFill>
              <a:srgbClr val="F8E4E5"/>
            </a:solidFill>
            <a:prstDash val="solid"/>
          </a:ln>
        </p:spPr>
      </p:sp>
      <p:sp>
        <p:nvSpPr>
          <p:cNvPr id="16" name="Shape 12"/>
          <p:cNvSpPr/>
          <p:nvPr/>
        </p:nvSpPr>
        <p:spPr>
          <a:xfrm>
            <a:off x="7699248" y="2286000"/>
            <a:ext cx="64008" cy="1792224"/>
          </a:xfrm>
          <a:prstGeom prst="rect">
            <a:avLst/>
          </a:prstGeom>
          <a:solidFill>
            <a:srgbClr val="B3181E"/>
          </a:solidFill>
          <a:ln w="12700">
            <a:solidFill>
              <a:srgbClr val="B3181E"/>
            </a:solidFill>
            <a:prstDash val="solid"/>
          </a:ln>
        </p:spPr>
      </p:sp>
      <p:sp>
        <p:nvSpPr>
          <p:cNvPr id="17" name="Text 13"/>
          <p:cNvSpPr txBox="1"/>
          <p:nvPr/>
        </p:nvSpPr>
        <p:spPr>
          <a:xfrm>
            <a:off x="7973568" y="2432304"/>
            <a:ext cx="3291840" cy="457200"/>
          </a:xfrm>
          <a:prstGeom prst="rect">
            <a:avLst/>
          </a:prstGeom>
          <a:noFill/>
          <a:ln/>
        </p:spPr>
        <p:txBody>
          <a:bodyPr wrap="square" lIns="0" tIns="0" rIns="0" bIns="0" rtlCol="0" anchor="t"/>
          <a:lstStyle/>
          <a:p>
            <a:pPr algn="l" indent="0" marL="0">
              <a:buNone/>
            </a:pPr>
            <a:r>
              <a:rPr lang="en-US" sz="3400" b="1" dirty="0">
                <a:solidFill>
                  <a:srgbClr val="B3181E"/>
                </a:solidFill>
                <a:latin typeface="Aptos Display" pitchFamily="34" charset="0"/>
                <a:ea typeface="Aptos Display" pitchFamily="34" charset="-122"/>
                <a:cs typeface="Aptos Display" pitchFamily="34" charset="-120"/>
              </a:rPr>
              <a:t>2 de 4</a:t>
            </a:r>
            <a:endParaRPr lang="en-US" sz="3400" dirty="0"/>
          </a:p>
        </p:txBody>
      </p:sp>
      <p:sp>
        <p:nvSpPr>
          <p:cNvPr id="18" name="Text 14"/>
          <p:cNvSpPr txBox="1"/>
          <p:nvPr/>
        </p:nvSpPr>
        <p:spPr>
          <a:xfrm>
            <a:off x="7973568" y="2926080"/>
            <a:ext cx="3291840" cy="1005840"/>
          </a:xfrm>
          <a:prstGeom prst="rect">
            <a:avLst/>
          </a:prstGeom>
          <a:noFill/>
          <a:ln/>
        </p:spPr>
        <p:txBody>
          <a:bodyPr wrap="square" lIns="0" tIns="0" rIns="0" bIns="0" rtlCol="0" anchor="t"/>
          <a:lstStyle/>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Las dos sentencias no ejecutadas son los cuerpos completos de dos de las cuatro funciones del proyecto.</a:t>
            </a:r>
            <a:endParaRPr lang="en-US" sz="1160" dirty="0"/>
          </a:p>
          <a:p>
            <a:pPr algn="l" indent="0" marL="0">
              <a:lnSpc>
                <a:spcPct val="114000"/>
              </a:lnSpc>
              <a:buNone/>
            </a:pPr>
            <a:endParaRPr lang="en-US" sz="1160" dirty="0"/>
          </a:p>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La suite que se defendió con tres técnicas nunca las llamó.</a:t>
            </a:r>
            <a:endParaRPr lang="en-US" sz="1160" dirty="0"/>
          </a:p>
        </p:txBody>
      </p:sp>
      <p:sp>
        <p:nvSpPr>
          <p:cNvPr id="19" name="Shape 15"/>
          <p:cNvSpPr/>
          <p:nvPr/>
        </p:nvSpPr>
        <p:spPr>
          <a:xfrm>
            <a:off x="658368" y="4261104"/>
            <a:ext cx="10874959" cy="512064"/>
          </a:xfrm>
          <a:prstGeom prst="rect">
            <a:avLst/>
          </a:prstGeom>
          <a:solidFill>
            <a:srgbClr val="102A43"/>
          </a:solidFill>
          <a:ln w="12700">
            <a:solidFill>
              <a:srgbClr val="102A43"/>
            </a:solidFill>
            <a:prstDash val="solid"/>
          </a:ln>
        </p:spPr>
      </p:sp>
      <p:sp>
        <p:nvSpPr>
          <p:cNvPr id="20" name="Text 16"/>
          <p:cNvSpPr txBox="1"/>
          <p:nvPr/>
        </p:nvSpPr>
        <p:spPr>
          <a:xfrm>
            <a:off x="932688" y="4334256"/>
            <a:ext cx="10326319"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Aptos" pitchFamily="34" charset="0"/>
                <a:ea typeface="Aptos" pitchFamily="34" charset="-122"/>
                <a:cs typeface="Aptos" pitchFamily="34" charset="-120"/>
              </a:rPr>
              <a:t>Y comprobante() no es una función cualquiera: es la que la auditoría marcó como hallazgo por exponer el identificador nacional chileno (RUT) completo.</a:t>
            </a:r>
            <a:endParaRPr lang="en-US" sz="1300" dirty="0"/>
          </a:p>
        </p:txBody>
      </p:sp>
      <p:sp>
        <p:nvSpPr>
          <p:cNvPr id="21" name="Text 17"/>
          <p:cNvSpPr txBox="1"/>
          <p:nvPr/>
        </p:nvSpPr>
        <p:spPr>
          <a:xfrm>
            <a:off x="658368" y="4937760"/>
            <a:ext cx="10874959" cy="384048"/>
          </a:xfrm>
          <a:prstGeom prst="rect">
            <a:avLst/>
          </a:prstGeom>
          <a:noFill/>
          <a:ln/>
        </p:spPr>
        <p:txBody>
          <a:bodyPr wrap="square" lIns="0" tIns="0" rIns="0" bIns="0" rtlCol="0" anchor="ctr"/>
          <a:lstStyle/>
          <a:p>
            <a:pPr algn="ctr" indent="0" marL="0">
              <a:buNone/>
            </a:pPr>
            <a:r>
              <a:rPr lang="en-US" sz="1800" b="1" dirty="0">
                <a:solidFill>
                  <a:srgbClr val="243B53"/>
                </a:solidFill>
                <a:latin typeface="Aptos Display" pitchFamily="34" charset="0"/>
                <a:ea typeface="Aptos Display" pitchFamily="34" charset="-122"/>
                <a:cs typeface="Aptos Display" pitchFamily="34" charset="-120"/>
              </a:rPr>
              <a:t>88 % suena bien. Dos de cuatro funciones sin una sola ejecución, no. Son la misma medición.</a:t>
            </a:r>
            <a:endParaRPr lang="en-US" sz="1800" dirty="0"/>
          </a:p>
        </p:txBody>
      </p:sp>
      <p:sp>
        <p:nvSpPr>
          <p:cNvPr id="22" name="Shape 18"/>
          <p:cNvSpPr/>
          <p:nvPr/>
        </p:nvSpPr>
        <p:spPr>
          <a:xfrm>
            <a:off x="658368" y="5431536"/>
            <a:ext cx="10874959" cy="512064"/>
          </a:xfrm>
          <a:prstGeom prst="rect">
            <a:avLst/>
          </a:prstGeom>
          <a:solidFill>
            <a:srgbClr val="102A43"/>
          </a:solidFill>
          <a:ln w="12700">
            <a:solidFill>
              <a:srgbClr val="102A43"/>
            </a:solidFill>
            <a:prstDash val="solid"/>
          </a:ln>
        </p:spPr>
      </p:sp>
      <p:sp>
        <p:nvSpPr>
          <p:cNvPr id="23" name="Text 19"/>
          <p:cNvSpPr txBox="1"/>
          <p:nvPr/>
        </p:nvSpPr>
        <p:spPr>
          <a:xfrm>
            <a:off x="969264" y="5468112"/>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cobertura sirve para encontrar lo que nadie probó. Para eso, y no para poner una nota.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1 · EL USO CORRECTO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Para qué sirve la cobertura, y para qué no</a:t>
            </a:r>
            <a:endParaRPr lang="en-US" sz="3000" dirty="0"/>
          </a:p>
        </p:txBody>
      </p:sp>
      <p:sp>
        <p:nvSpPr>
          <p:cNvPr id="10" name="Shape 7"/>
          <p:cNvSpPr/>
          <p:nvPr/>
        </p:nvSpPr>
        <p:spPr>
          <a:xfrm>
            <a:off x="658368" y="2103120"/>
            <a:ext cx="10874959" cy="713232"/>
          </a:xfrm>
          <a:prstGeom prst="rect">
            <a:avLst/>
          </a:prstGeom>
          <a:solidFill>
            <a:srgbClr val="1D3A57"/>
          </a:solidFill>
          <a:ln w="12700">
            <a:solidFill>
              <a:srgbClr val="1D3A57"/>
            </a:solidFill>
            <a:prstDash val="solid"/>
          </a:ln>
        </p:spPr>
      </p:sp>
      <p:sp>
        <p:nvSpPr>
          <p:cNvPr id="11" name="Shape 8"/>
          <p:cNvSpPr/>
          <p:nvPr/>
        </p:nvSpPr>
        <p:spPr>
          <a:xfrm>
            <a:off x="658368" y="2103120"/>
            <a:ext cx="64008" cy="713232"/>
          </a:xfrm>
          <a:prstGeom prst="rect">
            <a:avLst/>
          </a:prstGeom>
          <a:solidFill>
            <a:srgbClr val="2E7D4F"/>
          </a:solidFill>
          <a:ln w="12700">
            <a:solidFill>
              <a:srgbClr val="2E7D4F"/>
            </a:solidFill>
            <a:prstDash val="solid"/>
          </a:ln>
        </p:spPr>
      </p:sp>
      <p:sp>
        <p:nvSpPr>
          <p:cNvPr id="12" name="Text 9"/>
          <p:cNvSpPr txBox="1"/>
          <p:nvPr/>
        </p:nvSpPr>
        <p:spPr>
          <a:xfrm>
            <a:off x="969264" y="2212848"/>
            <a:ext cx="10308031" cy="493776"/>
          </a:xfrm>
          <a:prstGeom prst="rect">
            <a:avLst/>
          </a:prstGeom>
          <a:noFill/>
          <a:ln/>
        </p:spPr>
        <p:txBody>
          <a:bodyPr wrap="square" lIns="0" tIns="0" rIns="0" bIns="0" rtlCol="0" anchor="ctr"/>
          <a:lstStyle/>
          <a:p>
            <a:pPr algn="l" indent="0" marL="0">
              <a:lnSpc>
                <a:spcPct val="118000"/>
              </a:lnSpc>
              <a:buNone/>
            </a:pPr>
            <a:r>
              <a:rPr lang="en-US" sz="1500" i="1" dirty="0">
                <a:solidFill>
                  <a:srgbClr val="FFFFFF"/>
                </a:solidFill>
                <a:latin typeface="Aptos" pitchFamily="34" charset="0"/>
                <a:ea typeface="Aptos" pitchFamily="34" charset="-122"/>
                <a:cs typeface="Aptos" pitchFamily="34" charset="-120"/>
              </a:rPr>
              <a:t>“Test coverage is a useful tool for finding untested parts of a codebase.”</a:t>
            </a:r>
            <a:endParaRPr lang="en-US" sz="1500" dirty="0"/>
          </a:p>
        </p:txBody>
      </p:sp>
      <p:sp>
        <p:nvSpPr>
          <p:cNvPr id="13" name="Text 10"/>
          <p:cNvSpPr txBox="1"/>
          <p:nvPr/>
        </p:nvSpPr>
        <p:spPr>
          <a:xfrm>
            <a:off x="969264" y="2907792"/>
            <a:ext cx="10241280" cy="274320"/>
          </a:xfrm>
          <a:prstGeom prst="rect">
            <a:avLst/>
          </a:prstGeom>
          <a:noFill/>
          <a:ln/>
        </p:spPr>
        <p:txBody>
          <a:bodyPr wrap="square" lIns="0" tIns="0" rIns="0" bIns="0" rtlCol="0" anchor="t"/>
          <a:lstStyle/>
          <a:p>
            <a:pPr algn="l" indent="0" marL="0">
              <a:buNone/>
            </a:pPr>
            <a:r>
              <a:rPr lang="en-US" sz="1240" dirty="0">
                <a:solidFill>
                  <a:srgbClr val="EADFD0"/>
                </a:solidFill>
                <a:latin typeface="Aptos" pitchFamily="34" charset="0"/>
                <a:ea typeface="Aptos" pitchFamily="34" charset="-122"/>
                <a:cs typeface="Aptos" pitchFamily="34" charset="-120"/>
              </a:rPr>
              <a:t>La cobertura de pruebas es una herramienta útil para encontrar las partes de un código que no están probadas.</a:t>
            </a:r>
            <a:endParaRPr lang="en-US" sz="1240" dirty="0"/>
          </a:p>
        </p:txBody>
      </p:sp>
      <p:sp>
        <p:nvSpPr>
          <p:cNvPr id="14" name="Shape 11"/>
          <p:cNvSpPr/>
          <p:nvPr/>
        </p:nvSpPr>
        <p:spPr>
          <a:xfrm>
            <a:off x="658368" y="3346704"/>
            <a:ext cx="10874959" cy="713232"/>
          </a:xfrm>
          <a:prstGeom prst="rect">
            <a:avLst/>
          </a:prstGeom>
          <a:solidFill>
            <a:srgbClr val="1D3A57"/>
          </a:solidFill>
          <a:ln w="12700">
            <a:solidFill>
              <a:srgbClr val="1D3A57"/>
            </a:solidFill>
            <a:prstDash val="solid"/>
          </a:ln>
        </p:spPr>
      </p:sp>
      <p:sp>
        <p:nvSpPr>
          <p:cNvPr id="15" name="Shape 12"/>
          <p:cNvSpPr/>
          <p:nvPr/>
        </p:nvSpPr>
        <p:spPr>
          <a:xfrm>
            <a:off x="658368" y="3346704"/>
            <a:ext cx="64008" cy="713232"/>
          </a:xfrm>
          <a:prstGeom prst="rect">
            <a:avLst/>
          </a:prstGeom>
          <a:solidFill>
            <a:srgbClr val="D62027"/>
          </a:solidFill>
          <a:ln w="12700">
            <a:solidFill>
              <a:srgbClr val="D62027"/>
            </a:solidFill>
            <a:prstDash val="solid"/>
          </a:ln>
        </p:spPr>
      </p:sp>
      <p:sp>
        <p:nvSpPr>
          <p:cNvPr id="16" name="Text 13"/>
          <p:cNvSpPr txBox="1"/>
          <p:nvPr/>
        </p:nvSpPr>
        <p:spPr>
          <a:xfrm>
            <a:off x="969264" y="3456432"/>
            <a:ext cx="10308031" cy="493776"/>
          </a:xfrm>
          <a:prstGeom prst="rect">
            <a:avLst/>
          </a:prstGeom>
          <a:noFill/>
          <a:ln/>
        </p:spPr>
        <p:txBody>
          <a:bodyPr wrap="square" lIns="0" tIns="0" rIns="0" bIns="0" rtlCol="0" anchor="ctr"/>
          <a:lstStyle/>
          <a:p>
            <a:pPr algn="l" indent="0" marL="0">
              <a:lnSpc>
                <a:spcPct val="118000"/>
              </a:lnSpc>
              <a:buNone/>
            </a:pPr>
            <a:r>
              <a:rPr lang="en-US" sz="1500" i="1" dirty="0">
                <a:solidFill>
                  <a:srgbClr val="FFFFFF"/>
                </a:solidFill>
                <a:latin typeface="Aptos" pitchFamily="34" charset="0"/>
                <a:ea typeface="Aptos" pitchFamily="34" charset="-122"/>
                <a:cs typeface="Aptos" pitchFamily="34" charset="-120"/>
              </a:rPr>
              <a:t>“Test coverage is of little use as a numeric statement of how good your tests are.”</a:t>
            </a:r>
            <a:endParaRPr lang="en-US" sz="1500" dirty="0"/>
          </a:p>
        </p:txBody>
      </p:sp>
      <p:sp>
        <p:nvSpPr>
          <p:cNvPr id="17" name="Text 14"/>
          <p:cNvSpPr txBox="1"/>
          <p:nvPr/>
        </p:nvSpPr>
        <p:spPr>
          <a:xfrm>
            <a:off x="969264" y="4151376"/>
            <a:ext cx="10241280" cy="274320"/>
          </a:xfrm>
          <a:prstGeom prst="rect">
            <a:avLst/>
          </a:prstGeom>
          <a:noFill/>
          <a:ln/>
        </p:spPr>
        <p:txBody>
          <a:bodyPr wrap="square" lIns="0" tIns="0" rIns="0" bIns="0" rtlCol="0" anchor="t"/>
          <a:lstStyle/>
          <a:p>
            <a:pPr algn="l" indent="0" marL="0">
              <a:buNone/>
            </a:pPr>
            <a:r>
              <a:rPr lang="en-US" sz="1240" dirty="0">
                <a:solidFill>
                  <a:srgbClr val="EADFD0"/>
                </a:solidFill>
                <a:latin typeface="Aptos" pitchFamily="34" charset="0"/>
                <a:ea typeface="Aptos" pitchFamily="34" charset="-122"/>
                <a:cs typeface="Aptos" pitchFamily="34" charset="-120"/>
              </a:rPr>
              <a:t>La cobertura de pruebas sirve de poco como afirmación numérica sobre qué tan buenas son tus pruebas.</a:t>
            </a:r>
            <a:endParaRPr lang="en-US" sz="1240" dirty="0"/>
          </a:p>
        </p:txBody>
      </p:sp>
      <p:sp>
        <p:nvSpPr>
          <p:cNvPr id="18" name="Shape 15"/>
          <p:cNvSpPr/>
          <p:nvPr/>
        </p:nvSpPr>
        <p:spPr>
          <a:xfrm>
            <a:off x="658368" y="4626864"/>
            <a:ext cx="10874959" cy="566928"/>
          </a:xfrm>
          <a:prstGeom prst="rect">
            <a:avLst/>
          </a:prstGeom>
          <a:solidFill>
            <a:srgbClr val="E0BC5A"/>
          </a:solidFill>
          <a:ln w="12700">
            <a:solidFill>
              <a:srgbClr val="E0BC5A"/>
            </a:solidFill>
            <a:prstDash val="solid"/>
          </a:ln>
        </p:spPr>
      </p:sp>
      <p:sp>
        <p:nvSpPr>
          <p:cNvPr id="19" name="Text 16"/>
          <p:cNvSpPr txBox="1"/>
          <p:nvPr/>
        </p:nvSpPr>
        <p:spPr>
          <a:xfrm>
            <a:off x="932688" y="4700016"/>
            <a:ext cx="10326319" cy="420624"/>
          </a:xfrm>
          <a:prstGeom prst="rect">
            <a:avLst/>
          </a:prstGeom>
          <a:noFill/>
          <a:ln/>
        </p:spPr>
        <p:txBody>
          <a:bodyPr wrap="square" lIns="0" tIns="0" rIns="0" bIns="0" rtlCol="0" anchor="ctr"/>
          <a:lstStyle/>
          <a:p>
            <a:pPr algn="ctr" indent="0" marL="0">
              <a:buNone/>
            </a:pPr>
            <a:r>
              <a:rPr lang="en-US" sz="2200" b="1" dirty="0">
                <a:solidFill>
                  <a:srgbClr val="102A43"/>
                </a:solidFill>
                <a:latin typeface="Aptos Display" pitchFamily="34" charset="0"/>
                <a:ea typeface="Aptos Display" pitchFamily="34" charset="-122"/>
                <a:cs typeface="Aptos Display" pitchFamily="34" charset="-120"/>
              </a:rPr>
              <a:t>La columna útil es Missing, no Cover.</a:t>
            </a:r>
            <a:endParaRPr lang="en-US" sz="2200" dirty="0"/>
          </a:p>
        </p:txBody>
      </p:sp>
      <p:sp>
        <p:nvSpPr>
          <p:cNvPr id="20" name="Shape 17"/>
          <p:cNvSpPr/>
          <p:nvPr/>
        </p:nvSpPr>
        <p:spPr>
          <a:xfrm>
            <a:off x="658368" y="5431536"/>
            <a:ext cx="45720" cy="182880"/>
          </a:xfrm>
          <a:prstGeom prst="rect">
            <a:avLst/>
          </a:prstGeom>
          <a:solidFill>
            <a:srgbClr val="E0BC5A"/>
          </a:solidFill>
          <a:ln w="12700">
            <a:solidFill>
              <a:srgbClr val="E0BC5A"/>
            </a:solidFill>
            <a:prstDash val="solid"/>
          </a:ln>
        </p:spPr>
      </p:sp>
      <p:sp>
        <p:nvSpPr>
          <p:cNvPr id="21" name="Text 18"/>
          <p:cNvSpPr txBox="1"/>
          <p:nvPr/>
        </p:nvSpPr>
        <p:spPr>
          <a:xfrm>
            <a:off x="804672" y="5422392"/>
            <a:ext cx="77724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Martin Fowler · Test Coverage · 17 de abril de 2012</a:t>
            </a:r>
            <a:endParaRPr lang="en-US" sz="9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UNA PRECISIÓN DE VOCABULARIO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«Cobertura» no significa «porcentaje de líneas»</a:t>
            </a:r>
            <a:endParaRPr lang="en-US" sz="30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uso corriente recortó la palabra. La cláusula 6.2 de la norma define medidas de cobertura para las técnicas basadas en la ESPECIFICACIÓN.</a:t>
            </a:r>
            <a:endParaRPr lang="en-US" sz="1450" dirty="0"/>
          </a:p>
        </p:txBody>
      </p:sp>
      <p:sp>
        <p:nvSpPr>
          <p:cNvPr id="11" name="Shape 8"/>
          <p:cNvSpPr/>
          <p:nvPr/>
        </p:nvSpPr>
        <p:spPr>
          <a:xfrm>
            <a:off x="658368" y="2505456"/>
            <a:ext cx="10874959" cy="512064"/>
          </a:xfrm>
          <a:prstGeom prst="rect">
            <a:avLst/>
          </a:prstGeom>
          <a:solidFill>
            <a:srgbClr val="FFFFFF"/>
          </a:solidFill>
          <a:ln w="12700">
            <a:solidFill>
              <a:srgbClr val="FFFFFF"/>
            </a:solidFill>
            <a:prstDash val="solid"/>
          </a:ln>
        </p:spPr>
      </p:sp>
      <p:sp>
        <p:nvSpPr>
          <p:cNvPr id="12" name="Shape 9"/>
          <p:cNvSpPr/>
          <p:nvPr/>
        </p:nvSpPr>
        <p:spPr>
          <a:xfrm>
            <a:off x="658368" y="2505456"/>
            <a:ext cx="54864" cy="512064"/>
          </a:xfrm>
          <a:prstGeom prst="rect">
            <a:avLst/>
          </a:prstGeom>
          <a:solidFill>
            <a:srgbClr val="102A43"/>
          </a:solidFill>
          <a:ln w="12700">
            <a:solidFill>
              <a:srgbClr val="102A43"/>
            </a:solidFill>
            <a:prstDash val="solid"/>
          </a:ln>
        </p:spPr>
      </p:sp>
      <p:sp>
        <p:nvSpPr>
          <p:cNvPr id="13" name="Text 10"/>
          <p:cNvSpPr txBox="1"/>
          <p:nvPr/>
        </p:nvSpPr>
        <p:spPr>
          <a:xfrm>
            <a:off x="932688" y="2542032"/>
            <a:ext cx="731520" cy="438912"/>
          </a:xfrm>
          <a:prstGeom prst="rect">
            <a:avLst/>
          </a:prstGeom>
          <a:noFill/>
          <a:ln/>
        </p:spPr>
        <p:txBody>
          <a:bodyPr wrap="square" lIns="0" tIns="0" rIns="0" bIns="0" rtlCol="0" anchor="ctr"/>
          <a:lstStyle/>
          <a:p>
            <a:pPr algn="l" indent="0" marL="0">
              <a:buNone/>
            </a:pPr>
            <a:r>
              <a:rPr lang="en-US" sz="1200" b="1" dirty="0">
                <a:solidFill>
                  <a:srgbClr val="102A43"/>
                </a:solidFill>
                <a:latin typeface="Consolas" pitchFamily="34" charset="0"/>
                <a:ea typeface="Consolas" pitchFamily="34" charset="-122"/>
                <a:cs typeface="Consolas" pitchFamily="34" charset="-120"/>
              </a:rPr>
              <a:t>6.2.1</a:t>
            </a:r>
            <a:endParaRPr lang="en-US" sz="1200" dirty="0"/>
          </a:p>
        </p:txBody>
      </p:sp>
      <p:sp>
        <p:nvSpPr>
          <p:cNvPr id="14" name="Text 11"/>
          <p:cNvSpPr txBox="1"/>
          <p:nvPr/>
        </p:nvSpPr>
        <p:spPr>
          <a:xfrm>
            <a:off x="1847088" y="2542032"/>
            <a:ext cx="4023360" cy="438912"/>
          </a:xfrm>
          <a:prstGeom prst="rect">
            <a:avLst/>
          </a:prstGeom>
          <a:noFill/>
          <a:ln/>
        </p:spPr>
        <p:txBody>
          <a:bodyPr wrap="square" lIns="0" tIns="0" rIns="0" bIns="0" rtlCol="0" anchor="ctr"/>
          <a:lstStyle/>
          <a:p>
            <a:pPr algn="l" indent="0" marL="0">
              <a:buNone/>
            </a:pPr>
            <a:r>
              <a:rPr lang="en-US" sz="1120" i="1" dirty="0">
                <a:solidFill>
                  <a:srgbClr val="52606D"/>
                </a:solidFill>
                <a:latin typeface="Consolas" pitchFamily="34" charset="0"/>
                <a:ea typeface="Consolas" pitchFamily="34" charset="-122"/>
                <a:cs typeface="Consolas" pitchFamily="34" charset="-120"/>
              </a:rPr>
              <a:t>Equivalence partition coverage</a:t>
            </a:r>
            <a:endParaRPr lang="en-US" sz="1120" dirty="0"/>
          </a:p>
        </p:txBody>
      </p:sp>
      <p:sp>
        <p:nvSpPr>
          <p:cNvPr id="15" name="Text 12"/>
          <p:cNvSpPr txBox="1"/>
          <p:nvPr/>
        </p:nvSpPr>
        <p:spPr>
          <a:xfrm>
            <a:off x="6144768" y="2542032"/>
            <a:ext cx="5114239" cy="438912"/>
          </a:xfrm>
          <a:prstGeom prst="rect">
            <a:avLst/>
          </a:prstGeom>
          <a:noFill/>
          <a:ln/>
        </p:spPr>
        <p:txBody>
          <a:bodyPr wrap="square" lIns="0" tIns="0" rIns="0" bIns="0" rtlCol="0" anchor="ctr"/>
          <a:lstStyle/>
          <a:p>
            <a:pPr algn="l" indent="0" marL="0">
              <a:buNone/>
            </a:pPr>
            <a:r>
              <a:rPr lang="en-US" sz="1200" dirty="0">
                <a:solidFill>
                  <a:srgbClr val="243B53"/>
                </a:solidFill>
                <a:latin typeface="Aptos" pitchFamily="34" charset="0"/>
                <a:ea typeface="Aptos" pitchFamily="34" charset="-122"/>
                <a:cs typeface="Aptos" pitchFamily="34" charset="-120"/>
              </a:rPr>
              <a:t>Cobertura de particiones de equivalencia</a:t>
            </a:r>
            <a:endParaRPr lang="en-US" sz="1200" dirty="0"/>
          </a:p>
        </p:txBody>
      </p:sp>
      <p:sp>
        <p:nvSpPr>
          <p:cNvPr id="16" name="Shape 13"/>
          <p:cNvSpPr/>
          <p:nvPr/>
        </p:nvSpPr>
        <p:spPr>
          <a:xfrm>
            <a:off x="658368" y="3108960"/>
            <a:ext cx="10874959" cy="512064"/>
          </a:xfrm>
          <a:prstGeom prst="rect">
            <a:avLst/>
          </a:prstGeom>
          <a:solidFill>
            <a:srgbClr val="FFFFFF"/>
          </a:solidFill>
          <a:ln w="12700">
            <a:solidFill>
              <a:srgbClr val="FFFFFF"/>
            </a:solidFill>
            <a:prstDash val="solid"/>
          </a:ln>
        </p:spPr>
      </p:sp>
      <p:sp>
        <p:nvSpPr>
          <p:cNvPr id="17" name="Shape 14"/>
          <p:cNvSpPr/>
          <p:nvPr/>
        </p:nvSpPr>
        <p:spPr>
          <a:xfrm>
            <a:off x="658368" y="3108960"/>
            <a:ext cx="54864" cy="512064"/>
          </a:xfrm>
          <a:prstGeom prst="rect">
            <a:avLst/>
          </a:prstGeom>
          <a:solidFill>
            <a:srgbClr val="102A43"/>
          </a:solidFill>
          <a:ln w="12700">
            <a:solidFill>
              <a:srgbClr val="102A43"/>
            </a:solidFill>
            <a:prstDash val="solid"/>
          </a:ln>
        </p:spPr>
      </p:sp>
      <p:sp>
        <p:nvSpPr>
          <p:cNvPr id="18" name="Text 15"/>
          <p:cNvSpPr txBox="1"/>
          <p:nvPr/>
        </p:nvSpPr>
        <p:spPr>
          <a:xfrm>
            <a:off x="932688" y="3145536"/>
            <a:ext cx="731520" cy="438912"/>
          </a:xfrm>
          <a:prstGeom prst="rect">
            <a:avLst/>
          </a:prstGeom>
          <a:noFill/>
          <a:ln/>
        </p:spPr>
        <p:txBody>
          <a:bodyPr wrap="square" lIns="0" tIns="0" rIns="0" bIns="0" rtlCol="0" anchor="ctr"/>
          <a:lstStyle/>
          <a:p>
            <a:pPr algn="l" indent="0" marL="0">
              <a:buNone/>
            </a:pPr>
            <a:r>
              <a:rPr lang="en-US" sz="1200" b="1" dirty="0">
                <a:solidFill>
                  <a:srgbClr val="102A43"/>
                </a:solidFill>
                <a:latin typeface="Consolas" pitchFamily="34" charset="0"/>
                <a:ea typeface="Consolas" pitchFamily="34" charset="-122"/>
                <a:cs typeface="Consolas" pitchFamily="34" charset="-120"/>
              </a:rPr>
              <a:t>6.2.3</a:t>
            </a:r>
            <a:endParaRPr lang="en-US" sz="1200" dirty="0"/>
          </a:p>
        </p:txBody>
      </p:sp>
      <p:sp>
        <p:nvSpPr>
          <p:cNvPr id="19" name="Text 16"/>
          <p:cNvSpPr txBox="1"/>
          <p:nvPr/>
        </p:nvSpPr>
        <p:spPr>
          <a:xfrm>
            <a:off x="1847088" y="3145536"/>
            <a:ext cx="4023360" cy="438912"/>
          </a:xfrm>
          <a:prstGeom prst="rect">
            <a:avLst/>
          </a:prstGeom>
          <a:noFill/>
          <a:ln/>
        </p:spPr>
        <p:txBody>
          <a:bodyPr wrap="square" lIns="0" tIns="0" rIns="0" bIns="0" rtlCol="0" anchor="ctr"/>
          <a:lstStyle/>
          <a:p>
            <a:pPr algn="l" indent="0" marL="0">
              <a:buNone/>
            </a:pPr>
            <a:r>
              <a:rPr lang="en-US" sz="1120" i="1" dirty="0">
                <a:solidFill>
                  <a:srgbClr val="52606D"/>
                </a:solidFill>
                <a:latin typeface="Consolas" pitchFamily="34" charset="0"/>
                <a:ea typeface="Consolas" pitchFamily="34" charset="-122"/>
                <a:cs typeface="Consolas" pitchFamily="34" charset="-120"/>
              </a:rPr>
              <a:t>Boundary value analysis coverage</a:t>
            </a:r>
            <a:endParaRPr lang="en-US" sz="1120" dirty="0"/>
          </a:p>
        </p:txBody>
      </p:sp>
      <p:sp>
        <p:nvSpPr>
          <p:cNvPr id="20" name="Text 17"/>
          <p:cNvSpPr txBox="1"/>
          <p:nvPr/>
        </p:nvSpPr>
        <p:spPr>
          <a:xfrm>
            <a:off x="6144768" y="3145536"/>
            <a:ext cx="5114239" cy="438912"/>
          </a:xfrm>
          <a:prstGeom prst="rect">
            <a:avLst/>
          </a:prstGeom>
          <a:noFill/>
          <a:ln/>
        </p:spPr>
        <p:txBody>
          <a:bodyPr wrap="square" lIns="0" tIns="0" rIns="0" bIns="0" rtlCol="0" anchor="ctr"/>
          <a:lstStyle/>
          <a:p>
            <a:pPr algn="l" indent="0" marL="0">
              <a:buNone/>
            </a:pPr>
            <a:r>
              <a:rPr lang="en-US" sz="1200" dirty="0">
                <a:solidFill>
                  <a:srgbClr val="243B53"/>
                </a:solidFill>
                <a:latin typeface="Aptos" pitchFamily="34" charset="0"/>
                <a:ea typeface="Aptos" pitchFamily="34" charset="-122"/>
                <a:cs typeface="Aptos" pitchFamily="34" charset="-120"/>
              </a:rPr>
              <a:t>Cobertura de valores límite</a:t>
            </a:r>
            <a:endParaRPr lang="en-US" sz="1200" dirty="0"/>
          </a:p>
        </p:txBody>
      </p:sp>
      <p:sp>
        <p:nvSpPr>
          <p:cNvPr id="21" name="Shape 18"/>
          <p:cNvSpPr/>
          <p:nvPr/>
        </p:nvSpPr>
        <p:spPr>
          <a:xfrm>
            <a:off x="658368" y="3712464"/>
            <a:ext cx="10874959" cy="512064"/>
          </a:xfrm>
          <a:prstGeom prst="rect">
            <a:avLst/>
          </a:prstGeom>
          <a:solidFill>
            <a:srgbClr val="FFFFFF"/>
          </a:solidFill>
          <a:ln w="12700">
            <a:solidFill>
              <a:srgbClr val="FFFFFF"/>
            </a:solidFill>
            <a:prstDash val="solid"/>
          </a:ln>
        </p:spPr>
      </p:sp>
      <p:sp>
        <p:nvSpPr>
          <p:cNvPr id="22" name="Shape 19"/>
          <p:cNvSpPr/>
          <p:nvPr/>
        </p:nvSpPr>
        <p:spPr>
          <a:xfrm>
            <a:off x="658368" y="3712464"/>
            <a:ext cx="54864" cy="512064"/>
          </a:xfrm>
          <a:prstGeom prst="rect">
            <a:avLst/>
          </a:prstGeom>
          <a:solidFill>
            <a:srgbClr val="102A43"/>
          </a:solidFill>
          <a:ln w="12700">
            <a:solidFill>
              <a:srgbClr val="102A43"/>
            </a:solidFill>
            <a:prstDash val="solid"/>
          </a:ln>
        </p:spPr>
      </p:sp>
      <p:sp>
        <p:nvSpPr>
          <p:cNvPr id="23" name="Text 20"/>
          <p:cNvSpPr txBox="1"/>
          <p:nvPr/>
        </p:nvSpPr>
        <p:spPr>
          <a:xfrm>
            <a:off x="932688" y="3749040"/>
            <a:ext cx="731520" cy="438912"/>
          </a:xfrm>
          <a:prstGeom prst="rect">
            <a:avLst/>
          </a:prstGeom>
          <a:noFill/>
          <a:ln/>
        </p:spPr>
        <p:txBody>
          <a:bodyPr wrap="square" lIns="0" tIns="0" rIns="0" bIns="0" rtlCol="0" anchor="ctr"/>
          <a:lstStyle/>
          <a:p>
            <a:pPr algn="l" indent="0" marL="0">
              <a:buNone/>
            </a:pPr>
            <a:r>
              <a:rPr lang="en-US" sz="1200" b="1" dirty="0">
                <a:solidFill>
                  <a:srgbClr val="102A43"/>
                </a:solidFill>
                <a:latin typeface="Consolas" pitchFamily="34" charset="0"/>
                <a:ea typeface="Consolas" pitchFamily="34" charset="-122"/>
                <a:cs typeface="Consolas" pitchFamily="34" charset="-120"/>
              </a:rPr>
              <a:t>6.2.6</a:t>
            </a:r>
            <a:endParaRPr lang="en-US" sz="1200" dirty="0"/>
          </a:p>
        </p:txBody>
      </p:sp>
      <p:sp>
        <p:nvSpPr>
          <p:cNvPr id="24" name="Text 21"/>
          <p:cNvSpPr txBox="1"/>
          <p:nvPr/>
        </p:nvSpPr>
        <p:spPr>
          <a:xfrm>
            <a:off x="1847088" y="3749040"/>
            <a:ext cx="4023360" cy="438912"/>
          </a:xfrm>
          <a:prstGeom prst="rect">
            <a:avLst/>
          </a:prstGeom>
          <a:noFill/>
          <a:ln/>
        </p:spPr>
        <p:txBody>
          <a:bodyPr wrap="square" lIns="0" tIns="0" rIns="0" bIns="0" rtlCol="0" anchor="ctr"/>
          <a:lstStyle/>
          <a:p>
            <a:pPr algn="l" indent="0" marL="0">
              <a:buNone/>
            </a:pPr>
            <a:r>
              <a:rPr lang="en-US" sz="1120" i="1" dirty="0">
                <a:solidFill>
                  <a:srgbClr val="52606D"/>
                </a:solidFill>
                <a:latin typeface="Consolas" pitchFamily="34" charset="0"/>
                <a:ea typeface="Consolas" pitchFamily="34" charset="-122"/>
                <a:cs typeface="Consolas" pitchFamily="34" charset="-120"/>
              </a:rPr>
              <a:t>Decision table testing coverage</a:t>
            </a:r>
            <a:endParaRPr lang="en-US" sz="1120" dirty="0"/>
          </a:p>
        </p:txBody>
      </p:sp>
      <p:sp>
        <p:nvSpPr>
          <p:cNvPr id="25" name="Text 22"/>
          <p:cNvSpPr txBox="1"/>
          <p:nvPr/>
        </p:nvSpPr>
        <p:spPr>
          <a:xfrm>
            <a:off x="6144768" y="3749040"/>
            <a:ext cx="5114239" cy="438912"/>
          </a:xfrm>
          <a:prstGeom prst="rect">
            <a:avLst/>
          </a:prstGeom>
          <a:noFill/>
          <a:ln/>
        </p:spPr>
        <p:txBody>
          <a:bodyPr wrap="square" lIns="0" tIns="0" rIns="0" bIns="0" rtlCol="0" anchor="ctr"/>
          <a:lstStyle/>
          <a:p>
            <a:pPr algn="l" indent="0" marL="0">
              <a:buNone/>
            </a:pPr>
            <a:r>
              <a:rPr lang="en-US" sz="1200" dirty="0">
                <a:solidFill>
                  <a:srgbClr val="243B53"/>
                </a:solidFill>
                <a:latin typeface="Aptos" pitchFamily="34" charset="0"/>
                <a:ea typeface="Aptos" pitchFamily="34" charset="-122"/>
                <a:cs typeface="Aptos" pitchFamily="34" charset="-120"/>
              </a:rPr>
              <a:t>Cobertura de tabla de decisión</a:t>
            </a:r>
            <a:endParaRPr lang="en-US" sz="1200" dirty="0"/>
          </a:p>
        </p:txBody>
      </p:sp>
      <p:sp>
        <p:nvSpPr>
          <p:cNvPr id="26" name="Shape 23"/>
          <p:cNvSpPr/>
          <p:nvPr/>
        </p:nvSpPr>
        <p:spPr>
          <a:xfrm>
            <a:off x="658368" y="4315968"/>
            <a:ext cx="10874959" cy="512064"/>
          </a:xfrm>
          <a:prstGeom prst="rect">
            <a:avLst/>
          </a:prstGeom>
          <a:solidFill>
            <a:srgbClr val="F2E7D9"/>
          </a:solidFill>
          <a:ln w="12700">
            <a:solidFill>
              <a:srgbClr val="F2E7D9"/>
            </a:solidFill>
            <a:prstDash val="solid"/>
          </a:ln>
        </p:spPr>
      </p:sp>
      <p:sp>
        <p:nvSpPr>
          <p:cNvPr id="27" name="Shape 24"/>
          <p:cNvSpPr/>
          <p:nvPr/>
        </p:nvSpPr>
        <p:spPr>
          <a:xfrm>
            <a:off x="658368" y="4315968"/>
            <a:ext cx="54864" cy="512064"/>
          </a:xfrm>
          <a:prstGeom prst="rect">
            <a:avLst/>
          </a:prstGeom>
          <a:solidFill>
            <a:srgbClr val="8A6A12"/>
          </a:solidFill>
          <a:ln w="12700">
            <a:solidFill>
              <a:srgbClr val="8A6A12"/>
            </a:solidFill>
            <a:prstDash val="solid"/>
          </a:ln>
        </p:spPr>
      </p:sp>
      <p:sp>
        <p:nvSpPr>
          <p:cNvPr id="28" name="Text 25"/>
          <p:cNvSpPr txBox="1"/>
          <p:nvPr/>
        </p:nvSpPr>
        <p:spPr>
          <a:xfrm>
            <a:off x="932688" y="4352544"/>
            <a:ext cx="731520" cy="438912"/>
          </a:xfrm>
          <a:prstGeom prst="rect">
            <a:avLst/>
          </a:prstGeom>
          <a:noFill/>
          <a:ln/>
        </p:spPr>
        <p:txBody>
          <a:bodyPr wrap="square" lIns="0" tIns="0" rIns="0" bIns="0" rtlCol="0" anchor="ctr"/>
          <a:lstStyle/>
          <a:p>
            <a:pPr algn="l" indent="0" marL="0">
              <a:buNone/>
            </a:pPr>
            <a:r>
              <a:rPr lang="en-US" sz="1200" b="1" dirty="0">
                <a:solidFill>
                  <a:srgbClr val="8A6A12"/>
                </a:solidFill>
                <a:latin typeface="Consolas" pitchFamily="34" charset="0"/>
                <a:ea typeface="Consolas" pitchFamily="34" charset="-122"/>
                <a:cs typeface="Consolas" pitchFamily="34" charset="-120"/>
              </a:rPr>
              <a:t>6.3.1</a:t>
            </a:r>
            <a:endParaRPr lang="en-US" sz="1200" dirty="0"/>
          </a:p>
        </p:txBody>
      </p:sp>
      <p:sp>
        <p:nvSpPr>
          <p:cNvPr id="29" name="Text 26"/>
          <p:cNvSpPr txBox="1"/>
          <p:nvPr/>
        </p:nvSpPr>
        <p:spPr>
          <a:xfrm>
            <a:off x="1847088" y="4352544"/>
            <a:ext cx="4023360" cy="438912"/>
          </a:xfrm>
          <a:prstGeom prst="rect">
            <a:avLst/>
          </a:prstGeom>
          <a:noFill/>
          <a:ln/>
        </p:spPr>
        <p:txBody>
          <a:bodyPr wrap="square" lIns="0" tIns="0" rIns="0" bIns="0" rtlCol="0" anchor="ctr"/>
          <a:lstStyle/>
          <a:p>
            <a:pPr algn="l" indent="0" marL="0">
              <a:buNone/>
            </a:pPr>
            <a:r>
              <a:rPr lang="en-US" sz="1120" i="1" dirty="0">
                <a:solidFill>
                  <a:srgbClr val="52606D"/>
                </a:solidFill>
                <a:latin typeface="Consolas" pitchFamily="34" charset="0"/>
                <a:ea typeface="Consolas" pitchFamily="34" charset="-122"/>
                <a:cs typeface="Consolas" pitchFamily="34" charset="-120"/>
              </a:rPr>
              <a:t>Statement testing coverage</a:t>
            </a:r>
            <a:endParaRPr lang="en-US" sz="1120" dirty="0"/>
          </a:p>
        </p:txBody>
      </p:sp>
      <p:sp>
        <p:nvSpPr>
          <p:cNvPr id="30" name="Text 27"/>
          <p:cNvSpPr txBox="1"/>
          <p:nvPr/>
        </p:nvSpPr>
        <p:spPr>
          <a:xfrm>
            <a:off x="6144768" y="4352544"/>
            <a:ext cx="5114239" cy="438912"/>
          </a:xfrm>
          <a:prstGeom prst="rect">
            <a:avLst/>
          </a:prstGeom>
          <a:noFill/>
          <a:ln/>
        </p:spPr>
        <p:txBody>
          <a:bodyPr wrap="square" lIns="0" tIns="0" rIns="0" bIns="0" rtlCol="0" anchor="ctr"/>
          <a:lstStyle/>
          <a:p>
            <a:pPr algn="l" indent="0" marL="0">
              <a:buNone/>
            </a:pPr>
            <a:r>
              <a:rPr lang="en-US" sz="1200" b="1" dirty="0">
                <a:solidFill>
                  <a:srgbClr val="243B53"/>
                </a:solidFill>
                <a:latin typeface="Aptos" pitchFamily="34" charset="0"/>
                <a:ea typeface="Aptos" pitchFamily="34" charset="-122"/>
                <a:cs typeface="Aptos" pitchFamily="34" charset="-120"/>
              </a:rPr>
              <a:t>Cobertura de sentencias  ← la que mide la herramienta</a:t>
            </a:r>
            <a:endParaRPr lang="en-US" sz="1200" dirty="0"/>
          </a:p>
        </p:txBody>
      </p:sp>
      <p:sp>
        <p:nvSpPr>
          <p:cNvPr id="31" name="Shape 28"/>
          <p:cNvSpPr/>
          <p:nvPr/>
        </p:nvSpPr>
        <p:spPr>
          <a:xfrm>
            <a:off x="658368" y="5029200"/>
            <a:ext cx="10874959" cy="566928"/>
          </a:xfrm>
          <a:prstGeom prst="rect">
            <a:avLst/>
          </a:prstGeom>
          <a:solidFill>
            <a:srgbClr val="E6EEF7"/>
          </a:solidFill>
          <a:ln w="12700">
            <a:solidFill>
              <a:srgbClr val="E6EEF7"/>
            </a:solidFill>
            <a:prstDash val="solid"/>
          </a:ln>
        </p:spPr>
      </p:sp>
      <p:sp>
        <p:nvSpPr>
          <p:cNvPr id="32" name="Shape 29"/>
          <p:cNvSpPr/>
          <p:nvPr/>
        </p:nvSpPr>
        <p:spPr>
          <a:xfrm>
            <a:off x="658368" y="5029200"/>
            <a:ext cx="54864" cy="566928"/>
          </a:xfrm>
          <a:prstGeom prst="rect">
            <a:avLst/>
          </a:prstGeom>
          <a:solidFill>
            <a:srgbClr val="102A43"/>
          </a:solidFill>
          <a:ln w="12700">
            <a:solidFill>
              <a:srgbClr val="102A43"/>
            </a:solidFill>
            <a:prstDash val="solid"/>
          </a:ln>
        </p:spPr>
      </p:sp>
      <p:sp>
        <p:nvSpPr>
          <p:cNvPr id="33" name="Text 30"/>
          <p:cNvSpPr txBox="1"/>
          <p:nvPr/>
        </p:nvSpPr>
        <p:spPr>
          <a:xfrm>
            <a:off x="932688" y="5120640"/>
            <a:ext cx="10326319" cy="402336"/>
          </a:xfrm>
          <a:prstGeom prst="rect">
            <a:avLst/>
          </a:prstGeom>
          <a:noFill/>
          <a:ln/>
        </p:spPr>
        <p:txBody>
          <a:bodyPr wrap="square" lIns="0" tIns="0" rIns="0" bIns="0" rtlCol="0" anchor="ctr"/>
          <a:lstStyle/>
          <a:p>
            <a:pPr algn="l" indent="0" marL="0">
              <a:lnSpc>
                <a:spcPct val="112000"/>
              </a:lnSpc>
              <a:buNone/>
            </a:pPr>
            <a:r>
              <a:rPr lang="en-US" sz="1280" dirty="0">
                <a:solidFill>
                  <a:srgbClr val="243B53"/>
                </a:solidFill>
                <a:latin typeface="Aptos" pitchFamily="34" charset="0"/>
                <a:ea typeface="Aptos" pitchFamily="34" charset="-122"/>
                <a:cs typeface="Aptos" pitchFamily="34" charset="-120"/>
              </a:rPr>
              <a:t>Cuando la sesión pasada dijimos «la tabla tiene representación de las tres clases de bloque», estábamos informando cobertura de particiones sin usar la palabra.</a:t>
            </a:r>
            <a:endParaRPr lang="en-US" sz="1280" dirty="0"/>
          </a:p>
        </p:txBody>
      </p:sp>
      <p:sp>
        <p:nvSpPr>
          <p:cNvPr id="34" name="Shape 31"/>
          <p:cNvSpPr/>
          <p:nvPr/>
        </p:nvSpPr>
        <p:spPr>
          <a:xfrm>
            <a:off x="658368" y="5760720"/>
            <a:ext cx="10874959" cy="457200"/>
          </a:xfrm>
          <a:prstGeom prst="rect">
            <a:avLst/>
          </a:prstGeom>
          <a:solidFill>
            <a:srgbClr val="102A43"/>
          </a:solidFill>
          <a:ln w="12700">
            <a:solidFill>
              <a:srgbClr val="102A43"/>
            </a:solidFill>
            <a:prstDash val="solid"/>
          </a:ln>
        </p:spPr>
      </p:sp>
      <p:sp>
        <p:nvSpPr>
          <p:cNvPr id="35" name="Text 32"/>
          <p:cNvSpPr txBox="1"/>
          <p:nvPr/>
        </p:nvSpPr>
        <p:spPr>
          <a:xfrm>
            <a:off x="969264" y="5797296"/>
            <a:ext cx="10253167" cy="38404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La cifra que entrega la herramienta es UNA medida de cobertura entre muchas, y es la que menos sabe del requisito.</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ERA DE LOS AGENTES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Pedirle pruebas a un agente le entrega el código como modelo</a:t>
            </a:r>
            <a:endParaRPr lang="en-US" sz="26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Si se le abre un archivo y se le dice «escribe las pruebas de esto», el modelo de prueba que recibe es el código fuente. Por la taxonomía de la norma, está derivando de forma estructural.</a:t>
            </a:r>
            <a:endParaRPr lang="en-US" sz="1450" dirty="0"/>
          </a:p>
        </p:txBody>
      </p:sp>
      <p:sp>
        <p:nvSpPr>
          <p:cNvPr id="11" name="Shape 8"/>
          <p:cNvSpPr/>
          <p:nvPr/>
        </p:nvSpPr>
        <p:spPr>
          <a:xfrm>
            <a:off x="658368" y="2615184"/>
            <a:ext cx="10874959" cy="749808"/>
          </a:xfrm>
          <a:prstGeom prst="rect">
            <a:avLst/>
          </a:prstGeom>
          <a:solidFill>
            <a:srgbClr val="FFFFFF"/>
          </a:solidFill>
          <a:ln w="12700">
            <a:solidFill>
              <a:srgbClr val="FFFFFF"/>
            </a:solidFill>
            <a:prstDash val="solid"/>
          </a:ln>
        </p:spPr>
      </p:sp>
      <p:sp>
        <p:nvSpPr>
          <p:cNvPr id="12" name="Shape 9"/>
          <p:cNvSpPr/>
          <p:nvPr/>
        </p:nvSpPr>
        <p:spPr>
          <a:xfrm>
            <a:off x="658368" y="2615184"/>
            <a:ext cx="54864" cy="749808"/>
          </a:xfrm>
          <a:prstGeom prst="rect">
            <a:avLst/>
          </a:prstGeom>
          <a:solidFill>
            <a:srgbClr val="2E7D4F"/>
          </a:solidFill>
          <a:ln w="12700">
            <a:solidFill>
              <a:srgbClr val="2E7D4F"/>
            </a:solidFill>
            <a:prstDash val="solid"/>
          </a:ln>
        </p:spPr>
      </p:sp>
      <p:sp>
        <p:nvSpPr>
          <p:cNvPr id="13" name="Text 10"/>
          <p:cNvSpPr txBox="1"/>
          <p:nvPr/>
        </p:nvSpPr>
        <p:spPr>
          <a:xfrm>
            <a:off x="932688" y="2706624"/>
            <a:ext cx="3108960" cy="274320"/>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Lo que hace bien</a:t>
            </a:r>
            <a:endParaRPr lang="en-US" sz="1300" dirty="0"/>
          </a:p>
        </p:txBody>
      </p:sp>
      <p:sp>
        <p:nvSpPr>
          <p:cNvPr id="14" name="Text 11"/>
          <p:cNvSpPr txBox="1"/>
          <p:nvPr/>
        </p:nvSpPr>
        <p:spPr>
          <a:xfrm>
            <a:off x="4224528" y="2724912"/>
            <a:ext cx="703447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Enumerar caminos del código, alcanzar sentencias que nadie recorrió, proponer nombres y escribir la parametrización.</a:t>
            </a:r>
            <a:endParaRPr lang="en-US" sz="1220" dirty="0"/>
          </a:p>
        </p:txBody>
      </p:sp>
      <p:sp>
        <p:nvSpPr>
          <p:cNvPr id="15" name="Shape 12"/>
          <p:cNvSpPr/>
          <p:nvPr/>
        </p:nvSpPr>
        <p:spPr>
          <a:xfrm>
            <a:off x="658368" y="3474720"/>
            <a:ext cx="10874959" cy="749808"/>
          </a:xfrm>
          <a:prstGeom prst="rect">
            <a:avLst/>
          </a:prstGeom>
          <a:solidFill>
            <a:srgbClr val="FFFFFF"/>
          </a:solidFill>
          <a:ln w="12700">
            <a:solidFill>
              <a:srgbClr val="FFFFFF"/>
            </a:solidFill>
            <a:prstDash val="solid"/>
          </a:ln>
        </p:spPr>
      </p:sp>
      <p:sp>
        <p:nvSpPr>
          <p:cNvPr id="16" name="Shape 13"/>
          <p:cNvSpPr/>
          <p:nvPr/>
        </p:nvSpPr>
        <p:spPr>
          <a:xfrm>
            <a:off x="658368" y="3474720"/>
            <a:ext cx="54864" cy="749808"/>
          </a:xfrm>
          <a:prstGeom prst="rect">
            <a:avLst/>
          </a:prstGeom>
          <a:solidFill>
            <a:srgbClr val="8A6A12"/>
          </a:solidFill>
          <a:ln w="12700">
            <a:solidFill>
              <a:srgbClr val="8A6A12"/>
            </a:solidFill>
            <a:prstDash val="solid"/>
          </a:ln>
        </p:spPr>
      </p:sp>
      <p:sp>
        <p:nvSpPr>
          <p:cNvPr id="17" name="Text 14"/>
          <p:cNvSpPr txBox="1"/>
          <p:nvPr/>
        </p:nvSpPr>
        <p:spPr>
          <a:xfrm>
            <a:off x="932688" y="3566160"/>
            <a:ext cx="3108960" cy="274320"/>
          </a:xfrm>
          <a:prstGeom prst="rect">
            <a:avLst/>
          </a:prstGeom>
          <a:noFill/>
          <a:ln/>
        </p:spPr>
        <p:txBody>
          <a:bodyPr wrap="square" lIns="0" tIns="0" rIns="0" bIns="0" rtlCol="0" anchor="t"/>
          <a:lstStyle/>
          <a:p>
            <a:pPr algn="l" indent="0" marL="0">
              <a:buNone/>
            </a:pPr>
            <a:r>
              <a:rPr lang="en-US" sz="1300" b="1" dirty="0">
                <a:solidFill>
                  <a:srgbClr val="8A6A12"/>
                </a:solidFill>
                <a:latin typeface="Aptos" pitchFamily="34" charset="0"/>
                <a:ea typeface="Aptos" pitchFamily="34" charset="-122"/>
                <a:cs typeface="Aptos" pitchFamily="34" charset="-120"/>
              </a:rPr>
              <a:t>Lo que no conviene delegar</a:t>
            </a:r>
            <a:endParaRPr lang="en-US" sz="1300" dirty="0"/>
          </a:p>
        </p:txBody>
      </p:sp>
      <p:sp>
        <p:nvSpPr>
          <p:cNvPr id="18" name="Text 15"/>
          <p:cNvSpPr txBox="1"/>
          <p:nvPr/>
        </p:nvSpPr>
        <p:spPr>
          <a:xfrm>
            <a:off x="4224528" y="3584448"/>
            <a:ext cx="703447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El resultado esperado, siempre que el único modelo que tuvo delante haya sido el código.</a:t>
            </a:r>
            <a:endParaRPr lang="en-US" sz="1220" dirty="0"/>
          </a:p>
        </p:txBody>
      </p:sp>
      <p:sp>
        <p:nvSpPr>
          <p:cNvPr id="19" name="Shape 16"/>
          <p:cNvSpPr/>
          <p:nvPr/>
        </p:nvSpPr>
        <p:spPr>
          <a:xfrm>
            <a:off x="658368" y="4334256"/>
            <a:ext cx="10874959" cy="749808"/>
          </a:xfrm>
          <a:prstGeom prst="rect">
            <a:avLst/>
          </a:prstGeom>
          <a:solidFill>
            <a:srgbClr val="F8E4E5"/>
          </a:solidFill>
          <a:ln w="12700">
            <a:solidFill>
              <a:srgbClr val="F8E4E5"/>
            </a:solidFill>
            <a:prstDash val="solid"/>
          </a:ln>
        </p:spPr>
      </p:sp>
      <p:sp>
        <p:nvSpPr>
          <p:cNvPr id="20" name="Shape 17"/>
          <p:cNvSpPr/>
          <p:nvPr/>
        </p:nvSpPr>
        <p:spPr>
          <a:xfrm>
            <a:off x="658368" y="4334256"/>
            <a:ext cx="54864" cy="749808"/>
          </a:xfrm>
          <a:prstGeom prst="rect">
            <a:avLst/>
          </a:prstGeom>
          <a:solidFill>
            <a:srgbClr val="B3181E"/>
          </a:solidFill>
          <a:ln w="12700">
            <a:solidFill>
              <a:srgbClr val="B3181E"/>
            </a:solidFill>
            <a:prstDash val="solid"/>
          </a:ln>
        </p:spPr>
      </p:sp>
      <p:sp>
        <p:nvSpPr>
          <p:cNvPr id="21" name="Text 18"/>
          <p:cNvSpPr txBox="1"/>
          <p:nvPr/>
        </p:nvSpPr>
        <p:spPr>
          <a:xfrm>
            <a:off x="932688" y="4425696"/>
            <a:ext cx="3108960" cy="274320"/>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El error frecuente</a:t>
            </a:r>
            <a:endParaRPr lang="en-US" sz="1300" dirty="0"/>
          </a:p>
        </p:txBody>
      </p:sp>
      <p:sp>
        <p:nvSpPr>
          <p:cNvPr id="22" name="Text 19"/>
          <p:cNvSpPr txBox="1"/>
          <p:nvPr/>
        </p:nvSpPr>
        <p:spPr>
          <a:xfrm>
            <a:off x="4224528" y="4443984"/>
            <a:ext cx="703447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Una prueba que pasa el primer día y no puede fallar nunca, porque afirma lo que el código ya hace. Sube la cobertura y no agrega evidencia.</a:t>
            </a:r>
            <a:endParaRPr lang="en-US" sz="1220" dirty="0"/>
          </a:p>
        </p:txBody>
      </p:sp>
      <p:sp>
        <p:nvSpPr>
          <p:cNvPr id="23" name="Shape 20"/>
          <p:cNvSpPr/>
          <p:nvPr/>
        </p:nvSpPr>
        <p:spPr>
          <a:xfrm>
            <a:off x="658368" y="5212080"/>
            <a:ext cx="10874959" cy="566928"/>
          </a:xfrm>
          <a:prstGeom prst="rect">
            <a:avLst/>
          </a:prstGeom>
          <a:solidFill>
            <a:srgbClr val="102A43"/>
          </a:solidFill>
          <a:ln w="12700">
            <a:solidFill>
              <a:srgbClr val="102A43"/>
            </a:solidFill>
            <a:prstDash val="solid"/>
          </a:ln>
        </p:spPr>
      </p:sp>
      <p:sp>
        <p:nvSpPr>
          <p:cNvPr id="24" name="Text 21"/>
          <p:cNvSpPr txBox="1"/>
          <p:nvPr/>
        </p:nvSpPr>
        <p:spPr>
          <a:xfrm>
            <a:off x="932688" y="5285232"/>
            <a:ext cx="10326319" cy="420624"/>
          </a:xfrm>
          <a:prstGeom prst="rect">
            <a:avLst/>
          </a:prstGeom>
          <a:noFill/>
          <a:ln/>
        </p:spPr>
        <p:txBody>
          <a:bodyPr wrap="square" lIns="0" tIns="0" rIns="0" bIns="0" rtlCol="0" anchor="ctr"/>
          <a:lstStyle/>
          <a:p>
            <a:pPr algn="l" indent="0" marL="0">
              <a:buNone/>
            </a:pPr>
            <a:r>
              <a:rPr lang="en-US" sz="1300" b="1" dirty="0">
                <a:solidFill>
                  <a:srgbClr val="FFFFFF"/>
                </a:solidFill>
                <a:latin typeface="Aptos" pitchFamily="34" charset="0"/>
                <a:ea typeface="Aptos" pitchFamily="34" charset="-122"/>
                <a:cs typeface="Aptos" pitchFamily="34" charset="-120"/>
              </a:rPr>
              <a:t>Y su resultado esperado sale de «otra fuente», en el sentido exacto de la cláusula 3.32: la implementación que tiene a la vista.</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1 · QUÉ HACE LA INDUSTRIA CON ESO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600" b="1" dirty="0">
                <a:solidFill>
                  <a:srgbClr val="FFFFFF"/>
                </a:solidFill>
                <a:latin typeface="Aptos Display" pitchFamily="34" charset="0"/>
                <a:ea typeface="Aptos Display" pitchFamily="34" charset="-122"/>
                <a:cs typeface="Aptos Display" pitchFamily="34" charset="-120"/>
              </a:rPr>
              <a:t>TestGen-LLM: generar es barato; filtrar es el trabajo</a:t>
            </a:r>
            <a:endParaRPr lang="en-US" sz="26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Meta publicó en febrero de 2024 la descripción de una herramienta que usa modelos de lenguaje para mejorar pruebas unitarias ya escritas por personas.</a:t>
            </a:r>
            <a:endParaRPr lang="en-US" sz="1450" dirty="0"/>
          </a:p>
        </p:txBody>
      </p:sp>
      <p:sp>
        <p:nvSpPr>
          <p:cNvPr id="11" name="Shape 8"/>
          <p:cNvSpPr/>
          <p:nvPr/>
        </p:nvSpPr>
        <p:spPr>
          <a:xfrm>
            <a:off x="658368" y="2633472"/>
            <a:ext cx="2615184" cy="1024128"/>
          </a:xfrm>
          <a:prstGeom prst="rect">
            <a:avLst/>
          </a:prstGeom>
          <a:solidFill>
            <a:srgbClr val="1D3A57"/>
          </a:solidFill>
          <a:ln w="12700">
            <a:solidFill>
              <a:srgbClr val="1D3A57"/>
            </a:solidFill>
            <a:prstDash val="solid"/>
          </a:ln>
        </p:spPr>
      </p:sp>
      <p:sp>
        <p:nvSpPr>
          <p:cNvPr id="12" name="Text 9"/>
          <p:cNvSpPr txBox="1"/>
          <p:nvPr/>
        </p:nvSpPr>
        <p:spPr>
          <a:xfrm>
            <a:off x="859536" y="2724912"/>
            <a:ext cx="2286000" cy="493776"/>
          </a:xfrm>
          <a:prstGeom prst="rect">
            <a:avLst/>
          </a:prstGeom>
          <a:noFill/>
          <a:ln/>
        </p:spPr>
        <p:txBody>
          <a:bodyPr wrap="square" lIns="0" tIns="0" rIns="0" bIns="0" rtlCol="0" anchor="t"/>
          <a:lstStyle/>
          <a:p>
            <a:pPr algn="l" indent="0" marL="0">
              <a:buNone/>
            </a:pPr>
            <a:r>
              <a:rPr lang="en-US" sz="3200" b="1" dirty="0">
                <a:solidFill>
                  <a:srgbClr val="EADFD0"/>
                </a:solidFill>
                <a:latin typeface="Aptos Display" pitchFamily="34" charset="0"/>
                <a:ea typeface="Aptos Display" pitchFamily="34" charset="-122"/>
                <a:cs typeface="Aptos Display" pitchFamily="34" charset="-120"/>
              </a:rPr>
              <a:t>75 %</a:t>
            </a:r>
            <a:endParaRPr lang="en-US" sz="3200" dirty="0"/>
          </a:p>
        </p:txBody>
      </p:sp>
      <p:sp>
        <p:nvSpPr>
          <p:cNvPr id="13" name="Text 10"/>
          <p:cNvSpPr txBox="1"/>
          <p:nvPr/>
        </p:nvSpPr>
        <p:spPr>
          <a:xfrm>
            <a:off x="859536" y="3255264"/>
            <a:ext cx="2286000" cy="310896"/>
          </a:xfrm>
          <a:prstGeom prst="rect">
            <a:avLst/>
          </a:prstGeom>
          <a:noFill/>
          <a:ln/>
        </p:spPr>
        <p:txBody>
          <a:bodyPr wrap="square" lIns="0" tIns="0" rIns="0" bIns="0" rtlCol="0" anchor="t"/>
          <a:lstStyle/>
          <a:p>
            <a:pPr algn="l" indent="0" marL="0">
              <a:lnSpc>
                <a:spcPct val="110000"/>
              </a:lnSpc>
              <a:buNone/>
            </a:pPr>
            <a:r>
              <a:rPr lang="en-US" sz="1140" dirty="0">
                <a:solidFill>
                  <a:srgbClr val="E6EEF7"/>
                </a:solidFill>
                <a:latin typeface="Aptos" pitchFamily="34" charset="0"/>
                <a:ea typeface="Aptos" pitchFamily="34" charset="-122"/>
                <a:cs typeface="Aptos" pitchFamily="34" charset="-120"/>
              </a:rPr>
              <a:t>de las pruebas generadas compiló</a:t>
            </a:r>
            <a:endParaRPr lang="en-US" sz="1140" dirty="0"/>
          </a:p>
        </p:txBody>
      </p:sp>
      <p:sp>
        <p:nvSpPr>
          <p:cNvPr id="14" name="Shape 11"/>
          <p:cNvSpPr/>
          <p:nvPr/>
        </p:nvSpPr>
        <p:spPr>
          <a:xfrm>
            <a:off x="3419856" y="2633472"/>
            <a:ext cx="2615184" cy="1024128"/>
          </a:xfrm>
          <a:prstGeom prst="rect">
            <a:avLst/>
          </a:prstGeom>
          <a:solidFill>
            <a:srgbClr val="1D3A57"/>
          </a:solidFill>
          <a:ln w="12700">
            <a:solidFill>
              <a:srgbClr val="1D3A57"/>
            </a:solidFill>
            <a:prstDash val="solid"/>
          </a:ln>
        </p:spPr>
      </p:sp>
      <p:sp>
        <p:nvSpPr>
          <p:cNvPr id="15" name="Text 12"/>
          <p:cNvSpPr txBox="1"/>
          <p:nvPr/>
        </p:nvSpPr>
        <p:spPr>
          <a:xfrm>
            <a:off x="3621024" y="2724912"/>
            <a:ext cx="2286000" cy="493776"/>
          </a:xfrm>
          <a:prstGeom prst="rect">
            <a:avLst/>
          </a:prstGeom>
          <a:noFill/>
          <a:ln/>
        </p:spPr>
        <p:txBody>
          <a:bodyPr wrap="square" lIns="0" tIns="0" rIns="0" bIns="0" rtlCol="0" anchor="t"/>
          <a:lstStyle/>
          <a:p>
            <a:pPr algn="l" indent="0" marL="0">
              <a:buNone/>
            </a:pPr>
            <a:r>
              <a:rPr lang="en-US" sz="3200" b="1" dirty="0">
                <a:solidFill>
                  <a:srgbClr val="EADFD0"/>
                </a:solidFill>
                <a:latin typeface="Aptos Display" pitchFamily="34" charset="0"/>
                <a:ea typeface="Aptos Display" pitchFamily="34" charset="-122"/>
                <a:cs typeface="Aptos Display" pitchFamily="34" charset="-120"/>
              </a:rPr>
              <a:t>57 %</a:t>
            </a:r>
            <a:endParaRPr lang="en-US" sz="3200" dirty="0"/>
          </a:p>
        </p:txBody>
      </p:sp>
      <p:sp>
        <p:nvSpPr>
          <p:cNvPr id="16" name="Text 13"/>
          <p:cNvSpPr txBox="1"/>
          <p:nvPr/>
        </p:nvSpPr>
        <p:spPr>
          <a:xfrm>
            <a:off x="3621024" y="3255264"/>
            <a:ext cx="2286000" cy="310896"/>
          </a:xfrm>
          <a:prstGeom prst="rect">
            <a:avLst/>
          </a:prstGeom>
          <a:noFill/>
          <a:ln/>
        </p:spPr>
        <p:txBody>
          <a:bodyPr wrap="square" lIns="0" tIns="0" rIns="0" bIns="0" rtlCol="0" anchor="t"/>
          <a:lstStyle/>
          <a:p>
            <a:pPr algn="l" indent="0" marL="0">
              <a:lnSpc>
                <a:spcPct val="110000"/>
              </a:lnSpc>
              <a:buNone/>
            </a:pPr>
            <a:r>
              <a:rPr lang="en-US" sz="1140" dirty="0">
                <a:solidFill>
                  <a:srgbClr val="E6EEF7"/>
                </a:solidFill>
                <a:latin typeface="Aptos" pitchFamily="34" charset="0"/>
                <a:ea typeface="Aptos" pitchFamily="34" charset="-122"/>
                <a:cs typeface="Aptos" pitchFamily="34" charset="-120"/>
              </a:rPr>
              <a:t>de las pruebas generadas pasó de forma fiable</a:t>
            </a:r>
            <a:endParaRPr lang="en-US" sz="1140" dirty="0"/>
          </a:p>
        </p:txBody>
      </p:sp>
      <p:sp>
        <p:nvSpPr>
          <p:cNvPr id="17" name="Shape 14"/>
          <p:cNvSpPr/>
          <p:nvPr/>
        </p:nvSpPr>
        <p:spPr>
          <a:xfrm>
            <a:off x="6181344" y="2633472"/>
            <a:ext cx="2615184" cy="1024128"/>
          </a:xfrm>
          <a:prstGeom prst="rect">
            <a:avLst/>
          </a:prstGeom>
          <a:solidFill>
            <a:srgbClr val="E0BC5A"/>
          </a:solidFill>
          <a:ln w="12700">
            <a:solidFill>
              <a:srgbClr val="E0BC5A"/>
            </a:solidFill>
            <a:prstDash val="solid"/>
          </a:ln>
        </p:spPr>
      </p:sp>
      <p:sp>
        <p:nvSpPr>
          <p:cNvPr id="18" name="Text 15"/>
          <p:cNvSpPr txBox="1"/>
          <p:nvPr/>
        </p:nvSpPr>
        <p:spPr>
          <a:xfrm>
            <a:off x="6382512" y="2724912"/>
            <a:ext cx="2286000" cy="493776"/>
          </a:xfrm>
          <a:prstGeom prst="rect">
            <a:avLst/>
          </a:prstGeom>
          <a:noFill/>
          <a:ln/>
        </p:spPr>
        <p:txBody>
          <a:bodyPr wrap="square" lIns="0" tIns="0" rIns="0" bIns="0" rtlCol="0" anchor="t"/>
          <a:lstStyle/>
          <a:p>
            <a:pPr algn="l" indent="0" marL="0">
              <a:buNone/>
            </a:pPr>
            <a:r>
              <a:rPr lang="en-US" sz="3200" b="1" dirty="0">
                <a:solidFill>
                  <a:srgbClr val="102A43"/>
                </a:solidFill>
                <a:latin typeface="Aptos Display" pitchFamily="34" charset="0"/>
                <a:ea typeface="Aptos Display" pitchFamily="34" charset="-122"/>
                <a:cs typeface="Aptos Display" pitchFamily="34" charset="-120"/>
              </a:rPr>
              <a:t>25 %</a:t>
            </a:r>
            <a:endParaRPr lang="en-US" sz="3200" dirty="0"/>
          </a:p>
        </p:txBody>
      </p:sp>
      <p:sp>
        <p:nvSpPr>
          <p:cNvPr id="19" name="Text 16"/>
          <p:cNvSpPr txBox="1"/>
          <p:nvPr/>
        </p:nvSpPr>
        <p:spPr>
          <a:xfrm>
            <a:off x="6382512" y="3255264"/>
            <a:ext cx="2286000" cy="310896"/>
          </a:xfrm>
          <a:prstGeom prst="rect">
            <a:avLst/>
          </a:prstGeom>
          <a:noFill/>
          <a:ln/>
        </p:spPr>
        <p:txBody>
          <a:bodyPr wrap="square" lIns="0" tIns="0" rIns="0" bIns="0" rtlCol="0" anchor="t"/>
          <a:lstStyle/>
          <a:p>
            <a:pPr algn="l" indent="0" marL="0">
              <a:lnSpc>
                <a:spcPct val="110000"/>
              </a:lnSpc>
              <a:buNone/>
            </a:pPr>
            <a:r>
              <a:rPr lang="en-US" sz="1140" b="1" dirty="0">
                <a:solidFill>
                  <a:srgbClr val="102A43"/>
                </a:solidFill>
                <a:latin typeface="Aptos" pitchFamily="34" charset="0"/>
                <a:ea typeface="Aptos" pitchFamily="34" charset="-122"/>
                <a:cs typeface="Aptos" pitchFamily="34" charset="-120"/>
              </a:rPr>
              <a:t>de los casos aumentó la cobertura</a:t>
            </a:r>
            <a:endParaRPr lang="en-US" sz="1140" dirty="0"/>
          </a:p>
        </p:txBody>
      </p:sp>
      <p:sp>
        <p:nvSpPr>
          <p:cNvPr id="20" name="Shape 17"/>
          <p:cNvSpPr/>
          <p:nvPr/>
        </p:nvSpPr>
        <p:spPr>
          <a:xfrm>
            <a:off x="8942832" y="2633472"/>
            <a:ext cx="2615184" cy="1024128"/>
          </a:xfrm>
          <a:prstGeom prst="rect">
            <a:avLst/>
          </a:prstGeom>
          <a:solidFill>
            <a:srgbClr val="1D3A57"/>
          </a:solidFill>
          <a:ln w="12700">
            <a:solidFill>
              <a:srgbClr val="1D3A57"/>
            </a:solidFill>
            <a:prstDash val="solid"/>
          </a:ln>
        </p:spPr>
      </p:sp>
      <p:sp>
        <p:nvSpPr>
          <p:cNvPr id="21" name="Text 18"/>
          <p:cNvSpPr txBox="1"/>
          <p:nvPr/>
        </p:nvSpPr>
        <p:spPr>
          <a:xfrm>
            <a:off x="9144000" y="2724912"/>
            <a:ext cx="2286000" cy="493776"/>
          </a:xfrm>
          <a:prstGeom prst="rect">
            <a:avLst/>
          </a:prstGeom>
          <a:noFill/>
          <a:ln/>
        </p:spPr>
        <p:txBody>
          <a:bodyPr wrap="square" lIns="0" tIns="0" rIns="0" bIns="0" rtlCol="0" anchor="t"/>
          <a:lstStyle/>
          <a:p>
            <a:pPr algn="l" indent="0" marL="0">
              <a:buNone/>
            </a:pPr>
            <a:r>
              <a:rPr lang="en-US" sz="3200" b="1" dirty="0">
                <a:solidFill>
                  <a:srgbClr val="EADFD0"/>
                </a:solidFill>
                <a:latin typeface="Aptos Display" pitchFamily="34" charset="0"/>
                <a:ea typeface="Aptos Display" pitchFamily="34" charset="-122"/>
                <a:cs typeface="Aptos Display" pitchFamily="34" charset="-120"/>
              </a:rPr>
              <a:t>73 %</a:t>
            </a:r>
            <a:endParaRPr lang="en-US" sz="3200" dirty="0"/>
          </a:p>
        </p:txBody>
      </p:sp>
      <p:sp>
        <p:nvSpPr>
          <p:cNvPr id="22" name="Text 19"/>
          <p:cNvSpPr txBox="1"/>
          <p:nvPr/>
        </p:nvSpPr>
        <p:spPr>
          <a:xfrm>
            <a:off x="9144000" y="3255264"/>
            <a:ext cx="2286000" cy="310896"/>
          </a:xfrm>
          <a:prstGeom prst="rect">
            <a:avLst/>
          </a:prstGeom>
          <a:noFill/>
          <a:ln/>
        </p:spPr>
        <p:txBody>
          <a:bodyPr wrap="square" lIns="0" tIns="0" rIns="0" bIns="0" rtlCol="0" anchor="t"/>
          <a:lstStyle/>
          <a:p>
            <a:pPr algn="l" indent="0" marL="0">
              <a:lnSpc>
                <a:spcPct val="110000"/>
              </a:lnSpc>
              <a:buNone/>
            </a:pPr>
            <a:r>
              <a:rPr lang="en-US" sz="1140" dirty="0">
                <a:solidFill>
                  <a:srgbClr val="E6EEF7"/>
                </a:solidFill>
                <a:latin typeface="Aptos" pitchFamily="34" charset="0"/>
                <a:ea typeface="Aptos" pitchFamily="34" charset="-122"/>
                <a:cs typeface="Aptos" pitchFamily="34" charset="-120"/>
              </a:rPr>
              <a:t>de las recomendaciones fue aceptado para producción</a:t>
            </a:r>
            <a:endParaRPr lang="en-US" sz="1140" dirty="0"/>
          </a:p>
        </p:txBody>
      </p:sp>
      <p:sp>
        <p:nvSpPr>
          <p:cNvPr id="23" name="Shape 20"/>
          <p:cNvSpPr/>
          <p:nvPr/>
        </p:nvSpPr>
        <p:spPr>
          <a:xfrm>
            <a:off x="658368" y="3822192"/>
            <a:ext cx="10874959" cy="512064"/>
          </a:xfrm>
          <a:prstGeom prst="rect">
            <a:avLst/>
          </a:prstGeom>
          <a:solidFill>
            <a:srgbClr val="1D3A57"/>
          </a:solidFill>
          <a:ln w="12700">
            <a:solidFill>
              <a:srgbClr val="1D3A57"/>
            </a:solidFill>
            <a:prstDash val="solid"/>
          </a:ln>
        </p:spPr>
      </p:sp>
      <p:sp>
        <p:nvSpPr>
          <p:cNvPr id="24" name="Text 21"/>
          <p:cNvSpPr txBox="1"/>
          <p:nvPr/>
        </p:nvSpPr>
        <p:spPr>
          <a:xfrm>
            <a:off x="932688" y="3895344"/>
            <a:ext cx="10326319" cy="365760"/>
          </a:xfrm>
          <a:prstGeom prst="rect">
            <a:avLst/>
          </a:prstGeom>
          <a:noFill/>
          <a:ln/>
        </p:spPr>
        <p:txBody>
          <a:bodyPr wrap="square" lIns="0" tIns="0" rIns="0" bIns="0" rtlCol="0" anchor="ctr"/>
          <a:lstStyle/>
          <a:p>
            <a:pPr algn="l" indent="0" marL="0">
              <a:buNone/>
            </a:pPr>
            <a:r>
              <a:rPr lang="en-US" sz="1300" dirty="0">
                <a:solidFill>
                  <a:srgbClr val="FFFFFF"/>
                </a:solidFill>
                <a:latin typeface="Aptos" pitchFamily="34" charset="0"/>
                <a:ea typeface="Aptos" pitchFamily="34" charset="-122"/>
                <a:cs typeface="Aptos" pitchFamily="34" charset="-120"/>
              </a:rPr>
              <a:t>Tres de cada cuatro pruebas generadas NO agregaron recorrido. En una empresa con esas capacidades y sobre sus propios productos.</a:t>
            </a:r>
            <a:endParaRPr lang="en-US" sz="1300" dirty="0"/>
          </a:p>
        </p:txBody>
      </p:sp>
      <p:sp>
        <p:nvSpPr>
          <p:cNvPr id="25" name="Text 22"/>
          <p:cNvSpPr txBox="1"/>
          <p:nvPr/>
        </p:nvSpPr>
        <p:spPr>
          <a:xfrm>
            <a:off x="658368" y="4480560"/>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Y LO DECISIVO NO ES LA CIFRA, ES EL DISEÑO</a:t>
            </a:r>
            <a:endParaRPr lang="en-US" sz="960" dirty="0"/>
          </a:p>
        </p:txBody>
      </p:sp>
      <p:sp>
        <p:nvSpPr>
          <p:cNvPr id="26" name="Shape 23"/>
          <p:cNvSpPr/>
          <p:nvPr/>
        </p:nvSpPr>
        <p:spPr>
          <a:xfrm>
            <a:off x="658368" y="4754880"/>
            <a:ext cx="10874959" cy="438912"/>
          </a:xfrm>
          <a:prstGeom prst="rect">
            <a:avLst/>
          </a:prstGeom>
          <a:solidFill>
            <a:srgbClr val="102A43"/>
          </a:solidFill>
          <a:ln w="12700">
            <a:solidFill>
              <a:srgbClr val="102A43"/>
            </a:solidFill>
            <a:prstDash val="solid"/>
          </a:ln>
        </p:spPr>
      </p:sp>
      <p:sp>
        <p:nvSpPr>
          <p:cNvPr id="27" name="Shape 24"/>
          <p:cNvSpPr/>
          <p:nvPr/>
        </p:nvSpPr>
        <p:spPr>
          <a:xfrm>
            <a:off x="658368" y="4754880"/>
            <a:ext cx="64008" cy="438912"/>
          </a:xfrm>
          <a:prstGeom prst="rect">
            <a:avLst/>
          </a:prstGeom>
          <a:solidFill>
            <a:srgbClr val="E0BC5A"/>
          </a:solidFill>
          <a:ln w="12700">
            <a:solidFill>
              <a:srgbClr val="E0BC5A"/>
            </a:solidFill>
            <a:prstDash val="solid"/>
          </a:ln>
        </p:spPr>
      </p:sp>
      <p:sp>
        <p:nvSpPr>
          <p:cNvPr id="28" name="Text 25"/>
          <p:cNvSpPr txBox="1"/>
          <p:nvPr/>
        </p:nvSpPr>
        <p:spPr>
          <a:xfrm>
            <a:off x="969264" y="4864608"/>
            <a:ext cx="10308031" cy="219456"/>
          </a:xfrm>
          <a:prstGeom prst="rect">
            <a:avLst/>
          </a:prstGeom>
          <a:noFill/>
          <a:ln/>
        </p:spPr>
        <p:txBody>
          <a:bodyPr wrap="square" lIns="0" tIns="0" rIns="0" bIns="0" rtlCol="0" anchor="ctr"/>
          <a:lstStyle/>
          <a:p>
            <a:pPr algn="l" indent="0" marL="0">
              <a:lnSpc>
                <a:spcPct val="118000"/>
              </a:lnSpc>
              <a:buNone/>
            </a:pPr>
            <a:r>
              <a:rPr lang="en-US" sz="1160" i="1" dirty="0">
                <a:solidFill>
                  <a:srgbClr val="FFFFFF"/>
                </a:solidFill>
                <a:latin typeface="Aptos" pitchFamily="34" charset="0"/>
                <a:ea typeface="Aptos" pitchFamily="34" charset="-122"/>
                <a:cs typeface="Aptos" pitchFamily="34" charset="-120"/>
              </a:rPr>
              <a:t>“verifies that its generated test classes successfully clear a set of filters that assure measurable improvement over the original test suite”</a:t>
            </a:r>
            <a:endParaRPr lang="en-US" sz="1160" dirty="0"/>
          </a:p>
        </p:txBody>
      </p:sp>
      <p:sp>
        <p:nvSpPr>
          <p:cNvPr id="29" name="Shape 26"/>
          <p:cNvSpPr/>
          <p:nvPr/>
        </p:nvSpPr>
        <p:spPr>
          <a:xfrm>
            <a:off x="658368" y="5230368"/>
            <a:ext cx="10874959" cy="438912"/>
          </a:xfrm>
          <a:prstGeom prst="rect">
            <a:avLst/>
          </a:prstGeom>
          <a:solidFill>
            <a:srgbClr val="1D3A57"/>
          </a:solidFill>
          <a:ln w="12700">
            <a:solidFill>
              <a:srgbClr val="1D3A57"/>
            </a:solidFill>
            <a:prstDash val="solid"/>
          </a:ln>
        </p:spPr>
      </p:sp>
      <p:sp>
        <p:nvSpPr>
          <p:cNvPr id="30" name="Shape 27"/>
          <p:cNvSpPr/>
          <p:nvPr/>
        </p:nvSpPr>
        <p:spPr>
          <a:xfrm>
            <a:off x="658368" y="5230368"/>
            <a:ext cx="64008" cy="438912"/>
          </a:xfrm>
          <a:prstGeom prst="rect">
            <a:avLst/>
          </a:prstGeom>
          <a:solidFill>
            <a:srgbClr val="EADFD0"/>
          </a:solidFill>
          <a:ln w="12700">
            <a:solidFill>
              <a:srgbClr val="EADFD0"/>
            </a:solidFill>
            <a:prstDash val="solid"/>
          </a:ln>
        </p:spPr>
      </p:sp>
      <p:sp>
        <p:nvSpPr>
          <p:cNvPr id="31" name="Text 28"/>
          <p:cNvSpPr txBox="1"/>
          <p:nvPr/>
        </p:nvSpPr>
        <p:spPr>
          <a:xfrm>
            <a:off x="969264" y="5340096"/>
            <a:ext cx="10308031" cy="219456"/>
          </a:xfrm>
          <a:prstGeom prst="rect">
            <a:avLst/>
          </a:prstGeom>
          <a:noFill/>
          <a:ln/>
        </p:spPr>
        <p:txBody>
          <a:bodyPr wrap="square" lIns="0" tIns="0" rIns="0" bIns="0" rtlCol="0" anchor="ctr"/>
          <a:lstStyle/>
          <a:p>
            <a:pPr algn="l" indent="0" marL="0">
              <a:lnSpc>
                <a:spcPct val="118000"/>
              </a:lnSpc>
              <a:buNone/>
            </a:pPr>
            <a:r>
              <a:rPr lang="en-US" sz="1160" i="1" dirty="0">
                <a:solidFill>
                  <a:srgbClr val="EADFD0"/>
                </a:solidFill>
                <a:latin typeface="Aptos" pitchFamily="34" charset="0"/>
                <a:ea typeface="Aptos" pitchFamily="34" charset="-122"/>
                <a:cs typeface="Aptos" pitchFamily="34" charset="-120"/>
              </a:rPr>
              <a:t>“comprueba que las clases de prueba que genera superen un conjunto de filtros que aseguran una mejora medible sobre la suite original”</a:t>
            </a:r>
            <a:endParaRPr lang="en-US" sz="1160" dirty="0"/>
          </a:p>
        </p:txBody>
      </p:sp>
      <p:sp>
        <p:nvSpPr>
          <p:cNvPr id="32" name="Text 29"/>
          <p:cNvSpPr txBox="1"/>
          <p:nvPr/>
        </p:nvSpPr>
        <p:spPr>
          <a:xfrm>
            <a:off x="658368" y="5760720"/>
            <a:ext cx="10424160" cy="237744"/>
          </a:xfrm>
          <a:prstGeom prst="rect">
            <a:avLst/>
          </a:prstGeom>
          <a:noFill/>
          <a:ln/>
        </p:spPr>
        <p:txBody>
          <a:bodyPr wrap="square" lIns="0" tIns="0" rIns="0" bIns="0" rtlCol="0" anchor="t"/>
          <a:lstStyle/>
          <a:p>
            <a:pPr algn="l" indent="0" marL="0">
              <a:buNone/>
            </a:pPr>
            <a:r>
              <a:rPr lang="en-US" sz="1220" b="1" dirty="0">
                <a:solidFill>
                  <a:srgbClr val="E0BC5A"/>
                </a:solidFill>
                <a:latin typeface="Aptos" pitchFamily="34" charset="0"/>
                <a:ea typeface="Aptos" pitchFamily="34" charset="-122"/>
                <a:cs typeface="Aptos" pitchFamily="34" charset="-120"/>
              </a:rPr>
              <a:t>El criterio que decide qué pruebas sobreviven es externo al agente y está escrito por el equipo.</a:t>
            </a:r>
            <a:endParaRPr lang="en-US" sz="1220" dirty="0"/>
          </a:p>
        </p:txBody>
      </p:sp>
      <p:sp>
        <p:nvSpPr>
          <p:cNvPr id="33" name="Shape 30"/>
          <p:cNvSpPr/>
          <p:nvPr/>
        </p:nvSpPr>
        <p:spPr>
          <a:xfrm>
            <a:off x="658368" y="6071616"/>
            <a:ext cx="45720" cy="182880"/>
          </a:xfrm>
          <a:prstGeom prst="rect">
            <a:avLst/>
          </a:prstGeom>
          <a:solidFill>
            <a:srgbClr val="E0BC5A"/>
          </a:solidFill>
          <a:ln w="12700">
            <a:solidFill>
              <a:srgbClr val="E0BC5A"/>
            </a:solidFill>
            <a:prstDash val="solid"/>
          </a:ln>
        </p:spPr>
      </p:sp>
      <p:sp>
        <p:nvSpPr>
          <p:cNvPr id="34" name="Text 31"/>
          <p:cNvSpPr txBox="1"/>
          <p:nvPr/>
        </p:nvSpPr>
        <p:spPr>
          <a:xfrm>
            <a:off x="804672" y="6062472"/>
            <a:ext cx="96012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Alshahwan et al. (Meta) · arXiv:2402.09171 · 14 de febrero de 2024</a:t>
            </a:r>
            <a:endParaRPr lang="en-US" sz="9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QUÉ SE PUEDE CONCLUIR Y QUÉ NO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Los límites de esa evidencia, dichos en voz alta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 resultado sólido sobre un caso concreto no es una ley general. Conviene separar las dos cosas.</a:t>
            </a:r>
            <a:endParaRPr lang="en-US" sz="1450" dirty="0"/>
          </a:p>
        </p:txBody>
      </p:sp>
      <p:sp>
        <p:nvSpPr>
          <p:cNvPr id="11" name="Shape 8"/>
          <p:cNvSpPr/>
          <p:nvPr/>
        </p:nvSpPr>
        <p:spPr>
          <a:xfrm>
            <a:off x="658368" y="2377440"/>
            <a:ext cx="5175504" cy="2286000"/>
          </a:xfrm>
          <a:prstGeom prst="rect">
            <a:avLst/>
          </a:prstGeom>
          <a:solidFill>
            <a:srgbClr val="FFFFFF"/>
          </a:solidFill>
          <a:ln w="12700">
            <a:solidFill>
              <a:srgbClr val="FFFFFF"/>
            </a:solidFill>
            <a:prstDash val="solid"/>
          </a:ln>
        </p:spPr>
      </p:sp>
      <p:sp>
        <p:nvSpPr>
          <p:cNvPr id="12" name="Shape 9"/>
          <p:cNvSpPr/>
          <p:nvPr/>
        </p:nvSpPr>
        <p:spPr>
          <a:xfrm>
            <a:off x="658368" y="2377440"/>
            <a:ext cx="5175504" cy="54864"/>
          </a:xfrm>
          <a:prstGeom prst="rect">
            <a:avLst/>
          </a:prstGeom>
          <a:solidFill>
            <a:srgbClr val="B3181E"/>
          </a:solidFill>
          <a:ln w="12700">
            <a:solidFill>
              <a:srgbClr val="B3181E"/>
            </a:solidFill>
            <a:prstDash val="solid"/>
          </a:ln>
        </p:spPr>
      </p:sp>
      <p:sp>
        <p:nvSpPr>
          <p:cNvPr id="13" name="Text 10"/>
          <p:cNvSpPr txBox="1"/>
          <p:nvPr/>
        </p:nvSpPr>
        <p:spPr>
          <a:xfrm>
            <a:off x="914400" y="2578608"/>
            <a:ext cx="45720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NO ESTABLECE</a:t>
            </a:r>
            <a:endParaRPr lang="en-US" sz="960" dirty="0"/>
          </a:p>
        </p:txBody>
      </p:sp>
      <p:sp>
        <p:nvSpPr>
          <p:cNvPr id="14" name="Shape 11"/>
          <p:cNvSpPr/>
          <p:nvPr/>
        </p:nvSpPr>
        <p:spPr>
          <a:xfrm>
            <a:off x="914400" y="2944368"/>
            <a:ext cx="45720" cy="384048"/>
          </a:xfrm>
          <a:prstGeom prst="rect">
            <a:avLst/>
          </a:prstGeom>
          <a:solidFill>
            <a:srgbClr val="B3181E"/>
          </a:solidFill>
          <a:ln w="12700">
            <a:solidFill>
              <a:srgbClr val="B3181E"/>
            </a:solidFill>
            <a:prstDash val="solid"/>
          </a:ln>
        </p:spPr>
      </p:sp>
      <p:sp>
        <p:nvSpPr>
          <p:cNvPr id="15" name="Text 12"/>
          <p:cNvSpPr txBox="1"/>
          <p:nvPr/>
        </p:nvSpPr>
        <p:spPr>
          <a:xfrm>
            <a:off x="1115568" y="2889504"/>
            <a:ext cx="4480560" cy="493776"/>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Qué tan bien escribe pruebas un agente en general.</a:t>
            </a:r>
            <a:endParaRPr lang="en-US" sz="1180" dirty="0"/>
          </a:p>
        </p:txBody>
      </p:sp>
      <p:sp>
        <p:nvSpPr>
          <p:cNvPr id="16" name="Shape 13"/>
          <p:cNvSpPr/>
          <p:nvPr/>
        </p:nvSpPr>
        <p:spPr>
          <a:xfrm>
            <a:off x="914400" y="3511296"/>
            <a:ext cx="45720" cy="384048"/>
          </a:xfrm>
          <a:prstGeom prst="rect">
            <a:avLst/>
          </a:prstGeom>
          <a:solidFill>
            <a:srgbClr val="B3181E"/>
          </a:solidFill>
          <a:ln w="12700">
            <a:solidFill>
              <a:srgbClr val="B3181E"/>
            </a:solidFill>
            <a:prstDash val="solid"/>
          </a:ln>
        </p:spPr>
      </p:sp>
      <p:sp>
        <p:nvSpPr>
          <p:cNvPr id="17" name="Text 14"/>
          <p:cNvSpPr txBox="1"/>
          <p:nvPr/>
        </p:nvSpPr>
        <p:spPr>
          <a:xfrm>
            <a:off x="1115568" y="3456432"/>
            <a:ext cx="4480560" cy="493776"/>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Es una empresa, sobre sus propios sistemas, con sus propios filtros.</a:t>
            </a:r>
            <a:endParaRPr lang="en-US" sz="1180" dirty="0"/>
          </a:p>
        </p:txBody>
      </p:sp>
      <p:sp>
        <p:nvSpPr>
          <p:cNvPr id="18" name="Shape 15"/>
          <p:cNvSpPr/>
          <p:nvPr/>
        </p:nvSpPr>
        <p:spPr>
          <a:xfrm>
            <a:off x="914400" y="4078224"/>
            <a:ext cx="45720" cy="384048"/>
          </a:xfrm>
          <a:prstGeom prst="rect">
            <a:avLst/>
          </a:prstGeom>
          <a:solidFill>
            <a:srgbClr val="B3181E"/>
          </a:solidFill>
          <a:ln w="12700">
            <a:solidFill>
              <a:srgbClr val="B3181E"/>
            </a:solidFill>
            <a:prstDash val="solid"/>
          </a:ln>
        </p:spPr>
      </p:sp>
      <p:sp>
        <p:nvSpPr>
          <p:cNvPr id="19" name="Text 16"/>
          <p:cNvSpPr txBox="1"/>
          <p:nvPr/>
        </p:nvSpPr>
        <p:spPr>
          <a:xfrm>
            <a:off x="1115568" y="4023360"/>
            <a:ext cx="4480560" cy="493776"/>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El artículo relata un despliegue, no un experimento con grupo de comparación.</a:t>
            </a:r>
            <a:endParaRPr lang="en-US" sz="1180" dirty="0"/>
          </a:p>
        </p:txBody>
      </p:sp>
      <p:sp>
        <p:nvSpPr>
          <p:cNvPr id="20" name="Shape 17"/>
          <p:cNvSpPr/>
          <p:nvPr/>
        </p:nvSpPr>
        <p:spPr>
          <a:xfrm>
            <a:off x="6364224" y="2377440"/>
            <a:ext cx="5175504" cy="2286000"/>
          </a:xfrm>
          <a:prstGeom prst="rect">
            <a:avLst/>
          </a:prstGeom>
          <a:solidFill>
            <a:srgbClr val="FFFFFF"/>
          </a:solidFill>
          <a:ln w="12700">
            <a:solidFill>
              <a:srgbClr val="FFFFFF"/>
            </a:solidFill>
            <a:prstDash val="solid"/>
          </a:ln>
        </p:spPr>
      </p:sp>
      <p:sp>
        <p:nvSpPr>
          <p:cNvPr id="21" name="Shape 18"/>
          <p:cNvSpPr/>
          <p:nvPr/>
        </p:nvSpPr>
        <p:spPr>
          <a:xfrm>
            <a:off x="6364224" y="2377440"/>
            <a:ext cx="5175504" cy="54864"/>
          </a:xfrm>
          <a:prstGeom prst="rect">
            <a:avLst/>
          </a:prstGeom>
          <a:solidFill>
            <a:srgbClr val="2E7D4F"/>
          </a:solidFill>
          <a:ln w="12700">
            <a:solidFill>
              <a:srgbClr val="2E7D4F"/>
            </a:solidFill>
            <a:prstDash val="solid"/>
          </a:ln>
        </p:spPr>
      </p:sp>
      <p:sp>
        <p:nvSpPr>
          <p:cNvPr id="22" name="Text 19"/>
          <p:cNvSpPr txBox="1"/>
          <p:nvPr/>
        </p:nvSpPr>
        <p:spPr>
          <a:xfrm>
            <a:off x="6620256" y="2578608"/>
            <a:ext cx="457200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LO QUE SÍ ES TRANSFERIBLE</a:t>
            </a:r>
            <a:endParaRPr lang="en-US" sz="960" dirty="0"/>
          </a:p>
        </p:txBody>
      </p:sp>
      <p:sp>
        <p:nvSpPr>
          <p:cNvPr id="23" name="Shape 20"/>
          <p:cNvSpPr/>
          <p:nvPr/>
        </p:nvSpPr>
        <p:spPr>
          <a:xfrm>
            <a:off x="6620256" y="2944368"/>
            <a:ext cx="45720" cy="384048"/>
          </a:xfrm>
          <a:prstGeom prst="rect">
            <a:avLst/>
          </a:prstGeom>
          <a:solidFill>
            <a:srgbClr val="2E7D4F"/>
          </a:solidFill>
          <a:ln w="12700">
            <a:solidFill>
              <a:srgbClr val="2E7D4F"/>
            </a:solidFill>
            <a:prstDash val="solid"/>
          </a:ln>
        </p:spPr>
      </p:sp>
      <p:sp>
        <p:nvSpPr>
          <p:cNvPr id="24" name="Text 21"/>
          <p:cNvSpPr txBox="1"/>
          <p:nvPr/>
        </p:nvSpPr>
        <p:spPr>
          <a:xfrm>
            <a:off x="6821424" y="2889504"/>
            <a:ext cx="4480560" cy="493776"/>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Un equipo que trabaja a esa escala decidió que el paso imprescindible no era generar.</a:t>
            </a:r>
            <a:endParaRPr lang="en-US" sz="1180" dirty="0"/>
          </a:p>
        </p:txBody>
      </p:sp>
      <p:sp>
        <p:nvSpPr>
          <p:cNvPr id="25" name="Shape 22"/>
          <p:cNvSpPr/>
          <p:nvPr/>
        </p:nvSpPr>
        <p:spPr>
          <a:xfrm>
            <a:off x="6620256" y="3511296"/>
            <a:ext cx="45720" cy="384048"/>
          </a:xfrm>
          <a:prstGeom prst="rect">
            <a:avLst/>
          </a:prstGeom>
          <a:solidFill>
            <a:srgbClr val="2E7D4F"/>
          </a:solidFill>
          <a:ln w="12700">
            <a:solidFill>
              <a:srgbClr val="2E7D4F"/>
            </a:solidFill>
            <a:prstDash val="solid"/>
          </a:ln>
        </p:spPr>
      </p:sp>
      <p:sp>
        <p:nvSpPr>
          <p:cNvPr id="26" name="Text 23"/>
          <p:cNvSpPr txBox="1"/>
          <p:nvPr/>
        </p:nvSpPr>
        <p:spPr>
          <a:xfrm>
            <a:off x="6821424" y="3456432"/>
            <a:ext cx="4480560" cy="493776"/>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Era medir cada prueba generada contra la suite que ya existía.</a:t>
            </a:r>
            <a:endParaRPr lang="en-US" sz="1180" dirty="0"/>
          </a:p>
        </p:txBody>
      </p:sp>
      <p:sp>
        <p:nvSpPr>
          <p:cNvPr id="27" name="Shape 24"/>
          <p:cNvSpPr/>
          <p:nvPr/>
        </p:nvSpPr>
        <p:spPr>
          <a:xfrm>
            <a:off x="6620256" y="4078224"/>
            <a:ext cx="45720" cy="384048"/>
          </a:xfrm>
          <a:prstGeom prst="rect">
            <a:avLst/>
          </a:prstGeom>
          <a:solidFill>
            <a:srgbClr val="2E7D4F"/>
          </a:solidFill>
          <a:ln w="12700">
            <a:solidFill>
              <a:srgbClr val="2E7D4F"/>
            </a:solidFill>
            <a:prstDash val="solid"/>
          </a:ln>
        </p:spPr>
      </p:sp>
      <p:sp>
        <p:nvSpPr>
          <p:cNvPr id="28" name="Text 25"/>
          <p:cNvSpPr txBox="1"/>
          <p:nvPr/>
        </p:nvSpPr>
        <p:spPr>
          <a:xfrm>
            <a:off x="6821424" y="4023360"/>
            <a:ext cx="4480560" cy="493776"/>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Es el mismo movimiento que hace --cov-report=term-missing sobre el proyecto.</a:t>
            </a:r>
            <a:endParaRPr lang="en-US" sz="1180" dirty="0"/>
          </a:p>
        </p:txBody>
      </p:sp>
      <p:sp>
        <p:nvSpPr>
          <p:cNvPr id="29" name="Shape 26"/>
          <p:cNvSpPr/>
          <p:nvPr/>
        </p:nvSpPr>
        <p:spPr>
          <a:xfrm>
            <a:off x="658368" y="4882896"/>
            <a:ext cx="10874959" cy="530352"/>
          </a:xfrm>
          <a:prstGeom prst="rect">
            <a:avLst/>
          </a:prstGeom>
          <a:solidFill>
            <a:srgbClr val="102A43"/>
          </a:solidFill>
          <a:ln w="12700">
            <a:solidFill>
              <a:srgbClr val="102A43"/>
            </a:solidFill>
            <a:prstDash val="solid"/>
          </a:ln>
        </p:spPr>
      </p:sp>
      <p:sp>
        <p:nvSpPr>
          <p:cNvPr id="30" name="Text 27"/>
          <p:cNvSpPr txBox="1"/>
          <p:nvPr/>
        </p:nvSpPr>
        <p:spPr>
          <a:xfrm>
            <a:off x="969264" y="4919472"/>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Queda una pregunta que ese filtro contesta solo a medias: si una prueba entra por recorrer una línea nueva, ¿alcanza eso para afirmar que verifica algo?</a:t>
            </a:r>
            <a:endParaRPr lang="en-US" sz="1400" dirty="0"/>
          </a:p>
        </p:txBody>
      </p:sp>
      <p:sp>
        <p:nvSpPr>
          <p:cNvPr id="31" name="Text 28"/>
          <p:cNvSpPr txBox="1"/>
          <p:nvPr/>
        </p:nvSpPr>
        <p:spPr>
          <a:xfrm>
            <a:off x="658368" y="5614416"/>
            <a:ext cx="10874959" cy="274320"/>
          </a:xfrm>
          <a:prstGeom prst="rect">
            <a:avLst/>
          </a:prstGeom>
          <a:noFill/>
          <a:ln/>
        </p:spPr>
        <p:txBody>
          <a:bodyPr wrap="square" lIns="0" tIns="0" rIns="0" bIns="0" rtlCol="0" anchor="t"/>
          <a:lstStyle/>
          <a:p>
            <a:pPr algn="ctr" indent="0" marL="0">
              <a:buNone/>
            </a:pPr>
            <a:r>
              <a:rPr lang="en-US" sz="1400" i="1" dirty="0">
                <a:solidFill>
                  <a:srgbClr val="52606D"/>
                </a:solidFill>
                <a:latin typeface="Aptos" pitchFamily="34" charset="0"/>
                <a:ea typeface="Aptos" pitchFamily="34" charset="-122"/>
                <a:cs typeface="Aptos" pitchFamily="34" charset="-120"/>
              </a:rPr>
              <a:t>Es el asunto del bloque que viene.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antes de seguir</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 suite informa 88 % y deja dos funciones completas sin ejecutar. Si mañana alguien agrega una tercera función sin pruebas, ¿el porcentaje sube, baja o se queda igual?</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Piensa por separado en qué le pasa al numerador y qué le pasa al denominador.</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Si una misma prueba —mismas entradas, mismo assert— se pudo derivar del requisito o del código, ¿cómo se distingue después cuál fue, y por qué importa saberlo?</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El archivo de pruebas no guarda esa información. ¿Qué queda escrito del origen del esperado?</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Meta usa el aumento de cobertura como filtro para aceptar una prueba generada. ¿Qué clase de prueba inútil pasa ese filtro sin problemas?</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Una prueba puede ejecutar una línea nueva sin comprobar nada sobre lo que esa línea produce.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CONTRASTE</a:t>
            </a:r>
            <a:endParaRPr lang="en-US" sz="1030" dirty="0"/>
          </a:p>
        </p:txBody>
      </p:sp>
      <p:sp>
        <p:nvSpPr>
          <p:cNvPr id="9" name="Text 6"/>
          <p:cNvSpPr txBox="1"/>
          <p:nvPr/>
        </p:nvSpPr>
        <p:spPr>
          <a:xfrm>
            <a:off x="658368" y="749808"/>
            <a:ext cx="9418320" cy="566928"/>
          </a:xfrm>
          <a:prstGeom prst="rect">
            <a:avLst/>
          </a:prstGeom>
          <a:noFill/>
          <a:ln/>
        </p:spPr>
        <p:txBody>
          <a:bodyPr wrap="square" lIns="0" tIns="0" rIns="0" bIns="0" rtlCol="0" anchor="t"/>
          <a:lstStyle/>
          <a:p>
            <a:pPr algn="l" indent="0" marL="0">
              <a:buNone/>
            </a:pPr>
            <a:r>
              <a:rPr lang="en-US" sz="2500" b="1" dirty="0">
                <a:solidFill>
                  <a:srgbClr val="243B53"/>
                </a:solidFill>
                <a:latin typeface="Aptos Display" pitchFamily="34" charset="0"/>
                <a:ea typeface="Aptos Display" pitchFamily="34" charset="-122"/>
                <a:cs typeface="Aptos Display" pitchFamily="34" charset="-120"/>
              </a:rPr>
              <a:t>Lo que tenía que aparecer</a:t>
            </a:r>
            <a:endParaRPr lang="en-US" sz="2500" dirty="0"/>
          </a:p>
        </p:txBody>
      </p:sp>
      <p:sp>
        <p:nvSpPr>
          <p:cNvPr id="10" name="Shape 7"/>
          <p:cNvSpPr/>
          <p:nvPr/>
        </p:nvSpPr>
        <p:spPr>
          <a:xfrm>
            <a:off x="658368" y="1517904"/>
            <a:ext cx="10874959" cy="1536192"/>
          </a:xfrm>
          <a:prstGeom prst="rect">
            <a:avLst/>
          </a:prstGeom>
          <a:solidFill>
            <a:srgbClr val="FFFFFF"/>
          </a:solidFill>
          <a:ln w="12700">
            <a:solidFill>
              <a:srgbClr val="FFFFFF"/>
            </a:solidFill>
            <a:prstDash val="solid"/>
          </a:ln>
        </p:spPr>
      </p:sp>
      <p:sp>
        <p:nvSpPr>
          <p:cNvPr id="11" name="Shape 8"/>
          <p:cNvSpPr/>
          <p:nvPr/>
        </p:nvSpPr>
        <p:spPr>
          <a:xfrm>
            <a:off x="658368" y="1517904"/>
            <a:ext cx="54864" cy="1536192"/>
          </a:xfrm>
          <a:prstGeom prst="rect">
            <a:avLst/>
          </a:prstGeom>
          <a:solidFill>
            <a:srgbClr val="B3181E"/>
          </a:solidFill>
          <a:ln w="12700">
            <a:solidFill>
              <a:srgbClr val="B3181E"/>
            </a:solidFill>
            <a:prstDash val="solid"/>
          </a:ln>
        </p:spPr>
      </p:sp>
      <p:sp>
        <p:nvSpPr>
          <p:cNvPr id="12" name="Text 9"/>
          <p:cNvSpPr txBox="1"/>
          <p:nvPr/>
        </p:nvSpPr>
        <p:spPr>
          <a:xfrm>
            <a:off x="950976" y="1700784"/>
            <a:ext cx="530352" cy="475488"/>
          </a:xfrm>
          <a:prstGeom prst="rect">
            <a:avLst/>
          </a:prstGeom>
          <a:noFill/>
          <a:ln/>
        </p:spPr>
        <p:txBody>
          <a:bodyPr wrap="square" lIns="0" tIns="0" rIns="0" bIns="0" rtlCol="0" anchor="t"/>
          <a:lstStyle/>
          <a:p>
            <a:pPr algn="l"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3" name="Text 10"/>
          <p:cNvSpPr txBox="1"/>
          <p:nvPr/>
        </p:nvSpPr>
        <p:spPr>
          <a:xfrm>
            <a:off x="1682496" y="1645920"/>
            <a:ext cx="9521647" cy="182880"/>
          </a:xfrm>
          <a:prstGeom prst="rect">
            <a:avLst/>
          </a:prstGeom>
          <a:noFill/>
          <a:ln/>
        </p:spPr>
        <p:txBody>
          <a:bodyPr wrap="square" lIns="0" tIns="0" rIns="0" bIns="0" rtlCol="0" anchor="t"/>
          <a:lstStyle/>
          <a:p>
            <a:pPr algn="l" indent="0" marL="0">
              <a:buNone/>
            </a:pPr>
            <a:r>
              <a:rPr lang="en-US" sz="880" b="1" spc="120" kern="0" dirty="0">
                <a:solidFill>
                  <a:srgbClr val="B3181E"/>
                </a:solidFill>
                <a:latin typeface="Aptos" pitchFamily="34" charset="0"/>
                <a:ea typeface="Aptos" pitchFamily="34" charset="-122"/>
                <a:cs typeface="Aptos" pitchFamily="34" charset="-120"/>
              </a:rPr>
              <a:t>BAJA, Y POR ESO NO SIRVE COMO INDICADOR DE AVANCE</a:t>
            </a:r>
            <a:endParaRPr lang="en-US" sz="880" dirty="0"/>
          </a:p>
        </p:txBody>
      </p:sp>
      <p:sp>
        <p:nvSpPr>
          <p:cNvPr id="14" name="Text 11"/>
          <p:cNvSpPr txBox="1"/>
          <p:nvPr/>
        </p:nvSpPr>
        <p:spPr>
          <a:xfrm>
            <a:off x="1682496" y="1883664"/>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El denominador crece y el numerador no. Agregar código sin pruebas hace bajar el porcentaje aunque nada se haya roto; y borrar código sin pruebas lo hace subir sin haber probado nada.</a:t>
            </a:r>
            <a:endParaRPr lang="en-US" sz="1300" dirty="0"/>
          </a:p>
        </p:txBody>
      </p:sp>
      <p:sp>
        <p:nvSpPr>
          <p:cNvPr id="15" name="Shape 12"/>
          <p:cNvSpPr/>
          <p:nvPr/>
        </p:nvSpPr>
        <p:spPr>
          <a:xfrm>
            <a:off x="1682496" y="2432304"/>
            <a:ext cx="9521647" cy="0"/>
          </a:xfrm>
          <a:prstGeom prst="line">
            <a:avLst/>
          </a:prstGeom>
          <a:noFill/>
          <a:ln w="12700">
            <a:solidFill>
              <a:srgbClr val="D8CFC4"/>
            </a:solidFill>
            <a:prstDash val="solid"/>
            <a:headEnd type="none"/>
            <a:tailEnd type="none"/>
          </a:ln>
        </p:spPr>
      </p:sp>
      <p:sp>
        <p:nvSpPr>
          <p:cNvPr id="16" name="Text 13"/>
          <p:cNvSpPr txBox="1"/>
          <p:nvPr/>
        </p:nvSpPr>
        <p:spPr>
          <a:xfrm>
            <a:off x="1682496"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17" name="Text 14"/>
          <p:cNvSpPr txBox="1"/>
          <p:nvPr/>
        </p:nvSpPr>
        <p:spPr>
          <a:xfrm>
            <a:off x="1682496" y="2688336"/>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Un número que se mueve por razones ajenas a la calidad de las pruebas.</a:t>
            </a:r>
            <a:endParaRPr lang="en-US" sz="1060" dirty="0"/>
          </a:p>
        </p:txBody>
      </p:sp>
      <p:sp>
        <p:nvSpPr>
          <p:cNvPr id="18" name="Shape 15"/>
          <p:cNvSpPr/>
          <p:nvPr/>
        </p:nvSpPr>
        <p:spPr>
          <a:xfrm>
            <a:off x="6443320" y="2487168"/>
            <a:ext cx="0" cy="457200"/>
          </a:xfrm>
          <a:prstGeom prst="line">
            <a:avLst/>
          </a:prstGeom>
          <a:noFill/>
          <a:ln w="12700">
            <a:solidFill>
              <a:srgbClr val="D8CFC4"/>
            </a:solidFill>
            <a:prstDash val="solid"/>
            <a:headEnd type="none"/>
            <a:tailEnd type="none"/>
          </a:ln>
        </p:spPr>
      </p:sp>
      <p:sp>
        <p:nvSpPr>
          <p:cNvPr id="19" name="Text 16"/>
          <p:cNvSpPr txBox="1"/>
          <p:nvPr/>
        </p:nvSpPr>
        <p:spPr>
          <a:xfrm>
            <a:off x="6699352"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20" name="Text 17"/>
          <p:cNvSpPr txBox="1"/>
          <p:nvPr/>
        </p:nvSpPr>
        <p:spPr>
          <a:xfrm>
            <a:off x="6699352" y="2688336"/>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«Se queda igual, porque las pruebas son las mismas.»</a:t>
            </a:r>
            <a:endParaRPr lang="en-US" sz="1060" dirty="0"/>
          </a:p>
        </p:txBody>
      </p:sp>
      <p:sp>
        <p:nvSpPr>
          <p:cNvPr id="21" name="Shape 18"/>
          <p:cNvSpPr/>
          <p:nvPr/>
        </p:nvSpPr>
        <p:spPr>
          <a:xfrm>
            <a:off x="658368" y="3145536"/>
            <a:ext cx="10874959" cy="1536192"/>
          </a:xfrm>
          <a:prstGeom prst="rect">
            <a:avLst/>
          </a:prstGeom>
          <a:solidFill>
            <a:srgbClr val="FFFFFF"/>
          </a:solidFill>
          <a:ln w="12700">
            <a:solidFill>
              <a:srgbClr val="FFFFFF"/>
            </a:solidFill>
            <a:prstDash val="solid"/>
          </a:ln>
        </p:spPr>
      </p:sp>
      <p:sp>
        <p:nvSpPr>
          <p:cNvPr id="22" name="Shape 19"/>
          <p:cNvSpPr/>
          <p:nvPr/>
        </p:nvSpPr>
        <p:spPr>
          <a:xfrm>
            <a:off x="658368" y="3145536"/>
            <a:ext cx="54864" cy="1536192"/>
          </a:xfrm>
          <a:prstGeom prst="rect">
            <a:avLst/>
          </a:prstGeom>
          <a:solidFill>
            <a:srgbClr val="102A43"/>
          </a:solidFill>
          <a:ln w="12700">
            <a:solidFill>
              <a:srgbClr val="102A43"/>
            </a:solidFill>
            <a:prstDash val="solid"/>
          </a:ln>
        </p:spPr>
      </p:sp>
      <p:sp>
        <p:nvSpPr>
          <p:cNvPr id="23" name="Text 20"/>
          <p:cNvSpPr txBox="1"/>
          <p:nvPr/>
        </p:nvSpPr>
        <p:spPr>
          <a:xfrm>
            <a:off x="950976" y="3328416"/>
            <a:ext cx="530352" cy="475488"/>
          </a:xfrm>
          <a:prstGeom prst="rect">
            <a:avLst/>
          </a:prstGeom>
          <a:noFill/>
          <a:ln/>
        </p:spPr>
        <p:txBody>
          <a:bodyPr wrap="square" lIns="0" tIns="0" rIns="0" bIns="0" rtlCol="0" anchor="t"/>
          <a:lstStyle/>
          <a:p>
            <a:pPr algn="l"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682496" y="3273552"/>
            <a:ext cx="9521647" cy="182880"/>
          </a:xfrm>
          <a:prstGeom prst="rect">
            <a:avLst/>
          </a:prstGeom>
          <a:noFill/>
          <a:ln/>
        </p:spPr>
        <p:txBody>
          <a:bodyPr wrap="square" lIns="0" tIns="0" rIns="0" bIns="0" rtlCol="0" anchor="t"/>
          <a:lstStyle/>
          <a:p>
            <a:pPr algn="l" indent="0" marL="0">
              <a:buNone/>
            </a:pPr>
            <a:r>
              <a:rPr lang="en-US" sz="880" b="1" spc="120" kern="0" dirty="0">
                <a:solidFill>
                  <a:srgbClr val="102A43"/>
                </a:solidFill>
                <a:latin typeface="Aptos" pitchFamily="34" charset="0"/>
                <a:ea typeface="Aptos" pitchFamily="34" charset="-122"/>
                <a:cs typeface="Aptos" pitchFamily="34" charset="-120"/>
              </a:rPr>
              <a:t>NO SE DISTINGUE: HAY QUE DEJARLO ESCRITO</a:t>
            </a:r>
            <a:endParaRPr lang="en-US" sz="880" dirty="0"/>
          </a:p>
        </p:txBody>
      </p:sp>
      <p:sp>
        <p:nvSpPr>
          <p:cNvPr id="25" name="Text 22"/>
          <p:cNvSpPr txBox="1"/>
          <p:nvPr/>
        </p:nvSpPr>
        <p:spPr>
          <a:xfrm>
            <a:off x="1682496" y="3511296"/>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El archivo de pruebas conserva la entrada y el esperado, pero no de dónde salió el esperado. Si no se declara en el momento de escribirla, esa información se pierde para siempre.</a:t>
            </a:r>
            <a:endParaRPr lang="en-US" sz="1300" dirty="0"/>
          </a:p>
        </p:txBody>
      </p:sp>
      <p:sp>
        <p:nvSpPr>
          <p:cNvPr id="26" name="Shape 23"/>
          <p:cNvSpPr/>
          <p:nvPr/>
        </p:nvSpPr>
        <p:spPr>
          <a:xfrm>
            <a:off x="1682496" y="4059936"/>
            <a:ext cx="9521647" cy="0"/>
          </a:xfrm>
          <a:prstGeom prst="line">
            <a:avLst/>
          </a:prstGeom>
          <a:noFill/>
          <a:ln w="12700">
            <a:solidFill>
              <a:srgbClr val="D8CFC4"/>
            </a:solidFill>
            <a:prstDash val="solid"/>
            <a:headEnd type="none"/>
            <a:tailEnd type="none"/>
          </a:ln>
        </p:spPr>
      </p:sp>
      <p:sp>
        <p:nvSpPr>
          <p:cNvPr id="27" name="Text 24"/>
          <p:cNvSpPr txBox="1"/>
          <p:nvPr/>
        </p:nvSpPr>
        <p:spPr>
          <a:xfrm>
            <a:off x="1682496"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28" name="Text 25"/>
          <p:cNvSpPr txBox="1"/>
          <p:nvPr/>
        </p:nvSpPr>
        <p:spPr>
          <a:xfrm>
            <a:off x="1682496" y="4315968"/>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La procedencia se documenta al escribir la prueba; no se deduce después.</a:t>
            </a:r>
            <a:endParaRPr lang="en-US" sz="1060" dirty="0"/>
          </a:p>
        </p:txBody>
      </p:sp>
      <p:sp>
        <p:nvSpPr>
          <p:cNvPr id="29" name="Shape 26"/>
          <p:cNvSpPr/>
          <p:nvPr/>
        </p:nvSpPr>
        <p:spPr>
          <a:xfrm>
            <a:off x="6443320" y="4114800"/>
            <a:ext cx="0" cy="457200"/>
          </a:xfrm>
          <a:prstGeom prst="line">
            <a:avLst/>
          </a:prstGeom>
          <a:noFill/>
          <a:ln w="12700">
            <a:solidFill>
              <a:srgbClr val="D8CFC4"/>
            </a:solidFill>
            <a:prstDash val="solid"/>
            <a:headEnd type="none"/>
            <a:tailEnd type="none"/>
          </a:ln>
        </p:spPr>
      </p:sp>
      <p:sp>
        <p:nvSpPr>
          <p:cNvPr id="30" name="Text 27"/>
          <p:cNvSpPr txBox="1"/>
          <p:nvPr/>
        </p:nvSpPr>
        <p:spPr>
          <a:xfrm>
            <a:off x="6699352"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31" name="Text 28"/>
          <p:cNvSpPr txBox="1"/>
          <p:nvPr/>
        </p:nvSpPr>
        <p:spPr>
          <a:xfrm>
            <a:off x="6699352" y="4315968"/>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«Se nota por el nombre de la prueba.»</a:t>
            </a:r>
            <a:endParaRPr lang="en-US" sz="1060" dirty="0"/>
          </a:p>
        </p:txBody>
      </p:sp>
      <p:sp>
        <p:nvSpPr>
          <p:cNvPr id="32" name="Shape 29"/>
          <p:cNvSpPr/>
          <p:nvPr/>
        </p:nvSpPr>
        <p:spPr>
          <a:xfrm>
            <a:off x="658368" y="4773168"/>
            <a:ext cx="10874959" cy="1536192"/>
          </a:xfrm>
          <a:prstGeom prst="rect">
            <a:avLst/>
          </a:prstGeom>
          <a:solidFill>
            <a:srgbClr val="FFFFFF"/>
          </a:solidFill>
          <a:ln w="12700">
            <a:solidFill>
              <a:srgbClr val="FFFFFF"/>
            </a:solidFill>
            <a:prstDash val="solid"/>
          </a:ln>
        </p:spPr>
      </p:sp>
      <p:sp>
        <p:nvSpPr>
          <p:cNvPr id="33" name="Shape 30"/>
          <p:cNvSpPr/>
          <p:nvPr/>
        </p:nvSpPr>
        <p:spPr>
          <a:xfrm>
            <a:off x="658368" y="4773168"/>
            <a:ext cx="54864" cy="1536192"/>
          </a:xfrm>
          <a:prstGeom prst="rect">
            <a:avLst/>
          </a:prstGeom>
          <a:solidFill>
            <a:srgbClr val="8A6A12"/>
          </a:solidFill>
          <a:ln w="12700">
            <a:solidFill>
              <a:srgbClr val="8A6A12"/>
            </a:solidFill>
            <a:prstDash val="solid"/>
          </a:ln>
        </p:spPr>
      </p:sp>
      <p:sp>
        <p:nvSpPr>
          <p:cNvPr id="34" name="Text 31"/>
          <p:cNvSpPr txBox="1"/>
          <p:nvPr/>
        </p:nvSpPr>
        <p:spPr>
          <a:xfrm>
            <a:off x="950976" y="4956048"/>
            <a:ext cx="530352" cy="475488"/>
          </a:xfrm>
          <a:prstGeom prst="rect">
            <a:avLst/>
          </a:prstGeom>
          <a:noFill/>
          <a:ln/>
        </p:spPr>
        <p:txBody>
          <a:bodyPr wrap="square" lIns="0" tIns="0" rIns="0" bIns="0" rtlCol="0" anchor="t"/>
          <a:lstStyle/>
          <a:p>
            <a:pPr algn="l"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5" name="Text 32"/>
          <p:cNvSpPr txBox="1"/>
          <p:nvPr/>
        </p:nvSpPr>
        <p:spPr>
          <a:xfrm>
            <a:off x="1682496" y="4901184"/>
            <a:ext cx="9521647" cy="182880"/>
          </a:xfrm>
          <a:prstGeom prst="rect">
            <a:avLst/>
          </a:prstGeom>
          <a:noFill/>
          <a:ln/>
        </p:spPr>
        <p:txBody>
          <a:bodyPr wrap="square" lIns="0" tIns="0" rIns="0" bIns="0" rtlCol="0" anchor="t"/>
          <a:lstStyle/>
          <a:p>
            <a:pPr algn="l" indent="0" marL="0">
              <a:buNone/>
            </a:pPr>
            <a:r>
              <a:rPr lang="en-US" sz="880" b="1" spc="120" kern="0" dirty="0">
                <a:solidFill>
                  <a:srgbClr val="8A6A12"/>
                </a:solidFill>
                <a:latin typeface="Aptos" pitchFamily="34" charset="0"/>
                <a:ea typeface="Aptos" pitchFamily="34" charset="-122"/>
                <a:cs typeface="Aptos" pitchFamily="34" charset="-120"/>
              </a:rPr>
              <a:t>UNA PRUEBA QUE RECORRE UNA LÍNEA NUEVA Y NO AFIRMA NADA SOBRE ELLA</a:t>
            </a:r>
            <a:endParaRPr lang="en-US" sz="880" dirty="0"/>
          </a:p>
        </p:txBody>
      </p:sp>
      <p:sp>
        <p:nvSpPr>
          <p:cNvPr id="36" name="Text 33"/>
          <p:cNvSpPr txBox="1"/>
          <p:nvPr/>
        </p:nvSpPr>
        <p:spPr>
          <a:xfrm>
            <a:off x="1682496" y="5138928"/>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El filtro mide aumento de cobertura, y la cobertura mide ejecución. Una prueba sin aserción, o con una aserción trivial, aumenta la cobertura y pasa el filtro.</a:t>
            </a:r>
            <a:endParaRPr lang="en-US" sz="1300" dirty="0"/>
          </a:p>
        </p:txBody>
      </p:sp>
      <p:sp>
        <p:nvSpPr>
          <p:cNvPr id="37" name="Shape 34"/>
          <p:cNvSpPr/>
          <p:nvPr/>
        </p:nvSpPr>
        <p:spPr>
          <a:xfrm>
            <a:off x="1682496" y="5687568"/>
            <a:ext cx="9521647" cy="0"/>
          </a:xfrm>
          <a:prstGeom prst="line">
            <a:avLst/>
          </a:prstGeom>
          <a:noFill/>
          <a:ln w="12700">
            <a:solidFill>
              <a:srgbClr val="D8CFC4"/>
            </a:solidFill>
            <a:prstDash val="solid"/>
            <a:headEnd type="none"/>
            <a:tailEnd type="none"/>
          </a:ln>
        </p:spPr>
      </p:sp>
      <p:sp>
        <p:nvSpPr>
          <p:cNvPr id="38" name="Text 35"/>
          <p:cNvSpPr txBox="1"/>
          <p:nvPr/>
        </p:nvSpPr>
        <p:spPr>
          <a:xfrm>
            <a:off x="1682496"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39" name="Text 36"/>
          <p:cNvSpPr txBox="1"/>
          <p:nvPr/>
        </p:nvSpPr>
        <p:spPr>
          <a:xfrm>
            <a:off x="1682496" y="5943600"/>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Ningún filtro de cobertura detecta la ausencia de verificación.</a:t>
            </a:r>
            <a:endParaRPr lang="en-US" sz="1060" dirty="0"/>
          </a:p>
        </p:txBody>
      </p:sp>
      <p:sp>
        <p:nvSpPr>
          <p:cNvPr id="40" name="Shape 37"/>
          <p:cNvSpPr/>
          <p:nvPr/>
        </p:nvSpPr>
        <p:spPr>
          <a:xfrm>
            <a:off x="6443320" y="5742432"/>
            <a:ext cx="0" cy="457200"/>
          </a:xfrm>
          <a:prstGeom prst="line">
            <a:avLst/>
          </a:prstGeom>
          <a:noFill/>
          <a:ln w="12700">
            <a:solidFill>
              <a:srgbClr val="D8CFC4"/>
            </a:solidFill>
            <a:prstDash val="solid"/>
            <a:headEnd type="none"/>
            <a:tailEnd type="none"/>
          </a:ln>
        </p:spPr>
      </p:sp>
      <p:sp>
        <p:nvSpPr>
          <p:cNvPr id="41" name="Text 38"/>
          <p:cNvSpPr txBox="1"/>
          <p:nvPr/>
        </p:nvSpPr>
        <p:spPr>
          <a:xfrm>
            <a:off x="6699352"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42" name="Text 39"/>
          <p:cNvSpPr txBox="1"/>
          <p:nvPr/>
        </p:nvSpPr>
        <p:spPr>
          <a:xfrm>
            <a:off x="6699352" y="5943600"/>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«Ninguna: si sube la cobertura, algo está probando.»</a:t>
            </a:r>
            <a:endParaRPr lang="en-US" sz="10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2 DE 4</a:t>
            </a:r>
            <a:endParaRPr lang="en-US" sz="960" dirty="0"/>
          </a:p>
        </p:txBody>
      </p:sp>
      <p:sp>
        <p:nvSpPr>
          <p:cNvPr id="9" name="Text 6"/>
          <p:cNvSpPr txBox="1"/>
          <p:nvPr/>
        </p:nvSpPr>
        <p:spPr>
          <a:xfrm>
            <a:off x="658368" y="1920240"/>
            <a:ext cx="9692640" cy="1133856"/>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El 100 % que</a:t>
            </a:r>
            <a:endParaRPr lang="en-US" sz="4000" dirty="0"/>
          </a:p>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no verifica nada</a:t>
            </a:r>
            <a:endParaRPr lang="en-US" sz="4000" dirty="0"/>
          </a:p>
        </p:txBody>
      </p:sp>
      <p:sp>
        <p:nvSpPr>
          <p:cNvPr id="10" name="Shape 7"/>
          <p:cNvSpPr/>
          <p:nvPr/>
        </p:nvSpPr>
        <p:spPr>
          <a:xfrm>
            <a:off x="658368" y="321868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47472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La cobertura registra que la ejecución pasó por ahí. Que alguien haya comprobado el resultado es otra cosa, y no la mide ninguna herramienta.</a:t>
            </a:r>
            <a:endParaRPr lang="en-US" sz="1700" dirty="0"/>
          </a:p>
        </p:txBody>
      </p:sp>
      <p:sp>
        <p:nvSpPr>
          <p:cNvPr id="12" name="Text 9"/>
          <p:cNvSpPr txBox="1"/>
          <p:nvPr/>
        </p:nvSpPr>
        <p:spPr>
          <a:xfrm>
            <a:off x="658368" y="4846320"/>
            <a:ext cx="54864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QUÉ PREGUNTA INTERROGA ESTE BLOQUE</a:t>
            </a:r>
            <a:endParaRPr lang="en-US" sz="960" dirty="0"/>
          </a:p>
        </p:txBody>
      </p:sp>
      <p:sp>
        <p:nvSpPr>
          <p:cNvPr id="13" name="Shape 10"/>
          <p:cNvSpPr/>
          <p:nvPr/>
        </p:nvSpPr>
        <p:spPr>
          <a:xfrm>
            <a:off x="658368" y="5120640"/>
            <a:ext cx="3493008" cy="566928"/>
          </a:xfrm>
          <a:prstGeom prst="rect">
            <a:avLst/>
          </a:prstGeom>
          <a:solidFill>
            <a:srgbClr val="1D3A57"/>
          </a:solidFill>
          <a:ln w="12700">
            <a:solidFill>
              <a:srgbClr val="1D3A57"/>
            </a:solidFill>
            <a:prstDash val="solid"/>
          </a:ln>
        </p:spPr>
      </p:sp>
      <p:sp>
        <p:nvSpPr>
          <p:cNvPr id="14" name="Text 11"/>
          <p:cNvSpPr txBox="1"/>
          <p:nvPr/>
        </p:nvSpPr>
        <p:spPr>
          <a:xfrm>
            <a:off x="841248" y="5184648"/>
            <a:ext cx="3127248" cy="237744"/>
          </a:xfrm>
          <a:prstGeom prst="rect">
            <a:avLst/>
          </a:prstGeom>
          <a:noFill/>
          <a:ln/>
        </p:spPr>
        <p:txBody>
          <a:bodyPr wrap="square" lIns="0" tIns="0" rIns="0" bIns="0" rtlCol="0" anchor="t"/>
          <a:lstStyle/>
          <a:p>
            <a:pPr algn="l" indent="0" marL="0">
              <a:buNone/>
            </a:pPr>
            <a:r>
              <a:rPr lang="en-US" sz="1160" b="1" dirty="0">
                <a:solidFill>
                  <a:srgbClr val="EADFD0"/>
                </a:solidFill>
                <a:latin typeface="Aptos" pitchFamily="34" charset="0"/>
                <a:ea typeface="Aptos" pitchFamily="34" charset="-122"/>
                <a:cs typeface="Aptos" pitchFamily="34" charset="-120"/>
              </a:rPr>
              <a:t>¿Qué recorrió?</a:t>
            </a:r>
            <a:endParaRPr lang="en-US" sz="1160" dirty="0"/>
          </a:p>
        </p:txBody>
      </p:sp>
      <p:sp>
        <p:nvSpPr>
          <p:cNvPr id="15" name="Text 12"/>
          <p:cNvSpPr txBox="1"/>
          <p:nvPr/>
        </p:nvSpPr>
        <p:spPr>
          <a:xfrm>
            <a:off x="841248" y="5431536"/>
            <a:ext cx="3127248" cy="201168"/>
          </a:xfrm>
          <a:prstGeom prst="rect">
            <a:avLst/>
          </a:prstGeom>
          <a:noFill/>
          <a:ln/>
        </p:spPr>
        <p:txBody>
          <a:bodyPr wrap="square" lIns="0" tIns="0" rIns="0" bIns="0" rtlCol="0" anchor="t"/>
          <a:lstStyle/>
          <a:p>
            <a:pPr algn="l" indent="0" marL="0">
              <a:buNone/>
            </a:pPr>
            <a:r>
              <a:rPr lang="en-US" sz="980" dirty="0">
                <a:solidFill>
                  <a:srgbClr val="8AA0B6"/>
                </a:solidFill>
                <a:latin typeface="Aptos" pitchFamily="34" charset="0"/>
                <a:ea typeface="Aptos" pitchFamily="34" charset="-122"/>
                <a:cs typeface="Aptos" pitchFamily="34" charset="-120"/>
              </a:rPr>
              <a:t>La cobertura lo mide</a:t>
            </a:r>
            <a:endParaRPr lang="en-US" sz="980" dirty="0"/>
          </a:p>
        </p:txBody>
      </p:sp>
      <p:sp>
        <p:nvSpPr>
          <p:cNvPr id="16" name="Shape 13"/>
          <p:cNvSpPr/>
          <p:nvPr/>
        </p:nvSpPr>
        <p:spPr>
          <a:xfrm>
            <a:off x="4206240" y="5404104"/>
            <a:ext cx="219456" cy="0"/>
          </a:xfrm>
          <a:prstGeom prst="line">
            <a:avLst/>
          </a:prstGeom>
          <a:noFill/>
          <a:ln w="12700">
            <a:solidFill>
              <a:srgbClr val="EADFD0"/>
            </a:solidFill>
            <a:prstDash val="solid"/>
            <a:headEnd type="none"/>
            <a:tailEnd type="triangle"/>
          </a:ln>
        </p:spPr>
      </p:sp>
      <p:sp>
        <p:nvSpPr>
          <p:cNvPr id="17" name="Shape 14"/>
          <p:cNvSpPr/>
          <p:nvPr/>
        </p:nvSpPr>
        <p:spPr>
          <a:xfrm>
            <a:off x="4480560" y="5120640"/>
            <a:ext cx="3493008" cy="566928"/>
          </a:xfrm>
          <a:prstGeom prst="rect">
            <a:avLst/>
          </a:prstGeom>
          <a:solidFill>
            <a:srgbClr val="E0BC5A"/>
          </a:solidFill>
          <a:ln w="12700">
            <a:solidFill>
              <a:srgbClr val="E0BC5A"/>
            </a:solidFill>
            <a:prstDash val="solid"/>
          </a:ln>
        </p:spPr>
      </p:sp>
      <p:sp>
        <p:nvSpPr>
          <p:cNvPr id="18" name="Text 15"/>
          <p:cNvSpPr txBox="1"/>
          <p:nvPr/>
        </p:nvSpPr>
        <p:spPr>
          <a:xfrm>
            <a:off x="4663440" y="5184648"/>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¿Qué comprobó?</a:t>
            </a:r>
            <a:endParaRPr lang="en-US" sz="1300" dirty="0"/>
          </a:p>
        </p:txBody>
      </p:sp>
      <p:sp>
        <p:nvSpPr>
          <p:cNvPr id="19" name="Text 16"/>
          <p:cNvSpPr txBox="1"/>
          <p:nvPr/>
        </p:nvSpPr>
        <p:spPr>
          <a:xfrm>
            <a:off x="4663440" y="5431536"/>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Solo la aserción lo dice</a:t>
            </a:r>
            <a:endParaRPr lang="en-US" sz="980" dirty="0"/>
          </a:p>
        </p:txBody>
      </p:sp>
      <p:sp>
        <p:nvSpPr>
          <p:cNvPr id="20" name="Shape 17"/>
          <p:cNvSpPr/>
          <p:nvPr/>
        </p:nvSpPr>
        <p:spPr>
          <a:xfrm>
            <a:off x="8028432" y="5404104"/>
            <a:ext cx="219456" cy="0"/>
          </a:xfrm>
          <a:prstGeom prst="line">
            <a:avLst/>
          </a:prstGeom>
          <a:noFill/>
          <a:ln w="12700">
            <a:solidFill>
              <a:srgbClr val="EADFD0"/>
            </a:solidFill>
            <a:prstDash val="solid"/>
            <a:headEnd type="none"/>
            <a:tailEnd type="triangle"/>
          </a:ln>
        </p:spPr>
      </p:sp>
      <p:sp>
        <p:nvSpPr>
          <p:cNvPr id="21" name="Shape 18"/>
          <p:cNvSpPr/>
          <p:nvPr/>
        </p:nvSpPr>
        <p:spPr>
          <a:xfrm>
            <a:off x="8302752" y="5120640"/>
            <a:ext cx="3493008" cy="566928"/>
          </a:xfrm>
          <a:prstGeom prst="rect">
            <a:avLst/>
          </a:prstGeom>
          <a:solidFill>
            <a:srgbClr val="1D3A57"/>
          </a:solidFill>
          <a:ln w="12700">
            <a:solidFill>
              <a:srgbClr val="1D3A57"/>
            </a:solidFill>
            <a:prstDash val="solid"/>
          </a:ln>
        </p:spPr>
      </p:sp>
      <p:sp>
        <p:nvSpPr>
          <p:cNvPr id="22" name="Text 19"/>
          <p:cNvSpPr txBox="1"/>
          <p:nvPr/>
        </p:nvSpPr>
        <p:spPr>
          <a:xfrm>
            <a:off x="8485632" y="5184648"/>
            <a:ext cx="3127248" cy="237744"/>
          </a:xfrm>
          <a:prstGeom prst="rect">
            <a:avLst/>
          </a:prstGeom>
          <a:noFill/>
          <a:ln/>
        </p:spPr>
        <p:txBody>
          <a:bodyPr wrap="square" lIns="0" tIns="0" rIns="0" bIns="0" rtlCol="0" anchor="t"/>
          <a:lstStyle/>
          <a:p>
            <a:pPr algn="l" indent="0" marL="0">
              <a:buNone/>
            </a:pPr>
            <a:r>
              <a:rPr lang="en-US" sz="1160" b="1" dirty="0">
                <a:solidFill>
                  <a:srgbClr val="EADFD0"/>
                </a:solidFill>
                <a:latin typeface="Aptos" pitchFamily="34" charset="0"/>
                <a:ea typeface="Aptos" pitchFamily="34" charset="-122"/>
                <a:cs typeface="Aptos" pitchFamily="34" charset="-120"/>
              </a:rPr>
              <a:t>¿Contra qué?</a:t>
            </a:r>
            <a:endParaRPr lang="en-US" sz="1160" dirty="0"/>
          </a:p>
        </p:txBody>
      </p:sp>
      <p:sp>
        <p:nvSpPr>
          <p:cNvPr id="23" name="Text 20"/>
          <p:cNvSpPr txBox="1"/>
          <p:nvPr/>
        </p:nvSpPr>
        <p:spPr>
          <a:xfrm>
            <a:off x="8485632" y="5431536"/>
            <a:ext cx="3127248" cy="201168"/>
          </a:xfrm>
          <a:prstGeom prst="rect">
            <a:avLst/>
          </a:prstGeom>
          <a:noFill/>
          <a:ln/>
        </p:spPr>
        <p:txBody>
          <a:bodyPr wrap="square" lIns="0" tIns="0" rIns="0" bIns="0" rtlCol="0" anchor="t"/>
          <a:lstStyle/>
          <a:p>
            <a:pPr algn="l" indent="0" marL="0">
              <a:buNone/>
            </a:pPr>
            <a:r>
              <a:rPr lang="en-US" sz="980" dirty="0">
                <a:solidFill>
                  <a:srgbClr val="8AA0B6"/>
                </a:solidFill>
                <a:latin typeface="Aptos" pitchFamily="34" charset="0"/>
                <a:ea typeface="Aptos" pitchFamily="34" charset="-122"/>
                <a:cs typeface="Aptos" pitchFamily="34" charset="-120"/>
              </a:rPr>
              <a:t>El requisito, o un supuesto</a:t>
            </a:r>
            <a:endParaRPr lang="en-US" sz="9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DOS UNIDADES DISTINTAS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Sentencias y ramas no cuentan lo mismo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norma define por separado las dos técnicas estructurales más usadas. La diferencia está en qué unidad cuenta cada una.</a:t>
            </a:r>
            <a:endParaRPr lang="en-US" sz="1450" dirty="0"/>
          </a:p>
        </p:txBody>
      </p:sp>
      <p:sp>
        <p:nvSpPr>
          <p:cNvPr id="11" name="Shape 8"/>
          <p:cNvSpPr/>
          <p:nvPr/>
        </p:nvSpPr>
        <p:spPr>
          <a:xfrm>
            <a:off x="658368" y="2377440"/>
            <a:ext cx="5175504" cy="1572768"/>
          </a:xfrm>
          <a:prstGeom prst="rect">
            <a:avLst/>
          </a:prstGeom>
          <a:solidFill>
            <a:srgbClr val="FFFFFF"/>
          </a:solidFill>
          <a:ln w="12700">
            <a:solidFill>
              <a:srgbClr val="FFFFFF"/>
            </a:solidFill>
            <a:prstDash val="solid"/>
          </a:ln>
        </p:spPr>
      </p:sp>
      <p:sp>
        <p:nvSpPr>
          <p:cNvPr id="12" name="Shape 9"/>
          <p:cNvSpPr/>
          <p:nvPr/>
        </p:nvSpPr>
        <p:spPr>
          <a:xfrm>
            <a:off x="658368" y="2377440"/>
            <a:ext cx="5175504" cy="54864"/>
          </a:xfrm>
          <a:prstGeom prst="rect">
            <a:avLst/>
          </a:prstGeom>
          <a:solidFill>
            <a:srgbClr val="102A43"/>
          </a:solidFill>
          <a:ln w="12700">
            <a:solidFill>
              <a:srgbClr val="102A43"/>
            </a:solidFill>
            <a:prstDash val="solid"/>
          </a:ln>
        </p:spPr>
      </p:sp>
      <p:sp>
        <p:nvSpPr>
          <p:cNvPr id="13" name="Text 10"/>
          <p:cNvSpPr txBox="1"/>
          <p:nvPr/>
        </p:nvSpPr>
        <p:spPr>
          <a:xfrm>
            <a:off x="914400" y="2542032"/>
            <a:ext cx="4663440" cy="256032"/>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3.45 · Statement testing</a:t>
            </a:r>
            <a:endParaRPr lang="en-US" sz="1300" dirty="0"/>
          </a:p>
        </p:txBody>
      </p:sp>
      <p:sp>
        <p:nvSpPr>
          <p:cNvPr id="14" name="Text 11"/>
          <p:cNvSpPr txBox="1"/>
          <p:nvPr/>
        </p:nvSpPr>
        <p:spPr>
          <a:xfrm>
            <a:off x="914400" y="2852928"/>
            <a:ext cx="4663440" cy="402336"/>
          </a:xfrm>
          <a:prstGeom prst="rect">
            <a:avLst/>
          </a:prstGeom>
          <a:noFill/>
          <a:ln/>
        </p:spPr>
        <p:txBody>
          <a:bodyPr wrap="square" lIns="0" tIns="0" rIns="0" bIns="0" rtlCol="0" anchor="t"/>
          <a:lstStyle/>
          <a:p>
            <a:pPr algn="l" indent="0" marL="0">
              <a:lnSpc>
                <a:spcPct val="112000"/>
              </a:lnSpc>
              <a:buNone/>
            </a:pPr>
            <a:r>
              <a:rPr lang="en-US" sz="1100" i="1" dirty="0">
                <a:solidFill>
                  <a:srgbClr val="52606D"/>
                </a:solidFill>
                <a:latin typeface="Aptos" pitchFamily="34" charset="0"/>
                <a:ea typeface="Aptos" pitchFamily="34" charset="-122"/>
                <a:cs typeface="Aptos" pitchFamily="34" charset="-120"/>
              </a:rPr>
              <a:t>“Ejercita las sentencias ejecutables del código fuente”</a:t>
            </a:r>
            <a:endParaRPr lang="en-US" sz="1100" dirty="0"/>
          </a:p>
        </p:txBody>
      </p:sp>
      <p:sp>
        <p:nvSpPr>
          <p:cNvPr id="15" name="Shape 12"/>
          <p:cNvSpPr/>
          <p:nvPr/>
        </p:nvSpPr>
        <p:spPr>
          <a:xfrm>
            <a:off x="914400" y="3328416"/>
            <a:ext cx="4663440" cy="0"/>
          </a:xfrm>
          <a:prstGeom prst="line">
            <a:avLst/>
          </a:prstGeom>
          <a:noFill/>
          <a:ln w="12700">
            <a:solidFill>
              <a:srgbClr val="D8CFC4"/>
            </a:solidFill>
            <a:prstDash val="solid"/>
            <a:headEnd type="none"/>
            <a:tailEnd type="none"/>
          </a:ln>
        </p:spPr>
      </p:sp>
      <p:sp>
        <p:nvSpPr>
          <p:cNvPr id="16" name="Text 13"/>
          <p:cNvSpPr txBox="1"/>
          <p:nvPr/>
        </p:nvSpPr>
        <p:spPr>
          <a:xfrm>
            <a:off x="914400" y="3456432"/>
            <a:ext cx="4663440"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Cuenta SENTENCIAS ejecutadas</a:t>
            </a:r>
            <a:endParaRPr lang="en-US" sz="1400" dirty="0"/>
          </a:p>
        </p:txBody>
      </p:sp>
      <p:sp>
        <p:nvSpPr>
          <p:cNvPr id="17" name="Shape 14"/>
          <p:cNvSpPr/>
          <p:nvPr/>
        </p:nvSpPr>
        <p:spPr>
          <a:xfrm>
            <a:off x="6364224" y="2377440"/>
            <a:ext cx="5175504" cy="1572768"/>
          </a:xfrm>
          <a:prstGeom prst="rect">
            <a:avLst/>
          </a:prstGeom>
          <a:solidFill>
            <a:srgbClr val="FFFFFF"/>
          </a:solidFill>
          <a:ln w="12700">
            <a:solidFill>
              <a:srgbClr val="FFFFFF"/>
            </a:solidFill>
            <a:prstDash val="solid"/>
          </a:ln>
        </p:spPr>
      </p:sp>
      <p:sp>
        <p:nvSpPr>
          <p:cNvPr id="18" name="Shape 15"/>
          <p:cNvSpPr/>
          <p:nvPr/>
        </p:nvSpPr>
        <p:spPr>
          <a:xfrm>
            <a:off x="6364224" y="2377440"/>
            <a:ext cx="5175504" cy="54864"/>
          </a:xfrm>
          <a:prstGeom prst="rect">
            <a:avLst/>
          </a:prstGeom>
          <a:solidFill>
            <a:srgbClr val="8A6A12"/>
          </a:solidFill>
          <a:ln w="12700">
            <a:solidFill>
              <a:srgbClr val="8A6A12"/>
            </a:solidFill>
            <a:prstDash val="solid"/>
          </a:ln>
        </p:spPr>
      </p:sp>
      <p:sp>
        <p:nvSpPr>
          <p:cNvPr id="19" name="Text 16"/>
          <p:cNvSpPr txBox="1"/>
          <p:nvPr/>
        </p:nvSpPr>
        <p:spPr>
          <a:xfrm>
            <a:off x="6620256" y="2542032"/>
            <a:ext cx="4663440" cy="256032"/>
          </a:xfrm>
          <a:prstGeom prst="rect">
            <a:avLst/>
          </a:prstGeom>
          <a:noFill/>
          <a:ln/>
        </p:spPr>
        <p:txBody>
          <a:bodyPr wrap="square" lIns="0" tIns="0" rIns="0" bIns="0" rtlCol="0" anchor="t"/>
          <a:lstStyle/>
          <a:p>
            <a:pPr algn="l" indent="0" marL="0">
              <a:buNone/>
            </a:pPr>
            <a:r>
              <a:rPr lang="en-US" sz="1300" b="1" dirty="0">
                <a:solidFill>
                  <a:srgbClr val="8A6A12"/>
                </a:solidFill>
                <a:latin typeface="Aptos" pitchFamily="34" charset="0"/>
                <a:ea typeface="Aptos" pitchFamily="34" charset="-122"/>
                <a:cs typeface="Aptos" pitchFamily="34" charset="-120"/>
              </a:rPr>
              <a:t>3.6 · Branch testing</a:t>
            </a:r>
            <a:endParaRPr lang="en-US" sz="1300" dirty="0"/>
          </a:p>
        </p:txBody>
      </p:sp>
      <p:sp>
        <p:nvSpPr>
          <p:cNvPr id="20" name="Text 17"/>
          <p:cNvSpPr txBox="1"/>
          <p:nvPr/>
        </p:nvSpPr>
        <p:spPr>
          <a:xfrm>
            <a:off x="6620256" y="2852928"/>
            <a:ext cx="4663440" cy="402336"/>
          </a:xfrm>
          <a:prstGeom prst="rect">
            <a:avLst/>
          </a:prstGeom>
          <a:noFill/>
          <a:ln/>
        </p:spPr>
        <p:txBody>
          <a:bodyPr wrap="square" lIns="0" tIns="0" rIns="0" bIns="0" rtlCol="0" anchor="t"/>
          <a:lstStyle/>
          <a:p>
            <a:pPr algn="l" indent="0" marL="0">
              <a:lnSpc>
                <a:spcPct val="112000"/>
              </a:lnSpc>
              <a:buNone/>
            </a:pPr>
            <a:r>
              <a:rPr lang="en-US" sz="1100" i="1" dirty="0">
                <a:solidFill>
                  <a:srgbClr val="52606D"/>
                </a:solidFill>
                <a:latin typeface="Aptos" pitchFamily="34" charset="0"/>
                <a:ea typeface="Aptos" pitchFamily="34" charset="-122"/>
                <a:cs typeface="Aptos" pitchFamily="34" charset="-120"/>
              </a:rPr>
              <a:t>“Ejercita las ramas del flujo de control”</a:t>
            </a:r>
            <a:endParaRPr lang="en-US" sz="1100" dirty="0"/>
          </a:p>
        </p:txBody>
      </p:sp>
      <p:sp>
        <p:nvSpPr>
          <p:cNvPr id="21" name="Shape 18"/>
          <p:cNvSpPr/>
          <p:nvPr/>
        </p:nvSpPr>
        <p:spPr>
          <a:xfrm>
            <a:off x="6620256" y="3328416"/>
            <a:ext cx="4663440" cy="0"/>
          </a:xfrm>
          <a:prstGeom prst="line">
            <a:avLst/>
          </a:prstGeom>
          <a:noFill/>
          <a:ln w="12700">
            <a:solidFill>
              <a:srgbClr val="D8CFC4"/>
            </a:solidFill>
            <a:prstDash val="solid"/>
            <a:headEnd type="none"/>
            <a:tailEnd type="none"/>
          </a:ln>
        </p:spPr>
      </p:sp>
      <p:sp>
        <p:nvSpPr>
          <p:cNvPr id="22" name="Text 19"/>
          <p:cNvSpPr txBox="1"/>
          <p:nvPr/>
        </p:nvSpPr>
        <p:spPr>
          <a:xfrm>
            <a:off x="6620256" y="3456432"/>
            <a:ext cx="4663440"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Cuenta RAMAS recorridas</a:t>
            </a:r>
            <a:endParaRPr lang="en-US" sz="1400" dirty="0"/>
          </a:p>
        </p:txBody>
      </p:sp>
      <p:sp>
        <p:nvSpPr>
          <p:cNvPr id="23" name="Shape 20"/>
          <p:cNvSpPr/>
          <p:nvPr/>
        </p:nvSpPr>
        <p:spPr>
          <a:xfrm>
            <a:off x="658368" y="4169664"/>
            <a:ext cx="10874959" cy="566928"/>
          </a:xfrm>
          <a:prstGeom prst="rect">
            <a:avLst/>
          </a:prstGeom>
          <a:solidFill>
            <a:srgbClr val="F2E7D9"/>
          </a:solidFill>
          <a:ln w="12700">
            <a:solidFill>
              <a:srgbClr val="F2E7D9"/>
            </a:solidFill>
            <a:prstDash val="solid"/>
          </a:ln>
        </p:spPr>
      </p:sp>
      <p:sp>
        <p:nvSpPr>
          <p:cNvPr id="24" name="Shape 21"/>
          <p:cNvSpPr/>
          <p:nvPr/>
        </p:nvSpPr>
        <p:spPr>
          <a:xfrm>
            <a:off x="658368" y="4169664"/>
            <a:ext cx="54864" cy="566928"/>
          </a:xfrm>
          <a:prstGeom prst="rect">
            <a:avLst/>
          </a:prstGeom>
          <a:solidFill>
            <a:srgbClr val="8A6A12"/>
          </a:solidFill>
          <a:ln w="12700">
            <a:solidFill>
              <a:srgbClr val="8A6A12"/>
            </a:solidFill>
            <a:prstDash val="solid"/>
          </a:ln>
        </p:spPr>
      </p:sp>
      <p:sp>
        <p:nvSpPr>
          <p:cNvPr id="25" name="Text 22"/>
          <p:cNvSpPr txBox="1"/>
          <p:nvPr/>
        </p:nvSpPr>
        <p:spPr>
          <a:xfrm>
            <a:off x="932688" y="4261104"/>
            <a:ext cx="10326319" cy="402336"/>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Parece una distinción menor. No lo es: hay código donde la primera informa 100 % y la segunda no, y el hueco es justamente lo que nadie probó.</a:t>
            </a:r>
            <a:endParaRPr lang="en-US" sz="1300" dirty="0"/>
          </a:p>
        </p:txBody>
      </p:sp>
      <p:sp>
        <p:nvSpPr>
          <p:cNvPr id="26" name="Shape 23"/>
          <p:cNvSpPr/>
          <p:nvPr/>
        </p:nvSpPr>
        <p:spPr>
          <a:xfrm>
            <a:off x="658368" y="4974336"/>
            <a:ext cx="10874959" cy="493776"/>
          </a:xfrm>
          <a:prstGeom prst="rect">
            <a:avLst/>
          </a:prstGeom>
          <a:solidFill>
            <a:srgbClr val="102A43"/>
          </a:solidFill>
          <a:ln w="12700">
            <a:solidFill>
              <a:srgbClr val="102A43"/>
            </a:solidFill>
            <a:prstDash val="solid"/>
          </a:ln>
        </p:spPr>
      </p:sp>
      <p:sp>
        <p:nvSpPr>
          <p:cNvPr id="27" name="Text 24"/>
          <p:cNvSpPr txBox="1"/>
          <p:nvPr/>
        </p:nvSpPr>
        <p:spPr>
          <a:xfrm>
            <a:off x="969264" y="5010912"/>
            <a:ext cx="10253167" cy="420624"/>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Vamos a medir las dos cosas sobre la misma función y ver la distancia entre los dos números.</a:t>
            </a:r>
            <a:endParaRPr lang="en-US" sz="1400" dirty="0"/>
          </a:p>
        </p:txBody>
      </p:sp>
      <p:sp>
        <p:nvSpPr>
          <p:cNvPr id="28" name="Shape 25"/>
          <p:cNvSpPr/>
          <p:nvPr/>
        </p:nvSpPr>
        <p:spPr>
          <a:xfrm>
            <a:off x="658368" y="5669280"/>
            <a:ext cx="45720" cy="182880"/>
          </a:xfrm>
          <a:prstGeom prst="rect">
            <a:avLst/>
          </a:prstGeom>
          <a:solidFill>
            <a:srgbClr val="8A6A12"/>
          </a:solidFill>
          <a:ln w="12700">
            <a:solidFill>
              <a:srgbClr val="8A6A12"/>
            </a:solidFill>
            <a:prstDash val="solid"/>
          </a:ln>
        </p:spPr>
      </p:sp>
      <p:sp>
        <p:nvSpPr>
          <p:cNvPr id="29" name="Text 26"/>
          <p:cNvSpPr txBox="1"/>
          <p:nvPr/>
        </p:nvSpPr>
        <p:spPr>
          <a:xfrm>
            <a:off x="804672" y="5660136"/>
            <a:ext cx="8686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29119-4:2021 · cláusulas 3.45 y 3.6 · traducción propia del original</a:t>
            </a:r>
            <a:endParaRPr lang="en-US" sz="9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CASO DE PRUEBA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función que registra el estado de una reserva</a:t>
            </a:r>
            <a:endParaRPr lang="en-US" sz="3000" dirty="0"/>
          </a:p>
        </p:txBody>
      </p:sp>
      <p:sp>
        <p:nvSpPr>
          <p:cNvPr id="10" name="Text 7"/>
          <p:cNvSpPr txBox="1"/>
          <p:nvPr/>
        </p:nvSpPr>
        <p:spPr>
          <a:xfrm>
            <a:off x="658368" y="1773936"/>
            <a:ext cx="72237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Tres sentencias y una condición. La prueba que se le escribe es la evidente: una reserva válida queda confirmada.</a:t>
            </a:r>
            <a:endParaRPr lang="en-US" sz="1450" dirty="0"/>
          </a:p>
        </p:txBody>
      </p:sp>
      <p:sp>
        <p:nvSpPr>
          <p:cNvPr id="11" name="Shape 8"/>
          <p:cNvSpPr/>
          <p:nvPr/>
        </p:nvSpPr>
        <p:spPr>
          <a:xfrm>
            <a:off x="8165592" y="1883664"/>
            <a:ext cx="1060704" cy="274320"/>
          </a:xfrm>
          <a:prstGeom prst="rect">
            <a:avLst/>
          </a:prstGeom>
          <a:solidFill>
            <a:srgbClr val="EDE6DA"/>
          </a:solidFill>
          <a:ln w="12700">
            <a:solidFill>
              <a:srgbClr val="EDE6DA"/>
            </a:solidFill>
            <a:prstDash val="solid"/>
          </a:ln>
        </p:spPr>
      </p:sp>
      <p:sp>
        <p:nvSpPr>
          <p:cNvPr id="12" name="Text 9"/>
          <p:cNvSpPr txBox="1"/>
          <p:nvPr/>
        </p:nvSpPr>
        <p:spPr>
          <a:xfrm>
            <a:off x="8165592"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13" name="Shape 10"/>
          <p:cNvSpPr/>
          <p:nvPr/>
        </p:nvSpPr>
        <p:spPr>
          <a:xfrm>
            <a:off x="9317736" y="1883664"/>
            <a:ext cx="1060704" cy="274320"/>
          </a:xfrm>
          <a:prstGeom prst="rect">
            <a:avLst/>
          </a:prstGeom>
          <a:solidFill>
            <a:srgbClr val="102A43"/>
          </a:solidFill>
          <a:ln w="12700">
            <a:solidFill>
              <a:srgbClr val="102A43"/>
            </a:solidFill>
            <a:prstDash val="solid"/>
          </a:ln>
        </p:spPr>
      </p:sp>
      <p:sp>
        <p:nvSpPr>
          <p:cNvPr id="14" name="Text 11"/>
          <p:cNvSpPr txBox="1"/>
          <p:nvPr/>
        </p:nvSpPr>
        <p:spPr>
          <a:xfrm>
            <a:off x="9317736"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Predecir</a:t>
            </a:r>
            <a:endParaRPr lang="en-US" sz="940" dirty="0"/>
          </a:p>
        </p:txBody>
      </p:sp>
      <p:sp>
        <p:nvSpPr>
          <p:cNvPr id="15" name="Shape 12"/>
          <p:cNvSpPr/>
          <p:nvPr/>
        </p:nvSpPr>
        <p:spPr>
          <a:xfrm>
            <a:off x="10469880" y="1883664"/>
            <a:ext cx="1060704" cy="274320"/>
          </a:xfrm>
          <a:prstGeom prst="rect">
            <a:avLst/>
          </a:prstGeom>
          <a:solidFill>
            <a:srgbClr val="EDE6DA"/>
          </a:solidFill>
          <a:ln w="12700">
            <a:solidFill>
              <a:srgbClr val="EDE6DA"/>
            </a:solidFill>
            <a:prstDash val="solid"/>
          </a:ln>
        </p:spPr>
      </p:sp>
      <p:sp>
        <p:nvSpPr>
          <p:cNvPr id="16" name="Text 13"/>
          <p:cNvSpPr txBox="1"/>
          <p:nvPr/>
        </p:nvSpPr>
        <p:spPr>
          <a:xfrm>
            <a:off x="10469880" y="1892808"/>
            <a:ext cx="1060704"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17" name="Shape 14"/>
          <p:cNvSpPr/>
          <p:nvPr/>
        </p:nvSpPr>
        <p:spPr>
          <a:xfrm>
            <a:off x="658368" y="2340864"/>
            <a:ext cx="6858000" cy="1792224"/>
          </a:xfrm>
          <a:prstGeom prst="roundRect">
            <a:avLst>
              <a:gd name="adj" fmla="val 2041"/>
            </a:avLst>
          </a:prstGeom>
          <a:solidFill>
            <a:srgbClr val="102A43"/>
          </a:solidFill>
          <a:ln w="12700">
            <a:solidFill>
              <a:srgbClr val="102A43"/>
            </a:solidFill>
            <a:prstDash val="solid"/>
          </a:ln>
        </p:spPr>
      </p:sp>
      <p:sp>
        <p:nvSpPr>
          <p:cNvPr id="18" name="Shape 15"/>
          <p:cNvSpPr/>
          <p:nvPr/>
        </p:nvSpPr>
        <p:spPr>
          <a:xfrm>
            <a:off x="786384" y="2450592"/>
            <a:ext cx="660196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896112" y="2523744"/>
            <a:ext cx="63825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registro.py</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07792"/>
            <a:ext cx="6437376" cy="1042416"/>
          </a:xfrm>
          <a:prstGeom prst="rect">
            <a:avLst/>
          </a:prstGeom>
        </p:spPr>
      </p:pic>
      <p:sp>
        <p:nvSpPr>
          <p:cNvPr id="21" name="Shape 17"/>
          <p:cNvSpPr/>
          <p:nvPr/>
        </p:nvSpPr>
        <p:spPr>
          <a:xfrm>
            <a:off x="7699248" y="2340864"/>
            <a:ext cx="3831336" cy="1389888"/>
          </a:xfrm>
          <a:prstGeom prst="roundRect">
            <a:avLst>
              <a:gd name="adj" fmla="val 2632"/>
            </a:avLst>
          </a:prstGeom>
          <a:solidFill>
            <a:srgbClr val="102A43"/>
          </a:solidFill>
          <a:ln w="12700">
            <a:solidFill>
              <a:srgbClr val="102A43"/>
            </a:solidFill>
            <a:prstDash val="solid"/>
          </a:ln>
        </p:spPr>
      </p:sp>
      <p:sp>
        <p:nvSpPr>
          <p:cNvPr id="22" name="Shape 18"/>
          <p:cNvSpPr/>
          <p:nvPr/>
        </p:nvSpPr>
        <p:spPr>
          <a:xfrm>
            <a:off x="7827264" y="2450592"/>
            <a:ext cx="3575304" cy="310896"/>
          </a:xfrm>
          <a:prstGeom prst="roundRect">
            <a:avLst>
              <a:gd name="adj" fmla="val 8824"/>
            </a:avLst>
          </a:prstGeom>
          <a:solidFill>
            <a:srgbClr val="284B75"/>
          </a:solidFill>
          <a:ln w="12700">
            <a:solidFill>
              <a:srgbClr val="284B75"/>
            </a:solidFill>
            <a:prstDash val="solid"/>
          </a:ln>
        </p:spPr>
      </p:sp>
      <p:sp>
        <p:nvSpPr>
          <p:cNvPr id="23" name="Text 19"/>
          <p:cNvSpPr/>
          <p:nvPr/>
        </p:nvSpPr>
        <p:spPr>
          <a:xfrm>
            <a:off x="7936992" y="2523744"/>
            <a:ext cx="335584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única prueba</a:t>
            </a:r>
            <a:endParaRPr lang="en-US" sz="10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18704" y="2907792"/>
            <a:ext cx="3410712" cy="640080"/>
          </a:xfrm>
          <a:prstGeom prst="rect">
            <a:avLst/>
          </a:prstGeom>
        </p:spPr>
      </p:pic>
      <p:sp>
        <p:nvSpPr>
          <p:cNvPr id="25" name="Shape 20"/>
          <p:cNvSpPr/>
          <p:nvPr/>
        </p:nvSpPr>
        <p:spPr>
          <a:xfrm>
            <a:off x="7699248" y="3858768"/>
            <a:ext cx="3831336" cy="274320"/>
          </a:xfrm>
          <a:prstGeom prst="rect">
            <a:avLst/>
          </a:prstGeom>
          <a:solidFill>
            <a:srgbClr val="E6EEF7"/>
          </a:solidFill>
          <a:ln w="12700">
            <a:solidFill>
              <a:srgbClr val="E6EEF7"/>
            </a:solidFill>
            <a:prstDash val="solid"/>
          </a:ln>
        </p:spPr>
      </p:sp>
      <p:sp>
        <p:nvSpPr>
          <p:cNvPr id="26" name="Text 21"/>
          <p:cNvSpPr txBox="1"/>
          <p:nvPr/>
        </p:nvSpPr>
        <p:spPr>
          <a:xfrm>
            <a:off x="7863840" y="3877056"/>
            <a:ext cx="3566160" cy="237744"/>
          </a:xfrm>
          <a:prstGeom prst="rect">
            <a:avLst/>
          </a:prstGeom>
          <a:noFill/>
          <a:ln/>
        </p:spPr>
        <p:txBody>
          <a:bodyPr wrap="square" lIns="0" tIns="0" rIns="0" bIns="0" rtlCol="0" anchor="ctr"/>
          <a:lstStyle/>
          <a:p>
            <a:pPr algn="l" indent="0" marL="0">
              <a:buNone/>
            </a:pPr>
            <a:r>
              <a:rPr lang="en-US" sz="1060" dirty="0">
                <a:solidFill>
                  <a:srgbClr val="243B53"/>
                </a:solidFill>
                <a:latin typeface="Aptos" pitchFamily="34" charset="0"/>
                <a:ea typeface="Aptos" pitchFamily="34" charset="-122"/>
                <a:cs typeface="Aptos" pitchFamily="34" charset="-120"/>
              </a:rPr>
              <a:t>Alguien con 1 reserva pide el bloque 4 libre.</a:t>
            </a:r>
            <a:endParaRPr lang="en-US" sz="1060" dirty="0"/>
          </a:p>
        </p:txBody>
      </p:sp>
      <p:sp>
        <p:nvSpPr>
          <p:cNvPr id="27" name="Text 22"/>
          <p:cNvSpPr txBox="1"/>
          <p:nvPr/>
        </p:nvSpPr>
        <p:spPr>
          <a:xfrm>
            <a:off x="658368" y="4370832"/>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ANTES DE MEDIR: ANTICIPEN</a:t>
            </a:r>
            <a:endParaRPr lang="en-US" sz="960" dirty="0"/>
          </a:p>
        </p:txBody>
      </p:sp>
      <p:sp>
        <p:nvSpPr>
          <p:cNvPr id="28" name="Text 23"/>
          <p:cNvSpPr txBox="1"/>
          <p:nvPr/>
        </p:nvSpPr>
        <p:spPr>
          <a:xfrm>
            <a:off x="658368" y="4645152"/>
            <a:ext cx="10874959" cy="384048"/>
          </a:xfrm>
          <a:prstGeom prst="rect">
            <a:avLst/>
          </a:prstGeom>
          <a:noFill/>
          <a:ln/>
        </p:spPr>
        <p:txBody>
          <a:bodyPr wrap="square" lIns="0" tIns="0" rIns="0" bIns="0" rtlCol="0" anchor="ctr"/>
          <a:lstStyle/>
          <a:p>
            <a:pPr algn="l" indent="0" marL="0">
              <a:buNone/>
            </a:pPr>
            <a:r>
              <a:rPr lang="en-US" sz="2100" b="1" dirty="0">
                <a:solidFill>
                  <a:srgbClr val="243B53"/>
                </a:solidFill>
                <a:latin typeface="Aptos Display" pitchFamily="34" charset="0"/>
                <a:ea typeface="Aptos Display" pitchFamily="34" charset="-122"/>
                <a:cs typeface="Aptos Display" pitchFamily="34" charset="-120"/>
              </a:rPr>
              <a:t>Con esa prueba ejecutándose, ¿queda alguna línea sin ejecutar?</a:t>
            </a:r>
            <a:endParaRPr lang="en-US" sz="2100" dirty="0"/>
          </a:p>
        </p:txBody>
      </p:sp>
      <p:sp>
        <p:nvSpPr>
          <p:cNvPr id="29" name="Shape 24"/>
          <p:cNvSpPr/>
          <p:nvPr/>
        </p:nvSpPr>
        <p:spPr>
          <a:xfrm>
            <a:off x="658368" y="5193792"/>
            <a:ext cx="10874959" cy="512064"/>
          </a:xfrm>
          <a:prstGeom prst="rect">
            <a:avLst/>
          </a:prstGeom>
          <a:solidFill>
            <a:srgbClr val="102A43"/>
          </a:solidFill>
          <a:ln w="12700">
            <a:solidFill>
              <a:srgbClr val="102A43"/>
            </a:solidFill>
            <a:prstDash val="solid"/>
          </a:ln>
        </p:spPr>
      </p:sp>
      <p:sp>
        <p:nvSpPr>
          <p:cNvPr id="30" name="Text 25"/>
          <p:cNvSpPr txBox="1"/>
          <p:nvPr/>
        </p:nvSpPr>
        <p:spPr>
          <a:xfrm>
            <a:off x="969264" y="5230368"/>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respuesta es no, y sin embargo hay algo del programa que esa prueba nunca recorrió.</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MISMA PRUEBA, DOS MEDIDAS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Cien por ciento y ochenta y ocho por ciento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misma prueba, la misma función, el mismo momento. Lo único que cambia es qué se le pidió contar a la herramienta.</a:t>
            </a:r>
            <a:endParaRPr lang="en-US" sz="1450" dirty="0"/>
          </a:p>
        </p:txBody>
      </p:sp>
      <p:sp>
        <p:nvSpPr>
          <p:cNvPr id="11" name="Text 8"/>
          <p:cNvSpPr txBox="1"/>
          <p:nvPr/>
        </p:nvSpPr>
        <p:spPr>
          <a:xfrm>
            <a:off x="658368" y="2286000"/>
            <a:ext cx="45720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CONTANDO SENTENCIAS</a:t>
            </a:r>
            <a:endParaRPr lang="en-US" sz="960" dirty="0"/>
          </a:p>
        </p:txBody>
      </p:sp>
      <p:sp>
        <p:nvSpPr>
          <p:cNvPr id="12" name="Shape 9"/>
          <p:cNvSpPr/>
          <p:nvPr/>
        </p:nvSpPr>
        <p:spPr>
          <a:xfrm>
            <a:off x="658368" y="2523744"/>
            <a:ext cx="5175504" cy="1097280"/>
          </a:xfrm>
          <a:prstGeom prst="rect">
            <a:avLst/>
          </a:prstGeom>
          <a:solidFill>
            <a:srgbClr val="0F1720"/>
          </a:solidFill>
          <a:ln w="12700">
            <a:solidFill>
              <a:srgbClr val="0F1720"/>
            </a:solidFill>
            <a:prstDash val="solid"/>
          </a:ln>
        </p:spPr>
      </p:sp>
      <p:sp>
        <p:nvSpPr>
          <p:cNvPr id="13" name="Shape 10"/>
          <p:cNvSpPr/>
          <p:nvPr/>
        </p:nvSpPr>
        <p:spPr>
          <a:xfrm>
            <a:off x="658368" y="2523744"/>
            <a:ext cx="5175504" cy="292608"/>
          </a:xfrm>
          <a:prstGeom prst="rect">
            <a:avLst/>
          </a:prstGeom>
          <a:solidFill>
            <a:srgbClr val="1D3A57"/>
          </a:solidFill>
          <a:ln w="12700">
            <a:solidFill>
              <a:srgbClr val="1D3A57"/>
            </a:solidFill>
            <a:prstDash val="solid"/>
          </a:ln>
        </p:spPr>
      </p:sp>
      <p:sp>
        <p:nvSpPr>
          <p:cNvPr id="14" name="Text 11"/>
          <p:cNvSpPr txBox="1"/>
          <p:nvPr/>
        </p:nvSpPr>
        <p:spPr>
          <a:xfrm>
            <a:off x="859536" y="2569464"/>
            <a:ext cx="4773168" cy="201168"/>
          </a:xfrm>
          <a:prstGeom prst="rect">
            <a:avLst/>
          </a:prstGeom>
          <a:noFill/>
          <a:ln/>
        </p:spPr>
        <p:txBody>
          <a:bodyPr wrap="square" lIns="0" tIns="0" rIns="0" bIns="0" rtlCol="0" anchor="t"/>
          <a:lstStyle/>
          <a:p>
            <a:pPr algn="l" indent="0" marL="0">
              <a:buNone/>
            </a:pPr>
            <a:r>
              <a:rPr lang="en-US" sz="940" b="1" spc="60" kern="0" dirty="0">
                <a:solidFill>
                  <a:srgbClr val="EADFD0"/>
                </a:solidFill>
                <a:latin typeface="Aptos" pitchFamily="34" charset="0"/>
                <a:ea typeface="Aptos" pitchFamily="34" charset="-122"/>
                <a:cs typeface="Aptos" pitchFamily="34" charset="-120"/>
              </a:rPr>
              <a:t>uv run pytest --cov=registro --cov-report=term-missing -q</a:t>
            </a:r>
            <a:endParaRPr lang="en-US" sz="940" dirty="0"/>
          </a:p>
        </p:txBody>
      </p:sp>
      <p:sp>
        <p:nvSpPr>
          <p:cNvPr id="15" name="Text 12"/>
          <p:cNvSpPr txBox="1"/>
          <p:nvPr/>
        </p:nvSpPr>
        <p:spPr>
          <a:xfrm>
            <a:off x="859536" y="2926080"/>
            <a:ext cx="1316736" cy="219456"/>
          </a:xfrm>
          <a:prstGeom prst="rect">
            <a:avLst/>
          </a:prstGeom>
          <a:noFill/>
          <a:ln/>
        </p:spPr>
        <p:txBody>
          <a:bodyPr wrap="square" lIns="0" tIns="0" rIns="0" bIns="0" rtlCol="0" anchor="t"/>
          <a:lstStyle/>
          <a:p>
            <a:pPr algn="l" indent="0" marL="0">
              <a:buNone/>
            </a:pPr>
            <a:r>
              <a:rPr lang="en-US" sz="1020" b="1" dirty="0">
                <a:solidFill>
                  <a:srgbClr val="8AA0B6"/>
                </a:solidFill>
                <a:latin typeface="Consolas" pitchFamily="34" charset="0"/>
                <a:ea typeface="Consolas" pitchFamily="34" charset="-122"/>
                <a:cs typeface="Consolas" pitchFamily="34" charset="-120"/>
              </a:rPr>
              <a:t>Name</a:t>
            </a:r>
            <a:endParaRPr lang="en-US" sz="1020" dirty="0"/>
          </a:p>
        </p:txBody>
      </p:sp>
      <p:sp>
        <p:nvSpPr>
          <p:cNvPr id="16" name="Text 13"/>
          <p:cNvSpPr txBox="1"/>
          <p:nvPr/>
        </p:nvSpPr>
        <p:spPr>
          <a:xfrm>
            <a:off x="2231136" y="2926080"/>
            <a:ext cx="621792" cy="219456"/>
          </a:xfrm>
          <a:prstGeom prst="rect">
            <a:avLst/>
          </a:prstGeom>
          <a:noFill/>
          <a:ln/>
        </p:spPr>
        <p:txBody>
          <a:bodyPr wrap="square" lIns="0" tIns="0" rIns="0" bIns="0" rtlCol="0" anchor="t"/>
          <a:lstStyle/>
          <a:p>
            <a:pPr algn="r" indent="0" marL="0">
              <a:buNone/>
            </a:pPr>
            <a:r>
              <a:rPr lang="en-US" sz="1020" b="1" dirty="0">
                <a:solidFill>
                  <a:srgbClr val="8AA0B6"/>
                </a:solidFill>
                <a:latin typeface="Consolas" pitchFamily="34" charset="0"/>
                <a:ea typeface="Consolas" pitchFamily="34" charset="-122"/>
                <a:cs typeface="Consolas" pitchFamily="34" charset="-120"/>
              </a:rPr>
              <a:t>Stmts</a:t>
            </a:r>
            <a:endParaRPr lang="en-US" sz="1020" dirty="0"/>
          </a:p>
        </p:txBody>
      </p:sp>
      <p:sp>
        <p:nvSpPr>
          <p:cNvPr id="17" name="Text 14"/>
          <p:cNvSpPr txBox="1"/>
          <p:nvPr/>
        </p:nvSpPr>
        <p:spPr>
          <a:xfrm>
            <a:off x="3108960" y="2926080"/>
            <a:ext cx="530352" cy="219456"/>
          </a:xfrm>
          <a:prstGeom prst="rect">
            <a:avLst/>
          </a:prstGeom>
          <a:noFill/>
          <a:ln/>
        </p:spPr>
        <p:txBody>
          <a:bodyPr wrap="square" lIns="0" tIns="0" rIns="0" bIns="0" rtlCol="0" anchor="t"/>
          <a:lstStyle/>
          <a:p>
            <a:pPr algn="r" indent="0" marL="0">
              <a:buNone/>
            </a:pPr>
            <a:r>
              <a:rPr lang="en-US" sz="1020" b="1" dirty="0">
                <a:solidFill>
                  <a:srgbClr val="8AA0B6"/>
                </a:solidFill>
                <a:latin typeface="Consolas" pitchFamily="34" charset="0"/>
                <a:ea typeface="Consolas" pitchFamily="34" charset="-122"/>
                <a:cs typeface="Consolas" pitchFamily="34" charset="-120"/>
              </a:rPr>
              <a:t>Miss</a:t>
            </a:r>
            <a:endParaRPr lang="en-US" sz="1020" dirty="0"/>
          </a:p>
        </p:txBody>
      </p:sp>
      <p:sp>
        <p:nvSpPr>
          <p:cNvPr id="18" name="Text 15"/>
          <p:cNvSpPr txBox="1"/>
          <p:nvPr/>
        </p:nvSpPr>
        <p:spPr>
          <a:xfrm>
            <a:off x="3895344" y="2926080"/>
            <a:ext cx="621792" cy="219456"/>
          </a:xfrm>
          <a:prstGeom prst="rect">
            <a:avLst/>
          </a:prstGeom>
          <a:noFill/>
          <a:ln/>
        </p:spPr>
        <p:txBody>
          <a:bodyPr wrap="square" lIns="0" tIns="0" rIns="0" bIns="0" rtlCol="0" anchor="t"/>
          <a:lstStyle/>
          <a:p>
            <a:pPr algn="r" indent="0" marL="0">
              <a:buNone/>
            </a:pPr>
            <a:r>
              <a:rPr lang="en-US" sz="1020" b="1" dirty="0">
                <a:solidFill>
                  <a:srgbClr val="8AA0B6"/>
                </a:solidFill>
                <a:latin typeface="Consolas" pitchFamily="34" charset="0"/>
                <a:ea typeface="Consolas" pitchFamily="34" charset="-122"/>
                <a:cs typeface="Consolas" pitchFamily="34" charset="-120"/>
              </a:rPr>
              <a:t>Cover</a:t>
            </a:r>
            <a:endParaRPr lang="en-US" sz="1020" dirty="0"/>
          </a:p>
        </p:txBody>
      </p:sp>
      <p:sp>
        <p:nvSpPr>
          <p:cNvPr id="19" name="Text 16"/>
          <p:cNvSpPr txBox="1"/>
          <p:nvPr/>
        </p:nvSpPr>
        <p:spPr>
          <a:xfrm>
            <a:off x="4773168" y="2926080"/>
            <a:ext cx="768096" cy="219456"/>
          </a:xfrm>
          <a:prstGeom prst="rect">
            <a:avLst/>
          </a:prstGeom>
          <a:noFill/>
          <a:ln/>
        </p:spPr>
        <p:txBody>
          <a:bodyPr wrap="square" lIns="0" tIns="0" rIns="0" bIns="0" rtlCol="0" anchor="t"/>
          <a:lstStyle/>
          <a:p>
            <a:pPr algn="l" indent="0" marL="0">
              <a:buNone/>
            </a:pPr>
            <a:r>
              <a:rPr lang="en-US" sz="1020" b="1" dirty="0">
                <a:solidFill>
                  <a:srgbClr val="8AA0B6"/>
                </a:solidFill>
                <a:latin typeface="Consolas" pitchFamily="34" charset="0"/>
                <a:ea typeface="Consolas" pitchFamily="34" charset="-122"/>
                <a:cs typeface="Consolas" pitchFamily="34" charset="-120"/>
              </a:rPr>
              <a:t>Missing</a:t>
            </a:r>
            <a:endParaRPr lang="en-US" sz="1020" dirty="0"/>
          </a:p>
        </p:txBody>
      </p:sp>
      <p:sp>
        <p:nvSpPr>
          <p:cNvPr id="20" name="Shape 17"/>
          <p:cNvSpPr/>
          <p:nvPr/>
        </p:nvSpPr>
        <p:spPr>
          <a:xfrm>
            <a:off x="859536" y="3182112"/>
            <a:ext cx="4773168" cy="0"/>
          </a:xfrm>
          <a:prstGeom prst="line">
            <a:avLst/>
          </a:prstGeom>
          <a:noFill/>
          <a:ln w="12700">
            <a:solidFill>
              <a:srgbClr val="2C4A66"/>
            </a:solidFill>
            <a:prstDash val="solid"/>
            <a:headEnd type="none"/>
            <a:tailEnd type="none"/>
          </a:ln>
        </p:spPr>
      </p:sp>
      <p:sp>
        <p:nvSpPr>
          <p:cNvPr id="21" name="Text 18"/>
          <p:cNvSpPr txBox="1"/>
          <p:nvPr/>
        </p:nvSpPr>
        <p:spPr>
          <a:xfrm>
            <a:off x="859536" y="3255264"/>
            <a:ext cx="1316736" cy="256032"/>
          </a:xfrm>
          <a:prstGeom prst="rect">
            <a:avLst/>
          </a:prstGeom>
          <a:noFill/>
          <a:ln/>
        </p:spPr>
        <p:txBody>
          <a:bodyPr wrap="square" lIns="0" tIns="0" rIns="0" bIns="0" rtlCol="0" anchor="t"/>
          <a:lstStyle/>
          <a:p>
            <a:pPr algn="l" indent="0" marL="0">
              <a:buNone/>
            </a:pPr>
            <a:r>
              <a:rPr lang="en-US" sz="1020" dirty="0">
                <a:solidFill>
                  <a:srgbClr val="E6EEF7"/>
                </a:solidFill>
                <a:latin typeface="Consolas" pitchFamily="34" charset="0"/>
                <a:ea typeface="Consolas" pitchFamily="34" charset="-122"/>
                <a:cs typeface="Consolas" pitchFamily="34" charset="-120"/>
              </a:rPr>
              <a:t>registro.py</a:t>
            </a:r>
            <a:endParaRPr lang="en-US" sz="1020" dirty="0"/>
          </a:p>
        </p:txBody>
      </p:sp>
      <p:sp>
        <p:nvSpPr>
          <p:cNvPr id="22" name="Text 19"/>
          <p:cNvSpPr txBox="1"/>
          <p:nvPr/>
        </p:nvSpPr>
        <p:spPr>
          <a:xfrm>
            <a:off x="2231136" y="3255264"/>
            <a:ext cx="621792" cy="256032"/>
          </a:xfrm>
          <a:prstGeom prst="rect">
            <a:avLst/>
          </a:prstGeom>
          <a:noFill/>
          <a:ln/>
        </p:spPr>
        <p:txBody>
          <a:bodyPr wrap="square" lIns="0" tIns="0" rIns="0" bIns="0" rtlCol="0" anchor="t"/>
          <a:lstStyle/>
          <a:p>
            <a:pPr algn="r" indent="0" marL="0">
              <a:buNone/>
            </a:pPr>
            <a:r>
              <a:rPr lang="en-US" sz="1020" dirty="0">
                <a:solidFill>
                  <a:srgbClr val="E6EEF7"/>
                </a:solidFill>
                <a:latin typeface="Consolas" pitchFamily="34" charset="0"/>
                <a:ea typeface="Consolas" pitchFamily="34" charset="-122"/>
                <a:cs typeface="Consolas" pitchFamily="34" charset="-120"/>
              </a:rPr>
              <a:t>6</a:t>
            </a:r>
            <a:endParaRPr lang="en-US" sz="1020" dirty="0"/>
          </a:p>
        </p:txBody>
      </p:sp>
      <p:sp>
        <p:nvSpPr>
          <p:cNvPr id="23" name="Text 20"/>
          <p:cNvSpPr txBox="1"/>
          <p:nvPr/>
        </p:nvSpPr>
        <p:spPr>
          <a:xfrm>
            <a:off x="3108960" y="3255264"/>
            <a:ext cx="530352" cy="256032"/>
          </a:xfrm>
          <a:prstGeom prst="rect">
            <a:avLst/>
          </a:prstGeom>
          <a:noFill/>
          <a:ln/>
        </p:spPr>
        <p:txBody>
          <a:bodyPr wrap="square" lIns="0" tIns="0" rIns="0" bIns="0" rtlCol="0" anchor="t"/>
          <a:lstStyle/>
          <a:p>
            <a:pPr algn="r" indent="0" marL="0">
              <a:buNone/>
            </a:pPr>
            <a:r>
              <a:rPr lang="en-US" sz="1020" dirty="0">
                <a:solidFill>
                  <a:srgbClr val="E6EEF7"/>
                </a:solidFill>
                <a:latin typeface="Consolas" pitchFamily="34" charset="0"/>
                <a:ea typeface="Consolas" pitchFamily="34" charset="-122"/>
                <a:cs typeface="Consolas" pitchFamily="34" charset="-120"/>
              </a:rPr>
              <a:t>0</a:t>
            </a:r>
            <a:endParaRPr lang="en-US" sz="1020" dirty="0"/>
          </a:p>
        </p:txBody>
      </p:sp>
      <p:sp>
        <p:nvSpPr>
          <p:cNvPr id="24" name="Text 21"/>
          <p:cNvSpPr txBox="1"/>
          <p:nvPr/>
        </p:nvSpPr>
        <p:spPr>
          <a:xfrm>
            <a:off x="3895344" y="3255264"/>
            <a:ext cx="621792" cy="256032"/>
          </a:xfrm>
          <a:prstGeom prst="rect">
            <a:avLst/>
          </a:prstGeom>
          <a:noFill/>
          <a:ln/>
        </p:spPr>
        <p:txBody>
          <a:bodyPr wrap="square" lIns="0" tIns="0" rIns="0" bIns="0" rtlCol="0" anchor="t"/>
          <a:lstStyle/>
          <a:p>
            <a:pPr algn="r" indent="0" marL="0">
              <a:buNone/>
            </a:pPr>
            <a:r>
              <a:rPr lang="en-US" sz="1020" dirty="0">
                <a:solidFill>
                  <a:srgbClr val="E6EEF7"/>
                </a:solidFill>
                <a:latin typeface="Consolas" pitchFamily="34" charset="0"/>
                <a:ea typeface="Consolas" pitchFamily="34" charset="-122"/>
                <a:cs typeface="Consolas" pitchFamily="34" charset="-120"/>
              </a:rPr>
              <a:t>100%</a:t>
            </a:r>
            <a:endParaRPr lang="en-US" sz="1020" dirty="0"/>
          </a:p>
        </p:txBody>
      </p:sp>
      <p:sp>
        <p:nvSpPr>
          <p:cNvPr id="25" name="Text 22"/>
          <p:cNvSpPr txBox="1"/>
          <p:nvPr/>
        </p:nvSpPr>
        <p:spPr>
          <a:xfrm>
            <a:off x="4773168" y="3255264"/>
            <a:ext cx="768096" cy="256032"/>
          </a:xfrm>
          <a:prstGeom prst="rect">
            <a:avLst/>
          </a:prstGeom>
          <a:noFill/>
          <a:ln/>
        </p:spPr>
        <p:txBody>
          <a:bodyPr wrap="square" lIns="0" tIns="0" rIns="0" bIns="0" rtlCol="0" anchor="t"/>
          <a:lstStyle/>
          <a:p>
            <a:pPr algn="l" indent="0" marL="0">
              <a:buNone/>
            </a:pPr>
            <a:endParaRPr lang="en-US" sz="1020" dirty="0"/>
          </a:p>
        </p:txBody>
      </p:sp>
      <p:sp>
        <p:nvSpPr>
          <p:cNvPr id="26" name="Text 23"/>
          <p:cNvSpPr txBox="1"/>
          <p:nvPr/>
        </p:nvSpPr>
        <p:spPr>
          <a:xfrm>
            <a:off x="658368" y="3749040"/>
            <a:ext cx="5175504" cy="237744"/>
          </a:xfrm>
          <a:prstGeom prst="rect">
            <a:avLst/>
          </a:prstGeom>
          <a:noFill/>
          <a:ln/>
        </p:spPr>
        <p:txBody>
          <a:bodyPr wrap="square" lIns="0" tIns="0" rIns="0" bIns="0" rtlCol="0" anchor="t"/>
          <a:lstStyle/>
          <a:p>
            <a:pPr algn="l" indent="0" marL="0">
              <a:buNone/>
            </a:pPr>
            <a:r>
              <a:rPr lang="en-US" sz="1140" i="1" dirty="0">
                <a:solidFill>
                  <a:srgbClr val="2E7D4F"/>
                </a:solidFill>
                <a:latin typeface="Aptos" pitchFamily="34" charset="0"/>
                <a:ea typeface="Aptos" pitchFamily="34" charset="-122"/>
                <a:cs typeface="Aptos" pitchFamily="34" charset="-120"/>
              </a:rPr>
              <a:t>1 passed · ninguna línea sin ejecutar</a:t>
            </a:r>
            <a:endParaRPr lang="en-US" sz="1140" dirty="0"/>
          </a:p>
        </p:txBody>
      </p:sp>
      <p:sp>
        <p:nvSpPr>
          <p:cNvPr id="27" name="Text 24"/>
          <p:cNvSpPr txBox="1"/>
          <p:nvPr/>
        </p:nvSpPr>
        <p:spPr>
          <a:xfrm>
            <a:off x="6364224" y="2286000"/>
            <a:ext cx="45720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CONTANDO RAMAS: --COV-BRANCH</a:t>
            </a:r>
            <a:endParaRPr lang="en-US" sz="960" dirty="0"/>
          </a:p>
        </p:txBody>
      </p:sp>
      <p:sp>
        <p:nvSpPr>
          <p:cNvPr id="28" name="Shape 25"/>
          <p:cNvSpPr/>
          <p:nvPr/>
        </p:nvSpPr>
        <p:spPr>
          <a:xfrm>
            <a:off x="6364224" y="2523744"/>
            <a:ext cx="5175504" cy="1097280"/>
          </a:xfrm>
          <a:prstGeom prst="rect">
            <a:avLst/>
          </a:prstGeom>
          <a:solidFill>
            <a:srgbClr val="0F1720"/>
          </a:solidFill>
          <a:ln w="12700">
            <a:solidFill>
              <a:srgbClr val="0F1720"/>
            </a:solidFill>
            <a:prstDash val="solid"/>
          </a:ln>
        </p:spPr>
      </p:sp>
      <p:sp>
        <p:nvSpPr>
          <p:cNvPr id="29" name="Shape 26"/>
          <p:cNvSpPr/>
          <p:nvPr/>
        </p:nvSpPr>
        <p:spPr>
          <a:xfrm>
            <a:off x="6364224" y="2523744"/>
            <a:ext cx="5175504" cy="292608"/>
          </a:xfrm>
          <a:prstGeom prst="rect">
            <a:avLst/>
          </a:prstGeom>
          <a:solidFill>
            <a:srgbClr val="1D3A57"/>
          </a:solidFill>
          <a:ln w="12700">
            <a:solidFill>
              <a:srgbClr val="1D3A57"/>
            </a:solidFill>
            <a:prstDash val="solid"/>
          </a:ln>
        </p:spPr>
      </p:sp>
      <p:sp>
        <p:nvSpPr>
          <p:cNvPr id="30" name="Text 27"/>
          <p:cNvSpPr txBox="1"/>
          <p:nvPr/>
        </p:nvSpPr>
        <p:spPr>
          <a:xfrm>
            <a:off x="6565392" y="2569464"/>
            <a:ext cx="4773168" cy="201168"/>
          </a:xfrm>
          <a:prstGeom prst="rect">
            <a:avLst/>
          </a:prstGeom>
          <a:noFill/>
          <a:ln/>
        </p:spPr>
        <p:txBody>
          <a:bodyPr wrap="square" lIns="0" tIns="0" rIns="0" bIns="0" rtlCol="0" anchor="t"/>
          <a:lstStyle/>
          <a:p>
            <a:pPr algn="l" indent="0" marL="0">
              <a:buNone/>
            </a:pPr>
            <a:r>
              <a:rPr lang="en-US" sz="940" b="1" spc="60" kern="0" dirty="0">
                <a:solidFill>
                  <a:srgbClr val="EADFD0"/>
                </a:solidFill>
                <a:latin typeface="Aptos" pitchFamily="34" charset="0"/>
                <a:ea typeface="Aptos" pitchFamily="34" charset="-122"/>
                <a:cs typeface="Aptos" pitchFamily="34" charset="-120"/>
              </a:rPr>
              <a:t>…  --cov-branch  --cov-report=term-missing -q</a:t>
            </a:r>
            <a:endParaRPr lang="en-US" sz="940" dirty="0"/>
          </a:p>
        </p:txBody>
      </p:sp>
      <p:sp>
        <p:nvSpPr>
          <p:cNvPr id="31" name="Shape 28"/>
          <p:cNvSpPr/>
          <p:nvPr/>
        </p:nvSpPr>
        <p:spPr>
          <a:xfrm>
            <a:off x="10899648" y="2871216"/>
            <a:ext cx="621792" cy="694944"/>
          </a:xfrm>
          <a:prstGeom prst="rect">
            <a:avLst/>
          </a:prstGeom>
          <a:solidFill>
            <a:srgbClr val="1D3A57"/>
          </a:solidFill>
          <a:ln w="12700">
            <a:solidFill>
              <a:srgbClr val="1D3A57"/>
            </a:solidFill>
            <a:prstDash val="solid"/>
          </a:ln>
        </p:spPr>
      </p:sp>
      <p:sp>
        <p:nvSpPr>
          <p:cNvPr id="32" name="Text 29"/>
          <p:cNvSpPr txBox="1"/>
          <p:nvPr/>
        </p:nvSpPr>
        <p:spPr>
          <a:xfrm>
            <a:off x="6565392" y="2926080"/>
            <a:ext cx="1078992" cy="219456"/>
          </a:xfrm>
          <a:prstGeom prst="rect">
            <a:avLst/>
          </a:prstGeom>
          <a:noFill/>
          <a:ln/>
        </p:spPr>
        <p:txBody>
          <a:bodyPr wrap="square" lIns="0" tIns="0" rIns="0" bIns="0" rtlCol="0" anchor="t"/>
          <a:lstStyle/>
          <a:p>
            <a:pPr algn="l" indent="0" marL="0">
              <a:buNone/>
            </a:pPr>
            <a:r>
              <a:rPr lang="en-US" sz="900" b="1" dirty="0">
                <a:solidFill>
                  <a:srgbClr val="8AA0B6"/>
                </a:solidFill>
                <a:latin typeface="Consolas" pitchFamily="34" charset="0"/>
                <a:ea typeface="Consolas" pitchFamily="34" charset="-122"/>
                <a:cs typeface="Consolas" pitchFamily="34" charset="-120"/>
              </a:rPr>
              <a:t>Name</a:t>
            </a:r>
            <a:endParaRPr lang="en-US" sz="900" dirty="0"/>
          </a:p>
        </p:txBody>
      </p:sp>
      <p:sp>
        <p:nvSpPr>
          <p:cNvPr id="33" name="Text 30"/>
          <p:cNvSpPr txBox="1"/>
          <p:nvPr/>
        </p:nvSpPr>
        <p:spPr>
          <a:xfrm>
            <a:off x="7699248" y="2926080"/>
            <a:ext cx="347472" cy="219456"/>
          </a:xfrm>
          <a:prstGeom prst="rect">
            <a:avLst/>
          </a:prstGeom>
          <a:noFill/>
          <a:ln/>
        </p:spPr>
        <p:txBody>
          <a:bodyPr wrap="square" lIns="0" tIns="0" rIns="0" bIns="0" rtlCol="0" anchor="t"/>
          <a:lstStyle/>
          <a:p>
            <a:pPr algn="r" indent="0" marL="0">
              <a:buNone/>
            </a:pPr>
            <a:r>
              <a:rPr lang="en-US" sz="900" b="1" dirty="0">
                <a:solidFill>
                  <a:srgbClr val="8AA0B6"/>
                </a:solidFill>
                <a:latin typeface="Consolas" pitchFamily="34" charset="0"/>
                <a:ea typeface="Consolas" pitchFamily="34" charset="-122"/>
                <a:cs typeface="Consolas" pitchFamily="34" charset="-120"/>
              </a:rPr>
              <a:t>Stmts</a:t>
            </a:r>
            <a:endParaRPr lang="en-US" sz="900" dirty="0"/>
          </a:p>
        </p:txBody>
      </p:sp>
      <p:sp>
        <p:nvSpPr>
          <p:cNvPr id="34" name="Text 31"/>
          <p:cNvSpPr txBox="1"/>
          <p:nvPr/>
        </p:nvSpPr>
        <p:spPr>
          <a:xfrm>
            <a:off x="8302752" y="2926080"/>
            <a:ext cx="292608" cy="219456"/>
          </a:xfrm>
          <a:prstGeom prst="rect">
            <a:avLst/>
          </a:prstGeom>
          <a:noFill/>
          <a:ln/>
        </p:spPr>
        <p:txBody>
          <a:bodyPr wrap="square" lIns="0" tIns="0" rIns="0" bIns="0" rtlCol="0" anchor="t"/>
          <a:lstStyle/>
          <a:p>
            <a:pPr algn="r" indent="0" marL="0">
              <a:buNone/>
            </a:pPr>
            <a:r>
              <a:rPr lang="en-US" sz="900" b="1" dirty="0">
                <a:solidFill>
                  <a:srgbClr val="8AA0B6"/>
                </a:solidFill>
                <a:latin typeface="Consolas" pitchFamily="34" charset="0"/>
                <a:ea typeface="Consolas" pitchFamily="34" charset="-122"/>
                <a:cs typeface="Consolas" pitchFamily="34" charset="-120"/>
              </a:rPr>
              <a:t>Miss</a:t>
            </a:r>
            <a:endParaRPr lang="en-US" sz="900" dirty="0"/>
          </a:p>
        </p:txBody>
      </p:sp>
      <p:sp>
        <p:nvSpPr>
          <p:cNvPr id="35" name="Text 32"/>
          <p:cNvSpPr txBox="1"/>
          <p:nvPr/>
        </p:nvSpPr>
        <p:spPr>
          <a:xfrm>
            <a:off x="8851392" y="2926080"/>
            <a:ext cx="438912" cy="219456"/>
          </a:xfrm>
          <a:prstGeom prst="rect">
            <a:avLst/>
          </a:prstGeom>
          <a:noFill/>
          <a:ln/>
        </p:spPr>
        <p:txBody>
          <a:bodyPr wrap="square" lIns="0" tIns="0" rIns="0" bIns="0" rtlCol="0" anchor="t"/>
          <a:lstStyle/>
          <a:p>
            <a:pPr algn="r" indent="0" marL="0">
              <a:buNone/>
            </a:pPr>
            <a:r>
              <a:rPr lang="en-US" sz="900" b="1" dirty="0">
                <a:solidFill>
                  <a:srgbClr val="8AA0B6"/>
                </a:solidFill>
                <a:latin typeface="Consolas" pitchFamily="34" charset="0"/>
                <a:ea typeface="Consolas" pitchFamily="34" charset="-122"/>
                <a:cs typeface="Consolas" pitchFamily="34" charset="-120"/>
              </a:rPr>
              <a:t>Branch</a:t>
            </a:r>
            <a:endParaRPr lang="en-US" sz="900" dirty="0"/>
          </a:p>
        </p:txBody>
      </p:sp>
      <p:sp>
        <p:nvSpPr>
          <p:cNvPr id="36" name="Text 33"/>
          <p:cNvSpPr txBox="1"/>
          <p:nvPr/>
        </p:nvSpPr>
        <p:spPr>
          <a:xfrm>
            <a:off x="9546336" y="2926080"/>
            <a:ext cx="420624" cy="219456"/>
          </a:xfrm>
          <a:prstGeom prst="rect">
            <a:avLst/>
          </a:prstGeom>
          <a:noFill/>
          <a:ln/>
        </p:spPr>
        <p:txBody>
          <a:bodyPr wrap="square" lIns="0" tIns="0" rIns="0" bIns="0" rtlCol="0" anchor="t"/>
          <a:lstStyle/>
          <a:p>
            <a:pPr algn="r" indent="0" marL="0">
              <a:buNone/>
            </a:pPr>
            <a:r>
              <a:rPr lang="en-US" sz="900" b="1" dirty="0">
                <a:solidFill>
                  <a:srgbClr val="8AA0B6"/>
                </a:solidFill>
                <a:latin typeface="Consolas" pitchFamily="34" charset="0"/>
                <a:ea typeface="Consolas" pitchFamily="34" charset="-122"/>
                <a:cs typeface="Consolas" pitchFamily="34" charset="-120"/>
              </a:rPr>
              <a:t>BrPart</a:t>
            </a:r>
            <a:endParaRPr lang="en-US" sz="900" dirty="0"/>
          </a:p>
        </p:txBody>
      </p:sp>
      <p:sp>
        <p:nvSpPr>
          <p:cNvPr id="37" name="Text 34"/>
          <p:cNvSpPr txBox="1"/>
          <p:nvPr/>
        </p:nvSpPr>
        <p:spPr>
          <a:xfrm>
            <a:off x="10222992" y="2926080"/>
            <a:ext cx="438912" cy="219456"/>
          </a:xfrm>
          <a:prstGeom prst="rect">
            <a:avLst/>
          </a:prstGeom>
          <a:noFill/>
          <a:ln/>
        </p:spPr>
        <p:txBody>
          <a:bodyPr wrap="square" lIns="0" tIns="0" rIns="0" bIns="0" rtlCol="0" anchor="t"/>
          <a:lstStyle/>
          <a:p>
            <a:pPr algn="r" indent="0" marL="0">
              <a:buNone/>
            </a:pPr>
            <a:r>
              <a:rPr lang="en-US" sz="900" b="1" dirty="0">
                <a:solidFill>
                  <a:srgbClr val="8AA0B6"/>
                </a:solidFill>
                <a:latin typeface="Consolas" pitchFamily="34" charset="0"/>
                <a:ea typeface="Consolas" pitchFamily="34" charset="-122"/>
                <a:cs typeface="Consolas" pitchFamily="34" charset="-120"/>
              </a:rPr>
              <a:t>Cover</a:t>
            </a:r>
            <a:endParaRPr lang="en-US" sz="900" dirty="0"/>
          </a:p>
        </p:txBody>
      </p:sp>
      <p:sp>
        <p:nvSpPr>
          <p:cNvPr id="38" name="Text 35"/>
          <p:cNvSpPr txBox="1"/>
          <p:nvPr/>
        </p:nvSpPr>
        <p:spPr>
          <a:xfrm>
            <a:off x="10917936" y="2926080"/>
            <a:ext cx="566928" cy="219456"/>
          </a:xfrm>
          <a:prstGeom prst="rect">
            <a:avLst/>
          </a:prstGeom>
          <a:noFill/>
          <a:ln/>
        </p:spPr>
        <p:txBody>
          <a:bodyPr wrap="square" lIns="0" tIns="0" rIns="0" bIns="0" rtlCol="0" anchor="t"/>
          <a:lstStyle/>
          <a:p>
            <a:pPr algn="l" indent="0" marL="0">
              <a:buNone/>
            </a:pPr>
            <a:r>
              <a:rPr lang="en-US" sz="900" b="1" dirty="0">
                <a:solidFill>
                  <a:srgbClr val="E0BC5A"/>
                </a:solidFill>
                <a:latin typeface="Consolas" pitchFamily="34" charset="0"/>
                <a:ea typeface="Consolas" pitchFamily="34" charset="-122"/>
                <a:cs typeface="Consolas" pitchFamily="34" charset="-120"/>
              </a:rPr>
              <a:t>Missing</a:t>
            </a:r>
            <a:endParaRPr lang="en-US" sz="900" dirty="0"/>
          </a:p>
        </p:txBody>
      </p:sp>
      <p:sp>
        <p:nvSpPr>
          <p:cNvPr id="39" name="Shape 36"/>
          <p:cNvSpPr/>
          <p:nvPr/>
        </p:nvSpPr>
        <p:spPr>
          <a:xfrm>
            <a:off x="6565392" y="3182112"/>
            <a:ext cx="4773168" cy="0"/>
          </a:xfrm>
          <a:prstGeom prst="line">
            <a:avLst/>
          </a:prstGeom>
          <a:noFill/>
          <a:ln w="12700">
            <a:solidFill>
              <a:srgbClr val="2C4A66"/>
            </a:solidFill>
            <a:prstDash val="solid"/>
            <a:headEnd type="none"/>
            <a:tailEnd type="none"/>
          </a:ln>
        </p:spPr>
      </p:sp>
      <p:sp>
        <p:nvSpPr>
          <p:cNvPr id="40" name="Text 37"/>
          <p:cNvSpPr txBox="1"/>
          <p:nvPr/>
        </p:nvSpPr>
        <p:spPr>
          <a:xfrm>
            <a:off x="6565392" y="3255264"/>
            <a:ext cx="1078992" cy="256032"/>
          </a:xfrm>
          <a:prstGeom prst="rect">
            <a:avLst/>
          </a:prstGeom>
          <a:noFill/>
          <a:ln/>
        </p:spPr>
        <p:txBody>
          <a:bodyPr wrap="square" lIns="0" tIns="0" rIns="0" bIns="0" rtlCol="0" anchor="t"/>
          <a:lstStyle/>
          <a:p>
            <a:pPr algn="l" indent="0" marL="0">
              <a:buNone/>
            </a:pPr>
            <a:r>
              <a:rPr lang="en-US" sz="900" dirty="0">
                <a:solidFill>
                  <a:srgbClr val="E6EEF7"/>
                </a:solidFill>
                <a:latin typeface="Consolas" pitchFamily="34" charset="0"/>
                <a:ea typeface="Consolas" pitchFamily="34" charset="-122"/>
                <a:cs typeface="Consolas" pitchFamily="34" charset="-120"/>
              </a:rPr>
              <a:t>registro.py</a:t>
            </a:r>
            <a:endParaRPr lang="en-US" sz="900" dirty="0"/>
          </a:p>
        </p:txBody>
      </p:sp>
      <p:sp>
        <p:nvSpPr>
          <p:cNvPr id="41" name="Text 38"/>
          <p:cNvSpPr txBox="1"/>
          <p:nvPr/>
        </p:nvSpPr>
        <p:spPr>
          <a:xfrm>
            <a:off x="7699248" y="3255264"/>
            <a:ext cx="347472" cy="256032"/>
          </a:xfrm>
          <a:prstGeom prst="rect">
            <a:avLst/>
          </a:prstGeom>
          <a:noFill/>
          <a:ln/>
        </p:spPr>
        <p:txBody>
          <a:bodyPr wrap="square" lIns="0" tIns="0" rIns="0" bIns="0" rtlCol="0" anchor="t"/>
          <a:lstStyle/>
          <a:p>
            <a:pPr algn="r" indent="0" marL="0">
              <a:buNone/>
            </a:pPr>
            <a:r>
              <a:rPr lang="en-US" sz="900" dirty="0">
                <a:solidFill>
                  <a:srgbClr val="E6EEF7"/>
                </a:solidFill>
                <a:latin typeface="Consolas" pitchFamily="34" charset="0"/>
                <a:ea typeface="Consolas" pitchFamily="34" charset="-122"/>
                <a:cs typeface="Consolas" pitchFamily="34" charset="-120"/>
              </a:rPr>
              <a:t>6</a:t>
            </a:r>
            <a:endParaRPr lang="en-US" sz="900" dirty="0"/>
          </a:p>
        </p:txBody>
      </p:sp>
      <p:sp>
        <p:nvSpPr>
          <p:cNvPr id="42" name="Text 39"/>
          <p:cNvSpPr txBox="1"/>
          <p:nvPr/>
        </p:nvSpPr>
        <p:spPr>
          <a:xfrm>
            <a:off x="8302752" y="3255264"/>
            <a:ext cx="292608" cy="256032"/>
          </a:xfrm>
          <a:prstGeom prst="rect">
            <a:avLst/>
          </a:prstGeom>
          <a:noFill/>
          <a:ln/>
        </p:spPr>
        <p:txBody>
          <a:bodyPr wrap="square" lIns="0" tIns="0" rIns="0" bIns="0" rtlCol="0" anchor="t"/>
          <a:lstStyle/>
          <a:p>
            <a:pPr algn="r" indent="0" marL="0">
              <a:buNone/>
            </a:pPr>
            <a:r>
              <a:rPr lang="en-US" sz="900" dirty="0">
                <a:solidFill>
                  <a:srgbClr val="E6EEF7"/>
                </a:solidFill>
                <a:latin typeface="Consolas" pitchFamily="34" charset="0"/>
                <a:ea typeface="Consolas" pitchFamily="34" charset="-122"/>
                <a:cs typeface="Consolas" pitchFamily="34" charset="-120"/>
              </a:rPr>
              <a:t>0</a:t>
            </a:r>
            <a:endParaRPr lang="en-US" sz="900" dirty="0"/>
          </a:p>
        </p:txBody>
      </p:sp>
      <p:sp>
        <p:nvSpPr>
          <p:cNvPr id="43" name="Text 40"/>
          <p:cNvSpPr txBox="1"/>
          <p:nvPr/>
        </p:nvSpPr>
        <p:spPr>
          <a:xfrm>
            <a:off x="8851392" y="3255264"/>
            <a:ext cx="438912" cy="256032"/>
          </a:xfrm>
          <a:prstGeom prst="rect">
            <a:avLst/>
          </a:prstGeom>
          <a:noFill/>
          <a:ln/>
        </p:spPr>
        <p:txBody>
          <a:bodyPr wrap="square" lIns="0" tIns="0" rIns="0" bIns="0" rtlCol="0" anchor="t"/>
          <a:lstStyle/>
          <a:p>
            <a:pPr algn="r" indent="0" marL="0">
              <a:buNone/>
            </a:pPr>
            <a:r>
              <a:rPr lang="en-US" sz="900" dirty="0">
                <a:solidFill>
                  <a:srgbClr val="E6EEF7"/>
                </a:solidFill>
                <a:latin typeface="Consolas" pitchFamily="34" charset="0"/>
                <a:ea typeface="Consolas" pitchFamily="34" charset="-122"/>
                <a:cs typeface="Consolas" pitchFamily="34" charset="-120"/>
              </a:rPr>
              <a:t>2</a:t>
            </a:r>
            <a:endParaRPr lang="en-US" sz="900" dirty="0"/>
          </a:p>
        </p:txBody>
      </p:sp>
      <p:sp>
        <p:nvSpPr>
          <p:cNvPr id="44" name="Text 41"/>
          <p:cNvSpPr txBox="1"/>
          <p:nvPr/>
        </p:nvSpPr>
        <p:spPr>
          <a:xfrm>
            <a:off x="9546336" y="3255264"/>
            <a:ext cx="420624" cy="256032"/>
          </a:xfrm>
          <a:prstGeom prst="rect">
            <a:avLst/>
          </a:prstGeom>
          <a:noFill/>
          <a:ln/>
        </p:spPr>
        <p:txBody>
          <a:bodyPr wrap="square" lIns="0" tIns="0" rIns="0" bIns="0" rtlCol="0" anchor="t"/>
          <a:lstStyle/>
          <a:p>
            <a:pPr algn="r" indent="0" marL="0">
              <a:buNone/>
            </a:pPr>
            <a:r>
              <a:rPr lang="en-US" sz="900" dirty="0">
                <a:solidFill>
                  <a:srgbClr val="E6EEF7"/>
                </a:solidFill>
                <a:latin typeface="Consolas" pitchFamily="34" charset="0"/>
                <a:ea typeface="Consolas" pitchFamily="34" charset="-122"/>
                <a:cs typeface="Consolas" pitchFamily="34" charset="-120"/>
              </a:rPr>
              <a:t>1</a:t>
            </a:r>
            <a:endParaRPr lang="en-US" sz="900" dirty="0"/>
          </a:p>
        </p:txBody>
      </p:sp>
      <p:sp>
        <p:nvSpPr>
          <p:cNvPr id="45" name="Text 42"/>
          <p:cNvSpPr txBox="1"/>
          <p:nvPr/>
        </p:nvSpPr>
        <p:spPr>
          <a:xfrm>
            <a:off x="10222992" y="3255264"/>
            <a:ext cx="438912" cy="256032"/>
          </a:xfrm>
          <a:prstGeom prst="rect">
            <a:avLst/>
          </a:prstGeom>
          <a:noFill/>
          <a:ln/>
        </p:spPr>
        <p:txBody>
          <a:bodyPr wrap="square" lIns="0" tIns="0" rIns="0" bIns="0" rtlCol="0" anchor="t"/>
          <a:lstStyle/>
          <a:p>
            <a:pPr algn="r" indent="0" marL="0">
              <a:buNone/>
            </a:pPr>
            <a:r>
              <a:rPr lang="en-US" sz="900" dirty="0">
                <a:solidFill>
                  <a:srgbClr val="E6EEF7"/>
                </a:solidFill>
                <a:latin typeface="Consolas" pitchFamily="34" charset="0"/>
                <a:ea typeface="Consolas" pitchFamily="34" charset="-122"/>
                <a:cs typeface="Consolas" pitchFamily="34" charset="-120"/>
              </a:rPr>
              <a:t>88%</a:t>
            </a:r>
            <a:endParaRPr lang="en-US" sz="900" dirty="0"/>
          </a:p>
        </p:txBody>
      </p:sp>
      <p:sp>
        <p:nvSpPr>
          <p:cNvPr id="46" name="Text 43"/>
          <p:cNvSpPr txBox="1"/>
          <p:nvPr/>
        </p:nvSpPr>
        <p:spPr>
          <a:xfrm>
            <a:off x="10917936" y="3255264"/>
            <a:ext cx="566928" cy="256032"/>
          </a:xfrm>
          <a:prstGeom prst="rect">
            <a:avLst/>
          </a:prstGeom>
          <a:noFill/>
          <a:ln/>
        </p:spPr>
        <p:txBody>
          <a:bodyPr wrap="square" lIns="0" tIns="0" rIns="0" bIns="0" rtlCol="0" anchor="t"/>
          <a:lstStyle/>
          <a:p>
            <a:pPr algn="l" indent="0" marL="0">
              <a:buNone/>
            </a:pPr>
            <a:r>
              <a:rPr lang="en-US" sz="900" b="1" dirty="0">
                <a:solidFill>
                  <a:srgbClr val="E0BC5A"/>
                </a:solidFill>
                <a:latin typeface="Consolas" pitchFamily="34" charset="0"/>
                <a:ea typeface="Consolas" pitchFamily="34" charset="-122"/>
                <a:cs typeface="Consolas" pitchFamily="34" charset="-120"/>
              </a:rPr>
              <a:t>6-&gt;8</a:t>
            </a:r>
            <a:endParaRPr lang="en-US" sz="900" dirty="0"/>
          </a:p>
        </p:txBody>
      </p:sp>
      <p:sp>
        <p:nvSpPr>
          <p:cNvPr id="47" name="Text 44"/>
          <p:cNvSpPr txBox="1"/>
          <p:nvPr/>
        </p:nvSpPr>
        <p:spPr>
          <a:xfrm>
            <a:off x="6364224" y="3749040"/>
            <a:ext cx="5175504" cy="237744"/>
          </a:xfrm>
          <a:prstGeom prst="rect">
            <a:avLst/>
          </a:prstGeom>
          <a:noFill/>
          <a:ln/>
        </p:spPr>
        <p:txBody>
          <a:bodyPr wrap="square" lIns="0" tIns="0" rIns="0" bIns="0" rtlCol="0" anchor="t"/>
          <a:lstStyle/>
          <a:p>
            <a:pPr algn="l" indent="0" marL="0">
              <a:buNone/>
            </a:pPr>
            <a:r>
              <a:rPr lang="en-US" sz="1140" i="1" dirty="0">
                <a:solidFill>
                  <a:srgbClr val="B3181E"/>
                </a:solidFill>
                <a:latin typeface="Aptos" pitchFamily="34" charset="0"/>
                <a:ea typeface="Aptos" pitchFamily="34" charset="-122"/>
                <a:cs typeface="Aptos" pitchFamily="34" charset="-120"/>
              </a:rPr>
              <a:t>1 passed · un camino sin recorrer</a:t>
            </a:r>
            <a:endParaRPr lang="en-US" sz="1140" dirty="0"/>
          </a:p>
        </p:txBody>
      </p:sp>
      <p:sp>
        <p:nvSpPr>
          <p:cNvPr id="48" name="Shape 45"/>
          <p:cNvSpPr/>
          <p:nvPr/>
        </p:nvSpPr>
        <p:spPr>
          <a:xfrm>
            <a:off x="658368" y="4133088"/>
            <a:ext cx="10874959" cy="603504"/>
          </a:xfrm>
          <a:prstGeom prst="rect">
            <a:avLst/>
          </a:prstGeom>
          <a:solidFill>
            <a:srgbClr val="F8E4E5"/>
          </a:solidFill>
          <a:ln w="12700">
            <a:solidFill>
              <a:srgbClr val="F8E4E5"/>
            </a:solidFill>
            <a:prstDash val="solid"/>
          </a:ln>
        </p:spPr>
      </p:sp>
      <p:sp>
        <p:nvSpPr>
          <p:cNvPr id="49" name="Shape 46"/>
          <p:cNvSpPr/>
          <p:nvPr/>
        </p:nvSpPr>
        <p:spPr>
          <a:xfrm>
            <a:off x="658368" y="4133088"/>
            <a:ext cx="54864" cy="603504"/>
          </a:xfrm>
          <a:prstGeom prst="rect">
            <a:avLst/>
          </a:prstGeom>
          <a:solidFill>
            <a:srgbClr val="B3181E"/>
          </a:solidFill>
          <a:ln w="12700">
            <a:solidFill>
              <a:srgbClr val="B3181E"/>
            </a:solidFill>
            <a:prstDash val="solid"/>
          </a:ln>
        </p:spPr>
      </p:sp>
      <p:sp>
        <p:nvSpPr>
          <p:cNvPr id="50" name="Text 47"/>
          <p:cNvSpPr txBox="1"/>
          <p:nvPr/>
        </p:nvSpPr>
        <p:spPr>
          <a:xfrm>
            <a:off x="932688" y="4224528"/>
            <a:ext cx="10326319" cy="438912"/>
          </a:xfrm>
          <a:prstGeom prst="rect">
            <a:avLst/>
          </a:prstGeom>
          <a:noFill/>
          <a:ln/>
        </p:spPr>
        <p:txBody>
          <a:bodyPr wrap="square" lIns="0" tIns="0" rIns="0" bIns="0" rtlCol="0" anchor="ctr"/>
          <a:lstStyle/>
          <a:p>
            <a:pPr algn="l" indent="0" marL="0">
              <a:lnSpc>
                <a:spcPct val="112000"/>
              </a:lnSpc>
              <a:buNone/>
            </a:pPr>
            <a:r>
              <a:rPr lang="en-US" sz="1300" dirty="0">
                <a:solidFill>
                  <a:srgbClr val="243B53"/>
                </a:solidFill>
                <a:latin typeface="Aptos" pitchFamily="34" charset="0"/>
                <a:ea typeface="Aptos" pitchFamily="34" charset="-122"/>
                <a:cs typeface="Aptos" pitchFamily="34" charset="-120"/>
              </a:rPr>
              <a:t>Ninguna línea aparece como no cubierta y, aun así, hay un camino que nunca se recorrió. La reserva RECHAZADA —el estado que se queda en «rechazada»— no se probó nunca.</a:t>
            </a:r>
            <a:endParaRPr lang="en-US" sz="1300" dirty="0"/>
          </a:p>
        </p:txBody>
      </p:sp>
      <p:sp>
        <p:nvSpPr>
          <p:cNvPr id="51" name="Shape 48"/>
          <p:cNvSpPr/>
          <p:nvPr/>
        </p:nvSpPr>
        <p:spPr>
          <a:xfrm>
            <a:off x="658368" y="4937760"/>
            <a:ext cx="10874959" cy="530352"/>
          </a:xfrm>
          <a:prstGeom prst="rect">
            <a:avLst/>
          </a:prstGeom>
          <a:solidFill>
            <a:srgbClr val="102A43"/>
          </a:solidFill>
          <a:ln w="12700">
            <a:solidFill>
              <a:srgbClr val="102A43"/>
            </a:solidFill>
            <a:prstDash val="solid"/>
          </a:ln>
        </p:spPr>
      </p:sp>
      <p:sp>
        <p:nvSpPr>
          <p:cNvPr id="52" name="Text 49"/>
          <p:cNvSpPr txBox="1"/>
          <p:nvPr/>
        </p:nvSpPr>
        <p:spPr>
          <a:xfrm>
            <a:off x="969264" y="4974336"/>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medida de sentencias no tenía manera de decirlo: la línea «estado = rechazada» se ejecuta siempre, sea la condición verdadera o falsa.</a:t>
            </a:r>
            <a:endParaRPr lang="en-US" sz="1400" dirty="0"/>
          </a:p>
        </p:txBody>
      </p:sp>
      <p:sp>
        <p:nvSpPr>
          <p:cNvPr id="53" name="Shape 50"/>
          <p:cNvSpPr/>
          <p:nvPr/>
        </p:nvSpPr>
        <p:spPr>
          <a:xfrm>
            <a:off x="658368" y="5687568"/>
            <a:ext cx="45720" cy="182880"/>
          </a:xfrm>
          <a:prstGeom prst="rect">
            <a:avLst/>
          </a:prstGeom>
          <a:solidFill>
            <a:srgbClr val="8A6A12"/>
          </a:solidFill>
          <a:ln w="12700">
            <a:solidFill>
              <a:srgbClr val="8A6A12"/>
            </a:solidFill>
            <a:prstDash val="solid"/>
          </a:ln>
        </p:spPr>
      </p:sp>
      <p:sp>
        <p:nvSpPr>
          <p:cNvPr id="54" name="Text 51"/>
          <p:cNvSpPr txBox="1"/>
          <p:nvPr/>
        </p:nvSpPr>
        <p:spPr>
          <a:xfrm>
            <a:off x="804672" y="5678424"/>
            <a:ext cx="8686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Ejecución propia · Python 3.12.12 · pytest 9.1.1 · pytest-cov 7.1.0 · coverage 7.16.1</a:t>
            </a:r>
            <a:endParaRPr lang="en-US" sz="9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NOTACIÓN NUEVA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Qué dicen Branch, BrPart y «6-&gt;8»</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Tres piezas del informe que no aparecían cuando se medían solo sentencias.</a:t>
            </a:r>
            <a:endParaRPr lang="en-US" sz="1450" dirty="0"/>
          </a:p>
        </p:txBody>
      </p:sp>
      <p:sp>
        <p:nvSpPr>
          <p:cNvPr id="11" name="Shape 8"/>
          <p:cNvSpPr/>
          <p:nvPr/>
        </p:nvSpPr>
        <p:spPr>
          <a:xfrm>
            <a:off x="658368" y="2377440"/>
            <a:ext cx="10874959" cy="658368"/>
          </a:xfrm>
          <a:prstGeom prst="rect">
            <a:avLst/>
          </a:prstGeom>
          <a:solidFill>
            <a:srgbClr val="FFFFFF"/>
          </a:solidFill>
          <a:ln w="12700">
            <a:solidFill>
              <a:srgbClr val="FFFFFF"/>
            </a:solidFill>
            <a:prstDash val="solid"/>
          </a:ln>
        </p:spPr>
      </p:sp>
      <p:sp>
        <p:nvSpPr>
          <p:cNvPr id="12" name="Shape 9"/>
          <p:cNvSpPr/>
          <p:nvPr/>
        </p:nvSpPr>
        <p:spPr>
          <a:xfrm>
            <a:off x="658368" y="2377440"/>
            <a:ext cx="54864" cy="658368"/>
          </a:xfrm>
          <a:prstGeom prst="rect">
            <a:avLst/>
          </a:prstGeom>
          <a:solidFill>
            <a:srgbClr val="102A43"/>
          </a:solidFill>
          <a:ln w="12700">
            <a:solidFill>
              <a:srgbClr val="102A43"/>
            </a:solidFill>
            <a:prstDash val="solid"/>
          </a:ln>
        </p:spPr>
      </p:sp>
      <p:sp>
        <p:nvSpPr>
          <p:cNvPr id="13" name="Text 10"/>
          <p:cNvSpPr txBox="1"/>
          <p:nvPr/>
        </p:nvSpPr>
        <p:spPr>
          <a:xfrm>
            <a:off x="932688" y="2560320"/>
            <a:ext cx="1371600" cy="292608"/>
          </a:xfrm>
          <a:prstGeom prst="rect">
            <a:avLst/>
          </a:prstGeom>
          <a:noFill/>
          <a:ln/>
        </p:spPr>
        <p:txBody>
          <a:bodyPr wrap="square" lIns="0" tIns="0" rIns="0" bIns="0" rtlCol="0" anchor="t"/>
          <a:lstStyle/>
          <a:p>
            <a:pPr algn="l" indent="0" marL="0">
              <a:buNone/>
            </a:pPr>
            <a:r>
              <a:rPr lang="en-US" sz="1400" b="1" dirty="0">
                <a:solidFill>
                  <a:srgbClr val="102A43"/>
                </a:solidFill>
                <a:latin typeface="Consolas" pitchFamily="34" charset="0"/>
                <a:ea typeface="Consolas" pitchFamily="34" charset="-122"/>
                <a:cs typeface="Consolas" pitchFamily="34" charset="-120"/>
              </a:rPr>
              <a:t>Branch</a:t>
            </a:r>
            <a:endParaRPr lang="en-US" sz="1400" dirty="0"/>
          </a:p>
        </p:txBody>
      </p:sp>
      <p:sp>
        <p:nvSpPr>
          <p:cNvPr id="14" name="Text 11"/>
          <p:cNvSpPr txBox="1"/>
          <p:nvPr/>
        </p:nvSpPr>
        <p:spPr>
          <a:xfrm>
            <a:off x="2395728" y="2523744"/>
            <a:ext cx="548640" cy="347472"/>
          </a:xfrm>
          <a:prstGeom prst="rect">
            <a:avLst/>
          </a:prstGeom>
          <a:noFill/>
          <a:ln/>
        </p:spPr>
        <p:txBody>
          <a:bodyPr wrap="square" lIns="0" tIns="0" rIns="0" bIns="0" rtlCol="0" anchor="t"/>
          <a:lstStyle/>
          <a:p>
            <a:pPr algn="ctr" indent="0" marL="0">
              <a:buNone/>
            </a:pPr>
            <a:r>
              <a:rPr lang="en-US" sz="2000" b="1" dirty="0">
                <a:solidFill>
                  <a:srgbClr val="243B53"/>
                </a:solidFill>
                <a:latin typeface="Aptos Display" pitchFamily="34" charset="0"/>
                <a:ea typeface="Aptos Display" pitchFamily="34" charset="-122"/>
                <a:cs typeface="Aptos Display" pitchFamily="34" charset="-120"/>
              </a:rPr>
              <a:t>2</a:t>
            </a:r>
            <a:endParaRPr lang="en-US" sz="2000" dirty="0"/>
          </a:p>
        </p:txBody>
      </p:sp>
      <p:sp>
        <p:nvSpPr>
          <p:cNvPr id="15" name="Text 12"/>
          <p:cNvSpPr txBox="1"/>
          <p:nvPr/>
        </p:nvSpPr>
        <p:spPr>
          <a:xfrm>
            <a:off x="3218688" y="2560320"/>
            <a:ext cx="8040319" cy="310896"/>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Aristas de decisión del archivo. El if de la línea 6 puede seguir por dos caminos.</a:t>
            </a:r>
            <a:endParaRPr lang="en-US" sz="1240" dirty="0"/>
          </a:p>
        </p:txBody>
      </p:sp>
      <p:sp>
        <p:nvSpPr>
          <p:cNvPr id="16" name="Shape 13"/>
          <p:cNvSpPr/>
          <p:nvPr/>
        </p:nvSpPr>
        <p:spPr>
          <a:xfrm>
            <a:off x="658368" y="3145536"/>
            <a:ext cx="10874959" cy="658368"/>
          </a:xfrm>
          <a:prstGeom prst="rect">
            <a:avLst/>
          </a:prstGeom>
          <a:solidFill>
            <a:srgbClr val="FFFFFF"/>
          </a:solidFill>
          <a:ln w="12700">
            <a:solidFill>
              <a:srgbClr val="FFFFFF"/>
            </a:solidFill>
            <a:prstDash val="solid"/>
          </a:ln>
        </p:spPr>
      </p:sp>
      <p:sp>
        <p:nvSpPr>
          <p:cNvPr id="17" name="Shape 14"/>
          <p:cNvSpPr/>
          <p:nvPr/>
        </p:nvSpPr>
        <p:spPr>
          <a:xfrm>
            <a:off x="658368" y="3145536"/>
            <a:ext cx="54864" cy="658368"/>
          </a:xfrm>
          <a:prstGeom prst="rect">
            <a:avLst/>
          </a:prstGeom>
          <a:solidFill>
            <a:srgbClr val="B3181E"/>
          </a:solidFill>
          <a:ln w="12700">
            <a:solidFill>
              <a:srgbClr val="B3181E"/>
            </a:solidFill>
            <a:prstDash val="solid"/>
          </a:ln>
        </p:spPr>
      </p:sp>
      <p:sp>
        <p:nvSpPr>
          <p:cNvPr id="18" name="Text 15"/>
          <p:cNvSpPr txBox="1"/>
          <p:nvPr/>
        </p:nvSpPr>
        <p:spPr>
          <a:xfrm>
            <a:off x="932688" y="3328416"/>
            <a:ext cx="1371600" cy="292608"/>
          </a:xfrm>
          <a:prstGeom prst="rect">
            <a:avLst/>
          </a:prstGeom>
          <a:noFill/>
          <a:ln/>
        </p:spPr>
        <p:txBody>
          <a:bodyPr wrap="square" lIns="0" tIns="0" rIns="0" bIns="0" rtlCol="0" anchor="t"/>
          <a:lstStyle/>
          <a:p>
            <a:pPr algn="l" indent="0" marL="0">
              <a:buNone/>
            </a:pPr>
            <a:r>
              <a:rPr lang="en-US" sz="1400" b="1" dirty="0">
                <a:solidFill>
                  <a:srgbClr val="B3181E"/>
                </a:solidFill>
                <a:latin typeface="Consolas" pitchFamily="34" charset="0"/>
                <a:ea typeface="Consolas" pitchFamily="34" charset="-122"/>
                <a:cs typeface="Consolas" pitchFamily="34" charset="-120"/>
              </a:rPr>
              <a:t>BrPart</a:t>
            </a:r>
            <a:endParaRPr lang="en-US" sz="1400" dirty="0"/>
          </a:p>
        </p:txBody>
      </p:sp>
      <p:sp>
        <p:nvSpPr>
          <p:cNvPr id="19" name="Text 16"/>
          <p:cNvSpPr txBox="1"/>
          <p:nvPr/>
        </p:nvSpPr>
        <p:spPr>
          <a:xfrm>
            <a:off x="2395728" y="3291840"/>
            <a:ext cx="548640" cy="347472"/>
          </a:xfrm>
          <a:prstGeom prst="rect">
            <a:avLst/>
          </a:prstGeom>
          <a:noFill/>
          <a:ln/>
        </p:spPr>
        <p:txBody>
          <a:bodyPr wrap="square" lIns="0" tIns="0" rIns="0" bIns="0" rtlCol="0" anchor="t"/>
          <a:lstStyle/>
          <a:p>
            <a:pPr algn="ctr" indent="0" marL="0">
              <a:buNone/>
            </a:pPr>
            <a:r>
              <a:rPr lang="en-US" sz="2000" b="1" dirty="0">
                <a:solidFill>
                  <a:srgbClr val="243B53"/>
                </a:solidFill>
                <a:latin typeface="Aptos Display" pitchFamily="34" charset="0"/>
                <a:ea typeface="Aptos Display" pitchFamily="34" charset="-122"/>
                <a:cs typeface="Aptos Display" pitchFamily="34" charset="-120"/>
              </a:rPr>
              <a:t>1</a:t>
            </a:r>
            <a:endParaRPr lang="en-US" sz="2000" dirty="0"/>
          </a:p>
        </p:txBody>
      </p:sp>
      <p:sp>
        <p:nvSpPr>
          <p:cNvPr id="20" name="Text 17"/>
          <p:cNvSpPr txBox="1"/>
          <p:nvPr/>
        </p:nvSpPr>
        <p:spPr>
          <a:xfrm>
            <a:off x="3218688" y="3328416"/>
            <a:ext cx="8040319" cy="310896"/>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Decisiones recorridas POR UN SOLO LADO. El if se evaluó, pero solo con un resultado.</a:t>
            </a:r>
            <a:endParaRPr lang="en-US" sz="1240" dirty="0"/>
          </a:p>
        </p:txBody>
      </p:sp>
      <p:sp>
        <p:nvSpPr>
          <p:cNvPr id="21" name="Shape 18"/>
          <p:cNvSpPr/>
          <p:nvPr/>
        </p:nvSpPr>
        <p:spPr>
          <a:xfrm>
            <a:off x="658368" y="3913632"/>
            <a:ext cx="10874959" cy="658368"/>
          </a:xfrm>
          <a:prstGeom prst="rect">
            <a:avLst/>
          </a:prstGeom>
          <a:solidFill>
            <a:srgbClr val="F2E7D9"/>
          </a:solidFill>
          <a:ln w="12700">
            <a:solidFill>
              <a:srgbClr val="F2E7D9"/>
            </a:solidFill>
            <a:prstDash val="solid"/>
          </a:ln>
        </p:spPr>
      </p:sp>
      <p:sp>
        <p:nvSpPr>
          <p:cNvPr id="22" name="Shape 19"/>
          <p:cNvSpPr/>
          <p:nvPr/>
        </p:nvSpPr>
        <p:spPr>
          <a:xfrm>
            <a:off x="658368" y="3913632"/>
            <a:ext cx="54864" cy="658368"/>
          </a:xfrm>
          <a:prstGeom prst="rect">
            <a:avLst/>
          </a:prstGeom>
          <a:solidFill>
            <a:srgbClr val="8A6A12"/>
          </a:solidFill>
          <a:ln w="12700">
            <a:solidFill>
              <a:srgbClr val="8A6A12"/>
            </a:solidFill>
            <a:prstDash val="solid"/>
          </a:ln>
        </p:spPr>
      </p:sp>
      <p:sp>
        <p:nvSpPr>
          <p:cNvPr id="23" name="Text 20"/>
          <p:cNvSpPr txBox="1"/>
          <p:nvPr/>
        </p:nvSpPr>
        <p:spPr>
          <a:xfrm>
            <a:off x="932688" y="4096512"/>
            <a:ext cx="1371600" cy="292608"/>
          </a:xfrm>
          <a:prstGeom prst="rect">
            <a:avLst/>
          </a:prstGeom>
          <a:noFill/>
          <a:ln/>
        </p:spPr>
        <p:txBody>
          <a:bodyPr wrap="square" lIns="0" tIns="0" rIns="0" bIns="0" rtlCol="0" anchor="t"/>
          <a:lstStyle/>
          <a:p>
            <a:pPr algn="l" indent="0" marL="0">
              <a:buNone/>
            </a:pPr>
            <a:r>
              <a:rPr lang="en-US" sz="1400" b="1" dirty="0">
                <a:solidFill>
                  <a:srgbClr val="8A6A12"/>
                </a:solidFill>
                <a:latin typeface="Consolas" pitchFamily="34" charset="0"/>
                <a:ea typeface="Consolas" pitchFamily="34" charset="-122"/>
                <a:cs typeface="Consolas" pitchFamily="34" charset="-120"/>
              </a:rPr>
              <a:t>6-&gt;8</a:t>
            </a:r>
            <a:endParaRPr lang="en-US" sz="1400" dirty="0"/>
          </a:p>
        </p:txBody>
      </p:sp>
      <p:sp>
        <p:nvSpPr>
          <p:cNvPr id="24" name="Text 21"/>
          <p:cNvSpPr txBox="1"/>
          <p:nvPr/>
        </p:nvSpPr>
        <p:spPr>
          <a:xfrm>
            <a:off x="2395728" y="4059936"/>
            <a:ext cx="548640" cy="347472"/>
          </a:xfrm>
          <a:prstGeom prst="rect">
            <a:avLst/>
          </a:prstGeom>
          <a:noFill/>
          <a:ln/>
        </p:spPr>
        <p:txBody>
          <a:bodyPr wrap="square" lIns="0" tIns="0" rIns="0" bIns="0" rtlCol="0" anchor="t"/>
          <a:lstStyle/>
          <a:p>
            <a:pPr algn="ctr" indent="0" marL="0">
              <a:buNone/>
            </a:pPr>
            <a:r>
              <a:rPr lang="en-US" sz="2000" b="1" dirty="0">
                <a:solidFill>
                  <a:srgbClr val="243B53"/>
                </a:solidFill>
                <a:latin typeface="Aptos Display" pitchFamily="34" charset="0"/>
                <a:ea typeface="Aptos Display" pitchFamily="34" charset="-122"/>
                <a:cs typeface="Aptos Display" pitchFamily="34" charset="-120"/>
              </a:rPr>
              <a:t>—</a:t>
            </a:r>
            <a:endParaRPr lang="en-US" sz="2000" dirty="0"/>
          </a:p>
        </p:txBody>
      </p:sp>
      <p:sp>
        <p:nvSpPr>
          <p:cNvPr id="25" name="Text 22"/>
          <p:cNvSpPr txBox="1"/>
          <p:nvPr/>
        </p:nvSpPr>
        <p:spPr>
          <a:xfrm>
            <a:off x="3218688" y="4096512"/>
            <a:ext cx="8040319" cy="310896"/>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La arista que no se tomó, escrita como origen y destino: de la línea 6 a la línea 8.</a:t>
            </a:r>
            <a:endParaRPr lang="en-US" sz="1240" dirty="0"/>
          </a:p>
        </p:txBody>
      </p:sp>
      <p:sp>
        <p:nvSpPr>
          <p:cNvPr id="26" name="Shape 23"/>
          <p:cNvSpPr/>
          <p:nvPr/>
        </p:nvSpPr>
        <p:spPr>
          <a:xfrm>
            <a:off x="658368" y="4773168"/>
            <a:ext cx="10872216" cy="1188720"/>
          </a:xfrm>
          <a:prstGeom prst="roundRect">
            <a:avLst>
              <a:gd name="adj" fmla="val 3077"/>
            </a:avLst>
          </a:prstGeom>
          <a:solidFill>
            <a:srgbClr val="102A43"/>
          </a:solidFill>
          <a:ln w="12700">
            <a:solidFill>
              <a:srgbClr val="102A43"/>
            </a:solidFill>
            <a:prstDash val="solid"/>
          </a:ln>
        </p:spPr>
      </p:sp>
      <p:sp>
        <p:nvSpPr>
          <p:cNvPr id="27" name="Shape 24"/>
          <p:cNvSpPr/>
          <p:nvPr/>
        </p:nvSpPr>
        <p:spPr>
          <a:xfrm>
            <a:off x="786384" y="4882896"/>
            <a:ext cx="10616184" cy="310896"/>
          </a:xfrm>
          <a:prstGeom prst="roundRect">
            <a:avLst>
              <a:gd name="adj" fmla="val 8824"/>
            </a:avLst>
          </a:prstGeom>
          <a:solidFill>
            <a:srgbClr val="284B75"/>
          </a:solidFill>
          <a:ln w="12700">
            <a:solidFill>
              <a:srgbClr val="284B75"/>
            </a:solidFill>
            <a:prstDash val="solid"/>
          </a:ln>
        </p:spPr>
      </p:sp>
      <p:sp>
        <p:nvSpPr>
          <p:cNvPr id="28" name="Text 25"/>
          <p:cNvSpPr/>
          <p:nvPr/>
        </p:nvSpPr>
        <p:spPr>
          <a:xfrm>
            <a:off x="896112" y="4956048"/>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Las líneas 6 y 8 del archivo</a:t>
            </a:r>
            <a:endParaRPr lang="en-US" sz="1000" dirty="0"/>
          </a:p>
        </p:txBody>
      </p:sp>
      <p:pic>
        <p:nvPicPr>
          <p:cNvPr id="2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5340096"/>
            <a:ext cx="10451592" cy="43891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2 · DÓNDE SE SEPARAN LAS DOS MEDIDAS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FFFFFF"/>
                </a:solidFill>
                <a:latin typeface="Aptos Display" pitchFamily="34" charset="0"/>
                <a:ea typeface="Aptos Display" pitchFamily="34" charset="-122"/>
                <a:cs typeface="Aptos Display" pitchFamily="34" charset="-120"/>
              </a:rPr>
              <a:t>Una condición sin caso contrario divide las dos medidas</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El bloque se ejecuta cuando la condición es verdadera; el camino falso no tiene un bloque «else», pero sigue siendo una rama posible.</a:t>
            </a:r>
            <a:endParaRPr lang="en-US" sz="1450" dirty="0"/>
          </a:p>
        </p:txBody>
      </p:sp>
      <p:sp>
        <p:nvSpPr>
          <p:cNvPr id="11" name="Shape 8"/>
          <p:cNvSpPr/>
          <p:nvPr/>
        </p:nvSpPr>
        <p:spPr>
          <a:xfrm>
            <a:off x="658368" y="2286000"/>
            <a:ext cx="5175504" cy="1371600"/>
          </a:xfrm>
          <a:prstGeom prst="rect">
            <a:avLst/>
          </a:prstGeom>
          <a:solidFill>
            <a:srgbClr val="1D3A57"/>
          </a:solidFill>
          <a:ln w="12700">
            <a:solidFill>
              <a:srgbClr val="1D3A57"/>
            </a:solidFill>
            <a:prstDash val="solid"/>
          </a:ln>
        </p:spPr>
      </p:sp>
      <p:sp>
        <p:nvSpPr>
          <p:cNvPr id="12" name="Shape 9"/>
          <p:cNvSpPr/>
          <p:nvPr/>
        </p:nvSpPr>
        <p:spPr>
          <a:xfrm>
            <a:off x="658368" y="2286000"/>
            <a:ext cx="5175504" cy="64008"/>
          </a:xfrm>
          <a:prstGeom prst="rect">
            <a:avLst/>
          </a:prstGeom>
          <a:solidFill>
            <a:srgbClr val="2E7D4F"/>
          </a:solidFill>
          <a:ln w="12700">
            <a:solidFill>
              <a:srgbClr val="2E7D4F"/>
            </a:solidFill>
            <a:prstDash val="solid"/>
          </a:ln>
        </p:spPr>
      </p:sp>
      <p:sp>
        <p:nvSpPr>
          <p:cNvPr id="13" name="Text 10"/>
          <p:cNvSpPr txBox="1"/>
          <p:nvPr/>
        </p:nvSpPr>
        <p:spPr>
          <a:xfrm>
            <a:off x="932688" y="2468880"/>
            <a:ext cx="4626864" cy="274320"/>
          </a:xfrm>
          <a:prstGeom prst="rect">
            <a:avLst/>
          </a:prstGeom>
          <a:noFill/>
          <a:ln/>
        </p:spPr>
        <p:txBody>
          <a:bodyPr wrap="square" lIns="0" tIns="0" rIns="0" bIns="0" rtlCol="0" anchor="t"/>
          <a:lstStyle/>
          <a:p>
            <a:pPr algn="l" indent="0" marL="0">
              <a:buNone/>
            </a:pPr>
            <a:r>
              <a:rPr lang="en-US" sz="1400" b="1" dirty="0">
                <a:solidFill>
                  <a:srgbClr val="FFFFFF"/>
                </a:solidFill>
                <a:latin typeface="Aptos" pitchFamily="34" charset="0"/>
                <a:ea typeface="Aptos" pitchFamily="34" charset="-122"/>
                <a:cs typeface="Aptos" pitchFamily="34" charset="-120"/>
              </a:rPr>
              <a:t>Camino verdadero</a:t>
            </a:r>
            <a:endParaRPr lang="en-US" sz="1400" dirty="0"/>
          </a:p>
        </p:txBody>
      </p:sp>
      <p:sp>
        <p:nvSpPr>
          <p:cNvPr id="14" name="Text 11"/>
          <p:cNvSpPr txBox="1"/>
          <p:nvPr/>
        </p:nvSpPr>
        <p:spPr>
          <a:xfrm>
            <a:off x="932688" y="2798064"/>
            <a:ext cx="4626864" cy="329184"/>
          </a:xfrm>
          <a:prstGeom prst="rect">
            <a:avLst/>
          </a:prstGeom>
          <a:noFill/>
          <a:ln/>
        </p:spPr>
        <p:txBody>
          <a:bodyPr wrap="square" lIns="0" tIns="0" rIns="0" bIns="0" rtlCol="0" anchor="t"/>
          <a:lstStyle/>
          <a:p>
            <a:pPr algn="l" indent="0" marL="0">
              <a:buNone/>
            </a:pPr>
            <a:r>
              <a:rPr lang="en-US" sz="2000" b="1" dirty="0">
                <a:solidFill>
                  <a:srgbClr val="2E7D4F"/>
                </a:solidFill>
                <a:latin typeface="Aptos Display" pitchFamily="34" charset="0"/>
                <a:ea typeface="Aptos Display" pitchFamily="34" charset="-122"/>
                <a:cs typeface="Aptos Display" pitchFamily="34" charset="-120"/>
              </a:rPr>
              <a:t>La prueba lo recorrió</a:t>
            </a:r>
            <a:endParaRPr lang="en-US" sz="2000" dirty="0"/>
          </a:p>
        </p:txBody>
      </p:sp>
      <p:sp>
        <p:nvSpPr>
          <p:cNvPr id="15" name="Text 12"/>
          <p:cNvSpPr txBox="1"/>
          <p:nvPr/>
        </p:nvSpPr>
        <p:spPr>
          <a:xfrm>
            <a:off x="932688" y="3200400"/>
            <a:ext cx="4626864" cy="274320"/>
          </a:xfrm>
          <a:prstGeom prst="rect">
            <a:avLst/>
          </a:prstGeom>
          <a:noFill/>
          <a:ln/>
        </p:spPr>
        <p:txBody>
          <a:bodyPr wrap="square" lIns="0" tIns="0" rIns="0" bIns="0" rtlCol="0" anchor="t"/>
          <a:lstStyle/>
          <a:p>
            <a:pPr algn="l" indent="0" marL="0">
              <a:buNone/>
            </a:pPr>
            <a:r>
              <a:rPr lang="en-US" sz="1240" dirty="0">
                <a:solidFill>
                  <a:srgbClr val="E6EEF7"/>
                </a:solidFill>
                <a:latin typeface="Aptos" pitchFamily="34" charset="0"/>
                <a:ea typeface="Aptos" pitchFamily="34" charset="-122"/>
                <a:cs typeface="Aptos" pitchFamily="34" charset="-120"/>
              </a:rPr>
              <a:t>estado pasa a «confirmada»</a:t>
            </a:r>
            <a:endParaRPr lang="en-US" sz="1240" dirty="0"/>
          </a:p>
        </p:txBody>
      </p:sp>
      <p:sp>
        <p:nvSpPr>
          <p:cNvPr id="16" name="Shape 13"/>
          <p:cNvSpPr/>
          <p:nvPr/>
        </p:nvSpPr>
        <p:spPr>
          <a:xfrm>
            <a:off x="6364224" y="2286000"/>
            <a:ext cx="5175504" cy="1371600"/>
          </a:xfrm>
          <a:prstGeom prst="rect">
            <a:avLst/>
          </a:prstGeom>
          <a:solidFill>
            <a:srgbClr val="1D3A57"/>
          </a:solidFill>
          <a:ln w="12700">
            <a:solidFill>
              <a:srgbClr val="1D3A57"/>
            </a:solidFill>
            <a:prstDash val="solid"/>
          </a:ln>
        </p:spPr>
      </p:sp>
      <p:sp>
        <p:nvSpPr>
          <p:cNvPr id="17" name="Shape 14"/>
          <p:cNvSpPr/>
          <p:nvPr/>
        </p:nvSpPr>
        <p:spPr>
          <a:xfrm>
            <a:off x="6364224" y="2286000"/>
            <a:ext cx="5175504" cy="64008"/>
          </a:xfrm>
          <a:prstGeom prst="rect">
            <a:avLst/>
          </a:prstGeom>
          <a:solidFill>
            <a:srgbClr val="D62027"/>
          </a:solidFill>
          <a:ln w="12700">
            <a:solidFill>
              <a:srgbClr val="D62027"/>
            </a:solidFill>
            <a:prstDash val="solid"/>
          </a:ln>
        </p:spPr>
      </p:sp>
      <p:sp>
        <p:nvSpPr>
          <p:cNvPr id="18" name="Text 15"/>
          <p:cNvSpPr txBox="1"/>
          <p:nvPr/>
        </p:nvSpPr>
        <p:spPr>
          <a:xfrm>
            <a:off x="6638544" y="2468880"/>
            <a:ext cx="4626864" cy="274320"/>
          </a:xfrm>
          <a:prstGeom prst="rect">
            <a:avLst/>
          </a:prstGeom>
          <a:noFill/>
          <a:ln/>
        </p:spPr>
        <p:txBody>
          <a:bodyPr wrap="square" lIns="0" tIns="0" rIns="0" bIns="0" rtlCol="0" anchor="t"/>
          <a:lstStyle/>
          <a:p>
            <a:pPr algn="l" indent="0" marL="0">
              <a:buNone/>
            </a:pPr>
            <a:r>
              <a:rPr lang="en-US" sz="1400" b="1" dirty="0">
                <a:solidFill>
                  <a:srgbClr val="FFFFFF"/>
                </a:solidFill>
                <a:latin typeface="Aptos" pitchFamily="34" charset="0"/>
                <a:ea typeface="Aptos" pitchFamily="34" charset="-122"/>
                <a:cs typeface="Aptos" pitchFamily="34" charset="-120"/>
              </a:rPr>
              <a:t>Camino falso</a:t>
            </a:r>
            <a:endParaRPr lang="en-US" sz="1400" dirty="0"/>
          </a:p>
        </p:txBody>
      </p:sp>
      <p:sp>
        <p:nvSpPr>
          <p:cNvPr id="19" name="Text 16"/>
          <p:cNvSpPr txBox="1"/>
          <p:nvPr/>
        </p:nvSpPr>
        <p:spPr>
          <a:xfrm>
            <a:off x="6638544" y="2798064"/>
            <a:ext cx="4626864" cy="329184"/>
          </a:xfrm>
          <a:prstGeom prst="rect">
            <a:avLst/>
          </a:prstGeom>
          <a:noFill/>
          <a:ln/>
        </p:spPr>
        <p:txBody>
          <a:bodyPr wrap="square" lIns="0" tIns="0" rIns="0" bIns="0" rtlCol="0" anchor="t"/>
          <a:lstStyle/>
          <a:p>
            <a:pPr algn="l" indent="0" marL="0">
              <a:buNone/>
            </a:pPr>
            <a:r>
              <a:rPr lang="en-US" sz="2000" b="1" dirty="0">
                <a:solidFill>
                  <a:srgbClr val="D62027"/>
                </a:solidFill>
                <a:latin typeface="Aptos Display" pitchFamily="34" charset="0"/>
                <a:ea typeface="Aptos Display" pitchFamily="34" charset="-122"/>
                <a:cs typeface="Aptos Display" pitchFamily="34" charset="-120"/>
              </a:rPr>
              <a:t>Nadie lo recorrió</a:t>
            </a:r>
            <a:endParaRPr lang="en-US" sz="2000" dirty="0"/>
          </a:p>
        </p:txBody>
      </p:sp>
      <p:sp>
        <p:nvSpPr>
          <p:cNvPr id="20" name="Text 17"/>
          <p:cNvSpPr txBox="1"/>
          <p:nvPr/>
        </p:nvSpPr>
        <p:spPr>
          <a:xfrm>
            <a:off x="6638544" y="3200400"/>
            <a:ext cx="4626864" cy="274320"/>
          </a:xfrm>
          <a:prstGeom prst="rect">
            <a:avLst/>
          </a:prstGeom>
          <a:noFill/>
          <a:ln/>
        </p:spPr>
        <p:txBody>
          <a:bodyPr wrap="square" lIns="0" tIns="0" rIns="0" bIns="0" rtlCol="0" anchor="t"/>
          <a:lstStyle/>
          <a:p>
            <a:pPr algn="l" indent="0" marL="0">
              <a:buNone/>
            </a:pPr>
            <a:r>
              <a:rPr lang="en-US" sz="1240" dirty="0">
                <a:solidFill>
                  <a:srgbClr val="E6EEF7"/>
                </a:solidFill>
                <a:latin typeface="Aptos" pitchFamily="34" charset="0"/>
                <a:ea typeface="Aptos" pitchFamily="34" charset="-122"/>
                <a:cs typeface="Aptos" pitchFamily="34" charset="-120"/>
              </a:rPr>
              <a:t>estado se queda en «rechazada»</a:t>
            </a:r>
            <a:endParaRPr lang="en-US" sz="1240" dirty="0"/>
          </a:p>
        </p:txBody>
      </p:sp>
      <p:sp>
        <p:nvSpPr>
          <p:cNvPr id="21" name="Shape 18"/>
          <p:cNvSpPr/>
          <p:nvPr/>
        </p:nvSpPr>
        <p:spPr>
          <a:xfrm>
            <a:off x="658368" y="3913632"/>
            <a:ext cx="10874959" cy="566928"/>
          </a:xfrm>
          <a:prstGeom prst="rect">
            <a:avLst/>
          </a:prstGeom>
          <a:solidFill>
            <a:srgbClr val="E0BC5A"/>
          </a:solidFill>
          <a:ln w="12700">
            <a:solidFill>
              <a:srgbClr val="E0BC5A"/>
            </a:solidFill>
            <a:prstDash val="solid"/>
          </a:ln>
        </p:spPr>
      </p:sp>
      <p:sp>
        <p:nvSpPr>
          <p:cNvPr id="22" name="Text 19"/>
          <p:cNvSpPr txBox="1"/>
          <p:nvPr/>
        </p:nvSpPr>
        <p:spPr>
          <a:xfrm>
            <a:off x="932688" y="3986784"/>
            <a:ext cx="10326319" cy="420624"/>
          </a:xfrm>
          <a:prstGeom prst="rect">
            <a:avLst/>
          </a:prstGeom>
          <a:noFill/>
          <a:ln/>
        </p:spPr>
        <p:txBody>
          <a:bodyPr wrap="square" lIns="0" tIns="0" rIns="0" bIns="0" rtlCol="0" anchor="ctr"/>
          <a:lstStyle/>
          <a:p>
            <a:pPr algn="ctr" indent="0" marL="0">
              <a:buNone/>
            </a:pPr>
            <a:r>
              <a:rPr lang="en-US" sz="2000" b="1" dirty="0">
                <a:solidFill>
                  <a:srgbClr val="102A43"/>
                </a:solidFill>
                <a:latin typeface="Aptos Display" pitchFamily="34" charset="0"/>
                <a:ea typeface="Aptos Display" pitchFamily="34" charset="-122"/>
                <a:cs typeface="Aptos Display" pitchFamily="34" charset="-120"/>
              </a:rPr>
              <a:t>Las tres sentencias se ejecutaron. Solo uno de los dos caminos se recorrió.</a:t>
            </a:r>
            <a:endParaRPr lang="en-US" sz="2000" dirty="0"/>
          </a:p>
        </p:txBody>
      </p:sp>
      <p:sp>
        <p:nvSpPr>
          <p:cNvPr id="23" name="Text 20"/>
          <p:cNvSpPr txBox="1"/>
          <p:nvPr/>
        </p:nvSpPr>
        <p:spPr>
          <a:xfrm>
            <a:off x="658368" y="4700016"/>
            <a:ext cx="10424160" cy="548640"/>
          </a:xfrm>
          <a:prstGeom prst="rect">
            <a:avLst/>
          </a:prstGeom>
          <a:noFill/>
          <a:ln/>
        </p:spPr>
        <p:txBody>
          <a:bodyPr wrap="square" lIns="0" tIns="0" rIns="0" bIns="0" rtlCol="0" anchor="t"/>
          <a:lstStyle/>
          <a:p>
            <a:pPr algn="l" indent="0" marL="0">
              <a:lnSpc>
                <a:spcPct val="118000"/>
              </a:lnSpc>
              <a:buNone/>
            </a:pPr>
            <a:r>
              <a:rPr lang="en-US" sz="1400" dirty="0">
                <a:solidFill>
                  <a:srgbClr val="E6EEF7"/>
                </a:solidFill>
                <a:latin typeface="Aptos" pitchFamily="34" charset="0"/>
                <a:ea typeface="Aptos" pitchFamily="34" charset="-122"/>
                <a:cs typeface="Aptos" pitchFamily="34" charset="-120"/>
              </a:rPr>
              <a:t>De ahí la primera regla práctica de la sesión: medir ramas, no solo sentencias. Una condición sin bloque para el caso contrario sigue teniendo dos caminos posibles, y ahí las dos medidas se separan.</a:t>
            </a:r>
            <a:endParaRPr lang="en-US" sz="1400" dirty="0"/>
          </a:p>
        </p:txBody>
      </p:sp>
      <p:sp>
        <p:nvSpPr>
          <p:cNvPr id="24" name="Shape 21"/>
          <p:cNvSpPr/>
          <p:nvPr/>
        </p:nvSpPr>
        <p:spPr>
          <a:xfrm>
            <a:off x="658368" y="5431536"/>
            <a:ext cx="10874959" cy="512064"/>
          </a:xfrm>
          <a:prstGeom prst="rect">
            <a:avLst/>
          </a:prstGeom>
          <a:solidFill>
            <a:srgbClr val="1D3A57"/>
          </a:solidFill>
          <a:ln w="12700">
            <a:solidFill>
              <a:srgbClr val="1D3A57"/>
            </a:solidFill>
            <a:prstDash val="solid"/>
          </a:ln>
        </p:spPr>
      </p:sp>
      <p:sp>
        <p:nvSpPr>
          <p:cNvPr id="25" name="Text 22"/>
          <p:cNvSpPr txBox="1"/>
          <p:nvPr/>
        </p:nvSpPr>
        <p:spPr>
          <a:xfrm>
            <a:off x="932688" y="5504688"/>
            <a:ext cx="10326319" cy="365760"/>
          </a:xfrm>
          <a:prstGeom prst="rect">
            <a:avLst/>
          </a:prstGeom>
          <a:noFill/>
          <a:ln/>
        </p:spPr>
        <p:txBody>
          <a:bodyPr wrap="square" lIns="0" tIns="0" rIns="0" bIns="0" rtlCol="0" anchor="ctr"/>
          <a:lstStyle/>
          <a:p>
            <a:pPr algn="l" indent="0" marL="0">
              <a:buNone/>
            </a:pPr>
            <a:r>
              <a:rPr lang="en-US" sz="1260" i="1" dirty="0">
                <a:solidFill>
                  <a:srgbClr val="EADFD0"/>
                </a:solidFill>
                <a:latin typeface="Aptos" pitchFamily="34" charset="0"/>
                <a:ea typeface="Aptos" pitchFamily="34" charset="-122"/>
                <a:cs typeface="Aptos" pitchFamily="34" charset="-120"/>
              </a:rPr>
              <a:t>Y ahora la reacción natural: si ramas es más estricto, bastaría con exigir 100 % de ramas. El resto del bloque es la razón por la que eso tampoco alcanza.</a:t>
            </a:r>
            <a:endParaRPr lang="en-US" sz="12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EXPERIMENTO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Una prueba con seis llamadas y ningún «assert»</a:t>
            </a:r>
            <a:endParaRPr lang="en-US" sz="3000" dirty="0"/>
          </a:p>
        </p:txBody>
      </p:sp>
      <p:sp>
        <p:nvSpPr>
          <p:cNvPr id="10" name="Text 7"/>
          <p:cNvSpPr txBox="1"/>
          <p:nvPr/>
        </p:nvSpPr>
        <p:spPr>
          <a:xfrm>
            <a:off x="658368" y="1773936"/>
            <a:ext cx="1024128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Se agrega a la suite de doce casos del proyecto de reserva. No compara nada, no espera nada, y no puede fallar: termina, y pytest la cuenta como pasada.</a:t>
            </a:r>
            <a:endParaRPr lang="en-US" sz="1450" dirty="0"/>
          </a:p>
        </p:txBody>
      </p:sp>
      <p:sp>
        <p:nvSpPr>
          <p:cNvPr id="11" name="Shape 8"/>
          <p:cNvSpPr/>
          <p:nvPr/>
        </p:nvSpPr>
        <p:spPr>
          <a:xfrm>
            <a:off x="658368" y="2688336"/>
            <a:ext cx="6858000" cy="2194560"/>
          </a:xfrm>
          <a:prstGeom prst="roundRect">
            <a:avLst>
              <a:gd name="adj" fmla="val 1667"/>
            </a:avLst>
          </a:prstGeom>
          <a:solidFill>
            <a:srgbClr val="102A43"/>
          </a:solidFill>
          <a:ln w="12700">
            <a:solidFill>
              <a:srgbClr val="102A43"/>
            </a:solidFill>
            <a:prstDash val="solid"/>
          </a:ln>
        </p:spPr>
      </p:sp>
      <p:sp>
        <p:nvSpPr>
          <p:cNvPr id="12" name="Shape 9"/>
          <p:cNvSpPr/>
          <p:nvPr/>
        </p:nvSpPr>
        <p:spPr>
          <a:xfrm>
            <a:off x="786384" y="2798064"/>
            <a:ext cx="66019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871216"/>
            <a:ext cx="63825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test_sin_afirmacion.py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3255264"/>
            <a:ext cx="6437376" cy="1444752"/>
          </a:xfrm>
          <a:prstGeom prst="rect">
            <a:avLst/>
          </a:prstGeom>
        </p:spPr>
      </p:pic>
      <p:sp>
        <p:nvSpPr>
          <p:cNvPr id="15" name="Shape 11"/>
          <p:cNvSpPr/>
          <p:nvPr/>
        </p:nvSpPr>
        <p:spPr>
          <a:xfrm>
            <a:off x="7699248" y="2688336"/>
            <a:ext cx="3831336" cy="2194560"/>
          </a:xfrm>
          <a:prstGeom prst="rect">
            <a:avLst/>
          </a:prstGeom>
          <a:solidFill>
            <a:srgbClr val="F8E4E5"/>
          </a:solidFill>
          <a:ln w="12700">
            <a:solidFill>
              <a:srgbClr val="F8E4E5"/>
            </a:solidFill>
            <a:prstDash val="solid"/>
          </a:ln>
        </p:spPr>
      </p:sp>
      <p:sp>
        <p:nvSpPr>
          <p:cNvPr id="16" name="Shape 12"/>
          <p:cNvSpPr/>
          <p:nvPr/>
        </p:nvSpPr>
        <p:spPr>
          <a:xfrm>
            <a:off x="7699248" y="2688336"/>
            <a:ext cx="64008" cy="2194560"/>
          </a:xfrm>
          <a:prstGeom prst="rect">
            <a:avLst/>
          </a:prstGeom>
          <a:solidFill>
            <a:srgbClr val="B3181E"/>
          </a:solidFill>
          <a:ln w="12700">
            <a:solidFill>
              <a:srgbClr val="B3181E"/>
            </a:solidFill>
            <a:prstDash val="solid"/>
          </a:ln>
        </p:spPr>
      </p:sp>
      <p:sp>
        <p:nvSpPr>
          <p:cNvPr id="17" name="Text 13"/>
          <p:cNvSpPr txBox="1"/>
          <p:nvPr/>
        </p:nvSpPr>
        <p:spPr>
          <a:xfrm>
            <a:off x="7973568" y="2834640"/>
            <a:ext cx="3291840" cy="566928"/>
          </a:xfrm>
          <a:prstGeom prst="rect">
            <a:avLst/>
          </a:prstGeom>
          <a:noFill/>
          <a:ln/>
        </p:spPr>
        <p:txBody>
          <a:bodyPr wrap="square" lIns="0" tIns="0" rIns="0" bIns="0" rtlCol="0" anchor="t"/>
          <a:lstStyle/>
          <a:p>
            <a:pPr algn="l" indent="0" marL="0">
              <a:buNone/>
            </a:pPr>
            <a:r>
              <a:rPr lang="en-US" sz="4600" b="1" dirty="0">
                <a:solidFill>
                  <a:srgbClr val="B3181E"/>
                </a:solidFill>
                <a:latin typeface="Aptos Display" pitchFamily="34" charset="0"/>
                <a:ea typeface="Aptos Display" pitchFamily="34" charset="-122"/>
                <a:cs typeface="Aptos Display" pitchFamily="34" charset="-120"/>
              </a:rPr>
              <a:t>0</a:t>
            </a:r>
            <a:endParaRPr lang="en-US" sz="4600" dirty="0"/>
          </a:p>
        </p:txBody>
      </p:sp>
      <p:sp>
        <p:nvSpPr>
          <p:cNvPr id="18" name="Text 14"/>
          <p:cNvSpPr txBox="1"/>
          <p:nvPr/>
        </p:nvSpPr>
        <p:spPr>
          <a:xfrm>
            <a:off x="7973568" y="3419856"/>
            <a:ext cx="3291840" cy="237744"/>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aserciones</a:t>
            </a:r>
            <a:endParaRPr lang="en-US" sz="1300" dirty="0"/>
          </a:p>
        </p:txBody>
      </p:sp>
      <p:sp>
        <p:nvSpPr>
          <p:cNvPr id="19" name="Text 15"/>
          <p:cNvSpPr txBox="1"/>
          <p:nvPr/>
        </p:nvSpPr>
        <p:spPr>
          <a:xfrm>
            <a:off x="7973568" y="3767328"/>
            <a:ext cx="3291840" cy="987552"/>
          </a:xfrm>
          <a:prstGeom prst="rect">
            <a:avLst/>
          </a:prstGeom>
          <a:noFill/>
          <a:ln/>
        </p:spPr>
        <p:txBody>
          <a:bodyPr wrap="square" lIns="0" tIns="0" rIns="0" bIns="0" rtlCol="0" anchor="t"/>
          <a:lstStyle/>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Llama a las cuatro funciones del proyecto y recorre los tres caminos de puede_reservar().</a:t>
            </a:r>
            <a:endParaRPr lang="en-US" sz="1160" dirty="0"/>
          </a:p>
          <a:p>
            <a:pPr algn="l" indent="0" marL="0">
              <a:lnSpc>
                <a:spcPct val="114000"/>
              </a:lnSpc>
              <a:buNone/>
            </a:pPr>
            <a:endParaRPr lang="en-US" sz="1160" dirty="0"/>
          </a:p>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Ninguna línea compara un resultado con lo que el requisito exige.</a:t>
            </a:r>
            <a:endParaRPr lang="en-US" sz="1160" dirty="0"/>
          </a:p>
        </p:txBody>
      </p:sp>
      <p:sp>
        <p:nvSpPr>
          <p:cNvPr id="20" name="Shape 16"/>
          <p:cNvSpPr/>
          <p:nvPr/>
        </p:nvSpPr>
        <p:spPr>
          <a:xfrm>
            <a:off x="658368" y="5120640"/>
            <a:ext cx="10874959" cy="512064"/>
          </a:xfrm>
          <a:prstGeom prst="rect">
            <a:avLst/>
          </a:prstGeom>
          <a:solidFill>
            <a:srgbClr val="102A43"/>
          </a:solidFill>
          <a:ln w="12700">
            <a:solidFill>
              <a:srgbClr val="102A43"/>
            </a:solidFill>
            <a:prstDash val="solid"/>
          </a:ln>
        </p:spPr>
      </p:sp>
      <p:sp>
        <p:nvSpPr>
          <p:cNvPr id="21" name="Text 17"/>
          <p:cNvSpPr txBox="1"/>
          <p:nvPr/>
        </p:nvSpPr>
        <p:spPr>
          <a:xfrm>
            <a:off x="969264" y="5157216"/>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Predicción antes de ejecutar: ¿cuánto sube la cobertura del proyecto al agregar esta prueba?</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RESULTADO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Del 88 % al 100 % sin comprobar nada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Mismo código, misma suite, más una prueba que no afirma nada. Salida literal de las dos ejecuciones.</a:t>
            </a:r>
            <a:endParaRPr lang="en-US" sz="1450" dirty="0"/>
          </a:p>
        </p:txBody>
      </p:sp>
      <p:sp>
        <p:nvSpPr>
          <p:cNvPr id="11" name="Shape 8"/>
          <p:cNvSpPr/>
          <p:nvPr/>
        </p:nvSpPr>
        <p:spPr>
          <a:xfrm>
            <a:off x="658368" y="2377440"/>
            <a:ext cx="5026000" cy="1426464"/>
          </a:xfrm>
          <a:prstGeom prst="rect">
            <a:avLst/>
          </a:prstGeom>
          <a:solidFill>
            <a:srgbClr val="FFFFFF"/>
          </a:solidFill>
          <a:ln w="12700">
            <a:solidFill>
              <a:srgbClr val="FFFFFF"/>
            </a:solidFill>
            <a:prstDash val="solid"/>
          </a:ln>
        </p:spPr>
      </p:sp>
      <p:sp>
        <p:nvSpPr>
          <p:cNvPr id="12" name="Shape 9"/>
          <p:cNvSpPr/>
          <p:nvPr/>
        </p:nvSpPr>
        <p:spPr>
          <a:xfrm>
            <a:off x="658368" y="2377440"/>
            <a:ext cx="5026000" cy="54864"/>
          </a:xfrm>
          <a:prstGeom prst="rect">
            <a:avLst/>
          </a:prstGeom>
          <a:solidFill>
            <a:srgbClr val="102A43"/>
          </a:solidFill>
          <a:ln w="12700">
            <a:solidFill>
              <a:srgbClr val="102A43"/>
            </a:solidFill>
            <a:prstDash val="solid"/>
          </a:ln>
        </p:spPr>
      </p:sp>
      <p:sp>
        <p:nvSpPr>
          <p:cNvPr id="13" name="Text 10"/>
          <p:cNvSpPr txBox="1"/>
          <p:nvPr/>
        </p:nvSpPr>
        <p:spPr>
          <a:xfrm>
            <a:off x="859536" y="2542032"/>
            <a:ext cx="4623664" cy="182880"/>
          </a:xfrm>
          <a:prstGeom prst="rect">
            <a:avLst/>
          </a:prstGeom>
          <a:noFill/>
          <a:ln/>
        </p:spPr>
        <p:txBody>
          <a:bodyPr wrap="square" lIns="0" tIns="0" rIns="0" bIns="0" rtlCol="0" anchor="t"/>
          <a:lstStyle/>
          <a:p>
            <a:pPr algn="l" indent="0" marL="0">
              <a:buNone/>
            </a:pPr>
            <a:r>
              <a:rPr lang="en-US" sz="920" b="1" spc="120" kern="0" dirty="0">
                <a:solidFill>
                  <a:srgbClr val="102A43"/>
                </a:solidFill>
                <a:latin typeface="Aptos" pitchFamily="34" charset="0"/>
                <a:ea typeface="Aptos" pitchFamily="34" charset="-122"/>
                <a:cs typeface="Aptos" pitchFamily="34" charset="-120"/>
              </a:rPr>
              <a:t>LA SUITE DE DOCE CASOS</a:t>
            </a:r>
            <a:endParaRPr lang="en-US" sz="920" dirty="0"/>
          </a:p>
        </p:txBody>
      </p:sp>
      <p:sp>
        <p:nvSpPr>
          <p:cNvPr id="14" name="Text 11"/>
          <p:cNvSpPr txBox="1"/>
          <p:nvPr/>
        </p:nvSpPr>
        <p:spPr>
          <a:xfrm>
            <a:off x="859536" y="2779776"/>
            <a:ext cx="4623664" cy="548640"/>
          </a:xfrm>
          <a:prstGeom prst="rect">
            <a:avLst/>
          </a:prstGeom>
          <a:noFill/>
          <a:ln/>
        </p:spPr>
        <p:txBody>
          <a:bodyPr wrap="square" lIns="0" tIns="0" rIns="0" bIns="0" rtlCol="0" anchor="t"/>
          <a:lstStyle/>
          <a:p>
            <a:pPr algn="l" indent="0" marL="0">
              <a:buNone/>
            </a:pPr>
            <a:r>
              <a:rPr lang="en-US" sz="4200" b="1" dirty="0">
                <a:solidFill>
                  <a:srgbClr val="102A43"/>
                </a:solidFill>
                <a:latin typeface="Aptos Display" pitchFamily="34" charset="0"/>
                <a:ea typeface="Aptos Display" pitchFamily="34" charset="-122"/>
                <a:cs typeface="Aptos Display" pitchFamily="34" charset="-120"/>
              </a:rPr>
              <a:t>88 %</a:t>
            </a:r>
            <a:endParaRPr lang="en-US" sz="4200" dirty="0"/>
          </a:p>
        </p:txBody>
      </p:sp>
      <p:sp>
        <p:nvSpPr>
          <p:cNvPr id="15" name="Text 12"/>
          <p:cNvSpPr txBox="1"/>
          <p:nvPr/>
        </p:nvSpPr>
        <p:spPr>
          <a:xfrm>
            <a:off x="859536" y="3401568"/>
            <a:ext cx="4623664" cy="329184"/>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Missing: 22, 26 · dos funciones sin ejecutar</a:t>
            </a:r>
            <a:endParaRPr lang="en-US" sz="1140" dirty="0"/>
          </a:p>
        </p:txBody>
      </p:sp>
      <p:sp>
        <p:nvSpPr>
          <p:cNvPr id="16" name="Shape 13"/>
          <p:cNvSpPr/>
          <p:nvPr/>
        </p:nvSpPr>
        <p:spPr>
          <a:xfrm>
            <a:off x="6507328" y="2377440"/>
            <a:ext cx="5026000" cy="1426464"/>
          </a:xfrm>
          <a:prstGeom prst="rect">
            <a:avLst/>
          </a:prstGeom>
          <a:solidFill>
            <a:srgbClr val="FFFFFF"/>
          </a:solidFill>
          <a:ln w="12700">
            <a:solidFill>
              <a:srgbClr val="FFFFFF"/>
            </a:solidFill>
            <a:prstDash val="solid"/>
          </a:ln>
        </p:spPr>
      </p:sp>
      <p:sp>
        <p:nvSpPr>
          <p:cNvPr id="17" name="Shape 14"/>
          <p:cNvSpPr/>
          <p:nvPr/>
        </p:nvSpPr>
        <p:spPr>
          <a:xfrm>
            <a:off x="6507328" y="2377440"/>
            <a:ext cx="5026000" cy="54864"/>
          </a:xfrm>
          <a:prstGeom prst="rect">
            <a:avLst/>
          </a:prstGeom>
          <a:solidFill>
            <a:srgbClr val="B3181E"/>
          </a:solidFill>
          <a:ln w="12700">
            <a:solidFill>
              <a:srgbClr val="B3181E"/>
            </a:solidFill>
            <a:prstDash val="solid"/>
          </a:ln>
        </p:spPr>
      </p:sp>
      <p:sp>
        <p:nvSpPr>
          <p:cNvPr id="18" name="Text 15"/>
          <p:cNvSpPr txBox="1"/>
          <p:nvPr/>
        </p:nvSpPr>
        <p:spPr>
          <a:xfrm>
            <a:off x="6708496" y="2542032"/>
            <a:ext cx="4623664" cy="182880"/>
          </a:xfrm>
          <a:prstGeom prst="rect">
            <a:avLst/>
          </a:prstGeom>
          <a:noFill/>
          <a:ln/>
        </p:spPr>
        <p:txBody>
          <a:bodyPr wrap="square" lIns="0" tIns="0" rIns="0" bIns="0" rtlCol="0" anchor="t"/>
          <a:lstStyle/>
          <a:p>
            <a:pPr algn="l" indent="0" marL="0">
              <a:buNone/>
            </a:pPr>
            <a:r>
              <a:rPr lang="en-US" sz="920" b="1" spc="120" kern="0" dirty="0">
                <a:solidFill>
                  <a:srgbClr val="B3181E"/>
                </a:solidFill>
                <a:latin typeface="Aptos" pitchFamily="34" charset="0"/>
                <a:ea typeface="Aptos" pitchFamily="34" charset="-122"/>
                <a:cs typeface="Aptos" pitchFamily="34" charset="-120"/>
              </a:rPr>
              <a:t>CON UNA PRUEBA MÁS, SIN ASERCIONES</a:t>
            </a:r>
            <a:endParaRPr lang="en-US" sz="920" dirty="0"/>
          </a:p>
        </p:txBody>
      </p:sp>
      <p:sp>
        <p:nvSpPr>
          <p:cNvPr id="19" name="Text 16"/>
          <p:cNvSpPr txBox="1"/>
          <p:nvPr/>
        </p:nvSpPr>
        <p:spPr>
          <a:xfrm>
            <a:off x="6708496" y="2779776"/>
            <a:ext cx="4623664" cy="548640"/>
          </a:xfrm>
          <a:prstGeom prst="rect">
            <a:avLst/>
          </a:prstGeom>
          <a:noFill/>
          <a:ln/>
        </p:spPr>
        <p:txBody>
          <a:bodyPr wrap="square" lIns="0" tIns="0" rIns="0" bIns="0" rtlCol="0" anchor="t"/>
          <a:lstStyle/>
          <a:p>
            <a:pPr algn="l" indent="0" marL="0">
              <a:buNone/>
            </a:pPr>
            <a:r>
              <a:rPr lang="en-US" sz="4200" b="1" dirty="0">
                <a:solidFill>
                  <a:srgbClr val="B3181E"/>
                </a:solidFill>
                <a:latin typeface="Aptos Display" pitchFamily="34" charset="0"/>
                <a:ea typeface="Aptos Display" pitchFamily="34" charset="-122"/>
                <a:cs typeface="Aptos Display" pitchFamily="34" charset="-120"/>
              </a:rPr>
              <a:t>100 %</a:t>
            </a:r>
            <a:endParaRPr lang="en-US" sz="4200" dirty="0"/>
          </a:p>
        </p:txBody>
      </p:sp>
      <p:sp>
        <p:nvSpPr>
          <p:cNvPr id="20" name="Text 17"/>
          <p:cNvSpPr txBox="1"/>
          <p:nvPr/>
        </p:nvSpPr>
        <p:spPr>
          <a:xfrm>
            <a:off x="6708496" y="3401568"/>
            <a:ext cx="4623664" cy="329184"/>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Missing vacío · cobertura total</a:t>
            </a:r>
            <a:endParaRPr lang="en-US" sz="1140" dirty="0"/>
          </a:p>
        </p:txBody>
      </p:sp>
      <p:sp>
        <p:nvSpPr>
          <p:cNvPr id="21" name="Shape 18"/>
          <p:cNvSpPr/>
          <p:nvPr/>
        </p:nvSpPr>
        <p:spPr>
          <a:xfrm>
            <a:off x="5812384" y="3090672"/>
            <a:ext cx="566928" cy="0"/>
          </a:xfrm>
          <a:prstGeom prst="line">
            <a:avLst/>
          </a:prstGeom>
          <a:noFill/>
          <a:ln w="12700">
            <a:solidFill>
              <a:srgbClr val="8A6A12"/>
            </a:solidFill>
            <a:prstDash val="solid"/>
            <a:headEnd type="none"/>
            <a:tailEnd type="triangle"/>
          </a:ln>
        </p:spPr>
      </p:sp>
      <p:sp>
        <p:nvSpPr>
          <p:cNvPr id="22" name="Text 19"/>
          <p:cNvSpPr txBox="1"/>
          <p:nvPr/>
        </p:nvSpPr>
        <p:spPr>
          <a:xfrm>
            <a:off x="5702656" y="2688336"/>
            <a:ext cx="786384" cy="274320"/>
          </a:xfrm>
          <a:prstGeom prst="rect">
            <a:avLst/>
          </a:prstGeom>
          <a:noFill/>
          <a:ln/>
        </p:spPr>
        <p:txBody>
          <a:bodyPr wrap="square" lIns="0" tIns="0" rIns="0" bIns="0" rtlCol="0" anchor="t"/>
          <a:lstStyle/>
          <a:p>
            <a:pPr algn="ctr" indent="0" marL="0">
              <a:buNone/>
            </a:pPr>
            <a:r>
              <a:rPr lang="en-US" sz="900" b="1" spc="60" kern="0" dirty="0">
                <a:solidFill>
                  <a:srgbClr val="8A6A12"/>
                </a:solidFill>
                <a:latin typeface="Aptos" pitchFamily="34" charset="0"/>
                <a:ea typeface="Aptos" pitchFamily="34" charset="-122"/>
                <a:cs typeface="Aptos" pitchFamily="34" charset="-120"/>
              </a:rPr>
              <a:t>+1 PRUEBA</a:t>
            </a:r>
            <a:endParaRPr lang="en-US" sz="900" dirty="0"/>
          </a:p>
        </p:txBody>
      </p:sp>
      <p:sp>
        <p:nvSpPr>
          <p:cNvPr id="23" name="Shape 20"/>
          <p:cNvSpPr/>
          <p:nvPr/>
        </p:nvSpPr>
        <p:spPr>
          <a:xfrm>
            <a:off x="658368" y="3986784"/>
            <a:ext cx="5175504" cy="987552"/>
          </a:xfrm>
          <a:prstGeom prst="roundRect">
            <a:avLst>
              <a:gd name="adj" fmla="val 3704"/>
            </a:avLst>
          </a:prstGeom>
          <a:solidFill>
            <a:srgbClr val="0F1720"/>
          </a:solidFill>
          <a:ln w="12700">
            <a:solidFill>
              <a:srgbClr val="0F1720"/>
            </a:solidFill>
            <a:prstDash val="solid"/>
          </a:ln>
        </p:spPr>
      </p:sp>
      <p:sp>
        <p:nvSpPr>
          <p:cNvPr id="24" name="Shape 21"/>
          <p:cNvSpPr/>
          <p:nvPr/>
        </p:nvSpPr>
        <p:spPr>
          <a:xfrm>
            <a:off x="786384" y="4096512"/>
            <a:ext cx="4919472" cy="310896"/>
          </a:xfrm>
          <a:prstGeom prst="roundRect">
            <a:avLst>
              <a:gd name="adj" fmla="val 8824"/>
            </a:avLst>
          </a:prstGeom>
          <a:solidFill>
            <a:srgbClr val="1E2937"/>
          </a:solidFill>
          <a:ln w="12700">
            <a:solidFill>
              <a:srgbClr val="1E2937"/>
            </a:solidFill>
            <a:prstDash val="solid"/>
          </a:ln>
        </p:spPr>
      </p:sp>
      <p:sp>
        <p:nvSpPr>
          <p:cNvPr id="25" name="Text 22"/>
          <p:cNvSpPr/>
          <p:nvPr/>
        </p:nvSpPr>
        <p:spPr>
          <a:xfrm>
            <a:off x="914400" y="4169664"/>
            <a:ext cx="4663440"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Antes</a:t>
            </a:r>
            <a:endParaRPr lang="en-US" sz="1000" dirty="0"/>
          </a:p>
        </p:txBody>
      </p:sp>
      <p:sp>
        <p:nvSpPr>
          <p:cNvPr id="26" name="Text 23"/>
          <p:cNvSpPr/>
          <p:nvPr/>
        </p:nvSpPr>
        <p:spPr>
          <a:xfrm>
            <a:off x="877824" y="4553712"/>
            <a:ext cx="4425696" cy="164592"/>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reservas.py  17  2  88%  22, 26</a:t>
            </a:r>
            <a:endParaRPr lang="en-US" sz="1000" dirty="0"/>
          </a:p>
        </p:txBody>
      </p:sp>
      <p:sp>
        <p:nvSpPr>
          <p:cNvPr id="27" name="Text 24"/>
          <p:cNvSpPr/>
          <p:nvPr/>
        </p:nvSpPr>
        <p:spPr>
          <a:xfrm>
            <a:off x="877824" y="4809744"/>
            <a:ext cx="4425696"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12 passed in 0.09s</a:t>
            </a:r>
            <a:endParaRPr lang="en-US" sz="1000" dirty="0"/>
          </a:p>
        </p:txBody>
      </p:sp>
      <p:sp>
        <p:nvSpPr>
          <p:cNvPr id="28" name="Shape 25"/>
          <p:cNvSpPr/>
          <p:nvPr/>
        </p:nvSpPr>
        <p:spPr>
          <a:xfrm>
            <a:off x="6364224" y="3986784"/>
            <a:ext cx="5175504" cy="987552"/>
          </a:xfrm>
          <a:prstGeom prst="roundRect">
            <a:avLst>
              <a:gd name="adj" fmla="val 3704"/>
            </a:avLst>
          </a:prstGeom>
          <a:solidFill>
            <a:srgbClr val="0F1720"/>
          </a:solidFill>
          <a:ln w="12700">
            <a:solidFill>
              <a:srgbClr val="0F1720"/>
            </a:solidFill>
            <a:prstDash val="solid"/>
          </a:ln>
        </p:spPr>
      </p:sp>
      <p:sp>
        <p:nvSpPr>
          <p:cNvPr id="29" name="Shape 26"/>
          <p:cNvSpPr/>
          <p:nvPr/>
        </p:nvSpPr>
        <p:spPr>
          <a:xfrm>
            <a:off x="6492240" y="4096512"/>
            <a:ext cx="4919472" cy="310896"/>
          </a:xfrm>
          <a:prstGeom prst="roundRect">
            <a:avLst>
              <a:gd name="adj" fmla="val 8824"/>
            </a:avLst>
          </a:prstGeom>
          <a:solidFill>
            <a:srgbClr val="1E2937"/>
          </a:solidFill>
          <a:ln w="12700">
            <a:solidFill>
              <a:srgbClr val="1E2937"/>
            </a:solidFill>
            <a:prstDash val="solid"/>
          </a:ln>
        </p:spPr>
      </p:sp>
      <p:sp>
        <p:nvSpPr>
          <p:cNvPr id="30" name="Text 27"/>
          <p:cNvSpPr/>
          <p:nvPr/>
        </p:nvSpPr>
        <p:spPr>
          <a:xfrm>
            <a:off x="6620256" y="4169664"/>
            <a:ext cx="4663440"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Después</a:t>
            </a:r>
            <a:endParaRPr lang="en-US" sz="1000" dirty="0"/>
          </a:p>
        </p:txBody>
      </p:sp>
      <p:sp>
        <p:nvSpPr>
          <p:cNvPr id="31" name="Text 28"/>
          <p:cNvSpPr/>
          <p:nvPr/>
        </p:nvSpPr>
        <p:spPr>
          <a:xfrm>
            <a:off x="6583680" y="4553712"/>
            <a:ext cx="4425696" cy="164592"/>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reservas.py  17  0  100%</a:t>
            </a:r>
            <a:endParaRPr lang="en-US" sz="1000" dirty="0"/>
          </a:p>
        </p:txBody>
      </p:sp>
      <p:sp>
        <p:nvSpPr>
          <p:cNvPr id="32" name="Text 29"/>
          <p:cNvSpPr/>
          <p:nvPr/>
        </p:nvSpPr>
        <p:spPr>
          <a:xfrm>
            <a:off x="6583680" y="4809744"/>
            <a:ext cx="4425696"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13 passed in 0.10s</a:t>
            </a:r>
            <a:endParaRPr lang="en-US" sz="1000" dirty="0"/>
          </a:p>
        </p:txBody>
      </p:sp>
      <p:sp>
        <p:nvSpPr>
          <p:cNvPr id="33" name="Shape 30"/>
          <p:cNvSpPr/>
          <p:nvPr/>
        </p:nvSpPr>
        <p:spPr>
          <a:xfrm>
            <a:off x="658368" y="5157216"/>
            <a:ext cx="10874959" cy="530352"/>
          </a:xfrm>
          <a:prstGeom prst="rect">
            <a:avLst/>
          </a:prstGeom>
          <a:solidFill>
            <a:srgbClr val="102A43"/>
          </a:solidFill>
          <a:ln w="12700">
            <a:solidFill>
              <a:srgbClr val="102A43"/>
            </a:solidFill>
            <a:prstDash val="solid"/>
          </a:ln>
        </p:spPr>
      </p:sp>
      <p:sp>
        <p:nvSpPr>
          <p:cNvPr id="34" name="Text 31"/>
          <p:cNvSpPr txBox="1"/>
          <p:nvPr/>
        </p:nvSpPr>
        <p:spPr>
          <a:xfrm>
            <a:off x="969264" y="5193792"/>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columna Missing quedó vacía y el proyecto ahora exhibe cobertura total. No se comprobó ni un resultado más que antes.</a:t>
            </a:r>
            <a:endParaRPr lang="en-US" sz="1400" dirty="0"/>
          </a:p>
        </p:txBody>
      </p:sp>
      <p:sp>
        <p:nvSpPr>
          <p:cNvPr id="35" name="Shape 32"/>
          <p:cNvSpPr/>
          <p:nvPr/>
        </p:nvSpPr>
        <p:spPr>
          <a:xfrm>
            <a:off x="658368" y="5815584"/>
            <a:ext cx="45720" cy="182880"/>
          </a:xfrm>
          <a:prstGeom prst="rect">
            <a:avLst/>
          </a:prstGeom>
          <a:solidFill>
            <a:srgbClr val="8A6A12"/>
          </a:solidFill>
          <a:ln w="12700">
            <a:solidFill>
              <a:srgbClr val="8A6A12"/>
            </a:solidFill>
            <a:prstDash val="solid"/>
          </a:ln>
        </p:spPr>
      </p:sp>
      <p:sp>
        <p:nvSpPr>
          <p:cNvPr id="36" name="Text 33"/>
          <p:cNvSpPr txBox="1"/>
          <p:nvPr/>
        </p:nvSpPr>
        <p:spPr>
          <a:xfrm>
            <a:off x="804672" y="5806440"/>
            <a:ext cx="8686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Ejecución propia sobre el proyecto de reserva · pytest 9.1.1 · pytest-cov 7.1.0</a:t>
            </a:r>
            <a:endParaRPr lang="en-US" sz="92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2 · LA VERSIÓN INCÓMODA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Cobertura perfecta con el defecto vivo</a:t>
            </a:r>
            <a:endParaRPr lang="en-US" sz="30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Se reintroduce en bloque_valido() el defecto que la sesión pasada encontró y corrigió: volver a comparar con «&lt;» en vez de «&lt;=». Y se ejecuta SOLO esa prueba sin aserciones.</a:t>
            </a:r>
            <a:endParaRPr lang="en-US" sz="1450" dirty="0"/>
          </a:p>
        </p:txBody>
      </p:sp>
      <p:sp>
        <p:nvSpPr>
          <p:cNvPr id="11" name="Shape 8"/>
          <p:cNvSpPr/>
          <p:nvPr/>
        </p:nvSpPr>
        <p:spPr>
          <a:xfrm>
            <a:off x="658368" y="2688336"/>
            <a:ext cx="3493008" cy="1133856"/>
          </a:xfrm>
          <a:prstGeom prst="rect">
            <a:avLst/>
          </a:prstGeom>
          <a:solidFill>
            <a:srgbClr val="1D3A57"/>
          </a:solidFill>
          <a:ln w="12700">
            <a:solidFill>
              <a:srgbClr val="1D3A57"/>
            </a:solidFill>
            <a:prstDash val="solid"/>
          </a:ln>
        </p:spPr>
      </p:sp>
      <p:sp>
        <p:nvSpPr>
          <p:cNvPr id="12" name="Shape 9"/>
          <p:cNvSpPr/>
          <p:nvPr/>
        </p:nvSpPr>
        <p:spPr>
          <a:xfrm>
            <a:off x="658368" y="2688336"/>
            <a:ext cx="3493008" cy="54864"/>
          </a:xfrm>
          <a:prstGeom prst="rect">
            <a:avLst/>
          </a:prstGeom>
          <a:solidFill>
            <a:srgbClr val="E0BC5A"/>
          </a:solidFill>
          <a:ln w="12700">
            <a:solidFill>
              <a:srgbClr val="E0BC5A"/>
            </a:solidFill>
            <a:prstDash val="solid"/>
          </a:ln>
        </p:spPr>
      </p:sp>
      <p:sp>
        <p:nvSpPr>
          <p:cNvPr id="13" name="Text 10"/>
          <p:cNvSpPr txBox="1"/>
          <p:nvPr/>
        </p:nvSpPr>
        <p:spPr>
          <a:xfrm>
            <a:off x="896112" y="2852928"/>
            <a:ext cx="301752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SENTENCIAS</a:t>
            </a:r>
            <a:endParaRPr lang="en-US" sz="960" dirty="0"/>
          </a:p>
        </p:txBody>
      </p:sp>
      <p:sp>
        <p:nvSpPr>
          <p:cNvPr id="14" name="Text 11"/>
          <p:cNvSpPr txBox="1"/>
          <p:nvPr/>
        </p:nvSpPr>
        <p:spPr>
          <a:xfrm>
            <a:off x="896112" y="3072384"/>
            <a:ext cx="3017520" cy="420624"/>
          </a:xfrm>
          <a:prstGeom prst="rect">
            <a:avLst/>
          </a:prstGeom>
          <a:noFill/>
          <a:ln/>
        </p:spPr>
        <p:txBody>
          <a:bodyPr wrap="square" lIns="0" tIns="0" rIns="0" bIns="0" rtlCol="0" anchor="t"/>
          <a:lstStyle/>
          <a:p>
            <a:pPr algn="l" indent="0" marL="0">
              <a:buNone/>
            </a:pPr>
            <a:r>
              <a:rPr lang="en-US" sz="3000" b="1" dirty="0">
                <a:solidFill>
                  <a:srgbClr val="E0BC5A"/>
                </a:solidFill>
                <a:latin typeface="Aptos Display" pitchFamily="34" charset="0"/>
                <a:ea typeface="Aptos Display" pitchFamily="34" charset="-122"/>
                <a:cs typeface="Aptos Display" pitchFamily="34" charset="-120"/>
              </a:rPr>
              <a:t>100 %</a:t>
            </a:r>
            <a:endParaRPr lang="en-US" sz="3000" dirty="0"/>
          </a:p>
        </p:txBody>
      </p:sp>
      <p:sp>
        <p:nvSpPr>
          <p:cNvPr id="15" name="Text 12"/>
          <p:cNvSpPr txBox="1"/>
          <p:nvPr/>
        </p:nvSpPr>
        <p:spPr>
          <a:xfrm>
            <a:off x="896112" y="3511296"/>
            <a:ext cx="3017520" cy="237744"/>
          </a:xfrm>
          <a:prstGeom prst="rect">
            <a:avLst/>
          </a:prstGeom>
          <a:noFill/>
          <a:ln/>
        </p:spPr>
        <p:txBody>
          <a:bodyPr wrap="square" lIns="0" tIns="0" rIns="0" bIns="0" rtlCol="0" anchor="t"/>
          <a:lstStyle/>
          <a:p>
            <a:pPr algn="l" indent="0" marL="0">
              <a:buNone/>
            </a:pPr>
            <a:r>
              <a:rPr lang="en-US" sz="1120" dirty="0">
                <a:solidFill>
                  <a:srgbClr val="E6EEF7"/>
                </a:solidFill>
                <a:latin typeface="Aptos" pitchFamily="34" charset="0"/>
                <a:ea typeface="Aptos" pitchFamily="34" charset="-122"/>
                <a:cs typeface="Aptos" pitchFamily="34" charset="-120"/>
              </a:rPr>
              <a:t>17 de 17 · Miss 0</a:t>
            </a:r>
            <a:endParaRPr lang="en-US" sz="1120" dirty="0"/>
          </a:p>
        </p:txBody>
      </p:sp>
      <p:sp>
        <p:nvSpPr>
          <p:cNvPr id="16" name="Shape 13"/>
          <p:cNvSpPr/>
          <p:nvPr/>
        </p:nvSpPr>
        <p:spPr>
          <a:xfrm>
            <a:off x="4352544" y="2688336"/>
            <a:ext cx="3493008" cy="1133856"/>
          </a:xfrm>
          <a:prstGeom prst="rect">
            <a:avLst/>
          </a:prstGeom>
          <a:solidFill>
            <a:srgbClr val="1D3A57"/>
          </a:solidFill>
          <a:ln w="12700">
            <a:solidFill>
              <a:srgbClr val="1D3A57"/>
            </a:solidFill>
            <a:prstDash val="solid"/>
          </a:ln>
        </p:spPr>
      </p:sp>
      <p:sp>
        <p:nvSpPr>
          <p:cNvPr id="17" name="Shape 14"/>
          <p:cNvSpPr/>
          <p:nvPr/>
        </p:nvSpPr>
        <p:spPr>
          <a:xfrm>
            <a:off x="4352544" y="2688336"/>
            <a:ext cx="3493008" cy="54864"/>
          </a:xfrm>
          <a:prstGeom prst="rect">
            <a:avLst/>
          </a:prstGeom>
          <a:solidFill>
            <a:srgbClr val="E0BC5A"/>
          </a:solidFill>
          <a:ln w="12700">
            <a:solidFill>
              <a:srgbClr val="E0BC5A"/>
            </a:solidFill>
            <a:prstDash val="solid"/>
          </a:ln>
        </p:spPr>
      </p:sp>
      <p:sp>
        <p:nvSpPr>
          <p:cNvPr id="18" name="Text 15"/>
          <p:cNvSpPr txBox="1"/>
          <p:nvPr/>
        </p:nvSpPr>
        <p:spPr>
          <a:xfrm>
            <a:off x="4590288" y="2852928"/>
            <a:ext cx="301752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RAMAS</a:t>
            </a:r>
            <a:endParaRPr lang="en-US" sz="960" dirty="0"/>
          </a:p>
        </p:txBody>
      </p:sp>
      <p:sp>
        <p:nvSpPr>
          <p:cNvPr id="19" name="Text 16"/>
          <p:cNvSpPr txBox="1"/>
          <p:nvPr/>
        </p:nvSpPr>
        <p:spPr>
          <a:xfrm>
            <a:off x="4590288" y="3072384"/>
            <a:ext cx="3017520" cy="420624"/>
          </a:xfrm>
          <a:prstGeom prst="rect">
            <a:avLst/>
          </a:prstGeom>
          <a:noFill/>
          <a:ln/>
        </p:spPr>
        <p:txBody>
          <a:bodyPr wrap="square" lIns="0" tIns="0" rIns="0" bIns="0" rtlCol="0" anchor="t"/>
          <a:lstStyle/>
          <a:p>
            <a:pPr algn="l" indent="0" marL="0">
              <a:buNone/>
            </a:pPr>
            <a:r>
              <a:rPr lang="en-US" sz="3000" b="1" dirty="0">
                <a:solidFill>
                  <a:srgbClr val="E0BC5A"/>
                </a:solidFill>
                <a:latin typeface="Aptos Display" pitchFamily="34" charset="0"/>
                <a:ea typeface="Aptos Display" pitchFamily="34" charset="-122"/>
                <a:cs typeface="Aptos Display" pitchFamily="34" charset="-120"/>
              </a:rPr>
              <a:t>100 %</a:t>
            </a:r>
            <a:endParaRPr lang="en-US" sz="3000" dirty="0"/>
          </a:p>
        </p:txBody>
      </p:sp>
      <p:sp>
        <p:nvSpPr>
          <p:cNvPr id="20" name="Text 17"/>
          <p:cNvSpPr txBox="1"/>
          <p:nvPr/>
        </p:nvSpPr>
        <p:spPr>
          <a:xfrm>
            <a:off x="4590288" y="3511296"/>
            <a:ext cx="3017520" cy="237744"/>
          </a:xfrm>
          <a:prstGeom prst="rect">
            <a:avLst/>
          </a:prstGeom>
          <a:noFill/>
          <a:ln/>
        </p:spPr>
        <p:txBody>
          <a:bodyPr wrap="square" lIns="0" tIns="0" rIns="0" bIns="0" rtlCol="0" anchor="t"/>
          <a:lstStyle/>
          <a:p>
            <a:pPr algn="l" indent="0" marL="0">
              <a:buNone/>
            </a:pPr>
            <a:r>
              <a:rPr lang="en-US" sz="1120" dirty="0">
                <a:solidFill>
                  <a:srgbClr val="E6EEF7"/>
                </a:solidFill>
                <a:latin typeface="Aptos" pitchFamily="34" charset="0"/>
                <a:ea typeface="Aptos" pitchFamily="34" charset="-122"/>
                <a:cs typeface="Aptos" pitchFamily="34" charset="-120"/>
              </a:rPr>
              <a:t>4 de 4 · BrPart 0</a:t>
            </a:r>
            <a:endParaRPr lang="en-US" sz="1120" dirty="0"/>
          </a:p>
        </p:txBody>
      </p:sp>
      <p:sp>
        <p:nvSpPr>
          <p:cNvPr id="21" name="Shape 18"/>
          <p:cNvSpPr/>
          <p:nvPr/>
        </p:nvSpPr>
        <p:spPr>
          <a:xfrm>
            <a:off x="8046720" y="2688336"/>
            <a:ext cx="3493008" cy="1133856"/>
          </a:xfrm>
          <a:prstGeom prst="rect">
            <a:avLst/>
          </a:prstGeom>
          <a:solidFill>
            <a:srgbClr val="1D3A57"/>
          </a:solidFill>
          <a:ln w="12700">
            <a:solidFill>
              <a:srgbClr val="1D3A57"/>
            </a:solidFill>
            <a:prstDash val="solid"/>
          </a:ln>
        </p:spPr>
      </p:sp>
      <p:sp>
        <p:nvSpPr>
          <p:cNvPr id="22" name="Shape 19"/>
          <p:cNvSpPr/>
          <p:nvPr/>
        </p:nvSpPr>
        <p:spPr>
          <a:xfrm>
            <a:off x="8046720" y="2688336"/>
            <a:ext cx="3493008" cy="54864"/>
          </a:xfrm>
          <a:prstGeom prst="rect">
            <a:avLst/>
          </a:prstGeom>
          <a:solidFill>
            <a:srgbClr val="E0BC5A"/>
          </a:solidFill>
          <a:ln w="12700">
            <a:solidFill>
              <a:srgbClr val="E0BC5A"/>
            </a:solidFill>
            <a:prstDash val="solid"/>
          </a:ln>
        </p:spPr>
      </p:sp>
      <p:sp>
        <p:nvSpPr>
          <p:cNvPr id="23" name="Text 20"/>
          <p:cNvSpPr txBox="1"/>
          <p:nvPr/>
        </p:nvSpPr>
        <p:spPr>
          <a:xfrm>
            <a:off x="8284464" y="2852928"/>
            <a:ext cx="301752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RESULTADO</a:t>
            </a:r>
            <a:endParaRPr lang="en-US" sz="960" dirty="0"/>
          </a:p>
        </p:txBody>
      </p:sp>
      <p:sp>
        <p:nvSpPr>
          <p:cNvPr id="24" name="Text 21"/>
          <p:cNvSpPr txBox="1"/>
          <p:nvPr/>
        </p:nvSpPr>
        <p:spPr>
          <a:xfrm>
            <a:off x="8284464" y="3072384"/>
            <a:ext cx="3017520" cy="420624"/>
          </a:xfrm>
          <a:prstGeom prst="rect">
            <a:avLst/>
          </a:prstGeom>
          <a:noFill/>
          <a:ln/>
        </p:spPr>
        <p:txBody>
          <a:bodyPr wrap="square" lIns="0" tIns="0" rIns="0" bIns="0" rtlCol="0" anchor="t"/>
          <a:lstStyle/>
          <a:p>
            <a:pPr algn="l" indent="0" marL="0">
              <a:buNone/>
            </a:pPr>
            <a:r>
              <a:rPr lang="en-US" sz="3000" b="1" dirty="0">
                <a:solidFill>
                  <a:srgbClr val="E0BC5A"/>
                </a:solidFill>
                <a:latin typeface="Aptos Display" pitchFamily="34" charset="0"/>
                <a:ea typeface="Aptos Display" pitchFamily="34" charset="-122"/>
                <a:cs typeface="Aptos Display" pitchFamily="34" charset="-120"/>
              </a:rPr>
              <a:t>1 passed</a:t>
            </a:r>
            <a:endParaRPr lang="en-US" sz="3000" dirty="0"/>
          </a:p>
        </p:txBody>
      </p:sp>
      <p:sp>
        <p:nvSpPr>
          <p:cNvPr id="25" name="Text 22"/>
          <p:cNvSpPr txBox="1"/>
          <p:nvPr/>
        </p:nvSpPr>
        <p:spPr>
          <a:xfrm>
            <a:off x="8284464" y="3511296"/>
            <a:ext cx="3017520" cy="237744"/>
          </a:xfrm>
          <a:prstGeom prst="rect">
            <a:avLst/>
          </a:prstGeom>
          <a:noFill/>
          <a:ln/>
        </p:spPr>
        <p:txBody>
          <a:bodyPr wrap="square" lIns="0" tIns="0" rIns="0" bIns="0" rtlCol="0" anchor="t"/>
          <a:lstStyle/>
          <a:p>
            <a:pPr algn="l" indent="0" marL="0">
              <a:buNone/>
            </a:pPr>
            <a:r>
              <a:rPr lang="en-US" sz="1120" dirty="0">
                <a:solidFill>
                  <a:srgbClr val="E6EEF7"/>
                </a:solidFill>
                <a:latin typeface="Aptos" pitchFamily="34" charset="0"/>
                <a:ea typeface="Aptos" pitchFamily="34" charset="-122"/>
                <a:cs typeface="Aptos" pitchFamily="34" charset="-120"/>
              </a:rPr>
              <a:t>la suite está en verde</a:t>
            </a:r>
            <a:endParaRPr lang="en-US" sz="1120" dirty="0"/>
          </a:p>
        </p:txBody>
      </p:sp>
      <p:sp>
        <p:nvSpPr>
          <p:cNvPr id="26" name="Shape 23"/>
          <p:cNvSpPr/>
          <p:nvPr/>
        </p:nvSpPr>
        <p:spPr>
          <a:xfrm>
            <a:off x="658368" y="4041648"/>
            <a:ext cx="10874959" cy="603504"/>
          </a:xfrm>
          <a:prstGeom prst="rect">
            <a:avLst/>
          </a:prstGeom>
          <a:solidFill>
            <a:srgbClr val="D62027"/>
          </a:solidFill>
          <a:ln w="12700">
            <a:solidFill>
              <a:srgbClr val="D62027"/>
            </a:solidFill>
            <a:prstDash val="solid"/>
          </a:ln>
        </p:spPr>
      </p:sp>
      <p:sp>
        <p:nvSpPr>
          <p:cNvPr id="27" name="Text 24"/>
          <p:cNvSpPr txBox="1"/>
          <p:nvPr/>
        </p:nvSpPr>
        <p:spPr>
          <a:xfrm>
            <a:off x="932688" y="4114800"/>
            <a:ext cx="10326319"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Aptos Display" pitchFamily="34" charset="0"/>
                <a:ea typeface="Aptos Display" pitchFamily="34" charset="-122"/>
                <a:cs typeface="Aptos Display" pitchFamily="34" charset="-120"/>
              </a:rPr>
              <a:t>Y un octavo de la jornada del laboratorio, inutilizable por un defecto que sigue ahí.</a:t>
            </a:r>
            <a:endParaRPr lang="en-US" sz="2100" dirty="0"/>
          </a:p>
        </p:txBody>
      </p:sp>
      <p:sp>
        <p:nvSpPr>
          <p:cNvPr id="28" name="Text 25"/>
          <p:cNvSpPr txBox="1"/>
          <p:nvPr/>
        </p:nvSpPr>
        <p:spPr>
          <a:xfrm>
            <a:off x="658368" y="4809744"/>
            <a:ext cx="10424160" cy="603504"/>
          </a:xfrm>
          <a:prstGeom prst="rect">
            <a:avLst/>
          </a:prstGeom>
          <a:noFill/>
          <a:ln/>
        </p:spPr>
        <p:txBody>
          <a:bodyPr wrap="square" lIns="0" tIns="0" rIns="0" bIns="0" rtlCol="0" anchor="t"/>
          <a:lstStyle/>
          <a:p>
            <a:pPr algn="l" indent="0" marL="0">
              <a:lnSpc>
                <a:spcPct val="118000"/>
              </a:lnSpc>
              <a:buNone/>
            </a:pPr>
            <a:r>
              <a:rPr lang="en-US" sz="1360" dirty="0">
                <a:solidFill>
                  <a:srgbClr val="E6EEF7"/>
                </a:solidFill>
                <a:latin typeface="Aptos" pitchFamily="34" charset="0"/>
                <a:ea typeface="Aptos" pitchFamily="34" charset="-122"/>
                <a:cs typeface="Aptos" pitchFamily="34" charset="-120"/>
              </a:rPr>
              <a:t>Eso responde la objeción del apartado anterior: exigir cobertura de ramas es mejor que exigir cobertura de sentencias, y tampoco es suficiente. Ninguna de las dos medidas mira las aserciones, porque ninguna fue diseñada para eso. Miden ejecución.</a:t>
            </a:r>
            <a:endParaRPr lang="en-US" sz="1360" dirty="0"/>
          </a:p>
        </p:txBody>
      </p:sp>
      <p:sp>
        <p:nvSpPr>
          <p:cNvPr id="29" name="Shape 26"/>
          <p:cNvSpPr/>
          <p:nvPr/>
        </p:nvSpPr>
        <p:spPr>
          <a:xfrm>
            <a:off x="658368" y="5632704"/>
            <a:ext cx="45720" cy="182880"/>
          </a:xfrm>
          <a:prstGeom prst="rect">
            <a:avLst/>
          </a:prstGeom>
          <a:solidFill>
            <a:srgbClr val="E0BC5A"/>
          </a:solidFill>
          <a:ln w="12700">
            <a:solidFill>
              <a:srgbClr val="E0BC5A"/>
            </a:solidFill>
            <a:prstDash val="solid"/>
          </a:ln>
        </p:spPr>
      </p:sp>
      <p:sp>
        <p:nvSpPr>
          <p:cNvPr id="30" name="Text 27"/>
          <p:cNvSpPr txBox="1"/>
          <p:nvPr/>
        </p:nvSpPr>
        <p:spPr>
          <a:xfrm>
            <a:off x="804672" y="5623560"/>
            <a:ext cx="86868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Ejecución propia con el defecto reintroducido · 1 passed · 100 % en ambas medidas</a:t>
            </a:r>
            <a:endParaRPr lang="en-US" sz="9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CÓMO SE DICE CON PRECISIÓN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100 % no prueba nada» es demasiado fuerte</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eslogan circula así, pero conviene decirlo exacto, porque el 100 % sí prueba un hecho, y es un hecho útil.</a:t>
            </a:r>
            <a:endParaRPr lang="en-US" sz="1450" dirty="0"/>
          </a:p>
        </p:txBody>
      </p:sp>
      <p:sp>
        <p:nvSpPr>
          <p:cNvPr id="11" name="Shape 8"/>
          <p:cNvSpPr/>
          <p:nvPr/>
        </p:nvSpPr>
        <p:spPr>
          <a:xfrm>
            <a:off x="658368" y="2468880"/>
            <a:ext cx="10874959" cy="749808"/>
          </a:xfrm>
          <a:prstGeom prst="rect">
            <a:avLst/>
          </a:prstGeom>
          <a:solidFill>
            <a:srgbClr val="FFFFFF"/>
          </a:solidFill>
          <a:ln w="12700">
            <a:solidFill>
              <a:srgbClr val="FFFFFF"/>
            </a:solidFill>
            <a:prstDash val="solid"/>
          </a:ln>
        </p:spPr>
      </p:sp>
      <p:sp>
        <p:nvSpPr>
          <p:cNvPr id="12" name="Shape 9"/>
          <p:cNvSpPr/>
          <p:nvPr/>
        </p:nvSpPr>
        <p:spPr>
          <a:xfrm>
            <a:off x="658368" y="2468880"/>
            <a:ext cx="54864" cy="749808"/>
          </a:xfrm>
          <a:prstGeom prst="rect">
            <a:avLst/>
          </a:prstGeom>
          <a:solidFill>
            <a:srgbClr val="2E7D4F"/>
          </a:solidFill>
          <a:ln w="12700">
            <a:solidFill>
              <a:srgbClr val="2E7D4F"/>
            </a:solidFill>
            <a:prstDash val="solid"/>
          </a:ln>
        </p:spPr>
      </p:sp>
      <p:sp>
        <p:nvSpPr>
          <p:cNvPr id="13" name="Text 10"/>
          <p:cNvSpPr txBox="1"/>
          <p:nvPr/>
        </p:nvSpPr>
        <p:spPr>
          <a:xfrm>
            <a:off x="932688" y="2688336"/>
            <a:ext cx="2926080" cy="310896"/>
          </a:xfrm>
          <a:prstGeom prst="rect">
            <a:avLst/>
          </a:prstGeom>
          <a:noFill/>
          <a:ln/>
        </p:spPr>
        <p:txBody>
          <a:bodyPr wrap="square" lIns="0" tIns="0" rIns="0" bIns="0" rtlCol="0" anchor="t"/>
          <a:lstStyle/>
          <a:p>
            <a:pPr algn="l" indent="0" marL="0">
              <a:buNone/>
            </a:pPr>
            <a:r>
              <a:rPr lang="en-US" sz="1400" b="1" dirty="0">
                <a:solidFill>
                  <a:srgbClr val="2E7D4F"/>
                </a:solidFill>
                <a:latin typeface="Aptos" pitchFamily="34" charset="0"/>
                <a:ea typeface="Aptos" pitchFamily="34" charset="-122"/>
                <a:cs typeface="Aptos" pitchFamily="34" charset="-120"/>
              </a:rPr>
              <a:t>Lo que SÍ prueba</a:t>
            </a:r>
            <a:endParaRPr lang="en-US" sz="1400" dirty="0"/>
          </a:p>
        </p:txBody>
      </p:sp>
      <p:sp>
        <p:nvSpPr>
          <p:cNvPr id="14" name="Text 11"/>
          <p:cNvSpPr txBox="1"/>
          <p:nvPr/>
        </p:nvSpPr>
        <p:spPr>
          <a:xfrm>
            <a:off x="4041648" y="2688336"/>
            <a:ext cx="7217359" cy="310896"/>
          </a:xfrm>
          <a:prstGeom prst="rect">
            <a:avLst/>
          </a:prstGeom>
          <a:noFill/>
          <a:ln/>
        </p:spPr>
        <p:txBody>
          <a:bodyPr wrap="square" lIns="0" tIns="0" rIns="0" bIns="0" rtlCol="0" anchor="ctr"/>
          <a:lstStyle/>
          <a:p>
            <a:pPr algn="l" indent="0" marL="0">
              <a:buNone/>
            </a:pPr>
            <a:r>
              <a:rPr lang="en-US" sz="1400" dirty="0">
                <a:solidFill>
                  <a:srgbClr val="243B53"/>
                </a:solidFill>
                <a:latin typeface="Aptos" pitchFamily="34" charset="0"/>
                <a:ea typeface="Aptos" pitchFamily="34" charset="-122"/>
                <a:cs typeface="Aptos" pitchFamily="34" charset="-120"/>
              </a:rPr>
              <a:t>No quedó código que ninguna prueba alcance.</a:t>
            </a:r>
            <a:endParaRPr lang="en-US" sz="1400" dirty="0"/>
          </a:p>
        </p:txBody>
      </p:sp>
      <p:sp>
        <p:nvSpPr>
          <p:cNvPr id="15" name="Shape 12"/>
          <p:cNvSpPr/>
          <p:nvPr/>
        </p:nvSpPr>
        <p:spPr>
          <a:xfrm>
            <a:off x="658368" y="3328416"/>
            <a:ext cx="10874959" cy="749808"/>
          </a:xfrm>
          <a:prstGeom prst="rect">
            <a:avLst/>
          </a:prstGeom>
          <a:solidFill>
            <a:srgbClr val="FFFFFF"/>
          </a:solidFill>
          <a:ln w="12700">
            <a:solidFill>
              <a:srgbClr val="FFFFFF"/>
            </a:solidFill>
            <a:prstDash val="solid"/>
          </a:ln>
        </p:spPr>
      </p:sp>
      <p:sp>
        <p:nvSpPr>
          <p:cNvPr id="16" name="Shape 13"/>
          <p:cNvSpPr/>
          <p:nvPr/>
        </p:nvSpPr>
        <p:spPr>
          <a:xfrm>
            <a:off x="658368" y="3328416"/>
            <a:ext cx="54864" cy="749808"/>
          </a:xfrm>
          <a:prstGeom prst="rect">
            <a:avLst/>
          </a:prstGeom>
          <a:solidFill>
            <a:srgbClr val="B3181E"/>
          </a:solidFill>
          <a:ln w="12700">
            <a:solidFill>
              <a:srgbClr val="B3181E"/>
            </a:solidFill>
            <a:prstDash val="solid"/>
          </a:ln>
        </p:spPr>
      </p:sp>
      <p:sp>
        <p:nvSpPr>
          <p:cNvPr id="17" name="Text 14"/>
          <p:cNvSpPr txBox="1"/>
          <p:nvPr/>
        </p:nvSpPr>
        <p:spPr>
          <a:xfrm>
            <a:off x="932688" y="3547872"/>
            <a:ext cx="2926080" cy="310896"/>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Lo que NO prueba</a:t>
            </a:r>
            <a:endParaRPr lang="en-US" sz="1400" dirty="0"/>
          </a:p>
        </p:txBody>
      </p:sp>
      <p:sp>
        <p:nvSpPr>
          <p:cNvPr id="18" name="Text 15"/>
          <p:cNvSpPr txBox="1"/>
          <p:nvPr/>
        </p:nvSpPr>
        <p:spPr>
          <a:xfrm>
            <a:off x="4041648" y="3547872"/>
            <a:ext cx="7217359" cy="310896"/>
          </a:xfrm>
          <a:prstGeom prst="rect">
            <a:avLst/>
          </a:prstGeom>
          <a:noFill/>
          <a:ln/>
        </p:spPr>
        <p:txBody>
          <a:bodyPr wrap="square" lIns="0" tIns="0" rIns="0" bIns="0" rtlCol="0" anchor="ctr"/>
          <a:lstStyle/>
          <a:p>
            <a:pPr algn="l" indent="0" marL="0">
              <a:buNone/>
            </a:pPr>
            <a:r>
              <a:rPr lang="en-US" sz="1400" dirty="0">
                <a:solidFill>
                  <a:srgbClr val="243B53"/>
                </a:solidFill>
                <a:latin typeface="Aptos" pitchFamily="34" charset="0"/>
                <a:ea typeface="Aptos" pitchFamily="34" charset="-122"/>
                <a:cs typeface="Aptos" pitchFamily="34" charset="-120"/>
              </a:rPr>
              <a:t>Que alguien haya comprobado el resultado de alcanzarlo.</a:t>
            </a:r>
            <a:endParaRPr lang="en-US" sz="1400" dirty="0"/>
          </a:p>
        </p:txBody>
      </p:sp>
      <p:sp>
        <p:nvSpPr>
          <p:cNvPr id="19" name="Shape 16"/>
          <p:cNvSpPr/>
          <p:nvPr/>
        </p:nvSpPr>
        <p:spPr>
          <a:xfrm>
            <a:off x="658368" y="4224528"/>
            <a:ext cx="10874959" cy="877824"/>
          </a:xfrm>
          <a:prstGeom prst="rect">
            <a:avLst/>
          </a:prstGeom>
          <a:solidFill>
            <a:srgbClr val="102A43"/>
          </a:solidFill>
          <a:ln w="12700">
            <a:solidFill>
              <a:srgbClr val="102A43"/>
            </a:solidFill>
            <a:prstDash val="solid"/>
          </a:ln>
        </p:spPr>
      </p:sp>
      <p:sp>
        <p:nvSpPr>
          <p:cNvPr id="20" name="Text 17"/>
          <p:cNvSpPr txBox="1"/>
          <p:nvPr/>
        </p:nvSpPr>
        <p:spPr>
          <a:xfrm>
            <a:off x="658368" y="4334256"/>
            <a:ext cx="10874959" cy="384048"/>
          </a:xfrm>
          <a:prstGeom prst="rect">
            <a:avLst/>
          </a:prstGeom>
          <a:noFill/>
          <a:ln/>
        </p:spPr>
        <p:txBody>
          <a:bodyPr wrap="square" lIns="0" tIns="0" rIns="0" bIns="0" rtlCol="0" anchor="t"/>
          <a:lstStyle/>
          <a:p>
            <a:pPr algn="ctr" indent="0" marL="0">
              <a:buNone/>
            </a:pPr>
            <a:r>
              <a:rPr lang="en-US" sz="2500" b="1" dirty="0">
                <a:solidFill>
                  <a:srgbClr val="E0BC5A"/>
                </a:solidFill>
                <a:latin typeface="Aptos Display" pitchFamily="34" charset="0"/>
                <a:ea typeface="Aptos Display" pitchFamily="34" charset="-122"/>
                <a:cs typeface="Aptos Display" pitchFamily="34" charset="-120"/>
              </a:rPr>
              <a:t>La cobertura es NECESARIA y NO SUFICIENTE.</a:t>
            </a:r>
            <a:endParaRPr lang="en-US" sz="2500" dirty="0"/>
          </a:p>
        </p:txBody>
      </p:sp>
      <p:sp>
        <p:nvSpPr>
          <p:cNvPr id="21" name="Text 18"/>
          <p:cNvSpPr txBox="1"/>
          <p:nvPr/>
        </p:nvSpPr>
        <p:spPr>
          <a:xfrm>
            <a:off x="658368" y="4791456"/>
            <a:ext cx="10874959" cy="237744"/>
          </a:xfrm>
          <a:prstGeom prst="rect">
            <a:avLst/>
          </a:prstGeom>
          <a:noFill/>
          <a:ln/>
        </p:spPr>
        <p:txBody>
          <a:bodyPr wrap="square" lIns="0" tIns="0" rIns="0" bIns="0" rtlCol="0" anchor="t"/>
          <a:lstStyle/>
          <a:p>
            <a:pPr algn="ctr" indent="0" marL="0">
              <a:buNone/>
            </a:pPr>
            <a:r>
              <a:rPr lang="en-US" sz="1300" dirty="0">
                <a:solidFill>
                  <a:srgbClr val="FFFFFF"/>
                </a:solidFill>
                <a:latin typeface="Aptos" pitchFamily="34" charset="0"/>
                <a:ea typeface="Aptos" pitchFamily="34" charset="-122"/>
                <a:cs typeface="Aptos" pitchFamily="34" charset="-120"/>
              </a:rPr>
              <a:t>Sirve para descartar el olvido. No para acreditar la verificación.</a:t>
            </a:r>
            <a:endParaRPr lang="en-US" sz="1300" dirty="0"/>
          </a:p>
        </p:txBody>
      </p:sp>
      <p:sp>
        <p:nvSpPr>
          <p:cNvPr id="22" name="Shape 19"/>
          <p:cNvSpPr/>
          <p:nvPr/>
        </p:nvSpPr>
        <p:spPr>
          <a:xfrm>
            <a:off x="658368" y="5340096"/>
            <a:ext cx="10874959" cy="512064"/>
          </a:xfrm>
          <a:prstGeom prst="rect">
            <a:avLst/>
          </a:prstGeom>
          <a:solidFill>
            <a:srgbClr val="102A43"/>
          </a:solidFill>
          <a:ln w="12700">
            <a:solidFill>
              <a:srgbClr val="102A43"/>
            </a:solidFill>
            <a:prstDash val="solid"/>
          </a:ln>
        </p:spPr>
      </p:sp>
      <p:sp>
        <p:nvSpPr>
          <p:cNvPr id="23" name="Text 20"/>
          <p:cNvSpPr txBox="1"/>
          <p:nvPr/>
        </p:nvSpPr>
        <p:spPr>
          <a:xfrm>
            <a:off x="969264" y="5376672"/>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Entonces, ¿qué pregunta hay que hacerle a una prueba en lugar de mirarle el porcentaje?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EXPERIMENTO QUE DISCRIMINA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700" b="1" dirty="0">
                <a:solidFill>
                  <a:srgbClr val="243B53"/>
                </a:solidFill>
                <a:latin typeface="Aptos Display" pitchFamily="34" charset="0"/>
                <a:ea typeface="Aptos Display" pitchFamily="34" charset="-122"/>
                <a:cs typeface="Aptos Display" pitchFamily="34" charset="-120"/>
              </a:rPr>
              <a:t>Modificar el programa a propósito y ver si la suite lo nota</a:t>
            </a:r>
            <a:endParaRPr lang="en-US" sz="27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Con el mismo defecto reintroducido, se ejecuta ahora la suite de doce casos CON aserciones.</a:t>
            </a:r>
            <a:endParaRPr lang="en-US" sz="1450" dirty="0"/>
          </a:p>
        </p:txBody>
      </p:sp>
      <p:sp>
        <p:nvSpPr>
          <p:cNvPr id="11" name="Shape 8"/>
          <p:cNvSpPr/>
          <p:nvPr/>
        </p:nvSpPr>
        <p:spPr>
          <a:xfrm>
            <a:off x="658368" y="2395728"/>
            <a:ext cx="10872216" cy="1389888"/>
          </a:xfrm>
          <a:prstGeom prst="roundRect">
            <a:avLst>
              <a:gd name="adj" fmla="val 2632"/>
            </a:avLst>
          </a:prstGeom>
          <a:solidFill>
            <a:srgbClr val="0F1720"/>
          </a:solidFill>
          <a:ln w="12700">
            <a:solidFill>
              <a:srgbClr val="0F1720"/>
            </a:solidFill>
            <a:prstDash val="solid"/>
          </a:ln>
        </p:spPr>
      </p:sp>
      <p:sp>
        <p:nvSpPr>
          <p:cNvPr id="12" name="Shape 9"/>
          <p:cNvSpPr/>
          <p:nvPr/>
        </p:nvSpPr>
        <p:spPr>
          <a:xfrm>
            <a:off x="786384" y="2505456"/>
            <a:ext cx="10616184"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78608"/>
            <a:ext cx="1036015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uv run pytest -q</a:t>
            </a:r>
            <a:endParaRPr lang="en-US" sz="1000" dirty="0"/>
          </a:p>
        </p:txBody>
      </p:sp>
      <p:sp>
        <p:nvSpPr>
          <p:cNvPr id="14" name="Text 11"/>
          <p:cNvSpPr/>
          <p:nvPr/>
        </p:nvSpPr>
        <p:spPr>
          <a:xfrm>
            <a:off x="877824" y="2962656"/>
            <a:ext cx="10122408"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FAILED test_limites_del_requisito[ultimo] - assert False is True</a:t>
            </a:r>
            <a:endParaRPr lang="en-US" sz="1060" dirty="0"/>
          </a:p>
        </p:txBody>
      </p:sp>
      <p:sp>
        <p:nvSpPr>
          <p:cNvPr id="15" name="Text 12"/>
          <p:cNvSpPr/>
          <p:nvPr/>
        </p:nvSpPr>
        <p:spPr>
          <a:xfrm>
            <a:off x="877824" y="3218688"/>
            <a:ext cx="10122408"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FAILED test_regla_permitida_incluye_el_bloque_8 - assert False is True</a:t>
            </a:r>
            <a:endParaRPr lang="en-US" sz="1060" dirty="0"/>
          </a:p>
        </p:txBody>
      </p:sp>
      <p:sp>
        <p:nvSpPr>
          <p:cNvPr id="16" name="Text 13"/>
          <p:cNvSpPr/>
          <p:nvPr/>
        </p:nvSpPr>
        <p:spPr>
          <a:xfrm>
            <a:off x="877824" y="3474720"/>
            <a:ext cx="10122408"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2 failed, 10 passed in 0.19s</a:t>
            </a:r>
            <a:endParaRPr lang="en-US" sz="1060" dirty="0"/>
          </a:p>
        </p:txBody>
      </p:sp>
      <p:sp>
        <p:nvSpPr>
          <p:cNvPr id="17" name="Shape 14"/>
          <p:cNvSpPr/>
          <p:nvPr/>
        </p:nvSpPr>
        <p:spPr>
          <a:xfrm>
            <a:off x="658368" y="3931920"/>
            <a:ext cx="10874959" cy="512064"/>
          </a:xfrm>
          <a:prstGeom prst="rect">
            <a:avLst/>
          </a:prstGeom>
          <a:solidFill>
            <a:srgbClr val="E6EEF7"/>
          </a:solidFill>
          <a:ln w="12700">
            <a:solidFill>
              <a:srgbClr val="E6EEF7"/>
            </a:solidFill>
            <a:prstDash val="solid"/>
          </a:ln>
        </p:spPr>
      </p:sp>
      <p:sp>
        <p:nvSpPr>
          <p:cNvPr id="18" name="Shape 15"/>
          <p:cNvSpPr/>
          <p:nvPr/>
        </p:nvSpPr>
        <p:spPr>
          <a:xfrm>
            <a:off x="658368" y="3931920"/>
            <a:ext cx="54864" cy="512064"/>
          </a:xfrm>
          <a:prstGeom prst="rect">
            <a:avLst/>
          </a:prstGeom>
          <a:solidFill>
            <a:srgbClr val="102A43"/>
          </a:solidFill>
          <a:ln w="12700">
            <a:solidFill>
              <a:srgbClr val="102A43"/>
            </a:solidFill>
            <a:prstDash val="solid"/>
          </a:ln>
        </p:spPr>
      </p:sp>
      <p:sp>
        <p:nvSpPr>
          <p:cNvPr id="19" name="Text 16"/>
          <p:cNvSpPr txBox="1"/>
          <p:nvPr/>
        </p:nvSpPr>
        <p:spPr>
          <a:xfrm>
            <a:off x="932688" y="4005072"/>
            <a:ext cx="10326319" cy="365760"/>
          </a:xfrm>
          <a:prstGeom prst="rect">
            <a:avLst/>
          </a:prstGeom>
          <a:noFill/>
          <a:ln/>
        </p:spPr>
        <p:txBody>
          <a:bodyPr wrap="square" lIns="0" tIns="0" rIns="0" bIns="0" rtlCol="0" anchor="ctr"/>
          <a:lstStyle/>
          <a:p>
            <a:pPr algn="l" indent="0" marL="0">
              <a:buNone/>
            </a:pPr>
            <a:r>
              <a:rPr lang="en-US" sz="1300" b="1" dirty="0">
                <a:solidFill>
                  <a:srgbClr val="243B53"/>
                </a:solidFill>
                <a:latin typeface="Aptos" pitchFamily="34" charset="0"/>
                <a:ea typeface="Aptos" pitchFamily="34" charset="-122"/>
                <a:cs typeface="Aptos" pitchFamily="34" charset="-120"/>
              </a:rPr>
              <a:t>Las dos suites recorren el mismo código. Una detecta el defecto y la otra no. Lo que las separa no es el porcentaje: es la aserción.</a:t>
            </a:r>
            <a:endParaRPr lang="en-US" sz="1300" dirty="0"/>
          </a:p>
        </p:txBody>
      </p:sp>
      <p:sp>
        <p:nvSpPr>
          <p:cNvPr id="20" name="Text 17"/>
          <p:cNvSpPr txBox="1"/>
          <p:nvPr/>
        </p:nvSpPr>
        <p:spPr>
          <a:xfrm>
            <a:off x="658368" y="4590288"/>
            <a:ext cx="54864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EL EXPERIMENTO TIENE NOMBRE PROPIO</a:t>
            </a:r>
            <a:endParaRPr lang="en-US" sz="960" dirty="0"/>
          </a:p>
        </p:txBody>
      </p:sp>
      <p:sp>
        <p:nvSpPr>
          <p:cNvPr id="21" name="Shape 18"/>
          <p:cNvSpPr/>
          <p:nvPr/>
        </p:nvSpPr>
        <p:spPr>
          <a:xfrm>
            <a:off x="658368" y="4846320"/>
            <a:ext cx="3493008" cy="731520"/>
          </a:xfrm>
          <a:prstGeom prst="rect">
            <a:avLst/>
          </a:prstGeom>
          <a:solidFill>
            <a:srgbClr val="FFFFFF"/>
          </a:solidFill>
          <a:ln w="12700">
            <a:solidFill>
              <a:srgbClr val="FFFFFF"/>
            </a:solidFill>
            <a:prstDash val="solid"/>
          </a:ln>
        </p:spPr>
      </p:sp>
      <p:sp>
        <p:nvSpPr>
          <p:cNvPr id="22" name="Shape 19"/>
          <p:cNvSpPr/>
          <p:nvPr/>
        </p:nvSpPr>
        <p:spPr>
          <a:xfrm>
            <a:off x="658368" y="4846320"/>
            <a:ext cx="54864" cy="731520"/>
          </a:xfrm>
          <a:prstGeom prst="rect">
            <a:avLst/>
          </a:prstGeom>
          <a:solidFill>
            <a:srgbClr val="102A43"/>
          </a:solidFill>
          <a:ln w="12700">
            <a:solidFill>
              <a:srgbClr val="102A43"/>
            </a:solidFill>
            <a:prstDash val="solid"/>
          </a:ln>
        </p:spPr>
      </p:sp>
      <p:sp>
        <p:nvSpPr>
          <p:cNvPr id="23" name="Text 20"/>
          <p:cNvSpPr txBox="1"/>
          <p:nvPr/>
        </p:nvSpPr>
        <p:spPr>
          <a:xfrm>
            <a:off x="896112" y="4937760"/>
            <a:ext cx="3017520" cy="237744"/>
          </a:xfrm>
          <a:prstGeom prst="rect">
            <a:avLst/>
          </a:prstGeom>
          <a:noFill/>
          <a:ln/>
        </p:spPr>
        <p:txBody>
          <a:bodyPr wrap="square" lIns="0" tIns="0" rIns="0" bIns="0" rtlCol="0" anchor="t"/>
          <a:lstStyle/>
          <a:p>
            <a:pPr algn="l" indent="0" marL="0">
              <a:buNone/>
            </a:pPr>
            <a:r>
              <a:rPr lang="en-US" sz="1340" b="1" dirty="0">
                <a:solidFill>
                  <a:srgbClr val="102A43"/>
                </a:solidFill>
                <a:latin typeface="Aptos" pitchFamily="34" charset="0"/>
                <a:ea typeface="Aptos" pitchFamily="34" charset="-122"/>
                <a:cs typeface="Aptos" pitchFamily="34" charset="-120"/>
              </a:rPr>
              <a:t>Mutante</a:t>
            </a:r>
            <a:endParaRPr lang="en-US" sz="1340" dirty="0"/>
          </a:p>
        </p:txBody>
      </p:sp>
      <p:sp>
        <p:nvSpPr>
          <p:cNvPr id="24" name="Text 21"/>
          <p:cNvSpPr txBox="1"/>
          <p:nvPr/>
        </p:nvSpPr>
        <p:spPr>
          <a:xfrm>
            <a:off x="896112" y="5193792"/>
            <a:ext cx="3017520" cy="329184"/>
          </a:xfrm>
          <a:prstGeom prst="rect">
            <a:avLst/>
          </a:prstGeom>
          <a:noFill/>
          <a:ln/>
        </p:spPr>
        <p:txBody>
          <a:bodyPr wrap="square" lIns="0" tIns="0" rIns="0" bIns="0" rtlCol="0" anchor="t"/>
          <a:lstStyle/>
          <a:p>
            <a:pPr algn="l" indent="0" marL="0">
              <a:lnSpc>
                <a:spcPct val="112000"/>
              </a:lnSpc>
              <a:buNone/>
            </a:pPr>
            <a:r>
              <a:rPr lang="en-US" sz="1120" dirty="0">
                <a:solidFill>
                  <a:srgbClr val="52606D"/>
                </a:solidFill>
                <a:latin typeface="Aptos" pitchFamily="34" charset="0"/>
                <a:ea typeface="Aptos" pitchFamily="34" charset="-122"/>
                <a:cs typeface="Aptos" pitchFamily="34" charset="-120"/>
              </a:rPr>
              <a:t>Cada modificación deliberada del programa</a:t>
            </a:r>
            <a:endParaRPr lang="en-US" sz="1120" dirty="0"/>
          </a:p>
        </p:txBody>
      </p:sp>
      <p:sp>
        <p:nvSpPr>
          <p:cNvPr id="25" name="Shape 22"/>
          <p:cNvSpPr/>
          <p:nvPr/>
        </p:nvSpPr>
        <p:spPr>
          <a:xfrm>
            <a:off x="4352544" y="4846320"/>
            <a:ext cx="3493008" cy="731520"/>
          </a:xfrm>
          <a:prstGeom prst="rect">
            <a:avLst/>
          </a:prstGeom>
          <a:solidFill>
            <a:srgbClr val="FFFFFF"/>
          </a:solidFill>
          <a:ln w="12700">
            <a:solidFill>
              <a:srgbClr val="FFFFFF"/>
            </a:solidFill>
            <a:prstDash val="solid"/>
          </a:ln>
        </p:spPr>
      </p:sp>
      <p:sp>
        <p:nvSpPr>
          <p:cNvPr id="26" name="Shape 23"/>
          <p:cNvSpPr/>
          <p:nvPr/>
        </p:nvSpPr>
        <p:spPr>
          <a:xfrm>
            <a:off x="4352544" y="4846320"/>
            <a:ext cx="54864" cy="731520"/>
          </a:xfrm>
          <a:prstGeom prst="rect">
            <a:avLst/>
          </a:prstGeom>
          <a:solidFill>
            <a:srgbClr val="2E7D4F"/>
          </a:solidFill>
          <a:ln w="12700">
            <a:solidFill>
              <a:srgbClr val="2E7D4F"/>
            </a:solidFill>
            <a:prstDash val="solid"/>
          </a:ln>
        </p:spPr>
      </p:sp>
      <p:sp>
        <p:nvSpPr>
          <p:cNvPr id="27" name="Text 24"/>
          <p:cNvSpPr txBox="1"/>
          <p:nvPr/>
        </p:nvSpPr>
        <p:spPr>
          <a:xfrm>
            <a:off x="4590288" y="4937760"/>
            <a:ext cx="3017520" cy="237744"/>
          </a:xfrm>
          <a:prstGeom prst="rect">
            <a:avLst/>
          </a:prstGeom>
          <a:noFill/>
          <a:ln/>
        </p:spPr>
        <p:txBody>
          <a:bodyPr wrap="square" lIns="0" tIns="0" rIns="0" bIns="0" rtlCol="0" anchor="t"/>
          <a:lstStyle/>
          <a:p>
            <a:pPr algn="l" indent="0" marL="0">
              <a:buNone/>
            </a:pPr>
            <a:r>
              <a:rPr lang="en-US" sz="1340" b="1" dirty="0">
                <a:solidFill>
                  <a:srgbClr val="2E7D4F"/>
                </a:solidFill>
                <a:latin typeface="Aptos" pitchFamily="34" charset="0"/>
                <a:ea typeface="Aptos" pitchFamily="34" charset="-122"/>
                <a:cs typeface="Aptos" pitchFamily="34" charset="-120"/>
              </a:rPr>
              <a:t>Matado</a:t>
            </a:r>
            <a:endParaRPr lang="en-US" sz="1340" dirty="0"/>
          </a:p>
        </p:txBody>
      </p:sp>
      <p:sp>
        <p:nvSpPr>
          <p:cNvPr id="28" name="Text 25"/>
          <p:cNvSpPr txBox="1"/>
          <p:nvPr/>
        </p:nvSpPr>
        <p:spPr>
          <a:xfrm>
            <a:off x="4590288" y="5193792"/>
            <a:ext cx="3017520" cy="329184"/>
          </a:xfrm>
          <a:prstGeom prst="rect">
            <a:avLst/>
          </a:prstGeom>
          <a:noFill/>
          <a:ln/>
        </p:spPr>
        <p:txBody>
          <a:bodyPr wrap="square" lIns="0" tIns="0" rIns="0" bIns="0" rtlCol="0" anchor="t"/>
          <a:lstStyle/>
          <a:p>
            <a:pPr algn="l" indent="0" marL="0">
              <a:lnSpc>
                <a:spcPct val="112000"/>
              </a:lnSpc>
              <a:buNone/>
            </a:pPr>
            <a:r>
              <a:rPr lang="en-US" sz="1120" dirty="0">
                <a:solidFill>
                  <a:srgbClr val="52606D"/>
                </a:solidFill>
                <a:latin typeface="Aptos" pitchFamily="34" charset="0"/>
                <a:ea typeface="Aptos" pitchFamily="34" charset="-122"/>
                <a:cs typeface="Aptos" pitchFamily="34" charset="-120"/>
              </a:rPr>
              <a:t>El mutante hace fallar alguna prueba</a:t>
            </a:r>
            <a:endParaRPr lang="en-US" sz="1120" dirty="0"/>
          </a:p>
        </p:txBody>
      </p:sp>
      <p:sp>
        <p:nvSpPr>
          <p:cNvPr id="29" name="Shape 26"/>
          <p:cNvSpPr/>
          <p:nvPr/>
        </p:nvSpPr>
        <p:spPr>
          <a:xfrm>
            <a:off x="8046720" y="4846320"/>
            <a:ext cx="3493008" cy="731520"/>
          </a:xfrm>
          <a:prstGeom prst="rect">
            <a:avLst/>
          </a:prstGeom>
          <a:solidFill>
            <a:srgbClr val="FFFFFF"/>
          </a:solidFill>
          <a:ln w="12700">
            <a:solidFill>
              <a:srgbClr val="FFFFFF"/>
            </a:solidFill>
            <a:prstDash val="solid"/>
          </a:ln>
        </p:spPr>
      </p:sp>
      <p:sp>
        <p:nvSpPr>
          <p:cNvPr id="30" name="Shape 27"/>
          <p:cNvSpPr/>
          <p:nvPr/>
        </p:nvSpPr>
        <p:spPr>
          <a:xfrm>
            <a:off x="8046720" y="4846320"/>
            <a:ext cx="54864" cy="731520"/>
          </a:xfrm>
          <a:prstGeom prst="rect">
            <a:avLst/>
          </a:prstGeom>
          <a:solidFill>
            <a:srgbClr val="B3181E"/>
          </a:solidFill>
          <a:ln w="12700">
            <a:solidFill>
              <a:srgbClr val="B3181E"/>
            </a:solidFill>
            <a:prstDash val="solid"/>
          </a:ln>
        </p:spPr>
      </p:sp>
      <p:sp>
        <p:nvSpPr>
          <p:cNvPr id="31" name="Text 28"/>
          <p:cNvSpPr txBox="1"/>
          <p:nvPr/>
        </p:nvSpPr>
        <p:spPr>
          <a:xfrm>
            <a:off x="8284464" y="4937760"/>
            <a:ext cx="3017520" cy="237744"/>
          </a:xfrm>
          <a:prstGeom prst="rect">
            <a:avLst/>
          </a:prstGeom>
          <a:noFill/>
          <a:ln/>
        </p:spPr>
        <p:txBody>
          <a:bodyPr wrap="square" lIns="0" tIns="0" rIns="0" bIns="0" rtlCol="0" anchor="t"/>
          <a:lstStyle/>
          <a:p>
            <a:pPr algn="l" indent="0" marL="0">
              <a:buNone/>
            </a:pPr>
            <a:r>
              <a:rPr lang="en-US" sz="1340" b="1" dirty="0">
                <a:solidFill>
                  <a:srgbClr val="B3181E"/>
                </a:solidFill>
                <a:latin typeface="Aptos" pitchFamily="34" charset="0"/>
                <a:ea typeface="Aptos" pitchFamily="34" charset="-122"/>
                <a:cs typeface="Aptos" pitchFamily="34" charset="-120"/>
              </a:rPr>
              <a:t>Sobrevive</a:t>
            </a:r>
            <a:endParaRPr lang="en-US" sz="1340" dirty="0"/>
          </a:p>
        </p:txBody>
      </p:sp>
      <p:sp>
        <p:nvSpPr>
          <p:cNvPr id="32" name="Text 29"/>
          <p:cNvSpPr txBox="1"/>
          <p:nvPr/>
        </p:nvSpPr>
        <p:spPr>
          <a:xfrm>
            <a:off x="8284464" y="5193792"/>
            <a:ext cx="3017520" cy="329184"/>
          </a:xfrm>
          <a:prstGeom prst="rect">
            <a:avLst/>
          </a:prstGeom>
          <a:noFill/>
          <a:ln/>
        </p:spPr>
        <p:txBody>
          <a:bodyPr wrap="square" lIns="0" tIns="0" rIns="0" bIns="0" rtlCol="0" anchor="t"/>
          <a:lstStyle/>
          <a:p>
            <a:pPr algn="l" indent="0" marL="0">
              <a:lnSpc>
                <a:spcPct val="112000"/>
              </a:lnSpc>
              <a:buNone/>
            </a:pPr>
            <a:r>
              <a:rPr lang="en-US" sz="1120" dirty="0">
                <a:solidFill>
                  <a:srgbClr val="52606D"/>
                </a:solidFill>
                <a:latin typeface="Aptos" pitchFamily="34" charset="0"/>
                <a:ea typeface="Aptos" pitchFamily="34" charset="-122"/>
                <a:cs typeface="Aptos" pitchFamily="34" charset="-120"/>
              </a:rPr>
              <a:t>El mutante deja la suite en verde</a:t>
            </a:r>
            <a:endParaRPr lang="en-US" sz="1120" dirty="0"/>
          </a:p>
        </p:txBody>
      </p:sp>
      <p:sp>
        <p:nvSpPr>
          <p:cNvPr id="33" name="Shape 30"/>
          <p:cNvSpPr/>
          <p:nvPr/>
        </p:nvSpPr>
        <p:spPr>
          <a:xfrm>
            <a:off x="658368" y="5760720"/>
            <a:ext cx="10874959" cy="457200"/>
          </a:xfrm>
          <a:prstGeom prst="rect">
            <a:avLst/>
          </a:prstGeom>
          <a:solidFill>
            <a:srgbClr val="102A43"/>
          </a:solidFill>
          <a:ln w="12700">
            <a:solidFill>
              <a:srgbClr val="102A43"/>
            </a:solidFill>
            <a:prstDash val="solid"/>
          </a:ln>
        </p:spPr>
      </p:sp>
      <p:sp>
        <p:nvSpPr>
          <p:cNvPr id="34" name="Text 31"/>
          <p:cNvSpPr txBox="1"/>
          <p:nvPr/>
        </p:nvSpPr>
        <p:spPr>
          <a:xfrm>
            <a:off x="969264" y="5797296"/>
            <a:ext cx="10253167" cy="38404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Cambiar «&lt;=» por «&lt;» es un mutante: la suite con aserciones lo mata, la suite sin aserciones lo deja sobrevivir con cobertura perfecta.</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41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2 · LA HERRAMIENTA DE LA SESIÓN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La pregunta que reemplaza al porcentaje</a:t>
            </a:r>
            <a:endParaRPr lang="en-US" sz="3000" dirty="0"/>
          </a:p>
        </p:txBody>
      </p:sp>
      <p:sp>
        <p:nvSpPr>
          <p:cNvPr id="10" name="Shape 7"/>
          <p:cNvSpPr/>
          <p:nvPr/>
        </p:nvSpPr>
        <p:spPr>
          <a:xfrm>
            <a:off x="658368" y="2286000"/>
            <a:ext cx="10874959" cy="1005840"/>
          </a:xfrm>
          <a:prstGeom prst="rect">
            <a:avLst/>
          </a:prstGeom>
          <a:solidFill>
            <a:srgbClr val="E0BC5A"/>
          </a:solidFill>
          <a:ln w="12700">
            <a:solidFill>
              <a:srgbClr val="E0BC5A"/>
            </a:solidFill>
            <a:prstDash val="solid"/>
          </a:ln>
        </p:spPr>
      </p:sp>
      <p:sp>
        <p:nvSpPr>
          <p:cNvPr id="11" name="Text 8"/>
          <p:cNvSpPr txBox="1"/>
          <p:nvPr/>
        </p:nvSpPr>
        <p:spPr>
          <a:xfrm>
            <a:off x="1024128" y="2450592"/>
            <a:ext cx="10143439" cy="676656"/>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¿Qué tendría que cambiar en el código para que esta prueba falle?</a:t>
            </a:r>
            <a:endParaRPr lang="en-US" sz="2700" dirty="0"/>
          </a:p>
        </p:txBody>
      </p:sp>
      <p:sp>
        <p:nvSpPr>
          <p:cNvPr id="12" name="Shape 9"/>
          <p:cNvSpPr/>
          <p:nvPr/>
        </p:nvSpPr>
        <p:spPr>
          <a:xfrm>
            <a:off x="658368" y="3529584"/>
            <a:ext cx="10874959" cy="640080"/>
          </a:xfrm>
          <a:prstGeom prst="rect">
            <a:avLst/>
          </a:prstGeom>
          <a:solidFill>
            <a:srgbClr val="1D3A57"/>
          </a:solidFill>
          <a:ln w="12700">
            <a:solidFill>
              <a:srgbClr val="1D3A57"/>
            </a:solidFill>
            <a:prstDash val="solid"/>
          </a:ln>
        </p:spPr>
      </p:sp>
      <p:sp>
        <p:nvSpPr>
          <p:cNvPr id="13" name="Shape 10"/>
          <p:cNvSpPr/>
          <p:nvPr/>
        </p:nvSpPr>
        <p:spPr>
          <a:xfrm>
            <a:off x="658368" y="3529584"/>
            <a:ext cx="54864" cy="640080"/>
          </a:xfrm>
          <a:prstGeom prst="rect">
            <a:avLst/>
          </a:prstGeom>
          <a:solidFill>
            <a:srgbClr val="D62027"/>
          </a:solidFill>
          <a:ln w="12700">
            <a:solidFill>
              <a:srgbClr val="D62027"/>
            </a:solidFill>
            <a:prstDash val="solid"/>
          </a:ln>
        </p:spPr>
      </p:sp>
      <p:sp>
        <p:nvSpPr>
          <p:cNvPr id="14" name="Text 11"/>
          <p:cNvSpPr txBox="1"/>
          <p:nvPr/>
        </p:nvSpPr>
        <p:spPr>
          <a:xfrm>
            <a:off x="932688" y="3712464"/>
            <a:ext cx="4206240" cy="292608"/>
          </a:xfrm>
          <a:prstGeom prst="rect">
            <a:avLst/>
          </a:prstGeom>
          <a:noFill/>
          <a:ln/>
        </p:spPr>
        <p:txBody>
          <a:bodyPr wrap="square" lIns="0" tIns="0" rIns="0" bIns="0" rtlCol="0" anchor="ctr"/>
          <a:lstStyle/>
          <a:p>
            <a:pPr algn="l" indent="0" marL="0">
              <a:buNone/>
            </a:pPr>
            <a:r>
              <a:rPr lang="en-US" sz="1340" b="1" dirty="0">
                <a:solidFill>
                  <a:srgbClr val="FFFFFF"/>
                </a:solidFill>
                <a:latin typeface="Aptos" pitchFamily="34" charset="0"/>
                <a:ea typeface="Aptos" pitchFamily="34" charset="-122"/>
                <a:cs typeface="Aptos" pitchFamily="34" charset="-120"/>
              </a:rPr>
              <a:t>Si la respuesta es «nada»</a:t>
            </a:r>
            <a:endParaRPr lang="en-US" sz="1340" dirty="0"/>
          </a:p>
        </p:txBody>
      </p:sp>
      <p:sp>
        <p:nvSpPr>
          <p:cNvPr id="15" name="Text 12"/>
          <p:cNvSpPr txBox="1"/>
          <p:nvPr/>
        </p:nvSpPr>
        <p:spPr>
          <a:xfrm>
            <a:off x="5413248" y="3712464"/>
            <a:ext cx="5845759" cy="292608"/>
          </a:xfrm>
          <a:prstGeom prst="rect">
            <a:avLst/>
          </a:prstGeom>
          <a:noFill/>
          <a:ln/>
        </p:spPr>
        <p:txBody>
          <a:bodyPr wrap="square" lIns="0" tIns="0" rIns="0" bIns="0" rtlCol="0" anchor="ctr"/>
          <a:lstStyle/>
          <a:p>
            <a:pPr algn="l" indent="0" marL="0">
              <a:buNone/>
            </a:pPr>
            <a:r>
              <a:rPr lang="en-US" sz="1300" dirty="0">
                <a:solidFill>
                  <a:srgbClr val="E6EEF7"/>
                </a:solidFill>
                <a:latin typeface="Aptos" pitchFamily="34" charset="0"/>
                <a:ea typeface="Aptos" pitchFamily="34" charset="-122"/>
                <a:cs typeface="Aptos" pitchFamily="34" charset="-120"/>
              </a:rPr>
              <a:t>La prueba no verifica: recorre.</a:t>
            </a:r>
            <a:endParaRPr lang="en-US" sz="1300" dirty="0"/>
          </a:p>
        </p:txBody>
      </p:sp>
      <p:sp>
        <p:nvSpPr>
          <p:cNvPr id="16" name="Shape 13"/>
          <p:cNvSpPr/>
          <p:nvPr/>
        </p:nvSpPr>
        <p:spPr>
          <a:xfrm>
            <a:off x="658368" y="4279392"/>
            <a:ext cx="10874959" cy="640080"/>
          </a:xfrm>
          <a:prstGeom prst="rect">
            <a:avLst/>
          </a:prstGeom>
          <a:solidFill>
            <a:srgbClr val="1D3A57"/>
          </a:solidFill>
          <a:ln w="12700">
            <a:solidFill>
              <a:srgbClr val="1D3A57"/>
            </a:solidFill>
            <a:prstDash val="solid"/>
          </a:ln>
        </p:spPr>
      </p:sp>
      <p:sp>
        <p:nvSpPr>
          <p:cNvPr id="17" name="Shape 14"/>
          <p:cNvSpPr/>
          <p:nvPr/>
        </p:nvSpPr>
        <p:spPr>
          <a:xfrm>
            <a:off x="658368" y="4279392"/>
            <a:ext cx="54864" cy="640080"/>
          </a:xfrm>
          <a:prstGeom prst="rect">
            <a:avLst/>
          </a:prstGeom>
          <a:solidFill>
            <a:srgbClr val="E0BC5A"/>
          </a:solidFill>
          <a:ln w="12700">
            <a:solidFill>
              <a:srgbClr val="E0BC5A"/>
            </a:solidFill>
            <a:prstDash val="solid"/>
          </a:ln>
        </p:spPr>
      </p:sp>
      <p:sp>
        <p:nvSpPr>
          <p:cNvPr id="18" name="Text 15"/>
          <p:cNvSpPr txBox="1"/>
          <p:nvPr/>
        </p:nvSpPr>
        <p:spPr>
          <a:xfrm>
            <a:off x="932688" y="4462272"/>
            <a:ext cx="4206240" cy="292608"/>
          </a:xfrm>
          <a:prstGeom prst="rect">
            <a:avLst/>
          </a:prstGeom>
          <a:noFill/>
          <a:ln/>
        </p:spPr>
        <p:txBody>
          <a:bodyPr wrap="square" lIns="0" tIns="0" rIns="0" bIns="0" rtlCol="0" anchor="ctr"/>
          <a:lstStyle/>
          <a:p>
            <a:pPr algn="l" indent="0" marL="0">
              <a:buNone/>
            </a:pPr>
            <a:r>
              <a:rPr lang="en-US" sz="1340" b="1" dirty="0">
                <a:solidFill>
                  <a:srgbClr val="FFFFFF"/>
                </a:solidFill>
                <a:latin typeface="Aptos" pitchFamily="34" charset="0"/>
                <a:ea typeface="Aptos" pitchFamily="34" charset="-122"/>
                <a:cs typeface="Aptos" pitchFamily="34" charset="-120"/>
              </a:rPr>
              <a:t>Si es «cualquier cosa, falla ante cambios irrelevantes»</a:t>
            </a:r>
            <a:endParaRPr lang="en-US" sz="1340" dirty="0"/>
          </a:p>
        </p:txBody>
      </p:sp>
      <p:sp>
        <p:nvSpPr>
          <p:cNvPr id="19" name="Text 16"/>
          <p:cNvSpPr txBox="1"/>
          <p:nvPr/>
        </p:nvSpPr>
        <p:spPr>
          <a:xfrm>
            <a:off x="5413248" y="4462272"/>
            <a:ext cx="5845759" cy="292608"/>
          </a:xfrm>
          <a:prstGeom prst="rect">
            <a:avLst/>
          </a:prstGeom>
          <a:noFill/>
          <a:ln/>
        </p:spPr>
        <p:txBody>
          <a:bodyPr wrap="square" lIns="0" tIns="0" rIns="0" bIns="0" rtlCol="0" anchor="ctr"/>
          <a:lstStyle/>
          <a:p>
            <a:pPr algn="l" indent="0" marL="0">
              <a:buNone/>
            </a:pPr>
            <a:r>
              <a:rPr lang="en-US" sz="1300" dirty="0">
                <a:solidFill>
                  <a:srgbClr val="E0BC5A"/>
                </a:solidFill>
                <a:latin typeface="Aptos" pitchFamily="34" charset="0"/>
                <a:ea typeface="Aptos" pitchFamily="34" charset="-122"/>
                <a:cs typeface="Aptos" pitchFamily="34" charset="-120"/>
              </a:rPr>
              <a:t>Tampoco sirve: es demasiado frágil.</a:t>
            </a:r>
            <a:endParaRPr lang="en-US" sz="1300" dirty="0"/>
          </a:p>
        </p:txBody>
      </p:sp>
      <p:sp>
        <p:nvSpPr>
          <p:cNvPr id="20" name="Shape 17"/>
          <p:cNvSpPr/>
          <p:nvPr/>
        </p:nvSpPr>
        <p:spPr>
          <a:xfrm>
            <a:off x="658368" y="5029200"/>
            <a:ext cx="10874959" cy="640080"/>
          </a:xfrm>
          <a:prstGeom prst="rect">
            <a:avLst/>
          </a:prstGeom>
          <a:solidFill>
            <a:srgbClr val="1D3A57"/>
          </a:solidFill>
          <a:ln w="12700">
            <a:solidFill>
              <a:srgbClr val="1D3A57"/>
            </a:solidFill>
            <a:prstDash val="solid"/>
          </a:ln>
        </p:spPr>
      </p:sp>
      <p:sp>
        <p:nvSpPr>
          <p:cNvPr id="21" name="Shape 18"/>
          <p:cNvSpPr/>
          <p:nvPr/>
        </p:nvSpPr>
        <p:spPr>
          <a:xfrm>
            <a:off x="658368" y="5029200"/>
            <a:ext cx="54864" cy="640080"/>
          </a:xfrm>
          <a:prstGeom prst="rect">
            <a:avLst/>
          </a:prstGeom>
          <a:solidFill>
            <a:srgbClr val="3FAE6A"/>
          </a:solidFill>
          <a:ln w="12700">
            <a:solidFill>
              <a:srgbClr val="3FAE6A"/>
            </a:solidFill>
            <a:prstDash val="solid"/>
          </a:ln>
        </p:spPr>
      </p:sp>
      <p:sp>
        <p:nvSpPr>
          <p:cNvPr id="22" name="Text 19"/>
          <p:cNvSpPr txBox="1"/>
          <p:nvPr/>
        </p:nvSpPr>
        <p:spPr>
          <a:xfrm>
            <a:off x="932688" y="5212080"/>
            <a:ext cx="4206240" cy="292608"/>
          </a:xfrm>
          <a:prstGeom prst="rect">
            <a:avLst/>
          </a:prstGeom>
          <a:noFill/>
          <a:ln/>
        </p:spPr>
        <p:txBody>
          <a:bodyPr wrap="square" lIns="0" tIns="0" rIns="0" bIns="0" rtlCol="0" anchor="ctr"/>
          <a:lstStyle/>
          <a:p>
            <a:pPr algn="l" indent="0" marL="0">
              <a:buNone/>
            </a:pPr>
            <a:r>
              <a:rPr lang="en-US" sz="1340" b="1" dirty="0">
                <a:solidFill>
                  <a:srgbClr val="FFFFFF"/>
                </a:solidFill>
                <a:latin typeface="Aptos" pitchFamily="34" charset="0"/>
                <a:ea typeface="Aptos" pitchFamily="34" charset="-122"/>
                <a:cs typeface="Aptos" pitchFamily="34" charset="-120"/>
              </a:rPr>
              <a:t>Si se puede nombrar con precisión</a:t>
            </a:r>
            <a:endParaRPr lang="en-US" sz="1340" dirty="0"/>
          </a:p>
        </p:txBody>
      </p:sp>
      <p:sp>
        <p:nvSpPr>
          <p:cNvPr id="23" name="Text 20"/>
          <p:cNvSpPr txBox="1"/>
          <p:nvPr/>
        </p:nvSpPr>
        <p:spPr>
          <a:xfrm>
            <a:off x="5413248" y="5212080"/>
            <a:ext cx="5845759" cy="292608"/>
          </a:xfrm>
          <a:prstGeom prst="rect">
            <a:avLst/>
          </a:prstGeom>
          <a:noFill/>
          <a:ln/>
        </p:spPr>
        <p:txBody>
          <a:bodyPr wrap="square" lIns="0" tIns="0" rIns="0" bIns="0" rtlCol="0" anchor="ctr"/>
          <a:lstStyle/>
          <a:p>
            <a:pPr algn="l" indent="0" marL="0">
              <a:buNone/>
            </a:pPr>
            <a:r>
              <a:rPr lang="en-US" sz="1300" dirty="0">
                <a:solidFill>
                  <a:srgbClr val="E6EEF7"/>
                </a:solidFill>
                <a:latin typeface="Aptos" pitchFamily="34" charset="0"/>
                <a:ea typeface="Aptos" pitchFamily="34" charset="-122"/>
                <a:cs typeface="Aptos" pitchFamily="34" charset="-120"/>
              </a:rPr>
              <a:t>La prueba tiene un defecto asociado, y se sabe cuál.</a:t>
            </a:r>
            <a:endParaRPr lang="en-US" sz="1300" dirty="0"/>
          </a:p>
        </p:txBody>
      </p:sp>
      <p:sp>
        <p:nvSpPr>
          <p:cNvPr id="24" name="Text 21"/>
          <p:cNvSpPr txBox="1"/>
          <p:nvPr/>
        </p:nvSpPr>
        <p:spPr>
          <a:xfrm>
            <a:off x="658368" y="5852160"/>
            <a:ext cx="10424160" cy="274320"/>
          </a:xfrm>
          <a:prstGeom prst="rect">
            <a:avLst/>
          </a:prstGeom>
          <a:noFill/>
          <a:ln/>
        </p:spPr>
        <p:txBody>
          <a:bodyPr wrap="square" lIns="0" tIns="0" rIns="0" bIns="0" rtlCol="0" anchor="t"/>
          <a:lstStyle/>
          <a:p>
            <a:pPr algn="l" indent="0" marL="0">
              <a:buNone/>
            </a:pPr>
            <a:r>
              <a:rPr lang="en-US" sz="1280" i="1" dirty="0">
                <a:solidFill>
                  <a:srgbClr val="EADFD0"/>
                </a:solidFill>
                <a:latin typeface="Aptos" pitchFamily="34" charset="0"/>
                <a:ea typeface="Aptos" pitchFamily="34" charset="-122"/>
                <a:cs typeface="Aptos" pitchFamily="34" charset="-120"/>
              </a:rPr>
              <a:t>Se le puede hacer a cualquier prueba en diez segundos, y la respuesta se verifica en el acto: se aplica el cambio y se corre la suite.</a:t>
            </a:r>
            <a:endParaRPr lang="en-US" sz="12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QUÉ DICE LA INVESTIGACIÓN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estudio que midió esto en serio</a:t>
            </a:r>
            <a:endParaRPr lang="en-US" sz="30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Laura Inozemtseva y Reid Holmes presentaron el estudio en ICSE 2014, una conferencia internacional de ingeniería de software. Midieron la eficacia con el cambio deliberado explicado en la lámina 40, pero automatizado.</a:t>
            </a:r>
            <a:endParaRPr lang="en-US" sz="1450" dirty="0"/>
          </a:p>
        </p:txBody>
      </p:sp>
      <p:sp>
        <p:nvSpPr>
          <p:cNvPr id="11" name="Shape 8"/>
          <p:cNvSpPr/>
          <p:nvPr/>
        </p:nvSpPr>
        <p:spPr>
          <a:xfrm>
            <a:off x="658368" y="2633472"/>
            <a:ext cx="2615184" cy="914400"/>
          </a:xfrm>
          <a:prstGeom prst="rect">
            <a:avLst/>
          </a:prstGeom>
          <a:solidFill>
            <a:srgbClr val="FFFFFF"/>
          </a:solidFill>
          <a:ln w="12700">
            <a:solidFill>
              <a:srgbClr val="FFFFFF"/>
            </a:solidFill>
            <a:prstDash val="solid"/>
          </a:ln>
        </p:spPr>
      </p:sp>
      <p:sp>
        <p:nvSpPr>
          <p:cNvPr id="12" name="Shape 9"/>
          <p:cNvSpPr/>
          <p:nvPr/>
        </p:nvSpPr>
        <p:spPr>
          <a:xfrm>
            <a:off x="658368" y="2633472"/>
            <a:ext cx="45720" cy="914400"/>
          </a:xfrm>
          <a:prstGeom prst="rect">
            <a:avLst/>
          </a:prstGeom>
          <a:solidFill>
            <a:srgbClr val="102A43"/>
          </a:solidFill>
          <a:ln w="12700">
            <a:solidFill>
              <a:srgbClr val="102A43"/>
            </a:solidFill>
            <a:prstDash val="solid"/>
          </a:ln>
        </p:spPr>
      </p:sp>
      <p:sp>
        <p:nvSpPr>
          <p:cNvPr id="13" name="Text 10"/>
          <p:cNvSpPr txBox="1"/>
          <p:nvPr/>
        </p:nvSpPr>
        <p:spPr>
          <a:xfrm>
            <a:off x="859536" y="2743200"/>
            <a:ext cx="2286000" cy="420624"/>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31 000</a:t>
            </a:r>
            <a:endParaRPr lang="en-US" sz="2600" dirty="0"/>
          </a:p>
        </p:txBody>
      </p:sp>
      <p:sp>
        <p:nvSpPr>
          <p:cNvPr id="14" name="Text 11"/>
          <p:cNvSpPr txBox="1"/>
          <p:nvPr/>
        </p:nvSpPr>
        <p:spPr>
          <a:xfrm>
            <a:off x="859536" y="3182112"/>
            <a:ext cx="2286000" cy="292608"/>
          </a:xfrm>
          <a:prstGeom prst="rect">
            <a:avLst/>
          </a:prstGeom>
          <a:noFill/>
          <a:ln/>
        </p:spPr>
        <p:txBody>
          <a:bodyPr wrap="square" lIns="0" tIns="0" rIns="0" bIns="0" rtlCol="0" anchor="t"/>
          <a:lstStyle/>
          <a:p>
            <a:pPr algn="l" indent="0" marL="0">
              <a:lnSpc>
                <a:spcPct val="110000"/>
              </a:lnSpc>
              <a:buNone/>
            </a:pPr>
            <a:r>
              <a:rPr lang="en-US" sz="1100" dirty="0">
                <a:solidFill>
                  <a:srgbClr val="52606D"/>
                </a:solidFill>
                <a:latin typeface="Aptos" pitchFamily="34" charset="0"/>
                <a:ea typeface="Aptos" pitchFamily="34" charset="-122"/>
                <a:cs typeface="Aptos" pitchFamily="34" charset="-120"/>
              </a:rPr>
              <a:t>suites de prueba generadas</a:t>
            </a:r>
            <a:endParaRPr lang="en-US" sz="1100" dirty="0"/>
          </a:p>
        </p:txBody>
      </p:sp>
      <p:sp>
        <p:nvSpPr>
          <p:cNvPr id="15" name="Shape 12"/>
          <p:cNvSpPr/>
          <p:nvPr/>
        </p:nvSpPr>
        <p:spPr>
          <a:xfrm>
            <a:off x="3419856" y="2633472"/>
            <a:ext cx="2615184" cy="914400"/>
          </a:xfrm>
          <a:prstGeom prst="rect">
            <a:avLst/>
          </a:prstGeom>
          <a:solidFill>
            <a:srgbClr val="FFFFFF"/>
          </a:solidFill>
          <a:ln w="12700">
            <a:solidFill>
              <a:srgbClr val="FFFFFF"/>
            </a:solidFill>
            <a:prstDash val="solid"/>
          </a:ln>
        </p:spPr>
      </p:sp>
      <p:sp>
        <p:nvSpPr>
          <p:cNvPr id="16" name="Shape 13"/>
          <p:cNvSpPr/>
          <p:nvPr/>
        </p:nvSpPr>
        <p:spPr>
          <a:xfrm>
            <a:off x="3419856" y="2633472"/>
            <a:ext cx="45720" cy="914400"/>
          </a:xfrm>
          <a:prstGeom prst="rect">
            <a:avLst/>
          </a:prstGeom>
          <a:solidFill>
            <a:srgbClr val="102A43"/>
          </a:solidFill>
          <a:ln w="12700">
            <a:solidFill>
              <a:srgbClr val="102A43"/>
            </a:solidFill>
            <a:prstDash val="solid"/>
          </a:ln>
        </p:spPr>
      </p:sp>
      <p:sp>
        <p:nvSpPr>
          <p:cNvPr id="17" name="Text 14"/>
          <p:cNvSpPr txBox="1"/>
          <p:nvPr/>
        </p:nvSpPr>
        <p:spPr>
          <a:xfrm>
            <a:off x="3621024" y="2743200"/>
            <a:ext cx="2286000" cy="420624"/>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5</a:t>
            </a:r>
            <a:endParaRPr lang="en-US" sz="2600" dirty="0"/>
          </a:p>
        </p:txBody>
      </p:sp>
      <p:sp>
        <p:nvSpPr>
          <p:cNvPr id="18" name="Text 15"/>
          <p:cNvSpPr txBox="1"/>
          <p:nvPr/>
        </p:nvSpPr>
        <p:spPr>
          <a:xfrm>
            <a:off x="3621024" y="3182112"/>
            <a:ext cx="2286000" cy="292608"/>
          </a:xfrm>
          <a:prstGeom prst="rect">
            <a:avLst/>
          </a:prstGeom>
          <a:noFill/>
          <a:ln/>
        </p:spPr>
        <p:txBody>
          <a:bodyPr wrap="square" lIns="0" tIns="0" rIns="0" bIns="0" rtlCol="0" anchor="t"/>
          <a:lstStyle/>
          <a:p>
            <a:pPr algn="l" indent="0" marL="0">
              <a:lnSpc>
                <a:spcPct val="110000"/>
              </a:lnSpc>
              <a:buNone/>
            </a:pPr>
            <a:r>
              <a:rPr lang="en-US" sz="1100" dirty="0">
                <a:solidFill>
                  <a:srgbClr val="52606D"/>
                </a:solidFill>
                <a:latin typeface="Aptos" pitchFamily="34" charset="0"/>
                <a:ea typeface="Aptos" pitchFamily="34" charset="-122"/>
                <a:cs typeface="Aptos" pitchFamily="34" charset="-120"/>
              </a:rPr>
              <a:t>sistemas Java reales</a:t>
            </a:r>
            <a:endParaRPr lang="en-US" sz="1100" dirty="0"/>
          </a:p>
        </p:txBody>
      </p:sp>
      <p:sp>
        <p:nvSpPr>
          <p:cNvPr id="19" name="Shape 16"/>
          <p:cNvSpPr/>
          <p:nvPr/>
        </p:nvSpPr>
        <p:spPr>
          <a:xfrm>
            <a:off x="6181344" y="2633472"/>
            <a:ext cx="2615184" cy="914400"/>
          </a:xfrm>
          <a:prstGeom prst="rect">
            <a:avLst/>
          </a:prstGeom>
          <a:solidFill>
            <a:srgbClr val="FFFFFF"/>
          </a:solidFill>
          <a:ln w="12700">
            <a:solidFill>
              <a:srgbClr val="FFFFFF"/>
            </a:solidFill>
            <a:prstDash val="solid"/>
          </a:ln>
        </p:spPr>
      </p:sp>
      <p:sp>
        <p:nvSpPr>
          <p:cNvPr id="20" name="Shape 17"/>
          <p:cNvSpPr/>
          <p:nvPr/>
        </p:nvSpPr>
        <p:spPr>
          <a:xfrm>
            <a:off x="6181344" y="2633472"/>
            <a:ext cx="45720" cy="914400"/>
          </a:xfrm>
          <a:prstGeom prst="rect">
            <a:avLst/>
          </a:prstGeom>
          <a:solidFill>
            <a:srgbClr val="102A43"/>
          </a:solidFill>
          <a:ln w="12700">
            <a:solidFill>
              <a:srgbClr val="102A43"/>
            </a:solidFill>
            <a:prstDash val="solid"/>
          </a:ln>
        </p:spPr>
      </p:sp>
      <p:sp>
        <p:nvSpPr>
          <p:cNvPr id="21" name="Text 18"/>
          <p:cNvSpPr txBox="1"/>
          <p:nvPr/>
        </p:nvSpPr>
        <p:spPr>
          <a:xfrm>
            <a:off x="6382512" y="2743200"/>
            <a:ext cx="2286000" cy="420624"/>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724 000</a:t>
            </a:r>
            <a:endParaRPr lang="en-US" sz="2600" dirty="0"/>
          </a:p>
        </p:txBody>
      </p:sp>
      <p:sp>
        <p:nvSpPr>
          <p:cNvPr id="22" name="Text 19"/>
          <p:cNvSpPr txBox="1"/>
          <p:nvPr/>
        </p:nvSpPr>
        <p:spPr>
          <a:xfrm>
            <a:off x="6382512" y="3182112"/>
            <a:ext cx="2286000" cy="292608"/>
          </a:xfrm>
          <a:prstGeom prst="rect">
            <a:avLst/>
          </a:prstGeom>
          <a:noFill/>
          <a:ln/>
        </p:spPr>
        <p:txBody>
          <a:bodyPr wrap="square" lIns="0" tIns="0" rIns="0" bIns="0" rtlCol="0" anchor="t"/>
          <a:lstStyle/>
          <a:p>
            <a:pPr algn="l" indent="0" marL="0">
              <a:lnSpc>
                <a:spcPct val="110000"/>
              </a:lnSpc>
              <a:buNone/>
            </a:pPr>
            <a:r>
              <a:rPr lang="en-US" sz="1100" dirty="0">
                <a:solidFill>
                  <a:srgbClr val="52606D"/>
                </a:solidFill>
                <a:latin typeface="Aptos" pitchFamily="34" charset="0"/>
                <a:ea typeface="Aptos" pitchFamily="34" charset="-122"/>
                <a:cs typeface="Aptos" pitchFamily="34" charset="-120"/>
              </a:rPr>
              <a:t>líneas de código, el mayor</a:t>
            </a:r>
            <a:endParaRPr lang="en-US" sz="1100" dirty="0"/>
          </a:p>
        </p:txBody>
      </p:sp>
      <p:sp>
        <p:nvSpPr>
          <p:cNvPr id="23" name="Shape 20"/>
          <p:cNvSpPr/>
          <p:nvPr/>
        </p:nvSpPr>
        <p:spPr>
          <a:xfrm>
            <a:off x="8942832" y="2633472"/>
            <a:ext cx="2615184" cy="914400"/>
          </a:xfrm>
          <a:prstGeom prst="rect">
            <a:avLst/>
          </a:prstGeom>
          <a:solidFill>
            <a:srgbClr val="FFFFFF"/>
          </a:solidFill>
          <a:ln w="12700">
            <a:solidFill>
              <a:srgbClr val="FFFFFF"/>
            </a:solidFill>
            <a:prstDash val="solid"/>
          </a:ln>
        </p:spPr>
      </p:sp>
      <p:sp>
        <p:nvSpPr>
          <p:cNvPr id="24" name="Shape 21"/>
          <p:cNvSpPr/>
          <p:nvPr/>
        </p:nvSpPr>
        <p:spPr>
          <a:xfrm>
            <a:off x="8942832" y="2633472"/>
            <a:ext cx="45720" cy="914400"/>
          </a:xfrm>
          <a:prstGeom prst="rect">
            <a:avLst/>
          </a:prstGeom>
          <a:solidFill>
            <a:srgbClr val="102A43"/>
          </a:solidFill>
          <a:ln w="12700">
            <a:solidFill>
              <a:srgbClr val="102A43"/>
            </a:solidFill>
            <a:prstDash val="solid"/>
          </a:ln>
        </p:spPr>
      </p:sp>
      <p:sp>
        <p:nvSpPr>
          <p:cNvPr id="25" name="Text 22"/>
          <p:cNvSpPr txBox="1"/>
          <p:nvPr/>
        </p:nvSpPr>
        <p:spPr>
          <a:xfrm>
            <a:off x="9144000" y="2743200"/>
            <a:ext cx="2286000" cy="420624"/>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3</a:t>
            </a:r>
            <a:endParaRPr lang="en-US" sz="2600" dirty="0"/>
          </a:p>
        </p:txBody>
      </p:sp>
      <p:sp>
        <p:nvSpPr>
          <p:cNvPr id="26" name="Text 23"/>
          <p:cNvSpPr txBox="1"/>
          <p:nvPr/>
        </p:nvSpPr>
        <p:spPr>
          <a:xfrm>
            <a:off x="9144000" y="3182112"/>
            <a:ext cx="2286000" cy="292608"/>
          </a:xfrm>
          <a:prstGeom prst="rect">
            <a:avLst/>
          </a:prstGeom>
          <a:noFill/>
          <a:ln/>
        </p:spPr>
        <p:txBody>
          <a:bodyPr wrap="square" lIns="0" tIns="0" rIns="0" bIns="0" rtlCol="0" anchor="t"/>
          <a:lstStyle/>
          <a:p>
            <a:pPr algn="l" indent="0" marL="0">
              <a:lnSpc>
                <a:spcPct val="110000"/>
              </a:lnSpc>
              <a:buNone/>
            </a:pPr>
            <a:r>
              <a:rPr lang="en-US" sz="1100" dirty="0">
                <a:solidFill>
                  <a:srgbClr val="52606D"/>
                </a:solidFill>
                <a:latin typeface="Aptos" pitchFamily="34" charset="0"/>
                <a:ea typeface="Aptos" pitchFamily="34" charset="-122"/>
                <a:cs typeface="Aptos" pitchFamily="34" charset="-120"/>
              </a:rPr>
              <a:t>tipos de cobertura medidos</a:t>
            </a:r>
            <a:endParaRPr lang="en-US" sz="1100" dirty="0"/>
          </a:p>
        </p:txBody>
      </p:sp>
      <p:sp>
        <p:nvSpPr>
          <p:cNvPr id="27" name="Shape 24"/>
          <p:cNvSpPr/>
          <p:nvPr/>
        </p:nvSpPr>
        <p:spPr>
          <a:xfrm>
            <a:off x="658368" y="3712464"/>
            <a:ext cx="10874959" cy="548640"/>
          </a:xfrm>
          <a:prstGeom prst="rect">
            <a:avLst/>
          </a:prstGeom>
          <a:solidFill>
            <a:srgbClr val="F2E7D9"/>
          </a:solidFill>
          <a:ln w="12700">
            <a:solidFill>
              <a:srgbClr val="F2E7D9"/>
            </a:solidFill>
            <a:prstDash val="solid"/>
          </a:ln>
        </p:spPr>
      </p:sp>
      <p:sp>
        <p:nvSpPr>
          <p:cNvPr id="28" name="Shape 25"/>
          <p:cNvSpPr/>
          <p:nvPr/>
        </p:nvSpPr>
        <p:spPr>
          <a:xfrm>
            <a:off x="658368" y="3712464"/>
            <a:ext cx="64008" cy="548640"/>
          </a:xfrm>
          <a:prstGeom prst="rect">
            <a:avLst/>
          </a:prstGeom>
          <a:solidFill>
            <a:srgbClr val="102A43"/>
          </a:solidFill>
          <a:ln w="12700">
            <a:solidFill>
              <a:srgbClr val="102A43"/>
            </a:solidFill>
            <a:prstDash val="solid"/>
          </a:ln>
        </p:spPr>
      </p:sp>
      <p:sp>
        <p:nvSpPr>
          <p:cNvPr id="29" name="Text 26"/>
          <p:cNvSpPr txBox="1"/>
          <p:nvPr/>
        </p:nvSpPr>
        <p:spPr>
          <a:xfrm>
            <a:off x="969264" y="3822192"/>
            <a:ext cx="10308031" cy="329184"/>
          </a:xfrm>
          <a:prstGeom prst="rect">
            <a:avLst/>
          </a:prstGeom>
          <a:noFill/>
          <a:ln/>
        </p:spPr>
        <p:txBody>
          <a:bodyPr wrap="square" lIns="0" tIns="0" rIns="0" bIns="0" rtlCol="0" anchor="ctr"/>
          <a:lstStyle/>
          <a:p>
            <a:pPr algn="l" indent="0" marL="0">
              <a:lnSpc>
                <a:spcPct val="118000"/>
              </a:lnSpc>
              <a:buNone/>
            </a:pPr>
            <a:r>
              <a:rPr lang="en-US" sz="1160" i="1" dirty="0">
                <a:solidFill>
                  <a:srgbClr val="243B53"/>
                </a:solidFill>
                <a:latin typeface="Aptos" pitchFamily="34" charset="0"/>
                <a:ea typeface="Aptos" pitchFamily="34" charset="-122"/>
                <a:cs typeface="Aptos" pitchFamily="34" charset="-120"/>
              </a:rPr>
              <a:t>“Our results suggest that coverage, while useful for identifying under-tested parts of a program, should not be used as a quality target because it is not a good indicator of test suite effectiveness.”</a:t>
            </a:r>
            <a:endParaRPr lang="en-US" sz="1160" dirty="0"/>
          </a:p>
        </p:txBody>
      </p:sp>
      <p:sp>
        <p:nvSpPr>
          <p:cNvPr id="30" name="Shape 27"/>
          <p:cNvSpPr/>
          <p:nvPr/>
        </p:nvSpPr>
        <p:spPr>
          <a:xfrm>
            <a:off x="658368" y="4315968"/>
            <a:ext cx="10874959" cy="603504"/>
          </a:xfrm>
          <a:prstGeom prst="rect">
            <a:avLst/>
          </a:prstGeom>
          <a:solidFill>
            <a:srgbClr val="EDE6DA"/>
          </a:solidFill>
          <a:ln w="12700">
            <a:solidFill>
              <a:srgbClr val="EDE6DA"/>
            </a:solidFill>
            <a:prstDash val="solid"/>
          </a:ln>
        </p:spPr>
      </p:sp>
      <p:sp>
        <p:nvSpPr>
          <p:cNvPr id="31" name="Shape 28"/>
          <p:cNvSpPr/>
          <p:nvPr/>
        </p:nvSpPr>
        <p:spPr>
          <a:xfrm>
            <a:off x="658368" y="4315968"/>
            <a:ext cx="64008" cy="603504"/>
          </a:xfrm>
          <a:prstGeom prst="rect">
            <a:avLst/>
          </a:prstGeom>
          <a:solidFill>
            <a:srgbClr val="52606D"/>
          </a:solidFill>
          <a:ln w="12700">
            <a:solidFill>
              <a:srgbClr val="52606D"/>
            </a:solidFill>
            <a:prstDash val="solid"/>
          </a:ln>
        </p:spPr>
      </p:sp>
      <p:sp>
        <p:nvSpPr>
          <p:cNvPr id="32" name="Text 29"/>
          <p:cNvSpPr txBox="1"/>
          <p:nvPr/>
        </p:nvSpPr>
        <p:spPr>
          <a:xfrm>
            <a:off x="969264" y="4425696"/>
            <a:ext cx="10308031" cy="384048"/>
          </a:xfrm>
          <a:prstGeom prst="rect">
            <a:avLst/>
          </a:prstGeom>
          <a:noFill/>
          <a:ln/>
        </p:spPr>
        <p:txBody>
          <a:bodyPr wrap="square" lIns="0" tIns="0" rIns="0" bIns="0" rtlCol="0" anchor="ctr"/>
          <a:lstStyle/>
          <a:p>
            <a:pPr algn="l" indent="0" marL="0">
              <a:lnSpc>
                <a:spcPct val="118000"/>
              </a:lnSpc>
              <a:buNone/>
            </a:pPr>
            <a:r>
              <a:rPr lang="en-US" sz="1160" i="1" dirty="0">
                <a:solidFill>
                  <a:srgbClr val="243B53"/>
                </a:solidFill>
                <a:latin typeface="Aptos" pitchFamily="34" charset="0"/>
                <a:ea typeface="Aptos" pitchFamily="34" charset="-122"/>
                <a:cs typeface="Aptos" pitchFamily="34" charset="-120"/>
              </a:rPr>
              <a:t>“Nuestros resultados sugieren que la cobertura, si bien es útil para identificar las partes de un programa que están poco probadas, no debería usarse como meta de calidad, porque no es un buen indicador de la eficacia de una suite de pruebas.”</a:t>
            </a:r>
            <a:endParaRPr lang="en-US" sz="1160" dirty="0"/>
          </a:p>
        </p:txBody>
      </p:sp>
      <p:sp>
        <p:nvSpPr>
          <p:cNvPr id="33" name="Shape 30"/>
          <p:cNvSpPr/>
          <p:nvPr/>
        </p:nvSpPr>
        <p:spPr>
          <a:xfrm>
            <a:off x="658368" y="5047488"/>
            <a:ext cx="10874959" cy="530352"/>
          </a:xfrm>
          <a:prstGeom prst="rect">
            <a:avLst/>
          </a:prstGeom>
          <a:solidFill>
            <a:srgbClr val="102A43"/>
          </a:solidFill>
          <a:ln w="12700">
            <a:solidFill>
              <a:srgbClr val="102A43"/>
            </a:solidFill>
            <a:prstDash val="solid"/>
          </a:ln>
        </p:spPr>
      </p:sp>
      <p:sp>
        <p:nvSpPr>
          <p:cNvPr id="34" name="Text 31"/>
          <p:cNvSpPr txBox="1"/>
          <p:nvPr/>
        </p:nvSpPr>
        <p:spPr>
          <a:xfrm>
            <a:off x="969264" y="5084064"/>
            <a:ext cx="10253167" cy="457200"/>
          </a:xfrm>
          <a:prstGeom prst="rect">
            <a:avLst/>
          </a:prstGeom>
          <a:noFill/>
          <a:ln/>
        </p:spPr>
        <p:txBody>
          <a:bodyPr wrap="square" lIns="0" tIns="0" rIns="0" bIns="0" rtlCol="0" anchor="ctr"/>
          <a:lstStyle/>
          <a:p>
            <a:pPr algn="ctr" indent="0" marL="0">
              <a:lnSpc>
                <a:spcPct val="110000"/>
              </a:lnSpc>
              <a:buNone/>
            </a:pPr>
            <a:r>
              <a:rPr lang="en-US" sz="1340" b="1" dirty="0">
                <a:solidFill>
                  <a:srgbClr val="FFFFFF"/>
                </a:solidFill>
                <a:latin typeface="Aptos" pitchFamily="34" charset="0"/>
                <a:ea typeface="Aptos" pitchFamily="34" charset="-122"/>
                <a:cs typeface="Aptos" pitchFamily="34" charset="-120"/>
              </a:rPr>
              <a:t>El tipo de cobertura casi no cambió la relación con la eficacia. En Apache POI: sentencias 0,75; decisiones 0,76; condición modificada 0,77.</a:t>
            </a:r>
            <a:endParaRPr lang="en-US" sz="1340" dirty="0"/>
          </a:p>
        </p:txBody>
      </p:sp>
      <p:sp>
        <p:nvSpPr>
          <p:cNvPr id="35" name="Shape 32"/>
          <p:cNvSpPr/>
          <p:nvPr/>
        </p:nvSpPr>
        <p:spPr>
          <a:xfrm>
            <a:off x="658368" y="5797296"/>
            <a:ext cx="45720" cy="182880"/>
          </a:xfrm>
          <a:prstGeom prst="rect">
            <a:avLst/>
          </a:prstGeom>
          <a:solidFill>
            <a:srgbClr val="8A6A12"/>
          </a:solidFill>
          <a:ln w="12700">
            <a:solidFill>
              <a:srgbClr val="8A6A12"/>
            </a:solidFill>
            <a:prstDash val="solid"/>
          </a:ln>
        </p:spPr>
      </p:sp>
      <p:sp>
        <p:nvSpPr>
          <p:cNvPr id="36" name="Text 33"/>
          <p:cNvSpPr txBox="1"/>
          <p:nvPr/>
        </p:nvSpPr>
        <p:spPr>
          <a:xfrm>
            <a:off x="804672" y="5788152"/>
            <a:ext cx="96012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Inozemtseva y Holmes · Coverage Is Not Strongly Correlated with Test Suite Effectiveness · ICSE 2014</a:t>
            </a:r>
            <a:endParaRPr lang="en-US" sz="92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CASO QUE VALE POR SÍ SOLO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500" b="1" dirty="0">
                <a:solidFill>
                  <a:srgbClr val="243B53"/>
                </a:solidFill>
                <a:latin typeface="Aptos Display" pitchFamily="34" charset="0"/>
                <a:ea typeface="Aptos Display" pitchFamily="34" charset="-122"/>
                <a:cs typeface="Aptos Display" pitchFamily="34" charset="-120"/>
              </a:rPr>
              <a:t>Un sistema donde más cobertura significó menos defectos detectados</a:t>
            </a:r>
            <a:endParaRPr lang="en-US" sz="25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En HSQLDB —uno de los cinco sistemas Java estudiados— ocurrió el caso extremo. Una CORRELACIÓN mide si dos cantidades suben y bajan juntas, en una escala de −1 a 1.</a:t>
            </a:r>
            <a:endParaRPr lang="en-US" sz="1450" dirty="0"/>
          </a:p>
        </p:txBody>
      </p:sp>
      <p:sp>
        <p:nvSpPr>
          <p:cNvPr id="11" name="Shape 8"/>
          <p:cNvSpPr/>
          <p:nvPr/>
        </p:nvSpPr>
        <p:spPr>
          <a:xfrm>
            <a:off x="658368" y="2651760"/>
            <a:ext cx="3493008" cy="603504"/>
          </a:xfrm>
          <a:prstGeom prst="rect">
            <a:avLst/>
          </a:prstGeom>
          <a:solidFill>
            <a:srgbClr val="FFFFFF"/>
          </a:solidFill>
          <a:ln w="12700">
            <a:solidFill>
              <a:srgbClr val="FFFFFF"/>
            </a:solidFill>
            <a:prstDash val="solid"/>
          </a:ln>
        </p:spPr>
      </p:sp>
      <p:sp>
        <p:nvSpPr>
          <p:cNvPr id="12" name="Shape 9"/>
          <p:cNvSpPr/>
          <p:nvPr/>
        </p:nvSpPr>
        <p:spPr>
          <a:xfrm>
            <a:off x="658368" y="2651760"/>
            <a:ext cx="45720" cy="603504"/>
          </a:xfrm>
          <a:prstGeom prst="rect">
            <a:avLst/>
          </a:prstGeom>
          <a:solidFill>
            <a:srgbClr val="2E7D4F"/>
          </a:solidFill>
          <a:ln w="12700">
            <a:solidFill>
              <a:srgbClr val="2E7D4F"/>
            </a:solidFill>
            <a:prstDash val="solid"/>
          </a:ln>
        </p:spPr>
      </p:sp>
      <p:sp>
        <p:nvSpPr>
          <p:cNvPr id="13" name="Text 10"/>
          <p:cNvSpPr txBox="1"/>
          <p:nvPr/>
        </p:nvSpPr>
        <p:spPr>
          <a:xfrm>
            <a:off x="877824" y="2724912"/>
            <a:ext cx="3054096" cy="219456"/>
          </a:xfrm>
          <a:prstGeom prst="rect">
            <a:avLst/>
          </a:prstGeom>
          <a:noFill/>
          <a:ln/>
        </p:spPr>
        <p:txBody>
          <a:bodyPr wrap="square" lIns="0" tIns="0" rIns="0" bIns="0" rtlCol="0" anchor="t"/>
          <a:lstStyle/>
          <a:p>
            <a:pPr algn="l" indent="0" marL="0">
              <a:buNone/>
            </a:pPr>
            <a:r>
              <a:rPr lang="en-US" sz="1240" b="1" dirty="0">
                <a:solidFill>
                  <a:srgbClr val="2E7D4F"/>
                </a:solidFill>
                <a:latin typeface="Aptos" pitchFamily="34" charset="0"/>
                <a:ea typeface="Aptos" pitchFamily="34" charset="-122"/>
                <a:cs typeface="Aptos" pitchFamily="34" charset="-120"/>
              </a:rPr>
              <a:t>Cerca de 1</a:t>
            </a:r>
            <a:endParaRPr lang="en-US" sz="1240" dirty="0"/>
          </a:p>
        </p:txBody>
      </p:sp>
      <p:sp>
        <p:nvSpPr>
          <p:cNvPr id="14" name="Text 11"/>
          <p:cNvSpPr txBox="1"/>
          <p:nvPr/>
        </p:nvSpPr>
        <p:spPr>
          <a:xfrm>
            <a:off x="877824" y="2944368"/>
            <a:ext cx="3054096"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Cuando una sube, la otra sube</a:t>
            </a:r>
            <a:endParaRPr lang="en-US" sz="1100" dirty="0"/>
          </a:p>
        </p:txBody>
      </p:sp>
      <p:sp>
        <p:nvSpPr>
          <p:cNvPr id="15" name="Shape 12"/>
          <p:cNvSpPr/>
          <p:nvPr/>
        </p:nvSpPr>
        <p:spPr>
          <a:xfrm>
            <a:off x="4352544" y="2651760"/>
            <a:ext cx="3493008" cy="603504"/>
          </a:xfrm>
          <a:prstGeom prst="rect">
            <a:avLst/>
          </a:prstGeom>
          <a:solidFill>
            <a:srgbClr val="FFFFFF"/>
          </a:solidFill>
          <a:ln w="12700">
            <a:solidFill>
              <a:srgbClr val="FFFFFF"/>
            </a:solidFill>
            <a:prstDash val="solid"/>
          </a:ln>
        </p:spPr>
      </p:sp>
      <p:sp>
        <p:nvSpPr>
          <p:cNvPr id="16" name="Shape 13"/>
          <p:cNvSpPr/>
          <p:nvPr/>
        </p:nvSpPr>
        <p:spPr>
          <a:xfrm>
            <a:off x="4352544" y="2651760"/>
            <a:ext cx="45720" cy="603504"/>
          </a:xfrm>
          <a:prstGeom prst="rect">
            <a:avLst/>
          </a:prstGeom>
          <a:solidFill>
            <a:srgbClr val="52606D"/>
          </a:solidFill>
          <a:ln w="12700">
            <a:solidFill>
              <a:srgbClr val="52606D"/>
            </a:solidFill>
            <a:prstDash val="solid"/>
          </a:ln>
        </p:spPr>
      </p:sp>
      <p:sp>
        <p:nvSpPr>
          <p:cNvPr id="17" name="Text 14"/>
          <p:cNvSpPr txBox="1"/>
          <p:nvPr/>
        </p:nvSpPr>
        <p:spPr>
          <a:xfrm>
            <a:off x="4572000" y="2724912"/>
            <a:ext cx="3054096" cy="219456"/>
          </a:xfrm>
          <a:prstGeom prst="rect">
            <a:avLst/>
          </a:prstGeom>
          <a:noFill/>
          <a:ln/>
        </p:spPr>
        <p:txBody>
          <a:bodyPr wrap="square" lIns="0" tIns="0" rIns="0" bIns="0" rtlCol="0" anchor="t"/>
          <a:lstStyle/>
          <a:p>
            <a:pPr algn="l" indent="0" marL="0">
              <a:buNone/>
            </a:pPr>
            <a:r>
              <a:rPr lang="en-US" sz="1240" b="1" dirty="0">
                <a:solidFill>
                  <a:srgbClr val="52606D"/>
                </a:solidFill>
                <a:latin typeface="Aptos" pitchFamily="34" charset="0"/>
                <a:ea typeface="Aptos" pitchFamily="34" charset="-122"/>
                <a:cs typeface="Aptos" pitchFamily="34" charset="-120"/>
              </a:rPr>
              <a:t>Cerca de 0</a:t>
            </a:r>
            <a:endParaRPr lang="en-US" sz="1240" dirty="0"/>
          </a:p>
        </p:txBody>
      </p:sp>
      <p:sp>
        <p:nvSpPr>
          <p:cNvPr id="18" name="Text 15"/>
          <p:cNvSpPr txBox="1"/>
          <p:nvPr/>
        </p:nvSpPr>
        <p:spPr>
          <a:xfrm>
            <a:off x="4572000" y="2944368"/>
            <a:ext cx="3054096"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No tienen relación apreciable</a:t>
            </a:r>
            <a:endParaRPr lang="en-US" sz="1100" dirty="0"/>
          </a:p>
        </p:txBody>
      </p:sp>
      <p:sp>
        <p:nvSpPr>
          <p:cNvPr id="19" name="Shape 16"/>
          <p:cNvSpPr/>
          <p:nvPr/>
        </p:nvSpPr>
        <p:spPr>
          <a:xfrm>
            <a:off x="8046720" y="2651760"/>
            <a:ext cx="3493008" cy="603504"/>
          </a:xfrm>
          <a:prstGeom prst="rect">
            <a:avLst/>
          </a:prstGeom>
          <a:solidFill>
            <a:srgbClr val="FFFFFF"/>
          </a:solidFill>
          <a:ln w="12700">
            <a:solidFill>
              <a:srgbClr val="FFFFFF"/>
            </a:solidFill>
            <a:prstDash val="solid"/>
          </a:ln>
        </p:spPr>
      </p:sp>
      <p:sp>
        <p:nvSpPr>
          <p:cNvPr id="20" name="Shape 17"/>
          <p:cNvSpPr/>
          <p:nvPr/>
        </p:nvSpPr>
        <p:spPr>
          <a:xfrm>
            <a:off x="8046720" y="2651760"/>
            <a:ext cx="45720" cy="603504"/>
          </a:xfrm>
          <a:prstGeom prst="rect">
            <a:avLst/>
          </a:prstGeom>
          <a:solidFill>
            <a:srgbClr val="B3181E"/>
          </a:solidFill>
          <a:ln w="12700">
            <a:solidFill>
              <a:srgbClr val="B3181E"/>
            </a:solidFill>
            <a:prstDash val="solid"/>
          </a:ln>
        </p:spPr>
      </p:sp>
      <p:sp>
        <p:nvSpPr>
          <p:cNvPr id="21" name="Text 18"/>
          <p:cNvSpPr txBox="1"/>
          <p:nvPr/>
        </p:nvSpPr>
        <p:spPr>
          <a:xfrm>
            <a:off x="8266176" y="2724912"/>
            <a:ext cx="3054096" cy="219456"/>
          </a:xfrm>
          <a:prstGeom prst="rect">
            <a:avLst/>
          </a:prstGeom>
          <a:noFill/>
          <a:ln/>
        </p:spPr>
        <p:txBody>
          <a:bodyPr wrap="square" lIns="0" tIns="0" rIns="0" bIns="0" rtlCol="0" anchor="t"/>
          <a:lstStyle/>
          <a:p>
            <a:pPr algn="l" indent="0" marL="0">
              <a:buNone/>
            </a:pPr>
            <a:r>
              <a:rPr lang="en-US" sz="1240" b="1" dirty="0">
                <a:solidFill>
                  <a:srgbClr val="B3181E"/>
                </a:solidFill>
                <a:latin typeface="Aptos" pitchFamily="34" charset="0"/>
                <a:ea typeface="Aptos" pitchFamily="34" charset="-122"/>
                <a:cs typeface="Aptos" pitchFamily="34" charset="-120"/>
              </a:rPr>
              <a:t>Negativa</a:t>
            </a:r>
            <a:endParaRPr lang="en-US" sz="1240" dirty="0"/>
          </a:p>
        </p:txBody>
      </p:sp>
      <p:sp>
        <p:nvSpPr>
          <p:cNvPr id="22" name="Text 19"/>
          <p:cNvSpPr txBox="1"/>
          <p:nvPr/>
        </p:nvSpPr>
        <p:spPr>
          <a:xfrm>
            <a:off x="8266176" y="2944368"/>
            <a:ext cx="3054096"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Cuando una sube, la otra BAJA</a:t>
            </a:r>
            <a:endParaRPr lang="en-US" sz="1100" dirty="0"/>
          </a:p>
        </p:txBody>
      </p:sp>
      <p:sp>
        <p:nvSpPr>
          <p:cNvPr id="23" name="Shape 20"/>
          <p:cNvSpPr/>
          <p:nvPr/>
        </p:nvSpPr>
        <p:spPr>
          <a:xfrm>
            <a:off x="658368" y="3456432"/>
            <a:ext cx="3017520" cy="914400"/>
          </a:xfrm>
          <a:prstGeom prst="rect">
            <a:avLst/>
          </a:prstGeom>
          <a:solidFill>
            <a:srgbClr val="F8E4E5"/>
          </a:solidFill>
          <a:ln w="12700">
            <a:solidFill>
              <a:srgbClr val="F8E4E5"/>
            </a:solidFill>
            <a:prstDash val="solid"/>
          </a:ln>
        </p:spPr>
      </p:sp>
      <p:sp>
        <p:nvSpPr>
          <p:cNvPr id="24" name="Shape 21"/>
          <p:cNvSpPr/>
          <p:nvPr/>
        </p:nvSpPr>
        <p:spPr>
          <a:xfrm>
            <a:off x="658368" y="3456432"/>
            <a:ext cx="54864" cy="914400"/>
          </a:xfrm>
          <a:prstGeom prst="rect">
            <a:avLst/>
          </a:prstGeom>
          <a:solidFill>
            <a:srgbClr val="B3181E"/>
          </a:solidFill>
          <a:ln w="12700">
            <a:solidFill>
              <a:srgbClr val="B3181E"/>
            </a:solidFill>
            <a:prstDash val="solid"/>
          </a:ln>
        </p:spPr>
      </p:sp>
      <p:sp>
        <p:nvSpPr>
          <p:cNvPr id="25" name="Text 22"/>
          <p:cNvSpPr txBox="1"/>
          <p:nvPr/>
        </p:nvSpPr>
        <p:spPr>
          <a:xfrm>
            <a:off x="932688" y="3529584"/>
            <a:ext cx="2560320" cy="475488"/>
          </a:xfrm>
          <a:prstGeom prst="rect">
            <a:avLst/>
          </a:prstGeom>
          <a:noFill/>
          <a:ln/>
        </p:spPr>
        <p:txBody>
          <a:bodyPr wrap="square" lIns="0" tIns="0" rIns="0" bIns="0" rtlCol="0" anchor="t"/>
          <a:lstStyle/>
          <a:p>
            <a:pPr algn="l" indent="0" marL="0">
              <a:buNone/>
            </a:pPr>
            <a:r>
              <a:rPr lang="en-US" sz="3300" b="1" dirty="0">
                <a:solidFill>
                  <a:srgbClr val="B3181E"/>
                </a:solidFill>
                <a:latin typeface="Aptos Display" pitchFamily="34" charset="0"/>
                <a:ea typeface="Aptos Display" pitchFamily="34" charset="-122"/>
                <a:cs typeface="Aptos Display" pitchFamily="34" charset="-120"/>
              </a:rPr>
              <a:t>−0,35</a:t>
            </a:r>
            <a:endParaRPr lang="en-US" sz="3300" dirty="0"/>
          </a:p>
        </p:txBody>
      </p:sp>
      <p:sp>
        <p:nvSpPr>
          <p:cNvPr id="26" name="Text 23"/>
          <p:cNvSpPr txBox="1"/>
          <p:nvPr/>
        </p:nvSpPr>
        <p:spPr>
          <a:xfrm>
            <a:off x="932688" y="4078224"/>
            <a:ext cx="2560320" cy="219456"/>
          </a:xfrm>
          <a:prstGeom prst="rect">
            <a:avLst/>
          </a:prstGeom>
          <a:noFill/>
          <a:ln/>
        </p:spPr>
        <p:txBody>
          <a:bodyPr wrap="square" lIns="0" tIns="0" rIns="0" bIns="0" rtlCol="0" anchor="t"/>
          <a:lstStyle/>
          <a:p>
            <a:pPr algn="l" indent="0" marL="0">
              <a:buNone/>
            </a:pPr>
            <a:r>
              <a:rPr lang="en-US" sz="1200" b="1" dirty="0">
                <a:solidFill>
                  <a:srgbClr val="52606D"/>
                </a:solidFill>
                <a:latin typeface="Aptos" pitchFamily="34" charset="0"/>
                <a:ea typeface="Aptos" pitchFamily="34" charset="-122"/>
                <a:cs typeface="Aptos" pitchFamily="34" charset="-120"/>
              </a:rPr>
              <a:t>HSQLDB</a:t>
            </a:r>
            <a:endParaRPr lang="en-US" sz="1200" dirty="0"/>
          </a:p>
        </p:txBody>
      </p:sp>
      <p:sp>
        <p:nvSpPr>
          <p:cNvPr id="27" name="Shape 24"/>
          <p:cNvSpPr/>
          <p:nvPr/>
        </p:nvSpPr>
        <p:spPr>
          <a:xfrm>
            <a:off x="3895344" y="3456432"/>
            <a:ext cx="7635240" cy="420624"/>
          </a:xfrm>
          <a:prstGeom prst="rect">
            <a:avLst/>
          </a:prstGeom>
          <a:solidFill>
            <a:srgbClr val="F2E7D9"/>
          </a:solidFill>
          <a:ln w="12700">
            <a:solidFill>
              <a:srgbClr val="F2E7D9"/>
            </a:solidFill>
            <a:prstDash val="solid"/>
          </a:ln>
        </p:spPr>
      </p:sp>
      <p:sp>
        <p:nvSpPr>
          <p:cNvPr id="28" name="Shape 25"/>
          <p:cNvSpPr/>
          <p:nvPr/>
        </p:nvSpPr>
        <p:spPr>
          <a:xfrm>
            <a:off x="3895344" y="3456432"/>
            <a:ext cx="64008" cy="420624"/>
          </a:xfrm>
          <a:prstGeom prst="rect">
            <a:avLst/>
          </a:prstGeom>
          <a:solidFill>
            <a:srgbClr val="102A43"/>
          </a:solidFill>
          <a:ln w="12700">
            <a:solidFill>
              <a:srgbClr val="102A43"/>
            </a:solidFill>
            <a:prstDash val="solid"/>
          </a:ln>
        </p:spPr>
      </p:sp>
      <p:sp>
        <p:nvSpPr>
          <p:cNvPr id="29" name="Text 26"/>
          <p:cNvSpPr txBox="1"/>
          <p:nvPr/>
        </p:nvSpPr>
        <p:spPr>
          <a:xfrm>
            <a:off x="4206240" y="3566160"/>
            <a:ext cx="7068312" cy="201168"/>
          </a:xfrm>
          <a:prstGeom prst="rect">
            <a:avLst/>
          </a:prstGeom>
          <a:noFill/>
          <a:ln/>
        </p:spPr>
        <p:txBody>
          <a:bodyPr wrap="square" lIns="0" tIns="0" rIns="0" bIns="0" rtlCol="0" anchor="ctr"/>
          <a:lstStyle/>
          <a:p>
            <a:pPr algn="l" indent="0" marL="0">
              <a:lnSpc>
                <a:spcPct val="118000"/>
              </a:lnSpc>
              <a:buNone/>
            </a:pPr>
            <a:r>
              <a:rPr lang="en-US" sz="1120" i="1" dirty="0">
                <a:solidFill>
                  <a:srgbClr val="243B53"/>
                </a:solidFill>
                <a:latin typeface="Aptos" pitchFamily="34" charset="0"/>
                <a:ea typeface="Aptos" pitchFamily="34" charset="-122"/>
                <a:cs typeface="Aptos" pitchFamily="34" charset="-120"/>
              </a:rPr>
              <a:t>“the suites with higher coverage contain test cases that run a lot of code but do not kill many mutants in that code”</a:t>
            </a:r>
            <a:endParaRPr lang="en-US" sz="1120" dirty="0"/>
          </a:p>
        </p:txBody>
      </p:sp>
      <p:sp>
        <p:nvSpPr>
          <p:cNvPr id="30" name="Shape 27"/>
          <p:cNvSpPr/>
          <p:nvPr/>
        </p:nvSpPr>
        <p:spPr>
          <a:xfrm>
            <a:off x="3895344" y="3950208"/>
            <a:ext cx="7635240" cy="420624"/>
          </a:xfrm>
          <a:prstGeom prst="rect">
            <a:avLst/>
          </a:prstGeom>
          <a:solidFill>
            <a:srgbClr val="EDE6DA"/>
          </a:solidFill>
          <a:ln w="12700">
            <a:solidFill>
              <a:srgbClr val="EDE6DA"/>
            </a:solidFill>
            <a:prstDash val="solid"/>
          </a:ln>
        </p:spPr>
      </p:sp>
      <p:sp>
        <p:nvSpPr>
          <p:cNvPr id="31" name="Shape 28"/>
          <p:cNvSpPr/>
          <p:nvPr/>
        </p:nvSpPr>
        <p:spPr>
          <a:xfrm>
            <a:off x="3895344" y="3950208"/>
            <a:ext cx="64008" cy="420624"/>
          </a:xfrm>
          <a:prstGeom prst="rect">
            <a:avLst/>
          </a:prstGeom>
          <a:solidFill>
            <a:srgbClr val="52606D"/>
          </a:solidFill>
          <a:ln w="12700">
            <a:solidFill>
              <a:srgbClr val="52606D"/>
            </a:solidFill>
            <a:prstDash val="solid"/>
          </a:ln>
        </p:spPr>
      </p:sp>
      <p:sp>
        <p:nvSpPr>
          <p:cNvPr id="32" name="Text 29"/>
          <p:cNvSpPr txBox="1"/>
          <p:nvPr/>
        </p:nvSpPr>
        <p:spPr>
          <a:xfrm>
            <a:off x="4206240" y="4059936"/>
            <a:ext cx="7068312" cy="201168"/>
          </a:xfrm>
          <a:prstGeom prst="rect">
            <a:avLst/>
          </a:prstGeom>
          <a:noFill/>
          <a:ln/>
        </p:spPr>
        <p:txBody>
          <a:bodyPr wrap="square" lIns="0" tIns="0" rIns="0" bIns="0" rtlCol="0" anchor="ctr"/>
          <a:lstStyle/>
          <a:p>
            <a:pPr algn="l" indent="0" marL="0">
              <a:lnSpc>
                <a:spcPct val="118000"/>
              </a:lnSpc>
              <a:buNone/>
            </a:pPr>
            <a:r>
              <a:rPr lang="en-US" sz="1120" i="1" dirty="0">
                <a:solidFill>
                  <a:srgbClr val="243B53"/>
                </a:solidFill>
                <a:latin typeface="Aptos" pitchFamily="34" charset="0"/>
                <a:ea typeface="Aptos" pitchFamily="34" charset="-122"/>
                <a:cs typeface="Aptos" pitchFamily="34" charset="-120"/>
              </a:rPr>
              <a:t>“las suites con mayor cobertura contienen casos de prueba que ejecutan mucho código pero no matan muchos mutantes en ese código”</a:t>
            </a:r>
            <a:endParaRPr lang="en-US" sz="1120" dirty="0"/>
          </a:p>
        </p:txBody>
      </p:sp>
      <p:sp>
        <p:nvSpPr>
          <p:cNvPr id="33" name="Shape 30"/>
          <p:cNvSpPr/>
          <p:nvPr/>
        </p:nvSpPr>
        <p:spPr>
          <a:xfrm>
            <a:off x="658368" y="4535424"/>
            <a:ext cx="10874959" cy="566928"/>
          </a:xfrm>
          <a:prstGeom prst="rect">
            <a:avLst/>
          </a:prstGeom>
          <a:solidFill>
            <a:srgbClr val="102A43"/>
          </a:solidFill>
          <a:ln w="12700">
            <a:solidFill>
              <a:srgbClr val="102A43"/>
            </a:solidFill>
            <a:prstDash val="solid"/>
          </a:ln>
        </p:spPr>
      </p:sp>
      <p:sp>
        <p:nvSpPr>
          <p:cNvPr id="34" name="Text 31"/>
          <p:cNvSpPr txBox="1"/>
          <p:nvPr/>
        </p:nvSpPr>
        <p:spPr>
          <a:xfrm>
            <a:off x="932688" y="4608576"/>
            <a:ext cx="10326319" cy="420624"/>
          </a:xfrm>
          <a:prstGeom prst="rect">
            <a:avLst/>
          </a:prstGeom>
          <a:noFill/>
          <a:ln/>
        </p:spPr>
        <p:txBody>
          <a:bodyPr wrap="square" lIns="0" tIns="0" rIns="0" bIns="0" rtlCol="0" anchor="ctr"/>
          <a:lstStyle/>
          <a:p>
            <a:pPr algn="l" indent="0" marL="0">
              <a:buNone/>
            </a:pPr>
            <a:r>
              <a:rPr lang="en-US" sz="1400" b="1" dirty="0">
                <a:solidFill>
                  <a:srgbClr val="E0BC5A"/>
                </a:solidFill>
                <a:latin typeface="Aptos" pitchFamily="34" charset="0"/>
                <a:ea typeface="Aptos" pitchFamily="34" charset="-122"/>
                <a:cs typeface="Aptos" pitchFamily="34" charset="-120"/>
              </a:rPr>
              <a:t>Es exactamente la prueba sin aserciones de hace diez minutos, encontrada en un sistema real y en producción.</a:t>
            </a:r>
            <a:endParaRPr lang="en-US" sz="1400" dirty="0"/>
          </a:p>
        </p:txBody>
      </p:sp>
      <p:sp>
        <p:nvSpPr>
          <p:cNvPr id="35" name="Shape 32"/>
          <p:cNvSpPr/>
          <p:nvPr/>
        </p:nvSpPr>
        <p:spPr>
          <a:xfrm>
            <a:off x="658368" y="5285232"/>
            <a:ext cx="45720" cy="182880"/>
          </a:xfrm>
          <a:prstGeom prst="rect">
            <a:avLst/>
          </a:prstGeom>
          <a:solidFill>
            <a:srgbClr val="8A6A12"/>
          </a:solidFill>
          <a:ln w="12700">
            <a:solidFill>
              <a:srgbClr val="8A6A12"/>
            </a:solidFill>
            <a:prstDash val="solid"/>
          </a:ln>
        </p:spPr>
      </p:sp>
      <p:sp>
        <p:nvSpPr>
          <p:cNvPr id="36" name="Text 33"/>
          <p:cNvSpPr txBox="1"/>
          <p:nvPr/>
        </p:nvSpPr>
        <p:spPr>
          <a:xfrm>
            <a:off x="804672" y="5276088"/>
            <a:ext cx="96012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Inozemtseva y Holmes · ICSE 2014 · tabla 3 · τ de Kendall: coeficiente de correlación con eficacia normalizada</a:t>
            </a:r>
            <a:endParaRPr lang="en-US" sz="9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LO QUE SÍ INDICA EFICACIA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El estudio anterior dice qué NO sirve; este dice qué sí</a:t>
            </a:r>
            <a:endParaRPr lang="en-US" sz="26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Yucheng Zhang y Ali Mesbah presentaron el estudio en FSE 2015, una conferencia de ingeniería de software: 6 700 suites formadas con 24 000 aserciones de cinco proyectos Java reales.</a:t>
            </a:r>
            <a:endParaRPr lang="en-US" sz="1450" dirty="0"/>
          </a:p>
        </p:txBody>
      </p:sp>
      <p:sp>
        <p:nvSpPr>
          <p:cNvPr id="11" name="Shape 8"/>
          <p:cNvSpPr/>
          <p:nvPr/>
        </p:nvSpPr>
        <p:spPr>
          <a:xfrm>
            <a:off x="658368" y="2688336"/>
            <a:ext cx="10874959" cy="658368"/>
          </a:xfrm>
          <a:prstGeom prst="rect">
            <a:avLst/>
          </a:prstGeom>
          <a:solidFill>
            <a:srgbClr val="F2E7D9"/>
          </a:solidFill>
          <a:ln w="12700">
            <a:solidFill>
              <a:srgbClr val="F2E7D9"/>
            </a:solidFill>
            <a:prstDash val="solid"/>
          </a:ln>
        </p:spPr>
      </p:sp>
      <p:sp>
        <p:nvSpPr>
          <p:cNvPr id="12" name="Shape 9"/>
          <p:cNvSpPr/>
          <p:nvPr/>
        </p:nvSpPr>
        <p:spPr>
          <a:xfrm>
            <a:off x="658368" y="2688336"/>
            <a:ext cx="64008" cy="658368"/>
          </a:xfrm>
          <a:prstGeom prst="rect">
            <a:avLst/>
          </a:prstGeom>
          <a:solidFill>
            <a:srgbClr val="2E7D4F"/>
          </a:solidFill>
          <a:ln w="12700">
            <a:solidFill>
              <a:srgbClr val="2E7D4F"/>
            </a:solidFill>
            <a:prstDash val="solid"/>
          </a:ln>
        </p:spPr>
      </p:sp>
      <p:sp>
        <p:nvSpPr>
          <p:cNvPr id="13" name="Text 10"/>
          <p:cNvSpPr txBox="1"/>
          <p:nvPr/>
        </p:nvSpPr>
        <p:spPr>
          <a:xfrm>
            <a:off x="969264" y="2798064"/>
            <a:ext cx="10308031" cy="438912"/>
          </a:xfrm>
          <a:prstGeom prst="rect">
            <a:avLst/>
          </a:prstGeom>
          <a:noFill/>
          <a:ln/>
        </p:spPr>
        <p:txBody>
          <a:bodyPr wrap="square" lIns="0" tIns="0" rIns="0" bIns="0" rtlCol="0" anchor="ctr"/>
          <a:lstStyle/>
          <a:p>
            <a:pPr algn="l" indent="0" marL="0">
              <a:lnSpc>
                <a:spcPct val="118000"/>
              </a:lnSpc>
              <a:buNone/>
            </a:pPr>
            <a:r>
              <a:rPr lang="en-US" sz="1180" i="1" dirty="0">
                <a:solidFill>
                  <a:srgbClr val="243B53"/>
                </a:solidFill>
                <a:latin typeface="Aptos" pitchFamily="34" charset="0"/>
                <a:ea typeface="Aptos" pitchFamily="34" charset="-122"/>
                <a:cs typeface="Aptos" pitchFamily="34" charset="-120"/>
              </a:rPr>
              <a:t>“We find that the number of assertions in a test suite strongly correlates with its effectiveness… assertion coverage is strongly correlated with effectiveness”</a:t>
            </a:r>
            <a:endParaRPr lang="en-US" sz="1180" dirty="0"/>
          </a:p>
        </p:txBody>
      </p:sp>
      <p:sp>
        <p:nvSpPr>
          <p:cNvPr id="14" name="Shape 11"/>
          <p:cNvSpPr/>
          <p:nvPr/>
        </p:nvSpPr>
        <p:spPr>
          <a:xfrm>
            <a:off x="658368" y="3401568"/>
            <a:ext cx="10874959" cy="658368"/>
          </a:xfrm>
          <a:prstGeom prst="rect">
            <a:avLst/>
          </a:prstGeom>
          <a:solidFill>
            <a:srgbClr val="EDE6DA"/>
          </a:solidFill>
          <a:ln w="12700">
            <a:solidFill>
              <a:srgbClr val="EDE6DA"/>
            </a:solidFill>
            <a:prstDash val="solid"/>
          </a:ln>
        </p:spPr>
      </p:sp>
      <p:sp>
        <p:nvSpPr>
          <p:cNvPr id="15" name="Shape 12"/>
          <p:cNvSpPr/>
          <p:nvPr/>
        </p:nvSpPr>
        <p:spPr>
          <a:xfrm>
            <a:off x="658368" y="3401568"/>
            <a:ext cx="64008" cy="658368"/>
          </a:xfrm>
          <a:prstGeom prst="rect">
            <a:avLst/>
          </a:prstGeom>
          <a:solidFill>
            <a:srgbClr val="52606D"/>
          </a:solidFill>
          <a:ln w="12700">
            <a:solidFill>
              <a:srgbClr val="52606D"/>
            </a:solidFill>
            <a:prstDash val="solid"/>
          </a:ln>
        </p:spPr>
      </p:sp>
      <p:sp>
        <p:nvSpPr>
          <p:cNvPr id="16" name="Text 13"/>
          <p:cNvSpPr txBox="1"/>
          <p:nvPr/>
        </p:nvSpPr>
        <p:spPr>
          <a:xfrm>
            <a:off x="969264" y="3511296"/>
            <a:ext cx="10308031" cy="438912"/>
          </a:xfrm>
          <a:prstGeom prst="rect">
            <a:avLst/>
          </a:prstGeom>
          <a:noFill/>
          <a:ln/>
        </p:spPr>
        <p:txBody>
          <a:bodyPr wrap="square" lIns="0" tIns="0" rIns="0" bIns="0" rtlCol="0" anchor="ctr"/>
          <a:lstStyle/>
          <a:p>
            <a:pPr algn="l" indent="0" marL="0">
              <a:lnSpc>
                <a:spcPct val="118000"/>
              </a:lnSpc>
              <a:buNone/>
            </a:pPr>
            <a:r>
              <a:rPr lang="en-US" sz="1180" i="1" dirty="0">
                <a:solidFill>
                  <a:srgbClr val="243B53"/>
                </a:solidFill>
                <a:latin typeface="Aptos" pitchFamily="34" charset="0"/>
                <a:ea typeface="Aptos" pitchFamily="34" charset="-122"/>
                <a:cs typeface="Aptos" pitchFamily="34" charset="-120"/>
              </a:rPr>
              <a:t>“Encontramos que la cantidad de aserciones de una suite se correlaciona fuertemente con su eficacia… la cobertura de aserciones está fuertemente correlacionada con la eficacia.”</a:t>
            </a:r>
            <a:endParaRPr lang="en-US" sz="1180" dirty="0"/>
          </a:p>
        </p:txBody>
      </p:sp>
      <p:sp>
        <p:nvSpPr>
          <p:cNvPr id="17" name="Shape 14"/>
          <p:cNvSpPr/>
          <p:nvPr/>
        </p:nvSpPr>
        <p:spPr>
          <a:xfrm>
            <a:off x="658368" y="4224528"/>
            <a:ext cx="10874959" cy="804672"/>
          </a:xfrm>
          <a:prstGeom prst="rect">
            <a:avLst/>
          </a:prstGeom>
          <a:solidFill>
            <a:srgbClr val="102A43"/>
          </a:solidFill>
          <a:ln w="12700">
            <a:solidFill>
              <a:srgbClr val="102A43"/>
            </a:solidFill>
            <a:prstDash val="solid"/>
          </a:ln>
        </p:spPr>
      </p:sp>
      <p:sp>
        <p:nvSpPr>
          <p:cNvPr id="18" name="Text 15"/>
          <p:cNvSpPr txBox="1"/>
          <p:nvPr/>
        </p:nvSpPr>
        <p:spPr>
          <a:xfrm>
            <a:off x="658368" y="4315968"/>
            <a:ext cx="10874959" cy="274320"/>
          </a:xfrm>
          <a:prstGeom prst="rect">
            <a:avLst/>
          </a:prstGeom>
          <a:noFill/>
          <a:ln/>
        </p:spPr>
        <p:txBody>
          <a:bodyPr wrap="square" lIns="0" tIns="0" rIns="0" bIns="0" rtlCol="0" anchor="t"/>
          <a:lstStyle/>
          <a:p>
            <a:pPr algn="ctr" indent="0" marL="0">
              <a:buNone/>
            </a:pPr>
            <a:r>
              <a:rPr lang="en-US" sz="1400" i="1" dirty="0">
                <a:solidFill>
                  <a:srgbClr val="EADFD0"/>
                </a:solidFill>
                <a:latin typeface="Aptos" pitchFamily="34" charset="0"/>
                <a:ea typeface="Aptos" pitchFamily="34" charset="-122"/>
                <a:cs typeface="Aptos" pitchFamily="34" charset="-120"/>
              </a:rPr>
              <a:t>«coverage without checking for correctness is meaningless»</a:t>
            </a:r>
            <a:endParaRPr lang="en-US" sz="1400" dirty="0"/>
          </a:p>
        </p:txBody>
      </p:sp>
      <p:sp>
        <p:nvSpPr>
          <p:cNvPr id="19" name="Text 16"/>
          <p:cNvSpPr txBox="1"/>
          <p:nvPr/>
        </p:nvSpPr>
        <p:spPr>
          <a:xfrm>
            <a:off x="658368" y="4626864"/>
            <a:ext cx="10874959" cy="310896"/>
          </a:xfrm>
          <a:prstGeom prst="rect">
            <a:avLst/>
          </a:prstGeom>
          <a:noFill/>
          <a:ln/>
        </p:spPr>
        <p:txBody>
          <a:bodyPr wrap="square" lIns="0" tIns="0" rIns="0" bIns="0" rtlCol="0" anchor="t"/>
          <a:lstStyle/>
          <a:p>
            <a:pPr algn="ctr" indent="0" marL="0">
              <a:buNone/>
            </a:pPr>
            <a:r>
              <a:rPr lang="en-US" sz="2000" b="1" dirty="0">
                <a:solidFill>
                  <a:srgbClr val="E0BC5A"/>
                </a:solidFill>
                <a:latin typeface="Aptos Display" pitchFamily="34" charset="0"/>
                <a:ea typeface="Aptos Display" pitchFamily="34" charset="-122"/>
                <a:cs typeface="Aptos Display" pitchFamily="34" charset="-120"/>
              </a:rPr>
              <a:t>La cobertura, sin comprobar que el resultado sea correcto, no significa nada.</a:t>
            </a:r>
            <a:endParaRPr lang="en-US" sz="2000" dirty="0"/>
          </a:p>
        </p:txBody>
      </p:sp>
      <p:sp>
        <p:nvSpPr>
          <p:cNvPr id="20" name="Shape 17"/>
          <p:cNvSpPr/>
          <p:nvPr/>
        </p:nvSpPr>
        <p:spPr>
          <a:xfrm>
            <a:off x="658368" y="5175504"/>
            <a:ext cx="10874959" cy="512064"/>
          </a:xfrm>
          <a:prstGeom prst="rect">
            <a:avLst/>
          </a:prstGeom>
          <a:solidFill>
            <a:srgbClr val="F2E7D9"/>
          </a:solidFill>
          <a:ln w="12700">
            <a:solidFill>
              <a:srgbClr val="F2E7D9"/>
            </a:solidFill>
            <a:prstDash val="solid"/>
          </a:ln>
        </p:spPr>
      </p:sp>
      <p:sp>
        <p:nvSpPr>
          <p:cNvPr id="21" name="Shape 18"/>
          <p:cNvSpPr/>
          <p:nvPr/>
        </p:nvSpPr>
        <p:spPr>
          <a:xfrm>
            <a:off x="658368" y="5175504"/>
            <a:ext cx="54864" cy="512064"/>
          </a:xfrm>
          <a:prstGeom prst="rect">
            <a:avLst/>
          </a:prstGeom>
          <a:solidFill>
            <a:srgbClr val="8A6A12"/>
          </a:solidFill>
          <a:ln w="12700">
            <a:solidFill>
              <a:srgbClr val="8A6A12"/>
            </a:solidFill>
            <a:prstDash val="solid"/>
          </a:ln>
        </p:spPr>
      </p:sp>
      <p:sp>
        <p:nvSpPr>
          <p:cNvPr id="22" name="Text 19"/>
          <p:cNvSpPr txBox="1"/>
          <p:nvPr/>
        </p:nvSpPr>
        <p:spPr>
          <a:xfrm>
            <a:off x="932688" y="5248656"/>
            <a:ext cx="10326319" cy="365760"/>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Los límites: los dos estudios usan proyectos Java de código abierto, suites compuestas artificialmente, y mutantes como aproximación a defectos reales.</a:t>
            </a:r>
            <a:endParaRPr lang="en-US" sz="1220" dirty="0"/>
          </a:p>
        </p:txBody>
      </p:sp>
      <p:sp>
        <p:nvSpPr>
          <p:cNvPr id="23" name="Shape 20"/>
          <p:cNvSpPr/>
          <p:nvPr/>
        </p:nvSpPr>
        <p:spPr>
          <a:xfrm>
            <a:off x="658368" y="5870448"/>
            <a:ext cx="45720" cy="182880"/>
          </a:xfrm>
          <a:prstGeom prst="rect">
            <a:avLst/>
          </a:prstGeom>
          <a:solidFill>
            <a:srgbClr val="8A6A12"/>
          </a:solidFill>
          <a:ln w="12700">
            <a:solidFill>
              <a:srgbClr val="8A6A12"/>
            </a:solidFill>
            <a:prstDash val="solid"/>
          </a:ln>
        </p:spPr>
      </p:sp>
      <p:sp>
        <p:nvSpPr>
          <p:cNvPr id="24" name="Text 21"/>
          <p:cNvSpPr txBox="1"/>
          <p:nvPr/>
        </p:nvSpPr>
        <p:spPr>
          <a:xfrm>
            <a:off x="804672" y="5861304"/>
            <a:ext cx="96012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Zhang y Mesbah · Assertions Are Strongly Correlated with Test Suite Effectiveness · FSE 2015</a:t>
            </a:r>
            <a:endParaRPr lang="en-US" sz="9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ERA DE LOS AGENTES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Contar aserciones, no porcentajes</a:t>
            </a:r>
            <a:endParaRPr lang="en-US" sz="30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De los dos estudios sale un procedimiento concreto para revisar pruebas que uno no escribió, que es la situación habitual cuando las produce un agente.</a:t>
            </a:r>
            <a:endParaRPr lang="en-US" sz="1450" dirty="0"/>
          </a:p>
        </p:txBody>
      </p:sp>
      <p:sp>
        <p:nvSpPr>
          <p:cNvPr id="11" name="Shape 8"/>
          <p:cNvSpPr/>
          <p:nvPr/>
        </p:nvSpPr>
        <p:spPr>
          <a:xfrm>
            <a:off x="658368" y="2688336"/>
            <a:ext cx="10874959" cy="749808"/>
          </a:xfrm>
          <a:prstGeom prst="rect">
            <a:avLst/>
          </a:prstGeom>
          <a:solidFill>
            <a:srgbClr val="FFFFFF"/>
          </a:solidFill>
          <a:ln w="12700">
            <a:solidFill>
              <a:srgbClr val="FFFFFF"/>
            </a:solidFill>
            <a:prstDash val="solid"/>
          </a:ln>
        </p:spPr>
      </p:sp>
      <p:sp>
        <p:nvSpPr>
          <p:cNvPr id="12" name="Shape 9"/>
          <p:cNvSpPr/>
          <p:nvPr/>
        </p:nvSpPr>
        <p:spPr>
          <a:xfrm>
            <a:off x="658368" y="2688336"/>
            <a:ext cx="54864" cy="749808"/>
          </a:xfrm>
          <a:prstGeom prst="rect">
            <a:avLst/>
          </a:prstGeom>
          <a:solidFill>
            <a:srgbClr val="2E7D4F"/>
          </a:solidFill>
          <a:ln w="12700">
            <a:solidFill>
              <a:srgbClr val="2E7D4F"/>
            </a:solidFill>
            <a:prstDash val="solid"/>
          </a:ln>
        </p:spPr>
      </p:sp>
      <p:sp>
        <p:nvSpPr>
          <p:cNvPr id="13" name="Text 10"/>
          <p:cNvSpPr txBox="1"/>
          <p:nvPr/>
        </p:nvSpPr>
        <p:spPr>
          <a:xfrm>
            <a:off x="932688" y="2779776"/>
            <a:ext cx="3291840" cy="548640"/>
          </a:xfrm>
          <a:prstGeom prst="rect">
            <a:avLst/>
          </a:prstGeom>
          <a:noFill/>
          <a:ln/>
        </p:spPr>
        <p:txBody>
          <a:bodyPr wrap="square" lIns="0" tIns="0" rIns="0" bIns="0" rtlCol="0" anchor="t"/>
          <a:lstStyle/>
          <a:p>
            <a:pPr algn="l" indent="0" marL="0">
              <a:lnSpc>
                <a:spcPct val="112000"/>
              </a:lnSpc>
              <a:buNone/>
            </a:pPr>
            <a:r>
              <a:rPr lang="en-US" sz="1300" b="1" dirty="0">
                <a:solidFill>
                  <a:srgbClr val="2E7D4F"/>
                </a:solidFill>
                <a:latin typeface="Aptos" pitchFamily="34" charset="0"/>
                <a:ea typeface="Aptos" pitchFamily="34" charset="-122"/>
                <a:cs typeface="Aptos" pitchFamily="34" charset="-120"/>
              </a:rPr>
              <a:t>Lo que hace bien</a:t>
            </a:r>
            <a:endParaRPr lang="en-US" sz="1300" dirty="0"/>
          </a:p>
        </p:txBody>
      </p:sp>
      <p:sp>
        <p:nvSpPr>
          <p:cNvPr id="14" name="Text 11"/>
          <p:cNvSpPr txBox="1"/>
          <p:nvPr/>
        </p:nvSpPr>
        <p:spPr>
          <a:xfrm>
            <a:off x="4407408" y="2798064"/>
            <a:ext cx="685159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Alcanzar código no recorrido. Es la tarea en la que la medición de cobertura le da retroalimentación directa, y es real: Missing baja.</a:t>
            </a:r>
            <a:endParaRPr lang="en-US" sz="1220" dirty="0"/>
          </a:p>
        </p:txBody>
      </p:sp>
      <p:sp>
        <p:nvSpPr>
          <p:cNvPr id="15" name="Shape 12"/>
          <p:cNvSpPr/>
          <p:nvPr/>
        </p:nvSpPr>
        <p:spPr>
          <a:xfrm>
            <a:off x="658368" y="3547872"/>
            <a:ext cx="10874959" cy="749808"/>
          </a:xfrm>
          <a:prstGeom prst="rect">
            <a:avLst/>
          </a:prstGeom>
          <a:solidFill>
            <a:srgbClr val="FFFFFF"/>
          </a:solidFill>
          <a:ln w="12700">
            <a:solidFill>
              <a:srgbClr val="FFFFFF"/>
            </a:solidFill>
            <a:prstDash val="solid"/>
          </a:ln>
        </p:spPr>
      </p:sp>
      <p:sp>
        <p:nvSpPr>
          <p:cNvPr id="16" name="Shape 13"/>
          <p:cNvSpPr/>
          <p:nvPr/>
        </p:nvSpPr>
        <p:spPr>
          <a:xfrm>
            <a:off x="658368" y="3547872"/>
            <a:ext cx="54864" cy="749808"/>
          </a:xfrm>
          <a:prstGeom prst="rect">
            <a:avLst/>
          </a:prstGeom>
          <a:solidFill>
            <a:srgbClr val="8A6A12"/>
          </a:solidFill>
          <a:ln w="12700">
            <a:solidFill>
              <a:srgbClr val="8A6A12"/>
            </a:solidFill>
            <a:prstDash val="solid"/>
          </a:ln>
        </p:spPr>
      </p:sp>
      <p:sp>
        <p:nvSpPr>
          <p:cNvPr id="17" name="Text 14"/>
          <p:cNvSpPr txBox="1"/>
          <p:nvPr/>
        </p:nvSpPr>
        <p:spPr>
          <a:xfrm>
            <a:off x="932688" y="3639312"/>
            <a:ext cx="3291840" cy="548640"/>
          </a:xfrm>
          <a:prstGeom prst="rect">
            <a:avLst/>
          </a:prstGeom>
          <a:noFill/>
          <a:ln/>
        </p:spPr>
        <p:txBody>
          <a:bodyPr wrap="square" lIns="0" tIns="0" rIns="0" bIns="0" rtlCol="0" anchor="t"/>
          <a:lstStyle/>
          <a:p>
            <a:pPr algn="l" indent="0" marL="0">
              <a:lnSpc>
                <a:spcPct val="112000"/>
              </a:lnSpc>
              <a:buNone/>
            </a:pPr>
            <a:r>
              <a:rPr lang="en-US" sz="1300" b="1" dirty="0">
                <a:solidFill>
                  <a:srgbClr val="8A6A12"/>
                </a:solidFill>
                <a:latin typeface="Aptos" pitchFamily="34" charset="0"/>
                <a:ea typeface="Aptos" pitchFamily="34" charset="-122"/>
                <a:cs typeface="Aptos" pitchFamily="34" charset="-120"/>
              </a:rPr>
              <a:t>Lo que no conviene delegar</a:t>
            </a:r>
            <a:endParaRPr lang="en-US" sz="1300" dirty="0"/>
          </a:p>
        </p:txBody>
      </p:sp>
      <p:sp>
        <p:nvSpPr>
          <p:cNvPr id="18" name="Text 15"/>
          <p:cNvSpPr txBox="1"/>
          <p:nvPr/>
        </p:nvSpPr>
        <p:spPr>
          <a:xfrm>
            <a:off x="4407408" y="3657600"/>
            <a:ext cx="685159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 aserción. Es la parte que decide si el resultado es correcto y el indicador que el estudio relaciona con una mayor eficacia para detectar defectos.</a:t>
            </a:r>
            <a:endParaRPr lang="en-US" sz="1220" dirty="0"/>
          </a:p>
        </p:txBody>
      </p:sp>
      <p:sp>
        <p:nvSpPr>
          <p:cNvPr id="19" name="Shape 16"/>
          <p:cNvSpPr/>
          <p:nvPr/>
        </p:nvSpPr>
        <p:spPr>
          <a:xfrm>
            <a:off x="658368" y="4407408"/>
            <a:ext cx="10874959" cy="749808"/>
          </a:xfrm>
          <a:prstGeom prst="rect">
            <a:avLst/>
          </a:prstGeom>
          <a:solidFill>
            <a:srgbClr val="F8E4E5"/>
          </a:solidFill>
          <a:ln w="12700">
            <a:solidFill>
              <a:srgbClr val="F8E4E5"/>
            </a:solidFill>
            <a:prstDash val="solid"/>
          </a:ln>
        </p:spPr>
      </p:sp>
      <p:sp>
        <p:nvSpPr>
          <p:cNvPr id="20" name="Shape 17"/>
          <p:cNvSpPr/>
          <p:nvPr/>
        </p:nvSpPr>
        <p:spPr>
          <a:xfrm>
            <a:off x="658368" y="4407408"/>
            <a:ext cx="54864" cy="749808"/>
          </a:xfrm>
          <a:prstGeom prst="rect">
            <a:avLst/>
          </a:prstGeom>
          <a:solidFill>
            <a:srgbClr val="B3181E"/>
          </a:solidFill>
          <a:ln w="12700">
            <a:solidFill>
              <a:srgbClr val="B3181E"/>
            </a:solidFill>
            <a:prstDash val="solid"/>
          </a:ln>
        </p:spPr>
      </p:sp>
      <p:sp>
        <p:nvSpPr>
          <p:cNvPr id="21" name="Text 18"/>
          <p:cNvSpPr txBox="1"/>
          <p:nvPr/>
        </p:nvSpPr>
        <p:spPr>
          <a:xfrm>
            <a:off x="932688" y="4498848"/>
            <a:ext cx="3291840" cy="548640"/>
          </a:xfrm>
          <a:prstGeom prst="rect">
            <a:avLst/>
          </a:prstGeom>
          <a:noFill/>
          <a:ln/>
        </p:spPr>
        <p:txBody>
          <a:bodyPr wrap="square" lIns="0" tIns="0" rIns="0" bIns="0" rtlCol="0" anchor="t"/>
          <a:lstStyle/>
          <a:p>
            <a:pPr algn="l" indent="0" marL="0">
              <a:lnSpc>
                <a:spcPct val="112000"/>
              </a:lnSpc>
              <a:buNone/>
            </a:pPr>
            <a:r>
              <a:rPr lang="en-US" sz="1300" b="1" dirty="0">
                <a:solidFill>
                  <a:srgbClr val="B3181E"/>
                </a:solidFill>
                <a:latin typeface="Aptos" pitchFamily="34" charset="0"/>
                <a:ea typeface="Aptos" pitchFamily="34" charset="-122"/>
                <a:cs typeface="Aptos" pitchFamily="34" charset="-120"/>
              </a:rPr>
              <a:t>El error frecuente, en dos formas</a:t>
            </a:r>
            <a:endParaRPr lang="en-US" sz="1300" dirty="0"/>
          </a:p>
        </p:txBody>
      </p:sp>
      <p:sp>
        <p:nvSpPr>
          <p:cNvPr id="22" name="Text 19"/>
          <p:cNvSpPr txBox="1"/>
          <p:nvPr/>
        </p:nvSpPr>
        <p:spPr>
          <a:xfrm>
            <a:off x="4407408" y="4517136"/>
            <a:ext cx="685159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 prueba que llama y no afirma. Y la que afirma una tautología: comparar contra otra llamada a la misma función, o contra el valor que el código produce.</a:t>
            </a:r>
            <a:endParaRPr lang="en-US" sz="1220" dirty="0"/>
          </a:p>
        </p:txBody>
      </p:sp>
      <p:sp>
        <p:nvSpPr>
          <p:cNvPr id="23" name="Shape 20"/>
          <p:cNvSpPr/>
          <p:nvPr/>
        </p:nvSpPr>
        <p:spPr>
          <a:xfrm>
            <a:off x="658368" y="5285232"/>
            <a:ext cx="10874959" cy="603504"/>
          </a:xfrm>
          <a:prstGeom prst="rect">
            <a:avLst/>
          </a:prstGeom>
          <a:solidFill>
            <a:srgbClr val="102A43"/>
          </a:solidFill>
          <a:ln w="12700">
            <a:solidFill>
              <a:srgbClr val="102A43"/>
            </a:solidFill>
            <a:prstDash val="solid"/>
          </a:ln>
        </p:spPr>
      </p:sp>
      <p:sp>
        <p:nvSpPr>
          <p:cNvPr id="24" name="Text 21"/>
          <p:cNvSpPr txBox="1"/>
          <p:nvPr/>
        </p:nvSpPr>
        <p:spPr>
          <a:xfrm>
            <a:off x="932688" y="5376672"/>
            <a:ext cx="10326319" cy="438912"/>
          </a:xfrm>
          <a:prstGeom prst="rect">
            <a:avLst/>
          </a:prstGeom>
          <a:noFill/>
          <a:ln/>
        </p:spPr>
        <p:txBody>
          <a:bodyPr wrap="square" lIns="0" tIns="0" rIns="0" bIns="0" rtlCol="0" anchor="ctr"/>
          <a:lstStyle/>
          <a:p>
            <a:pPr algn="l" indent="0" marL="0">
              <a:lnSpc>
                <a:spcPct val="112000"/>
              </a:lnSpc>
              <a:buNone/>
            </a:pPr>
            <a:r>
              <a:rPr lang="en-US" sz="1340" b="1" dirty="0">
                <a:solidFill>
                  <a:srgbClr val="FFFFFF"/>
                </a:solidFill>
                <a:latin typeface="Aptos" pitchFamily="34" charset="0"/>
                <a:ea typeface="Aptos" pitchFamily="34" charset="-122"/>
                <a:cs typeface="Aptos" pitchFamily="34" charset="-120"/>
              </a:rPr>
              <a:t>El puente práctico: pedirle el mutante junto con la prueba. «Para cada prueba que propongas, dime qué cambio en el código la haría fallar.»</a:t>
            </a:r>
            <a:endParaRPr lang="en-US" sz="13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antes de la pausa</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Si la prueba sin aserciones se reemplazara por una con una aserción tautológica —comparar el resultado contra otra llamada a la misma función—, ¿qué cambia en el informe y qué en la detección?</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Piensa por separado en qué mide la herramienta y en qué tendría que pasar para que esa comparación diera falso.</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En HSQLDB la correlación entre cobertura y eficacia fue negativa. ¿Qué tendría que estar ocurriendo en un proyecto para que subir la cobertura empeore de verdad su capacidad de detectar defectos?</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Una suite puede crecer en código recorrido más rápido de lo que crece en comprobaciones.</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Si el recuento de aserciones se correlaciona con la eficacia mucho mejor que la cobertura, ¿por qué sería igual de mala idea fijar «cantidad de aserciones» como meta obligatoria del proyecto?</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Repasa por qué falla el porcentaje como meta y comprueba si el mismo razonamiento aplica a cualquier número que alguien pueda subir a voluntad.</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CONTRASTE</a:t>
            </a:r>
            <a:endParaRPr lang="en-US" sz="1030" dirty="0"/>
          </a:p>
        </p:txBody>
      </p:sp>
      <p:sp>
        <p:nvSpPr>
          <p:cNvPr id="9" name="Text 6"/>
          <p:cNvSpPr txBox="1"/>
          <p:nvPr/>
        </p:nvSpPr>
        <p:spPr>
          <a:xfrm>
            <a:off x="658368" y="749808"/>
            <a:ext cx="9418320" cy="566928"/>
          </a:xfrm>
          <a:prstGeom prst="rect">
            <a:avLst/>
          </a:prstGeom>
          <a:noFill/>
          <a:ln/>
        </p:spPr>
        <p:txBody>
          <a:bodyPr wrap="square" lIns="0" tIns="0" rIns="0" bIns="0" rtlCol="0" anchor="t"/>
          <a:lstStyle/>
          <a:p>
            <a:pPr algn="l" indent="0" marL="0">
              <a:buNone/>
            </a:pPr>
            <a:r>
              <a:rPr lang="en-US" sz="2500" b="1" dirty="0">
                <a:solidFill>
                  <a:srgbClr val="243B53"/>
                </a:solidFill>
                <a:latin typeface="Aptos Display" pitchFamily="34" charset="0"/>
                <a:ea typeface="Aptos Display" pitchFamily="34" charset="-122"/>
                <a:cs typeface="Aptos Display" pitchFamily="34" charset="-120"/>
              </a:rPr>
              <a:t>Lo que tenía que aparecer</a:t>
            </a:r>
            <a:endParaRPr lang="en-US" sz="2500" dirty="0"/>
          </a:p>
        </p:txBody>
      </p:sp>
      <p:sp>
        <p:nvSpPr>
          <p:cNvPr id="10" name="Shape 7"/>
          <p:cNvSpPr/>
          <p:nvPr/>
        </p:nvSpPr>
        <p:spPr>
          <a:xfrm>
            <a:off x="658368" y="1517904"/>
            <a:ext cx="10874959" cy="1536192"/>
          </a:xfrm>
          <a:prstGeom prst="rect">
            <a:avLst/>
          </a:prstGeom>
          <a:solidFill>
            <a:srgbClr val="FFFFFF"/>
          </a:solidFill>
          <a:ln w="12700">
            <a:solidFill>
              <a:srgbClr val="FFFFFF"/>
            </a:solidFill>
            <a:prstDash val="solid"/>
          </a:ln>
        </p:spPr>
      </p:sp>
      <p:sp>
        <p:nvSpPr>
          <p:cNvPr id="11" name="Shape 8"/>
          <p:cNvSpPr/>
          <p:nvPr/>
        </p:nvSpPr>
        <p:spPr>
          <a:xfrm>
            <a:off x="658368" y="1517904"/>
            <a:ext cx="54864" cy="1536192"/>
          </a:xfrm>
          <a:prstGeom prst="rect">
            <a:avLst/>
          </a:prstGeom>
          <a:solidFill>
            <a:srgbClr val="B3181E"/>
          </a:solidFill>
          <a:ln w="12700">
            <a:solidFill>
              <a:srgbClr val="B3181E"/>
            </a:solidFill>
            <a:prstDash val="solid"/>
          </a:ln>
        </p:spPr>
      </p:sp>
      <p:sp>
        <p:nvSpPr>
          <p:cNvPr id="12" name="Text 9"/>
          <p:cNvSpPr txBox="1"/>
          <p:nvPr/>
        </p:nvSpPr>
        <p:spPr>
          <a:xfrm>
            <a:off x="950976" y="1700784"/>
            <a:ext cx="530352" cy="475488"/>
          </a:xfrm>
          <a:prstGeom prst="rect">
            <a:avLst/>
          </a:prstGeom>
          <a:noFill/>
          <a:ln/>
        </p:spPr>
        <p:txBody>
          <a:bodyPr wrap="square" lIns="0" tIns="0" rIns="0" bIns="0" rtlCol="0" anchor="t"/>
          <a:lstStyle/>
          <a:p>
            <a:pPr algn="l"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3" name="Text 10"/>
          <p:cNvSpPr txBox="1"/>
          <p:nvPr/>
        </p:nvSpPr>
        <p:spPr>
          <a:xfrm>
            <a:off x="1682496" y="1645920"/>
            <a:ext cx="9521647" cy="182880"/>
          </a:xfrm>
          <a:prstGeom prst="rect">
            <a:avLst/>
          </a:prstGeom>
          <a:noFill/>
          <a:ln/>
        </p:spPr>
        <p:txBody>
          <a:bodyPr wrap="square" lIns="0" tIns="0" rIns="0" bIns="0" rtlCol="0" anchor="t"/>
          <a:lstStyle/>
          <a:p>
            <a:pPr algn="l" indent="0" marL="0">
              <a:buNone/>
            </a:pPr>
            <a:r>
              <a:rPr lang="en-US" sz="880" b="1" spc="120" kern="0" dirty="0">
                <a:solidFill>
                  <a:srgbClr val="B3181E"/>
                </a:solidFill>
                <a:latin typeface="Aptos" pitchFamily="34" charset="0"/>
                <a:ea typeface="Aptos" pitchFamily="34" charset="-122"/>
                <a:cs typeface="Aptos" pitchFamily="34" charset="-120"/>
              </a:rPr>
              <a:t>EL INFORME NO CAMBIA NADA; LA DETECCIÓN, TAMPOCO</a:t>
            </a:r>
            <a:endParaRPr lang="en-US" sz="880" dirty="0"/>
          </a:p>
        </p:txBody>
      </p:sp>
      <p:sp>
        <p:nvSpPr>
          <p:cNvPr id="14" name="Text 11"/>
          <p:cNvSpPr txBox="1"/>
          <p:nvPr/>
        </p:nvSpPr>
        <p:spPr>
          <a:xfrm>
            <a:off x="1682496" y="1883664"/>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La cobertura sería idéntica: se recorren las mismas líneas. Y la aserción no puede fallar, porque compara el código consigo mismo: el defecto aparece en los dos lados.</a:t>
            </a:r>
            <a:endParaRPr lang="en-US" sz="1300" dirty="0"/>
          </a:p>
        </p:txBody>
      </p:sp>
      <p:sp>
        <p:nvSpPr>
          <p:cNvPr id="15" name="Shape 12"/>
          <p:cNvSpPr/>
          <p:nvPr/>
        </p:nvSpPr>
        <p:spPr>
          <a:xfrm>
            <a:off x="1682496" y="2432304"/>
            <a:ext cx="9521647" cy="0"/>
          </a:xfrm>
          <a:prstGeom prst="line">
            <a:avLst/>
          </a:prstGeom>
          <a:noFill/>
          <a:ln w="12700">
            <a:solidFill>
              <a:srgbClr val="D8CFC4"/>
            </a:solidFill>
            <a:prstDash val="solid"/>
            <a:headEnd type="none"/>
            <a:tailEnd type="none"/>
          </a:ln>
        </p:spPr>
      </p:sp>
      <p:sp>
        <p:nvSpPr>
          <p:cNvPr id="16" name="Text 13"/>
          <p:cNvSpPr txBox="1"/>
          <p:nvPr/>
        </p:nvSpPr>
        <p:spPr>
          <a:xfrm>
            <a:off x="1682496"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17" name="Text 14"/>
          <p:cNvSpPr txBox="1"/>
          <p:nvPr/>
        </p:nvSpPr>
        <p:spPr>
          <a:xfrm>
            <a:off x="1682496" y="2688336"/>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Que la herramienta no distingue una aserción real de una tautológica.</a:t>
            </a:r>
            <a:endParaRPr lang="en-US" sz="1060" dirty="0"/>
          </a:p>
        </p:txBody>
      </p:sp>
      <p:sp>
        <p:nvSpPr>
          <p:cNvPr id="18" name="Shape 15"/>
          <p:cNvSpPr/>
          <p:nvPr/>
        </p:nvSpPr>
        <p:spPr>
          <a:xfrm>
            <a:off x="6443320" y="2487168"/>
            <a:ext cx="0" cy="457200"/>
          </a:xfrm>
          <a:prstGeom prst="line">
            <a:avLst/>
          </a:prstGeom>
          <a:noFill/>
          <a:ln w="12700">
            <a:solidFill>
              <a:srgbClr val="D8CFC4"/>
            </a:solidFill>
            <a:prstDash val="solid"/>
            <a:headEnd type="none"/>
            <a:tailEnd type="none"/>
          </a:ln>
        </p:spPr>
      </p:sp>
      <p:sp>
        <p:nvSpPr>
          <p:cNvPr id="19" name="Text 16"/>
          <p:cNvSpPr txBox="1"/>
          <p:nvPr/>
        </p:nvSpPr>
        <p:spPr>
          <a:xfrm>
            <a:off x="6699352"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20" name="Text 17"/>
          <p:cNvSpPr txBox="1"/>
          <p:nvPr/>
        </p:nvSpPr>
        <p:spPr>
          <a:xfrm>
            <a:off x="6699352" y="2688336"/>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«Al menos algo comprueba, porque tiene un assert.»</a:t>
            </a:r>
            <a:endParaRPr lang="en-US" sz="1060" dirty="0"/>
          </a:p>
        </p:txBody>
      </p:sp>
      <p:sp>
        <p:nvSpPr>
          <p:cNvPr id="21" name="Shape 18"/>
          <p:cNvSpPr/>
          <p:nvPr/>
        </p:nvSpPr>
        <p:spPr>
          <a:xfrm>
            <a:off x="658368" y="3145536"/>
            <a:ext cx="10874959" cy="1536192"/>
          </a:xfrm>
          <a:prstGeom prst="rect">
            <a:avLst/>
          </a:prstGeom>
          <a:solidFill>
            <a:srgbClr val="FFFFFF"/>
          </a:solidFill>
          <a:ln w="12700">
            <a:solidFill>
              <a:srgbClr val="FFFFFF"/>
            </a:solidFill>
            <a:prstDash val="solid"/>
          </a:ln>
        </p:spPr>
      </p:sp>
      <p:sp>
        <p:nvSpPr>
          <p:cNvPr id="22" name="Shape 19"/>
          <p:cNvSpPr/>
          <p:nvPr/>
        </p:nvSpPr>
        <p:spPr>
          <a:xfrm>
            <a:off x="658368" y="3145536"/>
            <a:ext cx="54864" cy="1536192"/>
          </a:xfrm>
          <a:prstGeom prst="rect">
            <a:avLst/>
          </a:prstGeom>
          <a:solidFill>
            <a:srgbClr val="102A43"/>
          </a:solidFill>
          <a:ln w="12700">
            <a:solidFill>
              <a:srgbClr val="102A43"/>
            </a:solidFill>
            <a:prstDash val="solid"/>
          </a:ln>
        </p:spPr>
      </p:sp>
      <p:sp>
        <p:nvSpPr>
          <p:cNvPr id="23" name="Text 20"/>
          <p:cNvSpPr txBox="1"/>
          <p:nvPr/>
        </p:nvSpPr>
        <p:spPr>
          <a:xfrm>
            <a:off x="950976" y="3328416"/>
            <a:ext cx="530352" cy="475488"/>
          </a:xfrm>
          <a:prstGeom prst="rect">
            <a:avLst/>
          </a:prstGeom>
          <a:noFill/>
          <a:ln/>
        </p:spPr>
        <p:txBody>
          <a:bodyPr wrap="square" lIns="0" tIns="0" rIns="0" bIns="0" rtlCol="0" anchor="t"/>
          <a:lstStyle/>
          <a:p>
            <a:pPr algn="l"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682496" y="3273552"/>
            <a:ext cx="9521647" cy="182880"/>
          </a:xfrm>
          <a:prstGeom prst="rect">
            <a:avLst/>
          </a:prstGeom>
          <a:noFill/>
          <a:ln/>
        </p:spPr>
        <p:txBody>
          <a:bodyPr wrap="square" lIns="0" tIns="0" rIns="0" bIns="0" rtlCol="0" anchor="t"/>
          <a:lstStyle/>
          <a:p>
            <a:pPr algn="l" indent="0" marL="0">
              <a:buNone/>
            </a:pPr>
            <a:r>
              <a:rPr lang="en-US" sz="880" b="1" spc="120" kern="0" dirty="0">
                <a:solidFill>
                  <a:srgbClr val="102A43"/>
                </a:solidFill>
                <a:latin typeface="Aptos" pitchFamily="34" charset="0"/>
                <a:ea typeface="Aptos" pitchFamily="34" charset="-122"/>
                <a:cs typeface="Aptos" pitchFamily="34" charset="-120"/>
              </a:rPr>
              <a:t>QUE LA SUITE CREZCA EN RECORRIDO MÁS RÁPIDO QUE EN COMPROBACIONES</a:t>
            </a:r>
            <a:endParaRPr lang="en-US" sz="880" dirty="0"/>
          </a:p>
        </p:txBody>
      </p:sp>
      <p:sp>
        <p:nvSpPr>
          <p:cNvPr id="25" name="Text 22"/>
          <p:cNvSpPr txBox="1"/>
          <p:nvPr/>
        </p:nvSpPr>
        <p:spPr>
          <a:xfrm>
            <a:off x="1682496" y="3511296"/>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Si las pruebas que se van agregando ejecutan mucho código y afirman poco, cada punto de cobertura nuevo trae menos capacidad de detección que el anterior.</a:t>
            </a:r>
            <a:endParaRPr lang="en-US" sz="1300" dirty="0"/>
          </a:p>
        </p:txBody>
      </p:sp>
      <p:sp>
        <p:nvSpPr>
          <p:cNvPr id="26" name="Shape 23"/>
          <p:cNvSpPr/>
          <p:nvPr/>
        </p:nvSpPr>
        <p:spPr>
          <a:xfrm>
            <a:off x="1682496" y="4059936"/>
            <a:ext cx="9521647" cy="0"/>
          </a:xfrm>
          <a:prstGeom prst="line">
            <a:avLst/>
          </a:prstGeom>
          <a:noFill/>
          <a:ln w="12700">
            <a:solidFill>
              <a:srgbClr val="D8CFC4"/>
            </a:solidFill>
            <a:prstDash val="solid"/>
            <a:headEnd type="none"/>
            <a:tailEnd type="none"/>
          </a:ln>
        </p:spPr>
      </p:sp>
      <p:sp>
        <p:nvSpPr>
          <p:cNvPr id="27" name="Text 24"/>
          <p:cNvSpPr txBox="1"/>
          <p:nvPr/>
        </p:nvSpPr>
        <p:spPr>
          <a:xfrm>
            <a:off x="1682496"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28" name="Text 25"/>
          <p:cNvSpPr txBox="1"/>
          <p:nvPr/>
        </p:nvSpPr>
        <p:spPr>
          <a:xfrm>
            <a:off x="1682496" y="4315968"/>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La cobertura puede subir mientras la calidad de la evidencia baja.</a:t>
            </a:r>
            <a:endParaRPr lang="en-US" sz="1060" dirty="0"/>
          </a:p>
        </p:txBody>
      </p:sp>
      <p:sp>
        <p:nvSpPr>
          <p:cNvPr id="29" name="Shape 26"/>
          <p:cNvSpPr/>
          <p:nvPr/>
        </p:nvSpPr>
        <p:spPr>
          <a:xfrm>
            <a:off x="6443320" y="4114800"/>
            <a:ext cx="0" cy="457200"/>
          </a:xfrm>
          <a:prstGeom prst="line">
            <a:avLst/>
          </a:prstGeom>
          <a:noFill/>
          <a:ln w="12700">
            <a:solidFill>
              <a:srgbClr val="D8CFC4"/>
            </a:solidFill>
            <a:prstDash val="solid"/>
            <a:headEnd type="none"/>
            <a:tailEnd type="none"/>
          </a:ln>
        </p:spPr>
      </p:sp>
      <p:sp>
        <p:nvSpPr>
          <p:cNvPr id="30" name="Text 27"/>
          <p:cNvSpPr txBox="1"/>
          <p:nvPr/>
        </p:nvSpPr>
        <p:spPr>
          <a:xfrm>
            <a:off x="6699352"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31" name="Text 28"/>
          <p:cNvSpPr txBox="1"/>
          <p:nvPr/>
        </p:nvSpPr>
        <p:spPr>
          <a:xfrm>
            <a:off x="6699352" y="4315968"/>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«Es imposible: más pruebas siempre detectan más.»</a:t>
            </a:r>
            <a:endParaRPr lang="en-US" sz="1060" dirty="0"/>
          </a:p>
        </p:txBody>
      </p:sp>
      <p:sp>
        <p:nvSpPr>
          <p:cNvPr id="32" name="Shape 29"/>
          <p:cNvSpPr/>
          <p:nvPr/>
        </p:nvSpPr>
        <p:spPr>
          <a:xfrm>
            <a:off x="658368" y="4773168"/>
            <a:ext cx="10874959" cy="1536192"/>
          </a:xfrm>
          <a:prstGeom prst="rect">
            <a:avLst/>
          </a:prstGeom>
          <a:solidFill>
            <a:srgbClr val="FFFFFF"/>
          </a:solidFill>
          <a:ln w="12700">
            <a:solidFill>
              <a:srgbClr val="FFFFFF"/>
            </a:solidFill>
            <a:prstDash val="solid"/>
          </a:ln>
        </p:spPr>
      </p:sp>
      <p:sp>
        <p:nvSpPr>
          <p:cNvPr id="33" name="Shape 30"/>
          <p:cNvSpPr/>
          <p:nvPr/>
        </p:nvSpPr>
        <p:spPr>
          <a:xfrm>
            <a:off x="658368" y="4773168"/>
            <a:ext cx="54864" cy="1536192"/>
          </a:xfrm>
          <a:prstGeom prst="rect">
            <a:avLst/>
          </a:prstGeom>
          <a:solidFill>
            <a:srgbClr val="8A6A12"/>
          </a:solidFill>
          <a:ln w="12700">
            <a:solidFill>
              <a:srgbClr val="8A6A12"/>
            </a:solidFill>
            <a:prstDash val="solid"/>
          </a:ln>
        </p:spPr>
      </p:sp>
      <p:sp>
        <p:nvSpPr>
          <p:cNvPr id="34" name="Text 31"/>
          <p:cNvSpPr txBox="1"/>
          <p:nvPr/>
        </p:nvSpPr>
        <p:spPr>
          <a:xfrm>
            <a:off x="950976" y="4956048"/>
            <a:ext cx="530352" cy="475488"/>
          </a:xfrm>
          <a:prstGeom prst="rect">
            <a:avLst/>
          </a:prstGeom>
          <a:noFill/>
          <a:ln/>
        </p:spPr>
        <p:txBody>
          <a:bodyPr wrap="square" lIns="0" tIns="0" rIns="0" bIns="0" rtlCol="0" anchor="t"/>
          <a:lstStyle/>
          <a:p>
            <a:pPr algn="l"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5" name="Text 32"/>
          <p:cNvSpPr txBox="1"/>
          <p:nvPr/>
        </p:nvSpPr>
        <p:spPr>
          <a:xfrm>
            <a:off x="1682496" y="4901184"/>
            <a:ext cx="9521647" cy="182880"/>
          </a:xfrm>
          <a:prstGeom prst="rect">
            <a:avLst/>
          </a:prstGeom>
          <a:noFill/>
          <a:ln/>
        </p:spPr>
        <p:txBody>
          <a:bodyPr wrap="square" lIns="0" tIns="0" rIns="0" bIns="0" rtlCol="0" anchor="t"/>
          <a:lstStyle/>
          <a:p>
            <a:pPr algn="l" indent="0" marL="0">
              <a:buNone/>
            </a:pPr>
            <a:r>
              <a:rPr lang="en-US" sz="880" b="1" spc="120" kern="0" dirty="0">
                <a:solidFill>
                  <a:srgbClr val="8A6A12"/>
                </a:solidFill>
                <a:latin typeface="Aptos" pitchFamily="34" charset="0"/>
                <a:ea typeface="Aptos" pitchFamily="34" charset="-122"/>
                <a:cs typeface="Aptos" pitchFamily="34" charset="-120"/>
              </a:rPr>
              <a:t>PORQUE CUALQUIER NÚMERO FIJADO COMO META SE ALCANZA POR EL CAMINO MÁS BARATO</a:t>
            </a:r>
            <a:endParaRPr lang="en-US" sz="880" dirty="0"/>
          </a:p>
        </p:txBody>
      </p:sp>
      <p:sp>
        <p:nvSpPr>
          <p:cNvPr id="36" name="Text 33"/>
          <p:cNvSpPr txBox="1"/>
          <p:nvPr/>
        </p:nvSpPr>
        <p:spPr>
          <a:xfrm>
            <a:off x="1682496" y="5138928"/>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Se pueden agregar aserciones triviales o repetidas igual que se pueden agregar líneas recorridas. El problema no era la cobertura: era convertir una medición en un objetivo.</a:t>
            </a:r>
            <a:endParaRPr lang="en-US" sz="1300" dirty="0"/>
          </a:p>
        </p:txBody>
      </p:sp>
      <p:sp>
        <p:nvSpPr>
          <p:cNvPr id="37" name="Shape 34"/>
          <p:cNvSpPr/>
          <p:nvPr/>
        </p:nvSpPr>
        <p:spPr>
          <a:xfrm>
            <a:off x="1682496" y="5687568"/>
            <a:ext cx="9521647" cy="0"/>
          </a:xfrm>
          <a:prstGeom prst="line">
            <a:avLst/>
          </a:prstGeom>
          <a:noFill/>
          <a:ln w="12700">
            <a:solidFill>
              <a:srgbClr val="D8CFC4"/>
            </a:solidFill>
            <a:prstDash val="solid"/>
            <a:headEnd type="none"/>
            <a:tailEnd type="none"/>
          </a:ln>
        </p:spPr>
      </p:sp>
      <p:sp>
        <p:nvSpPr>
          <p:cNvPr id="38" name="Text 35"/>
          <p:cNvSpPr txBox="1"/>
          <p:nvPr/>
        </p:nvSpPr>
        <p:spPr>
          <a:xfrm>
            <a:off x="1682496"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39" name="Text 36"/>
          <p:cNvSpPr txBox="1"/>
          <p:nvPr/>
        </p:nvSpPr>
        <p:spPr>
          <a:xfrm>
            <a:off x="1682496" y="5943600"/>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Ningún indicador sobrevive a ser usado como meta obligatoria.</a:t>
            </a:r>
            <a:endParaRPr lang="en-US" sz="1060" dirty="0"/>
          </a:p>
        </p:txBody>
      </p:sp>
      <p:sp>
        <p:nvSpPr>
          <p:cNvPr id="40" name="Shape 37"/>
          <p:cNvSpPr/>
          <p:nvPr/>
        </p:nvSpPr>
        <p:spPr>
          <a:xfrm>
            <a:off x="6443320" y="5742432"/>
            <a:ext cx="0" cy="457200"/>
          </a:xfrm>
          <a:prstGeom prst="line">
            <a:avLst/>
          </a:prstGeom>
          <a:noFill/>
          <a:ln w="12700">
            <a:solidFill>
              <a:srgbClr val="D8CFC4"/>
            </a:solidFill>
            <a:prstDash val="solid"/>
            <a:headEnd type="none"/>
            <a:tailEnd type="none"/>
          </a:ln>
        </p:spPr>
      </p:sp>
      <p:sp>
        <p:nvSpPr>
          <p:cNvPr id="41" name="Text 38"/>
          <p:cNvSpPr txBox="1"/>
          <p:nvPr/>
        </p:nvSpPr>
        <p:spPr>
          <a:xfrm>
            <a:off x="6699352"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42" name="Text 39"/>
          <p:cNvSpPr txBox="1"/>
          <p:nvPr/>
        </p:nvSpPr>
        <p:spPr>
          <a:xfrm>
            <a:off x="6699352" y="5943600"/>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«Esa sí serviría, porque las aserciones sí comprueban.»</a:t>
            </a:r>
            <a:endParaRPr lang="en-US" sz="106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48</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3 DE 4</a:t>
            </a:r>
            <a:endParaRPr lang="en-US" sz="960" dirty="0"/>
          </a:p>
        </p:txBody>
      </p:sp>
      <p:sp>
        <p:nvSpPr>
          <p:cNvPr id="9" name="Text 6"/>
          <p:cNvSpPr txBox="1"/>
          <p:nvPr/>
        </p:nvSpPr>
        <p:spPr>
          <a:xfrm>
            <a:off x="658368" y="1920240"/>
            <a:ext cx="9692640" cy="1133856"/>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El sustituto que ocupa</a:t>
            </a:r>
            <a:endParaRPr lang="en-US" sz="4000" dirty="0"/>
          </a:p>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el lugar de la dependencia</a:t>
            </a:r>
            <a:endParaRPr lang="en-US" sz="4000" dirty="0"/>
          </a:p>
        </p:txBody>
      </p:sp>
      <p:sp>
        <p:nvSpPr>
          <p:cNvPr id="10" name="Shape 7"/>
          <p:cNvSpPr/>
          <p:nvPr/>
        </p:nvSpPr>
        <p:spPr>
          <a:xfrm>
            <a:off x="658368" y="321868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47472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Para probar lo que hace el sistema cuando el correo falla hay que poder hacerlo fallar. Y el correo institucional no falla a pedido.</a:t>
            </a:r>
            <a:endParaRPr lang="en-US" sz="1700" dirty="0"/>
          </a:p>
        </p:txBody>
      </p:sp>
      <p:sp>
        <p:nvSpPr>
          <p:cNvPr id="12" name="Text 9"/>
          <p:cNvSpPr txBox="1"/>
          <p:nvPr/>
        </p:nvSpPr>
        <p:spPr>
          <a:xfrm>
            <a:off x="658368" y="4846320"/>
            <a:ext cx="54864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QUÉ PREGUNTA INTERROGA ESTE BLOQUE</a:t>
            </a:r>
            <a:endParaRPr lang="en-US" sz="960" dirty="0"/>
          </a:p>
        </p:txBody>
      </p:sp>
      <p:sp>
        <p:nvSpPr>
          <p:cNvPr id="13" name="Shape 10"/>
          <p:cNvSpPr/>
          <p:nvPr/>
        </p:nvSpPr>
        <p:spPr>
          <a:xfrm>
            <a:off x="658368" y="5120640"/>
            <a:ext cx="3493008" cy="566928"/>
          </a:xfrm>
          <a:prstGeom prst="rect">
            <a:avLst/>
          </a:prstGeom>
          <a:solidFill>
            <a:srgbClr val="1D3A57"/>
          </a:solidFill>
          <a:ln w="12700">
            <a:solidFill>
              <a:srgbClr val="1D3A57"/>
            </a:solidFill>
            <a:prstDash val="solid"/>
          </a:ln>
        </p:spPr>
      </p:sp>
      <p:sp>
        <p:nvSpPr>
          <p:cNvPr id="14" name="Text 11"/>
          <p:cNvSpPr txBox="1"/>
          <p:nvPr/>
        </p:nvSpPr>
        <p:spPr>
          <a:xfrm>
            <a:off x="841248" y="5184648"/>
            <a:ext cx="3127248" cy="237744"/>
          </a:xfrm>
          <a:prstGeom prst="rect">
            <a:avLst/>
          </a:prstGeom>
          <a:noFill/>
          <a:ln/>
        </p:spPr>
        <p:txBody>
          <a:bodyPr wrap="square" lIns="0" tIns="0" rIns="0" bIns="0" rtlCol="0" anchor="t"/>
          <a:lstStyle/>
          <a:p>
            <a:pPr algn="l" indent="0" marL="0">
              <a:buNone/>
            </a:pPr>
            <a:r>
              <a:rPr lang="en-US" sz="1160" b="1" dirty="0">
                <a:solidFill>
                  <a:srgbClr val="EADFD0"/>
                </a:solidFill>
                <a:latin typeface="Aptos" pitchFamily="34" charset="0"/>
                <a:ea typeface="Aptos" pitchFamily="34" charset="-122"/>
                <a:cs typeface="Aptos" pitchFamily="34" charset="-120"/>
              </a:rPr>
              <a:t>¿Qué recorrió?</a:t>
            </a:r>
            <a:endParaRPr lang="en-US" sz="1160" dirty="0"/>
          </a:p>
        </p:txBody>
      </p:sp>
      <p:sp>
        <p:nvSpPr>
          <p:cNvPr id="15" name="Text 12"/>
          <p:cNvSpPr txBox="1"/>
          <p:nvPr/>
        </p:nvSpPr>
        <p:spPr>
          <a:xfrm>
            <a:off x="841248" y="5431536"/>
            <a:ext cx="3127248" cy="201168"/>
          </a:xfrm>
          <a:prstGeom prst="rect">
            <a:avLst/>
          </a:prstGeom>
          <a:noFill/>
          <a:ln/>
        </p:spPr>
        <p:txBody>
          <a:bodyPr wrap="square" lIns="0" tIns="0" rIns="0" bIns="0" rtlCol="0" anchor="t"/>
          <a:lstStyle/>
          <a:p>
            <a:pPr algn="l" indent="0" marL="0">
              <a:buNone/>
            </a:pPr>
            <a:r>
              <a:rPr lang="en-US" sz="980" dirty="0">
                <a:solidFill>
                  <a:srgbClr val="8AA0B6"/>
                </a:solidFill>
                <a:latin typeface="Aptos" pitchFamily="34" charset="0"/>
                <a:ea typeface="Aptos" pitchFamily="34" charset="-122"/>
                <a:cs typeface="Aptos" pitchFamily="34" charset="-120"/>
              </a:rPr>
              <a:t>La cobertura lo mide</a:t>
            </a:r>
            <a:endParaRPr lang="en-US" sz="980" dirty="0"/>
          </a:p>
        </p:txBody>
      </p:sp>
      <p:sp>
        <p:nvSpPr>
          <p:cNvPr id="16" name="Shape 13"/>
          <p:cNvSpPr/>
          <p:nvPr/>
        </p:nvSpPr>
        <p:spPr>
          <a:xfrm>
            <a:off x="4206240" y="5404104"/>
            <a:ext cx="219456" cy="0"/>
          </a:xfrm>
          <a:prstGeom prst="line">
            <a:avLst/>
          </a:prstGeom>
          <a:noFill/>
          <a:ln w="12700">
            <a:solidFill>
              <a:srgbClr val="EADFD0"/>
            </a:solidFill>
            <a:prstDash val="solid"/>
            <a:headEnd type="none"/>
            <a:tailEnd type="triangle"/>
          </a:ln>
        </p:spPr>
      </p:sp>
      <p:sp>
        <p:nvSpPr>
          <p:cNvPr id="17" name="Shape 14"/>
          <p:cNvSpPr/>
          <p:nvPr/>
        </p:nvSpPr>
        <p:spPr>
          <a:xfrm>
            <a:off x="4480560" y="5120640"/>
            <a:ext cx="3493008" cy="566928"/>
          </a:xfrm>
          <a:prstGeom prst="rect">
            <a:avLst/>
          </a:prstGeom>
          <a:solidFill>
            <a:srgbClr val="1D3A57"/>
          </a:solidFill>
          <a:ln w="12700">
            <a:solidFill>
              <a:srgbClr val="1D3A57"/>
            </a:solidFill>
            <a:prstDash val="solid"/>
          </a:ln>
        </p:spPr>
      </p:sp>
      <p:sp>
        <p:nvSpPr>
          <p:cNvPr id="18" name="Text 15"/>
          <p:cNvSpPr txBox="1"/>
          <p:nvPr/>
        </p:nvSpPr>
        <p:spPr>
          <a:xfrm>
            <a:off x="4663440" y="5184648"/>
            <a:ext cx="3127248" cy="237744"/>
          </a:xfrm>
          <a:prstGeom prst="rect">
            <a:avLst/>
          </a:prstGeom>
          <a:noFill/>
          <a:ln/>
        </p:spPr>
        <p:txBody>
          <a:bodyPr wrap="square" lIns="0" tIns="0" rIns="0" bIns="0" rtlCol="0" anchor="t"/>
          <a:lstStyle/>
          <a:p>
            <a:pPr algn="l" indent="0" marL="0">
              <a:buNone/>
            </a:pPr>
            <a:r>
              <a:rPr lang="en-US" sz="1160" b="1" dirty="0">
                <a:solidFill>
                  <a:srgbClr val="EADFD0"/>
                </a:solidFill>
                <a:latin typeface="Aptos" pitchFamily="34" charset="0"/>
                <a:ea typeface="Aptos" pitchFamily="34" charset="-122"/>
                <a:cs typeface="Aptos" pitchFamily="34" charset="-120"/>
              </a:rPr>
              <a:t>¿Qué comprobó?</a:t>
            </a:r>
            <a:endParaRPr lang="en-US" sz="1160" dirty="0"/>
          </a:p>
        </p:txBody>
      </p:sp>
      <p:sp>
        <p:nvSpPr>
          <p:cNvPr id="19" name="Text 16"/>
          <p:cNvSpPr txBox="1"/>
          <p:nvPr/>
        </p:nvSpPr>
        <p:spPr>
          <a:xfrm>
            <a:off x="4663440" y="5431536"/>
            <a:ext cx="3127248" cy="201168"/>
          </a:xfrm>
          <a:prstGeom prst="rect">
            <a:avLst/>
          </a:prstGeom>
          <a:noFill/>
          <a:ln/>
        </p:spPr>
        <p:txBody>
          <a:bodyPr wrap="square" lIns="0" tIns="0" rIns="0" bIns="0" rtlCol="0" anchor="t"/>
          <a:lstStyle/>
          <a:p>
            <a:pPr algn="l" indent="0" marL="0">
              <a:buNone/>
            </a:pPr>
            <a:r>
              <a:rPr lang="en-US" sz="980" dirty="0">
                <a:solidFill>
                  <a:srgbClr val="8AA0B6"/>
                </a:solidFill>
                <a:latin typeface="Aptos" pitchFamily="34" charset="0"/>
                <a:ea typeface="Aptos" pitchFamily="34" charset="-122"/>
                <a:cs typeface="Aptos" pitchFamily="34" charset="-120"/>
              </a:rPr>
              <a:t>Solo la aserción lo dice</a:t>
            </a:r>
            <a:endParaRPr lang="en-US" sz="980" dirty="0"/>
          </a:p>
        </p:txBody>
      </p:sp>
      <p:sp>
        <p:nvSpPr>
          <p:cNvPr id="20" name="Shape 17"/>
          <p:cNvSpPr/>
          <p:nvPr/>
        </p:nvSpPr>
        <p:spPr>
          <a:xfrm>
            <a:off x="8028432" y="5404104"/>
            <a:ext cx="219456" cy="0"/>
          </a:xfrm>
          <a:prstGeom prst="line">
            <a:avLst/>
          </a:prstGeom>
          <a:noFill/>
          <a:ln w="12700">
            <a:solidFill>
              <a:srgbClr val="EADFD0"/>
            </a:solidFill>
            <a:prstDash val="solid"/>
            <a:headEnd type="none"/>
            <a:tailEnd type="triangle"/>
          </a:ln>
        </p:spPr>
      </p:sp>
      <p:sp>
        <p:nvSpPr>
          <p:cNvPr id="21" name="Shape 18"/>
          <p:cNvSpPr/>
          <p:nvPr/>
        </p:nvSpPr>
        <p:spPr>
          <a:xfrm>
            <a:off x="8302752" y="5120640"/>
            <a:ext cx="3493008" cy="566928"/>
          </a:xfrm>
          <a:prstGeom prst="rect">
            <a:avLst/>
          </a:prstGeom>
          <a:solidFill>
            <a:srgbClr val="E0BC5A"/>
          </a:solidFill>
          <a:ln w="12700">
            <a:solidFill>
              <a:srgbClr val="E0BC5A"/>
            </a:solidFill>
            <a:prstDash val="solid"/>
          </a:ln>
        </p:spPr>
      </p:sp>
      <p:sp>
        <p:nvSpPr>
          <p:cNvPr id="22" name="Text 19"/>
          <p:cNvSpPr txBox="1"/>
          <p:nvPr/>
        </p:nvSpPr>
        <p:spPr>
          <a:xfrm>
            <a:off x="8485632" y="5184648"/>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¿Contra qué?</a:t>
            </a:r>
            <a:endParaRPr lang="en-US" sz="1300" dirty="0"/>
          </a:p>
        </p:txBody>
      </p:sp>
      <p:sp>
        <p:nvSpPr>
          <p:cNvPr id="23" name="Text 20"/>
          <p:cNvSpPr txBox="1"/>
          <p:nvPr/>
        </p:nvSpPr>
        <p:spPr>
          <a:xfrm>
            <a:off x="8485632" y="5431536"/>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El requisito, o un supuesto</a:t>
            </a:r>
            <a:endParaRPr lang="en-US" sz="9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MECANISMO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función a llamar entra por un parámetro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Esa es la pieza que hace posible todo lo que sigue. Sin ella no habría por dónde meter un sustituto.</a:t>
            </a:r>
            <a:endParaRPr lang="en-US" sz="1450" dirty="0"/>
          </a:p>
        </p:txBody>
      </p:sp>
      <p:sp>
        <p:nvSpPr>
          <p:cNvPr id="11" name="Shape 8"/>
          <p:cNvSpPr/>
          <p:nvPr/>
        </p:nvSpPr>
        <p:spPr>
          <a:xfrm>
            <a:off x="658368" y="2286000"/>
            <a:ext cx="6492240" cy="1792224"/>
          </a:xfrm>
          <a:prstGeom prst="roundRect">
            <a:avLst>
              <a:gd name="adj" fmla="val 2041"/>
            </a:avLst>
          </a:prstGeom>
          <a:solidFill>
            <a:srgbClr val="102A43"/>
          </a:solidFill>
          <a:ln w="12700">
            <a:solidFill>
              <a:srgbClr val="102A43"/>
            </a:solidFill>
            <a:prstDash val="solid"/>
          </a:ln>
        </p:spPr>
      </p:sp>
      <p:sp>
        <p:nvSpPr>
          <p:cNvPr id="12" name="Shape 9"/>
          <p:cNvSpPr/>
          <p:nvPr/>
        </p:nvSpPr>
        <p:spPr>
          <a:xfrm>
            <a:off x="786384" y="2395728"/>
            <a:ext cx="62362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confirmacion.py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6071616" cy="1042416"/>
          </a:xfrm>
          <a:prstGeom prst="rect">
            <a:avLst/>
          </a:prstGeom>
        </p:spPr>
      </p:pic>
      <p:sp>
        <p:nvSpPr>
          <p:cNvPr id="15" name="Shape 11"/>
          <p:cNvSpPr/>
          <p:nvPr/>
        </p:nvSpPr>
        <p:spPr>
          <a:xfrm>
            <a:off x="658368" y="4224528"/>
            <a:ext cx="10874959" cy="438912"/>
          </a:xfrm>
          <a:prstGeom prst="rect">
            <a:avLst/>
          </a:prstGeom>
          <a:solidFill>
            <a:srgbClr val="FFFFFF"/>
          </a:solidFill>
          <a:ln w="12700">
            <a:solidFill>
              <a:srgbClr val="FFFFFF"/>
            </a:solidFill>
            <a:prstDash val="solid"/>
          </a:ln>
        </p:spPr>
      </p:sp>
      <p:sp>
        <p:nvSpPr>
          <p:cNvPr id="16" name="Shape 12"/>
          <p:cNvSpPr/>
          <p:nvPr/>
        </p:nvSpPr>
        <p:spPr>
          <a:xfrm>
            <a:off x="658368" y="4224528"/>
            <a:ext cx="45720" cy="438912"/>
          </a:xfrm>
          <a:prstGeom prst="rect">
            <a:avLst/>
          </a:prstGeom>
          <a:solidFill>
            <a:srgbClr val="102A43"/>
          </a:solidFill>
          <a:ln w="12700">
            <a:solidFill>
              <a:srgbClr val="102A43"/>
            </a:solidFill>
            <a:prstDash val="solid"/>
          </a:ln>
        </p:spPr>
      </p:sp>
      <p:sp>
        <p:nvSpPr>
          <p:cNvPr id="17" name="Text 13"/>
          <p:cNvSpPr txBox="1"/>
          <p:nvPr/>
        </p:nvSpPr>
        <p:spPr>
          <a:xfrm>
            <a:off x="877824" y="4251960"/>
            <a:ext cx="3200400" cy="384048"/>
          </a:xfrm>
          <a:prstGeom prst="rect">
            <a:avLst/>
          </a:prstGeom>
          <a:noFill/>
          <a:ln/>
        </p:spPr>
        <p:txBody>
          <a:bodyPr wrap="square" lIns="0" tIns="0" rIns="0" bIns="0" rtlCol="0" anchor="ctr"/>
          <a:lstStyle/>
          <a:p>
            <a:pPr algn="l" indent="0" marL="0">
              <a:buNone/>
            </a:pPr>
            <a:r>
              <a:rPr lang="en-US" sz="1060" b="1" dirty="0">
                <a:solidFill>
                  <a:srgbClr val="102A43"/>
                </a:solidFill>
                <a:latin typeface="Consolas" pitchFamily="34" charset="0"/>
                <a:ea typeface="Consolas" pitchFamily="34" charset="-122"/>
                <a:cs typeface="Consolas" pitchFamily="34" charset="-120"/>
              </a:rPr>
              <a:t>enviar</a:t>
            </a:r>
            <a:endParaRPr lang="en-US" sz="1060" dirty="0"/>
          </a:p>
        </p:txBody>
      </p:sp>
      <p:sp>
        <p:nvSpPr>
          <p:cNvPr id="18" name="Text 14"/>
          <p:cNvSpPr txBox="1"/>
          <p:nvPr/>
        </p:nvSpPr>
        <p:spPr>
          <a:xfrm>
            <a:off x="4224528" y="4251960"/>
            <a:ext cx="703447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Un parámetro más. Pero lo que recibe no es un dato: es UNA FUNCIÓN.</a:t>
            </a:r>
            <a:endParaRPr lang="en-US" sz="1180" dirty="0"/>
          </a:p>
        </p:txBody>
      </p:sp>
      <p:sp>
        <p:nvSpPr>
          <p:cNvPr id="19" name="Shape 15"/>
          <p:cNvSpPr/>
          <p:nvPr/>
        </p:nvSpPr>
        <p:spPr>
          <a:xfrm>
            <a:off x="658368" y="4736592"/>
            <a:ext cx="10874959" cy="438912"/>
          </a:xfrm>
          <a:prstGeom prst="rect">
            <a:avLst/>
          </a:prstGeom>
          <a:solidFill>
            <a:srgbClr val="EDE6DA"/>
          </a:solidFill>
          <a:ln w="12700">
            <a:solidFill>
              <a:srgbClr val="EDE6DA"/>
            </a:solidFill>
            <a:prstDash val="solid"/>
          </a:ln>
        </p:spPr>
      </p:sp>
      <p:sp>
        <p:nvSpPr>
          <p:cNvPr id="20" name="Shape 16"/>
          <p:cNvSpPr/>
          <p:nvPr/>
        </p:nvSpPr>
        <p:spPr>
          <a:xfrm>
            <a:off x="658368" y="4736592"/>
            <a:ext cx="45720" cy="438912"/>
          </a:xfrm>
          <a:prstGeom prst="rect">
            <a:avLst/>
          </a:prstGeom>
          <a:solidFill>
            <a:srgbClr val="102A43"/>
          </a:solidFill>
          <a:ln w="12700">
            <a:solidFill>
              <a:srgbClr val="102A43"/>
            </a:solidFill>
            <a:prstDash val="solid"/>
          </a:ln>
        </p:spPr>
      </p:sp>
      <p:sp>
        <p:nvSpPr>
          <p:cNvPr id="21" name="Text 17"/>
          <p:cNvSpPr txBox="1"/>
          <p:nvPr/>
        </p:nvSpPr>
        <p:spPr>
          <a:xfrm>
            <a:off x="877824" y="4764024"/>
            <a:ext cx="3200400" cy="384048"/>
          </a:xfrm>
          <a:prstGeom prst="rect">
            <a:avLst/>
          </a:prstGeom>
          <a:noFill/>
          <a:ln/>
        </p:spPr>
        <p:txBody>
          <a:bodyPr wrap="square" lIns="0" tIns="0" rIns="0" bIns="0" rtlCol="0" anchor="ctr"/>
          <a:lstStyle/>
          <a:p>
            <a:pPr algn="l" indent="0" marL="0">
              <a:buNone/>
            </a:pPr>
            <a:r>
              <a:rPr lang="en-US" sz="1060" b="1" dirty="0">
                <a:solidFill>
                  <a:srgbClr val="102A43"/>
                </a:solidFill>
                <a:latin typeface="Consolas" pitchFamily="34" charset="0"/>
                <a:ea typeface="Consolas" pitchFamily="34" charset="-122"/>
                <a:cs typeface="Consolas" pitchFamily="34" charset="-120"/>
              </a:rPr>
              <a:t>Callable[[str, str], bool]</a:t>
            </a:r>
            <a:endParaRPr lang="en-US" sz="1060" dirty="0"/>
          </a:p>
        </p:txBody>
      </p:sp>
      <p:sp>
        <p:nvSpPr>
          <p:cNvPr id="22" name="Text 18"/>
          <p:cNvSpPr txBox="1"/>
          <p:nvPr/>
        </p:nvSpPr>
        <p:spPr>
          <a:xfrm>
            <a:off x="4224528" y="4764024"/>
            <a:ext cx="703447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«Algo que se puede llamar, recibe dos cadenas y devuelve un booleano».</a:t>
            </a:r>
            <a:endParaRPr lang="en-US" sz="1180" dirty="0"/>
          </a:p>
        </p:txBody>
      </p:sp>
      <p:sp>
        <p:nvSpPr>
          <p:cNvPr id="23" name="Shape 19"/>
          <p:cNvSpPr/>
          <p:nvPr/>
        </p:nvSpPr>
        <p:spPr>
          <a:xfrm>
            <a:off x="658368" y="5248656"/>
            <a:ext cx="10874959" cy="438912"/>
          </a:xfrm>
          <a:prstGeom prst="rect">
            <a:avLst/>
          </a:prstGeom>
          <a:solidFill>
            <a:srgbClr val="FFFFFF"/>
          </a:solidFill>
          <a:ln w="12700">
            <a:solidFill>
              <a:srgbClr val="FFFFFF"/>
            </a:solidFill>
            <a:prstDash val="solid"/>
          </a:ln>
        </p:spPr>
      </p:sp>
      <p:sp>
        <p:nvSpPr>
          <p:cNvPr id="24" name="Shape 20"/>
          <p:cNvSpPr/>
          <p:nvPr/>
        </p:nvSpPr>
        <p:spPr>
          <a:xfrm>
            <a:off x="658368" y="5248656"/>
            <a:ext cx="45720" cy="438912"/>
          </a:xfrm>
          <a:prstGeom prst="rect">
            <a:avLst/>
          </a:prstGeom>
          <a:solidFill>
            <a:srgbClr val="2E7D4F"/>
          </a:solidFill>
          <a:ln w="12700">
            <a:solidFill>
              <a:srgbClr val="2E7D4F"/>
            </a:solidFill>
            <a:prstDash val="solid"/>
          </a:ln>
        </p:spPr>
      </p:sp>
      <p:sp>
        <p:nvSpPr>
          <p:cNvPr id="25" name="Text 21"/>
          <p:cNvSpPr txBox="1"/>
          <p:nvPr/>
        </p:nvSpPr>
        <p:spPr>
          <a:xfrm>
            <a:off x="877824" y="5276088"/>
            <a:ext cx="3200400" cy="384048"/>
          </a:xfrm>
          <a:prstGeom prst="rect">
            <a:avLst/>
          </a:prstGeom>
          <a:noFill/>
          <a:ln/>
        </p:spPr>
        <p:txBody>
          <a:bodyPr wrap="square" lIns="0" tIns="0" rIns="0" bIns="0" rtlCol="0" anchor="ctr"/>
          <a:lstStyle/>
          <a:p>
            <a:pPr algn="l" indent="0" marL="0">
              <a:buNone/>
            </a:pPr>
            <a:r>
              <a:rPr lang="en-US" sz="1060" b="1" dirty="0">
                <a:solidFill>
                  <a:srgbClr val="2E7D4F"/>
                </a:solidFill>
                <a:latin typeface="Consolas" pitchFamily="34" charset="0"/>
                <a:ea typeface="Consolas" pitchFamily="34" charset="-122"/>
                <a:cs typeface="Consolas" pitchFamily="34" charset="-120"/>
              </a:rPr>
              <a:t>= enviar_confirmacion</a:t>
            </a:r>
            <a:endParaRPr lang="en-US" sz="1060" dirty="0"/>
          </a:p>
        </p:txBody>
      </p:sp>
      <p:sp>
        <p:nvSpPr>
          <p:cNvPr id="26" name="Text 22"/>
          <p:cNvSpPr txBox="1"/>
          <p:nvPr/>
        </p:nvSpPr>
        <p:spPr>
          <a:xfrm>
            <a:off x="4224528" y="5276088"/>
            <a:ext cx="703447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El valor por omisión: si nadie pasa nada, se usa el servicio real.</a:t>
            </a:r>
            <a:endParaRPr lang="en-US" sz="1180" dirty="0"/>
          </a:p>
        </p:txBody>
      </p:sp>
      <p:sp>
        <p:nvSpPr>
          <p:cNvPr id="27" name="Shape 23"/>
          <p:cNvSpPr/>
          <p:nvPr/>
        </p:nvSpPr>
        <p:spPr>
          <a:xfrm>
            <a:off x="658368" y="5760720"/>
            <a:ext cx="10874959" cy="438912"/>
          </a:xfrm>
          <a:prstGeom prst="rect">
            <a:avLst/>
          </a:prstGeom>
          <a:solidFill>
            <a:srgbClr val="EDE6DA"/>
          </a:solidFill>
          <a:ln w="12700">
            <a:solidFill>
              <a:srgbClr val="EDE6DA"/>
            </a:solidFill>
            <a:prstDash val="solid"/>
          </a:ln>
        </p:spPr>
      </p:sp>
      <p:sp>
        <p:nvSpPr>
          <p:cNvPr id="28" name="Shape 24"/>
          <p:cNvSpPr/>
          <p:nvPr/>
        </p:nvSpPr>
        <p:spPr>
          <a:xfrm>
            <a:off x="658368" y="5760720"/>
            <a:ext cx="45720" cy="438912"/>
          </a:xfrm>
          <a:prstGeom prst="rect">
            <a:avLst/>
          </a:prstGeom>
          <a:solidFill>
            <a:srgbClr val="8A6A12"/>
          </a:solidFill>
          <a:ln w="12700">
            <a:solidFill>
              <a:srgbClr val="8A6A12"/>
            </a:solidFill>
            <a:prstDash val="solid"/>
          </a:ln>
        </p:spPr>
      </p:sp>
      <p:sp>
        <p:nvSpPr>
          <p:cNvPr id="29" name="Text 25"/>
          <p:cNvSpPr txBox="1"/>
          <p:nvPr/>
        </p:nvSpPr>
        <p:spPr>
          <a:xfrm>
            <a:off x="877824" y="5788152"/>
            <a:ext cx="3200400" cy="384048"/>
          </a:xfrm>
          <a:prstGeom prst="rect">
            <a:avLst/>
          </a:prstGeom>
          <a:noFill/>
          <a:ln/>
        </p:spPr>
        <p:txBody>
          <a:bodyPr wrap="square" lIns="0" tIns="0" rIns="0" bIns="0" rtlCol="0" anchor="ctr"/>
          <a:lstStyle/>
          <a:p>
            <a:pPr algn="l" indent="0" marL="0">
              <a:buNone/>
            </a:pPr>
            <a:r>
              <a:rPr lang="en-US" sz="1060" b="1" dirty="0">
                <a:solidFill>
                  <a:srgbClr val="8A6A12"/>
                </a:solidFill>
                <a:latin typeface="Consolas" pitchFamily="34" charset="0"/>
                <a:ea typeface="Consolas" pitchFamily="34" charset="-122"/>
                <a:cs typeface="Consolas" pitchFamily="34" charset="-120"/>
              </a:rPr>
              <a:t>enviar(correo, cuerpo)</a:t>
            </a:r>
            <a:endParaRPr lang="en-US" sz="1060" dirty="0"/>
          </a:p>
        </p:txBody>
      </p:sp>
      <p:sp>
        <p:nvSpPr>
          <p:cNvPr id="30" name="Text 26"/>
          <p:cNvSpPr txBox="1"/>
          <p:nvPr/>
        </p:nvSpPr>
        <p:spPr>
          <a:xfrm>
            <a:off x="4224528" y="5788152"/>
            <a:ext cx="7034479" cy="384048"/>
          </a:xfrm>
          <a:prstGeom prst="rect">
            <a:avLst/>
          </a:prstGeom>
          <a:noFill/>
          <a:ln/>
        </p:spPr>
        <p:txBody>
          <a:bodyPr wrap="square" lIns="0" tIns="0" rIns="0" bIns="0" rtlCol="0" anchor="ctr"/>
          <a:lstStyle/>
          <a:p>
            <a:pPr algn="l" indent="0" marL="0">
              <a:buNone/>
            </a:pPr>
            <a:r>
              <a:rPr lang="en-US" sz="1180" dirty="0">
                <a:solidFill>
                  <a:srgbClr val="243B53"/>
                </a:solidFill>
                <a:latin typeface="Aptos" pitchFamily="34" charset="0"/>
                <a:ea typeface="Aptos" pitchFamily="34" charset="-122"/>
                <a:cs typeface="Aptos" pitchFamily="34" charset="-120"/>
              </a:rPr>
              <a:t>La llamada. La función no sabe cuál le tocó: la llama y mira qué devuelve.</a:t>
            </a:r>
            <a:endParaRPr lang="en-US" sz="1180" dirty="0"/>
          </a:p>
        </p:txBody>
      </p:sp>
      <p:sp>
        <p:nvSpPr>
          <p:cNvPr id="31" name="Shape 27"/>
          <p:cNvSpPr/>
          <p:nvPr/>
        </p:nvSpPr>
        <p:spPr>
          <a:xfrm>
            <a:off x="7296912" y="2286000"/>
            <a:ext cx="4233672" cy="1792224"/>
          </a:xfrm>
          <a:prstGeom prst="rect">
            <a:avLst/>
          </a:prstGeom>
          <a:solidFill>
            <a:srgbClr val="102A43"/>
          </a:solidFill>
          <a:ln w="12700">
            <a:solidFill>
              <a:srgbClr val="102A43"/>
            </a:solidFill>
            <a:prstDash val="solid"/>
          </a:ln>
        </p:spPr>
      </p:sp>
      <p:sp>
        <p:nvSpPr>
          <p:cNvPr id="32" name="Text 28"/>
          <p:cNvSpPr txBox="1"/>
          <p:nvPr/>
        </p:nvSpPr>
        <p:spPr>
          <a:xfrm>
            <a:off x="7552944" y="2468880"/>
            <a:ext cx="36576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EL MECANISMO, EN UNA FRASE</a:t>
            </a:r>
            <a:endParaRPr lang="en-US" sz="960" dirty="0"/>
          </a:p>
        </p:txBody>
      </p:sp>
      <p:sp>
        <p:nvSpPr>
          <p:cNvPr id="33" name="Text 29"/>
          <p:cNvSpPr txBox="1"/>
          <p:nvPr/>
        </p:nvSpPr>
        <p:spPr>
          <a:xfrm>
            <a:off x="7552944" y="2743200"/>
            <a:ext cx="3721608" cy="640080"/>
          </a:xfrm>
          <a:prstGeom prst="rect">
            <a:avLst/>
          </a:prstGeom>
          <a:noFill/>
          <a:ln/>
        </p:spPr>
        <p:txBody>
          <a:bodyPr wrap="square" lIns="0" tIns="0" rIns="0" bIns="0" rtlCol="0" anchor="t"/>
          <a:lstStyle/>
          <a:p>
            <a:pPr algn="l" indent="0" marL="0">
              <a:lnSpc>
                <a:spcPct val="116000"/>
              </a:lnSpc>
              <a:buNone/>
            </a:pPr>
            <a:r>
              <a:rPr lang="en-US" sz="1340" b="1" dirty="0">
                <a:solidFill>
                  <a:srgbClr val="FFFFFF"/>
                </a:solidFill>
                <a:latin typeface="Aptos" pitchFamily="34" charset="0"/>
                <a:ea typeface="Aptos" pitchFamily="34" charset="-122"/>
                <a:cs typeface="Aptos" pitchFamily="34" charset="-120"/>
              </a:rPr>
              <a:t>Como la función a llamar entra por un parámetro, una prueba puede pasarle OTRA en su lugar.</a:t>
            </a:r>
            <a:endParaRPr lang="en-US" sz="1340" dirty="0"/>
          </a:p>
        </p:txBody>
      </p:sp>
      <p:sp>
        <p:nvSpPr>
          <p:cNvPr id="34" name="Shape 30"/>
          <p:cNvSpPr/>
          <p:nvPr/>
        </p:nvSpPr>
        <p:spPr>
          <a:xfrm>
            <a:off x="7552944" y="3456432"/>
            <a:ext cx="3721608" cy="0"/>
          </a:xfrm>
          <a:prstGeom prst="line">
            <a:avLst/>
          </a:prstGeom>
          <a:noFill/>
          <a:ln w="12700">
            <a:solidFill>
              <a:srgbClr val="2C4A66"/>
            </a:solidFill>
            <a:prstDash val="solid"/>
            <a:headEnd type="none"/>
            <a:tailEnd type="none"/>
          </a:ln>
        </p:spPr>
      </p:sp>
      <p:sp>
        <p:nvSpPr>
          <p:cNvPr id="35" name="Text 31"/>
          <p:cNvSpPr txBox="1"/>
          <p:nvPr/>
        </p:nvSpPr>
        <p:spPr>
          <a:xfrm>
            <a:off x="7552944" y="3584448"/>
            <a:ext cx="3721608" cy="365760"/>
          </a:xfrm>
          <a:prstGeom prst="rect">
            <a:avLst/>
          </a:prstGeom>
          <a:noFill/>
          <a:ln/>
        </p:spPr>
        <p:txBody>
          <a:bodyPr wrap="square" lIns="0" tIns="0" rIns="0" bIns="0" rtlCol="0" anchor="t"/>
          <a:lstStyle/>
          <a:p>
            <a:pPr algn="l" indent="0" marL="0">
              <a:lnSpc>
                <a:spcPct val="114000"/>
              </a:lnSpc>
              <a:buNone/>
            </a:pPr>
            <a:r>
              <a:rPr lang="en-US" sz="1240" dirty="0">
                <a:solidFill>
                  <a:srgbClr val="E0BC5A"/>
                </a:solidFill>
                <a:latin typeface="Aptos" pitchFamily="34" charset="0"/>
                <a:ea typeface="Aptos" pitchFamily="34" charset="-122"/>
                <a:cs typeface="Aptos" pitchFamily="34" charset="-120"/>
              </a:rPr>
              <a:t>Se llama INYECCIÓN DE DEPENDENCIA.</a:t>
            </a:r>
            <a:endParaRPr lang="en-US" sz="124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POR QUÉ HAY QUE SUSTITUIR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prueba evidente falla, y no por el código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Se escribe lo obvio —una reserva válida queda confirmada— y se ejecuta sin tocar nada.</a:t>
            </a:r>
            <a:endParaRPr lang="en-US" sz="1450" dirty="0"/>
          </a:p>
        </p:txBody>
      </p:sp>
      <p:sp>
        <p:nvSpPr>
          <p:cNvPr id="11" name="Shape 8"/>
          <p:cNvSpPr/>
          <p:nvPr/>
        </p:nvSpPr>
        <p:spPr>
          <a:xfrm>
            <a:off x="658368" y="2340864"/>
            <a:ext cx="10872216" cy="1591056"/>
          </a:xfrm>
          <a:prstGeom prst="roundRect">
            <a:avLst>
              <a:gd name="adj" fmla="val 2299"/>
            </a:avLst>
          </a:prstGeom>
          <a:solidFill>
            <a:srgbClr val="0F1720"/>
          </a:solidFill>
          <a:ln w="12700">
            <a:solidFill>
              <a:srgbClr val="0F1720"/>
            </a:solidFill>
            <a:prstDash val="solid"/>
          </a:ln>
        </p:spPr>
      </p:sp>
      <p:sp>
        <p:nvSpPr>
          <p:cNvPr id="12" name="Shape 9"/>
          <p:cNvSpPr/>
          <p:nvPr/>
        </p:nvSpPr>
        <p:spPr>
          <a:xfrm>
            <a:off x="786384" y="2450592"/>
            <a:ext cx="10616184"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23744"/>
            <a:ext cx="1036015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uv run pytest test_confirmacion_real.py -q</a:t>
            </a:r>
            <a:endParaRPr lang="en-US" sz="1000" dirty="0"/>
          </a:p>
        </p:txBody>
      </p:sp>
      <p:sp>
        <p:nvSpPr>
          <p:cNvPr id="14" name="Text 11"/>
          <p:cNvSpPr/>
          <p:nvPr/>
        </p:nvSpPr>
        <p:spPr>
          <a:xfrm>
            <a:off x="877824" y="2907792"/>
            <a:ext cx="10122408"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notificaciones.py:13: in enviar_confirmacion</a:t>
            </a:r>
            <a:endParaRPr lang="en-US" sz="1040" dirty="0"/>
          </a:p>
        </p:txBody>
      </p:sp>
      <p:sp>
        <p:nvSpPr>
          <p:cNvPr id="15" name="Text 12"/>
          <p:cNvSpPr/>
          <p:nvPr/>
        </p:nvSpPr>
        <p:spPr>
          <a:xfrm>
            <a:off x="877824" y="3163824"/>
            <a:ext cx="10122408"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    with urllib.request.urlopen(peticion, timeout=5) as respuesta:</a:t>
            </a:r>
            <a:endParaRPr lang="en-US" sz="1040" dirty="0"/>
          </a:p>
        </p:txBody>
      </p:sp>
      <p:sp>
        <p:nvSpPr>
          <p:cNvPr id="16" name="Text 13"/>
          <p:cNvSpPr/>
          <p:nvPr/>
        </p:nvSpPr>
        <p:spPr>
          <a:xfrm>
            <a:off x="877824" y="3419856"/>
            <a:ext cx="10122408"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E   urllib.error.URLError: &lt;urlopen error [Errno 11001] getaddrinfo failed&gt;</a:t>
            </a:r>
            <a:endParaRPr lang="en-US" sz="1040" dirty="0"/>
          </a:p>
        </p:txBody>
      </p:sp>
      <p:sp>
        <p:nvSpPr>
          <p:cNvPr id="17" name="Text 14"/>
          <p:cNvSpPr/>
          <p:nvPr/>
        </p:nvSpPr>
        <p:spPr>
          <a:xfrm>
            <a:off x="877824" y="3675888"/>
            <a:ext cx="10122408"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1 failed in 0.68s</a:t>
            </a:r>
            <a:endParaRPr lang="en-US" sz="1040" dirty="0"/>
          </a:p>
        </p:txBody>
      </p:sp>
      <p:sp>
        <p:nvSpPr>
          <p:cNvPr id="18" name="Shape 15"/>
          <p:cNvSpPr/>
          <p:nvPr/>
        </p:nvSpPr>
        <p:spPr>
          <a:xfrm>
            <a:off x="658368" y="4078224"/>
            <a:ext cx="10874959" cy="603504"/>
          </a:xfrm>
          <a:prstGeom prst="rect">
            <a:avLst/>
          </a:prstGeom>
          <a:solidFill>
            <a:srgbClr val="F8E4E5"/>
          </a:solidFill>
          <a:ln w="12700">
            <a:solidFill>
              <a:srgbClr val="F8E4E5"/>
            </a:solidFill>
            <a:prstDash val="solid"/>
          </a:ln>
        </p:spPr>
      </p:sp>
      <p:sp>
        <p:nvSpPr>
          <p:cNvPr id="19" name="Shape 16"/>
          <p:cNvSpPr/>
          <p:nvPr/>
        </p:nvSpPr>
        <p:spPr>
          <a:xfrm>
            <a:off x="658368" y="4078224"/>
            <a:ext cx="54864" cy="603504"/>
          </a:xfrm>
          <a:prstGeom prst="rect">
            <a:avLst/>
          </a:prstGeom>
          <a:solidFill>
            <a:srgbClr val="B3181E"/>
          </a:solidFill>
          <a:ln w="12700">
            <a:solidFill>
              <a:srgbClr val="B3181E"/>
            </a:solidFill>
            <a:prstDash val="solid"/>
          </a:ln>
        </p:spPr>
      </p:sp>
      <p:sp>
        <p:nvSpPr>
          <p:cNvPr id="20" name="Text 17"/>
          <p:cNvSpPr txBox="1"/>
          <p:nvPr/>
        </p:nvSpPr>
        <p:spPr>
          <a:xfrm>
            <a:off x="932688" y="4169664"/>
            <a:ext cx="10326319" cy="438912"/>
          </a:xfrm>
          <a:prstGeom prst="rect">
            <a:avLst/>
          </a:prstGeom>
          <a:noFill/>
          <a:ln/>
        </p:spPr>
        <p:txBody>
          <a:bodyPr wrap="square" lIns="0" tIns="0" rIns="0" bIns="0" rtlCol="0" anchor="ctr"/>
          <a:lstStyle/>
          <a:p>
            <a:pPr algn="l" indent="0" marL="0">
              <a:lnSpc>
                <a:spcPct val="112000"/>
              </a:lnSpc>
              <a:buNone/>
            </a:pPr>
            <a:r>
              <a:rPr lang="en-US" sz="1300" dirty="0">
                <a:solidFill>
                  <a:srgbClr val="243B53"/>
                </a:solidFill>
                <a:latin typeface="Aptos" pitchFamily="34" charset="0"/>
                <a:ea typeface="Aptos" pitchFamily="34" charset="-122"/>
                <a:cs typeface="Aptos" pitchFamily="34" charset="-120"/>
              </a:rPr>
              <a:t>Conviene leer con cuidado POR QUÉ falló. No porque confirmar_reserva() esté mal: porque no se pudo resolver el nombre del servidor. El rojo no habla del código que se quería probar.</a:t>
            </a:r>
            <a:endParaRPr lang="en-US" sz="1300" dirty="0"/>
          </a:p>
        </p:txBody>
      </p:sp>
      <p:sp>
        <p:nvSpPr>
          <p:cNvPr id="21" name="Text 18"/>
          <p:cNvSpPr txBox="1"/>
          <p:nvPr/>
        </p:nvSpPr>
        <p:spPr>
          <a:xfrm>
            <a:off x="658368" y="4882896"/>
            <a:ext cx="10874959" cy="548640"/>
          </a:xfrm>
          <a:prstGeom prst="rect">
            <a:avLst/>
          </a:prstGeom>
          <a:noFill/>
          <a:ln/>
        </p:spPr>
        <p:txBody>
          <a:bodyPr wrap="square" lIns="0" tIns="0" rIns="0" bIns="0" rtlCol="0" anchor="t"/>
          <a:lstStyle/>
          <a:p>
            <a:pPr algn="l" indent="0" marL="0">
              <a:lnSpc>
                <a:spcPct val="118000"/>
              </a:lnSpc>
              <a:buNone/>
            </a:pPr>
            <a:r>
              <a:rPr lang="en-US" sz="1400" dirty="0">
                <a:solidFill>
                  <a:srgbClr val="243B53"/>
                </a:solidFill>
                <a:latin typeface="Aptos" pitchFamily="34" charset="0"/>
                <a:ea typeface="Aptos" pitchFamily="34" charset="-122"/>
                <a:cs typeface="Aptos" pitchFamily="34" charset="-120"/>
              </a:rPr>
              <a:t>Y si el servicio existiera, sería peor: cada ejecución mandaría correos reales a direcciones reales, tardaría lo que tarde la red, y el resultado cambiaría según si el servicio está arriba.</a:t>
            </a:r>
            <a:endParaRPr lang="en-US" sz="1400" dirty="0"/>
          </a:p>
        </p:txBody>
      </p:sp>
      <p:sp>
        <p:nvSpPr>
          <p:cNvPr id="22" name="Shape 19"/>
          <p:cNvSpPr/>
          <p:nvPr/>
        </p:nvSpPr>
        <p:spPr>
          <a:xfrm>
            <a:off x="658368" y="5596128"/>
            <a:ext cx="10874959" cy="493776"/>
          </a:xfrm>
          <a:prstGeom prst="rect">
            <a:avLst/>
          </a:prstGeom>
          <a:solidFill>
            <a:srgbClr val="102A43"/>
          </a:solidFill>
          <a:ln w="12700">
            <a:solidFill>
              <a:srgbClr val="102A43"/>
            </a:solidFill>
            <a:prstDash val="solid"/>
          </a:ln>
        </p:spPr>
      </p:sp>
      <p:sp>
        <p:nvSpPr>
          <p:cNvPr id="23" name="Text 20"/>
          <p:cNvSpPr txBox="1"/>
          <p:nvPr/>
        </p:nvSpPr>
        <p:spPr>
          <a:xfrm>
            <a:off x="969264" y="5632704"/>
            <a:ext cx="10253167" cy="420624"/>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Hay cuatro problemas distintos detrás de esto, y conviene no mezclarlos.</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LAS CUATRO RAZONES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Qué le hace a una prueba cada problema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Sustituir no se justifica «porque sí»: se justifica nombrando cuál de estos cuatro está en juego.</a:t>
            </a:r>
            <a:endParaRPr lang="en-US" sz="1450" dirty="0"/>
          </a:p>
        </p:txBody>
      </p:sp>
      <p:sp>
        <p:nvSpPr>
          <p:cNvPr id="11" name="Shape 8"/>
          <p:cNvSpPr/>
          <p:nvPr/>
        </p:nvSpPr>
        <p:spPr>
          <a:xfrm>
            <a:off x="658368" y="2377440"/>
            <a:ext cx="10874959" cy="621792"/>
          </a:xfrm>
          <a:prstGeom prst="rect">
            <a:avLst/>
          </a:prstGeom>
          <a:solidFill>
            <a:srgbClr val="FFFFFF"/>
          </a:solidFill>
          <a:ln w="12700">
            <a:solidFill>
              <a:srgbClr val="FFFFFF"/>
            </a:solidFill>
            <a:prstDash val="solid"/>
          </a:ln>
        </p:spPr>
      </p:sp>
      <p:sp>
        <p:nvSpPr>
          <p:cNvPr id="12" name="Shape 9"/>
          <p:cNvSpPr/>
          <p:nvPr/>
        </p:nvSpPr>
        <p:spPr>
          <a:xfrm>
            <a:off x="658368" y="2377440"/>
            <a:ext cx="54864" cy="621792"/>
          </a:xfrm>
          <a:prstGeom prst="rect">
            <a:avLst/>
          </a:prstGeom>
          <a:solidFill>
            <a:srgbClr val="102A43"/>
          </a:solidFill>
          <a:ln w="12700">
            <a:solidFill>
              <a:srgbClr val="102A43"/>
            </a:solidFill>
            <a:prstDash val="solid"/>
          </a:ln>
        </p:spPr>
      </p:sp>
      <p:sp>
        <p:nvSpPr>
          <p:cNvPr id="13" name="Text 10"/>
          <p:cNvSpPr txBox="1"/>
          <p:nvPr/>
        </p:nvSpPr>
        <p:spPr>
          <a:xfrm>
            <a:off x="932688" y="2505456"/>
            <a:ext cx="365760" cy="365760"/>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1</a:t>
            </a:r>
            <a:endParaRPr lang="en-US" sz="2200" dirty="0"/>
          </a:p>
        </p:txBody>
      </p:sp>
      <p:sp>
        <p:nvSpPr>
          <p:cNvPr id="14" name="Text 11"/>
          <p:cNvSpPr txBox="1"/>
          <p:nvPr/>
        </p:nvSpPr>
        <p:spPr>
          <a:xfrm>
            <a:off x="1499616" y="2542032"/>
            <a:ext cx="3931920" cy="292608"/>
          </a:xfrm>
          <a:prstGeom prst="rect">
            <a:avLst/>
          </a:prstGeom>
          <a:noFill/>
          <a:ln/>
        </p:spPr>
        <p:txBody>
          <a:bodyPr wrap="square" lIns="0" tIns="0" rIns="0" bIns="0" rtlCol="0" anchor="ctr"/>
          <a:lstStyle/>
          <a:p>
            <a:pPr algn="l" indent="0" marL="0">
              <a:buNone/>
            </a:pPr>
            <a:r>
              <a:rPr lang="en-US" sz="1320" b="1" dirty="0">
                <a:solidFill>
                  <a:srgbClr val="243B53"/>
                </a:solidFill>
                <a:latin typeface="Aptos" pitchFamily="34" charset="0"/>
                <a:ea typeface="Aptos" pitchFamily="34" charset="-122"/>
                <a:cs typeface="Aptos" pitchFamily="34" charset="-120"/>
              </a:rPr>
              <a:t>La dependencia no está disponible</a:t>
            </a:r>
            <a:endParaRPr lang="en-US" sz="1320" dirty="0"/>
          </a:p>
        </p:txBody>
      </p:sp>
      <p:sp>
        <p:nvSpPr>
          <p:cNvPr id="15" name="Text 12"/>
          <p:cNvSpPr txBox="1"/>
          <p:nvPr/>
        </p:nvSpPr>
        <p:spPr>
          <a:xfrm>
            <a:off x="5687568" y="2542032"/>
            <a:ext cx="5571439" cy="292608"/>
          </a:xfrm>
          <a:prstGeom prst="rect">
            <a:avLst/>
          </a:prstGeom>
          <a:noFill/>
          <a:ln/>
        </p:spPr>
        <p:txBody>
          <a:bodyPr wrap="square" lIns="0" tIns="0" rIns="0" bIns="0" rtlCol="0" anchor="ctr"/>
          <a:lstStyle/>
          <a:p>
            <a:pPr algn="l" indent="0" marL="0">
              <a:buNone/>
            </a:pPr>
            <a:r>
              <a:rPr lang="en-US" sz="1220" dirty="0">
                <a:solidFill>
                  <a:srgbClr val="52606D"/>
                </a:solidFill>
                <a:latin typeface="Aptos" pitchFamily="34" charset="0"/>
                <a:ea typeface="Aptos" pitchFamily="34" charset="-122"/>
                <a:cs typeface="Aptos" pitchFamily="34" charset="-120"/>
              </a:rPr>
              <a:t>La prueba falla por una causa ajena al código bajo prueba.</a:t>
            </a:r>
            <a:endParaRPr lang="en-US" sz="1220" dirty="0"/>
          </a:p>
        </p:txBody>
      </p:sp>
      <p:sp>
        <p:nvSpPr>
          <p:cNvPr id="16" name="Shape 13"/>
          <p:cNvSpPr/>
          <p:nvPr/>
        </p:nvSpPr>
        <p:spPr>
          <a:xfrm>
            <a:off x="658368" y="3108960"/>
            <a:ext cx="10874959" cy="621792"/>
          </a:xfrm>
          <a:prstGeom prst="rect">
            <a:avLst/>
          </a:prstGeom>
          <a:solidFill>
            <a:srgbClr val="FFFFFF"/>
          </a:solidFill>
          <a:ln w="12700">
            <a:solidFill>
              <a:srgbClr val="FFFFFF"/>
            </a:solidFill>
            <a:prstDash val="solid"/>
          </a:ln>
        </p:spPr>
      </p:sp>
      <p:sp>
        <p:nvSpPr>
          <p:cNvPr id="17" name="Shape 14"/>
          <p:cNvSpPr/>
          <p:nvPr/>
        </p:nvSpPr>
        <p:spPr>
          <a:xfrm>
            <a:off x="658368" y="3108960"/>
            <a:ext cx="54864" cy="621792"/>
          </a:xfrm>
          <a:prstGeom prst="rect">
            <a:avLst/>
          </a:prstGeom>
          <a:solidFill>
            <a:srgbClr val="102A43"/>
          </a:solidFill>
          <a:ln w="12700">
            <a:solidFill>
              <a:srgbClr val="102A43"/>
            </a:solidFill>
            <a:prstDash val="solid"/>
          </a:ln>
        </p:spPr>
      </p:sp>
      <p:sp>
        <p:nvSpPr>
          <p:cNvPr id="18" name="Text 15"/>
          <p:cNvSpPr txBox="1"/>
          <p:nvPr/>
        </p:nvSpPr>
        <p:spPr>
          <a:xfrm>
            <a:off x="932688" y="3236976"/>
            <a:ext cx="365760" cy="365760"/>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2</a:t>
            </a:r>
            <a:endParaRPr lang="en-US" sz="2200" dirty="0"/>
          </a:p>
        </p:txBody>
      </p:sp>
      <p:sp>
        <p:nvSpPr>
          <p:cNvPr id="19" name="Text 16"/>
          <p:cNvSpPr txBox="1"/>
          <p:nvPr/>
        </p:nvSpPr>
        <p:spPr>
          <a:xfrm>
            <a:off x="1499616" y="3273552"/>
            <a:ext cx="3931920" cy="292608"/>
          </a:xfrm>
          <a:prstGeom prst="rect">
            <a:avLst/>
          </a:prstGeom>
          <a:noFill/>
          <a:ln/>
        </p:spPr>
        <p:txBody>
          <a:bodyPr wrap="square" lIns="0" tIns="0" rIns="0" bIns="0" rtlCol="0" anchor="ctr"/>
          <a:lstStyle/>
          <a:p>
            <a:pPr algn="l" indent="0" marL="0">
              <a:buNone/>
            </a:pPr>
            <a:r>
              <a:rPr lang="en-US" sz="1320" b="1" dirty="0">
                <a:solidFill>
                  <a:srgbClr val="243B53"/>
                </a:solidFill>
                <a:latin typeface="Aptos" pitchFamily="34" charset="0"/>
                <a:ea typeface="Aptos" pitchFamily="34" charset="-122"/>
                <a:cs typeface="Aptos" pitchFamily="34" charset="-120"/>
              </a:rPr>
              <a:t>La dependencia es lenta</a:t>
            </a:r>
            <a:endParaRPr lang="en-US" sz="1320" dirty="0"/>
          </a:p>
        </p:txBody>
      </p:sp>
      <p:sp>
        <p:nvSpPr>
          <p:cNvPr id="20" name="Text 17"/>
          <p:cNvSpPr txBox="1"/>
          <p:nvPr/>
        </p:nvSpPr>
        <p:spPr>
          <a:xfrm>
            <a:off x="5687568" y="3273552"/>
            <a:ext cx="5571439" cy="292608"/>
          </a:xfrm>
          <a:prstGeom prst="rect">
            <a:avLst/>
          </a:prstGeom>
          <a:noFill/>
          <a:ln/>
        </p:spPr>
        <p:txBody>
          <a:bodyPr wrap="square" lIns="0" tIns="0" rIns="0" bIns="0" rtlCol="0" anchor="ctr"/>
          <a:lstStyle/>
          <a:p>
            <a:pPr algn="l" indent="0" marL="0">
              <a:buNone/>
            </a:pPr>
            <a:r>
              <a:rPr lang="en-US" sz="1220" dirty="0">
                <a:solidFill>
                  <a:srgbClr val="52606D"/>
                </a:solidFill>
                <a:latin typeface="Aptos" pitchFamily="34" charset="0"/>
                <a:ea typeface="Aptos" pitchFamily="34" charset="-122"/>
                <a:cs typeface="Aptos" pitchFamily="34" charset="-120"/>
              </a:rPr>
              <a:t>La suite deja de poder ejecutarse a cada cambio.</a:t>
            </a:r>
            <a:endParaRPr lang="en-US" sz="1220" dirty="0"/>
          </a:p>
        </p:txBody>
      </p:sp>
      <p:sp>
        <p:nvSpPr>
          <p:cNvPr id="21" name="Shape 18"/>
          <p:cNvSpPr/>
          <p:nvPr/>
        </p:nvSpPr>
        <p:spPr>
          <a:xfrm>
            <a:off x="658368" y="3840480"/>
            <a:ext cx="10874959" cy="621792"/>
          </a:xfrm>
          <a:prstGeom prst="rect">
            <a:avLst/>
          </a:prstGeom>
          <a:solidFill>
            <a:srgbClr val="FFFFFF"/>
          </a:solidFill>
          <a:ln w="12700">
            <a:solidFill>
              <a:srgbClr val="FFFFFF"/>
            </a:solidFill>
            <a:prstDash val="solid"/>
          </a:ln>
        </p:spPr>
      </p:sp>
      <p:sp>
        <p:nvSpPr>
          <p:cNvPr id="22" name="Shape 19"/>
          <p:cNvSpPr/>
          <p:nvPr/>
        </p:nvSpPr>
        <p:spPr>
          <a:xfrm>
            <a:off x="658368" y="3840480"/>
            <a:ext cx="54864" cy="621792"/>
          </a:xfrm>
          <a:prstGeom prst="rect">
            <a:avLst/>
          </a:prstGeom>
          <a:solidFill>
            <a:srgbClr val="8A6A12"/>
          </a:solidFill>
          <a:ln w="12700">
            <a:solidFill>
              <a:srgbClr val="8A6A12"/>
            </a:solidFill>
            <a:prstDash val="solid"/>
          </a:ln>
        </p:spPr>
      </p:sp>
      <p:sp>
        <p:nvSpPr>
          <p:cNvPr id="23" name="Text 20"/>
          <p:cNvSpPr txBox="1"/>
          <p:nvPr/>
        </p:nvSpPr>
        <p:spPr>
          <a:xfrm>
            <a:off x="932688" y="3968496"/>
            <a:ext cx="365760" cy="365760"/>
          </a:xfrm>
          <a:prstGeom prst="rect">
            <a:avLst/>
          </a:prstGeom>
          <a:noFill/>
          <a:ln/>
        </p:spPr>
        <p:txBody>
          <a:bodyPr wrap="square" lIns="0" tIns="0" rIns="0" bIns="0" rtlCol="0" anchor="t"/>
          <a:lstStyle/>
          <a:p>
            <a:pPr algn="l" indent="0" marL="0">
              <a:buNone/>
            </a:pPr>
            <a:r>
              <a:rPr lang="en-US" sz="2200" b="1" dirty="0">
                <a:solidFill>
                  <a:srgbClr val="8A6A12"/>
                </a:solidFill>
                <a:latin typeface="Aptos Display" pitchFamily="34" charset="0"/>
                <a:ea typeface="Aptos Display" pitchFamily="34" charset="-122"/>
                <a:cs typeface="Aptos Display" pitchFamily="34" charset="-120"/>
              </a:rPr>
              <a:t>3</a:t>
            </a:r>
            <a:endParaRPr lang="en-US" sz="2200" dirty="0"/>
          </a:p>
        </p:txBody>
      </p:sp>
      <p:sp>
        <p:nvSpPr>
          <p:cNvPr id="24" name="Text 21"/>
          <p:cNvSpPr txBox="1"/>
          <p:nvPr/>
        </p:nvSpPr>
        <p:spPr>
          <a:xfrm>
            <a:off x="1499616" y="4005072"/>
            <a:ext cx="3931920" cy="292608"/>
          </a:xfrm>
          <a:prstGeom prst="rect">
            <a:avLst/>
          </a:prstGeom>
          <a:noFill/>
          <a:ln/>
        </p:spPr>
        <p:txBody>
          <a:bodyPr wrap="square" lIns="0" tIns="0" rIns="0" bIns="0" rtlCol="0" anchor="ctr"/>
          <a:lstStyle/>
          <a:p>
            <a:pPr algn="l" indent="0" marL="0">
              <a:buNone/>
            </a:pPr>
            <a:r>
              <a:rPr lang="en-US" sz="1320" b="1" dirty="0">
                <a:solidFill>
                  <a:srgbClr val="243B53"/>
                </a:solidFill>
                <a:latin typeface="Aptos" pitchFamily="34" charset="0"/>
                <a:ea typeface="Aptos" pitchFamily="34" charset="-122"/>
                <a:cs typeface="Aptos" pitchFamily="34" charset="-120"/>
              </a:rPr>
              <a:t>La dependencia tiene efectos reales</a:t>
            </a:r>
            <a:endParaRPr lang="en-US" sz="1320" dirty="0"/>
          </a:p>
        </p:txBody>
      </p:sp>
      <p:sp>
        <p:nvSpPr>
          <p:cNvPr id="25" name="Text 22"/>
          <p:cNvSpPr txBox="1"/>
          <p:nvPr/>
        </p:nvSpPr>
        <p:spPr>
          <a:xfrm>
            <a:off x="5687568" y="4005072"/>
            <a:ext cx="5571439" cy="292608"/>
          </a:xfrm>
          <a:prstGeom prst="rect">
            <a:avLst/>
          </a:prstGeom>
          <a:noFill/>
          <a:ln/>
        </p:spPr>
        <p:txBody>
          <a:bodyPr wrap="square" lIns="0" tIns="0" rIns="0" bIns="0" rtlCol="0" anchor="ctr"/>
          <a:lstStyle/>
          <a:p>
            <a:pPr algn="l" indent="0" marL="0">
              <a:buNone/>
            </a:pPr>
            <a:r>
              <a:rPr lang="en-US" sz="1220" dirty="0">
                <a:solidFill>
                  <a:srgbClr val="52606D"/>
                </a:solidFill>
                <a:latin typeface="Aptos" pitchFamily="34" charset="0"/>
                <a:ea typeface="Aptos" pitchFamily="34" charset="-122"/>
                <a:cs typeface="Aptos" pitchFamily="34" charset="-120"/>
              </a:rPr>
              <a:t>Probar manda correos, cobra dinero o escribe en producción.</a:t>
            </a:r>
            <a:endParaRPr lang="en-US" sz="1220" dirty="0"/>
          </a:p>
        </p:txBody>
      </p:sp>
      <p:sp>
        <p:nvSpPr>
          <p:cNvPr id="26" name="Shape 23"/>
          <p:cNvSpPr/>
          <p:nvPr/>
        </p:nvSpPr>
        <p:spPr>
          <a:xfrm>
            <a:off x="658368" y="4572000"/>
            <a:ext cx="10874959" cy="621792"/>
          </a:xfrm>
          <a:prstGeom prst="rect">
            <a:avLst/>
          </a:prstGeom>
          <a:solidFill>
            <a:srgbClr val="F8E4E5"/>
          </a:solidFill>
          <a:ln w="12700">
            <a:solidFill>
              <a:srgbClr val="F8E4E5"/>
            </a:solidFill>
            <a:prstDash val="solid"/>
          </a:ln>
        </p:spPr>
      </p:sp>
      <p:sp>
        <p:nvSpPr>
          <p:cNvPr id="27" name="Shape 24"/>
          <p:cNvSpPr/>
          <p:nvPr/>
        </p:nvSpPr>
        <p:spPr>
          <a:xfrm>
            <a:off x="658368" y="4572000"/>
            <a:ext cx="54864" cy="621792"/>
          </a:xfrm>
          <a:prstGeom prst="rect">
            <a:avLst/>
          </a:prstGeom>
          <a:solidFill>
            <a:srgbClr val="B3181E"/>
          </a:solidFill>
          <a:ln w="12700">
            <a:solidFill>
              <a:srgbClr val="B3181E"/>
            </a:solidFill>
            <a:prstDash val="solid"/>
          </a:ln>
        </p:spPr>
      </p:sp>
      <p:sp>
        <p:nvSpPr>
          <p:cNvPr id="28" name="Text 25"/>
          <p:cNvSpPr txBox="1"/>
          <p:nvPr/>
        </p:nvSpPr>
        <p:spPr>
          <a:xfrm>
            <a:off x="932688" y="4700016"/>
            <a:ext cx="365760" cy="365760"/>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4</a:t>
            </a:r>
            <a:endParaRPr lang="en-US" sz="2200" dirty="0"/>
          </a:p>
        </p:txBody>
      </p:sp>
      <p:sp>
        <p:nvSpPr>
          <p:cNvPr id="29" name="Text 26"/>
          <p:cNvSpPr txBox="1"/>
          <p:nvPr/>
        </p:nvSpPr>
        <p:spPr>
          <a:xfrm>
            <a:off x="1499616" y="4736592"/>
            <a:ext cx="3931920" cy="292608"/>
          </a:xfrm>
          <a:prstGeom prst="rect">
            <a:avLst/>
          </a:prstGeom>
          <a:noFill/>
          <a:ln/>
        </p:spPr>
        <p:txBody>
          <a:bodyPr wrap="square" lIns="0" tIns="0" rIns="0" bIns="0" rtlCol="0" anchor="ctr"/>
          <a:lstStyle/>
          <a:p>
            <a:pPr algn="l" indent="0" marL="0">
              <a:buNone/>
            </a:pPr>
            <a:r>
              <a:rPr lang="en-US" sz="1320" b="1" dirty="0">
                <a:solidFill>
                  <a:srgbClr val="243B53"/>
                </a:solidFill>
                <a:latin typeface="Aptos" pitchFamily="34" charset="0"/>
                <a:ea typeface="Aptos" pitchFamily="34" charset="-122"/>
                <a:cs typeface="Aptos" pitchFamily="34" charset="-120"/>
              </a:rPr>
              <a:t>La dependencia no es controlable</a:t>
            </a:r>
            <a:endParaRPr lang="en-US" sz="1320" dirty="0"/>
          </a:p>
        </p:txBody>
      </p:sp>
      <p:sp>
        <p:nvSpPr>
          <p:cNvPr id="30" name="Text 27"/>
          <p:cNvSpPr txBox="1"/>
          <p:nvPr/>
        </p:nvSpPr>
        <p:spPr>
          <a:xfrm>
            <a:off x="5687568" y="4736592"/>
            <a:ext cx="5571439" cy="292608"/>
          </a:xfrm>
          <a:prstGeom prst="rect">
            <a:avLst/>
          </a:prstGeom>
          <a:noFill/>
          <a:ln/>
        </p:spPr>
        <p:txBody>
          <a:bodyPr wrap="square" lIns="0" tIns="0" rIns="0" bIns="0" rtlCol="0" anchor="ctr"/>
          <a:lstStyle/>
          <a:p>
            <a:pPr algn="l" indent="0" marL="0">
              <a:buNone/>
            </a:pPr>
            <a:r>
              <a:rPr lang="en-US" sz="1220" dirty="0">
                <a:solidFill>
                  <a:srgbClr val="52606D"/>
                </a:solidFill>
                <a:latin typeface="Aptos" pitchFamily="34" charset="0"/>
                <a:ea typeface="Aptos" pitchFamily="34" charset="-122"/>
                <a:cs typeface="Aptos" pitchFamily="34" charset="-120"/>
              </a:rPr>
              <a:t>No se puede provocar a voluntad el caso de fallo que se quiere probar.</a:t>
            </a:r>
            <a:endParaRPr lang="en-US" sz="1220" dirty="0"/>
          </a:p>
        </p:txBody>
      </p:sp>
      <p:sp>
        <p:nvSpPr>
          <p:cNvPr id="31" name="Shape 28"/>
          <p:cNvSpPr/>
          <p:nvPr/>
        </p:nvSpPr>
        <p:spPr>
          <a:xfrm>
            <a:off x="658368" y="5394960"/>
            <a:ext cx="10874959" cy="603504"/>
          </a:xfrm>
          <a:prstGeom prst="rect">
            <a:avLst/>
          </a:prstGeom>
          <a:solidFill>
            <a:srgbClr val="102A43"/>
          </a:solidFill>
          <a:ln w="12700">
            <a:solidFill>
              <a:srgbClr val="102A43"/>
            </a:solidFill>
            <a:prstDash val="solid"/>
          </a:ln>
        </p:spPr>
      </p:sp>
      <p:sp>
        <p:nvSpPr>
          <p:cNvPr id="32" name="Text 29"/>
          <p:cNvSpPr txBox="1"/>
          <p:nvPr/>
        </p:nvSpPr>
        <p:spPr>
          <a:xfrm>
            <a:off x="932688" y="5486400"/>
            <a:ext cx="10326319" cy="438912"/>
          </a:xfrm>
          <a:prstGeom prst="rect">
            <a:avLst/>
          </a:prstGeom>
          <a:noFill/>
          <a:ln/>
        </p:spPr>
        <p:txBody>
          <a:bodyPr wrap="square" lIns="0" tIns="0" rIns="0" bIns="0" rtlCol="0" anchor="ctr"/>
          <a:lstStyle/>
          <a:p>
            <a:pPr algn="l" indent="0" marL="0">
              <a:lnSpc>
                <a:spcPct val="112000"/>
              </a:lnSpc>
              <a:buNone/>
            </a:pPr>
            <a:r>
              <a:rPr lang="en-US" sz="1300" b="1" dirty="0">
                <a:solidFill>
                  <a:srgbClr val="E0BC5A"/>
                </a:solidFill>
                <a:latin typeface="Aptos" pitchFamily="34" charset="0"/>
                <a:ea typeface="Aptos" pitchFamily="34" charset="-122"/>
                <a:cs typeface="Aptos" pitchFamily="34" charset="-120"/>
              </a:rPr>
              <a:t>El cuarto es el menos obvio y el más importante hoy: aunque el servicio funcionara perfecto, seguiría siendo imposible probar qué hace el sistema cuando el envío falla.</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ANTES DE LEER LOS CINCO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cosas que se repiten en todas las pruebas</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Los datos del estudiante se declaran una vez arriba del archivo, y los tres números del principio siguen el orden de la firma.</a:t>
            </a:r>
            <a:endParaRPr lang="en-US" sz="1450" dirty="0"/>
          </a:p>
        </p:txBody>
      </p:sp>
      <p:sp>
        <p:nvSpPr>
          <p:cNvPr id="11" name="Shape 8"/>
          <p:cNvSpPr/>
          <p:nvPr/>
        </p:nvSpPr>
        <p:spPr>
          <a:xfrm>
            <a:off x="658368" y="2340864"/>
            <a:ext cx="10872216" cy="987552"/>
          </a:xfrm>
          <a:prstGeom prst="roundRect">
            <a:avLst>
              <a:gd name="adj" fmla="val 3704"/>
            </a:avLst>
          </a:prstGeom>
          <a:solidFill>
            <a:srgbClr val="102A43"/>
          </a:solidFill>
          <a:ln w="12700">
            <a:solidFill>
              <a:srgbClr val="102A43"/>
            </a:solidFill>
            <a:prstDash val="solid"/>
          </a:ln>
        </p:spPr>
      </p:sp>
      <p:sp>
        <p:nvSpPr>
          <p:cNvPr id="12" name="Shape 9"/>
          <p:cNvSpPr/>
          <p:nvPr/>
        </p:nvSpPr>
        <p:spPr>
          <a:xfrm>
            <a:off x="786384" y="2450592"/>
            <a:ext cx="10616184"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23744"/>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Arriba del archivo de pruebas</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07792"/>
            <a:ext cx="10451592" cy="237744"/>
          </a:xfrm>
          <a:prstGeom prst="rect">
            <a:avLst/>
          </a:prstGeom>
        </p:spPr>
      </p:pic>
      <p:sp>
        <p:nvSpPr>
          <p:cNvPr id="15" name="Shape 11"/>
          <p:cNvSpPr/>
          <p:nvPr/>
        </p:nvSpPr>
        <p:spPr>
          <a:xfrm>
            <a:off x="658368" y="3474720"/>
            <a:ext cx="10874959" cy="530352"/>
          </a:xfrm>
          <a:prstGeom prst="rect">
            <a:avLst/>
          </a:prstGeom>
          <a:solidFill>
            <a:srgbClr val="F2E7D9"/>
          </a:solidFill>
          <a:ln w="12700">
            <a:solidFill>
              <a:srgbClr val="F2E7D9"/>
            </a:solidFill>
            <a:prstDash val="solid"/>
          </a:ln>
        </p:spPr>
      </p:sp>
      <p:sp>
        <p:nvSpPr>
          <p:cNvPr id="16" name="Shape 12"/>
          <p:cNvSpPr/>
          <p:nvPr/>
        </p:nvSpPr>
        <p:spPr>
          <a:xfrm>
            <a:off x="658368" y="3474720"/>
            <a:ext cx="54864" cy="530352"/>
          </a:xfrm>
          <a:prstGeom prst="rect">
            <a:avLst/>
          </a:prstGeom>
          <a:solidFill>
            <a:srgbClr val="8A6A12"/>
          </a:solidFill>
          <a:ln w="12700">
            <a:solidFill>
              <a:srgbClr val="8A6A12"/>
            </a:solidFill>
            <a:prstDash val="solid"/>
          </a:ln>
        </p:spPr>
      </p:sp>
      <p:sp>
        <p:nvSpPr>
          <p:cNvPr id="17" name="Text 13"/>
          <p:cNvSpPr txBox="1"/>
          <p:nvPr/>
        </p:nvSpPr>
        <p:spPr>
          <a:xfrm>
            <a:off x="932688" y="3547872"/>
            <a:ext cx="10326319" cy="384048"/>
          </a:xfrm>
          <a:prstGeom prst="rect">
            <a:avLst/>
          </a:prstGeom>
          <a:noFill/>
          <a:ln/>
        </p:spPr>
        <p:txBody>
          <a:bodyPr wrap="square" lIns="0" tIns="0" rIns="0" bIns="0" rtlCol="0" anchor="ctr"/>
          <a:lstStyle/>
          <a:p>
            <a:pPr algn="l" indent="0" marL="0">
              <a:buNone/>
            </a:pPr>
            <a:r>
              <a:rPr lang="en-US" sz="1260" dirty="0">
                <a:solidFill>
                  <a:srgbClr val="243B53"/>
                </a:solidFill>
                <a:latin typeface="Aptos" pitchFamily="34" charset="0"/>
                <a:ea typeface="Aptos" pitchFamily="34" charset="-122"/>
                <a:cs typeface="Aptos" pitchFamily="34" charset="-120"/>
              </a:rPr>
              <a:t>El asterisco de *DATOS significa: «desarma esta tupla y entrega sus tres elementos como tres argumentos separados». Ahorra la repetición; no cambia nada.</a:t>
            </a:r>
            <a:endParaRPr lang="en-US" sz="1260" dirty="0"/>
          </a:p>
        </p:txBody>
      </p:sp>
      <p:sp>
        <p:nvSpPr>
          <p:cNvPr id="18" name="Shape 14"/>
          <p:cNvSpPr/>
          <p:nvPr/>
        </p:nvSpPr>
        <p:spPr>
          <a:xfrm>
            <a:off x="658368" y="4169664"/>
            <a:ext cx="10874959" cy="475488"/>
          </a:xfrm>
          <a:prstGeom prst="rect">
            <a:avLst/>
          </a:prstGeom>
          <a:solidFill>
            <a:srgbClr val="FFFFFF"/>
          </a:solidFill>
          <a:ln w="12700">
            <a:solidFill>
              <a:srgbClr val="FFFFFF"/>
            </a:solidFill>
            <a:prstDash val="solid"/>
          </a:ln>
        </p:spPr>
      </p:sp>
      <p:sp>
        <p:nvSpPr>
          <p:cNvPr id="19" name="Shape 15"/>
          <p:cNvSpPr/>
          <p:nvPr/>
        </p:nvSpPr>
        <p:spPr>
          <a:xfrm>
            <a:off x="658368" y="4169664"/>
            <a:ext cx="45720" cy="475488"/>
          </a:xfrm>
          <a:prstGeom prst="rect">
            <a:avLst/>
          </a:prstGeom>
          <a:solidFill>
            <a:srgbClr val="2E7D4F"/>
          </a:solidFill>
          <a:ln w="12700">
            <a:solidFill>
              <a:srgbClr val="2E7D4F"/>
            </a:solidFill>
            <a:prstDash val="solid"/>
          </a:ln>
        </p:spPr>
      </p:sp>
      <p:sp>
        <p:nvSpPr>
          <p:cNvPr id="20" name="Text 16"/>
          <p:cNvSpPr txBox="1"/>
          <p:nvPr/>
        </p:nvSpPr>
        <p:spPr>
          <a:xfrm>
            <a:off x="877824" y="4215384"/>
            <a:ext cx="4206240" cy="384048"/>
          </a:xfrm>
          <a:prstGeom prst="rect">
            <a:avLst/>
          </a:prstGeom>
          <a:noFill/>
          <a:ln/>
        </p:spPr>
        <p:txBody>
          <a:bodyPr wrap="square" lIns="0" tIns="0" rIns="0" bIns="0" rtlCol="0" anchor="ctr"/>
          <a:lstStyle/>
          <a:p>
            <a:pPr algn="l" indent="0" marL="0">
              <a:buNone/>
            </a:pPr>
            <a:r>
              <a:rPr lang="en-US" sz="1040" b="1" dirty="0">
                <a:solidFill>
                  <a:srgbClr val="243B53"/>
                </a:solidFill>
                <a:latin typeface="Consolas" pitchFamily="34" charset="0"/>
                <a:ea typeface="Consolas" pitchFamily="34" charset="-122"/>
                <a:cs typeface="Consolas" pitchFamily="34" charset="-120"/>
              </a:rPr>
              <a:t>confirmar_reserva(1, 4, False, *DATOS, …)</a:t>
            </a:r>
            <a:endParaRPr lang="en-US" sz="1040" dirty="0"/>
          </a:p>
        </p:txBody>
      </p:sp>
      <p:sp>
        <p:nvSpPr>
          <p:cNvPr id="21" name="Text 17"/>
          <p:cNvSpPr txBox="1"/>
          <p:nvPr/>
        </p:nvSpPr>
        <p:spPr>
          <a:xfrm>
            <a:off x="5321808" y="4215384"/>
            <a:ext cx="5937199" cy="384048"/>
          </a:xfrm>
          <a:prstGeom prst="rect">
            <a:avLst/>
          </a:prstGeom>
          <a:noFill/>
          <a:ln/>
        </p:spPr>
        <p:txBody>
          <a:bodyPr wrap="square" lIns="0" tIns="0" rIns="0" bIns="0" rtlCol="0" anchor="ctr"/>
          <a:lstStyle/>
          <a:p>
            <a:pPr algn="l" indent="0" marL="0">
              <a:buNone/>
            </a:pPr>
            <a:r>
              <a:rPr lang="en-US" sz="1220" dirty="0">
                <a:solidFill>
                  <a:srgbClr val="52606D"/>
                </a:solidFill>
                <a:latin typeface="Aptos" pitchFamily="34" charset="0"/>
                <a:ea typeface="Aptos" pitchFamily="34" charset="-122"/>
                <a:cs typeface="Aptos" pitchFamily="34" charset="-120"/>
              </a:rPr>
              <a:t>Ana, con 1 reserva esta semana, pide el bloque 4, que no está tomado.</a:t>
            </a:r>
            <a:endParaRPr lang="en-US" sz="1220" dirty="0"/>
          </a:p>
        </p:txBody>
      </p:sp>
      <p:sp>
        <p:nvSpPr>
          <p:cNvPr id="22" name="Shape 18"/>
          <p:cNvSpPr/>
          <p:nvPr/>
        </p:nvSpPr>
        <p:spPr>
          <a:xfrm>
            <a:off x="658368" y="4736592"/>
            <a:ext cx="10874959" cy="475488"/>
          </a:xfrm>
          <a:prstGeom prst="rect">
            <a:avLst/>
          </a:prstGeom>
          <a:solidFill>
            <a:srgbClr val="EDE6DA"/>
          </a:solidFill>
          <a:ln w="12700">
            <a:solidFill>
              <a:srgbClr val="EDE6DA"/>
            </a:solidFill>
            <a:prstDash val="solid"/>
          </a:ln>
        </p:spPr>
      </p:sp>
      <p:sp>
        <p:nvSpPr>
          <p:cNvPr id="23" name="Shape 19"/>
          <p:cNvSpPr/>
          <p:nvPr/>
        </p:nvSpPr>
        <p:spPr>
          <a:xfrm>
            <a:off x="658368" y="4736592"/>
            <a:ext cx="45720" cy="475488"/>
          </a:xfrm>
          <a:prstGeom prst="rect">
            <a:avLst/>
          </a:prstGeom>
          <a:solidFill>
            <a:srgbClr val="B3181E"/>
          </a:solidFill>
          <a:ln w="12700">
            <a:solidFill>
              <a:srgbClr val="B3181E"/>
            </a:solidFill>
            <a:prstDash val="solid"/>
          </a:ln>
        </p:spPr>
      </p:sp>
      <p:sp>
        <p:nvSpPr>
          <p:cNvPr id="24" name="Text 20"/>
          <p:cNvSpPr txBox="1"/>
          <p:nvPr/>
        </p:nvSpPr>
        <p:spPr>
          <a:xfrm>
            <a:off x="877824" y="4782312"/>
            <a:ext cx="4206240" cy="384048"/>
          </a:xfrm>
          <a:prstGeom prst="rect">
            <a:avLst/>
          </a:prstGeom>
          <a:noFill/>
          <a:ln/>
        </p:spPr>
        <p:txBody>
          <a:bodyPr wrap="square" lIns="0" tIns="0" rIns="0" bIns="0" rtlCol="0" anchor="ctr"/>
          <a:lstStyle/>
          <a:p>
            <a:pPr algn="l" indent="0" marL="0">
              <a:buNone/>
            </a:pPr>
            <a:r>
              <a:rPr lang="en-US" sz="1040" b="1" dirty="0">
                <a:solidFill>
                  <a:srgbClr val="243B53"/>
                </a:solidFill>
                <a:latin typeface="Consolas" pitchFamily="34" charset="0"/>
                <a:ea typeface="Consolas" pitchFamily="34" charset="-122"/>
                <a:cs typeface="Consolas" pitchFamily="34" charset="-120"/>
              </a:rPr>
              <a:t>confirmar_reserva(3, 4, False, *DATOS, …)</a:t>
            </a:r>
            <a:endParaRPr lang="en-US" sz="1040" dirty="0"/>
          </a:p>
        </p:txBody>
      </p:sp>
      <p:sp>
        <p:nvSpPr>
          <p:cNvPr id="25" name="Text 21"/>
          <p:cNvSpPr txBox="1"/>
          <p:nvPr/>
        </p:nvSpPr>
        <p:spPr>
          <a:xfrm>
            <a:off x="5321808" y="4782312"/>
            <a:ext cx="5937199" cy="384048"/>
          </a:xfrm>
          <a:prstGeom prst="rect">
            <a:avLst/>
          </a:prstGeom>
          <a:noFill/>
          <a:ln/>
        </p:spPr>
        <p:txBody>
          <a:bodyPr wrap="square" lIns="0" tIns="0" rIns="0" bIns="0" rtlCol="0" anchor="ctr"/>
          <a:lstStyle/>
          <a:p>
            <a:pPr algn="l" indent="0" marL="0">
              <a:buNone/>
            </a:pPr>
            <a:r>
              <a:rPr lang="en-US" sz="1220" dirty="0">
                <a:solidFill>
                  <a:srgbClr val="52606D"/>
                </a:solidFill>
                <a:latin typeface="Aptos" pitchFamily="34" charset="0"/>
                <a:ea typeface="Aptos" pitchFamily="34" charset="-122"/>
                <a:cs typeface="Aptos" pitchFamily="34" charset="-120"/>
              </a:rPr>
              <a:t>Ana ya tiene 3 reservas —el máximo—. Debe rechazarse por cupo.</a:t>
            </a:r>
            <a:endParaRPr lang="en-US" sz="1220" dirty="0"/>
          </a:p>
        </p:txBody>
      </p:sp>
      <p:sp>
        <p:nvSpPr>
          <p:cNvPr id="26" name="Shape 22"/>
          <p:cNvSpPr/>
          <p:nvPr/>
        </p:nvSpPr>
        <p:spPr>
          <a:xfrm>
            <a:off x="658368" y="5303520"/>
            <a:ext cx="10874959" cy="475488"/>
          </a:xfrm>
          <a:prstGeom prst="rect">
            <a:avLst/>
          </a:prstGeom>
          <a:solidFill>
            <a:srgbClr val="FFFFFF"/>
          </a:solidFill>
          <a:ln w="12700">
            <a:solidFill>
              <a:srgbClr val="FFFFFF"/>
            </a:solidFill>
            <a:prstDash val="solid"/>
          </a:ln>
        </p:spPr>
      </p:sp>
      <p:sp>
        <p:nvSpPr>
          <p:cNvPr id="27" name="Shape 23"/>
          <p:cNvSpPr/>
          <p:nvPr/>
        </p:nvSpPr>
        <p:spPr>
          <a:xfrm>
            <a:off x="658368" y="5303520"/>
            <a:ext cx="45720" cy="475488"/>
          </a:xfrm>
          <a:prstGeom prst="rect">
            <a:avLst/>
          </a:prstGeom>
          <a:solidFill>
            <a:srgbClr val="B3181E"/>
          </a:solidFill>
          <a:ln w="12700">
            <a:solidFill>
              <a:srgbClr val="B3181E"/>
            </a:solidFill>
            <a:prstDash val="solid"/>
          </a:ln>
        </p:spPr>
      </p:sp>
      <p:sp>
        <p:nvSpPr>
          <p:cNvPr id="28" name="Text 24"/>
          <p:cNvSpPr txBox="1"/>
          <p:nvPr/>
        </p:nvSpPr>
        <p:spPr>
          <a:xfrm>
            <a:off x="877824" y="5349240"/>
            <a:ext cx="4206240" cy="384048"/>
          </a:xfrm>
          <a:prstGeom prst="rect">
            <a:avLst/>
          </a:prstGeom>
          <a:noFill/>
          <a:ln/>
        </p:spPr>
        <p:txBody>
          <a:bodyPr wrap="square" lIns="0" tIns="0" rIns="0" bIns="0" rtlCol="0" anchor="ctr"/>
          <a:lstStyle/>
          <a:p>
            <a:pPr algn="l" indent="0" marL="0">
              <a:buNone/>
            </a:pPr>
            <a:r>
              <a:rPr lang="en-US" sz="1040" b="1" dirty="0">
                <a:solidFill>
                  <a:srgbClr val="243B53"/>
                </a:solidFill>
                <a:latin typeface="Consolas" pitchFamily="34" charset="0"/>
                <a:ea typeface="Consolas" pitchFamily="34" charset="-122"/>
                <a:cs typeface="Consolas" pitchFamily="34" charset="-120"/>
              </a:rPr>
              <a:t>confirmar_reserva(1, 4, True, *DATOS, …)</a:t>
            </a:r>
            <a:endParaRPr lang="en-US" sz="1040" dirty="0"/>
          </a:p>
        </p:txBody>
      </p:sp>
      <p:sp>
        <p:nvSpPr>
          <p:cNvPr id="29" name="Text 25"/>
          <p:cNvSpPr txBox="1"/>
          <p:nvPr/>
        </p:nvSpPr>
        <p:spPr>
          <a:xfrm>
            <a:off x="5321808" y="5349240"/>
            <a:ext cx="5937199" cy="384048"/>
          </a:xfrm>
          <a:prstGeom prst="rect">
            <a:avLst/>
          </a:prstGeom>
          <a:noFill/>
          <a:ln/>
        </p:spPr>
        <p:txBody>
          <a:bodyPr wrap="square" lIns="0" tIns="0" rIns="0" bIns="0" rtlCol="0" anchor="ctr"/>
          <a:lstStyle/>
          <a:p>
            <a:pPr algn="l" indent="0" marL="0">
              <a:buNone/>
            </a:pPr>
            <a:r>
              <a:rPr lang="en-US" sz="1220" dirty="0">
                <a:solidFill>
                  <a:srgbClr val="52606D"/>
                </a:solidFill>
                <a:latin typeface="Aptos" pitchFamily="34" charset="0"/>
                <a:ea typeface="Aptos" pitchFamily="34" charset="-122"/>
                <a:cs typeface="Aptos" pitchFamily="34" charset="-120"/>
              </a:rPr>
              <a:t>El bloque 4 ya está tomado por otra persona. Debe rechazarse.</a:t>
            </a:r>
            <a:endParaRPr lang="en-US" sz="1220" dirty="0"/>
          </a:p>
        </p:txBody>
      </p:sp>
      <p:sp>
        <p:nvSpPr>
          <p:cNvPr id="30" name="Shape 26"/>
          <p:cNvSpPr/>
          <p:nvPr/>
        </p:nvSpPr>
        <p:spPr>
          <a:xfrm>
            <a:off x="658368" y="5943600"/>
            <a:ext cx="10874959" cy="457200"/>
          </a:xfrm>
          <a:prstGeom prst="rect">
            <a:avLst/>
          </a:prstGeom>
          <a:solidFill>
            <a:srgbClr val="102A43"/>
          </a:solidFill>
          <a:ln w="12700">
            <a:solidFill>
              <a:srgbClr val="102A43"/>
            </a:solidFill>
            <a:prstDash val="solid"/>
          </a:ln>
        </p:spPr>
      </p:sp>
      <p:sp>
        <p:nvSpPr>
          <p:cNvPr id="31" name="Text 27"/>
          <p:cNvSpPr txBox="1"/>
          <p:nvPr/>
        </p:nvSpPr>
        <p:spPr>
          <a:xfrm>
            <a:off x="969264" y="5980176"/>
            <a:ext cx="10253167" cy="38404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Los cinco dobles que vienen se escriben sobre esta misma llamada. Lo único que cambia es qué se pasa en «enviar».</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DOBLES 1 Y 2 DE 5</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Dummy: ocupa el lugar. Stub: devuelve una respuesta fija</a:t>
            </a:r>
            <a:endParaRPr lang="en-US" sz="26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término general es DOBLE DE PRUEBA, y la taxonomía viene del libro xUnit Test Patterns de Gerard Meszaros (2007).</a:t>
            </a:r>
            <a:endParaRPr lang="en-US" sz="1450" dirty="0"/>
          </a:p>
        </p:txBody>
      </p:sp>
      <p:sp>
        <p:nvSpPr>
          <p:cNvPr id="11" name="Text 8"/>
          <p:cNvSpPr txBox="1"/>
          <p:nvPr/>
        </p:nvSpPr>
        <p:spPr>
          <a:xfrm>
            <a:off x="658368" y="2286000"/>
            <a:ext cx="64008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DUMMY · SE PASA PARA LLENAR EL PARÁMETRO Y NUNCA SE USA</a:t>
            </a:r>
            <a:endParaRPr lang="en-US" sz="960" dirty="0"/>
          </a:p>
        </p:txBody>
      </p:sp>
      <p:sp>
        <p:nvSpPr>
          <p:cNvPr id="12" name="Shape 9"/>
          <p:cNvSpPr/>
          <p:nvPr/>
        </p:nvSpPr>
        <p:spPr>
          <a:xfrm>
            <a:off x="658368" y="2487168"/>
            <a:ext cx="10872216" cy="1389888"/>
          </a:xfrm>
          <a:prstGeom prst="roundRect">
            <a:avLst>
              <a:gd name="adj" fmla="val 2632"/>
            </a:avLst>
          </a:prstGeom>
          <a:solidFill>
            <a:srgbClr val="102A43"/>
          </a:solidFill>
          <a:ln w="12700">
            <a:solidFill>
              <a:srgbClr val="102A43"/>
            </a:solidFill>
            <a:prstDash val="solid"/>
          </a:ln>
        </p:spPr>
      </p:sp>
      <p:sp>
        <p:nvSpPr>
          <p:cNvPr id="13" name="Shape 10"/>
          <p:cNvSpPr/>
          <p:nvPr/>
        </p:nvSpPr>
        <p:spPr>
          <a:xfrm>
            <a:off x="786384" y="2596896"/>
            <a:ext cx="10616184" cy="310896"/>
          </a:xfrm>
          <a:prstGeom prst="roundRect">
            <a:avLst>
              <a:gd name="adj" fmla="val 8824"/>
            </a:avLst>
          </a:prstGeom>
          <a:solidFill>
            <a:srgbClr val="284B75"/>
          </a:solidFill>
          <a:ln w="12700">
            <a:solidFill>
              <a:srgbClr val="284B75"/>
            </a:solidFill>
            <a:prstDash val="solid"/>
          </a:ln>
        </p:spPr>
      </p:sp>
      <p:sp>
        <p:nvSpPr>
          <p:cNvPr id="14" name="Text 11"/>
          <p:cNvSpPr/>
          <p:nvPr/>
        </p:nvSpPr>
        <p:spPr>
          <a:xfrm>
            <a:off x="896112" y="2670048"/>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Si la reserva se rechaza por cupo, el envío nunca llega a ocurrir</a:t>
            </a:r>
            <a:endParaRPr lang="en-US" sz="100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3054096"/>
            <a:ext cx="10451592" cy="640080"/>
          </a:xfrm>
          <a:prstGeom prst="rect">
            <a:avLst/>
          </a:prstGeom>
        </p:spPr>
      </p:pic>
      <p:sp>
        <p:nvSpPr>
          <p:cNvPr id="16" name="Text 12"/>
          <p:cNvSpPr txBox="1"/>
          <p:nvPr/>
        </p:nvSpPr>
        <p:spPr>
          <a:xfrm>
            <a:off x="658368" y="3950208"/>
            <a:ext cx="10874959" cy="237744"/>
          </a:xfrm>
          <a:prstGeom prst="rect">
            <a:avLst/>
          </a:prstGeom>
          <a:noFill/>
          <a:ln/>
        </p:spPr>
        <p:txBody>
          <a:bodyPr wrap="square" lIns="0" tIns="0" rIns="0" bIns="0" rtlCol="0" anchor="t"/>
          <a:lstStyle/>
          <a:p>
            <a:pPr algn="l" indent="0" marL="0">
              <a:buNone/>
            </a:pPr>
            <a:r>
              <a:rPr lang="en-US" sz="1180" i="1" dirty="0">
                <a:solidFill>
                  <a:srgbClr val="52606D"/>
                </a:solidFill>
                <a:latin typeface="Aptos" pitchFamily="34" charset="0"/>
                <a:ea typeface="Aptos" pitchFamily="34" charset="-122"/>
                <a:cs typeface="Aptos" pitchFamily="34" charset="-120"/>
              </a:rPr>
              <a:t>Que None no explote es la comprobación: prueba que por ese camino no se notifica.</a:t>
            </a:r>
            <a:endParaRPr lang="en-US" sz="1180" dirty="0"/>
          </a:p>
        </p:txBody>
      </p:sp>
      <p:sp>
        <p:nvSpPr>
          <p:cNvPr id="17" name="Text 13"/>
          <p:cNvSpPr txBox="1"/>
          <p:nvPr/>
        </p:nvSpPr>
        <p:spPr>
          <a:xfrm>
            <a:off x="658368" y="4297680"/>
            <a:ext cx="64008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STUB · DEVUELVE UNA RESPUESTA FIJA, Y HACEN FALTA DOS</a:t>
            </a:r>
            <a:endParaRPr lang="en-US" sz="960" dirty="0"/>
          </a:p>
        </p:txBody>
      </p:sp>
      <p:sp>
        <p:nvSpPr>
          <p:cNvPr id="18" name="Shape 14"/>
          <p:cNvSpPr/>
          <p:nvPr/>
        </p:nvSpPr>
        <p:spPr>
          <a:xfrm>
            <a:off x="658368" y="4517136"/>
            <a:ext cx="10872216" cy="1591056"/>
          </a:xfrm>
          <a:prstGeom prst="roundRect">
            <a:avLst>
              <a:gd name="adj" fmla="val 2299"/>
            </a:avLst>
          </a:prstGeom>
          <a:solidFill>
            <a:srgbClr val="102A43"/>
          </a:solidFill>
          <a:ln w="12700">
            <a:solidFill>
              <a:srgbClr val="102A43"/>
            </a:solidFill>
            <a:prstDash val="solid"/>
          </a:ln>
        </p:spPr>
      </p:sp>
      <p:sp>
        <p:nvSpPr>
          <p:cNvPr id="19" name="Shape 15"/>
          <p:cNvSpPr/>
          <p:nvPr/>
        </p:nvSpPr>
        <p:spPr>
          <a:xfrm>
            <a:off x="786384" y="4626864"/>
            <a:ext cx="10616184" cy="310896"/>
          </a:xfrm>
          <a:prstGeom prst="roundRect">
            <a:avLst>
              <a:gd name="adj" fmla="val 8824"/>
            </a:avLst>
          </a:prstGeom>
          <a:solidFill>
            <a:srgbClr val="284B75"/>
          </a:solidFill>
          <a:ln w="12700">
            <a:solidFill>
              <a:srgbClr val="284B75"/>
            </a:solidFill>
            <a:prstDash val="solid"/>
          </a:ln>
        </p:spPr>
      </p:sp>
      <p:sp>
        <p:nvSpPr>
          <p:cNvPr id="20" name="Text 16"/>
          <p:cNvSpPr/>
          <p:nvPr/>
        </p:nvSpPr>
        <p:spPr>
          <a:xfrm>
            <a:off x="896112" y="4700016"/>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Uno para cada desenlace</a:t>
            </a:r>
            <a:endParaRPr lang="en-US" sz="100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7824" y="5084064"/>
            <a:ext cx="10451592" cy="841248"/>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DOBLES 3 Y 4 DE 5</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Spy: además anota. Mock: además exige</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Los dos miran la llamada y no solo el resultado. La diferencia está en quién decide si la llamada estuvo bien.</a:t>
            </a:r>
            <a:endParaRPr lang="en-US" sz="1450" dirty="0"/>
          </a:p>
        </p:txBody>
      </p:sp>
      <p:sp>
        <p:nvSpPr>
          <p:cNvPr id="11" name="Text 8"/>
          <p:cNvSpPr txBox="1"/>
          <p:nvPr/>
        </p:nvSpPr>
        <p:spPr>
          <a:xfrm>
            <a:off x="658368" y="2286000"/>
            <a:ext cx="64008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SPY · UN STUB QUE REGISTRA CÓMO LO LLAMARON</a:t>
            </a:r>
            <a:endParaRPr lang="en-US" sz="960" dirty="0"/>
          </a:p>
        </p:txBody>
      </p:sp>
      <p:sp>
        <p:nvSpPr>
          <p:cNvPr id="12" name="Shape 9"/>
          <p:cNvSpPr/>
          <p:nvPr/>
        </p:nvSpPr>
        <p:spPr>
          <a:xfrm>
            <a:off x="658368" y="2523744"/>
            <a:ext cx="10872216" cy="1389888"/>
          </a:xfrm>
          <a:prstGeom prst="roundRect">
            <a:avLst>
              <a:gd name="adj" fmla="val 2632"/>
            </a:avLst>
          </a:prstGeom>
          <a:solidFill>
            <a:srgbClr val="102A43"/>
          </a:solidFill>
          <a:ln w="12700">
            <a:solidFill>
              <a:srgbClr val="102A43"/>
            </a:solidFill>
            <a:prstDash val="solid"/>
          </a:ln>
        </p:spPr>
      </p:sp>
      <p:sp>
        <p:nvSpPr>
          <p:cNvPr id="13" name="Shape 10"/>
          <p:cNvSpPr/>
          <p:nvPr/>
        </p:nvSpPr>
        <p:spPr>
          <a:xfrm>
            <a:off x="786384" y="2633472"/>
            <a:ext cx="10616184" cy="310896"/>
          </a:xfrm>
          <a:prstGeom prst="roundRect">
            <a:avLst>
              <a:gd name="adj" fmla="val 8824"/>
            </a:avLst>
          </a:prstGeom>
          <a:solidFill>
            <a:srgbClr val="284B75"/>
          </a:solidFill>
          <a:ln w="12700">
            <a:solidFill>
              <a:srgbClr val="284B75"/>
            </a:solidFill>
            <a:prstDash val="solid"/>
          </a:ln>
        </p:spPr>
      </p:sp>
      <p:sp>
        <p:nvSpPr>
          <p:cNvPr id="14" name="Text 11"/>
          <p:cNvSpPr/>
          <p:nvPr/>
        </p:nvSpPr>
        <p:spPr>
          <a:xfrm>
            <a:off x="896112" y="2706624"/>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Permite afirmar sobre lo que SALIÓ del sistema</a:t>
            </a:r>
            <a:endParaRPr lang="en-US" sz="100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3090672"/>
            <a:ext cx="10451592" cy="640080"/>
          </a:xfrm>
          <a:prstGeom prst="rect">
            <a:avLst/>
          </a:prstGeom>
        </p:spPr>
      </p:pic>
      <p:sp>
        <p:nvSpPr>
          <p:cNvPr id="16" name="Text 12"/>
          <p:cNvSpPr txBox="1"/>
          <p:nvPr/>
        </p:nvSpPr>
        <p:spPr>
          <a:xfrm>
            <a:off x="658368" y="4041648"/>
            <a:ext cx="64008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MOCK · VIENE PROGRAMADO CON LA EXPECTATIVA Y FALLA SOLO</a:t>
            </a:r>
            <a:endParaRPr lang="en-US" sz="960" dirty="0"/>
          </a:p>
        </p:txBody>
      </p:sp>
      <p:sp>
        <p:nvSpPr>
          <p:cNvPr id="17" name="Shape 13"/>
          <p:cNvSpPr/>
          <p:nvPr/>
        </p:nvSpPr>
        <p:spPr>
          <a:xfrm>
            <a:off x="658368" y="4279392"/>
            <a:ext cx="6858000" cy="1188720"/>
          </a:xfrm>
          <a:prstGeom prst="roundRect">
            <a:avLst>
              <a:gd name="adj" fmla="val 3077"/>
            </a:avLst>
          </a:prstGeom>
          <a:solidFill>
            <a:srgbClr val="102A43"/>
          </a:solidFill>
          <a:ln w="12700">
            <a:solidFill>
              <a:srgbClr val="102A43"/>
            </a:solidFill>
            <a:prstDash val="solid"/>
          </a:ln>
        </p:spPr>
      </p:sp>
      <p:sp>
        <p:nvSpPr>
          <p:cNvPr id="18" name="Shape 14"/>
          <p:cNvSpPr/>
          <p:nvPr/>
        </p:nvSpPr>
        <p:spPr>
          <a:xfrm>
            <a:off x="786384" y="4389120"/>
            <a:ext cx="6601968" cy="310896"/>
          </a:xfrm>
          <a:prstGeom prst="roundRect">
            <a:avLst>
              <a:gd name="adj" fmla="val 8824"/>
            </a:avLst>
          </a:prstGeom>
          <a:solidFill>
            <a:srgbClr val="284B75"/>
          </a:solidFill>
          <a:ln w="12700">
            <a:solidFill>
              <a:srgbClr val="284B75"/>
            </a:solidFill>
            <a:prstDash val="solid"/>
          </a:ln>
        </p:spPr>
      </p:sp>
      <p:sp>
        <p:nvSpPr>
          <p:cNvPr id="19" name="Text 15"/>
          <p:cNvSpPr/>
          <p:nvPr/>
        </p:nvSpPr>
        <p:spPr>
          <a:xfrm>
            <a:off x="896112" y="4462272"/>
            <a:ext cx="63825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unittest.mock, de la biblioteca estándar</a:t>
            </a:r>
            <a:endParaRPr lang="en-US" sz="1000" dirty="0"/>
          </a:p>
        </p:txBody>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7824" y="4846320"/>
            <a:ext cx="6437376" cy="438912"/>
          </a:xfrm>
          <a:prstGeom prst="rect">
            <a:avLst/>
          </a:prstGeom>
        </p:spPr>
      </p:pic>
      <p:sp>
        <p:nvSpPr>
          <p:cNvPr id="21" name="Shape 16"/>
          <p:cNvSpPr/>
          <p:nvPr/>
        </p:nvSpPr>
        <p:spPr>
          <a:xfrm>
            <a:off x="7699248" y="4279392"/>
            <a:ext cx="3831336" cy="1188720"/>
          </a:xfrm>
          <a:prstGeom prst="rect">
            <a:avLst/>
          </a:prstGeom>
          <a:solidFill>
            <a:srgbClr val="F8E4E5"/>
          </a:solidFill>
          <a:ln w="12700">
            <a:solidFill>
              <a:srgbClr val="F8E4E5"/>
            </a:solidFill>
            <a:prstDash val="solid"/>
          </a:ln>
        </p:spPr>
      </p:sp>
      <p:sp>
        <p:nvSpPr>
          <p:cNvPr id="22" name="Shape 17"/>
          <p:cNvSpPr/>
          <p:nvPr/>
        </p:nvSpPr>
        <p:spPr>
          <a:xfrm>
            <a:off x="7699248" y="4279392"/>
            <a:ext cx="64008" cy="1188720"/>
          </a:xfrm>
          <a:prstGeom prst="rect">
            <a:avLst/>
          </a:prstGeom>
          <a:solidFill>
            <a:srgbClr val="B3181E"/>
          </a:solidFill>
          <a:ln w="12700">
            <a:solidFill>
              <a:srgbClr val="B3181E"/>
            </a:solidFill>
            <a:prstDash val="solid"/>
          </a:ln>
        </p:spPr>
      </p:sp>
      <p:sp>
        <p:nvSpPr>
          <p:cNvPr id="23" name="Text 18"/>
          <p:cNvSpPr txBox="1"/>
          <p:nvPr/>
        </p:nvSpPr>
        <p:spPr>
          <a:xfrm>
            <a:off x="7973568" y="4407408"/>
            <a:ext cx="3291840" cy="93268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Nótese dónde quedó la aserción: esta prueba NO MIRA lo que devolvió confirmar_reserva().</a:t>
            </a:r>
            <a:endParaRPr lang="en-US" sz="1140" dirty="0"/>
          </a:p>
          <a:p>
            <a:pPr algn="l" indent="0" marL="0">
              <a:lnSpc>
                <a:spcPct val="114000"/>
              </a:lnSpc>
              <a:buNone/>
            </a:pPr>
            <a:endParaRPr lang="en-US" sz="1140" dirty="0"/>
          </a:p>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Comprueba que la notificación salió, una sola vez, con ese texto exacto.</a:t>
            </a:r>
            <a:endParaRPr lang="en-US" sz="1140" dirty="0"/>
          </a:p>
        </p:txBody>
      </p:sp>
      <p:sp>
        <p:nvSpPr>
          <p:cNvPr id="24" name="Shape 19"/>
          <p:cNvSpPr/>
          <p:nvPr/>
        </p:nvSpPr>
        <p:spPr>
          <a:xfrm>
            <a:off x="658368" y="5614416"/>
            <a:ext cx="10874959" cy="475488"/>
          </a:xfrm>
          <a:prstGeom prst="rect">
            <a:avLst/>
          </a:prstGeom>
          <a:solidFill>
            <a:srgbClr val="102A43"/>
          </a:solidFill>
          <a:ln w="12700">
            <a:solidFill>
              <a:srgbClr val="102A43"/>
            </a:solidFill>
            <a:prstDash val="solid"/>
          </a:ln>
        </p:spPr>
      </p:sp>
      <p:sp>
        <p:nvSpPr>
          <p:cNvPr id="25" name="Text 20"/>
          <p:cNvSpPr txBox="1"/>
          <p:nvPr/>
        </p:nvSpPr>
        <p:spPr>
          <a:xfrm>
            <a:off x="969264" y="5650992"/>
            <a:ext cx="10253167" cy="402336"/>
          </a:xfrm>
          <a:prstGeom prst="rect">
            <a:avLst/>
          </a:prstGeom>
          <a:noFill/>
          <a:ln/>
        </p:spPr>
        <p:txBody>
          <a:bodyPr wrap="square" lIns="0" tIns="0" rIns="0" bIns="0" rtlCol="0" anchor="ctr"/>
          <a:lstStyle/>
          <a:p>
            <a:pPr algn="ctr" indent="0" marL="0">
              <a:lnSpc>
                <a:spcPct val="110000"/>
              </a:lnSpc>
              <a:buNone/>
            </a:pPr>
            <a:r>
              <a:rPr lang="en-US" sz="1280" b="1" dirty="0">
                <a:solidFill>
                  <a:srgbClr val="FFFFFF"/>
                </a:solidFill>
                <a:latin typeface="Aptos" pitchFamily="34" charset="0"/>
                <a:ea typeface="Aptos" pitchFamily="34" charset="-122"/>
                <a:cs typeface="Aptos" pitchFamily="34" charset="-120"/>
              </a:rPr>
              <a:t>Mock() acepta cualquier llamada y anota todas. return_value dice qué devolver. assert_called_once_with es la aserción.</a:t>
            </a:r>
            <a:endParaRPr lang="en-US" sz="128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DOBLE 5 DE 5</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Fake: una implementación que de verdad funciona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No serviría en el sistema real porque los correos no llegan a ninguna parte y se pierden apenas termina el programa.</a:t>
            </a:r>
            <a:endParaRPr lang="en-US" sz="1450" dirty="0"/>
          </a:p>
        </p:txBody>
      </p:sp>
      <p:sp>
        <p:nvSpPr>
          <p:cNvPr id="11" name="Shape 8"/>
          <p:cNvSpPr/>
          <p:nvPr/>
        </p:nvSpPr>
        <p:spPr>
          <a:xfrm>
            <a:off x="658368" y="2286000"/>
            <a:ext cx="6309360" cy="2194560"/>
          </a:xfrm>
          <a:prstGeom prst="roundRect">
            <a:avLst>
              <a:gd name="adj" fmla="val 1667"/>
            </a:avLst>
          </a:prstGeom>
          <a:solidFill>
            <a:srgbClr val="102A43"/>
          </a:solidFill>
          <a:ln w="12700">
            <a:solidFill>
              <a:srgbClr val="102A43"/>
            </a:solidFill>
            <a:prstDash val="solid"/>
          </a:ln>
        </p:spPr>
      </p:sp>
      <p:sp>
        <p:nvSpPr>
          <p:cNvPr id="12" name="Shape 9"/>
          <p:cNvSpPr/>
          <p:nvPr/>
        </p:nvSpPr>
        <p:spPr>
          <a:xfrm>
            <a:off x="786384" y="2395728"/>
            <a:ext cx="605332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83387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Una bandeja de salida guardada en memoria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888736" cy="1444752"/>
          </a:xfrm>
          <a:prstGeom prst="rect">
            <a:avLst/>
          </a:prstGeom>
        </p:spPr>
      </p:pic>
      <p:sp>
        <p:nvSpPr>
          <p:cNvPr id="15" name="Shape 11"/>
          <p:cNvSpPr/>
          <p:nvPr/>
        </p:nvSpPr>
        <p:spPr>
          <a:xfrm>
            <a:off x="7150608" y="2286000"/>
            <a:ext cx="4379976" cy="438912"/>
          </a:xfrm>
          <a:prstGeom prst="rect">
            <a:avLst/>
          </a:prstGeom>
          <a:solidFill>
            <a:srgbClr val="FFFFFF"/>
          </a:solidFill>
          <a:ln w="12700">
            <a:solidFill>
              <a:srgbClr val="FFFFFF"/>
            </a:solidFill>
            <a:prstDash val="solid"/>
          </a:ln>
        </p:spPr>
      </p:sp>
      <p:sp>
        <p:nvSpPr>
          <p:cNvPr id="16" name="Shape 12"/>
          <p:cNvSpPr/>
          <p:nvPr/>
        </p:nvSpPr>
        <p:spPr>
          <a:xfrm>
            <a:off x="7150608" y="2286000"/>
            <a:ext cx="45720" cy="438912"/>
          </a:xfrm>
          <a:prstGeom prst="rect">
            <a:avLst/>
          </a:prstGeom>
          <a:solidFill>
            <a:srgbClr val="102A43"/>
          </a:solidFill>
          <a:ln w="12700">
            <a:solidFill>
              <a:srgbClr val="102A43"/>
            </a:solidFill>
            <a:prstDash val="solid"/>
          </a:ln>
        </p:spPr>
      </p:sp>
      <p:sp>
        <p:nvSpPr>
          <p:cNvPr id="17" name="Text 13"/>
          <p:cNvSpPr txBox="1"/>
          <p:nvPr/>
        </p:nvSpPr>
        <p:spPr>
          <a:xfrm>
            <a:off x="7351776" y="2313432"/>
            <a:ext cx="1371600" cy="384048"/>
          </a:xfrm>
          <a:prstGeom prst="rect">
            <a:avLst/>
          </a:prstGeom>
          <a:noFill/>
          <a:ln/>
        </p:spPr>
        <p:txBody>
          <a:bodyPr wrap="square" lIns="0" tIns="0" rIns="0" bIns="0" rtlCol="0" anchor="ctr"/>
          <a:lstStyle/>
          <a:p>
            <a:pPr algn="l" indent="0" marL="0">
              <a:buNone/>
            </a:pPr>
            <a:r>
              <a:rPr lang="en-US" sz="940" b="1" dirty="0">
                <a:solidFill>
                  <a:srgbClr val="102A43"/>
                </a:solidFill>
                <a:latin typeface="Consolas" pitchFamily="34" charset="0"/>
                <a:ea typeface="Consolas" pitchFamily="34" charset="-122"/>
                <a:cs typeface="Consolas" pitchFamily="34" charset="-120"/>
              </a:rPr>
              <a:t>class</a:t>
            </a:r>
            <a:endParaRPr lang="en-US" sz="940" dirty="0"/>
          </a:p>
        </p:txBody>
      </p:sp>
      <p:sp>
        <p:nvSpPr>
          <p:cNvPr id="18" name="Text 14"/>
          <p:cNvSpPr txBox="1"/>
          <p:nvPr/>
        </p:nvSpPr>
        <p:spPr>
          <a:xfrm>
            <a:off x="8796528" y="2313432"/>
            <a:ext cx="2596896" cy="384048"/>
          </a:xfrm>
          <a:prstGeom prst="rect">
            <a:avLst/>
          </a:prstGeom>
          <a:noFill/>
          <a:ln/>
        </p:spPr>
        <p:txBody>
          <a:bodyPr wrap="square" lIns="0" tIns="0" rIns="0" bIns="0" rtlCol="0" anchor="ctr"/>
          <a:lstStyle/>
          <a:p>
            <a:pPr algn="l" indent="0" marL="0">
              <a:lnSpc>
                <a:spcPct val="108000"/>
              </a:lnSpc>
              <a:buNone/>
            </a:pPr>
            <a:r>
              <a:rPr lang="en-US" sz="960" dirty="0">
                <a:solidFill>
                  <a:srgbClr val="243B53"/>
                </a:solidFill>
                <a:latin typeface="Aptos" pitchFamily="34" charset="0"/>
                <a:ea typeface="Aptos" pitchFamily="34" charset="-122"/>
                <a:cs typeface="Aptos" pitchFamily="34" charset="-120"/>
              </a:rPr>
              <a:t>Un molde que junta datos y las funciones que operan sobre ellos.</a:t>
            </a:r>
            <a:endParaRPr lang="en-US" sz="960" dirty="0"/>
          </a:p>
        </p:txBody>
      </p:sp>
      <p:sp>
        <p:nvSpPr>
          <p:cNvPr id="19" name="Shape 15"/>
          <p:cNvSpPr/>
          <p:nvPr/>
        </p:nvSpPr>
        <p:spPr>
          <a:xfrm>
            <a:off x="7150608" y="2798064"/>
            <a:ext cx="4379976" cy="438912"/>
          </a:xfrm>
          <a:prstGeom prst="rect">
            <a:avLst/>
          </a:prstGeom>
          <a:solidFill>
            <a:srgbClr val="EDE6DA"/>
          </a:solidFill>
          <a:ln w="12700">
            <a:solidFill>
              <a:srgbClr val="EDE6DA"/>
            </a:solidFill>
            <a:prstDash val="solid"/>
          </a:ln>
        </p:spPr>
      </p:sp>
      <p:sp>
        <p:nvSpPr>
          <p:cNvPr id="20" name="Shape 16"/>
          <p:cNvSpPr/>
          <p:nvPr/>
        </p:nvSpPr>
        <p:spPr>
          <a:xfrm>
            <a:off x="7150608" y="2798064"/>
            <a:ext cx="45720" cy="438912"/>
          </a:xfrm>
          <a:prstGeom prst="rect">
            <a:avLst/>
          </a:prstGeom>
          <a:solidFill>
            <a:srgbClr val="102A43"/>
          </a:solidFill>
          <a:ln w="12700">
            <a:solidFill>
              <a:srgbClr val="102A43"/>
            </a:solidFill>
            <a:prstDash val="solid"/>
          </a:ln>
        </p:spPr>
      </p:sp>
      <p:sp>
        <p:nvSpPr>
          <p:cNvPr id="21" name="Text 17"/>
          <p:cNvSpPr txBox="1"/>
          <p:nvPr/>
        </p:nvSpPr>
        <p:spPr>
          <a:xfrm>
            <a:off x="7351776" y="2825496"/>
            <a:ext cx="1371600" cy="384048"/>
          </a:xfrm>
          <a:prstGeom prst="rect">
            <a:avLst/>
          </a:prstGeom>
          <a:noFill/>
          <a:ln/>
        </p:spPr>
        <p:txBody>
          <a:bodyPr wrap="square" lIns="0" tIns="0" rIns="0" bIns="0" rtlCol="0" anchor="ctr"/>
          <a:lstStyle/>
          <a:p>
            <a:pPr algn="l" indent="0" marL="0">
              <a:buNone/>
            </a:pPr>
            <a:r>
              <a:rPr lang="en-US" sz="940" b="1" dirty="0">
                <a:solidFill>
                  <a:srgbClr val="102A43"/>
                </a:solidFill>
                <a:latin typeface="Consolas" pitchFamily="34" charset="0"/>
                <a:ea typeface="Consolas" pitchFamily="34" charset="-122"/>
                <a:cs typeface="Consolas" pitchFamily="34" charset="-120"/>
              </a:rPr>
              <a:t>__init__</a:t>
            </a:r>
            <a:endParaRPr lang="en-US" sz="940" dirty="0"/>
          </a:p>
        </p:txBody>
      </p:sp>
      <p:sp>
        <p:nvSpPr>
          <p:cNvPr id="22" name="Text 18"/>
          <p:cNvSpPr txBox="1"/>
          <p:nvPr/>
        </p:nvSpPr>
        <p:spPr>
          <a:xfrm>
            <a:off x="8796528" y="2825496"/>
            <a:ext cx="2596896" cy="384048"/>
          </a:xfrm>
          <a:prstGeom prst="rect">
            <a:avLst/>
          </a:prstGeom>
          <a:noFill/>
          <a:ln/>
        </p:spPr>
        <p:txBody>
          <a:bodyPr wrap="square" lIns="0" tIns="0" rIns="0" bIns="0" rtlCol="0" anchor="ctr"/>
          <a:lstStyle/>
          <a:p>
            <a:pPr algn="l" indent="0" marL="0">
              <a:lnSpc>
                <a:spcPct val="108000"/>
              </a:lnSpc>
              <a:buNone/>
            </a:pPr>
            <a:r>
              <a:rPr lang="en-US" sz="960" dirty="0">
                <a:solidFill>
                  <a:srgbClr val="243B53"/>
                </a:solidFill>
                <a:latin typeface="Aptos" pitchFamily="34" charset="0"/>
                <a:ea typeface="Aptos" pitchFamily="34" charset="-122"/>
                <a:cs typeface="Aptos" pitchFamily="34" charset="-120"/>
              </a:rPr>
              <a:t>Lo que Python ejecuta AL FABRICAR el objeto. Los guiones bajos marcan un nombre especial.</a:t>
            </a:r>
            <a:endParaRPr lang="en-US" sz="960" dirty="0"/>
          </a:p>
        </p:txBody>
      </p:sp>
      <p:sp>
        <p:nvSpPr>
          <p:cNvPr id="23" name="Shape 19"/>
          <p:cNvSpPr/>
          <p:nvPr/>
        </p:nvSpPr>
        <p:spPr>
          <a:xfrm>
            <a:off x="7150608" y="3310128"/>
            <a:ext cx="4379976" cy="438912"/>
          </a:xfrm>
          <a:prstGeom prst="rect">
            <a:avLst/>
          </a:prstGeom>
          <a:solidFill>
            <a:srgbClr val="FFFFFF"/>
          </a:solidFill>
          <a:ln w="12700">
            <a:solidFill>
              <a:srgbClr val="FFFFFF"/>
            </a:solidFill>
            <a:prstDash val="solid"/>
          </a:ln>
        </p:spPr>
      </p:sp>
      <p:sp>
        <p:nvSpPr>
          <p:cNvPr id="24" name="Shape 20"/>
          <p:cNvSpPr/>
          <p:nvPr/>
        </p:nvSpPr>
        <p:spPr>
          <a:xfrm>
            <a:off x="7150608" y="3310128"/>
            <a:ext cx="45720" cy="438912"/>
          </a:xfrm>
          <a:prstGeom prst="rect">
            <a:avLst/>
          </a:prstGeom>
          <a:solidFill>
            <a:srgbClr val="102A43"/>
          </a:solidFill>
          <a:ln w="12700">
            <a:solidFill>
              <a:srgbClr val="102A43"/>
            </a:solidFill>
            <a:prstDash val="solid"/>
          </a:ln>
        </p:spPr>
      </p:sp>
      <p:sp>
        <p:nvSpPr>
          <p:cNvPr id="25" name="Text 21"/>
          <p:cNvSpPr txBox="1"/>
          <p:nvPr/>
        </p:nvSpPr>
        <p:spPr>
          <a:xfrm>
            <a:off x="7351776" y="3337560"/>
            <a:ext cx="1371600" cy="384048"/>
          </a:xfrm>
          <a:prstGeom prst="rect">
            <a:avLst/>
          </a:prstGeom>
          <a:noFill/>
          <a:ln/>
        </p:spPr>
        <p:txBody>
          <a:bodyPr wrap="square" lIns="0" tIns="0" rIns="0" bIns="0" rtlCol="0" anchor="ctr"/>
          <a:lstStyle/>
          <a:p>
            <a:pPr algn="l" indent="0" marL="0">
              <a:buNone/>
            </a:pPr>
            <a:r>
              <a:rPr lang="en-US" sz="940" b="1" dirty="0">
                <a:solidFill>
                  <a:srgbClr val="102A43"/>
                </a:solidFill>
                <a:latin typeface="Consolas" pitchFamily="34" charset="0"/>
                <a:ea typeface="Consolas" pitchFamily="34" charset="-122"/>
                <a:cs typeface="Consolas" pitchFamily="34" charset="-120"/>
              </a:rPr>
              <a:t>self</a:t>
            </a:r>
            <a:endParaRPr lang="en-US" sz="940" dirty="0"/>
          </a:p>
        </p:txBody>
      </p:sp>
      <p:sp>
        <p:nvSpPr>
          <p:cNvPr id="26" name="Text 22"/>
          <p:cNvSpPr txBox="1"/>
          <p:nvPr/>
        </p:nvSpPr>
        <p:spPr>
          <a:xfrm>
            <a:off x="8796528" y="3337560"/>
            <a:ext cx="2596896" cy="384048"/>
          </a:xfrm>
          <a:prstGeom prst="rect">
            <a:avLst/>
          </a:prstGeom>
          <a:noFill/>
          <a:ln/>
        </p:spPr>
        <p:txBody>
          <a:bodyPr wrap="square" lIns="0" tIns="0" rIns="0" bIns="0" rtlCol="0" anchor="ctr"/>
          <a:lstStyle/>
          <a:p>
            <a:pPr algn="l" indent="0" marL="0">
              <a:lnSpc>
                <a:spcPct val="108000"/>
              </a:lnSpc>
              <a:buNone/>
            </a:pPr>
            <a:r>
              <a:rPr lang="en-US" sz="960" dirty="0">
                <a:solidFill>
                  <a:srgbClr val="243B53"/>
                </a:solidFill>
                <a:latin typeface="Aptos" pitchFamily="34" charset="0"/>
                <a:ea typeface="Aptos" pitchFamily="34" charset="-122"/>
                <a:cs typeface="Aptos" pitchFamily="34" charset="-120"/>
              </a:rPr>
              <a:t>El objeto que se está usando. self.enviados es la lista DE ESTE objeto.</a:t>
            </a:r>
            <a:endParaRPr lang="en-US" sz="960" dirty="0"/>
          </a:p>
        </p:txBody>
      </p:sp>
      <p:sp>
        <p:nvSpPr>
          <p:cNvPr id="27" name="Shape 23"/>
          <p:cNvSpPr/>
          <p:nvPr/>
        </p:nvSpPr>
        <p:spPr>
          <a:xfrm>
            <a:off x="7150608" y="3822192"/>
            <a:ext cx="4379976" cy="438912"/>
          </a:xfrm>
          <a:prstGeom prst="rect">
            <a:avLst/>
          </a:prstGeom>
          <a:solidFill>
            <a:srgbClr val="EDE6DA"/>
          </a:solidFill>
          <a:ln w="12700">
            <a:solidFill>
              <a:srgbClr val="EDE6DA"/>
            </a:solidFill>
            <a:prstDash val="solid"/>
          </a:ln>
        </p:spPr>
      </p:sp>
      <p:sp>
        <p:nvSpPr>
          <p:cNvPr id="28" name="Shape 24"/>
          <p:cNvSpPr/>
          <p:nvPr/>
        </p:nvSpPr>
        <p:spPr>
          <a:xfrm>
            <a:off x="7150608" y="3822192"/>
            <a:ext cx="45720" cy="438912"/>
          </a:xfrm>
          <a:prstGeom prst="rect">
            <a:avLst/>
          </a:prstGeom>
          <a:solidFill>
            <a:srgbClr val="102A43"/>
          </a:solidFill>
          <a:ln w="12700">
            <a:solidFill>
              <a:srgbClr val="102A43"/>
            </a:solidFill>
            <a:prstDash val="solid"/>
          </a:ln>
        </p:spPr>
      </p:sp>
      <p:sp>
        <p:nvSpPr>
          <p:cNvPr id="29" name="Text 25"/>
          <p:cNvSpPr txBox="1"/>
          <p:nvPr/>
        </p:nvSpPr>
        <p:spPr>
          <a:xfrm>
            <a:off x="7351776" y="3849624"/>
            <a:ext cx="1371600" cy="384048"/>
          </a:xfrm>
          <a:prstGeom prst="rect">
            <a:avLst/>
          </a:prstGeom>
          <a:noFill/>
          <a:ln/>
        </p:spPr>
        <p:txBody>
          <a:bodyPr wrap="square" lIns="0" tIns="0" rIns="0" bIns="0" rtlCol="0" anchor="ctr"/>
          <a:lstStyle/>
          <a:p>
            <a:pPr algn="l" indent="0" marL="0">
              <a:buNone/>
            </a:pPr>
            <a:r>
              <a:rPr lang="en-US" sz="940" b="1" dirty="0">
                <a:solidFill>
                  <a:srgbClr val="102A43"/>
                </a:solidFill>
                <a:latin typeface="Consolas" pitchFamily="34" charset="0"/>
                <a:ea typeface="Consolas" pitchFamily="34" charset="-122"/>
                <a:cs typeface="Consolas" pitchFamily="34" charset="-120"/>
              </a:rPr>
              <a:t>"@" not in correo</a:t>
            </a:r>
            <a:endParaRPr lang="en-US" sz="940" dirty="0"/>
          </a:p>
        </p:txBody>
      </p:sp>
      <p:sp>
        <p:nvSpPr>
          <p:cNvPr id="30" name="Text 26"/>
          <p:cNvSpPr txBox="1"/>
          <p:nvPr/>
        </p:nvSpPr>
        <p:spPr>
          <a:xfrm>
            <a:off x="8796528" y="3849624"/>
            <a:ext cx="2596896" cy="384048"/>
          </a:xfrm>
          <a:prstGeom prst="rect">
            <a:avLst/>
          </a:prstGeom>
          <a:noFill/>
          <a:ln/>
        </p:spPr>
        <p:txBody>
          <a:bodyPr wrap="square" lIns="0" tIns="0" rIns="0" bIns="0" rtlCol="0" anchor="ctr"/>
          <a:lstStyle/>
          <a:p>
            <a:pPr algn="l" indent="0" marL="0">
              <a:lnSpc>
                <a:spcPct val="108000"/>
              </a:lnSpc>
              <a:buNone/>
            </a:pPr>
            <a:r>
              <a:rPr lang="en-US" sz="960" dirty="0">
                <a:solidFill>
                  <a:srgbClr val="243B53"/>
                </a:solidFill>
                <a:latin typeface="Aptos" pitchFamily="34" charset="0"/>
                <a:ea typeface="Aptos" pitchFamily="34" charset="-122"/>
                <a:cs typeface="Aptos" pitchFamily="34" charset="-120"/>
              </a:rPr>
              <a:t>Validación mínima de una dirección de correo.</a:t>
            </a:r>
            <a:endParaRPr lang="en-US" sz="960" dirty="0"/>
          </a:p>
        </p:txBody>
      </p:sp>
      <p:sp>
        <p:nvSpPr>
          <p:cNvPr id="31" name="Shape 27"/>
          <p:cNvSpPr/>
          <p:nvPr/>
        </p:nvSpPr>
        <p:spPr>
          <a:xfrm>
            <a:off x="658368" y="4608576"/>
            <a:ext cx="10874959" cy="548640"/>
          </a:xfrm>
          <a:prstGeom prst="rect">
            <a:avLst/>
          </a:prstGeom>
          <a:solidFill>
            <a:srgbClr val="F2E7D9"/>
          </a:solidFill>
          <a:ln w="12700">
            <a:solidFill>
              <a:srgbClr val="F2E7D9"/>
            </a:solidFill>
            <a:prstDash val="solid"/>
          </a:ln>
        </p:spPr>
      </p:sp>
      <p:sp>
        <p:nvSpPr>
          <p:cNvPr id="32" name="Shape 28"/>
          <p:cNvSpPr/>
          <p:nvPr/>
        </p:nvSpPr>
        <p:spPr>
          <a:xfrm>
            <a:off x="658368" y="4608576"/>
            <a:ext cx="54864" cy="548640"/>
          </a:xfrm>
          <a:prstGeom prst="rect">
            <a:avLst/>
          </a:prstGeom>
          <a:solidFill>
            <a:srgbClr val="8A6A12"/>
          </a:solidFill>
          <a:ln w="12700">
            <a:solidFill>
              <a:srgbClr val="8A6A12"/>
            </a:solidFill>
            <a:prstDash val="solid"/>
          </a:ln>
        </p:spPr>
      </p:sp>
      <p:sp>
        <p:nvSpPr>
          <p:cNvPr id="33" name="Text 29"/>
          <p:cNvSpPr txBox="1"/>
          <p:nvPr/>
        </p:nvSpPr>
        <p:spPr>
          <a:xfrm>
            <a:off x="932688" y="4681728"/>
            <a:ext cx="10326319" cy="402336"/>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Es un fake y no un stub porque TIENE COMPORTAMIENTO PROPIO: acepta o rechaza según lo que recibe, y guarda lo aceptado.</a:t>
            </a:r>
            <a:endParaRPr lang="en-US" sz="1300" dirty="0"/>
          </a:p>
        </p:txBody>
      </p:sp>
      <p:sp>
        <p:nvSpPr>
          <p:cNvPr id="34" name="Shape 30"/>
          <p:cNvSpPr/>
          <p:nvPr/>
        </p:nvSpPr>
        <p:spPr>
          <a:xfrm>
            <a:off x="658368" y="5266944"/>
            <a:ext cx="10872216" cy="786384"/>
          </a:xfrm>
          <a:prstGeom prst="roundRect">
            <a:avLst>
              <a:gd name="adj" fmla="val 4651"/>
            </a:avLst>
          </a:prstGeom>
          <a:solidFill>
            <a:srgbClr val="0F1720"/>
          </a:solidFill>
          <a:ln w="12700">
            <a:solidFill>
              <a:srgbClr val="0F1720"/>
            </a:solidFill>
            <a:prstDash val="solid"/>
          </a:ln>
        </p:spPr>
      </p:sp>
      <p:sp>
        <p:nvSpPr>
          <p:cNvPr id="35" name="Shape 31"/>
          <p:cNvSpPr/>
          <p:nvPr/>
        </p:nvSpPr>
        <p:spPr>
          <a:xfrm>
            <a:off x="786384" y="5376672"/>
            <a:ext cx="10616184" cy="310896"/>
          </a:xfrm>
          <a:prstGeom prst="roundRect">
            <a:avLst>
              <a:gd name="adj" fmla="val 8824"/>
            </a:avLst>
          </a:prstGeom>
          <a:solidFill>
            <a:srgbClr val="1E2937"/>
          </a:solidFill>
          <a:ln w="12700">
            <a:solidFill>
              <a:srgbClr val="1E2937"/>
            </a:solidFill>
            <a:prstDash val="solid"/>
          </a:ln>
        </p:spPr>
      </p:sp>
      <p:sp>
        <p:nvSpPr>
          <p:cNvPr id="36" name="Text 32"/>
          <p:cNvSpPr/>
          <p:nvPr/>
        </p:nvSpPr>
        <p:spPr>
          <a:xfrm>
            <a:off x="914400" y="5449824"/>
            <a:ext cx="1036015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Los seis casos de los cinco tipos</a:t>
            </a:r>
            <a:endParaRPr lang="en-US" sz="1000" dirty="0"/>
          </a:p>
        </p:txBody>
      </p:sp>
      <p:sp>
        <p:nvSpPr>
          <p:cNvPr id="37" name="Text 33"/>
          <p:cNvSpPr/>
          <p:nvPr/>
        </p:nvSpPr>
        <p:spPr>
          <a:xfrm>
            <a:off x="877824" y="5833872"/>
            <a:ext cx="10122408"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6 passed in 0.15s</a:t>
            </a:r>
            <a:endParaRPr lang="en-US" sz="104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56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3 · EL CRITERIO QUE ORDENA LOS CINCO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Verificar el estado o verificar la conversación</a:t>
            </a:r>
            <a:endParaRPr lang="en-US" sz="3000" dirty="0"/>
          </a:p>
        </p:txBody>
      </p:sp>
      <p:sp>
        <p:nvSpPr>
          <p:cNvPr id="10" name="Shape 7"/>
          <p:cNvSpPr/>
          <p:nvPr/>
        </p:nvSpPr>
        <p:spPr>
          <a:xfrm>
            <a:off x="658368" y="2121408"/>
            <a:ext cx="10874959" cy="512064"/>
          </a:xfrm>
          <a:prstGeom prst="rect">
            <a:avLst/>
          </a:prstGeom>
          <a:solidFill>
            <a:srgbClr val="1D3A57"/>
          </a:solidFill>
          <a:ln w="12700">
            <a:solidFill>
              <a:srgbClr val="1D3A57"/>
            </a:solidFill>
            <a:prstDash val="solid"/>
          </a:ln>
        </p:spPr>
      </p:sp>
      <p:sp>
        <p:nvSpPr>
          <p:cNvPr id="11" name="Shape 8"/>
          <p:cNvSpPr/>
          <p:nvPr/>
        </p:nvSpPr>
        <p:spPr>
          <a:xfrm>
            <a:off x="658368" y="2121408"/>
            <a:ext cx="64008" cy="512064"/>
          </a:xfrm>
          <a:prstGeom prst="rect">
            <a:avLst/>
          </a:prstGeom>
          <a:solidFill>
            <a:srgbClr val="E0BC5A"/>
          </a:solidFill>
          <a:ln w="12700">
            <a:solidFill>
              <a:srgbClr val="E0BC5A"/>
            </a:solidFill>
            <a:prstDash val="solid"/>
          </a:ln>
        </p:spPr>
      </p:sp>
      <p:sp>
        <p:nvSpPr>
          <p:cNvPr id="12" name="Text 9"/>
          <p:cNvSpPr txBox="1"/>
          <p:nvPr/>
        </p:nvSpPr>
        <p:spPr>
          <a:xfrm>
            <a:off x="969264" y="2231136"/>
            <a:ext cx="10308031" cy="292608"/>
          </a:xfrm>
          <a:prstGeom prst="rect">
            <a:avLst/>
          </a:prstGeom>
          <a:noFill/>
          <a:ln/>
        </p:spPr>
        <p:txBody>
          <a:bodyPr wrap="square" lIns="0" tIns="0" rIns="0" bIns="0" rtlCol="0" anchor="ctr"/>
          <a:lstStyle/>
          <a:p>
            <a:pPr algn="l" indent="0" marL="0">
              <a:lnSpc>
                <a:spcPct val="118000"/>
              </a:lnSpc>
              <a:buNone/>
            </a:pPr>
            <a:r>
              <a:rPr lang="en-US" sz="1160" i="1" dirty="0">
                <a:solidFill>
                  <a:srgbClr val="FFFFFF"/>
                </a:solidFill>
                <a:latin typeface="Aptos" pitchFamily="34" charset="0"/>
                <a:ea typeface="Aptos" pitchFamily="34" charset="-122"/>
                <a:cs typeface="Aptos" pitchFamily="34" charset="-120"/>
              </a:rPr>
              <a:t>“With state verification we do this by asserts against the warehouse's state. Mocks use behavior verification, where we instead check to see if the order made the correct calls on the warehouse.”</a:t>
            </a:r>
            <a:endParaRPr lang="en-US" sz="1160" dirty="0"/>
          </a:p>
        </p:txBody>
      </p:sp>
      <p:sp>
        <p:nvSpPr>
          <p:cNvPr id="13" name="Shape 10"/>
          <p:cNvSpPr/>
          <p:nvPr/>
        </p:nvSpPr>
        <p:spPr>
          <a:xfrm>
            <a:off x="658368" y="2706624"/>
            <a:ext cx="10874959" cy="512064"/>
          </a:xfrm>
          <a:prstGeom prst="rect">
            <a:avLst/>
          </a:prstGeom>
          <a:solidFill>
            <a:srgbClr val="102A43"/>
          </a:solidFill>
          <a:ln w="12700">
            <a:solidFill>
              <a:srgbClr val="102A43"/>
            </a:solidFill>
            <a:prstDash val="solid"/>
          </a:ln>
        </p:spPr>
      </p:sp>
      <p:sp>
        <p:nvSpPr>
          <p:cNvPr id="14" name="Shape 11"/>
          <p:cNvSpPr/>
          <p:nvPr/>
        </p:nvSpPr>
        <p:spPr>
          <a:xfrm>
            <a:off x="658368" y="2706624"/>
            <a:ext cx="64008" cy="512064"/>
          </a:xfrm>
          <a:prstGeom prst="rect">
            <a:avLst/>
          </a:prstGeom>
          <a:solidFill>
            <a:srgbClr val="EADFD0"/>
          </a:solidFill>
          <a:ln w="12700">
            <a:solidFill>
              <a:srgbClr val="EADFD0"/>
            </a:solidFill>
            <a:prstDash val="solid"/>
          </a:ln>
        </p:spPr>
      </p:sp>
      <p:sp>
        <p:nvSpPr>
          <p:cNvPr id="15" name="Text 12"/>
          <p:cNvSpPr txBox="1"/>
          <p:nvPr/>
        </p:nvSpPr>
        <p:spPr>
          <a:xfrm>
            <a:off x="969264" y="2816352"/>
            <a:ext cx="10308031" cy="292608"/>
          </a:xfrm>
          <a:prstGeom prst="rect">
            <a:avLst/>
          </a:prstGeom>
          <a:noFill/>
          <a:ln/>
        </p:spPr>
        <p:txBody>
          <a:bodyPr wrap="square" lIns="0" tIns="0" rIns="0" bIns="0" rtlCol="0" anchor="ctr"/>
          <a:lstStyle/>
          <a:p>
            <a:pPr algn="l" indent="0" marL="0">
              <a:lnSpc>
                <a:spcPct val="118000"/>
              </a:lnSpc>
              <a:buNone/>
            </a:pPr>
            <a:r>
              <a:rPr lang="en-US" sz="1160" i="1" dirty="0">
                <a:solidFill>
                  <a:srgbClr val="EADFD0"/>
                </a:solidFill>
                <a:latin typeface="Aptos" pitchFamily="34" charset="0"/>
                <a:ea typeface="Aptos" pitchFamily="34" charset="-122"/>
                <a:cs typeface="Aptos" pitchFamily="34" charset="-120"/>
              </a:rPr>
              <a:t>“Con la verificación de estado hacemos esto mediante aserciones contra el estado del almacén. Los mocks usan verificación de comportamiento, donde comprobamos si el pedido hizo las llamadas correctas sobre el almacén.”</a:t>
            </a:r>
            <a:endParaRPr lang="en-US" sz="1160" dirty="0"/>
          </a:p>
        </p:txBody>
      </p:sp>
      <p:sp>
        <p:nvSpPr>
          <p:cNvPr id="16" name="Shape 13"/>
          <p:cNvSpPr/>
          <p:nvPr/>
        </p:nvSpPr>
        <p:spPr>
          <a:xfrm>
            <a:off x="658368" y="3456432"/>
            <a:ext cx="10874959" cy="384048"/>
          </a:xfrm>
          <a:prstGeom prst="rect">
            <a:avLst/>
          </a:prstGeom>
          <a:solidFill>
            <a:srgbClr val="1D3A57"/>
          </a:solidFill>
          <a:ln w="12700">
            <a:solidFill>
              <a:srgbClr val="1D3A57"/>
            </a:solidFill>
            <a:prstDash val="solid"/>
          </a:ln>
        </p:spPr>
      </p:sp>
      <p:sp>
        <p:nvSpPr>
          <p:cNvPr id="17" name="Text 14"/>
          <p:cNvSpPr txBox="1"/>
          <p:nvPr/>
        </p:nvSpPr>
        <p:spPr>
          <a:xfrm>
            <a:off x="896112" y="3474720"/>
            <a:ext cx="1097280" cy="347472"/>
          </a:xfrm>
          <a:prstGeom prst="rect">
            <a:avLst/>
          </a:prstGeom>
          <a:noFill/>
          <a:ln/>
        </p:spPr>
        <p:txBody>
          <a:bodyPr wrap="square" lIns="0" tIns="0" rIns="0" bIns="0" rtlCol="0" anchor="ctr"/>
          <a:lstStyle/>
          <a:p>
            <a:pPr algn="l" indent="0" marL="0">
              <a:buNone/>
            </a:pPr>
            <a:r>
              <a:rPr lang="en-US" sz="1240" b="1" dirty="0">
                <a:solidFill>
                  <a:srgbClr val="E0BC5A"/>
                </a:solidFill>
                <a:latin typeface="Aptos" pitchFamily="34" charset="0"/>
                <a:ea typeface="Aptos" pitchFamily="34" charset="-122"/>
                <a:cs typeface="Aptos" pitchFamily="34" charset="-120"/>
              </a:rPr>
              <a:t>Dummy</a:t>
            </a:r>
            <a:endParaRPr lang="en-US" sz="1240" dirty="0"/>
          </a:p>
        </p:txBody>
      </p:sp>
      <p:sp>
        <p:nvSpPr>
          <p:cNvPr id="18" name="Text 15"/>
          <p:cNvSpPr txBox="1"/>
          <p:nvPr/>
        </p:nvSpPr>
        <p:spPr>
          <a:xfrm>
            <a:off x="2121408" y="3474720"/>
            <a:ext cx="3291840" cy="347472"/>
          </a:xfrm>
          <a:prstGeom prst="rect">
            <a:avLst/>
          </a:prstGeom>
          <a:noFill/>
          <a:ln/>
        </p:spPr>
        <p:txBody>
          <a:bodyPr wrap="square" lIns="0" tIns="0" rIns="0" bIns="0" rtlCol="0" anchor="ctr"/>
          <a:lstStyle/>
          <a:p>
            <a:pPr algn="l" indent="0" marL="0">
              <a:buNone/>
            </a:pPr>
            <a:r>
              <a:rPr lang="en-US" sz="1140" dirty="0">
                <a:solidFill>
                  <a:srgbClr val="FFFFFF"/>
                </a:solidFill>
                <a:latin typeface="Aptos" pitchFamily="34" charset="0"/>
                <a:ea typeface="Aptos" pitchFamily="34" charset="-122"/>
                <a:cs typeface="Aptos" pitchFamily="34" charset="-120"/>
              </a:rPr>
              <a:t>Nada; ocupa el lugar</a:t>
            </a:r>
            <a:endParaRPr lang="en-US" sz="1140" dirty="0"/>
          </a:p>
        </p:txBody>
      </p:sp>
      <p:sp>
        <p:nvSpPr>
          <p:cNvPr id="19" name="Text 16"/>
          <p:cNvSpPr txBox="1"/>
          <p:nvPr/>
        </p:nvSpPr>
        <p:spPr>
          <a:xfrm>
            <a:off x="5596128" y="3474720"/>
            <a:ext cx="5662879" cy="347472"/>
          </a:xfrm>
          <a:prstGeom prst="rect">
            <a:avLst/>
          </a:prstGeom>
          <a:noFill/>
          <a:ln/>
        </p:spPr>
        <p:txBody>
          <a:bodyPr wrap="square" lIns="0" tIns="0" rIns="0" bIns="0" rtlCol="0" anchor="ctr"/>
          <a:lstStyle/>
          <a:p>
            <a:pPr algn="l" indent="0" marL="0">
              <a:buNone/>
            </a:pPr>
            <a:r>
              <a:rPr lang="en-US" sz="1140" dirty="0">
                <a:solidFill>
                  <a:srgbClr val="E6EEF7"/>
                </a:solidFill>
                <a:latin typeface="Aptos" pitchFamily="34" charset="0"/>
                <a:ea typeface="Aptos" pitchFamily="34" charset="-122"/>
                <a:cs typeface="Aptos" pitchFamily="34" charset="-120"/>
              </a:rPr>
              <a:t>El parámetro es obligatorio y ese camino no lo usa</a:t>
            </a:r>
            <a:endParaRPr lang="en-US" sz="1140" dirty="0"/>
          </a:p>
        </p:txBody>
      </p:sp>
      <p:sp>
        <p:nvSpPr>
          <p:cNvPr id="20" name="Shape 17"/>
          <p:cNvSpPr/>
          <p:nvPr/>
        </p:nvSpPr>
        <p:spPr>
          <a:xfrm>
            <a:off x="658368" y="3913632"/>
            <a:ext cx="10874959" cy="384048"/>
          </a:xfrm>
          <a:prstGeom prst="rect">
            <a:avLst/>
          </a:prstGeom>
          <a:solidFill>
            <a:srgbClr val="102A43"/>
          </a:solidFill>
          <a:ln w="12700">
            <a:solidFill>
              <a:srgbClr val="102A43"/>
            </a:solidFill>
            <a:prstDash val="solid"/>
          </a:ln>
        </p:spPr>
      </p:sp>
      <p:sp>
        <p:nvSpPr>
          <p:cNvPr id="21" name="Text 18"/>
          <p:cNvSpPr txBox="1"/>
          <p:nvPr/>
        </p:nvSpPr>
        <p:spPr>
          <a:xfrm>
            <a:off x="896112" y="3931920"/>
            <a:ext cx="1097280" cy="347472"/>
          </a:xfrm>
          <a:prstGeom prst="rect">
            <a:avLst/>
          </a:prstGeom>
          <a:noFill/>
          <a:ln/>
        </p:spPr>
        <p:txBody>
          <a:bodyPr wrap="square" lIns="0" tIns="0" rIns="0" bIns="0" rtlCol="0" anchor="ctr"/>
          <a:lstStyle/>
          <a:p>
            <a:pPr algn="l" indent="0" marL="0">
              <a:buNone/>
            </a:pPr>
            <a:r>
              <a:rPr lang="en-US" sz="1240" b="1" dirty="0">
                <a:solidFill>
                  <a:srgbClr val="E0BC5A"/>
                </a:solidFill>
                <a:latin typeface="Aptos" pitchFamily="34" charset="0"/>
                <a:ea typeface="Aptos" pitchFamily="34" charset="-122"/>
                <a:cs typeface="Aptos" pitchFamily="34" charset="-120"/>
              </a:rPr>
              <a:t>Stub</a:t>
            </a:r>
            <a:endParaRPr lang="en-US" sz="1240" dirty="0"/>
          </a:p>
        </p:txBody>
      </p:sp>
      <p:sp>
        <p:nvSpPr>
          <p:cNvPr id="22" name="Text 19"/>
          <p:cNvSpPr txBox="1"/>
          <p:nvPr/>
        </p:nvSpPr>
        <p:spPr>
          <a:xfrm>
            <a:off x="2121408" y="3931920"/>
            <a:ext cx="3291840" cy="347472"/>
          </a:xfrm>
          <a:prstGeom prst="rect">
            <a:avLst/>
          </a:prstGeom>
          <a:noFill/>
          <a:ln/>
        </p:spPr>
        <p:txBody>
          <a:bodyPr wrap="square" lIns="0" tIns="0" rIns="0" bIns="0" rtlCol="0" anchor="ctr"/>
          <a:lstStyle/>
          <a:p>
            <a:pPr algn="l" indent="0" marL="0">
              <a:buNone/>
            </a:pPr>
            <a:r>
              <a:rPr lang="en-US" sz="1140" dirty="0">
                <a:solidFill>
                  <a:srgbClr val="FFFFFF"/>
                </a:solidFill>
                <a:latin typeface="Aptos" pitchFamily="34" charset="0"/>
                <a:ea typeface="Aptos" pitchFamily="34" charset="-122"/>
                <a:cs typeface="Aptos" pitchFamily="34" charset="-120"/>
              </a:rPr>
              <a:t>Una respuesta fija</a:t>
            </a:r>
            <a:endParaRPr lang="en-US" sz="1140" dirty="0"/>
          </a:p>
        </p:txBody>
      </p:sp>
      <p:sp>
        <p:nvSpPr>
          <p:cNvPr id="23" name="Text 20"/>
          <p:cNvSpPr txBox="1"/>
          <p:nvPr/>
        </p:nvSpPr>
        <p:spPr>
          <a:xfrm>
            <a:off x="5596128" y="3931920"/>
            <a:ext cx="5662879" cy="347472"/>
          </a:xfrm>
          <a:prstGeom prst="rect">
            <a:avLst/>
          </a:prstGeom>
          <a:noFill/>
          <a:ln/>
        </p:spPr>
        <p:txBody>
          <a:bodyPr wrap="square" lIns="0" tIns="0" rIns="0" bIns="0" rtlCol="0" anchor="ctr"/>
          <a:lstStyle/>
          <a:p>
            <a:pPr algn="l" indent="0" marL="0">
              <a:buNone/>
            </a:pPr>
            <a:r>
              <a:rPr lang="en-US" sz="1140" dirty="0">
                <a:solidFill>
                  <a:srgbClr val="E6EEF7"/>
                </a:solidFill>
                <a:latin typeface="Aptos" pitchFamily="34" charset="0"/>
                <a:ea typeface="Aptos" pitchFamily="34" charset="-122"/>
                <a:cs typeface="Aptos" pitchFamily="34" charset="-120"/>
              </a:rPr>
              <a:t>Se quiere provocar un desenlace y afirmar sobre el resultado</a:t>
            </a:r>
            <a:endParaRPr lang="en-US" sz="1140" dirty="0"/>
          </a:p>
        </p:txBody>
      </p:sp>
      <p:sp>
        <p:nvSpPr>
          <p:cNvPr id="24" name="Shape 21"/>
          <p:cNvSpPr/>
          <p:nvPr/>
        </p:nvSpPr>
        <p:spPr>
          <a:xfrm>
            <a:off x="658368" y="4370832"/>
            <a:ext cx="10874959" cy="384048"/>
          </a:xfrm>
          <a:prstGeom prst="rect">
            <a:avLst/>
          </a:prstGeom>
          <a:solidFill>
            <a:srgbClr val="1D3A57"/>
          </a:solidFill>
          <a:ln w="12700">
            <a:solidFill>
              <a:srgbClr val="1D3A57"/>
            </a:solidFill>
            <a:prstDash val="solid"/>
          </a:ln>
        </p:spPr>
      </p:sp>
      <p:sp>
        <p:nvSpPr>
          <p:cNvPr id="25" name="Text 22"/>
          <p:cNvSpPr txBox="1"/>
          <p:nvPr/>
        </p:nvSpPr>
        <p:spPr>
          <a:xfrm>
            <a:off x="896112" y="4389120"/>
            <a:ext cx="1097280" cy="347472"/>
          </a:xfrm>
          <a:prstGeom prst="rect">
            <a:avLst/>
          </a:prstGeom>
          <a:noFill/>
          <a:ln/>
        </p:spPr>
        <p:txBody>
          <a:bodyPr wrap="square" lIns="0" tIns="0" rIns="0" bIns="0" rtlCol="0" anchor="ctr"/>
          <a:lstStyle/>
          <a:p>
            <a:pPr algn="l" indent="0" marL="0">
              <a:buNone/>
            </a:pPr>
            <a:r>
              <a:rPr lang="en-US" sz="1240" b="1" dirty="0">
                <a:solidFill>
                  <a:srgbClr val="E0BC5A"/>
                </a:solidFill>
                <a:latin typeface="Aptos" pitchFamily="34" charset="0"/>
                <a:ea typeface="Aptos" pitchFamily="34" charset="-122"/>
                <a:cs typeface="Aptos" pitchFamily="34" charset="-120"/>
              </a:rPr>
              <a:t>Spy</a:t>
            </a:r>
            <a:endParaRPr lang="en-US" sz="1240" dirty="0"/>
          </a:p>
        </p:txBody>
      </p:sp>
      <p:sp>
        <p:nvSpPr>
          <p:cNvPr id="26" name="Text 23"/>
          <p:cNvSpPr txBox="1"/>
          <p:nvPr/>
        </p:nvSpPr>
        <p:spPr>
          <a:xfrm>
            <a:off x="2121408" y="4389120"/>
            <a:ext cx="3291840" cy="347472"/>
          </a:xfrm>
          <a:prstGeom prst="rect">
            <a:avLst/>
          </a:prstGeom>
          <a:noFill/>
          <a:ln/>
        </p:spPr>
        <p:txBody>
          <a:bodyPr wrap="square" lIns="0" tIns="0" rIns="0" bIns="0" rtlCol="0" anchor="ctr"/>
          <a:lstStyle/>
          <a:p>
            <a:pPr algn="l" indent="0" marL="0">
              <a:buNone/>
            </a:pPr>
            <a:r>
              <a:rPr lang="en-US" sz="1140" dirty="0">
                <a:solidFill>
                  <a:srgbClr val="FFFFFF"/>
                </a:solidFill>
                <a:latin typeface="Aptos" pitchFamily="34" charset="0"/>
                <a:ea typeface="Aptos" pitchFamily="34" charset="-122"/>
                <a:cs typeface="Aptos" pitchFamily="34" charset="-120"/>
              </a:rPr>
              <a:t>Respuesta fija más registro</a:t>
            </a:r>
            <a:endParaRPr lang="en-US" sz="1140" dirty="0"/>
          </a:p>
        </p:txBody>
      </p:sp>
      <p:sp>
        <p:nvSpPr>
          <p:cNvPr id="27" name="Text 24"/>
          <p:cNvSpPr txBox="1"/>
          <p:nvPr/>
        </p:nvSpPr>
        <p:spPr>
          <a:xfrm>
            <a:off x="5596128" y="4389120"/>
            <a:ext cx="5662879" cy="347472"/>
          </a:xfrm>
          <a:prstGeom prst="rect">
            <a:avLst/>
          </a:prstGeom>
          <a:noFill/>
          <a:ln/>
        </p:spPr>
        <p:txBody>
          <a:bodyPr wrap="square" lIns="0" tIns="0" rIns="0" bIns="0" rtlCol="0" anchor="ctr"/>
          <a:lstStyle/>
          <a:p>
            <a:pPr algn="l" indent="0" marL="0">
              <a:buNone/>
            </a:pPr>
            <a:r>
              <a:rPr lang="en-US" sz="1140" dirty="0">
                <a:solidFill>
                  <a:srgbClr val="E6EEF7"/>
                </a:solidFill>
                <a:latin typeface="Aptos" pitchFamily="34" charset="0"/>
                <a:ea typeface="Aptos" pitchFamily="34" charset="-122"/>
                <a:cs typeface="Aptos" pitchFamily="34" charset="-120"/>
              </a:rPr>
              <a:t>Además del resultado, interesa qué salió hacia la dependencia</a:t>
            </a:r>
            <a:endParaRPr lang="en-US" sz="1140" dirty="0"/>
          </a:p>
        </p:txBody>
      </p:sp>
      <p:sp>
        <p:nvSpPr>
          <p:cNvPr id="28" name="Shape 25"/>
          <p:cNvSpPr/>
          <p:nvPr/>
        </p:nvSpPr>
        <p:spPr>
          <a:xfrm>
            <a:off x="658368" y="4828032"/>
            <a:ext cx="10874959" cy="384048"/>
          </a:xfrm>
          <a:prstGeom prst="rect">
            <a:avLst/>
          </a:prstGeom>
          <a:solidFill>
            <a:srgbClr val="102A43"/>
          </a:solidFill>
          <a:ln w="12700">
            <a:solidFill>
              <a:srgbClr val="102A43"/>
            </a:solidFill>
            <a:prstDash val="solid"/>
          </a:ln>
        </p:spPr>
      </p:sp>
      <p:sp>
        <p:nvSpPr>
          <p:cNvPr id="29" name="Text 26"/>
          <p:cNvSpPr txBox="1"/>
          <p:nvPr/>
        </p:nvSpPr>
        <p:spPr>
          <a:xfrm>
            <a:off x="896112" y="4846320"/>
            <a:ext cx="1097280" cy="347472"/>
          </a:xfrm>
          <a:prstGeom prst="rect">
            <a:avLst/>
          </a:prstGeom>
          <a:noFill/>
          <a:ln/>
        </p:spPr>
        <p:txBody>
          <a:bodyPr wrap="square" lIns="0" tIns="0" rIns="0" bIns="0" rtlCol="0" anchor="ctr"/>
          <a:lstStyle/>
          <a:p>
            <a:pPr algn="l" indent="0" marL="0">
              <a:buNone/>
            </a:pPr>
            <a:r>
              <a:rPr lang="en-US" sz="1240" b="1" dirty="0">
                <a:solidFill>
                  <a:srgbClr val="E0BC5A"/>
                </a:solidFill>
                <a:latin typeface="Aptos" pitchFamily="34" charset="0"/>
                <a:ea typeface="Aptos" pitchFamily="34" charset="-122"/>
                <a:cs typeface="Aptos" pitchFamily="34" charset="-120"/>
              </a:rPr>
              <a:t>Mock</a:t>
            </a:r>
            <a:endParaRPr lang="en-US" sz="1240" dirty="0"/>
          </a:p>
        </p:txBody>
      </p:sp>
      <p:sp>
        <p:nvSpPr>
          <p:cNvPr id="30" name="Text 27"/>
          <p:cNvSpPr txBox="1"/>
          <p:nvPr/>
        </p:nvSpPr>
        <p:spPr>
          <a:xfrm>
            <a:off x="2121408" y="4846320"/>
            <a:ext cx="3291840" cy="347472"/>
          </a:xfrm>
          <a:prstGeom prst="rect">
            <a:avLst/>
          </a:prstGeom>
          <a:noFill/>
          <a:ln/>
        </p:spPr>
        <p:txBody>
          <a:bodyPr wrap="square" lIns="0" tIns="0" rIns="0" bIns="0" rtlCol="0" anchor="ctr"/>
          <a:lstStyle/>
          <a:p>
            <a:pPr algn="l" indent="0" marL="0">
              <a:buNone/>
            </a:pPr>
            <a:r>
              <a:rPr lang="en-US" sz="1140" dirty="0">
                <a:solidFill>
                  <a:srgbClr val="FFFFFF"/>
                </a:solidFill>
                <a:latin typeface="Aptos" pitchFamily="34" charset="0"/>
                <a:ea typeface="Aptos" pitchFamily="34" charset="-122"/>
                <a:cs typeface="Aptos" pitchFamily="34" charset="-120"/>
              </a:rPr>
              <a:t>Expectativa que se verifica sola</a:t>
            </a:r>
            <a:endParaRPr lang="en-US" sz="1140" dirty="0"/>
          </a:p>
        </p:txBody>
      </p:sp>
      <p:sp>
        <p:nvSpPr>
          <p:cNvPr id="31" name="Text 28"/>
          <p:cNvSpPr txBox="1"/>
          <p:nvPr/>
        </p:nvSpPr>
        <p:spPr>
          <a:xfrm>
            <a:off x="5596128" y="4846320"/>
            <a:ext cx="5662879" cy="347472"/>
          </a:xfrm>
          <a:prstGeom prst="rect">
            <a:avLst/>
          </a:prstGeom>
          <a:noFill/>
          <a:ln/>
        </p:spPr>
        <p:txBody>
          <a:bodyPr wrap="square" lIns="0" tIns="0" rIns="0" bIns="0" rtlCol="0" anchor="ctr"/>
          <a:lstStyle/>
          <a:p>
            <a:pPr algn="l" indent="0" marL="0">
              <a:buNone/>
            </a:pPr>
            <a:r>
              <a:rPr lang="en-US" sz="1140" dirty="0">
                <a:solidFill>
                  <a:srgbClr val="E6EEF7"/>
                </a:solidFill>
                <a:latin typeface="Aptos" pitchFamily="34" charset="0"/>
                <a:ea typeface="Aptos" pitchFamily="34" charset="-122"/>
                <a:cs typeface="Aptos" pitchFamily="34" charset="-120"/>
              </a:rPr>
              <a:t>Lo que se quiere probar ES la interacción, no el valor devuelto</a:t>
            </a:r>
            <a:endParaRPr lang="en-US" sz="1140" dirty="0"/>
          </a:p>
        </p:txBody>
      </p:sp>
      <p:sp>
        <p:nvSpPr>
          <p:cNvPr id="32" name="Shape 29"/>
          <p:cNvSpPr/>
          <p:nvPr/>
        </p:nvSpPr>
        <p:spPr>
          <a:xfrm>
            <a:off x="658368" y="5285232"/>
            <a:ext cx="10874959" cy="384048"/>
          </a:xfrm>
          <a:prstGeom prst="rect">
            <a:avLst/>
          </a:prstGeom>
          <a:solidFill>
            <a:srgbClr val="1D3A57"/>
          </a:solidFill>
          <a:ln w="12700">
            <a:solidFill>
              <a:srgbClr val="1D3A57"/>
            </a:solidFill>
            <a:prstDash val="solid"/>
          </a:ln>
        </p:spPr>
      </p:sp>
      <p:sp>
        <p:nvSpPr>
          <p:cNvPr id="33" name="Text 30"/>
          <p:cNvSpPr txBox="1"/>
          <p:nvPr/>
        </p:nvSpPr>
        <p:spPr>
          <a:xfrm>
            <a:off x="896112" y="5303520"/>
            <a:ext cx="1097280" cy="347472"/>
          </a:xfrm>
          <a:prstGeom prst="rect">
            <a:avLst/>
          </a:prstGeom>
          <a:noFill/>
          <a:ln/>
        </p:spPr>
        <p:txBody>
          <a:bodyPr wrap="square" lIns="0" tIns="0" rIns="0" bIns="0" rtlCol="0" anchor="ctr"/>
          <a:lstStyle/>
          <a:p>
            <a:pPr algn="l" indent="0" marL="0">
              <a:buNone/>
            </a:pPr>
            <a:r>
              <a:rPr lang="en-US" sz="1240" b="1" dirty="0">
                <a:solidFill>
                  <a:srgbClr val="E0BC5A"/>
                </a:solidFill>
                <a:latin typeface="Aptos" pitchFamily="34" charset="0"/>
                <a:ea typeface="Aptos" pitchFamily="34" charset="-122"/>
                <a:cs typeface="Aptos" pitchFamily="34" charset="-120"/>
              </a:rPr>
              <a:t>Fake</a:t>
            </a:r>
            <a:endParaRPr lang="en-US" sz="1240" dirty="0"/>
          </a:p>
        </p:txBody>
      </p:sp>
      <p:sp>
        <p:nvSpPr>
          <p:cNvPr id="34" name="Text 31"/>
          <p:cNvSpPr txBox="1"/>
          <p:nvPr/>
        </p:nvSpPr>
        <p:spPr>
          <a:xfrm>
            <a:off x="2121408" y="5303520"/>
            <a:ext cx="3291840" cy="347472"/>
          </a:xfrm>
          <a:prstGeom prst="rect">
            <a:avLst/>
          </a:prstGeom>
          <a:noFill/>
          <a:ln/>
        </p:spPr>
        <p:txBody>
          <a:bodyPr wrap="square" lIns="0" tIns="0" rIns="0" bIns="0" rtlCol="0" anchor="ctr"/>
          <a:lstStyle/>
          <a:p>
            <a:pPr algn="l" indent="0" marL="0">
              <a:buNone/>
            </a:pPr>
            <a:r>
              <a:rPr lang="en-US" sz="1140" dirty="0">
                <a:solidFill>
                  <a:srgbClr val="FFFFFF"/>
                </a:solidFill>
                <a:latin typeface="Aptos" pitchFamily="34" charset="0"/>
                <a:ea typeface="Aptos" pitchFamily="34" charset="-122"/>
                <a:cs typeface="Aptos" pitchFamily="34" charset="-120"/>
              </a:rPr>
              <a:t>Una implementación real y liviana</a:t>
            </a:r>
            <a:endParaRPr lang="en-US" sz="1140" dirty="0"/>
          </a:p>
        </p:txBody>
      </p:sp>
      <p:sp>
        <p:nvSpPr>
          <p:cNvPr id="35" name="Text 32"/>
          <p:cNvSpPr txBox="1"/>
          <p:nvPr/>
        </p:nvSpPr>
        <p:spPr>
          <a:xfrm>
            <a:off x="5596128" y="5303520"/>
            <a:ext cx="5662879" cy="347472"/>
          </a:xfrm>
          <a:prstGeom prst="rect">
            <a:avLst/>
          </a:prstGeom>
          <a:noFill/>
          <a:ln/>
        </p:spPr>
        <p:txBody>
          <a:bodyPr wrap="square" lIns="0" tIns="0" rIns="0" bIns="0" rtlCol="0" anchor="ctr"/>
          <a:lstStyle/>
          <a:p>
            <a:pPr algn="l" indent="0" marL="0">
              <a:buNone/>
            </a:pPr>
            <a:r>
              <a:rPr lang="en-US" sz="1140" dirty="0">
                <a:solidFill>
                  <a:srgbClr val="E6EEF7"/>
                </a:solidFill>
                <a:latin typeface="Aptos" pitchFamily="34" charset="0"/>
                <a:ea typeface="Aptos" pitchFamily="34" charset="-122"/>
                <a:cs typeface="Aptos" pitchFamily="34" charset="-120"/>
              </a:rPr>
              <a:t>Se necesita comportamiento, no una respuesta fija</a:t>
            </a:r>
            <a:endParaRPr lang="en-US" sz="1140" dirty="0"/>
          </a:p>
        </p:txBody>
      </p:sp>
      <p:sp>
        <p:nvSpPr>
          <p:cNvPr id="36" name="Text 33"/>
          <p:cNvSpPr txBox="1"/>
          <p:nvPr/>
        </p:nvSpPr>
        <p:spPr>
          <a:xfrm>
            <a:off x="658368" y="5815584"/>
            <a:ext cx="10424160" cy="274320"/>
          </a:xfrm>
          <a:prstGeom prst="rect">
            <a:avLst/>
          </a:prstGeom>
          <a:noFill/>
          <a:ln/>
        </p:spPr>
        <p:txBody>
          <a:bodyPr wrap="square" lIns="0" tIns="0" rIns="0" bIns="0" rtlCol="0" anchor="t"/>
          <a:lstStyle/>
          <a:p>
            <a:pPr algn="l" indent="0" marL="0">
              <a:buNone/>
            </a:pPr>
            <a:r>
              <a:rPr lang="en-US" sz="1260" i="1" dirty="0">
                <a:solidFill>
                  <a:srgbClr val="EADFD0"/>
                </a:solidFill>
                <a:latin typeface="Aptos" pitchFamily="34" charset="0"/>
                <a:ea typeface="Aptos" pitchFamily="34" charset="-122"/>
                <a:cs typeface="Aptos" pitchFamily="34" charset="-120"/>
              </a:rPr>
              <a:t>Por eso llamar «mock» a los cinco borra información: no se sabe si la prueba verifica el estado que produjo el sistema o la conversación que tuvo con su dependencia.</a:t>
            </a:r>
            <a:endParaRPr lang="en-US" sz="126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SUITE COMPLETA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Seis pruebas, con aserciones de verdad, al 100 %</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Aquí no hay truco de aserción ausente: los seis casos comparan resultados. Y la cobertura de la función que confirma queda así.</a:t>
            </a:r>
            <a:endParaRPr lang="en-US" sz="1450" dirty="0"/>
          </a:p>
        </p:txBody>
      </p:sp>
      <p:sp>
        <p:nvSpPr>
          <p:cNvPr id="11" name="Shape 8"/>
          <p:cNvSpPr/>
          <p:nvPr/>
        </p:nvSpPr>
        <p:spPr>
          <a:xfrm>
            <a:off x="658368" y="2432304"/>
            <a:ext cx="10872216" cy="1133856"/>
          </a:xfrm>
          <a:prstGeom prst="rect">
            <a:avLst/>
          </a:prstGeom>
          <a:solidFill>
            <a:srgbClr val="0F1720"/>
          </a:solidFill>
          <a:ln w="12700">
            <a:solidFill>
              <a:srgbClr val="0F1720"/>
            </a:solidFill>
            <a:prstDash val="solid"/>
          </a:ln>
        </p:spPr>
      </p:sp>
      <p:sp>
        <p:nvSpPr>
          <p:cNvPr id="12" name="Shape 9"/>
          <p:cNvSpPr/>
          <p:nvPr/>
        </p:nvSpPr>
        <p:spPr>
          <a:xfrm>
            <a:off x="658368" y="2432304"/>
            <a:ext cx="10872216" cy="292608"/>
          </a:xfrm>
          <a:prstGeom prst="rect">
            <a:avLst/>
          </a:prstGeom>
          <a:solidFill>
            <a:srgbClr val="1D3A57"/>
          </a:solidFill>
          <a:ln w="12700">
            <a:solidFill>
              <a:srgbClr val="1D3A57"/>
            </a:solidFill>
            <a:prstDash val="solid"/>
          </a:ln>
        </p:spPr>
      </p:sp>
      <p:sp>
        <p:nvSpPr>
          <p:cNvPr id="13" name="Text 10"/>
          <p:cNvSpPr txBox="1"/>
          <p:nvPr/>
        </p:nvSpPr>
        <p:spPr>
          <a:xfrm>
            <a:off x="859536" y="2478024"/>
            <a:ext cx="10469880" cy="201168"/>
          </a:xfrm>
          <a:prstGeom prst="rect">
            <a:avLst/>
          </a:prstGeom>
          <a:noFill/>
          <a:ln/>
        </p:spPr>
        <p:txBody>
          <a:bodyPr wrap="square" lIns="0" tIns="0" rIns="0" bIns="0" rtlCol="0" anchor="t"/>
          <a:lstStyle/>
          <a:p>
            <a:pPr algn="l" indent="0" marL="0">
              <a:buNone/>
            </a:pPr>
            <a:r>
              <a:rPr lang="en-US" sz="940" b="1" spc="60" kern="0" dirty="0">
                <a:solidFill>
                  <a:srgbClr val="EADFD0"/>
                </a:solidFill>
                <a:latin typeface="Aptos" pitchFamily="34" charset="0"/>
                <a:ea typeface="Aptos" pitchFamily="34" charset="-122"/>
                <a:cs typeface="Aptos" pitchFamily="34" charset="-120"/>
              </a:rPr>
              <a:t>uv run pytest test_dobles.py --cov=confirmacion --cov-branch --cov-report=term-missing -q</a:t>
            </a:r>
            <a:endParaRPr lang="en-US" sz="940" dirty="0"/>
          </a:p>
        </p:txBody>
      </p:sp>
      <p:sp>
        <p:nvSpPr>
          <p:cNvPr id="14" name="Text 11"/>
          <p:cNvSpPr txBox="1"/>
          <p:nvPr/>
        </p:nvSpPr>
        <p:spPr>
          <a:xfrm>
            <a:off x="859536" y="2834640"/>
            <a:ext cx="2688336" cy="219456"/>
          </a:xfrm>
          <a:prstGeom prst="rect">
            <a:avLst/>
          </a:prstGeom>
          <a:noFill/>
          <a:ln/>
        </p:spPr>
        <p:txBody>
          <a:bodyPr wrap="square" lIns="0" tIns="0" rIns="0" bIns="0" rtlCol="0" anchor="t"/>
          <a:lstStyle/>
          <a:p>
            <a:pPr algn="l" indent="0" marL="0">
              <a:buNone/>
            </a:pPr>
            <a:r>
              <a:rPr lang="en-US" sz="1200" b="1" dirty="0">
                <a:solidFill>
                  <a:srgbClr val="8AA0B6"/>
                </a:solidFill>
                <a:latin typeface="Consolas" pitchFamily="34" charset="0"/>
                <a:ea typeface="Consolas" pitchFamily="34" charset="-122"/>
                <a:cs typeface="Consolas" pitchFamily="34" charset="-120"/>
              </a:rPr>
              <a:t>Name</a:t>
            </a:r>
            <a:endParaRPr lang="en-US" sz="1200" dirty="0"/>
          </a:p>
        </p:txBody>
      </p:sp>
      <p:sp>
        <p:nvSpPr>
          <p:cNvPr id="15" name="Text 12"/>
          <p:cNvSpPr txBox="1"/>
          <p:nvPr/>
        </p:nvSpPr>
        <p:spPr>
          <a:xfrm>
            <a:off x="3602736" y="2834640"/>
            <a:ext cx="1024128" cy="219456"/>
          </a:xfrm>
          <a:prstGeom prst="rect">
            <a:avLst/>
          </a:prstGeom>
          <a:noFill/>
          <a:ln/>
        </p:spPr>
        <p:txBody>
          <a:bodyPr wrap="square" lIns="0" tIns="0" rIns="0" bIns="0" rtlCol="0" anchor="t"/>
          <a:lstStyle/>
          <a:p>
            <a:pPr algn="r" indent="0" marL="0">
              <a:buNone/>
            </a:pPr>
            <a:r>
              <a:rPr lang="en-US" sz="1200" b="1" dirty="0">
                <a:solidFill>
                  <a:srgbClr val="8AA0B6"/>
                </a:solidFill>
                <a:latin typeface="Consolas" pitchFamily="34" charset="0"/>
                <a:ea typeface="Consolas" pitchFamily="34" charset="-122"/>
                <a:cs typeface="Consolas" pitchFamily="34" charset="-120"/>
              </a:rPr>
              <a:t>Stmts</a:t>
            </a:r>
            <a:endParaRPr lang="en-US" sz="1200" dirty="0"/>
          </a:p>
        </p:txBody>
      </p:sp>
      <p:sp>
        <p:nvSpPr>
          <p:cNvPr id="16" name="Text 13"/>
          <p:cNvSpPr txBox="1"/>
          <p:nvPr/>
        </p:nvSpPr>
        <p:spPr>
          <a:xfrm>
            <a:off x="4882896" y="2834640"/>
            <a:ext cx="932688" cy="219456"/>
          </a:xfrm>
          <a:prstGeom prst="rect">
            <a:avLst/>
          </a:prstGeom>
          <a:noFill/>
          <a:ln/>
        </p:spPr>
        <p:txBody>
          <a:bodyPr wrap="square" lIns="0" tIns="0" rIns="0" bIns="0" rtlCol="0" anchor="t"/>
          <a:lstStyle/>
          <a:p>
            <a:pPr algn="r" indent="0" marL="0">
              <a:buNone/>
            </a:pPr>
            <a:r>
              <a:rPr lang="en-US" sz="1200" b="1" dirty="0">
                <a:solidFill>
                  <a:srgbClr val="8AA0B6"/>
                </a:solidFill>
                <a:latin typeface="Consolas" pitchFamily="34" charset="0"/>
                <a:ea typeface="Consolas" pitchFamily="34" charset="-122"/>
                <a:cs typeface="Consolas" pitchFamily="34" charset="-120"/>
              </a:rPr>
              <a:t>Miss</a:t>
            </a:r>
            <a:endParaRPr lang="en-US" sz="1200" dirty="0"/>
          </a:p>
        </p:txBody>
      </p:sp>
      <p:sp>
        <p:nvSpPr>
          <p:cNvPr id="17" name="Text 14"/>
          <p:cNvSpPr txBox="1"/>
          <p:nvPr/>
        </p:nvSpPr>
        <p:spPr>
          <a:xfrm>
            <a:off x="6071616" y="2834640"/>
            <a:ext cx="1115568" cy="219456"/>
          </a:xfrm>
          <a:prstGeom prst="rect">
            <a:avLst/>
          </a:prstGeom>
          <a:noFill/>
          <a:ln/>
        </p:spPr>
        <p:txBody>
          <a:bodyPr wrap="square" lIns="0" tIns="0" rIns="0" bIns="0" rtlCol="0" anchor="t"/>
          <a:lstStyle/>
          <a:p>
            <a:pPr algn="r" indent="0" marL="0">
              <a:buNone/>
            </a:pPr>
            <a:r>
              <a:rPr lang="en-US" sz="1200" b="1" dirty="0">
                <a:solidFill>
                  <a:srgbClr val="8AA0B6"/>
                </a:solidFill>
                <a:latin typeface="Consolas" pitchFamily="34" charset="0"/>
                <a:ea typeface="Consolas" pitchFamily="34" charset="-122"/>
                <a:cs typeface="Consolas" pitchFamily="34" charset="-120"/>
              </a:rPr>
              <a:t>Branch</a:t>
            </a:r>
            <a:endParaRPr lang="en-US" sz="1200" dirty="0"/>
          </a:p>
        </p:txBody>
      </p:sp>
      <p:sp>
        <p:nvSpPr>
          <p:cNvPr id="18" name="Text 15"/>
          <p:cNvSpPr txBox="1"/>
          <p:nvPr/>
        </p:nvSpPr>
        <p:spPr>
          <a:xfrm>
            <a:off x="7443216" y="2834640"/>
            <a:ext cx="1115568" cy="219456"/>
          </a:xfrm>
          <a:prstGeom prst="rect">
            <a:avLst/>
          </a:prstGeom>
          <a:noFill/>
          <a:ln/>
        </p:spPr>
        <p:txBody>
          <a:bodyPr wrap="square" lIns="0" tIns="0" rIns="0" bIns="0" rtlCol="0" anchor="t"/>
          <a:lstStyle/>
          <a:p>
            <a:pPr algn="r" indent="0" marL="0">
              <a:buNone/>
            </a:pPr>
            <a:r>
              <a:rPr lang="en-US" sz="1200" b="1" dirty="0">
                <a:solidFill>
                  <a:srgbClr val="8AA0B6"/>
                </a:solidFill>
                <a:latin typeface="Consolas" pitchFamily="34" charset="0"/>
                <a:ea typeface="Consolas" pitchFamily="34" charset="-122"/>
                <a:cs typeface="Consolas" pitchFamily="34" charset="-120"/>
              </a:rPr>
              <a:t>BrPart</a:t>
            </a:r>
            <a:endParaRPr lang="en-US" sz="1200" dirty="0"/>
          </a:p>
        </p:txBody>
      </p:sp>
      <p:sp>
        <p:nvSpPr>
          <p:cNvPr id="19" name="Text 16"/>
          <p:cNvSpPr txBox="1"/>
          <p:nvPr/>
        </p:nvSpPr>
        <p:spPr>
          <a:xfrm>
            <a:off x="8814816" y="2834640"/>
            <a:ext cx="1115568" cy="219456"/>
          </a:xfrm>
          <a:prstGeom prst="rect">
            <a:avLst/>
          </a:prstGeom>
          <a:noFill/>
          <a:ln/>
        </p:spPr>
        <p:txBody>
          <a:bodyPr wrap="square" lIns="0" tIns="0" rIns="0" bIns="0" rtlCol="0" anchor="t"/>
          <a:lstStyle/>
          <a:p>
            <a:pPr algn="r" indent="0" marL="0">
              <a:buNone/>
            </a:pPr>
            <a:r>
              <a:rPr lang="en-US" sz="1200" b="1" dirty="0">
                <a:solidFill>
                  <a:srgbClr val="8AA0B6"/>
                </a:solidFill>
                <a:latin typeface="Consolas" pitchFamily="34" charset="0"/>
                <a:ea typeface="Consolas" pitchFamily="34" charset="-122"/>
                <a:cs typeface="Consolas" pitchFamily="34" charset="-120"/>
              </a:rPr>
              <a:t>Cover</a:t>
            </a:r>
            <a:endParaRPr lang="en-US" sz="1200" dirty="0"/>
          </a:p>
        </p:txBody>
      </p:sp>
      <p:sp>
        <p:nvSpPr>
          <p:cNvPr id="20" name="Text 17"/>
          <p:cNvSpPr txBox="1"/>
          <p:nvPr/>
        </p:nvSpPr>
        <p:spPr>
          <a:xfrm>
            <a:off x="10186416" y="2834640"/>
            <a:ext cx="1042416" cy="219456"/>
          </a:xfrm>
          <a:prstGeom prst="rect">
            <a:avLst/>
          </a:prstGeom>
          <a:noFill/>
          <a:ln/>
        </p:spPr>
        <p:txBody>
          <a:bodyPr wrap="square" lIns="0" tIns="0" rIns="0" bIns="0" rtlCol="0" anchor="t"/>
          <a:lstStyle/>
          <a:p>
            <a:pPr algn="l" indent="0" marL="0">
              <a:buNone/>
            </a:pPr>
            <a:r>
              <a:rPr lang="en-US" sz="1200" b="1" dirty="0">
                <a:solidFill>
                  <a:srgbClr val="8AA0B6"/>
                </a:solidFill>
                <a:latin typeface="Consolas" pitchFamily="34" charset="0"/>
                <a:ea typeface="Consolas" pitchFamily="34" charset="-122"/>
                <a:cs typeface="Consolas" pitchFamily="34" charset="-120"/>
              </a:rPr>
              <a:t>Missing</a:t>
            </a:r>
            <a:endParaRPr lang="en-US" sz="1200" dirty="0"/>
          </a:p>
        </p:txBody>
      </p:sp>
      <p:sp>
        <p:nvSpPr>
          <p:cNvPr id="21" name="Shape 18"/>
          <p:cNvSpPr/>
          <p:nvPr/>
        </p:nvSpPr>
        <p:spPr>
          <a:xfrm>
            <a:off x="859536" y="3090672"/>
            <a:ext cx="10469880" cy="0"/>
          </a:xfrm>
          <a:prstGeom prst="line">
            <a:avLst/>
          </a:prstGeom>
          <a:noFill/>
          <a:ln w="12700">
            <a:solidFill>
              <a:srgbClr val="2C4A66"/>
            </a:solidFill>
            <a:prstDash val="solid"/>
            <a:headEnd type="none"/>
            <a:tailEnd type="none"/>
          </a:ln>
        </p:spPr>
      </p:sp>
      <p:sp>
        <p:nvSpPr>
          <p:cNvPr id="22" name="Text 19"/>
          <p:cNvSpPr txBox="1"/>
          <p:nvPr/>
        </p:nvSpPr>
        <p:spPr>
          <a:xfrm>
            <a:off x="859536" y="3163824"/>
            <a:ext cx="2688336" cy="292608"/>
          </a:xfrm>
          <a:prstGeom prst="rect">
            <a:avLst/>
          </a:prstGeom>
          <a:noFill/>
          <a:ln/>
        </p:spPr>
        <p:txBody>
          <a:bodyPr wrap="square" lIns="0" tIns="0" rIns="0" bIns="0" rtlCol="0" anchor="t"/>
          <a:lstStyle/>
          <a:p>
            <a:pPr algn="l" indent="0" marL="0">
              <a:buNone/>
            </a:pPr>
            <a:r>
              <a:rPr lang="en-US" sz="1200" dirty="0">
                <a:solidFill>
                  <a:srgbClr val="E6EEF7"/>
                </a:solidFill>
                <a:latin typeface="Consolas" pitchFamily="34" charset="0"/>
                <a:ea typeface="Consolas" pitchFamily="34" charset="-122"/>
                <a:cs typeface="Consolas" pitchFamily="34" charset="-120"/>
              </a:rPr>
              <a:t>confirmacion.py</a:t>
            </a:r>
            <a:endParaRPr lang="en-US" sz="1200" dirty="0"/>
          </a:p>
        </p:txBody>
      </p:sp>
      <p:sp>
        <p:nvSpPr>
          <p:cNvPr id="23" name="Text 20"/>
          <p:cNvSpPr txBox="1"/>
          <p:nvPr/>
        </p:nvSpPr>
        <p:spPr>
          <a:xfrm>
            <a:off x="3602736" y="3163824"/>
            <a:ext cx="1024128" cy="292608"/>
          </a:xfrm>
          <a:prstGeom prst="rect">
            <a:avLst/>
          </a:prstGeom>
          <a:noFill/>
          <a:ln/>
        </p:spPr>
        <p:txBody>
          <a:bodyPr wrap="square" lIns="0" tIns="0" rIns="0" bIns="0" rtlCol="0" anchor="t"/>
          <a:lstStyle/>
          <a:p>
            <a:pPr algn="r" indent="0" marL="0">
              <a:buNone/>
            </a:pPr>
            <a:r>
              <a:rPr lang="en-US" sz="1200" dirty="0">
                <a:solidFill>
                  <a:srgbClr val="E6EEF7"/>
                </a:solidFill>
                <a:latin typeface="Consolas" pitchFamily="34" charset="0"/>
                <a:ea typeface="Consolas" pitchFamily="34" charset="-122"/>
                <a:cs typeface="Consolas" pitchFamily="34" charset="-120"/>
              </a:rPr>
              <a:t>10</a:t>
            </a:r>
            <a:endParaRPr lang="en-US" sz="1200" dirty="0"/>
          </a:p>
        </p:txBody>
      </p:sp>
      <p:sp>
        <p:nvSpPr>
          <p:cNvPr id="24" name="Text 21"/>
          <p:cNvSpPr txBox="1"/>
          <p:nvPr/>
        </p:nvSpPr>
        <p:spPr>
          <a:xfrm>
            <a:off x="4882896" y="3163824"/>
            <a:ext cx="932688" cy="292608"/>
          </a:xfrm>
          <a:prstGeom prst="rect">
            <a:avLst/>
          </a:prstGeom>
          <a:noFill/>
          <a:ln/>
        </p:spPr>
        <p:txBody>
          <a:bodyPr wrap="square" lIns="0" tIns="0" rIns="0" bIns="0" rtlCol="0" anchor="t"/>
          <a:lstStyle/>
          <a:p>
            <a:pPr algn="r" indent="0" marL="0">
              <a:buNone/>
            </a:pPr>
            <a:r>
              <a:rPr lang="en-US" sz="1200" dirty="0">
                <a:solidFill>
                  <a:srgbClr val="E6EEF7"/>
                </a:solidFill>
                <a:latin typeface="Consolas" pitchFamily="34" charset="0"/>
                <a:ea typeface="Consolas" pitchFamily="34" charset="-122"/>
                <a:cs typeface="Consolas" pitchFamily="34" charset="-120"/>
              </a:rPr>
              <a:t>0</a:t>
            </a:r>
            <a:endParaRPr lang="en-US" sz="1200" dirty="0"/>
          </a:p>
        </p:txBody>
      </p:sp>
      <p:sp>
        <p:nvSpPr>
          <p:cNvPr id="25" name="Text 22"/>
          <p:cNvSpPr txBox="1"/>
          <p:nvPr/>
        </p:nvSpPr>
        <p:spPr>
          <a:xfrm>
            <a:off x="6071616" y="3163824"/>
            <a:ext cx="1115568" cy="292608"/>
          </a:xfrm>
          <a:prstGeom prst="rect">
            <a:avLst/>
          </a:prstGeom>
          <a:noFill/>
          <a:ln/>
        </p:spPr>
        <p:txBody>
          <a:bodyPr wrap="square" lIns="0" tIns="0" rIns="0" bIns="0" rtlCol="0" anchor="t"/>
          <a:lstStyle/>
          <a:p>
            <a:pPr algn="r" indent="0" marL="0">
              <a:buNone/>
            </a:pPr>
            <a:r>
              <a:rPr lang="en-US" sz="1200" dirty="0">
                <a:solidFill>
                  <a:srgbClr val="E6EEF7"/>
                </a:solidFill>
                <a:latin typeface="Consolas" pitchFamily="34" charset="0"/>
                <a:ea typeface="Consolas" pitchFamily="34" charset="-122"/>
                <a:cs typeface="Consolas" pitchFamily="34" charset="-120"/>
              </a:rPr>
              <a:t>4</a:t>
            </a:r>
            <a:endParaRPr lang="en-US" sz="1200" dirty="0"/>
          </a:p>
        </p:txBody>
      </p:sp>
      <p:sp>
        <p:nvSpPr>
          <p:cNvPr id="26" name="Text 23"/>
          <p:cNvSpPr txBox="1"/>
          <p:nvPr/>
        </p:nvSpPr>
        <p:spPr>
          <a:xfrm>
            <a:off x="7443216" y="3163824"/>
            <a:ext cx="1115568" cy="292608"/>
          </a:xfrm>
          <a:prstGeom prst="rect">
            <a:avLst/>
          </a:prstGeom>
          <a:noFill/>
          <a:ln/>
        </p:spPr>
        <p:txBody>
          <a:bodyPr wrap="square" lIns="0" tIns="0" rIns="0" bIns="0" rtlCol="0" anchor="t"/>
          <a:lstStyle/>
          <a:p>
            <a:pPr algn="r" indent="0" marL="0">
              <a:buNone/>
            </a:pPr>
            <a:r>
              <a:rPr lang="en-US" sz="1200" dirty="0">
                <a:solidFill>
                  <a:srgbClr val="E6EEF7"/>
                </a:solidFill>
                <a:latin typeface="Consolas" pitchFamily="34" charset="0"/>
                <a:ea typeface="Consolas" pitchFamily="34" charset="-122"/>
                <a:cs typeface="Consolas" pitchFamily="34" charset="-120"/>
              </a:rPr>
              <a:t>0</a:t>
            </a:r>
            <a:endParaRPr lang="en-US" sz="1200" dirty="0"/>
          </a:p>
        </p:txBody>
      </p:sp>
      <p:sp>
        <p:nvSpPr>
          <p:cNvPr id="27" name="Text 24"/>
          <p:cNvSpPr txBox="1"/>
          <p:nvPr/>
        </p:nvSpPr>
        <p:spPr>
          <a:xfrm>
            <a:off x="8814816" y="3163824"/>
            <a:ext cx="1115568" cy="292608"/>
          </a:xfrm>
          <a:prstGeom prst="rect">
            <a:avLst/>
          </a:prstGeom>
          <a:noFill/>
          <a:ln/>
        </p:spPr>
        <p:txBody>
          <a:bodyPr wrap="square" lIns="0" tIns="0" rIns="0" bIns="0" rtlCol="0" anchor="t"/>
          <a:lstStyle/>
          <a:p>
            <a:pPr algn="r" indent="0" marL="0">
              <a:buNone/>
            </a:pPr>
            <a:r>
              <a:rPr lang="en-US" sz="1200" dirty="0">
                <a:solidFill>
                  <a:srgbClr val="E6EEF7"/>
                </a:solidFill>
                <a:latin typeface="Consolas" pitchFamily="34" charset="0"/>
                <a:ea typeface="Consolas" pitchFamily="34" charset="-122"/>
                <a:cs typeface="Consolas" pitchFamily="34" charset="-120"/>
              </a:rPr>
              <a:t>100%</a:t>
            </a:r>
            <a:endParaRPr lang="en-US" sz="1200" dirty="0"/>
          </a:p>
        </p:txBody>
      </p:sp>
      <p:sp>
        <p:nvSpPr>
          <p:cNvPr id="28" name="Text 25"/>
          <p:cNvSpPr txBox="1"/>
          <p:nvPr/>
        </p:nvSpPr>
        <p:spPr>
          <a:xfrm>
            <a:off x="10186416" y="3163824"/>
            <a:ext cx="1042416" cy="292608"/>
          </a:xfrm>
          <a:prstGeom prst="rect">
            <a:avLst/>
          </a:prstGeom>
          <a:noFill/>
          <a:ln/>
        </p:spPr>
        <p:txBody>
          <a:bodyPr wrap="square" lIns="0" tIns="0" rIns="0" bIns="0" rtlCol="0" anchor="t"/>
          <a:lstStyle/>
          <a:p>
            <a:pPr algn="l" indent="0" marL="0">
              <a:buNone/>
            </a:pPr>
            <a:endParaRPr lang="en-US" sz="1200" dirty="0"/>
          </a:p>
        </p:txBody>
      </p:sp>
      <p:sp>
        <p:nvSpPr>
          <p:cNvPr id="29" name="Text 26"/>
          <p:cNvSpPr txBox="1"/>
          <p:nvPr/>
        </p:nvSpPr>
        <p:spPr>
          <a:xfrm>
            <a:off x="859536" y="3657600"/>
            <a:ext cx="3657600" cy="237744"/>
          </a:xfrm>
          <a:prstGeom prst="rect">
            <a:avLst/>
          </a:prstGeom>
          <a:noFill/>
          <a:ln/>
        </p:spPr>
        <p:txBody>
          <a:bodyPr wrap="square" lIns="0" tIns="0" rIns="0" bIns="0" rtlCol="0" anchor="t"/>
          <a:lstStyle/>
          <a:p>
            <a:pPr algn="l" indent="0" marL="0">
              <a:buNone/>
            </a:pPr>
            <a:r>
              <a:rPr lang="en-US" sz="1140" dirty="0">
                <a:solidFill>
                  <a:srgbClr val="2E7D4F"/>
                </a:solidFill>
                <a:latin typeface="Consolas" pitchFamily="34" charset="0"/>
                <a:ea typeface="Consolas" pitchFamily="34" charset="-122"/>
                <a:cs typeface="Consolas" pitchFamily="34" charset="-120"/>
              </a:rPr>
              <a:t>6 passed in 0.21s</a:t>
            </a:r>
            <a:endParaRPr lang="en-US" sz="1140" dirty="0"/>
          </a:p>
        </p:txBody>
      </p:sp>
      <p:sp>
        <p:nvSpPr>
          <p:cNvPr id="30" name="Shape 27"/>
          <p:cNvSpPr/>
          <p:nvPr/>
        </p:nvSpPr>
        <p:spPr>
          <a:xfrm>
            <a:off x="658368" y="4078224"/>
            <a:ext cx="3493008" cy="786384"/>
          </a:xfrm>
          <a:prstGeom prst="rect">
            <a:avLst/>
          </a:prstGeom>
          <a:solidFill>
            <a:srgbClr val="FFFFFF"/>
          </a:solidFill>
          <a:ln w="12700">
            <a:solidFill>
              <a:srgbClr val="FFFFFF"/>
            </a:solidFill>
            <a:prstDash val="solid"/>
          </a:ln>
        </p:spPr>
      </p:sp>
      <p:sp>
        <p:nvSpPr>
          <p:cNvPr id="31" name="Shape 28"/>
          <p:cNvSpPr/>
          <p:nvPr/>
        </p:nvSpPr>
        <p:spPr>
          <a:xfrm>
            <a:off x="658368" y="4078224"/>
            <a:ext cx="45720" cy="786384"/>
          </a:xfrm>
          <a:prstGeom prst="rect">
            <a:avLst/>
          </a:prstGeom>
          <a:solidFill>
            <a:srgbClr val="2E7D4F"/>
          </a:solidFill>
          <a:ln w="12700">
            <a:solidFill>
              <a:srgbClr val="2E7D4F"/>
            </a:solidFill>
            <a:prstDash val="solid"/>
          </a:ln>
        </p:spPr>
      </p:sp>
      <p:sp>
        <p:nvSpPr>
          <p:cNvPr id="32" name="Text 29"/>
          <p:cNvSpPr txBox="1"/>
          <p:nvPr/>
        </p:nvSpPr>
        <p:spPr>
          <a:xfrm>
            <a:off x="877824" y="4169664"/>
            <a:ext cx="3054096" cy="365760"/>
          </a:xfrm>
          <a:prstGeom prst="rect">
            <a:avLst/>
          </a:prstGeom>
          <a:noFill/>
          <a:ln/>
        </p:spPr>
        <p:txBody>
          <a:bodyPr wrap="square" lIns="0" tIns="0" rIns="0" bIns="0" rtlCol="0" anchor="t"/>
          <a:lstStyle/>
          <a:p>
            <a:pPr algn="l" indent="0" marL="0">
              <a:buNone/>
            </a:pPr>
            <a:r>
              <a:rPr lang="en-US" sz="2400" b="1" dirty="0">
                <a:solidFill>
                  <a:srgbClr val="2E7D4F"/>
                </a:solidFill>
                <a:latin typeface="Aptos Display" pitchFamily="34" charset="0"/>
                <a:ea typeface="Aptos Display" pitchFamily="34" charset="-122"/>
                <a:cs typeface="Aptos Display" pitchFamily="34" charset="-120"/>
              </a:rPr>
              <a:t>100 %</a:t>
            </a:r>
            <a:endParaRPr lang="en-US" sz="2400" dirty="0"/>
          </a:p>
        </p:txBody>
      </p:sp>
      <p:sp>
        <p:nvSpPr>
          <p:cNvPr id="33" name="Text 30"/>
          <p:cNvSpPr txBox="1"/>
          <p:nvPr/>
        </p:nvSpPr>
        <p:spPr>
          <a:xfrm>
            <a:off x="877824" y="4553712"/>
            <a:ext cx="3054096" cy="237744"/>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de sentencias</a:t>
            </a:r>
            <a:endParaRPr lang="en-US" sz="1160" dirty="0"/>
          </a:p>
        </p:txBody>
      </p:sp>
      <p:sp>
        <p:nvSpPr>
          <p:cNvPr id="34" name="Shape 31"/>
          <p:cNvSpPr/>
          <p:nvPr/>
        </p:nvSpPr>
        <p:spPr>
          <a:xfrm>
            <a:off x="4352544" y="4078224"/>
            <a:ext cx="3493008" cy="786384"/>
          </a:xfrm>
          <a:prstGeom prst="rect">
            <a:avLst/>
          </a:prstGeom>
          <a:solidFill>
            <a:srgbClr val="FFFFFF"/>
          </a:solidFill>
          <a:ln w="12700">
            <a:solidFill>
              <a:srgbClr val="FFFFFF"/>
            </a:solidFill>
            <a:prstDash val="solid"/>
          </a:ln>
        </p:spPr>
      </p:sp>
      <p:sp>
        <p:nvSpPr>
          <p:cNvPr id="35" name="Shape 32"/>
          <p:cNvSpPr/>
          <p:nvPr/>
        </p:nvSpPr>
        <p:spPr>
          <a:xfrm>
            <a:off x="4352544" y="4078224"/>
            <a:ext cx="45720" cy="786384"/>
          </a:xfrm>
          <a:prstGeom prst="rect">
            <a:avLst/>
          </a:prstGeom>
          <a:solidFill>
            <a:srgbClr val="2E7D4F"/>
          </a:solidFill>
          <a:ln w="12700">
            <a:solidFill>
              <a:srgbClr val="2E7D4F"/>
            </a:solidFill>
            <a:prstDash val="solid"/>
          </a:ln>
        </p:spPr>
      </p:sp>
      <p:sp>
        <p:nvSpPr>
          <p:cNvPr id="36" name="Text 33"/>
          <p:cNvSpPr txBox="1"/>
          <p:nvPr/>
        </p:nvSpPr>
        <p:spPr>
          <a:xfrm>
            <a:off x="4572000" y="4169664"/>
            <a:ext cx="3054096" cy="365760"/>
          </a:xfrm>
          <a:prstGeom prst="rect">
            <a:avLst/>
          </a:prstGeom>
          <a:noFill/>
          <a:ln/>
        </p:spPr>
        <p:txBody>
          <a:bodyPr wrap="square" lIns="0" tIns="0" rIns="0" bIns="0" rtlCol="0" anchor="t"/>
          <a:lstStyle/>
          <a:p>
            <a:pPr algn="l" indent="0" marL="0">
              <a:buNone/>
            </a:pPr>
            <a:r>
              <a:rPr lang="en-US" sz="2400" b="1" dirty="0">
                <a:solidFill>
                  <a:srgbClr val="2E7D4F"/>
                </a:solidFill>
                <a:latin typeface="Aptos Display" pitchFamily="34" charset="0"/>
                <a:ea typeface="Aptos Display" pitchFamily="34" charset="-122"/>
                <a:cs typeface="Aptos Display" pitchFamily="34" charset="-120"/>
              </a:rPr>
              <a:t>100 %</a:t>
            </a:r>
            <a:endParaRPr lang="en-US" sz="2400" dirty="0"/>
          </a:p>
        </p:txBody>
      </p:sp>
      <p:sp>
        <p:nvSpPr>
          <p:cNvPr id="37" name="Text 34"/>
          <p:cNvSpPr txBox="1"/>
          <p:nvPr/>
        </p:nvSpPr>
        <p:spPr>
          <a:xfrm>
            <a:off x="4572000" y="4553712"/>
            <a:ext cx="3054096" cy="237744"/>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de ramas · 4 de 4</a:t>
            </a:r>
            <a:endParaRPr lang="en-US" sz="1160" dirty="0"/>
          </a:p>
        </p:txBody>
      </p:sp>
      <p:sp>
        <p:nvSpPr>
          <p:cNvPr id="38" name="Shape 35"/>
          <p:cNvSpPr/>
          <p:nvPr/>
        </p:nvSpPr>
        <p:spPr>
          <a:xfrm>
            <a:off x="8046720" y="4078224"/>
            <a:ext cx="3493008" cy="786384"/>
          </a:xfrm>
          <a:prstGeom prst="rect">
            <a:avLst/>
          </a:prstGeom>
          <a:solidFill>
            <a:srgbClr val="FFFFFF"/>
          </a:solidFill>
          <a:ln w="12700">
            <a:solidFill>
              <a:srgbClr val="FFFFFF"/>
            </a:solidFill>
            <a:prstDash val="solid"/>
          </a:ln>
        </p:spPr>
      </p:sp>
      <p:sp>
        <p:nvSpPr>
          <p:cNvPr id="39" name="Shape 36"/>
          <p:cNvSpPr/>
          <p:nvPr/>
        </p:nvSpPr>
        <p:spPr>
          <a:xfrm>
            <a:off x="8046720" y="4078224"/>
            <a:ext cx="45720" cy="786384"/>
          </a:xfrm>
          <a:prstGeom prst="rect">
            <a:avLst/>
          </a:prstGeom>
          <a:solidFill>
            <a:srgbClr val="2E7D4F"/>
          </a:solidFill>
          <a:ln w="12700">
            <a:solidFill>
              <a:srgbClr val="2E7D4F"/>
            </a:solidFill>
            <a:prstDash val="solid"/>
          </a:ln>
        </p:spPr>
      </p:sp>
      <p:sp>
        <p:nvSpPr>
          <p:cNvPr id="40" name="Text 37"/>
          <p:cNvSpPr txBox="1"/>
          <p:nvPr/>
        </p:nvSpPr>
        <p:spPr>
          <a:xfrm>
            <a:off x="8266176" y="4169664"/>
            <a:ext cx="3054096" cy="365760"/>
          </a:xfrm>
          <a:prstGeom prst="rect">
            <a:avLst/>
          </a:prstGeom>
          <a:noFill/>
          <a:ln/>
        </p:spPr>
        <p:txBody>
          <a:bodyPr wrap="square" lIns="0" tIns="0" rIns="0" bIns="0" rtlCol="0" anchor="t"/>
          <a:lstStyle/>
          <a:p>
            <a:pPr algn="l" indent="0" marL="0">
              <a:buNone/>
            </a:pPr>
            <a:r>
              <a:rPr lang="en-US" sz="2400" b="1" dirty="0">
                <a:solidFill>
                  <a:srgbClr val="2E7D4F"/>
                </a:solidFill>
                <a:latin typeface="Aptos Display" pitchFamily="34" charset="0"/>
                <a:ea typeface="Aptos Display" pitchFamily="34" charset="-122"/>
                <a:cs typeface="Aptos Display" pitchFamily="34" charset="-120"/>
              </a:rPr>
              <a:t>0</a:t>
            </a:r>
            <a:endParaRPr lang="en-US" sz="2400" dirty="0"/>
          </a:p>
        </p:txBody>
      </p:sp>
      <p:sp>
        <p:nvSpPr>
          <p:cNvPr id="41" name="Text 38"/>
          <p:cNvSpPr txBox="1"/>
          <p:nvPr/>
        </p:nvSpPr>
        <p:spPr>
          <a:xfrm>
            <a:off x="8266176" y="4553712"/>
            <a:ext cx="3054096" cy="237744"/>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BrPart · nada parcial</a:t>
            </a:r>
            <a:endParaRPr lang="en-US" sz="1160" dirty="0"/>
          </a:p>
        </p:txBody>
      </p:sp>
      <p:sp>
        <p:nvSpPr>
          <p:cNvPr id="42" name="Shape 39"/>
          <p:cNvSpPr/>
          <p:nvPr/>
        </p:nvSpPr>
        <p:spPr>
          <a:xfrm>
            <a:off x="658368" y="5065776"/>
            <a:ext cx="10874959" cy="512064"/>
          </a:xfrm>
          <a:prstGeom prst="rect">
            <a:avLst/>
          </a:prstGeom>
          <a:solidFill>
            <a:srgbClr val="102A43"/>
          </a:solidFill>
          <a:ln w="12700">
            <a:solidFill>
              <a:srgbClr val="102A43"/>
            </a:solidFill>
            <a:prstDash val="solid"/>
          </a:ln>
        </p:spPr>
      </p:sp>
      <p:sp>
        <p:nvSpPr>
          <p:cNvPr id="43" name="Text 40"/>
          <p:cNvSpPr txBox="1"/>
          <p:nvPr/>
        </p:nvSpPr>
        <p:spPr>
          <a:xfrm>
            <a:off x="969264" y="5102352"/>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Según todo lo que se midió en el bloque anterior, esta suite está completa.</a:t>
            </a:r>
            <a:endParaRPr lang="en-US" sz="1400" dirty="0"/>
          </a:p>
        </p:txBody>
      </p:sp>
      <p:sp>
        <p:nvSpPr>
          <p:cNvPr id="44" name="Text 41"/>
          <p:cNvSpPr txBox="1"/>
          <p:nvPr/>
        </p:nvSpPr>
        <p:spPr>
          <a:xfrm>
            <a:off x="658368" y="5760720"/>
            <a:ext cx="10874959" cy="274320"/>
          </a:xfrm>
          <a:prstGeom prst="rect">
            <a:avLst/>
          </a:prstGeom>
          <a:noFill/>
          <a:ln/>
        </p:spPr>
        <p:txBody>
          <a:bodyPr wrap="square" lIns="0" tIns="0" rIns="0" bIns="0" rtlCol="0" anchor="t"/>
          <a:lstStyle/>
          <a:p>
            <a:pPr algn="ctr" indent="0" marL="0">
              <a:buNone/>
            </a:pPr>
            <a:r>
              <a:rPr lang="en-US" sz="1400" i="1" dirty="0">
                <a:solidFill>
                  <a:srgbClr val="52606D"/>
                </a:solidFill>
                <a:latin typeface="Aptos" pitchFamily="34" charset="0"/>
                <a:ea typeface="Aptos" pitchFamily="34" charset="-122"/>
                <a:cs typeface="Aptos" pitchFamily="34" charset="-120"/>
              </a:rPr>
              <a:t>Lo está. Y ahora pasa algo que pasa todo el tiempo en un proyecto real.</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LO QUE PASA EN UN PROYECTO REAL</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El equipo del servicio de correo publica una versión nueva</a:t>
            </a:r>
            <a:endParaRPr lang="en-US" sz="26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Ya no recibe destinatario y cuerpo, sino destinatario, asunto y cuerpo. La función nueva opera correctamente, pero cambió la cantidad de argumentos que exige.</a:t>
            </a:r>
            <a:endParaRPr lang="en-US" sz="1450" dirty="0"/>
          </a:p>
        </p:txBody>
      </p:sp>
      <p:sp>
        <p:nvSpPr>
          <p:cNvPr id="11" name="Shape 8"/>
          <p:cNvSpPr/>
          <p:nvPr/>
        </p:nvSpPr>
        <p:spPr>
          <a:xfrm>
            <a:off x="658368" y="2432304"/>
            <a:ext cx="10872216" cy="1188720"/>
          </a:xfrm>
          <a:prstGeom prst="roundRect">
            <a:avLst>
              <a:gd name="adj" fmla="val 3077"/>
            </a:avLst>
          </a:prstGeom>
          <a:solidFill>
            <a:srgbClr val="102A43"/>
          </a:solidFill>
          <a:ln w="12700">
            <a:solidFill>
              <a:srgbClr val="102A43"/>
            </a:solidFill>
            <a:prstDash val="solid"/>
          </a:ln>
        </p:spPr>
      </p:sp>
      <p:sp>
        <p:nvSpPr>
          <p:cNvPr id="12" name="Shape 9"/>
          <p:cNvSpPr/>
          <p:nvPr/>
        </p:nvSpPr>
        <p:spPr>
          <a:xfrm>
            <a:off x="786384" y="2542032"/>
            <a:ext cx="10616184"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615184"/>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notificaciones.py · la versión nueva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99232"/>
            <a:ext cx="10451592" cy="438912"/>
          </a:xfrm>
          <a:prstGeom prst="rect">
            <a:avLst/>
          </a:prstGeom>
        </p:spPr>
      </p:pic>
      <p:sp>
        <p:nvSpPr>
          <p:cNvPr id="15" name="Shape 11"/>
          <p:cNvSpPr/>
          <p:nvPr/>
        </p:nvSpPr>
        <p:spPr>
          <a:xfrm>
            <a:off x="658368" y="3767328"/>
            <a:ext cx="10874959" cy="548640"/>
          </a:xfrm>
          <a:prstGeom prst="rect">
            <a:avLst/>
          </a:prstGeom>
          <a:solidFill>
            <a:srgbClr val="E6EEF7"/>
          </a:solidFill>
          <a:ln w="12700">
            <a:solidFill>
              <a:srgbClr val="E6EEF7"/>
            </a:solidFill>
            <a:prstDash val="solid"/>
          </a:ln>
        </p:spPr>
      </p:sp>
      <p:sp>
        <p:nvSpPr>
          <p:cNvPr id="16" name="Shape 12"/>
          <p:cNvSpPr/>
          <p:nvPr/>
        </p:nvSpPr>
        <p:spPr>
          <a:xfrm>
            <a:off x="658368" y="3767328"/>
            <a:ext cx="54864" cy="548640"/>
          </a:xfrm>
          <a:prstGeom prst="rect">
            <a:avLst/>
          </a:prstGeom>
          <a:solidFill>
            <a:srgbClr val="102A43"/>
          </a:solidFill>
          <a:ln w="12700">
            <a:solidFill>
              <a:srgbClr val="102A43"/>
            </a:solidFill>
            <a:prstDash val="solid"/>
          </a:ln>
        </p:spPr>
      </p:sp>
      <p:sp>
        <p:nvSpPr>
          <p:cNvPr id="17" name="Text 13"/>
          <p:cNvSpPr txBox="1"/>
          <p:nvPr/>
        </p:nvSpPr>
        <p:spPr>
          <a:xfrm>
            <a:off x="932688" y="3840480"/>
            <a:ext cx="10326319" cy="402336"/>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confirmar_reserva() sigue llamando con DOS argumentos, porque nadie lo actualizó. Nadie se dio cuenta.</a:t>
            </a:r>
            <a:endParaRPr lang="en-US" sz="1300" dirty="0"/>
          </a:p>
        </p:txBody>
      </p:sp>
      <p:sp>
        <p:nvSpPr>
          <p:cNvPr id="18" name="Text 14"/>
          <p:cNvSpPr txBox="1"/>
          <p:nvPr/>
        </p:nvSpPr>
        <p:spPr>
          <a:xfrm>
            <a:off x="658368" y="4498848"/>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PREDICCIÓN ANTES DE EJECUTAR</a:t>
            </a:r>
            <a:endParaRPr lang="en-US" sz="960" dirty="0"/>
          </a:p>
        </p:txBody>
      </p:sp>
      <p:sp>
        <p:nvSpPr>
          <p:cNvPr id="19" name="Text 15"/>
          <p:cNvSpPr txBox="1"/>
          <p:nvPr/>
        </p:nvSpPr>
        <p:spPr>
          <a:xfrm>
            <a:off x="658368" y="4754880"/>
            <a:ext cx="10874959" cy="384048"/>
          </a:xfrm>
          <a:prstGeom prst="rect">
            <a:avLst/>
          </a:prstGeom>
          <a:noFill/>
          <a:ln/>
        </p:spPr>
        <p:txBody>
          <a:bodyPr wrap="square" lIns="0" tIns="0" rIns="0" bIns="0" rtlCol="0" anchor="ctr"/>
          <a:lstStyle/>
          <a:p>
            <a:pPr algn="l" indent="0" marL="0">
              <a:buNone/>
            </a:pPr>
            <a:r>
              <a:rPr lang="en-US" sz="2100" b="1" dirty="0">
                <a:solidFill>
                  <a:srgbClr val="243B53"/>
                </a:solidFill>
                <a:latin typeface="Aptos Display" pitchFamily="34" charset="0"/>
                <a:ea typeface="Aptos Display" pitchFamily="34" charset="-122"/>
                <a:cs typeface="Aptos Display" pitchFamily="34" charset="-120"/>
              </a:rPr>
              <a:t>¿Qué va a informar la suite de seis pruebas contra este estado del proyecto?</a:t>
            </a:r>
            <a:endParaRPr lang="en-US" sz="2100" dirty="0"/>
          </a:p>
        </p:txBody>
      </p:sp>
      <p:sp>
        <p:nvSpPr>
          <p:cNvPr id="20" name="Shape 16"/>
          <p:cNvSpPr/>
          <p:nvPr/>
        </p:nvSpPr>
        <p:spPr>
          <a:xfrm>
            <a:off x="658368" y="5285232"/>
            <a:ext cx="1371600" cy="274320"/>
          </a:xfrm>
          <a:prstGeom prst="rect">
            <a:avLst/>
          </a:prstGeom>
          <a:solidFill>
            <a:srgbClr val="EDE6DA"/>
          </a:solidFill>
          <a:ln w="12700">
            <a:solidFill>
              <a:srgbClr val="EDE6DA"/>
            </a:solidFill>
            <a:prstDash val="solid"/>
          </a:ln>
        </p:spPr>
      </p:sp>
      <p:sp>
        <p:nvSpPr>
          <p:cNvPr id="21" name="Text 17"/>
          <p:cNvSpPr txBox="1"/>
          <p:nvPr/>
        </p:nvSpPr>
        <p:spPr>
          <a:xfrm>
            <a:off x="658368" y="5294376"/>
            <a:ext cx="1371600"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Leer</a:t>
            </a:r>
            <a:endParaRPr lang="en-US" sz="940" dirty="0"/>
          </a:p>
        </p:txBody>
      </p:sp>
      <p:sp>
        <p:nvSpPr>
          <p:cNvPr id="22" name="Shape 18"/>
          <p:cNvSpPr/>
          <p:nvPr/>
        </p:nvSpPr>
        <p:spPr>
          <a:xfrm>
            <a:off x="2121408" y="5285232"/>
            <a:ext cx="1371600" cy="274320"/>
          </a:xfrm>
          <a:prstGeom prst="rect">
            <a:avLst/>
          </a:prstGeom>
          <a:solidFill>
            <a:srgbClr val="102A43"/>
          </a:solidFill>
          <a:ln w="12700">
            <a:solidFill>
              <a:srgbClr val="102A43"/>
            </a:solidFill>
            <a:prstDash val="solid"/>
          </a:ln>
        </p:spPr>
      </p:sp>
      <p:sp>
        <p:nvSpPr>
          <p:cNvPr id="23" name="Text 19"/>
          <p:cNvSpPr txBox="1"/>
          <p:nvPr/>
        </p:nvSpPr>
        <p:spPr>
          <a:xfrm>
            <a:off x="2121408" y="5294376"/>
            <a:ext cx="1371600" cy="256032"/>
          </a:xfrm>
          <a:prstGeom prst="rect">
            <a:avLst/>
          </a:prstGeom>
          <a:noFill/>
          <a:ln/>
        </p:spPr>
        <p:txBody>
          <a:bodyPr wrap="square" lIns="0" tIns="0" rIns="0" bIns="0" rtlCol="0" anchor="ctr"/>
          <a:lstStyle/>
          <a:p>
            <a:pPr algn="ctr" indent="0" marL="0">
              <a:buNone/>
            </a:pPr>
            <a:r>
              <a:rPr lang="en-US" sz="940" b="1" spc="60" kern="0" dirty="0">
                <a:solidFill>
                  <a:srgbClr val="FFFFFF"/>
                </a:solidFill>
                <a:latin typeface="Aptos" pitchFamily="34" charset="0"/>
                <a:ea typeface="Aptos" pitchFamily="34" charset="-122"/>
                <a:cs typeface="Aptos" pitchFamily="34" charset="-120"/>
              </a:rPr>
              <a:t>Predecir</a:t>
            </a:r>
            <a:endParaRPr lang="en-US" sz="940" dirty="0"/>
          </a:p>
        </p:txBody>
      </p:sp>
      <p:sp>
        <p:nvSpPr>
          <p:cNvPr id="24" name="Shape 20"/>
          <p:cNvSpPr/>
          <p:nvPr/>
        </p:nvSpPr>
        <p:spPr>
          <a:xfrm>
            <a:off x="3584448" y="5285232"/>
            <a:ext cx="1371600" cy="274320"/>
          </a:xfrm>
          <a:prstGeom prst="rect">
            <a:avLst/>
          </a:prstGeom>
          <a:solidFill>
            <a:srgbClr val="EDE6DA"/>
          </a:solidFill>
          <a:ln w="12700">
            <a:solidFill>
              <a:srgbClr val="EDE6DA"/>
            </a:solidFill>
            <a:prstDash val="solid"/>
          </a:ln>
        </p:spPr>
      </p:sp>
      <p:sp>
        <p:nvSpPr>
          <p:cNvPr id="25" name="Text 21"/>
          <p:cNvSpPr txBox="1"/>
          <p:nvPr/>
        </p:nvSpPr>
        <p:spPr>
          <a:xfrm>
            <a:off x="3584448" y="5294376"/>
            <a:ext cx="1371600" cy="256032"/>
          </a:xfrm>
          <a:prstGeom prst="rect">
            <a:avLst/>
          </a:prstGeom>
          <a:noFill/>
          <a:ln/>
        </p:spPr>
        <p:txBody>
          <a:bodyPr wrap="square" lIns="0" tIns="0" rIns="0" bIns="0" rtlCol="0" anchor="ctr"/>
          <a:lstStyle/>
          <a:p>
            <a:pPr algn="ctr" indent="0" marL="0">
              <a:buNone/>
            </a:pPr>
            <a:r>
              <a:rPr lang="en-US" sz="940" b="1" spc="60" kern="0" dirty="0">
                <a:solidFill>
                  <a:srgbClr val="52606D"/>
                </a:solidFill>
                <a:latin typeface="Aptos" pitchFamily="34" charset="0"/>
                <a:ea typeface="Aptos" pitchFamily="34" charset="-122"/>
                <a:cs typeface="Aptos" pitchFamily="34" charset="-120"/>
              </a:rPr>
              <a:t>Comprobar</a:t>
            </a:r>
            <a:endParaRPr lang="en-US" sz="940" dirty="0"/>
          </a:p>
        </p:txBody>
      </p:sp>
      <p:sp>
        <p:nvSpPr>
          <p:cNvPr id="26" name="Shape 22"/>
          <p:cNvSpPr/>
          <p:nvPr/>
        </p:nvSpPr>
        <p:spPr>
          <a:xfrm>
            <a:off x="658368" y="5797296"/>
            <a:ext cx="10874959" cy="457200"/>
          </a:xfrm>
          <a:prstGeom prst="rect">
            <a:avLst/>
          </a:prstGeom>
          <a:solidFill>
            <a:srgbClr val="102A43"/>
          </a:solidFill>
          <a:ln w="12700">
            <a:solidFill>
              <a:srgbClr val="102A43"/>
            </a:solidFill>
            <a:prstDash val="solid"/>
          </a:ln>
        </p:spPr>
      </p:sp>
      <p:sp>
        <p:nvSpPr>
          <p:cNvPr id="27" name="Text 23"/>
          <p:cNvSpPr txBox="1"/>
          <p:nvPr/>
        </p:nvSpPr>
        <p:spPr>
          <a:xfrm>
            <a:off x="969264" y="5833872"/>
            <a:ext cx="10253167" cy="38404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La lámina siguiente contrasta esta predicción con el resultado real.</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59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3 · EL RESULTADO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Seis en verde, 100 %, y el sistema roto</a:t>
            </a:r>
            <a:endParaRPr lang="en-US" sz="3000" dirty="0"/>
          </a:p>
        </p:txBody>
      </p:sp>
      <p:sp>
        <p:nvSpPr>
          <p:cNvPr id="10" name="Shape 7"/>
          <p:cNvSpPr/>
          <p:nvPr/>
        </p:nvSpPr>
        <p:spPr>
          <a:xfrm>
            <a:off x="658368" y="2194560"/>
            <a:ext cx="6675120" cy="1097280"/>
          </a:xfrm>
          <a:prstGeom prst="rect">
            <a:avLst/>
          </a:prstGeom>
          <a:solidFill>
            <a:srgbClr val="0F1720"/>
          </a:solidFill>
          <a:ln w="12700">
            <a:solidFill>
              <a:srgbClr val="0F1720"/>
            </a:solidFill>
            <a:prstDash val="solid"/>
          </a:ln>
        </p:spPr>
      </p:sp>
      <p:sp>
        <p:nvSpPr>
          <p:cNvPr id="11" name="Shape 8"/>
          <p:cNvSpPr/>
          <p:nvPr/>
        </p:nvSpPr>
        <p:spPr>
          <a:xfrm>
            <a:off x="658368" y="2194560"/>
            <a:ext cx="6675120" cy="292608"/>
          </a:xfrm>
          <a:prstGeom prst="rect">
            <a:avLst/>
          </a:prstGeom>
          <a:solidFill>
            <a:srgbClr val="1D3A57"/>
          </a:solidFill>
          <a:ln w="12700">
            <a:solidFill>
              <a:srgbClr val="1D3A57"/>
            </a:solidFill>
            <a:prstDash val="solid"/>
          </a:ln>
        </p:spPr>
      </p:sp>
      <p:sp>
        <p:nvSpPr>
          <p:cNvPr id="12" name="Text 9"/>
          <p:cNvSpPr txBox="1"/>
          <p:nvPr/>
        </p:nvSpPr>
        <p:spPr>
          <a:xfrm>
            <a:off x="859536" y="2240280"/>
            <a:ext cx="6272784" cy="201168"/>
          </a:xfrm>
          <a:prstGeom prst="rect">
            <a:avLst/>
          </a:prstGeom>
          <a:noFill/>
          <a:ln/>
        </p:spPr>
        <p:txBody>
          <a:bodyPr wrap="square" lIns="0" tIns="0" rIns="0" bIns="0" rtlCol="0" anchor="t"/>
          <a:lstStyle/>
          <a:p>
            <a:pPr algn="l" indent="0" marL="0">
              <a:buNone/>
            </a:pPr>
            <a:r>
              <a:rPr lang="en-US" sz="940" b="1" spc="60" kern="0" dirty="0">
                <a:solidFill>
                  <a:srgbClr val="EADFD0"/>
                </a:solidFill>
                <a:latin typeface="Aptos" pitchFamily="34" charset="0"/>
                <a:ea typeface="Aptos" pitchFamily="34" charset="-122"/>
                <a:cs typeface="Aptos" pitchFamily="34" charset="-120"/>
              </a:rPr>
              <a:t>La suite completa sobre ese estado</a:t>
            </a:r>
            <a:endParaRPr lang="en-US" sz="940" dirty="0"/>
          </a:p>
        </p:txBody>
      </p:sp>
      <p:sp>
        <p:nvSpPr>
          <p:cNvPr id="13" name="Text 10"/>
          <p:cNvSpPr txBox="1"/>
          <p:nvPr/>
        </p:nvSpPr>
        <p:spPr>
          <a:xfrm>
            <a:off x="859536" y="2596896"/>
            <a:ext cx="2048256" cy="219456"/>
          </a:xfrm>
          <a:prstGeom prst="rect">
            <a:avLst/>
          </a:prstGeom>
          <a:noFill/>
          <a:ln/>
        </p:spPr>
        <p:txBody>
          <a:bodyPr wrap="square" lIns="0" tIns="0" rIns="0" bIns="0" rtlCol="0" anchor="t"/>
          <a:lstStyle/>
          <a:p>
            <a:pPr algn="l" indent="0" marL="0">
              <a:buNone/>
            </a:pPr>
            <a:r>
              <a:rPr lang="en-US" sz="1000" b="1" dirty="0">
                <a:solidFill>
                  <a:srgbClr val="8AA0B6"/>
                </a:solidFill>
                <a:latin typeface="Consolas" pitchFamily="34" charset="0"/>
                <a:ea typeface="Consolas" pitchFamily="34" charset="-122"/>
                <a:cs typeface="Consolas" pitchFamily="34" charset="-120"/>
              </a:rPr>
              <a:t>Name</a:t>
            </a:r>
            <a:endParaRPr lang="en-US" sz="1000" dirty="0"/>
          </a:p>
        </p:txBody>
      </p:sp>
      <p:sp>
        <p:nvSpPr>
          <p:cNvPr id="14" name="Text 11"/>
          <p:cNvSpPr txBox="1"/>
          <p:nvPr/>
        </p:nvSpPr>
        <p:spPr>
          <a:xfrm>
            <a:off x="2962656" y="2596896"/>
            <a:ext cx="612648" cy="219456"/>
          </a:xfrm>
          <a:prstGeom prst="rect">
            <a:avLst/>
          </a:prstGeom>
          <a:noFill/>
          <a:ln/>
        </p:spPr>
        <p:txBody>
          <a:bodyPr wrap="square" lIns="0" tIns="0" rIns="0" bIns="0" rtlCol="0" anchor="t"/>
          <a:lstStyle/>
          <a:p>
            <a:pPr algn="r" indent="0" marL="0">
              <a:buNone/>
            </a:pPr>
            <a:r>
              <a:rPr lang="en-US" sz="1000" b="1" dirty="0">
                <a:solidFill>
                  <a:srgbClr val="8AA0B6"/>
                </a:solidFill>
                <a:latin typeface="Consolas" pitchFamily="34" charset="0"/>
                <a:ea typeface="Consolas" pitchFamily="34" charset="-122"/>
                <a:cs typeface="Consolas" pitchFamily="34" charset="-120"/>
              </a:rPr>
              <a:t>Stmts</a:t>
            </a:r>
            <a:endParaRPr lang="en-US" sz="1000" dirty="0"/>
          </a:p>
        </p:txBody>
      </p:sp>
      <p:sp>
        <p:nvSpPr>
          <p:cNvPr id="15" name="Text 12"/>
          <p:cNvSpPr txBox="1"/>
          <p:nvPr/>
        </p:nvSpPr>
        <p:spPr>
          <a:xfrm>
            <a:off x="3831336" y="2596896"/>
            <a:ext cx="566928" cy="219456"/>
          </a:xfrm>
          <a:prstGeom prst="rect">
            <a:avLst/>
          </a:prstGeom>
          <a:noFill/>
          <a:ln/>
        </p:spPr>
        <p:txBody>
          <a:bodyPr wrap="square" lIns="0" tIns="0" rIns="0" bIns="0" rtlCol="0" anchor="t"/>
          <a:lstStyle/>
          <a:p>
            <a:pPr algn="r" indent="0" marL="0">
              <a:buNone/>
            </a:pPr>
            <a:r>
              <a:rPr lang="en-US" sz="1000" b="1" dirty="0">
                <a:solidFill>
                  <a:srgbClr val="8AA0B6"/>
                </a:solidFill>
                <a:latin typeface="Consolas" pitchFamily="34" charset="0"/>
                <a:ea typeface="Consolas" pitchFamily="34" charset="-122"/>
                <a:cs typeface="Consolas" pitchFamily="34" charset="-120"/>
              </a:rPr>
              <a:t>Miss</a:t>
            </a:r>
            <a:endParaRPr lang="en-US" sz="1000" dirty="0"/>
          </a:p>
        </p:txBody>
      </p:sp>
      <p:sp>
        <p:nvSpPr>
          <p:cNvPr id="16" name="Text 13"/>
          <p:cNvSpPr txBox="1"/>
          <p:nvPr/>
        </p:nvSpPr>
        <p:spPr>
          <a:xfrm>
            <a:off x="4654296" y="2596896"/>
            <a:ext cx="704088" cy="219456"/>
          </a:xfrm>
          <a:prstGeom prst="rect">
            <a:avLst/>
          </a:prstGeom>
          <a:noFill/>
          <a:ln/>
        </p:spPr>
        <p:txBody>
          <a:bodyPr wrap="square" lIns="0" tIns="0" rIns="0" bIns="0" rtlCol="0" anchor="t"/>
          <a:lstStyle/>
          <a:p>
            <a:pPr algn="r" indent="0" marL="0">
              <a:buNone/>
            </a:pPr>
            <a:r>
              <a:rPr lang="en-US" sz="1000" b="1" dirty="0">
                <a:solidFill>
                  <a:srgbClr val="8AA0B6"/>
                </a:solidFill>
                <a:latin typeface="Consolas" pitchFamily="34" charset="0"/>
                <a:ea typeface="Consolas" pitchFamily="34" charset="-122"/>
                <a:cs typeface="Consolas" pitchFamily="34" charset="-120"/>
              </a:rPr>
              <a:t>Branch</a:t>
            </a:r>
            <a:endParaRPr lang="en-US" sz="1000" dirty="0"/>
          </a:p>
        </p:txBody>
      </p:sp>
      <p:sp>
        <p:nvSpPr>
          <p:cNvPr id="17" name="Text 14"/>
          <p:cNvSpPr txBox="1"/>
          <p:nvPr/>
        </p:nvSpPr>
        <p:spPr>
          <a:xfrm>
            <a:off x="5614416" y="2596896"/>
            <a:ext cx="704088" cy="219456"/>
          </a:xfrm>
          <a:prstGeom prst="rect">
            <a:avLst/>
          </a:prstGeom>
          <a:noFill/>
          <a:ln/>
        </p:spPr>
        <p:txBody>
          <a:bodyPr wrap="square" lIns="0" tIns="0" rIns="0" bIns="0" rtlCol="0" anchor="t"/>
          <a:lstStyle/>
          <a:p>
            <a:pPr algn="r" indent="0" marL="0">
              <a:buNone/>
            </a:pPr>
            <a:r>
              <a:rPr lang="en-US" sz="1000" b="1" dirty="0">
                <a:solidFill>
                  <a:srgbClr val="8AA0B6"/>
                </a:solidFill>
                <a:latin typeface="Consolas" pitchFamily="34" charset="0"/>
                <a:ea typeface="Consolas" pitchFamily="34" charset="-122"/>
                <a:cs typeface="Consolas" pitchFamily="34" charset="-120"/>
              </a:rPr>
              <a:t>BrPart</a:t>
            </a:r>
            <a:endParaRPr lang="en-US" sz="1000" dirty="0"/>
          </a:p>
        </p:txBody>
      </p:sp>
      <p:sp>
        <p:nvSpPr>
          <p:cNvPr id="18" name="Text 15"/>
          <p:cNvSpPr txBox="1"/>
          <p:nvPr/>
        </p:nvSpPr>
        <p:spPr>
          <a:xfrm>
            <a:off x="6574536" y="2596896"/>
            <a:ext cx="612648" cy="219456"/>
          </a:xfrm>
          <a:prstGeom prst="rect">
            <a:avLst/>
          </a:prstGeom>
          <a:noFill/>
          <a:ln/>
        </p:spPr>
        <p:txBody>
          <a:bodyPr wrap="square" lIns="0" tIns="0" rIns="0" bIns="0" rtlCol="0" anchor="t"/>
          <a:lstStyle/>
          <a:p>
            <a:pPr algn="r" indent="0" marL="0">
              <a:buNone/>
            </a:pPr>
            <a:r>
              <a:rPr lang="en-US" sz="1000" b="1" dirty="0">
                <a:solidFill>
                  <a:srgbClr val="8AA0B6"/>
                </a:solidFill>
                <a:latin typeface="Consolas" pitchFamily="34" charset="0"/>
                <a:ea typeface="Consolas" pitchFamily="34" charset="-122"/>
                <a:cs typeface="Consolas" pitchFamily="34" charset="-120"/>
              </a:rPr>
              <a:t>Cover</a:t>
            </a:r>
            <a:endParaRPr lang="en-US" sz="1000" dirty="0"/>
          </a:p>
        </p:txBody>
      </p:sp>
      <p:sp>
        <p:nvSpPr>
          <p:cNvPr id="19" name="Shape 16"/>
          <p:cNvSpPr/>
          <p:nvPr/>
        </p:nvSpPr>
        <p:spPr>
          <a:xfrm>
            <a:off x="859536" y="2852928"/>
            <a:ext cx="6272784" cy="0"/>
          </a:xfrm>
          <a:prstGeom prst="line">
            <a:avLst/>
          </a:prstGeom>
          <a:noFill/>
          <a:ln w="12700">
            <a:solidFill>
              <a:srgbClr val="2C4A66"/>
            </a:solidFill>
            <a:prstDash val="solid"/>
            <a:headEnd type="none"/>
            <a:tailEnd type="none"/>
          </a:ln>
        </p:spPr>
      </p:sp>
      <p:sp>
        <p:nvSpPr>
          <p:cNvPr id="20" name="Text 17"/>
          <p:cNvSpPr txBox="1"/>
          <p:nvPr/>
        </p:nvSpPr>
        <p:spPr>
          <a:xfrm>
            <a:off x="859536" y="2926080"/>
            <a:ext cx="2048256" cy="256032"/>
          </a:xfrm>
          <a:prstGeom prst="rect">
            <a:avLst/>
          </a:prstGeom>
          <a:noFill/>
          <a:ln/>
        </p:spPr>
        <p:txBody>
          <a:bodyPr wrap="square" lIns="0" tIns="0" rIns="0" bIns="0" rtlCol="0" anchor="t"/>
          <a:lstStyle/>
          <a:p>
            <a:pPr algn="l" indent="0" marL="0">
              <a:buNone/>
            </a:pPr>
            <a:r>
              <a:rPr lang="en-US" sz="1000" dirty="0">
                <a:solidFill>
                  <a:srgbClr val="E6EEF7"/>
                </a:solidFill>
                <a:latin typeface="Consolas" pitchFamily="34" charset="0"/>
                <a:ea typeface="Consolas" pitchFamily="34" charset="-122"/>
                <a:cs typeface="Consolas" pitchFamily="34" charset="-120"/>
              </a:rPr>
              <a:t>confirmacion.py</a:t>
            </a:r>
            <a:endParaRPr lang="en-US" sz="1000" dirty="0"/>
          </a:p>
        </p:txBody>
      </p:sp>
      <p:sp>
        <p:nvSpPr>
          <p:cNvPr id="21" name="Text 18"/>
          <p:cNvSpPr txBox="1"/>
          <p:nvPr/>
        </p:nvSpPr>
        <p:spPr>
          <a:xfrm>
            <a:off x="2962656" y="2926080"/>
            <a:ext cx="612648" cy="256032"/>
          </a:xfrm>
          <a:prstGeom prst="rect">
            <a:avLst/>
          </a:prstGeom>
          <a:noFill/>
          <a:ln/>
        </p:spPr>
        <p:txBody>
          <a:bodyPr wrap="square" lIns="0" tIns="0" rIns="0" bIns="0" rtlCol="0" anchor="t"/>
          <a:lstStyle/>
          <a:p>
            <a:pPr algn="r" indent="0" marL="0">
              <a:buNone/>
            </a:pPr>
            <a:r>
              <a:rPr lang="en-US" sz="1000" dirty="0">
                <a:solidFill>
                  <a:srgbClr val="E6EEF7"/>
                </a:solidFill>
                <a:latin typeface="Consolas" pitchFamily="34" charset="0"/>
                <a:ea typeface="Consolas" pitchFamily="34" charset="-122"/>
                <a:cs typeface="Consolas" pitchFamily="34" charset="-120"/>
              </a:rPr>
              <a:t>10</a:t>
            </a:r>
            <a:endParaRPr lang="en-US" sz="1000" dirty="0"/>
          </a:p>
        </p:txBody>
      </p:sp>
      <p:sp>
        <p:nvSpPr>
          <p:cNvPr id="22" name="Text 19"/>
          <p:cNvSpPr txBox="1"/>
          <p:nvPr/>
        </p:nvSpPr>
        <p:spPr>
          <a:xfrm>
            <a:off x="3831336" y="2926080"/>
            <a:ext cx="566928" cy="256032"/>
          </a:xfrm>
          <a:prstGeom prst="rect">
            <a:avLst/>
          </a:prstGeom>
          <a:noFill/>
          <a:ln/>
        </p:spPr>
        <p:txBody>
          <a:bodyPr wrap="square" lIns="0" tIns="0" rIns="0" bIns="0" rtlCol="0" anchor="t"/>
          <a:lstStyle/>
          <a:p>
            <a:pPr algn="r" indent="0" marL="0">
              <a:buNone/>
            </a:pPr>
            <a:r>
              <a:rPr lang="en-US" sz="1000" dirty="0">
                <a:solidFill>
                  <a:srgbClr val="E6EEF7"/>
                </a:solidFill>
                <a:latin typeface="Consolas" pitchFamily="34" charset="0"/>
                <a:ea typeface="Consolas" pitchFamily="34" charset="-122"/>
                <a:cs typeface="Consolas" pitchFamily="34" charset="-120"/>
              </a:rPr>
              <a:t>0</a:t>
            </a:r>
            <a:endParaRPr lang="en-US" sz="1000" dirty="0"/>
          </a:p>
        </p:txBody>
      </p:sp>
      <p:sp>
        <p:nvSpPr>
          <p:cNvPr id="23" name="Text 20"/>
          <p:cNvSpPr txBox="1"/>
          <p:nvPr/>
        </p:nvSpPr>
        <p:spPr>
          <a:xfrm>
            <a:off x="4654296" y="2926080"/>
            <a:ext cx="704088" cy="256032"/>
          </a:xfrm>
          <a:prstGeom prst="rect">
            <a:avLst/>
          </a:prstGeom>
          <a:noFill/>
          <a:ln/>
        </p:spPr>
        <p:txBody>
          <a:bodyPr wrap="square" lIns="0" tIns="0" rIns="0" bIns="0" rtlCol="0" anchor="t"/>
          <a:lstStyle/>
          <a:p>
            <a:pPr algn="r" indent="0" marL="0">
              <a:buNone/>
            </a:pPr>
            <a:r>
              <a:rPr lang="en-US" sz="1000" dirty="0">
                <a:solidFill>
                  <a:srgbClr val="E6EEF7"/>
                </a:solidFill>
                <a:latin typeface="Consolas" pitchFamily="34" charset="0"/>
                <a:ea typeface="Consolas" pitchFamily="34" charset="-122"/>
                <a:cs typeface="Consolas" pitchFamily="34" charset="-120"/>
              </a:rPr>
              <a:t>4</a:t>
            </a:r>
            <a:endParaRPr lang="en-US" sz="1000" dirty="0"/>
          </a:p>
        </p:txBody>
      </p:sp>
      <p:sp>
        <p:nvSpPr>
          <p:cNvPr id="24" name="Text 21"/>
          <p:cNvSpPr txBox="1"/>
          <p:nvPr/>
        </p:nvSpPr>
        <p:spPr>
          <a:xfrm>
            <a:off x="5614416" y="2926080"/>
            <a:ext cx="704088" cy="256032"/>
          </a:xfrm>
          <a:prstGeom prst="rect">
            <a:avLst/>
          </a:prstGeom>
          <a:noFill/>
          <a:ln/>
        </p:spPr>
        <p:txBody>
          <a:bodyPr wrap="square" lIns="0" tIns="0" rIns="0" bIns="0" rtlCol="0" anchor="t"/>
          <a:lstStyle/>
          <a:p>
            <a:pPr algn="r" indent="0" marL="0">
              <a:buNone/>
            </a:pPr>
            <a:r>
              <a:rPr lang="en-US" sz="1000" dirty="0">
                <a:solidFill>
                  <a:srgbClr val="E6EEF7"/>
                </a:solidFill>
                <a:latin typeface="Consolas" pitchFamily="34" charset="0"/>
                <a:ea typeface="Consolas" pitchFamily="34" charset="-122"/>
                <a:cs typeface="Consolas" pitchFamily="34" charset="-120"/>
              </a:rPr>
              <a:t>0</a:t>
            </a:r>
            <a:endParaRPr lang="en-US" sz="1000" dirty="0"/>
          </a:p>
        </p:txBody>
      </p:sp>
      <p:sp>
        <p:nvSpPr>
          <p:cNvPr id="25" name="Text 22"/>
          <p:cNvSpPr txBox="1"/>
          <p:nvPr/>
        </p:nvSpPr>
        <p:spPr>
          <a:xfrm>
            <a:off x="6574536" y="2926080"/>
            <a:ext cx="612648" cy="256032"/>
          </a:xfrm>
          <a:prstGeom prst="rect">
            <a:avLst/>
          </a:prstGeom>
          <a:noFill/>
          <a:ln/>
        </p:spPr>
        <p:txBody>
          <a:bodyPr wrap="square" lIns="0" tIns="0" rIns="0" bIns="0" rtlCol="0" anchor="t"/>
          <a:lstStyle/>
          <a:p>
            <a:pPr algn="r" indent="0" marL="0">
              <a:buNone/>
            </a:pPr>
            <a:r>
              <a:rPr lang="en-US" sz="1000" dirty="0">
                <a:solidFill>
                  <a:srgbClr val="E6EEF7"/>
                </a:solidFill>
                <a:latin typeface="Consolas" pitchFamily="34" charset="0"/>
                <a:ea typeface="Consolas" pitchFamily="34" charset="-122"/>
                <a:cs typeface="Consolas" pitchFamily="34" charset="-120"/>
              </a:rPr>
              <a:t>100%</a:t>
            </a:r>
            <a:endParaRPr lang="en-US" sz="1000" dirty="0"/>
          </a:p>
        </p:txBody>
      </p:sp>
      <p:sp>
        <p:nvSpPr>
          <p:cNvPr id="26" name="Text 23"/>
          <p:cNvSpPr txBox="1"/>
          <p:nvPr/>
        </p:nvSpPr>
        <p:spPr>
          <a:xfrm>
            <a:off x="859536" y="3364992"/>
            <a:ext cx="2743200" cy="237744"/>
          </a:xfrm>
          <a:prstGeom prst="rect">
            <a:avLst/>
          </a:prstGeom>
          <a:noFill/>
          <a:ln/>
        </p:spPr>
        <p:txBody>
          <a:bodyPr wrap="square" lIns="0" tIns="0" rIns="0" bIns="0" rtlCol="0" anchor="t"/>
          <a:lstStyle/>
          <a:p>
            <a:pPr algn="l" indent="0" marL="0">
              <a:buNone/>
            </a:pPr>
            <a:r>
              <a:rPr lang="en-US" sz="1100" dirty="0">
                <a:solidFill>
                  <a:srgbClr val="3FAE6A"/>
                </a:solidFill>
                <a:latin typeface="Consolas" pitchFamily="34" charset="0"/>
                <a:ea typeface="Consolas" pitchFamily="34" charset="-122"/>
                <a:cs typeface="Consolas" pitchFamily="34" charset="-120"/>
              </a:rPr>
              <a:t>6 passed in 0.20s</a:t>
            </a:r>
            <a:endParaRPr lang="en-US" sz="1100" dirty="0"/>
          </a:p>
        </p:txBody>
      </p:sp>
      <p:sp>
        <p:nvSpPr>
          <p:cNvPr id="27" name="Shape 24"/>
          <p:cNvSpPr/>
          <p:nvPr/>
        </p:nvSpPr>
        <p:spPr>
          <a:xfrm>
            <a:off x="7644384" y="2194560"/>
            <a:ext cx="3886200" cy="1280160"/>
          </a:xfrm>
          <a:prstGeom prst="rect">
            <a:avLst/>
          </a:prstGeom>
          <a:solidFill>
            <a:srgbClr val="D62027"/>
          </a:solidFill>
          <a:ln w="12700">
            <a:solidFill>
              <a:srgbClr val="D62027"/>
            </a:solidFill>
            <a:prstDash val="solid"/>
          </a:ln>
        </p:spPr>
      </p:sp>
      <p:sp>
        <p:nvSpPr>
          <p:cNvPr id="28" name="Text 25"/>
          <p:cNvSpPr txBox="1"/>
          <p:nvPr/>
        </p:nvSpPr>
        <p:spPr>
          <a:xfrm>
            <a:off x="7882128" y="2340864"/>
            <a:ext cx="3474720" cy="219456"/>
          </a:xfrm>
          <a:prstGeom prst="rect">
            <a:avLst/>
          </a:prstGeom>
          <a:noFill/>
          <a:ln/>
        </p:spPr>
        <p:txBody>
          <a:bodyPr wrap="square" lIns="0" tIns="0" rIns="0" bIns="0" rtlCol="0" anchor="t"/>
          <a:lstStyle/>
          <a:p>
            <a:pPr algn="l" indent="0" marL="0">
              <a:buNone/>
            </a:pPr>
            <a:r>
              <a:rPr lang="en-US" sz="1040" b="1" spc="120" kern="0" dirty="0">
                <a:solidFill>
                  <a:srgbClr val="FFFFFF"/>
                </a:solidFill>
                <a:latin typeface="Aptos" pitchFamily="34" charset="0"/>
                <a:ea typeface="Aptos" pitchFamily="34" charset="-122"/>
                <a:cs typeface="Aptos" pitchFamily="34" charset="-120"/>
              </a:rPr>
              <a:t>En producción</a:t>
            </a:r>
            <a:endParaRPr lang="en-US" sz="1040" dirty="0"/>
          </a:p>
        </p:txBody>
      </p:sp>
      <p:sp>
        <p:nvSpPr>
          <p:cNvPr id="29" name="Text 26"/>
          <p:cNvSpPr txBox="1"/>
          <p:nvPr/>
        </p:nvSpPr>
        <p:spPr>
          <a:xfrm>
            <a:off x="7882128" y="2596896"/>
            <a:ext cx="3474720" cy="347472"/>
          </a:xfrm>
          <a:prstGeom prst="rect">
            <a:avLst/>
          </a:prstGeom>
          <a:noFill/>
          <a:ln/>
        </p:spPr>
        <p:txBody>
          <a:bodyPr wrap="square" lIns="0" tIns="0" rIns="0" bIns="0" rtlCol="0" anchor="t"/>
          <a:lstStyle/>
          <a:p>
            <a:pPr algn="l" indent="0" marL="0">
              <a:buNone/>
            </a:pPr>
            <a:r>
              <a:rPr lang="en-US" sz="1800" b="1" dirty="0">
                <a:solidFill>
                  <a:srgbClr val="FFFFFF"/>
                </a:solidFill>
                <a:latin typeface="Consolas" pitchFamily="34" charset="0"/>
                <a:ea typeface="Consolas" pitchFamily="34" charset="-122"/>
                <a:cs typeface="Consolas" pitchFamily="34" charset="-120"/>
              </a:rPr>
              <a:t>TypeError</a:t>
            </a:r>
            <a:endParaRPr lang="en-US" sz="1800" dirty="0"/>
          </a:p>
        </p:txBody>
      </p:sp>
      <p:sp>
        <p:nvSpPr>
          <p:cNvPr id="30" name="Text 27"/>
          <p:cNvSpPr txBox="1"/>
          <p:nvPr/>
        </p:nvSpPr>
        <p:spPr>
          <a:xfrm>
            <a:off x="7882128" y="2980944"/>
            <a:ext cx="3474720" cy="402336"/>
          </a:xfrm>
          <a:prstGeom prst="rect">
            <a:avLst/>
          </a:prstGeom>
          <a:noFill/>
          <a:ln/>
        </p:spPr>
        <p:txBody>
          <a:bodyPr wrap="square" lIns="0" tIns="0" rIns="0" bIns="0" rtlCol="0" anchor="t"/>
          <a:lstStyle/>
          <a:p>
            <a:pPr algn="l" indent="0" marL="0">
              <a:lnSpc>
                <a:spcPct val="112000"/>
              </a:lnSpc>
              <a:buNone/>
            </a:pPr>
            <a:r>
              <a:rPr lang="en-US" sz="860" dirty="0">
                <a:solidFill>
                  <a:srgbClr val="FFFFFF"/>
                </a:solidFill>
                <a:latin typeface="Consolas" pitchFamily="34" charset="0"/>
                <a:ea typeface="Consolas" pitchFamily="34" charset="-122"/>
                <a:cs typeface="Consolas" pitchFamily="34" charset="-120"/>
              </a:rPr>
              <a:t>enviar_confirmacion() missing 1 required positional argument: 'cuerpo'</a:t>
            </a:r>
            <a:endParaRPr lang="en-US" sz="860" dirty="0"/>
          </a:p>
        </p:txBody>
      </p:sp>
      <p:sp>
        <p:nvSpPr>
          <p:cNvPr id="31" name="Shape 28"/>
          <p:cNvSpPr/>
          <p:nvPr/>
        </p:nvSpPr>
        <p:spPr>
          <a:xfrm>
            <a:off x="658368" y="3675888"/>
            <a:ext cx="10874959" cy="822960"/>
          </a:xfrm>
          <a:prstGeom prst="rect">
            <a:avLst/>
          </a:prstGeom>
          <a:solidFill>
            <a:srgbClr val="E0BC5A"/>
          </a:solidFill>
          <a:ln w="12700">
            <a:solidFill>
              <a:srgbClr val="E0BC5A"/>
            </a:solidFill>
            <a:prstDash val="solid"/>
          </a:ln>
        </p:spPr>
      </p:sp>
      <p:sp>
        <p:nvSpPr>
          <p:cNvPr id="32" name="Text 29"/>
          <p:cNvSpPr txBox="1"/>
          <p:nvPr/>
        </p:nvSpPr>
        <p:spPr>
          <a:xfrm>
            <a:off x="658368" y="3767328"/>
            <a:ext cx="10874959" cy="347472"/>
          </a:xfrm>
          <a:prstGeom prst="rect">
            <a:avLst/>
          </a:prstGeom>
          <a:noFill/>
          <a:ln/>
        </p:spPr>
        <p:txBody>
          <a:bodyPr wrap="square" lIns="0" tIns="0" rIns="0" bIns="0" rtlCol="0" anchor="ctr"/>
          <a:lstStyle/>
          <a:p>
            <a:pPr algn="ctr" indent="0" marL="0">
              <a:buNone/>
            </a:pPr>
            <a:r>
              <a:rPr lang="en-US" sz="2100" b="1" dirty="0">
                <a:solidFill>
                  <a:srgbClr val="102A43"/>
                </a:solidFill>
                <a:latin typeface="Aptos Display" pitchFamily="34" charset="0"/>
                <a:ea typeface="Aptos Display" pitchFamily="34" charset="-122"/>
                <a:cs typeface="Aptos Display" pitchFamily="34" charset="-120"/>
              </a:rPr>
              <a:t>Los dobles no están conectados a la dependencia que sustituyen.</a:t>
            </a:r>
            <a:endParaRPr lang="en-US" sz="2100" dirty="0"/>
          </a:p>
        </p:txBody>
      </p:sp>
      <p:sp>
        <p:nvSpPr>
          <p:cNvPr id="33" name="Text 30"/>
          <p:cNvSpPr txBox="1"/>
          <p:nvPr/>
        </p:nvSpPr>
        <p:spPr>
          <a:xfrm>
            <a:off x="658368" y="4169664"/>
            <a:ext cx="10874959" cy="237744"/>
          </a:xfrm>
          <a:prstGeom prst="rect">
            <a:avLst/>
          </a:prstGeom>
          <a:noFill/>
          <a:ln/>
        </p:spPr>
        <p:txBody>
          <a:bodyPr wrap="square" lIns="0" tIns="0" rIns="0" bIns="0" rtlCol="0" anchor="t"/>
          <a:lstStyle/>
          <a:p>
            <a:pPr algn="ctr" indent="0" marL="0">
              <a:buNone/>
            </a:pPr>
            <a:r>
              <a:rPr lang="en-US" sz="1260" dirty="0">
                <a:solidFill>
                  <a:srgbClr val="102A43"/>
                </a:solidFill>
                <a:latin typeface="Aptos" pitchFamily="34" charset="0"/>
                <a:ea typeface="Aptos" pitchFamily="34" charset="-122"/>
                <a:cs typeface="Aptos" pitchFamily="34" charset="-120"/>
              </a:rPr>
              <a:t>Cada uno de los cinco recibe dos argumentos porque su autor decidió que la dependencia recibía dos argumentos.</a:t>
            </a:r>
            <a:endParaRPr lang="en-US" sz="1260" dirty="0"/>
          </a:p>
        </p:txBody>
      </p:sp>
      <p:sp>
        <p:nvSpPr>
          <p:cNvPr id="34" name="Text 31"/>
          <p:cNvSpPr txBox="1"/>
          <p:nvPr/>
        </p:nvSpPr>
        <p:spPr>
          <a:xfrm>
            <a:off x="658368" y="4700016"/>
            <a:ext cx="10424160" cy="731520"/>
          </a:xfrm>
          <a:prstGeom prst="rect">
            <a:avLst/>
          </a:prstGeom>
          <a:noFill/>
          <a:ln/>
        </p:spPr>
        <p:txBody>
          <a:bodyPr wrap="square" lIns="0" tIns="0" rIns="0" bIns="0" rtlCol="0" anchor="t"/>
          <a:lstStyle/>
          <a:p>
            <a:pPr algn="l" indent="0" marL="0">
              <a:lnSpc>
                <a:spcPct val="118000"/>
              </a:lnSpc>
              <a:buNone/>
            </a:pPr>
            <a:r>
              <a:rPr lang="en-US" sz="1360" dirty="0">
                <a:solidFill>
                  <a:srgbClr val="E6EEF7"/>
                </a:solidFill>
                <a:latin typeface="Aptos" pitchFamily="34" charset="0"/>
                <a:ea typeface="Aptos" pitchFamily="34" charset="-122"/>
                <a:cs typeface="Aptos" pitchFamily="34" charset="-120"/>
              </a:rPr>
              <a:t>Cuando eso deja de ser cierto, los dobles aceptan la firma antigua. Por eso la suite no ejecuta el servicio real ni detecta su cambio. El 100 % es real; lo que se cubrió por completo fue el supuesto del autor, no el sistema que llegará a producción.</a:t>
            </a:r>
            <a:endParaRPr lang="en-US" sz="1360" dirty="0"/>
          </a:p>
        </p:txBody>
      </p:sp>
      <p:sp>
        <p:nvSpPr>
          <p:cNvPr id="35" name="Shape 32"/>
          <p:cNvSpPr/>
          <p:nvPr/>
        </p:nvSpPr>
        <p:spPr>
          <a:xfrm>
            <a:off x="658368" y="5541264"/>
            <a:ext cx="10874959" cy="512064"/>
          </a:xfrm>
          <a:prstGeom prst="rect">
            <a:avLst/>
          </a:prstGeom>
          <a:solidFill>
            <a:srgbClr val="1D3A57"/>
          </a:solidFill>
          <a:ln w="12700">
            <a:solidFill>
              <a:srgbClr val="1D3A57"/>
            </a:solidFill>
            <a:prstDash val="solid"/>
          </a:ln>
        </p:spPr>
      </p:sp>
      <p:sp>
        <p:nvSpPr>
          <p:cNvPr id="36" name="Text 33"/>
          <p:cNvSpPr txBox="1"/>
          <p:nvPr/>
        </p:nvSpPr>
        <p:spPr>
          <a:xfrm>
            <a:off x="932688" y="5614416"/>
            <a:ext cx="10326319" cy="365760"/>
          </a:xfrm>
          <a:prstGeom prst="rect">
            <a:avLst/>
          </a:prstGeom>
          <a:noFill/>
          <a:ln/>
        </p:spPr>
        <p:txBody>
          <a:bodyPr wrap="square" lIns="0" tIns="0" rIns="0" bIns="0" rtlCol="0" anchor="ctr"/>
          <a:lstStyle/>
          <a:p>
            <a:pPr algn="l" indent="0" marL="0">
              <a:buNone/>
            </a:pPr>
            <a:r>
              <a:rPr lang="en-US" sz="1280" b="1" dirty="0">
                <a:solidFill>
                  <a:srgbClr val="E0BC5A"/>
                </a:solidFill>
                <a:latin typeface="Aptos" pitchFamily="34" charset="0"/>
                <a:ea typeface="Aptos" pitchFamily="34" charset="-122"/>
                <a:cs typeface="Aptos" pitchFamily="34" charset="-120"/>
              </a:rPr>
              <a:t>En el vocabulario del bloque anterior: el cambio de firma es un mutante, y esta suite lo deja SOBREVIVIR con cobertura total.</a:t>
            </a:r>
            <a:endParaRPr lang="en-US" sz="12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DEFENSA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700" b="1" dirty="0">
                <a:solidFill>
                  <a:srgbClr val="243B53"/>
                </a:solidFill>
                <a:latin typeface="Aptos Display" pitchFamily="34" charset="0"/>
                <a:ea typeface="Aptos Display" pitchFamily="34" charset="-122"/>
                <a:cs typeface="Aptos Display" pitchFamily="34" charset="-120"/>
              </a:rPr>
              <a:t>Un doble derivado de la dependencia, no escrito de memoria</a:t>
            </a:r>
            <a:endParaRPr lang="en-US" sz="27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biblioteca estándar ofrece ambas formas. create_autospec() copia la firma de la función real y rechaza llamadas incompatibles.</a:t>
            </a:r>
            <a:endParaRPr lang="en-US" sz="1450" dirty="0"/>
          </a:p>
        </p:txBody>
      </p:sp>
      <p:sp>
        <p:nvSpPr>
          <p:cNvPr id="11" name="Shape 8"/>
          <p:cNvSpPr/>
          <p:nvPr/>
        </p:nvSpPr>
        <p:spPr>
          <a:xfrm>
            <a:off x="658368" y="2432304"/>
            <a:ext cx="10872216" cy="1188720"/>
          </a:xfrm>
          <a:prstGeom prst="roundRect">
            <a:avLst>
              <a:gd name="adj" fmla="val 3077"/>
            </a:avLst>
          </a:prstGeom>
          <a:solidFill>
            <a:srgbClr val="102A43"/>
          </a:solidFill>
          <a:ln w="12700">
            <a:solidFill>
              <a:srgbClr val="102A43"/>
            </a:solidFill>
            <a:prstDash val="solid"/>
          </a:ln>
        </p:spPr>
      </p:sp>
      <p:sp>
        <p:nvSpPr>
          <p:cNvPr id="12" name="Shape 9"/>
          <p:cNvSpPr/>
          <p:nvPr/>
        </p:nvSpPr>
        <p:spPr>
          <a:xfrm>
            <a:off x="786384" y="2542032"/>
            <a:ext cx="10616184"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615184"/>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Las dos formas de fabricar el doble</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99232"/>
            <a:ext cx="10451592" cy="438912"/>
          </a:xfrm>
          <a:prstGeom prst="rect">
            <a:avLst/>
          </a:prstGeom>
        </p:spPr>
      </p:pic>
      <p:sp>
        <p:nvSpPr>
          <p:cNvPr id="15" name="Shape 11"/>
          <p:cNvSpPr/>
          <p:nvPr/>
        </p:nvSpPr>
        <p:spPr>
          <a:xfrm>
            <a:off x="658368" y="3767328"/>
            <a:ext cx="10872216" cy="1389888"/>
          </a:xfrm>
          <a:prstGeom prst="roundRect">
            <a:avLst>
              <a:gd name="adj" fmla="val 2632"/>
            </a:avLst>
          </a:prstGeom>
          <a:solidFill>
            <a:srgbClr val="0F1720"/>
          </a:solidFill>
          <a:ln w="12700">
            <a:solidFill>
              <a:srgbClr val="0F1720"/>
            </a:solidFill>
            <a:prstDash val="solid"/>
          </a:ln>
        </p:spPr>
      </p:sp>
      <p:sp>
        <p:nvSpPr>
          <p:cNvPr id="16" name="Shape 12"/>
          <p:cNvSpPr/>
          <p:nvPr/>
        </p:nvSpPr>
        <p:spPr>
          <a:xfrm>
            <a:off x="786384" y="3877056"/>
            <a:ext cx="10616184"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914400" y="3950208"/>
            <a:ext cx="1036015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Los dos contra el servicio de tres parámetros</a:t>
            </a:r>
            <a:endParaRPr lang="en-US" sz="1000" dirty="0"/>
          </a:p>
        </p:txBody>
      </p:sp>
      <p:sp>
        <p:nvSpPr>
          <p:cNvPr id="18" name="Text 14"/>
          <p:cNvSpPr/>
          <p:nvPr/>
        </p:nvSpPr>
        <p:spPr>
          <a:xfrm>
            <a:off x="877824" y="4334256"/>
            <a:ext cx="10122408" cy="164592"/>
          </a:xfrm>
          <a:prstGeom prst="rect">
            <a:avLst/>
          </a:prstGeom>
          <a:noFill/>
          <a:ln/>
        </p:spPr>
        <p:txBody>
          <a:bodyPr wrap="square" lIns="0" tIns="0" rIns="0" bIns="0" rtlCol="0" anchor="ctr"/>
          <a:lstStyle/>
          <a:p>
            <a:pPr indent="0" marL="0">
              <a:buNone/>
            </a:pPr>
            <a:r>
              <a:rPr lang="en-US" sz="1020" dirty="0">
                <a:solidFill>
                  <a:srgbClr val="8AA0B6"/>
                </a:solidFill>
                <a:latin typeface="Consolas" pitchFamily="34" charset="0"/>
                <a:ea typeface="Consolas" pitchFamily="34" charset="-122"/>
                <a:cs typeface="Consolas" pitchFamily="34" charset="-120"/>
              </a:rPr>
              <a:t>.F                                                        [100%]</a:t>
            </a:r>
            <a:endParaRPr lang="en-US" sz="1020" dirty="0"/>
          </a:p>
        </p:txBody>
      </p:sp>
      <p:sp>
        <p:nvSpPr>
          <p:cNvPr id="19" name="Text 15"/>
          <p:cNvSpPr/>
          <p:nvPr/>
        </p:nvSpPr>
        <p:spPr>
          <a:xfrm>
            <a:off x="877824" y="4590288"/>
            <a:ext cx="10122408"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E   TypeError: missing a required argument: 'cuerpo'</a:t>
            </a:r>
            <a:endParaRPr lang="en-US" sz="1020" dirty="0"/>
          </a:p>
        </p:txBody>
      </p:sp>
      <p:sp>
        <p:nvSpPr>
          <p:cNvPr id="20" name="Text 16"/>
          <p:cNvSpPr/>
          <p:nvPr/>
        </p:nvSpPr>
        <p:spPr>
          <a:xfrm>
            <a:off x="877824" y="4846320"/>
            <a:ext cx="10122408"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1 failed, 1 passed in 0.09s</a:t>
            </a:r>
            <a:endParaRPr lang="en-US" sz="1020" dirty="0"/>
          </a:p>
        </p:txBody>
      </p:sp>
      <p:sp>
        <p:nvSpPr>
          <p:cNvPr id="21" name="Shape 17"/>
          <p:cNvSpPr/>
          <p:nvPr/>
        </p:nvSpPr>
        <p:spPr>
          <a:xfrm>
            <a:off x="658368" y="5303520"/>
            <a:ext cx="10874959" cy="566928"/>
          </a:xfrm>
          <a:prstGeom prst="rect">
            <a:avLst/>
          </a:prstGeom>
          <a:solidFill>
            <a:srgbClr val="102A43"/>
          </a:solidFill>
          <a:ln w="12700">
            <a:solidFill>
              <a:srgbClr val="102A43"/>
            </a:solidFill>
            <a:prstDash val="solid"/>
          </a:ln>
        </p:spPr>
      </p:sp>
      <p:sp>
        <p:nvSpPr>
          <p:cNvPr id="22" name="Text 18"/>
          <p:cNvSpPr txBox="1"/>
          <p:nvPr/>
        </p:nvSpPr>
        <p:spPr>
          <a:xfrm>
            <a:off x="932688" y="5376672"/>
            <a:ext cx="10326319" cy="420624"/>
          </a:xfrm>
          <a:prstGeom prst="rect">
            <a:avLst/>
          </a:prstGeom>
          <a:noFill/>
          <a:ln/>
        </p:spPr>
        <p:txBody>
          <a:bodyPr wrap="square" lIns="0" tIns="0" rIns="0" bIns="0" rtlCol="0" anchor="ctr"/>
          <a:lstStyle/>
          <a:p>
            <a:pPr algn="l" indent="0" marL="0">
              <a:buNone/>
            </a:pPr>
            <a:r>
              <a:rPr lang="en-US" sz="1300" dirty="0">
                <a:solidFill>
                  <a:srgbClr val="FFFFFF"/>
                </a:solidFill>
                <a:latin typeface="Aptos" pitchFamily="34" charset="0"/>
                <a:ea typeface="Aptos" pitchFamily="34" charset="-122"/>
                <a:cs typeface="Aptos" pitchFamily="34" charset="-120"/>
              </a:rPr>
              <a:t>Mismo código, mismo cambio, mismo caso de prueba. El doble suelto pasa; el doble atado a la firma real falla y avisa antes de producción.</a:t>
            </a:r>
            <a:endParaRPr lang="en-US" sz="1300" dirty="0"/>
          </a:p>
        </p:txBody>
      </p:sp>
      <p:sp>
        <p:nvSpPr>
          <p:cNvPr id="23" name="Text 19"/>
          <p:cNvSpPr txBox="1"/>
          <p:nvPr/>
        </p:nvSpPr>
        <p:spPr>
          <a:xfrm>
            <a:off x="658368" y="5998464"/>
            <a:ext cx="10874959" cy="274320"/>
          </a:xfrm>
          <a:prstGeom prst="rect">
            <a:avLst/>
          </a:prstGeom>
          <a:noFill/>
          <a:ln/>
        </p:spPr>
        <p:txBody>
          <a:bodyPr wrap="square" lIns="0" tIns="0" rIns="0" bIns="0" rtlCol="0" anchor="t"/>
          <a:lstStyle/>
          <a:p>
            <a:pPr algn="ctr" indent="0" marL="0">
              <a:buNone/>
            </a:pPr>
            <a:r>
              <a:rPr lang="en-US" sz="1800" b="1" dirty="0">
                <a:solidFill>
                  <a:srgbClr val="8A6A12"/>
                </a:solidFill>
                <a:latin typeface="Aptos Display" pitchFamily="34" charset="0"/>
                <a:ea typeface="Aptos Display" pitchFamily="34" charset="-122"/>
                <a:cs typeface="Aptos Display" pitchFamily="34" charset="-120"/>
              </a:rPr>
              <a:t>Un doble se DERIVA de la dependencia. No se escribe de memoria.</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LO QUE ESTO NO RESUELVE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700" b="1" dirty="0">
                <a:solidFill>
                  <a:srgbClr val="243B53"/>
                </a:solidFill>
                <a:latin typeface="Aptos Display" pitchFamily="34" charset="0"/>
                <a:ea typeface="Aptos Display" pitchFamily="34" charset="-122"/>
                <a:cs typeface="Aptos Display" pitchFamily="34" charset="-120"/>
              </a:rPr>
              <a:t>Copiar la firma real en el doble no protege del cambio de conducta</a:t>
            </a:r>
            <a:endParaRPr lang="en-US" sz="27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create_autospec() detecta argumentos incompatibles, pero no conoce todos los comportamientos del servicio real.</a:t>
            </a:r>
            <a:endParaRPr lang="en-US" sz="1450" dirty="0"/>
          </a:p>
        </p:txBody>
      </p:sp>
      <p:sp>
        <p:nvSpPr>
          <p:cNvPr id="11" name="Shape 8"/>
          <p:cNvSpPr/>
          <p:nvPr/>
        </p:nvSpPr>
        <p:spPr>
          <a:xfrm>
            <a:off x="658368" y="2468880"/>
            <a:ext cx="5175504" cy="1499616"/>
          </a:xfrm>
          <a:prstGeom prst="rect">
            <a:avLst/>
          </a:prstGeom>
          <a:solidFill>
            <a:srgbClr val="FFFFFF"/>
          </a:solidFill>
          <a:ln w="12700">
            <a:solidFill>
              <a:srgbClr val="FFFFFF"/>
            </a:solidFill>
            <a:prstDash val="solid"/>
          </a:ln>
        </p:spPr>
      </p:sp>
      <p:sp>
        <p:nvSpPr>
          <p:cNvPr id="12" name="Shape 9"/>
          <p:cNvSpPr/>
          <p:nvPr/>
        </p:nvSpPr>
        <p:spPr>
          <a:xfrm>
            <a:off x="658368" y="2468880"/>
            <a:ext cx="5175504" cy="54864"/>
          </a:xfrm>
          <a:prstGeom prst="rect">
            <a:avLst/>
          </a:prstGeom>
          <a:solidFill>
            <a:srgbClr val="2E7D4F"/>
          </a:solidFill>
          <a:ln w="12700">
            <a:solidFill>
              <a:srgbClr val="2E7D4F"/>
            </a:solidFill>
            <a:prstDash val="solid"/>
          </a:ln>
        </p:spPr>
      </p:sp>
      <p:sp>
        <p:nvSpPr>
          <p:cNvPr id="13" name="Text 10"/>
          <p:cNvSpPr txBox="1"/>
          <p:nvPr/>
        </p:nvSpPr>
        <p:spPr>
          <a:xfrm>
            <a:off x="914400" y="2651760"/>
            <a:ext cx="4663440"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Cambia la FIRMA</a:t>
            </a:r>
            <a:endParaRPr lang="en-US" sz="1400" dirty="0"/>
          </a:p>
        </p:txBody>
      </p:sp>
      <p:sp>
        <p:nvSpPr>
          <p:cNvPr id="14" name="Text 11"/>
          <p:cNvSpPr txBox="1"/>
          <p:nvPr/>
        </p:nvSpPr>
        <p:spPr>
          <a:xfrm>
            <a:off x="914400" y="2980944"/>
            <a:ext cx="4663440" cy="457200"/>
          </a:xfrm>
          <a:prstGeom prst="rect">
            <a:avLst/>
          </a:prstGeom>
          <a:noFill/>
          <a:ln/>
        </p:spPr>
        <p:txBody>
          <a:bodyPr wrap="square" lIns="0" tIns="0" rIns="0" bIns="0" rtlCol="0" anchor="t"/>
          <a:lstStyle/>
          <a:p>
            <a:pPr algn="l" indent="0" marL="0">
              <a:lnSpc>
                <a:spcPct val="114000"/>
              </a:lnSpc>
              <a:buNone/>
            </a:pPr>
            <a:r>
              <a:rPr lang="en-US" sz="1240" dirty="0">
                <a:solidFill>
                  <a:srgbClr val="52606D"/>
                </a:solidFill>
                <a:latin typeface="Aptos" pitchFamily="34" charset="0"/>
                <a:ea typeface="Aptos" pitchFamily="34" charset="-122"/>
                <a:cs typeface="Aptos" pitchFamily="34" charset="-120"/>
              </a:rPr>
              <a:t>El servicio pide un parámetro más</a:t>
            </a:r>
            <a:endParaRPr lang="en-US" sz="1240" dirty="0"/>
          </a:p>
        </p:txBody>
      </p:sp>
      <p:sp>
        <p:nvSpPr>
          <p:cNvPr id="15" name="Shape 12"/>
          <p:cNvSpPr/>
          <p:nvPr/>
        </p:nvSpPr>
        <p:spPr>
          <a:xfrm>
            <a:off x="914400" y="3511296"/>
            <a:ext cx="4663440" cy="0"/>
          </a:xfrm>
          <a:prstGeom prst="line">
            <a:avLst/>
          </a:prstGeom>
          <a:noFill/>
          <a:ln w="12700">
            <a:solidFill>
              <a:srgbClr val="D8CFC4"/>
            </a:solidFill>
            <a:prstDash val="solid"/>
            <a:headEnd type="none"/>
            <a:tailEnd type="none"/>
          </a:ln>
        </p:spPr>
      </p:sp>
      <p:sp>
        <p:nvSpPr>
          <p:cNvPr id="16" name="Text 13"/>
          <p:cNvSpPr txBox="1"/>
          <p:nvPr/>
        </p:nvSpPr>
        <p:spPr>
          <a:xfrm>
            <a:off x="914400" y="3621024"/>
            <a:ext cx="4663440" cy="274320"/>
          </a:xfrm>
          <a:prstGeom prst="rect">
            <a:avLst/>
          </a:prstGeom>
          <a:noFill/>
          <a:ln/>
        </p:spPr>
        <p:txBody>
          <a:bodyPr wrap="square" lIns="0" tIns="0" rIns="0" bIns="0" rtlCol="0" anchor="t"/>
          <a:lstStyle/>
          <a:p>
            <a:pPr algn="l" indent="0" marL="0">
              <a:buNone/>
            </a:pPr>
            <a:r>
              <a:rPr lang="en-US" sz="1900" b="1" dirty="0">
                <a:solidFill>
                  <a:srgbClr val="2E7D4F"/>
                </a:solidFill>
                <a:latin typeface="Aptos Display" pitchFamily="34" charset="0"/>
                <a:ea typeface="Aptos Display" pitchFamily="34" charset="-122"/>
                <a:cs typeface="Aptos Display" pitchFamily="34" charset="-120"/>
              </a:rPr>
              <a:t>create_autospec() lo detecta</a:t>
            </a:r>
            <a:endParaRPr lang="en-US" sz="1900" dirty="0"/>
          </a:p>
        </p:txBody>
      </p:sp>
      <p:sp>
        <p:nvSpPr>
          <p:cNvPr id="17" name="Shape 14"/>
          <p:cNvSpPr/>
          <p:nvPr/>
        </p:nvSpPr>
        <p:spPr>
          <a:xfrm>
            <a:off x="6364224" y="2468880"/>
            <a:ext cx="5175504" cy="1499616"/>
          </a:xfrm>
          <a:prstGeom prst="rect">
            <a:avLst/>
          </a:prstGeom>
          <a:solidFill>
            <a:srgbClr val="FFFFFF"/>
          </a:solidFill>
          <a:ln w="12700">
            <a:solidFill>
              <a:srgbClr val="FFFFFF"/>
            </a:solidFill>
            <a:prstDash val="solid"/>
          </a:ln>
        </p:spPr>
      </p:sp>
      <p:sp>
        <p:nvSpPr>
          <p:cNvPr id="18" name="Shape 15"/>
          <p:cNvSpPr/>
          <p:nvPr/>
        </p:nvSpPr>
        <p:spPr>
          <a:xfrm>
            <a:off x="6364224" y="2468880"/>
            <a:ext cx="5175504" cy="54864"/>
          </a:xfrm>
          <a:prstGeom prst="rect">
            <a:avLst/>
          </a:prstGeom>
          <a:solidFill>
            <a:srgbClr val="B3181E"/>
          </a:solidFill>
          <a:ln w="12700">
            <a:solidFill>
              <a:srgbClr val="B3181E"/>
            </a:solidFill>
            <a:prstDash val="solid"/>
          </a:ln>
        </p:spPr>
      </p:sp>
      <p:sp>
        <p:nvSpPr>
          <p:cNvPr id="19" name="Text 16"/>
          <p:cNvSpPr txBox="1"/>
          <p:nvPr/>
        </p:nvSpPr>
        <p:spPr>
          <a:xfrm>
            <a:off x="6620256" y="2651760"/>
            <a:ext cx="4663440"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Cambia la CONDUCTA</a:t>
            </a:r>
            <a:endParaRPr lang="en-US" sz="1400" dirty="0"/>
          </a:p>
        </p:txBody>
      </p:sp>
      <p:sp>
        <p:nvSpPr>
          <p:cNvPr id="20" name="Text 17"/>
          <p:cNvSpPr txBox="1"/>
          <p:nvPr/>
        </p:nvSpPr>
        <p:spPr>
          <a:xfrm>
            <a:off x="6620256" y="2980944"/>
            <a:ext cx="4663440" cy="457200"/>
          </a:xfrm>
          <a:prstGeom prst="rect">
            <a:avLst/>
          </a:prstGeom>
          <a:noFill/>
          <a:ln/>
        </p:spPr>
        <p:txBody>
          <a:bodyPr wrap="square" lIns="0" tIns="0" rIns="0" bIns="0" rtlCol="0" anchor="t"/>
          <a:lstStyle/>
          <a:p>
            <a:pPr algn="l" indent="0" marL="0">
              <a:lnSpc>
                <a:spcPct val="114000"/>
              </a:lnSpc>
              <a:buNone/>
            </a:pPr>
            <a:r>
              <a:rPr lang="en-US" sz="1240" dirty="0">
                <a:solidFill>
                  <a:srgbClr val="52606D"/>
                </a:solidFill>
                <a:latin typeface="Aptos" pitchFamily="34" charset="0"/>
                <a:ea typeface="Aptos" pitchFamily="34" charset="-122"/>
                <a:cs typeface="Aptos" pitchFamily="34" charset="-120"/>
              </a:rPr>
              <a:t>El servicio lanza una excepción en vez de devolver False</a:t>
            </a:r>
            <a:endParaRPr lang="en-US" sz="1240" dirty="0"/>
          </a:p>
        </p:txBody>
      </p:sp>
      <p:sp>
        <p:nvSpPr>
          <p:cNvPr id="21" name="Shape 18"/>
          <p:cNvSpPr/>
          <p:nvPr/>
        </p:nvSpPr>
        <p:spPr>
          <a:xfrm>
            <a:off x="6620256" y="3511296"/>
            <a:ext cx="4663440" cy="0"/>
          </a:xfrm>
          <a:prstGeom prst="line">
            <a:avLst/>
          </a:prstGeom>
          <a:noFill/>
          <a:ln w="12700">
            <a:solidFill>
              <a:srgbClr val="D8CFC4"/>
            </a:solidFill>
            <a:prstDash val="solid"/>
            <a:headEnd type="none"/>
            <a:tailEnd type="none"/>
          </a:ln>
        </p:spPr>
      </p:sp>
      <p:sp>
        <p:nvSpPr>
          <p:cNvPr id="22" name="Text 19"/>
          <p:cNvSpPr txBox="1"/>
          <p:nvPr/>
        </p:nvSpPr>
        <p:spPr>
          <a:xfrm>
            <a:off x="6620256" y="3621024"/>
            <a:ext cx="4663440" cy="274320"/>
          </a:xfrm>
          <a:prstGeom prst="rect">
            <a:avLst/>
          </a:prstGeom>
          <a:noFill/>
          <a:ln/>
        </p:spPr>
        <p:txBody>
          <a:bodyPr wrap="square" lIns="0" tIns="0" rIns="0" bIns="0" rtlCol="0" anchor="t"/>
          <a:lstStyle/>
          <a:p>
            <a:pPr algn="l" indent="0" marL="0">
              <a:buNone/>
            </a:pPr>
            <a:r>
              <a:rPr lang="en-US" sz="1900" b="1" dirty="0">
                <a:solidFill>
                  <a:srgbClr val="B3181E"/>
                </a:solidFill>
                <a:latin typeface="Aptos Display" pitchFamily="34" charset="0"/>
                <a:ea typeface="Aptos Display" pitchFamily="34" charset="-122"/>
                <a:cs typeface="Aptos Display" pitchFamily="34" charset="-120"/>
              </a:rPr>
              <a:t>create_autospec() no lo detecta</a:t>
            </a:r>
            <a:endParaRPr lang="en-US" sz="1900" dirty="0"/>
          </a:p>
        </p:txBody>
      </p:sp>
      <p:sp>
        <p:nvSpPr>
          <p:cNvPr id="23" name="Shape 20"/>
          <p:cNvSpPr/>
          <p:nvPr/>
        </p:nvSpPr>
        <p:spPr>
          <a:xfrm>
            <a:off x="658368" y="4224528"/>
            <a:ext cx="10874959" cy="713232"/>
          </a:xfrm>
          <a:prstGeom prst="rect">
            <a:avLst/>
          </a:prstGeom>
          <a:solidFill>
            <a:srgbClr val="F8E4E5"/>
          </a:solidFill>
          <a:ln w="12700">
            <a:solidFill>
              <a:srgbClr val="F8E4E5"/>
            </a:solidFill>
            <a:prstDash val="solid"/>
          </a:ln>
        </p:spPr>
      </p:sp>
      <p:sp>
        <p:nvSpPr>
          <p:cNvPr id="24" name="Shape 21"/>
          <p:cNvSpPr/>
          <p:nvPr/>
        </p:nvSpPr>
        <p:spPr>
          <a:xfrm>
            <a:off x="658368" y="4224528"/>
            <a:ext cx="54864" cy="713232"/>
          </a:xfrm>
          <a:prstGeom prst="rect">
            <a:avLst/>
          </a:prstGeom>
          <a:solidFill>
            <a:srgbClr val="B3181E"/>
          </a:solidFill>
          <a:ln w="12700">
            <a:solidFill>
              <a:srgbClr val="B3181E"/>
            </a:solidFill>
            <a:prstDash val="solid"/>
          </a:ln>
        </p:spPr>
      </p:sp>
      <p:sp>
        <p:nvSpPr>
          <p:cNvPr id="25" name="Text 22"/>
          <p:cNvSpPr txBox="1"/>
          <p:nvPr/>
        </p:nvSpPr>
        <p:spPr>
          <a:xfrm>
            <a:off x="932688" y="4315968"/>
            <a:ext cx="10326319" cy="548640"/>
          </a:xfrm>
          <a:prstGeom prst="rect">
            <a:avLst/>
          </a:prstGeom>
          <a:noFill/>
          <a:ln/>
        </p:spPr>
        <p:txBody>
          <a:bodyPr wrap="square" lIns="0" tIns="0" rIns="0" bIns="0" rtlCol="0" anchor="t"/>
          <a:lstStyle/>
          <a:p>
            <a:pPr algn="l" indent="0" marL="0">
              <a:lnSpc>
                <a:spcPct val="114000"/>
              </a:lnSpc>
              <a:buNone/>
            </a:pPr>
            <a:r>
              <a:rPr lang="en-US" sz="1260" dirty="0">
                <a:solidFill>
                  <a:srgbClr val="243B53"/>
                </a:solidFill>
                <a:latin typeface="Aptos" pitchFamily="34" charset="0"/>
                <a:ea typeface="Aptos" pitchFamily="34" charset="-122"/>
                <a:cs typeface="Aptos" pitchFamily="34" charset="-120"/>
              </a:rPr>
              <a:t>Si el servicio real empezara a lanzar una excepción en lugar de devolver False, los dos stubs seguirían devolviendo booleanos, la rama «pendiente» seguiría cubierta, y el caso que de verdad ocurre en producción seguiría sin probarse.</a:t>
            </a:r>
            <a:endParaRPr lang="en-US" sz="1260" dirty="0"/>
          </a:p>
        </p:txBody>
      </p:sp>
      <p:sp>
        <p:nvSpPr>
          <p:cNvPr id="26" name="Shape 23"/>
          <p:cNvSpPr/>
          <p:nvPr/>
        </p:nvSpPr>
        <p:spPr>
          <a:xfrm>
            <a:off x="658368" y="5138928"/>
            <a:ext cx="10874959" cy="512064"/>
          </a:xfrm>
          <a:prstGeom prst="rect">
            <a:avLst/>
          </a:prstGeom>
          <a:solidFill>
            <a:srgbClr val="102A43"/>
          </a:solidFill>
          <a:ln w="12700">
            <a:solidFill>
              <a:srgbClr val="102A43"/>
            </a:solidFill>
            <a:prstDash val="solid"/>
          </a:ln>
        </p:spPr>
      </p:sp>
      <p:sp>
        <p:nvSpPr>
          <p:cNvPr id="27" name="Text 24"/>
          <p:cNvSpPr txBox="1"/>
          <p:nvPr/>
        </p:nvSpPr>
        <p:spPr>
          <a:xfrm>
            <a:off x="969264" y="5175504"/>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Por eso el doble nunca reemplaza a la prueba que habla con la dependencia de verdad: la reduce a unas pocas, no a cero.</a:t>
            </a:r>
            <a:endParaRPr lang="en-US" sz="1400" dirty="0"/>
          </a:p>
        </p:txBody>
      </p:sp>
      <p:sp>
        <p:nvSpPr>
          <p:cNvPr id="28" name="Shape 25"/>
          <p:cNvSpPr/>
          <p:nvPr/>
        </p:nvSpPr>
        <p:spPr>
          <a:xfrm>
            <a:off x="658368" y="5833872"/>
            <a:ext cx="45720" cy="182880"/>
          </a:xfrm>
          <a:prstGeom prst="rect">
            <a:avLst/>
          </a:prstGeom>
          <a:solidFill>
            <a:srgbClr val="8A6A12"/>
          </a:solidFill>
          <a:ln w="12700">
            <a:solidFill>
              <a:srgbClr val="8A6A12"/>
            </a:solidFill>
            <a:prstDash val="solid"/>
          </a:ln>
        </p:spPr>
      </p:sp>
      <p:sp>
        <p:nvSpPr>
          <p:cNvPr id="29" name="Text 26"/>
          <p:cNvSpPr txBox="1"/>
          <p:nvPr/>
        </p:nvSpPr>
        <p:spPr>
          <a:xfrm>
            <a:off x="804672" y="5824728"/>
            <a:ext cx="96012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Ejecución propia · el contraste entre Mock() y create_autospec() sobre el servicio de tres parámetros</a:t>
            </a:r>
            <a:endParaRPr lang="en-US" sz="92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62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3 · UNA DISCUSIÓN QUE SIGUE ABIERTA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Cuánto sustituir no es un asunto resuelto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Presentarlo como resuelto sería falso. Fowler describe dos posiciones con nombre propio.</a:t>
            </a:r>
            <a:endParaRPr lang="en-US" sz="1450" dirty="0"/>
          </a:p>
        </p:txBody>
      </p:sp>
      <p:sp>
        <p:nvSpPr>
          <p:cNvPr id="11" name="Shape 8"/>
          <p:cNvSpPr/>
          <p:nvPr/>
        </p:nvSpPr>
        <p:spPr>
          <a:xfrm>
            <a:off x="658368" y="2377440"/>
            <a:ext cx="10874959" cy="493776"/>
          </a:xfrm>
          <a:prstGeom prst="rect">
            <a:avLst/>
          </a:prstGeom>
          <a:solidFill>
            <a:srgbClr val="1D3A57"/>
          </a:solidFill>
          <a:ln w="12700">
            <a:solidFill>
              <a:srgbClr val="1D3A57"/>
            </a:solidFill>
            <a:prstDash val="solid"/>
          </a:ln>
        </p:spPr>
      </p:sp>
      <p:sp>
        <p:nvSpPr>
          <p:cNvPr id="12" name="Shape 9"/>
          <p:cNvSpPr/>
          <p:nvPr/>
        </p:nvSpPr>
        <p:spPr>
          <a:xfrm>
            <a:off x="658368" y="2377440"/>
            <a:ext cx="64008" cy="493776"/>
          </a:xfrm>
          <a:prstGeom prst="rect">
            <a:avLst/>
          </a:prstGeom>
          <a:solidFill>
            <a:srgbClr val="E0BC5A"/>
          </a:solidFill>
          <a:ln w="12700">
            <a:solidFill>
              <a:srgbClr val="E0BC5A"/>
            </a:solidFill>
            <a:prstDash val="solid"/>
          </a:ln>
        </p:spPr>
      </p:sp>
      <p:sp>
        <p:nvSpPr>
          <p:cNvPr id="13" name="Text 10"/>
          <p:cNvSpPr txBox="1"/>
          <p:nvPr/>
        </p:nvSpPr>
        <p:spPr>
          <a:xfrm>
            <a:off x="969264" y="2487168"/>
            <a:ext cx="10308031" cy="274320"/>
          </a:xfrm>
          <a:prstGeom prst="rect">
            <a:avLst/>
          </a:prstGeom>
          <a:noFill/>
          <a:ln/>
        </p:spPr>
        <p:txBody>
          <a:bodyPr wrap="square" lIns="0" tIns="0" rIns="0" bIns="0" rtlCol="0" anchor="ctr"/>
          <a:lstStyle/>
          <a:p>
            <a:pPr algn="l" indent="0" marL="0">
              <a:lnSpc>
                <a:spcPct val="118000"/>
              </a:lnSpc>
              <a:buNone/>
            </a:pPr>
            <a:r>
              <a:rPr lang="en-US" sz="1120" i="1" dirty="0">
                <a:solidFill>
                  <a:srgbClr val="FFFFFF"/>
                </a:solidFill>
                <a:latin typeface="Aptos" pitchFamily="34" charset="0"/>
                <a:ea typeface="Aptos" pitchFamily="34" charset="-122"/>
                <a:cs typeface="Aptos" pitchFamily="34" charset="-120"/>
              </a:rPr>
              <a:t>“The classical TDD style is to use real objects if possible and a double if it's awkward to use the real thing. A mockist TDD practitioner, however, will always use a mock for any object with interesting behavior.”</a:t>
            </a:r>
            <a:endParaRPr lang="en-US" sz="1120" dirty="0"/>
          </a:p>
        </p:txBody>
      </p:sp>
      <p:sp>
        <p:nvSpPr>
          <p:cNvPr id="14" name="Shape 11"/>
          <p:cNvSpPr/>
          <p:nvPr/>
        </p:nvSpPr>
        <p:spPr>
          <a:xfrm>
            <a:off x="658368" y="2944368"/>
            <a:ext cx="10874959" cy="493776"/>
          </a:xfrm>
          <a:prstGeom prst="rect">
            <a:avLst/>
          </a:prstGeom>
          <a:solidFill>
            <a:srgbClr val="102A43"/>
          </a:solidFill>
          <a:ln w="12700">
            <a:solidFill>
              <a:srgbClr val="102A43"/>
            </a:solidFill>
            <a:prstDash val="solid"/>
          </a:ln>
        </p:spPr>
      </p:sp>
      <p:sp>
        <p:nvSpPr>
          <p:cNvPr id="15" name="Shape 12"/>
          <p:cNvSpPr/>
          <p:nvPr/>
        </p:nvSpPr>
        <p:spPr>
          <a:xfrm>
            <a:off x="658368" y="2944368"/>
            <a:ext cx="64008" cy="493776"/>
          </a:xfrm>
          <a:prstGeom prst="rect">
            <a:avLst/>
          </a:prstGeom>
          <a:solidFill>
            <a:srgbClr val="EADFD0"/>
          </a:solidFill>
          <a:ln w="12700">
            <a:solidFill>
              <a:srgbClr val="EADFD0"/>
            </a:solidFill>
            <a:prstDash val="solid"/>
          </a:ln>
        </p:spPr>
      </p:sp>
      <p:sp>
        <p:nvSpPr>
          <p:cNvPr id="16" name="Text 13"/>
          <p:cNvSpPr txBox="1"/>
          <p:nvPr/>
        </p:nvSpPr>
        <p:spPr>
          <a:xfrm>
            <a:off x="969264" y="3054096"/>
            <a:ext cx="10308031" cy="274320"/>
          </a:xfrm>
          <a:prstGeom prst="rect">
            <a:avLst/>
          </a:prstGeom>
          <a:noFill/>
          <a:ln/>
        </p:spPr>
        <p:txBody>
          <a:bodyPr wrap="square" lIns="0" tIns="0" rIns="0" bIns="0" rtlCol="0" anchor="ctr"/>
          <a:lstStyle/>
          <a:p>
            <a:pPr algn="l" indent="0" marL="0">
              <a:lnSpc>
                <a:spcPct val="118000"/>
              </a:lnSpc>
              <a:buNone/>
            </a:pPr>
            <a:r>
              <a:rPr lang="en-US" sz="1120" i="1" dirty="0">
                <a:solidFill>
                  <a:srgbClr val="EADFD0"/>
                </a:solidFill>
                <a:latin typeface="Aptos" pitchFamily="34" charset="0"/>
                <a:ea typeface="Aptos" pitchFamily="34" charset="-122"/>
                <a:cs typeface="Aptos" pitchFamily="34" charset="-120"/>
              </a:rPr>
              <a:t>“En desarrollo guiado por pruebas (TDD), el estilo clásico usa objetos reales cuando es posible y dobles cuando no. El estilo mockista sustituye sistemáticamente los colaboradores con comportamiento por mocks.”</a:t>
            </a:r>
            <a:endParaRPr lang="en-US" sz="1120" dirty="0"/>
          </a:p>
        </p:txBody>
      </p:sp>
      <p:sp>
        <p:nvSpPr>
          <p:cNvPr id="17" name="Shape 14"/>
          <p:cNvSpPr/>
          <p:nvPr/>
        </p:nvSpPr>
        <p:spPr>
          <a:xfrm>
            <a:off x="658368" y="3657600"/>
            <a:ext cx="5175504" cy="1316736"/>
          </a:xfrm>
          <a:prstGeom prst="rect">
            <a:avLst/>
          </a:prstGeom>
          <a:solidFill>
            <a:srgbClr val="1D3A57"/>
          </a:solidFill>
          <a:ln w="12700">
            <a:solidFill>
              <a:srgbClr val="1D3A57"/>
            </a:solidFill>
            <a:prstDash val="solid"/>
          </a:ln>
        </p:spPr>
      </p:sp>
      <p:sp>
        <p:nvSpPr>
          <p:cNvPr id="18" name="Shape 15"/>
          <p:cNvSpPr/>
          <p:nvPr/>
        </p:nvSpPr>
        <p:spPr>
          <a:xfrm>
            <a:off x="658368" y="3657600"/>
            <a:ext cx="5175504" cy="54864"/>
          </a:xfrm>
          <a:prstGeom prst="rect">
            <a:avLst/>
          </a:prstGeom>
          <a:solidFill>
            <a:srgbClr val="E0BC5A"/>
          </a:solidFill>
          <a:ln w="12700">
            <a:solidFill>
              <a:srgbClr val="E0BC5A"/>
            </a:solidFill>
            <a:prstDash val="solid"/>
          </a:ln>
        </p:spPr>
      </p:sp>
      <p:sp>
        <p:nvSpPr>
          <p:cNvPr id="19" name="Text 16"/>
          <p:cNvSpPr txBox="1"/>
          <p:nvPr/>
        </p:nvSpPr>
        <p:spPr>
          <a:xfrm>
            <a:off x="914400" y="3822192"/>
            <a:ext cx="4663440" cy="256032"/>
          </a:xfrm>
          <a:prstGeom prst="rect">
            <a:avLst/>
          </a:prstGeom>
          <a:noFill/>
          <a:ln/>
        </p:spPr>
        <p:txBody>
          <a:bodyPr wrap="square" lIns="0" tIns="0" rIns="0" bIns="0" rtlCol="0" anchor="t"/>
          <a:lstStyle/>
          <a:p>
            <a:pPr algn="l" indent="0" marL="0">
              <a:buNone/>
            </a:pPr>
            <a:r>
              <a:rPr lang="en-US" sz="1340" b="1" dirty="0">
                <a:solidFill>
                  <a:srgbClr val="FFFFFF"/>
                </a:solidFill>
                <a:latin typeface="Aptos" pitchFamily="34" charset="0"/>
                <a:ea typeface="Aptos" pitchFamily="34" charset="-122"/>
                <a:cs typeface="Aptos" pitchFamily="34" charset="-120"/>
              </a:rPr>
              <a:t>Sustituir todo</a:t>
            </a:r>
            <a:endParaRPr lang="en-US" sz="1340" dirty="0"/>
          </a:p>
        </p:txBody>
      </p:sp>
      <p:sp>
        <p:nvSpPr>
          <p:cNvPr id="20" name="Text 17"/>
          <p:cNvSpPr txBox="1"/>
          <p:nvPr/>
        </p:nvSpPr>
        <p:spPr>
          <a:xfrm>
            <a:off x="914400" y="4133088"/>
            <a:ext cx="4663440" cy="384048"/>
          </a:xfrm>
          <a:prstGeom prst="rect">
            <a:avLst/>
          </a:prstGeom>
          <a:noFill/>
          <a:ln/>
        </p:spPr>
        <p:txBody>
          <a:bodyPr wrap="square" lIns="0" tIns="0" rIns="0" bIns="0" rtlCol="0" anchor="t"/>
          <a:lstStyle/>
          <a:p>
            <a:pPr algn="l" indent="0" marL="0">
              <a:lnSpc>
                <a:spcPct val="112000"/>
              </a:lnSpc>
              <a:buNone/>
            </a:pPr>
            <a:r>
              <a:rPr lang="en-US" sz="1140" dirty="0">
                <a:solidFill>
                  <a:srgbClr val="3FAE6A"/>
                </a:solidFill>
                <a:latin typeface="Aptos" pitchFamily="34" charset="0"/>
                <a:ea typeface="Aptos" pitchFamily="34" charset="-122"/>
                <a:cs typeface="Aptos" pitchFamily="34" charset="-120"/>
              </a:rPr>
              <a:t>+  Pruebas rápidas, aisladas, que señalan con precisión la unidad que falló</a:t>
            </a:r>
            <a:endParaRPr lang="en-US" sz="1140" dirty="0"/>
          </a:p>
        </p:txBody>
      </p:sp>
      <p:sp>
        <p:nvSpPr>
          <p:cNvPr id="21" name="Text 18"/>
          <p:cNvSpPr txBox="1"/>
          <p:nvPr/>
        </p:nvSpPr>
        <p:spPr>
          <a:xfrm>
            <a:off x="914400" y="4553712"/>
            <a:ext cx="4663440" cy="384048"/>
          </a:xfrm>
          <a:prstGeom prst="rect">
            <a:avLst/>
          </a:prstGeom>
          <a:noFill/>
          <a:ln/>
        </p:spPr>
        <p:txBody>
          <a:bodyPr wrap="square" lIns="0" tIns="0" rIns="0" bIns="0" rtlCol="0" anchor="t"/>
          <a:lstStyle/>
          <a:p>
            <a:pPr algn="l" indent="0" marL="0">
              <a:lnSpc>
                <a:spcPct val="112000"/>
              </a:lnSpc>
              <a:buNone/>
            </a:pPr>
            <a:r>
              <a:rPr lang="en-US" sz="1140" dirty="0">
                <a:solidFill>
                  <a:srgbClr val="EADFD0"/>
                </a:solidFill>
                <a:latin typeface="Aptos" pitchFamily="34" charset="0"/>
                <a:ea typeface="Aptos" pitchFamily="34" charset="-122"/>
                <a:cs typeface="Aptos" pitchFamily="34" charset="-120"/>
              </a:rPr>
              <a:t>−  La suite queda acoplada a CÓMO está hecho el código y se rompe al refactorizar</a:t>
            </a:r>
            <a:endParaRPr lang="en-US" sz="1140" dirty="0"/>
          </a:p>
        </p:txBody>
      </p:sp>
      <p:sp>
        <p:nvSpPr>
          <p:cNvPr id="22" name="Shape 19"/>
          <p:cNvSpPr/>
          <p:nvPr/>
        </p:nvSpPr>
        <p:spPr>
          <a:xfrm>
            <a:off x="6364224" y="3657600"/>
            <a:ext cx="5175504" cy="1316736"/>
          </a:xfrm>
          <a:prstGeom prst="rect">
            <a:avLst/>
          </a:prstGeom>
          <a:solidFill>
            <a:srgbClr val="1D3A57"/>
          </a:solidFill>
          <a:ln w="12700">
            <a:solidFill>
              <a:srgbClr val="1D3A57"/>
            </a:solidFill>
            <a:prstDash val="solid"/>
          </a:ln>
        </p:spPr>
      </p:sp>
      <p:sp>
        <p:nvSpPr>
          <p:cNvPr id="23" name="Shape 20"/>
          <p:cNvSpPr/>
          <p:nvPr/>
        </p:nvSpPr>
        <p:spPr>
          <a:xfrm>
            <a:off x="6364224" y="3657600"/>
            <a:ext cx="5175504" cy="54864"/>
          </a:xfrm>
          <a:prstGeom prst="rect">
            <a:avLst/>
          </a:prstGeom>
          <a:solidFill>
            <a:srgbClr val="3FAE6A"/>
          </a:solidFill>
          <a:ln w="12700">
            <a:solidFill>
              <a:srgbClr val="3FAE6A"/>
            </a:solidFill>
            <a:prstDash val="solid"/>
          </a:ln>
        </p:spPr>
      </p:sp>
      <p:sp>
        <p:nvSpPr>
          <p:cNvPr id="24" name="Text 21"/>
          <p:cNvSpPr txBox="1"/>
          <p:nvPr/>
        </p:nvSpPr>
        <p:spPr>
          <a:xfrm>
            <a:off x="6620256" y="3822192"/>
            <a:ext cx="4663440" cy="256032"/>
          </a:xfrm>
          <a:prstGeom prst="rect">
            <a:avLst/>
          </a:prstGeom>
          <a:noFill/>
          <a:ln/>
        </p:spPr>
        <p:txBody>
          <a:bodyPr wrap="square" lIns="0" tIns="0" rIns="0" bIns="0" rtlCol="0" anchor="t"/>
          <a:lstStyle/>
          <a:p>
            <a:pPr algn="l" indent="0" marL="0">
              <a:buNone/>
            </a:pPr>
            <a:r>
              <a:rPr lang="en-US" sz="1340" b="1" dirty="0">
                <a:solidFill>
                  <a:srgbClr val="FFFFFF"/>
                </a:solidFill>
                <a:latin typeface="Aptos" pitchFamily="34" charset="0"/>
                <a:ea typeface="Aptos" pitchFamily="34" charset="-122"/>
                <a:cs typeface="Aptos" pitchFamily="34" charset="-120"/>
              </a:rPr>
              <a:t>Sustituir lo mínimo</a:t>
            </a:r>
            <a:endParaRPr lang="en-US" sz="1340" dirty="0"/>
          </a:p>
        </p:txBody>
      </p:sp>
      <p:sp>
        <p:nvSpPr>
          <p:cNvPr id="25" name="Text 22"/>
          <p:cNvSpPr txBox="1"/>
          <p:nvPr/>
        </p:nvSpPr>
        <p:spPr>
          <a:xfrm>
            <a:off x="6620256" y="4133088"/>
            <a:ext cx="4663440" cy="384048"/>
          </a:xfrm>
          <a:prstGeom prst="rect">
            <a:avLst/>
          </a:prstGeom>
          <a:noFill/>
          <a:ln/>
        </p:spPr>
        <p:txBody>
          <a:bodyPr wrap="square" lIns="0" tIns="0" rIns="0" bIns="0" rtlCol="0" anchor="t"/>
          <a:lstStyle/>
          <a:p>
            <a:pPr algn="l" indent="0" marL="0">
              <a:lnSpc>
                <a:spcPct val="112000"/>
              </a:lnSpc>
              <a:buNone/>
            </a:pPr>
            <a:r>
              <a:rPr lang="en-US" sz="1140" dirty="0">
                <a:solidFill>
                  <a:srgbClr val="3FAE6A"/>
                </a:solidFill>
                <a:latin typeface="Aptos" pitchFamily="34" charset="0"/>
                <a:ea typeface="Aptos" pitchFamily="34" charset="-122"/>
                <a:cs typeface="Aptos" pitchFamily="34" charset="-120"/>
              </a:rPr>
              <a:t>+  Pruebas que verifican la integración de verdad</a:t>
            </a:r>
            <a:endParaRPr lang="en-US" sz="1140" dirty="0"/>
          </a:p>
        </p:txBody>
      </p:sp>
      <p:sp>
        <p:nvSpPr>
          <p:cNvPr id="26" name="Text 23"/>
          <p:cNvSpPr txBox="1"/>
          <p:nvPr/>
        </p:nvSpPr>
        <p:spPr>
          <a:xfrm>
            <a:off x="6620256" y="4553712"/>
            <a:ext cx="4663440" cy="384048"/>
          </a:xfrm>
          <a:prstGeom prst="rect">
            <a:avLst/>
          </a:prstGeom>
          <a:noFill/>
          <a:ln/>
        </p:spPr>
        <p:txBody>
          <a:bodyPr wrap="square" lIns="0" tIns="0" rIns="0" bIns="0" rtlCol="0" anchor="t"/>
          <a:lstStyle/>
          <a:p>
            <a:pPr algn="l" indent="0" marL="0">
              <a:lnSpc>
                <a:spcPct val="112000"/>
              </a:lnSpc>
              <a:buNone/>
            </a:pPr>
            <a:r>
              <a:rPr lang="en-US" sz="1140" dirty="0">
                <a:solidFill>
                  <a:srgbClr val="EADFD0"/>
                </a:solidFill>
                <a:latin typeface="Aptos" pitchFamily="34" charset="0"/>
                <a:ea typeface="Aptos" pitchFamily="34" charset="-122"/>
                <a:cs typeface="Aptos" pitchFamily="34" charset="-120"/>
              </a:rPr>
              <a:t>−  Más lentas, fallan por causas ajenas y localizan peor el defecto</a:t>
            </a:r>
            <a:endParaRPr lang="en-US" sz="1140" dirty="0"/>
          </a:p>
        </p:txBody>
      </p:sp>
      <p:sp>
        <p:nvSpPr>
          <p:cNvPr id="27" name="Shape 24"/>
          <p:cNvSpPr/>
          <p:nvPr/>
        </p:nvSpPr>
        <p:spPr>
          <a:xfrm>
            <a:off x="658368" y="5157216"/>
            <a:ext cx="10874959" cy="566928"/>
          </a:xfrm>
          <a:prstGeom prst="rect">
            <a:avLst/>
          </a:prstGeom>
          <a:solidFill>
            <a:srgbClr val="E0BC5A"/>
          </a:solidFill>
          <a:ln w="12700">
            <a:solidFill>
              <a:srgbClr val="E0BC5A"/>
            </a:solidFill>
            <a:prstDash val="solid"/>
          </a:ln>
        </p:spPr>
      </p:sp>
      <p:sp>
        <p:nvSpPr>
          <p:cNvPr id="28" name="Text 25"/>
          <p:cNvSpPr txBox="1"/>
          <p:nvPr/>
        </p:nvSpPr>
        <p:spPr>
          <a:xfrm>
            <a:off x="932688" y="5230368"/>
            <a:ext cx="10326319" cy="420624"/>
          </a:xfrm>
          <a:prstGeom prst="rect">
            <a:avLst/>
          </a:prstGeom>
          <a:noFill/>
          <a:ln/>
        </p:spPr>
        <p:txBody>
          <a:bodyPr wrap="square" lIns="0" tIns="0" rIns="0" bIns="0" rtlCol="0" anchor="ctr"/>
          <a:lstStyle/>
          <a:p>
            <a:pPr algn="l" indent="0" marL="0">
              <a:buNone/>
            </a:pPr>
            <a:r>
              <a:rPr lang="en-US" sz="1260" b="1" dirty="0">
                <a:solidFill>
                  <a:srgbClr val="102A43"/>
                </a:solidFill>
                <a:latin typeface="Aptos" pitchFamily="34" charset="0"/>
                <a:ea typeface="Aptos" pitchFamily="34" charset="-122"/>
                <a:cs typeface="Aptos" pitchFamily="34" charset="-120"/>
              </a:rPr>
              <a:t>Lo que NO está en discusión: sustituir cuando la dependencia impide provocar el caso que interesa, y no sustituir cuando lo que se quiere verificar es que dos piezas se entienden.</a:t>
            </a:r>
            <a:endParaRPr lang="en-US" sz="1260" dirty="0"/>
          </a:p>
        </p:txBody>
      </p:sp>
      <p:sp>
        <p:nvSpPr>
          <p:cNvPr id="29" name="Shape 26"/>
          <p:cNvSpPr/>
          <p:nvPr/>
        </p:nvSpPr>
        <p:spPr>
          <a:xfrm>
            <a:off x="658368" y="5888736"/>
            <a:ext cx="45720" cy="182880"/>
          </a:xfrm>
          <a:prstGeom prst="rect">
            <a:avLst/>
          </a:prstGeom>
          <a:solidFill>
            <a:srgbClr val="E0BC5A"/>
          </a:solidFill>
          <a:ln w="12700">
            <a:solidFill>
              <a:srgbClr val="E0BC5A"/>
            </a:solidFill>
            <a:prstDash val="solid"/>
          </a:ln>
        </p:spPr>
      </p:sp>
      <p:sp>
        <p:nvSpPr>
          <p:cNvPr id="30" name="Text 27"/>
          <p:cNvSpPr txBox="1"/>
          <p:nvPr/>
        </p:nvSpPr>
        <p:spPr>
          <a:xfrm>
            <a:off x="804672" y="5879592"/>
            <a:ext cx="77724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Martin Fowler · Mocks Aren't Stubs · 2 de enero de 2007</a:t>
            </a:r>
            <a:endParaRPr lang="en-US" sz="92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ERA DE LOS AGENTES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600" b="1" dirty="0">
                <a:solidFill>
                  <a:srgbClr val="243B53"/>
                </a:solidFill>
                <a:latin typeface="Aptos Display" pitchFamily="34" charset="0"/>
                <a:ea typeface="Aptos Display" pitchFamily="34" charset="-122"/>
                <a:cs typeface="Aptos Display" pitchFamily="34" charset="-120"/>
              </a:rPr>
              <a:t>El agente construye el doble desde la línea que lo llama</a:t>
            </a:r>
            <a:endParaRPr lang="en-US" sz="2600" dirty="0"/>
          </a:p>
        </p:txBody>
      </p:sp>
      <p:sp>
        <p:nvSpPr>
          <p:cNvPr id="10" name="Text 7"/>
          <p:cNvSpPr txBox="1"/>
          <p:nvPr/>
        </p:nvSpPr>
        <p:spPr>
          <a:xfrm>
            <a:off x="658368" y="1773936"/>
            <a:ext cx="10424160" cy="45720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Si se le pidió una prueba para confirmar_reserva() y solo se le mostró ese archivo, va a inventar la forma de «enviar» a partir de cómo se la llama ahí.</a:t>
            </a:r>
            <a:endParaRPr lang="en-US" sz="1450" dirty="0"/>
          </a:p>
        </p:txBody>
      </p:sp>
      <p:sp>
        <p:nvSpPr>
          <p:cNvPr id="11" name="Shape 8"/>
          <p:cNvSpPr/>
          <p:nvPr/>
        </p:nvSpPr>
        <p:spPr>
          <a:xfrm>
            <a:off x="658368" y="2688336"/>
            <a:ext cx="10874959" cy="749808"/>
          </a:xfrm>
          <a:prstGeom prst="rect">
            <a:avLst/>
          </a:prstGeom>
          <a:solidFill>
            <a:srgbClr val="FFFFFF"/>
          </a:solidFill>
          <a:ln w="12700">
            <a:solidFill>
              <a:srgbClr val="FFFFFF"/>
            </a:solidFill>
            <a:prstDash val="solid"/>
          </a:ln>
        </p:spPr>
      </p:sp>
      <p:sp>
        <p:nvSpPr>
          <p:cNvPr id="12" name="Shape 9"/>
          <p:cNvSpPr/>
          <p:nvPr/>
        </p:nvSpPr>
        <p:spPr>
          <a:xfrm>
            <a:off x="658368" y="2688336"/>
            <a:ext cx="54864" cy="749808"/>
          </a:xfrm>
          <a:prstGeom prst="rect">
            <a:avLst/>
          </a:prstGeom>
          <a:solidFill>
            <a:srgbClr val="2E7D4F"/>
          </a:solidFill>
          <a:ln w="12700">
            <a:solidFill>
              <a:srgbClr val="2E7D4F"/>
            </a:solidFill>
            <a:prstDash val="solid"/>
          </a:ln>
        </p:spPr>
      </p:sp>
      <p:sp>
        <p:nvSpPr>
          <p:cNvPr id="13" name="Text 10"/>
          <p:cNvSpPr txBox="1"/>
          <p:nvPr/>
        </p:nvSpPr>
        <p:spPr>
          <a:xfrm>
            <a:off x="932688" y="2798064"/>
            <a:ext cx="3291840" cy="512064"/>
          </a:xfrm>
          <a:prstGeom prst="rect">
            <a:avLst/>
          </a:prstGeom>
          <a:noFill/>
          <a:ln/>
        </p:spPr>
        <p:txBody>
          <a:bodyPr wrap="square" lIns="0" tIns="0" rIns="0" bIns="0" rtlCol="0" anchor="t"/>
          <a:lstStyle/>
          <a:p>
            <a:pPr algn="l" indent="0" marL="0">
              <a:lnSpc>
                <a:spcPct val="112000"/>
              </a:lnSpc>
              <a:buNone/>
            </a:pPr>
            <a:r>
              <a:rPr lang="en-US" sz="1300" b="1" dirty="0">
                <a:solidFill>
                  <a:srgbClr val="2E7D4F"/>
                </a:solidFill>
                <a:latin typeface="Aptos" pitchFamily="34" charset="0"/>
                <a:ea typeface="Aptos" pitchFamily="34" charset="-122"/>
                <a:cs typeface="Aptos" pitchFamily="34" charset="-120"/>
              </a:rPr>
              <a:t>Lo que hace bien</a:t>
            </a:r>
            <a:endParaRPr lang="en-US" sz="1300" dirty="0"/>
          </a:p>
        </p:txBody>
      </p:sp>
      <p:sp>
        <p:nvSpPr>
          <p:cNvPr id="14" name="Text 11"/>
          <p:cNvSpPr txBox="1"/>
          <p:nvPr/>
        </p:nvSpPr>
        <p:spPr>
          <a:xfrm>
            <a:off x="4407408" y="2798064"/>
            <a:ext cx="685159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Producir los cinco tipos con la sintaxis correcta, y sobre todo cubrir la rama de fallo: la que más se olvida a mano, porque hay que inventarse cómo provocarla.</a:t>
            </a:r>
            <a:endParaRPr lang="en-US" sz="1220" dirty="0"/>
          </a:p>
        </p:txBody>
      </p:sp>
      <p:sp>
        <p:nvSpPr>
          <p:cNvPr id="15" name="Shape 12"/>
          <p:cNvSpPr/>
          <p:nvPr/>
        </p:nvSpPr>
        <p:spPr>
          <a:xfrm>
            <a:off x="658368" y="3547872"/>
            <a:ext cx="10874959" cy="749808"/>
          </a:xfrm>
          <a:prstGeom prst="rect">
            <a:avLst/>
          </a:prstGeom>
          <a:solidFill>
            <a:srgbClr val="FFFFFF"/>
          </a:solidFill>
          <a:ln w="12700">
            <a:solidFill>
              <a:srgbClr val="FFFFFF"/>
            </a:solidFill>
            <a:prstDash val="solid"/>
          </a:ln>
        </p:spPr>
      </p:sp>
      <p:sp>
        <p:nvSpPr>
          <p:cNvPr id="16" name="Shape 13"/>
          <p:cNvSpPr/>
          <p:nvPr/>
        </p:nvSpPr>
        <p:spPr>
          <a:xfrm>
            <a:off x="658368" y="3547872"/>
            <a:ext cx="54864" cy="749808"/>
          </a:xfrm>
          <a:prstGeom prst="rect">
            <a:avLst/>
          </a:prstGeom>
          <a:solidFill>
            <a:srgbClr val="8A6A12"/>
          </a:solidFill>
          <a:ln w="12700">
            <a:solidFill>
              <a:srgbClr val="8A6A12"/>
            </a:solidFill>
            <a:prstDash val="solid"/>
          </a:ln>
        </p:spPr>
      </p:sp>
      <p:sp>
        <p:nvSpPr>
          <p:cNvPr id="17" name="Text 14"/>
          <p:cNvSpPr txBox="1"/>
          <p:nvPr/>
        </p:nvSpPr>
        <p:spPr>
          <a:xfrm>
            <a:off x="932688" y="3657600"/>
            <a:ext cx="3291840" cy="512064"/>
          </a:xfrm>
          <a:prstGeom prst="rect">
            <a:avLst/>
          </a:prstGeom>
          <a:noFill/>
          <a:ln/>
        </p:spPr>
        <p:txBody>
          <a:bodyPr wrap="square" lIns="0" tIns="0" rIns="0" bIns="0" rtlCol="0" anchor="t"/>
          <a:lstStyle/>
          <a:p>
            <a:pPr algn="l" indent="0" marL="0">
              <a:lnSpc>
                <a:spcPct val="112000"/>
              </a:lnSpc>
              <a:buNone/>
            </a:pPr>
            <a:r>
              <a:rPr lang="en-US" sz="1300" b="1" dirty="0">
                <a:solidFill>
                  <a:srgbClr val="8A6A12"/>
                </a:solidFill>
                <a:latin typeface="Aptos" pitchFamily="34" charset="0"/>
                <a:ea typeface="Aptos" pitchFamily="34" charset="-122"/>
                <a:cs typeface="Aptos" pitchFamily="34" charset="-120"/>
              </a:rPr>
              <a:t>Lo que no conviene delegar</a:t>
            </a:r>
            <a:endParaRPr lang="en-US" sz="1300" dirty="0"/>
          </a:p>
        </p:txBody>
      </p:sp>
      <p:sp>
        <p:nvSpPr>
          <p:cNvPr id="18" name="Text 15"/>
          <p:cNvSpPr txBox="1"/>
          <p:nvPr/>
        </p:nvSpPr>
        <p:spPr>
          <a:xfrm>
            <a:off x="4407408" y="3657600"/>
            <a:ext cx="685159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 forma y la conducta de la dependencia. Ese dato no está en el archivo que se prueba: está en la dependencia, y hay que dárselo.</a:t>
            </a:r>
            <a:endParaRPr lang="en-US" sz="1220" dirty="0"/>
          </a:p>
        </p:txBody>
      </p:sp>
      <p:sp>
        <p:nvSpPr>
          <p:cNvPr id="19" name="Shape 16"/>
          <p:cNvSpPr/>
          <p:nvPr/>
        </p:nvSpPr>
        <p:spPr>
          <a:xfrm>
            <a:off x="658368" y="4407408"/>
            <a:ext cx="10874959" cy="749808"/>
          </a:xfrm>
          <a:prstGeom prst="rect">
            <a:avLst/>
          </a:prstGeom>
          <a:solidFill>
            <a:srgbClr val="F8E4E5"/>
          </a:solidFill>
          <a:ln w="12700">
            <a:solidFill>
              <a:srgbClr val="F8E4E5"/>
            </a:solidFill>
            <a:prstDash val="solid"/>
          </a:ln>
        </p:spPr>
      </p:sp>
      <p:sp>
        <p:nvSpPr>
          <p:cNvPr id="20" name="Shape 17"/>
          <p:cNvSpPr/>
          <p:nvPr/>
        </p:nvSpPr>
        <p:spPr>
          <a:xfrm>
            <a:off x="658368" y="4407408"/>
            <a:ext cx="54864" cy="749808"/>
          </a:xfrm>
          <a:prstGeom prst="rect">
            <a:avLst/>
          </a:prstGeom>
          <a:solidFill>
            <a:srgbClr val="B3181E"/>
          </a:solidFill>
          <a:ln w="12700">
            <a:solidFill>
              <a:srgbClr val="B3181E"/>
            </a:solidFill>
            <a:prstDash val="solid"/>
          </a:ln>
        </p:spPr>
      </p:sp>
      <p:sp>
        <p:nvSpPr>
          <p:cNvPr id="21" name="Text 18"/>
          <p:cNvSpPr txBox="1"/>
          <p:nvPr/>
        </p:nvSpPr>
        <p:spPr>
          <a:xfrm>
            <a:off x="932688" y="4517136"/>
            <a:ext cx="3291840" cy="512064"/>
          </a:xfrm>
          <a:prstGeom prst="rect">
            <a:avLst/>
          </a:prstGeom>
          <a:noFill/>
          <a:ln/>
        </p:spPr>
        <p:txBody>
          <a:bodyPr wrap="square" lIns="0" tIns="0" rIns="0" bIns="0" rtlCol="0" anchor="t"/>
          <a:lstStyle/>
          <a:p>
            <a:pPr algn="l" indent="0" marL="0">
              <a:lnSpc>
                <a:spcPct val="112000"/>
              </a:lnSpc>
              <a:buNone/>
            </a:pPr>
            <a:r>
              <a:rPr lang="en-US" sz="1300" b="1" dirty="0">
                <a:solidFill>
                  <a:srgbClr val="B3181E"/>
                </a:solidFill>
                <a:latin typeface="Aptos" pitchFamily="34" charset="0"/>
                <a:ea typeface="Aptos" pitchFamily="34" charset="-122"/>
                <a:cs typeface="Aptos" pitchFamily="34" charset="-120"/>
              </a:rPr>
              <a:t>El error frecuente</a:t>
            </a:r>
            <a:endParaRPr lang="en-US" sz="1300" dirty="0"/>
          </a:p>
        </p:txBody>
      </p:sp>
      <p:sp>
        <p:nvSpPr>
          <p:cNvPr id="22" name="Text 19"/>
          <p:cNvSpPr txBox="1"/>
          <p:nvPr/>
        </p:nvSpPr>
        <p:spPr>
          <a:xfrm>
            <a:off x="4407408" y="4517136"/>
            <a:ext cx="6851599" cy="54864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Un Mock() suelto para todo, con return_value elegido por lo que hace falta para que la prueba pase. Es verde, es 100 %, y no está atado a nada.</a:t>
            </a:r>
            <a:endParaRPr lang="en-US" sz="1220" dirty="0"/>
          </a:p>
        </p:txBody>
      </p:sp>
      <p:sp>
        <p:nvSpPr>
          <p:cNvPr id="23" name="Shape 20"/>
          <p:cNvSpPr/>
          <p:nvPr/>
        </p:nvSpPr>
        <p:spPr>
          <a:xfrm>
            <a:off x="658368" y="5285232"/>
            <a:ext cx="10874959" cy="603504"/>
          </a:xfrm>
          <a:prstGeom prst="rect">
            <a:avLst/>
          </a:prstGeom>
          <a:solidFill>
            <a:srgbClr val="102A43"/>
          </a:solidFill>
          <a:ln w="12700">
            <a:solidFill>
              <a:srgbClr val="102A43"/>
            </a:solidFill>
            <a:prstDash val="solid"/>
          </a:ln>
        </p:spPr>
      </p:sp>
      <p:sp>
        <p:nvSpPr>
          <p:cNvPr id="24" name="Text 21"/>
          <p:cNvSpPr txBox="1"/>
          <p:nvPr/>
        </p:nvSpPr>
        <p:spPr>
          <a:xfrm>
            <a:off x="932688" y="5376672"/>
            <a:ext cx="10326319" cy="438912"/>
          </a:xfrm>
          <a:prstGeom prst="rect">
            <a:avLst/>
          </a:prstGeom>
          <a:noFill/>
          <a:ln/>
        </p:spPr>
        <p:txBody>
          <a:bodyPr wrap="square" lIns="0" tIns="0" rIns="0" bIns="0" rtlCol="0" anchor="ctr"/>
          <a:lstStyle/>
          <a:p>
            <a:pPr algn="l" indent="0" marL="0">
              <a:lnSpc>
                <a:spcPct val="112000"/>
              </a:lnSpc>
              <a:buNone/>
            </a:pPr>
            <a:r>
              <a:rPr lang="en-US" sz="1300" b="1" dirty="0">
                <a:solidFill>
                  <a:srgbClr val="FFFFFF"/>
                </a:solidFill>
                <a:latin typeface="Aptos" pitchFamily="34" charset="0"/>
                <a:ea typeface="Aptos" pitchFamily="34" charset="-122"/>
                <a:cs typeface="Aptos" pitchFamily="34" charset="-120"/>
              </a:rPr>
              <a:t>La práctica que lo corrige es de una línea: pedir el doble DERIVADO de la dependencia, y revisar que el return_value corresponda a algo que la dependencia realmente devuelve.</a:t>
            </a:r>
            <a:endParaRPr lang="en-US" sz="1300" dirty="0"/>
          </a:p>
        </p:txBody>
      </p:sp>
      <p:sp>
        <p:nvSpPr>
          <p:cNvPr id="25" name="Text 22"/>
          <p:cNvSpPr txBox="1"/>
          <p:nvPr/>
        </p:nvSpPr>
        <p:spPr>
          <a:xfrm>
            <a:off x="658368" y="6035040"/>
            <a:ext cx="10874959" cy="256032"/>
          </a:xfrm>
          <a:prstGeom prst="rect">
            <a:avLst/>
          </a:prstGeom>
          <a:noFill/>
          <a:ln/>
        </p:spPr>
        <p:txBody>
          <a:bodyPr wrap="square" lIns="0" tIns="0" rIns="0" bIns="0" rtlCol="0" anchor="t"/>
          <a:lstStyle/>
          <a:p>
            <a:pPr algn="ctr" indent="0" marL="0">
              <a:buNone/>
            </a:pPr>
            <a:r>
              <a:rPr lang="en-US" sz="1260" i="1" dirty="0">
                <a:solidFill>
                  <a:srgbClr val="52606D"/>
                </a:solidFill>
                <a:latin typeface="Aptos" pitchFamily="34" charset="0"/>
                <a:ea typeface="Aptos" pitchFamily="34" charset="-122"/>
                <a:cs typeface="Aptos" pitchFamily="34" charset="-120"/>
              </a:rPr>
              <a:t>Si el agente no tuvo delante el código de la dependencia, su doble es una suposición con sintaxis correcta.</a:t>
            </a:r>
            <a:endParaRPr lang="en-US" sz="126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antes de seguir</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test del dummy pasa None como dependencia y queda en verde. Si alguien moviera la notificación antes de la comprobación del cupo, ¿qué pasaría con esa prueba?</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Piensa qué ocurre al intentar llamar a None, y quién se enteraría.</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 suite con dobles llegó al 100 % de sentencias y de ramas y no detectó el cambio de firma. ¿Habría servido subir la exigencia de cobertura o agregar más pruebas con dobles?</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Las dos alternativas miden lo mismo dentro del mundo que la suite construyó.</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Un mock verifica que el sistema llamó a su dependencia de una forma exacta. ¿Cuándo esa verificación es un estorbo que hay que borrar en cada refactorización?</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Compara una llamada que el requisito exige con una que es solo una decisión de implementación.</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CONTRASTE</a:t>
            </a:r>
            <a:endParaRPr lang="en-US" sz="1030" dirty="0"/>
          </a:p>
        </p:txBody>
      </p:sp>
      <p:sp>
        <p:nvSpPr>
          <p:cNvPr id="9" name="Text 6"/>
          <p:cNvSpPr txBox="1"/>
          <p:nvPr/>
        </p:nvSpPr>
        <p:spPr>
          <a:xfrm>
            <a:off x="658368" y="749808"/>
            <a:ext cx="9418320" cy="566928"/>
          </a:xfrm>
          <a:prstGeom prst="rect">
            <a:avLst/>
          </a:prstGeom>
          <a:noFill/>
          <a:ln/>
        </p:spPr>
        <p:txBody>
          <a:bodyPr wrap="square" lIns="0" tIns="0" rIns="0" bIns="0" rtlCol="0" anchor="t"/>
          <a:lstStyle/>
          <a:p>
            <a:pPr algn="l" indent="0" marL="0">
              <a:buNone/>
            </a:pPr>
            <a:r>
              <a:rPr lang="en-US" sz="2500" b="1" dirty="0">
                <a:solidFill>
                  <a:srgbClr val="243B53"/>
                </a:solidFill>
                <a:latin typeface="Aptos Display" pitchFamily="34" charset="0"/>
                <a:ea typeface="Aptos Display" pitchFamily="34" charset="-122"/>
                <a:cs typeface="Aptos Display" pitchFamily="34" charset="-120"/>
              </a:rPr>
              <a:t>Lo que tenía que aparecer</a:t>
            </a:r>
            <a:endParaRPr lang="en-US" sz="2500" dirty="0"/>
          </a:p>
        </p:txBody>
      </p:sp>
      <p:sp>
        <p:nvSpPr>
          <p:cNvPr id="10" name="Shape 7"/>
          <p:cNvSpPr/>
          <p:nvPr/>
        </p:nvSpPr>
        <p:spPr>
          <a:xfrm>
            <a:off x="658368" y="1517904"/>
            <a:ext cx="10874959" cy="1536192"/>
          </a:xfrm>
          <a:prstGeom prst="rect">
            <a:avLst/>
          </a:prstGeom>
          <a:solidFill>
            <a:srgbClr val="FFFFFF"/>
          </a:solidFill>
          <a:ln w="12700">
            <a:solidFill>
              <a:srgbClr val="FFFFFF"/>
            </a:solidFill>
            <a:prstDash val="solid"/>
          </a:ln>
        </p:spPr>
      </p:sp>
      <p:sp>
        <p:nvSpPr>
          <p:cNvPr id="11" name="Shape 8"/>
          <p:cNvSpPr/>
          <p:nvPr/>
        </p:nvSpPr>
        <p:spPr>
          <a:xfrm>
            <a:off x="658368" y="1517904"/>
            <a:ext cx="54864" cy="1536192"/>
          </a:xfrm>
          <a:prstGeom prst="rect">
            <a:avLst/>
          </a:prstGeom>
          <a:solidFill>
            <a:srgbClr val="B3181E"/>
          </a:solidFill>
          <a:ln w="12700">
            <a:solidFill>
              <a:srgbClr val="B3181E"/>
            </a:solidFill>
            <a:prstDash val="solid"/>
          </a:ln>
        </p:spPr>
      </p:sp>
      <p:sp>
        <p:nvSpPr>
          <p:cNvPr id="12" name="Text 9"/>
          <p:cNvSpPr txBox="1"/>
          <p:nvPr/>
        </p:nvSpPr>
        <p:spPr>
          <a:xfrm>
            <a:off x="950976" y="1700784"/>
            <a:ext cx="530352" cy="475488"/>
          </a:xfrm>
          <a:prstGeom prst="rect">
            <a:avLst/>
          </a:prstGeom>
          <a:noFill/>
          <a:ln/>
        </p:spPr>
        <p:txBody>
          <a:bodyPr wrap="square" lIns="0" tIns="0" rIns="0" bIns="0" rtlCol="0" anchor="t"/>
          <a:lstStyle/>
          <a:p>
            <a:pPr algn="l"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3" name="Text 10"/>
          <p:cNvSpPr txBox="1"/>
          <p:nvPr/>
        </p:nvSpPr>
        <p:spPr>
          <a:xfrm>
            <a:off x="1682496" y="1645920"/>
            <a:ext cx="9521647" cy="182880"/>
          </a:xfrm>
          <a:prstGeom prst="rect">
            <a:avLst/>
          </a:prstGeom>
          <a:noFill/>
          <a:ln/>
        </p:spPr>
        <p:txBody>
          <a:bodyPr wrap="square" lIns="0" tIns="0" rIns="0" bIns="0" rtlCol="0" anchor="t"/>
          <a:lstStyle/>
          <a:p>
            <a:pPr algn="l" indent="0" marL="0">
              <a:buNone/>
            </a:pPr>
            <a:r>
              <a:rPr lang="en-US" sz="880" b="1" spc="120" kern="0" dirty="0">
                <a:solidFill>
                  <a:srgbClr val="B3181E"/>
                </a:solidFill>
                <a:latin typeface="Aptos" pitchFamily="34" charset="0"/>
                <a:ea typeface="Aptos" pitchFamily="34" charset="-122"/>
                <a:cs typeface="Aptos" pitchFamily="34" charset="-120"/>
              </a:rPr>
              <a:t>FALLARÍA CON UN ERROR DE LLAMADA A NONE, Y ESO LA VUELVE ÚTIL</a:t>
            </a:r>
            <a:endParaRPr lang="en-US" sz="880" dirty="0"/>
          </a:p>
        </p:txBody>
      </p:sp>
      <p:sp>
        <p:nvSpPr>
          <p:cNvPr id="14" name="Text 11"/>
          <p:cNvSpPr txBox="1"/>
          <p:nvPr/>
        </p:nvSpPr>
        <p:spPr>
          <a:xfrm>
            <a:off x="1682496" y="1883664"/>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Pasar None no es un descuido: es una aserción implícita de que por ese camino la dependencia NO se usa. Si alguien la usa, la prueba se cae y avisa.</a:t>
            </a:r>
            <a:endParaRPr lang="en-US" sz="1300" dirty="0"/>
          </a:p>
        </p:txBody>
      </p:sp>
      <p:sp>
        <p:nvSpPr>
          <p:cNvPr id="15" name="Shape 12"/>
          <p:cNvSpPr/>
          <p:nvPr/>
        </p:nvSpPr>
        <p:spPr>
          <a:xfrm>
            <a:off x="1682496" y="2432304"/>
            <a:ext cx="9521647" cy="0"/>
          </a:xfrm>
          <a:prstGeom prst="line">
            <a:avLst/>
          </a:prstGeom>
          <a:noFill/>
          <a:ln w="12700">
            <a:solidFill>
              <a:srgbClr val="D8CFC4"/>
            </a:solidFill>
            <a:prstDash val="solid"/>
            <a:headEnd type="none"/>
            <a:tailEnd type="none"/>
          </a:ln>
        </p:spPr>
      </p:sp>
      <p:sp>
        <p:nvSpPr>
          <p:cNvPr id="16" name="Text 13"/>
          <p:cNvSpPr txBox="1"/>
          <p:nvPr/>
        </p:nvSpPr>
        <p:spPr>
          <a:xfrm>
            <a:off x="1682496"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17" name="Text 14"/>
          <p:cNvSpPr txBox="1"/>
          <p:nvPr/>
        </p:nvSpPr>
        <p:spPr>
          <a:xfrm>
            <a:off x="1682496" y="2688336"/>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Un dummy documenta un camino donde la dependencia no debe intervenir.</a:t>
            </a:r>
            <a:endParaRPr lang="en-US" sz="1060" dirty="0"/>
          </a:p>
        </p:txBody>
      </p:sp>
      <p:sp>
        <p:nvSpPr>
          <p:cNvPr id="18" name="Shape 15"/>
          <p:cNvSpPr/>
          <p:nvPr/>
        </p:nvSpPr>
        <p:spPr>
          <a:xfrm>
            <a:off x="6443320" y="2487168"/>
            <a:ext cx="0" cy="457200"/>
          </a:xfrm>
          <a:prstGeom prst="line">
            <a:avLst/>
          </a:prstGeom>
          <a:noFill/>
          <a:ln w="12700">
            <a:solidFill>
              <a:srgbClr val="D8CFC4"/>
            </a:solidFill>
            <a:prstDash val="solid"/>
            <a:headEnd type="none"/>
            <a:tailEnd type="none"/>
          </a:ln>
        </p:spPr>
      </p:sp>
      <p:sp>
        <p:nvSpPr>
          <p:cNvPr id="19" name="Text 16"/>
          <p:cNvSpPr txBox="1"/>
          <p:nvPr/>
        </p:nvSpPr>
        <p:spPr>
          <a:xfrm>
            <a:off x="6699352"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20" name="Text 17"/>
          <p:cNvSpPr txBox="1"/>
          <p:nvPr/>
        </p:nvSpPr>
        <p:spPr>
          <a:xfrm>
            <a:off x="6699352" y="2688336"/>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«Da lo mismo: None no comprueba nada.»</a:t>
            </a:r>
            <a:endParaRPr lang="en-US" sz="1060" dirty="0"/>
          </a:p>
        </p:txBody>
      </p:sp>
      <p:sp>
        <p:nvSpPr>
          <p:cNvPr id="21" name="Shape 18"/>
          <p:cNvSpPr/>
          <p:nvPr/>
        </p:nvSpPr>
        <p:spPr>
          <a:xfrm>
            <a:off x="658368" y="3145536"/>
            <a:ext cx="10874959" cy="1536192"/>
          </a:xfrm>
          <a:prstGeom prst="rect">
            <a:avLst/>
          </a:prstGeom>
          <a:solidFill>
            <a:srgbClr val="FFFFFF"/>
          </a:solidFill>
          <a:ln w="12700">
            <a:solidFill>
              <a:srgbClr val="FFFFFF"/>
            </a:solidFill>
            <a:prstDash val="solid"/>
          </a:ln>
        </p:spPr>
      </p:sp>
      <p:sp>
        <p:nvSpPr>
          <p:cNvPr id="22" name="Shape 19"/>
          <p:cNvSpPr/>
          <p:nvPr/>
        </p:nvSpPr>
        <p:spPr>
          <a:xfrm>
            <a:off x="658368" y="3145536"/>
            <a:ext cx="54864" cy="1536192"/>
          </a:xfrm>
          <a:prstGeom prst="rect">
            <a:avLst/>
          </a:prstGeom>
          <a:solidFill>
            <a:srgbClr val="102A43"/>
          </a:solidFill>
          <a:ln w="12700">
            <a:solidFill>
              <a:srgbClr val="102A43"/>
            </a:solidFill>
            <a:prstDash val="solid"/>
          </a:ln>
        </p:spPr>
      </p:sp>
      <p:sp>
        <p:nvSpPr>
          <p:cNvPr id="23" name="Text 20"/>
          <p:cNvSpPr txBox="1"/>
          <p:nvPr/>
        </p:nvSpPr>
        <p:spPr>
          <a:xfrm>
            <a:off x="950976" y="3328416"/>
            <a:ext cx="530352" cy="475488"/>
          </a:xfrm>
          <a:prstGeom prst="rect">
            <a:avLst/>
          </a:prstGeom>
          <a:noFill/>
          <a:ln/>
        </p:spPr>
        <p:txBody>
          <a:bodyPr wrap="square" lIns="0" tIns="0" rIns="0" bIns="0" rtlCol="0" anchor="t"/>
          <a:lstStyle/>
          <a:p>
            <a:pPr algn="l"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682496" y="3273552"/>
            <a:ext cx="9521647" cy="182880"/>
          </a:xfrm>
          <a:prstGeom prst="rect">
            <a:avLst/>
          </a:prstGeom>
          <a:noFill/>
          <a:ln/>
        </p:spPr>
        <p:txBody>
          <a:bodyPr wrap="square" lIns="0" tIns="0" rIns="0" bIns="0" rtlCol="0" anchor="t"/>
          <a:lstStyle/>
          <a:p>
            <a:pPr algn="l" indent="0" marL="0">
              <a:buNone/>
            </a:pPr>
            <a:r>
              <a:rPr lang="en-US" sz="880" b="1" spc="120" kern="0" dirty="0">
                <a:solidFill>
                  <a:srgbClr val="102A43"/>
                </a:solidFill>
                <a:latin typeface="Aptos" pitchFamily="34" charset="0"/>
                <a:ea typeface="Aptos" pitchFamily="34" charset="-122"/>
                <a:cs typeface="Aptos" pitchFamily="34" charset="-120"/>
              </a:rPr>
              <a:t>NO: LAS DOS MIDEN DENTRO DEL MUNDO QUE LA SUITE INVENTÓ</a:t>
            </a:r>
            <a:endParaRPr lang="en-US" sz="880" dirty="0"/>
          </a:p>
        </p:txBody>
      </p:sp>
      <p:sp>
        <p:nvSpPr>
          <p:cNvPr id="25" name="Text 22"/>
          <p:cNvSpPr txBox="1"/>
          <p:nvPr/>
        </p:nvSpPr>
        <p:spPr>
          <a:xfrm>
            <a:off x="1682496" y="3511296"/>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La dependencia real quedó fuera de ese mundo desde el momento en que se sustituyó. Ninguna medida de cobertura puede ver algo que la ejecución nunca tocó.</a:t>
            </a:r>
            <a:endParaRPr lang="en-US" sz="1300" dirty="0"/>
          </a:p>
        </p:txBody>
      </p:sp>
      <p:sp>
        <p:nvSpPr>
          <p:cNvPr id="26" name="Shape 23"/>
          <p:cNvSpPr/>
          <p:nvPr/>
        </p:nvSpPr>
        <p:spPr>
          <a:xfrm>
            <a:off x="1682496" y="4059936"/>
            <a:ext cx="9521647" cy="0"/>
          </a:xfrm>
          <a:prstGeom prst="line">
            <a:avLst/>
          </a:prstGeom>
          <a:noFill/>
          <a:ln w="12700">
            <a:solidFill>
              <a:srgbClr val="D8CFC4"/>
            </a:solidFill>
            <a:prstDash val="solid"/>
            <a:headEnd type="none"/>
            <a:tailEnd type="none"/>
          </a:ln>
        </p:spPr>
      </p:sp>
      <p:sp>
        <p:nvSpPr>
          <p:cNvPr id="27" name="Text 24"/>
          <p:cNvSpPr txBox="1"/>
          <p:nvPr/>
        </p:nvSpPr>
        <p:spPr>
          <a:xfrm>
            <a:off x="1682496"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28" name="Text 25"/>
          <p:cNvSpPr txBox="1"/>
          <p:nvPr/>
        </p:nvSpPr>
        <p:spPr>
          <a:xfrm>
            <a:off x="1682496" y="4315968"/>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La cobertura mide el código propio, no el contrato con lo ajeno.</a:t>
            </a:r>
            <a:endParaRPr lang="en-US" sz="1060" dirty="0"/>
          </a:p>
        </p:txBody>
      </p:sp>
      <p:sp>
        <p:nvSpPr>
          <p:cNvPr id="29" name="Shape 26"/>
          <p:cNvSpPr/>
          <p:nvPr/>
        </p:nvSpPr>
        <p:spPr>
          <a:xfrm>
            <a:off x="6443320" y="4114800"/>
            <a:ext cx="0" cy="457200"/>
          </a:xfrm>
          <a:prstGeom prst="line">
            <a:avLst/>
          </a:prstGeom>
          <a:noFill/>
          <a:ln w="12700">
            <a:solidFill>
              <a:srgbClr val="D8CFC4"/>
            </a:solidFill>
            <a:prstDash val="solid"/>
            <a:headEnd type="none"/>
            <a:tailEnd type="none"/>
          </a:ln>
        </p:spPr>
      </p:sp>
      <p:sp>
        <p:nvSpPr>
          <p:cNvPr id="30" name="Text 27"/>
          <p:cNvSpPr txBox="1"/>
          <p:nvPr/>
        </p:nvSpPr>
        <p:spPr>
          <a:xfrm>
            <a:off x="6699352"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31" name="Text 28"/>
          <p:cNvSpPr txBox="1"/>
          <p:nvPr/>
        </p:nvSpPr>
        <p:spPr>
          <a:xfrm>
            <a:off x="6699352" y="4315968"/>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«Con cobertura de condición modificada se habría visto.»</a:t>
            </a:r>
            <a:endParaRPr lang="en-US" sz="1060" dirty="0"/>
          </a:p>
        </p:txBody>
      </p:sp>
      <p:sp>
        <p:nvSpPr>
          <p:cNvPr id="32" name="Shape 29"/>
          <p:cNvSpPr/>
          <p:nvPr/>
        </p:nvSpPr>
        <p:spPr>
          <a:xfrm>
            <a:off x="658368" y="4773168"/>
            <a:ext cx="10874959" cy="1536192"/>
          </a:xfrm>
          <a:prstGeom prst="rect">
            <a:avLst/>
          </a:prstGeom>
          <a:solidFill>
            <a:srgbClr val="FFFFFF"/>
          </a:solidFill>
          <a:ln w="12700">
            <a:solidFill>
              <a:srgbClr val="FFFFFF"/>
            </a:solidFill>
            <a:prstDash val="solid"/>
          </a:ln>
        </p:spPr>
      </p:sp>
      <p:sp>
        <p:nvSpPr>
          <p:cNvPr id="33" name="Shape 30"/>
          <p:cNvSpPr/>
          <p:nvPr/>
        </p:nvSpPr>
        <p:spPr>
          <a:xfrm>
            <a:off x="658368" y="4773168"/>
            <a:ext cx="54864" cy="1536192"/>
          </a:xfrm>
          <a:prstGeom prst="rect">
            <a:avLst/>
          </a:prstGeom>
          <a:solidFill>
            <a:srgbClr val="8A6A12"/>
          </a:solidFill>
          <a:ln w="12700">
            <a:solidFill>
              <a:srgbClr val="8A6A12"/>
            </a:solidFill>
            <a:prstDash val="solid"/>
          </a:ln>
        </p:spPr>
      </p:sp>
      <p:sp>
        <p:nvSpPr>
          <p:cNvPr id="34" name="Text 31"/>
          <p:cNvSpPr txBox="1"/>
          <p:nvPr/>
        </p:nvSpPr>
        <p:spPr>
          <a:xfrm>
            <a:off x="950976" y="4956048"/>
            <a:ext cx="530352" cy="475488"/>
          </a:xfrm>
          <a:prstGeom prst="rect">
            <a:avLst/>
          </a:prstGeom>
          <a:noFill/>
          <a:ln/>
        </p:spPr>
        <p:txBody>
          <a:bodyPr wrap="square" lIns="0" tIns="0" rIns="0" bIns="0" rtlCol="0" anchor="t"/>
          <a:lstStyle/>
          <a:p>
            <a:pPr algn="l"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5" name="Text 32"/>
          <p:cNvSpPr txBox="1"/>
          <p:nvPr/>
        </p:nvSpPr>
        <p:spPr>
          <a:xfrm>
            <a:off x="1682496" y="4901184"/>
            <a:ext cx="9521647" cy="182880"/>
          </a:xfrm>
          <a:prstGeom prst="rect">
            <a:avLst/>
          </a:prstGeom>
          <a:noFill/>
          <a:ln/>
        </p:spPr>
        <p:txBody>
          <a:bodyPr wrap="square" lIns="0" tIns="0" rIns="0" bIns="0" rtlCol="0" anchor="t"/>
          <a:lstStyle/>
          <a:p>
            <a:pPr algn="l" indent="0" marL="0">
              <a:buNone/>
            </a:pPr>
            <a:r>
              <a:rPr lang="en-US" sz="880" b="1" spc="120" kern="0" dirty="0">
                <a:solidFill>
                  <a:srgbClr val="8A6A12"/>
                </a:solidFill>
                <a:latin typeface="Aptos" pitchFamily="34" charset="0"/>
                <a:ea typeface="Aptos" pitchFamily="34" charset="-122"/>
                <a:cs typeface="Aptos" pitchFamily="34" charset="-120"/>
              </a:rPr>
              <a:t>CUANDO LA LLAMADA ES UNA DECISIÓN DE IMPLEMENTACIÓN Y NO UN REQUISITO</a:t>
            </a:r>
            <a:endParaRPr lang="en-US" sz="880" dirty="0"/>
          </a:p>
        </p:txBody>
      </p:sp>
      <p:sp>
        <p:nvSpPr>
          <p:cNvPr id="36" name="Text 33"/>
          <p:cNvSpPr txBox="1"/>
          <p:nvPr/>
        </p:nvSpPr>
        <p:spPr>
          <a:xfrm>
            <a:off x="1682496" y="5138928"/>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Que el comprobante se envíe lo exige el requisito: verificarlo está bien. En cuántos pasos se arma el cuerpo del mensaje no lo exige nadie: fijarlo en un mock congela el diseño.</a:t>
            </a:r>
            <a:endParaRPr lang="en-US" sz="1300" dirty="0"/>
          </a:p>
        </p:txBody>
      </p:sp>
      <p:sp>
        <p:nvSpPr>
          <p:cNvPr id="37" name="Shape 34"/>
          <p:cNvSpPr/>
          <p:nvPr/>
        </p:nvSpPr>
        <p:spPr>
          <a:xfrm>
            <a:off x="1682496" y="5687568"/>
            <a:ext cx="9521647" cy="0"/>
          </a:xfrm>
          <a:prstGeom prst="line">
            <a:avLst/>
          </a:prstGeom>
          <a:noFill/>
          <a:ln w="12700">
            <a:solidFill>
              <a:srgbClr val="D8CFC4"/>
            </a:solidFill>
            <a:prstDash val="solid"/>
            <a:headEnd type="none"/>
            <a:tailEnd type="none"/>
          </a:ln>
        </p:spPr>
      </p:sp>
      <p:sp>
        <p:nvSpPr>
          <p:cNvPr id="38" name="Text 35"/>
          <p:cNvSpPr txBox="1"/>
          <p:nvPr/>
        </p:nvSpPr>
        <p:spPr>
          <a:xfrm>
            <a:off x="1682496"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39" name="Text 36"/>
          <p:cNvSpPr txBox="1"/>
          <p:nvPr/>
        </p:nvSpPr>
        <p:spPr>
          <a:xfrm>
            <a:off x="1682496" y="5943600"/>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El mock legítimo verifica una obligación, no un detalle interno.</a:t>
            </a:r>
            <a:endParaRPr lang="en-US" sz="1060" dirty="0"/>
          </a:p>
        </p:txBody>
      </p:sp>
      <p:sp>
        <p:nvSpPr>
          <p:cNvPr id="40" name="Shape 37"/>
          <p:cNvSpPr/>
          <p:nvPr/>
        </p:nvSpPr>
        <p:spPr>
          <a:xfrm>
            <a:off x="6443320" y="5742432"/>
            <a:ext cx="0" cy="457200"/>
          </a:xfrm>
          <a:prstGeom prst="line">
            <a:avLst/>
          </a:prstGeom>
          <a:noFill/>
          <a:ln w="12700">
            <a:solidFill>
              <a:srgbClr val="D8CFC4"/>
            </a:solidFill>
            <a:prstDash val="solid"/>
            <a:headEnd type="none"/>
            <a:tailEnd type="none"/>
          </a:ln>
        </p:spPr>
      </p:sp>
      <p:sp>
        <p:nvSpPr>
          <p:cNvPr id="41" name="Text 38"/>
          <p:cNvSpPr txBox="1"/>
          <p:nvPr/>
        </p:nvSpPr>
        <p:spPr>
          <a:xfrm>
            <a:off x="6699352"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42" name="Text 39"/>
          <p:cNvSpPr txBox="1"/>
          <p:nvPr/>
        </p:nvSpPr>
        <p:spPr>
          <a:xfrm>
            <a:off x="6699352" y="5943600"/>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«Siempre estorba: por eso mejor no usar mocks.»</a:t>
            </a:r>
            <a:endParaRPr lang="en-US" sz="106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66</a:t>
            </a:r>
            <a:endParaRPr lang="en-US" sz="1400" dirty="0"/>
          </a:p>
        </p:txBody>
      </p:sp>
      <p:sp>
        <p:nvSpPr>
          <p:cNvPr id="8" name="Text 5"/>
          <p:cNvSpPr txBox="1"/>
          <p:nvPr/>
        </p:nvSpPr>
        <p:spPr>
          <a:xfrm>
            <a:off x="658368" y="1572768"/>
            <a:ext cx="27432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4 DE 4</a:t>
            </a:r>
            <a:endParaRPr lang="en-US" sz="960" dirty="0"/>
          </a:p>
        </p:txBody>
      </p:sp>
      <p:sp>
        <p:nvSpPr>
          <p:cNvPr id="9" name="Text 6"/>
          <p:cNvSpPr txBox="1"/>
          <p:nvPr/>
        </p:nvSpPr>
        <p:spPr>
          <a:xfrm>
            <a:off x="658368" y="1920240"/>
            <a:ext cx="9692640" cy="1133856"/>
          </a:xfrm>
          <a:prstGeom prst="rect">
            <a:avLst/>
          </a:prstGeom>
          <a:noFill/>
          <a:ln/>
        </p:spPr>
        <p:txBody>
          <a:bodyPr wrap="square" lIns="0" tIns="0" rIns="0" bIns="0" rtlCol="0" anchor="t"/>
          <a:lstStyle/>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Auditar una suite</a:t>
            </a:r>
            <a:endParaRPr lang="en-US" sz="4000" dirty="0"/>
          </a:p>
          <a:p>
            <a:pPr algn="l" indent="0" marL="0">
              <a:lnSpc>
                <a:spcPct val="104000"/>
              </a:lnSpc>
              <a:buNone/>
            </a:pPr>
            <a:r>
              <a:rPr lang="en-US" sz="4000" b="1" dirty="0">
                <a:solidFill>
                  <a:srgbClr val="FFFFFF"/>
                </a:solidFill>
                <a:latin typeface="Aptos Display" pitchFamily="34" charset="0"/>
                <a:ea typeface="Aptos Display" pitchFamily="34" charset="-122"/>
                <a:cs typeface="Aptos Display" pitchFamily="34" charset="-120"/>
              </a:rPr>
              <a:t>que uno no escribió</a:t>
            </a:r>
            <a:endParaRPr lang="en-US" sz="4000" dirty="0"/>
          </a:p>
        </p:txBody>
      </p:sp>
      <p:sp>
        <p:nvSpPr>
          <p:cNvPr id="10" name="Shape 7"/>
          <p:cNvSpPr/>
          <p:nvPr/>
        </p:nvSpPr>
        <p:spPr>
          <a:xfrm>
            <a:off x="658368" y="3218688"/>
            <a:ext cx="3108960" cy="0"/>
          </a:xfrm>
          <a:prstGeom prst="line">
            <a:avLst/>
          </a:prstGeom>
          <a:noFill/>
          <a:ln w="12700">
            <a:solidFill>
              <a:srgbClr val="E0BC5A"/>
            </a:solidFill>
            <a:prstDash val="solid"/>
            <a:headEnd type="none"/>
            <a:tailEnd type="none"/>
          </a:ln>
        </p:spPr>
      </p:sp>
      <p:sp>
        <p:nvSpPr>
          <p:cNvPr id="11" name="Text 8"/>
          <p:cNvSpPr txBox="1"/>
          <p:nvPr/>
        </p:nvSpPr>
        <p:spPr>
          <a:xfrm>
            <a:off x="658368" y="3474720"/>
            <a:ext cx="9326880" cy="822960"/>
          </a:xfrm>
          <a:prstGeom prst="rect">
            <a:avLst/>
          </a:prstGeom>
          <a:noFill/>
          <a:ln/>
        </p:spPr>
        <p:txBody>
          <a:bodyPr wrap="square" lIns="0" tIns="0" rIns="0" bIns="0" rtlCol="0" anchor="t"/>
          <a:lstStyle/>
          <a:p>
            <a:pPr algn="l" indent="0" marL="0">
              <a:lnSpc>
                <a:spcPct val="116000"/>
              </a:lnSpc>
              <a:buNone/>
            </a:pPr>
            <a:r>
              <a:rPr lang="en-US" sz="1700" i="1" dirty="0">
                <a:solidFill>
                  <a:srgbClr val="E6EEF7"/>
                </a:solidFill>
                <a:latin typeface="Aptos" pitchFamily="34" charset="0"/>
                <a:ea typeface="Aptos" pitchFamily="34" charset="-122"/>
                <a:cs typeface="Aptos" pitchFamily="34" charset="-120"/>
              </a:rPr>
              <a:t>La suite llega en verde. La auditoría decide si verifica el requisito o si solo repite el código que encontró.</a:t>
            </a:r>
            <a:endParaRPr lang="en-US" sz="1700" dirty="0"/>
          </a:p>
        </p:txBody>
      </p:sp>
      <p:sp>
        <p:nvSpPr>
          <p:cNvPr id="12" name="Text 9"/>
          <p:cNvSpPr txBox="1"/>
          <p:nvPr/>
        </p:nvSpPr>
        <p:spPr>
          <a:xfrm>
            <a:off x="658368" y="4846320"/>
            <a:ext cx="5486400" cy="201168"/>
          </a:xfrm>
          <a:prstGeom prst="rect">
            <a:avLst/>
          </a:prstGeom>
          <a:noFill/>
          <a:ln/>
        </p:spPr>
        <p:txBody>
          <a:bodyPr wrap="square" lIns="0" tIns="0" rIns="0" bIns="0" rtlCol="0" anchor="t"/>
          <a:lstStyle/>
          <a:p>
            <a:pPr algn="l" indent="0" marL="0">
              <a:buNone/>
            </a:pPr>
            <a:r>
              <a:rPr lang="en-US" sz="960" b="1" spc="130" kern="0" dirty="0">
                <a:solidFill>
                  <a:srgbClr val="EADFD0"/>
                </a:solidFill>
                <a:latin typeface="Aptos" pitchFamily="34" charset="0"/>
                <a:ea typeface="Aptos" pitchFamily="34" charset="-122"/>
                <a:cs typeface="Aptos" pitchFamily="34" charset="-120"/>
              </a:rPr>
              <a:t>QUÉ PREGUNTA INTERROGA ESTE BLOQUE</a:t>
            </a:r>
            <a:endParaRPr lang="en-US" sz="960" dirty="0"/>
          </a:p>
        </p:txBody>
      </p:sp>
      <p:sp>
        <p:nvSpPr>
          <p:cNvPr id="13" name="Shape 10"/>
          <p:cNvSpPr/>
          <p:nvPr/>
        </p:nvSpPr>
        <p:spPr>
          <a:xfrm>
            <a:off x="658368" y="5120640"/>
            <a:ext cx="3493008" cy="566928"/>
          </a:xfrm>
          <a:prstGeom prst="rect">
            <a:avLst/>
          </a:prstGeom>
          <a:solidFill>
            <a:srgbClr val="E0BC5A"/>
          </a:solidFill>
          <a:ln w="12700">
            <a:solidFill>
              <a:srgbClr val="E0BC5A"/>
            </a:solidFill>
            <a:prstDash val="solid"/>
          </a:ln>
        </p:spPr>
      </p:sp>
      <p:sp>
        <p:nvSpPr>
          <p:cNvPr id="14" name="Text 11"/>
          <p:cNvSpPr txBox="1"/>
          <p:nvPr/>
        </p:nvSpPr>
        <p:spPr>
          <a:xfrm>
            <a:off x="841248" y="5184648"/>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¿Qué recorrió?</a:t>
            </a:r>
            <a:endParaRPr lang="en-US" sz="1300" dirty="0"/>
          </a:p>
        </p:txBody>
      </p:sp>
      <p:sp>
        <p:nvSpPr>
          <p:cNvPr id="15" name="Text 12"/>
          <p:cNvSpPr txBox="1"/>
          <p:nvPr/>
        </p:nvSpPr>
        <p:spPr>
          <a:xfrm>
            <a:off x="841248" y="5431536"/>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La cobertura lo mide</a:t>
            </a:r>
            <a:endParaRPr lang="en-US" sz="980" dirty="0"/>
          </a:p>
        </p:txBody>
      </p:sp>
      <p:sp>
        <p:nvSpPr>
          <p:cNvPr id="16" name="Shape 13"/>
          <p:cNvSpPr/>
          <p:nvPr/>
        </p:nvSpPr>
        <p:spPr>
          <a:xfrm>
            <a:off x="4206240" y="5404104"/>
            <a:ext cx="219456" cy="0"/>
          </a:xfrm>
          <a:prstGeom prst="line">
            <a:avLst/>
          </a:prstGeom>
          <a:noFill/>
          <a:ln w="12700">
            <a:solidFill>
              <a:srgbClr val="EADFD0"/>
            </a:solidFill>
            <a:prstDash val="solid"/>
            <a:headEnd type="none"/>
            <a:tailEnd type="triangle"/>
          </a:ln>
        </p:spPr>
      </p:sp>
      <p:sp>
        <p:nvSpPr>
          <p:cNvPr id="17" name="Shape 14"/>
          <p:cNvSpPr/>
          <p:nvPr/>
        </p:nvSpPr>
        <p:spPr>
          <a:xfrm>
            <a:off x="4480560" y="5120640"/>
            <a:ext cx="3493008" cy="566928"/>
          </a:xfrm>
          <a:prstGeom prst="rect">
            <a:avLst/>
          </a:prstGeom>
          <a:solidFill>
            <a:srgbClr val="E0BC5A"/>
          </a:solidFill>
          <a:ln w="12700">
            <a:solidFill>
              <a:srgbClr val="E0BC5A"/>
            </a:solidFill>
            <a:prstDash val="solid"/>
          </a:ln>
        </p:spPr>
      </p:sp>
      <p:sp>
        <p:nvSpPr>
          <p:cNvPr id="18" name="Text 15"/>
          <p:cNvSpPr txBox="1"/>
          <p:nvPr/>
        </p:nvSpPr>
        <p:spPr>
          <a:xfrm>
            <a:off x="4663440" y="5184648"/>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¿Qué comprobó?</a:t>
            </a:r>
            <a:endParaRPr lang="en-US" sz="1300" dirty="0"/>
          </a:p>
        </p:txBody>
      </p:sp>
      <p:sp>
        <p:nvSpPr>
          <p:cNvPr id="19" name="Text 16"/>
          <p:cNvSpPr txBox="1"/>
          <p:nvPr/>
        </p:nvSpPr>
        <p:spPr>
          <a:xfrm>
            <a:off x="4663440" y="5431536"/>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Solo la aserción lo dice</a:t>
            </a:r>
            <a:endParaRPr lang="en-US" sz="980" dirty="0"/>
          </a:p>
        </p:txBody>
      </p:sp>
      <p:sp>
        <p:nvSpPr>
          <p:cNvPr id="20" name="Shape 17"/>
          <p:cNvSpPr/>
          <p:nvPr/>
        </p:nvSpPr>
        <p:spPr>
          <a:xfrm>
            <a:off x="8028432" y="5404104"/>
            <a:ext cx="219456" cy="0"/>
          </a:xfrm>
          <a:prstGeom prst="line">
            <a:avLst/>
          </a:prstGeom>
          <a:noFill/>
          <a:ln w="12700">
            <a:solidFill>
              <a:srgbClr val="EADFD0"/>
            </a:solidFill>
            <a:prstDash val="solid"/>
            <a:headEnd type="none"/>
            <a:tailEnd type="triangle"/>
          </a:ln>
        </p:spPr>
      </p:sp>
      <p:sp>
        <p:nvSpPr>
          <p:cNvPr id="21" name="Shape 18"/>
          <p:cNvSpPr/>
          <p:nvPr/>
        </p:nvSpPr>
        <p:spPr>
          <a:xfrm>
            <a:off x="8302752" y="5120640"/>
            <a:ext cx="3493008" cy="566928"/>
          </a:xfrm>
          <a:prstGeom prst="rect">
            <a:avLst/>
          </a:prstGeom>
          <a:solidFill>
            <a:srgbClr val="E0BC5A"/>
          </a:solidFill>
          <a:ln w="12700">
            <a:solidFill>
              <a:srgbClr val="E0BC5A"/>
            </a:solidFill>
            <a:prstDash val="solid"/>
          </a:ln>
        </p:spPr>
      </p:sp>
      <p:sp>
        <p:nvSpPr>
          <p:cNvPr id="22" name="Text 19"/>
          <p:cNvSpPr txBox="1"/>
          <p:nvPr/>
        </p:nvSpPr>
        <p:spPr>
          <a:xfrm>
            <a:off x="8485632" y="5184648"/>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¿Contra qué?</a:t>
            </a:r>
            <a:endParaRPr lang="en-US" sz="1300" dirty="0"/>
          </a:p>
        </p:txBody>
      </p:sp>
      <p:sp>
        <p:nvSpPr>
          <p:cNvPr id="23" name="Text 20"/>
          <p:cNvSpPr txBox="1"/>
          <p:nvPr/>
        </p:nvSpPr>
        <p:spPr>
          <a:xfrm>
            <a:off x="8485632" y="5431536"/>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El requisito, o un supuesto</a:t>
            </a:r>
            <a:endParaRPr lang="en-US" sz="9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SUITE QUE LLEGA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700" b="1" dirty="0">
                <a:solidFill>
                  <a:srgbClr val="243B53"/>
                </a:solidFill>
                <a:latin typeface="Aptos Display" pitchFamily="34" charset="0"/>
                <a:ea typeface="Aptos Display" pitchFamily="34" charset="-122"/>
                <a:cs typeface="Aptos Display" pitchFamily="34" charset="-120"/>
              </a:rPr>
              <a:t>Cuatro pruebas legibles, cuatro aserciones reales</a:t>
            </a:r>
            <a:endParaRPr lang="en-US" sz="2700" dirty="0"/>
          </a:p>
        </p:txBody>
      </p:sp>
      <p:sp>
        <p:nvSpPr>
          <p:cNvPr id="10" name="Text 7"/>
          <p:cNvSpPr txBox="1"/>
          <p:nvPr/>
        </p:nvSpPr>
        <p:spPr>
          <a:xfrm>
            <a:off x="658368" y="1773936"/>
            <a:ext cx="1033272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No hay pruebas vacías ni nombres genéricos. Una revisión superficial encuentra una suite razonable.</a:t>
            </a:r>
            <a:endParaRPr lang="en-US" sz="1450" dirty="0"/>
          </a:p>
        </p:txBody>
      </p:sp>
      <p:sp>
        <p:nvSpPr>
          <p:cNvPr id="11" name="Shape 8"/>
          <p:cNvSpPr/>
          <p:nvPr/>
        </p:nvSpPr>
        <p:spPr>
          <a:xfrm>
            <a:off x="658368" y="2395728"/>
            <a:ext cx="10872216" cy="3145536"/>
          </a:xfrm>
          <a:prstGeom prst="roundRect">
            <a:avLst>
              <a:gd name="adj" fmla="val 1163"/>
            </a:avLst>
          </a:prstGeom>
          <a:solidFill>
            <a:srgbClr val="102A43"/>
          </a:solidFill>
          <a:ln w="12700">
            <a:solidFill>
              <a:srgbClr val="102A43"/>
            </a:solidFill>
            <a:prstDash val="solid"/>
          </a:ln>
        </p:spPr>
      </p:sp>
      <p:sp>
        <p:nvSpPr>
          <p:cNvPr id="12" name="Shape 9"/>
          <p:cNvSpPr/>
          <p:nvPr/>
        </p:nvSpPr>
        <p:spPr>
          <a:xfrm>
            <a:off x="786384" y="2505456"/>
            <a:ext cx="10616184"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78608"/>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test_suite_recibida.py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62656"/>
            <a:ext cx="10451592" cy="2395728"/>
          </a:xfrm>
          <a:prstGeom prst="rect">
            <a:avLst/>
          </a:prstGeom>
        </p:spPr>
      </p:pic>
      <p:sp>
        <p:nvSpPr>
          <p:cNvPr id="15" name="Shape 11"/>
          <p:cNvSpPr/>
          <p:nvPr/>
        </p:nvSpPr>
        <p:spPr>
          <a:xfrm>
            <a:off x="658368" y="5669280"/>
            <a:ext cx="10874959" cy="493776"/>
          </a:xfrm>
          <a:prstGeom prst="rect">
            <a:avLst/>
          </a:prstGeom>
          <a:solidFill>
            <a:srgbClr val="102A43"/>
          </a:solidFill>
          <a:ln w="12700">
            <a:solidFill>
              <a:srgbClr val="102A43"/>
            </a:solidFill>
            <a:prstDash val="solid"/>
          </a:ln>
        </p:spPr>
      </p:sp>
      <p:sp>
        <p:nvSpPr>
          <p:cNvPr id="16" name="Text 12"/>
          <p:cNvSpPr txBox="1"/>
          <p:nvPr/>
        </p:nvSpPr>
        <p:spPr>
          <a:xfrm>
            <a:off x="969264" y="5705856"/>
            <a:ext cx="10253167" cy="420624"/>
          </a:xfrm>
          <a:prstGeom prst="rect">
            <a:avLst/>
          </a:prstGeom>
          <a:noFill/>
          <a:ln/>
        </p:spPr>
        <p:txBody>
          <a:bodyPr wrap="square" lIns="0" tIns="0" rIns="0" bIns="0" rtlCol="0" anchor="ctr"/>
          <a:lstStyle/>
          <a:p>
            <a:pPr algn="ctr" indent="0" marL="0">
              <a:lnSpc>
                <a:spcPct val="110000"/>
              </a:lnSpc>
              <a:buNone/>
            </a:pPr>
            <a:r>
              <a:rPr lang="en-US" sz="1360" b="1" dirty="0">
                <a:solidFill>
                  <a:srgbClr val="FFFFFF"/>
                </a:solidFill>
                <a:latin typeface="Aptos" pitchFamily="34" charset="0"/>
                <a:ea typeface="Aptos" pitchFamily="34" charset="-122"/>
                <a:cs typeface="Aptos" pitchFamily="34" charset="-120"/>
              </a:rPr>
              <a:t>Todavía no sabemos de dónde salieron los esperados ni qué cambios detectan.</a:t>
            </a:r>
            <a:endParaRPr lang="en-US" sz="136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PRIMERA LECTURA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Verde, 83 %, y tres formas de decir que no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columna Missing entrega la primera pista antes de aplicar los tres criterios de auditoría.</a:t>
            </a:r>
            <a:endParaRPr lang="en-US" sz="1450" dirty="0"/>
          </a:p>
        </p:txBody>
      </p:sp>
      <p:sp>
        <p:nvSpPr>
          <p:cNvPr id="11" name="Shape 8"/>
          <p:cNvSpPr/>
          <p:nvPr/>
        </p:nvSpPr>
        <p:spPr>
          <a:xfrm>
            <a:off x="658368" y="2359152"/>
            <a:ext cx="3730752" cy="1188720"/>
          </a:xfrm>
          <a:prstGeom prst="roundRect">
            <a:avLst>
              <a:gd name="adj" fmla="val 3077"/>
            </a:avLst>
          </a:prstGeom>
          <a:solidFill>
            <a:srgbClr val="0F1720"/>
          </a:solidFill>
          <a:ln w="12700">
            <a:solidFill>
              <a:srgbClr val="0F1720"/>
            </a:solidFill>
            <a:prstDash val="solid"/>
          </a:ln>
        </p:spPr>
      </p:sp>
      <p:sp>
        <p:nvSpPr>
          <p:cNvPr id="12" name="Shape 9"/>
          <p:cNvSpPr/>
          <p:nvPr/>
        </p:nvSpPr>
        <p:spPr>
          <a:xfrm>
            <a:off x="786384" y="2468880"/>
            <a:ext cx="3474720"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42032"/>
            <a:ext cx="3218688"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Resultado de la suite</a:t>
            </a:r>
            <a:endParaRPr lang="en-US" sz="1000" dirty="0"/>
          </a:p>
        </p:txBody>
      </p:sp>
      <p:sp>
        <p:nvSpPr>
          <p:cNvPr id="14" name="Text 11"/>
          <p:cNvSpPr/>
          <p:nvPr/>
        </p:nvSpPr>
        <p:spPr>
          <a:xfrm>
            <a:off x="877824" y="2926080"/>
            <a:ext cx="2980944"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                         [100%]</a:t>
            </a:r>
            <a:endParaRPr lang="en-US" sz="1040" dirty="0"/>
          </a:p>
        </p:txBody>
      </p:sp>
      <p:sp>
        <p:nvSpPr>
          <p:cNvPr id="15" name="Text 12"/>
          <p:cNvSpPr/>
          <p:nvPr/>
        </p:nvSpPr>
        <p:spPr>
          <a:xfrm>
            <a:off x="877824" y="3182112"/>
            <a:ext cx="2980944"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4 passed in 0.09s</a:t>
            </a:r>
            <a:endParaRPr lang="en-US" sz="1040" dirty="0"/>
          </a:p>
        </p:txBody>
      </p:sp>
      <p:sp>
        <p:nvSpPr>
          <p:cNvPr id="16" name="Shape 13"/>
          <p:cNvSpPr/>
          <p:nvPr/>
        </p:nvSpPr>
        <p:spPr>
          <a:xfrm>
            <a:off x="4626864" y="2359152"/>
            <a:ext cx="6903720" cy="1664208"/>
          </a:xfrm>
          <a:prstGeom prst="rect">
            <a:avLst/>
          </a:prstGeom>
          <a:solidFill>
            <a:srgbClr val="0F1720"/>
          </a:solidFill>
          <a:ln w="12700">
            <a:solidFill>
              <a:srgbClr val="0F1720"/>
            </a:solidFill>
            <a:prstDash val="solid"/>
          </a:ln>
        </p:spPr>
      </p:sp>
      <p:sp>
        <p:nvSpPr>
          <p:cNvPr id="17" name="Shape 14"/>
          <p:cNvSpPr/>
          <p:nvPr/>
        </p:nvSpPr>
        <p:spPr>
          <a:xfrm>
            <a:off x="4626864" y="2359152"/>
            <a:ext cx="6903720" cy="292608"/>
          </a:xfrm>
          <a:prstGeom prst="rect">
            <a:avLst/>
          </a:prstGeom>
          <a:solidFill>
            <a:srgbClr val="1D3A57"/>
          </a:solidFill>
          <a:ln w="12700">
            <a:solidFill>
              <a:srgbClr val="1D3A57"/>
            </a:solidFill>
            <a:prstDash val="solid"/>
          </a:ln>
        </p:spPr>
      </p:sp>
      <p:sp>
        <p:nvSpPr>
          <p:cNvPr id="18" name="Text 15"/>
          <p:cNvSpPr txBox="1"/>
          <p:nvPr/>
        </p:nvSpPr>
        <p:spPr>
          <a:xfrm>
            <a:off x="4828032" y="2404872"/>
            <a:ext cx="6501384" cy="201168"/>
          </a:xfrm>
          <a:prstGeom prst="rect">
            <a:avLst/>
          </a:prstGeom>
          <a:noFill/>
          <a:ln/>
        </p:spPr>
        <p:txBody>
          <a:bodyPr wrap="square" lIns="0" tIns="0" rIns="0" bIns="0" rtlCol="0" anchor="t"/>
          <a:lstStyle/>
          <a:p>
            <a:pPr algn="l" indent="0" marL="0">
              <a:buNone/>
            </a:pPr>
            <a:r>
              <a:rPr lang="en-US" sz="940" b="1" spc="60" kern="0" dirty="0">
                <a:solidFill>
                  <a:srgbClr val="EADFD0"/>
                </a:solidFill>
                <a:latin typeface="Aptos" pitchFamily="34" charset="0"/>
                <a:ea typeface="Aptos" pitchFamily="34" charset="-122"/>
                <a:cs typeface="Aptos" pitchFamily="34" charset="-120"/>
              </a:rPr>
              <a:t>Cobertura con ramas</a:t>
            </a:r>
            <a:endParaRPr lang="en-US" sz="940" dirty="0"/>
          </a:p>
        </p:txBody>
      </p:sp>
      <p:sp>
        <p:nvSpPr>
          <p:cNvPr id="19" name="Shape 16"/>
          <p:cNvSpPr/>
          <p:nvPr/>
        </p:nvSpPr>
        <p:spPr>
          <a:xfrm>
            <a:off x="10250424" y="2706624"/>
            <a:ext cx="1024128" cy="1261872"/>
          </a:xfrm>
          <a:prstGeom prst="rect">
            <a:avLst/>
          </a:prstGeom>
          <a:solidFill>
            <a:srgbClr val="1D3A57"/>
          </a:solidFill>
          <a:ln w="12700">
            <a:solidFill>
              <a:srgbClr val="1D3A57"/>
            </a:solidFill>
            <a:prstDash val="solid"/>
          </a:ln>
        </p:spPr>
      </p:sp>
      <p:sp>
        <p:nvSpPr>
          <p:cNvPr id="20" name="Text 17"/>
          <p:cNvSpPr txBox="1"/>
          <p:nvPr/>
        </p:nvSpPr>
        <p:spPr>
          <a:xfrm>
            <a:off x="4828032" y="2761488"/>
            <a:ext cx="1545336" cy="219456"/>
          </a:xfrm>
          <a:prstGeom prst="rect">
            <a:avLst/>
          </a:prstGeom>
          <a:noFill/>
          <a:ln/>
        </p:spPr>
        <p:txBody>
          <a:bodyPr wrap="square" lIns="0" tIns="0" rIns="0" bIns="0" rtlCol="0" anchor="t"/>
          <a:lstStyle/>
          <a:p>
            <a:pPr algn="l" indent="0" marL="0">
              <a:buNone/>
            </a:pPr>
            <a:r>
              <a:rPr lang="en-US" sz="840" b="1" dirty="0">
                <a:solidFill>
                  <a:srgbClr val="8AA0B6"/>
                </a:solidFill>
                <a:latin typeface="Consolas" pitchFamily="34" charset="0"/>
                <a:ea typeface="Consolas" pitchFamily="34" charset="-122"/>
                <a:cs typeface="Consolas" pitchFamily="34" charset="-120"/>
              </a:rPr>
              <a:t>Name</a:t>
            </a:r>
            <a:endParaRPr lang="en-US" sz="840" dirty="0"/>
          </a:p>
        </p:txBody>
      </p:sp>
      <p:sp>
        <p:nvSpPr>
          <p:cNvPr id="21" name="Text 18"/>
          <p:cNvSpPr txBox="1"/>
          <p:nvPr/>
        </p:nvSpPr>
        <p:spPr>
          <a:xfrm>
            <a:off x="6428232" y="2761488"/>
            <a:ext cx="457200" cy="219456"/>
          </a:xfrm>
          <a:prstGeom prst="rect">
            <a:avLst/>
          </a:prstGeom>
          <a:noFill/>
          <a:ln/>
        </p:spPr>
        <p:txBody>
          <a:bodyPr wrap="square" lIns="0" tIns="0" rIns="0" bIns="0" rtlCol="0" anchor="t"/>
          <a:lstStyle/>
          <a:p>
            <a:pPr algn="r" indent="0" marL="0">
              <a:buNone/>
            </a:pPr>
            <a:r>
              <a:rPr lang="en-US" sz="840" b="1" dirty="0">
                <a:solidFill>
                  <a:srgbClr val="8AA0B6"/>
                </a:solidFill>
                <a:latin typeface="Consolas" pitchFamily="34" charset="0"/>
                <a:ea typeface="Consolas" pitchFamily="34" charset="-122"/>
                <a:cs typeface="Consolas" pitchFamily="34" charset="-120"/>
              </a:rPr>
              <a:t>Stmts</a:t>
            </a:r>
            <a:endParaRPr lang="en-US" sz="840" dirty="0"/>
          </a:p>
        </p:txBody>
      </p:sp>
      <p:sp>
        <p:nvSpPr>
          <p:cNvPr id="22" name="Text 19"/>
          <p:cNvSpPr txBox="1"/>
          <p:nvPr/>
        </p:nvSpPr>
        <p:spPr>
          <a:xfrm>
            <a:off x="7141464" y="2761488"/>
            <a:ext cx="402336" cy="219456"/>
          </a:xfrm>
          <a:prstGeom prst="rect">
            <a:avLst/>
          </a:prstGeom>
          <a:noFill/>
          <a:ln/>
        </p:spPr>
        <p:txBody>
          <a:bodyPr wrap="square" lIns="0" tIns="0" rIns="0" bIns="0" rtlCol="0" anchor="t"/>
          <a:lstStyle/>
          <a:p>
            <a:pPr algn="r" indent="0" marL="0">
              <a:buNone/>
            </a:pPr>
            <a:r>
              <a:rPr lang="en-US" sz="840" b="1" dirty="0">
                <a:solidFill>
                  <a:srgbClr val="8AA0B6"/>
                </a:solidFill>
                <a:latin typeface="Consolas" pitchFamily="34" charset="0"/>
                <a:ea typeface="Consolas" pitchFamily="34" charset="-122"/>
                <a:cs typeface="Consolas" pitchFamily="34" charset="-120"/>
              </a:rPr>
              <a:t>Miss</a:t>
            </a:r>
            <a:endParaRPr lang="en-US" sz="840" dirty="0"/>
          </a:p>
        </p:txBody>
      </p:sp>
      <p:sp>
        <p:nvSpPr>
          <p:cNvPr id="23" name="Text 20"/>
          <p:cNvSpPr txBox="1"/>
          <p:nvPr/>
        </p:nvSpPr>
        <p:spPr>
          <a:xfrm>
            <a:off x="7799832" y="2761488"/>
            <a:ext cx="603504" cy="219456"/>
          </a:xfrm>
          <a:prstGeom prst="rect">
            <a:avLst/>
          </a:prstGeom>
          <a:noFill/>
          <a:ln/>
        </p:spPr>
        <p:txBody>
          <a:bodyPr wrap="square" lIns="0" tIns="0" rIns="0" bIns="0" rtlCol="0" anchor="t"/>
          <a:lstStyle/>
          <a:p>
            <a:pPr algn="r" indent="0" marL="0">
              <a:buNone/>
            </a:pPr>
            <a:r>
              <a:rPr lang="en-US" sz="840" b="1" dirty="0">
                <a:solidFill>
                  <a:srgbClr val="8AA0B6"/>
                </a:solidFill>
                <a:latin typeface="Consolas" pitchFamily="34" charset="0"/>
                <a:ea typeface="Consolas" pitchFamily="34" charset="-122"/>
                <a:cs typeface="Consolas" pitchFamily="34" charset="-120"/>
              </a:rPr>
              <a:t>Branch</a:t>
            </a:r>
            <a:endParaRPr lang="en-US" sz="840" dirty="0"/>
          </a:p>
        </p:txBody>
      </p:sp>
      <p:sp>
        <p:nvSpPr>
          <p:cNvPr id="24" name="Text 21"/>
          <p:cNvSpPr txBox="1"/>
          <p:nvPr/>
        </p:nvSpPr>
        <p:spPr>
          <a:xfrm>
            <a:off x="8659368" y="2761488"/>
            <a:ext cx="566928" cy="219456"/>
          </a:xfrm>
          <a:prstGeom prst="rect">
            <a:avLst/>
          </a:prstGeom>
          <a:noFill/>
          <a:ln/>
        </p:spPr>
        <p:txBody>
          <a:bodyPr wrap="square" lIns="0" tIns="0" rIns="0" bIns="0" rtlCol="0" anchor="t"/>
          <a:lstStyle/>
          <a:p>
            <a:pPr algn="r" indent="0" marL="0">
              <a:buNone/>
            </a:pPr>
            <a:r>
              <a:rPr lang="en-US" sz="840" b="1" dirty="0">
                <a:solidFill>
                  <a:srgbClr val="8AA0B6"/>
                </a:solidFill>
                <a:latin typeface="Consolas" pitchFamily="34" charset="0"/>
                <a:ea typeface="Consolas" pitchFamily="34" charset="-122"/>
                <a:cs typeface="Consolas" pitchFamily="34" charset="-120"/>
              </a:rPr>
              <a:t>BrPart</a:t>
            </a:r>
            <a:endParaRPr lang="en-US" sz="840" dirty="0"/>
          </a:p>
        </p:txBody>
      </p:sp>
      <p:sp>
        <p:nvSpPr>
          <p:cNvPr id="25" name="Text 22"/>
          <p:cNvSpPr txBox="1"/>
          <p:nvPr/>
        </p:nvSpPr>
        <p:spPr>
          <a:xfrm>
            <a:off x="9482328" y="2761488"/>
            <a:ext cx="530352" cy="219456"/>
          </a:xfrm>
          <a:prstGeom prst="rect">
            <a:avLst/>
          </a:prstGeom>
          <a:noFill/>
          <a:ln/>
        </p:spPr>
        <p:txBody>
          <a:bodyPr wrap="square" lIns="0" tIns="0" rIns="0" bIns="0" rtlCol="0" anchor="t"/>
          <a:lstStyle/>
          <a:p>
            <a:pPr algn="r" indent="0" marL="0">
              <a:buNone/>
            </a:pPr>
            <a:r>
              <a:rPr lang="en-US" sz="840" b="1" dirty="0">
                <a:solidFill>
                  <a:srgbClr val="8AA0B6"/>
                </a:solidFill>
                <a:latin typeface="Consolas" pitchFamily="34" charset="0"/>
                <a:ea typeface="Consolas" pitchFamily="34" charset="-122"/>
                <a:cs typeface="Consolas" pitchFamily="34" charset="-120"/>
              </a:rPr>
              <a:t>Cover</a:t>
            </a:r>
            <a:endParaRPr lang="en-US" sz="840" dirty="0"/>
          </a:p>
        </p:txBody>
      </p:sp>
      <p:sp>
        <p:nvSpPr>
          <p:cNvPr id="26" name="Text 23"/>
          <p:cNvSpPr txBox="1"/>
          <p:nvPr/>
        </p:nvSpPr>
        <p:spPr>
          <a:xfrm>
            <a:off x="10268712" y="2761488"/>
            <a:ext cx="969264" cy="219456"/>
          </a:xfrm>
          <a:prstGeom prst="rect">
            <a:avLst/>
          </a:prstGeom>
          <a:noFill/>
          <a:ln/>
        </p:spPr>
        <p:txBody>
          <a:bodyPr wrap="square" lIns="0" tIns="0" rIns="0" bIns="0" rtlCol="0" anchor="t"/>
          <a:lstStyle/>
          <a:p>
            <a:pPr algn="l" indent="0" marL="0">
              <a:buNone/>
            </a:pPr>
            <a:r>
              <a:rPr lang="en-US" sz="840" b="1" dirty="0">
                <a:solidFill>
                  <a:srgbClr val="E0BC5A"/>
                </a:solidFill>
                <a:latin typeface="Consolas" pitchFamily="34" charset="0"/>
                <a:ea typeface="Consolas" pitchFamily="34" charset="-122"/>
                <a:cs typeface="Consolas" pitchFamily="34" charset="-120"/>
              </a:rPr>
              <a:t>Missing</a:t>
            </a:r>
            <a:endParaRPr lang="en-US" sz="840" dirty="0"/>
          </a:p>
        </p:txBody>
      </p:sp>
      <p:sp>
        <p:nvSpPr>
          <p:cNvPr id="27" name="Shape 24"/>
          <p:cNvSpPr/>
          <p:nvPr/>
        </p:nvSpPr>
        <p:spPr>
          <a:xfrm>
            <a:off x="4828032" y="3017520"/>
            <a:ext cx="6501384" cy="0"/>
          </a:xfrm>
          <a:prstGeom prst="line">
            <a:avLst/>
          </a:prstGeom>
          <a:noFill/>
          <a:ln w="12700">
            <a:solidFill>
              <a:srgbClr val="2C4A66"/>
            </a:solidFill>
            <a:prstDash val="solid"/>
            <a:headEnd type="none"/>
            <a:tailEnd type="none"/>
          </a:ln>
        </p:spPr>
      </p:sp>
      <p:sp>
        <p:nvSpPr>
          <p:cNvPr id="28" name="Text 25"/>
          <p:cNvSpPr txBox="1"/>
          <p:nvPr/>
        </p:nvSpPr>
        <p:spPr>
          <a:xfrm>
            <a:off x="4828032" y="3090672"/>
            <a:ext cx="1545336" cy="256032"/>
          </a:xfrm>
          <a:prstGeom prst="rect">
            <a:avLst/>
          </a:prstGeom>
          <a:noFill/>
          <a:ln/>
        </p:spPr>
        <p:txBody>
          <a:bodyPr wrap="square" lIns="0" tIns="0" rIns="0" bIns="0" rtlCol="0" anchor="t"/>
          <a:lstStyle/>
          <a:p>
            <a:pPr algn="l" indent="0" marL="0">
              <a:buNone/>
            </a:pPr>
            <a:r>
              <a:rPr lang="en-US" sz="840" dirty="0">
                <a:solidFill>
                  <a:srgbClr val="E6EEF7"/>
                </a:solidFill>
                <a:latin typeface="Consolas" pitchFamily="34" charset="0"/>
                <a:ea typeface="Consolas" pitchFamily="34" charset="-122"/>
                <a:cs typeface="Consolas" pitchFamily="34" charset="-120"/>
              </a:rPr>
              <a:t>confirmacion.py</a:t>
            </a:r>
            <a:endParaRPr lang="en-US" sz="840" dirty="0"/>
          </a:p>
        </p:txBody>
      </p:sp>
      <p:sp>
        <p:nvSpPr>
          <p:cNvPr id="29" name="Text 26"/>
          <p:cNvSpPr txBox="1"/>
          <p:nvPr/>
        </p:nvSpPr>
        <p:spPr>
          <a:xfrm>
            <a:off x="6428232" y="3090672"/>
            <a:ext cx="457200"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10</a:t>
            </a:r>
            <a:endParaRPr lang="en-US" sz="840" dirty="0"/>
          </a:p>
        </p:txBody>
      </p:sp>
      <p:sp>
        <p:nvSpPr>
          <p:cNvPr id="30" name="Text 27"/>
          <p:cNvSpPr txBox="1"/>
          <p:nvPr/>
        </p:nvSpPr>
        <p:spPr>
          <a:xfrm>
            <a:off x="7141464" y="3090672"/>
            <a:ext cx="402336"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2</a:t>
            </a:r>
            <a:endParaRPr lang="en-US" sz="840" dirty="0"/>
          </a:p>
        </p:txBody>
      </p:sp>
      <p:sp>
        <p:nvSpPr>
          <p:cNvPr id="31" name="Text 28"/>
          <p:cNvSpPr txBox="1"/>
          <p:nvPr/>
        </p:nvSpPr>
        <p:spPr>
          <a:xfrm>
            <a:off x="7799832" y="3090672"/>
            <a:ext cx="603504"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4</a:t>
            </a:r>
            <a:endParaRPr lang="en-US" sz="840" dirty="0"/>
          </a:p>
        </p:txBody>
      </p:sp>
      <p:sp>
        <p:nvSpPr>
          <p:cNvPr id="32" name="Text 29"/>
          <p:cNvSpPr txBox="1"/>
          <p:nvPr/>
        </p:nvSpPr>
        <p:spPr>
          <a:xfrm>
            <a:off x="8659368" y="3090672"/>
            <a:ext cx="566928"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2</a:t>
            </a:r>
            <a:endParaRPr lang="en-US" sz="840" dirty="0"/>
          </a:p>
        </p:txBody>
      </p:sp>
      <p:sp>
        <p:nvSpPr>
          <p:cNvPr id="33" name="Text 30"/>
          <p:cNvSpPr txBox="1"/>
          <p:nvPr/>
        </p:nvSpPr>
        <p:spPr>
          <a:xfrm>
            <a:off x="9482328" y="3090672"/>
            <a:ext cx="530352"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71%</a:t>
            </a:r>
            <a:endParaRPr lang="en-US" sz="840" dirty="0"/>
          </a:p>
        </p:txBody>
      </p:sp>
      <p:sp>
        <p:nvSpPr>
          <p:cNvPr id="34" name="Text 31"/>
          <p:cNvSpPr txBox="1"/>
          <p:nvPr/>
        </p:nvSpPr>
        <p:spPr>
          <a:xfrm>
            <a:off x="10268712" y="3090672"/>
            <a:ext cx="969264" cy="256032"/>
          </a:xfrm>
          <a:prstGeom prst="rect">
            <a:avLst/>
          </a:prstGeom>
          <a:noFill/>
          <a:ln/>
        </p:spPr>
        <p:txBody>
          <a:bodyPr wrap="square" lIns="0" tIns="0" rIns="0" bIns="0" rtlCol="0" anchor="t"/>
          <a:lstStyle/>
          <a:p>
            <a:pPr algn="l" indent="0" marL="0">
              <a:buNone/>
            </a:pPr>
            <a:r>
              <a:rPr lang="en-US" sz="840" b="1" dirty="0">
                <a:solidFill>
                  <a:srgbClr val="E0BC5A"/>
                </a:solidFill>
                <a:latin typeface="Consolas" pitchFamily="34" charset="0"/>
                <a:ea typeface="Consolas" pitchFamily="34" charset="-122"/>
                <a:cs typeface="Consolas" pitchFamily="34" charset="-120"/>
              </a:rPr>
              <a:t>17, 21</a:t>
            </a:r>
            <a:endParaRPr lang="en-US" sz="840" dirty="0"/>
          </a:p>
        </p:txBody>
      </p:sp>
      <p:sp>
        <p:nvSpPr>
          <p:cNvPr id="35" name="Text 32"/>
          <p:cNvSpPr txBox="1"/>
          <p:nvPr/>
        </p:nvSpPr>
        <p:spPr>
          <a:xfrm>
            <a:off x="4828032" y="3364992"/>
            <a:ext cx="1545336" cy="256032"/>
          </a:xfrm>
          <a:prstGeom prst="rect">
            <a:avLst/>
          </a:prstGeom>
          <a:noFill/>
          <a:ln/>
        </p:spPr>
        <p:txBody>
          <a:bodyPr wrap="square" lIns="0" tIns="0" rIns="0" bIns="0" rtlCol="0" anchor="t"/>
          <a:lstStyle/>
          <a:p>
            <a:pPr algn="l" indent="0" marL="0">
              <a:buNone/>
            </a:pPr>
            <a:r>
              <a:rPr lang="en-US" sz="840" dirty="0">
                <a:solidFill>
                  <a:srgbClr val="E6EEF7"/>
                </a:solidFill>
                <a:latin typeface="Consolas" pitchFamily="34" charset="0"/>
                <a:ea typeface="Consolas" pitchFamily="34" charset="-122"/>
                <a:cs typeface="Consolas" pitchFamily="34" charset="-120"/>
              </a:rPr>
              <a:t>reservas.py</a:t>
            </a:r>
            <a:endParaRPr lang="en-US" sz="840" dirty="0"/>
          </a:p>
        </p:txBody>
      </p:sp>
      <p:sp>
        <p:nvSpPr>
          <p:cNvPr id="36" name="Text 33"/>
          <p:cNvSpPr txBox="1"/>
          <p:nvPr/>
        </p:nvSpPr>
        <p:spPr>
          <a:xfrm>
            <a:off x="6428232" y="3364992"/>
            <a:ext cx="457200"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17</a:t>
            </a:r>
            <a:endParaRPr lang="en-US" sz="840" dirty="0"/>
          </a:p>
        </p:txBody>
      </p:sp>
      <p:sp>
        <p:nvSpPr>
          <p:cNvPr id="37" name="Text 34"/>
          <p:cNvSpPr txBox="1"/>
          <p:nvPr/>
        </p:nvSpPr>
        <p:spPr>
          <a:xfrm>
            <a:off x="7141464" y="3364992"/>
            <a:ext cx="402336"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1</a:t>
            </a:r>
            <a:endParaRPr lang="en-US" sz="840" dirty="0"/>
          </a:p>
        </p:txBody>
      </p:sp>
      <p:sp>
        <p:nvSpPr>
          <p:cNvPr id="38" name="Text 35"/>
          <p:cNvSpPr txBox="1"/>
          <p:nvPr/>
        </p:nvSpPr>
        <p:spPr>
          <a:xfrm>
            <a:off x="7799832" y="3364992"/>
            <a:ext cx="603504"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4</a:t>
            </a:r>
            <a:endParaRPr lang="en-US" sz="840" dirty="0"/>
          </a:p>
        </p:txBody>
      </p:sp>
      <p:sp>
        <p:nvSpPr>
          <p:cNvPr id="39" name="Text 36"/>
          <p:cNvSpPr txBox="1"/>
          <p:nvPr/>
        </p:nvSpPr>
        <p:spPr>
          <a:xfrm>
            <a:off x="8659368" y="3364992"/>
            <a:ext cx="566928"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1</a:t>
            </a:r>
            <a:endParaRPr lang="en-US" sz="840" dirty="0"/>
          </a:p>
        </p:txBody>
      </p:sp>
      <p:sp>
        <p:nvSpPr>
          <p:cNvPr id="40" name="Text 37"/>
          <p:cNvSpPr txBox="1"/>
          <p:nvPr/>
        </p:nvSpPr>
        <p:spPr>
          <a:xfrm>
            <a:off x="9482328" y="3364992"/>
            <a:ext cx="530352"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90%</a:t>
            </a:r>
            <a:endParaRPr lang="en-US" sz="840" dirty="0"/>
          </a:p>
        </p:txBody>
      </p:sp>
      <p:sp>
        <p:nvSpPr>
          <p:cNvPr id="41" name="Text 38"/>
          <p:cNvSpPr txBox="1"/>
          <p:nvPr/>
        </p:nvSpPr>
        <p:spPr>
          <a:xfrm>
            <a:off x="10268712" y="3364992"/>
            <a:ext cx="969264" cy="256032"/>
          </a:xfrm>
          <a:prstGeom prst="rect">
            <a:avLst/>
          </a:prstGeom>
          <a:noFill/>
          <a:ln/>
        </p:spPr>
        <p:txBody>
          <a:bodyPr wrap="square" lIns="0" tIns="0" rIns="0" bIns="0" rtlCol="0" anchor="t"/>
          <a:lstStyle/>
          <a:p>
            <a:pPr algn="l" indent="0" marL="0">
              <a:buNone/>
            </a:pPr>
            <a:r>
              <a:rPr lang="en-US" sz="840" b="1" dirty="0">
                <a:solidFill>
                  <a:srgbClr val="E0BC5A"/>
                </a:solidFill>
                <a:latin typeface="Consolas" pitchFamily="34" charset="0"/>
                <a:ea typeface="Consolas" pitchFamily="34" charset="-122"/>
                <a:cs typeface="Consolas" pitchFamily="34" charset="-120"/>
              </a:rPr>
              <a:t>15</a:t>
            </a:r>
            <a:endParaRPr lang="en-US" sz="840" dirty="0"/>
          </a:p>
        </p:txBody>
      </p:sp>
      <p:sp>
        <p:nvSpPr>
          <p:cNvPr id="42" name="Text 39"/>
          <p:cNvSpPr txBox="1"/>
          <p:nvPr/>
        </p:nvSpPr>
        <p:spPr>
          <a:xfrm>
            <a:off x="4828032" y="3639312"/>
            <a:ext cx="1545336" cy="256032"/>
          </a:xfrm>
          <a:prstGeom prst="rect">
            <a:avLst/>
          </a:prstGeom>
          <a:noFill/>
          <a:ln/>
        </p:spPr>
        <p:txBody>
          <a:bodyPr wrap="square" lIns="0" tIns="0" rIns="0" bIns="0" rtlCol="0" anchor="t"/>
          <a:lstStyle/>
          <a:p>
            <a:pPr algn="l" indent="0" marL="0">
              <a:buNone/>
            </a:pPr>
            <a:r>
              <a:rPr lang="en-US" sz="840" dirty="0">
                <a:solidFill>
                  <a:srgbClr val="E6EEF7"/>
                </a:solidFill>
                <a:latin typeface="Consolas" pitchFamily="34" charset="0"/>
                <a:ea typeface="Consolas" pitchFamily="34" charset="-122"/>
                <a:cs typeface="Consolas" pitchFamily="34" charset="-120"/>
              </a:rPr>
              <a:t>TOTAL</a:t>
            </a:r>
            <a:endParaRPr lang="en-US" sz="840" dirty="0"/>
          </a:p>
        </p:txBody>
      </p:sp>
      <p:sp>
        <p:nvSpPr>
          <p:cNvPr id="43" name="Text 40"/>
          <p:cNvSpPr txBox="1"/>
          <p:nvPr/>
        </p:nvSpPr>
        <p:spPr>
          <a:xfrm>
            <a:off x="6428232" y="3639312"/>
            <a:ext cx="457200"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27</a:t>
            </a:r>
            <a:endParaRPr lang="en-US" sz="840" dirty="0"/>
          </a:p>
        </p:txBody>
      </p:sp>
      <p:sp>
        <p:nvSpPr>
          <p:cNvPr id="44" name="Text 41"/>
          <p:cNvSpPr txBox="1"/>
          <p:nvPr/>
        </p:nvSpPr>
        <p:spPr>
          <a:xfrm>
            <a:off x="7141464" y="3639312"/>
            <a:ext cx="402336"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3</a:t>
            </a:r>
            <a:endParaRPr lang="en-US" sz="840" dirty="0"/>
          </a:p>
        </p:txBody>
      </p:sp>
      <p:sp>
        <p:nvSpPr>
          <p:cNvPr id="45" name="Text 42"/>
          <p:cNvSpPr txBox="1"/>
          <p:nvPr/>
        </p:nvSpPr>
        <p:spPr>
          <a:xfrm>
            <a:off x="7799832" y="3639312"/>
            <a:ext cx="603504"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8</a:t>
            </a:r>
            <a:endParaRPr lang="en-US" sz="840" dirty="0"/>
          </a:p>
        </p:txBody>
      </p:sp>
      <p:sp>
        <p:nvSpPr>
          <p:cNvPr id="46" name="Text 43"/>
          <p:cNvSpPr txBox="1"/>
          <p:nvPr/>
        </p:nvSpPr>
        <p:spPr>
          <a:xfrm>
            <a:off x="8659368" y="3639312"/>
            <a:ext cx="566928"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3</a:t>
            </a:r>
            <a:endParaRPr lang="en-US" sz="840" dirty="0"/>
          </a:p>
        </p:txBody>
      </p:sp>
      <p:sp>
        <p:nvSpPr>
          <p:cNvPr id="47" name="Text 44"/>
          <p:cNvSpPr txBox="1"/>
          <p:nvPr/>
        </p:nvSpPr>
        <p:spPr>
          <a:xfrm>
            <a:off x="9482328" y="3639312"/>
            <a:ext cx="530352" cy="256032"/>
          </a:xfrm>
          <a:prstGeom prst="rect">
            <a:avLst/>
          </a:prstGeom>
          <a:noFill/>
          <a:ln/>
        </p:spPr>
        <p:txBody>
          <a:bodyPr wrap="square" lIns="0" tIns="0" rIns="0" bIns="0" rtlCol="0" anchor="t"/>
          <a:lstStyle/>
          <a:p>
            <a:pPr algn="r" indent="0" marL="0">
              <a:buNone/>
            </a:pPr>
            <a:r>
              <a:rPr lang="en-US" sz="840" dirty="0">
                <a:solidFill>
                  <a:srgbClr val="E6EEF7"/>
                </a:solidFill>
                <a:latin typeface="Consolas" pitchFamily="34" charset="0"/>
                <a:ea typeface="Consolas" pitchFamily="34" charset="-122"/>
                <a:cs typeface="Consolas" pitchFamily="34" charset="-120"/>
              </a:rPr>
              <a:t>83%</a:t>
            </a:r>
            <a:endParaRPr lang="en-US" sz="840" dirty="0"/>
          </a:p>
        </p:txBody>
      </p:sp>
      <p:sp>
        <p:nvSpPr>
          <p:cNvPr id="48" name="Text 45"/>
          <p:cNvSpPr txBox="1"/>
          <p:nvPr/>
        </p:nvSpPr>
        <p:spPr>
          <a:xfrm>
            <a:off x="10268712" y="3639312"/>
            <a:ext cx="969264" cy="256032"/>
          </a:xfrm>
          <a:prstGeom prst="rect">
            <a:avLst/>
          </a:prstGeom>
          <a:noFill/>
          <a:ln/>
        </p:spPr>
        <p:txBody>
          <a:bodyPr wrap="square" lIns="0" tIns="0" rIns="0" bIns="0" rtlCol="0" anchor="t"/>
          <a:lstStyle/>
          <a:p>
            <a:pPr algn="l" indent="0" marL="0">
              <a:buNone/>
            </a:pPr>
            <a:endParaRPr lang="en-US" sz="840" dirty="0"/>
          </a:p>
        </p:txBody>
      </p:sp>
      <p:sp>
        <p:nvSpPr>
          <p:cNvPr id="49" name="Text 46"/>
          <p:cNvSpPr txBox="1"/>
          <p:nvPr/>
        </p:nvSpPr>
        <p:spPr>
          <a:xfrm>
            <a:off x="658368" y="4050792"/>
            <a:ext cx="493776" cy="256032"/>
          </a:xfrm>
          <a:prstGeom prst="rect">
            <a:avLst/>
          </a:prstGeom>
          <a:noFill/>
          <a:ln/>
        </p:spPr>
        <p:txBody>
          <a:bodyPr wrap="square" lIns="0" tIns="0" rIns="0" bIns="0" rtlCol="0" anchor="t"/>
          <a:lstStyle/>
          <a:p>
            <a:pPr algn="ctr" indent="0" marL="0">
              <a:buNone/>
            </a:pPr>
            <a:r>
              <a:rPr lang="en-US" sz="1300" b="1" dirty="0">
                <a:solidFill>
                  <a:srgbClr val="B3181E"/>
                </a:solidFill>
                <a:latin typeface="Consolas" pitchFamily="34" charset="0"/>
                <a:ea typeface="Consolas" pitchFamily="34" charset="-122"/>
                <a:cs typeface="Consolas" pitchFamily="34" charset="-120"/>
              </a:rPr>
              <a:t>17</a:t>
            </a:r>
            <a:endParaRPr lang="en-US" sz="1300" dirty="0"/>
          </a:p>
        </p:txBody>
      </p:sp>
      <p:sp>
        <p:nvSpPr>
          <p:cNvPr id="50" name="Shape 47"/>
          <p:cNvSpPr/>
          <p:nvPr/>
        </p:nvSpPr>
        <p:spPr>
          <a:xfrm>
            <a:off x="1316736" y="4023360"/>
            <a:ext cx="2743200" cy="347472"/>
          </a:xfrm>
          <a:prstGeom prst="rect">
            <a:avLst/>
          </a:prstGeom>
          <a:solidFill>
            <a:srgbClr val="F8E4E5"/>
          </a:solidFill>
          <a:ln w="12700">
            <a:solidFill>
              <a:srgbClr val="F8E4E5"/>
            </a:solidFill>
            <a:prstDash val="solid"/>
          </a:ln>
        </p:spPr>
      </p:sp>
      <p:sp>
        <p:nvSpPr>
          <p:cNvPr id="51" name="Text 48"/>
          <p:cNvSpPr txBox="1"/>
          <p:nvPr/>
        </p:nvSpPr>
        <p:spPr>
          <a:xfrm>
            <a:off x="1481328" y="4078224"/>
            <a:ext cx="2414016" cy="219456"/>
          </a:xfrm>
          <a:prstGeom prst="rect">
            <a:avLst/>
          </a:prstGeom>
          <a:noFill/>
          <a:ln/>
        </p:spPr>
        <p:txBody>
          <a:bodyPr wrap="square" lIns="0" tIns="0" rIns="0" bIns="0" rtlCol="0" anchor="t"/>
          <a:lstStyle/>
          <a:p>
            <a:pPr algn="l" indent="0" marL="0">
              <a:buNone/>
            </a:pPr>
            <a:r>
              <a:rPr lang="en-US" sz="1020" dirty="0">
                <a:solidFill>
                  <a:srgbClr val="243B53"/>
                </a:solidFill>
                <a:latin typeface="Consolas" pitchFamily="34" charset="0"/>
                <a:ea typeface="Consolas" pitchFamily="34" charset="-122"/>
                <a:cs typeface="Consolas" pitchFamily="34" charset="-120"/>
              </a:rPr>
              <a:t>return "rechazada"</a:t>
            </a:r>
            <a:endParaRPr lang="en-US" sz="1020" dirty="0"/>
          </a:p>
        </p:txBody>
      </p:sp>
      <p:sp>
        <p:nvSpPr>
          <p:cNvPr id="52" name="Text 49"/>
          <p:cNvSpPr txBox="1"/>
          <p:nvPr/>
        </p:nvSpPr>
        <p:spPr>
          <a:xfrm>
            <a:off x="4315968" y="4069080"/>
            <a:ext cx="4206240" cy="237744"/>
          </a:xfrm>
          <a:prstGeom prst="rect">
            <a:avLst/>
          </a:prstGeom>
          <a:noFill/>
          <a:ln/>
        </p:spPr>
        <p:txBody>
          <a:bodyPr wrap="square" lIns="0" tIns="0" rIns="0" bIns="0" rtlCol="0" anchor="t"/>
          <a:lstStyle/>
          <a:p>
            <a:pPr algn="l" indent="0" marL="0">
              <a:buNone/>
            </a:pPr>
            <a:r>
              <a:rPr lang="en-US" sz="1150" dirty="0">
                <a:solidFill>
                  <a:srgbClr val="52606D"/>
                </a:solidFill>
                <a:latin typeface="Aptos" pitchFamily="34" charset="0"/>
                <a:ea typeface="Aptos" pitchFamily="34" charset="-122"/>
                <a:cs typeface="Aptos" pitchFamily="34" charset="-120"/>
              </a:rPr>
              <a:t>Cupo agotado</a:t>
            </a:r>
            <a:endParaRPr lang="en-US" sz="1150" dirty="0"/>
          </a:p>
        </p:txBody>
      </p:sp>
      <p:sp>
        <p:nvSpPr>
          <p:cNvPr id="53" name="Text 50"/>
          <p:cNvSpPr txBox="1"/>
          <p:nvPr/>
        </p:nvSpPr>
        <p:spPr>
          <a:xfrm>
            <a:off x="658368" y="4507992"/>
            <a:ext cx="493776" cy="256032"/>
          </a:xfrm>
          <a:prstGeom prst="rect">
            <a:avLst/>
          </a:prstGeom>
          <a:noFill/>
          <a:ln/>
        </p:spPr>
        <p:txBody>
          <a:bodyPr wrap="square" lIns="0" tIns="0" rIns="0" bIns="0" rtlCol="0" anchor="t"/>
          <a:lstStyle/>
          <a:p>
            <a:pPr algn="ctr" indent="0" marL="0">
              <a:buNone/>
            </a:pPr>
            <a:r>
              <a:rPr lang="en-US" sz="1300" b="1" dirty="0">
                <a:solidFill>
                  <a:srgbClr val="B3181E"/>
                </a:solidFill>
                <a:latin typeface="Consolas" pitchFamily="34" charset="0"/>
                <a:ea typeface="Consolas" pitchFamily="34" charset="-122"/>
                <a:cs typeface="Consolas" pitchFamily="34" charset="-120"/>
              </a:rPr>
              <a:t>21</a:t>
            </a:r>
            <a:endParaRPr lang="en-US" sz="1300" dirty="0"/>
          </a:p>
        </p:txBody>
      </p:sp>
      <p:sp>
        <p:nvSpPr>
          <p:cNvPr id="54" name="Shape 51"/>
          <p:cNvSpPr/>
          <p:nvPr/>
        </p:nvSpPr>
        <p:spPr>
          <a:xfrm>
            <a:off x="1316736" y="4480560"/>
            <a:ext cx="2743200" cy="347472"/>
          </a:xfrm>
          <a:prstGeom prst="rect">
            <a:avLst/>
          </a:prstGeom>
          <a:solidFill>
            <a:srgbClr val="F8E4E5"/>
          </a:solidFill>
          <a:ln w="12700">
            <a:solidFill>
              <a:srgbClr val="F8E4E5"/>
            </a:solidFill>
            <a:prstDash val="solid"/>
          </a:ln>
        </p:spPr>
      </p:sp>
      <p:sp>
        <p:nvSpPr>
          <p:cNvPr id="55" name="Text 52"/>
          <p:cNvSpPr txBox="1"/>
          <p:nvPr/>
        </p:nvSpPr>
        <p:spPr>
          <a:xfrm>
            <a:off x="1481328" y="4535424"/>
            <a:ext cx="2414016" cy="219456"/>
          </a:xfrm>
          <a:prstGeom prst="rect">
            <a:avLst/>
          </a:prstGeom>
          <a:noFill/>
          <a:ln/>
        </p:spPr>
        <p:txBody>
          <a:bodyPr wrap="square" lIns="0" tIns="0" rIns="0" bIns="0" rtlCol="0" anchor="t"/>
          <a:lstStyle/>
          <a:p>
            <a:pPr algn="l" indent="0" marL="0">
              <a:buNone/>
            </a:pPr>
            <a:r>
              <a:rPr lang="en-US" sz="1020" dirty="0">
                <a:solidFill>
                  <a:srgbClr val="243B53"/>
                </a:solidFill>
                <a:latin typeface="Consolas" pitchFamily="34" charset="0"/>
                <a:ea typeface="Consolas" pitchFamily="34" charset="-122"/>
                <a:cs typeface="Consolas" pitchFamily="34" charset="-120"/>
              </a:rPr>
              <a:t>return "pendiente"</a:t>
            </a:r>
            <a:endParaRPr lang="en-US" sz="1020" dirty="0"/>
          </a:p>
        </p:txBody>
      </p:sp>
      <p:sp>
        <p:nvSpPr>
          <p:cNvPr id="56" name="Text 53"/>
          <p:cNvSpPr txBox="1"/>
          <p:nvPr/>
        </p:nvSpPr>
        <p:spPr>
          <a:xfrm>
            <a:off x="4315968" y="4526280"/>
            <a:ext cx="4206240" cy="237744"/>
          </a:xfrm>
          <a:prstGeom prst="rect">
            <a:avLst/>
          </a:prstGeom>
          <a:noFill/>
          <a:ln/>
        </p:spPr>
        <p:txBody>
          <a:bodyPr wrap="square" lIns="0" tIns="0" rIns="0" bIns="0" rtlCol="0" anchor="t"/>
          <a:lstStyle/>
          <a:p>
            <a:pPr algn="l" indent="0" marL="0">
              <a:buNone/>
            </a:pPr>
            <a:r>
              <a:rPr lang="en-US" sz="1150" dirty="0">
                <a:solidFill>
                  <a:srgbClr val="52606D"/>
                </a:solidFill>
                <a:latin typeface="Aptos" pitchFamily="34" charset="0"/>
                <a:ea typeface="Aptos" pitchFamily="34" charset="-122"/>
                <a:cs typeface="Aptos" pitchFamily="34" charset="-120"/>
              </a:rPr>
              <a:t>Falló la notificación</a:t>
            </a:r>
            <a:endParaRPr lang="en-US" sz="1150" dirty="0"/>
          </a:p>
        </p:txBody>
      </p:sp>
      <p:sp>
        <p:nvSpPr>
          <p:cNvPr id="57" name="Text 54"/>
          <p:cNvSpPr txBox="1"/>
          <p:nvPr/>
        </p:nvSpPr>
        <p:spPr>
          <a:xfrm>
            <a:off x="658368" y="4965192"/>
            <a:ext cx="493776" cy="256032"/>
          </a:xfrm>
          <a:prstGeom prst="rect">
            <a:avLst/>
          </a:prstGeom>
          <a:noFill/>
          <a:ln/>
        </p:spPr>
        <p:txBody>
          <a:bodyPr wrap="square" lIns="0" tIns="0" rIns="0" bIns="0" rtlCol="0" anchor="t"/>
          <a:lstStyle/>
          <a:p>
            <a:pPr algn="ctr" indent="0" marL="0">
              <a:buNone/>
            </a:pPr>
            <a:r>
              <a:rPr lang="en-US" sz="1300" b="1" dirty="0">
                <a:solidFill>
                  <a:srgbClr val="B3181E"/>
                </a:solidFill>
                <a:latin typeface="Consolas" pitchFamily="34" charset="0"/>
                <a:ea typeface="Consolas" pitchFamily="34" charset="-122"/>
                <a:cs typeface="Consolas" pitchFamily="34" charset="-120"/>
              </a:rPr>
              <a:t>15</a:t>
            </a:r>
            <a:endParaRPr lang="en-US" sz="1300" dirty="0"/>
          </a:p>
        </p:txBody>
      </p:sp>
      <p:sp>
        <p:nvSpPr>
          <p:cNvPr id="58" name="Shape 55"/>
          <p:cNvSpPr/>
          <p:nvPr/>
        </p:nvSpPr>
        <p:spPr>
          <a:xfrm>
            <a:off x="1316736" y="4937760"/>
            <a:ext cx="2743200" cy="347472"/>
          </a:xfrm>
          <a:prstGeom prst="rect">
            <a:avLst/>
          </a:prstGeom>
          <a:solidFill>
            <a:srgbClr val="F8E4E5"/>
          </a:solidFill>
          <a:ln w="12700">
            <a:solidFill>
              <a:srgbClr val="F8E4E5"/>
            </a:solidFill>
            <a:prstDash val="solid"/>
          </a:ln>
        </p:spPr>
      </p:sp>
      <p:sp>
        <p:nvSpPr>
          <p:cNvPr id="59" name="Text 56"/>
          <p:cNvSpPr txBox="1"/>
          <p:nvPr/>
        </p:nvSpPr>
        <p:spPr>
          <a:xfrm>
            <a:off x="1481328" y="4992624"/>
            <a:ext cx="2414016" cy="219456"/>
          </a:xfrm>
          <a:prstGeom prst="rect">
            <a:avLst/>
          </a:prstGeom>
          <a:noFill/>
          <a:ln/>
        </p:spPr>
        <p:txBody>
          <a:bodyPr wrap="square" lIns="0" tIns="0" rIns="0" bIns="0" rtlCol="0" anchor="t"/>
          <a:lstStyle/>
          <a:p>
            <a:pPr algn="l" indent="0" marL="0">
              <a:buNone/>
            </a:pPr>
            <a:r>
              <a:rPr lang="en-US" sz="1020" dirty="0">
                <a:solidFill>
                  <a:srgbClr val="243B53"/>
                </a:solidFill>
                <a:latin typeface="Consolas" pitchFamily="34" charset="0"/>
                <a:ea typeface="Consolas" pitchFamily="34" charset="-122"/>
                <a:cs typeface="Consolas" pitchFamily="34" charset="-120"/>
              </a:rPr>
              <a:t>return False</a:t>
            </a:r>
            <a:endParaRPr lang="en-US" sz="1020" dirty="0"/>
          </a:p>
        </p:txBody>
      </p:sp>
      <p:sp>
        <p:nvSpPr>
          <p:cNvPr id="60" name="Text 57"/>
          <p:cNvSpPr txBox="1"/>
          <p:nvPr/>
        </p:nvSpPr>
        <p:spPr>
          <a:xfrm>
            <a:off x="4315968" y="4983480"/>
            <a:ext cx="4206240" cy="237744"/>
          </a:xfrm>
          <a:prstGeom prst="rect">
            <a:avLst/>
          </a:prstGeom>
          <a:noFill/>
          <a:ln/>
        </p:spPr>
        <p:txBody>
          <a:bodyPr wrap="square" lIns="0" tIns="0" rIns="0" bIns="0" rtlCol="0" anchor="t"/>
          <a:lstStyle/>
          <a:p>
            <a:pPr algn="l" indent="0" marL="0">
              <a:buNone/>
            </a:pPr>
            <a:r>
              <a:rPr lang="en-US" sz="1150" dirty="0">
                <a:solidFill>
                  <a:srgbClr val="52606D"/>
                </a:solidFill>
                <a:latin typeface="Aptos" pitchFamily="34" charset="0"/>
                <a:ea typeface="Aptos" pitchFamily="34" charset="-122"/>
                <a:cs typeface="Aptos" pitchFamily="34" charset="-120"/>
              </a:rPr>
              <a:t>Bloque fuera de jornada</a:t>
            </a:r>
            <a:endParaRPr lang="en-US" sz="1150" dirty="0"/>
          </a:p>
        </p:txBody>
      </p:sp>
      <p:sp>
        <p:nvSpPr>
          <p:cNvPr id="61" name="Shape 58"/>
          <p:cNvSpPr/>
          <p:nvPr/>
        </p:nvSpPr>
        <p:spPr>
          <a:xfrm>
            <a:off x="658368" y="5632704"/>
            <a:ext cx="10874959" cy="493776"/>
          </a:xfrm>
          <a:prstGeom prst="rect">
            <a:avLst/>
          </a:prstGeom>
          <a:solidFill>
            <a:srgbClr val="102A43"/>
          </a:solidFill>
          <a:ln w="12700">
            <a:solidFill>
              <a:srgbClr val="102A43"/>
            </a:solidFill>
            <a:prstDash val="solid"/>
          </a:ln>
        </p:spPr>
      </p:sp>
      <p:sp>
        <p:nvSpPr>
          <p:cNvPr id="62" name="Text 59"/>
          <p:cNvSpPr txBox="1"/>
          <p:nvPr/>
        </p:nvSpPr>
        <p:spPr>
          <a:xfrm>
            <a:off x="969264" y="5669280"/>
            <a:ext cx="10253167" cy="420624"/>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suite probó que el sistema acepta. Casi no probó que rechace.</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69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4 · ANTES DE PEDIR PRUEBAS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El encargo incluye lo que el código no contiene</a:t>
            </a:r>
            <a:endParaRPr lang="en-US" sz="3000" dirty="0"/>
          </a:p>
        </p:txBody>
      </p:sp>
      <p:sp>
        <p:nvSpPr>
          <p:cNvPr id="10" name="Text 7"/>
          <p:cNvSpPr txBox="1"/>
          <p:nvPr/>
        </p:nvSpPr>
        <p:spPr>
          <a:xfrm>
            <a:off x="658368" y="1773936"/>
            <a:ext cx="1014984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Sin requisito, el esperado sale del código. Sin la dependencia, el doble se inventa.</a:t>
            </a:r>
            <a:endParaRPr lang="en-US" sz="1450" dirty="0"/>
          </a:p>
        </p:txBody>
      </p:sp>
      <p:sp>
        <p:nvSpPr>
          <p:cNvPr id="11" name="Shape 8"/>
          <p:cNvSpPr/>
          <p:nvPr/>
        </p:nvSpPr>
        <p:spPr>
          <a:xfrm>
            <a:off x="658368" y="2304288"/>
            <a:ext cx="10874959" cy="585216"/>
          </a:xfrm>
          <a:prstGeom prst="rect">
            <a:avLst/>
          </a:prstGeom>
          <a:solidFill>
            <a:srgbClr val="1D3A57"/>
          </a:solidFill>
          <a:ln w="12700">
            <a:solidFill>
              <a:srgbClr val="1D3A57"/>
            </a:solidFill>
            <a:prstDash val="solid"/>
          </a:ln>
        </p:spPr>
      </p:sp>
      <p:sp>
        <p:nvSpPr>
          <p:cNvPr id="12" name="Shape 9"/>
          <p:cNvSpPr/>
          <p:nvPr/>
        </p:nvSpPr>
        <p:spPr>
          <a:xfrm>
            <a:off x="658368" y="2304288"/>
            <a:ext cx="54864" cy="585216"/>
          </a:xfrm>
          <a:prstGeom prst="rect">
            <a:avLst/>
          </a:prstGeom>
          <a:solidFill>
            <a:srgbClr val="E0BC5A"/>
          </a:solidFill>
          <a:ln w="12700">
            <a:solidFill>
              <a:srgbClr val="E0BC5A"/>
            </a:solidFill>
            <a:prstDash val="solid"/>
          </a:ln>
        </p:spPr>
      </p:sp>
      <p:sp>
        <p:nvSpPr>
          <p:cNvPr id="13" name="Text 10"/>
          <p:cNvSpPr txBox="1"/>
          <p:nvPr/>
        </p:nvSpPr>
        <p:spPr>
          <a:xfrm>
            <a:off x="896112" y="2395728"/>
            <a:ext cx="420624" cy="329184"/>
          </a:xfrm>
          <a:prstGeom prst="rect">
            <a:avLst/>
          </a:prstGeom>
          <a:noFill/>
          <a:ln/>
        </p:spPr>
        <p:txBody>
          <a:bodyPr wrap="square" lIns="0" tIns="0" rIns="0" bIns="0" rtlCol="0" anchor="t"/>
          <a:lstStyle/>
          <a:p>
            <a:pPr algn="ctr" indent="0" marL="0">
              <a:buNone/>
            </a:pPr>
            <a:r>
              <a:rPr lang="en-US" sz="2000" b="1" dirty="0">
                <a:solidFill>
                  <a:srgbClr val="E0BC5A"/>
                </a:solidFill>
                <a:latin typeface="Aptos Display" pitchFamily="34" charset="0"/>
                <a:ea typeface="Aptos Display" pitchFamily="34" charset="-122"/>
                <a:cs typeface="Aptos Display" pitchFamily="34" charset="-120"/>
              </a:rPr>
              <a:t>1</a:t>
            </a:r>
            <a:endParaRPr lang="en-US" sz="2000" dirty="0"/>
          </a:p>
        </p:txBody>
      </p:sp>
      <p:sp>
        <p:nvSpPr>
          <p:cNvPr id="14" name="Text 11"/>
          <p:cNvSpPr txBox="1"/>
          <p:nvPr/>
        </p:nvSpPr>
        <p:spPr>
          <a:xfrm>
            <a:off x="1536192" y="2395728"/>
            <a:ext cx="1828800" cy="274320"/>
          </a:xfrm>
          <a:prstGeom prst="rect">
            <a:avLst/>
          </a:prstGeom>
          <a:noFill/>
          <a:ln/>
        </p:spPr>
        <p:txBody>
          <a:bodyPr wrap="square" lIns="0" tIns="0" rIns="0" bIns="0" rtlCol="0" anchor="t"/>
          <a:lstStyle/>
          <a:p>
            <a:pPr algn="l" indent="0" marL="0">
              <a:buNone/>
            </a:pPr>
            <a:r>
              <a:rPr lang="en-US" sz="1030" b="1" spc="110" kern="0" dirty="0">
                <a:solidFill>
                  <a:srgbClr val="E0BC5A"/>
                </a:solidFill>
                <a:latin typeface="Aptos" pitchFamily="34" charset="0"/>
                <a:ea typeface="Aptos" pitchFamily="34" charset="-122"/>
                <a:cs typeface="Aptos" pitchFamily="34" charset="-120"/>
              </a:rPr>
              <a:t>REQUISITO</a:t>
            </a:r>
            <a:endParaRPr lang="en-US" sz="1030" dirty="0"/>
          </a:p>
        </p:txBody>
      </p:sp>
      <p:sp>
        <p:nvSpPr>
          <p:cNvPr id="15" name="Text 12"/>
          <p:cNvSpPr txBox="1"/>
          <p:nvPr/>
        </p:nvSpPr>
        <p:spPr>
          <a:xfrm>
            <a:off x="3511296" y="2395728"/>
            <a:ext cx="7711135" cy="384048"/>
          </a:xfrm>
          <a:prstGeom prst="rect">
            <a:avLst/>
          </a:prstGeom>
          <a:noFill/>
          <a:ln/>
        </p:spPr>
        <p:txBody>
          <a:bodyPr wrap="square" lIns="0" tIns="0" rIns="0" bIns="0" rtlCol="0" anchor="ctr"/>
          <a:lstStyle/>
          <a:p>
            <a:pPr algn="l" indent="0" marL="0">
              <a:buNone/>
            </a:pPr>
            <a:r>
              <a:rPr lang="en-US" sz="1230" dirty="0">
                <a:solidFill>
                  <a:srgbClr val="FFFFFF"/>
                </a:solidFill>
                <a:latin typeface="Aptos" pitchFamily="34" charset="0"/>
                <a:ea typeface="Aptos" pitchFamily="34" charset="-122"/>
                <a:cs typeface="Aptos" pitchFamily="34" charset="-120"/>
              </a:rPr>
              <a:t>Ocho bloques, máximo tres reservas y cancelación hasta dos horas antes.</a:t>
            </a:r>
            <a:endParaRPr lang="en-US" sz="1230" dirty="0"/>
          </a:p>
        </p:txBody>
      </p:sp>
      <p:sp>
        <p:nvSpPr>
          <p:cNvPr id="16" name="Shape 13"/>
          <p:cNvSpPr/>
          <p:nvPr/>
        </p:nvSpPr>
        <p:spPr>
          <a:xfrm>
            <a:off x="658368" y="2999232"/>
            <a:ext cx="10874959" cy="585216"/>
          </a:xfrm>
          <a:prstGeom prst="rect">
            <a:avLst/>
          </a:prstGeom>
          <a:solidFill>
            <a:srgbClr val="1D3A57"/>
          </a:solidFill>
          <a:ln w="12700">
            <a:solidFill>
              <a:srgbClr val="1D3A57"/>
            </a:solidFill>
            <a:prstDash val="solid"/>
          </a:ln>
        </p:spPr>
      </p:sp>
      <p:sp>
        <p:nvSpPr>
          <p:cNvPr id="17" name="Shape 14"/>
          <p:cNvSpPr/>
          <p:nvPr/>
        </p:nvSpPr>
        <p:spPr>
          <a:xfrm>
            <a:off x="658368" y="2999232"/>
            <a:ext cx="54864" cy="585216"/>
          </a:xfrm>
          <a:prstGeom prst="rect">
            <a:avLst/>
          </a:prstGeom>
          <a:solidFill>
            <a:srgbClr val="3FAE6A"/>
          </a:solidFill>
          <a:ln w="12700">
            <a:solidFill>
              <a:srgbClr val="3FAE6A"/>
            </a:solidFill>
            <a:prstDash val="solid"/>
          </a:ln>
        </p:spPr>
      </p:sp>
      <p:sp>
        <p:nvSpPr>
          <p:cNvPr id="18" name="Text 15"/>
          <p:cNvSpPr txBox="1"/>
          <p:nvPr/>
        </p:nvSpPr>
        <p:spPr>
          <a:xfrm>
            <a:off x="896112" y="3090672"/>
            <a:ext cx="420624" cy="329184"/>
          </a:xfrm>
          <a:prstGeom prst="rect">
            <a:avLst/>
          </a:prstGeom>
          <a:noFill/>
          <a:ln/>
        </p:spPr>
        <p:txBody>
          <a:bodyPr wrap="square" lIns="0" tIns="0" rIns="0" bIns="0" rtlCol="0" anchor="t"/>
          <a:lstStyle/>
          <a:p>
            <a:pPr algn="ctr" indent="0" marL="0">
              <a:buNone/>
            </a:pPr>
            <a:r>
              <a:rPr lang="en-US" sz="2000" b="1" dirty="0">
                <a:solidFill>
                  <a:srgbClr val="3FAE6A"/>
                </a:solidFill>
                <a:latin typeface="Aptos Display" pitchFamily="34" charset="0"/>
                <a:ea typeface="Aptos Display" pitchFamily="34" charset="-122"/>
                <a:cs typeface="Aptos Display" pitchFamily="34" charset="-120"/>
              </a:rPr>
              <a:t>2</a:t>
            </a:r>
            <a:endParaRPr lang="en-US" sz="2000" dirty="0"/>
          </a:p>
        </p:txBody>
      </p:sp>
      <p:sp>
        <p:nvSpPr>
          <p:cNvPr id="19" name="Text 16"/>
          <p:cNvSpPr txBox="1"/>
          <p:nvPr/>
        </p:nvSpPr>
        <p:spPr>
          <a:xfrm>
            <a:off x="1536192" y="3090672"/>
            <a:ext cx="1828800" cy="274320"/>
          </a:xfrm>
          <a:prstGeom prst="rect">
            <a:avLst/>
          </a:prstGeom>
          <a:noFill/>
          <a:ln/>
        </p:spPr>
        <p:txBody>
          <a:bodyPr wrap="square" lIns="0" tIns="0" rIns="0" bIns="0" rtlCol="0" anchor="t"/>
          <a:lstStyle/>
          <a:p>
            <a:pPr algn="l" indent="0" marL="0">
              <a:buNone/>
            </a:pPr>
            <a:r>
              <a:rPr lang="en-US" sz="1030" b="1" spc="110" kern="0" dirty="0">
                <a:solidFill>
                  <a:srgbClr val="3FAE6A"/>
                </a:solidFill>
                <a:latin typeface="Aptos" pitchFamily="34" charset="0"/>
                <a:ea typeface="Aptos" pitchFamily="34" charset="-122"/>
                <a:cs typeface="Aptos" pitchFamily="34" charset="-120"/>
              </a:rPr>
              <a:t>PROCEDENCIA</a:t>
            </a:r>
            <a:endParaRPr lang="en-US" sz="1030" dirty="0"/>
          </a:p>
        </p:txBody>
      </p:sp>
      <p:sp>
        <p:nvSpPr>
          <p:cNvPr id="20" name="Text 17"/>
          <p:cNvSpPr txBox="1"/>
          <p:nvPr/>
        </p:nvSpPr>
        <p:spPr>
          <a:xfrm>
            <a:off x="3511296" y="3090672"/>
            <a:ext cx="7711135" cy="384048"/>
          </a:xfrm>
          <a:prstGeom prst="rect">
            <a:avLst/>
          </a:prstGeom>
          <a:noFill/>
          <a:ln/>
        </p:spPr>
        <p:txBody>
          <a:bodyPr wrap="square" lIns="0" tIns="0" rIns="0" bIns="0" rtlCol="0" anchor="ctr"/>
          <a:lstStyle/>
          <a:p>
            <a:pPr algn="l" indent="0" marL="0">
              <a:buNone/>
            </a:pPr>
            <a:r>
              <a:rPr lang="en-US" sz="1230" dirty="0">
                <a:solidFill>
                  <a:srgbClr val="FFFFFF"/>
                </a:solidFill>
                <a:latin typeface="Aptos" pitchFamily="34" charset="0"/>
                <a:ea typeface="Aptos" pitchFamily="34" charset="-122"/>
                <a:cs typeface="Aptos" pitchFamily="34" charset="-120"/>
              </a:rPr>
              <a:t>Para cada esperado, indicar la cláusula o la fuente que lo decide.</a:t>
            </a:r>
            <a:endParaRPr lang="en-US" sz="1230" dirty="0"/>
          </a:p>
        </p:txBody>
      </p:sp>
      <p:sp>
        <p:nvSpPr>
          <p:cNvPr id="21" name="Shape 18"/>
          <p:cNvSpPr/>
          <p:nvPr/>
        </p:nvSpPr>
        <p:spPr>
          <a:xfrm>
            <a:off x="658368" y="3694176"/>
            <a:ext cx="10874959" cy="585216"/>
          </a:xfrm>
          <a:prstGeom prst="rect">
            <a:avLst/>
          </a:prstGeom>
          <a:solidFill>
            <a:srgbClr val="1D3A57"/>
          </a:solidFill>
          <a:ln w="12700">
            <a:solidFill>
              <a:srgbClr val="1D3A57"/>
            </a:solidFill>
            <a:prstDash val="solid"/>
          </a:ln>
        </p:spPr>
      </p:sp>
      <p:sp>
        <p:nvSpPr>
          <p:cNvPr id="22" name="Shape 19"/>
          <p:cNvSpPr/>
          <p:nvPr/>
        </p:nvSpPr>
        <p:spPr>
          <a:xfrm>
            <a:off x="658368" y="3694176"/>
            <a:ext cx="54864" cy="585216"/>
          </a:xfrm>
          <a:prstGeom prst="rect">
            <a:avLst/>
          </a:prstGeom>
          <a:solidFill>
            <a:srgbClr val="D62027"/>
          </a:solidFill>
          <a:ln w="12700">
            <a:solidFill>
              <a:srgbClr val="D62027"/>
            </a:solidFill>
            <a:prstDash val="solid"/>
          </a:ln>
        </p:spPr>
      </p:sp>
      <p:sp>
        <p:nvSpPr>
          <p:cNvPr id="23" name="Text 20"/>
          <p:cNvSpPr txBox="1"/>
          <p:nvPr/>
        </p:nvSpPr>
        <p:spPr>
          <a:xfrm>
            <a:off x="896112" y="3785616"/>
            <a:ext cx="420624" cy="329184"/>
          </a:xfrm>
          <a:prstGeom prst="rect">
            <a:avLst/>
          </a:prstGeom>
          <a:noFill/>
          <a:ln/>
        </p:spPr>
        <p:txBody>
          <a:bodyPr wrap="square" lIns="0" tIns="0" rIns="0" bIns="0" rtlCol="0" anchor="t"/>
          <a:lstStyle/>
          <a:p>
            <a:pPr algn="ctr" indent="0" marL="0">
              <a:buNone/>
            </a:pPr>
            <a:r>
              <a:rPr lang="en-US" sz="2000" b="1" dirty="0">
                <a:solidFill>
                  <a:srgbClr val="D62027"/>
                </a:solidFill>
                <a:latin typeface="Aptos Display" pitchFamily="34" charset="0"/>
                <a:ea typeface="Aptos Display" pitchFamily="34" charset="-122"/>
                <a:cs typeface="Aptos Display" pitchFamily="34" charset="-120"/>
              </a:rPr>
              <a:t>3</a:t>
            </a:r>
            <a:endParaRPr lang="en-US" sz="2000" dirty="0"/>
          </a:p>
        </p:txBody>
      </p:sp>
      <p:sp>
        <p:nvSpPr>
          <p:cNvPr id="24" name="Text 21"/>
          <p:cNvSpPr txBox="1"/>
          <p:nvPr/>
        </p:nvSpPr>
        <p:spPr>
          <a:xfrm>
            <a:off x="1536192" y="3785616"/>
            <a:ext cx="1828800" cy="274320"/>
          </a:xfrm>
          <a:prstGeom prst="rect">
            <a:avLst/>
          </a:prstGeom>
          <a:noFill/>
          <a:ln/>
        </p:spPr>
        <p:txBody>
          <a:bodyPr wrap="square" lIns="0" tIns="0" rIns="0" bIns="0" rtlCol="0" anchor="t"/>
          <a:lstStyle/>
          <a:p>
            <a:pPr algn="l" indent="0" marL="0">
              <a:buNone/>
            </a:pPr>
            <a:r>
              <a:rPr lang="en-US" sz="1030" b="1" spc="110" kern="0" dirty="0">
                <a:solidFill>
                  <a:srgbClr val="D62027"/>
                </a:solidFill>
                <a:latin typeface="Aptos" pitchFamily="34" charset="0"/>
                <a:ea typeface="Aptos" pitchFamily="34" charset="-122"/>
                <a:cs typeface="Aptos" pitchFamily="34" charset="-120"/>
              </a:rPr>
              <a:t>MUTANTE</a:t>
            </a:r>
            <a:endParaRPr lang="en-US" sz="1030" dirty="0"/>
          </a:p>
        </p:txBody>
      </p:sp>
      <p:sp>
        <p:nvSpPr>
          <p:cNvPr id="25" name="Text 22"/>
          <p:cNvSpPr txBox="1"/>
          <p:nvPr/>
        </p:nvSpPr>
        <p:spPr>
          <a:xfrm>
            <a:off x="3511296" y="3785616"/>
            <a:ext cx="7711135" cy="384048"/>
          </a:xfrm>
          <a:prstGeom prst="rect">
            <a:avLst/>
          </a:prstGeom>
          <a:noFill/>
          <a:ln/>
        </p:spPr>
        <p:txBody>
          <a:bodyPr wrap="square" lIns="0" tIns="0" rIns="0" bIns="0" rtlCol="0" anchor="ctr"/>
          <a:lstStyle/>
          <a:p>
            <a:pPr algn="l" indent="0" marL="0">
              <a:buNone/>
            </a:pPr>
            <a:r>
              <a:rPr lang="en-US" sz="1230" dirty="0">
                <a:solidFill>
                  <a:srgbClr val="FFFFFF"/>
                </a:solidFill>
                <a:latin typeface="Aptos" pitchFamily="34" charset="0"/>
                <a:ea typeface="Aptos" pitchFamily="34" charset="-122"/>
                <a:cs typeface="Aptos" pitchFamily="34" charset="-120"/>
              </a:rPr>
              <a:t>Nombrar el cambio concreto que cada prueba debería detectar.</a:t>
            </a:r>
            <a:endParaRPr lang="en-US" sz="1230" dirty="0"/>
          </a:p>
        </p:txBody>
      </p:sp>
      <p:sp>
        <p:nvSpPr>
          <p:cNvPr id="26" name="Shape 23"/>
          <p:cNvSpPr/>
          <p:nvPr/>
        </p:nvSpPr>
        <p:spPr>
          <a:xfrm>
            <a:off x="658368" y="4389120"/>
            <a:ext cx="10874959" cy="585216"/>
          </a:xfrm>
          <a:prstGeom prst="rect">
            <a:avLst/>
          </a:prstGeom>
          <a:solidFill>
            <a:srgbClr val="1D3A57"/>
          </a:solidFill>
          <a:ln w="12700">
            <a:solidFill>
              <a:srgbClr val="1D3A57"/>
            </a:solidFill>
            <a:prstDash val="solid"/>
          </a:ln>
        </p:spPr>
      </p:sp>
      <p:sp>
        <p:nvSpPr>
          <p:cNvPr id="27" name="Shape 24"/>
          <p:cNvSpPr/>
          <p:nvPr/>
        </p:nvSpPr>
        <p:spPr>
          <a:xfrm>
            <a:off x="658368" y="4389120"/>
            <a:ext cx="54864" cy="585216"/>
          </a:xfrm>
          <a:prstGeom prst="rect">
            <a:avLst/>
          </a:prstGeom>
          <a:solidFill>
            <a:srgbClr val="EADFD0"/>
          </a:solidFill>
          <a:ln w="12700">
            <a:solidFill>
              <a:srgbClr val="EADFD0"/>
            </a:solidFill>
            <a:prstDash val="solid"/>
          </a:ln>
        </p:spPr>
      </p:sp>
      <p:sp>
        <p:nvSpPr>
          <p:cNvPr id="28" name="Text 25"/>
          <p:cNvSpPr txBox="1"/>
          <p:nvPr/>
        </p:nvSpPr>
        <p:spPr>
          <a:xfrm>
            <a:off x="896112" y="4480560"/>
            <a:ext cx="420624" cy="329184"/>
          </a:xfrm>
          <a:prstGeom prst="rect">
            <a:avLst/>
          </a:prstGeom>
          <a:noFill/>
          <a:ln/>
        </p:spPr>
        <p:txBody>
          <a:bodyPr wrap="square" lIns="0" tIns="0" rIns="0" bIns="0" rtlCol="0" anchor="t"/>
          <a:lstStyle/>
          <a:p>
            <a:pPr algn="ctr" indent="0" marL="0">
              <a:buNone/>
            </a:pPr>
            <a:r>
              <a:rPr lang="en-US" sz="2000" b="1" dirty="0">
                <a:solidFill>
                  <a:srgbClr val="EADFD0"/>
                </a:solidFill>
                <a:latin typeface="Aptos Display" pitchFamily="34" charset="0"/>
                <a:ea typeface="Aptos Display" pitchFamily="34" charset="-122"/>
                <a:cs typeface="Aptos Display" pitchFamily="34" charset="-120"/>
              </a:rPr>
              <a:t>4</a:t>
            </a:r>
            <a:endParaRPr lang="en-US" sz="2000" dirty="0"/>
          </a:p>
        </p:txBody>
      </p:sp>
      <p:sp>
        <p:nvSpPr>
          <p:cNvPr id="29" name="Text 26"/>
          <p:cNvSpPr txBox="1"/>
          <p:nvPr/>
        </p:nvSpPr>
        <p:spPr>
          <a:xfrm>
            <a:off x="1536192" y="4480560"/>
            <a:ext cx="1828800" cy="274320"/>
          </a:xfrm>
          <a:prstGeom prst="rect">
            <a:avLst/>
          </a:prstGeom>
          <a:noFill/>
          <a:ln/>
        </p:spPr>
        <p:txBody>
          <a:bodyPr wrap="square" lIns="0" tIns="0" rIns="0" bIns="0" rtlCol="0" anchor="t"/>
          <a:lstStyle/>
          <a:p>
            <a:pPr algn="l" indent="0" marL="0">
              <a:buNone/>
            </a:pPr>
            <a:r>
              <a:rPr lang="en-US" sz="1030" b="1" spc="110" kern="0" dirty="0">
                <a:solidFill>
                  <a:srgbClr val="EADFD0"/>
                </a:solidFill>
                <a:latin typeface="Aptos" pitchFamily="34" charset="0"/>
                <a:ea typeface="Aptos" pitchFamily="34" charset="-122"/>
                <a:cs typeface="Aptos" pitchFamily="34" charset="-120"/>
              </a:rPr>
              <a:t>DEPENDENCIA</a:t>
            </a:r>
            <a:endParaRPr lang="en-US" sz="1030" dirty="0"/>
          </a:p>
        </p:txBody>
      </p:sp>
      <p:sp>
        <p:nvSpPr>
          <p:cNvPr id="30" name="Text 27"/>
          <p:cNvSpPr txBox="1"/>
          <p:nvPr/>
        </p:nvSpPr>
        <p:spPr>
          <a:xfrm>
            <a:off x="3511296" y="4480560"/>
            <a:ext cx="7711135" cy="384048"/>
          </a:xfrm>
          <a:prstGeom prst="rect">
            <a:avLst/>
          </a:prstGeom>
          <a:noFill/>
          <a:ln/>
        </p:spPr>
        <p:txBody>
          <a:bodyPr wrap="square" lIns="0" tIns="0" rIns="0" bIns="0" rtlCol="0" anchor="ctr"/>
          <a:lstStyle/>
          <a:p>
            <a:pPr algn="l" indent="0" marL="0">
              <a:buNone/>
            </a:pPr>
            <a:r>
              <a:rPr lang="en-US" sz="1230" dirty="0">
                <a:solidFill>
                  <a:srgbClr val="FFFFFF"/>
                </a:solidFill>
                <a:latin typeface="Aptos" pitchFamily="34" charset="0"/>
                <a:ea typeface="Aptos" pitchFamily="34" charset="-122"/>
                <a:cs typeface="Aptos" pitchFamily="34" charset="-120"/>
              </a:rPr>
              <a:t>Adjuntar la firma real y derivar de ella cualquier doble de prueba.</a:t>
            </a:r>
            <a:endParaRPr lang="en-US" sz="1230" dirty="0"/>
          </a:p>
        </p:txBody>
      </p:sp>
      <p:sp>
        <p:nvSpPr>
          <p:cNvPr id="31" name="Shape 28"/>
          <p:cNvSpPr/>
          <p:nvPr/>
        </p:nvSpPr>
        <p:spPr>
          <a:xfrm>
            <a:off x="658368" y="5285232"/>
            <a:ext cx="10874959" cy="621792"/>
          </a:xfrm>
          <a:prstGeom prst="rect">
            <a:avLst/>
          </a:prstGeom>
          <a:solidFill>
            <a:srgbClr val="E0BC5A"/>
          </a:solidFill>
          <a:ln w="12700">
            <a:solidFill>
              <a:srgbClr val="E0BC5A"/>
            </a:solidFill>
            <a:prstDash val="solid"/>
          </a:ln>
        </p:spPr>
      </p:sp>
      <p:sp>
        <p:nvSpPr>
          <p:cNvPr id="32" name="Text 29"/>
          <p:cNvSpPr txBox="1"/>
          <p:nvPr/>
        </p:nvSpPr>
        <p:spPr>
          <a:xfrm>
            <a:off x="969264" y="5367528"/>
            <a:ext cx="10253167" cy="438912"/>
          </a:xfrm>
          <a:prstGeom prst="rect">
            <a:avLst/>
          </a:prstGeom>
          <a:noFill/>
          <a:ln/>
        </p:spPr>
        <p:txBody>
          <a:bodyPr wrap="square" lIns="0" tIns="0" rIns="0" bIns="0" rtlCol="0" anchor="ctr"/>
          <a:lstStyle/>
          <a:p>
            <a:pPr algn="ctr" indent="0" marL="0">
              <a:buNone/>
            </a:pPr>
            <a:r>
              <a:rPr lang="en-US" sz="1340" b="1" dirty="0">
                <a:solidFill>
                  <a:srgbClr val="102A43"/>
                </a:solidFill>
                <a:latin typeface="Aptos" pitchFamily="34" charset="0"/>
                <a:ea typeface="Aptos" pitchFamily="34" charset="-122"/>
                <a:cs typeface="Aptos" pitchFamily="34" charset="-120"/>
              </a:rPr>
              <a:t>Si el requisito no decide un caso, la salida correcta es «requiere decisión». El agente no elige por el equipo.</a:t>
            </a:r>
            <a:endParaRPr lang="en-US" sz="134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CRITERIO 1</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¿De dónde salió el resultado esperado?</a:t>
            </a:r>
            <a:endParaRPr lang="en-US" sz="3000" dirty="0"/>
          </a:p>
        </p:txBody>
      </p:sp>
      <p:sp>
        <p:nvSpPr>
          <p:cNvPr id="10" name="Text 7"/>
          <p:cNvSpPr txBox="1"/>
          <p:nvPr/>
        </p:nvSpPr>
        <p:spPr>
          <a:xfrm>
            <a:off x="658368" y="1773936"/>
            <a:ext cx="1033272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El límite de dos horas permite separar lo que dice el requisito de lo que decidió el operador del código.</a:t>
            </a:r>
            <a:endParaRPr lang="en-US" sz="1450" dirty="0"/>
          </a:p>
        </p:txBody>
      </p:sp>
      <p:sp>
        <p:nvSpPr>
          <p:cNvPr id="11" name="Shape 8"/>
          <p:cNvSpPr/>
          <p:nvPr/>
        </p:nvSpPr>
        <p:spPr>
          <a:xfrm>
            <a:off x="658368" y="2359152"/>
            <a:ext cx="4754880" cy="1261872"/>
          </a:xfrm>
          <a:prstGeom prst="roundRect">
            <a:avLst>
              <a:gd name="adj" fmla="val 2899"/>
            </a:avLst>
          </a:prstGeom>
          <a:solidFill>
            <a:srgbClr val="102A43"/>
          </a:solidFill>
          <a:ln w="12700">
            <a:solidFill>
              <a:srgbClr val="102A43"/>
            </a:solidFill>
            <a:prstDash val="solid"/>
          </a:ln>
        </p:spPr>
      </p:sp>
      <p:sp>
        <p:nvSpPr>
          <p:cNvPr id="12" name="Shape 9"/>
          <p:cNvSpPr/>
          <p:nvPr/>
        </p:nvSpPr>
        <p:spPr>
          <a:xfrm>
            <a:off x="786384" y="2468880"/>
            <a:ext cx="449884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42032"/>
            <a:ext cx="427939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condición que decide el límite</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26080"/>
            <a:ext cx="4334256" cy="512064"/>
          </a:xfrm>
          <a:prstGeom prst="rect">
            <a:avLst/>
          </a:prstGeom>
        </p:spPr>
      </p:pic>
      <p:sp>
        <p:nvSpPr>
          <p:cNvPr id="15" name="Shape 11"/>
          <p:cNvSpPr/>
          <p:nvPr/>
        </p:nvSpPr>
        <p:spPr>
          <a:xfrm>
            <a:off x="5650992" y="2359152"/>
            <a:ext cx="5879592" cy="1261872"/>
          </a:xfrm>
          <a:prstGeom prst="roundRect">
            <a:avLst>
              <a:gd name="adj" fmla="val 2899"/>
            </a:avLst>
          </a:prstGeom>
          <a:solidFill>
            <a:srgbClr val="102A43"/>
          </a:solidFill>
          <a:ln w="12700">
            <a:solidFill>
              <a:srgbClr val="102A43"/>
            </a:solidFill>
            <a:prstDash val="solid"/>
          </a:ln>
        </p:spPr>
      </p:sp>
      <p:sp>
        <p:nvSpPr>
          <p:cNvPr id="16" name="Shape 12"/>
          <p:cNvSpPr/>
          <p:nvPr/>
        </p:nvSpPr>
        <p:spPr>
          <a:xfrm>
            <a:off x="5779008" y="2468880"/>
            <a:ext cx="5623560" cy="310896"/>
          </a:xfrm>
          <a:prstGeom prst="roundRect">
            <a:avLst>
              <a:gd name="adj" fmla="val 8824"/>
            </a:avLst>
          </a:prstGeom>
          <a:solidFill>
            <a:srgbClr val="284B75"/>
          </a:solidFill>
          <a:ln w="12700">
            <a:solidFill>
              <a:srgbClr val="284B75"/>
            </a:solidFill>
            <a:prstDash val="solid"/>
          </a:ln>
        </p:spPr>
      </p:sp>
      <p:sp>
        <p:nvSpPr>
          <p:cNvPr id="17" name="Text 13"/>
          <p:cNvSpPr/>
          <p:nvPr/>
        </p:nvSpPr>
        <p:spPr>
          <a:xfrm>
            <a:off x="5888736" y="2542032"/>
            <a:ext cx="5404104"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prueba recibida</a:t>
            </a:r>
            <a:endParaRPr lang="en-US" sz="10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70448" y="2926080"/>
            <a:ext cx="5458968" cy="512064"/>
          </a:xfrm>
          <a:prstGeom prst="rect">
            <a:avLst/>
          </a:prstGeom>
        </p:spPr>
      </p:pic>
      <p:sp>
        <p:nvSpPr>
          <p:cNvPr id="19" name="Shape 14"/>
          <p:cNvSpPr/>
          <p:nvPr/>
        </p:nvSpPr>
        <p:spPr>
          <a:xfrm>
            <a:off x="658368" y="3895344"/>
            <a:ext cx="3493008" cy="1024128"/>
          </a:xfrm>
          <a:prstGeom prst="rect">
            <a:avLst/>
          </a:prstGeom>
          <a:solidFill>
            <a:srgbClr val="FFFFFF"/>
          </a:solidFill>
          <a:ln w="12700">
            <a:solidFill>
              <a:srgbClr val="FFFFFF"/>
            </a:solidFill>
            <a:prstDash val="solid"/>
          </a:ln>
        </p:spPr>
      </p:sp>
      <p:sp>
        <p:nvSpPr>
          <p:cNvPr id="20" name="Shape 15"/>
          <p:cNvSpPr/>
          <p:nvPr/>
        </p:nvSpPr>
        <p:spPr>
          <a:xfrm>
            <a:off x="658368" y="3895344"/>
            <a:ext cx="3493008" cy="54864"/>
          </a:xfrm>
          <a:prstGeom prst="rect">
            <a:avLst/>
          </a:prstGeom>
          <a:solidFill>
            <a:srgbClr val="8A6A12"/>
          </a:solidFill>
          <a:ln w="12700">
            <a:solidFill>
              <a:srgbClr val="8A6A12"/>
            </a:solidFill>
            <a:prstDash val="solid"/>
          </a:ln>
        </p:spPr>
      </p:sp>
      <p:sp>
        <p:nvSpPr>
          <p:cNvPr id="21" name="Text 16"/>
          <p:cNvSpPr txBox="1"/>
          <p:nvPr/>
        </p:nvSpPr>
        <p:spPr>
          <a:xfrm>
            <a:off x="877824" y="4059936"/>
            <a:ext cx="3054096" cy="219456"/>
          </a:xfrm>
          <a:prstGeom prst="rect">
            <a:avLst/>
          </a:prstGeom>
          <a:noFill/>
          <a:ln/>
        </p:spPr>
        <p:txBody>
          <a:bodyPr wrap="square" lIns="0" tIns="0" rIns="0" bIns="0" rtlCol="0" anchor="t"/>
          <a:lstStyle/>
          <a:p>
            <a:pPr algn="l" indent="0" marL="0">
              <a:buNone/>
            </a:pPr>
            <a:r>
              <a:rPr lang="en-US" sz="1260" b="1" dirty="0">
                <a:solidFill>
                  <a:srgbClr val="8A6A12"/>
                </a:solidFill>
                <a:latin typeface="Aptos" pitchFamily="34" charset="0"/>
                <a:ea typeface="Aptos" pitchFamily="34" charset="-122"/>
                <a:cs typeface="Aptos" pitchFamily="34" charset="-120"/>
              </a:rPr>
              <a:t>El requisito</a:t>
            </a:r>
            <a:endParaRPr lang="en-US" sz="1260" dirty="0"/>
          </a:p>
        </p:txBody>
      </p:sp>
      <p:sp>
        <p:nvSpPr>
          <p:cNvPr id="22" name="Text 17"/>
          <p:cNvSpPr txBox="1"/>
          <p:nvPr/>
        </p:nvSpPr>
        <p:spPr>
          <a:xfrm>
            <a:off x="877824" y="4334256"/>
            <a:ext cx="3054096" cy="237744"/>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dice «hasta dos horas antes»</a:t>
            </a:r>
            <a:endParaRPr lang="en-US" sz="1160" dirty="0"/>
          </a:p>
        </p:txBody>
      </p:sp>
      <p:sp>
        <p:nvSpPr>
          <p:cNvPr id="23" name="Text 18"/>
          <p:cNvSpPr txBox="1"/>
          <p:nvPr/>
        </p:nvSpPr>
        <p:spPr>
          <a:xfrm>
            <a:off x="877824" y="4608576"/>
            <a:ext cx="3054096" cy="219456"/>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No decide la igualdad</a:t>
            </a:r>
            <a:endParaRPr lang="en-US" sz="1060" dirty="0"/>
          </a:p>
        </p:txBody>
      </p:sp>
      <p:sp>
        <p:nvSpPr>
          <p:cNvPr id="24" name="Shape 19"/>
          <p:cNvSpPr/>
          <p:nvPr/>
        </p:nvSpPr>
        <p:spPr>
          <a:xfrm>
            <a:off x="4352544" y="3895344"/>
            <a:ext cx="3493008" cy="1024128"/>
          </a:xfrm>
          <a:prstGeom prst="rect">
            <a:avLst/>
          </a:prstGeom>
          <a:solidFill>
            <a:srgbClr val="FFFFFF"/>
          </a:solidFill>
          <a:ln w="12700">
            <a:solidFill>
              <a:srgbClr val="FFFFFF"/>
            </a:solidFill>
            <a:prstDash val="solid"/>
          </a:ln>
        </p:spPr>
      </p:sp>
      <p:sp>
        <p:nvSpPr>
          <p:cNvPr id="25" name="Shape 20"/>
          <p:cNvSpPr/>
          <p:nvPr/>
        </p:nvSpPr>
        <p:spPr>
          <a:xfrm>
            <a:off x="4352544" y="3895344"/>
            <a:ext cx="3493008" cy="54864"/>
          </a:xfrm>
          <a:prstGeom prst="rect">
            <a:avLst/>
          </a:prstGeom>
          <a:solidFill>
            <a:srgbClr val="102A43"/>
          </a:solidFill>
          <a:ln w="12700">
            <a:solidFill>
              <a:srgbClr val="102A43"/>
            </a:solidFill>
            <a:prstDash val="solid"/>
          </a:ln>
        </p:spPr>
      </p:sp>
      <p:sp>
        <p:nvSpPr>
          <p:cNvPr id="26" name="Text 21"/>
          <p:cNvSpPr txBox="1"/>
          <p:nvPr/>
        </p:nvSpPr>
        <p:spPr>
          <a:xfrm>
            <a:off x="4572000" y="4059936"/>
            <a:ext cx="3054096" cy="219456"/>
          </a:xfrm>
          <a:prstGeom prst="rect">
            <a:avLst/>
          </a:prstGeom>
          <a:noFill/>
          <a:ln/>
        </p:spPr>
        <p:txBody>
          <a:bodyPr wrap="square" lIns="0" tIns="0" rIns="0" bIns="0" rtlCol="0" anchor="t"/>
          <a:lstStyle/>
          <a:p>
            <a:pPr algn="l" indent="0" marL="0">
              <a:buNone/>
            </a:pPr>
            <a:r>
              <a:rPr lang="en-US" sz="1260" b="1" dirty="0">
                <a:solidFill>
                  <a:srgbClr val="102A43"/>
                </a:solidFill>
                <a:latin typeface="Aptos" pitchFamily="34" charset="0"/>
                <a:ea typeface="Aptos" pitchFamily="34" charset="-122"/>
                <a:cs typeface="Aptos" pitchFamily="34" charset="-120"/>
              </a:rPr>
              <a:t>El código</a:t>
            </a:r>
            <a:endParaRPr lang="en-US" sz="1260" dirty="0"/>
          </a:p>
        </p:txBody>
      </p:sp>
      <p:sp>
        <p:nvSpPr>
          <p:cNvPr id="27" name="Text 22"/>
          <p:cNvSpPr txBox="1"/>
          <p:nvPr/>
        </p:nvSpPr>
        <p:spPr>
          <a:xfrm>
            <a:off x="4572000" y="4334256"/>
            <a:ext cx="3054096" cy="237744"/>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usa el operador &gt;</a:t>
            </a:r>
            <a:endParaRPr lang="en-US" sz="1160" dirty="0"/>
          </a:p>
        </p:txBody>
      </p:sp>
      <p:sp>
        <p:nvSpPr>
          <p:cNvPr id="28" name="Text 23"/>
          <p:cNvSpPr txBox="1"/>
          <p:nvPr/>
        </p:nvSpPr>
        <p:spPr>
          <a:xfrm>
            <a:off x="4572000" y="4608576"/>
            <a:ext cx="3054096" cy="219456"/>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Excluye las dos horas exactas</a:t>
            </a:r>
            <a:endParaRPr lang="en-US" sz="1060" dirty="0"/>
          </a:p>
        </p:txBody>
      </p:sp>
      <p:sp>
        <p:nvSpPr>
          <p:cNvPr id="29" name="Shape 24"/>
          <p:cNvSpPr/>
          <p:nvPr/>
        </p:nvSpPr>
        <p:spPr>
          <a:xfrm>
            <a:off x="8046720" y="3895344"/>
            <a:ext cx="3493008" cy="1024128"/>
          </a:xfrm>
          <a:prstGeom prst="rect">
            <a:avLst/>
          </a:prstGeom>
          <a:solidFill>
            <a:srgbClr val="FFFFFF"/>
          </a:solidFill>
          <a:ln w="12700">
            <a:solidFill>
              <a:srgbClr val="FFFFFF"/>
            </a:solidFill>
            <a:prstDash val="solid"/>
          </a:ln>
        </p:spPr>
      </p:sp>
      <p:sp>
        <p:nvSpPr>
          <p:cNvPr id="30" name="Shape 25"/>
          <p:cNvSpPr/>
          <p:nvPr/>
        </p:nvSpPr>
        <p:spPr>
          <a:xfrm>
            <a:off x="8046720" y="3895344"/>
            <a:ext cx="3493008" cy="54864"/>
          </a:xfrm>
          <a:prstGeom prst="rect">
            <a:avLst/>
          </a:prstGeom>
          <a:solidFill>
            <a:srgbClr val="B3181E"/>
          </a:solidFill>
          <a:ln w="12700">
            <a:solidFill>
              <a:srgbClr val="B3181E"/>
            </a:solidFill>
            <a:prstDash val="solid"/>
          </a:ln>
        </p:spPr>
      </p:sp>
      <p:sp>
        <p:nvSpPr>
          <p:cNvPr id="31" name="Text 26"/>
          <p:cNvSpPr txBox="1"/>
          <p:nvPr/>
        </p:nvSpPr>
        <p:spPr>
          <a:xfrm>
            <a:off x="8266176" y="4059936"/>
            <a:ext cx="3054096" cy="219456"/>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La prueba</a:t>
            </a:r>
            <a:endParaRPr lang="en-US" sz="1260" dirty="0"/>
          </a:p>
        </p:txBody>
      </p:sp>
      <p:sp>
        <p:nvSpPr>
          <p:cNvPr id="32" name="Text 27"/>
          <p:cNvSpPr txBox="1"/>
          <p:nvPr/>
        </p:nvSpPr>
        <p:spPr>
          <a:xfrm>
            <a:off x="8266176" y="4334256"/>
            <a:ext cx="3054096" cy="237744"/>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afirma False</a:t>
            </a:r>
            <a:endParaRPr lang="en-US" sz="1160" dirty="0"/>
          </a:p>
        </p:txBody>
      </p:sp>
      <p:sp>
        <p:nvSpPr>
          <p:cNvPr id="33" name="Text 28"/>
          <p:cNvSpPr txBox="1"/>
          <p:nvPr/>
        </p:nvSpPr>
        <p:spPr>
          <a:xfrm>
            <a:off x="8266176" y="4608576"/>
            <a:ext cx="3054096" cy="219456"/>
          </a:xfrm>
          <a:prstGeom prst="rect">
            <a:avLst/>
          </a:prstGeom>
          <a:noFill/>
          <a:ln/>
        </p:spPr>
        <p:txBody>
          <a:bodyPr wrap="square" lIns="0" tIns="0" rIns="0" bIns="0" rtlCol="0" anchor="t"/>
          <a:lstStyle/>
          <a:p>
            <a:pPr algn="l" indent="0" marL="0">
              <a:buNone/>
            </a:pPr>
            <a:r>
              <a:rPr lang="en-US" sz="1060" i="1" dirty="0">
                <a:solidFill>
                  <a:srgbClr val="52606D"/>
                </a:solidFill>
                <a:latin typeface="Aptos" pitchFamily="34" charset="0"/>
                <a:ea typeface="Aptos" pitchFamily="34" charset="-122"/>
                <a:cs typeface="Aptos" pitchFamily="34" charset="-120"/>
              </a:rPr>
              <a:t>Convierte el operador en regla</a:t>
            </a:r>
            <a:endParaRPr lang="en-US" sz="1060" dirty="0"/>
          </a:p>
        </p:txBody>
      </p:sp>
      <p:sp>
        <p:nvSpPr>
          <p:cNvPr id="34" name="Shape 29"/>
          <p:cNvSpPr/>
          <p:nvPr/>
        </p:nvSpPr>
        <p:spPr>
          <a:xfrm>
            <a:off x="658368" y="5193792"/>
            <a:ext cx="10874959" cy="530352"/>
          </a:xfrm>
          <a:prstGeom prst="rect">
            <a:avLst/>
          </a:prstGeom>
          <a:solidFill>
            <a:srgbClr val="B3181E"/>
          </a:solidFill>
          <a:ln w="12700">
            <a:solidFill>
              <a:srgbClr val="B3181E"/>
            </a:solidFill>
            <a:prstDash val="solid"/>
          </a:ln>
        </p:spPr>
      </p:sp>
      <p:sp>
        <p:nvSpPr>
          <p:cNvPr id="35" name="Text 30"/>
          <p:cNvSpPr txBox="1"/>
          <p:nvPr/>
        </p:nvSpPr>
        <p:spPr>
          <a:xfrm>
            <a:off x="969264" y="5230368"/>
            <a:ext cx="10253167" cy="45720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Decisión: POSPONER. Una ambigüedad del requisito no se resuelve copiando el código.</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CRITERIO 2</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cambios concretos contra la suite recibida</a:t>
            </a:r>
            <a:endParaRPr lang="en-US" sz="3000" dirty="0"/>
          </a:p>
        </p:txBody>
      </p:sp>
      <p:sp>
        <p:nvSpPr>
          <p:cNvPr id="10" name="Text 7"/>
          <p:cNvSpPr txBox="1"/>
          <p:nvPr/>
        </p:nvSpPr>
        <p:spPr>
          <a:xfrm>
            <a:off x="658368" y="1773936"/>
            <a:ext cx="1014984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Cada cambio se aplica por separado; luego se ejecuta la suite y se restaura el proyecto antes del siguiente cambio.</a:t>
            </a:r>
            <a:endParaRPr lang="en-US" sz="1450" dirty="0"/>
          </a:p>
        </p:txBody>
      </p:sp>
      <p:sp>
        <p:nvSpPr>
          <p:cNvPr id="11" name="Shape 8"/>
          <p:cNvSpPr/>
          <p:nvPr/>
        </p:nvSpPr>
        <p:spPr>
          <a:xfrm>
            <a:off x="658368" y="2340864"/>
            <a:ext cx="10872216" cy="2176272"/>
          </a:xfrm>
          <a:prstGeom prst="roundRect">
            <a:avLst>
              <a:gd name="adj" fmla="val 1681"/>
            </a:avLst>
          </a:prstGeom>
          <a:solidFill>
            <a:srgbClr val="0F1720"/>
          </a:solidFill>
          <a:ln w="12700">
            <a:solidFill>
              <a:srgbClr val="0F1720"/>
            </a:solidFill>
            <a:prstDash val="solid"/>
          </a:ln>
        </p:spPr>
      </p:sp>
      <p:sp>
        <p:nvSpPr>
          <p:cNvPr id="12" name="Shape 9"/>
          <p:cNvSpPr/>
          <p:nvPr/>
        </p:nvSpPr>
        <p:spPr>
          <a:xfrm>
            <a:off x="786384" y="2450592"/>
            <a:ext cx="10616184"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23744"/>
            <a:ext cx="1036015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Resultado de la auditoría por mutación</a:t>
            </a:r>
            <a:endParaRPr lang="en-US" sz="1000" dirty="0"/>
          </a:p>
        </p:txBody>
      </p:sp>
      <p:sp>
        <p:nvSpPr>
          <p:cNvPr id="14" name="Text 11"/>
          <p:cNvSpPr/>
          <p:nvPr/>
        </p:nvSpPr>
        <p:spPr>
          <a:xfrm>
            <a:off x="877824" y="2907792"/>
            <a:ext cx="10122408"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MATADO     M1  puede_cancelar: '&gt;' cambia a '&gt;='</a:t>
            </a:r>
            <a:endParaRPr lang="en-US" sz="1040" dirty="0"/>
          </a:p>
        </p:txBody>
      </p:sp>
      <p:sp>
        <p:nvSpPr>
          <p:cNvPr id="15" name="Text 12"/>
          <p:cNvSpPr/>
          <p:nvPr/>
        </p:nvSpPr>
        <p:spPr>
          <a:xfrm>
            <a:off x="877824" y="3163824"/>
            <a:ext cx="10122408"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              1 failed, 3 passed in 0.09s</a:t>
            </a:r>
            <a:endParaRPr lang="en-US" sz="1040" dirty="0"/>
          </a:p>
        </p:txBody>
      </p:sp>
      <p:sp>
        <p:nvSpPr>
          <p:cNvPr id="16" name="Text 13"/>
          <p:cNvSpPr/>
          <p:nvPr/>
        </p:nvSpPr>
        <p:spPr>
          <a:xfrm>
            <a:off x="877824" y="3419856"/>
            <a:ext cx="10122408"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SOBREVIVE  M2  comprobante: deja de incluir el correo</a:t>
            </a:r>
            <a:endParaRPr lang="en-US" sz="1040" dirty="0"/>
          </a:p>
        </p:txBody>
      </p:sp>
      <p:sp>
        <p:nvSpPr>
          <p:cNvPr id="17" name="Text 14"/>
          <p:cNvSpPr/>
          <p:nvPr/>
        </p:nvSpPr>
        <p:spPr>
          <a:xfrm>
            <a:off x="877824" y="3675888"/>
            <a:ext cx="10122408"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              4 passed in 0.08s</a:t>
            </a:r>
            <a:endParaRPr lang="en-US" sz="1040" dirty="0"/>
          </a:p>
        </p:txBody>
      </p:sp>
      <p:sp>
        <p:nvSpPr>
          <p:cNvPr id="18" name="Text 15"/>
          <p:cNvSpPr/>
          <p:nvPr/>
        </p:nvSpPr>
        <p:spPr>
          <a:xfrm>
            <a:off x="877824" y="3931920"/>
            <a:ext cx="10122408"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SOBREVIVE  M3  enviar_confirmacion: agrega un parámetro</a:t>
            </a:r>
            <a:endParaRPr lang="en-US" sz="1040" dirty="0"/>
          </a:p>
        </p:txBody>
      </p:sp>
      <p:sp>
        <p:nvSpPr>
          <p:cNvPr id="19" name="Text 16"/>
          <p:cNvSpPr/>
          <p:nvPr/>
        </p:nvSpPr>
        <p:spPr>
          <a:xfrm>
            <a:off x="877824" y="4187952"/>
            <a:ext cx="10122408"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              4 passed in 0.08s</a:t>
            </a:r>
            <a:endParaRPr lang="en-US" sz="1040" dirty="0"/>
          </a:p>
        </p:txBody>
      </p:sp>
      <p:sp>
        <p:nvSpPr>
          <p:cNvPr id="20" name="Shape 17"/>
          <p:cNvSpPr/>
          <p:nvPr/>
        </p:nvSpPr>
        <p:spPr>
          <a:xfrm>
            <a:off x="658368" y="4736592"/>
            <a:ext cx="3493008" cy="877824"/>
          </a:xfrm>
          <a:prstGeom prst="rect">
            <a:avLst/>
          </a:prstGeom>
          <a:solidFill>
            <a:srgbClr val="FFFFFF"/>
          </a:solidFill>
          <a:ln w="12700">
            <a:solidFill>
              <a:srgbClr val="FFFFFF"/>
            </a:solidFill>
            <a:prstDash val="solid"/>
          </a:ln>
        </p:spPr>
      </p:sp>
      <p:sp>
        <p:nvSpPr>
          <p:cNvPr id="21" name="Text 18"/>
          <p:cNvSpPr txBox="1"/>
          <p:nvPr/>
        </p:nvSpPr>
        <p:spPr>
          <a:xfrm>
            <a:off x="859536" y="4882896"/>
            <a:ext cx="585216" cy="310896"/>
          </a:xfrm>
          <a:prstGeom prst="rect">
            <a:avLst/>
          </a:prstGeom>
          <a:noFill/>
          <a:ln/>
        </p:spPr>
        <p:txBody>
          <a:bodyPr wrap="square" lIns="0" tIns="0" rIns="0" bIns="0" rtlCol="0" anchor="t"/>
          <a:lstStyle/>
          <a:p>
            <a:pPr algn="l" indent="0" marL="0">
              <a:buNone/>
            </a:pPr>
            <a:r>
              <a:rPr lang="en-US" sz="2000" b="1" dirty="0">
                <a:solidFill>
                  <a:srgbClr val="2E7D4F"/>
                </a:solidFill>
                <a:latin typeface="Aptos Display" pitchFamily="34" charset="0"/>
                <a:ea typeface="Aptos Display" pitchFamily="34" charset="-122"/>
                <a:cs typeface="Aptos Display" pitchFamily="34" charset="-120"/>
              </a:rPr>
              <a:t>M1</a:t>
            </a:r>
            <a:endParaRPr lang="en-US" sz="2000" dirty="0"/>
          </a:p>
        </p:txBody>
      </p:sp>
      <p:sp>
        <p:nvSpPr>
          <p:cNvPr id="22" name="Text 19"/>
          <p:cNvSpPr txBox="1"/>
          <p:nvPr/>
        </p:nvSpPr>
        <p:spPr>
          <a:xfrm>
            <a:off x="1517904" y="4828032"/>
            <a:ext cx="2359152" cy="237744"/>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La prueba reacciona</a:t>
            </a:r>
            <a:endParaRPr lang="en-US" sz="1140" dirty="0"/>
          </a:p>
        </p:txBody>
      </p:sp>
      <p:sp>
        <p:nvSpPr>
          <p:cNvPr id="23" name="Text 20"/>
          <p:cNvSpPr txBox="1"/>
          <p:nvPr/>
        </p:nvSpPr>
        <p:spPr>
          <a:xfrm>
            <a:off x="1517904" y="5102352"/>
            <a:ext cx="2359152" cy="384048"/>
          </a:xfrm>
          <a:prstGeom prst="rect">
            <a:avLst/>
          </a:prstGeom>
          <a:noFill/>
          <a:ln/>
        </p:spPr>
        <p:txBody>
          <a:bodyPr wrap="square" lIns="0" tIns="0" rIns="0" bIns="0" rtlCol="0" anchor="t"/>
          <a:lstStyle/>
          <a:p>
            <a:pPr algn="l" indent="0" marL="0">
              <a:lnSpc>
                <a:spcPct val="110000"/>
              </a:lnSpc>
              <a:buNone/>
            </a:pPr>
            <a:r>
              <a:rPr lang="en-US" sz="1040" dirty="0">
                <a:solidFill>
                  <a:srgbClr val="52606D"/>
                </a:solidFill>
                <a:latin typeface="Aptos" pitchFamily="34" charset="0"/>
                <a:ea typeface="Aptos" pitchFamily="34" charset="-122"/>
                <a:cs typeface="Aptos" pitchFamily="34" charset="-120"/>
              </a:rPr>
              <a:t>Falta saber si defiende la regla correcta</a:t>
            </a:r>
            <a:endParaRPr lang="en-US" sz="1040" dirty="0"/>
          </a:p>
        </p:txBody>
      </p:sp>
      <p:sp>
        <p:nvSpPr>
          <p:cNvPr id="24" name="Shape 21"/>
          <p:cNvSpPr/>
          <p:nvPr/>
        </p:nvSpPr>
        <p:spPr>
          <a:xfrm>
            <a:off x="4352544" y="4736592"/>
            <a:ext cx="3493008" cy="877824"/>
          </a:xfrm>
          <a:prstGeom prst="rect">
            <a:avLst/>
          </a:prstGeom>
          <a:solidFill>
            <a:srgbClr val="FFFFFF"/>
          </a:solidFill>
          <a:ln w="12700">
            <a:solidFill>
              <a:srgbClr val="FFFFFF"/>
            </a:solidFill>
            <a:prstDash val="solid"/>
          </a:ln>
        </p:spPr>
      </p:sp>
      <p:sp>
        <p:nvSpPr>
          <p:cNvPr id="25" name="Text 22"/>
          <p:cNvSpPr txBox="1"/>
          <p:nvPr/>
        </p:nvSpPr>
        <p:spPr>
          <a:xfrm>
            <a:off x="4553712" y="4882896"/>
            <a:ext cx="585216" cy="310896"/>
          </a:xfrm>
          <a:prstGeom prst="rect">
            <a:avLst/>
          </a:prstGeom>
          <a:noFill/>
          <a:ln/>
        </p:spPr>
        <p:txBody>
          <a:bodyPr wrap="square" lIns="0" tIns="0" rIns="0" bIns="0" rtlCol="0" anchor="t"/>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M2</a:t>
            </a:r>
            <a:endParaRPr lang="en-US" sz="2000" dirty="0"/>
          </a:p>
        </p:txBody>
      </p:sp>
      <p:sp>
        <p:nvSpPr>
          <p:cNvPr id="26" name="Text 23"/>
          <p:cNvSpPr txBox="1"/>
          <p:nvPr/>
        </p:nvSpPr>
        <p:spPr>
          <a:xfrm>
            <a:off x="5212080" y="4828032"/>
            <a:ext cx="2359152" cy="237744"/>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La prueba no reacciona</a:t>
            </a:r>
            <a:endParaRPr lang="en-US" sz="1140" dirty="0"/>
          </a:p>
        </p:txBody>
      </p:sp>
      <p:sp>
        <p:nvSpPr>
          <p:cNvPr id="27" name="Text 24"/>
          <p:cNvSpPr txBox="1"/>
          <p:nvPr/>
        </p:nvSpPr>
        <p:spPr>
          <a:xfrm>
            <a:off x="5212080" y="5102352"/>
            <a:ext cx="2359152" cy="384048"/>
          </a:xfrm>
          <a:prstGeom prst="rect">
            <a:avLst/>
          </a:prstGeom>
          <a:noFill/>
          <a:ln/>
        </p:spPr>
        <p:txBody>
          <a:bodyPr wrap="square" lIns="0" tIns="0" rIns="0" bIns="0" rtlCol="0" anchor="t"/>
          <a:lstStyle/>
          <a:p>
            <a:pPr algn="l" indent="0" marL="0">
              <a:lnSpc>
                <a:spcPct val="110000"/>
              </a:lnSpc>
              <a:buNone/>
            </a:pPr>
            <a:r>
              <a:rPr lang="en-US" sz="1040" dirty="0">
                <a:solidFill>
                  <a:srgbClr val="52606D"/>
                </a:solidFill>
                <a:latin typeface="Aptos" pitchFamily="34" charset="0"/>
                <a:ea typeface="Aptos" pitchFamily="34" charset="-122"/>
                <a:cs typeface="Aptos" pitchFamily="34" charset="-120"/>
              </a:rPr>
              <a:t>La aserción acepta demasiadas salidas</a:t>
            </a:r>
            <a:endParaRPr lang="en-US" sz="1040" dirty="0"/>
          </a:p>
        </p:txBody>
      </p:sp>
      <p:sp>
        <p:nvSpPr>
          <p:cNvPr id="28" name="Shape 25"/>
          <p:cNvSpPr/>
          <p:nvPr/>
        </p:nvSpPr>
        <p:spPr>
          <a:xfrm>
            <a:off x="8046720" y="4736592"/>
            <a:ext cx="3493008" cy="877824"/>
          </a:xfrm>
          <a:prstGeom prst="rect">
            <a:avLst/>
          </a:prstGeom>
          <a:solidFill>
            <a:srgbClr val="FFFFFF"/>
          </a:solidFill>
          <a:ln w="12700">
            <a:solidFill>
              <a:srgbClr val="FFFFFF"/>
            </a:solidFill>
            <a:prstDash val="solid"/>
          </a:ln>
        </p:spPr>
      </p:sp>
      <p:sp>
        <p:nvSpPr>
          <p:cNvPr id="29" name="Text 26"/>
          <p:cNvSpPr txBox="1"/>
          <p:nvPr/>
        </p:nvSpPr>
        <p:spPr>
          <a:xfrm>
            <a:off x="8247888" y="4882896"/>
            <a:ext cx="585216" cy="310896"/>
          </a:xfrm>
          <a:prstGeom prst="rect">
            <a:avLst/>
          </a:prstGeom>
          <a:noFill/>
          <a:ln/>
        </p:spPr>
        <p:txBody>
          <a:bodyPr wrap="square" lIns="0" tIns="0" rIns="0" bIns="0" rtlCol="0" anchor="t"/>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M3</a:t>
            </a:r>
            <a:endParaRPr lang="en-US" sz="2000" dirty="0"/>
          </a:p>
        </p:txBody>
      </p:sp>
      <p:sp>
        <p:nvSpPr>
          <p:cNvPr id="30" name="Text 27"/>
          <p:cNvSpPr txBox="1"/>
          <p:nvPr/>
        </p:nvSpPr>
        <p:spPr>
          <a:xfrm>
            <a:off x="8906256" y="4828032"/>
            <a:ext cx="2359152" cy="237744"/>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La prueba no reacciona</a:t>
            </a:r>
            <a:endParaRPr lang="en-US" sz="1140" dirty="0"/>
          </a:p>
        </p:txBody>
      </p:sp>
      <p:sp>
        <p:nvSpPr>
          <p:cNvPr id="31" name="Text 28"/>
          <p:cNvSpPr txBox="1"/>
          <p:nvPr/>
        </p:nvSpPr>
        <p:spPr>
          <a:xfrm>
            <a:off x="8906256" y="5102352"/>
            <a:ext cx="2359152" cy="384048"/>
          </a:xfrm>
          <a:prstGeom prst="rect">
            <a:avLst/>
          </a:prstGeom>
          <a:noFill/>
          <a:ln/>
        </p:spPr>
        <p:txBody>
          <a:bodyPr wrap="square" lIns="0" tIns="0" rIns="0" bIns="0" rtlCol="0" anchor="t"/>
          <a:lstStyle/>
          <a:p>
            <a:pPr algn="l" indent="0" marL="0">
              <a:lnSpc>
                <a:spcPct val="110000"/>
              </a:lnSpc>
              <a:buNone/>
            </a:pPr>
            <a:r>
              <a:rPr lang="en-US" sz="1040" dirty="0">
                <a:solidFill>
                  <a:srgbClr val="52606D"/>
                </a:solidFill>
                <a:latin typeface="Aptos" pitchFamily="34" charset="0"/>
                <a:ea typeface="Aptos" pitchFamily="34" charset="-122"/>
                <a:cs typeface="Aptos" pitchFamily="34" charset="-120"/>
              </a:rPr>
              <a:t>El doble no conoce la firma real</a:t>
            </a:r>
            <a:endParaRPr lang="en-US" sz="1040" dirty="0"/>
          </a:p>
        </p:txBody>
      </p:sp>
      <p:sp>
        <p:nvSpPr>
          <p:cNvPr id="32" name="Shape 29"/>
          <p:cNvSpPr/>
          <p:nvPr/>
        </p:nvSpPr>
        <p:spPr>
          <a:xfrm>
            <a:off x="658368" y="5760720"/>
            <a:ext cx="10874959" cy="457200"/>
          </a:xfrm>
          <a:prstGeom prst="rect">
            <a:avLst/>
          </a:prstGeom>
          <a:solidFill>
            <a:srgbClr val="102A43"/>
          </a:solidFill>
          <a:ln w="12700">
            <a:solidFill>
              <a:srgbClr val="102A43"/>
            </a:solidFill>
            <a:prstDash val="solid"/>
          </a:ln>
        </p:spPr>
      </p:sp>
      <p:sp>
        <p:nvSpPr>
          <p:cNvPr id="33" name="Text 30"/>
          <p:cNvSpPr txBox="1"/>
          <p:nvPr/>
        </p:nvSpPr>
        <p:spPr>
          <a:xfrm>
            <a:off x="969264" y="5797296"/>
            <a:ext cx="10253167" cy="384048"/>
          </a:xfrm>
          <a:prstGeom prst="rect">
            <a:avLst/>
          </a:prstGeom>
          <a:noFill/>
          <a:ln/>
        </p:spPr>
        <p:txBody>
          <a:bodyPr wrap="square" lIns="0" tIns="0" rIns="0" bIns="0" rtlCol="0" anchor="ctr"/>
          <a:lstStyle/>
          <a:p>
            <a:pPr algn="ctr" indent="0" marL="0">
              <a:lnSpc>
                <a:spcPct val="110000"/>
              </a:lnSpc>
              <a:buNone/>
            </a:pPr>
            <a:r>
              <a:rPr lang="en-US" sz="1320" b="1" dirty="0">
                <a:solidFill>
                  <a:srgbClr val="FFFFFF"/>
                </a:solidFill>
                <a:latin typeface="Aptos" pitchFamily="34" charset="0"/>
                <a:ea typeface="Aptos" pitchFamily="34" charset="-122"/>
                <a:cs typeface="Aptos" pitchFamily="34" charset="-120"/>
              </a:rPr>
              <a:t>Matar un mutante demuestra poder de detección. Todavía no demuestra que el esperado sea correcto.</a:t>
            </a:r>
            <a:endParaRPr lang="en-US" sz="132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72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4 · LA LECTURA CONTRAINTUITIVA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La suite mató M1, pero defendió una regla no acordada</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«Matar» significa que la suite falló al cambiar &gt; por &gt;=. Eso demuestra sensibilidad, no que el resultado esperado sea correcto.</a:t>
            </a:r>
            <a:endParaRPr lang="en-US" sz="1450" dirty="0"/>
          </a:p>
        </p:txBody>
      </p:sp>
      <p:sp>
        <p:nvSpPr>
          <p:cNvPr id="11" name="Text 8"/>
          <p:cNvSpPr txBox="1"/>
          <p:nvPr/>
        </p:nvSpPr>
        <p:spPr>
          <a:xfrm>
            <a:off x="658368" y="2359152"/>
            <a:ext cx="3200400" cy="621792"/>
          </a:xfrm>
          <a:prstGeom prst="rect">
            <a:avLst/>
          </a:prstGeom>
          <a:noFill/>
          <a:ln/>
        </p:spPr>
        <p:txBody>
          <a:bodyPr wrap="square" lIns="0" tIns="0" rIns="0" bIns="0" rtlCol="0" anchor="t"/>
          <a:lstStyle/>
          <a:p>
            <a:pPr algn="l" indent="0" marL="0">
              <a:buNone/>
            </a:pPr>
            <a:r>
              <a:rPr lang="en-US" sz="4200" b="1" dirty="0">
                <a:solidFill>
                  <a:srgbClr val="3FAE6A"/>
                </a:solidFill>
                <a:latin typeface="Aptos Display" pitchFamily="34" charset="0"/>
                <a:ea typeface="Aptos Display" pitchFamily="34" charset="-122"/>
                <a:cs typeface="Aptos Display" pitchFamily="34" charset="-120"/>
              </a:rPr>
              <a:t>MATADO</a:t>
            </a:r>
            <a:endParaRPr lang="en-US" sz="4200" dirty="0"/>
          </a:p>
        </p:txBody>
      </p:sp>
      <p:sp>
        <p:nvSpPr>
          <p:cNvPr id="12" name="Text 9"/>
          <p:cNvSpPr txBox="1"/>
          <p:nvPr/>
        </p:nvSpPr>
        <p:spPr>
          <a:xfrm>
            <a:off x="658368" y="3017520"/>
            <a:ext cx="3200400" cy="274320"/>
          </a:xfrm>
          <a:prstGeom prst="rect">
            <a:avLst/>
          </a:prstGeom>
          <a:noFill/>
          <a:ln/>
        </p:spPr>
        <p:txBody>
          <a:bodyPr wrap="square" lIns="0" tIns="0" rIns="0" bIns="0" rtlCol="0" anchor="t"/>
          <a:lstStyle/>
          <a:p>
            <a:pPr algn="l" indent="0" marL="0">
              <a:buNone/>
            </a:pPr>
            <a:r>
              <a:rPr lang="en-US" sz="1300" dirty="0">
                <a:solidFill>
                  <a:srgbClr val="EADFD0"/>
                </a:solidFill>
                <a:latin typeface="Consolas" pitchFamily="34" charset="0"/>
                <a:ea typeface="Consolas" pitchFamily="34" charset="-122"/>
                <a:cs typeface="Consolas" pitchFamily="34" charset="-120"/>
              </a:rPr>
              <a:t>1 failed · 3 passed</a:t>
            </a:r>
            <a:endParaRPr lang="en-US" sz="1300" dirty="0"/>
          </a:p>
        </p:txBody>
      </p:sp>
      <p:sp>
        <p:nvSpPr>
          <p:cNvPr id="13" name="Shape 10"/>
          <p:cNvSpPr/>
          <p:nvPr/>
        </p:nvSpPr>
        <p:spPr>
          <a:xfrm>
            <a:off x="4133088" y="2340864"/>
            <a:ext cx="0" cy="1828800"/>
          </a:xfrm>
          <a:prstGeom prst="line">
            <a:avLst/>
          </a:prstGeom>
          <a:noFill/>
          <a:ln w="12700">
            <a:solidFill>
              <a:srgbClr val="E0BC5A"/>
            </a:solidFill>
            <a:prstDash val="solid"/>
            <a:headEnd type="none"/>
            <a:tailEnd type="none"/>
          </a:ln>
        </p:spPr>
      </p:sp>
      <p:sp>
        <p:nvSpPr>
          <p:cNvPr id="14" name="Text 11"/>
          <p:cNvSpPr txBox="1"/>
          <p:nvPr/>
        </p:nvSpPr>
        <p:spPr>
          <a:xfrm>
            <a:off x="4462272" y="2359152"/>
            <a:ext cx="6675120" cy="768096"/>
          </a:xfrm>
          <a:prstGeom prst="rect">
            <a:avLst/>
          </a:prstGeom>
          <a:noFill/>
          <a:ln/>
        </p:spPr>
        <p:txBody>
          <a:bodyPr wrap="square" lIns="0" tIns="0" rIns="0" bIns="0" rtlCol="0" anchor="t"/>
          <a:lstStyle/>
          <a:p>
            <a:pPr algn="l" indent="0" marL="0">
              <a:lnSpc>
                <a:spcPct val="116000"/>
              </a:lnSpc>
              <a:buNone/>
            </a:pPr>
            <a:r>
              <a:rPr lang="en-US" sz="1700" dirty="0">
                <a:solidFill>
                  <a:srgbClr val="FFFFFF"/>
                </a:solidFill>
                <a:latin typeface="Aptos" pitchFamily="34" charset="0"/>
                <a:ea typeface="Aptos" pitchFamily="34" charset="-122"/>
                <a:cs typeface="Aptos" pitchFamily="34" charset="-120"/>
              </a:rPr>
              <a:t>Si mañana el equipo decide que dos horas exactas sí permiten cancelar, cambiar &gt; por &gt;= corrige el código.</a:t>
            </a:r>
            <a:endParaRPr lang="en-US" sz="1700" dirty="0"/>
          </a:p>
        </p:txBody>
      </p:sp>
      <p:sp>
        <p:nvSpPr>
          <p:cNvPr id="15" name="Text 12"/>
          <p:cNvSpPr txBox="1"/>
          <p:nvPr/>
        </p:nvSpPr>
        <p:spPr>
          <a:xfrm>
            <a:off x="4462272" y="3255264"/>
            <a:ext cx="6675120" cy="475488"/>
          </a:xfrm>
          <a:prstGeom prst="rect">
            <a:avLst/>
          </a:prstGeom>
          <a:noFill/>
          <a:ln/>
        </p:spPr>
        <p:txBody>
          <a:bodyPr wrap="square" lIns="0" tIns="0" rIns="0" bIns="0" rtlCol="0" anchor="t"/>
          <a:lstStyle/>
          <a:p>
            <a:pPr algn="l" indent="0" marL="0">
              <a:buNone/>
            </a:pPr>
            <a:r>
              <a:rPr lang="en-US" sz="2200" b="1" dirty="0">
                <a:solidFill>
                  <a:srgbClr val="E0BC5A"/>
                </a:solidFill>
                <a:latin typeface="Aptos Display" pitchFamily="34" charset="0"/>
                <a:ea typeface="Aptos Display" pitchFamily="34" charset="-122"/>
                <a:cs typeface="Aptos Display" pitchFamily="34" charset="-120"/>
              </a:rPr>
              <a:t>La prueba se pondrá en rojo y presentará la corrección como una regresión.</a:t>
            </a:r>
            <a:endParaRPr lang="en-US" sz="2200" dirty="0"/>
          </a:p>
        </p:txBody>
      </p:sp>
      <p:sp>
        <p:nvSpPr>
          <p:cNvPr id="16" name="Shape 13"/>
          <p:cNvSpPr/>
          <p:nvPr/>
        </p:nvSpPr>
        <p:spPr>
          <a:xfrm>
            <a:off x="658368" y="4462272"/>
            <a:ext cx="10874959" cy="658368"/>
          </a:xfrm>
          <a:prstGeom prst="rect">
            <a:avLst/>
          </a:prstGeom>
          <a:solidFill>
            <a:srgbClr val="1D3A57"/>
          </a:solidFill>
          <a:ln w="12700">
            <a:solidFill>
              <a:srgbClr val="1D3A57"/>
            </a:solidFill>
            <a:prstDash val="solid"/>
          </a:ln>
        </p:spPr>
      </p:sp>
      <p:sp>
        <p:nvSpPr>
          <p:cNvPr id="17" name="Text 14"/>
          <p:cNvSpPr txBox="1"/>
          <p:nvPr/>
        </p:nvSpPr>
        <p:spPr>
          <a:xfrm>
            <a:off x="969264" y="4553712"/>
            <a:ext cx="10253167" cy="457200"/>
          </a:xfrm>
          <a:prstGeom prst="rect">
            <a:avLst/>
          </a:prstGeom>
          <a:noFill/>
          <a:ln/>
        </p:spPr>
        <p:txBody>
          <a:bodyPr wrap="square" lIns="0" tIns="0" rIns="0" bIns="0" rtlCol="0" anchor="ctr"/>
          <a:lstStyle/>
          <a:p>
            <a:pPr algn="ctr" indent="0" marL="0">
              <a:buNone/>
            </a:pPr>
            <a:r>
              <a:rPr lang="en-US" sz="1320" dirty="0">
                <a:solidFill>
                  <a:srgbClr val="FFFFFF"/>
                </a:solidFill>
                <a:latin typeface="Aptos" pitchFamily="34" charset="0"/>
                <a:ea typeface="Aptos" pitchFamily="34" charset="-122"/>
                <a:cs typeface="Aptos" pitchFamily="34" charset="-120"/>
              </a:rPr>
              <a:t>Una prueba cuyo esperado salió del código puede ser muy sensible. Su sensibilidad congela el comportamiento actual, incluido el defecto.</a:t>
            </a:r>
            <a:endParaRPr lang="en-US" sz="1320" dirty="0"/>
          </a:p>
        </p:txBody>
      </p:sp>
      <p:sp>
        <p:nvSpPr>
          <p:cNvPr id="18" name="Text 15"/>
          <p:cNvSpPr txBox="1"/>
          <p:nvPr/>
        </p:nvSpPr>
        <p:spPr>
          <a:xfrm>
            <a:off x="658368" y="5413248"/>
            <a:ext cx="3566160" cy="219456"/>
          </a:xfrm>
          <a:prstGeom prst="rect">
            <a:avLst/>
          </a:prstGeom>
          <a:noFill/>
          <a:ln/>
        </p:spPr>
        <p:txBody>
          <a:bodyPr wrap="square" lIns="0" tIns="0" rIns="0" bIns="0" rtlCol="0" anchor="t"/>
          <a:lstStyle/>
          <a:p>
            <a:pPr algn="l" indent="0" marL="0">
              <a:buNone/>
            </a:pPr>
            <a:r>
              <a:rPr lang="en-US" sz="1000" b="1" spc="140" kern="0" dirty="0">
                <a:solidFill>
                  <a:srgbClr val="3FAE6A"/>
                </a:solidFill>
                <a:latin typeface="Aptos" pitchFamily="34" charset="0"/>
                <a:ea typeface="Aptos" pitchFamily="34" charset="-122"/>
                <a:cs typeface="Aptos" pitchFamily="34" charset="-120"/>
              </a:rPr>
              <a:t>PODER DE DETECCIÓN</a:t>
            </a:r>
            <a:endParaRPr lang="en-US" sz="1000" dirty="0"/>
          </a:p>
        </p:txBody>
      </p:sp>
      <p:sp>
        <p:nvSpPr>
          <p:cNvPr id="19" name="Text 16"/>
          <p:cNvSpPr txBox="1"/>
          <p:nvPr/>
        </p:nvSpPr>
        <p:spPr>
          <a:xfrm>
            <a:off x="4315968" y="5376672"/>
            <a:ext cx="1737360" cy="310896"/>
          </a:xfrm>
          <a:prstGeom prst="rect">
            <a:avLst/>
          </a:prstGeom>
          <a:noFill/>
          <a:ln/>
        </p:spPr>
        <p:txBody>
          <a:bodyPr wrap="square" lIns="0" tIns="0" rIns="0" bIns="0" rtlCol="0" anchor="t"/>
          <a:lstStyle/>
          <a:p>
            <a:pPr algn="ctr" indent="0" marL="0">
              <a:buNone/>
            </a:pPr>
            <a:r>
              <a:rPr lang="en-US" sz="1400" i="1" dirty="0">
                <a:solidFill>
                  <a:srgbClr val="EADFD0"/>
                </a:solidFill>
                <a:latin typeface="Aptos" pitchFamily="34" charset="0"/>
                <a:ea typeface="Aptos" pitchFamily="34" charset="-122"/>
                <a:cs typeface="Aptos" pitchFamily="34" charset="-120"/>
              </a:rPr>
              <a:t>no sustituye</a:t>
            </a:r>
            <a:endParaRPr lang="en-US" sz="1400" dirty="0"/>
          </a:p>
        </p:txBody>
      </p:sp>
      <p:sp>
        <p:nvSpPr>
          <p:cNvPr id="20" name="Text 17"/>
          <p:cNvSpPr txBox="1"/>
          <p:nvPr/>
        </p:nvSpPr>
        <p:spPr>
          <a:xfrm>
            <a:off x="6309360" y="5413248"/>
            <a:ext cx="5230368" cy="219456"/>
          </a:xfrm>
          <a:prstGeom prst="rect">
            <a:avLst/>
          </a:prstGeom>
          <a:noFill/>
          <a:ln/>
        </p:spPr>
        <p:txBody>
          <a:bodyPr wrap="square" lIns="0" tIns="0" rIns="0" bIns="0" rtlCol="0" anchor="t"/>
          <a:lstStyle/>
          <a:p>
            <a:pPr algn="r" indent="0" marL="0">
              <a:buNone/>
            </a:pPr>
            <a:r>
              <a:rPr lang="en-US" sz="1000" b="1" spc="140" kern="0" dirty="0">
                <a:solidFill>
                  <a:srgbClr val="E0BC5A"/>
                </a:solidFill>
                <a:latin typeface="Aptos" pitchFamily="34" charset="0"/>
                <a:ea typeface="Aptos" pitchFamily="34" charset="-122"/>
                <a:cs typeface="Aptos" pitchFamily="34" charset="-120"/>
              </a:rPr>
              <a:t>PROCEDENCIA DEL ESPERADO</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LOS DOS SOBREVIVIENTES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suite deja sobrevivir M2 y M3 por razones distintas</a:t>
            </a:r>
            <a:endParaRPr lang="en-US" sz="3000" dirty="0"/>
          </a:p>
        </p:txBody>
      </p:sp>
      <p:sp>
        <p:nvSpPr>
          <p:cNvPr id="10" name="Text 7"/>
          <p:cNvSpPr txBox="1"/>
          <p:nvPr/>
        </p:nvSpPr>
        <p:spPr>
          <a:xfrm>
            <a:off x="658368" y="1773936"/>
            <a:ext cx="1033272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Uno revela una aserción demasiado amplia. El otro revela un doble desconectado de la dependencia.</a:t>
            </a:r>
            <a:endParaRPr lang="en-US" sz="1450" dirty="0"/>
          </a:p>
        </p:txBody>
      </p:sp>
      <p:sp>
        <p:nvSpPr>
          <p:cNvPr id="11" name="Shape 8"/>
          <p:cNvSpPr/>
          <p:nvPr/>
        </p:nvSpPr>
        <p:spPr>
          <a:xfrm>
            <a:off x="658368" y="2395728"/>
            <a:ext cx="5422392" cy="2871216"/>
          </a:xfrm>
          <a:prstGeom prst="rect">
            <a:avLst/>
          </a:prstGeom>
          <a:solidFill>
            <a:srgbClr val="FFFFFF"/>
          </a:solidFill>
          <a:ln w="12700">
            <a:solidFill>
              <a:srgbClr val="FFFFFF"/>
            </a:solidFill>
            <a:prstDash val="solid"/>
          </a:ln>
        </p:spPr>
      </p:sp>
      <p:sp>
        <p:nvSpPr>
          <p:cNvPr id="12" name="Shape 9"/>
          <p:cNvSpPr/>
          <p:nvPr/>
        </p:nvSpPr>
        <p:spPr>
          <a:xfrm>
            <a:off x="658368" y="2395728"/>
            <a:ext cx="5422392" cy="64008"/>
          </a:xfrm>
          <a:prstGeom prst="rect">
            <a:avLst/>
          </a:prstGeom>
          <a:solidFill>
            <a:srgbClr val="B3181E"/>
          </a:solidFill>
          <a:ln w="12700">
            <a:solidFill>
              <a:srgbClr val="B3181E"/>
            </a:solidFill>
            <a:prstDash val="solid"/>
          </a:ln>
        </p:spPr>
      </p:sp>
      <p:sp>
        <p:nvSpPr>
          <p:cNvPr id="13" name="Text 10"/>
          <p:cNvSpPr txBox="1"/>
          <p:nvPr/>
        </p:nvSpPr>
        <p:spPr>
          <a:xfrm>
            <a:off x="914400" y="2615184"/>
            <a:ext cx="731520" cy="457200"/>
          </a:xfrm>
          <a:prstGeom prst="rect">
            <a:avLst/>
          </a:prstGeom>
          <a:noFill/>
          <a:ln/>
        </p:spPr>
        <p:txBody>
          <a:bodyPr wrap="square" lIns="0" tIns="0" rIns="0" bIns="0" rtlCol="0" anchor="t"/>
          <a:lstStyle/>
          <a:p>
            <a:pPr algn="l" indent="0" marL="0">
              <a:buNone/>
            </a:pPr>
            <a:r>
              <a:rPr lang="en-US" sz="2800" b="1" dirty="0">
                <a:solidFill>
                  <a:srgbClr val="B3181E"/>
                </a:solidFill>
                <a:latin typeface="Aptos Display" pitchFamily="34" charset="0"/>
                <a:ea typeface="Aptos Display" pitchFamily="34" charset="-122"/>
                <a:cs typeface="Aptos Display" pitchFamily="34" charset="-120"/>
              </a:rPr>
              <a:t>M2</a:t>
            </a:r>
            <a:endParaRPr lang="en-US" sz="2800" dirty="0"/>
          </a:p>
        </p:txBody>
      </p:sp>
      <p:sp>
        <p:nvSpPr>
          <p:cNvPr id="14" name="Text 11"/>
          <p:cNvSpPr txBox="1"/>
          <p:nvPr/>
        </p:nvSpPr>
        <p:spPr>
          <a:xfrm>
            <a:off x="1737360" y="2633472"/>
            <a:ext cx="4041648" cy="402336"/>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Se elimina el correo del comprobante</a:t>
            </a:r>
            <a:endParaRPr lang="en-US" sz="1400" dirty="0"/>
          </a:p>
        </p:txBody>
      </p:sp>
      <p:sp>
        <p:nvSpPr>
          <p:cNvPr id="15" name="Shape 12"/>
          <p:cNvSpPr/>
          <p:nvPr/>
        </p:nvSpPr>
        <p:spPr>
          <a:xfrm>
            <a:off x="914400" y="3218688"/>
            <a:ext cx="4901184" cy="512064"/>
          </a:xfrm>
          <a:prstGeom prst="rect">
            <a:avLst/>
          </a:prstGeom>
          <a:solidFill>
            <a:srgbClr val="E6EEF7"/>
          </a:solidFill>
          <a:ln w="12700">
            <a:solidFill>
              <a:srgbClr val="E6EEF7"/>
            </a:solidFill>
            <a:prstDash val="solid"/>
          </a:ln>
        </p:spPr>
      </p:sp>
      <p:sp>
        <p:nvSpPr>
          <p:cNvPr id="16" name="Text 13"/>
          <p:cNvSpPr txBox="1"/>
          <p:nvPr/>
        </p:nvSpPr>
        <p:spPr>
          <a:xfrm>
            <a:off x="1097280" y="3337560"/>
            <a:ext cx="4535424" cy="256032"/>
          </a:xfrm>
          <a:prstGeom prst="rect">
            <a:avLst/>
          </a:prstGeom>
          <a:noFill/>
          <a:ln/>
        </p:spPr>
        <p:txBody>
          <a:bodyPr wrap="square" lIns="0" tIns="0" rIns="0" bIns="0" rtlCol="0" anchor="t"/>
          <a:lstStyle/>
          <a:p>
            <a:pPr algn="l" indent="0" marL="0">
              <a:buNone/>
            </a:pPr>
            <a:r>
              <a:rPr lang="en-US" sz="950" dirty="0">
                <a:solidFill>
                  <a:srgbClr val="243B53"/>
                </a:solidFill>
                <a:latin typeface="Consolas" pitchFamily="34" charset="0"/>
                <a:ea typeface="Consolas" pitchFamily="34" charset="-122"/>
                <a:cs typeface="Consolas" pitchFamily="34" charset="-120"/>
              </a:rPr>
              <a:t>assert "Ana Perez" in comprobante(...)</a:t>
            </a:r>
            <a:endParaRPr lang="en-US" sz="950" dirty="0"/>
          </a:p>
        </p:txBody>
      </p:sp>
      <p:sp>
        <p:nvSpPr>
          <p:cNvPr id="17" name="Text 14"/>
          <p:cNvSpPr txBox="1"/>
          <p:nvPr/>
        </p:nvSpPr>
        <p:spPr>
          <a:xfrm>
            <a:off x="914400" y="3931920"/>
            <a:ext cx="4901184" cy="585216"/>
          </a:xfrm>
          <a:prstGeom prst="rect">
            <a:avLst/>
          </a:prstGeom>
          <a:noFill/>
          <a:ln/>
        </p:spPr>
        <p:txBody>
          <a:bodyPr wrap="square" lIns="0" tIns="0" rIns="0" bIns="0" rtlCol="0" anchor="t"/>
          <a:lstStyle/>
          <a:p>
            <a:pPr algn="l" indent="0" marL="0">
              <a:lnSpc>
                <a:spcPct val="114000"/>
              </a:lnSpc>
              <a:buNone/>
            </a:pPr>
            <a:r>
              <a:rPr lang="en-US" sz="1200" dirty="0">
                <a:solidFill>
                  <a:srgbClr val="52606D"/>
                </a:solidFill>
                <a:latin typeface="Aptos" pitchFamily="34" charset="0"/>
                <a:ea typeface="Aptos" pitchFamily="34" charset="-122"/>
                <a:cs typeface="Aptos" pitchFamily="34" charset="-120"/>
              </a:rPr>
              <a:t>El nombre sigue presente. La prueba pasa aunque falte el correo y aunque el RUT completo siga expuesto.</a:t>
            </a:r>
            <a:endParaRPr lang="en-US" sz="1200" dirty="0"/>
          </a:p>
        </p:txBody>
      </p:sp>
      <p:sp>
        <p:nvSpPr>
          <p:cNvPr id="18" name="Shape 15"/>
          <p:cNvSpPr/>
          <p:nvPr/>
        </p:nvSpPr>
        <p:spPr>
          <a:xfrm>
            <a:off x="914400" y="4645152"/>
            <a:ext cx="4901184" cy="0"/>
          </a:xfrm>
          <a:prstGeom prst="line">
            <a:avLst/>
          </a:prstGeom>
          <a:noFill/>
          <a:ln w="12700">
            <a:solidFill>
              <a:srgbClr val="D8CFC4"/>
            </a:solidFill>
            <a:prstDash val="solid"/>
            <a:headEnd type="none"/>
            <a:tailEnd type="none"/>
          </a:ln>
        </p:spPr>
      </p:sp>
      <p:sp>
        <p:nvSpPr>
          <p:cNvPr id="19" name="Text 16"/>
          <p:cNvSpPr txBox="1"/>
          <p:nvPr/>
        </p:nvSpPr>
        <p:spPr>
          <a:xfrm>
            <a:off x="914400" y="4773168"/>
            <a:ext cx="4901184" cy="365760"/>
          </a:xfrm>
          <a:prstGeom prst="rect">
            <a:avLst/>
          </a:prstGeom>
          <a:noFill/>
          <a:ln/>
        </p:spPr>
        <p:txBody>
          <a:bodyPr wrap="square" lIns="0" tIns="0" rIns="0" bIns="0" rtlCol="0" anchor="t"/>
          <a:lstStyle/>
          <a:p>
            <a:pPr algn="l" indent="0" marL="0">
              <a:buNone/>
            </a:pPr>
            <a:r>
              <a:rPr lang="en-US" sz="1150" b="1" dirty="0">
                <a:solidFill>
                  <a:srgbClr val="B3181E"/>
                </a:solidFill>
                <a:latin typeface="Aptos" pitchFamily="34" charset="0"/>
                <a:ea typeface="Aptos" pitchFamily="34" charset="-122"/>
                <a:cs typeface="Aptos" pitchFamily="34" charset="-120"/>
              </a:rPr>
              <a:t>La aserción no distingue una salida correcta de una defectuosa.</a:t>
            </a:r>
            <a:endParaRPr lang="en-US" sz="1150" dirty="0"/>
          </a:p>
        </p:txBody>
      </p:sp>
      <p:sp>
        <p:nvSpPr>
          <p:cNvPr id="20" name="Shape 17"/>
          <p:cNvSpPr/>
          <p:nvPr/>
        </p:nvSpPr>
        <p:spPr>
          <a:xfrm>
            <a:off x="6108192" y="2395728"/>
            <a:ext cx="5422392" cy="2871216"/>
          </a:xfrm>
          <a:prstGeom prst="rect">
            <a:avLst/>
          </a:prstGeom>
          <a:solidFill>
            <a:srgbClr val="FFFFFF"/>
          </a:solidFill>
          <a:ln w="12700">
            <a:solidFill>
              <a:srgbClr val="FFFFFF"/>
            </a:solidFill>
            <a:prstDash val="solid"/>
          </a:ln>
        </p:spPr>
      </p:sp>
      <p:sp>
        <p:nvSpPr>
          <p:cNvPr id="21" name="Shape 18"/>
          <p:cNvSpPr/>
          <p:nvPr/>
        </p:nvSpPr>
        <p:spPr>
          <a:xfrm>
            <a:off x="6108192" y="2395728"/>
            <a:ext cx="5422392" cy="64008"/>
          </a:xfrm>
          <a:prstGeom prst="rect">
            <a:avLst/>
          </a:prstGeom>
          <a:solidFill>
            <a:srgbClr val="B3181E"/>
          </a:solidFill>
          <a:ln w="12700">
            <a:solidFill>
              <a:srgbClr val="B3181E"/>
            </a:solidFill>
            <a:prstDash val="solid"/>
          </a:ln>
        </p:spPr>
      </p:sp>
      <p:sp>
        <p:nvSpPr>
          <p:cNvPr id="22" name="Text 19"/>
          <p:cNvSpPr txBox="1"/>
          <p:nvPr/>
        </p:nvSpPr>
        <p:spPr>
          <a:xfrm>
            <a:off x="6364224" y="2615184"/>
            <a:ext cx="731520" cy="457200"/>
          </a:xfrm>
          <a:prstGeom prst="rect">
            <a:avLst/>
          </a:prstGeom>
          <a:noFill/>
          <a:ln/>
        </p:spPr>
        <p:txBody>
          <a:bodyPr wrap="square" lIns="0" tIns="0" rIns="0" bIns="0" rtlCol="0" anchor="t"/>
          <a:lstStyle/>
          <a:p>
            <a:pPr algn="l" indent="0" marL="0">
              <a:buNone/>
            </a:pPr>
            <a:r>
              <a:rPr lang="en-US" sz="2800" b="1" dirty="0">
                <a:solidFill>
                  <a:srgbClr val="B3181E"/>
                </a:solidFill>
                <a:latin typeface="Aptos Display" pitchFamily="34" charset="0"/>
                <a:ea typeface="Aptos Display" pitchFamily="34" charset="-122"/>
                <a:cs typeface="Aptos Display" pitchFamily="34" charset="-120"/>
              </a:rPr>
              <a:t>M3</a:t>
            </a:r>
            <a:endParaRPr lang="en-US" sz="2800" dirty="0"/>
          </a:p>
        </p:txBody>
      </p:sp>
      <p:sp>
        <p:nvSpPr>
          <p:cNvPr id="23" name="Text 20"/>
          <p:cNvSpPr txBox="1"/>
          <p:nvPr/>
        </p:nvSpPr>
        <p:spPr>
          <a:xfrm>
            <a:off x="7187184" y="2633472"/>
            <a:ext cx="4041648" cy="402336"/>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El servicio agrega un parámetro</a:t>
            </a:r>
            <a:endParaRPr lang="en-US" sz="1400" dirty="0"/>
          </a:p>
        </p:txBody>
      </p:sp>
      <p:sp>
        <p:nvSpPr>
          <p:cNvPr id="24" name="Shape 21"/>
          <p:cNvSpPr/>
          <p:nvPr/>
        </p:nvSpPr>
        <p:spPr>
          <a:xfrm>
            <a:off x="6364224" y="3218688"/>
            <a:ext cx="4901184" cy="512064"/>
          </a:xfrm>
          <a:prstGeom prst="rect">
            <a:avLst/>
          </a:prstGeom>
          <a:solidFill>
            <a:srgbClr val="E6EEF7"/>
          </a:solidFill>
          <a:ln w="12700">
            <a:solidFill>
              <a:srgbClr val="E6EEF7"/>
            </a:solidFill>
            <a:prstDash val="solid"/>
          </a:ln>
        </p:spPr>
      </p:sp>
      <p:sp>
        <p:nvSpPr>
          <p:cNvPr id="25" name="Text 22"/>
          <p:cNvSpPr txBox="1"/>
          <p:nvPr/>
        </p:nvSpPr>
        <p:spPr>
          <a:xfrm>
            <a:off x="6547104" y="3337560"/>
            <a:ext cx="4535424" cy="256032"/>
          </a:xfrm>
          <a:prstGeom prst="rect">
            <a:avLst/>
          </a:prstGeom>
          <a:noFill/>
          <a:ln/>
        </p:spPr>
        <p:txBody>
          <a:bodyPr wrap="square" lIns="0" tIns="0" rIns="0" bIns="0" rtlCol="0" anchor="t"/>
          <a:lstStyle/>
          <a:p>
            <a:pPr algn="l" indent="0" marL="0">
              <a:buNone/>
            </a:pPr>
            <a:r>
              <a:rPr lang="en-US" sz="950" dirty="0">
                <a:solidFill>
                  <a:srgbClr val="243B53"/>
                </a:solidFill>
                <a:latin typeface="Consolas" pitchFamily="34" charset="0"/>
                <a:ea typeface="Consolas" pitchFamily="34" charset="-122"/>
                <a:cs typeface="Consolas" pitchFamily="34" charset="-120"/>
              </a:rPr>
              <a:t>envio = Mock(return_value=True)</a:t>
            </a:r>
            <a:endParaRPr lang="en-US" sz="950" dirty="0"/>
          </a:p>
        </p:txBody>
      </p:sp>
      <p:sp>
        <p:nvSpPr>
          <p:cNvPr id="26" name="Text 23"/>
          <p:cNvSpPr txBox="1"/>
          <p:nvPr/>
        </p:nvSpPr>
        <p:spPr>
          <a:xfrm>
            <a:off x="6364224" y="3931920"/>
            <a:ext cx="4901184" cy="585216"/>
          </a:xfrm>
          <a:prstGeom prst="rect">
            <a:avLst/>
          </a:prstGeom>
          <a:noFill/>
          <a:ln/>
        </p:spPr>
        <p:txBody>
          <a:bodyPr wrap="square" lIns="0" tIns="0" rIns="0" bIns="0" rtlCol="0" anchor="t"/>
          <a:lstStyle/>
          <a:p>
            <a:pPr algn="l" indent="0" marL="0">
              <a:lnSpc>
                <a:spcPct val="114000"/>
              </a:lnSpc>
              <a:buNone/>
            </a:pPr>
            <a:r>
              <a:rPr lang="en-US" sz="1200" dirty="0">
                <a:solidFill>
                  <a:srgbClr val="52606D"/>
                </a:solidFill>
                <a:latin typeface="Aptos" pitchFamily="34" charset="0"/>
                <a:ea typeface="Aptos" pitchFamily="34" charset="-122"/>
                <a:cs typeface="Aptos" pitchFamily="34" charset="-120"/>
              </a:rPr>
              <a:t>El Mock acepta cualquier llamada. La prueba pasa aunque producción falle por la firma nueva.</a:t>
            </a:r>
            <a:endParaRPr lang="en-US" sz="1200" dirty="0"/>
          </a:p>
        </p:txBody>
      </p:sp>
      <p:sp>
        <p:nvSpPr>
          <p:cNvPr id="27" name="Shape 24"/>
          <p:cNvSpPr/>
          <p:nvPr/>
        </p:nvSpPr>
        <p:spPr>
          <a:xfrm>
            <a:off x="6364224" y="4645152"/>
            <a:ext cx="4901184" cy="0"/>
          </a:xfrm>
          <a:prstGeom prst="line">
            <a:avLst/>
          </a:prstGeom>
          <a:noFill/>
          <a:ln w="12700">
            <a:solidFill>
              <a:srgbClr val="D8CFC4"/>
            </a:solidFill>
            <a:prstDash val="solid"/>
            <a:headEnd type="none"/>
            <a:tailEnd type="none"/>
          </a:ln>
        </p:spPr>
      </p:sp>
      <p:sp>
        <p:nvSpPr>
          <p:cNvPr id="28" name="Text 25"/>
          <p:cNvSpPr txBox="1"/>
          <p:nvPr/>
        </p:nvSpPr>
        <p:spPr>
          <a:xfrm>
            <a:off x="6364224" y="4773168"/>
            <a:ext cx="4901184" cy="365760"/>
          </a:xfrm>
          <a:prstGeom prst="rect">
            <a:avLst/>
          </a:prstGeom>
          <a:noFill/>
          <a:ln/>
        </p:spPr>
        <p:txBody>
          <a:bodyPr wrap="square" lIns="0" tIns="0" rIns="0" bIns="0" rtlCol="0" anchor="t"/>
          <a:lstStyle/>
          <a:p>
            <a:pPr algn="l" indent="0" marL="0">
              <a:buNone/>
            </a:pPr>
            <a:r>
              <a:rPr lang="en-US" sz="1150" b="1" dirty="0">
                <a:solidFill>
                  <a:srgbClr val="B3181E"/>
                </a:solidFill>
                <a:latin typeface="Aptos" pitchFamily="34" charset="0"/>
                <a:ea typeface="Aptos" pitchFamily="34" charset="-122"/>
                <a:cs typeface="Aptos" pitchFamily="34" charset="-120"/>
              </a:rPr>
              <a:t>El doble no se derivó de la dependencia que sustituye.</a:t>
            </a:r>
            <a:endParaRPr lang="en-US" sz="1150" dirty="0"/>
          </a:p>
        </p:txBody>
      </p:sp>
      <p:sp>
        <p:nvSpPr>
          <p:cNvPr id="29" name="Shape 26"/>
          <p:cNvSpPr/>
          <p:nvPr/>
        </p:nvSpPr>
        <p:spPr>
          <a:xfrm>
            <a:off x="658368" y="5522976"/>
            <a:ext cx="10874959" cy="512064"/>
          </a:xfrm>
          <a:prstGeom prst="rect">
            <a:avLst/>
          </a:prstGeom>
          <a:solidFill>
            <a:srgbClr val="102A43"/>
          </a:solidFill>
          <a:ln w="12700">
            <a:solidFill>
              <a:srgbClr val="102A43"/>
            </a:solidFill>
            <a:prstDash val="solid"/>
          </a:ln>
        </p:spPr>
      </p:sp>
      <p:sp>
        <p:nvSpPr>
          <p:cNvPr id="30" name="Text 27"/>
          <p:cNvSpPr txBox="1"/>
          <p:nvPr/>
        </p:nvSpPr>
        <p:spPr>
          <a:xfrm>
            <a:off x="969264" y="5559552"/>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Dos pruebas en verde. Dos motivos diferentes para no incorporarlas tal como llegaron.</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CRITERIO 3</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doble se deriva de la dependencia real</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auditoría no descarta el caso de confirmación. Corrige la forma de construir su doble.</a:t>
            </a:r>
            <a:endParaRPr lang="en-US" sz="1450" dirty="0"/>
          </a:p>
        </p:txBody>
      </p:sp>
      <p:sp>
        <p:nvSpPr>
          <p:cNvPr id="11" name="Shape 8"/>
          <p:cNvSpPr/>
          <p:nvPr/>
        </p:nvSpPr>
        <p:spPr>
          <a:xfrm>
            <a:off x="658368" y="2395728"/>
            <a:ext cx="10872216" cy="1591056"/>
          </a:xfrm>
          <a:prstGeom prst="roundRect">
            <a:avLst>
              <a:gd name="adj" fmla="val 2299"/>
            </a:avLst>
          </a:prstGeom>
          <a:solidFill>
            <a:srgbClr val="102A43"/>
          </a:solidFill>
          <a:ln w="12700">
            <a:solidFill>
              <a:srgbClr val="102A43"/>
            </a:solidFill>
            <a:prstDash val="solid"/>
          </a:ln>
        </p:spPr>
      </p:sp>
      <p:sp>
        <p:nvSpPr>
          <p:cNvPr id="12" name="Shape 9"/>
          <p:cNvSpPr/>
          <p:nvPr/>
        </p:nvSpPr>
        <p:spPr>
          <a:xfrm>
            <a:off x="786384" y="2505456"/>
            <a:ext cx="10616184"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78608"/>
            <a:ext cx="1039672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modificación necesaria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62656"/>
            <a:ext cx="10451592" cy="841248"/>
          </a:xfrm>
          <a:prstGeom prst="rect">
            <a:avLst/>
          </a:prstGeom>
        </p:spPr>
      </p:pic>
      <p:sp>
        <p:nvSpPr>
          <p:cNvPr id="15" name="Shape 11"/>
          <p:cNvSpPr/>
          <p:nvPr/>
        </p:nvSpPr>
        <p:spPr>
          <a:xfrm>
            <a:off x="658368" y="4114800"/>
            <a:ext cx="6784848" cy="1280160"/>
          </a:xfrm>
          <a:prstGeom prst="roundRect">
            <a:avLst>
              <a:gd name="adj" fmla="val 2857"/>
            </a:avLst>
          </a:prstGeom>
          <a:solidFill>
            <a:srgbClr val="0F1720"/>
          </a:solidFill>
          <a:ln w="12700">
            <a:solidFill>
              <a:srgbClr val="0F1720"/>
            </a:solidFill>
            <a:prstDash val="solid"/>
          </a:ln>
        </p:spPr>
      </p:sp>
      <p:sp>
        <p:nvSpPr>
          <p:cNvPr id="16" name="Shape 12"/>
          <p:cNvSpPr/>
          <p:nvPr/>
        </p:nvSpPr>
        <p:spPr>
          <a:xfrm>
            <a:off x="786384" y="4224528"/>
            <a:ext cx="6528816"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914400" y="4297680"/>
            <a:ext cx="6272784"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 el servicio que ahora exige tres parámetros</a:t>
            </a:r>
            <a:endParaRPr lang="en-US" sz="1000" dirty="0"/>
          </a:p>
        </p:txBody>
      </p:sp>
      <p:sp>
        <p:nvSpPr>
          <p:cNvPr id="18" name="Text 14"/>
          <p:cNvSpPr/>
          <p:nvPr/>
        </p:nvSpPr>
        <p:spPr>
          <a:xfrm>
            <a:off x="877824" y="4681728"/>
            <a:ext cx="6035040" cy="164592"/>
          </a:xfrm>
          <a:prstGeom prst="rect">
            <a:avLst/>
          </a:prstGeom>
          <a:noFill/>
          <a:ln/>
        </p:spPr>
        <p:txBody>
          <a:bodyPr wrap="square" lIns="0" tIns="0" rIns="0" bIns="0" rtlCol="0" anchor="ctr"/>
          <a:lstStyle/>
          <a:p>
            <a:pPr indent="0" marL="0">
              <a:buNone/>
            </a:pPr>
            <a:r>
              <a:rPr lang="en-US" sz="1020" dirty="0">
                <a:solidFill>
                  <a:srgbClr val="8AA0B6"/>
                </a:solidFill>
                <a:latin typeface="Consolas" pitchFamily="34" charset="0"/>
                <a:ea typeface="Consolas" pitchFamily="34" charset="-122"/>
                <a:cs typeface="Consolas" pitchFamily="34" charset="-120"/>
              </a:rPr>
              <a:t>F.                                      [100%]</a:t>
            </a:r>
            <a:endParaRPr lang="en-US" sz="1020" dirty="0"/>
          </a:p>
        </p:txBody>
      </p:sp>
      <p:sp>
        <p:nvSpPr>
          <p:cNvPr id="19" name="Text 15"/>
          <p:cNvSpPr/>
          <p:nvPr/>
        </p:nvSpPr>
        <p:spPr>
          <a:xfrm>
            <a:off x="877824" y="4937760"/>
            <a:ext cx="6035040"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TypeError: missing a required argument: 'cuerpo'</a:t>
            </a:r>
            <a:endParaRPr lang="en-US" sz="1020" dirty="0"/>
          </a:p>
        </p:txBody>
      </p:sp>
      <p:sp>
        <p:nvSpPr>
          <p:cNvPr id="20" name="Text 16"/>
          <p:cNvSpPr/>
          <p:nvPr/>
        </p:nvSpPr>
        <p:spPr>
          <a:xfrm>
            <a:off x="877824" y="5193792"/>
            <a:ext cx="6035040"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1 failed, 1 passed in 0.09s</a:t>
            </a:r>
            <a:endParaRPr lang="en-US" sz="1020" dirty="0"/>
          </a:p>
        </p:txBody>
      </p:sp>
      <p:sp>
        <p:nvSpPr>
          <p:cNvPr id="21" name="Shape 17"/>
          <p:cNvSpPr/>
          <p:nvPr/>
        </p:nvSpPr>
        <p:spPr>
          <a:xfrm>
            <a:off x="7680960" y="4114800"/>
            <a:ext cx="3849624" cy="1280160"/>
          </a:xfrm>
          <a:prstGeom prst="rect">
            <a:avLst/>
          </a:prstGeom>
          <a:solidFill>
            <a:srgbClr val="EDE6DA"/>
          </a:solidFill>
          <a:ln w="12700">
            <a:solidFill>
              <a:srgbClr val="EDE6DA"/>
            </a:solidFill>
            <a:prstDash val="solid"/>
          </a:ln>
        </p:spPr>
      </p:sp>
      <p:sp>
        <p:nvSpPr>
          <p:cNvPr id="22" name="Text 18"/>
          <p:cNvSpPr txBox="1"/>
          <p:nvPr/>
        </p:nvSpPr>
        <p:spPr>
          <a:xfrm>
            <a:off x="7936992" y="4297680"/>
            <a:ext cx="201168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DECISIÓN</a:t>
            </a:r>
            <a:endParaRPr lang="en-US" sz="960" dirty="0"/>
          </a:p>
        </p:txBody>
      </p:sp>
      <p:sp>
        <p:nvSpPr>
          <p:cNvPr id="23" name="Text 19"/>
          <p:cNvSpPr txBox="1"/>
          <p:nvPr/>
        </p:nvSpPr>
        <p:spPr>
          <a:xfrm>
            <a:off x="7936992" y="4590288"/>
            <a:ext cx="3328416" cy="384048"/>
          </a:xfrm>
          <a:prstGeom prst="rect">
            <a:avLst/>
          </a:prstGeom>
          <a:noFill/>
          <a:ln/>
        </p:spPr>
        <p:txBody>
          <a:bodyPr wrap="square" lIns="0" tIns="0" rIns="0" bIns="0" rtlCol="0" anchor="t"/>
          <a:lstStyle/>
          <a:p>
            <a:pPr algn="l" indent="0" marL="0">
              <a:buNone/>
            </a:pPr>
            <a:r>
              <a:rPr lang="en-US" sz="2400" b="1" dirty="0">
                <a:solidFill>
                  <a:srgbClr val="102A43"/>
                </a:solidFill>
                <a:latin typeface="Aptos Display" pitchFamily="34" charset="0"/>
                <a:ea typeface="Aptos Display" pitchFamily="34" charset="-122"/>
                <a:cs typeface="Aptos Display" pitchFamily="34" charset="-120"/>
              </a:rPr>
              <a:t>MODIFICAR</a:t>
            </a:r>
            <a:endParaRPr lang="en-US" sz="2400" dirty="0"/>
          </a:p>
        </p:txBody>
      </p:sp>
      <p:sp>
        <p:nvSpPr>
          <p:cNvPr id="24" name="Text 20"/>
          <p:cNvSpPr txBox="1"/>
          <p:nvPr/>
        </p:nvSpPr>
        <p:spPr>
          <a:xfrm>
            <a:off x="7936992" y="4992624"/>
            <a:ext cx="3328416" cy="274320"/>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El caso es válido. El doble no lo era.</a:t>
            </a:r>
            <a:endParaRPr lang="en-US" sz="1140" dirty="0"/>
          </a:p>
        </p:txBody>
      </p:sp>
      <p:sp>
        <p:nvSpPr>
          <p:cNvPr id="25" name="Shape 21"/>
          <p:cNvSpPr/>
          <p:nvPr/>
        </p:nvSpPr>
        <p:spPr>
          <a:xfrm>
            <a:off x="658368" y="5577840"/>
            <a:ext cx="10874959" cy="475488"/>
          </a:xfrm>
          <a:prstGeom prst="rect">
            <a:avLst/>
          </a:prstGeom>
          <a:solidFill>
            <a:srgbClr val="102A43"/>
          </a:solidFill>
          <a:ln w="12700">
            <a:solidFill>
              <a:srgbClr val="102A43"/>
            </a:solidFill>
            <a:prstDash val="solid"/>
          </a:ln>
        </p:spPr>
      </p:sp>
      <p:sp>
        <p:nvSpPr>
          <p:cNvPr id="26" name="Text 22"/>
          <p:cNvSpPr txBox="1"/>
          <p:nvPr/>
        </p:nvSpPr>
        <p:spPr>
          <a:xfrm>
            <a:off x="969264" y="5614416"/>
            <a:ext cx="10253167" cy="402336"/>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auditoría conserva la intención útil y elimina la suposición que la volvía engañosa.</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RESULTADO DE LA AUDITORÍA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pruebas, cuatro decisiones justificadas</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Auditar termina en una resolución registrada. «La dejo por si acaso» no es una quinta opción.</a:t>
            </a:r>
            <a:endParaRPr lang="en-US" sz="1450" dirty="0"/>
          </a:p>
        </p:txBody>
      </p:sp>
      <p:sp>
        <p:nvSpPr>
          <p:cNvPr id="11" name="Shape 8"/>
          <p:cNvSpPr/>
          <p:nvPr/>
        </p:nvSpPr>
        <p:spPr>
          <a:xfrm>
            <a:off x="658368" y="2359152"/>
            <a:ext cx="10874959" cy="694944"/>
          </a:xfrm>
          <a:prstGeom prst="rect">
            <a:avLst/>
          </a:prstGeom>
          <a:solidFill>
            <a:srgbClr val="FFFFFF"/>
          </a:solidFill>
          <a:ln w="12700">
            <a:solidFill>
              <a:srgbClr val="FFFFFF"/>
            </a:solidFill>
            <a:prstDash val="solid"/>
          </a:ln>
        </p:spPr>
      </p:sp>
      <p:sp>
        <p:nvSpPr>
          <p:cNvPr id="12" name="Shape 9"/>
          <p:cNvSpPr/>
          <p:nvPr/>
        </p:nvSpPr>
        <p:spPr>
          <a:xfrm>
            <a:off x="658368" y="2359152"/>
            <a:ext cx="54864" cy="694944"/>
          </a:xfrm>
          <a:prstGeom prst="rect">
            <a:avLst/>
          </a:prstGeom>
          <a:solidFill>
            <a:srgbClr val="2E7D4F"/>
          </a:solidFill>
          <a:ln w="12700">
            <a:solidFill>
              <a:srgbClr val="2E7D4F"/>
            </a:solidFill>
            <a:prstDash val="solid"/>
          </a:ln>
        </p:spPr>
      </p:sp>
      <p:sp>
        <p:nvSpPr>
          <p:cNvPr id="13" name="Text 10"/>
          <p:cNvSpPr txBox="1"/>
          <p:nvPr/>
        </p:nvSpPr>
        <p:spPr>
          <a:xfrm>
            <a:off x="932688" y="2478024"/>
            <a:ext cx="1572768" cy="274320"/>
          </a:xfrm>
          <a:prstGeom prst="rect">
            <a:avLst/>
          </a:prstGeom>
          <a:noFill/>
          <a:ln/>
        </p:spPr>
        <p:txBody>
          <a:bodyPr wrap="square" lIns="0" tIns="0" rIns="0" bIns="0" rtlCol="0" anchor="t"/>
          <a:lstStyle/>
          <a:p>
            <a:pPr algn="l" indent="0" marL="0">
              <a:buNone/>
            </a:pPr>
            <a:r>
              <a:rPr lang="en-US" sz="1100" b="1" spc="100" kern="0" dirty="0">
                <a:solidFill>
                  <a:srgbClr val="2E7D4F"/>
                </a:solidFill>
                <a:latin typeface="Aptos" pitchFamily="34" charset="0"/>
                <a:ea typeface="Aptos" pitchFamily="34" charset="-122"/>
                <a:cs typeface="Aptos" pitchFamily="34" charset="-120"/>
              </a:rPr>
              <a:t>ACEPTAR</a:t>
            </a:r>
            <a:endParaRPr lang="en-US" sz="1100" dirty="0"/>
          </a:p>
        </p:txBody>
      </p:sp>
      <p:sp>
        <p:nvSpPr>
          <p:cNvPr id="14" name="Text 11"/>
          <p:cNvSpPr txBox="1"/>
          <p:nvPr/>
        </p:nvSpPr>
        <p:spPr>
          <a:xfrm>
            <a:off x="2688336" y="2468880"/>
            <a:ext cx="4297680" cy="420624"/>
          </a:xfrm>
          <a:prstGeom prst="rect">
            <a:avLst/>
          </a:prstGeom>
          <a:noFill/>
          <a:ln/>
        </p:spPr>
        <p:txBody>
          <a:bodyPr wrap="square" lIns="0" tIns="0" rIns="0" bIns="0" rtlCol="0" anchor="ctr"/>
          <a:lstStyle/>
          <a:p>
            <a:pPr algn="l" indent="0" marL="0">
              <a:buNone/>
            </a:pPr>
            <a:r>
              <a:rPr lang="en-US" sz="920" dirty="0">
                <a:solidFill>
                  <a:srgbClr val="243B53"/>
                </a:solidFill>
                <a:latin typeface="Consolas" pitchFamily="34" charset="0"/>
                <a:ea typeface="Consolas" pitchFamily="34" charset="-122"/>
                <a:cs typeface="Consolas" pitchFamily="34" charset="-120"/>
              </a:rPr>
              <a:t>test_no_se_reserva_un_bloque_ocupado</a:t>
            </a:r>
            <a:endParaRPr lang="en-US" sz="920" dirty="0"/>
          </a:p>
        </p:txBody>
      </p:sp>
      <p:sp>
        <p:nvSpPr>
          <p:cNvPr id="15" name="Text 12"/>
          <p:cNvSpPr txBox="1"/>
          <p:nvPr/>
        </p:nvSpPr>
        <p:spPr>
          <a:xfrm>
            <a:off x="7205472" y="2450592"/>
            <a:ext cx="4035247" cy="457200"/>
          </a:xfrm>
          <a:prstGeom prst="rect">
            <a:avLst/>
          </a:prstGeom>
          <a:noFill/>
          <a:ln/>
        </p:spPr>
        <p:txBody>
          <a:bodyPr wrap="square" lIns="0" tIns="0" rIns="0" bIns="0" rtlCol="0" anchor="ctr"/>
          <a:lstStyle/>
          <a:p>
            <a:pPr algn="l" indent="0" marL="0">
              <a:lnSpc>
                <a:spcPct val="110000"/>
              </a:lnSpc>
              <a:buNone/>
            </a:pPr>
            <a:r>
              <a:rPr lang="en-US" sz="1080" dirty="0">
                <a:solidFill>
                  <a:srgbClr val="52606D"/>
                </a:solidFill>
                <a:latin typeface="Aptos" pitchFamily="34" charset="0"/>
                <a:ea typeface="Aptos" pitchFamily="34" charset="-122"/>
                <a:cs typeface="Aptos" pitchFamily="34" charset="-120"/>
              </a:rPr>
              <a:t>El esperado sale del requisito y la prueba mata el cambio correspondiente.</a:t>
            </a:r>
            <a:endParaRPr lang="en-US" sz="1080" dirty="0"/>
          </a:p>
        </p:txBody>
      </p:sp>
      <p:sp>
        <p:nvSpPr>
          <p:cNvPr id="16" name="Shape 13"/>
          <p:cNvSpPr/>
          <p:nvPr/>
        </p:nvSpPr>
        <p:spPr>
          <a:xfrm>
            <a:off x="658368" y="3163824"/>
            <a:ext cx="10874959" cy="694944"/>
          </a:xfrm>
          <a:prstGeom prst="rect">
            <a:avLst/>
          </a:prstGeom>
          <a:solidFill>
            <a:srgbClr val="EDE6DA"/>
          </a:solidFill>
          <a:ln w="12700">
            <a:solidFill>
              <a:srgbClr val="EDE6DA"/>
            </a:solidFill>
            <a:prstDash val="solid"/>
          </a:ln>
        </p:spPr>
      </p:sp>
      <p:sp>
        <p:nvSpPr>
          <p:cNvPr id="17" name="Shape 14"/>
          <p:cNvSpPr/>
          <p:nvPr/>
        </p:nvSpPr>
        <p:spPr>
          <a:xfrm>
            <a:off x="658368" y="3163824"/>
            <a:ext cx="54864" cy="694944"/>
          </a:xfrm>
          <a:prstGeom prst="rect">
            <a:avLst/>
          </a:prstGeom>
          <a:solidFill>
            <a:srgbClr val="102A43"/>
          </a:solidFill>
          <a:ln w="12700">
            <a:solidFill>
              <a:srgbClr val="102A43"/>
            </a:solidFill>
            <a:prstDash val="solid"/>
          </a:ln>
        </p:spPr>
      </p:sp>
      <p:sp>
        <p:nvSpPr>
          <p:cNvPr id="18" name="Text 15"/>
          <p:cNvSpPr txBox="1"/>
          <p:nvPr/>
        </p:nvSpPr>
        <p:spPr>
          <a:xfrm>
            <a:off x="932688" y="3282696"/>
            <a:ext cx="1572768" cy="274320"/>
          </a:xfrm>
          <a:prstGeom prst="rect">
            <a:avLst/>
          </a:prstGeom>
          <a:noFill/>
          <a:ln/>
        </p:spPr>
        <p:txBody>
          <a:bodyPr wrap="square" lIns="0" tIns="0" rIns="0" bIns="0" rtlCol="0" anchor="t"/>
          <a:lstStyle/>
          <a:p>
            <a:pPr algn="l" indent="0" marL="0">
              <a:buNone/>
            </a:pPr>
            <a:r>
              <a:rPr lang="en-US" sz="1100" b="1" spc="100" kern="0" dirty="0">
                <a:solidFill>
                  <a:srgbClr val="102A43"/>
                </a:solidFill>
                <a:latin typeface="Aptos" pitchFamily="34" charset="0"/>
                <a:ea typeface="Aptos" pitchFamily="34" charset="-122"/>
                <a:cs typeface="Aptos" pitchFamily="34" charset="-120"/>
              </a:rPr>
              <a:t>MODIFICAR</a:t>
            </a:r>
            <a:endParaRPr lang="en-US" sz="1100" dirty="0"/>
          </a:p>
        </p:txBody>
      </p:sp>
      <p:sp>
        <p:nvSpPr>
          <p:cNvPr id="19" name="Text 16"/>
          <p:cNvSpPr txBox="1"/>
          <p:nvPr/>
        </p:nvSpPr>
        <p:spPr>
          <a:xfrm>
            <a:off x="2688336" y="3273552"/>
            <a:ext cx="4297680" cy="420624"/>
          </a:xfrm>
          <a:prstGeom prst="rect">
            <a:avLst/>
          </a:prstGeom>
          <a:noFill/>
          <a:ln/>
        </p:spPr>
        <p:txBody>
          <a:bodyPr wrap="square" lIns="0" tIns="0" rIns="0" bIns="0" rtlCol="0" anchor="ctr"/>
          <a:lstStyle/>
          <a:p>
            <a:pPr algn="l" indent="0" marL="0">
              <a:buNone/>
            </a:pPr>
            <a:r>
              <a:rPr lang="en-US" sz="920" dirty="0">
                <a:solidFill>
                  <a:srgbClr val="243B53"/>
                </a:solidFill>
                <a:latin typeface="Consolas" pitchFamily="34" charset="0"/>
                <a:ea typeface="Consolas" pitchFamily="34" charset="-122"/>
                <a:cs typeface="Consolas" pitchFamily="34" charset="-120"/>
              </a:rPr>
              <a:t>test_confirmacion_exitosa</a:t>
            </a:r>
            <a:endParaRPr lang="en-US" sz="920" dirty="0"/>
          </a:p>
        </p:txBody>
      </p:sp>
      <p:sp>
        <p:nvSpPr>
          <p:cNvPr id="20" name="Text 17"/>
          <p:cNvSpPr txBox="1"/>
          <p:nvPr/>
        </p:nvSpPr>
        <p:spPr>
          <a:xfrm>
            <a:off x="7205472" y="3255264"/>
            <a:ext cx="4035247" cy="457200"/>
          </a:xfrm>
          <a:prstGeom prst="rect">
            <a:avLst/>
          </a:prstGeom>
          <a:noFill/>
          <a:ln/>
        </p:spPr>
        <p:txBody>
          <a:bodyPr wrap="square" lIns="0" tIns="0" rIns="0" bIns="0" rtlCol="0" anchor="ctr"/>
          <a:lstStyle/>
          <a:p>
            <a:pPr algn="l" indent="0" marL="0">
              <a:lnSpc>
                <a:spcPct val="110000"/>
              </a:lnSpc>
              <a:buNone/>
            </a:pPr>
            <a:r>
              <a:rPr lang="en-US" sz="1080" dirty="0">
                <a:solidFill>
                  <a:srgbClr val="52606D"/>
                </a:solidFill>
                <a:latin typeface="Aptos" pitchFamily="34" charset="0"/>
                <a:ea typeface="Aptos" pitchFamily="34" charset="-122"/>
                <a:cs typeface="Aptos" pitchFamily="34" charset="-120"/>
              </a:rPr>
              <a:t>El caso es correcto. El Mock suelto se reemplaza por un doble derivado.</a:t>
            </a:r>
            <a:endParaRPr lang="en-US" sz="1080" dirty="0"/>
          </a:p>
        </p:txBody>
      </p:sp>
      <p:sp>
        <p:nvSpPr>
          <p:cNvPr id="21" name="Shape 18"/>
          <p:cNvSpPr/>
          <p:nvPr/>
        </p:nvSpPr>
        <p:spPr>
          <a:xfrm>
            <a:off x="658368" y="3968496"/>
            <a:ext cx="10874959" cy="694944"/>
          </a:xfrm>
          <a:prstGeom prst="rect">
            <a:avLst/>
          </a:prstGeom>
          <a:solidFill>
            <a:srgbClr val="FFFFFF"/>
          </a:solidFill>
          <a:ln w="12700">
            <a:solidFill>
              <a:srgbClr val="FFFFFF"/>
            </a:solidFill>
            <a:prstDash val="solid"/>
          </a:ln>
        </p:spPr>
      </p:sp>
      <p:sp>
        <p:nvSpPr>
          <p:cNvPr id="22" name="Shape 19"/>
          <p:cNvSpPr/>
          <p:nvPr/>
        </p:nvSpPr>
        <p:spPr>
          <a:xfrm>
            <a:off x="658368" y="3968496"/>
            <a:ext cx="54864" cy="694944"/>
          </a:xfrm>
          <a:prstGeom prst="rect">
            <a:avLst/>
          </a:prstGeom>
          <a:solidFill>
            <a:srgbClr val="8A6A12"/>
          </a:solidFill>
          <a:ln w="12700">
            <a:solidFill>
              <a:srgbClr val="8A6A12"/>
            </a:solidFill>
            <a:prstDash val="solid"/>
          </a:ln>
        </p:spPr>
      </p:sp>
      <p:sp>
        <p:nvSpPr>
          <p:cNvPr id="23" name="Text 20"/>
          <p:cNvSpPr txBox="1"/>
          <p:nvPr/>
        </p:nvSpPr>
        <p:spPr>
          <a:xfrm>
            <a:off x="932688" y="4087368"/>
            <a:ext cx="1572768" cy="274320"/>
          </a:xfrm>
          <a:prstGeom prst="rect">
            <a:avLst/>
          </a:prstGeom>
          <a:noFill/>
          <a:ln/>
        </p:spPr>
        <p:txBody>
          <a:bodyPr wrap="square" lIns="0" tIns="0" rIns="0" bIns="0" rtlCol="0" anchor="t"/>
          <a:lstStyle/>
          <a:p>
            <a:pPr algn="l" indent="0" marL="0">
              <a:buNone/>
            </a:pPr>
            <a:r>
              <a:rPr lang="en-US" sz="1100" b="1" spc="100" kern="0" dirty="0">
                <a:solidFill>
                  <a:srgbClr val="8A6A12"/>
                </a:solidFill>
                <a:latin typeface="Aptos" pitchFamily="34" charset="0"/>
                <a:ea typeface="Aptos" pitchFamily="34" charset="-122"/>
                <a:cs typeface="Aptos" pitchFamily="34" charset="-120"/>
              </a:rPr>
              <a:t>POSPONER</a:t>
            </a:r>
            <a:endParaRPr lang="en-US" sz="1100" dirty="0"/>
          </a:p>
        </p:txBody>
      </p:sp>
      <p:sp>
        <p:nvSpPr>
          <p:cNvPr id="24" name="Text 21"/>
          <p:cNvSpPr txBox="1"/>
          <p:nvPr/>
        </p:nvSpPr>
        <p:spPr>
          <a:xfrm>
            <a:off x="2688336" y="4078224"/>
            <a:ext cx="4297680" cy="420624"/>
          </a:xfrm>
          <a:prstGeom prst="rect">
            <a:avLst/>
          </a:prstGeom>
          <a:noFill/>
          <a:ln/>
        </p:spPr>
        <p:txBody>
          <a:bodyPr wrap="square" lIns="0" tIns="0" rIns="0" bIns="0" rtlCol="0" anchor="ctr"/>
          <a:lstStyle/>
          <a:p>
            <a:pPr algn="l" indent="0" marL="0">
              <a:buNone/>
            </a:pPr>
            <a:r>
              <a:rPr lang="en-US" sz="920" dirty="0">
                <a:solidFill>
                  <a:srgbClr val="243B53"/>
                </a:solidFill>
                <a:latin typeface="Consolas" pitchFamily="34" charset="0"/>
                <a:ea typeface="Consolas" pitchFamily="34" charset="-122"/>
                <a:cs typeface="Consolas" pitchFamily="34" charset="-120"/>
              </a:rPr>
              <a:t>test_cancelar_con_exactamente_dos_horas_no_se_permite</a:t>
            </a:r>
            <a:endParaRPr lang="en-US" sz="920" dirty="0"/>
          </a:p>
        </p:txBody>
      </p:sp>
      <p:sp>
        <p:nvSpPr>
          <p:cNvPr id="25" name="Text 22"/>
          <p:cNvSpPr txBox="1"/>
          <p:nvPr/>
        </p:nvSpPr>
        <p:spPr>
          <a:xfrm>
            <a:off x="7205472" y="4059936"/>
            <a:ext cx="4035247" cy="457200"/>
          </a:xfrm>
          <a:prstGeom prst="rect">
            <a:avLst/>
          </a:prstGeom>
          <a:noFill/>
          <a:ln/>
        </p:spPr>
        <p:txBody>
          <a:bodyPr wrap="square" lIns="0" tIns="0" rIns="0" bIns="0" rtlCol="0" anchor="ctr"/>
          <a:lstStyle/>
          <a:p>
            <a:pPr algn="l" indent="0" marL="0">
              <a:lnSpc>
                <a:spcPct val="110000"/>
              </a:lnSpc>
              <a:buNone/>
            </a:pPr>
            <a:r>
              <a:rPr lang="en-US" sz="1080" dirty="0">
                <a:solidFill>
                  <a:srgbClr val="52606D"/>
                </a:solidFill>
                <a:latin typeface="Aptos" pitchFamily="34" charset="0"/>
                <a:ea typeface="Aptos" pitchFamily="34" charset="-122"/>
                <a:cs typeface="Aptos" pitchFamily="34" charset="-120"/>
              </a:rPr>
              <a:t>El requisito no decide la igualdad. Falta una decisión del equipo.</a:t>
            </a:r>
            <a:endParaRPr lang="en-US" sz="1080" dirty="0"/>
          </a:p>
        </p:txBody>
      </p:sp>
      <p:sp>
        <p:nvSpPr>
          <p:cNvPr id="26" name="Shape 23"/>
          <p:cNvSpPr/>
          <p:nvPr/>
        </p:nvSpPr>
        <p:spPr>
          <a:xfrm>
            <a:off x="658368" y="4773168"/>
            <a:ext cx="10874959" cy="694944"/>
          </a:xfrm>
          <a:prstGeom prst="rect">
            <a:avLst/>
          </a:prstGeom>
          <a:solidFill>
            <a:srgbClr val="EDE6DA"/>
          </a:solidFill>
          <a:ln w="12700">
            <a:solidFill>
              <a:srgbClr val="EDE6DA"/>
            </a:solidFill>
            <a:prstDash val="solid"/>
          </a:ln>
        </p:spPr>
      </p:sp>
      <p:sp>
        <p:nvSpPr>
          <p:cNvPr id="27" name="Shape 24"/>
          <p:cNvSpPr/>
          <p:nvPr/>
        </p:nvSpPr>
        <p:spPr>
          <a:xfrm>
            <a:off x="658368" y="4773168"/>
            <a:ext cx="54864" cy="694944"/>
          </a:xfrm>
          <a:prstGeom prst="rect">
            <a:avLst/>
          </a:prstGeom>
          <a:solidFill>
            <a:srgbClr val="B3181E"/>
          </a:solidFill>
          <a:ln w="12700">
            <a:solidFill>
              <a:srgbClr val="B3181E"/>
            </a:solidFill>
            <a:prstDash val="solid"/>
          </a:ln>
        </p:spPr>
      </p:sp>
      <p:sp>
        <p:nvSpPr>
          <p:cNvPr id="28" name="Text 25"/>
          <p:cNvSpPr txBox="1"/>
          <p:nvPr/>
        </p:nvSpPr>
        <p:spPr>
          <a:xfrm>
            <a:off x="932688" y="4892040"/>
            <a:ext cx="1572768" cy="274320"/>
          </a:xfrm>
          <a:prstGeom prst="rect">
            <a:avLst/>
          </a:prstGeom>
          <a:noFill/>
          <a:ln/>
        </p:spPr>
        <p:txBody>
          <a:bodyPr wrap="square" lIns="0" tIns="0" rIns="0" bIns="0" rtlCol="0" anchor="t"/>
          <a:lstStyle/>
          <a:p>
            <a:pPr algn="l" indent="0" marL="0">
              <a:buNone/>
            </a:pPr>
            <a:r>
              <a:rPr lang="en-US" sz="1100" b="1" spc="100" kern="0" dirty="0">
                <a:solidFill>
                  <a:srgbClr val="B3181E"/>
                </a:solidFill>
                <a:latin typeface="Aptos" pitchFamily="34" charset="0"/>
                <a:ea typeface="Aptos" pitchFamily="34" charset="-122"/>
                <a:cs typeface="Aptos" pitchFamily="34" charset="-120"/>
              </a:rPr>
              <a:t>RECHAZAR</a:t>
            </a:r>
            <a:endParaRPr lang="en-US" sz="1100" dirty="0"/>
          </a:p>
        </p:txBody>
      </p:sp>
      <p:sp>
        <p:nvSpPr>
          <p:cNvPr id="29" name="Text 26"/>
          <p:cNvSpPr txBox="1"/>
          <p:nvPr/>
        </p:nvSpPr>
        <p:spPr>
          <a:xfrm>
            <a:off x="2688336" y="4882896"/>
            <a:ext cx="4297680" cy="420624"/>
          </a:xfrm>
          <a:prstGeom prst="rect">
            <a:avLst/>
          </a:prstGeom>
          <a:noFill/>
          <a:ln/>
        </p:spPr>
        <p:txBody>
          <a:bodyPr wrap="square" lIns="0" tIns="0" rIns="0" bIns="0" rtlCol="0" anchor="ctr"/>
          <a:lstStyle/>
          <a:p>
            <a:pPr algn="l" indent="0" marL="0">
              <a:buNone/>
            </a:pPr>
            <a:r>
              <a:rPr lang="en-US" sz="920" dirty="0">
                <a:solidFill>
                  <a:srgbClr val="243B53"/>
                </a:solidFill>
                <a:latin typeface="Consolas" pitchFamily="34" charset="0"/>
                <a:ea typeface="Consolas" pitchFamily="34" charset="-122"/>
                <a:cs typeface="Consolas" pitchFamily="34" charset="-120"/>
              </a:rPr>
              <a:t>test_comprobante_identifica_al_estudiante</a:t>
            </a:r>
            <a:endParaRPr lang="en-US" sz="920" dirty="0"/>
          </a:p>
        </p:txBody>
      </p:sp>
      <p:sp>
        <p:nvSpPr>
          <p:cNvPr id="30" name="Text 27"/>
          <p:cNvSpPr txBox="1"/>
          <p:nvPr/>
        </p:nvSpPr>
        <p:spPr>
          <a:xfrm>
            <a:off x="7205472" y="4864608"/>
            <a:ext cx="4035247" cy="457200"/>
          </a:xfrm>
          <a:prstGeom prst="rect">
            <a:avLst/>
          </a:prstGeom>
          <a:noFill/>
          <a:ln/>
        </p:spPr>
        <p:txBody>
          <a:bodyPr wrap="square" lIns="0" tIns="0" rIns="0" bIns="0" rtlCol="0" anchor="ctr"/>
          <a:lstStyle/>
          <a:p>
            <a:pPr algn="l" indent="0" marL="0">
              <a:lnSpc>
                <a:spcPct val="110000"/>
              </a:lnSpc>
              <a:buNone/>
            </a:pPr>
            <a:r>
              <a:rPr lang="en-US" sz="1080" dirty="0">
                <a:solidFill>
                  <a:srgbClr val="52606D"/>
                </a:solidFill>
                <a:latin typeface="Aptos" pitchFamily="34" charset="0"/>
                <a:ea typeface="Aptos" pitchFamily="34" charset="-122"/>
                <a:cs typeface="Aptos" pitchFamily="34" charset="-120"/>
              </a:rPr>
              <a:t>La aserción deja sobrevivir pérdidas de información y el defecto de confidencialidad.</a:t>
            </a:r>
            <a:endParaRPr lang="en-US" sz="1080" dirty="0"/>
          </a:p>
        </p:txBody>
      </p:sp>
      <p:sp>
        <p:nvSpPr>
          <p:cNvPr id="31" name="Shape 28"/>
          <p:cNvSpPr/>
          <p:nvPr/>
        </p:nvSpPr>
        <p:spPr>
          <a:xfrm>
            <a:off x="658368" y="5742432"/>
            <a:ext cx="10874959" cy="457200"/>
          </a:xfrm>
          <a:prstGeom prst="rect">
            <a:avLst/>
          </a:prstGeom>
          <a:solidFill>
            <a:srgbClr val="102A43"/>
          </a:solidFill>
          <a:ln w="12700">
            <a:solidFill>
              <a:srgbClr val="102A43"/>
            </a:solidFill>
            <a:prstDash val="solid"/>
          </a:ln>
        </p:spPr>
      </p:sp>
      <p:sp>
        <p:nvSpPr>
          <p:cNvPr id="32" name="Text 29"/>
          <p:cNvSpPr txBox="1"/>
          <p:nvPr/>
        </p:nvSpPr>
        <p:spPr>
          <a:xfrm>
            <a:off x="932688" y="5797296"/>
            <a:ext cx="10326319" cy="329184"/>
          </a:xfrm>
          <a:prstGeom prst="rect">
            <a:avLst/>
          </a:prstGeom>
          <a:noFill/>
          <a:ln/>
        </p:spPr>
        <p:txBody>
          <a:bodyPr wrap="square" lIns="0" tIns="0" rIns="0" bIns="0" rtlCol="0" anchor="ctr"/>
          <a:lstStyle/>
          <a:p>
            <a:pPr algn="ctr" indent="0" marL="0">
              <a:buNone/>
            </a:pPr>
            <a:r>
              <a:rPr lang="en-US" sz="1220" b="1" dirty="0">
                <a:solidFill>
                  <a:srgbClr val="FFFFFF"/>
                </a:solidFill>
                <a:latin typeface="Aptos" pitchFamily="34" charset="0"/>
                <a:ea typeface="Aptos" pitchFamily="34" charset="-122"/>
                <a:cs typeface="Aptos" pitchFamily="34" charset="-120"/>
              </a:rPr>
              <a:t>Rechazar la cuarta prueba reduce la cobertura. La decisión se defiende con el mutante que sobrevivió, no con una opinión.</a:t>
            </a:r>
            <a:endParaRPr lang="en-US" sz="122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MEDIR PRODUCTIVIDAD</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Un ensayo aleatorizado sobre tareas reales</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METR, una organización de investigación, comparó tareas con y sin herramientas de IA mediante asignación al azar.</a:t>
            </a:r>
            <a:endParaRPr lang="en-US" sz="1450" dirty="0"/>
          </a:p>
        </p:txBody>
      </p:sp>
      <p:sp>
        <p:nvSpPr>
          <p:cNvPr id="11" name="Shape 8"/>
          <p:cNvSpPr/>
          <p:nvPr/>
        </p:nvSpPr>
        <p:spPr>
          <a:xfrm>
            <a:off x="658368" y="2377440"/>
            <a:ext cx="5212080" cy="1097280"/>
          </a:xfrm>
          <a:prstGeom prst="rect">
            <a:avLst/>
          </a:prstGeom>
          <a:solidFill>
            <a:srgbClr val="FFFFFF"/>
          </a:solidFill>
          <a:ln w="12700">
            <a:solidFill>
              <a:srgbClr val="FFFFFF"/>
            </a:solidFill>
            <a:prstDash val="solid"/>
          </a:ln>
        </p:spPr>
      </p:sp>
      <p:sp>
        <p:nvSpPr>
          <p:cNvPr id="12" name="Shape 9"/>
          <p:cNvSpPr/>
          <p:nvPr/>
        </p:nvSpPr>
        <p:spPr>
          <a:xfrm>
            <a:off x="658368" y="2377440"/>
            <a:ext cx="64008" cy="1097280"/>
          </a:xfrm>
          <a:prstGeom prst="rect">
            <a:avLst/>
          </a:prstGeom>
          <a:solidFill>
            <a:srgbClr val="102A43"/>
          </a:solidFill>
          <a:ln w="12700">
            <a:solidFill>
              <a:srgbClr val="102A43"/>
            </a:solidFill>
            <a:prstDash val="solid"/>
          </a:ln>
        </p:spPr>
      </p:sp>
      <p:sp>
        <p:nvSpPr>
          <p:cNvPr id="13" name="Text 10"/>
          <p:cNvSpPr txBox="1"/>
          <p:nvPr/>
        </p:nvSpPr>
        <p:spPr>
          <a:xfrm>
            <a:off x="932688" y="2542032"/>
            <a:ext cx="1737360" cy="457200"/>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16</a:t>
            </a:r>
            <a:endParaRPr lang="en-US" sz="2800" dirty="0"/>
          </a:p>
        </p:txBody>
      </p:sp>
      <p:sp>
        <p:nvSpPr>
          <p:cNvPr id="14" name="Text 11"/>
          <p:cNvSpPr txBox="1"/>
          <p:nvPr/>
        </p:nvSpPr>
        <p:spPr>
          <a:xfrm>
            <a:off x="2926080" y="2560320"/>
            <a:ext cx="2633472" cy="603504"/>
          </a:xfrm>
          <a:prstGeom prst="rect">
            <a:avLst/>
          </a:prstGeom>
          <a:noFill/>
          <a:ln/>
        </p:spPr>
        <p:txBody>
          <a:bodyPr wrap="square" lIns="0" tIns="0" rIns="0" bIns="0" rtlCol="0" anchor="ctr"/>
          <a:lstStyle/>
          <a:p>
            <a:pPr algn="l" indent="0" marL="0">
              <a:lnSpc>
                <a:spcPct val="112000"/>
              </a:lnSpc>
              <a:buNone/>
            </a:pPr>
            <a:r>
              <a:rPr lang="en-US" sz="1200" dirty="0">
                <a:solidFill>
                  <a:srgbClr val="243B53"/>
                </a:solidFill>
                <a:latin typeface="Aptos" pitchFamily="34" charset="0"/>
                <a:ea typeface="Aptos" pitchFamily="34" charset="-122"/>
                <a:cs typeface="Aptos" pitchFamily="34" charset="-120"/>
              </a:rPr>
              <a:t>desarrolladores experimentados</a:t>
            </a:r>
            <a:endParaRPr lang="en-US" sz="1200" dirty="0"/>
          </a:p>
        </p:txBody>
      </p:sp>
      <p:sp>
        <p:nvSpPr>
          <p:cNvPr id="15" name="Shape 12"/>
          <p:cNvSpPr/>
          <p:nvPr/>
        </p:nvSpPr>
        <p:spPr>
          <a:xfrm>
            <a:off x="6291072" y="2377440"/>
            <a:ext cx="5212080" cy="1097280"/>
          </a:xfrm>
          <a:prstGeom prst="rect">
            <a:avLst/>
          </a:prstGeom>
          <a:solidFill>
            <a:srgbClr val="FFFFFF"/>
          </a:solidFill>
          <a:ln w="12700">
            <a:solidFill>
              <a:srgbClr val="FFFFFF"/>
            </a:solidFill>
            <a:prstDash val="solid"/>
          </a:ln>
        </p:spPr>
      </p:sp>
      <p:sp>
        <p:nvSpPr>
          <p:cNvPr id="16" name="Shape 13"/>
          <p:cNvSpPr/>
          <p:nvPr/>
        </p:nvSpPr>
        <p:spPr>
          <a:xfrm>
            <a:off x="6291072" y="2377440"/>
            <a:ext cx="64008" cy="1097280"/>
          </a:xfrm>
          <a:prstGeom prst="rect">
            <a:avLst/>
          </a:prstGeom>
          <a:solidFill>
            <a:srgbClr val="8A6A12"/>
          </a:solidFill>
          <a:ln w="12700">
            <a:solidFill>
              <a:srgbClr val="8A6A12"/>
            </a:solidFill>
            <a:prstDash val="solid"/>
          </a:ln>
        </p:spPr>
      </p:sp>
      <p:sp>
        <p:nvSpPr>
          <p:cNvPr id="17" name="Text 14"/>
          <p:cNvSpPr txBox="1"/>
          <p:nvPr/>
        </p:nvSpPr>
        <p:spPr>
          <a:xfrm>
            <a:off x="6565392" y="2542032"/>
            <a:ext cx="1737360" cy="457200"/>
          </a:xfrm>
          <a:prstGeom prst="rect">
            <a:avLst/>
          </a:prstGeom>
          <a:noFill/>
          <a:ln/>
        </p:spPr>
        <p:txBody>
          <a:bodyPr wrap="square" lIns="0" tIns="0" rIns="0" bIns="0" rtlCol="0" anchor="t"/>
          <a:lstStyle/>
          <a:p>
            <a:pPr algn="l" indent="0" marL="0">
              <a:buNone/>
            </a:pPr>
            <a:r>
              <a:rPr lang="en-US" sz="2800" b="1" dirty="0">
                <a:solidFill>
                  <a:srgbClr val="8A6A12"/>
                </a:solidFill>
                <a:latin typeface="Aptos Display" pitchFamily="34" charset="0"/>
                <a:ea typeface="Aptos Display" pitchFamily="34" charset="-122"/>
                <a:cs typeface="Aptos Display" pitchFamily="34" charset="-120"/>
              </a:rPr>
              <a:t>246</a:t>
            </a:r>
            <a:endParaRPr lang="en-US" sz="2800" dirty="0"/>
          </a:p>
        </p:txBody>
      </p:sp>
      <p:sp>
        <p:nvSpPr>
          <p:cNvPr id="18" name="Text 15"/>
          <p:cNvSpPr txBox="1"/>
          <p:nvPr/>
        </p:nvSpPr>
        <p:spPr>
          <a:xfrm>
            <a:off x="8558784" y="2560320"/>
            <a:ext cx="2633472" cy="603504"/>
          </a:xfrm>
          <a:prstGeom prst="rect">
            <a:avLst/>
          </a:prstGeom>
          <a:noFill/>
          <a:ln/>
        </p:spPr>
        <p:txBody>
          <a:bodyPr wrap="square" lIns="0" tIns="0" rIns="0" bIns="0" rtlCol="0" anchor="ctr"/>
          <a:lstStyle/>
          <a:p>
            <a:pPr algn="l" indent="0" marL="0">
              <a:lnSpc>
                <a:spcPct val="112000"/>
              </a:lnSpc>
              <a:buNone/>
            </a:pPr>
            <a:r>
              <a:rPr lang="en-US" sz="1200" dirty="0">
                <a:solidFill>
                  <a:srgbClr val="243B53"/>
                </a:solidFill>
                <a:latin typeface="Aptos" pitchFamily="34" charset="0"/>
                <a:ea typeface="Aptos" pitchFamily="34" charset="-122"/>
                <a:cs typeface="Aptos" pitchFamily="34" charset="-120"/>
              </a:rPr>
              <a:t>tareas reales en sus propios repositorios</a:t>
            </a:r>
            <a:endParaRPr lang="en-US" sz="1200" dirty="0"/>
          </a:p>
        </p:txBody>
      </p:sp>
      <p:sp>
        <p:nvSpPr>
          <p:cNvPr id="19" name="Shape 16"/>
          <p:cNvSpPr/>
          <p:nvPr/>
        </p:nvSpPr>
        <p:spPr>
          <a:xfrm>
            <a:off x="658368" y="3712464"/>
            <a:ext cx="5212080" cy="1097280"/>
          </a:xfrm>
          <a:prstGeom prst="rect">
            <a:avLst/>
          </a:prstGeom>
          <a:solidFill>
            <a:srgbClr val="FFFFFF"/>
          </a:solidFill>
          <a:ln w="12700">
            <a:solidFill>
              <a:srgbClr val="FFFFFF"/>
            </a:solidFill>
            <a:prstDash val="solid"/>
          </a:ln>
        </p:spPr>
      </p:sp>
      <p:sp>
        <p:nvSpPr>
          <p:cNvPr id="20" name="Shape 17"/>
          <p:cNvSpPr/>
          <p:nvPr/>
        </p:nvSpPr>
        <p:spPr>
          <a:xfrm>
            <a:off x="658368" y="3712464"/>
            <a:ext cx="64008" cy="1097280"/>
          </a:xfrm>
          <a:prstGeom prst="rect">
            <a:avLst/>
          </a:prstGeom>
          <a:solidFill>
            <a:srgbClr val="2E7D4F"/>
          </a:solidFill>
          <a:ln w="12700">
            <a:solidFill>
              <a:srgbClr val="2E7D4F"/>
            </a:solidFill>
            <a:prstDash val="solid"/>
          </a:ln>
        </p:spPr>
      </p:sp>
      <p:sp>
        <p:nvSpPr>
          <p:cNvPr id="21" name="Text 18"/>
          <p:cNvSpPr txBox="1"/>
          <p:nvPr/>
        </p:nvSpPr>
        <p:spPr>
          <a:xfrm>
            <a:off x="932688" y="3877056"/>
            <a:ext cx="1737360" cy="457200"/>
          </a:xfrm>
          <a:prstGeom prst="rect">
            <a:avLst/>
          </a:prstGeom>
          <a:noFill/>
          <a:ln/>
        </p:spPr>
        <p:txBody>
          <a:bodyPr wrap="square" lIns="0" tIns="0" rIns="0" bIns="0" rtlCol="0" anchor="t"/>
          <a:lstStyle/>
          <a:p>
            <a:pPr algn="l" indent="0" marL="0">
              <a:buNone/>
            </a:pPr>
            <a:r>
              <a:rPr lang="en-US" sz="2800" b="1" dirty="0">
                <a:solidFill>
                  <a:srgbClr val="2E7D4F"/>
                </a:solidFill>
                <a:latin typeface="Aptos Display" pitchFamily="34" charset="0"/>
                <a:ea typeface="Aptos Display" pitchFamily="34" charset="-122"/>
                <a:cs typeface="Aptos Display" pitchFamily="34" charset="-120"/>
              </a:rPr>
              <a:t>22 000+</a:t>
            </a:r>
            <a:endParaRPr lang="en-US" sz="2800" dirty="0"/>
          </a:p>
        </p:txBody>
      </p:sp>
      <p:sp>
        <p:nvSpPr>
          <p:cNvPr id="22" name="Text 19"/>
          <p:cNvSpPr txBox="1"/>
          <p:nvPr/>
        </p:nvSpPr>
        <p:spPr>
          <a:xfrm>
            <a:off x="2926080" y="3895344"/>
            <a:ext cx="2633472" cy="603504"/>
          </a:xfrm>
          <a:prstGeom prst="rect">
            <a:avLst/>
          </a:prstGeom>
          <a:noFill/>
          <a:ln/>
        </p:spPr>
        <p:txBody>
          <a:bodyPr wrap="square" lIns="0" tIns="0" rIns="0" bIns="0" rtlCol="0" anchor="ctr"/>
          <a:lstStyle/>
          <a:p>
            <a:pPr algn="l" indent="0" marL="0">
              <a:lnSpc>
                <a:spcPct val="112000"/>
              </a:lnSpc>
              <a:buNone/>
            </a:pPr>
            <a:r>
              <a:rPr lang="en-US" sz="1200" dirty="0">
                <a:solidFill>
                  <a:srgbClr val="243B53"/>
                </a:solidFill>
                <a:latin typeface="Aptos" pitchFamily="34" charset="0"/>
                <a:ea typeface="Aptos" pitchFamily="34" charset="-122"/>
                <a:cs typeface="Aptos" pitchFamily="34" charset="-120"/>
              </a:rPr>
              <a:t>estrellas de GitHub en promedio: señales públicas de interés</a:t>
            </a:r>
            <a:endParaRPr lang="en-US" sz="1200" dirty="0"/>
          </a:p>
        </p:txBody>
      </p:sp>
      <p:sp>
        <p:nvSpPr>
          <p:cNvPr id="23" name="Shape 20"/>
          <p:cNvSpPr/>
          <p:nvPr/>
        </p:nvSpPr>
        <p:spPr>
          <a:xfrm>
            <a:off x="6291072" y="3712464"/>
            <a:ext cx="5212080" cy="1097280"/>
          </a:xfrm>
          <a:prstGeom prst="rect">
            <a:avLst/>
          </a:prstGeom>
          <a:solidFill>
            <a:srgbClr val="FFFFFF"/>
          </a:solidFill>
          <a:ln w="12700">
            <a:solidFill>
              <a:srgbClr val="FFFFFF"/>
            </a:solidFill>
            <a:prstDash val="solid"/>
          </a:ln>
        </p:spPr>
      </p:sp>
      <p:sp>
        <p:nvSpPr>
          <p:cNvPr id="24" name="Shape 21"/>
          <p:cNvSpPr/>
          <p:nvPr/>
        </p:nvSpPr>
        <p:spPr>
          <a:xfrm>
            <a:off x="6291072" y="3712464"/>
            <a:ext cx="64008" cy="1097280"/>
          </a:xfrm>
          <a:prstGeom prst="rect">
            <a:avLst/>
          </a:prstGeom>
          <a:solidFill>
            <a:srgbClr val="B3181E"/>
          </a:solidFill>
          <a:ln w="12700">
            <a:solidFill>
              <a:srgbClr val="B3181E"/>
            </a:solidFill>
            <a:prstDash val="solid"/>
          </a:ln>
        </p:spPr>
      </p:sp>
      <p:sp>
        <p:nvSpPr>
          <p:cNvPr id="25" name="Text 22"/>
          <p:cNvSpPr txBox="1"/>
          <p:nvPr/>
        </p:nvSpPr>
        <p:spPr>
          <a:xfrm>
            <a:off x="6565392" y="3877056"/>
            <a:ext cx="1737360" cy="457200"/>
          </a:xfrm>
          <a:prstGeom prst="rect">
            <a:avLst/>
          </a:prstGeom>
          <a:noFill/>
          <a:ln/>
        </p:spPr>
        <p:txBody>
          <a:bodyPr wrap="square" lIns="0" tIns="0" rIns="0" bIns="0" rtlCol="0" anchor="t"/>
          <a:lstStyle/>
          <a:p>
            <a:pPr algn="l" indent="0" marL="0">
              <a:buNone/>
            </a:pPr>
            <a:r>
              <a:rPr lang="en-US" sz="2800" b="1" dirty="0">
                <a:solidFill>
                  <a:srgbClr val="B3181E"/>
                </a:solidFill>
                <a:latin typeface="Aptos Display" pitchFamily="34" charset="0"/>
                <a:ea typeface="Aptos Display" pitchFamily="34" charset="-122"/>
                <a:cs typeface="Aptos Display" pitchFamily="34" charset="-120"/>
              </a:rPr>
              <a:t>1 millón+</a:t>
            </a:r>
            <a:endParaRPr lang="en-US" sz="2800" dirty="0"/>
          </a:p>
        </p:txBody>
      </p:sp>
      <p:sp>
        <p:nvSpPr>
          <p:cNvPr id="26" name="Text 23"/>
          <p:cNvSpPr txBox="1"/>
          <p:nvPr/>
        </p:nvSpPr>
        <p:spPr>
          <a:xfrm>
            <a:off x="8558784" y="3895344"/>
            <a:ext cx="2633472" cy="603504"/>
          </a:xfrm>
          <a:prstGeom prst="rect">
            <a:avLst/>
          </a:prstGeom>
          <a:noFill/>
          <a:ln/>
        </p:spPr>
        <p:txBody>
          <a:bodyPr wrap="square" lIns="0" tIns="0" rIns="0" bIns="0" rtlCol="0" anchor="ctr"/>
          <a:lstStyle/>
          <a:p>
            <a:pPr algn="l" indent="0" marL="0">
              <a:lnSpc>
                <a:spcPct val="112000"/>
              </a:lnSpc>
              <a:buNone/>
            </a:pPr>
            <a:r>
              <a:rPr lang="en-US" sz="1200" dirty="0">
                <a:solidFill>
                  <a:srgbClr val="243B53"/>
                </a:solidFill>
                <a:latin typeface="Aptos" pitchFamily="34" charset="0"/>
                <a:ea typeface="Aptos" pitchFamily="34" charset="-122"/>
                <a:cs typeface="Aptos" pitchFamily="34" charset="-120"/>
              </a:rPr>
              <a:t>de líneas de código por repositorio</a:t>
            </a:r>
            <a:endParaRPr lang="en-US" sz="1200" dirty="0"/>
          </a:p>
        </p:txBody>
      </p:sp>
      <p:sp>
        <p:nvSpPr>
          <p:cNvPr id="27" name="Shape 24"/>
          <p:cNvSpPr/>
          <p:nvPr/>
        </p:nvSpPr>
        <p:spPr>
          <a:xfrm>
            <a:off x="658368" y="5212080"/>
            <a:ext cx="10874959" cy="512064"/>
          </a:xfrm>
          <a:prstGeom prst="rect">
            <a:avLst/>
          </a:prstGeom>
          <a:solidFill>
            <a:srgbClr val="102A43"/>
          </a:solidFill>
          <a:ln w="12700">
            <a:solidFill>
              <a:srgbClr val="102A43"/>
            </a:solidFill>
            <a:prstDash val="solid"/>
          </a:ln>
        </p:spPr>
      </p:sp>
      <p:sp>
        <p:nvSpPr>
          <p:cNvPr id="28" name="Text 25"/>
          <p:cNvSpPr txBox="1"/>
          <p:nvPr/>
        </p:nvSpPr>
        <p:spPr>
          <a:xfrm>
            <a:off x="969264" y="5248656"/>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La asignación al azar separa el efecto de la herramienta de la decisión personal de usarla.</a:t>
            </a:r>
            <a:endParaRPr lang="en-US" sz="1400" dirty="0"/>
          </a:p>
        </p:txBody>
      </p:sp>
      <p:sp>
        <p:nvSpPr>
          <p:cNvPr id="29" name="Shape 26"/>
          <p:cNvSpPr/>
          <p:nvPr/>
        </p:nvSpPr>
        <p:spPr>
          <a:xfrm>
            <a:off x="658368" y="5925312"/>
            <a:ext cx="45720" cy="182880"/>
          </a:xfrm>
          <a:prstGeom prst="rect">
            <a:avLst/>
          </a:prstGeom>
          <a:solidFill>
            <a:srgbClr val="8A6A12"/>
          </a:solidFill>
          <a:ln w="12700">
            <a:solidFill>
              <a:srgbClr val="8A6A12"/>
            </a:solidFill>
            <a:prstDash val="solid"/>
          </a:ln>
        </p:spPr>
      </p:sp>
      <p:sp>
        <p:nvSpPr>
          <p:cNvPr id="30" name="Text 27"/>
          <p:cNvSpPr txBox="1"/>
          <p:nvPr/>
        </p:nvSpPr>
        <p:spPr>
          <a:xfrm>
            <a:off x="804672" y="5916168"/>
            <a:ext cx="987552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METR · Measuring the Impact of Early-2025 AI on Experienced Open-Source Developer Productivity · 2025</a:t>
            </a:r>
            <a:endParaRPr lang="en-US" sz="92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77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BLOQUE 4 · RESULTADO Y LÍMITE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FFFFFF"/>
                </a:solidFill>
                <a:latin typeface="Aptos Display" pitchFamily="34" charset="0"/>
                <a:ea typeface="Aptos Display" pitchFamily="34" charset="-122"/>
                <a:cs typeface="Aptos Display" pitchFamily="34" charset="-120"/>
              </a:rPr>
              <a:t>Midieron más lento y sintieron más rápido</a:t>
            </a:r>
            <a:endParaRPr lang="en-US" sz="30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El dato útil para esta clase es la distancia entre la ejecución observada y la percepción posterior.</a:t>
            </a:r>
            <a:endParaRPr lang="en-US" sz="1450" dirty="0"/>
          </a:p>
        </p:txBody>
      </p:sp>
      <p:sp>
        <p:nvSpPr>
          <p:cNvPr id="11" name="Shape 8"/>
          <p:cNvSpPr/>
          <p:nvPr/>
        </p:nvSpPr>
        <p:spPr>
          <a:xfrm>
            <a:off x="658368" y="2377440"/>
            <a:ext cx="3493008" cy="1353312"/>
          </a:xfrm>
          <a:prstGeom prst="rect">
            <a:avLst/>
          </a:prstGeom>
          <a:solidFill>
            <a:srgbClr val="1D3A57"/>
          </a:solidFill>
          <a:ln w="12700">
            <a:solidFill>
              <a:srgbClr val="1D3A57"/>
            </a:solidFill>
            <a:prstDash val="solid"/>
          </a:ln>
        </p:spPr>
      </p:sp>
      <p:sp>
        <p:nvSpPr>
          <p:cNvPr id="12" name="Shape 9"/>
          <p:cNvSpPr/>
          <p:nvPr/>
        </p:nvSpPr>
        <p:spPr>
          <a:xfrm>
            <a:off x="658368" y="2377440"/>
            <a:ext cx="3493008" cy="64008"/>
          </a:xfrm>
          <a:prstGeom prst="rect">
            <a:avLst/>
          </a:prstGeom>
          <a:solidFill>
            <a:srgbClr val="D62027"/>
          </a:solidFill>
          <a:ln w="12700">
            <a:solidFill>
              <a:srgbClr val="D62027"/>
            </a:solidFill>
            <a:prstDash val="solid"/>
          </a:ln>
        </p:spPr>
      </p:sp>
      <p:sp>
        <p:nvSpPr>
          <p:cNvPr id="13" name="Text 10"/>
          <p:cNvSpPr txBox="1"/>
          <p:nvPr/>
        </p:nvSpPr>
        <p:spPr>
          <a:xfrm>
            <a:off x="896112" y="2578608"/>
            <a:ext cx="3017520" cy="548640"/>
          </a:xfrm>
          <a:prstGeom prst="rect">
            <a:avLst/>
          </a:prstGeom>
          <a:noFill/>
          <a:ln/>
        </p:spPr>
        <p:txBody>
          <a:bodyPr wrap="square" lIns="0" tIns="0" rIns="0" bIns="0" rtlCol="0" anchor="t"/>
          <a:lstStyle/>
          <a:p>
            <a:pPr algn="ctr" indent="0" marL="0">
              <a:buNone/>
            </a:pPr>
            <a:r>
              <a:rPr lang="en-US" sz="3600" b="1" dirty="0">
                <a:solidFill>
                  <a:srgbClr val="D62027"/>
                </a:solidFill>
                <a:latin typeface="Aptos Display" pitchFamily="34" charset="0"/>
                <a:ea typeface="Aptos Display" pitchFamily="34" charset="-122"/>
                <a:cs typeface="Aptos Display" pitchFamily="34" charset="-120"/>
              </a:rPr>
              <a:t>19 %</a:t>
            </a:r>
            <a:endParaRPr lang="en-US" sz="3600" dirty="0"/>
          </a:p>
        </p:txBody>
      </p:sp>
      <p:sp>
        <p:nvSpPr>
          <p:cNvPr id="14" name="Text 11"/>
          <p:cNvSpPr txBox="1"/>
          <p:nvPr/>
        </p:nvSpPr>
        <p:spPr>
          <a:xfrm>
            <a:off x="896112" y="3200400"/>
            <a:ext cx="3017520" cy="347472"/>
          </a:xfrm>
          <a:prstGeom prst="rect">
            <a:avLst/>
          </a:prstGeom>
          <a:noFill/>
          <a:ln/>
        </p:spPr>
        <p:txBody>
          <a:bodyPr wrap="square" lIns="0" tIns="0" rIns="0" bIns="0" rtlCol="0" anchor="t"/>
          <a:lstStyle/>
          <a:p>
            <a:pPr algn="ctr" indent="0" marL="0">
              <a:buNone/>
            </a:pPr>
            <a:r>
              <a:rPr lang="en-US" sz="1140" dirty="0">
                <a:solidFill>
                  <a:srgbClr val="FFFFFF"/>
                </a:solidFill>
                <a:latin typeface="Aptos" pitchFamily="34" charset="0"/>
                <a:ea typeface="Aptos" pitchFamily="34" charset="-122"/>
                <a:cs typeface="Aptos" pitchFamily="34" charset="-120"/>
              </a:rPr>
              <a:t>más tiempo para terminar al usar IA</a:t>
            </a:r>
            <a:endParaRPr lang="en-US" sz="1140" dirty="0"/>
          </a:p>
        </p:txBody>
      </p:sp>
      <p:sp>
        <p:nvSpPr>
          <p:cNvPr id="15" name="Shape 12"/>
          <p:cNvSpPr/>
          <p:nvPr/>
        </p:nvSpPr>
        <p:spPr>
          <a:xfrm>
            <a:off x="4352544" y="2377440"/>
            <a:ext cx="3493008" cy="1353312"/>
          </a:xfrm>
          <a:prstGeom prst="rect">
            <a:avLst/>
          </a:prstGeom>
          <a:solidFill>
            <a:srgbClr val="1D3A57"/>
          </a:solidFill>
          <a:ln w="12700">
            <a:solidFill>
              <a:srgbClr val="1D3A57"/>
            </a:solidFill>
            <a:prstDash val="solid"/>
          </a:ln>
        </p:spPr>
      </p:sp>
      <p:sp>
        <p:nvSpPr>
          <p:cNvPr id="16" name="Shape 13"/>
          <p:cNvSpPr/>
          <p:nvPr/>
        </p:nvSpPr>
        <p:spPr>
          <a:xfrm>
            <a:off x="4352544" y="2377440"/>
            <a:ext cx="3493008" cy="64008"/>
          </a:xfrm>
          <a:prstGeom prst="rect">
            <a:avLst/>
          </a:prstGeom>
          <a:solidFill>
            <a:srgbClr val="E0BC5A"/>
          </a:solidFill>
          <a:ln w="12700">
            <a:solidFill>
              <a:srgbClr val="E0BC5A"/>
            </a:solidFill>
            <a:prstDash val="solid"/>
          </a:ln>
        </p:spPr>
      </p:sp>
      <p:sp>
        <p:nvSpPr>
          <p:cNvPr id="17" name="Text 14"/>
          <p:cNvSpPr txBox="1"/>
          <p:nvPr/>
        </p:nvSpPr>
        <p:spPr>
          <a:xfrm>
            <a:off x="4590288" y="2578608"/>
            <a:ext cx="3017520" cy="548640"/>
          </a:xfrm>
          <a:prstGeom prst="rect">
            <a:avLst/>
          </a:prstGeom>
          <a:noFill/>
          <a:ln/>
        </p:spPr>
        <p:txBody>
          <a:bodyPr wrap="square" lIns="0" tIns="0" rIns="0" bIns="0" rtlCol="0" anchor="t"/>
          <a:lstStyle/>
          <a:p>
            <a:pPr algn="ctr" indent="0" marL="0">
              <a:buNone/>
            </a:pPr>
            <a:r>
              <a:rPr lang="en-US" sz="3600" b="1" dirty="0">
                <a:solidFill>
                  <a:srgbClr val="E0BC5A"/>
                </a:solidFill>
                <a:latin typeface="Aptos Display" pitchFamily="34" charset="0"/>
                <a:ea typeface="Aptos Display" pitchFamily="34" charset="-122"/>
                <a:cs typeface="Aptos Display" pitchFamily="34" charset="-120"/>
              </a:rPr>
              <a:t>24 %</a:t>
            </a:r>
            <a:endParaRPr lang="en-US" sz="3600" dirty="0"/>
          </a:p>
        </p:txBody>
      </p:sp>
      <p:sp>
        <p:nvSpPr>
          <p:cNvPr id="18" name="Text 15"/>
          <p:cNvSpPr txBox="1"/>
          <p:nvPr/>
        </p:nvSpPr>
        <p:spPr>
          <a:xfrm>
            <a:off x="4590288" y="3200400"/>
            <a:ext cx="3017520" cy="347472"/>
          </a:xfrm>
          <a:prstGeom prst="rect">
            <a:avLst/>
          </a:prstGeom>
          <a:noFill/>
          <a:ln/>
        </p:spPr>
        <p:txBody>
          <a:bodyPr wrap="square" lIns="0" tIns="0" rIns="0" bIns="0" rtlCol="0" anchor="t"/>
          <a:lstStyle/>
          <a:p>
            <a:pPr algn="ctr" indent="0" marL="0">
              <a:buNone/>
            </a:pPr>
            <a:r>
              <a:rPr lang="en-US" sz="1140" dirty="0">
                <a:solidFill>
                  <a:srgbClr val="FFFFFF"/>
                </a:solidFill>
                <a:latin typeface="Aptos" pitchFamily="34" charset="0"/>
                <a:ea typeface="Aptos" pitchFamily="34" charset="-122"/>
                <a:cs typeface="Aptos" pitchFamily="34" charset="-120"/>
              </a:rPr>
              <a:t>más rápido: lo que esperaban antes</a:t>
            </a:r>
            <a:endParaRPr lang="en-US" sz="1140" dirty="0"/>
          </a:p>
        </p:txBody>
      </p:sp>
      <p:sp>
        <p:nvSpPr>
          <p:cNvPr id="19" name="Shape 16"/>
          <p:cNvSpPr/>
          <p:nvPr/>
        </p:nvSpPr>
        <p:spPr>
          <a:xfrm>
            <a:off x="8046720" y="2377440"/>
            <a:ext cx="3493008" cy="1353312"/>
          </a:xfrm>
          <a:prstGeom prst="rect">
            <a:avLst/>
          </a:prstGeom>
          <a:solidFill>
            <a:srgbClr val="1D3A57"/>
          </a:solidFill>
          <a:ln w="12700">
            <a:solidFill>
              <a:srgbClr val="1D3A57"/>
            </a:solidFill>
            <a:prstDash val="solid"/>
          </a:ln>
        </p:spPr>
      </p:sp>
      <p:sp>
        <p:nvSpPr>
          <p:cNvPr id="20" name="Shape 17"/>
          <p:cNvSpPr/>
          <p:nvPr/>
        </p:nvSpPr>
        <p:spPr>
          <a:xfrm>
            <a:off x="8046720" y="2377440"/>
            <a:ext cx="3493008" cy="64008"/>
          </a:xfrm>
          <a:prstGeom prst="rect">
            <a:avLst/>
          </a:prstGeom>
          <a:solidFill>
            <a:srgbClr val="3FAE6A"/>
          </a:solidFill>
          <a:ln w="12700">
            <a:solidFill>
              <a:srgbClr val="3FAE6A"/>
            </a:solidFill>
            <a:prstDash val="solid"/>
          </a:ln>
        </p:spPr>
      </p:sp>
      <p:sp>
        <p:nvSpPr>
          <p:cNvPr id="21" name="Text 18"/>
          <p:cNvSpPr txBox="1"/>
          <p:nvPr/>
        </p:nvSpPr>
        <p:spPr>
          <a:xfrm>
            <a:off x="8284464" y="2578608"/>
            <a:ext cx="3017520" cy="548640"/>
          </a:xfrm>
          <a:prstGeom prst="rect">
            <a:avLst/>
          </a:prstGeom>
          <a:noFill/>
          <a:ln/>
        </p:spPr>
        <p:txBody>
          <a:bodyPr wrap="square" lIns="0" tIns="0" rIns="0" bIns="0" rtlCol="0" anchor="t"/>
          <a:lstStyle/>
          <a:p>
            <a:pPr algn="ctr" indent="0" marL="0">
              <a:buNone/>
            </a:pPr>
            <a:r>
              <a:rPr lang="en-US" sz="3600" b="1" dirty="0">
                <a:solidFill>
                  <a:srgbClr val="3FAE6A"/>
                </a:solidFill>
                <a:latin typeface="Aptos Display" pitchFamily="34" charset="0"/>
                <a:ea typeface="Aptos Display" pitchFamily="34" charset="-122"/>
                <a:cs typeface="Aptos Display" pitchFamily="34" charset="-120"/>
              </a:rPr>
              <a:t>20 %</a:t>
            </a:r>
            <a:endParaRPr lang="en-US" sz="3600" dirty="0"/>
          </a:p>
        </p:txBody>
      </p:sp>
      <p:sp>
        <p:nvSpPr>
          <p:cNvPr id="22" name="Text 19"/>
          <p:cNvSpPr txBox="1"/>
          <p:nvPr/>
        </p:nvSpPr>
        <p:spPr>
          <a:xfrm>
            <a:off x="8284464" y="3200400"/>
            <a:ext cx="3017520" cy="347472"/>
          </a:xfrm>
          <a:prstGeom prst="rect">
            <a:avLst/>
          </a:prstGeom>
          <a:noFill/>
          <a:ln/>
        </p:spPr>
        <p:txBody>
          <a:bodyPr wrap="square" lIns="0" tIns="0" rIns="0" bIns="0" rtlCol="0" anchor="t"/>
          <a:lstStyle/>
          <a:p>
            <a:pPr algn="ctr" indent="0" marL="0">
              <a:buNone/>
            </a:pPr>
            <a:r>
              <a:rPr lang="en-US" sz="1140" dirty="0">
                <a:solidFill>
                  <a:srgbClr val="FFFFFF"/>
                </a:solidFill>
                <a:latin typeface="Aptos" pitchFamily="34" charset="0"/>
                <a:ea typeface="Aptos" pitchFamily="34" charset="-122"/>
                <a:cs typeface="Aptos" pitchFamily="34" charset="-120"/>
              </a:rPr>
              <a:t>más rápido: lo que creían después</a:t>
            </a:r>
            <a:endParaRPr lang="en-US" sz="1140" dirty="0"/>
          </a:p>
        </p:txBody>
      </p:sp>
      <p:sp>
        <p:nvSpPr>
          <p:cNvPr id="23" name="Shape 20"/>
          <p:cNvSpPr/>
          <p:nvPr/>
        </p:nvSpPr>
        <p:spPr>
          <a:xfrm>
            <a:off x="658368" y="4005072"/>
            <a:ext cx="10874959" cy="694944"/>
          </a:xfrm>
          <a:prstGeom prst="rect">
            <a:avLst/>
          </a:prstGeom>
          <a:solidFill>
            <a:srgbClr val="E0BC5A"/>
          </a:solidFill>
          <a:ln w="12700">
            <a:solidFill>
              <a:srgbClr val="E0BC5A"/>
            </a:solidFill>
            <a:prstDash val="solid"/>
          </a:ln>
        </p:spPr>
      </p:sp>
      <p:sp>
        <p:nvSpPr>
          <p:cNvPr id="24" name="Text 21"/>
          <p:cNvSpPr txBox="1"/>
          <p:nvPr/>
        </p:nvSpPr>
        <p:spPr>
          <a:xfrm>
            <a:off x="969264" y="4096512"/>
            <a:ext cx="10253167" cy="493776"/>
          </a:xfrm>
          <a:prstGeom prst="rect">
            <a:avLst/>
          </a:prstGeom>
          <a:noFill/>
          <a:ln/>
        </p:spPr>
        <p:txBody>
          <a:bodyPr wrap="square" lIns="0" tIns="0" rIns="0" bIns="0" rtlCol="0" anchor="ctr"/>
          <a:lstStyle/>
          <a:p>
            <a:pPr algn="ctr" indent="0" marL="0">
              <a:buNone/>
            </a:pPr>
            <a:r>
              <a:rPr lang="en-US" sz="1340" b="1" dirty="0">
                <a:solidFill>
                  <a:srgbClr val="102A43"/>
                </a:solidFill>
                <a:latin typeface="Aptos" pitchFamily="34" charset="0"/>
                <a:ea typeface="Aptos" pitchFamily="34" charset="-122"/>
                <a:cs typeface="Aptos" pitchFamily="34" charset="-120"/>
              </a:rPr>
              <a:t>Una suite verde con 83 % produce la misma sensación de avance. Los tres criterios muestran qué hay debajo.</a:t>
            </a:r>
            <a:endParaRPr lang="en-US" sz="1340" dirty="0"/>
          </a:p>
        </p:txBody>
      </p:sp>
      <p:sp>
        <p:nvSpPr>
          <p:cNvPr id="25" name="Text 22"/>
          <p:cNvSpPr txBox="1"/>
          <p:nvPr/>
        </p:nvSpPr>
        <p:spPr>
          <a:xfrm>
            <a:off x="658368" y="5010912"/>
            <a:ext cx="3657600" cy="256032"/>
          </a:xfrm>
          <a:prstGeom prst="rect">
            <a:avLst/>
          </a:prstGeom>
          <a:noFill/>
          <a:ln/>
        </p:spPr>
        <p:txBody>
          <a:bodyPr wrap="square" lIns="0" tIns="0" rIns="0" bIns="0" rtlCol="0" anchor="t"/>
          <a:lstStyle/>
          <a:p>
            <a:pPr algn="l" indent="0" marL="0">
              <a:buNone/>
            </a:pPr>
            <a:r>
              <a:rPr lang="en-US" sz="1100" b="1" spc="100" kern="0" dirty="0">
                <a:solidFill>
                  <a:srgbClr val="EADFD0"/>
                </a:solidFill>
                <a:latin typeface="Aptos" pitchFamily="34" charset="0"/>
                <a:ea typeface="Aptos" pitchFamily="34" charset="-122"/>
                <a:cs typeface="Aptos" pitchFamily="34" charset="-120"/>
              </a:rPr>
              <a:t>Lo que el estudio NO demuestra</a:t>
            </a:r>
            <a:endParaRPr lang="en-US" sz="1100" dirty="0"/>
          </a:p>
        </p:txBody>
      </p:sp>
      <p:sp>
        <p:nvSpPr>
          <p:cNvPr id="26" name="Text 23"/>
          <p:cNvSpPr txBox="1"/>
          <p:nvPr/>
        </p:nvSpPr>
        <p:spPr>
          <a:xfrm>
            <a:off x="658368" y="5340096"/>
            <a:ext cx="10874959" cy="493776"/>
          </a:xfrm>
          <a:prstGeom prst="rect">
            <a:avLst/>
          </a:prstGeom>
          <a:noFill/>
          <a:ln/>
        </p:spPr>
        <p:txBody>
          <a:bodyPr wrap="square" lIns="0" tIns="0" rIns="0" bIns="0" rtlCol="0" anchor="t"/>
          <a:lstStyle/>
          <a:p>
            <a:pPr algn="l" indent="0" marL="0">
              <a:lnSpc>
                <a:spcPct val="116000"/>
              </a:lnSpc>
              <a:buNone/>
            </a:pPr>
            <a:r>
              <a:rPr lang="en-US" sz="1240" dirty="0">
                <a:solidFill>
                  <a:srgbClr val="FFFFFF"/>
                </a:solidFill>
                <a:latin typeface="Aptos" pitchFamily="34" charset="0"/>
                <a:ea typeface="Aptos" pitchFamily="34" charset="-122"/>
                <a:cs typeface="Aptos" pitchFamily="34" charset="-120"/>
              </a:rPr>
              <a:t>No representa a todos los desarrolladores, no descarta mejoras futuras y no mide cientos de horas de aprendizaje con la herramienta.</a:t>
            </a:r>
            <a:endParaRPr lang="en-US" sz="1240" dirty="0"/>
          </a:p>
        </p:txBody>
      </p:sp>
      <p:sp>
        <p:nvSpPr>
          <p:cNvPr id="27" name="Shape 24"/>
          <p:cNvSpPr/>
          <p:nvPr/>
        </p:nvSpPr>
        <p:spPr>
          <a:xfrm>
            <a:off x="658368" y="5943600"/>
            <a:ext cx="45720" cy="182880"/>
          </a:xfrm>
          <a:prstGeom prst="rect">
            <a:avLst/>
          </a:prstGeom>
          <a:solidFill>
            <a:srgbClr val="E0BC5A"/>
          </a:solidFill>
          <a:ln w="12700">
            <a:solidFill>
              <a:srgbClr val="E0BC5A"/>
            </a:solidFill>
            <a:prstDash val="solid"/>
          </a:ln>
        </p:spPr>
      </p:sp>
      <p:sp>
        <p:nvSpPr>
          <p:cNvPr id="28" name="Text 25"/>
          <p:cNvSpPr txBox="1"/>
          <p:nvPr/>
        </p:nvSpPr>
        <p:spPr>
          <a:xfrm>
            <a:off x="804672" y="5934456"/>
            <a:ext cx="8229600" cy="201168"/>
          </a:xfrm>
          <a:prstGeom prst="rect">
            <a:avLst/>
          </a:prstGeom>
          <a:noFill/>
          <a:ln/>
        </p:spPr>
        <p:txBody>
          <a:bodyPr wrap="square" lIns="0" tIns="0" rIns="0" bIns="0" rtlCol="0" anchor="t"/>
          <a:lstStyle/>
          <a:p>
            <a:pPr algn="l" indent="0" marL="0">
              <a:buNone/>
            </a:pPr>
            <a:r>
              <a:rPr lang="en-US" sz="920" i="1" dirty="0">
                <a:solidFill>
                  <a:srgbClr val="EADFD0"/>
                </a:solidFill>
                <a:latin typeface="Aptos" pitchFamily="34" charset="0"/>
                <a:ea typeface="Aptos" pitchFamily="34" charset="-122"/>
                <a:cs typeface="Aptos" pitchFamily="34" charset="-120"/>
              </a:rPr>
              <a:t>METR · ensayo controlado aleatorizado · 16 participantes · 246 tareas</a:t>
            </a:r>
            <a:endParaRPr lang="en-US" sz="92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preguntas para cerrar la auditoría</a:t>
            </a:r>
            <a:endParaRPr lang="en-US" sz="3000" dirty="0"/>
          </a:p>
        </p:txBody>
      </p:sp>
      <p:sp>
        <p:nvSpPr>
          <p:cNvPr id="10" name="Shape 7"/>
          <p:cNvSpPr/>
          <p:nvPr/>
        </p:nvSpPr>
        <p:spPr>
          <a:xfrm>
            <a:off x="658368" y="195681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195681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10312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09397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Rechazar la prueba del comprobante reduce la cobertura. ¿Qué evidencia permite defender esa decisión sin depender de una opinión?</a:t>
            </a:r>
            <a:endParaRPr lang="en-US" sz="1400" dirty="0"/>
          </a:p>
        </p:txBody>
      </p:sp>
      <p:sp>
        <p:nvSpPr>
          <p:cNvPr id="14" name="Shape 11"/>
          <p:cNvSpPr/>
          <p:nvPr/>
        </p:nvSpPr>
        <p:spPr>
          <a:xfrm>
            <a:off x="1572768" y="272491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281635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279806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Busca el cambio concreto que la prueba dejó sobrevivir.</a:t>
            </a:r>
            <a:endParaRPr lang="en-US" sz="1200" dirty="0"/>
          </a:p>
        </p:txBody>
      </p:sp>
      <p:sp>
        <p:nvSpPr>
          <p:cNvPr id="17" name="Shape 14"/>
          <p:cNvSpPr/>
          <p:nvPr/>
        </p:nvSpPr>
        <p:spPr>
          <a:xfrm>
            <a:off x="658368" y="3273552"/>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273552"/>
            <a:ext cx="54864" cy="1188720"/>
          </a:xfrm>
          <a:prstGeom prst="rect">
            <a:avLst/>
          </a:prstGeom>
          <a:solidFill>
            <a:srgbClr val="102A43"/>
          </a:solidFill>
          <a:ln w="12700">
            <a:solidFill>
              <a:srgbClr val="102A43"/>
            </a:solidFill>
            <a:prstDash val="solid"/>
          </a:ln>
        </p:spPr>
      </p:sp>
      <p:sp>
        <p:nvSpPr>
          <p:cNvPr id="19" name="Text 16"/>
          <p:cNvSpPr txBox="1"/>
          <p:nvPr/>
        </p:nvSpPr>
        <p:spPr>
          <a:xfrm>
            <a:off x="932688" y="3419856"/>
            <a:ext cx="475488"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41071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 prueba de las dos horas exactas está bien escrita y mata su mutante. ¿Por qué corresponde posponerla en vez de aceptarla?</a:t>
            </a:r>
            <a:endParaRPr lang="en-US" sz="1400" dirty="0"/>
          </a:p>
        </p:txBody>
      </p:sp>
      <p:sp>
        <p:nvSpPr>
          <p:cNvPr id="21" name="Shape 18"/>
          <p:cNvSpPr/>
          <p:nvPr/>
        </p:nvSpPr>
        <p:spPr>
          <a:xfrm>
            <a:off x="1572768" y="4041648"/>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133088"/>
            <a:ext cx="640080" cy="182880"/>
          </a:xfrm>
          <a:prstGeom prst="rect">
            <a:avLst/>
          </a:prstGeom>
          <a:noFill/>
          <a:ln/>
        </p:spPr>
        <p:txBody>
          <a:bodyPr wrap="square" lIns="0" tIns="0" rIns="0" bIns="0" rtlCol="0" anchor="t"/>
          <a:lstStyle/>
          <a:p>
            <a:pPr algn="l" indent="0" marL="0">
              <a:buNone/>
            </a:pPr>
            <a:r>
              <a:rPr lang="en-US" sz="860" b="1" spc="110" kern="0" dirty="0">
                <a:solidFill>
                  <a:srgbClr val="102A43"/>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11480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Separa el poder de detección de la procedencia del esperado.</a:t>
            </a:r>
            <a:endParaRPr lang="en-US" sz="1200" dirty="0"/>
          </a:p>
        </p:txBody>
      </p:sp>
      <p:sp>
        <p:nvSpPr>
          <p:cNvPr id="24" name="Shape 21"/>
          <p:cNvSpPr/>
          <p:nvPr/>
        </p:nvSpPr>
        <p:spPr>
          <a:xfrm>
            <a:off x="658368" y="4590288"/>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590288"/>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736592"/>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727448"/>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estudio de METR encontró una brecha entre tiempo medido y velocidad percibida. ¿Qué parte de esta auditoría evita depender de esa sensación?</a:t>
            </a:r>
            <a:endParaRPr lang="en-US" sz="1400" dirty="0"/>
          </a:p>
        </p:txBody>
      </p:sp>
      <p:sp>
        <p:nvSpPr>
          <p:cNvPr id="28" name="Shape 25"/>
          <p:cNvSpPr/>
          <p:nvPr/>
        </p:nvSpPr>
        <p:spPr>
          <a:xfrm>
            <a:off x="1572768" y="5358384"/>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449824"/>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431536"/>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Los tres criterios dejan una salida observable o una fuente declarada.</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79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CONTRASTE</a:t>
            </a:r>
            <a:endParaRPr lang="en-US" sz="1030" dirty="0"/>
          </a:p>
        </p:txBody>
      </p:sp>
      <p:sp>
        <p:nvSpPr>
          <p:cNvPr id="9" name="Text 6"/>
          <p:cNvSpPr txBox="1"/>
          <p:nvPr/>
        </p:nvSpPr>
        <p:spPr>
          <a:xfrm>
            <a:off x="658368" y="749808"/>
            <a:ext cx="9418320" cy="566928"/>
          </a:xfrm>
          <a:prstGeom prst="rect">
            <a:avLst/>
          </a:prstGeom>
          <a:noFill/>
          <a:ln/>
        </p:spPr>
        <p:txBody>
          <a:bodyPr wrap="square" lIns="0" tIns="0" rIns="0" bIns="0" rtlCol="0" anchor="t"/>
          <a:lstStyle/>
          <a:p>
            <a:pPr algn="l" indent="0" marL="0">
              <a:buNone/>
            </a:pPr>
            <a:r>
              <a:rPr lang="en-US" sz="2500" b="1" dirty="0">
                <a:solidFill>
                  <a:srgbClr val="243B53"/>
                </a:solidFill>
                <a:latin typeface="Aptos Display" pitchFamily="34" charset="0"/>
                <a:ea typeface="Aptos Display" pitchFamily="34" charset="-122"/>
                <a:cs typeface="Aptos Display" pitchFamily="34" charset="-120"/>
              </a:rPr>
              <a:t>Lo que tenía que aparecer</a:t>
            </a:r>
            <a:endParaRPr lang="en-US" sz="2500" dirty="0"/>
          </a:p>
        </p:txBody>
      </p:sp>
      <p:sp>
        <p:nvSpPr>
          <p:cNvPr id="10" name="Shape 7"/>
          <p:cNvSpPr/>
          <p:nvPr/>
        </p:nvSpPr>
        <p:spPr>
          <a:xfrm>
            <a:off x="658368" y="1517904"/>
            <a:ext cx="10874959" cy="1536192"/>
          </a:xfrm>
          <a:prstGeom prst="rect">
            <a:avLst/>
          </a:prstGeom>
          <a:solidFill>
            <a:srgbClr val="FFFFFF"/>
          </a:solidFill>
          <a:ln w="12700">
            <a:solidFill>
              <a:srgbClr val="FFFFFF"/>
            </a:solidFill>
            <a:prstDash val="solid"/>
          </a:ln>
        </p:spPr>
      </p:sp>
      <p:sp>
        <p:nvSpPr>
          <p:cNvPr id="11" name="Shape 8"/>
          <p:cNvSpPr/>
          <p:nvPr/>
        </p:nvSpPr>
        <p:spPr>
          <a:xfrm>
            <a:off x="658368" y="1517904"/>
            <a:ext cx="54864" cy="1536192"/>
          </a:xfrm>
          <a:prstGeom prst="rect">
            <a:avLst/>
          </a:prstGeom>
          <a:solidFill>
            <a:srgbClr val="B3181E"/>
          </a:solidFill>
          <a:ln w="12700">
            <a:solidFill>
              <a:srgbClr val="B3181E"/>
            </a:solidFill>
            <a:prstDash val="solid"/>
          </a:ln>
        </p:spPr>
      </p:sp>
      <p:sp>
        <p:nvSpPr>
          <p:cNvPr id="12" name="Text 9"/>
          <p:cNvSpPr txBox="1"/>
          <p:nvPr/>
        </p:nvSpPr>
        <p:spPr>
          <a:xfrm>
            <a:off x="950976" y="1700784"/>
            <a:ext cx="530352" cy="475488"/>
          </a:xfrm>
          <a:prstGeom prst="rect">
            <a:avLst/>
          </a:prstGeom>
          <a:noFill/>
          <a:ln/>
        </p:spPr>
        <p:txBody>
          <a:bodyPr wrap="square" lIns="0" tIns="0" rIns="0" bIns="0" rtlCol="0" anchor="t"/>
          <a:lstStyle/>
          <a:p>
            <a:pPr algn="l"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3" name="Text 10"/>
          <p:cNvSpPr txBox="1"/>
          <p:nvPr/>
        </p:nvSpPr>
        <p:spPr>
          <a:xfrm>
            <a:off x="1682496" y="1645920"/>
            <a:ext cx="9521647" cy="182880"/>
          </a:xfrm>
          <a:prstGeom prst="rect">
            <a:avLst/>
          </a:prstGeom>
          <a:noFill/>
          <a:ln/>
        </p:spPr>
        <p:txBody>
          <a:bodyPr wrap="square" lIns="0" tIns="0" rIns="0" bIns="0" rtlCol="0" anchor="t"/>
          <a:lstStyle/>
          <a:p>
            <a:pPr algn="l" indent="0" marL="0">
              <a:buNone/>
            </a:pPr>
            <a:r>
              <a:rPr lang="en-US" sz="880" b="1" spc="120" kern="0" dirty="0">
                <a:solidFill>
                  <a:srgbClr val="B3181E"/>
                </a:solidFill>
                <a:latin typeface="Aptos" pitchFamily="34" charset="0"/>
                <a:ea typeface="Aptos" pitchFamily="34" charset="-122"/>
                <a:cs typeface="Aptos" pitchFamily="34" charset="-120"/>
              </a:rPr>
              <a:t>EL MUTANTE SOBREVIVIENTE</a:t>
            </a:r>
            <a:endParaRPr lang="en-US" sz="880" dirty="0"/>
          </a:p>
        </p:txBody>
      </p:sp>
      <p:sp>
        <p:nvSpPr>
          <p:cNvPr id="14" name="Text 11"/>
          <p:cNvSpPr txBox="1"/>
          <p:nvPr/>
        </p:nvSpPr>
        <p:spPr>
          <a:xfrm>
            <a:off x="1682496" y="1883664"/>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Quitar el correo no hace fallar la prueba. Esa ejecución demuestra que la aserción acepta una salida defectuosa aunque el porcentaje baje al rechazarla.</a:t>
            </a:r>
            <a:endParaRPr lang="en-US" sz="1300" dirty="0"/>
          </a:p>
        </p:txBody>
      </p:sp>
      <p:sp>
        <p:nvSpPr>
          <p:cNvPr id="15" name="Shape 12"/>
          <p:cNvSpPr/>
          <p:nvPr/>
        </p:nvSpPr>
        <p:spPr>
          <a:xfrm>
            <a:off x="1682496" y="2432304"/>
            <a:ext cx="9521647" cy="0"/>
          </a:xfrm>
          <a:prstGeom prst="line">
            <a:avLst/>
          </a:prstGeom>
          <a:noFill/>
          <a:ln w="12700">
            <a:solidFill>
              <a:srgbClr val="D8CFC4"/>
            </a:solidFill>
            <a:prstDash val="solid"/>
            <a:headEnd type="none"/>
            <a:tailEnd type="none"/>
          </a:ln>
        </p:spPr>
      </p:sp>
      <p:sp>
        <p:nvSpPr>
          <p:cNvPr id="16" name="Text 13"/>
          <p:cNvSpPr txBox="1"/>
          <p:nvPr/>
        </p:nvSpPr>
        <p:spPr>
          <a:xfrm>
            <a:off x="1682496"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17" name="Text 14"/>
          <p:cNvSpPr txBox="1"/>
          <p:nvPr/>
        </p:nvSpPr>
        <p:spPr>
          <a:xfrm>
            <a:off x="1682496" y="2688336"/>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La decisión se defiende con comportamiento observado.</a:t>
            </a:r>
            <a:endParaRPr lang="en-US" sz="1060" dirty="0"/>
          </a:p>
        </p:txBody>
      </p:sp>
      <p:sp>
        <p:nvSpPr>
          <p:cNvPr id="18" name="Shape 15"/>
          <p:cNvSpPr/>
          <p:nvPr/>
        </p:nvSpPr>
        <p:spPr>
          <a:xfrm>
            <a:off x="6443320" y="2487168"/>
            <a:ext cx="0" cy="457200"/>
          </a:xfrm>
          <a:prstGeom prst="line">
            <a:avLst/>
          </a:prstGeom>
          <a:noFill/>
          <a:ln w="12700">
            <a:solidFill>
              <a:srgbClr val="D8CFC4"/>
            </a:solidFill>
            <a:prstDash val="solid"/>
            <a:headEnd type="none"/>
            <a:tailEnd type="none"/>
          </a:ln>
        </p:spPr>
      </p:sp>
      <p:sp>
        <p:nvSpPr>
          <p:cNvPr id="19" name="Text 16"/>
          <p:cNvSpPr txBox="1"/>
          <p:nvPr/>
        </p:nvSpPr>
        <p:spPr>
          <a:xfrm>
            <a:off x="6699352" y="2505456"/>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20" name="Text 17"/>
          <p:cNvSpPr txBox="1"/>
          <p:nvPr/>
        </p:nvSpPr>
        <p:spPr>
          <a:xfrm>
            <a:off x="6699352" y="2688336"/>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«La prueba tiene un nombre claro, así que conviene conservarla.»</a:t>
            </a:r>
            <a:endParaRPr lang="en-US" sz="1060" dirty="0"/>
          </a:p>
        </p:txBody>
      </p:sp>
      <p:sp>
        <p:nvSpPr>
          <p:cNvPr id="21" name="Shape 18"/>
          <p:cNvSpPr/>
          <p:nvPr/>
        </p:nvSpPr>
        <p:spPr>
          <a:xfrm>
            <a:off x="658368" y="3145536"/>
            <a:ext cx="10874959" cy="1536192"/>
          </a:xfrm>
          <a:prstGeom prst="rect">
            <a:avLst/>
          </a:prstGeom>
          <a:solidFill>
            <a:srgbClr val="FFFFFF"/>
          </a:solidFill>
          <a:ln w="12700">
            <a:solidFill>
              <a:srgbClr val="FFFFFF"/>
            </a:solidFill>
            <a:prstDash val="solid"/>
          </a:ln>
        </p:spPr>
      </p:sp>
      <p:sp>
        <p:nvSpPr>
          <p:cNvPr id="22" name="Shape 19"/>
          <p:cNvSpPr/>
          <p:nvPr/>
        </p:nvSpPr>
        <p:spPr>
          <a:xfrm>
            <a:off x="658368" y="3145536"/>
            <a:ext cx="54864" cy="1536192"/>
          </a:xfrm>
          <a:prstGeom prst="rect">
            <a:avLst/>
          </a:prstGeom>
          <a:solidFill>
            <a:srgbClr val="102A43"/>
          </a:solidFill>
          <a:ln w="12700">
            <a:solidFill>
              <a:srgbClr val="102A43"/>
            </a:solidFill>
            <a:prstDash val="solid"/>
          </a:ln>
        </p:spPr>
      </p:sp>
      <p:sp>
        <p:nvSpPr>
          <p:cNvPr id="23" name="Text 20"/>
          <p:cNvSpPr txBox="1"/>
          <p:nvPr/>
        </p:nvSpPr>
        <p:spPr>
          <a:xfrm>
            <a:off x="950976" y="3328416"/>
            <a:ext cx="530352" cy="475488"/>
          </a:xfrm>
          <a:prstGeom prst="rect">
            <a:avLst/>
          </a:prstGeom>
          <a:noFill/>
          <a:ln/>
        </p:spPr>
        <p:txBody>
          <a:bodyPr wrap="square" lIns="0" tIns="0" rIns="0" bIns="0" rtlCol="0" anchor="t"/>
          <a:lstStyle/>
          <a:p>
            <a:pPr algn="l"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682496" y="3273552"/>
            <a:ext cx="9521647" cy="182880"/>
          </a:xfrm>
          <a:prstGeom prst="rect">
            <a:avLst/>
          </a:prstGeom>
          <a:noFill/>
          <a:ln/>
        </p:spPr>
        <p:txBody>
          <a:bodyPr wrap="square" lIns="0" tIns="0" rIns="0" bIns="0" rtlCol="0" anchor="t"/>
          <a:lstStyle/>
          <a:p>
            <a:pPr algn="l" indent="0" marL="0">
              <a:buNone/>
            </a:pPr>
            <a:r>
              <a:rPr lang="en-US" sz="880" b="1" spc="120" kern="0" dirty="0">
                <a:solidFill>
                  <a:srgbClr val="102A43"/>
                </a:solidFill>
                <a:latin typeface="Aptos" pitchFamily="34" charset="0"/>
                <a:ea typeface="Aptos" pitchFamily="34" charset="-122"/>
                <a:cs typeface="Aptos" pitchFamily="34" charset="-120"/>
              </a:rPr>
              <a:t>PORQUE EL REQUISITO NO DECIDE LA IGUALDAD</a:t>
            </a:r>
            <a:endParaRPr lang="en-US" sz="880" dirty="0"/>
          </a:p>
        </p:txBody>
      </p:sp>
      <p:sp>
        <p:nvSpPr>
          <p:cNvPr id="25" name="Text 22"/>
          <p:cNvSpPr txBox="1"/>
          <p:nvPr/>
        </p:nvSpPr>
        <p:spPr>
          <a:xfrm>
            <a:off x="1682496" y="3511296"/>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La prueba detecta cambios, pero defiende la decisión del operador &gt;. Incorporarla convertiría una ambigüedad pendiente en una regla falsa.</a:t>
            </a:r>
            <a:endParaRPr lang="en-US" sz="1300" dirty="0"/>
          </a:p>
        </p:txBody>
      </p:sp>
      <p:sp>
        <p:nvSpPr>
          <p:cNvPr id="26" name="Shape 23"/>
          <p:cNvSpPr/>
          <p:nvPr/>
        </p:nvSpPr>
        <p:spPr>
          <a:xfrm>
            <a:off x="1682496" y="4059936"/>
            <a:ext cx="9521647" cy="0"/>
          </a:xfrm>
          <a:prstGeom prst="line">
            <a:avLst/>
          </a:prstGeom>
          <a:noFill/>
          <a:ln w="12700">
            <a:solidFill>
              <a:srgbClr val="D8CFC4"/>
            </a:solidFill>
            <a:prstDash val="solid"/>
            <a:headEnd type="none"/>
            <a:tailEnd type="none"/>
          </a:ln>
        </p:spPr>
      </p:sp>
      <p:sp>
        <p:nvSpPr>
          <p:cNvPr id="27" name="Text 24"/>
          <p:cNvSpPr txBox="1"/>
          <p:nvPr/>
        </p:nvSpPr>
        <p:spPr>
          <a:xfrm>
            <a:off x="1682496"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28" name="Text 25"/>
          <p:cNvSpPr txBox="1"/>
          <p:nvPr/>
        </p:nvSpPr>
        <p:spPr>
          <a:xfrm>
            <a:off x="1682496" y="4315968"/>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Una prueba fuerte también puede proteger el comportamiento equivocado.</a:t>
            </a:r>
            <a:endParaRPr lang="en-US" sz="1060" dirty="0"/>
          </a:p>
        </p:txBody>
      </p:sp>
      <p:sp>
        <p:nvSpPr>
          <p:cNvPr id="29" name="Shape 26"/>
          <p:cNvSpPr/>
          <p:nvPr/>
        </p:nvSpPr>
        <p:spPr>
          <a:xfrm>
            <a:off x="6443320" y="4114800"/>
            <a:ext cx="0" cy="457200"/>
          </a:xfrm>
          <a:prstGeom prst="line">
            <a:avLst/>
          </a:prstGeom>
          <a:noFill/>
          <a:ln w="12700">
            <a:solidFill>
              <a:srgbClr val="D8CFC4"/>
            </a:solidFill>
            <a:prstDash val="solid"/>
            <a:headEnd type="none"/>
            <a:tailEnd type="none"/>
          </a:ln>
        </p:spPr>
      </p:sp>
      <p:sp>
        <p:nvSpPr>
          <p:cNvPr id="30" name="Text 27"/>
          <p:cNvSpPr txBox="1"/>
          <p:nvPr/>
        </p:nvSpPr>
        <p:spPr>
          <a:xfrm>
            <a:off x="6699352" y="4133088"/>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31" name="Text 28"/>
          <p:cNvSpPr txBox="1"/>
          <p:nvPr/>
        </p:nvSpPr>
        <p:spPr>
          <a:xfrm>
            <a:off x="6699352" y="4315968"/>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«Si mata el mutante, entonces verifica el requisito.»</a:t>
            </a:r>
            <a:endParaRPr lang="en-US" sz="1060" dirty="0"/>
          </a:p>
        </p:txBody>
      </p:sp>
      <p:sp>
        <p:nvSpPr>
          <p:cNvPr id="32" name="Shape 29"/>
          <p:cNvSpPr/>
          <p:nvPr/>
        </p:nvSpPr>
        <p:spPr>
          <a:xfrm>
            <a:off x="658368" y="4773168"/>
            <a:ext cx="10874959" cy="1536192"/>
          </a:xfrm>
          <a:prstGeom prst="rect">
            <a:avLst/>
          </a:prstGeom>
          <a:solidFill>
            <a:srgbClr val="FFFFFF"/>
          </a:solidFill>
          <a:ln w="12700">
            <a:solidFill>
              <a:srgbClr val="FFFFFF"/>
            </a:solidFill>
            <a:prstDash val="solid"/>
          </a:ln>
        </p:spPr>
      </p:sp>
      <p:sp>
        <p:nvSpPr>
          <p:cNvPr id="33" name="Shape 30"/>
          <p:cNvSpPr/>
          <p:nvPr/>
        </p:nvSpPr>
        <p:spPr>
          <a:xfrm>
            <a:off x="658368" y="4773168"/>
            <a:ext cx="54864" cy="1536192"/>
          </a:xfrm>
          <a:prstGeom prst="rect">
            <a:avLst/>
          </a:prstGeom>
          <a:solidFill>
            <a:srgbClr val="8A6A12"/>
          </a:solidFill>
          <a:ln w="12700">
            <a:solidFill>
              <a:srgbClr val="8A6A12"/>
            </a:solidFill>
            <a:prstDash val="solid"/>
          </a:ln>
        </p:spPr>
      </p:sp>
      <p:sp>
        <p:nvSpPr>
          <p:cNvPr id="34" name="Text 31"/>
          <p:cNvSpPr txBox="1"/>
          <p:nvPr/>
        </p:nvSpPr>
        <p:spPr>
          <a:xfrm>
            <a:off x="950976" y="4956048"/>
            <a:ext cx="530352" cy="475488"/>
          </a:xfrm>
          <a:prstGeom prst="rect">
            <a:avLst/>
          </a:prstGeom>
          <a:noFill/>
          <a:ln/>
        </p:spPr>
        <p:txBody>
          <a:bodyPr wrap="square" lIns="0" tIns="0" rIns="0" bIns="0" rtlCol="0" anchor="t"/>
          <a:lstStyle/>
          <a:p>
            <a:pPr algn="l"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5" name="Text 32"/>
          <p:cNvSpPr txBox="1"/>
          <p:nvPr/>
        </p:nvSpPr>
        <p:spPr>
          <a:xfrm>
            <a:off x="1682496" y="4901184"/>
            <a:ext cx="9521647" cy="182880"/>
          </a:xfrm>
          <a:prstGeom prst="rect">
            <a:avLst/>
          </a:prstGeom>
          <a:noFill/>
          <a:ln/>
        </p:spPr>
        <p:txBody>
          <a:bodyPr wrap="square" lIns="0" tIns="0" rIns="0" bIns="0" rtlCol="0" anchor="t"/>
          <a:lstStyle/>
          <a:p>
            <a:pPr algn="l" indent="0" marL="0">
              <a:buNone/>
            </a:pPr>
            <a:r>
              <a:rPr lang="en-US" sz="880" b="1" spc="120" kern="0" dirty="0">
                <a:solidFill>
                  <a:srgbClr val="8A6A12"/>
                </a:solidFill>
                <a:latin typeface="Aptos" pitchFamily="34" charset="0"/>
                <a:ea typeface="Aptos" pitchFamily="34" charset="-122"/>
                <a:cs typeface="Aptos" pitchFamily="34" charset="-120"/>
              </a:rPr>
              <a:t>LA EVIDENCIA EJECUTABLE DE LOS TRES CRITERIOS</a:t>
            </a:r>
            <a:endParaRPr lang="en-US" sz="880" dirty="0"/>
          </a:p>
        </p:txBody>
      </p:sp>
      <p:sp>
        <p:nvSpPr>
          <p:cNvPr id="36" name="Text 33"/>
          <p:cNvSpPr txBox="1"/>
          <p:nvPr/>
        </p:nvSpPr>
        <p:spPr>
          <a:xfrm>
            <a:off x="1682496" y="5138928"/>
            <a:ext cx="9521647" cy="475488"/>
          </a:xfrm>
          <a:prstGeom prst="rect">
            <a:avLst/>
          </a:prstGeom>
          <a:noFill/>
          <a:ln/>
        </p:spPr>
        <p:txBody>
          <a:bodyPr wrap="square" lIns="0" tIns="0" rIns="0" bIns="0" rtlCol="0" anchor="t"/>
          <a:lstStyle/>
          <a:p>
            <a:pPr algn="l" indent="0" marL="0">
              <a:lnSpc>
                <a:spcPct val="120000"/>
              </a:lnSpc>
              <a:buNone/>
            </a:pPr>
            <a:r>
              <a:rPr lang="en-US" sz="1300" b="1" dirty="0">
                <a:solidFill>
                  <a:srgbClr val="243B53"/>
                </a:solidFill>
                <a:latin typeface="Aptos" pitchFamily="34" charset="0"/>
                <a:ea typeface="Aptos" pitchFamily="34" charset="-122"/>
                <a:cs typeface="Aptos" pitchFamily="34" charset="-120"/>
              </a:rPr>
              <a:t>La procedencia del esperado, el resultado del mutante y la relación del doble con su dependencia reemplazan la impresión por evidencia revisable.</a:t>
            </a:r>
            <a:endParaRPr lang="en-US" sz="1300" dirty="0"/>
          </a:p>
        </p:txBody>
      </p:sp>
      <p:sp>
        <p:nvSpPr>
          <p:cNvPr id="37" name="Shape 34"/>
          <p:cNvSpPr/>
          <p:nvPr/>
        </p:nvSpPr>
        <p:spPr>
          <a:xfrm>
            <a:off x="1682496" y="5687568"/>
            <a:ext cx="9521647" cy="0"/>
          </a:xfrm>
          <a:prstGeom prst="line">
            <a:avLst/>
          </a:prstGeom>
          <a:noFill/>
          <a:ln w="12700">
            <a:solidFill>
              <a:srgbClr val="D8CFC4"/>
            </a:solidFill>
            <a:prstDash val="solid"/>
            <a:headEnd type="none"/>
            <a:tailEnd type="none"/>
          </a:ln>
        </p:spPr>
      </p:sp>
      <p:sp>
        <p:nvSpPr>
          <p:cNvPr id="38" name="Text 35"/>
          <p:cNvSpPr txBox="1"/>
          <p:nvPr/>
        </p:nvSpPr>
        <p:spPr>
          <a:xfrm>
            <a:off x="1682496"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2E7D4F"/>
                </a:solidFill>
                <a:latin typeface="Aptos" pitchFamily="34" charset="0"/>
                <a:ea typeface="Aptos" pitchFamily="34" charset="-122"/>
                <a:cs typeface="Aptos" pitchFamily="34" charset="-120"/>
              </a:rPr>
              <a:t>LO QUE REVELA</a:t>
            </a:r>
            <a:endParaRPr lang="en-US" sz="820" dirty="0"/>
          </a:p>
        </p:txBody>
      </p:sp>
      <p:sp>
        <p:nvSpPr>
          <p:cNvPr id="39" name="Text 36"/>
          <p:cNvSpPr txBox="1"/>
          <p:nvPr/>
        </p:nvSpPr>
        <p:spPr>
          <a:xfrm>
            <a:off x="1682496" y="5943600"/>
            <a:ext cx="4504792" cy="310896"/>
          </a:xfrm>
          <a:prstGeom prst="rect">
            <a:avLst/>
          </a:prstGeom>
          <a:noFill/>
          <a:ln/>
        </p:spPr>
        <p:txBody>
          <a:bodyPr wrap="square" lIns="0" tIns="0" rIns="0" bIns="0" rtlCol="0" anchor="t"/>
          <a:lstStyle/>
          <a:p>
            <a:pPr algn="l" indent="0" marL="0">
              <a:lnSpc>
                <a:spcPct val="114000"/>
              </a:lnSpc>
              <a:buNone/>
            </a:pPr>
            <a:r>
              <a:rPr lang="en-US" sz="1060" dirty="0">
                <a:solidFill>
                  <a:srgbClr val="243B53"/>
                </a:solidFill>
                <a:latin typeface="Aptos" pitchFamily="34" charset="0"/>
                <a:ea typeface="Aptos" pitchFamily="34" charset="-122"/>
                <a:cs typeface="Aptos" pitchFamily="34" charset="-120"/>
              </a:rPr>
              <a:t>La auditoría mide lo que la sensación no puede medir.</a:t>
            </a:r>
            <a:endParaRPr lang="en-US" sz="1060" dirty="0"/>
          </a:p>
        </p:txBody>
      </p:sp>
      <p:sp>
        <p:nvSpPr>
          <p:cNvPr id="40" name="Shape 37"/>
          <p:cNvSpPr/>
          <p:nvPr/>
        </p:nvSpPr>
        <p:spPr>
          <a:xfrm>
            <a:off x="6443320" y="5742432"/>
            <a:ext cx="0" cy="457200"/>
          </a:xfrm>
          <a:prstGeom prst="line">
            <a:avLst/>
          </a:prstGeom>
          <a:noFill/>
          <a:ln w="12700">
            <a:solidFill>
              <a:srgbClr val="D8CFC4"/>
            </a:solidFill>
            <a:prstDash val="solid"/>
            <a:headEnd type="none"/>
            <a:tailEnd type="none"/>
          </a:ln>
        </p:spPr>
      </p:sp>
      <p:sp>
        <p:nvSpPr>
          <p:cNvPr id="41" name="Text 38"/>
          <p:cNvSpPr txBox="1"/>
          <p:nvPr/>
        </p:nvSpPr>
        <p:spPr>
          <a:xfrm>
            <a:off x="6699352" y="5760720"/>
            <a:ext cx="4504792" cy="164592"/>
          </a:xfrm>
          <a:prstGeom prst="rect">
            <a:avLst/>
          </a:prstGeom>
          <a:noFill/>
          <a:ln/>
        </p:spPr>
        <p:txBody>
          <a:bodyPr wrap="square" lIns="0" tIns="0" rIns="0" bIns="0" rtlCol="0" anchor="t"/>
          <a:lstStyle/>
          <a:p>
            <a:pPr algn="l" indent="0" marL="0">
              <a:buNone/>
            </a:pPr>
            <a:r>
              <a:rPr lang="en-US" sz="820" b="1" spc="110" kern="0" dirty="0">
                <a:solidFill>
                  <a:srgbClr val="B3181E"/>
                </a:solidFill>
                <a:latin typeface="Aptos" pitchFamily="34" charset="0"/>
                <a:ea typeface="Aptos" pitchFamily="34" charset="-122"/>
                <a:cs typeface="Aptos" pitchFamily="34" charset="-120"/>
              </a:rPr>
              <a:t>ERROR FRECUENTE</a:t>
            </a:r>
            <a:endParaRPr lang="en-US" sz="820" dirty="0"/>
          </a:p>
        </p:txBody>
      </p:sp>
      <p:sp>
        <p:nvSpPr>
          <p:cNvPr id="42" name="Text 39"/>
          <p:cNvSpPr txBox="1"/>
          <p:nvPr/>
        </p:nvSpPr>
        <p:spPr>
          <a:xfrm>
            <a:off x="6699352" y="5943600"/>
            <a:ext cx="4504792" cy="310896"/>
          </a:xfrm>
          <a:prstGeom prst="rect">
            <a:avLst/>
          </a:prstGeom>
          <a:noFill/>
          <a:ln/>
        </p:spPr>
        <p:txBody>
          <a:bodyPr wrap="square" lIns="0" tIns="0" rIns="0" bIns="0" rtlCol="0" anchor="t"/>
          <a:lstStyle/>
          <a:p>
            <a:pPr algn="l" indent="0" marL="0">
              <a:lnSpc>
                <a:spcPct val="114000"/>
              </a:lnSpc>
              <a:buNone/>
            </a:pPr>
            <a:r>
              <a:rPr lang="en-US" sz="1060" i="1" dirty="0">
                <a:solidFill>
                  <a:srgbClr val="52606D"/>
                </a:solidFill>
                <a:latin typeface="Aptos" pitchFamily="34" charset="0"/>
                <a:ea typeface="Aptos" pitchFamily="34" charset="-122"/>
                <a:cs typeface="Aptos" pitchFamily="34" charset="-120"/>
              </a:rPr>
              <a:t>«Con experiencia basta para reconocer una buena suite.»</a:t>
            </a:r>
            <a:endParaRPr lang="en-US" sz="106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80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 TRES LECTURAS</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medidas de una misma suite</a:t>
            </a:r>
            <a:endParaRPr lang="en-US" sz="3000" dirty="0"/>
          </a:p>
        </p:txBody>
      </p:sp>
      <p:sp>
        <p:nvSpPr>
          <p:cNvPr id="10" name="Text 7"/>
          <p:cNvSpPr txBox="1"/>
          <p:nvPr/>
        </p:nvSpPr>
        <p:spPr>
          <a:xfrm>
            <a:off x="658368" y="1773936"/>
            <a:ext cx="1033272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Ninguna reemplaza a las otras. La procedencia del esperado ordena la interpretación de las tres.</a:t>
            </a:r>
            <a:endParaRPr lang="en-US" sz="1450" dirty="0"/>
          </a:p>
        </p:txBody>
      </p:sp>
      <p:sp>
        <p:nvSpPr>
          <p:cNvPr id="11" name="Text 8"/>
          <p:cNvSpPr txBox="1"/>
          <p:nvPr/>
        </p:nvSpPr>
        <p:spPr>
          <a:xfrm>
            <a:off x="877824" y="2359152"/>
            <a:ext cx="1920240" cy="219456"/>
          </a:xfrm>
          <a:prstGeom prst="rect">
            <a:avLst/>
          </a:prstGeom>
          <a:noFill/>
          <a:ln/>
        </p:spPr>
        <p:txBody>
          <a:bodyPr wrap="square" lIns="0" tIns="0" rIns="0" bIns="0" rtlCol="0" anchor="t"/>
          <a:lstStyle/>
          <a:p>
            <a:pPr algn="l" indent="0" marL="0">
              <a:buNone/>
            </a:pPr>
            <a:r>
              <a:rPr lang="en-US" sz="940" b="1" spc="120" kern="0" dirty="0">
                <a:solidFill>
                  <a:srgbClr val="52606D"/>
                </a:solidFill>
                <a:latin typeface="Aptos" pitchFamily="34" charset="0"/>
                <a:ea typeface="Aptos" pitchFamily="34" charset="-122"/>
                <a:cs typeface="Aptos" pitchFamily="34" charset="-120"/>
              </a:rPr>
              <a:t>MEDIDA</a:t>
            </a:r>
            <a:endParaRPr lang="en-US" sz="940" dirty="0"/>
          </a:p>
        </p:txBody>
      </p:sp>
      <p:sp>
        <p:nvSpPr>
          <p:cNvPr id="12" name="Text 9"/>
          <p:cNvSpPr txBox="1"/>
          <p:nvPr/>
        </p:nvSpPr>
        <p:spPr>
          <a:xfrm>
            <a:off x="2980944" y="2359152"/>
            <a:ext cx="3840480" cy="219456"/>
          </a:xfrm>
          <a:prstGeom prst="rect">
            <a:avLst/>
          </a:prstGeom>
          <a:noFill/>
          <a:ln/>
        </p:spPr>
        <p:txBody>
          <a:bodyPr wrap="square" lIns="0" tIns="0" rIns="0" bIns="0" rtlCol="0" anchor="t"/>
          <a:lstStyle/>
          <a:p>
            <a:pPr algn="l" indent="0" marL="0">
              <a:buNone/>
            </a:pPr>
            <a:r>
              <a:rPr lang="en-US" sz="940" b="1" spc="120" kern="0" dirty="0">
                <a:solidFill>
                  <a:srgbClr val="52606D"/>
                </a:solidFill>
                <a:latin typeface="Aptos" pitchFamily="34" charset="0"/>
                <a:ea typeface="Aptos" pitchFamily="34" charset="-122"/>
                <a:cs typeface="Aptos" pitchFamily="34" charset="-120"/>
              </a:rPr>
              <a:t>QUÉ INFORMA</a:t>
            </a:r>
            <a:endParaRPr lang="en-US" sz="940" dirty="0"/>
          </a:p>
        </p:txBody>
      </p:sp>
      <p:sp>
        <p:nvSpPr>
          <p:cNvPr id="13" name="Text 10"/>
          <p:cNvSpPr txBox="1"/>
          <p:nvPr/>
        </p:nvSpPr>
        <p:spPr>
          <a:xfrm>
            <a:off x="7205472" y="2359152"/>
            <a:ext cx="4114800" cy="219456"/>
          </a:xfrm>
          <a:prstGeom prst="rect">
            <a:avLst/>
          </a:prstGeom>
          <a:noFill/>
          <a:ln/>
        </p:spPr>
        <p:txBody>
          <a:bodyPr wrap="square" lIns="0" tIns="0" rIns="0" bIns="0" rtlCol="0" anchor="t"/>
          <a:lstStyle/>
          <a:p>
            <a:pPr algn="l" indent="0" marL="0">
              <a:buNone/>
            </a:pPr>
            <a:r>
              <a:rPr lang="en-US" sz="940" b="1" spc="120" kern="0" dirty="0">
                <a:solidFill>
                  <a:srgbClr val="52606D"/>
                </a:solidFill>
                <a:latin typeface="Aptos" pitchFamily="34" charset="0"/>
                <a:ea typeface="Aptos" pitchFamily="34" charset="-122"/>
                <a:cs typeface="Aptos" pitchFamily="34" charset="-120"/>
              </a:rPr>
              <a:t>QUÉ NO PUEDE INFORMAR</a:t>
            </a:r>
            <a:endParaRPr lang="en-US" sz="940" dirty="0"/>
          </a:p>
        </p:txBody>
      </p:sp>
      <p:sp>
        <p:nvSpPr>
          <p:cNvPr id="14" name="Shape 11"/>
          <p:cNvSpPr/>
          <p:nvPr/>
        </p:nvSpPr>
        <p:spPr>
          <a:xfrm>
            <a:off x="658368" y="2706624"/>
            <a:ext cx="10874959" cy="768096"/>
          </a:xfrm>
          <a:prstGeom prst="rect">
            <a:avLst/>
          </a:prstGeom>
          <a:solidFill>
            <a:srgbClr val="FFFFFF"/>
          </a:solidFill>
          <a:ln w="12700">
            <a:solidFill>
              <a:srgbClr val="FFFFFF"/>
            </a:solidFill>
            <a:prstDash val="solid"/>
          </a:ln>
        </p:spPr>
      </p:sp>
      <p:sp>
        <p:nvSpPr>
          <p:cNvPr id="15" name="Shape 12"/>
          <p:cNvSpPr/>
          <p:nvPr/>
        </p:nvSpPr>
        <p:spPr>
          <a:xfrm>
            <a:off x="658368" y="2706624"/>
            <a:ext cx="64008" cy="768096"/>
          </a:xfrm>
          <a:prstGeom prst="rect">
            <a:avLst/>
          </a:prstGeom>
          <a:solidFill>
            <a:srgbClr val="8A6A12"/>
          </a:solidFill>
          <a:ln w="12700">
            <a:solidFill>
              <a:srgbClr val="8A6A12"/>
            </a:solidFill>
            <a:prstDash val="solid"/>
          </a:ln>
        </p:spPr>
      </p:sp>
      <p:sp>
        <p:nvSpPr>
          <p:cNvPr id="16" name="Text 13"/>
          <p:cNvSpPr txBox="1"/>
          <p:nvPr/>
        </p:nvSpPr>
        <p:spPr>
          <a:xfrm>
            <a:off x="914400" y="2871216"/>
            <a:ext cx="1847088" cy="310896"/>
          </a:xfrm>
          <a:prstGeom prst="rect">
            <a:avLst/>
          </a:prstGeom>
          <a:noFill/>
          <a:ln/>
        </p:spPr>
        <p:txBody>
          <a:bodyPr wrap="square" lIns="0" tIns="0" rIns="0" bIns="0" rtlCol="0" anchor="t"/>
          <a:lstStyle/>
          <a:p>
            <a:pPr algn="l" indent="0" marL="0">
              <a:buNone/>
            </a:pPr>
            <a:r>
              <a:rPr lang="en-US" sz="1140" b="1" spc="80" kern="0" dirty="0">
                <a:solidFill>
                  <a:srgbClr val="8A6A12"/>
                </a:solidFill>
                <a:latin typeface="Aptos" pitchFamily="34" charset="0"/>
                <a:ea typeface="Aptos" pitchFamily="34" charset="-122"/>
                <a:cs typeface="Aptos" pitchFamily="34" charset="-120"/>
              </a:rPr>
              <a:t>COBERTURA</a:t>
            </a:r>
            <a:endParaRPr lang="en-US" sz="1140" dirty="0"/>
          </a:p>
        </p:txBody>
      </p:sp>
      <p:sp>
        <p:nvSpPr>
          <p:cNvPr id="17" name="Text 14"/>
          <p:cNvSpPr txBox="1"/>
          <p:nvPr/>
        </p:nvSpPr>
        <p:spPr>
          <a:xfrm>
            <a:off x="2980944" y="2834640"/>
            <a:ext cx="3822192" cy="457200"/>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Qué código se ejecutó y qué caminos se tomaron</a:t>
            </a:r>
            <a:endParaRPr lang="en-US" sz="1160" dirty="0"/>
          </a:p>
        </p:txBody>
      </p:sp>
      <p:sp>
        <p:nvSpPr>
          <p:cNvPr id="18" name="Text 15"/>
          <p:cNvSpPr txBox="1"/>
          <p:nvPr/>
        </p:nvSpPr>
        <p:spPr>
          <a:xfrm>
            <a:off x="7205472" y="2834640"/>
            <a:ext cx="4005072" cy="457200"/>
          </a:xfrm>
          <a:prstGeom prst="rect">
            <a:avLst/>
          </a:prstGeom>
          <a:noFill/>
          <a:ln/>
        </p:spPr>
        <p:txBody>
          <a:bodyPr wrap="square" lIns="0" tIns="0" rIns="0" bIns="0" rtlCol="0" anchor="ctr"/>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Si alguien comprobó el resultado</a:t>
            </a:r>
            <a:endParaRPr lang="en-US" sz="1160" dirty="0"/>
          </a:p>
        </p:txBody>
      </p:sp>
      <p:sp>
        <p:nvSpPr>
          <p:cNvPr id="19" name="Shape 16"/>
          <p:cNvSpPr/>
          <p:nvPr/>
        </p:nvSpPr>
        <p:spPr>
          <a:xfrm>
            <a:off x="658368" y="3602736"/>
            <a:ext cx="10874959" cy="768096"/>
          </a:xfrm>
          <a:prstGeom prst="rect">
            <a:avLst/>
          </a:prstGeom>
          <a:solidFill>
            <a:srgbClr val="EDE6DA"/>
          </a:solidFill>
          <a:ln w="12700">
            <a:solidFill>
              <a:srgbClr val="EDE6DA"/>
            </a:solidFill>
            <a:prstDash val="solid"/>
          </a:ln>
        </p:spPr>
      </p:sp>
      <p:sp>
        <p:nvSpPr>
          <p:cNvPr id="20" name="Shape 17"/>
          <p:cNvSpPr/>
          <p:nvPr/>
        </p:nvSpPr>
        <p:spPr>
          <a:xfrm>
            <a:off x="658368" y="3602736"/>
            <a:ext cx="64008" cy="768096"/>
          </a:xfrm>
          <a:prstGeom prst="rect">
            <a:avLst/>
          </a:prstGeom>
          <a:solidFill>
            <a:srgbClr val="B3181E"/>
          </a:solidFill>
          <a:ln w="12700">
            <a:solidFill>
              <a:srgbClr val="B3181E"/>
            </a:solidFill>
            <a:prstDash val="solid"/>
          </a:ln>
        </p:spPr>
      </p:sp>
      <p:sp>
        <p:nvSpPr>
          <p:cNvPr id="21" name="Text 18"/>
          <p:cNvSpPr txBox="1"/>
          <p:nvPr/>
        </p:nvSpPr>
        <p:spPr>
          <a:xfrm>
            <a:off x="914400" y="3767328"/>
            <a:ext cx="1847088" cy="310896"/>
          </a:xfrm>
          <a:prstGeom prst="rect">
            <a:avLst/>
          </a:prstGeom>
          <a:noFill/>
          <a:ln/>
        </p:spPr>
        <p:txBody>
          <a:bodyPr wrap="square" lIns="0" tIns="0" rIns="0" bIns="0" rtlCol="0" anchor="t"/>
          <a:lstStyle/>
          <a:p>
            <a:pPr algn="l" indent="0" marL="0">
              <a:buNone/>
            </a:pPr>
            <a:r>
              <a:rPr lang="en-US" sz="1140" b="1" spc="80" kern="0" dirty="0">
                <a:solidFill>
                  <a:srgbClr val="B3181E"/>
                </a:solidFill>
                <a:latin typeface="Aptos" pitchFamily="34" charset="0"/>
                <a:ea typeface="Aptos" pitchFamily="34" charset="-122"/>
                <a:cs typeface="Aptos" pitchFamily="34" charset="-120"/>
              </a:rPr>
              <a:t>MUTANTE</a:t>
            </a:r>
            <a:endParaRPr lang="en-US" sz="1140" dirty="0"/>
          </a:p>
        </p:txBody>
      </p:sp>
      <p:sp>
        <p:nvSpPr>
          <p:cNvPr id="22" name="Text 19"/>
          <p:cNvSpPr txBox="1"/>
          <p:nvPr/>
        </p:nvSpPr>
        <p:spPr>
          <a:xfrm>
            <a:off x="2980944" y="3730752"/>
            <a:ext cx="3822192" cy="457200"/>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Si la suite reacciona a un cambio de comportamiento</a:t>
            </a:r>
            <a:endParaRPr lang="en-US" sz="1160" dirty="0"/>
          </a:p>
        </p:txBody>
      </p:sp>
      <p:sp>
        <p:nvSpPr>
          <p:cNvPr id="23" name="Text 20"/>
          <p:cNvSpPr txBox="1"/>
          <p:nvPr/>
        </p:nvSpPr>
        <p:spPr>
          <a:xfrm>
            <a:off x="7205472" y="3730752"/>
            <a:ext cx="4005072" cy="457200"/>
          </a:xfrm>
          <a:prstGeom prst="rect">
            <a:avLst/>
          </a:prstGeom>
          <a:noFill/>
          <a:ln/>
        </p:spPr>
        <p:txBody>
          <a:bodyPr wrap="square" lIns="0" tIns="0" rIns="0" bIns="0" rtlCol="0" anchor="ctr"/>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Si el comportamiento defendido es correcto</a:t>
            </a:r>
            <a:endParaRPr lang="en-US" sz="1160" dirty="0"/>
          </a:p>
        </p:txBody>
      </p:sp>
      <p:sp>
        <p:nvSpPr>
          <p:cNvPr id="24" name="Shape 21"/>
          <p:cNvSpPr/>
          <p:nvPr/>
        </p:nvSpPr>
        <p:spPr>
          <a:xfrm>
            <a:off x="658368" y="4498848"/>
            <a:ext cx="10874959" cy="768096"/>
          </a:xfrm>
          <a:prstGeom prst="rect">
            <a:avLst/>
          </a:prstGeom>
          <a:solidFill>
            <a:srgbClr val="FFFFFF"/>
          </a:solidFill>
          <a:ln w="12700">
            <a:solidFill>
              <a:srgbClr val="FFFFFF"/>
            </a:solidFill>
            <a:prstDash val="solid"/>
          </a:ln>
        </p:spPr>
      </p:sp>
      <p:sp>
        <p:nvSpPr>
          <p:cNvPr id="25" name="Shape 22"/>
          <p:cNvSpPr/>
          <p:nvPr/>
        </p:nvSpPr>
        <p:spPr>
          <a:xfrm>
            <a:off x="658368" y="4498848"/>
            <a:ext cx="64008" cy="768096"/>
          </a:xfrm>
          <a:prstGeom prst="rect">
            <a:avLst/>
          </a:prstGeom>
          <a:solidFill>
            <a:srgbClr val="102A43"/>
          </a:solidFill>
          <a:ln w="12700">
            <a:solidFill>
              <a:srgbClr val="102A43"/>
            </a:solidFill>
            <a:prstDash val="solid"/>
          </a:ln>
        </p:spPr>
      </p:sp>
      <p:sp>
        <p:nvSpPr>
          <p:cNvPr id="26" name="Text 23"/>
          <p:cNvSpPr txBox="1"/>
          <p:nvPr/>
        </p:nvSpPr>
        <p:spPr>
          <a:xfrm>
            <a:off x="914400" y="4663440"/>
            <a:ext cx="1847088" cy="310896"/>
          </a:xfrm>
          <a:prstGeom prst="rect">
            <a:avLst/>
          </a:prstGeom>
          <a:noFill/>
          <a:ln/>
        </p:spPr>
        <p:txBody>
          <a:bodyPr wrap="square" lIns="0" tIns="0" rIns="0" bIns="0" rtlCol="0" anchor="t"/>
          <a:lstStyle/>
          <a:p>
            <a:pPr algn="l" indent="0" marL="0">
              <a:buNone/>
            </a:pPr>
            <a:r>
              <a:rPr lang="en-US" sz="1140" b="1" spc="80" kern="0" dirty="0">
                <a:solidFill>
                  <a:srgbClr val="102A43"/>
                </a:solidFill>
                <a:latin typeface="Aptos" pitchFamily="34" charset="0"/>
                <a:ea typeface="Aptos" pitchFamily="34" charset="-122"/>
                <a:cs typeface="Aptos" pitchFamily="34" charset="-120"/>
              </a:rPr>
              <a:t>PROCEDENCIA DEL ESPERADO</a:t>
            </a:r>
            <a:endParaRPr lang="en-US" sz="1140" dirty="0"/>
          </a:p>
        </p:txBody>
      </p:sp>
      <p:sp>
        <p:nvSpPr>
          <p:cNvPr id="27" name="Text 24"/>
          <p:cNvSpPr txBox="1"/>
          <p:nvPr/>
        </p:nvSpPr>
        <p:spPr>
          <a:xfrm>
            <a:off x="2980944" y="4626864"/>
            <a:ext cx="3822192" cy="457200"/>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Contra qué fuente se compara el resultado</a:t>
            </a:r>
            <a:endParaRPr lang="en-US" sz="1160" dirty="0"/>
          </a:p>
        </p:txBody>
      </p:sp>
      <p:sp>
        <p:nvSpPr>
          <p:cNvPr id="28" name="Text 25"/>
          <p:cNvSpPr txBox="1"/>
          <p:nvPr/>
        </p:nvSpPr>
        <p:spPr>
          <a:xfrm>
            <a:off x="7205472" y="4626864"/>
            <a:ext cx="4005072" cy="457200"/>
          </a:xfrm>
          <a:prstGeom prst="rect">
            <a:avLst/>
          </a:prstGeom>
          <a:noFill/>
          <a:ln/>
        </p:spPr>
        <p:txBody>
          <a:bodyPr wrap="square" lIns="0" tIns="0" rIns="0" bIns="0" rtlCol="0" anchor="ctr"/>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No reemplaza la ejecución ni el poder de detección</a:t>
            </a:r>
            <a:endParaRPr lang="en-US" sz="1160" dirty="0"/>
          </a:p>
        </p:txBody>
      </p:sp>
      <p:sp>
        <p:nvSpPr>
          <p:cNvPr id="29" name="Shape 26"/>
          <p:cNvSpPr/>
          <p:nvPr/>
        </p:nvSpPr>
        <p:spPr>
          <a:xfrm>
            <a:off x="658368" y="5632704"/>
            <a:ext cx="10874959" cy="512064"/>
          </a:xfrm>
          <a:prstGeom prst="rect">
            <a:avLst/>
          </a:prstGeom>
          <a:solidFill>
            <a:srgbClr val="102A43"/>
          </a:solidFill>
          <a:ln w="12700">
            <a:solidFill>
              <a:srgbClr val="102A43"/>
            </a:solidFill>
            <a:prstDash val="solid"/>
          </a:ln>
        </p:spPr>
      </p:sp>
      <p:sp>
        <p:nvSpPr>
          <p:cNvPr id="30" name="Text 27"/>
          <p:cNvSpPr txBox="1"/>
          <p:nvPr/>
        </p:nvSpPr>
        <p:spPr>
          <a:xfrm>
            <a:off x="969264" y="5669280"/>
            <a:ext cx="10253167" cy="438912"/>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Un mutante matado con un esperado copiado del código confirma la implementación, no el requisito.</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81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CIERRE · LO QUE SÍ SE PUEDE AFIRMAR</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900" b="1" dirty="0">
                <a:solidFill>
                  <a:srgbClr val="FFFFFF"/>
                </a:solidFill>
                <a:latin typeface="Aptos Display" pitchFamily="34" charset="0"/>
                <a:ea typeface="Aptos Display" pitchFamily="34" charset="-122"/>
                <a:cs typeface="Aptos Display" pitchFamily="34" charset="-120"/>
              </a:rPr>
              <a:t>Una afirmación respaldada por evidencia</a:t>
            </a:r>
            <a:endParaRPr lang="en-US" sz="2900" dirty="0"/>
          </a:p>
        </p:txBody>
      </p:sp>
      <p:sp>
        <p:nvSpPr>
          <p:cNvPr id="10" name="Text 7"/>
          <p:cNvSpPr txBox="1"/>
          <p:nvPr/>
        </p:nvSpPr>
        <p:spPr>
          <a:xfrm>
            <a:off x="658368" y="1773936"/>
            <a:ext cx="10241280" cy="402336"/>
          </a:xfrm>
          <a:prstGeom prst="rect">
            <a:avLst/>
          </a:prstGeom>
          <a:noFill/>
          <a:ln/>
        </p:spPr>
        <p:txBody>
          <a:bodyPr wrap="square" lIns="0" tIns="0" rIns="0" bIns="0" rtlCol="0" anchor="t"/>
          <a:lstStyle/>
          <a:p>
            <a:pPr algn="l" indent="0" marL="0">
              <a:lnSpc>
                <a:spcPct val="114000"/>
              </a:lnSpc>
              <a:buNone/>
            </a:pPr>
            <a:r>
              <a:rPr lang="en-US" sz="1450" dirty="0">
                <a:solidFill>
                  <a:srgbClr val="E6EEF7"/>
                </a:solidFill>
                <a:latin typeface="Aptos" pitchFamily="34" charset="0"/>
                <a:ea typeface="Aptos" pitchFamily="34" charset="-122"/>
                <a:cs typeface="Aptos" pitchFamily="34" charset="-120"/>
              </a:rPr>
              <a:t>El porcentaje deja de funcionar como veredicto y pasa a ocupar el lugar que le corresponde: una medida de recorrido.</a:t>
            </a:r>
            <a:endParaRPr lang="en-US" sz="1450" dirty="0"/>
          </a:p>
        </p:txBody>
      </p:sp>
      <p:sp>
        <p:nvSpPr>
          <p:cNvPr id="11" name="Shape 8"/>
          <p:cNvSpPr/>
          <p:nvPr/>
        </p:nvSpPr>
        <p:spPr>
          <a:xfrm>
            <a:off x="658368" y="2340864"/>
            <a:ext cx="10874959" cy="1408176"/>
          </a:xfrm>
          <a:prstGeom prst="rect">
            <a:avLst/>
          </a:prstGeom>
          <a:solidFill>
            <a:srgbClr val="1D3A57"/>
          </a:solidFill>
          <a:ln w="12700">
            <a:solidFill>
              <a:srgbClr val="1D3A57"/>
            </a:solidFill>
            <a:prstDash val="solid"/>
          </a:ln>
        </p:spPr>
      </p:sp>
      <p:sp>
        <p:nvSpPr>
          <p:cNvPr id="12" name="Shape 9"/>
          <p:cNvSpPr/>
          <p:nvPr/>
        </p:nvSpPr>
        <p:spPr>
          <a:xfrm>
            <a:off x="658368" y="2340864"/>
            <a:ext cx="64008" cy="1408176"/>
          </a:xfrm>
          <a:prstGeom prst="rect">
            <a:avLst/>
          </a:prstGeom>
          <a:solidFill>
            <a:srgbClr val="E0BC5A"/>
          </a:solidFill>
          <a:ln w="12700">
            <a:solidFill>
              <a:srgbClr val="E0BC5A"/>
            </a:solidFill>
            <a:prstDash val="solid"/>
          </a:ln>
        </p:spPr>
      </p:sp>
      <p:sp>
        <p:nvSpPr>
          <p:cNvPr id="13" name="Text 10"/>
          <p:cNvSpPr txBox="1"/>
          <p:nvPr/>
        </p:nvSpPr>
        <p:spPr>
          <a:xfrm>
            <a:off x="969264" y="2450592"/>
            <a:ext cx="10308031" cy="1188720"/>
          </a:xfrm>
          <a:prstGeom prst="rect">
            <a:avLst/>
          </a:prstGeom>
          <a:noFill/>
          <a:ln/>
        </p:spPr>
        <p:txBody>
          <a:bodyPr wrap="square" lIns="0" tIns="0" rIns="0" bIns="0" rtlCol="0" anchor="ctr"/>
          <a:lstStyle/>
          <a:p>
            <a:pPr algn="l" indent="0" marL="0">
              <a:lnSpc>
                <a:spcPct val="118000"/>
              </a:lnSpc>
              <a:buNone/>
            </a:pPr>
            <a:r>
              <a:rPr lang="en-US" sz="1800" i="1" dirty="0">
                <a:solidFill>
                  <a:srgbClr val="FFFFFF"/>
                </a:solidFill>
                <a:latin typeface="Aptos" pitchFamily="34" charset="0"/>
                <a:ea typeface="Aptos" pitchFamily="34" charset="-122"/>
                <a:cs typeface="Aptos" pitchFamily="34" charset="-120"/>
              </a:rPr>
              <a:t>“Esta suite ejecuta estas partes del sistema, comprueba estos comportamientos con esperados derivados del requisito y detecta estos cambios concretos, que puedo demostrar aplicándolos.”</a:t>
            </a:r>
            <a:endParaRPr lang="en-US" sz="1800" dirty="0"/>
          </a:p>
        </p:txBody>
      </p:sp>
      <p:sp>
        <p:nvSpPr>
          <p:cNvPr id="14" name="Text 11"/>
          <p:cNvSpPr txBox="1"/>
          <p:nvPr/>
        </p:nvSpPr>
        <p:spPr>
          <a:xfrm>
            <a:off x="658368" y="4078224"/>
            <a:ext cx="3840480" cy="274320"/>
          </a:xfrm>
          <a:prstGeom prst="rect">
            <a:avLst/>
          </a:prstGeom>
          <a:noFill/>
          <a:ln/>
        </p:spPr>
        <p:txBody>
          <a:bodyPr wrap="square" lIns="0" tIns="0" rIns="0" bIns="0" rtlCol="0" anchor="t"/>
          <a:lstStyle/>
          <a:p>
            <a:pPr algn="l" indent="0" marL="0">
              <a:buNone/>
            </a:pPr>
            <a:r>
              <a:rPr lang="en-US" sz="1300" b="1" dirty="0">
                <a:solidFill>
                  <a:srgbClr val="EADFD0"/>
                </a:solidFill>
                <a:latin typeface="Aptos" pitchFamily="34" charset="0"/>
                <a:ea typeface="Aptos" pitchFamily="34" charset="-122"/>
                <a:cs typeface="Aptos" pitchFamily="34" charset="-120"/>
              </a:rPr>
              <a:t>«El porcentaje es alto»</a:t>
            </a:r>
            <a:endParaRPr lang="en-US" sz="1300" dirty="0"/>
          </a:p>
        </p:txBody>
      </p:sp>
      <p:sp>
        <p:nvSpPr>
          <p:cNvPr id="15" name="Text 12"/>
          <p:cNvSpPr txBox="1"/>
          <p:nvPr/>
        </p:nvSpPr>
        <p:spPr>
          <a:xfrm>
            <a:off x="4608576" y="4078224"/>
            <a:ext cx="6492240" cy="274320"/>
          </a:xfrm>
          <a:prstGeom prst="rect">
            <a:avLst/>
          </a:prstGeom>
          <a:noFill/>
          <a:ln/>
        </p:spPr>
        <p:txBody>
          <a:bodyPr wrap="square" lIns="0" tIns="0" rIns="0" bIns="0" rtlCol="0" anchor="t"/>
          <a:lstStyle/>
          <a:p>
            <a:pPr algn="l" indent="0" marL="0">
              <a:buNone/>
            </a:pPr>
            <a:r>
              <a:rPr lang="en-US" sz="1260" dirty="0">
                <a:solidFill>
                  <a:srgbClr val="E6EEF7"/>
                </a:solidFill>
                <a:latin typeface="Aptos" pitchFamily="34" charset="0"/>
                <a:ea typeface="Aptos" pitchFamily="34" charset="-122"/>
                <a:cs typeface="Aptos" pitchFamily="34" charset="-120"/>
              </a:rPr>
              <a:t>describe recorrido, no verificación</a:t>
            </a:r>
            <a:endParaRPr lang="en-US" sz="1260" dirty="0"/>
          </a:p>
        </p:txBody>
      </p:sp>
      <p:sp>
        <p:nvSpPr>
          <p:cNvPr id="16" name="Text 13"/>
          <p:cNvSpPr txBox="1"/>
          <p:nvPr/>
        </p:nvSpPr>
        <p:spPr>
          <a:xfrm>
            <a:off x="658368" y="4663440"/>
            <a:ext cx="3840480" cy="274320"/>
          </a:xfrm>
          <a:prstGeom prst="rect">
            <a:avLst/>
          </a:prstGeom>
          <a:noFill/>
          <a:ln/>
        </p:spPr>
        <p:txBody>
          <a:bodyPr wrap="square" lIns="0" tIns="0" rIns="0" bIns="0" rtlCol="0" anchor="t"/>
          <a:lstStyle/>
          <a:p>
            <a:pPr algn="l" indent="0" marL="0">
              <a:buNone/>
            </a:pPr>
            <a:r>
              <a:rPr lang="en-US" sz="1300" b="1" dirty="0">
                <a:solidFill>
                  <a:srgbClr val="EADFD0"/>
                </a:solidFill>
                <a:latin typeface="Aptos" pitchFamily="34" charset="0"/>
                <a:ea typeface="Aptos" pitchFamily="34" charset="-122"/>
                <a:cs typeface="Aptos" pitchFamily="34" charset="-120"/>
              </a:rPr>
              <a:t>«Toda la suite está verde»</a:t>
            </a:r>
            <a:endParaRPr lang="en-US" sz="1300" dirty="0"/>
          </a:p>
        </p:txBody>
      </p:sp>
      <p:sp>
        <p:nvSpPr>
          <p:cNvPr id="17" name="Text 14"/>
          <p:cNvSpPr txBox="1"/>
          <p:nvPr/>
        </p:nvSpPr>
        <p:spPr>
          <a:xfrm>
            <a:off x="4608576" y="4663440"/>
            <a:ext cx="6492240" cy="274320"/>
          </a:xfrm>
          <a:prstGeom prst="rect">
            <a:avLst/>
          </a:prstGeom>
          <a:noFill/>
          <a:ln/>
        </p:spPr>
        <p:txBody>
          <a:bodyPr wrap="square" lIns="0" tIns="0" rIns="0" bIns="0" rtlCol="0" anchor="t"/>
          <a:lstStyle/>
          <a:p>
            <a:pPr algn="l" indent="0" marL="0">
              <a:buNone/>
            </a:pPr>
            <a:r>
              <a:rPr lang="en-US" sz="1260" dirty="0">
                <a:solidFill>
                  <a:srgbClr val="E6EEF7"/>
                </a:solidFill>
                <a:latin typeface="Aptos" pitchFamily="34" charset="0"/>
                <a:ea typeface="Aptos" pitchFamily="34" charset="-122"/>
                <a:cs typeface="Aptos" pitchFamily="34" charset="-120"/>
              </a:rPr>
              <a:t>describe consistencia con sus propios esperados</a:t>
            </a:r>
            <a:endParaRPr lang="en-US" sz="1260" dirty="0"/>
          </a:p>
        </p:txBody>
      </p:sp>
      <p:sp>
        <p:nvSpPr>
          <p:cNvPr id="18" name="Text 15"/>
          <p:cNvSpPr txBox="1"/>
          <p:nvPr/>
        </p:nvSpPr>
        <p:spPr>
          <a:xfrm>
            <a:off x="658368" y="5248656"/>
            <a:ext cx="3840480" cy="274320"/>
          </a:xfrm>
          <a:prstGeom prst="rect">
            <a:avLst/>
          </a:prstGeom>
          <a:noFill/>
          <a:ln/>
        </p:spPr>
        <p:txBody>
          <a:bodyPr wrap="square" lIns="0" tIns="0" rIns="0" bIns="0" rtlCol="0" anchor="t"/>
          <a:lstStyle/>
          <a:p>
            <a:pPr algn="l" indent="0" marL="0">
              <a:buNone/>
            </a:pPr>
            <a:r>
              <a:rPr lang="en-US" sz="1300" b="1" dirty="0">
                <a:solidFill>
                  <a:srgbClr val="EADFD0"/>
                </a:solidFill>
                <a:latin typeface="Aptos" pitchFamily="34" charset="0"/>
                <a:ea typeface="Aptos" pitchFamily="34" charset="-122"/>
                <a:cs typeface="Aptos" pitchFamily="34" charset="-120"/>
              </a:rPr>
              <a:t>«El agente escribió las pruebas»</a:t>
            </a:r>
            <a:endParaRPr lang="en-US" sz="1300" dirty="0"/>
          </a:p>
        </p:txBody>
      </p:sp>
      <p:sp>
        <p:nvSpPr>
          <p:cNvPr id="19" name="Text 16"/>
          <p:cNvSpPr txBox="1"/>
          <p:nvPr/>
        </p:nvSpPr>
        <p:spPr>
          <a:xfrm>
            <a:off x="4608576" y="5248656"/>
            <a:ext cx="6492240" cy="274320"/>
          </a:xfrm>
          <a:prstGeom prst="rect">
            <a:avLst/>
          </a:prstGeom>
          <a:noFill/>
          <a:ln/>
        </p:spPr>
        <p:txBody>
          <a:bodyPr wrap="square" lIns="0" tIns="0" rIns="0" bIns="0" rtlCol="0" anchor="t"/>
          <a:lstStyle/>
          <a:p>
            <a:pPr algn="l" indent="0" marL="0">
              <a:buNone/>
            </a:pPr>
            <a:r>
              <a:rPr lang="en-US" sz="1260" dirty="0">
                <a:solidFill>
                  <a:srgbClr val="E6EEF7"/>
                </a:solidFill>
                <a:latin typeface="Aptos" pitchFamily="34" charset="0"/>
                <a:ea typeface="Aptos" pitchFamily="34" charset="-122"/>
                <a:cs typeface="Aptos" pitchFamily="34" charset="-120"/>
              </a:rPr>
              <a:t>describe autoría, no calidad</a:t>
            </a:r>
            <a:endParaRPr lang="en-US" sz="126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82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 PRÓXIMA SESIÓN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prueba antes que el código</a:t>
            </a:r>
            <a:endParaRPr lang="en-US" sz="3000" dirty="0"/>
          </a:p>
        </p:txBody>
      </p:sp>
      <p:sp>
        <p:nvSpPr>
          <p:cNvPr id="10" name="Text 7"/>
          <p:cNvSpPr txBox="1"/>
          <p:nvPr/>
        </p:nvSpPr>
        <p:spPr>
          <a:xfrm>
            <a:off x="658368" y="1773936"/>
            <a:ext cx="1033272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Hoy se auditó una prueba que nació en verde. El desarrollo guiado por pruebas (TDD) invierte el orden y exige observar el fallo antes de implementar.</a:t>
            </a:r>
            <a:endParaRPr lang="en-US" sz="1450" dirty="0"/>
          </a:p>
        </p:txBody>
      </p:sp>
      <p:sp>
        <p:nvSpPr>
          <p:cNvPr id="11" name="Shape 8"/>
          <p:cNvSpPr/>
          <p:nvPr/>
        </p:nvSpPr>
        <p:spPr>
          <a:xfrm>
            <a:off x="658368" y="2487168"/>
            <a:ext cx="3493008" cy="1883664"/>
          </a:xfrm>
          <a:prstGeom prst="rect">
            <a:avLst/>
          </a:prstGeom>
          <a:solidFill>
            <a:srgbClr val="FFFFFF"/>
          </a:solidFill>
          <a:ln w="12700">
            <a:solidFill>
              <a:srgbClr val="FFFFFF"/>
            </a:solidFill>
            <a:prstDash val="solid"/>
          </a:ln>
        </p:spPr>
      </p:sp>
      <p:sp>
        <p:nvSpPr>
          <p:cNvPr id="12" name="Shape 9"/>
          <p:cNvSpPr/>
          <p:nvPr/>
        </p:nvSpPr>
        <p:spPr>
          <a:xfrm>
            <a:off x="658368" y="2487168"/>
            <a:ext cx="3493008" cy="73152"/>
          </a:xfrm>
          <a:prstGeom prst="rect">
            <a:avLst/>
          </a:prstGeom>
          <a:solidFill>
            <a:srgbClr val="B3181E"/>
          </a:solidFill>
          <a:ln w="12700">
            <a:solidFill>
              <a:srgbClr val="B3181E"/>
            </a:solidFill>
            <a:prstDash val="solid"/>
          </a:ln>
        </p:spPr>
      </p:sp>
      <p:sp>
        <p:nvSpPr>
          <p:cNvPr id="13" name="Text 10"/>
          <p:cNvSpPr txBox="1"/>
          <p:nvPr/>
        </p:nvSpPr>
        <p:spPr>
          <a:xfrm>
            <a:off x="877824" y="2743200"/>
            <a:ext cx="585216" cy="457200"/>
          </a:xfrm>
          <a:prstGeom prst="rect">
            <a:avLst/>
          </a:prstGeom>
          <a:noFill/>
          <a:ln/>
        </p:spPr>
        <p:txBody>
          <a:bodyPr wrap="square" lIns="0" tIns="0" rIns="0" bIns="0" rtlCol="0" anchor="t"/>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609344" y="2798064"/>
            <a:ext cx="2267712" cy="292608"/>
          </a:xfrm>
          <a:prstGeom prst="rect">
            <a:avLst/>
          </a:prstGeom>
          <a:noFill/>
          <a:ln/>
        </p:spPr>
        <p:txBody>
          <a:bodyPr wrap="square" lIns="0" tIns="0" rIns="0" bIns="0" rtlCol="0" anchor="t"/>
          <a:lstStyle/>
          <a:p>
            <a:pPr algn="l" indent="0" marL="0">
              <a:buNone/>
            </a:pPr>
            <a:r>
              <a:rPr lang="en-US" sz="1240" b="1" spc="110" kern="0" dirty="0">
                <a:solidFill>
                  <a:srgbClr val="B3181E"/>
                </a:solidFill>
                <a:latin typeface="Aptos" pitchFamily="34" charset="0"/>
                <a:ea typeface="Aptos" pitchFamily="34" charset="-122"/>
                <a:cs typeface="Aptos" pitchFamily="34" charset="-120"/>
              </a:rPr>
              <a:t>ROJO</a:t>
            </a:r>
            <a:endParaRPr lang="en-US" sz="1240" dirty="0"/>
          </a:p>
        </p:txBody>
      </p:sp>
      <p:sp>
        <p:nvSpPr>
          <p:cNvPr id="15" name="Shape 12"/>
          <p:cNvSpPr/>
          <p:nvPr/>
        </p:nvSpPr>
        <p:spPr>
          <a:xfrm>
            <a:off x="877824" y="3273552"/>
            <a:ext cx="3054096" cy="0"/>
          </a:xfrm>
          <a:prstGeom prst="line">
            <a:avLst/>
          </a:prstGeom>
          <a:noFill/>
          <a:ln w="12700">
            <a:solidFill>
              <a:srgbClr val="D8CFC4"/>
            </a:solidFill>
            <a:prstDash val="solid"/>
            <a:headEnd type="none"/>
            <a:tailEnd type="none"/>
          </a:ln>
        </p:spPr>
      </p:sp>
      <p:sp>
        <p:nvSpPr>
          <p:cNvPr id="16" name="Text 13"/>
          <p:cNvSpPr txBox="1"/>
          <p:nvPr/>
        </p:nvSpPr>
        <p:spPr>
          <a:xfrm>
            <a:off x="877824" y="3456432"/>
            <a:ext cx="3054096" cy="65836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La prueba expresa el comportamiento esperado y falla porque todavía no existe.</a:t>
            </a:r>
            <a:endParaRPr lang="en-US" sz="1200" dirty="0"/>
          </a:p>
        </p:txBody>
      </p:sp>
      <p:sp>
        <p:nvSpPr>
          <p:cNvPr id="17" name="Shape 14"/>
          <p:cNvSpPr/>
          <p:nvPr/>
        </p:nvSpPr>
        <p:spPr>
          <a:xfrm>
            <a:off x="4352544" y="2487168"/>
            <a:ext cx="3493008" cy="1883664"/>
          </a:xfrm>
          <a:prstGeom prst="rect">
            <a:avLst/>
          </a:prstGeom>
          <a:solidFill>
            <a:srgbClr val="FFFFFF"/>
          </a:solidFill>
          <a:ln w="12700">
            <a:solidFill>
              <a:srgbClr val="FFFFFF"/>
            </a:solidFill>
            <a:prstDash val="solid"/>
          </a:ln>
        </p:spPr>
      </p:sp>
      <p:sp>
        <p:nvSpPr>
          <p:cNvPr id="18" name="Shape 15"/>
          <p:cNvSpPr/>
          <p:nvPr/>
        </p:nvSpPr>
        <p:spPr>
          <a:xfrm>
            <a:off x="4352544" y="2487168"/>
            <a:ext cx="3493008" cy="73152"/>
          </a:xfrm>
          <a:prstGeom prst="rect">
            <a:avLst/>
          </a:prstGeom>
          <a:solidFill>
            <a:srgbClr val="2E7D4F"/>
          </a:solidFill>
          <a:ln w="12700">
            <a:solidFill>
              <a:srgbClr val="2E7D4F"/>
            </a:solidFill>
            <a:prstDash val="solid"/>
          </a:ln>
        </p:spPr>
      </p:sp>
      <p:sp>
        <p:nvSpPr>
          <p:cNvPr id="19" name="Text 16"/>
          <p:cNvSpPr txBox="1"/>
          <p:nvPr/>
        </p:nvSpPr>
        <p:spPr>
          <a:xfrm>
            <a:off x="4572000" y="2743200"/>
            <a:ext cx="585216" cy="457200"/>
          </a:xfrm>
          <a:prstGeom prst="rect">
            <a:avLst/>
          </a:prstGeom>
          <a:noFill/>
          <a:ln/>
        </p:spPr>
        <p:txBody>
          <a:bodyPr wrap="square" lIns="0" tIns="0" rIns="0" bIns="0" rtlCol="0" anchor="t"/>
          <a:lstStyle/>
          <a:p>
            <a:pPr algn="ctr" indent="0" marL="0">
              <a:buNone/>
            </a:pPr>
            <a:r>
              <a:rPr lang="en-US" sz="2600" b="1" dirty="0">
                <a:solidFill>
                  <a:srgbClr val="2E7D4F"/>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5303520" y="2798064"/>
            <a:ext cx="2267712" cy="292608"/>
          </a:xfrm>
          <a:prstGeom prst="rect">
            <a:avLst/>
          </a:prstGeom>
          <a:noFill/>
          <a:ln/>
        </p:spPr>
        <p:txBody>
          <a:bodyPr wrap="square" lIns="0" tIns="0" rIns="0" bIns="0" rtlCol="0" anchor="t"/>
          <a:lstStyle/>
          <a:p>
            <a:pPr algn="l" indent="0" marL="0">
              <a:buNone/>
            </a:pPr>
            <a:r>
              <a:rPr lang="en-US" sz="1240" b="1" spc="110" kern="0" dirty="0">
                <a:solidFill>
                  <a:srgbClr val="2E7D4F"/>
                </a:solidFill>
                <a:latin typeface="Aptos" pitchFamily="34" charset="0"/>
                <a:ea typeface="Aptos" pitchFamily="34" charset="-122"/>
                <a:cs typeface="Aptos" pitchFamily="34" charset="-120"/>
              </a:rPr>
              <a:t>VERDE</a:t>
            </a:r>
            <a:endParaRPr lang="en-US" sz="1240" dirty="0"/>
          </a:p>
        </p:txBody>
      </p:sp>
      <p:sp>
        <p:nvSpPr>
          <p:cNvPr id="21" name="Shape 18"/>
          <p:cNvSpPr/>
          <p:nvPr/>
        </p:nvSpPr>
        <p:spPr>
          <a:xfrm>
            <a:off x="4572000" y="3273552"/>
            <a:ext cx="3054096" cy="0"/>
          </a:xfrm>
          <a:prstGeom prst="line">
            <a:avLst/>
          </a:prstGeom>
          <a:noFill/>
          <a:ln w="12700">
            <a:solidFill>
              <a:srgbClr val="D8CFC4"/>
            </a:solidFill>
            <a:prstDash val="solid"/>
            <a:headEnd type="none"/>
            <a:tailEnd type="none"/>
          </a:ln>
        </p:spPr>
      </p:sp>
      <p:sp>
        <p:nvSpPr>
          <p:cNvPr id="22" name="Text 19"/>
          <p:cNvSpPr txBox="1"/>
          <p:nvPr/>
        </p:nvSpPr>
        <p:spPr>
          <a:xfrm>
            <a:off x="4572000" y="3456432"/>
            <a:ext cx="3054096" cy="65836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Se escribe el código mínimo que satisface ese comportamiento.</a:t>
            </a:r>
            <a:endParaRPr lang="en-US" sz="1200" dirty="0"/>
          </a:p>
        </p:txBody>
      </p:sp>
      <p:sp>
        <p:nvSpPr>
          <p:cNvPr id="23" name="Shape 20"/>
          <p:cNvSpPr/>
          <p:nvPr/>
        </p:nvSpPr>
        <p:spPr>
          <a:xfrm>
            <a:off x="8046720" y="2487168"/>
            <a:ext cx="3493008" cy="1883664"/>
          </a:xfrm>
          <a:prstGeom prst="rect">
            <a:avLst/>
          </a:prstGeom>
          <a:solidFill>
            <a:srgbClr val="FFFFFF"/>
          </a:solidFill>
          <a:ln w="12700">
            <a:solidFill>
              <a:srgbClr val="FFFFFF"/>
            </a:solidFill>
            <a:prstDash val="solid"/>
          </a:ln>
        </p:spPr>
      </p:sp>
      <p:sp>
        <p:nvSpPr>
          <p:cNvPr id="24" name="Shape 21"/>
          <p:cNvSpPr/>
          <p:nvPr/>
        </p:nvSpPr>
        <p:spPr>
          <a:xfrm>
            <a:off x="8046720" y="2487168"/>
            <a:ext cx="3493008" cy="73152"/>
          </a:xfrm>
          <a:prstGeom prst="rect">
            <a:avLst/>
          </a:prstGeom>
          <a:solidFill>
            <a:srgbClr val="102A43"/>
          </a:solidFill>
          <a:ln w="12700">
            <a:solidFill>
              <a:srgbClr val="102A43"/>
            </a:solidFill>
            <a:prstDash val="solid"/>
          </a:ln>
        </p:spPr>
      </p:sp>
      <p:sp>
        <p:nvSpPr>
          <p:cNvPr id="25" name="Text 22"/>
          <p:cNvSpPr txBox="1"/>
          <p:nvPr/>
        </p:nvSpPr>
        <p:spPr>
          <a:xfrm>
            <a:off x="8266176" y="2743200"/>
            <a:ext cx="585216" cy="457200"/>
          </a:xfrm>
          <a:prstGeom prst="rect">
            <a:avLst/>
          </a:prstGeom>
          <a:noFill/>
          <a:ln/>
        </p:spPr>
        <p:txBody>
          <a:bodyPr wrap="square" lIns="0" tIns="0" rIns="0" bIns="0" rtlCol="0" anchor="t"/>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3</a:t>
            </a:r>
            <a:endParaRPr lang="en-US" sz="2600" dirty="0"/>
          </a:p>
        </p:txBody>
      </p:sp>
      <p:sp>
        <p:nvSpPr>
          <p:cNvPr id="26" name="Text 23"/>
          <p:cNvSpPr txBox="1"/>
          <p:nvPr/>
        </p:nvSpPr>
        <p:spPr>
          <a:xfrm>
            <a:off x="8997696" y="2798064"/>
            <a:ext cx="2267712" cy="292608"/>
          </a:xfrm>
          <a:prstGeom prst="rect">
            <a:avLst/>
          </a:prstGeom>
          <a:noFill/>
          <a:ln/>
        </p:spPr>
        <p:txBody>
          <a:bodyPr wrap="square" lIns="0" tIns="0" rIns="0" bIns="0" rtlCol="0" anchor="t"/>
          <a:lstStyle/>
          <a:p>
            <a:pPr algn="l" indent="0" marL="0">
              <a:buNone/>
            </a:pPr>
            <a:r>
              <a:rPr lang="en-US" sz="1240" b="1" spc="110" kern="0" dirty="0">
                <a:solidFill>
                  <a:srgbClr val="102A43"/>
                </a:solidFill>
                <a:latin typeface="Aptos" pitchFamily="34" charset="0"/>
                <a:ea typeface="Aptos" pitchFamily="34" charset="-122"/>
                <a:cs typeface="Aptos" pitchFamily="34" charset="-120"/>
              </a:rPr>
              <a:t>REFACTORIZAR</a:t>
            </a:r>
            <a:endParaRPr lang="en-US" sz="1240" dirty="0"/>
          </a:p>
        </p:txBody>
      </p:sp>
      <p:sp>
        <p:nvSpPr>
          <p:cNvPr id="27" name="Shape 24"/>
          <p:cNvSpPr/>
          <p:nvPr/>
        </p:nvSpPr>
        <p:spPr>
          <a:xfrm>
            <a:off x="8266176" y="3273552"/>
            <a:ext cx="3054096" cy="0"/>
          </a:xfrm>
          <a:prstGeom prst="line">
            <a:avLst/>
          </a:prstGeom>
          <a:noFill/>
          <a:ln w="12700">
            <a:solidFill>
              <a:srgbClr val="D8CFC4"/>
            </a:solidFill>
            <a:prstDash val="solid"/>
            <a:headEnd type="none"/>
            <a:tailEnd type="none"/>
          </a:ln>
        </p:spPr>
      </p:sp>
      <p:sp>
        <p:nvSpPr>
          <p:cNvPr id="28" name="Text 25"/>
          <p:cNvSpPr txBox="1"/>
          <p:nvPr/>
        </p:nvSpPr>
        <p:spPr>
          <a:xfrm>
            <a:off x="8266176" y="3456432"/>
            <a:ext cx="3054096" cy="658368"/>
          </a:xfrm>
          <a:prstGeom prst="rect">
            <a:avLst/>
          </a:prstGeom>
          <a:noFill/>
          <a:ln/>
        </p:spPr>
        <p:txBody>
          <a:bodyPr wrap="square" lIns="0" tIns="0" rIns="0" bIns="0" rtlCol="0" anchor="t"/>
          <a:lstStyle/>
          <a:p>
            <a:pPr algn="l" indent="0" marL="0">
              <a:lnSpc>
                <a:spcPct val="114000"/>
              </a:lnSpc>
              <a:buNone/>
            </a:pPr>
            <a:r>
              <a:rPr lang="en-US" sz="1200" dirty="0">
                <a:solidFill>
                  <a:srgbClr val="243B53"/>
                </a:solidFill>
                <a:latin typeface="Aptos" pitchFamily="34" charset="0"/>
                <a:ea typeface="Aptos" pitchFamily="34" charset="-122"/>
                <a:cs typeface="Aptos" pitchFamily="34" charset="-120"/>
              </a:rPr>
              <a:t>Se mejora el diseño sin perder la evidencia del rojo inicial.</a:t>
            </a:r>
            <a:endParaRPr lang="en-US" sz="1200" dirty="0"/>
          </a:p>
        </p:txBody>
      </p:sp>
      <p:sp>
        <p:nvSpPr>
          <p:cNvPr id="29" name="Shape 26"/>
          <p:cNvSpPr/>
          <p:nvPr/>
        </p:nvSpPr>
        <p:spPr>
          <a:xfrm>
            <a:off x="658368" y="4754880"/>
            <a:ext cx="10874959" cy="585216"/>
          </a:xfrm>
          <a:prstGeom prst="rect">
            <a:avLst/>
          </a:prstGeom>
          <a:solidFill>
            <a:srgbClr val="102A43"/>
          </a:solidFill>
          <a:ln w="12700">
            <a:solidFill>
              <a:srgbClr val="102A43"/>
            </a:solidFill>
            <a:prstDash val="solid"/>
          </a:ln>
        </p:spPr>
      </p:sp>
      <p:sp>
        <p:nvSpPr>
          <p:cNvPr id="30" name="Text 27"/>
          <p:cNvSpPr txBox="1"/>
          <p:nvPr/>
        </p:nvSpPr>
        <p:spPr>
          <a:xfrm>
            <a:off x="969264" y="4791456"/>
            <a:ext cx="10253167" cy="512064"/>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Aptos" pitchFamily="34" charset="0"/>
                <a:ea typeface="Aptos" pitchFamily="34" charset="-122"/>
                <a:cs typeface="Aptos" pitchFamily="34" charset="-120"/>
              </a:rPr>
              <a:t>Ver el rojo responde por construcción a una pregunta que hoy tuvimos que reconstruir: «¿esta prueba puede fallar?»</a:t>
            </a:r>
            <a:endParaRPr lang="en-US" sz="1400" dirty="0"/>
          </a:p>
        </p:txBody>
      </p:sp>
      <p:sp>
        <p:nvSpPr>
          <p:cNvPr id="31" name="Text 28"/>
          <p:cNvSpPr txBox="1"/>
          <p:nvPr/>
        </p:nvSpPr>
        <p:spPr>
          <a:xfrm>
            <a:off x="658368" y="5596128"/>
            <a:ext cx="10874959" cy="329184"/>
          </a:xfrm>
          <a:prstGeom prst="rect">
            <a:avLst/>
          </a:prstGeom>
          <a:noFill/>
          <a:ln/>
        </p:spPr>
        <p:txBody>
          <a:bodyPr wrap="square" lIns="0" tIns="0" rIns="0" bIns="0" rtlCol="0" anchor="t"/>
          <a:lstStyle/>
          <a:p>
            <a:pPr algn="ctr" indent="0" marL="0">
              <a:buNone/>
            </a:pPr>
            <a:r>
              <a:rPr lang="en-US" sz="1300" dirty="0">
                <a:solidFill>
                  <a:srgbClr val="52606D"/>
                </a:solidFill>
                <a:latin typeface="Aptos" pitchFamily="34" charset="0"/>
                <a:ea typeface="Aptos" pitchFamily="34" charset="-122"/>
                <a:cs typeface="Aptos" pitchFamily="34" charset="-120"/>
              </a:rPr>
              <a:t>El ciclo se aplicará en Python y después en Vitest. La disciplina no depende del lenguaje.</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83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800" b="1" dirty="0">
                <a:solidFill>
                  <a:srgbClr val="FFFFFF"/>
                </a:solidFill>
                <a:latin typeface="Aptos Display" pitchFamily="34" charset="0"/>
                <a:ea typeface="Aptos Display" pitchFamily="34" charset="-122"/>
                <a:cs typeface="Aptos Display" pitchFamily="34" charset="-120"/>
              </a:rPr>
              <a:t>Recorrer no es verificar</a:t>
            </a:r>
            <a:endParaRPr lang="en-US" sz="3800" dirty="0"/>
          </a:p>
        </p:txBody>
      </p:sp>
      <p:sp>
        <p:nvSpPr>
          <p:cNvPr id="10" name="Shape 7"/>
          <p:cNvSpPr/>
          <p:nvPr/>
        </p:nvSpPr>
        <p:spPr>
          <a:xfrm>
            <a:off x="658368" y="2249424"/>
            <a:ext cx="3493008" cy="566928"/>
          </a:xfrm>
          <a:prstGeom prst="rect">
            <a:avLst/>
          </a:prstGeom>
          <a:solidFill>
            <a:srgbClr val="E0BC5A"/>
          </a:solidFill>
          <a:ln w="12700">
            <a:solidFill>
              <a:srgbClr val="E0BC5A"/>
            </a:solidFill>
            <a:prstDash val="solid"/>
          </a:ln>
        </p:spPr>
      </p:sp>
      <p:sp>
        <p:nvSpPr>
          <p:cNvPr id="11" name="Text 8"/>
          <p:cNvSpPr txBox="1"/>
          <p:nvPr/>
        </p:nvSpPr>
        <p:spPr>
          <a:xfrm>
            <a:off x="841248" y="2313432"/>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¿Qué recorrió?</a:t>
            </a:r>
            <a:endParaRPr lang="en-US" sz="1300" dirty="0"/>
          </a:p>
        </p:txBody>
      </p:sp>
      <p:sp>
        <p:nvSpPr>
          <p:cNvPr id="12" name="Text 9"/>
          <p:cNvSpPr txBox="1"/>
          <p:nvPr/>
        </p:nvSpPr>
        <p:spPr>
          <a:xfrm>
            <a:off x="841248" y="2560320"/>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La cobertura lo mide</a:t>
            </a:r>
            <a:endParaRPr lang="en-US" sz="980" dirty="0"/>
          </a:p>
        </p:txBody>
      </p:sp>
      <p:sp>
        <p:nvSpPr>
          <p:cNvPr id="13" name="Shape 10"/>
          <p:cNvSpPr/>
          <p:nvPr/>
        </p:nvSpPr>
        <p:spPr>
          <a:xfrm>
            <a:off x="4206240" y="2532888"/>
            <a:ext cx="219456" cy="0"/>
          </a:xfrm>
          <a:prstGeom prst="line">
            <a:avLst/>
          </a:prstGeom>
          <a:noFill/>
          <a:ln w="12700">
            <a:solidFill>
              <a:srgbClr val="EADFD0"/>
            </a:solidFill>
            <a:prstDash val="solid"/>
            <a:headEnd type="none"/>
            <a:tailEnd type="triangle"/>
          </a:ln>
        </p:spPr>
      </p:sp>
      <p:sp>
        <p:nvSpPr>
          <p:cNvPr id="14" name="Shape 11"/>
          <p:cNvSpPr/>
          <p:nvPr/>
        </p:nvSpPr>
        <p:spPr>
          <a:xfrm>
            <a:off x="4480560" y="2249424"/>
            <a:ext cx="3493008" cy="566928"/>
          </a:xfrm>
          <a:prstGeom prst="rect">
            <a:avLst/>
          </a:prstGeom>
          <a:solidFill>
            <a:srgbClr val="E0BC5A"/>
          </a:solidFill>
          <a:ln w="12700">
            <a:solidFill>
              <a:srgbClr val="E0BC5A"/>
            </a:solidFill>
            <a:prstDash val="solid"/>
          </a:ln>
        </p:spPr>
      </p:sp>
      <p:sp>
        <p:nvSpPr>
          <p:cNvPr id="15" name="Text 12"/>
          <p:cNvSpPr txBox="1"/>
          <p:nvPr/>
        </p:nvSpPr>
        <p:spPr>
          <a:xfrm>
            <a:off x="4663440" y="2313432"/>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¿Qué comprobó?</a:t>
            </a:r>
            <a:endParaRPr lang="en-US" sz="1300" dirty="0"/>
          </a:p>
        </p:txBody>
      </p:sp>
      <p:sp>
        <p:nvSpPr>
          <p:cNvPr id="16" name="Text 13"/>
          <p:cNvSpPr txBox="1"/>
          <p:nvPr/>
        </p:nvSpPr>
        <p:spPr>
          <a:xfrm>
            <a:off x="4663440" y="2560320"/>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Solo la aserción lo dice</a:t>
            </a:r>
            <a:endParaRPr lang="en-US" sz="980" dirty="0"/>
          </a:p>
        </p:txBody>
      </p:sp>
      <p:sp>
        <p:nvSpPr>
          <p:cNvPr id="17" name="Shape 14"/>
          <p:cNvSpPr/>
          <p:nvPr/>
        </p:nvSpPr>
        <p:spPr>
          <a:xfrm>
            <a:off x="8028432" y="2532888"/>
            <a:ext cx="219456" cy="0"/>
          </a:xfrm>
          <a:prstGeom prst="line">
            <a:avLst/>
          </a:prstGeom>
          <a:noFill/>
          <a:ln w="12700">
            <a:solidFill>
              <a:srgbClr val="EADFD0"/>
            </a:solidFill>
            <a:prstDash val="solid"/>
            <a:headEnd type="none"/>
            <a:tailEnd type="triangle"/>
          </a:ln>
        </p:spPr>
      </p:sp>
      <p:sp>
        <p:nvSpPr>
          <p:cNvPr id="18" name="Shape 15"/>
          <p:cNvSpPr/>
          <p:nvPr/>
        </p:nvSpPr>
        <p:spPr>
          <a:xfrm>
            <a:off x="8302752" y="2249424"/>
            <a:ext cx="3493008" cy="566928"/>
          </a:xfrm>
          <a:prstGeom prst="rect">
            <a:avLst/>
          </a:prstGeom>
          <a:solidFill>
            <a:srgbClr val="E0BC5A"/>
          </a:solidFill>
          <a:ln w="12700">
            <a:solidFill>
              <a:srgbClr val="E0BC5A"/>
            </a:solidFill>
            <a:prstDash val="solid"/>
          </a:ln>
        </p:spPr>
      </p:sp>
      <p:sp>
        <p:nvSpPr>
          <p:cNvPr id="19" name="Text 16"/>
          <p:cNvSpPr txBox="1"/>
          <p:nvPr/>
        </p:nvSpPr>
        <p:spPr>
          <a:xfrm>
            <a:off x="8485632" y="2313432"/>
            <a:ext cx="3127248" cy="237744"/>
          </a:xfrm>
          <a:prstGeom prst="rect">
            <a:avLst/>
          </a:prstGeom>
          <a:noFill/>
          <a:ln/>
        </p:spPr>
        <p:txBody>
          <a:bodyPr wrap="square" lIns="0" tIns="0" rIns="0" bIns="0" rtlCol="0" anchor="t"/>
          <a:lstStyle/>
          <a:p>
            <a:pPr algn="l" indent="0" marL="0">
              <a:buNone/>
            </a:pPr>
            <a:r>
              <a:rPr lang="en-US" sz="1300" b="1" dirty="0">
                <a:solidFill>
                  <a:srgbClr val="102A43"/>
                </a:solidFill>
                <a:latin typeface="Aptos" pitchFamily="34" charset="0"/>
                <a:ea typeface="Aptos" pitchFamily="34" charset="-122"/>
                <a:cs typeface="Aptos" pitchFamily="34" charset="-120"/>
              </a:rPr>
              <a:t>¿Contra qué?</a:t>
            </a:r>
            <a:endParaRPr lang="en-US" sz="1300" dirty="0"/>
          </a:p>
        </p:txBody>
      </p:sp>
      <p:sp>
        <p:nvSpPr>
          <p:cNvPr id="20" name="Text 17"/>
          <p:cNvSpPr txBox="1"/>
          <p:nvPr/>
        </p:nvSpPr>
        <p:spPr>
          <a:xfrm>
            <a:off x="8485632" y="2560320"/>
            <a:ext cx="3127248" cy="201168"/>
          </a:xfrm>
          <a:prstGeom prst="rect">
            <a:avLst/>
          </a:prstGeom>
          <a:noFill/>
          <a:ln/>
        </p:spPr>
        <p:txBody>
          <a:bodyPr wrap="square" lIns="0" tIns="0" rIns="0" bIns="0" rtlCol="0" anchor="t"/>
          <a:lstStyle/>
          <a:p>
            <a:pPr algn="l" indent="0" marL="0">
              <a:buNone/>
            </a:pPr>
            <a:r>
              <a:rPr lang="en-US" sz="980" dirty="0">
                <a:solidFill>
                  <a:srgbClr val="2C4A66"/>
                </a:solidFill>
                <a:latin typeface="Aptos" pitchFamily="34" charset="0"/>
                <a:ea typeface="Aptos" pitchFamily="34" charset="-122"/>
                <a:cs typeface="Aptos" pitchFamily="34" charset="-120"/>
              </a:rPr>
              <a:t>El requisito, o un supuesto</a:t>
            </a:r>
            <a:endParaRPr lang="en-US" sz="980" dirty="0"/>
          </a:p>
        </p:txBody>
      </p:sp>
      <p:sp>
        <p:nvSpPr>
          <p:cNvPr id="21" name="Text 18"/>
          <p:cNvSpPr txBox="1"/>
          <p:nvPr/>
        </p:nvSpPr>
        <p:spPr>
          <a:xfrm>
            <a:off x="658368" y="3236976"/>
            <a:ext cx="10874959" cy="457200"/>
          </a:xfrm>
          <a:prstGeom prst="rect">
            <a:avLst/>
          </a:prstGeom>
          <a:noFill/>
          <a:ln/>
        </p:spPr>
        <p:txBody>
          <a:bodyPr wrap="square" lIns="0" tIns="0" rIns="0" bIns="0" rtlCol="0" anchor="t"/>
          <a:lstStyle/>
          <a:p>
            <a:pPr algn="ctr" indent="0" marL="0">
              <a:buNone/>
            </a:pPr>
            <a:r>
              <a:rPr lang="en-US" sz="2500" b="1" dirty="0">
                <a:solidFill>
                  <a:srgbClr val="FFFFFF"/>
                </a:solidFill>
                <a:latin typeface="Aptos Display" pitchFamily="34" charset="0"/>
                <a:ea typeface="Aptos Display" pitchFamily="34" charset="-122"/>
                <a:cs typeface="Aptos Display" pitchFamily="34" charset="-120"/>
              </a:rPr>
              <a:t>Un número alto describe cuánto se recorrió.</a:t>
            </a:r>
            <a:endParaRPr lang="en-US" sz="2500" dirty="0"/>
          </a:p>
        </p:txBody>
      </p:sp>
      <p:sp>
        <p:nvSpPr>
          <p:cNvPr id="22" name="Text 19"/>
          <p:cNvSpPr txBox="1"/>
          <p:nvPr/>
        </p:nvSpPr>
        <p:spPr>
          <a:xfrm>
            <a:off x="658368" y="3822192"/>
            <a:ext cx="10874959" cy="457200"/>
          </a:xfrm>
          <a:prstGeom prst="rect">
            <a:avLst/>
          </a:prstGeom>
          <a:noFill/>
          <a:ln/>
        </p:spPr>
        <p:txBody>
          <a:bodyPr wrap="square" lIns="0" tIns="0" rIns="0" bIns="0" rtlCol="0" anchor="t"/>
          <a:lstStyle/>
          <a:p>
            <a:pPr algn="ctr" indent="0" marL="0">
              <a:buNone/>
            </a:pPr>
            <a:r>
              <a:rPr lang="en-US" sz="2500" b="1" dirty="0">
                <a:solidFill>
                  <a:srgbClr val="E0BC5A"/>
                </a:solidFill>
                <a:latin typeface="Aptos Display" pitchFamily="34" charset="0"/>
                <a:ea typeface="Aptos Display" pitchFamily="34" charset="-122"/>
                <a:cs typeface="Aptos Display" pitchFamily="34" charset="-120"/>
              </a:rPr>
              <a:t>Una aserción describe qué se comprobó.</a:t>
            </a:r>
            <a:endParaRPr lang="en-US" sz="2500" dirty="0"/>
          </a:p>
        </p:txBody>
      </p:sp>
      <p:sp>
        <p:nvSpPr>
          <p:cNvPr id="23" name="Text 20"/>
          <p:cNvSpPr txBox="1"/>
          <p:nvPr/>
        </p:nvSpPr>
        <p:spPr>
          <a:xfrm>
            <a:off x="658368" y="4407408"/>
            <a:ext cx="10874959" cy="457200"/>
          </a:xfrm>
          <a:prstGeom prst="rect">
            <a:avLst/>
          </a:prstGeom>
          <a:noFill/>
          <a:ln/>
        </p:spPr>
        <p:txBody>
          <a:bodyPr wrap="square" lIns="0" tIns="0" rIns="0" bIns="0" rtlCol="0" anchor="t"/>
          <a:lstStyle/>
          <a:p>
            <a:pPr algn="ctr" indent="0" marL="0">
              <a:buNone/>
            </a:pPr>
            <a:r>
              <a:rPr lang="en-US" sz="2500" b="1" dirty="0">
                <a:solidFill>
                  <a:srgbClr val="3FAE6A"/>
                </a:solidFill>
                <a:latin typeface="Aptos Display" pitchFamily="34" charset="0"/>
                <a:ea typeface="Aptos Display" pitchFamily="34" charset="-122"/>
                <a:cs typeface="Aptos Display" pitchFamily="34" charset="-120"/>
              </a:rPr>
              <a:t>La procedencia del esperado describe contra qué.</a:t>
            </a:r>
            <a:endParaRPr lang="en-US" sz="2500" dirty="0"/>
          </a:p>
        </p:txBody>
      </p:sp>
      <p:sp>
        <p:nvSpPr>
          <p:cNvPr id="24" name="Shape 21"/>
          <p:cNvSpPr/>
          <p:nvPr/>
        </p:nvSpPr>
        <p:spPr>
          <a:xfrm>
            <a:off x="4443984" y="5102352"/>
            <a:ext cx="3310128" cy="0"/>
          </a:xfrm>
          <a:prstGeom prst="line">
            <a:avLst/>
          </a:prstGeom>
          <a:noFill/>
          <a:ln w="12700">
            <a:solidFill>
              <a:srgbClr val="E0BC5A"/>
            </a:solidFill>
            <a:prstDash val="solid"/>
            <a:headEnd type="none"/>
            <a:tailEnd type="none"/>
          </a:ln>
        </p:spPr>
      </p:sp>
      <p:sp>
        <p:nvSpPr>
          <p:cNvPr id="25" name="Text 22"/>
          <p:cNvSpPr txBox="1"/>
          <p:nvPr/>
        </p:nvSpPr>
        <p:spPr>
          <a:xfrm>
            <a:off x="1847088" y="5413248"/>
            <a:ext cx="8503920" cy="566928"/>
          </a:xfrm>
          <a:prstGeom prst="rect">
            <a:avLst/>
          </a:prstGeom>
          <a:noFill/>
          <a:ln/>
        </p:spPr>
        <p:txBody>
          <a:bodyPr wrap="square" lIns="0" tIns="0" rIns="0" bIns="0" rtlCol="0" anchor="t"/>
          <a:lstStyle/>
          <a:p>
            <a:pPr algn="ctr" indent="0" marL="0">
              <a:lnSpc>
                <a:spcPct val="115000"/>
              </a:lnSpc>
              <a:buNone/>
            </a:pPr>
            <a:r>
              <a:rPr lang="en-US" sz="1520" i="1" dirty="0">
                <a:solidFill>
                  <a:srgbClr val="E6EEF7"/>
                </a:solidFill>
                <a:latin typeface="Aptos" pitchFamily="34" charset="0"/>
                <a:ea typeface="Aptos" pitchFamily="34" charset="-122"/>
                <a:cs typeface="Aptos" pitchFamily="34" charset="-120"/>
              </a:rPr>
              <a:t>El agente puede producir las tres cosas. El criterio para decidir si verifican el requisito sigue siendo humano.</a:t>
            </a:r>
            <a:endParaRPr lang="en-US" sz="15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Recorrer no es verificar.</dc:title>
  <dc:subject>PRO402 · Clase 10</dc:subject>
  <dc:creator>Diego Obando</dc:creator>
  <cp:lastModifiedBy>Diego Obando</cp:lastModifiedBy>
  <cp:revision>1</cp:revision>
  <dcterms:created xsi:type="dcterms:W3CDTF">2026-09-21T01:53:23Z</dcterms:created>
  <dcterms:modified xsi:type="dcterms:W3CDTF">2026-09-21T01:53:23Z</dcterms:modified>
</cp:coreProperties>
</file>