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3.png"/><Relationship Id="rId4" Type="http://schemas.openxmlformats.org/officeDocument/2006/relationships/image" Target="../media/image-24-4.sv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3.png"/><Relationship Id="rId4" Type="http://schemas.openxmlformats.org/officeDocument/2006/relationships/image" Target="../media/image-30-4.sv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image" Target="../media/image-33-3.png"/><Relationship Id="rId4" Type="http://schemas.openxmlformats.org/officeDocument/2006/relationships/image" Target="../media/image-33-4.svg"/><Relationship Id="rId5" Type="http://schemas.openxmlformats.org/officeDocument/2006/relationships/image" Target="../media/image-33-5.png"/><Relationship Id="rId6" Type="http://schemas.openxmlformats.org/officeDocument/2006/relationships/image" Target="../media/image-33-6.sv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3.png"/><Relationship Id="rId4" Type="http://schemas.openxmlformats.org/officeDocument/2006/relationships/image" Target="../media/image-34-4.sv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sv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sv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image" Target="../media/image-42-3.png"/><Relationship Id="rId4" Type="http://schemas.openxmlformats.org/officeDocument/2006/relationships/image" Target="../media/image-42-4.sv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image" Target="../media/image-43-3.png"/><Relationship Id="rId4" Type="http://schemas.openxmlformats.org/officeDocument/2006/relationships/image" Target="../media/image-43-4.sv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sv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sv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sv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01</a:t>
            </a:r>
            <a:endParaRPr lang="en-US" sz="1400" dirty="0"/>
          </a:p>
        </p:txBody>
      </p:sp>
      <p:sp>
        <p:nvSpPr>
          <p:cNvPr id="8" name="Text 5"/>
          <p:cNvSpPr txBox="1"/>
          <p:nvPr/>
        </p:nvSpPr>
        <p:spPr>
          <a:xfrm>
            <a:off x="658368" y="1298448"/>
            <a:ext cx="54864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PRO402 · CLASE 12 · UNIDAD 2</a:t>
            </a:r>
            <a:endParaRPr lang="en-US" sz="960" dirty="0"/>
          </a:p>
        </p:txBody>
      </p:sp>
      <p:sp>
        <p:nvSpPr>
          <p:cNvPr id="9" name="Text 6"/>
          <p:cNvSpPr txBox="1"/>
          <p:nvPr/>
        </p:nvSpPr>
        <p:spPr>
          <a:xfrm>
            <a:off x="658368" y="1682496"/>
            <a:ext cx="10241280" cy="969264"/>
          </a:xfrm>
          <a:prstGeom prst="rect">
            <a:avLst/>
          </a:prstGeom>
          <a:noFill/>
          <a:ln/>
        </p:spPr>
        <p:txBody>
          <a:bodyPr wrap="square" lIns="0" tIns="0" rIns="0" bIns="0" rtlCol="0" anchor="t"/>
          <a:lstStyle/>
          <a:p>
            <a:pPr algn="l" indent="0" marL="0">
              <a:buNone/>
            </a:pPr>
            <a:r>
              <a:rPr lang="en-US" sz="5000" b="1" dirty="0">
                <a:solidFill>
                  <a:srgbClr val="FFFFFF"/>
                </a:solidFill>
                <a:latin typeface="Aptos Display" pitchFamily="34" charset="0"/>
                <a:ea typeface="Aptos Display" pitchFamily="34" charset="-122"/>
                <a:cs typeface="Aptos Display" pitchFamily="34" charset="-120"/>
              </a:rPr>
              <a:t>La pieza sola no es el sistema</a:t>
            </a:r>
            <a:endParaRPr lang="en-US" sz="5000" dirty="0"/>
          </a:p>
        </p:txBody>
      </p:sp>
      <p:sp>
        <p:nvSpPr>
          <p:cNvPr id="10" name="Shape 7"/>
          <p:cNvSpPr/>
          <p:nvPr/>
        </p:nvSpPr>
        <p:spPr>
          <a:xfrm>
            <a:off x="658368" y="2852928"/>
            <a:ext cx="3840480" cy="0"/>
          </a:xfrm>
          <a:prstGeom prst="line">
            <a:avLst/>
          </a:prstGeom>
          <a:noFill/>
          <a:ln w="12700">
            <a:solidFill>
              <a:srgbClr val="D62027"/>
            </a:solidFill>
            <a:prstDash val="solid"/>
            <a:headEnd type="none"/>
            <a:tailEnd type="none"/>
          </a:ln>
        </p:spPr>
      </p:sp>
      <p:sp>
        <p:nvSpPr>
          <p:cNvPr id="11" name="Text 8"/>
          <p:cNvSpPr txBox="1"/>
          <p:nvPr/>
        </p:nvSpPr>
        <p:spPr>
          <a:xfrm>
            <a:off x="658368" y="3108960"/>
            <a:ext cx="10241280" cy="420624"/>
          </a:xfrm>
          <a:prstGeom prst="rect">
            <a:avLst/>
          </a:prstGeom>
          <a:noFill/>
          <a:ln/>
        </p:spPr>
        <p:txBody>
          <a:bodyPr wrap="square" lIns="0" tIns="0" rIns="0" bIns="0" rtlCol="0" anchor="t"/>
          <a:lstStyle/>
          <a:p>
            <a:pPr algn="l" indent="0" marL="0">
              <a:buNone/>
            </a:pPr>
            <a:r>
              <a:rPr lang="en-US" sz="1800" dirty="0">
                <a:solidFill>
                  <a:srgbClr val="E6EEF7"/>
                </a:solidFill>
                <a:latin typeface="Aptos" pitchFamily="34" charset="0"/>
                <a:ea typeface="Aptos" pitchFamily="34" charset="-122"/>
                <a:cs typeface="Aptos" pitchFamily="34" charset="-120"/>
              </a:rPr>
              <a:t>Integración, la fixture que decide qué datos existen y el doble que deja de ser legítimo</a:t>
            </a:r>
            <a:endParaRPr lang="en-US" sz="1800" dirty="0"/>
          </a:p>
        </p:txBody>
      </p:sp>
      <p:sp>
        <p:nvSpPr>
          <p:cNvPr id="12" name="Text 9"/>
          <p:cNvSpPr txBox="1"/>
          <p:nvPr/>
        </p:nvSpPr>
        <p:spPr>
          <a:xfrm>
            <a:off x="658368" y="3749040"/>
            <a:ext cx="9326880" cy="786384"/>
          </a:xfrm>
          <a:prstGeom prst="rect">
            <a:avLst/>
          </a:prstGeom>
          <a:noFill/>
          <a:ln/>
        </p:spPr>
        <p:txBody>
          <a:bodyPr wrap="square" lIns="0" tIns="0" rIns="0" bIns="0" rtlCol="0" anchor="t"/>
          <a:lstStyle/>
          <a:p>
            <a:pPr algn="l" indent="0" marL="0">
              <a:lnSpc>
                <a:spcPct val="120000"/>
              </a:lnSpc>
              <a:buNone/>
            </a:pPr>
            <a:r>
              <a:rPr lang="en-US" sz="1440" dirty="0">
                <a:solidFill>
                  <a:srgbClr val="EADFD0"/>
                </a:solidFill>
                <a:latin typeface="Aptos" pitchFamily="34" charset="0"/>
                <a:ea typeface="Aptos" pitchFamily="34" charset="-122"/>
                <a:cs typeface="Aptos" pitchFamily="34" charset="-120"/>
              </a:rPr>
              <a:t>Una prueba de integración no es una prueba más grande. Es una prueba que deja de sustituir aquello que quiere observar. Y en el momento en que deja de sustituirlo, aparecen datos que existen de verdad y que alguien tiene que borrar.</a:t>
            </a:r>
            <a:endParaRPr lang="en-US" sz="1440" dirty="0"/>
          </a:p>
        </p:txBody>
      </p:sp>
      <p:sp>
        <p:nvSpPr>
          <p:cNvPr id="13" name="Shape 10"/>
          <p:cNvSpPr/>
          <p:nvPr/>
        </p:nvSpPr>
        <p:spPr>
          <a:xfrm>
            <a:off x="658368" y="4992624"/>
            <a:ext cx="10874959" cy="0"/>
          </a:xfrm>
          <a:prstGeom prst="line">
            <a:avLst/>
          </a:prstGeom>
          <a:noFill/>
          <a:ln w="12700">
            <a:solidFill>
              <a:srgbClr val="2C4A66"/>
            </a:solidFill>
            <a:prstDash val="solid"/>
            <a:headEnd type="none"/>
            <a:tailEnd type="none"/>
          </a:ln>
        </p:spPr>
      </p:sp>
      <p:sp>
        <p:nvSpPr>
          <p:cNvPr id="14" name="Text 11"/>
          <p:cNvSpPr txBox="1"/>
          <p:nvPr/>
        </p:nvSpPr>
        <p:spPr>
          <a:xfrm>
            <a:off x="658368" y="5175504"/>
            <a:ext cx="6766560" cy="274320"/>
          </a:xfrm>
          <a:prstGeom prst="rect">
            <a:avLst/>
          </a:prstGeom>
          <a:noFill/>
          <a:ln/>
        </p:spPr>
        <p:txBody>
          <a:bodyPr wrap="square" lIns="0" tIns="0" rIns="0" bIns="0" rtlCol="0" anchor="t"/>
          <a:lstStyle/>
          <a:p>
            <a:pPr algn="l" indent="0" marL="0">
              <a:buNone/>
            </a:pPr>
            <a:r>
              <a:rPr lang="en-US" sz="1260" dirty="0">
                <a:solidFill>
                  <a:srgbClr val="EADFD0"/>
                </a:solidFill>
                <a:latin typeface="Aptos" pitchFamily="34" charset="0"/>
                <a:ea typeface="Aptos" pitchFamily="34" charset="-122"/>
                <a:cs typeface="Aptos" pitchFamily="34" charset="-120"/>
              </a:rPr>
              <a:t>Martes 22 de septiembre de 2026 · 11:00 – 13:15 · Laboratorio de Redes</a:t>
            </a:r>
            <a:endParaRPr lang="en-US" sz="1260" dirty="0"/>
          </a:p>
        </p:txBody>
      </p:sp>
      <p:sp>
        <p:nvSpPr>
          <p:cNvPr id="15" name="Text 12"/>
          <p:cNvSpPr txBox="1"/>
          <p:nvPr/>
        </p:nvSpPr>
        <p:spPr>
          <a:xfrm>
            <a:off x="7498080" y="5175504"/>
            <a:ext cx="4023360" cy="274320"/>
          </a:xfrm>
          <a:prstGeom prst="rect">
            <a:avLst/>
          </a:prstGeom>
          <a:noFill/>
          <a:ln/>
        </p:spPr>
        <p:txBody>
          <a:bodyPr wrap="square" lIns="0" tIns="0" rIns="0" bIns="0" rtlCol="0" anchor="t"/>
          <a:lstStyle/>
          <a:p>
            <a:pPr algn="r" indent="0" marL="0">
              <a:buNone/>
            </a:pPr>
            <a:r>
              <a:rPr lang="en-US" sz="1260" dirty="0">
                <a:solidFill>
                  <a:srgbClr val="EADFD0"/>
                </a:solidFill>
                <a:latin typeface="Aptos" pitchFamily="34" charset="0"/>
                <a:ea typeface="Aptos" pitchFamily="34" charset="-122"/>
                <a:cs typeface="Aptos" pitchFamily="34" charset="-120"/>
              </a:rPr>
              <a:t>Diego Obando · AIEP Osorno</a:t>
            </a:r>
            <a:endParaRPr lang="en-US" sz="12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PARA ABRIR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900" b="1" dirty="0">
                <a:solidFill>
                  <a:srgbClr val="243B53"/>
                </a:solidFill>
                <a:latin typeface="Aptos Display" pitchFamily="34" charset="0"/>
                <a:ea typeface="Aptos Display" pitchFamily="34" charset="-122"/>
                <a:cs typeface="Aptos Display" pitchFamily="34" charset="-120"/>
              </a:rPr>
              <a:t>Dieciséis pruebas en verde. ¿Está probado el sistema?</a:t>
            </a:r>
            <a:endParaRPr lang="en-US" sz="29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funciones del proyecto están verificadas una por una. La pregunta es qué queda fuera de esas dieciséis pruebas.</a:t>
            </a:r>
            <a:endParaRPr lang="en-US" sz="1420" dirty="0"/>
          </a:p>
        </p:txBody>
      </p:sp>
      <p:sp>
        <p:nvSpPr>
          <p:cNvPr id="11" name="Shape 8"/>
          <p:cNvSpPr/>
          <p:nvPr/>
        </p:nvSpPr>
        <p:spPr>
          <a:xfrm>
            <a:off x="658368" y="2249424"/>
            <a:ext cx="5340096" cy="3145536"/>
          </a:xfrm>
          <a:prstGeom prst="rect">
            <a:avLst/>
          </a:prstGeom>
          <a:solidFill>
            <a:srgbClr val="EDE6DA"/>
          </a:solidFill>
          <a:ln w="12700">
            <a:solidFill>
              <a:srgbClr val="EDE6DA"/>
            </a:solidFill>
            <a:prstDash val="solid"/>
          </a:ln>
        </p:spPr>
      </p:sp>
      <p:sp>
        <p:nvSpPr>
          <p:cNvPr id="12" name="Shape 9"/>
          <p:cNvSpPr/>
          <p:nvPr/>
        </p:nvSpPr>
        <p:spPr>
          <a:xfrm>
            <a:off x="658368" y="2249424"/>
            <a:ext cx="5340096" cy="54864"/>
          </a:xfrm>
          <a:prstGeom prst="rect">
            <a:avLst/>
          </a:prstGeom>
          <a:solidFill>
            <a:srgbClr val="2E7D4F"/>
          </a:solidFill>
          <a:ln w="12700">
            <a:solidFill>
              <a:srgbClr val="2E7D4F"/>
            </a:solidFill>
            <a:prstDash val="solid"/>
          </a:ln>
        </p:spPr>
      </p:sp>
      <p:sp>
        <p:nvSpPr>
          <p:cNvPr id="13" name="Text 10"/>
          <p:cNvSpPr txBox="1"/>
          <p:nvPr/>
        </p:nvSpPr>
        <p:spPr>
          <a:xfrm>
            <a:off x="932688" y="2450592"/>
            <a:ext cx="4791456" cy="201168"/>
          </a:xfrm>
          <a:prstGeom prst="rect">
            <a:avLst/>
          </a:prstGeom>
          <a:noFill/>
          <a:ln/>
        </p:spPr>
        <p:txBody>
          <a:bodyPr wrap="square" lIns="0" tIns="0" rIns="0" bIns="0" rtlCol="0" anchor="t"/>
          <a:lstStyle/>
          <a:p>
            <a:pPr algn="l" indent="0" marL="0">
              <a:buNone/>
            </a:pPr>
            <a:r>
              <a:rPr lang="en-US" sz="960" b="1" spc="110" kern="0" dirty="0">
                <a:solidFill>
                  <a:srgbClr val="2E7D4F"/>
                </a:solidFill>
                <a:latin typeface="Aptos" pitchFamily="34" charset="0"/>
                <a:ea typeface="Aptos" pitchFamily="34" charset="-122"/>
                <a:cs typeface="Aptos" pitchFamily="34" charset="-120"/>
              </a:rPr>
              <a:t>LO QUE SÍ QUEDÓ COMPROBADO</a:t>
            </a:r>
            <a:endParaRPr lang="en-US" sz="960" dirty="0"/>
          </a:p>
        </p:txBody>
      </p:sp>
      <p:sp>
        <p:nvSpPr>
          <p:cNvPr id="14" name="Shape 11"/>
          <p:cNvSpPr/>
          <p:nvPr/>
        </p:nvSpPr>
        <p:spPr>
          <a:xfrm>
            <a:off x="932688" y="2871216"/>
            <a:ext cx="45720" cy="566928"/>
          </a:xfrm>
          <a:prstGeom prst="rect">
            <a:avLst/>
          </a:prstGeom>
          <a:solidFill>
            <a:srgbClr val="2E7D4F"/>
          </a:solidFill>
          <a:ln w="12700">
            <a:solidFill>
              <a:srgbClr val="2E7D4F"/>
            </a:solidFill>
            <a:prstDash val="solid"/>
          </a:ln>
        </p:spPr>
      </p:sp>
      <p:sp>
        <p:nvSpPr>
          <p:cNvPr id="15" name="Text 12"/>
          <p:cNvSpPr txBox="1"/>
          <p:nvPr/>
        </p:nvSpPr>
        <p:spPr>
          <a:xfrm>
            <a:off x="1133856" y="2798064"/>
            <a:ext cx="4590288" cy="713232"/>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puede_reservar decide bien: los casos salieron de partición de equivalencia y valores límite.</a:t>
            </a:r>
            <a:endParaRPr lang="en-US" sz="1220" dirty="0"/>
          </a:p>
        </p:txBody>
      </p:sp>
      <p:sp>
        <p:nvSpPr>
          <p:cNvPr id="16" name="Shape 13"/>
          <p:cNvSpPr/>
          <p:nvPr/>
        </p:nvSpPr>
        <p:spPr>
          <a:xfrm>
            <a:off x="932688" y="3712464"/>
            <a:ext cx="45720" cy="566928"/>
          </a:xfrm>
          <a:prstGeom prst="rect">
            <a:avLst/>
          </a:prstGeom>
          <a:solidFill>
            <a:srgbClr val="2E7D4F"/>
          </a:solidFill>
          <a:ln w="12700">
            <a:solidFill>
              <a:srgbClr val="2E7D4F"/>
            </a:solidFill>
            <a:prstDash val="solid"/>
          </a:ln>
        </p:spPr>
      </p:sp>
      <p:sp>
        <p:nvSpPr>
          <p:cNvPr id="17" name="Text 14"/>
          <p:cNvSpPr txBox="1"/>
          <p:nvPr/>
        </p:nvSpPr>
        <p:spPr>
          <a:xfrm>
            <a:off x="1133856" y="3639312"/>
            <a:ext cx="4590288" cy="713232"/>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cabe_en_sala decide bien: se vio en rojo antes de que existiera el código que la apaga.</a:t>
            </a:r>
            <a:endParaRPr lang="en-US" sz="1220" dirty="0"/>
          </a:p>
        </p:txBody>
      </p:sp>
      <p:sp>
        <p:nvSpPr>
          <p:cNvPr id="18" name="Shape 15"/>
          <p:cNvSpPr/>
          <p:nvPr/>
        </p:nvSpPr>
        <p:spPr>
          <a:xfrm>
            <a:off x="932688" y="4553712"/>
            <a:ext cx="45720" cy="566928"/>
          </a:xfrm>
          <a:prstGeom prst="rect">
            <a:avLst/>
          </a:prstGeom>
          <a:solidFill>
            <a:srgbClr val="2E7D4F"/>
          </a:solidFill>
          <a:ln w="12700">
            <a:solidFill>
              <a:srgbClr val="2E7D4F"/>
            </a:solidFill>
            <a:prstDash val="solid"/>
          </a:ln>
        </p:spPr>
      </p:sp>
      <p:sp>
        <p:nvSpPr>
          <p:cNvPr id="19" name="Text 16"/>
          <p:cNvSpPr txBox="1"/>
          <p:nvPr/>
        </p:nvSpPr>
        <p:spPr>
          <a:xfrm>
            <a:off x="1133856" y="4480560"/>
            <a:ext cx="4590288" cy="713232"/>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Las dos son funciones verificadas en el sentido más estricto del módulo.</a:t>
            </a:r>
            <a:endParaRPr lang="en-US" sz="1220" dirty="0"/>
          </a:p>
        </p:txBody>
      </p:sp>
      <p:sp>
        <p:nvSpPr>
          <p:cNvPr id="20" name="Shape 17"/>
          <p:cNvSpPr/>
          <p:nvPr/>
        </p:nvSpPr>
        <p:spPr>
          <a:xfrm>
            <a:off x="6190488" y="2249424"/>
            <a:ext cx="5340096" cy="3145536"/>
          </a:xfrm>
          <a:prstGeom prst="rect">
            <a:avLst/>
          </a:prstGeom>
          <a:solidFill>
            <a:srgbClr val="F2E7D9"/>
          </a:solidFill>
          <a:ln w="12700">
            <a:solidFill>
              <a:srgbClr val="F2E7D9"/>
            </a:solidFill>
            <a:prstDash val="solid"/>
          </a:ln>
        </p:spPr>
      </p:sp>
      <p:sp>
        <p:nvSpPr>
          <p:cNvPr id="21" name="Shape 18"/>
          <p:cNvSpPr/>
          <p:nvPr/>
        </p:nvSpPr>
        <p:spPr>
          <a:xfrm>
            <a:off x="6190488" y="2249424"/>
            <a:ext cx="5340096" cy="54864"/>
          </a:xfrm>
          <a:prstGeom prst="rect">
            <a:avLst/>
          </a:prstGeom>
          <a:solidFill>
            <a:srgbClr val="B3181E"/>
          </a:solidFill>
          <a:ln w="12700">
            <a:solidFill>
              <a:srgbClr val="B3181E"/>
            </a:solidFill>
            <a:prstDash val="solid"/>
          </a:ln>
        </p:spPr>
      </p:sp>
      <p:sp>
        <p:nvSpPr>
          <p:cNvPr id="22" name="Text 19"/>
          <p:cNvSpPr txBox="1"/>
          <p:nvPr/>
        </p:nvSpPr>
        <p:spPr>
          <a:xfrm>
            <a:off x="6464808" y="2450592"/>
            <a:ext cx="4791456" cy="201168"/>
          </a:xfrm>
          <a:prstGeom prst="rect">
            <a:avLst/>
          </a:prstGeom>
          <a:noFill/>
          <a:ln/>
        </p:spPr>
        <p:txBody>
          <a:bodyPr wrap="square" lIns="0" tIns="0" rIns="0" bIns="0" rtlCol="0" anchor="t"/>
          <a:lstStyle/>
          <a:p>
            <a:pPr algn="l" indent="0" marL="0">
              <a:buNone/>
            </a:pPr>
            <a:r>
              <a:rPr lang="en-US" sz="960" b="1" spc="110" kern="0" dirty="0">
                <a:solidFill>
                  <a:srgbClr val="B3181E"/>
                </a:solidFill>
                <a:latin typeface="Aptos" pitchFamily="34" charset="0"/>
                <a:ea typeface="Aptos" pitchFamily="34" charset="-122"/>
                <a:cs typeface="Aptos" pitchFamily="34" charset="-120"/>
              </a:rPr>
              <a:t>LO QUE NADIE COMPROBÓ TODAVÍA</a:t>
            </a:r>
            <a:endParaRPr lang="en-US" sz="960" dirty="0"/>
          </a:p>
        </p:txBody>
      </p:sp>
      <p:sp>
        <p:nvSpPr>
          <p:cNvPr id="23" name="Shape 20"/>
          <p:cNvSpPr/>
          <p:nvPr/>
        </p:nvSpPr>
        <p:spPr>
          <a:xfrm>
            <a:off x="6464808" y="2871216"/>
            <a:ext cx="45720" cy="566928"/>
          </a:xfrm>
          <a:prstGeom prst="rect">
            <a:avLst/>
          </a:prstGeom>
          <a:solidFill>
            <a:srgbClr val="B3181E"/>
          </a:solidFill>
          <a:ln w="12700">
            <a:solidFill>
              <a:srgbClr val="B3181E"/>
            </a:solidFill>
            <a:prstDash val="solid"/>
          </a:ln>
        </p:spPr>
      </p:sp>
      <p:sp>
        <p:nvSpPr>
          <p:cNvPr id="24" name="Text 21"/>
          <p:cNvSpPr txBox="1"/>
          <p:nvPr/>
        </p:nvSpPr>
        <p:spPr>
          <a:xfrm>
            <a:off x="6665976" y="2798064"/>
            <a:ext cx="4590288" cy="713232"/>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Que alguien llegue a llamarlas: un usuario no llama a puede_reservar.</a:t>
            </a:r>
            <a:endParaRPr lang="en-US" sz="1220" dirty="0"/>
          </a:p>
        </p:txBody>
      </p:sp>
      <p:sp>
        <p:nvSpPr>
          <p:cNvPr id="25" name="Shape 22"/>
          <p:cNvSpPr/>
          <p:nvPr/>
        </p:nvSpPr>
        <p:spPr>
          <a:xfrm>
            <a:off x="6464808" y="3712464"/>
            <a:ext cx="45720" cy="566928"/>
          </a:xfrm>
          <a:prstGeom prst="rect">
            <a:avLst/>
          </a:prstGeom>
          <a:solidFill>
            <a:srgbClr val="B3181E"/>
          </a:solidFill>
          <a:ln w="12700">
            <a:solidFill>
              <a:srgbClr val="B3181E"/>
            </a:solidFill>
            <a:prstDash val="solid"/>
          </a:ln>
        </p:spPr>
      </p:sp>
      <p:sp>
        <p:nvSpPr>
          <p:cNvPr id="26" name="Text 23"/>
          <p:cNvSpPr txBox="1"/>
          <p:nvPr/>
        </p:nvSpPr>
        <p:spPr>
          <a:xfrm>
            <a:off x="6665976" y="3639312"/>
            <a:ext cx="4590288" cy="713232"/>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Que lo que llega por la red tenga la forma que la función espera.</a:t>
            </a:r>
            <a:endParaRPr lang="en-US" sz="1220" dirty="0"/>
          </a:p>
        </p:txBody>
      </p:sp>
      <p:sp>
        <p:nvSpPr>
          <p:cNvPr id="27" name="Shape 24"/>
          <p:cNvSpPr/>
          <p:nvPr/>
        </p:nvSpPr>
        <p:spPr>
          <a:xfrm>
            <a:off x="6464808" y="4553712"/>
            <a:ext cx="45720" cy="566928"/>
          </a:xfrm>
          <a:prstGeom prst="rect">
            <a:avLst/>
          </a:prstGeom>
          <a:solidFill>
            <a:srgbClr val="B3181E"/>
          </a:solidFill>
          <a:ln w="12700">
            <a:solidFill>
              <a:srgbClr val="B3181E"/>
            </a:solidFill>
            <a:prstDash val="solid"/>
          </a:ln>
        </p:spPr>
      </p:sp>
      <p:sp>
        <p:nvSpPr>
          <p:cNvPr id="28" name="Text 25"/>
          <p:cNvSpPr txBox="1"/>
          <p:nvPr/>
        </p:nvSpPr>
        <p:spPr>
          <a:xfrm>
            <a:off x="6665976" y="4480560"/>
            <a:ext cx="4590288" cy="713232"/>
          </a:xfrm>
          <a:prstGeom prst="rect">
            <a:avLst/>
          </a:prstGeom>
          <a:noFill/>
          <a:ln/>
        </p:spPr>
        <p:txBody>
          <a:bodyPr wrap="square" lIns="0" tIns="0" rIns="0" bIns="0" rtlCol="0" anchor="t"/>
          <a:lstStyle/>
          <a:p>
            <a:pPr algn="l" indent="0" marL="0">
              <a:lnSpc>
                <a:spcPct val="116000"/>
              </a:lnSpc>
              <a:buNone/>
            </a:pPr>
            <a:r>
              <a:rPr lang="en-US" sz="1220" dirty="0">
                <a:solidFill>
                  <a:srgbClr val="243B53"/>
                </a:solidFill>
                <a:latin typeface="Aptos" pitchFamily="34" charset="0"/>
                <a:ea typeface="Aptos" pitchFamily="34" charset="-122"/>
                <a:cs typeface="Aptos" pitchFamily="34" charset="-120"/>
              </a:rPr>
              <a:t>Que la respuesta vuelva con el significado correcto para quien la recibe.</a:t>
            </a:r>
            <a:endParaRPr lang="en-US" sz="1220" dirty="0"/>
          </a:p>
        </p:txBody>
      </p:sp>
      <p:sp>
        <p:nvSpPr>
          <p:cNvPr id="29" name="Shape 26"/>
          <p:cNvSpPr/>
          <p:nvPr/>
        </p:nvSpPr>
        <p:spPr>
          <a:xfrm>
            <a:off x="658368" y="5650992"/>
            <a:ext cx="10874959" cy="548640"/>
          </a:xfrm>
          <a:prstGeom prst="rect">
            <a:avLst/>
          </a:prstGeom>
          <a:solidFill>
            <a:srgbClr val="102A43"/>
          </a:solidFill>
          <a:ln w="12700">
            <a:solidFill>
              <a:srgbClr val="102A43"/>
            </a:solidFill>
            <a:prstDash val="solid"/>
          </a:ln>
        </p:spPr>
      </p:sp>
      <p:sp>
        <p:nvSpPr>
          <p:cNvPr id="30" name="Text 27"/>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Verde unitario dice que cada pieza decide bien. No dice nada de lo que pasa entre ellas.</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LA TESIS DE LA SESIÓN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Entre dos piezas correctas hay un tercer lugar donde fallar</a:t>
            </a:r>
            <a:endParaRPr lang="en-US" sz="28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acuerdo sobre la forma del dato que viaja no está escrito dentro de ninguna de las dos piezas.</a:t>
            </a:r>
            <a:endParaRPr lang="en-US" sz="1420" dirty="0"/>
          </a:p>
        </p:txBody>
      </p:sp>
      <p:sp>
        <p:nvSpPr>
          <p:cNvPr id="11" name="Shape 8"/>
          <p:cNvSpPr/>
          <p:nvPr/>
        </p:nvSpPr>
        <p:spPr>
          <a:xfrm>
            <a:off x="658368" y="2395728"/>
            <a:ext cx="3310128" cy="1444752"/>
          </a:xfrm>
          <a:prstGeom prst="rect">
            <a:avLst/>
          </a:prstGeom>
          <a:solidFill>
            <a:srgbClr val="FFFFFF"/>
          </a:solidFill>
          <a:ln w="12700">
            <a:solidFill>
              <a:srgbClr val="FFFFFF"/>
            </a:solidFill>
            <a:prstDash val="solid"/>
          </a:ln>
        </p:spPr>
      </p:sp>
      <p:sp>
        <p:nvSpPr>
          <p:cNvPr id="12" name="Shape 9"/>
          <p:cNvSpPr/>
          <p:nvPr/>
        </p:nvSpPr>
        <p:spPr>
          <a:xfrm>
            <a:off x="658368" y="2395728"/>
            <a:ext cx="3310128" cy="54864"/>
          </a:xfrm>
          <a:prstGeom prst="rect">
            <a:avLst/>
          </a:prstGeom>
          <a:solidFill>
            <a:srgbClr val="2E7D4F"/>
          </a:solidFill>
          <a:ln w="12700">
            <a:solidFill>
              <a:srgbClr val="2E7D4F"/>
            </a:solidFill>
            <a:prstDash val="solid"/>
          </a:ln>
        </p:spPr>
      </p:sp>
      <p:sp>
        <p:nvSpPr>
          <p:cNvPr id="13" name="Text 10"/>
          <p:cNvSpPr txBox="1"/>
          <p:nvPr/>
        </p:nvSpPr>
        <p:spPr>
          <a:xfrm>
            <a:off x="914400" y="2633472"/>
            <a:ext cx="283464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PIEZA VERIFICADA</a:t>
            </a:r>
            <a:endParaRPr lang="en-US" sz="960" dirty="0"/>
          </a:p>
        </p:txBody>
      </p:sp>
      <p:sp>
        <p:nvSpPr>
          <p:cNvPr id="14" name="Text 11"/>
          <p:cNvSpPr txBox="1"/>
          <p:nvPr/>
        </p:nvSpPr>
        <p:spPr>
          <a:xfrm>
            <a:off x="914400" y="2889504"/>
            <a:ext cx="2798064" cy="292608"/>
          </a:xfrm>
          <a:prstGeom prst="rect">
            <a:avLst/>
          </a:prstGeom>
          <a:noFill/>
          <a:ln/>
        </p:spPr>
        <p:txBody>
          <a:bodyPr wrap="square" lIns="0" tIns="0" rIns="0" bIns="0" rtlCol="0" anchor="t"/>
          <a:lstStyle/>
          <a:p>
            <a:pPr algn="l" indent="0" marL="0">
              <a:buNone/>
            </a:pPr>
            <a:r>
              <a:rPr lang="en-US" sz="1560" b="1" dirty="0">
                <a:solidFill>
                  <a:srgbClr val="243B53"/>
                </a:solidFill>
                <a:latin typeface="Aptos" pitchFamily="34" charset="0"/>
                <a:ea typeface="Aptos" pitchFamily="34" charset="-122"/>
                <a:cs typeface="Aptos" pitchFamily="34" charset="-120"/>
              </a:rPr>
              <a:t>La ruta HTTP</a:t>
            </a:r>
            <a:endParaRPr lang="en-US" sz="1560" dirty="0"/>
          </a:p>
        </p:txBody>
      </p:sp>
      <p:sp>
        <p:nvSpPr>
          <p:cNvPr id="15" name="Text 12"/>
          <p:cNvSpPr txBox="1"/>
          <p:nvPr/>
        </p:nvSpPr>
        <p:spPr>
          <a:xfrm>
            <a:off x="914400" y="3236976"/>
            <a:ext cx="2798064" cy="457200"/>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Recibe la solicitud, la valida y responde.</a:t>
            </a:r>
            <a:endParaRPr lang="en-US" sz="1140" dirty="0"/>
          </a:p>
        </p:txBody>
      </p:sp>
      <p:sp>
        <p:nvSpPr>
          <p:cNvPr id="16" name="Shape 13"/>
          <p:cNvSpPr/>
          <p:nvPr/>
        </p:nvSpPr>
        <p:spPr>
          <a:xfrm>
            <a:off x="8220456" y="2395728"/>
            <a:ext cx="3310128" cy="1444752"/>
          </a:xfrm>
          <a:prstGeom prst="rect">
            <a:avLst/>
          </a:prstGeom>
          <a:solidFill>
            <a:srgbClr val="FFFFFF"/>
          </a:solidFill>
          <a:ln w="12700">
            <a:solidFill>
              <a:srgbClr val="FFFFFF"/>
            </a:solidFill>
            <a:prstDash val="solid"/>
          </a:ln>
        </p:spPr>
      </p:sp>
      <p:sp>
        <p:nvSpPr>
          <p:cNvPr id="17" name="Shape 14"/>
          <p:cNvSpPr/>
          <p:nvPr/>
        </p:nvSpPr>
        <p:spPr>
          <a:xfrm>
            <a:off x="8220456" y="2395728"/>
            <a:ext cx="3310128" cy="54864"/>
          </a:xfrm>
          <a:prstGeom prst="rect">
            <a:avLst/>
          </a:prstGeom>
          <a:solidFill>
            <a:srgbClr val="2E7D4F"/>
          </a:solidFill>
          <a:ln w="12700">
            <a:solidFill>
              <a:srgbClr val="2E7D4F"/>
            </a:solidFill>
            <a:prstDash val="solid"/>
          </a:ln>
        </p:spPr>
      </p:sp>
      <p:sp>
        <p:nvSpPr>
          <p:cNvPr id="18" name="Text 15"/>
          <p:cNvSpPr txBox="1"/>
          <p:nvPr/>
        </p:nvSpPr>
        <p:spPr>
          <a:xfrm>
            <a:off x="8476488" y="2633472"/>
            <a:ext cx="2834640" cy="201168"/>
          </a:xfrm>
          <a:prstGeom prst="rect">
            <a:avLst/>
          </a:prstGeom>
          <a:noFill/>
          <a:ln/>
        </p:spPr>
        <p:txBody>
          <a:bodyPr wrap="square" lIns="0" tIns="0" rIns="0" bIns="0" rtlCol="0" anchor="t"/>
          <a:lstStyle/>
          <a:p>
            <a:pPr algn="l" indent="0" marL="0">
              <a:buNone/>
            </a:pPr>
            <a:r>
              <a:rPr lang="en-US" sz="960" b="1" spc="130" kern="0" dirty="0">
                <a:solidFill>
                  <a:srgbClr val="2E7D4F"/>
                </a:solidFill>
                <a:latin typeface="Aptos" pitchFamily="34" charset="0"/>
                <a:ea typeface="Aptos" pitchFamily="34" charset="-122"/>
                <a:cs typeface="Aptos" pitchFamily="34" charset="-120"/>
              </a:rPr>
              <a:t>PIEZA VERIFICADA</a:t>
            </a:r>
            <a:endParaRPr lang="en-US" sz="960" dirty="0"/>
          </a:p>
        </p:txBody>
      </p:sp>
      <p:sp>
        <p:nvSpPr>
          <p:cNvPr id="19" name="Text 16"/>
          <p:cNvSpPr txBox="1"/>
          <p:nvPr/>
        </p:nvSpPr>
        <p:spPr>
          <a:xfrm>
            <a:off x="8476488" y="2889504"/>
            <a:ext cx="2798064" cy="292608"/>
          </a:xfrm>
          <a:prstGeom prst="rect">
            <a:avLst/>
          </a:prstGeom>
          <a:noFill/>
          <a:ln/>
        </p:spPr>
        <p:txBody>
          <a:bodyPr wrap="square" lIns="0" tIns="0" rIns="0" bIns="0" rtlCol="0" anchor="t"/>
          <a:lstStyle/>
          <a:p>
            <a:pPr algn="l" indent="0" marL="0">
              <a:buNone/>
            </a:pPr>
            <a:r>
              <a:rPr lang="en-US" sz="1560" b="1" dirty="0">
                <a:solidFill>
                  <a:srgbClr val="243B53"/>
                </a:solidFill>
                <a:latin typeface="Aptos" pitchFamily="34" charset="0"/>
                <a:ea typeface="Aptos" pitchFamily="34" charset="-122"/>
                <a:cs typeface="Aptos" pitchFamily="34" charset="-120"/>
              </a:rPr>
              <a:t>puede_reservar</a:t>
            </a:r>
            <a:endParaRPr lang="en-US" sz="1560" dirty="0"/>
          </a:p>
        </p:txBody>
      </p:sp>
      <p:sp>
        <p:nvSpPr>
          <p:cNvPr id="20" name="Text 17"/>
          <p:cNvSpPr txBox="1"/>
          <p:nvPr/>
        </p:nvSpPr>
        <p:spPr>
          <a:xfrm>
            <a:off x="8476488" y="3236976"/>
            <a:ext cx="2798064" cy="457200"/>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Decide si la reserva se permite o se rechaza.</a:t>
            </a:r>
            <a:endParaRPr lang="en-US" sz="1140" dirty="0"/>
          </a:p>
        </p:txBody>
      </p:sp>
      <p:sp>
        <p:nvSpPr>
          <p:cNvPr id="21" name="Shape 18"/>
          <p:cNvSpPr/>
          <p:nvPr/>
        </p:nvSpPr>
        <p:spPr>
          <a:xfrm>
            <a:off x="4242816" y="2395728"/>
            <a:ext cx="3703320" cy="1444752"/>
          </a:xfrm>
          <a:prstGeom prst="rect">
            <a:avLst/>
          </a:prstGeom>
          <a:solidFill>
            <a:srgbClr val="F8E4E5"/>
          </a:solidFill>
          <a:ln w="12700">
            <a:solidFill>
              <a:srgbClr val="F8E4E5"/>
            </a:solidFill>
            <a:prstDash val="solid"/>
          </a:ln>
        </p:spPr>
      </p:sp>
      <p:sp>
        <p:nvSpPr>
          <p:cNvPr id="22" name="Shape 19"/>
          <p:cNvSpPr/>
          <p:nvPr/>
        </p:nvSpPr>
        <p:spPr>
          <a:xfrm>
            <a:off x="4242816" y="2395728"/>
            <a:ext cx="3703320" cy="54864"/>
          </a:xfrm>
          <a:prstGeom prst="rect">
            <a:avLst/>
          </a:prstGeom>
          <a:solidFill>
            <a:srgbClr val="B3181E"/>
          </a:solidFill>
          <a:ln w="12700">
            <a:solidFill>
              <a:srgbClr val="B3181E"/>
            </a:solidFill>
            <a:prstDash val="solid"/>
          </a:ln>
        </p:spPr>
      </p:sp>
      <p:sp>
        <p:nvSpPr>
          <p:cNvPr id="23" name="Text 20"/>
          <p:cNvSpPr txBox="1"/>
          <p:nvPr/>
        </p:nvSpPr>
        <p:spPr>
          <a:xfrm>
            <a:off x="4498848" y="2633472"/>
            <a:ext cx="3200400" cy="201168"/>
          </a:xfrm>
          <a:prstGeom prst="rect">
            <a:avLst/>
          </a:prstGeom>
          <a:noFill/>
          <a:ln/>
        </p:spPr>
        <p:txBody>
          <a:bodyPr wrap="square" lIns="0" tIns="0" rIns="0" bIns="0" rtlCol="0" anchor="t"/>
          <a:lstStyle/>
          <a:p>
            <a:pPr algn="l" indent="0" marL="0">
              <a:buNone/>
            </a:pPr>
            <a:r>
              <a:rPr lang="en-US" sz="960" b="1" spc="130" kern="0" dirty="0">
                <a:solidFill>
                  <a:srgbClr val="B3181E"/>
                </a:solidFill>
                <a:latin typeface="Aptos" pitchFamily="34" charset="0"/>
                <a:ea typeface="Aptos" pitchFamily="34" charset="-122"/>
                <a:cs typeface="Aptos" pitchFamily="34" charset="-120"/>
              </a:rPr>
              <a:t>AQUÍ VIVE EL DEFECTO</a:t>
            </a:r>
            <a:endParaRPr lang="en-US" sz="960" dirty="0"/>
          </a:p>
        </p:txBody>
      </p:sp>
      <p:sp>
        <p:nvSpPr>
          <p:cNvPr id="24" name="Text 21"/>
          <p:cNvSpPr txBox="1"/>
          <p:nvPr/>
        </p:nvSpPr>
        <p:spPr>
          <a:xfrm>
            <a:off x="4498848" y="2889504"/>
            <a:ext cx="3191256" cy="292608"/>
          </a:xfrm>
          <a:prstGeom prst="rect">
            <a:avLst/>
          </a:prstGeom>
          <a:noFill/>
          <a:ln/>
        </p:spPr>
        <p:txBody>
          <a:bodyPr wrap="square" lIns="0" tIns="0" rIns="0" bIns="0" rtlCol="0" anchor="t"/>
          <a:lstStyle/>
          <a:p>
            <a:pPr algn="l" indent="0" marL="0">
              <a:buNone/>
            </a:pPr>
            <a:r>
              <a:rPr lang="en-US" sz="1560" b="1" dirty="0">
                <a:solidFill>
                  <a:srgbClr val="B3181E"/>
                </a:solidFill>
                <a:latin typeface="Aptos" pitchFamily="34" charset="0"/>
                <a:ea typeface="Aptos" pitchFamily="34" charset="-122"/>
                <a:cs typeface="Aptos" pitchFamily="34" charset="-120"/>
              </a:rPr>
              <a:t>El acuerdo entre ellas</a:t>
            </a:r>
            <a:endParaRPr lang="en-US" sz="1560" dirty="0"/>
          </a:p>
        </p:txBody>
      </p:sp>
      <p:sp>
        <p:nvSpPr>
          <p:cNvPr id="25" name="Text 22"/>
          <p:cNvSpPr txBox="1"/>
          <p:nvPr/>
        </p:nvSpPr>
        <p:spPr>
          <a:xfrm>
            <a:off x="4498848" y="3236976"/>
            <a:ext cx="3191256" cy="457200"/>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Nombre del campo, tipo del valor, código de estado.</a:t>
            </a:r>
            <a:endParaRPr lang="en-US" sz="1140" dirty="0"/>
          </a:p>
        </p:txBody>
      </p:sp>
      <p:sp>
        <p:nvSpPr>
          <p:cNvPr id="26" name="Shape 23"/>
          <p:cNvSpPr/>
          <p:nvPr/>
        </p:nvSpPr>
        <p:spPr>
          <a:xfrm>
            <a:off x="4023360" y="3145536"/>
            <a:ext cx="182880" cy="0"/>
          </a:xfrm>
          <a:prstGeom prst="line">
            <a:avLst/>
          </a:prstGeom>
          <a:noFill/>
          <a:ln w="12700">
            <a:solidFill>
              <a:srgbClr val="B3181E"/>
            </a:solidFill>
            <a:prstDash val="solid"/>
            <a:headEnd type="none"/>
            <a:tailEnd type="triangle"/>
          </a:ln>
        </p:spPr>
      </p:sp>
      <p:sp>
        <p:nvSpPr>
          <p:cNvPr id="27" name="Shape 24"/>
          <p:cNvSpPr/>
          <p:nvPr/>
        </p:nvSpPr>
        <p:spPr>
          <a:xfrm>
            <a:off x="7991856" y="3145536"/>
            <a:ext cx="182880" cy="0"/>
          </a:xfrm>
          <a:prstGeom prst="line">
            <a:avLst/>
          </a:prstGeom>
          <a:noFill/>
          <a:ln w="12700">
            <a:solidFill>
              <a:srgbClr val="B3181E"/>
            </a:solidFill>
            <a:prstDash val="solid"/>
            <a:headEnd type="triangle"/>
            <a:tailEnd type="none"/>
          </a:ln>
        </p:spPr>
      </p:sp>
      <p:sp>
        <p:nvSpPr>
          <p:cNvPr id="28" name="Shape 25"/>
          <p:cNvSpPr/>
          <p:nvPr/>
        </p:nvSpPr>
        <p:spPr>
          <a:xfrm>
            <a:off x="658368" y="4059936"/>
            <a:ext cx="10874959" cy="1170432"/>
          </a:xfrm>
          <a:prstGeom prst="rect">
            <a:avLst/>
          </a:prstGeom>
          <a:solidFill>
            <a:srgbClr val="EDE6DA"/>
          </a:solidFill>
          <a:ln w="12700">
            <a:solidFill>
              <a:srgbClr val="EDE6DA"/>
            </a:solidFill>
            <a:prstDash val="solid"/>
          </a:ln>
        </p:spPr>
      </p:sp>
      <p:sp>
        <p:nvSpPr>
          <p:cNvPr id="29" name="Text 26"/>
          <p:cNvSpPr txBox="1"/>
          <p:nvPr/>
        </p:nvSpPr>
        <p:spPr>
          <a:xfrm>
            <a:off x="950976" y="4224528"/>
            <a:ext cx="4846320" cy="256032"/>
          </a:xfrm>
          <a:prstGeom prst="rect">
            <a:avLst/>
          </a:prstGeom>
          <a:noFill/>
          <a:ln/>
        </p:spPr>
        <p:txBody>
          <a:bodyPr wrap="square" lIns="0" tIns="0" rIns="0" bIns="0" rtlCol="0" anchor="t"/>
          <a:lstStyle/>
          <a:p>
            <a:pPr algn="l" indent="0" marL="0">
              <a:buNone/>
            </a:pPr>
            <a:r>
              <a:rPr lang="en-US" sz="1340" b="1" dirty="0">
                <a:solidFill>
                  <a:srgbClr val="243B53"/>
                </a:solidFill>
                <a:latin typeface="Aptos" pitchFamily="34" charset="0"/>
                <a:ea typeface="Aptos" pitchFamily="34" charset="-122"/>
                <a:cs typeface="Aptos" pitchFamily="34" charset="-120"/>
              </a:rPr>
              <a:t>Por qué ninguna prueba unitaria puede encontrarlo</a:t>
            </a:r>
            <a:endParaRPr lang="en-US" sz="1340" dirty="0"/>
          </a:p>
        </p:txBody>
      </p:sp>
      <p:sp>
        <p:nvSpPr>
          <p:cNvPr id="30" name="Text 27"/>
          <p:cNvSpPr txBox="1"/>
          <p:nvPr/>
        </p:nvSpPr>
        <p:spPr>
          <a:xfrm>
            <a:off x="950976" y="4535424"/>
            <a:ext cx="10289743" cy="585216"/>
          </a:xfrm>
          <a:prstGeom prst="rect">
            <a:avLst/>
          </a:prstGeom>
          <a:noFill/>
          <a:ln/>
        </p:spPr>
        <p:txBody>
          <a:bodyPr wrap="square" lIns="0" tIns="0" rIns="0" bIns="0" rtlCol="0" anchor="t"/>
          <a:lstStyle/>
          <a:p>
            <a:pPr algn="l" indent="0" marL="0">
              <a:lnSpc>
                <a:spcPct val="116000"/>
              </a:lnSpc>
              <a:buNone/>
            </a:pPr>
            <a:r>
              <a:rPr lang="en-US" sz="1240" dirty="0">
                <a:solidFill>
                  <a:srgbClr val="52606D"/>
                </a:solidFill>
                <a:latin typeface="Aptos" pitchFamily="34" charset="0"/>
                <a:ea typeface="Aptos" pitchFamily="34" charset="-122"/>
                <a:cs typeface="Aptos" pitchFamily="34" charset="-120"/>
              </a:rPr>
              <a:t>Una prueba unitaria mira una pieza. Puede ser exhaustiva, estar perfectamente escrita y agotar todos los casos: el defecto no está dentro de lo que mira. No es un problema de rigor, es un problema de objeto.</a:t>
            </a:r>
            <a:endParaRPr lang="en-US" sz="1240" dirty="0"/>
          </a:p>
        </p:txBody>
      </p:sp>
      <p:sp>
        <p:nvSpPr>
          <p:cNvPr id="31" name="Shape 28"/>
          <p:cNvSpPr/>
          <p:nvPr/>
        </p:nvSpPr>
        <p:spPr>
          <a:xfrm>
            <a:off x="658368" y="5650992"/>
            <a:ext cx="10874959" cy="548640"/>
          </a:xfrm>
          <a:prstGeom prst="rect">
            <a:avLst/>
          </a:prstGeom>
          <a:solidFill>
            <a:srgbClr val="102A43"/>
          </a:solidFill>
          <a:ln w="12700">
            <a:solidFill>
              <a:srgbClr val="102A43"/>
            </a:solidFill>
            <a:prstDash val="solid"/>
          </a:ln>
        </p:spPr>
      </p:sp>
      <p:sp>
        <p:nvSpPr>
          <p:cNvPr id="32" name="Text 2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 sistema es sus piezas más los acuerdos entre ellas. Los acuerdos no viven dentro de ningún archivo.</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LA DISTINCIÓN QUE ORDENA LA CLASE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No es el tamaño: es qué deja de sustituir</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diferencia entre los dos niveles no está en cuántas piezas se tocan, sino en qué se reemplaza y qué no.</a:t>
            </a:r>
            <a:endParaRPr lang="en-US" sz="1420" dirty="0"/>
          </a:p>
        </p:txBody>
      </p:sp>
      <p:sp>
        <p:nvSpPr>
          <p:cNvPr id="11" name="Shape 8"/>
          <p:cNvSpPr/>
          <p:nvPr/>
        </p:nvSpPr>
        <p:spPr>
          <a:xfrm>
            <a:off x="658368" y="2286000"/>
            <a:ext cx="10874959" cy="347472"/>
          </a:xfrm>
          <a:prstGeom prst="rect">
            <a:avLst/>
          </a:prstGeom>
          <a:solidFill>
            <a:srgbClr val="1D3A57"/>
          </a:solidFill>
          <a:ln w="12700">
            <a:solidFill>
              <a:srgbClr val="1D3A57"/>
            </a:solidFill>
            <a:prstDash val="solid"/>
          </a:ln>
        </p:spPr>
      </p:sp>
      <p:sp>
        <p:nvSpPr>
          <p:cNvPr id="12" name="Text 9"/>
          <p:cNvSpPr txBox="1"/>
          <p:nvPr/>
        </p:nvSpPr>
        <p:spPr>
          <a:xfrm>
            <a:off x="896112" y="2359152"/>
            <a:ext cx="27432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NIVEL</a:t>
            </a:r>
            <a:endParaRPr lang="en-US" sz="920" dirty="0"/>
          </a:p>
        </p:txBody>
      </p:sp>
      <p:sp>
        <p:nvSpPr>
          <p:cNvPr id="13" name="Text 10"/>
          <p:cNvSpPr txBox="1"/>
          <p:nvPr/>
        </p:nvSpPr>
        <p:spPr>
          <a:xfrm>
            <a:off x="3730752" y="2359152"/>
            <a:ext cx="27432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QUÉ MIRA</a:t>
            </a:r>
            <a:endParaRPr lang="en-US" sz="920" dirty="0"/>
          </a:p>
        </p:txBody>
      </p:sp>
      <p:sp>
        <p:nvSpPr>
          <p:cNvPr id="14" name="Text 11"/>
          <p:cNvSpPr txBox="1"/>
          <p:nvPr/>
        </p:nvSpPr>
        <p:spPr>
          <a:xfrm>
            <a:off x="6839712" y="2359152"/>
            <a:ext cx="27432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QUÉ SUSTITUYE</a:t>
            </a:r>
            <a:endParaRPr lang="en-US" sz="920" dirty="0"/>
          </a:p>
        </p:txBody>
      </p:sp>
      <p:sp>
        <p:nvSpPr>
          <p:cNvPr id="15" name="Shape 12"/>
          <p:cNvSpPr/>
          <p:nvPr/>
        </p:nvSpPr>
        <p:spPr>
          <a:xfrm>
            <a:off x="658368" y="2688336"/>
            <a:ext cx="10874959" cy="859536"/>
          </a:xfrm>
          <a:prstGeom prst="rect">
            <a:avLst/>
          </a:prstGeom>
          <a:solidFill>
            <a:srgbClr val="EDE6DA"/>
          </a:solidFill>
          <a:ln w="12700">
            <a:solidFill>
              <a:srgbClr val="EDE6DA"/>
            </a:solidFill>
            <a:prstDash val="solid"/>
          </a:ln>
        </p:spPr>
      </p:sp>
      <p:sp>
        <p:nvSpPr>
          <p:cNvPr id="16" name="Shape 13"/>
          <p:cNvSpPr/>
          <p:nvPr/>
        </p:nvSpPr>
        <p:spPr>
          <a:xfrm>
            <a:off x="658368" y="2688336"/>
            <a:ext cx="54864" cy="859536"/>
          </a:xfrm>
          <a:prstGeom prst="rect">
            <a:avLst/>
          </a:prstGeom>
          <a:solidFill>
            <a:srgbClr val="102A43"/>
          </a:solidFill>
          <a:ln w="12700">
            <a:solidFill>
              <a:srgbClr val="102A43"/>
            </a:solidFill>
            <a:prstDash val="solid"/>
          </a:ln>
        </p:spPr>
      </p:sp>
      <p:sp>
        <p:nvSpPr>
          <p:cNvPr id="17" name="Text 14"/>
          <p:cNvSpPr txBox="1"/>
          <p:nvPr/>
        </p:nvSpPr>
        <p:spPr>
          <a:xfrm>
            <a:off x="896112" y="2834640"/>
            <a:ext cx="2560320" cy="548640"/>
          </a:xfrm>
          <a:prstGeom prst="rect">
            <a:avLst/>
          </a:prstGeom>
          <a:noFill/>
          <a:ln/>
        </p:spPr>
        <p:txBody>
          <a:bodyPr wrap="square" lIns="0" tIns="0" rIns="0" bIns="0" rtlCol="0" anchor="t"/>
          <a:lstStyle/>
          <a:p>
            <a:pPr algn="l" indent="0" marL="0">
              <a:lnSpc>
                <a:spcPct val="110000"/>
              </a:lnSpc>
              <a:buNone/>
            </a:pPr>
            <a:r>
              <a:rPr lang="en-US" sz="1360" b="1" dirty="0">
                <a:solidFill>
                  <a:srgbClr val="102A43"/>
                </a:solidFill>
                <a:latin typeface="Aptos" pitchFamily="34" charset="0"/>
                <a:ea typeface="Aptos" pitchFamily="34" charset="-122"/>
                <a:cs typeface="Aptos" pitchFamily="34" charset="-120"/>
              </a:rPr>
              <a:t>Prueba unitaria</a:t>
            </a:r>
            <a:endParaRPr lang="en-US" sz="1360" dirty="0"/>
          </a:p>
        </p:txBody>
      </p:sp>
      <p:sp>
        <p:nvSpPr>
          <p:cNvPr id="18" name="Text 15"/>
          <p:cNvSpPr txBox="1"/>
          <p:nvPr/>
        </p:nvSpPr>
        <p:spPr>
          <a:xfrm>
            <a:off x="3730752" y="2834640"/>
            <a:ext cx="2834640" cy="548640"/>
          </a:xfrm>
          <a:prstGeom prst="rect">
            <a:avLst/>
          </a:prstGeom>
          <a:noFill/>
          <a:ln/>
        </p:spPr>
        <p:txBody>
          <a:bodyPr wrap="square" lIns="0" tIns="0" rIns="0" bIns="0" rtlCol="0" anchor="t"/>
          <a:lstStyle/>
          <a:p>
            <a:pPr algn="l" indent="0" marL="0">
              <a:lnSpc>
                <a:spcPct val="112000"/>
              </a:lnSpc>
              <a:buNone/>
            </a:pPr>
            <a:r>
              <a:rPr lang="en-US" sz="1220" dirty="0">
                <a:solidFill>
                  <a:srgbClr val="243B53"/>
                </a:solidFill>
                <a:latin typeface="Aptos" pitchFamily="34" charset="0"/>
                <a:ea typeface="Aptos" pitchFamily="34" charset="-122"/>
                <a:cs typeface="Aptos" pitchFamily="34" charset="-120"/>
              </a:rPr>
              <a:t>Una pieza</a:t>
            </a:r>
            <a:endParaRPr lang="en-US" sz="1220" dirty="0"/>
          </a:p>
        </p:txBody>
      </p:sp>
      <p:sp>
        <p:nvSpPr>
          <p:cNvPr id="19" name="Text 16"/>
          <p:cNvSpPr txBox="1"/>
          <p:nvPr/>
        </p:nvSpPr>
        <p:spPr>
          <a:xfrm>
            <a:off x="6839712" y="2834640"/>
            <a:ext cx="4480560" cy="548640"/>
          </a:xfrm>
          <a:prstGeom prst="rect">
            <a:avLst/>
          </a:prstGeom>
          <a:noFill/>
          <a:ln/>
        </p:spPr>
        <p:txBody>
          <a:bodyPr wrap="square" lIns="0" tIns="0" rIns="0" bIns="0" rtlCol="0" anchor="t"/>
          <a:lstStyle/>
          <a:p>
            <a:pPr algn="l" indent="0" marL="0">
              <a:lnSpc>
                <a:spcPct val="112000"/>
              </a:lnSpc>
              <a:buNone/>
            </a:pPr>
            <a:r>
              <a:rPr lang="en-US" sz="1220" dirty="0">
                <a:solidFill>
                  <a:srgbClr val="243B53"/>
                </a:solidFill>
                <a:latin typeface="Aptos" pitchFamily="34" charset="0"/>
                <a:ea typeface="Aptos" pitchFamily="34" charset="-122"/>
                <a:cs typeface="Aptos" pitchFamily="34" charset="-120"/>
              </a:rPr>
              <a:t>Todo lo demás: o no hay dependencias, o se reemplazan por un sustituto</a:t>
            </a:r>
            <a:endParaRPr lang="en-US" sz="1220" dirty="0"/>
          </a:p>
        </p:txBody>
      </p:sp>
      <p:sp>
        <p:nvSpPr>
          <p:cNvPr id="20" name="Shape 17"/>
          <p:cNvSpPr/>
          <p:nvPr/>
        </p:nvSpPr>
        <p:spPr>
          <a:xfrm>
            <a:off x="658368" y="3621024"/>
            <a:ext cx="10874959" cy="859536"/>
          </a:xfrm>
          <a:prstGeom prst="rect">
            <a:avLst/>
          </a:prstGeom>
          <a:solidFill>
            <a:srgbClr val="F2E7D9"/>
          </a:solidFill>
          <a:ln w="12700">
            <a:solidFill>
              <a:srgbClr val="F2E7D9"/>
            </a:solidFill>
            <a:prstDash val="solid"/>
          </a:ln>
        </p:spPr>
      </p:sp>
      <p:sp>
        <p:nvSpPr>
          <p:cNvPr id="21" name="Shape 18"/>
          <p:cNvSpPr/>
          <p:nvPr/>
        </p:nvSpPr>
        <p:spPr>
          <a:xfrm>
            <a:off x="658368" y="3621024"/>
            <a:ext cx="54864" cy="859536"/>
          </a:xfrm>
          <a:prstGeom prst="rect">
            <a:avLst/>
          </a:prstGeom>
          <a:solidFill>
            <a:srgbClr val="B3181E"/>
          </a:solidFill>
          <a:ln w="12700">
            <a:solidFill>
              <a:srgbClr val="B3181E"/>
            </a:solidFill>
            <a:prstDash val="solid"/>
          </a:ln>
        </p:spPr>
      </p:sp>
      <p:sp>
        <p:nvSpPr>
          <p:cNvPr id="22" name="Text 19"/>
          <p:cNvSpPr txBox="1"/>
          <p:nvPr/>
        </p:nvSpPr>
        <p:spPr>
          <a:xfrm>
            <a:off x="896112" y="3767328"/>
            <a:ext cx="2560320" cy="548640"/>
          </a:xfrm>
          <a:prstGeom prst="rect">
            <a:avLst/>
          </a:prstGeom>
          <a:noFill/>
          <a:ln/>
        </p:spPr>
        <p:txBody>
          <a:bodyPr wrap="square" lIns="0" tIns="0" rIns="0" bIns="0" rtlCol="0" anchor="t"/>
          <a:lstStyle/>
          <a:p>
            <a:pPr algn="l" indent="0" marL="0">
              <a:lnSpc>
                <a:spcPct val="110000"/>
              </a:lnSpc>
              <a:buNone/>
            </a:pPr>
            <a:r>
              <a:rPr lang="en-US" sz="1360" b="1" dirty="0">
                <a:solidFill>
                  <a:srgbClr val="B3181E"/>
                </a:solidFill>
                <a:latin typeface="Aptos" pitchFamily="34" charset="0"/>
                <a:ea typeface="Aptos" pitchFamily="34" charset="-122"/>
                <a:cs typeface="Aptos" pitchFamily="34" charset="-120"/>
              </a:rPr>
              <a:t>Prueba de integración</a:t>
            </a:r>
            <a:endParaRPr lang="en-US" sz="1360" dirty="0"/>
          </a:p>
        </p:txBody>
      </p:sp>
      <p:sp>
        <p:nvSpPr>
          <p:cNvPr id="23" name="Text 20"/>
          <p:cNvSpPr txBox="1"/>
          <p:nvPr/>
        </p:nvSpPr>
        <p:spPr>
          <a:xfrm>
            <a:off x="3730752" y="3767328"/>
            <a:ext cx="2834640" cy="548640"/>
          </a:xfrm>
          <a:prstGeom prst="rect">
            <a:avLst/>
          </a:prstGeom>
          <a:noFill/>
          <a:ln/>
        </p:spPr>
        <p:txBody>
          <a:bodyPr wrap="square" lIns="0" tIns="0" rIns="0" bIns="0" rtlCol="0" anchor="t"/>
          <a:lstStyle/>
          <a:p>
            <a:pPr algn="l" indent="0" marL="0">
              <a:lnSpc>
                <a:spcPct val="112000"/>
              </a:lnSpc>
              <a:buNone/>
            </a:pPr>
            <a:r>
              <a:rPr lang="en-US" sz="1220" dirty="0">
                <a:solidFill>
                  <a:srgbClr val="243B53"/>
                </a:solidFill>
                <a:latin typeface="Aptos" pitchFamily="34" charset="0"/>
                <a:ea typeface="Aptos" pitchFamily="34" charset="-122"/>
                <a:cs typeface="Aptos" pitchFamily="34" charset="-120"/>
              </a:rPr>
              <a:t>La colaboración entre dos piezas</a:t>
            </a:r>
            <a:endParaRPr lang="en-US" sz="1220" dirty="0"/>
          </a:p>
        </p:txBody>
      </p:sp>
      <p:sp>
        <p:nvSpPr>
          <p:cNvPr id="24" name="Text 21"/>
          <p:cNvSpPr txBox="1"/>
          <p:nvPr/>
        </p:nvSpPr>
        <p:spPr>
          <a:xfrm>
            <a:off x="6839712" y="3767328"/>
            <a:ext cx="4480560" cy="548640"/>
          </a:xfrm>
          <a:prstGeom prst="rect">
            <a:avLst/>
          </a:prstGeom>
          <a:noFill/>
          <a:ln/>
        </p:spPr>
        <p:txBody>
          <a:bodyPr wrap="square" lIns="0" tIns="0" rIns="0" bIns="0" rtlCol="0" anchor="t"/>
          <a:lstStyle/>
          <a:p>
            <a:pPr algn="l" indent="0" marL="0">
              <a:lnSpc>
                <a:spcPct val="112000"/>
              </a:lnSpc>
              <a:buNone/>
            </a:pPr>
            <a:r>
              <a:rPr lang="en-US" sz="1220" dirty="0">
                <a:solidFill>
                  <a:srgbClr val="243B53"/>
                </a:solidFill>
                <a:latin typeface="Aptos" pitchFamily="34" charset="0"/>
                <a:ea typeface="Aptos" pitchFamily="34" charset="-122"/>
                <a:cs typeface="Aptos" pitchFamily="34" charset="-120"/>
              </a:rPr>
              <a:t>Nada de lo que quiere observar: la dependencia se ejecuta de verdad</a:t>
            </a:r>
            <a:endParaRPr lang="en-US" sz="1220" dirty="0"/>
          </a:p>
        </p:txBody>
      </p:sp>
      <p:sp>
        <p:nvSpPr>
          <p:cNvPr id="25" name="Shape 22"/>
          <p:cNvSpPr/>
          <p:nvPr/>
        </p:nvSpPr>
        <p:spPr>
          <a:xfrm>
            <a:off x="658368" y="4700016"/>
            <a:ext cx="10874959" cy="841248"/>
          </a:xfrm>
          <a:prstGeom prst="rect">
            <a:avLst/>
          </a:prstGeom>
          <a:solidFill>
            <a:srgbClr val="FFFFFF"/>
          </a:solidFill>
          <a:ln w="12700">
            <a:solidFill>
              <a:srgbClr val="FFFFFF"/>
            </a:solidFill>
            <a:prstDash val="solid"/>
          </a:ln>
        </p:spPr>
      </p:sp>
      <p:sp>
        <p:nvSpPr>
          <p:cNvPr id="26" name="Shape 23"/>
          <p:cNvSpPr/>
          <p:nvPr/>
        </p:nvSpPr>
        <p:spPr>
          <a:xfrm>
            <a:off x="658368" y="4700016"/>
            <a:ext cx="54864" cy="841248"/>
          </a:xfrm>
          <a:prstGeom prst="rect">
            <a:avLst/>
          </a:prstGeom>
          <a:solidFill>
            <a:srgbClr val="B3181E"/>
          </a:solidFill>
          <a:ln w="12700">
            <a:solidFill>
              <a:srgbClr val="B3181E"/>
            </a:solidFill>
            <a:prstDash val="solid"/>
          </a:ln>
        </p:spPr>
      </p:sp>
      <p:sp>
        <p:nvSpPr>
          <p:cNvPr id="27" name="Text 24"/>
          <p:cNvSpPr txBox="1"/>
          <p:nvPr/>
        </p:nvSpPr>
        <p:spPr>
          <a:xfrm>
            <a:off x="896112" y="4828032"/>
            <a:ext cx="10417759"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PRUEBA DE INTEGRACIÓN · DEFINICIÓN QUE SE USARÁ TODA LA SESIÓN</a:t>
            </a:r>
            <a:endParaRPr lang="en-US" sz="920" dirty="0"/>
          </a:p>
        </p:txBody>
      </p:sp>
      <p:sp>
        <p:nvSpPr>
          <p:cNvPr id="28" name="Text 25"/>
          <p:cNvSpPr txBox="1"/>
          <p:nvPr/>
        </p:nvSpPr>
        <p:spPr>
          <a:xfrm>
            <a:off x="896112" y="5084064"/>
            <a:ext cx="10417759" cy="347472"/>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Ejecuta la colaboración real entre dos o más piezas —sin reemplazar por un sustituto aquello que quiere observar— y afirma algo sobre su resultado.</a:t>
            </a:r>
            <a:endParaRPr lang="en-US" sz="1210" dirty="0"/>
          </a:p>
        </p:txBody>
      </p:sp>
      <p:sp>
        <p:nvSpPr>
          <p:cNvPr id="29" name="Shape 26"/>
          <p:cNvSpPr/>
          <p:nvPr/>
        </p:nvSpPr>
        <p:spPr>
          <a:xfrm>
            <a:off x="658368" y="5705856"/>
            <a:ext cx="45720" cy="182880"/>
          </a:xfrm>
          <a:prstGeom prst="rect">
            <a:avLst/>
          </a:prstGeom>
          <a:solidFill>
            <a:srgbClr val="8A6A12"/>
          </a:solidFill>
          <a:ln w="12700">
            <a:solidFill>
              <a:srgbClr val="8A6A12"/>
            </a:solidFill>
            <a:prstDash val="solid"/>
          </a:ln>
        </p:spPr>
      </p:sp>
      <p:sp>
        <p:nvSpPr>
          <p:cNvPr id="30" name="Text 27"/>
          <p:cNvSpPr txBox="1"/>
          <p:nvPr/>
        </p:nvSpPr>
        <p:spPr>
          <a:xfrm>
            <a:off x="804672" y="5696712"/>
            <a:ext cx="969264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ISTQB · Certified Tester Foundation Level Syllabus v4.0.1 (15/09/2024) · sección 2.2.1 Test Levels</a:t>
            </a:r>
            <a:endParaRPr lang="en-US" sz="8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EL RECORRIDO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FFFFFF"/>
                </a:solidFill>
                <a:latin typeface="Aptos Display" pitchFamily="34" charset="0"/>
                <a:ea typeface="Aptos Display" pitchFamily="34" charset="-122"/>
                <a:cs typeface="Aptos Display" pitchFamily="34" charset="-120"/>
              </a:rPr>
              <a:t>Cuatro bloques, cuatro decisiones</a:t>
            </a:r>
            <a:endParaRPr lang="en-US" sz="3000" dirty="0"/>
          </a:p>
        </p:txBody>
      </p:sp>
      <p:sp>
        <p:nvSpPr>
          <p:cNvPr id="10" name="Text 7"/>
          <p:cNvSpPr txBox="1"/>
          <p:nvPr/>
        </p:nvSpPr>
        <p:spPr>
          <a:xfrm>
            <a:off x="658368" y="1664208"/>
            <a:ext cx="10241280" cy="365760"/>
          </a:xfrm>
          <a:prstGeom prst="rect">
            <a:avLst/>
          </a:prstGeom>
          <a:noFill/>
          <a:ln/>
        </p:spPr>
        <p:txBody>
          <a:bodyPr wrap="square" lIns="0" tIns="0" rIns="0" bIns="0" rtlCol="0" anchor="t"/>
          <a:lstStyle/>
          <a:p>
            <a:pPr algn="l" indent="0" marL="0">
              <a:lnSpc>
                <a:spcPct val="114000"/>
              </a:lnSpc>
              <a:buNone/>
            </a:pPr>
            <a:r>
              <a:rPr lang="en-US" sz="1420" dirty="0">
                <a:solidFill>
                  <a:srgbClr val="E6EEF7"/>
                </a:solidFill>
                <a:latin typeface="Aptos" pitchFamily="34" charset="0"/>
                <a:ea typeface="Aptos" pitchFamily="34" charset="-122"/>
                <a:cs typeface="Aptos" pitchFamily="34" charset="-120"/>
              </a:rPr>
              <a:t>Cada bloque resuelve un problema que el anterior deja abierto al dejar de sustituir una pieza más.</a:t>
            </a:r>
            <a:endParaRPr lang="en-US" sz="1420" dirty="0"/>
          </a:p>
        </p:txBody>
      </p:sp>
      <p:sp>
        <p:nvSpPr>
          <p:cNvPr id="11" name="Shape 8"/>
          <p:cNvSpPr/>
          <p:nvPr/>
        </p:nvSpPr>
        <p:spPr>
          <a:xfrm>
            <a:off x="658368" y="2267712"/>
            <a:ext cx="10874959" cy="585216"/>
          </a:xfrm>
          <a:prstGeom prst="rect">
            <a:avLst/>
          </a:prstGeom>
          <a:solidFill>
            <a:srgbClr val="1D3A57"/>
          </a:solidFill>
          <a:ln w="12700">
            <a:solidFill>
              <a:srgbClr val="1D3A57"/>
            </a:solidFill>
            <a:prstDash val="solid"/>
          </a:ln>
        </p:spPr>
      </p:sp>
      <p:sp>
        <p:nvSpPr>
          <p:cNvPr id="12" name="Shape 9"/>
          <p:cNvSpPr/>
          <p:nvPr/>
        </p:nvSpPr>
        <p:spPr>
          <a:xfrm>
            <a:off x="658368" y="2267712"/>
            <a:ext cx="54864" cy="585216"/>
          </a:xfrm>
          <a:prstGeom prst="rect">
            <a:avLst/>
          </a:prstGeom>
          <a:solidFill>
            <a:srgbClr val="D62027"/>
          </a:solidFill>
          <a:ln w="12700">
            <a:solidFill>
              <a:srgbClr val="D62027"/>
            </a:solidFill>
            <a:prstDash val="solid"/>
          </a:ln>
        </p:spPr>
      </p:sp>
      <p:sp>
        <p:nvSpPr>
          <p:cNvPr id="13" name="Text 10"/>
          <p:cNvSpPr txBox="1"/>
          <p:nvPr/>
        </p:nvSpPr>
        <p:spPr>
          <a:xfrm>
            <a:off x="914400" y="2359152"/>
            <a:ext cx="384048" cy="384048"/>
          </a:xfrm>
          <a:prstGeom prst="rect">
            <a:avLst/>
          </a:prstGeom>
          <a:noFill/>
          <a:ln/>
        </p:spPr>
        <p:txBody>
          <a:bodyPr wrap="square" lIns="0" tIns="0" rIns="0" bIns="0" rtlCol="0" anchor="ctr"/>
          <a:lstStyle/>
          <a:p>
            <a:pPr algn="ctr" indent="0" marL="0">
              <a:buNone/>
            </a:pPr>
            <a:r>
              <a:rPr lang="en-US" sz="2300" b="1" dirty="0">
                <a:solidFill>
                  <a:srgbClr val="D62027"/>
                </a:solidFill>
                <a:latin typeface="Aptos Display" pitchFamily="34" charset="0"/>
                <a:ea typeface="Aptos Display" pitchFamily="34" charset="-122"/>
                <a:cs typeface="Aptos Display" pitchFamily="34" charset="-120"/>
              </a:rPr>
              <a:t>1</a:t>
            </a:r>
            <a:endParaRPr lang="en-US" sz="2300" dirty="0"/>
          </a:p>
        </p:txBody>
      </p:sp>
      <p:sp>
        <p:nvSpPr>
          <p:cNvPr id="14" name="Text 11"/>
          <p:cNvSpPr txBox="1"/>
          <p:nvPr/>
        </p:nvSpPr>
        <p:spPr>
          <a:xfrm>
            <a:off x="1481328" y="2441448"/>
            <a:ext cx="731520" cy="219456"/>
          </a:xfrm>
          <a:prstGeom prst="rect">
            <a:avLst/>
          </a:prstGeom>
          <a:noFill/>
          <a:ln/>
        </p:spPr>
        <p:txBody>
          <a:bodyPr wrap="square" lIns="0" tIns="0" rIns="0" bIns="0" rtlCol="0" anchor="t"/>
          <a:lstStyle/>
          <a:p>
            <a:pPr algn="l" indent="0" marL="0">
              <a:buNone/>
            </a:pPr>
            <a:r>
              <a:rPr lang="en-US" sz="1120" b="1" dirty="0">
                <a:solidFill>
                  <a:srgbClr val="EADFD0"/>
                </a:solidFill>
                <a:latin typeface="Aptos" pitchFamily="34" charset="0"/>
                <a:ea typeface="Aptos" pitchFamily="34" charset="-122"/>
                <a:cs typeface="Aptos" pitchFamily="34" charset="-120"/>
              </a:rPr>
              <a:t>11:10</a:t>
            </a:r>
            <a:endParaRPr lang="en-US" sz="1120" dirty="0"/>
          </a:p>
        </p:txBody>
      </p:sp>
      <p:sp>
        <p:nvSpPr>
          <p:cNvPr id="15" name="Text 12"/>
          <p:cNvSpPr txBox="1"/>
          <p:nvPr/>
        </p:nvSpPr>
        <p:spPr>
          <a:xfrm>
            <a:off x="2377440" y="2432304"/>
            <a:ext cx="3200400" cy="256032"/>
          </a:xfrm>
          <a:prstGeom prst="rect">
            <a:avLst/>
          </a:prstGeom>
          <a:noFill/>
          <a:ln/>
        </p:spPr>
        <p:txBody>
          <a:bodyPr wrap="square" lIns="0" tIns="0" rIns="0" bIns="0" rtlCol="0" anchor="t"/>
          <a:lstStyle/>
          <a:p>
            <a:pPr algn="l" indent="0" marL="0">
              <a:buNone/>
            </a:pPr>
            <a:r>
              <a:rPr lang="en-US" sz="1320" b="1" dirty="0">
                <a:solidFill>
                  <a:srgbClr val="FFFFFF"/>
                </a:solidFill>
                <a:latin typeface="Aptos" pitchFamily="34" charset="0"/>
                <a:ea typeface="Aptos" pitchFamily="34" charset="-122"/>
                <a:cs typeface="Aptos" pitchFamily="34" charset="-120"/>
              </a:rPr>
              <a:t>Lo que se rompe al juntar</a:t>
            </a:r>
            <a:endParaRPr lang="en-US" sz="1320" dirty="0"/>
          </a:p>
        </p:txBody>
      </p:sp>
      <p:sp>
        <p:nvSpPr>
          <p:cNvPr id="16" name="Text 13"/>
          <p:cNvSpPr txBox="1"/>
          <p:nvPr/>
        </p:nvSpPr>
        <p:spPr>
          <a:xfrm>
            <a:off x="5705856" y="2359152"/>
            <a:ext cx="5486400" cy="384048"/>
          </a:xfrm>
          <a:prstGeom prst="rect">
            <a:avLst/>
          </a:prstGeom>
          <a:noFill/>
          <a:ln/>
        </p:spPr>
        <p:txBody>
          <a:bodyPr wrap="square" lIns="0" tIns="0" rIns="0" bIns="0" rtlCol="0" anchor="ctr"/>
          <a:lstStyle/>
          <a:p>
            <a:pPr algn="l" indent="0" marL="0">
              <a:lnSpc>
                <a:spcPct val="110000"/>
              </a:lnSpc>
              <a:buNone/>
            </a:pPr>
            <a:r>
              <a:rPr lang="en-US" sz="1100" dirty="0">
                <a:solidFill>
                  <a:srgbClr val="E6EEF7"/>
                </a:solidFill>
                <a:latin typeface="Aptos" pitchFamily="34" charset="0"/>
                <a:ea typeface="Aptos" pitchFamily="34" charset="-122"/>
                <a:cs typeface="Aptos" pitchFamily="34" charset="-120"/>
              </a:rPr>
              <a:t>Una función verificada falla igual cuando la alcanza una solicitud HTTP</a:t>
            </a:r>
            <a:endParaRPr lang="en-US" sz="1100" dirty="0"/>
          </a:p>
        </p:txBody>
      </p:sp>
      <p:sp>
        <p:nvSpPr>
          <p:cNvPr id="17" name="Shape 14"/>
          <p:cNvSpPr/>
          <p:nvPr/>
        </p:nvSpPr>
        <p:spPr>
          <a:xfrm>
            <a:off x="658368" y="2944368"/>
            <a:ext cx="10874959" cy="585216"/>
          </a:xfrm>
          <a:prstGeom prst="rect">
            <a:avLst/>
          </a:prstGeom>
          <a:solidFill>
            <a:srgbClr val="102A43"/>
          </a:solidFill>
          <a:ln w="12700">
            <a:solidFill>
              <a:srgbClr val="102A43"/>
            </a:solidFill>
            <a:prstDash val="solid"/>
          </a:ln>
        </p:spPr>
      </p:sp>
      <p:sp>
        <p:nvSpPr>
          <p:cNvPr id="18" name="Shape 15"/>
          <p:cNvSpPr/>
          <p:nvPr/>
        </p:nvSpPr>
        <p:spPr>
          <a:xfrm>
            <a:off x="658368" y="2944368"/>
            <a:ext cx="54864" cy="585216"/>
          </a:xfrm>
          <a:prstGeom prst="rect">
            <a:avLst/>
          </a:prstGeom>
          <a:solidFill>
            <a:srgbClr val="E0BC5A"/>
          </a:solidFill>
          <a:ln w="12700">
            <a:solidFill>
              <a:srgbClr val="E0BC5A"/>
            </a:solidFill>
            <a:prstDash val="solid"/>
          </a:ln>
        </p:spPr>
      </p:sp>
      <p:sp>
        <p:nvSpPr>
          <p:cNvPr id="19" name="Text 16"/>
          <p:cNvSpPr txBox="1"/>
          <p:nvPr/>
        </p:nvSpPr>
        <p:spPr>
          <a:xfrm>
            <a:off x="914400" y="3035808"/>
            <a:ext cx="384048" cy="384048"/>
          </a:xfrm>
          <a:prstGeom prst="rect">
            <a:avLst/>
          </a:prstGeom>
          <a:noFill/>
          <a:ln/>
        </p:spPr>
        <p:txBody>
          <a:bodyPr wrap="square" lIns="0" tIns="0" rIns="0" bIns="0" rtlCol="0" anchor="ctr"/>
          <a:lstStyle/>
          <a:p>
            <a:pPr algn="ctr" indent="0" marL="0">
              <a:buNone/>
            </a:pPr>
            <a:r>
              <a:rPr lang="en-US" sz="2300" b="1" dirty="0">
                <a:solidFill>
                  <a:srgbClr val="E0BC5A"/>
                </a:solidFill>
                <a:latin typeface="Aptos Display" pitchFamily="34" charset="0"/>
                <a:ea typeface="Aptos Display" pitchFamily="34" charset="-122"/>
                <a:cs typeface="Aptos Display" pitchFamily="34" charset="-120"/>
              </a:rPr>
              <a:t>2</a:t>
            </a:r>
            <a:endParaRPr lang="en-US" sz="2300" dirty="0"/>
          </a:p>
        </p:txBody>
      </p:sp>
      <p:sp>
        <p:nvSpPr>
          <p:cNvPr id="20" name="Text 17"/>
          <p:cNvSpPr txBox="1"/>
          <p:nvPr/>
        </p:nvSpPr>
        <p:spPr>
          <a:xfrm>
            <a:off x="1481328" y="3118104"/>
            <a:ext cx="731520" cy="219456"/>
          </a:xfrm>
          <a:prstGeom prst="rect">
            <a:avLst/>
          </a:prstGeom>
          <a:noFill/>
          <a:ln/>
        </p:spPr>
        <p:txBody>
          <a:bodyPr wrap="square" lIns="0" tIns="0" rIns="0" bIns="0" rtlCol="0" anchor="t"/>
          <a:lstStyle/>
          <a:p>
            <a:pPr algn="l" indent="0" marL="0">
              <a:buNone/>
            </a:pPr>
            <a:r>
              <a:rPr lang="en-US" sz="1120" b="1" dirty="0">
                <a:solidFill>
                  <a:srgbClr val="EADFD0"/>
                </a:solidFill>
                <a:latin typeface="Aptos" pitchFamily="34" charset="0"/>
                <a:ea typeface="Aptos" pitchFamily="34" charset="-122"/>
                <a:cs typeface="Aptos" pitchFamily="34" charset="-120"/>
              </a:rPr>
              <a:t>11:40</a:t>
            </a:r>
            <a:endParaRPr lang="en-US" sz="1120" dirty="0"/>
          </a:p>
        </p:txBody>
      </p:sp>
      <p:sp>
        <p:nvSpPr>
          <p:cNvPr id="21" name="Text 18"/>
          <p:cNvSpPr txBox="1"/>
          <p:nvPr/>
        </p:nvSpPr>
        <p:spPr>
          <a:xfrm>
            <a:off x="2377440" y="3108960"/>
            <a:ext cx="3200400" cy="256032"/>
          </a:xfrm>
          <a:prstGeom prst="rect">
            <a:avLst/>
          </a:prstGeom>
          <a:noFill/>
          <a:ln/>
        </p:spPr>
        <p:txBody>
          <a:bodyPr wrap="square" lIns="0" tIns="0" rIns="0" bIns="0" rtlCol="0" anchor="t"/>
          <a:lstStyle/>
          <a:p>
            <a:pPr algn="l" indent="0" marL="0">
              <a:buNone/>
            </a:pPr>
            <a:r>
              <a:rPr lang="en-US" sz="1320" b="1" dirty="0">
                <a:solidFill>
                  <a:srgbClr val="FFFFFF"/>
                </a:solidFill>
                <a:latin typeface="Aptos" pitchFamily="34" charset="0"/>
                <a:ea typeface="Aptos" pitchFamily="34" charset="-122"/>
                <a:cs typeface="Aptos" pitchFamily="34" charset="-120"/>
              </a:rPr>
              <a:t>Quién prepara el mundo</a:t>
            </a:r>
            <a:endParaRPr lang="en-US" sz="1320" dirty="0"/>
          </a:p>
        </p:txBody>
      </p:sp>
      <p:sp>
        <p:nvSpPr>
          <p:cNvPr id="22" name="Text 19"/>
          <p:cNvSpPr txBox="1"/>
          <p:nvPr/>
        </p:nvSpPr>
        <p:spPr>
          <a:xfrm>
            <a:off x="5705856" y="3035808"/>
            <a:ext cx="5486400" cy="384048"/>
          </a:xfrm>
          <a:prstGeom prst="rect">
            <a:avLst/>
          </a:prstGeom>
          <a:noFill/>
          <a:ln/>
        </p:spPr>
        <p:txBody>
          <a:bodyPr wrap="square" lIns="0" tIns="0" rIns="0" bIns="0" rtlCol="0" anchor="ctr"/>
          <a:lstStyle/>
          <a:p>
            <a:pPr algn="l" indent="0" marL="0">
              <a:lnSpc>
                <a:spcPct val="110000"/>
              </a:lnSpc>
              <a:buNone/>
            </a:pPr>
            <a:r>
              <a:rPr lang="en-US" sz="1100" dirty="0">
                <a:solidFill>
                  <a:srgbClr val="E6EEF7"/>
                </a:solidFill>
                <a:latin typeface="Aptos" pitchFamily="34" charset="0"/>
                <a:ea typeface="Aptos" pitchFamily="34" charset="-122"/>
                <a:cs typeface="Aptos" pitchFamily="34" charset="-120"/>
              </a:rPr>
              <a:t>Tres pruebas, tres órdenes de ejecución, tres resultados distintos</a:t>
            </a:r>
            <a:endParaRPr lang="en-US" sz="1100" dirty="0"/>
          </a:p>
        </p:txBody>
      </p:sp>
      <p:sp>
        <p:nvSpPr>
          <p:cNvPr id="23" name="Shape 20"/>
          <p:cNvSpPr/>
          <p:nvPr/>
        </p:nvSpPr>
        <p:spPr>
          <a:xfrm>
            <a:off x="658368" y="3621024"/>
            <a:ext cx="10874959" cy="585216"/>
          </a:xfrm>
          <a:prstGeom prst="rect">
            <a:avLst/>
          </a:prstGeom>
          <a:solidFill>
            <a:srgbClr val="1D3A57"/>
          </a:solidFill>
          <a:ln w="12700">
            <a:solidFill>
              <a:srgbClr val="1D3A57"/>
            </a:solidFill>
            <a:prstDash val="solid"/>
          </a:ln>
        </p:spPr>
      </p:sp>
      <p:sp>
        <p:nvSpPr>
          <p:cNvPr id="24" name="Shape 21"/>
          <p:cNvSpPr/>
          <p:nvPr/>
        </p:nvSpPr>
        <p:spPr>
          <a:xfrm>
            <a:off x="658368" y="3621024"/>
            <a:ext cx="54864" cy="585216"/>
          </a:xfrm>
          <a:prstGeom prst="rect">
            <a:avLst/>
          </a:prstGeom>
          <a:solidFill>
            <a:srgbClr val="E0BC5A"/>
          </a:solidFill>
          <a:ln w="12700">
            <a:solidFill>
              <a:srgbClr val="E0BC5A"/>
            </a:solidFill>
            <a:prstDash val="solid"/>
          </a:ln>
        </p:spPr>
      </p:sp>
      <p:sp>
        <p:nvSpPr>
          <p:cNvPr id="25" name="Text 22"/>
          <p:cNvSpPr txBox="1"/>
          <p:nvPr/>
        </p:nvSpPr>
        <p:spPr>
          <a:xfrm>
            <a:off x="914400" y="3712464"/>
            <a:ext cx="384048" cy="384048"/>
          </a:xfrm>
          <a:prstGeom prst="rect">
            <a:avLst/>
          </a:prstGeom>
          <a:noFill/>
          <a:ln/>
        </p:spPr>
        <p:txBody>
          <a:bodyPr wrap="square" lIns="0" tIns="0" rIns="0" bIns="0" rtlCol="0" anchor="ctr"/>
          <a:lstStyle/>
          <a:p>
            <a:pPr algn="ctr" indent="0" marL="0">
              <a:buNone/>
            </a:pPr>
            <a:r>
              <a:rPr lang="en-US" sz="2300" b="1" dirty="0">
                <a:solidFill>
                  <a:srgbClr val="E0BC5A"/>
                </a:solidFill>
                <a:latin typeface="Aptos Display" pitchFamily="34" charset="0"/>
                <a:ea typeface="Aptos Display" pitchFamily="34" charset="-122"/>
                <a:cs typeface="Aptos Display" pitchFamily="34" charset="-120"/>
              </a:rPr>
              <a:t>3</a:t>
            </a:r>
            <a:endParaRPr lang="en-US" sz="2300" dirty="0"/>
          </a:p>
        </p:txBody>
      </p:sp>
      <p:sp>
        <p:nvSpPr>
          <p:cNvPr id="26" name="Text 23"/>
          <p:cNvSpPr txBox="1"/>
          <p:nvPr/>
        </p:nvSpPr>
        <p:spPr>
          <a:xfrm>
            <a:off x="1481328" y="3794760"/>
            <a:ext cx="731520" cy="219456"/>
          </a:xfrm>
          <a:prstGeom prst="rect">
            <a:avLst/>
          </a:prstGeom>
          <a:noFill/>
          <a:ln/>
        </p:spPr>
        <p:txBody>
          <a:bodyPr wrap="square" lIns="0" tIns="0" rIns="0" bIns="0" rtlCol="0" anchor="t"/>
          <a:lstStyle/>
          <a:p>
            <a:pPr algn="l" indent="0" marL="0">
              <a:buNone/>
            </a:pPr>
            <a:r>
              <a:rPr lang="en-US" sz="1120" b="1" dirty="0">
                <a:solidFill>
                  <a:srgbClr val="EADFD0"/>
                </a:solidFill>
                <a:latin typeface="Aptos" pitchFamily="34" charset="0"/>
                <a:ea typeface="Aptos" pitchFamily="34" charset="-122"/>
                <a:cs typeface="Aptos" pitchFamily="34" charset="-120"/>
              </a:rPr>
              <a:t>12:15</a:t>
            </a:r>
            <a:endParaRPr lang="en-US" sz="1120" dirty="0"/>
          </a:p>
        </p:txBody>
      </p:sp>
      <p:sp>
        <p:nvSpPr>
          <p:cNvPr id="27" name="Text 24"/>
          <p:cNvSpPr txBox="1"/>
          <p:nvPr/>
        </p:nvSpPr>
        <p:spPr>
          <a:xfrm>
            <a:off x="2377440" y="3785616"/>
            <a:ext cx="3200400" cy="256032"/>
          </a:xfrm>
          <a:prstGeom prst="rect">
            <a:avLst/>
          </a:prstGeom>
          <a:noFill/>
          <a:ln/>
        </p:spPr>
        <p:txBody>
          <a:bodyPr wrap="square" lIns="0" tIns="0" rIns="0" bIns="0" rtlCol="0" anchor="t"/>
          <a:lstStyle/>
          <a:p>
            <a:pPr algn="l" indent="0" marL="0">
              <a:buNone/>
            </a:pPr>
            <a:r>
              <a:rPr lang="en-US" sz="1320" b="1" dirty="0">
                <a:solidFill>
                  <a:srgbClr val="FFFFFF"/>
                </a:solidFill>
                <a:latin typeface="Aptos" pitchFamily="34" charset="0"/>
                <a:ea typeface="Aptos" pitchFamily="34" charset="-122"/>
                <a:cs typeface="Aptos" pitchFamily="34" charset="-120"/>
              </a:rPr>
              <a:t>Qué datos pueden existir</a:t>
            </a:r>
            <a:endParaRPr lang="en-US" sz="1320" dirty="0"/>
          </a:p>
        </p:txBody>
      </p:sp>
      <p:sp>
        <p:nvSpPr>
          <p:cNvPr id="28" name="Text 25"/>
          <p:cNvSpPr txBox="1"/>
          <p:nvPr/>
        </p:nvSpPr>
        <p:spPr>
          <a:xfrm>
            <a:off x="5705856" y="3712464"/>
            <a:ext cx="5486400" cy="384048"/>
          </a:xfrm>
          <a:prstGeom prst="rect">
            <a:avLst/>
          </a:prstGeom>
          <a:noFill/>
          <a:ln/>
        </p:spPr>
        <p:txBody>
          <a:bodyPr wrap="square" lIns="0" tIns="0" rIns="0" bIns="0" rtlCol="0" anchor="ctr"/>
          <a:lstStyle/>
          <a:p>
            <a:pPr algn="l" indent="0" marL="0">
              <a:lnSpc>
                <a:spcPct val="110000"/>
              </a:lnSpc>
              <a:buNone/>
            </a:pPr>
            <a:r>
              <a:rPr lang="en-US" sz="1100" dirty="0">
                <a:solidFill>
                  <a:srgbClr val="E6EEF7"/>
                </a:solidFill>
                <a:latin typeface="Aptos" pitchFamily="34" charset="0"/>
                <a:ea typeface="Aptos" pitchFamily="34" charset="-122"/>
                <a:cs typeface="Aptos" pitchFamily="34" charset="-120"/>
              </a:rPr>
              <a:t>Proporcionalidad aplicada a la fixture y borrado que se comprueba</a:t>
            </a:r>
            <a:endParaRPr lang="en-US" sz="1100" dirty="0"/>
          </a:p>
        </p:txBody>
      </p:sp>
      <p:sp>
        <p:nvSpPr>
          <p:cNvPr id="29" name="Shape 26"/>
          <p:cNvSpPr/>
          <p:nvPr/>
        </p:nvSpPr>
        <p:spPr>
          <a:xfrm>
            <a:off x="658368" y="4297680"/>
            <a:ext cx="10874959" cy="585216"/>
          </a:xfrm>
          <a:prstGeom prst="rect">
            <a:avLst/>
          </a:prstGeom>
          <a:solidFill>
            <a:srgbClr val="102A43"/>
          </a:solidFill>
          <a:ln w="12700">
            <a:solidFill>
              <a:srgbClr val="102A43"/>
            </a:solidFill>
            <a:prstDash val="solid"/>
          </a:ln>
        </p:spPr>
      </p:sp>
      <p:sp>
        <p:nvSpPr>
          <p:cNvPr id="30" name="Shape 27"/>
          <p:cNvSpPr/>
          <p:nvPr/>
        </p:nvSpPr>
        <p:spPr>
          <a:xfrm>
            <a:off x="658368" y="4297680"/>
            <a:ext cx="54864" cy="585216"/>
          </a:xfrm>
          <a:prstGeom prst="rect">
            <a:avLst/>
          </a:prstGeom>
          <a:solidFill>
            <a:srgbClr val="E0BC5A"/>
          </a:solidFill>
          <a:ln w="12700">
            <a:solidFill>
              <a:srgbClr val="E0BC5A"/>
            </a:solidFill>
            <a:prstDash val="solid"/>
          </a:ln>
        </p:spPr>
      </p:sp>
      <p:sp>
        <p:nvSpPr>
          <p:cNvPr id="31" name="Text 28"/>
          <p:cNvSpPr txBox="1"/>
          <p:nvPr/>
        </p:nvSpPr>
        <p:spPr>
          <a:xfrm>
            <a:off x="914400" y="4389120"/>
            <a:ext cx="384048" cy="384048"/>
          </a:xfrm>
          <a:prstGeom prst="rect">
            <a:avLst/>
          </a:prstGeom>
          <a:noFill/>
          <a:ln/>
        </p:spPr>
        <p:txBody>
          <a:bodyPr wrap="square" lIns="0" tIns="0" rIns="0" bIns="0" rtlCol="0" anchor="ctr"/>
          <a:lstStyle/>
          <a:p>
            <a:pPr algn="ctr" indent="0" marL="0">
              <a:buNone/>
            </a:pPr>
            <a:r>
              <a:rPr lang="en-US" sz="2300" b="1" dirty="0">
                <a:solidFill>
                  <a:srgbClr val="E0BC5A"/>
                </a:solidFill>
                <a:latin typeface="Aptos Display" pitchFamily="34" charset="0"/>
                <a:ea typeface="Aptos Display" pitchFamily="34" charset="-122"/>
                <a:cs typeface="Aptos Display" pitchFamily="34" charset="-120"/>
              </a:rPr>
              <a:t>4</a:t>
            </a:r>
            <a:endParaRPr lang="en-US" sz="2300" dirty="0"/>
          </a:p>
        </p:txBody>
      </p:sp>
      <p:sp>
        <p:nvSpPr>
          <p:cNvPr id="32" name="Text 29"/>
          <p:cNvSpPr txBox="1"/>
          <p:nvPr/>
        </p:nvSpPr>
        <p:spPr>
          <a:xfrm>
            <a:off x="1481328" y="4471416"/>
            <a:ext cx="731520" cy="219456"/>
          </a:xfrm>
          <a:prstGeom prst="rect">
            <a:avLst/>
          </a:prstGeom>
          <a:noFill/>
          <a:ln/>
        </p:spPr>
        <p:txBody>
          <a:bodyPr wrap="square" lIns="0" tIns="0" rIns="0" bIns="0" rtlCol="0" anchor="t"/>
          <a:lstStyle/>
          <a:p>
            <a:pPr algn="l" indent="0" marL="0">
              <a:buNone/>
            </a:pPr>
            <a:r>
              <a:rPr lang="en-US" sz="1120" b="1" dirty="0">
                <a:solidFill>
                  <a:srgbClr val="EADFD0"/>
                </a:solidFill>
                <a:latin typeface="Aptos" pitchFamily="34" charset="0"/>
                <a:ea typeface="Aptos" pitchFamily="34" charset="-122"/>
                <a:cs typeface="Aptos" pitchFamily="34" charset="-120"/>
              </a:rPr>
              <a:t>12:45</a:t>
            </a:r>
            <a:endParaRPr lang="en-US" sz="1120" dirty="0"/>
          </a:p>
        </p:txBody>
      </p:sp>
      <p:sp>
        <p:nvSpPr>
          <p:cNvPr id="33" name="Text 30"/>
          <p:cNvSpPr txBox="1"/>
          <p:nvPr/>
        </p:nvSpPr>
        <p:spPr>
          <a:xfrm>
            <a:off x="2377440" y="4462272"/>
            <a:ext cx="3200400" cy="256032"/>
          </a:xfrm>
          <a:prstGeom prst="rect">
            <a:avLst/>
          </a:prstGeom>
          <a:noFill/>
          <a:ln/>
        </p:spPr>
        <p:txBody>
          <a:bodyPr wrap="square" lIns="0" tIns="0" rIns="0" bIns="0" rtlCol="0" anchor="t"/>
          <a:lstStyle/>
          <a:p>
            <a:pPr algn="l" indent="0" marL="0">
              <a:buNone/>
            </a:pPr>
            <a:r>
              <a:rPr lang="en-US" sz="1320" b="1" dirty="0">
                <a:solidFill>
                  <a:srgbClr val="FFFFFF"/>
                </a:solidFill>
                <a:latin typeface="Aptos" pitchFamily="34" charset="0"/>
                <a:ea typeface="Aptos" pitchFamily="34" charset="-122"/>
                <a:cs typeface="Aptos" pitchFamily="34" charset="-120"/>
              </a:rPr>
              <a:t>Dónde el doble deja de valer</a:t>
            </a:r>
            <a:endParaRPr lang="en-US" sz="1320" dirty="0"/>
          </a:p>
        </p:txBody>
      </p:sp>
      <p:sp>
        <p:nvSpPr>
          <p:cNvPr id="34" name="Text 31"/>
          <p:cNvSpPr txBox="1"/>
          <p:nvPr/>
        </p:nvSpPr>
        <p:spPr>
          <a:xfrm>
            <a:off x="5705856" y="4389120"/>
            <a:ext cx="5486400" cy="384048"/>
          </a:xfrm>
          <a:prstGeom prst="rect">
            <a:avLst/>
          </a:prstGeom>
          <a:noFill/>
          <a:ln/>
        </p:spPr>
        <p:txBody>
          <a:bodyPr wrap="square" lIns="0" tIns="0" rIns="0" bIns="0" rtlCol="0" anchor="ctr"/>
          <a:lstStyle/>
          <a:p>
            <a:pPr algn="l" indent="0" marL="0">
              <a:lnSpc>
                <a:spcPct val="110000"/>
              </a:lnSpc>
              <a:buNone/>
            </a:pPr>
            <a:r>
              <a:rPr lang="en-US" sz="1100" dirty="0">
                <a:solidFill>
                  <a:srgbClr val="E6EEF7"/>
                </a:solidFill>
                <a:latin typeface="Aptos" pitchFamily="34" charset="0"/>
                <a:ea typeface="Aptos" pitchFamily="34" charset="-122"/>
                <a:cs typeface="Aptos" pitchFamily="34" charset="-120"/>
              </a:rPr>
              <a:t>El mismo defecto: rojo con la base real, verde con la base sustituida</a:t>
            </a:r>
            <a:endParaRPr lang="en-US" sz="1100" dirty="0"/>
          </a:p>
        </p:txBody>
      </p:sp>
      <p:sp>
        <p:nvSpPr>
          <p:cNvPr id="35" name="Shape 32"/>
          <p:cNvSpPr/>
          <p:nvPr/>
        </p:nvSpPr>
        <p:spPr>
          <a:xfrm>
            <a:off x="658368" y="5029200"/>
            <a:ext cx="10874959" cy="457200"/>
          </a:xfrm>
          <a:prstGeom prst="rect">
            <a:avLst/>
          </a:prstGeom>
          <a:solidFill>
            <a:srgbClr val="1D3A57"/>
          </a:solidFill>
          <a:ln w="12700">
            <a:solidFill>
              <a:srgbClr val="1D3A57"/>
            </a:solidFill>
            <a:prstDash val="solid"/>
          </a:ln>
        </p:spPr>
      </p:sp>
      <p:sp>
        <p:nvSpPr>
          <p:cNvPr id="36" name="Text 33"/>
          <p:cNvSpPr txBox="1"/>
          <p:nvPr/>
        </p:nvSpPr>
        <p:spPr>
          <a:xfrm>
            <a:off x="914400" y="5129784"/>
            <a:ext cx="10362895" cy="256032"/>
          </a:xfrm>
          <a:prstGeom prst="rect">
            <a:avLst/>
          </a:prstGeom>
          <a:noFill/>
          <a:ln/>
        </p:spPr>
        <p:txBody>
          <a:bodyPr wrap="square" lIns="0" tIns="0" rIns="0" bIns="0" rtlCol="0" anchor="t"/>
          <a:lstStyle/>
          <a:p>
            <a:pPr algn="ctr" indent="0" marL="0">
              <a:buNone/>
            </a:pPr>
            <a:r>
              <a:rPr lang="en-US" sz="1200" b="1" dirty="0">
                <a:solidFill>
                  <a:srgbClr val="E0BC5A"/>
                </a:solidFill>
                <a:latin typeface="Aptos" pitchFamily="34" charset="0"/>
                <a:ea typeface="Aptos" pitchFamily="34" charset="-122"/>
                <a:cs typeface="Aptos" pitchFamily="34" charset="-120"/>
              </a:rPr>
              <a:t>Pausa: 12:05 – 12:15 · Cierre: 13:05 – 13:15 · Corte de la Evaluación Parcial 2: viernes 25 de septiembre</a:t>
            </a:r>
            <a:endParaRPr lang="en-US" sz="1200" dirty="0"/>
          </a:p>
        </p:txBody>
      </p:sp>
      <p:sp>
        <p:nvSpPr>
          <p:cNvPr id="37" name="Shape 34"/>
          <p:cNvSpPr/>
          <p:nvPr/>
        </p:nvSpPr>
        <p:spPr>
          <a:xfrm>
            <a:off x="658368" y="5522976"/>
            <a:ext cx="2622728" cy="786384"/>
          </a:xfrm>
          <a:prstGeom prst="rect">
            <a:avLst/>
          </a:prstGeom>
          <a:solidFill>
            <a:srgbClr val="1D3A57"/>
          </a:solidFill>
          <a:ln w="12700">
            <a:solidFill>
              <a:srgbClr val="1D3A57"/>
            </a:solidFill>
            <a:prstDash val="solid"/>
          </a:ln>
        </p:spPr>
      </p:sp>
      <p:sp>
        <p:nvSpPr>
          <p:cNvPr id="38" name="Text 35"/>
          <p:cNvSpPr txBox="1"/>
          <p:nvPr/>
        </p:nvSpPr>
        <p:spPr>
          <a:xfrm>
            <a:off x="841248" y="5623560"/>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39" name="Text 36"/>
          <p:cNvSpPr txBox="1"/>
          <p:nvPr/>
        </p:nvSpPr>
        <p:spPr>
          <a:xfrm>
            <a:off x="841248" y="5806440"/>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CONECTAR</a:t>
            </a:r>
            <a:endParaRPr lang="en-US" sz="1160" dirty="0"/>
          </a:p>
        </p:txBody>
      </p:sp>
      <p:sp>
        <p:nvSpPr>
          <p:cNvPr id="40" name="Text 37"/>
          <p:cNvSpPr txBox="1"/>
          <p:nvPr/>
        </p:nvSpPr>
        <p:spPr>
          <a:xfrm>
            <a:off x="841248" y="6044184"/>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Dejar de sustituir lo que se quiere observar</a:t>
            </a:r>
            <a:endParaRPr lang="en-US" sz="920" dirty="0"/>
          </a:p>
        </p:txBody>
      </p:sp>
      <p:sp>
        <p:nvSpPr>
          <p:cNvPr id="41" name="Shape 38"/>
          <p:cNvSpPr/>
          <p:nvPr/>
        </p:nvSpPr>
        <p:spPr>
          <a:xfrm>
            <a:off x="3409112" y="5522976"/>
            <a:ext cx="2622728" cy="786384"/>
          </a:xfrm>
          <a:prstGeom prst="rect">
            <a:avLst/>
          </a:prstGeom>
          <a:solidFill>
            <a:srgbClr val="1D3A57"/>
          </a:solidFill>
          <a:ln w="12700">
            <a:solidFill>
              <a:srgbClr val="1D3A57"/>
            </a:solidFill>
            <a:prstDash val="solid"/>
          </a:ln>
        </p:spPr>
      </p:sp>
      <p:sp>
        <p:nvSpPr>
          <p:cNvPr id="42" name="Text 39"/>
          <p:cNvSpPr txBox="1"/>
          <p:nvPr/>
        </p:nvSpPr>
        <p:spPr>
          <a:xfrm>
            <a:off x="3591992" y="5623560"/>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43" name="Text 40"/>
          <p:cNvSpPr txBox="1"/>
          <p:nvPr/>
        </p:nvSpPr>
        <p:spPr>
          <a:xfrm>
            <a:off x="3591992" y="5806440"/>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AISLAR</a:t>
            </a:r>
            <a:endParaRPr lang="en-US" sz="1160" dirty="0"/>
          </a:p>
        </p:txBody>
      </p:sp>
      <p:sp>
        <p:nvSpPr>
          <p:cNvPr id="44" name="Text 41"/>
          <p:cNvSpPr txBox="1"/>
          <p:nvPr/>
        </p:nvSpPr>
        <p:spPr>
          <a:xfrm>
            <a:off x="3591992" y="6044184"/>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Que el resultado no dependa del orden</a:t>
            </a:r>
            <a:endParaRPr lang="en-US" sz="920" dirty="0"/>
          </a:p>
        </p:txBody>
      </p:sp>
      <p:sp>
        <p:nvSpPr>
          <p:cNvPr id="45" name="Shape 42"/>
          <p:cNvSpPr/>
          <p:nvPr/>
        </p:nvSpPr>
        <p:spPr>
          <a:xfrm>
            <a:off x="6159856" y="5522976"/>
            <a:ext cx="2622728" cy="786384"/>
          </a:xfrm>
          <a:prstGeom prst="rect">
            <a:avLst/>
          </a:prstGeom>
          <a:solidFill>
            <a:srgbClr val="1D3A57"/>
          </a:solidFill>
          <a:ln w="12700">
            <a:solidFill>
              <a:srgbClr val="1D3A57"/>
            </a:solidFill>
            <a:prstDash val="solid"/>
          </a:ln>
        </p:spPr>
      </p:sp>
      <p:sp>
        <p:nvSpPr>
          <p:cNvPr id="46" name="Text 43"/>
          <p:cNvSpPr txBox="1"/>
          <p:nvPr/>
        </p:nvSpPr>
        <p:spPr>
          <a:xfrm>
            <a:off x="6342736" y="5623560"/>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47" name="Text 44"/>
          <p:cNvSpPr txBox="1"/>
          <p:nvPr/>
        </p:nvSpPr>
        <p:spPr>
          <a:xfrm>
            <a:off x="6342736" y="5806440"/>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BORRAR</a:t>
            </a:r>
            <a:endParaRPr lang="en-US" sz="1160" dirty="0"/>
          </a:p>
        </p:txBody>
      </p:sp>
      <p:sp>
        <p:nvSpPr>
          <p:cNvPr id="48" name="Text 45"/>
          <p:cNvSpPr txBox="1"/>
          <p:nvPr/>
        </p:nvSpPr>
        <p:spPr>
          <a:xfrm>
            <a:off x="6342736" y="6044184"/>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Y comprobar que se borró</a:t>
            </a:r>
            <a:endParaRPr lang="en-US" sz="920" dirty="0"/>
          </a:p>
        </p:txBody>
      </p:sp>
      <p:sp>
        <p:nvSpPr>
          <p:cNvPr id="49" name="Shape 46"/>
          <p:cNvSpPr/>
          <p:nvPr/>
        </p:nvSpPr>
        <p:spPr>
          <a:xfrm>
            <a:off x="8910599" y="5522976"/>
            <a:ext cx="2622728" cy="786384"/>
          </a:xfrm>
          <a:prstGeom prst="rect">
            <a:avLst/>
          </a:prstGeom>
          <a:solidFill>
            <a:srgbClr val="1D3A57"/>
          </a:solidFill>
          <a:ln w="12700">
            <a:solidFill>
              <a:srgbClr val="1D3A57"/>
            </a:solidFill>
            <a:prstDash val="solid"/>
          </a:ln>
        </p:spPr>
      </p:sp>
      <p:sp>
        <p:nvSpPr>
          <p:cNvPr id="50" name="Text 47"/>
          <p:cNvSpPr txBox="1"/>
          <p:nvPr/>
        </p:nvSpPr>
        <p:spPr>
          <a:xfrm>
            <a:off x="9093479" y="5623560"/>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51" name="Text 48"/>
          <p:cNvSpPr txBox="1"/>
          <p:nvPr/>
        </p:nvSpPr>
        <p:spPr>
          <a:xfrm>
            <a:off x="9093479" y="5806440"/>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DECIDIR</a:t>
            </a:r>
            <a:endParaRPr lang="en-US" sz="1160" dirty="0"/>
          </a:p>
        </p:txBody>
      </p:sp>
      <p:sp>
        <p:nvSpPr>
          <p:cNvPr id="52" name="Text 49"/>
          <p:cNvSpPr txBox="1"/>
          <p:nvPr/>
        </p:nvSpPr>
        <p:spPr>
          <a:xfrm>
            <a:off x="9093479" y="6044184"/>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se sustituye y qué no</a:t>
            </a:r>
            <a:endParaRPr lang="en-US" sz="9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06</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1 DE 4 · 30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Dos piezas correctas y un sistema que falla</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La suite unitaria está completa y en verde. Se conecta la primera pieza con su entorno real y aparece una clase de defecto que, por construcción, ninguna prueba unitaria podía encontrar.</a:t>
            </a:r>
            <a:endParaRPr lang="en-US" sz="1500" dirty="0"/>
          </a:p>
        </p:txBody>
      </p:sp>
      <p:sp>
        <p:nvSpPr>
          <p:cNvPr id="12" name="Shape 9"/>
          <p:cNvSpPr/>
          <p:nvPr/>
        </p:nvSpPr>
        <p:spPr>
          <a:xfrm>
            <a:off x="658368" y="4901184"/>
            <a:ext cx="2622728" cy="786384"/>
          </a:xfrm>
          <a:prstGeom prst="rect">
            <a:avLst/>
          </a:prstGeom>
          <a:solidFill>
            <a:srgbClr val="D62027"/>
          </a:solidFill>
          <a:ln w="12700">
            <a:solidFill>
              <a:srgbClr val="D6202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CONECTAR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Dejar de sustituir lo que se quiere observar</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AISLAR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Que el resultado no dependa del orden</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BORRAR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Y comprobar que se borró</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DECIDIR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se sustituye y qué no</a:t>
            </a:r>
            <a:endParaRPr lang="en-US" sz="9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PUNTO DE PARTIDA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La suite está en verde y el sistema no está probado</a:t>
            </a:r>
            <a:endParaRPr lang="en-US" sz="28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Dieciséis casos que comprueban las dos funciones del proyecto. Ninguno de ellos ejecuta una sola línea de lo que hay entre el usuario y esas funciones.</a:t>
            </a:r>
            <a:endParaRPr lang="en-US" sz="1420" dirty="0"/>
          </a:p>
        </p:txBody>
      </p:sp>
      <p:sp>
        <p:nvSpPr>
          <p:cNvPr id="11" name="Shape 8"/>
          <p:cNvSpPr/>
          <p:nvPr/>
        </p:nvSpPr>
        <p:spPr>
          <a:xfrm>
            <a:off x="658368" y="2340864"/>
            <a:ext cx="6035040" cy="1591056"/>
          </a:xfrm>
          <a:prstGeom prst="roundRect">
            <a:avLst>
              <a:gd name="adj" fmla="val 2299"/>
            </a:avLst>
          </a:prstGeom>
          <a:solidFill>
            <a:srgbClr val="0F1720"/>
          </a:solidFill>
          <a:ln w="12700">
            <a:solidFill>
              <a:srgbClr val="0F1720"/>
            </a:solidFill>
            <a:prstDash val="solid"/>
          </a:ln>
        </p:spPr>
      </p:sp>
      <p:sp>
        <p:nvSpPr>
          <p:cNvPr id="12" name="Shape 9"/>
          <p:cNvSpPr/>
          <p:nvPr/>
        </p:nvSpPr>
        <p:spPr>
          <a:xfrm>
            <a:off x="786384" y="2450592"/>
            <a:ext cx="577900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523744"/>
            <a:ext cx="552297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Suite unitaria del proyecto</a:t>
            </a:r>
            <a:endParaRPr lang="en-US" sz="1000" dirty="0"/>
          </a:p>
        </p:txBody>
      </p:sp>
      <p:sp>
        <p:nvSpPr>
          <p:cNvPr id="14" name="Text 11"/>
          <p:cNvSpPr/>
          <p:nvPr/>
        </p:nvSpPr>
        <p:spPr>
          <a:xfrm>
            <a:off x="877824" y="2907792"/>
            <a:ext cx="329184" cy="164592"/>
          </a:xfrm>
          <a:prstGeom prst="rect">
            <a:avLst/>
          </a:prstGeom>
          <a:noFill/>
          <a:ln/>
        </p:spPr>
        <p:txBody>
          <a:bodyPr wrap="square" lIns="0" tIns="0" rIns="0" bIns="0" rtlCol="0" anchor="ctr"/>
          <a:lstStyle/>
          <a:p>
            <a:pPr indent="0" marL="0">
              <a:buNone/>
            </a:pPr>
            <a:r>
              <a:rPr lang="en-US" sz="1040" b="1" dirty="0">
                <a:solidFill>
                  <a:srgbClr val="E0BC5A"/>
                </a:solidFill>
                <a:latin typeface="Consolas" pitchFamily="34" charset="0"/>
                <a:ea typeface="Consolas" pitchFamily="34" charset="-122"/>
                <a:cs typeface="Consolas" pitchFamily="34" charset="-120"/>
              </a:rPr>
              <a:t>&gt;</a:t>
            </a:r>
            <a:endParaRPr lang="en-US" sz="1040" dirty="0"/>
          </a:p>
        </p:txBody>
      </p:sp>
      <p:sp>
        <p:nvSpPr>
          <p:cNvPr id="15" name="Text 12"/>
          <p:cNvSpPr/>
          <p:nvPr/>
        </p:nvSpPr>
        <p:spPr>
          <a:xfrm>
            <a:off x="1188720" y="2907792"/>
            <a:ext cx="528523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uv run pytest test_reservas.py test_sala.py -q</a:t>
            </a:r>
            <a:endParaRPr lang="en-US" sz="1040" dirty="0"/>
          </a:p>
        </p:txBody>
      </p:sp>
      <p:sp>
        <p:nvSpPr>
          <p:cNvPr id="16" name="Text 13"/>
          <p:cNvSpPr/>
          <p:nvPr/>
        </p:nvSpPr>
        <p:spPr>
          <a:xfrm>
            <a:off x="877824" y="3163824"/>
            <a:ext cx="5285232" cy="164592"/>
          </a:xfrm>
          <a:prstGeom prst="rect">
            <a:avLst/>
          </a:prstGeom>
          <a:noFill/>
          <a:ln/>
        </p:spPr>
        <p:txBody>
          <a:bodyPr wrap="square" lIns="0" tIns="0" rIns="0" bIns="0" rtlCol="0" anchor="ctr"/>
          <a:lstStyle/>
          <a:p>
            <a:pPr indent="0" marL="0">
              <a:buNone/>
            </a:pPr>
            <a:r>
              <a:rPr lang="en-US" sz="1040" dirty="0">
                <a:solidFill>
                  <a:srgbClr val="8AA0B6"/>
                </a:solidFill>
                <a:latin typeface="Consolas" pitchFamily="34" charset="0"/>
                <a:ea typeface="Consolas" pitchFamily="34" charset="-122"/>
                <a:cs typeface="Consolas" pitchFamily="34" charset="-120"/>
              </a:rPr>
              <a:t>................                       [100%]</a:t>
            </a:r>
            <a:endParaRPr lang="en-US" sz="1040" dirty="0"/>
          </a:p>
        </p:txBody>
      </p:sp>
      <p:sp>
        <p:nvSpPr>
          <p:cNvPr id="17" name="Text 14"/>
          <p:cNvSpPr/>
          <p:nvPr/>
        </p:nvSpPr>
        <p:spPr>
          <a:xfrm>
            <a:off x="877824" y="3419856"/>
            <a:ext cx="5285232" cy="164592"/>
          </a:xfrm>
          <a:prstGeom prst="rect">
            <a:avLst/>
          </a:prstGeom>
          <a:noFill/>
          <a:ln/>
        </p:spPr>
        <p:txBody>
          <a:bodyPr wrap="square" lIns="0" tIns="0" rIns="0" bIns="0" rtlCol="0" anchor="ctr"/>
          <a:lstStyle/>
          <a:p>
            <a:pPr indent="0" marL="0">
              <a:buNone/>
            </a:pPr>
            <a:r>
              <a:rPr lang="en-US" sz="1040" dirty="0">
                <a:solidFill>
                  <a:srgbClr val="E6EEF7"/>
                </a:solidFill>
                <a:latin typeface="Consolas" pitchFamily="34" charset="0"/>
                <a:ea typeface="Consolas" pitchFamily="34" charset="-122"/>
                <a:cs typeface="Consolas" pitchFamily="34" charset="-120"/>
              </a:rPr>
              <a:t>16 passed in 0.04s</a:t>
            </a:r>
            <a:endParaRPr lang="en-US" sz="1040" dirty="0"/>
          </a:p>
        </p:txBody>
      </p:sp>
      <p:sp>
        <p:nvSpPr>
          <p:cNvPr id="18" name="Text 15"/>
          <p:cNvSpPr txBox="1"/>
          <p:nvPr/>
        </p:nvSpPr>
        <p:spPr>
          <a:xfrm>
            <a:off x="7059168" y="2340864"/>
            <a:ext cx="4480560" cy="274320"/>
          </a:xfrm>
          <a:prstGeom prst="rect">
            <a:avLst/>
          </a:prstGeom>
          <a:noFill/>
          <a:ln/>
        </p:spPr>
        <p:txBody>
          <a:bodyPr wrap="square" lIns="0" tIns="0" rIns="0" bIns="0" rtlCol="0" anchor="t"/>
          <a:lstStyle/>
          <a:p>
            <a:pPr algn="l" indent="0" marL="0">
              <a:buNone/>
            </a:pPr>
            <a:r>
              <a:rPr lang="en-US" sz="1320" b="1" dirty="0">
                <a:solidFill>
                  <a:srgbClr val="243B53"/>
                </a:solidFill>
                <a:latin typeface="Aptos" pitchFamily="34" charset="0"/>
                <a:ea typeface="Aptos" pitchFamily="34" charset="-122"/>
                <a:cs typeface="Aptos" pitchFamily="34" charset="-120"/>
              </a:rPr>
              <a:t>Lo que hay entre el usuario y esas funciones</a:t>
            </a:r>
            <a:endParaRPr lang="en-US" sz="1320" dirty="0"/>
          </a:p>
        </p:txBody>
      </p:sp>
      <p:sp>
        <p:nvSpPr>
          <p:cNvPr id="19" name="Shape 16"/>
          <p:cNvSpPr/>
          <p:nvPr/>
        </p:nvSpPr>
        <p:spPr>
          <a:xfrm>
            <a:off x="7059168" y="2724912"/>
            <a:ext cx="45720" cy="274320"/>
          </a:xfrm>
          <a:prstGeom prst="rect">
            <a:avLst/>
          </a:prstGeom>
          <a:solidFill>
            <a:srgbClr val="B3181E"/>
          </a:solidFill>
          <a:ln w="12700">
            <a:solidFill>
              <a:srgbClr val="B3181E"/>
            </a:solidFill>
            <a:prstDash val="solid"/>
          </a:ln>
        </p:spPr>
      </p:sp>
      <p:sp>
        <p:nvSpPr>
          <p:cNvPr id="20" name="Text 17"/>
          <p:cNvSpPr txBox="1"/>
          <p:nvPr/>
        </p:nvSpPr>
        <p:spPr>
          <a:xfrm>
            <a:off x="7260336" y="2734056"/>
            <a:ext cx="4261104"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Una ruta que recibe la solicitud</a:t>
            </a:r>
            <a:endParaRPr lang="en-US" sz="1180" dirty="0"/>
          </a:p>
        </p:txBody>
      </p:sp>
      <p:sp>
        <p:nvSpPr>
          <p:cNvPr id="21" name="Shape 18"/>
          <p:cNvSpPr/>
          <p:nvPr/>
        </p:nvSpPr>
        <p:spPr>
          <a:xfrm>
            <a:off x="7059168" y="3127248"/>
            <a:ext cx="45720" cy="274320"/>
          </a:xfrm>
          <a:prstGeom prst="rect">
            <a:avLst/>
          </a:prstGeom>
          <a:solidFill>
            <a:srgbClr val="B3181E"/>
          </a:solidFill>
          <a:ln w="12700">
            <a:solidFill>
              <a:srgbClr val="B3181E"/>
            </a:solidFill>
            <a:prstDash val="solid"/>
          </a:ln>
        </p:spPr>
      </p:sp>
      <p:sp>
        <p:nvSpPr>
          <p:cNvPr id="22" name="Text 19"/>
          <p:cNvSpPr txBox="1"/>
          <p:nvPr/>
        </p:nvSpPr>
        <p:spPr>
          <a:xfrm>
            <a:off x="7260336" y="3136392"/>
            <a:ext cx="4261104"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Una validación que revisa su forma</a:t>
            </a:r>
            <a:endParaRPr lang="en-US" sz="1180" dirty="0"/>
          </a:p>
        </p:txBody>
      </p:sp>
      <p:sp>
        <p:nvSpPr>
          <p:cNvPr id="23" name="Shape 20"/>
          <p:cNvSpPr/>
          <p:nvPr/>
        </p:nvSpPr>
        <p:spPr>
          <a:xfrm>
            <a:off x="7059168" y="3529584"/>
            <a:ext cx="45720" cy="274320"/>
          </a:xfrm>
          <a:prstGeom prst="rect">
            <a:avLst/>
          </a:prstGeom>
          <a:solidFill>
            <a:srgbClr val="B3181E"/>
          </a:solidFill>
          <a:ln w="12700">
            <a:solidFill>
              <a:srgbClr val="B3181E"/>
            </a:solidFill>
            <a:prstDash val="solid"/>
          </a:ln>
        </p:spPr>
      </p:sp>
      <p:sp>
        <p:nvSpPr>
          <p:cNvPr id="24" name="Text 21"/>
          <p:cNvSpPr txBox="1"/>
          <p:nvPr/>
        </p:nvSpPr>
        <p:spPr>
          <a:xfrm>
            <a:off x="7260336" y="3538728"/>
            <a:ext cx="4261104"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Una conversión de los datos que llegan</a:t>
            </a:r>
            <a:endParaRPr lang="en-US" sz="1180" dirty="0"/>
          </a:p>
        </p:txBody>
      </p:sp>
      <p:sp>
        <p:nvSpPr>
          <p:cNvPr id="25" name="Shape 22"/>
          <p:cNvSpPr/>
          <p:nvPr/>
        </p:nvSpPr>
        <p:spPr>
          <a:xfrm>
            <a:off x="7059168" y="3931920"/>
            <a:ext cx="45720" cy="274320"/>
          </a:xfrm>
          <a:prstGeom prst="rect">
            <a:avLst/>
          </a:prstGeom>
          <a:solidFill>
            <a:srgbClr val="B3181E"/>
          </a:solidFill>
          <a:ln w="12700">
            <a:solidFill>
              <a:srgbClr val="B3181E"/>
            </a:solidFill>
            <a:prstDash val="solid"/>
          </a:ln>
        </p:spPr>
      </p:sp>
      <p:sp>
        <p:nvSpPr>
          <p:cNvPr id="26" name="Text 23"/>
          <p:cNvSpPr txBox="1"/>
          <p:nvPr/>
        </p:nvSpPr>
        <p:spPr>
          <a:xfrm>
            <a:off x="7260336" y="3941064"/>
            <a:ext cx="4261104" cy="274320"/>
          </a:xfrm>
          <a:prstGeom prst="rect">
            <a:avLst/>
          </a:prstGeom>
          <a:noFill/>
          <a:ln/>
        </p:spPr>
        <p:txBody>
          <a:bodyPr wrap="square" lIns="0" tIns="0" rIns="0" bIns="0" rtlCol="0" anchor="t"/>
          <a:lstStyle/>
          <a:p>
            <a:pPr algn="l" indent="0" marL="0">
              <a:buNone/>
            </a:pPr>
            <a:r>
              <a:rPr lang="en-US" sz="1180" dirty="0">
                <a:solidFill>
                  <a:srgbClr val="52606D"/>
                </a:solidFill>
                <a:latin typeface="Aptos" pitchFamily="34" charset="0"/>
                <a:ea typeface="Aptos" pitchFamily="34" charset="-122"/>
                <a:cs typeface="Aptos" pitchFamily="34" charset="-120"/>
              </a:rPr>
              <a:t>Una respuesta que vuelve con un significado</a:t>
            </a:r>
            <a:endParaRPr lang="en-US" sz="1180" dirty="0"/>
          </a:p>
        </p:txBody>
      </p:sp>
      <p:sp>
        <p:nvSpPr>
          <p:cNvPr id="27" name="Shape 24"/>
          <p:cNvSpPr/>
          <p:nvPr/>
        </p:nvSpPr>
        <p:spPr>
          <a:xfrm>
            <a:off x="658368" y="4279392"/>
            <a:ext cx="10874959" cy="1097280"/>
          </a:xfrm>
          <a:prstGeom prst="rect">
            <a:avLst/>
          </a:prstGeom>
          <a:solidFill>
            <a:srgbClr val="F2E7D9"/>
          </a:solidFill>
          <a:ln w="12700">
            <a:solidFill>
              <a:srgbClr val="F2E7D9"/>
            </a:solidFill>
            <a:prstDash val="solid"/>
          </a:ln>
        </p:spPr>
      </p:sp>
      <p:sp>
        <p:nvSpPr>
          <p:cNvPr id="28" name="Shape 25"/>
          <p:cNvSpPr/>
          <p:nvPr/>
        </p:nvSpPr>
        <p:spPr>
          <a:xfrm>
            <a:off x="658368" y="4279392"/>
            <a:ext cx="54864" cy="1097280"/>
          </a:xfrm>
          <a:prstGeom prst="rect">
            <a:avLst/>
          </a:prstGeom>
          <a:solidFill>
            <a:srgbClr val="B3181E"/>
          </a:solidFill>
          <a:ln w="12700">
            <a:solidFill>
              <a:srgbClr val="B3181E"/>
            </a:solidFill>
            <a:prstDash val="solid"/>
          </a:ln>
        </p:spPr>
      </p:sp>
      <p:sp>
        <p:nvSpPr>
          <p:cNvPr id="29" name="Text 26"/>
          <p:cNvSpPr txBox="1"/>
          <p:nvPr/>
        </p:nvSpPr>
        <p:spPr>
          <a:xfrm>
            <a:off x="950976" y="4443984"/>
            <a:ext cx="4572000" cy="274320"/>
          </a:xfrm>
          <a:prstGeom prst="rect">
            <a:avLst/>
          </a:prstGeom>
          <a:noFill/>
          <a:ln/>
        </p:spPr>
        <p:txBody>
          <a:bodyPr wrap="square" lIns="0" tIns="0" rIns="0" bIns="0" rtlCol="0" anchor="t"/>
          <a:lstStyle/>
          <a:p>
            <a:pPr algn="l" indent="0" marL="0">
              <a:buNone/>
            </a:pPr>
            <a:r>
              <a:rPr lang="en-US" sz="1400" b="1" dirty="0">
                <a:solidFill>
                  <a:srgbClr val="B3181E"/>
                </a:solidFill>
                <a:latin typeface="Aptos" pitchFamily="34" charset="0"/>
                <a:ea typeface="Aptos" pitchFamily="34" charset="-122"/>
                <a:cs typeface="Aptos" pitchFamily="34" charset="-120"/>
              </a:rPr>
              <a:t>Un usuario no llama a puede_reservar</a:t>
            </a:r>
            <a:endParaRPr lang="en-US" sz="1400" dirty="0"/>
          </a:p>
        </p:txBody>
      </p:sp>
      <p:sp>
        <p:nvSpPr>
          <p:cNvPr id="30" name="Text 27"/>
          <p:cNvSpPr txBox="1"/>
          <p:nvPr/>
        </p:nvSpPr>
        <p:spPr>
          <a:xfrm>
            <a:off x="950976" y="4754880"/>
            <a:ext cx="10289743" cy="512064"/>
          </a:xfrm>
          <a:prstGeom prst="rect">
            <a:avLst/>
          </a:prstGeom>
          <a:noFill/>
          <a:ln/>
        </p:spPr>
        <p:txBody>
          <a:bodyPr wrap="square" lIns="0" tIns="0" rIns="0" bIns="0" rtlCol="0" anchor="t"/>
          <a:lstStyle/>
          <a:p>
            <a:pPr algn="l" indent="0" marL="0">
              <a:lnSpc>
                <a:spcPct val="116000"/>
              </a:lnSpc>
              <a:buNone/>
            </a:pPr>
            <a:r>
              <a:rPr lang="en-US" sz="1260" dirty="0">
                <a:solidFill>
                  <a:srgbClr val="243B53"/>
                </a:solidFill>
                <a:latin typeface="Aptos" pitchFamily="34" charset="0"/>
                <a:ea typeface="Aptos" pitchFamily="34" charset="-122"/>
                <a:cs typeface="Aptos" pitchFamily="34" charset="-120"/>
              </a:rPr>
              <a:t>Envía una solicitud por la red. Todo ese camino está fuera de las dieciséis pruebas, y no por descuido: está fuera de lo que una prueba unitaria puede mirar.</a:t>
            </a:r>
            <a:endParaRPr lang="en-US" sz="1260" dirty="0"/>
          </a:p>
        </p:txBody>
      </p:sp>
      <p:sp>
        <p:nvSpPr>
          <p:cNvPr id="31" name="Shape 28"/>
          <p:cNvSpPr/>
          <p:nvPr/>
        </p:nvSpPr>
        <p:spPr>
          <a:xfrm>
            <a:off x="658368" y="5650992"/>
            <a:ext cx="10874959" cy="548640"/>
          </a:xfrm>
          <a:prstGeom prst="rect">
            <a:avLst/>
          </a:prstGeom>
          <a:solidFill>
            <a:srgbClr val="102A43"/>
          </a:solidFill>
          <a:ln w="12700">
            <a:solidFill>
              <a:srgbClr val="102A43"/>
            </a:solidFill>
            <a:prstDash val="solid"/>
          </a:ln>
        </p:spPr>
      </p:sp>
      <p:sp>
        <p:nvSpPr>
          <p:cNvPr id="32" name="Text 2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Nadie comprobó que el sistema funcione, porque nadie comprobó que esas funciones se alcancen.</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AUDITAR LA FRASE HEREDADA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«Una prueba de integración es una prueba más grande»</a:t>
            </a:r>
            <a:endParaRPr lang="en-US" sz="27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Lleva a creer que basta con llamar a tres funciones en una misma prueba para haber integrado algo.</a:t>
            </a:r>
            <a:endParaRPr lang="en-US" sz="1420" dirty="0"/>
          </a:p>
        </p:txBody>
      </p:sp>
      <p:sp>
        <p:nvSpPr>
          <p:cNvPr id="11" name="Shape 8"/>
          <p:cNvSpPr/>
          <p:nvPr/>
        </p:nvSpPr>
        <p:spPr>
          <a:xfrm>
            <a:off x="658368" y="2286000"/>
            <a:ext cx="5340096" cy="1225296"/>
          </a:xfrm>
          <a:prstGeom prst="rect">
            <a:avLst/>
          </a:prstGeom>
          <a:solidFill>
            <a:srgbClr val="FFFFFF"/>
          </a:solidFill>
          <a:ln w="12700">
            <a:solidFill>
              <a:srgbClr val="FFFFFF"/>
            </a:solidFill>
            <a:prstDash val="solid"/>
          </a:ln>
        </p:spPr>
      </p:sp>
      <p:sp>
        <p:nvSpPr>
          <p:cNvPr id="12" name="Shape 9"/>
          <p:cNvSpPr/>
          <p:nvPr/>
        </p:nvSpPr>
        <p:spPr>
          <a:xfrm>
            <a:off x="658368" y="2286000"/>
            <a:ext cx="54864" cy="1225296"/>
          </a:xfrm>
          <a:prstGeom prst="rect">
            <a:avLst/>
          </a:prstGeom>
          <a:solidFill>
            <a:srgbClr val="102A43"/>
          </a:solidFill>
          <a:ln w="12700">
            <a:solidFill>
              <a:srgbClr val="102A43"/>
            </a:solidFill>
            <a:prstDash val="solid"/>
          </a:ln>
        </p:spPr>
      </p:sp>
      <p:sp>
        <p:nvSpPr>
          <p:cNvPr id="13" name="Text 10"/>
          <p:cNvSpPr txBox="1"/>
          <p:nvPr/>
        </p:nvSpPr>
        <p:spPr>
          <a:xfrm>
            <a:off x="896112" y="2414016"/>
            <a:ext cx="4882896"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COMPONENT TESTING (PRUEBA UNITARIA)</a:t>
            </a:r>
            <a:endParaRPr lang="en-US" sz="920" dirty="0"/>
          </a:p>
        </p:txBody>
      </p:sp>
      <p:sp>
        <p:nvSpPr>
          <p:cNvPr id="14" name="Text 11"/>
          <p:cNvSpPr txBox="1"/>
          <p:nvPr/>
        </p:nvSpPr>
        <p:spPr>
          <a:xfrm>
            <a:off x="896112" y="2670048"/>
            <a:ext cx="4882896" cy="731520"/>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«Se centra en probar componentes de manera aislada.» El aislamiento no es un adorno: es lo que la caracteriza.</a:t>
            </a:r>
            <a:endParaRPr lang="en-US" sz="1210" dirty="0"/>
          </a:p>
        </p:txBody>
      </p:sp>
      <p:sp>
        <p:nvSpPr>
          <p:cNvPr id="15" name="Shape 12"/>
          <p:cNvSpPr/>
          <p:nvPr/>
        </p:nvSpPr>
        <p:spPr>
          <a:xfrm>
            <a:off x="6190488" y="2286000"/>
            <a:ext cx="5340096" cy="1225296"/>
          </a:xfrm>
          <a:prstGeom prst="rect">
            <a:avLst/>
          </a:prstGeom>
          <a:solidFill>
            <a:srgbClr val="FFFFFF"/>
          </a:solidFill>
          <a:ln w="12700">
            <a:solidFill>
              <a:srgbClr val="FFFFFF"/>
            </a:solidFill>
            <a:prstDash val="solid"/>
          </a:ln>
        </p:spPr>
      </p:sp>
      <p:sp>
        <p:nvSpPr>
          <p:cNvPr id="16" name="Shape 13"/>
          <p:cNvSpPr/>
          <p:nvPr/>
        </p:nvSpPr>
        <p:spPr>
          <a:xfrm>
            <a:off x="6190488" y="2286000"/>
            <a:ext cx="54864" cy="1225296"/>
          </a:xfrm>
          <a:prstGeom prst="rect">
            <a:avLst/>
          </a:prstGeom>
          <a:solidFill>
            <a:srgbClr val="B3181E"/>
          </a:solidFill>
          <a:ln w="12700">
            <a:solidFill>
              <a:srgbClr val="B3181E"/>
            </a:solidFill>
            <a:prstDash val="solid"/>
          </a:ln>
        </p:spPr>
      </p:sp>
      <p:sp>
        <p:nvSpPr>
          <p:cNvPr id="17" name="Text 14"/>
          <p:cNvSpPr txBox="1"/>
          <p:nvPr/>
        </p:nvSpPr>
        <p:spPr>
          <a:xfrm>
            <a:off x="6428232" y="2414016"/>
            <a:ext cx="4882896"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COMPONENT INTEGRATION TESTING</a:t>
            </a:r>
            <a:endParaRPr lang="en-US" sz="920" dirty="0"/>
          </a:p>
        </p:txBody>
      </p:sp>
      <p:sp>
        <p:nvSpPr>
          <p:cNvPr id="18" name="Text 15"/>
          <p:cNvSpPr txBox="1"/>
          <p:nvPr/>
        </p:nvSpPr>
        <p:spPr>
          <a:xfrm>
            <a:off x="6428232" y="2670048"/>
            <a:ext cx="4882896" cy="731520"/>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«Se centra en probar las interfaces y las interacciones entre componentes.» El objeto es la interacción.</a:t>
            </a:r>
            <a:endParaRPr lang="en-US" sz="1210" dirty="0"/>
          </a:p>
        </p:txBody>
      </p:sp>
      <p:sp>
        <p:nvSpPr>
          <p:cNvPr id="19" name="Shape 16"/>
          <p:cNvSpPr/>
          <p:nvPr/>
        </p:nvSpPr>
        <p:spPr>
          <a:xfrm>
            <a:off x="658368" y="3730752"/>
            <a:ext cx="10874959" cy="1591056"/>
          </a:xfrm>
          <a:prstGeom prst="rect">
            <a:avLst/>
          </a:prstGeom>
          <a:solidFill>
            <a:srgbClr val="EDE6DA"/>
          </a:solidFill>
          <a:ln w="12700">
            <a:solidFill>
              <a:srgbClr val="EDE6DA"/>
            </a:solidFill>
            <a:prstDash val="solid"/>
          </a:ln>
        </p:spPr>
      </p:sp>
      <p:sp>
        <p:nvSpPr>
          <p:cNvPr id="20" name="Text 17"/>
          <p:cNvSpPr txBox="1"/>
          <p:nvPr/>
        </p:nvSpPr>
        <p:spPr>
          <a:xfrm>
            <a:off x="950976" y="3895344"/>
            <a:ext cx="5486400" cy="256032"/>
          </a:xfrm>
          <a:prstGeom prst="rect">
            <a:avLst/>
          </a:prstGeom>
          <a:noFill/>
          <a:ln/>
        </p:spPr>
        <p:txBody>
          <a:bodyPr wrap="square" lIns="0" tIns="0" rIns="0" bIns="0" rtlCol="0" anchor="t"/>
          <a:lstStyle/>
          <a:p>
            <a:pPr algn="l" indent="0" marL="0">
              <a:buNone/>
            </a:pPr>
            <a:r>
              <a:rPr lang="en-US" sz="1320" b="1" dirty="0">
                <a:solidFill>
                  <a:srgbClr val="243B53"/>
                </a:solidFill>
                <a:latin typeface="Aptos" pitchFamily="34" charset="0"/>
                <a:ea typeface="Aptos" pitchFamily="34" charset="-122"/>
                <a:cs typeface="Aptos" pitchFamily="34" charset="-120"/>
              </a:rPr>
              <a:t>Cómo separa los niveles la propia norma de enseñanza</a:t>
            </a:r>
            <a:endParaRPr lang="en-US" sz="1320" dirty="0"/>
          </a:p>
        </p:txBody>
      </p:sp>
      <p:sp>
        <p:nvSpPr>
          <p:cNvPr id="21" name="Shape 18"/>
          <p:cNvSpPr/>
          <p:nvPr/>
        </p:nvSpPr>
        <p:spPr>
          <a:xfrm>
            <a:off x="950976" y="4242816"/>
            <a:ext cx="1984248" cy="420624"/>
          </a:xfrm>
          <a:prstGeom prst="rect">
            <a:avLst/>
          </a:prstGeom>
          <a:solidFill>
            <a:srgbClr val="FFFFFF"/>
          </a:solidFill>
          <a:ln w="12700">
            <a:solidFill>
              <a:srgbClr val="FFFFFF"/>
            </a:solidFill>
            <a:prstDash val="solid"/>
          </a:ln>
        </p:spPr>
      </p:sp>
      <p:sp>
        <p:nvSpPr>
          <p:cNvPr id="22" name="Text 19"/>
          <p:cNvSpPr txBox="1"/>
          <p:nvPr/>
        </p:nvSpPr>
        <p:spPr>
          <a:xfrm>
            <a:off x="1060704" y="4315968"/>
            <a:ext cx="1764792" cy="292608"/>
          </a:xfrm>
          <a:prstGeom prst="rect">
            <a:avLst/>
          </a:prstGeom>
          <a:noFill/>
          <a:ln/>
        </p:spPr>
        <p:txBody>
          <a:bodyPr wrap="square" lIns="0" tIns="0" rIns="0" bIns="0" rtlCol="0" anchor="ctr"/>
          <a:lstStyle/>
          <a:p>
            <a:pPr algn="ctr" indent="0" marL="0">
              <a:lnSpc>
                <a:spcPct val="104000"/>
              </a:lnSpc>
              <a:buNone/>
            </a:pPr>
            <a:r>
              <a:rPr lang="en-US" sz="1020" dirty="0">
                <a:solidFill>
                  <a:srgbClr val="52606D"/>
                </a:solidFill>
                <a:latin typeface="Aptos" pitchFamily="34" charset="0"/>
                <a:ea typeface="Aptos" pitchFamily="34" charset="-122"/>
                <a:cs typeface="Aptos" pitchFamily="34" charset="-120"/>
              </a:rPr>
              <a:t>Objeto de prueba</a:t>
            </a:r>
            <a:endParaRPr lang="en-US" sz="1020" dirty="0"/>
          </a:p>
        </p:txBody>
      </p:sp>
      <p:sp>
        <p:nvSpPr>
          <p:cNvPr id="23" name="Shape 20"/>
          <p:cNvSpPr/>
          <p:nvPr/>
        </p:nvSpPr>
        <p:spPr>
          <a:xfrm>
            <a:off x="3026664" y="4242816"/>
            <a:ext cx="1984248" cy="420624"/>
          </a:xfrm>
          <a:prstGeom prst="rect">
            <a:avLst/>
          </a:prstGeom>
          <a:solidFill>
            <a:srgbClr val="FFFFFF"/>
          </a:solidFill>
          <a:ln w="12700">
            <a:solidFill>
              <a:srgbClr val="FFFFFF"/>
            </a:solidFill>
            <a:prstDash val="solid"/>
          </a:ln>
        </p:spPr>
      </p:sp>
      <p:sp>
        <p:nvSpPr>
          <p:cNvPr id="24" name="Text 21"/>
          <p:cNvSpPr txBox="1"/>
          <p:nvPr/>
        </p:nvSpPr>
        <p:spPr>
          <a:xfrm>
            <a:off x="3136392" y="4315968"/>
            <a:ext cx="1764792" cy="292608"/>
          </a:xfrm>
          <a:prstGeom prst="rect">
            <a:avLst/>
          </a:prstGeom>
          <a:noFill/>
          <a:ln/>
        </p:spPr>
        <p:txBody>
          <a:bodyPr wrap="square" lIns="0" tIns="0" rIns="0" bIns="0" rtlCol="0" anchor="ctr"/>
          <a:lstStyle/>
          <a:p>
            <a:pPr algn="ctr" indent="0" marL="0">
              <a:lnSpc>
                <a:spcPct val="104000"/>
              </a:lnSpc>
              <a:buNone/>
            </a:pPr>
            <a:r>
              <a:rPr lang="en-US" sz="1020" dirty="0">
                <a:solidFill>
                  <a:srgbClr val="52606D"/>
                </a:solidFill>
                <a:latin typeface="Aptos" pitchFamily="34" charset="0"/>
                <a:ea typeface="Aptos" pitchFamily="34" charset="-122"/>
                <a:cs typeface="Aptos" pitchFamily="34" charset="-120"/>
              </a:rPr>
              <a:t>Objetivos</a:t>
            </a:r>
            <a:endParaRPr lang="en-US" sz="1020" dirty="0"/>
          </a:p>
        </p:txBody>
      </p:sp>
      <p:sp>
        <p:nvSpPr>
          <p:cNvPr id="25" name="Shape 22"/>
          <p:cNvSpPr/>
          <p:nvPr/>
        </p:nvSpPr>
        <p:spPr>
          <a:xfrm>
            <a:off x="5102352" y="4242816"/>
            <a:ext cx="1984248" cy="420624"/>
          </a:xfrm>
          <a:prstGeom prst="rect">
            <a:avLst/>
          </a:prstGeom>
          <a:solidFill>
            <a:srgbClr val="FFFFFF"/>
          </a:solidFill>
          <a:ln w="12700">
            <a:solidFill>
              <a:srgbClr val="FFFFFF"/>
            </a:solidFill>
            <a:prstDash val="solid"/>
          </a:ln>
        </p:spPr>
      </p:sp>
      <p:sp>
        <p:nvSpPr>
          <p:cNvPr id="26" name="Text 23"/>
          <p:cNvSpPr txBox="1"/>
          <p:nvPr/>
        </p:nvSpPr>
        <p:spPr>
          <a:xfrm>
            <a:off x="5212080" y="4315968"/>
            <a:ext cx="1764792" cy="292608"/>
          </a:xfrm>
          <a:prstGeom prst="rect">
            <a:avLst/>
          </a:prstGeom>
          <a:noFill/>
          <a:ln/>
        </p:spPr>
        <p:txBody>
          <a:bodyPr wrap="square" lIns="0" tIns="0" rIns="0" bIns="0" rtlCol="0" anchor="ctr"/>
          <a:lstStyle/>
          <a:p>
            <a:pPr algn="ctr" indent="0" marL="0">
              <a:lnSpc>
                <a:spcPct val="104000"/>
              </a:lnSpc>
              <a:buNone/>
            </a:pPr>
            <a:r>
              <a:rPr lang="en-US" sz="1020" dirty="0">
                <a:solidFill>
                  <a:srgbClr val="52606D"/>
                </a:solidFill>
                <a:latin typeface="Aptos" pitchFamily="34" charset="0"/>
                <a:ea typeface="Aptos" pitchFamily="34" charset="-122"/>
                <a:cs typeface="Aptos" pitchFamily="34" charset="-120"/>
              </a:rPr>
              <a:t>Base de prueba</a:t>
            </a:r>
            <a:endParaRPr lang="en-US" sz="1020" dirty="0"/>
          </a:p>
        </p:txBody>
      </p:sp>
      <p:sp>
        <p:nvSpPr>
          <p:cNvPr id="27" name="Shape 24"/>
          <p:cNvSpPr/>
          <p:nvPr/>
        </p:nvSpPr>
        <p:spPr>
          <a:xfrm>
            <a:off x="7178040" y="4242816"/>
            <a:ext cx="1984248" cy="420624"/>
          </a:xfrm>
          <a:prstGeom prst="rect">
            <a:avLst/>
          </a:prstGeom>
          <a:solidFill>
            <a:srgbClr val="B3181E"/>
          </a:solidFill>
          <a:ln w="12700">
            <a:solidFill>
              <a:srgbClr val="B3181E"/>
            </a:solidFill>
            <a:prstDash val="solid"/>
          </a:ln>
        </p:spPr>
      </p:sp>
      <p:sp>
        <p:nvSpPr>
          <p:cNvPr id="28" name="Text 25"/>
          <p:cNvSpPr txBox="1"/>
          <p:nvPr/>
        </p:nvSpPr>
        <p:spPr>
          <a:xfrm>
            <a:off x="7287768" y="4315968"/>
            <a:ext cx="1764792" cy="292608"/>
          </a:xfrm>
          <a:prstGeom prst="rect">
            <a:avLst/>
          </a:prstGeom>
          <a:noFill/>
          <a:ln/>
        </p:spPr>
        <p:txBody>
          <a:bodyPr wrap="square" lIns="0" tIns="0" rIns="0" bIns="0" rtlCol="0" anchor="ctr"/>
          <a:lstStyle/>
          <a:p>
            <a:pPr algn="ctr" indent="0" marL="0">
              <a:lnSpc>
                <a:spcPct val="104000"/>
              </a:lnSpc>
              <a:buNone/>
            </a:pPr>
            <a:r>
              <a:rPr lang="en-US" sz="1020" b="1" dirty="0">
                <a:solidFill>
                  <a:srgbClr val="FFFFFF"/>
                </a:solidFill>
                <a:latin typeface="Aptos" pitchFamily="34" charset="0"/>
                <a:ea typeface="Aptos" pitchFamily="34" charset="-122"/>
                <a:cs typeface="Aptos" pitchFamily="34" charset="-120"/>
              </a:rPr>
              <a:t>Defectos y fallos</a:t>
            </a:r>
            <a:endParaRPr lang="en-US" sz="1020" dirty="0"/>
          </a:p>
        </p:txBody>
      </p:sp>
      <p:sp>
        <p:nvSpPr>
          <p:cNvPr id="29" name="Shape 26"/>
          <p:cNvSpPr/>
          <p:nvPr/>
        </p:nvSpPr>
        <p:spPr>
          <a:xfrm>
            <a:off x="9253728" y="4242816"/>
            <a:ext cx="1984248" cy="420624"/>
          </a:xfrm>
          <a:prstGeom prst="rect">
            <a:avLst/>
          </a:prstGeom>
          <a:solidFill>
            <a:srgbClr val="FFFFFF"/>
          </a:solidFill>
          <a:ln w="12700">
            <a:solidFill>
              <a:srgbClr val="FFFFFF"/>
            </a:solidFill>
            <a:prstDash val="solid"/>
          </a:ln>
        </p:spPr>
      </p:sp>
      <p:sp>
        <p:nvSpPr>
          <p:cNvPr id="30" name="Text 27"/>
          <p:cNvSpPr txBox="1"/>
          <p:nvPr/>
        </p:nvSpPr>
        <p:spPr>
          <a:xfrm>
            <a:off x="9363456" y="4315968"/>
            <a:ext cx="1764792" cy="292608"/>
          </a:xfrm>
          <a:prstGeom prst="rect">
            <a:avLst/>
          </a:prstGeom>
          <a:noFill/>
          <a:ln/>
        </p:spPr>
        <p:txBody>
          <a:bodyPr wrap="square" lIns="0" tIns="0" rIns="0" bIns="0" rtlCol="0" anchor="ctr"/>
          <a:lstStyle/>
          <a:p>
            <a:pPr algn="ctr" indent="0" marL="0">
              <a:lnSpc>
                <a:spcPct val="104000"/>
              </a:lnSpc>
              <a:buNone/>
            </a:pPr>
            <a:r>
              <a:rPr lang="en-US" sz="1020" dirty="0">
                <a:solidFill>
                  <a:srgbClr val="52606D"/>
                </a:solidFill>
                <a:latin typeface="Aptos" pitchFamily="34" charset="0"/>
                <a:ea typeface="Aptos" pitchFamily="34" charset="-122"/>
                <a:cs typeface="Aptos" pitchFamily="34" charset="-120"/>
              </a:rPr>
              <a:t>Enfoque y responsabilidades</a:t>
            </a:r>
            <a:endParaRPr lang="en-US" sz="1020" dirty="0"/>
          </a:p>
        </p:txBody>
      </p:sp>
      <p:sp>
        <p:nvSpPr>
          <p:cNvPr id="31" name="Text 28"/>
          <p:cNvSpPr txBox="1"/>
          <p:nvPr/>
        </p:nvSpPr>
        <p:spPr>
          <a:xfrm>
            <a:off x="950976" y="4773168"/>
            <a:ext cx="10289743" cy="438912"/>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En esa lista de cinco atributos no aparece el tamaño. Sí aparece «defectos y fallos»: cada nivel existe porque encuentra una clase de defecto que los otros no encuentran.</a:t>
            </a:r>
            <a:endParaRPr lang="en-US" sz="1240" dirty="0"/>
          </a:p>
        </p:txBody>
      </p:sp>
      <p:sp>
        <p:nvSpPr>
          <p:cNvPr id="32" name="Shape 29"/>
          <p:cNvSpPr/>
          <p:nvPr/>
        </p:nvSpPr>
        <p:spPr>
          <a:xfrm>
            <a:off x="658368" y="5431536"/>
            <a:ext cx="45720" cy="182880"/>
          </a:xfrm>
          <a:prstGeom prst="rect">
            <a:avLst/>
          </a:prstGeom>
          <a:solidFill>
            <a:srgbClr val="8A6A12"/>
          </a:solidFill>
          <a:ln w="12700">
            <a:solidFill>
              <a:srgbClr val="8A6A12"/>
            </a:solidFill>
            <a:prstDash val="solid"/>
          </a:ln>
        </p:spPr>
      </p:sp>
      <p:sp>
        <p:nvSpPr>
          <p:cNvPr id="33" name="Text 30"/>
          <p:cNvSpPr txBox="1"/>
          <p:nvPr/>
        </p:nvSpPr>
        <p:spPr>
          <a:xfrm>
            <a:off x="804672" y="5422392"/>
            <a:ext cx="987552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ISTQB · CTFL Syllabus v4.0.1, sección 2.2.1 · las citas se traducen; el texto original es el que vale</a:t>
            </a:r>
            <a:endParaRPr lang="en-US" sz="880" dirty="0"/>
          </a:p>
        </p:txBody>
      </p:sp>
      <p:sp>
        <p:nvSpPr>
          <p:cNvPr id="34"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5"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Esa afirmación no se acepta por autoridad: el resto del bloque la comprueba ejecutando.</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09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VOCABULARIO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Cómo se lee una solicitud HTTP</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Una API es la puerta por la que otros programas usan el sistema. La del proyecto habla HTTP: el protocolo con el que un cliente envía una solicitud a un servidor y recibe una respuesta.</a:t>
            </a:r>
            <a:endParaRPr lang="en-US" sz="1420" dirty="0"/>
          </a:p>
        </p:txBody>
      </p:sp>
      <p:sp>
        <p:nvSpPr>
          <p:cNvPr id="11" name="Shape 8"/>
          <p:cNvSpPr/>
          <p:nvPr/>
        </p:nvSpPr>
        <p:spPr>
          <a:xfrm>
            <a:off x="658368" y="2286000"/>
            <a:ext cx="2624328" cy="1207008"/>
          </a:xfrm>
          <a:prstGeom prst="rect">
            <a:avLst/>
          </a:prstGeom>
          <a:solidFill>
            <a:srgbClr val="FFFFFF"/>
          </a:solidFill>
          <a:ln w="12700">
            <a:solidFill>
              <a:srgbClr val="FFFFFF"/>
            </a:solidFill>
            <a:prstDash val="solid"/>
          </a:ln>
        </p:spPr>
      </p:sp>
      <p:sp>
        <p:nvSpPr>
          <p:cNvPr id="12" name="Shape 9"/>
          <p:cNvSpPr/>
          <p:nvPr/>
        </p:nvSpPr>
        <p:spPr>
          <a:xfrm>
            <a:off x="658368" y="2286000"/>
            <a:ext cx="2624328" cy="54864"/>
          </a:xfrm>
          <a:prstGeom prst="rect">
            <a:avLst/>
          </a:prstGeom>
          <a:solidFill>
            <a:srgbClr val="102A43"/>
          </a:solidFill>
          <a:ln w="12700">
            <a:solidFill>
              <a:srgbClr val="102A43"/>
            </a:solidFill>
            <a:prstDash val="solid"/>
          </a:ln>
        </p:spPr>
      </p:sp>
      <p:sp>
        <p:nvSpPr>
          <p:cNvPr id="13" name="Text 10"/>
          <p:cNvSpPr txBox="1"/>
          <p:nvPr/>
        </p:nvSpPr>
        <p:spPr>
          <a:xfrm>
            <a:off x="859536" y="2432304"/>
            <a:ext cx="2221992" cy="182880"/>
          </a:xfrm>
          <a:prstGeom prst="rect">
            <a:avLst/>
          </a:prstGeom>
          <a:noFill/>
          <a:ln/>
        </p:spPr>
        <p:txBody>
          <a:bodyPr wrap="square" lIns="0" tIns="0" rIns="0" bIns="0" rtlCol="0" anchor="t"/>
          <a:lstStyle/>
          <a:p>
            <a:pPr algn="l" indent="0" marL="0">
              <a:buNone/>
            </a:pPr>
            <a:r>
              <a:rPr lang="en-US" sz="940" b="1" spc="110" kern="0" dirty="0">
                <a:solidFill>
                  <a:srgbClr val="102A43"/>
                </a:solidFill>
                <a:latin typeface="Aptos" pitchFamily="34" charset="0"/>
                <a:ea typeface="Aptos" pitchFamily="34" charset="-122"/>
                <a:cs typeface="Aptos" pitchFamily="34" charset="-120"/>
              </a:rPr>
              <a:t>MÉTODO</a:t>
            </a:r>
            <a:endParaRPr lang="en-US" sz="940" dirty="0"/>
          </a:p>
        </p:txBody>
      </p:sp>
      <p:sp>
        <p:nvSpPr>
          <p:cNvPr id="14" name="Text 11"/>
          <p:cNvSpPr txBox="1"/>
          <p:nvPr/>
        </p:nvSpPr>
        <p:spPr>
          <a:xfrm>
            <a:off x="859536" y="2670048"/>
            <a:ext cx="2221992" cy="457200"/>
          </a:xfrm>
          <a:prstGeom prst="rect">
            <a:avLst/>
          </a:prstGeom>
          <a:noFill/>
          <a:ln/>
        </p:spPr>
        <p:txBody>
          <a:bodyPr wrap="square" lIns="0" tIns="0" rIns="0" bIns="0" rtlCol="0" anchor="t"/>
          <a:lstStyle/>
          <a:p>
            <a:pPr algn="l" indent="0" marL="0">
              <a:lnSpc>
                <a:spcPct val="112000"/>
              </a:lnSpc>
              <a:buNone/>
            </a:pPr>
            <a:r>
              <a:rPr lang="en-US" sz="1160" dirty="0">
                <a:solidFill>
                  <a:srgbClr val="243B53"/>
                </a:solidFill>
                <a:latin typeface="Aptos" pitchFamily="34" charset="0"/>
                <a:ea typeface="Aptos" pitchFamily="34" charset="-122"/>
                <a:cs typeface="Aptos" pitchFamily="34" charset="-120"/>
              </a:rPr>
              <a:t>El verbo de la operación</a:t>
            </a:r>
            <a:endParaRPr lang="en-US" sz="1160" dirty="0"/>
          </a:p>
        </p:txBody>
      </p:sp>
      <p:sp>
        <p:nvSpPr>
          <p:cNvPr id="15" name="Text 12"/>
          <p:cNvSpPr txBox="1"/>
          <p:nvPr/>
        </p:nvSpPr>
        <p:spPr>
          <a:xfrm>
            <a:off x="859536" y="3163824"/>
            <a:ext cx="2221992" cy="237744"/>
          </a:xfrm>
          <a:prstGeom prst="rect">
            <a:avLst/>
          </a:prstGeom>
          <a:noFill/>
          <a:ln/>
        </p:spPr>
        <p:txBody>
          <a:bodyPr wrap="square" lIns="0" tIns="0" rIns="0" bIns="0" rtlCol="0" anchor="t"/>
          <a:lstStyle/>
          <a:p>
            <a:pPr algn="l" indent="0" marL="0">
              <a:buNone/>
            </a:pPr>
            <a:r>
              <a:rPr lang="en-US" sz="1060" b="1" dirty="0">
                <a:solidFill>
                  <a:srgbClr val="52606D"/>
                </a:solidFill>
                <a:latin typeface="Consolas" pitchFamily="34" charset="0"/>
                <a:ea typeface="Consolas" pitchFamily="34" charset="-122"/>
                <a:cs typeface="Consolas" pitchFamily="34" charset="-120"/>
              </a:rPr>
              <a:t>POST · crear algo nuevo</a:t>
            </a:r>
            <a:endParaRPr lang="en-US" sz="1060" dirty="0"/>
          </a:p>
        </p:txBody>
      </p:sp>
      <p:sp>
        <p:nvSpPr>
          <p:cNvPr id="16" name="Shape 13"/>
          <p:cNvSpPr/>
          <p:nvPr/>
        </p:nvSpPr>
        <p:spPr>
          <a:xfrm>
            <a:off x="3406140" y="2286000"/>
            <a:ext cx="2624328" cy="1207008"/>
          </a:xfrm>
          <a:prstGeom prst="rect">
            <a:avLst/>
          </a:prstGeom>
          <a:solidFill>
            <a:srgbClr val="FFFFFF"/>
          </a:solidFill>
          <a:ln w="12700">
            <a:solidFill>
              <a:srgbClr val="FFFFFF"/>
            </a:solidFill>
            <a:prstDash val="solid"/>
          </a:ln>
        </p:spPr>
      </p:sp>
      <p:sp>
        <p:nvSpPr>
          <p:cNvPr id="17" name="Shape 14"/>
          <p:cNvSpPr/>
          <p:nvPr/>
        </p:nvSpPr>
        <p:spPr>
          <a:xfrm>
            <a:off x="3406140" y="2286000"/>
            <a:ext cx="2624328" cy="54864"/>
          </a:xfrm>
          <a:prstGeom prst="rect">
            <a:avLst/>
          </a:prstGeom>
          <a:solidFill>
            <a:srgbClr val="102A43"/>
          </a:solidFill>
          <a:ln w="12700">
            <a:solidFill>
              <a:srgbClr val="102A43"/>
            </a:solidFill>
            <a:prstDash val="solid"/>
          </a:ln>
        </p:spPr>
      </p:sp>
      <p:sp>
        <p:nvSpPr>
          <p:cNvPr id="18" name="Text 15"/>
          <p:cNvSpPr txBox="1"/>
          <p:nvPr/>
        </p:nvSpPr>
        <p:spPr>
          <a:xfrm>
            <a:off x="3607308" y="2432304"/>
            <a:ext cx="2221992" cy="182880"/>
          </a:xfrm>
          <a:prstGeom prst="rect">
            <a:avLst/>
          </a:prstGeom>
          <a:noFill/>
          <a:ln/>
        </p:spPr>
        <p:txBody>
          <a:bodyPr wrap="square" lIns="0" tIns="0" rIns="0" bIns="0" rtlCol="0" anchor="t"/>
          <a:lstStyle/>
          <a:p>
            <a:pPr algn="l" indent="0" marL="0">
              <a:buNone/>
            </a:pPr>
            <a:r>
              <a:rPr lang="en-US" sz="940" b="1" spc="110" kern="0" dirty="0">
                <a:solidFill>
                  <a:srgbClr val="102A43"/>
                </a:solidFill>
                <a:latin typeface="Aptos" pitchFamily="34" charset="0"/>
                <a:ea typeface="Aptos" pitchFamily="34" charset="-122"/>
                <a:cs typeface="Aptos" pitchFamily="34" charset="-120"/>
              </a:rPr>
              <a:t>RUTA</a:t>
            </a:r>
            <a:endParaRPr lang="en-US" sz="940" dirty="0"/>
          </a:p>
        </p:txBody>
      </p:sp>
      <p:sp>
        <p:nvSpPr>
          <p:cNvPr id="19" name="Text 16"/>
          <p:cNvSpPr txBox="1"/>
          <p:nvPr/>
        </p:nvSpPr>
        <p:spPr>
          <a:xfrm>
            <a:off x="3607308" y="2670048"/>
            <a:ext cx="2221992" cy="457200"/>
          </a:xfrm>
          <a:prstGeom prst="rect">
            <a:avLst/>
          </a:prstGeom>
          <a:noFill/>
          <a:ln/>
        </p:spPr>
        <p:txBody>
          <a:bodyPr wrap="square" lIns="0" tIns="0" rIns="0" bIns="0" rtlCol="0" anchor="t"/>
          <a:lstStyle/>
          <a:p>
            <a:pPr algn="l" indent="0" marL="0">
              <a:lnSpc>
                <a:spcPct val="112000"/>
              </a:lnSpc>
              <a:buNone/>
            </a:pPr>
            <a:r>
              <a:rPr lang="en-US" sz="1160" dirty="0">
                <a:solidFill>
                  <a:srgbClr val="243B53"/>
                </a:solidFill>
                <a:latin typeface="Aptos" pitchFamily="34" charset="0"/>
                <a:ea typeface="Aptos" pitchFamily="34" charset="-122"/>
                <a:cs typeface="Aptos" pitchFamily="34" charset="-120"/>
              </a:rPr>
              <a:t>La dirección dentro del servicio</a:t>
            </a:r>
            <a:endParaRPr lang="en-US" sz="1160" dirty="0"/>
          </a:p>
        </p:txBody>
      </p:sp>
      <p:sp>
        <p:nvSpPr>
          <p:cNvPr id="20" name="Text 17"/>
          <p:cNvSpPr txBox="1"/>
          <p:nvPr/>
        </p:nvSpPr>
        <p:spPr>
          <a:xfrm>
            <a:off x="3607308" y="3163824"/>
            <a:ext cx="2221992" cy="237744"/>
          </a:xfrm>
          <a:prstGeom prst="rect">
            <a:avLst/>
          </a:prstGeom>
          <a:noFill/>
          <a:ln/>
        </p:spPr>
        <p:txBody>
          <a:bodyPr wrap="square" lIns="0" tIns="0" rIns="0" bIns="0" rtlCol="0" anchor="t"/>
          <a:lstStyle/>
          <a:p>
            <a:pPr algn="l" indent="0" marL="0">
              <a:buNone/>
            </a:pPr>
            <a:r>
              <a:rPr lang="en-US" sz="1060" b="1" dirty="0">
                <a:solidFill>
                  <a:srgbClr val="52606D"/>
                </a:solidFill>
                <a:latin typeface="Consolas" pitchFamily="34" charset="0"/>
                <a:ea typeface="Consolas" pitchFamily="34" charset="-122"/>
                <a:cs typeface="Consolas" pitchFamily="34" charset="-120"/>
              </a:rPr>
              <a:t>/reservas</a:t>
            </a:r>
            <a:endParaRPr lang="en-US" sz="1060" dirty="0"/>
          </a:p>
        </p:txBody>
      </p:sp>
      <p:sp>
        <p:nvSpPr>
          <p:cNvPr id="21" name="Shape 18"/>
          <p:cNvSpPr/>
          <p:nvPr/>
        </p:nvSpPr>
        <p:spPr>
          <a:xfrm>
            <a:off x="6153912" y="2286000"/>
            <a:ext cx="2624328" cy="1207008"/>
          </a:xfrm>
          <a:prstGeom prst="rect">
            <a:avLst/>
          </a:prstGeom>
          <a:solidFill>
            <a:srgbClr val="FFFFFF"/>
          </a:solidFill>
          <a:ln w="12700">
            <a:solidFill>
              <a:srgbClr val="FFFFFF"/>
            </a:solidFill>
            <a:prstDash val="solid"/>
          </a:ln>
        </p:spPr>
      </p:sp>
      <p:sp>
        <p:nvSpPr>
          <p:cNvPr id="22" name="Shape 19"/>
          <p:cNvSpPr/>
          <p:nvPr/>
        </p:nvSpPr>
        <p:spPr>
          <a:xfrm>
            <a:off x="6153912" y="2286000"/>
            <a:ext cx="2624328" cy="54864"/>
          </a:xfrm>
          <a:prstGeom prst="rect">
            <a:avLst/>
          </a:prstGeom>
          <a:solidFill>
            <a:srgbClr val="102A43"/>
          </a:solidFill>
          <a:ln w="12700">
            <a:solidFill>
              <a:srgbClr val="102A43"/>
            </a:solidFill>
            <a:prstDash val="solid"/>
          </a:ln>
        </p:spPr>
      </p:sp>
      <p:sp>
        <p:nvSpPr>
          <p:cNvPr id="23" name="Text 20"/>
          <p:cNvSpPr txBox="1"/>
          <p:nvPr/>
        </p:nvSpPr>
        <p:spPr>
          <a:xfrm>
            <a:off x="6355080" y="2432304"/>
            <a:ext cx="2221992" cy="182880"/>
          </a:xfrm>
          <a:prstGeom prst="rect">
            <a:avLst/>
          </a:prstGeom>
          <a:noFill/>
          <a:ln/>
        </p:spPr>
        <p:txBody>
          <a:bodyPr wrap="square" lIns="0" tIns="0" rIns="0" bIns="0" rtlCol="0" anchor="t"/>
          <a:lstStyle/>
          <a:p>
            <a:pPr algn="l" indent="0" marL="0">
              <a:buNone/>
            </a:pPr>
            <a:r>
              <a:rPr lang="en-US" sz="940" b="1" spc="110" kern="0" dirty="0">
                <a:solidFill>
                  <a:srgbClr val="102A43"/>
                </a:solidFill>
                <a:latin typeface="Aptos" pitchFamily="34" charset="0"/>
                <a:ea typeface="Aptos" pitchFamily="34" charset="-122"/>
                <a:cs typeface="Aptos" pitchFamily="34" charset="-120"/>
              </a:rPr>
              <a:t>CUERPO</a:t>
            </a:r>
            <a:endParaRPr lang="en-US" sz="940" dirty="0"/>
          </a:p>
        </p:txBody>
      </p:sp>
      <p:sp>
        <p:nvSpPr>
          <p:cNvPr id="24" name="Text 21"/>
          <p:cNvSpPr txBox="1"/>
          <p:nvPr/>
        </p:nvSpPr>
        <p:spPr>
          <a:xfrm>
            <a:off x="6355080" y="2670048"/>
            <a:ext cx="2221992" cy="457200"/>
          </a:xfrm>
          <a:prstGeom prst="rect">
            <a:avLst/>
          </a:prstGeom>
          <a:noFill/>
          <a:ln/>
        </p:spPr>
        <p:txBody>
          <a:bodyPr wrap="square" lIns="0" tIns="0" rIns="0" bIns="0" rtlCol="0" anchor="t"/>
          <a:lstStyle/>
          <a:p>
            <a:pPr algn="l" indent="0" marL="0">
              <a:lnSpc>
                <a:spcPct val="112000"/>
              </a:lnSpc>
              <a:buNone/>
            </a:pPr>
            <a:r>
              <a:rPr lang="en-US" sz="1160" dirty="0">
                <a:solidFill>
                  <a:srgbClr val="243B53"/>
                </a:solidFill>
                <a:latin typeface="Aptos" pitchFamily="34" charset="0"/>
                <a:ea typeface="Aptos" pitchFamily="34" charset="-122"/>
                <a:cs typeface="Aptos" pitchFamily="34" charset="-120"/>
              </a:rPr>
              <a:t>Los datos que viajan, en JSON</a:t>
            </a:r>
            <a:endParaRPr lang="en-US" sz="1160" dirty="0"/>
          </a:p>
        </p:txBody>
      </p:sp>
      <p:sp>
        <p:nvSpPr>
          <p:cNvPr id="25" name="Text 22"/>
          <p:cNvSpPr txBox="1"/>
          <p:nvPr/>
        </p:nvSpPr>
        <p:spPr>
          <a:xfrm>
            <a:off x="6355080" y="3163824"/>
            <a:ext cx="2221992" cy="237744"/>
          </a:xfrm>
          <a:prstGeom prst="rect">
            <a:avLst/>
          </a:prstGeom>
          <a:noFill/>
          <a:ln/>
        </p:spPr>
        <p:txBody>
          <a:bodyPr wrap="square" lIns="0" tIns="0" rIns="0" bIns="0" rtlCol="0" anchor="t"/>
          <a:lstStyle/>
          <a:p>
            <a:pPr algn="l" indent="0" marL="0">
              <a:buNone/>
            </a:pPr>
            <a:r>
              <a:rPr lang="en-US" sz="1060" b="1" dirty="0">
                <a:solidFill>
                  <a:srgbClr val="52606D"/>
                </a:solidFill>
                <a:latin typeface="Consolas" pitchFamily="34" charset="0"/>
                <a:ea typeface="Consolas" pitchFamily="34" charset="-122"/>
                <a:cs typeface="Consolas" pitchFamily="34" charset="-120"/>
              </a:rPr>
              <a:t>{"bloque": 4, …}</a:t>
            </a:r>
            <a:endParaRPr lang="en-US" sz="1060" dirty="0"/>
          </a:p>
        </p:txBody>
      </p:sp>
      <p:sp>
        <p:nvSpPr>
          <p:cNvPr id="26" name="Shape 23"/>
          <p:cNvSpPr/>
          <p:nvPr/>
        </p:nvSpPr>
        <p:spPr>
          <a:xfrm>
            <a:off x="8901684" y="2286000"/>
            <a:ext cx="2624328" cy="1207008"/>
          </a:xfrm>
          <a:prstGeom prst="rect">
            <a:avLst/>
          </a:prstGeom>
          <a:solidFill>
            <a:srgbClr val="FFFFFF"/>
          </a:solidFill>
          <a:ln w="12700">
            <a:solidFill>
              <a:srgbClr val="FFFFFF"/>
            </a:solidFill>
            <a:prstDash val="solid"/>
          </a:ln>
        </p:spPr>
      </p:sp>
      <p:sp>
        <p:nvSpPr>
          <p:cNvPr id="27" name="Shape 24"/>
          <p:cNvSpPr/>
          <p:nvPr/>
        </p:nvSpPr>
        <p:spPr>
          <a:xfrm>
            <a:off x="8901684" y="2286000"/>
            <a:ext cx="2624328" cy="54864"/>
          </a:xfrm>
          <a:prstGeom prst="rect">
            <a:avLst/>
          </a:prstGeom>
          <a:solidFill>
            <a:srgbClr val="102A43"/>
          </a:solidFill>
          <a:ln w="12700">
            <a:solidFill>
              <a:srgbClr val="102A43"/>
            </a:solidFill>
            <a:prstDash val="solid"/>
          </a:ln>
        </p:spPr>
      </p:sp>
      <p:sp>
        <p:nvSpPr>
          <p:cNvPr id="28" name="Text 25"/>
          <p:cNvSpPr txBox="1"/>
          <p:nvPr/>
        </p:nvSpPr>
        <p:spPr>
          <a:xfrm>
            <a:off x="9102852" y="2432304"/>
            <a:ext cx="2221992" cy="182880"/>
          </a:xfrm>
          <a:prstGeom prst="rect">
            <a:avLst/>
          </a:prstGeom>
          <a:noFill/>
          <a:ln/>
        </p:spPr>
        <p:txBody>
          <a:bodyPr wrap="square" lIns="0" tIns="0" rIns="0" bIns="0" rtlCol="0" anchor="t"/>
          <a:lstStyle/>
          <a:p>
            <a:pPr algn="l" indent="0" marL="0">
              <a:buNone/>
            </a:pPr>
            <a:r>
              <a:rPr lang="en-US" sz="940" b="1" spc="110" kern="0" dirty="0">
                <a:solidFill>
                  <a:srgbClr val="102A43"/>
                </a:solidFill>
                <a:latin typeface="Aptos" pitchFamily="34" charset="0"/>
                <a:ea typeface="Aptos" pitchFamily="34" charset="-122"/>
                <a:cs typeface="Aptos" pitchFamily="34" charset="-120"/>
              </a:rPr>
              <a:t>ESTADO</a:t>
            </a:r>
            <a:endParaRPr lang="en-US" sz="940" dirty="0"/>
          </a:p>
        </p:txBody>
      </p:sp>
      <p:sp>
        <p:nvSpPr>
          <p:cNvPr id="29" name="Text 26"/>
          <p:cNvSpPr txBox="1"/>
          <p:nvPr/>
        </p:nvSpPr>
        <p:spPr>
          <a:xfrm>
            <a:off x="9102852" y="2670048"/>
            <a:ext cx="2221992" cy="457200"/>
          </a:xfrm>
          <a:prstGeom prst="rect">
            <a:avLst/>
          </a:prstGeom>
          <a:noFill/>
          <a:ln/>
        </p:spPr>
        <p:txBody>
          <a:bodyPr wrap="square" lIns="0" tIns="0" rIns="0" bIns="0" rtlCol="0" anchor="t"/>
          <a:lstStyle/>
          <a:p>
            <a:pPr algn="l" indent="0" marL="0">
              <a:lnSpc>
                <a:spcPct val="112000"/>
              </a:lnSpc>
              <a:buNone/>
            </a:pPr>
            <a:r>
              <a:rPr lang="en-US" sz="1160" dirty="0">
                <a:solidFill>
                  <a:srgbClr val="243B53"/>
                </a:solidFill>
                <a:latin typeface="Aptos" pitchFamily="34" charset="0"/>
                <a:ea typeface="Aptos" pitchFamily="34" charset="-122"/>
                <a:cs typeface="Aptos" pitchFamily="34" charset="-120"/>
              </a:rPr>
              <a:t>Un número que resume qué pasó</a:t>
            </a:r>
            <a:endParaRPr lang="en-US" sz="1160" dirty="0"/>
          </a:p>
        </p:txBody>
      </p:sp>
      <p:sp>
        <p:nvSpPr>
          <p:cNvPr id="30" name="Text 27"/>
          <p:cNvSpPr txBox="1"/>
          <p:nvPr/>
        </p:nvSpPr>
        <p:spPr>
          <a:xfrm>
            <a:off x="9102852" y="3163824"/>
            <a:ext cx="2221992" cy="237744"/>
          </a:xfrm>
          <a:prstGeom prst="rect">
            <a:avLst/>
          </a:prstGeom>
          <a:noFill/>
          <a:ln/>
        </p:spPr>
        <p:txBody>
          <a:bodyPr wrap="square" lIns="0" tIns="0" rIns="0" bIns="0" rtlCol="0" anchor="t"/>
          <a:lstStyle/>
          <a:p>
            <a:pPr algn="l" indent="0" marL="0">
              <a:buNone/>
            </a:pPr>
            <a:r>
              <a:rPr lang="en-US" sz="1060" b="1" dirty="0">
                <a:solidFill>
                  <a:srgbClr val="52606D"/>
                </a:solidFill>
                <a:latin typeface="Consolas" pitchFamily="34" charset="0"/>
                <a:ea typeface="Consolas" pitchFamily="34" charset="-122"/>
                <a:cs typeface="Consolas" pitchFamily="34" charset="-120"/>
              </a:rPr>
              <a:t>200 · 201 · 409 · 422</a:t>
            </a:r>
            <a:endParaRPr lang="en-US" sz="1060" dirty="0"/>
          </a:p>
        </p:txBody>
      </p:sp>
      <p:sp>
        <p:nvSpPr>
          <p:cNvPr id="31" name="Shape 28"/>
          <p:cNvSpPr/>
          <p:nvPr/>
        </p:nvSpPr>
        <p:spPr>
          <a:xfrm>
            <a:off x="658368" y="3694176"/>
            <a:ext cx="10874959" cy="420624"/>
          </a:xfrm>
          <a:prstGeom prst="rect">
            <a:avLst/>
          </a:prstGeom>
          <a:solidFill>
            <a:srgbClr val="EDE6DA"/>
          </a:solidFill>
          <a:ln w="12700">
            <a:solidFill>
              <a:srgbClr val="EDE6DA"/>
            </a:solidFill>
            <a:prstDash val="solid"/>
          </a:ln>
        </p:spPr>
      </p:sp>
      <p:sp>
        <p:nvSpPr>
          <p:cNvPr id="32" name="Shape 29"/>
          <p:cNvSpPr/>
          <p:nvPr/>
        </p:nvSpPr>
        <p:spPr>
          <a:xfrm>
            <a:off x="658368" y="3694176"/>
            <a:ext cx="54864" cy="420624"/>
          </a:xfrm>
          <a:prstGeom prst="rect">
            <a:avLst/>
          </a:prstGeom>
          <a:solidFill>
            <a:srgbClr val="52606D"/>
          </a:solidFill>
          <a:ln w="12700">
            <a:solidFill>
              <a:srgbClr val="52606D"/>
            </a:solidFill>
            <a:prstDash val="solid"/>
          </a:ln>
        </p:spPr>
      </p:sp>
      <p:sp>
        <p:nvSpPr>
          <p:cNvPr id="33" name="Text 30"/>
          <p:cNvSpPr txBox="1"/>
          <p:nvPr/>
        </p:nvSpPr>
        <p:spPr>
          <a:xfrm>
            <a:off x="896112" y="3749040"/>
            <a:ext cx="731520" cy="310896"/>
          </a:xfrm>
          <a:prstGeom prst="rect">
            <a:avLst/>
          </a:prstGeom>
          <a:noFill/>
          <a:ln/>
        </p:spPr>
        <p:txBody>
          <a:bodyPr wrap="square" lIns="0" tIns="0" rIns="0" bIns="0" rtlCol="0" anchor="ctr"/>
          <a:lstStyle/>
          <a:p>
            <a:pPr algn="l" indent="0" marL="0">
              <a:buNone/>
            </a:pPr>
            <a:r>
              <a:rPr lang="en-US" sz="2000" b="1" dirty="0">
                <a:solidFill>
                  <a:srgbClr val="52606D"/>
                </a:solidFill>
                <a:latin typeface="Aptos Display" pitchFamily="34" charset="0"/>
                <a:ea typeface="Aptos Display" pitchFamily="34" charset="-122"/>
                <a:cs typeface="Aptos Display" pitchFamily="34" charset="-120"/>
              </a:rPr>
              <a:t>200</a:t>
            </a:r>
            <a:endParaRPr lang="en-US" sz="2000" dirty="0"/>
          </a:p>
        </p:txBody>
      </p:sp>
      <p:sp>
        <p:nvSpPr>
          <p:cNvPr id="34" name="Text 31"/>
          <p:cNvSpPr txBox="1"/>
          <p:nvPr/>
        </p:nvSpPr>
        <p:spPr>
          <a:xfrm>
            <a:off x="1773936" y="3794760"/>
            <a:ext cx="237744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OK</a:t>
            </a:r>
            <a:endParaRPr lang="en-US" sz="1240" dirty="0"/>
          </a:p>
        </p:txBody>
      </p:sp>
      <p:sp>
        <p:nvSpPr>
          <p:cNvPr id="35" name="Text 32"/>
          <p:cNvSpPr txBox="1"/>
          <p:nvPr/>
        </p:nvSpPr>
        <p:spPr>
          <a:xfrm>
            <a:off x="4315968" y="3794760"/>
            <a:ext cx="6949440" cy="237744"/>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La solicitud se procesó correctamente</a:t>
            </a:r>
            <a:endParaRPr lang="en-US" sz="1200" dirty="0"/>
          </a:p>
        </p:txBody>
      </p:sp>
      <p:sp>
        <p:nvSpPr>
          <p:cNvPr id="36" name="Shape 33"/>
          <p:cNvSpPr/>
          <p:nvPr/>
        </p:nvSpPr>
        <p:spPr>
          <a:xfrm>
            <a:off x="658368" y="4169664"/>
            <a:ext cx="10874959" cy="420624"/>
          </a:xfrm>
          <a:prstGeom prst="rect">
            <a:avLst/>
          </a:prstGeom>
          <a:solidFill>
            <a:srgbClr val="F8F3EC"/>
          </a:solidFill>
          <a:ln w="12700">
            <a:solidFill>
              <a:srgbClr val="F8F3EC"/>
            </a:solidFill>
            <a:prstDash val="solid"/>
          </a:ln>
        </p:spPr>
      </p:sp>
      <p:sp>
        <p:nvSpPr>
          <p:cNvPr id="37" name="Shape 34"/>
          <p:cNvSpPr/>
          <p:nvPr/>
        </p:nvSpPr>
        <p:spPr>
          <a:xfrm>
            <a:off x="658368" y="4169664"/>
            <a:ext cx="54864" cy="420624"/>
          </a:xfrm>
          <a:prstGeom prst="rect">
            <a:avLst/>
          </a:prstGeom>
          <a:solidFill>
            <a:srgbClr val="2E7D4F"/>
          </a:solidFill>
          <a:ln w="12700">
            <a:solidFill>
              <a:srgbClr val="2E7D4F"/>
            </a:solidFill>
            <a:prstDash val="solid"/>
          </a:ln>
        </p:spPr>
      </p:sp>
      <p:sp>
        <p:nvSpPr>
          <p:cNvPr id="38" name="Text 35"/>
          <p:cNvSpPr txBox="1"/>
          <p:nvPr/>
        </p:nvSpPr>
        <p:spPr>
          <a:xfrm>
            <a:off x="896112" y="4224528"/>
            <a:ext cx="731520" cy="310896"/>
          </a:xfrm>
          <a:prstGeom prst="rect">
            <a:avLst/>
          </a:prstGeom>
          <a:noFill/>
          <a:ln/>
        </p:spPr>
        <p:txBody>
          <a:bodyPr wrap="square" lIns="0" tIns="0" rIns="0" bIns="0" rtlCol="0" anchor="ctr"/>
          <a:lstStyle/>
          <a:p>
            <a:pPr algn="l" indent="0" marL="0">
              <a:buNone/>
            </a:pPr>
            <a:r>
              <a:rPr lang="en-US" sz="2000" b="1" dirty="0">
                <a:solidFill>
                  <a:srgbClr val="2E7D4F"/>
                </a:solidFill>
                <a:latin typeface="Aptos Display" pitchFamily="34" charset="0"/>
                <a:ea typeface="Aptos Display" pitchFamily="34" charset="-122"/>
                <a:cs typeface="Aptos Display" pitchFamily="34" charset="-120"/>
              </a:rPr>
              <a:t>201</a:t>
            </a:r>
            <a:endParaRPr lang="en-US" sz="2000" dirty="0"/>
          </a:p>
        </p:txBody>
      </p:sp>
      <p:sp>
        <p:nvSpPr>
          <p:cNvPr id="39" name="Text 36"/>
          <p:cNvSpPr txBox="1"/>
          <p:nvPr/>
        </p:nvSpPr>
        <p:spPr>
          <a:xfrm>
            <a:off x="1773936" y="4270248"/>
            <a:ext cx="237744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Created</a:t>
            </a:r>
            <a:endParaRPr lang="en-US" sz="1240" dirty="0"/>
          </a:p>
        </p:txBody>
      </p:sp>
      <p:sp>
        <p:nvSpPr>
          <p:cNvPr id="40" name="Text 37"/>
          <p:cNvSpPr txBox="1"/>
          <p:nvPr/>
        </p:nvSpPr>
        <p:spPr>
          <a:xfrm>
            <a:off x="4315968" y="4270248"/>
            <a:ext cx="6949440" cy="237744"/>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Se procesó y creó un recurso nuevo</a:t>
            </a:r>
            <a:endParaRPr lang="en-US" sz="1200" dirty="0"/>
          </a:p>
        </p:txBody>
      </p:sp>
      <p:sp>
        <p:nvSpPr>
          <p:cNvPr id="41" name="Shape 38"/>
          <p:cNvSpPr/>
          <p:nvPr/>
        </p:nvSpPr>
        <p:spPr>
          <a:xfrm>
            <a:off x="658368" y="4645152"/>
            <a:ext cx="10874959" cy="420624"/>
          </a:xfrm>
          <a:prstGeom prst="rect">
            <a:avLst/>
          </a:prstGeom>
          <a:solidFill>
            <a:srgbClr val="EDE6DA"/>
          </a:solidFill>
          <a:ln w="12700">
            <a:solidFill>
              <a:srgbClr val="EDE6DA"/>
            </a:solidFill>
            <a:prstDash val="solid"/>
          </a:ln>
        </p:spPr>
      </p:sp>
      <p:sp>
        <p:nvSpPr>
          <p:cNvPr id="42" name="Shape 39"/>
          <p:cNvSpPr/>
          <p:nvPr/>
        </p:nvSpPr>
        <p:spPr>
          <a:xfrm>
            <a:off x="658368" y="4645152"/>
            <a:ext cx="54864" cy="420624"/>
          </a:xfrm>
          <a:prstGeom prst="rect">
            <a:avLst/>
          </a:prstGeom>
          <a:solidFill>
            <a:srgbClr val="8A6A12"/>
          </a:solidFill>
          <a:ln w="12700">
            <a:solidFill>
              <a:srgbClr val="8A6A12"/>
            </a:solidFill>
            <a:prstDash val="solid"/>
          </a:ln>
        </p:spPr>
      </p:sp>
      <p:sp>
        <p:nvSpPr>
          <p:cNvPr id="43" name="Text 40"/>
          <p:cNvSpPr txBox="1"/>
          <p:nvPr/>
        </p:nvSpPr>
        <p:spPr>
          <a:xfrm>
            <a:off x="896112" y="4700016"/>
            <a:ext cx="731520" cy="310896"/>
          </a:xfrm>
          <a:prstGeom prst="rect">
            <a:avLst/>
          </a:prstGeom>
          <a:noFill/>
          <a:ln/>
        </p:spPr>
        <p:txBody>
          <a:bodyPr wrap="square" lIns="0" tIns="0" rIns="0" bIns="0" rtlCol="0" anchor="ctr"/>
          <a:lstStyle/>
          <a:p>
            <a:pPr algn="l" indent="0" marL="0">
              <a:buNone/>
            </a:pPr>
            <a:r>
              <a:rPr lang="en-US" sz="2000" b="1" dirty="0">
                <a:solidFill>
                  <a:srgbClr val="8A6A12"/>
                </a:solidFill>
                <a:latin typeface="Aptos Display" pitchFamily="34" charset="0"/>
                <a:ea typeface="Aptos Display" pitchFamily="34" charset="-122"/>
                <a:cs typeface="Aptos Display" pitchFamily="34" charset="-120"/>
              </a:rPr>
              <a:t>409</a:t>
            </a:r>
            <a:endParaRPr lang="en-US" sz="2000" dirty="0"/>
          </a:p>
        </p:txBody>
      </p:sp>
      <p:sp>
        <p:nvSpPr>
          <p:cNvPr id="44" name="Text 41"/>
          <p:cNvSpPr txBox="1"/>
          <p:nvPr/>
        </p:nvSpPr>
        <p:spPr>
          <a:xfrm>
            <a:off x="1773936" y="4745736"/>
            <a:ext cx="237744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Conflict</a:t>
            </a:r>
            <a:endParaRPr lang="en-US" sz="1240" dirty="0"/>
          </a:p>
        </p:txBody>
      </p:sp>
      <p:sp>
        <p:nvSpPr>
          <p:cNvPr id="45" name="Text 42"/>
          <p:cNvSpPr txBox="1"/>
          <p:nvPr/>
        </p:nvSpPr>
        <p:spPr>
          <a:xfrm>
            <a:off x="4315968" y="4745736"/>
            <a:ext cx="6949440" cy="237744"/>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Era válida, pero choca con el estado actual</a:t>
            </a:r>
            <a:endParaRPr lang="en-US" sz="1200" dirty="0"/>
          </a:p>
        </p:txBody>
      </p:sp>
      <p:sp>
        <p:nvSpPr>
          <p:cNvPr id="46" name="Shape 43"/>
          <p:cNvSpPr/>
          <p:nvPr/>
        </p:nvSpPr>
        <p:spPr>
          <a:xfrm>
            <a:off x="658368" y="5120640"/>
            <a:ext cx="10874959" cy="420624"/>
          </a:xfrm>
          <a:prstGeom prst="rect">
            <a:avLst/>
          </a:prstGeom>
          <a:solidFill>
            <a:srgbClr val="F8F3EC"/>
          </a:solidFill>
          <a:ln w="12700">
            <a:solidFill>
              <a:srgbClr val="F8F3EC"/>
            </a:solidFill>
            <a:prstDash val="solid"/>
          </a:ln>
        </p:spPr>
      </p:sp>
      <p:sp>
        <p:nvSpPr>
          <p:cNvPr id="47" name="Shape 44"/>
          <p:cNvSpPr/>
          <p:nvPr/>
        </p:nvSpPr>
        <p:spPr>
          <a:xfrm>
            <a:off x="658368" y="5120640"/>
            <a:ext cx="54864" cy="420624"/>
          </a:xfrm>
          <a:prstGeom prst="rect">
            <a:avLst/>
          </a:prstGeom>
          <a:solidFill>
            <a:srgbClr val="B3181E"/>
          </a:solidFill>
          <a:ln w="12700">
            <a:solidFill>
              <a:srgbClr val="B3181E"/>
            </a:solidFill>
            <a:prstDash val="solid"/>
          </a:ln>
        </p:spPr>
      </p:sp>
      <p:sp>
        <p:nvSpPr>
          <p:cNvPr id="48" name="Text 45"/>
          <p:cNvSpPr txBox="1"/>
          <p:nvPr/>
        </p:nvSpPr>
        <p:spPr>
          <a:xfrm>
            <a:off x="896112" y="5175504"/>
            <a:ext cx="731520" cy="310896"/>
          </a:xfrm>
          <a:prstGeom prst="rect">
            <a:avLst/>
          </a:prstGeom>
          <a:noFill/>
          <a:ln/>
        </p:spPr>
        <p:txBody>
          <a:bodyPr wrap="square" lIns="0" tIns="0" rIns="0" bIns="0" rtlCol="0" anchor="ctr"/>
          <a:lstStyle/>
          <a:p>
            <a:pPr algn="l" indent="0" marL="0">
              <a:buNone/>
            </a:pPr>
            <a:r>
              <a:rPr lang="en-US" sz="2000" b="1" dirty="0">
                <a:solidFill>
                  <a:srgbClr val="B3181E"/>
                </a:solidFill>
                <a:latin typeface="Aptos Display" pitchFamily="34" charset="0"/>
                <a:ea typeface="Aptos Display" pitchFamily="34" charset="-122"/>
                <a:cs typeface="Aptos Display" pitchFamily="34" charset="-120"/>
              </a:rPr>
              <a:t>422</a:t>
            </a:r>
            <a:endParaRPr lang="en-US" sz="2000" dirty="0"/>
          </a:p>
        </p:txBody>
      </p:sp>
      <p:sp>
        <p:nvSpPr>
          <p:cNvPr id="49" name="Text 46"/>
          <p:cNvSpPr txBox="1"/>
          <p:nvPr/>
        </p:nvSpPr>
        <p:spPr>
          <a:xfrm>
            <a:off x="1773936" y="5221224"/>
            <a:ext cx="2377440" cy="237744"/>
          </a:xfrm>
          <a:prstGeom prst="rect">
            <a:avLst/>
          </a:prstGeom>
          <a:noFill/>
          <a:ln/>
        </p:spPr>
        <p:txBody>
          <a:bodyPr wrap="square" lIns="0" tIns="0" rIns="0" bIns="0" rtlCol="0" anchor="t"/>
          <a:lstStyle/>
          <a:p>
            <a:pPr algn="l" indent="0" marL="0">
              <a:buNone/>
            </a:pPr>
            <a:r>
              <a:rPr lang="en-US" sz="1240" b="1" dirty="0">
                <a:solidFill>
                  <a:srgbClr val="243B53"/>
                </a:solidFill>
                <a:latin typeface="Aptos" pitchFamily="34" charset="0"/>
                <a:ea typeface="Aptos" pitchFamily="34" charset="-122"/>
                <a:cs typeface="Aptos" pitchFamily="34" charset="-120"/>
              </a:rPr>
              <a:t>Unprocessable Content</a:t>
            </a:r>
            <a:endParaRPr lang="en-US" sz="1240" dirty="0"/>
          </a:p>
        </p:txBody>
      </p:sp>
      <p:sp>
        <p:nvSpPr>
          <p:cNvPr id="50" name="Text 47"/>
          <p:cNvSpPr txBox="1"/>
          <p:nvPr/>
        </p:nvSpPr>
        <p:spPr>
          <a:xfrm>
            <a:off x="4315968" y="5221224"/>
            <a:ext cx="6949440" cy="237744"/>
          </a:xfrm>
          <a:prstGeom prst="rect">
            <a:avLst/>
          </a:prstGeom>
          <a:noFill/>
          <a:ln/>
        </p:spPr>
        <p:txBody>
          <a:bodyPr wrap="square" lIns="0" tIns="0" rIns="0" bIns="0" rtlCol="0" anchor="t"/>
          <a:lstStyle/>
          <a:p>
            <a:pPr algn="l" indent="0" marL="0">
              <a:buNone/>
            </a:pPr>
            <a:r>
              <a:rPr lang="en-US" sz="1200" dirty="0">
                <a:solidFill>
                  <a:srgbClr val="52606D"/>
                </a:solidFill>
                <a:latin typeface="Aptos" pitchFamily="34" charset="0"/>
                <a:ea typeface="Aptos" pitchFamily="34" charset="-122"/>
                <a:cs typeface="Aptos" pitchFamily="34" charset="-120"/>
              </a:rPr>
              <a:t>El cuerpo llegó sin la forma esperada; no se intentó procesarlo</a:t>
            </a:r>
            <a:endParaRPr lang="en-US" sz="1200" dirty="0"/>
          </a:p>
        </p:txBody>
      </p:sp>
      <p:sp>
        <p:nvSpPr>
          <p:cNvPr id="51" name="Shape 48"/>
          <p:cNvSpPr/>
          <p:nvPr/>
        </p:nvSpPr>
        <p:spPr>
          <a:xfrm>
            <a:off x="658368" y="5650992"/>
            <a:ext cx="10874959" cy="548640"/>
          </a:xfrm>
          <a:prstGeom prst="rect">
            <a:avLst/>
          </a:prstGeom>
          <a:solidFill>
            <a:srgbClr val="102A43"/>
          </a:solidFill>
          <a:ln w="12700">
            <a:solidFill>
              <a:srgbClr val="102A43"/>
            </a:solidFill>
            <a:prstDash val="solid"/>
          </a:ln>
        </p:spPr>
      </p:sp>
      <p:sp>
        <p:nvSpPr>
          <p:cNvPr id="52" name="Text 4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código de estado es parte del acuerdo: dice qué significa la respuesta, no solo que hubo una.</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LEER ANTES DE PROBAR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900" b="1" dirty="0">
                <a:solidFill>
                  <a:srgbClr val="243B53"/>
                </a:solidFill>
                <a:latin typeface="Aptos Display" pitchFamily="34" charset="0"/>
                <a:ea typeface="Aptos Display" pitchFamily="34" charset="-122"/>
                <a:cs typeface="Aptos Display" pitchFamily="34" charset="-120"/>
              </a:rPr>
              <a:t>La API del proyecto se entrega escrita</a:t>
            </a:r>
            <a:endParaRPr lang="en-US" sz="29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sesión es sobre probar la integración, no sobre construir la API. Pero lo que no se entiende no se puede auditar, así que se lee entera.</a:t>
            </a:r>
            <a:endParaRPr lang="en-US" sz="1420" dirty="0"/>
          </a:p>
        </p:txBody>
      </p:sp>
      <p:sp>
        <p:nvSpPr>
          <p:cNvPr id="11" name="Shape 8"/>
          <p:cNvSpPr/>
          <p:nvPr/>
        </p:nvSpPr>
        <p:spPr>
          <a:xfrm>
            <a:off x="658368" y="2286000"/>
            <a:ext cx="5943600" cy="2999232"/>
          </a:xfrm>
          <a:prstGeom prst="roundRect">
            <a:avLst>
              <a:gd name="adj" fmla="val 1220"/>
            </a:avLst>
          </a:prstGeom>
          <a:solidFill>
            <a:srgbClr val="102A43"/>
          </a:solidFill>
          <a:ln w="12700">
            <a:solidFill>
              <a:srgbClr val="102A43"/>
            </a:solidFill>
            <a:prstDash val="solid"/>
          </a:ln>
        </p:spPr>
      </p:sp>
      <p:sp>
        <p:nvSpPr>
          <p:cNvPr id="12" name="Shape 9"/>
          <p:cNvSpPr/>
          <p:nvPr/>
        </p:nvSpPr>
        <p:spPr>
          <a:xfrm>
            <a:off x="786384" y="2395728"/>
            <a:ext cx="56875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4681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api.py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522976" cy="2249424"/>
          </a:xfrm>
          <a:prstGeom prst="rect">
            <a:avLst/>
          </a:prstGeom>
        </p:spPr>
      </p:pic>
      <p:sp>
        <p:nvSpPr>
          <p:cNvPr id="15" name="Shape 11"/>
          <p:cNvSpPr/>
          <p:nvPr/>
        </p:nvSpPr>
        <p:spPr>
          <a:xfrm>
            <a:off x="6967728" y="2286000"/>
            <a:ext cx="4572000" cy="914400"/>
          </a:xfrm>
          <a:prstGeom prst="rect">
            <a:avLst/>
          </a:prstGeom>
          <a:solidFill>
            <a:srgbClr val="FFFFFF"/>
          </a:solidFill>
          <a:ln w="12700">
            <a:solidFill>
              <a:srgbClr val="FFFFFF"/>
            </a:solidFill>
            <a:prstDash val="solid"/>
          </a:ln>
        </p:spPr>
      </p:sp>
      <p:sp>
        <p:nvSpPr>
          <p:cNvPr id="16" name="Shape 12"/>
          <p:cNvSpPr/>
          <p:nvPr/>
        </p:nvSpPr>
        <p:spPr>
          <a:xfrm>
            <a:off x="6967728" y="2286000"/>
            <a:ext cx="54864" cy="914400"/>
          </a:xfrm>
          <a:prstGeom prst="rect">
            <a:avLst/>
          </a:prstGeom>
          <a:solidFill>
            <a:srgbClr val="102A43"/>
          </a:solidFill>
          <a:ln w="12700">
            <a:solidFill>
              <a:srgbClr val="102A43"/>
            </a:solidFill>
            <a:prstDash val="solid"/>
          </a:ln>
        </p:spPr>
      </p:sp>
      <p:sp>
        <p:nvSpPr>
          <p:cNvPr id="17" name="Text 13"/>
          <p:cNvSpPr txBox="1"/>
          <p:nvPr/>
        </p:nvSpPr>
        <p:spPr>
          <a:xfrm>
            <a:off x="7205472" y="2414016"/>
            <a:ext cx="411480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BASEMODEL</a:t>
            </a:r>
            <a:endParaRPr lang="en-US" sz="920" dirty="0"/>
          </a:p>
        </p:txBody>
      </p:sp>
      <p:sp>
        <p:nvSpPr>
          <p:cNvPr id="18" name="Text 14"/>
          <p:cNvSpPr txBox="1"/>
          <p:nvPr/>
        </p:nvSpPr>
        <p:spPr>
          <a:xfrm>
            <a:off x="7205472" y="2670048"/>
            <a:ext cx="4114800" cy="420624"/>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Declara qué forma debe tener el cuerpo. Viene de Pydantic, la librería que FastAPI usa para validar.</a:t>
            </a:r>
            <a:endParaRPr lang="en-US" sz="1210" dirty="0"/>
          </a:p>
        </p:txBody>
      </p:sp>
      <p:sp>
        <p:nvSpPr>
          <p:cNvPr id="19" name="Shape 15"/>
          <p:cNvSpPr/>
          <p:nvPr/>
        </p:nvSpPr>
        <p:spPr>
          <a:xfrm>
            <a:off x="6967728" y="3291840"/>
            <a:ext cx="4572000" cy="914400"/>
          </a:xfrm>
          <a:prstGeom prst="rect">
            <a:avLst/>
          </a:prstGeom>
          <a:solidFill>
            <a:srgbClr val="FFFFFF"/>
          </a:solidFill>
          <a:ln w="12700">
            <a:solidFill>
              <a:srgbClr val="FFFFFF"/>
            </a:solidFill>
            <a:prstDash val="solid"/>
          </a:ln>
        </p:spPr>
      </p:sp>
      <p:sp>
        <p:nvSpPr>
          <p:cNvPr id="20" name="Shape 16"/>
          <p:cNvSpPr/>
          <p:nvPr/>
        </p:nvSpPr>
        <p:spPr>
          <a:xfrm>
            <a:off x="6967728" y="3291840"/>
            <a:ext cx="54864" cy="914400"/>
          </a:xfrm>
          <a:prstGeom prst="rect">
            <a:avLst/>
          </a:prstGeom>
          <a:solidFill>
            <a:srgbClr val="B3181E"/>
          </a:solidFill>
          <a:ln w="12700">
            <a:solidFill>
              <a:srgbClr val="B3181E"/>
            </a:solidFill>
            <a:prstDash val="solid"/>
          </a:ln>
        </p:spPr>
      </p:sp>
      <p:sp>
        <p:nvSpPr>
          <p:cNvPr id="21" name="Text 17"/>
          <p:cNvSpPr txBox="1"/>
          <p:nvPr/>
        </p:nvSpPr>
        <p:spPr>
          <a:xfrm>
            <a:off x="7205472" y="3419856"/>
            <a:ext cx="4114800"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LAS ANOTACIONES DE TIPO</a:t>
            </a:r>
            <a:endParaRPr lang="en-US" sz="920" dirty="0"/>
          </a:p>
        </p:txBody>
      </p:sp>
      <p:sp>
        <p:nvSpPr>
          <p:cNvPr id="22" name="Text 18"/>
          <p:cNvSpPr txBox="1"/>
          <p:nvPr/>
        </p:nvSpPr>
        <p:spPr>
          <a:xfrm>
            <a:off x="7205472" y="3675888"/>
            <a:ext cx="4114800" cy="420624"/>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No son documentación: son la regla que se aplica. Si el cuerpo no la cumple, se responde 422.</a:t>
            </a:r>
            <a:endParaRPr lang="en-US" sz="1210" dirty="0"/>
          </a:p>
        </p:txBody>
      </p:sp>
      <p:sp>
        <p:nvSpPr>
          <p:cNvPr id="23" name="Shape 19"/>
          <p:cNvSpPr/>
          <p:nvPr/>
        </p:nvSpPr>
        <p:spPr>
          <a:xfrm>
            <a:off x="6967728" y="4297680"/>
            <a:ext cx="4572000" cy="914400"/>
          </a:xfrm>
          <a:prstGeom prst="rect">
            <a:avLst/>
          </a:prstGeom>
          <a:solidFill>
            <a:srgbClr val="FFFFFF"/>
          </a:solidFill>
          <a:ln w="12700">
            <a:solidFill>
              <a:srgbClr val="FFFFFF"/>
            </a:solidFill>
            <a:prstDash val="solid"/>
          </a:ln>
        </p:spPr>
      </p:sp>
      <p:sp>
        <p:nvSpPr>
          <p:cNvPr id="24" name="Shape 20"/>
          <p:cNvSpPr/>
          <p:nvPr/>
        </p:nvSpPr>
        <p:spPr>
          <a:xfrm>
            <a:off x="6967728" y="4297680"/>
            <a:ext cx="54864" cy="914400"/>
          </a:xfrm>
          <a:prstGeom prst="rect">
            <a:avLst/>
          </a:prstGeom>
          <a:solidFill>
            <a:srgbClr val="102A43"/>
          </a:solidFill>
          <a:ln w="12700">
            <a:solidFill>
              <a:srgbClr val="102A43"/>
            </a:solidFill>
            <a:prstDash val="solid"/>
          </a:ln>
        </p:spPr>
      </p:sp>
      <p:sp>
        <p:nvSpPr>
          <p:cNvPr id="25" name="Text 21"/>
          <p:cNvSpPr txBox="1"/>
          <p:nvPr/>
        </p:nvSpPr>
        <p:spPr>
          <a:xfrm>
            <a:off x="7205472" y="4425696"/>
            <a:ext cx="411480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@APP.POST</a:t>
            </a:r>
            <a:endParaRPr lang="en-US" sz="920" dirty="0"/>
          </a:p>
        </p:txBody>
      </p:sp>
      <p:sp>
        <p:nvSpPr>
          <p:cNvPr id="26" name="Text 22"/>
          <p:cNvSpPr txBox="1"/>
          <p:nvPr/>
        </p:nvSpPr>
        <p:spPr>
          <a:xfrm>
            <a:off x="7205472" y="4681728"/>
            <a:ext cx="4114800" cy="420624"/>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Un decorador: registra la función que sigue como responsable de las solicitudes POST a esa ruta.</a:t>
            </a:r>
            <a:endParaRPr lang="en-US" sz="1210" dirty="0"/>
          </a:p>
        </p:txBody>
      </p:sp>
      <p:sp>
        <p:nvSpPr>
          <p:cNvPr id="27" name="Shape 23"/>
          <p:cNvSpPr/>
          <p:nvPr/>
        </p:nvSpPr>
        <p:spPr>
          <a:xfrm>
            <a:off x="658368" y="5650992"/>
            <a:ext cx="10874959" cy="548640"/>
          </a:xfrm>
          <a:prstGeom prst="rect">
            <a:avLst/>
          </a:prstGeom>
          <a:solidFill>
            <a:srgbClr val="102A43"/>
          </a:solidFill>
          <a:ln w="12700">
            <a:solidFill>
              <a:srgbClr val="102A43"/>
            </a:solidFill>
            <a:prstDash val="solid"/>
          </a:ln>
        </p:spPr>
      </p:sp>
      <p:sp>
        <p:nvSpPr>
          <p:cNvPr id="28" name="Text 2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Nada de esto tiene un error de lógica: la función decide bien y la ruta reporta lo que la función decidió.</a:t>
            </a:r>
            <a:endParaRPr lang="en-US" sz="13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BASE DE PRUEBA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900" b="1" dirty="0">
                <a:solidFill>
                  <a:srgbClr val="243B53"/>
                </a:solidFill>
                <a:latin typeface="Aptos Display" pitchFamily="34" charset="0"/>
                <a:ea typeface="Aptos Display" pitchFamily="34" charset="-122"/>
                <a:cs typeface="Aptos Display" pitchFamily="34" charset="-120"/>
              </a:rPr>
              <a:t>El contrato: lo que el sistema promete responder</a:t>
            </a:r>
            <a:endParaRPr lang="en-US" sz="29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Escrito antes que el código. Es la fuente de la que salen los resultados esperados, como en toda la Unidad 2.</a:t>
            </a:r>
            <a:endParaRPr lang="en-US" sz="1420" dirty="0"/>
          </a:p>
        </p:txBody>
      </p:sp>
      <p:sp>
        <p:nvSpPr>
          <p:cNvPr id="11" name="Shape 8"/>
          <p:cNvSpPr/>
          <p:nvPr/>
        </p:nvSpPr>
        <p:spPr>
          <a:xfrm>
            <a:off x="658368" y="2304288"/>
            <a:ext cx="10874959" cy="347472"/>
          </a:xfrm>
          <a:prstGeom prst="rect">
            <a:avLst/>
          </a:prstGeom>
          <a:solidFill>
            <a:srgbClr val="1D3A57"/>
          </a:solidFill>
          <a:ln w="12700">
            <a:solidFill>
              <a:srgbClr val="1D3A57"/>
            </a:solidFill>
            <a:prstDash val="solid"/>
          </a:ln>
        </p:spPr>
      </p:sp>
      <p:sp>
        <p:nvSpPr>
          <p:cNvPr id="12" name="Text 9"/>
          <p:cNvSpPr txBox="1"/>
          <p:nvPr/>
        </p:nvSpPr>
        <p:spPr>
          <a:xfrm>
            <a:off x="896112" y="2377440"/>
            <a:ext cx="45720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CASO</a:t>
            </a:r>
            <a:endParaRPr lang="en-US" sz="920" dirty="0"/>
          </a:p>
        </p:txBody>
      </p:sp>
      <p:sp>
        <p:nvSpPr>
          <p:cNvPr id="13" name="Text 10"/>
          <p:cNvSpPr txBox="1"/>
          <p:nvPr/>
        </p:nvSpPr>
        <p:spPr>
          <a:xfrm>
            <a:off x="5833872" y="2377440"/>
            <a:ext cx="45720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RESPUESTA COMPROMETIDA</a:t>
            </a:r>
            <a:endParaRPr lang="en-US" sz="920" dirty="0"/>
          </a:p>
        </p:txBody>
      </p:sp>
      <p:sp>
        <p:nvSpPr>
          <p:cNvPr id="14" name="Shape 11"/>
          <p:cNvSpPr/>
          <p:nvPr/>
        </p:nvSpPr>
        <p:spPr>
          <a:xfrm>
            <a:off x="658368" y="2706624"/>
            <a:ext cx="10874959" cy="493776"/>
          </a:xfrm>
          <a:prstGeom prst="rect">
            <a:avLst/>
          </a:prstGeom>
          <a:solidFill>
            <a:srgbClr val="EDE6DA"/>
          </a:solidFill>
          <a:ln w="12700">
            <a:solidFill>
              <a:srgbClr val="EDE6DA"/>
            </a:solidFill>
            <a:prstDash val="solid"/>
          </a:ln>
        </p:spPr>
      </p:sp>
      <p:sp>
        <p:nvSpPr>
          <p:cNvPr id="15" name="Shape 12"/>
          <p:cNvSpPr/>
          <p:nvPr/>
        </p:nvSpPr>
        <p:spPr>
          <a:xfrm>
            <a:off x="658368" y="2706624"/>
            <a:ext cx="54864" cy="493776"/>
          </a:xfrm>
          <a:prstGeom prst="rect">
            <a:avLst/>
          </a:prstGeom>
          <a:solidFill>
            <a:srgbClr val="2E7D4F"/>
          </a:solidFill>
          <a:ln w="12700">
            <a:solidFill>
              <a:srgbClr val="2E7D4F"/>
            </a:solidFill>
            <a:prstDash val="solid"/>
          </a:ln>
        </p:spPr>
      </p:sp>
      <p:sp>
        <p:nvSpPr>
          <p:cNvPr id="16" name="Text 13"/>
          <p:cNvSpPr txBox="1"/>
          <p:nvPr/>
        </p:nvSpPr>
        <p:spPr>
          <a:xfrm>
            <a:off x="896112" y="2834640"/>
            <a:ext cx="4663440" cy="256032"/>
          </a:xfrm>
          <a:prstGeom prst="rect">
            <a:avLst/>
          </a:prstGeom>
          <a:noFill/>
          <a:ln/>
        </p:spPr>
        <p:txBody>
          <a:bodyPr wrap="square" lIns="0" tIns="0" rIns="0" bIns="0" rtlCol="0" anchor="t"/>
          <a:lstStyle/>
          <a:p>
            <a:pPr algn="l" indent="0" marL="0">
              <a:buNone/>
            </a:pPr>
            <a:r>
              <a:rPr lang="en-US" sz="1260" dirty="0">
                <a:solidFill>
                  <a:srgbClr val="243B53"/>
                </a:solidFill>
                <a:latin typeface="Aptos" pitchFamily="34" charset="0"/>
                <a:ea typeface="Aptos" pitchFamily="34" charset="-122"/>
                <a:cs typeface="Aptos" pitchFamily="34" charset="-120"/>
              </a:rPr>
              <a:t>La reserva se acepta</a:t>
            </a:r>
            <a:endParaRPr lang="en-US" sz="1260" dirty="0"/>
          </a:p>
        </p:txBody>
      </p:sp>
      <p:sp>
        <p:nvSpPr>
          <p:cNvPr id="17" name="Text 14"/>
          <p:cNvSpPr txBox="1"/>
          <p:nvPr/>
        </p:nvSpPr>
        <p:spPr>
          <a:xfrm>
            <a:off x="5833872" y="2834640"/>
            <a:ext cx="5486400" cy="256032"/>
          </a:xfrm>
          <a:prstGeom prst="rect">
            <a:avLst/>
          </a:prstGeom>
          <a:noFill/>
          <a:ln/>
        </p:spPr>
        <p:txBody>
          <a:bodyPr wrap="square" lIns="0" tIns="0" rIns="0" bIns="0" rtlCol="0" anchor="t"/>
          <a:lstStyle/>
          <a:p>
            <a:pPr algn="l" indent="0" marL="0">
              <a:buNone/>
            </a:pPr>
            <a:r>
              <a:rPr lang="en-US" sz="1260" b="1" dirty="0">
                <a:solidFill>
                  <a:srgbClr val="2E7D4F"/>
                </a:solidFill>
                <a:latin typeface="Aptos" pitchFamily="34" charset="0"/>
                <a:ea typeface="Aptos" pitchFamily="34" charset="-122"/>
                <a:cs typeface="Aptos" pitchFamily="34" charset="-120"/>
              </a:rPr>
              <a:t>201, y el cuerpo incluye el comprobante</a:t>
            </a:r>
            <a:endParaRPr lang="en-US" sz="1260" dirty="0"/>
          </a:p>
        </p:txBody>
      </p:sp>
      <p:sp>
        <p:nvSpPr>
          <p:cNvPr id="18" name="Shape 15"/>
          <p:cNvSpPr/>
          <p:nvPr/>
        </p:nvSpPr>
        <p:spPr>
          <a:xfrm>
            <a:off x="658368" y="3273552"/>
            <a:ext cx="10874959" cy="493776"/>
          </a:xfrm>
          <a:prstGeom prst="rect">
            <a:avLst/>
          </a:prstGeom>
          <a:solidFill>
            <a:srgbClr val="F8F3EC"/>
          </a:solidFill>
          <a:ln w="12700">
            <a:solidFill>
              <a:srgbClr val="F8F3EC"/>
            </a:solidFill>
            <a:prstDash val="solid"/>
          </a:ln>
        </p:spPr>
      </p:sp>
      <p:sp>
        <p:nvSpPr>
          <p:cNvPr id="19" name="Shape 16"/>
          <p:cNvSpPr/>
          <p:nvPr/>
        </p:nvSpPr>
        <p:spPr>
          <a:xfrm>
            <a:off x="658368" y="3273552"/>
            <a:ext cx="54864" cy="493776"/>
          </a:xfrm>
          <a:prstGeom prst="rect">
            <a:avLst/>
          </a:prstGeom>
          <a:solidFill>
            <a:srgbClr val="8A6A12"/>
          </a:solidFill>
          <a:ln w="12700">
            <a:solidFill>
              <a:srgbClr val="8A6A12"/>
            </a:solidFill>
            <a:prstDash val="solid"/>
          </a:ln>
        </p:spPr>
      </p:sp>
      <p:sp>
        <p:nvSpPr>
          <p:cNvPr id="20" name="Text 17"/>
          <p:cNvSpPr txBox="1"/>
          <p:nvPr/>
        </p:nvSpPr>
        <p:spPr>
          <a:xfrm>
            <a:off x="896112" y="3401568"/>
            <a:ext cx="4663440" cy="256032"/>
          </a:xfrm>
          <a:prstGeom prst="rect">
            <a:avLst/>
          </a:prstGeom>
          <a:noFill/>
          <a:ln/>
        </p:spPr>
        <p:txBody>
          <a:bodyPr wrap="square" lIns="0" tIns="0" rIns="0" bIns="0" rtlCol="0" anchor="t"/>
          <a:lstStyle/>
          <a:p>
            <a:pPr algn="l" indent="0" marL="0">
              <a:buNone/>
            </a:pPr>
            <a:r>
              <a:rPr lang="en-US" sz="1260" dirty="0">
                <a:solidFill>
                  <a:srgbClr val="243B53"/>
                </a:solidFill>
                <a:latin typeface="Aptos" pitchFamily="34" charset="0"/>
                <a:ea typeface="Aptos" pitchFamily="34" charset="-122"/>
                <a:cs typeface="Aptos" pitchFamily="34" charset="-120"/>
              </a:rPr>
              <a:t>La reserva se rechaza por una regla del negocio</a:t>
            </a:r>
            <a:endParaRPr lang="en-US" sz="1260" dirty="0"/>
          </a:p>
        </p:txBody>
      </p:sp>
      <p:sp>
        <p:nvSpPr>
          <p:cNvPr id="21" name="Text 18"/>
          <p:cNvSpPr txBox="1"/>
          <p:nvPr/>
        </p:nvSpPr>
        <p:spPr>
          <a:xfrm>
            <a:off x="5833872" y="3401568"/>
            <a:ext cx="5486400" cy="256032"/>
          </a:xfrm>
          <a:prstGeom prst="rect">
            <a:avLst/>
          </a:prstGeom>
          <a:noFill/>
          <a:ln/>
        </p:spPr>
        <p:txBody>
          <a:bodyPr wrap="square" lIns="0" tIns="0" rIns="0" bIns="0" rtlCol="0" anchor="t"/>
          <a:lstStyle/>
          <a:p>
            <a:pPr algn="l" indent="0" marL="0">
              <a:buNone/>
            </a:pPr>
            <a:r>
              <a:rPr lang="en-US" sz="1260" b="1" dirty="0">
                <a:solidFill>
                  <a:srgbClr val="8A6A12"/>
                </a:solidFill>
                <a:latin typeface="Aptos" pitchFamily="34" charset="0"/>
                <a:ea typeface="Aptos" pitchFamily="34" charset="-122"/>
                <a:cs typeface="Aptos" pitchFamily="34" charset="-120"/>
              </a:rPr>
              <a:t>409, y el cuerpo incluye el motivo</a:t>
            </a:r>
            <a:endParaRPr lang="en-US" sz="1260" dirty="0"/>
          </a:p>
        </p:txBody>
      </p:sp>
      <p:sp>
        <p:nvSpPr>
          <p:cNvPr id="22" name="Shape 19"/>
          <p:cNvSpPr/>
          <p:nvPr/>
        </p:nvSpPr>
        <p:spPr>
          <a:xfrm>
            <a:off x="658368" y="3840480"/>
            <a:ext cx="10874959" cy="493776"/>
          </a:xfrm>
          <a:prstGeom prst="rect">
            <a:avLst/>
          </a:prstGeom>
          <a:solidFill>
            <a:srgbClr val="EDE6DA"/>
          </a:solidFill>
          <a:ln w="12700">
            <a:solidFill>
              <a:srgbClr val="EDE6DA"/>
            </a:solidFill>
            <a:prstDash val="solid"/>
          </a:ln>
        </p:spPr>
      </p:sp>
      <p:sp>
        <p:nvSpPr>
          <p:cNvPr id="23" name="Shape 20"/>
          <p:cNvSpPr/>
          <p:nvPr/>
        </p:nvSpPr>
        <p:spPr>
          <a:xfrm>
            <a:off x="658368" y="3840480"/>
            <a:ext cx="54864" cy="493776"/>
          </a:xfrm>
          <a:prstGeom prst="rect">
            <a:avLst/>
          </a:prstGeom>
          <a:solidFill>
            <a:srgbClr val="B3181E"/>
          </a:solidFill>
          <a:ln w="12700">
            <a:solidFill>
              <a:srgbClr val="B3181E"/>
            </a:solidFill>
            <a:prstDash val="solid"/>
          </a:ln>
        </p:spPr>
      </p:sp>
      <p:sp>
        <p:nvSpPr>
          <p:cNvPr id="24" name="Text 21"/>
          <p:cNvSpPr txBox="1"/>
          <p:nvPr/>
        </p:nvSpPr>
        <p:spPr>
          <a:xfrm>
            <a:off x="896112" y="3968496"/>
            <a:ext cx="4663440" cy="256032"/>
          </a:xfrm>
          <a:prstGeom prst="rect">
            <a:avLst/>
          </a:prstGeom>
          <a:noFill/>
          <a:ln/>
        </p:spPr>
        <p:txBody>
          <a:bodyPr wrap="square" lIns="0" tIns="0" rIns="0" bIns="0" rtlCol="0" anchor="t"/>
          <a:lstStyle/>
          <a:p>
            <a:pPr algn="l" indent="0" marL="0">
              <a:buNone/>
            </a:pPr>
            <a:r>
              <a:rPr lang="en-US" sz="1260" dirty="0">
                <a:solidFill>
                  <a:srgbClr val="243B53"/>
                </a:solidFill>
                <a:latin typeface="Aptos" pitchFamily="34" charset="0"/>
                <a:ea typeface="Aptos" pitchFamily="34" charset="-122"/>
                <a:cs typeface="Aptos" pitchFamily="34" charset="-120"/>
              </a:rPr>
              <a:t>El cuerpo de la solicitud está mal formado</a:t>
            </a:r>
            <a:endParaRPr lang="en-US" sz="1260" dirty="0"/>
          </a:p>
        </p:txBody>
      </p:sp>
      <p:sp>
        <p:nvSpPr>
          <p:cNvPr id="25" name="Text 22"/>
          <p:cNvSpPr txBox="1"/>
          <p:nvPr/>
        </p:nvSpPr>
        <p:spPr>
          <a:xfrm>
            <a:off x="5833872" y="3968496"/>
            <a:ext cx="5486400" cy="256032"/>
          </a:xfrm>
          <a:prstGeom prst="rect">
            <a:avLst/>
          </a:prstGeom>
          <a:noFill/>
          <a:ln/>
        </p:spPr>
        <p:txBody>
          <a:bodyPr wrap="square" lIns="0" tIns="0" rIns="0" bIns="0" rtlCol="0" anchor="t"/>
          <a:lstStyle/>
          <a:p>
            <a:pPr algn="l" indent="0" marL="0">
              <a:buNone/>
            </a:pPr>
            <a:r>
              <a:rPr lang="en-US" sz="1260" b="1" dirty="0">
                <a:solidFill>
                  <a:srgbClr val="B3181E"/>
                </a:solidFill>
                <a:latin typeface="Aptos" pitchFamily="34" charset="0"/>
                <a:ea typeface="Aptos" pitchFamily="34" charset="-122"/>
                <a:cs typeface="Aptos" pitchFamily="34" charset="-120"/>
              </a:rPr>
              <a:t>422</a:t>
            </a:r>
            <a:endParaRPr lang="en-US" sz="1260" dirty="0"/>
          </a:p>
        </p:txBody>
      </p:sp>
      <p:sp>
        <p:nvSpPr>
          <p:cNvPr id="26" name="Shape 23"/>
          <p:cNvSpPr/>
          <p:nvPr/>
        </p:nvSpPr>
        <p:spPr>
          <a:xfrm>
            <a:off x="658368" y="4517136"/>
            <a:ext cx="10874959" cy="969264"/>
          </a:xfrm>
          <a:prstGeom prst="rect">
            <a:avLst/>
          </a:prstGeom>
          <a:solidFill>
            <a:srgbClr val="F2E7D9"/>
          </a:solidFill>
          <a:ln w="12700">
            <a:solidFill>
              <a:srgbClr val="F2E7D9"/>
            </a:solidFill>
            <a:prstDash val="solid"/>
          </a:ln>
        </p:spPr>
      </p:sp>
      <p:sp>
        <p:nvSpPr>
          <p:cNvPr id="27" name="Shape 24"/>
          <p:cNvSpPr/>
          <p:nvPr/>
        </p:nvSpPr>
        <p:spPr>
          <a:xfrm>
            <a:off x="658368" y="4517136"/>
            <a:ext cx="54864" cy="969264"/>
          </a:xfrm>
          <a:prstGeom prst="rect">
            <a:avLst/>
          </a:prstGeom>
          <a:solidFill>
            <a:srgbClr val="B3181E"/>
          </a:solidFill>
          <a:ln w="12700">
            <a:solidFill>
              <a:srgbClr val="B3181E"/>
            </a:solidFill>
            <a:prstDash val="solid"/>
          </a:ln>
        </p:spPr>
      </p:sp>
      <p:sp>
        <p:nvSpPr>
          <p:cNvPr id="28" name="Text 25"/>
          <p:cNvSpPr txBox="1"/>
          <p:nvPr/>
        </p:nvSpPr>
        <p:spPr>
          <a:xfrm>
            <a:off x="950976" y="4681728"/>
            <a:ext cx="4754880" cy="256032"/>
          </a:xfrm>
          <a:prstGeom prst="rect">
            <a:avLst/>
          </a:prstGeom>
          <a:noFill/>
          <a:ln/>
        </p:spPr>
        <p:txBody>
          <a:bodyPr wrap="square" lIns="0" tIns="0" rIns="0" bIns="0" rtlCol="0" anchor="t"/>
          <a:lstStyle/>
          <a:p>
            <a:pPr algn="l" indent="0" marL="0">
              <a:buNone/>
            </a:pPr>
            <a:r>
              <a:rPr lang="en-US" sz="1340" b="1" dirty="0">
                <a:solidFill>
                  <a:srgbClr val="B3181E"/>
                </a:solidFill>
                <a:latin typeface="Aptos" pitchFamily="34" charset="0"/>
                <a:ea typeface="Aptos" pitchFamily="34" charset="-122"/>
                <a:cs typeface="Aptos" pitchFamily="34" charset="-120"/>
              </a:rPr>
              <a:t>Y fija el nombre de cada campo del cuerpo</a:t>
            </a:r>
            <a:endParaRPr lang="en-US" sz="1340" dirty="0"/>
          </a:p>
        </p:txBody>
      </p:sp>
      <p:sp>
        <p:nvSpPr>
          <p:cNvPr id="29" name="Text 26"/>
          <p:cNvSpPr txBox="1"/>
          <p:nvPr/>
        </p:nvSpPr>
        <p:spPr>
          <a:xfrm>
            <a:off x="950976" y="4974336"/>
            <a:ext cx="10289743" cy="420624"/>
          </a:xfrm>
          <a:prstGeom prst="rect">
            <a:avLst/>
          </a:prstGeom>
          <a:noFill/>
          <a:ln/>
        </p:spPr>
        <p:txBody>
          <a:bodyPr wrap="square" lIns="0" tIns="0" rIns="0" bIns="0" rtlCol="0" anchor="t"/>
          <a:lstStyle/>
          <a:p>
            <a:pPr algn="l" indent="0" marL="0">
              <a:lnSpc>
                <a:spcPct val="114000"/>
              </a:lnSpc>
              <a:buNone/>
            </a:pPr>
            <a:r>
              <a:rPr lang="en-US" sz="1240" dirty="0">
                <a:solidFill>
                  <a:srgbClr val="243B53"/>
                </a:solidFill>
                <a:latin typeface="Aptos" pitchFamily="34" charset="0"/>
                <a:ea typeface="Aptos" pitchFamily="34" charset="-122"/>
                <a:cs typeface="Aptos" pitchFamily="34" charset="-120"/>
              </a:rPr>
              <a:t>El campo del correo se llama correo_electronico. Guardar ese dato en un solo lugar es lo que permite que la prueba y el código puedan estar en desacuerdo.</a:t>
            </a:r>
            <a:endParaRPr lang="en-US" sz="1240" dirty="0"/>
          </a:p>
        </p:txBody>
      </p:sp>
      <p:sp>
        <p:nvSpPr>
          <p:cNvPr id="30" name="Shape 27"/>
          <p:cNvSpPr/>
          <p:nvPr/>
        </p:nvSpPr>
        <p:spPr>
          <a:xfrm>
            <a:off x="658368" y="5541264"/>
            <a:ext cx="10874959" cy="694944"/>
          </a:xfrm>
          <a:prstGeom prst="rect">
            <a:avLst/>
          </a:prstGeom>
          <a:solidFill>
            <a:srgbClr val="FFFFFF"/>
          </a:solidFill>
          <a:ln w="12700">
            <a:solidFill>
              <a:srgbClr val="FFFFFF"/>
            </a:solidFill>
            <a:prstDash val="solid"/>
          </a:ln>
        </p:spPr>
      </p:sp>
      <p:sp>
        <p:nvSpPr>
          <p:cNvPr id="31" name="Shape 28"/>
          <p:cNvSpPr/>
          <p:nvPr/>
        </p:nvSpPr>
        <p:spPr>
          <a:xfrm>
            <a:off x="658368" y="5541264"/>
            <a:ext cx="54864" cy="694944"/>
          </a:xfrm>
          <a:prstGeom prst="rect">
            <a:avLst/>
          </a:prstGeom>
          <a:solidFill>
            <a:srgbClr val="B3181E"/>
          </a:solidFill>
          <a:ln w="12700">
            <a:solidFill>
              <a:srgbClr val="B3181E"/>
            </a:solidFill>
            <a:prstDash val="solid"/>
          </a:ln>
        </p:spPr>
      </p:sp>
      <p:sp>
        <p:nvSpPr>
          <p:cNvPr id="32" name="Text 29"/>
          <p:cNvSpPr txBox="1"/>
          <p:nvPr/>
        </p:nvSpPr>
        <p:spPr>
          <a:xfrm>
            <a:off x="896112" y="5669280"/>
            <a:ext cx="10417759"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CONTRATO</a:t>
            </a:r>
            <a:endParaRPr lang="en-US" sz="920" dirty="0"/>
          </a:p>
        </p:txBody>
      </p:sp>
      <p:sp>
        <p:nvSpPr>
          <p:cNvPr id="33" name="Text 30"/>
          <p:cNvSpPr txBox="1"/>
          <p:nvPr/>
        </p:nvSpPr>
        <p:spPr>
          <a:xfrm>
            <a:off x="896112" y="5925312"/>
            <a:ext cx="10417759" cy="201168"/>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El acuerdo sobre la forma de lo que entra y lo que sale entre dos piezas que se comunican. No vive dentro de ninguna de ellas.</a:t>
            </a:r>
            <a:endParaRPr lang="en-US" sz="12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LA PRUEBA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Se escribe contra el contrato, no contra el código</a:t>
            </a:r>
            <a:endParaRPr lang="en-US" sz="28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cliente de pruebas de FastAPI envía la solicitud sin levantar un servidor ni abrir un puerto: recorre el mismo camino, dentro del mismo proceso.</a:t>
            </a:r>
            <a:endParaRPr lang="en-US" sz="1420" dirty="0"/>
          </a:p>
        </p:txBody>
      </p:sp>
      <p:sp>
        <p:nvSpPr>
          <p:cNvPr id="11" name="Shape 8"/>
          <p:cNvSpPr/>
          <p:nvPr/>
        </p:nvSpPr>
        <p:spPr>
          <a:xfrm>
            <a:off x="658368" y="2286000"/>
            <a:ext cx="6400800" cy="2395728"/>
          </a:xfrm>
          <a:prstGeom prst="roundRect">
            <a:avLst>
              <a:gd name="adj" fmla="val 1527"/>
            </a:avLst>
          </a:prstGeom>
          <a:solidFill>
            <a:srgbClr val="102A43"/>
          </a:solidFill>
          <a:ln w="12700">
            <a:solidFill>
              <a:srgbClr val="102A43"/>
            </a:solidFill>
            <a:prstDash val="solid"/>
          </a:ln>
        </p:spPr>
      </p:sp>
      <p:sp>
        <p:nvSpPr>
          <p:cNvPr id="12" name="Shape 9"/>
          <p:cNvSpPr/>
          <p:nvPr/>
        </p:nvSpPr>
        <p:spPr>
          <a:xfrm>
            <a:off x="786384" y="2395728"/>
            <a:ext cx="61447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9253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test_api.py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980176" cy="1645920"/>
          </a:xfrm>
          <a:prstGeom prst="rect">
            <a:avLst/>
          </a:prstGeom>
        </p:spPr>
      </p:pic>
      <p:sp>
        <p:nvSpPr>
          <p:cNvPr id="15" name="Shape 11"/>
          <p:cNvSpPr/>
          <p:nvPr/>
        </p:nvSpPr>
        <p:spPr>
          <a:xfrm>
            <a:off x="7424928" y="2286000"/>
            <a:ext cx="4114800" cy="804672"/>
          </a:xfrm>
          <a:prstGeom prst="rect">
            <a:avLst/>
          </a:prstGeom>
          <a:solidFill>
            <a:srgbClr val="FFFFFF"/>
          </a:solidFill>
          <a:ln w="12700">
            <a:solidFill>
              <a:srgbClr val="FFFFFF"/>
            </a:solidFill>
            <a:prstDash val="solid"/>
          </a:ln>
        </p:spPr>
      </p:sp>
      <p:sp>
        <p:nvSpPr>
          <p:cNvPr id="16" name="Shape 12"/>
          <p:cNvSpPr/>
          <p:nvPr/>
        </p:nvSpPr>
        <p:spPr>
          <a:xfrm>
            <a:off x="7424928" y="2286000"/>
            <a:ext cx="54864" cy="804672"/>
          </a:xfrm>
          <a:prstGeom prst="rect">
            <a:avLst/>
          </a:prstGeom>
          <a:solidFill>
            <a:srgbClr val="102A43"/>
          </a:solidFill>
          <a:ln w="12700">
            <a:solidFill>
              <a:srgbClr val="102A43"/>
            </a:solidFill>
            <a:prstDash val="solid"/>
          </a:ln>
        </p:spPr>
      </p:sp>
      <p:sp>
        <p:nvSpPr>
          <p:cNvPr id="17" name="Text 13"/>
          <p:cNvSpPr txBox="1"/>
          <p:nvPr/>
        </p:nvSpPr>
        <p:spPr>
          <a:xfrm>
            <a:off x="7662672" y="2414016"/>
            <a:ext cx="365760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TESTCLIENT(APP)</a:t>
            </a:r>
            <a:endParaRPr lang="en-US" sz="920" dirty="0"/>
          </a:p>
        </p:txBody>
      </p:sp>
      <p:sp>
        <p:nvSpPr>
          <p:cNvPr id="18" name="Text 14"/>
          <p:cNvSpPr txBox="1"/>
          <p:nvPr/>
        </p:nvSpPr>
        <p:spPr>
          <a:xfrm>
            <a:off x="7662672" y="2670048"/>
            <a:ext cx="3657600" cy="310896"/>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Envuelve la aplicación. La solicitud recorre validación, ruta, función y respuesta.</a:t>
            </a:r>
            <a:endParaRPr lang="en-US" sz="1210" dirty="0"/>
          </a:p>
        </p:txBody>
      </p:sp>
      <p:sp>
        <p:nvSpPr>
          <p:cNvPr id="19" name="Shape 15"/>
          <p:cNvSpPr/>
          <p:nvPr/>
        </p:nvSpPr>
        <p:spPr>
          <a:xfrm>
            <a:off x="7424928" y="3145536"/>
            <a:ext cx="4114800" cy="804672"/>
          </a:xfrm>
          <a:prstGeom prst="rect">
            <a:avLst/>
          </a:prstGeom>
          <a:solidFill>
            <a:srgbClr val="FFFFFF"/>
          </a:solidFill>
          <a:ln w="12700">
            <a:solidFill>
              <a:srgbClr val="FFFFFF"/>
            </a:solidFill>
            <a:prstDash val="solid"/>
          </a:ln>
        </p:spPr>
      </p:sp>
      <p:sp>
        <p:nvSpPr>
          <p:cNvPr id="20" name="Shape 16"/>
          <p:cNvSpPr/>
          <p:nvPr/>
        </p:nvSpPr>
        <p:spPr>
          <a:xfrm>
            <a:off x="7424928" y="3145536"/>
            <a:ext cx="54864" cy="804672"/>
          </a:xfrm>
          <a:prstGeom prst="rect">
            <a:avLst/>
          </a:prstGeom>
          <a:solidFill>
            <a:srgbClr val="102A43"/>
          </a:solidFill>
          <a:ln w="12700">
            <a:solidFill>
              <a:srgbClr val="102A43"/>
            </a:solidFill>
            <a:prstDash val="solid"/>
          </a:ln>
        </p:spPr>
      </p:sp>
      <p:sp>
        <p:nvSpPr>
          <p:cNvPr id="21" name="Text 17"/>
          <p:cNvSpPr txBox="1"/>
          <p:nvPr/>
        </p:nvSpPr>
        <p:spPr>
          <a:xfrm>
            <a:off x="7662672" y="3273552"/>
            <a:ext cx="365760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CLIENTE.POST(RUTA, JSON=…)</a:t>
            </a:r>
            <a:endParaRPr lang="en-US" sz="920" dirty="0"/>
          </a:p>
        </p:txBody>
      </p:sp>
      <p:sp>
        <p:nvSpPr>
          <p:cNvPr id="22" name="Text 18"/>
          <p:cNvSpPr txBox="1"/>
          <p:nvPr/>
        </p:nvSpPr>
        <p:spPr>
          <a:xfrm>
            <a:off x="7662672" y="3529584"/>
            <a:ext cx="3657600" cy="310896"/>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Envía la solicitud. json= convierte el diccionario de Python en el cuerpo JSON.</a:t>
            </a:r>
            <a:endParaRPr lang="en-US" sz="1210" dirty="0"/>
          </a:p>
        </p:txBody>
      </p:sp>
      <p:sp>
        <p:nvSpPr>
          <p:cNvPr id="23" name="Shape 19"/>
          <p:cNvSpPr/>
          <p:nvPr/>
        </p:nvSpPr>
        <p:spPr>
          <a:xfrm>
            <a:off x="7424928" y="4005072"/>
            <a:ext cx="4114800" cy="804672"/>
          </a:xfrm>
          <a:prstGeom prst="rect">
            <a:avLst/>
          </a:prstGeom>
          <a:solidFill>
            <a:srgbClr val="FFFFFF"/>
          </a:solidFill>
          <a:ln w="12700">
            <a:solidFill>
              <a:srgbClr val="FFFFFF"/>
            </a:solidFill>
            <a:prstDash val="solid"/>
          </a:ln>
        </p:spPr>
      </p:sp>
      <p:sp>
        <p:nvSpPr>
          <p:cNvPr id="24" name="Shape 20"/>
          <p:cNvSpPr/>
          <p:nvPr/>
        </p:nvSpPr>
        <p:spPr>
          <a:xfrm>
            <a:off x="7424928" y="4005072"/>
            <a:ext cx="54864" cy="804672"/>
          </a:xfrm>
          <a:prstGeom prst="rect">
            <a:avLst/>
          </a:prstGeom>
          <a:solidFill>
            <a:srgbClr val="102A43"/>
          </a:solidFill>
          <a:ln w="12700">
            <a:solidFill>
              <a:srgbClr val="102A43"/>
            </a:solidFill>
            <a:prstDash val="solid"/>
          </a:ln>
        </p:spPr>
      </p:sp>
      <p:sp>
        <p:nvSpPr>
          <p:cNvPr id="25" name="Text 21"/>
          <p:cNvSpPr txBox="1"/>
          <p:nvPr/>
        </p:nvSpPr>
        <p:spPr>
          <a:xfrm>
            <a:off x="7662672" y="4133088"/>
            <a:ext cx="365760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RESPUESTA.STATUS_CODE</a:t>
            </a:r>
            <a:endParaRPr lang="en-US" sz="920" dirty="0"/>
          </a:p>
        </p:txBody>
      </p:sp>
      <p:sp>
        <p:nvSpPr>
          <p:cNvPr id="26" name="Text 22"/>
          <p:cNvSpPr txBox="1"/>
          <p:nvPr/>
        </p:nvSpPr>
        <p:spPr>
          <a:xfrm>
            <a:off x="7662672" y="4389120"/>
            <a:ext cx="3657600" cy="310896"/>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El código con el que respondió el servidor. respuesta.json() devuelve el cuerpo.</a:t>
            </a:r>
            <a:endParaRPr lang="en-US" sz="1210" dirty="0"/>
          </a:p>
        </p:txBody>
      </p:sp>
      <p:sp>
        <p:nvSpPr>
          <p:cNvPr id="27" name="Shape 23"/>
          <p:cNvSpPr/>
          <p:nvPr/>
        </p:nvSpPr>
        <p:spPr>
          <a:xfrm>
            <a:off x="658368" y="4901184"/>
            <a:ext cx="10874959" cy="347472"/>
          </a:xfrm>
          <a:prstGeom prst="rect">
            <a:avLst/>
          </a:prstGeom>
          <a:solidFill>
            <a:srgbClr val="EDE6DA"/>
          </a:solidFill>
          <a:ln w="12700">
            <a:solidFill>
              <a:srgbClr val="EDE6DA"/>
            </a:solidFill>
            <a:prstDash val="solid"/>
          </a:ln>
        </p:spPr>
      </p:sp>
      <p:sp>
        <p:nvSpPr>
          <p:cNvPr id="28" name="Text 24"/>
          <p:cNvSpPr txBox="1"/>
          <p:nvPr/>
        </p:nvSpPr>
        <p:spPr>
          <a:xfrm>
            <a:off x="932688" y="4974336"/>
            <a:ext cx="1371600" cy="219456"/>
          </a:xfrm>
          <a:prstGeom prst="rect">
            <a:avLst/>
          </a:prstGeom>
          <a:noFill/>
          <a:ln/>
        </p:spPr>
        <p:txBody>
          <a:bodyPr wrap="square" lIns="0" tIns="0" rIns="0" bIns="0" rtlCol="0" anchor="t"/>
          <a:lstStyle/>
          <a:p>
            <a:pPr algn="l" indent="0" marL="0">
              <a:buNone/>
            </a:pPr>
            <a:r>
              <a:rPr lang="en-US" sz="1140" b="1" dirty="0">
                <a:solidFill>
                  <a:srgbClr val="102A43"/>
                </a:solidFill>
                <a:latin typeface="Aptos" pitchFamily="34" charset="0"/>
                <a:ea typeface="Aptos" pitchFamily="34" charset="-122"/>
                <a:cs typeface="Aptos" pitchFamily="34" charset="-120"/>
              </a:rPr>
              <a:t>SOLICITUD</a:t>
            </a:r>
            <a:endParaRPr lang="en-US" sz="1140" dirty="0"/>
          </a:p>
        </p:txBody>
      </p:sp>
      <p:sp>
        <p:nvSpPr>
          <p:cNvPr id="29" name="Text 25"/>
          <p:cNvSpPr txBox="1"/>
          <p:nvPr/>
        </p:nvSpPr>
        <p:spPr>
          <a:xfrm>
            <a:off x="2395728" y="4974336"/>
            <a:ext cx="8869680" cy="219456"/>
          </a:xfrm>
          <a:prstGeom prst="rect">
            <a:avLst/>
          </a:prstGeom>
          <a:noFill/>
          <a:ln/>
        </p:spPr>
        <p:txBody>
          <a:bodyPr wrap="square" lIns="0" tIns="0" rIns="0" bIns="0" rtlCol="0" anchor="t"/>
          <a:lstStyle/>
          <a:p>
            <a:pPr algn="l" indent="0" marL="0">
              <a:buNone/>
            </a:pPr>
            <a:r>
              <a:rPr lang="en-US" sz="1120" dirty="0">
                <a:solidFill>
                  <a:srgbClr val="243B53"/>
                </a:solidFill>
                <a:latin typeface="Aptos" pitchFamily="34" charset="0"/>
                <a:ea typeface="Aptos" pitchFamily="34" charset="-122"/>
                <a:cs typeface="Aptos" pitchFamily="34" charset="-120"/>
              </a:rPr>
              <a:t>es el diccionario con los cinco campos del cuerpo, escrito una sola vez arriba del archivo para no repetirlo en cada prueba.</a:t>
            </a:r>
            <a:endParaRPr lang="en-US" sz="1120" dirty="0"/>
          </a:p>
        </p:txBody>
      </p:sp>
      <p:sp>
        <p:nvSpPr>
          <p:cNvPr id="30" name="Shape 26"/>
          <p:cNvSpPr/>
          <p:nvPr/>
        </p:nvSpPr>
        <p:spPr>
          <a:xfrm>
            <a:off x="658368" y="5376672"/>
            <a:ext cx="45720" cy="182880"/>
          </a:xfrm>
          <a:prstGeom prst="rect">
            <a:avLst/>
          </a:prstGeom>
          <a:solidFill>
            <a:srgbClr val="8A6A12"/>
          </a:solidFill>
          <a:ln w="12700">
            <a:solidFill>
              <a:srgbClr val="8A6A12"/>
            </a:solidFill>
            <a:prstDash val="solid"/>
          </a:ln>
        </p:spPr>
      </p:sp>
      <p:sp>
        <p:nvSpPr>
          <p:cNvPr id="31" name="Text 27"/>
          <p:cNvSpPr txBox="1"/>
          <p:nvPr/>
        </p:nvSpPr>
        <p:spPr>
          <a:xfrm>
            <a:off x="804672" y="5367528"/>
            <a:ext cx="987552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FastAPI · documentación oficial de pruebas: «Crea un TestClient pasándole tu aplicación FastAPI»</a:t>
            </a:r>
            <a:endParaRPr lang="en-US" sz="880" dirty="0"/>
          </a:p>
        </p:txBody>
      </p:sp>
      <p:sp>
        <p:nvSpPr>
          <p:cNvPr id="32" name="Shape 28"/>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2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valor esperado sale del contrato. Si saliera del código, la prueba no podría estar en desacuerdo con él.</a:t>
            </a:r>
            <a:endParaRPr lang="en-US" sz="13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PRIMERA EJECUCIÓN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Primer rojo: la función verificada nunca se ejecutó</a:t>
            </a:r>
            <a:endParaRPr lang="en-US" sz="27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Los dos casos responden 422. Ese código significa que el cuerpo no tenía la forma esperada, así que la solicitud se rechazó antes de llegar a la función.</a:t>
            </a:r>
            <a:endParaRPr lang="en-US" sz="1420" dirty="0"/>
          </a:p>
        </p:txBody>
      </p:sp>
      <p:sp>
        <p:nvSpPr>
          <p:cNvPr id="11" name="Shape 8"/>
          <p:cNvSpPr/>
          <p:nvPr/>
        </p:nvSpPr>
        <p:spPr>
          <a:xfrm>
            <a:off x="658368" y="2286000"/>
            <a:ext cx="6309360" cy="1993392"/>
          </a:xfrm>
          <a:prstGeom prst="roundRect">
            <a:avLst>
              <a:gd name="adj" fmla="val 1835"/>
            </a:avLst>
          </a:prstGeom>
          <a:solidFill>
            <a:srgbClr val="0F1720"/>
          </a:solidFill>
          <a:ln w="12700">
            <a:solidFill>
              <a:srgbClr val="0F1720"/>
            </a:solidFill>
            <a:prstDash val="solid"/>
          </a:ln>
        </p:spPr>
      </p:sp>
      <p:sp>
        <p:nvSpPr>
          <p:cNvPr id="12" name="Shape 9"/>
          <p:cNvSpPr/>
          <p:nvPr/>
        </p:nvSpPr>
        <p:spPr>
          <a:xfrm>
            <a:off x="786384" y="2395728"/>
            <a:ext cx="605332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468880"/>
            <a:ext cx="579729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Primera ejecución</a:t>
            </a:r>
            <a:endParaRPr lang="en-US" sz="1000" dirty="0"/>
          </a:p>
        </p:txBody>
      </p:sp>
      <p:sp>
        <p:nvSpPr>
          <p:cNvPr id="14" name="Text 11"/>
          <p:cNvSpPr/>
          <p:nvPr/>
        </p:nvSpPr>
        <p:spPr>
          <a:xfrm>
            <a:off x="877824" y="2852928"/>
            <a:ext cx="329184" cy="164592"/>
          </a:xfrm>
          <a:prstGeom prst="rect">
            <a:avLst/>
          </a:prstGeom>
          <a:noFill/>
          <a:ln/>
        </p:spPr>
        <p:txBody>
          <a:bodyPr wrap="square" lIns="0" tIns="0" rIns="0" bIns="0" rtlCol="0" anchor="ctr"/>
          <a:lstStyle/>
          <a:p>
            <a:pPr indent="0" marL="0">
              <a:buNone/>
            </a:pPr>
            <a:r>
              <a:rPr lang="en-US" sz="980" b="1" dirty="0">
                <a:solidFill>
                  <a:srgbClr val="E0BC5A"/>
                </a:solidFill>
                <a:latin typeface="Consolas" pitchFamily="34" charset="0"/>
                <a:ea typeface="Consolas" pitchFamily="34" charset="-122"/>
                <a:cs typeface="Consolas" pitchFamily="34" charset="-120"/>
              </a:rPr>
              <a:t>&gt;</a:t>
            </a:r>
            <a:endParaRPr lang="en-US" sz="980" dirty="0"/>
          </a:p>
        </p:txBody>
      </p:sp>
      <p:sp>
        <p:nvSpPr>
          <p:cNvPr id="15" name="Text 12"/>
          <p:cNvSpPr/>
          <p:nvPr/>
        </p:nvSpPr>
        <p:spPr>
          <a:xfrm>
            <a:off x="1188720" y="2852928"/>
            <a:ext cx="55595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uv run pytest test_api.py -q</a:t>
            </a:r>
            <a:endParaRPr lang="en-US" sz="980" dirty="0"/>
          </a:p>
        </p:txBody>
      </p:sp>
      <p:sp>
        <p:nvSpPr>
          <p:cNvPr id="16" name="Text 13"/>
          <p:cNvSpPr/>
          <p:nvPr/>
        </p:nvSpPr>
        <p:spPr>
          <a:xfrm>
            <a:off x="877824" y="3108960"/>
            <a:ext cx="55595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E   assert 422 == 201</a:t>
            </a:r>
            <a:endParaRPr lang="en-US" sz="980" dirty="0"/>
          </a:p>
        </p:txBody>
      </p:sp>
      <p:sp>
        <p:nvSpPr>
          <p:cNvPr id="17" name="Text 14"/>
          <p:cNvSpPr/>
          <p:nvPr/>
        </p:nvSpPr>
        <p:spPr>
          <a:xfrm>
            <a:off x="877824" y="3364992"/>
            <a:ext cx="55595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E   assert 422 == 409</a:t>
            </a:r>
            <a:endParaRPr lang="en-US" sz="980" dirty="0"/>
          </a:p>
        </p:txBody>
      </p:sp>
      <p:sp>
        <p:nvSpPr>
          <p:cNvPr id="18" name="Text 15"/>
          <p:cNvSpPr/>
          <p:nvPr/>
        </p:nvSpPr>
        <p:spPr>
          <a:xfrm>
            <a:off x="877824" y="3621024"/>
            <a:ext cx="55595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2 failed</a:t>
            </a:r>
            <a:endParaRPr lang="en-US" sz="980" dirty="0"/>
          </a:p>
        </p:txBody>
      </p:sp>
      <p:sp>
        <p:nvSpPr>
          <p:cNvPr id="19" name="Shape 16"/>
          <p:cNvSpPr/>
          <p:nvPr/>
        </p:nvSpPr>
        <p:spPr>
          <a:xfrm>
            <a:off x="7333488" y="2286000"/>
            <a:ext cx="4206240" cy="1993392"/>
          </a:xfrm>
          <a:prstGeom prst="roundRect">
            <a:avLst>
              <a:gd name="adj" fmla="val 1835"/>
            </a:avLst>
          </a:prstGeom>
          <a:solidFill>
            <a:srgbClr val="102A43"/>
          </a:solidFill>
          <a:ln w="12700">
            <a:solidFill>
              <a:srgbClr val="102A43"/>
            </a:solidFill>
            <a:prstDash val="solid"/>
          </a:ln>
        </p:spPr>
      </p:sp>
      <p:sp>
        <p:nvSpPr>
          <p:cNvPr id="20" name="Shape 17"/>
          <p:cNvSpPr/>
          <p:nvPr/>
        </p:nvSpPr>
        <p:spPr>
          <a:xfrm>
            <a:off x="7461504" y="2395728"/>
            <a:ext cx="3950208" cy="310896"/>
          </a:xfrm>
          <a:prstGeom prst="roundRect">
            <a:avLst>
              <a:gd name="adj" fmla="val 8824"/>
            </a:avLst>
          </a:prstGeom>
          <a:solidFill>
            <a:srgbClr val="284B75"/>
          </a:solidFill>
          <a:ln w="12700">
            <a:solidFill>
              <a:srgbClr val="284B75"/>
            </a:solidFill>
            <a:prstDash val="solid"/>
          </a:ln>
        </p:spPr>
      </p:sp>
      <p:sp>
        <p:nvSpPr>
          <p:cNvPr id="21" name="Text 18"/>
          <p:cNvSpPr/>
          <p:nvPr/>
        </p:nvSpPr>
        <p:spPr>
          <a:xfrm>
            <a:off x="7571232" y="2468880"/>
            <a:ext cx="3730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respuesta.json()</a:t>
            </a:r>
            <a:endParaRPr lang="en-US" sz="1000" dirty="0"/>
          </a:p>
        </p:txBody>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52944" y="2852928"/>
            <a:ext cx="3785616" cy="1243584"/>
          </a:xfrm>
          <a:prstGeom prst="rect">
            <a:avLst/>
          </a:prstGeom>
        </p:spPr>
      </p:pic>
      <p:sp>
        <p:nvSpPr>
          <p:cNvPr id="23" name="Shape 19"/>
          <p:cNvSpPr/>
          <p:nvPr/>
        </p:nvSpPr>
        <p:spPr>
          <a:xfrm>
            <a:off x="658368" y="4352544"/>
            <a:ext cx="10874959" cy="603504"/>
          </a:xfrm>
          <a:prstGeom prst="rect">
            <a:avLst/>
          </a:prstGeom>
          <a:solidFill>
            <a:srgbClr val="EDE6DA"/>
          </a:solidFill>
          <a:ln w="12700">
            <a:solidFill>
              <a:srgbClr val="EDE6DA"/>
            </a:solidFill>
            <a:prstDash val="solid"/>
          </a:ln>
        </p:spPr>
      </p:sp>
      <p:sp>
        <p:nvSpPr>
          <p:cNvPr id="24" name="Text 20"/>
          <p:cNvSpPr txBox="1"/>
          <p:nvPr/>
        </p:nvSpPr>
        <p:spPr>
          <a:xfrm>
            <a:off x="932688" y="4425696"/>
            <a:ext cx="2011680" cy="219456"/>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assert 422 == 201</a:t>
            </a:r>
            <a:endParaRPr lang="en-US" sz="1140" dirty="0"/>
          </a:p>
        </p:txBody>
      </p:sp>
      <p:sp>
        <p:nvSpPr>
          <p:cNvPr id="25" name="Text 21"/>
          <p:cNvSpPr txBox="1"/>
          <p:nvPr/>
        </p:nvSpPr>
        <p:spPr>
          <a:xfrm>
            <a:off x="2999232" y="4425696"/>
            <a:ext cx="8275320" cy="219456"/>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se lee de izquierda a derecha: primero lo que devolvió el sistema, después lo que pedía el contrato.</a:t>
            </a:r>
            <a:endParaRPr lang="en-US" sz="1100" dirty="0"/>
          </a:p>
        </p:txBody>
      </p:sp>
      <p:sp>
        <p:nvSpPr>
          <p:cNvPr id="26" name="Text 22"/>
          <p:cNvSpPr txBox="1"/>
          <p:nvPr/>
        </p:nvSpPr>
        <p:spPr>
          <a:xfrm>
            <a:off x="932688" y="4681728"/>
            <a:ext cx="2011680" cy="219456"/>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type · loc · msg</a:t>
            </a:r>
            <a:endParaRPr lang="en-US" sz="1140" dirty="0"/>
          </a:p>
        </p:txBody>
      </p:sp>
      <p:sp>
        <p:nvSpPr>
          <p:cNvPr id="27" name="Text 23"/>
          <p:cNvSpPr txBox="1"/>
          <p:nvPr/>
        </p:nvSpPr>
        <p:spPr>
          <a:xfrm>
            <a:off x="2999232" y="4681728"/>
            <a:ext cx="8275320" cy="219456"/>
          </a:xfrm>
          <a:prstGeom prst="rect">
            <a:avLst/>
          </a:prstGeom>
          <a:noFill/>
          <a:ln/>
        </p:spPr>
        <p:txBody>
          <a:bodyPr wrap="square" lIns="0" tIns="0" rIns="0" bIns="0" rtlCol="0" anchor="t"/>
          <a:lstStyle/>
          <a:p>
            <a:pPr algn="l" indent="0" marL="0">
              <a:buNone/>
            </a:pPr>
            <a:r>
              <a:rPr lang="en-US" sz="1100" dirty="0">
                <a:solidFill>
                  <a:srgbClr val="52606D"/>
                </a:solidFill>
                <a:latin typeface="Aptos" pitchFamily="34" charset="0"/>
                <a:ea typeface="Aptos" pitchFamily="34" charset="-122"/>
                <a:cs typeface="Aptos" pitchFamily="34" charset="-120"/>
              </a:rPr>
              <a:t>qué clase de problema hubo, dónde está y en qué consiste. Los pone FastAPI, no el proyecto.</a:t>
            </a:r>
            <a:endParaRPr lang="en-US" sz="1100" dirty="0"/>
          </a:p>
        </p:txBody>
      </p:sp>
      <p:sp>
        <p:nvSpPr>
          <p:cNvPr id="28" name="Shape 24"/>
          <p:cNvSpPr/>
          <p:nvPr/>
        </p:nvSpPr>
        <p:spPr>
          <a:xfrm>
            <a:off x="658368" y="5047488"/>
            <a:ext cx="10874959" cy="457200"/>
          </a:xfrm>
          <a:prstGeom prst="rect">
            <a:avLst/>
          </a:prstGeom>
          <a:solidFill>
            <a:srgbClr val="F2E7D9"/>
          </a:solidFill>
          <a:ln w="12700">
            <a:solidFill>
              <a:srgbClr val="F2E7D9"/>
            </a:solidFill>
            <a:prstDash val="solid"/>
          </a:ln>
        </p:spPr>
      </p:sp>
      <p:sp>
        <p:nvSpPr>
          <p:cNvPr id="29" name="Shape 25"/>
          <p:cNvSpPr/>
          <p:nvPr/>
        </p:nvSpPr>
        <p:spPr>
          <a:xfrm>
            <a:off x="658368" y="5047488"/>
            <a:ext cx="54864" cy="457200"/>
          </a:xfrm>
          <a:prstGeom prst="rect">
            <a:avLst/>
          </a:prstGeom>
          <a:solidFill>
            <a:srgbClr val="B3181E"/>
          </a:solidFill>
          <a:ln w="12700">
            <a:solidFill>
              <a:srgbClr val="B3181E"/>
            </a:solidFill>
            <a:prstDash val="solid"/>
          </a:ln>
        </p:spPr>
      </p:sp>
      <p:sp>
        <p:nvSpPr>
          <p:cNvPr id="30" name="Text 26"/>
          <p:cNvSpPr txBox="1"/>
          <p:nvPr/>
        </p:nvSpPr>
        <p:spPr>
          <a:xfrm>
            <a:off x="950976" y="5138928"/>
            <a:ext cx="3803904" cy="256032"/>
          </a:xfrm>
          <a:prstGeom prst="rect">
            <a:avLst/>
          </a:prstGeom>
          <a:noFill/>
          <a:ln/>
        </p:spPr>
        <p:txBody>
          <a:bodyPr wrap="square" lIns="0" tIns="0" rIns="0" bIns="0" rtlCol="0" anchor="t"/>
          <a:lstStyle/>
          <a:p>
            <a:pPr algn="l" indent="0" marL="0">
              <a:buNone/>
            </a:pPr>
            <a:r>
              <a:rPr lang="en-US" sz="1360" b="1" dirty="0">
                <a:solidFill>
                  <a:srgbClr val="B3181E"/>
                </a:solidFill>
                <a:latin typeface="Aptos" pitchFamily="34" charset="0"/>
                <a:ea typeface="Aptos" pitchFamily="34" charset="-122"/>
                <a:cs typeface="Aptos" pitchFamily="34" charset="-120"/>
              </a:rPr>
              <a:t>El defecto es un nombre de campo</a:t>
            </a:r>
            <a:endParaRPr lang="en-US" sz="1360" dirty="0"/>
          </a:p>
        </p:txBody>
      </p:sp>
      <p:sp>
        <p:nvSpPr>
          <p:cNvPr id="31" name="Text 27"/>
          <p:cNvSpPr txBox="1"/>
          <p:nvPr/>
        </p:nvSpPr>
        <p:spPr>
          <a:xfrm>
            <a:off x="5010912" y="5138928"/>
            <a:ext cx="6263640" cy="27432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la especificación dice correo_electronico y la API declara correo.</a:t>
            </a:r>
            <a:endParaRPr lang="en-US" sz="1220" dirty="0"/>
          </a:p>
        </p:txBody>
      </p:sp>
      <p:sp>
        <p:nvSpPr>
          <p:cNvPr id="32" name="Shape 28"/>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2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422 dice dónde está el problema: loc señala el cuerpo y el campo exacto.</a:t>
            </a:r>
            <a:endParaRPr lang="en-US" sz="13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SEGUNDA EJECUCIÓN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Se corrige el nombre y el rojo cambia de naturaleza</a:t>
            </a:r>
            <a:endParaRPr lang="en-US" sz="27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Ahora la solicitud sí entró y la función sí decidió bien. Lo que no ocurrió es que su decisión viajara como corresponde.</a:t>
            </a:r>
            <a:endParaRPr lang="en-US" sz="1420" dirty="0"/>
          </a:p>
        </p:txBody>
      </p:sp>
      <p:sp>
        <p:nvSpPr>
          <p:cNvPr id="11" name="Shape 8"/>
          <p:cNvSpPr/>
          <p:nvPr/>
        </p:nvSpPr>
        <p:spPr>
          <a:xfrm>
            <a:off x="658368" y="2286000"/>
            <a:ext cx="6309360" cy="1792224"/>
          </a:xfrm>
          <a:prstGeom prst="roundRect">
            <a:avLst>
              <a:gd name="adj" fmla="val 2041"/>
            </a:avLst>
          </a:prstGeom>
          <a:solidFill>
            <a:srgbClr val="0F1720"/>
          </a:solidFill>
          <a:ln w="12700">
            <a:solidFill>
              <a:srgbClr val="0F1720"/>
            </a:solidFill>
            <a:prstDash val="solid"/>
          </a:ln>
        </p:spPr>
      </p:sp>
      <p:sp>
        <p:nvSpPr>
          <p:cNvPr id="12" name="Shape 9"/>
          <p:cNvSpPr/>
          <p:nvPr/>
        </p:nvSpPr>
        <p:spPr>
          <a:xfrm>
            <a:off x="786384" y="2395728"/>
            <a:ext cx="605332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468880"/>
            <a:ext cx="579729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Segunda ejecución</a:t>
            </a:r>
            <a:endParaRPr lang="en-US" sz="1000" dirty="0"/>
          </a:p>
        </p:txBody>
      </p:sp>
      <p:sp>
        <p:nvSpPr>
          <p:cNvPr id="14" name="Text 11"/>
          <p:cNvSpPr/>
          <p:nvPr/>
        </p:nvSpPr>
        <p:spPr>
          <a:xfrm>
            <a:off x="877824" y="2852928"/>
            <a:ext cx="55595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E   assert 200 == 201</a:t>
            </a:r>
            <a:endParaRPr lang="en-US" sz="980" dirty="0"/>
          </a:p>
        </p:txBody>
      </p:sp>
      <p:sp>
        <p:nvSpPr>
          <p:cNvPr id="15" name="Text 12"/>
          <p:cNvSpPr/>
          <p:nvPr/>
        </p:nvSpPr>
        <p:spPr>
          <a:xfrm>
            <a:off x="877824" y="3108960"/>
            <a:ext cx="55595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E   assert 200 == 409</a:t>
            </a:r>
            <a:endParaRPr lang="en-US" sz="980" dirty="0"/>
          </a:p>
        </p:txBody>
      </p:sp>
      <p:sp>
        <p:nvSpPr>
          <p:cNvPr id="16" name="Text 13"/>
          <p:cNvSpPr/>
          <p:nvPr/>
        </p:nvSpPr>
        <p:spPr>
          <a:xfrm>
            <a:off x="877824" y="3364992"/>
            <a:ext cx="55595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2 failed</a:t>
            </a:r>
            <a:endParaRPr lang="en-US" sz="980" dirty="0"/>
          </a:p>
        </p:txBody>
      </p:sp>
      <p:sp>
        <p:nvSpPr>
          <p:cNvPr id="17" name="Shape 14"/>
          <p:cNvSpPr/>
          <p:nvPr/>
        </p:nvSpPr>
        <p:spPr>
          <a:xfrm>
            <a:off x="7333488" y="2286000"/>
            <a:ext cx="4206240" cy="1792224"/>
          </a:xfrm>
          <a:prstGeom prst="roundRect">
            <a:avLst>
              <a:gd name="adj" fmla="val 2041"/>
            </a:avLst>
          </a:prstGeom>
          <a:solidFill>
            <a:srgbClr val="102A43"/>
          </a:solidFill>
          <a:ln w="12700">
            <a:solidFill>
              <a:srgbClr val="102A43"/>
            </a:solidFill>
            <a:prstDash val="solid"/>
          </a:ln>
        </p:spPr>
      </p:sp>
      <p:sp>
        <p:nvSpPr>
          <p:cNvPr id="18" name="Shape 15"/>
          <p:cNvSpPr/>
          <p:nvPr/>
        </p:nvSpPr>
        <p:spPr>
          <a:xfrm>
            <a:off x="7461504" y="2395728"/>
            <a:ext cx="3950208" cy="310896"/>
          </a:xfrm>
          <a:prstGeom prst="roundRect">
            <a:avLst>
              <a:gd name="adj" fmla="val 8824"/>
            </a:avLst>
          </a:prstGeom>
          <a:solidFill>
            <a:srgbClr val="284B75"/>
          </a:solidFill>
          <a:ln w="12700">
            <a:solidFill>
              <a:srgbClr val="284B75"/>
            </a:solidFill>
            <a:prstDash val="solid"/>
          </a:ln>
        </p:spPr>
      </p:sp>
      <p:sp>
        <p:nvSpPr>
          <p:cNvPr id="19" name="Text 16"/>
          <p:cNvSpPr/>
          <p:nvPr/>
        </p:nvSpPr>
        <p:spPr>
          <a:xfrm>
            <a:off x="7571232" y="2468880"/>
            <a:ext cx="3730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cuerpo del rechazo</a:t>
            </a:r>
            <a:endParaRPr lang="en-US" sz="100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52944" y="2852928"/>
            <a:ext cx="3785616" cy="1042416"/>
          </a:xfrm>
          <a:prstGeom prst="rect">
            <a:avLst/>
          </a:prstGeom>
        </p:spPr>
      </p:pic>
      <p:sp>
        <p:nvSpPr>
          <p:cNvPr id="21" name="Shape 17"/>
          <p:cNvSpPr/>
          <p:nvPr/>
        </p:nvSpPr>
        <p:spPr>
          <a:xfrm>
            <a:off x="658368" y="4279392"/>
            <a:ext cx="10874959" cy="1225296"/>
          </a:xfrm>
          <a:prstGeom prst="rect">
            <a:avLst/>
          </a:prstGeom>
          <a:solidFill>
            <a:srgbClr val="F8E4E5"/>
          </a:solidFill>
          <a:ln w="12700">
            <a:solidFill>
              <a:srgbClr val="F8E4E5"/>
            </a:solidFill>
            <a:prstDash val="solid"/>
          </a:ln>
        </p:spPr>
      </p:sp>
      <p:sp>
        <p:nvSpPr>
          <p:cNvPr id="22" name="Shape 18"/>
          <p:cNvSpPr/>
          <p:nvPr/>
        </p:nvSpPr>
        <p:spPr>
          <a:xfrm>
            <a:off x="658368" y="4279392"/>
            <a:ext cx="54864" cy="1225296"/>
          </a:xfrm>
          <a:prstGeom prst="rect">
            <a:avLst/>
          </a:prstGeom>
          <a:solidFill>
            <a:srgbClr val="B3181E"/>
          </a:solidFill>
          <a:ln w="12700">
            <a:solidFill>
              <a:srgbClr val="B3181E"/>
            </a:solidFill>
            <a:prstDash val="solid"/>
          </a:ln>
        </p:spPr>
      </p:sp>
      <p:sp>
        <p:nvSpPr>
          <p:cNvPr id="23" name="Text 19"/>
          <p:cNvSpPr txBox="1"/>
          <p:nvPr/>
        </p:nvSpPr>
        <p:spPr>
          <a:xfrm>
            <a:off x="950976" y="4443984"/>
            <a:ext cx="6400800" cy="256032"/>
          </a:xfrm>
          <a:prstGeom prst="rect">
            <a:avLst/>
          </a:prstGeom>
          <a:noFill/>
          <a:ln/>
        </p:spPr>
        <p:txBody>
          <a:bodyPr wrap="square" lIns="0" tIns="0" rIns="0" bIns="0" rtlCol="0" anchor="t"/>
          <a:lstStyle/>
          <a:p>
            <a:pPr algn="l" indent="0" marL="0">
              <a:buNone/>
            </a:pPr>
            <a:r>
              <a:rPr lang="en-US" sz="1360" b="1" dirty="0">
                <a:solidFill>
                  <a:srgbClr val="B3181E"/>
                </a:solidFill>
                <a:latin typeface="Aptos" pitchFamily="34" charset="0"/>
                <a:ea typeface="Aptos" pitchFamily="34" charset="-122"/>
                <a:cs typeface="Aptos" pitchFamily="34" charset="-120"/>
              </a:rPr>
              <a:t>Tercer hallazgo: un comprobante de una reserva que no existe</a:t>
            </a:r>
            <a:endParaRPr lang="en-US" sz="1360" dirty="0"/>
          </a:p>
        </p:txBody>
      </p:sp>
      <p:sp>
        <p:nvSpPr>
          <p:cNvPr id="24" name="Text 20"/>
          <p:cNvSpPr txBox="1"/>
          <p:nvPr/>
        </p:nvSpPr>
        <p:spPr>
          <a:xfrm>
            <a:off x="950976" y="4736592"/>
            <a:ext cx="10289743" cy="64008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El sistema rechazó la reserva —permitida: false es correcto— y le entregó al usuario su comprobante. puede_reservar devolvió False, que es lo correcto; comprobante armó bien la cadena que se le pidió, que también es lo correcto. El defecto está en que alguien las compuso sin decidir qué pasa cuando la primera dice que no.</a:t>
            </a:r>
            <a:endParaRPr lang="en-US" sz="1220" dirty="0"/>
          </a:p>
        </p:txBody>
      </p:sp>
      <p:sp>
        <p:nvSpPr>
          <p:cNvPr id="25" name="Shape 21"/>
          <p:cNvSpPr/>
          <p:nvPr/>
        </p:nvSpPr>
        <p:spPr>
          <a:xfrm>
            <a:off x="658368" y="5650992"/>
            <a:ext cx="10874959" cy="548640"/>
          </a:xfrm>
          <a:prstGeom prst="rect">
            <a:avLst/>
          </a:prstGeom>
          <a:solidFill>
            <a:srgbClr val="102A43"/>
          </a:solidFill>
          <a:ln w="12700">
            <a:solidFill>
              <a:srgbClr val="102A43"/>
            </a:solidFill>
            <a:prstDash val="solid"/>
          </a:ln>
        </p:spPr>
      </p:sp>
      <p:sp>
        <p:nvSpPr>
          <p:cNvPr id="26" name="Text 2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Dos funciones correctas, compuestas mal. Ninguna prueba que mire una sola de las dos puede detectarlo.</a:t>
            </a:r>
            <a:endParaRPr lang="en-US" sz="13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SÍNTESIS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defectos distintos, una misma clase</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Ninguno es un error de lógica dentro de una función. Por eso ninguno podía aparecer en el nivel unitario.</a:t>
            </a:r>
            <a:endParaRPr lang="en-US" sz="1420" dirty="0"/>
          </a:p>
        </p:txBody>
      </p:sp>
      <p:sp>
        <p:nvSpPr>
          <p:cNvPr id="11" name="Shape 8"/>
          <p:cNvSpPr/>
          <p:nvPr/>
        </p:nvSpPr>
        <p:spPr>
          <a:xfrm>
            <a:off x="658368" y="2304288"/>
            <a:ext cx="10874959" cy="347472"/>
          </a:xfrm>
          <a:prstGeom prst="rect">
            <a:avLst/>
          </a:prstGeom>
          <a:solidFill>
            <a:srgbClr val="1D3A57"/>
          </a:solidFill>
          <a:ln w="12700">
            <a:solidFill>
              <a:srgbClr val="1D3A57"/>
            </a:solidFill>
            <a:prstDash val="solid"/>
          </a:ln>
        </p:spPr>
      </p:sp>
      <p:sp>
        <p:nvSpPr>
          <p:cNvPr id="12" name="Text 9"/>
          <p:cNvSpPr txBox="1"/>
          <p:nvPr/>
        </p:nvSpPr>
        <p:spPr>
          <a:xfrm>
            <a:off x="896112" y="2377440"/>
            <a:ext cx="310896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HALLAZGO</a:t>
            </a:r>
            <a:endParaRPr lang="en-US" sz="920" dirty="0"/>
          </a:p>
        </p:txBody>
      </p:sp>
      <p:sp>
        <p:nvSpPr>
          <p:cNvPr id="13" name="Text 10"/>
          <p:cNvSpPr txBox="1"/>
          <p:nvPr/>
        </p:nvSpPr>
        <p:spPr>
          <a:xfrm>
            <a:off x="4645152" y="2377440"/>
            <a:ext cx="310896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QUÉ FALLÓ</a:t>
            </a:r>
            <a:endParaRPr lang="en-US" sz="920" dirty="0"/>
          </a:p>
        </p:txBody>
      </p:sp>
      <p:sp>
        <p:nvSpPr>
          <p:cNvPr id="14" name="Text 11"/>
          <p:cNvSpPr txBox="1"/>
          <p:nvPr/>
        </p:nvSpPr>
        <p:spPr>
          <a:xfrm>
            <a:off x="7754112" y="2377440"/>
            <a:ext cx="310896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DÓNDE VIVE EL DEFECTO</a:t>
            </a:r>
            <a:endParaRPr lang="en-US" sz="920" dirty="0"/>
          </a:p>
        </p:txBody>
      </p:sp>
      <p:sp>
        <p:nvSpPr>
          <p:cNvPr id="15" name="Shape 12"/>
          <p:cNvSpPr/>
          <p:nvPr/>
        </p:nvSpPr>
        <p:spPr>
          <a:xfrm>
            <a:off x="658368" y="2706624"/>
            <a:ext cx="10874959" cy="640080"/>
          </a:xfrm>
          <a:prstGeom prst="rect">
            <a:avLst/>
          </a:prstGeom>
          <a:solidFill>
            <a:srgbClr val="EDE6DA"/>
          </a:solidFill>
          <a:ln w="12700">
            <a:solidFill>
              <a:srgbClr val="EDE6DA"/>
            </a:solidFill>
            <a:prstDash val="solid"/>
          </a:ln>
        </p:spPr>
      </p:sp>
      <p:sp>
        <p:nvSpPr>
          <p:cNvPr id="16" name="Shape 13"/>
          <p:cNvSpPr/>
          <p:nvPr/>
        </p:nvSpPr>
        <p:spPr>
          <a:xfrm>
            <a:off x="658368" y="2706624"/>
            <a:ext cx="54864" cy="640080"/>
          </a:xfrm>
          <a:prstGeom prst="rect">
            <a:avLst/>
          </a:prstGeom>
          <a:solidFill>
            <a:srgbClr val="B3181E"/>
          </a:solidFill>
          <a:ln w="12700">
            <a:solidFill>
              <a:srgbClr val="B3181E"/>
            </a:solidFill>
            <a:prstDash val="solid"/>
          </a:ln>
        </p:spPr>
      </p:sp>
      <p:sp>
        <p:nvSpPr>
          <p:cNvPr id="17" name="Text 14"/>
          <p:cNvSpPr txBox="1"/>
          <p:nvPr/>
        </p:nvSpPr>
        <p:spPr>
          <a:xfrm>
            <a:off x="896112" y="2889504"/>
            <a:ext cx="3474720" cy="292608"/>
          </a:xfrm>
          <a:prstGeom prst="rect">
            <a:avLst/>
          </a:prstGeom>
          <a:noFill/>
          <a:ln/>
        </p:spPr>
        <p:txBody>
          <a:bodyPr wrap="square" lIns="0" tIns="0" rIns="0" bIns="0" rtlCol="0" anchor="t"/>
          <a:lstStyle/>
          <a:p>
            <a:pPr algn="l" indent="0" marL="0">
              <a:buNone/>
            </a:pPr>
            <a:r>
              <a:rPr lang="en-US" sz="1240" b="1" dirty="0">
                <a:solidFill>
                  <a:srgbClr val="B3181E"/>
                </a:solidFill>
                <a:latin typeface="Aptos" pitchFamily="34" charset="0"/>
                <a:ea typeface="Aptos" pitchFamily="34" charset="-122"/>
                <a:cs typeface="Aptos" pitchFamily="34" charset="-120"/>
              </a:rPr>
              <a:t>422 por nombre de campo</a:t>
            </a:r>
            <a:endParaRPr lang="en-US" sz="1240" dirty="0"/>
          </a:p>
        </p:txBody>
      </p:sp>
      <p:sp>
        <p:nvSpPr>
          <p:cNvPr id="18" name="Text 15"/>
          <p:cNvSpPr txBox="1"/>
          <p:nvPr/>
        </p:nvSpPr>
        <p:spPr>
          <a:xfrm>
            <a:off x="4645152" y="2889504"/>
            <a:ext cx="2926080" cy="292608"/>
          </a:xfrm>
          <a:prstGeom prst="rect">
            <a:avLst/>
          </a:prstGeom>
          <a:noFill/>
          <a:ln/>
        </p:spPr>
        <p:txBody>
          <a:bodyPr wrap="square" lIns="0" tIns="0" rIns="0" bIns="0" rtlCol="0" anchor="t"/>
          <a:lstStyle/>
          <a:p>
            <a:pPr algn="l" indent="0" marL="0">
              <a:buNone/>
            </a:pPr>
            <a:r>
              <a:rPr lang="en-US" sz="1220" dirty="0">
                <a:solidFill>
                  <a:srgbClr val="243B53"/>
                </a:solidFill>
                <a:latin typeface="Aptos" pitchFamily="34" charset="0"/>
                <a:ea typeface="Aptos" pitchFamily="34" charset="-122"/>
                <a:cs typeface="Aptos" pitchFamily="34" charset="-120"/>
              </a:rPr>
              <a:t>La colaboración no llegó a ocurrir</a:t>
            </a:r>
            <a:endParaRPr lang="en-US" sz="1220" dirty="0"/>
          </a:p>
        </p:txBody>
      </p:sp>
      <p:sp>
        <p:nvSpPr>
          <p:cNvPr id="19" name="Text 16"/>
          <p:cNvSpPr txBox="1"/>
          <p:nvPr/>
        </p:nvSpPr>
        <p:spPr>
          <a:xfrm>
            <a:off x="7754112" y="2889504"/>
            <a:ext cx="3566160" cy="292608"/>
          </a:xfrm>
          <a:prstGeom prst="rect">
            <a:avLst/>
          </a:prstGeom>
          <a:noFill/>
          <a:ln/>
        </p:spPr>
        <p:txBody>
          <a:bodyPr wrap="square" lIns="0" tIns="0" rIns="0" bIns="0" rtlCol="0" anchor="t"/>
          <a:lstStyle/>
          <a:p>
            <a:pPr algn="l" indent="0" marL="0">
              <a:buNone/>
            </a:pPr>
            <a:r>
              <a:rPr lang="en-US" sz="1220" dirty="0">
                <a:solidFill>
                  <a:srgbClr val="52606D"/>
                </a:solidFill>
                <a:latin typeface="Aptos" pitchFamily="34" charset="0"/>
                <a:ea typeface="Aptos" pitchFamily="34" charset="-122"/>
                <a:cs typeface="Aptos" pitchFamily="34" charset="-120"/>
              </a:rPr>
              <a:t>Entre el contrato y el modelo de datos</a:t>
            </a:r>
            <a:endParaRPr lang="en-US" sz="1220" dirty="0"/>
          </a:p>
        </p:txBody>
      </p:sp>
      <p:sp>
        <p:nvSpPr>
          <p:cNvPr id="20" name="Shape 17"/>
          <p:cNvSpPr/>
          <p:nvPr/>
        </p:nvSpPr>
        <p:spPr>
          <a:xfrm>
            <a:off x="658368" y="3419856"/>
            <a:ext cx="10874959" cy="640080"/>
          </a:xfrm>
          <a:prstGeom prst="rect">
            <a:avLst/>
          </a:prstGeom>
          <a:solidFill>
            <a:srgbClr val="F8F3EC"/>
          </a:solidFill>
          <a:ln w="12700">
            <a:solidFill>
              <a:srgbClr val="F8F3EC"/>
            </a:solidFill>
            <a:prstDash val="solid"/>
          </a:ln>
        </p:spPr>
      </p:sp>
      <p:sp>
        <p:nvSpPr>
          <p:cNvPr id="21" name="Shape 18"/>
          <p:cNvSpPr/>
          <p:nvPr/>
        </p:nvSpPr>
        <p:spPr>
          <a:xfrm>
            <a:off x="658368" y="3419856"/>
            <a:ext cx="54864" cy="640080"/>
          </a:xfrm>
          <a:prstGeom prst="rect">
            <a:avLst/>
          </a:prstGeom>
          <a:solidFill>
            <a:srgbClr val="8A6A12"/>
          </a:solidFill>
          <a:ln w="12700">
            <a:solidFill>
              <a:srgbClr val="8A6A12"/>
            </a:solidFill>
            <a:prstDash val="solid"/>
          </a:ln>
        </p:spPr>
      </p:sp>
      <p:sp>
        <p:nvSpPr>
          <p:cNvPr id="22" name="Text 19"/>
          <p:cNvSpPr txBox="1"/>
          <p:nvPr/>
        </p:nvSpPr>
        <p:spPr>
          <a:xfrm>
            <a:off x="896112" y="3602736"/>
            <a:ext cx="3474720" cy="292608"/>
          </a:xfrm>
          <a:prstGeom prst="rect">
            <a:avLst/>
          </a:prstGeom>
          <a:noFill/>
          <a:ln/>
        </p:spPr>
        <p:txBody>
          <a:bodyPr wrap="square" lIns="0" tIns="0" rIns="0" bIns="0" rtlCol="0" anchor="t"/>
          <a:lstStyle/>
          <a:p>
            <a:pPr algn="l" indent="0" marL="0">
              <a:buNone/>
            </a:pPr>
            <a:r>
              <a:rPr lang="en-US" sz="1240" b="1" dirty="0">
                <a:solidFill>
                  <a:srgbClr val="8A6A12"/>
                </a:solidFill>
                <a:latin typeface="Aptos" pitchFamily="34" charset="0"/>
                <a:ea typeface="Aptos" pitchFamily="34" charset="-122"/>
                <a:cs typeface="Aptos" pitchFamily="34" charset="-120"/>
              </a:rPr>
              <a:t>200 en lugar de 201 y 409</a:t>
            </a:r>
            <a:endParaRPr lang="en-US" sz="1240" dirty="0"/>
          </a:p>
        </p:txBody>
      </p:sp>
      <p:sp>
        <p:nvSpPr>
          <p:cNvPr id="23" name="Text 20"/>
          <p:cNvSpPr txBox="1"/>
          <p:nvPr/>
        </p:nvSpPr>
        <p:spPr>
          <a:xfrm>
            <a:off x="4645152" y="3602736"/>
            <a:ext cx="2926080" cy="292608"/>
          </a:xfrm>
          <a:prstGeom prst="rect">
            <a:avLst/>
          </a:prstGeom>
          <a:noFill/>
          <a:ln/>
        </p:spPr>
        <p:txBody>
          <a:bodyPr wrap="square" lIns="0" tIns="0" rIns="0" bIns="0" rtlCol="0" anchor="t"/>
          <a:lstStyle/>
          <a:p>
            <a:pPr algn="l" indent="0" marL="0">
              <a:buNone/>
            </a:pPr>
            <a:r>
              <a:rPr lang="en-US" sz="1220" dirty="0">
                <a:solidFill>
                  <a:srgbClr val="243B53"/>
                </a:solidFill>
                <a:latin typeface="Aptos" pitchFamily="34" charset="0"/>
                <a:ea typeface="Aptos" pitchFamily="34" charset="-122"/>
                <a:cs typeface="Aptos" pitchFamily="34" charset="-120"/>
              </a:rPr>
              <a:t>Ocurrió, y se informó mal</a:t>
            </a:r>
            <a:endParaRPr lang="en-US" sz="1220" dirty="0"/>
          </a:p>
        </p:txBody>
      </p:sp>
      <p:sp>
        <p:nvSpPr>
          <p:cNvPr id="24" name="Text 21"/>
          <p:cNvSpPr txBox="1"/>
          <p:nvPr/>
        </p:nvSpPr>
        <p:spPr>
          <a:xfrm>
            <a:off x="7754112" y="3602736"/>
            <a:ext cx="3566160" cy="292608"/>
          </a:xfrm>
          <a:prstGeom prst="rect">
            <a:avLst/>
          </a:prstGeom>
          <a:noFill/>
          <a:ln/>
        </p:spPr>
        <p:txBody>
          <a:bodyPr wrap="square" lIns="0" tIns="0" rIns="0" bIns="0" rtlCol="0" anchor="t"/>
          <a:lstStyle/>
          <a:p>
            <a:pPr algn="l" indent="0" marL="0">
              <a:buNone/>
            </a:pPr>
            <a:r>
              <a:rPr lang="en-US" sz="1220" dirty="0">
                <a:solidFill>
                  <a:srgbClr val="52606D"/>
                </a:solidFill>
                <a:latin typeface="Aptos" pitchFamily="34" charset="0"/>
                <a:ea typeface="Aptos" pitchFamily="34" charset="-122"/>
                <a:cs typeface="Aptos" pitchFamily="34" charset="-120"/>
              </a:rPr>
              <a:t>Entre la decisión y su representación HTTP</a:t>
            </a:r>
            <a:endParaRPr lang="en-US" sz="1220" dirty="0"/>
          </a:p>
        </p:txBody>
      </p:sp>
      <p:sp>
        <p:nvSpPr>
          <p:cNvPr id="25" name="Shape 22"/>
          <p:cNvSpPr/>
          <p:nvPr/>
        </p:nvSpPr>
        <p:spPr>
          <a:xfrm>
            <a:off x="658368" y="4133088"/>
            <a:ext cx="10874959" cy="640080"/>
          </a:xfrm>
          <a:prstGeom prst="rect">
            <a:avLst/>
          </a:prstGeom>
          <a:solidFill>
            <a:srgbClr val="EDE6DA"/>
          </a:solidFill>
          <a:ln w="12700">
            <a:solidFill>
              <a:srgbClr val="EDE6DA"/>
            </a:solidFill>
            <a:prstDash val="solid"/>
          </a:ln>
        </p:spPr>
      </p:sp>
      <p:sp>
        <p:nvSpPr>
          <p:cNvPr id="26" name="Shape 23"/>
          <p:cNvSpPr/>
          <p:nvPr/>
        </p:nvSpPr>
        <p:spPr>
          <a:xfrm>
            <a:off x="658368" y="4133088"/>
            <a:ext cx="54864" cy="640080"/>
          </a:xfrm>
          <a:prstGeom prst="rect">
            <a:avLst/>
          </a:prstGeom>
          <a:solidFill>
            <a:srgbClr val="102A43"/>
          </a:solidFill>
          <a:ln w="12700">
            <a:solidFill>
              <a:srgbClr val="102A43"/>
            </a:solidFill>
            <a:prstDash val="solid"/>
          </a:ln>
        </p:spPr>
      </p:sp>
      <p:sp>
        <p:nvSpPr>
          <p:cNvPr id="27" name="Text 24"/>
          <p:cNvSpPr txBox="1"/>
          <p:nvPr/>
        </p:nvSpPr>
        <p:spPr>
          <a:xfrm>
            <a:off x="896112" y="4315968"/>
            <a:ext cx="3474720" cy="292608"/>
          </a:xfrm>
          <a:prstGeom prst="rect">
            <a:avLst/>
          </a:prstGeom>
          <a:noFill/>
          <a:ln/>
        </p:spPr>
        <p:txBody>
          <a:bodyPr wrap="square" lIns="0" tIns="0" rIns="0" bIns="0" rtlCol="0" anchor="t"/>
          <a:lstStyle/>
          <a:p>
            <a:pPr algn="l" indent="0" marL="0">
              <a:buNone/>
            </a:pPr>
            <a:r>
              <a:rPr lang="en-US" sz="1240" b="1" dirty="0">
                <a:solidFill>
                  <a:srgbClr val="102A43"/>
                </a:solidFill>
                <a:latin typeface="Aptos" pitchFamily="34" charset="0"/>
                <a:ea typeface="Aptos" pitchFamily="34" charset="-122"/>
                <a:cs typeface="Aptos" pitchFamily="34" charset="-120"/>
              </a:rPr>
              <a:t>Comprobante de un rechazo</a:t>
            </a:r>
            <a:endParaRPr lang="en-US" sz="1240" dirty="0"/>
          </a:p>
        </p:txBody>
      </p:sp>
      <p:sp>
        <p:nvSpPr>
          <p:cNvPr id="28" name="Text 25"/>
          <p:cNvSpPr txBox="1"/>
          <p:nvPr/>
        </p:nvSpPr>
        <p:spPr>
          <a:xfrm>
            <a:off x="4645152" y="4315968"/>
            <a:ext cx="2926080" cy="292608"/>
          </a:xfrm>
          <a:prstGeom prst="rect">
            <a:avLst/>
          </a:prstGeom>
          <a:noFill/>
          <a:ln/>
        </p:spPr>
        <p:txBody>
          <a:bodyPr wrap="square" lIns="0" tIns="0" rIns="0" bIns="0" rtlCol="0" anchor="t"/>
          <a:lstStyle/>
          <a:p>
            <a:pPr algn="l" indent="0" marL="0">
              <a:buNone/>
            </a:pPr>
            <a:r>
              <a:rPr lang="en-US" sz="1220" dirty="0">
                <a:solidFill>
                  <a:srgbClr val="243B53"/>
                </a:solidFill>
                <a:latin typeface="Aptos" pitchFamily="34" charset="0"/>
                <a:ea typeface="Aptos" pitchFamily="34" charset="-122"/>
                <a:cs typeface="Aptos" pitchFamily="34" charset="-120"/>
              </a:rPr>
              <a:t>Ocurrió, y se compuso mal</a:t>
            </a:r>
            <a:endParaRPr lang="en-US" sz="1220" dirty="0"/>
          </a:p>
        </p:txBody>
      </p:sp>
      <p:sp>
        <p:nvSpPr>
          <p:cNvPr id="29" name="Text 26"/>
          <p:cNvSpPr txBox="1"/>
          <p:nvPr/>
        </p:nvSpPr>
        <p:spPr>
          <a:xfrm>
            <a:off x="7754112" y="4315968"/>
            <a:ext cx="3566160" cy="292608"/>
          </a:xfrm>
          <a:prstGeom prst="rect">
            <a:avLst/>
          </a:prstGeom>
          <a:noFill/>
          <a:ln/>
        </p:spPr>
        <p:txBody>
          <a:bodyPr wrap="square" lIns="0" tIns="0" rIns="0" bIns="0" rtlCol="0" anchor="t"/>
          <a:lstStyle/>
          <a:p>
            <a:pPr algn="l" indent="0" marL="0">
              <a:buNone/>
            </a:pPr>
            <a:r>
              <a:rPr lang="en-US" sz="1220" dirty="0">
                <a:solidFill>
                  <a:srgbClr val="52606D"/>
                </a:solidFill>
                <a:latin typeface="Aptos" pitchFamily="34" charset="0"/>
                <a:ea typeface="Aptos" pitchFamily="34" charset="-122"/>
                <a:cs typeface="Aptos" pitchFamily="34" charset="-120"/>
              </a:rPr>
              <a:t>Entre dos funciones correctas</a:t>
            </a:r>
            <a:endParaRPr lang="en-US" sz="1220" dirty="0"/>
          </a:p>
        </p:txBody>
      </p:sp>
      <p:sp>
        <p:nvSpPr>
          <p:cNvPr id="30" name="Shape 27"/>
          <p:cNvSpPr/>
          <p:nvPr/>
        </p:nvSpPr>
        <p:spPr>
          <a:xfrm>
            <a:off x="658368" y="4901184"/>
            <a:ext cx="10874959" cy="603504"/>
          </a:xfrm>
          <a:prstGeom prst="rect">
            <a:avLst/>
          </a:prstGeom>
          <a:solidFill>
            <a:srgbClr val="F2E7D9"/>
          </a:solidFill>
          <a:ln w="12700">
            <a:solidFill>
              <a:srgbClr val="F2E7D9"/>
            </a:solidFill>
            <a:prstDash val="solid"/>
          </a:ln>
        </p:spPr>
      </p:sp>
      <p:sp>
        <p:nvSpPr>
          <p:cNvPr id="31" name="Text 28"/>
          <p:cNvSpPr txBox="1"/>
          <p:nvPr/>
        </p:nvSpPr>
        <p:spPr>
          <a:xfrm>
            <a:off x="950976" y="5029200"/>
            <a:ext cx="10289743" cy="365760"/>
          </a:xfrm>
          <a:prstGeom prst="rect">
            <a:avLst/>
          </a:prstGeom>
          <a:noFill/>
          <a:ln/>
        </p:spPr>
        <p:txBody>
          <a:bodyPr wrap="square" lIns="0" tIns="0" rIns="0" bIns="0" rtlCol="0" anchor="ctr"/>
          <a:lstStyle/>
          <a:p>
            <a:pPr algn="l" indent="0" marL="0">
              <a:buNone/>
            </a:pPr>
            <a:r>
              <a:rPr lang="en-US" sz="1260" dirty="0">
                <a:solidFill>
                  <a:srgbClr val="243B53"/>
                </a:solidFill>
                <a:latin typeface="Aptos" pitchFamily="34" charset="0"/>
                <a:ea typeface="Aptos" pitchFamily="34" charset="-122"/>
                <a:cs typeface="Aptos" pitchFamily="34" charset="-120"/>
              </a:rPr>
              <a:t>Es la afirmación de ISTQB —los niveles se distinguen, entre otras cosas, por los defectos que encuentran— comprobada sobre el proyecto propio y no aceptada por autoridad.</a:t>
            </a:r>
            <a:endParaRPr lang="en-US" sz="1260" dirty="0"/>
          </a:p>
        </p:txBody>
      </p:sp>
      <p:sp>
        <p:nvSpPr>
          <p:cNvPr id="32" name="Shape 29"/>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3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No es falta de rigor de las pruebas unitarias: es que el objeto que miran es otro.</a:t>
            </a:r>
            <a:endParaRPr lang="en-US" sz="13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seguir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suite unitaria informa 16 passed y las dos pruebas de integración fallan. Un compañero concluye que las pruebas unitarias estaban mal escritas. ¿Tiene razón?</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Revisa el objeto de prueba de cada nivel: ¿el nombre de un campo HTTP está dentro de lo que puede_reservar puede ver?</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sistema devolvió permitida: false junto con un comprobante. Las dos funciones que produjeron esa respuesta están verificadas. ¿De quién es el defecto?</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El defecto aparece al componer. Piensa qué documento decide qué se devuelve cuando la primera función dice que no.</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Un agente entrega una prueba de integración que pasa a la primera sobre esta misma API. ¿Qué afirma exactamente, y por qué que pase no es buena noticia?</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Compara de dónde salió el 200 que esa prueba afirma con de dónde salió el 201 que afirma la prueba escrita contra el contrato.</a:t>
            </a:r>
            <a:endParaRPr lang="en-US" sz="11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1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NO TIENE RAZÓN</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Están bien escritas: el nombre del campo del cuerpo es invisible para puede_reservar.</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Cada nivel tiene su propio objeto de prueba</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Culpar al nivel que no falló</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DE QUIEN LAS COMPUSO</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defecto no está en ninguna función: está en que nadie decidió qué se devuelve cuando la regla dice que no.</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El contrato es el documento que faltaba</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Buscar el error dentro de una de las dos</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AFIRMA LO QUE EL CÓDIGO YA HACÍA</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agente lee la API y escribe la prueba contra lo que encuentra. Si responde 200, la prueba afirma 200.</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El esperado salió de la implementación</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Aceptar la prueba porque pasa</a:t>
            </a:r>
            <a:endParaRPr lang="en-US" sz="10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18</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2 DE 4 · 25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3800" b="1" dirty="0">
                <a:solidFill>
                  <a:srgbClr val="FFFFFF"/>
                </a:solidFill>
                <a:latin typeface="Aptos Display" pitchFamily="34" charset="0"/>
                <a:ea typeface="Aptos Display" pitchFamily="34" charset="-122"/>
                <a:cs typeface="Aptos Display" pitchFamily="34" charset="-120"/>
              </a:rPr>
              <a:t>La preparación que decide si una prueba significa algo</a:t>
            </a:r>
            <a:endParaRPr lang="en-US" sz="38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Dejar de sustituir la dependencia tiene un precio: lo que una prueba crea sigue existiendo cuando termina. El resultado de una prueba empieza a depender de qué otras se ejecutaron antes.</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CONECTAR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Dejar de sustituir lo que se quiere observar</a:t>
            </a:r>
            <a:endParaRPr lang="en-US" sz="920" dirty="0"/>
          </a:p>
        </p:txBody>
      </p:sp>
      <p:sp>
        <p:nvSpPr>
          <p:cNvPr id="16" name="Shape 13"/>
          <p:cNvSpPr/>
          <p:nvPr/>
        </p:nvSpPr>
        <p:spPr>
          <a:xfrm>
            <a:off x="3409112" y="4901184"/>
            <a:ext cx="2622728" cy="786384"/>
          </a:xfrm>
          <a:prstGeom prst="rect">
            <a:avLst/>
          </a:prstGeom>
          <a:solidFill>
            <a:srgbClr val="D62027"/>
          </a:solidFill>
          <a:ln w="12700">
            <a:solidFill>
              <a:srgbClr val="D6202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AISLAR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Que el resultado no dependa del orden</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BORRAR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Y comprobar que se borró</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DECIDIR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se sustituye y qué no</a:t>
            </a:r>
            <a:endParaRPr lang="en-US" sz="9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19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BASE EN VERDE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Corregir el contrato antes de seguir</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No es el asunto de la sesión, pero se lee: aparecen dos piezas de sintaxis que se usan después.</a:t>
            </a:r>
            <a:endParaRPr lang="en-US" sz="1420" dirty="0"/>
          </a:p>
        </p:txBody>
      </p:sp>
      <p:sp>
        <p:nvSpPr>
          <p:cNvPr id="11" name="Shape 8"/>
          <p:cNvSpPr/>
          <p:nvPr/>
        </p:nvSpPr>
        <p:spPr>
          <a:xfrm>
            <a:off x="658368" y="2286000"/>
            <a:ext cx="6492240" cy="2395728"/>
          </a:xfrm>
          <a:prstGeom prst="roundRect">
            <a:avLst>
              <a:gd name="adj" fmla="val 1527"/>
            </a:avLst>
          </a:prstGeom>
          <a:solidFill>
            <a:srgbClr val="102A43"/>
          </a:solidFill>
          <a:ln w="12700">
            <a:solidFill>
              <a:srgbClr val="102A43"/>
            </a:solidFill>
            <a:prstDash val="solid"/>
          </a:ln>
        </p:spPr>
      </p:sp>
      <p:sp>
        <p:nvSpPr>
          <p:cNvPr id="12" name="Shape 9"/>
          <p:cNvSpPr/>
          <p:nvPr/>
        </p:nvSpPr>
        <p:spPr>
          <a:xfrm>
            <a:off x="786384" y="2395728"/>
            <a:ext cx="623620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6016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api.py · corregido</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6071616" cy="1645920"/>
          </a:xfrm>
          <a:prstGeom prst="rect">
            <a:avLst/>
          </a:prstGeom>
        </p:spPr>
      </p:pic>
      <p:sp>
        <p:nvSpPr>
          <p:cNvPr id="15" name="Shape 11"/>
          <p:cNvSpPr/>
          <p:nvPr/>
        </p:nvSpPr>
        <p:spPr>
          <a:xfrm>
            <a:off x="7516368" y="2286000"/>
            <a:ext cx="4023360" cy="1115568"/>
          </a:xfrm>
          <a:prstGeom prst="rect">
            <a:avLst/>
          </a:prstGeom>
          <a:solidFill>
            <a:srgbClr val="FFFFFF"/>
          </a:solidFill>
          <a:ln w="12700">
            <a:solidFill>
              <a:srgbClr val="FFFFFF"/>
            </a:solidFill>
            <a:prstDash val="solid"/>
          </a:ln>
        </p:spPr>
      </p:sp>
      <p:sp>
        <p:nvSpPr>
          <p:cNvPr id="16" name="Shape 12"/>
          <p:cNvSpPr/>
          <p:nvPr/>
        </p:nvSpPr>
        <p:spPr>
          <a:xfrm>
            <a:off x="7516368" y="2286000"/>
            <a:ext cx="54864" cy="1115568"/>
          </a:xfrm>
          <a:prstGeom prst="rect">
            <a:avLst/>
          </a:prstGeom>
          <a:solidFill>
            <a:srgbClr val="2E7D4F"/>
          </a:solidFill>
          <a:ln w="12700">
            <a:solidFill>
              <a:srgbClr val="2E7D4F"/>
            </a:solidFill>
            <a:prstDash val="solid"/>
          </a:ln>
        </p:spPr>
      </p:sp>
      <p:sp>
        <p:nvSpPr>
          <p:cNvPr id="17" name="Text 13"/>
          <p:cNvSpPr txBox="1"/>
          <p:nvPr/>
        </p:nvSpPr>
        <p:spPr>
          <a:xfrm>
            <a:off x="7754112" y="2414016"/>
            <a:ext cx="3566160" cy="182880"/>
          </a:xfrm>
          <a:prstGeom prst="rect">
            <a:avLst/>
          </a:prstGeom>
          <a:noFill/>
          <a:ln/>
        </p:spPr>
        <p:txBody>
          <a:bodyPr wrap="square" lIns="0" tIns="0" rIns="0" bIns="0" rtlCol="0" anchor="t"/>
          <a:lstStyle/>
          <a:p>
            <a:pPr algn="l" indent="0" marL="0">
              <a:buNone/>
            </a:pPr>
            <a:r>
              <a:rPr lang="en-US" sz="920" b="1" spc="110" kern="0" dirty="0">
                <a:solidFill>
                  <a:srgbClr val="2E7D4F"/>
                </a:solidFill>
                <a:latin typeface="Aptos" pitchFamily="34" charset="0"/>
                <a:ea typeface="Aptos" pitchFamily="34" charset="-122"/>
                <a:cs typeface="Aptos" pitchFamily="34" charset="-120"/>
              </a:rPr>
              <a:t>STATUS_CODE=201</a:t>
            </a:r>
            <a:endParaRPr lang="en-US" sz="920" dirty="0"/>
          </a:p>
        </p:txBody>
      </p:sp>
      <p:sp>
        <p:nvSpPr>
          <p:cNvPr id="18" name="Text 14"/>
          <p:cNvSpPr txBox="1"/>
          <p:nvPr/>
        </p:nvSpPr>
        <p:spPr>
          <a:xfrm>
            <a:off x="7754112" y="2670048"/>
            <a:ext cx="3566160" cy="621792"/>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Cambia el código con el que se responde cuando todo sale bien. Es el código por defecto de esa ruta, no de la aplicación entera.</a:t>
            </a:r>
            <a:endParaRPr lang="en-US" sz="1210" dirty="0"/>
          </a:p>
        </p:txBody>
      </p:sp>
      <p:sp>
        <p:nvSpPr>
          <p:cNvPr id="19" name="Shape 15"/>
          <p:cNvSpPr/>
          <p:nvPr/>
        </p:nvSpPr>
        <p:spPr>
          <a:xfrm>
            <a:off x="7516368" y="3529584"/>
            <a:ext cx="4023360" cy="1152144"/>
          </a:xfrm>
          <a:prstGeom prst="rect">
            <a:avLst/>
          </a:prstGeom>
          <a:solidFill>
            <a:srgbClr val="FFFFFF"/>
          </a:solidFill>
          <a:ln w="12700">
            <a:solidFill>
              <a:srgbClr val="FFFFFF"/>
            </a:solidFill>
            <a:prstDash val="solid"/>
          </a:ln>
        </p:spPr>
      </p:sp>
      <p:sp>
        <p:nvSpPr>
          <p:cNvPr id="20" name="Shape 16"/>
          <p:cNvSpPr/>
          <p:nvPr/>
        </p:nvSpPr>
        <p:spPr>
          <a:xfrm>
            <a:off x="7516368" y="3529584"/>
            <a:ext cx="54864" cy="1152144"/>
          </a:xfrm>
          <a:prstGeom prst="rect">
            <a:avLst/>
          </a:prstGeom>
          <a:solidFill>
            <a:srgbClr val="8A6A12"/>
          </a:solidFill>
          <a:ln w="12700">
            <a:solidFill>
              <a:srgbClr val="8A6A12"/>
            </a:solidFill>
            <a:prstDash val="solid"/>
          </a:ln>
        </p:spPr>
      </p:sp>
      <p:sp>
        <p:nvSpPr>
          <p:cNvPr id="21" name="Text 17"/>
          <p:cNvSpPr txBox="1"/>
          <p:nvPr/>
        </p:nvSpPr>
        <p:spPr>
          <a:xfrm>
            <a:off x="7754112" y="3657600"/>
            <a:ext cx="3566160" cy="182880"/>
          </a:xfrm>
          <a:prstGeom prst="rect">
            <a:avLst/>
          </a:prstGeom>
          <a:noFill/>
          <a:ln/>
        </p:spPr>
        <p:txBody>
          <a:bodyPr wrap="square" lIns="0" tIns="0" rIns="0" bIns="0" rtlCol="0" anchor="t"/>
          <a:lstStyle/>
          <a:p>
            <a:pPr algn="l" indent="0" marL="0">
              <a:buNone/>
            </a:pPr>
            <a:r>
              <a:rPr lang="en-US" sz="920" b="1" spc="110" kern="0" dirty="0">
                <a:solidFill>
                  <a:srgbClr val="8A6A12"/>
                </a:solidFill>
                <a:latin typeface="Aptos" pitchFamily="34" charset="0"/>
                <a:ea typeface="Aptos" pitchFamily="34" charset="-122"/>
                <a:cs typeface="Aptos" pitchFamily="34" charset="-120"/>
              </a:rPr>
              <a:t>RAISE HTTPEXCEPTION(...)</a:t>
            </a:r>
            <a:endParaRPr lang="en-US" sz="920" dirty="0"/>
          </a:p>
        </p:txBody>
      </p:sp>
      <p:sp>
        <p:nvSpPr>
          <p:cNvPr id="22" name="Text 18"/>
          <p:cNvSpPr txBox="1"/>
          <p:nvPr/>
        </p:nvSpPr>
        <p:spPr>
          <a:xfrm>
            <a:off x="7754112" y="3913632"/>
            <a:ext cx="3566160" cy="658368"/>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Interrumpe la función y responde con ese código y ese motivo. Al interrumpir, el return del final no se ejecuta.</a:t>
            </a:r>
            <a:endParaRPr lang="en-US" sz="1210" dirty="0"/>
          </a:p>
        </p:txBody>
      </p:sp>
      <p:sp>
        <p:nvSpPr>
          <p:cNvPr id="23" name="Shape 19"/>
          <p:cNvSpPr/>
          <p:nvPr/>
        </p:nvSpPr>
        <p:spPr>
          <a:xfrm>
            <a:off x="658368" y="4882896"/>
            <a:ext cx="10874959" cy="658368"/>
          </a:xfrm>
          <a:prstGeom prst="rect">
            <a:avLst/>
          </a:prstGeom>
          <a:solidFill>
            <a:srgbClr val="EDE6DA"/>
          </a:solidFill>
          <a:ln w="12700">
            <a:solidFill>
              <a:srgbClr val="EDE6DA"/>
            </a:solidFill>
            <a:prstDash val="solid"/>
          </a:ln>
        </p:spPr>
      </p:sp>
      <p:sp>
        <p:nvSpPr>
          <p:cNvPr id="24" name="Text 20"/>
          <p:cNvSpPr txBox="1"/>
          <p:nvPr/>
        </p:nvSpPr>
        <p:spPr>
          <a:xfrm>
            <a:off x="950976" y="5010912"/>
            <a:ext cx="10289743" cy="402336"/>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Y con eso desaparece también el tercer defecto del bloque anterior: ya no hay forma de devolver un comprobante junto a un rechazo, porque el rechazo sale antes de llegar a armarlo.</a:t>
            </a:r>
            <a:endParaRPr lang="en-US" sz="1240" dirty="0"/>
          </a:p>
        </p:txBody>
      </p:sp>
      <p:sp>
        <p:nvSpPr>
          <p:cNvPr id="25" name="Shape 21"/>
          <p:cNvSpPr/>
          <p:nvPr/>
        </p:nvSpPr>
        <p:spPr>
          <a:xfrm>
            <a:off x="658368" y="5650992"/>
            <a:ext cx="10874959" cy="548640"/>
          </a:xfrm>
          <a:prstGeom prst="rect">
            <a:avLst/>
          </a:prstGeom>
          <a:solidFill>
            <a:srgbClr val="102A43"/>
          </a:solidFill>
          <a:ln w="12700">
            <a:solidFill>
              <a:srgbClr val="102A43"/>
            </a:solidFill>
            <a:prstDash val="solid"/>
          </a:ln>
        </p:spPr>
      </p:sp>
      <p:sp>
        <p:nvSpPr>
          <p:cNvPr id="26" name="Text 2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Con el contrato cumplido, la suite queda en verde. Ahí empieza el problema de este bloque.</a:t>
            </a:r>
            <a:endParaRPr lang="en-US" sz="13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VERDE SOSPECHOSO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Pasa acompañada y falla sola</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Se agrega la tercera prueba, la del bloque que ya está reservado. El archivo completo queda en verde.</a:t>
            </a:r>
            <a:endParaRPr lang="en-US" sz="1420" dirty="0"/>
          </a:p>
        </p:txBody>
      </p:sp>
      <p:sp>
        <p:nvSpPr>
          <p:cNvPr id="11" name="Shape 8"/>
          <p:cNvSpPr/>
          <p:nvPr/>
        </p:nvSpPr>
        <p:spPr>
          <a:xfrm>
            <a:off x="658368" y="2286000"/>
            <a:ext cx="5852160" cy="1591056"/>
          </a:xfrm>
          <a:prstGeom prst="roundRect">
            <a:avLst>
              <a:gd name="adj" fmla="val 2299"/>
            </a:avLst>
          </a:prstGeom>
          <a:solidFill>
            <a:srgbClr val="102A43"/>
          </a:solidFill>
          <a:ln w="12700">
            <a:solidFill>
              <a:srgbClr val="102A43"/>
            </a:solidFill>
            <a:prstDash val="solid"/>
          </a:ln>
        </p:spPr>
      </p:sp>
      <p:sp>
        <p:nvSpPr>
          <p:cNvPr id="12" name="Shape 9"/>
          <p:cNvSpPr/>
          <p:nvPr/>
        </p:nvSpPr>
        <p:spPr>
          <a:xfrm>
            <a:off x="786384" y="2395728"/>
            <a:ext cx="559612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37667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tercera prueba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431536" cy="841248"/>
          </a:xfrm>
          <a:prstGeom prst="rect">
            <a:avLst/>
          </a:prstGeom>
        </p:spPr>
      </p:pic>
      <p:sp>
        <p:nvSpPr>
          <p:cNvPr id="15" name="Shape 11"/>
          <p:cNvSpPr/>
          <p:nvPr/>
        </p:nvSpPr>
        <p:spPr>
          <a:xfrm>
            <a:off x="6876288" y="2286000"/>
            <a:ext cx="4663440" cy="1188720"/>
          </a:xfrm>
          <a:prstGeom prst="roundRect">
            <a:avLst>
              <a:gd name="adj" fmla="val 3077"/>
            </a:avLst>
          </a:prstGeom>
          <a:solidFill>
            <a:srgbClr val="0F1720"/>
          </a:solidFill>
          <a:ln w="12700">
            <a:solidFill>
              <a:srgbClr val="0F1720"/>
            </a:solidFill>
            <a:prstDash val="solid"/>
          </a:ln>
        </p:spPr>
      </p:sp>
      <p:sp>
        <p:nvSpPr>
          <p:cNvPr id="16" name="Shape 12"/>
          <p:cNvSpPr/>
          <p:nvPr/>
        </p:nvSpPr>
        <p:spPr>
          <a:xfrm>
            <a:off x="7004304" y="2395728"/>
            <a:ext cx="4407408"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7132320" y="2468880"/>
            <a:ext cx="415137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el archivo completo</a:t>
            </a:r>
            <a:endParaRPr lang="en-US" sz="1000" dirty="0"/>
          </a:p>
        </p:txBody>
      </p:sp>
      <p:sp>
        <p:nvSpPr>
          <p:cNvPr id="18" name="Text 14"/>
          <p:cNvSpPr/>
          <p:nvPr/>
        </p:nvSpPr>
        <p:spPr>
          <a:xfrm>
            <a:off x="7095744" y="2852928"/>
            <a:ext cx="391363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3 passed in 0.52s</a:t>
            </a:r>
            <a:endParaRPr lang="en-US" sz="980" dirty="0"/>
          </a:p>
        </p:txBody>
      </p:sp>
      <p:sp>
        <p:nvSpPr>
          <p:cNvPr id="19" name="Shape 15"/>
          <p:cNvSpPr/>
          <p:nvPr/>
        </p:nvSpPr>
        <p:spPr>
          <a:xfrm>
            <a:off x="6876288" y="3602736"/>
            <a:ext cx="4663440" cy="1591056"/>
          </a:xfrm>
          <a:prstGeom prst="roundRect">
            <a:avLst>
              <a:gd name="adj" fmla="val 2299"/>
            </a:avLst>
          </a:prstGeom>
          <a:solidFill>
            <a:srgbClr val="0F1720"/>
          </a:solidFill>
          <a:ln w="12700">
            <a:solidFill>
              <a:srgbClr val="0F1720"/>
            </a:solidFill>
            <a:prstDash val="solid"/>
          </a:ln>
        </p:spPr>
      </p:sp>
      <p:sp>
        <p:nvSpPr>
          <p:cNvPr id="20" name="Shape 16"/>
          <p:cNvSpPr/>
          <p:nvPr/>
        </p:nvSpPr>
        <p:spPr>
          <a:xfrm>
            <a:off x="7004304" y="3712464"/>
            <a:ext cx="4407408" cy="310896"/>
          </a:xfrm>
          <a:prstGeom prst="roundRect">
            <a:avLst>
              <a:gd name="adj" fmla="val 8824"/>
            </a:avLst>
          </a:prstGeom>
          <a:solidFill>
            <a:srgbClr val="1E2937"/>
          </a:solidFill>
          <a:ln w="12700">
            <a:solidFill>
              <a:srgbClr val="1E2937"/>
            </a:solidFill>
            <a:prstDash val="solid"/>
          </a:ln>
        </p:spPr>
      </p:sp>
      <p:sp>
        <p:nvSpPr>
          <p:cNvPr id="21" name="Text 17"/>
          <p:cNvSpPr/>
          <p:nvPr/>
        </p:nvSpPr>
        <p:spPr>
          <a:xfrm>
            <a:off x="7132320" y="3785616"/>
            <a:ext cx="415137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solo la tercera</a:t>
            </a:r>
            <a:endParaRPr lang="en-US" sz="1000" dirty="0"/>
          </a:p>
        </p:txBody>
      </p:sp>
      <p:sp>
        <p:nvSpPr>
          <p:cNvPr id="22" name="Text 18"/>
          <p:cNvSpPr/>
          <p:nvPr/>
        </p:nvSpPr>
        <p:spPr>
          <a:xfrm>
            <a:off x="7095744" y="4169664"/>
            <a:ext cx="391363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E   assert 201 == 409</a:t>
            </a:r>
            <a:endParaRPr lang="en-US" sz="980" dirty="0"/>
          </a:p>
        </p:txBody>
      </p:sp>
      <p:sp>
        <p:nvSpPr>
          <p:cNvPr id="23" name="Text 19"/>
          <p:cNvSpPr/>
          <p:nvPr/>
        </p:nvSpPr>
        <p:spPr>
          <a:xfrm>
            <a:off x="7095744" y="4425696"/>
            <a:ext cx="391363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E    where 201 = &lt;Response [201 Created]&gt;</a:t>
            </a:r>
            <a:endParaRPr lang="en-US" sz="980" dirty="0"/>
          </a:p>
        </p:txBody>
      </p:sp>
      <p:sp>
        <p:nvSpPr>
          <p:cNvPr id="24" name="Text 20"/>
          <p:cNvSpPr/>
          <p:nvPr/>
        </p:nvSpPr>
        <p:spPr>
          <a:xfrm>
            <a:off x="7095744" y="4681728"/>
            <a:ext cx="391363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1 failed in 0.66s</a:t>
            </a:r>
            <a:endParaRPr lang="en-US" sz="980" dirty="0"/>
          </a:p>
        </p:txBody>
      </p:sp>
      <p:sp>
        <p:nvSpPr>
          <p:cNvPr id="25" name="Shape 21"/>
          <p:cNvSpPr/>
          <p:nvPr/>
        </p:nvSpPr>
        <p:spPr>
          <a:xfrm>
            <a:off x="658368" y="4041648"/>
            <a:ext cx="5852160" cy="1152144"/>
          </a:xfrm>
          <a:prstGeom prst="rect">
            <a:avLst/>
          </a:prstGeom>
          <a:solidFill>
            <a:srgbClr val="F2E7D9"/>
          </a:solidFill>
          <a:ln w="12700">
            <a:solidFill>
              <a:srgbClr val="F2E7D9"/>
            </a:solidFill>
            <a:prstDash val="solid"/>
          </a:ln>
        </p:spPr>
      </p:sp>
      <p:sp>
        <p:nvSpPr>
          <p:cNvPr id="26" name="Shape 22"/>
          <p:cNvSpPr/>
          <p:nvPr/>
        </p:nvSpPr>
        <p:spPr>
          <a:xfrm>
            <a:off x="658368" y="4041648"/>
            <a:ext cx="54864" cy="1152144"/>
          </a:xfrm>
          <a:prstGeom prst="rect">
            <a:avLst/>
          </a:prstGeom>
          <a:solidFill>
            <a:srgbClr val="B3181E"/>
          </a:solidFill>
          <a:ln w="12700">
            <a:solidFill>
              <a:srgbClr val="B3181E"/>
            </a:solidFill>
            <a:prstDash val="solid"/>
          </a:ln>
        </p:spPr>
      </p:sp>
      <p:sp>
        <p:nvSpPr>
          <p:cNvPr id="27" name="Text 23"/>
          <p:cNvSpPr txBox="1"/>
          <p:nvPr/>
        </p:nvSpPr>
        <p:spPr>
          <a:xfrm>
            <a:off x="932688" y="4206240"/>
            <a:ext cx="5303520" cy="237744"/>
          </a:xfrm>
          <a:prstGeom prst="rect">
            <a:avLst/>
          </a:prstGeom>
          <a:noFill/>
          <a:ln/>
        </p:spPr>
        <p:txBody>
          <a:bodyPr wrap="square" lIns="0" tIns="0" rIns="0" bIns="0" rtlCol="0" anchor="t"/>
          <a:lstStyle/>
          <a:p>
            <a:pPr algn="l" indent="0" marL="0">
              <a:buNone/>
            </a:pPr>
            <a:r>
              <a:rPr lang="en-US" sz="1260" b="1" dirty="0">
                <a:solidFill>
                  <a:srgbClr val="B3181E"/>
                </a:solidFill>
                <a:latin typeface="Aptos" pitchFamily="34" charset="0"/>
                <a:ea typeface="Aptos" pitchFamily="34" charset="-122"/>
                <a:cs typeface="Aptos" pitchFamily="34" charset="-120"/>
              </a:rPr>
              <a:t>Sintaxis: archivo::nombre</a:t>
            </a:r>
            <a:endParaRPr lang="en-US" sz="1260" dirty="0"/>
          </a:p>
        </p:txBody>
      </p:sp>
      <p:sp>
        <p:nvSpPr>
          <p:cNvPr id="28" name="Text 24"/>
          <p:cNvSpPr txBox="1"/>
          <p:nvPr/>
        </p:nvSpPr>
        <p:spPr>
          <a:xfrm>
            <a:off x="932688" y="4480560"/>
            <a:ext cx="5303520" cy="603504"/>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uv run pytest "test_api.py::test_bloque_ya_tomado_responde_409" -q le indica a pytest que ejecute exactamente esa prueba y ninguna otra.</a:t>
            </a:r>
            <a:endParaRPr lang="en-US" sz="1120" dirty="0"/>
          </a:p>
        </p:txBody>
      </p:sp>
      <p:sp>
        <p:nvSpPr>
          <p:cNvPr id="29" name="Shape 25"/>
          <p:cNvSpPr/>
          <p:nvPr/>
        </p:nvSpPr>
        <p:spPr>
          <a:xfrm>
            <a:off x="658368" y="5650992"/>
            <a:ext cx="10874959" cy="548640"/>
          </a:xfrm>
          <a:prstGeom prst="rect">
            <a:avLst/>
          </a:prstGeom>
          <a:solidFill>
            <a:srgbClr val="102A43"/>
          </a:solidFill>
          <a:ln w="12700">
            <a:solidFill>
              <a:srgbClr val="102A43"/>
            </a:solidFill>
            <a:prstDash val="solid"/>
          </a:ln>
        </p:spPr>
      </p:sp>
      <p:sp>
        <p:nvSpPr>
          <p:cNvPr id="30" name="Text 2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misma prueba, el mismo código, sin cambiar una línea. Y dos resultados distintos.</a:t>
            </a:r>
            <a:endParaRPr lang="en-US" sz="13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CAUSA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900" b="1" dirty="0">
                <a:solidFill>
                  <a:srgbClr val="243B53"/>
                </a:solidFill>
                <a:latin typeface="Aptos Display" pitchFamily="34" charset="0"/>
                <a:ea typeface="Aptos Display" pitchFamily="34" charset="-122"/>
                <a:cs typeface="Aptos Display" pitchFamily="34" charset="-120"/>
              </a:rPr>
              <a:t>El verde describía el orden, no el sistema</a:t>
            </a:r>
            <a:endParaRPr lang="en-US" sz="29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reservas_registradas vive en el módulo, no dentro de la función: existe desde que el módulo se importa hasta que el proceso termina.</a:t>
            </a:r>
            <a:endParaRPr lang="en-US" sz="1420" dirty="0"/>
          </a:p>
        </p:txBody>
      </p:sp>
      <p:sp>
        <p:nvSpPr>
          <p:cNvPr id="11" name="Shape 8"/>
          <p:cNvSpPr/>
          <p:nvPr/>
        </p:nvSpPr>
        <p:spPr>
          <a:xfrm>
            <a:off x="658368" y="2286000"/>
            <a:ext cx="10874959" cy="347472"/>
          </a:xfrm>
          <a:prstGeom prst="rect">
            <a:avLst/>
          </a:prstGeom>
          <a:solidFill>
            <a:srgbClr val="1D3A57"/>
          </a:solidFill>
          <a:ln w="12700">
            <a:solidFill>
              <a:srgbClr val="1D3A57"/>
            </a:solidFill>
            <a:prstDash val="solid"/>
          </a:ln>
        </p:spPr>
      </p:sp>
      <p:sp>
        <p:nvSpPr>
          <p:cNvPr id="12" name="Text 9"/>
          <p:cNvSpPr txBox="1"/>
          <p:nvPr/>
        </p:nvSpPr>
        <p:spPr>
          <a:xfrm>
            <a:off x="896112" y="2359152"/>
            <a:ext cx="45720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QUÉ SE EJECUTÓ</a:t>
            </a:r>
            <a:endParaRPr lang="en-US" sz="920" dirty="0"/>
          </a:p>
        </p:txBody>
      </p:sp>
      <p:sp>
        <p:nvSpPr>
          <p:cNvPr id="13" name="Text 10"/>
          <p:cNvSpPr txBox="1"/>
          <p:nvPr/>
        </p:nvSpPr>
        <p:spPr>
          <a:xfrm>
            <a:off x="6748272" y="2359152"/>
            <a:ext cx="45720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RESULTADO</a:t>
            </a:r>
            <a:endParaRPr lang="en-US" sz="920" dirty="0"/>
          </a:p>
        </p:txBody>
      </p:sp>
      <p:sp>
        <p:nvSpPr>
          <p:cNvPr id="14" name="Shape 11"/>
          <p:cNvSpPr/>
          <p:nvPr/>
        </p:nvSpPr>
        <p:spPr>
          <a:xfrm>
            <a:off x="658368" y="2688336"/>
            <a:ext cx="10874959" cy="493776"/>
          </a:xfrm>
          <a:prstGeom prst="rect">
            <a:avLst/>
          </a:prstGeom>
          <a:solidFill>
            <a:srgbClr val="EDE6DA"/>
          </a:solidFill>
          <a:ln w="12700">
            <a:solidFill>
              <a:srgbClr val="EDE6DA"/>
            </a:solidFill>
            <a:prstDash val="solid"/>
          </a:ln>
        </p:spPr>
      </p:sp>
      <p:sp>
        <p:nvSpPr>
          <p:cNvPr id="15" name="Shape 12"/>
          <p:cNvSpPr/>
          <p:nvPr/>
        </p:nvSpPr>
        <p:spPr>
          <a:xfrm>
            <a:off x="658368" y="2688336"/>
            <a:ext cx="54864" cy="493776"/>
          </a:xfrm>
          <a:prstGeom prst="rect">
            <a:avLst/>
          </a:prstGeom>
          <a:solidFill>
            <a:srgbClr val="2E7D4F"/>
          </a:solidFill>
          <a:ln w="12700">
            <a:solidFill>
              <a:srgbClr val="2E7D4F"/>
            </a:solidFill>
            <a:prstDash val="solid"/>
          </a:ln>
        </p:spPr>
      </p:sp>
      <p:sp>
        <p:nvSpPr>
          <p:cNvPr id="16" name="Text 13"/>
          <p:cNvSpPr txBox="1"/>
          <p:nvPr/>
        </p:nvSpPr>
        <p:spPr>
          <a:xfrm>
            <a:off x="896112" y="2816352"/>
            <a:ext cx="5577840" cy="256032"/>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Las tres pruebas, en el orden del archivo</a:t>
            </a:r>
            <a:endParaRPr lang="en-US" sz="1240" dirty="0"/>
          </a:p>
        </p:txBody>
      </p:sp>
      <p:sp>
        <p:nvSpPr>
          <p:cNvPr id="17" name="Text 14"/>
          <p:cNvSpPr txBox="1"/>
          <p:nvPr/>
        </p:nvSpPr>
        <p:spPr>
          <a:xfrm>
            <a:off x="6748272" y="2816352"/>
            <a:ext cx="4572000" cy="256032"/>
          </a:xfrm>
          <a:prstGeom prst="rect">
            <a:avLst/>
          </a:prstGeom>
          <a:noFill/>
          <a:ln/>
        </p:spPr>
        <p:txBody>
          <a:bodyPr wrap="square" lIns="0" tIns="0" rIns="0" bIns="0" rtlCol="0" anchor="t"/>
          <a:lstStyle/>
          <a:p>
            <a:pPr algn="l" indent="0" marL="0">
              <a:buNone/>
            </a:pPr>
            <a:r>
              <a:rPr lang="en-US" sz="1220" b="1" dirty="0">
                <a:solidFill>
                  <a:srgbClr val="2E7D4F"/>
                </a:solidFill>
                <a:latin typeface="Aptos" pitchFamily="34" charset="0"/>
                <a:ea typeface="Aptos" pitchFamily="34" charset="-122"/>
                <a:cs typeface="Aptos" pitchFamily="34" charset="-120"/>
              </a:rPr>
              <a:t>3 passed</a:t>
            </a:r>
            <a:endParaRPr lang="en-US" sz="1220" dirty="0"/>
          </a:p>
        </p:txBody>
      </p:sp>
      <p:sp>
        <p:nvSpPr>
          <p:cNvPr id="18" name="Shape 15"/>
          <p:cNvSpPr/>
          <p:nvPr/>
        </p:nvSpPr>
        <p:spPr>
          <a:xfrm>
            <a:off x="658368" y="3255264"/>
            <a:ext cx="10874959" cy="493776"/>
          </a:xfrm>
          <a:prstGeom prst="rect">
            <a:avLst/>
          </a:prstGeom>
          <a:solidFill>
            <a:srgbClr val="F2E7D9"/>
          </a:solidFill>
          <a:ln w="12700">
            <a:solidFill>
              <a:srgbClr val="F2E7D9"/>
            </a:solidFill>
            <a:prstDash val="solid"/>
          </a:ln>
        </p:spPr>
      </p:sp>
      <p:sp>
        <p:nvSpPr>
          <p:cNvPr id="19" name="Shape 16"/>
          <p:cNvSpPr/>
          <p:nvPr/>
        </p:nvSpPr>
        <p:spPr>
          <a:xfrm>
            <a:off x="658368" y="3255264"/>
            <a:ext cx="54864" cy="493776"/>
          </a:xfrm>
          <a:prstGeom prst="rect">
            <a:avLst/>
          </a:prstGeom>
          <a:solidFill>
            <a:srgbClr val="B3181E"/>
          </a:solidFill>
          <a:ln w="12700">
            <a:solidFill>
              <a:srgbClr val="B3181E"/>
            </a:solidFill>
            <a:prstDash val="solid"/>
          </a:ln>
        </p:spPr>
      </p:sp>
      <p:sp>
        <p:nvSpPr>
          <p:cNvPr id="20" name="Text 17"/>
          <p:cNvSpPr txBox="1"/>
          <p:nvPr/>
        </p:nvSpPr>
        <p:spPr>
          <a:xfrm>
            <a:off x="896112" y="3383280"/>
            <a:ext cx="5577840" cy="256032"/>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Solo la tercera</a:t>
            </a:r>
            <a:endParaRPr lang="en-US" sz="1240" dirty="0"/>
          </a:p>
        </p:txBody>
      </p:sp>
      <p:sp>
        <p:nvSpPr>
          <p:cNvPr id="21" name="Text 18"/>
          <p:cNvSpPr txBox="1"/>
          <p:nvPr/>
        </p:nvSpPr>
        <p:spPr>
          <a:xfrm>
            <a:off x="6748272" y="3383280"/>
            <a:ext cx="4572000" cy="256032"/>
          </a:xfrm>
          <a:prstGeom prst="rect">
            <a:avLst/>
          </a:prstGeom>
          <a:noFill/>
          <a:ln/>
        </p:spPr>
        <p:txBody>
          <a:bodyPr wrap="square" lIns="0" tIns="0" rIns="0" bIns="0" rtlCol="0" anchor="t"/>
          <a:lstStyle/>
          <a:p>
            <a:pPr algn="l" indent="0" marL="0">
              <a:buNone/>
            </a:pPr>
            <a:r>
              <a:rPr lang="en-US" sz="1220" b="1" dirty="0">
                <a:solidFill>
                  <a:srgbClr val="B3181E"/>
                </a:solidFill>
                <a:latin typeface="Aptos" pitchFamily="34" charset="0"/>
                <a:ea typeface="Aptos" pitchFamily="34" charset="-122"/>
                <a:cs typeface="Aptos" pitchFamily="34" charset="-120"/>
              </a:rPr>
              <a:t>1 failed · assert 201 == 409</a:t>
            </a:r>
            <a:endParaRPr lang="en-US" sz="1220" dirty="0"/>
          </a:p>
        </p:txBody>
      </p:sp>
      <p:sp>
        <p:nvSpPr>
          <p:cNvPr id="22" name="Shape 19"/>
          <p:cNvSpPr/>
          <p:nvPr/>
        </p:nvSpPr>
        <p:spPr>
          <a:xfrm>
            <a:off x="658368" y="3822192"/>
            <a:ext cx="10874959" cy="493776"/>
          </a:xfrm>
          <a:prstGeom prst="rect">
            <a:avLst/>
          </a:prstGeom>
          <a:solidFill>
            <a:srgbClr val="F2E7D9"/>
          </a:solidFill>
          <a:ln w="12700">
            <a:solidFill>
              <a:srgbClr val="F2E7D9"/>
            </a:solidFill>
            <a:prstDash val="solid"/>
          </a:ln>
        </p:spPr>
      </p:sp>
      <p:sp>
        <p:nvSpPr>
          <p:cNvPr id="23" name="Shape 20"/>
          <p:cNvSpPr/>
          <p:nvPr/>
        </p:nvSpPr>
        <p:spPr>
          <a:xfrm>
            <a:off x="658368" y="3822192"/>
            <a:ext cx="54864" cy="493776"/>
          </a:xfrm>
          <a:prstGeom prst="rect">
            <a:avLst/>
          </a:prstGeom>
          <a:solidFill>
            <a:srgbClr val="B3181E"/>
          </a:solidFill>
          <a:ln w="12700">
            <a:solidFill>
              <a:srgbClr val="B3181E"/>
            </a:solidFill>
            <a:prstDash val="solid"/>
          </a:ln>
        </p:spPr>
      </p:sp>
      <p:sp>
        <p:nvSpPr>
          <p:cNvPr id="24" name="Text 21"/>
          <p:cNvSpPr txBox="1"/>
          <p:nvPr/>
        </p:nvSpPr>
        <p:spPr>
          <a:xfrm>
            <a:off x="896112" y="3950208"/>
            <a:ext cx="5577840" cy="256032"/>
          </a:xfrm>
          <a:prstGeom prst="rect">
            <a:avLst/>
          </a:prstGeom>
          <a:noFill/>
          <a:ln/>
        </p:spPr>
        <p:txBody>
          <a:bodyPr wrap="square" lIns="0" tIns="0" rIns="0" bIns="0" rtlCol="0" anchor="t"/>
          <a:lstStyle/>
          <a:p>
            <a:pPr algn="l" indent="0" marL="0">
              <a:buNone/>
            </a:pPr>
            <a:r>
              <a:rPr lang="en-US" sz="1240" dirty="0">
                <a:solidFill>
                  <a:srgbClr val="243B53"/>
                </a:solidFill>
                <a:latin typeface="Aptos" pitchFamily="34" charset="0"/>
                <a:ea typeface="Aptos" pitchFamily="34" charset="-122"/>
                <a:cs typeface="Aptos" pitchFamily="34" charset="-120"/>
              </a:rPr>
              <a:t>La tercera y la primera, en ese orden</a:t>
            </a:r>
            <a:endParaRPr lang="en-US" sz="1240" dirty="0"/>
          </a:p>
        </p:txBody>
      </p:sp>
      <p:sp>
        <p:nvSpPr>
          <p:cNvPr id="25" name="Text 22"/>
          <p:cNvSpPr txBox="1"/>
          <p:nvPr/>
        </p:nvSpPr>
        <p:spPr>
          <a:xfrm>
            <a:off x="6748272" y="3950208"/>
            <a:ext cx="4572000" cy="256032"/>
          </a:xfrm>
          <a:prstGeom prst="rect">
            <a:avLst/>
          </a:prstGeom>
          <a:noFill/>
          <a:ln/>
        </p:spPr>
        <p:txBody>
          <a:bodyPr wrap="square" lIns="0" tIns="0" rIns="0" bIns="0" rtlCol="0" anchor="t"/>
          <a:lstStyle/>
          <a:p>
            <a:pPr algn="l" indent="0" marL="0">
              <a:buNone/>
            </a:pPr>
            <a:r>
              <a:rPr lang="en-US" sz="1220" b="1" dirty="0">
                <a:solidFill>
                  <a:srgbClr val="B3181E"/>
                </a:solidFill>
                <a:latin typeface="Aptos" pitchFamily="34" charset="0"/>
                <a:ea typeface="Aptos" pitchFamily="34" charset="-122"/>
                <a:cs typeface="Aptos" pitchFamily="34" charset="-120"/>
              </a:rPr>
              <a:t>2 failed · assert 201 == 409 y assert 409 == 201</a:t>
            </a:r>
            <a:endParaRPr lang="en-US" sz="1220" dirty="0"/>
          </a:p>
        </p:txBody>
      </p:sp>
      <p:sp>
        <p:nvSpPr>
          <p:cNvPr id="26" name="Shape 23"/>
          <p:cNvSpPr/>
          <p:nvPr/>
        </p:nvSpPr>
        <p:spPr>
          <a:xfrm>
            <a:off x="658368" y="4498848"/>
            <a:ext cx="10874959" cy="1005840"/>
          </a:xfrm>
          <a:prstGeom prst="rect">
            <a:avLst/>
          </a:prstGeom>
          <a:solidFill>
            <a:srgbClr val="F8E4E5"/>
          </a:solidFill>
          <a:ln w="12700">
            <a:solidFill>
              <a:srgbClr val="F8E4E5"/>
            </a:solidFill>
            <a:prstDash val="solid"/>
          </a:ln>
        </p:spPr>
      </p:sp>
      <p:sp>
        <p:nvSpPr>
          <p:cNvPr id="27" name="Shape 24"/>
          <p:cNvSpPr/>
          <p:nvPr/>
        </p:nvSpPr>
        <p:spPr>
          <a:xfrm>
            <a:off x="658368" y="4498848"/>
            <a:ext cx="54864" cy="1005840"/>
          </a:xfrm>
          <a:prstGeom prst="rect">
            <a:avLst/>
          </a:prstGeom>
          <a:solidFill>
            <a:srgbClr val="B3181E"/>
          </a:solidFill>
          <a:ln w="12700">
            <a:solidFill>
              <a:srgbClr val="B3181E"/>
            </a:solidFill>
            <a:prstDash val="solid"/>
          </a:ln>
        </p:spPr>
      </p:sp>
      <p:sp>
        <p:nvSpPr>
          <p:cNvPr id="28" name="Text 25"/>
          <p:cNvSpPr txBox="1"/>
          <p:nvPr/>
        </p:nvSpPr>
        <p:spPr>
          <a:xfrm>
            <a:off x="950976" y="4663440"/>
            <a:ext cx="5120640" cy="256032"/>
          </a:xfrm>
          <a:prstGeom prst="rect">
            <a:avLst/>
          </a:prstGeom>
          <a:noFill/>
          <a:ln/>
        </p:spPr>
        <p:txBody>
          <a:bodyPr wrap="square" lIns="0" tIns="0" rIns="0" bIns="0" rtlCol="0" anchor="t"/>
          <a:lstStyle/>
          <a:p>
            <a:pPr algn="l" indent="0" marL="0">
              <a:buNone/>
            </a:pPr>
            <a:r>
              <a:rPr lang="en-US" sz="1340" b="1" dirty="0">
                <a:solidFill>
                  <a:srgbClr val="B3181E"/>
                </a:solidFill>
                <a:latin typeface="Aptos" pitchFamily="34" charset="0"/>
                <a:ea typeface="Aptos" pitchFamily="34" charset="-122"/>
                <a:cs typeface="Aptos" pitchFamily="34" charset="-120"/>
              </a:rPr>
              <a:t>Qué comprobó realmente la tercera prueba</a:t>
            </a:r>
            <a:endParaRPr lang="en-US" sz="1340" dirty="0"/>
          </a:p>
        </p:txBody>
      </p:sp>
      <p:sp>
        <p:nvSpPr>
          <p:cNvPr id="29" name="Text 26"/>
          <p:cNvSpPr txBox="1"/>
          <p:nvPr/>
        </p:nvSpPr>
        <p:spPr>
          <a:xfrm>
            <a:off x="950976" y="4956048"/>
            <a:ext cx="10289743" cy="45720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Dice que un bloque ya tomado se rechaza. Lo que comprobó es que un bloque tomado por la primera prueba se rechaza. Si alguien borra, renombra o reordena esa primera prueba, la tercera se cae sin que nadie haya tocado el sistema.</a:t>
            </a:r>
            <a:endParaRPr lang="en-US" sz="1220" dirty="0"/>
          </a:p>
        </p:txBody>
      </p:sp>
      <p:sp>
        <p:nvSpPr>
          <p:cNvPr id="30" name="Shape 27"/>
          <p:cNvSpPr/>
          <p:nvPr/>
        </p:nvSpPr>
        <p:spPr>
          <a:xfrm>
            <a:off x="658368" y="5650992"/>
            <a:ext cx="10874959" cy="548640"/>
          </a:xfrm>
          <a:prstGeom prst="rect">
            <a:avLst/>
          </a:prstGeom>
          <a:solidFill>
            <a:srgbClr val="102A43"/>
          </a:solidFill>
          <a:ln w="12700">
            <a:solidFill>
              <a:srgbClr val="102A43"/>
            </a:solidFill>
            <a:prstDash val="solid"/>
          </a:ln>
        </p:spPr>
      </p:sp>
      <p:sp>
        <p:nvSpPr>
          <p:cNvPr id="31" name="Text 28"/>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El 3 passed no era un resultado sobre el sistema: era un resultado sobre el orden.</a:t>
            </a:r>
            <a:endParaRPr lang="en-US" sz="13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DIAGNÓSTICO CLÁSICO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Esto no es un descubrimiento de esta clase</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Gerard Meszaros —el mismo autor de la taxonomía de dobles de prueba— lo catalogó con nombre propio.</a:t>
            </a:r>
            <a:endParaRPr lang="en-US" sz="1420" dirty="0"/>
          </a:p>
        </p:txBody>
      </p:sp>
      <p:sp>
        <p:nvSpPr>
          <p:cNvPr id="11" name="Shape 8"/>
          <p:cNvSpPr/>
          <p:nvPr/>
        </p:nvSpPr>
        <p:spPr>
          <a:xfrm>
            <a:off x="658368" y="2286000"/>
            <a:ext cx="10874959" cy="950976"/>
          </a:xfrm>
          <a:prstGeom prst="rect">
            <a:avLst/>
          </a:prstGeom>
          <a:solidFill>
            <a:srgbClr val="FFFFFF"/>
          </a:solidFill>
          <a:ln w="12700">
            <a:solidFill>
              <a:srgbClr val="FFFFFF"/>
            </a:solidFill>
            <a:prstDash val="solid"/>
          </a:ln>
        </p:spPr>
      </p:sp>
      <p:sp>
        <p:nvSpPr>
          <p:cNvPr id="12" name="Shape 9"/>
          <p:cNvSpPr/>
          <p:nvPr/>
        </p:nvSpPr>
        <p:spPr>
          <a:xfrm>
            <a:off x="658368" y="2286000"/>
            <a:ext cx="54864" cy="950976"/>
          </a:xfrm>
          <a:prstGeom prst="rect">
            <a:avLst/>
          </a:prstGeom>
          <a:solidFill>
            <a:srgbClr val="B3181E"/>
          </a:solidFill>
          <a:ln w="12700">
            <a:solidFill>
              <a:srgbClr val="B3181E"/>
            </a:solidFill>
            <a:prstDash val="solid"/>
          </a:ln>
        </p:spPr>
      </p:sp>
      <p:sp>
        <p:nvSpPr>
          <p:cNvPr id="13" name="Text 10"/>
          <p:cNvSpPr txBox="1"/>
          <p:nvPr/>
        </p:nvSpPr>
        <p:spPr>
          <a:xfrm>
            <a:off x="896112" y="2414016"/>
            <a:ext cx="10417759"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INTERACTING TESTS · LA CAUSA GENERAL</a:t>
            </a:r>
            <a:endParaRPr lang="en-US" sz="920" dirty="0"/>
          </a:p>
        </p:txBody>
      </p:sp>
      <p:sp>
        <p:nvSpPr>
          <p:cNvPr id="14" name="Text 11"/>
          <p:cNvSpPr txBox="1"/>
          <p:nvPr/>
        </p:nvSpPr>
        <p:spPr>
          <a:xfrm>
            <a:off x="896112" y="2670048"/>
            <a:ext cx="10417759" cy="457200"/>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«Las pruebas dependen unas de otras de alguna manera.» Cualquier cosa que sobreviva a la duración de la prueba puede provocar interacciones.</a:t>
            </a:r>
            <a:endParaRPr lang="en-US" sz="1210" dirty="0"/>
          </a:p>
        </p:txBody>
      </p:sp>
      <p:sp>
        <p:nvSpPr>
          <p:cNvPr id="15" name="Shape 12"/>
          <p:cNvSpPr/>
          <p:nvPr/>
        </p:nvSpPr>
        <p:spPr>
          <a:xfrm>
            <a:off x="658368" y="3310128"/>
            <a:ext cx="10874959" cy="950976"/>
          </a:xfrm>
          <a:prstGeom prst="rect">
            <a:avLst/>
          </a:prstGeom>
          <a:solidFill>
            <a:srgbClr val="FFFFFF"/>
          </a:solidFill>
          <a:ln w="12700">
            <a:solidFill>
              <a:srgbClr val="FFFFFF"/>
            </a:solidFill>
            <a:prstDash val="solid"/>
          </a:ln>
        </p:spPr>
      </p:sp>
      <p:sp>
        <p:nvSpPr>
          <p:cNvPr id="16" name="Shape 13"/>
          <p:cNvSpPr/>
          <p:nvPr/>
        </p:nvSpPr>
        <p:spPr>
          <a:xfrm>
            <a:off x="658368" y="3310128"/>
            <a:ext cx="54864" cy="950976"/>
          </a:xfrm>
          <a:prstGeom prst="rect">
            <a:avLst/>
          </a:prstGeom>
          <a:solidFill>
            <a:srgbClr val="8A6A12"/>
          </a:solidFill>
          <a:ln w="12700">
            <a:solidFill>
              <a:srgbClr val="8A6A12"/>
            </a:solidFill>
            <a:prstDash val="solid"/>
          </a:ln>
        </p:spPr>
      </p:sp>
      <p:sp>
        <p:nvSpPr>
          <p:cNvPr id="17" name="Text 14"/>
          <p:cNvSpPr txBox="1"/>
          <p:nvPr/>
        </p:nvSpPr>
        <p:spPr>
          <a:xfrm>
            <a:off x="896112" y="3438144"/>
            <a:ext cx="10417759" cy="182880"/>
          </a:xfrm>
          <a:prstGeom prst="rect">
            <a:avLst/>
          </a:prstGeom>
          <a:noFill/>
          <a:ln/>
        </p:spPr>
        <p:txBody>
          <a:bodyPr wrap="square" lIns="0" tIns="0" rIns="0" bIns="0" rtlCol="0" anchor="t"/>
          <a:lstStyle/>
          <a:p>
            <a:pPr algn="l" indent="0" marL="0">
              <a:buNone/>
            </a:pPr>
            <a:r>
              <a:rPr lang="en-US" sz="920" b="1" spc="110" kern="0" dirty="0">
                <a:solidFill>
                  <a:srgbClr val="8A6A12"/>
                </a:solidFill>
                <a:latin typeface="Aptos" pitchFamily="34" charset="0"/>
                <a:ea typeface="Aptos" pitchFamily="34" charset="-122"/>
                <a:cs typeface="Aptos" pitchFamily="34" charset="-120"/>
              </a:rPr>
              <a:t>LONELY TEST · EL CASO EXACTO DE HOY</a:t>
            </a:r>
            <a:endParaRPr lang="en-US" sz="920" dirty="0"/>
          </a:p>
        </p:txBody>
      </p:sp>
      <p:sp>
        <p:nvSpPr>
          <p:cNvPr id="18" name="Text 15"/>
          <p:cNvSpPr txBox="1"/>
          <p:nvPr/>
        </p:nvSpPr>
        <p:spPr>
          <a:xfrm>
            <a:off x="896112" y="3694176"/>
            <a:ext cx="10417759" cy="457200"/>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«Una prueba que puede ejecutarse como parte de una suite pero no puede ejecutarse por sí sola, porque depende de algo que creó otra prueba.»</a:t>
            </a:r>
            <a:endParaRPr lang="en-US" sz="1210" dirty="0"/>
          </a:p>
        </p:txBody>
      </p:sp>
      <p:sp>
        <p:nvSpPr>
          <p:cNvPr id="19" name="Shape 16"/>
          <p:cNvSpPr/>
          <p:nvPr/>
        </p:nvSpPr>
        <p:spPr>
          <a:xfrm>
            <a:off x="658368" y="4334256"/>
            <a:ext cx="10874959" cy="950976"/>
          </a:xfrm>
          <a:prstGeom prst="rect">
            <a:avLst/>
          </a:prstGeom>
          <a:solidFill>
            <a:srgbClr val="FFFFFF"/>
          </a:solidFill>
          <a:ln w="12700">
            <a:solidFill>
              <a:srgbClr val="FFFFFF"/>
            </a:solidFill>
            <a:prstDash val="solid"/>
          </a:ln>
        </p:spPr>
      </p:sp>
      <p:sp>
        <p:nvSpPr>
          <p:cNvPr id="20" name="Shape 17"/>
          <p:cNvSpPr/>
          <p:nvPr/>
        </p:nvSpPr>
        <p:spPr>
          <a:xfrm>
            <a:off x="658368" y="4334256"/>
            <a:ext cx="54864" cy="950976"/>
          </a:xfrm>
          <a:prstGeom prst="rect">
            <a:avLst/>
          </a:prstGeom>
          <a:solidFill>
            <a:srgbClr val="2E7D4F"/>
          </a:solidFill>
          <a:ln w="12700">
            <a:solidFill>
              <a:srgbClr val="2E7D4F"/>
            </a:solidFill>
            <a:prstDash val="solid"/>
          </a:ln>
        </p:spPr>
      </p:sp>
      <p:sp>
        <p:nvSpPr>
          <p:cNvPr id="21" name="Text 18"/>
          <p:cNvSpPr txBox="1"/>
          <p:nvPr/>
        </p:nvSpPr>
        <p:spPr>
          <a:xfrm>
            <a:off x="896112" y="4462272"/>
            <a:ext cx="10417759" cy="182880"/>
          </a:xfrm>
          <a:prstGeom prst="rect">
            <a:avLst/>
          </a:prstGeom>
          <a:noFill/>
          <a:ln/>
        </p:spPr>
        <p:txBody>
          <a:bodyPr wrap="square" lIns="0" tIns="0" rIns="0" bIns="0" rtlCol="0" anchor="t"/>
          <a:lstStyle/>
          <a:p>
            <a:pPr algn="l" indent="0" marL="0">
              <a:buNone/>
            </a:pPr>
            <a:r>
              <a:rPr lang="en-US" sz="920" b="1" spc="110" kern="0" dirty="0">
                <a:solidFill>
                  <a:srgbClr val="2E7D4F"/>
                </a:solidFill>
                <a:latin typeface="Aptos" pitchFamily="34" charset="0"/>
                <a:ea typeface="Aptos" pitchFamily="34" charset="-122"/>
                <a:cs typeface="Aptos" pitchFamily="34" charset="-120"/>
              </a:rPr>
              <a:t>FRESH FIXTURE · EL REMEDIO</a:t>
            </a:r>
            <a:endParaRPr lang="en-US" sz="920" dirty="0"/>
          </a:p>
        </p:txBody>
      </p:sp>
      <p:sp>
        <p:nvSpPr>
          <p:cNvPr id="22" name="Text 19"/>
          <p:cNvSpPr txBox="1"/>
          <p:nvPr/>
        </p:nvSpPr>
        <p:spPr>
          <a:xfrm>
            <a:off x="896112" y="4718304"/>
            <a:ext cx="10417759" cy="457200"/>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«Construimos el fixture como parte de la prueba y lo desmontamos cuando termina. Empezamos y terminamos cada prueba con la pizarra limpia.»</a:t>
            </a:r>
            <a:endParaRPr lang="en-US" sz="1210" dirty="0"/>
          </a:p>
        </p:txBody>
      </p:sp>
      <p:sp>
        <p:nvSpPr>
          <p:cNvPr id="23" name="Shape 20"/>
          <p:cNvSpPr/>
          <p:nvPr/>
        </p:nvSpPr>
        <p:spPr>
          <a:xfrm>
            <a:off x="658368" y="5394960"/>
            <a:ext cx="2624328" cy="603504"/>
          </a:xfrm>
          <a:prstGeom prst="rect">
            <a:avLst/>
          </a:prstGeom>
          <a:solidFill>
            <a:srgbClr val="EDE6DA"/>
          </a:solidFill>
          <a:ln w="12700">
            <a:solidFill>
              <a:srgbClr val="EDE6DA"/>
            </a:solidFill>
            <a:prstDash val="solid"/>
          </a:ln>
        </p:spPr>
      </p:sp>
      <p:sp>
        <p:nvSpPr>
          <p:cNvPr id="24" name="Text 21"/>
          <p:cNvSpPr txBox="1"/>
          <p:nvPr/>
        </p:nvSpPr>
        <p:spPr>
          <a:xfrm>
            <a:off x="822960" y="5468112"/>
            <a:ext cx="2295144" cy="201168"/>
          </a:xfrm>
          <a:prstGeom prst="rect">
            <a:avLst/>
          </a:prstGeom>
          <a:noFill/>
          <a:ln/>
        </p:spPr>
        <p:txBody>
          <a:bodyPr wrap="square" lIns="0" tIns="0" rIns="0" bIns="0" rtlCol="0" anchor="t"/>
          <a:lstStyle/>
          <a:p>
            <a:pPr algn="l" indent="0" marL="0">
              <a:buNone/>
            </a:pPr>
            <a:r>
              <a:rPr lang="en-US" sz="1100" b="1" dirty="0">
                <a:solidFill>
                  <a:srgbClr val="102A43"/>
                </a:solidFill>
                <a:latin typeface="Aptos" pitchFamily="34" charset="0"/>
                <a:ea typeface="Aptos" pitchFamily="34" charset="-122"/>
                <a:cs typeface="Aptos" pitchFamily="34" charset="-120"/>
              </a:rPr>
              <a:t>Fixture</a:t>
            </a:r>
            <a:endParaRPr lang="en-US" sz="1100" dirty="0"/>
          </a:p>
        </p:txBody>
      </p:sp>
      <p:sp>
        <p:nvSpPr>
          <p:cNvPr id="25" name="Text 22"/>
          <p:cNvSpPr txBox="1"/>
          <p:nvPr/>
        </p:nvSpPr>
        <p:spPr>
          <a:xfrm>
            <a:off x="822960" y="5669280"/>
            <a:ext cx="2295144" cy="274320"/>
          </a:xfrm>
          <a:prstGeom prst="rect">
            <a:avLst/>
          </a:prstGeom>
          <a:noFill/>
          <a:ln/>
        </p:spPr>
        <p:txBody>
          <a:bodyPr wrap="square" lIns="0" tIns="0" rIns="0" bIns="0" rtlCol="0" anchor="t"/>
          <a:lstStyle/>
          <a:p>
            <a:pPr algn="l" indent="0" marL="0">
              <a:lnSpc>
                <a:spcPct val="106000"/>
              </a:lnSpc>
              <a:buNone/>
            </a:pPr>
            <a:r>
              <a:rPr lang="en-US" sz="920" dirty="0">
                <a:solidFill>
                  <a:srgbClr val="52606D"/>
                </a:solidFill>
                <a:latin typeface="Aptos" pitchFamily="34" charset="0"/>
                <a:ea typeface="Aptos" pitchFamily="34" charset="-122"/>
                <a:cs typeface="Aptos" pitchFamily="34" charset="-120"/>
              </a:rPr>
              <a:t>Todo lo que debe estar puesto para que la prueba pueda ejecutarse</a:t>
            </a:r>
            <a:endParaRPr lang="en-US" sz="920" dirty="0"/>
          </a:p>
        </p:txBody>
      </p:sp>
      <p:sp>
        <p:nvSpPr>
          <p:cNvPr id="26" name="Shape 23"/>
          <p:cNvSpPr/>
          <p:nvPr/>
        </p:nvSpPr>
        <p:spPr>
          <a:xfrm>
            <a:off x="3406140" y="5394960"/>
            <a:ext cx="2624328" cy="603504"/>
          </a:xfrm>
          <a:prstGeom prst="rect">
            <a:avLst/>
          </a:prstGeom>
          <a:solidFill>
            <a:srgbClr val="EDE6DA"/>
          </a:solidFill>
          <a:ln w="12700">
            <a:solidFill>
              <a:srgbClr val="EDE6DA"/>
            </a:solidFill>
            <a:prstDash val="solid"/>
          </a:ln>
        </p:spPr>
      </p:sp>
      <p:sp>
        <p:nvSpPr>
          <p:cNvPr id="27" name="Text 24"/>
          <p:cNvSpPr txBox="1"/>
          <p:nvPr/>
        </p:nvSpPr>
        <p:spPr>
          <a:xfrm>
            <a:off x="3570732" y="5468112"/>
            <a:ext cx="2295144" cy="201168"/>
          </a:xfrm>
          <a:prstGeom prst="rect">
            <a:avLst/>
          </a:prstGeom>
          <a:noFill/>
          <a:ln/>
        </p:spPr>
        <p:txBody>
          <a:bodyPr wrap="square" lIns="0" tIns="0" rIns="0" bIns="0" rtlCol="0" anchor="t"/>
          <a:lstStyle/>
          <a:p>
            <a:pPr algn="l" indent="0" marL="0">
              <a:buNone/>
            </a:pPr>
            <a:r>
              <a:rPr lang="en-US" sz="1100" b="1" dirty="0">
                <a:solidFill>
                  <a:srgbClr val="102A43"/>
                </a:solidFill>
                <a:latin typeface="Aptos" pitchFamily="34" charset="0"/>
                <a:ea typeface="Aptos" pitchFamily="34" charset="-122"/>
                <a:cs typeface="Aptos" pitchFamily="34" charset="-120"/>
              </a:rPr>
              <a:t>Fresco</a:t>
            </a:r>
            <a:endParaRPr lang="en-US" sz="1100" dirty="0"/>
          </a:p>
        </p:txBody>
      </p:sp>
      <p:sp>
        <p:nvSpPr>
          <p:cNvPr id="28" name="Text 25"/>
          <p:cNvSpPr txBox="1"/>
          <p:nvPr/>
        </p:nvSpPr>
        <p:spPr>
          <a:xfrm>
            <a:off x="3570732" y="5669280"/>
            <a:ext cx="2295144" cy="274320"/>
          </a:xfrm>
          <a:prstGeom prst="rect">
            <a:avLst/>
          </a:prstGeom>
          <a:noFill/>
          <a:ln/>
        </p:spPr>
        <p:txBody>
          <a:bodyPr wrap="square" lIns="0" tIns="0" rIns="0" bIns="0" rtlCol="0" anchor="t"/>
          <a:lstStyle/>
          <a:p>
            <a:pPr algn="l" indent="0" marL="0">
              <a:lnSpc>
                <a:spcPct val="106000"/>
              </a:lnSpc>
              <a:buNone/>
            </a:pPr>
            <a:r>
              <a:rPr lang="en-US" sz="920" dirty="0">
                <a:solidFill>
                  <a:srgbClr val="52606D"/>
                </a:solidFill>
                <a:latin typeface="Aptos" pitchFamily="34" charset="0"/>
                <a:ea typeface="Aptos" pitchFamily="34" charset="-122"/>
                <a:cs typeface="Aptos" pitchFamily="34" charset="-120"/>
              </a:rPr>
              <a:t>Se construye para esa prueba y se desmonta al terminar</a:t>
            </a:r>
            <a:endParaRPr lang="en-US" sz="920" dirty="0"/>
          </a:p>
        </p:txBody>
      </p:sp>
      <p:sp>
        <p:nvSpPr>
          <p:cNvPr id="29" name="Shape 26"/>
          <p:cNvSpPr/>
          <p:nvPr/>
        </p:nvSpPr>
        <p:spPr>
          <a:xfrm>
            <a:off x="6153912" y="5394960"/>
            <a:ext cx="2624328" cy="603504"/>
          </a:xfrm>
          <a:prstGeom prst="rect">
            <a:avLst/>
          </a:prstGeom>
          <a:solidFill>
            <a:srgbClr val="EDE6DA"/>
          </a:solidFill>
          <a:ln w="12700">
            <a:solidFill>
              <a:srgbClr val="EDE6DA"/>
            </a:solidFill>
            <a:prstDash val="solid"/>
          </a:ln>
        </p:spPr>
      </p:sp>
      <p:sp>
        <p:nvSpPr>
          <p:cNvPr id="30" name="Text 27"/>
          <p:cNvSpPr txBox="1"/>
          <p:nvPr/>
        </p:nvSpPr>
        <p:spPr>
          <a:xfrm>
            <a:off x="6318504" y="5468112"/>
            <a:ext cx="2295144" cy="201168"/>
          </a:xfrm>
          <a:prstGeom prst="rect">
            <a:avLst/>
          </a:prstGeom>
          <a:noFill/>
          <a:ln/>
        </p:spPr>
        <p:txBody>
          <a:bodyPr wrap="square" lIns="0" tIns="0" rIns="0" bIns="0" rtlCol="0" anchor="t"/>
          <a:lstStyle/>
          <a:p>
            <a:pPr algn="l" indent="0" marL="0">
              <a:buNone/>
            </a:pPr>
            <a:r>
              <a:rPr lang="en-US" sz="1100" b="1" dirty="0">
                <a:solidFill>
                  <a:srgbClr val="102A43"/>
                </a:solidFill>
                <a:latin typeface="Aptos" pitchFamily="34" charset="0"/>
                <a:ea typeface="Aptos" pitchFamily="34" charset="-122"/>
                <a:cs typeface="Aptos" pitchFamily="34" charset="-120"/>
              </a:rPr>
              <a:t>Compartido</a:t>
            </a:r>
            <a:endParaRPr lang="en-US" sz="1100" dirty="0"/>
          </a:p>
        </p:txBody>
      </p:sp>
      <p:sp>
        <p:nvSpPr>
          <p:cNvPr id="31" name="Text 28"/>
          <p:cNvSpPr txBox="1"/>
          <p:nvPr/>
        </p:nvSpPr>
        <p:spPr>
          <a:xfrm>
            <a:off x="6318504" y="5669280"/>
            <a:ext cx="2295144" cy="274320"/>
          </a:xfrm>
          <a:prstGeom prst="rect">
            <a:avLst/>
          </a:prstGeom>
          <a:noFill/>
          <a:ln/>
        </p:spPr>
        <p:txBody>
          <a:bodyPr wrap="square" lIns="0" tIns="0" rIns="0" bIns="0" rtlCol="0" anchor="t"/>
          <a:lstStyle/>
          <a:p>
            <a:pPr algn="l" indent="0" marL="0">
              <a:lnSpc>
                <a:spcPct val="106000"/>
              </a:lnSpc>
              <a:buNone/>
            </a:pPr>
            <a:r>
              <a:rPr lang="en-US" sz="920" dirty="0">
                <a:solidFill>
                  <a:srgbClr val="52606D"/>
                </a:solidFill>
                <a:latin typeface="Aptos" pitchFamily="34" charset="0"/>
                <a:ea typeface="Aptos" pitchFamily="34" charset="-122"/>
                <a:cs typeface="Aptos" pitchFamily="34" charset="-120"/>
              </a:rPr>
              <a:t>Sobrevive entre pruebas; es más rápido y produce lo anterior</a:t>
            </a:r>
            <a:endParaRPr lang="en-US" sz="920" dirty="0"/>
          </a:p>
        </p:txBody>
      </p:sp>
      <p:sp>
        <p:nvSpPr>
          <p:cNvPr id="32" name="Shape 29"/>
          <p:cNvSpPr/>
          <p:nvPr/>
        </p:nvSpPr>
        <p:spPr>
          <a:xfrm>
            <a:off x="8901684" y="5394960"/>
            <a:ext cx="2624328" cy="603504"/>
          </a:xfrm>
          <a:prstGeom prst="rect">
            <a:avLst/>
          </a:prstGeom>
          <a:solidFill>
            <a:srgbClr val="EDE6DA"/>
          </a:solidFill>
          <a:ln w="12700">
            <a:solidFill>
              <a:srgbClr val="EDE6DA"/>
            </a:solidFill>
            <a:prstDash val="solid"/>
          </a:ln>
        </p:spPr>
      </p:sp>
      <p:sp>
        <p:nvSpPr>
          <p:cNvPr id="33" name="Text 30"/>
          <p:cNvSpPr txBox="1"/>
          <p:nvPr/>
        </p:nvSpPr>
        <p:spPr>
          <a:xfrm>
            <a:off x="9066276" y="5468112"/>
            <a:ext cx="2295144" cy="201168"/>
          </a:xfrm>
          <a:prstGeom prst="rect">
            <a:avLst/>
          </a:prstGeom>
          <a:noFill/>
          <a:ln/>
        </p:spPr>
        <p:txBody>
          <a:bodyPr wrap="square" lIns="0" tIns="0" rIns="0" bIns="0" rtlCol="0" anchor="t"/>
          <a:lstStyle/>
          <a:p>
            <a:pPr algn="l" indent="0" marL="0">
              <a:buNone/>
            </a:pPr>
            <a:r>
              <a:rPr lang="en-US" sz="1100" b="1" dirty="0">
                <a:solidFill>
                  <a:srgbClr val="102A43"/>
                </a:solidFill>
                <a:latin typeface="Aptos" pitchFamily="34" charset="0"/>
                <a:ea typeface="Aptos" pitchFamily="34" charset="-122"/>
                <a:cs typeface="Aptos" pitchFamily="34" charset="-120"/>
              </a:rPr>
              <a:t>@pytest.fixture</a:t>
            </a:r>
            <a:endParaRPr lang="en-US" sz="1100" dirty="0"/>
          </a:p>
        </p:txBody>
      </p:sp>
      <p:sp>
        <p:nvSpPr>
          <p:cNvPr id="34" name="Text 31"/>
          <p:cNvSpPr txBox="1"/>
          <p:nvPr/>
        </p:nvSpPr>
        <p:spPr>
          <a:xfrm>
            <a:off x="9066276" y="5669280"/>
            <a:ext cx="2295144" cy="274320"/>
          </a:xfrm>
          <a:prstGeom prst="rect">
            <a:avLst/>
          </a:prstGeom>
          <a:noFill/>
          <a:ln/>
        </p:spPr>
        <p:txBody>
          <a:bodyPr wrap="square" lIns="0" tIns="0" rIns="0" bIns="0" rtlCol="0" anchor="t"/>
          <a:lstStyle/>
          <a:p>
            <a:pPr algn="l" indent="0" marL="0">
              <a:lnSpc>
                <a:spcPct val="106000"/>
              </a:lnSpc>
              <a:buNone/>
            </a:pPr>
            <a:r>
              <a:rPr lang="en-US" sz="920" dirty="0">
                <a:solidFill>
                  <a:srgbClr val="52606D"/>
                </a:solidFill>
                <a:latin typeface="Aptos" pitchFamily="34" charset="0"/>
                <a:ea typeface="Aptos" pitchFamily="34" charset="-122"/>
                <a:cs typeface="Aptos" pitchFamily="34" charset="-120"/>
              </a:rPr>
              <a:t>La herramienta con la que se escribe uno</a:t>
            </a:r>
            <a:endParaRPr lang="en-US" sz="920" dirty="0"/>
          </a:p>
        </p:txBody>
      </p:sp>
      <p:sp>
        <p:nvSpPr>
          <p:cNvPr id="35" name="Shape 32"/>
          <p:cNvSpPr/>
          <p:nvPr/>
        </p:nvSpPr>
        <p:spPr>
          <a:xfrm>
            <a:off x="658368" y="6144768"/>
            <a:ext cx="45720" cy="182880"/>
          </a:xfrm>
          <a:prstGeom prst="rect">
            <a:avLst/>
          </a:prstGeom>
          <a:solidFill>
            <a:srgbClr val="8A6A12"/>
          </a:solidFill>
          <a:ln w="12700">
            <a:solidFill>
              <a:srgbClr val="8A6A12"/>
            </a:solidFill>
            <a:prstDash val="solid"/>
          </a:ln>
        </p:spPr>
      </p:sp>
      <p:sp>
        <p:nvSpPr>
          <p:cNvPr id="36" name="Text 33"/>
          <p:cNvSpPr txBox="1"/>
          <p:nvPr/>
        </p:nvSpPr>
        <p:spPr>
          <a:xfrm>
            <a:off x="804672" y="6135624"/>
            <a:ext cx="987552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Gerard Meszaros · xUnit Test Patterns: Erratic Test, Lonely Test y Fresh Fixture · citas traducidas</a:t>
            </a:r>
            <a:endParaRPr lang="en-US" sz="8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ESCRIBIR LA FIXTURE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Cuatro decisiones, una por línea</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Deja la agenda vacía antes de cada prueba y la vuelve a vaciar al terminar. Ninguna línea es decorativa.</a:t>
            </a:r>
            <a:endParaRPr lang="en-US" sz="1420" dirty="0"/>
          </a:p>
        </p:txBody>
      </p:sp>
      <p:sp>
        <p:nvSpPr>
          <p:cNvPr id="11" name="Shape 8"/>
          <p:cNvSpPr/>
          <p:nvPr/>
        </p:nvSpPr>
        <p:spPr>
          <a:xfrm>
            <a:off x="658368" y="2286000"/>
            <a:ext cx="5486400" cy="1792224"/>
          </a:xfrm>
          <a:prstGeom prst="roundRect">
            <a:avLst>
              <a:gd name="adj" fmla="val 2041"/>
            </a:avLst>
          </a:prstGeom>
          <a:solidFill>
            <a:srgbClr val="102A43"/>
          </a:solidFill>
          <a:ln w="12700">
            <a:solidFill>
              <a:srgbClr val="102A43"/>
            </a:solidFill>
            <a:prstDash val="solid"/>
          </a:ln>
        </p:spPr>
      </p:sp>
      <p:sp>
        <p:nvSpPr>
          <p:cNvPr id="12" name="Shape 9"/>
          <p:cNvSpPr/>
          <p:nvPr/>
        </p:nvSpPr>
        <p:spPr>
          <a:xfrm>
            <a:off x="786384" y="2395728"/>
            <a:ext cx="523036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01091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conftest.py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065776" cy="1042416"/>
          </a:xfrm>
          <a:prstGeom prst="rect">
            <a:avLst/>
          </a:prstGeom>
        </p:spPr>
      </p:pic>
      <p:sp>
        <p:nvSpPr>
          <p:cNvPr id="15" name="Shape 11"/>
          <p:cNvSpPr/>
          <p:nvPr/>
        </p:nvSpPr>
        <p:spPr>
          <a:xfrm>
            <a:off x="6510528" y="2286000"/>
            <a:ext cx="5029200" cy="1792224"/>
          </a:xfrm>
          <a:prstGeom prst="rect">
            <a:avLst/>
          </a:prstGeom>
          <a:solidFill>
            <a:srgbClr val="FFFFFF"/>
          </a:solidFill>
          <a:ln w="12700">
            <a:solidFill>
              <a:srgbClr val="FFFFFF"/>
            </a:solidFill>
            <a:prstDash val="solid"/>
          </a:ln>
        </p:spPr>
      </p:sp>
      <p:sp>
        <p:nvSpPr>
          <p:cNvPr id="16" name="Shape 12"/>
          <p:cNvSpPr/>
          <p:nvPr/>
        </p:nvSpPr>
        <p:spPr>
          <a:xfrm>
            <a:off x="6510528" y="2286000"/>
            <a:ext cx="54864" cy="1792224"/>
          </a:xfrm>
          <a:prstGeom prst="rect">
            <a:avLst/>
          </a:prstGeom>
          <a:solidFill>
            <a:srgbClr val="102A43"/>
          </a:solidFill>
          <a:ln w="12700">
            <a:solidFill>
              <a:srgbClr val="102A43"/>
            </a:solidFill>
            <a:prstDash val="solid"/>
          </a:ln>
        </p:spPr>
      </p:sp>
      <p:sp>
        <p:nvSpPr>
          <p:cNvPr id="17" name="Text 13"/>
          <p:cNvSpPr txBox="1"/>
          <p:nvPr/>
        </p:nvSpPr>
        <p:spPr>
          <a:xfrm>
            <a:off x="6748272" y="2414016"/>
            <a:ext cx="457200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LO QUE DICE LA DOCUMENTACIÓN</a:t>
            </a:r>
            <a:endParaRPr lang="en-US" sz="920" dirty="0"/>
          </a:p>
        </p:txBody>
      </p:sp>
      <p:sp>
        <p:nvSpPr>
          <p:cNvPr id="18" name="Text 14"/>
          <p:cNvSpPr txBox="1"/>
          <p:nvPr/>
        </p:nvSpPr>
        <p:spPr>
          <a:xfrm>
            <a:off x="6748272" y="2670048"/>
            <a:ext cx="4572000" cy="1298448"/>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«Las fixtures definen los pasos y los datos que constituyen la fase de preparación de una prueba»: un contexto definido, fiable y consistente.</a:t>
            </a:r>
            <a:endParaRPr lang="en-US" sz="1210" dirty="0"/>
          </a:p>
        </p:txBody>
      </p:sp>
      <p:sp>
        <p:nvSpPr>
          <p:cNvPr id="19" name="Shape 15"/>
          <p:cNvSpPr/>
          <p:nvPr/>
        </p:nvSpPr>
        <p:spPr>
          <a:xfrm>
            <a:off x="658368" y="4187952"/>
            <a:ext cx="2624328" cy="1408176"/>
          </a:xfrm>
          <a:prstGeom prst="rect">
            <a:avLst/>
          </a:prstGeom>
          <a:solidFill>
            <a:srgbClr val="FFFFFF"/>
          </a:solidFill>
          <a:ln w="12700">
            <a:solidFill>
              <a:srgbClr val="FFFFFF"/>
            </a:solidFill>
            <a:prstDash val="solid"/>
          </a:ln>
        </p:spPr>
      </p:sp>
      <p:sp>
        <p:nvSpPr>
          <p:cNvPr id="20" name="Shape 16"/>
          <p:cNvSpPr/>
          <p:nvPr/>
        </p:nvSpPr>
        <p:spPr>
          <a:xfrm>
            <a:off x="658368" y="4187952"/>
            <a:ext cx="2624328" cy="54864"/>
          </a:xfrm>
          <a:prstGeom prst="rect">
            <a:avLst/>
          </a:prstGeom>
          <a:solidFill>
            <a:srgbClr val="102A43"/>
          </a:solidFill>
          <a:ln w="12700">
            <a:solidFill>
              <a:srgbClr val="102A43"/>
            </a:solidFill>
            <a:prstDash val="solid"/>
          </a:ln>
        </p:spPr>
      </p:sp>
      <p:sp>
        <p:nvSpPr>
          <p:cNvPr id="21" name="Text 17"/>
          <p:cNvSpPr txBox="1"/>
          <p:nvPr/>
        </p:nvSpPr>
        <p:spPr>
          <a:xfrm>
            <a:off x="859536" y="4334256"/>
            <a:ext cx="365760" cy="274320"/>
          </a:xfrm>
          <a:prstGeom prst="rect">
            <a:avLst/>
          </a:prstGeom>
          <a:noFill/>
          <a:ln/>
        </p:spPr>
        <p:txBody>
          <a:bodyPr wrap="square" lIns="0" tIns="0" rIns="0" bIns="0" rtlCol="0" anchor="t"/>
          <a:lstStyle/>
          <a:p>
            <a:pPr algn="l" indent="0" marL="0">
              <a:buNone/>
            </a:pPr>
            <a:r>
              <a:rPr lang="en-US" sz="2000" b="1" dirty="0">
                <a:solidFill>
                  <a:srgbClr val="102A43"/>
                </a:solidFill>
                <a:latin typeface="Aptos Display" pitchFamily="34" charset="0"/>
                <a:ea typeface="Aptos Display" pitchFamily="34" charset="-122"/>
                <a:cs typeface="Aptos Display" pitchFamily="34" charset="-120"/>
              </a:rPr>
              <a:t>1</a:t>
            </a:r>
            <a:endParaRPr lang="en-US" sz="2000" dirty="0"/>
          </a:p>
        </p:txBody>
      </p:sp>
      <p:sp>
        <p:nvSpPr>
          <p:cNvPr id="22" name="Text 18"/>
          <p:cNvSpPr txBox="1"/>
          <p:nvPr/>
        </p:nvSpPr>
        <p:spPr>
          <a:xfrm>
            <a:off x="1261872" y="4370832"/>
            <a:ext cx="1819656" cy="237744"/>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@pytest.fixture</a:t>
            </a:r>
            <a:endParaRPr lang="en-US" sz="1220" dirty="0"/>
          </a:p>
        </p:txBody>
      </p:sp>
      <p:sp>
        <p:nvSpPr>
          <p:cNvPr id="23" name="Text 19"/>
          <p:cNvSpPr txBox="1"/>
          <p:nvPr/>
        </p:nvSpPr>
        <p:spPr>
          <a:xfrm>
            <a:off x="859536" y="4700016"/>
            <a:ext cx="2221992" cy="804672"/>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Marca la función como fixture: pytest la ejecuta cuando alguien la pide, no por ser prueba.</a:t>
            </a:r>
            <a:endParaRPr lang="en-US" sz="1060" dirty="0"/>
          </a:p>
        </p:txBody>
      </p:sp>
      <p:sp>
        <p:nvSpPr>
          <p:cNvPr id="24" name="Shape 20"/>
          <p:cNvSpPr/>
          <p:nvPr/>
        </p:nvSpPr>
        <p:spPr>
          <a:xfrm>
            <a:off x="3406140" y="4187952"/>
            <a:ext cx="2624328" cy="1408176"/>
          </a:xfrm>
          <a:prstGeom prst="rect">
            <a:avLst/>
          </a:prstGeom>
          <a:solidFill>
            <a:srgbClr val="FFFFFF"/>
          </a:solidFill>
          <a:ln w="12700">
            <a:solidFill>
              <a:srgbClr val="FFFFFF"/>
            </a:solidFill>
            <a:prstDash val="solid"/>
          </a:ln>
        </p:spPr>
      </p:sp>
      <p:sp>
        <p:nvSpPr>
          <p:cNvPr id="25" name="Shape 21"/>
          <p:cNvSpPr/>
          <p:nvPr/>
        </p:nvSpPr>
        <p:spPr>
          <a:xfrm>
            <a:off x="3406140" y="4187952"/>
            <a:ext cx="2624328" cy="54864"/>
          </a:xfrm>
          <a:prstGeom prst="rect">
            <a:avLst/>
          </a:prstGeom>
          <a:solidFill>
            <a:srgbClr val="2E7D4F"/>
          </a:solidFill>
          <a:ln w="12700">
            <a:solidFill>
              <a:srgbClr val="2E7D4F"/>
            </a:solidFill>
            <a:prstDash val="solid"/>
          </a:ln>
        </p:spPr>
      </p:sp>
      <p:sp>
        <p:nvSpPr>
          <p:cNvPr id="26" name="Text 22"/>
          <p:cNvSpPr txBox="1"/>
          <p:nvPr/>
        </p:nvSpPr>
        <p:spPr>
          <a:xfrm>
            <a:off x="3607308" y="4334256"/>
            <a:ext cx="365760" cy="274320"/>
          </a:xfrm>
          <a:prstGeom prst="rect">
            <a:avLst/>
          </a:prstGeom>
          <a:noFill/>
          <a:ln/>
        </p:spPr>
        <p:txBody>
          <a:bodyPr wrap="square" lIns="0" tIns="0" rIns="0" bIns="0" rtlCol="0" anchor="t"/>
          <a:lstStyle/>
          <a:p>
            <a:pPr algn="l" indent="0" marL="0">
              <a:buNone/>
            </a:pPr>
            <a:r>
              <a:rPr lang="en-US" sz="2000" b="1" dirty="0">
                <a:solidFill>
                  <a:srgbClr val="2E7D4F"/>
                </a:solidFill>
                <a:latin typeface="Aptos Display" pitchFamily="34" charset="0"/>
                <a:ea typeface="Aptos Display" pitchFamily="34" charset="-122"/>
                <a:cs typeface="Aptos Display" pitchFamily="34" charset="-120"/>
              </a:rPr>
              <a:t>2</a:t>
            </a:r>
            <a:endParaRPr lang="en-US" sz="2000" dirty="0"/>
          </a:p>
        </p:txBody>
      </p:sp>
      <p:sp>
        <p:nvSpPr>
          <p:cNvPr id="27" name="Text 23"/>
          <p:cNvSpPr txBox="1"/>
          <p:nvPr/>
        </p:nvSpPr>
        <p:spPr>
          <a:xfrm>
            <a:off x="4009644" y="4370832"/>
            <a:ext cx="1819656" cy="237744"/>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Antes del yield</a:t>
            </a:r>
            <a:endParaRPr lang="en-US" sz="1220" dirty="0"/>
          </a:p>
        </p:txBody>
      </p:sp>
      <p:sp>
        <p:nvSpPr>
          <p:cNvPr id="28" name="Text 24"/>
          <p:cNvSpPr txBox="1"/>
          <p:nvPr/>
        </p:nvSpPr>
        <p:spPr>
          <a:xfrm>
            <a:off x="3607308" y="4700016"/>
            <a:ext cx="2221992" cy="804672"/>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La preparación. Se ejecuta antes de la prueba. Aquí, vaciar la lista.</a:t>
            </a:r>
            <a:endParaRPr lang="en-US" sz="1060" dirty="0"/>
          </a:p>
        </p:txBody>
      </p:sp>
      <p:sp>
        <p:nvSpPr>
          <p:cNvPr id="29" name="Shape 25"/>
          <p:cNvSpPr/>
          <p:nvPr/>
        </p:nvSpPr>
        <p:spPr>
          <a:xfrm>
            <a:off x="6153912" y="4187952"/>
            <a:ext cx="2624328" cy="1408176"/>
          </a:xfrm>
          <a:prstGeom prst="rect">
            <a:avLst/>
          </a:prstGeom>
          <a:solidFill>
            <a:srgbClr val="FFFFFF"/>
          </a:solidFill>
          <a:ln w="12700">
            <a:solidFill>
              <a:srgbClr val="FFFFFF"/>
            </a:solidFill>
            <a:prstDash val="solid"/>
          </a:ln>
        </p:spPr>
      </p:sp>
      <p:sp>
        <p:nvSpPr>
          <p:cNvPr id="30" name="Shape 26"/>
          <p:cNvSpPr/>
          <p:nvPr/>
        </p:nvSpPr>
        <p:spPr>
          <a:xfrm>
            <a:off x="6153912" y="4187952"/>
            <a:ext cx="2624328" cy="54864"/>
          </a:xfrm>
          <a:prstGeom prst="rect">
            <a:avLst/>
          </a:prstGeom>
          <a:solidFill>
            <a:srgbClr val="8A6A12"/>
          </a:solidFill>
          <a:ln w="12700">
            <a:solidFill>
              <a:srgbClr val="8A6A12"/>
            </a:solidFill>
            <a:prstDash val="solid"/>
          </a:ln>
        </p:spPr>
      </p:sp>
      <p:sp>
        <p:nvSpPr>
          <p:cNvPr id="31" name="Text 27"/>
          <p:cNvSpPr txBox="1"/>
          <p:nvPr/>
        </p:nvSpPr>
        <p:spPr>
          <a:xfrm>
            <a:off x="6355080" y="4334256"/>
            <a:ext cx="365760" cy="274320"/>
          </a:xfrm>
          <a:prstGeom prst="rect">
            <a:avLst/>
          </a:prstGeom>
          <a:noFill/>
          <a:ln/>
        </p:spPr>
        <p:txBody>
          <a:bodyPr wrap="square" lIns="0" tIns="0" rIns="0" bIns="0" rtlCol="0" anchor="t"/>
          <a:lstStyle/>
          <a:p>
            <a:pPr algn="l" indent="0" marL="0">
              <a:buNone/>
            </a:pPr>
            <a:r>
              <a:rPr lang="en-US" sz="2000" b="1" dirty="0">
                <a:solidFill>
                  <a:srgbClr val="8A6A12"/>
                </a:solidFill>
                <a:latin typeface="Aptos Display" pitchFamily="34" charset="0"/>
                <a:ea typeface="Aptos Display" pitchFamily="34" charset="-122"/>
                <a:cs typeface="Aptos Display" pitchFamily="34" charset="-120"/>
              </a:rPr>
              <a:t>3</a:t>
            </a:r>
            <a:endParaRPr lang="en-US" sz="2000" dirty="0"/>
          </a:p>
        </p:txBody>
      </p:sp>
      <p:sp>
        <p:nvSpPr>
          <p:cNvPr id="32" name="Text 28"/>
          <p:cNvSpPr txBox="1"/>
          <p:nvPr/>
        </p:nvSpPr>
        <p:spPr>
          <a:xfrm>
            <a:off x="6757416" y="4370832"/>
            <a:ext cx="1819656" cy="237744"/>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yield</a:t>
            </a:r>
            <a:endParaRPr lang="en-US" sz="1220" dirty="0"/>
          </a:p>
        </p:txBody>
      </p:sp>
      <p:sp>
        <p:nvSpPr>
          <p:cNvPr id="33" name="Text 29"/>
          <p:cNvSpPr txBox="1"/>
          <p:nvPr/>
        </p:nvSpPr>
        <p:spPr>
          <a:xfrm>
            <a:off x="6355080" y="4700016"/>
            <a:ext cx="2221992" cy="804672"/>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Entrega el objeto y deja la fixture en pausa. Donde una función haría return.</a:t>
            </a:r>
            <a:endParaRPr lang="en-US" sz="1060" dirty="0"/>
          </a:p>
        </p:txBody>
      </p:sp>
      <p:sp>
        <p:nvSpPr>
          <p:cNvPr id="34" name="Shape 30"/>
          <p:cNvSpPr/>
          <p:nvPr/>
        </p:nvSpPr>
        <p:spPr>
          <a:xfrm>
            <a:off x="8901684" y="4187952"/>
            <a:ext cx="2624328" cy="1408176"/>
          </a:xfrm>
          <a:prstGeom prst="rect">
            <a:avLst/>
          </a:prstGeom>
          <a:solidFill>
            <a:srgbClr val="FFFFFF"/>
          </a:solidFill>
          <a:ln w="12700">
            <a:solidFill>
              <a:srgbClr val="FFFFFF"/>
            </a:solidFill>
            <a:prstDash val="solid"/>
          </a:ln>
        </p:spPr>
      </p:sp>
      <p:sp>
        <p:nvSpPr>
          <p:cNvPr id="35" name="Shape 31"/>
          <p:cNvSpPr/>
          <p:nvPr/>
        </p:nvSpPr>
        <p:spPr>
          <a:xfrm>
            <a:off x="8901684" y="4187952"/>
            <a:ext cx="2624328" cy="54864"/>
          </a:xfrm>
          <a:prstGeom prst="rect">
            <a:avLst/>
          </a:prstGeom>
          <a:solidFill>
            <a:srgbClr val="B3181E"/>
          </a:solidFill>
          <a:ln w="12700">
            <a:solidFill>
              <a:srgbClr val="B3181E"/>
            </a:solidFill>
            <a:prstDash val="solid"/>
          </a:ln>
        </p:spPr>
      </p:sp>
      <p:sp>
        <p:nvSpPr>
          <p:cNvPr id="36" name="Text 32"/>
          <p:cNvSpPr txBox="1"/>
          <p:nvPr/>
        </p:nvSpPr>
        <p:spPr>
          <a:xfrm>
            <a:off x="9102852" y="4334256"/>
            <a:ext cx="365760" cy="274320"/>
          </a:xfrm>
          <a:prstGeom prst="rect">
            <a:avLst/>
          </a:prstGeom>
          <a:noFill/>
          <a:ln/>
        </p:spPr>
        <p:txBody>
          <a:bodyPr wrap="square" lIns="0" tIns="0" rIns="0" bIns="0" rtlCol="0" anchor="t"/>
          <a:lstStyle/>
          <a:p>
            <a:pPr algn="l" indent="0" marL="0">
              <a:buNone/>
            </a:pPr>
            <a:r>
              <a:rPr lang="en-US" sz="2000" b="1" dirty="0">
                <a:solidFill>
                  <a:srgbClr val="B3181E"/>
                </a:solidFill>
                <a:latin typeface="Aptos Display" pitchFamily="34" charset="0"/>
                <a:ea typeface="Aptos Display" pitchFamily="34" charset="-122"/>
                <a:cs typeface="Aptos Display" pitchFamily="34" charset="-120"/>
              </a:rPr>
              <a:t>4</a:t>
            </a:r>
            <a:endParaRPr lang="en-US" sz="2000" dirty="0"/>
          </a:p>
        </p:txBody>
      </p:sp>
      <p:sp>
        <p:nvSpPr>
          <p:cNvPr id="37" name="Text 33"/>
          <p:cNvSpPr txBox="1"/>
          <p:nvPr/>
        </p:nvSpPr>
        <p:spPr>
          <a:xfrm>
            <a:off x="9505188" y="4370832"/>
            <a:ext cx="1819656" cy="237744"/>
          </a:xfrm>
          <a:prstGeom prst="rect">
            <a:avLst/>
          </a:prstGeom>
          <a:noFill/>
          <a:ln/>
        </p:spPr>
        <p:txBody>
          <a:bodyPr wrap="square" lIns="0" tIns="0" rIns="0" bIns="0" rtlCol="0" anchor="t"/>
          <a:lstStyle/>
          <a:p>
            <a:pPr algn="l" indent="0" marL="0">
              <a:buNone/>
            </a:pPr>
            <a:r>
              <a:rPr lang="en-US" sz="1220" b="1" dirty="0">
                <a:solidFill>
                  <a:srgbClr val="243B53"/>
                </a:solidFill>
                <a:latin typeface="Aptos" pitchFamily="34" charset="0"/>
                <a:ea typeface="Aptos" pitchFamily="34" charset="-122"/>
                <a:cs typeface="Aptos" pitchFamily="34" charset="-120"/>
              </a:rPr>
              <a:t>Después del yield</a:t>
            </a:r>
            <a:endParaRPr lang="en-US" sz="1220" dirty="0"/>
          </a:p>
        </p:txBody>
      </p:sp>
      <p:sp>
        <p:nvSpPr>
          <p:cNvPr id="38" name="Text 34"/>
          <p:cNvSpPr txBox="1"/>
          <p:nvPr/>
        </p:nvSpPr>
        <p:spPr>
          <a:xfrm>
            <a:off x="9102852" y="4700016"/>
            <a:ext cx="2221992" cy="804672"/>
          </a:xfrm>
          <a:prstGeom prst="rect">
            <a:avLst/>
          </a:prstGeom>
          <a:noFill/>
          <a:ln/>
        </p:spPr>
        <p:txBody>
          <a:bodyPr wrap="square" lIns="0" tIns="0" rIns="0" bIns="0" rtlCol="0" anchor="t"/>
          <a:lstStyle/>
          <a:p>
            <a:pPr algn="l" indent="0" marL="0">
              <a:lnSpc>
                <a:spcPct val="112000"/>
              </a:lnSpc>
              <a:buNone/>
            </a:pPr>
            <a:r>
              <a:rPr lang="en-US" sz="1060" dirty="0">
                <a:solidFill>
                  <a:srgbClr val="52606D"/>
                </a:solidFill>
                <a:latin typeface="Aptos" pitchFamily="34" charset="0"/>
                <a:ea typeface="Aptos" pitchFamily="34" charset="-122"/>
                <a:cs typeface="Aptos" pitchFamily="34" charset="-120"/>
              </a:rPr>
              <a:t>El desmontaje. pytest lo ejecuta al terminar, haya pasado o haya fallado.</a:t>
            </a:r>
            <a:endParaRPr lang="en-US" sz="1060" dirty="0"/>
          </a:p>
        </p:txBody>
      </p:sp>
      <p:sp>
        <p:nvSpPr>
          <p:cNvPr id="39" name="Shape 35"/>
          <p:cNvSpPr/>
          <p:nvPr/>
        </p:nvSpPr>
        <p:spPr>
          <a:xfrm>
            <a:off x="658368" y="5650992"/>
            <a:ext cx="10874959" cy="548640"/>
          </a:xfrm>
          <a:prstGeom prst="rect">
            <a:avLst/>
          </a:prstGeom>
          <a:solidFill>
            <a:srgbClr val="102A43"/>
          </a:solidFill>
          <a:ln w="12700">
            <a:solidFill>
              <a:srgbClr val="102A43"/>
            </a:solidFill>
            <a:prstDash val="solid"/>
          </a:ln>
        </p:spPr>
      </p:sp>
      <p:sp>
        <p:nvSpPr>
          <p:cNvPr id="40" name="Text 3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Una prueba pide la fixture escribiendo su nombre como parámetro: no se importa y no se llama.</a:t>
            </a:r>
            <a:endParaRPr lang="en-US" sz="13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AISLAMIENTO RECUPERADO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900" b="1" dirty="0">
                <a:solidFill>
                  <a:srgbClr val="243B53"/>
                </a:solidFill>
                <a:latin typeface="Aptos Display" pitchFamily="34" charset="0"/>
                <a:ea typeface="Aptos Display" pitchFamily="34" charset="-122"/>
                <a:cs typeface="Aptos Display" pitchFamily="34" charset="-120"/>
              </a:rPr>
              <a:t>El mismo número, y ya no significa lo mismo</a:t>
            </a:r>
            <a:endParaRPr lang="en-US" sz="29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Cada prueba pide la fixture por su nombre, y la tercera crea su propia condición previa en lugar de heredarla.</a:t>
            </a:r>
            <a:endParaRPr lang="en-US" sz="1420" dirty="0"/>
          </a:p>
        </p:txBody>
      </p:sp>
      <p:sp>
        <p:nvSpPr>
          <p:cNvPr id="11" name="Shape 8"/>
          <p:cNvSpPr/>
          <p:nvPr/>
        </p:nvSpPr>
        <p:spPr>
          <a:xfrm>
            <a:off x="658368" y="2286000"/>
            <a:ext cx="5760720" cy="1792224"/>
          </a:xfrm>
          <a:prstGeom prst="roundRect">
            <a:avLst>
              <a:gd name="adj" fmla="val 2041"/>
            </a:avLst>
          </a:prstGeom>
          <a:solidFill>
            <a:srgbClr val="102A43"/>
          </a:solidFill>
          <a:ln w="12700">
            <a:solidFill>
              <a:srgbClr val="102A43"/>
            </a:solidFill>
            <a:prstDash val="solid"/>
          </a:ln>
        </p:spPr>
      </p:sp>
      <p:sp>
        <p:nvSpPr>
          <p:cNvPr id="12" name="Shape 9"/>
          <p:cNvSpPr/>
          <p:nvPr/>
        </p:nvSpPr>
        <p:spPr>
          <a:xfrm>
            <a:off x="786384" y="2395728"/>
            <a:ext cx="550468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2852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test_api.py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340096" cy="1042416"/>
          </a:xfrm>
          <a:prstGeom prst="rect">
            <a:avLst/>
          </a:prstGeom>
        </p:spPr>
      </p:pic>
      <p:sp>
        <p:nvSpPr>
          <p:cNvPr id="15" name="Shape 11"/>
          <p:cNvSpPr/>
          <p:nvPr/>
        </p:nvSpPr>
        <p:spPr>
          <a:xfrm>
            <a:off x="6784848" y="2286000"/>
            <a:ext cx="4754880" cy="1792224"/>
          </a:xfrm>
          <a:prstGeom prst="rect">
            <a:avLst/>
          </a:prstGeom>
          <a:solidFill>
            <a:srgbClr val="FFFFFF"/>
          </a:solidFill>
          <a:ln w="12700">
            <a:solidFill>
              <a:srgbClr val="FFFFFF"/>
            </a:solidFill>
            <a:prstDash val="solid"/>
          </a:ln>
        </p:spPr>
      </p:sp>
      <p:sp>
        <p:nvSpPr>
          <p:cNvPr id="16" name="Shape 12"/>
          <p:cNvSpPr/>
          <p:nvPr/>
        </p:nvSpPr>
        <p:spPr>
          <a:xfrm>
            <a:off x="6784848" y="2286000"/>
            <a:ext cx="54864" cy="1792224"/>
          </a:xfrm>
          <a:prstGeom prst="rect">
            <a:avLst/>
          </a:prstGeom>
          <a:solidFill>
            <a:srgbClr val="102A43"/>
          </a:solidFill>
          <a:ln w="12700">
            <a:solidFill>
              <a:srgbClr val="102A43"/>
            </a:solidFill>
            <a:prstDash val="solid"/>
          </a:ln>
        </p:spPr>
      </p:sp>
      <p:sp>
        <p:nvSpPr>
          <p:cNvPr id="17" name="Text 13"/>
          <p:cNvSpPr txBox="1"/>
          <p:nvPr/>
        </p:nvSpPr>
        <p:spPr>
          <a:xfrm>
            <a:off x="7022592" y="2414016"/>
            <a:ext cx="429768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CONFTEST.PY</a:t>
            </a:r>
            <a:endParaRPr lang="en-US" sz="920" dirty="0"/>
          </a:p>
        </p:txBody>
      </p:sp>
      <p:sp>
        <p:nvSpPr>
          <p:cNvPr id="18" name="Text 14"/>
          <p:cNvSpPr txBox="1"/>
          <p:nvPr/>
        </p:nvSpPr>
        <p:spPr>
          <a:xfrm>
            <a:off x="7022592" y="2670048"/>
            <a:ext cx="4297680" cy="1298448"/>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Nombre reservado de pytest: las fixtures definidas ahí quedan disponibles para todas las pruebas de esa carpeta sin importarlas.</a:t>
            </a:r>
            <a:endParaRPr lang="en-US" sz="1210" dirty="0"/>
          </a:p>
        </p:txBody>
      </p:sp>
      <p:sp>
        <p:nvSpPr>
          <p:cNvPr id="19" name="Shape 15"/>
          <p:cNvSpPr/>
          <p:nvPr/>
        </p:nvSpPr>
        <p:spPr>
          <a:xfrm>
            <a:off x="658368" y="4133088"/>
            <a:ext cx="10874959" cy="347472"/>
          </a:xfrm>
          <a:prstGeom prst="rect">
            <a:avLst/>
          </a:prstGeom>
          <a:solidFill>
            <a:srgbClr val="1D3A57"/>
          </a:solidFill>
          <a:ln w="12700">
            <a:solidFill>
              <a:srgbClr val="1D3A57"/>
            </a:solidFill>
            <a:prstDash val="solid"/>
          </a:ln>
        </p:spPr>
      </p:sp>
      <p:sp>
        <p:nvSpPr>
          <p:cNvPr id="20" name="Text 16"/>
          <p:cNvSpPr txBox="1"/>
          <p:nvPr/>
        </p:nvSpPr>
        <p:spPr>
          <a:xfrm>
            <a:off x="896112" y="4206240"/>
            <a:ext cx="18288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QUÉ SE EJECUTÓ</a:t>
            </a:r>
            <a:endParaRPr lang="en-US" sz="920" dirty="0"/>
          </a:p>
        </p:txBody>
      </p:sp>
      <p:sp>
        <p:nvSpPr>
          <p:cNvPr id="21" name="Text 17"/>
          <p:cNvSpPr txBox="1"/>
          <p:nvPr/>
        </p:nvSpPr>
        <p:spPr>
          <a:xfrm>
            <a:off x="6931152" y="4206240"/>
            <a:ext cx="18288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ANTES</a:t>
            </a:r>
            <a:endParaRPr lang="en-US" sz="920" dirty="0"/>
          </a:p>
        </p:txBody>
      </p:sp>
      <p:sp>
        <p:nvSpPr>
          <p:cNvPr id="22" name="Text 18"/>
          <p:cNvSpPr txBox="1"/>
          <p:nvPr/>
        </p:nvSpPr>
        <p:spPr>
          <a:xfrm>
            <a:off x="9034272" y="4206240"/>
            <a:ext cx="18288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AHORA</a:t>
            </a:r>
            <a:endParaRPr lang="en-US" sz="920" dirty="0"/>
          </a:p>
        </p:txBody>
      </p:sp>
      <p:sp>
        <p:nvSpPr>
          <p:cNvPr id="23" name="Shape 19"/>
          <p:cNvSpPr/>
          <p:nvPr/>
        </p:nvSpPr>
        <p:spPr>
          <a:xfrm>
            <a:off x="658368" y="4517136"/>
            <a:ext cx="10874959" cy="347472"/>
          </a:xfrm>
          <a:prstGeom prst="rect">
            <a:avLst/>
          </a:prstGeom>
          <a:solidFill>
            <a:srgbClr val="EDE6DA"/>
          </a:solidFill>
          <a:ln w="12700">
            <a:solidFill>
              <a:srgbClr val="EDE6DA"/>
            </a:solidFill>
            <a:prstDash val="solid"/>
          </a:ln>
        </p:spPr>
      </p:sp>
      <p:sp>
        <p:nvSpPr>
          <p:cNvPr id="24" name="Text 20"/>
          <p:cNvSpPr txBox="1"/>
          <p:nvPr/>
        </p:nvSpPr>
        <p:spPr>
          <a:xfrm>
            <a:off x="896112" y="4590288"/>
            <a:ext cx="5669280" cy="237744"/>
          </a:xfrm>
          <a:prstGeom prst="rect">
            <a:avLst/>
          </a:prstGeom>
          <a:noFill/>
          <a:ln/>
        </p:spPr>
        <p:txBody>
          <a:bodyPr wrap="square" lIns="0" tIns="0" rIns="0" bIns="0" rtlCol="0" anchor="t"/>
          <a:lstStyle/>
          <a:p>
            <a:pPr algn="l" indent="0" marL="0">
              <a:buNone/>
            </a:pPr>
            <a:r>
              <a:rPr lang="en-US" sz="1180" dirty="0">
                <a:solidFill>
                  <a:srgbClr val="243B53"/>
                </a:solidFill>
                <a:latin typeface="Aptos" pitchFamily="34" charset="0"/>
                <a:ea typeface="Aptos" pitchFamily="34" charset="-122"/>
                <a:cs typeface="Aptos" pitchFamily="34" charset="-120"/>
              </a:rPr>
              <a:t>Las tres, en el orden del archivo</a:t>
            </a:r>
            <a:endParaRPr lang="en-US" sz="1180" dirty="0"/>
          </a:p>
        </p:txBody>
      </p:sp>
      <p:sp>
        <p:nvSpPr>
          <p:cNvPr id="25" name="Text 21"/>
          <p:cNvSpPr txBox="1"/>
          <p:nvPr/>
        </p:nvSpPr>
        <p:spPr>
          <a:xfrm>
            <a:off x="6931152" y="4590288"/>
            <a:ext cx="1920240" cy="237744"/>
          </a:xfrm>
          <a:prstGeom prst="rect">
            <a:avLst/>
          </a:prstGeom>
          <a:noFill/>
          <a:ln/>
        </p:spPr>
        <p:txBody>
          <a:bodyPr wrap="square" lIns="0" tIns="0" rIns="0" bIns="0" rtlCol="0" anchor="t"/>
          <a:lstStyle/>
          <a:p>
            <a:pPr algn="l" indent="0" marL="0">
              <a:buNone/>
            </a:pPr>
            <a:r>
              <a:rPr lang="en-US" sz="1180" b="1" dirty="0">
                <a:solidFill>
                  <a:srgbClr val="2E7D4F"/>
                </a:solidFill>
                <a:latin typeface="Aptos" pitchFamily="34" charset="0"/>
                <a:ea typeface="Aptos" pitchFamily="34" charset="-122"/>
                <a:cs typeface="Aptos" pitchFamily="34" charset="-120"/>
              </a:rPr>
              <a:t>3 passed</a:t>
            </a:r>
            <a:endParaRPr lang="en-US" sz="1180" dirty="0"/>
          </a:p>
        </p:txBody>
      </p:sp>
      <p:sp>
        <p:nvSpPr>
          <p:cNvPr id="26" name="Text 22"/>
          <p:cNvSpPr txBox="1"/>
          <p:nvPr/>
        </p:nvSpPr>
        <p:spPr>
          <a:xfrm>
            <a:off x="9034272" y="4590288"/>
            <a:ext cx="1920240" cy="237744"/>
          </a:xfrm>
          <a:prstGeom prst="rect">
            <a:avLst/>
          </a:prstGeom>
          <a:noFill/>
          <a:ln/>
        </p:spPr>
        <p:txBody>
          <a:bodyPr wrap="square" lIns="0" tIns="0" rIns="0" bIns="0" rtlCol="0" anchor="t"/>
          <a:lstStyle/>
          <a:p>
            <a:pPr algn="l" indent="0" marL="0">
              <a:buNone/>
            </a:pPr>
            <a:r>
              <a:rPr lang="en-US" sz="1180" b="1" dirty="0">
                <a:solidFill>
                  <a:srgbClr val="2E7D4F"/>
                </a:solidFill>
                <a:latin typeface="Aptos" pitchFamily="34" charset="0"/>
                <a:ea typeface="Aptos" pitchFamily="34" charset="-122"/>
                <a:cs typeface="Aptos" pitchFamily="34" charset="-120"/>
              </a:rPr>
              <a:t>3 passed</a:t>
            </a:r>
            <a:endParaRPr lang="en-US" sz="1180" dirty="0"/>
          </a:p>
        </p:txBody>
      </p:sp>
      <p:sp>
        <p:nvSpPr>
          <p:cNvPr id="27" name="Shape 23"/>
          <p:cNvSpPr/>
          <p:nvPr/>
        </p:nvSpPr>
        <p:spPr>
          <a:xfrm>
            <a:off x="658368" y="4892040"/>
            <a:ext cx="10874959" cy="347472"/>
          </a:xfrm>
          <a:prstGeom prst="rect">
            <a:avLst/>
          </a:prstGeom>
          <a:solidFill>
            <a:srgbClr val="F8F3EC"/>
          </a:solidFill>
          <a:ln w="12700">
            <a:solidFill>
              <a:srgbClr val="F8F3EC"/>
            </a:solidFill>
            <a:prstDash val="solid"/>
          </a:ln>
        </p:spPr>
      </p:sp>
      <p:sp>
        <p:nvSpPr>
          <p:cNvPr id="28" name="Text 24"/>
          <p:cNvSpPr txBox="1"/>
          <p:nvPr/>
        </p:nvSpPr>
        <p:spPr>
          <a:xfrm>
            <a:off x="896112" y="4965192"/>
            <a:ext cx="5669280" cy="237744"/>
          </a:xfrm>
          <a:prstGeom prst="rect">
            <a:avLst/>
          </a:prstGeom>
          <a:noFill/>
          <a:ln/>
        </p:spPr>
        <p:txBody>
          <a:bodyPr wrap="square" lIns="0" tIns="0" rIns="0" bIns="0" rtlCol="0" anchor="t"/>
          <a:lstStyle/>
          <a:p>
            <a:pPr algn="l" indent="0" marL="0">
              <a:buNone/>
            </a:pPr>
            <a:r>
              <a:rPr lang="en-US" sz="1180" dirty="0">
                <a:solidFill>
                  <a:srgbClr val="243B53"/>
                </a:solidFill>
                <a:latin typeface="Aptos" pitchFamily="34" charset="0"/>
                <a:ea typeface="Aptos" pitchFamily="34" charset="-122"/>
                <a:cs typeface="Aptos" pitchFamily="34" charset="-120"/>
              </a:rPr>
              <a:t>Solo la tercera</a:t>
            </a:r>
            <a:endParaRPr lang="en-US" sz="1180" dirty="0"/>
          </a:p>
        </p:txBody>
      </p:sp>
      <p:sp>
        <p:nvSpPr>
          <p:cNvPr id="29" name="Text 25"/>
          <p:cNvSpPr txBox="1"/>
          <p:nvPr/>
        </p:nvSpPr>
        <p:spPr>
          <a:xfrm>
            <a:off x="6931152" y="4965192"/>
            <a:ext cx="1920240" cy="237744"/>
          </a:xfrm>
          <a:prstGeom prst="rect">
            <a:avLst/>
          </a:prstGeom>
          <a:noFill/>
          <a:ln/>
        </p:spPr>
        <p:txBody>
          <a:bodyPr wrap="square" lIns="0" tIns="0" rIns="0" bIns="0" rtlCol="0" anchor="t"/>
          <a:lstStyle/>
          <a:p>
            <a:pPr algn="l" indent="0" marL="0">
              <a:buNone/>
            </a:pPr>
            <a:r>
              <a:rPr lang="en-US" sz="1180" b="1" dirty="0">
                <a:solidFill>
                  <a:srgbClr val="B3181E"/>
                </a:solidFill>
                <a:latin typeface="Aptos" pitchFamily="34" charset="0"/>
                <a:ea typeface="Aptos" pitchFamily="34" charset="-122"/>
                <a:cs typeface="Aptos" pitchFamily="34" charset="-120"/>
              </a:rPr>
              <a:t>1 failed</a:t>
            </a:r>
            <a:endParaRPr lang="en-US" sz="1180" dirty="0"/>
          </a:p>
        </p:txBody>
      </p:sp>
      <p:sp>
        <p:nvSpPr>
          <p:cNvPr id="30" name="Text 26"/>
          <p:cNvSpPr txBox="1"/>
          <p:nvPr/>
        </p:nvSpPr>
        <p:spPr>
          <a:xfrm>
            <a:off x="9034272" y="4965192"/>
            <a:ext cx="1920240" cy="237744"/>
          </a:xfrm>
          <a:prstGeom prst="rect">
            <a:avLst/>
          </a:prstGeom>
          <a:noFill/>
          <a:ln/>
        </p:spPr>
        <p:txBody>
          <a:bodyPr wrap="square" lIns="0" tIns="0" rIns="0" bIns="0" rtlCol="0" anchor="t"/>
          <a:lstStyle/>
          <a:p>
            <a:pPr algn="l" indent="0" marL="0">
              <a:buNone/>
            </a:pPr>
            <a:r>
              <a:rPr lang="en-US" sz="1180" b="1" dirty="0">
                <a:solidFill>
                  <a:srgbClr val="2E7D4F"/>
                </a:solidFill>
                <a:latin typeface="Aptos" pitchFamily="34" charset="0"/>
                <a:ea typeface="Aptos" pitchFamily="34" charset="-122"/>
                <a:cs typeface="Aptos" pitchFamily="34" charset="-120"/>
              </a:rPr>
              <a:t>1 passed</a:t>
            </a:r>
            <a:endParaRPr lang="en-US" sz="1180" dirty="0"/>
          </a:p>
        </p:txBody>
      </p:sp>
      <p:sp>
        <p:nvSpPr>
          <p:cNvPr id="31" name="Shape 27"/>
          <p:cNvSpPr/>
          <p:nvPr/>
        </p:nvSpPr>
        <p:spPr>
          <a:xfrm>
            <a:off x="658368" y="5266944"/>
            <a:ext cx="10874959" cy="347472"/>
          </a:xfrm>
          <a:prstGeom prst="rect">
            <a:avLst/>
          </a:prstGeom>
          <a:solidFill>
            <a:srgbClr val="EDE6DA"/>
          </a:solidFill>
          <a:ln w="12700">
            <a:solidFill>
              <a:srgbClr val="EDE6DA"/>
            </a:solidFill>
            <a:prstDash val="solid"/>
          </a:ln>
        </p:spPr>
      </p:sp>
      <p:sp>
        <p:nvSpPr>
          <p:cNvPr id="32" name="Text 28"/>
          <p:cNvSpPr txBox="1"/>
          <p:nvPr/>
        </p:nvSpPr>
        <p:spPr>
          <a:xfrm>
            <a:off x="896112" y="5340096"/>
            <a:ext cx="5669280" cy="237744"/>
          </a:xfrm>
          <a:prstGeom prst="rect">
            <a:avLst/>
          </a:prstGeom>
          <a:noFill/>
          <a:ln/>
        </p:spPr>
        <p:txBody>
          <a:bodyPr wrap="square" lIns="0" tIns="0" rIns="0" bIns="0" rtlCol="0" anchor="t"/>
          <a:lstStyle/>
          <a:p>
            <a:pPr algn="l" indent="0" marL="0">
              <a:buNone/>
            </a:pPr>
            <a:r>
              <a:rPr lang="en-US" sz="1180" dirty="0">
                <a:solidFill>
                  <a:srgbClr val="243B53"/>
                </a:solidFill>
                <a:latin typeface="Aptos" pitchFamily="34" charset="0"/>
                <a:ea typeface="Aptos" pitchFamily="34" charset="-122"/>
                <a:cs typeface="Aptos" pitchFamily="34" charset="-120"/>
              </a:rPr>
              <a:t>La tercera y la primera</a:t>
            </a:r>
            <a:endParaRPr lang="en-US" sz="1180" dirty="0"/>
          </a:p>
        </p:txBody>
      </p:sp>
      <p:sp>
        <p:nvSpPr>
          <p:cNvPr id="33" name="Text 29"/>
          <p:cNvSpPr txBox="1"/>
          <p:nvPr/>
        </p:nvSpPr>
        <p:spPr>
          <a:xfrm>
            <a:off x="6931152" y="5340096"/>
            <a:ext cx="1920240" cy="237744"/>
          </a:xfrm>
          <a:prstGeom prst="rect">
            <a:avLst/>
          </a:prstGeom>
          <a:noFill/>
          <a:ln/>
        </p:spPr>
        <p:txBody>
          <a:bodyPr wrap="square" lIns="0" tIns="0" rIns="0" bIns="0" rtlCol="0" anchor="t"/>
          <a:lstStyle/>
          <a:p>
            <a:pPr algn="l" indent="0" marL="0">
              <a:buNone/>
            </a:pPr>
            <a:r>
              <a:rPr lang="en-US" sz="1180" b="1" dirty="0">
                <a:solidFill>
                  <a:srgbClr val="B3181E"/>
                </a:solidFill>
                <a:latin typeface="Aptos" pitchFamily="34" charset="0"/>
                <a:ea typeface="Aptos" pitchFamily="34" charset="-122"/>
                <a:cs typeface="Aptos" pitchFamily="34" charset="-120"/>
              </a:rPr>
              <a:t>2 failed</a:t>
            </a:r>
            <a:endParaRPr lang="en-US" sz="1180" dirty="0"/>
          </a:p>
        </p:txBody>
      </p:sp>
      <p:sp>
        <p:nvSpPr>
          <p:cNvPr id="34" name="Text 30"/>
          <p:cNvSpPr txBox="1"/>
          <p:nvPr/>
        </p:nvSpPr>
        <p:spPr>
          <a:xfrm>
            <a:off x="9034272" y="5340096"/>
            <a:ext cx="1920240" cy="237744"/>
          </a:xfrm>
          <a:prstGeom prst="rect">
            <a:avLst/>
          </a:prstGeom>
          <a:noFill/>
          <a:ln/>
        </p:spPr>
        <p:txBody>
          <a:bodyPr wrap="square" lIns="0" tIns="0" rIns="0" bIns="0" rtlCol="0" anchor="t"/>
          <a:lstStyle/>
          <a:p>
            <a:pPr algn="l" indent="0" marL="0">
              <a:buNone/>
            </a:pPr>
            <a:r>
              <a:rPr lang="en-US" sz="1180" b="1" dirty="0">
                <a:solidFill>
                  <a:srgbClr val="2E7D4F"/>
                </a:solidFill>
                <a:latin typeface="Aptos" pitchFamily="34" charset="0"/>
                <a:ea typeface="Aptos" pitchFamily="34" charset="-122"/>
                <a:cs typeface="Aptos" pitchFamily="34" charset="-120"/>
              </a:rPr>
              <a:t>2 passed</a:t>
            </a:r>
            <a:endParaRPr lang="en-US" sz="1180" dirty="0"/>
          </a:p>
        </p:txBody>
      </p:sp>
      <p:sp>
        <p:nvSpPr>
          <p:cNvPr id="35" name="Shape 31"/>
          <p:cNvSpPr/>
          <p:nvPr/>
        </p:nvSpPr>
        <p:spPr>
          <a:xfrm>
            <a:off x="658368" y="5650992"/>
            <a:ext cx="10874959" cy="548640"/>
          </a:xfrm>
          <a:prstGeom prst="rect">
            <a:avLst/>
          </a:prstGeom>
          <a:solidFill>
            <a:srgbClr val="102A43"/>
          </a:solidFill>
          <a:ln w="12700">
            <a:solidFill>
              <a:srgbClr val="102A43"/>
            </a:solidFill>
            <a:prstDash val="solid"/>
          </a:ln>
        </p:spPr>
      </p:sp>
      <p:sp>
        <p:nvSpPr>
          <p:cNvPr id="36" name="Text 32"/>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Antes el 3 passed describía un orden. Ahora describe el sistema.</a:t>
            </a:r>
            <a:endParaRPr lang="en-US" sz="13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EL ALCANCE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Una palabra, y la fixture deja de aislar</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El alcance decide cada cuánto se construye y se desmonta. No es un detalle de configuración.</a:t>
            </a:r>
            <a:endParaRPr lang="en-US" sz="1420" dirty="0"/>
          </a:p>
        </p:txBody>
      </p:sp>
      <p:sp>
        <p:nvSpPr>
          <p:cNvPr id="11" name="Shape 8"/>
          <p:cNvSpPr/>
          <p:nvPr/>
        </p:nvSpPr>
        <p:spPr>
          <a:xfrm>
            <a:off x="658368" y="2286000"/>
            <a:ext cx="5394960" cy="347472"/>
          </a:xfrm>
          <a:prstGeom prst="rect">
            <a:avLst/>
          </a:prstGeom>
          <a:solidFill>
            <a:srgbClr val="EDE6DA"/>
          </a:solidFill>
          <a:ln w="12700">
            <a:solidFill>
              <a:srgbClr val="EDE6DA"/>
            </a:solidFill>
            <a:prstDash val="solid"/>
          </a:ln>
        </p:spPr>
      </p:sp>
      <p:sp>
        <p:nvSpPr>
          <p:cNvPr id="12" name="Shape 9"/>
          <p:cNvSpPr/>
          <p:nvPr/>
        </p:nvSpPr>
        <p:spPr>
          <a:xfrm>
            <a:off x="658368" y="2286000"/>
            <a:ext cx="45720" cy="347472"/>
          </a:xfrm>
          <a:prstGeom prst="rect">
            <a:avLst/>
          </a:prstGeom>
          <a:solidFill>
            <a:srgbClr val="2E7D4F"/>
          </a:solidFill>
          <a:ln w="12700">
            <a:solidFill>
              <a:srgbClr val="2E7D4F"/>
            </a:solidFill>
            <a:prstDash val="solid"/>
          </a:ln>
        </p:spPr>
      </p:sp>
      <p:sp>
        <p:nvSpPr>
          <p:cNvPr id="13" name="Text 10"/>
          <p:cNvSpPr txBox="1"/>
          <p:nvPr/>
        </p:nvSpPr>
        <p:spPr>
          <a:xfrm>
            <a:off x="877824" y="2350008"/>
            <a:ext cx="1371600" cy="219456"/>
          </a:xfrm>
          <a:prstGeom prst="rect">
            <a:avLst/>
          </a:prstGeom>
          <a:noFill/>
          <a:ln/>
        </p:spPr>
        <p:txBody>
          <a:bodyPr wrap="square" lIns="0" tIns="0" rIns="0" bIns="0" rtlCol="0" anchor="t"/>
          <a:lstStyle/>
          <a:p>
            <a:pPr algn="l" indent="0" marL="0">
              <a:buNone/>
            </a:pPr>
            <a:r>
              <a:rPr lang="en-US" sz="1140" b="1" dirty="0">
                <a:solidFill>
                  <a:srgbClr val="2E7D4F"/>
                </a:solidFill>
                <a:latin typeface="Aptos" pitchFamily="34" charset="0"/>
                <a:ea typeface="Aptos" pitchFamily="34" charset="-122"/>
                <a:cs typeface="Aptos" pitchFamily="34" charset="-120"/>
              </a:rPr>
              <a:t>function</a:t>
            </a:r>
            <a:endParaRPr lang="en-US" sz="1140" dirty="0"/>
          </a:p>
        </p:txBody>
      </p:sp>
      <p:sp>
        <p:nvSpPr>
          <p:cNvPr id="14" name="Text 11"/>
          <p:cNvSpPr txBox="1"/>
          <p:nvPr/>
        </p:nvSpPr>
        <p:spPr>
          <a:xfrm>
            <a:off x="2340864" y="2350008"/>
            <a:ext cx="3566160" cy="219456"/>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Al final de cada prueba — es el valor por defecto</a:t>
            </a:r>
            <a:endParaRPr lang="en-US" sz="1060" dirty="0"/>
          </a:p>
        </p:txBody>
      </p:sp>
      <p:sp>
        <p:nvSpPr>
          <p:cNvPr id="15" name="Shape 12"/>
          <p:cNvSpPr/>
          <p:nvPr/>
        </p:nvSpPr>
        <p:spPr>
          <a:xfrm>
            <a:off x="658368" y="2688336"/>
            <a:ext cx="5394960" cy="347472"/>
          </a:xfrm>
          <a:prstGeom prst="rect">
            <a:avLst/>
          </a:prstGeom>
          <a:solidFill>
            <a:srgbClr val="F8F3EC"/>
          </a:solidFill>
          <a:ln w="12700">
            <a:solidFill>
              <a:srgbClr val="F8F3EC"/>
            </a:solidFill>
            <a:prstDash val="solid"/>
          </a:ln>
        </p:spPr>
      </p:sp>
      <p:sp>
        <p:nvSpPr>
          <p:cNvPr id="16" name="Shape 13"/>
          <p:cNvSpPr/>
          <p:nvPr/>
        </p:nvSpPr>
        <p:spPr>
          <a:xfrm>
            <a:off x="658368" y="2688336"/>
            <a:ext cx="45720" cy="347472"/>
          </a:xfrm>
          <a:prstGeom prst="rect">
            <a:avLst/>
          </a:prstGeom>
          <a:solidFill>
            <a:srgbClr val="52606D"/>
          </a:solidFill>
          <a:ln w="12700">
            <a:solidFill>
              <a:srgbClr val="52606D"/>
            </a:solidFill>
            <a:prstDash val="solid"/>
          </a:ln>
        </p:spPr>
      </p:sp>
      <p:sp>
        <p:nvSpPr>
          <p:cNvPr id="17" name="Text 14"/>
          <p:cNvSpPr txBox="1"/>
          <p:nvPr/>
        </p:nvSpPr>
        <p:spPr>
          <a:xfrm>
            <a:off x="877824" y="2752344"/>
            <a:ext cx="1371600" cy="219456"/>
          </a:xfrm>
          <a:prstGeom prst="rect">
            <a:avLst/>
          </a:prstGeom>
          <a:noFill/>
          <a:ln/>
        </p:spPr>
        <p:txBody>
          <a:bodyPr wrap="square" lIns="0" tIns="0" rIns="0" bIns="0" rtlCol="0" anchor="t"/>
          <a:lstStyle/>
          <a:p>
            <a:pPr algn="l" indent="0" marL="0">
              <a:buNone/>
            </a:pPr>
            <a:r>
              <a:rPr lang="en-US" sz="1140" b="1" dirty="0">
                <a:solidFill>
                  <a:srgbClr val="52606D"/>
                </a:solidFill>
                <a:latin typeface="Aptos" pitchFamily="34" charset="0"/>
                <a:ea typeface="Aptos" pitchFamily="34" charset="-122"/>
                <a:cs typeface="Aptos" pitchFamily="34" charset="-120"/>
              </a:rPr>
              <a:t>class</a:t>
            </a:r>
            <a:endParaRPr lang="en-US" sz="1140" dirty="0"/>
          </a:p>
        </p:txBody>
      </p:sp>
      <p:sp>
        <p:nvSpPr>
          <p:cNvPr id="18" name="Text 15"/>
          <p:cNvSpPr txBox="1"/>
          <p:nvPr/>
        </p:nvSpPr>
        <p:spPr>
          <a:xfrm>
            <a:off x="2340864" y="2752344"/>
            <a:ext cx="3566160" cy="219456"/>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Al terminar la última prueba de la clase</a:t>
            </a:r>
            <a:endParaRPr lang="en-US" sz="1060" dirty="0"/>
          </a:p>
        </p:txBody>
      </p:sp>
      <p:sp>
        <p:nvSpPr>
          <p:cNvPr id="19" name="Shape 16"/>
          <p:cNvSpPr/>
          <p:nvPr/>
        </p:nvSpPr>
        <p:spPr>
          <a:xfrm>
            <a:off x="658368" y="3090672"/>
            <a:ext cx="5394960" cy="347472"/>
          </a:xfrm>
          <a:prstGeom prst="rect">
            <a:avLst/>
          </a:prstGeom>
          <a:solidFill>
            <a:srgbClr val="EDE6DA"/>
          </a:solidFill>
          <a:ln w="12700">
            <a:solidFill>
              <a:srgbClr val="EDE6DA"/>
            </a:solidFill>
            <a:prstDash val="solid"/>
          </a:ln>
        </p:spPr>
      </p:sp>
      <p:sp>
        <p:nvSpPr>
          <p:cNvPr id="20" name="Shape 17"/>
          <p:cNvSpPr/>
          <p:nvPr/>
        </p:nvSpPr>
        <p:spPr>
          <a:xfrm>
            <a:off x="658368" y="3090672"/>
            <a:ext cx="45720" cy="347472"/>
          </a:xfrm>
          <a:prstGeom prst="rect">
            <a:avLst/>
          </a:prstGeom>
          <a:solidFill>
            <a:srgbClr val="8A6A12"/>
          </a:solidFill>
          <a:ln w="12700">
            <a:solidFill>
              <a:srgbClr val="8A6A12"/>
            </a:solidFill>
            <a:prstDash val="solid"/>
          </a:ln>
        </p:spPr>
      </p:sp>
      <p:sp>
        <p:nvSpPr>
          <p:cNvPr id="21" name="Text 18"/>
          <p:cNvSpPr txBox="1"/>
          <p:nvPr/>
        </p:nvSpPr>
        <p:spPr>
          <a:xfrm>
            <a:off x="877824" y="3154680"/>
            <a:ext cx="1371600" cy="219456"/>
          </a:xfrm>
          <a:prstGeom prst="rect">
            <a:avLst/>
          </a:prstGeom>
          <a:noFill/>
          <a:ln/>
        </p:spPr>
        <p:txBody>
          <a:bodyPr wrap="square" lIns="0" tIns="0" rIns="0" bIns="0" rtlCol="0" anchor="t"/>
          <a:lstStyle/>
          <a:p>
            <a:pPr algn="l" indent="0" marL="0">
              <a:buNone/>
            </a:pPr>
            <a:r>
              <a:rPr lang="en-US" sz="1140" b="1" dirty="0">
                <a:solidFill>
                  <a:srgbClr val="8A6A12"/>
                </a:solidFill>
                <a:latin typeface="Aptos" pitchFamily="34" charset="0"/>
                <a:ea typeface="Aptos" pitchFamily="34" charset="-122"/>
                <a:cs typeface="Aptos" pitchFamily="34" charset="-120"/>
              </a:rPr>
              <a:t>module</a:t>
            </a:r>
            <a:endParaRPr lang="en-US" sz="1140" dirty="0"/>
          </a:p>
        </p:txBody>
      </p:sp>
      <p:sp>
        <p:nvSpPr>
          <p:cNvPr id="22" name="Text 19"/>
          <p:cNvSpPr txBox="1"/>
          <p:nvPr/>
        </p:nvSpPr>
        <p:spPr>
          <a:xfrm>
            <a:off x="2340864" y="3154680"/>
            <a:ext cx="3566160" cy="219456"/>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Al terminar la última prueba del archivo</a:t>
            </a:r>
            <a:endParaRPr lang="en-US" sz="1060" dirty="0"/>
          </a:p>
        </p:txBody>
      </p:sp>
      <p:sp>
        <p:nvSpPr>
          <p:cNvPr id="23" name="Shape 20"/>
          <p:cNvSpPr/>
          <p:nvPr/>
        </p:nvSpPr>
        <p:spPr>
          <a:xfrm>
            <a:off x="658368" y="3493008"/>
            <a:ext cx="5394960" cy="347472"/>
          </a:xfrm>
          <a:prstGeom prst="rect">
            <a:avLst/>
          </a:prstGeom>
          <a:solidFill>
            <a:srgbClr val="F8F3EC"/>
          </a:solidFill>
          <a:ln w="12700">
            <a:solidFill>
              <a:srgbClr val="F8F3EC"/>
            </a:solidFill>
            <a:prstDash val="solid"/>
          </a:ln>
        </p:spPr>
      </p:sp>
      <p:sp>
        <p:nvSpPr>
          <p:cNvPr id="24" name="Shape 21"/>
          <p:cNvSpPr/>
          <p:nvPr/>
        </p:nvSpPr>
        <p:spPr>
          <a:xfrm>
            <a:off x="658368" y="3493008"/>
            <a:ext cx="45720" cy="347472"/>
          </a:xfrm>
          <a:prstGeom prst="rect">
            <a:avLst/>
          </a:prstGeom>
          <a:solidFill>
            <a:srgbClr val="52606D"/>
          </a:solidFill>
          <a:ln w="12700">
            <a:solidFill>
              <a:srgbClr val="52606D"/>
            </a:solidFill>
            <a:prstDash val="solid"/>
          </a:ln>
        </p:spPr>
      </p:sp>
      <p:sp>
        <p:nvSpPr>
          <p:cNvPr id="25" name="Text 22"/>
          <p:cNvSpPr txBox="1"/>
          <p:nvPr/>
        </p:nvSpPr>
        <p:spPr>
          <a:xfrm>
            <a:off x="877824" y="3557016"/>
            <a:ext cx="1371600" cy="219456"/>
          </a:xfrm>
          <a:prstGeom prst="rect">
            <a:avLst/>
          </a:prstGeom>
          <a:noFill/>
          <a:ln/>
        </p:spPr>
        <p:txBody>
          <a:bodyPr wrap="square" lIns="0" tIns="0" rIns="0" bIns="0" rtlCol="0" anchor="t"/>
          <a:lstStyle/>
          <a:p>
            <a:pPr algn="l" indent="0" marL="0">
              <a:buNone/>
            </a:pPr>
            <a:r>
              <a:rPr lang="en-US" sz="1140" b="1" dirty="0">
                <a:solidFill>
                  <a:srgbClr val="52606D"/>
                </a:solidFill>
                <a:latin typeface="Aptos" pitchFamily="34" charset="0"/>
                <a:ea typeface="Aptos" pitchFamily="34" charset="-122"/>
                <a:cs typeface="Aptos" pitchFamily="34" charset="-120"/>
              </a:rPr>
              <a:t>package</a:t>
            </a:r>
            <a:endParaRPr lang="en-US" sz="1140" dirty="0"/>
          </a:p>
        </p:txBody>
      </p:sp>
      <p:sp>
        <p:nvSpPr>
          <p:cNvPr id="26" name="Text 23"/>
          <p:cNvSpPr txBox="1"/>
          <p:nvPr/>
        </p:nvSpPr>
        <p:spPr>
          <a:xfrm>
            <a:off x="2340864" y="3557016"/>
            <a:ext cx="3566160" cy="219456"/>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Al terminar la última prueba del paquete</a:t>
            </a:r>
            <a:endParaRPr lang="en-US" sz="1060" dirty="0"/>
          </a:p>
        </p:txBody>
      </p:sp>
      <p:sp>
        <p:nvSpPr>
          <p:cNvPr id="27" name="Shape 24"/>
          <p:cNvSpPr/>
          <p:nvPr/>
        </p:nvSpPr>
        <p:spPr>
          <a:xfrm>
            <a:off x="658368" y="3895344"/>
            <a:ext cx="5394960" cy="347472"/>
          </a:xfrm>
          <a:prstGeom prst="rect">
            <a:avLst/>
          </a:prstGeom>
          <a:solidFill>
            <a:srgbClr val="EDE6DA"/>
          </a:solidFill>
          <a:ln w="12700">
            <a:solidFill>
              <a:srgbClr val="EDE6DA"/>
            </a:solidFill>
            <a:prstDash val="solid"/>
          </a:ln>
        </p:spPr>
      </p:sp>
      <p:sp>
        <p:nvSpPr>
          <p:cNvPr id="28" name="Shape 25"/>
          <p:cNvSpPr/>
          <p:nvPr/>
        </p:nvSpPr>
        <p:spPr>
          <a:xfrm>
            <a:off x="658368" y="3895344"/>
            <a:ext cx="45720" cy="347472"/>
          </a:xfrm>
          <a:prstGeom prst="rect">
            <a:avLst/>
          </a:prstGeom>
          <a:solidFill>
            <a:srgbClr val="B3181E"/>
          </a:solidFill>
          <a:ln w="12700">
            <a:solidFill>
              <a:srgbClr val="B3181E"/>
            </a:solidFill>
            <a:prstDash val="solid"/>
          </a:ln>
        </p:spPr>
      </p:sp>
      <p:sp>
        <p:nvSpPr>
          <p:cNvPr id="29" name="Text 26"/>
          <p:cNvSpPr txBox="1"/>
          <p:nvPr/>
        </p:nvSpPr>
        <p:spPr>
          <a:xfrm>
            <a:off x="877824" y="3959352"/>
            <a:ext cx="1371600" cy="219456"/>
          </a:xfrm>
          <a:prstGeom prst="rect">
            <a:avLst/>
          </a:prstGeom>
          <a:noFill/>
          <a:ln/>
        </p:spPr>
        <p:txBody>
          <a:bodyPr wrap="square" lIns="0" tIns="0" rIns="0" bIns="0" rtlCol="0" anchor="t"/>
          <a:lstStyle/>
          <a:p>
            <a:pPr algn="l" indent="0" marL="0">
              <a:buNone/>
            </a:pPr>
            <a:r>
              <a:rPr lang="en-US" sz="1140" b="1" dirty="0">
                <a:solidFill>
                  <a:srgbClr val="B3181E"/>
                </a:solidFill>
                <a:latin typeface="Aptos" pitchFamily="34" charset="0"/>
                <a:ea typeface="Aptos" pitchFamily="34" charset="-122"/>
                <a:cs typeface="Aptos" pitchFamily="34" charset="-120"/>
              </a:rPr>
              <a:t>session</a:t>
            </a:r>
            <a:endParaRPr lang="en-US" sz="1140" dirty="0"/>
          </a:p>
        </p:txBody>
      </p:sp>
      <p:sp>
        <p:nvSpPr>
          <p:cNvPr id="30" name="Text 27"/>
          <p:cNvSpPr txBox="1"/>
          <p:nvPr/>
        </p:nvSpPr>
        <p:spPr>
          <a:xfrm>
            <a:off x="2340864" y="3959352"/>
            <a:ext cx="3566160" cy="219456"/>
          </a:xfrm>
          <a:prstGeom prst="rect">
            <a:avLst/>
          </a:prstGeom>
          <a:noFill/>
          <a:ln/>
        </p:spPr>
        <p:txBody>
          <a:bodyPr wrap="square" lIns="0" tIns="0" rIns="0" bIns="0" rtlCol="0" anchor="t"/>
          <a:lstStyle/>
          <a:p>
            <a:pPr algn="l" indent="0" marL="0">
              <a:buNone/>
            </a:pPr>
            <a:r>
              <a:rPr lang="en-US" sz="1060" dirty="0">
                <a:solidFill>
                  <a:srgbClr val="52606D"/>
                </a:solidFill>
                <a:latin typeface="Aptos" pitchFamily="34" charset="0"/>
                <a:ea typeface="Aptos" pitchFamily="34" charset="-122"/>
                <a:cs typeface="Aptos" pitchFamily="34" charset="-120"/>
              </a:rPr>
              <a:t>Al terminar toda la ejecución</a:t>
            </a:r>
            <a:endParaRPr lang="en-US" sz="1060" dirty="0"/>
          </a:p>
        </p:txBody>
      </p:sp>
      <p:sp>
        <p:nvSpPr>
          <p:cNvPr id="31" name="Shape 28"/>
          <p:cNvSpPr/>
          <p:nvPr/>
        </p:nvSpPr>
        <p:spPr>
          <a:xfrm>
            <a:off x="6419088" y="2286000"/>
            <a:ext cx="5120640" cy="1993392"/>
          </a:xfrm>
          <a:prstGeom prst="roundRect">
            <a:avLst>
              <a:gd name="adj" fmla="val 1835"/>
            </a:avLst>
          </a:prstGeom>
          <a:solidFill>
            <a:srgbClr val="0F1720"/>
          </a:solidFill>
          <a:ln w="12700">
            <a:solidFill>
              <a:srgbClr val="0F1720"/>
            </a:solidFill>
            <a:prstDash val="solid"/>
          </a:ln>
        </p:spPr>
      </p:sp>
      <p:sp>
        <p:nvSpPr>
          <p:cNvPr id="32" name="Shape 29"/>
          <p:cNvSpPr/>
          <p:nvPr/>
        </p:nvSpPr>
        <p:spPr>
          <a:xfrm>
            <a:off x="6547104" y="2395728"/>
            <a:ext cx="4864608" cy="310896"/>
          </a:xfrm>
          <a:prstGeom prst="roundRect">
            <a:avLst>
              <a:gd name="adj" fmla="val 8824"/>
            </a:avLst>
          </a:prstGeom>
          <a:solidFill>
            <a:srgbClr val="1E2937"/>
          </a:solidFill>
          <a:ln w="12700">
            <a:solidFill>
              <a:srgbClr val="1E2937"/>
            </a:solidFill>
            <a:prstDash val="solid"/>
          </a:ln>
        </p:spPr>
      </p:sp>
      <p:sp>
        <p:nvSpPr>
          <p:cNvPr id="33" name="Text 30"/>
          <p:cNvSpPr/>
          <p:nvPr/>
        </p:nvSpPr>
        <p:spPr>
          <a:xfrm>
            <a:off x="6675120" y="2468880"/>
            <a:ext cx="460857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 scope="module"</a:t>
            </a:r>
            <a:endParaRPr lang="en-US" sz="1000" dirty="0"/>
          </a:p>
        </p:txBody>
      </p:sp>
      <p:sp>
        <p:nvSpPr>
          <p:cNvPr id="34" name="Text 31"/>
          <p:cNvSpPr/>
          <p:nvPr/>
        </p:nvSpPr>
        <p:spPr>
          <a:xfrm>
            <a:off x="6638544" y="2852928"/>
            <a:ext cx="4370832" cy="164592"/>
          </a:xfrm>
          <a:prstGeom prst="rect">
            <a:avLst/>
          </a:prstGeom>
          <a:noFill/>
          <a:ln/>
        </p:spPr>
        <p:txBody>
          <a:bodyPr wrap="square" lIns="0" tIns="0" rIns="0" bIns="0" rtlCol="0" anchor="ctr"/>
          <a:lstStyle/>
          <a:p>
            <a:pPr indent="0" marL="0">
              <a:buNone/>
            </a:pPr>
            <a:r>
              <a:rPr lang="en-US" sz="960" dirty="0">
                <a:solidFill>
                  <a:srgbClr val="8AA0B6"/>
                </a:solidFill>
                <a:latin typeface="Consolas" pitchFamily="34" charset="0"/>
                <a:ea typeface="Consolas" pitchFamily="34" charset="-122"/>
                <a:cs typeface="Consolas" pitchFamily="34" charset="-120"/>
              </a:rPr>
              <a:t># la suite completa</a:t>
            </a:r>
            <a:endParaRPr lang="en-US" sz="960" dirty="0"/>
          </a:p>
        </p:txBody>
      </p:sp>
      <p:sp>
        <p:nvSpPr>
          <p:cNvPr id="35" name="Text 32"/>
          <p:cNvSpPr/>
          <p:nvPr/>
        </p:nvSpPr>
        <p:spPr>
          <a:xfrm>
            <a:off x="6638544" y="3108960"/>
            <a:ext cx="437083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3 passed in 0.08s</a:t>
            </a:r>
            <a:endParaRPr lang="en-US" sz="960" dirty="0"/>
          </a:p>
        </p:txBody>
      </p:sp>
      <p:sp>
        <p:nvSpPr>
          <p:cNvPr id="36" name="Text 33"/>
          <p:cNvSpPr/>
          <p:nvPr/>
        </p:nvSpPr>
        <p:spPr>
          <a:xfrm>
            <a:off x="6638544" y="3364992"/>
            <a:ext cx="4370832" cy="164592"/>
          </a:xfrm>
          <a:prstGeom prst="rect">
            <a:avLst/>
          </a:prstGeom>
          <a:noFill/>
          <a:ln/>
        </p:spPr>
        <p:txBody>
          <a:bodyPr wrap="square" lIns="0" tIns="0" rIns="0" bIns="0" rtlCol="0" anchor="ctr"/>
          <a:lstStyle/>
          <a:p>
            <a:pPr indent="0" marL="0">
              <a:buNone/>
            </a:pPr>
            <a:r>
              <a:rPr lang="en-US" sz="960" dirty="0">
                <a:solidFill>
                  <a:srgbClr val="8AA0B6"/>
                </a:solidFill>
                <a:latin typeface="Consolas" pitchFamily="34" charset="0"/>
                <a:ea typeface="Consolas" pitchFamily="34" charset="-122"/>
                <a:cs typeface="Consolas" pitchFamily="34" charset="-120"/>
              </a:rPr>
              <a:t># la tercera y la primera</a:t>
            </a:r>
            <a:endParaRPr lang="en-US" sz="960" dirty="0"/>
          </a:p>
        </p:txBody>
      </p:sp>
      <p:sp>
        <p:nvSpPr>
          <p:cNvPr id="37" name="Text 34"/>
          <p:cNvSpPr/>
          <p:nvPr/>
        </p:nvSpPr>
        <p:spPr>
          <a:xfrm>
            <a:off x="6638544" y="3621024"/>
            <a:ext cx="437083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1 failed, 1 passed in 0.38s</a:t>
            </a:r>
            <a:endParaRPr lang="en-US" sz="960" dirty="0"/>
          </a:p>
        </p:txBody>
      </p:sp>
      <p:sp>
        <p:nvSpPr>
          <p:cNvPr id="38" name="Shape 35"/>
          <p:cNvSpPr/>
          <p:nvPr/>
        </p:nvSpPr>
        <p:spPr>
          <a:xfrm>
            <a:off x="658368" y="4425696"/>
            <a:ext cx="10874959" cy="1078992"/>
          </a:xfrm>
          <a:prstGeom prst="rect">
            <a:avLst/>
          </a:prstGeom>
          <a:solidFill>
            <a:srgbClr val="F8E4E5"/>
          </a:solidFill>
          <a:ln w="12700">
            <a:solidFill>
              <a:srgbClr val="F8E4E5"/>
            </a:solidFill>
            <a:prstDash val="solid"/>
          </a:ln>
        </p:spPr>
      </p:sp>
      <p:sp>
        <p:nvSpPr>
          <p:cNvPr id="39" name="Shape 36"/>
          <p:cNvSpPr/>
          <p:nvPr/>
        </p:nvSpPr>
        <p:spPr>
          <a:xfrm>
            <a:off x="658368" y="4425696"/>
            <a:ext cx="54864" cy="1078992"/>
          </a:xfrm>
          <a:prstGeom prst="rect">
            <a:avLst/>
          </a:prstGeom>
          <a:solidFill>
            <a:srgbClr val="B3181E"/>
          </a:solidFill>
          <a:ln w="12700">
            <a:solidFill>
              <a:srgbClr val="B3181E"/>
            </a:solidFill>
            <a:prstDash val="solid"/>
          </a:ln>
        </p:spPr>
      </p:sp>
      <p:sp>
        <p:nvSpPr>
          <p:cNvPr id="40" name="Text 37"/>
          <p:cNvSpPr txBox="1"/>
          <p:nvPr/>
        </p:nvSpPr>
        <p:spPr>
          <a:xfrm>
            <a:off x="950976" y="4590288"/>
            <a:ext cx="5669280" cy="256032"/>
          </a:xfrm>
          <a:prstGeom prst="rect">
            <a:avLst/>
          </a:prstGeom>
          <a:noFill/>
          <a:ln/>
        </p:spPr>
        <p:txBody>
          <a:bodyPr wrap="square" lIns="0" tIns="0" rIns="0" bIns="0" rtlCol="0" anchor="t"/>
          <a:lstStyle/>
          <a:p>
            <a:pPr algn="l" indent="0" marL="0">
              <a:buNone/>
            </a:pPr>
            <a:r>
              <a:rPr lang="en-US" sz="1340" b="1" dirty="0">
                <a:solidFill>
                  <a:srgbClr val="B3181E"/>
                </a:solidFill>
                <a:latin typeface="Aptos" pitchFamily="34" charset="0"/>
                <a:ea typeface="Aptos" pitchFamily="34" charset="-122"/>
                <a:cs typeface="Aptos" pitchFamily="34" charset="-120"/>
              </a:rPr>
              <a:t>La fixture existe, está bien escrita y no aísla nada</a:t>
            </a:r>
            <a:endParaRPr lang="en-US" sz="1340" dirty="0"/>
          </a:p>
        </p:txBody>
      </p:sp>
      <p:sp>
        <p:nvSpPr>
          <p:cNvPr id="41" name="Text 38"/>
          <p:cNvSpPr txBox="1"/>
          <p:nvPr/>
        </p:nvSpPr>
        <p:spPr>
          <a:xfrm>
            <a:off x="950976" y="4882896"/>
            <a:ext cx="10289743" cy="512064"/>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Con alcance module la agenda se vacía una sola vez para todo el archivo. Y obsérvese lo peligroso: la suite completa sigue informando 3 passed. Un alcance mal elegido no se manifiesta como error, sino como un verde que volvió a depender del orden.</a:t>
            </a:r>
            <a:endParaRPr lang="en-US" sz="1220" dirty="0"/>
          </a:p>
        </p:txBody>
      </p:sp>
      <p:sp>
        <p:nvSpPr>
          <p:cNvPr id="42" name="Shape 39"/>
          <p:cNvSpPr/>
          <p:nvPr/>
        </p:nvSpPr>
        <p:spPr>
          <a:xfrm>
            <a:off x="658368" y="5650992"/>
            <a:ext cx="10874959" cy="548640"/>
          </a:xfrm>
          <a:prstGeom prst="rect">
            <a:avLst/>
          </a:prstGeom>
          <a:solidFill>
            <a:srgbClr val="102A43"/>
          </a:solidFill>
          <a:ln w="12700">
            <a:solidFill>
              <a:srgbClr val="102A43"/>
            </a:solidFill>
            <a:prstDash val="solid"/>
          </a:ln>
        </p:spPr>
      </p:sp>
      <p:sp>
        <p:nvSpPr>
          <p:cNvPr id="43" name="Text 4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Ampliar el alcance es una optimización que se paga en riesgo. Se amplía solo para lo que es caro.</a:t>
            </a:r>
            <a:endParaRPr lang="en-US" sz="13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LA ERA DE LOS AGENTES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«Arregla las pruebas que fallan»</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Esa instrucción, sobre el estado anterior a la fixture, produce con frecuencia una de estas dos respuestas. Las dos dejan el problema intacto.</a:t>
            </a:r>
            <a:endParaRPr lang="en-US" sz="1420" dirty="0"/>
          </a:p>
        </p:txBody>
      </p:sp>
      <p:sp>
        <p:nvSpPr>
          <p:cNvPr id="11" name="Shape 8"/>
          <p:cNvSpPr/>
          <p:nvPr/>
        </p:nvSpPr>
        <p:spPr>
          <a:xfrm>
            <a:off x="658368" y="2286000"/>
            <a:ext cx="5340096" cy="1207008"/>
          </a:xfrm>
          <a:prstGeom prst="rect">
            <a:avLst/>
          </a:prstGeom>
          <a:solidFill>
            <a:srgbClr val="F2E7D9"/>
          </a:solidFill>
          <a:ln w="12700">
            <a:solidFill>
              <a:srgbClr val="F2E7D9"/>
            </a:solidFill>
            <a:prstDash val="solid"/>
          </a:ln>
        </p:spPr>
      </p:sp>
      <p:sp>
        <p:nvSpPr>
          <p:cNvPr id="12" name="Shape 9"/>
          <p:cNvSpPr/>
          <p:nvPr/>
        </p:nvSpPr>
        <p:spPr>
          <a:xfrm>
            <a:off x="658368" y="2286000"/>
            <a:ext cx="5340096" cy="54864"/>
          </a:xfrm>
          <a:prstGeom prst="rect">
            <a:avLst/>
          </a:prstGeom>
          <a:solidFill>
            <a:srgbClr val="B3181E"/>
          </a:solidFill>
          <a:ln w="12700">
            <a:solidFill>
              <a:srgbClr val="B3181E"/>
            </a:solidFill>
            <a:prstDash val="solid"/>
          </a:ln>
        </p:spPr>
      </p:sp>
      <p:sp>
        <p:nvSpPr>
          <p:cNvPr id="13" name="Text 10"/>
          <p:cNvSpPr txBox="1"/>
          <p:nvPr/>
        </p:nvSpPr>
        <p:spPr>
          <a:xfrm>
            <a:off x="932688" y="2468880"/>
            <a:ext cx="4791456" cy="274320"/>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Adaptar la aserción al resultado observado</a:t>
            </a:r>
            <a:endParaRPr lang="en-US" sz="1300" dirty="0"/>
          </a:p>
        </p:txBody>
      </p:sp>
      <p:sp>
        <p:nvSpPr>
          <p:cNvPr id="14" name="Text 11"/>
          <p:cNvSpPr txBox="1"/>
          <p:nvPr/>
        </p:nvSpPr>
        <p:spPr>
          <a:xfrm>
            <a:off x="932688" y="2779776"/>
            <a:ext cx="4791456" cy="603504"/>
          </a:xfrm>
          <a:prstGeom prst="rect">
            <a:avLst/>
          </a:prstGeom>
          <a:noFill/>
          <a:ln/>
        </p:spPr>
        <p:txBody>
          <a:bodyPr wrap="square" lIns="0" tIns="0" rIns="0" bIns="0" rtlCol="0" anchor="t"/>
          <a:lstStyle/>
          <a:p>
            <a:pPr algn="l" indent="0" marL="0">
              <a:lnSpc>
                <a:spcPct val="114000"/>
              </a:lnSpc>
              <a:buNone/>
            </a:pPr>
            <a:r>
              <a:rPr lang="en-US" sz="1160" dirty="0">
                <a:solidFill>
                  <a:srgbClr val="243B53"/>
                </a:solidFill>
                <a:latin typeface="Aptos" pitchFamily="34" charset="0"/>
                <a:ea typeface="Aptos" pitchFamily="34" charset="-122"/>
                <a:cs typeface="Aptos" pitchFamily="34" charset="-120"/>
              </a:rPr>
              <a:t>Cambiar el 409 esperado por 201 en la prueba que falla sola. La suite vuelve al verde y la prueba dejó de comprobar el requisito.</a:t>
            </a:r>
            <a:endParaRPr lang="en-US" sz="1160" dirty="0"/>
          </a:p>
        </p:txBody>
      </p:sp>
      <p:sp>
        <p:nvSpPr>
          <p:cNvPr id="15" name="Shape 12"/>
          <p:cNvSpPr/>
          <p:nvPr/>
        </p:nvSpPr>
        <p:spPr>
          <a:xfrm>
            <a:off x="6190488" y="2286000"/>
            <a:ext cx="5340096" cy="1207008"/>
          </a:xfrm>
          <a:prstGeom prst="rect">
            <a:avLst/>
          </a:prstGeom>
          <a:solidFill>
            <a:srgbClr val="F2E7D9"/>
          </a:solidFill>
          <a:ln w="12700">
            <a:solidFill>
              <a:srgbClr val="F2E7D9"/>
            </a:solidFill>
            <a:prstDash val="solid"/>
          </a:ln>
        </p:spPr>
      </p:sp>
      <p:sp>
        <p:nvSpPr>
          <p:cNvPr id="16" name="Shape 13"/>
          <p:cNvSpPr/>
          <p:nvPr/>
        </p:nvSpPr>
        <p:spPr>
          <a:xfrm>
            <a:off x="6190488" y="2286000"/>
            <a:ext cx="5340096" cy="54864"/>
          </a:xfrm>
          <a:prstGeom prst="rect">
            <a:avLst/>
          </a:prstGeom>
          <a:solidFill>
            <a:srgbClr val="B3181E"/>
          </a:solidFill>
          <a:ln w="12700">
            <a:solidFill>
              <a:srgbClr val="B3181E"/>
            </a:solidFill>
            <a:prstDash val="solid"/>
          </a:ln>
        </p:spPr>
      </p:sp>
      <p:sp>
        <p:nvSpPr>
          <p:cNvPr id="17" name="Text 14"/>
          <p:cNvSpPr txBox="1"/>
          <p:nvPr/>
        </p:nvSpPr>
        <p:spPr>
          <a:xfrm>
            <a:off x="6464808" y="2468880"/>
            <a:ext cx="4791456" cy="274320"/>
          </a:xfrm>
          <a:prstGeom prst="rect">
            <a:avLst/>
          </a:prstGeom>
          <a:noFill/>
          <a:ln/>
        </p:spPr>
        <p:txBody>
          <a:bodyPr wrap="square" lIns="0" tIns="0" rIns="0" bIns="0" rtlCol="0" anchor="t"/>
          <a:lstStyle/>
          <a:p>
            <a:pPr algn="l" indent="0" marL="0">
              <a:buNone/>
            </a:pPr>
            <a:r>
              <a:rPr lang="en-US" sz="1300" b="1" dirty="0">
                <a:solidFill>
                  <a:srgbClr val="B3181E"/>
                </a:solidFill>
                <a:latin typeface="Aptos" pitchFamily="34" charset="0"/>
                <a:ea typeface="Aptos" pitchFamily="34" charset="-122"/>
                <a:cs typeface="Aptos" pitchFamily="34" charset="-120"/>
              </a:rPr>
              <a:t>Marcar el orden como requisito</a:t>
            </a:r>
            <a:endParaRPr lang="en-US" sz="1300" dirty="0"/>
          </a:p>
        </p:txBody>
      </p:sp>
      <p:sp>
        <p:nvSpPr>
          <p:cNvPr id="18" name="Text 15"/>
          <p:cNvSpPr txBox="1"/>
          <p:nvPr/>
        </p:nvSpPr>
        <p:spPr>
          <a:xfrm>
            <a:off x="6464808" y="2779776"/>
            <a:ext cx="4791456" cy="603504"/>
          </a:xfrm>
          <a:prstGeom prst="rect">
            <a:avLst/>
          </a:prstGeom>
          <a:noFill/>
          <a:ln/>
        </p:spPr>
        <p:txBody>
          <a:bodyPr wrap="square" lIns="0" tIns="0" rIns="0" bIns="0" rtlCol="0" anchor="t"/>
          <a:lstStyle/>
          <a:p>
            <a:pPr algn="l" indent="0" marL="0">
              <a:lnSpc>
                <a:spcPct val="114000"/>
              </a:lnSpc>
              <a:buNone/>
            </a:pPr>
            <a:r>
              <a:rPr lang="en-US" sz="1160" dirty="0">
                <a:solidFill>
                  <a:srgbClr val="243B53"/>
                </a:solidFill>
                <a:latin typeface="Aptos" pitchFamily="34" charset="0"/>
                <a:ea typeface="Aptos" pitchFamily="34" charset="-122"/>
                <a:cs typeface="Aptos" pitchFamily="34" charset="-120"/>
              </a:rPr>
              <a:t>Ordenar o encadenar las pruebas para que el verde vuelva. Eso conserva la dependencia y además la oficializa.</a:t>
            </a:r>
            <a:endParaRPr lang="en-US" sz="1160" dirty="0"/>
          </a:p>
        </p:txBody>
      </p:sp>
      <p:sp>
        <p:nvSpPr>
          <p:cNvPr id="19" name="Shape 16"/>
          <p:cNvSpPr/>
          <p:nvPr/>
        </p:nvSpPr>
        <p:spPr>
          <a:xfrm>
            <a:off x="658368" y="3639312"/>
            <a:ext cx="10874959" cy="585216"/>
          </a:xfrm>
          <a:prstGeom prst="rect">
            <a:avLst/>
          </a:prstGeom>
          <a:solidFill>
            <a:srgbClr val="EDE6DA"/>
          </a:solidFill>
          <a:ln w="12700">
            <a:solidFill>
              <a:srgbClr val="EDE6DA"/>
            </a:solidFill>
            <a:prstDash val="solid"/>
          </a:ln>
        </p:spPr>
      </p:sp>
      <p:sp>
        <p:nvSpPr>
          <p:cNvPr id="20" name="Text 17"/>
          <p:cNvSpPr txBox="1"/>
          <p:nvPr/>
        </p:nvSpPr>
        <p:spPr>
          <a:xfrm>
            <a:off x="950976" y="3767328"/>
            <a:ext cx="10289743" cy="347472"/>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El motivo es estructural: el agente optimiza contra la señal que recibe, y la señal es «la suite en verde». El aislamiento no se ve en esa señal.</a:t>
            </a:r>
            <a:endParaRPr lang="en-US" sz="1240" dirty="0"/>
          </a:p>
        </p:txBody>
      </p:sp>
      <p:sp>
        <p:nvSpPr>
          <p:cNvPr id="21" name="Shape 18"/>
          <p:cNvSpPr/>
          <p:nvPr/>
        </p:nvSpPr>
        <p:spPr>
          <a:xfrm>
            <a:off x="658368" y="4352544"/>
            <a:ext cx="3520440" cy="1133856"/>
          </a:xfrm>
          <a:prstGeom prst="rect">
            <a:avLst/>
          </a:prstGeom>
          <a:solidFill>
            <a:srgbClr val="FFFFFF"/>
          </a:solidFill>
          <a:ln w="12700">
            <a:solidFill>
              <a:srgbClr val="FFFFFF"/>
            </a:solidFill>
            <a:prstDash val="solid"/>
          </a:ln>
        </p:spPr>
      </p:sp>
      <p:sp>
        <p:nvSpPr>
          <p:cNvPr id="22" name="Shape 19"/>
          <p:cNvSpPr/>
          <p:nvPr/>
        </p:nvSpPr>
        <p:spPr>
          <a:xfrm>
            <a:off x="658368" y="4352544"/>
            <a:ext cx="3520440" cy="54864"/>
          </a:xfrm>
          <a:prstGeom prst="rect">
            <a:avLst/>
          </a:prstGeom>
          <a:solidFill>
            <a:srgbClr val="2E7D4F"/>
          </a:solidFill>
          <a:ln w="12700">
            <a:solidFill>
              <a:srgbClr val="2E7D4F"/>
            </a:solidFill>
            <a:prstDash val="solid"/>
          </a:ln>
        </p:spPr>
      </p:sp>
      <p:sp>
        <p:nvSpPr>
          <p:cNvPr id="23" name="Text 20"/>
          <p:cNvSpPr txBox="1"/>
          <p:nvPr/>
        </p:nvSpPr>
        <p:spPr>
          <a:xfrm>
            <a:off x="859536" y="4517136"/>
            <a:ext cx="3118104" cy="182880"/>
          </a:xfrm>
          <a:prstGeom prst="rect">
            <a:avLst/>
          </a:prstGeom>
          <a:noFill/>
          <a:ln/>
        </p:spPr>
        <p:txBody>
          <a:bodyPr wrap="square" lIns="0" tIns="0" rIns="0" bIns="0" rtlCol="0" anchor="t"/>
          <a:lstStyle/>
          <a:p>
            <a:pPr algn="l" indent="0" marL="0">
              <a:buNone/>
            </a:pPr>
            <a:r>
              <a:rPr lang="en-US" sz="920" b="1" spc="110" kern="0" dirty="0">
                <a:solidFill>
                  <a:srgbClr val="2E7D4F"/>
                </a:solidFill>
                <a:latin typeface="Aptos" pitchFamily="34" charset="0"/>
                <a:ea typeface="Aptos" pitchFamily="34" charset="-122"/>
                <a:cs typeface="Aptos" pitchFamily="34" charset="-120"/>
              </a:rPr>
              <a:t>QUÉ HACE BIEN</a:t>
            </a:r>
            <a:endParaRPr lang="en-US" sz="920" dirty="0"/>
          </a:p>
        </p:txBody>
      </p:sp>
      <p:sp>
        <p:nvSpPr>
          <p:cNvPr id="24" name="Text 21"/>
          <p:cNvSpPr txBox="1"/>
          <p:nvPr/>
        </p:nvSpPr>
        <p:spPr>
          <a:xfrm>
            <a:off x="859536" y="4754880"/>
            <a:ext cx="3118104" cy="640080"/>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Escribir la fixture una vez que se le dice cuál es el estado compartido.</a:t>
            </a:r>
            <a:endParaRPr lang="en-US" sz="1140" dirty="0"/>
          </a:p>
        </p:txBody>
      </p:sp>
      <p:sp>
        <p:nvSpPr>
          <p:cNvPr id="25" name="Shape 22"/>
          <p:cNvSpPr/>
          <p:nvPr/>
        </p:nvSpPr>
        <p:spPr>
          <a:xfrm>
            <a:off x="4288536" y="4352544"/>
            <a:ext cx="3520440" cy="1133856"/>
          </a:xfrm>
          <a:prstGeom prst="rect">
            <a:avLst/>
          </a:prstGeom>
          <a:solidFill>
            <a:srgbClr val="FFFFFF"/>
          </a:solidFill>
          <a:ln w="12700">
            <a:solidFill>
              <a:srgbClr val="FFFFFF"/>
            </a:solidFill>
            <a:prstDash val="solid"/>
          </a:ln>
        </p:spPr>
      </p:sp>
      <p:sp>
        <p:nvSpPr>
          <p:cNvPr id="26" name="Shape 23"/>
          <p:cNvSpPr/>
          <p:nvPr/>
        </p:nvSpPr>
        <p:spPr>
          <a:xfrm>
            <a:off x="4288536" y="4352544"/>
            <a:ext cx="3520440" cy="54864"/>
          </a:xfrm>
          <a:prstGeom prst="rect">
            <a:avLst/>
          </a:prstGeom>
          <a:solidFill>
            <a:srgbClr val="B3181E"/>
          </a:solidFill>
          <a:ln w="12700">
            <a:solidFill>
              <a:srgbClr val="B3181E"/>
            </a:solidFill>
            <a:prstDash val="solid"/>
          </a:ln>
        </p:spPr>
      </p:sp>
      <p:sp>
        <p:nvSpPr>
          <p:cNvPr id="27" name="Text 24"/>
          <p:cNvSpPr txBox="1"/>
          <p:nvPr/>
        </p:nvSpPr>
        <p:spPr>
          <a:xfrm>
            <a:off x="4489704" y="4517136"/>
            <a:ext cx="3118104"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QUÉ NO DELEGAR</a:t>
            </a:r>
            <a:endParaRPr lang="en-US" sz="920" dirty="0"/>
          </a:p>
        </p:txBody>
      </p:sp>
      <p:sp>
        <p:nvSpPr>
          <p:cNvPr id="28" name="Text 25"/>
          <p:cNvSpPr txBox="1"/>
          <p:nvPr/>
        </p:nvSpPr>
        <p:spPr>
          <a:xfrm>
            <a:off x="4489704" y="4754880"/>
            <a:ext cx="3118104" cy="640080"/>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El diagnóstico y el alcance: exigen saber qué comprobaba la prueba.</a:t>
            </a:r>
            <a:endParaRPr lang="en-US" sz="1140" dirty="0"/>
          </a:p>
        </p:txBody>
      </p:sp>
      <p:sp>
        <p:nvSpPr>
          <p:cNvPr id="29" name="Shape 26"/>
          <p:cNvSpPr/>
          <p:nvPr/>
        </p:nvSpPr>
        <p:spPr>
          <a:xfrm>
            <a:off x="7918704" y="4352544"/>
            <a:ext cx="3520440" cy="1133856"/>
          </a:xfrm>
          <a:prstGeom prst="rect">
            <a:avLst/>
          </a:prstGeom>
          <a:solidFill>
            <a:srgbClr val="FFFFFF"/>
          </a:solidFill>
          <a:ln w="12700">
            <a:solidFill>
              <a:srgbClr val="FFFFFF"/>
            </a:solidFill>
            <a:prstDash val="solid"/>
          </a:ln>
        </p:spPr>
      </p:sp>
      <p:sp>
        <p:nvSpPr>
          <p:cNvPr id="30" name="Shape 27"/>
          <p:cNvSpPr/>
          <p:nvPr/>
        </p:nvSpPr>
        <p:spPr>
          <a:xfrm>
            <a:off x="7918704" y="4352544"/>
            <a:ext cx="3520440" cy="54864"/>
          </a:xfrm>
          <a:prstGeom prst="rect">
            <a:avLst/>
          </a:prstGeom>
          <a:solidFill>
            <a:srgbClr val="8A6A12"/>
          </a:solidFill>
          <a:ln w="12700">
            <a:solidFill>
              <a:srgbClr val="8A6A12"/>
            </a:solidFill>
            <a:prstDash val="solid"/>
          </a:ln>
        </p:spPr>
      </p:sp>
      <p:sp>
        <p:nvSpPr>
          <p:cNvPr id="31" name="Text 28"/>
          <p:cNvSpPr txBox="1"/>
          <p:nvPr/>
        </p:nvSpPr>
        <p:spPr>
          <a:xfrm>
            <a:off x="8119872" y="4517136"/>
            <a:ext cx="3118104" cy="182880"/>
          </a:xfrm>
          <a:prstGeom prst="rect">
            <a:avLst/>
          </a:prstGeom>
          <a:noFill/>
          <a:ln/>
        </p:spPr>
        <p:txBody>
          <a:bodyPr wrap="square" lIns="0" tIns="0" rIns="0" bIns="0" rtlCol="0" anchor="t"/>
          <a:lstStyle/>
          <a:p>
            <a:pPr algn="l" indent="0" marL="0">
              <a:buNone/>
            </a:pPr>
            <a:r>
              <a:rPr lang="en-US" sz="920" b="1" spc="110" kern="0" dirty="0">
                <a:solidFill>
                  <a:srgbClr val="8A6A12"/>
                </a:solidFill>
                <a:latin typeface="Aptos" pitchFamily="34" charset="0"/>
                <a:ea typeface="Aptos" pitchFamily="34" charset="-122"/>
                <a:cs typeface="Aptos" pitchFamily="34" charset="-120"/>
              </a:rPr>
              <a:t>ERROR FRECUENTE</a:t>
            </a:r>
            <a:endParaRPr lang="en-US" sz="920" dirty="0"/>
          </a:p>
        </p:txBody>
      </p:sp>
      <p:sp>
        <p:nvSpPr>
          <p:cNvPr id="32" name="Text 29"/>
          <p:cNvSpPr txBox="1"/>
          <p:nvPr/>
        </p:nvSpPr>
        <p:spPr>
          <a:xfrm>
            <a:off x="8119872" y="4754880"/>
            <a:ext cx="3118104" cy="640080"/>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Pedir «que pasen las pruebas» en vez de «que cada prueba pase sola».</a:t>
            </a:r>
            <a:endParaRPr lang="en-US" sz="1140" dirty="0"/>
          </a:p>
        </p:txBody>
      </p:sp>
      <p:sp>
        <p:nvSpPr>
          <p:cNvPr id="33" name="Shape 30"/>
          <p:cNvSpPr/>
          <p:nvPr/>
        </p:nvSpPr>
        <p:spPr>
          <a:xfrm>
            <a:off x="658368" y="5650992"/>
            <a:ext cx="10874959" cy="548640"/>
          </a:xfrm>
          <a:prstGeom prst="rect">
            <a:avLst/>
          </a:prstGeom>
          <a:solidFill>
            <a:srgbClr val="102A43"/>
          </a:solidFill>
          <a:ln w="12700">
            <a:solidFill>
              <a:srgbClr val="102A43"/>
            </a:solidFill>
            <a:prstDash val="solid"/>
          </a:ln>
        </p:spPr>
      </p:sp>
      <p:sp>
        <p:nvSpPr>
          <p:cNvPr id="34" name="Text 3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segunda formulación es verificable; la primera no distingue entre arreglar y disimular.</a:t>
            </a:r>
            <a:endParaRPr lang="en-US" sz="13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la pausa</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suite informa 3 passed y una de esas tres pruebas falla al ejecutarse sola. ¿Cuál de los dos resultados describe el estado del sistema?</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Pregúntate qué condición tuvo que cumplirse para que la prueba pasara, y si está escrita dentro de la prueba o le llegó de afuera.</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Un compañero cambia el alcance de function a session porque la suite tardaba, ejecuta todo y obtiene el mismo verde. ¿Qué evidencia falta?</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Acabas de ver un caso donde la suite completa pasa y el aislamiento no existe. ¿Qué ejecución distinta lo detectaría?</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Una prueba crea un registro y lo deja puesto. Nadie la ejecuta sola, la suite lleva seis meses en verde. ¿Qué dos cosas están en riesgo?</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Una es técnica y aparece cuando alguien agregue una prueba nueva. La otra tiene que ver con qué datos quedaron guardados.</a:t>
            </a:r>
            <a:endParaRPr lang="en-US" sz="114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28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2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EL QUE FALLA</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 prueba solitaria no comprobaba lo que decía: su condición previa la puso otra prueba.</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Ejecutar cada prueba sola es parte de la rutina</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Confiar en el resultado más cómodo</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FALTA EJECUTARLAS POR SEPARADO</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El verde de la suite completa es compatible con cero aislamiento: no es evidencia de que el cambio fue inocuo.</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Una señal verde puede no medir nada</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Aceptar una optimización sin medirla</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EL ORDEN Y LOS DATOS</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Se romperá cuando alguien agregue una prueba. Y hay registros acumulándose que nadie decidió conservar.</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El segundo riesgo no se arregla con más pruebas</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Ver solo el problema técnico</a:t>
            </a:r>
            <a:endParaRPr lang="en-US" sz="10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29</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3 DE 4 · 30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Qué datos pueden existir dentro de una prueba</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La lista en memoria escondía la mitad del problema: al apagar pytest no quedaba nada. Un sistema real guarda, y lo que una prueba guarda es un dato que alguien decidió crear.</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CONECTAR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Dejar de sustituir lo que se quiere observar</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AISLAR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Que el resultado no dependa del orden</a:t>
            </a:r>
            <a:endParaRPr lang="en-US" sz="920" dirty="0"/>
          </a:p>
        </p:txBody>
      </p:sp>
      <p:sp>
        <p:nvSpPr>
          <p:cNvPr id="20" name="Shape 17"/>
          <p:cNvSpPr/>
          <p:nvPr/>
        </p:nvSpPr>
        <p:spPr>
          <a:xfrm>
            <a:off x="6159856" y="4901184"/>
            <a:ext cx="2622728" cy="786384"/>
          </a:xfrm>
          <a:prstGeom prst="rect">
            <a:avLst/>
          </a:prstGeom>
          <a:solidFill>
            <a:srgbClr val="D62027"/>
          </a:solidFill>
          <a:ln w="12700">
            <a:solidFill>
              <a:srgbClr val="D6202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BORRAR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Y comprobar que se borró</a:t>
            </a:r>
            <a:endParaRPr lang="en-US" sz="920" dirty="0"/>
          </a:p>
        </p:txBody>
      </p:sp>
      <p:sp>
        <p:nvSpPr>
          <p:cNvPr id="24" name="Shape 21"/>
          <p:cNvSpPr/>
          <p:nvPr/>
        </p:nvSpPr>
        <p:spPr>
          <a:xfrm>
            <a:off x="8910599" y="4901184"/>
            <a:ext cx="2622728" cy="786384"/>
          </a:xfrm>
          <a:prstGeom prst="rect">
            <a:avLst/>
          </a:prstGeom>
          <a:solidFill>
            <a:srgbClr val="1D3A57"/>
          </a:solidFill>
          <a:ln w="12700">
            <a:solidFill>
              <a:srgbClr val="1D3A5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DECIDIR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Qué se sustituye y qué no</a:t>
            </a:r>
            <a:endParaRPr lang="en-US" sz="92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PROYECTO GUARDA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De una lista en memoria a un archivo en disco</a:t>
            </a:r>
            <a:endParaRPr lang="en-US" sz="28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SQL es el lenguaje con el que se le pide y se le escribe a una base de datos. SQLite es una base de datos completa contenida en un solo archivo: se puede abrir y mirar qué quedó escrito.</a:t>
            </a:r>
            <a:endParaRPr lang="en-US" sz="1420" dirty="0"/>
          </a:p>
        </p:txBody>
      </p:sp>
      <p:sp>
        <p:nvSpPr>
          <p:cNvPr id="11" name="Shape 8"/>
          <p:cNvSpPr/>
          <p:nvPr/>
        </p:nvSpPr>
        <p:spPr>
          <a:xfrm>
            <a:off x="658368" y="2286000"/>
            <a:ext cx="6217920" cy="2194560"/>
          </a:xfrm>
          <a:prstGeom prst="roundRect">
            <a:avLst>
              <a:gd name="adj" fmla="val 1667"/>
            </a:avLst>
          </a:prstGeom>
          <a:solidFill>
            <a:srgbClr val="102A43"/>
          </a:solidFill>
          <a:ln w="12700">
            <a:solidFill>
              <a:srgbClr val="102A43"/>
            </a:solidFill>
            <a:prstDash val="solid"/>
          </a:ln>
        </p:spPr>
      </p:sp>
      <p:sp>
        <p:nvSpPr>
          <p:cNvPr id="12" name="Shape 9"/>
          <p:cNvSpPr/>
          <p:nvPr/>
        </p:nvSpPr>
        <p:spPr>
          <a:xfrm>
            <a:off x="786384" y="2395728"/>
            <a:ext cx="596188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7424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almacen.py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797296" cy="1444752"/>
          </a:xfrm>
          <a:prstGeom prst="rect">
            <a:avLst/>
          </a:prstGeom>
        </p:spPr>
      </p:pic>
      <p:sp>
        <p:nvSpPr>
          <p:cNvPr id="15" name="Shape 11"/>
          <p:cNvSpPr/>
          <p:nvPr/>
        </p:nvSpPr>
        <p:spPr>
          <a:xfrm>
            <a:off x="7242048" y="2286000"/>
            <a:ext cx="4297680" cy="1097280"/>
          </a:xfrm>
          <a:prstGeom prst="rect">
            <a:avLst/>
          </a:prstGeom>
          <a:solidFill>
            <a:srgbClr val="FFFFFF"/>
          </a:solidFill>
          <a:ln w="12700">
            <a:solidFill>
              <a:srgbClr val="FFFFFF"/>
            </a:solidFill>
            <a:prstDash val="solid"/>
          </a:ln>
        </p:spPr>
      </p:sp>
      <p:sp>
        <p:nvSpPr>
          <p:cNvPr id="16" name="Shape 12"/>
          <p:cNvSpPr/>
          <p:nvPr/>
        </p:nvSpPr>
        <p:spPr>
          <a:xfrm>
            <a:off x="7242048" y="2286000"/>
            <a:ext cx="54864" cy="1097280"/>
          </a:xfrm>
          <a:prstGeom prst="rect">
            <a:avLst/>
          </a:prstGeom>
          <a:solidFill>
            <a:srgbClr val="B3181E"/>
          </a:solidFill>
          <a:ln w="12700">
            <a:solidFill>
              <a:srgbClr val="B3181E"/>
            </a:solidFill>
            <a:prstDash val="solid"/>
          </a:ln>
        </p:spPr>
      </p:sp>
      <p:sp>
        <p:nvSpPr>
          <p:cNvPr id="17" name="Text 13"/>
          <p:cNvSpPr txBox="1"/>
          <p:nvPr/>
        </p:nvSpPr>
        <p:spPr>
          <a:xfrm>
            <a:off x="7479792" y="2414016"/>
            <a:ext cx="3840480"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EL SIGNO ? ES UN MARCADOR DE POSICIÓN</a:t>
            </a:r>
            <a:endParaRPr lang="en-US" sz="920" dirty="0"/>
          </a:p>
        </p:txBody>
      </p:sp>
      <p:sp>
        <p:nvSpPr>
          <p:cNvPr id="18" name="Text 14"/>
          <p:cNvSpPr txBox="1"/>
          <p:nvPr/>
        </p:nvSpPr>
        <p:spPr>
          <a:xfrm>
            <a:off x="7479792" y="2670048"/>
            <a:ext cx="3840480" cy="603504"/>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Los valores nunca se pegan en el texto SQL: se pasan aparte. Pegarlos deja que un dato escrito por el usuario se ejecute como instrucción: la inyección SQL.</a:t>
            </a:r>
            <a:endParaRPr lang="en-US" sz="1210" dirty="0"/>
          </a:p>
        </p:txBody>
      </p:sp>
      <p:sp>
        <p:nvSpPr>
          <p:cNvPr id="19" name="Shape 15"/>
          <p:cNvSpPr/>
          <p:nvPr/>
        </p:nvSpPr>
        <p:spPr>
          <a:xfrm>
            <a:off x="7242048" y="3456432"/>
            <a:ext cx="4297680" cy="1097280"/>
          </a:xfrm>
          <a:prstGeom prst="rect">
            <a:avLst/>
          </a:prstGeom>
          <a:solidFill>
            <a:srgbClr val="FFFFFF"/>
          </a:solidFill>
          <a:ln w="12700">
            <a:solidFill>
              <a:srgbClr val="FFFFFF"/>
            </a:solidFill>
            <a:prstDash val="solid"/>
          </a:ln>
        </p:spPr>
      </p:sp>
      <p:sp>
        <p:nvSpPr>
          <p:cNvPr id="20" name="Shape 16"/>
          <p:cNvSpPr/>
          <p:nvPr/>
        </p:nvSpPr>
        <p:spPr>
          <a:xfrm>
            <a:off x="7242048" y="3456432"/>
            <a:ext cx="54864" cy="1097280"/>
          </a:xfrm>
          <a:prstGeom prst="rect">
            <a:avLst/>
          </a:prstGeom>
          <a:solidFill>
            <a:srgbClr val="102A43"/>
          </a:solidFill>
          <a:ln w="12700">
            <a:solidFill>
              <a:srgbClr val="102A43"/>
            </a:solidFill>
            <a:prstDash val="solid"/>
          </a:ln>
        </p:spPr>
      </p:sp>
      <p:sp>
        <p:nvSpPr>
          <p:cNvPr id="21" name="Text 17"/>
          <p:cNvSpPr txBox="1"/>
          <p:nvPr/>
        </p:nvSpPr>
        <p:spPr>
          <a:xfrm>
            <a:off x="7479792" y="3584448"/>
            <a:ext cx="384048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.FETCHONE() Y .COMMIT()</a:t>
            </a:r>
            <a:endParaRPr lang="en-US" sz="920" dirty="0"/>
          </a:p>
        </p:txBody>
      </p:sp>
      <p:sp>
        <p:nvSpPr>
          <p:cNvPr id="22" name="Text 18"/>
          <p:cNvSpPr txBox="1"/>
          <p:nvPr/>
        </p:nvSpPr>
        <p:spPr>
          <a:xfrm>
            <a:off x="7479792" y="3840480"/>
            <a:ext cx="3840480" cy="603504"/>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Devuelve la primera fila como tupla. Y .commit() confirma la escritura: sin él, lo insertado se pierde.</a:t>
            </a:r>
            <a:endParaRPr lang="en-US" sz="1210" dirty="0"/>
          </a:p>
        </p:txBody>
      </p:sp>
      <p:sp>
        <p:nvSpPr>
          <p:cNvPr id="23" name="Shape 19"/>
          <p:cNvSpPr/>
          <p:nvPr/>
        </p:nvSpPr>
        <p:spPr>
          <a:xfrm>
            <a:off x="658368" y="4626864"/>
            <a:ext cx="10874959" cy="877824"/>
          </a:xfrm>
          <a:prstGeom prst="rect">
            <a:avLst/>
          </a:prstGeom>
          <a:solidFill>
            <a:srgbClr val="EDE6DA"/>
          </a:solidFill>
          <a:ln w="12700">
            <a:solidFill>
              <a:srgbClr val="EDE6DA"/>
            </a:solidFill>
            <a:prstDash val="solid"/>
          </a:ln>
        </p:spPr>
      </p:sp>
      <p:sp>
        <p:nvSpPr>
          <p:cNvPr id="24" name="Text 20"/>
          <p:cNvSpPr txBox="1"/>
          <p:nvPr/>
        </p:nvSpPr>
        <p:spPr>
          <a:xfrm>
            <a:off x="950976" y="4754880"/>
            <a:ext cx="5486400" cy="237744"/>
          </a:xfrm>
          <a:prstGeom prst="rect">
            <a:avLst/>
          </a:prstGeom>
          <a:noFill/>
          <a:ln/>
        </p:spPr>
        <p:txBody>
          <a:bodyPr wrap="square" lIns="0" tIns="0" rIns="0" bIns="0" rtlCol="0" anchor="t"/>
          <a:lstStyle/>
          <a:p>
            <a:pPr algn="l" indent="0" marL="0">
              <a:buNone/>
            </a:pPr>
            <a:r>
              <a:rPr lang="en-US" sz="1260" b="1" dirty="0">
                <a:solidFill>
                  <a:srgbClr val="243B53"/>
                </a:solidFill>
                <a:latin typeface="Aptos" pitchFamily="34" charset="0"/>
                <a:ea typeface="Aptos" pitchFamily="34" charset="-122"/>
                <a:cs typeface="Aptos" pitchFamily="34" charset="-120"/>
              </a:rPr>
              <a:t>Dos expresiones parecidas que nombran cosas distintas</a:t>
            </a:r>
            <a:endParaRPr lang="en-US" sz="1260" dirty="0"/>
          </a:p>
        </p:txBody>
      </p:sp>
      <p:sp>
        <p:nvSpPr>
          <p:cNvPr id="25" name="Text 21"/>
          <p:cNvSpPr txBox="1"/>
          <p:nvPr/>
        </p:nvSpPr>
        <p:spPr>
          <a:xfrm>
            <a:off x="950976" y="5065776"/>
            <a:ext cx="2194560" cy="219456"/>
          </a:xfrm>
          <a:prstGeom prst="rect">
            <a:avLst/>
          </a:prstGeom>
          <a:noFill/>
          <a:ln/>
        </p:spPr>
        <p:txBody>
          <a:bodyPr wrap="square" lIns="0" tIns="0" rIns="0" bIns="0" rtlCol="0" anchor="t"/>
          <a:lstStyle/>
          <a:p>
            <a:pPr algn="l" indent="0" marL="0">
              <a:buNone/>
            </a:pPr>
            <a:r>
              <a:rPr lang="en-US" sz="1160" b="1" dirty="0">
                <a:solidFill>
                  <a:srgbClr val="102A43"/>
                </a:solidFill>
                <a:latin typeface="Aptos" pitchFamily="34" charset="0"/>
                <a:ea typeface="Aptos" pitchFamily="34" charset="-122"/>
                <a:cs typeface="Aptos" pitchFamily="34" charset="-120"/>
              </a:rPr>
              <a:t>Base de prueba</a:t>
            </a:r>
            <a:endParaRPr lang="en-US" sz="1160" dirty="0"/>
          </a:p>
        </p:txBody>
      </p:sp>
      <p:sp>
        <p:nvSpPr>
          <p:cNvPr id="26" name="Text 22"/>
          <p:cNvSpPr txBox="1"/>
          <p:nvPr/>
        </p:nvSpPr>
        <p:spPr>
          <a:xfrm>
            <a:off x="3200400" y="5065776"/>
            <a:ext cx="3200400" cy="219456"/>
          </a:xfrm>
          <a:prstGeom prst="rect">
            <a:avLst/>
          </a:prstGeom>
          <a:noFill/>
          <a:ln/>
        </p:spPr>
        <p:txBody>
          <a:bodyPr wrap="square" lIns="0" tIns="0" rIns="0" bIns="0" rtlCol="0" anchor="t"/>
          <a:lstStyle/>
          <a:p>
            <a:pPr algn="l" indent="0" marL="0">
              <a:buNone/>
            </a:pPr>
            <a:r>
              <a:rPr lang="en-US" sz="1080" dirty="0">
                <a:solidFill>
                  <a:srgbClr val="52606D"/>
                </a:solidFill>
                <a:latin typeface="Aptos" pitchFamily="34" charset="0"/>
                <a:ea typeface="Aptos" pitchFamily="34" charset="-122"/>
                <a:cs typeface="Aptos" pitchFamily="34" charset="-120"/>
              </a:rPr>
              <a:t>El documento del que salen los resultados esperados</a:t>
            </a:r>
            <a:endParaRPr lang="en-US" sz="1080" dirty="0"/>
          </a:p>
        </p:txBody>
      </p:sp>
      <p:sp>
        <p:nvSpPr>
          <p:cNvPr id="27" name="Text 23"/>
          <p:cNvSpPr txBox="1"/>
          <p:nvPr/>
        </p:nvSpPr>
        <p:spPr>
          <a:xfrm>
            <a:off x="6601968" y="5065776"/>
            <a:ext cx="2377440" cy="219456"/>
          </a:xfrm>
          <a:prstGeom prst="rect">
            <a:avLst/>
          </a:prstGeom>
          <a:noFill/>
          <a:ln/>
        </p:spPr>
        <p:txBody>
          <a:bodyPr wrap="square" lIns="0" tIns="0" rIns="0" bIns="0" rtlCol="0" anchor="t"/>
          <a:lstStyle/>
          <a:p>
            <a:pPr algn="l" indent="0" marL="0">
              <a:buNone/>
            </a:pPr>
            <a:r>
              <a:rPr lang="en-US" sz="1160" b="1" dirty="0">
                <a:solidFill>
                  <a:srgbClr val="8A6A12"/>
                </a:solidFill>
                <a:latin typeface="Aptos" pitchFamily="34" charset="0"/>
                <a:ea typeface="Aptos" pitchFamily="34" charset="-122"/>
                <a:cs typeface="Aptos" pitchFamily="34" charset="-120"/>
              </a:rPr>
              <a:t>Base de datos de prueba</a:t>
            </a:r>
            <a:endParaRPr lang="en-US" sz="1160" dirty="0"/>
          </a:p>
        </p:txBody>
      </p:sp>
      <p:sp>
        <p:nvSpPr>
          <p:cNvPr id="28" name="Text 24"/>
          <p:cNvSpPr txBox="1"/>
          <p:nvPr/>
        </p:nvSpPr>
        <p:spPr>
          <a:xfrm>
            <a:off x="9070848" y="5065776"/>
            <a:ext cx="2286000" cy="219456"/>
          </a:xfrm>
          <a:prstGeom prst="rect">
            <a:avLst/>
          </a:prstGeom>
          <a:noFill/>
          <a:ln/>
        </p:spPr>
        <p:txBody>
          <a:bodyPr wrap="square" lIns="0" tIns="0" rIns="0" bIns="0" rtlCol="0" anchor="t"/>
          <a:lstStyle/>
          <a:p>
            <a:pPr algn="l" indent="0" marL="0">
              <a:buNone/>
            </a:pPr>
            <a:r>
              <a:rPr lang="en-US" sz="1080" dirty="0">
                <a:solidFill>
                  <a:srgbClr val="52606D"/>
                </a:solidFill>
                <a:latin typeface="Aptos" pitchFamily="34" charset="0"/>
                <a:ea typeface="Aptos" pitchFamily="34" charset="-122"/>
                <a:cs typeface="Aptos" pitchFamily="34" charset="-120"/>
              </a:rPr>
              <a:t>El archivo donde el sistema guarda al ejecutarse</a:t>
            </a:r>
            <a:endParaRPr lang="en-US" sz="1080" dirty="0"/>
          </a:p>
        </p:txBody>
      </p:sp>
      <p:sp>
        <p:nvSpPr>
          <p:cNvPr id="29" name="Shape 25"/>
          <p:cNvSpPr/>
          <p:nvPr/>
        </p:nvSpPr>
        <p:spPr>
          <a:xfrm>
            <a:off x="658368" y="5650992"/>
            <a:ext cx="10874959" cy="548640"/>
          </a:xfrm>
          <a:prstGeom prst="rect">
            <a:avLst/>
          </a:prstGeom>
          <a:solidFill>
            <a:srgbClr val="102A43"/>
          </a:solidFill>
          <a:ln w="12700">
            <a:solidFill>
              <a:srgbClr val="102A43"/>
            </a:solidFill>
            <a:prstDash val="solid"/>
          </a:ln>
        </p:spPr>
      </p:sp>
      <p:sp>
        <p:nvSpPr>
          <p:cNvPr id="30" name="Text 2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Cada prueba que acepte una reserva escribe una fila en un archivo. Alguien responde por ella.</a:t>
            </a:r>
            <a:endParaRPr lang="en-US" sz="13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FRASE QUE HAY QUE DESMONTAR</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«Es solo el ambiente de pruebas»</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Es la frase que autoriza todos los atajos que vienen después. La guía de protección de datos del módulo la contesta directo.</a:t>
            </a:r>
            <a:endParaRPr lang="en-US" sz="1420" dirty="0"/>
          </a:p>
        </p:txBody>
      </p:sp>
      <p:sp>
        <p:nvSpPr>
          <p:cNvPr id="11" name="Shape 8"/>
          <p:cNvSpPr/>
          <p:nvPr/>
        </p:nvSpPr>
        <p:spPr>
          <a:xfrm>
            <a:off x="658368" y="2249424"/>
            <a:ext cx="10874959" cy="676656"/>
          </a:xfrm>
          <a:prstGeom prst="rect">
            <a:avLst/>
          </a:prstGeom>
          <a:solidFill>
            <a:srgbClr val="1D3A57"/>
          </a:solidFill>
          <a:ln w="12700">
            <a:solidFill>
              <a:srgbClr val="1D3A57"/>
            </a:solidFill>
            <a:prstDash val="solid"/>
          </a:ln>
        </p:spPr>
      </p:sp>
      <p:sp>
        <p:nvSpPr>
          <p:cNvPr id="12" name="Text 9"/>
          <p:cNvSpPr txBox="1"/>
          <p:nvPr/>
        </p:nvSpPr>
        <p:spPr>
          <a:xfrm>
            <a:off x="950976" y="2377440"/>
            <a:ext cx="10289743" cy="420624"/>
          </a:xfrm>
          <a:prstGeom prst="rect">
            <a:avLst/>
          </a:prstGeom>
          <a:noFill/>
          <a:ln/>
        </p:spPr>
        <p:txBody>
          <a:bodyPr wrap="square" lIns="0" tIns="0" rIns="0" bIns="0" rtlCol="0" anchor="ctr"/>
          <a:lstStyle/>
          <a:p>
            <a:pPr algn="ctr" indent="0" marL="0">
              <a:buNone/>
            </a:pPr>
            <a:r>
              <a:rPr lang="en-US" sz="1340" b="1" dirty="0">
                <a:solidFill>
                  <a:srgbClr val="E0BC5A"/>
                </a:solidFill>
                <a:latin typeface="Aptos" pitchFamily="34" charset="0"/>
                <a:ea typeface="Aptos" pitchFamily="34" charset="-122"/>
                <a:cs typeface="Aptos" pitchFamily="34" charset="-120"/>
              </a:rPr>
              <a:t>«Un ambiente no productivo sigue siendo tratamiento de datos. La etiqueta test no reduce el daño posible ni reemplaza los controles.»</a:t>
            </a:r>
            <a:endParaRPr lang="en-US" sz="1340" dirty="0"/>
          </a:p>
        </p:txBody>
      </p:sp>
      <p:sp>
        <p:nvSpPr>
          <p:cNvPr id="13" name="Shape 10"/>
          <p:cNvSpPr/>
          <p:nvPr/>
        </p:nvSpPr>
        <p:spPr>
          <a:xfrm>
            <a:off x="658368" y="3017520"/>
            <a:ext cx="5340096" cy="1956816"/>
          </a:xfrm>
          <a:prstGeom prst="rect">
            <a:avLst/>
          </a:prstGeom>
          <a:solidFill>
            <a:srgbClr val="EDE6DA"/>
          </a:solidFill>
          <a:ln w="12700">
            <a:solidFill>
              <a:srgbClr val="EDE6DA"/>
            </a:solidFill>
            <a:prstDash val="solid"/>
          </a:ln>
        </p:spPr>
      </p:sp>
      <p:sp>
        <p:nvSpPr>
          <p:cNvPr id="14" name="Shape 11"/>
          <p:cNvSpPr/>
          <p:nvPr/>
        </p:nvSpPr>
        <p:spPr>
          <a:xfrm>
            <a:off x="658368" y="3017520"/>
            <a:ext cx="5340096" cy="54864"/>
          </a:xfrm>
          <a:prstGeom prst="rect">
            <a:avLst/>
          </a:prstGeom>
          <a:solidFill>
            <a:srgbClr val="2E7D4F"/>
          </a:solidFill>
          <a:ln w="12700">
            <a:solidFill>
              <a:srgbClr val="2E7D4F"/>
            </a:solidFill>
            <a:prstDash val="solid"/>
          </a:ln>
        </p:spPr>
      </p:sp>
      <p:sp>
        <p:nvSpPr>
          <p:cNvPr id="15" name="Text 12"/>
          <p:cNvSpPr txBox="1"/>
          <p:nvPr/>
        </p:nvSpPr>
        <p:spPr>
          <a:xfrm>
            <a:off x="932688" y="3163824"/>
            <a:ext cx="4791456" cy="201168"/>
          </a:xfrm>
          <a:prstGeom prst="rect">
            <a:avLst/>
          </a:prstGeom>
          <a:noFill/>
          <a:ln/>
        </p:spPr>
        <p:txBody>
          <a:bodyPr wrap="square" lIns="0" tIns="0" rIns="0" bIns="0" rtlCol="0" anchor="t"/>
          <a:lstStyle/>
          <a:p>
            <a:pPr algn="l" indent="0" marL="0">
              <a:buNone/>
            </a:pPr>
            <a:r>
              <a:rPr lang="en-US" sz="940" b="1" spc="110" kern="0" dirty="0">
                <a:solidFill>
                  <a:srgbClr val="2E7D4F"/>
                </a:solidFill>
                <a:latin typeface="Aptos" pitchFamily="34" charset="0"/>
                <a:ea typeface="Aptos" pitchFamily="34" charset="-122"/>
                <a:cs typeface="Aptos" pitchFamily="34" charset="-120"/>
              </a:rPr>
              <a:t>SÍ · DISEÑAR PARA REDUCIR RIESGO</a:t>
            </a:r>
            <a:endParaRPr lang="en-US" sz="940" dirty="0"/>
          </a:p>
        </p:txBody>
      </p:sp>
      <p:sp>
        <p:nvSpPr>
          <p:cNvPr id="16" name="Shape 13"/>
          <p:cNvSpPr/>
          <p:nvPr/>
        </p:nvSpPr>
        <p:spPr>
          <a:xfrm>
            <a:off x="932688" y="3483864"/>
            <a:ext cx="45720" cy="219456"/>
          </a:xfrm>
          <a:prstGeom prst="rect">
            <a:avLst/>
          </a:prstGeom>
          <a:solidFill>
            <a:srgbClr val="2E7D4F"/>
          </a:solidFill>
          <a:ln w="12700">
            <a:solidFill>
              <a:srgbClr val="2E7D4F"/>
            </a:solidFill>
            <a:prstDash val="solid"/>
          </a:ln>
        </p:spPr>
      </p:sp>
      <p:sp>
        <p:nvSpPr>
          <p:cNvPr id="17" name="Text 14"/>
          <p:cNvSpPr txBox="1"/>
          <p:nvPr/>
        </p:nvSpPr>
        <p:spPr>
          <a:xfrm>
            <a:off x="1115568" y="3438144"/>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Datos sintéticos por defecto</a:t>
            </a:r>
            <a:endParaRPr lang="en-US" sz="1160" dirty="0"/>
          </a:p>
        </p:txBody>
      </p:sp>
      <p:sp>
        <p:nvSpPr>
          <p:cNvPr id="18" name="Shape 15"/>
          <p:cNvSpPr/>
          <p:nvPr/>
        </p:nvSpPr>
        <p:spPr>
          <a:xfrm>
            <a:off x="932688" y="3785616"/>
            <a:ext cx="45720" cy="219456"/>
          </a:xfrm>
          <a:prstGeom prst="rect">
            <a:avLst/>
          </a:prstGeom>
          <a:solidFill>
            <a:srgbClr val="2E7D4F"/>
          </a:solidFill>
          <a:ln w="12700">
            <a:solidFill>
              <a:srgbClr val="2E7D4F"/>
            </a:solidFill>
            <a:prstDash val="solid"/>
          </a:ln>
        </p:spPr>
      </p:sp>
      <p:sp>
        <p:nvSpPr>
          <p:cNvPr id="19" name="Text 16"/>
          <p:cNvSpPr txBox="1"/>
          <p:nvPr/>
        </p:nvSpPr>
        <p:spPr>
          <a:xfrm>
            <a:off x="1115568" y="3739896"/>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Subconjuntos mínimos y aislados</a:t>
            </a:r>
            <a:endParaRPr lang="en-US" sz="1160" dirty="0"/>
          </a:p>
        </p:txBody>
      </p:sp>
      <p:sp>
        <p:nvSpPr>
          <p:cNvPr id="20" name="Shape 17"/>
          <p:cNvSpPr/>
          <p:nvPr/>
        </p:nvSpPr>
        <p:spPr>
          <a:xfrm>
            <a:off x="932688" y="4087368"/>
            <a:ext cx="45720" cy="219456"/>
          </a:xfrm>
          <a:prstGeom prst="rect">
            <a:avLst/>
          </a:prstGeom>
          <a:solidFill>
            <a:srgbClr val="2E7D4F"/>
          </a:solidFill>
          <a:ln w="12700">
            <a:solidFill>
              <a:srgbClr val="2E7D4F"/>
            </a:solidFill>
            <a:prstDash val="solid"/>
          </a:ln>
        </p:spPr>
      </p:sp>
      <p:sp>
        <p:nvSpPr>
          <p:cNvPr id="21" name="Text 18"/>
          <p:cNvSpPr txBox="1"/>
          <p:nvPr/>
        </p:nvSpPr>
        <p:spPr>
          <a:xfrm>
            <a:off x="1115568" y="4041648"/>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Accesos temporales y auditables</a:t>
            </a:r>
            <a:endParaRPr lang="en-US" sz="1160" dirty="0"/>
          </a:p>
        </p:txBody>
      </p:sp>
      <p:sp>
        <p:nvSpPr>
          <p:cNvPr id="22" name="Shape 19"/>
          <p:cNvSpPr/>
          <p:nvPr/>
        </p:nvSpPr>
        <p:spPr>
          <a:xfrm>
            <a:off x="932688" y="4389120"/>
            <a:ext cx="45720" cy="219456"/>
          </a:xfrm>
          <a:prstGeom prst="rect">
            <a:avLst/>
          </a:prstGeom>
          <a:solidFill>
            <a:srgbClr val="2E7D4F"/>
          </a:solidFill>
          <a:ln w="12700">
            <a:solidFill>
              <a:srgbClr val="2E7D4F"/>
            </a:solidFill>
            <a:prstDash val="solid"/>
          </a:ln>
        </p:spPr>
      </p:sp>
      <p:sp>
        <p:nvSpPr>
          <p:cNvPr id="23" name="Text 20"/>
          <p:cNvSpPr txBox="1"/>
          <p:nvPr/>
        </p:nvSpPr>
        <p:spPr>
          <a:xfrm>
            <a:off x="1115568" y="4343400"/>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Borrado verificable al terminar</a:t>
            </a:r>
            <a:endParaRPr lang="en-US" sz="1160" dirty="0"/>
          </a:p>
        </p:txBody>
      </p:sp>
      <p:sp>
        <p:nvSpPr>
          <p:cNvPr id="24" name="Shape 21"/>
          <p:cNvSpPr/>
          <p:nvPr/>
        </p:nvSpPr>
        <p:spPr>
          <a:xfrm>
            <a:off x="932688" y="4690872"/>
            <a:ext cx="45720" cy="219456"/>
          </a:xfrm>
          <a:prstGeom prst="rect">
            <a:avLst/>
          </a:prstGeom>
          <a:solidFill>
            <a:srgbClr val="2E7D4F"/>
          </a:solidFill>
          <a:ln w="12700">
            <a:solidFill>
              <a:srgbClr val="2E7D4F"/>
            </a:solidFill>
            <a:prstDash val="solid"/>
          </a:ln>
        </p:spPr>
      </p:sp>
      <p:sp>
        <p:nvSpPr>
          <p:cNvPr id="25" name="Text 22"/>
          <p:cNvSpPr txBox="1"/>
          <p:nvPr/>
        </p:nvSpPr>
        <p:spPr>
          <a:xfrm>
            <a:off x="1115568" y="4645152"/>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Casos de prueba para derechos y fallas</a:t>
            </a:r>
            <a:endParaRPr lang="en-US" sz="1160" dirty="0"/>
          </a:p>
        </p:txBody>
      </p:sp>
      <p:sp>
        <p:nvSpPr>
          <p:cNvPr id="26" name="Shape 23"/>
          <p:cNvSpPr/>
          <p:nvPr/>
        </p:nvSpPr>
        <p:spPr>
          <a:xfrm>
            <a:off x="6190488" y="3017520"/>
            <a:ext cx="5340096" cy="1956816"/>
          </a:xfrm>
          <a:prstGeom prst="rect">
            <a:avLst/>
          </a:prstGeom>
          <a:solidFill>
            <a:srgbClr val="F2E7D9"/>
          </a:solidFill>
          <a:ln w="12700">
            <a:solidFill>
              <a:srgbClr val="F2E7D9"/>
            </a:solidFill>
            <a:prstDash val="solid"/>
          </a:ln>
        </p:spPr>
      </p:sp>
      <p:sp>
        <p:nvSpPr>
          <p:cNvPr id="27" name="Shape 24"/>
          <p:cNvSpPr/>
          <p:nvPr/>
        </p:nvSpPr>
        <p:spPr>
          <a:xfrm>
            <a:off x="6190488" y="3017520"/>
            <a:ext cx="5340096" cy="54864"/>
          </a:xfrm>
          <a:prstGeom prst="rect">
            <a:avLst/>
          </a:prstGeom>
          <a:solidFill>
            <a:srgbClr val="B3181E"/>
          </a:solidFill>
          <a:ln w="12700">
            <a:solidFill>
              <a:srgbClr val="B3181E"/>
            </a:solidFill>
            <a:prstDash val="solid"/>
          </a:ln>
        </p:spPr>
      </p:sp>
      <p:sp>
        <p:nvSpPr>
          <p:cNvPr id="28" name="Text 25"/>
          <p:cNvSpPr txBox="1"/>
          <p:nvPr/>
        </p:nvSpPr>
        <p:spPr>
          <a:xfrm>
            <a:off x="6464808" y="3163824"/>
            <a:ext cx="4791456" cy="201168"/>
          </a:xfrm>
          <a:prstGeom prst="rect">
            <a:avLst/>
          </a:prstGeom>
          <a:noFill/>
          <a:ln/>
        </p:spPr>
        <p:txBody>
          <a:bodyPr wrap="square" lIns="0" tIns="0" rIns="0" bIns="0" rtlCol="0" anchor="t"/>
          <a:lstStyle/>
          <a:p>
            <a:pPr algn="l" indent="0" marL="0">
              <a:buNone/>
            </a:pPr>
            <a:r>
              <a:rPr lang="en-US" sz="940" b="1" spc="110" kern="0" dirty="0">
                <a:solidFill>
                  <a:srgbClr val="B3181E"/>
                </a:solidFill>
                <a:latin typeface="Aptos" pitchFamily="34" charset="0"/>
                <a:ea typeface="Aptos" pitchFamily="34" charset="-122"/>
                <a:cs typeface="Aptos" pitchFamily="34" charset="-120"/>
              </a:rPr>
              <a:t>NO · NORMALIZAR ATAJOS PELIGROSOS</a:t>
            </a:r>
            <a:endParaRPr lang="en-US" sz="940" dirty="0"/>
          </a:p>
        </p:txBody>
      </p:sp>
      <p:sp>
        <p:nvSpPr>
          <p:cNvPr id="29" name="Shape 26"/>
          <p:cNvSpPr/>
          <p:nvPr/>
        </p:nvSpPr>
        <p:spPr>
          <a:xfrm>
            <a:off x="6464808" y="3483864"/>
            <a:ext cx="45720" cy="219456"/>
          </a:xfrm>
          <a:prstGeom prst="rect">
            <a:avLst/>
          </a:prstGeom>
          <a:solidFill>
            <a:srgbClr val="B3181E"/>
          </a:solidFill>
          <a:ln w="12700">
            <a:solidFill>
              <a:srgbClr val="B3181E"/>
            </a:solidFill>
            <a:prstDash val="solid"/>
          </a:ln>
        </p:spPr>
      </p:sp>
      <p:sp>
        <p:nvSpPr>
          <p:cNvPr id="30" name="Text 27"/>
          <p:cNvSpPr txBox="1"/>
          <p:nvPr/>
        </p:nvSpPr>
        <p:spPr>
          <a:xfrm>
            <a:off x="6647688" y="3438144"/>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Copiar producción completa</a:t>
            </a:r>
            <a:endParaRPr lang="en-US" sz="1160" dirty="0"/>
          </a:p>
        </p:txBody>
      </p:sp>
      <p:sp>
        <p:nvSpPr>
          <p:cNvPr id="31" name="Shape 28"/>
          <p:cNvSpPr/>
          <p:nvPr/>
        </p:nvSpPr>
        <p:spPr>
          <a:xfrm>
            <a:off x="6464808" y="3785616"/>
            <a:ext cx="45720" cy="219456"/>
          </a:xfrm>
          <a:prstGeom prst="rect">
            <a:avLst/>
          </a:prstGeom>
          <a:solidFill>
            <a:srgbClr val="B3181E"/>
          </a:solidFill>
          <a:ln w="12700">
            <a:solidFill>
              <a:srgbClr val="B3181E"/>
            </a:solidFill>
            <a:prstDash val="solid"/>
          </a:ln>
        </p:spPr>
      </p:sp>
      <p:sp>
        <p:nvSpPr>
          <p:cNvPr id="32" name="Text 29"/>
          <p:cNvSpPr txBox="1"/>
          <p:nvPr/>
        </p:nvSpPr>
        <p:spPr>
          <a:xfrm>
            <a:off x="6647688" y="3739896"/>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Compartir dumps por canales informales</a:t>
            </a:r>
            <a:endParaRPr lang="en-US" sz="1160" dirty="0"/>
          </a:p>
        </p:txBody>
      </p:sp>
      <p:sp>
        <p:nvSpPr>
          <p:cNvPr id="33" name="Shape 30"/>
          <p:cNvSpPr/>
          <p:nvPr/>
        </p:nvSpPr>
        <p:spPr>
          <a:xfrm>
            <a:off x="6464808" y="4087368"/>
            <a:ext cx="45720" cy="219456"/>
          </a:xfrm>
          <a:prstGeom prst="rect">
            <a:avLst/>
          </a:prstGeom>
          <a:solidFill>
            <a:srgbClr val="B3181E"/>
          </a:solidFill>
          <a:ln w="12700">
            <a:solidFill>
              <a:srgbClr val="B3181E"/>
            </a:solidFill>
            <a:prstDash val="solid"/>
          </a:ln>
        </p:spPr>
      </p:sp>
      <p:sp>
        <p:nvSpPr>
          <p:cNvPr id="34" name="Text 31"/>
          <p:cNvSpPr txBox="1"/>
          <p:nvPr/>
        </p:nvSpPr>
        <p:spPr>
          <a:xfrm>
            <a:off x="6647688" y="4041648"/>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Dejar credenciales o enlaces permanentes</a:t>
            </a:r>
            <a:endParaRPr lang="en-US" sz="1160" dirty="0"/>
          </a:p>
        </p:txBody>
      </p:sp>
      <p:sp>
        <p:nvSpPr>
          <p:cNvPr id="35" name="Shape 32"/>
          <p:cNvSpPr/>
          <p:nvPr/>
        </p:nvSpPr>
        <p:spPr>
          <a:xfrm>
            <a:off x="6464808" y="4389120"/>
            <a:ext cx="45720" cy="219456"/>
          </a:xfrm>
          <a:prstGeom prst="rect">
            <a:avLst/>
          </a:prstGeom>
          <a:solidFill>
            <a:srgbClr val="B3181E"/>
          </a:solidFill>
          <a:ln w="12700">
            <a:solidFill>
              <a:srgbClr val="B3181E"/>
            </a:solidFill>
            <a:prstDash val="solid"/>
          </a:ln>
        </p:spPr>
      </p:sp>
      <p:sp>
        <p:nvSpPr>
          <p:cNvPr id="36" name="Text 33"/>
          <p:cNvSpPr txBox="1"/>
          <p:nvPr/>
        </p:nvSpPr>
        <p:spPr>
          <a:xfrm>
            <a:off x="6647688" y="4343400"/>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Confundir seudonimizar con anonimizar</a:t>
            </a:r>
            <a:endParaRPr lang="en-US" sz="1160" dirty="0"/>
          </a:p>
        </p:txBody>
      </p:sp>
      <p:sp>
        <p:nvSpPr>
          <p:cNvPr id="37" name="Shape 34"/>
          <p:cNvSpPr/>
          <p:nvPr/>
        </p:nvSpPr>
        <p:spPr>
          <a:xfrm>
            <a:off x="6464808" y="4690872"/>
            <a:ext cx="45720" cy="219456"/>
          </a:xfrm>
          <a:prstGeom prst="rect">
            <a:avLst/>
          </a:prstGeom>
          <a:solidFill>
            <a:srgbClr val="B3181E"/>
          </a:solidFill>
          <a:ln w="12700">
            <a:solidFill>
              <a:srgbClr val="B3181E"/>
            </a:solidFill>
            <a:prstDash val="solid"/>
          </a:ln>
        </p:spPr>
      </p:sp>
      <p:sp>
        <p:nvSpPr>
          <p:cNvPr id="38" name="Text 35"/>
          <p:cNvSpPr txBox="1"/>
          <p:nvPr/>
        </p:nvSpPr>
        <p:spPr>
          <a:xfrm>
            <a:off x="6647688" y="4645152"/>
            <a:ext cx="4608576" cy="274320"/>
          </a:xfrm>
          <a:prstGeom prst="rect">
            <a:avLst/>
          </a:prstGeom>
          <a:noFill/>
          <a:ln/>
        </p:spPr>
        <p:txBody>
          <a:bodyPr wrap="square" lIns="0" tIns="0" rIns="0" bIns="0" rtlCol="0" anchor="t"/>
          <a:lstStyle/>
          <a:p>
            <a:pPr algn="l" indent="0" marL="0">
              <a:buNone/>
            </a:pPr>
            <a:r>
              <a:rPr lang="en-US" sz="1160" dirty="0">
                <a:solidFill>
                  <a:srgbClr val="243B53"/>
                </a:solidFill>
                <a:latin typeface="Aptos" pitchFamily="34" charset="0"/>
                <a:ea typeface="Aptos" pitchFamily="34" charset="-122"/>
                <a:cs typeface="Aptos" pitchFamily="34" charset="-120"/>
              </a:rPr>
              <a:t>Conservar datos sin dueño ni plazo</a:t>
            </a:r>
            <a:endParaRPr lang="en-US" sz="1160" dirty="0"/>
          </a:p>
        </p:txBody>
      </p:sp>
      <p:sp>
        <p:nvSpPr>
          <p:cNvPr id="39" name="Shape 36"/>
          <p:cNvSpPr/>
          <p:nvPr/>
        </p:nvSpPr>
        <p:spPr>
          <a:xfrm>
            <a:off x="658368" y="5029200"/>
            <a:ext cx="2624328" cy="566928"/>
          </a:xfrm>
          <a:prstGeom prst="rect">
            <a:avLst/>
          </a:prstGeom>
          <a:solidFill>
            <a:srgbClr val="FFFFFF"/>
          </a:solidFill>
          <a:ln w="12700">
            <a:solidFill>
              <a:srgbClr val="FFFFFF"/>
            </a:solidFill>
            <a:prstDash val="solid"/>
          </a:ln>
        </p:spPr>
      </p:sp>
      <p:sp>
        <p:nvSpPr>
          <p:cNvPr id="40" name="Text 37"/>
          <p:cNvSpPr txBox="1"/>
          <p:nvPr/>
        </p:nvSpPr>
        <p:spPr>
          <a:xfrm>
            <a:off x="822960" y="5084064"/>
            <a:ext cx="2295144" cy="164592"/>
          </a:xfrm>
          <a:prstGeom prst="rect">
            <a:avLst/>
          </a:prstGeom>
          <a:noFill/>
          <a:ln/>
        </p:spPr>
        <p:txBody>
          <a:bodyPr wrap="square" lIns="0" tIns="0" rIns="0" bIns="0" rtlCol="0" anchor="t"/>
          <a:lstStyle/>
          <a:p>
            <a:pPr algn="l" indent="0" marL="0">
              <a:buNone/>
            </a:pPr>
            <a:r>
              <a:rPr lang="en-US" sz="1060" b="1" dirty="0">
                <a:solidFill>
                  <a:srgbClr val="102A43"/>
                </a:solidFill>
                <a:latin typeface="Aptos" pitchFamily="34" charset="0"/>
                <a:ea typeface="Aptos" pitchFamily="34" charset="-122"/>
                <a:cs typeface="Aptos" pitchFamily="34" charset="-120"/>
              </a:rPr>
              <a:t>Sintético</a:t>
            </a:r>
            <a:endParaRPr lang="en-US" sz="1060" dirty="0"/>
          </a:p>
        </p:txBody>
      </p:sp>
      <p:sp>
        <p:nvSpPr>
          <p:cNvPr id="41" name="Text 38"/>
          <p:cNvSpPr txBox="1"/>
          <p:nvPr/>
        </p:nvSpPr>
        <p:spPr>
          <a:xfrm>
            <a:off x="822960" y="5266944"/>
            <a:ext cx="2295144" cy="292608"/>
          </a:xfrm>
          <a:prstGeom prst="rect">
            <a:avLst/>
          </a:prstGeom>
          <a:noFill/>
          <a:ln/>
        </p:spPr>
        <p:txBody>
          <a:bodyPr wrap="square" lIns="0" tIns="0" rIns="0" bIns="0" rtlCol="0" anchor="t"/>
          <a:lstStyle/>
          <a:p>
            <a:pPr algn="l" indent="0" marL="0">
              <a:lnSpc>
                <a:spcPct val="104000"/>
              </a:lnSpc>
              <a:buNone/>
            </a:pPr>
            <a:r>
              <a:rPr lang="en-US" sz="880" dirty="0">
                <a:solidFill>
                  <a:srgbClr val="52606D"/>
                </a:solidFill>
                <a:latin typeface="Aptos" pitchFamily="34" charset="0"/>
                <a:ea typeface="Aptos" pitchFamily="34" charset="-122"/>
                <a:cs typeface="Aptos" pitchFamily="34" charset="-120"/>
              </a:rPr>
              <a:t>Inventado para la prueba; no corresponde a ninguna persona</a:t>
            </a:r>
            <a:endParaRPr lang="en-US" sz="880" dirty="0"/>
          </a:p>
        </p:txBody>
      </p:sp>
      <p:sp>
        <p:nvSpPr>
          <p:cNvPr id="42" name="Shape 39"/>
          <p:cNvSpPr/>
          <p:nvPr/>
        </p:nvSpPr>
        <p:spPr>
          <a:xfrm>
            <a:off x="3406140" y="5029200"/>
            <a:ext cx="2624328" cy="566928"/>
          </a:xfrm>
          <a:prstGeom prst="rect">
            <a:avLst/>
          </a:prstGeom>
          <a:solidFill>
            <a:srgbClr val="FFFFFF"/>
          </a:solidFill>
          <a:ln w="12700">
            <a:solidFill>
              <a:srgbClr val="FFFFFF"/>
            </a:solidFill>
            <a:prstDash val="solid"/>
          </a:ln>
        </p:spPr>
      </p:sp>
      <p:sp>
        <p:nvSpPr>
          <p:cNvPr id="43" name="Text 40"/>
          <p:cNvSpPr txBox="1"/>
          <p:nvPr/>
        </p:nvSpPr>
        <p:spPr>
          <a:xfrm>
            <a:off x="3570732" y="5084064"/>
            <a:ext cx="2295144" cy="164592"/>
          </a:xfrm>
          <a:prstGeom prst="rect">
            <a:avLst/>
          </a:prstGeom>
          <a:noFill/>
          <a:ln/>
        </p:spPr>
        <p:txBody>
          <a:bodyPr wrap="square" lIns="0" tIns="0" rIns="0" bIns="0" rtlCol="0" anchor="t"/>
          <a:lstStyle/>
          <a:p>
            <a:pPr algn="l" indent="0" marL="0">
              <a:buNone/>
            </a:pPr>
            <a:r>
              <a:rPr lang="en-US" sz="1060" b="1" dirty="0">
                <a:solidFill>
                  <a:srgbClr val="102A43"/>
                </a:solidFill>
                <a:latin typeface="Aptos" pitchFamily="34" charset="0"/>
                <a:ea typeface="Aptos" pitchFamily="34" charset="-122"/>
                <a:cs typeface="Aptos" pitchFamily="34" charset="-120"/>
              </a:rPr>
              <a:t>Seudonimizar</a:t>
            </a:r>
            <a:endParaRPr lang="en-US" sz="1060" dirty="0"/>
          </a:p>
        </p:txBody>
      </p:sp>
      <p:sp>
        <p:nvSpPr>
          <p:cNvPr id="44" name="Text 41"/>
          <p:cNvSpPr txBox="1"/>
          <p:nvPr/>
        </p:nvSpPr>
        <p:spPr>
          <a:xfrm>
            <a:off x="3570732" y="5266944"/>
            <a:ext cx="2295144" cy="292608"/>
          </a:xfrm>
          <a:prstGeom prst="rect">
            <a:avLst/>
          </a:prstGeom>
          <a:noFill/>
          <a:ln/>
        </p:spPr>
        <p:txBody>
          <a:bodyPr wrap="square" lIns="0" tIns="0" rIns="0" bIns="0" rtlCol="0" anchor="t"/>
          <a:lstStyle/>
          <a:p>
            <a:pPr algn="l" indent="0" marL="0">
              <a:lnSpc>
                <a:spcPct val="104000"/>
              </a:lnSpc>
              <a:buNone/>
            </a:pPr>
            <a:r>
              <a:rPr lang="en-US" sz="880" dirty="0">
                <a:solidFill>
                  <a:srgbClr val="52606D"/>
                </a:solidFill>
                <a:latin typeface="Aptos" pitchFamily="34" charset="0"/>
                <a:ea typeface="Aptos" pitchFamily="34" charset="-122"/>
                <a:cs typeface="Aptos" pitchFamily="34" charset="-120"/>
              </a:rPr>
              <a:t>Cambiar el identificador por un código: siguen siendo datos personales</a:t>
            </a:r>
            <a:endParaRPr lang="en-US" sz="880" dirty="0"/>
          </a:p>
        </p:txBody>
      </p:sp>
      <p:sp>
        <p:nvSpPr>
          <p:cNvPr id="45" name="Shape 42"/>
          <p:cNvSpPr/>
          <p:nvPr/>
        </p:nvSpPr>
        <p:spPr>
          <a:xfrm>
            <a:off x="6153912" y="5029200"/>
            <a:ext cx="2624328" cy="566928"/>
          </a:xfrm>
          <a:prstGeom prst="rect">
            <a:avLst/>
          </a:prstGeom>
          <a:solidFill>
            <a:srgbClr val="FFFFFF"/>
          </a:solidFill>
          <a:ln w="12700">
            <a:solidFill>
              <a:srgbClr val="FFFFFF"/>
            </a:solidFill>
            <a:prstDash val="solid"/>
          </a:ln>
        </p:spPr>
      </p:sp>
      <p:sp>
        <p:nvSpPr>
          <p:cNvPr id="46" name="Text 43"/>
          <p:cNvSpPr txBox="1"/>
          <p:nvPr/>
        </p:nvSpPr>
        <p:spPr>
          <a:xfrm>
            <a:off x="6318504" y="5084064"/>
            <a:ext cx="2295144" cy="164592"/>
          </a:xfrm>
          <a:prstGeom prst="rect">
            <a:avLst/>
          </a:prstGeom>
          <a:noFill/>
          <a:ln/>
        </p:spPr>
        <p:txBody>
          <a:bodyPr wrap="square" lIns="0" tIns="0" rIns="0" bIns="0" rtlCol="0" anchor="t"/>
          <a:lstStyle/>
          <a:p>
            <a:pPr algn="l" indent="0" marL="0">
              <a:buNone/>
            </a:pPr>
            <a:r>
              <a:rPr lang="en-US" sz="1060" b="1" dirty="0">
                <a:solidFill>
                  <a:srgbClr val="102A43"/>
                </a:solidFill>
                <a:latin typeface="Aptos" pitchFamily="34" charset="0"/>
                <a:ea typeface="Aptos" pitchFamily="34" charset="-122"/>
                <a:cs typeface="Aptos" pitchFamily="34" charset="-120"/>
              </a:rPr>
              <a:t>Anonimizar</a:t>
            </a:r>
            <a:endParaRPr lang="en-US" sz="1060" dirty="0"/>
          </a:p>
        </p:txBody>
      </p:sp>
      <p:sp>
        <p:nvSpPr>
          <p:cNvPr id="47" name="Text 44"/>
          <p:cNvSpPr txBox="1"/>
          <p:nvPr/>
        </p:nvSpPr>
        <p:spPr>
          <a:xfrm>
            <a:off x="6318504" y="5266944"/>
            <a:ext cx="2295144" cy="292608"/>
          </a:xfrm>
          <a:prstGeom prst="rect">
            <a:avLst/>
          </a:prstGeom>
          <a:noFill/>
          <a:ln/>
        </p:spPr>
        <p:txBody>
          <a:bodyPr wrap="square" lIns="0" tIns="0" rIns="0" bIns="0" rtlCol="0" anchor="t"/>
          <a:lstStyle/>
          <a:p>
            <a:pPr algn="l" indent="0" marL="0">
              <a:lnSpc>
                <a:spcPct val="104000"/>
              </a:lnSpc>
              <a:buNone/>
            </a:pPr>
            <a:r>
              <a:rPr lang="en-US" sz="880" dirty="0">
                <a:solidFill>
                  <a:srgbClr val="52606D"/>
                </a:solidFill>
                <a:latin typeface="Aptos" pitchFamily="34" charset="0"/>
                <a:ea typeface="Aptos" pitchFamily="34" charset="-122"/>
                <a:cs typeface="Aptos" pitchFamily="34" charset="-120"/>
              </a:rPr>
              <a:t>Quitar toda posibilidad de reidentificar; no es lo mismo que renombrar</a:t>
            </a:r>
            <a:endParaRPr lang="en-US" sz="880" dirty="0"/>
          </a:p>
        </p:txBody>
      </p:sp>
      <p:sp>
        <p:nvSpPr>
          <p:cNvPr id="48" name="Shape 45"/>
          <p:cNvSpPr/>
          <p:nvPr/>
        </p:nvSpPr>
        <p:spPr>
          <a:xfrm>
            <a:off x="8901684" y="5029200"/>
            <a:ext cx="2624328" cy="566928"/>
          </a:xfrm>
          <a:prstGeom prst="rect">
            <a:avLst/>
          </a:prstGeom>
          <a:solidFill>
            <a:srgbClr val="FFFFFF"/>
          </a:solidFill>
          <a:ln w="12700">
            <a:solidFill>
              <a:srgbClr val="FFFFFF"/>
            </a:solidFill>
            <a:prstDash val="solid"/>
          </a:ln>
        </p:spPr>
      </p:sp>
      <p:sp>
        <p:nvSpPr>
          <p:cNvPr id="49" name="Text 46"/>
          <p:cNvSpPr txBox="1"/>
          <p:nvPr/>
        </p:nvSpPr>
        <p:spPr>
          <a:xfrm>
            <a:off x="9066276" y="5084064"/>
            <a:ext cx="2295144" cy="164592"/>
          </a:xfrm>
          <a:prstGeom prst="rect">
            <a:avLst/>
          </a:prstGeom>
          <a:noFill/>
          <a:ln/>
        </p:spPr>
        <p:txBody>
          <a:bodyPr wrap="square" lIns="0" tIns="0" rIns="0" bIns="0" rtlCol="0" anchor="t"/>
          <a:lstStyle/>
          <a:p>
            <a:pPr algn="l" indent="0" marL="0">
              <a:buNone/>
            </a:pPr>
            <a:r>
              <a:rPr lang="en-US" sz="1060" b="1" dirty="0">
                <a:solidFill>
                  <a:srgbClr val="102A43"/>
                </a:solidFill>
                <a:latin typeface="Aptos" pitchFamily="34" charset="0"/>
                <a:ea typeface="Aptos" pitchFamily="34" charset="-122"/>
                <a:cs typeface="Aptos" pitchFamily="34" charset="-120"/>
              </a:rPr>
              <a:t>Dump</a:t>
            </a:r>
            <a:endParaRPr lang="en-US" sz="1060" dirty="0"/>
          </a:p>
        </p:txBody>
      </p:sp>
      <p:sp>
        <p:nvSpPr>
          <p:cNvPr id="50" name="Text 47"/>
          <p:cNvSpPr txBox="1"/>
          <p:nvPr/>
        </p:nvSpPr>
        <p:spPr>
          <a:xfrm>
            <a:off x="9066276" y="5266944"/>
            <a:ext cx="2295144" cy="292608"/>
          </a:xfrm>
          <a:prstGeom prst="rect">
            <a:avLst/>
          </a:prstGeom>
          <a:noFill/>
          <a:ln/>
        </p:spPr>
        <p:txBody>
          <a:bodyPr wrap="square" lIns="0" tIns="0" rIns="0" bIns="0" rtlCol="0" anchor="t"/>
          <a:lstStyle/>
          <a:p>
            <a:pPr algn="l" indent="0" marL="0">
              <a:lnSpc>
                <a:spcPct val="104000"/>
              </a:lnSpc>
              <a:buNone/>
            </a:pPr>
            <a:r>
              <a:rPr lang="en-US" sz="880" dirty="0">
                <a:solidFill>
                  <a:srgbClr val="52606D"/>
                </a:solidFill>
                <a:latin typeface="Aptos" pitchFamily="34" charset="0"/>
                <a:ea typeface="Aptos" pitchFamily="34" charset="-122"/>
                <a:cs typeface="Aptos" pitchFamily="34" charset="-120"/>
              </a:rPr>
              <a:t>Una copia completa de una base de datos, en un archivo</a:t>
            </a:r>
            <a:endParaRPr lang="en-US" sz="880" dirty="0"/>
          </a:p>
        </p:txBody>
      </p:sp>
      <p:sp>
        <p:nvSpPr>
          <p:cNvPr id="51" name="Shape 48"/>
          <p:cNvSpPr/>
          <p:nvPr/>
        </p:nvSpPr>
        <p:spPr>
          <a:xfrm>
            <a:off x="658368" y="5650992"/>
            <a:ext cx="10874959" cy="548640"/>
          </a:xfrm>
          <a:prstGeom prst="rect">
            <a:avLst/>
          </a:prstGeom>
          <a:solidFill>
            <a:srgbClr val="102A43"/>
          </a:solidFill>
          <a:ln w="12700">
            <a:solidFill>
              <a:srgbClr val="102A43"/>
            </a:solidFill>
            <a:prstDash val="solid"/>
          </a:ln>
        </p:spPr>
      </p:sp>
      <p:sp>
        <p:nvSpPr>
          <p:cNvPr id="52" name="Text 4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Los cinco puntos de la izquierda son, literalmente, el diseño de una fixture.</a:t>
            </a:r>
            <a:endParaRPr lang="en-US" sz="13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CRITERIO EXTERNO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La ley no dice «minimización»: dice proporcionalidad</a:t>
            </a:r>
            <a:endParaRPr lang="en-US" sz="27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Artículo 3º letra c) de la Ley 21.719. Son dos obligaciones en un mismo párrafo, y caen sobre las dos mitades de una fixture.</a:t>
            </a:r>
            <a:endParaRPr lang="en-US" sz="1420" dirty="0"/>
          </a:p>
        </p:txBody>
      </p:sp>
      <p:sp>
        <p:nvSpPr>
          <p:cNvPr id="11" name="Shape 8"/>
          <p:cNvSpPr/>
          <p:nvPr/>
        </p:nvSpPr>
        <p:spPr>
          <a:xfrm>
            <a:off x="658368" y="2286000"/>
            <a:ext cx="10874959" cy="1024128"/>
          </a:xfrm>
          <a:prstGeom prst="rect">
            <a:avLst/>
          </a:prstGeom>
          <a:solidFill>
            <a:srgbClr val="EDE6DA"/>
          </a:solidFill>
          <a:ln w="12700">
            <a:solidFill>
              <a:srgbClr val="EDE6DA"/>
            </a:solidFill>
            <a:prstDash val="solid"/>
          </a:ln>
        </p:spPr>
      </p:sp>
      <p:sp>
        <p:nvSpPr>
          <p:cNvPr id="12" name="Shape 9"/>
          <p:cNvSpPr/>
          <p:nvPr/>
        </p:nvSpPr>
        <p:spPr>
          <a:xfrm>
            <a:off x="658368" y="2286000"/>
            <a:ext cx="54864" cy="1024128"/>
          </a:xfrm>
          <a:prstGeom prst="rect">
            <a:avLst/>
          </a:prstGeom>
          <a:solidFill>
            <a:srgbClr val="B3181E"/>
          </a:solidFill>
          <a:ln w="12700">
            <a:solidFill>
              <a:srgbClr val="B3181E"/>
            </a:solidFill>
            <a:prstDash val="solid"/>
          </a:ln>
        </p:spPr>
      </p:sp>
      <p:sp>
        <p:nvSpPr>
          <p:cNvPr id="13" name="Text 10"/>
          <p:cNvSpPr txBox="1"/>
          <p:nvPr/>
        </p:nvSpPr>
        <p:spPr>
          <a:xfrm>
            <a:off x="950976" y="2432304"/>
            <a:ext cx="10289743" cy="768096"/>
          </a:xfrm>
          <a:prstGeom prst="rect">
            <a:avLst/>
          </a:prstGeom>
          <a:noFill/>
          <a:ln/>
        </p:spPr>
        <p:txBody>
          <a:bodyPr wrap="square" lIns="0" tIns="0" rIns="0" bIns="0" rtlCol="0" anchor="t"/>
          <a:lstStyle/>
          <a:p>
            <a:pPr algn="l" indent="0" marL="0">
              <a:lnSpc>
                <a:spcPct val="114000"/>
              </a:lnSpc>
              <a:buNone/>
            </a:pPr>
            <a:r>
              <a:rPr lang="en-US" sz="1200" i="1" dirty="0">
                <a:solidFill>
                  <a:srgbClr val="243B53"/>
                </a:solidFill>
                <a:latin typeface="Aptos" pitchFamily="34" charset="0"/>
                <a:ea typeface="Aptos" pitchFamily="34" charset="-122"/>
                <a:cs typeface="Aptos" pitchFamily="34" charset="-120"/>
              </a:rPr>
              <a:t>«Los datos personales que se traten deben limitarse estrictamente a aquéllos que resulten necesarios, adecuados y pertinentes en relación con los fines del tratamiento. Los datos personales pueden ser conservados sólo por el período de tiempo que sea necesario para cumplir con los fines del tratamiento, luego de lo cual deben ser suprimidos o anonimizados.»</a:t>
            </a:r>
            <a:endParaRPr lang="en-US" sz="1200" dirty="0"/>
          </a:p>
        </p:txBody>
      </p:sp>
      <p:sp>
        <p:nvSpPr>
          <p:cNvPr id="14" name="Shape 11"/>
          <p:cNvSpPr/>
          <p:nvPr/>
        </p:nvSpPr>
        <p:spPr>
          <a:xfrm>
            <a:off x="658368" y="3456432"/>
            <a:ext cx="5340096" cy="1463040"/>
          </a:xfrm>
          <a:prstGeom prst="rect">
            <a:avLst/>
          </a:prstGeom>
          <a:solidFill>
            <a:srgbClr val="FFFFFF"/>
          </a:solidFill>
          <a:ln w="12700">
            <a:solidFill>
              <a:srgbClr val="FFFFFF"/>
            </a:solidFill>
            <a:prstDash val="solid"/>
          </a:ln>
        </p:spPr>
      </p:sp>
      <p:sp>
        <p:nvSpPr>
          <p:cNvPr id="15" name="Shape 12"/>
          <p:cNvSpPr/>
          <p:nvPr/>
        </p:nvSpPr>
        <p:spPr>
          <a:xfrm>
            <a:off x="658368" y="3456432"/>
            <a:ext cx="5340096" cy="54864"/>
          </a:xfrm>
          <a:prstGeom prst="rect">
            <a:avLst/>
          </a:prstGeom>
          <a:solidFill>
            <a:srgbClr val="2E7D4F"/>
          </a:solidFill>
          <a:ln w="12700">
            <a:solidFill>
              <a:srgbClr val="2E7D4F"/>
            </a:solidFill>
            <a:prstDash val="solid"/>
          </a:ln>
        </p:spPr>
      </p:sp>
      <p:sp>
        <p:nvSpPr>
          <p:cNvPr id="16" name="Text 13"/>
          <p:cNvSpPr txBox="1"/>
          <p:nvPr/>
        </p:nvSpPr>
        <p:spPr>
          <a:xfrm>
            <a:off x="932688" y="3621024"/>
            <a:ext cx="4791456" cy="274320"/>
          </a:xfrm>
          <a:prstGeom prst="rect">
            <a:avLst/>
          </a:prstGeom>
          <a:noFill/>
          <a:ln/>
        </p:spPr>
        <p:txBody>
          <a:bodyPr wrap="square" lIns="0" tIns="0" rIns="0" bIns="0" rtlCol="0" anchor="t"/>
          <a:lstStyle/>
          <a:p>
            <a:pPr algn="l" indent="0" marL="0">
              <a:buNone/>
            </a:pPr>
            <a:r>
              <a:rPr lang="en-US" sz="1400" b="1" dirty="0">
                <a:solidFill>
                  <a:srgbClr val="2E7D4F"/>
                </a:solidFill>
                <a:latin typeface="Aptos" pitchFamily="34" charset="0"/>
                <a:ea typeface="Aptos" pitchFamily="34" charset="-122"/>
                <a:cs typeface="Aptos" pitchFamily="34" charset="-120"/>
              </a:rPr>
              <a:t>Qué datos se cargan</a:t>
            </a:r>
            <a:endParaRPr lang="en-US" sz="1400" dirty="0"/>
          </a:p>
        </p:txBody>
      </p:sp>
      <p:sp>
        <p:nvSpPr>
          <p:cNvPr id="17" name="Text 14"/>
          <p:cNvSpPr txBox="1"/>
          <p:nvPr/>
        </p:nvSpPr>
        <p:spPr>
          <a:xfrm>
            <a:off x="932688" y="3931920"/>
            <a:ext cx="4791456" cy="548640"/>
          </a:xfrm>
          <a:prstGeom prst="rect">
            <a:avLst/>
          </a:prstGeom>
          <a:noFill/>
          <a:ln/>
        </p:spPr>
        <p:txBody>
          <a:bodyPr wrap="square" lIns="0" tIns="0" rIns="0" bIns="0" rtlCol="0" anchor="t"/>
          <a:lstStyle/>
          <a:p>
            <a:pPr algn="l" indent="0" marL="0">
              <a:lnSpc>
                <a:spcPct val="112000"/>
              </a:lnSpc>
              <a:buNone/>
            </a:pPr>
            <a:r>
              <a:rPr lang="en-US" sz="1120" i="1" dirty="0">
                <a:solidFill>
                  <a:srgbClr val="52606D"/>
                </a:solidFill>
                <a:latin typeface="Aptos" pitchFamily="34" charset="0"/>
                <a:ea typeface="Aptos" pitchFamily="34" charset="-122"/>
                <a:cs typeface="Aptos" pitchFamily="34" charset="-120"/>
              </a:rPr>
              <a:t>«limitarse estrictamente a aquéllos que resulten necesarios… en relación con los fines»</a:t>
            </a:r>
            <a:endParaRPr lang="en-US" sz="1120" dirty="0"/>
          </a:p>
        </p:txBody>
      </p:sp>
      <p:sp>
        <p:nvSpPr>
          <p:cNvPr id="18" name="Shape 15"/>
          <p:cNvSpPr/>
          <p:nvPr/>
        </p:nvSpPr>
        <p:spPr>
          <a:xfrm>
            <a:off x="932688" y="4535424"/>
            <a:ext cx="4791456" cy="274320"/>
          </a:xfrm>
          <a:prstGeom prst="rect">
            <a:avLst/>
          </a:prstGeom>
          <a:solidFill>
            <a:srgbClr val="EDE6DA"/>
          </a:solidFill>
          <a:ln w="12700">
            <a:solidFill>
              <a:srgbClr val="EDE6DA"/>
            </a:solidFill>
            <a:prstDash val="solid"/>
          </a:ln>
        </p:spPr>
      </p:sp>
      <p:sp>
        <p:nvSpPr>
          <p:cNvPr id="19" name="Text 16"/>
          <p:cNvSpPr txBox="1"/>
          <p:nvPr/>
        </p:nvSpPr>
        <p:spPr>
          <a:xfrm>
            <a:off x="1060704" y="4572000"/>
            <a:ext cx="4535424" cy="219456"/>
          </a:xfrm>
          <a:prstGeom prst="rect">
            <a:avLst/>
          </a:prstGeom>
          <a:noFill/>
          <a:ln/>
        </p:spPr>
        <p:txBody>
          <a:bodyPr wrap="square" lIns="0" tIns="0" rIns="0" bIns="0" rtlCol="0" anchor="t"/>
          <a:lstStyle/>
          <a:p>
            <a:pPr algn="l" indent="0" marL="0">
              <a:buNone/>
            </a:pPr>
            <a:r>
              <a:rPr lang="en-US" sz="1100" b="1" dirty="0">
                <a:solidFill>
                  <a:srgbClr val="243B53"/>
                </a:solidFill>
                <a:latin typeface="Aptos" pitchFamily="34" charset="0"/>
                <a:ea typeface="Aptos" pitchFamily="34" charset="-122"/>
                <a:cs typeface="Aptos" pitchFamily="34" charset="-120"/>
              </a:rPr>
              <a:t>La preparación · antes del yield</a:t>
            </a:r>
            <a:endParaRPr lang="en-US" sz="1100" dirty="0"/>
          </a:p>
        </p:txBody>
      </p:sp>
      <p:sp>
        <p:nvSpPr>
          <p:cNvPr id="20" name="Shape 17"/>
          <p:cNvSpPr/>
          <p:nvPr/>
        </p:nvSpPr>
        <p:spPr>
          <a:xfrm>
            <a:off x="6190488" y="3456432"/>
            <a:ext cx="5340096" cy="1463040"/>
          </a:xfrm>
          <a:prstGeom prst="rect">
            <a:avLst/>
          </a:prstGeom>
          <a:solidFill>
            <a:srgbClr val="FFFFFF"/>
          </a:solidFill>
          <a:ln w="12700">
            <a:solidFill>
              <a:srgbClr val="FFFFFF"/>
            </a:solidFill>
            <a:prstDash val="solid"/>
          </a:ln>
        </p:spPr>
      </p:sp>
      <p:sp>
        <p:nvSpPr>
          <p:cNvPr id="21" name="Shape 18"/>
          <p:cNvSpPr/>
          <p:nvPr/>
        </p:nvSpPr>
        <p:spPr>
          <a:xfrm>
            <a:off x="6190488" y="3456432"/>
            <a:ext cx="5340096" cy="54864"/>
          </a:xfrm>
          <a:prstGeom prst="rect">
            <a:avLst/>
          </a:prstGeom>
          <a:solidFill>
            <a:srgbClr val="8A6A12"/>
          </a:solidFill>
          <a:ln w="12700">
            <a:solidFill>
              <a:srgbClr val="8A6A12"/>
            </a:solidFill>
            <a:prstDash val="solid"/>
          </a:ln>
        </p:spPr>
      </p:sp>
      <p:sp>
        <p:nvSpPr>
          <p:cNvPr id="22" name="Text 19"/>
          <p:cNvSpPr txBox="1"/>
          <p:nvPr/>
        </p:nvSpPr>
        <p:spPr>
          <a:xfrm>
            <a:off x="6464808" y="3621024"/>
            <a:ext cx="4791456" cy="274320"/>
          </a:xfrm>
          <a:prstGeom prst="rect">
            <a:avLst/>
          </a:prstGeom>
          <a:noFill/>
          <a:ln/>
        </p:spPr>
        <p:txBody>
          <a:bodyPr wrap="square" lIns="0" tIns="0" rIns="0" bIns="0" rtlCol="0" anchor="t"/>
          <a:lstStyle/>
          <a:p>
            <a:pPr algn="l" indent="0" marL="0">
              <a:buNone/>
            </a:pPr>
            <a:r>
              <a:rPr lang="en-US" sz="1400" b="1" dirty="0">
                <a:solidFill>
                  <a:srgbClr val="8A6A12"/>
                </a:solidFill>
                <a:latin typeface="Aptos" pitchFamily="34" charset="0"/>
                <a:ea typeface="Aptos" pitchFamily="34" charset="-122"/>
                <a:cs typeface="Aptos" pitchFamily="34" charset="-120"/>
              </a:rPr>
              <a:t>Hasta cuándo se conservan</a:t>
            </a:r>
            <a:endParaRPr lang="en-US" sz="1400" dirty="0"/>
          </a:p>
        </p:txBody>
      </p:sp>
      <p:sp>
        <p:nvSpPr>
          <p:cNvPr id="23" name="Text 20"/>
          <p:cNvSpPr txBox="1"/>
          <p:nvPr/>
        </p:nvSpPr>
        <p:spPr>
          <a:xfrm>
            <a:off x="6464808" y="3931920"/>
            <a:ext cx="4791456" cy="548640"/>
          </a:xfrm>
          <a:prstGeom prst="rect">
            <a:avLst/>
          </a:prstGeom>
          <a:noFill/>
          <a:ln/>
        </p:spPr>
        <p:txBody>
          <a:bodyPr wrap="square" lIns="0" tIns="0" rIns="0" bIns="0" rtlCol="0" anchor="t"/>
          <a:lstStyle/>
          <a:p>
            <a:pPr algn="l" indent="0" marL="0">
              <a:lnSpc>
                <a:spcPct val="112000"/>
              </a:lnSpc>
              <a:buNone/>
            </a:pPr>
            <a:r>
              <a:rPr lang="en-US" sz="1120" i="1" dirty="0">
                <a:solidFill>
                  <a:srgbClr val="52606D"/>
                </a:solidFill>
                <a:latin typeface="Aptos" pitchFamily="34" charset="0"/>
                <a:ea typeface="Aptos" pitchFamily="34" charset="-122"/>
                <a:cs typeface="Aptos" pitchFamily="34" charset="-120"/>
              </a:rPr>
              <a:t>«sólo por el período de tiempo que sea necesario… luego de lo cual deben ser suprimidos»</a:t>
            </a:r>
            <a:endParaRPr lang="en-US" sz="1120" dirty="0"/>
          </a:p>
        </p:txBody>
      </p:sp>
      <p:sp>
        <p:nvSpPr>
          <p:cNvPr id="24" name="Shape 21"/>
          <p:cNvSpPr/>
          <p:nvPr/>
        </p:nvSpPr>
        <p:spPr>
          <a:xfrm>
            <a:off x="6464808" y="4535424"/>
            <a:ext cx="4791456" cy="274320"/>
          </a:xfrm>
          <a:prstGeom prst="rect">
            <a:avLst/>
          </a:prstGeom>
          <a:solidFill>
            <a:srgbClr val="F2E7D9"/>
          </a:solidFill>
          <a:ln w="12700">
            <a:solidFill>
              <a:srgbClr val="F2E7D9"/>
            </a:solidFill>
            <a:prstDash val="solid"/>
          </a:ln>
        </p:spPr>
      </p:sp>
      <p:sp>
        <p:nvSpPr>
          <p:cNvPr id="25" name="Text 22"/>
          <p:cNvSpPr txBox="1"/>
          <p:nvPr/>
        </p:nvSpPr>
        <p:spPr>
          <a:xfrm>
            <a:off x="6592824" y="4572000"/>
            <a:ext cx="4535424" cy="219456"/>
          </a:xfrm>
          <a:prstGeom prst="rect">
            <a:avLst/>
          </a:prstGeom>
          <a:noFill/>
          <a:ln/>
        </p:spPr>
        <p:txBody>
          <a:bodyPr wrap="square" lIns="0" tIns="0" rIns="0" bIns="0" rtlCol="0" anchor="t"/>
          <a:lstStyle/>
          <a:p>
            <a:pPr algn="l" indent="0" marL="0">
              <a:buNone/>
            </a:pPr>
            <a:r>
              <a:rPr lang="en-US" sz="1100" b="1" dirty="0">
                <a:solidFill>
                  <a:srgbClr val="243B53"/>
                </a:solidFill>
                <a:latin typeface="Aptos" pitchFamily="34" charset="0"/>
                <a:ea typeface="Aptos" pitchFamily="34" charset="-122"/>
                <a:cs typeface="Aptos" pitchFamily="34" charset="-120"/>
              </a:rPr>
              <a:t>El desmontaje · después del yield</a:t>
            </a:r>
            <a:endParaRPr lang="en-US" sz="1100" dirty="0"/>
          </a:p>
        </p:txBody>
      </p:sp>
      <p:sp>
        <p:nvSpPr>
          <p:cNvPr id="26" name="Shape 23"/>
          <p:cNvSpPr/>
          <p:nvPr/>
        </p:nvSpPr>
        <p:spPr>
          <a:xfrm>
            <a:off x="658368" y="5084064"/>
            <a:ext cx="45720" cy="182880"/>
          </a:xfrm>
          <a:prstGeom prst="rect">
            <a:avLst/>
          </a:prstGeom>
          <a:solidFill>
            <a:srgbClr val="8A6A12"/>
          </a:solidFill>
          <a:ln w="12700">
            <a:solidFill>
              <a:srgbClr val="8A6A12"/>
            </a:solidFill>
            <a:prstDash val="solid"/>
          </a:ln>
        </p:spPr>
      </p:sp>
      <p:sp>
        <p:nvSpPr>
          <p:cNvPr id="27" name="Text 24"/>
          <p:cNvSpPr txBox="1"/>
          <p:nvPr/>
        </p:nvSpPr>
        <p:spPr>
          <a:xfrm>
            <a:off x="804672" y="5074920"/>
            <a:ext cx="9875520" cy="201168"/>
          </a:xfrm>
          <a:prstGeom prst="rect">
            <a:avLst/>
          </a:prstGeom>
          <a:noFill/>
          <a:ln/>
        </p:spPr>
        <p:txBody>
          <a:bodyPr wrap="square" lIns="0" tIns="0" rIns="0" bIns="0" rtlCol="0" anchor="t"/>
          <a:lstStyle/>
          <a:p>
            <a:pPr algn="l" indent="0" marL="0">
              <a:buNone/>
            </a:pPr>
            <a:r>
              <a:rPr lang="en-US" sz="880" i="1" dirty="0">
                <a:solidFill>
                  <a:srgbClr val="52606D"/>
                </a:solidFill>
                <a:latin typeface="Aptos" pitchFamily="34" charset="0"/>
                <a:ea typeface="Aptos" pitchFamily="34" charset="-122"/>
                <a:cs typeface="Aptos" pitchFamily="34" charset="-120"/>
              </a:rPr>
              <a:t>Ley 21.719 · Diario Oficial núm. 44.023, 13 de diciembre de 2024 · entra en vigencia el 1 de diciembre de 2026</a:t>
            </a:r>
            <a:endParaRPr lang="en-US" sz="880" dirty="0"/>
          </a:p>
        </p:txBody>
      </p:sp>
      <p:sp>
        <p:nvSpPr>
          <p:cNvPr id="28" name="Shape 25"/>
          <p:cNvSpPr/>
          <p:nvPr/>
        </p:nvSpPr>
        <p:spPr>
          <a:xfrm>
            <a:off x="658368" y="5650992"/>
            <a:ext cx="10874959" cy="548640"/>
          </a:xfrm>
          <a:prstGeom prst="rect">
            <a:avLst/>
          </a:prstGeom>
          <a:solidFill>
            <a:srgbClr val="102A43"/>
          </a:solidFill>
          <a:ln w="12700">
            <a:solidFill>
              <a:srgbClr val="102A43"/>
            </a:solidFill>
            <a:prstDash val="solid"/>
          </a:ln>
        </p:spPr>
      </p:sp>
      <p:sp>
        <p:nvSpPr>
          <p:cNvPr id="29" name="Text 26"/>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Primero la finalidad, después el juicio. Sin fin declarado no se puede decir si un dato sobra.</a:t>
            </a:r>
            <a:endParaRPr lang="en-US" sz="13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PROPORCIONALIDAD EJECUTADA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Mismo resultado, distinto contenido en el disco</a:t>
            </a:r>
            <a:endParaRPr lang="en-US" sz="28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 finalidad de esta fixture es que exista una reserva en el bloque 2. Nada más. Y eso se puede comprobar ejecutando.</a:t>
            </a:r>
            <a:endParaRPr lang="en-US" sz="1420" dirty="0"/>
          </a:p>
        </p:txBody>
      </p:sp>
      <p:sp>
        <p:nvSpPr>
          <p:cNvPr id="11" name="Shape 8"/>
          <p:cNvSpPr/>
          <p:nvPr/>
        </p:nvSpPr>
        <p:spPr>
          <a:xfrm>
            <a:off x="658368" y="2286000"/>
            <a:ext cx="5303520" cy="1792224"/>
          </a:xfrm>
          <a:prstGeom prst="roundRect">
            <a:avLst>
              <a:gd name="adj" fmla="val 2041"/>
            </a:avLst>
          </a:prstGeom>
          <a:solidFill>
            <a:srgbClr val="102A43"/>
          </a:solidFill>
          <a:ln w="12700">
            <a:solidFill>
              <a:srgbClr val="102A43"/>
            </a:solidFill>
            <a:prstDash val="solid"/>
          </a:ln>
        </p:spPr>
      </p:sp>
      <p:sp>
        <p:nvSpPr>
          <p:cNvPr id="12" name="Shape 9"/>
          <p:cNvSpPr/>
          <p:nvPr/>
        </p:nvSpPr>
        <p:spPr>
          <a:xfrm>
            <a:off x="786384" y="2395728"/>
            <a:ext cx="504748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48280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versión cómoda</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4882896" cy="1042416"/>
          </a:xfrm>
          <a:prstGeom prst="rect">
            <a:avLst/>
          </a:prstGeom>
        </p:spPr>
      </p:pic>
      <p:sp>
        <p:nvSpPr>
          <p:cNvPr id="15" name="Shape 11"/>
          <p:cNvSpPr/>
          <p:nvPr/>
        </p:nvSpPr>
        <p:spPr>
          <a:xfrm>
            <a:off x="6236208" y="2286000"/>
            <a:ext cx="5303520" cy="1792224"/>
          </a:xfrm>
          <a:prstGeom prst="roundRect">
            <a:avLst>
              <a:gd name="adj" fmla="val 2041"/>
            </a:avLst>
          </a:prstGeom>
          <a:solidFill>
            <a:srgbClr val="102A43"/>
          </a:solidFill>
          <a:ln w="12700">
            <a:solidFill>
              <a:srgbClr val="102A43"/>
            </a:solidFill>
            <a:prstDash val="solid"/>
          </a:ln>
        </p:spPr>
      </p:sp>
      <p:sp>
        <p:nvSpPr>
          <p:cNvPr id="16" name="Shape 12"/>
          <p:cNvSpPr/>
          <p:nvPr/>
        </p:nvSpPr>
        <p:spPr>
          <a:xfrm>
            <a:off x="6364224" y="2395728"/>
            <a:ext cx="5047488" cy="310896"/>
          </a:xfrm>
          <a:prstGeom prst="roundRect">
            <a:avLst>
              <a:gd name="adj" fmla="val 8824"/>
            </a:avLst>
          </a:prstGeom>
          <a:solidFill>
            <a:srgbClr val="284B75"/>
          </a:solidFill>
          <a:ln w="12700">
            <a:solidFill>
              <a:srgbClr val="284B75"/>
            </a:solidFill>
            <a:prstDash val="solid"/>
          </a:ln>
        </p:spPr>
      </p:sp>
      <p:sp>
        <p:nvSpPr>
          <p:cNvPr id="17" name="Text 13"/>
          <p:cNvSpPr/>
          <p:nvPr/>
        </p:nvSpPr>
        <p:spPr>
          <a:xfrm>
            <a:off x="6473952" y="2468880"/>
            <a:ext cx="48280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la versión proporcionada</a:t>
            </a:r>
            <a:endParaRPr lang="en-US" sz="1000" dirty="0"/>
          </a:p>
        </p:txBody>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55664" y="2852928"/>
            <a:ext cx="4882896" cy="1042416"/>
          </a:xfrm>
          <a:prstGeom prst="rect">
            <a:avLst/>
          </a:prstGeom>
        </p:spPr>
      </p:pic>
      <p:sp>
        <p:nvSpPr>
          <p:cNvPr id="19" name="Shape 14"/>
          <p:cNvSpPr/>
          <p:nvPr/>
        </p:nvSpPr>
        <p:spPr>
          <a:xfrm>
            <a:off x="658368" y="4261104"/>
            <a:ext cx="10874959" cy="384048"/>
          </a:xfrm>
          <a:prstGeom prst="rect">
            <a:avLst/>
          </a:prstGeom>
          <a:solidFill>
            <a:srgbClr val="1D3A57"/>
          </a:solidFill>
          <a:ln w="12700">
            <a:solidFill>
              <a:srgbClr val="1D3A57"/>
            </a:solidFill>
            <a:prstDash val="solid"/>
          </a:ln>
        </p:spPr>
      </p:sp>
      <p:sp>
        <p:nvSpPr>
          <p:cNvPr id="20" name="Text 15"/>
          <p:cNvSpPr txBox="1"/>
          <p:nvPr/>
        </p:nvSpPr>
        <p:spPr>
          <a:xfrm>
            <a:off x="950976" y="4334256"/>
            <a:ext cx="10289743" cy="237744"/>
          </a:xfrm>
          <a:prstGeom prst="rect">
            <a:avLst/>
          </a:prstGeom>
          <a:noFill/>
          <a:ln/>
        </p:spPr>
        <p:txBody>
          <a:bodyPr wrap="square" lIns="0" tIns="0" rIns="0" bIns="0" rtlCol="0" anchor="t"/>
          <a:lstStyle/>
          <a:p>
            <a:pPr algn="ctr" indent="0" marL="0">
              <a:buNone/>
            </a:pPr>
            <a:r>
              <a:rPr lang="en-US" sz="1240" b="1" dirty="0">
                <a:solidFill>
                  <a:srgbClr val="E0BC5A"/>
                </a:solidFill>
                <a:latin typeface="Aptos" pitchFamily="34" charset="0"/>
                <a:ea typeface="Aptos" pitchFamily="34" charset="-122"/>
                <a:cs typeface="Aptos" pitchFamily="34" charset="-120"/>
              </a:rPr>
              <a:t>Las dos producen exactamente el mismo resultado de ejecución:  4 passed in 0.65s</a:t>
            </a:r>
            <a:endParaRPr lang="en-US" sz="1240" dirty="0"/>
          </a:p>
        </p:txBody>
      </p:sp>
      <p:sp>
        <p:nvSpPr>
          <p:cNvPr id="21" name="Shape 16"/>
          <p:cNvSpPr/>
          <p:nvPr/>
        </p:nvSpPr>
        <p:spPr>
          <a:xfrm>
            <a:off x="658368" y="4754880"/>
            <a:ext cx="10874959" cy="347472"/>
          </a:xfrm>
          <a:prstGeom prst="rect">
            <a:avLst/>
          </a:prstGeom>
          <a:solidFill>
            <a:srgbClr val="F2E7D9"/>
          </a:solidFill>
          <a:ln w="12700">
            <a:solidFill>
              <a:srgbClr val="F2E7D9"/>
            </a:solidFill>
            <a:prstDash val="solid"/>
          </a:ln>
        </p:spPr>
      </p:sp>
      <p:sp>
        <p:nvSpPr>
          <p:cNvPr id="22" name="Shape 17"/>
          <p:cNvSpPr/>
          <p:nvPr/>
        </p:nvSpPr>
        <p:spPr>
          <a:xfrm>
            <a:off x="658368" y="4754880"/>
            <a:ext cx="54864" cy="347472"/>
          </a:xfrm>
          <a:prstGeom prst="rect">
            <a:avLst/>
          </a:prstGeom>
          <a:solidFill>
            <a:srgbClr val="B3181E"/>
          </a:solidFill>
          <a:ln w="12700">
            <a:solidFill>
              <a:srgbClr val="B3181E"/>
            </a:solidFill>
            <a:prstDash val="solid"/>
          </a:ln>
        </p:spPr>
      </p:sp>
      <p:sp>
        <p:nvSpPr>
          <p:cNvPr id="23" name="Text 18"/>
          <p:cNvSpPr txBox="1"/>
          <p:nvPr/>
        </p:nvSpPr>
        <p:spPr>
          <a:xfrm>
            <a:off x="896112" y="4818888"/>
            <a:ext cx="3108960" cy="219456"/>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Lo que escribe la cómoda</a:t>
            </a:r>
            <a:endParaRPr lang="en-US" sz="1160" dirty="0"/>
          </a:p>
        </p:txBody>
      </p:sp>
      <p:sp>
        <p:nvSpPr>
          <p:cNvPr id="24" name="Text 19"/>
          <p:cNvSpPr txBox="1"/>
          <p:nvPr/>
        </p:nvSpPr>
        <p:spPr>
          <a:xfrm>
            <a:off x="4224528" y="4818888"/>
            <a:ext cx="7040880" cy="219456"/>
          </a:xfrm>
          <a:prstGeom prst="rect">
            <a:avLst/>
          </a:prstGeom>
          <a:noFill/>
          <a:ln/>
        </p:spPr>
        <p:txBody>
          <a:bodyPr wrap="square" lIns="0" tIns="0" rIns="0" bIns="0" rtlCol="0" anchor="t"/>
          <a:lstStyle/>
          <a:p>
            <a:pPr algn="l" indent="0" marL="0">
              <a:buNone/>
            </a:pPr>
            <a:r>
              <a:rPr lang="en-US" sz="1140" b="1" dirty="0">
                <a:solidFill>
                  <a:srgbClr val="B3181E"/>
                </a:solidFill>
                <a:latin typeface="Aptos" pitchFamily="34" charset="0"/>
                <a:ea typeface="Aptos" pitchFamily="34" charset="-122"/>
                <a:cs typeface="Aptos" pitchFamily="34" charset="-120"/>
              </a:rPr>
              <a:t>(2, '11.111.111-1', 'Ana Rivas', 'ana.rivas@ejemplo.cl')</a:t>
            </a:r>
            <a:endParaRPr lang="en-US" sz="1140" dirty="0"/>
          </a:p>
        </p:txBody>
      </p:sp>
      <p:sp>
        <p:nvSpPr>
          <p:cNvPr id="25" name="Shape 20"/>
          <p:cNvSpPr/>
          <p:nvPr/>
        </p:nvSpPr>
        <p:spPr>
          <a:xfrm>
            <a:off x="658368" y="5157216"/>
            <a:ext cx="10874959" cy="347472"/>
          </a:xfrm>
          <a:prstGeom prst="rect">
            <a:avLst/>
          </a:prstGeom>
          <a:solidFill>
            <a:srgbClr val="EDE6DA"/>
          </a:solidFill>
          <a:ln w="12700">
            <a:solidFill>
              <a:srgbClr val="EDE6DA"/>
            </a:solidFill>
            <a:prstDash val="solid"/>
          </a:ln>
        </p:spPr>
      </p:sp>
      <p:sp>
        <p:nvSpPr>
          <p:cNvPr id="26" name="Shape 21"/>
          <p:cNvSpPr/>
          <p:nvPr/>
        </p:nvSpPr>
        <p:spPr>
          <a:xfrm>
            <a:off x="658368" y="5157216"/>
            <a:ext cx="54864" cy="347472"/>
          </a:xfrm>
          <a:prstGeom prst="rect">
            <a:avLst/>
          </a:prstGeom>
          <a:solidFill>
            <a:srgbClr val="2E7D4F"/>
          </a:solidFill>
          <a:ln w="12700">
            <a:solidFill>
              <a:srgbClr val="2E7D4F"/>
            </a:solidFill>
            <a:prstDash val="solid"/>
          </a:ln>
        </p:spPr>
      </p:sp>
      <p:sp>
        <p:nvSpPr>
          <p:cNvPr id="27" name="Text 22"/>
          <p:cNvSpPr txBox="1"/>
          <p:nvPr/>
        </p:nvSpPr>
        <p:spPr>
          <a:xfrm>
            <a:off x="896112" y="5221224"/>
            <a:ext cx="3108960" cy="219456"/>
          </a:xfrm>
          <a:prstGeom prst="rect">
            <a:avLst/>
          </a:prstGeom>
          <a:noFill/>
          <a:ln/>
        </p:spPr>
        <p:txBody>
          <a:bodyPr wrap="square" lIns="0" tIns="0" rIns="0" bIns="0" rtlCol="0" anchor="t"/>
          <a:lstStyle/>
          <a:p>
            <a:pPr algn="l" indent="0" marL="0">
              <a:buNone/>
            </a:pPr>
            <a:r>
              <a:rPr lang="en-US" sz="1160" b="1" dirty="0">
                <a:solidFill>
                  <a:srgbClr val="243B53"/>
                </a:solidFill>
                <a:latin typeface="Aptos" pitchFamily="34" charset="0"/>
                <a:ea typeface="Aptos" pitchFamily="34" charset="-122"/>
                <a:cs typeface="Aptos" pitchFamily="34" charset="-120"/>
              </a:rPr>
              <a:t>Lo que escribe la proporcionada</a:t>
            </a:r>
            <a:endParaRPr lang="en-US" sz="1160" dirty="0"/>
          </a:p>
        </p:txBody>
      </p:sp>
      <p:sp>
        <p:nvSpPr>
          <p:cNvPr id="28" name="Text 23"/>
          <p:cNvSpPr txBox="1"/>
          <p:nvPr/>
        </p:nvSpPr>
        <p:spPr>
          <a:xfrm>
            <a:off x="4224528" y="5221224"/>
            <a:ext cx="7040880" cy="219456"/>
          </a:xfrm>
          <a:prstGeom prst="rect">
            <a:avLst/>
          </a:prstGeom>
          <a:noFill/>
          <a:ln/>
        </p:spPr>
        <p:txBody>
          <a:bodyPr wrap="square" lIns="0" tIns="0" rIns="0" bIns="0" rtlCol="0" anchor="t"/>
          <a:lstStyle/>
          <a:p>
            <a:pPr algn="l" indent="0" marL="0">
              <a:buNone/>
            </a:pPr>
            <a:r>
              <a:rPr lang="en-US" sz="1140" b="1" dirty="0">
                <a:solidFill>
                  <a:srgbClr val="2E7D4F"/>
                </a:solidFill>
                <a:latin typeface="Aptos" pitchFamily="34" charset="0"/>
                <a:ea typeface="Aptos" pitchFamily="34" charset="-122"/>
                <a:cs typeface="Aptos" pitchFamily="34" charset="-120"/>
              </a:rPr>
              <a:t>(2, None, None, None)</a:t>
            </a:r>
            <a:endParaRPr lang="en-US" sz="1140" dirty="0"/>
          </a:p>
        </p:txBody>
      </p:sp>
      <p:sp>
        <p:nvSpPr>
          <p:cNvPr id="29" name="Shape 24"/>
          <p:cNvSpPr/>
          <p:nvPr/>
        </p:nvSpPr>
        <p:spPr>
          <a:xfrm>
            <a:off x="658368" y="5650992"/>
            <a:ext cx="10874959" cy="548640"/>
          </a:xfrm>
          <a:prstGeom prst="rect">
            <a:avLst/>
          </a:prstGeom>
          <a:solidFill>
            <a:srgbClr val="102A43"/>
          </a:solidFill>
          <a:ln w="12700">
            <a:solidFill>
              <a:srgbClr val="102A43"/>
            </a:solidFill>
            <a:prstDash val="solid"/>
          </a:ln>
        </p:spPr>
      </p:sp>
      <p:sp>
        <p:nvSpPr>
          <p:cNvPr id="30" name="Text 2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Los tres campos personales no eran necesarios: la prueba pasa igual sin ellos.</a:t>
            </a:r>
            <a:endParaRPr lang="en-US" sz="13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EL DESMONTAJE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600" b="1" dirty="0">
                <a:solidFill>
                  <a:srgbClr val="243B53"/>
                </a:solidFill>
                <a:latin typeface="Aptos Display" pitchFamily="34" charset="0"/>
                <a:ea typeface="Aptos Display" pitchFamily="34" charset="-122"/>
                <a:cs typeface="Aptos Display" pitchFamily="34" charset="-120"/>
              </a:rPr>
              <a:t>No se confía en que el borrado haya funcionado: se comprueba</a:t>
            </a:r>
            <a:endParaRPr lang="en-US" sz="26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RUTA_BASE es la variable donde el proyecto guarda dónde está su base de datos. La fixture la apunta a tmp_path, el directorio temporal único que pytest entrega a cada prueba.</a:t>
            </a:r>
            <a:endParaRPr lang="en-US" sz="1420" dirty="0"/>
          </a:p>
        </p:txBody>
      </p:sp>
      <p:sp>
        <p:nvSpPr>
          <p:cNvPr id="11" name="Shape 8"/>
          <p:cNvSpPr/>
          <p:nvPr/>
        </p:nvSpPr>
        <p:spPr>
          <a:xfrm>
            <a:off x="658368" y="2286000"/>
            <a:ext cx="6217920" cy="2395728"/>
          </a:xfrm>
          <a:prstGeom prst="roundRect">
            <a:avLst>
              <a:gd name="adj" fmla="val 1527"/>
            </a:avLst>
          </a:prstGeom>
          <a:solidFill>
            <a:srgbClr val="102A43"/>
          </a:solidFill>
          <a:ln w="12700">
            <a:solidFill>
              <a:srgbClr val="102A43"/>
            </a:solidFill>
            <a:prstDash val="solid"/>
          </a:ln>
        </p:spPr>
      </p:sp>
      <p:sp>
        <p:nvSpPr>
          <p:cNvPr id="12" name="Shape 9"/>
          <p:cNvSpPr/>
          <p:nvPr/>
        </p:nvSpPr>
        <p:spPr>
          <a:xfrm>
            <a:off x="786384" y="2395728"/>
            <a:ext cx="596188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574243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conftest.py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5797296" cy="1645920"/>
          </a:xfrm>
          <a:prstGeom prst="rect">
            <a:avLst/>
          </a:prstGeom>
        </p:spPr>
      </p:pic>
      <p:sp>
        <p:nvSpPr>
          <p:cNvPr id="15" name="Shape 11"/>
          <p:cNvSpPr/>
          <p:nvPr/>
        </p:nvSpPr>
        <p:spPr>
          <a:xfrm>
            <a:off x="7242048" y="2286000"/>
            <a:ext cx="4297680" cy="1133856"/>
          </a:xfrm>
          <a:prstGeom prst="rect">
            <a:avLst/>
          </a:prstGeom>
          <a:solidFill>
            <a:srgbClr val="FFFFFF"/>
          </a:solidFill>
          <a:ln w="12700">
            <a:solidFill>
              <a:srgbClr val="FFFFFF"/>
            </a:solidFill>
            <a:prstDash val="solid"/>
          </a:ln>
        </p:spPr>
      </p:sp>
      <p:sp>
        <p:nvSpPr>
          <p:cNvPr id="16" name="Shape 12"/>
          <p:cNvSpPr/>
          <p:nvPr/>
        </p:nvSpPr>
        <p:spPr>
          <a:xfrm>
            <a:off x="7242048" y="2286000"/>
            <a:ext cx="54864" cy="1133856"/>
          </a:xfrm>
          <a:prstGeom prst="rect">
            <a:avLst/>
          </a:prstGeom>
          <a:solidFill>
            <a:srgbClr val="B3181E"/>
          </a:solidFill>
          <a:ln w="12700">
            <a:solidFill>
              <a:srgbClr val="B3181E"/>
            </a:solidFill>
            <a:prstDash val="solid"/>
          </a:ln>
        </p:spPr>
      </p:sp>
      <p:sp>
        <p:nvSpPr>
          <p:cNvPr id="17" name="Text 13"/>
          <p:cNvSpPr txBox="1"/>
          <p:nvPr/>
        </p:nvSpPr>
        <p:spPr>
          <a:xfrm>
            <a:off x="7479792" y="2414016"/>
            <a:ext cx="3840480"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DOS DETALLES DEL DESMONTAJE</a:t>
            </a:r>
            <a:endParaRPr lang="en-US" sz="920" dirty="0"/>
          </a:p>
        </p:txBody>
      </p:sp>
      <p:sp>
        <p:nvSpPr>
          <p:cNvPr id="18" name="Text 14"/>
          <p:cNvSpPr txBox="1"/>
          <p:nvPr/>
        </p:nvSpPr>
        <p:spPr>
          <a:xfrm>
            <a:off x="7479792" y="2670048"/>
            <a:ext cx="3840480" cy="640080"/>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missing_ok=True evita que el borrado falle si el archivo ya no está. Y falta una línea en el panel: assert not RUTA_BASE.exists(), «no se eliminó».</a:t>
            </a:r>
            <a:endParaRPr lang="en-US" sz="1210" dirty="0"/>
          </a:p>
        </p:txBody>
      </p:sp>
      <p:sp>
        <p:nvSpPr>
          <p:cNvPr id="19" name="Shape 15"/>
          <p:cNvSpPr/>
          <p:nvPr/>
        </p:nvSpPr>
        <p:spPr>
          <a:xfrm>
            <a:off x="7242048" y="3547872"/>
            <a:ext cx="4297680" cy="1133856"/>
          </a:xfrm>
          <a:prstGeom prst="rect">
            <a:avLst/>
          </a:prstGeom>
          <a:solidFill>
            <a:srgbClr val="FFFFFF"/>
          </a:solidFill>
          <a:ln w="12700">
            <a:solidFill>
              <a:srgbClr val="FFFFFF"/>
            </a:solidFill>
            <a:prstDash val="solid"/>
          </a:ln>
        </p:spPr>
      </p:sp>
      <p:sp>
        <p:nvSpPr>
          <p:cNvPr id="20" name="Shape 16"/>
          <p:cNvSpPr/>
          <p:nvPr/>
        </p:nvSpPr>
        <p:spPr>
          <a:xfrm>
            <a:off x="7242048" y="3547872"/>
            <a:ext cx="54864" cy="1133856"/>
          </a:xfrm>
          <a:prstGeom prst="rect">
            <a:avLst/>
          </a:prstGeom>
          <a:solidFill>
            <a:srgbClr val="8A6A12"/>
          </a:solidFill>
          <a:ln w="12700">
            <a:solidFill>
              <a:srgbClr val="8A6A12"/>
            </a:solidFill>
            <a:prstDash val="solid"/>
          </a:ln>
        </p:spPr>
      </p:sp>
      <p:sp>
        <p:nvSpPr>
          <p:cNvPr id="21" name="Text 17"/>
          <p:cNvSpPr txBox="1"/>
          <p:nvPr/>
        </p:nvSpPr>
        <p:spPr>
          <a:xfrm>
            <a:off x="7479792" y="3675888"/>
            <a:ext cx="3840480" cy="182880"/>
          </a:xfrm>
          <a:prstGeom prst="rect">
            <a:avLst/>
          </a:prstGeom>
          <a:noFill/>
          <a:ln/>
        </p:spPr>
        <p:txBody>
          <a:bodyPr wrap="square" lIns="0" tIns="0" rIns="0" bIns="0" rtlCol="0" anchor="t"/>
          <a:lstStyle/>
          <a:p>
            <a:pPr algn="l" indent="0" marL="0">
              <a:buNone/>
            </a:pPr>
            <a:r>
              <a:rPr lang="en-US" sz="920" b="1" spc="110" kern="0" dirty="0">
                <a:solidFill>
                  <a:srgbClr val="8A6A12"/>
                </a:solidFill>
                <a:latin typeface="Aptos" pitchFamily="34" charset="0"/>
                <a:ea typeface="Aptos" pitchFamily="34" charset="-122"/>
                <a:cs typeface="Aptos" pitchFamily="34" charset="-120"/>
              </a:rPr>
              <a:t>POR QUÉ NO ES REDUNDANTE</a:t>
            </a:r>
            <a:endParaRPr lang="en-US" sz="920" dirty="0"/>
          </a:p>
        </p:txBody>
      </p:sp>
      <p:sp>
        <p:nvSpPr>
          <p:cNvPr id="22" name="Text 18"/>
          <p:cNvSpPr txBox="1"/>
          <p:nvPr/>
        </p:nvSpPr>
        <p:spPr>
          <a:xfrm>
            <a:off x="7479792" y="3931920"/>
            <a:ext cx="3840480" cy="640080"/>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pytest conserva el directorio temporal de las últimas 3 ejecuciones, a propósito, para poder depurar.</a:t>
            </a:r>
            <a:endParaRPr lang="en-US" sz="1210" dirty="0"/>
          </a:p>
        </p:txBody>
      </p:sp>
      <p:sp>
        <p:nvSpPr>
          <p:cNvPr id="23" name="Shape 19"/>
          <p:cNvSpPr/>
          <p:nvPr/>
        </p:nvSpPr>
        <p:spPr>
          <a:xfrm>
            <a:off x="658368" y="4846320"/>
            <a:ext cx="10874959" cy="676656"/>
          </a:xfrm>
          <a:prstGeom prst="rect">
            <a:avLst/>
          </a:prstGeom>
          <a:solidFill>
            <a:srgbClr val="F8E4E5"/>
          </a:solidFill>
          <a:ln w="12700">
            <a:solidFill>
              <a:srgbClr val="F8E4E5"/>
            </a:solidFill>
            <a:prstDash val="solid"/>
          </a:ln>
        </p:spPr>
      </p:sp>
      <p:sp>
        <p:nvSpPr>
          <p:cNvPr id="24" name="Shape 20"/>
          <p:cNvSpPr/>
          <p:nvPr/>
        </p:nvSpPr>
        <p:spPr>
          <a:xfrm>
            <a:off x="658368" y="4846320"/>
            <a:ext cx="54864" cy="676656"/>
          </a:xfrm>
          <a:prstGeom prst="rect">
            <a:avLst/>
          </a:prstGeom>
          <a:solidFill>
            <a:srgbClr val="B3181E"/>
          </a:solidFill>
          <a:ln w="12700">
            <a:solidFill>
              <a:srgbClr val="B3181E"/>
            </a:solidFill>
            <a:prstDash val="solid"/>
          </a:ln>
        </p:spPr>
      </p:sp>
      <p:sp>
        <p:nvSpPr>
          <p:cNvPr id="25" name="Text 21"/>
          <p:cNvSpPr txBox="1"/>
          <p:nvPr/>
        </p:nvSpPr>
        <p:spPr>
          <a:xfrm>
            <a:off x="950976" y="4974336"/>
            <a:ext cx="10289743" cy="420624"/>
          </a:xfrm>
          <a:prstGeom prst="rect">
            <a:avLst/>
          </a:prstGeom>
          <a:noFill/>
          <a:ln/>
        </p:spPr>
        <p:txBody>
          <a:bodyPr wrap="square" lIns="0" tIns="0" rIns="0" bIns="0" rtlCol="0" anchor="ctr"/>
          <a:lstStyle/>
          <a:p>
            <a:pPr algn="l" indent="0" marL="0">
              <a:buNone/>
            </a:pPr>
            <a:r>
              <a:rPr lang="en-US" sz="1240" dirty="0">
                <a:solidFill>
                  <a:srgbClr val="243B53"/>
                </a:solidFill>
                <a:latin typeface="Aptos" pitchFamily="34" charset="0"/>
                <a:ea typeface="Aptos" pitchFamily="34" charset="-122"/>
                <a:cs typeface="Aptos" pitchFamily="34" charset="-120"/>
              </a:rPr>
              <a:t>tmp_path resuelve que dos pruebas no se pisen. No resuelve cuánto tiempo sobrevive lo que se escribió, y eso es justo lo que exige el artículo 3º letra c).</a:t>
            </a:r>
            <a:endParaRPr lang="en-US" sz="1240" dirty="0"/>
          </a:p>
        </p:txBody>
      </p:sp>
      <p:sp>
        <p:nvSpPr>
          <p:cNvPr id="26" name="Shape 22"/>
          <p:cNvSpPr/>
          <p:nvPr/>
        </p:nvSpPr>
        <p:spPr>
          <a:xfrm>
            <a:off x="658368" y="5650992"/>
            <a:ext cx="10874959" cy="548640"/>
          </a:xfrm>
          <a:prstGeom prst="rect">
            <a:avLst/>
          </a:prstGeom>
          <a:solidFill>
            <a:srgbClr val="102A43"/>
          </a:solidFill>
          <a:ln w="12700">
            <a:solidFill>
              <a:srgbClr val="102A43"/>
            </a:solidFill>
            <a:prstDash val="solid"/>
          </a:ln>
        </p:spPr>
      </p:sp>
      <p:sp>
        <p:nvSpPr>
          <p:cNvPr id="27" name="Text 2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Aislamiento y eliminación son dos cosas distintas. La herramienta solo da la primera.</a:t>
            </a:r>
            <a:endParaRPr lang="en-US" sz="13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EVIDENCIA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Cuatro pruebas pasaron y la ejecución falló igual</a:t>
            </a:r>
            <a:endParaRPr lang="en-US" sz="28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Alguien comenta la línea del borrado —por depurar, y se le olvida descomentarla. El código de las pruebas no cambia. El resultado sí.</a:t>
            </a:r>
            <a:endParaRPr lang="en-US" sz="1420" dirty="0"/>
          </a:p>
        </p:txBody>
      </p:sp>
      <p:sp>
        <p:nvSpPr>
          <p:cNvPr id="11" name="Shape 8"/>
          <p:cNvSpPr/>
          <p:nvPr/>
        </p:nvSpPr>
        <p:spPr>
          <a:xfrm>
            <a:off x="658368" y="2286000"/>
            <a:ext cx="6309360" cy="1993392"/>
          </a:xfrm>
          <a:prstGeom prst="roundRect">
            <a:avLst>
              <a:gd name="adj" fmla="val 1835"/>
            </a:avLst>
          </a:prstGeom>
          <a:solidFill>
            <a:srgbClr val="0F1720"/>
          </a:solidFill>
          <a:ln w="12700">
            <a:solidFill>
              <a:srgbClr val="0F1720"/>
            </a:solidFill>
            <a:prstDash val="solid"/>
          </a:ln>
        </p:spPr>
      </p:sp>
      <p:sp>
        <p:nvSpPr>
          <p:cNvPr id="12" name="Shape 9"/>
          <p:cNvSpPr/>
          <p:nvPr/>
        </p:nvSpPr>
        <p:spPr>
          <a:xfrm>
            <a:off x="786384" y="2395728"/>
            <a:ext cx="605332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468880"/>
            <a:ext cx="579729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 el borrado inutilizado</a:t>
            </a:r>
            <a:endParaRPr lang="en-US" sz="1000" dirty="0"/>
          </a:p>
        </p:txBody>
      </p:sp>
      <p:sp>
        <p:nvSpPr>
          <p:cNvPr id="14" name="Text 11"/>
          <p:cNvSpPr/>
          <p:nvPr/>
        </p:nvSpPr>
        <p:spPr>
          <a:xfrm>
            <a:off x="877824" y="2852928"/>
            <a:ext cx="5559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E   AssertionError: la base de datos</a:t>
            </a:r>
            <a:endParaRPr lang="en-US" sz="960" dirty="0"/>
          </a:p>
        </p:txBody>
      </p:sp>
      <p:sp>
        <p:nvSpPr>
          <p:cNvPr id="15" name="Text 12"/>
          <p:cNvSpPr/>
          <p:nvPr/>
        </p:nvSpPr>
        <p:spPr>
          <a:xfrm>
            <a:off x="877824" y="3108960"/>
            <a:ext cx="5559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    de prueba no se eliminó</a:t>
            </a:r>
            <a:endParaRPr lang="en-US" sz="960" dirty="0"/>
          </a:p>
        </p:txBody>
      </p:sp>
      <p:sp>
        <p:nvSpPr>
          <p:cNvPr id="16" name="Text 13"/>
          <p:cNvSpPr/>
          <p:nvPr/>
        </p:nvSpPr>
        <p:spPr>
          <a:xfrm>
            <a:off x="877824" y="3364992"/>
            <a:ext cx="5559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ERROR test_api.py::test_reserva_aceptada</a:t>
            </a:r>
            <a:endParaRPr lang="en-US" sz="960" dirty="0"/>
          </a:p>
        </p:txBody>
      </p:sp>
      <p:sp>
        <p:nvSpPr>
          <p:cNvPr id="17" name="Text 14"/>
          <p:cNvSpPr/>
          <p:nvPr/>
        </p:nvSpPr>
        <p:spPr>
          <a:xfrm>
            <a:off x="877824" y="3621024"/>
            <a:ext cx="5559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4 passed, 4 errors in 0.75s</a:t>
            </a:r>
            <a:endParaRPr lang="en-US" sz="960" dirty="0"/>
          </a:p>
        </p:txBody>
      </p:sp>
      <p:sp>
        <p:nvSpPr>
          <p:cNvPr id="18" name="Shape 15"/>
          <p:cNvSpPr/>
          <p:nvPr/>
        </p:nvSpPr>
        <p:spPr>
          <a:xfrm>
            <a:off x="7333488" y="2286000"/>
            <a:ext cx="4206240" cy="932688"/>
          </a:xfrm>
          <a:prstGeom prst="rect">
            <a:avLst/>
          </a:prstGeom>
          <a:solidFill>
            <a:srgbClr val="FFFFFF"/>
          </a:solidFill>
          <a:ln w="12700">
            <a:solidFill>
              <a:srgbClr val="FFFFFF"/>
            </a:solidFill>
            <a:prstDash val="solid"/>
          </a:ln>
        </p:spPr>
      </p:sp>
      <p:sp>
        <p:nvSpPr>
          <p:cNvPr id="19" name="Shape 16"/>
          <p:cNvSpPr/>
          <p:nvPr/>
        </p:nvSpPr>
        <p:spPr>
          <a:xfrm>
            <a:off x="7333488" y="2286000"/>
            <a:ext cx="54864" cy="932688"/>
          </a:xfrm>
          <a:prstGeom prst="rect">
            <a:avLst/>
          </a:prstGeom>
          <a:solidFill>
            <a:srgbClr val="B3181E"/>
          </a:solidFill>
          <a:ln w="12700">
            <a:solidFill>
              <a:srgbClr val="B3181E"/>
            </a:solidFill>
            <a:prstDash val="solid"/>
          </a:ln>
        </p:spPr>
      </p:sp>
      <p:sp>
        <p:nvSpPr>
          <p:cNvPr id="20" name="Text 17"/>
          <p:cNvSpPr txBox="1"/>
          <p:nvPr/>
        </p:nvSpPr>
        <p:spPr>
          <a:xfrm>
            <a:off x="7571232" y="2432304"/>
            <a:ext cx="1828800" cy="237744"/>
          </a:xfrm>
          <a:prstGeom prst="rect">
            <a:avLst/>
          </a:prstGeom>
          <a:noFill/>
          <a:ln/>
        </p:spPr>
        <p:txBody>
          <a:bodyPr wrap="square" lIns="0" tIns="0" rIns="0" bIns="0" rtlCol="0" anchor="t"/>
          <a:lstStyle/>
          <a:p>
            <a:pPr algn="l" indent="0" marL="0">
              <a:buNone/>
            </a:pPr>
            <a:r>
              <a:rPr lang="en-US" sz="1260" b="1" dirty="0">
                <a:solidFill>
                  <a:srgbClr val="B3181E"/>
                </a:solidFill>
                <a:latin typeface="Aptos" pitchFamily="34" charset="0"/>
                <a:ea typeface="Aptos" pitchFamily="34" charset="-122"/>
                <a:cs typeface="Aptos" pitchFamily="34" charset="-120"/>
              </a:rPr>
              <a:t>FAILED</a:t>
            </a:r>
            <a:endParaRPr lang="en-US" sz="1260" dirty="0"/>
          </a:p>
        </p:txBody>
      </p:sp>
      <p:sp>
        <p:nvSpPr>
          <p:cNvPr id="21" name="Text 18"/>
          <p:cNvSpPr txBox="1"/>
          <p:nvPr/>
        </p:nvSpPr>
        <p:spPr>
          <a:xfrm>
            <a:off x="7571232" y="2706624"/>
            <a:ext cx="3749040" cy="402336"/>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Una prueba que se ejecutó y su aserción no se cumplió</a:t>
            </a:r>
            <a:endParaRPr lang="en-US" sz="1100" dirty="0"/>
          </a:p>
        </p:txBody>
      </p:sp>
      <p:sp>
        <p:nvSpPr>
          <p:cNvPr id="22" name="Shape 19"/>
          <p:cNvSpPr/>
          <p:nvPr/>
        </p:nvSpPr>
        <p:spPr>
          <a:xfrm>
            <a:off x="7333488" y="3328416"/>
            <a:ext cx="4206240" cy="932688"/>
          </a:xfrm>
          <a:prstGeom prst="rect">
            <a:avLst/>
          </a:prstGeom>
          <a:solidFill>
            <a:srgbClr val="FFFFFF"/>
          </a:solidFill>
          <a:ln w="12700">
            <a:solidFill>
              <a:srgbClr val="FFFFFF"/>
            </a:solidFill>
            <a:prstDash val="solid"/>
          </a:ln>
        </p:spPr>
      </p:sp>
      <p:sp>
        <p:nvSpPr>
          <p:cNvPr id="23" name="Shape 20"/>
          <p:cNvSpPr/>
          <p:nvPr/>
        </p:nvSpPr>
        <p:spPr>
          <a:xfrm>
            <a:off x="7333488" y="3328416"/>
            <a:ext cx="54864" cy="932688"/>
          </a:xfrm>
          <a:prstGeom prst="rect">
            <a:avLst/>
          </a:prstGeom>
          <a:solidFill>
            <a:srgbClr val="8A6A12"/>
          </a:solidFill>
          <a:ln w="12700">
            <a:solidFill>
              <a:srgbClr val="8A6A12"/>
            </a:solidFill>
            <a:prstDash val="solid"/>
          </a:ln>
        </p:spPr>
      </p:sp>
      <p:sp>
        <p:nvSpPr>
          <p:cNvPr id="24" name="Text 21"/>
          <p:cNvSpPr txBox="1"/>
          <p:nvPr/>
        </p:nvSpPr>
        <p:spPr>
          <a:xfrm>
            <a:off x="7571232" y="3474720"/>
            <a:ext cx="1828800" cy="237744"/>
          </a:xfrm>
          <a:prstGeom prst="rect">
            <a:avLst/>
          </a:prstGeom>
          <a:noFill/>
          <a:ln/>
        </p:spPr>
        <p:txBody>
          <a:bodyPr wrap="square" lIns="0" tIns="0" rIns="0" bIns="0" rtlCol="0" anchor="t"/>
          <a:lstStyle/>
          <a:p>
            <a:pPr algn="l" indent="0" marL="0">
              <a:buNone/>
            </a:pPr>
            <a:r>
              <a:rPr lang="en-US" sz="1260" b="1" dirty="0">
                <a:solidFill>
                  <a:srgbClr val="8A6A12"/>
                </a:solidFill>
                <a:latin typeface="Aptos" pitchFamily="34" charset="0"/>
                <a:ea typeface="Aptos" pitchFamily="34" charset="-122"/>
                <a:cs typeface="Aptos" pitchFamily="34" charset="-120"/>
              </a:rPr>
              <a:t>ERROR</a:t>
            </a:r>
            <a:endParaRPr lang="en-US" sz="1260" dirty="0"/>
          </a:p>
        </p:txBody>
      </p:sp>
      <p:sp>
        <p:nvSpPr>
          <p:cNvPr id="25" name="Text 22"/>
          <p:cNvSpPr txBox="1"/>
          <p:nvPr/>
        </p:nvSpPr>
        <p:spPr>
          <a:xfrm>
            <a:off x="7571232" y="3749040"/>
            <a:ext cx="3749040" cy="402336"/>
          </a:xfrm>
          <a:prstGeom prst="rect">
            <a:avLst/>
          </a:prstGeom>
          <a:noFill/>
          <a:ln/>
        </p:spPr>
        <p:txBody>
          <a:bodyPr wrap="square" lIns="0" tIns="0" rIns="0" bIns="0" rtlCol="0" anchor="t"/>
          <a:lstStyle/>
          <a:p>
            <a:pPr algn="l" indent="0" marL="0">
              <a:lnSpc>
                <a:spcPct val="112000"/>
              </a:lnSpc>
              <a:buNone/>
            </a:pPr>
            <a:r>
              <a:rPr lang="en-US" sz="1100" dirty="0">
                <a:solidFill>
                  <a:srgbClr val="52606D"/>
                </a:solidFill>
                <a:latin typeface="Aptos" pitchFamily="34" charset="0"/>
                <a:ea typeface="Aptos" pitchFamily="34" charset="-122"/>
                <a:cs typeface="Aptos" pitchFamily="34" charset="-120"/>
              </a:rPr>
              <a:t>Un fallo en la preparación o el desmontaje, fuera de la prueba</a:t>
            </a:r>
            <a:endParaRPr lang="en-US" sz="1100" dirty="0"/>
          </a:p>
        </p:txBody>
      </p:sp>
      <p:sp>
        <p:nvSpPr>
          <p:cNvPr id="26" name="Shape 23"/>
          <p:cNvSpPr/>
          <p:nvPr/>
        </p:nvSpPr>
        <p:spPr>
          <a:xfrm>
            <a:off x="658368" y="4443984"/>
            <a:ext cx="10874959" cy="1060704"/>
          </a:xfrm>
          <a:prstGeom prst="rect">
            <a:avLst/>
          </a:prstGeom>
          <a:solidFill>
            <a:srgbClr val="F2E7D9"/>
          </a:solidFill>
          <a:ln w="12700">
            <a:solidFill>
              <a:srgbClr val="F2E7D9"/>
            </a:solidFill>
            <a:prstDash val="solid"/>
          </a:ln>
        </p:spPr>
      </p:sp>
      <p:sp>
        <p:nvSpPr>
          <p:cNvPr id="27" name="Shape 24"/>
          <p:cNvSpPr/>
          <p:nvPr/>
        </p:nvSpPr>
        <p:spPr>
          <a:xfrm>
            <a:off x="658368" y="4443984"/>
            <a:ext cx="54864" cy="1060704"/>
          </a:xfrm>
          <a:prstGeom prst="rect">
            <a:avLst/>
          </a:prstGeom>
          <a:solidFill>
            <a:srgbClr val="B3181E"/>
          </a:solidFill>
          <a:ln w="12700">
            <a:solidFill>
              <a:srgbClr val="B3181E"/>
            </a:solidFill>
            <a:prstDash val="solid"/>
          </a:ln>
        </p:spPr>
      </p:sp>
      <p:sp>
        <p:nvSpPr>
          <p:cNvPr id="28" name="Text 25"/>
          <p:cNvSpPr txBox="1"/>
          <p:nvPr/>
        </p:nvSpPr>
        <p:spPr>
          <a:xfrm>
            <a:off x="950976" y="4590288"/>
            <a:ext cx="3657600" cy="237744"/>
          </a:xfrm>
          <a:prstGeom prst="rect">
            <a:avLst/>
          </a:prstGeom>
          <a:noFill/>
          <a:ln/>
        </p:spPr>
        <p:txBody>
          <a:bodyPr wrap="square" lIns="0" tIns="0" rIns="0" bIns="0" rtlCol="0" anchor="t"/>
          <a:lstStyle/>
          <a:p>
            <a:pPr algn="l" indent="0" marL="0">
              <a:buNone/>
            </a:pPr>
            <a:r>
              <a:rPr lang="en-US" sz="1320" b="1" dirty="0">
                <a:solidFill>
                  <a:srgbClr val="B3181E"/>
                </a:solidFill>
                <a:latin typeface="Aptos" pitchFamily="34" charset="0"/>
                <a:ea typeface="Aptos" pitchFamily="34" charset="-122"/>
                <a:cs typeface="Aptos" pitchFamily="34" charset="-120"/>
              </a:rPr>
              <a:t>Y la evidencia sigue en el disco</a:t>
            </a:r>
            <a:endParaRPr lang="en-US" sz="1320" dirty="0"/>
          </a:p>
        </p:txBody>
      </p:sp>
      <p:sp>
        <p:nvSpPr>
          <p:cNvPr id="29" name="Text 26"/>
          <p:cNvSpPr txBox="1"/>
          <p:nvPr/>
        </p:nvSpPr>
        <p:spPr>
          <a:xfrm>
            <a:off x="4773168" y="4590288"/>
            <a:ext cx="6492240" cy="237744"/>
          </a:xfrm>
          <a:prstGeom prst="rect">
            <a:avLst/>
          </a:prstGeom>
          <a:noFill/>
          <a:ln/>
        </p:spPr>
        <p:txBody>
          <a:bodyPr wrap="square" lIns="0" tIns="0" rIns="0" bIns="0" rtlCol="0" anchor="t"/>
          <a:lstStyle/>
          <a:p>
            <a:pPr algn="l" indent="0" marL="0">
              <a:buNone/>
            </a:pPr>
            <a:r>
              <a:rPr lang="en-US" sz="1200" b="1" dirty="0">
                <a:solidFill>
                  <a:srgbClr val="243B53"/>
                </a:solidFill>
                <a:latin typeface="Aptos" pitchFamily="34" charset="0"/>
                <a:ea typeface="Aptos" pitchFamily="34" charset="-122"/>
                <a:cs typeface="Aptos" pitchFamily="34" charset="-120"/>
              </a:rPr>
              <a:t>pytest-14: 4 archivos .db   ·   pytest-15: 0   ·   pytest-16: 0</a:t>
            </a:r>
            <a:endParaRPr lang="en-US" sz="1200" dirty="0"/>
          </a:p>
        </p:txBody>
      </p:sp>
      <p:sp>
        <p:nvSpPr>
          <p:cNvPr id="30" name="Text 27"/>
          <p:cNvSpPr txBox="1"/>
          <p:nvPr/>
        </p:nvSpPr>
        <p:spPr>
          <a:xfrm>
            <a:off x="950976" y="4901184"/>
            <a:ext cx="10289743" cy="45720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pytest numera correlativamente las carpetas que crea y conserva las tres últimas. Los cuatro archivos que sobrevivieron se abren y se leen: [(2, None, None, None)] — el borrado falló de verdad, y lo que quedó guardado fue eso en lugar del nombre, el RUT y el correo de una persona.</a:t>
            </a:r>
            <a:endParaRPr lang="en-US" sz="1220" dirty="0"/>
          </a:p>
        </p:txBody>
      </p:sp>
      <p:sp>
        <p:nvSpPr>
          <p:cNvPr id="31" name="Shape 28"/>
          <p:cNvSpPr/>
          <p:nvPr/>
        </p:nvSpPr>
        <p:spPr>
          <a:xfrm>
            <a:off x="658368" y="5650992"/>
            <a:ext cx="10874959" cy="548640"/>
          </a:xfrm>
          <a:prstGeom prst="rect">
            <a:avLst/>
          </a:prstGeom>
          <a:solidFill>
            <a:srgbClr val="102A43"/>
          </a:solidFill>
          <a:ln w="12700">
            <a:solidFill>
              <a:srgbClr val="102A43"/>
            </a:solidFill>
            <a:prstDash val="solid"/>
          </a:ln>
        </p:spPr>
      </p:sp>
      <p:sp>
        <p:nvSpPr>
          <p:cNvPr id="32" name="Text 29"/>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proporcionalidad no impide el incidente: decide su tamaño cuando el incidente ocurre.</a:t>
            </a:r>
            <a:endParaRPr lang="en-US" sz="13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LA ERA DE LOS AGENTES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«Datos de prueba realistas»</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Es una de las instrucciones más peligrosas que se le pueden dar, y el motivo no es que el agente se equivoque: es que hace bien lo que se le pidió.</a:t>
            </a:r>
            <a:endParaRPr lang="en-US" sz="1420" dirty="0"/>
          </a:p>
        </p:txBody>
      </p:sp>
      <p:sp>
        <p:nvSpPr>
          <p:cNvPr id="11" name="Shape 8"/>
          <p:cNvSpPr/>
          <p:nvPr/>
        </p:nvSpPr>
        <p:spPr>
          <a:xfrm>
            <a:off x="658368" y="2286000"/>
            <a:ext cx="5340096" cy="1207008"/>
          </a:xfrm>
          <a:prstGeom prst="rect">
            <a:avLst/>
          </a:prstGeom>
          <a:solidFill>
            <a:srgbClr val="F2E7D9"/>
          </a:solidFill>
          <a:ln w="12700">
            <a:solidFill>
              <a:srgbClr val="F2E7D9"/>
            </a:solidFill>
            <a:prstDash val="solid"/>
          </a:ln>
        </p:spPr>
      </p:sp>
      <p:sp>
        <p:nvSpPr>
          <p:cNvPr id="12" name="Shape 9"/>
          <p:cNvSpPr/>
          <p:nvPr/>
        </p:nvSpPr>
        <p:spPr>
          <a:xfrm>
            <a:off x="658368" y="2286000"/>
            <a:ext cx="5340096" cy="54864"/>
          </a:xfrm>
          <a:prstGeom prst="rect">
            <a:avLst/>
          </a:prstGeom>
          <a:solidFill>
            <a:srgbClr val="B3181E"/>
          </a:solidFill>
          <a:ln w="12700">
            <a:solidFill>
              <a:srgbClr val="B3181E"/>
            </a:solidFill>
            <a:prstDash val="solid"/>
          </a:ln>
        </p:spPr>
      </p:sp>
      <p:sp>
        <p:nvSpPr>
          <p:cNvPr id="13" name="Text 10"/>
          <p:cNvSpPr txBox="1"/>
          <p:nvPr/>
        </p:nvSpPr>
        <p:spPr>
          <a:xfrm>
            <a:off x="932688" y="2450592"/>
            <a:ext cx="4791456" cy="457200"/>
          </a:xfrm>
          <a:prstGeom prst="rect">
            <a:avLst/>
          </a:prstGeom>
          <a:noFill/>
          <a:ln/>
        </p:spPr>
        <p:txBody>
          <a:bodyPr wrap="square" lIns="0" tIns="0" rIns="0" bIns="0" rtlCol="0" anchor="t"/>
          <a:lstStyle/>
          <a:p>
            <a:pPr algn="l" indent="0" marL="0">
              <a:lnSpc>
                <a:spcPct val="110000"/>
              </a:lnSpc>
              <a:buNone/>
            </a:pPr>
            <a:r>
              <a:rPr lang="en-US" sz="1260" b="1" dirty="0">
                <a:solidFill>
                  <a:srgbClr val="B3181E"/>
                </a:solidFill>
                <a:latin typeface="Aptos" pitchFamily="34" charset="0"/>
                <a:ea typeface="Aptos" pitchFamily="34" charset="-122"/>
                <a:cs typeface="Aptos" pitchFamily="34" charset="-120"/>
              </a:rPr>
              <a:t>Un RUT con dígito verificador válido puede ser el de alguien</a:t>
            </a:r>
            <a:endParaRPr lang="en-US" sz="1260" dirty="0"/>
          </a:p>
        </p:txBody>
      </p:sp>
      <p:sp>
        <p:nvSpPr>
          <p:cNvPr id="14" name="Text 11"/>
          <p:cNvSpPr txBox="1"/>
          <p:nvPr/>
        </p:nvSpPr>
        <p:spPr>
          <a:xfrm>
            <a:off x="932688" y="2926080"/>
            <a:ext cx="4791456" cy="475488"/>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No hay intención de por medio y da lo mismo: el dato queda en la base de datos de prueba y es indistinguible de uno verdadero.</a:t>
            </a:r>
            <a:endParaRPr lang="en-US" sz="1140" dirty="0"/>
          </a:p>
        </p:txBody>
      </p:sp>
      <p:sp>
        <p:nvSpPr>
          <p:cNvPr id="15" name="Shape 12"/>
          <p:cNvSpPr/>
          <p:nvPr/>
        </p:nvSpPr>
        <p:spPr>
          <a:xfrm>
            <a:off x="6190488" y="2286000"/>
            <a:ext cx="5340096" cy="1207008"/>
          </a:xfrm>
          <a:prstGeom prst="rect">
            <a:avLst/>
          </a:prstGeom>
          <a:solidFill>
            <a:srgbClr val="F2E7D9"/>
          </a:solidFill>
          <a:ln w="12700">
            <a:solidFill>
              <a:srgbClr val="F2E7D9"/>
            </a:solidFill>
            <a:prstDash val="solid"/>
          </a:ln>
        </p:spPr>
      </p:sp>
      <p:sp>
        <p:nvSpPr>
          <p:cNvPr id="16" name="Shape 13"/>
          <p:cNvSpPr/>
          <p:nvPr/>
        </p:nvSpPr>
        <p:spPr>
          <a:xfrm>
            <a:off x="6190488" y="2286000"/>
            <a:ext cx="5340096" cy="54864"/>
          </a:xfrm>
          <a:prstGeom prst="rect">
            <a:avLst/>
          </a:prstGeom>
          <a:solidFill>
            <a:srgbClr val="B3181E"/>
          </a:solidFill>
          <a:ln w="12700">
            <a:solidFill>
              <a:srgbClr val="B3181E"/>
            </a:solidFill>
            <a:prstDash val="solid"/>
          </a:ln>
        </p:spPr>
      </p:sp>
      <p:sp>
        <p:nvSpPr>
          <p:cNvPr id="17" name="Text 14"/>
          <p:cNvSpPr txBox="1"/>
          <p:nvPr/>
        </p:nvSpPr>
        <p:spPr>
          <a:xfrm>
            <a:off x="6464808" y="2450592"/>
            <a:ext cx="4791456" cy="457200"/>
          </a:xfrm>
          <a:prstGeom prst="rect">
            <a:avLst/>
          </a:prstGeom>
          <a:noFill/>
          <a:ln/>
        </p:spPr>
        <p:txBody>
          <a:bodyPr wrap="square" lIns="0" tIns="0" rIns="0" bIns="0" rtlCol="0" anchor="t"/>
          <a:lstStyle/>
          <a:p>
            <a:pPr algn="l" indent="0" marL="0">
              <a:lnSpc>
                <a:spcPct val="110000"/>
              </a:lnSpc>
              <a:buNone/>
            </a:pPr>
            <a:r>
              <a:rPr lang="en-US" sz="1260" b="1" dirty="0">
                <a:solidFill>
                  <a:srgbClr val="B3181E"/>
                </a:solidFill>
                <a:latin typeface="Aptos" pitchFamily="34" charset="0"/>
                <a:ea typeface="Aptos" pitchFamily="34" charset="-122"/>
                <a:cs typeface="Aptos" pitchFamily="34" charset="-120"/>
              </a:rPr>
              <a:t>Si los datos se ven reales, nadie los trata como sintéticos</a:t>
            </a:r>
            <a:endParaRPr lang="en-US" sz="1260" dirty="0"/>
          </a:p>
        </p:txBody>
      </p:sp>
      <p:sp>
        <p:nvSpPr>
          <p:cNvPr id="18" name="Text 15"/>
          <p:cNvSpPr txBox="1"/>
          <p:nvPr/>
        </p:nvSpPr>
        <p:spPr>
          <a:xfrm>
            <a:off x="6464808" y="2926080"/>
            <a:ext cx="4791456" cy="475488"/>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Se copian a otro ambiente, se pegan en un ticket, se comparten en un mensaje.</a:t>
            </a:r>
            <a:endParaRPr lang="en-US" sz="1140" dirty="0"/>
          </a:p>
        </p:txBody>
      </p:sp>
      <p:sp>
        <p:nvSpPr>
          <p:cNvPr id="19" name="Shape 16"/>
          <p:cNvSpPr/>
          <p:nvPr/>
        </p:nvSpPr>
        <p:spPr>
          <a:xfrm>
            <a:off x="658368" y="3639312"/>
            <a:ext cx="3520440" cy="1133856"/>
          </a:xfrm>
          <a:prstGeom prst="rect">
            <a:avLst/>
          </a:prstGeom>
          <a:solidFill>
            <a:srgbClr val="FFFFFF"/>
          </a:solidFill>
          <a:ln w="12700">
            <a:solidFill>
              <a:srgbClr val="FFFFFF"/>
            </a:solidFill>
            <a:prstDash val="solid"/>
          </a:ln>
        </p:spPr>
      </p:sp>
      <p:sp>
        <p:nvSpPr>
          <p:cNvPr id="20" name="Shape 17"/>
          <p:cNvSpPr/>
          <p:nvPr/>
        </p:nvSpPr>
        <p:spPr>
          <a:xfrm>
            <a:off x="658368" y="3639312"/>
            <a:ext cx="3520440" cy="54864"/>
          </a:xfrm>
          <a:prstGeom prst="rect">
            <a:avLst/>
          </a:prstGeom>
          <a:solidFill>
            <a:srgbClr val="2E7D4F"/>
          </a:solidFill>
          <a:ln w="12700">
            <a:solidFill>
              <a:srgbClr val="2E7D4F"/>
            </a:solidFill>
            <a:prstDash val="solid"/>
          </a:ln>
        </p:spPr>
      </p:sp>
      <p:sp>
        <p:nvSpPr>
          <p:cNvPr id="21" name="Text 18"/>
          <p:cNvSpPr txBox="1"/>
          <p:nvPr/>
        </p:nvSpPr>
        <p:spPr>
          <a:xfrm>
            <a:off x="859536" y="3803904"/>
            <a:ext cx="3118104" cy="182880"/>
          </a:xfrm>
          <a:prstGeom prst="rect">
            <a:avLst/>
          </a:prstGeom>
          <a:noFill/>
          <a:ln/>
        </p:spPr>
        <p:txBody>
          <a:bodyPr wrap="square" lIns="0" tIns="0" rIns="0" bIns="0" rtlCol="0" anchor="t"/>
          <a:lstStyle/>
          <a:p>
            <a:pPr algn="l" indent="0" marL="0">
              <a:buNone/>
            </a:pPr>
            <a:r>
              <a:rPr lang="en-US" sz="920" b="1" spc="110" kern="0" dirty="0">
                <a:solidFill>
                  <a:srgbClr val="2E7D4F"/>
                </a:solidFill>
                <a:latin typeface="Aptos" pitchFamily="34" charset="0"/>
                <a:ea typeface="Aptos" pitchFamily="34" charset="-122"/>
                <a:cs typeface="Aptos" pitchFamily="34" charset="-120"/>
              </a:rPr>
              <a:t>QUÉ HACE BIEN</a:t>
            </a:r>
            <a:endParaRPr lang="en-US" sz="920" dirty="0"/>
          </a:p>
        </p:txBody>
      </p:sp>
      <p:sp>
        <p:nvSpPr>
          <p:cNvPr id="22" name="Text 19"/>
          <p:cNvSpPr txBox="1"/>
          <p:nvPr/>
        </p:nvSpPr>
        <p:spPr>
          <a:xfrm>
            <a:off x="859536" y="4041648"/>
            <a:ext cx="3118104" cy="640080"/>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Generar volumen sintético con formato correcto cuando se le fija el criterio.</a:t>
            </a:r>
            <a:endParaRPr lang="en-US" sz="1120" dirty="0"/>
          </a:p>
        </p:txBody>
      </p:sp>
      <p:sp>
        <p:nvSpPr>
          <p:cNvPr id="23" name="Shape 20"/>
          <p:cNvSpPr/>
          <p:nvPr/>
        </p:nvSpPr>
        <p:spPr>
          <a:xfrm>
            <a:off x="4288536" y="3639312"/>
            <a:ext cx="3520440" cy="1133856"/>
          </a:xfrm>
          <a:prstGeom prst="rect">
            <a:avLst/>
          </a:prstGeom>
          <a:solidFill>
            <a:srgbClr val="FFFFFF"/>
          </a:solidFill>
          <a:ln w="12700">
            <a:solidFill>
              <a:srgbClr val="FFFFFF"/>
            </a:solidFill>
            <a:prstDash val="solid"/>
          </a:ln>
        </p:spPr>
      </p:sp>
      <p:sp>
        <p:nvSpPr>
          <p:cNvPr id="24" name="Shape 21"/>
          <p:cNvSpPr/>
          <p:nvPr/>
        </p:nvSpPr>
        <p:spPr>
          <a:xfrm>
            <a:off x="4288536" y="3639312"/>
            <a:ext cx="3520440" cy="54864"/>
          </a:xfrm>
          <a:prstGeom prst="rect">
            <a:avLst/>
          </a:prstGeom>
          <a:solidFill>
            <a:srgbClr val="B3181E"/>
          </a:solidFill>
          <a:ln w="12700">
            <a:solidFill>
              <a:srgbClr val="B3181E"/>
            </a:solidFill>
            <a:prstDash val="solid"/>
          </a:ln>
        </p:spPr>
      </p:sp>
      <p:sp>
        <p:nvSpPr>
          <p:cNvPr id="25" name="Text 22"/>
          <p:cNvSpPr txBox="1"/>
          <p:nvPr/>
        </p:nvSpPr>
        <p:spPr>
          <a:xfrm>
            <a:off x="4489704" y="3803904"/>
            <a:ext cx="3118104"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QUÉ NO DELEGAR</a:t>
            </a:r>
            <a:endParaRPr lang="en-US" sz="920" dirty="0"/>
          </a:p>
        </p:txBody>
      </p:sp>
      <p:sp>
        <p:nvSpPr>
          <p:cNvPr id="26" name="Text 23"/>
          <p:cNvSpPr txBox="1"/>
          <p:nvPr/>
        </p:nvSpPr>
        <p:spPr>
          <a:xfrm>
            <a:off x="4489704" y="4041648"/>
            <a:ext cx="3118104" cy="640080"/>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Decidir qué campos entran: eso exige nombrar la finalidad, que está en el requisito.</a:t>
            </a:r>
            <a:endParaRPr lang="en-US" sz="1120" dirty="0"/>
          </a:p>
        </p:txBody>
      </p:sp>
      <p:sp>
        <p:nvSpPr>
          <p:cNvPr id="27" name="Shape 24"/>
          <p:cNvSpPr/>
          <p:nvPr/>
        </p:nvSpPr>
        <p:spPr>
          <a:xfrm>
            <a:off x="7918704" y="3639312"/>
            <a:ext cx="3520440" cy="1133856"/>
          </a:xfrm>
          <a:prstGeom prst="rect">
            <a:avLst/>
          </a:prstGeom>
          <a:solidFill>
            <a:srgbClr val="FFFFFF"/>
          </a:solidFill>
          <a:ln w="12700">
            <a:solidFill>
              <a:srgbClr val="FFFFFF"/>
            </a:solidFill>
            <a:prstDash val="solid"/>
          </a:ln>
        </p:spPr>
      </p:sp>
      <p:sp>
        <p:nvSpPr>
          <p:cNvPr id="28" name="Shape 25"/>
          <p:cNvSpPr/>
          <p:nvPr/>
        </p:nvSpPr>
        <p:spPr>
          <a:xfrm>
            <a:off x="7918704" y="3639312"/>
            <a:ext cx="3520440" cy="54864"/>
          </a:xfrm>
          <a:prstGeom prst="rect">
            <a:avLst/>
          </a:prstGeom>
          <a:solidFill>
            <a:srgbClr val="8A6A12"/>
          </a:solidFill>
          <a:ln w="12700">
            <a:solidFill>
              <a:srgbClr val="8A6A12"/>
            </a:solidFill>
            <a:prstDash val="solid"/>
          </a:ln>
        </p:spPr>
      </p:sp>
      <p:sp>
        <p:nvSpPr>
          <p:cNvPr id="29" name="Text 26"/>
          <p:cNvSpPr txBox="1"/>
          <p:nvPr/>
        </p:nvSpPr>
        <p:spPr>
          <a:xfrm>
            <a:off x="8119872" y="3803904"/>
            <a:ext cx="3118104" cy="182880"/>
          </a:xfrm>
          <a:prstGeom prst="rect">
            <a:avLst/>
          </a:prstGeom>
          <a:noFill/>
          <a:ln/>
        </p:spPr>
        <p:txBody>
          <a:bodyPr wrap="square" lIns="0" tIns="0" rIns="0" bIns="0" rtlCol="0" anchor="t"/>
          <a:lstStyle/>
          <a:p>
            <a:pPr algn="l" indent="0" marL="0">
              <a:buNone/>
            </a:pPr>
            <a:r>
              <a:rPr lang="en-US" sz="920" b="1" spc="110" kern="0" dirty="0">
                <a:solidFill>
                  <a:srgbClr val="8A6A12"/>
                </a:solidFill>
                <a:latin typeface="Aptos" pitchFamily="34" charset="0"/>
                <a:ea typeface="Aptos" pitchFamily="34" charset="-122"/>
                <a:cs typeface="Aptos" pitchFamily="34" charset="-120"/>
              </a:rPr>
              <a:t>ERROR FRECUENTE</a:t>
            </a:r>
            <a:endParaRPr lang="en-US" sz="920" dirty="0"/>
          </a:p>
        </p:txBody>
      </p:sp>
      <p:sp>
        <p:nvSpPr>
          <p:cNvPr id="30" name="Text 27"/>
          <p:cNvSpPr txBox="1"/>
          <p:nvPr/>
        </p:nvSpPr>
        <p:spPr>
          <a:xfrm>
            <a:off x="8119872" y="4041648"/>
            <a:ext cx="3118104" cy="640080"/>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Pedir «realistas» en vez de «sintéticos y reconociblemente falsos».</a:t>
            </a:r>
            <a:endParaRPr lang="en-US" sz="1120" dirty="0"/>
          </a:p>
        </p:txBody>
      </p:sp>
      <p:sp>
        <p:nvSpPr>
          <p:cNvPr id="31" name="Shape 28"/>
          <p:cNvSpPr/>
          <p:nvPr/>
        </p:nvSpPr>
        <p:spPr>
          <a:xfrm>
            <a:off x="658368" y="4919472"/>
            <a:ext cx="10874959" cy="585216"/>
          </a:xfrm>
          <a:prstGeom prst="rect">
            <a:avLst/>
          </a:prstGeom>
          <a:solidFill>
            <a:srgbClr val="F8E4E5"/>
          </a:solidFill>
          <a:ln w="12700">
            <a:solidFill>
              <a:srgbClr val="F8E4E5"/>
            </a:solidFill>
            <a:prstDash val="solid"/>
          </a:ln>
        </p:spPr>
      </p:sp>
      <p:sp>
        <p:nvSpPr>
          <p:cNvPr id="32" name="Text 29"/>
          <p:cNvSpPr txBox="1"/>
          <p:nvPr/>
        </p:nvSpPr>
        <p:spPr>
          <a:xfrm>
            <a:off x="950976" y="5047488"/>
            <a:ext cx="10289743" cy="347472"/>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Y una advertencia que va más allá de la fixture: pegar una fila de producción en el chat de un agente para que «entienda el formato» es comunicar datos personales a un tercero.</a:t>
            </a:r>
            <a:endParaRPr lang="en-US" sz="1220" dirty="0"/>
          </a:p>
        </p:txBody>
      </p:sp>
      <p:sp>
        <p:nvSpPr>
          <p:cNvPr id="33" name="Shape 30"/>
          <p:cNvSpPr/>
          <p:nvPr/>
        </p:nvSpPr>
        <p:spPr>
          <a:xfrm>
            <a:off x="658368" y="5650992"/>
            <a:ext cx="10874959" cy="548640"/>
          </a:xfrm>
          <a:prstGeom prst="rect">
            <a:avLst/>
          </a:prstGeom>
          <a:solidFill>
            <a:srgbClr val="102A43"/>
          </a:solidFill>
          <a:ln w="12700">
            <a:solidFill>
              <a:srgbClr val="102A43"/>
            </a:solidFill>
            <a:prstDash val="solid"/>
          </a:ln>
        </p:spPr>
      </p:sp>
      <p:sp>
        <p:nvSpPr>
          <p:cNvPr id="34" name="Text 3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Es la versión moderna de compartir un dump por un canal informal.</a:t>
            </a:r>
            <a:endParaRPr lang="en-US" sz="13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del último bloque</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El artículo 3º c) exige limitar los datos a los necesarios «en relación con los fines». ¿Por qué ese criterio no se puede aplicar mirando solo la fixture?</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Revisa qué pasa si intentas juzgar si el RUT sobra sin haber dicho antes qué comprueba la prueba.</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Una suite informa 4 passed, 4 errors. Un compañero dice que se puede subir igual, porque los errores son «de la fixture, no del código». ¿Qué le falta considerar?</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Piensa qué afirma cada una de las dos cifras por separado, y cuál de las dos habla de datos que quedaron en un disco.</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pytest conserva a propósito los directorios de las últimas tres ejecuciones para depurar. ¿En qué se convierte esa comodidad si la fixture carga datos reales?</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Separa dos cosas: que dos pruebas no se pisen, y cuánto tiempo sobrevive lo que se escribió.</a:t>
            </a:r>
            <a:endParaRPr lang="en-US" sz="114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38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3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FALTA LA FINALIDAD</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 frase dice «en relación con los fines»: sin un fin declarado no hay forma de decidir si un campo sobra.</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El requisito manda sobre la fixture</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Juzgar los datos por intuición</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LOS ERRORES HABLAN DE DATOS</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Las cuatro pruebas dicen que el sistema se comporta bien. Los cuatro errores dicen que los datos siguen ahí.</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Una ejecución afirma dos cosas distintas</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Leer solo la cifra cómoda</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EN UNA RETENCIÓN NO DECIDIDA</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tmp_path da aislamiento, no eliminación: por eso el unlink explícito y su comprobación no son redundantes.</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La herramienta resuelve una sola de las dos</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Confiar el borrado a la herramienta</a:t>
            </a:r>
            <a:endParaRPr lang="en-US" sz="102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39</a:t>
            </a:r>
            <a:endParaRPr lang="en-US" sz="1400" dirty="0"/>
          </a:p>
        </p:txBody>
      </p:sp>
      <p:sp>
        <p:nvSpPr>
          <p:cNvPr id="8" name="Text 5"/>
          <p:cNvSpPr txBox="1"/>
          <p:nvPr/>
        </p:nvSpPr>
        <p:spPr>
          <a:xfrm>
            <a:off x="658368" y="1371600"/>
            <a:ext cx="4572000" cy="201168"/>
          </a:xfrm>
          <a:prstGeom prst="rect">
            <a:avLst/>
          </a:prstGeom>
          <a:noFill/>
          <a:ln/>
        </p:spPr>
        <p:txBody>
          <a:bodyPr wrap="square" lIns="0" tIns="0" rIns="0" bIns="0" rtlCol="0" anchor="t"/>
          <a:lstStyle/>
          <a:p>
            <a:pPr algn="l" indent="0" marL="0">
              <a:buNone/>
            </a:pPr>
            <a:r>
              <a:rPr lang="en-US" sz="960" b="1" spc="130" kern="0" dirty="0">
                <a:solidFill>
                  <a:srgbClr val="E0BC5A"/>
                </a:solidFill>
                <a:latin typeface="Aptos" pitchFamily="34" charset="0"/>
                <a:ea typeface="Aptos" pitchFamily="34" charset="-122"/>
                <a:cs typeface="Aptos" pitchFamily="34" charset="-120"/>
              </a:rPr>
              <a:t>BLOQUE 4 DE 4 · 20 MINUTOS</a:t>
            </a:r>
            <a:endParaRPr lang="en-US" sz="960" dirty="0"/>
          </a:p>
        </p:txBody>
      </p:sp>
      <p:sp>
        <p:nvSpPr>
          <p:cNvPr id="9" name="Text 6"/>
          <p:cNvSpPr txBox="1"/>
          <p:nvPr/>
        </p:nvSpPr>
        <p:spPr>
          <a:xfrm>
            <a:off x="658368" y="1810512"/>
            <a:ext cx="9784080" cy="1371600"/>
          </a:xfrm>
          <a:prstGeom prst="rect">
            <a:avLst/>
          </a:prstGeom>
          <a:noFill/>
          <a:ln/>
        </p:spPr>
        <p:txBody>
          <a:bodyPr wrap="square" lIns="0" tIns="0" rIns="0" bIns="0" rtlCol="0" anchor="t"/>
          <a:lstStyle/>
          <a:p>
            <a:pPr algn="l" indent="0" marL="0">
              <a:lnSpc>
                <a:spcPct val="102000"/>
              </a:lnSpc>
              <a:buNone/>
            </a:pPr>
            <a:r>
              <a:rPr lang="en-US" sz="4000" b="1" dirty="0">
                <a:solidFill>
                  <a:srgbClr val="FFFFFF"/>
                </a:solidFill>
                <a:latin typeface="Aptos Display" pitchFamily="34" charset="0"/>
                <a:ea typeface="Aptos Display" pitchFamily="34" charset="-122"/>
                <a:cs typeface="Aptos Display" pitchFamily="34" charset="-120"/>
              </a:rPr>
              <a:t>Dónde un doble deja de ser legítimo</a:t>
            </a:r>
            <a:endParaRPr lang="en-US" sz="4000" dirty="0"/>
          </a:p>
        </p:txBody>
      </p:sp>
      <p:sp>
        <p:nvSpPr>
          <p:cNvPr id="10" name="Shape 7"/>
          <p:cNvSpPr/>
          <p:nvPr/>
        </p:nvSpPr>
        <p:spPr>
          <a:xfrm>
            <a:off x="658368" y="3346704"/>
            <a:ext cx="3840480" cy="0"/>
          </a:xfrm>
          <a:prstGeom prst="line">
            <a:avLst/>
          </a:prstGeom>
          <a:noFill/>
          <a:ln w="12700">
            <a:solidFill>
              <a:srgbClr val="E0BC5A"/>
            </a:solidFill>
            <a:prstDash val="solid"/>
            <a:headEnd type="none"/>
            <a:tailEnd type="none"/>
          </a:ln>
        </p:spPr>
      </p:sp>
      <p:sp>
        <p:nvSpPr>
          <p:cNvPr id="11" name="Text 8"/>
          <p:cNvSpPr txBox="1"/>
          <p:nvPr/>
        </p:nvSpPr>
        <p:spPr>
          <a:xfrm>
            <a:off x="658368" y="3602736"/>
            <a:ext cx="9326880" cy="786384"/>
          </a:xfrm>
          <a:prstGeom prst="rect">
            <a:avLst/>
          </a:prstGeom>
          <a:noFill/>
          <a:ln/>
        </p:spPr>
        <p:txBody>
          <a:bodyPr wrap="square" lIns="0" tIns="0" rIns="0" bIns="0" rtlCol="0" anchor="t"/>
          <a:lstStyle/>
          <a:p>
            <a:pPr algn="l" indent="0" marL="0">
              <a:lnSpc>
                <a:spcPct val="120000"/>
              </a:lnSpc>
              <a:buNone/>
            </a:pPr>
            <a:r>
              <a:rPr lang="en-US" sz="1500" dirty="0">
                <a:solidFill>
                  <a:srgbClr val="EADFD0"/>
                </a:solidFill>
                <a:latin typeface="Aptos" pitchFamily="34" charset="0"/>
                <a:ea typeface="Aptos" pitchFamily="34" charset="-122"/>
                <a:cs typeface="Aptos" pitchFamily="34" charset="-120"/>
              </a:rPr>
              <a:t>Sustituir una dependencia por un doble de prueba es legítimo y a veces necesario. Lo que falta es el límite, y el límite lo da el nivel en el que se está probando.</a:t>
            </a:r>
            <a:endParaRPr lang="en-US" sz="1500" dirty="0"/>
          </a:p>
        </p:txBody>
      </p:sp>
      <p:sp>
        <p:nvSpPr>
          <p:cNvPr id="12" name="Shape 9"/>
          <p:cNvSpPr/>
          <p:nvPr/>
        </p:nvSpPr>
        <p:spPr>
          <a:xfrm>
            <a:off x="658368" y="4901184"/>
            <a:ext cx="2622728" cy="786384"/>
          </a:xfrm>
          <a:prstGeom prst="rect">
            <a:avLst/>
          </a:prstGeom>
          <a:solidFill>
            <a:srgbClr val="1D3A57"/>
          </a:solidFill>
          <a:ln w="12700">
            <a:solidFill>
              <a:srgbClr val="1D3A57"/>
            </a:solidFill>
            <a:prstDash val="solid"/>
          </a:ln>
        </p:spPr>
      </p:sp>
      <p:sp>
        <p:nvSpPr>
          <p:cNvPr id="13" name="Text 10"/>
          <p:cNvSpPr txBox="1"/>
          <p:nvPr/>
        </p:nvSpPr>
        <p:spPr>
          <a:xfrm>
            <a:off x="841248"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01</a:t>
            </a:r>
            <a:endParaRPr lang="en-US" sz="900" dirty="0"/>
          </a:p>
        </p:txBody>
      </p:sp>
      <p:sp>
        <p:nvSpPr>
          <p:cNvPr id="14" name="Text 11"/>
          <p:cNvSpPr txBox="1"/>
          <p:nvPr/>
        </p:nvSpPr>
        <p:spPr>
          <a:xfrm>
            <a:off x="841248"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CONECTAR</a:t>
            </a:r>
            <a:endParaRPr lang="en-US" sz="1160" dirty="0"/>
          </a:p>
        </p:txBody>
      </p:sp>
      <p:sp>
        <p:nvSpPr>
          <p:cNvPr id="15" name="Text 12"/>
          <p:cNvSpPr txBox="1"/>
          <p:nvPr/>
        </p:nvSpPr>
        <p:spPr>
          <a:xfrm>
            <a:off x="841248"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Dejar de sustituir lo que se quiere observar</a:t>
            </a:r>
            <a:endParaRPr lang="en-US" sz="920" dirty="0"/>
          </a:p>
        </p:txBody>
      </p:sp>
      <p:sp>
        <p:nvSpPr>
          <p:cNvPr id="16" name="Shape 13"/>
          <p:cNvSpPr/>
          <p:nvPr/>
        </p:nvSpPr>
        <p:spPr>
          <a:xfrm>
            <a:off x="3409112" y="4901184"/>
            <a:ext cx="2622728" cy="786384"/>
          </a:xfrm>
          <a:prstGeom prst="rect">
            <a:avLst/>
          </a:prstGeom>
          <a:solidFill>
            <a:srgbClr val="1D3A57"/>
          </a:solidFill>
          <a:ln w="12700">
            <a:solidFill>
              <a:srgbClr val="1D3A57"/>
            </a:solidFill>
            <a:prstDash val="solid"/>
          </a:ln>
        </p:spPr>
      </p:sp>
      <p:sp>
        <p:nvSpPr>
          <p:cNvPr id="17" name="Text 14"/>
          <p:cNvSpPr txBox="1"/>
          <p:nvPr/>
        </p:nvSpPr>
        <p:spPr>
          <a:xfrm>
            <a:off x="3591992"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02</a:t>
            </a:r>
            <a:endParaRPr lang="en-US" sz="900" dirty="0"/>
          </a:p>
        </p:txBody>
      </p:sp>
      <p:sp>
        <p:nvSpPr>
          <p:cNvPr id="18" name="Text 15"/>
          <p:cNvSpPr txBox="1"/>
          <p:nvPr/>
        </p:nvSpPr>
        <p:spPr>
          <a:xfrm>
            <a:off x="3591992"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AISLAR</a:t>
            </a:r>
            <a:endParaRPr lang="en-US" sz="1160" dirty="0"/>
          </a:p>
        </p:txBody>
      </p:sp>
      <p:sp>
        <p:nvSpPr>
          <p:cNvPr id="19" name="Text 16"/>
          <p:cNvSpPr txBox="1"/>
          <p:nvPr/>
        </p:nvSpPr>
        <p:spPr>
          <a:xfrm>
            <a:off x="3591992"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Que el resultado no dependa del orden</a:t>
            </a:r>
            <a:endParaRPr lang="en-US" sz="920" dirty="0"/>
          </a:p>
        </p:txBody>
      </p:sp>
      <p:sp>
        <p:nvSpPr>
          <p:cNvPr id="20" name="Shape 17"/>
          <p:cNvSpPr/>
          <p:nvPr/>
        </p:nvSpPr>
        <p:spPr>
          <a:xfrm>
            <a:off x="6159856" y="4901184"/>
            <a:ext cx="2622728" cy="786384"/>
          </a:xfrm>
          <a:prstGeom prst="rect">
            <a:avLst/>
          </a:prstGeom>
          <a:solidFill>
            <a:srgbClr val="1D3A57"/>
          </a:solidFill>
          <a:ln w="12700">
            <a:solidFill>
              <a:srgbClr val="1D3A57"/>
            </a:solidFill>
            <a:prstDash val="solid"/>
          </a:ln>
        </p:spPr>
      </p:sp>
      <p:sp>
        <p:nvSpPr>
          <p:cNvPr id="21" name="Text 18"/>
          <p:cNvSpPr txBox="1"/>
          <p:nvPr/>
        </p:nvSpPr>
        <p:spPr>
          <a:xfrm>
            <a:off x="6342736" y="5001768"/>
            <a:ext cx="457200" cy="182880"/>
          </a:xfrm>
          <a:prstGeom prst="rect">
            <a:avLst/>
          </a:prstGeom>
          <a:noFill/>
          <a:ln/>
        </p:spPr>
        <p:txBody>
          <a:bodyPr wrap="square" lIns="0" tIns="0" rIns="0" bIns="0" rtlCol="0" anchor="t"/>
          <a:lstStyle/>
          <a:p>
            <a:pPr algn="l" indent="0" marL="0">
              <a:buNone/>
            </a:pPr>
            <a:r>
              <a:rPr lang="en-US" sz="900" b="1" spc="80" kern="0" dirty="0">
                <a:solidFill>
                  <a:srgbClr val="E0BC5A"/>
                </a:solidFill>
                <a:latin typeface="Aptos" pitchFamily="34" charset="0"/>
                <a:ea typeface="Aptos" pitchFamily="34" charset="-122"/>
                <a:cs typeface="Aptos" pitchFamily="34" charset="-120"/>
              </a:rPr>
              <a:t>03</a:t>
            </a:r>
            <a:endParaRPr lang="en-US" sz="900" dirty="0"/>
          </a:p>
        </p:txBody>
      </p:sp>
      <p:sp>
        <p:nvSpPr>
          <p:cNvPr id="22" name="Text 19"/>
          <p:cNvSpPr txBox="1"/>
          <p:nvPr/>
        </p:nvSpPr>
        <p:spPr>
          <a:xfrm>
            <a:off x="6342736"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BORRAR</a:t>
            </a:r>
            <a:endParaRPr lang="en-US" sz="1160" dirty="0"/>
          </a:p>
        </p:txBody>
      </p:sp>
      <p:sp>
        <p:nvSpPr>
          <p:cNvPr id="23" name="Text 20"/>
          <p:cNvSpPr txBox="1"/>
          <p:nvPr/>
        </p:nvSpPr>
        <p:spPr>
          <a:xfrm>
            <a:off x="6342736"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6EEF7"/>
                </a:solidFill>
                <a:latin typeface="Aptos" pitchFamily="34" charset="0"/>
                <a:ea typeface="Aptos" pitchFamily="34" charset="-122"/>
                <a:cs typeface="Aptos" pitchFamily="34" charset="-120"/>
              </a:rPr>
              <a:t>Y comprobar que se borró</a:t>
            </a:r>
            <a:endParaRPr lang="en-US" sz="920" dirty="0"/>
          </a:p>
        </p:txBody>
      </p:sp>
      <p:sp>
        <p:nvSpPr>
          <p:cNvPr id="24" name="Shape 21"/>
          <p:cNvSpPr/>
          <p:nvPr/>
        </p:nvSpPr>
        <p:spPr>
          <a:xfrm>
            <a:off x="8910599" y="4901184"/>
            <a:ext cx="2622728" cy="786384"/>
          </a:xfrm>
          <a:prstGeom prst="rect">
            <a:avLst/>
          </a:prstGeom>
          <a:solidFill>
            <a:srgbClr val="D62027"/>
          </a:solidFill>
          <a:ln w="12700">
            <a:solidFill>
              <a:srgbClr val="D62027"/>
            </a:solidFill>
            <a:prstDash val="solid"/>
          </a:ln>
        </p:spPr>
      </p:sp>
      <p:sp>
        <p:nvSpPr>
          <p:cNvPr id="25" name="Text 22"/>
          <p:cNvSpPr txBox="1"/>
          <p:nvPr/>
        </p:nvSpPr>
        <p:spPr>
          <a:xfrm>
            <a:off x="9093479" y="5001768"/>
            <a:ext cx="457200" cy="182880"/>
          </a:xfrm>
          <a:prstGeom prst="rect">
            <a:avLst/>
          </a:prstGeom>
          <a:noFill/>
          <a:ln/>
        </p:spPr>
        <p:txBody>
          <a:bodyPr wrap="square" lIns="0" tIns="0" rIns="0" bIns="0" rtlCol="0" anchor="t"/>
          <a:lstStyle/>
          <a:p>
            <a:pPr algn="l" indent="0" marL="0">
              <a:buNone/>
            </a:pPr>
            <a:r>
              <a:rPr lang="en-US" sz="900" b="1" spc="80" kern="0" dirty="0">
                <a:solidFill>
                  <a:srgbClr val="FFFFFF"/>
                </a:solidFill>
                <a:latin typeface="Aptos" pitchFamily="34" charset="0"/>
                <a:ea typeface="Aptos" pitchFamily="34" charset="-122"/>
                <a:cs typeface="Aptos" pitchFamily="34" charset="-120"/>
              </a:rPr>
              <a:t>04</a:t>
            </a:r>
            <a:endParaRPr lang="en-US" sz="900" dirty="0"/>
          </a:p>
        </p:txBody>
      </p:sp>
      <p:sp>
        <p:nvSpPr>
          <p:cNvPr id="26" name="Text 23"/>
          <p:cNvSpPr txBox="1"/>
          <p:nvPr/>
        </p:nvSpPr>
        <p:spPr>
          <a:xfrm>
            <a:off x="9093479" y="5184648"/>
            <a:ext cx="2256968" cy="219456"/>
          </a:xfrm>
          <a:prstGeom prst="rect">
            <a:avLst/>
          </a:prstGeom>
          <a:noFill/>
          <a:ln/>
        </p:spPr>
        <p:txBody>
          <a:bodyPr wrap="square" lIns="0" tIns="0" rIns="0" bIns="0" rtlCol="0" anchor="t"/>
          <a:lstStyle/>
          <a:p>
            <a:pPr algn="l" indent="0" marL="0">
              <a:buNone/>
            </a:pPr>
            <a:r>
              <a:rPr lang="en-US" sz="1160" b="1" spc="90" kern="0" dirty="0">
                <a:solidFill>
                  <a:srgbClr val="FFFFFF"/>
                </a:solidFill>
                <a:latin typeface="Aptos" pitchFamily="34" charset="0"/>
                <a:ea typeface="Aptos" pitchFamily="34" charset="-122"/>
                <a:cs typeface="Aptos" pitchFamily="34" charset="-120"/>
              </a:rPr>
              <a:t>DECIDIR</a:t>
            </a:r>
            <a:endParaRPr lang="en-US" sz="1160" dirty="0"/>
          </a:p>
        </p:txBody>
      </p:sp>
      <p:sp>
        <p:nvSpPr>
          <p:cNvPr id="27" name="Text 24"/>
          <p:cNvSpPr txBox="1"/>
          <p:nvPr/>
        </p:nvSpPr>
        <p:spPr>
          <a:xfrm>
            <a:off x="9093479" y="5422392"/>
            <a:ext cx="2256968" cy="219456"/>
          </a:xfrm>
          <a:prstGeom prst="rect">
            <a:avLst/>
          </a:prstGeom>
          <a:noFill/>
          <a:ln/>
        </p:spPr>
        <p:txBody>
          <a:bodyPr wrap="square" lIns="0" tIns="0" rIns="0" bIns="0" rtlCol="0" anchor="t"/>
          <a:lstStyle/>
          <a:p>
            <a:pPr algn="l" indent="0" marL="0">
              <a:lnSpc>
                <a:spcPct val="105000"/>
              </a:lnSpc>
              <a:buNone/>
            </a:pPr>
            <a:r>
              <a:rPr lang="en-US" sz="920" dirty="0">
                <a:solidFill>
                  <a:srgbClr val="EADFD0"/>
                </a:solidFill>
                <a:latin typeface="Aptos" pitchFamily="34" charset="0"/>
                <a:ea typeface="Aptos" pitchFamily="34" charset="-122"/>
                <a:cs typeface="Aptos" pitchFamily="34" charset="-120"/>
              </a:rPr>
              <a:t>Qué se sustituye y qué no</a:t>
            </a:r>
            <a:endParaRPr lang="en-US" sz="9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VOCABULARIO QUE VUELVE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900" b="1" dirty="0">
                <a:solidFill>
                  <a:srgbClr val="243B53"/>
                </a:solidFill>
                <a:latin typeface="Aptos Display" pitchFamily="34" charset="0"/>
                <a:ea typeface="Aptos Display" pitchFamily="34" charset="-122"/>
                <a:cs typeface="Aptos Display" pitchFamily="34" charset="-120"/>
              </a:rPr>
              <a:t>El doble de prueba, y las piezas que se usan hoy</a:t>
            </a:r>
            <a:endParaRPr lang="en-US" sz="29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Nada de esto se da por sabido: se vuelve a dejar escrito antes de usarlo.</a:t>
            </a:r>
            <a:endParaRPr lang="en-US" sz="1420" dirty="0"/>
          </a:p>
        </p:txBody>
      </p:sp>
      <p:sp>
        <p:nvSpPr>
          <p:cNvPr id="11" name="Shape 8"/>
          <p:cNvSpPr/>
          <p:nvPr/>
        </p:nvSpPr>
        <p:spPr>
          <a:xfrm>
            <a:off x="658368" y="2249424"/>
            <a:ext cx="10874959" cy="713232"/>
          </a:xfrm>
          <a:prstGeom prst="rect">
            <a:avLst/>
          </a:prstGeom>
          <a:solidFill>
            <a:srgbClr val="FFFFFF"/>
          </a:solidFill>
          <a:ln w="12700">
            <a:solidFill>
              <a:srgbClr val="FFFFFF"/>
            </a:solidFill>
            <a:prstDash val="solid"/>
          </a:ln>
        </p:spPr>
      </p:sp>
      <p:sp>
        <p:nvSpPr>
          <p:cNvPr id="12" name="Shape 9"/>
          <p:cNvSpPr/>
          <p:nvPr/>
        </p:nvSpPr>
        <p:spPr>
          <a:xfrm>
            <a:off x="658368" y="2249424"/>
            <a:ext cx="54864" cy="713232"/>
          </a:xfrm>
          <a:prstGeom prst="rect">
            <a:avLst/>
          </a:prstGeom>
          <a:solidFill>
            <a:srgbClr val="102A43"/>
          </a:solidFill>
          <a:ln w="12700">
            <a:solidFill>
              <a:srgbClr val="102A43"/>
            </a:solidFill>
            <a:prstDash val="solid"/>
          </a:ln>
        </p:spPr>
      </p:sp>
      <p:sp>
        <p:nvSpPr>
          <p:cNvPr id="13" name="Text 10"/>
          <p:cNvSpPr txBox="1"/>
          <p:nvPr/>
        </p:nvSpPr>
        <p:spPr>
          <a:xfrm>
            <a:off x="896112" y="2377440"/>
            <a:ext cx="10417759"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DOBLE DE PRUEBA</a:t>
            </a:r>
            <a:endParaRPr lang="en-US" sz="920" dirty="0"/>
          </a:p>
        </p:txBody>
      </p:sp>
      <p:sp>
        <p:nvSpPr>
          <p:cNvPr id="14" name="Text 11"/>
          <p:cNvSpPr txBox="1"/>
          <p:nvPr/>
        </p:nvSpPr>
        <p:spPr>
          <a:xfrm>
            <a:off x="896112" y="2633472"/>
            <a:ext cx="10417759" cy="219456"/>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Un objeto que ocupa el lugar de una dependencia real mientras la prueba se ejecuta. La dependencia no corre; corre el sustituto.</a:t>
            </a:r>
            <a:endParaRPr lang="en-US" sz="1210" dirty="0"/>
          </a:p>
        </p:txBody>
      </p:sp>
      <p:sp>
        <p:nvSpPr>
          <p:cNvPr id="15" name="Shape 12"/>
          <p:cNvSpPr/>
          <p:nvPr/>
        </p:nvSpPr>
        <p:spPr>
          <a:xfrm>
            <a:off x="658368" y="3072384"/>
            <a:ext cx="2084832" cy="1024128"/>
          </a:xfrm>
          <a:prstGeom prst="rect">
            <a:avLst/>
          </a:prstGeom>
          <a:solidFill>
            <a:srgbClr val="EDE6DA"/>
          </a:solidFill>
          <a:ln w="12700">
            <a:solidFill>
              <a:srgbClr val="EDE6DA"/>
            </a:solidFill>
            <a:prstDash val="solid"/>
          </a:ln>
        </p:spPr>
      </p:sp>
      <p:sp>
        <p:nvSpPr>
          <p:cNvPr id="16" name="Shape 13"/>
          <p:cNvSpPr/>
          <p:nvPr/>
        </p:nvSpPr>
        <p:spPr>
          <a:xfrm>
            <a:off x="658368" y="3072384"/>
            <a:ext cx="2084832" cy="54864"/>
          </a:xfrm>
          <a:prstGeom prst="rect">
            <a:avLst/>
          </a:prstGeom>
          <a:solidFill>
            <a:srgbClr val="52606D"/>
          </a:solidFill>
          <a:ln w="12700">
            <a:solidFill>
              <a:srgbClr val="52606D"/>
            </a:solidFill>
            <a:prstDash val="solid"/>
          </a:ln>
        </p:spPr>
      </p:sp>
      <p:sp>
        <p:nvSpPr>
          <p:cNvPr id="17" name="Text 14"/>
          <p:cNvSpPr txBox="1"/>
          <p:nvPr/>
        </p:nvSpPr>
        <p:spPr>
          <a:xfrm>
            <a:off x="822960" y="3236976"/>
            <a:ext cx="1755648" cy="182880"/>
          </a:xfrm>
          <a:prstGeom prst="rect">
            <a:avLst/>
          </a:prstGeom>
          <a:noFill/>
          <a:ln/>
        </p:spPr>
        <p:txBody>
          <a:bodyPr wrap="square" lIns="0" tIns="0" rIns="0" bIns="0" rtlCol="0" anchor="t"/>
          <a:lstStyle/>
          <a:p>
            <a:pPr algn="l" indent="0" marL="0">
              <a:buNone/>
            </a:pPr>
            <a:r>
              <a:rPr lang="en-US" sz="1040" b="1" spc="100" kern="0" dirty="0">
                <a:solidFill>
                  <a:srgbClr val="243B53"/>
                </a:solidFill>
                <a:latin typeface="Aptos" pitchFamily="34" charset="0"/>
                <a:ea typeface="Aptos" pitchFamily="34" charset="-122"/>
                <a:cs typeface="Aptos" pitchFamily="34" charset="-120"/>
              </a:rPr>
              <a:t>DUMMY</a:t>
            </a:r>
            <a:endParaRPr lang="en-US" sz="1040" dirty="0"/>
          </a:p>
        </p:txBody>
      </p:sp>
      <p:sp>
        <p:nvSpPr>
          <p:cNvPr id="18" name="Text 15"/>
          <p:cNvSpPr txBox="1"/>
          <p:nvPr/>
        </p:nvSpPr>
        <p:spPr>
          <a:xfrm>
            <a:off x="822960" y="3474720"/>
            <a:ext cx="1755648" cy="512064"/>
          </a:xfrm>
          <a:prstGeom prst="rect">
            <a:avLst/>
          </a:prstGeom>
          <a:noFill/>
          <a:ln/>
        </p:spPr>
        <p:txBody>
          <a:bodyPr wrap="square" lIns="0" tIns="0" rIns="0" bIns="0" rtlCol="0" anchor="t"/>
          <a:lstStyle/>
          <a:p>
            <a:pPr algn="l" indent="0" marL="0">
              <a:lnSpc>
                <a:spcPct val="110000"/>
              </a:lnSpc>
              <a:buNone/>
            </a:pPr>
            <a:r>
              <a:rPr lang="en-US" sz="980" dirty="0">
                <a:solidFill>
                  <a:srgbClr val="52606D"/>
                </a:solidFill>
                <a:latin typeface="Aptos" pitchFamily="34" charset="0"/>
                <a:ea typeface="Aptos" pitchFamily="34" charset="-122"/>
                <a:cs typeface="Aptos" pitchFamily="34" charset="-120"/>
              </a:rPr>
              <a:t>Se pasa para llenar un parámetro y nunca se usa</a:t>
            </a:r>
            <a:endParaRPr lang="en-US" sz="980" dirty="0"/>
          </a:p>
        </p:txBody>
      </p:sp>
      <p:sp>
        <p:nvSpPr>
          <p:cNvPr id="19" name="Shape 16"/>
          <p:cNvSpPr/>
          <p:nvPr/>
        </p:nvSpPr>
        <p:spPr>
          <a:xfrm>
            <a:off x="2857500" y="3072384"/>
            <a:ext cx="2084832" cy="1024128"/>
          </a:xfrm>
          <a:prstGeom prst="rect">
            <a:avLst/>
          </a:prstGeom>
          <a:solidFill>
            <a:srgbClr val="EDE6DA"/>
          </a:solidFill>
          <a:ln w="12700">
            <a:solidFill>
              <a:srgbClr val="EDE6DA"/>
            </a:solidFill>
            <a:prstDash val="solid"/>
          </a:ln>
        </p:spPr>
      </p:sp>
      <p:sp>
        <p:nvSpPr>
          <p:cNvPr id="20" name="Shape 17"/>
          <p:cNvSpPr/>
          <p:nvPr/>
        </p:nvSpPr>
        <p:spPr>
          <a:xfrm>
            <a:off x="2857500" y="3072384"/>
            <a:ext cx="2084832" cy="54864"/>
          </a:xfrm>
          <a:prstGeom prst="rect">
            <a:avLst/>
          </a:prstGeom>
          <a:solidFill>
            <a:srgbClr val="B3181E"/>
          </a:solidFill>
          <a:ln w="12700">
            <a:solidFill>
              <a:srgbClr val="B3181E"/>
            </a:solidFill>
            <a:prstDash val="solid"/>
          </a:ln>
        </p:spPr>
      </p:sp>
      <p:sp>
        <p:nvSpPr>
          <p:cNvPr id="21" name="Text 18"/>
          <p:cNvSpPr txBox="1"/>
          <p:nvPr/>
        </p:nvSpPr>
        <p:spPr>
          <a:xfrm>
            <a:off x="3022092" y="3236976"/>
            <a:ext cx="1755648" cy="182880"/>
          </a:xfrm>
          <a:prstGeom prst="rect">
            <a:avLst/>
          </a:prstGeom>
          <a:noFill/>
          <a:ln/>
        </p:spPr>
        <p:txBody>
          <a:bodyPr wrap="square" lIns="0" tIns="0" rIns="0" bIns="0" rtlCol="0" anchor="t"/>
          <a:lstStyle/>
          <a:p>
            <a:pPr algn="l" indent="0" marL="0">
              <a:buNone/>
            </a:pPr>
            <a:r>
              <a:rPr lang="en-US" sz="1040" b="1" spc="100" kern="0" dirty="0">
                <a:solidFill>
                  <a:srgbClr val="B3181E"/>
                </a:solidFill>
                <a:latin typeface="Aptos" pitchFamily="34" charset="0"/>
                <a:ea typeface="Aptos" pitchFamily="34" charset="-122"/>
                <a:cs typeface="Aptos" pitchFamily="34" charset="-120"/>
              </a:rPr>
              <a:t>STUB</a:t>
            </a:r>
            <a:endParaRPr lang="en-US" sz="1040" dirty="0"/>
          </a:p>
        </p:txBody>
      </p:sp>
      <p:sp>
        <p:nvSpPr>
          <p:cNvPr id="22" name="Text 19"/>
          <p:cNvSpPr txBox="1"/>
          <p:nvPr/>
        </p:nvSpPr>
        <p:spPr>
          <a:xfrm>
            <a:off x="3022092" y="3474720"/>
            <a:ext cx="1755648" cy="512064"/>
          </a:xfrm>
          <a:prstGeom prst="rect">
            <a:avLst/>
          </a:prstGeom>
          <a:noFill/>
          <a:ln/>
        </p:spPr>
        <p:txBody>
          <a:bodyPr wrap="square" lIns="0" tIns="0" rIns="0" bIns="0" rtlCol="0" anchor="t"/>
          <a:lstStyle/>
          <a:p>
            <a:pPr algn="l" indent="0" marL="0">
              <a:lnSpc>
                <a:spcPct val="110000"/>
              </a:lnSpc>
              <a:buNone/>
            </a:pPr>
            <a:r>
              <a:rPr lang="en-US" sz="980" dirty="0">
                <a:solidFill>
                  <a:srgbClr val="52606D"/>
                </a:solidFill>
                <a:latin typeface="Aptos" pitchFamily="34" charset="0"/>
                <a:ea typeface="Aptos" pitchFamily="34" charset="-122"/>
                <a:cs typeface="Aptos" pitchFamily="34" charset="-120"/>
              </a:rPr>
              <a:t>Devuelve una respuesta preparada de antemano</a:t>
            </a:r>
            <a:endParaRPr lang="en-US" sz="980" dirty="0"/>
          </a:p>
        </p:txBody>
      </p:sp>
      <p:sp>
        <p:nvSpPr>
          <p:cNvPr id="23" name="Shape 20"/>
          <p:cNvSpPr/>
          <p:nvPr/>
        </p:nvSpPr>
        <p:spPr>
          <a:xfrm>
            <a:off x="5056632" y="3072384"/>
            <a:ext cx="2084832" cy="1024128"/>
          </a:xfrm>
          <a:prstGeom prst="rect">
            <a:avLst/>
          </a:prstGeom>
          <a:solidFill>
            <a:srgbClr val="EDE6DA"/>
          </a:solidFill>
          <a:ln w="12700">
            <a:solidFill>
              <a:srgbClr val="EDE6DA"/>
            </a:solidFill>
            <a:prstDash val="solid"/>
          </a:ln>
        </p:spPr>
      </p:sp>
      <p:sp>
        <p:nvSpPr>
          <p:cNvPr id="24" name="Shape 21"/>
          <p:cNvSpPr/>
          <p:nvPr/>
        </p:nvSpPr>
        <p:spPr>
          <a:xfrm>
            <a:off x="5056632" y="3072384"/>
            <a:ext cx="2084832" cy="54864"/>
          </a:xfrm>
          <a:prstGeom prst="rect">
            <a:avLst/>
          </a:prstGeom>
          <a:solidFill>
            <a:srgbClr val="B3181E"/>
          </a:solidFill>
          <a:ln w="12700">
            <a:solidFill>
              <a:srgbClr val="B3181E"/>
            </a:solidFill>
            <a:prstDash val="solid"/>
          </a:ln>
        </p:spPr>
      </p:sp>
      <p:sp>
        <p:nvSpPr>
          <p:cNvPr id="25" name="Text 22"/>
          <p:cNvSpPr txBox="1"/>
          <p:nvPr/>
        </p:nvSpPr>
        <p:spPr>
          <a:xfrm>
            <a:off x="5221224" y="3236976"/>
            <a:ext cx="1755648" cy="182880"/>
          </a:xfrm>
          <a:prstGeom prst="rect">
            <a:avLst/>
          </a:prstGeom>
          <a:noFill/>
          <a:ln/>
        </p:spPr>
        <p:txBody>
          <a:bodyPr wrap="square" lIns="0" tIns="0" rIns="0" bIns="0" rtlCol="0" anchor="t"/>
          <a:lstStyle/>
          <a:p>
            <a:pPr algn="l" indent="0" marL="0">
              <a:buNone/>
            </a:pPr>
            <a:r>
              <a:rPr lang="en-US" sz="1040" b="1" spc="100" kern="0" dirty="0">
                <a:solidFill>
                  <a:srgbClr val="B3181E"/>
                </a:solidFill>
                <a:latin typeface="Aptos" pitchFamily="34" charset="0"/>
                <a:ea typeface="Aptos" pitchFamily="34" charset="-122"/>
                <a:cs typeface="Aptos" pitchFamily="34" charset="-120"/>
              </a:rPr>
              <a:t>SPY</a:t>
            </a:r>
            <a:endParaRPr lang="en-US" sz="1040" dirty="0"/>
          </a:p>
        </p:txBody>
      </p:sp>
      <p:sp>
        <p:nvSpPr>
          <p:cNvPr id="26" name="Text 23"/>
          <p:cNvSpPr txBox="1"/>
          <p:nvPr/>
        </p:nvSpPr>
        <p:spPr>
          <a:xfrm>
            <a:off x="5221224" y="3474720"/>
            <a:ext cx="1755648" cy="512064"/>
          </a:xfrm>
          <a:prstGeom prst="rect">
            <a:avLst/>
          </a:prstGeom>
          <a:noFill/>
          <a:ln/>
        </p:spPr>
        <p:txBody>
          <a:bodyPr wrap="square" lIns="0" tIns="0" rIns="0" bIns="0" rtlCol="0" anchor="t"/>
          <a:lstStyle/>
          <a:p>
            <a:pPr algn="l" indent="0" marL="0">
              <a:lnSpc>
                <a:spcPct val="110000"/>
              </a:lnSpc>
              <a:buNone/>
            </a:pPr>
            <a:r>
              <a:rPr lang="en-US" sz="980" dirty="0">
                <a:solidFill>
                  <a:srgbClr val="52606D"/>
                </a:solidFill>
                <a:latin typeface="Aptos" pitchFamily="34" charset="0"/>
                <a:ea typeface="Aptos" pitchFamily="34" charset="-122"/>
                <a:cs typeface="Aptos" pitchFamily="34" charset="-120"/>
              </a:rPr>
              <a:t>Un stub que además registra cómo fue llamado</a:t>
            </a:r>
            <a:endParaRPr lang="en-US" sz="980" dirty="0"/>
          </a:p>
        </p:txBody>
      </p:sp>
      <p:sp>
        <p:nvSpPr>
          <p:cNvPr id="27" name="Shape 24"/>
          <p:cNvSpPr/>
          <p:nvPr/>
        </p:nvSpPr>
        <p:spPr>
          <a:xfrm>
            <a:off x="7255764" y="3072384"/>
            <a:ext cx="2084832" cy="1024128"/>
          </a:xfrm>
          <a:prstGeom prst="rect">
            <a:avLst/>
          </a:prstGeom>
          <a:solidFill>
            <a:srgbClr val="EDE6DA"/>
          </a:solidFill>
          <a:ln w="12700">
            <a:solidFill>
              <a:srgbClr val="EDE6DA"/>
            </a:solidFill>
            <a:prstDash val="solid"/>
          </a:ln>
        </p:spPr>
      </p:sp>
      <p:sp>
        <p:nvSpPr>
          <p:cNvPr id="28" name="Shape 25"/>
          <p:cNvSpPr/>
          <p:nvPr/>
        </p:nvSpPr>
        <p:spPr>
          <a:xfrm>
            <a:off x="7255764" y="3072384"/>
            <a:ext cx="2084832" cy="54864"/>
          </a:xfrm>
          <a:prstGeom prst="rect">
            <a:avLst/>
          </a:prstGeom>
          <a:solidFill>
            <a:srgbClr val="52606D"/>
          </a:solidFill>
          <a:ln w="12700">
            <a:solidFill>
              <a:srgbClr val="52606D"/>
            </a:solidFill>
            <a:prstDash val="solid"/>
          </a:ln>
        </p:spPr>
      </p:sp>
      <p:sp>
        <p:nvSpPr>
          <p:cNvPr id="29" name="Text 26"/>
          <p:cNvSpPr txBox="1"/>
          <p:nvPr/>
        </p:nvSpPr>
        <p:spPr>
          <a:xfrm>
            <a:off x="7420356" y="3236976"/>
            <a:ext cx="1755648" cy="182880"/>
          </a:xfrm>
          <a:prstGeom prst="rect">
            <a:avLst/>
          </a:prstGeom>
          <a:noFill/>
          <a:ln/>
        </p:spPr>
        <p:txBody>
          <a:bodyPr wrap="square" lIns="0" tIns="0" rIns="0" bIns="0" rtlCol="0" anchor="t"/>
          <a:lstStyle/>
          <a:p>
            <a:pPr algn="l" indent="0" marL="0">
              <a:buNone/>
            </a:pPr>
            <a:r>
              <a:rPr lang="en-US" sz="1040" b="1" spc="100" kern="0" dirty="0">
                <a:solidFill>
                  <a:srgbClr val="243B53"/>
                </a:solidFill>
                <a:latin typeface="Aptos" pitchFamily="34" charset="0"/>
                <a:ea typeface="Aptos" pitchFamily="34" charset="-122"/>
                <a:cs typeface="Aptos" pitchFamily="34" charset="-120"/>
              </a:rPr>
              <a:t>MOCK</a:t>
            </a:r>
            <a:endParaRPr lang="en-US" sz="1040" dirty="0"/>
          </a:p>
        </p:txBody>
      </p:sp>
      <p:sp>
        <p:nvSpPr>
          <p:cNvPr id="30" name="Text 27"/>
          <p:cNvSpPr txBox="1"/>
          <p:nvPr/>
        </p:nvSpPr>
        <p:spPr>
          <a:xfrm>
            <a:off x="7420356" y="3474720"/>
            <a:ext cx="1755648" cy="512064"/>
          </a:xfrm>
          <a:prstGeom prst="rect">
            <a:avLst/>
          </a:prstGeom>
          <a:noFill/>
          <a:ln/>
        </p:spPr>
        <p:txBody>
          <a:bodyPr wrap="square" lIns="0" tIns="0" rIns="0" bIns="0" rtlCol="0" anchor="t"/>
          <a:lstStyle/>
          <a:p>
            <a:pPr algn="l" indent="0" marL="0">
              <a:lnSpc>
                <a:spcPct val="110000"/>
              </a:lnSpc>
              <a:buNone/>
            </a:pPr>
            <a:r>
              <a:rPr lang="en-US" sz="980" dirty="0">
                <a:solidFill>
                  <a:srgbClr val="52606D"/>
                </a:solidFill>
                <a:latin typeface="Aptos" pitchFamily="34" charset="0"/>
                <a:ea typeface="Aptos" pitchFamily="34" charset="-122"/>
                <a:cs typeface="Aptos" pitchFamily="34" charset="-120"/>
              </a:rPr>
              <a:t>Viene programado con las llamadas que espera recibir</a:t>
            </a:r>
            <a:endParaRPr lang="en-US" sz="980" dirty="0"/>
          </a:p>
        </p:txBody>
      </p:sp>
      <p:sp>
        <p:nvSpPr>
          <p:cNvPr id="31" name="Shape 28"/>
          <p:cNvSpPr/>
          <p:nvPr/>
        </p:nvSpPr>
        <p:spPr>
          <a:xfrm>
            <a:off x="9454896" y="3072384"/>
            <a:ext cx="2084832" cy="1024128"/>
          </a:xfrm>
          <a:prstGeom prst="rect">
            <a:avLst/>
          </a:prstGeom>
          <a:solidFill>
            <a:srgbClr val="EDE6DA"/>
          </a:solidFill>
          <a:ln w="12700">
            <a:solidFill>
              <a:srgbClr val="EDE6DA"/>
            </a:solidFill>
            <a:prstDash val="solid"/>
          </a:ln>
        </p:spPr>
      </p:sp>
      <p:sp>
        <p:nvSpPr>
          <p:cNvPr id="32" name="Shape 29"/>
          <p:cNvSpPr/>
          <p:nvPr/>
        </p:nvSpPr>
        <p:spPr>
          <a:xfrm>
            <a:off x="9454896" y="3072384"/>
            <a:ext cx="2084832" cy="54864"/>
          </a:xfrm>
          <a:prstGeom prst="rect">
            <a:avLst/>
          </a:prstGeom>
          <a:solidFill>
            <a:srgbClr val="52606D"/>
          </a:solidFill>
          <a:ln w="12700">
            <a:solidFill>
              <a:srgbClr val="52606D"/>
            </a:solidFill>
            <a:prstDash val="solid"/>
          </a:ln>
        </p:spPr>
      </p:sp>
      <p:sp>
        <p:nvSpPr>
          <p:cNvPr id="33" name="Text 30"/>
          <p:cNvSpPr txBox="1"/>
          <p:nvPr/>
        </p:nvSpPr>
        <p:spPr>
          <a:xfrm>
            <a:off x="9619488" y="3236976"/>
            <a:ext cx="1755648" cy="182880"/>
          </a:xfrm>
          <a:prstGeom prst="rect">
            <a:avLst/>
          </a:prstGeom>
          <a:noFill/>
          <a:ln/>
        </p:spPr>
        <p:txBody>
          <a:bodyPr wrap="square" lIns="0" tIns="0" rIns="0" bIns="0" rtlCol="0" anchor="t"/>
          <a:lstStyle/>
          <a:p>
            <a:pPr algn="l" indent="0" marL="0">
              <a:buNone/>
            </a:pPr>
            <a:r>
              <a:rPr lang="en-US" sz="1040" b="1" spc="100" kern="0" dirty="0">
                <a:solidFill>
                  <a:srgbClr val="243B53"/>
                </a:solidFill>
                <a:latin typeface="Aptos" pitchFamily="34" charset="0"/>
                <a:ea typeface="Aptos" pitchFamily="34" charset="-122"/>
                <a:cs typeface="Aptos" pitchFamily="34" charset="-120"/>
              </a:rPr>
              <a:t>FAKE</a:t>
            </a:r>
            <a:endParaRPr lang="en-US" sz="1040" dirty="0"/>
          </a:p>
        </p:txBody>
      </p:sp>
      <p:sp>
        <p:nvSpPr>
          <p:cNvPr id="34" name="Text 31"/>
          <p:cNvSpPr txBox="1"/>
          <p:nvPr/>
        </p:nvSpPr>
        <p:spPr>
          <a:xfrm>
            <a:off x="9619488" y="3474720"/>
            <a:ext cx="1755648" cy="512064"/>
          </a:xfrm>
          <a:prstGeom prst="rect">
            <a:avLst/>
          </a:prstGeom>
          <a:noFill/>
          <a:ln/>
        </p:spPr>
        <p:txBody>
          <a:bodyPr wrap="square" lIns="0" tIns="0" rIns="0" bIns="0" rtlCol="0" anchor="t"/>
          <a:lstStyle/>
          <a:p>
            <a:pPr algn="l" indent="0" marL="0">
              <a:lnSpc>
                <a:spcPct val="110000"/>
              </a:lnSpc>
              <a:buNone/>
            </a:pPr>
            <a:r>
              <a:rPr lang="en-US" sz="980" dirty="0">
                <a:solidFill>
                  <a:srgbClr val="52606D"/>
                </a:solidFill>
                <a:latin typeface="Aptos" pitchFamily="34" charset="0"/>
                <a:ea typeface="Aptos" pitchFamily="34" charset="-122"/>
                <a:cs typeface="Aptos" pitchFamily="34" charset="-120"/>
              </a:rPr>
              <a:t>Funciona de verdad, con un atajo que no sirve en producción</a:t>
            </a:r>
            <a:endParaRPr lang="en-US" sz="980" dirty="0"/>
          </a:p>
        </p:txBody>
      </p:sp>
      <p:sp>
        <p:nvSpPr>
          <p:cNvPr id="35" name="Text 32"/>
          <p:cNvSpPr txBox="1"/>
          <p:nvPr/>
        </p:nvSpPr>
        <p:spPr>
          <a:xfrm>
            <a:off x="658368" y="4169664"/>
            <a:ext cx="6858000" cy="201168"/>
          </a:xfrm>
          <a:prstGeom prst="rect">
            <a:avLst/>
          </a:prstGeom>
          <a:noFill/>
          <a:ln/>
        </p:spPr>
        <p:txBody>
          <a:bodyPr wrap="square" lIns="0" tIns="0" rIns="0" bIns="0" rtlCol="0" anchor="t"/>
          <a:lstStyle/>
          <a:p>
            <a:pPr algn="l" indent="0" marL="0">
              <a:buNone/>
            </a:pPr>
            <a:r>
              <a:rPr lang="en-US" sz="960" b="1" spc="130" kern="0" dirty="0">
                <a:solidFill>
                  <a:srgbClr val="D62027"/>
                </a:solidFill>
                <a:latin typeface="Aptos" pitchFamily="34" charset="0"/>
                <a:ea typeface="Aptos" pitchFamily="34" charset="-122"/>
                <a:cs typeface="Aptos" pitchFamily="34" charset="-120"/>
              </a:rPr>
              <a:t>LAS CUATRO PIEZAS DE UNITTEST.MOCK QUE APARECEN EN ESTE BLOQUE</a:t>
            </a:r>
            <a:endParaRPr lang="en-US" sz="960" dirty="0"/>
          </a:p>
        </p:txBody>
      </p:sp>
      <p:sp>
        <p:nvSpPr>
          <p:cNvPr id="36" name="Shape 33"/>
          <p:cNvSpPr/>
          <p:nvPr/>
        </p:nvSpPr>
        <p:spPr>
          <a:xfrm>
            <a:off x="658368" y="4443984"/>
            <a:ext cx="2633472" cy="1060704"/>
          </a:xfrm>
          <a:prstGeom prst="rect">
            <a:avLst/>
          </a:prstGeom>
          <a:solidFill>
            <a:srgbClr val="FFFFFF"/>
          </a:solidFill>
          <a:ln w="12700">
            <a:solidFill>
              <a:srgbClr val="FFFFFF"/>
            </a:solidFill>
            <a:prstDash val="solid"/>
          </a:ln>
        </p:spPr>
      </p:sp>
      <p:sp>
        <p:nvSpPr>
          <p:cNvPr id="37" name="Shape 34"/>
          <p:cNvSpPr/>
          <p:nvPr/>
        </p:nvSpPr>
        <p:spPr>
          <a:xfrm>
            <a:off x="658368" y="4443984"/>
            <a:ext cx="54864" cy="1060704"/>
          </a:xfrm>
          <a:prstGeom prst="rect">
            <a:avLst/>
          </a:prstGeom>
          <a:solidFill>
            <a:srgbClr val="B3181E"/>
          </a:solidFill>
          <a:ln w="12700">
            <a:solidFill>
              <a:srgbClr val="B3181E"/>
            </a:solidFill>
            <a:prstDash val="solid"/>
          </a:ln>
        </p:spPr>
      </p:sp>
      <p:sp>
        <p:nvSpPr>
          <p:cNvPr id="38" name="Text 35"/>
          <p:cNvSpPr txBox="1"/>
          <p:nvPr/>
        </p:nvSpPr>
        <p:spPr>
          <a:xfrm>
            <a:off x="859536" y="4572000"/>
            <a:ext cx="2231136" cy="219456"/>
          </a:xfrm>
          <a:prstGeom prst="rect">
            <a:avLst/>
          </a:prstGeom>
          <a:noFill/>
          <a:ln/>
        </p:spPr>
        <p:txBody>
          <a:bodyPr wrap="square" lIns="0" tIns="0" rIns="0" bIns="0" rtlCol="0" anchor="t"/>
          <a:lstStyle/>
          <a:p>
            <a:pPr algn="l" indent="0" marL="0">
              <a:buNone/>
            </a:pPr>
            <a:r>
              <a:rPr lang="en-US" sz="1060" b="1" dirty="0">
                <a:solidFill>
                  <a:srgbClr val="B3181E"/>
                </a:solidFill>
                <a:latin typeface="Aptos" pitchFamily="34" charset="0"/>
                <a:ea typeface="Aptos" pitchFamily="34" charset="-122"/>
                <a:cs typeface="Aptos" pitchFamily="34" charset="-120"/>
              </a:rPr>
              <a:t>create_autospec(modulo)</a:t>
            </a:r>
            <a:endParaRPr lang="en-US" sz="1060" dirty="0"/>
          </a:p>
        </p:txBody>
      </p:sp>
      <p:sp>
        <p:nvSpPr>
          <p:cNvPr id="39" name="Text 36"/>
          <p:cNvSpPr txBox="1"/>
          <p:nvPr/>
        </p:nvSpPr>
        <p:spPr>
          <a:xfrm>
            <a:off x="859536" y="4809744"/>
            <a:ext cx="2231136" cy="621792"/>
          </a:xfrm>
          <a:prstGeom prst="rect">
            <a:avLst/>
          </a:prstGeom>
          <a:noFill/>
          <a:ln/>
        </p:spPr>
        <p:txBody>
          <a:bodyPr wrap="square" lIns="0" tIns="0" rIns="0" bIns="0" rtlCol="0" anchor="t"/>
          <a:lstStyle/>
          <a:p>
            <a:pPr algn="l" indent="0" marL="0">
              <a:lnSpc>
                <a:spcPct val="110000"/>
              </a:lnSpc>
              <a:buNone/>
            </a:pPr>
            <a:r>
              <a:rPr lang="en-US" sz="960" dirty="0">
                <a:solidFill>
                  <a:srgbClr val="243B53"/>
                </a:solidFill>
                <a:latin typeface="Aptos" pitchFamily="34" charset="0"/>
                <a:ea typeface="Aptos" pitchFamily="34" charset="-122"/>
                <a:cs typeface="Aptos" pitchFamily="34" charset="-120"/>
              </a:rPr>
              <a:t>Construye un doble que respeta la firma del original —sus funciones y sus parámetros—, pero no su comportamiento.</a:t>
            </a:r>
            <a:endParaRPr lang="en-US" sz="960" dirty="0"/>
          </a:p>
        </p:txBody>
      </p:sp>
      <p:sp>
        <p:nvSpPr>
          <p:cNvPr id="40" name="Shape 37"/>
          <p:cNvSpPr/>
          <p:nvPr/>
        </p:nvSpPr>
        <p:spPr>
          <a:xfrm>
            <a:off x="3404311" y="4443984"/>
            <a:ext cx="2633472" cy="1060704"/>
          </a:xfrm>
          <a:prstGeom prst="rect">
            <a:avLst/>
          </a:prstGeom>
          <a:solidFill>
            <a:srgbClr val="FFFFFF"/>
          </a:solidFill>
          <a:ln w="12700">
            <a:solidFill>
              <a:srgbClr val="FFFFFF"/>
            </a:solidFill>
            <a:prstDash val="solid"/>
          </a:ln>
        </p:spPr>
      </p:sp>
      <p:sp>
        <p:nvSpPr>
          <p:cNvPr id="41" name="Shape 38"/>
          <p:cNvSpPr/>
          <p:nvPr/>
        </p:nvSpPr>
        <p:spPr>
          <a:xfrm>
            <a:off x="3404311" y="4443984"/>
            <a:ext cx="54864" cy="1060704"/>
          </a:xfrm>
          <a:prstGeom prst="rect">
            <a:avLst/>
          </a:prstGeom>
          <a:solidFill>
            <a:srgbClr val="8A6A12"/>
          </a:solidFill>
          <a:ln w="12700">
            <a:solidFill>
              <a:srgbClr val="8A6A12"/>
            </a:solidFill>
            <a:prstDash val="solid"/>
          </a:ln>
        </p:spPr>
      </p:sp>
      <p:sp>
        <p:nvSpPr>
          <p:cNvPr id="42" name="Text 39"/>
          <p:cNvSpPr txBox="1"/>
          <p:nvPr/>
        </p:nvSpPr>
        <p:spPr>
          <a:xfrm>
            <a:off x="3605479" y="4572000"/>
            <a:ext cx="2231136" cy="219456"/>
          </a:xfrm>
          <a:prstGeom prst="rect">
            <a:avLst/>
          </a:prstGeom>
          <a:noFill/>
          <a:ln/>
        </p:spPr>
        <p:txBody>
          <a:bodyPr wrap="square" lIns="0" tIns="0" rIns="0" bIns="0" rtlCol="0" anchor="t"/>
          <a:lstStyle/>
          <a:p>
            <a:pPr algn="l" indent="0" marL="0">
              <a:buNone/>
            </a:pPr>
            <a:r>
              <a:rPr lang="en-US" sz="1060" b="1" dirty="0">
                <a:solidFill>
                  <a:srgbClr val="8A6A12"/>
                </a:solidFill>
                <a:latin typeface="Aptos" pitchFamily="34" charset="0"/>
                <a:ea typeface="Aptos" pitchFamily="34" charset="-122"/>
                <a:cs typeface="Aptos" pitchFamily="34" charset="-120"/>
              </a:rPr>
              <a:t>.return_value = X</a:t>
            </a:r>
            <a:endParaRPr lang="en-US" sz="1060" dirty="0"/>
          </a:p>
        </p:txBody>
      </p:sp>
      <p:sp>
        <p:nvSpPr>
          <p:cNvPr id="43" name="Text 40"/>
          <p:cNvSpPr txBox="1"/>
          <p:nvPr/>
        </p:nvSpPr>
        <p:spPr>
          <a:xfrm>
            <a:off x="3605479" y="4809744"/>
            <a:ext cx="2231136" cy="621792"/>
          </a:xfrm>
          <a:prstGeom prst="rect">
            <a:avLst/>
          </a:prstGeom>
          <a:noFill/>
          <a:ln/>
        </p:spPr>
        <p:txBody>
          <a:bodyPr wrap="square" lIns="0" tIns="0" rIns="0" bIns="0" rtlCol="0" anchor="t"/>
          <a:lstStyle/>
          <a:p>
            <a:pPr algn="l" indent="0" marL="0">
              <a:lnSpc>
                <a:spcPct val="110000"/>
              </a:lnSpc>
              <a:buNone/>
            </a:pPr>
            <a:r>
              <a:rPr lang="en-US" sz="960" dirty="0">
                <a:solidFill>
                  <a:srgbClr val="243B53"/>
                </a:solidFill>
                <a:latin typeface="Aptos" pitchFamily="34" charset="0"/>
                <a:ea typeface="Aptos" pitchFamily="34" charset="-122"/>
                <a:cs typeface="Aptos" pitchFamily="34" charset="-120"/>
              </a:rPr>
              <a:t>Fija la respuesta prefabricada. Eso convierte al doble en un stub.</a:t>
            </a:r>
            <a:endParaRPr lang="en-US" sz="960" dirty="0"/>
          </a:p>
        </p:txBody>
      </p:sp>
      <p:sp>
        <p:nvSpPr>
          <p:cNvPr id="44" name="Shape 41"/>
          <p:cNvSpPr/>
          <p:nvPr/>
        </p:nvSpPr>
        <p:spPr>
          <a:xfrm>
            <a:off x="6150254" y="4443984"/>
            <a:ext cx="2633472" cy="1060704"/>
          </a:xfrm>
          <a:prstGeom prst="rect">
            <a:avLst/>
          </a:prstGeom>
          <a:solidFill>
            <a:srgbClr val="FFFFFF"/>
          </a:solidFill>
          <a:ln w="12700">
            <a:solidFill>
              <a:srgbClr val="FFFFFF"/>
            </a:solidFill>
            <a:prstDash val="solid"/>
          </a:ln>
        </p:spPr>
      </p:sp>
      <p:sp>
        <p:nvSpPr>
          <p:cNvPr id="45" name="Shape 42"/>
          <p:cNvSpPr/>
          <p:nvPr/>
        </p:nvSpPr>
        <p:spPr>
          <a:xfrm>
            <a:off x="6150254" y="4443984"/>
            <a:ext cx="54864" cy="1060704"/>
          </a:xfrm>
          <a:prstGeom prst="rect">
            <a:avLst/>
          </a:prstGeom>
          <a:solidFill>
            <a:srgbClr val="2E7D4F"/>
          </a:solidFill>
          <a:ln w="12700">
            <a:solidFill>
              <a:srgbClr val="2E7D4F"/>
            </a:solidFill>
            <a:prstDash val="solid"/>
          </a:ln>
        </p:spPr>
      </p:sp>
      <p:sp>
        <p:nvSpPr>
          <p:cNvPr id="46" name="Text 43"/>
          <p:cNvSpPr txBox="1"/>
          <p:nvPr/>
        </p:nvSpPr>
        <p:spPr>
          <a:xfrm>
            <a:off x="6351422" y="4572000"/>
            <a:ext cx="2231136" cy="219456"/>
          </a:xfrm>
          <a:prstGeom prst="rect">
            <a:avLst/>
          </a:prstGeom>
          <a:noFill/>
          <a:ln/>
        </p:spPr>
        <p:txBody>
          <a:bodyPr wrap="square" lIns="0" tIns="0" rIns="0" bIns="0" rtlCol="0" anchor="t"/>
          <a:lstStyle/>
          <a:p>
            <a:pPr algn="l" indent="0" marL="0">
              <a:buNone/>
            </a:pPr>
            <a:r>
              <a:rPr lang="en-US" sz="1060" b="1" dirty="0">
                <a:solidFill>
                  <a:srgbClr val="2E7D4F"/>
                </a:solidFill>
                <a:latin typeface="Aptos" pitchFamily="34" charset="0"/>
                <a:ea typeface="Aptos" pitchFamily="34" charset="-122"/>
                <a:cs typeface="Aptos" pitchFamily="34" charset="-120"/>
              </a:rPr>
              <a:t>.assert_called_once_with(...)</a:t>
            </a:r>
            <a:endParaRPr lang="en-US" sz="1060" dirty="0"/>
          </a:p>
        </p:txBody>
      </p:sp>
      <p:sp>
        <p:nvSpPr>
          <p:cNvPr id="47" name="Text 44"/>
          <p:cNvSpPr txBox="1"/>
          <p:nvPr/>
        </p:nvSpPr>
        <p:spPr>
          <a:xfrm>
            <a:off x="6351422" y="4809744"/>
            <a:ext cx="2231136" cy="621792"/>
          </a:xfrm>
          <a:prstGeom prst="rect">
            <a:avLst/>
          </a:prstGeom>
          <a:noFill/>
          <a:ln/>
        </p:spPr>
        <p:txBody>
          <a:bodyPr wrap="square" lIns="0" tIns="0" rIns="0" bIns="0" rtlCol="0" anchor="t"/>
          <a:lstStyle/>
          <a:p>
            <a:pPr algn="l" indent="0" marL="0">
              <a:lnSpc>
                <a:spcPct val="110000"/>
              </a:lnSpc>
              <a:buNone/>
            </a:pPr>
            <a:r>
              <a:rPr lang="en-US" sz="960" dirty="0">
                <a:solidFill>
                  <a:srgbClr val="243B53"/>
                </a:solidFill>
                <a:latin typeface="Aptos" pitchFamily="34" charset="0"/>
                <a:ea typeface="Aptos" pitchFamily="34" charset="-122"/>
                <a:cs typeface="Aptos" pitchFamily="34" charset="-120"/>
              </a:rPr>
              <a:t>Comprueba que se lo llamó una vez y con esos argumentos. Eso lo usa como spy.</a:t>
            </a:r>
            <a:endParaRPr lang="en-US" sz="960" dirty="0"/>
          </a:p>
        </p:txBody>
      </p:sp>
      <p:sp>
        <p:nvSpPr>
          <p:cNvPr id="48" name="Shape 45"/>
          <p:cNvSpPr/>
          <p:nvPr/>
        </p:nvSpPr>
        <p:spPr>
          <a:xfrm>
            <a:off x="8896198" y="4443984"/>
            <a:ext cx="2633472" cy="1060704"/>
          </a:xfrm>
          <a:prstGeom prst="rect">
            <a:avLst/>
          </a:prstGeom>
          <a:solidFill>
            <a:srgbClr val="FFFFFF"/>
          </a:solidFill>
          <a:ln w="12700">
            <a:solidFill>
              <a:srgbClr val="FFFFFF"/>
            </a:solidFill>
            <a:prstDash val="solid"/>
          </a:ln>
        </p:spPr>
      </p:sp>
      <p:sp>
        <p:nvSpPr>
          <p:cNvPr id="49" name="Shape 46"/>
          <p:cNvSpPr/>
          <p:nvPr/>
        </p:nvSpPr>
        <p:spPr>
          <a:xfrm>
            <a:off x="8896198" y="4443984"/>
            <a:ext cx="54864" cy="1060704"/>
          </a:xfrm>
          <a:prstGeom prst="rect">
            <a:avLst/>
          </a:prstGeom>
          <a:solidFill>
            <a:srgbClr val="102A43"/>
          </a:solidFill>
          <a:ln w="12700">
            <a:solidFill>
              <a:srgbClr val="102A43"/>
            </a:solidFill>
            <a:prstDash val="solid"/>
          </a:ln>
        </p:spPr>
      </p:sp>
      <p:sp>
        <p:nvSpPr>
          <p:cNvPr id="50" name="Text 47"/>
          <p:cNvSpPr txBox="1"/>
          <p:nvPr/>
        </p:nvSpPr>
        <p:spPr>
          <a:xfrm>
            <a:off x="9097366" y="4572000"/>
            <a:ext cx="2231136" cy="219456"/>
          </a:xfrm>
          <a:prstGeom prst="rect">
            <a:avLst/>
          </a:prstGeom>
          <a:noFill/>
          <a:ln/>
        </p:spPr>
        <p:txBody>
          <a:bodyPr wrap="square" lIns="0" tIns="0" rIns="0" bIns="0" rtlCol="0" anchor="t"/>
          <a:lstStyle/>
          <a:p>
            <a:pPr algn="l" indent="0" marL="0">
              <a:buNone/>
            </a:pPr>
            <a:r>
              <a:rPr lang="en-US" sz="1060" b="1" dirty="0">
                <a:solidFill>
                  <a:srgbClr val="102A43"/>
                </a:solidFill>
                <a:latin typeface="Aptos" pitchFamily="34" charset="0"/>
                <a:ea typeface="Aptos" pitchFamily="34" charset="-122"/>
                <a:cs typeface="Aptos" pitchFamily="34" charset="-120"/>
              </a:rPr>
              <a:t>MagicMock</a:t>
            </a:r>
            <a:endParaRPr lang="en-US" sz="1060" dirty="0"/>
          </a:p>
        </p:txBody>
      </p:sp>
      <p:sp>
        <p:nvSpPr>
          <p:cNvPr id="51" name="Text 48"/>
          <p:cNvSpPr txBox="1"/>
          <p:nvPr/>
        </p:nvSpPr>
        <p:spPr>
          <a:xfrm>
            <a:off x="9097366" y="4809744"/>
            <a:ext cx="2231136" cy="621792"/>
          </a:xfrm>
          <a:prstGeom prst="rect">
            <a:avLst/>
          </a:prstGeom>
          <a:noFill/>
          <a:ln/>
        </p:spPr>
        <p:txBody>
          <a:bodyPr wrap="square" lIns="0" tIns="0" rIns="0" bIns="0" rtlCol="0" anchor="t"/>
          <a:lstStyle/>
          <a:p>
            <a:pPr algn="l" indent="0" marL="0">
              <a:lnSpc>
                <a:spcPct val="110000"/>
              </a:lnSpc>
              <a:buNone/>
            </a:pPr>
            <a:r>
              <a:rPr lang="en-US" sz="960" dirty="0">
                <a:solidFill>
                  <a:srgbClr val="243B53"/>
                </a:solidFill>
                <a:latin typeface="Aptos" pitchFamily="34" charset="0"/>
                <a:ea typeface="Aptos" pitchFamily="34" charset="-122"/>
                <a:cs typeface="Aptos" pitchFamily="34" charset="-120"/>
              </a:rPr>
              <a:t>El objeto genérico que construye la librería. Es lo que se ve al imprimir un doble.</a:t>
            </a:r>
            <a:endParaRPr lang="en-US" sz="960" dirty="0"/>
          </a:p>
        </p:txBody>
      </p:sp>
      <p:sp>
        <p:nvSpPr>
          <p:cNvPr id="52" name="Shape 49"/>
          <p:cNvSpPr/>
          <p:nvPr/>
        </p:nvSpPr>
        <p:spPr>
          <a:xfrm>
            <a:off x="658368" y="5650992"/>
            <a:ext cx="10874959" cy="548640"/>
          </a:xfrm>
          <a:prstGeom prst="rect">
            <a:avLst/>
          </a:prstGeom>
          <a:solidFill>
            <a:srgbClr val="102A43"/>
          </a:solidFill>
          <a:ln w="12700">
            <a:solidFill>
              <a:srgbClr val="102A43"/>
            </a:solidFill>
            <a:prstDash val="solid"/>
          </a:ln>
        </p:spPr>
      </p:sp>
      <p:sp>
        <p:nvSpPr>
          <p:cNvPr id="53" name="Text 5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Hoy se usan los dos del medio: el stub que responde y el spy que registra.</a:t>
            </a:r>
            <a:endParaRPr lang="en-US" sz="13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41</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CRITERIO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Se sustituye al otro lado del límite, no en el límite</a:t>
            </a:r>
            <a:endParaRPr lang="en-US" sz="28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Los dobles no son ilegítimos en este nivel. Lo que decide es dónde se los pone.</a:t>
            </a:r>
            <a:endParaRPr lang="en-US" sz="1420" dirty="0"/>
          </a:p>
        </p:txBody>
      </p:sp>
      <p:sp>
        <p:nvSpPr>
          <p:cNvPr id="11" name="Shape 8"/>
          <p:cNvSpPr/>
          <p:nvPr/>
        </p:nvSpPr>
        <p:spPr>
          <a:xfrm>
            <a:off x="658368" y="2249424"/>
            <a:ext cx="10874959" cy="786384"/>
          </a:xfrm>
          <a:prstGeom prst="rect">
            <a:avLst/>
          </a:prstGeom>
          <a:solidFill>
            <a:srgbClr val="FFFFFF"/>
          </a:solidFill>
          <a:ln w="12700">
            <a:solidFill>
              <a:srgbClr val="FFFFFF"/>
            </a:solidFill>
            <a:prstDash val="solid"/>
          </a:ln>
        </p:spPr>
      </p:sp>
      <p:sp>
        <p:nvSpPr>
          <p:cNvPr id="12" name="Shape 9"/>
          <p:cNvSpPr/>
          <p:nvPr/>
        </p:nvSpPr>
        <p:spPr>
          <a:xfrm>
            <a:off x="658368" y="2249424"/>
            <a:ext cx="54864" cy="786384"/>
          </a:xfrm>
          <a:prstGeom prst="rect">
            <a:avLst/>
          </a:prstGeom>
          <a:solidFill>
            <a:srgbClr val="102A43"/>
          </a:solidFill>
          <a:ln w="12700">
            <a:solidFill>
              <a:srgbClr val="102A43"/>
            </a:solidFill>
            <a:prstDash val="solid"/>
          </a:ln>
        </p:spPr>
      </p:sp>
      <p:sp>
        <p:nvSpPr>
          <p:cNvPr id="13" name="Text 10"/>
          <p:cNvSpPr txBox="1"/>
          <p:nvPr/>
        </p:nvSpPr>
        <p:spPr>
          <a:xfrm>
            <a:off x="896112" y="2377440"/>
            <a:ext cx="10417759"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ISTQB · EL OBJETO DEL NIVEL DE INTEGRACIÓN</a:t>
            </a:r>
            <a:endParaRPr lang="en-US" sz="920" dirty="0"/>
          </a:p>
        </p:txBody>
      </p:sp>
      <p:sp>
        <p:nvSpPr>
          <p:cNvPr id="14" name="Text 11"/>
          <p:cNvSpPr txBox="1"/>
          <p:nvPr/>
        </p:nvSpPr>
        <p:spPr>
          <a:xfrm>
            <a:off x="896112" y="2633472"/>
            <a:ext cx="10417759" cy="292608"/>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«Se centra en probar las interfaces y las interacciones entre componentes.» Si el objeto es la interacción, sustituirla deja a la prueba sin objeto.</a:t>
            </a:r>
            <a:endParaRPr lang="en-US" sz="1210" dirty="0"/>
          </a:p>
        </p:txBody>
      </p:sp>
      <p:sp>
        <p:nvSpPr>
          <p:cNvPr id="15" name="Shape 12"/>
          <p:cNvSpPr/>
          <p:nvPr/>
        </p:nvSpPr>
        <p:spPr>
          <a:xfrm>
            <a:off x="658368" y="3163824"/>
            <a:ext cx="5340096" cy="1225296"/>
          </a:xfrm>
          <a:prstGeom prst="rect">
            <a:avLst/>
          </a:prstGeom>
          <a:solidFill>
            <a:srgbClr val="FFFFFF"/>
          </a:solidFill>
          <a:ln w="12700">
            <a:solidFill>
              <a:srgbClr val="FFFFFF"/>
            </a:solidFill>
            <a:prstDash val="solid"/>
          </a:ln>
        </p:spPr>
      </p:sp>
      <p:sp>
        <p:nvSpPr>
          <p:cNvPr id="16" name="Shape 13"/>
          <p:cNvSpPr/>
          <p:nvPr/>
        </p:nvSpPr>
        <p:spPr>
          <a:xfrm>
            <a:off x="658368" y="3163824"/>
            <a:ext cx="5340096" cy="54864"/>
          </a:xfrm>
          <a:prstGeom prst="rect">
            <a:avLst/>
          </a:prstGeom>
          <a:solidFill>
            <a:srgbClr val="2E7D4F"/>
          </a:solidFill>
          <a:ln w="12700">
            <a:solidFill>
              <a:srgbClr val="2E7D4F"/>
            </a:solidFill>
            <a:prstDash val="solid"/>
          </a:ln>
        </p:spPr>
      </p:sp>
      <p:sp>
        <p:nvSpPr>
          <p:cNvPr id="17" name="Text 14"/>
          <p:cNvSpPr txBox="1"/>
          <p:nvPr/>
        </p:nvSpPr>
        <p:spPr>
          <a:xfrm>
            <a:off x="932688" y="3328416"/>
            <a:ext cx="4791456" cy="256032"/>
          </a:xfrm>
          <a:prstGeom prst="rect">
            <a:avLst/>
          </a:prstGeom>
          <a:noFill/>
          <a:ln/>
        </p:spPr>
        <p:txBody>
          <a:bodyPr wrap="square" lIns="0" tIns="0" rIns="0" bIns="0" rtlCol="0" anchor="t"/>
          <a:lstStyle/>
          <a:p>
            <a:pPr algn="l" indent="0" marL="0">
              <a:buNone/>
            </a:pPr>
            <a:r>
              <a:rPr lang="en-US" sz="1300" b="1" dirty="0">
                <a:solidFill>
                  <a:srgbClr val="2E7D4F"/>
                </a:solidFill>
                <a:latin typeface="Aptos" pitchFamily="34" charset="0"/>
                <a:ea typeface="Aptos" pitchFamily="34" charset="-122"/>
                <a:cs typeface="Aptos" pitchFamily="34" charset="-120"/>
              </a:rPr>
              <a:t>Pruebas de integración estrechas</a:t>
            </a:r>
            <a:endParaRPr lang="en-US" sz="1300" dirty="0"/>
          </a:p>
        </p:txBody>
      </p:sp>
      <p:sp>
        <p:nvSpPr>
          <p:cNvPr id="18" name="Text 15"/>
          <p:cNvSpPr txBox="1"/>
          <p:nvPr/>
        </p:nvSpPr>
        <p:spPr>
          <a:xfrm>
            <a:off x="932688" y="3621024"/>
            <a:ext cx="4791456" cy="640080"/>
          </a:xfrm>
          <a:prstGeom prst="rect">
            <a:avLst/>
          </a:prstGeom>
          <a:noFill/>
          <a:ln/>
        </p:spPr>
        <p:txBody>
          <a:bodyPr wrap="square" lIns="0" tIns="0" rIns="0" bIns="0" rtlCol="0" anchor="t"/>
          <a:lstStyle/>
          <a:p>
            <a:pPr algn="l" indent="0" marL="0">
              <a:lnSpc>
                <a:spcPct val="114000"/>
              </a:lnSpc>
              <a:buNone/>
            </a:pPr>
            <a:r>
              <a:rPr lang="en-US" sz="1140" i="1" dirty="0">
                <a:solidFill>
                  <a:srgbClr val="243B53"/>
                </a:solidFill>
                <a:latin typeface="Aptos" pitchFamily="34" charset="0"/>
                <a:ea typeface="Aptos" pitchFamily="34" charset="-122"/>
                <a:cs typeface="Aptos" pitchFamily="34" charset="-120"/>
              </a:rPr>
              <a:t>«Ejercitan solo la porción de código de mi servicio que habla con un servicio separado… usan dobles de prueba de esos servicios.»</a:t>
            </a:r>
            <a:endParaRPr lang="en-US" sz="1140" dirty="0"/>
          </a:p>
        </p:txBody>
      </p:sp>
      <p:sp>
        <p:nvSpPr>
          <p:cNvPr id="19" name="Shape 16"/>
          <p:cNvSpPr/>
          <p:nvPr/>
        </p:nvSpPr>
        <p:spPr>
          <a:xfrm>
            <a:off x="6190488" y="3163824"/>
            <a:ext cx="5340096" cy="1225296"/>
          </a:xfrm>
          <a:prstGeom prst="rect">
            <a:avLst/>
          </a:prstGeom>
          <a:solidFill>
            <a:srgbClr val="FFFFFF"/>
          </a:solidFill>
          <a:ln w="12700">
            <a:solidFill>
              <a:srgbClr val="FFFFFF"/>
            </a:solidFill>
            <a:prstDash val="solid"/>
          </a:ln>
        </p:spPr>
      </p:sp>
      <p:sp>
        <p:nvSpPr>
          <p:cNvPr id="20" name="Shape 17"/>
          <p:cNvSpPr/>
          <p:nvPr/>
        </p:nvSpPr>
        <p:spPr>
          <a:xfrm>
            <a:off x="6190488" y="3163824"/>
            <a:ext cx="5340096" cy="54864"/>
          </a:xfrm>
          <a:prstGeom prst="rect">
            <a:avLst/>
          </a:prstGeom>
          <a:solidFill>
            <a:srgbClr val="8A6A12"/>
          </a:solidFill>
          <a:ln w="12700">
            <a:solidFill>
              <a:srgbClr val="8A6A12"/>
            </a:solidFill>
            <a:prstDash val="solid"/>
          </a:ln>
        </p:spPr>
      </p:sp>
      <p:sp>
        <p:nvSpPr>
          <p:cNvPr id="21" name="Text 18"/>
          <p:cNvSpPr txBox="1"/>
          <p:nvPr/>
        </p:nvSpPr>
        <p:spPr>
          <a:xfrm>
            <a:off x="6464808" y="3328416"/>
            <a:ext cx="4791456" cy="256032"/>
          </a:xfrm>
          <a:prstGeom prst="rect">
            <a:avLst/>
          </a:prstGeom>
          <a:noFill/>
          <a:ln/>
        </p:spPr>
        <p:txBody>
          <a:bodyPr wrap="square" lIns="0" tIns="0" rIns="0" bIns="0" rtlCol="0" anchor="t"/>
          <a:lstStyle/>
          <a:p>
            <a:pPr algn="l" indent="0" marL="0">
              <a:buNone/>
            </a:pPr>
            <a:r>
              <a:rPr lang="en-US" sz="1300" b="1" dirty="0">
                <a:solidFill>
                  <a:srgbClr val="8A6A12"/>
                </a:solidFill>
                <a:latin typeface="Aptos" pitchFamily="34" charset="0"/>
                <a:ea typeface="Aptos" pitchFamily="34" charset="-122"/>
                <a:cs typeface="Aptos" pitchFamily="34" charset="-120"/>
              </a:rPr>
              <a:t>Pruebas de integración amplias</a:t>
            </a:r>
            <a:endParaRPr lang="en-US" sz="1300" dirty="0"/>
          </a:p>
        </p:txBody>
      </p:sp>
      <p:sp>
        <p:nvSpPr>
          <p:cNvPr id="22" name="Text 19"/>
          <p:cNvSpPr txBox="1"/>
          <p:nvPr/>
        </p:nvSpPr>
        <p:spPr>
          <a:xfrm>
            <a:off x="6464808" y="3621024"/>
            <a:ext cx="4791456" cy="640080"/>
          </a:xfrm>
          <a:prstGeom prst="rect">
            <a:avLst/>
          </a:prstGeom>
          <a:noFill/>
          <a:ln/>
        </p:spPr>
        <p:txBody>
          <a:bodyPr wrap="square" lIns="0" tIns="0" rIns="0" bIns="0" rtlCol="0" anchor="t"/>
          <a:lstStyle/>
          <a:p>
            <a:pPr algn="l" indent="0" marL="0">
              <a:lnSpc>
                <a:spcPct val="114000"/>
              </a:lnSpc>
              <a:buNone/>
            </a:pPr>
            <a:r>
              <a:rPr lang="en-US" sz="1140" i="1" dirty="0">
                <a:solidFill>
                  <a:srgbClr val="243B53"/>
                </a:solidFill>
                <a:latin typeface="Aptos" pitchFamily="34" charset="0"/>
                <a:ea typeface="Aptos" pitchFamily="34" charset="-122"/>
                <a:cs typeface="Aptos" pitchFamily="34" charset="-120"/>
              </a:rPr>
              <a:t>«Requieren versiones vivas de todos los servicios… ejercitan caminos de código a través de todos los servicios.»</a:t>
            </a:r>
            <a:endParaRPr lang="en-US" sz="1140" dirty="0"/>
          </a:p>
        </p:txBody>
      </p:sp>
      <p:sp>
        <p:nvSpPr>
          <p:cNvPr id="23" name="Shape 20"/>
          <p:cNvSpPr/>
          <p:nvPr/>
        </p:nvSpPr>
        <p:spPr>
          <a:xfrm>
            <a:off x="658368" y="4517136"/>
            <a:ext cx="10874959" cy="987552"/>
          </a:xfrm>
          <a:prstGeom prst="rect">
            <a:avLst/>
          </a:prstGeom>
          <a:solidFill>
            <a:srgbClr val="1D3A57"/>
          </a:solidFill>
          <a:ln w="12700">
            <a:solidFill>
              <a:srgbClr val="1D3A57"/>
            </a:solidFill>
            <a:prstDash val="solid"/>
          </a:ln>
        </p:spPr>
      </p:sp>
      <p:sp>
        <p:nvSpPr>
          <p:cNvPr id="24" name="Text 21"/>
          <p:cNvSpPr txBox="1"/>
          <p:nvPr/>
        </p:nvSpPr>
        <p:spPr>
          <a:xfrm>
            <a:off x="950976" y="4681728"/>
            <a:ext cx="10289743" cy="640080"/>
          </a:xfrm>
          <a:prstGeom prst="rect">
            <a:avLst/>
          </a:prstGeom>
          <a:noFill/>
          <a:ln/>
        </p:spPr>
        <p:txBody>
          <a:bodyPr wrap="square" lIns="0" tIns="0" rIns="0" bIns="0" rtlCol="0" anchor="t"/>
          <a:lstStyle/>
          <a:p>
            <a:pPr algn="l" indent="0" marL="0">
              <a:lnSpc>
                <a:spcPct val="116000"/>
              </a:lnSpc>
              <a:buNone/>
            </a:pPr>
            <a:r>
              <a:rPr lang="en-US" sz="1300" b="1" dirty="0">
                <a:solidFill>
                  <a:srgbClr val="FFFFFF"/>
                </a:solidFill>
                <a:latin typeface="Aptos" pitchFamily="34" charset="0"/>
                <a:ea typeface="Aptos" pitchFamily="34" charset="-122"/>
                <a:cs typeface="Aptos" pitchFamily="34" charset="-120"/>
              </a:rPr>
              <a:t>Se sustituye lo que está al otro lado del límite que se está probando. No se sustituye el código propio que está en ese límite, porque entonces ese código no se ejecuta y el límite no se prueba.</a:t>
            </a:r>
            <a:endParaRPr lang="en-US" sz="1300" dirty="0"/>
          </a:p>
        </p:txBody>
      </p:sp>
      <p:sp>
        <p:nvSpPr>
          <p:cNvPr id="25" name="Shape 22"/>
          <p:cNvSpPr/>
          <p:nvPr/>
        </p:nvSpPr>
        <p:spPr>
          <a:xfrm>
            <a:off x="658368" y="5650992"/>
            <a:ext cx="10874959" cy="548640"/>
          </a:xfrm>
          <a:prstGeom prst="rect">
            <a:avLst/>
          </a:prstGeom>
          <a:solidFill>
            <a:srgbClr val="D62027"/>
          </a:solidFill>
          <a:ln w="12700">
            <a:solidFill>
              <a:srgbClr val="D62027"/>
            </a:solidFill>
            <a:prstDash val="solid"/>
          </a:ln>
        </p:spPr>
      </p:sp>
      <p:sp>
        <p:nvSpPr>
          <p:cNvPr id="26" name="Text 2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Pregunta práctica: ¿qué defecto seguiría ahí si esta prueba pasara?</a:t>
            </a:r>
            <a:endParaRPr lang="en-US" sz="13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42</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DEFECTO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600" b="1" dirty="0">
                <a:solidFill>
                  <a:srgbClr val="243B53"/>
                </a:solidFill>
                <a:latin typeface="Aptos Display" pitchFamily="34" charset="0"/>
                <a:ea typeface="Aptos Display" pitchFamily="34" charset="-122"/>
                <a:cs typeface="Aptos Display" pitchFamily="34" charset="-120"/>
              </a:rPr>
              <a:t>Un argumento equivocado, y el sistema permite reservar dos veces</a:t>
            </a:r>
            <a:endParaRPr lang="en-US" sz="26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Es un descuido de copiar y pegar. La línea sigue siendo correcta, los dos valores son enteros y ningún analizador estático la marca.</a:t>
            </a:r>
            <a:endParaRPr lang="en-US" sz="1420" dirty="0"/>
          </a:p>
        </p:txBody>
      </p:sp>
      <p:sp>
        <p:nvSpPr>
          <p:cNvPr id="11" name="Shape 8"/>
          <p:cNvSpPr/>
          <p:nvPr/>
        </p:nvSpPr>
        <p:spPr>
          <a:xfrm>
            <a:off x="658368" y="2286000"/>
            <a:ext cx="6492240" cy="1389888"/>
          </a:xfrm>
          <a:prstGeom prst="roundRect">
            <a:avLst>
              <a:gd name="adj" fmla="val 2632"/>
            </a:avLst>
          </a:prstGeom>
          <a:solidFill>
            <a:srgbClr val="102A43"/>
          </a:solidFill>
          <a:ln w="12700">
            <a:solidFill>
              <a:srgbClr val="102A43"/>
            </a:solidFill>
            <a:prstDash val="solid"/>
          </a:ln>
        </p:spPr>
      </p:sp>
      <p:sp>
        <p:nvSpPr>
          <p:cNvPr id="12" name="Shape 9"/>
          <p:cNvSpPr/>
          <p:nvPr/>
        </p:nvSpPr>
        <p:spPr>
          <a:xfrm>
            <a:off x="786384" y="2395728"/>
            <a:ext cx="623620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6016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api.py · donde debía ir solicitud.bloque</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6071616" cy="640080"/>
          </a:xfrm>
          <a:prstGeom prst="rect">
            <a:avLst/>
          </a:prstGeom>
        </p:spPr>
      </p:pic>
      <p:sp>
        <p:nvSpPr>
          <p:cNvPr id="15" name="Shape 11"/>
          <p:cNvSpPr/>
          <p:nvPr/>
        </p:nvSpPr>
        <p:spPr>
          <a:xfrm>
            <a:off x="7516368" y="2286000"/>
            <a:ext cx="4023360" cy="1389888"/>
          </a:xfrm>
          <a:prstGeom prst="roundRect">
            <a:avLst>
              <a:gd name="adj" fmla="val 2632"/>
            </a:avLst>
          </a:prstGeom>
          <a:solidFill>
            <a:srgbClr val="0F1720"/>
          </a:solidFill>
          <a:ln w="12700">
            <a:solidFill>
              <a:srgbClr val="0F1720"/>
            </a:solidFill>
            <a:prstDash val="solid"/>
          </a:ln>
        </p:spPr>
      </p:sp>
      <p:sp>
        <p:nvSpPr>
          <p:cNvPr id="16" name="Shape 12"/>
          <p:cNvSpPr/>
          <p:nvPr/>
        </p:nvSpPr>
        <p:spPr>
          <a:xfrm>
            <a:off x="7644384" y="2395728"/>
            <a:ext cx="3767328"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7772400" y="2468880"/>
            <a:ext cx="351129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 la base real</a:t>
            </a:r>
            <a:endParaRPr lang="en-US" sz="1000" dirty="0"/>
          </a:p>
        </p:txBody>
      </p:sp>
      <p:sp>
        <p:nvSpPr>
          <p:cNvPr id="18" name="Text 14"/>
          <p:cNvSpPr/>
          <p:nvPr/>
        </p:nvSpPr>
        <p:spPr>
          <a:xfrm>
            <a:off x="7735824" y="2852928"/>
            <a:ext cx="3273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E   assert 201 == 409</a:t>
            </a:r>
            <a:endParaRPr lang="en-US" sz="960" dirty="0"/>
          </a:p>
        </p:txBody>
      </p:sp>
      <p:sp>
        <p:nvSpPr>
          <p:cNvPr id="19" name="Text 15"/>
          <p:cNvSpPr/>
          <p:nvPr/>
        </p:nvSpPr>
        <p:spPr>
          <a:xfrm>
            <a:off x="7735824" y="3108960"/>
            <a:ext cx="3273552" cy="164592"/>
          </a:xfrm>
          <a:prstGeom prst="rect">
            <a:avLst/>
          </a:prstGeom>
          <a:noFill/>
          <a:ln/>
        </p:spPr>
        <p:txBody>
          <a:bodyPr wrap="square" lIns="0" tIns="0" rIns="0" bIns="0" rtlCol="0" anchor="ctr"/>
          <a:lstStyle/>
          <a:p>
            <a:pPr indent="0" marL="0">
              <a:buNone/>
            </a:pPr>
            <a:r>
              <a:rPr lang="en-US" sz="960" dirty="0">
                <a:solidFill>
                  <a:srgbClr val="E6EEF7"/>
                </a:solidFill>
                <a:latin typeface="Consolas" pitchFamily="34" charset="0"/>
                <a:ea typeface="Consolas" pitchFamily="34" charset="-122"/>
                <a:cs typeface="Consolas" pitchFamily="34" charset="-120"/>
              </a:rPr>
              <a:t>1 failed, 3 passed</a:t>
            </a:r>
            <a:endParaRPr lang="en-US" sz="960" dirty="0"/>
          </a:p>
        </p:txBody>
      </p:sp>
      <p:sp>
        <p:nvSpPr>
          <p:cNvPr id="20" name="Shape 16"/>
          <p:cNvSpPr/>
          <p:nvPr/>
        </p:nvSpPr>
        <p:spPr>
          <a:xfrm>
            <a:off x="658368" y="3822192"/>
            <a:ext cx="10874959" cy="1243584"/>
          </a:xfrm>
          <a:prstGeom prst="rect">
            <a:avLst/>
          </a:prstGeom>
          <a:solidFill>
            <a:srgbClr val="EDE6DA"/>
          </a:solidFill>
          <a:ln w="12700">
            <a:solidFill>
              <a:srgbClr val="EDE6DA"/>
            </a:solidFill>
            <a:prstDash val="solid"/>
          </a:ln>
        </p:spPr>
      </p:sp>
      <p:sp>
        <p:nvSpPr>
          <p:cNvPr id="21" name="Shape 17"/>
          <p:cNvSpPr/>
          <p:nvPr/>
        </p:nvSpPr>
        <p:spPr>
          <a:xfrm>
            <a:off x="658368" y="3822192"/>
            <a:ext cx="54864" cy="1243584"/>
          </a:xfrm>
          <a:prstGeom prst="rect">
            <a:avLst/>
          </a:prstGeom>
          <a:solidFill>
            <a:srgbClr val="2E7D4F"/>
          </a:solidFill>
          <a:ln w="12700">
            <a:solidFill>
              <a:srgbClr val="2E7D4F"/>
            </a:solidFill>
            <a:prstDash val="solid"/>
          </a:ln>
        </p:spPr>
      </p:sp>
      <p:sp>
        <p:nvSpPr>
          <p:cNvPr id="22" name="Text 18"/>
          <p:cNvSpPr txBox="1"/>
          <p:nvPr/>
        </p:nvSpPr>
        <p:spPr>
          <a:xfrm>
            <a:off x="950976" y="3986784"/>
            <a:ext cx="3657600" cy="256032"/>
          </a:xfrm>
          <a:prstGeom prst="rect">
            <a:avLst/>
          </a:prstGeom>
          <a:noFill/>
          <a:ln/>
        </p:spPr>
        <p:txBody>
          <a:bodyPr wrap="square" lIns="0" tIns="0" rIns="0" bIns="0" rtlCol="0" anchor="t"/>
          <a:lstStyle/>
          <a:p>
            <a:pPr algn="l" indent="0" marL="0">
              <a:buNone/>
            </a:pPr>
            <a:r>
              <a:rPr lang="en-US" sz="1340" b="1" dirty="0">
                <a:solidFill>
                  <a:srgbClr val="2E7D4F"/>
                </a:solidFill>
                <a:latin typeface="Aptos" pitchFamily="34" charset="0"/>
                <a:ea typeface="Aptos" pitchFamily="34" charset="-122"/>
                <a:cs typeface="Aptos" pitchFamily="34" charset="-120"/>
              </a:rPr>
              <a:t>Por qué la encuentra</a:t>
            </a:r>
            <a:endParaRPr lang="en-US" sz="1340" dirty="0"/>
          </a:p>
        </p:txBody>
      </p:sp>
      <p:sp>
        <p:nvSpPr>
          <p:cNvPr id="23" name="Text 19"/>
          <p:cNvSpPr txBox="1"/>
          <p:nvPr/>
        </p:nvSpPr>
        <p:spPr>
          <a:xfrm>
            <a:off x="950976" y="4279392"/>
            <a:ext cx="10289743" cy="621792"/>
          </a:xfrm>
          <a:prstGeom prst="rect">
            <a:avLst/>
          </a:prstGeom>
          <a:noFill/>
          <a:ln/>
        </p:spPr>
        <p:txBody>
          <a:bodyPr wrap="square" lIns="0" tIns="0" rIns="0" bIns="0" rtlCol="0" anchor="t"/>
          <a:lstStyle/>
          <a:p>
            <a:pPr algn="l" indent="0" marL="0">
              <a:lnSpc>
                <a:spcPct val="116000"/>
              </a:lnSpc>
              <a:buNone/>
            </a:pPr>
            <a:r>
              <a:rPr lang="en-US" sz="1240" dirty="0">
                <a:solidFill>
                  <a:srgbClr val="243B53"/>
                </a:solidFill>
                <a:latin typeface="Aptos" pitchFamily="34" charset="0"/>
                <a:ea typeface="Aptos" pitchFamily="34" charset="-122"/>
                <a:cs typeface="Aptos" pitchFamily="34" charset="-120"/>
              </a:rPr>
              <a:t>La prueba pidió el bloque 2, que la fixture había dejado reservado, y el sistema respondió 201: lo aceptó. Funcionó porque la consulta salió de verdad hacia el archivo, buscó reservas en el bloque 12 —el número de personas— y no encontró ninguna.</a:t>
            </a:r>
            <a:endParaRPr lang="en-US" sz="1240" dirty="0"/>
          </a:p>
        </p:txBody>
      </p:sp>
      <p:sp>
        <p:nvSpPr>
          <p:cNvPr id="24" name="Shape 20"/>
          <p:cNvSpPr/>
          <p:nvPr/>
        </p:nvSpPr>
        <p:spPr>
          <a:xfrm>
            <a:off x="658368" y="5650992"/>
            <a:ext cx="10874959" cy="548640"/>
          </a:xfrm>
          <a:prstGeom prst="rect">
            <a:avLst/>
          </a:prstGeom>
          <a:solidFill>
            <a:srgbClr val="102A43"/>
          </a:solidFill>
          <a:ln w="12700">
            <a:solidFill>
              <a:srgbClr val="102A43"/>
            </a:solidFill>
            <a:prstDash val="solid"/>
          </a:ln>
        </p:spPr>
      </p:sp>
      <p:sp>
        <p:nvSpPr>
          <p:cNvPr id="25" name="Text 2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La suite del bloque anterior lo encuentra sin que haya que hacer nada nuevo.</a:t>
            </a:r>
            <a:endParaRPr lang="en-US" sz="13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43</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MISMA COMPROBACIÓN</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700" b="1" dirty="0">
                <a:solidFill>
                  <a:srgbClr val="243B53"/>
                </a:solidFill>
                <a:latin typeface="Aptos Display" pitchFamily="34" charset="0"/>
                <a:ea typeface="Aptos Display" pitchFamily="34" charset="-122"/>
                <a:cs typeface="Aptos Display" pitchFamily="34" charset="-120"/>
              </a:rPr>
              <a:t>Verde, más rápido, y comprobando exactamente nada</a:t>
            </a:r>
            <a:endParaRPr lang="en-US" sz="27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Ahora escrita como se escribe cuando se quiere que la prueba no dependa de ningún archivo. El defecto sigue en la API, sin tocar.</a:t>
            </a:r>
            <a:endParaRPr lang="en-US" sz="1420" dirty="0"/>
          </a:p>
        </p:txBody>
      </p:sp>
      <p:sp>
        <p:nvSpPr>
          <p:cNvPr id="11" name="Shape 8"/>
          <p:cNvSpPr/>
          <p:nvPr/>
        </p:nvSpPr>
        <p:spPr>
          <a:xfrm>
            <a:off x="658368" y="2286000"/>
            <a:ext cx="6492240" cy="1993392"/>
          </a:xfrm>
          <a:prstGeom prst="roundRect">
            <a:avLst>
              <a:gd name="adj" fmla="val 1835"/>
            </a:avLst>
          </a:prstGeom>
          <a:solidFill>
            <a:srgbClr val="102A43"/>
          </a:solidFill>
          <a:ln w="12700">
            <a:solidFill>
              <a:srgbClr val="102A43"/>
            </a:solidFill>
            <a:prstDash val="solid"/>
          </a:ln>
        </p:spPr>
      </p:sp>
      <p:sp>
        <p:nvSpPr>
          <p:cNvPr id="12" name="Shape 9"/>
          <p:cNvSpPr/>
          <p:nvPr/>
        </p:nvSpPr>
        <p:spPr>
          <a:xfrm>
            <a:off x="786384" y="2395728"/>
            <a:ext cx="6236208" cy="310896"/>
          </a:xfrm>
          <a:prstGeom prst="roundRect">
            <a:avLst>
              <a:gd name="adj" fmla="val 8824"/>
            </a:avLst>
          </a:prstGeom>
          <a:solidFill>
            <a:srgbClr val="284B75"/>
          </a:solidFill>
          <a:ln w="12700">
            <a:solidFill>
              <a:srgbClr val="284B75"/>
            </a:solidFill>
            <a:prstDash val="solid"/>
          </a:ln>
        </p:spPr>
      </p:sp>
      <p:sp>
        <p:nvSpPr>
          <p:cNvPr id="13" name="Text 10"/>
          <p:cNvSpPr/>
          <p:nvPr/>
        </p:nvSpPr>
        <p:spPr>
          <a:xfrm>
            <a:off x="896112" y="2468880"/>
            <a:ext cx="6016752" cy="146304"/>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test_api_con_doble.py</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7824" y="2852928"/>
            <a:ext cx="6071616" cy="1243584"/>
          </a:xfrm>
          <a:prstGeom prst="rect">
            <a:avLst/>
          </a:prstGeom>
        </p:spPr>
      </p:pic>
      <p:sp>
        <p:nvSpPr>
          <p:cNvPr id="15" name="Shape 11"/>
          <p:cNvSpPr/>
          <p:nvPr/>
        </p:nvSpPr>
        <p:spPr>
          <a:xfrm>
            <a:off x="7516368" y="2286000"/>
            <a:ext cx="4023360" cy="1188720"/>
          </a:xfrm>
          <a:prstGeom prst="roundRect">
            <a:avLst>
              <a:gd name="adj" fmla="val 3077"/>
            </a:avLst>
          </a:prstGeom>
          <a:solidFill>
            <a:srgbClr val="0F1720"/>
          </a:solidFill>
          <a:ln w="12700">
            <a:solidFill>
              <a:srgbClr val="0F1720"/>
            </a:solidFill>
            <a:prstDash val="solid"/>
          </a:ln>
        </p:spPr>
      </p:sp>
      <p:sp>
        <p:nvSpPr>
          <p:cNvPr id="16" name="Shape 12"/>
          <p:cNvSpPr/>
          <p:nvPr/>
        </p:nvSpPr>
        <p:spPr>
          <a:xfrm>
            <a:off x="7644384" y="2395728"/>
            <a:ext cx="3767328" cy="310896"/>
          </a:xfrm>
          <a:prstGeom prst="roundRect">
            <a:avLst>
              <a:gd name="adj" fmla="val 8824"/>
            </a:avLst>
          </a:prstGeom>
          <a:solidFill>
            <a:srgbClr val="1E2937"/>
          </a:solidFill>
          <a:ln w="12700">
            <a:solidFill>
              <a:srgbClr val="1E2937"/>
            </a:solidFill>
            <a:prstDash val="solid"/>
          </a:ln>
        </p:spPr>
      </p:sp>
      <p:sp>
        <p:nvSpPr>
          <p:cNvPr id="17" name="Text 13"/>
          <p:cNvSpPr/>
          <p:nvPr/>
        </p:nvSpPr>
        <p:spPr>
          <a:xfrm>
            <a:off x="7772400" y="2468880"/>
            <a:ext cx="351129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 la base sustituida</a:t>
            </a:r>
            <a:endParaRPr lang="en-US" sz="1000" dirty="0"/>
          </a:p>
        </p:txBody>
      </p:sp>
      <p:sp>
        <p:nvSpPr>
          <p:cNvPr id="18" name="Text 14"/>
          <p:cNvSpPr/>
          <p:nvPr/>
        </p:nvSpPr>
        <p:spPr>
          <a:xfrm>
            <a:off x="7735824" y="2852928"/>
            <a:ext cx="3273552" cy="164592"/>
          </a:xfrm>
          <a:prstGeom prst="rect">
            <a:avLst/>
          </a:prstGeom>
          <a:noFill/>
          <a:ln/>
        </p:spPr>
        <p:txBody>
          <a:bodyPr wrap="square" lIns="0" tIns="0" rIns="0" bIns="0" rtlCol="0" anchor="ctr"/>
          <a:lstStyle/>
          <a:p>
            <a:pPr indent="0" marL="0">
              <a:buNone/>
            </a:pPr>
            <a:r>
              <a:rPr lang="en-US" sz="980" dirty="0">
                <a:solidFill>
                  <a:srgbClr val="E6EEF7"/>
                </a:solidFill>
                <a:latin typeface="Consolas" pitchFamily="34" charset="0"/>
                <a:ea typeface="Consolas" pitchFamily="34" charset="-122"/>
                <a:cs typeface="Consolas" pitchFamily="34" charset="-120"/>
              </a:rPr>
              <a:t>1 passed in 0.47s</a:t>
            </a:r>
            <a:endParaRPr lang="en-US" sz="980" dirty="0"/>
          </a:p>
        </p:txBody>
      </p:sp>
      <p:sp>
        <p:nvSpPr>
          <p:cNvPr id="19" name="Shape 15"/>
          <p:cNvSpPr/>
          <p:nvPr/>
        </p:nvSpPr>
        <p:spPr>
          <a:xfrm>
            <a:off x="7516368" y="3602736"/>
            <a:ext cx="4023360" cy="676656"/>
          </a:xfrm>
          <a:prstGeom prst="rect">
            <a:avLst/>
          </a:prstGeom>
          <a:solidFill>
            <a:srgbClr val="FFFFFF"/>
          </a:solidFill>
          <a:ln w="12700">
            <a:solidFill>
              <a:srgbClr val="FFFFFF"/>
            </a:solidFill>
            <a:prstDash val="solid"/>
          </a:ln>
        </p:spPr>
      </p:sp>
      <p:sp>
        <p:nvSpPr>
          <p:cNvPr id="20" name="Shape 16"/>
          <p:cNvSpPr/>
          <p:nvPr/>
        </p:nvSpPr>
        <p:spPr>
          <a:xfrm>
            <a:off x="7516368" y="3602736"/>
            <a:ext cx="54864" cy="676656"/>
          </a:xfrm>
          <a:prstGeom prst="rect">
            <a:avLst/>
          </a:prstGeom>
          <a:solidFill>
            <a:srgbClr val="102A43"/>
          </a:solidFill>
          <a:ln w="12700">
            <a:solidFill>
              <a:srgbClr val="102A43"/>
            </a:solidFill>
            <a:prstDash val="solid"/>
          </a:ln>
        </p:spPr>
      </p:sp>
      <p:sp>
        <p:nvSpPr>
          <p:cNvPr id="21" name="Text 17"/>
          <p:cNvSpPr txBox="1"/>
          <p:nvPr/>
        </p:nvSpPr>
        <p:spPr>
          <a:xfrm>
            <a:off x="7754112" y="3730752"/>
            <a:ext cx="3566160" cy="182880"/>
          </a:xfrm>
          <a:prstGeom prst="rect">
            <a:avLst/>
          </a:prstGeom>
          <a:noFill/>
          <a:ln/>
        </p:spPr>
        <p:txBody>
          <a:bodyPr wrap="square" lIns="0" tIns="0" rIns="0" bIns="0" rtlCol="0" anchor="t"/>
          <a:lstStyle/>
          <a:p>
            <a:pPr algn="l" indent="0" marL="0">
              <a:buNone/>
            </a:pPr>
            <a:r>
              <a:rPr lang="en-US" sz="920" b="1" spc="110" kern="0" dirty="0">
                <a:solidFill>
                  <a:srgbClr val="102A43"/>
                </a:solidFill>
                <a:latin typeface="Aptos" pitchFamily="34" charset="0"/>
                <a:ea typeface="Aptos" pitchFamily="34" charset="-122"/>
                <a:cs typeface="Aptos" pitchFamily="34" charset="-120"/>
              </a:rPr>
              <a:t>RETURN_VALUE</a:t>
            </a:r>
            <a:endParaRPr lang="en-US" sz="920" dirty="0"/>
          </a:p>
        </p:txBody>
      </p:sp>
      <p:sp>
        <p:nvSpPr>
          <p:cNvPr id="22" name="Text 18"/>
          <p:cNvSpPr txBox="1"/>
          <p:nvPr/>
        </p:nvSpPr>
        <p:spPr>
          <a:xfrm>
            <a:off x="7754112" y="3986784"/>
            <a:ext cx="3566160" cy="182880"/>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Fija la respuesta prefabricada del stub.</a:t>
            </a:r>
            <a:endParaRPr lang="en-US" sz="1210" dirty="0"/>
          </a:p>
        </p:txBody>
      </p:sp>
      <p:sp>
        <p:nvSpPr>
          <p:cNvPr id="23" name="Shape 19"/>
          <p:cNvSpPr/>
          <p:nvPr/>
        </p:nvSpPr>
        <p:spPr>
          <a:xfrm>
            <a:off x="658368" y="4315968"/>
            <a:ext cx="10874959" cy="347472"/>
          </a:xfrm>
          <a:prstGeom prst="rect">
            <a:avLst/>
          </a:prstGeom>
          <a:solidFill>
            <a:srgbClr val="1D3A57"/>
          </a:solidFill>
          <a:ln w="12700">
            <a:solidFill>
              <a:srgbClr val="1D3A57"/>
            </a:solidFill>
            <a:prstDash val="solid"/>
          </a:ln>
        </p:spPr>
      </p:sp>
      <p:sp>
        <p:nvSpPr>
          <p:cNvPr id="24" name="Text 20"/>
          <p:cNvSpPr txBox="1"/>
          <p:nvPr/>
        </p:nvSpPr>
        <p:spPr>
          <a:xfrm>
            <a:off x="4773168" y="4389120"/>
            <a:ext cx="292608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BASE REAL</a:t>
            </a:r>
            <a:endParaRPr lang="en-US" sz="920" dirty="0"/>
          </a:p>
        </p:txBody>
      </p:sp>
      <p:sp>
        <p:nvSpPr>
          <p:cNvPr id="25" name="Text 21"/>
          <p:cNvSpPr txBox="1"/>
          <p:nvPr/>
        </p:nvSpPr>
        <p:spPr>
          <a:xfrm>
            <a:off x="8065008" y="4389120"/>
            <a:ext cx="292608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BASE SUSTITUIDA</a:t>
            </a:r>
            <a:endParaRPr lang="en-US" sz="920" dirty="0"/>
          </a:p>
        </p:txBody>
      </p:sp>
      <p:sp>
        <p:nvSpPr>
          <p:cNvPr id="26" name="Shape 22"/>
          <p:cNvSpPr/>
          <p:nvPr/>
        </p:nvSpPr>
        <p:spPr>
          <a:xfrm>
            <a:off x="658368" y="4700016"/>
            <a:ext cx="10874959" cy="292608"/>
          </a:xfrm>
          <a:prstGeom prst="rect">
            <a:avLst/>
          </a:prstGeom>
          <a:solidFill>
            <a:srgbClr val="EDE6DA"/>
          </a:solidFill>
          <a:ln w="12700">
            <a:solidFill>
              <a:srgbClr val="EDE6DA"/>
            </a:solidFill>
            <a:prstDash val="solid"/>
          </a:ln>
        </p:spPr>
      </p:sp>
      <p:sp>
        <p:nvSpPr>
          <p:cNvPr id="27" name="Text 23"/>
          <p:cNvSpPr txBox="1"/>
          <p:nvPr/>
        </p:nvSpPr>
        <p:spPr>
          <a:xfrm>
            <a:off x="896112" y="4754880"/>
            <a:ext cx="3566160" cy="219456"/>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Resultado</a:t>
            </a:r>
            <a:endParaRPr lang="en-US" sz="1140" dirty="0"/>
          </a:p>
        </p:txBody>
      </p:sp>
      <p:sp>
        <p:nvSpPr>
          <p:cNvPr id="28" name="Text 24"/>
          <p:cNvSpPr txBox="1"/>
          <p:nvPr/>
        </p:nvSpPr>
        <p:spPr>
          <a:xfrm>
            <a:off x="4773168" y="4754880"/>
            <a:ext cx="3108960" cy="219456"/>
          </a:xfrm>
          <a:prstGeom prst="rect">
            <a:avLst/>
          </a:prstGeom>
          <a:noFill/>
          <a:ln/>
        </p:spPr>
        <p:txBody>
          <a:bodyPr wrap="square" lIns="0" tIns="0" rIns="0" bIns="0" rtlCol="0" anchor="t"/>
          <a:lstStyle/>
          <a:p>
            <a:pPr algn="l" indent="0" marL="0">
              <a:buNone/>
            </a:pPr>
            <a:r>
              <a:rPr lang="en-US" sz="1120" dirty="0">
                <a:solidFill>
                  <a:srgbClr val="2E7D4F"/>
                </a:solidFill>
                <a:latin typeface="Aptos" pitchFamily="34" charset="0"/>
                <a:ea typeface="Aptos" pitchFamily="34" charset="-122"/>
                <a:cs typeface="Aptos" pitchFamily="34" charset="-120"/>
              </a:rPr>
              <a:t>1 failed, 3 passed</a:t>
            </a:r>
            <a:endParaRPr lang="en-US" sz="1120" dirty="0"/>
          </a:p>
        </p:txBody>
      </p:sp>
      <p:sp>
        <p:nvSpPr>
          <p:cNvPr id="29" name="Text 25"/>
          <p:cNvSpPr txBox="1"/>
          <p:nvPr/>
        </p:nvSpPr>
        <p:spPr>
          <a:xfrm>
            <a:off x="8065008" y="4754880"/>
            <a:ext cx="3200400" cy="219456"/>
          </a:xfrm>
          <a:prstGeom prst="rect">
            <a:avLst/>
          </a:prstGeom>
          <a:noFill/>
          <a:ln/>
        </p:spPr>
        <p:txBody>
          <a:bodyPr wrap="square" lIns="0" tIns="0" rIns="0" bIns="0" rtlCol="0" anchor="t"/>
          <a:lstStyle/>
          <a:p>
            <a:pPr algn="l" indent="0" marL="0">
              <a:buNone/>
            </a:pPr>
            <a:r>
              <a:rPr lang="en-US" sz="1120" dirty="0">
                <a:solidFill>
                  <a:srgbClr val="B3181E"/>
                </a:solidFill>
                <a:latin typeface="Aptos" pitchFamily="34" charset="0"/>
                <a:ea typeface="Aptos" pitchFamily="34" charset="-122"/>
                <a:cs typeface="Aptos" pitchFamily="34" charset="-120"/>
              </a:rPr>
              <a:t>1 passed</a:t>
            </a:r>
            <a:endParaRPr lang="en-US" sz="1120" dirty="0"/>
          </a:p>
        </p:txBody>
      </p:sp>
      <p:sp>
        <p:nvSpPr>
          <p:cNvPr id="30" name="Shape 26"/>
          <p:cNvSpPr/>
          <p:nvPr/>
        </p:nvSpPr>
        <p:spPr>
          <a:xfrm>
            <a:off x="658368" y="5010912"/>
            <a:ext cx="10874959" cy="292608"/>
          </a:xfrm>
          <a:prstGeom prst="rect">
            <a:avLst/>
          </a:prstGeom>
          <a:solidFill>
            <a:srgbClr val="F8F3EC"/>
          </a:solidFill>
          <a:ln w="12700">
            <a:solidFill>
              <a:srgbClr val="F8F3EC"/>
            </a:solidFill>
            <a:prstDash val="solid"/>
          </a:ln>
        </p:spPr>
      </p:sp>
      <p:sp>
        <p:nvSpPr>
          <p:cNvPr id="31" name="Text 27"/>
          <p:cNvSpPr txBox="1"/>
          <p:nvPr/>
        </p:nvSpPr>
        <p:spPr>
          <a:xfrm>
            <a:off x="896112" y="5065776"/>
            <a:ext cx="3566160" cy="219456"/>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El defecto</a:t>
            </a:r>
            <a:endParaRPr lang="en-US" sz="1140" dirty="0"/>
          </a:p>
        </p:txBody>
      </p:sp>
      <p:sp>
        <p:nvSpPr>
          <p:cNvPr id="32" name="Text 28"/>
          <p:cNvSpPr txBox="1"/>
          <p:nvPr/>
        </p:nvSpPr>
        <p:spPr>
          <a:xfrm>
            <a:off x="4773168" y="5065776"/>
            <a:ext cx="3108960" cy="219456"/>
          </a:xfrm>
          <a:prstGeom prst="rect">
            <a:avLst/>
          </a:prstGeom>
          <a:noFill/>
          <a:ln/>
        </p:spPr>
        <p:txBody>
          <a:bodyPr wrap="square" lIns="0" tIns="0" rIns="0" bIns="0" rtlCol="0" anchor="t"/>
          <a:lstStyle/>
          <a:p>
            <a:pPr algn="l" indent="0" marL="0">
              <a:buNone/>
            </a:pPr>
            <a:r>
              <a:rPr lang="en-US" sz="1120" dirty="0">
                <a:solidFill>
                  <a:srgbClr val="2E7D4F"/>
                </a:solidFill>
                <a:latin typeface="Aptos" pitchFamily="34" charset="0"/>
                <a:ea typeface="Aptos" pitchFamily="34" charset="-122"/>
                <a:cs typeface="Aptos" pitchFamily="34" charset="-120"/>
              </a:rPr>
              <a:t>queda expuesto</a:t>
            </a:r>
            <a:endParaRPr lang="en-US" sz="1120" dirty="0"/>
          </a:p>
        </p:txBody>
      </p:sp>
      <p:sp>
        <p:nvSpPr>
          <p:cNvPr id="33" name="Text 29"/>
          <p:cNvSpPr txBox="1"/>
          <p:nvPr/>
        </p:nvSpPr>
        <p:spPr>
          <a:xfrm>
            <a:off x="8065008" y="5065776"/>
            <a:ext cx="3200400" cy="219456"/>
          </a:xfrm>
          <a:prstGeom prst="rect">
            <a:avLst/>
          </a:prstGeom>
          <a:noFill/>
          <a:ln/>
        </p:spPr>
        <p:txBody>
          <a:bodyPr wrap="square" lIns="0" tIns="0" rIns="0" bIns="0" rtlCol="0" anchor="t"/>
          <a:lstStyle/>
          <a:p>
            <a:pPr algn="l" indent="0" marL="0">
              <a:buNone/>
            </a:pPr>
            <a:r>
              <a:rPr lang="en-US" sz="1120" dirty="0">
                <a:solidFill>
                  <a:srgbClr val="B3181E"/>
                </a:solidFill>
                <a:latin typeface="Aptos" pitchFamily="34" charset="0"/>
                <a:ea typeface="Aptos" pitchFamily="34" charset="-122"/>
                <a:cs typeface="Aptos" pitchFamily="34" charset="-120"/>
              </a:rPr>
              <a:t>sigue ahí, invisible</a:t>
            </a:r>
            <a:endParaRPr lang="en-US" sz="1120" dirty="0"/>
          </a:p>
        </p:txBody>
      </p:sp>
      <p:sp>
        <p:nvSpPr>
          <p:cNvPr id="34" name="Shape 30"/>
          <p:cNvSpPr/>
          <p:nvPr/>
        </p:nvSpPr>
        <p:spPr>
          <a:xfrm>
            <a:off x="658368" y="5321808"/>
            <a:ext cx="10874959" cy="292608"/>
          </a:xfrm>
          <a:prstGeom prst="rect">
            <a:avLst/>
          </a:prstGeom>
          <a:solidFill>
            <a:srgbClr val="EDE6DA"/>
          </a:solidFill>
          <a:ln w="12700">
            <a:solidFill>
              <a:srgbClr val="EDE6DA"/>
            </a:solidFill>
            <a:prstDash val="solid"/>
          </a:ln>
        </p:spPr>
      </p:sp>
      <p:sp>
        <p:nvSpPr>
          <p:cNvPr id="35" name="Text 31"/>
          <p:cNvSpPr txBox="1"/>
          <p:nvPr/>
        </p:nvSpPr>
        <p:spPr>
          <a:xfrm>
            <a:off x="896112" y="5376672"/>
            <a:ext cx="3566160" cy="219456"/>
          </a:xfrm>
          <a:prstGeom prst="rect">
            <a:avLst/>
          </a:prstGeom>
          <a:noFill/>
          <a:ln/>
        </p:spPr>
        <p:txBody>
          <a:bodyPr wrap="square" lIns="0" tIns="0" rIns="0" bIns="0" rtlCol="0" anchor="t"/>
          <a:lstStyle/>
          <a:p>
            <a:pPr algn="l" indent="0" marL="0">
              <a:buNone/>
            </a:pPr>
            <a:r>
              <a:rPr lang="en-US" sz="1140" b="1" dirty="0">
                <a:solidFill>
                  <a:srgbClr val="243B53"/>
                </a:solidFill>
                <a:latin typeface="Aptos" pitchFamily="34" charset="0"/>
                <a:ea typeface="Aptos" pitchFamily="34" charset="-122"/>
                <a:cs typeface="Aptos" pitchFamily="34" charset="-120"/>
              </a:rPr>
              <a:t>Qué se ejecutó</a:t>
            </a:r>
            <a:endParaRPr lang="en-US" sz="1140" dirty="0"/>
          </a:p>
        </p:txBody>
      </p:sp>
      <p:sp>
        <p:nvSpPr>
          <p:cNvPr id="36" name="Text 32"/>
          <p:cNvSpPr txBox="1"/>
          <p:nvPr/>
        </p:nvSpPr>
        <p:spPr>
          <a:xfrm>
            <a:off x="4773168" y="5376672"/>
            <a:ext cx="3108960" cy="219456"/>
          </a:xfrm>
          <a:prstGeom prst="rect">
            <a:avLst/>
          </a:prstGeom>
          <a:noFill/>
          <a:ln/>
        </p:spPr>
        <p:txBody>
          <a:bodyPr wrap="square" lIns="0" tIns="0" rIns="0" bIns="0" rtlCol="0" anchor="t"/>
          <a:lstStyle/>
          <a:p>
            <a:pPr algn="l" indent="0" marL="0">
              <a:buNone/>
            </a:pPr>
            <a:r>
              <a:rPr lang="en-US" sz="1120" dirty="0">
                <a:solidFill>
                  <a:srgbClr val="2E7D4F"/>
                </a:solidFill>
                <a:latin typeface="Aptos" pitchFamily="34" charset="0"/>
                <a:ea typeface="Aptos" pitchFamily="34" charset="-122"/>
                <a:cs typeface="Aptos" pitchFamily="34" charset="-120"/>
              </a:rPr>
              <a:t>la consulta, el archivo, la comparación</a:t>
            </a:r>
            <a:endParaRPr lang="en-US" sz="1120" dirty="0"/>
          </a:p>
        </p:txBody>
      </p:sp>
      <p:sp>
        <p:nvSpPr>
          <p:cNvPr id="37" name="Text 33"/>
          <p:cNvSpPr txBox="1"/>
          <p:nvPr/>
        </p:nvSpPr>
        <p:spPr>
          <a:xfrm>
            <a:off x="8065008" y="5376672"/>
            <a:ext cx="3200400" cy="219456"/>
          </a:xfrm>
          <a:prstGeom prst="rect">
            <a:avLst/>
          </a:prstGeom>
          <a:noFill/>
          <a:ln/>
        </p:spPr>
        <p:txBody>
          <a:bodyPr wrap="square" lIns="0" tIns="0" rIns="0" bIns="0" rtlCol="0" anchor="t"/>
          <a:lstStyle/>
          <a:p>
            <a:pPr algn="l" indent="0" marL="0">
              <a:buNone/>
            </a:pPr>
            <a:r>
              <a:rPr lang="en-US" sz="1120" dirty="0">
                <a:solidFill>
                  <a:srgbClr val="B3181E"/>
                </a:solidFill>
                <a:latin typeface="Aptos" pitchFamily="34" charset="0"/>
                <a:ea typeface="Aptos" pitchFamily="34" charset="-122"/>
                <a:cs typeface="Aptos" pitchFamily="34" charset="-120"/>
              </a:rPr>
              <a:t>la aserción, y nada más</a:t>
            </a:r>
            <a:endParaRPr lang="en-US" sz="1120" dirty="0"/>
          </a:p>
        </p:txBody>
      </p:sp>
      <p:sp>
        <p:nvSpPr>
          <p:cNvPr id="38" name="Shape 34"/>
          <p:cNvSpPr/>
          <p:nvPr/>
        </p:nvSpPr>
        <p:spPr>
          <a:xfrm>
            <a:off x="658368" y="5650992"/>
            <a:ext cx="10874959" cy="548640"/>
          </a:xfrm>
          <a:prstGeom prst="rect">
            <a:avLst/>
          </a:prstGeom>
          <a:solidFill>
            <a:srgbClr val="102A43"/>
          </a:solidFill>
          <a:ln w="12700">
            <a:solidFill>
              <a:srgbClr val="102A43"/>
            </a:solidFill>
            <a:prstDash val="solid"/>
          </a:ln>
        </p:spPr>
      </p:sp>
      <p:sp>
        <p:nvSpPr>
          <p:cNvPr id="39" name="Text 35"/>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Reconocer un bloque tomado es consultar la base. Al sustituirla, eso no ocurre.</a:t>
            </a:r>
            <a:endParaRPr lang="en-US" sz="13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44</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EL DETALLE QUE INDICA EL REMEDIO</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El doble no ignoró el defecto: lo anotó</a:t>
            </a:r>
            <a:endParaRPr lang="en-US" sz="28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Preguntándole con qué se lo llamó aparece la evidencia que estaba dentro de la prueba y que la prueba no miró.</a:t>
            </a:r>
            <a:endParaRPr lang="en-US" sz="1420" dirty="0"/>
          </a:p>
        </p:txBody>
      </p:sp>
      <p:sp>
        <p:nvSpPr>
          <p:cNvPr id="11" name="Shape 8"/>
          <p:cNvSpPr/>
          <p:nvPr/>
        </p:nvSpPr>
        <p:spPr>
          <a:xfrm>
            <a:off x="658368" y="2286000"/>
            <a:ext cx="6492240" cy="1389888"/>
          </a:xfrm>
          <a:prstGeom prst="roundRect">
            <a:avLst>
              <a:gd name="adj" fmla="val 2632"/>
            </a:avLst>
          </a:prstGeom>
          <a:solidFill>
            <a:srgbClr val="0F1720"/>
          </a:solidFill>
          <a:ln w="12700">
            <a:solidFill>
              <a:srgbClr val="0F1720"/>
            </a:solidFill>
            <a:prstDash val="solid"/>
          </a:ln>
        </p:spPr>
      </p:sp>
      <p:sp>
        <p:nvSpPr>
          <p:cNvPr id="12" name="Shape 9"/>
          <p:cNvSpPr/>
          <p:nvPr/>
        </p:nvSpPr>
        <p:spPr>
          <a:xfrm>
            <a:off x="786384" y="2395728"/>
            <a:ext cx="6236208" cy="310896"/>
          </a:xfrm>
          <a:prstGeom prst="roundRect">
            <a:avLst>
              <a:gd name="adj" fmla="val 8824"/>
            </a:avLst>
          </a:prstGeom>
          <a:solidFill>
            <a:srgbClr val="1E2937"/>
          </a:solidFill>
          <a:ln w="12700">
            <a:solidFill>
              <a:srgbClr val="1E2937"/>
            </a:solidFill>
            <a:prstDash val="solid"/>
          </a:ln>
        </p:spPr>
      </p:sp>
      <p:sp>
        <p:nvSpPr>
          <p:cNvPr id="13" name="Text 10"/>
          <p:cNvSpPr/>
          <p:nvPr/>
        </p:nvSpPr>
        <p:spPr>
          <a:xfrm>
            <a:off x="914400" y="2468880"/>
            <a:ext cx="5980176" cy="128016"/>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almacen_doble.bloque_tomado.call_args</a:t>
            </a:r>
            <a:endParaRPr lang="en-US" sz="1000" dirty="0"/>
          </a:p>
        </p:txBody>
      </p:sp>
      <p:sp>
        <p:nvSpPr>
          <p:cNvPr id="14" name="Text 11"/>
          <p:cNvSpPr/>
          <p:nvPr/>
        </p:nvSpPr>
        <p:spPr>
          <a:xfrm>
            <a:off x="877824" y="2852928"/>
            <a:ext cx="5742432" cy="164592"/>
          </a:xfrm>
          <a:prstGeom prst="rect">
            <a:avLst/>
          </a:prstGeom>
          <a:noFill/>
          <a:ln/>
        </p:spPr>
        <p:txBody>
          <a:bodyPr wrap="square" lIns="0" tIns="0" rIns="0" bIns="0" rtlCol="0" anchor="ctr"/>
          <a:lstStyle/>
          <a:p>
            <a:pPr indent="0" marL="0">
              <a:buNone/>
            </a:pPr>
            <a:r>
              <a:rPr lang="en-US" sz="960" dirty="0">
                <a:solidFill>
                  <a:srgbClr val="8AA0B6"/>
                </a:solidFill>
                <a:latin typeface="Consolas" pitchFamily="34" charset="0"/>
                <a:ea typeface="Consolas" pitchFamily="34" charset="-122"/>
                <a:cs typeface="Consolas" pitchFamily="34" charset="-120"/>
              </a:rPr>
              <a:t>call(&lt;MagicMock name='mock.conectar()'&gt;, 12)</a:t>
            </a:r>
            <a:endParaRPr lang="en-US" sz="960" dirty="0"/>
          </a:p>
        </p:txBody>
      </p:sp>
      <p:sp>
        <p:nvSpPr>
          <p:cNvPr id="15" name="Shape 12"/>
          <p:cNvSpPr/>
          <p:nvPr/>
        </p:nvSpPr>
        <p:spPr>
          <a:xfrm>
            <a:off x="7516368" y="2286000"/>
            <a:ext cx="4023360" cy="1389888"/>
          </a:xfrm>
          <a:prstGeom prst="rect">
            <a:avLst/>
          </a:prstGeom>
          <a:solidFill>
            <a:srgbClr val="FFFFFF"/>
          </a:solidFill>
          <a:ln w="12700">
            <a:solidFill>
              <a:srgbClr val="FFFFFF"/>
            </a:solidFill>
            <a:prstDash val="solid"/>
          </a:ln>
        </p:spPr>
      </p:sp>
      <p:sp>
        <p:nvSpPr>
          <p:cNvPr id="16" name="Shape 13"/>
          <p:cNvSpPr/>
          <p:nvPr/>
        </p:nvSpPr>
        <p:spPr>
          <a:xfrm>
            <a:off x="7516368" y="2286000"/>
            <a:ext cx="54864" cy="1389888"/>
          </a:xfrm>
          <a:prstGeom prst="rect">
            <a:avLst/>
          </a:prstGeom>
          <a:solidFill>
            <a:srgbClr val="B3181E"/>
          </a:solidFill>
          <a:ln w="12700">
            <a:solidFill>
              <a:srgbClr val="B3181E"/>
            </a:solidFill>
            <a:prstDash val="solid"/>
          </a:ln>
        </p:spPr>
      </p:sp>
      <p:sp>
        <p:nvSpPr>
          <p:cNvPr id="17" name="Text 14"/>
          <p:cNvSpPr txBox="1"/>
          <p:nvPr/>
        </p:nvSpPr>
        <p:spPr>
          <a:xfrm>
            <a:off x="7754112" y="2414016"/>
            <a:ext cx="3566160"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ESE 12 ES EL NÚMERO DE PERSONAS</a:t>
            </a:r>
            <a:endParaRPr lang="en-US" sz="920" dirty="0"/>
          </a:p>
        </p:txBody>
      </p:sp>
      <p:sp>
        <p:nvSpPr>
          <p:cNvPr id="18" name="Text 15"/>
          <p:cNvSpPr txBox="1"/>
          <p:nvPr/>
        </p:nvSpPr>
        <p:spPr>
          <a:xfrm>
            <a:off x="7754112" y="2670048"/>
            <a:ext cx="3566160" cy="896112"/>
          </a:xfrm>
          <a:prstGeom prst="rect">
            <a:avLst/>
          </a:prstGeom>
          <a:noFill/>
          <a:ln/>
        </p:spPr>
        <p:txBody>
          <a:bodyPr wrap="square" lIns="0" tIns="0" rIns="0" bIns="0" rtlCol="0" anchor="t"/>
          <a:lstStyle/>
          <a:p>
            <a:pPr algn="l" indent="0" marL="0">
              <a:lnSpc>
                <a:spcPct val="114000"/>
              </a:lnSpc>
              <a:buNone/>
            </a:pPr>
            <a:r>
              <a:rPr lang="en-US" sz="1210" dirty="0">
                <a:solidFill>
                  <a:srgbClr val="243B53"/>
                </a:solidFill>
                <a:latin typeface="Aptos" pitchFamily="34" charset="0"/>
                <a:ea typeface="Aptos" pitchFamily="34" charset="-122"/>
                <a:cs typeface="Aptos" pitchFamily="34" charset="-120"/>
              </a:rPr>
              <a:t>El doble registró que la API preguntó por el bloque 12 cuando la solicitud era del bloque 2.</a:t>
            </a:r>
            <a:endParaRPr lang="en-US" sz="1210" dirty="0"/>
          </a:p>
        </p:txBody>
      </p:sp>
      <p:sp>
        <p:nvSpPr>
          <p:cNvPr id="19" name="Shape 16"/>
          <p:cNvSpPr/>
          <p:nvPr/>
        </p:nvSpPr>
        <p:spPr>
          <a:xfrm>
            <a:off x="658368" y="3822192"/>
            <a:ext cx="10874959" cy="512064"/>
          </a:xfrm>
          <a:prstGeom prst="rect">
            <a:avLst/>
          </a:prstGeom>
          <a:solidFill>
            <a:srgbClr val="EDE6DA"/>
          </a:solidFill>
          <a:ln w="12700">
            <a:solidFill>
              <a:srgbClr val="EDE6DA"/>
            </a:solidFill>
            <a:prstDash val="solid"/>
          </a:ln>
        </p:spPr>
      </p:sp>
      <p:sp>
        <p:nvSpPr>
          <p:cNvPr id="20" name="Text 17"/>
          <p:cNvSpPr txBox="1"/>
          <p:nvPr/>
        </p:nvSpPr>
        <p:spPr>
          <a:xfrm>
            <a:off x="950976" y="3931920"/>
            <a:ext cx="10289743" cy="292608"/>
          </a:xfrm>
          <a:prstGeom prst="rect">
            <a:avLst/>
          </a:prstGeom>
          <a:noFill/>
          <a:ln/>
        </p:spPr>
        <p:txBody>
          <a:bodyPr wrap="square" lIns="0" tIns="0" rIns="0" bIns="0" rtlCol="0" anchor="t"/>
          <a:lstStyle/>
          <a:p>
            <a:pPr algn="ctr" indent="0" marL="0">
              <a:buNone/>
            </a:pPr>
            <a:r>
              <a:rPr lang="en-US" sz="1260" b="1" dirty="0">
                <a:solidFill>
                  <a:srgbClr val="243B53"/>
                </a:solidFill>
                <a:latin typeface="Aptos" pitchFamily="34" charset="0"/>
                <a:ea typeface="Aptos" pitchFamily="34" charset="-122"/>
                <a:cs typeface="Aptos" pitchFamily="34" charset="-120"/>
              </a:rPr>
              <a:t>almacen_doble.bloque_tomado.assert_called_once_with(cualquier_conexion, 2)</a:t>
            </a:r>
            <a:endParaRPr lang="en-US" sz="1260" dirty="0"/>
          </a:p>
        </p:txBody>
      </p:sp>
      <p:sp>
        <p:nvSpPr>
          <p:cNvPr id="21" name="Shape 18"/>
          <p:cNvSpPr/>
          <p:nvPr/>
        </p:nvSpPr>
        <p:spPr>
          <a:xfrm>
            <a:off x="658368" y="4480560"/>
            <a:ext cx="10874959" cy="1024128"/>
          </a:xfrm>
          <a:prstGeom prst="rect">
            <a:avLst/>
          </a:prstGeom>
          <a:solidFill>
            <a:srgbClr val="F2E7D9"/>
          </a:solidFill>
          <a:ln w="12700">
            <a:solidFill>
              <a:srgbClr val="F2E7D9"/>
            </a:solidFill>
            <a:prstDash val="solid"/>
          </a:ln>
        </p:spPr>
      </p:sp>
      <p:sp>
        <p:nvSpPr>
          <p:cNvPr id="22" name="Shape 19"/>
          <p:cNvSpPr/>
          <p:nvPr/>
        </p:nvSpPr>
        <p:spPr>
          <a:xfrm>
            <a:off x="658368" y="4480560"/>
            <a:ext cx="54864" cy="1024128"/>
          </a:xfrm>
          <a:prstGeom prst="rect">
            <a:avLst/>
          </a:prstGeom>
          <a:solidFill>
            <a:srgbClr val="8A6A12"/>
          </a:solidFill>
          <a:ln w="12700">
            <a:solidFill>
              <a:srgbClr val="8A6A12"/>
            </a:solidFill>
            <a:prstDash val="solid"/>
          </a:ln>
        </p:spPr>
      </p:sp>
      <p:sp>
        <p:nvSpPr>
          <p:cNvPr id="23" name="Text 20"/>
          <p:cNvSpPr txBox="1"/>
          <p:nvPr/>
        </p:nvSpPr>
        <p:spPr>
          <a:xfrm>
            <a:off x="950976" y="4645152"/>
            <a:ext cx="4754880" cy="256032"/>
          </a:xfrm>
          <a:prstGeom prst="rect">
            <a:avLst/>
          </a:prstGeom>
          <a:noFill/>
          <a:ln/>
        </p:spPr>
        <p:txBody>
          <a:bodyPr wrap="square" lIns="0" tIns="0" rIns="0" bIns="0" rtlCol="0" anchor="t"/>
          <a:lstStyle/>
          <a:p>
            <a:pPr algn="l" indent="0" marL="0">
              <a:buNone/>
            </a:pPr>
            <a:r>
              <a:rPr lang="en-US" sz="1340" b="1" dirty="0">
                <a:solidFill>
                  <a:srgbClr val="8A6A12"/>
                </a:solidFill>
                <a:latin typeface="Aptos" pitchFamily="34" charset="0"/>
                <a:ea typeface="Aptos" pitchFamily="34" charset="-122"/>
                <a:cs typeface="Aptos" pitchFamily="34" charset="-120"/>
              </a:rPr>
              <a:t>Lo que esa aserción comprueba y lo que no</a:t>
            </a:r>
            <a:endParaRPr lang="en-US" sz="1340" dirty="0"/>
          </a:p>
        </p:txBody>
      </p:sp>
      <p:sp>
        <p:nvSpPr>
          <p:cNvPr id="24" name="Text 21"/>
          <p:cNvSpPr txBox="1"/>
          <p:nvPr/>
        </p:nvSpPr>
        <p:spPr>
          <a:xfrm>
            <a:off x="950976" y="4937760"/>
            <a:ext cx="10289743" cy="457200"/>
          </a:xfrm>
          <a:prstGeom prst="rect">
            <a:avLst/>
          </a:prstGeom>
          <a:noFill/>
          <a:ln/>
        </p:spPr>
        <p:txBody>
          <a:bodyPr wrap="square" lIns="0" tIns="0" rIns="0" bIns="0" rtlCol="0" anchor="t"/>
          <a:lstStyle/>
          <a:p>
            <a:pPr algn="l" indent="0" marL="0">
              <a:lnSpc>
                <a:spcPct val="114000"/>
              </a:lnSpc>
              <a:buNone/>
            </a:pPr>
            <a:r>
              <a:rPr lang="en-US" sz="1220" dirty="0">
                <a:solidFill>
                  <a:srgbClr val="243B53"/>
                </a:solidFill>
                <a:latin typeface="Aptos" pitchFamily="34" charset="0"/>
                <a:ea typeface="Aptos" pitchFamily="34" charset="-122"/>
                <a:cs typeface="Aptos" pitchFamily="34" charset="-120"/>
              </a:rPr>
              <a:t>Comprueba que la API pide lo correcto, no que la base responda correctamente a lo que se le pide. Sustituir obliga a duplicar en la prueba lo que se sabe de la dependencia, y esa copia puede quedar desactualizada respecto de la real.</a:t>
            </a:r>
            <a:endParaRPr lang="en-US" sz="1220" dirty="0"/>
          </a:p>
        </p:txBody>
      </p:sp>
      <p:sp>
        <p:nvSpPr>
          <p:cNvPr id="25" name="Shape 22"/>
          <p:cNvSpPr/>
          <p:nvPr/>
        </p:nvSpPr>
        <p:spPr>
          <a:xfrm>
            <a:off x="658368" y="5650992"/>
            <a:ext cx="10874959" cy="548640"/>
          </a:xfrm>
          <a:prstGeom prst="rect">
            <a:avLst/>
          </a:prstGeom>
          <a:solidFill>
            <a:srgbClr val="102A43"/>
          </a:solidFill>
          <a:ln w="12700">
            <a:solidFill>
              <a:srgbClr val="102A43"/>
            </a:solidFill>
            <a:prstDash val="solid"/>
          </a:ln>
        </p:spPr>
      </p:sp>
      <p:sp>
        <p:nvSpPr>
          <p:cNvPr id="26" name="Text 23"/>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Sustituir una dependencia obliga a comprobar también qué se le pidió.</a:t>
            </a:r>
            <a:endParaRPr lang="en-US" sz="13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45</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LA ERA DE LOS AGENTES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2800" b="1" dirty="0">
                <a:solidFill>
                  <a:srgbClr val="243B53"/>
                </a:solidFill>
                <a:latin typeface="Aptos Display" pitchFamily="34" charset="0"/>
                <a:ea typeface="Aptos Display" pitchFamily="34" charset="-122"/>
                <a:cs typeface="Aptos Display" pitchFamily="34" charset="-120"/>
              </a:rPr>
              <a:t>«Una prueba de integración para este endpoint»</a:t>
            </a:r>
            <a:endParaRPr lang="en-US" sz="28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«Endpoint» es como se llama habitualmente a una ruta de la API. Esa instrucción produce, con mucha frecuencia, exactamente el archivo con dobles que se acaba de ver.</a:t>
            </a:r>
            <a:endParaRPr lang="en-US" sz="1420" dirty="0"/>
          </a:p>
        </p:txBody>
      </p:sp>
      <p:sp>
        <p:nvSpPr>
          <p:cNvPr id="11" name="Shape 8"/>
          <p:cNvSpPr/>
          <p:nvPr/>
        </p:nvSpPr>
        <p:spPr>
          <a:xfrm>
            <a:off x="658368" y="2286000"/>
            <a:ext cx="5340096" cy="1133856"/>
          </a:xfrm>
          <a:prstGeom prst="rect">
            <a:avLst/>
          </a:prstGeom>
          <a:solidFill>
            <a:srgbClr val="F2E7D9"/>
          </a:solidFill>
          <a:ln w="12700">
            <a:solidFill>
              <a:srgbClr val="F2E7D9"/>
            </a:solidFill>
            <a:prstDash val="solid"/>
          </a:ln>
        </p:spPr>
      </p:sp>
      <p:sp>
        <p:nvSpPr>
          <p:cNvPr id="12" name="Shape 9"/>
          <p:cNvSpPr/>
          <p:nvPr/>
        </p:nvSpPr>
        <p:spPr>
          <a:xfrm>
            <a:off x="658368" y="2286000"/>
            <a:ext cx="5340096" cy="54864"/>
          </a:xfrm>
          <a:prstGeom prst="rect">
            <a:avLst/>
          </a:prstGeom>
          <a:solidFill>
            <a:srgbClr val="B3181E"/>
          </a:solidFill>
          <a:ln w="12700">
            <a:solidFill>
              <a:srgbClr val="B3181E"/>
            </a:solidFill>
            <a:prstDash val="solid"/>
          </a:ln>
        </p:spPr>
      </p:sp>
      <p:sp>
        <p:nvSpPr>
          <p:cNvPr id="13" name="Text 10"/>
          <p:cNvSpPr txBox="1"/>
          <p:nvPr/>
        </p:nvSpPr>
        <p:spPr>
          <a:xfrm>
            <a:off x="932688" y="2450592"/>
            <a:ext cx="4791456" cy="256032"/>
          </a:xfrm>
          <a:prstGeom prst="rect">
            <a:avLst/>
          </a:prstGeom>
          <a:noFill/>
          <a:ln/>
        </p:spPr>
        <p:txBody>
          <a:bodyPr wrap="square" lIns="0" tIns="0" rIns="0" bIns="0" rtlCol="0" anchor="t"/>
          <a:lstStyle/>
          <a:p>
            <a:pPr algn="l" indent="0" marL="0">
              <a:buNone/>
            </a:pPr>
            <a:r>
              <a:rPr lang="en-US" sz="1280" b="1" dirty="0">
                <a:solidFill>
                  <a:srgbClr val="B3181E"/>
                </a:solidFill>
                <a:latin typeface="Aptos" pitchFamily="34" charset="0"/>
                <a:ea typeface="Aptos" pitchFamily="34" charset="-122"/>
                <a:cs typeface="Aptos" pitchFamily="34" charset="-120"/>
              </a:rPr>
              <a:t>Es lo que abunda en su material</a:t>
            </a:r>
            <a:endParaRPr lang="en-US" sz="1280" dirty="0"/>
          </a:p>
        </p:txBody>
      </p:sp>
      <p:sp>
        <p:nvSpPr>
          <p:cNvPr id="14" name="Text 11"/>
          <p:cNvSpPr txBox="1"/>
          <p:nvPr/>
        </p:nvSpPr>
        <p:spPr>
          <a:xfrm>
            <a:off x="932688" y="2743200"/>
            <a:ext cx="4791456" cy="566928"/>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Las pruebas con dependencias sustituidas son más numerosas, más cortas y más fáciles de mostrar en un ejemplo.</a:t>
            </a:r>
            <a:endParaRPr lang="en-US" sz="1140" dirty="0"/>
          </a:p>
        </p:txBody>
      </p:sp>
      <p:sp>
        <p:nvSpPr>
          <p:cNvPr id="15" name="Shape 12"/>
          <p:cNvSpPr/>
          <p:nvPr/>
        </p:nvSpPr>
        <p:spPr>
          <a:xfrm>
            <a:off x="6190488" y="2286000"/>
            <a:ext cx="5340096" cy="1133856"/>
          </a:xfrm>
          <a:prstGeom prst="rect">
            <a:avLst/>
          </a:prstGeom>
          <a:solidFill>
            <a:srgbClr val="F2E7D9"/>
          </a:solidFill>
          <a:ln w="12700">
            <a:solidFill>
              <a:srgbClr val="F2E7D9"/>
            </a:solidFill>
            <a:prstDash val="solid"/>
          </a:ln>
        </p:spPr>
      </p:sp>
      <p:sp>
        <p:nvSpPr>
          <p:cNvPr id="16" name="Shape 13"/>
          <p:cNvSpPr/>
          <p:nvPr/>
        </p:nvSpPr>
        <p:spPr>
          <a:xfrm>
            <a:off x="6190488" y="2286000"/>
            <a:ext cx="5340096" cy="54864"/>
          </a:xfrm>
          <a:prstGeom prst="rect">
            <a:avLst/>
          </a:prstGeom>
          <a:solidFill>
            <a:srgbClr val="B3181E"/>
          </a:solidFill>
          <a:ln w="12700">
            <a:solidFill>
              <a:srgbClr val="B3181E"/>
            </a:solidFill>
            <a:prstDash val="solid"/>
          </a:ln>
        </p:spPr>
      </p:sp>
      <p:sp>
        <p:nvSpPr>
          <p:cNvPr id="17" name="Text 14"/>
          <p:cNvSpPr txBox="1"/>
          <p:nvPr/>
        </p:nvSpPr>
        <p:spPr>
          <a:xfrm>
            <a:off x="6464808" y="2450592"/>
            <a:ext cx="4791456" cy="256032"/>
          </a:xfrm>
          <a:prstGeom prst="rect">
            <a:avLst/>
          </a:prstGeom>
          <a:noFill/>
          <a:ln/>
        </p:spPr>
        <p:txBody>
          <a:bodyPr wrap="square" lIns="0" tIns="0" rIns="0" bIns="0" rtlCol="0" anchor="t"/>
          <a:lstStyle/>
          <a:p>
            <a:pPr algn="l" indent="0" marL="0">
              <a:buNone/>
            </a:pPr>
            <a:r>
              <a:rPr lang="en-US" sz="1280" b="1" dirty="0">
                <a:solidFill>
                  <a:srgbClr val="B3181E"/>
                </a:solidFill>
                <a:latin typeface="Aptos" pitchFamily="34" charset="0"/>
                <a:ea typeface="Aptos" pitchFamily="34" charset="-122"/>
                <a:cs typeface="Aptos" pitchFamily="34" charset="-120"/>
              </a:rPr>
              <a:t>Es lo que optimiza la señal pedida</a:t>
            </a:r>
            <a:endParaRPr lang="en-US" sz="1280" dirty="0"/>
          </a:p>
        </p:txBody>
      </p:sp>
      <p:sp>
        <p:nvSpPr>
          <p:cNvPr id="18" name="Text 15"/>
          <p:cNvSpPr txBox="1"/>
          <p:nvPr/>
        </p:nvSpPr>
        <p:spPr>
          <a:xfrm>
            <a:off x="6464808" y="2743200"/>
            <a:ext cx="4791456" cy="566928"/>
          </a:xfrm>
          <a:prstGeom prst="rect">
            <a:avLst/>
          </a:prstGeom>
          <a:noFill/>
          <a:ln/>
        </p:spPr>
        <p:txBody>
          <a:bodyPr wrap="square" lIns="0" tIns="0" rIns="0" bIns="0" rtlCol="0" anchor="t"/>
          <a:lstStyle/>
          <a:p>
            <a:pPr algn="l" indent="0" marL="0">
              <a:lnSpc>
                <a:spcPct val="114000"/>
              </a:lnSpc>
              <a:buNone/>
            </a:pPr>
            <a:r>
              <a:rPr lang="en-US" sz="1140" dirty="0">
                <a:solidFill>
                  <a:srgbClr val="243B53"/>
                </a:solidFill>
                <a:latin typeface="Aptos" pitchFamily="34" charset="0"/>
                <a:ea typeface="Aptos" pitchFamily="34" charset="-122"/>
                <a:cs typeface="Aptos" pitchFamily="34" charset="-120"/>
              </a:rPr>
              <a:t>Una prueba con dobles es rápida, no necesita ambiente y pasa a la primera. Si el criterio es «corre y pasa», sustituir siempre gana.</a:t>
            </a:r>
            <a:endParaRPr lang="en-US" sz="1140" dirty="0"/>
          </a:p>
        </p:txBody>
      </p:sp>
      <p:sp>
        <p:nvSpPr>
          <p:cNvPr id="19" name="Shape 16"/>
          <p:cNvSpPr/>
          <p:nvPr/>
        </p:nvSpPr>
        <p:spPr>
          <a:xfrm>
            <a:off x="658368" y="3566160"/>
            <a:ext cx="3520440" cy="1243584"/>
          </a:xfrm>
          <a:prstGeom prst="rect">
            <a:avLst/>
          </a:prstGeom>
          <a:solidFill>
            <a:srgbClr val="FFFFFF"/>
          </a:solidFill>
          <a:ln w="12700">
            <a:solidFill>
              <a:srgbClr val="FFFFFF"/>
            </a:solidFill>
            <a:prstDash val="solid"/>
          </a:ln>
        </p:spPr>
      </p:sp>
      <p:sp>
        <p:nvSpPr>
          <p:cNvPr id="20" name="Shape 17"/>
          <p:cNvSpPr/>
          <p:nvPr/>
        </p:nvSpPr>
        <p:spPr>
          <a:xfrm>
            <a:off x="658368" y="3566160"/>
            <a:ext cx="3520440" cy="54864"/>
          </a:xfrm>
          <a:prstGeom prst="rect">
            <a:avLst/>
          </a:prstGeom>
          <a:solidFill>
            <a:srgbClr val="2E7D4F"/>
          </a:solidFill>
          <a:ln w="12700">
            <a:solidFill>
              <a:srgbClr val="2E7D4F"/>
            </a:solidFill>
            <a:prstDash val="solid"/>
          </a:ln>
        </p:spPr>
      </p:sp>
      <p:sp>
        <p:nvSpPr>
          <p:cNvPr id="21" name="Text 18"/>
          <p:cNvSpPr txBox="1"/>
          <p:nvPr/>
        </p:nvSpPr>
        <p:spPr>
          <a:xfrm>
            <a:off x="859536" y="3730752"/>
            <a:ext cx="3118104" cy="182880"/>
          </a:xfrm>
          <a:prstGeom prst="rect">
            <a:avLst/>
          </a:prstGeom>
          <a:noFill/>
          <a:ln/>
        </p:spPr>
        <p:txBody>
          <a:bodyPr wrap="square" lIns="0" tIns="0" rIns="0" bIns="0" rtlCol="0" anchor="t"/>
          <a:lstStyle/>
          <a:p>
            <a:pPr algn="l" indent="0" marL="0">
              <a:buNone/>
            </a:pPr>
            <a:r>
              <a:rPr lang="en-US" sz="920" b="1" spc="110" kern="0" dirty="0">
                <a:solidFill>
                  <a:srgbClr val="2E7D4F"/>
                </a:solidFill>
                <a:latin typeface="Aptos" pitchFamily="34" charset="0"/>
                <a:ea typeface="Aptos" pitchFamily="34" charset="-122"/>
                <a:cs typeface="Aptos" pitchFamily="34" charset="-120"/>
              </a:rPr>
              <a:t>QUÉ HACE BIEN</a:t>
            </a:r>
            <a:endParaRPr lang="en-US" sz="920" dirty="0"/>
          </a:p>
        </p:txBody>
      </p:sp>
      <p:sp>
        <p:nvSpPr>
          <p:cNvPr id="22" name="Text 19"/>
          <p:cNvSpPr txBox="1"/>
          <p:nvPr/>
        </p:nvSpPr>
        <p:spPr>
          <a:xfrm>
            <a:off x="859536" y="3968496"/>
            <a:ext cx="3118104" cy="749808"/>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El andamiaje del doble: create_autospec, la fixture que reemplaza y restaura, las aserciones sobre llamadas.</a:t>
            </a:r>
            <a:endParaRPr lang="en-US" sz="1120" dirty="0"/>
          </a:p>
        </p:txBody>
      </p:sp>
      <p:sp>
        <p:nvSpPr>
          <p:cNvPr id="23" name="Shape 20"/>
          <p:cNvSpPr/>
          <p:nvPr/>
        </p:nvSpPr>
        <p:spPr>
          <a:xfrm>
            <a:off x="4288536" y="3566160"/>
            <a:ext cx="3520440" cy="1243584"/>
          </a:xfrm>
          <a:prstGeom prst="rect">
            <a:avLst/>
          </a:prstGeom>
          <a:solidFill>
            <a:srgbClr val="FFFFFF"/>
          </a:solidFill>
          <a:ln w="12700">
            <a:solidFill>
              <a:srgbClr val="FFFFFF"/>
            </a:solidFill>
            <a:prstDash val="solid"/>
          </a:ln>
        </p:spPr>
      </p:sp>
      <p:sp>
        <p:nvSpPr>
          <p:cNvPr id="24" name="Shape 21"/>
          <p:cNvSpPr/>
          <p:nvPr/>
        </p:nvSpPr>
        <p:spPr>
          <a:xfrm>
            <a:off x="4288536" y="3566160"/>
            <a:ext cx="3520440" cy="54864"/>
          </a:xfrm>
          <a:prstGeom prst="rect">
            <a:avLst/>
          </a:prstGeom>
          <a:solidFill>
            <a:srgbClr val="B3181E"/>
          </a:solidFill>
          <a:ln w="12700">
            <a:solidFill>
              <a:srgbClr val="B3181E"/>
            </a:solidFill>
            <a:prstDash val="solid"/>
          </a:ln>
        </p:spPr>
      </p:sp>
      <p:sp>
        <p:nvSpPr>
          <p:cNvPr id="25" name="Text 22"/>
          <p:cNvSpPr txBox="1"/>
          <p:nvPr/>
        </p:nvSpPr>
        <p:spPr>
          <a:xfrm>
            <a:off x="4489704" y="3730752"/>
            <a:ext cx="3118104" cy="182880"/>
          </a:xfrm>
          <a:prstGeom prst="rect">
            <a:avLst/>
          </a:prstGeom>
          <a:noFill/>
          <a:ln/>
        </p:spPr>
        <p:txBody>
          <a:bodyPr wrap="square" lIns="0" tIns="0" rIns="0" bIns="0" rtlCol="0" anchor="t"/>
          <a:lstStyle/>
          <a:p>
            <a:pPr algn="l" indent="0" marL="0">
              <a:buNone/>
            </a:pPr>
            <a:r>
              <a:rPr lang="en-US" sz="920" b="1" spc="110" kern="0" dirty="0">
                <a:solidFill>
                  <a:srgbClr val="B3181E"/>
                </a:solidFill>
                <a:latin typeface="Aptos" pitchFamily="34" charset="0"/>
                <a:ea typeface="Aptos" pitchFamily="34" charset="-122"/>
                <a:cs typeface="Aptos" pitchFamily="34" charset="-120"/>
              </a:rPr>
              <a:t>QUÉ NO DELEGAR</a:t>
            </a:r>
            <a:endParaRPr lang="en-US" sz="920" dirty="0"/>
          </a:p>
        </p:txBody>
      </p:sp>
      <p:sp>
        <p:nvSpPr>
          <p:cNvPr id="26" name="Text 23"/>
          <p:cNvSpPr txBox="1"/>
          <p:nvPr/>
        </p:nvSpPr>
        <p:spPr>
          <a:xfrm>
            <a:off x="4489704" y="3968496"/>
            <a:ext cx="3118104" cy="749808"/>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Decidir qué se sustituye: exige saber cuál es el objeto de la prueba, y eso está en el requisito.</a:t>
            </a:r>
            <a:endParaRPr lang="en-US" sz="1120" dirty="0"/>
          </a:p>
        </p:txBody>
      </p:sp>
      <p:sp>
        <p:nvSpPr>
          <p:cNvPr id="27" name="Shape 24"/>
          <p:cNvSpPr/>
          <p:nvPr/>
        </p:nvSpPr>
        <p:spPr>
          <a:xfrm>
            <a:off x="7918704" y="3566160"/>
            <a:ext cx="3520440" cy="1243584"/>
          </a:xfrm>
          <a:prstGeom prst="rect">
            <a:avLst/>
          </a:prstGeom>
          <a:solidFill>
            <a:srgbClr val="FFFFFF"/>
          </a:solidFill>
          <a:ln w="12700">
            <a:solidFill>
              <a:srgbClr val="FFFFFF"/>
            </a:solidFill>
            <a:prstDash val="solid"/>
          </a:ln>
        </p:spPr>
      </p:sp>
      <p:sp>
        <p:nvSpPr>
          <p:cNvPr id="28" name="Shape 25"/>
          <p:cNvSpPr/>
          <p:nvPr/>
        </p:nvSpPr>
        <p:spPr>
          <a:xfrm>
            <a:off x="7918704" y="3566160"/>
            <a:ext cx="3520440" cy="54864"/>
          </a:xfrm>
          <a:prstGeom prst="rect">
            <a:avLst/>
          </a:prstGeom>
          <a:solidFill>
            <a:srgbClr val="8A6A12"/>
          </a:solidFill>
          <a:ln w="12700">
            <a:solidFill>
              <a:srgbClr val="8A6A12"/>
            </a:solidFill>
            <a:prstDash val="solid"/>
          </a:ln>
        </p:spPr>
      </p:sp>
      <p:sp>
        <p:nvSpPr>
          <p:cNvPr id="29" name="Text 26"/>
          <p:cNvSpPr txBox="1"/>
          <p:nvPr/>
        </p:nvSpPr>
        <p:spPr>
          <a:xfrm>
            <a:off x="8119872" y="3730752"/>
            <a:ext cx="3118104" cy="182880"/>
          </a:xfrm>
          <a:prstGeom prst="rect">
            <a:avLst/>
          </a:prstGeom>
          <a:noFill/>
          <a:ln/>
        </p:spPr>
        <p:txBody>
          <a:bodyPr wrap="square" lIns="0" tIns="0" rIns="0" bIns="0" rtlCol="0" anchor="t"/>
          <a:lstStyle/>
          <a:p>
            <a:pPr algn="l" indent="0" marL="0">
              <a:buNone/>
            </a:pPr>
            <a:r>
              <a:rPr lang="en-US" sz="920" b="1" spc="110" kern="0" dirty="0">
                <a:solidFill>
                  <a:srgbClr val="8A6A12"/>
                </a:solidFill>
                <a:latin typeface="Aptos" pitchFamily="34" charset="0"/>
                <a:ea typeface="Aptos" pitchFamily="34" charset="-122"/>
                <a:cs typeface="Aptos" pitchFamily="34" charset="-120"/>
              </a:rPr>
              <a:t>ERROR FRECUENTE</a:t>
            </a:r>
            <a:endParaRPr lang="en-US" sz="920" dirty="0"/>
          </a:p>
        </p:txBody>
      </p:sp>
      <p:sp>
        <p:nvSpPr>
          <p:cNvPr id="30" name="Text 27"/>
          <p:cNvSpPr txBox="1"/>
          <p:nvPr/>
        </p:nvSpPr>
        <p:spPr>
          <a:xfrm>
            <a:off x="8119872" y="3968496"/>
            <a:ext cx="3118104" cy="749808"/>
          </a:xfrm>
          <a:prstGeom prst="rect">
            <a:avLst/>
          </a:prstGeom>
          <a:noFill/>
          <a:ln/>
        </p:spPr>
        <p:txBody>
          <a:bodyPr wrap="square" lIns="0" tIns="0" rIns="0" bIns="0" rtlCol="0" anchor="t"/>
          <a:lstStyle/>
          <a:p>
            <a:pPr algn="l" indent="0" marL="0">
              <a:lnSpc>
                <a:spcPct val="114000"/>
              </a:lnSpc>
              <a:buNone/>
            </a:pPr>
            <a:r>
              <a:rPr lang="en-US" sz="1120" dirty="0">
                <a:solidFill>
                  <a:srgbClr val="243B53"/>
                </a:solidFill>
                <a:latin typeface="Aptos" pitchFamily="34" charset="0"/>
                <a:ea typeface="Aptos" pitchFamily="34" charset="-122"/>
                <a:cs typeface="Aptos" pitchFamily="34" charset="-120"/>
              </a:rPr>
              <a:t>Aceptar la prueba porque es rápida y pasa. Las dos propiedades son consecuencia de lo que la vacía.</a:t>
            </a:r>
            <a:endParaRPr lang="en-US" sz="1120" dirty="0"/>
          </a:p>
        </p:txBody>
      </p:sp>
      <p:sp>
        <p:nvSpPr>
          <p:cNvPr id="31" name="Shape 28"/>
          <p:cNvSpPr/>
          <p:nvPr/>
        </p:nvSpPr>
        <p:spPr>
          <a:xfrm>
            <a:off x="658368" y="4956048"/>
            <a:ext cx="10874959" cy="548640"/>
          </a:xfrm>
          <a:prstGeom prst="rect">
            <a:avLst/>
          </a:prstGeom>
          <a:solidFill>
            <a:srgbClr val="1D3A57"/>
          </a:solidFill>
          <a:ln w="12700">
            <a:solidFill>
              <a:srgbClr val="1D3A57"/>
            </a:solidFill>
            <a:prstDash val="solid"/>
          </a:ln>
        </p:spPr>
      </p:sp>
      <p:sp>
        <p:nvSpPr>
          <p:cNvPr id="32" name="Text 29"/>
          <p:cNvSpPr txBox="1"/>
          <p:nvPr/>
        </p:nvSpPr>
        <p:spPr>
          <a:xfrm>
            <a:off x="950976" y="5065776"/>
            <a:ext cx="10289743" cy="329184"/>
          </a:xfrm>
          <a:prstGeom prst="rect">
            <a:avLst/>
          </a:prstGeom>
          <a:noFill/>
          <a:ln/>
        </p:spPr>
        <p:txBody>
          <a:bodyPr wrap="square" lIns="0" tIns="0" rIns="0" bIns="0" rtlCol="0" anchor="ctr"/>
          <a:lstStyle/>
          <a:p>
            <a:pPr algn="ctr" indent="0" marL="0">
              <a:buNone/>
            </a:pPr>
            <a:r>
              <a:rPr lang="en-US" sz="1220" b="1" dirty="0">
                <a:solidFill>
                  <a:srgbClr val="E0BC5A"/>
                </a:solidFill>
                <a:latin typeface="Aptos" pitchFamily="34" charset="0"/>
                <a:ea typeface="Aptos" pitchFamily="34" charset="-122"/>
                <a:cs typeface="Aptos" pitchFamily="34" charset="-120"/>
              </a:rPr>
              <a:t>La instrucción que rinde nombra el límite: «prueba de integración que use la base de datos real sobre un archivo temporal, sin sustituir el módulo de almacenamiento».</a:t>
            </a:r>
            <a:endParaRPr lang="en-US" sz="1220" dirty="0"/>
          </a:p>
        </p:txBody>
      </p:sp>
      <p:sp>
        <p:nvSpPr>
          <p:cNvPr id="33" name="Shape 30"/>
          <p:cNvSpPr/>
          <p:nvPr/>
        </p:nvSpPr>
        <p:spPr>
          <a:xfrm>
            <a:off x="658368" y="5650992"/>
            <a:ext cx="10874959" cy="548640"/>
          </a:xfrm>
          <a:prstGeom prst="rect">
            <a:avLst/>
          </a:prstGeom>
          <a:solidFill>
            <a:srgbClr val="102A43"/>
          </a:solidFill>
          <a:ln w="12700">
            <a:solidFill>
              <a:srgbClr val="102A43"/>
            </a:solidFill>
            <a:prstDash val="solid"/>
          </a:ln>
        </p:spPr>
      </p:sp>
      <p:sp>
        <p:nvSpPr>
          <p:cNvPr id="34" name="Text 31"/>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Es verificable —se puede leer la prueba y comprobarlo— y no admite la salida cómoda.</a:t>
            </a:r>
            <a:endParaRPr lang="en-US" sz="13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46</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CIERRE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preguntas antes de cerrar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Tres preguntas para comprobar la idea central antes de seguir.</a:t>
            </a:r>
            <a:endParaRPr lang="en-US" sz="1420" dirty="0"/>
          </a:p>
        </p:txBody>
      </p:sp>
      <p:sp>
        <p:nvSpPr>
          <p:cNvPr id="11" name="Shape 8"/>
          <p:cNvSpPr/>
          <p:nvPr/>
        </p:nvSpPr>
        <p:spPr>
          <a:xfrm>
            <a:off x="658368" y="2139696"/>
            <a:ext cx="10874959" cy="1097280"/>
          </a:xfrm>
          <a:prstGeom prst="rect">
            <a:avLst/>
          </a:prstGeom>
          <a:solidFill>
            <a:srgbClr val="F2E7D9"/>
          </a:solidFill>
          <a:ln w="12700">
            <a:solidFill>
              <a:srgbClr val="F2E7D9"/>
            </a:solidFill>
            <a:prstDash val="solid"/>
          </a:ln>
        </p:spPr>
      </p:sp>
      <p:sp>
        <p:nvSpPr>
          <p:cNvPr id="12" name="Shape 9"/>
          <p:cNvSpPr/>
          <p:nvPr/>
        </p:nvSpPr>
        <p:spPr>
          <a:xfrm>
            <a:off x="658368" y="2139696"/>
            <a:ext cx="54864" cy="1097280"/>
          </a:xfrm>
          <a:prstGeom prst="rect">
            <a:avLst/>
          </a:prstGeom>
          <a:solidFill>
            <a:srgbClr val="B3181E"/>
          </a:solidFill>
          <a:ln w="12700">
            <a:solidFill>
              <a:srgbClr val="B3181E"/>
            </a:solidFill>
            <a:prstDash val="solid"/>
          </a:ln>
        </p:spPr>
      </p:sp>
      <p:sp>
        <p:nvSpPr>
          <p:cNvPr id="13" name="Text 10"/>
          <p:cNvSpPr txBox="1"/>
          <p:nvPr/>
        </p:nvSpPr>
        <p:spPr>
          <a:xfrm>
            <a:off x="914400" y="2286000"/>
            <a:ext cx="493776" cy="420624"/>
          </a:xfrm>
          <a:prstGeom prst="rect">
            <a:avLst/>
          </a:prstGeom>
          <a:noFill/>
          <a:ln/>
        </p:spPr>
        <p:txBody>
          <a:bodyPr wrap="square" lIns="0" tIns="0" rIns="0" bIns="0" rtlCol="0" anchor="ctr"/>
          <a:lstStyle/>
          <a:p>
            <a:pPr algn="ctr" indent="0" marL="0">
              <a:buNone/>
            </a:pPr>
            <a:r>
              <a:rPr lang="en-US" sz="2600" b="1" dirty="0">
                <a:solidFill>
                  <a:srgbClr val="B3181E"/>
                </a:solidFill>
                <a:latin typeface="Aptos Display" pitchFamily="34" charset="0"/>
                <a:ea typeface="Aptos Display" pitchFamily="34" charset="-122"/>
                <a:cs typeface="Aptos Display" pitchFamily="34" charset="-120"/>
              </a:rPr>
              <a:t>1</a:t>
            </a:r>
            <a:endParaRPr lang="en-US" sz="2600" dirty="0"/>
          </a:p>
        </p:txBody>
      </p:sp>
      <p:sp>
        <p:nvSpPr>
          <p:cNvPr id="14" name="Text 11"/>
          <p:cNvSpPr txBox="1"/>
          <p:nvPr/>
        </p:nvSpPr>
        <p:spPr>
          <a:xfrm>
            <a:off x="1591056" y="2267712"/>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La misma comprobación dio 1 failed con la base real y 1 passed con la base sustituida, sobre el mismo código defectuoso. ¿Cuál de las dos pruebas está mal escrita?</a:t>
            </a:r>
            <a:endParaRPr lang="en-US" sz="1340" dirty="0"/>
          </a:p>
        </p:txBody>
      </p:sp>
      <p:sp>
        <p:nvSpPr>
          <p:cNvPr id="15" name="Shape 12"/>
          <p:cNvSpPr/>
          <p:nvPr/>
        </p:nvSpPr>
        <p:spPr>
          <a:xfrm>
            <a:off x="1591056" y="2798064"/>
            <a:ext cx="9649663" cy="0"/>
          </a:xfrm>
          <a:prstGeom prst="line">
            <a:avLst/>
          </a:prstGeom>
          <a:noFill/>
          <a:ln w="12700">
            <a:solidFill>
              <a:srgbClr val="D8CFC4"/>
            </a:solidFill>
            <a:prstDash val="solid"/>
            <a:headEnd type="none"/>
            <a:tailEnd type="none"/>
          </a:ln>
        </p:spPr>
      </p:sp>
      <p:sp>
        <p:nvSpPr>
          <p:cNvPr id="16" name="Text 13"/>
          <p:cNvSpPr txBox="1"/>
          <p:nvPr/>
        </p:nvSpPr>
        <p:spPr>
          <a:xfrm>
            <a:off x="1591056" y="2889504"/>
            <a:ext cx="640080" cy="164592"/>
          </a:xfrm>
          <a:prstGeom prst="rect">
            <a:avLst/>
          </a:prstGeom>
          <a:noFill/>
          <a:ln/>
        </p:spPr>
        <p:txBody>
          <a:bodyPr wrap="square" lIns="0" tIns="0" rIns="0" bIns="0" rtlCol="0" anchor="t"/>
          <a:lstStyle/>
          <a:p>
            <a:pPr algn="l" indent="0" marL="0">
              <a:buNone/>
            </a:pPr>
            <a:r>
              <a:rPr lang="en-US" sz="840" b="1" spc="110" kern="0" dirty="0">
                <a:solidFill>
                  <a:srgbClr val="B3181E"/>
                </a:solidFill>
                <a:latin typeface="Aptos" pitchFamily="34" charset="0"/>
                <a:ea typeface="Aptos" pitchFamily="34" charset="-122"/>
                <a:cs typeface="Aptos" pitchFamily="34" charset="-120"/>
              </a:rPr>
              <a:t>PISTA</a:t>
            </a:r>
            <a:endParaRPr lang="en-US" sz="840" dirty="0"/>
          </a:p>
        </p:txBody>
      </p:sp>
      <p:sp>
        <p:nvSpPr>
          <p:cNvPr id="17" name="Text 14"/>
          <p:cNvSpPr txBox="1"/>
          <p:nvPr/>
        </p:nvSpPr>
        <p:spPr>
          <a:xfrm>
            <a:off x="2286000" y="2862072"/>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Pregúntate qué afirma cada una. Una habla del sistema; la otra, de lo que el autor le dijo al doble que respondiera.</a:t>
            </a:r>
            <a:endParaRPr lang="en-US" sz="1140" dirty="0"/>
          </a:p>
        </p:txBody>
      </p:sp>
      <p:sp>
        <p:nvSpPr>
          <p:cNvPr id="18" name="Shape 15"/>
          <p:cNvSpPr/>
          <p:nvPr/>
        </p:nvSpPr>
        <p:spPr>
          <a:xfrm>
            <a:off x="658368" y="3364992"/>
            <a:ext cx="10874959" cy="1097280"/>
          </a:xfrm>
          <a:prstGeom prst="rect">
            <a:avLst/>
          </a:prstGeom>
          <a:solidFill>
            <a:srgbClr val="EDE6DA"/>
          </a:solidFill>
          <a:ln w="12700">
            <a:solidFill>
              <a:srgbClr val="EDE6DA"/>
            </a:solidFill>
            <a:prstDash val="solid"/>
          </a:ln>
        </p:spPr>
      </p:sp>
      <p:sp>
        <p:nvSpPr>
          <p:cNvPr id="19" name="Shape 16"/>
          <p:cNvSpPr/>
          <p:nvPr/>
        </p:nvSpPr>
        <p:spPr>
          <a:xfrm>
            <a:off x="658368" y="3364992"/>
            <a:ext cx="54864" cy="1097280"/>
          </a:xfrm>
          <a:prstGeom prst="rect">
            <a:avLst/>
          </a:prstGeom>
          <a:solidFill>
            <a:srgbClr val="102A43"/>
          </a:solidFill>
          <a:ln w="12700">
            <a:solidFill>
              <a:srgbClr val="102A43"/>
            </a:solidFill>
            <a:prstDash val="solid"/>
          </a:ln>
        </p:spPr>
      </p:sp>
      <p:sp>
        <p:nvSpPr>
          <p:cNvPr id="20" name="Text 17"/>
          <p:cNvSpPr txBox="1"/>
          <p:nvPr/>
        </p:nvSpPr>
        <p:spPr>
          <a:xfrm>
            <a:off x="914400" y="3511296"/>
            <a:ext cx="493776" cy="420624"/>
          </a:xfrm>
          <a:prstGeom prst="rect">
            <a:avLst/>
          </a:prstGeom>
          <a:noFill/>
          <a:ln/>
        </p:spPr>
        <p:txBody>
          <a:bodyPr wrap="square" lIns="0" tIns="0" rIns="0" bIns="0" rtlCol="0" anchor="ctr"/>
          <a:lstStyle/>
          <a:p>
            <a:pPr algn="ctr" indent="0" marL="0">
              <a:buNone/>
            </a:pPr>
            <a:r>
              <a:rPr lang="en-US" sz="2600" b="1" dirty="0">
                <a:solidFill>
                  <a:srgbClr val="102A43"/>
                </a:solidFill>
                <a:latin typeface="Aptos Display" pitchFamily="34" charset="0"/>
                <a:ea typeface="Aptos Display" pitchFamily="34" charset="-122"/>
                <a:cs typeface="Aptos Display" pitchFamily="34" charset="-120"/>
              </a:rPr>
              <a:t>2</a:t>
            </a:r>
            <a:endParaRPr lang="en-US" sz="2600" dirty="0"/>
          </a:p>
        </p:txBody>
      </p:sp>
      <p:sp>
        <p:nvSpPr>
          <p:cNvPr id="21" name="Text 18"/>
          <p:cNvSpPr txBox="1"/>
          <p:nvPr/>
        </p:nvSpPr>
        <p:spPr>
          <a:xfrm>
            <a:off x="1591056" y="3493008"/>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create_autospec se presentó como la forma segura de construir un doble porque respeta la firma. Aquí no detectó nada. ¿Qué clase de defecto sí detecta y cuál no?</a:t>
            </a:r>
            <a:endParaRPr lang="en-US" sz="1340" dirty="0"/>
          </a:p>
        </p:txBody>
      </p:sp>
      <p:sp>
        <p:nvSpPr>
          <p:cNvPr id="22" name="Shape 19"/>
          <p:cNvSpPr/>
          <p:nvPr/>
        </p:nvSpPr>
        <p:spPr>
          <a:xfrm>
            <a:off x="1591056" y="4023360"/>
            <a:ext cx="9649663" cy="0"/>
          </a:xfrm>
          <a:prstGeom prst="line">
            <a:avLst/>
          </a:prstGeom>
          <a:noFill/>
          <a:ln w="12700">
            <a:solidFill>
              <a:srgbClr val="D8CFC4"/>
            </a:solidFill>
            <a:prstDash val="solid"/>
            <a:headEnd type="none"/>
            <a:tailEnd type="none"/>
          </a:ln>
        </p:spPr>
      </p:sp>
      <p:sp>
        <p:nvSpPr>
          <p:cNvPr id="23" name="Text 20"/>
          <p:cNvSpPr txBox="1"/>
          <p:nvPr/>
        </p:nvSpPr>
        <p:spPr>
          <a:xfrm>
            <a:off x="1591056" y="4114800"/>
            <a:ext cx="640080" cy="164592"/>
          </a:xfrm>
          <a:prstGeom prst="rect">
            <a:avLst/>
          </a:prstGeom>
          <a:noFill/>
          <a:ln/>
        </p:spPr>
        <p:txBody>
          <a:bodyPr wrap="square" lIns="0" tIns="0" rIns="0" bIns="0" rtlCol="0" anchor="t"/>
          <a:lstStyle/>
          <a:p>
            <a:pPr algn="l" indent="0" marL="0">
              <a:buNone/>
            </a:pPr>
            <a:r>
              <a:rPr lang="en-US" sz="840" b="1" spc="110" kern="0" dirty="0">
                <a:solidFill>
                  <a:srgbClr val="102A43"/>
                </a:solidFill>
                <a:latin typeface="Aptos" pitchFamily="34" charset="0"/>
                <a:ea typeface="Aptos" pitchFamily="34" charset="-122"/>
                <a:cs typeface="Aptos" pitchFamily="34" charset="-120"/>
              </a:rPr>
              <a:t>PISTA</a:t>
            </a:r>
            <a:endParaRPr lang="en-US" sz="840" dirty="0"/>
          </a:p>
        </p:txBody>
      </p:sp>
      <p:sp>
        <p:nvSpPr>
          <p:cNvPr id="24" name="Text 21"/>
          <p:cNvSpPr txBox="1"/>
          <p:nvPr/>
        </p:nvSpPr>
        <p:spPr>
          <a:xfrm>
            <a:off x="2286000" y="4087368"/>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Compara qué cambia cuando alguien renombra un parámetro de la dependencia con qué cambia cuando le pasa el valor equivocado.</a:t>
            </a:r>
            <a:endParaRPr lang="en-US" sz="1140" dirty="0"/>
          </a:p>
        </p:txBody>
      </p:sp>
      <p:sp>
        <p:nvSpPr>
          <p:cNvPr id="25" name="Shape 22"/>
          <p:cNvSpPr/>
          <p:nvPr/>
        </p:nvSpPr>
        <p:spPr>
          <a:xfrm>
            <a:off x="658368" y="4590288"/>
            <a:ext cx="10874959" cy="1097280"/>
          </a:xfrm>
          <a:prstGeom prst="rect">
            <a:avLst/>
          </a:prstGeom>
          <a:solidFill>
            <a:srgbClr val="F2E7D9"/>
          </a:solidFill>
          <a:ln w="12700">
            <a:solidFill>
              <a:srgbClr val="F2E7D9"/>
            </a:solidFill>
            <a:prstDash val="solid"/>
          </a:ln>
        </p:spPr>
      </p:sp>
      <p:sp>
        <p:nvSpPr>
          <p:cNvPr id="26" name="Shape 23"/>
          <p:cNvSpPr/>
          <p:nvPr/>
        </p:nvSpPr>
        <p:spPr>
          <a:xfrm>
            <a:off x="658368" y="4590288"/>
            <a:ext cx="54864" cy="1097280"/>
          </a:xfrm>
          <a:prstGeom prst="rect">
            <a:avLst/>
          </a:prstGeom>
          <a:solidFill>
            <a:srgbClr val="8A6A12"/>
          </a:solidFill>
          <a:ln w="12700">
            <a:solidFill>
              <a:srgbClr val="8A6A12"/>
            </a:solidFill>
            <a:prstDash val="solid"/>
          </a:ln>
        </p:spPr>
      </p:sp>
      <p:sp>
        <p:nvSpPr>
          <p:cNvPr id="27" name="Text 24"/>
          <p:cNvSpPr txBox="1"/>
          <p:nvPr/>
        </p:nvSpPr>
        <p:spPr>
          <a:xfrm>
            <a:off x="914400" y="4736592"/>
            <a:ext cx="493776" cy="420624"/>
          </a:xfrm>
          <a:prstGeom prst="rect">
            <a:avLst/>
          </a:prstGeom>
          <a:noFill/>
          <a:ln/>
        </p:spPr>
        <p:txBody>
          <a:bodyPr wrap="square" lIns="0" tIns="0" rIns="0" bIns="0" rtlCol="0" anchor="ctr"/>
          <a:lstStyle/>
          <a:p>
            <a:pPr algn="ctr" indent="0" marL="0">
              <a:buNone/>
            </a:pPr>
            <a:r>
              <a:rPr lang="en-US" sz="2600" b="1" dirty="0">
                <a:solidFill>
                  <a:srgbClr val="8A6A12"/>
                </a:solidFill>
                <a:latin typeface="Aptos Display" pitchFamily="34" charset="0"/>
                <a:ea typeface="Aptos Display" pitchFamily="34" charset="-122"/>
                <a:cs typeface="Aptos Display" pitchFamily="34" charset="-120"/>
              </a:rPr>
              <a:t>3</a:t>
            </a:r>
            <a:endParaRPr lang="en-US" sz="2600" dirty="0"/>
          </a:p>
        </p:txBody>
      </p:sp>
      <p:sp>
        <p:nvSpPr>
          <p:cNvPr id="28" name="Text 25"/>
          <p:cNvSpPr txBox="1"/>
          <p:nvPr/>
        </p:nvSpPr>
        <p:spPr>
          <a:xfrm>
            <a:off x="1591056" y="4718304"/>
            <a:ext cx="9649663" cy="457200"/>
          </a:xfrm>
          <a:prstGeom prst="rect">
            <a:avLst/>
          </a:prstGeom>
          <a:noFill/>
          <a:ln/>
        </p:spPr>
        <p:txBody>
          <a:bodyPr wrap="square" lIns="0" tIns="0" rIns="0" bIns="0" rtlCol="0" anchor="t"/>
          <a:lstStyle/>
          <a:p>
            <a:pPr algn="l" indent="0" marL="0">
              <a:lnSpc>
                <a:spcPct val="114000"/>
              </a:lnSpc>
              <a:buNone/>
            </a:pPr>
            <a:r>
              <a:rPr lang="en-US" sz="1340" dirty="0">
                <a:solidFill>
                  <a:srgbClr val="243B53"/>
                </a:solidFill>
                <a:latin typeface="Aptos" pitchFamily="34" charset="0"/>
                <a:ea typeface="Aptos" pitchFamily="34" charset="-122"/>
                <a:cs typeface="Aptos" pitchFamily="34" charset="-120"/>
              </a:rPr>
              <a:t>Un compañero defiende sus pruebas con dobles: la suite corre en 0,3 segundos y con base de datos tardaría diez veces más. ¿Qué le concedes y qué no?</a:t>
            </a:r>
            <a:endParaRPr lang="en-US" sz="1340" dirty="0"/>
          </a:p>
        </p:txBody>
      </p:sp>
      <p:sp>
        <p:nvSpPr>
          <p:cNvPr id="29" name="Shape 26"/>
          <p:cNvSpPr/>
          <p:nvPr/>
        </p:nvSpPr>
        <p:spPr>
          <a:xfrm>
            <a:off x="1591056" y="5248656"/>
            <a:ext cx="9649663" cy="0"/>
          </a:xfrm>
          <a:prstGeom prst="line">
            <a:avLst/>
          </a:prstGeom>
          <a:noFill/>
          <a:ln w="12700">
            <a:solidFill>
              <a:srgbClr val="D8CFC4"/>
            </a:solidFill>
            <a:prstDash val="solid"/>
            <a:headEnd type="none"/>
            <a:tailEnd type="none"/>
          </a:ln>
        </p:spPr>
      </p:sp>
      <p:sp>
        <p:nvSpPr>
          <p:cNvPr id="30" name="Text 27"/>
          <p:cNvSpPr txBox="1"/>
          <p:nvPr/>
        </p:nvSpPr>
        <p:spPr>
          <a:xfrm>
            <a:off x="1591056" y="5340096"/>
            <a:ext cx="640080" cy="164592"/>
          </a:xfrm>
          <a:prstGeom prst="rect">
            <a:avLst/>
          </a:prstGeom>
          <a:noFill/>
          <a:ln/>
        </p:spPr>
        <p:txBody>
          <a:bodyPr wrap="square" lIns="0" tIns="0" rIns="0" bIns="0" rtlCol="0" anchor="t"/>
          <a:lstStyle/>
          <a:p>
            <a:pPr algn="l" indent="0" marL="0">
              <a:buNone/>
            </a:pPr>
            <a:r>
              <a:rPr lang="en-US" sz="840" b="1" spc="110" kern="0" dirty="0">
                <a:solidFill>
                  <a:srgbClr val="8A6A12"/>
                </a:solidFill>
                <a:latin typeface="Aptos" pitchFamily="34" charset="0"/>
                <a:ea typeface="Aptos" pitchFamily="34" charset="-122"/>
                <a:cs typeface="Aptos" pitchFamily="34" charset="-120"/>
              </a:rPr>
              <a:t>PISTA</a:t>
            </a:r>
            <a:endParaRPr lang="en-US" sz="840" dirty="0"/>
          </a:p>
        </p:txBody>
      </p:sp>
      <p:sp>
        <p:nvSpPr>
          <p:cNvPr id="31" name="Text 28"/>
          <p:cNvSpPr txBox="1"/>
          <p:nvPr/>
        </p:nvSpPr>
        <p:spPr>
          <a:xfrm>
            <a:off x="2286000" y="5312664"/>
            <a:ext cx="8954719" cy="256032"/>
          </a:xfrm>
          <a:prstGeom prst="rect">
            <a:avLst/>
          </a:prstGeom>
          <a:noFill/>
          <a:ln/>
        </p:spPr>
        <p:txBody>
          <a:bodyPr wrap="square" lIns="0" tIns="0" rIns="0" bIns="0" rtlCol="0" anchor="t"/>
          <a:lstStyle/>
          <a:p>
            <a:pPr algn="l" indent="0" marL="0">
              <a:buNone/>
            </a:pPr>
            <a:r>
              <a:rPr lang="en-US" sz="1140" i="1" dirty="0">
                <a:solidFill>
                  <a:srgbClr val="52606D"/>
                </a:solidFill>
                <a:latin typeface="Aptos" pitchFamily="34" charset="0"/>
                <a:ea typeface="Aptos" pitchFamily="34" charset="-122"/>
                <a:cs typeface="Aptos" pitchFamily="34" charset="-120"/>
              </a:rPr>
              <a:t>Los dos niveles existen y los dos son necesarios. La pregunta no es cuál elegir, sino qué queda sin comprobar si solo hay uno.</a:t>
            </a:r>
            <a:endParaRPr lang="en-US" sz="114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47</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BLOQUE 4 · CONTRASTE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Lo que tenía que aparecer</a:t>
            </a:r>
            <a:endParaRPr lang="en-US" sz="3000" dirty="0"/>
          </a:p>
        </p:txBody>
      </p:sp>
      <p:sp>
        <p:nvSpPr>
          <p:cNvPr id="10" name="Text 7"/>
          <p:cNvSpPr txBox="1"/>
          <p:nvPr/>
        </p:nvSpPr>
        <p:spPr>
          <a:xfrm>
            <a:off x="658368" y="1664208"/>
            <a:ext cx="10424160" cy="329184"/>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Las respuestas conservan el mismo orden y color que las preguntas.</a:t>
            </a:r>
            <a:endParaRPr lang="en-US" sz="1420" dirty="0"/>
          </a:p>
        </p:txBody>
      </p:sp>
      <p:sp>
        <p:nvSpPr>
          <p:cNvPr id="11" name="Shape 8"/>
          <p:cNvSpPr/>
          <p:nvPr/>
        </p:nvSpPr>
        <p:spPr>
          <a:xfrm>
            <a:off x="658368" y="2139696"/>
            <a:ext cx="10874959" cy="1243584"/>
          </a:xfrm>
          <a:prstGeom prst="rect">
            <a:avLst/>
          </a:prstGeom>
          <a:solidFill>
            <a:srgbClr val="FFFFFF"/>
          </a:solidFill>
          <a:ln w="12700">
            <a:solidFill>
              <a:srgbClr val="FFFFFF"/>
            </a:solidFill>
            <a:prstDash val="solid"/>
          </a:ln>
        </p:spPr>
      </p:sp>
      <p:sp>
        <p:nvSpPr>
          <p:cNvPr id="12" name="Shape 9"/>
          <p:cNvSpPr/>
          <p:nvPr/>
        </p:nvSpPr>
        <p:spPr>
          <a:xfrm>
            <a:off x="658368" y="2139696"/>
            <a:ext cx="54864" cy="1243584"/>
          </a:xfrm>
          <a:prstGeom prst="rect">
            <a:avLst/>
          </a:prstGeom>
          <a:solidFill>
            <a:srgbClr val="B3181E"/>
          </a:solidFill>
          <a:ln w="12700">
            <a:solidFill>
              <a:srgbClr val="B3181E"/>
            </a:solidFill>
            <a:prstDash val="solid"/>
          </a:ln>
        </p:spPr>
      </p:sp>
      <p:sp>
        <p:nvSpPr>
          <p:cNvPr id="13" name="Text 10"/>
          <p:cNvSpPr txBox="1"/>
          <p:nvPr/>
        </p:nvSpPr>
        <p:spPr>
          <a:xfrm>
            <a:off x="896112" y="2304288"/>
            <a:ext cx="493776" cy="457200"/>
          </a:xfrm>
          <a:prstGeom prst="rect">
            <a:avLst/>
          </a:prstGeom>
          <a:noFill/>
          <a:ln/>
        </p:spPr>
        <p:txBody>
          <a:bodyPr wrap="square" lIns="0" tIns="0" rIns="0" bIns="0" rtlCol="0" anchor="ctr"/>
          <a:lstStyle/>
          <a:p>
            <a:pPr algn="ctr" indent="0" marL="0">
              <a:buNone/>
            </a:pPr>
            <a:r>
              <a:rPr lang="en-US" sz="2700" b="1" dirty="0">
                <a:solidFill>
                  <a:srgbClr val="B3181E"/>
                </a:solidFill>
                <a:latin typeface="Aptos Display" pitchFamily="34" charset="0"/>
                <a:ea typeface="Aptos Display" pitchFamily="34" charset="-122"/>
                <a:cs typeface="Aptos Display" pitchFamily="34" charset="-120"/>
              </a:rPr>
              <a:t>1</a:t>
            </a:r>
            <a:endParaRPr lang="en-US" sz="2700" dirty="0"/>
          </a:p>
        </p:txBody>
      </p:sp>
      <p:sp>
        <p:nvSpPr>
          <p:cNvPr id="14" name="Text 11"/>
          <p:cNvSpPr txBox="1"/>
          <p:nvPr/>
        </p:nvSpPr>
        <p:spPr>
          <a:xfrm>
            <a:off x="1591056" y="2249424"/>
            <a:ext cx="2926080" cy="164592"/>
          </a:xfrm>
          <a:prstGeom prst="rect">
            <a:avLst/>
          </a:prstGeom>
          <a:noFill/>
          <a:ln/>
        </p:spPr>
        <p:txBody>
          <a:bodyPr wrap="square" lIns="0" tIns="0" rIns="0" bIns="0" rtlCol="0" anchor="t"/>
          <a:lstStyle/>
          <a:p>
            <a:pPr algn="l" indent="0" marL="0">
              <a:buNone/>
            </a:pPr>
            <a:r>
              <a:rPr lang="en-US" sz="830" b="1" spc="100" kern="0" dirty="0">
                <a:solidFill>
                  <a:srgbClr val="B3181E"/>
                </a:solidFill>
                <a:latin typeface="Aptos" pitchFamily="34" charset="0"/>
                <a:ea typeface="Aptos" pitchFamily="34" charset="-122"/>
                <a:cs typeface="Aptos" pitchFamily="34" charset="-120"/>
              </a:rPr>
              <a:t>LA QUE PASA</a:t>
            </a:r>
            <a:endParaRPr lang="en-US" sz="830" dirty="0"/>
          </a:p>
        </p:txBody>
      </p:sp>
      <p:sp>
        <p:nvSpPr>
          <p:cNvPr id="15" name="Text 12"/>
          <p:cNvSpPr txBox="1"/>
          <p:nvPr/>
        </p:nvSpPr>
        <p:spPr>
          <a:xfrm>
            <a:off x="1591056" y="2468880"/>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La que falla describe el sistema. La que pasa solo confirma lo que el autor de la prueba le dijo al doble.</a:t>
            </a:r>
            <a:endParaRPr lang="en-US" sz="1240" dirty="0"/>
          </a:p>
        </p:txBody>
      </p:sp>
      <p:sp>
        <p:nvSpPr>
          <p:cNvPr id="16" name="Shape 13"/>
          <p:cNvSpPr/>
          <p:nvPr/>
        </p:nvSpPr>
        <p:spPr>
          <a:xfrm>
            <a:off x="1591056" y="2871216"/>
            <a:ext cx="9649663" cy="0"/>
          </a:xfrm>
          <a:prstGeom prst="line">
            <a:avLst/>
          </a:prstGeom>
          <a:noFill/>
          <a:ln w="12700">
            <a:solidFill>
              <a:srgbClr val="D8CFC4"/>
            </a:solidFill>
            <a:prstDash val="solid"/>
            <a:headEnd type="none"/>
            <a:tailEnd type="none"/>
          </a:ln>
        </p:spPr>
      </p:sp>
      <p:sp>
        <p:nvSpPr>
          <p:cNvPr id="17" name="Text 14"/>
          <p:cNvSpPr txBox="1"/>
          <p:nvPr/>
        </p:nvSpPr>
        <p:spPr>
          <a:xfrm>
            <a:off x="1591056" y="2962656"/>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18" name="Text 15"/>
          <p:cNvSpPr txBox="1"/>
          <p:nvPr/>
        </p:nvSpPr>
        <p:spPr>
          <a:xfrm>
            <a:off x="2871216" y="2935224"/>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Fallar no es estar mal escrita</a:t>
            </a:r>
            <a:endParaRPr lang="en-US" sz="1020" dirty="0"/>
          </a:p>
        </p:txBody>
      </p:sp>
      <p:sp>
        <p:nvSpPr>
          <p:cNvPr id="19" name="Text 16"/>
          <p:cNvSpPr txBox="1"/>
          <p:nvPr/>
        </p:nvSpPr>
        <p:spPr>
          <a:xfrm>
            <a:off x="6784848" y="2962656"/>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20" name="Text 17"/>
          <p:cNvSpPr txBox="1"/>
          <p:nvPr/>
        </p:nvSpPr>
        <p:spPr>
          <a:xfrm>
            <a:off x="8138160" y="2935224"/>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Creer que verde es mejor que rojo</a:t>
            </a:r>
            <a:endParaRPr lang="en-US" sz="1020" dirty="0"/>
          </a:p>
        </p:txBody>
      </p:sp>
      <p:sp>
        <p:nvSpPr>
          <p:cNvPr id="21" name="Shape 18"/>
          <p:cNvSpPr/>
          <p:nvPr/>
        </p:nvSpPr>
        <p:spPr>
          <a:xfrm>
            <a:off x="658368" y="3493008"/>
            <a:ext cx="10874959" cy="1243584"/>
          </a:xfrm>
          <a:prstGeom prst="rect">
            <a:avLst/>
          </a:prstGeom>
          <a:solidFill>
            <a:srgbClr val="FFFFFF"/>
          </a:solidFill>
          <a:ln w="12700">
            <a:solidFill>
              <a:srgbClr val="FFFFFF"/>
            </a:solidFill>
            <a:prstDash val="solid"/>
          </a:ln>
        </p:spPr>
      </p:sp>
      <p:sp>
        <p:nvSpPr>
          <p:cNvPr id="22" name="Shape 19"/>
          <p:cNvSpPr/>
          <p:nvPr/>
        </p:nvSpPr>
        <p:spPr>
          <a:xfrm>
            <a:off x="658368" y="3493008"/>
            <a:ext cx="54864" cy="1243584"/>
          </a:xfrm>
          <a:prstGeom prst="rect">
            <a:avLst/>
          </a:prstGeom>
          <a:solidFill>
            <a:srgbClr val="102A43"/>
          </a:solidFill>
          <a:ln w="12700">
            <a:solidFill>
              <a:srgbClr val="102A43"/>
            </a:solidFill>
            <a:prstDash val="solid"/>
          </a:ln>
        </p:spPr>
      </p:sp>
      <p:sp>
        <p:nvSpPr>
          <p:cNvPr id="23" name="Text 20"/>
          <p:cNvSpPr txBox="1"/>
          <p:nvPr/>
        </p:nvSpPr>
        <p:spPr>
          <a:xfrm>
            <a:off x="896112" y="3657600"/>
            <a:ext cx="493776" cy="457200"/>
          </a:xfrm>
          <a:prstGeom prst="rect">
            <a:avLst/>
          </a:prstGeom>
          <a:noFill/>
          <a:ln/>
        </p:spPr>
        <p:txBody>
          <a:bodyPr wrap="square" lIns="0" tIns="0" rIns="0" bIns="0" rtlCol="0" anchor="ctr"/>
          <a:lstStyle/>
          <a:p>
            <a:pPr algn="ctr" indent="0" marL="0">
              <a:buNone/>
            </a:pPr>
            <a:r>
              <a:rPr lang="en-US" sz="2700" b="1" dirty="0">
                <a:solidFill>
                  <a:srgbClr val="102A43"/>
                </a:solidFill>
                <a:latin typeface="Aptos Display" pitchFamily="34" charset="0"/>
                <a:ea typeface="Aptos Display" pitchFamily="34" charset="-122"/>
                <a:cs typeface="Aptos Display" pitchFamily="34" charset="-120"/>
              </a:rPr>
              <a:t>2</a:t>
            </a:r>
            <a:endParaRPr lang="en-US" sz="2700" dirty="0"/>
          </a:p>
        </p:txBody>
      </p:sp>
      <p:sp>
        <p:nvSpPr>
          <p:cNvPr id="24" name="Text 21"/>
          <p:cNvSpPr txBox="1"/>
          <p:nvPr/>
        </p:nvSpPr>
        <p:spPr>
          <a:xfrm>
            <a:off x="1591056" y="3602736"/>
            <a:ext cx="2926080" cy="164592"/>
          </a:xfrm>
          <a:prstGeom prst="rect">
            <a:avLst/>
          </a:prstGeom>
          <a:noFill/>
          <a:ln/>
        </p:spPr>
        <p:txBody>
          <a:bodyPr wrap="square" lIns="0" tIns="0" rIns="0" bIns="0" rtlCol="0" anchor="t"/>
          <a:lstStyle/>
          <a:p>
            <a:pPr algn="l" indent="0" marL="0">
              <a:buNone/>
            </a:pPr>
            <a:r>
              <a:rPr lang="en-US" sz="830" b="1" spc="100" kern="0" dirty="0">
                <a:solidFill>
                  <a:srgbClr val="102A43"/>
                </a:solidFill>
                <a:latin typeface="Aptos" pitchFamily="34" charset="0"/>
                <a:ea typeface="Aptos" pitchFamily="34" charset="-122"/>
                <a:cs typeface="Aptos" pitchFamily="34" charset="-120"/>
              </a:rPr>
              <a:t>DETECTA LA FIRMA, NO EL VALOR</a:t>
            </a:r>
            <a:endParaRPr lang="en-US" sz="830" dirty="0"/>
          </a:p>
        </p:txBody>
      </p:sp>
      <p:sp>
        <p:nvSpPr>
          <p:cNvPr id="25" name="Text 22"/>
          <p:cNvSpPr txBox="1"/>
          <p:nvPr/>
        </p:nvSpPr>
        <p:spPr>
          <a:xfrm>
            <a:off x="1591056" y="3822192"/>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Avisa si cambia el nombre o el número de parámetros. No tiene nada que decir sobre cuál valor se pasa.</a:t>
            </a:r>
            <a:endParaRPr lang="en-US" sz="1240" dirty="0"/>
          </a:p>
        </p:txBody>
      </p:sp>
      <p:sp>
        <p:nvSpPr>
          <p:cNvPr id="26" name="Shape 23"/>
          <p:cNvSpPr/>
          <p:nvPr/>
        </p:nvSpPr>
        <p:spPr>
          <a:xfrm>
            <a:off x="1591056" y="4224528"/>
            <a:ext cx="9649663" cy="0"/>
          </a:xfrm>
          <a:prstGeom prst="line">
            <a:avLst/>
          </a:prstGeom>
          <a:noFill/>
          <a:ln w="12700">
            <a:solidFill>
              <a:srgbClr val="D8CFC4"/>
            </a:solidFill>
            <a:prstDash val="solid"/>
            <a:headEnd type="none"/>
            <a:tailEnd type="none"/>
          </a:ln>
        </p:spPr>
      </p:sp>
      <p:sp>
        <p:nvSpPr>
          <p:cNvPr id="27" name="Text 24"/>
          <p:cNvSpPr txBox="1"/>
          <p:nvPr/>
        </p:nvSpPr>
        <p:spPr>
          <a:xfrm>
            <a:off x="1591056" y="4315968"/>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28" name="Text 25"/>
          <p:cNvSpPr txBox="1"/>
          <p:nvPr/>
        </p:nvSpPr>
        <p:spPr>
          <a:xfrm>
            <a:off x="2871216" y="4288536"/>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La llamada respetaba la firma perfectamente</a:t>
            </a:r>
            <a:endParaRPr lang="en-US" sz="1020" dirty="0"/>
          </a:p>
        </p:txBody>
      </p:sp>
      <p:sp>
        <p:nvSpPr>
          <p:cNvPr id="29" name="Text 26"/>
          <p:cNvSpPr txBox="1"/>
          <p:nvPr/>
        </p:nvSpPr>
        <p:spPr>
          <a:xfrm>
            <a:off x="6784848" y="4315968"/>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30" name="Text 27"/>
          <p:cNvSpPr txBox="1"/>
          <p:nvPr/>
        </p:nvSpPr>
        <p:spPr>
          <a:xfrm>
            <a:off x="8138160" y="4288536"/>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Confiar en autospec como garantía</a:t>
            </a:r>
            <a:endParaRPr lang="en-US" sz="1020" dirty="0"/>
          </a:p>
        </p:txBody>
      </p:sp>
      <p:sp>
        <p:nvSpPr>
          <p:cNvPr id="31" name="Shape 28"/>
          <p:cNvSpPr/>
          <p:nvPr/>
        </p:nvSpPr>
        <p:spPr>
          <a:xfrm>
            <a:off x="658368" y="4846320"/>
            <a:ext cx="10874959" cy="1243584"/>
          </a:xfrm>
          <a:prstGeom prst="rect">
            <a:avLst/>
          </a:prstGeom>
          <a:solidFill>
            <a:srgbClr val="FFFFFF"/>
          </a:solidFill>
          <a:ln w="12700">
            <a:solidFill>
              <a:srgbClr val="FFFFFF"/>
            </a:solidFill>
            <a:prstDash val="solid"/>
          </a:ln>
        </p:spPr>
      </p:sp>
      <p:sp>
        <p:nvSpPr>
          <p:cNvPr id="32" name="Shape 29"/>
          <p:cNvSpPr/>
          <p:nvPr/>
        </p:nvSpPr>
        <p:spPr>
          <a:xfrm>
            <a:off x="658368" y="4846320"/>
            <a:ext cx="54864" cy="1243584"/>
          </a:xfrm>
          <a:prstGeom prst="rect">
            <a:avLst/>
          </a:prstGeom>
          <a:solidFill>
            <a:srgbClr val="8A6A12"/>
          </a:solidFill>
          <a:ln w="12700">
            <a:solidFill>
              <a:srgbClr val="8A6A12"/>
            </a:solidFill>
            <a:prstDash val="solid"/>
          </a:ln>
        </p:spPr>
      </p:sp>
      <p:sp>
        <p:nvSpPr>
          <p:cNvPr id="33" name="Text 30"/>
          <p:cNvSpPr txBox="1"/>
          <p:nvPr/>
        </p:nvSpPr>
        <p:spPr>
          <a:xfrm>
            <a:off x="896112" y="5010912"/>
            <a:ext cx="493776" cy="457200"/>
          </a:xfrm>
          <a:prstGeom prst="rect">
            <a:avLst/>
          </a:prstGeom>
          <a:noFill/>
          <a:ln/>
        </p:spPr>
        <p:txBody>
          <a:bodyPr wrap="square" lIns="0" tIns="0" rIns="0" bIns="0" rtlCol="0" anchor="ctr"/>
          <a:lstStyle/>
          <a:p>
            <a:pPr algn="ctr" indent="0" marL="0">
              <a:buNone/>
            </a:pPr>
            <a:r>
              <a:rPr lang="en-US" sz="2700" b="1" dirty="0">
                <a:solidFill>
                  <a:srgbClr val="8A6A12"/>
                </a:solidFill>
                <a:latin typeface="Aptos Display" pitchFamily="34" charset="0"/>
                <a:ea typeface="Aptos Display" pitchFamily="34" charset="-122"/>
                <a:cs typeface="Aptos Display" pitchFamily="34" charset="-120"/>
              </a:rPr>
              <a:t>3</a:t>
            </a:r>
            <a:endParaRPr lang="en-US" sz="2700" dirty="0"/>
          </a:p>
        </p:txBody>
      </p:sp>
      <p:sp>
        <p:nvSpPr>
          <p:cNvPr id="34" name="Text 31"/>
          <p:cNvSpPr txBox="1"/>
          <p:nvPr/>
        </p:nvSpPr>
        <p:spPr>
          <a:xfrm>
            <a:off x="1591056" y="4956048"/>
            <a:ext cx="2926080" cy="164592"/>
          </a:xfrm>
          <a:prstGeom prst="rect">
            <a:avLst/>
          </a:prstGeom>
          <a:noFill/>
          <a:ln/>
        </p:spPr>
        <p:txBody>
          <a:bodyPr wrap="square" lIns="0" tIns="0" rIns="0" bIns="0" rtlCol="0" anchor="t"/>
          <a:lstStyle/>
          <a:p>
            <a:pPr algn="l" indent="0" marL="0">
              <a:buNone/>
            </a:pPr>
            <a:r>
              <a:rPr lang="en-US" sz="830" b="1" spc="100" kern="0" dirty="0">
                <a:solidFill>
                  <a:srgbClr val="8A6A12"/>
                </a:solidFill>
                <a:latin typeface="Aptos" pitchFamily="34" charset="0"/>
                <a:ea typeface="Aptos" pitchFamily="34" charset="-122"/>
                <a:cs typeface="Aptos" pitchFamily="34" charset="-120"/>
              </a:rPr>
              <a:t>EL TIEMPO, NO LA CONCLUSIÓN</a:t>
            </a:r>
            <a:endParaRPr lang="en-US" sz="830" dirty="0"/>
          </a:p>
        </p:txBody>
      </p:sp>
      <p:sp>
        <p:nvSpPr>
          <p:cNvPr id="35" name="Text 32"/>
          <p:cNvSpPr txBox="1"/>
          <p:nvPr/>
        </p:nvSpPr>
        <p:spPr>
          <a:xfrm>
            <a:off x="1591056" y="5175504"/>
            <a:ext cx="9649663" cy="347472"/>
          </a:xfrm>
          <a:prstGeom prst="rect">
            <a:avLst/>
          </a:prstGeom>
          <a:noFill/>
          <a:ln/>
        </p:spPr>
        <p:txBody>
          <a:bodyPr wrap="square" lIns="0" tIns="0" rIns="0" bIns="0" rtlCol="0" anchor="t"/>
          <a:lstStyle/>
          <a:p>
            <a:pPr algn="l" indent="0" marL="0">
              <a:lnSpc>
                <a:spcPct val="112000"/>
              </a:lnSpc>
              <a:buNone/>
            </a:pPr>
            <a:r>
              <a:rPr lang="en-US" sz="1240" b="1" dirty="0">
                <a:solidFill>
                  <a:srgbClr val="243B53"/>
                </a:solidFill>
                <a:latin typeface="Aptos" pitchFamily="34" charset="0"/>
                <a:ea typeface="Aptos" pitchFamily="34" charset="-122"/>
                <a:cs typeface="Aptos" pitchFamily="34" charset="-120"/>
              </a:rPr>
              <a:t>Es cierto que son más rápidas. No es cierto que reemplacen: nada de lo sustituido queda comprobado.</a:t>
            </a:r>
            <a:endParaRPr lang="en-US" sz="1240" dirty="0"/>
          </a:p>
        </p:txBody>
      </p:sp>
      <p:sp>
        <p:nvSpPr>
          <p:cNvPr id="36" name="Shape 33"/>
          <p:cNvSpPr/>
          <p:nvPr/>
        </p:nvSpPr>
        <p:spPr>
          <a:xfrm>
            <a:off x="1591056" y="5577840"/>
            <a:ext cx="9649663" cy="0"/>
          </a:xfrm>
          <a:prstGeom prst="line">
            <a:avLst/>
          </a:prstGeom>
          <a:noFill/>
          <a:ln w="12700">
            <a:solidFill>
              <a:srgbClr val="D8CFC4"/>
            </a:solidFill>
            <a:prstDash val="solid"/>
            <a:headEnd type="none"/>
            <a:tailEnd type="none"/>
          </a:ln>
        </p:spPr>
      </p:sp>
      <p:sp>
        <p:nvSpPr>
          <p:cNvPr id="37" name="Text 34"/>
          <p:cNvSpPr txBox="1"/>
          <p:nvPr/>
        </p:nvSpPr>
        <p:spPr>
          <a:xfrm>
            <a:off x="1591056" y="5669280"/>
            <a:ext cx="1188720" cy="155448"/>
          </a:xfrm>
          <a:prstGeom prst="rect">
            <a:avLst/>
          </a:prstGeom>
          <a:noFill/>
          <a:ln/>
        </p:spPr>
        <p:txBody>
          <a:bodyPr wrap="square" lIns="0" tIns="0" rIns="0" bIns="0" rtlCol="0" anchor="t"/>
          <a:lstStyle/>
          <a:p>
            <a:pPr algn="l" indent="0" marL="0">
              <a:buNone/>
            </a:pPr>
            <a:r>
              <a:rPr lang="en-US" sz="800" b="1" spc="90" kern="0" dirty="0">
                <a:solidFill>
                  <a:srgbClr val="2E7D4F"/>
                </a:solidFill>
                <a:latin typeface="Aptos" pitchFamily="34" charset="0"/>
                <a:ea typeface="Aptos" pitchFamily="34" charset="-122"/>
                <a:cs typeface="Aptos" pitchFamily="34" charset="-120"/>
              </a:rPr>
              <a:t>LO QUE REVELA</a:t>
            </a:r>
            <a:endParaRPr lang="en-US" sz="800" dirty="0"/>
          </a:p>
        </p:txBody>
      </p:sp>
      <p:sp>
        <p:nvSpPr>
          <p:cNvPr id="38" name="Text 35"/>
          <p:cNvSpPr txBox="1"/>
          <p:nvPr/>
        </p:nvSpPr>
        <p:spPr>
          <a:xfrm>
            <a:off x="2871216" y="5641848"/>
            <a:ext cx="3712464" cy="310896"/>
          </a:xfrm>
          <a:prstGeom prst="rect">
            <a:avLst/>
          </a:prstGeom>
          <a:noFill/>
          <a:ln/>
        </p:spPr>
        <p:txBody>
          <a:bodyPr wrap="square" lIns="0" tIns="0" rIns="0" bIns="0" rtlCol="0" anchor="t"/>
          <a:lstStyle/>
          <a:p>
            <a:pPr algn="l" indent="0" marL="0">
              <a:lnSpc>
                <a:spcPct val="110000"/>
              </a:lnSpc>
              <a:buNone/>
            </a:pPr>
            <a:r>
              <a:rPr lang="en-US" sz="1020" dirty="0">
                <a:solidFill>
                  <a:srgbClr val="243B53"/>
                </a:solidFill>
                <a:latin typeface="Aptos" pitchFamily="34" charset="0"/>
                <a:ea typeface="Aptos" pitchFamily="34" charset="-122"/>
                <a:cs typeface="Aptos" pitchFamily="34" charset="-120"/>
              </a:rPr>
              <a:t>Los dos niveles son necesarios</a:t>
            </a:r>
            <a:endParaRPr lang="en-US" sz="1020" dirty="0"/>
          </a:p>
        </p:txBody>
      </p:sp>
      <p:sp>
        <p:nvSpPr>
          <p:cNvPr id="39" name="Text 36"/>
          <p:cNvSpPr txBox="1"/>
          <p:nvPr/>
        </p:nvSpPr>
        <p:spPr>
          <a:xfrm>
            <a:off x="6784848" y="5669280"/>
            <a:ext cx="1325880" cy="155448"/>
          </a:xfrm>
          <a:prstGeom prst="rect">
            <a:avLst/>
          </a:prstGeom>
          <a:noFill/>
          <a:ln/>
        </p:spPr>
        <p:txBody>
          <a:bodyPr wrap="square" lIns="0" tIns="0" rIns="0" bIns="0" rtlCol="0" anchor="t"/>
          <a:lstStyle/>
          <a:p>
            <a:pPr algn="l" indent="0" marL="0">
              <a:buNone/>
            </a:pPr>
            <a:r>
              <a:rPr lang="en-US" sz="800" b="1" spc="90" kern="0" dirty="0">
                <a:solidFill>
                  <a:srgbClr val="B3181E"/>
                </a:solidFill>
                <a:latin typeface="Aptos" pitchFamily="34" charset="0"/>
                <a:ea typeface="Aptos" pitchFamily="34" charset="-122"/>
                <a:cs typeface="Aptos" pitchFamily="34" charset="-120"/>
              </a:rPr>
              <a:t>ERROR FRECUENTE</a:t>
            </a:r>
            <a:endParaRPr lang="en-US" sz="800" dirty="0"/>
          </a:p>
        </p:txBody>
      </p:sp>
      <p:sp>
        <p:nvSpPr>
          <p:cNvPr id="40" name="Text 37"/>
          <p:cNvSpPr txBox="1"/>
          <p:nvPr/>
        </p:nvSpPr>
        <p:spPr>
          <a:xfrm>
            <a:off x="8138160" y="5641848"/>
            <a:ext cx="3063240" cy="310896"/>
          </a:xfrm>
          <a:prstGeom prst="rect">
            <a:avLst/>
          </a:prstGeom>
          <a:noFill/>
          <a:ln/>
        </p:spPr>
        <p:txBody>
          <a:bodyPr wrap="square" lIns="0" tIns="0" rIns="0" bIns="0" rtlCol="0" anchor="t"/>
          <a:lstStyle/>
          <a:p>
            <a:pPr algn="l" indent="0" marL="0">
              <a:lnSpc>
                <a:spcPct val="110000"/>
              </a:lnSpc>
              <a:buNone/>
            </a:pPr>
            <a:r>
              <a:rPr lang="en-US" sz="1020" i="1" dirty="0">
                <a:solidFill>
                  <a:srgbClr val="52606D"/>
                </a:solidFill>
                <a:latin typeface="Aptos" pitchFamily="34" charset="0"/>
                <a:ea typeface="Aptos" pitchFamily="34" charset="-122"/>
                <a:cs typeface="Aptos" pitchFamily="34" charset="-120"/>
              </a:rPr>
              <a:t>Elegir uno y declarar probado el sistema</a:t>
            </a:r>
            <a:endParaRPr lang="en-US" sz="102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48</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 LA SÍNTESIS</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Tres niveles, tres afirmaciones distintas</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No se reemplazan entre sí, y confundirlos es lo que lleva a creer que un sistema está probado cuando no lo está.</a:t>
            </a:r>
            <a:endParaRPr lang="en-US" sz="1420" dirty="0"/>
          </a:p>
        </p:txBody>
      </p:sp>
      <p:sp>
        <p:nvSpPr>
          <p:cNvPr id="11" name="Shape 8"/>
          <p:cNvSpPr/>
          <p:nvPr/>
        </p:nvSpPr>
        <p:spPr>
          <a:xfrm>
            <a:off x="658368" y="2286000"/>
            <a:ext cx="10874959" cy="347472"/>
          </a:xfrm>
          <a:prstGeom prst="rect">
            <a:avLst/>
          </a:prstGeom>
          <a:solidFill>
            <a:srgbClr val="1D3A57"/>
          </a:solidFill>
          <a:ln w="12700">
            <a:solidFill>
              <a:srgbClr val="1D3A57"/>
            </a:solidFill>
            <a:prstDash val="solid"/>
          </a:ln>
        </p:spPr>
      </p:sp>
      <p:sp>
        <p:nvSpPr>
          <p:cNvPr id="12" name="Text 9"/>
          <p:cNvSpPr txBox="1"/>
          <p:nvPr/>
        </p:nvSpPr>
        <p:spPr>
          <a:xfrm>
            <a:off x="896112" y="2359152"/>
            <a:ext cx="27432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NIVEL</a:t>
            </a:r>
            <a:endParaRPr lang="en-US" sz="920" dirty="0"/>
          </a:p>
        </p:txBody>
      </p:sp>
      <p:sp>
        <p:nvSpPr>
          <p:cNvPr id="13" name="Text 10"/>
          <p:cNvSpPr txBox="1"/>
          <p:nvPr/>
        </p:nvSpPr>
        <p:spPr>
          <a:xfrm>
            <a:off x="3913632" y="2359152"/>
            <a:ext cx="27432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QUÉ AFIRMA</a:t>
            </a:r>
            <a:endParaRPr lang="en-US" sz="920" dirty="0"/>
          </a:p>
        </p:txBody>
      </p:sp>
      <p:sp>
        <p:nvSpPr>
          <p:cNvPr id="14" name="Text 11"/>
          <p:cNvSpPr txBox="1"/>
          <p:nvPr/>
        </p:nvSpPr>
        <p:spPr>
          <a:xfrm>
            <a:off x="7845552" y="2359152"/>
            <a:ext cx="2743200" cy="201168"/>
          </a:xfrm>
          <a:prstGeom prst="rect">
            <a:avLst/>
          </a:prstGeom>
          <a:noFill/>
          <a:ln/>
        </p:spPr>
        <p:txBody>
          <a:bodyPr wrap="square" lIns="0" tIns="0" rIns="0" bIns="0" rtlCol="0" anchor="t"/>
          <a:lstStyle/>
          <a:p>
            <a:pPr algn="l" indent="0" marL="0">
              <a:buNone/>
            </a:pPr>
            <a:r>
              <a:rPr lang="en-US" sz="920" b="1" spc="110" kern="0" dirty="0">
                <a:solidFill>
                  <a:srgbClr val="E0BC5A"/>
                </a:solidFill>
                <a:latin typeface="Aptos" pitchFamily="34" charset="0"/>
                <a:ea typeface="Aptos" pitchFamily="34" charset="-122"/>
                <a:cs typeface="Aptos" pitchFamily="34" charset="-120"/>
              </a:rPr>
              <a:t>QUÉ NO PUEDE AFIRMAR</a:t>
            </a:r>
            <a:endParaRPr lang="en-US" sz="920" dirty="0"/>
          </a:p>
        </p:txBody>
      </p:sp>
      <p:sp>
        <p:nvSpPr>
          <p:cNvPr id="15" name="Shape 12"/>
          <p:cNvSpPr/>
          <p:nvPr/>
        </p:nvSpPr>
        <p:spPr>
          <a:xfrm>
            <a:off x="658368" y="2688336"/>
            <a:ext cx="10874959" cy="731520"/>
          </a:xfrm>
          <a:prstGeom prst="rect">
            <a:avLst/>
          </a:prstGeom>
          <a:solidFill>
            <a:srgbClr val="EDE6DA"/>
          </a:solidFill>
          <a:ln w="12700">
            <a:solidFill>
              <a:srgbClr val="EDE6DA"/>
            </a:solidFill>
            <a:prstDash val="solid"/>
          </a:ln>
        </p:spPr>
      </p:sp>
      <p:sp>
        <p:nvSpPr>
          <p:cNvPr id="16" name="Shape 13"/>
          <p:cNvSpPr/>
          <p:nvPr/>
        </p:nvSpPr>
        <p:spPr>
          <a:xfrm>
            <a:off x="658368" y="2688336"/>
            <a:ext cx="54864" cy="731520"/>
          </a:xfrm>
          <a:prstGeom prst="rect">
            <a:avLst/>
          </a:prstGeom>
          <a:solidFill>
            <a:srgbClr val="102A43"/>
          </a:solidFill>
          <a:ln w="12700">
            <a:solidFill>
              <a:srgbClr val="102A43"/>
            </a:solidFill>
            <a:prstDash val="solid"/>
          </a:ln>
        </p:spPr>
      </p:sp>
      <p:sp>
        <p:nvSpPr>
          <p:cNvPr id="17" name="Text 14"/>
          <p:cNvSpPr txBox="1"/>
          <p:nvPr/>
        </p:nvSpPr>
        <p:spPr>
          <a:xfrm>
            <a:off x="896112" y="2816352"/>
            <a:ext cx="2651760" cy="512064"/>
          </a:xfrm>
          <a:prstGeom prst="rect">
            <a:avLst/>
          </a:prstGeom>
          <a:noFill/>
          <a:ln/>
        </p:spPr>
        <p:txBody>
          <a:bodyPr wrap="square" lIns="0" tIns="0" rIns="0" bIns="0" rtlCol="0" anchor="t"/>
          <a:lstStyle/>
          <a:p>
            <a:pPr algn="l" indent="0" marL="0">
              <a:lnSpc>
                <a:spcPct val="110000"/>
              </a:lnSpc>
              <a:buNone/>
            </a:pPr>
            <a:r>
              <a:rPr lang="en-US" sz="1220" b="1" dirty="0">
                <a:solidFill>
                  <a:srgbClr val="102A43"/>
                </a:solidFill>
                <a:latin typeface="Aptos" pitchFamily="34" charset="0"/>
                <a:ea typeface="Aptos" pitchFamily="34" charset="-122"/>
                <a:cs typeface="Aptos" pitchFamily="34" charset="-120"/>
              </a:rPr>
              <a:t>Unitario</a:t>
            </a:r>
            <a:endParaRPr lang="en-US" sz="1220" dirty="0"/>
          </a:p>
        </p:txBody>
      </p:sp>
      <p:sp>
        <p:nvSpPr>
          <p:cNvPr id="18" name="Text 15"/>
          <p:cNvSpPr txBox="1"/>
          <p:nvPr/>
        </p:nvSpPr>
        <p:spPr>
          <a:xfrm>
            <a:off x="3913632" y="2816352"/>
            <a:ext cx="3749040" cy="512064"/>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Que una función decide lo correcto, aislada del resto</a:t>
            </a:r>
            <a:endParaRPr lang="en-US" sz="1140" dirty="0"/>
          </a:p>
        </p:txBody>
      </p:sp>
      <p:sp>
        <p:nvSpPr>
          <p:cNvPr id="19" name="Text 16"/>
          <p:cNvSpPr txBox="1"/>
          <p:nvPr/>
        </p:nvSpPr>
        <p:spPr>
          <a:xfrm>
            <a:off x="7845552" y="2816352"/>
            <a:ext cx="3474720" cy="512064"/>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Que alguien la llame, ni que la llamen bien</a:t>
            </a:r>
            <a:endParaRPr lang="en-US" sz="1140" dirty="0"/>
          </a:p>
        </p:txBody>
      </p:sp>
      <p:sp>
        <p:nvSpPr>
          <p:cNvPr id="20" name="Shape 17"/>
          <p:cNvSpPr/>
          <p:nvPr/>
        </p:nvSpPr>
        <p:spPr>
          <a:xfrm>
            <a:off x="658368" y="3493008"/>
            <a:ext cx="10874959" cy="731520"/>
          </a:xfrm>
          <a:prstGeom prst="rect">
            <a:avLst/>
          </a:prstGeom>
          <a:solidFill>
            <a:srgbClr val="F8F3EC"/>
          </a:solidFill>
          <a:ln w="12700">
            <a:solidFill>
              <a:srgbClr val="F8F3EC"/>
            </a:solidFill>
            <a:prstDash val="solid"/>
          </a:ln>
        </p:spPr>
      </p:sp>
      <p:sp>
        <p:nvSpPr>
          <p:cNvPr id="21" name="Shape 18"/>
          <p:cNvSpPr/>
          <p:nvPr/>
        </p:nvSpPr>
        <p:spPr>
          <a:xfrm>
            <a:off x="658368" y="3493008"/>
            <a:ext cx="54864" cy="731520"/>
          </a:xfrm>
          <a:prstGeom prst="rect">
            <a:avLst/>
          </a:prstGeom>
          <a:solidFill>
            <a:srgbClr val="2E7D4F"/>
          </a:solidFill>
          <a:ln w="12700">
            <a:solidFill>
              <a:srgbClr val="2E7D4F"/>
            </a:solidFill>
            <a:prstDash val="solid"/>
          </a:ln>
        </p:spPr>
      </p:sp>
      <p:sp>
        <p:nvSpPr>
          <p:cNvPr id="22" name="Text 19"/>
          <p:cNvSpPr txBox="1"/>
          <p:nvPr/>
        </p:nvSpPr>
        <p:spPr>
          <a:xfrm>
            <a:off x="896112" y="3621024"/>
            <a:ext cx="2651760" cy="512064"/>
          </a:xfrm>
          <a:prstGeom prst="rect">
            <a:avLst/>
          </a:prstGeom>
          <a:noFill/>
          <a:ln/>
        </p:spPr>
        <p:txBody>
          <a:bodyPr wrap="square" lIns="0" tIns="0" rIns="0" bIns="0" rtlCol="0" anchor="t"/>
          <a:lstStyle/>
          <a:p>
            <a:pPr algn="l" indent="0" marL="0">
              <a:lnSpc>
                <a:spcPct val="110000"/>
              </a:lnSpc>
              <a:buNone/>
            </a:pPr>
            <a:r>
              <a:rPr lang="en-US" sz="1220" b="1" dirty="0">
                <a:solidFill>
                  <a:srgbClr val="2E7D4F"/>
                </a:solidFill>
                <a:latin typeface="Aptos" pitchFamily="34" charset="0"/>
                <a:ea typeface="Aptos" pitchFamily="34" charset="-122"/>
                <a:cs typeface="Aptos" pitchFamily="34" charset="-120"/>
              </a:rPr>
              <a:t>Integración con la dependencia real</a:t>
            </a:r>
            <a:endParaRPr lang="en-US" sz="1220" dirty="0"/>
          </a:p>
        </p:txBody>
      </p:sp>
      <p:sp>
        <p:nvSpPr>
          <p:cNvPr id="23" name="Text 20"/>
          <p:cNvSpPr txBox="1"/>
          <p:nvPr/>
        </p:nvSpPr>
        <p:spPr>
          <a:xfrm>
            <a:off x="3913632" y="3621024"/>
            <a:ext cx="3749040" cy="512064"/>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Que dos piezas se entienden: el dato, el contrato, la consulta que sale de verdad</a:t>
            </a:r>
            <a:endParaRPr lang="en-US" sz="1140" dirty="0"/>
          </a:p>
        </p:txBody>
      </p:sp>
      <p:sp>
        <p:nvSpPr>
          <p:cNvPr id="24" name="Text 21"/>
          <p:cNvSpPr txBox="1"/>
          <p:nvPr/>
        </p:nvSpPr>
        <p:spPr>
          <a:xfrm>
            <a:off x="7845552" y="3621024"/>
            <a:ext cx="3474720" cy="512064"/>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Que el sistema sirva para lo que fue construido</a:t>
            </a:r>
            <a:endParaRPr lang="en-US" sz="1140" dirty="0"/>
          </a:p>
        </p:txBody>
      </p:sp>
      <p:sp>
        <p:nvSpPr>
          <p:cNvPr id="25" name="Shape 22"/>
          <p:cNvSpPr/>
          <p:nvPr/>
        </p:nvSpPr>
        <p:spPr>
          <a:xfrm>
            <a:off x="658368" y="4297680"/>
            <a:ext cx="10874959" cy="731520"/>
          </a:xfrm>
          <a:prstGeom prst="rect">
            <a:avLst/>
          </a:prstGeom>
          <a:solidFill>
            <a:srgbClr val="EDE6DA"/>
          </a:solidFill>
          <a:ln w="12700">
            <a:solidFill>
              <a:srgbClr val="EDE6DA"/>
            </a:solidFill>
            <a:prstDash val="solid"/>
          </a:ln>
        </p:spPr>
      </p:sp>
      <p:sp>
        <p:nvSpPr>
          <p:cNvPr id="26" name="Shape 23"/>
          <p:cNvSpPr/>
          <p:nvPr/>
        </p:nvSpPr>
        <p:spPr>
          <a:xfrm>
            <a:off x="658368" y="4297680"/>
            <a:ext cx="54864" cy="731520"/>
          </a:xfrm>
          <a:prstGeom prst="rect">
            <a:avLst/>
          </a:prstGeom>
          <a:solidFill>
            <a:srgbClr val="8A6A12"/>
          </a:solidFill>
          <a:ln w="12700">
            <a:solidFill>
              <a:srgbClr val="8A6A12"/>
            </a:solidFill>
            <a:prstDash val="solid"/>
          </a:ln>
        </p:spPr>
      </p:sp>
      <p:sp>
        <p:nvSpPr>
          <p:cNvPr id="27" name="Text 24"/>
          <p:cNvSpPr txBox="1"/>
          <p:nvPr/>
        </p:nvSpPr>
        <p:spPr>
          <a:xfrm>
            <a:off x="896112" y="4425696"/>
            <a:ext cx="2651760" cy="512064"/>
          </a:xfrm>
          <a:prstGeom prst="rect">
            <a:avLst/>
          </a:prstGeom>
          <a:noFill/>
          <a:ln/>
        </p:spPr>
        <p:txBody>
          <a:bodyPr wrap="square" lIns="0" tIns="0" rIns="0" bIns="0" rtlCol="0" anchor="t"/>
          <a:lstStyle/>
          <a:p>
            <a:pPr algn="l" indent="0" marL="0">
              <a:lnSpc>
                <a:spcPct val="110000"/>
              </a:lnSpc>
              <a:buNone/>
            </a:pPr>
            <a:r>
              <a:rPr lang="en-US" sz="1220" b="1" dirty="0">
                <a:solidFill>
                  <a:srgbClr val="8A6A12"/>
                </a:solidFill>
                <a:latin typeface="Aptos" pitchFamily="34" charset="0"/>
                <a:ea typeface="Aptos" pitchFamily="34" charset="-122"/>
                <a:cs typeface="Aptos" pitchFamily="34" charset="-120"/>
              </a:rPr>
              <a:t>Integración con la dependencia sustituida</a:t>
            </a:r>
            <a:endParaRPr lang="en-US" sz="1220" dirty="0"/>
          </a:p>
        </p:txBody>
      </p:sp>
      <p:sp>
        <p:nvSpPr>
          <p:cNvPr id="28" name="Text 25"/>
          <p:cNvSpPr txBox="1"/>
          <p:nvPr/>
        </p:nvSpPr>
        <p:spPr>
          <a:xfrm>
            <a:off x="3913632" y="4425696"/>
            <a:ext cx="3749040" cy="512064"/>
          </a:xfrm>
          <a:prstGeom prst="rect">
            <a:avLst/>
          </a:prstGeom>
          <a:noFill/>
          <a:ln/>
        </p:spPr>
        <p:txBody>
          <a:bodyPr wrap="square" lIns="0" tIns="0" rIns="0" bIns="0" rtlCol="0" anchor="t"/>
          <a:lstStyle/>
          <a:p>
            <a:pPr algn="l" indent="0" marL="0">
              <a:lnSpc>
                <a:spcPct val="112000"/>
              </a:lnSpc>
              <a:buNone/>
            </a:pPr>
            <a:r>
              <a:rPr lang="en-US" sz="1140" dirty="0">
                <a:solidFill>
                  <a:srgbClr val="243B53"/>
                </a:solidFill>
                <a:latin typeface="Aptos" pitchFamily="34" charset="0"/>
                <a:ea typeface="Aptos" pitchFamily="34" charset="-122"/>
                <a:cs typeface="Aptos" pitchFamily="34" charset="-120"/>
              </a:rPr>
              <a:t>Que la pieza propia hace las llamadas que se espera que haga</a:t>
            </a:r>
            <a:endParaRPr lang="en-US" sz="1140" dirty="0"/>
          </a:p>
        </p:txBody>
      </p:sp>
      <p:sp>
        <p:nvSpPr>
          <p:cNvPr id="29" name="Text 26"/>
          <p:cNvSpPr txBox="1"/>
          <p:nvPr/>
        </p:nvSpPr>
        <p:spPr>
          <a:xfrm>
            <a:off x="7845552" y="4425696"/>
            <a:ext cx="3474720" cy="512064"/>
          </a:xfrm>
          <a:prstGeom prst="rect">
            <a:avLst/>
          </a:prstGeom>
          <a:noFill/>
          <a:ln/>
        </p:spPr>
        <p:txBody>
          <a:bodyPr wrap="square" lIns="0" tIns="0" rIns="0" bIns="0" rtlCol="0" anchor="t"/>
          <a:lstStyle/>
          <a:p>
            <a:pPr algn="l" indent="0" marL="0">
              <a:lnSpc>
                <a:spcPct val="112000"/>
              </a:lnSpc>
              <a:buNone/>
            </a:pPr>
            <a:r>
              <a:rPr lang="en-US" sz="1140" dirty="0">
                <a:solidFill>
                  <a:srgbClr val="52606D"/>
                </a:solidFill>
                <a:latin typeface="Aptos" pitchFamily="34" charset="0"/>
                <a:ea typeface="Aptos" pitchFamily="34" charset="-122"/>
                <a:cs typeface="Aptos" pitchFamily="34" charset="-120"/>
              </a:rPr>
              <a:t>Nada sobre la dependencia sustituida ni sobre el acuerdo con ella</a:t>
            </a:r>
            <a:endParaRPr lang="en-US" sz="1140" dirty="0"/>
          </a:p>
        </p:txBody>
      </p:sp>
      <p:sp>
        <p:nvSpPr>
          <p:cNvPr id="30" name="Shape 27"/>
          <p:cNvSpPr/>
          <p:nvPr/>
        </p:nvSpPr>
        <p:spPr>
          <a:xfrm>
            <a:off x="658368" y="5102352"/>
            <a:ext cx="10874959" cy="402336"/>
          </a:xfrm>
          <a:prstGeom prst="rect">
            <a:avLst/>
          </a:prstGeom>
          <a:solidFill>
            <a:srgbClr val="F2E7D9"/>
          </a:solidFill>
          <a:ln w="12700">
            <a:solidFill>
              <a:srgbClr val="F2E7D9"/>
            </a:solidFill>
            <a:prstDash val="solid"/>
          </a:ln>
        </p:spPr>
      </p:sp>
      <p:sp>
        <p:nvSpPr>
          <p:cNvPr id="31" name="Text 28"/>
          <p:cNvSpPr txBox="1"/>
          <p:nvPr/>
        </p:nvSpPr>
        <p:spPr>
          <a:xfrm>
            <a:off x="950976" y="5175504"/>
            <a:ext cx="10289743" cy="274320"/>
          </a:xfrm>
          <a:prstGeom prst="rect">
            <a:avLst/>
          </a:prstGeom>
          <a:noFill/>
          <a:ln/>
        </p:spPr>
        <p:txBody>
          <a:bodyPr wrap="square" lIns="0" tIns="0" rIns="0" bIns="0" rtlCol="0" anchor="ctr"/>
          <a:lstStyle/>
          <a:p>
            <a:pPr algn="l" indent="0" marL="0">
              <a:buNone/>
            </a:pPr>
            <a:r>
              <a:rPr lang="en-US" sz="1200" dirty="0">
                <a:solidFill>
                  <a:srgbClr val="243B53"/>
                </a:solidFill>
                <a:latin typeface="Aptos" pitchFamily="34" charset="0"/>
                <a:ea typeface="Aptos" pitchFamily="34" charset="-122"/>
                <a:cs typeface="Aptos" pitchFamily="34" charset="-120"/>
              </a:rPr>
              <a:t>La tercera fila es la que más se malinterpreta: es un nivel legítimo, siempre que quien lo escribe sepa que comprueba sus propias llamadas y no la colaboración.</a:t>
            </a:r>
            <a:endParaRPr lang="en-US" sz="1200" dirty="0"/>
          </a:p>
        </p:txBody>
      </p:sp>
      <p:sp>
        <p:nvSpPr>
          <p:cNvPr id="32" name="Shape 29"/>
          <p:cNvSpPr/>
          <p:nvPr/>
        </p:nvSpPr>
        <p:spPr>
          <a:xfrm>
            <a:off x="658368" y="5650992"/>
            <a:ext cx="10874959" cy="548640"/>
          </a:xfrm>
          <a:prstGeom prst="rect">
            <a:avLst/>
          </a:prstGeom>
          <a:solidFill>
            <a:srgbClr val="102A43"/>
          </a:solidFill>
          <a:ln w="12700">
            <a:solidFill>
              <a:srgbClr val="102A43"/>
            </a:solidFill>
            <a:prstDash val="solid"/>
          </a:ln>
        </p:spPr>
      </p:sp>
      <p:sp>
        <p:nvSpPr>
          <p:cNvPr id="33" name="Text 30"/>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FFFFFF"/>
                </a:solidFill>
                <a:latin typeface="Aptos" pitchFamily="34" charset="0"/>
                <a:ea typeface="Aptos" pitchFamily="34" charset="-122"/>
                <a:cs typeface="Aptos" pitchFamily="34" charset="-120"/>
              </a:rPr>
              <a:t>Cada nivel existe porque encuentra una clase de defecto que los otros no encuentran.</a:t>
            </a:r>
            <a:endParaRPr lang="en-US" sz="13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E0BC5A"/>
          </a:solidFill>
          <a:ln w="12700">
            <a:solidFill>
              <a:srgbClr val="E0BC5A"/>
            </a:solidFill>
            <a:prstDash val="solid"/>
          </a:ln>
        </p:spPr>
      </p:sp>
      <p:sp>
        <p:nvSpPr>
          <p:cNvPr id="4" name="Shape 2"/>
          <p:cNvSpPr/>
          <p:nvPr/>
        </p:nvSpPr>
        <p:spPr>
          <a:xfrm>
            <a:off x="1243584" y="0"/>
            <a:ext cx="256032" cy="109728"/>
          </a:xfrm>
          <a:prstGeom prst="rect">
            <a:avLst/>
          </a:prstGeom>
          <a:solidFill>
            <a:srgbClr val="FFFFFF"/>
          </a:solidFill>
          <a:ln w="12700">
            <a:solidFill>
              <a:srgbClr val="FFFFFF"/>
            </a:solidFill>
            <a:prstDash val="solid"/>
          </a:ln>
        </p:spPr>
      </p:sp>
      <p:pic>
        <p:nvPicPr>
          <p:cNvPr id="5" name="Image 0" descr="C:\Users\Diego Obando\dev\pro402-taller-de-testing-2026\clases\semana-04\03\ppt\source\assets\logo-aiep-dark.png">    </p:cNvPr>
          <p:cNvPicPr>
            <a:picLocks noChangeAspect="1"/>
          </p:cNvPicPr>
          <p:nvPr/>
        </p:nvPicPr>
        <p:blipFill>
          <a:blip r:embed="rId1"/>
          <a:stretch>
            <a:fillRect/>
          </a:stretch>
        </p:blipFill>
        <p:spPr>
          <a:xfrm>
            <a:off x="10222992" y="307150"/>
            <a:ext cx="1335024" cy="464691"/>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EADFD0"/>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EADFD0"/>
                </a:solidFill>
                <a:latin typeface="Aptos Display" pitchFamily="34" charset="0"/>
                <a:ea typeface="Aptos Display" pitchFamily="34" charset="-122"/>
                <a:cs typeface="Aptos Display" pitchFamily="34" charset="-120"/>
              </a:rPr>
              <a:t>49</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E0BC5A"/>
                </a:solidFill>
                <a:latin typeface="Aptos" pitchFamily="34" charset="0"/>
                <a:ea typeface="Aptos" pitchFamily="34" charset="-122"/>
                <a:cs typeface="Aptos" pitchFamily="34" charset="-120"/>
              </a:rPr>
              <a:t>CIERRE · LA EVIDENCIA ACUMULADA</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FFFFFF"/>
                </a:solidFill>
                <a:latin typeface="Aptos Display" pitchFamily="34" charset="0"/>
                <a:ea typeface="Aptos Display" pitchFamily="34" charset="-122"/>
                <a:cs typeface="Aptos Display" pitchFamily="34" charset="-120"/>
              </a:rPr>
              <a:t>Lo que hoy se puede afirmar y mostrar</a:t>
            </a:r>
            <a:endParaRPr lang="en-US" sz="3000" dirty="0"/>
          </a:p>
        </p:txBody>
      </p:sp>
      <p:sp>
        <p:nvSpPr>
          <p:cNvPr id="10" name="Text 7"/>
          <p:cNvSpPr txBox="1"/>
          <p:nvPr/>
        </p:nvSpPr>
        <p:spPr>
          <a:xfrm>
            <a:off x="658368" y="1664208"/>
            <a:ext cx="10241280" cy="365760"/>
          </a:xfrm>
          <a:prstGeom prst="rect">
            <a:avLst/>
          </a:prstGeom>
          <a:noFill/>
          <a:ln/>
        </p:spPr>
        <p:txBody>
          <a:bodyPr wrap="square" lIns="0" tIns="0" rIns="0" bIns="0" rtlCol="0" anchor="t"/>
          <a:lstStyle/>
          <a:p>
            <a:pPr algn="l" indent="0" marL="0">
              <a:lnSpc>
                <a:spcPct val="114000"/>
              </a:lnSpc>
              <a:buNone/>
            </a:pPr>
            <a:r>
              <a:rPr lang="en-US" sz="1420" dirty="0">
                <a:solidFill>
                  <a:srgbClr val="E6EEF7"/>
                </a:solidFill>
                <a:latin typeface="Aptos" pitchFamily="34" charset="0"/>
                <a:ea typeface="Aptos" pitchFamily="34" charset="-122"/>
                <a:cs typeface="Aptos" pitchFamily="34" charset="-120"/>
              </a:rPr>
              <a:t>Tres afirmaciones, y cada una con la ejecución que la respalda.</a:t>
            </a:r>
            <a:endParaRPr lang="en-US" sz="1420" dirty="0"/>
          </a:p>
        </p:txBody>
      </p:sp>
      <p:sp>
        <p:nvSpPr>
          <p:cNvPr id="11" name="Shape 8"/>
          <p:cNvSpPr/>
          <p:nvPr/>
        </p:nvSpPr>
        <p:spPr>
          <a:xfrm>
            <a:off x="658368" y="2286000"/>
            <a:ext cx="10874959" cy="658368"/>
          </a:xfrm>
          <a:prstGeom prst="rect">
            <a:avLst/>
          </a:prstGeom>
          <a:solidFill>
            <a:srgbClr val="1D3A57"/>
          </a:solidFill>
          <a:ln w="12700">
            <a:solidFill>
              <a:srgbClr val="1D3A57"/>
            </a:solidFill>
            <a:prstDash val="solid"/>
          </a:ln>
        </p:spPr>
      </p:sp>
      <p:sp>
        <p:nvSpPr>
          <p:cNvPr id="12" name="Shape 9"/>
          <p:cNvSpPr/>
          <p:nvPr/>
        </p:nvSpPr>
        <p:spPr>
          <a:xfrm>
            <a:off x="658368" y="2286000"/>
            <a:ext cx="54864" cy="658368"/>
          </a:xfrm>
          <a:prstGeom prst="rect">
            <a:avLst/>
          </a:prstGeom>
          <a:solidFill>
            <a:srgbClr val="E0BC5A"/>
          </a:solidFill>
          <a:ln w="12700">
            <a:solidFill>
              <a:srgbClr val="E0BC5A"/>
            </a:solidFill>
            <a:prstDash val="solid"/>
          </a:ln>
        </p:spPr>
      </p:sp>
      <p:sp>
        <p:nvSpPr>
          <p:cNvPr id="13" name="Text 10"/>
          <p:cNvSpPr txBox="1"/>
          <p:nvPr/>
        </p:nvSpPr>
        <p:spPr>
          <a:xfrm>
            <a:off x="950976" y="2386584"/>
            <a:ext cx="5120640" cy="457200"/>
          </a:xfrm>
          <a:prstGeom prst="rect">
            <a:avLst/>
          </a:prstGeom>
          <a:noFill/>
          <a:ln/>
        </p:spPr>
        <p:txBody>
          <a:bodyPr wrap="square" lIns="0" tIns="0" rIns="0" bIns="0" rtlCol="0" anchor="ctr"/>
          <a:lstStyle/>
          <a:p>
            <a:pPr algn="l" indent="0" marL="0">
              <a:buNone/>
            </a:pPr>
            <a:r>
              <a:rPr lang="en-US" sz="1360" b="1" dirty="0">
                <a:solidFill>
                  <a:srgbClr val="FFFFFF"/>
                </a:solidFill>
                <a:latin typeface="Aptos" pitchFamily="34" charset="0"/>
                <a:ea typeface="Aptos" pitchFamily="34" charset="-122"/>
                <a:cs typeface="Aptos" pitchFamily="34" charset="-120"/>
              </a:rPr>
              <a:t>Estas piezas se entienden entre sí</a:t>
            </a:r>
            <a:endParaRPr lang="en-US" sz="1360" dirty="0"/>
          </a:p>
        </p:txBody>
      </p:sp>
      <p:sp>
        <p:nvSpPr>
          <p:cNvPr id="14" name="Text 11"/>
          <p:cNvSpPr txBox="1"/>
          <p:nvPr/>
        </p:nvSpPr>
        <p:spPr>
          <a:xfrm>
            <a:off x="6236208" y="2386584"/>
            <a:ext cx="5029200" cy="457200"/>
          </a:xfrm>
          <a:prstGeom prst="rect">
            <a:avLst/>
          </a:prstGeom>
          <a:noFill/>
          <a:ln/>
        </p:spPr>
        <p:txBody>
          <a:bodyPr wrap="square" lIns="0" tIns="0" rIns="0" bIns="0" rtlCol="0" anchor="ctr"/>
          <a:lstStyle/>
          <a:p>
            <a:pPr algn="l" indent="0" marL="0">
              <a:buNone/>
            </a:pPr>
            <a:r>
              <a:rPr lang="en-US" sz="1200" i="1" dirty="0">
                <a:solidFill>
                  <a:srgbClr val="E6EEF7"/>
                </a:solidFill>
                <a:latin typeface="Aptos" pitchFamily="34" charset="0"/>
                <a:ea typeface="Aptos" pitchFamily="34" charset="-122"/>
                <a:cs typeface="Aptos" pitchFamily="34" charset="-120"/>
              </a:rPr>
              <a:t>y puedo mostrar el contrato contra el que lo comprobé</a:t>
            </a:r>
            <a:endParaRPr lang="en-US" sz="1200" dirty="0"/>
          </a:p>
        </p:txBody>
      </p:sp>
      <p:sp>
        <p:nvSpPr>
          <p:cNvPr id="15" name="Shape 12"/>
          <p:cNvSpPr/>
          <p:nvPr/>
        </p:nvSpPr>
        <p:spPr>
          <a:xfrm>
            <a:off x="658368" y="3054096"/>
            <a:ext cx="10874959" cy="658368"/>
          </a:xfrm>
          <a:prstGeom prst="rect">
            <a:avLst/>
          </a:prstGeom>
          <a:solidFill>
            <a:srgbClr val="102A43"/>
          </a:solidFill>
          <a:ln w="12700">
            <a:solidFill>
              <a:srgbClr val="102A43"/>
            </a:solidFill>
            <a:prstDash val="solid"/>
          </a:ln>
        </p:spPr>
      </p:sp>
      <p:sp>
        <p:nvSpPr>
          <p:cNvPr id="16" name="Shape 13"/>
          <p:cNvSpPr/>
          <p:nvPr/>
        </p:nvSpPr>
        <p:spPr>
          <a:xfrm>
            <a:off x="658368" y="3054096"/>
            <a:ext cx="54864" cy="658368"/>
          </a:xfrm>
          <a:prstGeom prst="rect">
            <a:avLst/>
          </a:prstGeom>
          <a:solidFill>
            <a:srgbClr val="E0BC5A"/>
          </a:solidFill>
          <a:ln w="12700">
            <a:solidFill>
              <a:srgbClr val="E0BC5A"/>
            </a:solidFill>
            <a:prstDash val="solid"/>
          </a:ln>
        </p:spPr>
      </p:sp>
      <p:sp>
        <p:nvSpPr>
          <p:cNvPr id="17" name="Text 14"/>
          <p:cNvSpPr txBox="1"/>
          <p:nvPr/>
        </p:nvSpPr>
        <p:spPr>
          <a:xfrm>
            <a:off x="950976" y="3154680"/>
            <a:ext cx="5120640" cy="457200"/>
          </a:xfrm>
          <a:prstGeom prst="rect">
            <a:avLst/>
          </a:prstGeom>
          <a:noFill/>
          <a:ln/>
        </p:spPr>
        <p:txBody>
          <a:bodyPr wrap="square" lIns="0" tIns="0" rIns="0" bIns="0" rtlCol="0" anchor="ctr"/>
          <a:lstStyle/>
          <a:p>
            <a:pPr algn="l" indent="0" marL="0">
              <a:buNone/>
            </a:pPr>
            <a:r>
              <a:rPr lang="en-US" sz="1360" b="1" dirty="0">
                <a:solidFill>
                  <a:srgbClr val="FFFFFF"/>
                </a:solidFill>
                <a:latin typeface="Aptos" pitchFamily="34" charset="0"/>
                <a:ea typeface="Aptos" pitchFamily="34" charset="-122"/>
                <a:cs typeface="Aptos" pitchFamily="34" charset="-120"/>
              </a:rPr>
              <a:t>Cada prueba prepara el estado que necesita</a:t>
            </a:r>
            <a:endParaRPr lang="en-US" sz="1360" dirty="0"/>
          </a:p>
        </p:txBody>
      </p:sp>
      <p:sp>
        <p:nvSpPr>
          <p:cNvPr id="18" name="Text 15"/>
          <p:cNvSpPr txBox="1"/>
          <p:nvPr/>
        </p:nvSpPr>
        <p:spPr>
          <a:xfrm>
            <a:off x="6236208" y="3154680"/>
            <a:ext cx="5029200" cy="457200"/>
          </a:xfrm>
          <a:prstGeom prst="rect">
            <a:avLst/>
          </a:prstGeom>
          <a:noFill/>
          <a:ln/>
        </p:spPr>
        <p:txBody>
          <a:bodyPr wrap="square" lIns="0" tIns="0" rIns="0" bIns="0" rtlCol="0" anchor="ctr"/>
          <a:lstStyle/>
          <a:p>
            <a:pPr algn="l" indent="0" marL="0">
              <a:buNone/>
            </a:pPr>
            <a:r>
              <a:rPr lang="en-US" sz="1200" i="1" dirty="0">
                <a:solidFill>
                  <a:srgbClr val="E6EEF7"/>
                </a:solidFill>
                <a:latin typeface="Aptos" pitchFamily="34" charset="0"/>
                <a:ea typeface="Aptos" pitchFamily="34" charset="-122"/>
                <a:cs typeface="Aptos" pitchFamily="34" charset="-120"/>
              </a:rPr>
              <a:t>y puedo mostrarlo ejecutándolas por separado</a:t>
            </a:r>
            <a:endParaRPr lang="en-US" sz="1200" dirty="0"/>
          </a:p>
        </p:txBody>
      </p:sp>
      <p:sp>
        <p:nvSpPr>
          <p:cNvPr id="19" name="Shape 16"/>
          <p:cNvSpPr/>
          <p:nvPr/>
        </p:nvSpPr>
        <p:spPr>
          <a:xfrm>
            <a:off x="658368" y="3822192"/>
            <a:ext cx="10874959" cy="658368"/>
          </a:xfrm>
          <a:prstGeom prst="rect">
            <a:avLst/>
          </a:prstGeom>
          <a:solidFill>
            <a:srgbClr val="1D3A57"/>
          </a:solidFill>
          <a:ln w="12700">
            <a:solidFill>
              <a:srgbClr val="1D3A57"/>
            </a:solidFill>
            <a:prstDash val="solid"/>
          </a:ln>
        </p:spPr>
      </p:sp>
      <p:sp>
        <p:nvSpPr>
          <p:cNvPr id="20" name="Shape 17"/>
          <p:cNvSpPr/>
          <p:nvPr/>
        </p:nvSpPr>
        <p:spPr>
          <a:xfrm>
            <a:off x="658368" y="3822192"/>
            <a:ext cx="54864" cy="658368"/>
          </a:xfrm>
          <a:prstGeom prst="rect">
            <a:avLst/>
          </a:prstGeom>
          <a:solidFill>
            <a:srgbClr val="E0BC5A"/>
          </a:solidFill>
          <a:ln w="12700">
            <a:solidFill>
              <a:srgbClr val="E0BC5A"/>
            </a:solidFill>
            <a:prstDash val="solid"/>
          </a:ln>
        </p:spPr>
      </p:sp>
      <p:sp>
        <p:nvSpPr>
          <p:cNvPr id="21" name="Text 18"/>
          <p:cNvSpPr txBox="1"/>
          <p:nvPr/>
        </p:nvSpPr>
        <p:spPr>
          <a:xfrm>
            <a:off x="950976" y="3922776"/>
            <a:ext cx="5120640" cy="457200"/>
          </a:xfrm>
          <a:prstGeom prst="rect">
            <a:avLst/>
          </a:prstGeom>
          <a:noFill/>
          <a:ln/>
        </p:spPr>
        <p:txBody>
          <a:bodyPr wrap="square" lIns="0" tIns="0" rIns="0" bIns="0" rtlCol="0" anchor="ctr"/>
          <a:lstStyle/>
          <a:p>
            <a:pPr algn="l" indent="0" marL="0">
              <a:buNone/>
            </a:pPr>
            <a:r>
              <a:rPr lang="en-US" sz="1360" b="1" dirty="0">
                <a:solidFill>
                  <a:srgbClr val="FFFFFF"/>
                </a:solidFill>
                <a:latin typeface="Aptos" pitchFamily="34" charset="0"/>
                <a:ea typeface="Aptos" pitchFamily="34" charset="-122"/>
                <a:cs typeface="Aptos" pitchFamily="34" charset="-120"/>
              </a:rPr>
              <a:t>Los datos que usé ya no existen</a:t>
            </a:r>
            <a:endParaRPr lang="en-US" sz="1360" dirty="0"/>
          </a:p>
        </p:txBody>
      </p:sp>
      <p:sp>
        <p:nvSpPr>
          <p:cNvPr id="22" name="Text 19"/>
          <p:cNvSpPr txBox="1"/>
          <p:nvPr/>
        </p:nvSpPr>
        <p:spPr>
          <a:xfrm>
            <a:off x="6236208" y="3922776"/>
            <a:ext cx="5029200" cy="457200"/>
          </a:xfrm>
          <a:prstGeom prst="rect">
            <a:avLst/>
          </a:prstGeom>
          <a:noFill/>
          <a:ln/>
        </p:spPr>
        <p:txBody>
          <a:bodyPr wrap="square" lIns="0" tIns="0" rIns="0" bIns="0" rtlCol="0" anchor="ctr"/>
          <a:lstStyle/>
          <a:p>
            <a:pPr algn="l" indent="0" marL="0">
              <a:buNone/>
            </a:pPr>
            <a:r>
              <a:rPr lang="en-US" sz="1200" i="1" dirty="0">
                <a:solidFill>
                  <a:srgbClr val="E6EEF7"/>
                </a:solidFill>
                <a:latin typeface="Aptos" pitchFamily="34" charset="0"/>
                <a:ea typeface="Aptos" pitchFamily="34" charset="-122"/>
                <a:cs typeface="Aptos" pitchFamily="34" charset="-120"/>
              </a:rPr>
              <a:t>y puedo mostrar la ejecución que lo verifica</a:t>
            </a:r>
            <a:endParaRPr lang="en-US" sz="1200" dirty="0"/>
          </a:p>
        </p:txBody>
      </p:sp>
      <p:sp>
        <p:nvSpPr>
          <p:cNvPr id="23" name="Shape 20"/>
          <p:cNvSpPr/>
          <p:nvPr/>
        </p:nvSpPr>
        <p:spPr>
          <a:xfrm>
            <a:off x="658368" y="4681728"/>
            <a:ext cx="10874959" cy="859536"/>
          </a:xfrm>
          <a:prstGeom prst="rect">
            <a:avLst/>
          </a:prstGeom>
          <a:solidFill>
            <a:srgbClr val="D62027"/>
          </a:solidFill>
          <a:ln w="12700">
            <a:solidFill>
              <a:srgbClr val="D62027"/>
            </a:solidFill>
            <a:prstDash val="solid"/>
          </a:ln>
        </p:spPr>
      </p:sp>
      <p:sp>
        <p:nvSpPr>
          <p:cNvPr id="24" name="Text 21"/>
          <p:cNvSpPr txBox="1"/>
          <p:nvPr/>
        </p:nvSpPr>
        <p:spPr>
          <a:xfrm>
            <a:off x="950976" y="4828032"/>
            <a:ext cx="4023360" cy="237744"/>
          </a:xfrm>
          <a:prstGeom prst="rect">
            <a:avLst/>
          </a:prstGeom>
          <a:noFill/>
          <a:ln/>
        </p:spPr>
        <p:txBody>
          <a:bodyPr wrap="square" lIns="0" tIns="0" rIns="0" bIns="0" rtlCol="0" anchor="t"/>
          <a:lstStyle/>
          <a:p>
            <a:pPr algn="l" indent="0" marL="0">
              <a:buNone/>
            </a:pPr>
            <a:r>
              <a:rPr lang="en-US" sz="1240" b="1" dirty="0">
                <a:solidFill>
                  <a:srgbClr val="FFFFFF"/>
                </a:solidFill>
                <a:latin typeface="Aptos" pitchFamily="34" charset="0"/>
                <a:ea typeface="Aptos" pitchFamily="34" charset="-122"/>
                <a:cs typeface="Aptos" pitchFamily="34" charset="-120"/>
              </a:rPr>
              <a:t>Lo que sigue sin poder afirmarse</a:t>
            </a:r>
            <a:endParaRPr lang="en-US" sz="1240" dirty="0"/>
          </a:p>
        </p:txBody>
      </p:sp>
      <p:sp>
        <p:nvSpPr>
          <p:cNvPr id="25" name="Text 22"/>
          <p:cNvSpPr txBox="1"/>
          <p:nvPr/>
        </p:nvSpPr>
        <p:spPr>
          <a:xfrm>
            <a:off x="950976" y="5102352"/>
            <a:ext cx="10289743" cy="274320"/>
          </a:xfrm>
          <a:prstGeom prst="rect">
            <a:avLst/>
          </a:prstGeom>
          <a:noFill/>
          <a:ln/>
        </p:spPr>
        <p:txBody>
          <a:bodyPr wrap="square" lIns="0" tIns="0" rIns="0" bIns="0" rtlCol="0" anchor="t"/>
          <a:lstStyle/>
          <a:p>
            <a:pPr algn="l" indent="0" marL="0">
              <a:buNone/>
            </a:pPr>
            <a:r>
              <a:rPr lang="en-US" sz="1220" dirty="0">
                <a:solidFill>
                  <a:srgbClr val="FFFFFF"/>
                </a:solidFill>
                <a:latin typeface="Aptos" pitchFamily="34" charset="0"/>
                <a:ea typeface="Aptos" pitchFamily="34" charset="-122"/>
                <a:cs typeface="Aptos" pitchFamily="34" charset="-120"/>
              </a:rPr>
              <a:t>Que el sistema sirva para lo que fue construido. Todo lo de hoy se comprobó enviando solicitudes desde un programa. Nadie abrió el sistema y lo usó.</a:t>
            </a:r>
            <a:endParaRPr lang="en-US" sz="1220" dirty="0"/>
          </a:p>
        </p:txBody>
      </p:sp>
      <p:sp>
        <p:nvSpPr>
          <p:cNvPr id="26" name="Shape 23"/>
          <p:cNvSpPr/>
          <p:nvPr/>
        </p:nvSpPr>
        <p:spPr>
          <a:xfrm>
            <a:off x="658368" y="5650992"/>
            <a:ext cx="10874959" cy="548640"/>
          </a:xfrm>
          <a:prstGeom prst="rect">
            <a:avLst/>
          </a:prstGeom>
          <a:solidFill>
            <a:srgbClr val="1D3A57"/>
          </a:solidFill>
          <a:ln w="12700">
            <a:solidFill>
              <a:srgbClr val="1D3A57"/>
            </a:solidFill>
            <a:prstDash val="solid"/>
          </a:ln>
        </p:spPr>
      </p:sp>
      <p:sp>
        <p:nvSpPr>
          <p:cNvPr id="27" name="Text 24"/>
          <p:cNvSpPr txBox="1"/>
          <p:nvPr/>
        </p:nvSpPr>
        <p:spPr>
          <a:xfrm>
            <a:off x="950976" y="5687568"/>
            <a:ext cx="10289743" cy="475488"/>
          </a:xfrm>
          <a:prstGeom prst="rect">
            <a:avLst/>
          </a:prstGeom>
          <a:noFill/>
          <a:ln/>
        </p:spPr>
        <p:txBody>
          <a:bodyPr wrap="square" lIns="0" tIns="0" rIns="0" bIns="0" rtlCol="0" anchor="ctr"/>
          <a:lstStyle/>
          <a:p>
            <a:pPr algn="ctr" indent="0" marL="0">
              <a:lnSpc>
                <a:spcPct val="110000"/>
              </a:lnSpc>
              <a:buNone/>
            </a:pPr>
            <a:r>
              <a:rPr lang="en-US" sz="1380" b="1" dirty="0">
                <a:solidFill>
                  <a:srgbClr val="E0BC5A"/>
                </a:solidFill>
                <a:latin typeface="Aptos" pitchFamily="34" charset="0"/>
                <a:ea typeface="Aptos" pitchFamily="34" charset="-122"/>
                <a:cs typeface="Aptos" pitchFamily="34" charset="-120"/>
              </a:rPr>
              <a:t>Ticket de salida: un defecto de contrato, una prueba ejecutada sola, un campo sin finalidad.</a:t>
            </a:r>
            <a:endParaRPr lang="en-US" sz="138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3EC"/>
        </a:solidFill>
      </p:bgPr>
    </p:bg>
    <p:spTree>
      <p:nvGrpSpPr>
        <p:cNvPr id="1" name=""/>
        <p:cNvGrpSpPr/>
        <p:nvPr/>
      </p:nvGrpSpPr>
      <p:grpSpPr>
        <a:xfrm>
          <a:off x="0" y="0"/>
          <a:ext cx="0" cy="0"/>
          <a:chOff x="0" y="0"/>
          <a:chExt cx="0" cy="0"/>
        </a:xfrm>
      </p:grpSpPr>
      <p:sp>
        <p:nvSpPr>
          <p:cNvPr id="2" name="Shape 0"/>
          <p:cNvSpPr/>
          <p:nvPr/>
        </p:nvSpPr>
        <p:spPr>
          <a:xfrm>
            <a:off x="0" y="0"/>
            <a:ext cx="658368" cy="109728"/>
          </a:xfrm>
          <a:prstGeom prst="rect">
            <a:avLst/>
          </a:prstGeom>
          <a:solidFill>
            <a:srgbClr val="D62027"/>
          </a:solidFill>
          <a:ln w="12700">
            <a:solidFill>
              <a:srgbClr val="D62027"/>
            </a:solidFill>
            <a:prstDash val="solid"/>
          </a:ln>
        </p:spPr>
      </p:sp>
      <p:sp>
        <p:nvSpPr>
          <p:cNvPr id="3" name="Shape 1"/>
          <p:cNvSpPr/>
          <p:nvPr/>
        </p:nvSpPr>
        <p:spPr>
          <a:xfrm>
            <a:off x="749808" y="0"/>
            <a:ext cx="402336" cy="109728"/>
          </a:xfrm>
          <a:prstGeom prst="rect">
            <a:avLst/>
          </a:prstGeom>
          <a:solidFill>
            <a:srgbClr val="102A43"/>
          </a:solidFill>
          <a:ln w="12700">
            <a:solidFill>
              <a:srgbClr val="102A43"/>
            </a:solidFill>
            <a:prstDash val="solid"/>
          </a:ln>
        </p:spPr>
      </p:sp>
      <p:sp>
        <p:nvSpPr>
          <p:cNvPr id="4" name="Shape 2"/>
          <p:cNvSpPr/>
          <p:nvPr/>
        </p:nvSpPr>
        <p:spPr>
          <a:xfrm>
            <a:off x="1243584" y="0"/>
            <a:ext cx="256032" cy="109728"/>
          </a:xfrm>
          <a:prstGeom prst="rect">
            <a:avLst/>
          </a:prstGeom>
          <a:solidFill>
            <a:srgbClr val="E0BC5A"/>
          </a:solidFill>
          <a:ln w="12700">
            <a:solidFill>
              <a:srgbClr val="E0BC5A"/>
            </a:solidFill>
            <a:prstDash val="solid"/>
          </a:ln>
        </p:spPr>
      </p:sp>
      <p:pic>
        <p:nvPicPr>
          <p:cNvPr id="5" name="Image 0" descr="C:\Users\Diego Obando\dev\pro402-taller-de-testing-2026\clases\semana-04\03\ppt\source\assets\logo-aiep.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222992" y="306941"/>
            <a:ext cx="1335024" cy="465110"/>
          </a:xfrm>
          <a:prstGeom prst="rect">
            <a:avLst/>
          </a:prstGeom>
        </p:spPr>
      </p:pic>
      <p:sp>
        <p:nvSpPr>
          <p:cNvPr id="6" name="Text 3"/>
          <p:cNvSpPr txBox="1"/>
          <p:nvPr/>
        </p:nvSpPr>
        <p:spPr>
          <a:xfrm>
            <a:off x="658368" y="6492240"/>
            <a:ext cx="5669280" cy="164592"/>
          </a:xfrm>
          <a:prstGeom prst="rect">
            <a:avLst/>
          </a:prstGeom>
          <a:noFill/>
          <a:ln/>
        </p:spPr>
        <p:txBody>
          <a:bodyPr wrap="square" lIns="0" tIns="0" rIns="0" bIns="0" rtlCol="0" anchor="t"/>
          <a:lstStyle/>
          <a:p>
            <a:pPr algn="l" indent="0" marL="0">
              <a:buNone/>
            </a:pPr>
            <a:r>
              <a:rPr lang="en-US" sz="950" b="1" spc="55" kern="0" dirty="0">
                <a:solidFill>
                  <a:srgbClr val="52606D"/>
                </a:solidFill>
                <a:latin typeface="Aptos" pitchFamily="34" charset="0"/>
                <a:ea typeface="Aptos" pitchFamily="34" charset="-122"/>
                <a:cs typeface="Aptos" pitchFamily="34" charset="-120"/>
              </a:rPr>
              <a:t>PRO402 · Taller de Testing y Calidad de Software</a:t>
            </a:r>
            <a:endParaRPr lang="en-US" sz="950" dirty="0"/>
          </a:p>
        </p:txBody>
      </p:sp>
      <p:sp>
        <p:nvSpPr>
          <p:cNvPr id="7" name="Text 4"/>
          <p:cNvSpPr txBox="1"/>
          <p:nvPr/>
        </p:nvSpPr>
        <p:spPr>
          <a:xfrm>
            <a:off x="10716768" y="6419088"/>
            <a:ext cx="822960" cy="256032"/>
          </a:xfrm>
          <a:prstGeom prst="rect">
            <a:avLst/>
          </a:prstGeom>
          <a:noFill/>
          <a:ln/>
        </p:spPr>
        <p:txBody>
          <a:bodyPr wrap="square" lIns="0" tIns="0" rIns="0" bIns="0" rtlCol="0" anchor="t"/>
          <a:lstStyle/>
          <a:p>
            <a:pPr algn="r" indent="0" marL="0">
              <a:buNone/>
            </a:pPr>
            <a:r>
              <a:rPr lang="en-US" sz="1400" b="1" dirty="0">
                <a:solidFill>
                  <a:srgbClr val="243B53"/>
                </a:solidFill>
                <a:latin typeface="Aptos Display" pitchFamily="34" charset="0"/>
                <a:ea typeface="Aptos Display" pitchFamily="34" charset="-122"/>
                <a:cs typeface="Aptos Display" pitchFamily="34" charset="-120"/>
              </a:rPr>
              <a:t>50</a:t>
            </a:r>
            <a:endParaRPr lang="en-US" sz="1400" dirty="0"/>
          </a:p>
        </p:txBody>
      </p:sp>
      <p:sp>
        <p:nvSpPr>
          <p:cNvPr id="8" name="Text 5"/>
          <p:cNvSpPr txBox="1"/>
          <p:nvPr/>
        </p:nvSpPr>
        <p:spPr>
          <a:xfrm>
            <a:off x="658368" y="402336"/>
            <a:ext cx="7132320" cy="201168"/>
          </a:xfrm>
          <a:prstGeom prst="rect">
            <a:avLst/>
          </a:prstGeom>
          <a:noFill/>
          <a:ln/>
        </p:spPr>
        <p:txBody>
          <a:bodyPr wrap="square" lIns="0" tIns="0" rIns="0" bIns="0" rtlCol="0" anchor="t"/>
          <a:lstStyle/>
          <a:p>
            <a:pPr algn="l" indent="0" marL="0">
              <a:buNone/>
            </a:pPr>
            <a:r>
              <a:rPr lang="en-US" sz="1030" b="1" spc="170" kern="0" dirty="0">
                <a:solidFill>
                  <a:srgbClr val="D62027"/>
                </a:solidFill>
                <a:latin typeface="Aptos" pitchFamily="34" charset="0"/>
                <a:ea typeface="Aptos" pitchFamily="34" charset="-122"/>
                <a:cs typeface="Aptos" pitchFamily="34" charset="-120"/>
              </a:rPr>
              <a:t>CIERRE · LO QUE VIENE</a:t>
            </a:r>
            <a:endParaRPr lang="en-US" sz="1030" dirty="0"/>
          </a:p>
        </p:txBody>
      </p:sp>
      <p:sp>
        <p:nvSpPr>
          <p:cNvPr id="9" name="Text 6"/>
          <p:cNvSpPr txBox="1"/>
          <p:nvPr/>
        </p:nvSpPr>
        <p:spPr>
          <a:xfrm>
            <a:off x="658368" y="749808"/>
            <a:ext cx="9509760" cy="841248"/>
          </a:xfrm>
          <a:prstGeom prst="rect">
            <a:avLst/>
          </a:prstGeom>
          <a:noFill/>
          <a:ln/>
        </p:spPr>
        <p:txBody>
          <a:bodyPr wrap="square" lIns="0" tIns="0" rIns="0" bIns="0" rtlCol="0" anchor="t"/>
          <a:lstStyle/>
          <a:p>
            <a:pPr algn="l" indent="0" marL="0">
              <a:lnSpc>
                <a:spcPct val="103000"/>
              </a:lnSpc>
              <a:buNone/>
            </a:pPr>
            <a:r>
              <a:rPr lang="en-US" sz="3000" b="1" dirty="0">
                <a:solidFill>
                  <a:srgbClr val="243B53"/>
                </a:solidFill>
                <a:latin typeface="Aptos Display" pitchFamily="34" charset="0"/>
                <a:ea typeface="Aptos Display" pitchFamily="34" charset="-122"/>
                <a:cs typeface="Aptos Display" pitchFamily="34" charset="-120"/>
              </a:rPr>
              <a:t>El sistema visto por quien lo usa</a:t>
            </a:r>
            <a:endParaRPr lang="en-US" sz="3000" dirty="0"/>
          </a:p>
        </p:txBody>
      </p:sp>
      <p:sp>
        <p:nvSpPr>
          <p:cNvPr id="10" name="Text 7"/>
          <p:cNvSpPr txBox="1"/>
          <p:nvPr/>
        </p:nvSpPr>
        <p:spPr>
          <a:xfrm>
            <a:off x="658368" y="1664208"/>
            <a:ext cx="10424160" cy="365760"/>
          </a:xfrm>
          <a:prstGeom prst="rect">
            <a:avLst/>
          </a:prstGeom>
          <a:noFill/>
          <a:ln/>
        </p:spPr>
        <p:txBody>
          <a:bodyPr wrap="square" lIns="0" tIns="0" rIns="0" bIns="0" rtlCol="0" anchor="t"/>
          <a:lstStyle/>
          <a:p>
            <a:pPr algn="l" indent="0" marL="0">
              <a:lnSpc>
                <a:spcPct val="114000"/>
              </a:lnSpc>
              <a:buNone/>
            </a:pPr>
            <a:r>
              <a:rPr lang="en-US" sz="1420" dirty="0">
                <a:solidFill>
                  <a:srgbClr val="52606D"/>
                </a:solidFill>
                <a:latin typeface="Aptos" pitchFamily="34" charset="0"/>
                <a:ea typeface="Aptos" pitchFamily="34" charset="-122"/>
                <a:cs typeface="Aptos" pitchFamily="34" charset="-120"/>
              </a:rPr>
              <a:t>Todo lo de hoy pasó por debajo de la interfaz, y fue deliberado: permitió aislar el contrato y los datos sin que se mezclara nada más.</a:t>
            </a:r>
            <a:endParaRPr lang="en-US" sz="1420" dirty="0"/>
          </a:p>
        </p:txBody>
      </p:sp>
      <p:sp>
        <p:nvSpPr>
          <p:cNvPr id="11" name="Shape 8"/>
          <p:cNvSpPr/>
          <p:nvPr/>
        </p:nvSpPr>
        <p:spPr>
          <a:xfrm>
            <a:off x="658368" y="2286000"/>
            <a:ext cx="5340096" cy="1097280"/>
          </a:xfrm>
          <a:prstGeom prst="rect">
            <a:avLst/>
          </a:prstGeom>
          <a:solidFill>
            <a:srgbClr val="EDE6DA"/>
          </a:solidFill>
          <a:ln w="12700">
            <a:solidFill>
              <a:srgbClr val="EDE6DA"/>
            </a:solidFill>
            <a:prstDash val="solid"/>
          </a:ln>
        </p:spPr>
      </p:sp>
      <p:sp>
        <p:nvSpPr>
          <p:cNvPr id="12" name="Shape 9"/>
          <p:cNvSpPr/>
          <p:nvPr/>
        </p:nvSpPr>
        <p:spPr>
          <a:xfrm>
            <a:off x="658368" y="2286000"/>
            <a:ext cx="5340096" cy="54864"/>
          </a:xfrm>
          <a:prstGeom prst="rect">
            <a:avLst/>
          </a:prstGeom>
          <a:solidFill>
            <a:srgbClr val="102A43"/>
          </a:solidFill>
          <a:ln w="12700">
            <a:solidFill>
              <a:srgbClr val="102A43"/>
            </a:solidFill>
            <a:prstDash val="solid"/>
          </a:ln>
        </p:spPr>
      </p:sp>
      <p:sp>
        <p:nvSpPr>
          <p:cNvPr id="13" name="Text 10"/>
          <p:cNvSpPr txBox="1"/>
          <p:nvPr/>
        </p:nvSpPr>
        <p:spPr>
          <a:xfrm>
            <a:off x="932688" y="2468880"/>
            <a:ext cx="4791456" cy="256032"/>
          </a:xfrm>
          <a:prstGeom prst="rect">
            <a:avLst/>
          </a:prstGeom>
          <a:noFill/>
          <a:ln/>
        </p:spPr>
        <p:txBody>
          <a:bodyPr wrap="square" lIns="0" tIns="0" rIns="0" bIns="0" rtlCol="0" anchor="t"/>
          <a:lstStyle/>
          <a:p>
            <a:pPr algn="l" indent="0" marL="0">
              <a:buNone/>
            </a:pPr>
            <a:r>
              <a:rPr lang="en-US" sz="1320" b="1" dirty="0">
                <a:solidFill>
                  <a:srgbClr val="102A43"/>
                </a:solidFill>
                <a:latin typeface="Aptos" pitchFamily="34" charset="0"/>
                <a:ea typeface="Aptos" pitchFamily="34" charset="-122"/>
                <a:cs typeface="Aptos" pitchFamily="34" charset="-120"/>
              </a:rPr>
              <a:t>Un navegador de verdad</a:t>
            </a:r>
            <a:endParaRPr lang="en-US" sz="1320" dirty="0"/>
          </a:p>
        </p:txBody>
      </p:sp>
      <p:sp>
        <p:nvSpPr>
          <p:cNvPr id="14" name="Text 11"/>
          <p:cNvSpPr txBox="1"/>
          <p:nvPr/>
        </p:nvSpPr>
        <p:spPr>
          <a:xfrm>
            <a:off x="932688" y="2761488"/>
            <a:ext cx="4791456" cy="512064"/>
          </a:xfrm>
          <a:prstGeom prst="rect">
            <a:avLst/>
          </a:prstGeom>
          <a:noFill/>
          <a:ln/>
        </p:spPr>
        <p:txBody>
          <a:bodyPr wrap="square" lIns="0" tIns="0" rIns="0" bIns="0" rtlCol="0" anchor="t"/>
          <a:lstStyle/>
          <a:p>
            <a:pPr algn="l" indent="0" marL="0">
              <a:lnSpc>
                <a:spcPct val="114000"/>
              </a:lnSpc>
              <a:buNone/>
            </a:pPr>
            <a:r>
              <a:rPr lang="en-US" sz="1160" dirty="0">
                <a:solidFill>
                  <a:srgbClr val="243B53"/>
                </a:solidFill>
                <a:latin typeface="Aptos" pitchFamily="34" charset="0"/>
                <a:ea typeface="Aptos" pitchFamily="34" charset="-122"/>
                <a:cs typeface="Aptos" pitchFamily="34" charset="-120"/>
              </a:rPr>
              <a:t>El objeto de prueba pasa a ser el sistema completo, tal como lo encuentra una persona.</a:t>
            </a:r>
            <a:endParaRPr lang="en-US" sz="1160" dirty="0"/>
          </a:p>
        </p:txBody>
      </p:sp>
      <p:sp>
        <p:nvSpPr>
          <p:cNvPr id="15" name="Shape 12"/>
          <p:cNvSpPr/>
          <p:nvPr/>
        </p:nvSpPr>
        <p:spPr>
          <a:xfrm>
            <a:off x="6190488" y="2286000"/>
            <a:ext cx="5340096" cy="1097280"/>
          </a:xfrm>
          <a:prstGeom prst="rect">
            <a:avLst/>
          </a:prstGeom>
          <a:solidFill>
            <a:srgbClr val="EDE6DA"/>
          </a:solidFill>
          <a:ln w="12700">
            <a:solidFill>
              <a:srgbClr val="EDE6DA"/>
            </a:solidFill>
            <a:prstDash val="solid"/>
          </a:ln>
        </p:spPr>
      </p:sp>
      <p:sp>
        <p:nvSpPr>
          <p:cNvPr id="16" name="Shape 13"/>
          <p:cNvSpPr/>
          <p:nvPr/>
        </p:nvSpPr>
        <p:spPr>
          <a:xfrm>
            <a:off x="6190488" y="2286000"/>
            <a:ext cx="5340096" cy="54864"/>
          </a:xfrm>
          <a:prstGeom prst="rect">
            <a:avLst/>
          </a:prstGeom>
          <a:solidFill>
            <a:srgbClr val="8A6A12"/>
          </a:solidFill>
          <a:ln w="12700">
            <a:solidFill>
              <a:srgbClr val="8A6A12"/>
            </a:solidFill>
            <a:prstDash val="solid"/>
          </a:ln>
        </p:spPr>
      </p:sp>
      <p:sp>
        <p:nvSpPr>
          <p:cNvPr id="17" name="Text 14"/>
          <p:cNvSpPr txBox="1"/>
          <p:nvPr/>
        </p:nvSpPr>
        <p:spPr>
          <a:xfrm>
            <a:off x="6464808" y="2468880"/>
            <a:ext cx="4791456" cy="256032"/>
          </a:xfrm>
          <a:prstGeom prst="rect">
            <a:avLst/>
          </a:prstGeom>
          <a:noFill/>
          <a:ln/>
        </p:spPr>
        <p:txBody>
          <a:bodyPr wrap="square" lIns="0" tIns="0" rIns="0" bIns="0" rtlCol="0" anchor="t"/>
          <a:lstStyle/>
          <a:p>
            <a:pPr algn="l" indent="0" marL="0">
              <a:buNone/>
            </a:pPr>
            <a:r>
              <a:rPr lang="en-US" sz="1320" b="1" dirty="0">
                <a:solidFill>
                  <a:srgbClr val="8A6A12"/>
                </a:solidFill>
                <a:latin typeface="Aptos" pitchFamily="34" charset="0"/>
                <a:ea typeface="Aptos" pitchFamily="34" charset="-122"/>
                <a:cs typeface="Aptos" pitchFamily="34" charset="-120"/>
              </a:rPr>
              <a:t>Las esperas de una pantalla</a:t>
            </a:r>
            <a:endParaRPr lang="en-US" sz="1320" dirty="0"/>
          </a:p>
        </p:txBody>
      </p:sp>
      <p:sp>
        <p:nvSpPr>
          <p:cNvPr id="18" name="Text 15"/>
          <p:cNvSpPr txBox="1"/>
          <p:nvPr/>
        </p:nvSpPr>
        <p:spPr>
          <a:xfrm>
            <a:off x="6464808" y="2761488"/>
            <a:ext cx="4791456" cy="512064"/>
          </a:xfrm>
          <a:prstGeom prst="rect">
            <a:avLst/>
          </a:prstGeom>
          <a:noFill/>
          <a:ln/>
        </p:spPr>
        <p:txBody>
          <a:bodyPr wrap="square" lIns="0" tIns="0" rIns="0" bIns="0" rtlCol="0" anchor="t"/>
          <a:lstStyle/>
          <a:p>
            <a:pPr algn="l" indent="0" marL="0">
              <a:lnSpc>
                <a:spcPct val="114000"/>
              </a:lnSpc>
              <a:buNone/>
            </a:pPr>
            <a:r>
              <a:rPr lang="en-US" sz="1160" dirty="0">
                <a:solidFill>
                  <a:srgbClr val="243B53"/>
                </a:solidFill>
                <a:latin typeface="Aptos" pitchFamily="34" charset="0"/>
                <a:ea typeface="Aptos" pitchFamily="34" charset="-122"/>
                <a:cs typeface="Aptos" pitchFamily="34" charset="-120"/>
              </a:rPr>
              <a:t>Aparece, por primera vez en el módulo, una prueba que falla sin que nadie haya tocado el sistema.</a:t>
            </a:r>
            <a:endParaRPr lang="en-US" sz="1160" dirty="0"/>
          </a:p>
        </p:txBody>
      </p:sp>
      <p:sp>
        <p:nvSpPr>
          <p:cNvPr id="19" name="Shape 16"/>
          <p:cNvSpPr/>
          <p:nvPr/>
        </p:nvSpPr>
        <p:spPr>
          <a:xfrm>
            <a:off x="658368" y="3566160"/>
            <a:ext cx="10874959" cy="676656"/>
          </a:xfrm>
          <a:prstGeom prst="rect">
            <a:avLst/>
          </a:prstGeom>
          <a:solidFill>
            <a:srgbClr val="F2E7D9"/>
          </a:solidFill>
          <a:ln w="12700">
            <a:solidFill>
              <a:srgbClr val="F2E7D9"/>
            </a:solidFill>
            <a:prstDash val="solid"/>
          </a:ln>
        </p:spPr>
      </p:sp>
      <p:sp>
        <p:nvSpPr>
          <p:cNvPr id="20" name="Text 17"/>
          <p:cNvSpPr txBox="1"/>
          <p:nvPr/>
        </p:nvSpPr>
        <p:spPr>
          <a:xfrm>
            <a:off x="950976" y="3694176"/>
            <a:ext cx="10289743" cy="420624"/>
          </a:xfrm>
          <a:prstGeom prst="rect">
            <a:avLst/>
          </a:prstGeom>
          <a:noFill/>
          <a:ln/>
        </p:spPr>
        <p:txBody>
          <a:bodyPr wrap="square" lIns="0" tIns="0" rIns="0" bIns="0" rtlCol="0" anchor="ctr"/>
          <a:lstStyle/>
          <a:p>
            <a:pPr algn="l" indent="0" marL="0">
              <a:buNone/>
            </a:pPr>
            <a:r>
              <a:rPr lang="en-US" sz="1220" dirty="0">
                <a:solidFill>
                  <a:srgbClr val="243B53"/>
                </a:solidFill>
                <a:latin typeface="Aptos" pitchFamily="34" charset="0"/>
                <a:ea typeface="Aptos" pitchFamily="34" charset="-122"/>
                <a:cs typeface="Aptos" pitchFamily="34" charset="-120"/>
              </a:rPr>
              <a:t>Los tres hallazgos de hoy tienen la misma forma: el defecto de contrato estaba entre dos funciones correctas, la prueba solitaria pasaba por algo que hizo otra prueba, y el doble ocultaba el defecto ocupando el lugar donde había que mirar.</a:t>
            </a:r>
            <a:endParaRPr lang="en-US" sz="1220" dirty="0"/>
          </a:p>
        </p:txBody>
      </p:sp>
      <p:sp>
        <p:nvSpPr>
          <p:cNvPr id="21" name="Shape 18"/>
          <p:cNvSpPr/>
          <p:nvPr/>
        </p:nvSpPr>
        <p:spPr>
          <a:xfrm>
            <a:off x="658368" y="4370832"/>
            <a:ext cx="10874959" cy="1408176"/>
          </a:xfrm>
          <a:prstGeom prst="rect">
            <a:avLst/>
          </a:prstGeom>
          <a:solidFill>
            <a:srgbClr val="102A43"/>
          </a:solidFill>
          <a:ln w="12700">
            <a:solidFill>
              <a:srgbClr val="102A43"/>
            </a:solidFill>
            <a:prstDash val="solid"/>
          </a:ln>
        </p:spPr>
      </p:sp>
      <p:sp>
        <p:nvSpPr>
          <p:cNvPr id="22" name="Shape 19"/>
          <p:cNvSpPr/>
          <p:nvPr/>
        </p:nvSpPr>
        <p:spPr>
          <a:xfrm>
            <a:off x="658368" y="4370832"/>
            <a:ext cx="73152" cy="1408176"/>
          </a:xfrm>
          <a:prstGeom prst="rect">
            <a:avLst/>
          </a:prstGeom>
          <a:solidFill>
            <a:srgbClr val="E0BC5A"/>
          </a:solidFill>
          <a:ln w="12700">
            <a:solidFill>
              <a:srgbClr val="E0BC5A"/>
            </a:solidFill>
            <a:prstDash val="solid"/>
          </a:ln>
        </p:spPr>
      </p:sp>
      <p:sp>
        <p:nvSpPr>
          <p:cNvPr id="23" name="Text 20"/>
          <p:cNvSpPr txBox="1"/>
          <p:nvPr/>
        </p:nvSpPr>
        <p:spPr>
          <a:xfrm>
            <a:off x="1042416" y="4535424"/>
            <a:ext cx="10106863" cy="694944"/>
          </a:xfrm>
          <a:prstGeom prst="rect">
            <a:avLst/>
          </a:prstGeom>
          <a:noFill/>
          <a:ln/>
        </p:spPr>
        <p:txBody>
          <a:bodyPr wrap="square" lIns="0" tIns="0" rIns="0" bIns="0" rtlCol="0" anchor="t"/>
          <a:lstStyle/>
          <a:p>
            <a:pPr algn="l" indent="0" marL="0">
              <a:lnSpc>
                <a:spcPct val="116000"/>
              </a:lnSpc>
              <a:buNone/>
            </a:pPr>
            <a:r>
              <a:rPr lang="en-US" sz="1420" b="1" dirty="0">
                <a:solidFill>
                  <a:srgbClr val="FFFFFF"/>
                </a:solidFill>
                <a:latin typeface="Aptos" pitchFamily="34" charset="0"/>
                <a:ea typeface="Aptos" pitchFamily="34" charset="-122"/>
                <a:cs typeface="Aptos" pitchFamily="34" charset="-120"/>
              </a:rPr>
              <a:t>Un sistema no es la suma de sus piezas, sino de sus piezas y de los acuerdos entre ellas. Los acuerdos no viven dentro de ningún archivo, y por eso ninguna prueba que mire un archivo solo puede comprobarlos.</a:t>
            </a:r>
            <a:endParaRPr lang="en-US" sz="1420" dirty="0"/>
          </a:p>
        </p:txBody>
      </p:sp>
      <p:sp>
        <p:nvSpPr>
          <p:cNvPr id="24" name="Text 21"/>
          <p:cNvSpPr txBox="1"/>
          <p:nvPr/>
        </p:nvSpPr>
        <p:spPr>
          <a:xfrm>
            <a:off x="1042416" y="5358384"/>
            <a:ext cx="10106863" cy="384048"/>
          </a:xfrm>
          <a:prstGeom prst="rect">
            <a:avLst/>
          </a:prstGeom>
          <a:noFill/>
          <a:ln/>
        </p:spPr>
        <p:txBody>
          <a:bodyPr wrap="square" lIns="0" tIns="0" rIns="0" bIns="0" rtlCol="0" anchor="t"/>
          <a:lstStyle/>
          <a:p>
            <a:pPr algn="l" indent="0" marL="0">
              <a:lnSpc>
                <a:spcPct val="114000"/>
              </a:lnSpc>
              <a:buNone/>
            </a:pPr>
            <a:r>
              <a:rPr lang="en-US" sz="1240" dirty="0">
                <a:solidFill>
                  <a:srgbClr val="EADFD0"/>
                </a:solidFill>
                <a:latin typeface="Aptos" pitchFamily="34" charset="0"/>
                <a:ea typeface="Aptos" pitchFamily="34" charset="-122"/>
                <a:cs typeface="Aptos" pitchFamily="34" charset="-120"/>
              </a:rPr>
              <a:t>Un agente escribe las piezas cada vez mejor; decidir qué acuerdo tenían que cumplir, y negarse a sustituir justo aquello que hay que observar, sigue siendo trabajo de quien firma.</a:t>
            </a:r>
            <a:endParaRPr lang="en-US" sz="12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AIEP Osorno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pieza sola no es el sistema</dc:title>
  <dc:subject>PRO402 · Clase 12</dc:subject>
  <dc:creator>Diego Obando</dc:creator>
  <cp:lastModifiedBy>Diego Obando</cp:lastModifiedBy>
  <cp:revision>1</cp:revision>
  <dcterms:created xsi:type="dcterms:W3CDTF">2026-09-22T14:32:19Z</dcterms:created>
  <dcterms:modified xsi:type="dcterms:W3CDTF">2026-09-22T14:32:19Z</dcterms:modified>
</cp:coreProperties>
</file>