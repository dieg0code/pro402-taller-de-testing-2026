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167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2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CLASE 08 · UNIDAD 01</a:t>
            </a:r>
            <a:endParaRPr lang="en-US" sz="11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75564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 no es mirar</a:t>
            </a:r>
            <a:endParaRPr lang="en-US" sz="6200" dirty="0"/>
          </a:p>
        </p:txBody>
      </p:sp>
      <p:sp>
        <p:nvSpPr>
          <p:cNvPr id="10" name="Shape 7"/>
          <p:cNvSpPr/>
          <p:nvPr/>
        </p:nvSpPr>
        <p:spPr>
          <a:xfrm>
            <a:off x="658368" y="3017520"/>
            <a:ext cx="2377440" cy="82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331012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Alcance, orden y el registro que hace verificable un hallazgo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80390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integrador · cierre de la Unidad 01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" y="4626864"/>
            <a:ext cx="10874959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 txBox="1"/>
          <p:nvPr/>
        </p:nvSpPr>
        <p:spPr>
          <a:xfrm>
            <a:off x="658368" y="4828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5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94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50657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8 de septiembre de 2026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3968496" y="4791456"/>
            <a:ext cx="0" cy="603504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4224528" y="4828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5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HORARIO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4224528" y="50657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08:30 – 10:50 · 140 minutos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7534656" y="4791456"/>
            <a:ext cx="0" cy="603504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7790688" y="48280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15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DOCENTE</a:t>
            </a:r>
            <a:endParaRPr lang="en-US" sz="940" dirty="0"/>
          </a:p>
        </p:txBody>
      </p:sp>
      <p:sp>
        <p:nvSpPr>
          <p:cNvPr id="21" name="Text 18"/>
          <p:cNvSpPr txBox="1"/>
          <p:nvPr/>
        </p:nvSpPr>
        <p:spPr>
          <a:xfrm>
            <a:off x="7790688" y="50657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Diego Obando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579729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de referencia:  IEEE 1028-2008  ·  ISO/IEC/IEEE 29119-2 y 29119-3:2021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módulo ya construyó tres formas de encontrar un problema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tres funcionan. El problema es otro.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340156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86000"/>
            <a:ext cx="3401568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2852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tipado compara contra los tipos declarados; el linter, contra un catálogo de patrones.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896112" y="3602736"/>
            <a:ext cx="2926080" cy="31089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05840" y="364845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Baratas, objetivas, no se cansan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4334256" y="2286000"/>
            <a:ext cx="340156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34256" y="2286000"/>
            <a:ext cx="3401568" cy="64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lectura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2852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compara lo que el código hace con lo que un documento dice que debe hacer.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4572000" y="3602736"/>
            <a:ext cx="2926080" cy="31089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81728" y="364845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 lo que una herramienta no formula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8010144" y="2286000"/>
            <a:ext cx="3401568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10144" y="2286000"/>
            <a:ext cx="3401568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47888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con umbral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247888" y="2852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característica de calidad convertida en una frase con magnitud, método y umbral.</a:t>
            </a:r>
            <a:endParaRPr lang="en-US" sz="1180" dirty="0"/>
          </a:p>
        </p:txBody>
      </p:sp>
      <p:sp>
        <p:nvSpPr>
          <p:cNvPr id="27" name="Shape 24"/>
          <p:cNvSpPr/>
          <p:nvPr/>
        </p:nvSpPr>
        <p:spPr>
          <a:xfrm>
            <a:off x="8247888" y="3602736"/>
            <a:ext cx="2926080" cy="31089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57616" y="3648456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se puede escribir como prueba</a:t>
            </a:r>
            <a:endParaRPr lang="en-US" sz="1040" dirty="0"/>
          </a:p>
        </p:txBody>
      </p:sp>
      <p:sp>
        <p:nvSpPr>
          <p:cNvPr id="29" name="Text 26"/>
          <p:cNvSpPr txBox="1"/>
          <p:nvPr/>
        </p:nvSpPr>
        <p:spPr>
          <a:xfrm>
            <a:off x="658368" y="4261104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Están sueltas. Nada responde estas tres preguntas: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58368" y="4590288"/>
            <a:ext cx="3401568" cy="566928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" y="4590288"/>
            <a:ext cx="3401568" cy="566928"/>
          </a:xfrm>
          <a:prstGeom prst="rect">
            <a:avLst/>
          </a:prstGeom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1248" y="47365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orden se aplican?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334256" y="4590288"/>
            <a:ext cx="3401568" cy="566928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34256" y="4590288"/>
            <a:ext cx="3401568" cy="566928"/>
          </a:xfrm>
          <a:prstGeom prst="rect">
            <a:avLst/>
          </a:prstGeom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17136" y="47365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¿Hasta dónde hay que llegar?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10144" y="4590288"/>
            <a:ext cx="3401568" cy="566928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010144" y="4590288"/>
            <a:ext cx="3401568" cy="566928"/>
          </a:xfrm>
          <a:prstGeom prst="rect">
            <a:avLst/>
          </a:prstGeom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193024" y="473659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queda escrito?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58368" y="537667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69264" y="5413248"/>
            <a:ext cx="10253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esas tres respuestas, dos personas revisando el mismo código entregan resultados que no se pueden comparar.</a:t>
            </a:r>
            <a:endParaRPr lang="en-US" sz="13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LA SESIÓN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bloques, cuatro preguntas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taller trabaja sobre un proyecto entregado, ya ejecutado. Nadie queda detenido por el estado de su propio repositorio.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32304"/>
            <a:ext cx="2523744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32304"/>
            <a:ext cx="2523744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651760"/>
            <a:ext cx="402336" cy="40233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318211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 una auditoría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37490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08:40 · 25 min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877824" y="4023360"/>
            <a:ext cx="20848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877824" y="4151376"/>
            <a:ext cx="20848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la separa de una revisión, y qué le exige eso a su producto?</a:t>
            </a:r>
            <a:endParaRPr lang="en-US" sz="1160" dirty="0"/>
          </a:p>
        </p:txBody>
      </p:sp>
      <p:sp>
        <p:nvSpPr>
          <p:cNvPr id="19" name="Shape 16"/>
          <p:cNvSpPr/>
          <p:nvPr/>
        </p:nvSpPr>
        <p:spPr>
          <a:xfrm>
            <a:off x="3438144" y="2432304"/>
            <a:ext cx="2523744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38144" y="2432304"/>
            <a:ext cx="2523744" cy="731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2651760"/>
            <a:ext cx="402336" cy="402336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657600" y="318211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mito de los muchos ojos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3657600" y="37490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09:05 · 30 min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3657600" y="4023360"/>
            <a:ext cx="20848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3657600" y="4151376"/>
            <a:ext cx="20848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bastara con que muchos miren, ¿qué pasó cuando mirar dejó de costar?</a:t>
            </a:r>
            <a:endParaRPr lang="en-US" sz="1160" dirty="0"/>
          </a:p>
        </p:txBody>
      </p:sp>
      <p:sp>
        <p:nvSpPr>
          <p:cNvPr id="27" name="Shape 24"/>
          <p:cNvSpPr/>
          <p:nvPr/>
        </p:nvSpPr>
        <p:spPr>
          <a:xfrm>
            <a:off x="6217920" y="2432304"/>
            <a:ext cx="2523744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0" y="2432304"/>
            <a:ext cx="2523744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37376" y="2651760"/>
            <a:ext cx="402336" cy="402336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3737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437376" y="318211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procedimiento</a:t>
            </a:r>
            <a:endParaRPr lang="en-US" sz="1550" dirty="0"/>
          </a:p>
        </p:txBody>
      </p:sp>
      <p:sp>
        <p:nvSpPr>
          <p:cNvPr id="32" name="Text 29"/>
          <p:cNvSpPr txBox="1"/>
          <p:nvPr/>
        </p:nvSpPr>
        <p:spPr>
          <a:xfrm>
            <a:off x="6437376" y="37490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09:45 · 30 min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6437376" y="4023360"/>
            <a:ext cx="20848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6437376" y="4151376"/>
            <a:ext cx="20848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orden se aplican las barreras, y cuándo se para?</a:t>
            </a:r>
            <a:endParaRPr lang="en-US" sz="1160" dirty="0"/>
          </a:p>
        </p:txBody>
      </p:sp>
      <p:sp>
        <p:nvSpPr>
          <p:cNvPr id="35" name="Shape 32"/>
          <p:cNvSpPr/>
          <p:nvPr/>
        </p:nvSpPr>
        <p:spPr>
          <a:xfrm>
            <a:off x="8997696" y="2432304"/>
            <a:ext cx="2523744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97696" y="2432304"/>
            <a:ext cx="2523744" cy="7315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217152" y="2651760"/>
            <a:ext cx="402336" cy="40233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21715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9217152" y="318211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registro</a:t>
            </a:r>
            <a:endParaRPr lang="en-US" sz="1550" dirty="0"/>
          </a:p>
        </p:txBody>
      </p:sp>
      <p:sp>
        <p:nvSpPr>
          <p:cNvPr id="40" name="Text 37"/>
          <p:cNvSpPr txBox="1"/>
          <p:nvPr/>
        </p:nvSpPr>
        <p:spPr>
          <a:xfrm>
            <a:off x="9217152" y="37490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10:15 · 25 min</a:t>
            </a:r>
            <a:endParaRPr lang="en-US" sz="1040" dirty="0"/>
          </a:p>
        </p:txBody>
      </p:sp>
      <p:sp>
        <p:nvSpPr>
          <p:cNvPr id="41" name="Shape 38"/>
          <p:cNvSpPr/>
          <p:nvPr/>
        </p:nvSpPr>
        <p:spPr>
          <a:xfrm>
            <a:off x="9217152" y="4023360"/>
            <a:ext cx="208483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2" name="Text 39"/>
          <p:cNvSpPr txBox="1"/>
          <p:nvPr/>
        </p:nvSpPr>
        <p:spPr>
          <a:xfrm>
            <a:off x="9217152" y="4151376"/>
            <a:ext cx="20848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tiene que quedar escrito para que otro pueda verificarlo?</a:t>
            </a:r>
            <a:endParaRPr lang="en-US" sz="1160" dirty="0"/>
          </a:p>
        </p:txBody>
      </p:sp>
      <p:sp>
        <p:nvSpPr>
          <p:cNvPr id="43" name="Text 40"/>
          <p:cNvSpPr txBox="1"/>
          <p:nvPr/>
        </p:nvSpPr>
        <p:spPr>
          <a:xfrm>
            <a:off x="658368" y="5230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 09:35 – 09:45</a:t>
            </a:r>
            <a:endParaRPr lang="en-US" sz="1140" dirty="0"/>
          </a:p>
        </p:txBody>
      </p:sp>
      <p:sp>
        <p:nvSpPr>
          <p:cNvPr id="44" name="Shape 41"/>
          <p:cNvSpPr/>
          <p:nvPr/>
        </p:nvSpPr>
        <p:spPr>
          <a:xfrm>
            <a:off x="658368" y="5614416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69264" y="5650992"/>
            <a:ext cx="10253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con una auditoría hecha, sus hallazgos registrados y el informe que otro puede leer sin ti.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7373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2C4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2944368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960" dirty="0"/>
          </a:p>
        </p:txBody>
      </p:sp>
      <p:sp>
        <p:nvSpPr>
          <p:cNvPr id="10" name="Text 7"/>
          <p:cNvSpPr txBox="1"/>
          <p:nvPr/>
        </p:nvSpPr>
        <p:spPr>
          <a:xfrm>
            <a:off x="2944368" y="2121408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una auditoría,</a:t>
            </a:r>
            <a:endParaRPr lang="en-US" sz="3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qué no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2944368" y="3456432"/>
            <a:ext cx="1828800" cy="64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44368" y="3730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el mundo dice que audita su código. ¿Qué tendría que ser cierto para que esa palabra esté bien usada?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NORMA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palabra tiene una definición, y es exigente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IEEE 1028-2008 es la norma internacional de revisiones y auditorías de software. Define cinco tipos de revisión; la auditoría es uno de ellos.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32304"/>
            <a:ext cx="10874959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4128" y="26151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4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AUDITORÍA, SEGÚN LA NORMA</a:t>
            </a:r>
            <a:endParaRPr lang="en-US" sz="92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" y="28895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examen independiente de un producto o de un proceso de software, realizado por un tercero, para evaluar el cumplimiento respecto de especificaciones, estándares, acuerdos contractuales u otros criterios.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" y="393192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" y="39227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IEEE Std 1028-2008 · traducción del original en inglés.</a:t>
            </a:r>
            <a:endParaRPr lang="en-US" sz="92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334256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frase corta contiene tres exigencias. Ninguna es decorativa, y las tres cambian lo que hay que hacer: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" y="4700016"/>
            <a:ext cx="3401568" cy="60350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4700016"/>
            <a:ext cx="54864" cy="603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48371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independiente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334256" y="4700016"/>
            <a:ext cx="3401568" cy="60350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34256" y="4700016"/>
            <a:ext cx="54864" cy="60350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53712" y="48371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tercero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010144" y="4700016"/>
            <a:ext cx="3401568" cy="60350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10144" y="4700016"/>
            <a:ext cx="54864" cy="60350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0" y="48371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cumplimiento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58368" y="5541264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9264" y="5577840"/>
            <a:ext cx="10253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falta cualquiera de las tres, lo que se está haciendo tiene otro nombre. Puede ser útil igual, pero no es una auditoría.</a:t>
            </a:r>
            <a:endParaRPr lang="en-US" sz="13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QUÉ EXIGE CADA PALABRA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Independiente · tercero · cumplimiento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139696"/>
            <a:ext cx="1087495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139696"/>
            <a:ext cx="64008" cy="11155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304288"/>
            <a:ext cx="365760" cy="3657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46304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auditor es independiente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26334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quien escribió el código, ni quien lo va a mantener, ni quien responde por el plazo de entrega.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5943600" y="2286000"/>
            <a:ext cx="0" cy="82296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6272784" y="2395728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los otros cuatro tipos de revisión la independencia es buena práctica. Aquí es parte de la definición.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64008" cy="111556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2688" y="3529584"/>
            <a:ext cx="365760" cy="365760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2688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463040" y="3511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viene de afuera</a:t>
            </a:r>
            <a:endParaRPr lang="en-US" sz="1550" dirty="0"/>
          </a:p>
        </p:txBody>
      </p:sp>
      <p:sp>
        <p:nvSpPr>
          <p:cNvPr id="23" name="Text 20"/>
          <p:cNvSpPr txBox="1"/>
          <p:nvPr/>
        </p:nvSpPr>
        <p:spPr>
          <a:xfrm>
            <a:off x="1463040" y="38587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evalúa contra el buen gusto de quien audita, sino contra algo que ya estaba escrito antes de empezar.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5943600" y="3511296"/>
            <a:ext cx="0" cy="82296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6272784" y="362102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especificación, un estándar, un contrato, una ley. Ese documento es la referencia de toda la auditoría.</a:t>
            </a:r>
            <a:endParaRPr lang="en-US" sz="1260" dirty="0"/>
          </a:p>
        </p:txBody>
      </p:sp>
      <p:sp>
        <p:nvSpPr>
          <p:cNvPr id="26" name="Shape 23"/>
          <p:cNvSpPr/>
          <p:nvPr/>
        </p:nvSpPr>
        <p:spPr>
          <a:xfrm>
            <a:off x="658368" y="4590288"/>
            <a:ext cx="10874959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4590288"/>
            <a:ext cx="64008" cy="111556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2688" y="4754880"/>
            <a:ext cx="365760" cy="36576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2688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463040" y="4736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 es un veredicto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1463040" y="508406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termina con recomendaciones. Termina diciendo si cumple o no cumple, con la evidencia que lo sostiene.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5943600" y="4736592"/>
            <a:ext cx="0" cy="82296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6272784" y="484632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revisión puede terminar sin hallazgos y haber servido. Una auditoría tiene que terminar con un juicio.</a:t>
            </a:r>
            <a:endParaRPr lang="en-US" sz="1260" dirty="0"/>
          </a:p>
        </p:txBody>
      </p:sp>
      <p:sp>
        <p:nvSpPr>
          <p:cNvPr id="34" name="Shape 31"/>
          <p:cNvSpPr/>
          <p:nvPr/>
        </p:nvSpPr>
        <p:spPr>
          <a:xfrm>
            <a:off x="658368" y="5907024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69264" y="5943600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independencia es la única de las tres que no se puede fabricar con esfuerzo: o el auditor es otro, o no lo 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DISTINCIÓN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Buscan cosas distintas, y por eso terminan distinto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139696"/>
            <a:ext cx="526694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139696"/>
            <a:ext cx="5266944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340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596896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Mejorar el producto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9264" y="3200400"/>
            <a:ext cx="46451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969264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</a:t>
            </a:r>
            <a:endParaRPr lang="en-US" sz="1060" dirty="0"/>
          </a:p>
        </p:txBody>
      </p:sp>
      <p:sp>
        <p:nvSpPr>
          <p:cNvPr id="16" name="Text 13"/>
          <p:cNvSpPr txBox="1"/>
          <p:nvPr/>
        </p:nvSpPr>
        <p:spPr>
          <a:xfrm>
            <a:off x="2395728" y="3291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cualquiera con competencia técnica</a:t>
            </a:r>
            <a:endParaRPr lang="en-US" sz="1240" dirty="0"/>
          </a:p>
        </p:txBody>
      </p:sp>
      <p:sp>
        <p:nvSpPr>
          <p:cNvPr id="17" name="Text 14"/>
          <p:cNvSpPr txBox="1"/>
          <p:nvPr/>
        </p:nvSpPr>
        <p:spPr>
          <a:xfrm>
            <a:off x="969264" y="3803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qué</a:t>
            </a:r>
            <a:endParaRPr lang="en-US" sz="1060" dirty="0"/>
          </a:p>
        </p:txBody>
      </p:sp>
      <p:sp>
        <p:nvSpPr>
          <p:cNvPr id="18" name="Text 15"/>
          <p:cNvSpPr txBox="1"/>
          <p:nvPr/>
        </p:nvSpPr>
        <p:spPr>
          <a:xfrm>
            <a:off x="2395728" y="37856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de quien revisa</a:t>
            </a:r>
            <a:endParaRPr lang="en-US" sz="124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 con</a:t>
            </a:r>
            <a:endParaRPr lang="en-US" sz="1060" dirty="0"/>
          </a:p>
        </p:txBody>
      </p:sp>
      <p:sp>
        <p:nvSpPr>
          <p:cNvPr id="20" name="Text 17"/>
          <p:cNvSpPr txBox="1"/>
          <p:nvPr/>
        </p:nvSpPr>
        <p:spPr>
          <a:xfrm>
            <a:off x="2395728" y="4279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recomendaciones</a:t>
            </a:r>
            <a:endParaRPr lang="en-US" sz="1240" dirty="0"/>
          </a:p>
        </p:txBody>
      </p:sp>
      <p:sp>
        <p:nvSpPr>
          <p:cNvPr id="21" name="Text 18"/>
          <p:cNvSpPr txBox="1"/>
          <p:nvPr/>
        </p:nvSpPr>
        <p:spPr>
          <a:xfrm>
            <a:off x="969264" y="4791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hallazgos</a:t>
            </a:r>
            <a:endParaRPr lang="en-US" sz="1060" dirty="0"/>
          </a:p>
        </p:txBody>
      </p:sp>
      <p:sp>
        <p:nvSpPr>
          <p:cNvPr id="22" name="Text 19"/>
          <p:cNvSpPr txBox="1"/>
          <p:nvPr/>
        </p:nvSpPr>
        <p:spPr>
          <a:xfrm>
            <a:off x="2395728" y="4773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haber sido útil igual</a:t>
            </a:r>
            <a:endParaRPr lang="en-US" sz="1240" dirty="0"/>
          </a:p>
        </p:txBody>
      </p:sp>
      <p:sp>
        <p:nvSpPr>
          <p:cNvPr id="23" name="Shape 20"/>
          <p:cNvSpPr/>
          <p:nvPr/>
        </p:nvSpPr>
        <p:spPr>
          <a:xfrm>
            <a:off x="6291072" y="2139696"/>
            <a:ext cx="526694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91072" y="2139696"/>
            <a:ext cx="5266944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01968" y="2340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6601968" y="2596896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Establecer si cumple una referencia declarada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601968" y="3200400"/>
            <a:ext cx="464515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6601968" y="33101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</a:t>
            </a:r>
            <a:endParaRPr lang="en-US" sz="1060" dirty="0"/>
          </a:p>
        </p:txBody>
      </p:sp>
      <p:sp>
        <p:nvSpPr>
          <p:cNvPr id="29" name="Text 26"/>
          <p:cNvSpPr txBox="1"/>
          <p:nvPr/>
        </p:nvSpPr>
        <p:spPr>
          <a:xfrm>
            <a:off x="8028432" y="3291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tercero independiente</a:t>
            </a:r>
            <a:endParaRPr lang="en-US" sz="124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803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qué</a:t>
            </a:r>
            <a:endParaRPr lang="en-US" sz="1060" dirty="0"/>
          </a:p>
        </p:txBody>
      </p:sp>
      <p:sp>
        <p:nvSpPr>
          <p:cNvPr id="31" name="Text 28"/>
          <p:cNvSpPr txBox="1"/>
          <p:nvPr/>
        </p:nvSpPr>
        <p:spPr>
          <a:xfrm>
            <a:off x="8028432" y="37856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documento escrito antes</a:t>
            </a:r>
            <a:endParaRPr lang="en-US" sz="1240" dirty="0"/>
          </a:p>
        </p:txBody>
      </p:sp>
      <p:sp>
        <p:nvSpPr>
          <p:cNvPr id="32" name="Text 29"/>
          <p:cNvSpPr txBox="1"/>
          <p:nvPr/>
        </p:nvSpPr>
        <p:spPr>
          <a:xfrm>
            <a:off x="6601968" y="4297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 con</a:t>
            </a:r>
            <a:endParaRPr lang="en-US" sz="1060" dirty="0"/>
          </a:p>
        </p:txBody>
      </p:sp>
      <p:sp>
        <p:nvSpPr>
          <p:cNvPr id="33" name="Text 30"/>
          <p:cNvSpPr txBox="1"/>
          <p:nvPr/>
        </p:nvSpPr>
        <p:spPr>
          <a:xfrm>
            <a:off x="8028432" y="4279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veredicto y su evidencia</a:t>
            </a:r>
            <a:endParaRPr lang="en-US" sz="1240" dirty="0"/>
          </a:p>
        </p:txBody>
      </p:sp>
      <p:sp>
        <p:nvSpPr>
          <p:cNvPr id="34" name="Text 31"/>
          <p:cNvSpPr txBox="1"/>
          <p:nvPr/>
        </p:nvSpPr>
        <p:spPr>
          <a:xfrm>
            <a:off x="6601968" y="4791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hallazgos</a:t>
            </a:r>
            <a:endParaRPr lang="en-US" sz="1060" dirty="0"/>
          </a:p>
        </p:txBody>
      </p:sp>
      <p:sp>
        <p:nvSpPr>
          <p:cNvPr id="35" name="Text 32"/>
          <p:cNvSpPr txBox="1"/>
          <p:nvPr/>
        </p:nvSpPr>
        <p:spPr>
          <a:xfrm>
            <a:off x="8028432" y="4773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igual tiene que dar veredicto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658368" y="5577840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9264" y="5614416"/>
            <a:ext cx="10253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una auditoría necesita alcance: sin saber hasta dónde llegó, su veredicto no significa nada.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CASO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pasa cuando el auditor trabaja para el auditado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independencia suena a formalismo administrativo hasta que se mira qué ocurre cuando falta.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3401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95728"/>
            <a:ext cx="3401568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</a:t>
            </a:r>
            <a:endParaRPr lang="en-US" sz="134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2907792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Certificar un avión de línea en Estados Unidos es responsabilidad de la Administración Federal de Aviación.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4096512" y="3035808"/>
            <a:ext cx="1828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334256" y="2395728"/>
            <a:ext cx="34015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34256" y="2395728"/>
            <a:ext cx="3401568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53712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excepción</a:t>
            </a:r>
            <a:endParaRPr lang="en-US" sz="1340" dirty="0"/>
          </a:p>
        </p:txBody>
      </p:sp>
      <p:sp>
        <p:nvSpPr>
          <p:cNvPr id="19" name="Text 16"/>
          <p:cNvSpPr txBox="1"/>
          <p:nvPr/>
        </p:nvSpPr>
        <p:spPr>
          <a:xfrm>
            <a:off x="4553712" y="2907792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la FAA no da abasto, delega parte de esa certificación en el propio fabricante. El programa se llama ODA.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772400" y="3035808"/>
            <a:ext cx="1828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010144" y="2395728"/>
            <a:ext cx="3401568" cy="137160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10144" y="2395728"/>
            <a:ext cx="3401568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0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consecuencia</a:t>
            </a:r>
            <a:endParaRPr lang="en-US" sz="134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2907792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Empleados de la empresa quedan autorizados para certificar en representación del regulador.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658368" y="3950208"/>
            <a:ext cx="10874959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7552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OCURRIÓ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987552" y="4370832"/>
            <a:ext cx="1021659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737 MAX se certificó bajo ese esquema. Incluía un sistema de software, MCAS, que empuja automáticamente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nariz del avión hacia abajo bajo ciertas condiciones. Dos aviones con ese sistema se estrellaron: Lion Air 610</a:t>
            </a:r>
            <a:endParaRPr lang="en-US" sz="1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octubre de 2018 y Ethiopian Airlines 302 en marzo de 2019. Murieron 346 personas.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" y="5248656"/>
            <a:ext cx="10874959" cy="5120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69264" y="5285232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Congreso de Estados Unidos investigó durante dieciocho meses. Su informe no habla de incompetencia.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CASO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de los cinco temas del informe son sobre independencia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Comité de Transporte e Infraestructura de la Cámara de Representantes, 16 de septiembre de 2020. 238 páginas.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77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CINCO TEMAS CENTRALES DEL INFORME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58368" y="2651760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651760"/>
            <a:ext cx="45720" cy="34747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27066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Presiones de producción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58368" y="3054096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054096"/>
            <a:ext cx="45720" cy="34747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7824" y="31089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Supuestos de diseño y desempeño erróneos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658368" y="3456432"/>
            <a:ext cx="5029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456432"/>
            <a:ext cx="45720" cy="34747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824" y="35112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Cultura de ocultamiento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58368" y="3858768"/>
            <a:ext cx="5029200" cy="34747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858768"/>
            <a:ext cx="45720" cy="34747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" y="39136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Representación en conflicto de interés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58368" y="4261104"/>
            <a:ext cx="5029200" cy="34747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261104"/>
            <a:ext cx="45720" cy="34747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7824" y="4315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influencia de Boeing sobre la supervisión de la FAA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5980176" y="2615184"/>
            <a:ext cx="5550408" cy="1133856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80176" y="2615184"/>
            <a:ext cx="64008" cy="113385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91072" y="2724912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6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actual estructura de supervisión de la FAA respecto de Boeing genera conflictos de interés inherentes que han puesto en riesgo la seguridad del público que vuela.”</a:t>
            </a:r>
            <a:endParaRPr lang="en-US" sz="1260" dirty="0"/>
          </a:p>
        </p:txBody>
      </p:sp>
      <p:sp>
        <p:nvSpPr>
          <p:cNvPr id="30" name="Shape 27"/>
          <p:cNvSpPr/>
          <p:nvPr/>
        </p:nvSpPr>
        <p:spPr>
          <a:xfrm>
            <a:off x="5980176" y="3877056"/>
            <a:ext cx="5550408" cy="91440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80176" y="3877056"/>
            <a:ext cx="64008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91072" y="3986784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“Empleados de Boeing autorizados para trabajar en representación de la FAA no alertaron a la FAA sobre posibles problemas de seguridad o de certificación.”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8368" y="4937760"/>
            <a:ext cx="45720" cy="1828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492861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Committee Report on the Boeing 737 MAX, 16 de septiembre de 2020 · traducción del original en inglés.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658368" y="5248656"/>
            <a:ext cx="10874959" cy="45720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9264" y="5340096"/>
            <a:ext cx="10253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dice que los ingenieros fueran incompetentes ni deshonestos. Dice algo estructural.</a:t>
            </a:r>
            <a:endParaRPr lang="en-US" sz="1320" dirty="0"/>
          </a:p>
        </p:txBody>
      </p:sp>
      <p:sp>
        <p:nvSpPr>
          <p:cNvPr id="37" name="Shape 34"/>
          <p:cNvSpPr/>
          <p:nvPr/>
        </p:nvSpPr>
        <p:spPr>
          <a:xfrm>
            <a:off x="658368" y="5833872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9264" y="5870448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quien evalúa depende de quien es evaluado, el resultado de la evaluación deja de ser información.</a:t>
            </a:r>
            <a:endParaRPr lang="en-US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LA CONSECUENCIA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informe tiene que sostenerse sin quien lo escribió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auditoría existe para que otro se apoye en su resultado, alguien que nunca estuvo tiene que poder repetir cada comprobación y llegar a lo mismo.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487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SIRVE EN UN INFORME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58368" y="2761488"/>
            <a:ext cx="5577840" cy="60350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8346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i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«El código está desordenado»</a:t>
            </a:r>
            <a:endParaRPr lang="en-US" sz="128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309067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dice contra qué se comparó ni cómo verificarlo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58368" y="3474720"/>
            <a:ext cx="5577840" cy="60350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" y="35478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i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«Encontré varios problemas de seguridad»</a:t>
            </a:r>
            <a:endParaRPr lang="en-US" sz="128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38039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la entrada concreta, nadie puede reproducirlos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58368" y="4187952"/>
            <a:ext cx="5577840" cy="60350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42611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i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«Revisé el módulo de pagos»</a:t>
            </a:r>
            <a:endParaRPr lang="en-US" sz="1280" dirty="0"/>
          </a:p>
        </p:txBody>
      </p:sp>
      <p:sp>
        <p:nvSpPr>
          <p:cNvPr id="20" name="Text 17"/>
          <p:cNvSpPr txBox="1"/>
          <p:nvPr/>
        </p:nvSpPr>
        <p:spPr>
          <a:xfrm>
            <a:off x="877824" y="451713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declara hasta dónde llegó, así que no se sabe qué quedó fuera</a:t>
            </a:r>
            <a:endParaRPr lang="en-US" sz="1080" dirty="0"/>
          </a:p>
        </p:txBody>
      </p:sp>
      <p:sp>
        <p:nvSpPr>
          <p:cNvPr id="21" name="Text 18"/>
          <p:cNvSpPr txBox="1"/>
          <p:nvPr/>
        </p:nvSpPr>
        <p:spPr>
          <a:xfrm>
            <a:off x="6693408" y="2487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SÍ EXIGE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693408" y="2761488"/>
            <a:ext cx="483717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93408" y="2761488"/>
            <a:ext cx="45720" cy="6035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0" y="2907792"/>
            <a:ext cx="310896" cy="31089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0" y="290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278624" y="2834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declarado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278624" y="309067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se sepa qué quedó fuera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693408" y="3474720"/>
            <a:ext cx="483717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93408" y="3474720"/>
            <a:ext cx="45720" cy="6035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58000" y="3621024"/>
            <a:ext cx="310896" cy="31089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278624" y="35478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citado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278624" y="38039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el veredicto sea contrastable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6693408" y="4187952"/>
            <a:ext cx="483717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693408" y="4187952"/>
            <a:ext cx="45720" cy="60350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58000" y="4334256"/>
            <a:ext cx="310896" cy="31089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278624" y="42611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 reproducibles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7278624" y="45171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otro llegue al mismo resultado</a:t>
            </a:r>
            <a:endParaRPr lang="en-US" sz="1080" dirty="0"/>
          </a:p>
        </p:txBody>
      </p:sp>
      <p:sp>
        <p:nvSpPr>
          <p:cNvPr id="40" name="Shape 37"/>
          <p:cNvSpPr/>
          <p:nvPr/>
        </p:nvSpPr>
        <p:spPr>
          <a:xfrm>
            <a:off x="658368" y="4974336"/>
            <a:ext cx="10874959" cy="60350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8368" y="4974336"/>
            <a:ext cx="64008" cy="60350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87552" y="5084064"/>
            <a:ext cx="102165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tu propio código no te da la independencia. Las otras dos sí están a tu alcance, y la tercera se aproxima entregándole el código y el criterio a un lector que no participó en escribirlo.</a:t>
            </a:r>
            <a:endParaRPr lang="en-US" sz="1240" dirty="0"/>
          </a:p>
        </p:txBody>
      </p:sp>
      <p:sp>
        <p:nvSpPr>
          <p:cNvPr id="43" name="Shape 40"/>
          <p:cNvSpPr/>
          <p:nvPr/>
        </p:nvSpPr>
        <p:spPr>
          <a:xfrm>
            <a:off x="658368" y="5742432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9264" y="5779008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informe que no declara su alcance es peor que uno incompleto: hace creer que se revisó todo.</a:t>
            </a:r>
            <a:endParaRPr lang="en-US" sz="13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llevarse del Bloque 1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231136"/>
            <a:ext cx="54864" cy="11887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3774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2368296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norma exige un auditor independiente y un criterio escrito antes de empezar. Si auditas tu propio código contra un requisito que también escribiste tú, ¿qué queda en pie de la definición?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72768" y="2999232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1572768" y="3090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3072384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cuántas de las tres exigencias puedes cumplir y cuál no.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529584"/>
            <a:ext cx="10874959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529584"/>
            <a:ext cx="5486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36758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1572768" y="3666744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revisión puede terminar sin hallazgos y haber sido útil. Una auditoría no puede terminar sin veredicto. ¿Qué hay que hacer, entonces, cuando no se encuentra nada?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572768" y="4297680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1572768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23" name="Text 20"/>
          <p:cNvSpPr txBox="1"/>
          <p:nvPr/>
        </p:nvSpPr>
        <p:spPr>
          <a:xfrm>
            <a:off x="2286000" y="4370832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qué necesita saber quien recibe el informe para creerle a un «todo en orden».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" y="4828032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828032"/>
            <a:ext cx="54864" cy="1188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49743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1572768" y="49651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informe del 737 MAX no acusa a los ingenieros de incompetencia, sino a la estructura de supervisión. ¿Qué tendría que cambiar en esa estructura para que la certificación volviera a ser información confiable?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572768" y="5596128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1572768" y="5687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30" name="Text 27"/>
          <p:cNvSpPr txBox="1"/>
          <p:nvPr/>
        </p:nvSpPr>
        <p:spPr>
          <a:xfrm>
            <a:off x="2286000" y="5669280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Vuelve a la primera de las tres exigencias y pregúntate quién pagaba a quién.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7373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2C4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2944368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960" dirty="0"/>
          </a:p>
        </p:txBody>
      </p:sp>
      <p:sp>
        <p:nvSpPr>
          <p:cNvPr id="10" name="Text 7"/>
          <p:cNvSpPr txBox="1"/>
          <p:nvPr/>
        </p:nvSpPr>
        <p:spPr>
          <a:xfrm>
            <a:off x="2944368" y="2121408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mito de</a:t>
            </a:r>
            <a:endParaRPr lang="en-US" sz="3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muchos ojos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2944368" y="3456432"/>
            <a:ext cx="1828800" cy="64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44368" y="3730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bastara con que mire suficiente gente, ¿qué pasó cuando mirar dejó de costar tiempo y dinero?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 CREENCIA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Existe una respuesta muy conocida a todo esto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dice que no hace falta tanto procedimiento: basta con que mire suficiente gente. Tiene autor y tiene fecha.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10874959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5420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LA ESCRIBIÓ SU AUTOR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2798064"/>
            <a:ext cx="1021659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Dada una base suficientemente grande de gente que prueba versiones preliminares y que además desarrolla, casi todo problema será caracterizado rápido y la corrección le resultará obvia a alguien.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…o, menos formalmente: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658368" y="3931920"/>
            <a:ext cx="7406640" cy="78638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931920"/>
            <a:ext cx="64008" cy="7863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87552" y="411480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«Con suficientes ojos, todos los errores son superficiales.»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8284464" y="3931920"/>
            <a:ext cx="3246120" cy="78638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522208" y="40782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es la que</a:t>
            </a:r>
            <a:endParaRPr lang="en-US" sz="134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sobrevivió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658368" y="484632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4672" y="483717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Eric S. Raymond, «The Cathedral and the Bazaar», 1999 · traducción del original en inglés.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658368" y="5157216"/>
            <a:ext cx="10874959" cy="45720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9264" y="5248656"/>
            <a:ext cx="10253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es creíble: un defecto es difícil para quien no reconoce el patrón, y trivial para quien ya lo vio antes.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58368" y="5742432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" y="5779008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autor la bautizó «Ley de Linus», en honor a Linus Torvalds. Conviene ver qué opinó Torvalds.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LO QUE CASI NADIE CITA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líneas más abajo, en el mismo texto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autor transcribe la objeción que le hizo la persona a quien dedicó la ley.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10874959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77440"/>
            <a:ext cx="64008" cy="10789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487168"/>
            <a:ext cx="10308031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6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“Mi formulación original era que todo problema «será transparente para alguien». Linus objetó que la persona que entiende y corrige el problema no es necesariamente, ni habitualmente, la que primero lo caracteriza.”</a:t>
            </a:r>
            <a:endParaRPr lang="en-US" sz="1360" dirty="0"/>
          </a:p>
        </p:txBody>
      </p:sp>
      <p:sp>
        <p:nvSpPr>
          <p:cNvPr id="14" name="Shape 11"/>
          <p:cNvSpPr/>
          <p:nvPr/>
        </p:nvSpPr>
        <p:spPr>
          <a:xfrm>
            <a:off x="658368" y="3602736"/>
            <a:ext cx="10874959" cy="1207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7552" y="3767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ENTONCES CITA A TORVALDS, TEXTUAL</a:t>
            </a:r>
            <a:endParaRPr lang="en-US" sz="960" dirty="0"/>
          </a:p>
        </p:txBody>
      </p:sp>
      <p:sp>
        <p:nvSpPr>
          <p:cNvPr id="16" name="Text 13"/>
          <p:cNvSpPr txBox="1"/>
          <p:nvPr/>
        </p:nvSpPr>
        <p:spPr>
          <a:xfrm>
            <a:off x="987552" y="4023360"/>
            <a:ext cx="10216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«Alguien encuentra el problema, y otro lo entiende.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87552" y="4315968"/>
            <a:ext cx="1021659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voy a dejar constancia de que encontrarlo es el desafío mayor.»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58368" y="493776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49286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Eric S. Raymond, «The Cathedral and the Bazaar», 1999 · traducción del original en inglés.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58368" y="5248656"/>
            <a:ext cx="10874959" cy="45720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5340096"/>
            <a:ext cx="10253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página donde nace la ley de los muchos ojos, su autor deja escrito que el cuello de botella está en la detección.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" y="5833872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9264" y="5870448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Igual que con la curva de costo del defecto: la fuente trae el matiz, y el eslogan lo descarta.</a:t>
            </a:r>
            <a:endParaRPr lang="en-US" sz="13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 PALABRA CAMBIADA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eslogan no dice lo mismo que la ley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una segunda precisión, y está en la propia redacción formal.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32304"/>
            <a:ext cx="4937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32304"/>
            <a:ext cx="4937760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633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SU AUTOR ESCRIBIÓ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29077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beta-testers</a:t>
            </a:r>
            <a:endParaRPr lang="en-US" sz="2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co-desarrolladores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36027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gente que ejecuta el software y además puede modificarlo</a:t>
            </a:r>
            <a:endParaRPr lang="en-US" sz="1140" dirty="0"/>
          </a:p>
        </p:txBody>
      </p:sp>
      <p:sp>
        <p:nvSpPr>
          <p:cNvPr id="16" name="Text 13"/>
          <p:cNvSpPr txBox="1"/>
          <p:nvPr/>
        </p:nvSpPr>
        <p:spPr>
          <a:xfrm>
            <a:off x="5742432" y="29992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6419088" y="2432304"/>
            <a:ext cx="5111496" cy="155448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19088" y="2432304"/>
            <a:ext cx="5111496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93408" y="26334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ESLOGAN DICE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6693408" y="29077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ojos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6693408" y="36027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cualquiera que mire, sin ninguna otra condición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658368" y="4224528"/>
            <a:ext cx="10874959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9264" y="4334256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ojo no revisa: mira. Y mirar no era lo que la ley pedía.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5065776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sustitución es la que vuelve falsa la versión popular. La formulación original nunca dijo que bastara con mirar: pedía gente capaz de caracterizar el problema y de corregirlo.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658368" y="5742432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" y="5779008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eso permite leer con precisión el caso que siempre se usa para dar la ley por refutada.</a:t>
            </a:r>
            <a:endParaRPr lang="en-US" sz="13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CASO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caso no refuta la ley: la confirma por ausencia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OpenSSL sostenía buena parte del tráfico cifrado de internet, y mantuvo un defecto grave durante años.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5266944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95728"/>
            <a:ext cx="5266944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78608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Millones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303580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sistemas dependían de esa biblioteca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91072" y="2395728"/>
            <a:ext cx="5266944" cy="106070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91072" y="2395728"/>
            <a:ext cx="5266944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01968" y="2578608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Muy pocas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3035808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leían y modificaban su código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58368" y="3675888"/>
            <a:ext cx="10874959" cy="566928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264" y="3785616"/>
            <a:ext cx="102531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Depender de un software no es mirarlo. Millones de usuarios no son millones de revisores.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4425696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 redacción original a la vista, el caso se lee distinto: OpenSSL nunca tuvo una base grande de co-desarrolladores, así que la condición de la ley nunca se cumplió. Lo que el caso refuta es el eslogan.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658368" y="4992624"/>
            <a:ext cx="10874959" cy="60350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4992624"/>
            <a:ext cx="64008" cy="60350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" y="5102352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mayoría de la gente simplemente no sabe qué buscar.”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58368" y="5687568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4672" y="567842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Michael Howard y David LeBlanc, «Writing Secure Code», 2003 · once años antes de este caso · traducción del original en inglés.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658368" y="5961888"/>
            <a:ext cx="10874959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9264" y="5998464"/>
            <a:ext cx="102531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lista de comprobación y sin una referencia contra la cual comparar, mirar no produce hallazgos.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EXPERIMENTO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Durante veinticinco años esto fue una discusión teórica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había manera de conseguir muchos ojos competentes y baratos. Eso cambió.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10874959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377440"/>
            <a:ext cx="64008" cy="11338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60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487168" y="2542032"/>
            <a:ext cx="5358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código ajeno costaba tiempo de alguien con criterio, y ese tiempo era escaso y caro.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7955280" y="2560320"/>
            <a:ext cx="0" cy="768096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8247888" y="27797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límite era real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" y="3621024"/>
            <a:ext cx="10874959" cy="1133856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621024"/>
            <a:ext cx="64008" cy="113385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" y="3803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4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2487168" y="3785616"/>
            <a:ext cx="5358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Cualquiera puede apuntar un agente a un repositorio ajeno y producir un informe de seguridad con apariencia profesional en minutos, sin haber leído el código.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7955280" y="3803904"/>
            <a:ext cx="0" cy="768096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8247888" y="40233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límite desapareció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4956048"/>
            <a:ext cx="10874959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" y="5065776"/>
            <a:ext cx="102531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versión popular de la ley fuera cierta, esto tendría que haber sido</a:t>
            </a:r>
            <a:endParaRPr lang="en-US" sz="15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edad de oro de la seguridad del software libre.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58368" y="5797296"/>
            <a:ext cx="10874959" cy="49377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" y="5833872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Ocurrió lo contrario, y está documentado con números por quien lo sufrió.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LOS DATOS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curl cerró su programa de recompensas por vulnerabilidades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es una de las piezas de software más desplegadas del mundo: está en autos, televisores, teléfonos y servidores. Durante años pagó a quien reportara un problema de seguridad real.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32304"/>
            <a:ext cx="2688336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32304"/>
            <a:ext cx="2688336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259689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31455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vulnerabilidades confirmadas en toda la vida del programa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3456432" y="2432304"/>
            <a:ext cx="2688336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56432" y="2432304"/>
            <a:ext cx="2688336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39312" y="259689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+100.000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3639312" y="31455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dólares pagados en recompensas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254496" y="2432304"/>
            <a:ext cx="2688336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54496" y="2432304"/>
            <a:ext cx="2688336" cy="6400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37376" y="259689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+15 %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6437376" y="31455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los reportes eran vulnerabilidad real, históricamente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9052560" y="2432304"/>
            <a:ext cx="2688336" cy="1225296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52560" y="2432304"/>
            <a:ext cx="2688336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35440" y="259689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−5 %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9235440" y="3145536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los reportes eran vulnerabilidad real, desde 2025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58368" y="3803904"/>
            <a:ext cx="10874959" cy="71323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" y="3803904"/>
            <a:ext cx="64008" cy="71323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69264" y="3913632"/>
            <a:ext cx="1030803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6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“…la embrutecedora basura generada por IA, personas trabajando peor que nunca, y la aparente voluntad de buscar agujeros en lugar de ayudar.”</a:t>
            </a:r>
            <a:endParaRPr lang="en-US" sz="1360" dirty="0"/>
          </a:p>
        </p:txBody>
      </p:sp>
      <p:sp>
        <p:nvSpPr>
          <p:cNvPr id="30" name="Shape 27"/>
          <p:cNvSpPr/>
          <p:nvPr/>
        </p:nvSpPr>
        <p:spPr>
          <a:xfrm>
            <a:off x="658368" y="4608576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45994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Daniel Stenberg, creador y mantenedor de curl, 26 de enero de 2026 · traducción del original en inglés. El programa terminó el 31 de enero de 2026.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658368" y="4937760"/>
            <a:ext cx="10874959" cy="566928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9264" y="5047488"/>
            <a:ext cx="102531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 tres factores, y solo uno es la IA. La herramienta amplificó un problema de incentivos que ya existía.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58368" y="5632704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69264" y="5669280"/>
            <a:ext cx="10253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los ojos se volvieron infinitos no hubo más seguridad: hubo tanto ruido que hubo que cerrar el canal para recibir hallazgos.</a:t>
            </a:r>
            <a:endParaRPr lang="en-US" sz="13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 CONCLUSIÓN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ojos no eran lo escaso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048256"/>
            <a:ext cx="10874959" cy="8229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9264" y="2176272"/>
            <a:ext cx="102531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escaso lo dijo Torvalds en 1999, en la misma página donde nació la ley: caracterizar el problema.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03580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hallazgo vale cuando alguien puede decir con qué entrada ocurre, contra qué debía compararse y cómo se reproduce. Eso no escala con la cantidad de lectores.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58368" y="3639312"/>
            <a:ext cx="10874959" cy="78638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3639312"/>
            <a:ext cx="64008" cy="7863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87552" y="3749040"/>
            <a:ext cx="102165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de una auditoría no está en cuántos hallazgos declara,</a:t>
            </a:r>
            <a:endParaRPr lang="en-US" sz="155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sino en cuántos de ellos otro puede confirmar sin ayuda del que los encontró.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58368" y="4626864"/>
            <a:ext cx="10874959" cy="91440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4626864"/>
            <a:ext cx="64008" cy="9144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7552" y="4773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POR ESO LA ESCALA EMPEORA LAS COSAS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5029200"/>
            <a:ext cx="102165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Diez mil sospechas bien redactadas no son mejores que ninguna. Son peores, porque consumen</a:t>
            </a:r>
            <a:endParaRPr lang="en-US" sz="134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tiempo del único recurso verdaderamente escaso: alguien competente decidiendo.</a:t>
            </a:r>
            <a:endParaRPr lang="en-US" sz="1340" dirty="0"/>
          </a:p>
        </p:txBody>
      </p:sp>
      <p:sp>
        <p:nvSpPr>
          <p:cNvPr id="20" name="Shape 17"/>
          <p:cNvSpPr/>
          <p:nvPr/>
        </p:nvSpPr>
        <p:spPr>
          <a:xfrm>
            <a:off x="658368" y="5705856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5742432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resto de la clase es el procedimiento que hace verificable un hallazgo, y el registro que lo deja escrito.</a:t>
            </a:r>
            <a:endParaRPr lang="en-US" sz="13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llevarse del Bloque 2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231136"/>
            <a:ext cx="54864" cy="11887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3774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2368296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autor escribió «base de beta-testers y co-desarrolladores» y el eslogan lo convirtió en «ojos». ¿Qué se pierde en esa sustitución, y por qué eso vuelve falsa la versión popular sin que la original lo sea?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72768" y="2999232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1572768" y="3090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3072384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Pregúntate qué puede hacer un co-desarrollador que un espectador no.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529584"/>
            <a:ext cx="10874959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529584"/>
            <a:ext cx="5486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36758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1572768" y="3666744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Torvalds dejó dicho que encontrar el problema es el desafío mayor. Si eso es cierto, ¿qué tendría que aportar un agente para ayudar de verdad en una auditoría?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572768" y="4297680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1572768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23" name="Text 20"/>
          <p:cNvSpPr txBox="1"/>
          <p:nvPr/>
        </p:nvSpPr>
        <p:spPr>
          <a:xfrm>
            <a:off x="2286000" y="4370832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texto que parezca un hallazgo no es aportar. Mira qué campos le faltan a ese texto.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" y="4828032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828032"/>
            <a:ext cx="54864" cy="1188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49743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1572768" y="49651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no cerró su programa por recibir pocos reportes, sino demasiados sin valor. ¿Qué le habría permitido separar los útiles de los inútiles sin leerlos todos?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572768" y="5596128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1572768" y="5687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30" name="Text 27"/>
          <p:cNvSpPr txBox="1"/>
          <p:nvPr/>
        </p:nvSpPr>
        <p:spPr>
          <a:xfrm>
            <a:off x="2286000" y="5669280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un requisito de entrada, no en un lector más rápido.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7373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2C4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2944368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960" dirty="0"/>
          </a:p>
        </p:txBody>
      </p:sp>
      <p:sp>
        <p:nvSpPr>
          <p:cNvPr id="10" name="Text 7"/>
          <p:cNvSpPr txBox="1"/>
          <p:nvPr/>
        </p:nvSpPr>
        <p:spPr>
          <a:xfrm>
            <a:off x="2944368" y="2121408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procedimiento,</a:t>
            </a:r>
            <a:endParaRPr lang="en-US" sz="3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ejecutado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2944368" y="3456432"/>
            <a:ext cx="1828800" cy="64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44368" y="3730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barreras ya las conoces. ¿En qué orden se aplican, por qué en ese, y en qué momento se para?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CRITERIO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orden no es arbitrario: lo deciden dos cosas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las dos apuntan en la misma dirección.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52669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86000"/>
            <a:ext cx="5266944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487168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creciente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29260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298448" y="292608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una herramienta cuesta segundos de máquina.</a:t>
            </a:r>
            <a:endParaRPr lang="en-US" sz="1160" dirty="0"/>
          </a:p>
        </p:txBody>
      </p:sp>
      <p:sp>
        <p:nvSpPr>
          <p:cNvPr id="16" name="Text 13"/>
          <p:cNvSpPr txBox="1"/>
          <p:nvPr/>
        </p:nvSpPr>
        <p:spPr>
          <a:xfrm>
            <a:off x="969264" y="3328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328416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el código contra el requisito cuesta atención humana.</a:t>
            </a:r>
            <a:endParaRPr lang="en-US" sz="116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37307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98448" y="373075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un umbral corresponde cuesta una conversación con quien manda.</a:t>
            </a:r>
            <a:endParaRPr lang="en-US" sz="1160" dirty="0"/>
          </a:p>
        </p:txBody>
      </p:sp>
      <p:sp>
        <p:nvSpPr>
          <p:cNvPr id="20" name="Shape 17"/>
          <p:cNvSpPr/>
          <p:nvPr/>
        </p:nvSpPr>
        <p:spPr>
          <a:xfrm>
            <a:off x="6291072" y="2286000"/>
            <a:ext cx="52669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91072" y="2286000"/>
            <a:ext cx="5266944" cy="64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01968" y="2487168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Objetividad decreciente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9260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931152" y="292608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herramienta no discute consigo misma: dos ejecuciones dan lo mismo.</a:t>
            </a:r>
            <a:endParaRPr lang="en-US" sz="1160" dirty="0"/>
          </a:p>
        </p:txBody>
      </p:sp>
      <p:sp>
        <p:nvSpPr>
          <p:cNvPr id="25" name="Text 22"/>
          <p:cNvSpPr txBox="1"/>
          <p:nvPr/>
        </p:nvSpPr>
        <p:spPr>
          <a:xfrm>
            <a:off x="6601968" y="332841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931152" y="3328416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lectura depende de en qué se fijó quien leyó.</a:t>
            </a:r>
            <a:endParaRPr lang="en-US" sz="1160" dirty="0"/>
          </a:p>
        </p:txBody>
      </p:sp>
      <p:sp>
        <p:nvSpPr>
          <p:cNvPr id="27" name="Text 24"/>
          <p:cNvSpPr txBox="1"/>
          <p:nvPr/>
        </p:nvSpPr>
        <p:spPr>
          <a:xfrm>
            <a:off x="6601968" y="37307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931152" y="3730752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juicio de criterio depende de quién lo emite y con qué autoridad.</a:t>
            </a:r>
            <a:endParaRPr lang="en-US" sz="1160" dirty="0"/>
          </a:p>
        </p:txBody>
      </p:sp>
      <p:sp>
        <p:nvSpPr>
          <p:cNvPr id="29" name="Shape 26"/>
          <p:cNvSpPr/>
          <p:nvPr/>
        </p:nvSpPr>
        <p:spPr>
          <a:xfrm>
            <a:off x="658368" y="4480560"/>
            <a:ext cx="10874959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" y="4608576"/>
            <a:ext cx="102531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barato y objetivo primero. Y cada paso reduce lo que el siguiente tiene que mirar.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" y="5431536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tiene sentido gastar atención humana en algo que una herramienta detecta sola.</a:t>
            </a:r>
            <a:endParaRPr lang="en-US" sz="1340" dirty="0"/>
          </a:p>
        </p:txBody>
      </p:sp>
      <p:sp>
        <p:nvSpPr>
          <p:cNvPr id="32" name="Shape 29"/>
          <p:cNvSpPr/>
          <p:nvPr/>
        </p:nvSpPr>
        <p:spPr>
          <a:xfrm>
            <a:off x="658368" y="5779008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69264" y="5815584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ahí salen cinco pasos, y el primero no mira código.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MAPA DEL PROCEDIMIENTO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pasos, y cada uno ve lo que el anterior no podía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39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</a:t>
            </a:r>
            <a:endParaRPr lang="en-US" sz="930" dirty="0"/>
          </a:p>
        </p:txBody>
      </p:sp>
      <p:sp>
        <p:nvSpPr>
          <p:cNvPr id="11" name="Text 8"/>
          <p:cNvSpPr txBox="1"/>
          <p:nvPr/>
        </p:nvSpPr>
        <p:spPr>
          <a:xfrm>
            <a:off x="3511296" y="2139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QUÉ COMPARA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139696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1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ENCUENTRA QUE EL ANTERIOR NO PODÍA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58368" y="2395728"/>
            <a:ext cx="10874959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58368" y="2505456"/>
            <a:ext cx="10874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505456"/>
            <a:ext cx="45720" cy="5486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2615184"/>
            <a:ext cx="329184" cy="32918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225296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511296" y="25968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4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596896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Fija el límite. Sin esto no hay criterio de término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658368" y="3108960"/>
            <a:ext cx="45720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3218688"/>
            <a:ext cx="329184" cy="3291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225296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Barreras automáticas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511296" y="3200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tipos y un catálogo de patrones</a:t>
            </a:r>
            <a:endParaRPr lang="en-US" sz="114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320040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mecánico, sin juicio y sin cansancio</a:t>
            </a:r>
            <a:endParaRPr lang="en-US" sz="1140" dirty="0"/>
          </a:p>
        </p:txBody>
      </p:sp>
      <p:sp>
        <p:nvSpPr>
          <p:cNvPr id="27" name="Shape 24"/>
          <p:cNvSpPr/>
          <p:nvPr/>
        </p:nvSpPr>
        <p:spPr>
          <a:xfrm>
            <a:off x="658368" y="3712464"/>
            <a:ext cx="10874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" y="3712464"/>
            <a:ext cx="45720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" y="3822192"/>
            <a:ext cx="329184" cy="3291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225296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requisito escrito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511296" y="38039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documento del proyecto</a:t>
            </a:r>
            <a:endParaRPr lang="en-US" sz="1140" dirty="0"/>
          </a:p>
        </p:txBody>
      </p:sp>
      <p:sp>
        <p:nvSpPr>
          <p:cNvPr id="33" name="Text 30"/>
          <p:cNvSpPr txBox="1"/>
          <p:nvPr/>
        </p:nvSpPr>
        <p:spPr>
          <a:xfrm>
            <a:off x="6583680" y="3803904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ninguna herramienta puede formular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658368" y="4315968"/>
            <a:ext cx="45720" cy="5486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22960" y="4425696"/>
            <a:ext cx="329184" cy="329184"/>
          </a:xfrm>
          <a:prstGeom prst="ellipse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225296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referencia externa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3511296" y="44074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modelo de calidad, una norma, una ley</a:t>
            </a:r>
            <a:endParaRPr lang="en-US" sz="1140" dirty="0"/>
          </a:p>
        </p:txBody>
      </p:sp>
      <p:sp>
        <p:nvSpPr>
          <p:cNvPr id="39" name="Text 36"/>
          <p:cNvSpPr txBox="1"/>
          <p:nvPr/>
        </p:nvSpPr>
        <p:spPr>
          <a:xfrm>
            <a:off x="6583680" y="4407408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el requisito mismo olvidó decir</a:t>
            </a:r>
            <a:endParaRPr lang="en-US" sz="1140" dirty="0"/>
          </a:p>
        </p:txBody>
      </p:sp>
      <p:sp>
        <p:nvSpPr>
          <p:cNvPr id="40" name="Shape 37"/>
          <p:cNvSpPr/>
          <p:nvPr/>
        </p:nvSpPr>
        <p:spPr>
          <a:xfrm>
            <a:off x="658368" y="4919472"/>
            <a:ext cx="10874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8368" y="4919472"/>
            <a:ext cx="45720" cy="5486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22960" y="5029200"/>
            <a:ext cx="329184" cy="32918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96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225296" y="5065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ejecución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3511296" y="50109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comportamiento real, con una prueba</a:t>
            </a:r>
            <a:endParaRPr lang="en-US" sz="1140" dirty="0"/>
          </a:p>
        </p:txBody>
      </p:sp>
      <p:sp>
        <p:nvSpPr>
          <p:cNvPr id="46" name="Text 43"/>
          <p:cNvSpPr txBox="1"/>
          <p:nvPr/>
        </p:nvSpPr>
        <p:spPr>
          <a:xfrm>
            <a:off x="6583680" y="50109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el defecto de la sospecha y del hueco</a:t>
            </a:r>
            <a:endParaRPr lang="en-US" sz="1140" dirty="0"/>
          </a:p>
        </p:txBody>
      </p:sp>
      <p:sp>
        <p:nvSpPr>
          <p:cNvPr id="47" name="Shape 44"/>
          <p:cNvSpPr/>
          <p:nvPr/>
        </p:nvSpPr>
        <p:spPr>
          <a:xfrm>
            <a:off x="658368" y="5705856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69264" y="5742432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tabla es el procedimiento completo. El resto del bloque la ejecuta paso por paso sobre un proyecto real.</a:t>
            </a:r>
            <a:endParaRPr lang="en-US" sz="13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PASO 0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Declarar el alcance antes de abrir nada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auditoría sin alcance declarado no puede terminar bien, porque no puede terminar: siempre queda algo por mirar.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32304"/>
            <a:ext cx="6492240" cy="1737360"/>
          </a:xfrm>
          <a:prstGeom prst="roundRect">
            <a:avLst>
              <a:gd name="adj" fmla="val 21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542032"/>
            <a:ext cx="62362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615184"/>
            <a:ext cx="6016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cuatro líneas que se escriben antes de empezar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99232"/>
            <a:ext cx="6071616" cy="98755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33488" y="2432304"/>
            <a:ext cx="4197096" cy="173736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33488" y="2432304"/>
            <a:ext cx="64008" cy="173736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44384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QUE IMPORTA</a:t>
            </a:r>
            <a:endParaRPr lang="en-US" sz="960" dirty="0"/>
          </a:p>
        </p:txBody>
      </p:sp>
      <p:sp>
        <p:nvSpPr>
          <p:cNvPr id="18" name="Text 14"/>
          <p:cNvSpPr txBox="1"/>
          <p:nvPr/>
        </p:nvSpPr>
        <p:spPr>
          <a:xfrm>
            <a:off x="7644384" y="2871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queda fuera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644384" y="32735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informe que no declara qué quedó fuera es peor que uno incompleto: hace creer que se revisó todo.</a:t>
            </a:r>
            <a:endParaRPr lang="en-US" sz="1240" dirty="0"/>
          </a:p>
        </p:txBody>
      </p:sp>
      <p:sp>
        <p:nvSpPr>
          <p:cNvPr id="20" name="Text 16"/>
          <p:cNvSpPr txBox="1"/>
          <p:nvPr/>
        </p:nvSpPr>
        <p:spPr>
          <a:xfrm>
            <a:off x="658368" y="4352544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ese alcance es el que decide cuándo terminaste:</a:t>
            </a:r>
            <a:endParaRPr lang="en-US" sz="1360" dirty="0"/>
          </a:p>
        </p:txBody>
      </p:sp>
      <p:sp>
        <p:nvSpPr>
          <p:cNvPr id="21" name="Shape 17"/>
          <p:cNvSpPr/>
          <p:nvPr/>
        </p:nvSpPr>
        <p:spPr>
          <a:xfrm>
            <a:off x="658368" y="4681728"/>
            <a:ext cx="526694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58368" y="4681728"/>
            <a:ext cx="54864" cy="78638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32688" y="48097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termina</a:t>
            </a:r>
            <a:endParaRPr lang="en-US" sz="1240" dirty="0"/>
          </a:p>
        </p:txBody>
      </p:sp>
      <p:sp>
        <p:nvSpPr>
          <p:cNvPr id="24" name="Text 20"/>
          <p:cNvSpPr txBox="1"/>
          <p:nvPr/>
        </p:nvSpPr>
        <p:spPr>
          <a:xfrm>
            <a:off x="932688" y="5065776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los pasos declarados se aplicaron sobre el alcance declarado</a:t>
            </a:r>
            <a:endParaRPr lang="en-US" sz="1160" dirty="0"/>
          </a:p>
        </p:txBody>
      </p:sp>
      <p:sp>
        <p:nvSpPr>
          <p:cNvPr id="25" name="Shape 21"/>
          <p:cNvSpPr/>
          <p:nvPr/>
        </p:nvSpPr>
        <p:spPr>
          <a:xfrm>
            <a:off x="6291072" y="4681728"/>
            <a:ext cx="5266944" cy="78638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91072" y="4681728"/>
            <a:ext cx="54864" cy="7863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565392" y="48097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termina</a:t>
            </a:r>
            <a:endParaRPr lang="en-US" sz="1240" dirty="0"/>
          </a:p>
        </p:txBody>
      </p:sp>
      <p:sp>
        <p:nvSpPr>
          <p:cNvPr id="28" name="Text 24"/>
          <p:cNvSpPr txBox="1"/>
          <p:nvPr/>
        </p:nvSpPr>
        <p:spPr>
          <a:xfrm>
            <a:off x="6565392" y="5065776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aparece algo grave, cuando se acaba la hora, ni cuando ya parece suficiente</a:t>
            </a:r>
            <a:endParaRPr lang="en-US" sz="1160" dirty="0"/>
          </a:p>
        </p:txBody>
      </p:sp>
      <p:sp>
        <p:nvSpPr>
          <p:cNvPr id="29" name="Shape 25"/>
          <p:cNvSpPr/>
          <p:nvPr/>
        </p:nvSpPr>
        <p:spPr>
          <a:xfrm>
            <a:off x="658368" y="5742432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69264" y="5779008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Recién ahora se abre el código.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MATERIAL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 que se audita hoy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 de reserva de laboratorio. Su requisito completo son cuatro reglas, y caben en una lámina.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32304"/>
            <a:ext cx="6766560" cy="2359152"/>
          </a:xfrm>
          <a:prstGeom prst="roundRect">
            <a:avLst>
              <a:gd name="adj" fmla="val 155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542032"/>
            <a:ext cx="651052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615184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REQUISITOS.md · el documento completo del proyecto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99232"/>
            <a:ext cx="6345936" cy="16093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07808" y="2432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HAY QUE TENER A MANO</a:t>
            </a:r>
            <a:endParaRPr lang="en-US" sz="960" dirty="0"/>
          </a:p>
        </p:txBody>
      </p:sp>
      <p:sp>
        <p:nvSpPr>
          <p:cNvPr id="16" name="Shape 12"/>
          <p:cNvSpPr/>
          <p:nvPr/>
        </p:nvSpPr>
        <p:spPr>
          <a:xfrm>
            <a:off x="7607808" y="2724912"/>
            <a:ext cx="39227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607808" y="2724912"/>
            <a:ext cx="4572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27264" y="27980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reglas</a:t>
            </a:r>
            <a:endParaRPr lang="en-US" sz="1240" dirty="0"/>
          </a:p>
        </p:txBody>
      </p:sp>
      <p:sp>
        <p:nvSpPr>
          <p:cNvPr id="19" name="Text 15"/>
          <p:cNvSpPr txBox="1"/>
          <p:nvPr/>
        </p:nvSpPr>
        <p:spPr>
          <a:xfrm>
            <a:off x="7827264" y="30358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números concretos: 1 a 8, máximo 3, 2 horas</a:t>
            </a:r>
            <a:endParaRPr lang="en-US" sz="1060" dirty="0"/>
          </a:p>
        </p:txBody>
      </p:sp>
      <p:sp>
        <p:nvSpPr>
          <p:cNvPr id="20" name="Shape 16"/>
          <p:cNvSpPr/>
          <p:nvPr/>
        </p:nvSpPr>
        <p:spPr>
          <a:xfrm>
            <a:off x="7607808" y="3383280"/>
            <a:ext cx="39227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607808" y="3383280"/>
            <a:ext cx="45720" cy="5669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27264" y="34564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frase suelta</a:t>
            </a:r>
            <a:endParaRPr lang="en-US" sz="1240" dirty="0"/>
          </a:p>
        </p:txBody>
      </p:sp>
      <p:sp>
        <p:nvSpPr>
          <p:cNvPr id="23" name="Text 19"/>
          <p:cNvSpPr txBox="1"/>
          <p:nvPr/>
        </p:nvSpPr>
        <p:spPr>
          <a:xfrm>
            <a:off x="7827264" y="36941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el comprobante, sin decir qué datos lleva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7607808" y="4041648"/>
            <a:ext cx="392277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607808" y="4041648"/>
            <a:ext cx="45720" cy="5669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827264" y="41148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límite ambiguo</a:t>
            </a:r>
            <a:endParaRPr lang="en-US" sz="1240" dirty="0"/>
          </a:p>
        </p:txBody>
      </p:sp>
      <p:sp>
        <p:nvSpPr>
          <p:cNvPr id="27" name="Text 23"/>
          <p:cNvSpPr txBox="1"/>
          <p:nvPr/>
        </p:nvSpPr>
        <p:spPr>
          <a:xfrm>
            <a:off x="7827264" y="43525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«hasta 2 horas antes» no dice si incluye ese instante</a:t>
            </a:r>
            <a:endParaRPr lang="en-US" sz="1060" dirty="0"/>
          </a:p>
        </p:txBody>
      </p:sp>
      <p:sp>
        <p:nvSpPr>
          <p:cNvPr id="28" name="Shape 24"/>
          <p:cNvSpPr/>
          <p:nvPr/>
        </p:nvSpPr>
        <p:spPr>
          <a:xfrm>
            <a:off x="658368" y="4956048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69264" y="4992624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las cuatro reglas: los pasos 2, 3 y 4 se juegan contra ellas.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58368" y="5577840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se entrega ya ejecutado, con sus salidas registradas. Nadie queda detenido por el estado de su propio repositorio.</a:t>
            </a:r>
            <a:endParaRPr lang="en-US" sz="12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PASO 1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barreras automáticas: tres comandos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lo que no requiere criterio. Es lo más barato y lo más objetivo que hay.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3657600" cy="1975104"/>
          </a:xfrm>
          <a:prstGeom prst="roundRect">
            <a:avLst>
              <a:gd name="adj" fmla="val 185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87168"/>
            <a:ext cx="340156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560320"/>
            <a:ext cx="3145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· el linter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94436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188720" y="2944368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877824" y="3200400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877824" y="345643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^^^^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877824" y="3712464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unused import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77824" y="3968496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error.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443984" y="2377440"/>
            <a:ext cx="3657600" cy="1975104"/>
          </a:xfrm>
          <a:prstGeom prst="roundRect">
            <a:avLst>
              <a:gd name="adj" fmla="val 185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2487168"/>
            <a:ext cx="340156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0016" y="2560320"/>
            <a:ext cx="3145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 · el tipado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63440" y="294436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4974336" y="2944368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4663440" y="3200400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Returned type `None` is not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4663440" y="3456432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assignable to declared return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4663440" y="3712464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`bool`  [bad-return]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4663440" y="3968496"/>
            <a:ext cx="2907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1 error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7973568" y="2377440"/>
            <a:ext cx="3557016" cy="1975104"/>
          </a:xfrm>
          <a:prstGeom prst="roundRect">
            <a:avLst>
              <a:gd name="adj" fmla="val 185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101584" y="2487168"/>
            <a:ext cx="330098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0" y="2560320"/>
            <a:ext cx="3044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las pruebas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93024" y="294436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60" dirty="0"/>
          </a:p>
        </p:txBody>
      </p:sp>
      <p:sp>
        <p:nvSpPr>
          <p:cNvPr id="33" name="Text 30"/>
          <p:cNvSpPr/>
          <p:nvPr/>
        </p:nvSpPr>
        <p:spPr>
          <a:xfrm>
            <a:off x="8503920" y="294436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8193024" y="3200400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....</a:t>
            </a:r>
            <a:endParaRPr lang="en-US" sz="960" dirty="0"/>
          </a:p>
        </p:txBody>
      </p:sp>
      <p:sp>
        <p:nvSpPr>
          <p:cNvPr id="35" name="Text 32"/>
          <p:cNvSpPr/>
          <p:nvPr/>
        </p:nvSpPr>
        <p:spPr>
          <a:xfrm>
            <a:off x="8193024" y="3456432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60" dirty="0"/>
          </a:p>
        </p:txBody>
      </p:sp>
      <p:sp>
        <p:nvSpPr>
          <p:cNvPr id="36" name="Text 33"/>
          <p:cNvSpPr/>
          <p:nvPr/>
        </p:nvSpPr>
        <p:spPr>
          <a:xfrm>
            <a:off x="8193024" y="3712464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passed in 0.03s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658368" y="4517136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58368" y="4517136"/>
            <a:ext cx="6400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87552" y="46451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HALLAZGOS, Y FÍJATE EN SU NATURALEZA</a:t>
            </a:r>
            <a:endParaRPr lang="en-US" sz="960" dirty="0"/>
          </a:p>
        </p:txBody>
      </p:sp>
      <p:sp>
        <p:nvSpPr>
          <p:cNvPr id="40" name="Text 37"/>
          <p:cNvSpPr txBox="1"/>
          <p:nvPr/>
        </p:nvSpPr>
        <p:spPr>
          <a:xfrm>
            <a:off x="987552" y="4882896"/>
            <a:ext cx="102165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import que sobra y un tipo de retorno que no calza. Válidos y baratos. Ninguno tiene que ver con si el sistema hace lo que el laboratorio necesita.</a:t>
            </a:r>
            <a:endParaRPr lang="en-US" sz="1260" dirty="0"/>
          </a:p>
        </p:txBody>
      </p:sp>
      <p:sp>
        <p:nvSpPr>
          <p:cNvPr id="41" name="Shape 38"/>
          <p:cNvSpPr/>
          <p:nvPr/>
        </p:nvSpPr>
        <p:spPr>
          <a:xfrm>
            <a:off x="658368" y="5394960"/>
            <a:ext cx="10874959" cy="49377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9264" y="5431536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Pero el resultado que importa de esta lámina es el tercero: la suite está en verde.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58368" y="6016752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Ejecuciones registradas para esta clase sobre Python 3.12.12.</a:t>
            </a:r>
            <a:endParaRPr lang="en-US" sz="9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RESULTADO QUE ENGAÑA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pruebas, ninguna falla, y dos defectos adentro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103120"/>
            <a:ext cx="10874959" cy="969264"/>
          </a:xfrm>
          <a:prstGeom prst="rect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103120"/>
            <a:ext cx="64008" cy="9692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4128" y="22494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passed in 0.03s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239572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Escritas por alguien que conocía bien el código.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236976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pasos siguientes van a encontrar dos defectos reales en ese mismo módulo. ¿Por qué estas cuatro pruebas no los ven?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8368" y="3785616"/>
            <a:ext cx="5266944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785616"/>
            <a:ext cx="5266944" cy="64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" y="396849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qué comparan estas pruebas</a:t>
            </a:r>
            <a:endParaRPr lang="en-US" sz="134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4261104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lo que su autor entendió que el código debía hacer.</a:t>
            </a:r>
            <a:endParaRPr lang="en-US" sz="1240" dirty="0"/>
          </a:p>
        </p:txBody>
      </p:sp>
      <p:sp>
        <p:nvSpPr>
          <p:cNvPr id="19" name="Shape 16"/>
          <p:cNvSpPr/>
          <p:nvPr/>
        </p:nvSpPr>
        <p:spPr>
          <a:xfrm>
            <a:off x="6291072" y="3785616"/>
            <a:ext cx="5266944" cy="96926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91072" y="3785616"/>
            <a:ext cx="5266944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01968" y="3968496"/>
            <a:ext cx="4645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qué NO comparan</a:t>
            </a:r>
            <a:endParaRPr lang="en-US" sz="1340" dirty="0"/>
          </a:p>
        </p:txBody>
      </p:sp>
      <p:sp>
        <p:nvSpPr>
          <p:cNvPr id="22" name="Text 19"/>
          <p:cNvSpPr txBox="1"/>
          <p:nvPr/>
        </p:nvSpPr>
        <p:spPr>
          <a:xfrm>
            <a:off x="6601968" y="4261104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el documento de requisitos, que ninguna de ellas leyó.</a:t>
            </a:r>
            <a:endParaRPr lang="en-US" sz="1240" dirty="0"/>
          </a:p>
        </p:txBody>
      </p:sp>
      <p:sp>
        <p:nvSpPr>
          <p:cNvPr id="23" name="Shape 20"/>
          <p:cNvSpPr/>
          <p:nvPr/>
        </p:nvSpPr>
        <p:spPr>
          <a:xfrm>
            <a:off x="658368" y="4901184"/>
            <a:ext cx="10874959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" y="5010912"/>
            <a:ext cx="102531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suite en verde no dice que el sistema esté bien.</a:t>
            </a:r>
            <a:endParaRPr lang="en-US" sz="146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Dice que el código coincide con lo que quien la escribió creía que había que hacer.</a:t>
            </a:r>
            <a:endParaRPr lang="en-US" sz="1460" dirty="0"/>
          </a:p>
        </p:txBody>
      </p:sp>
      <p:sp>
        <p:nvSpPr>
          <p:cNvPr id="25" name="Shape 22"/>
          <p:cNvSpPr/>
          <p:nvPr/>
        </p:nvSpPr>
        <p:spPr>
          <a:xfrm>
            <a:off x="658368" y="5779008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" y="5815584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paso 1 no puede ser el último. Hay que ir a buscar el documento.</a:t>
            </a:r>
            <a:endParaRPr lang="en-US" sz="13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PASO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contra el requisito escrito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regla dice: «la jornada se divide en bloques numerados del 1 al 8».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5577840" cy="1773936"/>
          </a:xfrm>
          <a:prstGeom prst="roundRect">
            <a:avLst>
              <a:gd name="adj" fmla="val 20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87168"/>
            <a:ext cx="53218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60320"/>
            <a:ext cx="5102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src/reservas.py · lo que dice el código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44368"/>
            <a:ext cx="5157216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45936" y="2377440"/>
            <a:ext cx="5184648" cy="1773936"/>
          </a:xfrm>
          <a:prstGeom prst="roundRect">
            <a:avLst>
              <a:gd name="adj" fmla="val 206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73952" y="2487168"/>
            <a:ext cx="492861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01968" y="2560320"/>
            <a:ext cx="467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ejecutado sobre los valores del borde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565392" y="2944368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1:  puede_reservar = True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65392" y="3200400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7:  puede_reservar = True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65392" y="345643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8:  puede_reservar = False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65392" y="3712464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9:  puede_reservar = False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58368" y="4297680"/>
            <a:ext cx="10874959" cy="71323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8368" y="4297680"/>
            <a:ext cx="64008" cy="71323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87552" y="442569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bloque 8 no se puede reservar.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6035040" y="4407408"/>
            <a:ext cx="5358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requisito lo incluye y el código lo excluye: usa «menor que» donde correspondía «menor o igual».</a:t>
            </a:r>
            <a:endParaRPr lang="en-US" sz="122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octavo de la jornada del laboratorio quedó inutilizable.</a:t>
            </a:r>
            <a:endParaRPr lang="en-US" sz="1220" dirty="0"/>
          </a:p>
        </p:txBody>
      </p:sp>
      <p:sp>
        <p:nvSpPr>
          <p:cNvPr id="26" name="Shape 22"/>
          <p:cNvSpPr/>
          <p:nvPr/>
        </p:nvSpPr>
        <p:spPr>
          <a:xfrm>
            <a:off x="658368" y="5102352"/>
            <a:ext cx="10874959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8368" y="5102352"/>
            <a:ext cx="64008" cy="6766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87552" y="5212080"/>
            <a:ext cx="1021659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herramienta podía encontrar esto: esa comparación es código perfectamente correcto.</a:t>
            </a:r>
            <a:endParaRPr lang="en-US" sz="124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es. Solo compara contra el número equivocado, y el número correcto está en un archivo que no leen.</a:t>
            </a:r>
            <a:endParaRPr lang="en-US" sz="1240" dirty="0"/>
          </a:p>
        </p:txBody>
      </p:sp>
      <p:sp>
        <p:nvSpPr>
          <p:cNvPr id="29" name="Shape 25"/>
          <p:cNvSpPr/>
          <p:nvPr/>
        </p:nvSpPr>
        <p:spPr>
          <a:xfrm>
            <a:off x="658368" y="5888736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69264" y="5925312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hallazgo que importa, y apareció leyendo un archivo de texto.</a:t>
            </a:r>
            <a:endParaRPr lang="en-US" sz="136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PASO 3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Ahora algo distinto: el requisito contra el mundo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paso anterior comparó el código contra el requisito. Este compara el requisito contra algo que el proyecto no escribió.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1087495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87168"/>
            <a:ext cx="64008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2596896"/>
            <a:ext cx="1030803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“El sistema entrega un comprobante de reserva que identifica al estudiante.”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3145536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es todo lo que el requisito dice sobre el comprobante.</a:t>
            </a:r>
            <a:endParaRPr lang="en-US" sz="1240" dirty="0"/>
          </a:p>
        </p:txBody>
      </p:sp>
      <p:sp>
        <p:nvSpPr>
          <p:cNvPr id="15" name="Shape 12"/>
          <p:cNvSpPr/>
          <p:nvPr/>
        </p:nvSpPr>
        <p:spPr>
          <a:xfrm>
            <a:off x="658368" y="3474720"/>
            <a:ext cx="5943600" cy="1225296"/>
          </a:xfrm>
          <a:prstGeom prst="roundRect">
            <a:avLst>
              <a:gd name="adj" fmla="val 298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" y="3584448"/>
            <a:ext cx="56875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3657600"/>
            <a:ext cx="5468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src/reservas.py · lo que el código hace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4041648"/>
            <a:ext cx="5522976" cy="475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693408" y="3474720"/>
            <a:ext cx="4837176" cy="1225296"/>
          </a:xfrm>
          <a:prstGeom prst="roundRect">
            <a:avLst>
              <a:gd name="adj" fmla="val 298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21424" y="3584448"/>
            <a:ext cx="4581144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3657600"/>
            <a:ext cx="4325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devuelve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912864" y="4041648"/>
            <a:ext cx="4087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 Perez | 12.345.678-9 |</a:t>
            </a:r>
            <a:endParaRPr lang="en-US" sz="940" dirty="0"/>
          </a:p>
        </p:txBody>
      </p:sp>
      <p:sp>
        <p:nvSpPr>
          <p:cNvPr id="23" name="Text 19"/>
          <p:cNvSpPr/>
          <p:nvPr/>
        </p:nvSpPr>
        <p:spPr>
          <a:xfrm>
            <a:off x="6912864" y="4297680"/>
            <a:ext cx="4087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ana.perez@correo.cl | bloque 3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658368" y="4846320"/>
            <a:ext cx="10874959" cy="786384"/>
          </a:xfrm>
          <a:prstGeom prst="rect">
            <a:avLst/>
          </a:prstGeom>
          <a:solidFill>
            <a:srgbClr val="E9F6EE"/>
          </a:solidFill>
          <a:ln w="12700">
            <a:solidFill>
              <a:srgbClr val="E9F6E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58368" y="4846320"/>
            <a:ext cx="64008" cy="78638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87552" y="4974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 el requisito, esto CUMPLE.</a:t>
            </a:r>
            <a:endParaRPr lang="en-US" sz="1700" dirty="0"/>
          </a:p>
        </p:txBody>
      </p:sp>
      <p:sp>
        <p:nvSpPr>
          <p:cNvPr id="27" name="Text 23"/>
          <p:cNvSpPr txBox="1"/>
          <p:nvPr/>
        </p:nvSpPr>
        <p:spPr>
          <a:xfrm>
            <a:off x="5669280" y="495604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al estudiante, sin ninguna duda.</a:t>
            </a:r>
            <a:endParaRPr lang="en-US" sz="126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paso 2 no lo habría marcado nunca.</a:t>
            </a:r>
            <a:endParaRPr lang="en-US" sz="1260" dirty="0"/>
          </a:p>
        </p:txBody>
      </p:sp>
      <p:sp>
        <p:nvSpPr>
          <p:cNvPr id="28" name="Shape 24"/>
          <p:cNvSpPr/>
          <p:nvPr/>
        </p:nvSpPr>
        <p:spPr>
          <a:xfrm>
            <a:off x="658368" y="5760720"/>
            <a:ext cx="10874959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69264" y="5797296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aun así es un hallazgo. Falta traer la referencia que el proyecto no tiene.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PASO 3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referencia externa trae palabras que el requisito no tiene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2194560"/>
            <a:ext cx="526694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194560"/>
            <a:ext cx="5266944" cy="64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37744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25010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68833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de calidad de producto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2962656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Trae la subcaracterística confidencialidad, que el requisito del proyecto no menciona en ninguna parte.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291072" y="2194560"/>
            <a:ext cx="526694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91072" y="2194560"/>
            <a:ext cx="5266944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01968" y="237744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Ley 21.719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268833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de datos personales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2962656"/>
            <a:ext cx="4645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que los datos tratados se limiten a los necesarios para la finalidad declarada.</a:t>
            </a:r>
            <a:endParaRPr lang="en-US" sz="122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3639312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Aplicadas al comprobante, en dos pasos:</a:t>
            </a:r>
            <a:endParaRPr lang="en-US" sz="1360" dirty="0"/>
          </a:p>
        </p:txBody>
      </p:sp>
      <p:sp>
        <p:nvSpPr>
          <p:cNvPr id="21" name="Shape 18"/>
          <p:cNvSpPr/>
          <p:nvPr/>
        </p:nvSpPr>
        <p:spPr>
          <a:xfrm>
            <a:off x="658368" y="3968496"/>
            <a:ext cx="1087495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" y="4087368"/>
            <a:ext cx="329184" cy="32918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1248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es la finalidad?</a:t>
            </a:r>
            <a:endParaRPr lang="en-US" sz="1260" dirty="0"/>
          </a:p>
        </p:txBody>
      </p:sp>
      <p:sp>
        <p:nvSpPr>
          <p:cNvPr id="25" name="Text 22"/>
          <p:cNvSpPr txBox="1"/>
          <p:nvPr/>
        </p:nvSpPr>
        <p:spPr>
          <a:xfrm>
            <a:off x="4206240" y="41422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al estudiante en un comprobante de reserva.</a:t>
            </a:r>
            <a:endParaRPr lang="en-US" sz="1260" dirty="0"/>
          </a:p>
        </p:txBody>
      </p:sp>
      <p:sp>
        <p:nvSpPr>
          <p:cNvPr id="26" name="Shape 23"/>
          <p:cNvSpPr/>
          <p:nvPr/>
        </p:nvSpPr>
        <p:spPr>
          <a:xfrm>
            <a:off x="658368" y="4626864"/>
            <a:ext cx="10874959" cy="566928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248" y="4745736"/>
            <a:ext cx="329184" cy="32918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" y="4745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791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datos necesita?</a:t>
            </a:r>
            <a:endParaRPr lang="en-US" sz="1260" dirty="0"/>
          </a:p>
        </p:txBody>
      </p:sp>
      <p:sp>
        <p:nvSpPr>
          <p:cNvPr id="30" name="Text 27"/>
          <p:cNvSpPr txBox="1"/>
          <p:nvPr/>
        </p:nvSpPr>
        <p:spPr>
          <a:xfrm>
            <a:off x="4206240" y="48006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alcanza. El RUT y el correo no, y los dos son datos personales.</a:t>
            </a:r>
            <a:endParaRPr lang="en-US" sz="1260" dirty="0"/>
          </a:p>
        </p:txBody>
      </p:sp>
      <p:sp>
        <p:nvSpPr>
          <p:cNvPr id="31" name="Shape 28"/>
          <p:cNvSpPr/>
          <p:nvPr/>
        </p:nvSpPr>
        <p:spPr>
          <a:xfrm>
            <a:off x="658368" y="5413248"/>
            <a:ext cx="10874959" cy="54864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9264" y="5449824"/>
            <a:ext cx="1025316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requisito puede estar cumplido y estar incompleto. Esa clase de hueco solo aparece trayendo una referencia de afuera.</a:t>
            </a:r>
            <a:endParaRPr lang="en-US" sz="1380" dirty="0"/>
          </a:p>
        </p:txBody>
      </p:sp>
      <p:sp>
        <p:nvSpPr>
          <p:cNvPr id="33" name="Text 30"/>
          <p:cNvSpPr txBox="1"/>
          <p:nvPr/>
        </p:nvSpPr>
        <p:spPr>
          <a:xfrm>
            <a:off x="658368" y="608990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paso 3 existe como paso separado, y no como un rato más mirando el código.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PASO 4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hallazgos todavía son afirmaciones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convierten en hechos escribiendo la prueba antes de tocar el código.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77440"/>
            <a:ext cx="6766560" cy="1883664"/>
          </a:xfrm>
          <a:prstGeom prst="roundRect">
            <a:avLst>
              <a:gd name="adj" fmla="val 194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487168"/>
            <a:ext cx="651052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560320"/>
            <a:ext cx="6291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tests/test_hallazgos.py · escritas durante la auditoría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944368"/>
            <a:ext cx="6345936" cy="11338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534656" y="2377440"/>
            <a:ext cx="3995928" cy="1883664"/>
          </a:xfrm>
          <a:prstGeom prst="roundRect">
            <a:avLst>
              <a:gd name="adj" fmla="val 194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62672" y="2487168"/>
            <a:ext cx="373989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90688" y="2560320"/>
            <a:ext cx="3483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754112" y="29443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 test_h1_el_bloque_8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7754112" y="320040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 test_h2_el_comprobante</a:t>
            </a:r>
            <a:endParaRPr lang="en-US" sz="940" dirty="0"/>
          </a:p>
        </p:txBody>
      </p:sp>
      <p:sp>
        <p:nvSpPr>
          <p:cNvPr id="20" name="Text 16"/>
          <p:cNvSpPr/>
          <p:nvPr/>
        </p:nvSpPr>
        <p:spPr>
          <a:xfrm>
            <a:off x="7754112" y="345643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40" dirty="0"/>
          </a:p>
        </p:txBody>
      </p:sp>
      <p:sp>
        <p:nvSpPr>
          <p:cNvPr id="21" name="Text 17"/>
          <p:cNvSpPr/>
          <p:nvPr/>
        </p:nvSpPr>
        <p:spPr>
          <a:xfrm>
            <a:off x="7754112" y="371246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failed in 0.11s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658368" y="4407408"/>
            <a:ext cx="10874959" cy="713232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8368" y="4407408"/>
            <a:ext cx="64008" cy="71323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87552" y="45354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Dos rojos.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2926080" y="449884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dos hallazgos son defectos, no opiniones, y ahora existe la evidencia que lo demuestra.</a:t>
            </a:r>
            <a:endParaRPr lang="en-US" sz="126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Cualquiera puede ejecutar esas dos pruebas y obtener lo mismo, sin haber estado hoy aquí.</a:t>
            </a:r>
            <a:endParaRPr lang="en-US" sz="1260" dirty="0"/>
          </a:p>
        </p:txBody>
      </p:sp>
      <p:sp>
        <p:nvSpPr>
          <p:cNvPr id="26" name="Shape 22"/>
          <p:cNvSpPr/>
          <p:nvPr/>
        </p:nvSpPr>
        <p:spPr>
          <a:xfrm>
            <a:off x="658368" y="5285232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69264" y="5321808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la prueba antes de corregir es lo que separa un defecto de una sospecha.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58368" y="5943600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Ejecuciones registradas para esta clase sobre Python 3.12.12.</a:t>
            </a:r>
            <a:endParaRPr lang="en-US" sz="9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PASO 4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aparece un tercero, que no llega a ser defecto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cuarta regla dice: «una reserva se puede cancelar hasta 2 horas antes del inicio».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5943600" cy="1517904"/>
          </a:xfrm>
          <a:prstGeom prst="roundRect">
            <a:avLst>
              <a:gd name="adj" fmla="val 241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505456"/>
            <a:ext cx="568756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578608"/>
            <a:ext cx="5431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ejecutado sobre los tres casos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962656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 horas antes         True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7824" y="3218688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exactamente dos horas    False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77824" y="3474720"/>
            <a:ext cx="5193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hora antes           False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93408" y="2395728"/>
            <a:ext cx="4837176" cy="151790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93408" y="2395728"/>
            <a:ext cx="64008" cy="151790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04304" y="257860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 un defecto?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04304" y="2962656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 de si «hasta 2 horas antes» incluye el instante exacto de las dos horas.</a:t>
            </a:r>
            <a:endParaRPr lang="en-US" sz="1240" dirty="0"/>
          </a:p>
          <a:p>
            <a:pPr algn="l" indent="0" marL="0">
              <a:lnSpc>
                <a:spcPct val="116000"/>
              </a:lnSpc>
              <a:buNone/>
            </a:pPr>
            <a:endParaRPr lang="en-US" sz="124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el requisito no lo dice.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658368" y="4114800"/>
            <a:ext cx="10874959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69264" y="4224528"/>
            <a:ext cx="102531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se puede escribir la prueba, porque no se sabe qué debería dar.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58368" y="5029200"/>
            <a:ext cx="34015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5029200"/>
            <a:ext cx="3401568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7824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</a:t>
            </a:r>
            <a:endParaRPr lang="en-US" sz="1340" dirty="0"/>
          </a:p>
        </p:txBody>
      </p:sp>
      <p:sp>
        <p:nvSpPr>
          <p:cNvPr id="26" name="Text 23"/>
          <p:cNvSpPr txBox="1"/>
          <p:nvPr/>
        </p:nvSpPr>
        <p:spPr>
          <a:xfrm>
            <a:off x="877824" y="5413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se escribe y falla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4334256" y="5029200"/>
            <a:ext cx="340156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334256" y="5029200"/>
            <a:ext cx="3401568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53712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Preferencia</a:t>
            </a:r>
            <a:endParaRPr lang="en-US" sz="1340" dirty="0"/>
          </a:p>
        </p:txBody>
      </p:sp>
      <p:sp>
        <p:nvSpPr>
          <p:cNvPr id="30" name="Text 27"/>
          <p:cNvSpPr txBox="1"/>
          <p:nvPr/>
        </p:nvSpPr>
        <p:spPr>
          <a:xfrm>
            <a:off x="4553712" y="5413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se escribe y pasa</a:t>
            </a:r>
            <a:endParaRPr lang="en-US" sz="1120" dirty="0"/>
          </a:p>
        </p:txBody>
      </p:sp>
      <p:sp>
        <p:nvSpPr>
          <p:cNvPr id="31" name="Shape 28"/>
          <p:cNvSpPr/>
          <p:nvPr/>
        </p:nvSpPr>
        <p:spPr>
          <a:xfrm>
            <a:off x="8010144" y="5029200"/>
            <a:ext cx="3401568" cy="65836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10144" y="5029200"/>
            <a:ext cx="3401568" cy="5486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0" y="51572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Hueco de especificación</a:t>
            </a:r>
            <a:endParaRPr lang="en-US" sz="1340" dirty="0"/>
          </a:p>
        </p:txBody>
      </p:sp>
      <p:sp>
        <p:nvSpPr>
          <p:cNvPr id="34" name="Text 31"/>
          <p:cNvSpPr txBox="1"/>
          <p:nvPr/>
        </p:nvSpPr>
        <p:spPr>
          <a:xfrm>
            <a:off x="8229600" y="54132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no se puede escribir todavía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69264" y="5888736"/>
            <a:ext cx="10253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falta código: falta que alguien decida. Y eso se registra como tal, no se disimula.</a:t>
            </a:r>
            <a:endParaRPr lang="en-US" sz="13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SÍNTESIS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pasos, cuatro clases de hallazgo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cada uno encontró algo que el anterior no estaba en condiciones de encontrar.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2286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ENCONTRÓ</a:t>
            </a:r>
            <a:endParaRPr lang="en-US" sz="93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2286000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658368" y="2542032"/>
            <a:ext cx="10874959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658368" y="2651760"/>
            <a:ext cx="10874959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2651760"/>
            <a:ext cx="45720" cy="5852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Barreras automáticas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277977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 sin usar · retorno None declarado bool</a:t>
            </a:r>
            <a:endParaRPr lang="en-US" sz="1180" dirty="0"/>
          </a:p>
        </p:txBody>
      </p:sp>
      <p:sp>
        <p:nvSpPr>
          <p:cNvPr id="19" name="Shape 16"/>
          <p:cNvSpPr/>
          <p:nvPr/>
        </p:nvSpPr>
        <p:spPr>
          <a:xfrm>
            <a:off x="8503920" y="2798064"/>
            <a:ext cx="3026664" cy="329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03920" y="283464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Mecánico</a:t>
            </a:r>
            <a:endParaRPr lang="en-US" sz="1140" dirty="0"/>
          </a:p>
        </p:txBody>
      </p:sp>
      <p:sp>
        <p:nvSpPr>
          <p:cNvPr id="21" name="Shape 18"/>
          <p:cNvSpPr/>
          <p:nvPr/>
        </p:nvSpPr>
        <p:spPr>
          <a:xfrm>
            <a:off x="658368" y="3310128"/>
            <a:ext cx="45720" cy="58521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9536" y="3493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Contra el requisito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749040" y="343814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bloque 8 no se puede reservar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8503920" y="3456432"/>
            <a:ext cx="3026664" cy="3291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03920" y="3493008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658368" y="3968496"/>
            <a:ext cx="10874959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968496"/>
            <a:ext cx="45720" cy="58521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9536" y="41513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Contra referencia externa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749040" y="409651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comprobante expone RUT y correo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8503920" y="4114800"/>
            <a:ext cx="3026664" cy="3291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503920" y="4151376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y hueco del requisito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658368" y="4626864"/>
            <a:ext cx="45720" cy="58521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9536" y="4809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Ejecución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3749040" y="475488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«Hasta 2 horas antes» no está decidido</a:t>
            </a:r>
            <a:endParaRPr lang="en-US" sz="1180" dirty="0"/>
          </a:p>
        </p:txBody>
      </p:sp>
      <p:sp>
        <p:nvSpPr>
          <p:cNvPr id="35" name="Shape 32"/>
          <p:cNvSpPr/>
          <p:nvPr/>
        </p:nvSpPr>
        <p:spPr>
          <a:xfrm>
            <a:off x="8503920" y="4773168"/>
            <a:ext cx="3026664" cy="32918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503920" y="4809744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Hueco de especificación</a:t>
            </a:r>
            <a:endParaRPr lang="en-US" sz="1140" dirty="0"/>
          </a:p>
        </p:txBody>
      </p:sp>
      <p:sp>
        <p:nvSpPr>
          <p:cNvPr id="37" name="Shape 34"/>
          <p:cNvSpPr/>
          <p:nvPr/>
        </p:nvSpPr>
        <p:spPr>
          <a:xfrm>
            <a:off x="658368" y="5358384"/>
            <a:ext cx="10874959" cy="45720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9264" y="5449824"/>
            <a:ext cx="10253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hubiera hecho solo el paso 1, la auditoría habría concluido que el módulo está bien.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58368" y="5907024"/>
            <a:ext cx="10874959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69264" y="5943600"/>
            <a:ext cx="102531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orden importa, pero saltarse un paso importa más.</a:t>
            </a:r>
            <a:endParaRPr lang="en-US" sz="13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CRITERIO DE TÉRMINO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auditoría termina cuando cubrió lo que declaró cubrir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cuando aparece algo grave, no cuando se acaba la hora, y no cuando el auditor siente que ya encontró bastante.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10874959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688336"/>
            <a:ext cx="102165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tiene una consecuencia que incomoda, y que hay que sostener igual: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2962656"/>
            <a:ext cx="102165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auditoría puede terminar sin hallazgos y estar bien hecha.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58368" y="3657600"/>
            <a:ext cx="5266944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657600"/>
            <a:ext cx="5266944" cy="6400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</a:t>
            </a:r>
            <a:endParaRPr lang="en-US" sz="1340" dirty="0"/>
          </a:p>
        </p:txBody>
      </p:sp>
      <p:sp>
        <p:nvSpPr>
          <p:cNvPr id="17" name="Text 14"/>
          <p:cNvSpPr txBox="1"/>
          <p:nvPr/>
        </p:nvSpPr>
        <p:spPr>
          <a:xfrm>
            <a:off x="969264" y="413308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sin hallazgos, con alcance declarado</a:t>
            </a:r>
            <a:endParaRPr lang="en-US" sz="136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462686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Quien la recibe sabe qué se miró y qué no. Puede decidir con eso.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291072" y="3657600"/>
            <a:ext cx="5266944" cy="151790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91072" y="3657600"/>
            <a:ext cx="5266944" cy="6400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01968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4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sirve</a:t>
            </a:r>
            <a:endParaRPr lang="en-US" sz="1340" dirty="0"/>
          </a:p>
        </p:txBody>
      </p:sp>
      <p:sp>
        <p:nvSpPr>
          <p:cNvPr id="22" name="Text 19"/>
          <p:cNvSpPr txBox="1"/>
          <p:nvPr/>
        </p:nvSpPr>
        <p:spPr>
          <a:xfrm>
            <a:off x="6601968" y="413308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con veinte hallazgos y sin alcance declarado</a:t>
            </a:r>
            <a:endParaRPr lang="en-US" sz="136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462686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puede saber qué quedó sin revisar, que es justo lo que un tercero necesita saber.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58368" y="5358384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" y="5394960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eso el informe del bloque siguiente tiene una sección obligatoria para lo que quedó fuera.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llevarse del Bloque 3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231136"/>
            <a:ext cx="54864" cy="11887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3774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2368296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quedó en verde en el paso 1, y los pasos siguientes encontraron dos defectos. ¿Qué estaban comparando esas cuatro pruebas, y por qué eso las dejaba ciegas a estos dos casos?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72768" y="2999232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1572768" y="3090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3072384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Vuelve a la tabla de los cinco pasos y mira la columna «contra qué compara».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529584"/>
            <a:ext cx="10874959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529584"/>
            <a:ext cx="5486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36758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1572768" y="3666744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comprobante cumple el requisito del proyecto y aun así se marcó como hallazgo. ¿Qué autoriza a un auditor a levantar algo que el documento no incumple?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572768" y="4297680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1572768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23" name="Text 20"/>
          <p:cNvSpPr txBox="1"/>
          <p:nvPr/>
        </p:nvSpPr>
        <p:spPr>
          <a:xfrm>
            <a:off x="2286000" y="4370832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de dónde salió la palabra «confidencialidad»: no estaba en el proyecto.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" y="4828032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828032"/>
            <a:ext cx="54864" cy="1188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49743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1572768" y="49651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auditoría puede terminar sin ningún hallazgo y estar bien hecha. ¿Qué tiene que traer ese informe para que alguien pueda creerle, en lugar de suponer que el auditor no miró bien?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572768" y="5596128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1572768" y="5687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30" name="Text 27"/>
          <p:cNvSpPr txBox="1"/>
          <p:nvPr/>
        </p:nvSpPr>
        <p:spPr>
          <a:xfrm>
            <a:off x="2286000" y="5669280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línea del paso 0 que dijimos que era la que importaba.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73736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2C4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2944368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960" dirty="0"/>
          </a:p>
        </p:txBody>
      </p:sp>
      <p:sp>
        <p:nvSpPr>
          <p:cNvPr id="10" name="Text 7"/>
          <p:cNvSpPr txBox="1"/>
          <p:nvPr/>
        </p:nvSpPr>
        <p:spPr>
          <a:xfrm>
            <a:off x="2944368" y="2121408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registro,</a:t>
            </a:r>
            <a:endParaRPr lang="en-US" sz="36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es el producto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2944368" y="3456432"/>
            <a:ext cx="1828800" cy="640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44368" y="37307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ya está hecha. ¿Qué tiene que quedar escrito para que otro pueda verificarla sin ti?</a:t>
            </a:r>
            <a:endParaRPr lang="en-US" sz="1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LA FICHA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hallazgo tiene forma, y la norma la define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ISO/IEC/IEEE 29119-3 la llama «reporte de incidente». Y aclara que el nombre da lo mismo: reporte de anomalía, de error, de defecto, de problema. Es la misma ficha.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5266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87168"/>
            <a:ext cx="45720" cy="4389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25420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Identificador único</a:t>
            </a:r>
            <a:endParaRPr lang="en-US" sz="122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27340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Referirse al hallazgo sin describirlo de nuevo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658368" y="2999232"/>
            <a:ext cx="5266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2999232"/>
            <a:ext cx="45720" cy="4389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" y="30540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 temporal</a:t>
            </a:r>
            <a:endParaRPr lang="en-US" sz="1220" dirty="0"/>
          </a:p>
        </p:txBody>
      </p:sp>
      <p:sp>
        <p:nvSpPr>
          <p:cNvPr id="18" name="Text 15"/>
          <p:cNvSpPr txBox="1"/>
          <p:nvPr/>
        </p:nvSpPr>
        <p:spPr>
          <a:xfrm>
            <a:off x="859536" y="32461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sobre qué versión ocurrió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658368" y="3511296"/>
            <a:ext cx="5266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511296"/>
            <a:ext cx="45720" cy="4389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" y="35661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</a:t>
            </a:r>
            <a:endParaRPr lang="en-US" sz="1220" dirty="0"/>
          </a:p>
        </p:txBody>
      </p:sp>
      <p:sp>
        <p:nvSpPr>
          <p:cNvPr id="22" name="Text 19"/>
          <p:cNvSpPr txBox="1"/>
          <p:nvPr/>
        </p:nvSpPr>
        <p:spPr>
          <a:xfrm>
            <a:off x="859536" y="37581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a quién preguntarle</a:t>
            </a:r>
            <a:endParaRPr lang="en-US" sz="1040" dirty="0"/>
          </a:p>
        </p:txBody>
      </p:sp>
      <p:sp>
        <p:nvSpPr>
          <p:cNvPr id="23" name="Shape 20"/>
          <p:cNvSpPr/>
          <p:nvPr/>
        </p:nvSpPr>
        <p:spPr>
          <a:xfrm>
            <a:off x="658368" y="4023360"/>
            <a:ext cx="5266944" cy="438912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4023360"/>
            <a:ext cx="45720" cy="43891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9536" y="4078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220" dirty="0"/>
          </a:p>
        </p:txBody>
      </p:sp>
      <p:sp>
        <p:nvSpPr>
          <p:cNvPr id="26" name="Text 23"/>
          <p:cNvSpPr txBox="1"/>
          <p:nvPr/>
        </p:nvSpPr>
        <p:spPr>
          <a:xfrm>
            <a:off x="859536" y="42702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Reproducirlo: la entrada concreta y el entorno</a:t>
            </a:r>
            <a:endParaRPr lang="en-US" sz="1040" dirty="0"/>
          </a:p>
        </p:txBody>
      </p:sp>
      <p:sp>
        <p:nvSpPr>
          <p:cNvPr id="27" name="Shape 24"/>
          <p:cNvSpPr/>
          <p:nvPr/>
        </p:nvSpPr>
        <p:spPr>
          <a:xfrm>
            <a:off x="658368" y="4535424"/>
            <a:ext cx="5266944" cy="438912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" y="4535424"/>
            <a:ext cx="45720" cy="43891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9536" y="4590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Descripción</a:t>
            </a:r>
            <a:endParaRPr lang="en-US" sz="1220" dirty="0"/>
          </a:p>
        </p:txBody>
      </p:sp>
      <p:sp>
        <p:nvSpPr>
          <p:cNvPr id="30" name="Text 27"/>
          <p:cNvSpPr txBox="1"/>
          <p:nvPr/>
        </p:nvSpPr>
        <p:spPr>
          <a:xfrm>
            <a:off x="859536" y="47823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observó y qué se esperaba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6291072" y="2487168"/>
            <a:ext cx="5266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91072" y="2487168"/>
            <a:ext cx="45720" cy="4389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92240" y="25420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Severidad estimada</a:t>
            </a:r>
            <a:endParaRPr lang="en-US" sz="1220" dirty="0"/>
          </a:p>
        </p:txBody>
      </p:sp>
      <p:sp>
        <p:nvSpPr>
          <p:cNvPr id="34" name="Text 31"/>
          <p:cNvSpPr txBox="1"/>
          <p:nvPr/>
        </p:nvSpPr>
        <p:spPr>
          <a:xfrm>
            <a:off x="6492240" y="273405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Cuánto daño haría</a:t>
            </a:r>
            <a:endParaRPr lang="en-US" sz="1040" dirty="0"/>
          </a:p>
        </p:txBody>
      </p:sp>
      <p:sp>
        <p:nvSpPr>
          <p:cNvPr id="35" name="Shape 32"/>
          <p:cNvSpPr/>
          <p:nvPr/>
        </p:nvSpPr>
        <p:spPr>
          <a:xfrm>
            <a:off x="6291072" y="2999232"/>
            <a:ext cx="5266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91072" y="2999232"/>
            <a:ext cx="45720" cy="4389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92240" y="30540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 estimada</a:t>
            </a:r>
            <a:endParaRPr lang="en-US" sz="122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32461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urgencia atenderlo</a:t>
            </a:r>
            <a:endParaRPr lang="en-US" sz="1040" dirty="0"/>
          </a:p>
        </p:txBody>
      </p:sp>
      <p:sp>
        <p:nvSpPr>
          <p:cNvPr id="39" name="Shape 36"/>
          <p:cNvSpPr/>
          <p:nvPr/>
        </p:nvSpPr>
        <p:spPr>
          <a:xfrm>
            <a:off x="6291072" y="3511296"/>
            <a:ext cx="5266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91072" y="3511296"/>
            <a:ext cx="45720" cy="4389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92240" y="35661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220" dirty="0"/>
          </a:p>
        </p:txBody>
      </p:sp>
      <p:sp>
        <p:nvSpPr>
          <p:cNvPr id="42" name="Text 39"/>
          <p:cNvSpPr txBox="1"/>
          <p:nvPr/>
        </p:nvSpPr>
        <p:spPr>
          <a:xfrm>
            <a:off x="6492240" y="37581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pasa si no se corrige</a:t>
            </a:r>
            <a:endParaRPr lang="en-US" sz="1040" dirty="0"/>
          </a:p>
        </p:txBody>
      </p:sp>
      <p:sp>
        <p:nvSpPr>
          <p:cNvPr id="43" name="Shape 40"/>
          <p:cNvSpPr/>
          <p:nvPr/>
        </p:nvSpPr>
        <p:spPr>
          <a:xfrm>
            <a:off x="6291072" y="4023360"/>
            <a:ext cx="526694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291072" y="4023360"/>
            <a:ext cx="45720" cy="438912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492240" y="40782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220" dirty="0"/>
          </a:p>
        </p:txBody>
      </p:sp>
      <p:sp>
        <p:nvSpPr>
          <p:cNvPr id="46" name="Text 43"/>
          <p:cNvSpPr txBox="1"/>
          <p:nvPr/>
        </p:nvSpPr>
        <p:spPr>
          <a:xfrm>
            <a:off x="6492240" y="42702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qué quedó</a:t>
            </a:r>
            <a:endParaRPr lang="en-US" sz="1040" dirty="0"/>
          </a:p>
        </p:txBody>
      </p:sp>
      <p:sp>
        <p:nvSpPr>
          <p:cNvPr id="47" name="Shape 44"/>
          <p:cNvSpPr/>
          <p:nvPr/>
        </p:nvSpPr>
        <p:spPr>
          <a:xfrm>
            <a:off x="658368" y="512064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4672" y="51114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ISO/IEC/IEEE 29119-3:2021, cláusula 8.11 · traducción del original en inglés.</a:t>
            </a:r>
            <a:endParaRPr lang="en-US" sz="920" dirty="0"/>
          </a:p>
        </p:txBody>
      </p:sp>
      <p:sp>
        <p:nvSpPr>
          <p:cNvPr id="49" name="Shape 46"/>
          <p:cNvSpPr/>
          <p:nvPr/>
        </p:nvSpPr>
        <p:spPr>
          <a:xfrm>
            <a:off x="658368" y="5431536"/>
            <a:ext cx="10874959" cy="51206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69264" y="5468112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dos en dorado son los que separan un hallazgo de una sospecha.</a:t>
            </a:r>
            <a:endParaRPr lang="en-US" sz="1450" dirty="0"/>
          </a:p>
        </p:txBody>
      </p:sp>
      <p:sp>
        <p:nvSpPr>
          <p:cNvPr id="51" name="Text 48"/>
          <p:cNvSpPr txBox="1"/>
          <p:nvPr/>
        </p:nvSpPr>
        <p:spPr>
          <a:xfrm>
            <a:off x="658368" y="6089904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norma define «incidente» de forma amplia: un evento o situación anómala o inesperada. No dice «defecto». Qué era se decide después.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LOS CAMPOS DECISIVOS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estos dos, el reporte es de los que ahogaron a curl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2157984"/>
            <a:ext cx="5266944" cy="148132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157984"/>
            <a:ext cx="5266944" cy="64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359152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7432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entrada concreta y el entorno.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3035808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esto nadie puede reproducirlo, y un hallazgo que no se reproduce no se puede confirmar ni descartar.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6291072" y="2157984"/>
            <a:ext cx="5266944" cy="148132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91072" y="2157984"/>
            <a:ext cx="5266944" cy="6400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01968" y="2359152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Descripción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601968" y="274320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observó y qué se esperaba.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601968" y="3035808"/>
            <a:ext cx="4645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dos cosas. Con solo lo observado no se puede decidir si está mal; con solo lo esperado, no hay evidencia.</a:t>
            </a:r>
            <a:endParaRPr lang="en-US" sz="1180" dirty="0"/>
          </a:p>
        </p:txBody>
      </p:sp>
      <p:sp>
        <p:nvSpPr>
          <p:cNvPr id="20" name="Text 17"/>
          <p:cNvSpPr txBox="1"/>
          <p:nvPr/>
        </p:nvSpPr>
        <p:spPr>
          <a:xfrm>
            <a:off x="658368" y="3822192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hay un detalle en la redacción de la norma que vale la pena mirar. Dos campos no se llaman como uno esperaría:</a:t>
            </a:r>
            <a:endParaRPr lang="en-US" sz="1360" dirty="0"/>
          </a:p>
        </p:txBody>
      </p:sp>
      <p:sp>
        <p:nvSpPr>
          <p:cNvPr id="21" name="Shape 18"/>
          <p:cNvSpPr/>
          <p:nvPr/>
        </p:nvSpPr>
        <p:spPr>
          <a:xfrm>
            <a:off x="658368" y="4169664"/>
            <a:ext cx="5266944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4169664"/>
            <a:ext cx="54864" cy="78638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2976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2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UNO DIRÍA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932688" y="4517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«Severidad» · «Prioridad»</a:t>
            </a:r>
            <a:endParaRPr lang="en-US" sz="1340" dirty="0"/>
          </a:p>
        </p:txBody>
      </p:sp>
      <p:sp>
        <p:nvSpPr>
          <p:cNvPr id="25" name="Shape 22"/>
          <p:cNvSpPr/>
          <p:nvPr/>
        </p:nvSpPr>
        <p:spPr>
          <a:xfrm>
            <a:off x="6291072" y="4169664"/>
            <a:ext cx="5266944" cy="786384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91072" y="4169664"/>
            <a:ext cx="54864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65392" y="429768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12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LA NORMA DICE</a:t>
            </a:r>
            <a:endParaRPr lang="en-US" sz="920" dirty="0"/>
          </a:p>
        </p:txBody>
      </p:sp>
      <p:sp>
        <p:nvSpPr>
          <p:cNvPr id="28" name="Text 25"/>
          <p:cNvSpPr txBox="1"/>
          <p:nvPr/>
        </p:nvSpPr>
        <p:spPr>
          <a:xfrm>
            <a:off x="6565392" y="45171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«Estimación de severidad DE QUIEN REPORTA»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658368" y="5120640"/>
            <a:ext cx="10874959" cy="694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" y="5230368"/>
            <a:ext cx="102531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norma no le pide al auditor que dictamine la gravedad. Le pide que declare la suya,</a:t>
            </a:r>
            <a:endParaRPr lang="en-US" sz="136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36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dejando constancia de que es una estimación y de quién la hizo.</a:t>
            </a:r>
            <a:endParaRPr lang="en-US" sz="1360" dirty="0"/>
          </a:p>
        </p:txBody>
      </p:sp>
      <p:sp>
        <p:nvSpPr>
          <p:cNvPr id="31" name="Shape 28"/>
          <p:cNvSpPr/>
          <p:nvPr/>
        </p:nvSpPr>
        <p:spPr>
          <a:xfrm>
            <a:off x="658368" y="5925312"/>
            <a:ext cx="10874959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9264" y="5961888"/>
            <a:ext cx="102531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misma disciplina de todo el módulo: separar lo que se observó de lo que se opina sobre lo observado.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LA FICHA, ESCRITA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Así queda el primer hallazgo de la auditoría de hoy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103120"/>
            <a:ext cx="6492240" cy="3200400"/>
          </a:xfrm>
          <a:prstGeom prst="roundRect">
            <a:avLst>
              <a:gd name="adj" fmla="val 1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212848"/>
            <a:ext cx="623620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286000"/>
            <a:ext cx="6016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H-01 · el bloque 8 no se puede reservar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670048"/>
            <a:ext cx="6071616" cy="24505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33488" y="2103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CAMBIA EN LOS OTROS DOS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7333488" y="2395728"/>
            <a:ext cx="41970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33488" y="2395728"/>
            <a:ext cx="54864" cy="13716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07808" y="2505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H-02 · el comprobante</a:t>
            </a:r>
            <a:endParaRPr lang="en-US" sz="1280" dirty="0"/>
          </a:p>
        </p:txBody>
      </p:sp>
      <p:sp>
        <p:nvSpPr>
          <p:cNvPr id="18" name="Text 14"/>
          <p:cNvSpPr txBox="1"/>
          <p:nvPr/>
        </p:nvSpPr>
        <p:spPr>
          <a:xfrm>
            <a:off x="7607808" y="2779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607808" y="298094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25010, confidencialidad.</a:t>
            </a:r>
            <a:endParaRPr lang="en-US" sz="11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Ley 21.719, proporcionalidad.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607808" y="3419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requisito del proyecto no lo prohibía. La referencia viene de afuera.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333488" y="3913632"/>
            <a:ext cx="419709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33488" y="3913632"/>
            <a:ext cx="54864" cy="13716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607808" y="4023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H-03 · las dos horas</a:t>
            </a:r>
            <a:endParaRPr lang="en-US" sz="1280" dirty="0"/>
          </a:p>
        </p:txBody>
      </p:sp>
      <p:sp>
        <p:nvSpPr>
          <p:cNvPr id="24" name="Text 20"/>
          <p:cNvSpPr txBox="1"/>
          <p:nvPr/>
        </p:nvSpPr>
        <p:spPr>
          <a:xfrm>
            <a:off x="7607808" y="4297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607808" y="44988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decisión: definir si «hasta» incluye el instante exacto.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7607808" y="49377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tiene evidencia de prueba porque no puede tenerla, y eso se declara.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58368" y="5449824"/>
            <a:ext cx="10874959" cy="60350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69264" y="5486400"/>
            <a:ext cx="102531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campo «Referencia» es lo que distingue esta ficha de un «esto es inseguro»: dice contra qué documento se comparó, y por eso otro puede discrepar con argumentos.</a:t>
            </a:r>
            <a:endParaRPr lang="en-US" sz="13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INFORME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ficha registra un hallazgo. El informe registra la auditoría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lo que un tercero lee primero. La norma le define diez secciones, y de esas hay dos que un informe complaciente siempre omite.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523744"/>
            <a:ext cx="5577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523744"/>
            <a:ext cx="45720" cy="36576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58775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240" dirty="0"/>
          </a:p>
        </p:txBody>
      </p:sp>
      <p:sp>
        <p:nvSpPr>
          <p:cNvPr id="14" name="Shape 11"/>
          <p:cNvSpPr/>
          <p:nvPr/>
        </p:nvSpPr>
        <p:spPr>
          <a:xfrm>
            <a:off x="658368" y="2944368"/>
            <a:ext cx="5577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944368"/>
            <a:ext cx="45720" cy="36576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" y="300837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de lo realizado</a:t>
            </a:r>
            <a:endParaRPr lang="en-US" sz="1240" dirty="0"/>
          </a:p>
        </p:txBody>
      </p:sp>
      <p:sp>
        <p:nvSpPr>
          <p:cNvPr id="17" name="Shape 14"/>
          <p:cNvSpPr/>
          <p:nvPr/>
        </p:nvSpPr>
        <p:spPr>
          <a:xfrm>
            <a:off x="658368" y="3364992"/>
            <a:ext cx="5577840" cy="36576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364992"/>
            <a:ext cx="45720" cy="36576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7824" y="34290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Desviaciones respecto de lo planificado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658368" y="3785616"/>
            <a:ext cx="5577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785616"/>
            <a:ext cx="45720" cy="36576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7824" y="38496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de término</a:t>
            </a:r>
            <a:endParaRPr lang="en-US" sz="1240" dirty="0"/>
          </a:p>
        </p:txBody>
      </p:sp>
      <p:sp>
        <p:nvSpPr>
          <p:cNvPr id="23" name="Shape 20"/>
          <p:cNvSpPr/>
          <p:nvPr/>
        </p:nvSpPr>
        <p:spPr>
          <a:xfrm>
            <a:off x="658368" y="4206240"/>
            <a:ext cx="5577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4206240"/>
            <a:ext cx="45720" cy="36576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7824" y="427024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658368" y="4626864"/>
            <a:ext cx="5577840" cy="36576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4626864"/>
            <a:ext cx="45720" cy="36576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7824" y="46908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residuales</a:t>
            </a:r>
            <a:endParaRPr lang="en-US" sz="1240" dirty="0"/>
          </a:p>
        </p:txBody>
      </p:sp>
      <p:sp>
        <p:nvSpPr>
          <p:cNvPr id="29" name="Shape 26"/>
          <p:cNvSpPr/>
          <p:nvPr/>
        </p:nvSpPr>
        <p:spPr>
          <a:xfrm>
            <a:off x="658368" y="5047488"/>
            <a:ext cx="5577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5047488"/>
            <a:ext cx="45720" cy="36576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7824" y="511149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Lecciones aprendidas</a:t>
            </a:r>
            <a:endParaRPr lang="en-US" sz="1240" dirty="0"/>
          </a:p>
        </p:txBody>
      </p:sp>
      <p:sp>
        <p:nvSpPr>
          <p:cNvPr id="32" name="Text 29"/>
          <p:cNvSpPr txBox="1"/>
          <p:nvPr/>
        </p:nvSpPr>
        <p:spPr>
          <a:xfrm>
            <a:off x="6693408" y="25237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DOS QUE NUNCA TRAEN BUENAS NOTICIAS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6693408" y="2834640"/>
            <a:ext cx="4837176" cy="87782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693408" y="2834640"/>
            <a:ext cx="54864" cy="87782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967728" y="2944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Desviaciones</a:t>
            </a:r>
            <a:endParaRPr lang="en-US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6967728" y="32369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dijo que se iba a hacer y no se hizo.</a:t>
            </a:r>
            <a:endParaRPr lang="en-US" sz="1180" dirty="0"/>
          </a:p>
        </p:txBody>
      </p:sp>
      <p:sp>
        <p:nvSpPr>
          <p:cNvPr id="37" name="Shape 34"/>
          <p:cNvSpPr/>
          <p:nvPr/>
        </p:nvSpPr>
        <p:spPr>
          <a:xfrm>
            <a:off x="6693408" y="3840480"/>
            <a:ext cx="4837176" cy="877824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693408" y="3840480"/>
            <a:ext cx="54864" cy="87782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967728" y="3950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residuales</a:t>
            </a:r>
            <a:endParaRPr lang="en-US" sz="1450" dirty="0"/>
          </a:p>
        </p:txBody>
      </p:sp>
      <p:sp>
        <p:nvSpPr>
          <p:cNvPr id="40" name="Text 37"/>
          <p:cNvSpPr txBox="1"/>
          <p:nvPr/>
        </p:nvSpPr>
        <p:spPr>
          <a:xfrm>
            <a:off x="6967728" y="424281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queda expuesto después de esta auditoría, incluido todo lo que se declaró fuera del alcance.</a:t>
            </a:r>
            <a:endParaRPr lang="en-US" sz="1180" dirty="0"/>
          </a:p>
        </p:txBody>
      </p:sp>
      <p:sp>
        <p:nvSpPr>
          <p:cNvPr id="41" name="Shape 38"/>
          <p:cNvSpPr/>
          <p:nvPr/>
        </p:nvSpPr>
        <p:spPr>
          <a:xfrm>
            <a:off x="6693408" y="4937760"/>
            <a:ext cx="4837176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67728" y="50474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de las dos puede faltar.</a:t>
            </a:r>
            <a:endParaRPr lang="en-US" sz="1450" dirty="0"/>
          </a:p>
        </p:txBody>
      </p:sp>
      <p:sp>
        <p:nvSpPr>
          <p:cNvPr id="43" name="Shape 40"/>
          <p:cNvSpPr/>
          <p:nvPr/>
        </p:nvSpPr>
        <p:spPr>
          <a:xfrm>
            <a:off x="658368" y="5669280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9264" y="5705856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informe que solo dice lo que se hizo bien no sirve para tomar ninguna decisión.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PRODUCTO TERMINADO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informe de la auditoría de hoy, completo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048256"/>
            <a:ext cx="6858000" cy="3566160"/>
          </a:xfrm>
          <a:prstGeom prst="roundRect">
            <a:avLst>
              <a:gd name="adj" fmla="val 10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157984"/>
            <a:ext cx="66019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2231136"/>
            <a:ext cx="6382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informe-auditoria.md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615184"/>
            <a:ext cx="6437376" cy="281635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699248" y="2048256"/>
            <a:ext cx="3831336" cy="1645920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699248" y="2048256"/>
            <a:ext cx="54864" cy="16459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73568" y="2231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FRASE QUE CIERRA EL ARCO</a:t>
            </a:r>
            <a:endParaRPr lang="en-US" sz="960" dirty="0"/>
          </a:p>
        </p:txBody>
      </p:sp>
      <p:sp>
        <p:nvSpPr>
          <p:cNvPr id="17" name="Text 13"/>
          <p:cNvSpPr txBox="1"/>
          <p:nvPr/>
        </p:nvSpPr>
        <p:spPr>
          <a:xfrm>
            <a:off x="7973568" y="248716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50" b="1" i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«Su color verde no es evidencia de conformidad.»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7973568" y="316382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 en el informe, por escrito, para quien lo lea el año que viene.</a:t>
            </a:r>
            <a:endParaRPr lang="en-US" sz="1140" dirty="0"/>
          </a:p>
        </p:txBody>
      </p:sp>
      <p:sp>
        <p:nvSpPr>
          <p:cNvPr id="19" name="Shape 15"/>
          <p:cNvSpPr/>
          <p:nvPr/>
        </p:nvSpPr>
        <p:spPr>
          <a:xfrm>
            <a:off x="7699248" y="3840480"/>
            <a:ext cx="3831336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99248" y="3840480"/>
            <a:ext cx="54864" cy="177393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73568" y="4023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ESTE DOCUMENTO PERMITE</a:t>
            </a:r>
            <a:endParaRPr lang="en-US" sz="960" dirty="0"/>
          </a:p>
        </p:txBody>
      </p:sp>
      <p:sp>
        <p:nvSpPr>
          <p:cNvPr id="22" name="Text 18"/>
          <p:cNvSpPr txBox="1"/>
          <p:nvPr/>
        </p:nvSpPr>
        <p:spPr>
          <a:xfrm>
            <a:off x="7973568" y="42976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284464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cada comprobación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973568" y="46268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8284464" y="46268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Llegar al mismo resultado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973568" y="49560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8284464" y="49560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Saber qué NO se miró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973568" y="52852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284464" y="52852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Discutirlo con argumentos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8368" y="5760720"/>
            <a:ext cx="10874959" cy="5120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69264" y="5797296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que no estuvo puede tomar este documento y llegar a lo mismo. Eso distingue una auditoría de una opinión con plantilla.</a:t>
            </a:r>
            <a:endParaRPr lang="en-US" sz="136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para llevarse del Bloque 4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231136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231136"/>
            <a:ext cx="54864" cy="11887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37744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2368296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norma llama al campo «estimación de severidad de quien reporta», y no simplemente «severidad». ¿Qué cambia esa palabra, y qué problema evita en un informe que va a leer un tercero?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572768" y="2999232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1572768" y="30906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3072384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qué pasa si el que recibe el informe no está de acuerdo con la gravedad.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" y="3529584"/>
            <a:ext cx="10874959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" y="3529584"/>
            <a:ext cx="5486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36758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1572768" y="3666744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ficha del comprobante cita como referencia un modelo de calidad y una ley, no el requisito del proyecto. ¿Por qué esa cita es justamente lo que la hace discutible, y por qué eso es una virtud?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572768" y="4297680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1572768" y="4389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23" name="Text 20"/>
          <p:cNvSpPr txBox="1"/>
          <p:nvPr/>
        </p:nvSpPr>
        <p:spPr>
          <a:xfrm>
            <a:off x="2286000" y="4370832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Compárala con «encontré varios problemas de seguridad»: ¿cuál de las dos se puede refutar?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" y="4828032"/>
            <a:ext cx="10874959" cy="11887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" y="4828032"/>
            <a:ext cx="54864" cy="1188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2688" y="497433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1572768" y="4965192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informe sin sección de riesgos residuales parece mejor que uno que la tiene. ¿Qué pierde exactamente quien lo recibe?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572768" y="5596128"/>
            <a:ext cx="9631375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1572768" y="5687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60" dirty="0"/>
          </a:p>
        </p:txBody>
      </p:sp>
      <p:sp>
        <p:nvSpPr>
          <p:cNvPr id="30" name="Text 27"/>
          <p:cNvSpPr txBox="1"/>
          <p:nvPr/>
        </p:nvSpPr>
        <p:spPr>
          <a:xfrm>
            <a:off x="2286000" y="5669280"/>
            <a:ext cx="89181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está en la línea del alcance que dijimos que era la que importaba.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SESIÓN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418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puede afirmarse hoy, y qué sigue sin poder afirmarse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2011680"/>
            <a:ext cx="5358384" cy="1371600"/>
          </a:xfrm>
          <a:prstGeom prst="roundRect">
            <a:avLst>
              <a:gd name="adj" fmla="val 266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" y="2121408"/>
            <a:ext cx="5102352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194560"/>
            <a:ext cx="4846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podía afirmar al terminar la sesión anterior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" y="2578608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requisito fue comparado contra un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34640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 de calidad y contra la ley, y lo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7824" y="3090672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faltaba esta escrito y tiene prueba.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63056" y="2011680"/>
            <a:ext cx="5367528" cy="1371600"/>
          </a:xfrm>
          <a:prstGeom prst="roundRect">
            <a:avLst>
              <a:gd name="adj" fmla="val 266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91072" y="2121408"/>
            <a:ext cx="511149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9088" y="2194560"/>
            <a:ext cx="4855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puede afirmarse ahora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82512" y="2578608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comparacion se hizo con un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82512" y="2834640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procedimiento declarado, y su resultado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82512" y="3090672"/>
            <a:ext cx="4617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puede repetirlo alguien que no estuvo.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8368" y="3529584"/>
            <a:ext cx="10874959" cy="676656"/>
          </a:xfrm>
          <a:prstGeom prst="rect">
            <a:avLst/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529584"/>
            <a:ext cx="64008" cy="67665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69264" y="3657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LO QUE SIGUE SIN PODER AFIRMARSE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969264" y="3877056"/>
            <a:ext cx="10234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no tiene más defectos.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438912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esta vez la razón no es un vacío que se pueda llenar trayendo otra referencia. Es estructural: una auditoría cubre el alcance que declaró cubrir. Todo lo demás quedó sin mirar por decisión explícita, y por eso está escrito en los riesgos residuales.</a:t>
            </a:r>
            <a:endParaRPr lang="en-US" sz="1340" dirty="0"/>
          </a:p>
        </p:txBody>
      </p:sp>
      <p:sp>
        <p:nvSpPr>
          <p:cNvPr id="27" name="Shape 24"/>
          <p:cNvSpPr/>
          <p:nvPr/>
        </p:nvSpPr>
        <p:spPr>
          <a:xfrm>
            <a:off x="658368" y="4974336"/>
            <a:ext cx="10874959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69264" y="5084064"/>
            <a:ext cx="1025316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informe honesto no elimina la incertidumbre. La delimita.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658368" y="5760720"/>
            <a:ext cx="10874959" cy="49377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" y="5797296"/>
            <a:ext cx="1025316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además una pregunta que hoy se resolvió por intuición.</a:t>
            </a:r>
            <a:endParaRPr lang="en-US" sz="14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3\0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13385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spc="2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SESIÓN</a:t>
            </a:r>
            <a:endParaRPr lang="en-US" sz="10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48132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 hoy tenía la suite en verde. Cuatro pruebas, ninguna falla, todas escritas por alguien que conocía bien el código.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58368" y="2414016"/>
            <a:ext cx="2011680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688336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tenía un defecto que dejaba un octavo de la jornada del laboratorio inutilizable, y un comprobante que repartía el RUT y el correo de cada estudiante que reservaba.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63931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de esas cuatro pruebas iba a encontrarlos nunca, porque comparaban el código contra lo que su autor había entendido.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442569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los encontró no fue mirar con más atención, ni pedirle a más gente que mirara.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" y="5102352"/>
            <a:ext cx="6675120" cy="76809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" y="5193792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 aplicar cuatro pasos en un orden declarado, contra referencias que el proyecto no había escrito, y dejar constancia de hasta dónde se llegó.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72400" y="1207008"/>
            <a:ext cx="0" cy="448056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8138160" y="1207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DE SALIDA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14630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línea para cada una, antes de salir.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8138160" y="1883664"/>
            <a:ext cx="3392424" cy="91440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57616" y="2048256"/>
            <a:ext cx="310896" cy="3108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57616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759952" y="2029968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declaraste fuera del alcance de tu auditoría, y dónde quedó eso escrito?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8138160" y="2944368"/>
            <a:ext cx="3392424" cy="91440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57616" y="3108960"/>
            <a:ext cx="310896" cy="3108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57616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759952" y="3090672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de tus hallazgos podría verificar alguien que no estuvo hoy, usando solo tu ficha?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8138160" y="4005072"/>
            <a:ext cx="3392424" cy="91440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57616" y="4169664"/>
            <a:ext cx="310896" cy="3108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57616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759952" y="4151376"/>
            <a:ext cx="26151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encontró tu paso 3 que tu propio requisito no prohibía?</a:t>
            </a:r>
            <a:endParaRPr lang="en-US" sz="112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5102352"/>
            <a:ext cx="3392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40" i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sesión: en el paso 2 se probaron los bloques 1, 7, 8 y 9. ¿Por qué esos? Porque pareció sensato mirar los bordes. Esa corazonada tiene nombre, método y norma.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Auditar no es mirar</dc:title>
  <dc:subject>PRO402 · Clase 08</dc:subject>
  <dc:creator>Diego Obando</dc:creator>
  <cp:lastModifiedBy>Diego Obando</cp:lastModifiedBy>
  <cp:revision>1</cp:revision>
  <dcterms:created xsi:type="dcterms:W3CDTF">2026-09-05T01:40:44Z</dcterms:created>
  <dcterms:modified xsi:type="dcterms:W3CDTF">2026-09-05T01:40:44Z</dcterms:modified>
</cp:coreProperties>
</file>